
<file path=[Content_Types].xml><?xml version="1.0" encoding="utf-8"?>
<Types xmlns="http://schemas.openxmlformats.org/package/2006/content-types">
  <Default Extension="xml" ContentType="application/xml"/>
  <Default Extension="png" ContentType="image/png"/>
  <Default Extension="wdp" ContentType="image/vnd.ms-photo"/>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73" r:id="rId3"/>
  </p:sldMasterIdLst>
  <p:notesMasterIdLst>
    <p:notesMasterId r:id="rId5"/>
  </p:notesMasterIdLst>
  <p:handoutMasterIdLst>
    <p:handoutMasterId r:id="rId160"/>
  </p:handoutMasterIdLst>
  <p:sldIdLst>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2" r:id="rId69"/>
    <p:sldId id="323" r:id="rId70"/>
    <p:sldId id="324" r:id="rId71"/>
    <p:sldId id="325" r:id="rId72"/>
    <p:sldId id="326" r:id="rId73"/>
    <p:sldId id="327" r:id="rId74"/>
    <p:sldId id="328"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 id="412" r:id="rId157"/>
    <p:sldId id="413" r:id="rId158"/>
    <p:sldId id="414" r:id="rId159"/>
  </p:sldIdLst>
  <p:sldSz cx="12192000" cy="6858000"/>
  <p:notesSz cx="6858000" cy="9144000"/>
  <p:embeddedFontLst>
    <p:embeddedFont>
      <p:font typeface="苹方-简" panose="020B0400000000000000" charset="-122"/>
      <p:regular r:id="rId167"/>
    </p:embeddedFont>
    <p:embeddedFont>
      <p:font typeface="Arial Unicode MS" panose="020B0604020202020204" charset="-122"/>
      <p:regular r:id="rId168"/>
    </p:embeddedFont>
    <p:embeddedFont>
      <p:font typeface="DejaVu Math TeX Gyre" panose="02000503000000000000" charset="0"/>
      <p:regular r:id="rId16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initials="L" lastIdx="0" clrIdx="0"/>
  <p:cmAuthor id="2" name="冯诗语" initials="authorId_1690708541"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9" Type="http://schemas.openxmlformats.org/officeDocument/2006/relationships/font" Target="fonts/font3.fntdata"/><Relationship Id="rId168" Type="http://schemas.openxmlformats.org/officeDocument/2006/relationships/font" Target="fonts/font2.fntdata"/><Relationship Id="rId167" Type="http://schemas.openxmlformats.org/officeDocument/2006/relationships/font" Target="fonts/font1.fntdata"/><Relationship Id="rId166" Type="http://schemas.openxmlformats.org/officeDocument/2006/relationships/customXml" Target="../customXml/item1.xml"/><Relationship Id="rId165" Type="http://schemas.openxmlformats.org/officeDocument/2006/relationships/customXmlProps" Target="../customXml/itemProps1.xml"/><Relationship Id="rId164" Type="http://schemas.openxmlformats.org/officeDocument/2006/relationships/commentAuthors" Target="commentAuthors.xml"/><Relationship Id="rId163" Type="http://schemas.openxmlformats.org/officeDocument/2006/relationships/tableStyles" Target="tableStyles.xml"/><Relationship Id="rId162" Type="http://schemas.openxmlformats.org/officeDocument/2006/relationships/viewProps" Target="viewProps.xml"/><Relationship Id="rId161" Type="http://schemas.openxmlformats.org/officeDocument/2006/relationships/presProps" Target="presProps.xml"/><Relationship Id="rId160" Type="http://schemas.openxmlformats.org/officeDocument/2006/relationships/handoutMaster" Target="handoutMasters/handoutMaster1.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6-10-21T23:27:59.083" idx="1">
    <p:pos x="10" y="10"/>
    <p:text>公式待改</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
        <p:nvSpPr>
          <p:cNvPr id="6" name="日期占位符 5"/>
          <p:cNvSpPr>
            <a:spLocks noGrp="1"/>
          </p:cNvSpPr>
          <p:nvPr>
            <p:ph type="dt" idx="1"/>
          </p:nvPr>
        </p:nvSpPr>
        <p:spPr/>
        <p:txBody>
          <a:bodyPr/>
          <a:lstStyle/>
          <a:p>
            <a:fld id="{D29574A6-A4A9-4B73-A9C2-C666590BE964}" type="datetime1">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B9BCC932-0C1F-4C94-8B9A-3944ABBB4E30}" type="slidenum">
              <a:rPr lang="zh-CN" altLang="en-US" smtClean="0"/>
            </a:fld>
            <a:endParaRPr lang="zh-CN" altLang="en-US"/>
          </a:p>
        </p:txBody>
      </p:sp>
      <p:sp>
        <p:nvSpPr>
          <p:cNvPr id="6" name="日期占位符 5"/>
          <p:cNvSpPr>
            <a:spLocks noGrp="1"/>
          </p:cNvSpPr>
          <p:nvPr>
            <p:ph type="dt" idx="1"/>
          </p:nvPr>
        </p:nvSpPr>
        <p:spPr/>
        <p:txBody>
          <a:bodyPr/>
          <a:lstStyle/>
          <a:p>
            <a:fld id="{D29574A6-A4A9-4B73-A9C2-C666590BE964}" type="datetime1">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日期占位符 3"/>
          <p:cNvSpPr>
            <a:spLocks noGrp="1"/>
          </p:cNvSpPr>
          <p:nvPr>
            <p:ph type="dt" idx="1"/>
          </p:nvPr>
        </p:nvSpPr>
        <p:spPr/>
        <p:txBody>
          <a:bodyPr/>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p>
            <a:fld id="{B6624C92-7D3E-4AE1-8A3D-7D2A7970B9B5}"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29574A6-A4A9-4B73-A9C2-C666590BE964}" type="datetime1">
              <a:rPr lang="zh-CN" altLang="en-US" smtClean="0"/>
            </a:fld>
            <a:endParaRPr lang="zh-CN" altLang="en-US"/>
          </a:p>
        </p:txBody>
      </p:sp>
      <p:sp>
        <p:nvSpPr>
          <p:cNvPr id="5" name="灯片编号占位符 4"/>
          <p:cNvSpPr>
            <a:spLocks noGrp="1"/>
          </p:cNvSpPr>
          <p:nvPr>
            <p:ph type="sldNum" sz="quarter" idx="5"/>
          </p:nvPr>
        </p:nvSpPr>
        <p:spPr/>
        <p:txBody>
          <a:bodyPr/>
          <a:lstStyle/>
          <a:p>
            <a:fld id="{B6624C92-7D3E-4AE1-8A3D-7D2A7970B9B5}"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B6624C92-7D3E-4AE1-8A3D-7D2A7970B9B5}" type="slidenum">
              <a:rPr lang="zh-CN" altLang="en-US" smtClean="0"/>
            </a:fld>
            <a:endParaRPr lang="zh-CN" altLang="en-US"/>
          </a:p>
        </p:txBody>
      </p:sp>
      <p:sp>
        <p:nvSpPr>
          <p:cNvPr id="6" name="日期占位符 5"/>
          <p:cNvSpPr>
            <a:spLocks noGrp="1"/>
          </p:cNvSpPr>
          <p:nvPr>
            <p:ph type="dt" idx="1"/>
          </p:nvPr>
        </p:nvSpPr>
        <p:spPr/>
        <p:txBody>
          <a:bodyPr/>
          <a:lstStyle/>
          <a:p>
            <a:fld id="{D29574A6-A4A9-4B73-A9C2-C666590BE964}" type="datetime1">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97218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b="1" dirty="0">
                <a:solidFill>
                  <a:schemeClr val="bg1"/>
                </a:solidFill>
                <a:latin typeface="Times New Roman" panose="02020503050405090304" pitchFamily="18" charset="0"/>
                <a:ea typeface="+mn-ea"/>
                <a:cs typeface="Times New Roman" panose="02020503050405090304" pitchFamily="18" charset="0"/>
              </a:rPr>
              <a:t>The Question</a:t>
            </a:r>
            <a:endParaRPr lang="en-US" altLang="zh-CN" b="1" dirty="0">
              <a:solidFill>
                <a:schemeClr val="bg1"/>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userDrawn="1"/>
        </p:nvSpPr>
        <p:spPr>
          <a:xfrm>
            <a:off x="0" y="1769110"/>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1" dirty="0">
                          <a:solidFill>
                            <a:schemeClr val="bg1"/>
                          </a:solidFill>
                          <a:latin typeface="Times New Roman" panose="02020503050405090304" pitchFamily="18" charset="0"/>
                          <a:ea typeface="+mn-ea"/>
                          <a:cs typeface="Times New Roman" panose="02020503050405090304" pitchFamily="18" charset="0"/>
                        </a:rPr>
                        <a:t>Model Setup</a:t>
                      </a:r>
                      <a:endParaRPr lang="en-US" altLang="zh-CN" sz="18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255714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bg1"/>
                          </a:solidFill>
                          <a:latin typeface="Times New Roman" panose="02020503050405090304" pitchFamily="18" charset="0"/>
                          <a:ea typeface="+mn-ea"/>
                          <a:cs typeface="Times New Roman" panose="02020503050405090304" pitchFamily="18" charset="0"/>
                        </a:rPr>
                        <a:t>Identification &amp; Estimation</a:t>
                      </a:r>
                      <a:endParaRPr lang="en-US" altLang="zh-CN" sz="18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334581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600" b="1" dirty="0">
                          <a:solidFill>
                            <a:schemeClr val="bg1"/>
                          </a:solidFill>
                          <a:latin typeface="Times New Roman" panose="02020503050405090304" pitchFamily="18" charset="0"/>
                          <a:ea typeface="+mn-ea"/>
                          <a:cs typeface="Times New Roman" panose="02020503050405090304" pitchFamily="18" charset="0"/>
                        </a:rPr>
                        <a:t>Counterfactual</a:t>
                      </a:r>
                      <a:endParaRPr lang="en-US" altLang="zh-CN" sz="16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2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4130040"/>
            <a:ext cx="1625600" cy="77089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a:t>
                      </a:r>
                      <a:r>
                        <a:rPr lang="en-US" altLang="zh-CN" sz="1800" b="1" kern="1200" dirty="0">
                          <a:solidFill>
                            <a:schemeClr val="bg1"/>
                          </a:solidFill>
                          <a:latin typeface="Times New Roman" panose="02020503050405090304" pitchFamily="18" charset="0"/>
                          <a:ea typeface="+mn-ea"/>
                          <a:cs typeface="Times New Roman" panose="02020503050405090304" pitchFamily="18" charset="0"/>
                        </a:rPr>
                        <a:t>Replication</a:t>
                      </a:r>
                      <a:endParaRPr lang="en-US" altLang="zh-CN" sz="1800" b="1" kern="1200"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绪论2">
    <p:spTree>
      <p:nvGrpSpPr>
        <p:cNvPr id="1" name=""/>
        <p:cNvGrpSpPr/>
        <p:nvPr/>
      </p:nvGrpSpPr>
      <p:grpSpPr>
        <a:xfrm>
          <a:off x="0" y="0"/>
          <a:ext cx="0" cy="0"/>
          <a:chOff x="0" y="0"/>
          <a:chExt cx="0" cy="0"/>
        </a:xfrm>
      </p:grpSpPr>
      <p:sp>
        <p:nvSpPr>
          <p:cNvPr id="14" name="矩形 13"/>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p:cNvSpPr/>
          <p:nvPr userDrawn="1"/>
        </p:nvSpPr>
        <p:spPr>
          <a:xfrm>
            <a:off x="0" y="1769110"/>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graphicFrame>
        <p:nvGraphicFramePr>
          <p:cNvPr id="18" name="表格 17"/>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1" dirty="0">
                          <a:solidFill>
                            <a:schemeClr val="bg1"/>
                          </a:solidFill>
                          <a:latin typeface="Times New Roman" panose="02020503050405090304" pitchFamily="18" charset="0"/>
                          <a:ea typeface="+mn-ea"/>
                          <a:cs typeface="Times New Roman" panose="02020503050405090304" pitchFamily="18" charset="0"/>
                        </a:rPr>
                        <a:t>Model Setup</a:t>
                      </a:r>
                      <a:endParaRPr lang="en-US" altLang="zh-CN" sz="18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9" name="直接连接符 18"/>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表格 2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23" name="文本框 2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24" name="文本框 23"/>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25"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26"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表格 26"/>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绪论2">
    <p:spTree>
      <p:nvGrpSpPr>
        <p:cNvPr id="1" name=""/>
        <p:cNvGrpSpPr/>
        <p:nvPr/>
      </p:nvGrpSpPr>
      <p:grpSpPr>
        <a:xfrm>
          <a:off x="0" y="0"/>
          <a:ext cx="0" cy="0"/>
          <a:chOff x="0" y="0"/>
          <a:chExt cx="0" cy="0"/>
        </a:xfrm>
      </p:grpSpPr>
      <p:sp>
        <p:nvSpPr>
          <p:cNvPr id="4" name="矩形 3"/>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5" name="表格 4"/>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7" name="矩形 6"/>
          <p:cNvSpPr/>
          <p:nvPr userDrawn="1"/>
        </p:nvSpPr>
        <p:spPr>
          <a:xfrm>
            <a:off x="0" y="4130040"/>
            <a:ext cx="1625600" cy="77089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8" name="直接连接符 7"/>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表格 9"/>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a:t>
                      </a:r>
                      <a:r>
                        <a:rPr lang="en-US" altLang="zh-CN" sz="1800" b="1" kern="1200" dirty="0">
                          <a:solidFill>
                            <a:schemeClr val="bg1"/>
                          </a:solidFill>
                          <a:latin typeface="Times New Roman" panose="02020503050405090304" pitchFamily="18" charset="0"/>
                          <a:ea typeface="+mn-ea"/>
                          <a:cs typeface="Times New Roman" panose="02020503050405090304" pitchFamily="18" charset="0"/>
                        </a:rPr>
                        <a:t>Replication</a:t>
                      </a:r>
                      <a:endParaRPr lang="en-US" altLang="zh-CN" sz="1800" b="1" kern="1200"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4" name="文本框 13"/>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19" name="文本框 18"/>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20"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22"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3" name="表格 22"/>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绪论2">
    <p:spTree>
      <p:nvGrpSpPr>
        <p:cNvPr id="1" name=""/>
        <p:cNvGrpSpPr/>
        <p:nvPr/>
      </p:nvGrpSpPr>
      <p:grpSpPr>
        <a:xfrm>
          <a:off x="0" y="0"/>
          <a:ext cx="0" cy="0"/>
          <a:chOff x="0" y="0"/>
          <a:chExt cx="0" cy="0"/>
        </a:xfrm>
      </p:grpSpPr>
      <p:sp>
        <p:nvSpPr>
          <p:cNvPr id="5" name="矩形 4"/>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7" name="表格 6"/>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255714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9" name="直接连接符 8"/>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表格 13"/>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bg1"/>
                          </a:solidFill>
                          <a:latin typeface="Times New Roman" panose="02020503050405090304" pitchFamily="18" charset="0"/>
                          <a:ea typeface="+mn-ea"/>
                          <a:cs typeface="Times New Roman" panose="02020503050405090304" pitchFamily="18" charset="0"/>
                        </a:rPr>
                        <a:t>Identification &amp; Estimation</a:t>
                      </a:r>
                      <a:endParaRPr lang="en-US" altLang="zh-CN" sz="18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6" name="文本框 15"/>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18" name="文本框 17"/>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19"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20"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表格 21"/>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绪论2">
    <p:spTree>
      <p:nvGrpSpPr>
        <p:cNvPr id="1" name=""/>
        <p:cNvGrpSpPr/>
        <p:nvPr/>
      </p:nvGrpSpPr>
      <p:grpSpPr>
        <a:xfrm>
          <a:off x="0" y="0"/>
          <a:ext cx="0" cy="0"/>
          <a:chOff x="0" y="0"/>
          <a:chExt cx="0" cy="0"/>
        </a:xfrm>
      </p:grpSpPr>
      <p:sp>
        <p:nvSpPr>
          <p:cNvPr id="4" name="矩形 3"/>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5" name="表格 4"/>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8" name="矩形 7"/>
          <p:cNvSpPr/>
          <p:nvPr userDrawn="1"/>
        </p:nvSpPr>
        <p:spPr>
          <a:xfrm>
            <a:off x="0" y="334581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0" name="直接连接符 9"/>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表格 13"/>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600" b="1" dirty="0">
                          <a:solidFill>
                            <a:schemeClr val="bg1"/>
                          </a:solidFill>
                          <a:latin typeface="Times New Roman" panose="02020503050405090304" pitchFamily="18" charset="0"/>
                          <a:ea typeface="+mn-ea"/>
                          <a:cs typeface="Times New Roman" panose="02020503050405090304" pitchFamily="18" charset="0"/>
                        </a:rPr>
                        <a:t>Counterfactual</a:t>
                      </a:r>
                      <a:endParaRPr lang="en-US" altLang="zh-CN" sz="16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6" name="文本框 15"/>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18" name="文本框 17"/>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19"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20"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表格 21"/>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4900930"/>
            <a:ext cx="1625600" cy="789305"/>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789305"/>
        </p:xfrm>
        <a:graphic>
          <a:graphicData uri="http://schemas.openxmlformats.org/drawingml/2006/table">
            <a:tbl>
              <a:tblPr>
                <a:tableStyleId>{2D5ABB26-0587-4C30-8999-92F81FD0307C}</a:tableStyleId>
              </a:tblPr>
              <a:tblGrid>
                <a:gridCol w="1625600"/>
              </a:tblGrid>
              <a:tr h="78930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bg1"/>
                          </a:solidFill>
                          <a:latin typeface="Times New Roman" panose="02020503050405090304" pitchFamily="18" charset="0"/>
                          <a:ea typeface="宋体" pitchFamily="2" charset="-122"/>
                          <a:cs typeface="Times New Roman" panose="02020503050405090304" pitchFamily="18" charset="0"/>
                        </a:rPr>
                        <a:t>Conlusion</a:t>
                      </a:r>
                      <a:endParaRPr lang="en-US" altLang="zh-CN" sz="1800" b="1" dirty="0">
                        <a:solidFill>
                          <a:schemeClr val="bg1"/>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绪论2">
    <p:spTree>
      <p:nvGrpSpPr>
        <p:cNvPr id="1" name=""/>
        <p:cNvGrpSpPr/>
        <p:nvPr/>
      </p:nvGrpSpPr>
      <p:grpSpPr>
        <a:xfrm>
          <a:off x="0" y="0"/>
          <a:ext cx="0" cy="0"/>
          <a:chOff x="0" y="0"/>
          <a:chExt cx="0" cy="0"/>
        </a:xfrm>
      </p:grpSpPr>
      <p:sp>
        <p:nvSpPr>
          <p:cNvPr id="8" name="矩形 7"/>
          <p:cNvSpPr/>
          <p:nvPr/>
        </p:nvSpPr>
        <p:spPr>
          <a:xfrm>
            <a:off x="1130300" y="6540500"/>
            <a:ext cx="110617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a:graphicFrameLocks noGrp="1"/>
          </p:cNvGraphicFramePr>
          <p:nvPr/>
        </p:nvGraphicFramePr>
        <p:xfrm>
          <a:off x="1130300" y="6540498"/>
          <a:ext cx="11061703" cy="317502"/>
        </p:xfrm>
        <a:graphic>
          <a:graphicData uri="http://schemas.openxmlformats.org/drawingml/2006/table">
            <a:tbl>
              <a:tblPr>
                <a:tableStyleId>{2D5ABB26-0587-4C30-8999-92F81FD0307C}</a:tableStyleId>
              </a:tblPr>
              <a:tblGrid>
                <a:gridCol w="4337050"/>
                <a:gridCol w="2965450"/>
                <a:gridCol w="3759203"/>
              </a:tblGrid>
              <a:tr h="317502">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2:</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3:</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7" name="矩形 6"/>
          <p:cNvSpPr/>
          <p:nvPr/>
        </p:nvSpPr>
        <p:spPr>
          <a:xfrm>
            <a:off x="0" y="0"/>
            <a:ext cx="127867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p:nvGraphicFramePr>
        <p:xfrm>
          <a:off x="0" y="957610"/>
          <a:ext cx="1249064" cy="2376000"/>
        </p:xfrm>
        <a:graphic>
          <a:graphicData uri="http://schemas.openxmlformats.org/drawingml/2006/table">
            <a:tbl>
              <a:tblPr>
                <a:tableStyleId>{2D5ABB26-0587-4C30-8999-92F81FD0307C}</a:tableStyleId>
              </a:tblPr>
              <a:tblGrid>
                <a:gridCol w="1249064"/>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dirty="0">
                          <a:solidFill>
                            <a:srgbClr val="642366"/>
                          </a:solidFill>
                          <a:latin typeface="Times New Roman" panose="02020503050405090304" pitchFamily="18" charset="0"/>
                          <a:ea typeface="宋体" pitchFamily="2" charset="-122"/>
                          <a:cs typeface="Times New Roman" panose="02020503050405090304" pitchFamily="18" charset="0"/>
                        </a:rPr>
                        <a:t>Intro</a:t>
                      </a: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en-US" altLang="zh-CN" sz="1600" b="1" dirty="0">
                          <a:solidFill>
                            <a:srgbClr val="642366"/>
                          </a:solidFill>
                          <a:latin typeface="Times New Roman" panose="02020503050405090304" pitchFamily="18" charset="0"/>
                          <a:ea typeface="宋体" pitchFamily="2" charset="-122"/>
                          <a:cs typeface="Times New Roman" panose="02020503050405090304" pitchFamily="18" charset="0"/>
                        </a:rPr>
                        <a:t>ZARA</a:t>
                      </a: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en-US" altLang="zh-CN" sz="1600" b="1" kern="1200" dirty="0">
                          <a:solidFill>
                            <a:srgbClr val="642366"/>
                          </a:solidFill>
                          <a:latin typeface="Times New Roman" panose="02020503050405090304" pitchFamily="18" charset="0"/>
                          <a:ea typeface="宋体" pitchFamily="2" charset="-122"/>
                          <a:cs typeface="Times New Roman" panose="02020503050405090304" pitchFamily="18" charset="0"/>
                        </a:rPr>
                        <a:t>SHEIN</a:t>
                      </a: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9" name="组合 8"/>
          <p:cNvGrpSpPr/>
          <p:nvPr/>
        </p:nvGrpSpPr>
        <p:grpSpPr>
          <a:xfrm>
            <a:off x="1130300" y="6540499"/>
            <a:ext cx="4394200" cy="317500"/>
            <a:chOff x="0" y="1272662"/>
            <a:chExt cx="1691680" cy="788186"/>
          </a:xfrm>
          <a:solidFill>
            <a:srgbClr val="642366"/>
          </a:solidFill>
        </p:grpSpPr>
        <p:sp>
          <p:nvSpPr>
            <p:cNvPr id="10" name="矩形 9"/>
            <p:cNvSpPr/>
            <p:nvPr userDrawn="1"/>
          </p:nvSpPr>
          <p:spPr>
            <a:xfrm>
              <a:off x="0" y="1272662"/>
              <a:ext cx="1691680" cy="7881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p:txBody>
        </p:sp>
        <p:sp>
          <p:nvSpPr>
            <p:cNvPr id="11" name="等腰三角形 10"/>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Times New Roman" panose="02020503050405090304" pitchFamily="18" charset="0"/>
                <a:ea typeface="宋体" pitchFamily="2" charset="-122"/>
                <a:cs typeface="Times New Roman" panose="02020503050405090304" pitchFamily="18" charset="0"/>
              </a:endParaRPr>
            </a:p>
          </p:txBody>
        </p:sp>
      </p:grpSp>
      <p:grpSp>
        <p:nvGrpSpPr>
          <p:cNvPr id="14" name="组合 13"/>
          <p:cNvGrpSpPr/>
          <p:nvPr/>
        </p:nvGrpSpPr>
        <p:grpSpPr>
          <a:xfrm>
            <a:off x="-7436" y="3333610"/>
            <a:ext cx="1278675" cy="788186"/>
            <a:chOff x="-105732" y="1272662"/>
            <a:chExt cx="1829133" cy="788186"/>
          </a:xfrm>
          <a:solidFill>
            <a:srgbClr val="642366"/>
          </a:solidFill>
        </p:grpSpPr>
        <p:sp>
          <p:nvSpPr>
            <p:cNvPr id="15" name="矩形 14"/>
            <p:cNvSpPr/>
            <p:nvPr userDrawn="1"/>
          </p:nvSpPr>
          <p:spPr>
            <a:xfrm>
              <a:off x="-105732" y="1272662"/>
              <a:ext cx="1829133" cy="7881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kern="1200" dirty="0">
                  <a:solidFill>
                    <a:schemeClr val="bg1"/>
                  </a:solidFill>
                  <a:latin typeface="Times New Roman" panose="02020503050405090304" pitchFamily="18" charset="0"/>
                  <a:ea typeface="宋体" pitchFamily="2" charset="-122"/>
                  <a:cs typeface="Times New Roman" panose="02020503050405090304" pitchFamily="18" charset="0"/>
                </a:rPr>
                <a:t>Comparison</a:t>
              </a:r>
              <a:endParaRPr lang="zh-CN" altLang="en-US" sz="1600" b="1" kern="1200" dirty="0">
                <a:solidFill>
                  <a:schemeClr val="bg1"/>
                </a:solidFill>
                <a:latin typeface="Times New Roman" panose="02020503050405090304" pitchFamily="18" charset="0"/>
                <a:ea typeface="宋体" pitchFamily="2" charset="-122"/>
                <a:cs typeface="Times New Roman" panose="02020503050405090304" pitchFamily="18" charset="0"/>
              </a:endParaRPr>
            </a:p>
          </p:txBody>
        </p:sp>
        <p:sp>
          <p:nvSpPr>
            <p:cNvPr id="16" name="等腰三角形 15"/>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Times New Roman" panose="02020503050405090304" pitchFamily="18" charset="0"/>
                <a:ea typeface="宋体" pitchFamily="2" charset="-122"/>
                <a:cs typeface="Times New Roman" panose="02020503050405090304" pitchFamily="18" charset="0"/>
              </a:endParaRPr>
            </a:p>
          </p:txBody>
        </p:sp>
      </p:grpSp>
      <p:cxnSp>
        <p:nvCxnSpPr>
          <p:cNvPr id="13" name="直接连接符 12"/>
          <p:cNvCxnSpPr/>
          <p:nvPr/>
        </p:nvCxnSpPr>
        <p:spPr>
          <a:xfrm>
            <a:off x="1526704" y="989360"/>
            <a:ext cx="960484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a:xfrm>
            <a:off x="1130300" y="6540500"/>
            <a:ext cx="110617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userDrawn="1"/>
        </p:nvGraphicFramePr>
        <p:xfrm>
          <a:off x="1130300" y="6540498"/>
          <a:ext cx="11061703" cy="317502"/>
        </p:xfrm>
        <a:graphic>
          <a:graphicData uri="http://schemas.openxmlformats.org/drawingml/2006/table">
            <a:tbl>
              <a:tblPr>
                <a:tableStyleId>{2D5ABB26-0587-4C30-8999-92F81FD0307C}</a:tableStyleId>
              </a:tblPr>
              <a:tblGrid>
                <a:gridCol w="4337050"/>
                <a:gridCol w="2965450"/>
                <a:gridCol w="3759203"/>
              </a:tblGrid>
              <a:tr h="317502">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2:</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3:</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矩形 4"/>
          <p:cNvSpPr/>
          <p:nvPr userDrawn="1"/>
        </p:nvSpPr>
        <p:spPr>
          <a:xfrm>
            <a:off x="0" y="0"/>
            <a:ext cx="127867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6" name="表格 5"/>
          <p:cNvGraphicFramePr>
            <a:graphicFrameLocks noGrp="1"/>
          </p:cNvGraphicFramePr>
          <p:nvPr userDrawn="1"/>
        </p:nvGraphicFramePr>
        <p:xfrm>
          <a:off x="0" y="957610"/>
          <a:ext cx="1249064" cy="2376000"/>
        </p:xfrm>
        <a:graphic>
          <a:graphicData uri="http://schemas.openxmlformats.org/drawingml/2006/table">
            <a:tbl>
              <a:tblPr>
                <a:tableStyleId>{2D5ABB26-0587-4C30-8999-92F81FD0307C}</a:tableStyleId>
              </a:tblPr>
              <a:tblGrid>
                <a:gridCol w="1249064"/>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dirty="0">
                          <a:solidFill>
                            <a:srgbClr val="642366"/>
                          </a:solidFill>
                          <a:latin typeface="Times New Roman" panose="02020503050405090304" pitchFamily="18" charset="0"/>
                          <a:ea typeface="宋体" pitchFamily="2" charset="-122"/>
                          <a:cs typeface="Times New Roman" panose="02020503050405090304" pitchFamily="18" charset="0"/>
                        </a:rPr>
                        <a:t>Intro</a:t>
                      </a: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en-US" altLang="zh-CN" sz="1600" b="1" dirty="0">
                          <a:solidFill>
                            <a:srgbClr val="642366"/>
                          </a:solidFill>
                          <a:latin typeface="Times New Roman" panose="02020503050405090304" pitchFamily="18" charset="0"/>
                          <a:ea typeface="宋体" pitchFamily="2" charset="-122"/>
                          <a:cs typeface="Times New Roman" panose="02020503050405090304" pitchFamily="18" charset="0"/>
                        </a:rPr>
                        <a:t>ZARA</a:t>
                      </a: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en-US" altLang="zh-CN" sz="1600" b="1" kern="1200" dirty="0">
                          <a:solidFill>
                            <a:srgbClr val="642366"/>
                          </a:solidFill>
                          <a:latin typeface="Times New Roman" panose="02020503050405090304" pitchFamily="18" charset="0"/>
                          <a:ea typeface="宋体" pitchFamily="2" charset="-122"/>
                          <a:cs typeface="Times New Roman" panose="02020503050405090304" pitchFamily="18" charset="0"/>
                        </a:rPr>
                        <a:t>SHEIN</a:t>
                      </a: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2" name="组合 11"/>
          <p:cNvGrpSpPr/>
          <p:nvPr userDrawn="1"/>
        </p:nvGrpSpPr>
        <p:grpSpPr>
          <a:xfrm>
            <a:off x="1130300" y="6540499"/>
            <a:ext cx="4394200" cy="317500"/>
            <a:chOff x="0" y="1272662"/>
            <a:chExt cx="1691680" cy="788186"/>
          </a:xfrm>
          <a:solidFill>
            <a:srgbClr val="642366"/>
          </a:solidFill>
        </p:grpSpPr>
        <p:sp>
          <p:nvSpPr>
            <p:cNvPr id="18" name="矩形 17"/>
            <p:cNvSpPr/>
            <p:nvPr userDrawn="1"/>
          </p:nvSpPr>
          <p:spPr>
            <a:xfrm>
              <a:off x="0" y="1272662"/>
              <a:ext cx="1691680" cy="7881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p:txBody>
        </p:sp>
        <p:sp>
          <p:nvSpPr>
            <p:cNvPr id="19" name="等腰三角形 18"/>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Times New Roman" panose="02020503050405090304" pitchFamily="18" charset="0"/>
                <a:ea typeface="宋体" pitchFamily="2" charset="-122"/>
                <a:cs typeface="Times New Roman" panose="02020503050405090304" pitchFamily="18" charset="0"/>
              </a:endParaRPr>
            </a:p>
          </p:txBody>
        </p:sp>
      </p:grpSp>
      <p:grpSp>
        <p:nvGrpSpPr>
          <p:cNvPr id="20" name="组合 19"/>
          <p:cNvGrpSpPr/>
          <p:nvPr userDrawn="1"/>
        </p:nvGrpSpPr>
        <p:grpSpPr>
          <a:xfrm>
            <a:off x="-7436" y="3333610"/>
            <a:ext cx="1278675" cy="788186"/>
            <a:chOff x="-105732" y="1272662"/>
            <a:chExt cx="1829133" cy="788186"/>
          </a:xfrm>
          <a:solidFill>
            <a:srgbClr val="642366"/>
          </a:solidFill>
        </p:grpSpPr>
        <p:sp>
          <p:nvSpPr>
            <p:cNvPr id="21" name="矩形 20"/>
            <p:cNvSpPr/>
            <p:nvPr userDrawn="1"/>
          </p:nvSpPr>
          <p:spPr>
            <a:xfrm>
              <a:off x="-105732" y="1272662"/>
              <a:ext cx="1829133" cy="7881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kern="1200" dirty="0">
                  <a:solidFill>
                    <a:schemeClr val="bg1"/>
                  </a:solidFill>
                  <a:latin typeface="Times New Roman" panose="02020503050405090304" pitchFamily="18" charset="0"/>
                  <a:ea typeface="宋体" pitchFamily="2" charset="-122"/>
                  <a:cs typeface="Times New Roman" panose="02020503050405090304" pitchFamily="18" charset="0"/>
                </a:rPr>
                <a:t>Comparison</a:t>
              </a:r>
              <a:endParaRPr lang="zh-CN" altLang="en-US" sz="1600" b="1" kern="1200" dirty="0">
                <a:solidFill>
                  <a:schemeClr val="bg1"/>
                </a:solidFill>
                <a:latin typeface="Times New Roman" panose="02020503050405090304" pitchFamily="18" charset="0"/>
                <a:ea typeface="宋体" pitchFamily="2" charset="-122"/>
                <a:cs typeface="Times New Roman" panose="02020503050405090304" pitchFamily="18" charset="0"/>
              </a:endParaRPr>
            </a:p>
          </p:txBody>
        </p:sp>
        <p:sp>
          <p:nvSpPr>
            <p:cNvPr id="22" name="等腰三角形 21"/>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Times New Roman" panose="02020503050405090304" pitchFamily="18" charset="0"/>
                <a:ea typeface="宋体" pitchFamily="2" charset="-122"/>
                <a:cs typeface="Times New Roman" panose="02020503050405090304" pitchFamily="18" charset="0"/>
              </a:endParaRPr>
            </a:p>
          </p:txBody>
        </p:sp>
      </p:grpSp>
      <p:cxnSp>
        <p:nvCxnSpPr>
          <p:cNvPr id="23" name="直接连接符 22"/>
          <p:cNvCxnSpPr/>
          <p:nvPr userDrawn="1"/>
        </p:nvCxnSpPr>
        <p:spPr>
          <a:xfrm>
            <a:off x="1526704" y="989360"/>
            <a:ext cx="960484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4"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26" name="标题 1"/>
          <p:cNvSpPr>
            <a:spLocks noGrp="1"/>
          </p:cNvSpPr>
          <p:nvPr>
            <p:ph type="title"/>
          </p:nvPr>
        </p:nvSpPr>
        <p:spPr>
          <a:xfrm>
            <a:off x="1948996" y="249882"/>
            <a:ext cx="8294008" cy="720428"/>
          </a:xfrm>
        </p:spPr>
        <p:txBody>
          <a:bodyPr/>
          <a:lstStyle>
            <a:lvl1pPr>
              <a:defRPr sz="3600" b="1" baseline="0">
                <a:latin typeface="Times New Roman" panose="02020503050405090304" pitchFamily="18" charset="0"/>
              </a:defRPr>
            </a:lvl1pPr>
          </a:lstStyle>
          <a:p>
            <a:r>
              <a:rPr lang="zh-CN" altLang="en-US"/>
              <a:t>单击此处编辑母版标题样式</a:t>
            </a:r>
            <a:endParaRPr lang="zh-CN" altLang="en-US"/>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绪论2">
    <p:spTree>
      <p:nvGrpSpPr>
        <p:cNvPr id="1" name=""/>
        <p:cNvGrpSpPr/>
        <p:nvPr/>
      </p:nvGrpSpPr>
      <p:grpSpPr>
        <a:xfrm>
          <a:off x="0" y="0"/>
          <a:ext cx="0" cy="0"/>
          <a:chOff x="0" y="0"/>
          <a:chExt cx="0" cy="0"/>
        </a:xfrm>
      </p:grpSpPr>
      <p:sp>
        <p:nvSpPr>
          <p:cNvPr id="8" name="矩形 7"/>
          <p:cNvSpPr/>
          <p:nvPr/>
        </p:nvSpPr>
        <p:spPr>
          <a:xfrm>
            <a:off x="0" y="6540500"/>
            <a:ext cx="121920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a:graphicFrameLocks noGrp="1"/>
          </p:cNvGraphicFramePr>
          <p:nvPr/>
        </p:nvGraphicFramePr>
        <p:xfrm>
          <a:off x="50800" y="6540496"/>
          <a:ext cx="12192004" cy="317502"/>
        </p:xfrm>
        <a:graphic>
          <a:graphicData uri="http://schemas.openxmlformats.org/drawingml/2006/table">
            <a:tbl>
              <a:tblPr>
                <a:tableStyleId>{2D5ABB26-0587-4C30-8999-92F81FD0307C}</a:tableStyleId>
              </a:tblPr>
              <a:tblGrid>
                <a:gridCol w="3854450"/>
                <a:gridCol w="4194230"/>
                <a:gridCol w="4143324"/>
              </a:tblGrid>
              <a:tr h="3175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3:</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10" name="矩形 9"/>
          <p:cNvSpPr/>
          <p:nvPr/>
        </p:nvSpPr>
        <p:spPr>
          <a:xfrm>
            <a:off x="3740153" y="6540500"/>
            <a:ext cx="4394200" cy="31750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zh-CN" sz="1400" b="1" dirty="0">
                <a:latin typeface="Times New Roman" panose="02020503050405090304" pitchFamily="18" charset="0"/>
                <a:ea typeface="宋体" pitchFamily="2" charset="-122"/>
                <a:cs typeface="Times New Roman" panose="02020503050405090304" pitchFamily="18" charset="0"/>
              </a:rPr>
              <a:t>Part 2:</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fr-FR" altLang="zh-CN" sz="1400" b="1" dirty="0">
              <a:latin typeface="Times New Roman" panose="02020503050405090304" pitchFamily="18" charset="0"/>
              <a:ea typeface="宋体" pitchFamily="2" charset="-122"/>
              <a:cs typeface="Times New Roman" panose="02020503050405090304" pitchFamily="18" charset="0"/>
            </a:endParaRPr>
          </a:p>
        </p:txBody>
      </p:sp>
      <p:cxnSp>
        <p:nvCxnSpPr>
          <p:cNvPr id="6" name="直接连接符 5"/>
          <p:cNvCxnSpPr/>
          <p:nvPr/>
        </p:nvCxnSpPr>
        <p:spPr>
          <a:xfrm>
            <a:off x="393700" y="989360"/>
            <a:ext cx="107378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4" descr="https://ss1.bdstatic.com/70cFuXSh_Q1YnxGkpoWK1HF6hhy/it/u=895424434,4021804793&amp;fm=27&amp;gp=0.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a:xfrm>
            <a:off x="0" y="6540500"/>
            <a:ext cx="121920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userDrawn="1"/>
        </p:nvGraphicFramePr>
        <p:xfrm>
          <a:off x="50800" y="6540496"/>
          <a:ext cx="12192004" cy="317502"/>
        </p:xfrm>
        <a:graphic>
          <a:graphicData uri="http://schemas.openxmlformats.org/drawingml/2006/table">
            <a:tbl>
              <a:tblPr>
                <a:tableStyleId>{2D5ABB26-0587-4C30-8999-92F81FD0307C}</a:tableStyleId>
              </a:tblPr>
              <a:tblGrid>
                <a:gridCol w="3854450"/>
                <a:gridCol w="4194230"/>
                <a:gridCol w="4143324"/>
              </a:tblGrid>
              <a:tr h="3175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3:</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矩形 4"/>
          <p:cNvSpPr/>
          <p:nvPr userDrawn="1"/>
        </p:nvSpPr>
        <p:spPr>
          <a:xfrm>
            <a:off x="3740153" y="6540500"/>
            <a:ext cx="4394200" cy="31750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zh-CN" sz="1400" b="1" dirty="0">
                <a:latin typeface="Times New Roman" panose="02020503050405090304" pitchFamily="18" charset="0"/>
                <a:ea typeface="宋体" pitchFamily="2" charset="-122"/>
                <a:cs typeface="Times New Roman" panose="02020503050405090304" pitchFamily="18" charset="0"/>
              </a:rPr>
              <a:t>Part 2:</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fr-FR" altLang="zh-CN" sz="1400" b="1" dirty="0">
              <a:latin typeface="Times New Roman" panose="02020503050405090304" pitchFamily="18" charset="0"/>
              <a:ea typeface="宋体" pitchFamily="2" charset="-122"/>
              <a:cs typeface="Times New Roman" panose="02020503050405090304" pitchFamily="18" charset="0"/>
            </a:endParaRPr>
          </a:p>
        </p:txBody>
      </p:sp>
      <p:cxnSp>
        <p:nvCxnSpPr>
          <p:cNvPr id="9" name="直接连接符 8"/>
          <p:cNvCxnSpPr/>
          <p:nvPr userDrawn="1"/>
        </p:nvCxnSpPr>
        <p:spPr>
          <a:xfrm>
            <a:off x="393700" y="989360"/>
            <a:ext cx="107378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绪论2">
    <p:spTree>
      <p:nvGrpSpPr>
        <p:cNvPr id="1" name=""/>
        <p:cNvGrpSpPr/>
        <p:nvPr/>
      </p:nvGrpSpPr>
      <p:grpSpPr>
        <a:xfrm>
          <a:off x="0" y="0"/>
          <a:ext cx="0" cy="0"/>
          <a:chOff x="0" y="0"/>
          <a:chExt cx="0" cy="0"/>
        </a:xfrm>
      </p:grpSpPr>
      <p:sp>
        <p:nvSpPr>
          <p:cNvPr id="8" name="矩形 7"/>
          <p:cNvSpPr/>
          <p:nvPr/>
        </p:nvSpPr>
        <p:spPr>
          <a:xfrm>
            <a:off x="0" y="6540500"/>
            <a:ext cx="121920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a:graphicFrameLocks noGrp="1"/>
          </p:cNvGraphicFramePr>
          <p:nvPr/>
        </p:nvGraphicFramePr>
        <p:xfrm>
          <a:off x="50800" y="6540496"/>
          <a:ext cx="12192004" cy="317502"/>
        </p:xfrm>
        <a:graphic>
          <a:graphicData uri="http://schemas.openxmlformats.org/drawingml/2006/table">
            <a:tbl>
              <a:tblPr>
                <a:tableStyleId>{2D5ABB26-0587-4C30-8999-92F81FD0307C}</a:tableStyleId>
              </a:tblPr>
              <a:tblGrid>
                <a:gridCol w="3854450"/>
                <a:gridCol w="4194230"/>
                <a:gridCol w="4143324"/>
              </a:tblGrid>
              <a:tr h="3175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2:</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fr-FR" altLang="zh-CN"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10" name="矩形 9"/>
          <p:cNvSpPr/>
          <p:nvPr/>
        </p:nvSpPr>
        <p:spPr>
          <a:xfrm>
            <a:off x="7797800" y="6540500"/>
            <a:ext cx="4394200" cy="31750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Times New Roman" panose="02020503050405090304" pitchFamily="18" charset="0"/>
                <a:ea typeface="宋体" pitchFamily="2" charset="-122"/>
                <a:cs typeface="Times New Roman" panose="02020503050405090304" pitchFamily="18" charset="0"/>
              </a:rPr>
              <a:t>Part 3:</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en-US" altLang="zh-CN" sz="1400" b="1" dirty="0">
              <a:latin typeface="Times New Roman" panose="02020503050405090304" pitchFamily="18" charset="0"/>
              <a:ea typeface="宋体" pitchFamily="2" charset="-122"/>
              <a:cs typeface="Times New Roman" panose="02020503050405090304" pitchFamily="18" charset="0"/>
            </a:endParaRPr>
          </a:p>
        </p:txBody>
      </p:sp>
      <p:cxnSp>
        <p:nvCxnSpPr>
          <p:cNvPr id="6" name="直接连接符 5"/>
          <p:cNvCxnSpPr/>
          <p:nvPr/>
        </p:nvCxnSpPr>
        <p:spPr>
          <a:xfrm>
            <a:off x="393700" y="989360"/>
            <a:ext cx="107378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4" descr="https://ss1.bdstatic.com/70cFuXSh_Q1YnxGkpoWK1HF6hhy/it/u=895424434,4021804793&amp;fm=27&amp;gp=0.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a:xfrm>
            <a:off x="0" y="6540500"/>
            <a:ext cx="121920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userDrawn="1"/>
        </p:nvGraphicFramePr>
        <p:xfrm>
          <a:off x="50800" y="6540496"/>
          <a:ext cx="12192004" cy="317502"/>
        </p:xfrm>
        <a:graphic>
          <a:graphicData uri="http://schemas.openxmlformats.org/drawingml/2006/table">
            <a:tbl>
              <a:tblPr>
                <a:tableStyleId>{2D5ABB26-0587-4C30-8999-92F81FD0307C}</a:tableStyleId>
              </a:tblPr>
              <a:tblGrid>
                <a:gridCol w="3854450"/>
                <a:gridCol w="4194230"/>
                <a:gridCol w="4143324"/>
              </a:tblGrid>
              <a:tr h="3175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2:</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fr-FR" altLang="zh-CN"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矩形 4"/>
          <p:cNvSpPr/>
          <p:nvPr userDrawn="1"/>
        </p:nvSpPr>
        <p:spPr>
          <a:xfrm>
            <a:off x="7797800" y="6540500"/>
            <a:ext cx="4394200" cy="31750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Times New Roman" panose="02020503050405090304" pitchFamily="18" charset="0"/>
                <a:ea typeface="宋体" pitchFamily="2" charset="-122"/>
                <a:cs typeface="Times New Roman" panose="02020503050405090304" pitchFamily="18" charset="0"/>
              </a:rPr>
              <a:t>Part 3:</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en-US" altLang="zh-CN" sz="1400" b="1" dirty="0">
              <a:latin typeface="Times New Roman" panose="02020503050405090304" pitchFamily="18" charset="0"/>
              <a:ea typeface="宋体" pitchFamily="2" charset="-122"/>
              <a:cs typeface="Times New Roman" panose="02020503050405090304" pitchFamily="18" charset="0"/>
            </a:endParaRPr>
          </a:p>
        </p:txBody>
      </p:sp>
      <p:cxnSp>
        <p:nvCxnSpPr>
          <p:cNvPr id="9" name="直接连接符 8"/>
          <p:cNvCxnSpPr/>
          <p:nvPr userDrawn="1"/>
        </p:nvCxnSpPr>
        <p:spPr>
          <a:xfrm>
            <a:off x="393700" y="989360"/>
            <a:ext cx="107378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图片1"/>
          <p:cNvPicPr>
            <a:picLocks noChangeAspect="1"/>
          </p:cNvPicPr>
          <p:nvPr userDrawn="1"/>
        </p:nvPicPr>
        <p:blipFill>
          <a:blip r:embed="rId2"/>
          <a:srcRect t="9114"/>
          <a:stretch>
            <a:fillRect/>
          </a:stretch>
        </p:blipFill>
        <p:spPr>
          <a:xfrm>
            <a:off x="0" y="0"/>
            <a:ext cx="12218035" cy="6858000"/>
          </a:xfrm>
          <a:prstGeom prst="rect">
            <a:avLst/>
          </a:prstGeom>
        </p:spPr>
      </p:pic>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9" name="灯片编号占位符 8"/>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97218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b="1" dirty="0">
                <a:solidFill>
                  <a:schemeClr val="bg1"/>
                </a:solidFill>
                <a:latin typeface="Times New Roman" panose="02020503050405090304" pitchFamily="18" charset="0"/>
                <a:ea typeface="+mn-ea"/>
                <a:cs typeface="Times New Roman" panose="02020503050405090304" pitchFamily="18" charset="0"/>
              </a:rPr>
              <a:t>The Question</a:t>
            </a:r>
            <a:endParaRPr lang="en-US" altLang="zh-CN" b="1" dirty="0">
              <a:solidFill>
                <a:schemeClr val="bg1"/>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770255"/>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userDrawn="1"/>
        </p:nvSpPr>
        <p:spPr>
          <a:xfrm>
            <a:off x="0" y="1769110"/>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1" dirty="0">
                          <a:solidFill>
                            <a:schemeClr val="bg1"/>
                          </a:solidFill>
                          <a:latin typeface="Times New Roman" panose="02020503050405090304" pitchFamily="18" charset="0"/>
                          <a:ea typeface="+mn-ea"/>
                          <a:cs typeface="Times New Roman" panose="02020503050405090304" pitchFamily="18" charset="0"/>
                        </a:rPr>
                        <a:t>Model Setup</a:t>
                      </a:r>
                      <a:endParaRPr lang="en-US" altLang="zh-CN" sz="18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255714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bg1"/>
                          </a:solidFill>
                          <a:latin typeface="Times New Roman" panose="02020503050405090304" pitchFamily="18" charset="0"/>
                          <a:ea typeface="+mn-ea"/>
                          <a:cs typeface="Times New Roman" panose="02020503050405090304" pitchFamily="18" charset="0"/>
                        </a:rPr>
                        <a:t>Identification &amp; Estimation</a:t>
                      </a:r>
                      <a:endParaRPr lang="en-US" altLang="zh-CN" sz="18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334581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600" b="1" dirty="0">
                          <a:solidFill>
                            <a:schemeClr val="bg1"/>
                          </a:solidFill>
                          <a:latin typeface="Times New Roman" panose="02020503050405090304" pitchFamily="18" charset="0"/>
                          <a:ea typeface="+mn-ea"/>
                          <a:cs typeface="Times New Roman" panose="02020503050405090304" pitchFamily="18" charset="0"/>
                        </a:rPr>
                        <a:t>Counterfactual</a:t>
                      </a:r>
                      <a:endParaRPr lang="en-US" altLang="zh-CN" sz="16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2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4130040"/>
            <a:ext cx="1625600" cy="77089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a:t>
                      </a:r>
                      <a:r>
                        <a:rPr lang="en-US" altLang="zh-CN" sz="1800" b="1" kern="1200" dirty="0">
                          <a:solidFill>
                            <a:schemeClr val="bg1"/>
                          </a:solidFill>
                          <a:latin typeface="Times New Roman" panose="02020503050405090304" pitchFamily="18" charset="0"/>
                          <a:ea typeface="+mn-ea"/>
                          <a:cs typeface="Times New Roman" panose="02020503050405090304" pitchFamily="18" charset="0"/>
                        </a:rPr>
                        <a:t>Replication</a:t>
                      </a:r>
                      <a:endParaRPr lang="en-US" altLang="zh-CN" sz="1800" b="1" kern="1200"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2338070"/>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绪论2">
    <p:spTree>
      <p:nvGrpSpPr>
        <p:cNvPr id="1" name=""/>
        <p:cNvGrpSpPr/>
        <p:nvPr/>
      </p:nvGrpSpPr>
      <p:grpSpPr>
        <a:xfrm>
          <a:off x="0" y="0"/>
          <a:ext cx="0" cy="0"/>
          <a:chOff x="0" y="0"/>
          <a:chExt cx="0" cy="0"/>
        </a:xfrm>
      </p:grpSpPr>
      <p:sp>
        <p:nvSpPr>
          <p:cNvPr id="14" name="矩形 13"/>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p:cNvSpPr/>
          <p:nvPr userDrawn="1"/>
        </p:nvSpPr>
        <p:spPr>
          <a:xfrm>
            <a:off x="0" y="1769110"/>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graphicFrame>
        <p:nvGraphicFramePr>
          <p:cNvPr id="18" name="表格 17"/>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1" dirty="0">
                          <a:solidFill>
                            <a:schemeClr val="bg1"/>
                          </a:solidFill>
                          <a:latin typeface="Times New Roman" panose="02020503050405090304" pitchFamily="18" charset="0"/>
                          <a:ea typeface="+mn-ea"/>
                          <a:cs typeface="Times New Roman" panose="02020503050405090304" pitchFamily="18" charset="0"/>
                        </a:rPr>
                        <a:t>Model Setup</a:t>
                      </a:r>
                      <a:endParaRPr lang="en-US" altLang="zh-CN" sz="18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cxnSp>
        <p:nvCxnSpPr>
          <p:cNvPr id="19" name="直接连接符 18"/>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表格 2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23" name="文本框 2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24" name="文本框 23"/>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25"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26"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表格 26"/>
          <p:cNvGraphicFramePr>
            <a:graphicFrameLocks noGrp="1"/>
          </p:cNvGraphicFramePr>
          <p:nvPr userDrawn="1"/>
        </p:nvGraphicFramePr>
        <p:xfrm>
          <a:off x="0" y="4900930"/>
          <a:ext cx="1625600" cy="770255"/>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0_绪论2">
    <p:spTree>
      <p:nvGrpSpPr>
        <p:cNvPr id="1" name=""/>
        <p:cNvGrpSpPr/>
        <p:nvPr/>
      </p:nvGrpSpPr>
      <p:grpSpPr>
        <a:xfrm>
          <a:off x="0" y="0"/>
          <a:ext cx="0" cy="0"/>
          <a:chOff x="0" y="0"/>
          <a:chExt cx="0" cy="0"/>
        </a:xfrm>
      </p:grpSpPr>
      <p:sp>
        <p:nvSpPr>
          <p:cNvPr id="4" name="矩形 3"/>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5" name="表格 4"/>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7" name="矩形 6"/>
          <p:cNvSpPr/>
          <p:nvPr userDrawn="1"/>
        </p:nvSpPr>
        <p:spPr>
          <a:xfrm>
            <a:off x="0" y="4130040"/>
            <a:ext cx="1625600" cy="77089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8" name="直接连接符 7"/>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表格 9"/>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a:t>
                      </a:r>
                      <a:r>
                        <a:rPr lang="en-US" altLang="zh-CN" sz="1800" b="1" kern="1200" dirty="0">
                          <a:solidFill>
                            <a:schemeClr val="bg1"/>
                          </a:solidFill>
                          <a:latin typeface="Times New Roman" panose="02020503050405090304" pitchFamily="18" charset="0"/>
                          <a:ea typeface="+mn-ea"/>
                          <a:cs typeface="Times New Roman" panose="02020503050405090304" pitchFamily="18" charset="0"/>
                        </a:rPr>
                        <a:t>Replication</a:t>
                      </a:r>
                      <a:endParaRPr lang="en-US" altLang="zh-CN" sz="1800" b="1" kern="1200"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4" name="文本框 13"/>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19" name="文本框 18"/>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20"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22"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3" name="表格 22"/>
          <p:cNvGraphicFramePr>
            <a:graphicFrameLocks noGrp="1"/>
          </p:cNvGraphicFramePr>
          <p:nvPr userDrawn="1"/>
        </p:nvGraphicFramePr>
        <p:xfrm>
          <a:off x="0" y="4900930"/>
          <a:ext cx="1625600" cy="770255"/>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绪论2">
    <p:spTree>
      <p:nvGrpSpPr>
        <p:cNvPr id="1" name=""/>
        <p:cNvGrpSpPr/>
        <p:nvPr/>
      </p:nvGrpSpPr>
      <p:grpSpPr>
        <a:xfrm>
          <a:off x="0" y="0"/>
          <a:ext cx="0" cy="0"/>
          <a:chOff x="0" y="0"/>
          <a:chExt cx="0" cy="0"/>
        </a:xfrm>
      </p:grpSpPr>
      <p:sp>
        <p:nvSpPr>
          <p:cNvPr id="5" name="矩形 4"/>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7" name="表格 6"/>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255714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9" name="直接连接符 8"/>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表格 13"/>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bg1"/>
                          </a:solidFill>
                          <a:latin typeface="Times New Roman" panose="02020503050405090304" pitchFamily="18" charset="0"/>
                          <a:ea typeface="+mn-ea"/>
                          <a:cs typeface="Times New Roman" panose="02020503050405090304" pitchFamily="18" charset="0"/>
                        </a:rPr>
                        <a:t>Identification &amp; Estimation</a:t>
                      </a:r>
                      <a:endParaRPr lang="en-US" altLang="zh-CN" sz="18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6" name="文本框 15"/>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18" name="文本框 17"/>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19"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20"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表格 21"/>
          <p:cNvGraphicFramePr>
            <a:graphicFrameLocks noGrp="1"/>
          </p:cNvGraphicFramePr>
          <p:nvPr userDrawn="1"/>
        </p:nvGraphicFramePr>
        <p:xfrm>
          <a:off x="0" y="4900930"/>
          <a:ext cx="1625600" cy="770255"/>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9_绪论2">
    <p:spTree>
      <p:nvGrpSpPr>
        <p:cNvPr id="1" name=""/>
        <p:cNvGrpSpPr/>
        <p:nvPr/>
      </p:nvGrpSpPr>
      <p:grpSpPr>
        <a:xfrm>
          <a:off x="0" y="0"/>
          <a:ext cx="0" cy="0"/>
          <a:chOff x="0" y="0"/>
          <a:chExt cx="0" cy="0"/>
        </a:xfrm>
      </p:grpSpPr>
      <p:sp>
        <p:nvSpPr>
          <p:cNvPr id="4" name="矩形 3"/>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5" name="表格 4"/>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8" name="矩形 7"/>
          <p:cNvSpPr/>
          <p:nvPr userDrawn="1"/>
        </p:nvSpPr>
        <p:spPr>
          <a:xfrm>
            <a:off x="0" y="3345815"/>
            <a:ext cx="1625600" cy="78867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0" name="直接连接符 9"/>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表格 13"/>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600" b="1" dirty="0">
                          <a:solidFill>
                            <a:schemeClr val="bg1"/>
                          </a:solidFill>
                          <a:latin typeface="Times New Roman" panose="02020503050405090304" pitchFamily="18" charset="0"/>
                          <a:ea typeface="+mn-ea"/>
                          <a:cs typeface="Times New Roman" panose="02020503050405090304" pitchFamily="18" charset="0"/>
                        </a:rPr>
                        <a:t>Counterfactual</a:t>
                      </a:r>
                      <a:endParaRPr lang="en-US" altLang="zh-CN" sz="1600" b="1" dirty="0">
                        <a:solidFill>
                          <a:schemeClr val="bg1"/>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6" name="文本框 15"/>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18" name="文本框 17"/>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19"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20"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表格 21"/>
          <p:cNvGraphicFramePr>
            <a:graphicFrameLocks noGrp="1"/>
          </p:cNvGraphicFramePr>
          <p:nvPr userDrawn="1"/>
        </p:nvGraphicFramePr>
        <p:xfrm>
          <a:off x="0" y="4900930"/>
          <a:ext cx="1625600" cy="770255"/>
        </p:xfrm>
        <a:graphic>
          <a:graphicData uri="http://schemas.openxmlformats.org/drawingml/2006/table">
            <a:tbl>
              <a:tblPr>
                <a:tableStyleId>{2D5ABB26-0587-4C30-8999-92F81FD0307C}</a:tableStyleId>
              </a:tblPr>
              <a:tblGrid>
                <a:gridCol w="1625600"/>
              </a:tblGrid>
              <a:tr h="770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rPr>
                        <a:t>Conlusion</a:t>
                      </a:r>
                      <a:endParaRPr lang="en-US" altLang="zh-CN" sz="1800" b="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3_绪论2">
    <p:spTree>
      <p:nvGrpSpPr>
        <p:cNvPr id="1" name=""/>
        <p:cNvGrpSpPr/>
        <p:nvPr/>
      </p:nvGrpSpPr>
      <p:grpSpPr>
        <a:xfrm>
          <a:off x="0" y="0"/>
          <a:ext cx="0" cy="0"/>
          <a:chOff x="0" y="0"/>
          <a:chExt cx="0" cy="0"/>
        </a:xfrm>
      </p:grpSpPr>
      <p:sp>
        <p:nvSpPr>
          <p:cNvPr id="21" name="矩形 20"/>
          <p:cNvSpPr/>
          <p:nvPr userDrawn="1"/>
        </p:nvSpPr>
        <p:spPr>
          <a:xfrm>
            <a:off x="0" y="0"/>
            <a:ext cx="16256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userDrawn="1"/>
        </p:nvGraphicFramePr>
        <p:xfrm>
          <a:off x="-1" y="970310"/>
          <a:ext cx="1625600" cy="2375690"/>
        </p:xfrm>
        <a:graphic>
          <a:graphicData uri="http://schemas.openxmlformats.org/drawingml/2006/table">
            <a:tbl>
              <a:tblPr>
                <a:tableStyleId>{2D5ABB26-0587-4C30-8999-92F81FD0307C}</a:tableStyleId>
              </a:tblPr>
              <a:tblGrid>
                <a:gridCol w="1625600"/>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Model Setup</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5" name="矩形 14"/>
          <p:cNvSpPr/>
          <p:nvPr userDrawn="1"/>
        </p:nvSpPr>
        <p:spPr>
          <a:xfrm>
            <a:off x="0" y="4900930"/>
            <a:ext cx="1625600" cy="789305"/>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mn-ea"/>
              <a:ea typeface="+mn-ea"/>
              <a:cs typeface="Times New Roman" panose="02020503050405090304" pitchFamily="18" charset="0"/>
            </a:endParaRPr>
          </a:p>
        </p:txBody>
      </p:sp>
      <p:cxnSp>
        <p:nvCxnSpPr>
          <p:cNvPr id="13" name="直接连接符 12"/>
          <p:cNvCxnSpPr/>
          <p:nvPr userDrawn="1"/>
        </p:nvCxnSpPr>
        <p:spPr>
          <a:xfrm>
            <a:off x="2021747" y="989360"/>
            <a:ext cx="910980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1"/>
          <p:cNvGraphicFramePr>
            <a:graphicFrameLocks noGrp="1"/>
          </p:cNvGraphicFramePr>
          <p:nvPr userDrawn="1"/>
        </p:nvGraphicFramePr>
        <p:xfrm>
          <a:off x="-1" y="2557810"/>
          <a:ext cx="1625600" cy="2343150"/>
        </p:xfrm>
        <a:graphic>
          <a:graphicData uri="http://schemas.openxmlformats.org/drawingml/2006/table">
            <a:tbl>
              <a:tblPr>
                <a:tableStyleId>{2D5ABB26-0587-4C30-8999-92F81FD0307C}</a:tableStyleId>
              </a:tblPr>
              <a:tblGrid>
                <a:gridCol w="1625600"/>
              </a:tblGrid>
              <a:tr h="7848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0" dirty="0">
                          <a:solidFill>
                            <a:srgbClr val="642366"/>
                          </a:solidFill>
                          <a:latin typeface="Times New Roman" panose="02020503050405090304" pitchFamily="18" charset="0"/>
                          <a:ea typeface="+mn-ea"/>
                          <a:cs typeface="Times New Roman" panose="02020503050405090304" pitchFamily="18" charset="0"/>
                        </a:rPr>
                        <a:t>Identification &amp; Estimation</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1845">
                <a:tc>
                  <a:txBody>
                    <a:bodyPr/>
                    <a:lstStyle/>
                    <a:p>
                      <a:pPr algn="ctr"/>
                      <a:r>
                        <a:rPr lang="en-US" altLang="zh-CN" sz="1800" b="0" dirty="0">
                          <a:solidFill>
                            <a:srgbClr val="642366"/>
                          </a:solidFill>
                          <a:latin typeface="Times New Roman" panose="02020503050405090304" pitchFamily="18" charset="0"/>
                          <a:ea typeface="+mn-ea"/>
                          <a:cs typeface="Times New Roman" panose="02020503050405090304" pitchFamily="18" charset="0"/>
                        </a:rPr>
                        <a:t>Counterfactual</a:t>
                      </a:r>
                      <a:endParaRPr lang="en-US" altLang="zh-CN" sz="1800" b="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6445">
                <a:tc>
                  <a:txBody>
                    <a:bodyPr/>
                    <a:lstStyle/>
                    <a:p>
                      <a:pPr algn="ctr"/>
                      <a:r>
                        <a:rPr lang="en-US" altLang="zh-CN" sz="1800" b="0" kern="1200" dirty="0">
                          <a:solidFill>
                            <a:srgbClr val="642366"/>
                          </a:solidFill>
                          <a:latin typeface="Times New Roman" panose="02020503050405090304" pitchFamily="18" charset="0"/>
                          <a:ea typeface="+mn-ea"/>
                          <a:cs typeface="Times New Roman" panose="02020503050405090304" pitchFamily="18" charset="0"/>
                        </a:rPr>
                        <a:t> Replication</a:t>
                      </a:r>
                      <a:endParaRPr lang="en-US" altLang="zh-CN" sz="1800" b="0" kern="1200" dirty="0">
                        <a:solidFill>
                          <a:srgbClr val="642366"/>
                        </a:solidFill>
                        <a:latin typeface="Times New Roman" panose="02020503050405090304" pitchFamily="18" charset="0"/>
                        <a:ea typeface="+mn-ea"/>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3" name="文本框 2"/>
          <p:cNvSpPr txBox="1"/>
          <p:nvPr userDrawn="1"/>
        </p:nvSpPr>
        <p:spPr>
          <a:xfrm>
            <a:off x="11454765" y="6539230"/>
            <a:ext cx="4064000" cy="368300"/>
          </a:xfrm>
          <a:prstGeom prst="rect">
            <a:avLst/>
          </a:prstGeom>
          <a:noFill/>
        </p:spPr>
        <p:txBody>
          <a:bodyPr wrap="square" rtlCol="0">
            <a:spAutoFit/>
          </a:bodyPr>
          <a:lstStyle/>
          <a:p>
            <a:endParaRPr lang="zh-CN" altLang="en-US"/>
          </a:p>
        </p:txBody>
      </p:sp>
      <p:sp>
        <p:nvSpPr>
          <p:cNvPr id="6" name="文本框 5"/>
          <p:cNvSpPr txBox="1"/>
          <p:nvPr userDrawn="1"/>
        </p:nvSpPr>
        <p:spPr>
          <a:xfrm>
            <a:off x="-183242" y="1182370"/>
            <a:ext cx="1992084" cy="368300"/>
          </a:xfrm>
          <a:prstGeom prst="rect">
            <a:avLst/>
          </a:prstGeom>
          <a:noFill/>
        </p:spPr>
        <p:txBody>
          <a:bodyPr wrap="square">
            <a:spAutoFit/>
          </a:bodyPr>
          <a:lstStyle/>
          <a:p>
            <a:pPr algn="ctr"/>
            <a:r>
              <a:rPr lang="en-US" altLang="zh-CN" dirty="0">
                <a:solidFill>
                  <a:srgbClr val="642366"/>
                </a:solidFill>
                <a:latin typeface="Times New Roman" panose="02020503050405090304" pitchFamily="18" charset="0"/>
                <a:ea typeface="+mn-ea"/>
                <a:cs typeface="Times New Roman" panose="02020503050405090304" pitchFamily="18" charset="0"/>
              </a:rPr>
              <a:t>The Question</a:t>
            </a:r>
            <a:endParaRPr lang="en-US" altLang="zh-CN" dirty="0">
              <a:solidFill>
                <a:srgbClr val="642366"/>
              </a:solidFill>
              <a:latin typeface="Times New Roman" panose="02020503050405090304" pitchFamily="18" charset="0"/>
              <a:ea typeface="+mn-ea"/>
              <a:cs typeface="Times New Roman" panose="02020503050405090304" pitchFamily="18" charset="0"/>
            </a:endParaRPr>
          </a:p>
        </p:txBody>
      </p:sp>
      <p:sp>
        <p:nvSpPr>
          <p:cNvPr id="4" name="标题 1"/>
          <p:cNvSpPr>
            <a:spLocks noGrp="1"/>
          </p:cNvSpPr>
          <p:nvPr>
            <p:ph type="title"/>
          </p:nvPr>
        </p:nvSpPr>
        <p:spPr>
          <a:xfrm>
            <a:off x="2493144" y="350986"/>
            <a:ext cx="8294008" cy="720428"/>
          </a:xfrm>
        </p:spPr>
        <p:txBody>
          <a:bodyPr/>
          <a:lstStyle>
            <a:lvl1pPr>
              <a:defRPr sz="2800" b="1" baseline="0">
                <a:latin typeface="Times New Roman" panose="02020503050405090304" pitchFamily="18" charset="0"/>
              </a:defRPr>
            </a:lvl1pPr>
          </a:lstStyle>
          <a:p>
            <a:r>
              <a:rPr lang="zh-CN" altLang="en-US"/>
              <a:t>单击此处编辑母版标题样式</a:t>
            </a:r>
            <a:endParaRPr lang="zh-CN" altLang="en-US"/>
          </a:p>
        </p:txBody>
      </p:sp>
      <p:sp>
        <p:nvSpPr>
          <p:cNvPr id="5" name="流程图: 接点 4"/>
          <p:cNvSpPr/>
          <p:nvPr userDrawn="1"/>
        </p:nvSpPr>
        <p:spPr>
          <a:xfrm>
            <a:off x="1972444" y="350986"/>
            <a:ext cx="457200" cy="45720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userDrawn="1"/>
        </p:nvGraphicFramePr>
        <p:xfrm>
          <a:off x="0" y="4900930"/>
          <a:ext cx="1625600" cy="789305"/>
        </p:xfrm>
        <a:graphic>
          <a:graphicData uri="http://schemas.openxmlformats.org/drawingml/2006/table">
            <a:tbl>
              <a:tblPr>
                <a:tableStyleId>{2D5ABB26-0587-4C30-8999-92F81FD0307C}</a:tableStyleId>
              </a:tblPr>
              <a:tblGrid>
                <a:gridCol w="1625600"/>
              </a:tblGrid>
              <a:tr h="78930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solidFill>
                            <a:schemeClr val="bg1"/>
                          </a:solidFill>
                          <a:latin typeface="Times New Roman" panose="02020503050405090304" pitchFamily="18" charset="0"/>
                          <a:ea typeface="宋体" pitchFamily="2" charset="-122"/>
                          <a:cs typeface="Times New Roman" panose="02020503050405090304" pitchFamily="18" charset="0"/>
                        </a:rPr>
                        <a:t>Conlusion</a:t>
                      </a:r>
                      <a:endParaRPr lang="en-US" altLang="zh-CN" sz="1800" b="1" dirty="0">
                        <a:solidFill>
                          <a:schemeClr val="bg1"/>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绪论2">
    <p:spTree>
      <p:nvGrpSpPr>
        <p:cNvPr id="1" name=""/>
        <p:cNvGrpSpPr/>
        <p:nvPr/>
      </p:nvGrpSpPr>
      <p:grpSpPr>
        <a:xfrm>
          <a:off x="0" y="0"/>
          <a:ext cx="0" cy="0"/>
          <a:chOff x="0" y="0"/>
          <a:chExt cx="0" cy="0"/>
        </a:xfrm>
      </p:grpSpPr>
      <p:sp>
        <p:nvSpPr>
          <p:cNvPr id="8" name="矩形 7"/>
          <p:cNvSpPr/>
          <p:nvPr/>
        </p:nvSpPr>
        <p:spPr>
          <a:xfrm>
            <a:off x="1130300" y="6540500"/>
            <a:ext cx="110617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a:graphicFrameLocks noGrp="1"/>
          </p:cNvGraphicFramePr>
          <p:nvPr/>
        </p:nvGraphicFramePr>
        <p:xfrm>
          <a:off x="1130300" y="6540498"/>
          <a:ext cx="11061703" cy="317502"/>
        </p:xfrm>
        <a:graphic>
          <a:graphicData uri="http://schemas.openxmlformats.org/drawingml/2006/table">
            <a:tbl>
              <a:tblPr>
                <a:tableStyleId>{2D5ABB26-0587-4C30-8999-92F81FD0307C}</a:tableStyleId>
              </a:tblPr>
              <a:tblGrid>
                <a:gridCol w="4337050"/>
                <a:gridCol w="2965450"/>
                <a:gridCol w="3759203"/>
              </a:tblGrid>
              <a:tr h="317502">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2:</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3:</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7" name="矩形 6"/>
          <p:cNvSpPr/>
          <p:nvPr/>
        </p:nvSpPr>
        <p:spPr>
          <a:xfrm>
            <a:off x="0" y="0"/>
            <a:ext cx="127867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1" name="表格 30"/>
          <p:cNvGraphicFramePr>
            <a:graphicFrameLocks noGrp="1"/>
          </p:cNvGraphicFramePr>
          <p:nvPr/>
        </p:nvGraphicFramePr>
        <p:xfrm>
          <a:off x="0" y="957610"/>
          <a:ext cx="1249064" cy="2376000"/>
        </p:xfrm>
        <a:graphic>
          <a:graphicData uri="http://schemas.openxmlformats.org/drawingml/2006/table">
            <a:tbl>
              <a:tblPr>
                <a:tableStyleId>{2D5ABB26-0587-4C30-8999-92F81FD0307C}</a:tableStyleId>
              </a:tblPr>
              <a:tblGrid>
                <a:gridCol w="1249064"/>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dirty="0">
                          <a:solidFill>
                            <a:srgbClr val="642366"/>
                          </a:solidFill>
                          <a:latin typeface="Times New Roman" panose="02020503050405090304" pitchFamily="18" charset="0"/>
                          <a:ea typeface="宋体" pitchFamily="2" charset="-122"/>
                          <a:cs typeface="Times New Roman" panose="02020503050405090304" pitchFamily="18" charset="0"/>
                        </a:rPr>
                        <a:t>Intro</a:t>
                      </a: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en-US" altLang="zh-CN" sz="1600" b="1" dirty="0">
                          <a:solidFill>
                            <a:srgbClr val="642366"/>
                          </a:solidFill>
                          <a:latin typeface="Times New Roman" panose="02020503050405090304" pitchFamily="18" charset="0"/>
                          <a:ea typeface="宋体" pitchFamily="2" charset="-122"/>
                          <a:cs typeface="Times New Roman" panose="02020503050405090304" pitchFamily="18" charset="0"/>
                        </a:rPr>
                        <a:t>ZARA</a:t>
                      </a: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en-US" altLang="zh-CN" sz="1600" b="1" kern="1200" dirty="0">
                          <a:solidFill>
                            <a:srgbClr val="642366"/>
                          </a:solidFill>
                          <a:latin typeface="Times New Roman" panose="02020503050405090304" pitchFamily="18" charset="0"/>
                          <a:ea typeface="宋体" pitchFamily="2" charset="-122"/>
                          <a:cs typeface="Times New Roman" panose="02020503050405090304" pitchFamily="18" charset="0"/>
                        </a:rPr>
                        <a:t>SHEIN</a:t>
                      </a: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9" name="组合 8"/>
          <p:cNvGrpSpPr/>
          <p:nvPr/>
        </p:nvGrpSpPr>
        <p:grpSpPr>
          <a:xfrm>
            <a:off x="1130300" y="6540499"/>
            <a:ext cx="4394200" cy="317500"/>
            <a:chOff x="0" y="1272662"/>
            <a:chExt cx="1691680" cy="788186"/>
          </a:xfrm>
          <a:solidFill>
            <a:srgbClr val="642366"/>
          </a:solidFill>
        </p:grpSpPr>
        <p:sp>
          <p:nvSpPr>
            <p:cNvPr id="10" name="矩形 9"/>
            <p:cNvSpPr/>
            <p:nvPr userDrawn="1"/>
          </p:nvSpPr>
          <p:spPr>
            <a:xfrm>
              <a:off x="0" y="1272662"/>
              <a:ext cx="1691680" cy="7881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p:txBody>
        </p:sp>
        <p:sp>
          <p:nvSpPr>
            <p:cNvPr id="11" name="等腰三角形 10"/>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Times New Roman" panose="02020503050405090304" pitchFamily="18" charset="0"/>
                <a:ea typeface="宋体" pitchFamily="2" charset="-122"/>
                <a:cs typeface="Times New Roman" panose="02020503050405090304" pitchFamily="18" charset="0"/>
              </a:endParaRPr>
            </a:p>
          </p:txBody>
        </p:sp>
      </p:grpSp>
      <p:grpSp>
        <p:nvGrpSpPr>
          <p:cNvPr id="14" name="组合 13"/>
          <p:cNvGrpSpPr/>
          <p:nvPr/>
        </p:nvGrpSpPr>
        <p:grpSpPr>
          <a:xfrm>
            <a:off x="-7436" y="3333610"/>
            <a:ext cx="1278675" cy="788186"/>
            <a:chOff x="-105732" y="1272662"/>
            <a:chExt cx="1829133" cy="788186"/>
          </a:xfrm>
          <a:solidFill>
            <a:srgbClr val="642366"/>
          </a:solidFill>
        </p:grpSpPr>
        <p:sp>
          <p:nvSpPr>
            <p:cNvPr id="15" name="矩形 14"/>
            <p:cNvSpPr/>
            <p:nvPr userDrawn="1"/>
          </p:nvSpPr>
          <p:spPr>
            <a:xfrm>
              <a:off x="-105732" y="1272662"/>
              <a:ext cx="1829133" cy="7881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kern="1200" dirty="0">
                  <a:solidFill>
                    <a:schemeClr val="bg1"/>
                  </a:solidFill>
                  <a:latin typeface="Times New Roman" panose="02020503050405090304" pitchFamily="18" charset="0"/>
                  <a:ea typeface="宋体" pitchFamily="2" charset="-122"/>
                  <a:cs typeface="Times New Roman" panose="02020503050405090304" pitchFamily="18" charset="0"/>
                </a:rPr>
                <a:t>Comparison</a:t>
              </a:r>
              <a:endParaRPr lang="zh-CN" altLang="en-US" sz="1600" b="1" kern="1200" dirty="0">
                <a:solidFill>
                  <a:schemeClr val="bg1"/>
                </a:solidFill>
                <a:latin typeface="Times New Roman" panose="02020503050405090304" pitchFamily="18" charset="0"/>
                <a:ea typeface="宋体" pitchFamily="2" charset="-122"/>
                <a:cs typeface="Times New Roman" panose="02020503050405090304" pitchFamily="18" charset="0"/>
              </a:endParaRPr>
            </a:p>
          </p:txBody>
        </p:sp>
        <p:sp>
          <p:nvSpPr>
            <p:cNvPr id="16" name="等腰三角形 15"/>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Times New Roman" panose="02020503050405090304" pitchFamily="18" charset="0"/>
                <a:ea typeface="宋体" pitchFamily="2" charset="-122"/>
                <a:cs typeface="Times New Roman" panose="02020503050405090304" pitchFamily="18" charset="0"/>
              </a:endParaRPr>
            </a:p>
          </p:txBody>
        </p:sp>
      </p:grpSp>
      <p:cxnSp>
        <p:nvCxnSpPr>
          <p:cNvPr id="13" name="直接连接符 12"/>
          <p:cNvCxnSpPr/>
          <p:nvPr/>
        </p:nvCxnSpPr>
        <p:spPr>
          <a:xfrm>
            <a:off x="1526704" y="989360"/>
            <a:ext cx="960484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icture 4" descr="https://ss1.bdstatic.com/70cFuXSh_Q1YnxGkpoWK1HF6hhy/it/u=895424434,4021804793&amp;fm=27&amp;gp=0.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a:xfrm>
            <a:off x="1130300" y="6540500"/>
            <a:ext cx="110617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userDrawn="1"/>
        </p:nvGraphicFramePr>
        <p:xfrm>
          <a:off x="1130300" y="6540498"/>
          <a:ext cx="11061703" cy="317502"/>
        </p:xfrm>
        <a:graphic>
          <a:graphicData uri="http://schemas.openxmlformats.org/drawingml/2006/table">
            <a:tbl>
              <a:tblPr>
                <a:tableStyleId>{2D5ABB26-0587-4C30-8999-92F81FD0307C}</a:tableStyleId>
              </a:tblPr>
              <a:tblGrid>
                <a:gridCol w="4337050"/>
                <a:gridCol w="2965450"/>
                <a:gridCol w="3759203"/>
              </a:tblGrid>
              <a:tr h="317502">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2:</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3:</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矩形 4"/>
          <p:cNvSpPr/>
          <p:nvPr userDrawn="1"/>
        </p:nvSpPr>
        <p:spPr>
          <a:xfrm>
            <a:off x="0" y="0"/>
            <a:ext cx="127867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6" name="表格 5"/>
          <p:cNvGraphicFramePr>
            <a:graphicFrameLocks noGrp="1"/>
          </p:cNvGraphicFramePr>
          <p:nvPr userDrawn="1"/>
        </p:nvGraphicFramePr>
        <p:xfrm>
          <a:off x="0" y="957610"/>
          <a:ext cx="1249064" cy="2376000"/>
        </p:xfrm>
        <a:graphic>
          <a:graphicData uri="http://schemas.openxmlformats.org/drawingml/2006/table">
            <a:tbl>
              <a:tblPr>
                <a:tableStyleId>{2D5ABB26-0587-4C30-8999-92F81FD0307C}</a:tableStyleId>
              </a:tblPr>
              <a:tblGrid>
                <a:gridCol w="1249064"/>
              </a:tblGrid>
              <a:tr h="792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dirty="0">
                          <a:solidFill>
                            <a:srgbClr val="642366"/>
                          </a:solidFill>
                          <a:latin typeface="Times New Roman" panose="02020503050405090304" pitchFamily="18" charset="0"/>
                          <a:ea typeface="宋体" pitchFamily="2" charset="-122"/>
                          <a:cs typeface="Times New Roman" panose="02020503050405090304" pitchFamily="18" charset="0"/>
                        </a:rPr>
                        <a:t>Intro</a:t>
                      </a: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en-US" altLang="zh-CN" sz="1600" b="1" dirty="0">
                          <a:solidFill>
                            <a:srgbClr val="642366"/>
                          </a:solidFill>
                          <a:latin typeface="Times New Roman" panose="02020503050405090304" pitchFamily="18" charset="0"/>
                          <a:ea typeface="宋体" pitchFamily="2" charset="-122"/>
                          <a:cs typeface="Times New Roman" panose="02020503050405090304" pitchFamily="18" charset="0"/>
                        </a:rPr>
                        <a:t>ZARA</a:t>
                      </a:r>
                      <a:endParaRPr lang="zh-CN" altLang="en-US" sz="16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92000">
                <a:tc>
                  <a:txBody>
                    <a:bodyPr/>
                    <a:lstStyle/>
                    <a:p>
                      <a:pPr algn="ctr"/>
                      <a:r>
                        <a:rPr lang="en-US" altLang="zh-CN" sz="1600" b="1" kern="1200" dirty="0">
                          <a:solidFill>
                            <a:srgbClr val="642366"/>
                          </a:solidFill>
                          <a:latin typeface="Times New Roman" panose="02020503050405090304" pitchFamily="18" charset="0"/>
                          <a:ea typeface="宋体" pitchFamily="2" charset="-122"/>
                          <a:cs typeface="Times New Roman" panose="02020503050405090304" pitchFamily="18" charset="0"/>
                        </a:rPr>
                        <a:t>SHEIN</a:t>
                      </a:r>
                      <a:endParaRPr lang="zh-CN" altLang="en-US" sz="1600" b="1" kern="1200"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2" name="组合 11"/>
          <p:cNvGrpSpPr/>
          <p:nvPr userDrawn="1"/>
        </p:nvGrpSpPr>
        <p:grpSpPr>
          <a:xfrm>
            <a:off x="1130300" y="6540499"/>
            <a:ext cx="4394200" cy="317500"/>
            <a:chOff x="0" y="1272662"/>
            <a:chExt cx="1691680" cy="788186"/>
          </a:xfrm>
          <a:solidFill>
            <a:srgbClr val="642366"/>
          </a:solidFill>
        </p:grpSpPr>
        <p:sp>
          <p:nvSpPr>
            <p:cNvPr id="18" name="矩形 17"/>
            <p:cNvSpPr/>
            <p:nvPr userDrawn="1"/>
          </p:nvSpPr>
          <p:spPr>
            <a:xfrm>
              <a:off x="0" y="1272662"/>
              <a:ext cx="1691680" cy="7881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p:txBody>
        </p:sp>
        <p:sp>
          <p:nvSpPr>
            <p:cNvPr id="19" name="等腰三角形 18"/>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Times New Roman" panose="02020503050405090304" pitchFamily="18" charset="0"/>
                <a:ea typeface="宋体" pitchFamily="2" charset="-122"/>
                <a:cs typeface="Times New Roman" panose="02020503050405090304" pitchFamily="18" charset="0"/>
              </a:endParaRPr>
            </a:p>
          </p:txBody>
        </p:sp>
      </p:grpSp>
      <p:grpSp>
        <p:nvGrpSpPr>
          <p:cNvPr id="20" name="组合 19"/>
          <p:cNvGrpSpPr/>
          <p:nvPr userDrawn="1"/>
        </p:nvGrpSpPr>
        <p:grpSpPr>
          <a:xfrm>
            <a:off x="-7436" y="3333610"/>
            <a:ext cx="1278675" cy="788186"/>
            <a:chOff x="-105732" y="1272662"/>
            <a:chExt cx="1829133" cy="788186"/>
          </a:xfrm>
          <a:solidFill>
            <a:srgbClr val="642366"/>
          </a:solidFill>
        </p:grpSpPr>
        <p:sp>
          <p:nvSpPr>
            <p:cNvPr id="21" name="矩形 20"/>
            <p:cNvSpPr/>
            <p:nvPr userDrawn="1"/>
          </p:nvSpPr>
          <p:spPr>
            <a:xfrm>
              <a:off x="-105732" y="1272662"/>
              <a:ext cx="1829133" cy="7881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kern="1200" dirty="0">
                  <a:solidFill>
                    <a:schemeClr val="bg1"/>
                  </a:solidFill>
                  <a:latin typeface="Times New Roman" panose="02020503050405090304" pitchFamily="18" charset="0"/>
                  <a:ea typeface="宋体" pitchFamily="2" charset="-122"/>
                  <a:cs typeface="Times New Roman" panose="02020503050405090304" pitchFamily="18" charset="0"/>
                </a:rPr>
                <a:t>Comparison</a:t>
              </a:r>
              <a:endParaRPr lang="zh-CN" altLang="en-US" sz="1600" b="1" kern="1200" dirty="0">
                <a:solidFill>
                  <a:schemeClr val="bg1"/>
                </a:solidFill>
                <a:latin typeface="Times New Roman" panose="02020503050405090304" pitchFamily="18" charset="0"/>
                <a:ea typeface="宋体" pitchFamily="2" charset="-122"/>
                <a:cs typeface="Times New Roman" panose="02020503050405090304" pitchFamily="18" charset="0"/>
              </a:endParaRPr>
            </a:p>
          </p:txBody>
        </p:sp>
        <p:sp>
          <p:nvSpPr>
            <p:cNvPr id="22" name="等腰三角形 21"/>
            <p:cNvSpPr/>
            <p:nvPr userDrawn="1"/>
          </p:nvSpPr>
          <p:spPr>
            <a:xfrm rot="16200000">
              <a:off x="1547664" y="1594748"/>
              <a:ext cx="144016" cy="14401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Times New Roman" panose="02020503050405090304" pitchFamily="18" charset="0"/>
                <a:ea typeface="宋体" pitchFamily="2" charset="-122"/>
                <a:cs typeface="Times New Roman" panose="02020503050405090304" pitchFamily="18" charset="0"/>
              </a:endParaRPr>
            </a:p>
          </p:txBody>
        </p:sp>
      </p:grpSp>
      <p:cxnSp>
        <p:nvCxnSpPr>
          <p:cNvPr id="23" name="直接连接符 22"/>
          <p:cNvCxnSpPr/>
          <p:nvPr userDrawn="1"/>
        </p:nvCxnSpPr>
        <p:spPr>
          <a:xfrm>
            <a:off x="1526704" y="989360"/>
            <a:ext cx="960484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4"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26" name="标题 1"/>
          <p:cNvSpPr>
            <a:spLocks noGrp="1"/>
          </p:cNvSpPr>
          <p:nvPr>
            <p:ph type="title"/>
          </p:nvPr>
        </p:nvSpPr>
        <p:spPr>
          <a:xfrm>
            <a:off x="1948996" y="249882"/>
            <a:ext cx="8294008" cy="720428"/>
          </a:xfrm>
        </p:spPr>
        <p:txBody>
          <a:bodyPr/>
          <a:lstStyle>
            <a:lvl1pPr>
              <a:defRPr sz="3600" b="1" baseline="0">
                <a:latin typeface="Times New Roman" panose="02020503050405090304" pitchFamily="18" charset="0"/>
              </a:defRPr>
            </a:lvl1pPr>
          </a:lstStyle>
          <a:p>
            <a:r>
              <a:rPr lang="zh-CN" altLang="en-US"/>
              <a:t>单击此处编辑母版标题样式</a:t>
            </a:r>
            <a:endParaRPr lang="zh-CN" altLang="en-US"/>
          </a:p>
        </p:txBody>
      </p:sp>
    </p:spTree>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绪论2">
    <p:spTree>
      <p:nvGrpSpPr>
        <p:cNvPr id="1" name=""/>
        <p:cNvGrpSpPr/>
        <p:nvPr/>
      </p:nvGrpSpPr>
      <p:grpSpPr>
        <a:xfrm>
          <a:off x="0" y="0"/>
          <a:ext cx="0" cy="0"/>
          <a:chOff x="0" y="0"/>
          <a:chExt cx="0" cy="0"/>
        </a:xfrm>
      </p:grpSpPr>
      <p:sp>
        <p:nvSpPr>
          <p:cNvPr id="8" name="矩形 7"/>
          <p:cNvSpPr/>
          <p:nvPr/>
        </p:nvSpPr>
        <p:spPr>
          <a:xfrm>
            <a:off x="0" y="6540500"/>
            <a:ext cx="121920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a:graphicFrameLocks noGrp="1"/>
          </p:cNvGraphicFramePr>
          <p:nvPr/>
        </p:nvGraphicFramePr>
        <p:xfrm>
          <a:off x="50800" y="6540496"/>
          <a:ext cx="12192004" cy="317502"/>
        </p:xfrm>
        <a:graphic>
          <a:graphicData uri="http://schemas.openxmlformats.org/drawingml/2006/table">
            <a:tbl>
              <a:tblPr>
                <a:tableStyleId>{2D5ABB26-0587-4C30-8999-92F81FD0307C}</a:tableStyleId>
              </a:tblPr>
              <a:tblGrid>
                <a:gridCol w="3854450"/>
                <a:gridCol w="4194230"/>
                <a:gridCol w="4143324"/>
              </a:tblGrid>
              <a:tr h="3175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3:</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10" name="矩形 9"/>
          <p:cNvSpPr/>
          <p:nvPr/>
        </p:nvSpPr>
        <p:spPr>
          <a:xfrm>
            <a:off x="3740153" y="6540500"/>
            <a:ext cx="4394200" cy="31750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zh-CN" sz="1400" b="1" dirty="0">
                <a:latin typeface="Times New Roman" panose="02020503050405090304" pitchFamily="18" charset="0"/>
                <a:ea typeface="宋体" pitchFamily="2" charset="-122"/>
                <a:cs typeface="Times New Roman" panose="02020503050405090304" pitchFamily="18" charset="0"/>
              </a:rPr>
              <a:t>Part 2:</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fr-FR" altLang="zh-CN" sz="1400" b="1" dirty="0">
              <a:latin typeface="Times New Roman" panose="02020503050405090304" pitchFamily="18" charset="0"/>
              <a:ea typeface="宋体" pitchFamily="2" charset="-122"/>
              <a:cs typeface="Times New Roman" panose="02020503050405090304" pitchFamily="18" charset="0"/>
            </a:endParaRPr>
          </a:p>
        </p:txBody>
      </p:sp>
      <p:cxnSp>
        <p:nvCxnSpPr>
          <p:cNvPr id="6" name="直接连接符 5"/>
          <p:cNvCxnSpPr/>
          <p:nvPr/>
        </p:nvCxnSpPr>
        <p:spPr>
          <a:xfrm>
            <a:off x="393700" y="989360"/>
            <a:ext cx="107378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4" descr="https://ss1.bdstatic.com/70cFuXSh_Q1YnxGkpoWK1HF6hhy/it/u=895424434,4021804793&amp;fm=27&amp;gp=0.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a:xfrm>
            <a:off x="0" y="6540500"/>
            <a:ext cx="121920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userDrawn="1"/>
        </p:nvGraphicFramePr>
        <p:xfrm>
          <a:off x="50800" y="6540496"/>
          <a:ext cx="12192004" cy="317502"/>
        </p:xfrm>
        <a:graphic>
          <a:graphicData uri="http://schemas.openxmlformats.org/drawingml/2006/table">
            <a:tbl>
              <a:tblPr>
                <a:tableStyleId>{2D5ABB26-0587-4C30-8999-92F81FD0307C}</a:tableStyleId>
              </a:tblPr>
              <a:tblGrid>
                <a:gridCol w="3854450"/>
                <a:gridCol w="4194230"/>
                <a:gridCol w="4143324"/>
              </a:tblGrid>
              <a:tr h="3175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3:</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矩形 4"/>
          <p:cNvSpPr/>
          <p:nvPr userDrawn="1"/>
        </p:nvSpPr>
        <p:spPr>
          <a:xfrm>
            <a:off x="3740153" y="6540500"/>
            <a:ext cx="4394200" cy="31750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tLang="zh-CN" sz="1400" b="1" dirty="0">
                <a:latin typeface="Times New Roman" panose="02020503050405090304" pitchFamily="18" charset="0"/>
                <a:ea typeface="宋体" pitchFamily="2" charset="-122"/>
                <a:cs typeface="Times New Roman" panose="02020503050405090304" pitchFamily="18" charset="0"/>
              </a:rPr>
              <a:t>Part 2:</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fr-FR" altLang="zh-CN" sz="1400" b="1" dirty="0">
              <a:latin typeface="Times New Roman" panose="02020503050405090304" pitchFamily="18" charset="0"/>
              <a:ea typeface="宋体" pitchFamily="2" charset="-122"/>
              <a:cs typeface="Times New Roman" panose="02020503050405090304" pitchFamily="18" charset="0"/>
            </a:endParaRPr>
          </a:p>
        </p:txBody>
      </p:sp>
      <p:cxnSp>
        <p:nvCxnSpPr>
          <p:cNvPr id="9" name="直接连接符 8"/>
          <p:cNvCxnSpPr/>
          <p:nvPr userDrawn="1"/>
        </p:nvCxnSpPr>
        <p:spPr>
          <a:xfrm>
            <a:off x="393700" y="989360"/>
            <a:ext cx="107378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绪论2">
    <p:spTree>
      <p:nvGrpSpPr>
        <p:cNvPr id="1" name=""/>
        <p:cNvGrpSpPr/>
        <p:nvPr/>
      </p:nvGrpSpPr>
      <p:grpSpPr>
        <a:xfrm>
          <a:off x="0" y="0"/>
          <a:ext cx="0" cy="0"/>
          <a:chOff x="0" y="0"/>
          <a:chExt cx="0" cy="0"/>
        </a:xfrm>
      </p:grpSpPr>
      <p:sp>
        <p:nvSpPr>
          <p:cNvPr id="8" name="矩形 7"/>
          <p:cNvSpPr/>
          <p:nvPr/>
        </p:nvSpPr>
        <p:spPr>
          <a:xfrm>
            <a:off x="0" y="6540500"/>
            <a:ext cx="121920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a:graphicFrameLocks noGrp="1"/>
          </p:cNvGraphicFramePr>
          <p:nvPr/>
        </p:nvGraphicFramePr>
        <p:xfrm>
          <a:off x="50800" y="6540496"/>
          <a:ext cx="12192004" cy="317502"/>
        </p:xfrm>
        <a:graphic>
          <a:graphicData uri="http://schemas.openxmlformats.org/drawingml/2006/table">
            <a:tbl>
              <a:tblPr>
                <a:tableStyleId>{2D5ABB26-0587-4C30-8999-92F81FD0307C}</a:tableStyleId>
              </a:tblPr>
              <a:tblGrid>
                <a:gridCol w="3854450"/>
                <a:gridCol w="4194230"/>
                <a:gridCol w="4143324"/>
              </a:tblGrid>
              <a:tr h="3175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2:</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fr-FR" altLang="zh-CN"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10" name="矩形 9"/>
          <p:cNvSpPr/>
          <p:nvPr/>
        </p:nvSpPr>
        <p:spPr>
          <a:xfrm>
            <a:off x="7797800" y="6540500"/>
            <a:ext cx="4394200" cy="31750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Times New Roman" panose="02020503050405090304" pitchFamily="18" charset="0"/>
                <a:ea typeface="宋体" pitchFamily="2" charset="-122"/>
                <a:cs typeface="Times New Roman" panose="02020503050405090304" pitchFamily="18" charset="0"/>
              </a:rPr>
              <a:t>Part 3:</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en-US" altLang="zh-CN" sz="1400" b="1" dirty="0">
              <a:latin typeface="Times New Roman" panose="02020503050405090304" pitchFamily="18" charset="0"/>
              <a:ea typeface="宋体" pitchFamily="2" charset="-122"/>
              <a:cs typeface="Times New Roman" panose="02020503050405090304" pitchFamily="18" charset="0"/>
            </a:endParaRPr>
          </a:p>
        </p:txBody>
      </p:sp>
      <p:cxnSp>
        <p:nvCxnSpPr>
          <p:cNvPr id="6" name="直接连接符 5"/>
          <p:cNvCxnSpPr/>
          <p:nvPr/>
        </p:nvCxnSpPr>
        <p:spPr>
          <a:xfrm>
            <a:off x="393700" y="989360"/>
            <a:ext cx="107378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4" descr="https://ss1.bdstatic.com/70cFuXSh_Q1YnxGkpoWK1HF6hhy/it/u=895424434,4021804793&amp;fm=27&amp;gp=0.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a:xfrm>
            <a:off x="0" y="6540500"/>
            <a:ext cx="12192000" cy="3174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userDrawn="1"/>
        </p:nvGraphicFramePr>
        <p:xfrm>
          <a:off x="50800" y="6540496"/>
          <a:ext cx="12192004" cy="317502"/>
        </p:xfrm>
        <a:graphic>
          <a:graphicData uri="http://schemas.openxmlformats.org/drawingml/2006/table">
            <a:tbl>
              <a:tblPr>
                <a:tableStyleId>{2D5ABB26-0587-4C30-8999-92F81FD0307C}</a:tableStyleId>
              </a:tblPr>
              <a:tblGrid>
                <a:gridCol w="3854450"/>
                <a:gridCol w="4194230"/>
                <a:gridCol w="4143324"/>
              </a:tblGrid>
              <a:tr h="3175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503050405090304" pitchFamily="18" charset="0"/>
                          <a:ea typeface="宋体" pitchFamily="2" charset="-122"/>
                          <a:cs typeface="Times New Roman" panose="02020503050405090304" pitchFamily="18" charset="0"/>
                        </a:rPr>
                        <a:t>Part 1:</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zh-CN" altLang="en-US" sz="1400" b="1" dirty="0">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fr-FR" altLang="zh-CN" sz="1400" b="1" dirty="0">
                          <a:solidFill>
                            <a:srgbClr val="642366"/>
                          </a:solidFill>
                          <a:latin typeface="Times New Roman" panose="02020503050405090304" pitchFamily="18" charset="0"/>
                          <a:ea typeface="宋体" pitchFamily="2" charset="-122"/>
                          <a:cs typeface="Times New Roman" panose="02020503050405090304" pitchFamily="18" charset="0"/>
                        </a:rPr>
                        <a:t>Part 2:</a:t>
                      </a:r>
                      <a:r>
                        <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rPr>
                        <a:t>模板中编辑内容</a:t>
                      </a:r>
                      <a:endParaRPr lang="fr-FR" altLang="zh-CN"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400" b="1" dirty="0">
                        <a:solidFill>
                          <a:srgbClr val="642366"/>
                        </a:solidFill>
                        <a:latin typeface="Times New Roman" panose="02020503050405090304" pitchFamily="18" charset="0"/>
                        <a:ea typeface="宋体" pitchFamily="2" charset="-122"/>
                        <a:cs typeface="Times New Roman" panose="0202050305040509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矩形 4"/>
          <p:cNvSpPr/>
          <p:nvPr userDrawn="1"/>
        </p:nvSpPr>
        <p:spPr>
          <a:xfrm>
            <a:off x="7797800" y="6540500"/>
            <a:ext cx="4394200" cy="317500"/>
          </a:xfrm>
          <a:prstGeom prst="rect">
            <a:avLst/>
          </a:prstGeom>
          <a:solidFill>
            <a:srgbClr val="642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Times New Roman" panose="02020503050405090304" pitchFamily="18" charset="0"/>
                <a:ea typeface="宋体" pitchFamily="2" charset="-122"/>
                <a:cs typeface="Times New Roman" panose="02020503050405090304" pitchFamily="18" charset="0"/>
              </a:rPr>
              <a:t>Part 3:</a:t>
            </a:r>
            <a:r>
              <a:rPr lang="zh-CN" altLang="en-US" sz="1400" b="1" dirty="0">
                <a:latin typeface="Times New Roman" panose="02020503050405090304" pitchFamily="18" charset="0"/>
                <a:ea typeface="宋体" pitchFamily="2" charset="-122"/>
                <a:cs typeface="Times New Roman" panose="02020503050405090304" pitchFamily="18" charset="0"/>
              </a:rPr>
              <a:t>模板中编辑内容</a:t>
            </a:r>
            <a:endParaRPr lang="en-US" altLang="zh-CN" sz="1400" b="1" dirty="0">
              <a:latin typeface="Times New Roman" panose="02020503050405090304" pitchFamily="18" charset="0"/>
              <a:ea typeface="宋体" pitchFamily="2" charset="-122"/>
              <a:cs typeface="Times New Roman" panose="02020503050405090304" pitchFamily="18" charset="0"/>
            </a:endParaRPr>
          </a:p>
        </p:txBody>
      </p:sp>
      <p:cxnSp>
        <p:nvCxnSpPr>
          <p:cNvPr id="9" name="直接连接符 8"/>
          <p:cNvCxnSpPr/>
          <p:nvPr userDrawn="1"/>
        </p:nvCxnSpPr>
        <p:spPr>
          <a:xfrm>
            <a:off x="393700" y="989360"/>
            <a:ext cx="107378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4" descr="https://ss1.bdstatic.com/70cFuXSh_Q1YnxGkpoWK1HF6hhy/it/u=895424434,4021804793&amp;fm=27&amp;gp=0.jp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rcRect/>
          <a:stretch>
            <a:fillRect/>
          </a:stretch>
        </p:blipFill>
        <p:spPr bwMode="auto">
          <a:xfrm>
            <a:off x="11347764" y="139952"/>
            <a:ext cx="677359" cy="849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图片1"/>
          <p:cNvPicPr>
            <a:picLocks noChangeAspect="1"/>
          </p:cNvPicPr>
          <p:nvPr userDrawn="1"/>
        </p:nvPicPr>
        <p:blipFill>
          <a:blip r:embed="rId2"/>
          <a:srcRect t="9114"/>
          <a:stretch>
            <a:fillRect/>
          </a:stretch>
        </p:blipFill>
        <p:spPr>
          <a:xfrm>
            <a:off x="0" y="0"/>
            <a:ext cx="12218035" cy="6858000"/>
          </a:xfrm>
          <a:prstGeom prst="rect">
            <a:avLst/>
          </a:prstGeom>
        </p:spPr>
      </p:pic>
    </p:spTree>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9" name="灯片编号占位符 8"/>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09B42686-6A37-4892-9D65-976F849D8BBC}"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r>
              <a:rPr lang="zh-CN" altLang="en-US"/>
              <a:t>1</a:t>
            </a:r>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843793D-C661-4336-9091-85E204D4ECCE}" type="slidenum">
              <a:rPr lang="zh-CN" altLang="en-US" smtClean="0"/>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5" Type="http://schemas.openxmlformats.org/officeDocument/2006/relationships/theme" Target="../theme/theme2.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0" Type="http://schemas.openxmlformats.org/officeDocument/2006/relationships/slideLayout" Target="../slideLayouts/slideLayout44.xml"/><Relationship Id="rId2" Type="http://schemas.openxmlformats.org/officeDocument/2006/relationships/slideLayout" Target="../slideLayouts/slideLayout26.xml"/><Relationship Id="rId19" Type="http://schemas.openxmlformats.org/officeDocument/2006/relationships/slideLayout" Target="../slideLayouts/slideLayout43.xml"/><Relationship Id="rId18" Type="http://schemas.openxmlformats.org/officeDocument/2006/relationships/slideLayout" Target="../slideLayouts/slideLayout42.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0.xml"/><Relationship Id="rId2" Type="http://schemas.openxmlformats.org/officeDocument/2006/relationships/image" Target="../media/image4.jpe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0.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6.png"/><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9" Type="http://schemas.openxmlformats.org/officeDocument/2006/relationships/comments" Target="../comments/comment1.xml"/><Relationship Id="rId18" Type="http://schemas.openxmlformats.org/officeDocument/2006/relationships/slideLayout" Target="../slideLayouts/slideLayout6.xml"/><Relationship Id="rId17" Type="http://schemas.openxmlformats.org/officeDocument/2006/relationships/image" Target="../media/image37.png"/><Relationship Id="rId16" Type="http://schemas.openxmlformats.org/officeDocument/2006/relationships/image" Target="../media/image36.png"/><Relationship Id="rId15" Type="http://schemas.openxmlformats.org/officeDocument/2006/relationships/image" Target="../media/image35.png"/><Relationship Id="rId14" Type="http://schemas.openxmlformats.org/officeDocument/2006/relationships/image" Target="../media/image34.png"/><Relationship Id="rId13" Type="http://schemas.openxmlformats.org/officeDocument/2006/relationships/image" Target="../media/image33.png"/><Relationship Id="rId12" Type="http://schemas.openxmlformats.org/officeDocument/2006/relationships/image" Target="../media/image32.png"/><Relationship Id="rId11" Type="http://schemas.openxmlformats.org/officeDocument/2006/relationships/image" Target="../media/image31.png"/><Relationship Id="rId10" Type="http://schemas.openxmlformats.org/officeDocument/2006/relationships/image" Target="../media/image30.png"/><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9.png"/><Relationship Id="rId1" Type="http://schemas.openxmlformats.org/officeDocument/2006/relationships/image" Target="../media/image38.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43.png"/><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5.png"/><Relationship Id="rId2" Type="http://schemas.openxmlformats.org/officeDocument/2006/relationships/image" Target="../media/image42.png"/><Relationship Id="rId1" Type="http://schemas.openxmlformats.org/officeDocument/2006/relationships/image" Target="../media/image38.png"/></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46.png"/><Relationship Id="rId5" Type="http://schemas.openxmlformats.org/officeDocument/2006/relationships/image" Target="../media/image43.png"/><Relationship Id="rId4" Type="http://schemas.openxmlformats.org/officeDocument/2006/relationships/image" Target="../media/image44.png"/><Relationship Id="rId3" Type="http://schemas.openxmlformats.org/officeDocument/2006/relationships/image" Target="../media/image45.png"/><Relationship Id="rId2" Type="http://schemas.openxmlformats.org/officeDocument/2006/relationships/image" Target="../media/image42.png"/><Relationship Id="rId1" Type="http://schemas.openxmlformats.org/officeDocument/2006/relationships/image" Target="../media/image38.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38.png"/></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38.png"/></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3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60.png"/><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2.png"/><Relationship Id="rId1" Type="http://schemas.openxmlformats.org/officeDocument/2006/relationships/image" Target="../media/image61.png"/></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73.png"/><Relationship Id="rId1" Type="http://schemas.openxmlformats.org/officeDocument/2006/relationships/image" Target="../media/image72.png"/></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2.png"/></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79.png"/><Relationship Id="rId7" Type="http://schemas.openxmlformats.org/officeDocument/2006/relationships/image" Target="../media/image73.png"/><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2.png"/></Relationships>
</file>

<file path=ppt/slides/_rels/slide41.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79.png"/><Relationship Id="rId7" Type="http://schemas.openxmlformats.org/officeDocument/2006/relationships/image" Target="../media/image73.png"/><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0" Type="http://schemas.openxmlformats.org/officeDocument/2006/relationships/slideLayout" Target="../slideLayouts/slideLayout6.xml"/><Relationship Id="rId1" Type="http://schemas.openxmlformats.org/officeDocument/2006/relationships/image" Target="../media/image72.png"/></Relationships>
</file>

<file path=ppt/slides/_rels/slide42.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79.png"/><Relationship Id="rId7" Type="http://schemas.openxmlformats.org/officeDocument/2006/relationships/image" Target="../media/image73.png"/><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2" Type="http://schemas.openxmlformats.org/officeDocument/2006/relationships/slideLayout" Target="../slideLayouts/slideLayout6.xml"/><Relationship Id="rId11" Type="http://schemas.openxmlformats.org/officeDocument/2006/relationships/image" Target="../media/image82.png"/><Relationship Id="rId10" Type="http://schemas.openxmlformats.org/officeDocument/2006/relationships/image" Target="../media/image81.png"/><Relationship Id="rId1" Type="http://schemas.openxmlformats.org/officeDocument/2006/relationships/image" Target="../media/image72.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3.png"/><Relationship Id="rId1" Type="http://schemas.openxmlformats.org/officeDocument/2006/relationships/image" Target="../media/image82.png"/></Relationships>
</file>

<file path=ppt/slides/_rels/slide44.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3.png"/><Relationship Id="rId2" Type="http://schemas.openxmlformats.org/officeDocument/2006/relationships/image" Target="../media/image82.png"/><Relationship Id="rId10" Type="http://schemas.openxmlformats.org/officeDocument/2006/relationships/slideLayout" Target="../slideLayouts/slideLayout6.xml"/><Relationship Id="rId1" Type="http://schemas.openxmlformats.org/officeDocument/2006/relationships/image" Target="../media/image84.png"/></Relationships>
</file>

<file path=ppt/slides/_rels/slide45.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3.png"/><Relationship Id="rId2" Type="http://schemas.openxmlformats.org/officeDocument/2006/relationships/image" Target="../media/image82.png"/><Relationship Id="rId12" Type="http://schemas.openxmlformats.org/officeDocument/2006/relationships/slideLayout" Target="../slideLayouts/slideLayout6.xml"/><Relationship Id="rId11" Type="http://schemas.openxmlformats.org/officeDocument/2006/relationships/image" Target="../media/image92.png"/><Relationship Id="rId10" Type="http://schemas.openxmlformats.org/officeDocument/2006/relationships/image" Target="../media/image91.png"/><Relationship Id="rId1" Type="http://schemas.openxmlformats.org/officeDocument/2006/relationships/image" Target="../media/image84.png"/></Relationships>
</file>

<file path=ppt/slides/_rels/slide46.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3.png"/><Relationship Id="rId2" Type="http://schemas.openxmlformats.org/officeDocument/2006/relationships/image" Target="../media/image82.png"/><Relationship Id="rId13" Type="http://schemas.openxmlformats.org/officeDocument/2006/relationships/slideLayout" Target="../slideLayouts/slideLayout6.xml"/><Relationship Id="rId12" Type="http://schemas.openxmlformats.org/officeDocument/2006/relationships/image" Target="../media/image93.png"/><Relationship Id="rId11" Type="http://schemas.openxmlformats.org/officeDocument/2006/relationships/image" Target="../media/image92.png"/><Relationship Id="rId10" Type="http://schemas.openxmlformats.org/officeDocument/2006/relationships/image" Target="../media/image91.png"/><Relationship Id="rId1" Type="http://schemas.openxmlformats.org/officeDocument/2006/relationships/image" Target="../media/image84.png"/></Relationships>
</file>

<file path=ppt/slides/_rels/slide47.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3.png"/><Relationship Id="rId2" Type="http://schemas.openxmlformats.org/officeDocument/2006/relationships/image" Target="../media/image82.png"/><Relationship Id="rId14" Type="http://schemas.openxmlformats.org/officeDocument/2006/relationships/slideLayout" Target="../slideLayouts/slideLayout6.xml"/><Relationship Id="rId13" Type="http://schemas.openxmlformats.org/officeDocument/2006/relationships/image" Target="../media/image94.png"/><Relationship Id="rId12" Type="http://schemas.openxmlformats.org/officeDocument/2006/relationships/image" Target="../media/image93.png"/><Relationship Id="rId11" Type="http://schemas.openxmlformats.org/officeDocument/2006/relationships/image" Target="../media/image92.png"/><Relationship Id="rId10" Type="http://schemas.openxmlformats.org/officeDocument/2006/relationships/image" Target="../media/image91.png"/><Relationship Id="rId1" Type="http://schemas.openxmlformats.org/officeDocument/2006/relationships/image" Target="../media/image8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4.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95.png"/><Relationship Id="rId1" Type="http://schemas.openxmlformats.org/officeDocument/2006/relationships/image" Target="../media/image94.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image" Target="../media/image94.png"/></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97.png"/><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image" Target="../media/image94.pn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98.png"/><Relationship Id="rId4" Type="http://schemas.openxmlformats.org/officeDocument/2006/relationships/image" Target="../media/image97.png"/><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image" Target="../media/image94.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00.png"/><Relationship Id="rId2" Type="http://schemas.openxmlformats.org/officeDocument/2006/relationships/image" Target="../media/image72.png"/><Relationship Id="rId1" Type="http://schemas.openxmlformats.org/officeDocument/2006/relationships/image" Target="../media/image99.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104.png"/><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image" Target="../media/image101.png"/></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109.png"/><Relationship Id="rId4" Type="http://schemas.openxmlformats.org/officeDocument/2006/relationships/image" Target="../media/image108.png"/><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image" Target="../media/image105.png"/></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117.png"/><Relationship Id="rId7" Type="http://schemas.openxmlformats.org/officeDocument/2006/relationships/image" Target="../media/image116.png"/><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image" Target="../media/image110.png"/></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119.png"/><Relationship Id="rId1" Type="http://schemas.openxmlformats.org/officeDocument/2006/relationships/image" Target="../media/image118.png"/></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121.png"/><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20.png"/></Relationships>
</file>

<file path=ppt/slides/_rels/slide59.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20.png"/></Relationships>
</file>

<file path=ppt/slides/_rels/slide60.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20.png"/></Relationships>
</file>

<file path=ppt/slides/_rels/slide61.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image" Target="../media/image125.png"/><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24.png"/></Relationships>
</file>

<file path=ppt/slides/_rels/slide62.xml.rels><?xml version="1.0" encoding="UTF-8" standalone="yes"?>
<Relationships xmlns="http://schemas.openxmlformats.org/package/2006/relationships"><Relationship Id="rId9" Type="http://schemas.openxmlformats.org/officeDocument/2006/relationships/image" Target="../media/image104.png"/><Relationship Id="rId8" Type="http://schemas.openxmlformats.org/officeDocument/2006/relationships/image" Target="../media/image109.png"/><Relationship Id="rId7" Type="http://schemas.openxmlformats.org/officeDocument/2006/relationships/image" Target="../media/image115.png"/><Relationship Id="rId6" Type="http://schemas.openxmlformats.org/officeDocument/2006/relationships/image" Target="../media/image116.png"/><Relationship Id="rId5" Type="http://schemas.openxmlformats.org/officeDocument/2006/relationships/image" Target="../media/image126.png"/><Relationship Id="rId4" Type="http://schemas.openxmlformats.org/officeDocument/2006/relationships/image" Target="../media/image121.png"/><Relationship Id="rId3" Type="http://schemas.openxmlformats.org/officeDocument/2006/relationships/image" Target="../media/image119.png"/><Relationship Id="rId2" Type="http://schemas.openxmlformats.org/officeDocument/2006/relationships/image" Target="../media/image118.png"/><Relationship Id="rId10" Type="http://schemas.openxmlformats.org/officeDocument/2006/relationships/slideLayout" Target="../slideLayouts/slideLayout6.xml"/><Relationship Id="rId1" Type="http://schemas.openxmlformats.org/officeDocument/2006/relationships/image" Target="../media/image124.png"/></Relationships>
</file>

<file path=ppt/slides/_rels/slide63.xml.rels><?xml version="1.0" encoding="UTF-8" standalone="yes"?>
<Relationships xmlns="http://schemas.openxmlformats.org/package/2006/relationships"><Relationship Id="rId9" Type="http://schemas.openxmlformats.org/officeDocument/2006/relationships/image" Target="../media/image104.png"/><Relationship Id="rId8" Type="http://schemas.openxmlformats.org/officeDocument/2006/relationships/image" Target="../media/image109.png"/><Relationship Id="rId7" Type="http://schemas.openxmlformats.org/officeDocument/2006/relationships/image" Target="../media/image115.png"/><Relationship Id="rId6" Type="http://schemas.openxmlformats.org/officeDocument/2006/relationships/image" Target="../media/image116.png"/><Relationship Id="rId5" Type="http://schemas.openxmlformats.org/officeDocument/2006/relationships/image" Target="../media/image126.png"/><Relationship Id="rId4" Type="http://schemas.openxmlformats.org/officeDocument/2006/relationships/image" Target="../media/image121.png"/><Relationship Id="rId3" Type="http://schemas.openxmlformats.org/officeDocument/2006/relationships/image" Target="../media/image119.png"/><Relationship Id="rId2" Type="http://schemas.openxmlformats.org/officeDocument/2006/relationships/image" Target="../media/image118.png"/><Relationship Id="rId14" Type="http://schemas.openxmlformats.org/officeDocument/2006/relationships/slideLayout" Target="../slideLayouts/slideLayout6.xml"/><Relationship Id="rId13" Type="http://schemas.openxmlformats.org/officeDocument/2006/relationships/image" Target="../media/image129.png"/><Relationship Id="rId12" Type="http://schemas.openxmlformats.org/officeDocument/2006/relationships/image" Target="../media/image117.png"/><Relationship Id="rId11" Type="http://schemas.openxmlformats.org/officeDocument/2006/relationships/image" Target="../media/image128.png"/><Relationship Id="rId10" Type="http://schemas.openxmlformats.org/officeDocument/2006/relationships/image" Target="../media/image127.png"/><Relationship Id="rId1" Type="http://schemas.openxmlformats.org/officeDocument/2006/relationships/image" Target="../media/image124.png"/></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8.xml"/><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image" Target="../media/image130.png"/></Relationships>
</file>

<file path=ppt/slides/_rels/slide65.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8.xml"/><Relationship Id="rId6" Type="http://schemas.openxmlformats.org/officeDocument/2006/relationships/image" Target="../media/image135.png"/><Relationship Id="rId5" Type="http://schemas.openxmlformats.org/officeDocument/2006/relationships/image" Target="../media/image132.png"/><Relationship Id="rId4" Type="http://schemas.openxmlformats.org/officeDocument/2006/relationships/image" Target="../media/image134.png"/><Relationship Id="rId3" Type="http://schemas.openxmlformats.org/officeDocument/2006/relationships/image" Target="../media/image133.png"/><Relationship Id="rId2" Type="http://schemas.openxmlformats.org/officeDocument/2006/relationships/image" Target="../media/image131.png"/><Relationship Id="rId1" Type="http://schemas.openxmlformats.org/officeDocument/2006/relationships/image" Target="../media/image130.png"/></Relationships>
</file>

<file path=ppt/slides/_rels/slide66.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8.xml"/><Relationship Id="rId7" Type="http://schemas.openxmlformats.org/officeDocument/2006/relationships/image" Target="../media/image139.png"/><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2.png"/><Relationship Id="rId3" Type="http://schemas.openxmlformats.org/officeDocument/2006/relationships/image" Target="../media/image136.png"/><Relationship Id="rId2" Type="http://schemas.openxmlformats.org/officeDocument/2006/relationships/image" Target="../media/image131.png"/><Relationship Id="rId1" Type="http://schemas.openxmlformats.org/officeDocument/2006/relationships/image" Target="../media/image130.png"/></Relationships>
</file>

<file path=ppt/slides/_rels/slide67.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137.png"/><Relationship Id="rId7" Type="http://schemas.openxmlformats.org/officeDocument/2006/relationships/image" Target="../media/image135.png"/><Relationship Id="rId6" Type="http://schemas.openxmlformats.org/officeDocument/2006/relationships/image" Target="../media/image132.png"/><Relationship Id="rId5" Type="http://schemas.openxmlformats.org/officeDocument/2006/relationships/image" Target="../media/image136.png"/><Relationship Id="rId4" Type="http://schemas.openxmlformats.org/officeDocument/2006/relationships/image" Target="../media/image134.png"/><Relationship Id="rId3" Type="http://schemas.openxmlformats.org/officeDocument/2006/relationships/image" Target="../media/image133.png"/><Relationship Id="rId2" Type="http://schemas.openxmlformats.org/officeDocument/2006/relationships/image" Target="../media/image131.png"/><Relationship Id="rId10" Type="http://schemas.openxmlformats.org/officeDocument/2006/relationships/notesSlide" Target="../notesSlides/notesSlide14.xml"/><Relationship Id="rId1" Type="http://schemas.openxmlformats.org/officeDocument/2006/relationships/image" Target="../media/image130.png"/></Relationships>
</file>

<file path=ppt/slides/_rels/slide68.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8.xml"/><Relationship Id="rId4" Type="http://schemas.openxmlformats.org/officeDocument/2006/relationships/image" Target="../media/image143.png"/><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image" Target="../media/image140.png"/></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147.png"/><Relationship Id="rId7" Type="http://schemas.openxmlformats.org/officeDocument/2006/relationships/image" Target="../media/image146.png"/><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 Id="rId3" Type="http://schemas.openxmlformats.org/officeDocument/2006/relationships/image" Target="../media/image142.png"/><Relationship Id="rId2" Type="http://schemas.openxmlformats.org/officeDocument/2006/relationships/image" Target="../media/image141.png"/><Relationship Id="rId10" Type="http://schemas.openxmlformats.org/officeDocument/2006/relationships/notesSlide" Target="../notesSlides/notesSlide16.xml"/><Relationship Id="rId1" Type="http://schemas.openxmlformats.org/officeDocument/2006/relationships/image" Target="../media/image140.png"/></Relationships>
</file>

<file path=ppt/slides/_rels/slide70.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148.png"/><Relationship Id="rId7" Type="http://schemas.openxmlformats.org/officeDocument/2006/relationships/image" Target="../media/image146.png"/><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 Id="rId3" Type="http://schemas.openxmlformats.org/officeDocument/2006/relationships/image" Target="../media/image142.png"/><Relationship Id="rId2" Type="http://schemas.openxmlformats.org/officeDocument/2006/relationships/image" Target="../media/image141.png"/><Relationship Id="rId10" Type="http://schemas.openxmlformats.org/officeDocument/2006/relationships/notesSlide" Target="../notesSlides/notesSlide17.xml"/><Relationship Id="rId1" Type="http://schemas.openxmlformats.org/officeDocument/2006/relationships/image" Target="../media/image140.png"/></Relationships>
</file>

<file path=ppt/slides/_rels/slide71.xml.rels><?xml version="1.0" encoding="UTF-8" standalone="yes"?>
<Relationships xmlns="http://schemas.openxmlformats.org/package/2006/relationships"><Relationship Id="rId9" Type="http://schemas.openxmlformats.org/officeDocument/2006/relationships/image" Target="../media/image148.png"/><Relationship Id="rId8" Type="http://schemas.openxmlformats.org/officeDocument/2006/relationships/image" Target="../media/image146.png"/><Relationship Id="rId7" Type="http://schemas.openxmlformats.org/officeDocument/2006/relationships/image" Target="../media/image145.png"/><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 Id="rId3" Type="http://schemas.openxmlformats.org/officeDocument/2006/relationships/image" Target="../media/image149.png"/><Relationship Id="rId2" Type="http://schemas.openxmlformats.org/officeDocument/2006/relationships/image" Target="../media/image141.png"/><Relationship Id="rId12" Type="http://schemas.openxmlformats.org/officeDocument/2006/relationships/notesSlide" Target="../notesSlides/notesSlide18.xml"/><Relationship Id="rId11" Type="http://schemas.openxmlformats.org/officeDocument/2006/relationships/slideLayout" Target="../slideLayouts/slideLayout8.xml"/><Relationship Id="rId10" Type="http://schemas.openxmlformats.org/officeDocument/2006/relationships/image" Target="../media/image150.png"/><Relationship Id="rId1" Type="http://schemas.openxmlformats.org/officeDocument/2006/relationships/image" Target="../media/image140.png"/></Relationships>
</file>

<file path=ppt/slides/_rels/slide72.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8.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41.png"/><Relationship Id="rId1" Type="http://schemas.openxmlformats.org/officeDocument/2006/relationships/image" Target="../media/image151.png"/></Relationships>
</file>

<file path=ppt/slides/_rels/slide73.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155.png"/><Relationship Id="rId7" Type="http://schemas.openxmlformats.org/officeDocument/2006/relationships/image" Target="../media/image157.png"/><Relationship Id="rId6" Type="http://schemas.openxmlformats.org/officeDocument/2006/relationships/image" Target="../media/image156.png"/><Relationship Id="rId5" Type="http://schemas.openxmlformats.org/officeDocument/2006/relationships/image" Target="../media/image154.png"/><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41.png"/><Relationship Id="rId10" Type="http://schemas.openxmlformats.org/officeDocument/2006/relationships/notesSlide" Target="../notesSlides/notesSlide20.xml"/><Relationship Id="rId1" Type="http://schemas.openxmlformats.org/officeDocument/2006/relationships/image" Target="../media/image151.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8.xml"/><Relationship Id="rId2" Type="http://schemas.openxmlformats.org/officeDocument/2006/relationships/image" Target="../media/image159.png"/><Relationship Id="rId1" Type="http://schemas.openxmlformats.org/officeDocument/2006/relationships/image" Target="../media/image158.png"/></Relationships>
</file>

<file path=ppt/slides/_rels/slide75.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8.xml"/><Relationship Id="rId5" Type="http://schemas.openxmlformats.org/officeDocument/2006/relationships/image" Target="../media/image162.png"/><Relationship Id="rId4" Type="http://schemas.openxmlformats.org/officeDocument/2006/relationships/image" Target="../media/image161.png"/><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image" Target="../media/image158.png"/></Relationships>
</file>

<file path=ppt/slides/_rels/slide76.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8.xml"/><Relationship Id="rId5" Type="http://schemas.openxmlformats.org/officeDocument/2006/relationships/image" Target="../media/image162.png"/><Relationship Id="rId4" Type="http://schemas.openxmlformats.org/officeDocument/2006/relationships/image" Target="../media/image161.png"/><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image" Target="../media/image158.png"/></Relationships>
</file>

<file path=ppt/slides/_rels/slide77.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8.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image" Target="../media/image158.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8.xml"/><Relationship Id="rId2" Type="http://schemas.openxmlformats.org/officeDocument/2006/relationships/image" Target="../media/image165.png"/><Relationship Id="rId1" Type="http://schemas.openxmlformats.org/officeDocument/2006/relationships/image" Target="../media/image164.png"/></Relationships>
</file>

<file path=ppt/slides/_rels/slide79.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8.xml"/><Relationship Id="rId4" Type="http://schemas.openxmlformats.org/officeDocument/2006/relationships/image" Target="../media/image149.png"/><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image" Target="../media/image164.png"/></Relationships>
</file>

<file path=ppt/slides/_rels/slide80.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8.xml"/><Relationship Id="rId5" Type="http://schemas.openxmlformats.org/officeDocument/2006/relationships/image" Target="../media/image167.png"/><Relationship Id="rId4" Type="http://schemas.openxmlformats.org/officeDocument/2006/relationships/image" Target="../media/image149.png"/><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image" Target="../media/image164.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image" Target="../media/image168.png"/></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8.xml"/><Relationship Id="rId6" Type="http://schemas.openxmlformats.org/officeDocument/2006/relationships/image" Target="../media/image174.png"/><Relationship Id="rId5" Type="http://schemas.openxmlformats.org/officeDocument/2006/relationships/image" Target="../media/image173.png"/><Relationship Id="rId4" Type="http://schemas.openxmlformats.org/officeDocument/2006/relationships/image" Target="../media/image172.png"/><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image" Target="../media/image169.png"/></Relationships>
</file>

<file path=ppt/slides/_rels/slide83.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8.xml"/><Relationship Id="rId4" Type="http://schemas.openxmlformats.org/officeDocument/2006/relationships/image" Target="../media/image170.png"/><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image" Target="../media/image175.png"/></Relationships>
</file>

<file path=ppt/slides/_rels/slide84.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8.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image" Target="../media/image17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9" Type="http://schemas.openxmlformats.org/officeDocument/2006/relationships/image" Target="../media/image192.png"/><Relationship Id="rId8" Type="http://schemas.openxmlformats.org/officeDocument/2006/relationships/image" Target="../media/image191.png"/><Relationship Id="rId7" Type="http://schemas.openxmlformats.org/officeDocument/2006/relationships/image" Target="../media/image190.png"/><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image" Target="../media/image187.png"/><Relationship Id="rId3" Type="http://schemas.openxmlformats.org/officeDocument/2006/relationships/image" Target="../media/image186.png"/><Relationship Id="rId2" Type="http://schemas.openxmlformats.org/officeDocument/2006/relationships/image" Target="../media/image185.png"/><Relationship Id="rId17" Type="http://schemas.openxmlformats.org/officeDocument/2006/relationships/slideLayout" Target="../slideLayouts/slideLayout9.xml"/><Relationship Id="rId16" Type="http://schemas.openxmlformats.org/officeDocument/2006/relationships/image" Target="../media/image199.png"/><Relationship Id="rId15" Type="http://schemas.openxmlformats.org/officeDocument/2006/relationships/image" Target="../media/image198.png"/><Relationship Id="rId14" Type="http://schemas.openxmlformats.org/officeDocument/2006/relationships/image" Target="../media/image197.png"/><Relationship Id="rId13" Type="http://schemas.openxmlformats.org/officeDocument/2006/relationships/image" Target="../media/image196.png"/><Relationship Id="rId12" Type="http://schemas.openxmlformats.org/officeDocument/2006/relationships/image" Target="../media/image195.png"/><Relationship Id="rId11" Type="http://schemas.openxmlformats.org/officeDocument/2006/relationships/image" Target="../media/image194.png"/><Relationship Id="rId10" Type="http://schemas.openxmlformats.org/officeDocument/2006/relationships/image" Target="../media/image193.png"/><Relationship Id="rId1" Type="http://schemas.openxmlformats.org/officeDocument/2006/relationships/image" Target="../media/image184.png"/></Relationships>
</file>

<file path=ppt/slides/_rels/slide89.xml.rels><?xml version="1.0" encoding="UTF-8" standalone="yes"?>
<Relationships xmlns="http://schemas.openxmlformats.org/package/2006/relationships"><Relationship Id="rId7" Type="http://schemas.openxmlformats.org/officeDocument/2006/relationships/slideLayout" Target="../slideLayouts/slideLayout9.xml"/><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99.png"/><Relationship Id="rId3" Type="http://schemas.openxmlformats.org/officeDocument/2006/relationships/image" Target="../media/image198.png"/><Relationship Id="rId2" Type="http://schemas.openxmlformats.org/officeDocument/2006/relationships/image" Target="../media/image185.png"/><Relationship Id="rId1" Type="http://schemas.openxmlformats.org/officeDocument/2006/relationships/image" Target="../media/image184.png"/></Relationships>
</file>

<file path=ppt/slides/_rels/slide90.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image" Target="../media/image206.png"/><Relationship Id="rId4" Type="http://schemas.openxmlformats.org/officeDocument/2006/relationships/image" Target="../media/image205.png"/><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image" Target="../media/image202.png"/></Relationships>
</file>

<file path=ppt/slides/_rels/slide91.xml.rels><?xml version="1.0" encoding="UTF-8" standalone="yes"?>
<Relationships xmlns="http://schemas.openxmlformats.org/package/2006/relationships"><Relationship Id="rId9" Type="http://schemas.openxmlformats.org/officeDocument/2006/relationships/image" Target="../media/image214.png"/><Relationship Id="rId8" Type="http://schemas.openxmlformats.org/officeDocument/2006/relationships/image" Target="../media/image213.png"/><Relationship Id="rId7" Type="http://schemas.openxmlformats.org/officeDocument/2006/relationships/image" Target="../media/image212.png"/><Relationship Id="rId6" Type="http://schemas.openxmlformats.org/officeDocument/2006/relationships/image" Target="../media/image211.png"/><Relationship Id="rId5" Type="http://schemas.openxmlformats.org/officeDocument/2006/relationships/image" Target="../media/image210.png"/><Relationship Id="rId4" Type="http://schemas.openxmlformats.org/officeDocument/2006/relationships/image" Target="../media/image209.png"/><Relationship Id="rId3" Type="http://schemas.openxmlformats.org/officeDocument/2006/relationships/image" Target="../media/image208.png"/><Relationship Id="rId2" Type="http://schemas.openxmlformats.org/officeDocument/2006/relationships/image" Target="../media/image207.png"/><Relationship Id="rId12" Type="http://schemas.openxmlformats.org/officeDocument/2006/relationships/slideLayout" Target="../slideLayouts/slideLayout9.xml"/><Relationship Id="rId11" Type="http://schemas.openxmlformats.org/officeDocument/2006/relationships/image" Target="../media/image216.png"/><Relationship Id="rId10" Type="http://schemas.openxmlformats.org/officeDocument/2006/relationships/image" Target="../media/image215.png"/><Relationship Id="rId1" Type="http://schemas.openxmlformats.org/officeDocument/2006/relationships/image" Target="../media/image202.png"/></Relationships>
</file>

<file path=ppt/slides/_rels/slide92.xml.rels><?xml version="1.0" encoding="UTF-8" standalone="yes"?>
<Relationships xmlns="http://schemas.openxmlformats.org/package/2006/relationships"><Relationship Id="rId9" Type="http://schemas.openxmlformats.org/officeDocument/2006/relationships/image" Target="../media/image224.png"/><Relationship Id="rId8" Type="http://schemas.openxmlformats.org/officeDocument/2006/relationships/image" Target="../media/image223.png"/><Relationship Id="rId7" Type="http://schemas.openxmlformats.org/officeDocument/2006/relationships/image" Target="../media/image222.png"/><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 Id="rId3" Type="http://schemas.openxmlformats.org/officeDocument/2006/relationships/image" Target="../media/image218.png"/><Relationship Id="rId2" Type="http://schemas.openxmlformats.org/officeDocument/2006/relationships/image" Target="../media/image217.png"/><Relationship Id="rId10" Type="http://schemas.openxmlformats.org/officeDocument/2006/relationships/slideLayout" Target="../slideLayouts/slideLayout9.xml"/><Relationship Id="rId1" Type="http://schemas.openxmlformats.org/officeDocument/2006/relationships/image" Target="../media/image202.png"/></Relationships>
</file>

<file path=ppt/slides/_rels/slide93.xml.rels><?xml version="1.0" encoding="UTF-8" standalone="yes"?>
<Relationships xmlns="http://schemas.openxmlformats.org/package/2006/relationships"><Relationship Id="rId9" Type="http://schemas.openxmlformats.org/officeDocument/2006/relationships/image" Target="../media/image229.png"/><Relationship Id="rId8" Type="http://schemas.openxmlformats.org/officeDocument/2006/relationships/image" Target="../media/image228.png"/><Relationship Id="rId7" Type="http://schemas.openxmlformats.org/officeDocument/2006/relationships/image" Target="../media/image227.png"/><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207.png"/><Relationship Id="rId3" Type="http://schemas.openxmlformats.org/officeDocument/2006/relationships/image" Target="../media/image224.png"/><Relationship Id="rId2" Type="http://schemas.openxmlformats.org/officeDocument/2006/relationships/image" Target="../media/image223.png"/><Relationship Id="rId13" Type="http://schemas.openxmlformats.org/officeDocument/2006/relationships/slideLayout" Target="../slideLayouts/slideLayout9.xml"/><Relationship Id="rId12" Type="http://schemas.openxmlformats.org/officeDocument/2006/relationships/image" Target="../media/image232.png"/><Relationship Id="rId11" Type="http://schemas.openxmlformats.org/officeDocument/2006/relationships/image" Target="../media/image231.png"/><Relationship Id="rId10" Type="http://schemas.openxmlformats.org/officeDocument/2006/relationships/image" Target="../media/image230.png"/><Relationship Id="rId1" Type="http://schemas.openxmlformats.org/officeDocument/2006/relationships/image" Target="../media/image202.png"/></Relationships>
</file>

<file path=ppt/slides/_rels/slide94.xml.rels><?xml version="1.0" encoding="UTF-8" standalone="yes"?>
<Relationships xmlns="http://schemas.openxmlformats.org/package/2006/relationships"><Relationship Id="rId9" Type="http://schemas.openxmlformats.org/officeDocument/2006/relationships/image" Target="../media/image231.png"/><Relationship Id="rId8" Type="http://schemas.openxmlformats.org/officeDocument/2006/relationships/image" Target="../media/image230.png"/><Relationship Id="rId7" Type="http://schemas.openxmlformats.org/officeDocument/2006/relationships/image" Target="../media/image227.png"/><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207.png"/><Relationship Id="rId3" Type="http://schemas.openxmlformats.org/officeDocument/2006/relationships/image" Target="../media/image224.png"/><Relationship Id="rId2" Type="http://schemas.openxmlformats.org/officeDocument/2006/relationships/image" Target="../media/image223.png"/><Relationship Id="rId12" Type="http://schemas.openxmlformats.org/officeDocument/2006/relationships/slideLayout" Target="../slideLayouts/slideLayout9.xml"/><Relationship Id="rId11" Type="http://schemas.openxmlformats.org/officeDocument/2006/relationships/image" Target="../media/image234.png"/><Relationship Id="rId10" Type="http://schemas.openxmlformats.org/officeDocument/2006/relationships/image" Target="../media/image233.png"/><Relationship Id="rId1" Type="http://schemas.openxmlformats.org/officeDocument/2006/relationships/image" Target="../media/image202.png"/></Relationships>
</file>

<file path=ppt/slides/_rels/slide95.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image" Target="../media/image203.png"/><Relationship Id="rId4" Type="http://schemas.openxmlformats.org/officeDocument/2006/relationships/image" Target="../media/image237.png"/><Relationship Id="rId3" Type="http://schemas.openxmlformats.org/officeDocument/2006/relationships/image" Target="../media/image236.png"/><Relationship Id="rId2" Type="http://schemas.openxmlformats.org/officeDocument/2006/relationships/image" Target="../media/image206.png"/><Relationship Id="rId1" Type="http://schemas.openxmlformats.org/officeDocument/2006/relationships/image" Target="../media/image235.png"/></Relationships>
</file>

<file path=ppt/slides/_rels/slide96.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image" Target="../media/image241.png"/><Relationship Id="rId3" Type="http://schemas.openxmlformats.org/officeDocument/2006/relationships/image" Target="../media/image240.png"/><Relationship Id="rId2" Type="http://schemas.openxmlformats.org/officeDocument/2006/relationships/image" Target="../media/image239.png"/><Relationship Id="rId1" Type="http://schemas.openxmlformats.org/officeDocument/2006/relationships/image" Target="../media/image238.png"/></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9.xml"/><Relationship Id="rId4" Type="http://schemas.openxmlformats.org/officeDocument/2006/relationships/image" Target="../media/image242.png"/><Relationship Id="rId3" Type="http://schemas.openxmlformats.org/officeDocument/2006/relationships/image" Target="../media/image240.png"/><Relationship Id="rId2" Type="http://schemas.openxmlformats.org/officeDocument/2006/relationships/image" Target="../media/image239.png"/><Relationship Id="rId1" Type="http://schemas.openxmlformats.org/officeDocument/2006/relationships/image" Target="../media/image238.png"/></Relationships>
</file>

<file path=ppt/slides/_rels/slide98.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239.png"/><Relationship Id="rId2" Type="http://schemas.openxmlformats.org/officeDocument/2006/relationships/image" Target="../media/image240.png"/><Relationship Id="rId1" Type="http://schemas.openxmlformats.org/officeDocument/2006/relationships/image" Target="../media/image243.png"/></Relationships>
</file>

<file path=ppt/slides/_rels/slide99.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239.png"/><Relationship Id="rId2" Type="http://schemas.openxmlformats.org/officeDocument/2006/relationships/image" Target="../media/image240.png"/><Relationship Id="rId1" Type="http://schemas.openxmlformats.org/officeDocument/2006/relationships/image" Target="../media/image244.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39.png"/></Relationships>
</file>

<file path=ppt/slides/_rels/slide101.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image" Target="../media/image245.png"/></Relationships>
</file>

<file path=ppt/slides/_rels/slide102.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image" Target="../media/image247.png"/><Relationship Id="rId4" Type="http://schemas.openxmlformats.org/officeDocument/2006/relationships/image" Target="../media/image249.png"/><Relationship Id="rId3" Type="http://schemas.openxmlformats.org/officeDocument/2006/relationships/image" Target="../media/image248.png"/><Relationship Id="rId2" Type="http://schemas.openxmlformats.org/officeDocument/2006/relationships/image" Target="../media/image246.png"/><Relationship Id="rId1" Type="http://schemas.openxmlformats.org/officeDocument/2006/relationships/image" Target="../media/image245.png"/></Relationships>
</file>

<file path=ppt/slides/_rels/slide103.xml.rels><?xml version="1.0" encoding="UTF-8" standalone="yes"?>
<Relationships xmlns="http://schemas.openxmlformats.org/package/2006/relationships"><Relationship Id="rId7" Type="http://schemas.openxmlformats.org/officeDocument/2006/relationships/slideLayout" Target="../slideLayouts/slideLayout9.xml"/><Relationship Id="rId6" Type="http://schemas.openxmlformats.org/officeDocument/2006/relationships/image" Target="../media/image250.png"/><Relationship Id="rId5" Type="http://schemas.openxmlformats.org/officeDocument/2006/relationships/image" Target="../media/image247.png"/><Relationship Id="rId4" Type="http://schemas.openxmlformats.org/officeDocument/2006/relationships/image" Target="../media/image249.png"/><Relationship Id="rId3" Type="http://schemas.openxmlformats.org/officeDocument/2006/relationships/image" Target="../media/image248.png"/><Relationship Id="rId2" Type="http://schemas.openxmlformats.org/officeDocument/2006/relationships/image" Target="../media/image246.png"/><Relationship Id="rId1" Type="http://schemas.openxmlformats.org/officeDocument/2006/relationships/image" Target="../media/image245.png"/></Relationships>
</file>

<file path=ppt/slides/_rels/slide104.xml.rels><?xml version="1.0" encoding="UTF-8" standalone="yes"?>
<Relationships xmlns="http://schemas.openxmlformats.org/package/2006/relationships"><Relationship Id="rId8" Type="http://schemas.openxmlformats.org/officeDocument/2006/relationships/slideLayout" Target="../slideLayouts/slideLayout9.xml"/><Relationship Id="rId7" Type="http://schemas.openxmlformats.org/officeDocument/2006/relationships/image" Target="../media/image251.png"/><Relationship Id="rId6" Type="http://schemas.openxmlformats.org/officeDocument/2006/relationships/image" Target="../media/image250.png"/><Relationship Id="rId5" Type="http://schemas.openxmlformats.org/officeDocument/2006/relationships/image" Target="../media/image247.png"/><Relationship Id="rId4" Type="http://schemas.openxmlformats.org/officeDocument/2006/relationships/image" Target="../media/image249.png"/><Relationship Id="rId3" Type="http://schemas.openxmlformats.org/officeDocument/2006/relationships/image" Target="../media/image248.png"/><Relationship Id="rId2" Type="http://schemas.openxmlformats.org/officeDocument/2006/relationships/image" Target="../media/image246.png"/><Relationship Id="rId1" Type="http://schemas.openxmlformats.org/officeDocument/2006/relationships/image" Target="../media/image245.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xml"/><Relationship Id="rId1" Type="http://schemas.openxmlformats.org/officeDocument/2006/relationships/image" Target="../media/image252.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53.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255.png"/><Relationship Id="rId1" Type="http://schemas.openxmlformats.org/officeDocument/2006/relationships/image" Target="../media/image254.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56.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1.xml"/><Relationship Id="rId1" Type="http://schemas.openxmlformats.org/officeDocument/2006/relationships/image" Target="../media/image25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2.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image" Target="../media/image258.png"/></Relationships>
</file>

<file path=ppt/slides/_rels/slide153.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263.png"/><Relationship Id="rId2" Type="http://schemas.openxmlformats.org/officeDocument/2006/relationships/image" Target="../media/image262.png"/><Relationship Id="rId1" Type="http://schemas.openxmlformats.org/officeDocument/2006/relationships/image" Target="../media/image261.png"/></Relationships>
</file>

<file path=ppt/slides/_rels/slide154.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268.png"/><Relationship Id="rId4" Type="http://schemas.openxmlformats.org/officeDocument/2006/relationships/image" Target="../media/image267.png"/><Relationship Id="rId3" Type="http://schemas.openxmlformats.org/officeDocument/2006/relationships/image" Target="../media/image266.png"/><Relationship Id="rId2" Type="http://schemas.openxmlformats.org/officeDocument/2006/relationships/image" Target="../media/image265.png"/><Relationship Id="rId1" Type="http://schemas.openxmlformats.org/officeDocument/2006/relationships/image" Target="../media/image264.png"/></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4.xml"/><Relationship Id="rId1" Type="http://schemas.openxmlformats.org/officeDocument/2006/relationships/image" Target="../media/image2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22036"/>
            <a:ext cx="12192000" cy="6835963"/>
          </a:xfrm>
          <a:prstGeom prst="roundRect">
            <a:avLst>
              <a:gd name="adj" fmla="val 1568"/>
            </a:avLst>
          </a:prstGeom>
          <a:blipFill rotWithShape="1">
            <a:blip r:embed="rId1"/>
            <a:stretch>
              <a:fillRect l="-9864" r="-1"/>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cs typeface="+mn-ea"/>
                <a:sym typeface="+mn-lt"/>
              </a:rPr>
              <a:t>https://doi.org/10.1016/j.jbusvent.2021.106157 </a:t>
            </a:r>
            <a:endParaRPr lang="zh-CN" altLang="en-US" dirty="0">
              <a:cs typeface="+mn-ea"/>
              <a:sym typeface="+mn-lt"/>
            </a:endParaRPr>
          </a:p>
          <a:p>
            <a:pPr algn="ctr"/>
            <a:r>
              <a:rPr lang="zh-CN" altLang="en-US" dirty="0">
                <a:cs typeface="+mn-ea"/>
                <a:sym typeface="+mn-lt"/>
              </a:rPr>
              <a:t>R</a:t>
            </a:r>
            <a:endParaRPr lang="zh-CN" altLang="en-US" dirty="0">
              <a:cs typeface="+mn-ea"/>
              <a:sym typeface="+mn-lt"/>
            </a:endParaRPr>
          </a:p>
        </p:txBody>
      </p:sp>
      <p:sp>
        <p:nvSpPr>
          <p:cNvPr id="11" name="标题 8"/>
          <p:cNvSpPr>
            <a:spLocks noGrp="1"/>
          </p:cNvSpPr>
          <p:nvPr/>
        </p:nvSpPr>
        <p:spPr>
          <a:xfrm>
            <a:off x="1524000" y="11223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dirty="0"/>
              <a:t> </a:t>
            </a:r>
            <a:endParaRPr lang="en-US" altLang="zh-CN" dirty="0"/>
          </a:p>
        </p:txBody>
      </p:sp>
      <p:sp>
        <p:nvSpPr>
          <p:cNvPr id="13" name="副标题 10"/>
          <p:cNvSpPr>
            <a:spLocks noGrp="1"/>
          </p:cNvSpPr>
          <p:nvPr/>
        </p:nvSpPr>
        <p:spPr>
          <a:xfrm>
            <a:off x="1524000" y="360203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lang="zh-CN" altLang="en-US"/>
          </a:p>
        </p:txBody>
      </p:sp>
      <p:sp>
        <p:nvSpPr>
          <p:cNvPr id="14" name="矩形 13"/>
          <p:cNvSpPr/>
          <p:nvPr/>
        </p:nvSpPr>
        <p:spPr>
          <a:xfrm>
            <a:off x="9984658" y="4866967"/>
            <a:ext cx="1961536" cy="1696064"/>
          </a:xfrm>
          <a:prstGeom prst="rect">
            <a:avLst/>
          </a:prstGeom>
          <a:solidFill>
            <a:srgbClr val="6901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5" name="矩形 14"/>
          <p:cNvSpPr/>
          <p:nvPr/>
        </p:nvSpPr>
        <p:spPr>
          <a:xfrm>
            <a:off x="245805" y="294968"/>
            <a:ext cx="1961536" cy="1696064"/>
          </a:xfrm>
          <a:prstGeom prst="rect">
            <a:avLst/>
          </a:prstGeom>
          <a:solidFill>
            <a:srgbClr val="690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6" name="矩形 15"/>
          <p:cNvSpPr/>
          <p:nvPr/>
        </p:nvSpPr>
        <p:spPr>
          <a:xfrm>
            <a:off x="245805" y="4866967"/>
            <a:ext cx="1961536" cy="1696064"/>
          </a:xfrm>
          <a:prstGeom prst="rect">
            <a:avLst/>
          </a:prstGeom>
          <a:solidFill>
            <a:srgbClr val="6901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7" name="矩形 16"/>
          <p:cNvSpPr/>
          <p:nvPr/>
        </p:nvSpPr>
        <p:spPr>
          <a:xfrm>
            <a:off x="9984658" y="294968"/>
            <a:ext cx="1961536" cy="1696064"/>
          </a:xfrm>
          <a:prstGeom prst="rect">
            <a:avLst/>
          </a:prstGeom>
          <a:solidFill>
            <a:srgbClr val="6901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8" name="圆角矩形 7"/>
          <p:cNvSpPr/>
          <p:nvPr/>
        </p:nvSpPr>
        <p:spPr>
          <a:xfrm>
            <a:off x="537991" y="592493"/>
            <a:ext cx="11116017" cy="5673214"/>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cs typeface="+mn-ea"/>
                <a:sym typeface="+mn-lt"/>
              </a:rPr>
              <a:t>https://doi.org/10.1016/j.jbusvent.2021.106157 </a:t>
            </a:r>
            <a:endParaRPr lang="zh-CN" altLang="en-US">
              <a:cs typeface="+mn-ea"/>
              <a:sym typeface="+mn-lt"/>
            </a:endParaRPr>
          </a:p>
          <a:p>
            <a:pPr algn="ctr"/>
            <a:r>
              <a:rPr lang="zh-CN" altLang="en-US">
                <a:cs typeface="+mn-ea"/>
                <a:sym typeface="+mn-lt"/>
              </a:rPr>
              <a:t>R</a:t>
            </a:r>
            <a:endParaRPr lang="zh-CN" altLang="en-US">
              <a:cs typeface="+mn-ea"/>
              <a:sym typeface="+mn-lt"/>
            </a:endParaRPr>
          </a:p>
        </p:txBody>
      </p:sp>
      <p:sp>
        <p:nvSpPr>
          <p:cNvPr id="20" name="文本框 9"/>
          <p:cNvSpPr txBox="1"/>
          <p:nvPr/>
        </p:nvSpPr>
        <p:spPr>
          <a:xfrm>
            <a:off x="1349373" y="2310104"/>
            <a:ext cx="9493250" cy="3030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33705" algn="ctr">
              <a:lnSpc>
                <a:spcPct val="125000"/>
              </a:lnSpc>
              <a:spcBef>
                <a:spcPts val="780"/>
              </a:spcBef>
            </a:pPr>
            <a:r>
              <a:rPr lang="en-US" altLang="zh-CN" sz="2800" b="1" dirty="0"/>
              <a:t>The Aggregate Productivity Effects of Internal Migration: </a:t>
            </a:r>
            <a:endParaRPr lang="en-US" altLang="zh-CN" sz="2800" b="1" dirty="0"/>
          </a:p>
          <a:p>
            <a:pPr indent="433705" algn="ctr">
              <a:lnSpc>
                <a:spcPct val="125000"/>
              </a:lnSpc>
              <a:spcBef>
                <a:spcPts val="780"/>
              </a:spcBef>
            </a:pPr>
            <a:r>
              <a:rPr lang="en-US" altLang="zh-CN" sz="2800" b="1" dirty="0"/>
              <a:t>Evidence from Indonesia</a:t>
            </a:r>
            <a:endParaRPr lang="en-US" altLang="zh-CN" sz="2800" b="1" dirty="0"/>
          </a:p>
          <a:p>
            <a:pPr indent="433705" algn="ctr">
              <a:lnSpc>
                <a:spcPct val="125000"/>
              </a:lnSpc>
              <a:spcBef>
                <a:spcPts val="780"/>
              </a:spcBef>
            </a:pPr>
            <a:r>
              <a:rPr lang="en-US" altLang="zh-CN" sz="2000" b="1" dirty="0"/>
              <a:t>——</a:t>
            </a:r>
            <a:r>
              <a:rPr lang="en-US" altLang="zh-CN" sz="2000" b="1" dirty="0" err="1"/>
              <a:t>Gharad</a:t>
            </a:r>
            <a:r>
              <a:rPr lang="en-US" altLang="zh-CN" sz="2000" b="1" dirty="0"/>
              <a:t> Bryan &amp; Melanie Morten</a:t>
            </a:r>
            <a:endParaRPr lang="en-US" altLang="zh-CN" sz="2000" dirty="0"/>
          </a:p>
          <a:p>
            <a:pPr marL="0" marR="0" indent="433705" algn="ctr">
              <a:lnSpc>
                <a:spcPct val="125000"/>
              </a:lnSpc>
              <a:spcBef>
                <a:spcPts val="780"/>
              </a:spcBef>
              <a:buNone/>
            </a:pPr>
            <a:endParaRPr lang="zh-CN" altLang="en-US" sz="2800" b="1" kern="100" dirty="0">
              <a:effectLst/>
              <a:latin typeface="微软雅黑" charset="-122"/>
              <a:ea typeface="微软雅黑" charset="-122"/>
            </a:endParaRPr>
          </a:p>
          <a:p>
            <a:pPr marL="0" marR="0" indent="433705" algn="ctr">
              <a:lnSpc>
                <a:spcPct val="125000"/>
              </a:lnSpc>
              <a:spcBef>
                <a:spcPts val="780"/>
              </a:spcBef>
              <a:buNone/>
            </a:pPr>
            <a:endParaRPr lang="en-US" altLang="zh-CN" sz="2800" b="1" kern="100" dirty="0">
              <a:effectLst/>
              <a:latin typeface="微软雅黑" charset="-122"/>
              <a:ea typeface="微软雅黑" charset="-122"/>
            </a:endParaRPr>
          </a:p>
        </p:txBody>
      </p:sp>
      <p:sp>
        <p:nvSpPr>
          <p:cNvPr id="21" name="文本框 11"/>
          <p:cNvSpPr txBox="1"/>
          <p:nvPr/>
        </p:nvSpPr>
        <p:spPr>
          <a:xfrm>
            <a:off x="4266565" y="4314190"/>
            <a:ext cx="3658870" cy="15684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lnSpc>
                <a:spcPct val="150000"/>
              </a:lnSpc>
            </a:pPr>
            <a:endParaRPr lang="en-US" altLang="zh-CN" sz="1600" dirty="0">
              <a:latin typeface="+mn-ea"/>
            </a:endParaRPr>
          </a:p>
          <a:p>
            <a:pPr algn="ctr" fontAlgn="auto">
              <a:lnSpc>
                <a:spcPct val="150000"/>
              </a:lnSpc>
            </a:pPr>
            <a:r>
              <a:rPr lang="zh-CN" altLang="en-US" sz="1600" dirty="0">
                <a:solidFill>
                  <a:schemeClr val="tx1">
                    <a:lumMod val="85000"/>
                    <a:lumOff val="15000"/>
                  </a:schemeClr>
                </a:solidFill>
                <a:latin typeface="+mn-ea"/>
                <a:cs typeface="+mn-ea"/>
                <a:sym typeface="+mn-lt"/>
              </a:rPr>
              <a:t>报告人：陈冠宇</a:t>
            </a:r>
            <a:r>
              <a:rPr lang="en-US" altLang="zh-CN" sz="1600" dirty="0">
                <a:solidFill>
                  <a:schemeClr val="tx1">
                    <a:lumMod val="85000"/>
                    <a:lumOff val="15000"/>
                  </a:schemeClr>
                </a:solidFill>
                <a:latin typeface="+mn-ea"/>
                <a:cs typeface="+mn-ea"/>
                <a:sym typeface="+mn-lt"/>
              </a:rPr>
              <a:t>、</a:t>
            </a:r>
            <a:r>
              <a:rPr lang="zh-CN" altLang="en-US" sz="1600" dirty="0">
                <a:solidFill>
                  <a:schemeClr val="tx1">
                    <a:lumMod val="85000"/>
                    <a:lumOff val="15000"/>
                  </a:schemeClr>
                </a:solidFill>
                <a:latin typeface="+mn-ea"/>
                <a:cs typeface="+mn-ea"/>
                <a:sym typeface="+mn-lt"/>
              </a:rPr>
              <a:t>任娜</a:t>
            </a:r>
            <a:r>
              <a:rPr lang="en-US" altLang="zh-CN" sz="1600" dirty="0">
                <a:solidFill>
                  <a:schemeClr val="tx1">
                    <a:lumMod val="85000"/>
                    <a:lumOff val="15000"/>
                  </a:schemeClr>
                </a:solidFill>
                <a:latin typeface="+mn-ea"/>
                <a:cs typeface="+mn-ea"/>
                <a:sym typeface="+mn-lt"/>
              </a:rPr>
              <a:t>、</a:t>
            </a:r>
            <a:r>
              <a:rPr lang="zh-CN" altLang="en-US" sz="1600" dirty="0">
                <a:solidFill>
                  <a:schemeClr val="tx1">
                    <a:lumMod val="85000"/>
                    <a:lumOff val="15000"/>
                  </a:schemeClr>
                </a:solidFill>
                <a:latin typeface="+mn-ea"/>
                <a:cs typeface="+mn-ea"/>
                <a:sym typeface="+mn-lt"/>
              </a:rPr>
              <a:t>冯诗语</a:t>
            </a:r>
            <a:endParaRPr lang="en-US" altLang="zh-CN" sz="1600" dirty="0">
              <a:solidFill>
                <a:schemeClr val="tx1">
                  <a:lumMod val="85000"/>
                  <a:lumOff val="15000"/>
                </a:schemeClr>
              </a:solidFill>
              <a:latin typeface="+mn-ea"/>
              <a:cs typeface="+mn-ea"/>
              <a:sym typeface="+mn-lt"/>
            </a:endParaRPr>
          </a:p>
          <a:p>
            <a:pPr algn="ctr" fontAlgn="auto">
              <a:lnSpc>
                <a:spcPct val="150000"/>
              </a:lnSpc>
            </a:pPr>
            <a:r>
              <a:rPr lang="en-US" altLang="zh-CN" sz="1600" dirty="0">
                <a:solidFill>
                  <a:schemeClr val="tx1">
                    <a:lumMod val="85000"/>
                    <a:lumOff val="15000"/>
                  </a:schemeClr>
                </a:solidFill>
                <a:latin typeface="+mn-ea"/>
                <a:cs typeface="+mn-ea"/>
                <a:sym typeface="+mn-lt"/>
              </a:rPr>
              <a:t>2026</a:t>
            </a:r>
            <a:r>
              <a:rPr lang="zh-CN" altLang="en-US" sz="1600" dirty="0">
                <a:solidFill>
                  <a:schemeClr val="tx1">
                    <a:lumMod val="85000"/>
                    <a:lumOff val="15000"/>
                  </a:schemeClr>
                </a:solidFill>
                <a:latin typeface="+mn-ea"/>
                <a:cs typeface="+mn-ea"/>
                <a:sym typeface="+mn-lt"/>
              </a:rPr>
              <a:t>年</a:t>
            </a:r>
            <a:r>
              <a:rPr lang="en-US" altLang="zh-CN" sz="1600" dirty="0">
                <a:solidFill>
                  <a:schemeClr val="tx1">
                    <a:lumMod val="85000"/>
                    <a:lumOff val="15000"/>
                  </a:schemeClr>
                </a:solidFill>
                <a:latin typeface="+mn-ea"/>
                <a:cs typeface="+mn-ea"/>
                <a:sym typeface="+mn-lt"/>
              </a:rPr>
              <a:t>10</a:t>
            </a:r>
            <a:r>
              <a:rPr lang="zh-CN" altLang="en-US" sz="1600" dirty="0">
                <a:solidFill>
                  <a:schemeClr val="tx1">
                    <a:lumMod val="85000"/>
                    <a:lumOff val="15000"/>
                  </a:schemeClr>
                </a:solidFill>
                <a:latin typeface="+mn-ea"/>
                <a:cs typeface="+mn-ea"/>
                <a:sym typeface="+mn-lt"/>
              </a:rPr>
              <a:t>月</a:t>
            </a:r>
            <a:r>
              <a:rPr lang="en-US" altLang="zh-CN" sz="1600" dirty="0">
                <a:solidFill>
                  <a:schemeClr val="tx1">
                    <a:lumMod val="85000"/>
                    <a:lumOff val="15000"/>
                  </a:schemeClr>
                </a:solidFill>
                <a:latin typeface="+mn-ea"/>
                <a:cs typeface="+mn-ea"/>
                <a:sym typeface="+mn-lt"/>
              </a:rPr>
              <a:t>29</a:t>
            </a:r>
            <a:r>
              <a:rPr lang="zh-CN" altLang="en-US" sz="1600" dirty="0">
                <a:solidFill>
                  <a:schemeClr val="tx1">
                    <a:lumMod val="85000"/>
                    <a:lumOff val="15000"/>
                  </a:schemeClr>
                </a:solidFill>
                <a:latin typeface="+mn-ea"/>
                <a:cs typeface="+mn-ea"/>
                <a:sym typeface="+mn-lt"/>
              </a:rPr>
              <a:t>日</a:t>
            </a:r>
            <a:endParaRPr lang="zh-CN" altLang="en-US" sz="1600" dirty="0">
              <a:solidFill>
                <a:schemeClr val="tx1">
                  <a:lumMod val="85000"/>
                  <a:lumOff val="15000"/>
                </a:schemeClr>
              </a:solidFill>
              <a:latin typeface="+mn-ea"/>
              <a:cs typeface="+mn-ea"/>
              <a:sym typeface="+mn-lt"/>
            </a:endParaRPr>
          </a:p>
          <a:p>
            <a:pPr algn="ctr" fontAlgn="auto">
              <a:lnSpc>
                <a:spcPct val="150000"/>
              </a:lnSpc>
            </a:pPr>
            <a:endParaRPr lang="en-US" altLang="zh-CN" sz="1600" dirty="0">
              <a:solidFill>
                <a:schemeClr val="tx1">
                  <a:lumMod val="85000"/>
                  <a:lumOff val="15000"/>
                </a:schemeClr>
              </a:solidFill>
              <a:latin typeface="+mn-ea"/>
              <a:cs typeface="+mn-ea"/>
              <a:sym typeface="+mn-lt"/>
            </a:endParaRPr>
          </a:p>
        </p:txBody>
      </p:sp>
      <p:pic>
        <p:nvPicPr>
          <p:cNvPr id="5" name="图片 4" descr="285c1c02d52c5064a54fb9716315c663"/>
          <p:cNvPicPr>
            <a:picLocks noChangeAspect="1"/>
          </p:cNvPicPr>
          <p:nvPr/>
        </p:nvPicPr>
        <p:blipFill>
          <a:blip r:embed="rId2"/>
          <a:srcRect/>
          <a:stretch>
            <a:fillRect/>
          </a:stretch>
        </p:blipFill>
        <p:spPr>
          <a:xfrm>
            <a:off x="5457675" y="800307"/>
            <a:ext cx="1276648" cy="1599786"/>
          </a:xfrm>
          <a:prstGeom prst="rect">
            <a:avLst/>
          </a:prstGeom>
        </p:spPr>
      </p:pic>
      <p:sp>
        <p:nvSpPr>
          <p:cNvPr id="2" name="页脚占位符 1"/>
          <p:cNvSpPr>
            <a:spLocks noGrp="1"/>
          </p:cNvSpPr>
          <p:nvPr>
            <p:ph type="ftr" sz="quarter" idx="11"/>
          </p:nvPr>
        </p:nvSpPr>
        <p:spPr/>
        <p:txBody>
          <a:bodyPr/>
          <a:lstStyle/>
          <a:p>
            <a:r>
              <a:rPr lang="zh-CN" altLang="en-US"/>
              <a:t>1</a:t>
            </a:r>
            <a:endParaRPr lang="zh-CN" altLang="en-US"/>
          </a:p>
        </p:txBody>
      </p:sp>
      <p:sp>
        <p:nvSpPr>
          <p:cNvPr id="3" name="灯片编号占位符 2"/>
          <p:cNvSpPr>
            <a:spLocks noGrp="1"/>
          </p:cNvSpPr>
          <p:nvPr>
            <p:ph type="sldNum" sz="quarter" idx="12"/>
          </p:nvPr>
        </p:nvSpPr>
        <p:spPr/>
        <p:txBody>
          <a:bodyPr/>
          <a:lstStyle/>
          <a:p>
            <a:fld id="{7843793D-C661-4336-9091-85E204D4ECCE}" type="slidenum">
              <a:rPr lang="zh-CN" altLang="en-US" smtClean="0"/>
            </a:fld>
            <a:endParaRPr lang="zh-CN" altLang="en-US"/>
          </a:p>
        </p:txBody>
      </p:sp>
      <p:sp>
        <p:nvSpPr>
          <p:cNvPr id="4" name="文本框 9"/>
          <p:cNvSpPr txBox="1"/>
          <p:nvPr/>
        </p:nvSpPr>
        <p:spPr>
          <a:xfrm>
            <a:off x="2446655" y="4159250"/>
            <a:ext cx="7298690" cy="36512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433705" algn="ctr">
              <a:lnSpc>
                <a:spcPct val="125000"/>
              </a:lnSpc>
              <a:spcBef>
                <a:spcPts val="780"/>
              </a:spcBef>
              <a:buNone/>
            </a:pPr>
            <a:r>
              <a:rPr lang="en-US" altLang="zh-CN" i="1" kern="100" dirty="0">
                <a:effectLst/>
                <a:latin typeface="Helvetica Neue" panose="02000503000000020004" charset="0"/>
                <a:ea typeface="黑体" panose="02010609060101010101" charset="-122"/>
                <a:cs typeface="Helvetica Neue" panose="02000503000000020004" charset="0"/>
              </a:rPr>
              <a:t>Journal of Political Economy, 2019, 127(5): 2229–2268</a:t>
            </a:r>
            <a:endParaRPr lang="en-US" altLang="zh-CN" i="1" kern="100" dirty="0">
              <a:effectLst/>
              <a:latin typeface="Helvetica Neue" panose="02000503000000020004" charset="0"/>
              <a:ea typeface="黑体" panose="02010609060101010101" charset="-122"/>
              <a:cs typeface="Helvetica Neue" panose="02000503000000020004" charset="0"/>
            </a:endParaRPr>
          </a:p>
        </p:txBody>
      </p:sp>
    </p:spTree>
  </p:cSld>
  <p:clrMapOvr>
    <a:masterClrMapping/>
  </p:clrMapOvr>
  <mc:AlternateContent xmlns:mc="http://schemas.openxmlformats.org/markup-compatibility/2006">
    <mc:Choice xmlns:p14="http://schemas.microsoft.com/office/powerpoint/2010/main" Requires="p14">
      <p:transition p14:dur="10" advTm="3000"/>
    </mc:Choice>
    <mc:Fallback>
      <p:transition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 y="-1"/>
            <a:ext cx="3279531" cy="6778869"/>
          </a:xfrm>
          <a:prstGeom prst="rect">
            <a:avLst/>
          </a:prstGeom>
          <a:solidFill>
            <a:srgbClr val="690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cxnSp>
        <p:nvCxnSpPr>
          <p:cNvPr id="4" name="直接连接符 3"/>
          <p:cNvCxnSpPr/>
          <p:nvPr/>
        </p:nvCxnSpPr>
        <p:spPr>
          <a:xfrm>
            <a:off x="3437793" y="31199"/>
            <a:ext cx="0" cy="6778868"/>
          </a:xfrm>
          <a:prstGeom prst="line">
            <a:avLst/>
          </a:prstGeom>
          <a:ln w="57150">
            <a:solidFill>
              <a:srgbClr val="69025E"/>
            </a:solidFill>
          </a:ln>
        </p:spPr>
        <p:style>
          <a:lnRef idx="1">
            <a:schemeClr val="accent1"/>
          </a:lnRef>
          <a:fillRef idx="0">
            <a:schemeClr val="accent1"/>
          </a:fillRef>
          <a:effectRef idx="0">
            <a:schemeClr val="accent1"/>
          </a:effectRef>
          <a:fontRef idx="minor">
            <a:schemeClr val="tx1"/>
          </a:fontRef>
        </p:style>
      </p:cxnSp>
      <p:pic>
        <p:nvPicPr>
          <p:cNvPr id="5" name="图片 4" descr="285c1c02d52c5064a54fb9716315c663"/>
          <p:cNvPicPr>
            <a:picLocks noChangeAspect="1"/>
          </p:cNvPicPr>
          <p:nvPr/>
        </p:nvPicPr>
        <p:blipFill>
          <a:blip r:embed="rId1"/>
          <a:srcRect/>
          <a:stretch>
            <a:fillRect/>
          </a:stretch>
        </p:blipFill>
        <p:spPr>
          <a:xfrm>
            <a:off x="11379798" y="174625"/>
            <a:ext cx="681562" cy="854075"/>
          </a:xfrm>
          <a:prstGeom prst="rect">
            <a:avLst/>
          </a:prstGeom>
        </p:spPr>
      </p:pic>
      <p:sp>
        <p:nvSpPr>
          <p:cNvPr id="6" name="文本框 5"/>
          <p:cNvSpPr txBox="1"/>
          <p:nvPr/>
        </p:nvSpPr>
        <p:spPr>
          <a:xfrm>
            <a:off x="1204547" y="391795"/>
            <a:ext cx="562707" cy="5909310"/>
          </a:xfrm>
          <a:prstGeom prst="rect">
            <a:avLst/>
          </a:prstGeom>
          <a:noFill/>
        </p:spPr>
        <p:txBody>
          <a:bodyPr wrap="square" rtlCol="0">
            <a:spAutoFit/>
          </a:bodyPr>
          <a:lstStyle/>
          <a:p>
            <a:r>
              <a:rPr lang="en-US" altLang="zh-CN" sz="5400" b="1">
                <a:solidFill>
                  <a:schemeClr val="bg1"/>
                </a:solidFill>
              </a:rPr>
              <a:t>CONTENT</a:t>
            </a:r>
            <a:endParaRPr lang="zh-CN" altLang="en-US" sz="5400" b="1">
              <a:solidFill>
                <a:schemeClr val="bg1"/>
              </a:solidFill>
            </a:endParaRPr>
          </a:p>
        </p:txBody>
      </p:sp>
      <p:grpSp>
        <p:nvGrpSpPr>
          <p:cNvPr id="25" name="组合 24"/>
          <p:cNvGrpSpPr/>
          <p:nvPr/>
        </p:nvGrpSpPr>
        <p:grpSpPr>
          <a:xfrm>
            <a:off x="4312920" y="391795"/>
            <a:ext cx="4322445" cy="706120"/>
            <a:chOff x="6792" y="617"/>
            <a:chExt cx="6807" cy="1112"/>
          </a:xfrm>
        </p:grpSpPr>
        <p:sp>
          <p:nvSpPr>
            <p:cNvPr id="2" name="文本框 1"/>
            <p:cNvSpPr txBox="1"/>
            <p:nvPr/>
          </p:nvSpPr>
          <p:spPr>
            <a:xfrm>
              <a:off x="8309" y="617"/>
              <a:ext cx="5291" cy="1113"/>
            </a:xfrm>
            <a:prstGeom prst="rect">
              <a:avLst/>
            </a:prstGeom>
            <a:noFill/>
          </p:spPr>
          <p:txBody>
            <a:bodyPr wrap="square" rtlCol="0">
              <a:spAutoFit/>
            </a:bodyPr>
            <a:lstStyle/>
            <a:p>
              <a:r>
                <a:rPr lang="en-US" altLang="zh-CN" sz="4000" b="1" dirty="0">
                  <a:solidFill>
                    <a:srgbClr val="69025E"/>
                  </a:solidFill>
                </a:rPr>
                <a:t>The Question</a:t>
              </a:r>
              <a:endParaRPr lang="en-US" altLang="zh-CN" sz="4000" b="1" dirty="0">
                <a:solidFill>
                  <a:srgbClr val="69025E"/>
                </a:solidFill>
              </a:endParaRPr>
            </a:p>
          </p:txBody>
        </p:sp>
        <p:sp>
          <p:nvSpPr>
            <p:cNvPr id="19" name="流程图: 接点 18"/>
            <p:cNvSpPr/>
            <p:nvPr/>
          </p:nvSpPr>
          <p:spPr>
            <a:xfrm>
              <a:off x="6792" y="814"/>
              <a:ext cx="720" cy="72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a:t>1</a:t>
              </a:r>
              <a:endParaRPr lang="zh-CN" altLang="en-US" b="1"/>
            </a:p>
          </p:txBody>
        </p:sp>
      </p:grpSp>
      <p:grpSp>
        <p:nvGrpSpPr>
          <p:cNvPr id="24" name="组合 23"/>
          <p:cNvGrpSpPr/>
          <p:nvPr/>
        </p:nvGrpSpPr>
        <p:grpSpPr>
          <a:xfrm>
            <a:off x="4312920" y="1398270"/>
            <a:ext cx="4322445" cy="706120"/>
            <a:chOff x="6792" y="2336"/>
            <a:chExt cx="6807" cy="1112"/>
          </a:xfrm>
        </p:grpSpPr>
        <p:sp>
          <p:nvSpPr>
            <p:cNvPr id="3" name="文本框 2"/>
            <p:cNvSpPr txBox="1"/>
            <p:nvPr/>
          </p:nvSpPr>
          <p:spPr>
            <a:xfrm>
              <a:off x="8309" y="2336"/>
              <a:ext cx="5291" cy="1113"/>
            </a:xfrm>
            <a:prstGeom prst="rect">
              <a:avLst/>
            </a:prstGeom>
            <a:noFill/>
          </p:spPr>
          <p:txBody>
            <a:bodyPr wrap="square" rtlCol="0">
              <a:spAutoFit/>
            </a:bodyPr>
            <a:lstStyle/>
            <a:p>
              <a:r>
                <a:rPr lang="en-US" altLang="zh-CN" sz="4000" b="1" dirty="0">
                  <a:solidFill>
                    <a:srgbClr val="69025E"/>
                  </a:solidFill>
                </a:rPr>
                <a:t>Model Setup</a:t>
              </a:r>
              <a:endParaRPr lang="en-US" altLang="zh-CN" sz="4000" b="1" dirty="0">
                <a:solidFill>
                  <a:srgbClr val="69025E"/>
                </a:solidFill>
              </a:endParaRPr>
            </a:p>
          </p:txBody>
        </p:sp>
        <p:sp>
          <p:nvSpPr>
            <p:cNvPr id="20" name="流程图: 接点 19"/>
            <p:cNvSpPr/>
            <p:nvPr/>
          </p:nvSpPr>
          <p:spPr>
            <a:xfrm>
              <a:off x="6792" y="2539"/>
              <a:ext cx="720" cy="72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a:t>2</a:t>
              </a:r>
              <a:endParaRPr lang="zh-CN" altLang="en-US" b="1"/>
            </a:p>
          </p:txBody>
        </p:sp>
      </p:grpSp>
      <p:grpSp>
        <p:nvGrpSpPr>
          <p:cNvPr id="18" name="组合 17"/>
          <p:cNvGrpSpPr/>
          <p:nvPr/>
        </p:nvGrpSpPr>
        <p:grpSpPr>
          <a:xfrm>
            <a:off x="4312920" y="2479675"/>
            <a:ext cx="7747635" cy="706120"/>
            <a:chOff x="6792" y="4055"/>
            <a:chExt cx="12201" cy="1112"/>
          </a:xfrm>
        </p:grpSpPr>
        <p:sp>
          <p:nvSpPr>
            <p:cNvPr id="7" name="文本框 6"/>
            <p:cNvSpPr txBox="1"/>
            <p:nvPr/>
          </p:nvSpPr>
          <p:spPr>
            <a:xfrm>
              <a:off x="8309" y="4055"/>
              <a:ext cx="10685" cy="1113"/>
            </a:xfrm>
            <a:prstGeom prst="rect">
              <a:avLst/>
            </a:prstGeom>
            <a:noFill/>
          </p:spPr>
          <p:txBody>
            <a:bodyPr wrap="square" rtlCol="0">
              <a:spAutoFit/>
            </a:bodyPr>
            <a:lstStyle/>
            <a:p>
              <a:r>
                <a:rPr lang="en-US" altLang="zh-CN" sz="4000" b="1" dirty="0">
                  <a:solidFill>
                    <a:srgbClr val="69025E"/>
                  </a:solidFill>
                </a:rPr>
                <a:t>Identification &amp; Estimation</a:t>
              </a:r>
              <a:endParaRPr lang="en-US" altLang="zh-CN" sz="4000" b="1" dirty="0">
                <a:solidFill>
                  <a:srgbClr val="69025E"/>
                </a:solidFill>
              </a:endParaRPr>
            </a:p>
          </p:txBody>
        </p:sp>
        <p:sp>
          <p:nvSpPr>
            <p:cNvPr id="21" name="流程图: 接点 20"/>
            <p:cNvSpPr/>
            <p:nvPr/>
          </p:nvSpPr>
          <p:spPr>
            <a:xfrm>
              <a:off x="6792" y="4252"/>
              <a:ext cx="720" cy="72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a:t>3</a:t>
              </a:r>
              <a:endParaRPr lang="zh-CN" altLang="en-US" b="1"/>
            </a:p>
          </p:txBody>
        </p:sp>
      </p:grpSp>
      <p:grpSp>
        <p:nvGrpSpPr>
          <p:cNvPr id="12" name="组合 11"/>
          <p:cNvGrpSpPr/>
          <p:nvPr/>
        </p:nvGrpSpPr>
        <p:grpSpPr>
          <a:xfrm>
            <a:off x="4312920" y="3502660"/>
            <a:ext cx="5984875" cy="706120"/>
            <a:chOff x="6792" y="5946"/>
            <a:chExt cx="9425" cy="1112"/>
          </a:xfrm>
        </p:grpSpPr>
        <p:sp>
          <p:nvSpPr>
            <p:cNvPr id="8" name="文本框 7"/>
            <p:cNvSpPr txBox="1"/>
            <p:nvPr/>
          </p:nvSpPr>
          <p:spPr>
            <a:xfrm>
              <a:off x="8309" y="5946"/>
              <a:ext cx="7909" cy="1113"/>
            </a:xfrm>
            <a:prstGeom prst="rect">
              <a:avLst/>
            </a:prstGeom>
            <a:noFill/>
          </p:spPr>
          <p:txBody>
            <a:bodyPr wrap="square" rtlCol="0">
              <a:spAutoFit/>
            </a:bodyPr>
            <a:lstStyle/>
            <a:p>
              <a:r>
                <a:rPr lang="en-US" altLang="zh-CN" sz="4000" b="1" dirty="0">
                  <a:solidFill>
                    <a:srgbClr val="69025E"/>
                  </a:solidFill>
                </a:rPr>
                <a:t>Counterfactual</a:t>
              </a:r>
              <a:endParaRPr lang="en-US" altLang="zh-CN" sz="4000" b="1" dirty="0">
                <a:solidFill>
                  <a:srgbClr val="69025E"/>
                </a:solidFill>
              </a:endParaRPr>
            </a:p>
          </p:txBody>
        </p:sp>
        <p:sp>
          <p:nvSpPr>
            <p:cNvPr id="22" name="流程图: 接点 21"/>
            <p:cNvSpPr/>
            <p:nvPr/>
          </p:nvSpPr>
          <p:spPr>
            <a:xfrm>
              <a:off x="6792" y="6143"/>
              <a:ext cx="720" cy="72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a:t>4</a:t>
              </a:r>
              <a:endParaRPr lang="zh-CN" altLang="en-US" b="1"/>
            </a:p>
          </p:txBody>
        </p:sp>
      </p:grpSp>
      <p:grpSp>
        <p:nvGrpSpPr>
          <p:cNvPr id="16" name="组合 15"/>
          <p:cNvGrpSpPr/>
          <p:nvPr/>
        </p:nvGrpSpPr>
        <p:grpSpPr>
          <a:xfrm>
            <a:off x="4314190" y="4511675"/>
            <a:ext cx="7066915" cy="706120"/>
            <a:chOff x="6792" y="7370"/>
            <a:chExt cx="11129" cy="1112"/>
          </a:xfrm>
        </p:grpSpPr>
        <p:sp>
          <p:nvSpPr>
            <p:cNvPr id="9" name="文本框 8"/>
            <p:cNvSpPr txBox="1"/>
            <p:nvPr/>
          </p:nvSpPr>
          <p:spPr>
            <a:xfrm>
              <a:off x="8309" y="7370"/>
              <a:ext cx="9613" cy="1113"/>
            </a:xfrm>
            <a:prstGeom prst="rect">
              <a:avLst/>
            </a:prstGeom>
            <a:noFill/>
          </p:spPr>
          <p:txBody>
            <a:bodyPr wrap="square" rtlCol="0">
              <a:spAutoFit/>
            </a:bodyPr>
            <a:lstStyle/>
            <a:p>
              <a:r>
                <a:rPr lang="en-US" altLang="zh-CN" sz="4000" b="1" dirty="0">
                  <a:solidFill>
                    <a:srgbClr val="69025E"/>
                  </a:solidFill>
                </a:rPr>
                <a:t>Replication </a:t>
              </a:r>
              <a:endParaRPr lang="en-US" altLang="zh-CN" sz="4000" b="1" dirty="0">
                <a:solidFill>
                  <a:srgbClr val="69025E"/>
                </a:solidFill>
              </a:endParaRPr>
            </a:p>
          </p:txBody>
        </p:sp>
        <p:sp>
          <p:nvSpPr>
            <p:cNvPr id="23" name="流程图: 接点 22"/>
            <p:cNvSpPr/>
            <p:nvPr/>
          </p:nvSpPr>
          <p:spPr>
            <a:xfrm>
              <a:off x="6792" y="7583"/>
              <a:ext cx="720" cy="72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a:t>5</a:t>
              </a:r>
              <a:endParaRPr lang="zh-CN" altLang="en-US" b="1"/>
            </a:p>
          </p:txBody>
        </p:sp>
      </p:grpSp>
      <p:grpSp>
        <p:nvGrpSpPr>
          <p:cNvPr id="17" name="组合 16"/>
          <p:cNvGrpSpPr/>
          <p:nvPr/>
        </p:nvGrpSpPr>
        <p:grpSpPr>
          <a:xfrm>
            <a:off x="4312920" y="5520055"/>
            <a:ext cx="4976495" cy="706120"/>
            <a:chOff x="6792" y="8693"/>
            <a:chExt cx="7837" cy="1112"/>
          </a:xfrm>
        </p:grpSpPr>
        <p:sp>
          <p:nvSpPr>
            <p:cNvPr id="13" name="文本框 12"/>
            <p:cNvSpPr txBox="1"/>
            <p:nvPr/>
          </p:nvSpPr>
          <p:spPr>
            <a:xfrm>
              <a:off x="8309" y="8693"/>
              <a:ext cx="6320" cy="1113"/>
            </a:xfrm>
            <a:prstGeom prst="rect">
              <a:avLst/>
            </a:prstGeom>
            <a:noFill/>
          </p:spPr>
          <p:txBody>
            <a:bodyPr wrap="square" rtlCol="0">
              <a:spAutoFit/>
            </a:bodyPr>
            <a:lstStyle/>
            <a:p>
              <a:r>
                <a:rPr lang="en-US" altLang="zh-CN" sz="4000" b="1" dirty="0">
                  <a:solidFill>
                    <a:srgbClr val="69025E"/>
                  </a:solidFill>
                </a:rPr>
                <a:t>Conclusion</a:t>
              </a:r>
              <a:endParaRPr lang="en-US" altLang="zh-CN" sz="4000" b="1" dirty="0">
                <a:solidFill>
                  <a:srgbClr val="69025E"/>
                </a:solidFill>
              </a:endParaRPr>
            </a:p>
          </p:txBody>
        </p:sp>
        <p:sp>
          <p:nvSpPr>
            <p:cNvPr id="14" name="流程图: 接点 22"/>
            <p:cNvSpPr/>
            <p:nvPr/>
          </p:nvSpPr>
          <p:spPr>
            <a:xfrm>
              <a:off x="6792" y="8906"/>
              <a:ext cx="720" cy="720"/>
            </a:xfrm>
            <a:prstGeom prst="flowChartConnector">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a:t>6</a:t>
              </a:r>
              <a:endParaRPr lang="en-US" altLang="zh-CN" b="1"/>
            </a:p>
          </p:txBody>
        </p:sp>
      </p:grpSp>
    </p:spTree>
  </p:cSld>
  <p:clrMapOvr>
    <a:masterClrMapping/>
  </p:clrMapOvr>
  <mc:AlternateContent xmlns:mc="http://schemas.openxmlformats.org/markup-compatibility/2006">
    <mc:Choice xmlns:p14="http://schemas.microsoft.com/office/powerpoint/2010/main" Requires="p14">
      <p:transition p14:dur="10" advTm="3000"/>
    </mc:Choice>
    <mc:Fallback>
      <p:transition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1.1</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437515"/>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研究背景：迁移的潜在收益与现有证据</a:t>
            </a:r>
          </a:p>
        </p:txBody>
      </p:sp>
      <p:sp>
        <p:nvSpPr>
          <p:cNvPr id="6" name="TextBox 5"/>
          <p:cNvSpPr txBox="1"/>
          <p:nvPr/>
        </p:nvSpPr>
        <p:spPr>
          <a:xfrm>
            <a:off x="2130552" y="6547104"/>
            <a:ext cx="8778240" cy="164592"/>
          </a:xfrm>
          <a:prstGeom prst="rect">
            <a:avLst/>
          </a:prstGeom>
          <a:noFill/>
        </p:spPr>
        <p:txBody>
          <a:bodyPr wrap="square" lIns="27432" tIns="13716" rIns="27432" bIns="9144">
            <a:spAutoFit/>
          </a:bodyPr>
          <a:lstStyle/>
          <a:p>
            <a:pPr>
              <a:spcAft>
                <a:spcPts val="200"/>
              </a:spcAft>
              <a:defRPr sz="900" b="0" i="0">
                <a:solidFill>
                  <a:srgbClr val="787878"/>
                </a:solidFill>
                <a:latin typeface="微软雅黑"/>
              </a:defRPr>
            </a:pPr>
            <a:r>
              <a:t>Source: Bryan &amp; Morten (2019), Introduction, pp. 2229–2230.</a:t>
            </a:r>
          </a:p>
        </p:txBody>
      </p:sp>
      <p:sp>
        <p:nvSpPr>
          <p:cNvPr id="7" name="Rectangle 6"/>
          <p:cNvSpPr/>
          <p:nvPr/>
        </p:nvSpPr>
        <p:spPr>
          <a:xfrm>
            <a:off x="2176272" y="1225296"/>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88720"/>
            <a:ext cx="8421624" cy="283464"/>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宏观与微观研究均发现显著的潜在迁移收益</a:t>
            </a:r>
          </a:p>
        </p:txBody>
      </p:sp>
      <p:sp>
        <p:nvSpPr>
          <p:cNvPr id="9" name="Rectangle 8"/>
          <p:cNvSpPr/>
          <p:nvPr/>
        </p:nvSpPr>
        <p:spPr>
          <a:xfrm>
            <a:off x="2176272" y="1700784"/>
            <a:ext cx="4434840" cy="1874519"/>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76272" y="1700784"/>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1764792"/>
            <a:ext cx="4215383" cy="267970"/>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宏观证据 · </a:t>
            </a:r>
            <a:r>
              <a:rPr i="1">
                <a:latin typeface="Times New Roman" panose="02020503050405090304" pitchFamily="18" charset="0"/>
                <a:cs typeface="Times New Roman" panose="02020503050405090304" pitchFamily="18" charset="0"/>
              </a:rPr>
              <a:t>Gollin et al. (2014)</a:t>
            </a:r>
            <a:endParaRPr i="1">
              <a:latin typeface="Times New Roman" panose="02020503050405090304" pitchFamily="18" charset="0"/>
              <a:cs typeface="Times New Roman" panose="02020503050405090304" pitchFamily="18" charset="0"/>
            </a:endParaRPr>
          </a:p>
        </p:txBody>
      </p:sp>
      <p:sp>
        <p:nvSpPr>
          <p:cNvPr id="12" name="TextBox 11"/>
          <p:cNvSpPr txBox="1"/>
          <p:nvPr/>
        </p:nvSpPr>
        <p:spPr>
          <a:xfrm>
            <a:off x="2295144" y="2157984"/>
            <a:ext cx="4197096" cy="78613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rPr sz="1600"/>
              <a:t>非农业（城市）劳动者生产率约为农业（农村）劳动者的</a:t>
            </a:r>
            <a:r>
              <a:rPr sz="1600">
                <a:latin typeface="Times New Roman" panose="02020503050405090304" pitchFamily="18" charset="0"/>
                <a:cs typeface="Times New Roman" panose="02020503050405090304" pitchFamily="18" charset="0"/>
              </a:rPr>
              <a:t> 4 </a:t>
            </a:r>
            <a:r>
              <a:rPr sz="1600"/>
              <a:t>倍。</a:t>
            </a:r>
            <a:endParaRPr sz="1600"/>
          </a:p>
          <a:p>
            <a:pPr>
              <a:spcAft>
                <a:spcPts val="200"/>
              </a:spcAft>
              <a:defRPr sz="1500" b="0" i="0">
                <a:solidFill>
                  <a:srgbClr val="232323"/>
                </a:solidFill>
                <a:latin typeface="微软雅黑"/>
              </a:defRPr>
            </a:pPr>
            <a:endParaRPr sz="1600"/>
          </a:p>
        </p:txBody>
      </p:sp>
      <p:sp>
        <p:nvSpPr>
          <p:cNvPr id="13" name="Rectangle 12"/>
          <p:cNvSpPr/>
          <p:nvPr/>
        </p:nvSpPr>
        <p:spPr>
          <a:xfrm>
            <a:off x="6803136" y="1700784"/>
            <a:ext cx="4434840" cy="1874519"/>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03136" y="1700784"/>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4" y="1764792"/>
            <a:ext cx="4215383" cy="267970"/>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微观证据 · </a:t>
            </a:r>
            <a:r>
              <a:rPr i="1">
                <a:latin typeface="Times New Roman" panose="02020503050405090304" pitchFamily="18" charset="0"/>
                <a:cs typeface="Times New Roman" panose="02020503050405090304" pitchFamily="18" charset="0"/>
              </a:rPr>
              <a:t>Bryan et al. (2014)</a:t>
            </a:r>
            <a:endParaRPr i="1">
              <a:latin typeface="Times New Roman" panose="02020503050405090304" pitchFamily="18" charset="0"/>
              <a:cs typeface="Times New Roman" panose="02020503050405090304" pitchFamily="18" charset="0"/>
            </a:endParaRPr>
          </a:p>
        </p:txBody>
      </p:sp>
      <p:sp>
        <p:nvSpPr>
          <p:cNvPr id="16" name="TextBox 15"/>
          <p:cNvSpPr txBox="1"/>
          <p:nvPr/>
        </p:nvSpPr>
        <p:spPr>
          <a:xfrm>
            <a:off x="6922008" y="2157984"/>
            <a:ext cx="4197096" cy="78613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rPr sz="1600"/>
              <a:t>孟加拉国季节性迁移的实验干预使消费提高约 </a:t>
            </a:r>
            <a:r>
              <a:rPr sz="1600">
                <a:latin typeface="Times New Roman" panose="02020503050405090304" pitchFamily="18" charset="0"/>
                <a:cs typeface="Times New Roman" panose="02020503050405090304" pitchFamily="18" charset="0"/>
              </a:rPr>
              <a:t>33%</a:t>
            </a:r>
            <a:r>
              <a:rPr sz="1600"/>
              <a:t>。</a:t>
            </a:r>
            <a:endParaRPr sz="1600"/>
          </a:p>
          <a:p>
            <a:pPr>
              <a:spcAft>
                <a:spcPts val="200"/>
              </a:spcAft>
              <a:defRPr sz="1500" b="0" i="0">
                <a:solidFill>
                  <a:srgbClr val="232323"/>
                </a:solidFill>
                <a:latin typeface="微软雅黑"/>
              </a:defRPr>
            </a:pPr>
            <a:endParaRPr sz="16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1.1</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437515"/>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研究背景：迁移的潜在收益与现有证据</a:t>
            </a:r>
          </a:p>
        </p:txBody>
      </p:sp>
      <p:sp>
        <p:nvSpPr>
          <p:cNvPr id="6" name="TextBox 5"/>
          <p:cNvSpPr txBox="1"/>
          <p:nvPr/>
        </p:nvSpPr>
        <p:spPr>
          <a:xfrm>
            <a:off x="2130552" y="6547104"/>
            <a:ext cx="8778240" cy="164592"/>
          </a:xfrm>
          <a:prstGeom prst="rect">
            <a:avLst/>
          </a:prstGeom>
          <a:noFill/>
        </p:spPr>
        <p:txBody>
          <a:bodyPr wrap="square" lIns="27432" tIns="13716" rIns="27432" bIns="9144">
            <a:spAutoFit/>
          </a:bodyPr>
          <a:lstStyle/>
          <a:p>
            <a:pPr>
              <a:spcAft>
                <a:spcPts val="200"/>
              </a:spcAft>
              <a:defRPr sz="900" b="0" i="0">
                <a:solidFill>
                  <a:srgbClr val="787878"/>
                </a:solidFill>
                <a:latin typeface="微软雅黑"/>
              </a:defRPr>
            </a:pPr>
            <a:r>
              <a:t>Source: Bryan &amp; Morten (2019), Introduction, pp. 2229–2230.</a:t>
            </a:r>
          </a:p>
        </p:txBody>
      </p:sp>
      <p:sp>
        <p:nvSpPr>
          <p:cNvPr id="7" name="Rectangle 6"/>
          <p:cNvSpPr/>
          <p:nvPr/>
        </p:nvSpPr>
        <p:spPr>
          <a:xfrm>
            <a:off x="2176272" y="1225296"/>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88720"/>
            <a:ext cx="8421624" cy="283464"/>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宏观与微观研究均发现显著的潜在迁移收益</a:t>
            </a:r>
          </a:p>
        </p:txBody>
      </p:sp>
      <p:sp>
        <p:nvSpPr>
          <p:cNvPr id="9" name="Rectangle 8"/>
          <p:cNvSpPr/>
          <p:nvPr/>
        </p:nvSpPr>
        <p:spPr>
          <a:xfrm>
            <a:off x="2176272" y="1700784"/>
            <a:ext cx="4434840" cy="1874519"/>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76272" y="1700784"/>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1764792"/>
            <a:ext cx="4215383" cy="267970"/>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宏观证据 · </a:t>
            </a:r>
            <a:r>
              <a:rPr i="1">
                <a:latin typeface="Times New Roman" panose="02020503050405090304" pitchFamily="18" charset="0"/>
                <a:cs typeface="Times New Roman" panose="02020503050405090304" pitchFamily="18" charset="0"/>
              </a:rPr>
              <a:t>Gollin et al. (2014)</a:t>
            </a:r>
            <a:endParaRPr i="1">
              <a:latin typeface="Times New Roman" panose="02020503050405090304" pitchFamily="18" charset="0"/>
              <a:cs typeface="Times New Roman" panose="02020503050405090304" pitchFamily="18" charset="0"/>
            </a:endParaRPr>
          </a:p>
        </p:txBody>
      </p:sp>
      <p:sp>
        <p:nvSpPr>
          <p:cNvPr id="12" name="TextBox 11"/>
          <p:cNvSpPr txBox="1"/>
          <p:nvPr/>
        </p:nvSpPr>
        <p:spPr>
          <a:xfrm>
            <a:off x="2295144" y="2157984"/>
            <a:ext cx="4197096" cy="78613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rPr sz="1600"/>
              <a:t>非农业（城市）劳动者生产率约为农业（农村）劳动者的</a:t>
            </a:r>
            <a:r>
              <a:rPr sz="1600">
                <a:latin typeface="Times New Roman" panose="02020503050405090304" pitchFamily="18" charset="0"/>
                <a:cs typeface="Times New Roman" panose="02020503050405090304" pitchFamily="18" charset="0"/>
              </a:rPr>
              <a:t> 4 </a:t>
            </a:r>
            <a:r>
              <a:rPr sz="1600"/>
              <a:t>倍。</a:t>
            </a:r>
            <a:endParaRPr sz="1600"/>
          </a:p>
          <a:p>
            <a:pPr>
              <a:spcAft>
                <a:spcPts val="200"/>
              </a:spcAft>
              <a:defRPr sz="1500" b="0" i="0">
                <a:solidFill>
                  <a:srgbClr val="232323"/>
                </a:solidFill>
                <a:latin typeface="微软雅黑"/>
              </a:defRPr>
            </a:pPr>
            <a:endParaRPr sz="1600"/>
          </a:p>
        </p:txBody>
      </p:sp>
      <p:sp>
        <p:nvSpPr>
          <p:cNvPr id="13" name="Rectangle 12"/>
          <p:cNvSpPr/>
          <p:nvPr/>
        </p:nvSpPr>
        <p:spPr>
          <a:xfrm>
            <a:off x="6803136" y="1700784"/>
            <a:ext cx="4434840" cy="1874519"/>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03136" y="1700784"/>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4" y="1764792"/>
            <a:ext cx="4215383" cy="267970"/>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微观证据 · </a:t>
            </a:r>
            <a:r>
              <a:rPr i="1">
                <a:latin typeface="Times New Roman" panose="02020503050405090304" pitchFamily="18" charset="0"/>
                <a:cs typeface="Times New Roman" panose="02020503050405090304" pitchFamily="18" charset="0"/>
              </a:rPr>
              <a:t>Bryan et al. (2014)</a:t>
            </a:r>
            <a:endParaRPr i="1">
              <a:latin typeface="Times New Roman" panose="02020503050405090304" pitchFamily="18" charset="0"/>
              <a:cs typeface="Times New Roman" panose="02020503050405090304" pitchFamily="18" charset="0"/>
            </a:endParaRPr>
          </a:p>
        </p:txBody>
      </p:sp>
      <p:sp>
        <p:nvSpPr>
          <p:cNvPr id="16" name="TextBox 15"/>
          <p:cNvSpPr txBox="1"/>
          <p:nvPr/>
        </p:nvSpPr>
        <p:spPr>
          <a:xfrm>
            <a:off x="6922008" y="2157984"/>
            <a:ext cx="4197096" cy="78613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rPr sz="1600"/>
              <a:t>孟加拉国季节性迁移的实验干预使消费提高约 </a:t>
            </a:r>
            <a:r>
              <a:rPr sz="1600">
                <a:latin typeface="Times New Roman" panose="02020503050405090304" pitchFamily="18" charset="0"/>
                <a:cs typeface="Times New Roman" panose="02020503050405090304" pitchFamily="18" charset="0"/>
              </a:rPr>
              <a:t>33%</a:t>
            </a:r>
            <a:r>
              <a:rPr sz="1600"/>
              <a:t>。</a:t>
            </a:r>
            <a:endParaRPr sz="1600"/>
          </a:p>
          <a:p>
            <a:pPr>
              <a:spcAft>
                <a:spcPts val="200"/>
              </a:spcAft>
              <a:defRPr sz="1500" b="0" i="0">
                <a:solidFill>
                  <a:srgbClr val="232323"/>
                </a:solidFill>
                <a:latin typeface="微软雅黑"/>
              </a:defRPr>
            </a:pPr>
            <a:endParaRPr sz="1600"/>
          </a:p>
        </p:txBody>
      </p:sp>
      <p:grpSp>
        <p:nvGrpSpPr>
          <p:cNvPr id="25" name="组合 24"/>
          <p:cNvGrpSpPr/>
          <p:nvPr/>
        </p:nvGrpSpPr>
        <p:grpSpPr>
          <a:xfrm>
            <a:off x="2176145" y="3712210"/>
            <a:ext cx="9062085" cy="1663700"/>
            <a:chOff x="3427" y="5846"/>
            <a:chExt cx="14271" cy="2620"/>
          </a:xfrm>
        </p:grpSpPr>
        <p:sp>
          <p:nvSpPr>
            <p:cNvPr id="17" name="Rectangle 16"/>
            <p:cNvSpPr/>
            <p:nvPr/>
          </p:nvSpPr>
          <p:spPr>
            <a:xfrm>
              <a:off x="3427" y="5904"/>
              <a:ext cx="151" cy="331"/>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1" y="5846"/>
              <a:ext cx="13262" cy="446"/>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为何不能直接据此计算总体收益？</a:t>
              </a:r>
            </a:p>
          </p:txBody>
        </p:sp>
        <p:sp>
          <p:nvSpPr>
            <p:cNvPr id="19" name="Rectangle 18"/>
            <p:cNvSpPr/>
            <p:nvPr/>
          </p:nvSpPr>
          <p:spPr>
            <a:xfrm>
              <a:off x="3427" y="6566"/>
              <a:ext cx="6984" cy="1901"/>
            </a:xfrm>
            <a:prstGeom prst="rect">
              <a:avLst/>
            </a:prstGeom>
            <a:solidFill>
              <a:srgbClr val="F1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3" y="6768"/>
              <a:ext cx="6523" cy="1469"/>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t>宏观研究：未充分控制不可观测的劳动者选择；集中于农业—非农业或城乡差异。</a:t>
              </a:r>
            </a:p>
          </p:txBody>
        </p:sp>
        <p:sp>
          <p:nvSpPr>
            <p:cNvPr id="21" name="Rectangle 20"/>
            <p:cNvSpPr/>
            <p:nvPr/>
          </p:nvSpPr>
          <p:spPr>
            <a:xfrm>
              <a:off x="10714" y="6566"/>
              <a:ext cx="6984" cy="1901"/>
            </a:xfrm>
            <a:prstGeom prst="rect">
              <a:avLst/>
            </a:prstGeom>
            <a:solidFill>
              <a:srgbClr val="F1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2" name="TextBox 21"/>
          <p:cNvSpPr txBox="1"/>
          <p:nvPr/>
        </p:nvSpPr>
        <p:spPr>
          <a:xfrm>
            <a:off x="6940296" y="4297680"/>
            <a:ext cx="4123944" cy="932688"/>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t>微观研究：特定地区和季节性迁移的实验结果，难以直接外推全国长期配置收益。</a:t>
            </a:r>
          </a:p>
        </p:txBody>
      </p:sp>
    </p:spTree>
  </p:cSld>
  <p:clrMapOvr>
    <a:masterClrMapping/>
  </p:clrMapOvr>
  <p:timing>
    <p:tnLst>
      <p:par>
        <p:cTn id="1" dur="indefinite" restart="never" nodeType="tmRoot"/>
      </p:par>
    </p:tnLst>
    <p:bldLst>
      <p:bldP spid="22" grpId="0"/>
      <p:bldP spid="22" grpId="1"/>
      <p:bldP spid="6" grpId="0"/>
      <p:bldP spid="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1.1</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437515"/>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研究背景：迁移的潜在收益与现有证据</a:t>
            </a:r>
          </a:p>
        </p:txBody>
      </p:sp>
      <p:sp>
        <p:nvSpPr>
          <p:cNvPr id="6" name="TextBox 5"/>
          <p:cNvSpPr txBox="1"/>
          <p:nvPr/>
        </p:nvSpPr>
        <p:spPr>
          <a:xfrm>
            <a:off x="2130552" y="6547104"/>
            <a:ext cx="8778240" cy="164592"/>
          </a:xfrm>
          <a:prstGeom prst="rect">
            <a:avLst/>
          </a:prstGeom>
          <a:noFill/>
        </p:spPr>
        <p:txBody>
          <a:bodyPr wrap="square" lIns="27432" tIns="13716" rIns="27432" bIns="9144">
            <a:spAutoFit/>
          </a:bodyPr>
          <a:lstStyle/>
          <a:p>
            <a:pPr>
              <a:spcAft>
                <a:spcPts val="200"/>
              </a:spcAft>
              <a:defRPr sz="900" b="0" i="0">
                <a:solidFill>
                  <a:srgbClr val="787878"/>
                </a:solidFill>
                <a:latin typeface="微软雅黑"/>
              </a:defRPr>
            </a:pPr>
            <a:r>
              <a:t>Source: Bryan &amp; Morten (2019), Introduction, pp. 2229–2230.</a:t>
            </a:r>
          </a:p>
        </p:txBody>
      </p:sp>
      <p:sp>
        <p:nvSpPr>
          <p:cNvPr id="7" name="Rectangle 6"/>
          <p:cNvSpPr/>
          <p:nvPr/>
        </p:nvSpPr>
        <p:spPr>
          <a:xfrm>
            <a:off x="2176272" y="1225296"/>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88720"/>
            <a:ext cx="8421624" cy="283464"/>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宏观与微观研究均发现显著的潜在迁移收益</a:t>
            </a:r>
          </a:p>
        </p:txBody>
      </p:sp>
      <p:sp>
        <p:nvSpPr>
          <p:cNvPr id="9" name="Rectangle 8"/>
          <p:cNvSpPr/>
          <p:nvPr/>
        </p:nvSpPr>
        <p:spPr>
          <a:xfrm>
            <a:off x="2176272" y="1700784"/>
            <a:ext cx="4434840" cy="1874519"/>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76272" y="1700784"/>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1764792"/>
            <a:ext cx="4215383" cy="267970"/>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宏观证据 · </a:t>
            </a:r>
            <a:r>
              <a:rPr i="1">
                <a:latin typeface="Times New Roman" panose="02020503050405090304" pitchFamily="18" charset="0"/>
                <a:cs typeface="Times New Roman" panose="02020503050405090304" pitchFamily="18" charset="0"/>
              </a:rPr>
              <a:t>Gollin et al. (2014)</a:t>
            </a:r>
            <a:endParaRPr i="1">
              <a:latin typeface="Times New Roman" panose="02020503050405090304" pitchFamily="18" charset="0"/>
              <a:cs typeface="Times New Roman" panose="02020503050405090304" pitchFamily="18" charset="0"/>
            </a:endParaRPr>
          </a:p>
        </p:txBody>
      </p:sp>
      <p:sp>
        <p:nvSpPr>
          <p:cNvPr id="12" name="TextBox 11"/>
          <p:cNvSpPr txBox="1"/>
          <p:nvPr/>
        </p:nvSpPr>
        <p:spPr>
          <a:xfrm>
            <a:off x="2295144" y="2157984"/>
            <a:ext cx="4197096" cy="78613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rPr sz="1600"/>
              <a:t>非农业（城市）劳动者生产率约为农业（农村）劳动者的</a:t>
            </a:r>
            <a:r>
              <a:rPr sz="1600">
                <a:latin typeface="Times New Roman" panose="02020503050405090304" pitchFamily="18" charset="0"/>
                <a:cs typeface="Times New Roman" panose="02020503050405090304" pitchFamily="18" charset="0"/>
              </a:rPr>
              <a:t> 4 </a:t>
            </a:r>
            <a:r>
              <a:rPr sz="1600"/>
              <a:t>倍。</a:t>
            </a:r>
            <a:endParaRPr sz="1600"/>
          </a:p>
          <a:p>
            <a:pPr>
              <a:spcAft>
                <a:spcPts val="200"/>
              </a:spcAft>
              <a:defRPr sz="1500" b="0" i="0">
                <a:solidFill>
                  <a:srgbClr val="232323"/>
                </a:solidFill>
                <a:latin typeface="微软雅黑"/>
              </a:defRPr>
            </a:pPr>
            <a:endParaRPr sz="1600"/>
          </a:p>
        </p:txBody>
      </p:sp>
      <p:sp>
        <p:nvSpPr>
          <p:cNvPr id="13" name="Rectangle 12"/>
          <p:cNvSpPr/>
          <p:nvPr/>
        </p:nvSpPr>
        <p:spPr>
          <a:xfrm>
            <a:off x="6803136" y="1700784"/>
            <a:ext cx="4434840" cy="1874519"/>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03136" y="1700784"/>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4" y="1764792"/>
            <a:ext cx="4215383" cy="267970"/>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微观证据 · </a:t>
            </a:r>
            <a:r>
              <a:rPr i="1">
                <a:latin typeface="Times New Roman" panose="02020503050405090304" pitchFamily="18" charset="0"/>
                <a:cs typeface="Times New Roman" panose="02020503050405090304" pitchFamily="18" charset="0"/>
              </a:rPr>
              <a:t>Bryan et al. (2014)</a:t>
            </a:r>
            <a:endParaRPr i="1">
              <a:latin typeface="Times New Roman" panose="02020503050405090304" pitchFamily="18" charset="0"/>
              <a:cs typeface="Times New Roman" panose="02020503050405090304" pitchFamily="18" charset="0"/>
            </a:endParaRPr>
          </a:p>
        </p:txBody>
      </p:sp>
      <p:sp>
        <p:nvSpPr>
          <p:cNvPr id="16" name="TextBox 15"/>
          <p:cNvSpPr txBox="1"/>
          <p:nvPr/>
        </p:nvSpPr>
        <p:spPr>
          <a:xfrm>
            <a:off x="6922008" y="2157984"/>
            <a:ext cx="4197096" cy="78613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rPr sz="1600"/>
              <a:t>孟加拉国季节性迁移的实验干预使消费提高约 </a:t>
            </a:r>
            <a:r>
              <a:rPr sz="1600">
                <a:latin typeface="Times New Roman" panose="02020503050405090304" pitchFamily="18" charset="0"/>
                <a:cs typeface="Times New Roman" panose="02020503050405090304" pitchFamily="18" charset="0"/>
              </a:rPr>
              <a:t>33%</a:t>
            </a:r>
            <a:r>
              <a:rPr sz="1600"/>
              <a:t>。</a:t>
            </a:r>
            <a:endParaRPr sz="1600"/>
          </a:p>
          <a:p>
            <a:pPr>
              <a:spcAft>
                <a:spcPts val="200"/>
              </a:spcAft>
              <a:defRPr sz="1500" b="0" i="0">
                <a:solidFill>
                  <a:srgbClr val="232323"/>
                </a:solidFill>
                <a:latin typeface="微软雅黑"/>
              </a:defRPr>
            </a:pPr>
            <a:endParaRPr sz="1600"/>
          </a:p>
        </p:txBody>
      </p:sp>
      <p:grpSp>
        <p:nvGrpSpPr>
          <p:cNvPr id="25" name="组合 24"/>
          <p:cNvGrpSpPr/>
          <p:nvPr/>
        </p:nvGrpSpPr>
        <p:grpSpPr>
          <a:xfrm>
            <a:off x="2176145" y="3712210"/>
            <a:ext cx="9062085" cy="1663700"/>
            <a:chOff x="3427" y="5846"/>
            <a:chExt cx="14271" cy="2620"/>
          </a:xfrm>
        </p:grpSpPr>
        <p:sp>
          <p:nvSpPr>
            <p:cNvPr id="17" name="Rectangle 16"/>
            <p:cNvSpPr/>
            <p:nvPr/>
          </p:nvSpPr>
          <p:spPr>
            <a:xfrm>
              <a:off x="3427" y="5904"/>
              <a:ext cx="151" cy="331"/>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1" y="5846"/>
              <a:ext cx="13262" cy="446"/>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为何不能直接据此计算总体收益？</a:t>
              </a:r>
            </a:p>
          </p:txBody>
        </p:sp>
        <p:sp>
          <p:nvSpPr>
            <p:cNvPr id="19" name="Rectangle 18"/>
            <p:cNvSpPr/>
            <p:nvPr/>
          </p:nvSpPr>
          <p:spPr>
            <a:xfrm>
              <a:off x="3427" y="6566"/>
              <a:ext cx="6984" cy="1901"/>
            </a:xfrm>
            <a:prstGeom prst="rect">
              <a:avLst/>
            </a:prstGeom>
            <a:solidFill>
              <a:srgbClr val="F1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3" y="6768"/>
              <a:ext cx="6523" cy="1469"/>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t>宏观研究：未充分控制不可观测的劳动者选择；集中于农业—非农业或城乡差异。</a:t>
              </a:r>
            </a:p>
          </p:txBody>
        </p:sp>
        <p:sp>
          <p:nvSpPr>
            <p:cNvPr id="21" name="Rectangle 20"/>
            <p:cNvSpPr/>
            <p:nvPr/>
          </p:nvSpPr>
          <p:spPr>
            <a:xfrm>
              <a:off x="10714" y="6566"/>
              <a:ext cx="6984" cy="1901"/>
            </a:xfrm>
            <a:prstGeom prst="rect">
              <a:avLst/>
            </a:prstGeom>
            <a:solidFill>
              <a:srgbClr val="F1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2" name="TextBox 21"/>
          <p:cNvSpPr txBox="1"/>
          <p:nvPr/>
        </p:nvSpPr>
        <p:spPr>
          <a:xfrm>
            <a:off x="6940296" y="4297680"/>
            <a:ext cx="4123944" cy="932688"/>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t>微观研究：特定地区和季节性迁移的实验结果，难以直接外推全国长期配置收益。</a:t>
            </a:r>
          </a:p>
        </p:txBody>
      </p:sp>
      <p:grpSp>
        <p:nvGrpSpPr>
          <p:cNvPr id="26" name="组合 25"/>
          <p:cNvGrpSpPr/>
          <p:nvPr/>
        </p:nvGrpSpPr>
        <p:grpSpPr>
          <a:xfrm>
            <a:off x="2130425" y="5768975"/>
            <a:ext cx="9089390" cy="532130"/>
            <a:chOff x="3355" y="9085"/>
            <a:chExt cx="14314" cy="838"/>
          </a:xfrm>
        </p:grpSpPr>
        <p:sp>
          <p:nvSpPr>
            <p:cNvPr id="23" name="Rectangle 22"/>
            <p:cNvSpPr/>
            <p:nvPr/>
          </p:nvSpPr>
          <p:spPr>
            <a:xfrm>
              <a:off x="3355" y="9085"/>
              <a:ext cx="14314" cy="838"/>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6" y="9276"/>
              <a:ext cx="13828" cy="456"/>
            </a:xfrm>
            <a:prstGeom prst="rect">
              <a:avLst/>
            </a:prstGeom>
            <a:noFill/>
          </p:spPr>
          <p:txBody>
            <a:bodyPr wrap="square" lIns="27432" tIns="13716" rIns="27432" bIns="9144">
              <a:noAutofit/>
            </a:bodyPr>
            <a:lstStyle/>
            <a:p>
              <a:pPr>
                <a:spcAft>
                  <a:spcPts val="200"/>
                </a:spcAft>
                <a:defRPr sz="1500" b="1" i="0">
                  <a:solidFill>
                    <a:srgbClr val="700066"/>
                  </a:solidFill>
                  <a:latin typeface="微软雅黑"/>
                </a:defRPr>
              </a:pPr>
              <a:r>
                <a:rPr sz="2000"/>
                <a:t>考虑劳动者选择与空间差异后，降低国内迁移壁垒能提高多少总体生产率？</a:t>
              </a:r>
              <a:endParaRPr sz="2000"/>
            </a:p>
          </p:txBody>
        </p:sp>
      </p:grpSp>
    </p:spTree>
  </p:cSld>
  <p:clrMapOvr>
    <a:masterClrMapping/>
  </p:clrMapOvr>
  <p:timing>
    <p:tnLst>
      <p:par>
        <p:cTn id="1" dur="indefinite" restart="never" nodeType="tmRoot"/>
      </p:par>
    </p:tnLst>
    <p:bldLst>
      <p:bldP spid="22" grpId="0"/>
      <p:bldP spid="22" grpId="1"/>
      <p:bldP spid="6" grpId="0"/>
      <p:bldP spid="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1.2</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566928"/>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两个核心观察：迁移收益的机制与前提</a:t>
            </a:r>
          </a:p>
        </p:txBody>
      </p:sp>
      <p:sp>
        <p:nvSpPr>
          <p:cNvPr id="6" name="TextBox 5"/>
          <p:cNvSpPr txBox="1"/>
          <p:nvPr/>
        </p:nvSpPr>
        <p:spPr>
          <a:xfrm>
            <a:off x="2130552" y="6547104"/>
            <a:ext cx="8778240" cy="164592"/>
          </a:xfrm>
          <a:prstGeom prst="rect">
            <a:avLst/>
          </a:prstGeom>
          <a:noFill/>
        </p:spPr>
        <p:txBody>
          <a:bodyPr wrap="square" lIns="27432" tIns="13716" rIns="27432" bIns="9144">
            <a:spAutoFit/>
          </a:bodyPr>
          <a:lstStyle/>
          <a:p>
            <a:pPr>
              <a:spcAft>
                <a:spcPts val="200"/>
              </a:spcAft>
              <a:defRPr sz="900" b="0" i="0">
                <a:solidFill>
                  <a:srgbClr val="787878"/>
                </a:solidFill>
                <a:latin typeface="微软雅黑"/>
              </a:defRPr>
            </a:pPr>
            <a:r>
              <a:t>Source: Bryan &amp; Morten (2019), Introduction, p. 2230.</a:t>
            </a:r>
          </a:p>
        </p:txBody>
      </p:sp>
      <p:sp>
        <p:nvSpPr>
          <p:cNvPr id="7" name="Rectangle 6"/>
          <p:cNvSpPr/>
          <p:nvPr/>
        </p:nvSpPr>
        <p:spPr>
          <a:xfrm>
            <a:off x="2176272" y="1225296"/>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88720"/>
            <a:ext cx="8421624" cy="283210"/>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rPr>
                <a:latin typeface="Times New Roman" panose="02020503050405090304" pitchFamily="18" charset="0"/>
                <a:cs typeface="Times New Roman" panose="02020503050405090304" pitchFamily="18" charset="0"/>
              </a:rPr>
              <a:t>Observation 1</a:t>
            </a:r>
            <a:r>
              <a:t>：迁移可以通过两种机制提高生产率</a:t>
            </a:r>
          </a:p>
        </p:txBody>
      </p:sp>
      <p:sp>
        <p:nvSpPr>
          <p:cNvPr id="9" name="Rectangle 8"/>
          <p:cNvSpPr/>
          <p:nvPr/>
        </p:nvSpPr>
        <p:spPr>
          <a:xfrm>
            <a:off x="2176272" y="1700784"/>
            <a:ext cx="4434840" cy="1572768"/>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76272" y="1700784"/>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1764792"/>
            <a:ext cx="4215383" cy="267970"/>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rPr>
                <a:latin typeface="Times New Roman" panose="02020503050405090304" pitchFamily="18" charset="0"/>
                <a:cs typeface="Times New Roman" panose="02020503050405090304" pitchFamily="18" charset="0"/>
              </a:rPr>
              <a:t>Sorting</a:t>
            </a:r>
            <a:r>
              <a:t> · 分选效应</a:t>
            </a:r>
          </a:p>
        </p:txBody>
      </p:sp>
      <p:sp>
        <p:nvSpPr>
          <p:cNvPr id="12" name="TextBox 11"/>
          <p:cNvSpPr txBox="1"/>
          <p:nvPr/>
        </p:nvSpPr>
        <p:spPr>
          <a:xfrm>
            <a:off x="2295144" y="2157984"/>
            <a:ext cx="4197096" cy="48387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t>个人迁往自身生产率更高的地区，使劳动者与地点的比较优势更有效匹配</a:t>
            </a:r>
          </a:p>
        </p:txBody>
      </p:sp>
      <p:sp>
        <p:nvSpPr>
          <p:cNvPr id="13" name="Rectangle 12"/>
          <p:cNvSpPr/>
          <p:nvPr/>
        </p:nvSpPr>
        <p:spPr>
          <a:xfrm>
            <a:off x="6803136" y="1700784"/>
            <a:ext cx="4434840" cy="1572768"/>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03136" y="1700784"/>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4" y="1764792"/>
            <a:ext cx="4215383" cy="267970"/>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rPr>
                <a:latin typeface="Times New Roman" panose="02020503050405090304" pitchFamily="18" charset="0"/>
                <a:cs typeface="Times New Roman" panose="02020503050405090304" pitchFamily="18" charset="0"/>
              </a:rPr>
              <a:t>Agglomeration</a:t>
            </a:r>
            <a:r>
              <a:t> · 集聚效应</a:t>
            </a:r>
          </a:p>
        </p:txBody>
      </p:sp>
      <p:sp>
        <p:nvSpPr>
          <p:cNvPr id="16" name="TextBox 15"/>
          <p:cNvSpPr txBox="1"/>
          <p:nvPr/>
        </p:nvSpPr>
        <p:spPr>
          <a:xfrm>
            <a:off x="6922008" y="2157984"/>
            <a:ext cx="4197096" cy="48387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t>更多劳动力配置到基础生产率更高的地区；人口集聚也可能带来正外部性</a:t>
            </a:r>
          </a:p>
        </p:txBody>
      </p:sp>
      <p:grpSp>
        <p:nvGrpSpPr>
          <p:cNvPr id="26" name="组合 25"/>
          <p:cNvGrpSpPr/>
          <p:nvPr/>
        </p:nvGrpSpPr>
        <p:grpSpPr>
          <a:xfrm>
            <a:off x="2176272" y="3867785"/>
            <a:ext cx="9061704" cy="1554479"/>
            <a:chOff x="3427" y="5544"/>
            <a:chExt cx="14270" cy="2448"/>
          </a:xfrm>
        </p:grpSpPr>
        <p:sp>
          <p:nvSpPr>
            <p:cNvPr id="19" name="Rectangle 18"/>
            <p:cNvSpPr/>
            <p:nvPr/>
          </p:nvSpPr>
          <p:spPr>
            <a:xfrm>
              <a:off x="3427" y="6264"/>
              <a:ext cx="14270" cy="1728"/>
            </a:xfrm>
            <a:prstGeom prst="rect">
              <a:avLst/>
            </a:prstGeom>
            <a:solidFill>
              <a:srgbClr val="F1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5" name="组合 24"/>
            <p:cNvGrpSpPr/>
            <p:nvPr/>
          </p:nvGrpSpPr>
          <p:grpSpPr>
            <a:xfrm>
              <a:off x="3427" y="5544"/>
              <a:ext cx="13968" cy="1760"/>
              <a:chOff x="3427" y="5544"/>
              <a:chExt cx="13968" cy="1760"/>
            </a:xfrm>
          </p:grpSpPr>
          <p:sp>
            <p:nvSpPr>
              <p:cNvPr id="17" name="Rectangle 16"/>
              <p:cNvSpPr/>
              <p:nvPr/>
            </p:nvSpPr>
            <p:spPr>
              <a:xfrm>
                <a:off x="3427" y="5602"/>
                <a:ext cx="151" cy="331"/>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1" y="5544"/>
                <a:ext cx="13262" cy="446"/>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rPr>
                    <a:latin typeface="Times New Roman" panose="02020503050405090304" pitchFamily="18" charset="0"/>
                    <a:cs typeface="Times New Roman" panose="02020503050405090304" pitchFamily="18" charset="0"/>
                  </a:rPr>
                  <a:t>Observation 2</a:t>
                </a:r>
                <a:r>
                  <a:t>：没有现存约束，额外鼓励迁移不会创造产出</a:t>
                </a:r>
              </a:p>
            </p:txBody>
          </p:sp>
          <p:sp>
            <p:nvSpPr>
              <p:cNvPr id="20" name="TextBox 19"/>
              <p:cNvSpPr txBox="1"/>
              <p:nvPr/>
            </p:nvSpPr>
            <p:spPr>
              <a:xfrm>
                <a:off x="3715" y="6494"/>
                <a:ext cx="13680" cy="810"/>
              </a:xfrm>
              <a:prstGeom prst="rect">
                <a:avLst/>
              </a:prstGeom>
              <a:noFill/>
            </p:spPr>
            <p:txBody>
              <a:bodyPr wrap="square" lIns="27432" tIns="13716" rIns="27432" bIns="9144">
                <a:spAutoFit/>
              </a:bodyPr>
              <a:lstStyle/>
              <a:p>
                <a:pPr>
                  <a:spcAft>
                    <a:spcPts val="200"/>
                  </a:spcAft>
                  <a:defRPr sz="1600" b="0" i="0">
                    <a:solidFill>
                      <a:srgbClr val="232323"/>
                    </a:solidFill>
                    <a:latin typeface="微软雅黑"/>
                  </a:defRPr>
                </a:pPr>
                <a:r>
                  <a:t>不存在迁移约束、地区便利程度差异时 → 劳动者选择产出最大化的地点 → 进一步促进迁移不会增加总产出</a:t>
                </a: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1.3</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437515"/>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理论框架：一般均衡</a:t>
            </a:r>
            <a:r>
              <a:rPr b="0">
                <a:latin typeface="Times New Roman" panose="02020503050405090304" pitchFamily="18" charset="0"/>
                <a:cs typeface="Times New Roman" panose="02020503050405090304" pitchFamily="18" charset="0"/>
              </a:rPr>
              <a:t> Roy</a:t>
            </a:r>
            <a:r>
              <a:t> 模型与两类迁移约束</a:t>
            </a:r>
          </a:p>
        </p:txBody>
      </p:sp>
      <p:sp>
        <p:nvSpPr>
          <p:cNvPr id="6" name="TextBox 5"/>
          <p:cNvSpPr txBox="1"/>
          <p:nvPr/>
        </p:nvSpPr>
        <p:spPr>
          <a:xfrm>
            <a:off x="2130552" y="6547104"/>
            <a:ext cx="8778240" cy="164592"/>
          </a:xfrm>
          <a:prstGeom prst="rect">
            <a:avLst/>
          </a:prstGeom>
          <a:noFill/>
        </p:spPr>
        <p:txBody>
          <a:bodyPr wrap="square" lIns="27432" tIns="13716" rIns="27432" bIns="9144">
            <a:spAutoFit/>
          </a:bodyPr>
          <a:lstStyle/>
          <a:p>
            <a:pPr>
              <a:spcAft>
                <a:spcPts val="200"/>
              </a:spcAft>
              <a:defRPr sz="900" b="0" i="0">
                <a:solidFill>
                  <a:srgbClr val="787878"/>
                </a:solidFill>
                <a:latin typeface="微软雅黑"/>
              </a:defRPr>
            </a:pPr>
            <a:r>
              <a:t>Source: Bryan &amp; Morten (2019), Introduction, pp. 2230–2231.</a:t>
            </a:r>
          </a:p>
        </p:txBody>
      </p:sp>
      <p:sp>
        <p:nvSpPr>
          <p:cNvPr id="7" name="Rectangle 6"/>
          <p:cNvSpPr/>
          <p:nvPr/>
        </p:nvSpPr>
        <p:spPr>
          <a:xfrm>
            <a:off x="2176272" y="1197864"/>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61288"/>
            <a:ext cx="8421624" cy="283210"/>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rPr>
                <a:latin typeface="Times New Roman" panose="02020503050405090304" pitchFamily="18" charset="0"/>
                <a:cs typeface="Times New Roman" panose="02020503050405090304" pitchFamily="18" charset="0"/>
              </a:rPr>
              <a:t>General Equilibrium Roy Model</a:t>
            </a:r>
            <a:r>
              <a:t>：决定谁迁往哪里？</a:t>
            </a:r>
          </a:p>
        </p:txBody>
      </p:sp>
      <p:sp>
        <p:nvSpPr>
          <p:cNvPr id="9" name="Rectangle 8"/>
          <p:cNvSpPr/>
          <p:nvPr/>
        </p:nvSpPr>
        <p:spPr>
          <a:xfrm>
            <a:off x="2176272" y="1627632"/>
            <a:ext cx="9061704" cy="731520"/>
          </a:xfrm>
          <a:prstGeom prst="rect">
            <a:avLst/>
          </a:prstGeom>
          <a:solidFill>
            <a:srgbClr val="F1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737360"/>
            <a:ext cx="8732520" cy="514350"/>
          </a:xfrm>
          <a:prstGeom prst="rect">
            <a:avLst/>
          </a:prstGeom>
          <a:noFill/>
        </p:spPr>
        <p:txBody>
          <a:bodyPr wrap="square" lIns="27432" tIns="13716" rIns="27432" bIns="9144">
            <a:spAutoFit/>
          </a:bodyPr>
          <a:lstStyle/>
          <a:p>
            <a:pPr>
              <a:spcAft>
                <a:spcPts val="200"/>
              </a:spcAft>
              <a:defRPr sz="1600" b="0" i="0">
                <a:solidFill>
                  <a:srgbClr val="232323"/>
                </a:solidFill>
                <a:latin typeface="微软雅黑"/>
              </a:defRPr>
            </a:pPr>
            <a:r>
              <a:t>劳动者具有地点特定的个体生产率；不同地区具有不同的总体生产率；工资与人口配置在一般均衡中调整</a:t>
            </a:r>
          </a:p>
        </p:txBody>
      </p:sp>
      <p:grpSp>
        <p:nvGrpSpPr>
          <p:cNvPr id="31" name="组合 30"/>
          <p:cNvGrpSpPr/>
          <p:nvPr/>
        </p:nvGrpSpPr>
        <p:grpSpPr>
          <a:xfrm>
            <a:off x="2176272" y="2533015"/>
            <a:ext cx="9061704" cy="2102993"/>
            <a:chOff x="3427" y="3989"/>
            <a:chExt cx="14270" cy="3312"/>
          </a:xfrm>
        </p:grpSpPr>
        <p:sp>
          <p:nvSpPr>
            <p:cNvPr id="11" name="Rectangle 10"/>
            <p:cNvSpPr/>
            <p:nvPr/>
          </p:nvSpPr>
          <p:spPr>
            <a:xfrm>
              <a:off x="3427" y="4046"/>
              <a:ext cx="151" cy="331"/>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1" y="3989"/>
              <a:ext cx="13262" cy="446"/>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两类</a:t>
              </a:r>
              <a:r>
                <a:rPr>
                  <a:latin typeface="Times New Roman" panose="02020503050405090304" pitchFamily="18" charset="0"/>
                  <a:cs typeface="Times New Roman" panose="02020503050405090304" pitchFamily="18" charset="0"/>
                </a:rPr>
                <a:t> Mobility Constraints：</a:t>
              </a:r>
              <a:r>
                <a:t>阻碍产出最大化的空间配置</a:t>
              </a:r>
            </a:p>
          </p:txBody>
        </p:sp>
        <p:sp>
          <p:nvSpPr>
            <p:cNvPr id="13" name="Rectangle 12"/>
            <p:cNvSpPr/>
            <p:nvPr/>
          </p:nvSpPr>
          <p:spPr>
            <a:xfrm>
              <a:off x="3427" y="4666"/>
              <a:ext cx="6984" cy="2635"/>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7" y="4666"/>
              <a:ext cx="6984" cy="547"/>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0" y="4766"/>
              <a:ext cx="6638" cy="410"/>
            </a:xfrm>
            <a:prstGeom prst="rect">
              <a:avLst/>
            </a:prstGeom>
            <a:noFill/>
          </p:spPr>
          <p:txBody>
            <a:bodyPr wrap="square" lIns="27432" tIns="13716" rIns="27432" bIns="9144">
              <a:spAutoFit/>
            </a:bodyPr>
            <a:lstStyle/>
            <a:p>
              <a:pPr>
                <a:spcAft>
                  <a:spcPts val="200"/>
                </a:spcAft>
                <a:defRPr sz="1550" b="1" i="0">
                  <a:solidFill>
                    <a:srgbClr val="FFFFFF"/>
                  </a:solidFill>
                  <a:latin typeface="微软雅黑"/>
                </a:defRPr>
              </a:pPr>
              <a:r>
                <a:rPr>
                  <a:latin typeface="Times New Roman" panose="02020503050405090304" pitchFamily="18" charset="0"/>
                  <a:cs typeface="Times New Roman" panose="02020503050405090304" pitchFamily="18" charset="0"/>
                </a:rPr>
                <a:t>Movement Costs </a:t>
              </a:r>
              <a:r>
                <a:t>· 迁移成本</a:t>
              </a:r>
            </a:p>
          </p:txBody>
        </p:sp>
        <p:sp>
          <p:nvSpPr>
            <p:cNvPr id="16" name="TextBox 15"/>
            <p:cNvSpPr txBox="1"/>
            <p:nvPr/>
          </p:nvSpPr>
          <p:spPr>
            <a:xfrm>
              <a:off x="3614" y="5386"/>
              <a:ext cx="6610" cy="778"/>
            </a:xfrm>
            <a:prstGeom prst="rect">
              <a:avLst/>
            </a:prstGeom>
            <a:noFill/>
          </p:spPr>
          <p:txBody>
            <a:bodyPr wrap="square" lIns="27432" tIns="13716" rIns="27432" bIns="9144">
              <a:spAutoFit/>
            </a:bodyPr>
            <a:lstStyle/>
            <a:p>
              <a:pPr>
                <a:spcAft>
                  <a:spcPts val="200"/>
                </a:spcAft>
                <a:defRPr sz="1450" b="0" i="0">
                  <a:solidFill>
                    <a:srgbClr val="232323"/>
                  </a:solidFill>
                  <a:latin typeface="微软雅黑"/>
                </a:defRPr>
              </a:pPr>
              <a:r>
                <a:t>离开出生地需要更高工资补偿</a:t>
              </a:r>
            </a:p>
            <a:p>
              <a:pPr>
                <a:spcAft>
                  <a:spcPts val="200"/>
                </a:spcAft>
                <a:defRPr sz="1450" b="0" i="0">
                  <a:solidFill>
                    <a:srgbClr val="232323"/>
                  </a:solidFill>
                  <a:latin typeface="微软雅黑"/>
                </a:defRPr>
              </a:pPr>
              <a:r>
                <a:t>阻碍迁出，强化留在家乡的倾向</a:t>
              </a:r>
            </a:p>
          </p:txBody>
        </p:sp>
        <p:sp>
          <p:nvSpPr>
            <p:cNvPr id="17" name="Rectangle 16"/>
            <p:cNvSpPr/>
            <p:nvPr/>
          </p:nvSpPr>
          <p:spPr>
            <a:xfrm>
              <a:off x="10714" y="4666"/>
              <a:ext cx="6984" cy="2635"/>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714" y="4666"/>
              <a:ext cx="6984" cy="547"/>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86" y="4766"/>
              <a:ext cx="6638" cy="398"/>
            </a:xfrm>
            <a:prstGeom prst="rect">
              <a:avLst/>
            </a:prstGeom>
            <a:noFill/>
          </p:spPr>
          <p:txBody>
            <a:bodyPr wrap="square" lIns="27432" tIns="13716" rIns="27432" bIns="9144">
              <a:spAutoFit/>
            </a:bodyPr>
            <a:lstStyle/>
            <a:p>
              <a:pPr>
                <a:spcAft>
                  <a:spcPts val="200"/>
                </a:spcAft>
                <a:defRPr sz="1500" b="1" i="0">
                  <a:solidFill>
                    <a:srgbClr val="FFFFFF"/>
                  </a:solidFill>
                  <a:latin typeface="微软雅黑"/>
                </a:defRPr>
              </a:pPr>
              <a:r>
                <a:rPr>
                  <a:latin typeface="Times New Roman" panose="02020503050405090304" pitchFamily="18" charset="0"/>
                  <a:cs typeface="Times New Roman" panose="02020503050405090304" pitchFamily="18" charset="0"/>
                </a:rPr>
                <a:t>Amenity Differentials </a:t>
              </a:r>
              <a:r>
                <a:t>· 便利程度差异</a:t>
              </a:r>
            </a:p>
          </p:txBody>
        </p:sp>
        <p:sp>
          <p:nvSpPr>
            <p:cNvPr id="20" name="TextBox 19"/>
            <p:cNvSpPr txBox="1"/>
            <p:nvPr/>
          </p:nvSpPr>
          <p:spPr>
            <a:xfrm>
              <a:off x="10901" y="5386"/>
              <a:ext cx="6610" cy="737"/>
            </a:xfrm>
            <a:prstGeom prst="rect">
              <a:avLst/>
            </a:prstGeom>
            <a:noFill/>
          </p:spPr>
          <p:txBody>
            <a:bodyPr wrap="square" lIns="27432" tIns="13716" rIns="27432" bIns="9144">
              <a:spAutoFit/>
            </a:bodyPr>
            <a:lstStyle/>
            <a:p>
              <a:pPr>
                <a:spcAft>
                  <a:spcPts val="200"/>
                </a:spcAft>
                <a:defRPr sz="1450" b="0" i="0">
                  <a:solidFill>
                    <a:srgbClr val="232323"/>
                  </a:solidFill>
                  <a:latin typeface="微软雅黑"/>
                </a:defRPr>
              </a:pPr>
              <a:r>
                <a:t>低便利程度地区需要支付更高工资吸引劳动者，形成补偿性工资差异</a:t>
              </a: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1.3</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437515"/>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理论框架：一般均衡</a:t>
            </a:r>
            <a:r>
              <a:rPr b="0">
                <a:latin typeface="Times New Roman" panose="02020503050405090304" pitchFamily="18" charset="0"/>
                <a:cs typeface="Times New Roman" panose="02020503050405090304" pitchFamily="18" charset="0"/>
              </a:rPr>
              <a:t> Roy</a:t>
            </a:r>
            <a:r>
              <a:t> 模型与两类迁移约束</a:t>
            </a:r>
          </a:p>
        </p:txBody>
      </p:sp>
      <p:sp>
        <p:nvSpPr>
          <p:cNvPr id="6" name="TextBox 5"/>
          <p:cNvSpPr txBox="1"/>
          <p:nvPr/>
        </p:nvSpPr>
        <p:spPr>
          <a:xfrm>
            <a:off x="2130552" y="6547104"/>
            <a:ext cx="8778240" cy="164592"/>
          </a:xfrm>
          <a:prstGeom prst="rect">
            <a:avLst/>
          </a:prstGeom>
          <a:noFill/>
        </p:spPr>
        <p:txBody>
          <a:bodyPr wrap="square" lIns="27432" tIns="13716" rIns="27432" bIns="9144">
            <a:spAutoFit/>
          </a:bodyPr>
          <a:lstStyle/>
          <a:p>
            <a:pPr>
              <a:spcAft>
                <a:spcPts val="200"/>
              </a:spcAft>
              <a:defRPr sz="900" b="0" i="0">
                <a:solidFill>
                  <a:srgbClr val="787878"/>
                </a:solidFill>
                <a:latin typeface="微软雅黑"/>
              </a:defRPr>
            </a:pPr>
            <a:r>
              <a:t>Source: Bryan &amp; Morten (2019), Introduction, pp. 2230–2231.</a:t>
            </a:r>
          </a:p>
        </p:txBody>
      </p:sp>
      <p:sp>
        <p:nvSpPr>
          <p:cNvPr id="7" name="Rectangle 6"/>
          <p:cNvSpPr/>
          <p:nvPr/>
        </p:nvSpPr>
        <p:spPr>
          <a:xfrm>
            <a:off x="2176272" y="1197864"/>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61288"/>
            <a:ext cx="8421624" cy="283210"/>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rPr>
                <a:latin typeface="Times New Roman" panose="02020503050405090304" pitchFamily="18" charset="0"/>
                <a:cs typeface="Times New Roman" panose="02020503050405090304" pitchFamily="18" charset="0"/>
              </a:rPr>
              <a:t>General Equilibrium Roy Model</a:t>
            </a:r>
            <a:r>
              <a:t>：决定谁迁往哪里？</a:t>
            </a:r>
          </a:p>
        </p:txBody>
      </p:sp>
      <p:sp>
        <p:nvSpPr>
          <p:cNvPr id="9" name="Rectangle 8"/>
          <p:cNvSpPr/>
          <p:nvPr/>
        </p:nvSpPr>
        <p:spPr>
          <a:xfrm>
            <a:off x="2176272" y="1627632"/>
            <a:ext cx="9061704" cy="731520"/>
          </a:xfrm>
          <a:prstGeom prst="rect">
            <a:avLst/>
          </a:prstGeom>
          <a:solidFill>
            <a:srgbClr val="F1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737360"/>
            <a:ext cx="8732520" cy="514350"/>
          </a:xfrm>
          <a:prstGeom prst="rect">
            <a:avLst/>
          </a:prstGeom>
          <a:noFill/>
        </p:spPr>
        <p:txBody>
          <a:bodyPr wrap="square" lIns="27432" tIns="13716" rIns="27432" bIns="9144">
            <a:spAutoFit/>
          </a:bodyPr>
          <a:lstStyle/>
          <a:p>
            <a:pPr>
              <a:spcAft>
                <a:spcPts val="200"/>
              </a:spcAft>
              <a:defRPr sz="1600" b="0" i="0">
                <a:solidFill>
                  <a:srgbClr val="232323"/>
                </a:solidFill>
                <a:latin typeface="微软雅黑"/>
              </a:defRPr>
            </a:pPr>
            <a:r>
              <a:t>劳动者具有地点特定的个体生产率；不同地区具有不同的总体生产率；工资与人口配置在一般均衡中调整</a:t>
            </a:r>
          </a:p>
        </p:txBody>
      </p:sp>
      <p:grpSp>
        <p:nvGrpSpPr>
          <p:cNvPr id="31" name="组合 30"/>
          <p:cNvGrpSpPr/>
          <p:nvPr/>
        </p:nvGrpSpPr>
        <p:grpSpPr>
          <a:xfrm>
            <a:off x="2176272" y="2533015"/>
            <a:ext cx="9061704" cy="2102993"/>
            <a:chOff x="3427" y="3989"/>
            <a:chExt cx="14270" cy="3312"/>
          </a:xfrm>
        </p:grpSpPr>
        <p:sp>
          <p:nvSpPr>
            <p:cNvPr id="11" name="Rectangle 10"/>
            <p:cNvSpPr/>
            <p:nvPr/>
          </p:nvSpPr>
          <p:spPr>
            <a:xfrm>
              <a:off x="3427" y="4046"/>
              <a:ext cx="151" cy="331"/>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1" y="3989"/>
              <a:ext cx="13262" cy="446"/>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两类</a:t>
              </a:r>
              <a:r>
                <a:rPr>
                  <a:latin typeface="Times New Roman" panose="02020503050405090304" pitchFamily="18" charset="0"/>
                  <a:cs typeface="Times New Roman" panose="02020503050405090304" pitchFamily="18" charset="0"/>
                </a:rPr>
                <a:t> Mobility Constraints：</a:t>
              </a:r>
              <a:r>
                <a:t>阻碍产出最大化的空间配置</a:t>
              </a:r>
            </a:p>
          </p:txBody>
        </p:sp>
        <p:sp>
          <p:nvSpPr>
            <p:cNvPr id="13" name="Rectangle 12"/>
            <p:cNvSpPr/>
            <p:nvPr/>
          </p:nvSpPr>
          <p:spPr>
            <a:xfrm>
              <a:off x="3427" y="4666"/>
              <a:ext cx="6984" cy="2635"/>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7" y="4666"/>
              <a:ext cx="6984" cy="547"/>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0" y="4766"/>
              <a:ext cx="6638" cy="410"/>
            </a:xfrm>
            <a:prstGeom prst="rect">
              <a:avLst/>
            </a:prstGeom>
            <a:noFill/>
          </p:spPr>
          <p:txBody>
            <a:bodyPr wrap="square" lIns="27432" tIns="13716" rIns="27432" bIns="9144">
              <a:spAutoFit/>
            </a:bodyPr>
            <a:lstStyle/>
            <a:p>
              <a:pPr>
                <a:spcAft>
                  <a:spcPts val="200"/>
                </a:spcAft>
                <a:defRPr sz="1550" b="1" i="0">
                  <a:solidFill>
                    <a:srgbClr val="FFFFFF"/>
                  </a:solidFill>
                  <a:latin typeface="微软雅黑"/>
                </a:defRPr>
              </a:pPr>
              <a:r>
                <a:rPr>
                  <a:latin typeface="Times New Roman" panose="02020503050405090304" pitchFamily="18" charset="0"/>
                  <a:cs typeface="Times New Roman" panose="02020503050405090304" pitchFamily="18" charset="0"/>
                </a:rPr>
                <a:t>Movement Costs </a:t>
              </a:r>
              <a:r>
                <a:t>· 迁移成本</a:t>
              </a:r>
            </a:p>
          </p:txBody>
        </p:sp>
        <p:sp>
          <p:nvSpPr>
            <p:cNvPr id="16" name="TextBox 15"/>
            <p:cNvSpPr txBox="1"/>
            <p:nvPr/>
          </p:nvSpPr>
          <p:spPr>
            <a:xfrm>
              <a:off x="3614" y="5386"/>
              <a:ext cx="6610" cy="778"/>
            </a:xfrm>
            <a:prstGeom prst="rect">
              <a:avLst/>
            </a:prstGeom>
            <a:noFill/>
          </p:spPr>
          <p:txBody>
            <a:bodyPr wrap="square" lIns="27432" tIns="13716" rIns="27432" bIns="9144">
              <a:spAutoFit/>
            </a:bodyPr>
            <a:lstStyle/>
            <a:p>
              <a:pPr>
                <a:spcAft>
                  <a:spcPts val="200"/>
                </a:spcAft>
                <a:defRPr sz="1450" b="0" i="0">
                  <a:solidFill>
                    <a:srgbClr val="232323"/>
                  </a:solidFill>
                  <a:latin typeface="微软雅黑"/>
                </a:defRPr>
              </a:pPr>
              <a:r>
                <a:t>离开出生地需要更高工资补偿</a:t>
              </a:r>
            </a:p>
            <a:p>
              <a:pPr>
                <a:spcAft>
                  <a:spcPts val="200"/>
                </a:spcAft>
                <a:defRPr sz="1450" b="0" i="0">
                  <a:solidFill>
                    <a:srgbClr val="232323"/>
                  </a:solidFill>
                  <a:latin typeface="微软雅黑"/>
                </a:defRPr>
              </a:pPr>
              <a:r>
                <a:t>阻碍迁出，强化留在家乡的倾向</a:t>
              </a:r>
            </a:p>
          </p:txBody>
        </p:sp>
        <p:sp>
          <p:nvSpPr>
            <p:cNvPr id="17" name="Rectangle 16"/>
            <p:cNvSpPr/>
            <p:nvPr/>
          </p:nvSpPr>
          <p:spPr>
            <a:xfrm>
              <a:off x="10714" y="4666"/>
              <a:ext cx="6984" cy="2635"/>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714" y="4666"/>
              <a:ext cx="6984" cy="547"/>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86" y="4766"/>
              <a:ext cx="6638" cy="398"/>
            </a:xfrm>
            <a:prstGeom prst="rect">
              <a:avLst/>
            </a:prstGeom>
            <a:noFill/>
          </p:spPr>
          <p:txBody>
            <a:bodyPr wrap="square" lIns="27432" tIns="13716" rIns="27432" bIns="9144">
              <a:spAutoFit/>
            </a:bodyPr>
            <a:lstStyle/>
            <a:p>
              <a:pPr>
                <a:spcAft>
                  <a:spcPts val="200"/>
                </a:spcAft>
                <a:defRPr sz="1500" b="1" i="0">
                  <a:solidFill>
                    <a:srgbClr val="FFFFFF"/>
                  </a:solidFill>
                  <a:latin typeface="微软雅黑"/>
                </a:defRPr>
              </a:pPr>
              <a:r>
                <a:rPr>
                  <a:latin typeface="Times New Roman" panose="02020503050405090304" pitchFamily="18" charset="0"/>
                  <a:cs typeface="Times New Roman" panose="02020503050405090304" pitchFamily="18" charset="0"/>
                </a:rPr>
                <a:t>Amenity Differentials </a:t>
              </a:r>
              <a:r>
                <a:t>· 便利程度差异</a:t>
              </a:r>
            </a:p>
          </p:txBody>
        </p:sp>
        <p:sp>
          <p:nvSpPr>
            <p:cNvPr id="20" name="TextBox 19"/>
            <p:cNvSpPr txBox="1"/>
            <p:nvPr/>
          </p:nvSpPr>
          <p:spPr>
            <a:xfrm>
              <a:off x="10901" y="5386"/>
              <a:ext cx="6610" cy="737"/>
            </a:xfrm>
            <a:prstGeom prst="rect">
              <a:avLst/>
            </a:prstGeom>
            <a:noFill/>
          </p:spPr>
          <p:txBody>
            <a:bodyPr wrap="square" lIns="27432" tIns="13716" rIns="27432" bIns="9144">
              <a:spAutoFit/>
            </a:bodyPr>
            <a:lstStyle/>
            <a:p>
              <a:pPr>
                <a:spcAft>
                  <a:spcPts val="200"/>
                </a:spcAft>
                <a:defRPr sz="1450" b="0" i="0">
                  <a:solidFill>
                    <a:srgbClr val="232323"/>
                  </a:solidFill>
                  <a:latin typeface="微软雅黑"/>
                </a:defRPr>
              </a:pPr>
              <a:r>
                <a:t>低便利程度地区需要支付更高工资吸引劳动者，形成补偿性工资差异</a:t>
              </a:r>
            </a:p>
          </p:txBody>
        </p:sp>
      </p:grpSp>
      <p:grpSp>
        <p:nvGrpSpPr>
          <p:cNvPr id="32" name="组合 31"/>
          <p:cNvGrpSpPr/>
          <p:nvPr/>
        </p:nvGrpSpPr>
        <p:grpSpPr>
          <a:xfrm>
            <a:off x="2176145" y="4809744"/>
            <a:ext cx="9144000" cy="1673352"/>
            <a:chOff x="3427" y="7574"/>
            <a:chExt cx="14400" cy="2635"/>
          </a:xfrm>
        </p:grpSpPr>
        <p:sp>
          <p:nvSpPr>
            <p:cNvPr id="21" name="Rectangle 20"/>
            <p:cNvSpPr/>
            <p:nvPr/>
          </p:nvSpPr>
          <p:spPr>
            <a:xfrm>
              <a:off x="3427" y="7632"/>
              <a:ext cx="151" cy="331"/>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01" y="7574"/>
              <a:ext cx="13262" cy="446"/>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效率损失的渠道</a:t>
              </a:r>
            </a:p>
          </p:txBody>
        </p:sp>
        <p:sp>
          <p:nvSpPr>
            <p:cNvPr id="23" name="Rectangle 22"/>
            <p:cNvSpPr/>
            <p:nvPr/>
          </p:nvSpPr>
          <p:spPr>
            <a:xfrm>
              <a:off x="3427" y="8280"/>
              <a:ext cx="6984" cy="922"/>
            </a:xfrm>
            <a:prstGeom prst="rect">
              <a:avLst/>
            </a:prstGeom>
            <a:solidFill>
              <a:srgbClr val="ED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4" y="8438"/>
              <a:ext cx="6638" cy="378"/>
            </a:xfrm>
            <a:prstGeom prst="rect">
              <a:avLst/>
            </a:prstGeom>
            <a:noFill/>
          </p:spPr>
          <p:txBody>
            <a:bodyPr wrap="square" lIns="27432" tIns="13716" rIns="27432" bIns="9144">
              <a:spAutoFit/>
            </a:bodyPr>
            <a:lstStyle/>
            <a:p>
              <a:pPr>
                <a:spcAft>
                  <a:spcPts val="200"/>
                </a:spcAft>
                <a:defRPr sz="1420" b="1" i="0">
                  <a:solidFill>
                    <a:srgbClr val="700066"/>
                  </a:solidFill>
                  <a:latin typeface="微软雅黑"/>
                </a:defRPr>
              </a:pPr>
              <a:r>
                <a:rPr b="0">
                  <a:latin typeface="Times New Roman" panose="02020503050405090304" pitchFamily="18" charset="0"/>
                  <a:cs typeface="Times New Roman" panose="02020503050405090304" pitchFamily="18" charset="0"/>
                </a:rPr>
                <a:t>Sorting </a:t>
              </a:r>
              <a:r>
                <a:t>不充分：个人比较优势难以发挥</a:t>
              </a:r>
            </a:p>
          </p:txBody>
        </p:sp>
        <p:sp>
          <p:nvSpPr>
            <p:cNvPr id="25" name="Rectangle 24"/>
            <p:cNvSpPr/>
            <p:nvPr/>
          </p:nvSpPr>
          <p:spPr>
            <a:xfrm>
              <a:off x="10714" y="8280"/>
              <a:ext cx="6984" cy="922"/>
            </a:xfrm>
            <a:prstGeom prst="rect">
              <a:avLst/>
            </a:prstGeom>
            <a:solidFill>
              <a:srgbClr val="ED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15" y="8438"/>
              <a:ext cx="6624" cy="374"/>
            </a:xfrm>
            <a:prstGeom prst="rect">
              <a:avLst/>
            </a:prstGeom>
            <a:noFill/>
          </p:spPr>
          <p:txBody>
            <a:bodyPr wrap="square" lIns="27432" tIns="13716" rIns="27432" bIns="9144">
              <a:spAutoFit/>
            </a:bodyPr>
            <a:lstStyle/>
            <a:p>
              <a:pPr>
                <a:spcAft>
                  <a:spcPts val="200"/>
                </a:spcAft>
                <a:defRPr sz="1400" b="1" i="0">
                  <a:solidFill>
                    <a:srgbClr val="700066"/>
                  </a:solidFill>
                  <a:latin typeface="微软雅黑"/>
                </a:defRPr>
              </a:pPr>
              <a:r>
                <a:rPr b="0">
                  <a:latin typeface="Times New Roman" panose="02020503050405090304" pitchFamily="18" charset="0"/>
                  <a:cs typeface="Times New Roman" panose="02020503050405090304" pitchFamily="18" charset="0"/>
                </a:rPr>
                <a:t>Agglomeration</a:t>
              </a:r>
              <a:r>
                <a:t> 不充分：高生产率地区配置不足</a:t>
              </a:r>
            </a:p>
          </p:txBody>
        </p:sp>
        <p:sp>
          <p:nvSpPr>
            <p:cNvPr id="27" name="Rectangle 26"/>
            <p:cNvSpPr/>
            <p:nvPr/>
          </p:nvSpPr>
          <p:spPr>
            <a:xfrm>
              <a:off x="3427" y="9504"/>
              <a:ext cx="14400" cy="706"/>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28" y="9598"/>
              <a:ext cx="13910" cy="471"/>
            </a:xfrm>
            <a:prstGeom prst="rect">
              <a:avLst/>
            </a:prstGeom>
            <a:noFill/>
          </p:spPr>
          <p:txBody>
            <a:bodyPr wrap="square" lIns="27432" tIns="13716" rIns="27432" bIns="9144">
              <a:spAutoFit/>
            </a:bodyPr>
            <a:lstStyle/>
            <a:p>
              <a:pPr>
                <a:spcAft>
                  <a:spcPts val="200"/>
                </a:spcAft>
                <a:defRPr sz="1500" b="1" i="0">
                  <a:solidFill>
                    <a:srgbClr val="700066"/>
                  </a:solidFill>
                  <a:latin typeface="微软雅黑"/>
                </a:defRPr>
              </a:pPr>
              <a:r>
                <a:rPr sz="1800"/>
                <a:t>两类约束 → 人口配置偏离产出最大化 → 潜在总体生产率损失</a:t>
              </a:r>
              <a:endParaRPr sz="1800"/>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1.4</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566928"/>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主要贡献：将结构模型与印尼微观数据结合</a:t>
            </a:r>
          </a:p>
        </p:txBody>
      </p:sp>
      <p:sp>
        <p:nvSpPr>
          <p:cNvPr id="7" name="Rectangle 6"/>
          <p:cNvSpPr/>
          <p:nvPr/>
        </p:nvSpPr>
        <p:spPr>
          <a:xfrm>
            <a:off x="2176272" y="1179576"/>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43000"/>
            <a:ext cx="8421624" cy="283464"/>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Main Contribution：数据使分选机制可以被透明识别</a:t>
            </a:r>
          </a:p>
        </p:txBody>
      </p:sp>
      <p:sp>
        <p:nvSpPr>
          <p:cNvPr id="9" name="Rectangle 8"/>
          <p:cNvSpPr/>
          <p:nvPr/>
        </p:nvSpPr>
        <p:spPr>
          <a:xfrm>
            <a:off x="2176272" y="1691640"/>
            <a:ext cx="2788920" cy="2176272"/>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76272" y="1691640"/>
            <a:ext cx="278892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1755648"/>
            <a:ext cx="2569463" cy="256032"/>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微观数据</a:t>
            </a:r>
          </a:p>
        </p:txBody>
      </p:sp>
      <mc:AlternateContent xmlns:mc="http://schemas.openxmlformats.org/markup-compatibility/2006">
        <mc:Choice xmlns:a14="http://schemas.microsoft.com/office/drawing/2010/main" Requires="a14">
          <p:sp>
            <p:nvSpPr>
              <p:cNvPr id="12" name="TextBox 11"/>
              <p:cNvSpPr txBox="1"/>
              <p:nvPr/>
            </p:nvSpPr>
            <p:spPr>
              <a:xfrm>
                <a:off x="2295144" y="2148840"/>
                <a:ext cx="2551176" cy="748030"/>
              </a:xfrm>
              <a:prstGeom prst="rect">
                <a:avLst/>
              </a:prstGeom>
              <a:noFill/>
            </p:spPr>
            <p:txBody>
              <a:bodyPr wrap="square" lIns="27432" tIns="13716" rIns="27432" bIns="9144">
                <a:spAutoFit/>
              </a:bodyPr>
              <a:lstStyle/>
              <a:p>
                <a:pPr>
                  <a:spcAft>
                    <a:spcPts val="200"/>
                  </a:spcAft>
                  <a:defRPr sz="1450" b="0" i="0">
                    <a:solidFill>
                      <a:srgbClr val="232323"/>
                    </a:solidFill>
                    <a:latin typeface="微软雅黑"/>
                  </a:defRPr>
                </a:pPr>
                <a:r>
                  <a:t>出生地</a:t>
                </a:r>
                <a14:m>
                  <m:oMath xmlns:m="http://schemas.openxmlformats.org/officeDocument/2006/math">
                    <m:r>
                      <a:rPr lang="en-US">
                        <a:latin typeface="DejaVu Math TeX Gyre" panose="02000503000000000000" charset="0"/>
                        <a:cs typeface="DejaVu Math TeX Gyre" panose="02000503000000000000" charset="0"/>
                      </a:rPr>
                      <m:t> </m:t>
                    </m:r>
                    <m:r>
                      <m:rPr>
                        <m:sty m:val="p"/>
                      </m:rPr>
                      <a:rPr lang="en-US">
                        <a:latin typeface="DejaVu Math TeX Gyre" panose="02000503000000000000" charset="0"/>
                        <a:cs typeface="DejaVu Math TeX Gyre" panose="02000503000000000000" charset="0"/>
                      </a:rPr>
                      <m:t>Origin</m:t>
                    </m:r>
                    <m:r>
                      <a:rPr lang="en-US">
                        <a:latin typeface="DejaVu Math TeX Gyre" panose="02000503000000000000" charset="0"/>
                        <a:cs typeface="DejaVu Math TeX Gyre" panose="02000503000000000000" charset="0"/>
                      </a:rPr>
                      <m:t> (</m:t>
                    </m:r>
                    <m:r>
                      <m:rPr>
                        <m:sty m:val="p"/>
                      </m:rPr>
                      <a:rPr lang="en-US">
                        <a:latin typeface="DejaVu Math TeX Gyre" panose="02000503000000000000" charset="0"/>
                        <a:cs typeface="DejaVu Math TeX Gyre" panose="02000503000000000000" charset="0"/>
                      </a:rPr>
                      <m:t>o</m:t>
                    </m:r>
                    <m:r>
                      <a:rPr lang="en-US">
                        <a:latin typeface="DejaVu Math TeX Gyre" panose="02000503000000000000" charset="0"/>
                        <a:cs typeface="DejaVu Math TeX Gyre" panose="02000503000000000000" charset="0"/>
                      </a:rPr>
                      <m:t>)</m:t>
                    </m:r>
                  </m:oMath>
                </a14:m>
              </a:p>
              <a:p>
                <a:pPr>
                  <a:spcAft>
                    <a:spcPts val="200"/>
                  </a:spcAft>
                  <a:defRPr sz="1450" b="0" i="0">
                    <a:solidFill>
                      <a:srgbClr val="232323"/>
                    </a:solidFill>
                    <a:latin typeface="微软雅黑"/>
                  </a:defRPr>
                </a:pPr>
                <a:r>
                  <a:t>工作地 </a:t>
                </a:r>
                <a14:m>
                  <m:oMath xmlns:m="http://schemas.openxmlformats.org/officeDocument/2006/math">
                    <m:r>
                      <m:rPr>
                        <m:sty m:val="p"/>
                      </m:rPr>
                      <a:rPr lang="en-US">
                        <a:latin typeface="DejaVu Math TeX Gyre" panose="02000503000000000000" charset="0"/>
                        <a:cs typeface="DejaVu Math TeX Gyre" panose="02000503000000000000" charset="0"/>
                      </a:rPr>
                      <m:t>Destination</m:t>
                    </m:r>
                    <m:r>
                      <a:rPr lang="en-US">
                        <a:latin typeface="DejaVu Math TeX Gyre" panose="02000503000000000000" charset="0"/>
                        <a:cs typeface="DejaVu Math TeX Gyre" panose="02000503000000000000" charset="0"/>
                      </a:rPr>
                      <m:t> (</m:t>
                    </m:r>
                    <m:r>
                      <m:rPr>
                        <m:sty m:val="p"/>
                      </m:rPr>
                      <a:rPr lang="en-US">
                        <a:latin typeface="DejaVu Math TeX Gyre" panose="02000503000000000000" charset="0"/>
                        <a:cs typeface="DejaVu Math TeX Gyre" panose="02000503000000000000" charset="0"/>
                      </a:rPr>
                      <m:t>d</m:t>
                    </m:r>
                    <m:r>
                      <a:rPr lang="en-US">
                        <a:latin typeface="DejaVu Math TeX Gyre" panose="02000503000000000000" charset="0"/>
                        <a:cs typeface="DejaVu Math TeX Gyre" panose="02000503000000000000" charset="0"/>
                      </a:rPr>
                      <m:t>)</m:t>
                    </m:r>
                  </m:oMath>
                </a14:m>
              </a:p>
              <a:p>
                <a:pPr>
                  <a:spcAft>
                    <a:spcPts val="200"/>
                  </a:spcAft>
                  <a:defRPr sz="1450" b="0" i="0">
                    <a:solidFill>
                      <a:srgbClr val="232323"/>
                    </a:solidFill>
                    <a:latin typeface="微软雅黑"/>
                  </a:defRPr>
                </a:pPr>
                <a:r>
                  <a:t>个人工资 </a:t>
                </a:r>
                <a14:m>
                  <m:oMath xmlns:m="http://schemas.openxmlformats.org/officeDocument/2006/math">
                    <m:r>
                      <m:rPr>
                        <m:sty m:val="p"/>
                      </m:rPr>
                      <a:rPr lang="en-US">
                        <a:latin typeface="DejaVu Math TeX Gyre" panose="02000503000000000000" charset="0"/>
                        <a:cs typeface="DejaVu Math TeX Gyre" panose="02000503000000000000" charset="0"/>
                      </a:rPr>
                      <m:t>Earnings</m:t>
                    </m:r>
                  </m:oMath>
                </a14:m>
              </a:p>
            </p:txBody>
          </p:sp>
        </mc:Choice>
        <mc:Fallback>
          <p:sp>
            <p:nvSpPr>
              <p:cNvPr id="12" name="TextBox 11"/>
              <p:cNvSpPr txBox="1">
                <a:spLocks noRot="1" noChangeAspect="1" noMove="1" noResize="1" noEditPoints="1" noAdjustHandles="1" noChangeArrowheads="1" noChangeShapeType="1" noTextEdit="1"/>
              </p:cNvSpPr>
              <p:nvPr/>
            </p:nvSpPr>
            <p:spPr>
              <a:xfrm>
                <a:off x="2295144" y="2148840"/>
                <a:ext cx="2551176" cy="748030"/>
              </a:xfrm>
              <a:prstGeom prst="rect">
                <a:avLst/>
              </a:prstGeom>
              <a:blipFill rotWithShape="1">
                <a:blip r:embed="rId1"/>
                <a:stretch>
                  <a:fillRect l="-10"/>
                </a:stretch>
              </a:blipFill>
            </p:spPr>
            <p:txBody>
              <a:bodyPr/>
              <a:lstStyle/>
              <a:p>
                <a:r>
                  <a:rPr lang="zh-CN" altLang="en-US">
                    <a:noFill/>
                  </a:rPr>
                  <a:t> </a:t>
                </a:r>
              </a:p>
            </p:txBody>
          </p:sp>
        </mc:Fallback>
      </mc:AlternateContent>
      <p:sp>
        <p:nvSpPr>
          <p:cNvPr id="13" name="Rectangle 12"/>
          <p:cNvSpPr/>
          <p:nvPr/>
        </p:nvSpPr>
        <p:spPr>
          <a:xfrm>
            <a:off x="5138928" y="1691640"/>
            <a:ext cx="2843784" cy="2176272"/>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38928" y="1691640"/>
            <a:ext cx="2843784"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48656" y="1755648"/>
            <a:ext cx="2624328" cy="256032"/>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核心变量</a:t>
            </a:r>
          </a:p>
        </p:txBody>
      </p:sp>
      <mc:AlternateContent xmlns:mc="http://schemas.openxmlformats.org/markup-compatibility/2006">
        <mc:Choice xmlns:a14="http://schemas.microsoft.com/office/drawing/2010/main" Requires="a14">
          <p:sp>
            <p:nvSpPr>
              <p:cNvPr id="16" name="TextBox 15"/>
              <p:cNvSpPr txBox="1"/>
              <p:nvPr/>
            </p:nvSpPr>
            <p:spPr>
              <a:xfrm>
                <a:off x="5257800" y="2148840"/>
                <a:ext cx="2606039" cy="814070"/>
              </a:xfrm>
              <a:prstGeom prst="rect">
                <a:avLst/>
              </a:prstGeom>
              <a:noFill/>
            </p:spPr>
            <p:txBody>
              <a:bodyPr wrap="square" lIns="27432" tIns="13716" rIns="27432" bIns="9144">
                <a:spAutoFit/>
              </a:bodyPr>
              <a:lstStyle/>
              <a:p>
                <a:pPr>
                  <a:spcAft>
                    <a:spcPts val="200"/>
                  </a:spcAft>
                  <a:defRPr sz="1450" b="0" i="0">
                    <a:solidFill>
                      <a:srgbClr val="232323"/>
                    </a:solidFill>
                    <a:latin typeface="微软雅黑"/>
                  </a:defRPr>
                </a:pPr>
                <a:r>
                  <a:t>迁移份额</a:t>
                </a:r>
                <a14:m>
                  <m:oMath xmlns:m="http://schemas.openxmlformats.org/officeDocument/2006/math">
                    <m:r>
                      <a:rPr lang="en-US">
                        <a:latin typeface="DejaVu Math TeX Gyre" panose="02000503000000000000" charset="0"/>
                        <a:cs typeface="DejaVu Math TeX Gyre" panose="02000503000000000000" charset="0"/>
                      </a:rPr>
                      <m:t> </m:t>
                    </m:r>
                    <m:sSub>
                      <m:sSubPr>
                        <m:ctrlPr>
                          <a:rPr lang="en-US" i="1">
                            <a:latin typeface="DejaVu Math TeX Gyre" panose="02000503000000000000" charset="0"/>
                            <a:cs typeface="DejaVu Math TeX Gyre" panose="02000503000000000000" charset="0"/>
                          </a:rPr>
                        </m:ctrlPr>
                      </m:sSubPr>
                      <m:e>
                        <m:r>
                          <a:rPr lang="en-US" i="1">
                            <a:latin typeface="DejaVu Math TeX Gyre" panose="02000503000000000000" charset="0"/>
                            <a:cs typeface="DejaVu Math TeX Gyre" panose="02000503000000000000" charset="0"/>
                          </a:rPr>
                          <m:t>𝜋</m:t>
                        </m:r>
                      </m:e>
                      <m:sub>
                        <m:r>
                          <a:rPr lang="en-US" i="1">
                            <a:latin typeface="DejaVu Math TeX Gyre" panose="02000503000000000000" charset="0"/>
                            <a:cs typeface="DejaVu Math TeX Gyre" panose="02000503000000000000" charset="0"/>
                          </a:rPr>
                          <m:t>𝑑𝑜</m:t>
                        </m:r>
                      </m:sub>
                    </m:sSub>
                  </m:oMath>
                </a14:m>
              </a:p>
              <a:p>
                <a:pPr>
                  <a:spcAft>
                    <a:spcPts val="200"/>
                  </a:spcAft>
                  <a:defRPr sz="1450" b="0" i="0">
                    <a:solidFill>
                      <a:srgbClr val="232323"/>
                    </a:solidFill>
                    <a:latin typeface="微软雅黑"/>
                  </a:defRPr>
                </a:pPr>
                <a:r>
                  <a:t>平均工资 </a:t>
                </a:r>
                <a14:m>
                  <m:oMath xmlns:m="http://schemas.openxmlformats.org/officeDocument/2006/math">
                    <m:sSub>
                      <m:sSubPr>
                        <m:ctrlPr>
                          <a:rPr lang="en-US" i="1">
                            <a:latin typeface="DejaVu Math TeX Gyre" panose="02000503000000000000" charset="0"/>
                            <a:cs typeface="DejaVu Math TeX Gyre" panose="02000503000000000000" charset="0"/>
                          </a:rPr>
                        </m:ctrlPr>
                      </m:sSubPr>
                      <m:e>
                        <m:r>
                          <a:rPr lang="en-US" i="1">
                            <a:latin typeface="DejaVu Math TeX Gyre" panose="02000503000000000000" charset="0"/>
                            <a:cs typeface="DejaVu Math TeX Gyre" panose="02000503000000000000" charset="0"/>
                          </a:rPr>
                          <m:t>𝑤𝑎𝑔𝑒</m:t>
                        </m:r>
                      </m:e>
                      <m:sub>
                        <m:r>
                          <a:rPr lang="en-US" i="1">
                            <a:latin typeface="DejaVu Math TeX Gyre" panose="02000503000000000000" charset="0"/>
                            <a:cs typeface="DejaVu Math TeX Gyre" panose="02000503000000000000" charset="0"/>
                          </a:rPr>
                          <m:t>𝑑𝑜</m:t>
                        </m:r>
                      </m:sub>
                    </m:sSub>
                  </m:oMath>
                </a14:m>
              </a:p>
              <a:p>
                <a:pPr>
                  <a:spcAft>
                    <a:spcPts val="200"/>
                  </a:spcAft>
                  <a:defRPr sz="1450" b="0" i="0">
                    <a:solidFill>
                      <a:srgbClr val="232323"/>
                    </a:solidFill>
                    <a:latin typeface="微软雅黑"/>
                  </a:defRPr>
                </a:pPr>
                <a:r>
                  <a:t>出生地—目的地配对</a:t>
                </a:r>
              </a:p>
            </p:txBody>
          </p:sp>
        </mc:Choice>
        <mc:Fallback>
          <p:sp>
            <p:nvSpPr>
              <p:cNvPr id="16" name="TextBox 15"/>
              <p:cNvSpPr txBox="1">
                <a:spLocks noRot="1" noChangeAspect="1" noMove="1" noResize="1" noEditPoints="1" noAdjustHandles="1" noChangeArrowheads="1" noChangeShapeType="1" noTextEdit="1"/>
              </p:cNvSpPr>
              <p:nvPr/>
            </p:nvSpPr>
            <p:spPr>
              <a:xfrm>
                <a:off x="5257800" y="2148840"/>
                <a:ext cx="2606039" cy="814070"/>
              </a:xfrm>
              <a:prstGeom prst="rect">
                <a:avLst/>
              </a:prstGeom>
              <a:blipFill rotWithShape="1">
                <a:blip r:embed="rId2"/>
                <a:stretch>
                  <a:fillRect r="24"/>
                </a:stretch>
              </a:blipFill>
            </p:spPr>
            <p:txBody>
              <a:bodyPr/>
              <a:lstStyle/>
              <a:p>
                <a:r>
                  <a:rPr lang="zh-CN" altLang="en-US">
                    <a:noFill/>
                  </a:rPr>
                  <a:t> </a:t>
                </a:r>
              </a:p>
            </p:txBody>
          </p:sp>
        </mc:Fallback>
      </mc:AlternateContent>
      <p:sp>
        <p:nvSpPr>
          <p:cNvPr id="17" name="Rectangle 16"/>
          <p:cNvSpPr/>
          <p:nvPr/>
        </p:nvSpPr>
        <p:spPr>
          <a:xfrm>
            <a:off x="8165592" y="1691640"/>
            <a:ext cx="3072384" cy="2176272"/>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65592" y="1691640"/>
            <a:ext cx="3072384"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19" y="1755648"/>
            <a:ext cx="2852928" cy="256032"/>
          </a:xfrm>
          <a:prstGeom prst="rect">
            <a:avLst/>
          </a:prstGeom>
          <a:noFill/>
        </p:spPr>
        <p:txBody>
          <a:bodyPr wrap="square" lIns="27432" tIns="13716" rIns="27432" bIns="9144">
            <a:spAutoFit/>
          </a:bodyPr>
          <a:lstStyle/>
          <a:p>
            <a:pPr>
              <a:spcAft>
                <a:spcPts val="200"/>
              </a:spcAft>
              <a:defRPr sz="1600" b="1" i="0">
                <a:solidFill>
                  <a:srgbClr val="FFFFFF"/>
                </a:solidFill>
                <a:latin typeface="微软雅黑"/>
              </a:defRPr>
            </a:pPr>
            <a:r>
              <a:t>可识别机制</a:t>
            </a:r>
          </a:p>
        </p:txBody>
      </p:sp>
      <p:sp>
        <p:nvSpPr>
          <p:cNvPr id="20" name="TextBox 19"/>
          <p:cNvSpPr txBox="1"/>
          <p:nvPr/>
        </p:nvSpPr>
        <p:spPr>
          <a:xfrm>
            <a:off x="8284464" y="2148840"/>
            <a:ext cx="2834639" cy="742950"/>
          </a:xfrm>
          <a:prstGeom prst="rect">
            <a:avLst/>
          </a:prstGeom>
          <a:noFill/>
        </p:spPr>
        <p:txBody>
          <a:bodyPr wrap="square" lIns="27432" tIns="13716" rIns="27432" bIns="9144">
            <a:spAutoFit/>
          </a:bodyPr>
          <a:lstStyle/>
          <a:p>
            <a:pPr>
              <a:spcAft>
                <a:spcPts val="200"/>
              </a:spcAft>
              <a:defRPr sz="1450" b="0" i="0">
                <a:solidFill>
                  <a:srgbClr val="232323"/>
                </a:solidFill>
                <a:latin typeface="微软雅黑"/>
              </a:defRPr>
            </a:pPr>
            <a:r>
              <a:t>工资与迁移份额弹性</a:t>
            </a:r>
          </a:p>
          <a:p>
            <a:pPr>
              <a:spcAft>
                <a:spcPts val="200"/>
              </a:spcAft>
              <a:defRPr sz="1450" b="0" i="0">
                <a:solidFill>
                  <a:srgbClr val="232323"/>
                </a:solidFill>
                <a:latin typeface="微软雅黑"/>
              </a:defRPr>
            </a:pPr>
            <a:r>
              <a:t>劳动者正向选择</a:t>
            </a:r>
          </a:p>
          <a:p>
            <a:pPr>
              <a:spcAft>
                <a:spcPts val="200"/>
              </a:spcAft>
              <a:defRPr sz="1450" b="0" i="0">
                <a:solidFill>
                  <a:srgbClr val="232323"/>
                </a:solidFill>
                <a:latin typeface="微软雅黑"/>
              </a:defRPr>
            </a:pPr>
            <a:r>
              <a:t>迁移成本与便利程度差异</a:t>
            </a:r>
          </a:p>
        </p:txBody>
      </p:sp>
      <p:sp>
        <p:nvSpPr>
          <p:cNvPr id="21" name="Rectangle 20"/>
          <p:cNvSpPr/>
          <p:nvPr/>
        </p:nvSpPr>
        <p:spPr>
          <a:xfrm>
            <a:off x="2176272" y="4123944"/>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50008" y="4087368"/>
            <a:ext cx="8421624" cy="283464"/>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核心经验关系：同一出生地、不同目的地的工资与迁移份额</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1.5</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566928"/>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五个经验事实：迁移成本、选择效应和工资差异</a:t>
            </a:r>
          </a:p>
        </p:txBody>
      </p:sp>
      <p:sp>
        <p:nvSpPr>
          <p:cNvPr id="6" name="Rectangle 5"/>
          <p:cNvSpPr/>
          <p:nvPr/>
        </p:nvSpPr>
        <p:spPr>
          <a:xfrm>
            <a:off x="2103120" y="1344168"/>
            <a:ext cx="9162288" cy="786384"/>
          </a:xfrm>
          <a:prstGeom prst="rect">
            <a:avLst/>
          </a:prstGeom>
          <a:solidFill>
            <a:srgbClr val="F7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03120" y="1344168"/>
            <a:ext cx="77724" cy="786384"/>
          </a:xfrm>
          <a:prstGeom prst="rect">
            <a:avLst/>
          </a:prstGeom>
          <a:solidFill>
            <a:srgbClr val="700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67712" y="1426464"/>
            <a:ext cx="2450592" cy="519430"/>
          </a:xfrm>
          <a:prstGeom prst="rect">
            <a:avLst/>
          </a:prstGeom>
          <a:noFill/>
        </p:spPr>
        <p:txBody>
          <a:bodyPr wrap="square" lIns="27432" tIns="27432" rIns="18288" bIns="0">
            <a:spAutoFit/>
          </a:bodyPr>
          <a:lstStyle/>
          <a:p>
            <a:pPr>
              <a:defRPr sz="1600" b="1">
                <a:solidFill>
                  <a:srgbClr val="70006B"/>
                </a:solidFill>
                <a:latin typeface="微软雅黑"/>
              </a:defRPr>
            </a:pPr>
            <a:r>
              <a:t>Fact 1 </a:t>
            </a:r>
            <a:r>
              <a:rPr lang="en-US"/>
              <a:t>：</a:t>
            </a:r>
            <a:endParaRPr lang="en-US"/>
          </a:p>
          <a:p>
            <a:pPr>
              <a:defRPr sz="1600" b="1">
                <a:solidFill>
                  <a:srgbClr val="70006B"/>
                </a:solidFill>
                <a:latin typeface="微软雅黑"/>
              </a:defRPr>
            </a:pPr>
            <a:r>
              <a:t>Gravity</a:t>
            </a:r>
          </a:p>
        </p:txBody>
      </p:sp>
      <p:sp>
        <p:nvSpPr>
          <p:cNvPr id="11" name="Rectangle 10"/>
          <p:cNvSpPr/>
          <p:nvPr/>
        </p:nvSpPr>
        <p:spPr>
          <a:xfrm>
            <a:off x="2103120" y="2212848"/>
            <a:ext cx="9162288" cy="786384"/>
          </a:xfrm>
          <a:prstGeom prst="rect">
            <a:avLst/>
          </a:prstGeom>
          <a:solidFill>
            <a:srgbClr val="F7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03120" y="2212848"/>
            <a:ext cx="77724" cy="786384"/>
          </a:xfrm>
          <a:prstGeom prst="rect">
            <a:avLst/>
          </a:prstGeom>
          <a:solidFill>
            <a:srgbClr val="700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67712" y="2295144"/>
            <a:ext cx="2450592" cy="519430"/>
          </a:xfrm>
          <a:prstGeom prst="rect">
            <a:avLst/>
          </a:prstGeom>
          <a:noFill/>
        </p:spPr>
        <p:txBody>
          <a:bodyPr wrap="square" lIns="27432" tIns="27432" rIns="18288" bIns="0">
            <a:spAutoFit/>
          </a:bodyPr>
          <a:lstStyle/>
          <a:p>
            <a:pPr>
              <a:defRPr sz="1600" b="1">
                <a:solidFill>
                  <a:srgbClr val="70006B"/>
                </a:solidFill>
                <a:latin typeface="微软雅黑"/>
              </a:defRPr>
            </a:pPr>
            <a:r>
              <a:t>Fact 2 </a:t>
            </a:r>
            <a:r>
              <a:rPr lang="en-US"/>
              <a:t>：</a:t>
            </a:r>
            <a:endParaRPr lang="en-US"/>
          </a:p>
          <a:p>
            <a:pPr>
              <a:defRPr sz="1600" b="1">
                <a:solidFill>
                  <a:srgbClr val="70006B"/>
                </a:solidFill>
                <a:latin typeface="微软雅黑"/>
              </a:defRPr>
            </a:pPr>
            <a:r>
              <a:t>Productivity </a:t>
            </a:r>
            <a:r>
              <a:rPr lang="en-US"/>
              <a:t>  </a:t>
            </a:r>
            <a:r>
              <a:t>Wedges</a:t>
            </a:r>
          </a:p>
        </p:txBody>
      </p:sp>
      <p:sp>
        <p:nvSpPr>
          <p:cNvPr id="16" name="Rectangle 15"/>
          <p:cNvSpPr/>
          <p:nvPr/>
        </p:nvSpPr>
        <p:spPr>
          <a:xfrm>
            <a:off x="2103120" y="3081528"/>
            <a:ext cx="9162288" cy="786384"/>
          </a:xfrm>
          <a:prstGeom prst="rect">
            <a:avLst/>
          </a:prstGeom>
          <a:solidFill>
            <a:srgbClr val="F7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03120" y="3081528"/>
            <a:ext cx="77724" cy="786384"/>
          </a:xfrm>
          <a:prstGeom prst="rect">
            <a:avLst/>
          </a:prstGeom>
          <a:solidFill>
            <a:srgbClr val="700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67712" y="3163824"/>
            <a:ext cx="2450592" cy="519430"/>
          </a:xfrm>
          <a:prstGeom prst="rect">
            <a:avLst/>
          </a:prstGeom>
          <a:noFill/>
        </p:spPr>
        <p:txBody>
          <a:bodyPr wrap="square" lIns="27432" tIns="27432" rIns="18288" bIns="0">
            <a:spAutoFit/>
          </a:bodyPr>
          <a:lstStyle/>
          <a:p>
            <a:pPr>
              <a:defRPr sz="1600" b="1">
                <a:solidFill>
                  <a:srgbClr val="70006B"/>
                </a:solidFill>
                <a:latin typeface="微软雅黑"/>
              </a:defRPr>
            </a:pPr>
            <a:r>
              <a:t>Fact 3 </a:t>
            </a:r>
            <a:r>
              <a:rPr lang="en-US"/>
              <a:t>：</a:t>
            </a:r>
            <a:endParaRPr lang="en-US"/>
          </a:p>
          <a:p>
            <a:pPr>
              <a:defRPr sz="1600" b="1">
                <a:solidFill>
                  <a:srgbClr val="70006B"/>
                </a:solidFill>
                <a:latin typeface="微软雅黑"/>
              </a:defRPr>
            </a:pPr>
            <a:r>
              <a:t>Selection</a:t>
            </a:r>
          </a:p>
        </p:txBody>
      </p:sp>
      <p:sp>
        <p:nvSpPr>
          <p:cNvPr id="21" name="Rectangle 20"/>
          <p:cNvSpPr/>
          <p:nvPr/>
        </p:nvSpPr>
        <p:spPr>
          <a:xfrm>
            <a:off x="2103120" y="3950207"/>
            <a:ext cx="9162288" cy="786384"/>
          </a:xfrm>
          <a:prstGeom prst="rect">
            <a:avLst/>
          </a:prstGeom>
          <a:solidFill>
            <a:srgbClr val="F7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03120" y="3950207"/>
            <a:ext cx="77724" cy="786384"/>
          </a:xfrm>
          <a:prstGeom prst="rect">
            <a:avLst/>
          </a:prstGeom>
          <a:solidFill>
            <a:srgbClr val="700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67712" y="4032503"/>
            <a:ext cx="2450592" cy="519430"/>
          </a:xfrm>
          <a:prstGeom prst="rect">
            <a:avLst/>
          </a:prstGeom>
          <a:noFill/>
        </p:spPr>
        <p:txBody>
          <a:bodyPr wrap="square" lIns="27432" tIns="27432" rIns="18288" bIns="0">
            <a:spAutoFit/>
          </a:bodyPr>
          <a:lstStyle/>
          <a:p>
            <a:pPr>
              <a:defRPr sz="1600" b="1">
                <a:solidFill>
                  <a:srgbClr val="70006B"/>
                </a:solidFill>
                <a:latin typeface="微软雅黑"/>
              </a:defRPr>
            </a:pPr>
            <a:r>
              <a:t>Fact 4 </a:t>
            </a:r>
            <a:r>
              <a:rPr lang="en-US"/>
              <a:t>：</a:t>
            </a:r>
            <a:r>
              <a:t>SelectionChannel</a:t>
            </a:r>
          </a:p>
        </p:txBody>
      </p:sp>
      <p:sp>
        <p:nvSpPr>
          <p:cNvPr id="26" name="Rectangle 25"/>
          <p:cNvSpPr/>
          <p:nvPr/>
        </p:nvSpPr>
        <p:spPr>
          <a:xfrm>
            <a:off x="2103120" y="4818888"/>
            <a:ext cx="9162288" cy="786384"/>
          </a:xfrm>
          <a:prstGeom prst="rect">
            <a:avLst/>
          </a:prstGeom>
          <a:solidFill>
            <a:srgbClr val="F7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103120" y="4818888"/>
            <a:ext cx="77724" cy="786384"/>
          </a:xfrm>
          <a:prstGeom prst="rect">
            <a:avLst/>
          </a:prstGeom>
          <a:solidFill>
            <a:srgbClr val="700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67585" y="4900930"/>
            <a:ext cx="2812415" cy="519430"/>
          </a:xfrm>
          <a:prstGeom prst="rect">
            <a:avLst/>
          </a:prstGeom>
          <a:noFill/>
        </p:spPr>
        <p:txBody>
          <a:bodyPr wrap="square" lIns="27432" tIns="27432" rIns="18288" bIns="0">
            <a:spAutoFit/>
          </a:bodyPr>
          <a:lstStyle/>
          <a:p>
            <a:pPr>
              <a:defRPr sz="1600" b="1">
                <a:solidFill>
                  <a:srgbClr val="70006B"/>
                </a:solidFill>
                <a:latin typeface="微软雅黑"/>
              </a:defRPr>
            </a:pPr>
            <a:r>
              <a:t>Fact 5 </a:t>
            </a:r>
            <a:r>
              <a:rPr lang="en-US"/>
              <a:t>：</a:t>
            </a:r>
            <a:endParaRPr lang="en-US"/>
          </a:p>
          <a:p>
            <a:pPr>
              <a:defRPr sz="1600" b="1">
                <a:solidFill>
                  <a:srgbClr val="70006B"/>
                </a:solidFill>
                <a:latin typeface="微软雅黑"/>
              </a:defRPr>
            </a:pPr>
            <a:r>
              <a:t>Compensating</a:t>
            </a:r>
            <a:r>
              <a:rPr lang="en-US"/>
              <a:t> </a:t>
            </a:r>
            <a:r>
              <a:t>Differentials</a:t>
            </a:r>
          </a:p>
        </p:txBody>
      </p:sp>
      <p:grpSp>
        <p:nvGrpSpPr>
          <p:cNvPr id="37" name="组合 36"/>
          <p:cNvGrpSpPr/>
          <p:nvPr/>
        </p:nvGrpSpPr>
        <p:grpSpPr>
          <a:xfrm>
            <a:off x="5080000" y="1454150"/>
            <a:ext cx="6327775" cy="4051935"/>
            <a:chOff x="7416" y="2232"/>
            <a:chExt cx="9965" cy="6381"/>
          </a:xfrm>
        </p:grpSpPr>
        <p:sp>
          <p:nvSpPr>
            <p:cNvPr id="9" name="TextBox 8"/>
            <p:cNvSpPr txBox="1"/>
            <p:nvPr/>
          </p:nvSpPr>
          <p:spPr>
            <a:xfrm>
              <a:off x="7416" y="2232"/>
              <a:ext cx="9864" cy="406"/>
            </a:xfrm>
            <a:prstGeom prst="rect">
              <a:avLst/>
            </a:prstGeom>
            <a:noFill/>
          </p:spPr>
          <p:txBody>
            <a:bodyPr wrap="square" lIns="27432" tIns="27432" rIns="18288" bIns="0">
              <a:spAutoFit/>
            </a:bodyPr>
            <a:lstStyle/>
            <a:p>
              <a:pPr>
                <a:defRPr sz="1500" b="1">
                  <a:solidFill>
                    <a:srgbClr val="232323"/>
                  </a:solidFill>
                  <a:latin typeface="微软雅黑"/>
                </a:defRPr>
              </a:pPr>
              <a:r>
                <a:t>迁移距离越远，出生地人口迁往该目的地的比例越低</a:t>
              </a:r>
            </a:p>
          </p:txBody>
        </p:sp>
        <p:sp>
          <p:nvSpPr>
            <p:cNvPr id="10" name="TextBox 9"/>
            <p:cNvSpPr txBox="1"/>
            <p:nvPr/>
          </p:nvSpPr>
          <p:spPr>
            <a:xfrm>
              <a:off x="7416" y="2808"/>
              <a:ext cx="9965" cy="333"/>
            </a:xfrm>
            <a:prstGeom prst="rect">
              <a:avLst/>
            </a:prstGeom>
            <a:noFill/>
          </p:spPr>
          <p:txBody>
            <a:bodyPr wrap="square" lIns="27432" tIns="27432" rIns="18288" bIns="0">
              <a:spAutoFit/>
            </a:bodyPr>
            <a:lstStyle/>
            <a:p>
              <a:pPr>
                <a:defRPr sz="1200" b="0">
                  <a:solidFill>
                    <a:srgbClr val="6E6E6E"/>
                  </a:solidFill>
                  <a:latin typeface="微软雅黑"/>
                </a:defRPr>
              </a:pPr>
              <a:r>
                <a:t>迁移存在空间成本，距离是迁移成本的代理变量</a:t>
              </a:r>
            </a:p>
          </p:txBody>
        </p:sp>
        <p:sp>
          <p:nvSpPr>
            <p:cNvPr id="14" name="TextBox 13"/>
            <p:cNvSpPr txBox="1"/>
            <p:nvPr/>
          </p:nvSpPr>
          <p:spPr>
            <a:xfrm>
              <a:off x="7416" y="3600"/>
              <a:ext cx="9864" cy="406"/>
            </a:xfrm>
            <a:prstGeom prst="rect">
              <a:avLst/>
            </a:prstGeom>
            <a:noFill/>
          </p:spPr>
          <p:txBody>
            <a:bodyPr wrap="square" lIns="27432" tIns="27432" rIns="18288" bIns="0">
              <a:spAutoFit/>
            </a:bodyPr>
            <a:lstStyle/>
            <a:p>
              <a:pPr>
                <a:defRPr sz="1500" b="1">
                  <a:solidFill>
                    <a:srgbClr val="232323"/>
                  </a:solidFill>
                  <a:latin typeface="微软雅黑"/>
                </a:defRPr>
              </a:pPr>
              <a:r>
                <a:t>在控制出生地与目的地差异后，迁移距离越远，迁移者平均工资越高</a:t>
              </a:r>
            </a:p>
          </p:txBody>
        </p:sp>
        <p:sp>
          <p:nvSpPr>
            <p:cNvPr id="15" name="TextBox 14"/>
            <p:cNvSpPr txBox="1"/>
            <p:nvPr/>
          </p:nvSpPr>
          <p:spPr>
            <a:xfrm>
              <a:off x="7416" y="4176"/>
              <a:ext cx="9965" cy="333"/>
            </a:xfrm>
            <a:prstGeom prst="rect">
              <a:avLst/>
            </a:prstGeom>
            <a:noFill/>
          </p:spPr>
          <p:txBody>
            <a:bodyPr wrap="square" lIns="27432" tIns="27432" rIns="18288" bIns="0">
              <a:spAutoFit/>
            </a:bodyPr>
            <a:lstStyle/>
            <a:p>
              <a:pPr>
                <a:defRPr sz="1200" b="0">
                  <a:solidFill>
                    <a:srgbClr val="6E6E6E"/>
                  </a:solidFill>
                  <a:latin typeface="微软雅黑"/>
                </a:defRPr>
              </a:pPr>
              <a:r>
                <a:t>较高的迁移门槛使远距离迁移者具有更高的预期回报</a:t>
              </a:r>
            </a:p>
          </p:txBody>
        </p:sp>
        <p:sp>
          <p:nvSpPr>
            <p:cNvPr id="19" name="TextBox 18"/>
            <p:cNvSpPr txBox="1"/>
            <p:nvPr/>
          </p:nvSpPr>
          <p:spPr>
            <a:xfrm>
              <a:off x="7416" y="4968"/>
              <a:ext cx="9864" cy="406"/>
            </a:xfrm>
            <a:prstGeom prst="rect">
              <a:avLst/>
            </a:prstGeom>
            <a:noFill/>
          </p:spPr>
          <p:txBody>
            <a:bodyPr wrap="square" lIns="27432" tIns="27432" rIns="18288" bIns="0">
              <a:spAutoFit/>
            </a:bodyPr>
            <a:lstStyle/>
            <a:p>
              <a:pPr>
                <a:defRPr sz="1500" b="1">
                  <a:solidFill>
                    <a:srgbClr val="232323"/>
                  </a:solidFill>
                  <a:latin typeface="微软雅黑"/>
                </a:defRPr>
              </a:pPr>
              <a:r>
                <a:t>来自同一出生地、选择某目的地的人口比例越高，其平均工资越低</a:t>
              </a:r>
            </a:p>
          </p:txBody>
        </p:sp>
        <p:sp>
          <p:nvSpPr>
            <p:cNvPr id="20" name="TextBox 19"/>
            <p:cNvSpPr txBox="1"/>
            <p:nvPr/>
          </p:nvSpPr>
          <p:spPr>
            <a:xfrm>
              <a:off x="7416" y="5544"/>
              <a:ext cx="9965" cy="333"/>
            </a:xfrm>
            <a:prstGeom prst="rect">
              <a:avLst/>
            </a:prstGeom>
            <a:noFill/>
          </p:spPr>
          <p:txBody>
            <a:bodyPr wrap="square" lIns="27432" tIns="27432" rIns="18288" bIns="0">
              <a:spAutoFit/>
            </a:bodyPr>
            <a:lstStyle/>
            <a:p>
              <a:pPr>
                <a:defRPr sz="1200" b="0">
                  <a:solidFill>
                    <a:srgbClr val="6E6E6E"/>
                  </a:solidFill>
                  <a:latin typeface="微软雅黑"/>
                </a:defRPr>
              </a:pPr>
              <a:r>
                <a:t>迁移者存在正向选择：最有迁移收益的人往往先迁移</a:t>
              </a:r>
            </a:p>
          </p:txBody>
        </p:sp>
        <p:sp>
          <p:nvSpPr>
            <p:cNvPr id="24" name="TextBox 23"/>
            <p:cNvSpPr txBox="1"/>
            <p:nvPr/>
          </p:nvSpPr>
          <p:spPr>
            <a:xfrm>
              <a:off x="7416" y="6336"/>
              <a:ext cx="9864" cy="406"/>
            </a:xfrm>
            <a:prstGeom prst="rect">
              <a:avLst/>
            </a:prstGeom>
            <a:noFill/>
          </p:spPr>
          <p:txBody>
            <a:bodyPr wrap="square" lIns="27432" tIns="27432" rIns="18288" bIns="0">
              <a:spAutoFit/>
            </a:bodyPr>
            <a:lstStyle/>
            <a:p>
              <a:pPr>
                <a:defRPr sz="1500" b="1">
                  <a:solidFill>
                    <a:srgbClr val="232323"/>
                  </a:solidFill>
                  <a:latin typeface="微软雅黑"/>
                </a:defRPr>
              </a:pPr>
              <a:r>
                <a:t>控制迁移份额后，迁移距离与平均工资的正相关大幅减弱</a:t>
              </a:r>
            </a:p>
          </p:txBody>
        </p:sp>
        <p:sp>
          <p:nvSpPr>
            <p:cNvPr id="25" name="TextBox 24"/>
            <p:cNvSpPr txBox="1"/>
            <p:nvPr/>
          </p:nvSpPr>
          <p:spPr>
            <a:xfrm>
              <a:off x="7416" y="6912"/>
              <a:ext cx="9965" cy="333"/>
            </a:xfrm>
            <a:prstGeom prst="rect">
              <a:avLst/>
            </a:prstGeom>
            <a:noFill/>
          </p:spPr>
          <p:txBody>
            <a:bodyPr wrap="square" lIns="27432" tIns="27432" rIns="18288" bIns="0">
              <a:spAutoFit/>
            </a:bodyPr>
            <a:lstStyle/>
            <a:p>
              <a:pPr>
                <a:defRPr sz="1200" b="0">
                  <a:solidFill>
                    <a:srgbClr val="6E6E6E"/>
                  </a:solidFill>
                  <a:latin typeface="微软雅黑"/>
                </a:defRPr>
              </a:pPr>
              <a:r>
                <a:t>迁移成本影响观察到的工资，主要通过改变迁移者的选择程度</a:t>
              </a:r>
            </a:p>
          </p:txBody>
        </p:sp>
        <p:sp>
          <p:nvSpPr>
            <p:cNvPr id="29" name="TextBox 28"/>
            <p:cNvSpPr txBox="1"/>
            <p:nvPr/>
          </p:nvSpPr>
          <p:spPr>
            <a:xfrm>
              <a:off x="7416" y="7704"/>
              <a:ext cx="9864" cy="406"/>
            </a:xfrm>
            <a:prstGeom prst="rect">
              <a:avLst/>
            </a:prstGeom>
            <a:noFill/>
          </p:spPr>
          <p:txBody>
            <a:bodyPr wrap="square" lIns="27432" tIns="27432" rIns="18288" bIns="0">
              <a:spAutoFit/>
            </a:bodyPr>
            <a:lstStyle/>
            <a:p>
              <a:pPr>
                <a:defRPr sz="1500" b="1">
                  <a:solidFill>
                    <a:srgbClr val="232323"/>
                  </a:solidFill>
                  <a:latin typeface="微软雅黑"/>
                </a:defRPr>
              </a:pPr>
              <a:r>
                <a:t>生活便利程度较高的地区，平均工资反而相对较低</a:t>
              </a:r>
            </a:p>
          </p:txBody>
        </p:sp>
        <p:sp>
          <p:nvSpPr>
            <p:cNvPr id="30" name="TextBox 29"/>
            <p:cNvSpPr txBox="1"/>
            <p:nvPr/>
          </p:nvSpPr>
          <p:spPr>
            <a:xfrm>
              <a:off x="7416" y="8280"/>
              <a:ext cx="9965" cy="333"/>
            </a:xfrm>
            <a:prstGeom prst="rect">
              <a:avLst/>
            </a:prstGeom>
            <a:noFill/>
          </p:spPr>
          <p:txBody>
            <a:bodyPr wrap="square" lIns="27432" tIns="27432" rIns="18288" bIns="0">
              <a:spAutoFit/>
            </a:bodyPr>
            <a:lstStyle/>
            <a:p>
              <a:pPr>
                <a:defRPr sz="1200" b="0">
                  <a:solidFill>
                    <a:srgbClr val="6E6E6E"/>
                  </a:solidFill>
                  <a:latin typeface="微软雅黑"/>
                </a:defRPr>
              </a:pPr>
              <a:r>
                <a:t>较低便利程度需要更高工资补偿，证明便利程度影响区位选择</a:t>
              </a:r>
            </a:p>
          </p:txBody>
        </p:sp>
      </p:grpSp>
      <p:sp>
        <p:nvSpPr>
          <p:cNvPr id="31" name="Rectangle 30"/>
          <p:cNvSpPr/>
          <p:nvPr/>
        </p:nvSpPr>
        <p:spPr>
          <a:xfrm>
            <a:off x="2103120" y="5779008"/>
            <a:ext cx="9162288" cy="530352"/>
          </a:xfrm>
          <a:prstGeom prst="rect">
            <a:avLst/>
          </a:prstGeom>
          <a:solidFill>
            <a:srgbClr val="EFE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67712" y="5870448"/>
            <a:ext cx="8869680" cy="310896"/>
          </a:xfrm>
          <a:prstGeom prst="rect">
            <a:avLst/>
          </a:prstGeom>
          <a:noFill/>
        </p:spPr>
        <p:txBody>
          <a:bodyPr wrap="square" lIns="27432" tIns="27432" rIns="18288" bIns="0">
            <a:spAutoFit/>
          </a:bodyPr>
          <a:lstStyle/>
          <a:p>
            <a:pPr>
              <a:defRPr sz="1500" b="1">
                <a:solidFill>
                  <a:srgbClr val="70006B"/>
                </a:solidFill>
                <a:latin typeface="微软雅黑"/>
              </a:defRPr>
            </a:pPr>
            <a:r>
              <a:t>Fact 1–4：迁移成本 → 更少的人迁移 → 更强的正向选择 → 迁移者平均工资较高</a:t>
            </a:r>
          </a:p>
        </p:txBody>
      </p:sp>
      <p:sp>
        <p:nvSpPr>
          <p:cNvPr id="33" name="TextBox 32"/>
          <p:cNvSpPr txBox="1"/>
          <p:nvPr/>
        </p:nvSpPr>
        <p:spPr>
          <a:xfrm>
            <a:off x="2148840" y="6510528"/>
            <a:ext cx="9125712" cy="192024"/>
          </a:xfrm>
          <a:prstGeom prst="rect">
            <a:avLst/>
          </a:prstGeom>
          <a:noFill/>
        </p:spPr>
        <p:txBody>
          <a:bodyPr wrap="square" lIns="27432" tIns="27432" rIns="18288" bIns="0">
            <a:spAutoFit/>
          </a:bodyPr>
          <a:lstStyle/>
          <a:p>
            <a:pPr>
              <a:defRPr sz="900" b="0">
                <a:solidFill>
                  <a:srgbClr val="6E6E6E"/>
                </a:solidFill>
                <a:latin typeface="微软雅黑"/>
              </a:defRPr>
            </a:pPr>
            <a:r>
              <a:t>Source: Bryan &amp; Morten (2019), JPE, Introduction &amp; Section II.B (Five Motivating Facts).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1.6</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566928"/>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反事实分析：从劳动力重新配置到总体生产率收益</a:t>
            </a:r>
          </a:p>
        </p:txBody>
      </p:sp>
      <p:sp>
        <p:nvSpPr>
          <p:cNvPr id="6" name="TextBox 5"/>
          <p:cNvSpPr txBox="1"/>
          <p:nvPr/>
        </p:nvSpPr>
        <p:spPr>
          <a:xfrm>
            <a:off x="2130552" y="6547104"/>
            <a:ext cx="8778240" cy="164592"/>
          </a:xfrm>
          <a:prstGeom prst="rect">
            <a:avLst/>
          </a:prstGeom>
          <a:noFill/>
        </p:spPr>
        <p:txBody>
          <a:bodyPr wrap="square" lIns="27432" tIns="13716" rIns="27432" bIns="9144">
            <a:spAutoFit/>
          </a:bodyPr>
          <a:lstStyle/>
          <a:p>
            <a:pPr>
              <a:spcAft>
                <a:spcPts val="200"/>
              </a:spcAft>
              <a:defRPr sz="900" b="0" i="0">
                <a:solidFill>
                  <a:srgbClr val="787878"/>
                </a:solidFill>
                <a:latin typeface="微软雅黑"/>
              </a:defRPr>
            </a:pPr>
            <a:r>
              <a:t>Source: Bryan &amp; Morten (2019), Introduction, pp. 2231–2232.</a:t>
            </a:r>
          </a:p>
        </p:txBody>
      </p:sp>
      <p:sp>
        <p:nvSpPr>
          <p:cNvPr id="7" name="Rectangle 6"/>
          <p:cNvSpPr/>
          <p:nvPr/>
        </p:nvSpPr>
        <p:spPr>
          <a:xfrm>
            <a:off x="2176272" y="1188720"/>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52144"/>
            <a:ext cx="8421624" cy="283210"/>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如何构造</a:t>
            </a:r>
            <a:r>
              <a:rPr lang="zh-CN"/>
              <a:t>反事实</a:t>
            </a:r>
            <a:r>
              <a:t>？</a:t>
            </a:r>
          </a:p>
        </p:txBody>
      </p:sp>
      <p:sp>
        <p:nvSpPr>
          <p:cNvPr id="9" name="Rectangle 8"/>
          <p:cNvSpPr/>
          <p:nvPr/>
        </p:nvSpPr>
        <p:spPr>
          <a:xfrm>
            <a:off x="2185416" y="1600200"/>
            <a:ext cx="571500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664208"/>
            <a:ext cx="5404104" cy="262890"/>
          </a:xfrm>
          <a:prstGeom prst="rect">
            <a:avLst/>
          </a:prstGeom>
          <a:noFill/>
        </p:spPr>
        <p:txBody>
          <a:bodyPr wrap="square" lIns="27432" tIns="13716" rIns="27432" bIns="9144">
            <a:spAutoFit/>
          </a:bodyPr>
          <a:lstStyle/>
          <a:p>
            <a:pPr>
              <a:spcAft>
                <a:spcPts val="200"/>
              </a:spcAft>
              <a:defRPr sz="1570" b="1" i="0">
                <a:solidFill>
                  <a:srgbClr val="700066"/>
                </a:solidFill>
                <a:latin typeface="微软雅黑"/>
              </a:defRPr>
            </a:pPr>
            <a:r>
              <a:t>1. </a:t>
            </a:r>
            <a:r>
              <a:rPr lang="zh-CN"/>
              <a:t>预测新的人口分布</a:t>
            </a:r>
            <a:endParaRPr lang="zh-CN"/>
          </a:p>
        </p:txBody>
      </p:sp>
      <p:sp>
        <p:nvSpPr>
          <p:cNvPr id="11" name="TextBox 10"/>
          <p:cNvSpPr txBox="1"/>
          <p:nvPr/>
        </p:nvSpPr>
        <p:spPr>
          <a:xfrm>
            <a:off x="2331720" y="1965960"/>
            <a:ext cx="5431536" cy="229870"/>
          </a:xfrm>
          <a:prstGeom prst="rect">
            <a:avLst/>
          </a:prstGeom>
          <a:noFill/>
        </p:spPr>
        <p:txBody>
          <a:bodyPr wrap="square" lIns="27432" tIns="13716" rIns="27432" bIns="9144">
            <a:spAutoFit/>
          </a:bodyPr>
          <a:lstStyle/>
          <a:p>
            <a:pPr>
              <a:spcAft>
                <a:spcPts val="200"/>
              </a:spcAft>
              <a:defRPr sz="1350" b="0" i="0">
                <a:solidFill>
                  <a:srgbClr val="232323"/>
                </a:solidFill>
                <a:latin typeface="微软雅黑"/>
              </a:defRPr>
            </a:pPr>
            <a:r>
              <a:rPr lang="zh-CN" altLang="en-US"/>
              <a:t>降低迁移壁垒后，模型计算各出生地的劳动者会选择哪些目的地</a:t>
            </a:r>
            <a:endParaRPr lang="zh-CN" altLang="en-US"/>
          </a:p>
        </p:txBody>
      </p:sp>
      <p:sp>
        <p:nvSpPr>
          <p:cNvPr id="12" name="Rectangle 11"/>
          <p:cNvSpPr/>
          <p:nvPr/>
        </p:nvSpPr>
        <p:spPr>
          <a:xfrm>
            <a:off x="2185416" y="2642615"/>
            <a:ext cx="571500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2706623"/>
            <a:ext cx="5404104" cy="262890"/>
          </a:xfrm>
          <a:prstGeom prst="rect">
            <a:avLst/>
          </a:prstGeom>
          <a:noFill/>
        </p:spPr>
        <p:txBody>
          <a:bodyPr wrap="square" lIns="27432" tIns="13716" rIns="27432" bIns="9144">
            <a:spAutoFit/>
          </a:bodyPr>
          <a:lstStyle/>
          <a:p>
            <a:pPr>
              <a:spcAft>
                <a:spcPts val="200"/>
              </a:spcAft>
              <a:defRPr sz="1570" b="1" i="0">
                <a:solidFill>
                  <a:srgbClr val="700066"/>
                </a:solidFill>
                <a:latin typeface="微软雅黑"/>
              </a:defRPr>
            </a:pPr>
            <a:r>
              <a:rPr lang="en-US" altLang="zh-CN"/>
              <a:t>2. </a:t>
            </a:r>
            <a:r>
              <a:rPr lang="zh-CN" altLang="en-US"/>
              <a:t>调整劳动者选择效应</a:t>
            </a:r>
            <a:endParaRPr lang="zh-CN" altLang="en-US"/>
          </a:p>
        </p:txBody>
      </p:sp>
      <p:sp>
        <p:nvSpPr>
          <p:cNvPr id="14" name="TextBox 13"/>
          <p:cNvSpPr txBox="1"/>
          <p:nvPr/>
        </p:nvSpPr>
        <p:spPr>
          <a:xfrm>
            <a:off x="2331720" y="3008375"/>
            <a:ext cx="5431536" cy="229870"/>
          </a:xfrm>
          <a:prstGeom prst="rect">
            <a:avLst/>
          </a:prstGeom>
          <a:noFill/>
        </p:spPr>
        <p:txBody>
          <a:bodyPr wrap="square" lIns="27432" tIns="13716" rIns="27432" bIns="9144">
            <a:spAutoFit/>
          </a:bodyPr>
          <a:lstStyle/>
          <a:p>
            <a:pPr>
              <a:spcAft>
                <a:spcPts val="200"/>
              </a:spcAft>
              <a:defRPr sz="1350" b="0" i="0">
                <a:solidFill>
                  <a:srgbClr val="232323"/>
                </a:solidFill>
                <a:latin typeface="微软雅黑"/>
              </a:defRPr>
            </a:pPr>
            <a:r>
              <a:rPr lang="zh-CN" altLang="en-US"/>
              <a:t>利用平均工资对迁移份额的弹性，考虑新增迁移者的平均生产率</a:t>
            </a:r>
            <a:endParaRPr lang="zh-CN" altLang="en-US"/>
          </a:p>
        </p:txBody>
      </p:sp>
      <p:sp>
        <p:nvSpPr>
          <p:cNvPr id="15" name="Rectangle 14"/>
          <p:cNvSpPr/>
          <p:nvPr/>
        </p:nvSpPr>
        <p:spPr>
          <a:xfrm>
            <a:off x="2185416" y="3685031"/>
            <a:ext cx="571500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31720" y="3749039"/>
            <a:ext cx="5404104" cy="262890"/>
          </a:xfrm>
          <a:prstGeom prst="rect">
            <a:avLst/>
          </a:prstGeom>
          <a:noFill/>
        </p:spPr>
        <p:txBody>
          <a:bodyPr wrap="square" lIns="27432" tIns="13716" rIns="27432" bIns="9144">
            <a:spAutoFit/>
          </a:bodyPr>
          <a:lstStyle/>
          <a:p>
            <a:pPr>
              <a:spcAft>
                <a:spcPts val="200"/>
              </a:spcAft>
              <a:defRPr sz="1570" b="1" i="0">
                <a:solidFill>
                  <a:srgbClr val="700066"/>
                </a:solidFill>
                <a:latin typeface="微软雅黑"/>
              </a:defRPr>
            </a:pPr>
            <a:r>
              <a:t>3. </a:t>
            </a:r>
            <a:r>
              <a:rPr lang="zh-CN" altLang="en-US"/>
              <a:t>计算新均衡的总体产出</a:t>
            </a:r>
            <a:endParaRPr lang="zh-CN" altLang="en-US"/>
          </a:p>
        </p:txBody>
      </p:sp>
      <p:sp>
        <p:nvSpPr>
          <p:cNvPr id="17" name="TextBox 16"/>
          <p:cNvSpPr txBox="1"/>
          <p:nvPr/>
        </p:nvSpPr>
        <p:spPr>
          <a:xfrm>
            <a:off x="2331720" y="4050791"/>
            <a:ext cx="5431536" cy="457200"/>
          </a:xfrm>
          <a:prstGeom prst="rect">
            <a:avLst/>
          </a:prstGeom>
          <a:noFill/>
        </p:spPr>
        <p:txBody>
          <a:bodyPr wrap="square" lIns="27432" tIns="13716" rIns="27432" bIns="9144">
            <a:spAutoFit/>
          </a:bodyPr>
          <a:lstStyle/>
          <a:p>
            <a:pPr>
              <a:spcAft>
                <a:spcPts val="200"/>
              </a:spcAft>
              <a:defRPr sz="1350" b="0" i="0">
                <a:solidFill>
                  <a:srgbClr val="232323"/>
                </a:solidFill>
                <a:latin typeface="微软雅黑"/>
              </a:defRPr>
            </a:pPr>
            <a:r>
              <a:t>纳入新增迁移者的正向选择递减，以及工资、价格和人口分布的均衡调整。</a:t>
            </a:r>
          </a:p>
        </p:txBody>
      </p:sp>
      <p:sp>
        <p:nvSpPr>
          <p:cNvPr id="18" name="Rectangle 17"/>
          <p:cNvSpPr/>
          <p:nvPr/>
        </p:nvSpPr>
        <p:spPr>
          <a:xfrm>
            <a:off x="8119872" y="1217676"/>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181100"/>
            <a:ext cx="2843784" cy="283464"/>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主要估计结果</a:t>
            </a:r>
          </a:p>
        </p:txBody>
      </p:sp>
      <p:sp>
        <p:nvSpPr>
          <p:cNvPr id="20" name="Rectangle 19"/>
          <p:cNvSpPr/>
          <p:nvPr/>
        </p:nvSpPr>
        <p:spPr>
          <a:xfrm>
            <a:off x="8119872" y="1620012"/>
            <a:ext cx="3108960" cy="1316736"/>
          </a:xfrm>
          <a:prstGeom prst="rect">
            <a:avLst/>
          </a:prstGeom>
          <a:solidFill>
            <a:srgbClr val="ED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738884"/>
            <a:ext cx="2862072" cy="210312"/>
          </a:xfrm>
          <a:prstGeom prst="rect">
            <a:avLst/>
          </a:prstGeom>
          <a:noFill/>
        </p:spPr>
        <p:txBody>
          <a:bodyPr wrap="square" lIns="27432" tIns="13716" rIns="27432" bIns="9144">
            <a:spAutoFit/>
          </a:bodyPr>
          <a:lstStyle/>
          <a:p>
            <a:pPr algn="ctr">
              <a:spcAft>
                <a:spcPts val="200"/>
              </a:spcAft>
              <a:defRPr sz="1300" b="1" i="0">
                <a:solidFill>
                  <a:srgbClr val="700066"/>
                </a:solidFill>
                <a:latin typeface="微软雅黑"/>
              </a:defRPr>
            </a:pPr>
            <a:r>
              <a:t>完全移除迁移约束</a:t>
            </a:r>
          </a:p>
        </p:txBody>
      </p:sp>
      <p:sp>
        <p:nvSpPr>
          <p:cNvPr id="22" name="TextBox 21"/>
          <p:cNvSpPr txBox="1"/>
          <p:nvPr/>
        </p:nvSpPr>
        <p:spPr>
          <a:xfrm>
            <a:off x="8229600" y="2104644"/>
            <a:ext cx="2880360" cy="530352"/>
          </a:xfrm>
          <a:prstGeom prst="rect">
            <a:avLst/>
          </a:prstGeom>
          <a:noFill/>
        </p:spPr>
        <p:txBody>
          <a:bodyPr wrap="square" lIns="27432" tIns="13716" rIns="27432" bIns="9144">
            <a:spAutoFit/>
          </a:bodyPr>
          <a:lstStyle/>
          <a:p>
            <a:pPr algn="ctr">
              <a:spcAft>
                <a:spcPts val="200"/>
              </a:spcAft>
              <a:defRPr sz="2900" b="1" i="0">
                <a:solidFill>
                  <a:srgbClr val="700066"/>
                </a:solidFill>
                <a:latin typeface="微软雅黑"/>
              </a:defRPr>
            </a:pPr>
            <a:r>
              <a:t>+22%</a:t>
            </a:r>
          </a:p>
        </p:txBody>
      </p:sp>
      <p:grpSp>
        <p:nvGrpSpPr>
          <p:cNvPr id="32" name="组合 31"/>
          <p:cNvGrpSpPr/>
          <p:nvPr/>
        </p:nvGrpSpPr>
        <p:grpSpPr>
          <a:xfrm>
            <a:off x="8138160" y="3293110"/>
            <a:ext cx="3108960" cy="1316990"/>
            <a:chOff x="12787" y="4826"/>
            <a:chExt cx="4896" cy="2074"/>
          </a:xfrm>
        </p:grpSpPr>
        <p:sp>
          <p:nvSpPr>
            <p:cNvPr id="23" name="Rectangle 22"/>
            <p:cNvSpPr/>
            <p:nvPr/>
          </p:nvSpPr>
          <p:spPr>
            <a:xfrm>
              <a:off x="12787" y="4826"/>
              <a:ext cx="4896" cy="2074"/>
            </a:xfrm>
            <a:prstGeom prst="rect">
              <a:avLst/>
            </a:prstGeom>
            <a:solidFill>
              <a:srgbClr val="EDE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960" y="5014"/>
              <a:ext cx="4507" cy="360"/>
            </a:xfrm>
            <a:prstGeom prst="rect">
              <a:avLst/>
            </a:prstGeom>
            <a:noFill/>
          </p:spPr>
          <p:txBody>
            <a:bodyPr wrap="square" lIns="27432" tIns="13716" rIns="27432" bIns="9144">
              <a:spAutoFit/>
            </a:bodyPr>
            <a:lstStyle/>
            <a:p>
              <a:pPr algn="ctr">
                <a:spcAft>
                  <a:spcPts val="200"/>
                </a:spcAft>
                <a:defRPr sz="1300" b="1" i="0">
                  <a:solidFill>
                    <a:srgbClr val="700066"/>
                  </a:solidFill>
                  <a:latin typeface="微软雅黑"/>
                </a:defRPr>
              </a:pPr>
              <a:r>
                <a:t>迁移成本降至美国水平</a:t>
              </a:r>
            </a:p>
          </p:txBody>
        </p:sp>
        <p:sp>
          <p:nvSpPr>
            <p:cNvPr id="25" name="TextBox 24"/>
            <p:cNvSpPr txBox="1"/>
            <p:nvPr/>
          </p:nvSpPr>
          <p:spPr>
            <a:xfrm>
              <a:off x="12960" y="5546"/>
              <a:ext cx="4536" cy="835"/>
            </a:xfrm>
            <a:prstGeom prst="rect">
              <a:avLst/>
            </a:prstGeom>
            <a:noFill/>
          </p:spPr>
          <p:txBody>
            <a:bodyPr wrap="square" lIns="27432" tIns="13716" rIns="27432" bIns="9144">
              <a:spAutoFit/>
            </a:bodyPr>
            <a:lstStyle/>
            <a:p>
              <a:pPr algn="ctr">
                <a:spcAft>
                  <a:spcPts val="200"/>
                </a:spcAft>
                <a:defRPr sz="2900" b="1" i="0">
                  <a:solidFill>
                    <a:srgbClr val="700066"/>
                  </a:solidFill>
                  <a:latin typeface="微软雅黑"/>
                </a:defRPr>
              </a:pPr>
              <a:r>
                <a:t>+7.1%</a:t>
              </a:r>
            </a:p>
          </p:txBody>
        </p:sp>
      </p:grpSp>
      <p:sp>
        <p:nvSpPr>
          <p:cNvPr id="26" name="Rectangle 25"/>
          <p:cNvSpPr/>
          <p:nvPr/>
        </p:nvSpPr>
        <p:spPr>
          <a:xfrm>
            <a:off x="2176272" y="4956048"/>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50008" y="4919472"/>
            <a:ext cx="8238744" cy="283464"/>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总体收益适中，但群体间异质性显著</a:t>
            </a:r>
          </a:p>
        </p:txBody>
      </p:sp>
      <p:sp>
        <p:nvSpPr>
          <p:cNvPr id="28" name="TextBox 27"/>
          <p:cNvSpPr txBox="1"/>
          <p:nvPr/>
        </p:nvSpPr>
        <p:spPr>
          <a:xfrm>
            <a:off x="2194560" y="5376672"/>
            <a:ext cx="164592" cy="237744"/>
          </a:xfrm>
          <a:prstGeom prst="rect">
            <a:avLst/>
          </a:prstGeom>
          <a:noFill/>
        </p:spPr>
        <p:txBody>
          <a:bodyPr wrap="square" lIns="27432" tIns="13716" rIns="27432" bIns="9144">
            <a:spAutoFit/>
          </a:bodyPr>
          <a:lstStyle/>
          <a:p>
            <a:pPr>
              <a:spcAft>
                <a:spcPts val="200"/>
              </a:spcAft>
              <a:defRPr sz="1500" b="1" i="0">
                <a:solidFill>
                  <a:srgbClr val="700066"/>
                </a:solidFill>
                <a:latin typeface="微软雅黑"/>
              </a:defRPr>
            </a:pPr>
            <a:r>
              <a:t>▪</a:t>
            </a:r>
          </a:p>
        </p:txBody>
      </p:sp>
      <p:sp>
        <p:nvSpPr>
          <p:cNvPr id="29" name="TextBox 28"/>
          <p:cNvSpPr txBox="1"/>
          <p:nvPr/>
        </p:nvSpPr>
        <p:spPr>
          <a:xfrm>
            <a:off x="2386584" y="5376672"/>
            <a:ext cx="8769096" cy="252730"/>
          </a:xfrm>
          <a:prstGeom prst="rect">
            <a:avLst/>
          </a:prstGeom>
          <a:noFill/>
        </p:spPr>
        <p:txBody>
          <a:bodyPr wrap="square" lIns="27432" tIns="13716" rIns="27432" bIns="9144">
            <a:spAutoFit/>
          </a:bodyPr>
          <a:lstStyle/>
          <a:p>
            <a:pPr>
              <a:spcAft>
                <a:spcPts val="200"/>
              </a:spcAft>
              <a:defRPr sz="1500" b="0" i="0">
                <a:solidFill>
                  <a:srgbClr val="232323"/>
                </a:solidFill>
                <a:latin typeface="微软雅黑"/>
              </a:defRPr>
            </a:pPr>
            <a:r>
              <a:t>完全移除约束时最大受益出生地群体平均收入 +104%；美国基准下 +25%</a:t>
            </a:r>
          </a:p>
        </p:txBody>
      </p:sp>
      <p:sp>
        <p:nvSpPr>
          <p:cNvPr id="30" name="Rectangle 29"/>
          <p:cNvSpPr/>
          <p:nvPr/>
        </p:nvSpPr>
        <p:spPr>
          <a:xfrm>
            <a:off x="2103120" y="6025896"/>
            <a:ext cx="9144000" cy="448056"/>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40280" y="6085332"/>
            <a:ext cx="8833104" cy="252730"/>
          </a:xfrm>
          <a:prstGeom prst="rect">
            <a:avLst/>
          </a:prstGeom>
          <a:noFill/>
        </p:spPr>
        <p:txBody>
          <a:bodyPr wrap="square" lIns="27432" tIns="13716" rIns="27432" bIns="9144">
            <a:spAutoFit/>
          </a:bodyPr>
          <a:lstStyle/>
          <a:p>
            <a:pPr>
              <a:spcAft>
                <a:spcPts val="200"/>
              </a:spcAft>
              <a:defRPr sz="1500" b="1" i="0">
                <a:solidFill>
                  <a:srgbClr val="700066"/>
                </a:solidFill>
                <a:latin typeface="微软雅黑"/>
              </a:defRPr>
            </a:pPr>
            <a:r>
              <a:t>新增迁移者并不具有既有迁移者的平均生产率：因此不能直接外推观察到的工资差距</a:t>
            </a:r>
          </a:p>
        </p:txBody>
      </p:sp>
    </p:spTree>
  </p:cSld>
  <p:clrMapOvr>
    <a:masterClrMapping/>
  </p:clrMapOvr>
  <p:timing>
    <p:tnLst>
      <p:par>
        <p:cTn id="1" dur="indefinite" restart="never" nodeType="tmRoot"/>
      </p:par>
    </p:tnLst>
    <p:bldLst>
      <p:bldP spid="18" grpId="0" animBg="1"/>
      <p:bldP spid="19" grpId="0"/>
      <p:bldP spid="20" grpId="0" animBg="1"/>
      <p:bldP spid="21" grpId="0"/>
      <p:bldP spid="22" grpId="0"/>
      <p:bldP spid="18" grpId="1" animBg="1"/>
      <p:bldP spid="19" grpId="1"/>
      <p:bldP spid="20" grpId="1" animBg="1"/>
      <p:bldP spid="21" grpId="1"/>
      <p:bldP spid="22" grpId="1"/>
      <p:bldP spid="6" grpId="0"/>
      <p:bldP spid="26" grpId="0" animBg="1"/>
      <p:bldP spid="27" grpId="0"/>
      <p:bldP spid="28" grpId="0"/>
      <p:bldP spid="29" grpId="0"/>
      <p:bldP spid="30" grpId="0" animBg="1"/>
      <p:bldP spid="31" grpId="0"/>
      <p:bldP spid="6" grpId="1"/>
      <p:bldP spid="26" grpId="1" animBg="1"/>
      <p:bldP spid="27" grpId="1"/>
      <p:bldP spid="28" grpId="1"/>
      <p:bldP spid="29" grpId="1"/>
      <p:bldP spid="30" grpId="1" animBg="1"/>
      <p:bldP spid="31"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975104" y="352044"/>
            <a:ext cx="411480" cy="411480"/>
          </a:xfrm>
          <a:prstGeom prst="ellipse">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sz="1800">
                <a:latin typeface="Times New Roman" panose="02020503050405090304" pitchFamily="18" charset="0"/>
                <a:cs typeface="Times New Roman" panose="02020503050405090304" pitchFamily="18" charset="0"/>
              </a:rPr>
              <a:t>1.7</a:t>
            </a:r>
            <a:endParaRPr sz="1800">
              <a:latin typeface="Times New Roman" panose="02020503050405090304" pitchFamily="18" charset="0"/>
              <a:cs typeface="Times New Roman" panose="02020503050405090304" pitchFamily="18" charset="0"/>
            </a:endParaRPr>
          </a:p>
        </p:txBody>
      </p:sp>
      <p:sp>
        <p:nvSpPr>
          <p:cNvPr id="4" name="TextBox 3"/>
          <p:cNvSpPr txBox="1"/>
          <p:nvPr/>
        </p:nvSpPr>
        <p:spPr>
          <a:xfrm>
            <a:off x="2487168" y="329184"/>
            <a:ext cx="8595360" cy="437515"/>
          </a:xfrm>
          <a:prstGeom prst="rect">
            <a:avLst/>
          </a:prstGeom>
          <a:noFill/>
        </p:spPr>
        <p:txBody>
          <a:bodyPr wrap="square" lIns="27432" tIns="13716" rIns="27432" bIns="9144">
            <a:spAutoFit/>
          </a:bodyPr>
          <a:lstStyle/>
          <a:p>
            <a:pPr>
              <a:spcAft>
                <a:spcPts val="200"/>
              </a:spcAft>
              <a:defRPr sz="2700" b="1" i="0">
                <a:solidFill>
                  <a:srgbClr val="000000"/>
                </a:solidFill>
                <a:latin typeface="微软雅黑"/>
              </a:defRPr>
            </a:pPr>
            <a:r>
              <a:t>三项创新与三项局限</a:t>
            </a:r>
          </a:p>
        </p:txBody>
      </p:sp>
      <p:sp>
        <p:nvSpPr>
          <p:cNvPr id="6" name="TextBox 5"/>
          <p:cNvSpPr txBox="1"/>
          <p:nvPr/>
        </p:nvSpPr>
        <p:spPr>
          <a:xfrm>
            <a:off x="2130552" y="6547104"/>
            <a:ext cx="8778240" cy="164592"/>
          </a:xfrm>
          <a:prstGeom prst="rect">
            <a:avLst/>
          </a:prstGeom>
          <a:noFill/>
        </p:spPr>
        <p:txBody>
          <a:bodyPr wrap="square" lIns="27432" tIns="13716" rIns="27432" bIns="9144">
            <a:spAutoFit/>
          </a:bodyPr>
          <a:lstStyle/>
          <a:p>
            <a:pPr>
              <a:spcAft>
                <a:spcPts val="200"/>
              </a:spcAft>
              <a:defRPr sz="900" b="0" i="0">
                <a:solidFill>
                  <a:srgbClr val="787878"/>
                </a:solidFill>
                <a:latin typeface="微软雅黑"/>
              </a:defRPr>
            </a:pPr>
            <a:r>
              <a:t>Source: Bryan &amp; Morten (2019), Introduction, pp. 2232–2234.</a:t>
            </a:r>
          </a:p>
        </p:txBody>
      </p:sp>
      <p:sp>
        <p:nvSpPr>
          <p:cNvPr id="7" name="Rectangle 6"/>
          <p:cNvSpPr/>
          <p:nvPr/>
        </p:nvSpPr>
        <p:spPr>
          <a:xfrm>
            <a:off x="2176272" y="1216152"/>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50008" y="1179576"/>
            <a:ext cx="4123944" cy="283210"/>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三项创新</a:t>
            </a:r>
          </a:p>
        </p:txBody>
      </p:sp>
      <p:sp>
        <p:nvSpPr>
          <p:cNvPr id="9" name="Rectangle 8"/>
          <p:cNvSpPr/>
          <p:nvPr/>
        </p:nvSpPr>
        <p:spPr>
          <a:xfrm>
            <a:off x="6812280" y="1216152"/>
            <a:ext cx="96012" cy="21031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86016" y="1179576"/>
            <a:ext cx="4123944" cy="283210"/>
          </a:xfrm>
          <a:prstGeom prst="rect">
            <a:avLst/>
          </a:prstGeom>
          <a:noFill/>
        </p:spPr>
        <p:txBody>
          <a:bodyPr wrap="square" lIns="27432" tIns="13716" rIns="27432" bIns="9144">
            <a:spAutoFit/>
          </a:bodyPr>
          <a:lstStyle/>
          <a:p>
            <a:pPr>
              <a:spcAft>
                <a:spcPts val="200"/>
              </a:spcAft>
              <a:defRPr sz="1700" b="1" i="0">
                <a:solidFill>
                  <a:srgbClr val="700066"/>
                </a:solidFill>
                <a:latin typeface="微软雅黑"/>
              </a:defRPr>
            </a:pPr>
            <a:r>
              <a:t>三项局限</a:t>
            </a:r>
          </a:p>
        </p:txBody>
      </p:sp>
      <p:sp>
        <p:nvSpPr>
          <p:cNvPr id="11" name="Rectangle 10"/>
          <p:cNvSpPr/>
          <p:nvPr/>
        </p:nvSpPr>
        <p:spPr>
          <a:xfrm>
            <a:off x="2176272" y="1673352"/>
            <a:ext cx="4434840" cy="1252728"/>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76272" y="1673352"/>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1737360"/>
            <a:ext cx="4215383" cy="256032"/>
          </a:xfrm>
          <a:prstGeom prst="rect">
            <a:avLst/>
          </a:prstGeom>
          <a:noFill/>
        </p:spPr>
        <p:txBody>
          <a:bodyPr wrap="square" lIns="27432" tIns="13716" rIns="27432" bIns="9144">
            <a:spAutoFit/>
          </a:bodyPr>
          <a:lstStyle/>
          <a:p>
            <a:pPr>
              <a:spcAft>
                <a:spcPts val="200"/>
              </a:spcAft>
              <a:defRPr sz="1430" b="1" i="0">
                <a:solidFill>
                  <a:srgbClr val="FFFFFF"/>
                </a:solidFill>
                <a:latin typeface="微软雅黑"/>
              </a:defRPr>
            </a:pPr>
            <a:r>
              <a:t>① 研究地区间迁移</a:t>
            </a:r>
          </a:p>
        </p:txBody>
      </p:sp>
      <p:sp>
        <p:nvSpPr>
          <p:cNvPr id="14" name="TextBox 13"/>
          <p:cNvSpPr txBox="1"/>
          <p:nvPr/>
        </p:nvSpPr>
        <p:spPr>
          <a:xfrm>
            <a:off x="2295144" y="2130552"/>
            <a:ext cx="4197096" cy="216535"/>
          </a:xfrm>
          <a:prstGeom prst="rect">
            <a:avLst/>
          </a:prstGeom>
          <a:noFill/>
        </p:spPr>
        <p:txBody>
          <a:bodyPr wrap="square" lIns="27432" tIns="13716" rIns="27432" bIns="9144">
            <a:spAutoFit/>
          </a:bodyPr>
          <a:lstStyle/>
          <a:p>
            <a:pPr>
              <a:spcAft>
                <a:spcPts val="200"/>
              </a:spcAft>
              <a:defRPr sz="1270" b="0" i="0">
                <a:solidFill>
                  <a:srgbClr val="232323"/>
                </a:solidFill>
                <a:latin typeface="微软雅黑"/>
              </a:defRPr>
            </a:pPr>
            <a:r>
              <a:t>从 </a:t>
            </a:r>
            <a:r>
              <a:rPr>
                <a:latin typeface="Times New Roman" panose="02020503050405090304" pitchFamily="18" charset="0"/>
                <a:cs typeface="Times New Roman" panose="02020503050405090304" pitchFamily="18" charset="0"/>
              </a:rPr>
              <a:t>Rural-to-Urban</a:t>
            </a:r>
            <a:r>
              <a:t> 扩展为 </a:t>
            </a:r>
            <a:r>
              <a:rPr>
                <a:latin typeface="Times New Roman" panose="02020503050405090304" pitchFamily="18" charset="0"/>
                <a:cs typeface="Times New Roman" panose="02020503050405090304" pitchFamily="18" charset="0"/>
              </a:rPr>
              <a:t>Region-to-Region</a:t>
            </a:r>
            <a:endParaRPr>
              <a:latin typeface="Times New Roman" panose="02020503050405090304" pitchFamily="18" charset="0"/>
              <a:cs typeface="Times New Roman" panose="02020503050405090304" pitchFamily="18" charset="0"/>
            </a:endParaRPr>
          </a:p>
        </p:txBody>
      </p:sp>
      <p:sp>
        <p:nvSpPr>
          <p:cNvPr id="15" name="Rectangle 14"/>
          <p:cNvSpPr/>
          <p:nvPr/>
        </p:nvSpPr>
        <p:spPr>
          <a:xfrm>
            <a:off x="2176272" y="3017520"/>
            <a:ext cx="4434840" cy="1252728"/>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76272" y="3017520"/>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3081527"/>
            <a:ext cx="4215383" cy="256032"/>
          </a:xfrm>
          <a:prstGeom prst="rect">
            <a:avLst/>
          </a:prstGeom>
          <a:noFill/>
        </p:spPr>
        <p:txBody>
          <a:bodyPr wrap="square" lIns="27432" tIns="13716" rIns="27432" bIns="9144">
            <a:spAutoFit/>
          </a:bodyPr>
          <a:lstStyle/>
          <a:p>
            <a:pPr>
              <a:spcAft>
                <a:spcPts val="200"/>
              </a:spcAft>
              <a:defRPr sz="1430" b="1" i="0">
                <a:solidFill>
                  <a:srgbClr val="FFFFFF"/>
                </a:solidFill>
                <a:latin typeface="微软雅黑"/>
              </a:defRPr>
            </a:pPr>
            <a:r>
              <a:t>② 直接估计反事实收益</a:t>
            </a:r>
          </a:p>
        </p:txBody>
      </p:sp>
      <p:sp>
        <p:nvSpPr>
          <p:cNvPr id="18" name="TextBox 17"/>
          <p:cNvSpPr txBox="1"/>
          <p:nvPr/>
        </p:nvSpPr>
        <p:spPr>
          <a:xfrm>
            <a:off x="2295144" y="3474720"/>
            <a:ext cx="4197096" cy="411480"/>
          </a:xfrm>
          <a:prstGeom prst="rect">
            <a:avLst/>
          </a:prstGeom>
          <a:noFill/>
        </p:spPr>
        <p:txBody>
          <a:bodyPr wrap="square" lIns="27432" tIns="13716" rIns="27432" bIns="9144">
            <a:spAutoFit/>
          </a:bodyPr>
          <a:lstStyle/>
          <a:p>
            <a:pPr>
              <a:spcAft>
                <a:spcPts val="200"/>
              </a:spcAft>
              <a:defRPr sz="1270" b="0" i="0">
                <a:solidFill>
                  <a:srgbClr val="232323"/>
                </a:solidFill>
                <a:latin typeface="微软雅黑"/>
              </a:defRPr>
            </a:pPr>
            <a:r>
              <a:t>研究移除约束后的生产率，而非直接外推既有迁移者的历史回报；处理选择效应</a:t>
            </a:r>
          </a:p>
        </p:txBody>
      </p:sp>
      <p:sp>
        <p:nvSpPr>
          <p:cNvPr id="19" name="Rectangle 18"/>
          <p:cNvSpPr/>
          <p:nvPr/>
        </p:nvSpPr>
        <p:spPr>
          <a:xfrm>
            <a:off x="2176272" y="4361688"/>
            <a:ext cx="4434840" cy="1252728"/>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76272" y="4361688"/>
            <a:ext cx="4434840"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4425696"/>
            <a:ext cx="4215383" cy="256032"/>
          </a:xfrm>
          <a:prstGeom prst="rect">
            <a:avLst/>
          </a:prstGeom>
          <a:noFill/>
        </p:spPr>
        <p:txBody>
          <a:bodyPr wrap="square" lIns="27432" tIns="13716" rIns="27432" bIns="9144">
            <a:spAutoFit/>
          </a:bodyPr>
          <a:lstStyle/>
          <a:p>
            <a:pPr>
              <a:spcAft>
                <a:spcPts val="200"/>
              </a:spcAft>
              <a:defRPr sz="1430" b="1" i="0">
                <a:solidFill>
                  <a:srgbClr val="FFFFFF"/>
                </a:solidFill>
                <a:latin typeface="微软雅黑"/>
              </a:defRPr>
            </a:pPr>
            <a:r>
              <a:t>③ 考虑一般均衡调整</a:t>
            </a:r>
          </a:p>
        </p:txBody>
      </p:sp>
      <p:sp>
        <p:nvSpPr>
          <p:cNvPr id="22" name="TextBox 21"/>
          <p:cNvSpPr txBox="1"/>
          <p:nvPr/>
        </p:nvSpPr>
        <p:spPr>
          <a:xfrm>
            <a:off x="2295144" y="4818888"/>
            <a:ext cx="4197096" cy="411480"/>
          </a:xfrm>
          <a:prstGeom prst="rect">
            <a:avLst/>
          </a:prstGeom>
          <a:noFill/>
        </p:spPr>
        <p:txBody>
          <a:bodyPr wrap="square" lIns="27432" tIns="13716" rIns="27432" bIns="9144">
            <a:spAutoFit/>
          </a:bodyPr>
          <a:lstStyle/>
          <a:p>
            <a:pPr>
              <a:spcAft>
                <a:spcPts val="200"/>
              </a:spcAft>
              <a:defRPr sz="1270" b="0" i="0">
                <a:solidFill>
                  <a:srgbClr val="232323"/>
                </a:solidFill>
                <a:latin typeface="微软雅黑"/>
              </a:defRPr>
            </a:pPr>
            <a:r>
              <a:t>兼顾 </a:t>
            </a:r>
            <a:r>
              <a:rPr>
                <a:latin typeface="Times New Roman" panose="02020503050405090304" pitchFamily="18" charset="0"/>
                <a:cs typeface="Times New Roman" panose="02020503050405090304" pitchFamily="18" charset="0"/>
              </a:rPr>
              <a:t>Sorting、Agglomeration</a:t>
            </a:r>
            <a:r>
              <a:t>；分析集聚、拥挤、租金、价格弹性的敏感性</a:t>
            </a:r>
          </a:p>
        </p:txBody>
      </p:sp>
      <p:sp>
        <p:nvSpPr>
          <p:cNvPr id="23" name="Rectangle 22"/>
          <p:cNvSpPr/>
          <p:nvPr/>
        </p:nvSpPr>
        <p:spPr>
          <a:xfrm>
            <a:off x="6812280" y="1673352"/>
            <a:ext cx="4416552" cy="1252728"/>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12280" y="1673352"/>
            <a:ext cx="4416552"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22008" y="1737360"/>
            <a:ext cx="4197096" cy="256032"/>
          </a:xfrm>
          <a:prstGeom prst="rect">
            <a:avLst/>
          </a:prstGeom>
          <a:noFill/>
        </p:spPr>
        <p:txBody>
          <a:bodyPr wrap="square" lIns="27432" tIns="13716" rIns="27432" bIns="9144">
            <a:spAutoFit/>
          </a:bodyPr>
          <a:lstStyle/>
          <a:p>
            <a:pPr>
              <a:spcAft>
                <a:spcPts val="200"/>
              </a:spcAft>
              <a:defRPr sz="1430" b="1" i="0">
                <a:solidFill>
                  <a:srgbClr val="FFFFFF"/>
                </a:solidFill>
                <a:latin typeface="微软雅黑"/>
              </a:defRPr>
            </a:pPr>
            <a:r>
              <a:t>① 仅估计静态收益</a:t>
            </a:r>
          </a:p>
        </p:txBody>
      </p:sp>
      <p:sp>
        <p:nvSpPr>
          <p:cNvPr id="26" name="TextBox 25"/>
          <p:cNvSpPr txBox="1"/>
          <p:nvPr/>
        </p:nvSpPr>
        <p:spPr>
          <a:xfrm>
            <a:off x="6931152" y="2130552"/>
            <a:ext cx="4178808" cy="216535"/>
          </a:xfrm>
          <a:prstGeom prst="rect">
            <a:avLst/>
          </a:prstGeom>
          <a:noFill/>
        </p:spPr>
        <p:txBody>
          <a:bodyPr wrap="square" lIns="27432" tIns="13716" rIns="27432" bIns="9144">
            <a:spAutoFit/>
          </a:bodyPr>
          <a:lstStyle/>
          <a:p>
            <a:pPr>
              <a:spcAft>
                <a:spcPts val="200"/>
              </a:spcAft>
              <a:defRPr sz="1270" b="0" i="0">
                <a:solidFill>
                  <a:srgbClr val="232323"/>
                </a:solidFill>
                <a:latin typeface="微软雅黑"/>
              </a:defRPr>
            </a:pPr>
            <a:r>
              <a:t>没有估计企业进入、迁移成本内生调整等长期动态效应</a:t>
            </a:r>
          </a:p>
        </p:txBody>
      </p:sp>
      <p:sp>
        <p:nvSpPr>
          <p:cNvPr id="27" name="Rectangle 26"/>
          <p:cNvSpPr/>
          <p:nvPr/>
        </p:nvSpPr>
        <p:spPr>
          <a:xfrm>
            <a:off x="6812280" y="3017520"/>
            <a:ext cx="4416552" cy="1252728"/>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12280" y="3017520"/>
            <a:ext cx="4416552"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22008" y="3081527"/>
            <a:ext cx="4197096" cy="256032"/>
          </a:xfrm>
          <a:prstGeom prst="rect">
            <a:avLst/>
          </a:prstGeom>
          <a:noFill/>
        </p:spPr>
        <p:txBody>
          <a:bodyPr wrap="square" lIns="27432" tIns="13716" rIns="27432" bIns="9144">
            <a:spAutoFit/>
          </a:bodyPr>
          <a:lstStyle/>
          <a:p>
            <a:pPr>
              <a:spcAft>
                <a:spcPts val="200"/>
              </a:spcAft>
              <a:defRPr sz="1430" b="1" i="0">
                <a:solidFill>
                  <a:srgbClr val="FFFFFF"/>
                </a:solidFill>
                <a:latin typeface="微软雅黑"/>
              </a:defRPr>
            </a:pPr>
            <a:r>
              <a:t>② 不构造完整福利评价</a:t>
            </a:r>
          </a:p>
        </p:txBody>
      </p:sp>
      <p:sp>
        <p:nvSpPr>
          <p:cNvPr id="30" name="TextBox 29"/>
          <p:cNvSpPr txBox="1"/>
          <p:nvPr/>
        </p:nvSpPr>
        <p:spPr>
          <a:xfrm>
            <a:off x="6931152" y="3474720"/>
            <a:ext cx="4178808" cy="411480"/>
          </a:xfrm>
          <a:prstGeom prst="rect">
            <a:avLst/>
          </a:prstGeom>
          <a:noFill/>
        </p:spPr>
        <p:txBody>
          <a:bodyPr wrap="square" lIns="27432" tIns="13716" rIns="27432" bIns="9144">
            <a:spAutoFit/>
          </a:bodyPr>
          <a:lstStyle/>
          <a:p>
            <a:pPr>
              <a:spcAft>
                <a:spcPts val="200"/>
              </a:spcAft>
              <a:defRPr sz="1270" b="0" i="0">
                <a:solidFill>
                  <a:srgbClr val="232323"/>
                </a:solidFill>
                <a:latin typeface="微软雅黑"/>
              </a:defRPr>
            </a:pPr>
            <a:r>
              <a:t>主要计算生产率增益；不考虑福利可能为负的情形，也不核算实施成本</a:t>
            </a:r>
          </a:p>
        </p:txBody>
      </p:sp>
      <p:sp>
        <p:nvSpPr>
          <p:cNvPr id="31" name="Rectangle 30"/>
          <p:cNvSpPr/>
          <p:nvPr/>
        </p:nvSpPr>
        <p:spPr>
          <a:xfrm>
            <a:off x="6812280" y="4361688"/>
            <a:ext cx="4416552" cy="1252728"/>
          </a:xfrm>
          <a:prstGeom prst="rect">
            <a:avLst/>
          </a:prstGeom>
          <a:solidFill>
            <a:srgbClr val="F9F9F9"/>
          </a:solidFill>
          <a:ln w="15240">
            <a:solidFill>
              <a:srgbClr val="DBD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12280" y="4361688"/>
            <a:ext cx="4416552" cy="347472"/>
          </a:xfrm>
          <a:prstGeom prst="rect">
            <a:avLst/>
          </a:prstGeom>
          <a:solidFill>
            <a:srgbClr val="7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22008" y="4425696"/>
            <a:ext cx="4197096" cy="256032"/>
          </a:xfrm>
          <a:prstGeom prst="rect">
            <a:avLst/>
          </a:prstGeom>
          <a:noFill/>
        </p:spPr>
        <p:txBody>
          <a:bodyPr wrap="square" lIns="27432" tIns="13716" rIns="27432" bIns="9144">
            <a:spAutoFit/>
          </a:bodyPr>
          <a:lstStyle/>
          <a:p>
            <a:pPr>
              <a:spcAft>
                <a:spcPts val="200"/>
              </a:spcAft>
              <a:defRPr sz="1430" b="1" i="0">
                <a:solidFill>
                  <a:srgbClr val="FFFFFF"/>
                </a:solidFill>
                <a:latin typeface="微软雅黑"/>
              </a:defRPr>
            </a:pPr>
            <a:r>
              <a:t>③ 不评估具体政策</a:t>
            </a:r>
          </a:p>
        </p:txBody>
      </p:sp>
      <p:sp>
        <p:nvSpPr>
          <p:cNvPr id="34" name="TextBox 33"/>
          <p:cNvSpPr txBox="1"/>
          <p:nvPr/>
        </p:nvSpPr>
        <p:spPr>
          <a:xfrm>
            <a:off x="6931152" y="4818888"/>
            <a:ext cx="4178808" cy="216535"/>
          </a:xfrm>
          <a:prstGeom prst="rect">
            <a:avLst/>
          </a:prstGeom>
          <a:noFill/>
        </p:spPr>
        <p:txBody>
          <a:bodyPr wrap="square" lIns="27432" tIns="13716" rIns="27432" bIns="9144">
            <a:spAutoFit/>
          </a:bodyPr>
          <a:lstStyle/>
          <a:p>
            <a:pPr>
              <a:spcAft>
                <a:spcPts val="200"/>
              </a:spcAft>
              <a:defRPr sz="1270" b="0" i="0">
                <a:solidFill>
                  <a:srgbClr val="232323"/>
                </a:solidFill>
                <a:latin typeface="微软雅黑"/>
              </a:defRPr>
            </a:pPr>
            <a:r>
              <a:t>量化潜在可实现收益，未对某一实际政策作成本收益评估</a:t>
            </a:r>
          </a:p>
        </p:txBody>
      </p:sp>
      <p:sp>
        <p:nvSpPr>
          <p:cNvPr id="35" name="Rectangle 34"/>
          <p:cNvSpPr/>
          <p:nvPr/>
        </p:nvSpPr>
        <p:spPr>
          <a:xfrm>
            <a:off x="2103120" y="5980176"/>
            <a:ext cx="9144000" cy="4846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40280" y="6039612"/>
            <a:ext cx="8833104" cy="252730"/>
          </a:xfrm>
          <a:prstGeom prst="rect">
            <a:avLst/>
          </a:prstGeom>
          <a:noFill/>
        </p:spPr>
        <p:txBody>
          <a:bodyPr wrap="square" lIns="27432" tIns="13716" rIns="27432" bIns="9144">
            <a:spAutoFit/>
          </a:bodyPr>
          <a:lstStyle/>
          <a:p>
            <a:pPr>
              <a:spcAft>
                <a:spcPts val="200"/>
              </a:spcAft>
              <a:defRPr sz="1500" b="1" i="0">
                <a:solidFill>
                  <a:srgbClr val="700066"/>
                </a:solidFill>
                <a:latin typeface="微软雅黑"/>
              </a:defRPr>
            </a:pPr>
            <a:r>
              <a:t>本文量化“减少迁移约束可释放多少静态生产率”，而非“某项政策的净福利收益”</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2112264" y="1664208"/>
            <a:ext cx="9116568" cy="347472"/>
          </a:xfrm>
          <a:prstGeom prst="rect">
            <a:avLst/>
          </a:prstGeom>
          <a:solidFill>
            <a:srgbClr val="632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28"/>
          <p:cNvSpPr txBox="1"/>
          <p:nvPr/>
        </p:nvSpPr>
        <p:spPr>
          <a:xfrm>
            <a:off x="2231136" y="1719072"/>
            <a:ext cx="1874519" cy="228600"/>
          </a:xfrm>
          <a:prstGeom prst="rect">
            <a:avLst/>
          </a:prstGeom>
          <a:noFill/>
        </p:spPr>
        <p:txBody>
          <a:bodyPr wrap="square" lIns="18288" tIns="18288" rIns="18288" bIns="9144">
            <a:spAutoFit/>
          </a:bodyPr>
          <a:lstStyle/>
          <a:p>
            <a:pPr>
              <a:spcAft>
                <a:spcPts val="300"/>
              </a:spcAft>
            </a:pPr>
            <a:r>
              <a:rPr sz="1400" b="1" i="0">
                <a:solidFill>
                  <a:srgbClr val="FFFFFF"/>
                </a:solidFill>
                <a:latin typeface="微软雅黑"/>
              </a:rPr>
              <a:t>数据集 / 年份</a:t>
            </a:r>
            <a:endParaRPr sz="1400" b="1" i="0">
              <a:solidFill>
                <a:srgbClr val="FFFFFF"/>
              </a:solidFill>
              <a:latin typeface="微软雅黑"/>
            </a:endParaRPr>
          </a:p>
        </p:txBody>
      </p:sp>
      <p:sp>
        <p:nvSpPr>
          <p:cNvPr id="10" name="TextBox 29"/>
          <p:cNvSpPr txBox="1"/>
          <p:nvPr/>
        </p:nvSpPr>
        <p:spPr>
          <a:xfrm>
            <a:off x="4187952" y="1719072"/>
            <a:ext cx="3063240" cy="228600"/>
          </a:xfrm>
          <a:prstGeom prst="rect">
            <a:avLst/>
          </a:prstGeom>
          <a:noFill/>
        </p:spPr>
        <p:txBody>
          <a:bodyPr wrap="square" lIns="18288" tIns="18288" rIns="18288" bIns="9144">
            <a:spAutoFit/>
          </a:bodyPr>
          <a:lstStyle/>
          <a:p>
            <a:pPr>
              <a:spcAft>
                <a:spcPts val="300"/>
              </a:spcAft>
            </a:pPr>
            <a:r>
              <a:rPr sz="1400" b="1" i="0">
                <a:solidFill>
                  <a:srgbClr val="FFFFFF"/>
                </a:solidFill>
                <a:latin typeface="微软雅黑"/>
              </a:rPr>
              <a:t>使用变量</a:t>
            </a:r>
            <a:endParaRPr sz="1400" b="1" i="0">
              <a:solidFill>
                <a:srgbClr val="FFFFFF"/>
              </a:solidFill>
              <a:latin typeface="微软雅黑"/>
            </a:endParaRPr>
          </a:p>
        </p:txBody>
      </p:sp>
      <p:sp>
        <p:nvSpPr>
          <p:cNvPr id="31" name="TextBox 30"/>
          <p:cNvSpPr txBox="1"/>
          <p:nvPr/>
        </p:nvSpPr>
        <p:spPr>
          <a:xfrm>
            <a:off x="7360920" y="1719072"/>
            <a:ext cx="3675887" cy="228600"/>
          </a:xfrm>
          <a:prstGeom prst="rect">
            <a:avLst/>
          </a:prstGeom>
          <a:noFill/>
        </p:spPr>
        <p:txBody>
          <a:bodyPr wrap="square" lIns="18288" tIns="18288" rIns="18288" bIns="9144">
            <a:spAutoFit/>
          </a:bodyPr>
          <a:lstStyle/>
          <a:p>
            <a:pPr>
              <a:spcAft>
                <a:spcPts val="300"/>
              </a:spcAft>
            </a:pPr>
            <a:r>
              <a:rPr sz="1400" b="1" i="0">
                <a:solidFill>
                  <a:srgbClr val="FFFFFF"/>
                </a:solidFill>
                <a:latin typeface="微软雅黑"/>
              </a:rPr>
              <a:t>目的与用途</a:t>
            </a:r>
            <a:endParaRPr sz="1400" b="1" i="0">
              <a:solidFill>
                <a:srgbClr val="FFFFFF"/>
              </a:solidFill>
              <a:latin typeface="微软雅黑"/>
            </a:endParaRPr>
          </a:p>
        </p:txBody>
      </p:sp>
      <p:sp>
        <p:nvSpPr>
          <p:cNvPr id="32" name="Rectangle 31"/>
          <p:cNvSpPr/>
          <p:nvPr/>
        </p:nvSpPr>
        <p:spPr>
          <a:xfrm>
            <a:off x="2112264" y="2039112"/>
            <a:ext cx="9116568" cy="722376"/>
          </a:xfrm>
          <a:prstGeom prst="rect">
            <a:avLst/>
          </a:prstGeom>
          <a:solidFill>
            <a:srgbClr val="F4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49424" y="2139696"/>
            <a:ext cx="1865376" cy="557784"/>
          </a:xfrm>
          <a:prstGeom prst="rect">
            <a:avLst/>
          </a:prstGeom>
          <a:noFill/>
        </p:spPr>
        <p:txBody>
          <a:bodyPr wrap="square" lIns="18288" tIns="18288" rIns="18288" bIns="9144">
            <a:spAutoFit/>
          </a:bodyPr>
          <a:lstStyle/>
          <a:p>
            <a:pPr>
              <a:spcAft>
                <a:spcPts val="300"/>
              </a:spcAft>
            </a:pPr>
            <a:r>
              <a:rPr sz="1370" b="1" i="0">
                <a:solidFill>
                  <a:srgbClr val="700064"/>
                </a:solidFill>
                <a:latin typeface="微软雅黑"/>
              </a:rPr>
              <a:t>SUPAS / SUSENAS</a:t>
            </a:r>
            <a:endParaRPr sz="1370" b="1" i="0">
              <a:solidFill>
                <a:srgbClr val="700064"/>
              </a:solidFill>
              <a:latin typeface="微软雅黑"/>
            </a:endParaRPr>
          </a:p>
          <a:p>
            <a:pPr>
              <a:spcAft>
                <a:spcPts val="300"/>
              </a:spcAft>
            </a:pPr>
            <a:r>
              <a:rPr sz="1370" b="1" i="0">
                <a:solidFill>
                  <a:srgbClr val="700064"/>
                </a:solidFill>
                <a:latin typeface="微软雅黑"/>
              </a:rPr>
              <a:t>1995 / 2011–12</a:t>
            </a:r>
            <a:endParaRPr sz="1370" b="1" i="0">
              <a:solidFill>
                <a:srgbClr val="700064"/>
              </a:solidFill>
              <a:latin typeface="微软雅黑"/>
            </a:endParaRPr>
          </a:p>
        </p:txBody>
      </p:sp>
      <p:sp>
        <p:nvSpPr>
          <p:cNvPr id="34" name="TextBox 33"/>
          <p:cNvSpPr txBox="1"/>
          <p:nvPr/>
        </p:nvSpPr>
        <p:spPr>
          <a:xfrm>
            <a:off x="4178808" y="2139696"/>
            <a:ext cx="3008376" cy="453390"/>
          </a:xfrm>
          <a:prstGeom prst="rect">
            <a:avLst/>
          </a:prstGeom>
          <a:noFill/>
        </p:spPr>
        <p:txBody>
          <a:bodyPr wrap="square" lIns="18288" tIns="18288" rIns="18288" bIns="9144">
            <a:spAutoFit/>
          </a:bodyPr>
          <a:lstStyle/>
          <a:p>
            <a:pPr>
              <a:spcAft>
                <a:spcPts val="300"/>
              </a:spcAft>
            </a:pPr>
            <a:r>
              <a:rPr sz="1390" b="0" i="0">
                <a:solidFill>
                  <a:srgbClr val="1C1C1C"/>
                </a:solidFill>
                <a:latin typeface="微软雅黑"/>
              </a:rPr>
              <a:t>出生地 ；现工作地 ；月工资；年龄、性别、户主身份</a:t>
            </a:r>
            <a:endParaRPr sz="1390" b="0" i="0">
              <a:solidFill>
                <a:srgbClr val="1C1C1C"/>
              </a:solidFill>
              <a:latin typeface="微软雅黑"/>
            </a:endParaRPr>
          </a:p>
        </p:txBody>
      </p:sp>
      <p:sp>
        <p:nvSpPr>
          <p:cNvPr id="35" name="TextBox 34"/>
          <p:cNvSpPr txBox="1"/>
          <p:nvPr/>
        </p:nvSpPr>
        <p:spPr>
          <a:xfrm>
            <a:off x="7360920" y="2139696"/>
            <a:ext cx="3630168" cy="576072"/>
          </a:xfrm>
          <a:prstGeom prst="rect">
            <a:avLst/>
          </a:prstGeom>
          <a:noFill/>
        </p:spPr>
        <p:txBody>
          <a:bodyPr wrap="square" lIns="18288" tIns="18288" rIns="18288" bIns="9144">
            <a:spAutoFit/>
          </a:bodyPr>
          <a:lstStyle/>
          <a:p>
            <a:pPr>
              <a:spcAft>
                <a:spcPts val="300"/>
              </a:spcAft>
            </a:pPr>
            <a:r>
              <a:rPr sz="1380" b="0" i="0">
                <a:solidFill>
                  <a:srgbClr val="1C1C1C"/>
                </a:solidFill>
                <a:latin typeface="微软雅黑"/>
              </a:rPr>
              <a:t>构建迁移份额、双边迁移矩阵及群体平均工资；核心结构估计</a:t>
            </a:r>
            <a:endParaRPr sz="1380" b="0" i="0">
              <a:solidFill>
                <a:srgbClr val="1C1C1C"/>
              </a:solidFill>
              <a:latin typeface="微软雅黑"/>
            </a:endParaRPr>
          </a:p>
        </p:txBody>
      </p:sp>
      <p:sp>
        <p:nvSpPr>
          <p:cNvPr id="36" name="Rectangle 35"/>
          <p:cNvSpPr/>
          <p:nvPr/>
        </p:nvSpPr>
        <p:spPr>
          <a:xfrm>
            <a:off x="2112264" y="2788920"/>
            <a:ext cx="9116568" cy="722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49424" y="2889503"/>
            <a:ext cx="1865376" cy="485775"/>
          </a:xfrm>
          <a:prstGeom prst="rect">
            <a:avLst/>
          </a:prstGeom>
          <a:noFill/>
        </p:spPr>
        <p:txBody>
          <a:bodyPr wrap="square" lIns="18288" tIns="18288" rIns="18288" bIns="9144">
            <a:spAutoFit/>
          </a:bodyPr>
          <a:lstStyle/>
          <a:p>
            <a:pPr>
              <a:spcAft>
                <a:spcPts val="300"/>
              </a:spcAft>
            </a:pPr>
            <a:r>
              <a:rPr sz="1370" b="1" i="0">
                <a:solidFill>
                  <a:srgbClr val="700064"/>
                </a:solidFill>
                <a:latin typeface="微软雅黑"/>
              </a:rPr>
              <a:t>IFLS</a:t>
            </a:r>
            <a:endParaRPr sz="1370" b="1" i="0">
              <a:solidFill>
                <a:srgbClr val="700064"/>
              </a:solidFill>
              <a:latin typeface="微软雅黑"/>
            </a:endParaRPr>
          </a:p>
          <a:p>
            <a:pPr>
              <a:spcAft>
                <a:spcPts val="300"/>
              </a:spcAft>
            </a:pPr>
            <a:endParaRPr sz="1370" b="1" i="0">
              <a:solidFill>
                <a:srgbClr val="700064"/>
              </a:solidFill>
              <a:latin typeface="微软雅黑"/>
            </a:endParaRPr>
          </a:p>
        </p:txBody>
      </p:sp>
      <p:sp>
        <p:nvSpPr>
          <p:cNvPr id="38" name="TextBox 37"/>
          <p:cNvSpPr txBox="1"/>
          <p:nvPr/>
        </p:nvSpPr>
        <p:spPr>
          <a:xfrm>
            <a:off x="4178808" y="2889503"/>
            <a:ext cx="3008376" cy="576072"/>
          </a:xfrm>
          <a:prstGeom prst="rect">
            <a:avLst/>
          </a:prstGeom>
          <a:noFill/>
        </p:spPr>
        <p:txBody>
          <a:bodyPr wrap="square" lIns="18288" tIns="18288" rIns="18288" bIns="9144">
            <a:spAutoFit/>
          </a:bodyPr>
          <a:lstStyle/>
          <a:p>
            <a:pPr>
              <a:spcAft>
                <a:spcPts val="300"/>
              </a:spcAft>
            </a:pPr>
            <a:r>
              <a:rPr sz="1390" b="0" i="0">
                <a:solidFill>
                  <a:srgbClr val="1C1C1C"/>
                </a:solidFill>
                <a:latin typeface="微软雅黑"/>
              </a:rPr>
              <a:t>个体迁移轨迹、迁移次数、返乡记录；自雇与其他收入</a:t>
            </a:r>
            <a:endParaRPr sz="1390" b="0" i="0">
              <a:solidFill>
                <a:srgbClr val="1C1C1C"/>
              </a:solidFill>
              <a:latin typeface="微软雅黑"/>
            </a:endParaRPr>
          </a:p>
        </p:txBody>
      </p:sp>
      <p:sp>
        <p:nvSpPr>
          <p:cNvPr id="39" name="TextBox 38"/>
          <p:cNvSpPr txBox="1"/>
          <p:nvPr/>
        </p:nvSpPr>
        <p:spPr>
          <a:xfrm>
            <a:off x="7360920" y="2889503"/>
            <a:ext cx="3630168" cy="576072"/>
          </a:xfrm>
          <a:prstGeom prst="rect">
            <a:avLst/>
          </a:prstGeom>
          <a:noFill/>
        </p:spPr>
        <p:txBody>
          <a:bodyPr wrap="square" lIns="18288" tIns="18288" rIns="18288" bIns="9144">
            <a:spAutoFit/>
          </a:bodyPr>
          <a:lstStyle/>
          <a:p>
            <a:pPr>
              <a:spcAft>
                <a:spcPts val="300"/>
              </a:spcAft>
            </a:pPr>
            <a:r>
              <a:rPr sz="1380" b="0" i="0">
                <a:solidFill>
                  <a:srgbClr val="1C1C1C"/>
                </a:solidFill>
                <a:latin typeface="微软雅黑"/>
              </a:rPr>
              <a:t>检验多次迁移、返乡迁移、核心数据缺失自雇收入的影响</a:t>
            </a:r>
            <a:endParaRPr sz="1380" b="0" i="0">
              <a:solidFill>
                <a:srgbClr val="1C1C1C"/>
              </a:solidFill>
              <a:latin typeface="微软雅黑"/>
            </a:endParaRPr>
          </a:p>
        </p:txBody>
      </p:sp>
      <p:sp>
        <p:nvSpPr>
          <p:cNvPr id="40" name="Rectangle 39"/>
          <p:cNvSpPr/>
          <p:nvPr/>
        </p:nvSpPr>
        <p:spPr>
          <a:xfrm>
            <a:off x="2112264" y="3538728"/>
            <a:ext cx="9116568" cy="722376"/>
          </a:xfrm>
          <a:prstGeom prst="rect">
            <a:avLst/>
          </a:prstGeom>
          <a:solidFill>
            <a:srgbClr val="F4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249424" y="3639312"/>
            <a:ext cx="1865376" cy="557784"/>
          </a:xfrm>
          <a:prstGeom prst="rect">
            <a:avLst/>
          </a:prstGeom>
          <a:noFill/>
        </p:spPr>
        <p:txBody>
          <a:bodyPr wrap="square" lIns="18288" tIns="18288" rIns="18288" bIns="9144">
            <a:spAutoFit/>
          </a:bodyPr>
          <a:lstStyle/>
          <a:p>
            <a:pPr>
              <a:spcAft>
                <a:spcPts val="300"/>
              </a:spcAft>
            </a:pPr>
            <a:r>
              <a:rPr sz="1370" b="1" i="0">
                <a:solidFill>
                  <a:srgbClr val="700064"/>
                </a:solidFill>
                <a:latin typeface="微软雅黑"/>
              </a:rPr>
              <a:t>US Census / ACS</a:t>
            </a:r>
            <a:endParaRPr sz="1370" b="1" i="0">
              <a:solidFill>
                <a:srgbClr val="700064"/>
              </a:solidFill>
              <a:latin typeface="微软雅黑"/>
            </a:endParaRPr>
          </a:p>
          <a:p>
            <a:pPr>
              <a:spcAft>
                <a:spcPts val="300"/>
              </a:spcAft>
            </a:pPr>
            <a:r>
              <a:rPr sz="1370" b="1" i="0">
                <a:solidFill>
                  <a:srgbClr val="700064"/>
                </a:solidFill>
                <a:latin typeface="微软雅黑"/>
              </a:rPr>
              <a:t>1990 / 2010</a:t>
            </a:r>
            <a:endParaRPr sz="1370" b="1" i="0">
              <a:solidFill>
                <a:srgbClr val="700064"/>
              </a:solidFill>
              <a:latin typeface="微软雅黑"/>
            </a:endParaRPr>
          </a:p>
        </p:txBody>
      </p:sp>
      <p:sp>
        <p:nvSpPr>
          <p:cNvPr id="42" name="TextBox 41"/>
          <p:cNvSpPr txBox="1"/>
          <p:nvPr/>
        </p:nvSpPr>
        <p:spPr>
          <a:xfrm>
            <a:off x="4178808" y="3639312"/>
            <a:ext cx="3008376" cy="576072"/>
          </a:xfrm>
          <a:prstGeom prst="rect">
            <a:avLst/>
          </a:prstGeom>
          <a:noFill/>
        </p:spPr>
        <p:txBody>
          <a:bodyPr wrap="square" lIns="18288" tIns="18288" rIns="18288" bIns="9144">
            <a:spAutoFit/>
          </a:bodyPr>
          <a:lstStyle/>
          <a:p>
            <a:pPr>
              <a:spcAft>
                <a:spcPts val="300"/>
              </a:spcAft>
            </a:pPr>
            <a:r>
              <a:rPr sz="1390" b="0" i="0">
                <a:solidFill>
                  <a:srgbClr val="1C1C1C"/>
                </a:solidFill>
                <a:latin typeface="微软雅黑"/>
              </a:rPr>
              <a:t>出生州、工作州、工资；男性户主与年龄信息</a:t>
            </a:r>
            <a:endParaRPr sz="1390" b="0" i="0">
              <a:solidFill>
                <a:srgbClr val="1C1C1C"/>
              </a:solidFill>
              <a:latin typeface="微软雅黑"/>
            </a:endParaRPr>
          </a:p>
        </p:txBody>
      </p:sp>
      <p:sp>
        <p:nvSpPr>
          <p:cNvPr id="43" name="TextBox 42"/>
          <p:cNvSpPr txBox="1"/>
          <p:nvPr/>
        </p:nvSpPr>
        <p:spPr>
          <a:xfrm>
            <a:off x="7360920" y="3639312"/>
            <a:ext cx="3630168" cy="576072"/>
          </a:xfrm>
          <a:prstGeom prst="rect">
            <a:avLst/>
          </a:prstGeom>
          <a:noFill/>
        </p:spPr>
        <p:txBody>
          <a:bodyPr wrap="square" lIns="18288" tIns="18288" rIns="18288" bIns="9144">
            <a:spAutoFit/>
          </a:bodyPr>
          <a:lstStyle/>
          <a:p>
            <a:pPr>
              <a:spcAft>
                <a:spcPts val="300"/>
              </a:spcAft>
            </a:pPr>
            <a:r>
              <a:rPr sz="1380" b="0" i="0">
                <a:solidFill>
                  <a:srgbClr val="1C1C1C"/>
                </a:solidFill>
                <a:latin typeface="微软雅黑"/>
              </a:rPr>
              <a:t>构建美国州际迁移和工资变量，验证 Fact 1–4；迁移成本基准</a:t>
            </a:r>
            <a:endParaRPr sz="1380" b="0" i="0">
              <a:solidFill>
                <a:srgbClr val="1C1C1C"/>
              </a:solidFill>
              <a:latin typeface="微软雅黑"/>
            </a:endParaRPr>
          </a:p>
        </p:txBody>
      </p:sp>
      <p:sp>
        <p:nvSpPr>
          <p:cNvPr id="44" name="Rectangle 43"/>
          <p:cNvSpPr/>
          <p:nvPr/>
        </p:nvSpPr>
        <p:spPr>
          <a:xfrm>
            <a:off x="2112264" y="4288536"/>
            <a:ext cx="9116568" cy="722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49424" y="4389120"/>
            <a:ext cx="1865376" cy="557784"/>
          </a:xfrm>
          <a:prstGeom prst="rect">
            <a:avLst/>
          </a:prstGeom>
          <a:noFill/>
        </p:spPr>
        <p:txBody>
          <a:bodyPr wrap="square" lIns="18288" tIns="18288" rIns="18288" bIns="9144">
            <a:spAutoFit/>
          </a:bodyPr>
          <a:lstStyle/>
          <a:p>
            <a:pPr>
              <a:spcAft>
                <a:spcPts val="300"/>
              </a:spcAft>
            </a:pPr>
            <a:r>
              <a:rPr sz="1370" b="1" i="0">
                <a:solidFill>
                  <a:srgbClr val="700064"/>
                </a:solidFill>
                <a:latin typeface="微软雅黑"/>
              </a:rPr>
              <a:t>PODES</a:t>
            </a:r>
            <a:endParaRPr sz="1370" b="1" i="0">
              <a:solidFill>
                <a:srgbClr val="700064"/>
              </a:solidFill>
              <a:latin typeface="微软雅黑"/>
            </a:endParaRPr>
          </a:p>
          <a:p>
            <a:pPr>
              <a:spcAft>
                <a:spcPts val="300"/>
              </a:spcAft>
            </a:pPr>
            <a:r>
              <a:rPr sz="1370" b="1" i="0">
                <a:solidFill>
                  <a:srgbClr val="700064"/>
                </a:solidFill>
                <a:latin typeface="微软雅黑"/>
              </a:rPr>
              <a:t>2005 / 2011</a:t>
            </a:r>
            <a:endParaRPr sz="1370" b="1" i="0">
              <a:solidFill>
                <a:srgbClr val="700064"/>
              </a:solidFill>
              <a:latin typeface="微软雅黑"/>
            </a:endParaRPr>
          </a:p>
        </p:txBody>
      </p:sp>
      <p:sp>
        <p:nvSpPr>
          <p:cNvPr id="46" name="TextBox 45"/>
          <p:cNvSpPr txBox="1"/>
          <p:nvPr/>
        </p:nvSpPr>
        <p:spPr>
          <a:xfrm>
            <a:off x="4178808" y="4389120"/>
            <a:ext cx="3008376" cy="576072"/>
          </a:xfrm>
          <a:prstGeom prst="rect">
            <a:avLst/>
          </a:prstGeom>
          <a:noFill/>
        </p:spPr>
        <p:txBody>
          <a:bodyPr wrap="square" lIns="18288" tIns="18288" rIns="18288" bIns="9144">
            <a:spAutoFit/>
          </a:bodyPr>
          <a:lstStyle/>
          <a:p>
            <a:pPr>
              <a:spcAft>
                <a:spcPts val="300"/>
              </a:spcAft>
            </a:pPr>
            <a:r>
              <a:rPr sz="1390" b="0" i="0">
                <a:solidFill>
                  <a:srgbClr val="1C1C1C"/>
                </a:solidFill>
                <a:latin typeface="微软雅黑"/>
              </a:rPr>
              <a:t>医疗服务可及性等 Ease 指标；污染指标；地区人口</a:t>
            </a:r>
            <a:endParaRPr sz="1390" b="0" i="0">
              <a:solidFill>
                <a:srgbClr val="1C1C1C"/>
              </a:solidFill>
              <a:latin typeface="微软雅黑"/>
            </a:endParaRPr>
          </a:p>
        </p:txBody>
      </p:sp>
      <p:sp>
        <p:nvSpPr>
          <p:cNvPr id="47" name="TextBox 46"/>
          <p:cNvSpPr txBox="1"/>
          <p:nvPr/>
        </p:nvSpPr>
        <p:spPr>
          <a:xfrm>
            <a:off x="7360920" y="4389120"/>
            <a:ext cx="3630168" cy="576072"/>
          </a:xfrm>
          <a:prstGeom prst="rect">
            <a:avLst/>
          </a:prstGeom>
          <a:noFill/>
        </p:spPr>
        <p:txBody>
          <a:bodyPr wrap="square" lIns="18288" tIns="18288" rIns="18288" bIns="9144">
            <a:spAutoFit/>
          </a:bodyPr>
          <a:lstStyle/>
          <a:p>
            <a:pPr>
              <a:spcAft>
                <a:spcPts val="300"/>
              </a:spcAft>
            </a:pPr>
            <a:r>
              <a:rPr sz="1380" b="0" i="0">
                <a:solidFill>
                  <a:srgbClr val="1C1C1C"/>
                </a:solidFill>
                <a:latin typeface="微软雅黑"/>
              </a:rPr>
              <a:t>人口加权汇总至 Regency；Ease 类指标 PCA 构建 Amenity</a:t>
            </a:r>
            <a:endParaRPr sz="1380" b="0" i="0">
              <a:solidFill>
                <a:srgbClr val="1C1C1C"/>
              </a:solidFill>
              <a:latin typeface="微软雅黑"/>
            </a:endParaRPr>
          </a:p>
        </p:txBody>
      </p:sp>
      <p:sp>
        <p:nvSpPr>
          <p:cNvPr id="48" name="Rectangle 47"/>
          <p:cNvSpPr/>
          <p:nvPr/>
        </p:nvSpPr>
        <p:spPr>
          <a:xfrm>
            <a:off x="2112264" y="5157216"/>
            <a:ext cx="9116568" cy="585216"/>
          </a:xfrm>
          <a:prstGeom prst="rect">
            <a:avLst/>
          </a:prstGeom>
          <a:solidFill>
            <a:srgbClr val="F2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49424" y="5285232"/>
            <a:ext cx="8705088" cy="249555"/>
          </a:xfrm>
          <a:prstGeom prst="rect">
            <a:avLst/>
          </a:prstGeom>
          <a:noFill/>
        </p:spPr>
        <p:txBody>
          <a:bodyPr wrap="square" lIns="18288" tIns="18288" rIns="18288" bIns="9144">
            <a:spAutoFit/>
          </a:bodyPr>
          <a:lstStyle/>
          <a:p>
            <a:pPr>
              <a:spcAft>
                <a:spcPts val="300"/>
              </a:spcAft>
            </a:pPr>
            <a:r>
              <a:rPr sz="1450" b="1" i="0">
                <a:solidFill>
                  <a:srgbClr val="1C1C1C"/>
                </a:solidFill>
                <a:latin typeface="微软雅黑"/>
              </a:rPr>
              <a:t>样本：419,760 → 187,065 名 15–65 岁男性户主；281 Regency 用于事实、25 Province 用于结构估计</a:t>
            </a:r>
            <a:endParaRPr sz="1450" b="1" i="0">
              <a:solidFill>
                <a:srgbClr val="1C1C1C"/>
              </a:solidFill>
              <a:latin typeface="微软雅黑"/>
            </a:endParaRPr>
          </a:p>
        </p:txBody>
      </p:sp>
      <p:sp>
        <p:nvSpPr>
          <p:cNvPr id="50" name="Rectangle 49"/>
          <p:cNvSpPr/>
          <p:nvPr/>
        </p:nvSpPr>
        <p:spPr>
          <a:xfrm>
            <a:off x="2093976" y="6007608"/>
            <a:ext cx="9171432" cy="438912"/>
          </a:xfrm>
          <a:prstGeom prst="rect">
            <a:avLst/>
          </a:prstGeom>
          <a:solidFill>
            <a:srgbClr val="EA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6099048"/>
            <a:ext cx="8906256" cy="272415"/>
          </a:xfrm>
          <a:prstGeom prst="rect">
            <a:avLst/>
          </a:prstGeom>
          <a:noFill/>
        </p:spPr>
        <p:txBody>
          <a:bodyPr wrap="square" lIns="18288" tIns="18288" rIns="18288" bIns="9144">
            <a:spAutoFit/>
          </a:bodyPr>
          <a:lstStyle/>
          <a:p>
            <a:pPr>
              <a:spcAft>
                <a:spcPts val="300"/>
              </a:spcAft>
            </a:pPr>
            <a:r>
              <a:rPr sz="1600" b="1" i="0">
                <a:solidFill>
                  <a:srgbClr val="700064"/>
                </a:solidFill>
                <a:latin typeface="微软雅黑"/>
              </a:rPr>
              <a:t>数据限制：SUPAS/SUSENAS 不含自雇收入；IFLS 仅覆盖 13/25 省，用于辅助检验</a:t>
            </a:r>
            <a:endParaRPr sz="1600" b="1" i="0">
              <a:solidFill>
                <a:srgbClr val="700064"/>
              </a:solidFill>
              <a:latin typeface="微软雅黑"/>
            </a:endParaRPr>
          </a:p>
        </p:txBody>
      </p:sp>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sz="2500" b="1" i="0">
                <a:solidFill>
                  <a:srgbClr val="1C1C1C"/>
                </a:solidFill>
                <a:latin typeface="微软雅黑"/>
              </a:rPr>
              <a:t>数据</a:t>
            </a:r>
            <a:r>
              <a:rPr lang="zh-CN" sz="2500" b="1" i="0">
                <a:solidFill>
                  <a:srgbClr val="1C1C1C"/>
                </a:solidFill>
                <a:latin typeface="微软雅黑"/>
              </a:rPr>
              <a:t>选择</a:t>
            </a:r>
            <a:endParaRPr lang="zh-CN"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2.1</a:t>
            </a:r>
            <a:endParaRPr lang="en-US" sz="1800">
              <a:latin typeface="Times New Roman" panose="02020503050405090304" pitchFamily="18" charset="0"/>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1C1C1C"/>
                </a:solidFill>
                <a:latin typeface="微软雅黑"/>
                <a:sym typeface="+mn-ea"/>
              </a:rPr>
              <a:t>核心变量与经验识别框架</a:t>
            </a:r>
            <a:endParaRPr lang="zh-CN"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2.2</a:t>
            </a:r>
            <a:endParaRPr lang="en-US" sz="1800">
              <a:latin typeface="Times New Roman" panose="02020503050405090304" pitchFamily="18" charset="0"/>
              <a:cs typeface="Times New Roman" panose="02020503050405090304" pitchFamily="18" charset="0"/>
            </a:endParaRPr>
          </a:p>
        </p:txBody>
      </p:sp>
      <p:grpSp>
        <p:nvGrpSpPr>
          <p:cNvPr id="2" name="组合 1"/>
          <p:cNvGrpSpPr/>
          <p:nvPr/>
        </p:nvGrpSpPr>
        <p:grpSpPr>
          <a:xfrm>
            <a:off x="2094230" y="1344295"/>
            <a:ext cx="9171305" cy="5102225"/>
            <a:chOff x="3298" y="2117"/>
            <a:chExt cx="14443" cy="8035"/>
          </a:xfrm>
        </p:grpSpPr>
        <p:sp>
          <p:nvSpPr>
            <p:cNvPr id="3" name="Rectangle 26"/>
            <p:cNvSpPr/>
            <p:nvPr/>
          </p:nvSpPr>
          <p:spPr>
            <a:xfrm>
              <a:off x="3326" y="2117"/>
              <a:ext cx="14357" cy="1555"/>
            </a:xfrm>
            <a:prstGeom prst="rect">
              <a:avLst/>
            </a:prstGeom>
            <a:solidFill>
              <a:srgbClr val="F4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27"/>
            <p:cNvSpPr/>
            <p:nvPr/>
          </p:nvSpPr>
          <p:spPr>
            <a:xfrm>
              <a:off x="3326" y="2117"/>
              <a:ext cx="86" cy="1555"/>
            </a:xfrm>
            <a:prstGeom prst="rect">
              <a:avLst/>
            </a:prstGeom>
            <a:solidFill>
              <a:srgbClr val="70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8" y="2290"/>
              <a:ext cx="2952" cy="576"/>
            </a:xfrm>
            <a:prstGeom prst="rect">
              <a:avLst/>
            </a:prstGeom>
            <a:noFill/>
          </p:spPr>
          <p:txBody>
            <a:bodyPr wrap="square" lIns="18288" tIns="18288" rIns="18288" bIns="9144">
              <a:spAutoFit/>
            </a:bodyPr>
            <a:lstStyle/>
            <a:p>
              <a:pPr>
                <a:spcAft>
                  <a:spcPts val="300"/>
                </a:spcAft>
              </a:pPr>
              <a:r>
                <a:rPr sz="1700" b="1" i="0">
                  <a:solidFill>
                    <a:srgbClr val="700064"/>
                  </a:solidFill>
                  <a:latin typeface="微软雅黑"/>
                </a:rPr>
                <a:t>迁移份额</a:t>
              </a:r>
              <a:endParaRPr sz="1700" b="1" i="0">
                <a:solidFill>
                  <a:srgbClr val="700064"/>
                </a:solidFill>
                <a:latin typeface="微软雅黑"/>
              </a:endParaRPr>
            </a:p>
          </p:txBody>
        </p:sp>
        <mc:AlternateContent xmlns:mc="http://schemas.openxmlformats.org/markup-compatibility/2006">
          <mc:Choice xmlns:a14="http://schemas.microsoft.com/office/drawing/2010/main" Requires="a14">
            <p:sp>
              <p:nvSpPr>
                <p:cNvPr id="30" name="TextBox 29"/>
                <p:cNvSpPr txBox="1"/>
                <p:nvPr/>
              </p:nvSpPr>
              <p:spPr>
                <a:xfrm>
                  <a:off x="6451" y="2290"/>
                  <a:ext cx="10886" cy="430"/>
                </a:xfrm>
                <a:prstGeom prst="rect">
                  <a:avLst/>
                </a:prstGeom>
                <a:noFill/>
              </p:spPr>
              <p:txBody>
                <a:bodyPr wrap="square" lIns="18288" tIns="18288" rIns="18288" bIns="9144">
                  <a:spAutoFit/>
                </a:bodyPr>
                <a:lstStyle/>
                <a:p>
                  <a:pPr>
                    <a:spcAft>
                      <a:spcPts val="300"/>
                    </a:spcAft>
                  </a:pPr>
                  <a:r>
                    <a:rPr lang="en-US" sz="1600" b="1" i="0">
                      <a:solidFill>
                        <a:srgbClr val="1C1C1C"/>
                      </a:solidFill>
                      <a:latin typeface="微软雅黑"/>
                    </a:rPr>
                    <a:t> </a:t>
                  </a:r>
                  <a14:m>
                    <m:oMath xmlns:m="http://schemas.openxmlformats.org/officeDocument/2006/math">
                      <m:sSub>
                        <m:sSubPr>
                          <m:ctrlPr>
                            <a:rPr lang="en-US" sz="1600" b="1" i="1">
                              <a:solidFill>
                                <a:srgbClr val="1C1C1C"/>
                              </a:solidFill>
                              <a:latin typeface="DejaVu Math TeX Gyre" panose="02000503000000000000" charset="0"/>
                              <a:cs typeface="DejaVu Math TeX Gyre" panose="02000503000000000000" charset="0"/>
                            </a:rPr>
                          </m:ctrlPr>
                        </m:sSubPr>
                        <m:e>
                          <m:r>
                            <a:rPr lang="en-US" sz="1600" b="1" i="1">
                              <a:solidFill>
                                <a:srgbClr val="1C1C1C"/>
                              </a:solidFill>
                              <a:latin typeface="DejaVu Math TeX Gyre" panose="02000503000000000000" charset="0"/>
                              <a:cs typeface="DejaVu Math TeX Gyre" panose="02000503000000000000" charset="0"/>
                            </a:rPr>
                            <m:t>𝝅</m:t>
                          </m:r>
                        </m:e>
                        <m:sub>
                          <m:r>
                            <a:rPr lang="en-US" sz="1600" b="1" i="1">
                              <a:solidFill>
                                <a:srgbClr val="1C1C1C"/>
                              </a:solidFill>
                              <a:latin typeface="DejaVu Math TeX Gyre" panose="02000503000000000000" charset="0"/>
                              <a:cs typeface="DejaVu Math TeX Gyre" panose="02000503000000000000" charset="0"/>
                            </a:rPr>
                            <m:t>𝒅𝒐𝒕</m:t>
                          </m:r>
                        </m:sub>
                      </m:sSub>
                      <m:r>
                        <a:rPr lang="en-US" sz="1600" b="1" i="1">
                          <a:solidFill>
                            <a:srgbClr val="1C1C1C"/>
                          </a:solidFill>
                          <a:latin typeface="DejaVu Math TeX Gyre" panose="02000503000000000000" charset="0"/>
                          <a:cs typeface="DejaVu Math TeX Gyre" panose="02000503000000000000" charset="0"/>
                        </a:rPr>
                        <m:t>=</m:t>
                      </m:r>
                      <m:sSub>
                        <m:sSubPr>
                          <m:ctrlPr>
                            <a:rPr lang="en-US" sz="1600" b="1" i="1">
                              <a:solidFill>
                                <a:srgbClr val="1C1C1C"/>
                              </a:solidFill>
                              <a:latin typeface="DejaVu Math TeX Gyre" panose="02000503000000000000" charset="0"/>
                              <a:cs typeface="DejaVu Math TeX Gyre" panose="02000503000000000000" charset="0"/>
                            </a:rPr>
                          </m:ctrlPr>
                        </m:sSubPr>
                        <m:e>
                          <m:r>
                            <a:rPr lang="en-US" sz="1600" b="1" i="1">
                              <a:solidFill>
                                <a:srgbClr val="1C1C1C"/>
                              </a:solidFill>
                              <a:latin typeface="DejaVu Math TeX Gyre" panose="02000503000000000000" charset="0"/>
                              <a:cs typeface="DejaVu Math TeX Gyre" panose="02000503000000000000" charset="0"/>
                            </a:rPr>
                            <m:t>𝑵</m:t>
                          </m:r>
                        </m:e>
                        <m:sub>
                          <m:r>
                            <a:rPr lang="en-US" sz="1600" b="1" i="1">
                              <a:solidFill>
                                <a:srgbClr val="1C1C1C"/>
                              </a:solidFill>
                              <a:latin typeface="DejaVu Math TeX Gyre" panose="02000503000000000000" charset="0"/>
                              <a:cs typeface="DejaVu Math TeX Gyre" panose="02000503000000000000" charset="0"/>
                            </a:rPr>
                            <m:t>𝒅𝒐𝒕</m:t>
                          </m:r>
                        </m:sub>
                      </m:sSub>
                      <m:r>
                        <a:rPr lang="en-US" sz="1600" b="1" i="1">
                          <a:solidFill>
                            <a:srgbClr val="1C1C1C"/>
                          </a:solidFill>
                          <a:latin typeface="DejaVu Math TeX Gyre" panose="02000503000000000000" charset="0"/>
                          <a:cs typeface="DejaVu Math TeX Gyre" panose="02000503000000000000" charset="0"/>
                        </a:rPr>
                        <m:t>/</m:t>
                      </m:r>
                      <m:sSub>
                        <m:sSubPr>
                          <m:ctrlPr>
                            <a:rPr lang="en-US" sz="1600" b="1" i="1">
                              <a:solidFill>
                                <a:srgbClr val="1C1C1C"/>
                              </a:solidFill>
                              <a:latin typeface="DejaVu Math TeX Gyre" panose="02000503000000000000" charset="0"/>
                              <a:cs typeface="DejaVu Math TeX Gyre" panose="02000503000000000000" charset="0"/>
                            </a:rPr>
                          </m:ctrlPr>
                        </m:sSubPr>
                        <m:e>
                          <m:r>
                            <a:rPr lang="en-US" sz="1600" b="1" i="1">
                              <a:solidFill>
                                <a:srgbClr val="1C1C1C"/>
                              </a:solidFill>
                              <a:latin typeface="DejaVu Math TeX Gyre" panose="02000503000000000000" charset="0"/>
                              <a:cs typeface="DejaVu Math TeX Gyre" panose="02000503000000000000" charset="0"/>
                            </a:rPr>
                            <m:t>𝑵</m:t>
                          </m:r>
                        </m:e>
                        <m:sub>
                          <m:r>
                            <a:rPr lang="en-US" sz="1600" b="1" i="1">
                              <a:solidFill>
                                <a:srgbClr val="1C1C1C"/>
                              </a:solidFill>
                              <a:latin typeface="DejaVu Math TeX Gyre" panose="02000503000000000000" charset="0"/>
                              <a:cs typeface="DejaVu Math TeX Gyre" panose="02000503000000000000" charset="0"/>
                            </a:rPr>
                            <m:t>𝒐𝒕</m:t>
                          </m:r>
                        </m:sub>
                      </m:sSub>
                    </m:oMath>
                  </a14:m>
                  <a:endParaRPr lang="en-US" sz="1600" b="1" i="0">
                    <a:solidFill>
                      <a:srgbClr val="1C1C1C"/>
                    </a:solidFill>
                    <a:latin typeface="微软雅黑"/>
                  </a:endParaRPr>
                </a:p>
              </p:txBody>
            </p:sp>
          </mc:Choice>
          <mc:Fallback>
            <p:sp>
              <p:nvSpPr>
                <p:cNvPr id="30" name="TextBox 29"/>
                <p:cNvSpPr txBox="1">
                  <a:spLocks noRot="1" noChangeAspect="1" noMove="1" noResize="1" noEditPoints="1" noAdjustHandles="1" noChangeArrowheads="1" noChangeShapeType="1" noTextEdit="1"/>
                </p:cNvSpPr>
                <p:nvPr/>
              </p:nvSpPr>
              <p:spPr>
                <a:xfrm>
                  <a:off x="6451" y="2290"/>
                  <a:ext cx="10886" cy="430"/>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Box 30"/>
                <p:cNvSpPr txBox="1"/>
                <p:nvPr/>
              </p:nvSpPr>
              <p:spPr>
                <a:xfrm>
                  <a:off x="6451" y="2966"/>
                  <a:ext cx="10800" cy="395"/>
                </a:xfrm>
                <a:prstGeom prst="rect">
                  <a:avLst/>
                </a:prstGeom>
                <a:noFill/>
              </p:spPr>
              <p:txBody>
                <a:bodyPr wrap="square" lIns="18288" tIns="18288" rIns="18288" bIns="9144">
                  <a:spAutoFit/>
                </a:bodyPr>
                <a:lstStyle/>
                <a:p>
                  <a:pPr>
                    <a:spcAft>
                      <a:spcPts val="300"/>
                    </a:spcAft>
                  </a:pPr>
                  <a:r>
                    <a:rPr sz="1460" b="0" i="0">
                      <a:solidFill>
                        <a:srgbClr val="1C1C1C"/>
                      </a:solidFill>
                      <a:latin typeface="微软雅黑"/>
                    </a:rPr>
                    <a:t>出生于 </a:t>
                  </a:r>
                  <a14:m>
                    <m:oMath xmlns:m="http://schemas.openxmlformats.org/officeDocument/2006/math">
                      <m:r>
                        <m:rPr>
                          <m:sty m:val="p"/>
                        </m:rPr>
                        <a:rPr lang="en-US" sz="1460" b="0" i="0">
                          <a:solidFill>
                            <a:srgbClr val="1C1C1C"/>
                          </a:solidFill>
                          <a:latin typeface="DejaVu Math TeX Gyre" panose="02000503000000000000" charset="0"/>
                          <a:cs typeface="DejaVu Math TeX Gyre" panose="02000503000000000000" charset="0"/>
                        </a:rPr>
                        <m:t>o</m:t>
                      </m:r>
                    </m:oMath>
                  </a14:m>
                  <a:r>
                    <a:rPr sz="1460" b="0" i="0">
                      <a:solidFill>
                        <a:srgbClr val="1C1C1C"/>
                      </a:solidFill>
                      <a:latin typeface="微软雅黑"/>
                    </a:rPr>
                    <a:t> 的人中，选择在 </a:t>
                  </a:r>
                  <a14:m>
                    <m:oMath xmlns:m="http://schemas.openxmlformats.org/officeDocument/2006/math">
                      <m:r>
                        <m:rPr>
                          <m:sty m:val="p"/>
                        </m:rPr>
                        <a:rPr lang="en-US" sz="1460" b="0" i="0">
                          <a:solidFill>
                            <a:srgbClr val="1C1C1C"/>
                          </a:solidFill>
                          <a:latin typeface="DejaVu Math TeX Gyre" panose="02000503000000000000" charset="0"/>
                          <a:cs typeface="DejaVu Math TeX Gyre" panose="02000503000000000000" charset="0"/>
                        </a:rPr>
                        <m:t>d</m:t>
                      </m:r>
                    </m:oMath>
                  </a14:m>
                  <a:r>
                    <a:rPr sz="1460" b="0" i="0">
                      <a:solidFill>
                        <a:srgbClr val="1C1C1C"/>
                      </a:solidFill>
                      <a:latin typeface="微软雅黑"/>
                    </a:rPr>
                    <a:t> 工作的比例；目的地也可以等于出生地</a:t>
                  </a:r>
                  <a:endParaRPr sz="1460" b="0" i="0">
                    <a:solidFill>
                      <a:srgbClr val="1C1C1C"/>
                    </a:solidFill>
                    <a:latin typeface="微软雅黑"/>
                  </a:endParaRPr>
                </a:p>
              </p:txBody>
            </p:sp>
          </mc:Choice>
          <mc:Fallback>
            <p:sp>
              <p:nvSpPr>
                <p:cNvPr id="5" name="TextBox 30"/>
                <p:cNvSpPr txBox="1">
                  <a:spLocks noRot="1" noChangeAspect="1" noMove="1" noResize="1" noEditPoints="1" noAdjustHandles="1" noChangeArrowheads="1" noChangeShapeType="1" noTextEdit="1"/>
                </p:cNvSpPr>
                <p:nvPr/>
              </p:nvSpPr>
              <p:spPr>
                <a:xfrm>
                  <a:off x="6451" y="2966"/>
                  <a:ext cx="10800" cy="395"/>
                </a:xfrm>
                <a:prstGeom prst="rect">
                  <a:avLst/>
                </a:prstGeom>
                <a:blipFill rotWithShape="1">
                  <a:blip r:embed="rId2"/>
                </a:blipFill>
              </p:spPr>
              <p:txBody>
                <a:bodyPr/>
                <a:lstStyle/>
                <a:p>
                  <a:r>
                    <a:rPr lang="zh-CN" altLang="en-US">
                      <a:noFill/>
                    </a:rPr>
                    <a:t> </a:t>
                  </a:r>
                </a:p>
              </p:txBody>
            </p:sp>
          </mc:Fallback>
        </mc:AlternateContent>
        <p:sp>
          <p:nvSpPr>
            <p:cNvPr id="7" name="Rectangle 32"/>
            <p:cNvSpPr/>
            <p:nvPr/>
          </p:nvSpPr>
          <p:spPr>
            <a:xfrm>
              <a:off x="3326" y="3845"/>
              <a:ext cx="86" cy="1555"/>
            </a:xfrm>
            <a:prstGeom prst="rect">
              <a:avLst/>
            </a:prstGeom>
            <a:solidFill>
              <a:srgbClr val="70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33"/>
            <p:cNvSpPr txBox="1"/>
            <p:nvPr/>
          </p:nvSpPr>
          <p:spPr>
            <a:xfrm>
              <a:off x="3528" y="4018"/>
              <a:ext cx="2952" cy="576"/>
            </a:xfrm>
            <a:prstGeom prst="rect">
              <a:avLst/>
            </a:prstGeom>
            <a:noFill/>
          </p:spPr>
          <p:txBody>
            <a:bodyPr wrap="square" lIns="18288" tIns="18288" rIns="18288" bIns="9144">
              <a:spAutoFit/>
            </a:bodyPr>
            <a:lstStyle/>
            <a:p>
              <a:pPr>
                <a:spcAft>
                  <a:spcPts val="300"/>
                </a:spcAft>
              </a:pPr>
              <a:r>
                <a:rPr sz="1700" b="1" i="0">
                  <a:solidFill>
                    <a:srgbClr val="700064"/>
                  </a:solidFill>
                  <a:latin typeface="微软雅黑"/>
                </a:rPr>
                <a:t>群体平均工资</a:t>
              </a:r>
              <a:endParaRPr sz="1700" b="1" i="0">
                <a:solidFill>
                  <a:srgbClr val="700064"/>
                </a:solidFill>
                <a:latin typeface="微软雅黑"/>
              </a:endParaRPr>
            </a:p>
          </p:txBody>
        </p:sp>
        <mc:AlternateContent xmlns:mc="http://schemas.openxmlformats.org/markup-compatibility/2006">
          <mc:Choice xmlns:a14="http://schemas.microsoft.com/office/drawing/2010/main" Requires="a14">
            <p:sp>
              <p:nvSpPr>
                <p:cNvPr id="9" name="TextBox 34"/>
                <p:cNvSpPr txBox="1"/>
                <p:nvPr/>
              </p:nvSpPr>
              <p:spPr>
                <a:xfrm>
                  <a:off x="6451" y="4018"/>
                  <a:ext cx="10886" cy="433"/>
                </a:xfrm>
                <a:prstGeom prst="rect">
                  <a:avLst/>
                </a:prstGeom>
                <a:noFill/>
              </p:spPr>
              <p:txBody>
                <a:bodyPr wrap="square" lIns="18288" tIns="18288" rIns="18288" bIns="9144">
                  <a:spAutoFit/>
                </a:bodyPr>
                <a:lstStyle/>
                <a:p>
                  <a:pPr>
                    <a:spcAft>
                      <a:spcPts val="300"/>
                    </a:spcAft>
                  </a:pPr>
                  <a:r>
                    <a:rPr lang="en-US" sz="1600" b="1" i="0">
                      <a:solidFill>
                        <a:srgbClr val="1C1C1C"/>
                      </a:solidFill>
                      <a:latin typeface="微软雅黑"/>
                    </a:rPr>
                    <a:t> </a:t>
                  </a:r>
                  <a14:m>
                    <m:oMath xmlns:m="http://schemas.openxmlformats.org/officeDocument/2006/math">
                      <m:acc>
                        <m:accPr>
                          <m:chr m:val="̅"/>
                          <m:ctrlPr>
                            <a:rPr lang="en-US" sz="1600" b="1" i="1">
                              <a:solidFill>
                                <a:srgbClr val="1C1C1C"/>
                              </a:solidFill>
                              <a:latin typeface="DejaVu Math TeX Gyre" panose="02000503000000000000" charset="0"/>
                              <a:cs typeface="DejaVu Math TeX Gyre" panose="02000503000000000000" charset="0"/>
                            </a:rPr>
                          </m:ctrlPr>
                        </m:accPr>
                        <m:e>
                          <m:sSub>
                            <m:sSubPr>
                              <m:ctrlPr>
                                <a:rPr lang="en-US" sz="1600" b="1" i="1">
                                  <a:solidFill>
                                    <a:srgbClr val="1C1C1C"/>
                                  </a:solidFill>
                                  <a:latin typeface="DejaVu Math TeX Gyre" panose="02000503000000000000" charset="0"/>
                                  <a:cs typeface="DejaVu Math TeX Gyre" panose="02000503000000000000" charset="0"/>
                                </a:rPr>
                              </m:ctrlPr>
                            </m:sSubPr>
                            <m:e>
                              <m:r>
                                <a:rPr lang="en-US" sz="1600" b="1" i="1">
                                  <a:solidFill>
                                    <a:srgbClr val="1C1C1C"/>
                                  </a:solidFill>
                                  <a:latin typeface="DejaVu Math TeX Gyre" panose="02000503000000000000" charset="0"/>
                                  <a:cs typeface="DejaVu Math TeX Gyre" panose="02000503000000000000" charset="0"/>
                                </a:rPr>
                                <m:t>𝒘𝒂𝒈𝒆</m:t>
                              </m:r>
                            </m:e>
                            <m:sub>
                              <m:r>
                                <a:rPr lang="en-US" sz="1600" b="1" i="1">
                                  <a:solidFill>
                                    <a:srgbClr val="1C1C1C"/>
                                  </a:solidFill>
                                  <a:latin typeface="DejaVu Math TeX Gyre" panose="02000503000000000000" charset="0"/>
                                  <a:cs typeface="DejaVu Math TeX Gyre" panose="02000503000000000000" charset="0"/>
                                </a:rPr>
                                <m:t>𝒅𝒐𝒕</m:t>
                              </m:r>
                            </m:sub>
                          </m:sSub>
                        </m:e>
                      </m:acc>
                      <m:r>
                        <a:rPr lang="en-US" sz="1600" b="1" i="1">
                          <a:solidFill>
                            <a:srgbClr val="1C1C1C"/>
                          </a:solidFill>
                          <a:latin typeface="DejaVu Math TeX Gyre" panose="02000503000000000000" charset="0"/>
                          <a:cs typeface="DejaVu Math TeX Gyre" panose="02000503000000000000" charset="0"/>
                        </a:rPr>
                        <m:t>=</m:t>
                      </m:r>
                      <m:r>
                        <a:rPr lang="en-US" sz="1600" b="1" i="1">
                          <a:solidFill>
                            <a:srgbClr val="1C1C1C"/>
                          </a:solidFill>
                          <a:latin typeface="DejaVu Math TeX Gyre" panose="02000503000000000000" charset="0"/>
                          <a:cs typeface="DejaVu Math TeX Gyre" panose="02000503000000000000" charset="0"/>
                        </a:rPr>
                        <m:t>𝑬</m:t>
                      </m:r>
                      <m:r>
                        <a:rPr lang="en-US" sz="1600" b="1" i="1">
                          <a:solidFill>
                            <a:srgbClr val="1C1C1C"/>
                          </a:solidFill>
                          <a:latin typeface="DejaVu Math TeX Gyre" panose="02000503000000000000" charset="0"/>
                          <a:cs typeface="DejaVu Math TeX Gyre" panose="02000503000000000000" charset="0"/>
                        </a:rPr>
                        <m:t>[</m:t>
                      </m:r>
                      <m:sSub>
                        <m:sSubPr>
                          <m:ctrlPr>
                            <a:rPr lang="en-US" sz="1600" b="1" i="1">
                              <a:solidFill>
                                <a:srgbClr val="1C1C1C"/>
                              </a:solidFill>
                              <a:latin typeface="DejaVu Math TeX Gyre" panose="02000503000000000000" charset="0"/>
                              <a:cs typeface="DejaVu Math TeX Gyre" panose="02000503000000000000" charset="0"/>
                            </a:rPr>
                          </m:ctrlPr>
                        </m:sSubPr>
                        <m:e>
                          <m:r>
                            <a:rPr lang="en-US" sz="1600" b="1" i="1">
                              <a:solidFill>
                                <a:srgbClr val="1C1C1C"/>
                              </a:solidFill>
                              <a:latin typeface="DejaVu Math TeX Gyre" panose="02000503000000000000" charset="0"/>
                              <a:cs typeface="DejaVu Math TeX Gyre" panose="02000503000000000000" charset="0"/>
                            </a:rPr>
                            <m:t>𝒘𝒂𝒈𝒆</m:t>
                          </m:r>
                        </m:e>
                        <m:sub>
                          <m:r>
                            <a:rPr lang="en-US" sz="1600" b="1" i="1">
                              <a:solidFill>
                                <a:srgbClr val="1C1C1C"/>
                              </a:solidFill>
                              <a:latin typeface="DejaVu Math TeX Gyre" panose="02000503000000000000" charset="0"/>
                              <a:cs typeface="DejaVu Math TeX Gyre" panose="02000503000000000000" charset="0"/>
                            </a:rPr>
                            <m:t>𝒊𝒕</m:t>
                          </m:r>
                        </m:sub>
                      </m:sSub>
                      <m:r>
                        <a:rPr lang="en-US" sz="1600" b="1" i="1">
                          <a:solidFill>
                            <a:srgbClr val="1C1C1C"/>
                          </a:solidFill>
                          <a:latin typeface="DejaVu Math TeX Gyre" panose="02000503000000000000" charset="0"/>
                          <a:cs typeface="DejaVu Math TeX Gyre" panose="02000503000000000000" charset="0"/>
                        </a:rPr>
                        <m:t>| </m:t>
                      </m:r>
                      <m:r>
                        <a:rPr lang="en-US" sz="1600" b="1" i="1">
                          <a:solidFill>
                            <a:srgbClr val="1C1C1C"/>
                          </a:solidFill>
                          <a:latin typeface="DejaVu Math TeX Gyre" panose="02000503000000000000" charset="0"/>
                          <a:cs typeface="DejaVu Math TeX Gyre" panose="02000503000000000000" charset="0"/>
                        </a:rPr>
                        <m:t>𝒐𝒓𝒊𝒈𝒊𝒏</m:t>
                      </m:r>
                      <m:r>
                        <a:rPr lang="en-US" sz="1600" b="1" i="1">
                          <a:solidFill>
                            <a:srgbClr val="1C1C1C"/>
                          </a:solidFill>
                          <a:latin typeface="DejaVu Math TeX Gyre" panose="02000503000000000000" charset="0"/>
                          <a:cs typeface="DejaVu Math TeX Gyre" panose="02000503000000000000" charset="0"/>
                        </a:rPr>
                        <m:t>=</m:t>
                      </m:r>
                      <m:r>
                        <a:rPr lang="en-US" sz="1600" b="1" i="1">
                          <a:solidFill>
                            <a:srgbClr val="1C1C1C"/>
                          </a:solidFill>
                          <a:latin typeface="DejaVu Math TeX Gyre" panose="02000503000000000000" charset="0"/>
                          <a:cs typeface="DejaVu Math TeX Gyre" panose="02000503000000000000" charset="0"/>
                        </a:rPr>
                        <m:t>𝒐</m:t>
                      </m:r>
                      <m:r>
                        <a:rPr lang="en-US" sz="1600" b="1" i="1">
                          <a:solidFill>
                            <a:srgbClr val="1C1C1C"/>
                          </a:solidFill>
                          <a:latin typeface="DejaVu Math TeX Gyre" panose="02000503000000000000" charset="0"/>
                          <a:cs typeface="DejaVu Math TeX Gyre" panose="02000503000000000000" charset="0"/>
                        </a:rPr>
                        <m:t>,</m:t>
                      </m:r>
                      <m:r>
                        <a:rPr lang="en-US" sz="1600" b="1" i="1">
                          <a:solidFill>
                            <a:srgbClr val="1C1C1C"/>
                          </a:solidFill>
                          <a:latin typeface="DejaVu Math TeX Gyre" panose="02000503000000000000" charset="0"/>
                          <a:cs typeface="DejaVu Math TeX Gyre" panose="02000503000000000000" charset="0"/>
                        </a:rPr>
                        <m:t>𝒅𝒆𝒔𝒕𝒊𝒏𝒂𝒕𝒊𝒐𝒏</m:t>
                      </m:r>
                      <m:r>
                        <a:rPr lang="en-US" sz="1600" b="1" i="1">
                          <a:solidFill>
                            <a:srgbClr val="1C1C1C"/>
                          </a:solidFill>
                          <a:latin typeface="DejaVu Math TeX Gyre" panose="02000503000000000000" charset="0"/>
                          <a:cs typeface="DejaVu Math TeX Gyre" panose="02000503000000000000" charset="0"/>
                        </a:rPr>
                        <m:t>=</m:t>
                      </m:r>
                      <m:r>
                        <a:rPr lang="en-US" sz="1600" b="1" i="1">
                          <a:solidFill>
                            <a:srgbClr val="1C1C1C"/>
                          </a:solidFill>
                          <a:latin typeface="DejaVu Math TeX Gyre" panose="02000503000000000000" charset="0"/>
                          <a:cs typeface="DejaVu Math TeX Gyre" panose="02000503000000000000" charset="0"/>
                        </a:rPr>
                        <m:t>𝒅</m:t>
                      </m:r>
                      <m:r>
                        <a:rPr lang="en-US" sz="1600" b="1" i="1">
                          <a:solidFill>
                            <a:srgbClr val="1C1C1C"/>
                          </a:solidFill>
                          <a:latin typeface="DejaVu Math TeX Gyre" panose="02000503000000000000" charset="0"/>
                          <a:cs typeface="DejaVu Math TeX Gyre" panose="02000503000000000000" charset="0"/>
                        </a:rPr>
                        <m:t>]</m:t>
                      </m:r>
                    </m:oMath>
                  </a14:m>
                  <a:endParaRPr lang="en-US" sz="1600" b="1" i="0">
                    <a:solidFill>
                      <a:srgbClr val="1C1C1C"/>
                    </a:solidFill>
                    <a:latin typeface="微软雅黑"/>
                  </a:endParaRPr>
                </a:p>
              </p:txBody>
            </p:sp>
          </mc:Choice>
          <mc:Fallback>
            <p:sp>
              <p:nvSpPr>
                <p:cNvPr id="9" name="TextBox 34"/>
                <p:cNvSpPr txBox="1">
                  <a:spLocks noRot="1" noChangeAspect="1" noMove="1" noResize="1" noEditPoints="1" noAdjustHandles="1" noChangeArrowheads="1" noChangeShapeType="1" noTextEdit="1"/>
                </p:cNvSpPr>
                <p:nvPr/>
              </p:nvSpPr>
              <p:spPr>
                <a:xfrm>
                  <a:off x="6451" y="4018"/>
                  <a:ext cx="10886" cy="433"/>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Box 35"/>
                <p:cNvSpPr txBox="1"/>
                <p:nvPr/>
              </p:nvSpPr>
              <p:spPr>
                <a:xfrm>
                  <a:off x="6451" y="4694"/>
                  <a:ext cx="10800" cy="395"/>
                </a:xfrm>
                <a:prstGeom prst="rect">
                  <a:avLst/>
                </a:prstGeom>
                <a:noFill/>
              </p:spPr>
              <p:txBody>
                <a:bodyPr wrap="square" lIns="18288" tIns="18288" rIns="18288" bIns="9144">
                  <a:spAutoFit/>
                </a:bodyPr>
                <a:lstStyle/>
                <a:p>
                  <a:pPr>
                    <a:spcAft>
                      <a:spcPts val="300"/>
                    </a:spcAft>
                  </a:pPr>
                  <a:r>
                    <a:rPr sz="1460" b="0" i="0">
                      <a:solidFill>
                        <a:srgbClr val="1C1C1C"/>
                      </a:solidFill>
                      <a:latin typeface="微软雅黑"/>
                    </a:rPr>
                    <a:t>来自</a:t>
                  </a:r>
                  <a14:m>
                    <m:oMath xmlns:m="http://schemas.openxmlformats.org/officeDocument/2006/math">
                      <m:r>
                        <a:rPr lang="en-US" sz="1460" b="0" i="0">
                          <a:solidFill>
                            <a:srgbClr val="1C1C1C"/>
                          </a:solidFill>
                          <a:latin typeface="DejaVu Math TeX Gyre" panose="02000503000000000000" charset="0"/>
                          <a:cs typeface="DejaVu Math TeX Gyre" panose="02000503000000000000" charset="0"/>
                        </a:rPr>
                        <m:t> </m:t>
                      </m:r>
                      <m:r>
                        <m:rPr>
                          <m:sty m:val="p"/>
                        </m:rPr>
                        <a:rPr lang="en-US" sz="1460" b="0" i="0">
                          <a:solidFill>
                            <a:srgbClr val="1C1C1C"/>
                          </a:solidFill>
                          <a:latin typeface="DejaVu Math TeX Gyre" panose="02000503000000000000" charset="0"/>
                          <a:cs typeface="DejaVu Math TeX Gyre" panose="02000503000000000000" charset="0"/>
                        </a:rPr>
                        <m:t>o</m:t>
                      </m:r>
                    </m:oMath>
                  </a14:m>
                  <a:r>
                    <a:rPr sz="1460" b="0" i="0">
                      <a:solidFill>
                        <a:srgbClr val="1C1C1C"/>
                      </a:solidFill>
                      <a:latin typeface="微软雅黑"/>
                    </a:rPr>
                    <a:t>、在</a:t>
                  </a:r>
                  <a14:m>
                    <m:oMath xmlns:m="http://schemas.openxmlformats.org/officeDocument/2006/math">
                      <m:r>
                        <a:rPr lang="en-US" sz="1460" b="0" i="0">
                          <a:solidFill>
                            <a:srgbClr val="1C1C1C"/>
                          </a:solidFill>
                          <a:latin typeface="DejaVu Math TeX Gyre" panose="02000503000000000000" charset="0"/>
                          <a:cs typeface="DejaVu Math TeX Gyre" panose="02000503000000000000" charset="0"/>
                        </a:rPr>
                        <m:t> </m:t>
                      </m:r>
                      <m:r>
                        <m:rPr>
                          <m:sty m:val="p"/>
                        </m:rPr>
                        <a:rPr lang="en-US" sz="1460" b="0" i="0">
                          <a:solidFill>
                            <a:srgbClr val="1C1C1C"/>
                          </a:solidFill>
                          <a:latin typeface="DejaVu Math TeX Gyre" panose="02000503000000000000" charset="0"/>
                          <a:cs typeface="DejaVu Math TeX Gyre" panose="02000503000000000000" charset="0"/>
                        </a:rPr>
                        <m:t>d</m:t>
                      </m:r>
                      <m:r>
                        <a:rPr lang="en-US" sz="1460" b="0" i="0">
                          <a:solidFill>
                            <a:srgbClr val="1C1C1C"/>
                          </a:solidFill>
                          <a:latin typeface="DejaVu Math TeX Gyre" panose="02000503000000000000" charset="0"/>
                          <a:cs typeface="DejaVu Math TeX Gyre" panose="02000503000000000000" charset="0"/>
                        </a:rPr>
                        <m:t> </m:t>
                      </m:r>
                    </m:oMath>
                  </a14:m>
                  <a:r>
                    <a:rPr sz="1460" b="0" i="0">
                      <a:solidFill>
                        <a:srgbClr val="1C1C1C"/>
                      </a:solidFill>
                      <a:latin typeface="微软雅黑"/>
                    </a:rPr>
                    <a:t>工作的群体月平均工资；与迁移份额共同用于识别选择效应</a:t>
                  </a:r>
                  <a:endParaRPr sz="1460" b="0" i="0">
                    <a:solidFill>
                      <a:srgbClr val="1C1C1C"/>
                    </a:solidFill>
                    <a:latin typeface="微软雅黑"/>
                  </a:endParaRPr>
                </a:p>
              </p:txBody>
            </p:sp>
          </mc:Choice>
          <mc:Fallback>
            <p:sp>
              <p:nvSpPr>
                <p:cNvPr id="11" name="TextBox 35"/>
                <p:cNvSpPr txBox="1">
                  <a:spLocks noRot="1" noChangeAspect="1" noMove="1" noResize="1" noEditPoints="1" noAdjustHandles="1" noChangeArrowheads="1" noChangeShapeType="1" noTextEdit="1"/>
                </p:cNvSpPr>
                <p:nvPr/>
              </p:nvSpPr>
              <p:spPr>
                <a:xfrm>
                  <a:off x="6451" y="4694"/>
                  <a:ext cx="10800" cy="395"/>
                </a:xfrm>
                <a:prstGeom prst="rect">
                  <a:avLst/>
                </a:prstGeom>
                <a:blipFill rotWithShape="1">
                  <a:blip r:embed="rId4"/>
                </a:blipFill>
              </p:spPr>
              <p:txBody>
                <a:bodyPr/>
                <a:lstStyle/>
                <a:p>
                  <a:r>
                    <a:rPr lang="zh-CN" altLang="en-US">
                      <a:noFill/>
                    </a:rPr>
                    <a:t> </a:t>
                  </a:r>
                </a:p>
              </p:txBody>
            </p:sp>
          </mc:Fallback>
        </mc:AlternateContent>
        <p:sp>
          <p:nvSpPr>
            <p:cNvPr id="12" name="Rectangle 36"/>
            <p:cNvSpPr/>
            <p:nvPr/>
          </p:nvSpPr>
          <p:spPr>
            <a:xfrm>
              <a:off x="3326" y="5587"/>
              <a:ext cx="14357" cy="1541"/>
            </a:xfrm>
            <a:prstGeom prst="rect">
              <a:avLst/>
            </a:prstGeom>
            <a:solidFill>
              <a:srgbClr val="F4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37"/>
            <p:cNvSpPr/>
            <p:nvPr/>
          </p:nvSpPr>
          <p:spPr>
            <a:xfrm>
              <a:off x="3326" y="5587"/>
              <a:ext cx="86" cy="1541"/>
            </a:xfrm>
            <a:prstGeom prst="rect">
              <a:avLst/>
            </a:prstGeom>
            <a:solidFill>
              <a:srgbClr val="700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38"/>
            <p:cNvSpPr txBox="1"/>
            <p:nvPr/>
          </p:nvSpPr>
          <p:spPr>
            <a:xfrm>
              <a:off x="3528" y="5760"/>
              <a:ext cx="2952" cy="576"/>
            </a:xfrm>
            <a:prstGeom prst="rect">
              <a:avLst/>
            </a:prstGeom>
            <a:noFill/>
          </p:spPr>
          <p:txBody>
            <a:bodyPr wrap="square" lIns="18288" tIns="18288" rIns="18288" bIns="9144">
              <a:spAutoFit/>
            </a:bodyPr>
            <a:lstStyle/>
            <a:p>
              <a:pPr>
                <a:spcAft>
                  <a:spcPts val="300"/>
                </a:spcAft>
              </a:pPr>
              <a:r>
                <a:rPr sz="1700" b="1" i="0">
                  <a:solidFill>
                    <a:srgbClr val="700064"/>
                  </a:solidFill>
                  <a:latin typeface="微软雅黑"/>
                </a:rPr>
                <a:t>距离 / 便利程度</a:t>
              </a:r>
              <a:endParaRPr sz="1700" b="1" i="0">
                <a:solidFill>
                  <a:srgbClr val="700064"/>
                </a:solidFill>
                <a:latin typeface="微软雅黑"/>
              </a:endParaRPr>
            </a:p>
          </p:txBody>
        </p:sp>
        <mc:AlternateContent xmlns:mc="http://schemas.openxmlformats.org/markup-compatibility/2006">
          <mc:Choice xmlns:a14="http://schemas.microsoft.com/office/drawing/2010/main" Requires="a14">
            <p:sp>
              <p:nvSpPr>
                <p:cNvPr id="15" name="TextBox 39"/>
                <p:cNvSpPr txBox="1"/>
                <p:nvPr/>
              </p:nvSpPr>
              <p:spPr>
                <a:xfrm>
                  <a:off x="6451" y="5760"/>
                  <a:ext cx="10886" cy="430"/>
                </a:xfrm>
                <a:prstGeom prst="rect">
                  <a:avLst/>
                </a:prstGeom>
                <a:noFill/>
              </p:spPr>
              <p:txBody>
                <a:bodyPr wrap="square" lIns="18288" tIns="18288" rIns="18288" bIns="9144">
                  <a:spAutoFit/>
                </a:bodyPr>
                <a:lstStyle/>
                <a:p>
                  <a:pPr>
                    <a:spcAft>
                      <a:spcPts val="300"/>
                    </a:spcAft>
                  </a:pPr>
                  <a14:m>
                    <m:oMathPara xmlns:m="http://schemas.openxmlformats.org/officeDocument/2006/math">
                      <m:oMathParaPr>
                        <m:jc m:val="left"/>
                      </m:oMathParaPr>
                      <m:oMath xmlns:m="http://schemas.openxmlformats.org/officeDocument/2006/math">
                        <m:sSub>
                          <m:sSubPr>
                            <m:ctrlPr>
                              <a:rPr lang="en-US" sz="1600" b="1" i="1">
                                <a:solidFill>
                                  <a:srgbClr val="1C1C1C"/>
                                </a:solidFill>
                                <a:latin typeface="DejaVu Math TeX Gyre" panose="02000503000000000000" charset="0"/>
                                <a:cs typeface="DejaVu Math TeX Gyre" panose="02000503000000000000" charset="0"/>
                              </a:rPr>
                            </m:ctrlPr>
                          </m:sSubPr>
                          <m:e>
                            <m:r>
                              <a:rPr lang="en-US" sz="1600" b="1" i="1">
                                <a:solidFill>
                                  <a:srgbClr val="1C1C1C"/>
                                </a:solidFill>
                                <a:latin typeface="DejaVu Math TeX Gyre" panose="02000503000000000000" charset="0"/>
                                <a:cs typeface="DejaVu Math TeX Gyre" panose="02000503000000000000" charset="0"/>
                              </a:rPr>
                              <m:t>𝒅𝒊𝒔𝒕</m:t>
                            </m:r>
                          </m:e>
                          <m:sub>
                            <m:r>
                              <a:rPr lang="en-US" sz="1600" b="1" i="1">
                                <a:solidFill>
                                  <a:srgbClr val="1C1C1C"/>
                                </a:solidFill>
                                <a:latin typeface="DejaVu Math TeX Gyre" panose="02000503000000000000" charset="0"/>
                                <a:cs typeface="DejaVu Math TeX Gyre" panose="02000503000000000000" charset="0"/>
                              </a:rPr>
                              <m:t>𝒅𝒐</m:t>
                            </m:r>
                          </m:sub>
                        </m:sSub>
                        <m:r>
                          <a:rPr lang="en-US" sz="1600" b="1" i="1">
                            <a:solidFill>
                              <a:srgbClr val="1C1C1C"/>
                            </a:solidFill>
                            <a:latin typeface="DejaVu Math TeX Gyre" panose="02000503000000000000" charset="0"/>
                            <a:cs typeface="DejaVu Math TeX Gyre" panose="02000503000000000000" charset="0"/>
                          </a:rPr>
                          <m:t>;</m:t>
                        </m:r>
                        <m:sSub>
                          <m:sSubPr>
                            <m:ctrlPr>
                              <a:rPr lang="en-US" sz="1600" b="1" i="1">
                                <a:solidFill>
                                  <a:srgbClr val="1C1C1C"/>
                                </a:solidFill>
                                <a:latin typeface="DejaVu Math TeX Gyre" panose="02000503000000000000" charset="0"/>
                                <a:cs typeface="DejaVu Math TeX Gyre" panose="02000503000000000000" charset="0"/>
                              </a:rPr>
                            </m:ctrlPr>
                          </m:sSubPr>
                          <m:e>
                            <m:r>
                              <a:rPr lang="en-US" sz="1600" b="1" i="1">
                                <a:solidFill>
                                  <a:srgbClr val="1C1C1C"/>
                                </a:solidFill>
                                <a:latin typeface="DejaVu Math TeX Gyre" panose="02000503000000000000" charset="0"/>
                                <a:cs typeface="DejaVu Math TeX Gyre" panose="02000503000000000000" charset="0"/>
                              </a:rPr>
                              <m:t>𝒂𝒎𝒆𝒏</m:t>
                            </m:r>
                          </m:e>
                          <m:sub>
                            <m:r>
                              <a:rPr lang="en-US" sz="1600" b="1" i="1">
                                <a:solidFill>
                                  <a:srgbClr val="1C1C1C"/>
                                </a:solidFill>
                                <a:latin typeface="DejaVu Math TeX Gyre" panose="02000503000000000000" charset="0"/>
                                <a:cs typeface="DejaVu Math TeX Gyre" panose="02000503000000000000" charset="0"/>
                              </a:rPr>
                              <m:t>𝒅𝒕</m:t>
                            </m:r>
                          </m:sub>
                        </m:sSub>
                      </m:oMath>
                    </m:oMathPara>
                  </a14:m>
                  <a:endParaRPr lang="en-US" sz="1600" b="1" i="0">
                    <a:solidFill>
                      <a:srgbClr val="1C1C1C"/>
                    </a:solidFill>
                    <a:latin typeface="微软雅黑"/>
                  </a:endParaRPr>
                </a:p>
              </p:txBody>
            </p:sp>
          </mc:Choice>
          <mc:Fallback>
            <p:sp>
              <p:nvSpPr>
                <p:cNvPr id="15" name="TextBox 39"/>
                <p:cNvSpPr txBox="1">
                  <a:spLocks noRot="1" noChangeAspect="1" noMove="1" noResize="1" noEditPoints="1" noAdjustHandles="1" noChangeArrowheads="1" noChangeShapeType="1" noTextEdit="1"/>
                </p:cNvSpPr>
                <p:nvPr/>
              </p:nvSpPr>
              <p:spPr>
                <a:xfrm>
                  <a:off x="6451" y="5760"/>
                  <a:ext cx="10886" cy="430"/>
                </a:xfrm>
                <a:prstGeom prst="rect">
                  <a:avLst/>
                </a:prstGeom>
                <a:blipFill rotWithShape="1">
                  <a:blip r:embed="rId5"/>
                </a:blipFill>
              </p:spPr>
              <p:txBody>
                <a:bodyPr/>
                <a:lstStyle/>
                <a:p>
                  <a:r>
                    <a:rPr lang="zh-CN" altLang="en-US">
                      <a:noFill/>
                    </a:rPr>
                    <a:t> </a:t>
                  </a:r>
                </a:p>
              </p:txBody>
            </p:sp>
          </mc:Fallback>
        </mc:AlternateContent>
        <p:sp>
          <p:nvSpPr>
            <p:cNvPr id="16" name="TextBox 40"/>
            <p:cNvSpPr txBox="1"/>
            <p:nvPr/>
          </p:nvSpPr>
          <p:spPr>
            <a:xfrm>
              <a:off x="6451" y="6437"/>
              <a:ext cx="10800" cy="395"/>
            </a:xfrm>
            <a:prstGeom prst="rect">
              <a:avLst/>
            </a:prstGeom>
            <a:noFill/>
          </p:spPr>
          <p:txBody>
            <a:bodyPr wrap="square" lIns="18288" tIns="18288" rIns="18288" bIns="9144">
              <a:spAutoFit/>
            </a:bodyPr>
            <a:lstStyle/>
            <a:p>
              <a:pPr>
                <a:spcAft>
                  <a:spcPts val="300"/>
                </a:spcAft>
              </a:pPr>
              <a:r>
                <a:rPr sz="1460" b="0" i="0">
                  <a:solidFill>
                    <a:srgbClr val="1C1C1C"/>
                  </a:solidFill>
                  <a:latin typeface="微软雅黑"/>
                </a:rPr>
                <a:t>直线距离（Regency 地理中心之间）；Amenity 来自 PODES 综合指标</a:t>
              </a:r>
              <a:endParaRPr sz="1460" b="0" i="0">
                <a:solidFill>
                  <a:srgbClr val="1C1C1C"/>
                </a:solidFill>
                <a:latin typeface="微软雅黑"/>
              </a:endParaRPr>
            </a:p>
          </p:txBody>
        </p:sp>
        <p:sp>
          <p:nvSpPr>
            <p:cNvPr id="17" name="Rectangle 41"/>
            <p:cNvSpPr/>
            <p:nvPr/>
          </p:nvSpPr>
          <p:spPr>
            <a:xfrm>
              <a:off x="3326" y="7344"/>
              <a:ext cx="7027" cy="1800"/>
            </a:xfrm>
            <a:prstGeom prst="rect">
              <a:avLst/>
            </a:prstGeom>
            <a:solidFill>
              <a:srgbClr val="F4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42"/>
            <p:cNvSpPr/>
            <p:nvPr/>
          </p:nvSpPr>
          <p:spPr>
            <a:xfrm>
              <a:off x="10584" y="7344"/>
              <a:ext cx="7099" cy="1800"/>
            </a:xfrm>
            <a:prstGeom prst="rect">
              <a:avLst/>
            </a:prstGeom>
            <a:solidFill>
              <a:srgbClr val="F4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43"/>
            <p:cNvSpPr txBox="1"/>
            <p:nvPr/>
          </p:nvSpPr>
          <p:spPr>
            <a:xfrm>
              <a:off x="3557" y="7517"/>
              <a:ext cx="6408" cy="446"/>
            </a:xfrm>
            <a:prstGeom prst="rect">
              <a:avLst/>
            </a:prstGeom>
            <a:noFill/>
          </p:spPr>
          <p:txBody>
            <a:bodyPr wrap="square" lIns="18288" tIns="18288" rIns="18288" bIns="9144">
              <a:spAutoFit/>
            </a:bodyPr>
            <a:lstStyle/>
            <a:p>
              <a:pPr>
                <a:spcAft>
                  <a:spcPts val="300"/>
                </a:spcAft>
              </a:pPr>
              <a:r>
                <a:rPr sz="1620" b="1" i="0">
                  <a:solidFill>
                    <a:srgbClr val="700064"/>
                  </a:solidFill>
                  <a:latin typeface="微软雅黑"/>
                </a:rPr>
                <a:t>Origin × Year FE</a:t>
              </a:r>
              <a:endParaRPr sz="1620" b="1" i="0">
                <a:solidFill>
                  <a:srgbClr val="700064"/>
                </a:solidFill>
                <a:latin typeface="微软雅黑"/>
              </a:endParaRPr>
            </a:p>
          </p:txBody>
        </p:sp>
        <p:sp>
          <p:nvSpPr>
            <p:cNvPr id="20" name="TextBox 44"/>
            <p:cNvSpPr txBox="1"/>
            <p:nvPr/>
          </p:nvSpPr>
          <p:spPr>
            <a:xfrm>
              <a:off x="3557" y="8064"/>
              <a:ext cx="6350" cy="728"/>
            </a:xfrm>
            <a:prstGeom prst="rect">
              <a:avLst/>
            </a:prstGeom>
            <a:noFill/>
          </p:spPr>
          <p:txBody>
            <a:bodyPr wrap="square" lIns="18288" tIns="18288" rIns="18288" bIns="9144">
              <a:spAutoFit/>
            </a:bodyPr>
            <a:lstStyle/>
            <a:p>
              <a:pPr>
                <a:spcAft>
                  <a:spcPts val="300"/>
                </a:spcAft>
              </a:pPr>
              <a:r>
                <a:rPr sz="1420" b="0" i="0">
                  <a:solidFill>
                    <a:srgbClr val="1C1C1C"/>
                  </a:solidFill>
                  <a:latin typeface="微软雅黑"/>
                </a:rPr>
                <a:t>控制出生地特征及其他备选目的地相对吸引力（多边阻力）</a:t>
              </a:r>
              <a:endParaRPr sz="1420" b="0" i="0">
                <a:solidFill>
                  <a:srgbClr val="1C1C1C"/>
                </a:solidFill>
                <a:latin typeface="微软雅黑"/>
              </a:endParaRPr>
            </a:p>
          </p:txBody>
        </p:sp>
        <p:sp>
          <p:nvSpPr>
            <p:cNvPr id="21" name="TextBox 45"/>
            <p:cNvSpPr txBox="1"/>
            <p:nvPr/>
          </p:nvSpPr>
          <p:spPr>
            <a:xfrm>
              <a:off x="10786" y="7517"/>
              <a:ext cx="6365" cy="446"/>
            </a:xfrm>
            <a:prstGeom prst="rect">
              <a:avLst/>
            </a:prstGeom>
            <a:noFill/>
          </p:spPr>
          <p:txBody>
            <a:bodyPr wrap="square" lIns="18288" tIns="18288" rIns="18288" bIns="9144">
              <a:spAutoFit/>
            </a:bodyPr>
            <a:lstStyle/>
            <a:p>
              <a:pPr>
                <a:spcAft>
                  <a:spcPts val="300"/>
                </a:spcAft>
              </a:pPr>
              <a:r>
                <a:rPr sz="1620" b="1" i="0">
                  <a:solidFill>
                    <a:srgbClr val="700064"/>
                  </a:solidFill>
                  <a:latin typeface="微软雅黑"/>
                </a:rPr>
                <a:t>Destination × Year FE</a:t>
              </a:r>
              <a:endParaRPr sz="1620" b="1" i="0">
                <a:solidFill>
                  <a:srgbClr val="700064"/>
                </a:solidFill>
                <a:latin typeface="微软雅黑"/>
              </a:endParaRPr>
            </a:p>
          </p:txBody>
        </p:sp>
        <p:sp>
          <p:nvSpPr>
            <p:cNvPr id="22" name="TextBox 46"/>
            <p:cNvSpPr txBox="1"/>
            <p:nvPr/>
          </p:nvSpPr>
          <p:spPr>
            <a:xfrm>
              <a:off x="10786" y="8064"/>
              <a:ext cx="6408" cy="728"/>
            </a:xfrm>
            <a:prstGeom prst="rect">
              <a:avLst/>
            </a:prstGeom>
            <a:noFill/>
          </p:spPr>
          <p:txBody>
            <a:bodyPr wrap="square" lIns="18288" tIns="18288" rIns="18288" bIns="9144">
              <a:spAutoFit/>
            </a:bodyPr>
            <a:lstStyle/>
            <a:p>
              <a:pPr>
                <a:spcAft>
                  <a:spcPts val="300"/>
                </a:spcAft>
              </a:pPr>
              <a:r>
                <a:rPr sz="1420" b="0" i="0">
                  <a:solidFill>
                    <a:srgbClr val="1C1C1C"/>
                  </a:solidFill>
                  <a:latin typeface="微软雅黑"/>
                </a:rPr>
                <a:t>控制目的地共同生产率和便利程度差异；Fact 5 使用 Destination FE</a:t>
              </a:r>
              <a:endParaRPr sz="1420" b="0" i="0">
                <a:solidFill>
                  <a:srgbClr val="1C1C1C"/>
                </a:solidFill>
                <a:latin typeface="微软雅黑"/>
              </a:endParaRPr>
            </a:p>
          </p:txBody>
        </p:sp>
        <p:sp>
          <p:nvSpPr>
            <p:cNvPr id="23" name="Rectangle 47"/>
            <p:cNvSpPr/>
            <p:nvPr/>
          </p:nvSpPr>
          <p:spPr>
            <a:xfrm>
              <a:off x="3298" y="9461"/>
              <a:ext cx="14443" cy="691"/>
            </a:xfrm>
            <a:prstGeom prst="rect">
              <a:avLst/>
            </a:prstGeom>
            <a:solidFill>
              <a:srgbClr val="EA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48"/>
            <p:cNvSpPr txBox="1"/>
            <p:nvPr/>
          </p:nvSpPr>
          <p:spPr>
            <a:xfrm>
              <a:off x="3514" y="9605"/>
              <a:ext cx="14026" cy="429"/>
            </a:xfrm>
            <a:prstGeom prst="rect">
              <a:avLst/>
            </a:prstGeom>
            <a:noFill/>
          </p:spPr>
          <p:txBody>
            <a:bodyPr wrap="square" lIns="18288" tIns="18288" rIns="18288" bIns="9144">
              <a:spAutoFit/>
            </a:bodyPr>
            <a:lstStyle/>
            <a:p>
              <a:pPr>
                <a:spcAft>
                  <a:spcPts val="300"/>
                </a:spcAft>
              </a:pPr>
              <a:r>
                <a:rPr sz="1600" b="1" i="0">
                  <a:solidFill>
                    <a:srgbClr val="700064"/>
                  </a:solidFill>
                  <a:latin typeface="微软雅黑"/>
                </a:rPr>
                <a:t>五个事实以 Regency 为单位；正式结构估计使用 Province，以减少零迁移流</a:t>
              </a:r>
              <a:endParaRPr sz="1600" b="1" i="0">
                <a:solidFill>
                  <a:srgbClr val="700064"/>
                </a:solidFill>
                <a:latin typeface="微软雅黑"/>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en-US" altLang="zh-CN" sz="2500" b="1" i="0">
                <a:solidFill>
                  <a:srgbClr val="1C1C1C"/>
                </a:solidFill>
                <a:latin typeface="微软雅黑"/>
              </a:rPr>
              <a:t>5</a:t>
            </a:r>
            <a:r>
              <a:rPr lang="zh-CN" altLang="en-US" sz="2500" b="1" i="0">
                <a:solidFill>
                  <a:srgbClr val="1C1C1C"/>
                </a:solidFill>
                <a:latin typeface="微软雅黑"/>
              </a:rPr>
              <a:t>个事实</a:t>
            </a:r>
            <a:r>
              <a:rPr lang="zh-CN" altLang="en-US" sz="2500" b="1" i="0">
                <a:solidFill>
                  <a:srgbClr val="1C1C1C"/>
                </a:solidFill>
                <a:latin typeface="微软雅黑"/>
              </a:rPr>
              <a:t>的实证</a:t>
            </a:r>
            <a:r>
              <a:rPr lang="zh-CN" altLang="en-US" sz="2500" b="1" i="0">
                <a:solidFill>
                  <a:srgbClr val="1C1C1C"/>
                </a:solidFill>
                <a:latin typeface="微软雅黑"/>
              </a:rPr>
              <a:t>检验</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2.3</a:t>
            </a:r>
            <a:endParaRPr lang="en-US" sz="1800">
              <a:latin typeface="Times New Roman" panose="02020503050405090304" pitchFamily="18" charset="0"/>
              <a:cs typeface="Times New Roman" panose="02020503050405090304" pitchFamily="18" charset="0"/>
            </a:endParaRPr>
          </a:p>
        </p:txBody>
      </p:sp>
      <p:sp>
        <p:nvSpPr>
          <p:cNvPr id="6" name="Rectangle 26"/>
          <p:cNvSpPr/>
          <p:nvPr/>
        </p:nvSpPr>
        <p:spPr>
          <a:xfrm>
            <a:off x="2112010" y="1307465"/>
            <a:ext cx="1938655" cy="631190"/>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12010" y="1307465"/>
            <a:ext cx="76200" cy="631190"/>
          </a:xfrm>
          <a:prstGeom prst="rect">
            <a:avLst/>
          </a:prstGeom>
          <a:solidFill>
            <a:srgbClr val="6B0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28"/>
          <p:cNvSpPr txBox="1"/>
          <p:nvPr/>
        </p:nvSpPr>
        <p:spPr>
          <a:xfrm>
            <a:off x="2188337" y="1381124"/>
            <a:ext cx="1691640" cy="586105"/>
          </a:xfrm>
          <a:prstGeom prst="rect">
            <a:avLst/>
          </a:prstGeom>
          <a:noFill/>
        </p:spPr>
        <p:txBody>
          <a:bodyPr wrap="square" lIns="45720" tIns="18288" rIns="27432">
            <a:spAutoFit/>
          </a:bodyPr>
          <a:lstStyle/>
          <a:p>
            <a:pPr>
              <a:spcAft>
                <a:spcPts val="300"/>
              </a:spcAft>
              <a:defRPr sz="1700" b="1">
                <a:solidFill>
                  <a:srgbClr val="6B0069"/>
                </a:solidFill>
                <a:latin typeface="微软雅黑"/>
              </a:defRPr>
            </a:pPr>
            <a:r>
              <a:t>Fact 1 </a:t>
            </a:r>
            <a:r>
              <a:rPr lang="en-US"/>
              <a:t>：</a:t>
            </a:r>
            <a:r>
              <a:t>Gravity</a:t>
            </a:r>
          </a:p>
        </p:txBody>
      </p:sp>
      <p:pic>
        <p:nvPicPr>
          <p:cNvPr id="25" name="Picture 29" descr="fact1_original_equation.png"/>
          <p:cNvPicPr>
            <a:picLocks noChangeAspect="1"/>
          </p:cNvPicPr>
          <p:nvPr/>
        </p:nvPicPr>
        <p:blipFill>
          <a:blip r:embed="rId1"/>
          <a:srcRect b="24041"/>
          <a:stretch>
            <a:fillRect/>
          </a:stretch>
        </p:blipFill>
        <p:spPr>
          <a:xfrm>
            <a:off x="4050665" y="1304290"/>
            <a:ext cx="4687570" cy="615950"/>
          </a:xfrm>
          <a:prstGeom prst="rect">
            <a:avLst/>
          </a:prstGeom>
        </p:spPr>
      </p:pic>
      <mc:AlternateContent xmlns:mc="http://schemas.openxmlformats.org/markup-compatibility/2006">
        <mc:Choice xmlns:a14="http://schemas.microsoft.com/office/drawing/2010/main" Requires="a14">
          <p:sp>
            <p:nvSpPr>
              <p:cNvPr id="31" name="TextBox 30"/>
              <p:cNvSpPr txBox="1"/>
              <p:nvPr/>
            </p:nvSpPr>
            <p:spPr>
              <a:xfrm>
                <a:off x="8909050" y="1424305"/>
                <a:ext cx="2835275" cy="1590675"/>
              </a:xfrm>
              <a:prstGeom prst="rect">
                <a:avLst/>
              </a:prstGeom>
              <a:noFill/>
            </p:spPr>
            <p:txBody>
              <a:bodyPr wrap="square" lIns="45720" tIns="18288" rIns="27432">
                <a:noAutofit/>
              </a:bodyPr>
              <a:lstStyle/>
              <a:p>
                <a:pPr>
                  <a:spcAft>
                    <a:spcPts val="300"/>
                  </a:spcAft>
                  <a:defRPr sz="1320" b="0">
                    <a:solidFill>
                      <a:srgbClr val="232323"/>
                    </a:solidFill>
                    <a:latin typeface="微软雅黑"/>
                  </a:defRPr>
                </a:pPr>
                <a:r>
                  <a:rPr lang="zh-CN" sz="1400"/>
                  <a:t>其中</a:t>
                </a:r>
                <a:r>
                  <a:rPr sz="1400"/>
                  <a:t>固定效应：</a:t>
                </a:r>
                <a:endParaRPr sz="1400"/>
              </a:p>
              <a:p>
                <a:pPr>
                  <a:spcAft>
                    <a:spcPts val="300"/>
                  </a:spcAft>
                  <a:defRPr sz="1320" b="0">
                    <a:solidFill>
                      <a:srgbClr val="232323"/>
                    </a:solidFill>
                    <a:latin typeface="微软雅黑"/>
                  </a:defRPr>
                </a:pPr>
                <a14:m>
                  <m:oMath xmlns:m="http://schemas.openxmlformats.org/officeDocument/2006/math">
                    <m:sSub>
                      <m:sSubPr>
                        <m:ctrlPr>
                          <a:rPr lang="en-US" sz="1400" i="1">
                            <a:latin typeface="DejaVu Math TeX Gyre" panose="02000503000000000000" charset="0"/>
                            <a:cs typeface="DejaVu Math TeX Gyre" panose="02000503000000000000" charset="0"/>
                          </a:rPr>
                        </m:ctrlPr>
                      </m:sSubPr>
                      <m:e>
                        <m:r>
                          <a:rPr lang="en-US" sz="1400" i="1">
                            <a:latin typeface="DejaVu Math TeX Gyre" panose="02000503000000000000" charset="0"/>
                            <a:cs typeface="DejaVu Math TeX Gyre" panose="02000503000000000000" charset="0"/>
                          </a:rPr>
                          <m:t>𝛿</m:t>
                        </m:r>
                      </m:e>
                      <m:sub>
                        <m:r>
                          <a:rPr lang="en-US" sz="1400" i="1">
                            <a:latin typeface="DejaVu Math TeX Gyre" panose="02000503000000000000" charset="0"/>
                            <a:cs typeface="DejaVu Math TeX Gyre" panose="02000503000000000000" charset="0"/>
                          </a:rPr>
                          <m:t>𝑑𝑡</m:t>
                        </m:r>
                      </m:sub>
                    </m:sSub>
                  </m:oMath>
                </a14:m>
                <a:r>
                  <a:rPr lang="en-US" sz="1400"/>
                  <a:t>:</a:t>
                </a:r>
                <a14:m>
                  <m:oMath xmlns:m="http://schemas.openxmlformats.org/officeDocument/2006/math">
                    <m:r>
                      <m:rPr>
                        <m:sty m:val="p"/>
                      </m:rPr>
                      <a:rPr lang="en-US" sz="1400">
                        <a:latin typeface="DejaVu Math TeX Gyre" panose="02000503000000000000" charset="0"/>
                        <a:cs typeface="DejaVu Math TeX Gyre" panose="02000503000000000000" charset="0"/>
                      </a:rPr>
                      <m:t>Destination</m:t>
                    </m:r>
                    <m:r>
                      <a:rPr lang="en-US" sz="1400">
                        <a:latin typeface="DejaVu Math TeX Gyre" panose="02000503000000000000" charset="0"/>
                        <a:cs typeface="DejaVu Math TeX Gyre" panose="02000503000000000000" charset="0"/>
                      </a:rPr>
                      <m:t> × </m:t>
                    </m:r>
                    <m:r>
                      <m:rPr>
                        <m:sty m:val="p"/>
                      </m:rPr>
                      <a:rPr lang="en-US" sz="1400">
                        <a:latin typeface="DejaVu Math TeX Gyre" panose="02000503000000000000" charset="0"/>
                        <a:cs typeface="DejaVu Math TeX Gyre" panose="02000503000000000000" charset="0"/>
                      </a:rPr>
                      <m:t>Year</m:t>
                    </m:r>
                    <m:r>
                      <a:rPr lang="en-US" sz="1400">
                        <a:latin typeface="DejaVu Math TeX Gyre" panose="02000503000000000000" charset="0"/>
                        <a:cs typeface="DejaVu Math TeX Gyre" panose="02000503000000000000" charset="0"/>
                      </a:rPr>
                      <m:t> </m:t>
                    </m:r>
                  </m:oMath>
                </a14:m>
                <a:r>
                  <a:rPr sz="1400"/>
                  <a:t>控制目的地生产率、便利度等共同因素</a:t>
                </a:r>
                <a:endParaRPr sz="1400"/>
              </a:p>
              <a:p>
                <a:pPr>
                  <a:spcAft>
                    <a:spcPts val="300"/>
                  </a:spcAft>
                  <a:defRPr sz="1320" b="0">
                    <a:solidFill>
                      <a:srgbClr val="232323"/>
                    </a:solidFill>
                    <a:latin typeface="微软雅黑"/>
                  </a:defRPr>
                </a:pPr>
                <a14:m>
                  <m:oMath xmlns:m="http://schemas.openxmlformats.org/officeDocument/2006/math">
                    <m:sSub>
                      <m:sSubPr>
                        <m:ctrlPr>
                          <a:rPr lang="en-US" sz="1400" i="1">
                            <a:latin typeface="DejaVu Math TeX Gyre" panose="02000503000000000000" charset="0"/>
                            <a:cs typeface="DejaVu Math TeX Gyre" panose="02000503000000000000" charset="0"/>
                          </a:rPr>
                        </m:ctrlPr>
                      </m:sSubPr>
                      <m:e>
                        <m:r>
                          <a:rPr lang="en-US" sz="1400" i="1">
                            <a:latin typeface="DejaVu Math TeX Gyre" panose="02000503000000000000" charset="0"/>
                            <a:cs typeface="DejaVu Math TeX Gyre" panose="02000503000000000000" charset="0"/>
                          </a:rPr>
                          <m:t>𝛿</m:t>
                        </m:r>
                      </m:e>
                      <m:sub>
                        <m:r>
                          <a:rPr lang="en-US" sz="1400" i="1">
                            <a:latin typeface="DejaVu Math TeX Gyre" panose="02000503000000000000" charset="0"/>
                            <a:cs typeface="DejaVu Math TeX Gyre" panose="02000503000000000000" charset="0"/>
                          </a:rPr>
                          <m:t>𝑜𝑡</m:t>
                        </m:r>
                      </m:sub>
                    </m:sSub>
                  </m:oMath>
                </a14:m>
                <a:r>
                  <a:rPr lang="en-US" sz="1400">
                    <a:sym typeface="+mn-ea"/>
                  </a:rPr>
                  <a:t>:</a:t>
                </a:r>
                <a14:m>
                  <m:oMath xmlns:m="http://schemas.openxmlformats.org/officeDocument/2006/math">
                    <m:r>
                      <m:rPr>
                        <m:sty m:val="p"/>
                      </m:rPr>
                      <a:rPr lang="en-US" sz="1400">
                        <a:latin typeface="DejaVu Math TeX Gyre" panose="02000503000000000000" charset="0"/>
                        <a:cs typeface="DejaVu Math TeX Gyre" panose="02000503000000000000" charset="0"/>
                      </a:rPr>
                      <m:t>Origin</m:t>
                    </m:r>
                    <m:r>
                      <a:rPr lang="en-US" sz="1400">
                        <a:latin typeface="DejaVu Math TeX Gyre" panose="02000503000000000000" charset="0"/>
                        <a:cs typeface="DejaVu Math TeX Gyre" panose="02000503000000000000" charset="0"/>
                      </a:rPr>
                      <m:t> × </m:t>
                    </m:r>
                    <m:r>
                      <m:rPr>
                        <m:sty m:val="p"/>
                      </m:rPr>
                      <a:rPr lang="en-US" sz="1400">
                        <a:latin typeface="DejaVu Math TeX Gyre" panose="02000503000000000000" charset="0"/>
                        <a:cs typeface="DejaVu Math TeX Gyre" panose="02000503000000000000" charset="0"/>
                      </a:rPr>
                      <m:t>Year</m:t>
                    </m:r>
                  </m:oMath>
                </a14:m>
                <a:r>
                  <a:rPr sz="1400"/>
                  <a:t> 控制出发地特征及其他目的地的相对吸引力</a:t>
                </a:r>
                <a:endParaRPr sz="1400"/>
              </a:p>
              <a:p>
                <a:pPr>
                  <a:spcAft>
                    <a:spcPts val="300"/>
                  </a:spcAft>
                  <a:defRPr sz="1320" b="0">
                    <a:solidFill>
                      <a:srgbClr val="232323"/>
                    </a:solidFill>
                    <a:latin typeface="微软雅黑"/>
                  </a:defRPr>
                </a:pPr>
              </a:p>
            </p:txBody>
          </p:sp>
        </mc:Choice>
        <mc:Fallback>
          <p:sp>
            <p:nvSpPr>
              <p:cNvPr id="31" name="TextBox 30"/>
              <p:cNvSpPr txBox="1">
                <a:spLocks noRot="1" noChangeAspect="1" noMove="1" noResize="1" noEditPoints="1" noAdjustHandles="1" noChangeArrowheads="1" noChangeShapeType="1" noTextEdit="1"/>
              </p:cNvSpPr>
              <p:nvPr/>
            </p:nvSpPr>
            <p:spPr>
              <a:xfrm>
                <a:off x="8909050" y="1424305"/>
                <a:ext cx="2835275" cy="1590675"/>
              </a:xfrm>
              <a:prstGeom prst="rect">
                <a:avLst/>
              </a:prstGeom>
              <a:blipFill rotWithShape="1">
                <a:blip r:embed="rId2"/>
                <a:stretch>
                  <a:fillRect/>
                </a:stretch>
              </a:blipFill>
            </p:spPr>
            <p:txBody>
              <a:bodyPr/>
              <a:lstStyle/>
              <a:p>
                <a:r>
                  <a:rPr lang="zh-CN" altLang="en-US">
                    <a:noFill/>
                  </a:rPr>
                  <a:t> </a:t>
                </a:r>
              </a:p>
            </p:txBody>
          </p:sp>
        </mc:Fallback>
      </mc:AlternateContent>
      <p:grpSp>
        <p:nvGrpSpPr>
          <p:cNvPr id="26" name="组合 25"/>
          <p:cNvGrpSpPr/>
          <p:nvPr/>
        </p:nvGrpSpPr>
        <p:grpSpPr>
          <a:xfrm>
            <a:off x="2112010" y="2236470"/>
            <a:ext cx="8778240" cy="864235"/>
            <a:chOff x="3326" y="4363"/>
            <a:chExt cx="13824" cy="1361"/>
          </a:xfrm>
        </p:grpSpPr>
        <p:sp>
          <p:nvSpPr>
            <p:cNvPr id="32" name="Rectangle 31"/>
            <p:cNvSpPr/>
            <p:nvPr/>
          </p:nvSpPr>
          <p:spPr>
            <a:xfrm>
              <a:off x="3326" y="4363"/>
              <a:ext cx="3053" cy="1361"/>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26" y="4363"/>
              <a:ext cx="120" cy="1360"/>
            </a:xfrm>
            <a:prstGeom prst="rect">
              <a:avLst/>
            </a:prstGeom>
            <a:solidFill>
              <a:srgbClr val="6B0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71" y="4536"/>
              <a:ext cx="2664" cy="984"/>
            </a:xfrm>
            <a:prstGeom prst="rect">
              <a:avLst/>
            </a:prstGeom>
            <a:noFill/>
          </p:spPr>
          <p:txBody>
            <a:bodyPr wrap="square" lIns="45720" tIns="18288" rIns="27432">
              <a:spAutoFit/>
            </a:bodyPr>
            <a:lstStyle/>
            <a:p>
              <a:pPr>
                <a:spcAft>
                  <a:spcPts val="300"/>
                </a:spcAft>
                <a:defRPr sz="1700" b="1">
                  <a:solidFill>
                    <a:srgbClr val="6B0069"/>
                  </a:solidFill>
                  <a:latin typeface="微软雅黑"/>
                </a:defRPr>
              </a:pPr>
              <a:r>
                <a:t>Fact 2 </a:t>
              </a:r>
              <a:r>
                <a:rPr lang="en-US"/>
                <a:t>:</a:t>
              </a:r>
              <a:endParaRPr lang="en-US"/>
            </a:p>
            <a:p>
              <a:pPr>
                <a:spcAft>
                  <a:spcPts val="300"/>
                </a:spcAft>
                <a:defRPr sz="1700" b="1">
                  <a:solidFill>
                    <a:srgbClr val="6B0069"/>
                  </a:solidFill>
                  <a:latin typeface="微软雅黑"/>
                </a:defRPr>
              </a:pPr>
              <a:r>
                <a:t>Wage Wedges</a:t>
              </a:r>
            </a:p>
          </p:txBody>
        </p:sp>
        <p:pic>
          <p:nvPicPr>
            <p:cNvPr id="35" name="Picture 34" descr="fact2_original_equation.png"/>
            <p:cNvPicPr>
              <a:picLocks noChangeAspect="1"/>
            </p:cNvPicPr>
            <p:nvPr/>
          </p:nvPicPr>
          <p:blipFill>
            <a:blip r:embed="rId3"/>
            <a:srcRect b="14219"/>
            <a:stretch>
              <a:fillRect/>
            </a:stretch>
          </p:blipFill>
          <p:spPr>
            <a:xfrm>
              <a:off x="6461" y="4363"/>
              <a:ext cx="7530" cy="923"/>
            </a:xfrm>
            <a:prstGeom prst="rect">
              <a:avLst/>
            </a:prstGeom>
          </p:spPr>
        </p:pic>
        <p:sp>
          <p:nvSpPr>
            <p:cNvPr id="36" name="TextBox 35"/>
            <p:cNvSpPr txBox="1"/>
            <p:nvPr/>
          </p:nvSpPr>
          <p:spPr>
            <a:xfrm>
              <a:off x="6422" y="5170"/>
              <a:ext cx="10728" cy="419"/>
            </a:xfrm>
            <a:prstGeom prst="rect">
              <a:avLst/>
            </a:prstGeom>
            <a:noFill/>
          </p:spPr>
          <p:txBody>
            <a:bodyPr wrap="square" lIns="45720" tIns="18288" rIns="27432">
              <a:spAutoFit/>
            </a:bodyPr>
            <a:lstStyle/>
            <a:p>
              <a:pPr>
                <a:spcAft>
                  <a:spcPts val="300"/>
                </a:spcAft>
                <a:defRPr sz="1320" b="0">
                  <a:solidFill>
                    <a:srgbClr val="232323"/>
                  </a:solidFill>
                  <a:latin typeface="微软雅黑"/>
                </a:defRPr>
              </a:pPr>
            </a:p>
          </p:txBody>
        </p:sp>
      </p:grpSp>
      <p:pic>
        <p:nvPicPr>
          <p:cNvPr id="38" name="Picture 37" descr="image.png"/>
          <p:cNvPicPr>
            <a:picLocks noChangeAspect="1"/>
          </p:cNvPicPr>
          <p:nvPr/>
        </p:nvPicPr>
        <p:blipFill>
          <a:blip r:embed="rId4"/>
          <a:stretch>
            <a:fillRect/>
          </a:stretch>
        </p:blipFill>
        <p:spPr>
          <a:xfrm>
            <a:off x="1979930" y="3139440"/>
            <a:ext cx="6629400" cy="3718560"/>
          </a:xfrm>
          <a:prstGeom prst="rect">
            <a:avLst/>
          </a:prstGeom>
        </p:spPr>
      </p:pic>
      <p:sp>
        <p:nvSpPr>
          <p:cNvPr id="39" name="Rectangle 38"/>
          <p:cNvSpPr/>
          <p:nvPr/>
        </p:nvSpPr>
        <p:spPr>
          <a:xfrm>
            <a:off x="9015984" y="4663440"/>
            <a:ext cx="2194560" cy="1216152"/>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0" y="4773168"/>
            <a:ext cx="1938528" cy="786765"/>
          </a:xfrm>
          <a:prstGeom prst="rect">
            <a:avLst/>
          </a:prstGeom>
          <a:noFill/>
        </p:spPr>
        <p:txBody>
          <a:bodyPr wrap="square" lIns="45720" tIns="18288" rIns="27432">
            <a:spAutoFit/>
          </a:bodyPr>
          <a:lstStyle/>
          <a:p>
            <a:pPr>
              <a:spcAft>
                <a:spcPts val="300"/>
              </a:spcAft>
              <a:defRPr sz="1210" b="0">
                <a:solidFill>
                  <a:srgbClr val="232323"/>
                </a:solidFill>
                <a:latin typeface="微软雅黑"/>
              </a:defRPr>
            </a:pPr>
            <a:r>
              <a:rPr sz="1400"/>
              <a:t>Fact 1：β = −0.717***</a:t>
            </a:r>
            <a:endParaRPr sz="1400"/>
          </a:p>
          <a:p>
            <a:pPr>
              <a:spcAft>
                <a:spcPts val="300"/>
              </a:spcAft>
              <a:defRPr sz="1210" b="0">
                <a:solidFill>
                  <a:srgbClr val="232323"/>
                </a:solidFill>
                <a:latin typeface="微软雅黑"/>
              </a:defRPr>
            </a:pPr>
            <a:r>
              <a:rPr sz="1400"/>
              <a:t>Fact 2：β = 0.029***</a:t>
            </a:r>
            <a:endParaRPr sz="1400"/>
          </a:p>
          <a:p>
            <a:pPr>
              <a:spcAft>
                <a:spcPts val="300"/>
              </a:spcAft>
              <a:defRPr sz="1210" b="0">
                <a:solidFill>
                  <a:srgbClr val="232323"/>
                </a:solidFill>
                <a:latin typeface="微软雅黑"/>
              </a:defRPr>
            </a:pPr>
            <a:r>
              <a:rPr sz="1400"/>
              <a:t>双向聚类标准误</a:t>
            </a:r>
            <a:endParaRPr sz="1400"/>
          </a:p>
        </p:txBody>
      </p:sp>
      <p:sp>
        <p:nvSpPr>
          <p:cNvPr id="42" name="矩形 41"/>
          <p:cNvSpPr/>
          <p:nvPr/>
        </p:nvSpPr>
        <p:spPr>
          <a:xfrm>
            <a:off x="3879850" y="4598035"/>
            <a:ext cx="1674495" cy="454660"/>
          </a:xfrm>
          <a:prstGeom prst="rect">
            <a:avLst/>
          </a:prstGeom>
          <a:noFill/>
          <a:ln w="38100">
            <a:solidFill>
              <a:srgbClr val="C00000"/>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en-US" altLang="zh-CN" sz="2500" b="1" i="0">
                <a:solidFill>
                  <a:srgbClr val="1C1C1C"/>
                </a:solidFill>
                <a:latin typeface="微软雅黑"/>
              </a:rPr>
              <a:t>5</a:t>
            </a:r>
            <a:r>
              <a:rPr lang="zh-CN" altLang="en-US" sz="2500" b="1" i="0">
                <a:solidFill>
                  <a:srgbClr val="1C1C1C"/>
                </a:solidFill>
                <a:latin typeface="微软雅黑"/>
              </a:rPr>
              <a:t>个事实</a:t>
            </a:r>
            <a:r>
              <a:rPr lang="zh-CN" altLang="en-US" sz="2500" b="1" i="0">
                <a:solidFill>
                  <a:srgbClr val="1C1C1C"/>
                </a:solidFill>
                <a:latin typeface="微软雅黑"/>
              </a:rPr>
              <a:t>的实证</a:t>
            </a:r>
            <a:r>
              <a:rPr lang="zh-CN" altLang="en-US" sz="2500" b="1" i="0">
                <a:solidFill>
                  <a:srgbClr val="1C1C1C"/>
                </a:solidFill>
                <a:latin typeface="微软雅黑"/>
              </a:rPr>
              <a:t>检验</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2.3</a:t>
            </a:r>
            <a:endParaRPr lang="en-US" sz="1800">
              <a:latin typeface="Times New Roman" panose="02020503050405090304" pitchFamily="18" charset="0"/>
              <a:cs typeface="Times New Roman" panose="02020503050405090304" pitchFamily="18" charset="0"/>
            </a:endParaRPr>
          </a:p>
        </p:txBody>
      </p:sp>
      <p:sp>
        <p:nvSpPr>
          <p:cNvPr id="2" name="Rectangle 26"/>
          <p:cNvSpPr/>
          <p:nvPr/>
        </p:nvSpPr>
        <p:spPr>
          <a:xfrm>
            <a:off x="2112264" y="1280160"/>
            <a:ext cx="9116568" cy="1444752"/>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12264" y="1280160"/>
            <a:ext cx="54864" cy="1444752"/>
          </a:xfrm>
          <a:prstGeom prst="rect">
            <a:avLst/>
          </a:prstGeom>
          <a:solidFill>
            <a:srgbClr val="6B0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67585" y="1390015"/>
            <a:ext cx="1811020" cy="624840"/>
          </a:xfrm>
          <a:prstGeom prst="rect">
            <a:avLst/>
          </a:prstGeom>
          <a:noFill/>
        </p:spPr>
        <p:txBody>
          <a:bodyPr wrap="square" lIns="45720" tIns="18288" rIns="27432">
            <a:spAutoFit/>
          </a:bodyPr>
          <a:lstStyle/>
          <a:p>
            <a:pPr>
              <a:spcAft>
                <a:spcPts val="300"/>
              </a:spcAft>
              <a:defRPr sz="1700" b="1">
                <a:solidFill>
                  <a:srgbClr val="6B0069"/>
                </a:solidFill>
                <a:latin typeface="微软雅黑"/>
              </a:defRPr>
            </a:pPr>
            <a:r>
              <a:t>Fact 3 </a:t>
            </a:r>
            <a:r>
              <a:rPr lang="en-US"/>
              <a:t>:</a:t>
            </a:r>
            <a:endParaRPr lang="en-US"/>
          </a:p>
          <a:p>
            <a:pPr>
              <a:spcAft>
                <a:spcPts val="300"/>
              </a:spcAft>
              <a:defRPr sz="1700" b="1">
                <a:solidFill>
                  <a:srgbClr val="6B0069"/>
                </a:solidFill>
                <a:latin typeface="微软雅黑"/>
              </a:defRPr>
            </a:pPr>
            <a:r>
              <a:t>Selection</a:t>
            </a:r>
          </a:p>
        </p:txBody>
      </p:sp>
      <p:sp>
        <p:nvSpPr>
          <p:cNvPr id="31" name="TextBox 30"/>
          <p:cNvSpPr txBox="1"/>
          <p:nvPr/>
        </p:nvSpPr>
        <p:spPr>
          <a:xfrm>
            <a:off x="4022979" y="2053209"/>
            <a:ext cx="6812280" cy="266065"/>
          </a:xfrm>
          <a:prstGeom prst="rect">
            <a:avLst/>
          </a:prstGeom>
          <a:noFill/>
        </p:spPr>
        <p:txBody>
          <a:bodyPr wrap="square" lIns="45720" tIns="18288" rIns="27432">
            <a:spAutoFit/>
          </a:bodyPr>
          <a:lstStyle/>
          <a:p>
            <a:pPr>
              <a:spcAft>
                <a:spcPts val="300"/>
              </a:spcAft>
              <a:defRPr sz="1320" b="0">
                <a:solidFill>
                  <a:srgbClr val="232323"/>
                </a:solidFill>
                <a:latin typeface="微软雅黑"/>
              </a:defRPr>
            </a:pPr>
            <a:r>
              <a:t>内生性：特定目的地对某出生地群体的生产率冲击，可能同时改变工资与迁移份额</a:t>
            </a:r>
          </a:p>
        </p:txBody>
      </p:sp>
      <p:sp>
        <p:nvSpPr>
          <p:cNvPr id="32" name="Rectangle 31"/>
          <p:cNvSpPr/>
          <p:nvPr/>
        </p:nvSpPr>
        <p:spPr>
          <a:xfrm>
            <a:off x="2112264" y="2825496"/>
            <a:ext cx="9116568" cy="1435608"/>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12264" y="2825496"/>
            <a:ext cx="54864" cy="1435608"/>
          </a:xfrm>
          <a:prstGeom prst="rect">
            <a:avLst/>
          </a:prstGeom>
          <a:solidFill>
            <a:srgbClr val="6B0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67585" y="2934970"/>
            <a:ext cx="1894840" cy="624840"/>
          </a:xfrm>
          <a:prstGeom prst="rect">
            <a:avLst/>
          </a:prstGeom>
          <a:noFill/>
        </p:spPr>
        <p:txBody>
          <a:bodyPr wrap="square" lIns="45720" tIns="18288" rIns="27432">
            <a:spAutoFit/>
          </a:bodyPr>
          <a:lstStyle/>
          <a:p>
            <a:pPr>
              <a:spcAft>
                <a:spcPts val="300"/>
              </a:spcAft>
              <a:defRPr sz="1700" b="1">
                <a:solidFill>
                  <a:srgbClr val="6B0069"/>
                </a:solidFill>
                <a:latin typeface="微软雅黑"/>
              </a:defRPr>
            </a:pPr>
            <a:r>
              <a:t>Fact 4 </a:t>
            </a:r>
            <a:r>
              <a:rPr lang="en-US"/>
              <a:t>:</a:t>
            </a:r>
            <a:endParaRPr lang="en-US"/>
          </a:p>
          <a:p>
            <a:pPr>
              <a:spcAft>
                <a:spcPts val="300"/>
              </a:spcAft>
              <a:defRPr sz="1700" b="1">
                <a:solidFill>
                  <a:srgbClr val="6B0069"/>
                </a:solidFill>
                <a:latin typeface="微软雅黑"/>
              </a:defRPr>
            </a:pPr>
            <a:r>
              <a:t>Selection Test</a:t>
            </a:r>
          </a:p>
        </p:txBody>
      </p:sp>
      <p:sp>
        <p:nvSpPr>
          <p:cNvPr id="36" name="TextBox 35"/>
          <p:cNvSpPr txBox="1"/>
          <p:nvPr/>
        </p:nvSpPr>
        <p:spPr>
          <a:xfrm>
            <a:off x="4078224" y="3529330"/>
            <a:ext cx="6812280" cy="709295"/>
          </a:xfrm>
          <a:prstGeom prst="rect">
            <a:avLst/>
          </a:prstGeom>
          <a:noFill/>
        </p:spPr>
        <p:txBody>
          <a:bodyPr wrap="square" lIns="45720" tIns="18288" rIns="27432">
            <a:spAutoFit/>
          </a:bodyPr>
          <a:lstStyle/>
          <a:p>
            <a:pPr>
              <a:spcAft>
                <a:spcPts val="300"/>
              </a:spcAft>
              <a:defRPr sz="1320" b="0">
                <a:solidFill>
                  <a:srgbClr val="232323"/>
                </a:solidFill>
                <a:latin typeface="微软雅黑"/>
              </a:defRPr>
            </a:pPr>
            <a:r>
              <a:t>在 Fact 3 的工资回归中同时纳入迁移份额和距离</a:t>
            </a:r>
          </a:p>
          <a:p>
            <a:pPr>
              <a:spcAft>
                <a:spcPts val="300"/>
              </a:spcAft>
              <a:defRPr sz="1320" b="0">
                <a:solidFill>
                  <a:srgbClr val="232323"/>
                </a:solidFill>
                <a:latin typeface="微软雅黑"/>
              </a:defRPr>
            </a:pPr>
            <a:r>
              <a:t>比较：距离系数由 0.029 降至 0.007，迁移份额系数由 −0.039 变为 −0.031；距离剩余效应经济量级较小</a:t>
            </a:r>
          </a:p>
        </p:txBody>
      </p:sp>
      <p:pic>
        <p:nvPicPr>
          <p:cNvPr id="38" name="Picture 37" descr="image.png"/>
          <p:cNvPicPr>
            <a:picLocks noChangeAspect="1"/>
          </p:cNvPicPr>
          <p:nvPr/>
        </p:nvPicPr>
        <p:blipFill>
          <a:blip r:embed="rId1"/>
          <a:stretch>
            <a:fillRect/>
          </a:stretch>
        </p:blipFill>
        <p:spPr>
          <a:xfrm>
            <a:off x="2112010" y="4286885"/>
            <a:ext cx="6537960" cy="2578735"/>
          </a:xfrm>
          <a:prstGeom prst="rect">
            <a:avLst/>
          </a:prstGeom>
        </p:spPr>
      </p:pic>
      <p:sp>
        <p:nvSpPr>
          <p:cNvPr id="39" name="Rectangle 38"/>
          <p:cNvSpPr/>
          <p:nvPr/>
        </p:nvSpPr>
        <p:spPr>
          <a:xfrm>
            <a:off x="8961120" y="4736592"/>
            <a:ext cx="2240280" cy="1170432"/>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98280" y="4809744"/>
            <a:ext cx="1984248" cy="914400"/>
          </a:xfrm>
          <a:prstGeom prst="rect">
            <a:avLst/>
          </a:prstGeom>
          <a:noFill/>
        </p:spPr>
        <p:txBody>
          <a:bodyPr wrap="square" lIns="45720" tIns="18288" rIns="27432">
            <a:spAutoFit/>
          </a:bodyPr>
          <a:lstStyle/>
          <a:p>
            <a:pPr>
              <a:spcAft>
                <a:spcPts val="300"/>
              </a:spcAft>
              <a:defRPr sz="1230" b="0">
                <a:solidFill>
                  <a:srgbClr val="232323"/>
                </a:solidFill>
                <a:latin typeface="微软雅黑"/>
              </a:defRPr>
            </a:pPr>
            <a:r>
              <a:t>Fact 3：−0.039***</a:t>
            </a:r>
          </a:p>
          <a:p>
            <a:pPr>
              <a:spcAft>
                <a:spcPts val="300"/>
              </a:spcAft>
              <a:defRPr sz="1230" b="0">
                <a:solidFill>
                  <a:srgbClr val="232323"/>
                </a:solidFill>
                <a:latin typeface="微软雅黑"/>
              </a:defRPr>
            </a:pPr>
            <a:r>
              <a:t>Fact 4：−0.031***</a:t>
            </a:r>
          </a:p>
          <a:p>
            <a:pPr>
              <a:spcAft>
                <a:spcPts val="300"/>
              </a:spcAft>
              <a:defRPr sz="1230" b="0">
                <a:solidFill>
                  <a:srgbClr val="232323"/>
                </a:solidFill>
                <a:latin typeface="微软雅黑"/>
              </a:defRPr>
            </a:pPr>
            <a:r>
              <a:t>距离：0.007***</a:t>
            </a:r>
          </a:p>
        </p:txBody>
      </p:sp>
      <p:sp>
        <p:nvSpPr>
          <p:cNvPr id="41" name="TextBox 40"/>
          <p:cNvSpPr txBox="1"/>
          <p:nvPr/>
        </p:nvSpPr>
        <p:spPr>
          <a:xfrm>
            <a:off x="4022725" y="2333879"/>
            <a:ext cx="8878824" cy="263525"/>
          </a:xfrm>
          <a:prstGeom prst="rect">
            <a:avLst/>
          </a:prstGeom>
          <a:noFill/>
        </p:spPr>
        <p:txBody>
          <a:bodyPr wrap="square" lIns="45720" tIns="18288" rIns="27432">
            <a:spAutoFit/>
          </a:bodyPr>
          <a:lstStyle/>
          <a:p>
            <a:pPr>
              <a:spcAft>
                <a:spcPts val="300"/>
              </a:spcAft>
              <a:defRPr sz="1300" b="0">
                <a:solidFill>
                  <a:srgbClr val="6B0069"/>
                </a:solidFill>
                <a:latin typeface="微软雅黑"/>
              </a:defRPr>
            </a:pPr>
            <a:r>
              <a:rPr lang="zh-CN"/>
              <a:t>使得</a:t>
            </a:r>
            <a:r>
              <a:t>Fact 3 的 OLS 弹性并非直接因果参数；后文</a:t>
            </a:r>
            <a:r>
              <a:rPr lang="zh-CN"/>
              <a:t>使用</a:t>
            </a:r>
            <a:r>
              <a:t>IV处理迁移份额内生性</a:t>
            </a:r>
          </a:p>
        </p:txBody>
      </p:sp>
      <p:sp>
        <p:nvSpPr>
          <p:cNvPr id="42" name="矩形 41"/>
          <p:cNvSpPr/>
          <p:nvPr/>
        </p:nvSpPr>
        <p:spPr>
          <a:xfrm>
            <a:off x="4930775" y="5294630"/>
            <a:ext cx="2382520" cy="671195"/>
          </a:xfrm>
          <a:prstGeom prst="rect">
            <a:avLst/>
          </a:prstGeom>
          <a:noFill/>
          <a:ln w="38100">
            <a:solidFill>
              <a:srgbClr val="C00000"/>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334E55B0-647D-440b-865C-3EC943EB4CBC-116" descr="wpsoffice"/>
          <p:cNvPicPr>
            <a:picLocks noChangeAspect="1"/>
          </p:cNvPicPr>
          <p:nvPr/>
        </p:nvPicPr>
        <p:blipFill>
          <a:blip r:embed="rId2"/>
          <a:stretch>
            <a:fillRect/>
          </a:stretch>
        </p:blipFill>
        <p:spPr>
          <a:xfrm>
            <a:off x="4022725" y="1650365"/>
            <a:ext cx="4895850" cy="274320"/>
          </a:xfrm>
          <a:prstGeom prst="rect">
            <a:avLst/>
          </a:prstGeom>
        </p:spPr>
      </p:pic>
      <p:pic>
        <p:nvPicPr>
          <p:cNvPr id="26" name="334E55B0-647D-440b-865C-3EC943EB4CBC-117" descr="wpsoffice"/>
          <p:cNvPicPr>
            <a:picLocks noChangeAspect="1"/>
          </p:cNvPicPr>
          <p:nvPr/>
        </p:nvPicPr>
        <p:blipFill>
          <a:blip r:embed="rId3"/>
          <a:stretch>
            <a:fillRect/>
          </a:stretch>
        </p:blipFill>
        <p:spPr>
          <a:xfrm>
            <a:off x="4162425" y="3107055"/>
            <a:ext cx="5674995" cy="2374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en-US" altLang="zh-CN" sz="2500" b="1" i="0">
                <a:solidFill>
                  <a:srgbClr val="1C1C1C"/>
                </a:solidFill>
                <a:latin typeface="微软雅黑"/>
              </a:rPr>
              <a:t>5</a:t>
            </a:r>
            <a:r>
              <a:rPr lang="zh-CN" altLang="en-US" sz="2500" b="1" i="0">
                <a:solidFill>
                  <a:srgbClr val="1C1C1C"/>
                </a:solidFill>
                <a:latin typeface="微软雅黑"/>
              </a:rPr>
              <a:t>个事实</a:t>
            </a:r>
            <a:r>
              <a:rPr lang="zh-CN" altLang="en-US" sz="2500" b="1" i="0">
                <a:solidFill>
                  <a:srgbClr val="1C1C1C"/>
                </a:solidFill>
                <a:latin typeface="微软雅黑"/>
              </a:rPr>
              <a:t>的实证</a:t>
            </a:r>
            <a:r>
              <a:rPr lang="zh-CN" altLang="en-US" sz="2500" b="1" i="0">
                <a:solidFill>
                  <a:srgbClr val="1C1C1C"/>
                </a:solidFill>
                <a:latin typeface="微软雅黑"/>
              </a:rPr>
              <a:t>检验</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2.3</a:t>
            </a:r>
            <a:endParaRPr lang="en-US" sz="1800">
              <a:latin typeface="Times New Roman" panose="02020503050405090304" pitchFamily="18" charset="0"/>
              <a:cs typeface="Times New Roman" panose="02020503050405090304" pitchFamily="18" charset="0"/>
            </a:endParaRPr>
          </a:p>
        </p:txBody>
      </p:sp>
      <p:sp>
        <p:nvSpPr>
          <p:cNvPr id="2" name="Rectangle 26"/>
          <p:cNvSpPr/>
          <p:nvPr/>
        </p:nvSpPr>
        <p:spPr>
          <a:xfrm>
            <a:off x="2112264" y="1280160"/>
            <a:ext cx="9116568" cy="1444752"/>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12264" y="1280160"/>
            <a:ext cx="54864" cy="1444752"/>
          </a:xfrm>
          <a:prstGeom prst="rect">
            <a:avLst/>
          </a:prstGeom>
          <a:solidFill>
            <a:srgbClr val="6B0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67585" y="1390015"/>
            <a:ext cx="1811020" cy="624840"/>
          </a:xfrm>
          <a:prstGeom prst="rect">
            <a:avLst/>
          </a:prstGeom>
          <a:noFill/>
        </p:spPr>
        <p:txBody>
          <a:bodyPr wrap="square" lIns="45720" tIns="18288" rIns="27432">
            <a:spAutoFit/>
          </a:bodyPr>
          <a:lstStyle/>
          <a:p>
            <a:pPr>
              <a:spcAft>
                <a:spcPts val="300"/>
              </a:spcAft>
              <a:defRPr sz="1700" b="1">
                <a:solidFill>
                  <a:srgbClr val="6B0069"/>
                </a:solidFill>
                <a:latin typeface="微软雅黑"/>
              </a:defRPr>
            </a:pPr>
            <a:r>
              <a:t>Fact 3 </a:t>
            </a:r>
            <a:r>
              <a:rPr lang="en-US"/>
              <a:t>:</a:t>
            </a:r>
            <a:endParaRPr lang="en-US"/>
          </a:p>
          <a:p>
            <a:pPr>
              <a:spcAft>
                <a:spcPts val="300"/>
              </a:spcAft>
              <a:defRPr sz="1700" b="1">
                <a:solidFill>
                  <a:srgbClr val="6B0069"/>
                </a:solidFill>
                <a:latin typeface="微软雅黑"/>
              </a:defRPr>
            </a:pPr>
            <a:r>
              <a:t>Selection</a:t>
            </a:r>
          </a:p>
        </p:txBody>
      </p:sp>
      <p:sp>
        <p:nvSpPr>
          <p:cNvPr id="31" name="TextBox 30"/>
          <p:cNvSpPr txBox="1"/>
          <p:nvPr/>
        </p:nvSpPr>
        <p:spPr>
          <a:xfrm>
            <a:off x="4022979" y="2053209"/>
            <a:ext cx="6812280" cy="309245"/>
          </a:xfrm>
          <a:prstGeom prst="rect">
            <a:avLst/>
          </a:prstGeom>
          <a:noFill/>
        </p:spPr>
        <p:txBody>
          <a:bodyPr wrap="square" lIns="45720" tIns="18288" rIns="27432">
            <a:spAutoFit/>
          </a:bodyPr>
          <a:lstStyle/>
          <a:p>
            <a:pPr>
              <a:spcAft>
                <a:spcPts val="300"/>
              </a:spcAft>
              <a:defRPr sz="1320" b="0">
                <a:solidFill>
                  <a:srgbClr val="232323"/>
                </a:solidFill>
                <a:latin typeface="微软雅黑"/>
              </a:defRPr>
            </a:pPr>
            <a:r>
              <a:rPr sz="1600" b="1"/>
              <a:t>内生性：</a:t>
            </a:r>
            <a:r>
              <a:t>特定目的地对某出生地群体的生产率冲击，可能同时改变工资与迁移份额</a:t>
            </a:r>
          </a:p>
        </p:txBody>
      </p:sp>
      <p:sp>
        <p:nvSpPr>
          <p:cNvPr id="41" name="TextBox 40"/>
          <p:cNvSpPr txBox="1"/>
          <p:nvPr/>
        </p:nvSpPr>
        <p:spPr>
          <a:xfrm>
            <a:off x="4022725" y="2333879"/>
            <a:ext cx="8878824" cy="263525"/>
          </a:xfrm>
          <a:prstGeom prst="rect">
            <a:avLst/>
          </a:prstGeom>
          <a:noFill/>
        </p:spPr>
        <p:txBody>
          <a:bodyPr wrap="square" lIns="45720" tIns="18288" rIns="27432">
            <a:spAutoFit/>
          </a:bodyPr>
          <a:lstStyle/>
          <a:p>
            <a:pPr>
              <a:spcAft>
                <a:spcPts val="300"/>
              </a:spcAft>
              <a:defRPr sz="1300" b="0">
                <a:solidFill>
                  <a:srgbClr val="6B0069"/>
                </a:solidFill>
                <a:latin typeface="微软雅黑"/>
              </a:defRPr>
            </a:pPr>
            <a:r>
              <a:rPr lang="zh-CN"/>
              <a:t>使得</a:t>
            </a:r>
            <a:r>
              <a:t>Fact 3 的 OLS 弹性并非直接因果参数；后文</a:t>
            </a:r>
            <a:r>
              <a:rPr lang="zh-CN"/>
              <a:t>使用</a:t>
            </a:r>
            <a:r>
              <a:t>IV处理迁移份额内生性</a:t>
            </a:r>
          </a:p>
        </p:txBody>
      </p:sp>
      <p:sp>
        <p:nvSpPr>
          <p:cNvPr id="3" name="TextBox 28"/>
          <p:cNvSpPr txBox="1"/>
          <p:nvPr/>
        </p:nvSpPr>
        <p:spPr>
          <a:xfrm>
            <a:off x="2267585" y="2915920"/>
            <a:ext cx="1811020" cy="324485"/>
          </a:xfrm>
          <a:prstGeom prst="rect">
            <a:avLst/>
          </a:prstGeom>
          <a:noFill/>
        </p:spPr>
        <p:txBody>
          <a:bodyPr wrap="square" lIns="45720" tIns="18288" rIns="27432">
            <a:spAutoFit/>
          </a:bodyPr>
          <a:lstStyle/>
          <a:p>
            <a:pPr>
              <a:spcAft>
                <a:spcPts val="300"/>
              </a:spcAft>
              <a:defRPr sz="1700" b="1">
                <a:solidFill>
                  <a:srgbClr val="6B0069"/>
                </a:solidFill>
                <a:latin typeface="微软雅黑"/>
              </a:defRPr>
            </a:pPr>
            <a:r>
              <a:rPr lang="zh-CN"/>
              <a:t>内生性说明</a:t>
            </a:r>
            <a:r>
              <a:rPr lang="en-US" altLang="zh-CN"/>
              <a:t>：</a:t>
            </a:r>
            <a:endParaRPr lang="en-US" altLang="zh-CN"/>
          </a:p>
        </p:txBody>
      </p:sp>
      <p:grpSp>
        <p:nvGrpSpPr>
          <p:cNvPr id="19" name="组合 18"/>
          <p:cNvGrpSpPr/>
          <p:nvPr/>
        </p:nvGrpSpPr>
        <p:grpSpPr>
          <a:xfrm>
            <a:off x="2112010" y="3363595"/>
            <a:ext cx="9180830" cy="2560320"/>
            <a:chOff x="3298" y="6091"/>
            <a:chExt cx="14458" cy="4032"/>
          </a:xfrm>
        </p:grpSpPr>
        <p:sp>
          <p:nvSpPr>
            <p:cNvPr id="21" name="Rectangle 20"/>
            <p:cNvSpPr/>
            <p:nvPr/>
          </p:nvSpPr>
          <p:spPr>
            <a:xfrm>
              <a:off x="3298" y="6091"/>
              <a:ext cx="4579" cy="1685"/>
            </a:xfrm>
            <a:prstGeom prst="rect">
              <a:avLst/>
            </a:prstGeom>
            <a:solidFill>
              <a:srgbClr val="EF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98" y="6091"/>
              <a:ext cx="65" cy="1685"/>
            </a:xfrm>
            <a:prstGeom prst="rect">
              <a:avLst/>
            </a:prstGeom>
            <a:solidFill>
              <a:srgbClr val="6E0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51" y="6091"/>
              <a:ext cx="4579" cy="1685"/>
            </a:xfrm>
            <a:prstGeom prst="rect">
              <a:avLst/>
            </a:prstGeom>
            <a:solidFill>
              <a:srgbClr val="EF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51" y="6091"/>
              <a:ext cx="65" cy="1685"/>
            </a:xfrm>
            <a:prstGeom prst="rect">
              <a:avLst/>
            </a:prstGeom>
            <a:solidFill>
              <a:srgbClr val="6E0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176" y="6091"/>
              <a:ext cx="4579" cy="1685"/>
            </a:xfrm>
            <a:prstGeom prst="rect">
              <a:avLst/>
            </a:prstGeom>
            <a:solidFill>
              <a:srgbClr val="EF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3176" y="6091"/>
              <a:ext cx="65" cy="1685"/>
            </a:xfrm>
            <a:prstGeom prst="rect">
              <a:avLst/>
            </a:prstGeom>
            <a:solidFill>
              <a:srgbClr val="6E0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26"/>
            <p:cNvSpPr txBox="1"/>
            <p:nvPr/>
          </p:nvSpPr>
          <p:spPr>
            <a:xfrm>
              <a:off x="3557" y="6293"/>
              <a:ext cx="4032" cy="367"/>
            </a:xfrm>
            <a:prstGeom prst="rect">
              <a:avLst/>
            </a:prstGeom>
            <a:noFill/>
          </p:spPr>
          <p:txBody>
            <a:bodyPr wrap="square" lIns="27432" tIns="18288" rIns="27432" bIns="0">
              <a:spAutoFit/>
            </a:bodyPr>
            <a:lstStyle/>
            <a:p>
              <a:pPr algn="l"/>
              <a:r>
                <a:rPr sz="1400" b="1">
                  <a:solidFill>
                    <a:srgbClr val="6E0875"/>
                  </a:solidFill>
                  <a:latin typeface="微软雅黑"/>
                </a:rPr>
                <a:t>例子：芝加哥双语岗位需求 ↑</a:t>
              </a:r>
              <a:endParaRPr sz="1400" b="1">
                <a:solidFill>
                  <a:srgbClr val="6E0875"/>
                </a:solidFill>
                <a:latin typeface="微软雅黑"/>
              </a:endParaRPr>
            </a:p>
          </p:txBody>
        </p:sp>
        <p:sp>
          <p:nvSpPr>
            <p:cNvPr id="5" name="TextBox 27"/>
            <p:cNvSpPr txBox="1"/>
            <p:nvPr/>
          </p:nvSpPr>
          <p:spPr>
            <a:xfrm>
              <a:off x="3557" y="6869"/>
              <a:ext cx="3974" cy="691"/>
            </a:xfrm>
            <a:prstGeom prst="rect">
              <a:avLst/>
            </a:prstGeom>
            <a:noFill/>
          </p:spPr>
          <p:txBody>
            <a:bodyPr wrap="square" lIns="27432" tIns="18288" rIns="27432" bIns="0">
              <a:spAutoFit/>
            </a:bodyPr>
            <a:lstStyle/>
            <a:p>
              <a:pPr algn="l"/>
              <a:r>
                <a:rPr sz="1200" b="0">
                  <a:solidFill>
                    <a:srgbClr val="262626"/>
                  </a:solidFill>
                  <a:latin typeface="微软雅黑"/>
                </a:rPr>
                <a:t>芝加哥企业扩展西班牙语业务，
更需要得州某地区的双语员工。</a:t>
              </a:r>
              <a:endParaRPr sz="1200" b="0">
                <a:solidFill>
                  <a:srgbClr val="262626"/>
                </a:solidFill>
                <a:latin typeface="微软雅黑"/>
              </a:endParaRPr>
            </a:p>
          </p:txBody>
        </p:sp>
        <p:sp>
          <p:nvSpPr>
            <p:cNvPr id="6" name="TextBox 28"/>
            <p:cNvSpPr txBox="1"/>
            <p:nvPr/>
          </p:nvSpPr>
          <p:spPr>
            <a:xfrm>
              <a:off x="8496" y="6293"/>
              <a:ext cx="3888" cy="490"/>
            </a:xfrm>
            <a:prstGeom prst="rect">
              <a:avLst/>
            </a:prstGeom>
            <a:noFill/>
          </p:spPr>
          <p:txBody>
            <a:bodyPr wrap="square" lIns="27432" tIns="18288" rIns="27432" bIns="0">
              <a:spAutoFit/>
            </a:bodyPr>
            <a:lstStyle/>
            <a:p>
              <a:pPr algn="l"/>
              <a:r>
                <a:rPr sz="1600" b="1">
                  <a:solidFill>
                    <a:srgbClr val="6E0875"/>
                  </a:solidFill>
                  <a:latin typeface="微软雅黑"/>
                </a:rPr>
                <a:t>① 该群体工资 ↑</a:t>
              </a:r>
              <a:endParaRPr sz="1600" b="1">
                <a:solidFill>
                  <a:srgbClr val="6E0875"/>
                </a:solidFill>
                <a:latin typeface="微软雅黑"/>
              </a:endParaRPr>
            </a:p>
          </p:txBody>
        </p:sp>
        <p:sp>
          <p:nvSpPr>
            <p:cNvPr id="7" name="TextBox 29"/>
            <p:cNvSpPr txBox="1"/>
            <p:nvPr/>
          </p:nvSpPr>
          <p:spPr>
            <a:xfrm>
              <a:off x="8496" y="6869"/>
              <a:ext cx="3888" cy="691"/>
            </a:xfrm>
            <a:prstGeom prst="rect">
              <a:avLst/>
            </a:prstGeom>
            <a:noFill/>
          </p:spPr>
          <p:txBody>
            <a:bodyPr wrap="square" lIns="27432" tIns="18288" rIns="27432" bIns="0">
              <a:spAutoFit/>
            </a:bodyPr>
            <a:lstStyle/>
            <a:p>
              <a:pPr algn="l"/>
              <a:r>
                <a:rPr sz="1280" b="0">
                  <a:solidFill>
                    <a:srgbClr val="262626"/>
                  </a:solidFill>
                  <a:latin typeface="微软雅黑"/>
                </a:rPr>
                <a:t>雇主提高相关岗位薪酬，
该出生地群体工资上升。</a:t>
              </a:r>
              <a:endParaRPr sz="1280" b="0">
                <a:solidFill>
                  <a:srgbClr val="262626"/>
                </a:solidFill>
                <a:latin typeface="微软雅黑"/>
              </a:endParaRPr>
            </a:p>
          </p:txBody>
        </p:sp>
        <p:sp>
          <p:nvSpPr>
            <p:cNvPr id="8" name="TextBox 30"/>
            <p:cNvSpPr txBox="1"/>
            <p:nvPr/>
          </p:nvSpPr>
          <p:spPr>
            <a:xfrm>
              <a:off x="13435" y="6293"/>
              <a:ext cx="3917" cy="490"/>
            </a:xfrm>
            <a:prstGeom prst="rect">
              <a:avLst/>
            </a:prstGeom>
            <a:noFill/>
          </p:spPr>
          <p:txBody>
            <a:bodyPr wrap="square" lIns="27432" tIns="18288" rIns="27432" bIns="0">
              <a:spAutoFit/>
            </a:bodyPr>
            <a:lstStyle/>
            <a:p>
              <a:pPr algn="l"/>
              <a:r>
                <a:rPr sz="1600" b="1">
                  <a:solidFill>
                    <a:srgbClr val="6E0875"/>
                  </a:solidFill>
                  <a:latin typeface="微软雅黑"/>
                </a:rPr>
                <a:t>② 迁往芝加哥比例 ↑</a:t>
              </a:r>
              <a:endParaRPr sz="1600" b="1">
                <a:solidFill>
                  <a:srgbClr val="6E0875"/>
                </a:solidFill>
                <a:latin typeface="微软雅黑"/>
              </a:endParaRPr>
            </a:p>
          </p:txBody>
        </p:sp>
        <p:sp>
          <p:nvSpPr>
            <p:cNvPr id="9" name="TextBox 31"/>
            <p:cNvSpPr txBox="1"/>
            <p:nvPr/>
          </p:nvSpPr>
          <p:spPr>
            <a:xfrm>
              <a:off x="13435" y="6869"/>
              <a:ext cx="3917" cy="691"/>
            </a:xfrm>
            <a:prstGeom prst="rect">
              <a:avLst/>
            </a:prstGeom>
            <a:noFill/>
          </p:spPr>
          <p:txBody>
            <a:bodyPr wrap="square" lIns="27432" tIns="18288" rIns="27432" bIns="0">
              <a:spAutoFit/>
            </a:bodyPr>
            <a:lstStyle/>
            <a:p>
              <a:pPr algn="l"/>
              <a:r>
                <a:rPr sz="1280" b="0">
                  <a:solidFill>
                    <a:srgbClr val="262626"/>
                  </a:solidFill>
                  <a:latin typeface="微软雅黑"/>
                </a:rPr>
                <a:t>更高工资吸引更多该地区
劳动者迁往芝加哥。</a:t>
              </a:r>
              <a:endParaRPr sz="1280" b="0">
                <a:solidFill>
                  <a:srgbClr val="262626"/>
                </a:solidFill>
                <a:latin typeface="微软雅黑"/>
              </a:endParaRPr>
            </a:p>
          </p:txBody>
        </p:sp>
        <p:sp>
          <p:nvSpPr>
            <p:cNvPr id="10" name="TextBox 32"/>
            <p:cNvSpPr txBox="1"/>
            <p:nvPr/>
          </p:nvSpPr>
          <p:spPr>
            <a:xfrm>
              <a:off x="7790" y="6667"/>
              <a:ext cx="432" cy="360"/>
            </a:xfrm>
            <a:prstGeom prst="rect">
              <a:avLst/>
            </a:prstGeom>
            <a:noFill/>
          </p:spPr>
          <p:txBody>
            <a:bodyPr wrap="square" lIns="27432" tIns="18288" rIns="27432" bIns="0">
              <a:spAutoFit/>
            </a:bodyPr>
            <a:lstStyle/>
            <a:p>
              <a:pPr algn="ctr"/>
              <a:r>
                <a:rPr sz="2100" b="1">
                  <a:solidFill>
                    <a:srgbClr val="6E0875"/>
                  </a:solidFill>
                  <a:latin typeface="微软雅黑"/>
                </a:rPr>
                <a:t>→</a:t>
              </a:r>
              <a:endParaRPr sz="2100" b="1">
                <a:solidFill>
                  <a:srgbClr val="6E0875"/>
                </a:solidFill>
                <a:latin typeface="微软雅黑"/>
              </a:endParaRPr>
            </a:p>
          </p:txBody>
        </p:sp>
        <p:sp>
          <p:nvSpPr>
            <p:cNvPr id="11" name="TextBox 33"/>
            <p:cNvSpPr txBox="1"/>
            <p:nvPr/>
          </p:nvSpPr>
          <p:spPr>
            <a:xfrm>
              <a:off x="12730" y="6667"/>
              <a:ext cx="432" cy="360"/>
            </a:xfrm>
            <a:prstGeom prst="rect">
              <a:avLst/>
            </a:prstGeom>
            <a:noFill/>
          </p:spPr>
          <p:txBody>
            <a:bodyPr wrap="square" lIns="27432" tIns="18288" rIns="27432" bIns="0">
              <a:spAutoFit/>
            </a:bodyPr>
            <a:lstStyle/>
            <a:p>
              <a:pPr algn="ctr"/>
              <a:r>
                <a:rPr sz="2100" b="1">
                  <a:solidFill>
                    <a:srgbClr val="6E0875"/>
                  </a:solidFill>
                  <a:latin typeface="微软雅黑"/>
                </a:rPr>
                <a:t>→</a:t>
              </a:r>
              <a:endParaRPr sz="2100" b="1">
                <a:solidFill>
                  <a:srgbClr val="6E0875"/>
                </a:solidFill>
                <a:latin typeface="微软雅黑"/>
              </a:endParaRPr>
            </a:p>
          </p:txBody>
        </p:sp>
        <p:sp>
          <p:nvSpPr>
            <p:cNvPr id="12" name="Rectangle 34"/>
            <p:cNvSpPr/>
            <p:nvPr/>
          </p:nvSpPr>
          <p:spPr>
            <a:xfrm>
              <a:off x="3298" y="8122"/>
              <a:ext cx="14458" cy="1195"/>
            </a:xfrm>
            <a:prstGeom prst="rect">
              <a:avLst/>
            </a:prstGeom>
            <a:solidFill>
              <a:srgbClr val="F8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35"/>
            <p:cNvSpPr/>
            <p:nvPr/>
          </p:nvSpPr>
          <p:spPr>
            <a:xfrm>
              <a:off x="3298" y="8122"/>
              <a:ext cx="79" cy="1195"/>
            </a:xfrm>
            <a:prstGeom prst="rect">
              <a:avLst/>
            </a:prstGeom>
            <a:solidFill>
              <a:srgbClr val="6E0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00" y="8237"/>
              <a:ext cx="13824" cy="432"/>
            </a:xfrm>
            <a:prstGeom prst="rect">
              <a:avLst/>
            </a:prstGeom>
            <a:noFill/>
          </p:spPr>
          <p:txBody>
            <a:bodyPr wrap="square" lIns="27432" tIns="18288" rIns="27432" bIns="0">
              <a:spAutoFit/>
            </a:bodyPr>
            <a:lstStyle/>
            <a:p>
              <a:pPr algn="l"/>
              <a:r>
                <a:rPr sz="1450" b="1">
                  <a:solidFill>
                    <a:srgbClr val="262626"/>
                  </a:solidFill>
                  <a:latin typeface="微软雅黑"/>
                </a:rPr>
                <a:t>问题：同一个需求冲击使“该群体平均工资”和“迁往芝加哥的份额”同时上升。</a:t>
              </a:r>
              <a:endParaRPr sz="1450" b="1">
                <a:solidFill>
                  <a:srgbClr val="262626"/>
                </a:solidFill>
                <a:latin typeface="微软雅黑"/>
              </a:endParaRPr>
            </a:p>
          </p:txBody>
        </p:sp>
        <p:sp>
          <p:nvSpPr>
            <p:cNvPr id="14" name="TextBox 37"/>
            <p:cNvSpPr txBox="1"/>
            <p:nvPr/>
          </p:nvSpPr>
          <p:spPr>
            <a:xfrm>
              <a:off x="3600" y="8726"/>
              <a:ext cx="13824" cy="418"/>
            </a:xfrm>
            <a:prstGeom prst="rect">
              <a:avLst/>
            </a:prstGeom>
            <a:noFill/>
          </p:spPr>
          <p:txBody>
            <a:bodyPr wrap="square" lIns="27432" tIns="18288" rIns="27432" bIns="0">
              <a:spAutoFit/>
            </a:bodyPr>
            <a:lstStyle/>
            <a:p>
              <a:pPr algn="l"/>
              <a:r>
                <a:rPr sz="1360" b="0">
                  <a:solidFill>
                    <a:srgbClr val="262626"/>
                  </a:solidFill>
                  <a:latin typeface="微软雅黑"/>
                </a:rPr>
                <a:t>结果：OLS 可能将需求冲击导致的工资变化，误认为迁移者选择效应（Selection）。</a:t>
              </a:r>
              <a:endParaRPr sz="1360" b="0">
                <a:solidFill>
                  <a:srgbClr val="262626"/>
                </a:solidFill>
                <a:latin typeface="微软雅黑"/>
              </a:endParaRPr>
            </a:p>
          </p:txBody>
        </p:sp>
        <p:sp>
          <p:nvSpPr>
            <p:cNvPr id="43" name="Rectangle 42"/>
            <p:cNvSpPr/>
            <p:nvPr/>
          </p:nvSpPr>
          <p:spPr>
            <a:xfrm>
              <a:off x="3298" y="9576"/>
              <a:ext cx="14458" cy="547"/>
            </a:xfrm>
            <a:prstGeom prst="rect">
              <a:avLst/>
            </a:prstGeom>
            <a:solidFill>
              <a:srgbClr val="EDE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90" y="9627"/>
              <a:ext cx="6360" cy="483"/>
            </a:xfrm>
            <a:prstGeom prst="rect">
              <a:avLst/>
            </a:prstGeom>
            <a:noFill/>
          </p:spPr>
          <p:txBody>
            <a:bodyPr wrap="none">
              <a:spAutoFit/>
            </a:bodyPr>
            <a:lstStyle/>
            <a:p>
              <a:r>
                <a:rPr sz="1400">
                  <a:solidFill>
                    <a:srgbClr val="373737"/>
                  </a:solidFill>
                  <a:latin typeface="微软雅黑"/>
                </a:rPr>
                <a:t>   →  解释变量与遗漏冲击相关，OLS 存在内生性</a:t>
              </a:r>
              <a:endParaRPr sz="1400">
                <a:solidFill>
                  <a:srgbClr val="373737"/>
                </a:solidFill>
                <a:latin typeface="微软雅黑"/>
              </a:endParaRPr>
            </a:p>
          </p:txBody>
        </p:sp>
      </p:grpSp>
      <p:pic>
        <p:nvPicPr>
          <p:cNvPr id="15" name="334E55B0-647D-440b-865C-3EC943EB4CBC-9" descr="wpsoffice"/>
          <p:cNvPicPr>
            <a:picLocks noChangeAspect="1"/>
          </p:cNvPicPr>
          <p:nvPr/>
        </p:nvPicPr>
        <p:blipFill>
          <a:blip r:embed="rId1"/>
          <a:stretch>
            <a:fillRect/>
          </a:stretch>
        </p:blipFill>
        <p:spPr>
          <a:xfrm>
            <a:off x="2633345" y="5631815"/>
            <a:ext cx="2386330" cy="259715"/>
          </a:xfrm>
          <a:prstGeom prst="rect">
            <a:avLst/>
          </a:prstGeom>
        </p:spPr>
      </p:pic>
      <p:pic>
        <p:nvPicPr>
          <p:cNvPr id="16" name="334E55B0-647D-440b-865C-3EC943EB4CBC-118" descr="wpsoffice"/>
          <p:cNvPicPr>
            <a:picLocks noChangeAspect="1"/>
          </p:cNvPicPr>
          <p:nvPr/>
        </p:nvPicPr>
        <p:blipFill>
          <a:blip r:embed="rId2"/>
          <a:stretch>
            <a:fillRect/>
          </a:stretch>
        </p:blipFill>
        <p:spPr>
          <a:xfrm>
            <a:off x="4078605" y="1525905"/>
            <a:ext cx="6306820" cy="3530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en-US" altLang="zh-CN" sz="2500" b="1" i="0">
                <a:solidFill>
                  <a:srgbClr val="1C1C1C"/>
                </a:solidFill>
                <a:latin typeface="微软雅黑"/>
              </a:rPr>
              <a:t>5</a:t>
            </a:r>
            <a:r>
              <a:rPr lang="zh-CN" altLang="en-US" sz="2500" b="1" i="0">
                <a:solidFill>
                  <a:srgbClr val="1C1C1C"/>
                </a:solidFill>
                <a:latin typeface="微软雅黑"/>
              </a:rPr>
              <a:t>个事实</a:t>
            </a:r>
            <a:r>
              <a:rPr lang="zh-CN" altLang="en-US" sz="2500" b="1" i="0">
                <a:solidFill>
                  <a:srgbClr val="1C1C1C"/>
                </a:solidFill>
                <a:latin typeface="微软雅黑"/>
              </a:rPr>
              <a:t>的实证</a:t>
            </a:r>
            <a:r>
              <a:rPr lang="zh-CN" altLang="en-US" sz="2500" b="1" i="0">
                <a:solidFill>
                  <a:srgbClr val="1C1C1C"/>
                </a:solidFill>
                <a:latin typeface="微软雅黑"/>
              </a:rPr>
              <a:t>检验</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2.3</a:t>
            </a:r>
            <a:endParaRPr lang="en-US" sz="1800">
              <a:latin typeface="Times New Roman" panose="02020503050405090304" pitchFamily="18" charset="0"/>
              <a:cs typeface="Times New Roman" panose="02020503050405090304" pitchFamily="18" charset="0"/>
            </a:endParaRPr>
          </a:p>
        </p:txBody>
      </p:sp>
      <p:sp>
        <p:nvSpPr>
          <p:cNvPr id="2" name="Rectangle 26"/>
          <p:cNvSpPr/>
          <p:nvPr/>
        </p:nvSpPr>
        <p:spPr>
          <a:xfrm>
            <a:off x="2112264" y="1307592"/>
            <a:ext cx="9116568" cy="1527048"/>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12264" y="1307592"/>
            <a:ext cx="54864" cy="1527048"/>
          </a:xfrm>
          <a:prstGeom prst="rect">
            <a:avLst/>
          </a:prstGeom>
          <a:solidFill>
            <a:srgbClr val="6B0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67712" y="1417319"/>
            <a:ext cx="1691640" cy="586105"/>
          </a:xfrm>
          <a:prstGeom prst="rect">
            <a:avLst/>
          </a:prstGeom>
          <a:noFill/>
        </p:spPr>
        <p:txBody>
          <a:bodyPr wrap="square" lIns="45720" tIns="18288" rIns="27432">
            <a:spAutoFit/>
          </a:bodyPr>
          <a:lstStyle/>
          <a:p>
            <a:pPr>
              <a:spcAft>
                <a:spcPts val="300"/>
              </a:spcAft>
              <a:defRPr sz="1700" b="1">
                <a:solidFill>
                  <a:srgbClr val="6B0069"/>
                </a:solidFill>
                <a:latin typeface="微软雅黑"/>
              </a:defRPr>
            </a:pPr>
            <a:r>
              <a:t>Fact 5 </a:t>
            </a:r>
            <a:r>
              <a:rPr lang="en-US"/>
              <a:t>：</a:t>
            </a:r>
            <a:r>
              <a:t>Amenity</a:t>
            </a:r>
          </a:p>
        </p:txBody>
      </p:sp>
      <p:sp>
        <p:nvSpPr>
          <p:cNvPr id="31" name="TextBox 30"/>
          <p:cNvSpPr txBox="1"/>
          <p:nvPr/>
        </p:nvSpPr>
        <p:spPr>
          <a:xfrm>
            <a:off x="4059809" y="2078736"/>
            <a:ext cx="6812280" cy="709295"/>
          </a:xfrm>
          <a:prstGeom prst="rect">
            <a:avLst/>
          </a:prstGeom>
          <a:noFill/>
        </p:spPr>
        <p:txBody>
          <a:bodyPr wrap="square" lIns="45720" tIns="18288" rIns="27432">
            <a:spAutoFit/>
          </a:bodyPr>
          <a:lstStyle/>
          <a:p>
            <a:pPr>
              <a:spcAft>
                <a:spcPts val="300"/>
              </a:spcAft>
              <a:defRPr sz="1320" b="0">
                <a:solidFill>
                  <a:srgbClr val="232323"/>
                </a:solidFill>
                <a:latin typeface="微软雅黑"/>
              </a:defRPr>
            </a:pPr>
            <a:r>
              <a:t>固定效应：Origin × Year 与 Destination 固定效应；</a:t>
            </a:r>
            <a:r>
              <a:rPr b="1"/>
              <a:t>不能加入 Destination × Year，否则会吸收目的地—年份的 Amenity 变动</a:t>
            </a:r>
            <a:r>
              <a:t>。</a:t>
            </a:r>
          </a:p>
          <a:p>
            <a:pPr>
              <a:spcAft>
                <a:spcPts val="300"/>
              </a:spcAft>
              <a:defRPr sz="1320" b="0">
                <a:solidFill>
                  <a:srgbClr val="232323"/>
                </a:solidFill>
                <a:latin typeface="微软雅黑"/>
              </a:defRPr>
            </a:pPr>
            <a:r>
              <a:t>指标：PODES 的六项 Ease Amenities → 第一主成分（PCA）→ 标准化</a:t>
            </a:r>
          </a:p>
        </p:txBody>
      </p:sp>
      <p:sp>
        <p:nvSpPr>
          <p:cNvPr id="32" name="Rectangle 31"/>
          <p:cNvSpPr/>
          <p:nvPr/>
        </p:nvSpPr>
        <p:spPr>
          <a:xfrm>
            <a:off x="2112264" y="2980944"/>
            <a:ext cx="9116568" cy="566928"/>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40280" y="3072384"/>
            <a:ext cx="8823960" cy="267970"/>
          </a:xfrm>
          <a:prstGeom prst="rect">
            <a:avLst/>
          </a:prstGeom>
          <a:noFill/>
        </p:spPr>
        <p:txBody>
          <a:bodyPr wrap="square" lIns="45720" tIns="18288" rIns="27432">
            <a:spAutoFit/>
          </a:bodyPr>
          <a:lstStyle/>
          <a:p>
            <a:pPr>
              <a:spcAft>
                <a:spcPts val="300"/>
              </a:spcAft>
              <a:defRPr sz="1330" b="0">
                <a:solidFill>
                  <a:srgbClr val="232323"/>
                </a:solidFill>
                <a:latin typeface="微软雅黑"/>
              </a:defRPr>
            </a:pPr>
            <a:r>
              <a:t>识别讨论：高工资地区可能改善公共服务，但该反向机制通常导致正相关；原文估计系数为负</a:t>
            </a:r>
          </a:p>
        </p:txBody>
      </p:sp>
      <p:sp>
        <p:nvSpPr>
          <p:cNvPr id="34" name="Rectangle 33"/>
          <p:cNvSpPr/>
          <p:nvPr/>
        </p:nvSpPr>
        <p:spPr>
          <a:xfrm>
            <a:off x="2112264" y="3675887"/>
            <a:ext cx="4453128" cy="2212848"/>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748272" y="3675887"/>
            <a:ext cx="4480560" cy="2212848"/>
          </a:xfrm>
          <a:prstGeom prst="rect">
            <a:avLst/>
          </a:prstGeom>
          <a:solidFill>
            <a:srgbClr val="F6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49424" y="3767328"/>
            <a:ext cx="4187952" cy="281305"/>
          </a:xfrm>
          <a:prstGeom prst="rect">
            <a:avLst/>
          </a:prstGeom>
          <a:noFill/>
        </p:spPr>
        <p:txBody>
          <a:bodyPr wrap="square" lIns="45720" tIns="18288" rIns="27432">
            <a:spAutoFit/>
          </a:bodyPr>
          <a:lstStyle/>
          <a:p>
            <a:pPr>
              <a:spcAft>
                <a:spcPts val="300"/>
              </a:spcAft>
              <a:defRPr sz="1420" b="1">
                <a:solidFill>
                  <a:srgbClr val="6B0069"/>
                </a:solidFill>
                <a:latin typeface="微软雅黑"/>
              </a:defRPr>
            </a:pPr>
            <a:r>
              <a:t>印尼 </a:t>
            </a:r>
          </a:p>
        </p:txBody>
      </p:sp>
      <p:sp>
        <p:nvSpPr>
          <p:cNvPr id="37" name="TextBox 36"/>
          <p:cNvSpPr txBox="1"/>
          <p:nvPr/>
        </p:nvSpPr>
        <p:spPr>
          <a:xfrm>
            <a:off x="6876288" y="3767328"/>
            <a:ext cx="4178808" cy="281305"/>
          </a:xfrm>
          <a:prstGeom prst="rect">
            <a:avLst/>
          </a:prstGeom>
          <a:noFill/>
        </p:spPr>
        <p:txBody>
          <a:bodyPr wrap="square" lIns="45720" tIns="18288" rIns="27432">
            <a:spAutoFit/>
          </a:bodyPr>
          <a:lstStyle/>
          <a:p>
            <a:pPr>
              <a:spcAft>
                <a:spcPts val="300"/>
              </a:spcAft>
              <a:defRPr sz="1420" b="1">
                <a:solidFill>
                  <a:srgbClr val="6B0069"/>
                </a:solidFill>
                <a:latin typeface="微软雅黑"/>
              </a:defRPr>
            </a:pPr>
            <a:r>
              <a:t>美国</a:t>
            </a:r>
          </a:p>
        </p:txBody>
      </p:sp>
      <p:pic>
        <p:nvPicPr>
          <p:cNvPr id="38" name="Picture 37" descr="image.png"/>
          <p:cNvPicPr>
            <a:picLocks noChangeAspect="1"/>
          </p:cNvPicPr>
          <p:nvPr/>
        </p:nvPicPr>
        <p:blipFill>
          <a:blip r:embed="rId1"/>
          <a:stretch>
            <a:fillRect/>
          </a:stretch>
        </p:blipFill>
        <p:spPr>
          <a:xfrm>
            <a:off x="2231390" y="4016375"/>
            <a:ext cx="4151630" cy="1800860"/>
          </a:xfrm>
          <a:prstGeom prst="rect">
            <a:avLst/>
          </a:prstGeom>
        </p:spPr>
      </p:pic>
      <p:pic>
        <p:nvPicPr>
          <p:cNvPr id="39" name="Picture 38" descr="image.png"/>
          <p:cNvPicPr>
            <a:picLocks noChangeAspect="1"/>
          </p:cNvPicPr>
          <p:nvPr/>
        </p:nvPicPr>
        <p:blipFill>
          <a:blip r:embed="rId2"/>
          <a:stretch>
            <a:fillRect/>
          </a:stretch>
        </p:blipFill>
        <p:spPr>
          <a:xfrm>
            <a:off x="6858000" y="4017010"/>
            <a:ext cx="4151630" cy="1800225"/>
          </a:xfrm>
          <a:prstGeom prst="rect">
            <a:avLst/>
          </a:prstGeom>
        </p:spPr>
      </p:pic>
      <p:sp>
        <p:nvSpPr>
          <p:cNvPr id="40" name="TextBox 39"/>
          <p:cNvSpPr txBox="1"/>
          <p:nvPr/>
        </p:nvSpPr>
        <p:spPr>
          <a:xfrm>
            <a:off x="2240280" y="6071616"/>
            <a:ext cx="8887968" cy="261620"/>
          </a:xfrm>
          <a:prstGeom prst="rect">
            <a:avLst/>
          </a:prstGeom>
          <a:noFill/>
        </p:spPr>
        <p:txBody>
          <a:bodyPr wrap="square" lIns="45720" tIns="18288" rIns="27432">
            <a:spAutoFit/>
          </a:bodyPr>
          <a:lstStyle/>
          <a:p>
            <a:pPr>
              <a:spcAft>
                <a:spcPts val="300"/>
              </a:spcAft>
              <a:defRPr sz="1290" b="0">
                <a:solidFill>
                  <a:srgbClr val="6B0069"/>
                </a:solidFill>
                <a:latin typeface="微软雅黑"/>
              </a:defRPr>
            </a:pPr>
            <a:r>
              <a:t>回归设计：Table 2 Col. (5) 使用 Origin × Year 与 Destination FE；美国州级无可比 Amenity，故仅检验 Facts 1–4</a:t>
            </a:r>
          </a:p>
        </p:txBody>
      </p:sp>
      <p:sp>
        <p:nvSpPr>
          <p:cNvPr id="42" name="矩形 41"/>
          <p:cNvSpPr/>
          <p:nvPr/>
        </p:nvSpPr>
        <p:spPr>
          <a:xfrm>
            <a:off x="5501640" y="5027930"/>
            <a:ext cx="680720" cy="301625"/>
          </a:xfrm>
          <a:prstGeom prst="rect">
            <a:avLst/>
          </a:prstGeom>
          <a:noFill/>
          <a:ln w="38100">
            <a:solidFill>
              <a:srgbClr val="C00000"/>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334E55B0-647D-440b-865C-3EC943EB4CBC-119" descr="wpsoffice"/>
          <p:cNvPicPr>
            <a:picLocks noChangeAspect="1"/>
          </p:cNvPicPr>
          <p:nvPr/>
        </p:nvPicPr>
        <p:blipFill>
          <a:blip r:embed="rId3"/>
          <a:stretch>
            <a:fillRect/>
          </a:stretch>
        </p:blipFill>
        <p:spPr>
          <a:xfrm>
            <a:off x="4100195" y="1568450"/>
            <a:ext cx="5315585" cy="2997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grpSp>
        <p:nvGrpSpPr>
          <p:cNvPr id="85" name="组合 84"/>
          <p:cNvGrpSpPr/>
          <p:nvPr/>
        </p:nvGrpSpPr>
        <p:grpSpPr>
          <a:xfrm>
            <a:off x="2121535" y="1078865"/>
            <a:ext cx="9281160" cy="5559425"/>
            <a:chOff x="3341" y="1699"/>
            <a:chExt cx="14616" cy="8755"/>
          </a:xfrm>
        </p:grpSpPr>
        <p:sp>
          <p:nvSpPr>
            <p:cNvPr id="13" name="Rectangle 12"/>
            <p:cNvSpPr/>
            <p:nvPr/>
          </p:nvSpPr>
          <p:spPr>
            <a:xfrm>
              <a:off x="3341" y="1699"/>
              <a:ext cx="4010" cy="547"/>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711077"/>
                  </a:solidFill>
                  <a:latin typeface="微软雅黑"/>
                </a:rPr>
                <a:t>参数及含义</a:t>
              </a:r>
              <a:endParaRPr sz="2000" b="1">
                <a:solidFill>
                  <a:srgbClr val="711077"/>
                </a:solidFill>
                <a:latin typeface="微软雅黑"/>
              </a:endParaRPr>
            </a:p>
          </p:txBody>
        </p:sp>
        <p:sp>
          <p:nvSpPr>
            <p:cNvPr id="14" name="Rectangle 13"/>
            <p:cNvSpPr/>
            <p:nvPr/>
          </p:nvSpPr>
          <p:spPr>
            <a:xfrm>
              <a:off x="3341" y="2304"/>
              <a:ext cx="14616" cy="4824"/>
            </a:xfrm>
            <a:prstGeom prst="rect">
              <a:avLst/>
            </a:prstGeom>
            <a:solidFill>
              <a:srgbClr val="FAFAFA"/>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56" y="2563"/>
              <a:ext cx="14" cy="4248"/>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7" y="2592"/>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57" y="2592"/>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8" name="TextBox 17"/>
                <p:cNvSpPr txBox="1"/>
                <p:nvPr/>
              </p:nvSpPr>
              <p:spPr>
                <a:xfrm>
                  <a:off x="3701" y="2678"/>
                  <a:ext cx="818" cy="507"/>
                </a:xfrm>
                <a:prstGeom prst="rect">
                  <a:avLst/>
                </a:prstGeom>
                <a:noFill/>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oMath>
                    </m:oMathPara>
                  </a14:m>
                  <a:endParaRPr sz="1500" b="1">
                    <a:solidFill>
                      <a:srgbClr val="711077"/>
                    </a:solidFill>
                    <a:latin typeface="Times New Roman" panose="02020503050405090304"/>
                  </a:endParaRPr>
                </a:p>
              </p:txBody>
            </p:sp>
          </mc:Choice>
          <mc:Fallback>
            <p:sp>
              <p:nvSpPr>
                <p:cNvPr id="18" name="TextBox 17"/>
                <p:cNvSpPr txBox="1">
                  <a:spLocks noRot="1" noChangeAspect="1" noMove="1" noResize="1" noEditPoints="1" noAdjustHandles="1" noChangeArrowheads="1" noChangeShapeType="1" noTextEdit="1"/>
                </p:cNvSpPr>
                <p:nvPr/>
              </p:nvSpPr>
              <p:spPr>
                <a:xfrm>
                  <a:off x="3701" y="2678"/>
                  <a:ext cx="818" cy="507"/>
                </a:xfrm>
                <a:prstGeom prst="rect">
                  <a:avLst/>
                </a:prstGeom>
                <a:blipFill rotWithShape="1">
                  <a:blip r:embed="rId1"/>
                </a:blipFill>
              </p:spPr>
              <p:txBody>
                <a:bodyPr/>
                <a:lstStyle/>
                <a:p>
                  <a:r>
                    <a:rPr lang="zh-CN" altLang="en-US">
                      <a:noFill/>
                    </a:rPr>
                    <a:t> </a:t>
                  </a:r>
                </a:p>
              </p:txBody>
            </p:sp>
          </mc:Fallback>
        </mc:AlternateContent>
        <p:sp>
          <p:nvSpPr>
            <p:cNvPr id="19" name="TextBox 18"/>
            <p:cNvSpPr txBox="1"/>
            <p:nvPr/>
          </p:nvSpPr>
          <p:spPr>
            <a:xfrm>
              <a:off x="4738" y="2635"/>
              <a:ext cx="5443" cy="422"/>
            </a:xfrm>
            <a:prstGeom prst="rect">
              <a:avLst/>
            </a:prstGeom>
            <a:noFill/>
          </p:spPr>
          <p:txBody>
            <a:bodyPr wrap="square">
              <a:spAutoFit/>
            </a:bodyPr>
            <a:lstStyle/>
            <a:p>
              <a:r>
                <a:rPr sz="1150">
                  <a:solidFill>
                    <a:srgbClr val="232323"/>
                  </a:solidFill>
                  <a:latin typeface="微软雅黑"/>
                </a:rPr>
                <a:t>地区 A 的单位有效劳动工资水平</a:t>
              </a:r>
              <a:endParaRPr sz="1150">
                <a:solidFill>
                  <a:srgbClr val="232323"/>
                </a:solidFill>
                <a:latin typeface="微软雅黑"/>
              </a:endParaRPr>
            </a:p>
          </p:txBody>
        </p:sp>
        <p:sp>
          <p:nvSpPr>
            <p:cNvPr id="20" name="Rectangle 19"/>
            <p:cNvSpPr/>
            <p:nvPr/>
          </p:nvSpPr>
          <p:spPr>
            <a:xfrm>
              <a:off x="3557" y="3298"/>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a:t>
              </a:r>
              <a:endParaRPr lang="en-US"/>
            </a:p>
          </p:txBody>
        </p:sp>
        <p:sp>
          <p:nvSpPr>
            <p:cNvPr id="21" name="Rectangle 20"/>
            <p:cNvSpPr/>
            <p:nvPr/>
          </p:nvSpPr>
          <p:spPr>
            <a:xfrm>
              <a:off x="3557" y="3298"/>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2" name="TextBox 21"/>
                <p:cNvSpPr txBox="1"/>
                <p:nvPr/>
              </p:nvSpPr>
              <p:spPr>
                <a:xfrm>
                  <a:off x="3701" y="3384"/>
                  <a:ext cx="817" cy="507"/>
                </a:xfrm>
                <a:prstGeom prst="rect">
                  <a:avLst/>
                </a:prstGeom>
                <a:noFill/>
              </p:spPr>
              <p:txBody>
                <a:bodyPr wrap="none">
                  <a:spAutoFit/>
                </a:bodyPr>
                <a:lstStyle/>
                <a:p>
                  <a:pPr algn="l"/>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oMath>
                    </m:oMathPara>
                  </a14:m>
                  <a:endParaRPr sz="1500" b="1">
                    <a:solidFill>
                      <a:srgbClr val="711077"/>
                    </a:solidFill>
                    <a:latin typeface="Times New Roman" panose="02020503050405090304"/>
                  </a:endParaRPr>
                </a:p>
              </p:txBody>
            </p:sp>
          </mc:Choice>
          <mc:Fallback>
            <p:sp>
              <p:nvSpPr>
                <p:cNvPr id="22" name="TextBox 21"/>
                <p:cNvSpPr txBox="1">
                  <a:spLocks noRot="1" noChangeAspect="1" noMove="1" noResize="1" noEditPoints="1" noAdjustHandles="1" noChangeArrowheads="1" noChangeShapeType="1" noTextEdit="1"/>
                </p:cNvSpPr>
                <p:nvPr/>
              </p:nvSpPr>
              <p:spPr>
                <a:xfrm>
                  <a:off x="3701" y="3384"/>
                  <a:ext cx="817" cy="507"/>
                </a:xfrm>
                <a:prstGeom prst="rect">
                  <a:avLst/>
                </a:prstGeom>
                <a:blipFill rotWithShape="1">
                  <a:blip r:embed="rId2"/>
                </a:blipFill>
              </p:spPr>
              <p:txBody>
                <a:bodyPr/>
                <a:lstStyle/>
                <a:p>
                  <a:r>
                    <a:rPr lang="zh-CN" altLang="en-US">
                      <a:noFill/>
                    </a:rPr>
                    <a:t> </a:t>
                  </a:r>
                </a:p>
              </p:txBody>
            </p:sp>
          </mc:Fallback>
        </mc:AlternateContent>
        <p:sp>
          <p:nvSpPr>
            <p:cNvPr id="23" name="TextBox 22"/>
            <p:cNvSpPr txBox="1"/>
            <p:nvPr/>
          </p:nvSpPr>
          <p:spPr>
            <a:xfrm>
              <a:off x="4738" y="3341"/>
              <a:ext cx="5443" cy="432"/>
            </a:xfrm>
            <a:prstGeom prst="rect">
              <a:avLst/>
            </a:prstGeom>
            <a:noFill/>
          </p:spPr>
          <p:txBody>
            <a:bodyPr wrap="square">
              <a:spAutoFit/>
            </a:bodyPr>
            <a:lstStyle/>
            <a:p>
              <a:r>
                <a:rPr sz="1150">
                  <a:solidFill>
                    <a:srgbClr val="232323"/>
                  </a:solidFill>
                  <a:latin typeface="微软雅黑"/>
                </a:rPr>
                <a:t>地区 B 的单位有效劳动工资水平</a:t>
              </a:r>
              <a:endParaRPr sz="1150">
                <a:solidFill>
                  <a:srgbClr val="232323"/>
                </a:solidFill>
                <a:latin typeface="微软雅黑"/>
              </a:endParaRPr>
            </a:p>
          </p:txBody>
        </p:sp>
        <p:sp>
          <p:nvSpPr>
            <p:cNvPr id="24" name="Rectangle 23"/>
            <p:cNvSpPr/>
            <p:nvPr/>
          </p:nvSpPr>
          <p:spPr>
            <a:xfrm>
              <a:off x="3557" y="4003"/>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57" y="4003"/>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6" name="TextBox 25"/>
                <p:cNvSpPr txBox="1"/>
                <p:nvPr/>
              </p:nvSpPr>
              <p:spPr>
                <a:xfrm>
                  <a:off x="3701" y="4090"/>
                  <a:ext cx="811" cy="507"/>
                </a:xfrm>
                <a:prstGeom prst="rect">
                  <a:avLst/>
                </a:prstGeom>
                <a:noFill/>
              </p:spPr>
              <p:txBody>
                <a:bodyPr wrap="none">
                  <a:spAutoFit/>
                </a:bodyPr>
                <a:lstStyle/>
                <a:p>
                  <a:pPr algn="l"/>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m:oMathPara>
                  </a14:m>
                  <a:endParaRPr sz="1500" b="1">
                    <a:solidFill>
                      <a:srgbClr val="711077"/>
                    </a:solidFill>
                    <a:latin typeface="Times New Roman" panose="02020503050405090304"/>
                  </a:endParaRPr>
                </a:p>
              </p:txBody>
            </p:sp>
          </mc:Choice>
          <mc:Fallback>
            <p:sp>
              <p:nvSpPr>
                <p:cNvPr id="26" name="TextBox 25"/>
                <p:cNvSpPr txBox="1">
                  <a:spLocks noRot="1" noChangeAspect="1" noMove="1" noResize="1" noEditPoints="1" noAdjustHandles="1" noChangeArrowheads="1" noChangeShapeType="1" noTextEdit="1"/>
                </p:cNvSpPr>
                <p:nvPr/>
              </p:nvSpPr>
              <p:spPr>
                <a:xfrm>
                  <a:off x="3701" y="4090"/>
                  <a:ext cx="811" cy="507"/>
                </a:xfrm>
                <a:prstGeom prst="rect">
                  <a:avLst/>
                </a:prstGeom>
                <a:blipFill rotWithShape="1">
                  <a:blip r:embed="rId3"/>
                </a:blipFill>
              </p:spPr>
              <p:txBody>
                <a:bodyPr/>
                <a:lstStyle/>
                <a:p>
                  <a:r>
                    <a:rPr lang="zh-CN" altLang="en-US">
                      <a:noFill/>
                    </a:rPr>
                    <a:t> </a:t>
                  </a:r>
                </a:p>
              </p:txBody>
            </p:sp>
          </mc:Fallback>
        </mc:AlternateContent>
        <p:sp>
          <p:nvSpPr>
            <p:cNvPr id="4" name="TextBox 26"/>
            <p:cNvSpPr txBox="1"/>
            <p:nvPr/>
          </p:nvSpPr>
          <p:spPr>
            <a:xfrm>
              <a:off x="4738" y="4046"/>
              <a:ext cx="5443" cy="432"/>
            </a:xfrm>
            <a:prstGeom prst="rect">
              <a:avLst/>
            </a:prstGeom>
            <a:noFill/>
          </p:spPr>
          <p:txBody>
            <a:bodyPr wrap="square">
              <a:spAutoFit/>
            </a:bodyPr>
            <a:lstStyle/>
            <a:p>
              <a:r>
                <a:rPr sz="1150">
                  <a:solidFill>
                    <a:srgbClr val="232323"/>
                  </a:solidFill>
                  <a:latin typeface="微软雅黑"/>
                </a:rPr>
                <a:t>劳动者 i 在地区 A 的特定技能水平</a:t>
              </a:r>
              <a:endParaRPr sz="1150">
                <a:solidFill>
                  <a:srgbClr val="232323"/>
                </a:solidFill>
                <a:latin typeface="微软雅黑"/>
              </a:endParaRPr>
            </a:p>
          </p:txBody>
        </p:sp>
        <p:sp>
          <p:nvSpPr>
            <p:cNvPr id="28" name="Rectangle 27"/>
            <p:cNvSpPr/>
            <p:nvPr/>
          </p:nvSpPr>
          <p:spPr>
            <a:xfrm>
              <a:off x="3557" y="4709"/>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57" y="4709"/>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0" name="TextBox 29"/>
                <p:cNvSpPr txBox="1"/>
                <p:nvPr/>
              </p:nvSpPr>
              <p:spPr>
                <a:xfrm>
                  <a:off x="3701" y="4795"/>
                  <a:ext cx="812" cy="507"/>
                </a:xfrm>
                <a:prstGeom prst="rect">
                  <a:avLst/>
                </a:prstGeom>
                <a:noFill/>
              </p:spPr>
              <p:txBody>
                <a:bodyPr wrap="none">
                  <a:spAutoFit/>
                </a:bodyPr>
                <a:lstStyle/>
                <a:p>
                  <a:pPr algn="l"/>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𝒊𝑩</m:t>
                            </m:r>
                          </m:sub>
                        </m:sSub>
                      </m:oMath>
                    </m:oMathPara>
                  </a14:m>
                  <a:endParaRPr sz="1500" b="1">
                    <a:solidFill>
                      <a:srgbClr val="711077"/>
                    </a:solidFill>
                    <a:latin typeface="Times New Roman" panose="02020503050405090304"/>
                  </a:endParaRPr>
                </a:p>
              </p:txBody>
            </p:sp>
          </mc:Choice>
          <mc:Fallback>
            <p:sp>
              <p:nvSpPr>
                <p:cNvPr id="30" name="TextBox 29"/>
                <p:cNvSpPr txBox="1">
                  <a:spLocks noRot="1" noChangeAspect="1" noMove="1" noResize="1" noEditPoints="1" noAdjustHandles="1" noChangeArrowheads="1" noChangeShapeType="1" noTextEdit="1"/>
                </p:cNvSpPr>
                <p:nvPr/>
              </p:nvSpPr>
              <p:spPr>
                <a:xfrm>
                  <a:off x="3701" y="4795"/>
                  <a:ext cx="812" cy="507"/>
                </a:xfrm>
                <a:prstGeom prst="rect">
                  <a:avLst/>
                </a:prstGeom>
                <a:blipFill rotWithShape="1">
                  <a:blip r:embed="rId4"/>
                </a:blipFill>
              </p:spPr>
              <p:txBody>
                <a:bodyPr/>
                <a:lstStyle/>
                <a:p>
                  <a:r>
                    <a:rPr lang="zh-CN" altLang="en-US">
                      <a:noFill/>
                    </a:rPr>
                    <a:t> </a:t>
                  </a:r>
                </a:p>
              </p:txBody>
            </p:sp>
          </mc:Fallback>
        </mc:AlternateContent>
        <p:sp>
          <p:nvSpPr>
            <p:cNvPr id="31" name="TextBox 30"/>
            <p:cNvSpPr txBox="1"/>
            <p:nvPr/>
          </p:nvSpPr>
          <p:spPr>
            <a:xfrm>
              <a:off x="4738" y="4752"/>
              <a:ext cx="5443" cy="432"/>
            </a:xfrm>
            <a:prstGeom prst="rect">
              <a:avLst/>
            </a:prstGeom>
            <a:noFill/>
          </p:spPr>
          <p:txBody>
            <a:bodyPr wrap="square">
              <a:spAutoFit/>
            </a:bodyPr>
            <a:lstStyle/>
            <a:p>
              <a:r>
                <a:rPr sz="1150">
                  <a:solidFill>
                    <a:srgbClr val="232323"/>
                  </a:solidFill>
                  <a:latin typeface="微软雅黑"/>
                </a:rPr>
                <a:t>劳动者 i 在地区 B 的特定技能水平</a:t>
              </a:r>
              <a:endParaRPr sz="1150">
                <a:solidFill>
                  <a:srgbClr val="232323"/>
                </a:solidFill>
                <a:latin typeface="微软雅黑"/>
              </a:endParaRPr>
            </a:p>
          </p:txBody>
        </p:sp>
        <p:sp>
          <p:nvSpPr>
            <p:cNvPr id="32" name="Rectangle 31"/>
            <p:cNvSpPr/>
            <p:nvPr/>
          </p:nvSpPr>
          <p:spPr>
            <a:xfrm>
              <a:off x="3557" y="5414"/>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57" y="5414"/>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4" name="TextBox 33"/>
                <p:cNvSpPr txBox="1"/>
                <p:nvPr/>
              </p:nvSpPr>
              <p:spPr>
                <a:xfrm>
                  <a:off x="3701" y="5501"/>
                  <a:ext cx="754" cy="507"/>
                </a:xfrm>
                <a:prstGeom prst="rect">
                  <a:avLst/>
                </a:prstGeom>
                <a:noFill/>
              </p:spPr>
              <p:txBody>
                <a:bodyPr wrap="none">
                  <a:spAutoFit/>
                </a:bodyPr>
                <a:lstStyle/>
                <a:p>
                  <a:pPr algn="l"/>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𝒂</m:t>
                            </m:r>
                          </m:e>
                          <m:sub>
                            <m:r>
                              <a:rPr lang="en-US" sz="1500" b="1" i="1">
                                <a:solidFill>
                                  <a:srgbClr val="711077"/>
                                </a:solidFill>
                                <a:latin typeface="DejaVu Math TeX Gyre" panose="02000503000000000000" charset="0"/>
                                <a:cs typeface="DejaVu Math TeX Gyre" panose="02000503000000000000" charset="0"/>
                              </a:rPr>
                              <m:t>𝑨</m:t>
                            </m:r>
                          </m:sub>
                        </m:sSub>
                      </m:oMath>
                    </m:oMathPara>
                  </a14:m>
                  <a:endParaRPr sz="1500" b="1">
                    <a:solidFill>
                      <a:srgbClr val="711077"/>
                    </a:solidFill>
                    <a:latin typeface="Times New Roman" panose="02020503050405090304"/>
                  </a:endParaRPr>
                </a:p>
              </p:txBody>
            </p:sp>
          </mc:Choice>
          <mc:Fallback>
            <p:sp>
              <p:nvSpPr>
                <p:cNvPr id="34" name="TextBox 33"/>
                <p:cNvSpPr txBox="1">
                  <a:spLocks noRot="1" noChangeAspect="1" noMove="1" noResize="1" noEditPoints="1" noAdjustHandles="1" noChangeArrowheads="1" noChangeShapeType="1" noTextEdit="1"/>
                </p:cNvSpPr>
                <p:nvPr/>
              </p:nvSpPr>
              <p:spPr>
                <a:xfrm>
                  <a:off x="3701" y="5501"/>
                  <a:ext cx="754" cy="507"/>
                </a:xfrm>
                <a:prstGeom prst="rect">
                  <a:avLst/>
                </a:prstGeom>
                <a:blipFill rotWithShape="1">
                  <a:blip r:embed="rId5"/>
                </a:blipFill>
              </p:spPr>
              <p:txBody>
                <a:bodyPr/>
                <a:lstStyle/>
                <a:p>
                  <a:r>
                    <a:rPr lang="zh-CN" altLang="en-US">
                      <a:noFill/>
                    </a:rPr>
                    <a:t> </a:t>
                  </a:r>
                </a:p>
              </p:txBody>
            </p:sp>
          </mc:Fallback>
        </mc:AlternateContent>
        <p:sp>
          <p:nvSpPr>
            <p:cNvPr id="35" name="TextBox 34"/>
            <p:cNvSpPr txBox="1"/>
            <p:nvPr/>
          </p:nvSpPr>
          <p:spPr>
            <a:xfrm>
              <a:off x="4738" y="5458"/>
              <a:ext cx="5443" cy="432"/>
            </a:xfrm>
            <a:prstGeom prst="rect">
              <a:avLst/>
            </a:prstGeom>
            <a:noFill/>
          </p:spPr>
          <p:txBody>
            <a:bodyPr wrap="square">
              <a:spAutoFit/>
            </a:bodyPr>
            <a:lstStyle/>
            <a:p>
              <a:r>
                <a:rPr sz="1150">
                  <a:solidFill>
                    <a:srgbClr val="232323"/>
                  </a:solidFill>
                  <a:latin typeface="微软雅黑"/>
                </a:rPr>
                <a:t>地区 A 的宜居性</a:t>
              </a:r>
              <a:endParaRPr sz="1150">
                <a:solidFill>
                  <a:srgbClr val="232323"/>
                </a:solidFill>
                <a:latin typeface="微软雅黑"/>
              </a:endParaRPr>
            </a:p>
          </p:txBody>
        </p:sp>
        <p:sp>
          <p:nvSpPr>
            <p:cNvPr id="36" name="Rectangle 35"/>
            <p:cNvSpPr/>
            <p:nvPr/>
          </p:nvSpPr>
          <p:spPr>
            <a:xfrm>
              <a:off x="3557" y="6120"/>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557" y="6120"/>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8" name="TextBox 37"/>
                <p:cNvSpPr txBox="1"/>
                <p:nvPr/>
              </p:nvSpPr>
              <p:spPr>
                <a:xfrm>
                  <a:off x="3701" y="6206"/>
                  <a:ext cx="723" cy="507"/>
                </a:xfrm>
                <a:prstGeom prst="rect">
                  <a:avLst/>
                </a:prstGeom>
                <a:noFill/>
              </p:spPr>
              <p:txBody>
                <a:bodyPr wrap="none">
                  <a:spAutoFit/>
                </a:bodyPr>
                <a:lstStyle/>
                <a:p>
                  <a:pPr algn="l"/>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𝒂</m:t>
                            </m:r>
                          </m:e>
                          <m:sub>
                            <m:r>
                              <a:rPr lang="en-US" sz="1500" b="1" i="1">
                                <a:solidFill>
                                  <a:srgbClr val="711077"/>
                                </a:solidFill>
                                <a:latin typeface="DejaVu Math TeX Gyre" panose="02000503000000000000" charset="0"/>
                                <a:cs typeface="DejaVu Math TeX Gyre" panose="02000503000000000000" charset="0"/>
                              </a:rPr>
                              <m:t>𝑩</m:t>
                            </m:r>
                          </m:sub>
                        </m:sSub>
                      </m:oMath>
                    </m:oMathPara>
                  </a14:m>
                  <a:endParaRPr sz="1500" b="1">
                    <a:solidFill>
                      <a:srgbClr val="711077"/>
                    </a:solidFill>
                    <a:latin typeface="Times New Roman" panose="02020503050405090304"/>
                  </a:endParaRPr>
                </a:p>
              </p:txBody>
            </p:sp>
          </mc:Choice>
          <mc:Fallback>
            <p:sp>
              <p:nvSpPr>
                <p:cNvPr id="38" name="TextBox 37"/>
                <p:cNvSpPr txBox="1">
                  <a:spLocks noRot="1" noChangeAspect="1" noMove="1" noResize="1" noEditPoints="1" noAdjustHandles="1" noChangeArrowheads="1" noChangeShapeType="1" noTextEdit="1"/>
                </p:cNvSpPr>
                <p:nvPr/>
              </p:nvSpPr>
              <p:spPr>
                <a:xfrm>
                  <a:off x="3701" y="6206"/>
                  <a:ext cx="723" cy="507"/>
                </a:xfrm>
                <a:prstGeom prst="rect">
                  <a:avLst/>
                </a:prstGeom>
                <a:blipFill rotWithShape="1">
                  <a:blip r:embed="rId6"/>
                </a:blipFill>
              </p:spPr>
              <p:txBody>
                <a:bodyPr/>
                <a:lstStyle/>
                <a:p>
                  <a:r>
                    <a:rPr lang="zh-CN" altLang="en-US">
                      <a:noFill/>
                    </a:rPr>
                    <a:t> </a:t>
                  </a:r>
                </a:p>
              </p:txBody>
            </p:sp>
          </mc:Fallback>
        </mc:AlternateContent>
        <p:sp>
          <p:nvSpPr>
            <p:cNvPr id="39" name="TextBox 38"/>
            <p:cNvSpPr txBox="1"/>
            <p:nvPr/>
          </p:nvSpPr>
          <p:spPr>
            <a:xfrm>
              <a:off x="4738" y="6163"/>
              <a:ext cx="5443" cy="432"/>
            </a:xfrm>
            <a:prstGeom prst="rect">
              <a:avLst/>
            </a:prstGeom>
            <a:noFill/>
          </p:spPr>
          <p:txBody>
            <a:bodyPr wrap="square">
              <a:spAutoFit/>
            </a:bodyPr>
            <a:lstStyle/>
            <a:p>
              <a:r>
                <a:rPr sz="1150">
                  <a:solidFill>
                    <a:srgbClr val="232323"/>
                  </a:solidFill>
                  <a:latin typeface="微软雅黑"/>
                </a:rPr>
                <a:t>地区 B 的宜居性</a:t>
              </a:r>
              <a:endParaRPr sz="1150">
                <a:solidFill>
                  <a:srgbClr val="232323"/>
                </a:solidFill>
                <a:latin typeface="微软雅黑"/>
              </a:endParaRPr>
            </a:p>
          </p:txBody>
        </p:sp>
        <p:sp>
          <p:nvSpPr>
            <p:cNvPr id="40" name="Rectangle 39"/>
            <p:cNvSpPr/>
            <p:nvPr/>
          </p:nvSpPr>
          <p:spPr>
            <a:xfrm>
              <a:off x="10872" y="2592"/>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872" y="2592"/>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42" name="TextBox 41"/>
                <p:cNvSpPr txBox="1"/>
                <p:nvPr/>
              </p:nvSpPr>
              <p:spPr>
                <a:xfrm>
                  <a:off x="11016" y="2678"/>
                  <a:ext cx="828" cy="507"/>
                </a:xfrm>
                <a:prstGeom prst="rect">
                  <a:avLst/>
                </a:prstGeom>
                <a:noFill/>
              </p:spPr>
              <p:txBody>
                <a:bodyPr wrap="none">
                  <a:spAutoFit/>
                </a:bodyPr>
                <a:lstStyle/>
                <a:p>
                  <a:pPr algn="l"/>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𝑨𝑩</m:t>
                            </m:r>
                          </m:sub>
                        </m:sSub>
                      </m:oMath>
                    </m:oMathPara>
                  </a14:m>
                  <a:endParaRPr sz="1500" b="1">
                    <a:solidFill>
                      <a:srgbClr val="711077"/>
                    </a:solidFill>
                    <a:latin typeface="Times New Roman" panose="02020503050405090304"/>
                  </a:endParaRPr>
                </a:p>
              </p:txBody>
            </p:sp>
          </mc:Choice>
          <mc:Fallback>
            <p:sp>
              <p:nvSpPr>
                <p:cNvPr id="42" name="TextBox 41"/>
                <p:cNvSpPr txBox="1">
                  <a:spLocks noRot="1" noChangeAspect="1" noMove="1" noResize="1" noEditPoints="1" noAdjustHandles="1" noChangeArrowheads="1" noChangeShapeType="1" noTextEdit="1"/>
                </p:cNvSpPr>
                <p:nvPr/>
              </p:nvSpPr>
              <p:spPr>
                <a:xfrm>
                  <a:off x="11016" y="2678"/>
                  <a:ext cx="828" cy="507"/>
                </a:xfrm>
                <a:prstGeom prst="rect">
                  <a:avLst/>
                </a:prstGeom>
                <a:blipFill rotWithShape="1">
                  <a:blip r:embed="rId7"/>
                </a:blipFill>
              </p:spPr>
              <p:txBody>
                <a:bodyPr/>
                <a:lstStyle/>
                <a:p>
                  <a:r>
                    <a:rPr lang="zh-CN" altLang="en-US">
                      <a:noFill/>
                    </a:rPr>
                    <a:t> </a:t>
                  </a:r>
                </a:p>
              </p:txBody>
            </p:sp>
          </mc:Fallback>
        </mc:AlternateContent>
        <p:sp>
          <p:nvSpPr>
            <p:cNvPr id="43" name="TextBox 42"/>
            <p:cNvSpPr txBox="1"/>
            <p:nvPr/>
          </p:nvSpPr>
          <p:spPr>
            <a:xfrm>
              <a:off x="12053" y="2635"/>
              <a:ext cx="5443" cy="432"/>
            </a:xfrm>
            <a:prstGeom prst="rect">
              <a:avLst/>
            </a:prstGeom>
            <a:noFill/>
          </p:spPr>
          <p:txBody>
            <a:bodyPr wrap="square">
              <a:spAutoFit/>
            </a:bodyPr>
            <a:lstStyle/>
            <a:p>
              <a:r>
                <a:rPr sz="1150">
                  <a:solidFill>
                    <a:srgbClr val="232323"/>
                  </a:solidFill>
                  <a:latin typeface="微软雅黑"/>
                </a:rPr>
                <a:t>从出生地 B 迁往地区 A 的迁移成本</a:t>
              </a:r>
              <a:endParaRPr sz="1150">
                <a:solidFill>
                  <a:srgbClr val="232323"/>
                </a:solidFill>
                <a:latin typeface="微软雅黑"/>
              </a:endParaRPr>
            </a:p>
          </p:txBody>
        </p:sp>
        <p:sp>
          <p:nvSpPr>
            <p:cNvPr id="44" name="Rectangle 43"/>
            <p:cNvSpPr/>
            <p:nvPr/>
          </p:nvSpPr>
          <p:spPr>
            <a:xfrm>
              <a:off x="10872" y="3298"/>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872" y="3298"/>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46" name="TextBox 45"/>
                <p:cNvSpPr txBox="1"/>
                <p:nvPr/>
              </p:nvSpPr>
              <p:spPr>
                <a:xfrm>
                  <a:off x="11016" y="3384"/>
                  <a:ext cx="1226" cy="507"/>
                </a:xfrm>
                <a:prstGeom prst="rect">
                  <a:avLst/>
                </a:prstGeom>
                <a:noFill/>
              </p:spPr>
              <p:txBody>
                <a:bodyPr wrap="none">
                  <a:spAutoFit/>
                </a:bodyPr>
                <a:lstStyle/>
                <a:p>
                  <a:pPr algn="l"/>
                  <a:r>
                    <a:rPr sz="1500" b="1">
                      <a:solidFill>
                        <a:srgbClr val="711077"/>
                      </a:solidFill>
                      <a:latin typeface="Times New Roman" panose="02020503050405090304"/>
                    </a:rPr>
                    <a:t>1−</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𝑨𝑩</m:t>
                          </m:r>
                        </m:sub>
                      </m:sSub>
                    </m:oMath>
                  </a14:m>
                  <a:endParaRPr sz="1500" b="1">
                    <a:solidFill>
                      <a:srgbClr val="711077"/>
                    </a:solidFill>
                    <a:latin typeface="Times New Roman" panose="02020503050405090304"/>
                  </a:endParaRPr>
                </a:p>
              </p:txBody>
            </p:sp>
          </mc:Choice>
          <mc:Fallback>
            <p:sp>
              <p:nvSpPr>
                <p:cNvPr id="46" name="TextBox 45"/>
                <p:cNvSpPr txBox="1">
                  <a:spLocks noRot="1" noChangeAspect="1" noMove="1" noResize="1" noEditPoints="1" noAdjustHandles="1" noChangeArrowheads="1" noChangeShapeType="1" noTextEdit="1"/>
                </p:cNvSpPr>
                <p:nvPr/>
              </p:nvSpPr>
              <p:spPr>
                <a:xfrm>
                  <a:off x="11016" y="3384"/>
                  <a:ext cx="1226" cy="507"/>
                </a:xfrm>
                <a:prstGeom prst="rect">
                  <a:avLst/>
                </a:prstGeom>
                <a:blipFill rotWithShape="1">
                  <a:blip r:embed="rId8"/>
                </a:blipFill>
              </p:spPr>
              <p:txBody>
                <a:bodyPr/>
                <a:lstStyle/>
                <a:p>
                  <a:r>
                    <a:rPr lang="zh-CN" altLang="en-US">
                      <a:noFill/>
                    </a:rPr>
                    <a:t> </a:t>
                  </a:r>
                </a:p>
              </p:txBody>
            </p:sp>
          </mc:Fallback>
        </mc:AlternateContent>
        <p:sp>
          <p:nvSpPr>
            <p:cNvPr id="47" name="TextBox 46"/>
            <p:cNvSpPr txBox="1"/>
            <p:nvPr/>
          </p:nvSpPr>
          <p:spPr>
            <a:xfrm>
              <a:off x="12053" y="3341"/>
              <a:ext cx="5443" cy="432"/>
            </a:xfrm>
            <a:prstGeom prst="rect">
              <a:avLst/>
            </a:prstGeom>
            <a:noFill/>
          </p:spPr>
          <p:txBody>
            <a:bodyPr wrap="square">
              <a:spAutoFit/>
            </a:bodyPr>
            <a:lstStyle/>
            <a:p>
              <a:r>
                <a:rPr sz="1150">
                  <a:solidFill>
                    <a:srgbClr val="232323"/>
                  </a:solidFill>
                  <a:latin typeface="微软雅黑"/>
                </a:rPr>
                <a:t>扣除迁移成本后的效用保留比例</a:t>
              </a:r>
              <a:endParaRPr sz="1150">
                <a:solidFill>
                  <a:srgbClr val="232323"/>
                </a:solidFill>
                <a:latin typeface="微软雅黑"/>
              </a:endParaRPr>
            </a:p>
          </p:txBody>
        </p:sp>
        <p:sp>
          <p:nvSpPr>
            <p:cNvPr id="48" name="Rectangle 47"/>
            <p:cNvSpPr/>
            <p:nvPr/>
          </p:nvSpPr>
          <p:spPr>
            <a:xfrm>
              <a:off x="10872" y="4003"/>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872" y="4003"/>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50" name="TextBox 49"/>
                <p:cNvSpPr txBox="1"/>
                <p:nvPr/>
              </p:nvSpPr>
              <p:spPr>
                <a:xfrm>
                  <a:off x="11016" y="4090"/>
                  <a:ext cx="1026" cy="508"/>
                </a:xfrm>
                <a:prstGeom prst="rect">
                  <a:avLst/>
                </a:prstGeom>
                <a:noFill/>
              </p:spPr>
              <p:txBody>
                <a:bodyPr wrap="none">
                  <a:spAutoFit/>
                </a:bodyPr>
                <a:lstStyle/>
                <a:p>
                  <a:pPr algn="l"/>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𝑼</m:t>
                            </m:r>
                          </m:e>
                          <m:sub>
                            <m:r>
                              <a:rPr lang="en-US" sz="1500" b="1" i="1">
                                <a:solidFill>
                                  <a:srgbClr val="711077"/>
                                </a:solidFill>
                                <a:latin typeface="DejaVu Math TeX Gyre" panose="02000503000000000000" charset="0"/>
                                <a:cs typeface="DejaVu Math TeX Gyre" panose="02000503000000000000" charset="0"/>
                              </a:rPr>
                              <m:t>𝒊𝒅𝒐</m:t>
                            </m:r>
                          </m:sub>
                        </m:sSub>
                      </m:oMath>
                    </m:oMathPara>
                  </a14:m>
                  <a:endParaRPr sz="1500" b="1">
                    <a:solidFill>
                      <a:srgbClr val="711077"/>
                    </a:solidFill>
                    <a:latin typeface="Times New Roman" panose="02020503050405090304"/>
                  </a:endParaRPr>
                </a:p>
              </p:txBody>
            </p:sp>
          </mc:Choice>
          <mc:Fallback>
            <p:sp>
              <p:nvSpPr>
                <p:cNvPr id="50" name="TextBox 49"/>
                <p:cNvSpPr txBox="1">
                  <a:spLocks noRot="1" noChangeAspect="1" noMove="1" noResize="1" noEditPoints="1" noAdjustHandles="1" noChangeArrowheads="1" noChangeShapeType="1" noTextEdit="1"/>
                </p:cNvSpPr>
                <p:nvPr/>
              </p:nvSpPr>
              <p:spPr>
                <a:xfrm>
                  <a:off x="11016" y="4090"/>
                  <a:ext cx="1026" cy="508"/>
                </a:xfrm>
                <a:prstGeom prst="rect">
                  <a:avLst/>
                </a:prstGeom>
                <a:blipFill rotWithShape="1">
                  <a:blip r:embed="rId9"/>
                </a:blipFill>
              </p:spPr>
              <p:txBody>
                <a:bodyPr/>
                <a:lstStyle/>
                <a:p>
                  <a:r>
                    <a:rPr lang="zh-CN" altLang="en-US">
                      <a:noFill/>
                    </a:rPr>
                    <a:t> </a:t>
                  </a:r>
                </a:p>
              </p:txBody>
            </p:sp>
          </mc:Fallback>
        </mc:AlternateContent>
        <p:sp>
          <p:nvSpPr>
            <p:cNvPr id="51" name="TextBox 50"/>
            <p:cNvSpPr txBox="1"/>
            <p:nvPr/>
          </p:nvSpPr>
          <p:spPr>
            <a:xfrm>
              <a:off x="12053" y="4046"/>
              <a:ext cx="5443" cy="432"/>
            </a:xfrm>
            <a:prstGeom prst="rect">
              <a:avLst/>
            </a:prstGeom>
            <a:noFill/>
          </p:spPr>
          <p:txBody>
            <a:bodyPr wrap="square">
              <a:spAutoFit/>
            </a:bodyPr>
            <a:lstStyle/>
            <a:p>
              <a:r>
                <a:rPr sz="1150">
                  <a:solidFill>
                    <a:srgbClr val="232323"/>
                  </a:solidFill>
                  <a:latin typeface="微软雅黑"/>
                </a:rPr>
                <a:t>出生于 o 的劳动者 i 选择地区 d 时获得的效用</a:t>
              </a:r>
              <a:endParaRPr sz="1150">
                <a:solidFill>
                  <a:srgbClr val="232323"/>
                </a:solidFill>
                <a:latin typeface="微软雅黑"/>
              </a:endParaRPr>
            </a:p>
          </p:txBody>
        </p:sp>
        <p:sp>
          <p:nvSpPr>
            <p:cNvPr id="52" name="Rectangle 51"/>
            <p:cNvSpPr/>
            <p:nvPr/>
          </p:nvSpPr>
          <p:spPr>
            <a:xfrm>
              <a:off x="10872" y="4709"/>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52"/>
            <p:cNvSpPr/>
            <p:nvPr/>
          </p:nvSpPr>
          <p:spPr>
            <a:xfrm>
              <a:off x="10872" y="4709"/>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54" name="TextBox 53"/>
                <p:cNvSpPr txBox="1"/>
                <p:nvPr/>
              </p:nvSpPr>
              <p:spPr>
                <a:xfrm>
                  <a:off x="11016" y="4795"/>
                  <a:ext cx="902" cy="508"/>
                </a:xfrm>
                <a:prstGeom prst="rect">
                  <a:avLst/>
                </a:prstGeom>
                <a:noFill/>
              </p:spPr>
              <p:txBody>
                <a:bodyPr wrap="none">
                  <a:spAutoFit/>
                </a:bodyPr>
                <a:lstStyle/>
                <a:p>
                  <a:pPr algn="l"/>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𝝅</m:t>
                            </m:r>
                          </m:e>
                          <m:sub>
                            <m:r>
                              <a:rPr lang="en-US" sz="1500" b="1">
                                <a:solidFill>
                                  <a:srgbClr val="711077"/>
                                </a:solidFill>
                                <a:latin typeface="Times New Roman" panose="02020503050405090304"/>
                                <a:sym typeface="+mn-ea"/>
                              </a:rPr>
                              <m:t>𝐝𝐨</m:t>
                            </m:r>
                          </m:sub>
                        </m:sSub>
                      </m:oMath>
                    </m:oMathPara>
                  </a14:m>
                  <a:endParaRPr sz="1500" b="1">
                    <a:solidFill>
                      <a:srgbClr val="711077"/>
                    </a:solidFill>
                    <a:latin typeface="Times New Roman" panose="02020503050405090304"/>
                  </a:endParaRPr>
                </a:p>
              </p:txBody>
            </p:sp>
          </mc:Choice>
          <mc:Fallback>
            <p:sp>
              <p:nvSpPr>
                <p:cNvPr id="54" name="TextBox 53"/>
                <p:cNvSpPr txBox="1">
                  <a:spLocks noRot="1" noChangeAspect="1" noMove="1" noResize="1" noEditPoints="1" noAdjustHandles="1" noChangeArrowheads="1" noChangeShapeType="1" noTextEdit="1"/>
                </p:cNvSpPr>
                <p:nvPr/>
              </p:nvSpPr>
              <p:spPr>
                <a:xfrm>
                  <a:off x="11016" y="4795"/>
                  <a:ext cx="902" cy="508"/>
                </a:xfrm>
                <a:prstGeom prst="rect">
                  <a:avLst/>
                </a:prstGeom>
                <a:blipFill rotWithShape="1">
                  <a:blip r:embed="rId10"/>
                </a:blipFill>
              </p:spPr>
              <p:txBody>
                <a:bodyPr/>
                <a:lstStyle/>
                <a:p>
                  <a:r>
                    <a:rPr lang="zh-CN" altLang="en-US">
                      <a:noFill/>
                    </a:rPr>
                    <a:t> </a:t>
                  </a:r>
                </a:p>
              </p:txBody>
            </p:sp>
          </mc:Fallback>
        </mc:AlternateContent>
        <p:sp>
          <p:nvSpPr>
            <p:cNvPr id="55" name="TextBox 54"/>
            <p:cNvSpPr txBox="1"/>
            <p:nvPr/>
          </p:nvSpPr>
          <p:spPr>
            <a:xfrm>
              <a:off x="12053" y="4752"/>
              <a:ext cx="5443" cy="432"/>
            </a:xfrm>
            <a:prstGeom prst="rect">
              <a:avLst/>
            </a:prstGeom>
            <a:noFill/>
          </p:spPr>
          <p:txBody>
            <a:bodyPr wrap="square">
              <a:spAutoFit/>
            </a:bodyPr>
            <a:lstStyle/>
            <a:p>
              <a:r>
                <a:rPr sz="1150">
                  <a:solidFill>
                    <a:srgbClr val="232323"/>
                  </a:solidFill>
                  <a:latin typeface="微软雅黑"/>
                </a:rPr>
                <a:t>出生于地区 o、选择在地区 d 工作的劳动者比例</a:t>
              </a:r>
              <a:endParaRPr sz="1150">
                <a:solidFill>
                  <a:srgbClr val="232323"/>
                </a:solidFill>
                <a:latin typeface="微软雅黑"/>
              </a:endParaRPr>
            </a:p>
          </p:txBody>
        </p:sp>
        <p:sp>
          <p:nvSpPr>
            <p:cNvPr id="56" name="Rectangle 55"/>
            <p:cNvSpPr/>
            <p:nvPr/>
          </p:nvSpPr>
          <p:spPr>
            <a:xfrm>
              <a:off x="10872" y="5414"/>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872" y="5414"/>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58" name="TextBox 57"/>
                <p:cNvSpPr txBox="1"/>
                <p:nvPr/>
              </p:nvSpPr>
              <p:spPr>
                <a:xfrm>
                  <a:off x="10930" y="5500"/>
                  <a:ext cx="1224" cy="50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acc>
                              <m:accPr>
                                <m:chr m:val="̅"/>
                                <m:ctrlPr>
                                  <a:rPr lang="en-US" sz="1500" b="1" i="1">
                                    <a:solidFill>
                                      <a:srgbClr val="711077"/>
                                    </a:solidFill>
                                    <a:latin typeface="DejaVu Math TeX Gyre" panose="02000503000000000000" charset="0"/>
                                    <a:cs typeface="DejaVu Math TeX Gyre" panose="02000503000000000000" charset="0"/>
                                  </a:rPr>
                                </m:ctrlPr>
                              </m:accPr>
                              <m:e>
                                <m:r>
                                  <a:rPr lang="en-US" sz="1500" b="1" i="1">
                                    <a:solidFill>
                                      <a:srgbClr val="711077"/>
                                    </a:solidFill>
                                    <a:latin typeface="DejaVu Math TeX Gyre" panose="02000503000000000000" charset="0"/>
                                    <a:cs typeface="DejaVu Math TeX Gyre" panose="02000503000000000000" charset="0"/>
                                  </a:rPr>
                                  <m:t>𝝎</m:t>
                                </m:r>
                              </m:e>
                            </m:acc>
                          </m:e>
                          <m:sub>
                            <m:r>
                              <a:rPr lang="en-US" sz="1500" b="1" i="1">
                                <a:solidFill>
                                  <a:srgbClr val="711077"/>
                                </a:solidFill>
                                <a:latin typeface="DejaVu Math TeX Gyre" panose="02000503000000000000" charset="0"/>
                                <a:cs typeface="DejaVu Math TeX Gyre" panose="02000503000000000000" charset="0"/>
                              </a:rPr>
                              <m:t>𝒅𝒐</m:t>
                            </m:r>
                          </m:sub>
                        </m:sSub>
                      </m:oMath>
                    </m:oMathPara>
                  </a14:m>
                  <a:endParaRPr sz="1500" b="1">
                    <a:solidFill>
                      <a:srgbClr val="711077"/>
                    </a:solidFill>
                    <a:latin typeface="Times New Roman" panose="02020503050405090304"/>
                  </a:endParaRPr>
                </a:p>
              </p:txBody>
            </p:sp>
          </mc:Choice>
          <mc:Fallback>
            <p:sp>
              <p:nvSpPr>
                <p:cNvPr id="58" name="TextBox 57"/>
                <p:cNvSpPr txBox="1">
                  <a:spLocks noRot="1" noChangeAspect="1" noMove="1" noResize="1" noEditPoints="1" noAdjustHandles="1" noChangeArrowheads="1" noChangeShapeType="1" noTextEdit="1"/>
                </p:cNvSpPr>
                <p:nvPr/>
              </p:nvSpPr>
              <p:spPr>
                <a:xfrm>
                  <a:off x="10930" y="5500"/>
                  <a:ext cx="1224" cy="508"/>
                </a:xfrm>
                <a:prstGeom prst="rect">
                  <a:avLst/>
                </a:prstGeom>
                <a:blipFill rotWithShape="1">
                  <a:blip r:embed="rId11"/>
                </a:blipFill>
              </p:spPr>
              <p:txBody>
                <a:bodyPr/>
                <a:lstStyle/>
                <a:p>
                  <a:r>
                    <a:rPr lang="zh-CN" altLang="en-US">
                      <a:noFill/>
                    </a:rPr>
                    <a:t> </a:t>
                  </a:r>
                </a:p>
              </p:txBody>
            </p:sp>
          </mc:Fallback>
        </mc:AlternateContent>
        <p:sp>
          <p:nvSpPr>
            <p:cNvPr id="59" name="TextBox 58"/>
            <p:cNvSpPr txBox="1"/>
            <p:nvPr/>
          </p:nvSpPr>
          <p:spPr>
            <a:xfrm>
              <a:off x="12053" y="5458"/>
              <a:ext cx="5443" cy="432"/>
            </a:xfrm>
            <a:prstGeom prst="rect">
              <a:avLst/>
            </a:prstGeom>
            <a:noFill/>
          </p:spPr>
          <p:txBody>
            <a:bodyPr wrap="square">
              <a:spAutoFit/>
            </a:bodyPr>
            <a:lstStyle/>
            <a:p>
              <a:r>
                <a:rPr sz="1150">
                  <a:solidFill>
                    <a:srgbClr val="232323"/>
                  </a:solidFill>
                  <a:latin typeface="微软雅黑"/>
                </a:rPr>
                <a:t>出生于地区 o、在地区 d 工作的劳动者平均工资</a:t>
              </a:r>
              <a:endParaRPr sz="1150">
                <a:solidFill>
                  <a:srgbClr val="232323"/>
                </a:solidFill>
                <a:latin typeface="微软雅黑"/>
              </a:endParaRPr>
            </a:p>
          </p:txBody>
        </p:sp>
        <p:sp>
          <p:nvSpPr>
            <p:cNvPr id="60" name="Rectangle 59"/>
            <p:cNvSpPr/>
            <p:nvPr/>
          </p:nvSpPr>
          <p:spPr>
            <a:xfrm>
              <a:off x="10872" y="6120"/>
              <a:ext cx="6854" cy="60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872" y="6120"/>
              <a:ext cx="58" cy="605"/>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62" name="TextBox 61"/>
                <p:cNvSpPr txBox="1"/>
                <p:nvPr/>
              </p:nvSpPr>
              <p:spPr>
                <a:xfrm>
                  <a:off x="11016" y="6206"/>
                  <a:ext cx="1346" cy="508"/>
                </a:xfrm>
                <a:prstGeom prst="rect">
                  <a:avLst/>
                </a:prstGeom>
                <a:noFill/>
              </p:spPr>
              <p:txBody>
                <a:bodyPr wrap="none">
                  <a:spAutoFit/>
                </a:bodyPr>
                <a:lstStyle/>
                <a:p>
                  <a:pPr algn="l"/>
                  <a:r>
                    <a:rPr sz="1500" b="1">
                      <a:solidFill>
                        <a:srgbClr val="711077"/>
                      </a:solidFill>
                      <a:latin typeface="Times New Roman" panose="02020503050405090304"/>
                    </a:rPr>
                    <a:t> </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a:solidFill>
                                <a:srgbClr val="711077"/>
                              </a:solidFill>
                              <a:latin typeface="Times New Roman" panose="02020503050405090304"/>
                              <a:sym typeface="+mn-ea"/>
                            </a:rPr>
                            <m:t>𝐝</m:t>
                          </m:r>
                        </m:sub>
                      </m:sSub>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a:solidFill>
                                <a:srgbClr val="711077"/>
                              </a:solidFill>
                              <a:latin typeface="Times New Roman" panose="02020503050405090304"/>
                              <a:sym typeface="+mn-ea"/>
                            </a:rPr>
                            <m:t>𝐢</m:t>
                          </m:r>
                          <m:r>
                            <a:rPr lang="en-US" sz="1500" b="1">
                              <a:solidFill>
                                <a:srgbClr val="711077"/>
                              </a:solidFill>
                              <a:latin typeface="Times New Roman" panose="02020503050405090304"/>
                              <a:sym typeface="+mn-ea"/>
                            </a:rPr>
                            <m:t>𝐝</m:t>
                          </m:r>
                        </m:sub>
                      </m:sSub>
                    </m:oMath>
                  </a14:m>
                  <a:endParaRPr sz="1500" b="1">
                    <a:solidFill>
                      <a:srgbClr val="711077"/>
                    </a:solidFill>
                    <a:latin typeface="Times New Roman" panose="02020503050405090304"/>
                  </a:endParaRPr>
                </a:p>
              </p:txBody>
            </p:sp>
          </mc:Choice>
          <mc:Fallback>
            <p:sp>
              <p:nvSpPr>
                <p:cNvPr id="62" name="TextBox 61"/>
                <p:cNvSpPr txBox="1">
                  <a:spLocks noRot="1" noChangeAspect="1" noMove="1" noResize="1" noEditPoints="1" noAdjustHandles="1" noChangeArrowheads="1" noChangeShapeType="1" noTextEdit="1"/>
                </p:cNvSpPr>
                <p:nvPr/>
              </p:nvSpPr>
              <p:spPr>
                <a:xfrm>
                  <a:off x="11016" y="6206"/>
                  <a:ext cx="1346" cy="508"/>
                </a:xfrm>
                <a:prstGeom prst="rect">
                  <a:avLst/>
                </a:prstGeom>
                <a:blipFill rotWithShape="1">
                  <a:blip r:embed="rId12"/>
                </a:blipFill>
              </p:spPr>
              <p:txBody>
                <a:bodyPr/>
                <a:lstStyle/>
                <a:p>
                  <a:r>
                    <a:rPr lang="zh-CN" altLang="en-US">
                      <a:noFill/>
                    </a:rPr>
                    <a:t> </a:t>
                  </a:r>
                </a:p>
              </p:txBody>
            </p:sp>
          </mc:Fallback>
        </mc:AlternateContent>
        <p:sp>
          <p:nvSpPr>
            <p:cNvPr id="63" name="TextBox 62"/>
            <p:cNvSpPr txBox="1"/>
            <p:nvPr/>
          </p:nvSpPr>
          <p:spPr>
            <a:xfrm>
              <a:off x="12053" y="6163"/>
              <a:ext cx="5443" cy="432"/>
            </a:xfrm>
            <a:prstGeom prst="rect">
              <a:avLst/>
            </a:prstGeom>
            <a:noFill/>
          </p:spPr>
          <p:txBody>
            <a:bodyPr wrap="square">
              <a:spAutoFit/>
            </a:bodyPr>
            <a:lstStyle/>
            <a:p>
              <a:r>
                <a:rPr sz="1150">
                  <a:solidFill>
                    <a:srgbClr val="232323"/>
                  </a:solidFill>
                  <a:latin typeface="微软雅黑"/>
                </a:rPr>
                <a:t>劳动者 i 在地区 d 的工资</a:t>
              </a:r>
              <a:endParaRPr sz="1150">
                <a:solidFill>
                  <a:srgbClr val="232323"/>
                </a:solidFill>
                <a:latin typeface="微软雅黑"/>
              </a:endParaRPr>
            </a:p>
          </p:txBody>
        </p:sp>
        <p:sp>
          <p:nvSpPr>
            <p:cNvPr id="64" name="Rectangle 63"/>
            <p:cNvSpPr/>
            <p:nvPr/>
          </p:nvSpPr>
          <p:spPr>
            <a:xfrm>
              <a:off x="3341" y="7315"/>
              <a:ext cx="3816" cy="547"/>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711077"/>
                  </a:solidFill>
                  <a:latin typeface="微软雅黑"/>
                </a:rPr>
                <a:t>模型基本假设</a:t>
              </a:r>
              <a:endParaRPr sz="2000" b="1">
                <a:solidFill>
                  <a:srgbClr val="711077"/>
                </a:solidFill>
                <a:latin typeface="微软雅黑"/>
              </a:endParaRPr>
            </a:p>
          </p:txBody>
        </p:sp>
        <p:sp>
          <p:nvSpPr>
            <p:cNvPr id="65" name="Rectangle 64"/>
            <p:cNvSpPr/>
            <p:nvPr/>
          </p:nvSpPr>
          <p:spPr>
            <a:xfrm>
              <a:off x="3341" y="7891"/>
              <a:ext cx="3514" cy="1411"/>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341" y="7891"/>
              <a:ext cx="58" cy="1411"/>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67" name="TextBox 66"/>
                <p:cNvSpPr txBox="1"/>
                <p:nvPr/>
              </p:nvSpPr>
              <p:spPr>
                <a:xfrm>
                  <a:off x="3542" y="8006"/>
                  <a:ext cx="1722" cy="508"/>
                </a:xfrm>
                <a:prstGeom prst="rect">
                  <a:avLst/>
                </a:prstGeom>
                <a:noFill/>
              </p:spPr>
              <p:txBody>
                <a:bodyPr wrap="none">
                  <a:spAutoFit/>
                </a:bodyPr>
                <a:lstStyle/>
                <a:p>
                  <a:pPr algn="l"/>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𝒅𝒐</m:t>
                          </m:r>
                        </m:sub>
                      </m:sSub>
                    </m:oMath>
                  </a14:m>
                  <a:r>
                    <a:rPr sz="1500" b="1">
                      <a:solidFill>
                        <a:srgbClr val="711077"/>
                      </a:solidFill>
                      <a:latin typeface="Times New Roman" panose="02020503050405090304"/>
                    </a:rPr>
                    <a:t> ∈ [0,1]</a:t>
                  </a:r>
                  <a:endParaRPr sz="1500" b="1">
                    <a:solidFill>
                      <a:srgbClr val="711077"/>
                    </a:solidFill>
                    <a:latin typeface="Times New Roman" panose="02020503050405090304"/>
                  </a:endParaRPr>
                </a:p>
              </p:txBody>
            </p:sp>
          </mc:Choice>
          <mc:Fallback>
            <p:sp>
              <p:nvSpPr>
                <p:cNvPr id="67" name="TextBox 66"/>
                <p:cNvSpPr txBox="1">
                  <a:spLocks noRot="1" noChangeAspect="1" noMove="1" noResize="1" noEditPoints="1" noAdjustHandles="1" noChangeArrowheads="1" noChangeShapeType="1" noTextEdit="1"/>
                </p:cNvSpPr>
                <p:nvPr/>
              </p:nvSpPr>
              <p:spPr>
                <a:xfrm>
                  <a:off x="3542" y="8006"/>
                  <a:ext cx="1722" cy="508"/>
                </a:xfrm>
                <a:prstGeom prst="rect">
                  <a:avLst/>
                </a:prstGeom>
                <a:blipFill rotWithShape="1">
                  <a:blip r:embed="rId13"/>
                </a:blipFill>
              </p:spPr>
              <p:txBody>
                <a:bodyPr/>
                <a:lstStyle/>
                <a:p>
                  <a:r>
                    <a:rPr lang="zh-CN" altLang="en-US">
                      <a:noFill/>
                    </a:rPr>
                    <a:t> </a:t>
                  </a:r>
                </a:p>
              </p:txBody>
            </p:sp>
          </mc:Fallback>
        </mc:AlternateContent>
        <p:sp>
          <p:nvSpPr>
            <p:cNvPr id="68" name="TextBox 67"/>
            <p:cNvSpPr txBox="1"/>
            <p:nvPr/>
          </p:nvSpPr>
          <p:spPr>
            <a:xfrm>
              <a:off x="3542" y="8467"/>
              <a:ext cx="3226" cy="490"/>
            </a:xfrm>
            <a:prstGeom prst="rect">
              <a:avLst/>
            </a:prstGeom>
            <a:noFill/>
          </p:spPr>
          <p:txBody>
            <a:bodyPr wrap="square">
              <a:spAutoFit/>
            </a:bodyPr>
            <a:lstStyle/>
            <a:p>
              <a:r>
                <a:rPr sz="1200">
                  <a:solidFill>
                    <a:srgbClr val="232323"/>
                  </a:solidFill>
                  <a:latin typeface="微软雅黑"/>
                </a:rPr>
                <a:t>迁移成本介于 0 和 1 之间</a:t>
              </a:r>
              <a:endParaRPr sz="1200">
                <a:solidFill>
                  <a:srgbClr val="232323"/>
                </a:solidFill>
                <a:latin typeface="微软雅黑"/>
              </a:endParaRPr>
            </a:p>
          </p:txBody>
        </p:sp>
        <p:sp>
          <p:nvSpPr>
            <p:cNvPr id="69" name="Rectangle 68"/>
            <p:cNvSpPr/>
            <p:nvPr/>
          </p:nvSpPr>
          <p:spPr>
            <a:xfrm>
              <a:off x="7027" y="7891"/>
              <a:ext cx="3514" cy="1411"/>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027" y="7891"/>
              <a:ext cx="58" cy="1411"/>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71" name="TextBox 70"/>
                <p:cNvSpPr txBox="1"/>
                <p:nvPr/>
              </p:nvSpPr>
              <p:spPr>
                <a:xfrm>
                  <a:off x="7229" y="8006"/>
                  <a:ext cx="1289" cy="508"/>
                </a:xfrm>
                <a:prstGeom prst="rect">
                  <a:avLst/>
                </a:prstGeom>
                <a:noFill/>
              </p:spPr>
              <p:txBody>
                <a:bodyPr wrap="none">
                  <a:spAutoFit/>
                </a:bodyPr>
                <a:lstStyle/>
                <a:p>
                  <a:pPr algn="l"/>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𝒐𝒐</m:t>
                          </m:r>
                        </m:sub>
                      </m:sSub>
                    </m:oMath>
                  </a14:m>
                  <a:r>
                    <a:rPr sz="1500" b="1">
                      <a:solidFill>
                        <a:srgbClr val="711077"/>
                      </a:solidFill>
                      <a:latin typeface="Times New Roman" panose="02020503050405090304"/>
                    </a:rPr>
                    <a:t> = 0</a:t>
                  </a:r>
                  <a:endParaRPr sz="1500" b="1">
                    <a:solidFill>
                      <a:srgbClr val="711077"/>
                    </a:solidFill>
                    <a:latin typeface="Times New Roman" panose="02020503050405090304"/>
                  </a:endParaRPr>
                </a:p>
              </p:txBody>
            </p:sp>
          </mc:Choice>
          <mc:Fallback>
            <p:sp>
              <p:nvSpPr>
                <p:cNvPr id="71" name="TextBox 70"/>
                <p:cNvSpPr txBox="1">
                  <a:spLocks noRot="1" noChangeAspect="1" noMove="1" noResize="1" noEditPoints="1" noAdjustHandles="1" noChangeArrowheads="1" noChangeShapeType="1" noTextEdit="1"/>
                </p:cNvSpPr>
                <p:nvPr/>
              </p:nvSpPr>
              <p:spPr>
                <a:xfrm>
                  <a:off x="7229" y="8006"/>
                  <a:ext cx="1289" cy="508"/>
                </a:xfrm>
                <a:prstGeom prst="rect">
                  <a:avLst/>
                </a:prstGeom>
                <a:blipFill rotWithShape="1">
                  <a:blip r:embed="rId14"/>
                </a:blipFill>
              </p:spPr>
              <p:txBody>
                <a:bodyPr/>
                <a:lstStyle/>
                <a:p>
                  <a:r>
                    <a:rPr lang="zh-CN" altLang="en-US">
                      <a:noFill/>
                    </a:rPr>
                    <a:t> </a:t>
                  </a:r>
                </a:p>
              </p:txBody>
            </p:sp>
          </mc:Fallback>
        </mc:AlternateContent>
        <p:sp>
          <p:nvSpPr>
            <p:cNvPr id="72" name="TextBox 71"/>
            <p:cNvSpPr txBox="1"/>
            <p:nvPr/>
          </p:nvSpPr>
          <p:spPr>
            <a:xfrm>
              <a:off x="7229" y="8467"/>
              <a:ext cx="3226" cy="490"/>
            </a:xfrm>
            <a:prstGeom prst="rect">
              <a:avLst/>
            </a:prstGeom>
            <a:noFill/>
          </p:spPr>
          <p:txBody>
            <a:bodyPr wrap="square">
              <a:spAutoFit/>
            </a:bodyPr>
            <a:lstStyle/>
            <a:p>
              <a:r>
                <a:rPr sz="1200">
                  <a:solidFill>
                    <a:srgbClr val="232323"/>
                  </a:solidFill>
                  <a:latin typeface="微软雅黑"/>
                </a:rPr>
                <a:t>留在出生地不产生迁移成本</a:t>
              </a:r>
              <a:endParaRPr sz="1200">
                <a:solidFill>
                  <a:srgbClr val="232323"/>
                </a:solidFill>
                <a:latin typeface="微软雅黑"/>
              </a:endParaRPr>
            </a:p>
          </p:txBody>
        </p:sp>
        <p:sp>
          <p:nvSpPr>
            <p:cNvPr id="73" name="Rectangle 72"/>
            <p:cNvSpPr/>
            <p:nvPr/>
          </p:nvSpPr>
          <p:spPr>
            <a:xfrm>
              <a:off x="10714" y="7891"/>
              <a:ext cx="3514" cy="1411"/>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714" y="7891"/>
              <a:ext cx="58" cy="1411"/>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75" name="TextBox 74"/>
                <p:cNvSpPr txBox="1"/>
                <p:nvPr/>
              </p:nvSpPr>
              <p:spPr>
                <a:xfrm>
                  <a:off x="10915" y="8006"/>
                  <a:ext cx="1695" cy="508"/>
                </a:xfrm>
                <a:prstGeom prst="rect">
                  <a:avLst/>
                </a:prstGeom>
                <a:noFill/>
              </p:spPr>
              <p:txBody>
                <a:bodyPr wrap="none">
                  <a:spAutoFit/>
                </a:bodyPr>
                <a:lstStyle/>
                <a:p>
                  <a:pPr algn="l"/>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𝒐𝒅</m:t>
                          </m:r>
                        </m:sub>
                      </m:sSub>
                    </m:oMath>
                  </a14:m>
                  <a:r>
                    <a:rPr sz="1500" b="1">
                      <a:solidFill>
                        <a:srgbClr val="711077"/>
                      </a:solidFill>
                      <a:latin typeface="Times New Roman" panose="02020503050405090304"/>
                    </a:rPr>
                    <a:t> = </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𝒅𝒐</m:t>
                          </m:r>
                        </m:sub>
                      </m:sSub>
                    </m:oMath>
                  </a14:m>
                  <a:endParaRPr sz="1500" b="1">
                    <a:solidFill>
                      <a:srgbClr val="711077"/>
                    </a:solidFill>
                    <a:latin typeface="Times New Roman" panose="02020503050405090304"/>
                  </a:endParaRPr>
                </a:p>
              </p:txBody>
            </p:sp>
          </mc:Choice>
          <mc:Fallback>
            <p:sp>
              <p:nvSpPr>
                <p:cNvPr id="75" name="TextBox 74"/>
                <p:cNvSpPr txBox="1">
                  <a:spLocks noRot="1" noChangeAspect="1" noMove="1" noResize="1" noEditPoints="1" noAdjustHandles="1" noChangeArrowheads="1" noChangeShapeType="1" noTextEdit="1"/>
                </p:cNvSpPr>
                <p:nvPr/>
              </p:nvSpPr>
              <p:spPr>
                <a:xfrm>
                  <a:off x="10915" y="8006"/>
                  <a:ext cx="1695" cy="508"/>
                </a:xfrm>
                <a:prstGeom prst="rect">
                  <a:avLst/>
                </a:prstGeom>
                <a:blipFill rotWithShape="1">
                  <a:blip r:embed="rId15"/>
                </a:blipFill>
              </p:spPr>
              <p:txBody>
                <a:bodyPr/>
                <a:lstStyle/>
                <a:p>
                  <a:r>
                    <a:rPr lang="zh-CN" altLang="en-US">
                      <a:noFill/>
                    </a:rPr>
                    <a:t> </a:t>
                  </a:r>
                </a:p>
              </p:txBody>
            </p:sp>
          </mc:Fallback>
        </mc:AlternateContent>
        <p:sp>
          <p:nvSpPr>
            <p:cNvPr id="76" name="TextBox 75"/>
            <p:cNvSpPr txBox="1"/>
            <p:nvPr/>
          </p:nvSpPr>
          <p:spPr>
            <a:xfrm>
              <a:off x="10915" y="8467"/>
              <a:ext cx="3226" cy="490"/>
            </a:xfrm>
            <a:prstGeom prst="rect">
              <a:avLst/>
            </a:prstGeom>
            <a:noFill/>
          </p:spPr>
          <p:txBody>
            <a:bodyPr wrap="square">
              <a:spAutoFit/>
            </a:bodyPr>
            <a:lstStyle/>
            <a:p>
              <a:r>
                <a:rPr sz="1200">
                  <a:solidFill>
                    <a:srgbClr val="232323"/>
                  </a:solidFill>
                  <a:latin typeface="微软雅黑"/>
                </a:rPr>
                <a:t>两地区间迁移成本对称</a:t>
              </a:r>
              <a:endParaRPr sz="1200">
                <a:solidFill>
                  <a:srgbClr val="232323"/>
                </a:solidFill>
                <a:latin typeface="微软雅黑"/>
              </a:endParaRPr>
            </a:p>
          </p:txBody>
        </p:sp>
        <p:sp>
          <p:nvSpPr>
            <p:cNvPr id="77" name="Rectangle 76"/>
            <p:cNvSpPr/>
            <p:nvPr/>
          </p:nvSpPr>
          <p:spPr>
            <a:xfrm>
              <a:off x="14400" y="7891"/>
              <a:ext cx="3514" cy="1411"/>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4400" y="7891"/>
              <a:ext cx="58" cy="1411"/>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79" name="TextBox 78"/>
                <p:cNvSpPr txBox="1"/>
                <p:nvPr/>
              </p:nvSpPr>
              <p:spPr>
                <a:xfrm>
                  <a:off x="14602" y="8006"/>
                  <a:ext cx="1652" cy="507"/>
                </a:xfrm>
                <a:prstGeom prst="rect">
                  <a:avLst/>
                </a:prstGeom>
                <a:noFill/>
              </p:spPr>
              <p:txBody>
                <a:bodyPr wrap="none">
                  <a:spAutoFit/>
                </a:bodyPr>
                <a:lstStyle/>
                <a:p>
                  <a:pPr algn="l"/>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𝒘</m:t>
                          </m:r>
                        </m:e>
                        <m:sub>
                          <m:r>
                            <a:rPr lang="en-US" sz="1500" b="1" i="1">
                              <a:solidFill>
                                <a:srgbClr val="711077"/>
                              </a:solidFill>
                              <a:latin typeface="DejaVu Math TeX Gyre" panose="02000503000000000000" charset="0"/>
                              <a:cs typeface="DejaVu Math TeX Gyre" panose="02000503000000000000" charset="0"/>
                            </a:rPr>
                            <m:t>𝑨</m:t>
                          </m:r>
                        </m:sub>
                      </m:sSub>
                    </m:oMath>
                  </a14:m>
                  <a:r>
                    <a:rPr sz="1500" b="1">
                      <a:solidFill>
                        <a:srgbClr val="711077"/>
                      </a:solidFill>
                      <a:latin typeface="Times New Roman" panose="02020503050405090304"/>
                    </a:rPr>
                    <a:t> &gt; </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𝒘</m:t>
                          </m:r>
                        </m:e>
                        <m:sub>
                          <m:r>
                            <a:rPr lang="en-US" sz="1500" b="1" i="1">
                              <a:solidFill>
                                <a:srgbClr val="711077"/>
                              </a:solidFill>
                              <a:latin typeface="DejaVu Math TeX Gyre" panose="02000503000000000000" charset="0"/>
                              <a:cs typeface="DejaVu Math TeX Gyre" panose="02000503000000000000" charset="0"/>
                            </a:rPr>
                            <m:t>𝑩</m:t>
                          </m:r>
                        </m:sub>
                      </m:sSub>
                    </m:oMath>
                  </a14:m>
                  <a:endParaRPr sz="1500" b="1">
                    <a:solidFill>
                      <a:srgbClr val="711077"/>
                    </a:solidFill>
                    <a:latin typeface="Times New Roman" panose="02020503050405090304"/>
                  </a:endParaRPr>
                </a:p>
              </p:txBody>
            </p:sp>
          </mc:Choice>
          <mc:Fallback>
            <p:sp>
              <p:nvSpPr>
                <p:cNvPr id="79" name="TextBox 78"/>
                <p:cNvSpPr txBox="1">
                  <a:spLocks noRot="1" noChangeAspect="1" noMove="1" noResize="1" noEditPoints="1" noAdjustHandles="1" noChangeArrowheads="1" noChangeShapeType="1" noTextEdit="1"/>
                </p:cNvSpPr>
                <p:nvPr/>
              </p:nvSpPr>
              <p:spPr>
                <a:xfrm>
                  <a:off x="14602" y="8006"/>
                  <a:ext cx="1652" cy="507"/>
                </a:xfrm>
                <a:prstGeom prst="rect">
                  <a:avLst/>
                </a:prstGeom>
                <a:blipFill rotWithShape="1">
                  <a:blip r:embed="rId16"/>
                </a:blipFill>
              </p:spPr>
              <p:txBody>
                <a:bodyPr/>
                <a:lstStyle/>
                <a:p>
                  <a:r>
                    <a:rPr lang="zh-CN" altLang="en-US">
                      <a:noFill/>
                    </a:rPr>
                    <a:t> </a:t>
                  </a:r>
                </a:p>
              </p:txBody>
            </p:sp>
          </mc:Fallback>
        </mc:AlternateContent>
        <p:sp>
          <p:nvSpPr>
            <p:cNvPr id="80" name="TextBox 79"/>
            <p:cNvSpPr txBox="1"/>
            <p:nvPr/>
          </p:nvSpPr>
          <p:spPr>
            <a:xfrm>
              <a:off x="14602" y="8467"/>
              <a:ext cx="3226" cy="490"/>
            </a:xfrm>
            <a:prstGeom prst="rect">
              <a:avLst/>
            </a:prstGeom>
            <a:noFill/>
          </p:spPr>
          <p:txBody>
            <a:bodyPr wrap="square">
              <a:spAutoFit/>
            </a:bodyPr>
            <a:lstStyle/>
            <a:p>
              <a:r>
                <a:rPr sz="1200">
                  <a:solidFill>
                    <a:srgbClr val="232323"/>
                  </a:solidFill>
                  <a:latin typeface="微软雅黑"/>
                </a:rPr>
                <a:t>A 地区单位有效劳动工资高于 B 地区</a:t>
              </a:r>
              <a:endParaRPr sz="1200">
                <a:solidFill>
                  <a:srgbClr val="232323"/>
                </a:solidFill>
                <a:latin typeface="微软雅黑"/>
              </a:endParaRPr>
            </a:p>
          </p:txBody>
        </p:sp>
        <p:sp>
          <p:nvSpPr>
            <p:cNvPr id="81" name="Rectangle 80"/>
            <p:cNvSpPr/>
            <p:nvPr/>
          </p:nvSpPr>
          <p:spPr>
            <a:xfrm>
              <a:off x="3341" y="9533"/>
              <a:ext cx="14616" cy="60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2" name="TextBox 81"/>
                <p:cNvSpPr txBox="1"/>
                <p:nvPr/>
              </p:nvSpPr>
              <p:spPr>
                <a:xfrm>
                  <a:off x="3600" y="9581"/>
                  <a:ext cx="6896" cy="557"/>
                </a:xfrm>
                <a:prstGeom prst="rect">
                  <a:avLst/>
                </a:prstGeom>
                <a:noFill/>
              </p:spPr>
              <p:txBody>
                <a:bodyPr wrap="none">
                  <a:spAutoFit/>
                </a:bodyPr>
                <a:lstStyle/>
                <a:p>
                  <a:pPr algn="l"/>
                  <a:r>
                    <a:rPr sz="1500" b="1">
                      <a:solidFill>
                        <a:srgbClr val="711077"/>
                      </a:solidFill>
                      <a:latin typeface="微软雅黑"/>
                    </a:rPr>
                    <a:t>核心效用函数： </a:t>
                  </a:r>
                  <a14:m>
                    <m:oMath xmlns:m="http://schemas.openxmlformats.org/officeDocument/2006/math">
                      <m:sSub>
                        <m:sSubPr>
                          <m:ctrlPr>
                            <a:rPr lang="en-US" sz="1700" b="1" i="1">
                              <a:solidFill>
                                <a:schemeClr val="tx1"/>
                              </a:solidFill>
                              <a:latin typeface="DejaVu Math TeX Gyre" panose="02000503000000000000" charset="0"/>
                              <a:cs typeface="DejaVu Math TeX Gyre" panose="02000503000000000000" charset="0"/>
                            </a:rPr>
                          </m:ctrlPr>
                        </m:sSubPr>
                        <m:e>
                          <m:r>
                            <a:rPr lang="en-US" sz="1700" b="1" i="1">
                              <a:solidFill>
                                <a:schemeClr val="tx1"/>
                              </a:solidFill>
                              <a:latin typeface="DejaVu Math TeX Gyre" panose="02000503000000000000" charset="0"/>
                              <a:cs typeface="DejaVu Math TeX Gyre" panose="02000503000000000000" charset="0"/>
                            </a:rPr>
                            <m:t>𝑼</m:t>
                          </m:r>
                        </m:e>
                        <m:sub>
                          <m:r>
                            <a:rPr lang="en-US" sz="1700" b="1" i="1">
                              <a:solidFill>
                                <a:schemeClr val="tx1"/>
                              </a:solidFill>
                              <a:latin typeface="DejaVu Math TeX Gyre" panose="02000503000000000000" charset="0"/>
                              <a:cs typeface="DejaVu Math TeX Gyre" panose="02000503000000000000" charset="0"/>
                            </a:rPr>
                            <m:t>𝒊𝒅𝒐</m:t>
                          </m:r>
                        </m:sub>
                      </m:sSub>
                      <m:r>
                        <a:rPr lang="en-US" sz="1700" b="1" i="1">
                          <a:solidFill>
                            <a:schemeClr val="tx1"/>
                          </a:solidFill>
                          <a:latin typeface="DejaVu Math TeX Gyre" panose="02000503000000000000" charset="0"/>
                          <a:cs typeface="DejaVu Math TeX Gyre" panose="02000503000000000000" charset="0"/>
                        </a:rPr>
                        <m:t>=</m:t>
                      </m:r>
                      <m:sSub>
                        <m:sSubPr>
                          <m:ctrlPr>
                            <a:rPr lang="en-US" sz="1700" b="1" i="1">
                              <a:solidFill>
                                <a:schemeClr val="tx1"/>
                              </a:solidFill>
                              <a:latin typeface="DejaVu Math TeX Gyre" panose="02000503000000000000" charset="0"/>
                              <a:cs typeface="DejaVu Math TeX Gyre" panose="02000503000000000000" charset="0"/>
                            </a:rPr>
                          </m:ctrlPr>
                        </m:sSubPr>
                        <m:e>
                          <m:r>
                            <a:rPr lang="en-US" sz="1700" b="1" i="1">
                              <a:solidFill>
                                <a:schemeClr val="tx1"/>
                              </a:solidFill>
                              <a:latin typeface="DejaVu Math TeX Gyre" panose="02000503000000000000" charset="0"/>
                              <a:cs typeface="DejaVu Math TeX Gyre" panose="02000503000000000000" charset="0"/>
                            </a:rPr>
                            <m:t>𝒂</m:t>
                          </m:r>
                        </m:e>
                        <m:sub>
                          <m:r>
                            <a:rPr lang="en-US" sz="1700" b="1" i="1">
                              <a:solidFill>
                                <a:schemeClr val="tx1"/>
                              </a:solidFill>
                              <a:latin typeface="DejaVu Math TeX Gyre" panose="02000503000000000000" charset="0"/>
                              <a:cs typeface="DejaVu Math TeX Gyre" panose="02000503000000000000" charset="0"/>
                            </a:rPr>
                            <m:t>𝒅</m:t>
                          </m:r>
                        </m:sub>
                      </m:sSub>
                      <m:sSub>
                        <m:sSubPr>
                          <m:ctrlPr>
                            <a:rPr lang="en-US" sz="1700" b="1" i="1">
                              <a:solidFill>
                                <a:schemeClr val="tx1"/>
                              </a:solidFill>
                              <a:latin typeface="DejaVu Math TeX Gyre" panose="02000503000000000000" charset="0"/>
                              <a:cs typeface="DejaVu Math TeX Gyre" panose="02000503000000000000" charset="0"/>
                            </a:rPr>
                          </m:ctrlPr>
                        </m:sSubPr>
                        <m:e>
                          <m:r>
                            <a:rPr lang="en-US" sz="1700" b="1" i="1">
                              <a:solidFill>
                                <a:schemeClr val="tx1"/>
                              </a:solidFill>
                              <a:latin typeface="DejaVu Math TeX Gyre" panose="02000503000000000000" charset="0"/>
                              <a:cs typeface="DejaVu Math TeX Gyre" panose="02000503000000000000" charset="0"/>
                            </a:rPr>
                            <m:t>𝝎</m:t>
                          </m:r>
                        </m:e>
                        <m:sub>
                          <m:r>
                            <a:rPr lang="en-US" sz="1700" b="1">
                              <a:solidFill>
                                <a:schemeClr val="tx1"/>
                              </a:solidFill>
                              <a:latin typeface="Times New Roman" panose="02020503050405090304"/>
                              <a:sym typeface="+mn-ea"/>
                            </a:rPr>
                            <m:t>𝐝</m:t>
                          </m:r>
                        </m:sub>
                      </m:sSub>
                      <m:sSub>
                        <m:sSubPr>
                          <m:ctrlPr>
                            <a:rPr lang="en-US" sz="1700" b="1" i="1">
                              <a:solidFill>
                                <a:schemeClr val="tx1"/>
                              </a:solidFill>
                              <a:latin typeface="DejaVu Math TeX Gyre" panose="02000503000000000000" charset="0"/>
                              <a:cs typeface="DejaVu Math TeX Gyre" panose="02000503000000000000" charset="0"/>
                            </a:rPr>
                          </m:ctrlPr>
                        </m:sSubPr>
                        <m:e>
                          <m:r>
                            <a:rPr lang="en-US" sz="1700" b="1" i="1">
                              <a:solidFill>
                                <a:schemeClr val="tx1"/>
                              </a:solidFill>
                              <a:latin typeface="DejaVu Math TeX Gyre" panose="02000503000000000000" charset="0"/>
                              <a:cs typeface="DejaVu Math TeX Gyre" panose="02000503000000000000" charset="0"/>
                            </a:rPr>
                            <m:t>𝒔</m:t>
                          </m:r>
                        </m:e>
                        <m:sub>
                          <m:r>
                            <a:rPr lang="en-US" sz="1700" b="1">
                              <a:solidFill>
                                <a:schemeClr val="tx1"/>
                              </a:solidFill>
                              <a:latin typeface="Times New Roman" panose="02020503050405090304"/>
                              <a:sym typeface="+mn-ea"/>
                            </a:rPr>
                            <m:t>𝐢𝐝</m:t>
                          </m:r>
                        </m:sub>
                      </m:sSub>
                      <m:r>
                        <a:rPr lang="en-US" sz="1700" b="1">
                          <a:solidFill>
                            <a:schemeClr val="tx1"/>
                          </a:solidFill>
                          <a:latin typeface="Times New Roman" panose="02020503050405090304"/>
                          <a:sym typeface="+mn-ea"/>
                        </a:rPr>
                        <m:t>(</m:t>
                      </m:r>
                      <m:r>
                        <a:rPr sz="1700" b="1">
                          <a:solidFill>
                            <a:schemeClr val="tx1"/>
                          </a:solidFill>
                          <a:latin typeface="Times New Roman" panose="02020503050405090304"/>
                          <a:sym typeface="+mn-ea"/>
                        </a:rPr>
                        <m:t>𝟏</m:t>
                      </m:r>
                      <m:r>
                        <a:rPr sz="1700" b="1">
                          <a:solidFill>
                            <a:schemeClr val="tx1"/>
                          </a:solidFill>
                          <a:latin typeface="Times New Roman" panose="02020503050405090304"/>
                          <a:sym typeface="+mn-ea"/>
                        </a:rPr>
                        <m:t>−</m:t>
                      </m:r>
                      <m:sSub>
                        <m:sSubPr>
                          <m:ctrlPr>
                            <a:rPr lang="en-US" sz="1700" b="1" i="1">
                              <a:solidFill>
                                <a:schemeClr val="tx1"/>
                              </a:solidFill>
                              <a:latin typeface="DejaVu Math TeX Gyre" panose="02000503000000000000" charset="0"/>
                              <a:cs typeface="DejaVu Math TeX Gyre" panose="02000503000000000000" charset="0"/>
                            </a:rPr>
                          </m:ctrlPr>
                        </m:sSubPr>
                        <m:e>
                          <m:r>
                            <a:rPr sz="1700" b="1">
                              <a:solidFill>
                                <a:schemeClr val="tx1"/>
                              </a:solidFill>
                              <a:latin typeface="Times New Roman" panose="02020503050405090304"/>
                              <a:sym typeface="+mn-ea"/>
                            </a:rPr>
                            <m:t>𝛕</m:t>
                          </m:r>
                        </m:e>
                        <m:sub>
                          <m:r>
                            <a:rPr lang="en-US" sz="1700" b="1">
                              <a:solidFill>
                                <a:schemeClr val="tx1"/>
                              </a:solidFill>
                              <a:latin typeface="Times New Roman" panose="02020503050405090304"/>
                              <a:sym typeface="+mn-ea"/>
                            </a:rPr>
                            <m:t>𝐝𝐨</m:t>
                          </m:r>
                        </m:sub>
                      </m:sSub>
                      <m:r>
                        <a:rPr lang="en-US" sz="1700" b="1" i="1">
                          <a:solidFill>
                            <a:schemeClr val="tx1"/>
                          </a:solidFill>
                          <a:latin typeface="DejaVu Math TeX Gyre" panose="02000503000000000000" charset="0"/>
                          <a:cs typeface="DejaVu Math TeX Gyre" panose="02000503000000000000" charset="0"/>
                        </a:rPr>
                        <m:t>)</m:t>
                      </m:r>
                    </m:oMath>
                  </a14:m>
                  <a:r>
                    <a:rPr sz="1700" b="1">
                      <a:solidFill>
                        <a:schemeClr val="tx1"/>
                      </a:solidFill>
                      <a:latin typeface="Times New Roman" panose="02020503050405090304"/>
                    </a:rPr>
                    <a:t> </a:t>
                  </a:r>
                  <a:endParaRPr sz="1700" b="1">
                    <a:solidFill>
                      <a:schemeClr val="tx1"/>
                    </a:solidFill>
                    <a:latin typeface="Times New Roman" panose="02020503050405090304"/>
                  </a:endParaRPr>
                </a:p>
              </p:txBody>
            </p:sp>
          </mc:Choice>
          <mc:Fallback>
            <p:sp>
              <p:nvSpPr>
                <p:cNvPr id="82" name="TextBox 81"/>
                <p:cNvSpPr txBox="1">
                  <a:spLocks noRot="1" noChangeAspect="1" noMove="1" noResize="1" noEditPoints="1" noAdjustHandles="1" noChangeArrowheads="1" noChangeShapeType="1" noTextEdit="1"/>
                </p:cNvSpPr>
                <p:nvPr/>
              </p:nvSpPr>
              <p:spPr>
                <a:xfrm>
                  <a:off x="3600" y="9581"/>
                  <a:ext cx="6896" cy="557"/>
                </a:xfrm>
                <a:prstGeom prst="rect">
                  <a:avLst/>
                </a:prstGeom>
                <a:blipFill rotWithShape="1">
                  <a:blip r:embed="rId17"/>
                </a:blipFill>
              </p:spPr>
              <p:txBody>
                <a:bodyPr/>
                <a:lstStyle/>
                <a:p>
                  <a:r>
                    <a:rPr lang="zh-CN" altLang="en-US">
                      <a:noFill/>
                    </a:rPr>
                    <a:t> </a:t>
                  </a:r>
                </a:p>
              </p:txBody>
            </p:sp>
          </mc:Fallback>
        </mc:AlternateContent>
        <p:sp>
          <p:nvSpPr>
            <p:cNvPr id="83" name="TextBox 82"/>
            <p:cNvSpPr txBox="1"/>
            <p:nvPr/>
          </p:nvSpPr>
          <p:spPr>
            <a:xfrm>
              <a:off x="3384" y="10195"/>
              <a:ext cx="10800" cy="259"/>
            </a:xfrm>
            <a:prstGeom prst="rect">
              <a:avLst/>
            </a:prstGeom>
            <a:noFill/>
          </p:spPr>
          <p:txBody>
            <a:bodyPr wrap="none">
              <a:spAutoFit/>
            </a:bodyPr>
            <a:lstStyle/>
            <a:p>
              <a:r>
                <a:rPr sz="1000">
                  <a:solidFill>
                    <a:srgbClr val="787878"/>
                  </a:solidFill>
                  <a:latin typeface="Arial" panose="020B0604020202090204"/>
                </a:rPr>
                <a:t>Source: Bryan &amp; Morten (2019), Section II.C, pp. 2241–2244.</a:t>
              </a:r>
              <a:endParaRPr sz="1000">
                <a:solidFill>
                  <a:srgbClr val="787878"/>
                </a:solidFill>
                <a:latin typeface="Arial" panose="020B0604020202090204"/>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OD：45</a:t>
            </a:r>
            <a:r>
              <a:rPr lang="zh-CN" altLang="en-US" sz="2000" b="1">
                <a:solidFill>
                  <a:srgbClr val="711077"/>
                </a:solidFill>
                <a:latin typeface="微软雅黑"/>
              </a:rPr>
              <a:t>度</a:t>
            </a:r>
            <a:r>
              <a:rPr lang="zh-CN" altLang="en-US" sz="2000" b="1">
                <a:solidFill>
                  <a:srgbClr val="711077"/>
                </a:solidFill>
                <a:latin typeface="微软雅黑"/>
              </a:rPr>
              <a:t>线</a:t>
            </a:r>
            <a:endParaRPr lang="zh-CN" altLang="en-US" sz="2000" b="1">
              <a:solidFill>
                <a:srgbClr val="711077"/>
              </a:solidFill>
              <a:latin typeface="微软雅黑"/>
            </a:endParaRPr>
          </a:p>
        </p:txBody>
      </p:sp>
      <mc:AlternateContent xmlns:mc="http://schemas.openxmlformats.org/markup-compatibility/2006">
        <mc:Choice xmlns:a14="http://schemas.microsoft.com/office/drawing/2010/main" Requires="a14">
          <p:sp>
            <p:nvSpPr>
              <p:cNvPr id="7" name="文本框 6"/>
              <p:cNvSpPr txBox="1"/>
              <p:nvPr/>
            </p:nvSpPr>
            <p:spPr>
              <a:xfrm>
                <a:off x="7279005" y="1915160"/>
                <a:ext cx="6096000" cy="321945"/>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7279005" y="1915160"/>
                <a:ext cx="6096000" cy="321945"/>
              </a:xfrm>
              <a:prstGeom prst="rect">
                <a:avLst/>
              </a:prstGeom>
              <a:blipFill rotWithShape="1">
                <a:blip r:embed="rId2"/>
                <a:stretch>
                  <a:fillRect/>
                </a:stretch>
              </a:blipFill>
            </p:spPr>
            <p:txBody>
              <a:bodyPr/>
              <a:lstStyle/>
              <a:p>
                <a:r>
                  <a:rPr lang="zh-CN" altLang="en-US">
                    <a:noFill/>
                  </a:rPr>
                  <a:t> </a:t>
                </a:r>
              </a:p>
            </p:txBody>
          </p:sp>
        </mc:Fallback>
      </mc:AlternateContent>
      <p:sp>
        <p:nvSpPr>
          <p:cNvPr id="9"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OD：45</a:t>
            </a:r>
            <a:r>
              <a:rPr lang="zh-CN" altLang="en-US" sz="2000" b="1">
                <a:solidFill>
                  <a:srgbClr val="711077"/>
                </a:solidFill>
                <a:latin typeface="微软雅黑"/>
              </a:rPr>
              <a:t>度</a:t>
            </a:r>
            <a:r>
              <a:rPr lang="zh-CN" altLang="en-US" sz="2000" b="1">
                <a:solidFill>
                  <a:srgbClr val="711077"/>
                </a:solidFill>
                <a:latin typeface="微软雅黑"/>
              </a:rPr>
              <a:t>线</a:t>
            </a:r>
            <a:endParaRPr lang="zh-CN" altLang="en-US" sz="2000" b="1">
              <a:solidFill>
                <a:srgbClr val="711077"/>
              </a:solidFill>
              <a:latin typeface="微软雅黑"/>
            </a:endParaRPr>
          </a:p>
        </p:txBody>
      </p:sp>
      <mc:AlternateContent xmlns:mc="http://schemas.openxmlformats.org/markup-compatibility/2006">
        <mc:Choice xmlns:a14="http://schemas.microsoft.com/office/drawing/2010/main" Requires="a14">
          <p:sp>
            <p:nvSpPr>
              <p:cNvPr id="7" name="文本框 6"/>
              <p:cNvSpPr txBox="1"/>
              <p:nvPr/>
            </p:nvSpPr>
            <p:spPr>
              <a:xfrm>
                <a:off x="7279005" y="1915160"/>
                <a:ext cx="6096000" cy="321945"/>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7279005" y="1915160"/>
                <a:ext cx="6096000" cy="321945"/>
              </a:xfrm>
              <a:prstGeom prst="rect">
                <a:avLst/>
              </a:prstGeom>
              <a:blipFill rotWithShape="1">
                <a:blip r:embed="rId2"/>
                <a:stretch>
                  <a:fillRect/>
                </a:stretch>
              </a:blipFill>
            </p:spPr>
            <p:txBody>
              <a:bodyPr/>
              <a:lstStyle/>
              <a:p>
                <a:r>
                  <a:rPr lang="zh-CN" altLang="en-US">
                    <a:noFill/>
                  </a:rPr>
                  <a:t> </a:t>
                </a:r>
              </a:p>
            </p:txBody>
          </p:sp>
        </mc:Fallback>
      </mc:AlternateContent>
      <p:sp>
        <p:nvSpPr>
          <p:cNvPr id="9" name="弧形 8"/>
          <p:cNvSpPr/>
          <p:nvPr/>
        </p:nvSpPr>
        <p:spPr>
          <a:xfrm rot="1140000">
            <a:off x="2603500" y="2825115"/>
            <a:ext cx="3246755" cy="4373245"/>
          </a:xfrm>
          <a:prstGeom prst="arc">
            <a:avLst/>
          </a:prstGeom>
          <a:ln w="38100">
            <a:solidFill>
              <a:srgbClr val="69025E"/>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nvGrpSpPr>
          <p:cNvPr id="11" name="组合 10"/>
          <p:cNvGrpSpPr/>
          <p:nvPr/>
        </p:nvGrpSpPr>
        <p:grpSpPr>
          <a:xfrm>
            <a:off x="6991985" y="2351405"/>
            <a:ext cx="6096000" cy="327660"/>
            <a:chOff x="9352" y="3501"/>
            <a:chExt cx="9600" cy="516"/>
          </a:xfrm>
        </p:grpSpPr>
        <mc:AlternateContent xmlns:mc="http://schemas.openxmlformats.org/markup-compatibility/2006">
          <mc:Choice xmlns:a14="http://schemas.microsoft.com/office/drawing/2010/main" Requires="a14">
            <p:sp>
              <p:nvSpPr>
                <p:cNvPr id="10" name="文本框 9"/>
                <p:cNvSpPr txBox="1"/>
                <p:nvPr/>
              </p:nvSpPr>
              <p:spPr>
                <a:xfrm>
                  <a:off x="9352" y="3501"/>
                  <a:ext cx="9600" cy="507"/>
                </a:xfrm>
                <a:prstGeom prst="rect">
                  <a:avLst/>
                </a:prstGeom>
                <a:noFill/>
              </p:spPr>
              <p:txBody>
                <a:bodyPr wrap="square" rtlCol="0" anchor="t">
                  <a:spAutoFit/>
                </a:bodyPr>
                <a:p>
                  <a:pPr algn="l"/>
                  <a:r>
                    <a:rPr lang="en-US" altLang="en-US" sz="1500" b="1" i="1">
                      <a:solidFill>
                        <a:srgbClr val="711077"/>
                      </a:solidFill>
                      <a:latin typeface="DejaVu Math TeX Gyre" panose="02000503000000000000" charset="0"/>
                      <a:cs typeface="DejaVu Math TeX Gyre" panose="02000503000000000000" charset="0"/>
                    </a:rPr>
                    <a:t>Ⅲ Ⅳ</a:t>
                  </a:r>
                  <a:r>
                    <a:rPr lang="zh-CN" altLang="en-US" sz="1500" b="1" i="1">
                      <a:solidFill>
                        <a:srgbClr val="711077"/>
                      </a:solidFill>
                      <a:latin typeface="DejaVu Math TeX Gyre" panose="02000503000000000000" charset="0"/>
                      <a:cs typeface="DejaVu Math TeX Gyre" panose="02000503000000000000" charset="0"/>
                    </a:rPr>
                    <a:t>区域</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r>
                        <a:rPr lang="en-US" sz="1500" b="1" i="1">
                          <a:solidFill>
                            <a:srgbClr val="711077"/>
                          </a:solidFill>
                          <a:latin typeface="DejaVu Math TeX Gyre" panose="02000503000000000000" charset="0"/>
                          <a:cs typeface="DejaVu Math TeX Gyre" panose="02000503000000000000" charset="0"/>
                        </a:rPr>
                        <m:t>&gt;</m:t>
                      </m:r>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𝐴</m:t>
                          </m:r>
                        </m:sub>
                      </m:sSub>
                    </m:oMath>
                  </a14:m>
                  <a:endParaRPr lang="zh-CN" altLang="en-US" sz="1500" b="1" i="1">
                    <a:solidFill>
                      <a:srgbClr val="711077"/>
                    </a:solidFill>
                    <a:latin typeface="DejaVu Math TeX Gyre" panose="02000503000000000000" charset="0"/>
                    <a:cs typeface="DejaVu Math TeX Gyre" panose="02000503000000000000"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9352" y="3501"/>
                  <a:ext cx="9600" cy="507"/>
                </a:xfrm>
                <a:prstGeom prst="rect">
                  <a:avLst/>
                </a:prstGeom>
                <a:blipFill rotWithShape="1">
                  <a:blip r:embed="rId3"/>
                </a:blipFill>
              </p:spPr>
              <p:txBody>
                <a:bodyPr/>
                <a:lstStyle/>
                <a:p>
                  <a:r>
                    <a:rPr lang="zh-CN" altLang="en-US">
                      <a:noFill/>
                    </a:rPr>
                    <a:t> </a:t>
                  </a:r>
                </a:p>
              </p:txBody>
            </p:sp>
          </mc:Fallback>
        </mc:AlternateContent>
        <p:sp>
          <p:nvSpPr>
            <p:cNvPr id="68" name="TextBox 67"/>
            <p:cNvSpPr txBox="1"/>
            <p:nvPr/>
          </p:nvSpPr>
          <p:spPr>
            <a:xfrm>
              <a:off x="12539" y="3583"/>
              <a:ext cx="3226" cy="434"/>
            </a:xfrm>
            <a:prstGeom prst="rect">
              <a:avLst/>
            </a:prstGeom>
            <a:noFill/>
          </p:spPr>
          <p:txBody>
            <a:bodyPr wrap="square">
              <a:spAutoFit/>
            </a:bodyPr>
            <a:lstStyle/>
            <a:p>
              <a:r>
                <a:rPr lang="zh-CN" sz="1200">
                  <a:solidFill>
                    <a:srgbClr val="232323"/>
                  </a:solidFill>
                  <a:latin typeface="微软雅黑"/>
                </a:rPr>
                <a:t>在</a:t>
              </a:r>
              <a:r>
                <a:rPr lang="en-US" altLang="zh-CN" sz="1200">
                  <a:solidFill>
                    <a:srgbClr val="232323"/>
                  </a:solidFill>
                  <a:latin typeface="微软雅黑"/>
                </a:rPr>
                <a:t>B</a:t>
              </a:r>
              <a:r>
                <a:rPr lang="zh-CN" altLang="en-US" sz="1200">
                  <a:solidFill>
                    <a:srgbClr val="232323"/>
                  </a:solidFill>
                  <a:latin typeface="微软雅黑"/>
                </a:rPr>
                <a:t>地区生产率</a:t>
              </a:r>
              <a:r>
                <a:rPr lang="zh-CN" altLang="en-US" sz="1200">
                  <a:solidFill>
                    <a:srgbClr val="232323"/>
                  </a:solidFill>
                  <a:latin typeface="微软雅黑"/>
                </a:rPr>
                <a:t>更高</a:t>
              </a:r>
              <a:endParaRPr lang="zh-CN" altLang="en-US" sz="1200">
                <a:solidFill>
                  <a:srgbClr val="232323"/>
                </a:solidFill>
                <a:latin typeface="微软雅黑"/>
              </a:endParaRPr>
            </a:p>
          </p:txBody>
        </p:sp>
      </p:grpSp>
      <mc:AlternateContent xmlns:mc="http://schemas.openxmlformats.org/markup-compatibility/2006">
        <mc:Choice xmlns:a14="http://schemas.microsoft.com/office/drawing/2010/main" Requires="a14">
          <p:sp>
            <p:nvSpPr>
              <p:cNvPr id="18" name="文本框 17"/>
              <p:cNvSpPr txBox="1"/>
              <p:nvPr/>
            </p:nvSpPr>
            <p:spPr>
              <a:xfrm>
                <a:off x="6991985" y="2675890"/>
                <a:ext cx="6096000" cy="321945"/>
              </a:xfrm>
              <a:prstGeom prst="rect">
                <a:avLst/>
              </a:prstGeom>
              <a:noFill/>
            </p:spPr>
            <p:txBody>
              <a:bodyPr wrap="square" rtlCol="0" anchor="t">
                <a:spAutoFit/>
              </a:bodyPr>
              <a:p>
                <a:r>
                  <a:rPr lang="en-US" altLang="en-US" sz="1500" b="1" i="1">
                    <a:solidFill>
                      <a:srgbClr val="711077"/>
                    </a:solidFill>
                    <a:latin typeface="DejaVu Math TeX Gyre" panose="02000503000000000000" charset="0"/>
                    <a:cs typeface="DejaVu Math TeX Gyre" panose="02000503000000000000" charset="0"/>
                    <a:sym typeface="+mn-ea"/>
                  </a:rPr>
                  <a:t>Ⅰ Ⅱ</a:t>
                </a:r>
                <a:r>
                  <a:rPr lang="zh-CN" altLang="en-US" sz="1500" b="1" i="1">
                    <a:solidFill>
                      <a:srgbClr val="711077"/>
                    </a:solidFill>
                    <a:latin typeface="DejaVu Math TeX Gyre" panose="02000503000000000000" charset="0"/>
                    <a:cs typeface="DejaVu Math TeX Gyre" panose="02000503000000000000" charset="0"/>
                    <a:sym typeface="+mn-ea"/>
                  </a:rPr>
                  <a:t>区域</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r>
                      <a:rPr lang="en-US" sz="1500" b="1" i="1">
                        <a:solidFill>
                          <a:srgbClr val="711077"/>
                        </a:solidFill>
                        <a:latin typeface="DejaVu Math TeX Gyre" panose="02000503000000000000" charset="0"/>
                        <a:cs typeface="DejaVu Math TeX Gyre" panose="02000503000000000000" charset="0"/>
                      </a:rPr>
                      <m:t>&lt;</m:t>
                    </m:r>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18" name="文本框 17"/>
              <p:cNvSpPr txBox="1">
                <a:spLocks noRot="1" noChangeAspect="1" noMove="1" noResize="1" noEditPoints="1" noAdjustHandles="1" noChangeArrowheads="1" noChangeShapeType="1" noTextEdit="1"/>
              </p:cNvSpPr>
              <p:nvPr/>
            </p:nvSpPr>
            <p:spPr>
              <a:xfrm>
                <a:off x="6991985" y="2675890"/>
                <a:ext cx="6096000" cy="321945"/>
              </a:xfrm>
              <a:prstGeom prst="rect">
                <a:avLst/>
              </a:prstGeom>
              <a:blipFill rotWithShape="1">
                <a:blip r:embed="rId4"/>
                <a:stretch>
                  <a:fillRect/>
                </a:stretch>
              </a:blipFill>
            </p:spPr>
            <p:txBody>
              <a:bodyPr/>
              <a:lstStyle/>
              <a:p>
                <a:r>
                  <a:rPr lang="zh-CN" altLang="en-US">
                    <a:noFill/>
                  </a:rPr>
                  <a:t> </a:t>
                </a:r>
              </a:p>
            </p:txBody>
          </p:sp>
        </mc:Fallback>
      </mc:AlternateContent>
      <p:sp>
        <p:nvSpPr>
          <p:cNvPr id="19" name="TextBox 67"/>
          <p:cNvSpPr txBox="1"/>
          <p:nvPr/>
        </p:nvSpPr>
        <p:spPr>
          <a:xfrm>
            <a:off x="9015730" y="2732405"/>
            <a:ext cx="2048510" cy="275590"/>
          </a:xfrm>
          <a:prstGeom prst="rect">
            <a:avLst/>
          </a:prstGeom>
          <a:noFill/>
        </p:spPr>
        <p:txBody>
          <a:bodyPr wrap="square">
            <a:spAutoFit/>
          </a:bodyPr>
          <a:lstStyle/>
          <a:p>
            <a:r>
              <a:rPr lang="zh-CN" sz="1200">
                <a:solidFill>
                  <a:srgbClr val="232323"/>
                </a:solidFill>
                <a:latin typeface="微软雅黑"/>
              </a:rPr>
              <a:t>在</a:t>
            </a:r>
            <a:r>
              <a:rPr lang="en-US" altLang="zh-CN" sz="1200">
                <a:solidFill>
                  <a:srgbClr val="232323"/>
                </a:solidFill>
                <a:latin typeface="微软雅黑"/>
              </a:rPr>
              <a:t>A</a:t>
            </a:r>
            <a:r>
              <a:rPr lang="zh-CN" altLang="en-US" sz="1200">
                <a:solidFill>
                  <a:srgbClr val="232323"/>
                </a:solidFill>
                <a:latin typeface="微软雅黑"/>
              </a:rPr>
              <a:t>地区生产率</a:t>
            </a:r>
            <a:r>
              <a:rPr lang="zh-CN" altLang="en-US" sz="1200">
                <a:solidFill>
                  <a:srgbClr val="232323"/>
                </a:solidFill>
                <a:latin typeface="微软雅黑"/>
              </a:rPr>
              <a:t>更高</a:t>
            </a:r>
            <a:endParaRPr lang="zh-CN" altLang="en-US" sz="1200">
              <a:solidFill>
                <a:srgbClr val="232323"/>
              </a:solidFill>
              <a:latin typeface="微软雅黑"/>
            </a:endParaRPr>
          </a:p>
        </p:txBody>
      </p:sp>
      <p:sp>
        <p:nvSpPr>
          <p:cNvPr id="20"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mc:AlternateContent xmlns:mc="http://schemas.openxmlformats.org/markup-compatibility/2006">
        <mc:Choice xmlns:a14="http://schemas.microsoft.com/office/drawing/2010/main" Requires="a14">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OE：</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𝑨</m:t>
                            </m:r>
                          </m:sub>
                        </m:sSub>
                      </m:den>
                    </m:f>
                  </m:oMath>
                </a14:m>
                <a:endParaRPr lang="zh-CN" altLang="en-US" sz="2000" b="1">
                  <a:solidFill>
                    <a:srgbClr val="711077"/>
                  </a:solidFill>
                  <a:latin typeface="微软雅黑"/>
                </a:endParaRPr>
              </a:p>
            </p:txBody>
          </p:sp>
        </mc:Choice>
        <mc:Fallback>
          <p:sp>
            <p:nvSpPr>
              <p:cNvPr id="3" name="Rectangle 63"/>
              <p:cNvSpPr>
                <a:spLocks noRot="1" noChangeAspect="1" noMove="1" noResize="1" noEditPoints="1" noAdjustHandles="1" noChangeArrowheads="1" noChangeShapeType="1" noTextEdit="1"/>
              </p:cNvSpPr>
              <p:nvPr/>
            </p:nvSpPr>
            <p:spPr>
              <a:xfrm>
                <a:off x="6967220" y="1376680"/>
                <a:ext cx="1762760" cy="347345"/>
              </a:xfrm>
              <a:prstGeom prst="rect">
                <a:avLst/>
              </a:prstGeom>
              <a:blipFill rotWithShape="1">
                <a:blip r:embed="rId2"/>
                <a:stretch>
                  <a:fillRect t="-21207" b="-21572"/>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p:sp>
        <p:nvSpPr>
          <p:cNvPr id="20"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mc:AlternateContent xmlns:mc="http://schemas.openxmlformats.org/markup-compatibility/2006">
        <mc:Choice xmlns:a14="http://schemas.microsoft.com/office/drawing/2010/main" Requires="a14">
          <p:sp>
            <p:nvSpPr>
              <p:cNvPr id="6" name="文本框 5"/>
              <p:cNvSpPr txBox="1"/>
              <p:nvPr/>
            </p:nvSpPr>
            <p:spPr>
              <a:xfrm>
                <a:off x="6254115" y="2164715"/>
                <a:ext cx="6096000" cy="321945"/>
              </a:xfrm>
              <a:prstGeom prst="rect">
                <a:avLst/>
              </a:prstGeom>
              <a:noFill/>
            </p:spPr>
            <p:txBody>
              <a:bodyPr wrap="square" rtlCol="0" anchor="t">
                <a:spAutoFit/>
              </a:bodyPr>
              <a:p>
                <a:r>
                  <a:rPr lang="zh-CN" sz="1500" b="1">
                    <a:solidFill>
                      <a:srgbClr val="711077"/>
                    </a:solidFill>
                    <a:latin typeface="Times New Roman" panose="02020503050405090304"/>
                    <a:sym typeface="+mn-ea"/>
                  </a:rPr>
                  <a:t>假设</a:t>
                </a:r>
                <a:r>
                  <a:rPr lang="en-US" altLang="zh-CN" sz="1500" b="1">
                    <a:solidFill>
                      <a:srgbClr val="711077"/>
                    </a:solidFill>
                    <a:latin typeface="Times New Roman" panose="02020503050405090304"/>
                    <a:sym typeface="+mn-ea"/>
                  </a:rPr>
                  <a:t>AB</a:t>
                </a:r>
                <a:r>
                  <a:rPr lang="zh-CN" altLang="en-US" sz="1500" b="1">
                    <a:solidFill>
                      <a:srgbClr val="711077"/>
                    </a:solidFill>
                    <a:latin typeface="Times New Roman" panose="02020503050405090304"/>
                    <a:sym typeface="+mn-ea"/>
                  </a:rPr>
                  <a:t>两地工资相等</a:t>
                </a:r>
                <a:r>
                  <a:rPr lang="en-US" altLang="zh-CN" sz="1500" b="1">
                    <a:solidFill>
                      <a:srgbClr val="711077"/>
                    </a:solidFill>
                    <a:latin typeface="Times New Roman" panose="02020503050405090304"/>
                    <a:sym typeface="+mn-ea"/>
                  </a:rPr>
                  <a:t>，</a:t>
                </a:r>
                <a:r>
                  <a:rPr lang="zh-CN" sz="1500" b="1">
                    <a:solidFill>
                      <a:srgbClr val="711077"/>
                    </a:solidFill>
                    <a:latin typeface="Times New Roman" panose="02020503050405090304"/>
                    <a:sym typeface="+mn-ea"/>
                  </a:rPr>
                  <a:t>则</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r>
                          <a:rPr lang="en-US" altLang="en-US" sz="1500" b="1" i="1">
                            <a:solidFill>
                              <a:srgbClr val="711077"/>
                            </a:solidFill>
                            <a:latin typeface="DejaVu Math TeX Gyre" panose="02000503000000000000" charset="0"/>
                            <a:cs typeface="DejaVu Math TeX Gyre" panose="02000503000000000000" charset="0"/>
                          </a:rPr>
                          <m:t> </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254115" y="2164715"/>
                <a:ext cx="6096000" cy="32194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mc:AlternateContent xmlns:mc="http://schemas.openxmlformats.org/markup-compatibility/2006">
        <mc:Choice xmlns:a14="http://schemas.microsoft.com/office/drawing/2010/main" Requires="a14">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OE：</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𝑨</m:t>
                            </m:r>
                          </m:sub>
                        </m:sSub>
                      </m:den>
                    </m:f>
                  </m:oMath>
                </a14:m>
                <a:endParaRPr lang="zh-CN" altLang="en-US" sz="2000" b="1">
                  <a:solidFill>
                    <a:srgbClr val="711077"/>
                  </a:solidFill>
                  <a:latin typeface="微软雅黑"/>
                </a:endParaRPr>
              </a:p>
            </p:txBody>
          </p:sp>
        </mc:Choice>
        <mc:Fallback>
          <p:sp>
            <p:nvSpPr>
              <p:cNvPr id="3" name="Rectangle 63"/>
              <p:cNvSpPr>
                <a:spLocks noRot="1" noChangeAspect="1" noMove="1" noResize="1" noEditPoints="1" noAdjustHandles="1" noChangeArrowheads="1" noChangeShapeType="1" noTextEdit="1"/>
              </p:cNvSpPr>
              <p:nvPr/>
            </p:nvSpPr>
            <p:spPr>
              <a:xfrm>
                <a:off x="6967220" y="1376680"/>
                <a:ext cx="1762760" cy="347345"/>
              </a:xfrm>
              <a:prstGeom prst="rect">
                <a:avLst/>
              </a:prstGeom>
              <a:blipFill rotWithShape="1">
                <a:blip r:embed="rId2"/>
                <a:stretch>
                  <a:fillRect t="-21207" b="-21572"/>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7279005" y="2812415"/>
                <a:ext cx="6096000" cy="429260"/>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altLang="zh-CN" sz="1500" b="1" i="1">
                            <a:solidFill>
                              <a:srgbClr val="711077"/>
                            </a:solidFill>
                            <a:latin typeface="DejaVu Math TeX Gyre" panose="02000503000000000000" charset="0"/>
                            <a:cs typeface="DejaVu Math TeX Gyre" panose="02000503000000000000" charset="0"/>
                          </a:rPr>
                          <m:t>∴</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f>
                          <m:fPr>
                            <m:ctrlPr>
                              <a:rPr lang="en-US" sz="1500" b="1" i="1">
                                <a:solidFill>
                                  <a:srgbClr val="711077"/>
                                </a:solidFill>
                                <a:latin typeface="DejaVu Math TeX Gyre" panose="02000503000000000000" charset="0"/>
                                <a:cs typeface="DejaVu Math TeX Gyre" panose="02000503000000000000" charset="0"/>
                              </a:rPr>
                            </m:ctrlPr>
                          </m:fPr>
                          <m:num>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num>
                          <m:den>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den>
                        </m:f>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7279005" y="2812415"/>
                <a:ext cx="6096000" cy="429260"/>
              </a:xfrm>
              <a:prstGeom prst="rect">
                <a:avLst/>
              </a:prstGeom>
              <a:blipFill rotWithShape="1">
                <a:blip r:embed="rId3"/>
                <a:stretch>
                  <a:fillRect/>
                </a:stretch>
              </a:blipFill>
            </p:spPr>
            <p:txBody>
              <a:bodyPr/>
              <a:lstStyle/>
              <a:p>
                <a:r>
                  <a:rPr lang="zh-CN" altLang="en-US">
                    <a:noFill/>
                  </a:rPr>
                  <a:t> </a:t>
                </a:r>
              </a:p>
            </p:txBody>
          </p:sp>
        </mc:Fallback>
      </mc:AlternateContent>
      <p:sp>
        <p:nvSpPr>
          <p:cNvPr id="20"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mc:AlternateContent xmlns:mc="http://schemas.openxmlformats.org/markup-compatibility/2006">
        <mc:Choice xmlns:a14="http://schemas.microsoft.com/office/drawing/2010/main" Requires="a14">
          <p:sp>
            <p:nvSpPr>
              <p:cNvPr id="6" name="文本框 5"/>
              <p:cNvSpPr txBox="1"/>
              <p:nvPr/>
            </p:nvSpPr>
            <p:spPr>
              <a:xfrm>
                <a:off x="6254115" y="2164715"/>
                <a:ext cx="6096000" cy="321945"/>
              </a:xfrm>
              <a:prstGeom prst="rect">
                <a:avLst/>
              </a:prstGeom>
              <a:noFill/>
            </p:spPr>
            <p:txBody>
              <a:bodyPr wrap="square" rtlCol="0" anchor="t">
                <a:spAutoFit/>
              </a:bodyPr>
              <a:p>
                <a:r>
                  <a:rPr lang="zh-CN" sz="1500" b="1">
                    <a:solidFill>
                      <a:srgbClr val="711077"/>
                    </a:solidFill>
                    <a:latin typeface="Times New Roman" panose="02020503050405090304"/>
                    <a:sym typeface="+mn-ea"/>
                  </a:rPr>
                  <a:t>假设</a:t>
                </a:r>
                <a:r>
                  <a:rPr lang="en-US" altLang="zh-CN" sz="1500" b="1">
                    <a:solidFill>
                      <a:srgbClr val="711077"/>
                    </a:solidFill>
                    <a:latin typeface="Times New Roman" panose="02020503050405090304"/>
                    <a:sym typeface="+mn-ea"/>
                  </a:rPr>
                  <a:t>AB</a:t>
                </a:r>
                <a:r>
                  <a:rPr lang="zh-CN" altLang="en-US" sz="1500" b="1">
                    <a:solidFill>
                      <a:srgbClr val="711077"/>
                    </a:solidFill>
                    <a:latin typeface="Times New Roman" panose="02020503050405090304"/>
                    <a:sym typeface="+mn-ea"/>
                  </a:rPr>
                  <a:t>两地工资相等</a:t>
                </a:r>
                <a:r>
                  <a:rPr lang="en-US" altLang="zh-CN" sz="1500" b="1">
                    <a:solidFill>
                      <a:srgbClr val="711077"/>
                    </a:solidFill>
                    <a:latin typeface="Times New Roman" panose="02020503050405090304"/>
                    <a:sym typeface="+mn-ea"/>
                  </a:rPr>
                  <a:t>，</a:t>
                </a:r>
                <a:r>
                  <a:rPr lang="zh-CN" sz="1500" b="1">
                    <a:solidFill>
                      <a:srgbClr val="711077"/>
                    </a:solidFill>
                    <a:latin typeface="Times New Roman" panose="02020503050405090304"/>
                    <a:sym typeface="+mn-ea"/>
                  </a:rPr>
                  <a:t>则</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r>
                          <a:rPr lang="en-US" altLang="en-US" sz="1500" b="1" i="1">
                            <a:solidFill>
                              <a:srgbClr val="711077"/>
                            </a:solidFill>
                            <a:latin typeface="DejaVu Math TeX Gyre" panose="02000503000000000000" charset="0"/>
                            <a:cs typeface="DejaVu Math TeX Gyre" panose="02000503000000000000" charset="0"/>
                          </a:rPr>
                          <m:t> </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254115" y="2164715"/>
                <a:ext cx="6096000" cy="321945"/>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mc:AlternateContent xmlns:mc="http://schemas.openxmlformats.org/markup-compatibility/2006">
        <mc:Choice xmlns:a14="http://schemas.microsoft.com/office/drawing/2010/main" Requires="a14">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OE：</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𝑨</m:t>
                            </m:r>
                          </m:sub>
                        </m:sSub>
                      </m:den>
                    </m:f>
                  </m:oMath>
                </a14:m>
                <a:endParaRPr lang="zh-CN" altLang="en-US" sz="2000" b="1">
                  <a:solidFill>
                    <a:srgbClr val="711077"/>
                  </a:solidFill>
                  <a:latin typeface="微软雅黑"/>
                </a:endParaRPr>
              </a:p>
            </p:txBody>
          </p:sp>
        </mc:Choice>
        <mc:Fallback>
          <p:sp>
            <p:nvSpPr>
              <p:cNvPr id="3" name="Rectangle 63"/>
              <p:cNvSpPr>
                <a:spLocks noRot="1" noChangeAspect="1" noMove="1" noResize="1" noEditPoints="1" noAdjustHandles="1" noChangeArrowheads="1" noChangeShapeType="1" noTextEdit="1"/>
              </p:cNvSpPr>
              <p:nvPr/>
            </p:nvSpPr>
            <p:spPr>
              <a:xfrm>
                <a:off x="6967220" y="1376680"/>
                <a:ext cx="1762760" cy="347345"/>
              </a:xfrm>
              <a:prstGeom prst="rect">
                <a:avLst/>
              </a:prstGeom>
              <a:blipFill rotWithShape="1">
                <a:blip r:embed="rId2"/>
                <a:stretch>
                  <a:fillRect t="-21207" b="-21572"/>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279005" y="3300730"/>
                <a:ext cx="6096000" cy="321945"/>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altLang="zh-CN" sz="1500" b="1" i="1">
                            <a:solidFill>
                              <a:srgbClr val="711077"/>
                            </a:solidFill>
                            <a:latin typeface="DejaVu Math TeX Gyre" panose="02000503000000000000" charset="0"/>
                            <a:cs typeface="DejaVu Math TeX Gyre" panose="02000503000000000000" charset="0"/>
                          </a:rPr>
                          <m:t>∵</m:t>
                        </m:r>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oMath>
                </a14:m>
                <a:r>
                  <a:rPr sz="1500" b="1">
                    <a:solidFill>
                      <a:srgbClr val="711077"/>
                    </a:solidFill>
                    <a:latin typeface="Times New Roman" panose="02020503050405090304"/>
                    <a:sym typeface="+mn-ea"/>
                  </a:rPr>
                  <a:t> &gt; </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oMath>
                </a14:m>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7279005" y="3300730"/>
                <a:ext cx="6096000" cy="321945"/>
              </a:xfrm>
              <a:prstGeom prst="rect">
                <a:avLst/>
              </a:prstGeom>
              <a:blipFill rotWithShape="1">
                <a:blip r:embed="rId3"/>
                <a:stretch>
                  <a:fillRect/>
                </a:stretch>
              </a:blipFill>
            </p:spPr>
            <p:txBody>
              <a:bodyPr/>
              <a:lstStyle/>
              <a:p>
                <a:r>
                  <a:rPr lang="zh-CN" altLang="en-US">
                    <a:noFill/>
                  </a:rPr>
                  <a:t> </a:t>
                </a:r>
              </a:p>
            </p:txBody>
          </p:sp>
        </mc:Fallback>
      </mc:AlternateContent>
      <p:sp>
        <p:nvSpPr>
          <p:cNvPr id="20"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mc:AlternateContent xmlns:mc="http://schemas.openxmlformats.org/markup-compatibility/2006">
        <mc:Choice xmlns:a14="http://schemas.microsoft.com/office/drawing/2010/main" Requires="a14">
          <p:sp>
            <p:nvSpPr>
              <p:cNvPr id="7" name="文本框 6"/>
              <p:cNvSpPr txBox="1"/>
              <p:nvPr/>
            </p:nvSpPr>
            <p:spPr>
              <a:xfrm>
                <a:off x="6254115" y="2164715"/>
                <a:ext cx="6096000" cy="321945"/>
              </a:xfrm>
              <a:prstGeom prst="rect">
                <a:avLst/>
              </a:prstGeom>
              <a:noFill/>
            </p:spPr>
            <p:txBody>
              <a:bodyPr wrap="square" rtlCol="0" anchor="t">
                <a:spAutoFit/>
              </a:bodyPr>
              <a:p>
                <a:r>
                  <a:rPr lang="zh-CN" sz="1500" b="1">
                    <a:solidFill>
                      <a:srgbClr val="711077"/>
                    </a:solidFill>
                    <a:latin typeface="Times New Roman" panose="02020503050405090304"/>
                    <a:sym typeface="+mn-ea"/>
                  </a:rPr>
                  <a:t>假设</a:t>
                </a:r>
                <a:r>
                  <a:rPr lang="en-US" altLang="zh-CN" sz="1500" b="1">
                    <a:solidFill>
                      <a:srgbClr val="711077"/>
                    </a:solidFill>
                    <a:latin typeface="Times New Roman" panose="02020503050405090304"/>
                    <a:sym typeface="+mn-ea"/>
                  </a:rPr>
                  <a:t>AB</a:t>
                </a:r>
                <a:r>
                  <a:rPr lang="zh-CN" altLang="en-US" sz="1500" b="1">
                    <a:solidFill>
                      <a:srgbClr val="711077"/>
                    </a:solidFill>
                    <a:latin typeface="Times New Roman" panose="02020503050405090304"/>
                    <a:sym typeface="+mn-ea"/>
                  </a:rPr>
                  <a:t>两地工资相等</a:t>
                </a:r>
                <a:r>
                  <a:rPr lang="en-US" altLang="zh-CN" sz="1500" b="1">
                    <a:solidFill>
                      <a:srgbClr val="711077"/>
                    </a:solidFill>
                    <a:latin typeface="Times New Roman" panose="02020503050405090304"/>
                    <a:sym typeface="+mn-ea"/>
                  </a:rPr>
                  <a:t>，</a:t>
                </a:r>
                <a:r>
                  <a:rPr lang="zh-CN" sz="1500" b="1">
                    <a:solidFill>
                      <a:srgbClr val="711077"/>
                    </a:solidFill>
                    <a:latin typeface="Times New Roman" panose="02020503050405090304"/>
                    <a:sym typeface="+mn-ea"/>
                  </a:rPr>
                  <a:t>则</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r>
                          <a:rPr lang="en-US" altLang="en-US" sz="1500" b="1" i="1">
                            <a:solidFill>
                              <a:srgbClr val="711077"/>
                            </a:solidFill>
                            <a:latin typeface="DejaVu Math TeX Gyre" panose="02000503000000000000" charset="0"/>
                            <a:cs typeface="DejaVu Math TeX Gyre" panose="02000503000000000000" charset="0"/>
                          </a:rPr>
                          <m:t> </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6254115" y="2164715"/>
                <a:ext cx="6096000" cy="32194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7279005" y="2812415"/>
                <a:ext cx="6096000" cy="429260"/>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altLang="zh-CN" sz="1500" b="1" i="1">
                            <a:solidFill>
                              <a:srgbClr val="711077"/>
                            </a:solidFill>
                            <a:latin typeface="DejaVu Math TeX Gyre" panose="02000503000000000000" charset="0"/>
                            <a:cs typeface="DejaVu Math TeX Gyre" panose="02000503000000000000" charset="0"/>
                          </a:rPr>
                          <m:t>∴</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f>
                          <m:fPr>
                            <m:ctrlPr>
                              <a:rPr lang="en-US" sz="1500" b="1" i="1">
                                <a:solidFill>
                                  <a:srgbClr val="711077"/>
                                </a:solidFill>
                                <a:latin typeface="DejaVu Math TeX Gyre" panose="02000503000000000000" charset="0"/>
                                <a:cs typeface="DejaVu Math TeX Gyre" panose="02000503000000000000" charset="0"/>
                              </a:rPr>
                            </m:ctrlPr>
                          </m:fPr>
                          <m:num>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num>
                          <m:den>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den>
                        </m:f>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7279005" y="2812415"/>
                <a:ext cx="6096000" cy="42926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mc:AlternateContent xmlns:mc="http://schemas.openxmlformats.org/markup-compatibility/2006">
        <mc:Choice xmlns:a14="http://schemas.microsoft.com/office/drawing/2010/main" Requires="a14">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OE：</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𝑨</m:t>
                            </m:r>
                          </m:sub>
                        </m:sSub>
                      </m:den>
                    </m:f>
                  </m:oMath>
                </a14:m>
                <a:endParaRPr lang="zh-CN" altLang="en-US" sz="2000" b="1">
                  <a:solidFill>
                    <a:srgbClr val="711077"/>
                  </a:solidFill>
                  <a:latin typeface="微软雅黑"/>
                </a:endParaRPr>
              </a:p>
            </p:txBody>
          </p:sp>
        </mc:Choice>
        <mc:Fallback>
          <p:sp>
            <p:nvSpPr>
              <p:cNvPr id="3" name="Rectangle 63"/>
              <p:cNvSpPr>
                <a:spLocks noRot="1" noChangeAspect="1" noMove="1" noResize="1" noEditPoints="1" noAdjustHandles="1" noChangeArrowheads="1" noChangeShapeType="1" noTextEdit="1"/>
              </p:cNvSpPr>
              <p:nvPr/>
            </p:nvSpPr>
            <p:spPr>
              <a:xfrm>
                <a:off x="6967220" y="1376680"/>
                <a:ext cx="1762760" cy="347345"/>
              </a:xfrm>
              <a:prstGeom prst="rect">
                <a:avLst/>
              </a:prstGeom>
              <a:blipFill rotWithShape="1">
                <a:blip r:embed="rId2"/>
                <a:stretch>
                  <a:fillRect t="-21207" b="-21572"/>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279005" y="3300730"/>
                <a:ext cx="6096000" cy="321945"/>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altLang="zh-CN" sz="1500" b="1" i="1">
                            <a:solidFill>
                              <a:srgbClr val="711077"/>
                            </a:solidFill>
                            <a:latin typeface="DejaVu Math TeX Gyre" panose="02000503000000000000" charset="0"/>
                            <a:cs typeface="DejaVu Math TeX Gyre" panose="02000503000000000000" charset="0"/>
                          </a:rPr>
                          <m:t>∵</m:t>
                        </m:r>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oMath>
                </a14:m>
                <a:r>
                  <a:rPr sz="1500" b="1">
                    <a:solidFill>
                      <a:srgbClr val="711077"/>
                    </a:solidFill>
                    <a:latin typeface="Times New Roman" panose="02020503050405090304"/>
                    <a:sym typeface="+mn-ea"/>
                  </a:rPr>
                  <a:t> &gt; </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oMath>
                </a14:m>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7279005" y="3300730"/>
                <a:ext cx="6096000" cy="32194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7279005" y="2812415"/>
                <a:ext cx="6096000" cy="429260"/>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altLang="zh-CN" sz="1500" b="1" i="1">
                            <a:solidFill>
                              <a:srgbClr val="711077"/>
                            </a:solidFill>
                            <a:latin typeface="DejaVu Math TeX Gyre" panose="02000503000000000000" charset="0"/>
                            <a:cs typeface="DejaVu Math TeX Gyre" panose="02000503000000000000" charset="0"/>
                          </a:rPr>
                          <m:t>∴</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f>
                          <m:fPr>
                            <m:ctrlPr>
                              <a:rPr lang="en-US" sz="1500" b="1" i="1">
                                <a:solidFill>
                                  <a:srgbClr val="711077"/>
                                </a:solidFill>
                                <a:latin typeface="DejaVu Math TeX Gyre" panose="02000503000000000000" charset="0"/>
                                <a:cs typeface="DejaVu Math TeX Gyre" panose="02000503000000000000" charset="0"/>
                              </a:rPr>
                            </m:ctrlPr>
                          </m:fPr>
                          <m:num>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num>
                          <m:den>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den>
                        </m:f>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7279005" y="2812415"/>
                <a:ext cx="6096000" cy="429260"/>
              </a:xfrm>
              <a:prstGeom prst="rect">
                <a:avLst/>
              </a:prstGeom>
              <a:blipFill rotWithShape="1">
                <a:blip r:embed="rId4"/>
                <a:stretch>
                  <a:fillRect/>
                </a:stretch>
              </a:blipFill>
            </p:spPr>
            <p:txBody>
              <a:bodyPr/>
              <a:lstStyle/>
              <a:p>
                <a:r>
                  <a:rPr lang="zh-CN" altLang="en-US">
                    <a:noFill/>
                  </a:rPr>
                  <a:t> </a:t>
                </a:r>
              </a:p>
            </p:txBody>
          </p:sp>
        </mc:Fallback>
      </mc:AlternateContent>
      <p:sp>
        <p:nvSpPr>
          <p:cNvPr id="20"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mc:AlternateContent xmlns:mc="http://schemas.openxmlformats.org/markup-compatibility/2006">
        <mc:Choice xmlns:a14="http://schemas.microsoft.com/office/drawing/2010/main" Requires="a14">
          <p:sp>
            <p:nvSpPr>
              <p:cNvPr id="6" name="文本框 5"/>
              <p:cNvSpPr txBox="1"/>
              <p:nvPr/>
            </p:nvSpPr>
            <p:spPr>
              <a:xfrm>
                <a:off x="6254115" y="2164715"/>
                <a:ext cx="6096000" cy="321945"/>
              </a:xfrm>
              <a:prstGeom prst="rect">
                <a:avLst/>
              </a:prstGeom>
              <a:noFill/>
            </p:spPr>
            <p:txBody>
              <a:bodyPr wrap="square" rtlCol="0" anchor="t">
                <a:spAutoFit/>
              </a:bodyPr>
              <a:p>
                <a:r>
                  <a:rPr lang="zh-CN" sz="1500" b="1">
                    <a:solidFill>
                      <a:srgbClr val="711077"/>
                    </a:solidFill>
                    <a:latin typeface="Times New Roman" panose="02020503050405090304"/>
                    <a:sym typeface="+mn-ea"/>
                  </a:rPr>
                  <a:t>假设</a:t>
                </a:r>
                <a:r>
                  <a:rPr lang="en-US" altLang="zh-CN" sz="1500" b="1">
                    <a:solidFill>
                      <a:srgbClr val="711077"/>
                    </a:solidFill>
                    <a:latin typeface="Times New Roman" panose="02020503050405090304"/>
                    <a:sym typeface="+mn-ea"/>
                  </a:rPr>
                  <a:t>AB</a:t>
                </a:r>
                <a:r>
                  <a:rPr lang="zh-CN" altLang="en-US" sz="1500" b="1">
                    <a:solidFill>
                      <a:srgbClr val="711077"/>
                    </a:solidFill>
                    <a:latin typeface="Times New Roman" panose="02020503050405090304"/>
                    <a:sym typeface="+mn-ea"/>
                  </a:rPr>
                  <a:t>两地工资相等</a:t>
                </a:r>
                <a:r>
                  <a:rPr lang="en-US" altLang="zh-CN" sz="1500" b="1">
                    <a:solidFill>
                      <a:srgbClr val="711077"/>
                    </a:solidFill>
                    <a:latin typeface="Times New Roman" panose="02020503050405090304"/>
                    <a:sym typeface="+mn-ea"/>
                  </a:rPr>
                  <a:t>，</a:t>
                </a:r>
                <a:r>
                  <a:rPr lang="zh-CN" sz="1500" b="1">
                    <a:solidFill>
                      <a:srgbClr val="711077"/>
                    </a:solidFill>
                    <a:latin typeface="Times New Roman" panose="02020503050405090304"/>
                    <a:sym typeface="+mn-ea"/>
                  </a:rPr>
                  <a:t>则</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r>
                          <a:rPr lang="en-US" altLang="en-US" sz="1500" b="1" i="1">
                            <a:solidFill>
                              <a:srgbClr val="711077"/>
                            </a:solidFill>
                            <a:latin typeface="DejaVu Math TeX Gyre" panose="02000503000000000000" charset="0"/>
                            <a:cs typeface="DejaVu Math TeX Gyre" panose="02000503000000000000" charset="0"/>
                          </a:rPr>
                          <m:t> </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254115" y="2164715"/>
                <a:ext cx="6096000" cy="32194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7279005" y="3749675"/>
                <a:ext cx="6096000" cy="321945"/>
              </a:xfrm>
              <a:prstGeom prst="rect">
                <a:avLst/>
              </a:prstGeom>
              <a:noFill/>
            </p:spPr>
            <p:txBody>
              <a:bodyPr wrap="square" rtlCol="0" anchor="t">
                <a:spAutoFit/>
              </a:bodyPr>
              <a:p>
                <a14:m>
                  <m:oMath xmlns:m="http://schemas.openxmlformats.org/officeDocument/2006/math">
                    <m:r>
                      <a:rPr lang="en-US" altLang="zh-CN" sz="1500" b="1" i="1">
                        <a:solidFill>
                          <a:srgbClr val="711077"/>
                        </a:solidFill>
                        <a:latin typeface="DejaVu Math TeX Gyre" panose="02000503000000000000" charset="0"/>
                        <a:cs typeface="DejaVu Math TeX Gyre" panose="02000503000000000000" charset="0"/>
                      </a:rPr>
                      <m:t>∴</m:t>
                    </m:r>
                  </m:oMath>
                </a14:m>
                <a:r>
                  <a:rPr lang="en-US" altLang="zh-CN" sz="1500" b="1">
                    <a:solidFill>
                      <a:srgbClr val="711077"/>
                    </a:solidFill>
                    <a:latin typeface="DejaVu Math TeX Gyre" panose="02000503000000000000" charset="0"/>
                    <a:cs typeface="DejaVu Math TeX Gyre" panose="02000503000000000000" charset="0"/>
                  </a:rPr>
                  <a:t>OE</a:t>
                </a:r>
                <a:r>
                  <a:rPr lang="zh-CN" altLang="en-US" sz="1500" b="1">
                    <a:solidFill>
                      <a:srgbClr val="711077"/>
                    </a:solidFill>
                    <a:latin typeface="DejaVu Math TeX Gyre" panose="02000503000000000000" charset="0"/>
                    <a:cs typeface="DejaVu Math TeX Gyre" panose="02000503000000000000" charset="0"/>
                  </a:rPr>
                  <a:t>在</a:t>
                </a:r>
                <a:r>
                  <a:rPr lang="en-US" altLang="zh-CN" sz="1500" b="1">
                    <a:solidFill>
                      <a:srgbClr val="711077"/>
                    </a:solidFill>
                    <a:latin typeface="DejaVu Math TeX Gyre" panose="02000503000000000000" charset="0"/>
                    <a:cs typeface="DejaVu Math TeX Gyre" panose="02000503000000000000" charset="0"/>
                  </a:rPr>
                  <a:t>OD</a:t>
                </a:r>
                <a:r>
                  <a:rPr lang="zh-CN" altLang="en-US" sz="1500" b="1">
                    <a:solidFill>
                      <a:srgbClr val="711077"/>
                    </a:solidFill>
                    <a:latin typeface="DejaVu Math TeX Gyre" panose="02000503000000000000" charset="0"/>
                    <a:cs typeface="DejaVu Math TeX Gyre" panose="02000503000000000000" charset="0"/>
                  </a:rPr>
                  <a:t>之下</a:t>
                </a:r>
                <a:endParaRPr lang="zh-CN" altLang="en-US" sz="1500" b="1">
                  <a:solidFill>
                    <a:srgbClr val="711077"/>
                  </a:solidFill>
                  <a:latin typeface="DejaVu Math TeX Gyre" panose="02000503000000000000" charset="0"/>
                  <a:cs typeface="DejaVu Math TeX Gyre" panose="02000503000000000000"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7279005" y="3749675"/>
                <a:ext cx="6096000" cy="321945"/>
              </a:xfrm>
              <a:prstGeom prst="rect">
                <a:avLst/>
              </a:prstGeom>
              <a:blipFill rotWithShape="1">
                <a:blip r:embed="rId6"/>
                <a:stretch>
                  <a:fillRect/>
                </a:stretch>
              </a:blipFill>
            </p:spPr>
            <p:txBody>
              <a:bodyPr/>
              <a:lstStyle/>
              <a:p>
                <a:r>
                  <a:rPr lang="zh-CN" altLang="en-US">
                    <a:noFill/>
                  </a:rPr>
                  <a:t> </a:t>
                </a:r>
              </a:p>
            </p:txBody>
          </p:sp>
        </mc:Fallback>
      </mc:AlternateContent>
      <p:sp>
        <p:nvSpPr>
          <p:cNvPr id="8" name="文本框 7"/>
          <p:cNvSpPr txBox="1"/>
          <p:nvPr/>
        </p:nvSpPr>
        <p:spPr>
          <a:xfrm>
            <a:off x="6423660" y="4254500"/>
            <a:ext cx="6096000" cy="321945"/>
          </a:xfrm>
          <a:prstGeom prst="rect">
            <a:avLst/>
          </a:prstGeom>
          <a:noFill/>
        </p:spPr>
        <p:txBody>
          <a:bodyPr wrap="square" rtlCol="0" anchor="t">
            <a:spAutoFit/>
          </a:bodyPr>
          <a:p>
            <a:r>
              <a:rPr lang="en-US" altLang="en-US" sz="1500" b="1">
                <a:solidFill>
                  <a:srgbClr val="711077"/>
                </a:solidFill>
                <a:latin typeface="DejaVu Math TeX Gyre" panose="02000503000000000000" charset="0"/>
                <a:cs typeface="DejaVu Math TeX Gyre" panose="02000503000000000000" charset="0"/>
              </a:rPr>
              <a:t>Ⅳ</a:t>
            </a:r>
            <a:r>
              <a:rPr lang="zh-CN" altLang="en-US" sz="1500" b="1">
                <a:solidFill>
                  <a:srgbClr val="711077"/>
                </a:solidFill>
                <a:latin typeface="DejaVu Math TeX Gyre" panose="02000503000000000000" charset="0"/>
                <a:cs typeface="DejaVu Math TeX Gyre" panose="02000503000000000000" charset="0"/>
              </a:rPr>
              <a:t>区域在</a:t>
            </a:r>
            <a:r>
              <a:rPr lang="en-US" altLang="zh-CN" sz="1500" b="1">
                <a:solidFill>
                  <a:srgbClr val="711077"/>
                </a:solidFill>
                <a:latin typeface="DejaVu Math TeX Gyre" panose="02000503000000000000" charset="0"/>
                <a:cs typeface="DejaVu Math TeX Gyre" panose="02000503000000000000" charset="0"/>
              </a:rPr>
              <a:t>B</a:t>
            </a:r>
            <a:r>
              <a:rPr lang="zh-CN" altLang="en-US" sz="1500" b="1">
                <a:solidFill>
                  <a:srgbClr val="711077"/>
                </a:solidFill>
                <a:latin typeface="DejaVu Math TeX Gyre" panose="02000503000000000000" charset="0"/>
                <a:cs typeface="DejaVu Math TeX Gyre" panose="02000503000000000000" charset="0"/>
              </a:rPr>
              <a:t>地工资高</a:t>
            </a:r>
            <a:r>
              <a:rPr lang="en-US" altLang="zh-CN" sz="1500" b="1">
                <a:solidFill>
                  <a:srgbClr val="711077"/>
                </a:solidFill>
                <a:latin typeface="DejaVu Math TeX Gyre" panose="02000503000000000000" charset="0"/>
                <a:cs typeface="DejaVu Math TeX Gyre" panose="02000503000000000000" charset="0"/>
              </a:rPr>
              <a:t>，</a:t>
            </a:r>
            <a:r>
              <a:rPr lang="en-US" altLang="en-US" sz="1500" b="1">
                <a:solidFill>
                  <a:srgbClr val="711077"/>
                </a:solidFill>
                <a:latin typeface="DejaVu Math TeX Gyre" panose="02000503000000000000" charset="0"/>
                <a:cs typeface="DejaVu Math TeX Gyre" panose="02000503000000000000" charset="0"/>
              </a:rPr>
              <a:t>Ⅲ</a:t>
            </a:r>
            <a:r>
              <a:rPr lang="zh-CN" altLang="en-US" sz="1500" b="1">
                <a:solidFill>
                  <a:srgbClr val="711077"/>
                </a:solidFill>
                <a:latin typeface="DejaVu Math TeX Gyre" panose="02000503000000000000" charset="0"/>
                <a:cs typeface="DejaVu Math TeX Gyre" panose="02000503000000000000" charset="0"/>
              </a:rPr>
              <a:t>区域</a:t>
            </a:r>
            <a:r>
              <a:rPr lang="en-US" altLang="zh-CN" sz="1500" b="1">
                <a:solidFill>
                  <a:srgbClr val="711077"/>
                </a:solidFill>
                <a:latin typeface="DejaVu Math TeX Gyre" panose="02000503000000000000" charset="0"/>
                <a:cs typeface="DejaVu Math TeX Gyre" panose="02000503000000000000" charset="0"/>
              </a:rPr>
              <a:t>A</a:t>
            </a:r>
            <a:r>
              <a:rPr lang="zh-CN" altLang="en-US" sz="1500" b="1">
                <a:solidFill>
                  <a:srgbClr val="711077"/>
                </a:solidFill>
                <a:latin typeface="DejaVu Math TeX Gyre" panose="02000503000000000000" charset="0"/>
                <a:cs typeface="DejaVu Math TeX Gyre" panose="02000503000000000000" charset="0"/>
              </a:rPr>
              <a:t>地工资</a:t>
            </a:r>
            <a:r>
              <a:rPr lang="zh-CN" altLang="en-US" sz="1500" b="1">
                <a:solidFill>
                  <a:srgbClr val="711077"/>
                </a:solidFill>
                <a:latin typeface="DejaVu Math TeX Gyre" panose="02000503000000000000" charset="0"/>
                <a:cs typeface="DejaVu Math TeX Gyre" panose="02000503000000000000" charset="0"/>
              </a:rPr>
              <a:t>高</a:t>
            </a:r>
            <a:endParaRPr lang="zh-CN" altLang="en-US" sz="1500" b="1">
              <a:solidFill>
                <a:srgbClr val="711077"/>
              </a:solidFill>
              <a:latin typeface="DejaVu Math TeX Gyre" panose="02000503000000000000" charset="0"/>
              <a:cs typeface="DejaVu Math TeX Gyre" panose="02000503000000000000"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mc:AlternateContent xmlns:mc="http://schemas.openxmlformats.org/markup-compatibility/2006">
        <mc:Choice xmlns:a14="http://schemas.microsoft.com/office/drawing/2010/main" Requires="a14">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OE：</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𝒘</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𝒘</m:t>
                            </m:r>
                          </m:e>
                          <m:sub>
                            <m:r>
                              <a:rPr lang="en-US" sz="2000" b="1" i="1">
                                <a:solidFill>
                                  <a:srgbClr val="711077"/>
                                </a:solidFill>
                                <a:latin typeface="DejaVu Math TeX Gyre" panose="02000503000000000000" charset="0"/>
                                <a:cs typeface="DejaVu Math TeX Gyre" panose="02000503000000000000" charset="0"/>
                              </a:rPr>
                              <m:t>𝑨</m:t>
                            </m:r>
                          </m:sub>
                        </m:sSub>
                      </m:den>
                    </m:f>
                  </m:oMath>
                </a14:m>
                <a:endParaRPr lang="zh-CN" altLang="en-US" sz="2000" b="1">
                  <a:solidFill>
                    <a:srgbClr val="711077"/>
                  </a:solidFill>
                  <a:latin typeface="微软雅黑"/>
                </a:endParaRPr>
              </a:p>
            </p:txBody>
          </p:sp>
        </mc:Choice>
        <mc:Fallback>
          <p:sp>
            <p:nvSpPr>
              <p:cNvPr id="3" name="Rectangle 63"/>
              <p:cNvSpPr>
                <a:spLocks noRot="1" noChangeAspect="1" noMove="1" noResize="1" noEditPoints="1" noAdjustHandles="1" noChangeArrowheads="1" noChangeShapeType="1" noTextEdit="1"/>
              </p:cNvSpPr>
              <p:nvPr/>
            </p:nvSpPr>
            <p:spPr>
              <a:xfrm>
                <a:off x="6967220" y="1376680"/>
                <a:ext cx="1762760" cy="347345"/>
              </a:xfrm>
              <a:prstGeom prst="rect">
                <a:avLst/>
              </a:prstGeom>
              <a:blipFill rotWithShape="1">
                <a:blip r:embed="rId2"/>
                <a:stretch>
                  <a:fillRect t="-21207" b="-21572"/>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6967220" y="2442210"/>
                <a:ext cx="6096000" cy="429260"/>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altLang="zh-CN" sz="1500" b="1" i="1">
                            <a:solidFill>
                              <a:srgbClr val="711077"/>
                            </a:solidFill>
                            <a:latin typeface="DejaVu Math TeX Gyre" panose="02000503000000000000" charset="0"/>
                            <a:cs typeface="DejaVu Math TeX Gyre" panose="02000503000000000000" charset="0"/>
                          </a:rPr>
                          <m:t>∴</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f>
                          <m:fPr>
                            <m:ctrlPr>
                              <a:rPr lang="en-US" sz="1500" b="1" i="1">
                                <a:solidFill>
                                  <a:srgbClr val="711077"/>
                                </a:solidFill>
                                <a:latin typeface="DejaVu Math TeX Gyre" panose="02000503000000000000" charset="0"/>
                                <a:cs typeface="DejaVu Math TeX Gyre" panose="02000503000000000000" charset="0"/>
                              </a:rPr>
                            </m:ctrlPr>
                          </m:fPr>
                          <m:num>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num>
                          <m:den>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m:t>
                            </m:r>
                            <m:r>
                              <a:rPr sz="1500" b="1">
                                <a:solidFill>
                                  <a:srgbClr val="711077"/>
                                </a:solidFill>
                                <a:latin typeface="Times New Roman" panose="02020503050405090304"/>
                                <a:sym typeface="+mn-ea"/>
                              </a:rPr>
                              <m:t>1</m:t>
                            </m:r>
                            <m:r>
                              <a:rPr sz="1500" b="1">
                                <a:solidFill>
                                  <a:srgbClr val="711077"/>
                                </a:solidFill>
                                <a:latin typeface="Times New Roman" panose="02020503050405090304"/>
                                <a:sym typeface="+mn-ea"/>
                              </a:rPr>
                              <m:t>−</m:t>
                            </m:r>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𝑨𝑩</m:t>
                                </m:r>
                              </m:sub>
                            </m:sSub>
                            <m:r>
                              <a:rPr lang="en-US" sz="1500" b="1" i="1">
                                <a:solidFill>
                                  <a:srgbClr val="711077"/>
                                </a:solidFill>
                                <a:latin typeface="DejaVu Math TeX Gyre" panose="02000503000000000000" charset="0"/>
                                <a:cs typeface="DejaVu Math TeX Gyre" panose="02000503000000000000" charset="0"/>
                              </a:rPr>
                              <m:t>）</m:t>
                            </m:r>
                          </m:den>
                        </m:f>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6967220" y="2442210"/>
                <a:ext cx="6096000" cy="429260"/>
              </a:xfrm>
              <a:prstGeom prst="rect">
                <a:avLst/>
              </a:prstGeom>
              <a:blipFill rotWithShape="1">
                <a:blip r:embed="rId3"/>
                <a:stretch>
                  <a:fillRect/>
                </a:stretch>
              </a:blipFill>
            </p:spPr>
            <p:txBody>
              <a:bodyPr/>
              <a:lstStyle/>
              <a:p>
                <a:r>
                  <a:rPr lang="zh-CN" altLang="en-US">
                    <a:noFill/>
                  </a:rPr>
                  <a:t> </a:t>
                </a:r>
              </a:p>
            </p:txBody>
          </p:sp>
        </mc:Fallback>
      </mc:AlternateContent>
      <p:sp>
        <p:nvSpPr>
          <p:cNvPr id="20"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mc:AlternateContent xmlns:mc="http://schemas.openxmlformats.org/markup-compatibility/2006">
        <mc:Choice xmlns:a14="http://schemas.microsoft.com/office/drawing/2010/main" Requires="a14">
          <p:sp>
            <p:nvSpPr>
              <p:cNvPr id="9" name="Rectangle 63"/>
              <p:cNvSpPr/>
              <p:nvPr/>
            </p:nvSpPr>
            <p:spPr>
              <a:xfrm>
                <a:off x="6967220" y="1330325"/>
                <a:ext cx="3197860" cy="527050"/>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sym typeface="+mn-ea"/>
                  </a:rPr>
                  <a:t>OC：</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𝑨</m:t>
                            </m:r>
                          </m:sub>
                        </m:sSub>
                        <m:r>
                          <a:rPr lang="en-US" sz="2000" b="1" i="1">
                            <a:solidFill>
                              <a:srgbClr val="711077"/>
                            </a:solidFill>
                            <a:latin typeface="DejaVu Math TeX Gyre" panose="02000503000000000000" charset="0"/>
                            <a:cs typeface="DejaVu Math TeX Gyre" panose="02000503000000000000" charset="0"/>
                          </a:rPr>
                          <m:t>（</m:t>
                        </m:r>
                        <m:r>
                          <a:rPr sz="2000" b="1">
                            <a:solidFill>
                              <a:srgbClr val="711077"/>
                            </a:solidFill>
                            <a:latin typeface="Times New Roman" panose="02020503050405090304"/>
                            <a:sym typeface="+mn-ea"/>
                          </a:rPr>
                          <m:t>1</m:t>
                        </m:r>
                        <m:r>
                          <a:rPr sz="2000" b="1">
                            <a:solidFill>
                              <a:srgbClr val="711077"/>
                            </a:solidFill>
                            <a:latin typeface="Times New Roman" panose="02020503050405090304"/>
                            <a:sym typeface="+mn-ea"/>
                          </a:rPr>
                          <m:t>−</m:t>
                        </m:r>
                        <m:sSub>
                          <m:sSubPr>
                            <m:ctrlPr>
                              <a:rPr lang="en-US" sz="2000" b="1" i="1">
                                <a:solidFill>
                                  <a:srgbClr val="711077"/>
                                </a:solidFill>
                                <a:latin typeface="DejaVu Math TeX Gyre" panose="02000503000000000000" charset="0"/>
                                <a:cs typeface="DejaVu Math TeX Gyre" panose="02000503000000000000" charset="0"/>
                              </a:rPr>
                            </m:ctrlPr>
                          </m:sSubPr>
                          <m:e>
                            <m:r>
                              <a:rPr sz="2000" b="1">
                                <a:solidFill>
                                  <a:srgbClr val="711077"/>
                                </a:solidFill>
                                <a:latin typeface="Times New Roman" panose="02020503050405090304"/>
                                <a:sym typeface="+mn-ea"/>
                              </a:rPr>
                              <m:t>𝜏</m:t>
                            </m:r>
                          </m:e>
                          <m:sub>
                            <m:r>
                              <a:rPr lang="en-US" sz="2000" b="1" i="1">
                                <a:solidFill>
                                  <a:srgbClr val="711077"/>
                                </a:solidFill>
                                <a:latin typeface="DejaVu Math TeX Gyre" panose="02000503000000000000" charset="0"/>
                                <a:cs typeface="DejaVu Math TeX Gyre" panose="02000503000000000000" charset="0"/>
                              </a:rPr>
                              <m:t>𝑨𝑩</m:t>
                            </m:r>
                          </m:sub>
                        </m:sSub>
                        <m:r>
                          <a:rPr lang="en-US" sz="2000" b="1" i="1">
                            <a:solidFill>
                              <a:srgbClr val="711077"/>
                            </a:solidFill>
                            <a:latin typeface="DejaVu Math TeX Gyre" panose="02000503000000000000" charset="0"/>
                            <a:cs typeface="DejaVu Math TeX Gyre" panose="02000503000000000000" charset="0"/>
                          </a:rPr>
                          <m:t>）</m:t>
                        </m:r>
                      </m:den>
                    </m:f>
                  </m:oMath>
                </a14:m>
                <a:endParaRPr lang="zh-CN" altLang="en-US" sz="2000" b="1">
                  <a:solidFill>
                    <a:srgbClr val="711077"/>
                  </a:solidFill>
                  <a:latin typeface="微软雅黑"/>
                </a:endParaRPr>
              </a:p>
            </p:txBody>
          </p:sp>
        </mc:Choice>
        <mc:Fallback>
          <p:sp>
            <p:nvSpPr>
              <p:cNvPr id="9" name="Rectangle 63"/>
              <p:cNvSpPr>
                <a:spLocks noRot="1" noChangeAspect="1" noMove="1" noResize="1" noEditPoints="1" noAdjustHandles="1" noChangeArrowheads="1" noChangeShapeType="1" noTextEdit="1"/>
              </p:cNvSpPr>
              <p:nvPr/>
            </p:nvSpPr>
            <p:spPr>
              <a:xfrm>
                <a:off x="6967220" y="1330325"/>
                <a:ext cx="3197860" cy="527050"/>
              </a:xfrm>
              <a:prstGeom prst="rect">
                <a:avLst/>
              </a:prstGeom>
              <a:blipFill rotWithShape="1">
                <a:blip r:embed="rId4"/>
                <a:stretch>
                  <a:fillRect/>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6381115" y="1981835"/>
                <a:ext cx="6096000" cy="335915"/>
              </a:xfrm>
              <a:prstGeom prst="rect">
                <a:avLst/>
              </a:prstGeom>
              <a:noFill/>
            </p:spPr>
            <p:txBody>
              <a:bodyPr wrap="square" rtlCol="0" anchor="t">
                <a:spAutoFit/>
              </a:bodyPr>
              <a:p>
                <a:r>
                  <a:rPr lang="zh-CN" altLang="en-US" sz="1500" b="1">
                    <a:solidFill>
                      <a:srgbClr val="711077"/>
                    </a:solidFill>
                    <a:latin typeface="Times New Roman" panose="02020503050405090304"/>
                    <a:sym typeface="+mn-ea"/>
                  </a:rPr>
                  <a:t>考虑迁移成本</a:t>
                </a:r>
                <a:r>
                  <a:rPr lang="en-US" altLang="zh-CN" sz="1500" b="1">
                    <a:solidFill>
                      <a:srgbClr val="711077"/>
                    </a:solidFill>
                    <a:latin typeface="Times New Roman" panose="02020503050405090304"/>
                    <a:sym typeface="+mn-ea"/>
                  </a:rPr>
                  <a:t>，</a:t>
                </a:r>
                <a:r>
                  <a:rPr lang="zh-CN" altLang="en-US" sz="1500" b="1">
                    <a:solidFill>
                      <a:srgbClr val="711077"/>
                    </a:solidFill>
                    <a:latin typeface="Times New Roman" panose="02020503050405090304"/>
                    <a:sym typeface="+mn-ea"/>
                  </a:rPr>
                  <a:t>令</a:t>
                </a:r>
                <a14:m>
                  <m:oMath xmlns:m="http://schemas.openxmlformats.org/officeDocument/2006/math">
                    <m:r>
                      <a:rPr lang="en-US" sz="1500" b="1" i="1">
                        <a:solidFill>
                          <a:srgbClr val="711077"/>
                        </a:solidFill>
                        <a:latin typeface="DejaVu Math TeX Gyre" panose="02000503000000000000" charset="0"/>
                        <a:cs typeface="DejaVu Math TeX Gyre" panose="02000503000000000000" charset="0"/>
                      </a:rPr>
                      <m:t>（</m:t>
                    </m:r>
                    <m:r>
                      <a:rPr sz="1500" b="1">
                        <a:solidFill>
                          <a:srgbClr val="711077"/>
                        </a:solidFill>
                        <a:latin typeface="Times New Roman" panose="02020503050405090304"/>
                        <a:sym typeface="+mn-ea"/>
                      </a:rPr>
                      <m:t>1</m:t>
                    </m:r>
                    <m:r>
                      <a:rPr sz="1500" b="1">
                        <a:solidFill>
                          <a:srgbClr val="711077"/>
                        </a:solidFill>
                        <a:latin typeface="Times New Roman" panose="02020503050405090304"/>
                        <a:sym typeface="+mn-ea"/>
                      </a:rPr>
                      <m:t>−</m:t>
                    </m:r>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𝑨𝑩</m:t>
                        </m:r>
                      </m:sub>
                    </m:sSub>
                    <m:r>
                      <a:rPr lang="en-US" sz="1500" b="1" i="1">
                        <a:solidFill>
                          <a:srgbClr val="711077"/>
                        </a:solidFill>
                        <a:latin typeface="DejaVu Math TeX Gyre" panose="02000503000000000000" charset="0"/>
                        <a:cs typeface="DejaVu Math TeX Gyre" panose="02000503000000000000" charset="0"/>
                      </a:rPr>
                      <m:t>）</m:t>
                    </m:r>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r>
                          <a:rPr lang="en-US" altLang="en-US" sz="1500" b="1" i="1">
                            <a:solidFill>
                              <a:srgbClr val="711077"/>
                            </a:solidFill>
                            <a:latin typeface="DejaVu Math TeX Gyre" panose="02000503000000000000" charset="0"/>
                            <a:cs typeface="DejaVu Math TeX Gyre" panose="02000503000000000000" charset="0"/>
                          </a:rPr>
                          <m:t> </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6381115" y="1981835"/>
                <a:ext cx="6096000" cy="335915"/>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mc:AlternateContent xmlns:mc="http://schemas.openxmlformats.org/markup-compatibility/2006">
        <mc:Choice xmlns:a14="http://schemas.microsoft.com/office/drawing/2010/main" Requires="a14">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OE：</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𝒘</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𝒘</m:t>
                            </m:r>
                          </m:e>
                          <m:sub>
                            <m:r>
                              <a:rPr lang="en-US" sz="2000" b="1" i="1">
                                <a:solidFill>
                                  <a:srgbClr val="711077"/>
                                </a:solidFill>
                                <a:latin typeface="DejaVu Math TeX Gyre" panose="02000503000000000000" charset="0"/>
                                <a:cs typeface="DejaVu Math TeX Gyre" panose="02000503000000000000" charset="0"/>
                              </a:rPr>
                              <m:t>𝑨</m:t>
                            </m:r>
                          </m:sub>
                        </m:sSub>
                      </m:den>
                    </m:f>
                  </m:oMath>
                </a14:m>
                <a:endParaRPr lang="zh-CN" altLang="en-US" sz="2000" b="1">
                  <a:solidFill>
                    <a:srgbClr val="711077"/>
                  </a:solidFill>
                  <a:latin typeface="微软雅黑"/>
                </a:endParaRPr>
              </a:p>
            </p:txBody>
          </p:sp>
        </mc:Choice>
        <mc:Fallback>
          <p:sp>
            <p:nvSpPr>
              <p:cNvPr id="3" name="Rectangle 63"/>
              <p:cNvSpPr>
                <a:spLocks noRot="1" noChangeAspect="1" noMove="1" noResize="1" noEditPoints="1" noAdjustHandles="1" noChangeArrowheads="1" noChangeShapeType="1" noTextEdit="1"/>
              </p:cNvSpPr>
              <p:nvPr/>
            </p:nvSpPr>
            <p:spPr>
              <a:xfrm>
                <a:off x="6967220" y="1376680"/>
                <a:ext cx="1762760" cy="347345"/>
              </a:xfrm>
              <a:prstGeom prst="rect">
                <a:avLst/>
              </a:prstGeom>
              <a:blipFill rotWithShape="1">
                <a:blip r:embed="rId2"/>
                <a:stretch>
                  <a:fillRect t="-21207" b="-21572"/>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6967220" y="2442210"/>
                <a:ext cx="6096000" cy="429260"/>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altLang="zh-CN" sz="1500" b="1" i="1">
                            <a:solidFill>
                              <a:srgbClr val="711077"/>
                            </a:solidFill>
                            <a:latin typeface="DejaVu Math TeX Gyre" panose="02000503000000000000" charset="0"/>
                            <a:cs typeface="DejaVu Math TeX Gyre" panose="02000503000000000000" charset="0"/>
                          </a:rPr>
                          <m:t>∴</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f>
                          <m:fPr>
                            <m:ctrlPr>
                              <a:rPr lang="en-US" sz="1500" b="1" i="1">
                                <a:solidFill>
                                  <a:srgbClr val="711077"/>
                                </a:solidFill>
                                <a:latin typeface="DejaVu Math TeX Gyre" panose="02000503000000000000" charset="0"/>
                                <a:cs typeface="DejaVu Math TeX Gyre" panose="02000503000000000000" charset="0"/>
                              </a:rPr>
                            </m:ctrlPr>
                          </m:fPr>
                          <m:num>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num>
                          <m:den>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m:t>
                            </m:r>
                            <m:r>
                              <a:rPr sz="1500" b="1">
                                <a:solidFill>
                                  <a:srgbClr val="711077"/>
                                </a:solidFill>
                                <a:latin typeface="Times New Roman" panose="02020503050405090304"/>
                                <a:sym typeface="+mn-ea"/>
                              </a:rPr>
                              <m:t>1</m:t>
                            </m:r>
                            <m:r>
                              <a:rPr sz="1500" b="1">
                                <a:solidFill>
                                  <a:srgbClr val="711077"/>
                                </a:solidFill>
                                <a:latin typeface="Times New Roman" panose="02020503050405090304"/>
                                <a:sym typeface="+mn-ea"/>
                              </a:rPr>
                              <m:t>−</m:t>
                            </m:r>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𝑨𝑩</m:t>
                                </m:r>
                              </m:sub>
                            </m:sSub>
                            <m:r>
                              <a:rPr lang="en-US" sz="1500" b="1" i="1">
                                <a:solidFill>
                                  <a:srgbClr val="711077"/>
                                </a:solidFill>
                                <a:latin typeface="DejaVu Math TeX Gyre" panose="02000503000000000000" charset="0"/>
                                <a:cs typeface="DejaVu Math TeX Gyre" panose="02000503000000000000" charset="0"/>
                              </a:rPr>
                              <m:t>）</m:t>
                            </m:r>
                          </m:den>
                        </m:f>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6967220" y="2442210"/>
                <a:ext cx="6096000" cy="429260"/>
              </a:xfrm>
              <a:prstGeom prst="rect">
                <a:avLst/>
              </a:prstGeom>
              <a:blipFill rotWithShape="1">
                <a:blip r:embed="rId3"/>
                <a:stretch>
                  <a:fillRect/>
                </a:stretch>
              </a:blipFill>
            </p:spPr>
            <p:txBody>
              <a:bodyPr/>
              <a:lstStyle/>
              <a:p>
                <a:r>
                  <a:rPr lang="zh-CN" altLang="en-US">
                    <a:noFill/>
                  </a:rPr>
                  <a:t> </a:t>
                </a:r>
              </a:p>
            </p:txBody>
          </p:sp>
        </mc:Fallback>
      </mc:AlternateContent>
      <p:sp>
        <p:nvSpPr>
          <p:cNvPr id="20"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mc:AlternateContent xmlns:mc="http://schemas.openxmlformats.org/markup-compatibility/2006">
        <mc:Choice xmlns:a14="http://schemas.microsoft.com/office/drawing/2010/main" Requires="a14">
          <p:sp>
            <p:nvSpPr>
              <p:cNvPr id="9" name="Rectangle 63"/>
              <p:cNvSpPr/>
              <p:nvPr/>
            </p:nvSpPr>
            <p:spPr>
              <a:xfrm>
                <a:off x="6967220" y="1330325"/>
                <a:ext cx="3197860" cy="527050"/>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sym typeface="+mn-ea"/>
                  </a:rPr>
                  <a:t>OC：</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𝑨</m:t>
                            </m:r>
                          </m:sub>
                        </m:sSub>
                        <m:r>
                          <a:rPr lang="en-US" sz="2000" b="1" i="1">
                            <a:solidFill>
                              <a:srgbClr val="711077"/>
                            </a:solidFill>
                            <a:latin typeface="DejaVu Math TeX Gyre" panose="02000503000000000000" charset="0"/>
                            <a:cs typeface="DejaVu Math TeX Gyre" panose="02000503000000000000" charset="0"/>
                          </a:rPr>
                          <m:t>（</m:t>
                        </m:r>
                        <m:r>
                          <a:rPr sz="2000" b="1">
                            <a:solidFill>
                              <a:srgbClr val="711077"/>
                            </a:solidFill>
                            <a:latin typeface="Times New Roman" panose="02020503050405090304"/>
                            <a:sym typeface="+mn-ea"/>
                          </a:rPr>
                          <m:t>1</m:t>
                        </m:r>
                        <m:r>
                          <a:rPr sz="2000" b="1">
                            <a:solidFill>
                              <a:srgbClr val="711077"/>
                            </a:solidFill>
                            <a:latin typeface="Times New Roman" panose="02020503050405090304"/>
                            <a:sym typeface="+mn-ea"/>
                          </a:rPr>
                          <m:t>−</m:t>
                        </m:r>
                        <m:sSub>
                          <m:sSubPr>
                            <m:ctrlPr>
                              <a:rPr lang="en-US" sz="2000" b="1" i="1">
                                <a:solidFill>
                                  <a:srgbClr val="711077"/>
                                </a:solidFill>
                                <a:latin typeface="DejaVu Math TeX Gyre" panose="02000503000000000000" charset="0"/>
                                <a:cs typeface="DejaVu Math TeX Gyre" panose="02000503000000000000" charset="0"/>
                              </a:rPr>
                            </m:ctrlPr>
                          </m:sSubPr>
                          <m:e>
                            <m:r>
                              <a:rPr sz="2000" b="1">
                                <a:solidFill>
                                  <a:srgbClr val="711077"/>
                                </a:solidFill>
                                <a:latin typeface="Times New Roman" panose="02020503050405090304"/>
                                <a:sym typeface="+mn-ea"/>
                              </a:rPr>
                              <m:t>𝜏</m:t>
                            </m:r>
                          </m:e>
                          <m:sub>
                            <m:r>
                              <a:rPr lang="en-US" sz="2000" b="1" i="1">
                                <a:solidFill>
                                  <a:srgbClr val="711077"/>
                                </a:solidFill>
                                <a:latin typeface="DejaVu Math TeX Gyre" panose="02000503000000000000" charset="0"/>
                                <a:cs typeface="DejaVu Math TeX Gyre" panose="02000503000000000000" charset="0"/>
                              </a:rPr>
                              <m:t>𝑨𝑩</m:t>
                            </m:r>
                          </m:sub>
                        </m:sSub>
                        <m:r>
                          <a:rPr lang="en-US" sz="2000" b="1" i="1">
                            <a:solidFill>
                              <a:srgbClr val="711077"/>
                            </a:solidFill>
                            <a:latin typeface="DejaVu Math TeX Gyre" panose="02000503000000000000" charset="0"/>
                            <a:cs typeface="DejaVu Math TeX Gyre" panose="02000503000000000000" charset="0"/>
                          </a:rPr>
                          <m:t>）</m:t>
                        </m:r>
                      </m:den>
                    </m:f>
                  </m:oMath>
                </a14:m>
                <a:endParaRPr lang="zh-CN" altLang="en-US" sz="2000" b="1">
                  <a:solidFill>
                    <a:srgbClr val="711077"/>
                  </a:solidFill>
                  <a:latin typeface="微软雅黑"/>
                </a:endParaRPr>
              </a:p>
            </p:txBody>
          </p:sp>
        </mc:Choice>
        <mc:Fallback>
          <p:sp>
            <p:nvSpPr>
              <p:cNvPr id="9" name="Rectangle 63"/>
              <p:cNvSpPr>
                <a:spLocks noRot="1" noChangeAspect="1" noMove="1" noResize="1" noEditPoints="1" noAdjustHandles="1" noChangeArrowheads="1" noChangeShapeType="1" noTextEdit="1"/>
              </p:cNvSpPr>
              <p:nvPr/>
            </p:nvSpPr>
            <p:spPr>
              <a:xfrm>
                <a:off x="6967220" y="1330325"/>
                <a:ext cx="3197860" cy="527050"/>
              </a:xfrm>
              <a:prstGeom prst="rect">
                <a:avLst/>
              </a:prstGeom>
              <a:blipFill rotWithShape="1">
                <a:blip r:embed="rId4"/>
                <a:stretch>
                  <a:fillRect/>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6381115" y="1981835"/>
                <a:ext cx="6096000" cy="335915"/>
              </a:xfrm>
              <a:prstGeom prst="rect">
                <a:avLst/>
              </a:prstGeom>
              <a:noFill/>
            </p:spPr>
            <p:txBody>
              <a:bodyPr wrap="square" rtlCol="0" anchor="t">
                <a:spAutoFit/>
              </a:bodyPr>
              <a:p>
                <a:r>
                  <a:rPr lang="zh-CN" altLang="en-US" sz="1500" b="1">
                    <a:solidFill>
                      <a:srgbClr val="711077"/>
                    </a:solidFill>
                    <a:latin typeface="Times New Roman" panose="02020503050405090304"/>
                    <a:sym typeface="+mn-ea"/>
                  </a:rPr>
                  <a:t>考虑迁移成本</a:t>
                </a:r>
                <a:r>
                  <a:rPr lang="en-US" altLang="zh-CN" sz="1500" b="1">
                    <a:solidFill>
                      <a:srgbClr val="711077"/>
                    </a:solidFill>
                    <a:latin typeface="Times New Roman" panose="02020503050405090304"/>
                    <a:sym typeface="+mn-ea"/>
                  </a:rPr>
                  <a:t>，</a:t>
                </a:r>
                <a:r>
                  <a:rPr lang="zh-CN" altLang="en-US" sz="1500" b="1">
                    <a:solidFill>
                      <a:srgbClr val="711077"/>
                    </a:solidFill>
                    <a:latin typeface="Times New Roman" panose="02020503050405090304"/>
                    <a:sym typeface="+mn-ea"/>
                  </a:rPr>
                  <a:t>令</a:t>
                </a:r>
                <a14:m>
                  <m:oMath xmlns:m="http://schemas.openxmlformats.org/officeDocument/2006/math">
                    <m:r>
                      <a:rPr lang="en-US" sz="1500" b="1" i="1">
                        <a:solidFill>
                          <a:srgbClr val="711077"/>
                        </a:solidFill>
                        <a:latin typeface="DejaVu Math TeX Gyre" panose="02000503000000000000" charset="0"/>
                        <a:cs typeface="DejaVu Math TeX Gyre" panose="02000503000000000000" charset="0"/>
                      </a:rPr>
                      <m:t>（</m:t>
                    </m:r>
                    <m:r>
                      <a:rPr sz="1500" b="1">
                        <a:solidFill>
                          <a:srgbClr val="711077"/>
                        </a:solidFill>
                        <a:latin typeface="Times New Roman" panose="02020503050405090304"/>
                        <a:sym typeface="+mn-ea"/>
                      </a:rPr>
                      <m:t>1</m:t>
                    </m:r>
                    <m:r>
                      <a:rPr sz="1500" b="1">
                        <a:solidFill>
                          <a:srgbClr val="711077"/>
                        </a:solidFill>
                        <a:latin typeface="Times New Roman" panose="02020503050405090304"/>
                        <a:sym typeface="+mn-ea"/>
                      </a:rPr>
                      <m:t>−</m:t>
                    </m:r>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𝑨𝑩</m:t>
                        </m:r>
                      </m:sub>
                    </m:sSub>
                    <m:r>
                      <a:rPr lang="en-US" sz="1500" b="1" i="1">
                        <a:solidFill>
                          <a:srgbClr val="711077"/>
                        </a:solidFill>
                        <a:latin typeface="DejaVu Math TeX Gyre" panose="02000503000000000000" charset="0"/>
                        <a:cs typeface="DejaVu Math TeX Gyre" panose="02000503000000000000" charset="0"/>
                      </a:rPr>
                      <m:t>）</m:t>
                    </m:r>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r>
                          <a:rPr lang="en-US" altLang="en-US" sz="1500" b="1" i="1">
                            <a:solidFill>
                              <a:srgbClr val="711077"/>
                            </a:solidFill>
                            <a:latin typeface="DejaVu Math TeX Gyre" panose="02000503000000000000" charset="0"/>
                            <a:cs typeface="DejaVu Math TeX Gyre" panose="02000503000000000000" charset="0"/>
                          </a:rPr>
                          <m:t> </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6381115" y="1981835"/>
                <a:ext cx="6096000" cy="335915"/>
              </a:xfrm>
              <a:prstGeom prst="rect">
                <a:avLst/>
              </a:prstGeom>
              <a:blipFill rotWithShape="1">
                <a:blip r:embed="rId5"/>
                <a:stretch>
                  <a:fillRect/>
                </a:stretch>
              </a:blipFill>
            </p:spPr>
            <p:txBody>
              <a:bodyPr/>
              <a:lstStyle/>
              <a:p>
                <a:r>
                  <a:rPr lang="zh-CN" altLang="en-US">
                    <a:noFill/>
                  </a:rPr>
                  <a:t> </a:t>
                </a:r>
              </a:p>
            </p:txBody>
          </p:sp>
        </mc:Fallback>
      </mc:AlternateContent>
      <p:sp>
        <p:nvSpPr>
          <p:cNvPr id="4" name="文本框 3"/>
          <p:cNvSpPr txBox="1"/>
          <p:nvPr/>
        </p:nvSpPr>
        <p:spPr>
          <a:xfrm>
            <a:off x="6967220" y="3049905"/>
            <a:ext cx="6096000" cy="321945"/>
          </a:xfrm>
          <a:prstGeom prst="rect">
            <a:avLst/>
          </a:prstGeom>
          <a:noFill/>
        </p:spPr>
        <p:txBody>
          <a:bodyPr wrap="square" rtlCol="0" anchor="t">
            <a:spAutoFit/>
          </a:bodyPr>
          <a:p>
            <a:r>
              <a:rPr lang="en-US" altLang="en-US" sz="1500" b="1" i="1">
                <a:solidFill>
                  <a:srgbClr val="711077"/>
                </a:solidFill>
                <a:latin typeface="DejaVu Math TeX Gyre" panose="02000503000000000000" charset="0"/>
                <a:cs typeface="DejaVu Math TeX Gyre" panose="02000503000000000000" charset="0"/>
                <a:sym typeface="+mn-ea"/>
              </a:rPr>
              <a:t>Ⅰ</a:t>
            </a:r>
            <a:r>
              <a:rPr lang="zh-CN" altLang="en-US" sz="1500" b="1" i="1">
                <a:solidFill>
                  <a:srgbClr val="711077"/>
                </a:solidFill>
                <a:latin typeface="DejaVu Math TeX Gyre" panose="02000503000000000000" charset="0"/>
                <a:cs typeface="DejaVu Math TeX Gyre" panose="02000503000000000000" charset="0"/>
                <a:sym typeface="+mn-ea"/>
              </a:rPr>
              <a:t>区域将迁往</a:t>
            </a:r>
            <a:r>
              <a:rPr lang="en-US" altLang="zh-CN" sz="1500" b="1" i="1">
                <a:solidFill>
                  <a:srgbClr val="711077"/>
                </a:solidFill>
                <a:latin typeface="DejaVu Math TeX Gyre" panose="02000503000000000000" charset="0"/>
                <a:cs typeface="DejaVu Math TeX Gyre" panose="02000503000000000000" charset="0"/>
                <a:sym typeface="+mn-ea"/>
              </a:rPr>
              <a:t>A</a:t>
            </a:r>
            <a:r>
              <a:rPr lang="zh-CN" altLang="en-US" sz="1500" b="1" i="1">
                <a:solidFill>
                  <a:srgbClr val="711077"/>
                </a:solidFill>
                <a:latin typeface="DejaVu Math TeX Gyre" panose="02000503000000000000" charset="0"/>
                <a:cs typeface="DejaVu Math TeX Gyre" panose="02000503000000000000" charset="0"/>
                <a:sym typeface="+mn-ea"/>
              </a:rPr>
              <a:t>工作，</a:t>
            </a:r>
            <a:r>
              <a:rPr lang="en-US" altLang="en-US" sz="1500" b="1" i="1">
                <a:solidFill>
                  <a:srgbClr val="711077"/>
                </a:solidFill>
                <a:latin typeface="DejaVu Math TeX Gyre" panose="02000503000000000000" charset="0"/>
                <a:cs typeface="DejaVu Math TeX Gyre" panose="02000503000000000000" charset="0"/>
                <a:sym typeface="+mn-ea"/>
              </a:rPr>
              <a:t>Ⅱ</a:t>
            </a:r>
            <a:r>
              <a:rPr lang="zh-CN" altLang="en-US" sz="1500" b="1" i="1">
                <a:solidFill>
                  <a:srgbClr val="711077"/>
                </a:solidFill>
                <a:latin typeface="DejaVu Math TeX Gyre" panose="02000503000000000000" charset="0"/>
                <a:cs typeface="DejaVu Math TeX Gyre" panose="02000503000000000000" charset="0"/>
                <a:sym typeface="+mn-ea"/>
              </a:rPr>
              <a:t>区域因为迁移成本留在</a:t>
            </a:r>
            <a:r>
              <a:rPr lang="en-US" altLang="zh-CN" sz="1500" b="1" i="1">
                <a:solidFill>
                  <a:srgbClr val="711077"/>
                </a:solidFill>
                <a:latin typeface="DejaVu Math TeX Gyre" panose="02000503000000000000" charset="0"/>
                <a:cs typeface="DejaVu Math TeX Gyre" panose="02000503000000000000" charset="0"/>
                <a:sym typeface="+mn-ea"/>
              </a:rPr>
              <a:t>B</a:t>
            </a:r>
            <a:r>
              <a:rPr lang="zh-CN" altLang="en-US" sz="1500" b="1" i="1">
                <a:solidFill>
                  <a:srgbClr val="711077"/>
                </a:solidFill>
                <a:latin typeface="DejaVu Math TeX Gyre" panose="02000503000000000000" charset="0"/>
                <a:cs typeface="DejaVu Math TeX Gyre" panose="02000503000000000000" charset="0"/>
                <a:sym typeface="+mn-ea"/>
              </a:rPr>
              <a:t>工作</a:t>
            </a:r>
            <a:endParaRPr lang="zh-CN" altLang="en-US" sz="1500" b="1" i="1">
              <a:solidFill>
                <a:srgbClr val="711077"/>
              </a:solidFill>
              <a:latin typeface="DejaVu Math TeX Gyre" panose="02000503000000000000" charset="0"/>
              <a:cs typeface="DejaVu Math TeX Gyre" panose="02000503000000000000"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2" name="图片 1"/>
          <p:cNvPicPr>
            <a:picLocks noChangeAspect="1"/>
          </p:cNvPicPr>
          <p:nvPr/>
        </p:nvPicPr>
        <p:blipFill>
          <a:blip r:embed="rId1"/>
          <a:stretch>
            <a:fillRect/>
          </a:stretch>
        </p:blipFill>
        <p:spPr>
          <a:xfrm>
            <a:off x="2064385" y="1250950"/>
            <a:ext cx="4789805" cy="4832350"/>
          </a:xfrm>
          <a:prstGeom prst="rect">
            <a:avLst/>
          </a:prstGeom>
        </p:spPr>
      </p:pic>
      <mc:AlternateContent xmlns:mc="http://schemas.openxmlformats.org/markup-compatibility/2006">
        <mc:Choice xmlns:a14="http://schemas.microsoft.com/office/drawing/2010/main" Requires="a14">
          <p:sp>
            <p:nvSpPr>
              <p:cNvPr id="3" name="Rectangle 63"/>
              <p:cNvSpPr/>
              <p:nvPr/>
            </p:nvSpPr>
            <p:spPr>
              <a:xfrm>
                <a:off x="6967220" y="1376680"/>
                <a:ext cx="1762760" cy="347345"/>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rPr>
                  <a:t>OE：</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𝒘</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𝒘</m:t>
                            </m:r>
                          </m:e>
                          <m:sub>
                            <m:r>
                              <a:rPr lang="en-US" sz="2000" b="1" i="1">
                                <a:solidFill>
                                  <a:srgbClr val="711077"/>
                                </a:solidFill>
                                <a:latin typeface="DejaVu Math TeX Gyre" panose="02000503000000000000" charset="0"/>
                                <a:cs typeface="DejaVu Math TeX Gyre" panose="02000503000000000000" charset="0"/>
                              </a:rPr>
                              <m:t>𝑨</m:t>
                            </m:r>
                          </m:sub>
                        </m:sSub>
                      </m:den>
                    </m:f>
                  </m:oMath>
                </a14:m>
                <a:endParaRPr lang="zh-CN" altLang="en-US" sz="2000" b="1">
                  <a:solidFill>
                    <a:srgbClr val="711077"/>
                  </a:solidFill>
                  <a:latin typeface="微软雅黑"/>
                </a:endParaRPr>
              </a:p>
            </p:txBody>
          </p:sp>
        </mc:Choice>
        <mc:Fallback>
          <p:sp>
            <p:nvSpPr>
              <p:cNvPr id="3" name="Rectangle 63"/>
              <p:cNvSpPr>
                <a:spLocks noRot="1" noChangeAspect="1" noMove="1" noResize="1" noEditPoints="1" noAdjustHandles="1" noChangeArrowheads="1" noChangeShapeType="1" noTextEdit="1"/>
              </p:cNvSpPr>
              <p:nvPr/>
            </p:nvSpPr>
            <p:spPr>
              <a:xfrm>
                <a:off x="6967220" y="1376680"/>
                <a:ext cx="1762760" cy="347345"/>
              </a:xfrm>
              <a:prstGeom prst="rect">
                <a:avLst/>
              </a:prstGeom>
              <a:blipFill rotWithShape="1">
                <a:blip r:embed="rId2"/>
                <a:stretch>
                  <a:fillRect t="-21207" b="-21572"/>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6967220" y="2442210"/>
                <a:ext cx="6096000" cy="429260"/>
              </a:xfrm>
              <a:prstGeom prst="rect">
                <a:avLst/>
              </a:prstGeom>
              <a:noFill/>
            </p:spPr>
            <p:txBody>
              <a:bodyPr wrap="square" rtlCol="0" anchor="t">
                <a:spAutoFit/>
              </a:bodyPr>
              <a:p>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r>
                          <a:rPr lang="en-US" altLang="zh-CN" sz="1500" b="1" i="1">
                            <a:solidFill>
                              <a:srgbClr val="711077"/>
                            </a:solidFill>
                            <a:latin typeface="DejaVu Math TeX Gyre" panose="02000503000000000000" charset="0"/>
                            <a:cs typeface="DejaVu Math TeX Gyre" panose="02000503000000000000" charset="0"/>
                          </a:rPr>
                          <m:t>∴</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f>
                          <m:fPr>
                            <m:ctrlPr>
                              <a:rPr lang="en-US" sz="1500" b="1" i="1">
                                <a:solidFill>
                                  <a:srgbClr val="711077"/>
                                </a:solidFill>
                                <a:latin typeface="DejaVu Math TeX Gyre" panose="02000503000000000000" charset="0"/>
                                <a:cs typeface="DejaVu Math TeX Gyre" panose="02000503000000000000" charset="0"/>
                              </a:rPr>
                            </m:ctrlPr>
                          </m:fPr>
                          <m:num>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num>
                          <m:den>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m:t>
                            </m:r>
                            <m:r>
                              <a:rPr sz="1500" b="1">
                                <a:solidFill>
                                  <a:srgbClr val="711077"/>
                                </a:solidFill>
                                <a:latin typeface="Times New Roman" panose="02020503050405090304"/>
                                <a:sym typeface="+mn-ea"/>
                              </a:rPr>
                              <m:t>1</m:t>
                            </m:r>
                            <m:r>
                              <a:rPr sz="1500" b="1">
                                <a:solidFill>
                                  <a:srgbClr val="711077"/>
                                </a:solidFill>
                                <a:latin typeface="Times New Roman" panose="02020503050405090304"/>
                                <a:sym typeface="+mn-ea"/>
                              </a:rPr>
                              <m:t>−</m:t>
                            </m:r>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𝑨𝑩</m:t>
                                </m:r>
                              </m:sub>
                            </m:sSub>
                            <m:r>
                              <a:rPr lang="en-US" sz="1500" b="1" i="1">
                                <a:solidFill>
                                  <a:srgbClr val="711077"/>
                                </a:solidFill>
                                <a:latin typeface="DejaVu Math TeX Gyre" panose="02000503000000000000" charset="0"/>
                                <a:cs typeface="DejaVu Math TeX Gyre" panose="02000503000000000000" charset="0"/>
                              </a:rPr>
                              <m:t>）</m:t>
                            </m:r>
                          </m:den>
                        </m:f>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6967220" y="2442210"/>
                <a:ext cx="6096000" cy="429260"/>
              </a:xfrm>
              <a:prstGeom prst="rect">
                <a:avLst/>
              </a:prstGeom>
              <a:blipFill rotWithShape="1">
                <a:blip r:embed="rId3"/>
                <a:stretch>
                  <a:fillRect/>
                </a:stretch>
              </a:blipFill>
            </p:spPr>
            <p:txBody>
              <a:bodyPr/>
              <a:lstStyle/>
              <a:p>
                <a:r>
                  <a:rPr lang="zh-CN" altLang="en-US">
                    <a:noFill/>
                  </a:rPr>
                  <a:t> </a:t>
                </a:r>
              </a:p>
            </p:txBody>
          </p:sp>
        </mc:Fallback>
      </mc:AlternateContent>
      <p:sp>
        <p:nvSpPr>
          <p:cNvPr id="20" name="TextBox 67"/>
          <p:cNvSpPr txBox="1"/>
          <p:nvPr/>
        </p:nvSpPr>
        <p:spPr>
          <a:xfrm>
            <a:off x="1979930" y="1101090"/>
            <a:ext cx="2048510" cy="275590"/>
          </a:xfrm>
          <a:prstGeom prst="rect">
            <a:avLst/>
          </a:prstGeom>
          <a:noFill/>
        </p:spPr>
        <p:txBody>
          <a:bodyPr wrap="square">
            <a:spAutoFit/>
          </a:bodyPr>
          <a:lstStyle/>
          <a:p>
            <a:r>
              <a:rPr lang="zh-CN" altLang="en-US" sz="1200">
                <a:solidFill>
                  <a:srgbClr val="232323"/>
                </a:solidFill>
                <a:latin typeface="微软雅黑"/>
              </a:rPr>
              <a:t>假设出生在</a:t>
            </a:r>
            <a:r>
              <a:rPr lang="en-US" altLang="zh-CN" sz="1200">
                <a:solidFill>
                  <a:srgbClr val="232323"/>
                </a:solidFill>
                <a:latin typeface="微软雅黑"/>
              </a:rPr>
              <a:t>B</a:t>
            </a:r>
            <a:endParaRPr lang="en-US" altLang="zh-CN" sz="1200">
              <a:solidFill>
                <a:srgbClr val="232323"/>
              </a:solidFill>
              <a:latin typeface="微软雅黑"/>
            </a:endParaRPr>
          </a:p>
        </p:txBody>
      </p:sp>
      <mc:AlternateContent xmlns:mc="http://schemas.openxmlformats.org/markup-compatibility/2006">
        <mc:Choice xmlns:a14="http://schemas.microsoft.com/office/drawing/2010/main" Requires="a14">
          <p:sp>
            <p:nvSpPr>
              <p:cNvPr id="9" name="Rectangle 63"/>
              <p:cNvSpPr/>
              <p:nvPr/>
            </p:nvSpPr>
            <p:spPr>
              <a:xfrm>
                <a:off x="6967220" y="1330325"/>
                <a:ext cx="3197860" cy="527050"/>
              </a:xfrm>
              <a:prstGeom prst="rect">
                <a:avLst/>
              </a:prstGeom>
              <a:solidFill>
                <a:srgbClr val="E9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a:solidFill>
                      <a:srgbClr val="711077"/>
                    </a:solidFill>
                    <a:latin typeface="微软雅黑"/>
                    <a:sym typeface="+mn-ea"/>
                  </a:rPr>
                  <a:t>OC：</a:t>
                </a:r>
                <a14:m>
                  <m:oMath xmlns:m="http://schemas.openxmlformats.org/officeDocument/2006/math">
                    <m:r>
                      <a:rPr lang="en-US" sz="2000" b="1" i="1">
                        <a:solidFill>
                          <a:srgbClr val="711077"/>
                        </a:solidFill>
                        <a:latin typeface="DejaVu Math TeX Gyre" panose="02000503000000000000" charset="0"/>
                        <a:cs typeface="DejaVu Math TeX Gyre" panose="02000503000000000000" charset="0"/>
                      </a:rPr>
                      <m:t>𝒌</m:t>
                    </m:r>
                    <m:r>
                      <a:rPr lang="en-US" sz="2000" b="1" i="1">
                        <a:solidFill>
                          <a:srgbClr val="711077"/>
                        </a:solidFill>
                        <a:latin typeface="DejaVu Math TeX Gyre" panose="02000503000000000000" charset="0"/>
                        <a:cs typeface="DejaVu Math TeX Gyre" panose="02000503000000000000" charset="0"/>
                      </a:rPr>
                      <m:t>=</m:t>
                    </m:r>
                    <m:f>
                      <m:fPr>
                        <m:ctrlPr>
                          <a:rPr lang="en-US" sz="2000" b="1" i="1">
                            <a:solidFill>
                              <a:srgbClr val="711077"/>
                            </a:solidFill>
                            <a:latin typeface="DejaVu Math TeX Gyre" panose="02000503000000000000" charset="0"/>
                            <a:cs typeface="DejaVu Math TeX Gyre" panose="02000503000000000000" charset="0"/>
                          </a:rPr>
                        </m:ctrlPr>
                      </m:fPr>
                      <m:num>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𝑩</m:t>
                            </m:r>
                          </m:sub>
                        </m:sSub>
                      </m:num>
                      <m:den>
                        <m:sSub>
                          <m:sSubPr>
                            <m:ctrlPr>
                              <a:rPr lang="en-US" sz="2000" b="1" i="1">
                                <a:solidFill>
                                  <a:srgbClr val="711077"/>
                                </a:solidFill>
                                <a:latin typeface="DejaVu Math TeX Gyre" panose="02000503000000000000" charset="0"/>
                                <a:cs typeface="DejaVu Math TeX Gyre" panose="02000503000000000000" charset="0"/>
                              </a:rPr>
                            </m:ctrlPr>
                          </m:sSubPr>
                          <m:e>
                            <m:r>
                              <a:rPr lang="en-US" sz="2000" b="1" i="1">
                                <a:solidFill>
                                  <a:srgbClr val="711077"/>
                                </a:solidFill>
                                <a:latin typeface="DejaVu Math TeX Gyre" panose="02000503000000000000" charset="0"/>
                                <a:cs typeface="DejaVu Math TeX Gyre" panose="02000503000000000000" charset="0"/>
                              </a:rPr>
                              <m:t>𝝎</m:t>
                            </m:r>
                          </m:e>
                          <m:sub>
                            <m:r>
                              <a:rPr lang="en-US" sz="2000" b="1" i="1">
                                <a:solidFill>
                                  <a:srgbClr val="711077"/>
                                </a:solidFill>
                                <a:latin typeface="DejaVu Math TeX Gyre" panose="02000503000000000000" charset="0"/>
                                <a:cs typeface="DejaVu Math TeX Gyre" panose="02000503000000000000" charset="0"/>
                              </a:rPr>
                              <m:t>𝑨</m:t>
                            </m:r>
                          </m:sub>
                        </m:sSub>
                        <m:r>
                          <a:rPr lang="en-US" sz="2000" b="1" i="1">
                            <a:solidFill>
                              <a:srgbClr val="711077"/>
                            </a:solidFill>
                            <a:latin typeface="DejaVu Math TeX Gyre" panose="02000503000000000000" charset="0"/>
                            <a:cs typeface="DejaVu Math TeX Gyre" panose="02000503000000000000" charset="0"/>
                          </a:rPr>
                          <m:t>（</m:t>
                        </m:r>
                        <m:r>
                          <a:rPr sz="2000" b="1">
                            <a:solidFill>
                              <a:srgbClr val="711077"/>
                            </a:solidFill>
                            <a:latin typeface="Times New Roman" panose="02020503050405090304"/>
                            <a:sym typeface="+mn-ea"/>
                          </a:rPr>
                          <m:t>1</m:t>
                        </m:r>
                        <m:r>
                          <a:rPr sz="2000" b="1">
                            <a:solidFill>
                              <a:srgbClr val="711077"/>
                            </a:solidFill>
                            <a:latin typeface="Times New Roman" panose="02020503050405090304"/>
                            <a:sym typeface="+mn-ea"/>
                          </a:rPr>
                          <m:t>−</m:t>
                        </m:r>
                        <m:sSub>
                          <m:sSubPr>
                            <m:ctrlPr>
                              <a:rPr lang="en-US" sz="2000" b="1" i="1">
                                <a:solidFill>
                                  <a:srgbClr val="711077"/>
                                </a:solidFill>
                                <a:latin typeface="DejaVu Math TeX Gyre" panose="02000503000000000000" charset="0"/>
                                <a:cs typeface="DejaVu Math TeX Gyre" panose="02000503000000000000" charset="0"/>
                              </a:rPr>
                            </m:ctrlPr>
                          </m:sSubPr>
                          <m:e>
                            <m:r>
                              <a:rPr sz="2000" b="1">
                                <a:solidFill>
                                  <a:srgbClr val="711077"/>
                                </a:solidFill>
                                <a:latin typeface="Times New Roman" panose="02020503050405090304"/>
                                <a:sym typeface="+mn-ea"/>
                              </a:rPr>
                              <m:t>𝜏</m:t>
                            </m:r>
                          </m:e>
                          <m:sub>
                            <m:r>
                              <a:rPr lang="en-US" sz="2000" b="1" i="1">
                                <a:solidFill>
                                  <a:srgbClr val="711077"/>
                                </a:solidFill>
                                <a:latin typeface="DejaVu Math TeX Gyre" panose="02000503000000000000" charset="0"/>
                                <a:cs typeface="DejaVu Math TeX Gyre" panose="02000503000000000000" charset="0"/>
                              </a:rPr>
                              <m:t>𝑨𝑩</m:t>
                            </m:r>
                          </m:sub>
                        </m:sSub>
                        <m:r>
                          <a:rPr lang="en-US" sz="2000" b="1" i="1">
                            <a:solidFill>
                              <a:srgbClr val="711077"/>
                            </a:solidFill>
                            <a:latin typeface="DejaVu Math TeX Gyre" panose="02000503000000000000" charset="0"/>
                            <a:cs typeface="DejaVu Math TeX Gyre" panose="02000503000000000000" charset="0"/>
                          </a:rPr>
                          <m:t>）</m:t>
                        </m:r>
                      </m:den>
                    </m:f>
                  </m:oMath>
                </a14:m>
                <a:endParaRPr lang="zh-CN" altLang="en-US" sz="2000" b="1">
                  <a:solidFill>
                    <a:srgbClr val="711077"/>
                  </a:solidFill>
                  <a:latin typeface="微软雅黑"/>
                </a:endParaRPr>
              </a:p>
            </p:txBody>
          </p:sp>
        </mc:Choice>
        <mc:Fallback>
          <p:sp>
            <p:nvSpPr>
              <p:cNvPr id="9" name="Rectangle 63"/>
              <p:cNvSpPr>
                <a:spLocks noRot="1" noChangeAspect="1" noMove="1" noResize="1" noEditPoints="1" noAdjustHandles="1" noChangeArrowheads="1" noChangeShapeType="1" noTextEdit="1"/>
              </p:cNvSpPr>
              <p:nvPr/>
            </p:nvSpPr>
            <p:spPr>
              <a:xfrm>
                <a:off x="6967220" y="1330325"/>
                <a:ext cx="3197860" cy="527050"/>
              </a:xfrm>
              <a:prstGeom prst="rect">
                <a:avLst/>
              </a:prstGeom>
              <a:blipFill rotWithShape="1">
                <a:blip r:embed="rId4"/>
                <a:stretch>
                  <a:fillRect/>
                </a:stretch>
              </a:blipFill>
              <a:ln>
                <a:noFill/>
              </a:ln>
            </p:spPr>
            <p:style>
              <a:lnRef idx="1">
                <a:schemeClr val="accent1"/>
              </a:lnRef>
              <a:fillRef idx="3">
                <a:schemeClr val="accent1"/>
              </a:fillRef>
              <a:effectRef idx="2">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6381115" y="1981835"/>
                <a:ext cx="6096000" cy="335915"/>
              </a:xfrm>
              <a:prstGeom prst="rect">
                <a:avLst/>
              </a:prstGeom>
              <a:noFill/>
            </p:spPr>
            <p:txBody>
              <a:bodyPr wrap="square" rtlCol="0" anchor="t">
                <a:spAutoFit/>
              </a:bodyPr>
              <a:p>
                <a:r>
                  <a:rPr lang="zh-CN" altLang="en-US" sz="1500" b="1">
                    <a:solidFill>
                      <a:srgbClr val="711077"/>
                    </a:solidFill>
                    <a:latin typeface="Times New Roman" panose="02020503050405090304"/>
                    <a:sym typeface="+mn-ea"/>
                  </a:rPr>
                  <a:t>考虑迁移成本</a:t>
                </a:r>
                <a:r>
                  <a:rPr lang="en-US" altLang="zh-CN" sz="1500" b="1">
                    <a:solidFill>
                      <a:srgbClr val="711077"/>
                    </a:solidFill>
                    <a:latin typeface="Times New Roman" panose="02020503050405090304"/>
                    <a:sym typeface="+mn-ea"/>
                  </a:rPr>
                  <a:t>，</a:t>
                </a:r>
                <a:r>
                  <a:rPr lang="zh-CN" altLang="en-US" sz="1500" b="1">
                    <a:solidFill>
                      <a:srgbClr val="711077"/>
                    </a:solidFill>
                    <a:latin typeface="Times New Roman" panose="02020503050405090304"/>
                    <a:sym typeface="+mn-ea"/>
                  </a:rPr>
                  <a:t>令</a:t>
                </a:r>
                <a14:m>
                  <m:oMath xmlns:m="http://schemas.openxmlformats.org/officeDocument/2006/math">
                    <m:r>
                      <a:rPr lang="en-US" sz="1500" b="1" i="1">
                        <a:solidFill>
                          <a:srgbClr val="711077"/>
                        </a:solidFill>
                        <a:latin typeface="DejaVu Math TeX Gyre" panose="02000503000000000000" charset="0"/>
                        <a:cs typeface="DejaVu Math TeX Gyre" panose="02000503000000000000" charset="0"/>
                      </a:rPr>
                      <m:t>（</m:t>
                    </m:r>
                    <m:r>
                      <a:rPr sz="1500" b="1">
                        <a:solidFill>
                          <a:srgbClr val="711077"/>
                        </a:solidFill>
                        <a:latin typeface="Times New Roman" panose="02020503050405090304"/>
                        <a:sym typeface="+mn-ea"/>
                      </a:rPr>
                      <m:t>1</m:t>
                    </m:r>
                    <m:r>
                      <a:rPr sz="1500" b="1">
                        <a:solidFill>
                          <a:srgbClr val="711077"/>
                        </a:solidFill>
                        <a:latin typeface="Times New Roman" panose="02020503050405090304"/>
                        <a:sym typeface="+mn-ea"/>
                      </a:rPr>
                      <m:t>−</m:t>
                    </m:r>
                    <m:sSub>
                      <m:sSubPr>
                        <m:ctrlPr>
                          <a:rPr lang="en-US" sz="1500" b="1" i="1">
                            <a:solidFill>
                              <a:srgbClr val="711077"/>
                            </a:solidFill>
                            <a:latin typeface="DejaVu Math TeX Gyre" panose="02000503000000000000" charset="0"/>
                            <a:cs typeface="DejaVu Math TeX Gyre" panose="02000503000000000000" charset="0"/>
                          </a:rPr>
                        </m:ctrlPr>
                      </m:sSubPr>
                      <m:e>
                        <m:r>
                          <a:rPr sz="1500" b="1">
                            <a:solidFill>
                              <a:srgbClr val="711077"/>
                            </a:solidFill>
                            <a:latin typeface="Times New Roman" panose="02020503050405090304"/>
                            <a:sym typeface="+mn-ea"/>
                          </a:rPr>
                          <m:t>𝜏</m:t>
                        </m:r>
                      </m:e>
                      <m:sub>
                        <m:r>
                          <a:rPr lang="en-US" sz="1500" b="1" i="1">
                            <a:solidFill>
                              <a:srgbClr val="711077"/>
                            </a:solidFill>
                            <a:latin typeface="DejaVu Math TeX Gyre" panose="02000503000000000000" charset="0"/>
                            <a:cs typeface="DejaVu Math TeX Gyre" panose="02000503000000000000" charset="0"/>
                          </a:rPr>
                          <m:t>𝑨𝑩</m:t>
                        </m:r>
                      </m:sub>
                    </m:sSub>
                    <m:r>
                      <a:rPr lang="en-US" sz="1500" b="1" i="1">
                        <a:solidFill>
                          <a:srgbClr val="711077"/>
                        </a:solidFill>
                        <a:latin typeface="DejaVu Math TeX Gyre" panose="02000503000000000000" charset="0"/>
                        <a:cs typeface="DejaVu Math TeX Gyre" panose="02000503000000000000" charset="0"/>
                      </a:rPr>
                      <m:t>）</m:t>
                    </m:r>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𝒊𝑨</m:t>
                        </m:r>
                      </m:sub>
                    </m:sSub>
                  </m:oMath>
                </a14:m>
                <a:r>
                  <a:rPr lang="en-US" sz="1500" b="1">
                    <a:solidFill>
                      <a:srgbClr val="711077"/>
                    </a:solidFill>
                    <a:latin typeface="Times New Roman" panose="02020503050405090304"/>
                    <a:sym typeface="+mn-ea"/>
                  </a:rPr>
                  <a:t>=</a:t>
                </a:r>
                <a14:m>
                  <m:oMath xmlns:m="http://schemas.openxmlformats.org/officeDocument/2006/math">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r>
                          <a:rPr lang="en-US" altLang="en-US" sz="1500" b="1" i="1">
                            <a:solidFill>
                              <a:srgbClr val="711077"/>
                            </a:solidFill>
                            <a:latin typeface="DejaVu Math TeX Gyre" panose="02000503000000000000" charset="0"/>
                            <a:cs typeface="DejaVu Math TeX Gyre" panose="02000503000000000000" charset="0"/>
                          </a:rPr>
                          <m:t> </m:t>
                        </m:r>
                        <m:r>
                          <a:rPr lang="en-US" sz="1500" b="1" i="1">
                            <a:solidFill>
                              <a:srgbClr val="711077"/>
                            </a:solidFill>
                            <a:latin typeface="DejaVu Math TeX Gyre" panose="02000503000000000000" charset="0"/>
                            <a:cs typeface="DejaVu Math TeX Gyre" panose="02000503000000000000" charset="0"/>
                          </a:rPr>
                          <m:t>𝒔</m:t>
                        </m:r>
                      </m:e>
                      <m:sub>
                        <m:r>
                          <a:rPr lang="en-US" sz="1500" b="1" i="1">
                            <a:solidFill>
                              <a:srgbClr val="711077"/>
                            </a:solidFill>
                            <a:latin typeface="DejaVu Math TeX Gyre" panose="02000503000000000000" charset="0"/>
                            <a:cs typeface="DejaVu Math TeX Gyre" panose="02000503000000000000" charset="0"/>
                          </a:rPr>
                          <m:t>𝒊</m:t>
                        </m:r>
                        <m:r>
                          <a:rPr lang="en-US" sz="1500" b="1" i="1">
                            <a:solidFill>
                              <a:srgbClr val="711077"/>
                            </a:solidFill>
                            <a:latin typeface="DejaVu Math TeX Gyre" panose="02000503000000000000" charset="0"/>
                            <a:cs typeface="DejaVu Math TeX Gyre" panose="02000503000000000000" charset="0"/>
                          </a:rPr>
                          <m:t>𝐵</m:t>
                        </m:r>
                      </m:sub>
                    </m:sSub>
                  </m:oMath>
                </a14:m>
                <a:r>
                  <a:rPr sz="1500" b="1">
                    <a:solidFill>
                      <a:srgbClr val="711077"/>
                    </a:solidFill>
                    <a:latin typeface="Times New Roman" panose="02020503050405090304"/>
                    <a:sym typeface="+mn-ea"/>
                  </a:rPr>
                  <a:t> </a:t>
                </a:r>
                <a:r>
                  <a:rPr sz="1500" b="1">
                    <a:solidFill>
                      <a:srgbClr val="711077"/>
                    </a:solidFill>
                    <a:latin typeface="Times New Roman" panose="02020503050405090304"/>
                    <a:sym typeface="+mn-ea"/>
                  </a:rPr>
                  <a:t> </a:t>
                </a:r>
                <a:endParaRPr lang="en-US" altLang="en-US" sz="1500" b="1" i="1">
                  <a:solidFill>
                    <a:srgbClr val="711077"/>
                  </a:solidFill>
                  <a:latin typeface="DejaVu Math TeX Gyre" panose="02000503000000000000" charset="0"/>
                  <a:cs typeface="DejaVu Math TeX Gyre" panose="02000503000000000000"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6381115" y="1981835"/>
                <a:ext cx="6096000" cy="33591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065010" y="3561080"/>
                <a:ext cx="6096000" cy="675640"/>
              </a:xfrm>
              <a:prstGeom prst="rect">
                <a:avLst/>
              </a:prstGeom>
              <a:noFill/>
            </p:spPr>
            <p:txBody>
              <a:bodyPr wrap="square" rtlCol="0" anchor="t">
                <a:spAutoFit/>
              </a:bodyPr>
              <a:p>
                <a:r>
                  <a:rPr lang="zh-CN" altLang="en-US" sz="1500" b="1">
                    <a:solidFill>
                      <a:srgbClr val="711077"/>
                    </a:solidFill>
                    <a:latin typeface="Times New Roman" panose="02020503050405090304"/>
                    <a:sym typeface="+mn-ea"/>
                  </a:rPr>
                  <a:t>如果只考虑环境</a:t>
                </a:r>
                <a:r>
                  <a:rPr lang="en-US" altLang="zh-CN" sz="1500" b="1">
                    <a:solidFill>
                      <a:srgbClr val="711077"/>
                    </a:solidFill>
                    <a:latin typeface="Times New Roman" panose="02020503050405090304"/>
                    <a:sym typeface="+mn-ea"/>
                  </a:rPr>
                  <a:t>，</a:t>
                </a:r>
                <a:r>
                  <a:rPr lang="zh-CN" altLang="en-US" sz="1500" b="1">
                    <a:solidFill>
                      <a:srgbClr val="711077"/>
                    </a:solidFill>
                    <a:latin typeface="Times New Roman" panose="02020503050405090304"/>
                    <a:sym typeface="+mn-ea"/>
                  </a:rPr>
                  <a:t>不考虑迁移成本</a:t>
                </a:r>
                <a:endParaRPr lang="zh-CN" altLang="en-US" sz="1500" b="1">
                  <a:solidFill>
                    <a:srgbClr val="711077"/>
                  </a:solidFill>
                  <a:latin typeface="Times New Roman" panose="02020503050405090304"/>
                  <a:sym typeface="+mn-ea"/>
                </a:endParaRPr>
              </a:p>
              <a:p>
                <a:r>
                  <a:rPr lang="zh-CN" sz="1500" b="1">
                    <a:solidFill>
                      <a:srgbClr val="711077"/>
                    </a:solidFill>
                    <a:latin typeface="Times New Roman" panose="02020503050405090304"/>
                    <a:sym typeface="+mn-ea"/>
                  </a:rPr>
                  <a:t>则</a:t>
                </a:r>
                <a14:m>
                  <m:oMath xmlns:m="http://schemas.openxmlformats.org/officeDocument/2006/math">
                    <m:r>
                      <a:rPr lang="en-US" sz="1500" b="1" i="1">
                        <a:solidFill>
                          <a:srgbClr val="711077"/>
                        </a:solidFill>
                        <a:latin typeface="DejaVu Math TeX Gyre" panose="02000503000000000000" charset="0"/>
                        <a:cs typeface="DejaVu Math TeX Gyre" panose="02000503000000000000" charset="0"/>
                      </a:rPr>
                      <m:t>𝒌</m:t>
                    </m:r>
                    <m:r>
                      <a:rPr lang="en-US" sz="1500" b="1" i="1">
                        <a:solidFill>
                          <a:srgbClr val="711077"/>
                        </a:solidFill>
                        <a:latin typeface="DejaVu Math TeX Gyre" panose="02000503000000000000" charset="0"/>
                        <a:cs typeface="DejaVu Math TeX Gyre" panose="02000503000000000000" charset="0"/>
                      </a:rPr>
                      <m:t>=</m:t>
                    </m:r>
                    <m:f>
                      <m:fPr>
                        <m:ctrlPr>
                          <a:rPr lang="en-US" sz="1500" b="1" i="1">
                            <a:solidFill>
                              <a:srgbClr val="711077"/>
                            </a:solidFill>
                            <a:latin typeface="DejaVu Math TeX Gyre" panose="02000503000000000000" charset="0"/>
                            <a:cs typeface="DejaVu Math TeX Gyre" panose="02000503000000000000" charset="0"/>
                          </a:rPr>
                        </m:ctrlPr>
                      </m:fPr>
                      <m:num>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𝒂</m:t>
                                </m:r>
                              </m:e>
                              <m:sub>
                                <m:r>
                                  <a:rPr lang="en-US" sz="1500" b="1" i="1">
                                    <a:solidFill>
                                      <a:srgbClr val="711077"/>
                                    </a:solidFill>
                                    <a:latin typeface="DejaVu Math TeX Gyre" panose="02000503000000000000" charset="0"/>
                                    <a:cs typeface="DejaVu Math TeX Gyre" panose="02000503000000000000" charset="0"/>
                                  </a:rPr>
                                  <m:t>𝑨</m:t>
                                </m:r>
                              </m:sub>
                            </m:sSub>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𝑩</m:t>
                            </m:r>
                          </m:sub>
                        </m:sSub>
                      </m:num>
                      <m:den>
                        <m:sSub>
                          <m:sSubPr>
                            <m:ctrlPr>
                              <a:rPr lang="en-US" sz="1500" b="1" i="1">
                                <a:solidFill>
                                  <a:srgbClr val="711077"/>
                                </a:solidFill>
                                <a:latin typeface="DejaVu Math TeX Gyre" panose="02000503000000000000" charset="0"/>
                                <a:cs typeface="DejaVu Math TeX Gyre" panose="02000503000000000000" charset="0"/>
                              </a:rPr>
                            </m:ctrlPr>
                          </m:sSubPr>
                          <m:e>
                            <m:sSub>
                              <m:sSubPr>
                                <m:ctrlPr>
                                  <a:rPr lang="en-US" sz="1500" b="1" i="1">
                                    <a:solidFill>
                                      <a:srgbClr val="711077"/>
                                    </a:solidFill>
                                    <a:latin typeface="DejaVu Math TeX Gyre" panose="02000503000000000000" charset="0"/>
                                    <a:cs typeface="DejaVu Math TeX Gyre" panose="02000503000000000000" charset="0"/>
                                  </a:rPr>
                                </m:ctrlPr>
                              </m:sSubPr>
                              <m:e>
                                <m:r>
                                  <a:rPr lang="en-US" sz="1500" b="1" i="1">
                                    <a:solidFill>
                                      <a:srgbClr val="711077"/>
                                    </a:solidFill>
                                    <a:latin typeface="DejaVu Math TeX Gyre" panose="02000503000000000000" charset="0"/>
                                    <a:cs typeface="DejaVu Math TeX Gyre" panose="02000503000000000000" charset="0"/>
                                  </a:rPr>
                                  <m:t>𝒂</m:t>
                                </m:r>
                              </m:e>
                              <m:sub>
                                <m:r>
                                  <a:rPr lang="en-US" sz="1500" b="1" i="1">
                                    <a:solidFill>
                                      <a:srgbClr val="711077"/>
                                    </a:solidFill>
                                    <a:latin typeface="DejaVu Math TeX Gyre" panose="02000503000000000000" charset="0"/>
                                    <a:cs typeface="DejaVu Math TeX Gyre" panose="02000503000000000000" charset="0"/>
                                  </a:rPr>
                                  <m:t>𝐵</m:t>
                                </m:r>
                              </m:sub>
                            </m:sSub>
                            <m:r>
                              <a:rPr lang="en-US" sz="1500" b="1" i="1">
                                <a:solidFill>
                                  <a:srgbClr val="711077"/>
                                </a:solidFill>
                                <a:latin typeface="DejaVu Math TeX Gyre" panose="02000503000000000000" charset="0"/>
                                <a:cs typeface="DejaVu Math TeX Gyre" panose="02000503000000000000" charset="0"/>
                              </a:rPr>
                              <m:t>𝝎</m:t>
                            </m:r>
                          </m:e>
                          <m:sub>
                            <m:r>
                              <a:rPr lang="en-US" sz="1500" b="1" i="1">
                                <a:solidFill>
                                  <a:srgbClr val="711077"/>
                                </a:solidFill>
                                <a:latin typeface="DejaVu Math TeX Gyre" panose="02000503000000000000" charset="0"/>
                                <a:cs typeface="DejaVu Math TeX Gyre" panose="02000503000000000000" charset="0"/>
                              </a:rPr>
                              <m:t>𝑨</m:t>
                            </m:r>
                          </m:sub>
                        </m:sSub>
                      </m:den>
                    </m:f>
                  </m:oMath>
                </a14:m>
                <a:r>
                  <a:rPr sz="1500" b="1">
                    <a:solidFill>
                      <a:srgbClr val="711077"/>
                    </a:solidFill>
                    <a:latin typeface="Times New Roman" panose="02020503050405090304"/>
                    <a:sym typeface="+mn-ea"/>
                  </a:rPr>
                  <a:t>  </a:t>
                </a:r>
                <a:r>
                  <a:rPr lang="en-US" sz="1500" b="1">
                    <a:solidFill>
                      <a:srgbClr val="711077"/>
                    </a:solidFill>
                    <a:latin typeface="Times New Roman" panose="02020503050405090304"/>
                    <a:sym typeface="+mn-ea"/>
                  </a:rPr>
                  <a:t>，</a:t>
                </a:r>
                <a:r>
                  <a:rPr lang="zh-CN" sz="1500" b="1">
                    <a:solidFill>
                      <a:srgbClr val="711077"/>
                    </a:solidFill>
                    <a:latin typeface="Times New Roman" panose="02020503050405090304"/>
                    <a:sym typeface="+mn-ea"/>
                  </a:rPr>
                  <a:t>讨论</a:t>
                </a:r>
                <a:r>
                  <a:rPr lang="zh-CN" sz="1500" b="1">
                    <a:solidFill>
                      <a:srgbClr val="711077"/>
                    </a:solidFill>
                    <a:latin typeface="Times New Roman" panose="02020503050405090304"/>
                    <a:sym typeface="+mn-ea"/>
                  </a:rPr>
                  <a:t>同上</a:t>
                </a:r>
                <a:endParaRPr lang="zh-CN" sz="1500" b="1">
                  <a:solidFill>
                    <a:srgbClr val="711077"/>
                  </a:solidFill>
                  <a:latin typeface="Times New Roman" panose="02020503050405090304"/>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7065010" y="3561080"/>
                <a:ext cx="6096000" cy="675640"/>
              </a:xfrm>
              <a:prstGeom prst="rect">
                <a:avLst/>
              </a:prstGeom>
              <a:blipFill rotWithShape="1">
                <a:blip r:embed="rId6"/>
                <a:stretch>
                  <a:fillRect/>
                </a:stretch>
              </a:blipFill>
            </p:spPr>
            <p:txBody>
              <a:bodyPr/>
              <a:lstStyle/>
              <a:p>
                <a:r>
                  <a:rPr lang="zh-CN" altLang="en-US">
                    <a:noFill/>
                  </a:rPr>
                  <a:t> </a:t>
                </a:r>
              </a:p>
            </p:txBody>
          </p:sp>
        </mc:Fallback>
      </mc:AlternateContent>
      <p:sp>
        <p:nvSpPr>
          <p:cNvPr id="6" name="文本框 5"/>
          <p:cNvSpPr txBox="1"/>
          <p:nvPr/>
        </p:nvSpPr>
        <p:spPr>
          <a:xfrm>
            <a:off x="6967220" y="3049905"/>
            <a:ext cx="6096000" cy="321945"/>
          </a:xfrm>
          <a:prstGeom prst="rect">
            <a:avLst/>
          </a:prstGeom>
          <a:noFill/>
        </p:spPr>
        <p:txBody>
          <a:bodyPr wrap="square" rtlCol="0" anchor="t">
            <a:spAutoFit/>
          </a:bodyPr>
          <a:p>
            <a:r>
              <a:rPr lang="en-US" altLang="en-US" sz="1500" b="1" i="1">
                <a:solidFill>
                  <a:srgbClr val="711077"/>
                </a:solidFill>
                <a:latin typeface="DejaVu Math TeX Gyre" panose="02000503000000000000" charset="0"/>
                <a:cs typeface="DejaVu Math TeX Gyre" panose="02000503000000000000" charset="0"/>
                <a:sym typeface="+mn-ea"/>
              </a:rPr>
              <a:t>Ⅰ</a:t>
            </a:r>
            <a:r>
              <a:rPr lang="zh-CN" altLang="en-US" sz="1500" b="1" i="1">
                <a:solidFill>
                  <a:srgbClr val="711077"/>
                </a:solidFill>
                <a:latin typeface="DejaVu Math TeX Gyre" panose="02000503000000000000" charset="0"/>
                <a:cs typeface="DejaVu Math TeX Gyre" panose="02000503000000000000" charset="0"/>
                <a:sym typeface="+mn-ea"/>
              </a:rPr>
              <a:t>区域将迁往</a:t>
            </a:r>
            <a:r>
              <a:rPr lang="en-US" altLang="zh-CN" sz="1500" b="1" i="1">
                <a:solidFill>
                  <a:srgbClr val="711077"/>
                </a:solidFill>
                <a:latin typeface="DejaVu Math TeX Gyre" panose="02000503000000000000" charset="0"/>
                <a:cs typeface="DejaVu Math TeX Gyre" panose="02000503000000000000" charset="0"/>
                <a:sym typeface="+mn-ea"/>
              </a:rPr>
              <a:t>A</a:t>
            </a:r>
            <a:r>
              <a:rPr lang="zh-CN" altLang="en-US" sz="1500" b="1" i="1">
                <a:solidFill>
                  <a:srgbClr val="711077"/>
                </a:solidFill>
                <a:latin typeface="DejaVu Math TeX Gyre" panose="02000503000000000000" charset="0"/>
                <a:cs typeface="DejaVu Math TeX Gyre" panose="02000503000000000000" charset="0"/>
                <a:sym typeface="+mn-ea"/>
              </a:rPr>
              <a:t>工作，</a:t>
            </a:r>
            <a:r>
              <a:rPr lang="en-US" altLang="en-US" sz="1500" b="1" i="1">
                <a:solidFill>
                  <a:srgbClr val="711077"/>
                </a:solidFill>
                <a:latin typeface="DejaVu Math TeX Gyre" panose="02000503000000000000" charset="0"/>
                <a:cs typeface="DejaVu Math TeX Gyre" panose="02000503000000000000" charset="0"/>
                <a:sym typeface="+mn-ea"/>
              </a:rPr>
              <a:t>Ⅱ</a:t>
            </a:r>
            <a:r>
              <a:rPr lang="zh-CN" altLang="en-US" sz="1500" b="1" i="1">
                <a:solidFill>
                  <a:srgbClr val="711077"/>
                </a:solidFill>
                <a:latin typeface="DejaVu Math TeX Gyre" panose="02000503000000000000" charset="0"/>
                <a:cs typeface="DejaVu Math TeX Gyre" panose="02000503000000000000" charset="0"/>
                <a:sym typeface="+mn-ea"/>
              </a:rPr>
              <a:t>区域因为迁移成本留在</a:t>
            </a:r>
            <a:r>
              <a:rPr lang="en-US" altLang="zh-CN" sz="1500" b="1" i="1">
                <a:solidFill>
                  <a:srgbClr val="711077"/>
                </a:solidFill>
                <a:latin typeface="DejaVu Math TeX Gyre" panose="02000503000000000000" charset="0"/>
                <a:cs typeface="DejaVu Math TeX Gyre" panose="02000503000000000000" charset="0"/>
                <a:sym typeface="+mn-ea"/>
              </a:rPr>
              <a:t>B</a:t>
            </a:r>
            <a:r>
              <a:rPr lang="zh-CN" altLang="en-US" sz="1500" b="1" i="1">
                <a:solidFill>
                  <a:srgbClr val="711077"/>
                </a:solidFill>
                <a:latin typeface="DejaVu Math TeX Gyre" panose="02000503000000000000" charset="0"/>
                <a:cs typeface="DejaVu Math TeX Gyre" panose="02000503000000000000" charset="0"/>
                <a:sym typeface="+mn-ea"/>
              </a:rPr>
              <a:t>工作</a:t>
            </a:r>
            <a:endParaRPr lang="zh-CN" altLang="en-US" sz="1500" b="1" i="1">
              <a:solidFill>
                <a:srgbClr val="711077"/>
              </a:solidFill>
              <a:latin typeface="DejaVu Math TeX Gyre" panose="02000503000000000000" charset="0"/>
              <a:cs typeface="DejaVu Math TeX Gyre" panose="02000503000000000000"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6875309" y="1559560"/>
            <a:ext cx="4871770" cy="3310255"/>
            <a:chOff x="3600" y="2808"/>
            <a:chExt cx="13968" cy="5213"/>
          </a:xfrm>
          <a:effectLst>
            <a:outerShdw blurRad="50800" dist="38100" dir="2700000" algn="tl" rotWithShape="0">
              <a:prstClr val="black">
                <a:alpha val="40000"/>
              </a:prstClr>
            </a:outerShdw>
          </a:effectLst>
        </p:grpSpPr>
        <p:sp>
          <p:nvSpPr>
            <p:cNvPr id="65" name="Rectangle 14"/>
            <p:cNvSpPr/>
            <p:nvPr/>
          </p:nvSpPr>
          <p:spPr>
            <a:xfrm>
              <a:off x="3600" y="2808"/>
              <a:ext cx="1440" cy="893"/>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微软雅黑"/>
                </a:rPr>
                <a:t>区域</a:t>
              </a:r>
              <a:endParaRPr sz="1300" b="1">
                <a:solidFill>
                  <a:srgbClr val="FFFFFF"/>
                </a:solidFill>
                <a:latin typeface="微软雅黑"/>
              </a:endParaRPr>
            </a:p>
          </p:txBody>
        </p:sp>
        <p:sp>
          <p:nvSpPr>
            <p:cNvPr id="66" name="Rectangle 15"/>
            <p:cNvSpPr/>
            <p:nvPr/>
          </p:nvSpPr>
          <p:spPr>
            <a:xfrm>
              <a:off x="5040" y="2808"/>
              <a:ext cx="2232" cy="893"/>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微软雅黑"/>
                </a:rPr>
                <a:t>比较优势
在哪</a:t>
              </a:r>
              <a:endParaRPr sz="1300" b="1">
                <a:solidFill>
                  <a:srgbClr val="FFFFFF"/>
                </a:solidFill>
                <a:latin typeface="微软雅黑"/>
              </a:endParaRPr>
            </a:p>
          </p:txBody>
        </p:sp>
        <p:sp>
          <p:nvSpPr>
            <p:cNvPr id="67" name="Rectangle 16"/>
            <p:cNvSpPr/>
            <p:nvPr/>
          </p:nvSpPr>
          <p:spPr>
            <a:xfrm>
              <a:off x="7272" y="2808"/>
              <a:ext cx="2520" cy="893"/>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微软雅黑"/>
                </a:rPr>
                <a:t>应在哪
（生产率最大化）</a:t>
              </a:r>
              <a:endParaRPr sz="1300" b="1">
                <a:solidFill>
                  <a:srgbClr val="FFFFFF"/>
                </a:solidFill>
                <a:latin typeface="微软雅黑"/>
              </a:endParaRPr>
            </a:p>
          </p:txBody>
        </p:sp>
        <p:sp>
          <p:nvSpPr>
            <p:cNvPr id="68" name="Rectangle 17"/>
            <p:cNvSpPr/>
            <p:nvPr/>
          </p:nvSpPr>
          <p:spPr>
            <a:xfrm>
              <a:off x="9792" y="2808"/>
              <a:ext cx="1872" cy="893"/>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微软雅黑"/>
                </a:rPr>
                <a:t>实际在哪</a:t>
              </a:r>
              <a:endParaRPr sz="1300" b="1">
                <a:solidFill>
                  <a:srgbClr val="FFFFFF"/>
                </a:solidFill>
                <a:latin typeface="微软雅黑"/>
              </a:endParaRPr>
            </a:p>
          </p:txBody>
        </p:sp>
        <p:sp>
          <p:nvSpPr>
            <p:cNvPr id="69" name="Rectangle 18"/>
            <p:cNvSpPr/>
            <p:nvPr/>
          </p:nvSpPr>
          <p:spPr>
            <a:xfrm>
              <a:off x="11664" y="2808"/>
              <a:ext cx="5904" cy="893"/>
            </a:xfrm>
            <a:prstGeom prst="rect">
              <a:avLst/>
            </a:prstGeom>
            <a:solidFill>
              <a:srgbClr val="71107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微软雅黑"/>
                </a:rPr>
                <a:t>效率损失</a:t>
              </a:r>
              <a:endParaRPr sz="1300" b="1">
                <a:solidFill>
                  <a:srgbClr val="FFFFFF"/>
                </a:solidFill>
                <a:latin typeface="微软雅黑"/>
              </a:endParaRPr>
            </a:p>
          </p:txBody>
        </p:sp>
        <p:sp>
          <p:nvSpPr>
            <p:cNvPr id="70" name="Rectangle 19"/>
            <p:cNvSpPr/>
            <p:nvPr/>
          </p:nvSpPr>
          <p:spPr>
            <a:xfrm>
              <a:off x="3600" y="3845"/>
              <a:ext cx="1440" cy="1066"/>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32323"/>
                  </a:solidFill>
                  <a:latin typeface="Arial" panose="020B0604020202090204"/>
                </a:rPr>
                <a:t>I</a:t>
              </a:r>
              <a:endParaRPr sz="1200" b="1">
                <a:solidFill>
                  <a:srgbClr val="232323"/>
                </a:solidFill>
                <a:latin typeface="Arial" panose="020B0604020202090204"/>
              </a:endParaRPr>
            </a:p>
          </p:txBody>
        </p:sp>
        <p:sp>
          <p:nvSpPr>
            <p:cNvPr id="71" name="Rectangle 20"/>
            <p:cNvSpPr/>
            <p:nvPr/>
          </p:nvSpPr>
          <p:spPr>
            <a:xfrm>
              <a:off x="5040" y="3845"/>
              <a:ext cx="2232" cy="1066"/>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A</a:t>
              </a:r>
              <a:endParaRPr sz="1200" b="0">
                <a:solidFill>
                  <a:srgbClr val="232323"/>
                </a:solidFill>
                <a:latin typeface="微软雅黑"/>
              </a:endParaRPr>
            </a:p>
          </p:txBody>
        </p:sp>
        <p:sp>
          <p:nvSpPr>
            <p:cNvPr id="72" name="Rectangle 21"/>
            <p:cNvSpPr/>
            <p:nvPr/>
          </p:nvSpPr>
          <p:spPr>
            <a:xfrm>
              <a:off x="7272" y="3845"/>
              <a:ext cx="2520" cy="1066"/>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A</a:t>
              </a:r>
              <a:endParaRPr sz="1200" b="0">
                <a:solidFill>
                  <a:srgbClr val="232323"/>
                </a:solidFill>
                <a:latin typeface="微软雅黑"/>
              </a:endParaRPr>
            </a:p>
          </p:txBody>
        </p:sp>
        <p:sp>
          <p:nvSpPr>
            <p:cNvPr id="73" name="Rectangle 22"/>
            <p:cNvSpPr/>
            <p:nvPr/>
          </p:nvSpPr>
          <p:spPr>
            <a:xfrm>
              <a:off x="9792" y="3845"/>
              <a:ext cx="1872" cy="1066"/>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A</a:t>
              </a:r>
              <a:endParaRPr sz="1200" b="0">
                <a:solidFill>
                  <a:srgbClr val="232323"/>
                </a:solidFill>
                <a:latin typeface="微软雅黑"/>
              </a:endParaRPr>
            </a:p>
          </p:txBody>
        </p:sp>
        <p:sp>
          <p:nvSpPr>
            <p:cNvPr id="74" name="Rectangle 23"/>
            <p:cNvSpPr/>
            <p:nvPr/>
          </p:nvSpPr>
          <p:spPr>
            <a:xfrm>
              <a:off x="11664" y="3845"/>
              <a:ext cx="5904" cy="1066"/>
            </a:xfrm>
            <a:prstGeom prst="rect">
              <a:avLst/>
            </a:prstGeom>
            <a:solidFill>
              <a:srgbClr val="FFFFFF"/>
            </a:solidFill>
            <a:ln>
              <a:solidFill>
                <a:srgbClr val="DCDC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50" b="0">
                  <a:solidFill>
                    <a:srgbClr val="008000"/>
                  </a:solidFill>
                  <a:latin typeface="微软雅黑"/>
                </a:rPr>
                <a:t>无效率损失</a:t>
              </a:r>
              <a:endParaRPr sz="1150" b="0">
                <a:solidFill>
                  <a:srgbClr val="008000"/>
                </a:solidFill>
                <a:latin typeface="微软雅黑"/>
              </a:endParaRPr>
            </a:p>
          </p:txBody>
        </p:sp>
        <p:sp>
          <p:nvSpPr>
            <p:cNvPr id="75" name="Rectangle 24"/>
            <p:cNvSpPr/>
            <p:nvPr/>
          </p:nvSpPr>
          <p:spPr>
            <a:xfrm>
              <a:off x="3600" y="4882"/>
              <a:ext cx="1440" cy="1066"/>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32323"/>
                  </a:solidFill>
                  <a:latin typeface="Arial" panose="020B0604020202090204"/>
                </a:rPr>
                <a:t>II</a:t>
              </a:r>
              <a:endParaRPr sz="1200" b="1">
                <a:solidFill>
                  <a:srgbClr val="232323"/>
                </a:solidFill>
                <a:latin typeface="Arial" panose="020B0604020202090204"/>
              </a:endParaRPr>
            </a:p>
          </p:txBody>
        </p:sp>
        <p:sp>
          <p:nvSpPr>
            <p:cNvPr id="76" name="Rectangle 25"/>
            <p:cNvSpPr/>
            <p:nvPr/>
          </p:nvSpPr>
          <p:spPr>
            <a:xfrm>
              <a:off x="5040" y="4882"/>
              <a:ext cx="2232" cy="1066"/>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A</a:t>
              </a:r>
              <a:endParaRPr sz="1200" b="0">
                <a:solidFill>
                  <a:srgbClr val="232323"/>
                </a:solidFill>
                <a:latin typeface="微软雅黑"/>
              </a:endParaRPr>
            </a:p>
          </p:txBody>
        </p:sp>
        <p:sp>
          <p:nvSpPr>
            <p:cNvPr id="77" name="Rectangle 26"/>
            <p:cNvSpPr/>
            <p:nvPr/>
          </p:nvSpPr>
          <p:spPr>
            <a:xfrm>
              <a:off x="7272" y="4882"/>
              <a:ext cx="2520" cy="1066"/>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A</a:t>
              </a:r>
              <a:endParaRPr sz="1200" b="0">
                <a:solidFill>
                  <a:srgbClr val="232323"/>
                </a:solidFill>
                <a:latin typeface="微软雅黑"/>
              </a:endParaRPr>
            </a:p>
          </p:txBody>
        </p:sp>
        <p:sp>
          <p:nvSpPr>
            <p:cNvPr id="78" name="Rectangle 27"/>
            <p:cNvSpPr/>
            <p:nvPr/>
          </p:nvSpPr>
          <p:spPr>
            <a:xfrm>
              <a:off x="9792" y="4882"/>
              <a:ext cx="1872" cy="1066"/>
            </a:xfrm>
            <a:prstGeom prst="rect">
              <a:avLst/>
            </a:prstGeom>
            <a:solidFill>
              <a:srgbClr val="F7F7F7"/>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B</a:t>
              </a:r>
              <a:endParaRPr sz="1200" b="0">
                <a:solidFill>
                  <a:srgbClr val="232323"/>
                </a:solidFill>
                <a:latin typeface="微软雅黑"/>
              </a:endParaRPr>
            </a:p>
          </p:txBody>
        </p:sp>
        <p:sp>
          <p:nvSpPr>
            <p:cNvPr id="79" name="Rectangle 28"/>
            <p:cNvSpPr/>
            <p:nvPr/>
          </p:nvSpPr>
          <p:spPr>
            <a:xfrm>
              <a:off x="11664" y="4882"/>
              <a:ext cx="5904" cy="1066"/>
            </a:xfrm>
            <a:prstGeom prst="rect">
              <a:avLst/>
            </a:prstGeom>
            <a:solidFill>
              <a:srgbClr val="F7F7F7"/>
            </a:solidFill>
            <a:ln>
              <a:solidFill>
                <a:srgbClr val="DCDC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50" b="0">
                  <a:solidFill>
                    <a:srgbClr val="9E0000"/>
                  </a:solidFill>
                  <a:latin typeface="微软雅黑"/>
                </a:rPr>
                <a:t>有：Sorting 损失 + Agglomeration 损失
（本应去 A，但因迁移成本留在 B）</a:t>
              </a:r>
              <a:endParaRPr sz="1150" b="0">
                <a:solidFill>
                  <a:srgbClr val="9E0000"/>
                </a:solidFill>
                <a:latin typeface="微软雅黑"/>
              </a:endParaRPr>
            </a:p>
          </p:txBody>
        </p:sp>
        <p:sp>
          <p:nvSpPr>
            <p:cNvPr id="80" name="Rectangle 29"/>
            <p:cNvSpPr/>
            <p:nvPr/>
          </p:nvSpPr>
          <p:spPr>
            <a:xfrm>
              <a:off x="3600" y="5918"/>
              <a:ext cx="1440" cy="1066"/>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32323"/>
                  </a:solidFill>
                  <a:latin typeface="Arial" panose="020B0604020202090204"/>
                </a:rPr>
                <a:t>III</a:t>
              </a:r>
              <a:endParaRPr sz="1200" b="1">
                <a:solidFill>
                  <a:srgbClr val="232323"/>
                </a:solidFill>
                <a:latin typeface="Arial" panose="020B0604020202090204"/>
              </a:endParaRPr>
            </a:p>
          </p:txBody>
        </p:sp>
        <p:sp>
          <p:nvSpPr>
            <p:cNvPr id="81" name="Rectangle 30"/>
            <p:cNvSpPr/>
            <p:nvPr/>
          </p:nvSpPr>
          <p:spPr>
            <a:xfrm>
              <a:off x="5040" y="5918"/>
              <a:ext cx="2232" cy="1066"/>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B</a:t>
              </a:r>
              <a:endParaRPr sz="1200" b="0">
                <a:solidFill>
                  <a:srgbClr val="232323"/>
                </a:solidFill>
                <a:latin typeface="微软雅黑"/>
              </a:endParaRPr>
            </a:p>
          </p:txBody>
        </p:sp>
        <p:sp>
          <p:nvSpPr>
            <p:cNvPr id="82" name="Rectangle 31"/>
            <p:cNvSpPr/>
            <p:nvPr/>
          </p:nvSpPr>
          <p:spPr>
            <a:xfrm>
              <a:off x="7272" y="5918"/>
              <a:ext cx="2520" cy="1066"/>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A</a:t>
              </a:r>
              <a:endParaRPr sz="1200" b="0">
                <a:solidFill>
                  <a:srgbClr val="232323"/>
                </a:solidFill>
                <a:latin typeface="微软雅黑"/>
              </a:endParaRPr>
            </a:p>
          </p:txBody>
        </p:sp>
        <p:sp>
          <p:nvSpPr>
            <p:cNvPr id="83" name="Rectangle 32"/>
            <p:cNvSpPr/>
            <p:nvPr/>
          </p:nvSpPr>
          <p:spPr>
            <a:xfrm>
              <a:off x="9792" y="5918"/>
              <a:ext cx="1872" cy="1066"/>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B</a:t>
              </a:r>
              <a:endParaRPr sz="1200" b="0">
                <a:solidFill>
                  <a:srgbClr val="232323"/>
                </a:solidFill>
                <a:latin typeface="微软雅黑"/>
              </a:endParaRPr>
            </a:p>
          </p:txBody>
        </p:sp>
        <p:sp>
          <p:nvSpPr>
            <p:cNvPr id="84" name="Rectangle 33"/>
            <p:cNvSpPr/>
            <p:nvPr/>
          </p:nvSpPr>
          <p:spPr>
            <a:xfrm>
              <a:off x="11664" y="5918"/>
              <a:ext cx="5904" cy="1066"/>
            </a:xfrm>
            <a:prstGeom prst="rect">
              <a:avLst/>
            </a:prstGeom>
            <a:solidFill>
              <a:srgbClr val="FFFFFF"/>
            </a:solidFill>
            <a:ln>
              <a:solidFill>
                <a:srgbClr val="DCDC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50" b="0">
                  <a:solidFill>
                    <a:srgbClr val="9E0000"/>
                  </a:solidFill>
                  <a:latin typeface="微软雅黑"/>
                </a:rPr>
                <a:t>有：Agglomeration 损失
（比较优势在 B，但从总体生产率看仍应去 A）</a:t>
              </a:r>
              <a:endParaRPr sz="1150" b="0">
                <a:solidFill>
                  <a:srgbClr val="9E0000"/>
                </a:solidFill>
                <a:latin typeface="微软雅黑"/>
              </a:endParaRPr>
            </a:p>
          </p:txBody>
        </p:sp>
        <p:sp>
          <p:nvSpPr>
            <p:cNvPr id="85" name="Rectangle 34"/>
            <p:cNvSpPr/>
            <p:nvPr/>
          </p:nvSpPr>
          <p:spPr>
            <a:xfrm>
              <a:off x="3600" y="6955"/>
              <a:ext cx="1440" cy="1066"/>
            </a:xfrm>
            <a:prstGeom prst="rect">
              <a:avLst/>
            </a:prstGeom>
            <a:solidFill>
              <a:srgbClr val="F7F7F7"/>
            </a:solidFill>
            <a:ln>
              <a:solidFill>
                <a:srgbClr val="DCDC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32323"/>
                  </a:solidFill>
                  <a:latin typeface="Arial" panose="020B0604020202090204"/>
                </a:rPr>
                <a:t>IV</a:t>
              </a:r>
              <a:endParaRPr sz="1200" b="1">
                <a:solidFill>
                  <a:srgbClr val="232323"/>
                </a:solidFill>
                <a:latin typeface="Arial" panose="020B0604020202090204"/>
              </a:endParaRPr>
            </a:p>
          </p:txBody>
        </p:sp>
        <p:sp>
          <p:nvSpPr>
            <p:cNvPr id="86" name="Rectangle 35"/>
            <p:cNvSpPr/>
            <p:nvPr/>
          </p:nvSpPr>
          <p:spPr>
            <a:xfrm>
              <a:off x="5040" y="6955"/>
              <a:ext cx="2232" cy="1066"/>
            </a:xfrm>
            <a:prstGeom prst="rect">
              <a:avLst/>
            </a:prstGeom>
            <a:solidFill>
              <a:srgbClr val="F7F7F7"/>
            </a:solidFill>
            <a:ln>
              <a:solidFill>
                <a:srgbClr val="DCDC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B</a:t>
              </a:r>
              <a:endParaRPr sz="1200" b="0">
                <a:solidFill>
                  <a:srgbClr val="232323"/>
                </a:solidFill>
                <a:latin typeface="微软雅黑"/>
              </a:endParaRPr>
            </a:p>
          </p:txBody>
        </p:sp>
        <p:sp>
          <p:nvSpPr>
            <p:cNvPr id="87" name="Rectangle 36"/>
            <p:cNvSpPr/>
            <p:nvPr/>
          </p:nvSpPr>
          <p:spPr>
            <a:xfrm>
              <a:off x="7272" y="6955"/>
              <a:ext cx="2520" cy="1066"/>
            </a:xfrm>
            <a:prstGeom prst="rect">
              <a:avLst/>
            </a:prstGeom>
            <a:solidFill>
              <a:srgbClr val="F7F7F7"/>
            </a:solidFill>
            <a:ln>
              <a:solidFill>
                <a:srgbClr val="DCDC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B</a:t>
              </a:r>
              <a:endParaRPr sz="1200" b="0">
                <a:solidFill>
                  <a:srgbClr val="232323"/>
                </a:solidFill>
                <a:latin typeface="微软雅黑"/>
              </a:endParaRPr>
            </a:p>
          </p:txBody>
        </p:sp>
        <p:sp>
          <p:nvSpPr>
            <p:cNvPr id="88" name="Rectangle 37"/>
            <p:cNvSpPr/>
            <p:nvPr/>
          </p:nvSpPr>
          <p:spPr>
            <a:xfrm>
              <a:off x="9792" y="6955"/>
              <a:ext cx="1872" cy="1066"/>
            </a:xfrm>
            <a:prstGeom prst="rect">
              <a:avLst/>
            </a:prstGeom>
            <a:solidFill>
              <a:srgbClr val="F7F7F7"/>
            </a:solidFill>
            <a:ln>
              <a:solidFill>
                <a:srgbClr val="DCDC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0">
                  <a:solidFill>
                    <a:srgbClr val="232323"/>
                  </a:solidFill>
                  <a:latin typeface="微软雅黑"/>
                </a:rPr>
                <a:t>B</a:t>
              </a:r>
              <a:endParaRPr sz="1200" b="0">
                <a:solidFill>
                  <a:srgbClr val="232323"/>
                </a:solidFill>
                <a:latin typeface="微软雅黑"/>
              </a:endParaRPr>
            </a:p>
          </p:txBody>
        </p:sp>
        <p:sp>
          <p:nvSpPr>
            <p:cNvPr id="89" name="Rectangle 38"/>
            <p:cNvSpPr/>
            <p:nvPr/>
          </p:nvSpPr>
          <p:spPr>
            <a:xfrm>
              <a:off x="11664" y="6955"/>
              <a:ext cx="5904" cy="1066"/>
            </a:xfrm>
            <a:prstGeom prst="rect">
              <a:avLst/>
            </a:prstGeom>
            <a:solidFill>
              <a:srgbClr val="F7F7F7"/>
            </a:solidFill>
            <a:ln>
              <a:solidFill>
                <a:srgbClr val="DCDC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50" b="0">
                  <a:solidFill>
                    <a:srgbClr val="008000"/>
                  </a:solidFill>
                  <a:latin typeface="微软雅黑"/>
                </a:rPr>
                <a:t>无效率损失</a:t>
              </a:r>
              <a:endParaRPr sz="1150" b="0">
                <a:solidFill>
                  <a:srgbClr val="008000"/>
                </a:solidFill>
                <a:latin typeface="微软雅黑"/>
              </a:endParaRPr>
            </a:p>
          </p:txBody>
        </p:sp>
      </p:grpSp>
      <p:sp>
        <p:nvSpPr>
          <p:cNvPr id="91" name="TextBox 40"/>
          <p:cNvSpPr txBox="1"/>
          <p:nvPr/>
        </p:nvSpPr>
        <p:spPr>
          <a:xfrm>
            <a:off x="2148840" y="6382512"/>
            <a:ext cx="8686800" cy="164592"/>
          </a:xfrm>
          <a:prstGeom prst="rect">
            <a:avLst/>
          </a:prstGeom>
          <a:noFill/>
          <a:effectLst/>
        </p:spPr>
        <p:txBody>
          <a:bodyPr wrap="none">
            <a:spAutoFit/>
          </a:bodyPr>
          <a:lstStyle/>
          <a:p>
            <a:r>
              <a:rPr sz="1000">
                <a:solidFill>
                  <a:srgbClr val="787878"/>
                </a:solidFill>
                <a:latin typeface="Arial" panose="020B0604020202090204"/>
              </a:rPr>
              <a:t>Source: Bryan &amp; Morten (2019), Section II.C, Figure 2.</a:t>
            </a:r>
            <a:endParaRPr sz="1000">
              <a:solidFill>
                <a:srgbClr val="787878"/>
              </a:solidFill>
              <a:latin typeface="Arial" panose="020B0604020202090204"/>
            </a:endParaRPr>
          </a:p>
        </p:txBody>
      </p:sp>
      <p:sp>
        <p:nvSpPr>
          <p:cNvPr id="92"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9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pic>
        <p:nvPicPr>
          <p:cNvPr id="96" name="图片 95"/>
          <p:cNvPicPr>
            <a:picLocks noChangeAspect="1"/>
          </p:cNvPicPr>
          <p:nvPr/>
        </p:nvPicPr>
        <p:blipFill>
          <a:blip r:embed="rId1"/>
          <a:stretch>
            <a:fillRect/>
          </a:stretch>
        </p:blipFill>
        <p:spPr>
          <a:xfrm>
            <a:off x="2064385" y="1250950"/>
            <a:ext cx="4789805" cy="48323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9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grpSp>
        <p:nvGrpSpPr>
          <p:cNvPr id="49" name="组合 48"/>
          <p:cNvGrpSpPr/>
          <p:nvPr/>
        </p:nvGrpSpPr>
        <p:grpSpPr>
          <a:xfrm>
            <a:off x="2121535" y="1143000"/>
            <a:ext cx="9253855" cy="5559425"/>
            <a:chOff x="3341" y="1800"/>
            <a:chExt cx="14573" cy="8755"/>
          </a:xfrm>
        </p:grpSpPr>
        <p:sp>
          <p:nvSpPr>
            <p:cNvPr id="19" name="Rectangle 18"/>
            <p:cNvSpPr/>
            <p:nvPr/>
          </p:nvSpPr>
          <p:spPr>
            <a:xfrm>
              <a:off x="3341" y="1800"/>
              <a:ext cx="14573" cy="562"/>
            </a:xfrm>
            <a:prstGeom prst="rect">
              <a:avLst/>
            </a:prstGeom>
            <a:solidFill>
              <a:srgbClr val="EF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71" y="1858"/>
              <a:ext cx="12960" cy="374"/>
            </a:xfrm>
            <a:prstGeom prst="rect">
              <a:avLst/>
            </a:prstGeom>
            <a:noFill/>
          </p:spPr>
          <p:txBody>
            <a:bodyPr wrap="square">
              <a:spAutoFit/>
            </a:bodyPr>
            <a:lstStyle/>
            <a:p>
              <a:pPr algn="l"/>
              <a:r>
                <a:rPr sz="1700" b="1">
                  <a:solidFill>
                    <a:srgbClr val="700C77"/>
                  </a:solidFill>
                  <a:latin typeface="微软雅黑"/>
                </a:rPr>
                <a:t>一、Selection 的双重作用（Two Roles of Selection）</a:t>
              </a:r>
              <a:endParaRPr sz="1700" b="1">
                <a:solidFill>
                  <a:srgbClr val="700C77"/>
                </a:solidFill>
                <a:latin typeface="微软雅黑"/>
              </a:endParaRPr>
            </a:p>
          </p:txBody>
        </p:sp>
        <p:sp>
          <p:nvSpPr>
            <p:cNvPr id="21" name="Rectangle 20"/>
            <p:cNvSpPr/>
            <p:nvPr/>
          </p:nvSpPr>
          <p:spPr>
            <a:xfrm>
              <a:off x="3341" y="2520"/>
              <a:ext cx="7157" cy="2045"/>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41" y="2520"/>
              <a:ext cx="66" cy="2045"/>
            </a:xfrm>
            <a:prstGeom prst="rect">
              <a:avLst/>
            </a:prstGeom>
            <a:solidFill>
              <a:srgbClr val="700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57" y="2635"/>
              <a:ext cx="6696" cy="461"/>
            </a:xfrm>
            <a:prstGeom prst="rect">
              <a:avLst/>
            </a:prstGeom>
            <a:noFill/>
          </p:spPr>
          <p:txBody>
            <a:bodyPr wrap="square">
              <a:spAutoFit/>
            </a:bodyPr>
            <a:lstStyle/>
            <a:p>
              <a:pPr algn="l"/>
              <a:r>
                <a:rPr sz="1700" b="1">
                  <a:solidFill>
                    <a:srgbClr val="700C77"/>
                  </a:solidFill>
                  <a:latin typeface="微软雅黑"/>
                </a:rPr>
                <a:t>作用 ①：创造配置收益</a:t>
              </a:r>
              <a:endParaRPr sz="1700" b="1">
                <a:solidFill>
                  <a:srgbClr val="700C77"/>
                </a:solidFill>
                <a:latin typeface="微软雅黑"/>
              </a:endParaRPr>
            </a:p>
          </p:txBody>
        </p:sp>
        <p:sp>
          <p:nvSpPr>
            <p:cNvPr id="24" name="TextBox 23"/>
            <p:cNvSpPr txBox="1"/>
            <p:nvPr/>
          </p:nvSpPr>
          <p:spPr>
            <a:xfrm>
              <a:off x="3557" y="3139"/>
              <a:ext cx="6768" cy="288"/>
            </a:xfrm>
            <a:prstGeom prst="rect">
              <a:avLst/>
            </a:prstGeom>
            <a:noFill/>
          </p:spPr>
          <p:txBody>
            <a:bodyPr wrap="square">
              <a:spAutoFit/>
            </a:bodyPr>
            <a:lstStyle/>
            <a:p>
              <a:pPr algn="l"/>
              <a:r>
                <a:rPr sz="1100" b="0">
                  <a:solidFill>
                    <a:srgbClr val="6C6C6C"/>
                  </a:solidFill>
                  <a:latin typeface="Arial" panose="020B0604020202090204"/>
                </a:rPr>
                <a:t>Selection creates gains</a:t>
              </a:r>
              <a:endParaRPr sz="1100" b="0">
                <a:solidFill>
                  <a:srgbClr val="6C6C6C"/>
                </a:solidFill>
                <a:latin typeface="Arial" panose="020B0604020202090204"/>
              </a:endParaRPr>
            </a:p>
          </p:txBody>
        </p:sp>
        <p:sp>
          <p:nvSpPr>
            <p:cNvPr id="25" name="TextBox 24"/>
            <p:cNvSpPr txBox="1"/>
            <p:nvPr/>
          </p:nvSpPr>
          <p:spPr>
            <a:xfrm>
              <a:off x="3557" y="3485"/>
              <a:ext cx="6624" cy="965"/>
            </a:xfrm>
            <a:prstGeom prst="rect">
              <a:avLst/>
            </a:prstGeom>
            <a:noFill/>
          </p:spPr>
          <p:txBody>
            <a:bodyPr wrap="square">
              <a:spAutoFit/>
            </a:bodyPr>
            <a:lstStyle/>
            <a:p>
              <a:pPr algn="l"/>
              <a:r>
                <a:rPr sz="1230" b="0">
                  <a:solidFill>
                    <a:srgbClr val="262626"/>
                  </a:solidFill>
                  <a:latin typeface="微软雅黑"/>
                </a:rPr>
                <a:t>劳动者在不同地区具有异质性；迁移到自身比较优势地区，可提高总体生产率。迁移成本阻止这种分选，因此造成效率损失。</a:t>
              </a:r>
              <a:endParaRPr sz="1230" b="0">
                <a:solidFill>
                  <a:srgbClr val="262626"/>
                </a:solidFill>
                <a:latin typeface="微软雅黑"/>
              </a:endParaRPr>
            </a:p>
          </p:txBody>
        </p:sp>
        <p:sp>
          <p:nvSpPr>
            <p:cNvPr id="26" name="Rectangle 25"/>
            <p:cNvSpPr/>
            <p:nvPr/>
          </p:nvSpPr>
          <p:spPr>
            <a:xfrm>
              <a:off x="10757" y="2520"/>
              <a:ext cx="7157" cy="2045"/>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57" y="2520"/>
              <a:ext cx="66" cy="2045"/>
            </a:xfrm>
            <a:prstGeom prst="rect">
              <a:avLst/>
            </a:prstGeom>
            <a:solidFill>
              <a:srgbClr val="700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3" y="2635"/>
              <a:ext cx="6696" cy="461"/>
            </a:xfrm>
            <a:prstGeom prst="rect">
              <a:avLst/>
            </a:prstGeom>
            <a:noFill/>
          </p:spPr>
          <p:txBody>
            <a:bodyPr wrap="square">
              <a:spAutoFit/>
            </a:bodyPr>
            <a:lstStyle/>
            <a:p>
              <a:pPr algn="l"/>
              <a:r>
                <a:rPr sz="1700" b="1">
                  <a:solidFill>
                    <a:srgbClr val="700C77"/>
                  </a:solidFill>
                  <a:latin typeface="微软雅黑"/>
                </a:rPr>
                <a:t>作用 ②：限制新增迁移收益</a:t>
              </a:r>
              <a:endParaRPr sz="1700" b="1">
                <a:solidFill>
                  <a:srgbClr val="700C77"/>
                </a:solidFill>
                <a:latin typeface="微软雅黑"/>
              </a:endParaRPr>
            </a:p>
          </p:txBody>
        </p:sp>
        <p:sp>
          <p:nvSpPr>
            <p:cNvPr id="29" name="TextBox 28"/>
            <p:cNvSpPr txBox="1"/>
            <p:nvPr/>
          </p:nvSpPr>
          <p:spPr>
            <a:xfrm>
              <a:off x="10973" y="3139"/>
              <a:ext cx="6768" cy="288"/>
            </a:xfrm>
            <a:prstGeom prst="rect">
              <a:avLst/>
            </a:prstGeom>
            <a:noFill/>
          </p:spPr>
          <p:txBody>
            <a:bodyPr wrap="square">
              <a:spAutoFit/>
            </a:bodyPr>
            <a:lstStyle/>
            <a:p>
              <a:pPr algn="l"/>
              <a:r>
                <a:rPr sz="1100" b="0">
                  <a:solidFill>
                    <a:srgbClr val="6C6C6C"/>
                  </a:solidFill>
                  <a:latin typeface="Arial" panose="020B0604020202090204"/>
                </a:rPr>
                <a:t>Selection limits further gains</a:t>
              </a:r>
              <a:endParaRPr sz="1100" b="0">
                <a:solidFill>
                  <a:srgbClr val="6C6C6C"/>
                </a:solidFill>
                <a:latin typeface="Arial" panose="020B0604020202090204"/>
              </a:endParaRPr>
            </a:p>
          </p:txBody>
        </p:sp>
        <p:sp>
          <p:nvSpPr>
            <p:cNvPr id="30" name="TextBox 29"/>
            <p:cNvSpPr txBox="1"/>
            <p:nvPr/>
          </p:nvSpPr>
          <p:spPr>
            <a:xfrm>
              <a:off x="10973" y="3485"/>
              <a:ext cx="6624" cy="965"/>
            </a:xfrm>
            <a:prstGeom prst="rect">
              <a:avLst/>
            </a:prstGeom>
            <a:noFill/>
          </p:spPr>
          <p:txBody>
            <a:bodyPr wrap="square">
              <a:spAutoFit/>
            </a:bodyPr>
            <a:lstStyle/>
            <a:p>
              <a:pPr algn="l"/>
              <a:r>
                <a:rPr sz="1230" b="0">
                  <a:solidFill>
                    <a:srgbClr val="262626"/>
                  </a:solidFill>
                  <a:latin typeface="微软雅黑"/>
                </a:rPr>
                <a:t>最有迁移收益的人通常率先迁移；放松约束后，边际新增迁移者的预期生产率收益较低，因此不能按原有迁移者的平均工资估算收益。</a:t>
              </a:r>
              <a:endParaRPr sz="1230" b="0">
                <a:solidFill>
                  <a:srgbClr val="262626"/>
                </a:solidFill>
                <a:latin typeface="微软雅黑"/>
              </a:endParaRPr>
            </a:p>
          </p:txBody>
        </p:sp>
        <p:sp>
          <p:nvSpPr>
            <p:cNvPr id="48" name="TextBox 47"/>
            <p:cNvSpPr txBox="1"/>
            <p:nvPr/>
          </p:nvSpPr>
          <p:spPr>
            <a:xfrm>
              <a:off x="3355" y="10267"/>
              <a:ext cx="14112" cy="288"/>
            </a:xfrm>
            <a:prstGeom prst="rect">
              <a:avLst/>
            </a:prstGeom>
            <a:noFill/>
          </p:spPr>
          <p:txBody>
            <a:bodyPr wrap="square">
              <a:spAutoFit/>
            </a:bodyPr>
            <a:lstStyle/>
            <a:p>
              <a:pPr algn="l"/>
              <a:r>
                <a:rPr sz="950" b="0">
                  <a:solidFill>
                    <a:srgbClr val="6C6C6C"/>
                  </a:solidFill>
                  <a:latin typeface="Arial" panose="020B0604020202090204"/>
                </a:rPr>
                <a:t>Source: Bryan &amp; Morten (2019), Section II.C, pp. 2243–2244; Footnote 11.</a:t>
              </a:r>
              <a:endParaRPr sz="950" b="0">
                <a:solidFill>
                  <a:srgbClr val="6C6C6C"/>
                </a:solidFill>
                <a:latin typeface="Arial" panose="020B0604020202090204"/>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9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grpSp>
        <p:nvGrpSpPr>
          <p:cNvPr id="49" name="组合 48"/>
          <p:cNvGrpSpPr/>
          <p:nvPr/>
        </p:nvGrpSpPr>
        <p:grpSpPr>
          <a:xfrm>
            <a:off x="2121535" y="1143000"/>
            <a:ext cx="9253855" cy="5559425"/>
            <a:chOff x="3341" y="1800"/>
            <a:chExt cx="14573" cy="8755"/>
          </a:xfrm>
        </p:grpSpPr>
        <p:sp>
          <p:nvSpPr>
            <p:cNvPr id="19" name="Rectangle 18"/>
            <p:cNvSpPr/>
            <p:nvPr/>
          </p:nvSpPr>
          <p:spPr>
            <a:xfrm>
              <a:off x="3341" y="1800"/>
              <a:ext cx="14573" cy="562"/>
            </a:xfrm>
            <a:prstGeom prst="rect">
              <a:avLst/>
            </a:prstGeom>
            <a:solidFill>
              <a:srgbClr val="EF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71" y="1858"/>
              <a:ext cx="12960" cy="374"/>
            </a:xfrm>
            <a:prstGeom prst="rect">
              <a:avLst/>
            </a:prstGeom>
            <a:noFill/>
          </p:spPr>
          <p:txBody>
            <a:bodyPr wrap="square">
              <a:spAutoFit/>
            </a:bodyPr>
            <a:lstStyle/>
            <a:p>
              <a:pPr algn="l"/>
              <a:r>
                <a:rPr sz="1700" b="1">
                  <a:solidFill>
                    <a:srgbClr val="700C77"/>
                  </a:solidFill>
                  <a:latin typeface="微软雅黑"/>
                </a:rPr>
                <a:t>一、Selection 的双重作用（Two Roles of Selection）</a:t>
              </a:r>
              <a:endParaRPr sz="1700" b="1">
                <a:solidFill>
                  <a:srgbClr val="700C77"/>
                </a:solidFill>
                <a:latin typeface="微软雅黑"/>
              </a:endParaRPr>
            </a:p>
          </p:txBody>
        </p:sp>
        <p:sp>
          <p:nvSpPr>
            <p:cNvPr id="21" name="Rectangle 20"/>
            <p:cNvSpPr/>
            <p:nvPr/>
          </p:nvSpPr>
          <p:spPr>
            <a:xfrm>
              <a:off x="3341" y="2520"/>
              <a:ext cx="7157" cy="2045"/>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41" y="2520"/>
              <a:ext cx="66" cy="2045"/>
            </a:xfrm>
            <a:prstGeom prst="rect">
              <a:avLst/>
            </a:prstGeom>
            <a:solidFill>
              <a:srgbClr val="700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57" y="2635"/>
              <a:ext cx="6696" cy="461"/>
            </a:xfrm>
            <a:prstGeom prst="rect">
              <a:avLst/>
            </a:prstGeom>
            <a:noFill/>
          </p:spPr>
          <p:txBody>
            <a:bodyPr wrap="square">
              <a:spAutoFit/>
            </a:bodyPr>
            <a:lstStyle/>
            <a:p>
              <a:pPr algn="l"/>
              <a:r>
                <a:rPr sz="1700" b="1">
                  <a:solidFill>
                    <a:srgbClr val="700C77"/>
                  </a:solidFill>
                  <a:latin typeface="微软雅黑"/>
                </a:rPr>
                <a:t>作用 ①：创造配置收益</a:t>
              </a:r>
              <a:endParaRPr sz="1700" b="1">
                <a:solidFill>
                  <a:srgbClr val="700C77"/>
                </a:solidFill>
                <a:latin typeface="微软雅黑"/>
              </a:endParaRPr>
            </a:p>
          </p:txBody>
        </p:sp>
        <p:sp>
          <p:nvSpPr>
            <p:cNvPr id="24" name="TextBox 23"/>
            <p:cNvSpPr txBox="1"/>
            <p:nvPr/>
          </p:nvSpPr>
          <p:spPr>
            <a:xfrm>
              <a:off x="3557" y="3139"/>
              <a:ext cx="6768" cy="288"/>
            </a:xfrm>
            <a:prstGeom prst="rect">
              <a:avLst/>
            </a:prstGeom>
            <a:noFill/>
          </p:spPr>
          <p:txBody>
            <a:bodyPr wrap="square">
              <a:spAutoFit/>
            </a:bodyPr>
            <a:lstStyle/>
            <a:p>
              <a:pPr algn="l"/>
              <a:r>
                <a:rPr sz="1100" b="0">
                  <a:solidFill>
                    <a:srgbClr val="6C6C6C"/>
                  </a:solidFill>
                  <a:latin typeface="Arial" panose="020B0604020202090204"/>
                </a:rPr>
                <a:t>Selection creates gains</a:t>
              </a:r>
              <a:endParaRPr sz="1100" b="0">
                <a:solidFill>
                  <a:srgbClr val="6C6C6C"/>
                </a:solidFill>
                <a:latin typeface="Arial" panose="020B0604020202090204"/>
              </a:endParaRPr>
            </a:p>
          </p:txBody>
        </p:sp>
        <p:sp>
          <p:nvSpPr>
            <p:cNvPr id="25" name="TextBox 24"/>
            <p:cNvSpPr txBox="1"/>
            <p:nvPr/>
          </p:nvSpPr>
          <p:spPr>
            <a:xfrm>
              <a:off x="3557" y="3485"/>
              <a:ext cx="6624" cy="965"/>
            </a:xfrm>
            <a:prstGeom prst="rect">
              <a:avLst/>
            </a:prstGeom>
            <a:noFill/>
          </p:spPr>
          <p:txBody>
            <a:bodyPr wrap="square">
              <a:spAutoFit/>
            </a:bodyPr>
            <a:lstStyle/>
            <a:p>
              <a:pPr algn="l"/>
              <a:r>
                <a:rPr sz="1230" b="0">
                  <a:solidFill>
                    <a:srgbClr val="262626"/>
                  </a:solidFill>
                  <a:latin typeface="微软雅黑"/>
                </a:rPr>
                <a:t>劳动者在不同地区具有异质性；迁移到自身比较优势地区，可提高总体生产率。迁移成本阻止这种分选，因此造成效率损失。</a:t>
              </a:r>
              <a:endParaRPr sz="1230" b="0">
                <a:solidFill>
                  <a:srgbClr val="262626"/>
                </a:solidFill>
                <a:latin typeface="微软雅黑"/>
              </a:endParaRPr>
            </a:p>
          </p:txBody>
        </p:sp>
        <p:sp>
          <p:nvSpPr>
            <p:cNvPr id="26" name="Rectangle 25"/>
            <p:cNvSpPr/>
            <p:nvPr/>
          </p:nvSpPr>
          <p:spPr>
            <a:xfrm>
              <a:off x="10757" y="2520"/>
              <a:ext cx="7157" cy="2045"/>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57" y="2520"/>
              <a:ext cx="66" cy="2045"/>
            </a:xfrm>
            <a:prstGeom prst="rect">
              <a:avLst/>
            </a:prstGeom>
            <a:solidFill>
              <a:srgbClr val="700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3" y="2635"/>
              <a:ext cx="6696" cy="461"/>
            </a:xfrm>
            <a:prstGeom prst="rect">
              <a:avLst/>
            </a:prstGeom>
            <a:noFill/>
          </p:spPr>
          <p:txBody>
            <a:bodyPr wrap="square">
              <a:spAutoFit/>
            </a:bodyPr>
            <a:lstStyle/>
            <a:p>
              <a:pPr algn="l"/>
              <a:r>
                <a:rPr sz="1700" b="1">
                  <a:solidFill>
                    <a:srgbClr val="700C77"/>
                  </a:solidFill>
                  <a:latin typeface="微软雅黑"/>
                </a:rPr>
                <a:t>作用 ②：限制新增迁移收益</a:t>
              </a:r>
              <a:endParaRPr sz="1700" b="1">
                <a:solidFill>
                  <a:srgbClr val="700C77"/>
                </a:solidFill>
                <a:latin typeface="微软雅黑"/>
              </a:endParaRPr>
            </a:p>
          </p:txBody>
        </p:sp>
        <p:sp>
          <p:nvSpPr>
            <p:cNvPr id="29" name="TextBox 28"/>
            <p:cNvSpPr txBox="1"/>
            <p:nvPr/>
          </p:nvSpPr>
          <p:spPr>
            <a:xfrm>
              <a:off x="10973" y="3139"/>
              <a:ext cx="6768" cy="288"/>
            </a:xfrm>
            <a:prstGeom prst="rect">
              <a:avLst/>
            </a:prstGeom>
            <a:noFill/>
          </p:spPr>
          <p:txBody>
            <a:bodyPr wrap="square">
              <a:spAutoFit/>
            </a:bodyPr>
            <a:lstStyle/>
            <a:p>
              <a:pPr algn="l"/>
              <a:r>
                <a:rPr sz="1100" b="0">
                  <a:solidFill>
                    <a:srgbClr val="6C6C6C"/>
                  </a:solidFill>
                  <a:latin typeface="Arial" panose="020B0604020202090204"/>
                </a:rPr>
                <a:t>Selection limits further gains</a:t>
              </a:r>
              <a:endParaRPr sz="1100" b="0">
                <a:solidFill>
                  <a:srgbClr val="6C6C6C"/>
                </a:solidFill>
                <a:latin typeface="Arial" panose="020B0604020202090204"/>
              </a:endParaRPr>
            </a:p>
          </p:txBody>
        </p:sp>
        <p:sp>
          <p:nvSpPr>
            <p:cNvPr id="30" name="TextBox 29"/>
            <p:cNvSpPr txBox="1"/>
            <p:nvPr/>
          </p:nvSpPr>
          <p:spPr>
            <a:xfrm>
              <a:off x="10973" y="3485"/>
              <a:ext cx="6624" cy="965"/>
            </a:xfrm>
            <a:prstGeom prst="rect">
              <a:avLst/>
            </a:prstGeom>
            <a:noFill/>
          </p:spPr>
          <p:txBody>
            <a:bodyPr wrap="square">
              <a:spAutoFit/>
            </a:bodyPr>
            <a:lstStyle/>
            <a:p>
              <a:pPr algn="l"/>
              <a:r>
                <a:rPr sz="1230" b="0">
                  <a:solidFill>
                    <a:srgbClr val="262626"/>
                  </a:solidFill>
                  <a:latin typeface="微软雅黑"/>
                </a:rPr>
                <a:t>最有迁移收益的人通常率先迁移；放松约束后，边际新增迁移者的预期生产率收益较低，因此不能按原有迁移者的平均工资估算收益。</a:t>
              </a:r>
              <a:endParaRPr sz="1230" b="0">
                <a:solidFill>
                  <a:srgbClr val="262626"/>
                </a:solidFill>
                <a:latin typeface="微软雅黑"/>
              </a:endParaRPr>
            </a:p>
          </p:txBody>
        </p:sp>
        <p:sp>
          <p:nvSpPr>
            <p:cNvPr id="31" name="Rectangle 30"/>
            <p:cNvSpPr/>
            <p:nvPr/>
          </p:nvSpPr>
          <p:spPr>
            <a:xfrm>
              <a:off x="3341" y="4882"/>
              <a:ext cx="14573" cy="576"/>
            </a:xfrm>
            <a:prstGeom prst="rect">
              <a:avLst/>
            </a:prstGeom>
            <a:solidFill>
              <a:srgbClr val="EF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71" y="4954"/>
              <a:ext cx="12960" cy="389"/>
            </a:xfrm>
            <a:prstGeom prst="rect">
              <a:avLst/>
            </a:prstGeom>
            <a:noFill/>
          </p:spPr>
          <p:txBody>
            <a:bodyPr wrap="square">
              <a:spAutoFit/>
            </a:bodyPr>
            <a:lstStyle/>
            <a:p>
              <a:pPr algn="l"/>
              <a:r>
                <a:rPr sz="1600" b="1">
                  <a:solidFill>
                    <a:srgbClr val="700C77"/>
                  </a:solidFill>
                  <a:latin typeface="微软雅黑"/>
                </a:rPr>
                <a:t>二、Fact 2 的关键条件：比较优势与绝对优势相一致（Footnote 11）</a:t>
              </a:r>
              <a:endParaRPr sz="1600" b="1">
                <a:solidFill>
                  <a:srgbClr val="700C77"/>
                </a:solidFill>
                <a:latin typeface="微软雅黑"/>
              </a:endParaRPr>
            </a:p>
          </p:txBody>
        </p:sp>
        <p:sp>
          <p:nvSpPr>
            <p:cNvPr id="33" name="Rectangle 32"/>
            <p:cNvSpPr/>
            <p:nvPr/>
          </p:nvSpPr>
          <p:spPr>
            <a:xfrm>
              <a:off x="3341" y="5587"/>
              <a:ext cx="14573" cy="851"/>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14" y="5717"/>
              <a:ext cx="14112" cy="461"/>
            </a:xfrm>
            <a:prstGeom prst="rect">
              <a:avLst/>
            </a:prstGeom>
            <a:noFill/>
          </p:spPr>
          <p:txBody>
            <a:bodyPr wrap="square">
              <a:spAutoFit/>
            </a:bodyPr>
            <a:lstStyle/>
            <a:p>
              <a:pPr algn="l"/>
              <a:r>
                <a:rPr sz="1500" b="1">
                  <a:solidFill>
                    <a:srgbClr val="262626"/>
                  </a:solidFill>
                  <a:latin typeface="微软雅黑"/>
                </a:rPr>
                <a:t>比较优势与绝对优势须相一致，才能将远距离迁移者的高工资解释为更强的正向选择。</a:t>
              </a:r>
              <a:endParaRPr sz="1500" b="1">
                <a:solidFill>
                  <a:srgbClr val="262626"/>
                </a:solidFill>
                <a:latin typeface="微软雅黑"/>
              </a:endParaRPr>
            </a:p>
          </p:txBody>
        </p:sp>
        <p:sp>
          <p:nvSpPr>
            <p:cNvPr id="35" name="TextBox 34"/>
            <p:cNvSpPr txBox="1"/>
            <p:nvPr/>
          </p:nvSpPr>
          <p:spPr>
            <a:xfrm>
              <a:off x="3614" y="6293"/>
              <a:ext cx="14040" cy="438"/>
            </a:xfrm>
            <a:prstGeom prst="rect">
              <a:avLst/>
            </a:prstGeom>
            <a:noFill/>
          </p:spPr>
          <p:txBody>
            <a:bodyPr wrap="square">
              <a:spAutoFit/>
            </a:bodyPr>
            <a:lstStyle/>
            <a:p>
              <a:pPr algn="l"/>
              <a:endParaRPr sz="1220" b="0">
                <a:solidFill>
                  <a:srgbClr val="6C6C6C"/>
                </a:solidFill>
                <a:latin typeface="微软雅黑"/>
              </a:endParaRPr>
            </a:p>
          </p:txBody>
        </p:sp>
        <p:sp>
          <p:nvSpPr>
            <p:cNvPr id="48" name="TextBox 47"/>
            <p:cNvSpPr txBox="1"/>
            <p:nvPr/>
          </p:nvSpPr>
          <p:spPr>
            <a:xfrm>
              <a:off x="3355" y="10267"/>
              <a:ext cx="14112" cy="288"/>
            </a:xfrm>
            <a:prstGeom prst="rect">
              <a:avLst/>
            </a:prstGeom>
            <a:noFill/>
          </p:spPr>
          <p:txBody>
            <a:bodyPr wrap="square">
              <a:spAutoFit/>
            </a:bodyPr>
            <a:lstStyle/>
            <a:p>
              <a:pPr algn="l"/>
              <a:r>
                <a:rPr sz="950" b="0">
                  <a:solidFill>
                    <a:srgbClr val="6C6C6C"/>
                  </a:solidFill>
                  <a:latin typeface="Arial" panose="020B0604020202090204"/>
                </a:rPr>
                <a:t>Source: Bryan &amp; Morten (2019), Section II.C, pp. 2243–2244; Footnote 11.</a:t>
              </a:r>
              <a:endParaRPr sz="950" b="0">
                <a:solidFill>
                  <a:srgbClr val="6C6C6C"/>
                </a:solidFill>
                <a:latin typeface="Arial" panose="020B0604020202090204"/>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40"/>
          <p:cNvSpPr txBox="1"/>
          <p:nvPr/>
        </p:nvSpPr>
        <p:spPr>
          <a:xfrm>
            <a:off x="2148840" y="6382512"/>
            <a:ext cx="8686800" cy="164592"/>
          </a:xfrm>
          <a:prstGeom prst="rect">
            <a:avLst/>
          </a:prstGeom>
          <a:noFill/>
          <a:effectLst/>
        </p:spPr>
        <p:txBody>
          <a:bodyPr wrap="none">
            <a:spAutoFit/>
          </a:bodyPr>
          <a:lstStyle/>
          <a:p>
            <a:r>
              <a:rPr sz="1000">
                <a:solidFill>
                  <a:srgbClr val="787878"/>
                </a:solidFill>
                <a:latin typeface="Arial" panose="020B0604020202090204"/>
              </a:rPr>
              <a:t>Source: Bryan &amp; Morten (2019), Section II.C, Figure 2.</a:t>
            </a:r>
            <a:endParaRPr sz="1000">
              <a:solidFill>
                <a:srgbClr val="787878"/>
              </a:solidFill>
              <a:latin typeface="Arial" panose="020B0604020202090204"/>
            </a:endParaRPr>
          </a:p>
        </p:txBody>
      </p:sp>
      <p:sp>
        <p:nvSpPr>
          <p:cNvPr id="92"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9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grpSp>
        <p:nvGrpSpPr>
          <p:cNvPr id="57" name="组合 56"/>
          <p:cNvGrpSpPr/>
          <p:nvPr/>
        </p:nvGrpSpPr>
        <p:grpSpPr>
          <a:xfrm>
            <a:off x="2240280" y="1225550"/>
            <a:ext cx="8961120" cy="5193665"/>
            <a:chOff x="3528" y="1930"/>
            <a:chExt cx="14112" cy="8179"/>
          </a:xfrm>
        </p:grpSpPr>
        <mc:AlternateContent xmlns:mc="http://schemas.openxmlformats.org/markup-compatibility/2006">
          <mc:Choice xmlns:a14="http://schemas.microsoft.com/office/drawing/2010/main" Requires="a14">
            <p:sp>
              <p:nvSpPr>
                <p:cNvPr id="14" name="TextBox 13"/>
                <p:cNvSpPr txBox="1"/>
                <p:nvPr/>
              </p:nvSpPr>
              <p:spPr>
                <a:xfrm>
                  <a:off x="3528" y="1930"/>
                  <a:ext cx="14112" cy="519"/>
                </a:xfrm>
                <a:prstGeom prst="rect">
                  <a:avLst/>
                </a:prstGeom>
                <a:noFill/>
              </p:spPr>
              <p:txBody>
                <a:bodyPr wrap="square" lIns="54864" tIns="22860">
                  <a:spAutoFit/>
                </a:bodyPr>
                <a:lstStyle/>
                <a:p>
                  <a:pPr algn="l"/>
                  <a:r>
                    <a:rPr sz="1700" b="1">
                      <a:solidFill>
                        <a:srgbClr val="6E0877"/>
                      </a:solidFill>
                      <a:latin typeface="微软雅黑"/>
                    </a:rPr>
                    <a:t>假设：</a:t>
                  </a:r>
                  <a14:m>
                    <m:oMath xmlns:m="http://schemas.openxmlformats.org/officeDocument/2006/math">
                      <m:sSub>
                        <m:sSubPr>
                          <m:ctrlPr>
                            <a:rPr lang="en-US" sz="1700" b="1" i="1">
                              <a:solidFill>
                                <a:srgbClr val="711077"/>
                              </a:solidFill>
                              <a:latin typeface="DejaVu Math TeX Gyre" panose="02000503000000000000" charset="0"/>
                              <a:cs typeface="DejaVu Math TeX Gyre" panose="02000503000000000000" charset="0"/>
                            </a:rPr>
                          </m:ctrlPr>
                        </m:sSubPr>
                        <m:e>
                          <m:r>
                            <a:rPr lang="en-US" sz="1700" b="1" i="1">
                              <a:solidFill>
                                <a:srgbClr val="711077"/>
                              </a:solidFill>
                              <a:latin typeface="DejaVu Math TeX Gyre" panose="02000503000000000000" charset="0"/>
                              <a:cs typeface="DejaVu Math TeX Gyre" panose="02000503000000000000" charset="0"/>
                            </a:rPr>
                            <m:t>𝒘</m:t>
                          </m:r>
                        </m:e>
                        <m:sub>
                          <m:r>
                            <a:rPr lang="en-US" sz="1700" b="1" i="1">
                              <a:solidFill>
                                <a:srgbClr val="711077"/>
                              </a:solidFill>
                              <a:latin typeface="DejaVu Math TeX Gyre" panose="02000503000000000000" charset="0"/>
                              <a:cs typeface="DejaVu Math TeX Gyre" panose="02000503000000000000" charset="0"/>
                            </a:rPr>
                            <m:t>𝑨</m:t>
                          </m:r>
                        </m:sub>
                      </m:sSub>
                    </m:oMath>
                  </a14:m>
                  <a:r>
                    <a:rPr sz="1700" b="1">
                      <a:solidFill>
                        <a:srgbClr val="6E0877"/>
                      </a:solidFill>
                      <a:latin typeface="微软雅黑"/>
                    </a:rPr>
                    <a:t> = </a:t>
                  </a:r>
                  <a14:m>
                    <m:oMath xmlns:m="http://schemas.openxmlformats.org/officeDocument/2006/math">
                      <m:sSub>
                        <m:sSubPr>
                          <m:ctrlPr>
                            <a:rPr lang="en-US" sz="1700" b="1" i="1">
                              <a:solidFill>
                                <a:srgbClr val="711077"/>
                              </a:solidFill>
                              <a:latin typeface="DejaVu Math TeX Gyre" panose="02000503000000000000" charset="0"/>
                              <a:cs typeface="DejaVu Math TeX Gyre" panose="02000503000000000000" charset="0"/>
                            </a:rPr>
                          </m:ctrlPr>
                        </m:sSubPr>
                        <m:e>
                          <m:r>
                            <a:rPr lang="en-US" sz="1700" b="1" i="1">
                              <a:solidFill>
                                <a:srgbClr val="711077"/>
                              </a:solidFill>
                              <a:latin typeface="DejaVu Math TeX Gyre" panose="02000503000000000000" charset="0"/>
                              <a:cs typeface="DejaVu Math TeX Gyre" panose="02000503000000000000" charset="0"/>
                            </a:rPr>
                            <m:t>𝒘</m:t>
                          </m:r>
                        </m:e>
                        <m:sub>
                          <m:r>
                            <a:rPr lang="en-US" sz="1700" b="1" i="1">
                              <a:solidFill>
                                <a:srgbClr val="711077"/>
                              </a:solidFill>
                              <a:latin typeface="DejaVu Math TeX Gyre" panose="02000503000000000000" charset="0"/>
                              <a:cs typeface="DejaVu Math TeX Gyre" panose="02000503000000000000" charset="0"/>
                            </a:rPr>
                            <m:t>𝐵</m:t>
                          </m:r>
                        </m:sub>
                      </m:sSub>
                    </m:oMath>
                  </a14:m>
                  <a:r>
                    <a:rPr sz="1700" b="1">
                      <a:solidFill>
                        <a:srgbClr val="6E0877"/>
                      </a:solidFill>
                      <a:latin typeface="微软雅黑"/>
                    </a:rPr>
                    <a:t> = 1；两名劳动者都出生于 B，考虑是否迁往 A。</a:t>
                  </a:r>
                  <a:endParaRPr sz="1700" b="1">
                    <a:solidFill>
                      <a:srgbClr val="6E0877"/>
                    </a:solidFill>
                    <a:latin typeface="微软雅黑"/>
                  </a:endParaRPr>
                </a:p>
              </p:txBody>
            </p:sp>
          </mc:Choice>
          <mc:Fallback>
            <p:sp>
              <p:nvSpPr>
                <p:cNvPr id="14" name="TextBox 13"/>
                <p:cNvSpPr txBox="1">
                  <a:spLocks noRot="1" noChangeAspect="1" noMove="1" noResize="1" noEditPoints="1" noAdjustHandles="1" noChangeArrowheads="1" noChangeShapeType="1" noTextEdit="1"/>
                </p:cNvSpPr>
                <p:nvPr/>
              </p:nvSpPr>
              <p:spPr>
                <a:xfrm>
                  <a:off x="3528" y="1930"/>
                  <a:ext cx="14112" cy="519"/>
                </a:xfrm>
                <a:prstGeom prst="rect">
                  <a:avLst/>
                </a:prstGeom>
                <a:blipFill rotWithShape="1">
                  <a:blip r:embed="rId1"/>
                </a:blipFill>
              </p:spPr>
              <p:txBody>
                <a:bodyPr/>
                <a:lstStyle/>
                <a:p>
                  <a:r>
                    <a:rPr lang="zh-CN" altLang="en-US">
                      <a:noFill/>
                    </a:rPr>
                    <a:t> </a:t>
                  </a:r>
                </a:p>
              </p:txBody>
            </p:sp>
          </mc:Fallback>
        </mc:AlternateContent>
        <p:sp>
          <p:nvSpPr>
            <p:cNvPr id="15" name="Rectangle 14"/>
            <p:cNvSpPr/>
            <p:nvPr/>
          </p:nvSpPr>
          <p:spPr>
            <a:xfrm>
              <a:off x="3629" y="2952"/>
              <a:ext cx="2405" cy="922"/>
            </a:xfrm>
            <a:prstGeom prst="rect">
              <a:avLst/>
            </a:prstGeom>
            <a:solidFill>
              <a:srgbClr val="6E0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0" y="3139"/>
              <a:ext cx="2189" cy="518"/>
            </a:xfrm>
            <a:prstGeom prst="rect">
              <a:avLst/>
            </a:prstGeom>
            <a:noFill/>
          </p:spPr>
          <p:txBody>
            <a:bodyPr wrap="square" lIns="54864" tIns="22860">
              <a:spAutoFit/>
            </a:bodyPr>
            <a:lstStyle/>
            <a:p>
              <a:pPr algn="ctr"/>
              <a:r>
                <a:rPr sz="1400" b="1">
                  <a:solidFill>
                    <a:srgbClr val="FFFFFF"/>
                  </a:solidFill>
                  <a:latin typeface="微软雅黑"/>
                </a:rPr>
                <a:t>劳动者</a:t>
              </a:r>
              <a:endParaRPr sz="1400" b="1">
                <a:solidFill>
                  <a:srgbClr val="FFFFFF"/>
                </a:solidFill>
                <a:latin typeface="微软雅黑"/>
              </a:endParaRPr>
            </a:p>
          </p:txBody>
        </p:sp>
        <p:sp>
          <p:nvSpPr>
            <p:cNvPr id="17" name="Rectangle 16"/>
            <p:cNvSpPr/>
            <p:nvPr/>
          </p:nvSpPr>
          <p:spPr>
            <a:xfrm>
              <a:off x="6048" y="2952"/>
              <a:ext cx="2578" cy="922"/>
            </a:xfrm>
            <a:prstGeom prst="rect">
              <a:avLst/>
            </a:prstGeom>
            <a:solidFill>
              <a:srgbClr val="6E0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49" y="3139"/>
              <a:ext cx="2362" cy="447"/>
            </a:xfrm>
            <a:prstGeom prst="rect">
              <a:avLst/>
            </a:prstGeom>
            <a:noFill/>
          </p:spPr>
          <p:txBody>
            <a:bodyPr wrap="square" lIns="54864" tIns="22860">
              <a:spAutoFit/>
            </a:bodyPr>
            <a:lstStyle/>
            <a:p>
              <a:pPr algn="ctr"/>
              <a:r>
                <a:rPr sz="1400" b="1">
                  <a:solidFill>
                    <a:srgbClr val="FFFFFF"/>
                  </a:solidFill>
                  <a:latin typeface="微软雅黑"/>
                </a:rPr>
                <a:t>A 地区技能 </a:t>
              </a:r>
              <a:endParaRPr sz="1400" b="1">
                <a:solidFill>
                  <a:srgbClr val="FFFFFF"/>
                </a:solidFill>
                <a:latin typeface="微软雅黑"/>
              </a:endParaRPr>
            </a:p>
          </p:txBody>
        </p:sp>
        <p:sp>
          <p:nvSpPr>
            <p:cNvPr id="19" name="Rectangle 18"/>
            <p:cNvSpPr/>
            <p:nvPr/>
          </p:nvSpPr>
          <p:spPr>
            <a:xfrm>
              <a:off x="8640" y="2952"/>
              <a:ext cx="2578" cy="922"/>
            </a:xfrm>
            <a:prstGeom prst="rect">
              <a:avLst/>
            </a:prstGeom>
            <a:solidFill>
              <a:srgbClr val="6E0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41" y="3139"/>
              <a:ext cx="2362" cy="447"/>
            </a:xfrm>
            <a:prstGeom prst="rect">
              <a:avLst/>
            </a:prstGeom>
            <a:noFill/>
          </p:spPr>
          <p:txBody>
            <a:bodyPr wrap="square" lIns="54864" tIns="22860">
              <a:spAutoFit/>
            </a:bodyPr>
            <a:lstStyle/>
            <a:p>
              <a:pPr algn="ctr"/>
              <a:r>
                <a:rPr sz="1400" b="1">
                  <a:solidFill>
                    <a:srgbClr val="FFFFFF"/>
                  </a:solidFill>
                  <a:latin typeface="微软雅黑"/>
                </a:rPr>
                <a:t>B 地区技能</a:t>
              </a:r>
              <a:endParaRPr sz="1400" b="1">
                <a:solidFill>
                  <a:srgbClr val="FFFFFF"/>
                </a:solidFill>
                <a:latin typeface="微软雅黑"/>
              </a:endParaRPr>
            </a:p>
          </p:txBody>
        </p:sp>
        <p:sp>
          <p:nvSpPr>
            <p:cNvPr id="21" name="Rectangle 20"/>
            <p:cNvSpPr/>
            <p:nvPr/>
          </p:nvSpPr>
          <p:spPr>
            <a:xfrm>
              <a:off x="11232" y="2952"/>
              <a:ext cx="3154" cy="922"/>
            </a:xfrm>
            <a:prstGeom prst="rect">
              <a:avLst/>
            </a:prstGeom>
            <a:solidFill>
              <a:srgbClr val="6E0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333" y="3139"/>
              <a:ext cx="2938" cy="447"/>
            </a:xfrm>
            <a:prstGeom prst="rect">
              <a:avLst/>
            </a:prstGeom>
            <a:noFill/>
          </p:spPr>
          <p:txBody>
            <a:bodyPr wrap="square" lIns="54864" tIns="22860">
              <a:spAutoFit/>
            </a:bodyPr>
            <a:lstStyle/>
            <a:p>
              <a:pPr algn="ctr"/>
              <a:r>
                <a:rPr sz="1400" b="1">
                  <a:solidFill>
                    <a:srgbClr val="FFFFFF"/>
                  </a:solidFill>
                  <a:latin typeface="微软雅黑"/>
                </a:rPr>
                <a:t>比较优势</a:t>
              </a:r>
              <a:endParaRPr sz="1400" b="1">
                <a:solidFill>
                  <a:srgbClr val="FFFFFF"/>
                </a:solidFill>
                <a:latin typeface="微软雅黑"/>
              </a:endParaRPr>
            </a:p>
          </p:txBody>
        </p:sp>
        <p:sp>
          <p:nvSpPr>
            <p:cNvPr id="23" name="Rectangle 22"/>
            <p:cNvSpPr/>
            <p:nvPr/>
          </p:nvSpPr>
          <p:spPr>
            <a:xfrm>
              <a:off x="14400" y="2952"/>
              <a:ext cx="3197" cy="922"/>
            </a:xfrm>
            <a:prstGeom prst="rect">
              <a:avLst/>
            </a:prstGeom>
            <a:solidFill>
              <a:srgbClr val="6E0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501" y="3139"/>
              <a:ext cx="2981" cy="518"/>
            </a:xfrm>
            <a:prstGeom prst="rect">
              <a:avLst/>
            </a:prstGeom>
            <a:noFill/>
          </p:spPr>
          <p:txBody>
            <a:bodyPr wrap="square" lIns="54864" tIns="22860">
              <a:spAutoFit/>
            </a:bodyPr>
            <a:lstStyle/>
            <a:p>
              <a:pPr algn="ctr"/>
              <a:r>
                <a:rPr sz="1400" b="1">
                  <a:solidFill>
                    <a:srgbClr val="FFFFFF"/>
                  </a:solidFill>
                  <a:latin typeface="微软雅黑"/>
                </a:rPr>
                <a:t>A 地区绝对技能</a:t>
              </a:r>
              <a:endParaRPr sz="1400" b="1">
                <a:solidFill>
                  <a:srgbClr val="FFFFFF"/>
                </a:solidFill>
                <a:latin typeface="微软雅黑"/>
              </a:endParaRPr>
            </a:p>
          </p:txBody>
        </p:sp>
        <p:sp>
          <p:nvSpPr>
            <p:cNvPr id="25" name="Rectangle 24"/>
            <p:cNvSpPr/>
            <p:nvPr/>
          </p:nvSpPr>
          <p:spPr>
            <a:xfrm>
              <a:off x="3629" y="3946"/>
              <a:ext cx="2405" cy="9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44" y="4147"/>
              <a:ext cx="2146" cy="461"/>
            </a:xfrm>
            <a:prstGeom prst="rect">
              <a:avLst/>
            </a:prstGeom>
            <a:noFill/>
          </p:spPr>
          <p:txBody>
            <a:bodyPr wrap="square" lIns="54864" tIns="22860">
              <a:spAutoFit/>
            </a:bodyPr>
            <a:lstStyle/>
            <a:p>
              <a:pPr algn="ctr"/>
              <a:r>
                <a:rPr sz="1700" b="1">
                  <a:solidFill>
                    <a:srgbClr val="6E0877"/>
                  </a:solidFill>
                  <a:latin typeface="微软雅黑"/>
                </a:rPr>
                <a:t>甲</a:t>
              </a:r>
              <a:endParaRPr sz="1700" b="1">
                <a:solidFill>
                  <a:srgbClr val="6E0877"/>
                </a:solidFill>
                <a:latin typeface="微软雅黑"/>
              </a:endParaRPr>
            </a:p>
          </p:txBody>
        </p:sp>
        <p:sp>
          <p:nvSpPr>
            <p:cNvPr id="27" name="Rectangle 26"/>
            <p:cNvSpPr/>
            <p:nvPr/>
          </p:nvSpPr>
          <p:spPr>
            <a:xfrm>
              <a:off x="6048" y="3946"/>
              <a:ext cx="2578" cy="9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63" y="4147"/>
              <a:ext cx="2318" cy="461"/>
            </a:xfrm>
            <a:prstGeom prst="rect">
              <a:avLst/>
            </a:prstGeom>
            <a:noFill/>
          </p:spPr>
          <p:txBody>
            <a:bodyPr wrap="square" lIns="54864" tIns="22860">
              <a:spAutoFit/>
            </a:bodyPr>
            <a:lstStyle/>
            <a:p>
              <a:pPr algn="ctr"/>
              <a:r>
                <a:rPr sz="1700" b="0">
                  <a:solidFill>
                    <a:srgbClr val="252525"/>
                  </a:solidFill>
                  <a:latin typeface="微软雅黑"/>
                </a:rPr>
                <a:t>20</a:t>
              </a:r>
              <a:endParaRPr sz="1700" b="0">
                <a:solidFill>
                  <a:srgbClr val="252525"/>
                </a:solidFill>
                <a:latin typeface="微软雅黑"/>
              </a:endParaRPr>
            </a:p>
          </p:txBody>
        </p:sp>
        <p:sp>
          <p:nvSpPr>
            <p:cNvPr id="29" name="Rectangle 28"/>
            <p:cNvSpPr/>
            <p:nvPr/>
          </p:nvSpPr>
          <p:spPr>
            <a:xfrm>
              <a:off x="8640" y="3946"/>
              <a:ext cx="2578" cy="9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55" y="4147"/>
              <a:ext cx="2318" cy="461"/>
            </a:xfrm>
            <a:prstGeom prst="rect">
              <a:avLst/>
            </a:prstGeom>
            <a:noFill/>
          </p:spPr>
          <p:txBody>
            <a:bodyPr wrap="square" lIns="54864" tIns="22860">
              <a:spAutoFit/>
            </a:bodyPr>
            <a:lstStyle/>
            <a:p>
              <a:pPr algn="ctr"/>
              <a:r>
                <a:rPr sz="1700" b="0">
                  <a:solidFill>
                    <a:srgbClr val="252525"/>
                  </a:solidFill>
                  <a:latin typeface="微软雅黑"/>
                </a:rPr>
                <a:t>5</a:t>
              </a:r>
              <a:endParaRPr sz="1700" b="0">
                <a:solidFill>
                  <a:srgbClr val="252525"/>
                </a:solidFill>
                <a:latin typeface="微软雅黑"/>
              </a:endParaRPr>
            </a:p>
          </p:txBody>
        </p:sp>
        <p:sp>
          <p:nvSpPr>
            <p:cNvPr id="31" name="Rectangle 30"/>
            <p:cNvSpPr/>
            <p:nvPr/>
          </p:nvSpPr>
          <p:spPr>
            <a:xfrm>
              <a:off x="11232" y="3946"/>
              <a:ext cx="3154" cy="9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347" y="4147"/>
              <a:ext cx="2894" cy="461"/>
            </a:xfrm>
            <a:prstGeom prst="rect">
              <a:avLst/>
            </a:prstGeom>
            <a:noFill/>
          </p:spPr>
          <p:txBody>
            <a:bodyPr wrap="square" lIns="54864" tIns="22860">
              <a:spAutoFit/>
            </a:bodyPr>
            <a:lstStyle/>
            <a:p>
              <a:pPr algn="ctr"/>
              <a:r>
                <a:rPr sz="1700" b="1">
                  <a:solidFill>
                    <a:srgbClr val="6E0877"/>
                  </a:solidFill>
                  <a:latin typeface="微软雅黑"/>
                </a:rPr>
                <a:t>4</a:t>
              </a:r>
              <a:endParaRPr sz="1700" b="1">
                <a:solidFill>
                  <a:srgbClr val="6E0877"/>
                </a:solidFill>
                <a:latin typeface="微软雅黑"/>
              </a:endParaRPr>
            </a:p>
          </p:txBody>
        </p:sp>
        <p:sp>
          <p:nvSpPr>
            <p:cNvPr id="33" name="Rectangle 32"/>
            <p:cNvSpPr/>
            <p:nvPr/>
          </p:nvSpPr>
          <p:spPr>
            <a:xfrm>
              <a:off x="14400" y="3946"/>
              <a:ext cx="3197" cy="9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515" y="4147"/>
              <a:ext cx="2938" cy="461"/>
            </a:xfrm>
            <a:prstGeom prst="rect">
              <a:avLst/>
            </a:prstGeom>
            <a:noFill/>
          </p:spPr>
          <p:txBody>
            <a:bodyPr wrap="square" lIns="54864" tIns="22860">
              <a:spAutoFit/>
            </a:bodyPr>
            <a:lstStyle/>
            <a:p>
              <a:pPr algn="ctr"/>
              <a:r>
                <a:rPr sz="1700" b="0">
                  <a:solidFill>
                    <a:srgbClr val="252525"/>
                  </a:solidFill>
                  <a:latin typeface="微软雅黑"/>
                </a:rPr>
                <a:t>20（较低）</a:t>
              </a:r>
              <a:endParaRPr sz="1700" b="0">
                <a:solidFill>
                  <a:srgbClr val="252525"/>
                </a:solidFill>
                <a:latin typeface="微软雅黑"/>
              </a:endParaRPr>
            </a:p>
          </p:txBody>
        </p:sp>
        <p:sp>
          <p:nvSpPr>
            <p:cNvPr id="35" name="Rectangle 34"/>
            <p:cNvSpPr/>
            <p:nvPr/>
          </p:nvSpPr>
          <p:spPr>
            <a:xfrm>
              <a:off x="3629" y="4939"/>
              <a:ext cx="2405" cy="907"/>
            </a:xfrm>
            <a:prstGeom prst="rect">
              <a:avLst/>
            </a:prstGeom>
            <a:solidFill>
              <a:srgbClr val="F2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44" y="5141"/>
              <a:ext cx="2146" cy="461"/>
            </a:xfrm>
            <a:prstGeom prst="rect">
              <a:avLst/>
            </a:prstGeom>
            <a:noFill/>
          </p:spPr>
          <p:txBody>
            <a:bodyPr wrap="square" lIns="54864" tIns="22860">
              <a:spAutoFit/>
            </a:bodyPr>
            <a:lstStyle/>
            <a:p>
              <a:pPr algn="ctr"/>
              <a:r>
                <a:rPr sz="1700" b="1">
                  <a:solidFill>
                    <a:srgbClr val="6E0877"/>
                  </a:solidFill>
                  <a:latin typeface="微软雅黑"/>
                </a:rPr>
                <a:t>乙</a:t>
              </a:r>
              <a:endParaRPr sz="1700" b="1">
                <a:solidFill>
                  <a:srgbClr val="6E0877"/>
                </a:solidFill>
                <a:latin typeface="微软雅黑"/>
              </a:endParaRPr>
            </a:p>
          </p:txBody>
        </p:sp>
        <p:sp>
          <p:nvSpPr>
            <p:cNvPr id="37" name="Rectangle 36"/>
            <p:cNvSpPr/>
            <p:nvPr/>
          </p:nvSpPr>
          <p:spPr>
            <a:xfrm>
              <a:off x="6048" y="4939"/>
              <a:ext cx="2578" cy="907"/>
            </a:xfrm>
            <a:prstGeom prst="rect">
              <a:avLst/>
            </a:prstGeom>
            <a:solidFill>
              <a:srgbClr val="F2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63" y="5141"/>
              <a:ext cx="2318" cy="461"/>
            </a:xfrm>
            <a:prstGeom prst="rect">
              <a:avLst/>
            </a:prstGeom>
            <a:noFill/>
          </p:spPr>
          <p:txBody>
            <a:bodyPr wrap="square" lIns="54864" tIns="22860">
              <a:spAutoFit/>
            </a:bodyPr>
            <a:lstStyle/>
            <a:p>
              <a:pPr algn="ctr"/>
              <a:r>
                <a:rPr sz="1700" b="0">
                  <a:solidFill>
                    <a:srgbClr val="252525"/>
                  </a:solidFill>
                  <a:latin typeface="微软雅黑"/>
                </a:rPr>
                <a:t>100</a:t>
              </a:r>
              <a:endParaRPr sz="1700" b="0">
                <a:solidFill>
                  <a:srgbClr val="252525"/>
                </a:solidFill>
                <a:latin typeface="微软雅黑"/>
              </a:endParaRPr>
            </a:p>
          </p:txBody>
        </p:sp>
        <p:sp>
          <p:nvSpPr>
            <p:cNvPr id="39" name="Rectangle 38"/>
            <p:cNvSpPr/>
            <p:nvPr/>
          </p:nvSpPr>
          <p:spPr>
            <a:xfrm>
              <a:off x="8640" y="4939"/>
              <a:ext cx="2578" cy="907"/>
            </a:xfrm>
            <a:prstGeom prst="rect">
              <a:avLst/>
            </a:prstGeom>
            <a:solidFill>
              <a:srgbClr val="F2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755" y="5141"/>
              <a:ext cx="2318" cy="461"/>
            </a:xfrm>
            <a:prstGeom prst="rect">
              <a:avLst/>
            </a:prstGeom>
            <a:noFill/>
          </p:spPr>
          <p:txBody>
            <a:bodyPr wrap="square" lIns="54864" tIns="22860">
              <a:spAutoFit/>
            </a:bodyPr>
            <a:lstStyle/>
            <a:p>
              <a:pPr algn="ctr"/>
              <a:r>
                <a:rPr sz="1700" b="0">
                  <a:solidFill>
                    <a:srgbClr val="252525"/>
                  </a:solidFill>
                  <a:latin typeface="微软雅黑"/>
                </a:rPr>
                <a:t>50</a:t>
              </a:r>
              <a:endParaRPr sz="1700" b="0">
                <a:solidFill>
                  <a:srgbClr val="252525"/>
                </a:solidFill>
                <a:latin typeface="微软雅黑"/>
              </a:endParaRPr>
            </a:p>
          </p:txBody>
        </p:sp>
        <p:sp>
          <p:nvSpPr>
            <p:cNvPr id="41" name="Rectangle 40"/>
            <p:cNvSpPr/>
            <p:nvPr/>
          </p:nvSpPr>
          <p:spPr>
            <a:xfrm>
              <a:off x="11232" y="4939"/>
              <a:ext cx="3154" cy="907"/>
            </a:xfrm>
            <a:prstGeom prst="rect">
              <a:avLst/>
            </a:prstGeom>
            <a:solidFill>
              <a:srgbClr val="F2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347" y="5141"/>
              <a:ext cx="2894" cy="461"/>
            </a:xfrm>
            <a:prstGeom prst="rect">
              <a:avLst/>
            </a:prstGeom>
            <a:noFill/>
          </p:spPr>
          <p:txBody>
            <a:bodyPr wrap="square" lIns="54864" tIns="22860">
              <a:spAutoFit/>
            </a:bodyPr>
            <a:lstStyle/>
            <a:p>
              <a:pPr algn="ctr"/>
              <a:r>
                <a:rPr sz="1700" b="1">
                  <a:solidFill>
                    <a:srgbClr val="6E0877"/>
                  </a:solidFill>
                  <a:latin typeface="微软雅黑"/>
                </a:rPr>
                <a:t>2</a:t>
              </a:r>
              <a:endParaRPr sz="1700" b="1">
                <a:solidFill>
                  <a:srgbClr val="6E0877"/>
                </a:solidFill>
                <a:latin typeface="微软雅黑"/>
              </a:endParaRPr>
            </a:p>
          </p:txBody>
        </p:sp>
        <p:sp>
          <p:nvSpPr>
            <p:cNvPr id="43" name="Rectangle 42"/>
            <p:cNvSpPr/>
            <p:nvPr/>
          </p:nvSpPr>
          <p:spPr>
            <a:xfrm>
              <a:off x="14400" y="4939"/>
              <a:ext cx="3197" cy="907"/>
            </a:xfrm>
            <a:prstGeom prst="rect">
              <a:avLst/>
            </a:prstGeom>
            <a:solidFill>
              <a:srgbClr val="F2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515" y="5141"/>
              <a:ext cx="2938" cy="461"/>
            </a:xfrm>
            <a:prstGeom prst="rect">
              <a:avLst/>
            </a:prstGeom>
            <a:noFill/>
          </p:spPr>
          <p:txBody>
            <a:bodyPr wrap="square" lIns="54864" tIns="22860">
              <a:spAutoFit/>
            </a:bodyPr>
            <a:lstStyle/>
            <a:p>
              <a:pPr algn="ctr"/>
              <a:r>
                <a:rPr sz="1700" b="0">
                  <a:solidFill>
                    <a:srgbClr val="252525"/>
                  </a:solidFill>
                  <a:latin typeface="微软雅黑"/>
                </a:rPr>
                <a:t>100（较高）</a:t>
              </a:r>
              <a:endParaRPr sz="1700" b="0">
                <a:solidFill>
                  <a:srgbClr val="252525"/>
                </a:solidFill>
                <a:latin typeface="微软雅黑"/>
              </a:endParaRPr>
            </a:p>
          </p:txBody>
        </p:sp>
        <p:sp>
          <p:nvSpPr>
            <p:cNvPr id="45" name="Rectangle 44"/>
            <p:cNvSpPr/>
            <p:nvPr/>
          </p:nvSpPr>
          <p:spPr>
            <a:xfrm>
              <a:off x="3629" y="6149"/>
              <a:ext cx="13968" cy="835"/>
            </a:xfrm>
            <a:prstGeom prst="rect">
              <a:avLst/>
            </a:prstGeom>
            <a:solidFill>
              <a:srgbClr val="F2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02" y="6307"/>
              <a:ext cx="13363" cy="490"/>
            </a:xfrm>
            <a:prstGeom prst="rect">
              <a:avLst/>
            </a:prstGeom>
            <a:noFill/>
          </p:spPr>
          <p:txBody>
            <a:bodyPr wrap="square" lIns="54864" tIns="22860">
              <a:spAutoFit/>
            </a:bodyPr>
            <a:lstStyle/>
            <a:p>
              <a:pPr algn="l"/>
              <a:r>
                <a:rPr sz="1700" b="1">
                  <a:solidFill>
                    <a:srgbClr val="6E0877"/>
                  </a:solidFill>
                  <a:latin typeface="微软雅黑"/>
                </a:rPr>
                <a:t>甲：比较优势更强（4 &gt; 2），但在 A 的绝对技能更低（20 &lt; 100）。</a:t>
              </a:r>
              <a:endParaRPr sz="1700" b="1">
                <a:solidFill>
                  <a:srgbClr val="6E0877"/>
                </a:solidFill>
                <a:latin typeface="微软雅黑"/>
              </a:endParaRPr>
            </a:p>
          </p:txBody>
        </p:sp>
        <p:sp>
          <p:nvSpPr>
            <p:cNvPr id="47" name="TextBox 46"/>
            <p:cNvSpPr txBox="1"/>
            <p:nvPr/>
          </p:nvSpPr>
          <p:spPr>
            <a:xfrm>
              <a:off x="3629" y="7286"/>
              <a:ext cx="13680" cy="475"/>
            </a:xfrm>
            <a:prstGeom prst="rect">
              <a:avLst/>
            </a:prstGeom>
            <a:noFill/>
          </p:spPr>
          <p:txBody>
            <a:bodyPr wrap="square" lIns="54864" tIns="22860">
              <a:spAutoFit/>
            </a:bodyPr>
            <a:lstStyle/>
            <a:p>
              <a:pPr algn="l"/>
              <a:r>
                <a:rPr sz="1800" b="1">
                  <a:solidFill>
                    <a:srgbClr val="6E0877"/>
                  </a:solidFill>
                  <a:latin typeface="微软雅黑"/>
                </a:rPr>
                <a:t>当迁移成本变化时：</a:t>
              </a:r>
              <a:endParaRPr sz="1800" b="1">
                <a:solidFill>
                  <a:srgbClr val="6E0877"/>
                </a:solidFill>
                <a:latin typeface="微软雅黑"/>
              </a:endParaRPr>
            </a:p>
          </p:txBody>
        </p:sp>
        <p:sp>
          <p:nvSpPr>
            <p:cNvPr id="48" name="Rectangle 47"/>
            <p:cNvSpPr/>
            <p:nvPr/>
          </p:nvSpPr>
          <p:spPr>
            <a:xfrm>
              <a:off x="3629" y="7920"/>
              <a:ext cx="6667" cy="1195"/>
            </a:xfrm>
            <a:prstGeom prst="rect">
              <a:avLst/>
            </a:prstGeom>
            <a:solidFill>
              <a:srgbClr val="F2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570" y="7920"/>
              <a:ext cx="7013" cy="1195"/>
            </a:xfrm>
            <a:prstGeom prst="rect">
              <a:avLst/>
            </a:prstGeom>
            <a:solidFill>
              <a:srgbClr val="F2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02" y="8064"/>
              <a:ext cx="6106" cy="418"/>
            </a:xfrm>
            <a:prstGeom prst="rect">
              <a:avLst/>
            </a:prstGeom>
            <a:noFill/>
          </p:spPr>
          <p:txBody>
            <a:bodyPr wrap="square" lIns="54864" tIns="22860">
              <a:spAutoFit/>
            </a:bodyPr>
            <a:lstStyle/>
            <a:p>
              <a:pPr algn="l"/>
              <a:r>
                <a:rPr sz="1500" b="1">
                  <a:solidFill>
                    <a:srgbClr val="252525"/>
                  </a:solidFill>
                  <a:latin typeface="微软雅黑"/>
                </a:rPr>
                <a:t>迁移成本较低：甲、乙均迁往 A</a:t>
              </a:r>
              <a:endParaRPr sz="1500" b="1">
                <a:solidFill>
                  <a:srgbClr val="252525"/>
                </a:solidFill>
                <a:latin typeface="微软雅黑"/>
              </a:endParaRPr>
            </a:p>
          </p:txBody>
        </p:sp>
        <p:sp>
          <p:nvSpPr>
            <p:cNvPr id="51" name="TextBox 50"/>
            <p:cNvSpPr txBox="1"/>
            <p:nvPr/>
          </p:nvSpPr>
          <p:spPr>
            <a:xfrm>
              <a:off x="3902" y="8568"/>
              <a:ext cx="6106" cy="432"/>
            </a:xfrm>
            <a:prstGeom prst="rect">
              <a:avLst/>
            </a:prstGeom>
            <a:noFill/>
          </p:spPr>
          <p:txBody>
            <a:bodyPr wrap="square" lIns="54864" tIns="22860">
              <a:spAutoFit/>
            </a:bodyPr>
            <a:lstStyle/>
            <a:p>
              <a:pPr algn="l"/>
              <a:r>
                <a:rPr sz="1400" b="1">
                  <a:solidFill>
                    <a:srgbClr val="6E0877"/>
                  </a:solidFill>
                  <a:latin typeface="微软雅黑"/>
                </a:rPr>
                <a:t>迁移者平均工资 = (20+100)/2 = 60</a:t>
              </a:r>
              <a:endParaRPr sz="1400" b="1">
                <a:solidFill>
                  <a:srgbClr val="6E0877"/>
                </a:solidFill>
                <a:latin typeface="微软雅黑"/>
              </a:endParaRPr>
            </a:p>
          </p:txBody>
        </p:sp>
        <p:sp>
          <p:nvSpPr>
            <p:cNvPr id="52" name="TextBox 51"/>
            <p:cNvSpPr txBox="1"/>
            <p:nvPr/>
          </p:nvSpPr>
          <p:spPr>
            <a:xfrm>
              <a:off x="10829" y="8064"/>
              <a:ext cx="6451" cy="418"/>
            </a:xfrm>
            <a:prstGeom prst="rect">
              <a:avLst/>
            </a:prstGeom>
            <a:noFill/>
          </p:spPr>
          <p:txBody>
            <a:bodyPr wrap="square" lIns="54864" tIns="22860">
              <a:spAutoFit/>
            </a:bodyPr>
            <a:lstStyle/>
            <a:p>
              <a:pPr algn="l"/>
              <a:r>
                <a:rPr sz="1500" b="1">
                  <a:solidFill>
                    <a:srgbClr val="252525"/>
                  </a:solidFill>
                  <a:latin typeface="微软雅黑"/>
                </a:rPr>
                <a:t>迁移成本较高：只有甲迁往 A</a:t>
              </a:r>
              <a:endParaRPr sz="1500" b="1">
                <a:solidFill>
                  <a:srgbClr val="252525"/>
                </a:solidFill>
                <a:latin typeface="微软雅黑"/>
              </a:endParaRPr>
            </a:p>
          </p:txBody>
        </p:sp>
        <p:sp>
          <p:nvSpPr>
            <p:cNvPr id="53" name="TextBox 52"/>
            <p:cNvSpPr txBox="1"/>
            <p:nvPr/>
          </p:nvSpPr>
          <p:spPr>
            <a:xfrm>
              <a:off x="10829" y="8568"/>
              <a:ext cx="6451" cy="432"/>
            </a:xfrm>
            <a:prstGeom prst="rect">
              <a:avLst/>
            </a:prstGeom>
            <a:noFill/>
          </p:spPr>
          <p:txBody>
            <a:bodyPr wrap="square" lIns="54864" tIns="22860">
              <a:spAutoFit/>
            </a:bodyPr>
            <a:lstStyle/>
            <a:p>
              <a:pPr algn="l"/>
              <a:r>
                <a:rPr sz="1400" b="1">
                  <a:solidFill>
                    <a:srgbClr val="6E0877"/>
                  </a:solidFill>
                  <a:latin typeface="微软雅黑"/>
                </a:rPr>
                <a:t>迁移者平均工资 = 20</a:t>
              </a:r>
              <a:endParaRPr sz="1400" b="1">
                <a:solidFill>
                  <a:srgbClr val="6E0877"/>
                </a:solidFill>
                <a:latin typeface="微软雅黑"/>
              </a:endParaRPr>
            </a:p>
          </p:txBody>
        </p:sp>
        <p:sp>
          <p:nvSpPr>
            <p:cNvPr id="54" name="Rectangle 53"/>
            <p:cNvSpPr/>
            <p:nvPr/>
          </p:nvSpPr>
          <p:spPr>
            <a:xfrm>
              <a:off x="3629" y="9389"/>
              <a:ext cx="13954" cy="720"/>
            </a:xfrm>
            <a:prstGeom prst="rect">
              <a:avLst/>
            </a:prstGeom>
            <a:solidFill>
              <a:srgbClr val="EB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88" y="9504"/>
              <a:ext cx="13464" cy="490"/>
            </a:xfrm>
            <a:prstGeom prst="rect">
              <a:avLst/>
            </a:prstGeom>
            <a:noFill/>
          </p:spPr>
          <p:txBody>
            <a:bodyPr wrap="square" lIns="54864" tIns="22860">
              <a:spAutoFit/>
            </a:bodyPr>
            <a:lstStyle/>
            <a:p>
              <a:pPr algn="l"/>
              <a:r>
                <a:rPr sz="1500" b="1">
                  <a:solidFill>
                    <a:srgbClr val="6E0877"/>
                  </a:solidFill>
                  <a:latin typeface="微软雅黑"/>
                </a:rPr>
                <a:t>结论：迁移成本升高，平均工资却由 60 降至 20，与 Fact 2 的方向相反。</a:t>
              </a:r>
              <a:endParaRPr sz="1500" b="1">
                <a:solidFill>
                  <a:srgbClr val="6E0877"/>
                </a:solidFill>
                <a:latin typeface="微软雅黑"/>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两地</a:t>
            </a:r>
            <a:r>
              <a:rPr lang="zh-CN" altLang="en-US" sz="2500" b="1" i="0">
                <a:solidFill>
                  <a:srgbClr val="1C1C1C"/>
                </a:solidFill>
                <a:latin typeface="微软雅黑"/>
              </a:rPr>
              <a:t>案例</a:t>
            </a:r>
            <a:endParaRPr lang="zh-CN" altLang="en-US" sz="2500" b="1" i="0">
              <a:solidFill>
                <a:srgbClr val="1C1C1C"/>
              </a:solidFill>
              <a:latin typeface="微软雅黑"/>
            </a:endParaRPr>
          </a:p>
        </p:txBody>
      </p:sp>
      <p:sp>
        <p:nvSpPr>
          <p:cNvPr id="9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2.4</a:t>
            </a:r>
            <a:endParaRPr lang="en-US" sz="1800">
              <a:latin typeface="Times New Roman" panose="02020503050405090304" pitchFamily="18" charset="0"/>
              <a:cs typeface="Times New Roman" panose="02020503050405090304" pitchFamily="18" charset="0"/>
            </a:endParaRPr>
          </a:p>
        </p:txBody>
      </p:sp>
      <p:grpSp>
        <p:nvGrpSpPr>
          <p:cNvPr id="49" name="组合 48"/>
          <p:cNvGrpSpPr/>
          <p:nvPr/>
        </p:nvGrpSpPr>
        <p:grpSpPr>
          <a:xfrm>
            <a:off x="2121535" y="1143000"/>
            <a:ext cx="9253855" cy="5559425"/>
            <a:chOff x="3341" y="1800"/>
            <a:chExt cx="14573" cy="8755"/>
          </a:xfrm>
        </p:grpSpPr>
        <p:sp>
          <p:nvSpPr>
            <p:cNvPr id="19" name="Rectangle 18"/>
            <p:cNvSpPr/>
            <p:nvPr/>
          </p:nvSpPr>
          <p:spPr>
            <a:xfrm>
              <a:off x="3341" y="1800"/>
              <a:ext cx="14573" cy="562"/>
            </a:xfrm>
            <a:prstGeom prst="rect">
              <a:avLst/>
            </a:prstGeom>
            <a:solidFill>
              <a:srgbClr val="EF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71" y="1858"/>
              <a:ext cx="12960" cy="555"/>
            </a:xfrm>
            <a:prstGeom prst="rect">
              <a:avLst/>
            </a:prstGeom>
            <a:noFill/>
          </p:spPr>
          <p:txBody>
            <a:bodyPr wrap="square">
              <a:spAutoFit/>
            </a:bodyPr>
            <a:lstStyle/>
            <a:p>
              <a:pPr algn="l"/>
              <a:r>
                <a:rPr sz="1700" b="1">
                  <a:solidFill>
                    <a:srgbClr val="700C77"/>
                  </a:solidFill>
                  <a:latin typeface="微软雅黑"/>
                </a:rPr>
                <a:t>一、Selection 的双重作用</a:t>
              </a:r>
              <a:endParaRPr sz="1700" b="1">
                <a:solidFill>
                  <a:srgbClr val="700C77"/>
                </a:solidFill>
                <a:latin typeface="微软雅黑"/>
              </a:endParaRPr>
            </a:p>
          </p:txBody>
        </p:sp>
        <p:sp>
          <p:nvSpPr>
            <p:cNvPr id="21" name="Rectangle 20"/>
            <p:cNvSpPr/>
            <p:nvPr/>
          </p:nvSpPr>
          <p:spPr>
            <a:xfrm>
              <a:off x="3341" y="2520"/>
              <a:ext cx="7157" cy="2045"/>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41" y="2520"/>
              <a:ext cx="66" cy="2045"/>
            </a:xfrm>
            <a:prstGeom prst="rect">
              <a:avLst/>
            </a:prstGeom>
            <a:solidFill>
              <a:srgbClr val="700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57" y="2635"/>
              <a:ext cx="6696" cy="461"/>
            </a:xfrm>
            <a:prstGeom prst="rect">
              <a:avLst/>
            </a:prstGeom>
            <a:noFill/>
          </p:spPr>
          <p:txBody>
            <a:bodyPr wrap="square">
              <a:spAutoFit/>
            </a:bodyPr>
            <a:lstStyle/>
            <a:p>
              <a:pPr algn="l"/>
              <a:r>
                <a:rPr sz="1700" b="1">
                  <a:solidFill>
                    <a:srgbClr val="700C77"/>
                  </a:solidFill>
                  <a:latin typeface="微软雅黑"/>
                </a:rPr>
                <a:t>作用 ①：创造配置收益</a:t>
              </a:r>
              <a:endParaRPr sz="1700" b="1">
                <a:solidFill>
                  <a:srgbClr val="700C77"/>
                </a:solidFill>
                <a:latin typeface="微软雅黑"/>
              </a:endParaRPr>
            </a:p>
          </p:txBody>
        </p:sp>
        <p:sp>
          <p:nvSpPr>
            <p:cNvPr id="24" name="TextBox 23"/>
            <p:cNvSpPr txBox="1"/>
            <p:nvPr/>
          </p:nvSpPr>
          <p:spPr>
            <a:xfrm>
              <a:off x="3557" y="3139"/>
              <a:ext cx="6768" cy="288"/>
            </a:xfrm>
            <a:prstGeom prst="rect">
              <a:avLst/>
            </a:prstGeom>
            <a:noFill/>
          </p:spPr>
          <p:txBody>
            <a:bodyPr wrap="square">
              <a:spAutoFit/>
            </a:bodyPr>
            <a:lstStyle/>
            <a:p>
              <a:pPr algn="l"/>
              <a:r>
                <a:rPr sz="1100" b="0">
                  <a:solidFill>
                    <a:srgbClr val="6C6C6C"/>
                  </a:solidFill>
                  <a:latin typeface="Arial" panose="020B0604020202090204"/>
                </a:rPr>
                <a:t>Selection creates gains</a:t>
              </a:r>
              <a:endParaRPr sz="1100" b="0">
                <a:solidFill>
                  <a:srgbClr val="6C6C6C"/>
                </a:solidFill>
                <a:latin typeface="Arial" panose="020B0604020202090204"/>
              </a:endParaRPr>
            </a:p>
          </p:txBody>
        </p:sp>
        <p:sp>
          <p:nvSpPr>
            <p:cNvPr id="25" name="TextBox 24"/>
            <p:cNvSpPr txBox="1"/>
            <p:nvPr/>
          </p:nvSpPr>
          <p:spPr>
            <a:xfrm>
              <a:off x="3557" y="3485"/>
              <a:ext cx="6624" cy="965"/>
            </a:xfrm>
            <a:prstGeom prst="rect">
              <a:avLst/>
            </a:prstGeom>
            <a:noFill/>
          </p:spPr>
          <p:txBody>
            <a:bodyPr wrap="square">
              <a:spAutoFit/>
            </a:bodyPr>
            <a:lstStyle/>
            <a:p>
              <a:pPr algn="l"/>
              <a:r>
                <a:rPr sz="1230" b="0">
                  <a:solidFill>
                    <a:srgbClr val="262626"/>
                  </a:solidFill>
                  <a:latin typeface="微软雅黑"/>
                </a:rPr>
                <a:t>劳动者在不同地区具有异质性；迁移到自身比较优势地区，可提高总体生产率。迁移成本阻止这种分选，因此造成效率损失。</a:t>
              </a:r>
              <a:endParaRPr sz="1230" b="0">
                <a:solidFill>
                  <a:srgbClr val="262626"/>
                </a:solidFill>
                <a:latin typeface="微软雅黑"/>
              </a:endParaRPr>
            </a:p>
          </p:txBody>
        </p:sp>
        <p:sp>
          <p:nvSpPr>
            <p:cNvPr id="26" name="Rectangle 25"/>
            <p:cNvSpPr/>
            <p:nvPr/>
          </p:nvSpPr>
          <p:spPr>
            <a:xfrm>
              <a:off x="10757" y="2520"/>
              <a:ext cx="7157" cy="2045"/>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57" y="2520"/>
              <a:ext cx="66" cy="2045"/>
            </a:xfrm>
            <a:prstGeom prst="rect">
              <a:avLst/>
            </a:prstGeom>
            <a:solidFill>
              <a:srgbClr val="700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3" y="2635"/>
              <a:ext cx="6696" cy="461"/>
            </a:xfrm>
            <a:prstGeom prst="rect">
              <a:avLst/>
            </a:prstGeom>
            <a:noFill/>
          </p:spPr>
          <p:txBody>
            <a:bodyPr wrap="square">
              <a:spAutoFit/>
            </a:bodyPr>
            <a:lstStyle/>
            <a:p>
              <a:pPr algn="l"/>
              <a:r>
                <a:rPr sz="1700" b="1">
                  <a:solidFill>
                    <a:srgbClr val="700C77"/>
                  </a:solidFill>
                  <a:latin typeface="微软雅黑"/>
                </a:rPr>
                <a:t>作用 ②：限制新增迁移收益</a:t>
              </a:r>
              <a:endParaRPr sz="1700" b="1">
                <a:solidFill>
                  <a:srgbClr val="700C77"/>
                </a:solidFill>
                <a:latin typeface="微软雅黑"/>
              </a:endParaRPr>
            </a:p>
          </p:txBody>
        </p:sp>
        <p:sp>
          <p:nvSpPr>
            <p:cNvPr id="29" name="TextBox 28"/>
            <p:cNvSpPr txBox="1"/>
            <p:nvPr/>
          </p:nvSpPr>
          <p:spPr>
            <a:xfrm>
              <a:off x="10973" y="3139"/>
              <a:ext cx="6768" cy="288"/>
            </a:xfrm>
            <a:prstGeom prst="rect">
              <a:avLst/>
            </a:prstGeom>
            <a:noFill/>
          </p:spPr>
          <p:txBody>
            <a:bodyPr wrap="square">
              <a:spAutoFit/>
            </a:bodyPr>
            <a:lstStyle/>
            <a:p>
              <a:pPr algn="l"/>
              <a:r>
                <a:rPr sz="1100" b="0">
                  <a:solidFill>
                    <a:srgbClr val="6C6C6C"/>
                  </a:solidFill>
                  <a:latin typeface="Arial" panose="020B0604020202090204"/>
                </a:rPr>
                <a:t>Selection limits further gains</a:t>
              </a:r>
              <a:endParaRPr sz="1100" b="0">
                <a:solidFill>
                  <a:srgbClr val="6C6C6C"/>
                </a:solidFill>
                <a:latin typeface="Arial" panose="020B0604020202090204"/>
              </a:endParaRPr>
            </a:p>
          </p:txBody>
        </p:sp>
        <p:sp>
          <p:nvSpPr>
            <p:cNvPr id="30" name="TextBox 29"/>
            <p:cNvSpPr txBox="1"/>
            <p:nvPr/>
          </p:nvSpPr>
          <p:spPr>
            <a:xfrm>
              <a:off x="10973" y="3485"/>
              <a:ext cx="6624" cy="965"/>
            </a:xfrm>
            <a:prstGeom prst="rect">
              <a:avLst/>
            </a:prstGeom>
            <a:noFill/>
          </p:spPr>
          <p:txBody>
            <a:bodyPr wrap="square">
              <a:spAutoFit/>
            </a:bodyPr>
            <a:lstStyle/>
            <a:p>
              <a:pPr algn="l"/>
              <a:r>
                <a:rPr sz="1230" b="0">
                  <a:solidFill>
                    <a:srgbClr val="262626"/>
                  </a:solidFill>
                  <a:latin typeface="微软雅黑"/>
                </a:rPr>
                <a:t>最有迁移收益的人通常率先迁移；放松约束后，边际新增迁移者的预期生产率收益较低，因此不能按原有迁移者的平均工资估算收益。</a:t>
              </a:r>
              <a:endParaRPr sz="1230" b="0">
                <a:solidFill>
                  <a:srgbClr val="262626"/>
                </a:solidFill>
                <a:latin typeface="微软雅黑"/>
              </a:endParaRPr>
            </a:p>
          </p:txBody>
        </p:sp>
        <p:sp>
          <p:nvSpPr>
            <p:cNvPr id="31" name="Rectangle 30"/>
            <p:cNvSpPr/>
            <p:nvPr/>
          </p:nvSpPr>
          <p:spPr>
            <a:xfrm>
              <a:off x="3341" y="4882"/>
              <a:ext cx="14573" cy="576"/>
            </a:xfrm>
            <a:prstGeom prst="rect">
              <a:avLst/>
            </a:prstGeom>
            <a:solidFill>
              <a:srgbClr val="EF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71" y="4954"/>
              <a:ext cx="12960" cy="389"/>
            </a:xfrm>
            <a:prstGeom prst="rect">
              <a:avLst/>
            </a:prstGeom>
            <a:noFill/>
          </p:spPr>
          <p:txBody>
            <a:bodyPr wrap="square">
              <a:spAutoFit/>
            </a:bodyPr>
            <a:lstStyle/>
            <a:p>
              <a:pPr algn="l"/>
              <a:r>
                <a:rPr sz="1600" b="1">
                  <a:solidFill>
                    <a:srgbClr val="700C77"/>
                  </a:solidFill>
                  <a:latin typeface="微软雅黑"/>
                </a:rPr>
                <a:t>二、Fact 2 的关键条件：比较优势与绝对优势相一致（Footnote 11）</a:t>
              </a:r>
              <a:endParaRPr sz="1600" b="1">
                <a:solidFill>
                  <a:srgbClr val="700C77"/>
                </a:solidFill>
                <a:latin typeface="微软雅黑"/>
              </a:endParaRPr>
            </a:p>
          </p:txBody>
        </p:sp>
        <p:sp>
          <p:nvSpPr>
            <p:cNvPr id="33" name="Rectangle 32"/>
            <p:cNvSpPr/>
            <p:nvPr/>
          </p:nvSpPr>
          <p:spPr>
            <a:xfrm>
              <a:off x="3341" y="5587"/>
              <a:ext cx="14573" cy="1354"/>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14" y="5717"/>
              <a:ext cx="14112" cy="461"/>
            </a:xfrm>
            <a:prstGeom prst="rect">
              <a:avLst/>
            </a:prstGeom>
            <a:noFill/>
          </p:spPr>
          <p:txBody>
            <a:bodyPr wrap="square">
              <a:spAutoFit/>
            </a:bodyPr>
            <a:lstStyle/>
            <a:p>
              <a:pPr algn="l"/>
              <a:r>
                <a:rPr sz="1500" b="1">
                  <a:solidFill>
                    <a:srgbClr val="262626"/>
                  </a:solidFill>
                  <a:latin typeface="微软雅黑"/>
                </a:rPr>
                <a:t>比较优势与绝对优势须相一致，才能将远距离迁移者的高工资解释为更强的正向选择。</a:t>
              </a:r>
              <a:endParaRPr sz="1500" b="1">
                <a:solidFill>
                  <a:srgbClr val="262626"/>
                </a:solidFill>
                <a:latin typeface="微软雅黑"/>
              </a:endParaRPr>
            </a:p>
          </p:txBody>
        </p:sp>
        <p:sp>
          <p:nvSpPr>
            <p:cNvPr id="35" name="TextBox 34"/>
            <p:cNvSpPr txBox="1"/>
            <p:nvPr/>
          </p:nvSpPr>
          <p:spPr>
            <a:xfrm>
              <a:off x="3614" y="6293"/>
              <a:ext cx="14040" cy="438"/>
            </a:xfrm>
            <a:prstGeom prst="rect">
              <a:avLst/>
            </a:prstGeom>
            <a:noFill/>
          </p:spPr>
          <p:txBody>
            <a:bodyPr wrap="square">
              <a:spAutoFit/>
            </a:bodyPr>
            <a:lstStyle/>
            <a:p>
              <a:pPr algn="l"/>
              <a:endParaRPr sz="1220" b="0">
                <a:solidFill>
                  <a:srgbClr val="6C6C6C"/>
                </a:solidFill>
                <a:latin typeface="微软雅黑"/>
              </a:endParaRPr>
            </a:p>
          </p:txBody>
        </p:sp>
        <p:sp>
          <p:nvSpPr>
            <p:cNvPr id="36" name="Rectangle 35"/>
            <p:cNvSpPr/>
            <p:nvPr/>
          </p:nvSpPr>
          <p:spPr>
            <a:xfrm>
              <a:off x="3341" y="7258"/>
              <a:ext cx="14573" cy="576"/>
            </a:xfrm>
            <a:prstGeom prst="rect">
              <a:avLst/>
            </a:prstGeom>
            <a:solidFill>
              <a:srgbClr val="EFE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1" y="7330"/>
              <a:ext cx="12960" cy="389"/>
            </a:xfrm>
            <a:prstGeom prst="rect">
              <a:avLst/>
            </a:prstGeom>
            <a:noFill/>
          </p:spPr>
          <p:txBody>
            <a:bodyPr wrap="square">
              <a:spAutoFit/>
            </a:bodyPr>
            <a:lstStyle/>
            <a:p>
              <a:pPr algn="l"/>
              <a:r>
                <a:rPr sz="1600" b="1">
                  <a:solidFill>
                    <a:srgbClr val="700C77"/>
                  </a:solidFill>
                  <a:latin typeface="微软雅黑"/>
                </a:rPr>
                <a:t>三、从理论机制到反事实生产率估计</a:t>
              </a:r>
              <a:endParaRPr sz="1600" b="1">
                <a:solidFill>
                  <a:srgbClr val="700C77"/>
                </a:solidFill>
                <a:latin typeface="微软雅黑"/>
              </a:endParaRPr>
            </a:p>
          </p:txBody>
        </p:sp>
        <p:sp>
          <p:nvSpPr>
            <p:cNvPr id="38" name="Rectangle 37"/>
            <p:cNvSpPr/>
            <p:nvPr/>
          </p:nvSpPr>
          <p:spPr>
            <a:xfrm>
              <a:off x="3341" y="7963"/>
              <a:ext cx="7157" cy="1469"/>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41" y="7963"/>
              <a:ext cx="66" cy="1469"/>
            </a:xfrm>
            <a:prstGeom prst="rect">
              <a:avLst/>
            </a:prstGeom>
            <a:solidFill>
              <a:srgbClr val="700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7" y="8021"/>
              <a:ext cx="6552" cy="403"/>
            </a:xfrm>
            <a:prstGeom prst="rect">
              <a:avLst/>
            </a:prstGeom>
            <a:noFill/>
          </p:spPr>
          <p:txBody>
            <a:bodyPr wrap="square">
              <a:spAutoFit/>
            </a:bodyPr>
            <a:lstStyle/>
            <a:p>
              <a:pPr algn="l"/>
              <a:r>
                <a:rPr sz="1400" b="1">
                  <a:solidFill>
                    <a:srgbClr val="700C77"/>
                  </a:solidFill>
                  <a:latin typeface="微软雅黑"/>
                </a:rPr>
                <a:t>估计迁移反应</a:t>
              </a:r>
              <a:endParaRPr sz="1400" b="1">
                <a:solidFill>
                  <a:srgbClr val="700C77"/>
                </a:solidFill>
                <a:latin typeface="微软雅黑"/>
              </a:endParaRPr>
            </a:p>
          </p:txBody>
        </p:sp>
        <p:sp>
          <p:nvSpPr>
            <p:cNvPr id="41" name="TextBox 40"/>
            <p:cNvSpPr txBox="1"/>
            <p:nvPr/>
          </p:nvSpPr>
          <p:spPr>
            <a:xfrm>
              <a:off x="3557" y="8525"/>
              <a:ext cx="6710" cy="725"/>
            </a:xfrm>
            <a:prstGeom prst="rect">
              <a:avLst/>
            </a:prstGeom>
            <a:noFill/>
          </p:spPr>
          <p:txBody>
            <a:bodyPr wrap="square">
              <a:spAutoFit/>
            </a:bodyPr>
            <a:lstStyle/>
            <a:p>
              <a:pPr algn="l"/>
              <a:r>
                <a:rPr sz="1140" b="0">
                  <a:solidFill>
                    <a:srgbClr val="262626"/>
                  </a:solidFill>
                  <a:latin typeface="微软雅黑"/>
                </a:rPr>
                <a:t>预测移除迁移障碍后有多少人改变地区选择；图</a:t>
              </a:r>
              <a:r>
                <a:rPr sz="1200">
                  <a:solidFill>
                    <a:schemeClr val="tx1"/>
                  </a:solidFill>
                  <a:latin typeface="微软雅黑"/>
                </a:rPr>
                <a:t>中</a:t>
              </a:r>
              <a:r>
                <a:rPr sz="1200" b="1">
                  <a:solidFill>
                    <a:srgbClr val="C00000"/>
                  </a:solidFill>
                  <a:latin typeface="微软雅黑"/>
                </a:rPr>
                <a:t>对应三角形 OCE 内的人口</a:t>
              </a:r>
              <a:endParaRPr sz="1200" b="1">
                <a:solidFill>
                  <a:srgbClr val="C00000"/>
                </a:solidFill>
                <a:latin typeface="微软雅黑"/>
              </a:endParaRPr>
            </a:p>
          </p:txBody>
        </p:sp>
        <p:sp>
          <p:nvSpPr>
            <p:cNvPr id="42" name="Rectangle 41"/>
            <p:cNvSpPr/>
            <p:nvPr/>
          </p:nvSpPr>
          <p:spPr>
            <a:xfrm>
              <a:off x="10757" y="7963"/>
              <a:ext cx="7157" cy="1469"/>
            </a:xfrm>
            <a:prstGeom prst="rect">
              <a:avLst/>
            </a:prstGeom>
            <a:solidFill>
              <a:srgbClr val="FAF9FA"/>
            </a:solidFill>
            <a:ln>
              <a:solidFill>
                <a:srgbClr val="DDD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757" y="7963"/>
              <a:ext cx="66" cy="1469"/>
            </a:xfrm>
            <a:prstGeom prst="rect">
              <a:avLst/>
            </a:prstGeom>
            <a:solidFill>
              <a:srgbClr val="700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73" y="8021"/>
              <a:ext cx="6552" cy="403"/>
            </a:xfrm>
            <a:prstGeom prst="rect">
              <a:avLst/>
            </a:prstGeom>
            <a:noFill/>
          </p:spPr>
          <p:txBody>
            <a:bodyPr wrap="square">
              <a:spAutoFit/>
            </a:bodyPr>
            <a:lstStyle/>
            <a:p>
              <a:pPr algn="l"/>
              <a:r>
                <a:rPr sz="1400" b="1">
                  <a:solidFill>
                    <a:srgbClr val="700C77"/>
                  </a:solidFill>
                  <a:latin typeface="微软雅黑"/>
                </a:rPr>
                <a:t>估计工资选择效应</a:t>
              </a:r>
              <a:endParaRPr sz="1400" b="1">
                <a:solidFill>
                  <a:srgbClr val="700C77"/>
                </a:solidFill>
                <a:latin typeface="微软雅黑"/>
              </a:endParaRPr>
            </a:p>
          </p:txBody>
        </p:sp>
        <p:sp>
          <p:nvSpPr>
            <p:cNvPr id="45" name="TextBox 44"/>
            <p:cNvSpPr txBox="1"/>
            <p:nvPr/>
          </p:nvSpPr>
          <p:spPr>
            <a:xfrm>
              <a:off x="10973" y="8525"/>
              <a:ext cx="6710" cy="695"/>
            </a:xfrm>
            <a:prstGeom prst="rect">
              <a:avLst/>
            </a:prstGeom>
            <a:noFill/>
          </p:spPr>
          <p:txBody>
            <a:bodyPr wrap="square">
              <a:spAutoFit/>
            </a:bodyPr>
            <a:lstStyle/>
            <a:p>
              <a:pPr algn="l"/>
              <a:r>
                <a:rPr sz="1140" b="0">
                  <a:solidFill>
                    <a:srgbClr val="262626"/>
                  </a:solidFill>
                  <a:latin typeface="微软雅黑"/>
                </a:rPr>
                <a:t>估计 A→B、B→A、留在 A、留在 B 四类人的平均工资如何随迁移份额变化；利用 Fact 3 的</a:t>
              </a:r>
              <a:r>
                <a:rPr sz="1140" b="1">
                  <a:solidFill>
                    <a:srgbClr val="C00000"/>
                  </a:solidFill>
                  <a:latin typeface="微软雅黑"/>
                </a:rPr>
                <a:t>工资—迁移份额弹性</a:t>
              </a:r>
              <a:endParaRPr sz="1140" b="0">
                <a:solidFill>
                  <a:srgbClr val="262626"/>
                </a:solidFill>
                <a:latin typeface="微软雅黑"/>
              </a:endParaRPr>
            </a:p>
          </p:txBody>
        </p:sp>
        <p:sp>
          <p:nvSpPr>
            <p:cNvPr id="48" name="TextBox 47"/>
            <p:cNvSpPr txBox="1"/>
            <p:nvPr/>
          </p:nvSpPr>
          <p:spPr>
            <a:xfrm>
              <a:off x="3355" y="10267"/>
              <a:ext cx="14112" cy="288"/>
            </a:xfrm>
            <a:prstGeom prst="rect">
              <a:avLst/>
            </a:prstGeom>
            <a:noFill/>
          </p:spPr>
          <p:txBody>
            <a:bodyPr wrap="square">
              <a:spAutoFit/>
            </a:bodyPr>
            <a:lstStyle/>
            <a:p>
              <a:pPr algn="l"/>
              <a:r>
                <a:rPr sz="950" b="0">
                  <a:solidFill>
                    <a:srgbClr val="6C6C6C"/>
                  </a:solidFill>
                  <a:latin typeface="Arial" panose="020B0604020202090204"/>
                </a:rPr>
                <a:t>Source: Bryan &amp; Morten (2019), Section II.C, pp. 2243–2244; Footnote 11.</a:t>
              </a:r>
              <a:endParaRPr sz="950" b="0">
                <a:solidFill>
                  <a:srgbClr val="6C6C6C"/>
                </a:solidFill>
                <a:latin typeface="Arial" panose="020B0604020202090204"/>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lang="zh-CN" altLang="en-US" sz="2500" b="1" i="0">
                <a:solidFill>
                  <a:srgbClr val="1C1C1C"/>
                </a:solidFill>
                <a:latin typeface="微软雅黑"/>
              </a:rPr>
              <a:t>个人端①：为什么需要地区特定技能？</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59" name="组合 58"/>
          <p:cNvGrpSpPr/>
          <p:nvPr/>
        </p:nvGrpSpPr>
        <p:grpSpPr>
          <a:xfrm>
            <a:off x="2130425" y="1827530"/>
            <a:ext cx="9216390" cy="4608830"/>
            <a:chOff x="3341" y="1670"/>
            <a:chExt cx="14514" cy="7258"/>
          </a:xfrm>
        </p:grpSpPr>
        <p:grpSp>
          <p:nvGrpSpPr>
            <p:cNvPr id="57" name="组合 56"/>
            <p:cNvGrpSpPr/>
            <p:nvPr/>
          </p:nvGrpSpPr>
          <p:grpSpPr>
            <a:xfrm>
              <a:off x="3341" y="1670"/>
              <a:ext cx="14514" cy="7242"/>
              <a:chOff x="3341" y="1670"/>
              <a:chExt cx="14514" cy="7242"/>
            </a:xfrm>
          </p:grpSpPr>
          <p:sp>
            <p:nvSpPr>
              <p:cNvPr id="50" name="Rectangle 21"/>
              <p:cNvSpPr/>
              <p:nvPr/>
            </p:nvSpPr>
            <p:spPr>
              <a:xfrm>
                <a:off x="10368" y="2355"/>
                <a:ext cx="6826" cy="1757"/>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6" name="组合 55"/>
              <p:cNvGrpSpPr/>
              <p:nvPr/>
            </p:nvGrpSpPr>
            <p:grpSpPr>
              <a:xfrm>
                <a:off x="3341" y="1670"/>
                <a:ext cx="14515" cy="7243"/>
                <a:chOff x="3341" y="1670"/>
                <a:chExt cx="14515" cy="7243"/>
              </a:xfrm>
            </p:grpSpPr>
            <p:pic>
              <p:nvPicPr>
                <p:cNvPr id="8" name="图片 7"/>
                <p:cNvPicPr>
                  <a:picLocks noChangeAspect="1"/>
                </p:cNvPicPr>
                <p:nvPr/>
              </p:nvPicPr>
              <p:blipFill>
                <a:blip r:embed="rId1"/>
                <a:stretch>
                  <a:fillRect/>
                </a:stretch>
              </p:blipFill>
              <p:spPr>
                <a:xfrm>
                  <a:off x="8481" y="4379"/>
                  <a:ext cx="6651" cy="1327"/>
                </a:xfrm>
                <a:prstGeom prst="rect">
                  <a:avLst/>
                </a:prstGeom>
              </p:spPr>
            </p:pic>
            <p:grpSp>
              <p:nvGrpSpPr>
                <p:cNvPr id="49" name="组合 48"/>
                <p:cNvGrpSpPr/>
                <p:nvPr/>
              </p:nvGrpSpPr>
              <p:grpSpPr>
                <a:xfrm>
                  <a:off x="3341" y="1670"/>
                  <a:ext cx="14414" cy="7243"/>
                  <a:chOff x="3341" y="1670"/>
                  <a:chExt cx="14414" cy="7243"/>
                </a:xfrm>
              </p:grpSpPr>
              <p:sp>
                <p:nvSpPr>
                  <p:cNvPr id="28" name="TextBox 27"/>
                  <p:cNvSpPr txBox="1"/>
                  <p:nvPr/>
                </p:nvSpPr>
                <p:spPr>
                  <a:xfrm>
                    <a:off x="10613" y="2549"/>
                    <a:ext cx="7056"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模型如何表示？</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29" name="TextBox 28"/>
                      <p:cNvSpPr txBox="1"/>
                      <p:nvPr/>
                    </p:nvSpPr>
                    <p:spPr>
                      <a:xfrm>
                        <a:off x="10613" y="3110"/>
                        <a:ext cx="6394" cy="792"/>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每个出生地 o 有 </a:t>
                        </a: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𝐿</m:t>
                                </m:r>
                              </m:e>
                              <m:sub>
                                <m:r>
                                  <a:rPr lang="en-US" sz="1300" b="0" i="1">
                                    <a:solidFill>
                                      <a:srgbClr val="2A272B"/>
                                    </a:solidFill>
                                    <a:latin typeface="DejaVu Math TeX Gyre" panose="02000503000000000000" charset="0"/>
                                    <a:cs typeface="DejaVu Math TeX Gyre" panose="02000503000000000000" charset="0"/>
                                  </a:rPr>
                                  <m:t>𝑜</m:t>
                                </m:r>
                              </m:sub>
                            </m:sSub>
                          </m:oMath>
                        </a14:m>
                        <a:r>
                          <a:rPr sz="1300" b="0">
                            <a:solidFill>
                              <a:srgbClr val="2A272B"/>
                            </a:solidFill>
                            <a:latin typeface="微软雅黑"/>
                          </a:rPr>
                          <a:t> 人；劳动者 i 对每个目的地 d 抽取技能 </a:t>
                        </a: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𝑠</m:t>
                                </m:r>
                              </m:e>
                              <m:sub>
                                <m:r>
                                  <a:rPr lang="en-US" sz="1300" b="0" i="1">
                                    <a:solidFill>
                                      <a:srgbClr val="2A272B"/>
                                    </a:solidFill>
                                    <a:latin typeface="DejaVu Math TeX Gyre" panose="02000503000000000000" charset="0"/>
                                    <a:cs typeface="DejaVu Math TeX Gyre" panose="02000503000000000000" charset="0"/>
                                  </a:rPr>
                                  <m:t>𝑖𝑑</m:t>
                                </m:r>
                              </m:sub>
                            </m:sSub>
                          </m:oMath>
                        </a14:m>
                        <a:r>
                          <a:rPr sz="1300" b="0">
                            <a:solidFill>
                              <a:srgbClr val="2A272B"/>
                            </a:solidFill>
                            <a:latin typeface="微软雅黑"/>
                          </a:rPr>
                          <a:t>；抽取分布不因出生地而异。</a:t>
                        </a:r>
                        <a:endParaRPr sz="1300" b="0">
                          <a:solidFill>
                            <a:srgbClr val="2A272B"/>
                          </a:solidFill>
                          <a:latin typeface="微软雅黑"/>
                        </a:endParaRPr>
                      </a:p>
                    </p:txBody>
                  </p:sp>
                </mc:Choice>
                <mc:Fallback>
                  <p:sp>
                    <p:nvSpPr>
                      <p:cNvPr id="29" name="TextBox 28"/>
                      <p:cNvSpPr txBox="1">
                        <a:spLocks noRot="1" noChangeAspect="1" noMove="1" noResize="1" noEditPoints="1" noAdjustHandles="1" noChangeArrowheads="1" noChangeShapeType="1" noTextEdit="1"/>
                      </p:cNvSpPr>
                      <p:nvPr/>
                    </p:nvSpPr>
                    <p:spPr>
                      <a:xfrm>
                        <a:off x="10613" y="3110"/>
                        <a:ext cx="6394" cy="792"/>
                      </a:xfrm>
                      <a:prstGeom prst="rect">
                        <a:avLst/>
                      </a:prstGeom>
                      <a:blipFill rotWithShape="1">
                        <a:blip r:embed="rId2"/>
                      </a:blipFill>
                    </p:spPr>
                    <p:txBody>
                      <a:bodyPr/>
                      <a:lstStyle/>
                      <a:p>
                        <a:r>
                          <a:rPr lang="zh-CN" altLang="en-US">
                            <a:noFill/>
                          </a:rPr>
                          <a:t> </a:t>
                        </a:r>
                      </a:p>
                    </p:txBody>
                  </p:sp>
                </mc:Fallback>
              </mc:AlternateContent>
              <p:grpSp>
                <p:nvGrpSpPr>
                  <p:cNvPr id="9" name="组合 8"/>
                  <p:cNvGrpSpPr/>
                  <p:nvPr/>
                </p:nvGrpSpPr>
                <p:grpSpPr>
                  <a:xfrm>
                    <a:off x="3341" y="1670"/>
                    <a:ext cx="14414" cy="7243"/>
                    <a:chOff x="3341" y="1670"/>
                    <a:chExt cx="14414" cy="7243"/>
                  </a:xfrm>
                </p:grpSpPr>
                <p:sp>
                  <p:nvSpPr>
                    <p:cNvPr id="10" name="TextBox 19"/>
                    <p:cNvSpPr txBox="1"/>
                    <p:nvPr/>
                  </p:nvSpPr>
                  <p:spPr>
                    <a:xfrm>
                      <a:off x="3355" y="1670"/>
                      <a:ext cx="14400" cy="439"/>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异质性：相同的人为什么在不同地区有不同的工资机会？</a:t>
                      </a:r>
                      <a:endParaRPr sz="1400" b="1">
                        <a:solidFill>
                          <a:srgbClr val="69086F"/>
                        </a:solidFill>
                        <a:latin typeface="微软雅黑"/>
                      </a:endParaRPr>
                    </a:p>
                  </p:txBody>
                </p:sp>
                <p:sp>
                  <p:nvSpPr>
                    <p:cNvPr id="11" name="Rectangle 21"/>
                    <p:cNvSpPr/>
                    <p:nvPr/>
                  </p:nvSpPr>
                  <p:spPr>
                    <a:xfrm>
                      <a:off x="3341" y="2376"/>
                      <a:ext cx="6826" cy="1757"/>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22"/>
                    <p:cNvSpPr/>
                    <p:nvPr/>
                  </p:nvSpPr>
                  <p:spPr>
                    <a:xfrm>
                      <a:off x="3341" y="2376"/>
                      <a:ext cx="79" cy="1757"/>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23"/>
                    <p:cNvSpPr txBox="1"/>
                    <p:nvPr/>
                  </p:nvSpPr>
                  <p:spPr>
                    <a:xfrm>
                      <a:off x="3586" y="2549"/>
                      <a:ext cx="6394"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原文的直觉</a:t>
                      </a:r>
                      <a:endParaRPr sz="1600" b="1">
                        <a:solidFill>
                          <a:srgbClr val="69086F"/>
                        </a:solidFill>
                        <a:latin typeface="微软雅黑"/>
                      </a:endParaRPr>
                    </a:p>
                  </p:txBody>
                </p:sp>
                <p:sp>
                  <p:nvSpPr>
                    <p:cNvPr id="14" name="TextBox 24"/>
                    <p:cNvSpPr txBox="1"/>
                    <p:nvPr/>
                  </p:nvSpPr>
                  <p:spPr>
                    <a:xfrm>
                      <a:off x="3586" y="3110"/>
                      <a:ext cx="6365" cy="922"/>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一个人擅长数据科学，可能在旧金山的技能回报更高；擅长金融，可能在纽约更有优势。</a:t>
                      </a:r>
                      <a:endParaRPr sz="1300" b="0">
                        <a:solidFill>
                          <a:srgbClr val="2A272B"/>
                        </a:solidFill>
                        <a:latin typeface="微软雅黑"/>
                      </a:endParaRPr>
                    </a:p>
                  </p:txBody>
                </p:sp>
                <p:sp>
                  <p:nvSpPr>
                    <p:cNvPr id="15" name="Rectangle 26"/>
                    <p:cNvSpPr/>
                    <p:nvPr/>
                  </p:nvSpPr>
                  <p:spPr>
                    <a:xfrm>
                      <a:off x="10368" y="2376"/>
                      <a:ext cx="79" cy="1757"/>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30"/>
                    <p:cNvSpPr/>
                    <p:nvPr/>
                  </p:nvSpPr>
                  <p:spPr>
                    <a:xfrm>
                      <a:off x="3341" y="4392"/>
                      <a:ext cx="79" cy="144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31"/>
                    <p:cNvSpPr txBox="1"/>
                    <p:nvPr/>
                  </p:nvSpPr>
                  <p:spPr>
                    <a:xfrm>
                      <a:off x="3629" y="4594"/>
                      <a:ext cx="4536" cy="487"/>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多元 Fréchet 技能分布</a:t>
                      </a:r>
                      <a:r>
                        <a:rPr lang="zh-CN" sz="1600" b="1">
                          <a:solidFill>
                            <a:srgbClr val="69086F"/>
                          </a:solidFill>
                          <a:latin typeface="微软雅黑"/>
                        </a:rPr>
                        <a:t>：</a:t>
                      </a:r>
                      <a:endParaRPr lang="zh-CN" sz="1600" b="1">
                        <a:solidFill>
                          <a:srgbClr val="69086F"/>
                        </a:solidFill>
                        <a:latin typeface="微软雅黑"/>
                      </a:endParaRPr>
                    </a:p>
                  </p:txBody>
                </p:sp>
                <p:sp>
                  <p:nvSpPr>
                    <p:cNvPr id="19" name="Rectangle 33"/>
                    <p:cNvSpPr/>
                    <p:nvPr/>
                  </p:nvSpPr>
                  <p:spPr>
                    <a:xfrm>
                      <a:off x="3341" y="6091"/>
                      <a:ext cx="4608" cy="2822"/>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34"/>
                    <p:cNvSpPr/>
                    <p:nvPr/>
                  </p:nvSpPr>
                  <p:spPr>
                    <a:xfrm>
                      <a:off x="3341" y="6091"/>
                      <a:ext cx="79" cy="2822"/>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6" name="TextBox 35"/>
                        <p:cNvSpPr txBox="1"/>
                        <p:nvPr/>
                      </p:nvSpPr>
                      <p:spPr>
                        <a:xfrm>
                          <a:off x="3586" y="6264"/>
                          <a:ext cx="4176" cy="521"/>
                        </a:xfrm>
                        <a:prstGeom prst="rect">
                          <a:avLst/>
                        </a:prstGeom>
                        <a:noFill/>
                      </p:spPr>
                      <p:txBody>
                        <a:bodyPr wrap="square" lIns="18288" tIns="18288" rIns="18288">
                          <a:spAutoFit/>
                        </a:bodyPr>
                        <a:lstStyle/>
                        <a:p>
                          <a:pPr algn="l">
                            <a:spcAft>
                              <a:spcPts val="300"/>
                            </a:spcAft>
                          </a:pPr>
                          <a14:m>
                            <m:oMath xmlns:m="http://schemas.openxmlformats.org/officeDocument/2006/math">
                              <m:acc>
                                <m:accPr>
                                  <m:chr m:val="̃"/>
                                  <m:ctrlPr>
                                    <a:rPr lang="en-US" sz="1600" b="1" i="1">
                                      <a:solidFill>
                                        <a:srgbClr val="69086F"/>
                                      </a:solidFill>
                                      <a:latin typeface="DejaVu Math TeX Gyre" panose="02000503000000000000" charset="0"/>
                                      <a:cs typeface="DejaVu Math TeX Gyre" panose="02000503000000000000" charset="0"/>
                                    </a:rPr>
                                  </m:ctrlPr>
                                </m:accPr>
                                <m:e>
                                  <m:r>
                                    <a:rPr lang="en-US" sz="1600" b="1" i="1">
                                      <a:solidFill>
                                        <a:srgbClr val="69086F"/>
                                      </a:solidFill>
                                      <a:latin typeface="DejaVu Math TeX Gyre" panose="02000503000000000000" charset="0"/>
                                      <a:cs typeface="DejaVu Math TeX Gyre" panose="02000503000000000000" charset="0"/>
                                    </a:rPr>
                                    <m:t>𝜽</m:t>
                                  </m:r>
                                </m:e>
                              </m:acc>
                            </m:oMath>
                          </a14:m>
                          <a:r>
                            <a:rPr lang="en-US" sz="1600" b="1">
                              <a:solidFill>
                                <a:srgbClr val="69086F"/>
                              </a:solidFill>
                              <a:latin typeface="微软雅黑"/>
                            </a:rPr>
                            <a:t>:</a:t>
                          </a:r>
                          <a:r>
                            <a:rPr sz="1600" b="1">
                              <a:solidFill>
                                <a:srgbClr val="69086F"/>
                              </a:solidFill>
                              <a:latin typeface="微软雅黑"/>
                            </a:rPr>
                            <a:t>技能离散</a:t>
                          </a:r>
                          <a:endParaRPr sz="1600" b="1">
                            <a:solidFill>
                              <a:srgbClr val="69086F"/>
                            </a:solidFill>
                            <a:latin typeface="微软雅黑"/>
                          </a:endParaRPr>
                        </a:p>
                      </p:txBody>
                    </p:sp>
                  </mc:Choice>
                  <mc:Fallback>
                    <p:sp>
                      <p:nvSpPr>
                        <p:cNvPr id="26" name="TextBox 35"/>
                        <p:cNvSpPr txBox="1">
                          <a:spLocks noRot="1" noChangeAspect="1" noMove="1" noResize="1" noEditPoints="1" noAdjustHandles="1" noChangeArrowheads="1" noChangeShapeType="1" noTextEdit="1"/>
                        </p:cNvSpPr>
                        <p:nvPr/>
                      </p:nvSpPr>
                      <p:spPr>
                        <a:xfrm>
                          <a:off x="3586" y="6264"/>
                          <a:ext cx="4176" cy="521"/>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TextBox 36"/>
                        <p:cNvSpPr txBox="1"/>
                        <p:nvPr/>
                      </p:nvSpPr>
                      <p:spPr>
                        <a:xfrm>
                          <a:off x="3586" y="6826"/>
                          <a:ext cx="4147" cy="441"/>
                        </a:xfrm>
                        <a:prstGeom prst="rect">
                          <a:avLst/>
                        </a:prstGeom>
                        <a:noFill/>
                      </p:spPr>
                      <p:txBody>
                        <a:bodyPr wrap="square" lIns="18288" tIns="18288" rIns="18288">
                          <a:spAutoFit/>
                        </a:bodyPr>
                        <a:lstStyle/>
                        <a:p>
                          <a:pPr algn="l">
                            <a:spcAft>
                              <a:spcPts val="300"/>
                            </a:spcAft>
                          </a:pPr>
                          <a14:m>
                            <m:oMath xmlns:m="http://schemas.openxmlformats.org/officeDocument/2006/math">
                              <m:acc>
                                <m:accPr>
                                  <m:chr m:val="̃"/>
                                  <m:ctrlPr>
                                    <a:rPr lang="en-US" sz="1300" b="1" i="1">
                                      <a:solidFill>
                                        <a:schemeClr val="tx1"/>
                                      </a:solidFill>
                                      <a:latin typeface="DejaVu Math TeX Gyre" panose="02000503000000000000" charset="0"/>
                                      <a:cs typeface="DejaVu Math TeX Gyre" panose="02000503000000000000" charset="0"/>
                                    </a:rPr>
                                  </m:ctrlPr>
                                </m:accPr>
                                <m:e>
                                  <m:r>
                                    <a:rPr lang="en-US" sz="1300" b="1" i="1">
                                      <a:solidFill>
                                        <a:schemeClr val="tx1"/>
                                      </a:solidFill>
                                      <a:latin typeface="DejaVu Math TeX Gyre" panose="02000503000000000000" charset="0"/>
                                      <a:cs typeface="DejaVu Math TeX Gyre" panose="02000503000000000000" charset="0"/>
                                    </a:rPr>
                                    <m:t>𝜽</m:t>
                                  </m:r>
                                </m:e>
                              </m:acc>
                            </m:oMath>
                          </a14:m>
                          <a:r>
                            <a:rPr sz="1300" b="0">
                              <a:solidFill>
                                <a:srgbClr val="2A272B"/>
                              </a:solidFill>
                              <a:latin typeface="微软雅黑"/>
                            </a:rPr>
                            <a:t>越小，各地区技能差别越大</a:t>
                          </a:r>
                          <a:endParaRPr sz="1300" b="0">
                            <a:solidFill>
                              <a:srgbClr val="2A272B"/>
                            </a:solidFill>
                            <a:latin typeface="微软雅黑"/>
                          </a:endParaRPr>
                        </a:p>
                      </p:txBody>
                    </p:sp>
                  </mc:Choice>
                  <mc:Fallback>
                    <p:sp>
                      <p:nvSpPr>
                        <p:cNvPr id="30" name="TextBox 36"/>
                        <p:cNvSpPr txBox="1">
                          <a:spLocks noRot="1" noChangeAspect="1" noMove="1" noResize="1" noEditPoints="1" noAdjustHandles="1" noChangeArrowheads="1" noChangeShapeType="1" noTextEdit="1"/>
                        </p:cNvSpPr>
                        <p:nvPr/>
                      </p:nvSpPr>
                      <p:spPr>
                        <a:xfrm>
                          <a:off x="3586" y="6826"/>
                          <a:ext cx="4147" cy="441"/>
                        </a:xfrm>
                        <a:prstGeom prst="rect">
                          <a:avLst/>
                        </a:prstGeom>
                        <a:blipFill rotWithShape="1">
                          <a:blip r:embed="rId4"/>
                        </a:blipFill>
                      </p:spPr>
                      <p:txBody>
                        <a:bodyPr/>
                        <a:lstStyle/>
                        <a:p>
                          <a:r>
                            <a:rPr lang="zh-CN" altLang="en-US">
                              <a:noFill/>
                            </a:rPr>
                            <a:t> </a:t>
                          </a:r>
                        </a:p>
                      </p:txBody>
                    </p:sp>
                  </mc:Fallback>
                </mc:AlternateContent>
                <p:sp>
                  <p:nvSpPr>
                    <p:cNvPr id="42" name="Rectangle 37"/>
                    <p:cNvSpPr/>
                    <p:nvPr/>
                  </p:nvSpPr>
                  <p:spPr>
                    <a:xfrm>
                      <a:off x="8150" y="6091"/>
                      <a:ext cx="4608" cy="2822"/>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38"/>
                    <p:cNvSpPr/>
                    <p:nvPr/>
                  </p:nvSpPr>
                  <p:spPr>
                    <a:xfrm>
                      <a:off x="8150" y="6091"/>
                      <a:ext cx="79" cy="2822"/>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45" name="TextBox 39"/>
                        <p:cNvSpPr txBox="1"/>
                        <p:nvPr/>
                      </p:nvSpPr>
                      <p:spPr>
                        <a:xfrm>
                          <a:off x="8395" y="6264"/>
                          <a:ext cx="4176" cy="487"/>
                        </a:xfrm>
                        <a:prstGeom prst="rect">
                          <a:avLst/>
                        </a:prstGeom>
                        <a:noFill/>
                      </p:spPr>
                      <p:txBody>
                        <a:bodyPr wrap="square" lIns="18288" tIns="18288" rIns="18288">
                          <a:spAutoFit/>
                        </a:bodyPr>
                        <a:lstStyle/>
                        <a:p>
                          <a:pPr algn="l">
                            <a:spcAft>
                              <a:spcPts val="300"/>
                            </a:spcAft>
                          </a:pPr>
                          <a14:m>
                            <m:oMath xmlns:m="http://schemas.openxmlformats.org/officeDocument/2006/math">
                              <m:r>
                                <a:rPr lang="en-US" sz="1600" b="1" i="1">
                                  <a:solidFill>
                                    <a:srgbClr val="642366"/>
                                  </a:solidFill>
                                  <a:latin typeface="DejaVu Math TeX Gyre" panose="02000503000000000000" charset="0"/>
                                  <a:cs typeface="DejaVu Math TeX Gyre" panose="02000503000000000000" charset="0"/>
                                </a:rPr>
                                <m:t>𝝆</m:t>
                              </m:r>
                            </m:oMath>
                          </a14:m>
                          <a:r>
                            <a:rPr sz="1600" b="1">
                              <a:solidFill>
                                <a:srgbClr val="69086F"/>
                              </a:solidFill>
                              <a:latin typeface="微软雅黑"/>
                            </a:rPr>
                            <a:t>：跨地区相关</a:t>
                          </a:r>
                          <a:endParaRPr sz="1600" b="1">
                            <a:solidFill>
                              <a:srgbClr val="69086F"/>
                            </a:solidFill>
                            <a:latin typeface="微软雅黑"/>
                          </a:endParaRPr>
                        </a:p>
                      </p:txBody>
                    </p:sp>
                  </mc:Choice>
                  <mc:Fallback>
                    <p:sp>
                      <p:nvSpPr>
                        <p:cNvPr id="45" name="TextBox 39"/>
                        <p:cNvSpPr txBox="1">
                          <a:spLocks noRot="1" noChangeAspect="1" noMove="1" noResize="1" noEditPoints="1" noAdjustHandles="1" noChangeArrowheads="1" noChangeShapeType="1" noTextEdit="1"/>
                        </p:cNvSpPr>
                        <p:nvPr/>
                      </p:nvSpPr>
                      <p:spPr>
                        <a:xfrm>
                          <a:off x="8395" y="6264"/>
                          <a:ext cx="4176" cy="487"/>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TextBox 40"/>
                        <p:cNvSpPr txBox="1"/>
                        <p:nvPr/>
                      </p:nvSpPr>
                      <p:spPr>
                        <a:xfrm>
                          <a:off x="8395" y="6826"/>
                          <a:ext cx="4147" cy="1045"/>
                        </a:xfrm>
                        <a:prstGeom prst="rect">
                          <a:avLst/>
                        </a:prstGeom>
                        <a:noFill/>
                      </p:spPr>
                      <p:txBody>
                        <a:bodyPr wrap="square" lIns="18288" tIns="18288" rIns="18288">
                          <a:spAutoFit/>
                        </a:bodyPr>
                        <a:lstStyle/>
                        <a:p>
                          <a:pPr algn="l">
                            <a:spcAft>
                              <a:spcPts val="300"/>
                            </a:spcAft>
                          </a:pPr>
                          <a14:m>
                            <m:oMath xmlns:m="http://schemas.openxmlformats.org/officeDocument/2006/math">
                              <m:r>
                                <a:rPr lang="en-US" sz="1300" b="1" i="1">
                                  <a:solidFill>
                                    <a:schemeClr val="tx1"/>
                                  </a:solidFill>
                                  <a:latin typeface="DejaVu Math TeX Gyre" panose="02000503000000000000" charset="0"/>
                                  <a:cs typeface="DejaVu Math TeX Gyre" panose="02000503000000000000" charset="0"/>
                                </a:rPr>
                                <m:t>𝝆</m:t>
                              </m:r>
                            </m:oMath>
                          </a14:m>
                          <a:r>
                            <a:rPr sz="1300" b="0">
                              <a:solidFill>
                                <a:srgbClr val="2A272B"/>
                              </a:solidFill>
                              <a:latin typeface="微软雅黑"/>
                            </a:rPr>
                            <a:t>越高，擅长一个地区的人也越可能擅长其他地区；</a:t>
                          </a:r>
                          <a14:m>
                            <m:oMath xmlns:m="http://schemas.openxmlformats.org/officeDocument/2006/math">
                              <m:r>
                                <a:rPr lang="en-US" sz="1300" b="1" i="1">
                                  <a:solidFill>
                                    <a:schemeClr val="tx1"/>
                                  </a:solidFill>
                                  <a:latin typeface="DejaVu Math TeX Gyre" panose="02000503000000000000" charset="0"/>
                                  <a:cs typeface="DejaVu Math TeX Gyre" panose="02000503000000000000" charset="0"/>
                                </a:rPr>
                                <m:t>𝝆</m:t>
                              </m:r>
                            </m:oMath>
                          </a14:m>
                          <a:r>
                            <a:rPr sz="1300" b="0">
                              <a:solidFill>
                                <a:srgbClr val="2A272B"/>
                              </a:solidFill>
                              <a:latin typeface="微软雅黑"/>
                            </a:rPr>
                            <a:t>→1 接近一般才能</a:t>
                          </a:r>
                          <a:endParaRPr sz="1300" b="0">
                            <a:solidFill>
                              <a:srgbClr val="2A272B"/>
                            </a:solidFill>
                            <a:latin typeface="微软雅黑"/>
                          </a:endParaRPr>
                        </a:p>
                      </p:txBody>
                    </p:sp>
                  </mc:Choice>
                  <mc:Fallback>
                    <p:sp>
                      <p:nvSpPr>
                        <p:cNvPr id="46" name="TextBox 40"/>
                        <p:cNvSpPr txBox="1">
                          <a:spLocks noRot="1" noChangeAspect="1" noMove="1" noResize="1" noEditPoints="1" noAdjustHandles="1" noChangeArrowheads="1" noChangeShapeType="1" noTextEdit="1"/>
                        </p:cNvSpPr>
                        <p:nvPr/>
                      </p:nvSpPr>
                      <p:spPr>
                        <a:xfrm>
                          <a:off x="8395" y="6826"/>
                          <a:ext cx="4147" cy="1045"/>
                        </a:xfrm>
                        <a:prstGeom prst="rect">
                          <a:avLst/>
                        </a:prstGeom>
                        <a:blipFill rotWithShape="1">
                          <a:blip r:embed="rId6"/>
                        </a:blipFill>
                      </p:spPr>
                      <p:txBody>
                        <a:bodyPr/>
                        <a:lstStyle/>
                        <a:p>
                          <a:r>
                            <a:rPr lang="zh-CN" altLang="en-US">
                              <a:noFill/>
                            </a:rPr>
                            <a:t> </a:t>
                          </a:r>
                        </a:p>
                      </p:txBody>
                    </p:sp>
                  </mc:Fallback>
                </mc:AlternateContent>
                <p:sp>
                  <p:nvSpPr>
                    <p:cNvPr id="47" name="Rectangle 42"/>
                    <p:cNvSpPr/>
                    <p:nvPr/>
                  </p:nvSpPr>
                  <p:spPr>
                    <a:xfrm>
                      <a:off x="12960" y="6091"/>
                      <a:ext cx="79" cy="2822"/>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sp>
              <p:nvSpPr>
                <p:cNvPr id="51" name="Rectangle 41"/>
                <p:cNvSpPr/>
                <p:nvPr/>
              </p:nvSpPr>
              <p:spPr>
                <a:xfrm>
                  <a:off x="12960" y="6091"/>
                  <a:ext cx="4896" cy="2822"/>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mc:AlternateContent xmlns:mc="http://schemas.openxmlformats.org/markup-compatibility/2006">
          <mc:Choice xmlns:a14="http://schemas.microsoft.com/office/drawing/2010/main" Requires="a14">
            <p:sp>
              <p:nvSpPr>
                <p:cNvPr id="52" name="TextBox 43"/>
                <p:cNvSpPr txBox="1"/>
                <p:nvPr/>
              </p:nvSpPr>
              <p:spPr>
                <a:xfrm>
                  <a:off x="13205" y="6264"/>
                  <a:ext cx="4464" cy="487"/>
                </a:xfrm>
                <a:prstGeom prst="rect">
                  <a:avLst/>
                </a:prstGeom>
                <a:noFill/>
              </p:spPr>
              <p:txBody>
                <a:bodyPr wrap="square" lIns="18288" tIns="18288" rIns="18288">
                  <a:spAutoFit/>
                </a:bodyPr>
                <a:lstStyle/>
                <a:p>
                  <a:pPr algn="l">
                    <a:spcAft>
                      <a:spcPts val="300"/>
                    </a:spcAft>
                  </a:pPr>
                  <a14:m>
                    <m:oMath xmlns:m="http://schemas.openxmlformats.org/officeDocument/2006/math">
                      <m:r>
                        <a:rPr lang="en-US" sz="1600" i="1">
                          <a:solidFill>
                            <a:srgbClr val="642366"/>
                          </a:solidFill>
                          <a:latin typeface="DejaVu Math TeX Gyre" panose="02000503000000000000" charset="0"/>
                          <a:cs typeface="DejaVu Math TeX Gyre" panose="02000503000000000000" charset="0"/>
                        </a:rPr>
                        <m:t>𝜃</m:t>
                      </m:r>
                    </m:oMath>
                  </a14:m>
                  <a:r>
                    <a:rPr sz="1600" b="1">
                      <a:solidFill>
                        <a:srgbClr val="69086F"/>
                      </a:solidFill>
                      <a:latin typeface="微软雅黑"/>
                    </a:rPr>
                    <a:t>：便于推导的参数</a:t>
                  </a:r>
                  <a:endParaRPr sz="1600" b="1">
                    <a:solidFill>
                      <a:srgbClr val="69086F"/>
                    </a:solidFill>
                    <a:latin typeface="微软雅黑"/>
                  </a:endParaRPr>
                </a:p>
              </p:txBody>
            </p:sp>
          </mc:Choice>
          <mc:Fallback>
            <p:sp>
              <p:nvSpPr>
                <p:cNvPr id="52" name="TextBox 43"/>
                <p:cNvSpPr txBox="1">
                  <a:spLocks noRot="1" noChangeAspect="1" noMove="1" noResize="1" noEditPoints="1" noAdjustHandles="1" noChangeArrowheads="1" noChangeShapeType="1" noTextEdit="1"/>
                </p:cNvSpPr>
                <p:nvPr/>
              </p:nvSpPr>
              <p:spPr>
                <a:xfrm>
                  <a:off x="13205" y="6264"/>
                  <a:ext cx="4464" cy="487"/>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TextBox 44"/>
                <p:cNvSpPr txBox="1"/>
                <p:nvPr/>
              </p:nvSpPr>
              <p:spPr>
                <a:xfrm>
                  <a:off x="13205" y="6826"/>
                  <a:ext cx="4435" cy="784"/>
                </a:xfrm>
                <a:prstGeom prst="rect">
                  <a:avLst/>
                </a:prstGeom>
                <a:noFill/>
              </p:spPr>
              <p:txBody>
                <a:bodyPr wrap="square" lIns="18288" tIns="18288" rIns="18288">
                  <a:spAutoFit/>
                </a:bodyPr>
                <a:lstStyle/>
                <a:p>
                  <a:pPr algn="l">
                    <a:spcAft>
                      <a:spcPts val="300"/>
                    </a:spcAft>
                  </a:pPr>
                  <a14:m>
                    <m:oMath xmlns:m="http://schemas.openxmlformats.org/officeDocument/2006/math">
                      <m:r>
                        <a:rPr lang="en-US" sz="1300" i="1">
                          <a:solidFill>
                            <a:srgbClr val="2A272B"/>
                          </a:solidFill>
                          <a:latin typeface="DejaVu Math TeX Gyre" panose="02000503000000000000" charset="0"/>
                          <a:cs typeface="DejaVu Math TeX Gyre" panose="02000503000000000000" charset="0"/>
                        </a:rPr>
                        <m:t>𝜃</m:t>
                      </m:r>
                      <m:r>
                        <a:rPr lang="en-US" sz="1300" i="1">
                          <a:solidFill>
                            <a:srgbClr val="2A272B"/>
                          </a:solidFill>
                          <a:latin typeface="DejaVu Math TeX Gyre" panose="02000503000000000000" charset="0"/>
                          <a:cs typeface="DejaVu Math TeX Gyre" panose="02000503000000000000" charset="0"/>
                        </a:rPr>
                        <m:t>=</m:t>
                      </m:r>
                      <m:acc>
                        <m:accPr>
                          <m:chr m:val="̃"/>
                          <m:ctrlPr>
                            <a:rPr lang="en-US" sz="1300" b="1" i="1">
                              <a:solidFill>
                                <a:schemeClr val="tx1"/>
                              </a:solidFill>
                              <a:latin typeface="DejaVu Math TeX Gyre" panose="02000503000000000000" charset="0"/>
                              <a:cs typeface="DejaVu Math TeX Gyre" panose="02000503000000000000" charset="0"/>
                            </a:rPr>
                          </m:ctrlPr>
                        </m:accPr>
                        <m:e>
                          <m:r>
                            <a:rPr lang="en-US" sz="1300" b="1" i="1">
                              <a:solidFill>
                                <a:schemeClr val="tx1"/>
                              </a:solidFill>
                              <a:latin typeface="DejaVu Math TeX Gyre" panose="02000503000000000000" charset="0"/>
                              <a:cs typeface="DejaVu Math TeX Gyre" panose="02000503000000000000" charset="0"/>
                            </a:rPr>
                            <m:t>𝜽</m:t>
                          </m:r>
                        </m:e>
                      </m:acc>
                      <m:r>
                        <a:rPr lang="en-US" sz="1300" b="1" i="1">
                          <a:solidFill>
                            <a:schemeClr val="tx1"/>
                          </a:solidFill>
                          <a:latin typeface="DejaVu Math TeX Gyre" panose="02000503000000000000" charset="0"/>
                          <a:cs typeface="DejaVu Math TeX Gyre" panose="02000503000000000000" charset="0"/>
                        </a:rPr>
                        <m:t>/(</m:t>
                      </m:r>
                      <m:r>
                        <a:rPr lang="en-US" sz="1300" b="1" i="1">
                          <a:solidFill>
                            <a:schemeClr val="tx1"/>
                          </a:solidFill>
                          <a:latin typeface="DejaVu Math TeX Gyre" panose="02000503000000000000" charset="0"/>
                          <a:cs typeface="DejaVu Math TeX Gyre" panose="02000503000000000000" charset="0"/>
                        </a:rPr>
                        <m:t>𝟏</m:t>
                      </m:r>
                      <m:r>
                        <a:rPr lang="en-US" sz="1300" b="1" i="1">
                          <a:solidFill>
                            <a:schemeClr val="tx1"/>
                          </a:solidFill>
                          <a:latin typeface="DejaVu Math TeX Gyre" panose="02000503000000000000" charset="0"/>
                          <a:cs typeface="DejaVu Math TeX Gyre" panose="02000503000000000000" charset="0"/>
                        </a:rPr>
                        <m:t>−</m:t>
                      </m:r>
                      <m:r>
                        <a:rPr lang="en-US" sz="1300" b="1" i="1">
                          <a:solidFill>
                            <a:schemeClr val="tx1"/>
                          </a:solidFill>
                          <a:latin typeface="DejaVu Math TeX Gyre" panose="02000503000000000000" charset="0"/>
                          <a:cs typeface="DejaVu Math TeX Gyre" panose="02000503000000000000" charset="0"/>
                        </a:rPr>
                        <m:t>𝝆</m:t>
                      </m:r>
                      <m:r>
                        <a:rPr lang="en-US" sz="1300" b="1" i="1">
                          <a:solidFill>
                            <a:schemeClr val="tx1"/>
                          </a:solidFill>
                          <a:latin typeface="DejaVu Math TeX Gyre" panose="02000503000000000000" charset="0"/>
                          <a:cs typeface="DejaVu Math TeX Gyre" panose="02000503000000000000" charset="0"/>
                        </a:rPr>
                        <m:t>)</m:t>
                      </m:r>
                    </m:oMath>
                  </a14:m>
                  <a:r>
                    <a:rPr sz="1300" b="0">
                      <a:solidFill>
                        <a:srgbClr val="2A272B"/>
                      </a:solidFill>
                      <a:latin typeface="微软雅黑"/>
                    </a:rPr>
                    <a:t>。后面的迁移份额和选择弹性都用 </a:t>
                  </a:r>
                  <a14:m>
                    <m:oMath xmlns:m="http://schemas.openxmlformats.org/officeDocument/2006/math">
                      <m:r>
                        <a:rPr lang="en-US" sz="1300" i="1">
                          <a:solidFill>
                            <a:srgbClr val="2A272B"/>
                          </a:solidFill>
                          <a:latin typeface="DejaVu Math TeX Gyre" panose="02000503000000000000" charset="0"/>
                          <a:cs typeface="DejaVu Math TeX Gyre" panose="02000503000000000000" charset="0"/>
                        </a:rPr>
                        <m:t>𝜃</m:t>
                      </m:r>
                    </m:oMath>
                  </a14:m>
                  <a:r>
                    <a:rPr sz="1300" b="0">
                      <a:solidFill>
                        <a:srgbClr val="2A272B"/>
                      </a:solidFill>
                      <a:latin typeface="微软雅黑"/>
                    </a:rPr>
                    <a:t>。</a:t>
                  </a:r>
                  <a:endParaRPr sz="1300" b="0">
                    <a:solidFill>
                      <a:srgbClr val="2A272B"/>
                    </a:solidFill>
                    <a:latin typeface="微软雅黑"/>
                  </a:endParaRPr>
                </a:p>
              </p:txBody>
            </p:sp>
          </mc:Choice>
          <mc:Fallback>
            <p:sp>
              <p:nvSpPr>
                <p:cNvPr id="54" name="TextBox 44"/>
                <p:cNvSpPr txBox="1">
                  <a:spLocks noRot="1" noChangeAspect="1" noMove="1" noResize="1" noEditPoints="1" noAdjustHandles="1" noChangeArrowheads="1" noChangeShapeType="1" noTextEdit="1"/>
                </p:cNvSpPr>
                <p:nvPr/>
              </p:nvSpPr>
              <p:spPr>
                <a:xfrm>
                  <a:off x="13205" y="6826"/>
                  <a:ext cx="4435" cy="784"/>
                </a:xfrm>
                <a:prstGeom prst="rect">
                  <a:avLst/>
                </a:prstGeom>
                <a:blipFill rotWithShape="1">
                  <a:blip r:embed="rId8"/>
                </a:blipFill>
              </p:spPr>
              <p:txBody>
                <a:bodyPr/>
                <a:lstStyle/>
                <a:p>
                  <a:r>
                    <a:rPr lang="zh-CN" altLang="en-US">
                      <a:noFill/>
                    </a:rPr>
                    <a:t> </a:t>
                  </a:r>
                </a:p>
              </p:txBody>
            </p:sp>
          </mc:Fallback>
        </mc:AlternateContent>
        <p:sp>
          <p:nvSpPr>
            <p:cNvPr id="55" name="Rectangle 38"/>
            <p:cNvSpPr/>
            <p:nvPr/>
          </p:nvSpPr>
          <p:spPr>
            <a:xfrm>
              <a:off x="12980" y="6106"/>
              <a:ext cx="79" cy="2822"/>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60" name="TextBox 19"/>
          <p:cNvSpPr txBox="1"/>
          <p:nvPr/>
        </p:nvSpPr>
        <p:spPr>
          <a:xfrm>
            <a:off x="2130425" y="1287145"/>
            <a:ext cx="9144000" cy="370840"/>
          </a:xfrm>
          <a:prstGeom prst="rect">
            <a:avLst/>
          </a:prstGeom>
          <a:noFill/>
        </p:spPr>
        <p:txBody>
          <a:bodyPr wrap="square" lIns="18288" tIns="18288" rIns="18288">
            <a:spAutoFit/>
          </a:bodyPr>
          <a:lstStyle/>
          <a:p>
            <a:pPr algn="l">
              <a:spcAft>
                <a:spcPts val="300"/>
              </a:spcAft>
            </a:pPr>
            <a:r>
              <a:rPr lang="zh-CN" sz="2000" b="1">
                <a:solidFill>
                  <a:schemeClr val="tx1"/>
                </a:solidFill>
                <a:latin typeface="微软雅黑"/>
              </a:rPr>
              <a:t>模型推广</a:t>
            </a:r>
            <a:r>
              <a:rPr lang="en-US" altLang="zh-CN" sz="2000" b="1">
                <a:solidFill>
                  <a:schemeClr val="tx1"/>
                </a:solidFill>
                <a:latin typeface="微软雅黑"/>
              </a:rPr>
              <a:t>：</a:t>
            </a:r>
            <a:r>
              <a:rPr lang="zh-CN" sz="2000" b="1">
                <a:solidFill>
                  <a:schemeClr val="tx1"/>
                </a:solidFill>
                <a:latin typeface="微软雅黑"/>
              </a:rPr>
              <a:t>由</a:t>
            </a:r>
            <a:r>
              <a:rPr lang="en-US" altLang="zh-CN" sz="2000" b="1">
                <a:solidFill>
                  <a:schemeClr val="tx1"/>
                </a:solidFill>
                <a:latin typeface="微软雅黑"/>
              </a:rPr>
              <a:t>2</a:t>
            </a:r>
            <a:r>
              <a:rPr lang="zh-CN" altLang="en-US" sz="2000" b="1">
                <a:solidFill>
                  <a:schemeClr val="tx1"/>
                </a:solidFill>
                <a:latin typeface="微软雅黑"/>
              </a:rPr>
              <a:t>地到</a:t>
            </a:r>
            <a:r>
              <a:rPr lang="en-US" altLang="zh-CN" sz="2000" b="1">
                <a:solidFill>
                  <a:schemeClr val="tx1"/>
                </a:solidFill>
                <a:latin typeface="微软雅黑"/>
              </a:rPr>
              <a:t>N</a:t>
            </a:r>
            <a:r>
              <a:rPr lang="zh-CN" altLang="en-US" sz="2000" b="1">
                <a:solidFill>
                  <a:schemeClr val="tx1"/>
                </a:solidFill>
                <a:latin typeface="微软雅黑"/>
              </a:rPr>
              <a:t>地</a:t>
            </a:r>
            <a:endParaRPr lang="zh-CN" altLang="en-US" sz="2000" b="1">
              <a:solidFill>
                <a:schemeClr val="tx1"/>
              </a:solidFill>
              <a:latin typeface="微软雅黑"/>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个人端②：技能怎样进入工资与效用？</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8" name="组合 47"/>
          <p:cNvGrpSpPr/>
          <p:nvPr/>
        </p:nvGrpSpPr>
        <p:grpSpPr>
          <a:xfrm>
            <a:off x="2121535" y="1060450"/>
            <a:ext cx="9225280" cy="5660390"/>
            <a:chOff x="3341" y="1670"/>
            <a:chExt cx="14528" cy="8914"/>
          </a:xfrm>
        </p:grpSpPr>
        <p:sp>
          <p:nvSpPr>
            <p:cNvPr id="20" name="TextBox 19"/>
            <p:cNvSpPr txBox="1"/>
            <p:nvPr/>
          </p:nvSpPr>
          <p:spPr>
            <a:xfrm>
              <a:off x="3355" y="1670"/>
              <a:ext cx="14400" cy="439"/>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 (3)：把“人能生产多少”与“他愿不愿意去”分成两层</a:t>
              </a:r>
              <a:endParaRPr sz="1400" b="1">
                <a:solidFill>
                  <a:srgbClr val="69086F"/>
                </a:solidFill>
                <a:latin typeface="微软雅黑"/>
              </a:endParaRPr>
            </a:p>
          </p:txBody>
        </p:sp>
        <p:sp>
          <p:nvSpPr>
            <p:cNvPr id="21" name="TextBox 20"/>
            <p:cNvSpPr txBox="1"/>
            <p:nvPr/>
          </p:nvSpPr>
          <p:spPr>
            <a:xfrm>
              <a:off x="3355" y="10325"/>
              <a:ext cx="14400" cy="259"/>
            </a:xfrm>
            <a:prstGeom prst="rect">
              <a:avLst/>
            </a:prstGeom>
            <a:noFill/>
          </p:spPr>
          <p:txBody>
            <a:bodyPr wrap="square" lIns="18288" tIns="18288" rIns="18288">
              <a:spAutoFit/>
            </a:bodyPr>
            <a:lstStyle/>
            <a:p>
              <a:pPr algn="l">
                <a:spcAft>
                  <a:spcPts val="300"/>
                </a:spcAft>
              </a:pPr>
              <a:r>
                <a:rPr sz="900" b="0">
                  <a:solidFill>
                    <a:srgbClr val="5E5962"/>
                  </a:solidFill>
                  <a:latin typeface="微软雅黑"/>
                </a:rPr>
                <a:t>Source: Bryan &amp; Morten (2019), Section III, pp. 2244–2249.  符号按汇报约定：πₒd、α_d、τₒd、θ̃、ρ、θ。</a:t>
              </a:r>
              <a:endParaRPr sz="900" b="0">
                <a:solidFill>
                  <a:srgbClr val="5E5962"/>
                </a:solidFill>
                <a:latin typeface="微软雅黑"/>
              </a:endParaRPr>
            </a:p>
          </p:txBody>
        </p:sp>
        <p:sp>
          <p:nvSpPr>
            <p:cNvPr id="22" name="Rectangle 21"/>
            <p:cNvSpPr/>
            <p:nvPr/>
          </p:nvSpPr>
          <p:spPr>
            <a:xfrm>
              <a:off x="3341" y="2333"/>
              <a:ext cx="6710" cy="201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33"/>
              <a:ext cx="79" cy="201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506"/>
              <a:ext cx="6278"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第一层｜有效人力资本</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25" name="TextBox 24"/>
                <p:cNvSpPr txBox="1"/>
                <p:nvPr/>
              </p:nvSpPr>
              <p:spPr>
                <a:xfrm>
                  <a:off x="3586" y="3067"/>
                  <a:ext cx="6250" cy="1206"/>
                </a:xfrm>
                <a:prstGeom prst="rect">
                  <a:avLst/>
                </a:prstGeom>
                <a:noFill/>
              </p:spPr>
              <p:txBody>
                <a:bodyPr wrap="square" lIns="18288" tIns="18288" rIns="18288">
                  <a:spAutoFit/>
                </a:bodyPr>
                <a:lstStyle/>
                <a:p>
                  <a:pPr algn="l">
                    <a:spcAft>
                      <a:spcPts val="300"/>
                    </a:spcAft>
                  </a:pPr>
                  <a14:m>
                    <m:oMathPara xmlns:m="http://schemas.openxmlformats.org/officeDocument/2006/math">
                      <m:oMathParaPr>
                        <m:jc m:val="centerGroup"/>
                      </m:oMathParaPr>
                      <m:oMath xmlns:m="http://schemas.openxmlformats.org/officeDocument/2006/math">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ℎ</m:t>
                            </m:r>
                          </m:e>
                          <m:sub>
                            <m:r>
                              <a:rPr lang="en-US" sz="1600" b="0" i="1">
                                <a:solidFill>
                                  <a:srgbClr val="2A272B"/>
                                </a:solidFill>
                                <a:latin typeface="DejaVu Math TeX Gyre" panose="02000503000000000000" charset="0"/>
                                <a:cs typeface="DejaVu Math TeX Gyre" panose="02000503000000000000" charset="0"/>
                              </a:rPr>
                              <m:t>𝑖𝑑𝑜</m:t>
                            </m:r>
                          </m:sub>
                        </m:sSub>
                        <m:r>
                          <a:rPr lang="en-US" sz="1600" b="0" i="1">
                            <a:solidFill>
                              <a:srgbClr val="2A272B"/>
                            </a:solidFill>
                            <a:latin typeface="DejaVu Math TeX Gyre" panose="02000503000000000000" charset="0"/>
                            <a:cs typeface="DejaVu Math TeX Gyre" panose="02000503000000000000" charset="0"/>
                          </a:rPr>
                          <m:t>=</m:t>
                        </m:r>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𝑠</m:t>
                            </m:r>
                          </m:e>
                          <m:sub>
                            <m:r>
                              <a:rPr lang="en-US" sz="1600" b="0" i="1">
                                <a:solidFill>
                                  <a:srgbClr val="2A272B"/>
                                </a:solidFill>
                                <a:latin typeface="DejaVu Math TeX Gyre" panose="02000503000000000000" charset="0"/>
                                <a:cs typeface="DejaVu Math TeX Gyre" panose="02000503000000000000" charset="0"/>
                              </a:rPr>
                              <m:t>𝑖𝑑</m:t>
                            </m:r>
                          </m:sub>
                        </m:sSub>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𝑞</m:t>
                            </m:r>
                          </m:e>
                          <m:sub>
                            <m:r>
                              <a:rPr lang="en-US" sz="1600" b="0" i="1">
                                <a:solidFill>
                                  <a:srgbClr val="2A272B"/>
                                </a:solidFill>
                                <a:latin typeface="DejaVu Math TeX Gyre" panose="02000503000000000000" charset="0"/>
                                <a:cs typeface="DejaVu Math TeX Gyre" panose="02000503000000000000" charset="0"/>
                              </a:rPr>
                              <m:t>𝑜</m:t>
                            </m:r>
                          </m:sub>
                        </m:sSub>
                      </m:oMath>
                    </m:oMathPara>
                  </a14:m>
                  <a:endParaRPr sz="1300" b="0">
                    <a:solidFill>
                      <a:srgbClr val="2A272B"/>
                    </a:solidFill>
                    <a:latin typeface="微软雅黑"/>
                  </a:endParaRPr>
                </a:p>
                <a:p>
                  <a:pPr algn="l">
                    <a:spcAft>
                      <a:spcPts val="300"/>
                    </a:spcAft>
                  </a:pP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𝑠</m:t>
                          </m:r>
                        </m:e>
                        <m:sub>
                          <m:r>
                            <a:rPr lang="en-US" sz="1300" b="0" i="1">
                              <a:solidFill>
                                <a:srgbClr val="2A272B"/>
                              </a:solidFill>
                              <a:latin typeface="DejaVu Math TeX Gyre" panose="02000503000000000000" charset="0"/>
                              <a:cs typeface="DejaVu Math TeX Gyre" panose="02000503000000000000" charset="0"/>
                            </a:rPr>
                            <m:t>𝑖𝑑</m:t>
                          </m:r>
                        </m:sub>
                      </m:sSub>
                      <m:r>
                        <a:rPr lang="zh-CN" altLang="en-US" sz="1300" b="0" i="1">
                          <a:solidFill>
                            <a:srgbClr val="2A272B"/>
                          </a:solidFill>
                          <a:latin typeface="DejaVu Math TeX Gyre" panose="02000503000000000000" charset="0"/>
                          <a:cs typeface="DejaVu Math TeX Gyre" panose="02000503000000000000" charset="0"/>
                        </a:rPr>
                        <m:t>为</m:t>
                      </m:r>
                    </m:oMath>
                  </a14:m>
                  <a:r>
                    <a:rPr sz="1300" b="0">
                      <a:solidFill>
                        <a:srgbClr val="2A272B"/>
                      </a:solidFill>
                      <a:latin typeface="微软雅黑"/>
                    </a:rPr>
                    <a:t>个人在 d 的技能；</a:t>
                  </a: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𝑞</m:t>
                          </m:r>
                        </m:e>
                        <m:sub>
                          <m:r>
                            <a:rPr lang="en-US" sz="1300" b="0" i="1">
                              <a:solidFill>
                                <a:srgbClr val="2A272B"/>
                              </a:solidFill>
                              <a:latin typeface="DejaVu Math TeX Gyre" panose="02000503000000000000" charset="0"/>
                              <a:cs typeface="DejaVu Math TeX Gyre" panose="02000503000000000000" charset="0"/>
                            </a:rPr>
                            <m:t>𝑜</m:t>
                          </m:r>
                        </m:sub>
                      </m:sSub>
                      <m:r>
                        <a:rPr lang="zh-CN" altLang="en-US" sz="1300" b="0" i="1">
                          <a:solidFill>
                            <a:srgbClr val="2A272B"/>
                          </a:solidFill>
                          <a:latin typeface="DejaVu Math TeX Gyre" panose="02000503000000000000" charset="0"/>
                          <a:cs typeface="DejaVu Math TeX Gyre" panose="02000503000000000000" charset="0"/>
                        </a:rPr>
                        <m:t>为</m:t>
                      </m:r>
                    </m:oMath>
                  </a14:m>
                  <a:r>
                    <a:rPr sz="1300" b="0">
                      <a:solidFill>
                        <a:srgbClr val="2A272B"/>
                      </a:solidFill>
                      <a:latin typeface="微软雅黑"/>
                    </a:rPr>
                    <a:t>出生地的教育和人力资本形成质量</a:t>
                  </a:r>
                  <a:endParaRPr sz="1300" b="0">
                    <a:solidFill>
                      <a:srgbClr val="2A272B"/>
                    </a:solidFill>
                    <a:latin typeface="微软雅黑"/>
                  </a:endParaRPr>
                </a:p>
              </p:txBody>
            </p:sp>
          </mc:Choice>
          <mc:Fallback>
            <p:sp>
              <p:nvSpPr>
                <p:cNvPr id="25" name="TextBox 24"/>
                <p:cNvSpPr txBox="1">
                  <a:spLocks noRot="1" noChangeAspect="1" noMove="1" noResize="1" noEditPoints="1" noAdjustHandles="1" noChangeArrowheads="1" noChangeShapeType="1" noTextEdit="1"/>
                </p:cNvSpPr>
                <p:nvPr/>
              </p:nvSpPr>
              <p:spPr>
                <a:xfrm>
                  <a:off x="3586" y="3067"/>
                  <a:ext cx="6250" cy="1206"/>
                </a:xfrm>
                <a:prstGeom prst="rect">
                  <a:avLst/>
                </a:prstGeom>
                <a:blipFill rotWithShape="1">
                  <a:blip r:embed="rId1"/>
                </a:blipFill>
              </p:spPr>
              <p:txBody>
                <a:bodyPr/>
                <a:lstStyle/>
                <a:p>
                  <a:r>
                    <a:rPr lang="zh-CN" altLang="en-US">
                      <a:noFill/>
                    </a:rPr>
                    <a:t> </a:t>
                  </a:r>
                </a:p>
              </p:txBody>
            </p:sp>
          </mc:Fallback>
        </mc:AlternateContent>
        <p:sp>
          <p:nvSpPr>
            <p:cNvPr id="26" name="Rectangle 25"/>
            <p:cNvSpPr/>
            <p:nvPr/>
          </p:nvSpPr>
          <p:spPr>
            <a:xfrm>
              <a:off x="10267" y="2333"/>
              <a:ext cx="7589" cy="201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267" y="2333"/>
              <a:ext cx="79" cy="201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2" y="2506"/>
              <a:ext cx="7157"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第二层｜劳动者收到的工资</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29" name="TextBox 28"/>
                <p:cNvSpPr txBox="1"/>
                <p:nvPr/>
              </p:nvSpPr>
              <p:spPr>
                <a:xfrm>
                  <a:off x="10512" y="2947"/>
                  <a:ext cx="7357" cy="1438"/>
                </a:xfrm>
                <a:prstGeom prst="rect">
                  <a:avLst/>
                </a:prstGeom>
                <a:noFill/>
              </p:spPr>
              <p:txBody>
                <a:bodyPr wrap="square" lIns="18288" tIns="18288" rIns="18288">
                  <a:spAutoFit/>
                </a:bodyPr>
                <a:lstStyle/>
                <a:p>
                  <a:pPr algn="l">
                    <a:spcAft>
                      <a:spcPts val="300"/>
                    </a:spcAft>
                  </a:pPr>
                  <a14:m>
                    <m:oMathPara xmlns:m="http://schemas.openxmlformats.org/officeDocument/2006/math">
                      <m:oMathParaPr>
                        <m:jc m:val="centerGroup"/>
                      </m:oMathParaPr>
                      <m:oMath xmlns:m="http://schemas.openxmlformats.org/officeDocument/2006/math">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𝑤𝑎𝑔𝑒</m:t>
                            </m:r>
                          </m:e>
                          <m:sub>
                            <m:r>
                              <a:rPr lang="en-US" sz="1600" b="0" i="1">
                                <a:solidFill>
                                  <a:srgbClr val="2A272B"/>
                                </a:solidFill>
                                <a:latin typeface="DejaVu Math TeX Gyre" panose="02000503000000000000" charset="0"/>
                                <a:cs typeface="DejaVu Math TeX Gyre" panose="02000503000000000000" charset="0"/>
                              </a:rPr>
                              <m:t>𝑖𝑑𝑜</m:t>
                            </m:r>
                          </m:sub>
                        </m:sSub>
                        <m:r>
                          <a:rPr lang="en-US" sz="1600" b="0" i="1">
                            <a:solidFill>
                              <a:srgbClr val="2A272B"/>
                            </a:solidFill>
                            <a:latin typeface="DejaVu Math TeX Gyre" panose="02000503000000000000" charset="0"/>
                            <a:cs typeface="DejaVu Math TeX Gyre" panose="02000503000000000000" charset="0"/>
                          </a:rPr>
                          <m:t>=</m:t>
                        </m:r>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i="1">
                                <a:solidFill>
                                  <a:srgbClr val="2A272B"/>
                                </a:solidFill>
                                <a:latin typeface="DejaVu Math TeX Gyre" panose="02000503000000000000" charset="0"/>
                                <a:cs typeface="DejaVu Math TeX Gyre" panose="02000503000000000000" charset="0"/>
                              </a:rPr>
                              <m:t>𝜔</m:t>
                            </m:r>
                          </m:e>
                          <m:sub>
                            <m:r>
                              <a:rPr lang="en-US" sz="1600" b="0" i="1">
                                <a:solidFill>
                                  <a:srgbClr val="2A272B"/>
                                </a:solidFill>
                                <a:latin typeface="DejaVu Math TeX Gyre" panose="02000503000000000000" charset="0"/>
                                <a:cs typeface="DejaVu Math TeX Gyre" panose="02000503000000000000" charset="0"/>
                              </a:rPr>
                              <m:t>𝑑</m:t>
                            </m:r>
                          </m:sub>
                        </m:sSub>
                        <m:sSubSup>
                          <m:sSubSupPr>
                            <m:ctrlPr>
                              <a:rPr lang="en-US" sz="1600" b="0" i="1">
                                <a:solidFill>
                                  <a:srgbClr val="2A272B"/>
                                </a:solidFill>
                                <a:latin typeface="DejaVu Math TeX Gyre" panose="02000503000000000000" charset="0"/>
                                <a:cs typeface="DejaVu Math TeX Gyre" panose="02000503000000000000" charset="0"/>
                              </a:rPr>
                            </m:ctrlPr>
                          </m:sSubSupPr>
                          <m:e>
                            <m:r>
                              <a:rPr lang="en-US" sz="1600" i="1">
                                <a:solidFill>
                                  <a:srgbClr val="2A272B"/>
                                </a:solidFill>
                                <a:latin typeface="DejaVu Math TeX Gyre" panose="02000503000000000000" charset="0"/>
                                <a:cs typeface="DejaVu Math TeX Gyre" panose="02000503000000000000" charset="0"/>
                              </a:rPr>
                              <m:t>𝜖</m:t>
                            </m:r>
                          </m:e>
                          <m:sub>
                            <m:r>
                              <a:rPr lang="en-US" sz="1600" b="0" i="1">
                                <a:solidFill>
                                  <a:srgbClr val="2A272B"/>
                                </a:solidFill>
                                <a:latin typeface="DejaVu Math TeX Gyre" panose="02000503000000000000" charset="0"/>
                                <a:cs typeface="DejaVu Math TeX Gyre" panose="02000503000000000000" charset="0"/>
                              </a:rPr>
                              <m:t>𝑑𝑜</m:t>
                            </m:r>
                          </m:sub>
                          <m:sup>
                            <m:r>
                              <a:rPr lang="en-US" sz="1600" i="1">
                                <a:solidFill>
                                  <a:srgbClr val="2A272B"/>
                                </a:solidFill>
                                <a:latin typeface="DejaVu Math TeX Gyre" panose="02000503000000000000" charset="0"/>
                                <a:cs typeface="DejaVu Math TeX Gyre" panose="02000503000000000000" charset="0"/>
                              </a:rPr>
                              <m:t>𝜔</m:t>
                            </m:r>
                          </m:sup>
                        </m:sSubSup>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ℎ</m:t>
                            </m:r>
                          </m:e>
                          <m:sub>
                            <m:r>
                              <a:rPr lang="en-US" sz="1600" b="0" i="1">
                                <a:solidFill>
                                  <a:srgbClr val="2A272B"/>
                                </a:solidFill>
                                <a:latin typeface="DejaVu Math TeX Gyre" panose="02000503000000000000" charset="0"/>
                                <a:cs typeface="DejaVu Math TeX Gyre" panose="02000503000000000000" charset="0"/>
                              </a:rPr>
                              <m:t>𝑖𝑑𝑜</m:t>
                            </m:r>
                          </m:sub>
                        </m:sSub>
                        <m:r>
                          <a:rPr lang="en-US" sz="1600" b="0" i="1">
                            <a:solidFill>
                              <a:srgbClr val="2A272B"/>
                            </a:solidFill>
                            <a:latin typeface="DejaVu Math TeX Gyre" panose="02000503000000000000" charset="0"/>
                            <a:cs typeface="DejaVu Math TeX Gyre" panose="02000503000000000000" charset="0"/>
                          </a:rPr>
                          <m:t>=</m:t>
                        </m:r>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i="1">
                                <a:solidFill>
                                  <a:srgbClr val="2A272B"/>
                                </a:solidFill>
                                <a:latin typeface="DejaVu Math TeX Gyre" panose="02000503000000000000" charset="0"/>
                                <a:cs typeface="DejaVu Math TeX Gyre" panose="02000503000000000000" charset="0"/>
                              </a:rPr>
                              <m:t>𝜔</m:t>
                            </m:r>
                          </m:e>
                          <m:sub>
                            <m:r>
                              <a:rPr lang="en-US" sz="1600" b="0" i="1">
                                <a:solidFill>
                                  <a:srgbClr val="2A272B"/>
                                </a:solidFill>
                                <a:latin typeface="DejaVu Math TeX Gyre" panose="02000503000000000000" charset="0"/>
                                <a:cs typeface="DejaVu Math TeX Gyre" panose="02000503000000000000" charset="0"/>
                              </a:rPr>
                              <m:t>𝑑</m:t>
                            </m:r>
                          </m:sub>
                        </m:sSub>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i="1">
                                <a:solidFill>
                                  <a:srgbClr val="2A272B"/>
                                </a:solidFill>
                                <a:latin typeface="DejaVu Math TeX Gyre" panose="02000503000000000000" charset="0"/>
                                <a:cs typeface="DejaVu Math TeX Gyre" panose="02000503000000000000" charset="0"/>
                              </a:rPr>
                              <m:t>𝜖</m:t>
                            </m:r>
                          </m:e>
                          <m:sub>
                            <m:r>
                              <a:rPr lang="en-US" sz="1600" b="0" i="1">
                                <a:solidFill>
                                  <a:srgbClr val="2A272B"/>
                                </a:solidFill>
                                <a:latin typeface="DejaVu Math TeX Gyre" panose="02000503000000000000" charset="0"/>
                                <a:cs typeface="DejaVu Math TeX Gyre" panose="02000503000000000000" charset="0"/>
                              </a:rPr>
                              <m:t>𝑑𝑜</m:t>
                            </m:r>
                          </m:sub>
                        </m:sSub>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𝑠</m:t>
                            </m:r>
                          </m:e>
                          <m:sub>
                            <m:r>
                              <a:rPr lang="en-US" sz="1600" b="0" i="1">
                                <a:solidFill>
                                  <a:srgbClr val="2A272B"/>
                                </a:solidFill>
                                <a:latin typeface="DejaVu Math TeX Gyre" panose="02000503000000000000" charset="0"/>
                                <a:cs typeface="DejaVu Math TeX Gyre" panose="02000503000000000000" charset="0"/>
                              </a:rPr>
                              <m:t>𝑖𝑑</m:t>
                            </m:r>
                          </m:sub>
                        </m:sSub>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𝑞</m:t>
                            </m:r>
                          </m:e>
                          <m:sub>
                            <m:r>
                              <a:rPr lang="en-US" sz="1600" b="0" i="1">
                                <a:solidFill>
                                  <a:srgbClr val="2A272B"/>
                                </a:solidFill>
                                <a:latin typeface="DejaVu Math TeX Gyre" panose="02000503000000000000" charset="0"/>
                                <a:cs typeface="DejaVu Math TeX Gyre" panose="02000503000000000000" charset="0"/>
                              </a:rPr>
                              <m:t>𝑜</m:t>
                            </m:r>
                          </m:sub>
                        </m:sSub>
                      </m:oMath>
                    </m:oMathPara>
                  </a14:m>
                  <a:endParaRPr sz="1300" b="0">
                    <a:solidFill>
                      <a:srgbClr val="2A272B"/>
                    </a:solidFill>
                    <a:latin typeface="微软雅黑"/>
                  </a:endParaRPr>
                </a:p>
                <a:p>
                  <a:pPr algn="l">
                    <a:spcAft>
                      <a:spcPts val="300"/>
                    </a:spcAft>
                  </a:pP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i="1">
                              <a:solidFill>
                                <a:srgbClr val="2A272B"/>
                              </a:solidFill>
                              <a:latin typeface="DejaVu Math TeX Gyre" panose="02000503000000000000" charset="0"/>
                              <a:cs typeface="DejaVu Math TeX Gyre" panose="02000503000000000000" charset="0"/>
                            </a:rPr>
                            <m:t>𝜔</m:t>
                          </m:r>
                        </m:e>
                        <m:sub>
                          <m:r>
                            <a:rPr lang="en-US" sz="1300" b="0" i="1">
                              <a:solidFill>
                                <a:srgbClr val="2A272B"/>
                              </a:solidFill>
                              <a:latin typeface="DejaVu Math TeX Gyre" panose="02000503000000000000" charset="0"/>
                              <a:cs typeface="DejaVu Math TeX Gyre" panose="02000503000000000000" charset="0"/>
                            </a:rPr>
                            <m:t>𝑑</m:t>
                          </m:r>
                        </m:sub>
                      </m:sSub>
                      <m:r>
                        <a:rPr lang="zh-CN" altLang="en-US" sz="1300" b="0" i="1">
                          <a:solidFill>
                            <a:srgbClr val="2A272B"/>
                          </a:solidFill>
                          <a:latin typeface="DejaVu Math TeX Gyre" panose="02000503000000000000" charset="0"/>
                          <a:cs typeface="DejaVu Math TeX Gyre" panose="02000503000000000000" charset="0"/>
                        </a:rPr>
                        <m:t>为</m:t>
                      </m:r>
                    </m:oMath>
                  </a14:m>
                  <a:r>
                    <a:rPr sz="1300" b="0">
                      <a:solidFill>
                        <a:srgbClr val="2A272B"/>
                      </a:solidFill>
                      <a:latin typeface="微软雅黑"/>
                    </a:rPr>
                    <a:t>每单位有效劳动工资；</a:t>
                  </a:r>
                  <a14:m>
                    <m:oMath xmlns:m="http://schemas.openxmlformats.org/officeDocument/2006/math">
                      <m:sSubSup>
                        <m:sSubSupPr>
                          <m:ctrlPr>
                            <a:rPr lang="en-US" sz="1300" b="0" i="1">
                              <a:solidFill>
                                <a:srgbClr val="2A272B"/>
                              </a:solidFill>
                              <a:latin typeface="DejaVu Math TeX Gyre" panose="02000503000000000000" charset="0"/>
                              <a:cs typeface="DejaVu Math TeX Gyre" panose="02000503000000000000" charset="0"/>
                            </a:rPr>
                          </m:ctrlPr>
                        </m:sSubSupPr>
                        <m:e>
                          <m:r>
                            <a:rPr lang="en-US" sz="1300" i="1">
                              <a:solidFill>
                                <a:srgbClr val="2A272B"/>
                              </a:solidFill>
                              <a:latin typeface="DejaVu Math TeX Gyre" panose="02000503000000000000" charset="0"/>
                              <a:cs typeface="DejaVu Math TeX Gyre" panose="02000503000000000000" charset="0"/>
                            </a:rPr>
                            <m:t>𝜖</m:t>
                          </m:r>
                        </m:e>
                        <m:sub>
                          <m:r>
                            <a:rPr lang="en-US" sz="1300" b="0" i="1">
                              <a:solidFill>
                                <a:srgbClr val="2A272B"/>
                              </a:solidFill>
                              <a:latin typeface="DejaVu Math TeX Gyre" panose="02000503000000000000" charset="0"/>
                              <a:cs typeface="DejaVu Math TeX Gyre" panose="02000503000000000000" charset="0"/>
                            </a:rPr>
                            <m:t>𝑑𝑜</m:t>
                          </m:r>
                        </m:sub>
                        <m:sup>
                          <m:r>
                            <a:rPr lang="en-US" sz="1300" i="1">
                              <a:solidFill>
                                <a:srgbClr val="2A272B"/>
                              </a:solidFill>
                              <a:latin typeface="DejaVu Math TeX Gyre" panose="02000503000000000000" charset="0"/>
                              <a:cs typeface="DejaVu Math TeX Gyre" panose="02000503000000000000" charset="0"/>
                            </a:rPr>
                            <m:t>𝜔</m:t>
                          </m:r>
                        </m:sup>
                      </m:sSubSup>
                      <m:r>
                        <a:rPr lang="zh-CN" altLang="en-US" sz="1300" i="1">
                          <a:solidFill>
                            <a:srgbClr val="2A272B"/>
                          </a:solidFill>
                          <a:latin typeface="DejaVu Math TeX Gyre" panose="02000503000000000000" charset="0"/>
                          <a:cs typeface="DejaVu Math TeX Gyre" panose="02000503000000000000" charset="0"/>
                        </a:rPr>
                        <m:t>为</m:t>
                      </m:r>
                    </m:oMath>
                  </a14:m>
                  <a:r>
                    <a:rPr sz="1300" b="0">
                      <a:solidFill>
                        <a:srgbClr val="2A272B"/>
                      </a:solidFill>
                      <a:latin typeface="微软雅黑"/>
                    </a:rPr>
                    <a:t>特定出生地在 d 的工资扰动</a:t>
                  </a:r>
                  <a:r>
                    <a:rPr lang="en-US" sz="1000" b="0">
                      <a:solidFill>
                        <a:srgbClr val="642366"/>
                      </a:solidFill>
                      <a:latin typeface="微软雅黑"/>
                    </a:rPr>
                    <a:t>（</a:t>
                  </a:r>
                  <a:r>
                    <a:rPr lang="zh-CN" altLang="en-US" sz="1000" b="0">
                      <a:solidFill>
                        <a:srgbClr val="642366"/>
                      </a:solidFill>
                      <a:latin typeface="微软雅黑"/>
                    </a:rPr>
                    <a:t>为了允许来自不同出生地的劳动者在同一个目的地具有不同的生产率，并解决后续估计中的内生性问题</a:t>
                  </a:r>
                  <a:r>
                    <a:rPr lang="en-US" altLang="zh-CN" sz="1000" b="0">
                      <a:solidFill>
                        <a:srgbClr val="642366"/>
                      </a:solidFill>
                      <a:latin typeface="微软雅黑"/>
                    </a:rPr>
                    <a:t>）</a:t>
                  </a:r>
                  <a:endParaRPr lang="en-US" altLang="zh-CN" sz="1000" b="0">
                    <a:solidFill>
                      <a:srgbClr val="642366"/>
                    </a:solidFill>
                    <a:latin typeface="微软雅黑"/>
                  </a:endParaRPr>
                </a:p>
              </p:txBody>
            </p:sp>
          </mc:Choice>
          <mc:Fallback>
            <p:sp>
              <p:nvSpPr>
                <p:cNvPr id="29" name="TextBox 28"/>
                <p:cNvSpPr txBox="1">
                  <a:spLocks noRot="1" noChangeAspect="1" noMove="1" noResize="1" noEditPoints="1" noAdjustHandles="1" noChangeArrowheads="1" noChangeShapeType="1" noTextEdit="1"/>
                </p:cNvSpPr>
                <p:nvPr/>
              </p:nvSpPr>
              <p:spPr>
                <a:xfrm>
                  <a:off x="10512" y="2947"/>
                  <a:ext cx="7357" cy="1438"/>
                </a:xfrm>
                <a:prstGeom prst="rect">
                  <a:avLst/>
                </a:prstGeom>
                <a:blipFill rotWithShape="1">
                  <a:blip r:embed="rId2"/>
                </a:blipFill>
              </p:spPr>
              <p:txBody>
                <a:bodyPr/>
                <a:lstStyle/>
                <a:p>
                  <a:r>
                    <a:rPr lang="zh-CN" altLang="en-US">
                      <a:noFill/>
                    </a:rPr>
                    <a:t> </a:t>
                  </a:r>
                </a:p>
              </p:txBody>
            </p:sp>
          </mc:Fallback>
        </mc:AlternateContent>
        <p:sp>
          <p:nvSpPr>
            <p:cNvPr id="47" name="TextBox 46"/>
            <p:cNvSpPr txBox="1"/>
            <p:nvPr/>
          </p:nvSpPr>
          <p:spPr>
            <a:xfrm>
              <a:off x="3586" y="9576"/>
              <a:ext cx="13968" cy="397"/>
            </a:xfrm>
            <a:prstGeom prst="rect">
              <a:avLst/>
            </a:prstGeom>
            <a:noFill/>
          </p:spPr>
          <p:txBody>
            <a:bodyPr wrap="square" lIns="18288" tIns="18288" rIns="18288">
              <a:spAutoFit/>
            </a:bodyPr>
            <a:lstStyle/>
            <a:p>
              <a:pPr algn="l">
                <a:spcAft>
                  <a:spcPts val="300"/>
                </a:spcAft>
              </a:pPr>
              <a:endParaRPr sz="1230" b="1">
                <a:solidFill>
                  <a:srgbClr val="69086F"/>
                </a:solidFill>
                <a:latin typeface="微软雅黑"/>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个人端②：技能怎样进入工资与效用？</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8" name="组合 47"/>
          <p:cNvGrpSpPr/>
          <p:nvPr/>
        </p:nvGrpSpPr>
        <p:grpSpPr>
          <a:xfrm>
            <a:off x="2121535" y="1060450"/>
            <a:ext cx="9225280" cy="5660390"/>
            <a:chOff x="3341" y="1670"/>
            <a:chExt cx="14528" cy="8914"/>
          </a:xfrm>
        </p:grpSpPr>
        <p:sp>
          <p:nvSpPr>
            <p:cNvPr id="20" name="TextBox 19"/>
            <p:cNvSpPr txBox="1"/>
            <p:nvPr/>
          </p:nvSpPr>
          <p:spPr>
            <a:xfrm>
              <a:off x="3355" y="1670"/>
              <a:ext cx="14400" cy="439"/>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 (3)：把“人能生产多少”与“他愿不愿意去”分成两层</a:t>
              </a:r>
              <a:endParaRPr sz="1400" b="1">
                <a:solidFill>
                  <a:srgbClr val="69086F"/>
                </a:solidFill>
                <a:latin typeface="微软雅黑"/>
              </a:endParaRPr>
            </a:p>
          </p:txBody>
        </p:sp>
        <p:sp>
          <p:nvSpPr>
            <p:cNvPr id="21" name="TextBox 20"/>
            <p:cNvSpPr txBox="1"/>
            <p:nvPr/>
          </p:nvSpPr>
          <p:spPr>
            <a:xfrm>
              <a:off x="3355" y="10325"/>
              <a:ext cx="14400" cy="259"/>
            </a:xfrm>
            <a:prstGeom prst="rect">
              <a:avLst/>
            </a:prstGeom>
            <a:noFill/>
          </p:spPr>
          <p:txBody>
            <a:bodyPr wrap="square" lIns="18288" tIns="18288" rIns="18288">
              <a:spAutoFit/>
            </a:bodyPr>
            <a:lstStyle/>
            <a:p>
              <a:pPr algn="l">
                <a:spcAft>
                  <a:spcPts val="300"/>
                </a:spcAft>
              </a:pPr>
              <a:r>
                <a:rPr sz="900" b="0">
                  <a:solidFill>
                    <a:srgbClr val="5E5962"/>
                  </a:solidFill>
                  <a:latin typeface="微软雅黑"/>
                </a:rPr>
                <a:t>Source: Bryan &amp; Morten (2019), Section III, pp. 2244–2249.  符号按汇报约定：πₒd、α_d、τₒd、θ̃、ρ、θ。</a:t>
              </a:r>
              <a:endParaRPr sz="900" b="0">
                <a:solidFill>
                  <a:srgbClr val="5E5962"/>
                </a:solidFill>
                <a:latin typeface="微软雅黑"/>
              </a:endParaRPr>
            </a:p>
          </p:txBody>
        </p:sp>
        <p:sp>
          <p:nvSpPr>
            <p:cNvPr id="22" name="Rectangle 21"/>
            <p:cNvSpPr/>
            <p:nvPr/>
          </p:nvSpPr>
          <p:spPr>
            <a:xfrm>
              <a:off x="3341" y="2333"/>
              <a:ext cx="6710" cy="201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33"/>
              <a:ext cx="79" cy="201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506"/>
              <a:ext cx="6278"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第一层｜有效人力资本</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25" name="TextBox 24"/>
                <p:cNvSpPr txBox="1"/>
                <p:nvPr/>
              </p:nvSpPr>
              <p:spPr>
                <a:xfrm>
                  <a:off x="3586" y="3067"/>
                  <a:ext cx="6250" cy="1206"/>
                </a:xfrm>
                <a:prstGeom prst="rect">
                  <a:avLst/>
                </a:prstGeom>
                <a:noFill/>
              </p:spPr>
              <p:txBody>
                <a:bodyPr wrap="square" lIns="18288" tIns="18288" rIns="18288">
                  <a:spAutoFit/>
                </a:bodyPr>
                <a:lstStyle/>
                <a:p>
                  <a:pPr algn="l">
                    <a:spcAft>
                      <a:spcPts val="300"/>
                    </a:spcAft>
                  </a:pPr>
                  <a14:m>
                    <m:oMathPara xmlns:m="http://schemas.openxmlformats.org/officeDocument/2006/math">
                      <m:oMathParaPr>
                        <m:jc m:val="centerGroup"/>
                      </m:oMathParaPr>
                      <m:oMath xmlns:m="http://schemas.openxmlformats.org/officeDocument/2006/math">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ℎ</m:t>
                            </m:r>
                          </m:e>
                          <m:sub>
                            <m:r>
                              <a:rPr lang="en-US" sz="1600" b="0" i="1">
                                <a:solidFill>
                                  <a:srgbClr val="2A272B"/>
                                </a:solidFill>
                                <a:latin typeface="DejaVu Math TeX Gyre" panose="02000503000000000000" charset="0"/>
                                <a:cs typeface="DejaVu Math TeX Gyre" panose="02000503000000000000" charset="0"/>
                              </a:rPr>
                              <m:t>𝑖𝑑𝑜</m:t>
                            </m:r>
                          </m:sub>
                        </m:sSub>
                        <m:r>
                          <a:rPr lang="en-US" sz="1600" b="0" i="1">
                            <a:solidFill>
                              <a:srgbClr val="2A272B"/>
                            </a:solidFill>
                            <a:latin typeface="DejaVu Math TeX Gyre" panose="02000503000000000000" charset="0"/>
                            <a:cs typeface="DejaVu Math TeX Gyre" panose="02000503000000000000" charset="0"/>
                          </a:rPr>
                          <m:t>=</m:t>
                        </m:r>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𝑠</m:t>
                            </m:r>
                          </m:e>
                          <m:sub>
                            <m:r>
                              <a:rPr lang="en-US" sz="1600" b="0" i="1">
                                <a:solidFill>
                                  <a:srgbClr val="2A272B"/>
                                </a:solidFill>
                                <a:latin typeface="DejaVu Math TeX Gyre" panose="02000503000000000000" charset="0"/>
                                <a:cs typeface="DejaVu Math TeX Gyre" panose="02000503000000000000" charset="0"/>
                              </a:rPr>
                              <m:t>𝑖𝑑</m:t>
                            </m:r>
                          </m:sub>
                        </m:sSub>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𝑞</m:t>
                            </m:r>
                          </m:e>
                          <m:sub>
                            <m:r>
                              <a:rPr lang="en-US" sz="1600" b="0" i="1">
                                <a:solidFill>
                                  <a:srgbClr val="2A272B"/>
                                </a:solidFill>
                                <a:latin typeface="DejaVu Math TeX Gyre" panose="02000503000000000000" charset="0"/>
                                <a:cs typeface="DejaVu Math TeX Gyre" panose="02000503000000000000" charset="0"/>
                              </a:rPr>
                              <m:t>𝑜</m:t>
                            </m:r>
                          </m:sub>
                        </m:sSub>
                      </m:oMath>
                    </m:oMathPara>
                  </a14:m>
                  <a:endParaRPr sz="1300" b="0">
                    <a:solidFill>
                      <a:srgbClr val="2A272B"/>
                    </a:solidFill>
                    <a:latin typeface="微软雅黑"/>
                  </a:endParaRPr>
                </a:p>
                <a:p>
                  <a:pPr algn="l">
                    <a:spcAft>
                      <a:spcPts val="300"/>
                    </a:spcAft>
                  </a:pP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𝑠</m:t>
                          </m:r>
                        </m:e>
                        <m:sub>
                          <m:r>
                            <a:rPr lang="en-US" sz="1300" b="0" i="1">
                              <a:solidFill>
                                <a:srgbClr val="2A272B"/>
                              </a:solidFill>
                              <a:latin typeface="DejaVu Math TeX Gyre" panose="02000503000000000000" charset="0"/>
                              <a:cs typeface="DejaVu Math TeX Gyre" panose="02000503000000000000" charset="0"/>
                            </a:rPr>
                            <m:t>𝑖𝑑</m:t>
                          </m:r>
                        </m:sub>
                      </m:sSub>
                      <m:r>
                        <a:rPr lang="zh-CN" altLang="en-US" sz="1300" b="0" i="1">
                          <a:solidFill>
                            <a:srgbClr val="2A272B"/>
                          </a:solidFill>
                          <a:latin typeface="DejaVu Math TeX Gyre" panose="02000503000000000000" charset="0"/>
                          <a:cs typeface="DejaVu Math TeX Gyre" panose="02000503000000000000" charset="0"/>
                        </a:rPr>
                        <m:t>为</m:t>
                      </m:r>
                    </m:oMath>
                  </a14:m>
                  <a:r>
                    <a:rPr sz="1300" b="0">
                      <a:solidFill>
                        <a:srgbClr val="2A272B"/>
                      </a:solidFill>
                      <a:latin typeface="微软雅黑"/>
                    </a:rPr>
                    <a:t>个人在 d 的技能；</a:t>
                  </a: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𝑞</m:t>
                          </m:r>
                        </m:e>
                        <m:sub>
                          <m:r>
                            <a:rPr lang="en-US" sz="1300" b="0" i="1">
                              <a:solidFill>
                                <a:srgbClr val="2A272B"/>
                              </a:solidFill>
                              <a:latin typeface="DejaVu Math TeX Gyre" panose="02000503000000000000" charset="0"/>
                              <a:cs typeface="DejaVu Math TeX Gyre" panose="02000503000000000000" charset="0"/>
                            </a:rPr>
                            <m:t>𝑜</m:t>
                          </m:r>
                        </m:sub>
                      </m:sSub>
                      <m:r>
                        <a:rPr lang="zh-CN" altLang="en-US" sz="1300" b="0" i="1">
                          <a:solidFill>
                            <a:srgbClr val="2A272B"/>
                          </a:solidFill>
                          <a:latin typeface="DejaVu Math TeX Gyre" panose="02000503000000000000" charset="0"/>
                          <a:cs typeface="DejaVu Math TeX Gyre" panose="02000503000000000000" charset="0"/>
                        </a:rPr>
                        <m:t>为</m:t>
                      </m:r>
                    </m:oMath>
                  </a14:m>
                  <a:r>
                    <a:rPr sz="1300" b="0">
                      <a:solidFill>
                        <a:srgbClr val="2A272B"/>
                      </a:solidFill>
                      <a:latin typeface="微软雅黑"/>
                    </a:rPr>
                    <a:t>出生地的教育和人力资本形成质量</a:t>
                  </a:r>
                  <a:endParaRPr sz="1300" b="0">
                    <a:solidFill>
                      <a:srgbClr val="2A272B"/>
                    </a:solidFill>
                    <a:latin typeface="微软雅黑"/>
                  </a:endParaRPr>
                </a:p>
              </p:txBody>
            </p:sp>
          </mc:Choice>
          <mc:Fallback>
            <p:sp>
              <p:nvSpPr>
                <p:cNvPr id="25" name="TextBox 24"/>
                <p:cNvSpPr txBox="1">
                  <a:spLocks noRot="1" noChangeAspect="1" noMove="1" noResize="1" noEditPoints="1" noAdjustHandles="1" noChangeArrowheads="1" noChangeShapeType="1" noTextEdit="1"/>
                </p:cNvSpPr>
                <p:nvPr/>
              </p:nvSpPr>
              <p:spPr>
                <a:xfrm>
                  <a:off x="3586" y="3067"/>
                  <a:ext cx="6250" cy="1206"/>
                </a:xfrm>
                <a:prstGeom prst="rect">
                  <a:avLst/>
                </a:prstGeom>
                <a:blipFill rotWithShape="1">
                  <a:blip r:embed="rId1"/>
                </a:blipFill>
              </p:spPr>
              <p:txBody>
                <a:bodyPr/>
                <a:lstStyle/>
                <a:p>
                  <a:r>
                    <a:rPr lang="zh-CN" altLang="en-US">
                      <a:noFill/>
                    </a:rPr>
                    <a:t> </a:t>
                  </a:r>
                </a:p>
              </p:txBody>
            </p:sp>
          </mc:Fallback>
        </mc:AlternateContent>
        <p:sp>
          <p:nvSpPr>
            <p:cNvPr id="26" name="Rectangle 25"/>
            <p:cNvSpPr/>
            <p:nvPr/>
          </p:nvSpPr>
          <p:spPr>
            <a:xfrm>
              <a:off x="10267" y="2333"/>
              <a:ext cx="7589" cy="201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267" y="2333"/>
              <a:ext cx="79" cy="201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2" y="2506"/>
              <a:ext cx="7157"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第二层｜劳动者收到的工资</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29" name="TextBox 28"/>
                <p:cNvSpPr txBox="1"/>
                <p:nvPr/>
              </p:nvSpPr>
              <p:spPr>
                <a:xfrm>
                  <a:off x="10512" y="2947"/>
                  <a:ext cx="7357" cy="1438"/>
                </a:xfrm>
                <a:prstGeom prst="rect">
                  <a:avLst/>
                </a:prstGeom>
                <a:noFill/>
              </p:spPr>
              <p:txBody>
                <a:bodyPr wrap="square" lIns="18288" tIns="18288" rIns="18288">
                  <a:spAutoFit/>
                </a:bodyPr>
                <a:lstStyle/>
                <a:p>
                  <a:pPr algn="l">
                    <a:spcAft>
                      <a:spcPts val="300"/>
                    </a:spcAft>
                  </a:pPr>
                  <a14:m>
                    <m:oMathPara xmlns:m="http://schemas.openxmlformats.org/officeDocument/2006/math">
                      <m:oMathParaPr>
                        <m:jc m:val="centerGroup"/>
                      </m:oMathParaPr>
                      <m:oMath xmlns:m="http://schemas.openxmlformats.org/officeDocument/2006/math">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𝑤𝑎𝑔𝑒</m:t>
                            </m:r>
                          </m:e>
                          <m:sub>
                            <m:r>
                              <a:rPr lang="en-US" sz="1600" b="0" i="1">
                                <a:solidFill>
                                  <a:srgbClr val="2A272B"/>
                                </a:solidFill>
                                <a:latin typeface="DejaVu Math TeX Gyre" panose="02000503000000000000" charset="0"/>
                                <a:cs typeface="DejaVu Math TeX Gyre" panose="02000503000000000000" charset="0"/>
                              </a:rPr>
                              <m:t>𝑖𝑑𝑜</m:t>
                            </m:r>
                          </m:sub>
                        </m:sSub>
                        <m:r>
                          <a:rPr lang="en-US" sz="1600" b="0" i="1">
                            <a:solidFill>
                              <a:srgbClr val="2A272B"/>
                            </a:solidFill>
                            <a:latin typeface="DejaVu Math TeX Gyre" panose="02000503000000000000" charset="0"/>
                            <a:cs typeface="DejaVu Math TeX Gyre" panose="02000503000000000000" charset="0"/>
                          </a:rPr>
                          <m:t>=</m:t>
                        </m:r>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i="1">
                                <a:solidFill>
                                  <a:srgbClr val="2A272B"/>
                                </a:solidFill>
                                <a:latin typeface="DejaVu Math TeX Gyre" panose="02000503000000000000" charset="0"/>
                                <a:cs typeface="DejaVu Math TeX Gyre" panose="02000503000000000000" charset="0"/>
                              </a:rPr>
                              <m:t>𝜔</m:t>
                            </m:r>
                          </m:e>
                          <m:sub>
                            <m:r>
                              <a:rPr lang="en-US" sz="1600" b="0" i="1">
                                <a:solidFill>
                                  <a:srgbClr val="2A272B"/>
                                </a:solidFill>
                                <a:latin typeface="DejaVu Math TeX Gyre" panose="02000503000000000000" charset="0"/>
                                <a:cs typeface="DejaVu Math TeX Gyre" panose="02000503000000000000" charset="0"/>
                              </a:rPr>
                              <m:t>𝑑</m:t>
                            </m:r>
                          </m:sub>
                        </m:sSub>
                        <m:sSubSup>
                          <m:sSubSupPr>
                            <m:ctrlPr>
                              <a:rPr lang="en-US" sz="1600" b="0" i="1">
                                <a:solidFill>
                                  <a:srgbClr val="2A272B"/>
                                </a:solidFill>
                                <a:latin typeface="DejaVu Math TeX Gyre" panose="02000503000000000000" charset="0"/>
                                <a:cs typeface="DejaVu Math TeX Gyre" panose="02000503000000000000" charset="0"/>
                              </a:rPr>
                            </m:ctrlPr>
                          </m:sSubSupPr>
                          <m:e>
                            <m:r>
                              <a:rPr lang="en-US" sz="1600" i="1">
                                <a:solidFill>
                                  <a:srgbClr val="2A272B"/>
                                </a:solidFill>
                                <a:latin typeface="DejaVu Math TeX Gyre" panose="02000503000000000000" charset="0"/>
                                <a:cs typeface="DejaVu Math TeX Gyre" panose="02000503000000000000" charset="0"/>
                              </a:rPr>
                              <m:t>𝜖</m:t>
                            </m:r>
                          </m:e>
                          <m:sub>
                            <m:r>
                              <a:rPr lang="en-US" sz="1600" b="0" i="1">
                                <a:solidFill>
                                  <a:srgbClr val="2A272B"/>
                                </a:solidFill>
                                <a:latin typeface="DejaVu Math TeX Gyre" panose="02000503000000000000" charset="0"/>
                                <a:cs typeface="DejaVu Math TeX Gyre" panose="02000503000000000000" charset="0"/>
                              </a:rPr>
                              <m:t>𝑑𝑜</m:t>
                            </m:r>
                          </m:sub>
                          <m:sup>
                            <m:r>
                              <a:rPr lang="en-US" sz="1600" i="1">
                                <a:solidFill>
                                  <a:srgbClr val="2A272B"/>
                                </a:solidFill>
                                <a:latin typeface="DejaVu Math TeX Gyre" panose="02000503000000000000" charset="0"/>
                                <a:cs typeface="DejaVu Math TeX Gyre" panose="02000503000000000000" charset="0"/>
                              </a:rPr>
                              <m:t>𝜔</m:t>
                            </m:r>
                          </m:sup>
                        </m:sSubSup>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ℎ</m:t>
                            </m:r>
                          </m:e>
                          <m:sub>
                            <m:r>
                              <a:rPr lang="en-US" sz="1600" b="0" i="1">
                                <a:solidFill>
                                  <a:srgbClr val="2A272B"/>
                                </a:solidFill>
                                <a:latin typeface="DejaVu Math TeX Gyre" panose="02000503000000000000" charset="0"/>
                                <a:cs typeface="DejaVu Math TeX Gyre" panose="02000503000000000000" charset="0"/>
                              </a:rPr>
                              <m:t>𝑖𝑑𝑜</m:t>
                            </m:r>
                          </m:sub>
                        </m:sSub>
                        <m:r>
                          <a:rPr lang="en-US" sz="1600" b="0" i="1">
                            <a:solidFill>
                              <a:srgbClr val="2A272B"/>
                            </a:solidFill>
                            <a:latin typeface="DejaVu Math TeX Gyre" panose="02000503000000000000" charset="0"/>
                            <a:cs typeface="DejaVu Math TeX Gyre" panose="02000503000000000000" charset="0"/>
                          </a:rPr>
                          <m:t>=</m:t>
                        </m:r>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i="1">
                                <a:solidFill>
                                  <a:srgbClr val="2A272B"/>
                                </a:solidFill>
                                <a:latin typeface="DejaVu Math TeX Gyre" panose="02000503000000000000" charset="0"/>
                                <a:cs typeface="DejaVu Math TeX Gyre" panose="02000503000000000000" charset="0"/>
                              </a:rPr>
                              <m:t>𝜔</m:t>
                            </m:r>
                          </m:e>
                          <m:sub>
                            <m:r>
                              <a:rPr lang="en-US" sz="1600" b="0" i="1">
                                <a:solidFill>
                                  <a:srgbClr val="2A272B"/>
                                </a:solidFill>
                                <a:latin typeface="DejaVu Math TeX Gyre" panose="02000503000000000000" charset="0"/>
                                <a:cs typeface="DejaVu Math TeX Gyre" panose="02000503000000000000" charset="0"/>
                              </a:rPr>
                              <m:t>𝑑</m:t>
                            </m:r>
                          </m:sub>
                        </m:sSub>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i="1">
                                <a:solidFill>
                                  <a:srgbClr val="2A272B"/>
                                </a:solidFill>
                                <a:latin typeface="DejaVu Math TeX Gyre" panose="02000503000000000000" charset="0"/>
                                <a:cs typeface="DejaVu Math TeX Gyre" panose="02000503000000000000" charset="0"/>
                              </a:rPr>
                              <m:t>𝜖</m:t>
                            </m:r>
                          </m:e>
                          <m:sub>
                            <m:r>
                              <a:rPr lang="en-US" sz="1600" b="0" i="1">
                                <a:solidFill>
                                  <a:srgbClr val="2A272B"/>
                                </a:solidFill>
                                <a:latin typeface="DejaVu Math TeX Gyre" panose="02000503000000000000" charset="0"/>
                                <a:cs typeface="DejaVu Math TeX Gyre" panose="02000503000000000000" charset="0"/>
                              </a:rPr>
                              <m:t>𝑑𝑜</m:t>
                            </m:r>
                          </m:sub>
                        </m:sSub>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𝑠</m:t>
                            </m:r>
                          </m:e>
                          <m:sub>
                            <m:r>
                              <a:rPr lang="en-US" sz="1600" b="0" i="1">
                                <a:solidFill>
                                  <a:srgbClr val="2A272B"/>
                                </a:solidFill>
                                <a:latin typeface="DejaVu Math TeX Gyre" panose="02000503000000000000" charset="0"/>
                                <a:cs typeface="DejaVu Math TeX Gyre" panose="02000503000000000000" charset="0"/>
                              </a:rPr>
                              <m:t>𝑖𝑑</m:t>
                            </m:r>
                          </m:sub>
                        </m:sSub>
                        <m:sSub>
                          <m:sSubPr>
                            <m:ctrlPr>
                              <a:rPr lang="en-US" sz="1600" b="0" i="1">
                                <a:solidFill>
                                  <a:srgbClr val="2A272B"/>
                                </a:solidFill>
                                <a:latin typeface="DejaVu Math TeX Gyre" panose="02000503000000000000" charset="0"/>
                                <a:cs typeface="DejaVu Math TeX Gyre" panose="02000503000000000000" charset="0"/>
                              </a:rPr>
                            </m:ctrlPr>
                          </m:sSubPr>
                          <m:e>
                            <m:r>
                              <a:rPr lang="en-US" sz="1600" b="0" i="1">
                                <a:solidFill>
                                  <a:srgbClr val="2A272B"/>
                                </a:solidFill>
                                <a:latin typeface="DejaVu Math TeX Gyre" panose="02000503000000000000" charset="0"/>
                                <a:cs typeface="DejaVu Math TeX Gyre" panose="02000503000000000000" charset="0"/>
                              </a:rPr>
                              <m:t>𝑞</m:t>
                            </m:r>
                          </m:e>
                          <m:sub>
                            <m:r>
                              <a:rPr lang="en-US" sz="1600" b="0" i="1">
                                <a:solidFill>
                                  <a:srgbClr val="2A272B"/>
                                </a:solidFill>
                                <a:latin typeface="DejaVu Math TeX Gyre" panose="02000503000000000000" charset="0"/>
                                <a:cs typeface="DejaVu Math TeX Gyre" panose="02000503000000000000" charset="0"/>
                              </a:rPr>
                              <m:t>𝑜</m:t>
                            </m:r>
                          </m:sub>
                        </m:sSub>
                      </m:oMath>
                    </m:oMathPara>
                  </a14:m>
                  <a:endParaRPr sz="1300" b="0">
                    <a:solidFill>
                      <a:srgbClr val="2A272B"/>
                    </a:solidFill>
                    <a:latin typeface="微软雅黑"/>
                  </a:endParaRPr>
                </a:p>
                <a:p>
                  <a:pPr algn="l">
                    <a:spcAft>
                      <a:spcPts val="300"/>
                    </a:spcAft>
                  </a:pP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i="1">
                              <a:solidFill>
                                <a:srgbClr val="2A272B"/>
                              </a:solidFill>
                              <a:latin typeface="DejaVu Math TeX Gyre" panose="02000503000000000000" charset="0"/>
                              <a:cs typeface="DejaVu Math TeX Gyre" panose="02000503000000000000" charset="0"/>
                            </a:rPr>
                            <m:t>𝜔</m:t>
                          </m:r>
                        </m:e>
                        <m:sub>
                          <m:r>
                            <a:rPr lang="en-US" sz="1300" b="0" i="1">
                              <a:solidFill>
                                <a:srgbClr val="2A272B"/>
                              </a:solidFill>
                              <a:latin typeface="DejaVu Math TeX Gyre" panose="02000503000000000000" charset="0"/>
                              <a:cs typeface="DejaVu Math TeX Gyre" panose="02000503000000000000" charset="0"/>
                            </a:rPr>
                            <m:t>𝑑</m:t>
                          </m:r>
                        </m:sub>
                      </m:sSub>
                      <m:r>
                        <a:rPr lang="zh-CN" altLang="en-US" sz="1300" b="0" i="1">
                          <a:solidFill>
                            <a:srgbClr val="2A272B"/>
                          </a:solidFill>
                          <a:latin typeface="DejaVu Math TeX Gyre" panose="02000503000000000000" charset="0"/>
                          <a:cs typeface="DejaVu Math TeX Gyre" panose="02000503000000000000" charset="0"/>
                        </a:rPr>
                        <m:t>为</m:t>
                      </m:r>
                    </m:oMath>
                  </a14:m>
                  <a:r>
                    <a:rPr sz="1300" b="0">
                      <a:solidFill>
                        <a:srgbClr val="2A272B"/>
                      </a:solidFill>
                      <a:latin typeface="微软雅黑"/>
                    </a:rPr>
                    <a:t>每单位有效劳动工资；</a:t>
                  </a:r>
                  <a14:m>
                    <m:oMath xmlns:m="http://schemas.openxmlformats.org/officeDocument/2006/math">
                      <m:sSubSup>
                        <m:sSubSupPr>
                          <m:ctrlPr>
                            <a:rPr lang="en-US" sz="1300" b="0" i="1">
                              <a:solidFill>
                                <a:srgbClr val="2A272B"/>
                              </a:solidFill>
                              <a:latin typeface="DejaVu Math TeX Gyre" panose="02000503000000000000" charset="0"/>
                              <a:cs typeface="DejaVu Math TeX Gyre" panose="02000503000000000000" charset="0"/>
                            </a:rPr>
                          </m:ctrlPr>
                        </m:sSubSupPr>
                        <m:e>
                          <m:r>
                            <a:rPr lang="en-US" sz="1300" i="1">
                              <a:solidFill>
                                <a:srgbClr val="2A272B"/>
                              </a:solidFill>
                              <a:latin typeface="DejaVu Math TeX Gyre" panose="02000503000000000000" charset="0"/>
                              <a:cs typeface="DejaVu Math TeX Gyre" panose="02000503000000000000" charset="0"/>
                            </a:rPr>
                            <m:t>𝜖</m:t>
                          </m:r>
                        </m:e>
                        <m:sub>
                          <m:r>
                            <a:rPr lang="en-US" sz="1300" b="0" i="1">
                              <a:solidFill>
                                <a:srgbClr val="2A272B"/>
                              </a:solidFill>
                              <a:latin typeface="DejaVu Math TeX Gyre" panose="02000503000000000000" charset="0"/>
                              <a:cs typeface="DejaVu Math TeX Gyre" panose="02000503000000000000" charset="0"/>
                            </a:rPr>
                            <m:t>𝑑𝑜</m:t>
                          </m:r>
                        </m:sub>
                        <m:sup>
                          <m:r>
                            <a:rPr lang="en-US" sz="1300" i="1">
                              <a:solidFill>
                                <a:srgbClr val="2A272B"/>
                              </a:solidFill>
                              <a:latin typeface="DejaVu Math TeX Gyre" panose="02000503000000000000" charset="0"/>
                              <a:cs typeface="DejaVu Math TeX Gyre" panose="02000503000000000000" charset="0"/>
                            </a:rPr>
                            <m:t>𝜔</m:t>
                          </m:r>
                        </m:sup>
                      </m:sSubSup>
                      <m:r>
                        <a:rPr lang="zh-CN" altLang="en-US" sz="1300" i="1">
                          <a:solidFill>
                            <a:srgbClr val="2A272B"/>
                          </a:solidFill>
                          <a:latin typeface="DejaVu Math TeX Gyre" panose="02000503000000000000" charset="0"/>
                          <a:cs typeface="DejaVu Math TeX Gyre" panose="02000503000000000000" charset="0"/>
                        </a:rPr>
                        <m:t>为</m:t>
                      </m:r>
                    </m:oMath>
                  </a14:m>
                  <a:r>
                    <a:rPr sz="1300" b="0">
                      <a:solidFill>
                        <a:srgbClr val="2A272B"/>
                      </a:solidFill>
                      <a:latin typeface="微软雅黑"/>
                    </a:rPr>
                    <a:t>特定出生地在 d 的工资扰动</a:t>
                  </a:r>
                  <a:r>
                    <a:rPr lang="en-US" sz="1000" b="0">
                      <a:solidFill>
                        <a:srgbClr val="642366"/>
                      </a:solidFill>
                      <a:latin typeface="微软雅黑"/>
                    </a:rPr>
                    <a:t>（</a:t>
                  </a:r>
                  <a:r>
                    <a:rPr lang="zh-CN" altLang="en-US" sz="1000" b="0">
                      <a:solidFill>
                        <a:srgbClr val="642366"/>
                      </a:solidFill>
                      <a:latin typeface="微软雅黑"/>
                    </a:rPr>
                    <a:t>为了允许来自不同出生地的劳动者在同一个目的地具有不同的生产率，并解决后续估计中的内生性问题</a:t>
                  </a:r>
                  <a:r>
                    <a:rPr lang="en-US" altLang="zh-CN" sz="1000" b="0">
                      <a:solidFill>
                        <a:srgbClr val="642366"/>
                      </a:solidFill>
                      <a:latin typeface="微软雅黑"/>
                    </a:rPr>
                    <a:t>）</a:t>
                  </a:r>
                  <a:endParaRPr lang="en-US" altLang="zh-CN" sz="1000" b="0">
                    <a:solidFill>
                      <a:srgbClr val="642366"/>
                    </a:solidFill>
                    <a:latin typeface="微软雅黑"/>
                  </a:endParaRPr>
                </a:p>
              </p:txBody>
            </p:sp>
          </mc:Choice>
          <mc:Fallback>
            <p:sp>
              <p:nvSpPr>
                <p:cNvPr id="29" name="TextBox 28"/>
                <p:cNvSpPr txBox="1">
                  <a:spLocks noRot="1" noChangeAspect="1" noMove="1" noResize="1" noEditPoints="1" noAdjustHandles="1" noChangeArrowheads="1" noChangeShapeType="1" noTextEdit="1"/>
                </p:cNvSpPr>
                <p:nvPr/>
              </p:nvSpPr>
              <p:spPr>
                <a:xfrm>
                  <a:off x="10512" y="2947"/>
                  <a:ext cx="7357" cy="1438"/>
                </a:xfrm>
                <a:prstGeom prst="rect">
                  <a:avLst/>
                </a:prstGeom>
                <a:blipFill rotWithShape="1">
                  <a:blip r:embed="rId2"/>
                </a:blipFill>
              </p:spPr>
              <p:txBody>
                <a:bodyPr/>
                <a:lstStyle/>
                <a:p>
                  <a:r>
                    <a:rPr lang="zh-CN" altLang="en-US">
                      <a:noFill/>
                    </a:rPr>
                    <a:t> </a:t>
                  </a:r>
                </a:p>
              </p:txBody>
            </p:sp>
          </mc:Fallback>
        </mc:AlternateContent>
        <p:sp>
          <p:nvSpPr>
            <p:cNvPr id="30" name="Rectangle 29"/>
            <p:cNvSpPr/>
            <p:nvPr/>
          </p:nvSpPr>
          <p:spPr>
            <a:xfrm>
              <a:off x="3341" y="4622"/>
              <a:ext cx="14515" cy="152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41" y="4622"/>
              <a:ext cx="79" cy="152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0" y="4810"/>
              <a:ext cx="2880" cy="518"/>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第三层｜间接效用</a:t>
              </a:r>
              <a:endParaRPr sz="1600" b="1">
                <a:solidFill>
                  <a:srgbClr val="69086F"/>
                </a:solidFill>
                <a:latin typeface="微软雅黑"/>
              </a:endParaRPr>
            </a:p>
          </p:txBody>
        </p:sp>
        <p:sp>
          <p:nvSpPr>
            <p:cNvPr id="34" name="Rectangle 33"/>
            <p:cNvSpPr/>
            <p:nvPr/>
          </p:nvSpPr>
          <p:spPr>
            <a:xfrm>
              <a:off x="3341" y="6394"/>
              <a:ext cx="4622" cy="250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41" y="6394"/>
              <a:ext cx="79" cy="250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6" name="TextBox 35"/>
                <p:cNvSpPr txBox="1"/>
                <p:nvPr/>
              </p:nvSpPr>
              <p:spPr>
                <a:xfrm>
                  <a:off x="3586" y="6566"/>
                  <a:ext cx="4190" cy="525"/>
                </a:xfrm>
                <a:prstGeom prst="rect">
                  <a:avLst/>
                </a:prstGeom>
                <a:noFill/>
              </p:spPr>
              <p:txBody>
                <a:bodyPr wrap="square" lIns="18288" tIns="18288" rIns="18288">
                  <a:spAutoFit/>
                </a:bodyPr>
                <a:lstStyle/>
                <a:p>
                  <a:pPr algn="l">
                    <a:spcAft>
                      <a:spcPts val="300"/>
                    </a:spcAft>
                  </a:pPr>
                  <a14:m>
                    <m:oMath xmlns:m="http://schemas.openxmlformats.org/officeDocument/2006/math">
                      <m:sSub>
                        <m:sSubPr>
                          <m:ctrlPr>
                            <a:rPr lang="en-US" sz="1600" b="0" i="1">
                              <a:solidFill>
                                <a:srgbClr val="642366"/>
                              </a:solidFill>
                              <a:latin typeface="DejaVu Math TeX Gyre" panose="02000503000000000000" charset="0"/>
                              <a:cs typeface="DejaVu Math TeX Gyre" panose="02000503000000000000" charset="0"/>
                            </a:rPr>
                          </m:ctrlPr>
                        </m:sSubPr>
                        <m:e>
                          <m:r>
                            <a:rPr lang="en-US" sz="1600" i="1">
                              <a:solidFill>
                                <a:srgbClr val="642366"/>
                              </a:solidFill>
                              <a:latin typeface="DejaVu Math TeX Gyre" panose="02000503000000000000" charset="0"/>
                              <a:cs typeface="DejaVu Math TeX Gyre" panose="02000503000000000000" charset="0"/>
                            </a:rPr>
                            <m:t>𝛼</m:t>
                          </m:r>
                        </m:e>
                        <m:sub>
                          <m:r>
                            <a:rPr lang="en-US" sz="1600" b="0" i="1">
                              <a:solidFill>
                                <a:srgbClr val="642366"/>
                              </a:solidFill>
                              <a:latin typeface="DejaVu Math TeX Gyre" panose="02000503000000000000" charset="0"/>
                              <a:cs typeface="DejaVu Math TeX Gyre" panose="02000503000000000000" charset="0"/>
                            </a:rPr>
                            <m:t>𝑑</m:t>
                          </m:r>
                        </m:sub>
                      </m:sSub>
                    </m:oMath>
                  </a14:m>
                  <a:r>
                    <a:rPr sz="1600" b="1">
                      <a:solidFill>
                        <a:srgbClr val="642366"/>
                      </a:solidFill>
                      <a:latin typeface="微软雅黑"/>
                    </a:rPr>
                    <a:t>× </a:t>
                  </a:r>
                  <a14:m>
                    <m:oMath xmlns:m="http://schemas.openxmlformats.org/officeDocument/2006/math">
                      <m:sSubSup>
                        <m:sSubSupPr>
                          <m:ctrlPr>
                            <a:rPr lang="en-US" sz="1600" b="0" i="1">
                              <a:solidFill>
                                <a:srgbClr val="642366"/>
                              </a:solidFill>
                              <a:latin typeface="DejaVu Math TeX Gyre" panose="02000503000000000000" charset="0"/>
                              <a:cs typeface="DejaVu Math TeX Gyre" panose="02000503000000000000" charset="0"/>
                            </a:rPr>
                          </m:ctrlPr>
                        </m:sSubSupPr>
                        <m:e>
                          <m:r>
                            <a:rPr lang="en-US" sz="1600" i="1">
                              <a:solidFill>
                                <a:srgbClr val="642366"/>
                              </a:solidFill>
                              <a:latin typeface="DejaVu Math TeX Gyre" panose="02000503000000000000" charset="0"/>
                              <a:cs typeface="DejaVu Math TeX Gyre" panose="02000503000000000000" charset="0"/>
                            </a:rPr>
                            <m:t>𝜖</m:t>
                          </m:r>
                        </m:e>
                        <m:sub>
                          <m:r>
                            <a:rPr lang="en-US" sz="1600" b="0" i="1">
                              <a:solidFill>
                                <a:srgbClr val="642366"/>
                              </a:solidFill>
                              <a:latin typeface="DejaVu Math TeX Gyre" panose="02000503000000000000" charset="0"/>
                              <a:cs typeface="DejaVu Math TeX Gyre" panose="02000503000000000000" charset="0"/>
                            </a:rPr>
                            <m:t>𝑑𝑜</m:t>
                          </m:r>
                        </m:sub>
                        <m:sup>
                          <m:r>
                            <a:rPr lang="en-US" sz="1600" i="1">
                              <a:solidFill>
                                <a:srgbClr val="642366"/>
                              </a:solidFill>
                              <a:latin typeface="DejaVu Math TeX Gyre" panose="02000503000000000000" charset="0"/>
                              <a:cs typeface="DejaVu Math TeX Gyre" panose="02000503000000000000" charset="0"/>
                            </a:rPr>
                            <m:t>𝛼</m:t>
                          </m:r>
                        </m:sup>
                      </m:sSubSup>
                    </m:oMath>
                  </a14:m>
                  <a:endParaRPr lang="en-US" sz="1600" b="1" i="1">
                    <a:solidFill>
                      <a:srgbClr val="642366"/>
                    </a:solidFill>
                    <a:latin typeface="DejaVu Math TeX Gyre" panose="02000503000000000000" charset="0"/>
                    <a:cs typeface="DejaVu Math TeX Gyre" panose="02000503000000000000" charset="0"/>
                  </a:endParaRPr>
                </a:p>
              </p:txBody>
            </p:sp>
          </mc:Choice>
          <mc:Fallback>
            <p:sp>
              <p:nvSpPr>
                <p:cNvPr id="36" name="TextBox 35"/>
                <p:cNvSpPr txBox="1">
                  <a:spLocks noRot="1" noChangeAspect="1" noMove="1" noResize="1" noEditPoints="1" noAdjustHandles="1" noChangeArrowheads="1" noChangeShapeType="1" noTextEdit="1"/>
                </p:cNvSpPr>
                <p:nvPr/>
              </p:nvSpPr>
              <p:spPr>
                <a:xfrm>
                  <a:off x="3586" y="6566"/>
                  <a:ext cx="4190" cy="525"/>
                </a:xfrm>
                <a:prstGeom prst="rect">
                  <a:avLst/>
                </a:prstGeom>
                <a:blipFill rotWithShape="1">
                  <a:blip r:embed="rId3"/>
                </a:blipFill>
              </p:spPr>
              <p:txBody>
                <a:bodyPr/>
                <a:lstStyle/>
                <a:p>
                  <a:r>
                    <a:rPr lang="zh-CN" altLang="en-US">
                      <a:noFill/>
                    </a:rPr>
                    <a:t> </a:t>
                  </a:r>
                </a:p>
              </p:txBody>
            </p:sp>
          </mc:Fallback>
        </mc:AlternateContent>
        <p:sp>
          <p:nvSpPr>
            <p:cNvPr id="37" name="TextBox 36"/>
            <p:cNvSpPr txBox="1"/>
            <p:nvPr/>
          </p:nvSpPr>
          <p:spPr>
            <a:xfrm>
              <a:off x="3586" y="7128"/>
              <a:ext cx="4162" cy="1014"/>
            </a:xfrm>
            <a:prstGeom prst="rect">
              <a:avLst/>
            </a:prstGeom>
            <a:noFill/>
          </p:spPr>
          <p:txBody>
            <a:bodyPr wrap="square" lIns="18288" tIns="18288" rIns="18288">
              <a:spAutoFit/>
            </a:bodyPr>
            <a:lstStyle/>
            <a:p>
              <a:pPr algn="l">
                <a:spcAft>
                  <a:spcPts val="300"/>
                </a:spcAft>
              </a:pPr>
              <a:r>
                <a:rPr sz="1260" b="0">
                  <a:solidFill>
                    <a:srgbClr val="2A272B"/>
                  </a:solidFill>
                  <a:latin typeface="微软雅黑"/>
                </a:rPr>
                <a:t>地区宜居性及出生地—目的地特定的宜居性扰动</a:t>
              </a:r>
              <a:r>
                <a:rPr lang="en-US" sz="1260" b="0">
                  <a:solidFill>
                    <a:srgbClr val="2A272B"/>
                  </a:solidFill>
                  <a:latin typeface="微软雅黑"/>
                </a:rPr>
                <a:t>:</a:t>
              </a:r>
              <a:r>
                <a:rPr sz="1260" b="0">
                  <a:solidFill>
                    <a:srgbClr val="2A272B"/>
                  </a:solidFill>
                  <a:latin typeface="微软雅黑"/>
                </a:rPr>
                <a:t>生活条件好，可接受更低工资。</a:t>
              </a:r>
              <a:endParaRPr sz="1260" b="0">
                <a:solidFill>
                  <a:srgbClr val="2A272B"/>
                </a:solidFill>
                <a:latin typeface="微软雅黑"/>
              </a:endParaRPr>
            </a:p>
          </p:txBody>
        </p:sp>
        <p:sp>
          <p:nvSpPr>
            <p:cNvPr id="38" name="Rectangle 37"/>
            <p:cNvSpPr/>
            <p:nvPr/>
          </p:nvSpPr>
          <p:spPr>
            <a:xfrm>
              <a:off x="8165" y="6394"/>
              <a:ext cx="4608" cy="250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65" y="6394"/>
              <a:ext cx="79" cy="250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40" name="TextBox 39"/>
                <p:cNvSpPr txBox="1"/>
                <p:nvPr/>
              </p:nvSpPr>
              <p:spPr>
                <a:xfrm>
                  <a:off x="8410" y="6566"/>
                  <a:ext cx="4176" cy="488"/>
                </a:xfrm>
                <a:prstGeom prst="rect">
                  <a:avLst/>
                </a:prstGeom>
                <a:noFill/>
              </p:spPr>
              <p:txBody>
                <a:bodyPr wrap="square" lIns="18288" tIns="18288" rIns="18288">
                  <a:spAutoFit/>
                </a:bodyPr>
                <a:lstStyle/>
                <a:p>
                  <a:pPr algn="l">
                    <a:spcAft>
                      <a:spcPts val="300"/>
                    </a:spcAft>
                  </a:pPr>
                  <a14:m>
                    <m:oMathPara xmlns:m="http://schemas.openxmlformats.org/officeDocument/2006/math">
                      <m:oMathParaPr>
                        <m:jc m:val="left"/>
                      </m:oMathParaPr>
                      <m:oMath xmlns:m="http://schemas.openxmlformats.org/officeDocument/2006/math">
                        <m:r>
                          <a:rPr lang="en-US" sz="1600" i="1">
                            <a:solidFill>
                              <a:srgbClr val="642366"/>
                            </a:solidFill>
                            <a:latin typeface="DejaVu Math TeX Gyre" panose="02000503000000000000" charset="0"/>
                            <a:cs typeface="DejaVu Math TeX Gyre" panose="02000503000000000000" charset="0"/>
                          </a:rPr>
                          <m:t>1</m:t>
                        </m:r>
                        <m:r>
                          <a:rPr lang="en-US" sz="1600" i="1">
                            <a:solidFill>
                              <a:srgbClr val="642366"/>
                            </a:solidFill>
                            <a:latin typeface="DejaVu Math TeX Gyre" panose="02000503000000000000" charset="0"/>
                            <a:cs typeface="DejaVu Math TeX Gyre" panose="02000503000000000000" charset="0"/>
                          </a:rPr>
                          <m:t>−</m:t>
                        </m:r>
                        <m:sSub>
                          <m:sSubPr>
                            <m:ctrlPr>
                              <a:rPr lang="en-US" sz="1600" i="1">
                                <a:solidFill>
                                  <a:srgbClr val="642366"/>
                                </a:solidFill>
                                <a:latin typeface="DejaVu Math TeX Gyre" panose="02000503000000000000" charset="0"/>
                                <a:cs typeface="DejaVu Math TeX Gyre" panose="02000503000000000000" charset="0"/>
                              </a:rPr>
                            </m:ctrlPr>
                          </m:sSubPr>
                          <m:e>
                            <m:r>
                              <a:rPr lang="en-US" sz="1600" i="1">
                                <a:solidFill>
                                  <a:srgbClr val="642366"/>
                                </a:solidFill>
                                <a:latin typeface="DejaVu Math TeX Gyre" panose="02000503000000000000" charset="0"/>
                                <a:cs typeface="DejaVu Math TeX Gyre" panose="02000503000000000000" charset="0"/>
                              </a:rPr>
                              <m:t>𝜏</m:t>
                            </m:r>
                          </m:e>
                          <m:sub>
                            <m:r>
                              <a:rPr lang="en-US" sz="1600" i="1">
                                <a:solidFill>
                                  <a:srgbClr val="642366"/>
                                </a:solidFill>
                                <a:latin typeface="DejaVu Math TeX Gyre" panose="02000503000000000000" charset="0"/>
                                <a:cs typeface="DejaVu Math TeX Gyre" panose="02000503000000000000" charset="0"/>
                              </a:rPr>
                              <m:t>𝑑𝑜</m:t>
                            </m:r>
                          </m:sub>
                        </m:sSub>
                      </m:oMath>
                    </m:oMathPara>
                  </a14:m>
                  <a:endParaRPr lang="en-US" sz="1600" b="1" i="1">
                    <a:solidFill>
                      <a:srgbClr val="642366"/>
                    </a:solidFill>
                    <a:latin typeface="DejaVu Math TeX Gyre" panose="02000503000000000000" charset="0"/>
                    <a:cs typeface="DejaVu Math TeX Gyre" panose="02000503000000000000" charset="0"/>
                  </a:endParaRPr>
                </a:p>
              </p:txBody>
            </p:sp>
          </mc:Choice>
          <mc:Fallback>
            <p:sp>
              <p:nvSpPr>
                <p:cNvPr id="40" name="TextBox 39"/>
                <p:cNvSpPr txBox="1">
                  <a:spLocks noRot="1" noChangeAspect="1" noMove="1" noResize="1" noEditPoints="1" noAdjustHandles="1" noChangeArrowheads="1" noChangeShapeType="1" noTextEdit="1"/>
                </p:cNvSpPr>
                <p:nvPr/>
              </p:nvSpPr>
              <p:spPr>
                <a:xfrm>
                  <a:off x="8410" y="6566"/>
                  <a:ext cx="4176" cy="488"/>
                </a:xfrm>
                <a:prstGeom prst="rect">
                  <a:avLst/>
                </a:prstGeom>
                <a:blipFill rotWithShape="1">
                  <a:blip r:embed="rId4"/>
                </a:blipFill>
              </p:spPr>
              <p:txBody>
                <a:bodyPr/>
                <a:lstStyle/>
                <a:p>
                  <a:r>
                    <a:rPr lang="zh-CN" altLang="en-US">
                      <a:noFill/>
                    </a:rPr>
                    <a:t> </a:t>
                  </a:r>
                </a:p>
              </p:txBody>
            </p:sp>
          </mc:Fallback>
        </mc:AlternateContent>
        <p:sp>
          <p:nvSpPr>
            <p:cNvPr id="41" name="TextBox 40"/>
            <p:cNvSpPr txBox="1"/>
            <p:nvPr/>
          </p:nvSpPr>
          <p:spPr>
            <a:xfrm>
              <a:off x="8410" y="7128"/>
              <a:ext cx="4147" cy="404"/>
            </a:xfrm>
            <a:prstGeom prst="rect">
              <a:avLst/>
            </a:prstGeom>
            <a:noFill/>
          </p:spPr>
          <p:txBody>
            <a:bodyPr wrap="square" lIns="18288" tIns="18288" rIns="18288">
              <a:spAutoFit/>
            </a:bodyPr>
            <a:lstStyle/>
            <a:p>
              <a:pPr algn="l">
                <a:spcAft>
                  <a:spcPts val="300"/>
                </a:spcAft>
              </a:pPr>
              <a:r>
                <a:rPr sz="1260" b="0">
                  <a:solidFill>
                    <a:srgbClr val="2A272B"/>
                  </a:solidFill>
                  <a:latin typeface="微软雅黑"/>
                </a:rPr>
                <a:t>离乡迁移带来的效用折损</a:t>
              </a:r>
              <a:endParaRPr sz="1260" b="0">
                <a:solidFill>
                  <a:srgbClr val="2A272B"/>
                </a:solidFill>
                <a:latin typeface="微软雅黑"/>
              </a:endParaRPr>
            </a:p>
          </p:txBody>
        </p:sp>
        <p:sp>
          <p:nvSpPr>
            <p:cNvPr id="42" name="Rectangle 41"/>
            <p:cNvSpPr/>
            <p:nvPr/>
          </p:nvSpPr>
          <p:spPr>
            <a:xfrm>
              <a:off x="12960" y="6394"/>
              <a:ext cx="4896" cy="250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960" y="6394"/>
              <a:ext cx="79" cy="250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3205" y="6566"/>
              <a:ext cx="4464"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个人的选择</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45" name="TextBox 44"/>
                <p:cNvSpPr txBox="1"/>
                <p:nvPr/>
              </p:nvSpPr>
              <p:spPr>
                <a:xfrm>
                  <a:off x="13205" y="7128"/>
                  <a:ext cx="4435" cy="710"/>
                </a:xfrm>
                <a:prstGeom prst="rect">
                  <a:avLst/>
                </a:prstGeom>
                <a:noFill/>
              </p:spPr>
              <p:txBody>
                <a:bodyPr wrap="square" lIns="18288" tIns="18288" rIns="18288">
                  <a:spAutoFit/>
                </a:bodyPr>
                <a:lstStyle/>
                <a:p>
                  <a:pPr algn="l">
                    <a:spcAft>
                      <a:spcPts val="300"/>
                    </a:spcAft>
                  </a:pPr>
                  <a:r>
                    <a:rPr sz="1260" b="0">
                      <a:solidFill>
                        <a:srgbClr val="2A272B"/>
                      </a:solidFill>
                      <a:latin typeface="微软雅黑"/>
                    </a:rPr>
                    <a:t>在所有目的地中，选择 </a:t>
                  </a:r>
                  <a14:m>
                    <m:oMath xmlns:m="http://schemas.openxmlformats.org/officeDocument/2006/math">
                      <m:sSub>
                        <m:sSubPr>
                          <m:ctrlPr>
                            <a:rPr lang="en-US" sz="1260" b="0" i="1">
                              <a:solidFill>
                                <a:srgbClr val="2A272B"/>
                              </a:solidFill>
                              <a:latin typeface="DejaVu Math TeX Gyre" panose="02000503000000000000" charset="0"/>
                              <a:cs typeface="DejaVu Math TeX Gyre" panose="02000503000000000000" charset="0"/>
                            </a:rPr>
                          </m:ctrlPr>
                        </m:sSubPr>
                        <m:e>
                          <m:r>
                            <a:rPr lang="en-US" sz="1260" b="0" i="1">
                              <a:solidFill>
                                <a:srgbClr val="2A272B"/>
                              </a:solidFill>
                              <a:latin typeface="DejaVu Math TeX Gyre" panose="02000503000000000000" charset="0"/>
                              <a:cs typeface="DejaVu Math TeX Gyre" panose="02000503000000000000" charset="0"/>
                            </a:rPr>
                            <m:t>𝑈</m:t>
                          </m:r>
                        </m:e>
                        <m:sub>
                          <m:r>
                            <a:rPr lang="en-US" sz="1260" b="0" i="1">
                              <a:solidFill>
                                <a:srgbClr val="2A272B"/>
                              </a:solidFill>
                              <a:latin typeface="DejaVu Math TeX Gyre" panose="02000503000000000000" charset="0"/>
                              <a:cs typeface="DejaVu Math TeX Gyre" panose="02000503000000000000" charset="0"/>
                            </a:rPr>
                            <m:t>𝑖𝑑𝑜</m:t>
                          </m:r>
                        </m:sub>
                      </m:sSub>
                    </m:oMath>
                  </a14:m>
                  <a:r>
                    <a:rPr sz="1260" b="0">
                      <a:solidFill>
                        <a:srgbClr val="2A272B"/>
                      </a:solidFill>
                      <a:latin typeface="微软雅黑"/>
                    </a:rPr>
                    <a:t>最大的地区</a:t>
                  </a:r>
                  <a:endParaRPr sz="1260" b="0">
                    <a:solidFill>
                      <a:srgbClr val="2A272B"/>
                    </a:solidFill>
                    <a:latin typeface="微软雅黑"/>
                  </a:endParaRPr>
                </a:p>
              </p:txBody>
            </p:sp>
          </mc:Choice>
          <mc:Fallback>
            <p:sp>
              <p:nvSpPr>
                <p:cNvPr id="45" name="TextBox 44"/>
                <p:cNvSpPr txBox="1">
                  <a:spLocks noRot="1" noChangeAspect="1" noMove="1" noResize="1" noEditPoints="1" noAdjustHandles="1" noChangeArrowheads="1" noChangeShapeType="1" noTextEdit="1"/>
                </p:cNvSpPr>
                <p:nvPr/>
              </p:nvSpPr>
              <p:spPr>
                <a:xfrm>
                  <a:off x="13205" y="7128"/>
                  <a:ext cx="4435" cy="710"/>
                </a:xfrm>
                <a:prstGeom prst="rect">
                  <a:avLst/>
                </a:prstGeom>
                <a:blipFill rotWithShape="1">
                  <a:blip r:embed="rId5"/>
                </a:blipFill>
              </p:spPr>
              <p:txBody>
                <a:bodyPr/>
                <a:lstStyle/>
                <a:p>
                  <a:r>
                    <a:rPr lang="zh-CN" altLang="en-US">
                      <a:noFill/>
                    </a:rPr>
                    <a:t> </a:t>
                  </a:r>
                </a:p>
              </p:txBody>
            </p:sp>
          </mc:Fallback>
        </mc:AlternateContent>
        <p:sp>
          <p:nvSpPr>
            <p:cNvPr id="47" name="TextBox 46"/>
            <p:cNvSpPr txBox="1"/>
            <p:nvPr/>
          </p:nvSpPr>
          <p:spPr>
            <a:xfrm>
              <a:off x="3586" y="9576"/>
              <a:ext cx="13968" cy="397"/>
            </a:xfrm>
            <a:prstGeom prst="rect">
              <a:avLst/>
            </a:prstGeom>
            <a:noFill/>
          </p:spPr>
          <p:txBody>
            <a:bodyPr wrap="square" lIns="18288" tIns="18288" rIns="18288">
              <a:spAutoFit/>
            </a:bodyPr>
            <a:lstStyle/>
            <a:p>
              <a:pPr algn="l">
                <a:spcAft>
                  <a:spcPts val="300"/>
                </a:spcAft>
              </a:pPr>
              <a:endParaRPr sz="1230" b="1">
                <a:solidFill>
                  <a:srgbClr val="69086F"/>
                </a:solidFill>
                <a:latin typeface="微软雅黑"/>
              </a:endParaRPr>
            </a:p>
          </p:txBody>
        </p:sp>
      </p:grpSp>
      <mc:AlternateContent xmlns:mc="http://schemas.openxmlformats.org/markup-compatibility/2006">
        <mc:Choice xmlns:a14="http://schemas.microsoft.com/office/drawing/2010/main" Requires="a14">
          <p:sp>
            <p:nvSpPr>
              <p:cNvPr id="3" name="TextBox 28"/>
              <p:cNvSpPr txBox="1"/>
              <p:nvPr/>
            </p:nvSpPr>
            <p:spPr>
              <a:xfrm>
                <a:off x="983615" y="3326130"/>
                <a:ext cx="12044680" cy="571500"/>
              </a:xfrm>
              <a:prstGeom prst="rect">
                <a:avLst/>
              </a:prstGeom>
              <a:noFill/>
            </p:spPr>
            <p:txBody>
              <a:bodyPr wrap="square" lIns="18288" tIns="18288" rIns="18288">
                <a:noAutofit/>
              </a:bodyPr>
              <a:lstStyle/>
              <a:p>
                <a:pPr algn="l">
                  <a:spcAft>
                    <a:spcPts val="300"/>
                  </a:spcAft>
                </a:pPr>
                <a14:m>
                  <m:oMathPara xmlns:m="http://schemas.openxmlformats.org/officeDocument/2006/math">
                    <m:oMathParaPr>
                      <m:jc m:val="centerGroup"/>
                    </m:oMathParaPr>
                    <m:oMath xmlns:m="http://schemas.openxmlformats.org/officeDocument/2006/math">
                      <m:sSub>
                        <m:sSubPr>
                          <m:ctrlPr>
                            <a:rPr lang="en-US" b="0" i="1">
                              <a:solidFill>
                                <a:srgbClr val="2A272B"/>
                              </a:solidFill>
                              <a:latin typeface="DejaVu Math TeX Gyre" panose="02000503000000000000" charset="0"/>
                              <a:cs typeface="DejaVu Math TeX Gyre" panose="02000503000000000000" charset="0"/>
                            </a:rPr>
                          </m:ctrlPr>
                        </m:sSubPr>
                        <m:e>
                          <m:r>
                            <a:rPr lang="en-US" b="0" i="1">
                              <a:solidFill>
                                <a:srgbClr val="2A272B"/>
                              </a:solidFill>
                              <a:latin typeface="DejaVu Math TeX Gyre" panose="02000503000000000000" charset="0"/>
                              <a:cs typeface="DejaVu Math TeX Gyre" panose="02000503000000000000" charset="0"/>
                            </a:rPr>
                            <m:t>𝑈</m:t>
                          </m:r>
                        </m:e>
                        <m:sub>
                          <m:r>
                            <a:rPr lang="en-US" b="0" i="1">
                              <a:solidFill>
                                <a:srgbClr val="2A272B"/>
                              </a:solidFill>
                              <a:latin typeface="DejaVu Math TeX Gyre" panose="02000503000000000000" charset="0"/>
                              <a:cs typeface="DejaVu Math TeX Gyre" panose="02000503000000000000" charset="0"/>
                            </a:rPr>
                            <m:t>𝑖𝑑𝑜</m:t>
                          </m:r>
                        </m:sub>
                      </m:sSub>
                      <m:r>
                        <a:rPr lang="en-US" b="0" i="1">
                          <a:solidFill>
                            <a:srgbClr val="2A272B"/>
                          </a:solidFill>
                          <a:latin typeface="DejaVu Math TeX Gyre" panose="02000503000000000000" charset="0"/>
                          <a:cs typeface="DejaVu Math TeX Gyre" panose="02000503000000000000" charset="0"/>
                        </a:rPr>
                        <m:t>=</m:t>
                      </m:r>
                      <m:sSub>
                        <m:sSubPr>
                          <m:ctrlPr>
                            <a:rPr lang="en-US" b="0" i="1">
                              <a:solidFill>
                                <a:srgbClr val="2A272B"/>
                              </a:solidFill>
                              <a:latin typeface="DejaVu Math TeX Gyre" panose="02000503000000000000" charset="0"/>
                              <a:cs typeface="DejaVu Math TeX Gyre" panose="02000503000000000000" charset="0"/>
                            </a:rPr>
                          </m:ctrlPr>
                        </m:sSubPr>
                        <m:e>
                          <m:r>
                            <a:rPr lang="en-US" i="1">
                              <a:solidFill>
                                <a:srgbClr val="2A272B"/>
                              </a:solidFill>
                              <a:latin typeface="DejaVu Math TeX Gyre" panose="02000503000000000000" charset="0"/>
                              <a:cs typeface="DejaVu Math TeX Gyre" panose="02000503000000000000" charset="0"/>
                            </a:rPr>
                            <m:t>𝛼</m:t>
                          </m:r>
                        </m:e>
                        <m:sub>
                          <m:r>
                            <a:rPr lang="en-US" b="0" i="1">
                              <a:solidFill>
                                <a:srgbClr val="2A272B"/>
                              </a:solidFill>
                              <a:latin typeface="DejaVu Math TeX Gyre" panose="02000503000000000000" charset="0"/>
                              <a:cs typeface="DejaVu Math TeX Gyre" panose="02000503000000000000" charset="0"/>
                            </a:rPr>
                            <m:t>𝑑</m:t>
                          </m:r>
                        </m:sub>
                      </m:sSub>
                      <m:sSub>
                        <m:sSubPr>
                          <m:ctrlPr>
                            <a:rPr lang="en-US" b="0" i="1">
                              <a:solidFill>
                                <a:srgbClr val="2A272B"/>
                              </a:solidFill>
                              <a:latin typeface="DejaVu Math TeX Gyre" panose="02000503000000000000" charset="0"/>
                              <a:cs typeface="DejaVu Math TeX Gyre" panose="02000503000000000000" charset="0"/>
                            </a:rPr>
                          </m:ctrlPr>
                        </m:sSubPr>
                        <m:e>
                          <m:sSubSup>
                            <m:sSubSupPr>
                              <m:ctrlPr>
                                <a:rPr lang="en-US" b="0" i="1">
                                  <a:solidFill>
                                    <a:srgbClr val="2A272B"/>
                                  </a:solidFill>
                                  <a:latin typeface="DejaVu Math TeX Gyre" panose="02000503000000000000" charset="0"/>
                                  <a:cs typeface="DejaVu Math TeX Gyre" panose="02000503000000000000" charset="0"/>
                                </a:rPr>
                              </m:ctrlPr>
                            </m:sSubSupPr>
                            <m:e>
                              <m:r>
                                <a:rPr lang="en-US" i="1">
                                  <a:solidFill>
                                    <a:srgbClr val="2A272B"/>
                                  </a:solidFill>
                                  <a:latin typeface="DejaVu Math TeX Gyre" panose="02000503000000000000" charset="0"/>
                                  <a:cs typeface="DejaVu Math TeX Gyre" panose="02000503000000000000" charset="0"/>
                                </a:rPr>
                                <m:t>𝜖</m:t>
                              </m:r>
                            </m:e>
                            <m:sub>
                              <m:r>
                                <a:rPr lang="en-US" b="0" i="1">
                                  <a:solidFill>
                                    <a:srgbClr val="2A272B"/>
                                  </a:solidFill>
                                  <a:latin typeface="DejaVu Math TeX Gyre" panose="02000503000000000000" charset="0"/>
                                  <a:cs typeface="DejaVu Math TeX Gyre" panose="02000503000000000000" charset="0"/>
                                </a:rPr>
                                <m:t>𝑑𝑜</m:t>
                              </m:r>
                            </m:sub>
                            <m:sup>
                              <m:r>
                                <a:rPr lang="en-US" i="1">
                                  <a:solidFill>
                                    <a:srgbClr val="2A272B"/>
                                  </a:solidFill>
                                  <a:latin typeface="DejaVu Math TeX Gyre" panose="02000503000000000000" charset="0"/>
                                  <a:cs typeface="DejaVu Math TeX Gyre" panose="02000503000000000000" charset="0"/>
                                </a:rPr>
                                <m:t>𝛼</m:t>
                              </m:r>
                            </m:sup>
                          </m:sSubSup>
                          <m:r>
                            <a:rPr lang="en-US" i="1">
                              <a:solidFill>
                                <a:srgbClr val="2A272B"/>
                              </a:solidFill>
                              <a:latin typeface="DejaVu Math TeX Gyre" panose="02000503000000000000" charset="0"/>
                              <a:cs typeface="DejaVu Math TeX Gyre" panose="02000503000000000000" charset="0"/>
                            </a:rPr>
                            <m:t>(</m:t>
                          </m:r>
                          <m:r>
                            <a:rPr lang="en-US" i="1">
                              <a:solidFill>
                                <a:srgbClr val="2A272B"/>
                              </a:solidFill>
                              <a:latin typeface="DejaVu Math TeX Gyre" panose="02000503000000000000" charset="0"/>
                              <a:cs typeface="DejaVu Math TeX Gyre" panose="02000503000000000000" charset="0"/>
                            </a:rPr>
                            <m:t>1</m:t>
                          </m:r>
                          <m:r>
                            <a:rPr lang="en-US" i="1">
                              <a:solidFill>
                                <a:srgbClr val="2A272B"/>
                              </a:solidFill>
                              <a:latin typeface="DejaVu Math TeX Gyre" panose="02000503000000000000" charset="0"/>
                              <a:cs typeface="DejaVu Math TeX Gyre" panose="02000503000000000000" charset="0"/>
                            </a:rPr>
                            <m:t>−</m:t>
                          </m:r>
                          <m:sSub>
                            <m:sSubPr>
                              <m:ctrlPr>
                                <a:rPr lang="en-US" i="1">
                                  <a:solidFill>
                                    <a:srgbClr val="2A272B"/>
                                  </a:solidFill>
                                  <a:latin typeface="DejaVu Math TeX Gyre" panose="02000503000000000000" charset="0"/>
                                  <a:cs typeface="DejaVu Math TeX Gyre" panose="02000503000000000000" charset="0"/>
                                </a:rPr>
                              </m:ctrlPr>
                            </m:sSubPr>
                            <m:e>
                              <m:r>
                                <a:rPr lang="en-US" i="1">
                                  <a:solidFill>
                                    <a:srgbClr val="2A272B"/>
                                  </a:solidFill>
                                  <a:latin typeface="DejaVu Math TeX Gyre" panose="02000503000000000000" charset="0"/>
                                  <a:cs typeface="DejaVu Math TeX Gyre" panose="02000503000000000000" charset="0"/>
                                </a:rPr>
                                <m:t>𝜏</m:t>
                              </m:r>
                            </m:e>
                            <m:sub>
                              <m:r>
                                <a:rPr lang="en-US" i="1">
                                  <a:solidFill>
                                    <a:srgbClr val="2A272B"/>
                                  </a:solidFill>
                                  <a:latin typeface="DejaVu Math TeX Gyre" panose="02000503000000000000" charset="0"/>
                                  <a:cs typeface="DejaVu Math TeX Gyre" panose="02000503000000000000" charset="0"/>
                                </a:rPr>
                                <m:t>𝑑𝑜</m:t>
                              </m:r>
                            </m:sub>
                          </m:sSub>
                          <m:r>
                            <a:rPr lang="en-US" i="1">
                              <a:solidFill>
                                <a:srgbClr val="2A272B"/>
                              </a:solidFill>
                              <a:latin typeface="DejaVu Math TeX Gyre" panose="02000503000000000000" charset="0"/>
                              <a:cs typeface="DejaVu Math TeX Gyre" panose="02000503000000000000" charset="0"/>
                            </a:rPr>
                            <m:t>)</m:t>
                          </m:r>
                          <m:r>
                            <a:rPr lang="en-US" i="1">
                              <a:solidFill>
                                <a:srgbClr val="2A272B"/>
                              </a:solidFill>
                              <a:latin typeface="DejaVu Math TeX Gyre" panose="02000503000000000000" charset="0"/>
                              <a:cs typeface="DejaVu Math TeX Gyre" panose="02000503000000000000" charset="0"/>
                            </a:rPr>
                            <m:t>𝜔</m:t>
                          </m:r>
                        </m:e>
                        <m:sub>
                          <m:r>
                            <a:rPr lang="en-US" b="0" i="1">
                              <a:solidFill>
                                <a:srgbClr val="2A272B"/>
                              </a:solidFill>
                              <a:latin typeface="DejaVu Math TeX Gyre" panose="02000503000000000000" charset="0"/>
                              <a:cs typeface="DejaVu Math TeX Gyre" panose="02000503000000000000" charset="0"/>
                            </a:rPr>
                            <m:t>𝑑</m:t>
                          </m:r>
                        </m:sub>
                      </m:sSub>
                      <m:sSubSup>
                        <m:sSubSupPr>
                          <m:ctrlPr>
                            <a:rPr lang="en-US" b="0" i="1">
                              <a:solidFill>
                                <a:srgbClr val="2A272B"/>
                              </a:solidFill>
                              <a:latin typeface="DejaVu Math TeX Gyre" panose="02000503000000000000" charset="0"/>
                              <a:cs typeface="DejaVu Math TeX Gyre" panose="02000503000000000000" charset="0"/>
                            </a:rPr>
                          </m:ctrlPr>
                        </m:sSubSupPr>
                        <m:e>
                          <m:r>
                            <a:rPr lang="en-US" i="1">
                              <a:solidFill>
                                <a:srgbClr val="2A272B"/>
                              </a:solidFill>
                              <a:latin typeface="DejaVu Math TeX Gyre" panose="02000503000000000000" charset="0"/>
                              <a:cs typeface="DejaVu Math TeX Gyre" panose="02000503000000000000" charset="0"/>
                            </a:rPr>
                            <m:t>𝜖</m:t>
                          </m:r>
                        </m:e>
                        <m:sub>
                          <m:r>
                            <a:rPr lang="en-US" b="0" i="1">
                              <a:solidFill>
                                <a:srgbClr val="2A272B"/>
                              </a:solidFill>
                              <a:latin typeface="DejaVu Math TeX Gyre" panose="02000503000000000000" charset="0"/>
                              <a:cs typeface="DejaVu Math TeX Gyre" panose="02000503000000000000" charset="0"/>
                            </a:rPr>
                            <m:t>𝑑𝑜</m:t>
                          </m:r>
                        </m:sub>
                        <m:sup>
                          <m:r>
                            <a:rPr lang="en-US" i="1">
                              <a:solidFill>
                                <a:srgbClr val="2A272B"/>
                              </a:solidFill>
                              <a:latin typeface="DejaVu Math TeX Gyre" panose="02000503000000000000" charset="0"/>
                              <a:cs typeface="DejaVu Math TeX Gyre" panose="02000503000000000000" charset="0"/>
                            </a:rPr>
                            <m:t>𝜔</m:t>
                          </m:r>
                        </m:sup>
                      </m:sSubSup>
                      <m:sSub>
                        <m:sSubPr>
                          <m:ctrlPr>
                            <a:rPr lang="en-US" b="0" i="1">
                              <a:solidFill>
                                <a:srgbClr val="2A272B"/>
                              </a:solidFill>
                              <a:latin typeface="DejaVu Math TeX Gyre" panose="02000503000000000000" charset="0"/>
                              <a:cs typeface="DejaVu Math TeX Gyre" panose="02000503000000000000" charset="0"/>
                            </a:rPr>
                          </m:ctrlPr>
                        </m:sSubPr>
                        <m:e>
                          <m:r>
                            <a:rPr lang="en-US" b="0" i="1">
                              <a:solidFill>
                                <a:srgbClr val="2A272B"/>
                              </a:solidFill>
                              <a:latin typeface="DejaVu Math TeX Gyre" panose="02000503000000000000" charset="0"/>
                              <a:cs typeface="DejaVu Math TeX Gyre" panose="02000503000000000000" charset="0"/>
                            </a:rPr>
                            <m:t>𝑠</m:t>
                          </m:r>
                        </m:e>
                        <m:sub>
                          <m:r>
                            <a:rPr lang="en-US" b="0" i="1">
                              <a:solidFill>
                                <a:srgbClr val="2A272B"/>
                              </a:solidFill>
                              <a:latin typeface="DejaVu Math TeX Gyre" panose="02000503000000000000" charset="0"/>
                              <a:cs typeface="DejaVu Math TeX Gyre" panose="02000503000000000000" charset="0"/>
                            </a:rPr>
                            <m:t>𝑖𝑑</m:t>
                          </m:r>
                        </m:sub>
                      </m:sSub>
                      <m:sSub>
                        <m:sSubPr>
                          <m:ctrlPr>
                            <a:rPr lang="en-US" b="0" i="1">
                              <a:solidFill>
                                <a:srgbClr val="2A272B"/>
                              </a:solidFill>
                              <a:latin typeface="DejaVu Math TeX Gyre" panose="02000503000000000000" charset="0"/>
                              <a:cs typeface="DejaVu Math TeX Gyre" panose="02000503000000000000" charset="0"/>
                            </a:rPr>
                          </m:ctrlPr>
                        </m:sSubPr>
                        <m:e>
                          <m:r>
                            <a:rPr lang="en-US" b="0" i="1">
                              <a:solidFill>
                                <a:srgbClr val="2A272B"/>
                              </a:solidFill>
                              <a:latin typeface="DejaVu Math TeX Gyre" panose="02000503000000000000" charset="0"/>
                              <a:cs typeface="DejaVu Math TeX Gyre" panose="02000503000000000000" charset="0"/>
                            </a:rPr>
                            <m:t>𝑞</m:t>
                          </m:r>
                        </m:e>
                        <m:sub>
                          <m:r>
                            <a:rPr lang="en-US" b="0" i="1">
                              <a:solidFill>
                                <a:srgbClr val="2A272B"/>
                              </a:solidFill>
                              <a:latin typeface="DejaVu Math TeX Gyre" panose="02000503000000000000" charset="0"/>
                              <a:cs typeface="DejaVu Math TeX Gyre" panose="02000503000000000000" charset="0"/>
                            </a:rPr>
                            <m:t>𝑜</m:t>
                          </m:r>
                        </m:sub>
                      </m:sSub>
                      <m:r>
                        <a:rPr lang="en-US" i="1">
                          <a:solidFill>
                            <a:srgbClr val="2A272B"/>
                          </a:solidFill>
                          <a:latin typeface="DejaVu Math TeX Gyre" panose="02000503000000000000" charset="0"/>
                          <a:cs typeface="DejaVu Math TeX Gyre" panose="02000503000000000000" charset="0"/>
                        </a:rPr>
                        <m:t>≡</m:t>
                      </m:r>
                      <m:sSub>
                        <m:sSubPr>
                          <m:ctrlPr>
                            <a:rPr lang="en-US" i="1">
                              <a:solidFill>
                                <a:srgbClr val="2A272B"/>
                              </a:solidFill>
                              <a:latin typeface="DejaVu Math TeX Gyre" panose="02000503000000000000" charset="0"/>
                              <a:cs typeface="DejaVu Math TeX Gyre" panose="02000503000000000000" charset="0"/>
                            </a:rPr>
                          </m:ctrlPr>
                        </m:sSubPr>
                        <m:e>
                          <m:acc>
                            <m:accPr>
                              <m:chr m:val="̅"/>
                              <m:ctrlPr>
                                <a:rPr lang="en-US" i="1">
                                  <a:solidFill>
                                    <a:srgbClr val="2A272B"/>
                                  </a:solidFill>
                                  <a:latin typeface="DejaVu Math TeX Gyre" panose="02000503000000000000" charset="0"/>
                                  <a:cs typeface="DejaVu Math TeX Gyre" panose="02000503000000000000" charset="0"/>
                                </a:rPr>
                              </m:ctrlPr>
                            </m:accPr>
                            <m:e>
                              <m:r>
                                <a:rPr lang="en-US" i="1">
                                  <a:solidFill>
                                    <a:srgbClr val="2A272B"/>
                                  </a:solidFill>
                                  <a:latin typeface="DejaVu Math TeX Gyre" panose="02000503000000000000" charset="0"/>
                                  <a:cs typeface="DejaVu Math TeX Gyre" panose="02000503000000000000" charset="0"/>
                                </a:rPr>
                                <m:t>𝜔</m:t>
                              </m:r>
                            </m:e>
                          </m:acc>
                        </m:e>
                        <m:sub>
                          <m:r>
                            <a:rPr lang="en-US" i="1">
                              <a:solidFill>
                                <a:srgbClr val="2A272B"/>
                              </a:solidFill>
                              <a:latin typeface="DejaVu Math TeX Gyre" panose="02000503000000000000" charset="0"/>
                              <a:cs typeface="DejaVu Math TeX Gyre" panose="02000503000000000000" charset="0"/>
                            </a:rPr>
                            <m:t>𝑑𝑜</m:t>
                          </m:r>
                        </m:sub>
                      </m:sSub>
                      <m:sSub>
                        <m:sSubPr>
                          <m:ctrlPr>
                            <a:rPr lang="en-US" b="0" i="1">
                              <a:solidFill>
                                <a:srgbClr val="2A272B"/>
                              </a:solidFill>
                              <a:latin typeface="DejaVu Math TeX Gyre" panose="02000503000000000000" charset="0"/>
                              <a:cs typeface="DejaVu Math TeX Gyre" panose="02000503000000000000" charset="0"/>
                            </a:rPr>
                          </m:ctrlPr>
                        </m:sSubPr>
                        <m:e>
                          <m:r>
                            <a:rPr lang="en-US" b="0" i="1">
                              <a:solidFill>
                                <a:srgbClr val="2A272B"/>
                              </a:solidFill>
                              <a:latin typeface="DejaVu Math TeX Gyre" panose="02000503000000000000" charset="0"/>
                              <a:cs typeface="DejaVu Math TeX Gyre" panose="02000503000000000000" charset="0"/>
                            </a:rPr>
                            <m:t>𝑠</m:t>
                          </m:r>
                        </m:e>
                        <m:sub>
                          <m:r>
                            <a:rPr lang="en-US" b="0" i="1">
                              <a:solidFill>
                                <a:srgbClr val="2A272B"/>
                              </a:solidFill>
                              <a:latin typeface="DejaVu Math TeX Gyre" panose="02000503000000000000" charset="0"/>
                              <a:cs typeface="DejaVu Math TeX Gyre" panose="02000503000000000000" charset="0"/>
                            </a:rPr>
                            <m:t>𝑖𝑑</m:t>
                          </m:r>
                        </m:sub>
                      </m:sSub>
                    </m:oMath>
                  </m:oMathPara>
                </a14:m>
                <a:endParaRPr lang="en-US" b="0" i="1">
                  <a:solidFill>
                    <a:srgbClr val="2A272B"/>
                  </a:solidFill>
                  <a:latin typeface="DejaVu Math TeX Gyre" panose="02000503000000000000" charset="0"/>
                  <a:cs typeface="DejaVu Math TeX Gyre" panose="02000503000000000000" charset="0"/>
                </a:endParaRPr>
              </a:p>
            </p:txBody>
          </p:sp>
        </mc:Choice>
        <mc:Fallback>
          <p:sp>
            <p:nvSpPr>
              <p:cNvPr id="3" name="TextBox 28"/>
              <p:cNvSpPr txBox="1">
                <a:spLocks noRot="1" noChangeAspect="1" noMove="1" noResize="1" noEditPoints="1" noAdjustHandles="1" noChangeArrowheads="1" noChangeShapeType="1" noTextEdit="1"/>
              </p:cNvSpPr>
              <p:nvPr/>
            </p:nvSpPr>
            <p:spPr>
              <a:xfrm>
                <a:off x="983615" y="3326130"/>
                <a:ext cx="12044680" cy="571500"/>
              </a:xfrm>
              <a:prstGeom prst="rect">
                <a:avLst/>
              </a:prstGeom>
              <a:blipFill rotWithShape="1">
                <a:blip r:embed="rId6"/>
                <a:stretch>
                  <a:fillRect/>
                </a:stretch>
              </a:blipFill>
            </p:spPr>
            <p:txBody>
              <a:bodyPr/>
              <a:lstStyle/>
              <a:p>
                <a:r>
                  <a:rPr lang="zh-CN" altLang="en-US">
                    <a:noFill/>
                  </a:rPr>
                  <a:t> </a:t>
                </a:r>
              </a:p>
            </p:txBody>
          </p:sp>
        </mc:Fallback>
      </mc:AlternateContent>
      <p:cxnSp>
        <p:nvCxnSpPr>
          <p:cNvPr id="4" name="直接连接符 3"/>
          <p:cNvCxnSpPr/>
          <p:nvPr/>
        </p:nvCxnSpPr>
        <p:spPr>
          <a:xfrm>
            <a:off x="5056505" y="3683000"/>
            <a:ext cx="755015" cy="0"/>
          </a:xfrm>
          <a:prstGeom prst="line">
            <a:avLst/>
          </a:prstGeom>
          <a:ln w="38100">
            <a:solidFill>
              <a:srgbClr val="780F4B"/>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nvCxnSpPr>
        <p:spPr>
          <a:xfrm>
            <a:off x="5920105" y="3686175"/>
            <a:ext cx="1111250" cy="0"/>
          </a:xfrm>
          <a:prstGeom prst="line">
            <a:avLst/>
          </a:prstGeom>
          <a:ln w="38100">
            <a:solidFill>
              <a:srgbClr val="780F4B"/>
            </a:solidFill>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H="1">
            <a:off x="3970655" y="3686810"/>
            <a:ext cx="1511300" cy="494665"/>
          </a:xfrm>
          <a:prstGeom prst="straightConnector1">
            <a:avLst/>
          </a:prstGeom>
          <a:ln w="38100">
            <a:solidFill>
              <a:srgbClr val="780F4B"/>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a:off x="6508115" y="3677285"/>
            <a:ext cx="0" cy="466090"/>
          </a:xfrm>
          <a:prstGeom prst="straightConnector1">
            <a:avLst/>
          </a:prstGeom>
          <a:ln w="38100">
            <a:solidFill>
              <a:srgbClr val="780F4B"/>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个人端③：怎样从个人选择得到迁移份额？</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7" name="组合 46"/>
          <p:cNvGrpSpPr/>
          <p:nvPr/>
        </p:nvGrpSpPr>
        <p:grpSpPr>
          <a:xfrm>
            <a:off x="2121535" y="1060450"/>
            <a:ext cx="9217025" cy="5660390"/>
            <a:chOff x="3341" y="1670"/>
            <a:chExt cx="14515" cy="891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 (4) 是区位分选方程：对来自同一出生地的人，计算各目的地相对吸引力。</a:t>
              </a:r>
              <a:endParaRPr sz="1400" b="1">
                <a:solidFill>
                  <a:srgbClr val="69086F"/>
                </a:solidFill>
                <a:latin typeface="微软雅黑"/>
              </a:endParaRPr>
            </a:p>
          </p:txBody>
        </p:sp>
        <p:sp>
          <p:nvSpPr>
            <p:cNvPr id="21" name="TextBox 20"/>
            <p:cNvSpPr txBox="1"/>
            <p:nvPr/>
          </p:nvSpPr>
          <p:spPr>
            <a:xfrm>
              <a:off x="3355" y="10325"/>
              <a:ext cx="14400" cy="259"/>
            </a:xfrm>
            <a:prstGeom prst="rect">
              <a:avLst/>
            </a:prstGeom>
            <a:noFill/>
          </p:spPr>
          <p:txBody>
            <a:bodyPr wrap="square" lIns="18288" tIns="18288" rIns="18288">
              <a:spAutoFit/>
            </a:bodyPr>
            <a:lstStyle/>
            <a:p>
              <a:pPr algn="l">
                <a:spcAft>
                  <a:spcPts val="300"/>
                </a:spcAft>
              </a:pPr>
              <a:r>
                <a:rPr sz="900" b="0">
                  <a:solidFill>
                    <a:srgbClr val="5E5962"/>
                  </a:solidFill>
                  <a:latin typeface="微软雅黑"/>
                </a:rPr>
                <a:t>Source: Bryan &amp; Morten (2019), Section III, pp. 2244–2249.  符号按汇报约定：πₒd、α_d、τₒd、θ̃、ρ、θ。</a:t>
              </a:r>
              <a:endParaRPr sz="900" b="0">
                <a:solidFill>
                  <a:srgbClr val="5E5962"/>
                </a:solidFill>
                <a:latin typeface="微软雅黑"/>
              </a:endParaRPr>
            </a:p>
          </p:txBody>
        </p:sp>
        <p:sp>
          <p:nvSpPr>
            <p:cNvPr id="22" name="Rectangle 21"/>
            <p:cNvSpPr/>
            <p:nvPr/>
          </p:nvSpPr>
          <p:spPr>
            <a:xfrm>
              <a:off x="3341" y="2304"/>
              <a:ext cx="6883" cy="1728"/>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1728"/>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77"/>
              <a:ext cx="6451" cy="487"/>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目的地吸引力</a:t>
              </a:r>
              <a:endParaRPr sz="1600" b="1">
                <a:solidFill>
                  <a:srgbClr val="69086F"/>
                </a:solidFill>
                <a:latin typeface="微软雅黑"/>
              </a:endParaRPr>
            </a:p>
          </p:txBody>
        </p:sp>
        <p:sp>
          <p:nvSpPr>
            <p:cNvPr id="25" name="TextBox 24"/>
            <p:cNvSpPr txBox="1"/>
            <p:nvPr/>
          </p:nvSpPr>
          <p:spPr>
            <a:xfrm>
              <a:off x="3586" y="3038"/>
              <a:ext cx="6422" cy="730"/>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把工资、宜居性、出生地特定冲击和迁移成本合成一个指标</a:t>
              </a:r>
              <a:endParaRPr sz="1300" b="0">
                <a:solidFill>
                  <a:srgbClr val="2A272B"/>
                </a:solidFill>
                <a:latin typeface="微软雅黑"/>
              </a:endParaRPr>
            </a:p>
          </p:txBody>
        </p:sp>
        <p:sp>
          <p:nvSpPr>
            <p:cNvPr id="26" name="Rectangle 25"/>
            <p:cNvSpPr/>
            <p:nvPr/>
          </p:nvSpPr>
          <p:spPr>
            <a:xfrm>
              <a:off x="10440" y="2304"/>
              <a:ext cx="7416" cy="1728"/>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41" y="4306"/>
              <a:ext cx="14515" cy="158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41" y="4306"/>
              <a:ext cx="79" cy="1584"/>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29" y="4752"/>
              <a:ext cx="3096" cy="403"/>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迁移份额 Eq. (4)</a:t>
              </a:r>
              <a:endParaRPr sz="1600" b="1">
                <a:solidFill>
                  <a:srgbClr val="69086F"/>
                </a:solidFill>
                <a:latin typeface="微软雅黑"/>
              </a:endParaRPr>
            </a:p>
          </p:txBody>
        </p:sp>
        <p:sp>
          <p:nvSpPr>
            <p:cNvPr id="33" name="Rectangle 32"/>
            <p:cNvSpPr/>
            <p:nvPr/>
          </p:nvSpPr>
          <p:spPr>
            <a:xfrm>
              <a:off x="3341" y="6134"/>
              <a:ext cx="4651" cy="2707"/>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41" y="6134"/>
              <a:ext cx="79" cy="2707"/>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86" y="6307"/>
              <a:ext cx="4219" cy="487"/>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分子</a:t>
              </a:r>
              <a:r>
                <a:rPr lang="zh-CN" sz="1600" b="1">
                  <a:solidFill>
                    <a:srgbClr val="69086F"/>
                  </a:solidFill>
                  <a:latin typeface="微软雅黑"/>
                </a:rPr>
                <a:t>：</a:t>
              </a:r>
              <a:endParaRPr lang="zh-CN"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36" name="TextBox 35"/>
                <p:cNvSpPr txBox="1"/>
                <p:nvPr/>
              </p:nvSpPr>
              <p:spPr>
                <a:xfrm>
                  <a:off x="3586" y="6869"/>
                  <a:ext cx="4190" cy="1392"/>
                </a:xfrm>
                <a:prstGeom prst="rect">
                  <a:avLst/>
                </a:prstGeom>
                <a:noFill/>
              </p:spPr>
              <p:txBody>
                <a:bodyPr wrap="square" lIns="18288" tIns="18288" rIns="18288">
                  <a:spAutoFit/>
                </a:bodyPr>
                <a:lstStyle/>
                <a:p>
                  <a:pPr algn="l">
                    <a:spcAft>
                      <a:spcPts val="300"/>
                    </a:spcAft>
                  </a:pPr>
                  <a:r>
                    <a:rPr sz="1270" b="0">
                      <a:solidFill>
                        <a:srgbClr val="2A272B"/>
                      </a:solidFill>
                      <a:latin typeface="微软雅黑"/>
                    </a:rPr>
                    <a:t>目的地 d 对来自 o 的人的吸引力；工资或宜居性更好、迁移成本更低，分子更大</a:t>
                  </a:r>
                  <a:endParaRPr sz="1270" b="0">
                    <a:solidFill>
                      <a:srgbClr val="2A272B"/>
                    </a:solidFill>
                    <a:latin typeface="微软雅黑"/>
                  </a:endParaRPr>
                </a:p>
                <a:p>
                  <a:pPr algn="l">
                    <a:spcAft>
                      <a:spcPts val="300"/>
                    </a:spcAft>
                  </a:pPr>
                  <a14:m>
                    <m:oMathPara xmlns:m="http://schemas.openxmlformats.org/officeDocument/2006/math">
                      <m:oMathParaPr>
                        <m:jc m:val="left"/>
                      </m:oMathParaPr>
                      <m:oMath xmlns:m="http://schemas.openxmlformats.org/officeDocument/2006/math">
                        <m:r>
                          <a:rPr lang="en-US" sz="1270" i="1">
                            <a:solidFill>
                              <a:srgbClr val="2A272B"/>
                            </a:solidFill>
                            <a:latin typeface="DejaVu Math TeX Gyre" panose="02000503000000000000" charset="0"/>
                            <a:cs typeface="DejaVu Math TeX Gyre" panose="02000503000000000000" charset="0"/>
                          </a:rPr>
                          <m:t>𝜃</m:t>
                        </m:r>
                        <m:r>
                          <a:rPr lang="zh-CN" altLang="en-US" sz="1270" i="1">
                            <a:solidFill>
                              <a:srgbClr val="2A272B"/>
                            </a:solidFill>
                            <a:latin typeface="DejaVu Math TeX Gyre" panose="02000503000000000000" charset="0"/>
                            <a:ea typeface="宋体" charset="0"/>
                            <a:cs typeface="DejaVu Math TeX Gyre" panose="02000503000000000000" charset="0"/>
                          </a:rPr>
                          <m:t>是因为</m:t>
                        </m:r>
                        <m:r>
                          <a:rPr lang="zh-CN" altLang="en-US" sz="1270" i="1">
                            <a:solidFill>
                              <a:srgbClr val="2A272B"/>
                            </a:solidFill>
                            <a:latin typeface="DejaVu Math TeX Gyre" panose="02000503000000000000" charset="0"/>
                            <a:ea typeface="宋体" charset="0"/>
                            <a:cs typeface="DejaVu Math TeX Gyre" panose="02000503000000000000" charset="0"/>
                          </a:rPr>
                          <m:t>技能服从</m:t>
                        </m:r>
                        <m:r>
                          <m:rPr>
                            <m:sty m:val="p"/>
                          </m:rPr>
                          <a:rPr lang="en-US" altLang="zh-CN" sz="1270" i="1">
                            <a:solidFill>
                              <a:srgbClr val="2A272B"/>
                            </a:solidFill>
                            <a:latin typeface="DejaVu Math TeX Gyre" panose="02000503000000000000" charset="0"/>
                            <a:ea typeface="宋体" charset="0"/>
                            <a:cs typeface="DejaVu Math TeX Gyre" panose="02000503000000000000" charset="0"/>
                          </a:rPr>
                          <m:t>Fr</m:t>
                        </m:r>
                        <m:r>
                          <a:rPr lang="en-US" altLang="en-US" sz="1270" i="1">
                            <a:solidFill>
                              <a:srgbClr val="2A272B"/>
                            </a:solidFill>
                            <a:latin typeface="DejaVu Math TeX Gyre" panose="02000503000000000000" charset="0"/>
                            <a:ea typeface="宋体" charset="0"/>
                            <a:cs typeface="DejaVu Math TeX Gyre" panose="02000503000000000000" charset="0"/>
                          </a:rPr>
                          <m:t>é</m:t>
                        </m:r>
                        <m:r>
                          <m:rPr>
                            <m:sty m:val="p"/>
                          </m:rPr>
                          <a:rPr lang="en-US" altLang="zh-CN" sz="1270" i="1">
                            <a:solidFill>
                              <a:srgbClr val="2A272B"/>
                            </a:solidFill>
                            <a:latin typeface="DejaVu Math TeX Gyre" panose="02000503000000000000" charset="0"/>
                            <a:ea typeface="宋体" charset="0"/>
                            <a:cs typeface="DejaVu Math TeX Gyre" panose="02000503000000000000" charset="0"/>
                          </a:rPr>
                          <m:t>chet</m:t>
                        </m:r>
                        <m:r>
                          <a:rPr lang="zh-CN" altLang="en-US" sz="1270" i="1">
                            <a:solidFill>
                              <a:srgbClr val="2A272B"/>
                            </a:solidFill>
                            <a:latin typeface="DejaVu Math TeX Gyre" panose="02000503000000000000" charset="0"/>
                            <a:ea typeface="宋体" charset="0"/>
                            <a:cs typeface="DejaVu Math TeX Gyre" panose="02000503000000000000" charset="0"/>
                          </a:rPr>
                          <m:t>分布</m:t>
                        </m:r>
                      </m:oMath>
                    </m:oMathPara>
                  </a14:m>
                  <a:endParaRPr lang="zh-CN" altLang="en-US" sz="1270" i="1">
                    <a:solidFill>
                      <a:srgbClr val="2A272B"/>
                    </a:solidFill>
                    <a:latin typeface="DejaVu Math TeX Gyre" panose="02000503000000000000" charset="0"/>
                    <a:ea typeface="宋体" charset="0"/>
                    <a:cs typeface="DejaVu Math TeX Gyre" panose="02000503000000000000" charset="0"/>
                  </a:endParaRPr>
                </a:p>
              </p:txBody>
            </p:sp>
          </mc:Choice>
          <mc:Fallback>
            <p:sp>
              <p:nvSpPr>
                <p:cNvPr id="36" name="TextBox 35"/>
                <p:cNvSpPr txBox="1">
                  <a:spLocks noRot="1" noChangeAspect="1" noMove="1" noResize="1" noEditPoints="1" noAdjustHandles="1" noChangeArrowheads="1" noChangeShapeType="1" noTextEdit="1"/>
                </p:cNvSpPr>
                <p:nvPr/>
              </p:nvSpPr>
              <p:spPr>
                <a:xfrm>
                  <a:off x="3586" y="6869"/>
                  <a:ext cx="4190" cy="1392"/>
                </a:xfrm>
                <a:prstGeom prst="rect">
                  <a:avLst/>
                </a:prstGeom>
                <a:blipFill rotWithShape="1">
                  <a:blip r:embed="rId1"/>
                </a:blipFill>
              </p:spPr>
              <p:txBody>
                <a:bodyPr/>
                <a:lstStyle/>
                <a:p>
                  <a:r>
                    <a:rPr lang="zh-CN" altLang="en-US">
                      <a:noFill/>
                    </a:rPr>
                    <a:t> </a:t>
                  </a:r>
                </a:p>
              </p:txBody>
            </p:sp>
          </mc:Fallback>
        </mc:AlternateContent>
        <p:sp>
          <p:nvSpPr>
            <p:cNvPr id="37" name="Rectangle 36"/>
            <p:cNvSpPr/>
            <p:nvPr/>
          </p:nvSpPr>
          <p:spPr>
            <a:xfrm>
              <a:off x="8194" y="6134"/>
              <a:ext cx="4637" cy="2707"/>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94" y="6134"/>
              <a:ext cx="79" cy="2707"/>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38" y="6307"/>
              <a:ext cx="4205" cy="487"/>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分母</a:t>
              </a:r>
              <a:r>
                <a:rPr lang="zh-CN" sz="1600" b="1">
                  <a:solidFill>
                    <a:srgbClr val="69086F"/>
                  </a:solidFill>
                  <a:latin typeface="微软雅黑"/>
                </a:rPr>
                <a:t>：</a:t>
              </a:r>
              <a:endParaRPr lang="zh-CN" sz="1600" b="1">
                <a:solidFill>
                  <a:srgbClr val="69086F"/>
                </a:solidFill>
                <a:latin typeface="微软雅黑"/>
              </a:endParaRPr>
            </a:p>
          </p:txBody>
        </p:sp>
        <p:sp>
          <p:nvSpPr>
            <p:cNvPr id="40" name="TextBox 39"/>
            <p:cNvSpPr txBox="1"/>
            <p:nvPr/>
          </p:nvSpPr>
          <p:spPr>
            <a:xfrm>
              <a:off x="8438" y="6869"/>
              <a:ext cx="4176" cy="713"/>
            </a:xfrm>
            <a:prstGeom prst="rect">
              <a:avLst/>
            </a:prstGeom>
            <a:noFill/>
          </p:spPr>
          <p:txBody>
            <a:bodyPr wrap="square" lIns="18288" tIns="18288" rIns="18288">
              <a:spAutoFit/>
            </a:bodyPr>
            <a:lstStyle/>
            <a:p>
              <a:pPr algn="l">
                <a:spcAft>
                  <a:spcPts val="300"/>
                </a:spcAft>
              </a:pPr>
              <a:r>
                <a:rPr sz="1270" b="0">
                  <a:solidFill>
                    <a:srgbClr val="2A272B"/>
                  </a:solidFill>
                  <a:latin typeface="微软雅黑"/>
                </a:rPr>
                <a:t>出生地 o 的劳动者面对所有目的地的总吸引力</a:t>
              </a:r>
              <a:endParaRPr sz="1270" b="0">
                <a:solidFill>
                  <a:srgbClr val="2A272B"/>
                </a:solidFill>
                <a:latin typeface="微软雅黑"/>
              </a:endParaRPr>
            </a:p>
          </p:txBody>
        </p:sp>
        <p:sp>
          <p:nvSpPr>
            <p:cNvPr id="41" name="Rectangle 40"/>
            <p:cNvSpPr/>
            <p:nvPr/>
          </p:nvSpPr>
          <p:spPr>
            <a:xfrm>
              <a:off x="13032" y="6134"/>
              <a:ext cx="4824" cy="2707"/>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3032" y="6134"/>
              <a:ext cx="79" cy="2707"/>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43" name="TextBox 42"/>
                <p:cNvSpPr txBox="1"/>
                <p:nvPr/>
              </p:nvSpPr>
              <p:spPr>
                <a:xfrm>
                  <a:off x="13277" y="6307"/>
                  <a:ext cx="4392" cy="488"/>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为什么</a:t>
                  </a:r>
                  <a14:m>
                    <m:oMath xmlns:m="http://schemas.openxmlformats.org/officeDocument/2006/math">
                      <m:sSub>
                        <m:sSubPr>
                          <m:ctrlPr>
                            <a:rPr lang="en-US" sz="1600" b="1" i="1">
                              <a:solidFill>
                                <a:srgbClr val="69086F"/>
                              </a:solidFill>
                              <a:latin typeface="DejaVu Math TeX Gyre" panose="02000503000000000000" charset="0"/>
                              <a:cs typeface="DejaVu Math TeX Gyre" panose="02000503000000000000" charset="0"/>
                            </a:rPr>
                          </m:ctrlPr>
                        </m:sSubPr>
                        <m:e>
                          <m:r>
                            <a:rPr lang="en-US" sz="1600" b="1" i="1">
                              <a:solidFill>
                                <a:srgbClr val="69086F"/>
                              </a:solidFill>
                              <a:latin typeface="DejaVu Math TeX Gyre" panose="02000503000000000000" charset="0"/>
                              <a:cs typeface="DejaVu Math TeX Gyre" panose="02000503000000000000" charset="0"/>
                            </a:rPr>
                            <m:t>𝒒</m:t>
                          </m:r>
                        </m:e>
                        <m:sub>
                          <m:r>
                            <a:rPr lang="en-US" sz="1600" b="1" i="1">
                              <a:solidFill>
                                <a:srgbClr val="69086F"/>
                              </a:solidFill>
                              <a:latin typeface="DejaVu Math TeX Gyre" panose="02000503000000000000" charset="0"/>
                              <a:cs typeface="DejaVu Math TeX Gyre" panose="02000503000000000000" charset="0"/>
                            </a:rPr>
                            <m:t>𝒐</m:t>
                          </m:r>
                        </m:sub>
                      </m:sSub>
                    </m:oMath>
                  </a14:m>
                  <a:r>
                    <a:rPr sz="1600" b="1">
                      <a:solidFill>
                        <a:srgbClr val="69086F"/>
                      </a:solidFill>
                      <a:latin typeface="微软雅黑"/>
                    </a:rPr>
                    <a:t>消失？</a:t>
                  </a:r>
                  <a:endParaRPr sz="1600" b="1">
                    <a:solidFill>
                      <a:srgbClr val="69086F"/>
                    </a:solidFill>
                    <a:latin typeface="微软雅黑"/>
                  </a:endParaRPr>
                </a:p>
              </p:txBody>
            </p:sp>
          </mc:Choice>
          <mc:Fallback>
            <p:sp>
              <p:nvSpPr>
                <p:cNvPr id="43" name="TextBox 42"/>
                <p:cNvSpPr txBox="1">
                  <a:spLocks noRot="1" noChangeAspect="1" noMove="1" noResize="1" noEditPoints="1" noAdjustHandles="1" noChangeArrowheads="1" noChangeShapeType="1" noTextEdit="1"/>
                </p:cNvSpPr>
                <p:nvPr/>
              </p:nvSpPr>
              <p:spPr>
                <a:xfrm>
                  <a:off x="13277" y="6307"/>
                  <a:ext cx="4392" cy="488"/>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TextBox 43"/>
                <p:cNvSpPr txBox="1"/>
                <p:nvPr/>
              </p:nvSpPr>
              <p:spPr>
                <a:xfrm>
                  <a:off x="13277" y="6869"/>
                  <a:ext cx="4363" cy="713"/>
                </a:xfrm>
                <a:prstGeom prst="rect">
                  <a:avLst/>
                </a:prstGeom>
                <a:noFill/>
              </p:spPr>
              <p:txBody>
                <a:bodyPr wrap="square" lIns="18288" tIns="18288" rIns="18288">
                  <a:spAutoFit/>
                </a:bodyPr>
                <a:lstStyle/>
                <a:p>
                  <a:pPr algn="l">
                    <a:spcAft>
                      <a:spcPts val="300"/>
                    </a:spcAft>
                  </a:pPr>
                  <a:r>
                    <a:rPr sz="1270" b="0">
                      <a:solidFill>
                        <a:srgbClr val="2A272B"/>
                      </a:solidFill>
                      <a:latin typeface="微软雅黑"/>
                    </a:rPr>
                    <a:t>同一出生地的</a:t>
                  </a:r>
                  <a14:m>
                    <m:oMath xmlns:m="http://schemas.openxmlformats.org/officeDocument/2006/math">
                      <m:sSub>
                        <m:sSubPr>
                          <m:ctrlPr>
                            <a:rPr lang="en-US" sz="1270" i="1">
                              <a:solidFill>
                                <a:schemeClr val="tx1"/>
                              </a:solidFill>
                              <a:latin typeface="DejaVu Math TeX Gyre" panose="02000503000000000000" charset="0"/>
                              <a:cs typeface="DejaVu Math TeX Gyre" panose="02000503000000000000" charset="0"/>
                            </a:rPr>
                          </m:ctrlPr>
                        </m:sSubPr>
                        <m:e>
                          <m:r>
                            <a:rPr lang="en-US" sz="1270" i="1">
                              <a:solidFill>
                                <a:schemeClr val="tx1"/>
                              </a:solidFill>
                              <a:latin typeface="DejaVu Math TeX Gyre" panose="02000503000000000000" charset="0"/>
                              <a:cs typeface="DejaVu Math TeX Gyre" panose="02000503000000000000" charset="0"/>
                            </a:rPr>
                            <m:t>𝑞</m:t>
                          </m:r>
                        </m:e>
                        <m:sub>
                          <m:r>
                            <a:rPr lang="en-US" sz="1270" i="1">
                              <a:solidFill>
                                <a:schemeClr val="tx1"/>
                              </a:solidFill>
                              <a:latin typeface="DejaVu Math TeX Gyre" panose="02000503000000000000" charset="0"/>
                              <a:cs typeface="DejaVu Math TeX Gyre" panose="02000503000000000000" charset="0"/>
                            </a:rPr>
                            <m:t>𝑜</m:t>
                          </m:r>
                        </m:sub>
                      </m:sSub>
                    </m:oMath>
                  </a14:m>
                  <a:r>
                    <a:rPr sz="1270" b="0">
                      <a:solidFill>
                        <a:srgbClr val="2A272B"/>
                      </a:solidFill>
                      <a:latin typeface="微软雅黑"/>
                    </a:rPr>
                    <a:t>在所有目的地效用里共同相乘，比较目的地时抵消</a:t>
                  </a:r>
                  <a:endParaRPr sz="1270" b="0">
                    <a:solidFill>
                      <a:srgbClr val="2A272B"/>
                    </a:solidFill>
                    <a:latin typeface="微软雅黑"/>
                  </a:endParaRPr>
                </a:p>
              </p:txBody>
            </p:sp>
          </mc:Choice>
          <mc:Fallback>
            <p:sp>
              <p:nvSpPr>
                <p:cNvPr id="44" name="TextBox 43"/>
                <p:cNvSpPr txBox="1">
                  <a:spLocks noRot="1" noChangeAspect="1" noMove="1" noResize="1" noEditPoints="1" noAdjustHandles="1" noChangeArrowheads="1" noChangeShapeType="1" noTextEdit="1"/>
                </p:cNvSpPr>
                <p:nvPr/>
              </p:nvSpPr>
              <p:spPr>
                <a:xfrm>
                  <a:off x="13277" y="6869"/>
                  <a:ext cx="4363" cy="713"/>
                </a:xfrm>
                <a:prstGeom prst="rect">
                  <a:avLst/>
                </a:prstGeom>
                <a:blipFill rotWithShape="1">
                  <a:blip r:embed="rId3"/>
                </a:blipFill>
              </p:spPr>
              <p:txBody>
                <a:bodyPr/>
                <a:lstStyle/>
                <a:p>
                  <a:r>
                    <a:rPr lang="zh-CN" altLang="en-US">
                      <a:noFill/>
                    </a:rPr>
                    <a:t> </a:t>
                  </a:r>
                </a:p>
              </p:txBody>
            </p:sp>
          </mc:Fallback>
        </mc:AlternateContent>
        <p:sp>
          <p:nvSpPr>
            <p:cNvPr id="45" name="Rectangle 44"/>
            <p:cNvSpPr/>
            <p:nvPr/>
          </p:nvSpPr>
          <p:spPr>
            <a:xfrm>
              <a:off x="3341" y="9461"/>
              <a:ext cx="14515" cy="677"/>
            </a:xfrm>
            <a:prstGeom prst="rect">
              <a:avLst/>
            </a:prstGeom>
            <a:solidFill>
              <a:srgbClr val="EA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86" y="9576"/>
              <a:ext cx="13968" cy="397"/>
            </a:xfrm>
            <a:prstGeom prst="rect">
              <a:avLst/>
            </a:prstGeom>
            <a:noFill/>
          </p:spPr>
          <p:txBody>
            <a:bodyPr wrap="square" lIns="18288" tIns="18288" rIns="18288">
              <a:spAutoFit/>
            </a:bodyPr>
            <a:lstStyle/>
            <a:p>
              <a:pPr algn="l">
                <a:spcAft>
                  <a:spcPts val="300"/>
                </a:spcAft>
              </a:pPr>
              <a:r>
                <a:rPr sz="1230" b="1">
                  <a:solidFill>
                    <a:srgbClr val="69086F"/>
                  </a:solidFill>
                  <a:latin typeface="微软雅黑"/>
                </a:rPr>
                <a:t>模型输出之一：每个出生地 o，有多少人最终去 d（包括留在出生地）</a:t>
              </a:r>
              <a:endParaRPr sz="1230" b="1">
                <a:solidFill>
                  <a:srgbClr val="69086F"/>
                </a:solidFill>
                <a:latin typeface="微软雅黑"/>
              </a:endParaRPr>
            </a:p>
          </p:txBody>
        </p:sp>
      </p:grpSp>
      <p:cxnSp>
        <p:nvCxnSpPr>
          <p:cNvPr id="3" name="直接箭头连接符 2"/>
          <p:cNvCxnSpPr/>
          <p:nvPr/>
        </p:nvCxnSpPr>
        <p:spPr>
          <a:xfrm>
            <a:off x="6355080" y="2026920"/>
            <a:ext cx="528320" cy="0"/>
          </a:xfrm>
          <a:prstGeom prst="straightConnector1">
            <a:avLst/>
          </a:prstGeom>
          <a:ln w="38100">
            <a:solidFill>
              <a:srgbClr val="642366"/>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48" name="文本框 47"/>
              <p:cNvSpPr txBox="1"/>
              <p:nvPr/>
            </p:nvSpPr>
            <p:spPr>
              <a:xfrm>
                <a:off x="7164959" y="1865884"/>
                <a:ext cx="4057650" cy="37528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acc>
                            <m:accPr>
                              <m:chr m:val="̃"/>
                              <m:ctrlPr>
                                <a:rPr lang="en-US" altLang="zh-CN" i="1">
                                  <a:latin typeface="DejaVu Math TeX Gyre" panose="02000503000000000000" charset="0"/>
                                  <a:cs typeface="DejaVu Math TeX Gyre" panose="02000503000000000000" charset="0"/>
                                </a:rPr>
                              </m:ctrlPr>
                            </m:accPr>
                            <m:e>
                              <m:r>
                                <a:rPr lang="en-US" altLang="zh-CN" i="1">
                                  <a:latin typeface="DejaVu Math TeX Gyre" panose="02000503000000000000" charset="0"/>
                                  <a:cs typeface="DejaVu Math TeX Gyre" panose="02000503000000000000" charset="0"/>
                                </a:rPr>
                                <m:t>𝜔</m:t>
                              </m:r>
                            </m:e>
                          </m:acc>
                        </m:e>
                        <m:sub>
                          <m:r>
                            <a:rPr lang="en-US" altLang="zh-CN" i="1">
                              <a:latin typeface="DejaVu Math TeX Gyre" panose="02000503000000000000" charset="0"/>
                              <a:cs typeface="DejaVu Math TeX Gyre" panose="02000503000000000000" charset="0"/>
                            </a:rPr>
                            <m:t>𝑑𝑜</m:t>
                          </m:r>
                        </m:sub>
                      </m:sSub>
                      <m:r>
                        <a:rPr lang="en-US" altLang="zh-CN" i="1">
                          <a:latin typeface="DejaVu Math TeX Gyre" panose="02000503000000000000" charset="0"/>
                          <a:cs typeface="DejaVu Math TeX Gyre" panose="02000503000000000000" charset="0"/>
                        </a:rPr>
                        <m:t>=</m:t>
                      </m:r>
                      <m:sSub>
                        <m:sSubPr>
                          <m:ctrlPr>
                            <a:rPr lang="en-US" b="0" i="1">
                              <a:solidFill>
                                <a:srgbClr val="2A272B"/>
                              </a:solidFill>
                              <a:latin typeface="DejaVu Math TeX Gyre" panose="02000503000000000000" charset="0"/>
                              <a:cs typeface="DejaVu Math TeX Gyre" panose="02000503000000000000" charset="0"/>
                            </a:rPr>
                          </m:ctrlPr>
                        </m:sSubPr>
                        <m:e>
                          <m:r>
                            <a:rPr lang="en-US" i="1">
                              <a:solidFill>
                                <a:srgbClr val="2A272B"/>
                              </a:solidFill>
                              <a:latin typeface="DejaVu Math TeX Gyre" panose="02000503000000000000" charset="0"/>
                              <a:cs typeface="DejaVu Math TeX Gyre" panose="02000503000000000000" charset="0"/>
                            </a:rPr>
                            <m:t>𝛼</m:t>
                          </m:r>
                        </m:e>
                        <m:sub>
                          <m:r>
                            <a:rPr lang="en-US" b="0" i="1">
                              <a:solidFill>
                                <a:srgbClr val="2A272B"/>
                              </a:solidFill>
                              <a:latin typeface="DejaVu Math TeX Gyre" panose="02000503000000000000" charset="0"/>
                              <a:cs typeface="DejaVu Math TeX Gyre" panose="02000503000000000000" charset="0"/>
                            </a:rPr>
                            <m:t>𝑑</m:t>
                          </m:r>
                        </m:sub>
                      </m:sSub>
                      <m:sSub>
                        <m:sSubPr>
                          <m:ctrlPr>
                            <a:rPr lang="en-US" b="0" i="1">
                              <a:solidFill>
                                <a:srgbClr val="2A272B"/>
                              </a:solidFill>
                              <a:latin typeface="DejaVu Math TeX Gyre" panose="02000503000000000000" charset="0"/>
                              <a:cs typeface="DejaVu Math TeX Gyre" panose="02000503000000000000" charset="0"/>
                            </a:rPr>
                          </m:ctrlPr>
                        </m:sSubPr>
                        <m:e>
                          <m:sSubSup>
                            <m:sSubSupPr>
                              <m:ctrlPr>
                                <a:rPr lang="en-US" b="0" i="1">
                                  <a:solidFill>
                                    <a:srgbClr val="2A272B"/>
                                  </a:solidFill>
                                  <a:latin typeface="DejaVu Math TeX Gyre" panose="02000503000000000000" charset="0"/>
                                  <a:cs typeface="DejaVu Math TeX Gyre" panose="02000503000000000000" charset="0"/>
                                </a:rPr>
                              </m:ctrlPr>
                            </m:sSubSupPr>
                            <m:e>
                              <m:r>
                                <a:rPr lang="en-US" i="1">
                                  <a:solidFill>
                                    <a:srgbClr val="2A272B"/>
                                  </a:solidFill>
                                  <a:latin typeface="DejaVu Math TeX Gyre" panose="02000503000000000000" charset="0"/>
                                  <a:cs typeface="DejaVu Math TeX Gyre" panose="02000503000000000000" charset="0"/>
                                </a:rPr>
                                <m:t>𝜖</m:t>
                              </m:r>
                            </m:e>
                            <m:sub>
                              <m:r>
                                <a:rPr lang="en-US" b="0" i="1">
                                  <a:solidFill>
                                    <a:srgbClr val="2A272B"/>
                                  </a:solidFill>
                                  <a:latin typeface="DejaVu Math TeX Gyre" panose="02000503000000000000" charset="0"/>
                                  <a:cs typeface="DejaVu Math TeX Gyre" panose="02000503000000000000" charset="0"/>
                                </a:rPr>
                                <m:t>𝑑𝑜</m:t>
                              </m:r>
                            </m:sub>
                            <m:sup>
                              <m:r>
                                <a:rPr lang="en-US" i="1">
                                  <a:solidFill>
                                    <a:srgbClr val="2A272B"/>
                                  </a:solidFill>
                                  <a:latin typeface="DejaVu Math TeX Gyre" panose="02000503000000000000" charset="0"/>
                                  <a:cs typeface="DejaVu Math TeX Gyre" panose="02000503000000000000" charset="0"/>
                                </a:rPr>
                                <m:t>𝛼</m:t>
                              </m:r>
                            </m:sup>
                          </m:sSubSup>
                          <m:r>
                            <a:rPr lang="en-US" i="1">
                              <a:solidFill>
                                <a:srgbClr val="2A272B"/>
                              </a:solidFill>
                              <a:latin typeface="DejaVu Math TeX Gyre" panose="02000503000000000000" charset="0"/>
                              <a:cs typeface="DejaVu Math TeX Gyre" panose="02000503000000000000" charset="0"/>
                            </a:rPr>
                            <m:t>(</m:t>
                          </m:r>
                          <m:r>
                            <a:rPr lang="en-US" i="1">
                              <a:solidFill>
                                <a:srgbClr val="2A272B"/>
                              </a:solidFill>
                              <a:latin typeface="DejaVu Math TeX Gyre" panose="02000503000000000000" charset="0"/>
                              <a:cs typeface="DejaVu Math TeX Gyre" panose="02000503000000000000" charset="0"/>
                            </a:rPr>
                            <m:t>1</m:t>
                          </m:r>
                          <m:r>
                            <a:rPr lang="en-US" i="1">
                              <a:solidFill>
                                <a:srgbClr val="2A272B"/>
                              </a:solidFill>
                              <a:latin typeface="DejaVu Math TeX Gyre" panose="02000503000000000000" charset="0"/>
                              <a:cs typeface="DejaVu Math TeX Gyre" panose="02000503000000000000" charset="0"/>
                            </a:rPr>
                            <m:t>−</m:t>
                          </m:r>
                          <m:sSub>
                            <m:sSubPr>
                              <m:ctrlPr>
                                <a:rPr lang="en-US" i="1">
                                  <a:solidFill>
                                    <a:srgbClr val="2A272B"/>
                                  </a:solidFill>
                                  <a:latin typeface="DejaVu Math TeX Gyre" panose="02000503000000000000" charset="0"/>
                                  <a:cs typeface="DejaVu Math TeX Gyre" panose="02000503000000000000" charset="0"/>
                                </a:rPr>
                              </m:ctrlPr>
                            </m:sSubPr>
                            <m:e>
                              <m:r>
                                <a:rPr lang="en-US" i="1">
                                  <a:solidFill>
                                    <a:srgbClr val="2A272B"/>
                                  </a:solidFill>
                                  <a:latin typeface="DejaVu Math TeX Gyre" panose="02000503000000000000" charset="0"/>
                                  <a:cs typeface="DejaVu Math TeX Gyre" panose="02000503000000000000" charset="0"/>
                                </a:rPr>
                                <m:t>𝜏</m:t>
                              </m:r>
                            </m:e>
                            <m:sub>
                              <m:r>
                                <a:rPr lang="en-US" i="1">
                                  <a:solidFill>
                                    <a:srgbClr val="2A272B"/>
                                  </a:solidFill>
                                  <a:latin typeface="DejaVu Math TeX Gyre" panose="02000503000000000000" charset="0"/>
                                  <a:cs typeface="DejaVu Math TeX Gyre" panose="02000503000000000000" charset="0"/>
                                </a:rPr>
                                <m:t>𝑑𝑜</m:t>
                              </m:r>
                            </m:sub>
                          </m:sSub>
                          <m:r>
                            <a:rPr lang="en-US" i="1">
                              <a:solidFill>
                                <a:srgbClr val="2A272B"/>
                              </a:solidFill>
                              <a:latin typeface="DejaVu Math TeX Gyre" panose="02000503000000000000" charset="0"/>
                              <a:cs typeface="DejaVu Math TeX Gyre" panose="02000503000000000000" charset="0"/>
                            </a:rPr>
                            <m:t>)</m:t>
                          </m:r>
                          <m:r>
                            <a:rPr lang="en-US" i="1">
                              <a:solidFill>
                                <a:srgbClr val="2A272B"/>
                              </a:solidFill>
                              <a:latin typeface="DejaVu Math TeX Gyre" panose="02000503000000000000" charset="0"/>
                              <a:cs typeface="DejaVu Math TeX Gyre" panose="02000503000000000000" charset="0"/>
                            </a:rPr>
                            <m:t>𝜔</m:t>
                          </m:r>
                        </m:e>
                        <m:sub>
                          <m:r>
                            <a:rPr lang="en-US" b="0" i="1">
                              <a:solidFill>
                                <a:srgbClr val="2A272B"/>
                              </a:solidFill>
                              <a:latin typeface="DejaVu Math TeX Gyre" panose="02000503000000000000" charset="0"/>
                              <a:cs typeface="DejaVu Math TeX Gyre" panose="02000503000000000000" charset="0"/>
                            </a:rPr>
                            <m:t>𝑑</m:t>
                          </m:r>
                        </m:sub>
                      </m:sSub>
                      <m:sSubSup>
                        <m:sSubSupPr>
                          <m:ctrlPr>
                            <a:rPr lang="en-US" b="0" i="1">
                              <a:solidFill>
                                <a:srgbClr val="2A272B"/>
                              </a:solidFill>
                              <a:latin typeface="DejaVu Math TeX Gyre" panose="02000503000000000000" charset="0"/>
                              <a:cs typeface="DejaVu Math TeX Gyre" panose="02000503000000000000" charset="0"/>
                            </a:rPr>
                          </m:ctrlPr>
                        </m:sSubSupPr>
                        <m:e>
                          <m:r>
                            <a:rPr lang="en-US" i="1">
                              <a:solidFill>
                                <a:srgbClr val="2A272B"/>
                              </a:solidFill>
                              <a:latin typeface="DejaVu Math TeX Gyre" panose="02000503000000000000" charset="0"/>
                              <a:cs typeface="DejaVu Math TeX Gyre" panose="02000503000000000000" charset="0"/>
                            </a:rPr>
                            <m:t>𝜖</m:t>
                          </m:r>
                        </m:e>
                        <m:sub>
                          <m:r>
                            <a:rPr lang="en-US" b="0" i="1">
                              <a:solidFill>
                                <a:srgbClr val="2A272B"/>
                              </a:solidFill>
                              <a:latin typeface="DejaVu Math TeX Gyre" panose="02000503000000000000" charset="0"/>
                              <a:cs typeface="DejaVu Math TeX Gyre" panose="02000503000000000000" charset="0"/>
                            </a:rPr>
                            <m:t>𝑑𝑜</m:t>
                          </m:r>
                        </m:sub>
                        <m:sup>
                          <m:r>
                            <a:rPr lang="en-US" i="1">
                              <a:solidFill>
                                <a:srgbClr val="2A272B"/>
                              </a:solidFill>
                              <a:latin typeface="DejaVu Math TeX Gyre" panose="02000503000000000000" charset="0"/>
                              <a:cs typeface="DejaVu Math TeX Gyre" panose="02000503000000000000" charset="0"/>
                            </a:rPr>
                            <m:t>𝜔</m:t>
                          </m:r>
                        </m:sup>
                      </m:sSubSup>
                      <m:sSub>
                        <m:sSubPr>
                          <m:ctrlPr>
                            <a:rPr lang="en-US" b="0" i="1">
                              <a:solidFill>
                                <a:srgbClr val="2A272B"/>
                              </a:solidFill>
                              <a:latin typeface="DejaVu Math TeX Gyre" panose="02000503000000000000" charset="0"/>
                              <a:cs typeface="DejaVu Math TeX Gyre" panose="02000503000000000000" charset="0"/>
                            </a:rPr>
                          </m:ctrlPr>
                        </m:sSubPr>
                        <m:e>
                          <m:r>
                            <a:rPr lang="en-US" b="0" i="1">
                              <a:solidFill>
                                <a:srgbClr val="2A272B"/>
                              </a:solidFill>
                              <a:latin typeface="DejaVu Math TeX Gyre" panose="02000503000000000000" charset="0"/>
                              <a:cs typeface="DejaVu Math TeX Gyre" panose="02000503000000000000" charset="0"/>
                            </a:rPr>
                            <m:t>𝑠</m:t>
                          </m:r>
                        </m:e>
                        <m:sub>
                          <m:r>
                            <a:rPr lang="en-US" b="0" i="1">
                              <a:solidFill>
                                <a:srgbClr val="2A272B"/>
                              </a:solidFill>
                              <a:latin typeface="DejaVu Math TeX Gyre" panose="02000503000000000000" charset="0"/>
                              <a:cs typeface="DejaVu Math TeX Gyre" panose="02000503000000000000" charset="0"/>
                            </a:rPr>
                            <m:t>𝑖𝑑</m:t>
                          </m:r>
                        </m:sub>
                      </m:sSub>
                    </m:oMath>
                  </m:oMathPara>
                </a14:m>
                <a:endParaRPr lang="zh-CN" altLang="en-US"/>
              </a:p>
            </p:txBody>
          </p:sp>
        </mc:Choice>
        <mc:Fallback>
          <p:sp>
            <p:nvSpPr>
              <p:cNvPr id="48" name="文本框 47"/>
              <p:cNvSpPr txBox="1">
                <a:spLocks noRot="1" noChangeAspect="1" noMove="1" noResize="1" noEditPoints="1" noAdjustHandles="1" noChangeArrowheads="1" noChangeShapeType="1" noTextEdit="1"/>
              </p:cNvSpPr>
              <p:nvPr/>
            </p:nvSpPr>
            <p:spPr>
              <a:xfrm>
                <a:off x="7164959" y="1865884"/>
                <a:ext cx="4057650" cy="375285"/>
              </a:xfrm>
              <a:prstGeom prst="rect">
                <a:avLst/>
              </a:prstGeom>
              <a:blipFill rotWithShape="1">
                <a:blip r:embed="rId4"/>
                <a:stretch>
                  <a:fillRect l="-6" t="-68" r="6"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5437759" y="2725674"/>
                <a:ext cx="2125980" cy="98234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𝜋</m:t>
                          </m:r>
                        </m:e>
                        <m:sub>
                          <m:r>
                            <a:rPr lang="en-US" altLang="zh-CN" i="1">
                              <a:latin typeface="DejaVu Math TeX Gyre" panose="02000503000000000000" charset="0"/>
                              <a:cs typeface="DejaVu Math TeX Gyre" panose="02000503000000000000" charset="0"/>
                            </a:rPr>
                            <m:t>𝑑𝑜</m:t>
                          </m:r>
                        </m:sub>
                      </m:sSub>
                      <m:r>
                        <a:rPr lang="en-US" altLang="zh-CN" i="1">
                          <a:latin typeface="DejaVu Math TeX Gyre" panose="02000503000000000000" charset="0"/>
                          <a:cs typeface="DejaVu Math TeX Gyre" panose="02000503000000000000" charset="0"/>
                        </a:rPr>
                        <m:t>=</m:t>
                      </m:r>
                      <m:f>
                        <m:fPr>
                          <m:ctrlPr>
                            <a:rPr lang="en-US" altLang="zh-CN" i="1">
                              <a:latin typeface="DejaVu Math TeX Gyre" panose="02000503000000000000" charset="0"/>
                              <a:cs typeface="DejaVu Math TeX Gyre" panose="02000503000000000000" charset="0"/>
                            </a:rPr>
                          </m:ctrlPr>
                        </m:fPr>
                        <m:num>
                          <m:sSubSup>
                            <m:sSubSupPr>
                              <m:ctrlPr>
                                <a:rPr lang="en-US" altLang="zh-CN" i="1">
                                  <a:latin typeface="DejaVu Math TeX Gyre" panose="02000503000000000000" charset="0"/>
                                  <a:cs typeface="DejaVu Math TeX Gyre" panose="02000503000000000000" charset="0"/>
                                </a:rPr>
                              </m:ctrlPr>
                            </m:sSubSupPr>
                            <m:e>
                              <m:acc>
                                <m:accPr>
                                  <m:chr m:val="̃"/>
                                  <m:ctrlPr>
                                    <a:rPr lang="en-US" altLang="zh-CN" i="1">
                                      <a:latin typeface="DejaVu Math TeX Gyre" panose="02000503000000000000" charset="0"/>
                                      <a:cs typeface="DejaVu Math TeX Gyre" panose="02000503000000000000" charset="0"/>
                                    </a:rPr>
                                  </m:ctrlPr>
                                </m:accPr>
                                <m:e>
                                  <m:r>
                                    <a:rPr lang="en-US" altLang="zh-CN" i="1">
                                      <a:latin typeface="DejaVu Math TeX Gyre" panose="02000503000000000000" charset="0"/>
                                      <a:cs typeface="DejaVu Math TeX Gyre" panose="02000503000000000000" charset="0"/>
                                    </a:rPr>
                                    <m:t>𝜔</m:t>
                                  </m:r>
                                </m:e>
                              </m:acc>
                            </m:e>
                            <m:sub>
                              <m:r>
                                <a:rPr lang="en-US" altLang="zh-CN" i="1">
                                  <a:latin typeface="DejaVu Math TeX Gyre" panose="02000503000000000000" charset="0"/>
                                  <a:cs typeface="DejaVu Math TeX Gyre" panose="02000503000000000000" charset="0"/>
                                </a:rPr>
                                <m:t>𝑑𝑜</m:t>
                              </m:r>
                            </m:sub>
                            <m:sup>
                              <m:r>
                                <a:rPr lang="en-US" altLang="zh-CN" i="1">
                                  <a:latin typeface="DejaVu Math TeX Gyre" panose="02000503000000000000" charset="0"/>
                                  <a:cs typeface="DejaVu Math TeX Gyre" panose="02000503000000000000" charset="0"/>
                                </a:rPr>
                                <m:t>𝜃</m:t>
                              </m:r>
                            </m:sup>
                          </m:sSubSup>
                        </m:num>
                        <m:den>
                          <m:nary>
                            <m:naryPr>
                              <m:chr m:val="∑"/>
                              <m:limLoc m:val="subSup"/>
                              <m:ctrlPr>
                                <a:rPr lang="en-US" altLang="zh-CN" i="1">
                                  <a:latin typeface="DejaVu Math TeX Gyre" panose="02000503000000000000" charset="0"/>
                                  <a:cs typeface="DejaVu Math TeX Gyre" panose="02000503000000000000" charset="0"/>
                                </a:rPr>
                              </m:ctrlPr>
                            </m:naryPr>
                            <m:sub>
                              <m:r>
                                <a:rPr lang="en-US" altLang="zh-CN" i="1">
                                  <a:latin typeface="DejaVu Math TeX Gyre" panose="02000503000000000000" charset="0"/>
                                  <a:cs typeface="DejaVu Math TeX Gyre" panose="02000503000000000000" charset="0"/>
                                </a:rPr>
                                <m:t>𝑗</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sub>
                            <m:sup>
                              <m:r>
                                <a:rPr lang="en-US" altLang="zh-CN" i="1">
                                  <a:latin typeface="DejaVu Math TeX Gyre" panose="02000503000000000000" charset="0"/>
                                  <a:cs typeface="DejaVu Math TeX Gyre" panose="02000503000000000000" charset="0"/>
                                </a:rPr>
                                <m:t>𝑁</m:t>
                              </m:r>
                            </m:sup>
                            <m:e>
                              <m:sSubSup>
                                <m:sSubSupPr>
                                  <m:ctrlPr>
                                    <a:rPr lang="en-US" altLang="zh-CN" i="1">
                                      <a:latin typeface="DejaVu Math TeX Gyre" panose="02000503000000000000" charset="0"/>
                                      <a:cs typeface="DejaVu Math TeX Gyre" panose="02000503000000000000" charset="0"/>
                                    </a:rPr>
                                  </m:ctrlPr>
                                </m:sSubSupPr>
                                <m:e>
                                  <m:acc>
                                    <m:accPr>
                                      <m:chr m:val="̃"/>
                                      <m:ctrlPr>
                                        <a:rPr lang="en-US" altLang="zh-CN" i="1">
                                          <a:latin typeface="DejaVu Math TeX Gyre" panose="02000503000000000000" charset="0"/>
                                          <a:cs typeface="DejaVu Math TeX Gyre" panose="02000503000000000000" charset="0"/>
                                        </a:rPr>
                                      </m:ctrlPr>
                                    </m:accPr>
                                    <m:e>
                                      <m:r>
                                        <a:rPr lang="en-US" altLang="zh-CN" i="1">
                                          <a:latin typeface="DejaVu Math TeX Gyre" panose="02000503000000000000" charset="0"/>
                                          <a:cs typeface="DejaVu Math TeX Gyre" panose="02000503000000000000" charset="0"/>
                                        </a:rPr>
                                        <m:t>𝜔</m:t>
                                      </m:r>
                                    </m:e>
                                  </m:acc>
                                </m:e>
                                <m:sub>
                                  <m:r>
                                    <a:rPr lang="en-US" altLang="zh-CN" i="1">
                                      <a:latin typeface="DejaVu Math TeX Gyre" panose="02000503000000000000" charset="0"/>
                                      <a:cs typeface="DejaVu Math TeX Gyre" panose="02000503000000000000" charset="0"/>
                                    </a:rPr>
                                    <m:t>𝑗</m:t>
                                  </m:r>
                                  <m:r>
                                    <a:rPr lang="en-US" altLang="zh-CN" i="1">
                                      <a:latin typeface="DejaVu Math TeX Gyre" panose="02000503000000000000" charset="0"/>
                                      <a:cs typeface="DejaVu Math TeX Gyre" panose="02000503000000000000" charset="0"/>
                                    </a:rPr>
                                    <m:t>𝑜</m:t>
                                  </m:r>
                                </m:sub>
                                <m:sup>
                                  <m:r>
                                    <a:rPr lang="en-US" altLang="zh-CN" i="1">
                                      <a:latin typeface="DejaVu Math TeX Gyre" panose="02000503000000000000" charset="0"/>
                                      <a:cs typeface="DejaVu Math TeX Gyre" panose="02000503000000000000" charset="0"/>
                                    </a:rPr>
                                    <m:t>𝜃</m:t>
                                  </m:r>
                                </m:sup>
                              </m:sSubSup>
                            </m:e>
                          </m:nary>
                        </m:den>
                      </m:f>
                    </m:oMath>
                  </m:oMathPara>
                </a14:m>
                <a:endParaRPr lang="zh-CN" altLang="en-US"/>
              </a:p>
            </p:txBody>
          </p:sp>
        </mc:Choice>
        <mc:Fallback>
          <p:sp>
            <p:nvSpPr>
              <p:cNvPr id="4" name="文本框 3"/>
              <p:cNvSpPr txBox="1">
                <a:spLocks noRot="1" noChangeAspect="1" noMove="1" noResize="1" noEditPoints="1" noAdjustHandles="1" noChangeArrowheads="1" noChangeShapeType="1" noTextEdit="1"/>
              </p:cNvSpPr>
              <p:nvPr/>
            </p:nvSpPr>
            <p:spPr>
              <a:xfrm>
                <a:off x="5437759" y="2725674"/>
                <a:ext cx="2125980" cy="982345"/>
              </a:xfrm>
              <a:prstGeom prst="rect">
                <a:avLst/>
              </a:prstGeom>
              <a:blipFill rotWithShape="1">
                <a:blip r:embed="rId5"/>
                <a:stretch>
                  <a:fillRect l="-12" t="-26" r="12" b="26"/>
                </a:stretch>
              </a:blipFill>
            </p:spPr>
            <p:txBody>
              <a:bodyPr/>
              <a:lstStyle/>
              <a:p>
                <a:r>
                  <a:rPr lang="zh-CN"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4" name="组合 43"/>
          <p:cNvGrpSpPr/>
          <p:nvPr/>
        </p:nvGrpSpPr>
        <p:grpSpPr>
          <a:xfrm>
            <a:off x="2121535" y="1060450"/>
            <a:ext cx="9217025" cy="1691640"/>
            <a:chOff x="3341" y="1670"/>
            <a:chExt cx="14515" cy="266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Eqs. (5)–(6)：观察到的迁移者并非随机抽样，而是经过技能选择。</a:t>
              </a:r>
              <a:endParaRPr sz="1400" b="1">
                <a:solidFill>
                  <a:srgbClr val="69086F"/>
                </a:solidFill>
                <a:latin typeface="微软雅黑"/>
              </a:endParaRPr>
            </a:p>
          </p:txBody>
        </p:sp>
        <p:sp>
          <p:nvSpPr>
            <p:cNvPr id="22" name="Rectangle 21"/>
            <p:cNvSpPr/>
            <p:nvPr/>
          </p:nvSpPr>
          <p:spPr>
            <a:xfrm>
              <a:off x="3341" y="2304"/>
              <a:ext cx="6624"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77"/>
              <a:ext cx="6192"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原文机制：高收益者先迁移</a:t>
              </a:r>
              <a:endParaRPr sz="1600" b="1">
                <a:solidFill>
                  <a:srgbClr val="69086F"/>
                </a:solidFill>
                <a:latin typeface="微软雅黑"/>
              </a:endParaRPr>
            </a:p>
          </p:txBody>
        </p:sp>
        <p:sp>
          <p:nvSpPr>
            <p:cNvPr id="25" name="TextBox 24"/>
            <p:cNvSpPr txBox="1"/>
            <p:nvPr/>
          </p:nvSpPr>
          <p:spPr>
            <a:xfrm>
              <a:off x="3586" y="3038"/>
              <a:ext cx="6163" cy="1195"/>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当只有少数人选择 d，通常是最适合该地区的人；迁移限制放松后，新进入者的平均目的地技能较低。</a:t>
              </a:r>
              <a:endParaRPr sz="1300" b="0">
                <a:solidFill>
                  <a:srgbClr val="2A272B"/>
                </a:solidFill>
                <a:latin typeface="微软雅黑"/>
              </a:endParaRPr>
            </a:p>
          </p:txBody>
        </p:sp>
        <p:sp>
          <p:nvSpPr>
            <p:cNvPr id="26" name="Rectangle 25"/>
            <p:cNvSpPr/>
            <p:nvPr/>
          </p:nvSpPr>
          <p:spPr>
            <a:xfrm>
              <a:off x="10195" y="2304"/>
              <a:ext cx="7661"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195"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 y="2419"/>
              <a:ext cx="7056" cy="331"/>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平均技能：Eq. (5)</a:t>
              </a:r>
              <a:endParaRPr sz="1400" b="1">
                <a:solidFill>
                  <a:srgbClr val="69086F"/>
                </a:solidFill>
                <a:latin typeface="微软雅黑"/>
              </a:endParaRPr>
            </a:p>
          </p:txBody>
        </p:sp>
      </p:grpSp>
      <p:pic>
        <p:nvPicPr>
          <p:cNvPr id="3" name="334E55B0-647D-440b-865C-3EC943EB4CBC-12" descr="wpsoffice"/>
          <p:cNvPicPr>
            <a:picLocks noChangeAspect="1"/>
          </p:cNvPicPr>
          <p:nvPr/>
        </p:nvPicPr>
        <p:blipFill>
          <a:blip r:embed="rId1"/>
          <a:stretch>
            <a:fillRect/>
          </a:stretch>
        </p:blipFill>
        <p:spPr>
          <a:xfrm>
            <a:off x="6961505" y="1926590"/>
            <a:ext cx="3815715" cy="532130"/>
          </a:xfrm>
          <a:prstGeom prst="rect">
            <a:avLst/>
          </a:prstGeom>
        </p:spPr>
      </p:pic>
      <p:pic>
        <p:nvPicPr>
          <p:cNvPr id="14" name="334E55B0-647D-440b-865C-3EC943EB4CBC-15" descr="wpsoffice"/>
          <p:cNvPicPr>
            <a:picLocks noChangeAspect="1"/>
          </p:cNvPicPr>
          <p:nvPr/>
        </p:nvPicPr>
        <p:blipFill>
          <a:blip r:embed="rId2"/>
          <a:stretch>
            <a:fillRect/>
          </a:stretch>
        </p:blipFill>
        <p:spPr>
          <a:xfrm>
            <a:off x="6090920" y="3423920"/>
            <a:ext cx="9525" cy="952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4" name="组合 43"/>
          <p:cNvGrpSpPr/>
          <p:nvPr/>
        </p:nvGrpSpPr>
        <p:grpSpPr>
          <a:xfrm>
            <a:off x="2121535" y="1060450"/>
            <a:ext cx="9217025" cy="1691640"/>
            <a:chOff x="3341" y="1670"/>
            <a:chExt cx="14515" cy="266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Eqs. (5)–(6)：观察到的迁移者并非随机抽样，而是经过技能选择。</a:t>
              </a:r>
              <a:endParaRPr sz="1400" b="1">
                <a:solidFill>
                  <a:srgbClr val="69086F"/>
                </a:solidFill>
                <a:latin typeface="微软雅黑"/>
              </a:endParaRPr>
            </a:p>
          </p:txBody>
        </p:sp>
        <p:sp>
          <p:nvSpPr>
            <p:cNvPr id="22" name="Rectangle 21"/>
            <p:cNvSpPr/>
            <p:nvPr/>
          </p:nvSpPr>
          <p:spPr>
            <a:xfrm>
              <a:off x="3341" y="2304"/>
              <a:ext cx="6624"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77"/>
              <a:ext cx="6192"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原文机制：高收益者先迁移</a:t>
              </a:r>
              <a:endParaRPr sz="1600" b="1">
                <a:solidFill>
                  <a:srgbClr val="69086F"/>
                </a:solidFill>
                <a:latin typeface="微软雅黑"/>
              </a:endParaRPr>
            </a:p>
          </p:txBody>
        </p:sp>
        <p:sp>
          <p:nvSpPr>
            <p:cNvPr id="25" name="TextBox 24"/>
            <p:cNvSpPr txBox="1"/>
            <p:nvPr/>
          </p:nvSpPr>
          <p:spPr>
            <a:xfrm>
              <a:off x="3586" y="3038"/>
              <a:ext cx="6163" cy="1195"/>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当只有少数人选择 d，通常是最适合该地区的人；迁移限制放松后，新进入者的平均目的地技能较低。</a:t>
              </a:r>
              <a:endParaRPr sz="1300" b="0">
                <a:solidFill>
                  <a:srgbClr val="2A272B"/>
                </a:solidFill>
                <a:latin typeface="微软雅黑"/>
              </a:endParaRPr>
            </a:p>
          </p:txBody>
        </p:sp>
        <p:sp>
          <p:nvSpPr>
            <p:cNvPr id="26" name="Rectangle 25"/>
            <p:cNvSpPr/>
            <p:nvPr/>
          </p:nvSpPr>
          <p:spPr>
            <a:xfrm>
              <a:off x="10195" y="2304"/>
              <a:ext cx="7661"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195"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 y="2419"/>
              <a:ext cx="7056" cy="331"/>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平均技能：Eq. (5)</a:t>
              </a:r>
              <a:endParaRPr sz="1400" b="1">
                <a:solidFill>
                  <a:srgbClr val="69086F"/>
                </a:solidFill>
                <a:latin typeface="微软雅黑"/>
              </a:endParaRPr>
            </a:p>
          </p:txBody>
        </p:sp>
      </p:grpSp>
      <p:pic>
        <p:nvPicPr>
          <p:cNvPr id="3" name="334E55B0-647D-440b-865C-3EC943EB4CBC-28" descr="wpsoffice"/>
          <p:cNvPicPr>
            <a:picLocks noChangeAspect="1"/>
          </p:cNvPicPr>
          <p:nvPr/>
        </p:nvPicPr>
        <p:blipFill>
          <a:blip r:embed="rId1"/>
          <a:stretch>
            <a:fillRect/>
          </a:stretch>
        </p:blipFill>
        <p:spPr>
          <a:xfrm>
            <a:off x="6961505" y="1926590"/>
            <a:ext cx="3815715" cy="532130"/>
          </a:xfrm>
          <a:prstGeom prst="rect">
            <a:avLst/>
          </a:prstGeom>
        </p:spPr>
      </p:pic>
      <mc:AlternateContent xmlns:mc="http://schemas.openxmlformats.org/markup-compatibility/2006">
        <mc:Choice xmlns:a14="http://schemas.microsoft.com/office/drawing/2010/main" Requires="a14">
          <p:sp>
            <p:nvSpPr>
              <p:cNvPr id="5" name="TextBox 24"/>
              <p:cNvSpPr txBox="1"/>
              <p:nvPr/>
            </p:nvSpPr>
            <p:spPr>
              <a:xfrm>
                <a:off x="1979930" y="2843530"/>
                <a:ext cx="5268595" cy="307340"/>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简化</a:t>
                </a:r>
                <a:r>
                  <a:rPr lang="en-US" altLang="zh-CN" sz="1300" b="0">
                    <a:solidFill>
                      <a:srgbClr val="2A272B"/>
                    </a:solidFill>
                    <a:latin typeface="微软雅黑"/>
                  </a:rPr>
                  <a:t>：</a:t>
                </a:r>
                <a:r>
                  <a:rPr lang="zh-CN" altLang="en-US" sz="1300" b="0">
                    <a:solidFill>
                      <a:srgbClr val="2A272B"/>
                    </a:solidFill>
                    <a:latin typeface="微软雅黑"/>
                  </a:rPr>
                  <a:t>考虑两个地区 </a:t>
                </a:r>
                <a:r>
                  <a:rPr lang="en-US" altLang="zh-CN" sz="1300" b="0">
                    <a:solidFill>
                      <a:srgbClr val="2A272B"/>
                    </a:solidFill>
                    <a:latin typeface="微软雅黑"/>
                  </a:rPr>
                  <a:t>A、B，</a:t>
                </a:r>
                <a:r>
                  <a:rPr lang="zh-CN" altLang="en-US" sz="1300" b="0">
                    <a:solidFill>
                      <a:srgbClr val="2A272B"/>
                    </a:solidFill>
                    <a:latin typeface="微软雅黑"/>
                  </a:rPr>
                  <a:t>且技能相互独立（</a:t>
                </a:r>
                <a14:m>
                  <m:oMath xmlns:m="http://schemas.openxmlformats.org/officeDocument/2006/math">
                    <m:r>
                      <a:rPr lang="en-US" altLang="zh-CN" sz="1300" i="1">
                        <a:solidFill>
                          <a:srgbClr val="2A272B"/>
                        </a:solidFill>
                        <a:latin typeface="DejaVu Math TeX Gyre" panose="02000503000000000000" charset="0"/>
                        <a:cs typeface="DejaVu Math TeX Gyre" panose="02000503000000000000" charset="0"/>
                      </a:rPr>
                      <m:t>𝜌</m:t>
                    </m:r>
                    <m:r>
                      <a:rPr lang="en-US" altLang="zh-CN" sz="1300" i="1">
                        <a:solidFill>
                          <a:srgbClr val="2A272B"/>
                        </a:solidFill>
                        <a:latin typeface="DejaVu Math TeX Gyre" panose="02000503000000000000" charset="0"/>
                        <a:cs typeface="DejaVu Math TeX Gyre" panose="02000503000000000000" charset="0"/>
                      </a:rPr>
                      <m:t>=</m:t>
                    </m:r>
                    <m:r>
                      <a:rPr lang="en-US" altLang="zh-CN" sz="1300" i="1">
                        <a:solidFill>
                          <a:srgbClr val="2A272B"/>
                        </a:solidFill>
                        <a:latin typeface="DejaVu Math TeX Gyre" panose="02000503000000000000" charset="0"/>
                        <a:cs typeface="DejaVu Math TeX Gyre" panose="02000503000000000000" charset="0"/>
                      </a:rPr>
                      <m:t>0</m:t>
                    </m:r>
                    <m:r>
                      <a:rPr lang="en-US" altLang="zh-CN" sz="1300" i="1">
                        <a:solidFill>
                          <a:srgbClr val="2A272B"/>
                        </a:solidFill>
                        <a:latin typeface="DejaVu Math TeX Gyre" panose="02000503000000000000" charset="0"/>
                        <a:cs typeface="DejaVu Math TeX Gyre" panose="02000503000000000000" charset="0"/>
                      </a:rPr>
                      <m:t>，</m:t>
                    </m:r>
                    <m:r>
                      <a:rPr lang="en-US" altLang="zh-CN" sz="1300" i="1">
                        <a:solidFill>
                          <a:srgbClr val="2A272B"/>
                        </a:solidFill>
                        <a:latin typeface="DejaVu Math TeX Gyre" panose="02000503000000000000" charset="0"/>
                        <a:cs typeface="DejaVu Math TeX Gyre" panose="02000503000000000000" charset="0"/>
                      </a:rPr>
                      <m:t>𝜃</m:t>
                    </m:r>
                    <m:r>
                      <a:rPr lang="en-US" altLang="zh-CN" sz="1300" i="1">
                        <a:solidFill>
                          <a:srgbClr val="2A272B"/>
                        </a:solidFill>
                        <a:latin typeface="DejaVu Math TeX Gyre" panose="02000503000000000000" charset="0"/>
                        <a:cs typeface="DejaVu Math TeX Gyre" panose="02000503000000000000" charset="0"/>
                      </a:rPr>
                      <m:t>=</m:t>
                    </m:r>
                    <m:acc>
                      <m:accPr>
                        <m:chr m:val="̃"/>
                        <m:ctrlPr>
                          <a:rPr lang="en-US" altLang="zh-CN" sz="1300" i="1">
                            <a:solidFill>
                              <a:srgbClr val="2A272B"/>
                            </a:solidFill>
                            <a:latin typeface="DejaVu Math TeX Gyre" panose="02000503000000000000" charset="0"/>
                            <a:cs typeface="DejaVu Math TeX Gyre" panose="02000503000000000000" charset="0"/>
                          </a:rPr>
                        </m:ctrlPr>
                      </m:accPr>
                      <m:e>
                        <m:r>
                          <a:rPr lang="en-US" altLang="zh-CN" sz="1300" i="1">
                            <a:solidFill>
                              <a:srgbClr val="2A272B"/>
                            </a:solidFill>
                            <a:latin typeface="DejaVu Math TeX Gyre" panose="02000503000000000000" charset="0"/>
                            <a:cs typeface="DejaVu Math TeX Gyre" panose="02000503000000000000" charset="0"/>
                          </a:rPr>
                          <m:t>𝜃</m:t>
                        </m:r>
                      </m:e>
                    </m:acc>
                  </m:oMath>
                </a14:m>
                <a:r>
                  <a:rPr lang="en-US" altLang="zh-CN" sz="1300" b="0">
                    <a:solidFill>
                      <a:srgbClr val="2A272B"/>
                    </a:solidFill>
                    <a:latin typeface="微软雅黑"/>
                  </a:rPr>
                  <a:t>）</a:t>
                </a:r>
                <a:endParaRPr lang="en-US" altLang="zh-CN" sz="1300" b="0">
                  <a:solidFill>
                    <a:srgbClr val="2A272B"/>
                  </a:solidFill>
                  <a:latin typeface="微软雅黑"/>
                </a:endParaRPr>
              </a:p>
            </p:txBody>
          </p:sp>
        </mc:Choice>
        <mc:Fallback>
          <p:sp>
            <p:nvSpPr>
              <p:cNvPr id="5" name="TextBox 24"/>
              <p:cNvSpPr txBox="1">
                <a:spLocks noRot="1" noChangeAspect="1" noMove="1" noResize="1" noEditPoints="1" noAdjustHandles="1" noChangeArrowheads="1" noChangeShapeType="1" noTextEdit="1"/>
              </p:cNvSpPr>
              <p:nvPr/>
            </p:nvSpPr>
            <p:spPr>
              <a:xfrm>
                <a:off x="1979930" y="2843530"/>
                <a:ext cx="5268595" cy="30734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24"/>
              <p:cNvSpPr txBox="1"/>
              <p:nvPr/>
            </p:nvSpPr>
            <p:spPr>
              <a:xfrm>
                <a:off x="1979930" y="3126740"/>
                <a:ext cx="5268595" cy="3016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劳动者在目的地 </a:t>
                </a:r>
                <a:r>
                  <a:rPr lang="en-US" altLang="zh-CN" sz="1300" b="0">
                    <a:solidFill>
                      <a:srgbClr val="2A272B"/>
                    </a:solidFill>
                    <a:latin typeface="微软雅黑"/>
                  </a:rPr>
                  <a:t>d</a:t>
                </a:r>
                <a:r>
                  <a:rPr lang="zh-CN" altLang="en-US" sz="1300" b="0">
                    <a:solidFill>
                      <a:srgbClr val="2A272B"/>
                    </a:solidFill>
                    <a:latin typeface="微软雅黑"/>
                  </a:rPr>
                  <a:t>的技能为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𝑠</m:t>
                        </m:r>
                      </m:e>
                      <m:sub>
                        <m:r>
                          <a:rPr lang="en-US" altLang="zh-CN" sz="1300" b="0" i="1">
                            <a:solidFill>
                              <a:srgbClr val="2A272B"/>
                            </a:solidFill>
                            <a:latin typeface="DejaVu Math TeX Gyre" panose="02000503000000000000" charset="0"/>
                            <a:cs typeface="DejaVu Math TeX Gyre" panose="02000503000000000000" charset="0"/>
                          </a:rPr>
                          <m:t>𝑑</m:t>
                        </m:r>
                      </m:sub>
                    </m:sSub>
                  </m:oMath>
                </a14:m>
                <a:r>
                  <a:rPr lang="en-US" altLang="zh-CN" sz="1300" b="0">
                    <a:solidFill>
                      <a:srgbClr val="2A272B"/>
                    </a:solidFill>
                    <a:latin typeface="微软雅黑"/>
                  </a:rPr>
                  <a:t>，</a:t>
                </a:r>
                <a:r>
                  <a:rPr lang="zh-CN" altLang="en-US" sz="1300" b="0">
                    <a:solidFill>
                      <a:srgbClr val="2A272B"/>
                    </a:solidFill>
                    <a:latin typeface="微软雅黑"/>
                  </a:rPr>
                  <a:t>假设其服从标准 </a:t>
                </a:r>
                <a:r>
                  <a:rPr lang="en-US" altLang="zh-CN" sz="1300" b="0">
                    <a:solidFill>
                      <a:srgbClr val="2A272B"/>
                    </a:solidFill>
                    <a:latin typeface="微软雅黑"/>
                  </a:rPr>
                  <a:t>Fr</a:t>
                </a:r>
                <a:r>
                  <a:rPr lang="en-US" altLang="en-US" sz="1300" b="0">
                    <a:solidFill>
                      <a:srgbClr val="2A272B"/>
                    </a:solidFill>
                    <a:latin typeface="微软雅黑"/>
                  </a:rPr>
                  <a:t>é</a:t>
                </a:r>
                <a:r>
                  <a:rPr lang="en-US" altLang="zh-CN" sz="1300" b="0">
                    <a:solidFill>
                      <a:srgbClr val="2A272B"/>
                    </a:solidFill>
                    <a:latin typeface="微软雅黑"/>
                  </a:rPr>
                  <a:t>chet </a:t>
                </a:r>
                <a:r>
                  <a:rPr lang="zh-CN" altLang="en-US" sz="1300" b="0">
                    <a:solidFill>
                      <a:srgbClr val="2A272B"/>
                    </a:solidFill>
                    <a:latin typeface="微软雅黑"/>
                  </a:rPr>
                  <a:t>分布：</a:t>
                </a:r>
                <a:endParaRPr lang="zh-CN" altLang="en-US" sz="1300" b="0">
                  <a:solidFill>
                    <a:srgbClr val="2A272B"/>
                  </a:solidFill>
                  <a:latin typeface="微软雅黑"/>
                </a:endParaRPr>
              </a:p>
            </p:txBody>
          </p:sp>
        </mc:Choice>
        <mc:Fallback>
          <p:sp>
            <p:nvSpPr>
              <p:cNvPr id="6" name="TextBox 24"/>
              <p:cNvSpPr txBox="1">
                <a:spLocks noRot="1" noChangeAspect="1" noMove="1" noResize="1" noEditPoints="1" noAdjustHandles="1" noChangeArrowheads="1" noChangeShapeType="1" noTextEdit="1"/>
              </p:cNvSpPr>
              <p:nvPr/>
            </p:nvSpPr>
            <p:spPr>
              <a:xfrm>
                <a:off x="1979930" y="3126740"/>
                <a:ext cx="5268595" cy="30162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13" descr="wpsoffice"/>
          <p:cNvPicPr>
            <a:picLocks noChangeAspect="1"/>
          </p:cNvPicPr>
          <p:nvPr/>
        </p:nvPicPr>
        <p:blipFill>
          <a:blip r:embed="rId4"/>
          <a:stretch>
            <a:fillRect/>
          </a:stretch>
        </p:blipFill>
        <p:spPr>
          <a:xfrm>
            <a:off x="2130425" y="3452495"/>
            <a:ext cx="3313430" cy="279400"/>
          </a:xfrm>
          <a:prstGeom prst="rect">
            <a:avLst/>
          </a:prstGeom>
        </p:spPr>
      </p:pic>
      <p:pic>
        <p:nvPicPr>
          <p:cNvPr id="8" name="334E55B0-647D-440b-865C-3EC943EB4CBC-14" descr="wpsoffice"/>
          <p:cNvPicPr>
            <a:picLocks noChangeAspect="1"/>
          </p:cNvPicPr>
          <p:nvPr/>
        </p:nvPicPr>
        <p:blipFill>
          <a:blip r:embed="rId5"/>
          <a:stretch>
            <a:fillRect/>
          </a:stretch>
        </p:blipFill>
        <p:spPr>
          <a:xfrm>
            <a:off x="2121535" y="3867785"/>
            <a:ext cx="4730115" cy="448310"/>
          </a:xfrm>
          <a:prstGeom prst="rect">
            <a:avLst/>
          </a:prstGeom>
        </p:spPr>
      </p:pic>
      <p:pic>
        <p:nvPicPr>
          <p:cNvPr id="14" name="334E55B0-647D-440b-865C-3EC943EB4CBC-31" descr="wpsoffice"/>
          <p:cNvPicPr>
            <a:picLocks noChangeAspect="1"/>
          </p:cNvPicPr>
          <p:nvPr/>
        </p:nvPicPr>
        <p:blipFill>
          <a:blip r:embed="rId6"/>
          <a:stretch>
            <a:fillRect/>
          </a:stretch>
        </p:blipFill>
        <p:spPr>
          <a:xfrm>
            <a:off x="6090920" y="3423920"/>
            <a:ext cx="9525" cy="95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4" name="组合 43"/>
          <p:cNvGrpSpPr/>
          <p:nvPr/>
        </p:nvGrpSpPr>
        <p:grpSpPr>
          <a:xfrm>
            <a:off x="2121535" y="1060450"/>
            <a:ext cx="9217025" cy="1691640"/>
            <a:chOff x="3341" y="1670"/>
            <a:chExt cx="14515" cy="266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Eqs. (5)–(6)：观察到的迁移者并非随机抽样，而是经过技能选择。</a:t>
              </a:r>
              <a:endParaRPr sz="1400" b="1">
                <a:solidFill>
                  <a:srgbClr val="69086F"/>
                </a:solidFill>
                <a:latin typeface="微软雅黑"/>
              </a:endParaRPr>
            </a:p>
          </p:txBody>
        </p:sp>
        <p:sp>
          <p:nvSpPr>
            <p:cNvPr id="22" name="Rectangle 21"/>
            <p:cNvSpPr/>
            <p:nvPr/>
          </p:nvSpPr>
          <p:spPr>
            <a:xfrm>
              <a:off x="3341" y="2304"/>
              <a:ext cx="6624"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77"/>
              <a:ext cx="6192"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原文机制：高收益者先迁移</a:t>
              </a:r>
              <a:endParaRPr sz="1600" b="1">
                <a:solidFill>
                  <a:srgbClr val="69086F"/>
                </a:solidFill>
                <a:latin typeface="微软雅黑"/>
              </a:endParaRPr>
            </a:p>
          </p:txBody>
        </p:sp>
        <p:sp>
          <p:nvSpPr>
            <p:cNvPr id="25" name="TextBox 24"/>
            <p:cNvSpPr txBox="1"/>
            <p:nvPr/>
          </p:nvSpPr>
          <p:spPr>
            <a:xfrm>
              <a:off x="3586" y="3038"/>
              <a:ext cx="6163" cy="1195"/>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当只有少数人选择 d，通常是最适合该地区的人；迁移限制放松后，新进入者的平均目的地技能较低。</a:t>
              </a:r>
              <a:endParaRPr sz="1300" b="0">
                <a:solidFill>
                  <a:srgbClr val="2A272B"/>
                </a:solidFill>
                <a:latin typeface="微软雅黑"/>
              </a:endParaRPr>
            </a:p>
          </p:txBody>
        </p:sp>
        <p:sp>
          <p:nvSpPr>
            <p:cNvPr id="26" name="Rectangle 25"/>
            <p:cNvSpPr/>
            <p:nvPr/>
          </p:nvSpPr>
          <p:spPr>
            <a:xfrm>
              <a:off x="10195" y="2304"/>
              <a:ext cx="7661"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195"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 y="2419"/>
              <a:ext cx="7056" cy="331"/>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平均技能：Eq. (5)</a:t>
              </a:r>
              <a:endParaRPr sz="1400" b="1">
                <a:solidFill>
                  <a:srgbClr val="69086F"/>
                </a:solidFill>
                <a:latin typeface="微软雅黑"/>
              </a:endParaRPr>
            </a:p>
          </p:txBody>
        </p:sp>
      </p:grpSp>
      <p:pic>
        <p:nvPicPr>
          <p:cNvPr id="3" name="334E55B0-647D-440b-865C-3EC943EB4CBC-17" descr="wpsoffice"/>
          <p:cNvPicPr>
            <a:picLocks noChangeAspect="1"/>
          </p:cNvPicPr>
          <p:nvPr/>
        </p:nvPicPr>
        <p:blipFill>
          <a:blip r:embed="rId1"/>
          <a:stretch>
            <a:fillRect/>
          </a:stretch>
        </p:blipFill>
        <p:spPr>
          <a:xfrm>
            <a:off x="6961505" y="1926590"/>
            <a:ext cx="3815715" cy="532130"/>
          </a:xfrm>
          <a:prstGeom prst="rect">
            <a:avLst/>
          </a:prstGeom>
        </p:spPr>
      </p:pic>
      <mc:AlternateContent xmlns:mc="http://schemas.openxmlformats.org/markup-compatibility/2006">
        <mc:Choice xmlns:a14="http://schemas.microsoft.com/office/drawing/2010/main" Requires="a14">
          <p:sp>
            <p:nvSpPr>
              <p:cNvPr id="5" name="TextBox 24"/>
              <p:cNvSpPr txBox="1"/>
              <p:nvPr/>
            </p:nvSpPr>
            <p:spPr>
              <a:xfrm>
                <a:off x="1979930" y="2843530"/>
                <a:ext cx="5268595" cy="307340"/>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简化</a:t>
                </a:r>
                <a:r>
                  <a:rPr lang="en-US" altLang="zh-CN" sz="1300" b="0">
                    <a:solidFill>
                      <a:srgbClr val="2A272B"/>
                    </a:solidFill>
                    <a:latin typeface="微软雅黑"/>
                  </a:rPr>
                  <a:t>：</a:t>
                </a:r>
                <a:r>
                  <a:rPr lang="zh-CN" altLang="en-US" sz="1300" b="0">
                    <a:solidFill>
                      <a:srgbClr val="2A272B"/>
                    </a:solidFill>
                    <a:latin typeface="微软雅黑"/>
                  </a:rPr>
                  <a:t>考虑两个地区 </a:t>
                </a:r>
                <a:r>
                  <a:rPr lang="en-US" altLang="zh-CN" sz="1300" b="0">
                    <a:solidFill>
                      <a:srgbClr val="2A272B"/>
                    </a:solidFill>
                    <a:latin typeface="微软雅黑"/>
                  </a:rPr>
                  <a:t>A、B，</a:t>
                </a:r>
                <a:r>
                  <a:rPr lang="zh-CN" altLang="en-US" sz="1300" b="0">
                    <a:solidFill>
                      <a:srgbClr val="2A272B"/>
                    </a:solidFill>
                    <a:latin typeface="微软雅黑"/>
                  </a:rPr>
                  <a:t>且技能相互独立（</a:t>
                </a:r>
                <a14:m>
                  <m:oMath xmlns:m="http://schemas.openxmlformats.org/officeDocument/2006/math">
                    <m:r>
                      <a:rPr lang="en-US" altLang="zh-CN" sz="1300" i="1">
                        <a:solidFill>
                          <a:srgbClr val="2A272B"/>
                        </a:solidFill>
                        <a:latin typeface="DejaVu Math TeX Gyre" panose="02000503000000000000" charset="0"/>
                        <a:cs typeface="DejaVu Math TeX Gyre" panose="02000503000000000000" charset="0"/>
                      </a:rPr>
                      <m:t>𝜌</m:t>
                    </m:r>
                    <m:r>
                      <a:rPr lang="en-US" altLang="zh-CN" sz="1300" i="1">
                        <a:solidFill>
                          <a:srgbClr val="2A272B"/>
                        </a:solidFill>
                        <a:latin typeface="DejaVu Math TeX Gyre" panose="02000503000000000000" charset="0"/>
                        <a:cs typeface="DejaVu Math TeX Gyre" panose="02000503000000000000" charset="0"/>
                      </a:rPr>
                      <m:t>=</m:t>
                    </m:r>
                    <m:r>
                      <a:rPr lang="en-US" altLang="zh-CN" sz="1300" i="1">
                        <a:solidFill>
                          <a:srgbClr val="2A272B"/>
                        </a:solidFill>
                        <a:latin typeface="DejaVu Math TeX Gyre" panose="02000503000000000000" charset="0"/>
                        <a:cs typeface="DejaVu Math TeX Gyre" panose="02000503000000000000" charset="0"/>
                      </a:rPr>
                      <m:t>0</m:t>
                    </m:r>
                    <m:r>
                      <a:rPr lang="en-US" altLang="zh-CN" sz="1300" i="1">
                        <a:solidFill>
                          <a:srgbClr val="2A272B"/>
                        </a:solidFill>
                        <a:latin typeface="DejaVu Math TeX Gyre" panose="02000503000000000000" charset="0"/>
                        <a:cs typeface="DejaVu Math TeX Gyre" panose="02000503000000000000" charset="0"/>
                      </a:rPr>
                      <m:t>，</m:t>
                    </m:r>
                    <m:r>
                      <a:rPr lang="en-US" altLang="zh-CN" sz="1300" i="1">
                        <a:solidFill>
                          <a:srgbClr val="2A272B"/>
                        </a:solidFill>
                        <a:latin typeface="DejaVu Math TeX Gyre" panose="02000503000000000000" charset="0"/>
                        <a:cs typeface="DejaVu Math TeX Gyre" panose="02000503000000000000" charset="0"/>
                      </a:rPr>
                      <m:t>𝜃</m:t>
                    </m:r>
                    <m:r>
                      <a:rPr lang="en-US" altLang="zh-CN" sz="1300" i="1">
                        <a:solidFill>
                          <a:srgbClr val="2A272B"/>
                        </a:solidFill>
                        <a:latin typeface="DejaVu Math TeX Gyre" panose="02000503000000000000" charset="0"/>
                        <a:cs typeface="DejaVu Math TeX Gyre" panose="02000503000000000000" charset="0"/>
                      </a:rPr>
                      <m:t>=</m:t>
                    </m:r>
                    <m:acc>
                      <m:accPr>
                        <m:chr m:val="̃"/>
                        <m:ctrlPr>
                          <a:rPr lang="en-US" altLang="zh-CN" sz="1300" i="1">
                            <a:solidFill>
                              <a:srgbClr val="2A272B"/>
                            </a:solidFill>
                            <a:latin typeface="DejaVu Math TeX Gyre" panose="02000503000000000000" charset="0"/>
                            <a:cs typeface="DejaVu Math TeX Gyre" panose="02000503000000000000" charset="0"/>
                          </a:rPr>
                        </m:ctrlPr>
                      </m:accPr>
                      <m:e>
                        <m:r>
                          <a:rPr lang="en-US" altLang="zh-CN" sz="1300" i="1">
                            <a:solidFill>
                              <a:srgbClr val="2A272B"/>
                            </a:solidFill>
                            <a:latin typeface="DejaVu Math TeX Gyre" panose="02000503000000000000" charset="0"/>
                            <a:cs typeface="DejaVu Math TeX Gyre" panose="02000503000000000000" charset="0"/>
                          </a:rPr>
                          <m:t>𝜃</m:t>
                        </m:r>
                      </m:e>
                    </m:acc>
                  </m:oMath>
                </a14:m>
                <a:r>
                  <a:rPr lang="en-US" altLang="zh-CN" sz="1300" b="0">
                    <a:solidFill>
                      <a:srgbClr val="2A272B"/>
                    </a:solidFill>
                    <a:latin typeface="微软雅黑"/>
                  </a:rPr>
                  <a:t>）</a:t>
                </a:r>
                <a:endParaRPr lang="en-US" altLang="zh-CN" sz="1300" b="0">
                  <a:solidFill>
                    <a:srgbClr val="2A272B"/>
                  </a:solidFill>
                  <a:latin typeface="微软雅黑"/>
                </a:endParaRPr>
              </a:p>
            </p:txBody>
          </p:sp>
        </mc:Choice>
        <mc:Fallback>
          <p:sp>
            <p:nvSpPr>
              <p:cNvPr id="5" name="TextBox 24"/>
              <p:cNvSpPr txBox="1">
                <a:spLocks noRot="1" noChangeAspect="1" noMove="1" noResize="1" noEditPoints="1" noAdjustHandles="1" noChangeArrowheads="1" noChangeShapeType="1" noTextEdit="1"/>
              </p:cNvSpPr>
              <p:nvPr/>
            </p:nvSpPr>
            <p:spPr>
              <a:xfrm>
                <a:off x="1979930" y="2843530"/>
                <a:ext cx="5268595" cy="30734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24"/>
              <p:cNvSpPr txBox="1"/>
              <p:nvPr/>
            </p:nvSpPr>
            <p:spPr>
              <a:xfrm>
                <a:off x="1979930" y="3126740"/>
                <a:ext cx="5268595" cy="3016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劳动者在目的地 </a:t>
                </a:r>
                <a:r>
                  <a:rPr lang="en-US" altLang="zh-CN" sz="1300" b="0">
                    <a:solidFill>
                      <a:srgbClr val="2A272B"/>
                    </a:solidFill>
                    <a:latin typeface="微软雅黑"/>
                  </a:rPr>
                  <a:t>d</a:t>
                </a:r>
                <a:r>
                  <a:rPr lang="zh-CN" altLang="en-US" sz="1300" b="0">
                    <a:solidFill>
                      <a:srgbClr val="2A272B"/>
                    </a:solidFill>
                    <a:latin typeface="微软雅黑"/>
                  </a:rPr>
                  <a:t>的技能为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𝑠</m:t>
                        </m:r>
                      </m:e>
                      <m:sub>
                        <m:r>
                          <a:rPr lang="en-US" altLang="zh-CN" sz="1300" b="0" i="1">
                            <a:solidFill>
                              <a:srgbClr val="2A272B"/>
                            </a:solidFill>
                            <a:latin typeface="DejaVu Math TeX Gyre" panose="02000503000000000000" charset="0"/>
                            <a:cs typeface="DejaVu Math TeX Gyre" panose="02000503000000000000" charset="0"/>
                          </a:rPr>
                          <m:t>𝑑</m:t>
                        </m:r>
                      </m:sub>
                    </m:sSub>
                  </m:oMath>
                </a14:m>
                <a:r>
                  <a:rPr lang="en-US" altLang="zh-CN" sz="1300" b="0">
                    <a:solidFill>
                      <a:srgbClr val="2A272B"/>
                    </a:solidFill>
                    <a:latin typeface="微软雅黑"/>
                  </a:rPr>
                  <a:t>，</a:t>
                </a:r>
                <a:r>
                  <a:rPr lang="zh-CN" altLang="en-US" sz="1300" b="0">
                    <a:solidFill>
                      <a:srgbClr val="2A272B"/>
                    </a:solidFill>
                    <a:latin typeface="微软雅黑"/>
                  </a:rPr>
                  <a:t>假设其服从标准 </a:t>
                </a:r>
                <a:r>
                  <a:rPr lang="en-US" altLang="zh-CN" sz="1300" b="0">
                    <a:solidFill>
                      <a:srgbClr val="2A272B"/>
                    </a:solidFill>
                    <a:latin typeface="微软雅黑"/>
                  </a:rPr>
                  <a:t>Fr</a:t>
                </a:r>
                <a:r>
                  <a:rPr lang="en-US" altLang="en-US" sz="1300" b="0">
                    <a:solidFill>
                      <a:srgbClr val="2A272B"/>
                    </a:solidFill>
                    <a:latin typeface="微软雅黑"/>
                  </a:rPr>
                  <a:t>é</a:t>
                </a:r>
                <a:r>
                  <a:rPr lang="en-US" altLang="zh-CN" sz="1300" b="0">
                    <a:solidFill>
                      <a:srgbClr val="2A272B"/>
                    </a:solidFill>
                    <a:latin typeface="微软雅黑"/>
                  </a:rPr>
                  <a:t>chet </a:t>
                </a:r>
                <a:r>
                  <a:rPr lang="zh-CN" altLang="en-US" sz="1300" b="0">
                    <a:solidFill>
                      <a:srgbClr val="2A272B"/>
                    </a:solidFill>
                    <a:latin typeface="微软雅黑"/>
                  </a:rPr>
                  <a:t>分布：</a:t>
                </a:r>
                <a:endParaRPr lang="zh-CN" altLang="en-US" sz="1300" b="0">
                  <a:solidFill>
                    <a:srgbClr val="2A272B"/>
                  </a:solidFill>
                  <a:latin typeface="微软雅黑"/>
                </a:endParaRPr>
              </a:p>
            </p:txBody>
          </p:sp>
        </mc:Choice>
        <mc:Fallback>
          <p:sp>
            <p:nvSpPr>
              <p:cNvPr id="6" name="TextBox 24"/>
              <p:cNvSpPr txBox="1">
                <a:spLocks noRot="1" noChangeAspect="1" noMove="1" noResize="1" noEditPoints="1" noAdjustHandles="1" noChangeArrowheads="1" noChangeShapeType="1" noTextEdit="1"/>
              </p:cNvSpPr>
              <p:nvPr/>
            </p:nvSpPr>
            <p:spPr>
              <a:xfrm>
                <a:off x="1979930" y="3126740"/>
                <a:ext cx="5268595" cy="30162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18" descr="wpsoffice"/>
          <p:cNvPicPr>
            <a:picLocks noChangeAspect="1"/>
          </p:cNvPicPr>
          <p:nvPr/>
        </p:nvPicPr>
        <p:blipFill>
          <a:blip r:embed="rId4"/>
          <a:stretch>
            <a:fillRect/>
          </a:stretch>
        </p:blipFill>
        <p:spPr>
          <a:xfrm>
            <a:off x="2130425" y="3452495"/>
            <a:ext cx="3313430" cy="279400"/>
          </a:xfrm>
          <a:prstGeom prst="rect">
            <a:avLst/>
          </a:prstGeom>
        </p:spPr>
      </p:pic>
      <p:pic>
        <p:nvPicPr>
          <p:cNvPr id="8" name="334E55B0-647D-440b-865C-3EC943EB4CBC-19" descr="wpsoffice"/>
          <p:cNvPicPr>
            <a:picLocks noChangeAspect="1"/>
          </p:cNvPicPr>
          <p:nvPr/>
        </p:nvPicPr>
        <p:blipFill>
          <a:blip r:embed="rId5"/>
          <a:stretch>
            <a:fillRect/>
          </a:stretch>
        </p:blipFill>
        <p:spPr>
          <a:xfrm>
            <a:off x="2121535" y="3867785"/>
            <a:ext cx="4730115" cy="448310"/>
          </a:xfrm>
          <a:prstGeom prst="rect">
            <a:avLst/>
          </a:prstGeom>
        </p:spPr>
      </p:pic>
      <mc:AlternateContent xmlns:mc="http://schemas.openxmlformats.org/markup-compatibility/2006">
        <mc:Choice xmlns:a14="http://schemas.microsoft.com/office/drawing/2010/main" Requires="a14">
          <p:sp>
            <p:nvSpPr>
              <p:cNvPr id="9" name="TextBox 24"/>
              <p:cNvSpPr txBox="1"/>
              <p:nvPr/>
            </p:nvSpPr>
            <p:spPr>
              <a:xfrm>
                <a:off x="1979930" y="4496435"/>
                <a:ext cx="5268595" cy="486410"/>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用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𝑏</m:t>
                        </m:r>
                      </m:e>
                      <m:sub>
                        <m:r>
                          <a:rPr lang="en-US" altLang="zh-CN" sz="1300" b="0" i="1">
                            <a:solidFill>
                              <a:srgbClr val="2A272B"/>
                            </a:solidFill>
                            <a:latin typeface="DejaVu Math TeX Gyre" panose="02000503000000000000" charset="0"/>
                            <a:cs typeface="DejaVu Math TeX Gyre" panose="02000503000000000000" charset="0"/>
                          </a:rPr>
                          <m:t>𝐴</m:t>
                        </m:r>
                      </m:sub>
                    </m:sSub>
                  </m:oMath>
                </a14:m>
                <a:r>
                  <a:rPr lang="zh-CN" altLang="en-US" sz="1300" b="0">
                    <a:solidFill>
                      <a:srgbClr val="2A272B"/>
                    </a:solidFill>
                    <a:latin typeface="微软雅黑"/>
                  </a:rPr>
                  <a:t>和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𝑏</m:t>
                        </m:r>
                      </m:e>
                      <m:sub>
                        <m:r>
                          <a:rPr lang="en-US" altLang="zh-CN" sz="1300" b="0" i="1">
                            <a:solidFill>
                              <a:srgbClr val="2A272B"/>
                            </a:solidFill>
                            <a:latin typeface="DejaVu Math TeX Gyre" panose="02000503000000000000" charset="0"/>
                            <a:cs typeface="DejaVu Math TeX Gyre" panose="02000503000000000000" charset="0"/>
                          </a:rPr>
                          <m:t>𝐵</m:t>
                        </m:r>
                      </m:sub>
                    </m:sSub>
                  </m:oMath>
                </a14:m>
                <a:r>
                  <a:rPr lang="zh-CN" altLang="en-US" sz="1300" b="0">
                    <a:solidFill>
                      <a:srgbClr val="2A272B"/>
                    </a:solidFill>
                    <a:latin typeface="微软雅黑"/>
                  </a:rPr>
                  <a:t>分别表示 </a:t>
                </a:r>
                <a:r>
                  <a:rPr lang="en-US" altLang="zh-CN" sz="1300" b="0">
                    <a:solidFill>
                      <a:srgbClr val="2A272B"/>
                    </a:solidFill>
                    <a:latin typeface="微软雅黑"/>
                  </a:rPr>
                  <a:t>A、B </a:t>
                </a:r>
                <a:r>
                  <a:rPr lang="zh-CN" altLang="en-US" sz="1300" b="0">
                    <a:solidFill>
                      <a:srgbClr val="2A272B"/>
                    </a:solidFill>
                    <a:latin typeface="微软雅黑"/>
                  </a:rPr>
                  <a:t>两个地区的吸引力，综合工资、宜居性与迁移成本，但不包括个人技能</a:t>
                </a:r>
                <a:r>
                  <a:rPr lang="en-US" altLang="zh-CN" sz="1300" b="0">
                    <a:solidFill>
                      <a:srgbClr val="2A272B"/>
                    </a:solidFill>
                    <a:latin typeface="微软雅黑"/>
                  </a:rPr>
                  <a:t>。</a:t>
                </a:r>
                <a:r>
                  <a:rPr lang="zh-CN" altLang="en-US" sz="1300" b="0">
                    <a:solidFill>
                      <a:srgbClr val="2A272B"/>
                    </a:solidFill>
                    <a:latin typeface="微软雅黑"/>
                  </a:rPr>
                  <a:t>则两地效用函数</a:t>
                </a:r>
                <a:r>
                  <a:rPr lang="en-US" altLang="zh-CN" sz="1300" b="0">
                    <a:solidFill>
                      <a:srgbClr val="2A272B"/>
                    </a:solidFill>
                    <a:latin typeface="微软雅黑"/>
                  </a:rPr>
                  <a:t>：</a:t>
                </a:r>
                <a:endParaRPr lang="en-US" altLang="zh-CN" sz="1300" b="0">
                  <a:solidFill>
                    <a:srgbClr val="2A272B"/>
                  </a:solidFill>
                  <a:latin typeface="微软雅黑"/>
                </a:endParaRPr>
              </a:p>
            </p:txBody>
          </p:sp>
        </mc:Choice>
        <mc:Fallback>
          <p:sp>
            <p:nvSpPr>
              <p:cNvPr id="9" name="TextBox 24"/>
              <p:cNvSpPr txBox="1">
                <a:spLocks noRot="1" noChangeAspect="1" noMove="1" noResize="1" noEditPoints="1" noAdjustHandles="1" noChangeArrowheads="1" noChangeShapeType="1" noTextEdit="1"/>
              </p:cNvSpPr>
              <p:nvPr/>
            </p:nvSpPr>
            <p:spPr>
              <a:xfrm>
                <a:off x="1979930" y="4496435"/>
                <a:ext cx="5268595" cy="486410"/>
              </a:xfrm>
              <a:prstGeom prst="rect">
                <a:avLst/>
              </a:prstGeom>
              <a:blipFill rotWithShape="1">
                <a:blip r:embed="rId6"/>
                <a:stretch>
                  <a:fillRect/>
                </a:stretch>
              </a:blipFill>
            </p:spPr>
            <p:txBody>
              <a:bodyPr/>
              <a:lstStyle/>
              <a:p>
                <a:r>
                  <a:rPr lang="zh-CN" altLang="en-US">
                    <a:noFill/>
                  </a:rPr>
                  <a:t> </a:t>
                </a:r>
              </a:p>
            </p:txBody>
          </p:sp>
        </mc:Fallback>
      </mc:AlternateContent>
      <p:pic>
        <p:nvPicPr>
          <p:cNvPr id="14" name="334E55B0-647D-440b-865C-3EC943EB4CBC-20" descr="wpsoffice"/>
          <p:cNvPicPr>
            <a:picLocks noChangeAspect="1"/>
          </p:cNvPicPr>
          <p:nvPr/>
        </p:nvPicPr>
        <p:blipFill>
          <a:blip r:embed="rId7"/>
          <a:stretch>
            <a:fillRect/>
          </a:stretch>
        </p:blipFill>
        <p:spPr>
          <a:xfrm>
            <a:off x="6090920" y="3423920"/>
            <a:ext cx="9525" cy="9525"/>
          </a:xfrm>
          <a:prstGeom prst="rect">
            <a:avLst/>
          </a:prstGeom>
        </p:spPr>
      </p:pic>
      <p:pic>
        <p:nvPicPr>
          <p:cNvPr id="19" name="334E55B0-647D-440b-865C-3EC943EB4CBC-21" descr="wpsoffice"/>
          <p:cNvPicPr>
            <a:picLocks noChangeAspect="1"/>
          </p:cNvPicPr>
          <p:nvPr/>
        </p:nvPicPr>
        <p:blipFill>
          <a:blip r:embed="rId8"/>
          <a:stretch>
            <a:fillRect/>
          </a:stretch>
        </p:blipFill>
        <p:spPr>
          <a:xfrm>
            <a:off x="2171700" y="5163185"/>
            <a:ext cx="2936240" cy="12541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4" name="组合 43"/>
          <p:cNvGrpSpPr/>
          <p:nvPr/>
        </p:nvGrpSpPr>
        <p:grpSpPr>
          <a:xfrm>
            <a:off x="2121535" y="1060450"/>
            <a:ext cx="9217025" cy="1691640"/>
            <a:chOff x="3341" y="1670"/>
            <a:chExt cx="14515" cy="266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Eqs. (5)–(6)：观察到的迁移者并非随机抽样，而是经过技能选择。</a:t>
              </a:r>
              <a:endParaRPr sz="1400" b="1">
                <a:solidFill>
                  <a:srgbClr val="69086F"/>
                </a:solidFill>
                <a:latin typeface="微软雅黑"/>
              </a:endParaRPr>
            </a:p>
          </p:txBody>
        </p:sp>
        <p:sp>
          <p:nvSpPr>
            <p:cNvPr id="22" name="Rectangle 21"/>
            <p:cNvSpPr/>
            <p:nvPr/>
          </p:nvSpPr>
          <p:spPr>
            <a:xfrm>
              <a:off x="3341" y="2304"/>
              <a:ext cx="6624"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77"/>
              <a:ext cx="6192"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原文机制：高收益者先迁移</a:t>
              </a:r>
              <a:endParaRPr sz="1600" b="1">
                <a:solidFill>
                  <a:srgbClr val="69086F"/>
                </a:solidFill>
                <a:latin typeface="微软雅黑"/>
              </a:endParaRPr>
            </a:p>
          </p:txBody>
        </p:sp>
        <p:sp>
          <p:nvSpPr>
            <p:cNvPr id="25" name="TextBox 24"/>
            <p:cNvSpPr txBox="1"/>
            <p:nvPr/>
          </p:nvSpPr>
          <p:spPr>
            <a:xfrm>
              <a:off x="3586" y="3038"/>
              <a:ext cx="6163" cy="1195"/>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当只有少数人选择 d，通常是最适合该地区的人；迁移限制放松后，新进入者的平均目的地技能较低。</a:t>
              </a:r>
              <a:endParaRPr sz="1300" b="0">
                <a:solidFill>
                  <a:srgbClr val="2A272B"/>
                </a:solidFill>
                <a:latin typeface="微软雅黑"/>
              </a:endParaRPr>
            </a:p>
          </p:txBody>
        </p:sp>
        <p:sp>
          <p:nvSpPr>
            <p:cNvPr id="26" name="Rectangle 25"/>
            <p:cNvSpPr/>
            <p:nvPr/>
          </p:nvSpPr>
          <p:spPr>
            <a:xfrm>
              <a:off x="10195" y="2304"/>
              <a:ext cx="7661"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195"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 y="2419"/>
              <a:ext cx="7056" cy="331"/>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平均技能：Eq. (5)</a:t>
              </a:r>
              <a:endParaRPr sz="1400" b="1">
                <a:solidFill>
                  <a:srgbClr val="69086F"/>
                </a:solidFill>
                <a:latin typeface="微软雅黑"/>
              </a:endParaRPr>
            </a:p>
          </p:txBody>
        </p:sp>
      </p:grpSp>
      <p:pic>
        <p:nvPicPr>
          <p:cNvPr id="3" name="334E55B0-647D-440b-865C-3EC943EB4CBC-22" descr="wpsoffice"/>
          <p:cNvPicPr>
            <a:picLocks noChangeAspect="1"/>
          </p:cNvPicPr>
          <p:nvPr/>
        </p:nvPicPr>
        <p:blipFill>
          <a:blip r:embed="rId1"/>
          <a:stretch>
            <a:fillRect/>
          </a:stretch>
        </p:blipFill>
        <p:spPr>
          <a:xfrm>
            <a:off x="6961505" y="1926590"/>
            <a:ext cx="3815715" cy="532130"/>
          </a:xfrm>
          <a:prstGeom prst="rect">
            <a:avLst/>
          </a:prstGeom>
        </p:spPr>
      </p:pic>
      <mc:AlternateContent xmlns:mc="http://schemas.openxmlformats.org/markup-compatibility/2006">
        <mc:Choice xmlns:a14="http://schemas.microsoft.com/office/drawing/2010/main" Requires="a14">
          <p:sp>
            <p:nvSpPr>
              <p:cNvPr id="5" name="TextBox 24"/>
              <p:cNvSpPr txBox="1"/>
              <p:nvPr/>
            </p:nvSpPr>
            <p:spPr>
              <a:xfrm>
                <a:off x="1979930" y="2843530"/>
                <a:ext cx="5268595" cy="307340"/>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简化</a:t>
                </a:r>
                <a:r>
                  <a:rPr lang="en-US" altLang="zh-CN" sz="1300" b="0">
                    <a:solidFill>
                      <a:srgbClr val="2A272B"/>
                    </a:solidFill>
                    <a:latin typeface="微软雅黑"/>
                  </a:rPr>
                  <a:t>：</a:t>
                </a:r>
                <a:r>
                  <a:rPr lang="zh-CN" altLang="en-US" sz="1300" b="0">
                    <a:solidFill>
                      <a:srgbClr val="2A272B"/>
                    </a:solidFill>
                    <a:latin typeface="微软雅黑"/>
                  </a:rPr>
                  <a:t>考虑两个地区 </a:t>
                </a:r>
                <a:r>
                  <a:rPr lang="en-US" altLang="zh-CN" sz="1300" b="0">
                    <a:solidFill>
                      <a:srgbClr val="2A272B"/>
                    </a:solidFill>
                    <a:latin typeface="微软雅黑"/>
                  </a:rPr>
                  <a:t>A、B，</a:t>
                </a:r>
                <a:r>
                  <a:rPr lang="zh-CN" altLang="en-US" sz="1300" b="0">
                    <a:solidFill>
                      <a:srgbClr val="2A272B"/>
                    </a:solidFill>
                    <a:latin typeface="微软雅黑"/>
                  </a:rPr>
                  <a:t>且技能相互独立（</a:t>
                </a:r>
                <a14:m>
                  <m:oMath xmlns:m="http://schemas.openxmlformats.org/officeDocument/2006/math">
                    <m:r>
                      <a:rPr lang="en-US" altLang="zh-CN" sz="1300" i="1">
                        <a:solidFill>
                          <a:srgbClr val="2A272B"/>
                        </a:solidFill>
                        <a:latin typeface="DejaVu Math TeX Gyre" panose="02000503000000000000" charset="0"/>
                        <a:cs typeface="DejaVu Math TeX Gyre" panose="02000503000000000000" charset="0"/>
                      </a:rPr>
                      <m:t>𝜌</m:t>
                    </m:r>
                    <m:r>
                      <a:rPr lang="en-US" altLang="zh-CN" sz="1300" i="1">
                        <a:solidFill>
                          <a:srgbClr val="2A272B"/>
                        </a:solidFill>
                        <a:latin typeface="DejaVu Math TeX Gyre" panose="02000503000000000000" charset="0"/>
                        <a:cs typeface="DejaVu Math TeX Gyre" panose="02000503000000000000" charset="0"/>
                      </a:rPr>
                      <m:t>=</m:t>
                    </m:r>
                    <m:r>
                      <a:rPr lang="en-US" altLang="zh-CN" sz="1300" i="1">
                        <a:solidFill>
                          <a:srgbClr val="2A272B"/>
                        </a:solidFill>
                        <a:latin typeface="DejaVu Math TeX Gyre" panose="02000503000000000000" charset="0"/>
                        <a:cs typeface="DejaVu Math TeX Gyre" panose="02000503000000000000" charset="0"/>
                      </a:rPr>
                      <m:t>0</m:t>
                    </m:r>
                    <m:r>
                      <a:rPr lang="en-US" altLang="zh-CN" sz="1300" i="1">
                        <a:solidFill>
                          <a:srgbClr val="2A272B"/>
                        </a:solidFill>
                        <a:latin typeface="DejaVu Math TeX Gyre" panose="02000503000000000000" charset="0"/>
                        <a:cs typeface="DejaVu Math TeX Gyre" panose="02000503000000000000" charset="0"/>
                      </a:rPr>
                      <m:t>，</m:t>
                    </m:r>
                    <m:r>
                      <a:rPr lang="en-US" altLang="zh-CN" sz="1300" i="1">
                        <a:solidFill>
                          <a:srgbClr val="2A272B"/>
                        </a:solidFill>
                        <a:latin typeface="DejaVu Math TeX Gyre" panose="02000503000000000000" charset="0"/>
                        <a:cs typeface="DejaVu Math TeX Gyre" panose="02000503000000000000" charset="0"/>
                      </a:rPr>
                      <m:t>𝜃</m:t>
                    </m:r>
                    <m:r>
                      <a:rPr lang="en-US" altLang="zh-CN" sz="1300" i="1">
                        <a:solidFill>
                          <a:srgbClr val="2A272B"/>
                        </a:solidFill>
                        <a:latin typeface="DejaVu Math TeX Gyre" panose="02000503000000000000" charset="0"/>
                        <a:cs typeface="DejaVu Math TeX Gyre" panose="02000503000000000000" charset="0"/>
                      </a:rPr>
                      <m:t>=</m:t>
                    </m:r>
                    <m:acc>
                      <m:accPr>
                        <m:chr m:val="̃"/>
                        <m:ctrlPr>
                          <a:rPr lang="en-US" altLang="zh-CN" sz="1300" i="1">
                            <a:solidFill>
                              <a:srgbClr val="2A272B"/>
                            </a:solidFill>
                            <a:latin typeface="DejaVu Math TeX Gyre" panose="02000503000000000000" charset="0"/>
                            <a:cs typeface="DejaVu Math TeX Gyre" panose="02000503000000000000" charset="0"/>
                          </a:rPr>
                        </m:ctrlPr>
                      </m:accPr>
                      <m:e>
                        <m:r>
                          <a:rPr lang="en-US" altLang="zh-CN" sz="1300" i="1">
                            <a:solidFill>
                              <a:srgbClr val="2A272B"/>
                            </a:solidFill>
                            <a:latin typeface="DejaVu Math TeX Gyre" panose="02000503000000000000" charset="0"/>
                            <a:cs typeface="DejaVu Math TeX Gyre" panose="02000503000000000000" charset="0"/>
                          </a:rPr>
                          <m:t>𝜃</m:t>
                        </m:r>
                      </m:e>
                    </m:acc>
                  </m:oMath>
                </a14:m>
                <a:r>
                  <a:rPr lang="en-US" altLang="zh-CN" sz="1300" b="0">
                    <a:solidFill>
                      <a:srgbClr val="2A272B"/>
                    </a:solidFill>
                    <a:latin typeface="微软雅黑"/>
                  </a:rPr>
                  <a:t>）</a:t>
                </a:r>
                <a:endParaRPr lang="en-US" altLang="zh-CN" sz="1300" b="0">
                  <a:solidFill>
                    <a:srgbClr val="2A272B"/>
                  </a:solidFill>
                  <a:latin typeface="微软雅黑"/>
                </a:endParaRPr>
              </a:p>
            </p:txBody>
          </p:sp>
        </mc:Choice>
        <mc:Fallback>
          <p:sp>
            <p:nvSpPr>
              <p:cNvPr id="5" name="TextBox 24"/>
              <p:cNvSpPr txBox="1">
                <a:spLocks noRot="1" noChangeAspect="1" noMove="1" noResize="1" noEditPoints="1" noAdjustHandles="1" noChangeArrowheads="1" noChangeShapeType="1" noTextEdit="1"/>
              </p:cNvSpPr>
              <p:nvPr/>
            </p:nvSpPr>
            <p:spPr>
              <a:xfrm>
                <a:off x="1979930" y="2843530"/>
                <a:ext cx="5268595" cy="30734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24"/>
              <p:cNvSpPr txBox="1"/>
              <p:nvPr/>
            </p:nvSpPr>
            <p:spPr>
              <a:xfrm>
                <a:off x="1979930" y="3126740"/>
                <a:ext cx="5268595" cy="3016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劳动者在目的地 </a:t>
                </a:r>
                <a:r>
                  <a:rPr lang="en-US" altLang="zh-CN" sz="1300" b="0">
                    <a:solidFill>
                      <a:srgbClr val="2A272B"/>
                    </a:solidFill>
                    <a:latin typeface="微软雅黑"/>
                  </a:rPr>
                  <a:t>d</a:t>
                </a:r>
                <a:r>
                  <a:rPr lang="zh-CN" altLang="en-US" sz="1300" b="0">
                    <a:solidFill>
                      <a:srgbClr val="2A272B"/>
                    </a:solidFill>
                    <a:latin typeface="微软雅黑"/>
                  </a:rPr>
                  <a:t>的技能为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𝑠</m:t>
                        </m:r>
                      </m:e>
                      <m:sub>
                        <m:r>
                          <a:rPr lang="en-US" altLang="zh-CN" sz="1300" b="0" i="1">
                            <a:solidFill>
                              <a:srgbClr val="2A272B"/>
                            </a:solidFill>
                            <a:latin typeface="DejaVu Math TeX Gyre" panose="02000503000000000000" charset="0"/>
                            <a:cs typeface="DejaVu Math TeX Gyre" panose="02000503000000000000" charset="0"/>
                          </a:rPr>
                          <m:t>𝑑</m:t>
                        </m:r>
                      </m:sub>
                    </m:sSub>
                  </m:oMath>
                </a14:m>
                <a:r>
                  <a:rPr lang="en-US" altLang="zh-CN" sz="1300" b="0">
                    <a:solidFill>
                      <a:srgbClr val="2A272B"/>
                    </a:solidFill>
                    <a:latin typeface="微软雅黑"/>
                  </a:rPr>
                  <a:t>，</a:t>
                </a:r>
                <a:r>
                  <a:rPr lang="zh-CN" altLang="en-US" sz="1300" b="0">
                    <a:solidFill>
                      <a:srgbClr val="2A272B"/>
                    </a:solidFill>
                    <a:latin typeface="微软雅黑"/>
                  </a:rPr>
                  <a:t>假设其服从标准 </a:t>
                </a:r>
                <a:r>
                  <a:rPr lang="en-US" altLang="zh-CN" sz="1300" b="0">
                    <a:solidFill>
                      <a:srgbClr val="2A272B"/>
                    </a:solidFill>
                    <a:latin typeface="微软雅黑"/>
                  </a:rPr>
                  <a:t>Fr</a:t>
                </a:r>
                <a:r>
                  <a:rPr lang="en-US" altLang="en-US" sz="1300" b="0">
                    <a:solidFill>
                      <a:srgbClr val="2A272B"/>
                    </a:solidFill>
                    <a:latin typeface="微软雅黑"/>
                  </a:rPr>
                  <a:t>é</a:t>
                </a:r>
                <a:r>
                  <a:rPr lang="en-US" altLang="zh-CN" sz="1300" b="0">
                    <a:solidFill>
                      <a:srgbClr val="2A272B"/>
                    </a:solidFill>
                    <a:latin typeface="微软雅黑"/>
                  </a:rPr>
                  <a:t>chet </a:t>
                </a:r>
                <a:r>
                  <a:rPr lang="zh-CN" altLang="en-US" sz="1300" b="0">
                    <a:solidFill>
                      <a:srgbClr val="2A272B"/>
                    </a:solidFill>
                    <a:latin typeface="微软雅黑"/>
                  </a:rPr>
                  <a:t>分布：</a:t>
                </a:r>
                <a:endParaRPr lang="zh-CN" altLang="en-US" sz="1300" b="0">
                  <a:solidFill>
                    <a:srgbClr val="2A272B"/>
                  </a:solidFill>
                  <a:latin typeface="微软雅黑"/>
                </a:endParaRPr>
              </a:p>
            </p:txBody>
          </p:sp>
        </mc:Choice>
        <mc:Fallback>
          <p:sp>
            <p:nvSpPr>
              <p:cNvPr id="6" name="TextBox 24"/>
              <p:cNvSpPr txBox="1">
                <a:spLocks noRot="1" noChangeAspect="1" noMove="1" noResize="1" noEditPoints="1" noAdjustHandles="1" noChangeArrowheads="1" noChangeShapeType="1" noTextEdit="1"/>
              </p:cNvSpPr>
              <p:nvPr/>
            </p:nvSpPr>
            <p:spPr>
              <a:xfrm>
                <a:off x="1979930" y="3126740"/>
                <a:ext cx="5268595" cy="30162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23" descr="wpsoffice"/>
          <p:cNvPicPr>
            <a:picLocks noChangeAspect="1"/>
          </p:cNvPicPr>
          <p:nvPr/>
        </p:nvPicPr>
        <p:blipFill>
          <a:blip r:embed="rId4"/>
          <a:stretch>
            <a:fillRect/>
          </a:stretch>
        </p:blipFill>
        <p:spPr>
          <a:xfrm>
            <a:off x="2130425" y="3452495"/>
            <a:ext cx="3313430" cy="279400"/>
          </a:xfrm>
          <a:prstGeom prst="rect">
            <a:avLst/>
          </a:prstGeom>
        </p:spPr>
      </p:pic>
      <p:pic>
        <p:nvPicPr>
          <p:cNvPr id="8" name="334E55B0-647D-440b-865C-3EC943EB4CBC-24" descr="wpsoffice"/>
          <p:cNvPicPr>
            <a:picLocks noChangeAspect="1"/>
          </p:cNvPicPr>
          <p:nvPr/>
        </p:nvPicPr>
        <p:blipFill>
          <a:blip r:embed="rId5"/>
          <a:stretch>
            <a:fillRect/>
          </a:stretch>
        </p:blipFill>
        <p:spPr>
          <a:xfrm>
            <a:off x="2121535" y="3867785"/>
            <a:ext cx="4730115" cy="448310"/>
          </a:xfrm>
          <a:prstGeom prst="rect">
            <a:avLst/>
          </a:prstGeom>
        </p:spPr>
      </p:pic>
      <mc:AlternateContent xmlns:mc="http://schemas.openxmlformats.org/markup-compatibility/2006">
        <mc:Choice xmlns:a14="http://schemas.microsoft.com/office/drawing/2010/main" Requires="a14">
          <p:sp>
            <p:nvSpPr>
              <p:cNvPr id="9" name="TextBox 24"/>
              <p:cNvSpPr txBox="1"/>
              <p:nvPr/>
            </p:nvSpPr>
            <p:spPr>
              <a:xfrm>
                <a:off x="1979930" y="4496435"/>
                <a:ext cx="5268595" cy="486410"/>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用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𝑏</m:t>
                        </m:r>
                      </m:e>
                      <m:sub>
                        <m:r>
                          <a:rPr lang="en-US" altLang="zh-CN" sz="1300" b="0" i="1">
                            <a:solidFill>
                              <a:srgbClr val="2A272B"/>
                            </a:solidFill>
                            <a:latin typeface="DejaVu Math TeX Gyre" panose="02000503000000000000" charset="0"/>
                            <a:cs typeface="DejaVu Math TeX Gyre" panose="02000503000000000000" charset="0"/>
                          </a:rPr>
                          <m:t>𝐴</m:t>
                        </m:r>
                      </m:sub>
                    </m:sSub>
                  </m:oMath>
                </a14:m>
                <a:r>
                  <a:rPr lang="zh-CN" altLang="en-US" sz="1300" b="0">
                    <a:solidFill>
                      <a:srgbClr val="2A272B"/>
                    </a:solidFill>
                    <a:latin typeface="微软雅黑"/>
                  </a:rPr>
                  <a:t>和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𝑏</m:t>
                        </m:r>
                      </m:e>
                      <m:sub>
                        <m:r>
                          <a:rPr lang="en-US" altLang="zh-CN" sz="1300" b="0" i="1">
                            <a:solidFill>
                              <a:srgbClr val="2A272B"/>
                            </a:solidFill>
                            <a:latin typeface="DejaVu Math TeX Gyre" panose="02000503000000000000" charset="0"/>
                            <a:cs typeface="DejaVu Math TeX Gyre" panose="02000503000000000000" charset="0"/>
                          </a:rPr>
                          <m:t>𝐵</m:t>
                        </m:r>
                      </m:sub>
                    </m:sSub>
                  </m:oMath>
                </a14:m>
                <a:r>
                  <a:rPr lang="zh-CN" altLang="en-US" sz="1300" b="0">
                    <a:solidFill>
                      <a:srgbClr val="2A272B"/>
                    </a:solidFill>
                    <a:latin typeface="微软雅黑"/>
                  </a:rPr>
                  <a:t>分别表示 </a:t>
                </a:r>
                <a:r>
                  <a:rPr lang="en-US" altLang="zh-CN" sz="1300" b="0">
                    <a:solidFill>
                      <a:srgbClr val="2A272B"/>
                    </a:solidFill>
                    <a:latin typeface="微软雅黑"/>
                  </a:rPr>
                  <a:t>A、B </a:t>
                </a:r>
                <a:r>
                  <a:rPr lang="zh-CN" altLang="en-US" sz="1300" b="0">
                    <a:solidFill>
                      <a:srgbClr val="2A272B"/>
                    </a:solidFill>
                    <a:latin typeface="微软雅黑"/>
                  </a:rPr>
                  <a:t>两个地区的吸引力，综合工资、宜居性与迁移成本，但不包括个人技能</a:t>
                </a:r>
                <a:r>
                  <a:rPr lang="en-US" altLang="zh-CN" sz="1300" b="0">
                    <a:solidFill>
                      <a:srgbClr val="2A272B"/>
                    </a:solidFill>
                    <a:latin typeface="微软雅黑"/>
                  </a:rPr>
                  <a:t>。</a:t>
                </a:r>
                <a:r>
                  <a:rPr lang="zh-CN" altLang="en-US" sz="1300" b="0">
                    <a:solidFill>
                      <a:srgbClr val="2A272B"/>
                    </a:solidFill>
                    <a:latin typeface="微软雅黑"/>
                  </a:rPr>
                  <a:t>则两地效用函数</a:t>
                </a:r>
                <a:r>
                  <a:rPr lang="en-US" altLang="zh-CN" sz="1300" b="0">
                    <a:solidFill>
                      <a:srgbClr val="2A272B"/>
                    </a:solidFill>
                    <a:latin typeface="微软雅黑"/>
                  </a:rPr>
                  <a:t>：</a:t>
                </a:r>
                <a:endParaRPr lang="en-US" altLang="zh-CN" sz="1300" b="0">
                  <a:solidFill>
                    <a:srgbClr val="2A272B"/>
                  </a:solidFill>
                  <a:latin typeface="微软雅黑"/>
                </a:endParaRPr>
              </a:p>
            </p:txBody>
          </p:sp>
        </mc:Choice>
        <mc:Fallback>
          <p:sp>
            <p:nvSpPr>
              <p:cNvPr id="9" name="TextBox 24"/>
              <p:cNvSpPr txBox="1">
                <a:spLocks noRot="1" noChangeAspect="1" noMove="1" noResize="1" noEditPoints="1" noAdjustHandles="1" noChangeArrowheads="1" noChangeShapeType="1" noTextEdit="1"/>
              </p:cNvSpPr>
              <p:nvPr/>
            </p:nvSpPr>
            <p:spPr>
              <a:xfrm>
                <a:off x="1979930" y="4496435"/>
                <a:ext cx="5268595" cy="486410"/>
              </a:xfrm>
              <a:prstGeom prst="rect">
                <a:avLst/>
              </a:prstGeom>
              <a:blipFill rotWithShape="1">
                <a:blip r:embed="rId6"/>
                <a:stretch>
                  <a:fillRect/>
                </a:stretch>
              </a:blipFill>
            </p:spPr>
            <p:txBody>
              <a:bodyPr/>
              <a:lstStyle/>
              <a:p>
                <a:r>
                  <a:rPr lang="zh-CN" altLang="en-US">
                    <a:noFill/>
                  </a:rPr>
                  <a:t> </a:t>
                </a:r>
              </a:p>
            </p:txBody>
          </p:sp>
        </mc:Fallback>
      </mc:AlternateContent>
      <p:pic>
        <p:nvPicPr>
          <p:cNvPr id="14" name="334E55B0-647D-440b-865C-3EC943EB4CBC-25" descr="wpsoffice"/>
          <p:cNvPicPr>
            <a:picLocks noChangeAspect="1"/>
          </p:cNvPicPr>
          <p:nvPr/>
        </p:nvPicPr>
        <p:blipFill>
          <a:blip r:embed="rId7"/>
          <a:stretch>
            <a:fillRect/>
          </a:stretch>
        </p:blipFill>
        <p:spPr>
          <a:xfrm>
            <a:off x="6090920" y="3423920"/>
            <a:ext cx="9525" cy="9525"/>
          </a:xfrm>
          <a:prstGeom prst="rect">
            <a:avLst/>
          </a:prstGeom>
        </p:spPr>
      </p:pic>
      <p:pic>
        <p:nvPicPr>
          <p:cNvPr id="19" name="334E55B0-647D-440b-865C-3EC943EB4CBC-26" descr="wpsoffice"/>
          <p:cNvPicPr>
            <a:picLocks noChangeAspect="1"/>
          </p:cNvPicPr>
          <p:nvPr/>
        </p:nvPicPr>
        <p:blipFill>
          <a:blip r:embed="rId8"/>
          <a:stretch>
            <a:fillRect/>
          </a:stretch>
        </p:blipFill>
        <p:spPr>
          <a:xfrm>
            <a:off x="2171700" y="5163185"/>
            <a:ext cx="2936240" cy="1254125"/>
          </a:xfrm>
          <a:prstGeom prst="rect">
            <a:avLst/>
          </a:prstGeom>
        </p:spPr>
      </p:pic>
      <p:pic>
        <p:nvPicPr>
          <p:cNvPr id="45" name="334E55B0-647D-440b-865C-3EC943EB4CBC-27" descr="wpsoffice"/>
          <p:cNvPicPr>
            <a:picLocks noChangeAspect="1"/>
          </p:cNvPicPr>
          <p:nvPr/>
        </p:nvPicPr>
        <p:blipFill>
          <a:blip r:embed="rId9"/>
          <a:stretch>
            <a:fillRect/>
          </a:stretch>
        </p:blipFill>
        <p:spPr>
          <a:xfrm>
            <a:off x="7390765" y="3013710"/>
            <a:ext cx="3947795" cy="240538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4" name="组合 43"/>
          <p:cNvGrpSpPr/>
          <p:nvPr/>
        </p:nvGrpSpPr>
        <p:grpSpPr>
          <a:xfrm>
            <a:off x="2121535" y="1060450"/>
            <a:ext cx="9217025" cy="1691640"/>
            <a:chOff x="3341" y="1670"/>
            <a:chExt cx="14515" cy="266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Eqs. (5)–(6)：观察到的迁移者并非随机抽样，而是经过技能选择。</a:t>
              </a:r>
              <a:endParaRPr sz="1400" b="1">
                <a:solidFill>
                  <a:srgbClr val="69086F"/>
                </a:solidFill>
                <a:latin typeface="微软雅黑"/>
              </a:endParaRPr>
            </a:p>
          </p:txBody>
        </p:sp>
        <p:sp>
          <p:nvSpPr>
            <p:cNvPr id="22" name="Rectangle 21"/>
            <p:cNvSpPr/>
            <p:nvPr/>
          </p:nvSpPr>
          <p:spPr>
            <a:xfrm>
              <a:off x="3341" y="2304"/>
              <a:ext cx="6624"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77"/>
              <a:ext cx="6192"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原文机制：高收益者先迁移</a:t>
              </a:r>
              <a:endParaRPr sz="1600" b="1">
                <a:solidFill>
                  <a:srgbClr val="69086F"/>
                </a:solidFill>
                <a:latin typeface="微软雅黑"/>
              </a:endParaRPr>
            </a:p>
          </p:txBody>
        </p:sp>
        <p:sp>
          <p:nvSpPr>
            <p:cNvPr id="25" name="TextBox 24"/>
            <p:cNvSpPr txBox="1"/>
            <p:nvPr/>
          </p:nvSpPr>
          <p:spPr>
            <a:xfrm>
              <a:off x="3586" y="3038"/>
              <a:ext cx="6163" cy="1195"/>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当只有少数人选择 d，通常是最适合该地区的人；迁移限制放松后，新进入者的平均目的地技能较低。</a:t>
              </a:r>
              <a:endParaRPr sz="1300" b="0">
                <a:solidFill>
                  <a:srgbClr val="2A272B"/>
                </a:solidFill>
                <a:latin typeface="微软雅黑"/>
              </a:endParaRPr>
            </a:p>
          </p:txBody>
        </p:sp>
        <p:sp>
          <p:nvSpPr>
            <p:cNvPr id="26" name="Rectangle 25"/>
            <p:cNvSpPr/>
            <p:nvPr/>
          </p:nvSpPr>
          <p:spPr>
            <a:xfrm>
              <a:off x="10195" y="2304"/>
              <a:ext cx="7661"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195"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 y="2419"/>
              <a:ext cx="7056" cy="331"/>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平均技能：Eq. (5)</a:t>
              </a:r>
              <a:endParaRPr sz="1400" b="1">
                <a:solidFill>
                  <a:srgbClr val="69086F"/>
                </a:solidFill>
                <a:latin typeface="微软雅黑"/>
              </a:endParaRPr>
            </a:p>
          </p:txBody>
        </p:sp>
      </p:grpSp>
      <p:pic>
        <p:nvPicPr>
          <p:cNvPr id="3" name="334E55B0-647D-440b-865C-3EC943EB4CBC-28" descr="wpsoffice"/>
          <p:cNvPicPr>
            <a:picLocks noChangeAspect="1"/>
          </p:cNvPicPr>
          <p:nvPr/>
        </p:nvPicPr>
        <p:blipFill>
          <a:blip r:embed="rId1"/>
          <a:stretch>
            <a:fillRect/>
          </a:stretch>
        </p:blipFill>
        <p:spPr>
          <a:xfrm>
            <a:off x="6961505" y="1926590"/>
            <a:ext cx="3815715" cy="532130"/>
          </a:xfrm>
          <a:prstGeom prst="rect">
            <a:avLst/>
          </a:prstGeom>
        </p:spPr>
      </p:pic>
      <mc:AlternateContent xmlns:mc="http://schemas.openxmlformats.org/markup-compatibility/2006">
        <mc:Choice xmlns:a14="http://schemas.microsoft.com/office/drawing/2010/main" Requires="a14">
          <p:sp>
            <p:nvSpPr>
              <p:cNvPr id="5" name="TextBox 24"/>
              <p:cNvSpPr txBox="1"/>
              <p:nvPr/>
            </p:nvSpPr>
            <p:spPr>
              <a:xfrm>
                <a:off x="1979930" y="2843530"/>
                <a:ext cx="5268595" cy="307340"/>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简化</a:t>
                </a:r>
                <a:r>
                  <a:rPr lang="en-US" altLang="zh-CN" sz="1300" b="0">
                    <a:solidFill>
                      <a:srgbClr val="2A272B"/>
                    </a:solidFill>
                    <a:latin typeface="微软雅黑"/>
                  </a:rPr>
                  <a:t>：</a:t>
                </a:r>
                <a:r>
                  <a:rPr lang="zh-CN" altLang="en-US" sz="1300" b="0">
                    <a:solidFill>
                      <a:srgbClr val="2A272B"/>
                    </a:solidFill>
                    <a:latin typeface="微软雅黑"/>
                  </a:rPr>
                  <a:t>考虑两个地区 </a:t>
                </a:r>
                <a:r>
                  <a:rPr lang="en-US" altLang="zh-CN" sz="1300" b="0">
                    <a:solidFill>
                      <a:srgbClr val="2A272B"/>
                    </a:solidFill>
                    <a:latin typeface="微软雅黑"/>
                  </a:rPr>
                  <a:t>A、B，</a:t>
                </a:r>
                <a:r>
                  <a:rPr lang="zh-CN" altLang="en-US" sz="1300" b="0">
                    <a:solidFill>
                      <a:srgbClr val="2A272B"/>
                    </a:solidFill>
                    <a:latin typeface="微软雅黑"/>
                  </a:rPr>
                  <a:t>且技能相互独立（</a:t>
                </a:r>
                <a14:m>
                  <m:oMath xmlns:m="http://schemas.openxmlformats.org/officeDocument/2006/math">
                    <m:r>
                      <a:rPr lang="en-US" altLang="zh-CN" sz="1300" i="1">
                        <a:solidFill>
                          <a:srgbClr val="2A272B"/>
                        </a:solidFill>
                        <a:latin typeface="DejaVu Math TeX Gyre" panose="02000503000000000000" charset="0"/>
                        <a:cs typeface="DejaVu Math TeX Gyre" panose="02000503000000000000" charset="0"/>
                      </a:rPr>
                      <m:t>𝜌</m:t>
                    </m:r>
                    <m:r>
                      <a:rPr lang="en-US" altLang="zh-CN" sz="1300" i="1">
                        <a:solidFill>
                          <a:srgbClr val="2A272B"/>
                        </a:solidFill>
                        <a:latin typeface="DejaVu Math TeX Gyre" panose="02000503000000000000" charset="0"/>
                        <a:cs typeface="DejaVu Math TeX Gyre" panose="02000503000000000000" charset="0"/>
                      </a:rPr>
                      <m:t>=</m:t>
                    </m:r>
                    <m:r>
                      <a:rPr lang="en-US" altLang="zh-CN" sz="1300" i="1">
                        <a:solidFill>
                          <a:srgbClr val="2A272B"/>
                        </a:solidFill>
                        <a:latin typeface="DejaVu Math TeX Gyre" panose="02000503000000000000" charset="0"/>
                        <a:cs typeface="DejaVu Math TeX Gyre" panose="02000503000000000000" charset="0"/>
                      </a:rPr>
                      <m:t>0</m:t>
                    </m:r>
                    <m:r>
                      <a:rPr lang="en-US" altLang="zh-CN" sz="1300" i="1">
                        <a:solidFill>
                          <a:srgbClr val="2A272B"/>
                        </a:solidFill>
                        <a:latin typeface="DejaVu Math TeX Gyre" panose="02000503000000000000" charset="0"/>
                        <a:cs typeface="DejaVu Math TeX Gyre" panose="02000503000000000000" charset="0"/>
                      </a:rPr>
                      <m:t>，</m:t>
                    </m:r>
                    <m:r>
                      <a:rPr lang="en-US" altLang="zh-CN" sz="1300" i="1">
                        <a:solidFill>
                          <a:srgbClr val="2A272B"/>
                        </a:solidFill>
                        <a:latin typeface="DejaVu Math TeX Gyre" panose="02000503000000000000" charset="0"/>
                        <a:cs typeface="DejaVu Math TeX Gyre" panose="02000503000000000000" charset="0"/>
                      </a:rPr>
                      <m:t>𝜃</m:t>
                    </m:r>
                    <m:r>
                      <a:rPr lang="en-US" altLang="zh-CN" sz="1300" i="1">
                        <a:solidFill>
                          <a:srgbClr val="2A272B"/>
                        </a:solidFill>
                        <a:latin typeface="DejaVu Math TeX Gyre" panose="02000503000000000000" charset="0"/>
                        <a:cs typeface="DejaVu Math TeX Gyre" panose="02000503000000000000" charset="0"/>
                      </a:rPr>
                      <m:t>=</m:t>
                    </m:r>
                    <m:acc>
                      <m:accPr>
                        <m:chr m:val="̃"/>
                        <m:ctrlPr>
                          <a:rPr lang="en-US" altLang="zh-CN" sz="1300" i="1">
                            <a:solidFill>
                              <a:srgbClr val="2A272B"/>
                            </a:solidFill>
                            <a:latin typeface="DejaVu Math TeX Gyre" panose="02000503000000000000" charset="0"/>
                            <a:cs typeface="DejaVu Math TeX Gyre" panose="02000503000000000000" charset="0"/>
                          </a:rPr>
                        </m:ctrlPr>
                      </m:accPr>
                      <m:e>
                        <m:r>
                          <a:rPr lang="en-US" altLang="zh-CN" sz="1300" i="1">
                            <a:solidFill>
                              <a:srgbClr val="2A272B"/>
                            </a:solidFill>
                            <a:latin typeface="DejaVu Math TeX Gyre" panose="02000503000000000000" charset="0"/>
                            <a:cs typeface="DejaVu Math TeX Gyre" panose="02000503000000000000" charset="0"/>
                          </a:rPr>
                          <m:t>𝜃</m:t>
                        </m:r>
                      </m:e>
                    </m:acc>
                  </m:oMath>
                </a14:m>
                <a:r>
                  <a:rPr lang="en-US" altLang="zh-CN" sz="1300" b="0">
                    <a:solidFill>
                      <a:srgbClr val="2A272B"/>
                    </a:solidFill>
                    <a:latin typeface="微软雅黑"/>
                  </a:rPr>
                  <a:t>）</a:t>
                </a:r>
                <a:endParaRPr lang="en-US" altLang="zh-CN" sz="1300" b="0">
                  <a:solidFill>
                    <a:srgbClr val="2A272B"/>
                  </a:solidFill>
                  <a:latin typeface="微软雅黑"/>
                </a:endParaRPr>
              </a:p>
            </p:txBody>
          </p:sp>
        </mc:Choice>
        <mc:Fallback>
          <p:sp>
            <p:nvSpPr>
              <p:cNvPr id="5" name="TextBox 24"/>
              <p:cNvSpPr txBox="1">
                <a:spLocks noRot="1" noChangeAspect="1" noMove="1" noResize="1" noEditPoints="1" noAdjustHandles="1" noChangeArrowheads="1" noChangeShapeType="1" noTextEdit="1"/>
              </p:cNvSpPr>
              <p:nvPr/>
            </p:nvSpPr>
            <p:spPr>
              <a:xfrm>
                <a:off x="1979930" y="2843530"/>
                <a:ext cx="5268595" cy="30734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24"/>
              <p:cNvSpPr txBox="1"/>
              <p:nvPr/>
            </p:nvSpPr>
            <p:spPr>
              <a:xfrm>
                <a:off x="1979930" y="3126740"/>
                <a:ext cx="5268595" cy="3016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劳动者在目的地 </a:t>
                </a:r>
                <a:r>
                  <a:rPr lang="en-US" altLang="zh-CN" sz="1300" b="0">
                    <a:solidFill>
                      <a:srgbClr val="2A272B"/>
                    </a:solidFill>
                    <a:latin typeface="微软雅黑"/>
                  </a:rPr>
                  <a:t>d</a:t>
                </a:r>
                <a:r>
                  <a:rPr lang="zh-CN" altLang="en-US" sz="1300" b="0">
                    <a:solidFill>
                      <a:srgbClr val="2A272B"/>
                    </a:solidFill>
                    <a:latin typeface="微软雅黑"/>
                  </a:rPr>
                  <a:t>的技能为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𝑠</m:t>
                        </m:r>
                      </m:e>
                      <m:sub>
                        <m:r>
                          <a:rPr lang="en-US" altLang="zh-CN" sz="1300" b="0" i="1">
                            <a:solidFill>
                              <a:srgbClr val="2A272B"/>
                            </a:solidFill>
                            <a:latin typeface="DejaVu Math TeX Gyre" panose="02000503000000000000" charset="0"/>
                            <a:cs typeface="DejaVu Math TeX Gyre" panose="02000503000000000000" charset="0"/>
                          </a:rPr>
                          <m:t>𝑑</m:t>
                        </m:r>
                      </m:sub>
                    </m:sSub>
                  </m:oMath>
                </a14:m>
                <a:r>
                  <a:rPr lang="en-US" altLang="zh-CN" sz="1300" b="0">
                    <a:solidFill>
                      <a:srgbClr val="2A272B"/>
                    </a:solidFill>
                    <a:latin typeface="微软雅黑"/>
                  </a:rPr>
                  <a:t>，</a:t>
                </a:r>
                <a:r>
                  <a:rPr lang="zh-CN" altLang="en-US" sz="1300" b="0">
                    <a:solidFill>
                      <a:srgbClr val="2A272B"/>
                    </a:solidFill>
                    <a:latin typeface="微软雅黑"/>
                  </a:rPr>
                  <a:t>假设其服从标准 </a:t>
                </a:r>
                <a:r>
                  <a:rPr lang="en-US" altLang="zh-CN" sz="1300" b="0">
                    <a:solidFill>
                      <a:srgbClr val="2A272B"/>
                    </a:solidFill>
                    <a:latin typeface="微软雅黑"/>
                  </a:rPr>
                  <a:t>Fr</a:t>
                </a:r>
                <a:r>
                  <a:rPr lang="en-US" altLang="en-US" sz="1300" b="0">
                    <a:solidFill>
                      <a:srgbClr val="2A272B"/>
                    </a:solidFill>
                    <a:latin typeface="微软雅黑"/>
                  </a:rPr>
                  <a:t>é</a:t>
                </a:r>
                <a:r>
                  <a:rPr lang="en-US" altLang="zh-CN" sz="1300" b="0">
                    <a:solidFill>
                      <a:srgbClr val="2A272B"/>
                    </a:solidFill>
                    <a:latin typeface="微软雅黑"/>
                  </a:rPr>
                  <a:t>chet </a:t>
                </a:r>
                <a:r>
                  <a:rPr lang="zh-CN" altLang="en-US" sz="1300" b="0">
                    <a:solidFill>
                      <a:srgbClr val="2A272B"/>
                    </a:solidFill>
                    <a:latin typeface="微软雅黑"/>
                  </a:rPr>
                  <a:t>分布：</a:t>
                </a:r>
                <a:endParaRPr lang="zh-CN" altLang="en-US" sz="1300" b="0">
                  <a:solidFill>
                    <a:srgbClr val="2A272B"/>
                  </a:solidFill>
                  <a:latin typeface="微软雅黑"/>
                </a:endParaRPr>
              </a:p>
            </p:txBody>
          </p:sp>
        </mc:Choice>
        <mc:Fallback>
          <p:sp>
            <p:nvSpPr>
              <p:cNvPr id="6" name="TextBox 24"/>
              <p:cNvSpPr txBox="1">
                <a:spLocks noRot="1" noChangeAspect="1" noMove="1" noResize="1" noEditPoints="1" noAdjustHandles="1" noChangeArrowheads="1" noChangeShapeType="1" noTextEdit="1"/>
              </p:cNvSpPr>
              <p:nvPr/>
            </p:nvSpPr>
            <p:spPr>
              <a:xfrm>
                <a:off x="1979930" y="3126740"/>
                <a:ext cx="5268595" cy="30162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29" descr="wpsoffice"/>
          <p:cNvPicPr>
            <a:picLocks noChangeAspect="1"/>
          </p:cNvPicPr>
          <p:nvPr/>
        </p:nvPicPr>
        <p:blipFill>
          <a:blip r:embed="rId4"/>
          <a:stretch>
            <a:fillRect/>
          </a:stretch>
        </p:blipFill>
        <p:spPr>
          <a:xfrm>
            <a:off x="2130425" y="3452495"/>
            <a:ext cx="3313430" cy="279400"/>
          </a:xfrm>
          <a:prstGeom prst="rect">
            <a:avLst/>
          </a:prstGeom>
        </p:spPr>
      </p:pic>
      <p:pic>
        <p:nvPicPr>
          <p:cNvPr id="8" name="334E55B0-647D-440b-865C-3EC943EB4CBC-30" descr="wpsoffice"/>
          <p:cNvPicPr>
            <a:picLocks noChangeAspect="1"/>
          </p:cNvPicPr>
          <p:nvPr/>
        </p:nvPicPr>
        <p:blipFill>
          <a:blip r:embed="rId5"/>
          <a:stretch>
            <a:fillRect/>
          </a:stretch>
        </p:blipFill>
        <p:spPr>
          <a:xfrm>
            <a:off x="2121535" y="3867785"/>
            <a:ext cx="4730115" cy="448310"/>
          </a:xfrm>
          <a:prstGeom prst="rect">
            <a:avLst/>
          </a:prstGeom>
        </p:spPr>
      </p:pic>
      <mc:AlternateContent xmlns:mc="http://schemas.openxmlformats.org/markup-compatibility/2006">
        <mc:Choice xmlns:a14="http://schemas.microsoft.com/office/drawing/2010/main" Requires="a14">
          <p:sp>
            <p:nvSpPr>
              <p:cNvPr id="9" name="TextBox 24"/>
              <p:cNvSpPr txBox="1"/>
              <p:nvPr/>
            </p:nvSpPr>
            <p:spPr>
              <a:xfrm>
                <a:off x="1979930" y="4496435"/>
                <a:ext cx="5268595" cy="486410"/>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用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𝑏</m:t>
                        </m:r>
                      </m:e>
                      <m:sub>
                        <m:r>
                          <a:rPr lang="en-US" altLang="zh-CN" sz="1300" b="0" i="1">
                            <a:solidFill>
                              <a:srgbClr val="2A272B"/>
                            </a:solidFill>
                            <a:latin typeface="DejaVu Math TeX Gyre" panose="02000503000000000000" charset="0"/>
                            <a:cs typeface="DejaVu Math TeX Gyre" panose="02000503000000000000" charset="0"/>
                          </a:rPr>
                          <m:t>𝐴</m:t>
                        </m:r>
                      </m:sub>
                    </m:sSub>
                  </m:oMath>
                </a14:m>
                <a:r>
                  <a:rPr lang="zh-CN" altLang="en-US" sz="1300" b="0">
                    <a:solidFill>
                      <a:srgbClr val="2A272B"/>
                    </a:solidFill>
                    <a:latin typeface="微软雅黑"/>
                  </a:rPr>
                  <a:t>和 </a:t>
                </a:r>
                <a14:m>
                  <m:oMath xmlns:m="http://schemas.openxmlformats.org/officeDocument/2006/math">
                    <m:sSub>
                      <m:sSubPr>
                        <m:ctrlPr>
                          <a:rPr lang="en-US" altLang="zh-CN" sz="1300" b="0" i="1">
                            <a:solidFill>
                              <a:srgbClr val="2A272B"/>
                            </a:solidFill>
                            <a:latin typeface="DejaVu Math TeX Gyre" panose="02000503000000000000" charset="0"/>
                            <a:cs typeface="DejaVu Math TeX Gyre" panose="02000503000000000000" charset="0"/>
                          </a:rPr>
                        </m:ctrlPr>
                      </m:sSubPr>
                      <m:e>
                        <m:r>
                          <a:rPr lang="en-US" altLang="zh-CN" sz="1300" b="0" i="1">
                            <a:solidFill>
                              <a:srgbClr val="2A272B"/>
                            </a:solidFill>
                            <a:latin typeface="DejaVu Math TeX Gyre" panose="02000503000000000000" charset="0"/>
                            <a:cs typeface="DejaVu Math TeX Gyre" panose="02000503000000000000" charset="0"/>
                          </a:rPr>
                          <m:t>𝑏</m:t>
                        </m:r>
                      </m:e>
                      <m:sub>
                        <m:r>
                          <a:rPr lang="en-US" altLang="zh-CN" sz="1300" b="0" i="1">
                            <a:solidFill>
                              <a:srgbClr val="2A272B"/>
                            </a:solidFill>
                            <a:latin typeface="DejaVu Math TeX Gyre" panose="02000503000000000000" charset="0"/>
                            <a:cs typeface="DejaVu Math TeX Gyre" panose="02000503000000000000" charset="0"/>
                          </a:rPr>
                          <m:t>𝐵</m:t>
                        </m:r>
                      </m:sub>
                    </m:sSub>
                  </m:oMath>
                </a14:m>
                <a:r>
                  <a:rPr lang="zh-CN" altLang="en-US" sz="1300" b="0">
                    <a:solidFill>
                      <a:srgbClr val="2A272B"/>
                    </a:solidFill>
                    <a:latin typeface="微软雅黑"/>
                  </a:rPr>
                  <a:t>分别表示 </a:t>
                </a:r>
                <a:r>
                  <a:rPr lang="en-US" altLang="zh-CN" sz="1300" b="0">
                    <a:solidFill>
                      <a:srgbClr val="2A272B"/>
                    </a:solidFill>
                    <a:latin typeface="微软雅黑"/>
                  </a:rPr>
                  <a:t>A、B </a:t>
                </a:r>
                <a:r>
                  <a:rPr lang="zh-CN" altLang="en-US" sz="1300" b="0">
                    <a:solidFill>
                      <a:srgbClr val="2A272B"/>
                    </a:solidFill>
                    <a:latin typeface="微软雅黑"/>
                  </a:rPr>
                  <a:t>两个地区的吸引力，综合工资、宜居性与迁移成本，但不包括个人技能</a:t>
                </a:r>
                <a:r>
                  <a:rPr lang="en-US" altLang="zh-CN" sz="1300" b="0">
                    <a:solidFill>
                      <a:srgbClr val="2A272B"/>
                    </a:solidFill>
                    <a:latin typeface="微软雅黑"/>
                  </a:rPr>
                  <a:t>。</a:t>
                </a:r>
                <a:r>
                  <a:rPr lang="zh-CN" altLang="en-US" sz="1300" b="0">
                    <a:solidFill>
                      <a:srgbClr val="2A272B"/>
                    </a:solidFill>
                    <a:latin typeface="微软雅黑"/>
                  </a:rPr>
                  <a:t>则两地效用函数</a:t>
                </a:r>
                <a:r>
                  <a:rPr lang="en-US" altLang="zh-CN" sz="1300" b="0">
                    <a:solidFill>
                      <a:srgbClr val="2A272B"/>
                    </a:solidFill>
                    <a:latin typeface="微软雅黑"/>
                  </a:rPr>
                  <a:t>：</a:t>
                </a:r>
                <a:endParaRPr lang="en-US" altLang="zh-CN" sz="1300" b="0">
                  <a:solidFill>
                    <a:srgbClr val="2A272B"/>
                  </a:solidFill>
                  <a:latin typeface="微软雅黑"/>
                </a:endParaRPr>
              </a:p>
            </p:txBody>
          </p:sp>
        </mc:Choice>
        <mc:Fallback>
          <p:sp>
            <p:nvSpPr>
              <p:cNvPr id="9" name="TextBox 24"/>
              <p:cNvSpPr txBox="1">
                <a:spLocks noRot="1" noChangeAspect="1" noMove="1" noResize="1" noEditPoints="1" noAdjustHandles="1" noChangeArrowheads="1" noChangeShapeType="1" noTextEdit="1"/>
              </p:cNvSpPr>
              <p:nvPr/>
            </p:nvSpPr>
            <p:spPr>
              <a:xfrm>
                <a:off x="1979930" y="4496435"/>
                <a:ext cx="5268595" cy="486410"/>
              </a:xfrm>
              <a:prstGeom prst="rect">
                <a:avLst/>
              </a:prstGeom>
              <a:blipFill rotWithShape="1">
                <a:blip r:embed="rId6"/>
                <a:stretch>
                  <a:fillRect/>
                </a:stretch>
              </a:blipFill>
            </p:spPr>
            <p:txBody>
              <a:bodyPr/>
              <a:lstStyle/>
              <a:p>
                <a:r>
                  <a:rPr lang="zh-CN" altLang="en-US">
                    <a:noFill/>
                  </a:rPr>
                  <a:t> </a:t>
                </a:r>
              </a:p>
            </p:txBody>
          </p:sp>
        </mc:Fallback>
      </mc:AlternateContent>
      <p:pic>
        <p:nvPicPr>
          <p:cNvPr id="14" name="334E55B0-647D-440b-865C-3EC943EB4CBC-31" descr="wpsoffice"/>
          <p:cNvPicPr>
            <a:picLocks noChangeAspect="1"/>
          </p:cNvPicPr>
          <p:nvPr/>
        </p:nvPicPr>
        <p:blipFill>
          <a:blip r:embed="rId7"/>
          <a:stretch>
            <a:fillRect/>
          </a:stretch>
        </p:blipFill>
        <p:spPr>
          <a:xfrm>
            <a:off x="6090920" y="3423920"/>
            <a:ext cx="9525" cy="9525"/>
          </a:xfrm>
          <a:prstGeom prst="rect">
            <a:avLst/>
          </a:prstGeom>
        </p:spPr>
      </p:pic>
      <p:pic>
        <p:nvPicPr>
          <p:cNvPr id="19" name="334E55B0-647D-440b-865C-3EC943EB4CBC-32" descr="wpsoffice"/>
          <p:cNvPicPr>
            <a:picLocks noChangeAspect="1"/>
          </p:cNvPicPr>
          <p:nvPr/>
        </p:nvPicPr>
        <p:blipFill>
          <a:blip r:embed="rId8"/>
          <a:stretch>
            <a:fillRect/>
          </a:stretch>
        </p:blipFill>
        <p:spPr>
          <a:xfrm>
            <a:off x="2171700" y="5163185"/>
            <a:ext cx="2936240" cy="1254125"/>
          </a:xfrm>
          <a:prstGeom prst="rect">
            <a:avLst/>
          </a:prstGeom>
        </p:spPr>
      </p:pic>
      <p:pic>
        <p:nvPicPr>
          <p:cNvPr id="45" name="334E55B0-647D-440b-865C-3EC943EB4CBC-33" descr="wpsoffice"/>
          <p:cNvPicPr>
            <a:picLocks noChangeAspect="1"/>
          </p:cNvPicPr>
          <p:nvPr/>
        </p:nvPicPr>
        <p:blipFill>
          <a:blip r:embed="rId9"/>
          <a:stretch>
            <a:fillRect/>
          </a:stretch>
        </p:blipFill>
        <p:spPr>
          <a:xfrm>
            <a:off x="7390765" y="3013710"/>
            <a:ext cx="3947795" cy="2405380"/>
          </a:xfrm>
          <a:prstGeom prst="rect">
            <a:avLst/>
          </a:prstGeom>
        </p:spPr>
      </p:pic>
      <p:pic>
        <p:nvPicPr>
          <p:cNvPr id="46" name="334E55B0-647D-440b-865C-3EC943EB4CBC-34" descr="wpsoffice"/>
          <p:cNvPicPr>
            <a:picLocks noChangeAspect="1"/>
          </p:cNvPicPr>
          <p:nvPr/>
        </p:nvPicPr>
        <p:blipFill>
          <a:blip r:embed="rId10"/>
          <a:stretch>
            <a:fillRect/>
          </a:stretch>
        </p:blipFill>
        <p:spPr>
          <a:xfrm>
            <a:off x="7390765" y="5680710"/>
            <a:ext cx="4281805" cy="479425"/>
          </a:xfrm>
          <a:prstGeom prst="rect">
            <a:avLst/>
          </a:prstGeom>
        </p:spPr>
      </p:pic>
      <p:pic>
        <p:nvPicPr>
          <p:cNvPr id="49" name="334E55B0-647D-440b-865C-3EC943EB4CBC-35" descr="wpsoffice"/>
          <p:cNvPicPr>
            <a:picLocks noChangeAspect="1"/>
          </p:cNvPicPr>
          <p:nvPr/>
        </p:nvPicPr>
        <p:blipFill>
          <a:blip r:embed="rId11"/>
          <a:stretch>
            <a:fillRect/>
          </a:stretch>
        </p:blipFill>
        <p:spPr>
          <a:xfrm>
            <a:off x="6961505" y="6160135"/>
            <a:ext cx="5077460" cy="53213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63" name="组合 62"/>
          <p:cNvGrpSpPr/>
          <p:nvPr/>
        </p:nvGrpSpPr>
        <p:grpSpPr>
          <a:xfrm>
            <a:off x="2033270" y="1131570"/>
            <a:ext cx="5077460" cy="1172210"/>
            <a:chOff x="2967" y="4478"/>
            <a:chExt cx="7996" cy="1846"/>
          </a:xfrm>
        </p:grpSpPr>
        <p:pic>
          <p:nvPicPr>
            <p:cNvPr id="49" name="334E55B0-647D-440b-865C-3EC943EB4CBC-36" descr="wpsoffice"/>
            <p:cNvPicPr>
              <a:picLocks noChangeAspect="1"/>
            </p:cNvPicPr>
            <p:nvPr/>
          </p:nvPicPr>
          <p:blipFill>
            <a:blip r:embed="rId1"/>
            <a:stretch>
              <a:fillRect/>
            </a:stretch>
          </p:blipFill>
          <p:spPr>
            <a:xfrm>
              <a:off x="2967" y="4478"/>
              <a:ext cx="7996" cy="838"/>
            </a:xfrm>
            <a:prstGeom prst="rect">
              <a:avLst/>
            </a:prstGeom>
          </p:spPr>
        </p:pic>
        <p:pic>
          <p:nvPicPr>
            <p:cNvPr id="51" name="334E55B0-647D-440b-865C-3EC943EB4CBC-37" descr="wpsoffice"/>
            <p:cNvPicPr>
              <a:picLocks noChangeAspect="1"/>
            </p:cNvPicPr>
            <p:nvPr/>
          </p:nvPicPr>
          <p:blipFill>
            <a:blip r:embed="rId2"/>
            <a:stretch>
              <a:fillRect/>
            </a:stretch>
          </p:blipFill>
          <p:spPr>
            <a:xfrm>
              <a:off x="2967" y="5505"/>
              <a:ext cx="7404" cy="819"/>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59" name="334E55B0-647D-440b-865C-3EC943EB4CBC-16" descr="wpsoffice"/>
          <p:cNvPicPr>
            <a:picLocks noChangeAspect="1"/>
          </p:cNvPicPr>
          <p:nvPr/>
        </p:nvPicPr>
        <p:blipFill>
          <a:blip r:embed="rId1"/>
          <a:stretch>
            <a:fillRect/>
          </a:stretch>
        </p:blipFill>
        <p:spPr>
          <a:xfrm>
            <a:off x="2762250" y="4705350"/>
            <a:ext cx="2916555" cy="445135"/>
          </a:xfrm>
          <a:prstGeom prst="rect">
            <a:avLst/>
          </a:prstGeom>
        </p:spPr>
      </p:pic>
      <p:grpSp>
        <p:nvGrpSpPr>
          <p:cNvPr id="63" name="组合 62"/>
          <p:cNvGrpSpPr/>
          <p:nvPr/>
        </p:nvGrpSpPr>
        <p:grpSpPr>
          <a:xfrm>
            <a:off x="2033270" y="1131570"/>
            <a:ext cx="5077460" cy="4603750"/>
            <a:chOff x="2967" y="4478"/>
            <a:chExt cx="7996" cy="7250"/>
          </a:xfrm>
        </p:grpSpPr>
        <p:pic>
          <p:nvPicPr>
            <p:cNvPr id="49" name="334E55B0-647D-440b-865C-3EC943EB4CBC-71" descr="wpsoffice"/>
            <p:cNvPicPr>
              <a:picLocks noChangeAspect="1"/>
            </p:cNvPicPr>
            <p:nvPr/>
          </p:nvPicPr>
          <p:blipFill>
            <a:blip r:embed="rId2"/>
            <a:stretch>
              <a:fillRect/>
            </a:stretch>
          </p:blipFill>
          <p:spPr>
            <a:xfrm>
              <a:off x="2967" y="4478"/>
              <a:ext cx="7996" cy="838"/>
            </a:xfrm>
            <a:prstGeom prst="rect">
              <a:avLst/>
            </a:prstGeom>
          </p:spPr>
        </p:pic>
        <p:pic>
          <p:nvPicPr>
            <p:cNvPr id="51" name="334E55B0-647D-440b-865C-3EC943EB4CBC-72" descr="wpsoffice"/>
            <p:cNvPicPr>
              <a:picLocks noChangeAspect="1"/>
            </p:cNvPicPr>
            <p:nvPr/>
          </p:nvPicPr>
          <p:blipFill>
            <a:blip r:embed="rId3"/>
            <a:stretch>
              <a:fillRect/>
            </a:stretch>
          </p:blipFill>
          <p:spPr>
            <a:xfrm>
              <a:off x="2967" y="5505"/>
              <a:ext cx="7404" cy="819"/>
            </a:xfrm>
            <a:prstGeom prst="rect">
              <a:avLst/>
            </a:prstGeom>
          </p:spPr>
        </p:pic>
        <p:pic>
          <p:nvPicPr>
            <p:cNvPr id="52" name="334E55B0-647D-440b-865C-3EC943EB4CBC-38" descr="wpsoffice"/>
            <p:cNvPicPr>
              <a:picLocks noChangeAspect="1"/>
            </p:cNvPicPr>
            <p:nvPr/>
          </p:nvPicPr>
          <p:blipFill>
            <a:blip r:embed="rId4"/>
            <a:stretch>
              <a:fillRect/>
            </a:stretch>
          </p:blipFill>
          <p:spPr>
            <a:xfrm>
              <a:off x="3586" y="6324"/>
              <a:ext cx="1661" cy="819"/>
            </a:xfrm>
            <a:prstGeom prst="rect">
              <a:avLst/>
            </a:prstGeom>
          </p:spPr>
        </p:pic>
        <p:sp>
          <p:nvSpPr>
            <p:cNvPr id="54" name="TextBox 24"/>
            <p:cNvSpPr txBox="1"/>
            <p:nvPr/>
          </p:nvSpPr>
          <p:spPr>
            <a:xfrm>
              <a:off x="3118" y="6513"/>
              <a:ext cx="6163" cy="4171"/>
            </a:xfrm>
            <a:prstGeom prst="rect">
              <a:avLst/>
            </a:prstGeom>
            <a:noFill/>
          </p:spPr>
          <p:txBody>
            <a:bodyPr wrap="square" lIns="18288" tIns="18288" rIns="18288">
              <a:spAutoFit/>
            </a:bodyPr>
            <a:lstStyle/>
            <a:p>
              <a:pPr algn="l">
                <a:spcAft>
                  <a:spcPts val="300"/>
                </a:spcAft>
              </a:pPr>
              <a:r>
                <a:rPr lang="zh-CN" sz="1300" b="0">
                  <a:solidFill>
                    <a:srgbClr val="2A272B"/>
                  </a:solidFill>
                  <a:latin typeface="微软雅黑"/>
                </a:rPr>
                <a:t>令</a:t>
              </a:r>
              <a:endParaRPr lang="zh-CN" sz="1300" b="0">
                <a:solidFill>
                  <a:srgbClr val="2A272B"/>
                </a:solidFill>
                <a:latin typeface="微软雅黑"/>
              </a:endParaRPr>
            </a:p>
            <a:p>
              <a:pPr algn="l">
                <a:spcAft>
                  <a:spcPts val="300"/>
                </a:spcAft>
              </a:pPr>
              <a:endParaRPr lang="zh-CN" sz="1300" b="0">
                <a:solidFill>
                  <a:srgbClr val="2A272B"/>
                </a:solidFill>
                <a:latin typeface="微软雅黑"/>
              </a:endParaRPr>
            </a:p>
            <a:p>
              <a:pPr algn="l">
                <a:spcAft>
                  <a:spcPts val="300"/>
                </a:spcAft>
              </a:pPr>
              <a:r>
                <a:rPr lang="zh-CN" sz="1300" b="0">
                  <a:solidFill>
                    <a:srgbClr val="2A272B"/>
                  </a:solidFill>
                  <a:latin typeface="微软雅黑"/>
                </a:rPr>
                <a:t>则</a:t>
              </a:r>
              <a:endParaRPr lang="zh-CN" sz="1300" b="0">
                <a:solidFill>
                  <a:srgbClr val="2A272B"/>
                </a:solidFill>
                <a:latin typeface="微软雅黑"/>
              </a:endParaRPr>
            </a:p>
            <a:p>
              <a:pPr algn="l">
                <a:spcAft>
                  <a:spcPts val="300"/>
                </a:spcAft>
              </a:pPr>
              <a:endParaRPr lang="zh-CN" sz="1300" b="0">
                <a:solidFill>
                  <a:srgbClr val="2A272B"/>
                </a:solidFill>
                <a:latin typeface="微软雅黑"/>
              </a:endParaRPr>
            </a:p>
            <a:p>
              <a:pPr algn="l">
                <a:spcAft>
                  <a:spcPts val="300"/>
                </a:spcAft>
              </a:pPr>
              <a:r>
                <a:rPr lang="zh-CN" sz="1300" b="0">
                  <a:solidFill>
                    <a:srgbClr val="2A272B"/>
                  </a:solidFill>
                  <a:latin typeface="微软雅黑"/>
                </a:rPr>
                <a:t>换元</a:t>
              </a:r>
              <a:r>
                <a:rPr lang="en-US" altLang="zh-CN" sz="1300" b="0">
                  <a:solidFill>
                    <a:srgbClr val="2A272B"/>
                  </a:solidFill>
                  <a:latin typeface="微软雅黑"/>
                </a:rPr>
                <a:t>：</a:t>
              </a:r>
              <a:endParaRPr lang="en-US" altLang="zh-CN" sz="1300" b="0">
                <a:solidFill>
                  <a:srgbClr val="2A272B"/>
                </a:solidFill>
                <a:latin typeface="微软雅黑"/>
              </a:endParaRPr>
            </a:p>
            <a:p>
              <a:pPr algn="l">
                <a:spcAft>
                  <a:spcPts val="300"/>
                </a:spcAft>
              </a:pPr>
              <a:endParaRPr lang="en-US" altLang="zh-CN" sz="1300" b="0">
                <a:solidFill>
                  <a:srgbClr val="2A272B"/>
                </a:solidFill>
                <a:latin typeface="微软雅黑"/>
              </a:endParaRPr>
            </a:p>
            <a:p>
              <a:pPr algn="l">
                <a:spcAft>
                  <a:spcPts val="300"/>
                </a:spcAft>
              </a:pPr>
              <a:r>
                <a:rPr lang="zh-CN" altLang="en-US" sz="1300" b="0">
                  <a:solidFill>
                    <a:srgbClr val="2A272B"/>
                  </a:solidFill>
                  <a:latin typeface="微软雅黑"/>
                </a:rPr>
                <a:t>则</a:t>
              </a: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r>
                <a:rPr lang="zh-CN" altLang="en-US" sz="1300" b="0">
                  <a:solidFill>
                    <a:srgbClr val="2A272B"/>
                  </a:solidFill>
                  <a:latin typeface="微软雅黑"/>
                </a:rPr>
                <a:t>化简</a:t>
              </a:r>
              <a:r>
                <a:rPr lang="zh-CN" altLang="en-US" sz="1300" b="0">
                  <a:solidFill>
                    <a:srgbClr val="2A272B"/>
                  </a:solidFill>
                  <a:latin typeface="微软雅黑"/>
                </a:rPr>
                <a:t>得</a:t>
              </a:r>
              <a:endParaRPr lang="zh-CN" altLang="en-US" sz="1300" b="0">
                <a:solidFill>
                  <a:srgbClr val="2A272B"/>
                </a:solidFill>
                <a:latin typeface="微软雅黑"/>
              </a:endParaRPr>
            </a:p>
          </p:txBody>
        </p:sp>
        <p:pic>
          <p:nvPicPr>
            <p:cNvPr id="55" name="334E55B0-647D-440b-865C-3EC943EB4CBC-39" descr="wpsoffice"/>
            <p:cNvPicPr>
              <a:picLocks noChangeAspect="1"/>
            </p:cNvPicPr>
            <p:nvPr/>
          </p:nvPicPr>
          <p:blipFill>
            <a:blip r:embed="rId5"/>
            <a:stretch>
              <a:fillRect/>
            </a:stretch>
          </p:blipFill>
          <p:spPr>
            <a:xfrm>
              <a:off x="3586" y="7044"/>
              <a:ext cx="5650" cy="821"/>
            </a:xfrm>
            <a:prstGeom prst="rect">
              <a:avLst/>
            </a:prstGeom>
          </p:spPr>
        </p:pic>
        <p:pic>
          <p:nvPicPr>
            <p:cNvPr id="56" name="334E55B0-647D-440b-865C-3EC943EB4CBC-40" descr="wpsoffice"/>
            <p:cNvPicPr>
              <a:picLocks noChangeAspect="1"/>
            </p:cNvPicPr>
            <p:nvPr/>
          </p:nvPicPr>
          <p:blipFill>
            <a:blip r:embed="rId6"/>
            <a:stretch>
              <a:fillRect/>
            </a:stretch>
          </p:blipFill>
          <p:spPr>
            <a:xfrm>
              <a:off x="4003" y="7987"/>
              <a:ext cx="1486" cy="319"/>
            </a:xfrm>
            <a:prstGeom prst="rect">
              <a:avLst/>
            </a:prstGeom>
          </p:spPr>
        </p:pic>
        <p:pic>
          <p:nvPicPr>
            <p:cNvPr id="57" name="334E55B0-647D-440b-865C-3EC943EB4CBC-41" descr="wpsoffice"/>
            <p:cNvPicPr>
              <a:picLocks noChangeAspect="1"/>
            </p:cNvPicPr>
            <p:nvPr/>
          </p:nvPicPr>
          <p:blipFill>
            <a:blip r:embed="rId7"/>
            <a:stretch>
              <a:fillRect/>
            </a:stretch>
          </p:blipFill>
          <p:spPr>
            <a:xfrm>
              <a:off x="3586" y="8661"/>
              <a:ext cx="2987" cy="331"/>
            </a:xfrm>
            <a:prstGeom prst="rect">
              <a:avLst/>
            </a:prstGeom>
          </p:spPr>
        </p:pic>
        <p:pic>
          <p:nvPicPr>
            <p:cNvPr id="58" name="334E55B0-647D-440b-865C-3EC943EB4CBC-42" descr="wpsoffice"/>
            <p:cNvPicPr>
              <a:picLocks noChangeAspect="1"/>
            </p:cNvPicPr>
            <p:nvPr/>
          </p:nvPicPr>
          <p:blipFill>
            <a:blip r:embed="rId8"/>
            <a:stretch>
              <a:fillRect/>
            </a:stretch>
          </p:blipFill>
          <p:spPr>
            <a:xfrm>
              <a:off x="3586" y="9168"/>
              <a:ext cx="2776" cy="646"/>
            </a:xfrm>
            <a:prstGeom prst="rect">
              <a:avLst/>
            </a:prstGeom>
          </p:spPr>
        </p:pic>
        <p:pic>
          <p:nvPicPr>
            <p:cNvPr id="60" name="334E55B0-647D-440b-865C-3EC943EB4CBC-43" descr="wpsoffice"/>
            <p:cNvPicPr>
              <a:picLocks noChangeAspect="1"/>
            </p:cNvPicPr>
            <p:nvPr/>
          </p:nvPicPr>
          <p:blipFill>
            <a:blip r:embed="rId9"/>
            <a:stretch>
              <a:fillRect/>
            </a:stretch>
          </p:blipFill>
          <p:spPr>
            <a:xfrm>
              <a:off x="3226" y="10977"/>
              <a:ext cx="2711" cy="751"/>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59" name="334E55B0-647D-440b-865C-3EC943EB4CBC-46" descr="wpsoffice"/>
          <p:cNvPicPr>
            <a:picLocks noChangeAspect="1"/>
          </p:cNvPicPr>
          <p:nvPr/>
        </p:nvPicPr>
        <p:blipFill>
          <a:blip r:embed="rId1"/>
          <a:stretch>
            <a:fillRect/>
          </a:stretch>
        </p:blipFill>
        <p:spPr>
          <a:xfrm>
            <a:off x="2762250" y="4705350"/>
            <a:ext cx="2916555" cy="445135"/>
          </a:xfrm>
          <a:prstGeom prst="rect">
            <a:avLst/>
          </a:prstGeom>
        </p:spPr>
      </p:pic>
      <p:grpSp>
        <p:nvGrpSpPr>
          <p:cNvPr id="63" name="组合 62"/>
          <p:cNvGrpSpPr/>
          <p:nvPr/>
        </p:nvGrpSpPr>
        <p:grpSpPr>
          <a:xfrm>
            <a:off x="2033270" y="1131570"/>
            <a:ext cx="9333865" cy="5414010"/>
            <a:chOff x="2967" y="4478"/>
            <a:chExt cx="14699" cy="8526"/>
          </a:xfrm>
        </p:grpSpPr>
        <p:pic>
          <p:nvPicPr>
            <p:cNvPr id="49" name="334E55B0-647D-440b-865C-3EC943EB4CBC-47" descr="wpsoffice"/>
            <p:cNvPicPr>
              <a:picLocks noChangeAspect="1"/>
            </p:cNvPicPr>
            <p:nvPr/>
          </p:nvPicPr>
          <p:blipFill>
            <a:blip r:embed="rId2"/>
            <a:stretch>
              <a:fillRect/>
            </a:stretch>
          </p:blipFill>
          <p:spPr>
            <a:xfrm>
              <a:off x="2967" y="4478"/>
              <a:ext cx="7996" cy="838"/>
            </a:xfrm>
            <a:prstGeom prst="rect">
              <a:avLst/>
            </a:prstGeom>
          </p:spPr>
        </p:pic>
        <p:pic>
          <p:nvPicPr>
            <p:cNvPr id="51" name="334E55B0-647D-440b-865C-3EC943EB4CBC-48" descr="wpsoffice"/>
            <p:cNvPicPr>
              <a:picLocks noChangeAspect="1"/>
            </p:cNvPicPr>
            <p:nvPr/>
          </p:nvPicPr>
          <p:blipFill>
            <a:blip r:embed="rId3"/>
            <a:stretch>
              <a:fillRect/>
            </a:stretch>
          </p:blipFill>
          <p:spPr>
            <a:xfrm>
              <a:off x="2967" y="5505"/>
              <a:ext cx="7404" cy="819"/>
            </a:xfrm>
            <a:prstGeom prst="rect">
              <a:avLst/>
            </a:prstGeom>
          </p:spPr>
        </p:pic>
        <p:pic>
          <p:nvPicPr>
            <p:cNvPr id="52" name="334E55B0-647D-440b-865C-3EC943EB4CBC-49" descr="wpsoffice"/>
            <p:cNvPicPr>
              <a:picLocks noChangeAspect="1"/>
            </p:cNvPicPr>
            <p:nvPr/>
          </p:nvPicPr>
          <p:blipFill>
            <a:blip r:embed="rId4"/>
            <a:stretch>
              <a:fillRect/>
            </a:stretch>
          </p:blipFill>
          <p:spPr>
            <a:xfrm>
              <a:off x="3586" y="6324"/>
              <a:ext cx="1661" cy="819"/>
            </a:xfrm>
            <a:prstGeom prst="rect">
              <a:avLst/>
            </a:prstGeom>
          </p:spPr>
        </p:pic>
        <p:sp>
          <p:nvSpPr>
            <p:cNvPr id="54" name="TextBox 24"/>
            <p:cNvSpPr txBox="1"/>
            <p:nvPr/>
          </p:nvSpPr>
          <p:spPr>
            <a:xfrm>
              <a:off x="3118" y="6513"/>
              <a:ext cx="6163" cy="4171"/>
            </a:xfrm>
            <a:prstGeom prst="rect">
              <a:avLst/>
            </a:prstGeom>
            <a:noFill/>
          </p:spPr>
          <p:txBody>
            <a:bodyPr wrap="square" lIns="18288" tIns="18288" rIns="18288">
              <a:spAutoFit/>
            </a:bodyPr>
            <a:lstStyle/>
            <a:p>
              <a:pPr algn="l">
                <a:spcAft>
                  <a:spcPts val="300"/>
                </a:spcAft>
              </a:pPr>
              <a:r>
                <a:rPr lang="zh-CN" sz="1300" b="0">
                  <a:solidFill>
                    <a:srgbClr val="2A272B"/>
                  </a:solidFill>
                  <a:latin typeface="微软雅黑"/>
                </a:rPr>
                <a:t>令</a:t>
              </a:r>
              <a:endParaRPr lang="zh-CN" sz="1300" b="0">
                <a:solidFill>
                  <a:srgbClr val="2A272B"/>
                </a:solidFill>
                <a:latin typeface="微软雅黑"/>
              </a:endParaRPr>
            </a:p>
            <a:p>
              <a:pPr algn="l">
                <a:spcAft>
                  <a:spcPts val="300"/>
                </a:spcAft>
              </a:pPr>
              <a:endParaRPr lang="zh-CN" sz="1300" b="0">
                <a:solidFill>
                  <a:srgbClr val="2A272B"/>
                </a:solidFill>
                <a:latin typeface="微软雅黑"/>
              </a:endParaRPr>
            </a:p>
            <a:p>
              <a:pPr algn="l">
                <a:spcAft>
                  <a:spcPts val="300"/>
                </a:spcAft>
              </a:pPr>
              <a:r>
                <a:rPr lang="zh-CN" sz="1300" b="0">
                  <a:solidFill>
                    <a:srgbClr val="2A272B"/>
                  </a:solidFill>
                  <a:latin typeface="微软雅黑"/>
                </a:rPr>
                <a:t>则</a:t>
              </a:r>
              <a:endParaRPr lang="zh-CN" sz="1300" b="0">
                <a:solidFill>
                  <a:srgbClr val="2A272B"/>
                </a:solidFill>
                <a:latin typeface="微软雅黑"/>
              </a:endParaRPr>
            </a:p>
            <a:p>
              <a:pPr algn="l">
                <a:spcAft>
                  <a:spcPts val="300"/>
                </a:spcAft>
              </a:pPr>
              <a:endParaRPr lang="zh-CN" sz="1300" b="0">
                <a:solidFill>
                  <a:srgbClr val="2A272B"/>
                </a:solidFill>
                <a:latin typeface="微软雅黑"/>
              </a:endParaRPr>
            </a:p>
            <a:p>
              <a:pPr algn="l">
                <a:spcAft>
                  <a:spcPts val="300"/>
                </a:spcAft>
              </a:pPr>
              <a:r>
                <a:rPr lang="zh-CN" sz="1300" b="0">
                  <a:solidFill>
                    <a:srgbClr val="2A272B"/>
                  </a:solidFill>
                  <a:latin typeface="微软雅黑"/>
                </a:rPr>
                <a:t>换元</a:t>
              </a:r>
              <a:r>
                <a:rPr lang="en-US" altLang="zh-CN" sz="1300" b="0">
                  <a:solidFill>
                    <a:srgbClr val="2A272B"/>
                  </a:solidFill>
                  <a:latin typeface="微软雅黑"/>
                </a:rPr>
                <a:t>：</a:t>
              </a:r>
              <a:endParaRPr lang="en-US" altLang="zh-CN" sz="1300" b="0">
                <a:solidFill>
                  <a:srgbClr val="2A272B"/>
                </a:solidFill>
                <a:latin typeface="微软雅黑"/>
              </a:endParaRPr>
            </a:p>
            <a:p>
              <a:pPr algn="l">
                <a:spcAft>
                  <a:spcPts val="300"/>
                </a:spcAft>
              </a:pPr>
              <a:endParaRPr lang="en-US" altLang="zh-CN" sz="1300" b="0">
                <a:solidFill>
                  <a:srgbClr val="2A272B"/>
                </a:solidFill>
                <a:latin typeface="微软雅黑"/>
              </a:endParaRPr>
            </a:p>
            <a:p>
              <a:pPr algn="l">
                <a:spcAft>
                  <a:spcPts val="300"/>
                </a:spcAft>
              </a:pPr>
              <a:r>
                <a:rPr lang="zh-CN" altLang="en-US" sz="1300" b="0">
                  <a:solidFill>
                    <a:srgbClr val="2A272B"/>
                  </a:solidFill>
                  <a:latin typeface="微软雅黑"/>
                </a:rPr>
                <a:t>则</a:t>
              </a: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r>
                <a:rPr lang="zh-CN" altLang="en-US" sz="1300" b="0">
                  <a:solidFill>
                    <a:srgbClr val="2A272B"/>
                  </a:solidFill>
                  <a:latin typeface="微软雅黑"/>
                </a:rPr>
                <a:t>化简</a:t>
              </a:r>
              <a:r>
                <a:rPr lang="zh-CN" altLang="en-US" sz="1300" b="0">
                  <a:solidFill>
                    <a:srgbClr val="2A272B"/>
                  </a:solidFill>
                  <a:latin typeface="微软雅黑"/>
                </a:rPr>
                <a:t>得</a:t>
              </a:r>
              <a:endParaRPr lang="zh-CN" altLang="en-US" sz="1300" b="0">
                <a:solidFill>
                  <a:srgbClr val="2A272B"/>
                </a:solidFill>
                <a:latin typeface="微软雅黑"/>
              </a:endParaRPr>
            </a:p>
          </p:txBody>
        </p:sp>
        <p:pic>
          <p:nvPicPr>
            <p:cNvPr id="55" name="334E55B0-647D-440b-865C-3EC943EB4CBC-50" descr="wpsoffice"/>
            <p:cNvPicPr>
              <a:picLocks noChangeAspect="1"/>
            </p:cNvPicPr>
            <p:nvPr/>
          </p:nvPicPr>
          <p:blipFill>
            <a:blip r:embed="rId5"/>
            <a:stretch>
              <a:fillRect/>
            </a:stretch>
          </p:blipFill>
          <p:spPr>
            <a:xfrm>
              <a:off x="3586" y="7044"/>
              <a:ext cx="5650" cy="821"/>
            </a:xfrm>
            <a:prstGeom prst="rect">
              <a:avLst/>
            </a:prstGeom>
          </p:spPr>
        </p:pic>
        <p:pic>
          <p:nvPicPr>
            <p:cNvPr id="56" name="334E55B0-647D-440b-865C-3EC943EB4CBC-51" descr="wpsoffice"/>
            <p:cNvPicPr>
              <a:picLocks noChangeAspect="1"/>
            </p:cNvPicPr>
            <p:nvPr/>
          </p:nvPicPr>
          <p:blipFill>
            <a:blip r:embed="rId6"/>
            <a:stretch>
              <a:fillRect/>
            </a:stretch>
          </p:blipFill>
          <p:spPr>
            <a:xfrm>
              <a:off x="4003" y="7987"/>
              <a:ext cx="1486" cy="319"/>
            </a:xfrm>
            <a:prstGeom prst="rect">
              <a:avLst/>
            </a:prstGeom>
          </p:spPr>
        </p:pic>
        <p:pic>
          <p:nvPicPr>
            <p:cNvPr id="57" name="334E55B0-647D-440b-865C-3EC943EB4CBC-52" descr="wpsoffice"/>
            <p:cNvPicPr>
              <a:picLocks noChangeAspect="1"/>
            </p:cNvPicPr>
            <p:nvPr/>
          </p:nvPicPr>
          <p:blipFill>
            <a:blip r:embed="rId7"/>
            <a:stretch>
              <a:fillRect/>
            </a:stretch>
          </p:blipFill>
          <p:spPr>
            <a:xfrm>
              <a:off x="3586" y="8661"/>
              <a:ext cx="2987" cy="331"/>
            </a:xfrm>
            <a:prstGeom prst="rect">
              <a:avLst/>
            </a:prstGeom>
          </p:spPr>
        </p:pic>
        <p:pic>
          <p:nvPicPr>
            <p:cNvPr id="58" name="334E55B0-647D-440b-865C-3EC943EB4CBC-53" descr="wpsoffice"/>
            <p:cNvPicPr>
              <a:picLocks noChangeAspect="1"/>
            </p:cNvPicPr>
            <p:nvPr/>
          </p:nvPicPr>
          <p:blipFill>
            <a:blip r:embed="rId8"/>
            <a:stretch>
              <a:fillRect/>
            </a:stretch>
          </p:blipFill>
          <p:spPr>
            <a:xfrm>
              <a:off x="3586" y="9168"/>
              <a:ext cx="2776" cy="646"/>
            </a:xfrm>
            <a:prstGeom prst="rect">
              <a:avLst/>
            </a:prstGeom>
          </p:spPr>
        </p:pic>
        <p:pic>
          <p:nvPicPr>
            <p:cNvPr id="60" name="334E55B0-647D-440b-865C-3EC943EB4CBC-54" descr="wpsoffice"/>
            <p:cNvPicPr>
              <a:picLocks noChangeAspect="1"/>
            </p:cNvPicPr>
            <p:nvPr/>
          </p:nvPicPr>
          <p:blipFill>
            <a:blip r:embed="rId9"/>
            <a:stretch>
              <a:fillRect/>
            </a:stretch>
          </p:blipFill>
          <p:spPr>
            <a:xfrm>
              <a:off x="3226" y="10977"/>
              <a:ext cx="2711" cy="751"/>
            </a:xfrm>
            <a:prstGeom prst="rect">
              <a:avLst/>
            </a:prstGeom>
          </p:spPr>
        </p:pic>
        <p:pic>
          <p:nvPicPr>
            <p:cNvPr id="61" name="334E55B0-647D-440b-865C-3EC943EB4CBC-55" descr="wpsoffice"/>
            <p:cNvPicPr>
              <a:picLocks noChangeAspect="1"/>
            </p:cNvPicPr>
            <p:nvPr/>
          </p:nvPicPr>
          <p:blipFill>
            <a:blip r:embed="rId10"/>
            <a:stretch>
              <a:fillRect/>
            </a:stretch>
          </p:blipFill>
          <p:spPr>
            <a:xfrm>
              <a:off x="12220" y="4478"/>
              <a:ext cx="5446" cy="1618"/>
            </a:xfrm>
            <a:prstGeom prst="rect">
              <a:avLst/>
            </a:prstGeom>
          </p:spPr>
        </p:pic>
        <p:pic>
          <p:nvPicPr>
            <p:cNvPr id="62" name="334E55B0-647D-440b-865C-3EC943EB4CBC-56" descr="wpsoffice"/>
            <p:cNvPicPr>
              <a:picLocks noChangeAspect="1"/>
            </p:cNvPicPr>
            <p:nvPr/>
          </p:nvPicPr>
          <p:blipFill>
            <a:blip r:embed="rId11"/>
            <a:stretch>
              <a:fillRect/>
            </a:stretch>
          </p:blipFill>
          <p:spPr>
            <a:xfrm>
              <a:off x="3113" y="12337"/>
              <a:ext cx="3460" cy="667"/>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59" name="334E55B0-647D-440b-865C-3EC943EB4CBC-57" descr="wpsoffice"/>
          <p:cNvPicPr>
            <a:picLocks noChangeAspect="1"/>
          </p:cNvPicPr>
          <p:nvPr/>
        </p:nvPicPr>
        <p:blipFill>
          <a:blip r:embed="rId1"/>
          <a:stretch>
            <a:fillRect/>
          </a:stretch>
        </p:blipFill>
        <p:spPr>
          <a:xfrm>
            <a:off x="2762250" y="4705350"/>
            <a:ext cx="2916555" cy="445135"/>
          </a:xfrm>
          <a:prstGeom prst="rect">
            <a:avLst/>
          </a:prstGeom>
        </p:spPr>
      </p:pic>
      <p:grpSp>
        <p:nvGrpSpPr>
          <p:cNvPr id="63" name="组合 62"/>
          <p:cNvGrpSpPr/>
          <p:nvPr/>
        </p:nvGrpSpPr>
        <p:grpSpPr>
          <a:xfrm>
            <a:off x="2033270" y="1131570"/>
            <a:ext cx="9333865" cy="5414010"/>
            <a:chOff x="2967" y="4478"/>
            <a:chExt cx="14699" cy="8526"/>
          </a:xfrm>
        </p:grpSpPr>
        <p:pic>
          <p:nvPicPr>
            <p:cNvPr id="49" name="334E55B0-647D-440b-865C-3EC943EB4CBC-58" descr="wpsoffice"/>
            <p:cNvPicPr>
              <a:picLocks noChangeAspect="1"/>
            </p:cNvPicPr>
            <p:nvPr/>
          </p:nvPicPr>
          <p:blipFill>
            <a:blip r:embed="rId2"/>
            <a:stretch>
              <a:fillRect/>
            </a:stretch>
          </p:blipFill>
          <p:spPr>
            <a:xfrm>
              <a:off x="2967" y="4478"/>
              <a:ext cx="7996" cy="838"/>
            </a:xfrm>
            <a:prstGeom prst="rect">
              <a:avLst/>
            </a:prstGeom>
          </p:spPr>
        </p:pic>
        <p:pic>
          <p:nvPicPr>
            <p:cNvPr id="51" name="334E55B0-647D-440b-865C-3EC943EB4CBC-59" descr="wpsoffice"/>
            <p:cNvPicPr>
              <a:picLocks noChangeAspect="1"/>
            </p:cNvPicPr>
            <p:nvPr/>
          </p:nvPicPr>
          <p:blipFill>
            <a:blip r:embed="rId3"/>
            <a:stretch>
              <a:fillRect/>
            </a:stretch>
          </p:blipFill>
          <p:spPr>
            <a:xfrm>
              <a:off x="2967" y="5505"/>
              <a:ext cx="7404" cy="819"/>
            </a:xfrm>
            <a:prstGeom prst="rect">
              <a:avLst/>
            </a:prstGeom>
          </p:spPr>
        </p:pic>
        <p:pic>
          <p:nvPicPr>
            <p:cNvPr id="52" name="334E55B0-647D-440b-865C-3EC943EB4CBC-60" descr="wpsoffice"/>
            <p:cNvPicPr>
              <a:picLocks noChangeAspect="1"/>
            </p:cNvPicPr>
            <p:nvPr/>
          </p:nvPicPr>
          <p:blipFill>
            <a:blip r:embed="rId4"/>
            <a:stretch>
              <a:fillRect/>
            </a:stretch>
          </p:blipFill>
          <p:spPr>
            <a:xfrm>
              <a:off x="3586" y="6324"/>
              <a:ext cx="1661" cy="819"/>
            </a:xfrm>
            <a:prstGeom prst="rect">
              <a:avLst/>
            </a:prstGeom>
          </p:spPr>
        </p:pic>
        <p:sp>
          <p:nvSpPr>
            <p:cNvPr id="54" name="TextBox 24"/>
            <p:cNvSpPr txBox="1"/>
            <p:nvPr/>
          </p:nvSpPr>
          <p:spPr>
            <a:xfrm>
              <a:off x="3118" y="6513"/>
              <a:ext cx="6163" cy="4171"/>
            </a:xfrm>
            <a:prstGeom prst="rect">
              <a:avLst/>
            </a:prstGeom>
            <a:noFill/>
          </p:spPr>
          <p:txBody>
            <a:bodyPr wrap="square" lIns="18288" tIns="18288" rIns="18288">
              <a:spAutoFit/>
            </a:bodyPr>
            <a:lstStyle/>
            <a:p>
              <a:pPr algn="l">
                <a:spcAft>
                  <a:spcPts val="300"/>
                </a:spcAft>
              </a:pPr>
              <a:r>
                <a:rPr lang="zh-CN" sz="1300" b="0">
                  <a:solidFill>
                    <a:srgbClr val="2A272B"/>
                  </a:solidFill>
                  <a:latin typeface="微软雅黑"/>
                </a:rPr>
                <a:t>令</a:t>
              </a:r>
              <a:endParaRPr lang="zh-CN" sz="1300" b="0">
                <a:solidFill>
                  <a:srgbClr val="2A272B"/>
                </a:solidFill>
                <a:latin typeface="微软雅黑"/>
              </a:endParaRPr>
            </a:p>
            <a:p>
              <a:pPr algn="l">
                <a:spcAft>
                  <a:spcPts val="300"/>
                </a:spcAft>
              </a:pPr>
              <a:endParaRPr lang="zh-CN" sz="1300" b="0">
                <a:solidFill>
                  <a:srgbClr val="2A272B"/>
                </a:solidFill>
                <a:latin typeface="微软雅黑"/>
              </a:endParaRPr>
            </a:p>
            <a:p>
              <a:pPr algn="l">
                <a:spcAft>
                  <a:spcPts val="300"/>
                </a:spcAft>
              </a:pPr>
              <a:r>
                <a:rPr lang="zh-CN" sz="1300" b="0">
                  <a:solidFill>
                    <a:srgbClr val="2A272B"/>
                  </a:solidFill>
                  <a:latin typeface="微软雅黑"/>
                </a:rPr>
                <a:t>则</a:t>
              </a:r>
              <a:endParaRPr lang="zh-CN" sz="1300" b="0">
                <a:solidFill>
                  <a:srgbClr val="2A272B"/>
                </a:solidFill>
                <a:latin typeface="微软雅黑"/>
              </a:endParaRPr>
            </a:p>
            <a:p>
              <a:pPr algn="l">
                <a:spcAft>
                  <a:spcPts val="300"/>
                </a:spcAft>
              </a:pPr>
              <a:endParaRPr lang="zh-CN" sz="1300" b="0">
                <a:solidFill>
                  <a:srgbClr val="2A272B"/>
                </a:solidFill>
                <a:latin typeface="微软雅黑"/>
              </a:endParaRPr>
            </a:p>
            <a:p>
              <a:pPr algn="l">
                <a:spcAft>
                  <a:spcPts val="300"/>
                </a:spcAft>
              </a:pPr>
              <a:r>
                <a:rPr lang="zh-CN" sz="1300" b="0">
                  <a:solidFill>
                    <a:srgbClr val="2A272B"/>
                  </a:solidFill>
                  <a:latin typeface="微软雅黑"/>
                </a:rPr>
                <a:t>换元</a:t>
              </a:r>
              <a:r>
                <a:rPr lang="en-US" altLang="zh-CN" sz="1300" b="0">
                  <a:solidFill>
                    <a:srgbClr val="2A272B"/>
                  </a:solidFill>
                  <a:latin typeface="微软雅黑"/>
                </a:rPr>
                <a:t>：</a:t>
              </a:r>
              <a:endParaRPr lang="en-US" altLang="zh-CN" sz="1300" b="0">
                <a:solidFill>
                  <a:srgbClr val="2A272B"/>
                </a:solidFill>
                <a:latin typeface="微软雅黑"/>
              </a:endParaRPr>
            </a:p>
            <a:p>
              <a:pPr algn="l">
                <a:spcAft>
                  <a:spcPts val="300"/>
                </a:spcAft>
              </a:pPr>
              <a:endParaRPr lang="en-US" altLang="zh-CN" sz="1300" b="0">
                <a:solidFill>
                  <a:srgbClr val="2A272B"/>
                </a:solidFill>
                <a:latin typeface="微软雅黑"/>
              </a:endParaRPr>
            </a:p>
            <a:p>
              <a:pPr algn="l">
                <a:spcAft>
                  <a:spcPts val="300"/>
                </a:spcAft>
              </a:pPr>
              <a:r>
                <a:rPr lang="zh-CN" altLang="en-US" sz="1300" b="0">
                  <a:solidFill>
                    <a:srgbClr val="2A272B"/>
                  </a:solidFill>
                  <a:latin typeface="微软雅黑"/>
                </a:rPr>
                <a:t>则</a:t>
              </a: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r>
                <a:rPr lang="zh-CN" altLang="en-US" sz="1300" b="0">
                  <a:solidFill>
                    <a:srgbClr val="2A272B"/>
                  </a:solidFill>
                  <a:latin typeface="微软雅黑"/>
                </a:rPr>
                <a:t>化简</a:t>
              </a:r>
              <a:r>
                <a:rPr lang="zh-CN" altLang="en-US" sz="1300" b="0">
                  <a:solidFill>
                    <a:srgbClr val="2A272B"/>
                  </a:solidFill>
                  <a:latin typeface="微软雅黑"/>
                </a:rPr>
                <a:t>得</a:t>
              </a:r>
              <a:endParaRPr lang="zh-CN" altLang="en-US" sz="1300" b="0">
                <a:solidFill>
                  <a:srgbClr val="2A272B"/>
                </a:solidFill>
                <a:latin typeface="微软雅黑"/>
              </a:endParaRPr>
            </a:p>
          </p:txBody>
        </p:sp>
        <p:pic>
          <p:nvPicPr>
            <p:cNvPr id="55" name="334E55B0-647D-440b-865C-3EC943EB4CBC-61" descr="wpsoffice"/>
            <p:cNvPicPr>
              <a:picLocks noChangeAspect="1"/>
            </p:cNvPicPr>
            <p:nvPr/>
          </p:nvPicPr>
          <p:blipFill>
            <a:blip r:embed="rId5"/>
            <a:stretch>
              <a:fillRect/>
            </a:stretch>
          </p:blipFill>
          <p:spPr>
            <a:xfrm>
              <a:off x="3586" y="7044"/>
              <a:ext cx="5650" cy="821"/>
            </a:xfrm>
            <a:prstGeom prst="rect">
              <a:avLst/>
            </a:prstGeom>
          </p:spPr>
        </p:pic>
        <p:pic>
          <p:nvPicPr>
            <p:cNvPr id="56" name="334E55B0-647D-440b-865C-3EC943EB4CBC-62" descr="wpsoffice"/>
            <p:cNvPicPr>
              <a:picLocks noChangeAspect="1"/>
            </p:cNvPicPr>
            <p:nvPr/>
          </p:nvPicPr>
          <p:blipFill>
            <a:blip r:embed="rId6"/>
            <a:stretch>
              <a:fillRect/>
            </a:stretch>
          </p:blipFill>
          <p:spPr>
            <a:xfrm>
              <a:off x="4003" y="7987"/>
              <a:ext cx="1486" cy="319"/>
            </a:xfrm>
            <a:prstGeom prst="rect">
              <a:avLst/>
            </a:prstGeom>
          </p:spPr>
        </p:pic>
        <p:pic>
          <p:nvPicPr>
            <p:cNvPr id="57" name="334E55B0-647D-440b-865C-3EC943EB4CBC-63" descr="wpsoffice"/>
            <p:cNvPicPr>
              <a:picLocks noChangeAspect="1"/>
            </p:cNvPicPr>
            <p:nvPr/>
          </p:nvPicPr>
          <p:blipFill>
            <a:blip r:embed="rId7"/>
            <a:stretch>
              <a:fillRect/>
            </a:stretch>
          </p:blipFill>
          <p:spPr>
            <a:xfrm>
              <a:off x="3586" y="8661"/>
              <a:ext cx="2987" cy="331"/>
            </a:xfrm>
            <a:prstGeom prst="rect">
              <a:avLst/>
            </a:prstGeom>
          </p:spPr>
        </p:pic>
        <p:pic>
          <p:nvPicPr>
            <p:cNvPr id="58" name="334E55B0-647D-440b-865C-3EC943EB4CBC-64" descr="wpsoffice"/>
            <p:cNvPicPr>
              <a:picLocks noChangeAspect="1"/>
            </p:cNvPicPr>
            <p:nvPr/>
          </p:nvPicPr>
          <p:blipFill>
            <a:blip r:embed="rId8"/>
            <a:stretch>
              <a:fillRect/>
            </a:stretch>
          </p:blipFill>
          <p:spPr>
            <a:xfrm>
              <a:off x="3586" y="9168"/>
              <a:ext cx="2776" cy="646"/>
            </a:xfrm>
            <a:prstGeom prst="rect">
              <a:avLst/>
            </a:prstGeom>
          </p:spPr>
        </p:pic>
        <p:pic>
          <p:nvPicPr>
            <p:cNvPr id="60" name="334E55B0-647D-440b-865C-3EC943EB4CBC-65" descr="wpsoffice"/>
            <p:cNvPicPr>
              <a:picLocks noChangeAspect="1"/>
            </p:cNvPicPr>
            <p:nvPr/>
          </p:nvPicPr>
          <p:blipFill>
            <a:blip r:embed="rId9"/>
            <a:stretch>
              <a:fillRect/>
            </a:stretch>
          </p:blipFill>
          <p:spPr>
            <a:xfrm>
              <a:off x="3226" y="10977"/>
              <a:ext cx="2711" cy="751"/>
            </a:xfrm>
            <a:prstGeom prst="rect">
              <a:avLst/>
            </a:prstGeom>
          </p:spPr>
        </p:pic>
        <p:pic>
          <p:nvPicPr>
            <p:cNvPr id="61" name="334E55B0-647D-440b-865C-3EC943EB4CBC-66" descr="wpsoffice"/>
            <p:cNvPicPr>
              <a:picLocks noChangeAspect="1"/>
            </p:cNvPicPr>
            <p:nvPr/>
          </p:nvPicPr>
          <p:blipFill>
            <a:blip r:embed="rId10"/>
            <a:stretch>
              <a:fillRect/>
            </a:stretch>
          </p:blipFill>
          <p:spPr>
            <a:xfrm>
              <a:off x="12220" y="4478"/>
              <a:ext cx="5446" cy="1618"/>
            </a:xfrm>
            <a:prstGeom prst="rect">
              <a:avLst/>
            </a:prstGeom>
          </p:spPr>
        </p:pic>
        <p:pic>
          <p:nvPicPr>
            <p:cNvPr id="62" name="334E55B0-647D-440b-865C-3EC943EB4CBC-67" descr="wpsoffice"/>
            <p:cNvPicPr>
              <a:picLocks noChangeAspect="1"/>
            </p:cNvPicPr>
            <p:nvPr/>
          </p:nvPicPr>
          <p:blipFill>
            <a:blip r:embed="rId11"/>
            <a:stretch>
              <a:fillRect/>
            </a:stretch>
          </p:blipFill>
          <p:spPr>
            <a:xfrm>
              <a:off x="3113" y="12337"/>
              <a:ext cx="3460" cy="667"/>
            </a:xfrm>
            <a:prstGeom prst="rect">
              <a:avLst/>
            </a:prstGeom>
          </p:spPr>
        </p:pic>
      </p:grpSp>
      <p:pic>
        <p:nvPicPr>
          <p:cNvPr id="64" name="334E55B0-647D-440b-865C-3EC943EB4CBC-68" descr="wpsoffice"/>
          <p:cNvPicPr>
            <a:picLocks noChangeAspect="1"/>
          </p:cNvPicPr>
          <p:nvPr/>
        </p:nvPicPr>
        <p:blipFill>
          <a:blip r:embed="rId12"/>
          <a:stretch>
            <a:fillRect/>
          </a:stretch>
        </p:blipFill>
        <p:spPr>
          <a:xfrm>
            <a:off x="7908925" y="2423795"/>
            <a:ext cx="3155315" cy="163258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59" name="334E55B0-647D-440b-865C-3EC943EB4CBC-69" descr="wpsoffice"/>
          <p:cNvPicPr>
            <a:picLocks noChangeAspect="1"/>
          </p:cNvPicPr>
          <p:nvPr/>
        </p:nvPicPr>
        <p:blipFill>
          <a:blip r:embed="rId1"/>
          <a:stretch>
            <a:fillRect/>
          </a:stretch>
        </p:blipFill>
        <p:spPr>
          <a:xfrm>
            <a:off x="2762250" y="4705350"/>
            <a:ext cx="2916555" cy="445135"/>
          </a:xfrm>
          <a:prstGeom prst="rect">
            <a:avLst/>
          </a:prstGeom>
        </p:spPr>
      </p:pic>
      <p:grpSp>
        <p:nvGrpSpPr>
          <p:cNvPr id="63" name="组合 62"/>
          <p:cNvGrpSpPr/>
          <p:nvPr/>
        </p:nvGrpSpPr>
        <p:grpSpPr>
          <a:xfrm>
            <a:off x="2033270" y="1131570"/>
            <a:ext cx="9333865" cy="5414010"/>
            <a:chOff x="2967" y="4478"/>
            <a:chExt cx="14699" cy="8526"/>
          </a:xfrm>
        </p:grpSpPr>
        <p:pic>
          <p:nvPicPr>
            <p:cNvPr id="49" name="334E55B0-647D-440b-865C-3EC943EB4CBC-70" descr="wpsoffice"/>
            <p:cNvPicPr>
              <a:picLocks noChangeAspect="1"/>
            </p:cNvPicPr>
            <p:nvPr/>
          </p:nvPicPr>
          <p:blipFill>
            <a:blip r:embed="rId2"/>
            <a:stretch>
              <a:fillRect/>
            </a:stretch>
          </p:blipFill>
          <p:spPr>
            <a:xfrm>
              <a:off x="2967" y="4478"/>
              <a:ext cx="7996" cy="838"/>
            </a:xfrm>
            <a:prstGeom prst="rect">
              <a:avLst/>
            </a:prstGeom>
          </p:spPr>
        </p:pic>
        <p:pic>
          <p:nvPicPr>
            <p:cNvPr id="51" name="334E55B0-647D-440b-865C-3EC943EB4CBC-71" descr="wpsoffice"/>
            <p:cNvPicPr>
              <a:picLocks noChangeAspect="1"/>
            </p:cNvPicPr>
            <p:nvPr/>
          </p:nvPicPr>
          <p:blipFill>
            <a:blip r:embed="rId3"/>
            <a:stretch>
              <a:fillRect/>
            </a:stretch>
          </p:blipFill>
          <p:spPr>
            <a:xfrm>
              <a:off x="2967" y="5505"/>
              <a:ext cx="7404" cy="819"/>
            </a:xfrm>
            <a:prstGeom prst="rect">
              <a:avLst/>
            </a:prstGeom>
          </p:spPr>
        </p:pic>
        <p:pic>
          <p:nvPicPr>
            <p:cNvPr id="52" name="334E55B0-647D-440b-865C-3EC943EB4CBC-72" descr="wpsoffice"/>
            <p:cNvPicPr>
              <a:picLocks noChangeAspect="1"/>
            </p:cNvPicPr>
            <p:nvPr/>
          </p:nvPicPr>
          <p:blipFill>
            <a:blip r:embed="rId4"/>
            <a:stretch>
              <a:fillRect/>
            </a:stretch>
          </p:blipFill>
          <p:spPr>
            <a:xfrm>
              <a:off x="3586" y="6324"/>
              <a:ext cx="1661" cy="819"/>
            </a:xfrm>
            <a:prstGeom prst="rect">
              <a:avLst/>
            </a:prstGeom>
          </p:spPr>
        </p:pic>
        <p:sp>
          <p:nvSpPr>
            <p:cNvPr id="54" name="TextBox 24"/>
            <p:cNvSpPr txBox="1"/>
            <p:nvPr/>
          </p:nvSpPr>
          <p:spPr>
            <a:xfrm>
              <a:off x="3118" y="6513"/>
              <a:ext cx="6163" cy="4171"/>
            </a:xfrm>
            <a:prstGeom prst="rect">
              <a:avLst/>
            </a:prstGeom>
            <a:noFill/>
          </p:spPr>
          <p:txBody>
            <a:bodyPr wrap="square" lIns="18288" tIns="18288" rIns="18288">
              <a:spAutoFit/>
            </a:bodyPr>
            <a:lstStyle/>
            <a:p>
              <a:pPr algn="l">
                <a:spcAft>
                  <a:spcPts val="300"/>
                </a:spcAft>
              </a:pPr>
              <a:r>
                <a:rPr lang="zh-CN" sz="1300" b="0">
                  <a:solidFill>
                    <a:srgbClr val="2A272B"/>
                  </a:solidFill>
                  <a:latin typeface="微软雅黑"/>
                </a:rPr>
                <a:t>令</a:t>
              </a:r>
              <a:endParaRPr lang="zh-CN" sz="1300" b="0">
                <a:solidFill>
                  <a:srgbClr val="2A272B"/>
                </a:solidFill>
                <a:latin typeface="微软雅黑"/>
              </a:endParaRPr>
            </a:p>
            <a:p>
              <a:pPr algn="l">
                <a:spcAft>
                  <a:spcPts val="300"/>
                </a:spcAft>
              </a:pPr>
              <a:endParaRPr lang="zh-CN" sz="1300" b="0">
                <a:solidFill>
                  <a:srgbClr val="2A272B"/>
                </a:solidFill>
                <a:latin typeface="微软雅黑"/>
              </a:endParaRPr>
            </a:p>
            <a:p>
              <a:pPr algn="l">
                <a:spcAft>
                  <a:spcPts val="300"/>
                </a:spcAft>
              </a:pPr>
              <a:r>
                <a:rPr lang="zh-CN" sz="1300" b="0">
                  <a:solidFill>
                    <a:srgbClr val="2A272B"/>
                  </a:solidFill>
                  <a:latin typeface="微软雅黑"/>
                </a:rPr>
                <a:t>则</a:t>
              </a:r>
              <a:endParaRPr lang="zh-CN" sz="1300" b="0">
                <a:solidFill>
                  <a:srgbClr val="2A272B"/>
                </a:solidFill>
                <a:latin typeface="微软雅黑"/>
              </a:endParaRPr>
            </a:p>
            <a:p>
              <a:pPr algn="l">
                <a:spcAft>
                  <a:spcPts val="300"/>
                </a:spcAft>
              </a:pPr>
              <a:endParaRPr lang="zh-CN" sz="1300" b="0">
                <a:solidFill>
                  <a:srgbClr val="2A272B"/>
                </a:solidFill>
                <a:latin typeface="微软雅黑"/>
              </a:endParaRPr>
            </a:p>
            <a:p>
              <a:pPr algn="l">
                <a:spcAft>
                  <a:spcPts val="300"/>
                </a:spcAft>
              </a:pPr>
              <a:r>
                <a:rPr lang="zh-CN" sz="1300" b="0">
                  <a:solidFill>
                    <a:srgbClr val="2A272B"/>
                  </a:solidFill>
                  <a:latin typeface="微软雅黑"/>
                </a:rPr>
                <a:t>换元</a:t>
              </a:r>
              <a:r>
                <a:rPr lang="en-US" altLang="zh-CN" sz="1300" b="0">
                  <a:solidFill>
                    <a:srgbClr val="2A272B"/>
                  </a:solidFill>
                  <a:latin typeface="微软雅黑"/>
                </a:rPr>
                <a:t>：</a:t>
              </a:r>
              <a:endParaRPr lang="en-US" altLang="zh-CN" sz="1300" b="0">
                <a:solidFill>
                  <a:srgbClr val="2A272B"/>
                </a:solidFill>
                <a:latin typeface="微软雅黑"/>
              </a:endParaRPr>
            </a:p>
            <a:p>
              <a:pPr algn="l">
                <a:spcAft>
                  <a:spcPts val="300"/>
                </a:spcAft>
              </a:pPr>
              <a:endParaRPr lang="en-US" altLang="zh-CN" sz="1300" b="0">
                <a:solidFill>
                  <a:srgbClr val="2A272B"/>
                </a:solidFill>
                <a:latin typeface="微软雅黑"/>
              </a:endParaRPr>
            </a:p>
            <a:p>
              <a:pPr algn="l">
                <a:spcAft>
                  <a:spcPts val="300"/>
                </a:spcAft>
              </a:pPr>
              <a:r>
                <a:rPr lang="zh-CN" altLang="en-US" sz="1300" b="0">
                  <a:solidFill>
                    <a:srgbClr val="2A272B"/>
                  </a:solidFill>
                  <a:latin typeface="微软雅黑"/>
                </a:rPr>
                <a:t>则</a:t>
              </a: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endParaRPr lang="zh-CN" altLang="en-US" sz="1300" b="0">
                <a:solidFill>
                  <a:srgbClr val="2A272B"/>
                </a:solidFill>
                <a:latin typeface="微软雅黑"/>
              </a:endParaRPr>
            </a:p>
            <a:p>
              <a:pPr algn="l">
                <a:spcAft>
                  <a:spcPts val="300"/>
                </a:spcAft>
              </a:pPr>
              <a:r>
                <a:rPr lang="zh-CN" altLang="en-US" sz="1300" b="0">
                  <a:solidFill>
                    <a:srgbClr val="2A272B"/>
                  </a:solidFill>
                  <a:latin typeface="微软雅黑"/>
                </a:rPr>
                <a:t>化简</a:t>
              </a:r>
              <a:r>
                <a:rPr lang="zh-CN" altLang="en-US" sz="1300" b="0">
                  <a:solidFill>
                    <a:srgbClr val="2A272B"/>
                  </a:solidFill>
                  <a:latin typeface="微软雅黑"/>
                </a:rPr>
                <a:t>得</a:t>
              </a:r>
              <a:endParaRPr lang="zh-CN" altLang="en-US" sz="1300" b="0">
                <a:solidFill>
                  <a:srgbClr val="2A272B"/>
                </a:solidFill>
                <a:latin typeface="微软雅黑"/>
              </a:endParaRPr>
            </a:p>
          </p:txBody>
        </p:sp>
        <p:pic>
          <p:nvPicPr>
            <p:cNvPr id="55" name="334E55B0-647D-440b-865C-3EC943EB4CBC-73" descr="wpsoffice"/>
            <p:cNvPicPr>
              <a:picLocks noChangeAspect="1"/>
            </p:cNvPicPr>
            <p:nvPr/>
          </p:nvPicPr>
          <p:blipFill>
            <a:blip r:embed="rId5"/>
            <a:stretch>
              <a:fillRect/>
            </a:stretch>
          </p:blipFill>
          <p:spPr>
            <a:xfrm>
              <a:off x="3586" y="7044"/>
              <a:ext cx="5650" cy="821"/>
            </a:xfrm>
            <a:prstGeom prst="rect">
              <a:avLst/>
            </a:prstGeom>
          </p:spPr>
        </p:pic>
        <p:pic>
          <p:nvPicPr>
            <p:cNvPr id="56" name="334E55B0-647D-440b-865C-3EC943EB4CBC-74" descr="wpsoffice"/>
            <p:cNvPicPr>
              <a:picLocks noChangeAspect="1"/>
            </p:cNvPicPr>
            <p:nvPr/>
          </p:nvPicPr>
          <p:blipFill>
            <a:blip r:embed="rId6"/>
            <a:stretch>
              <a:fillRect/>
            </a:stretch>
          </p:blipFill>
          <p:spPr>
            <a:xfrm>
              <a:off x="4003" y="7987"/>
              <a:ext cx="1486" cy="319"/>
            </a:xfrm>
            <a:prstGeom prst="rect">
              <a:avLst/>
            </a:prstGeom>
          </p:spPr>
        </p:pic>
        <p:pic>
          <p:nvPicPr>
            <p:cNvPr id="57" name="334E55B0-647D-440b-865C-3EC943EB4CBC-75" descr="wpsoffice"/>
            <p:cNvPicPr>
              <a:picLocks noChangeAspect="1"/>
            </p:cNvPicPr>
            <p:nvPr/>
          </p:nvPicPr>
          <p:blipFill>
            <a:blip r:embed="rId7"/>
            <a:stretch>
              <a:fillRect/>
            </a:stretch>
          </p:blipFill>
          <p:spPr>
            <a:xfrm>
              <a:off x="3586" y="8661"/>
              <a:ext cx="2987" cy="331"/>
            </a:xfrm>
            <a:prstGeom prst="rect">
              <a:avLst/>
            </a:prstGeom>
          </p:spPr>
        </p:pic>
        <p:pic>
          <p:nvPicPr>
            <p:cNvPr id="58" name="334E55B0-647D-440b-865C-3EC943EB4CBC-76" descr="wpsoffice"/>
            <p:cNvPicPr>
              <a:picLocks noChangeAspect="1"/>
            </p:cNvPicPr>
            <p:nvPr/>
          </p:nvPicPr>
          <p:blipFill>
            <a:blip r:embed="rId8"/>
            <a:stretch>
              <a:fillRect/>
            </a:stretch>
          </p:blipFill>
          <p:spPr>
            <a:xfrm>
              <a:off x="3586" y="9168"/>
              <a:ext cx="2776" cy="646"/>
            </a:xfrm>
            <a:prstGeom prst="rect">
              <a:avLst/>
            </a:prstGeom>
          </p:spPr>
        </p:pic>
        <p:pic>
          <p:nvPicPr>
            <p:cNvPr id="60" name="334E55B0-647D-440b-865C-3EC943EB4CBC-77" descr="wpsoffice"/>
            <p:cNvPicPr>
              <a:picLocks noChangeAspect="1"/>
            </p:cNvPicPr>
            <p:nvPr/>
          </p:nvPicPr>
          <p:blipFill>
            <a:blip r:embed="rId9"/>
            <a:stretch>
              <a:fillRect/>
            </a:stretch>
          </p:blipFill>
          <p:spPr>
            <a:xfrm>
              <a:off x="3226" y="10977"/>
              <a:ext cx="2711" cy="751"/>
            </a:xfrm>
            <a:prstGeom prst="rect">
              <a:avLst/>
            </a:prstGeom>
          </p:spPr>
        </p:pic>
        <p:pic>
          <p:nvPicPr>
            <p:cNvPr id="61" name="334E55B0-647D-440b-865C-3EC943EB4CBC-78" descr="wpsoffice"/>
            <p:cNvPicPr>
              <a:picLocks noChangeAspect="1"/>
            </p:cNvPicPr>
            <p:nvPr/>
          </p:nvPicPr>
          <p:blipFill>
            <a:blip r:embed="rId10"/>
            <a:stretch>
              <a:fillRect/>
            </a:stretch>
          </p:blipFill>
          <p:spPr>
            <a:xfrm>
              <a:off x="12220" y="4478"/>
              <a:ext cx="5446" cy="1618"/>
            </a:xfrm>
            <a:prstGeom prst="rect">
              <a:avLst/>
            </a:prstGeom>
          </p:spPr>
        </p:pic>
        <p:pic>
          <p:nvPicPr>
            <p:cNvPr id="62" name="334E55B0-647D-440b-865C-3EC943EB4CBC-79" descr="wpsoffice"/>
            <p:cNvPicPr>
              <a:picLocks noChangeAspect="1"/>
            </p:cNvPicPr>
            <p:nvPr/>
          </p:nvPicPr>
          <p:blipFill>
            <a:blip r:embed="rId11"/>
            <a:stretch>
              <a:fillRect/>
            </a:stretch>
          </p:blipFill>
          <p:spPr>
            <a:xfrm>
              <a:off x="3113" y="12337"/>
              <a:ext cx="3460" cy="667"/>
            </a:xfrm>
            <a:prstGeom prst="rect">
              <a:avLst/>
            </a:prstGeom>
          </p:spPr>
        </p:pic>
      </p:grpSp>
      <p:pic>
        <p:nvPicPr>
          <p:cNvPr id="64" name="334E55B0-647D-440b-865C-3EC943EB4CBC-80" descr="wpsoffice"/>
          <p:cNvPicPr>
            <a:picLocks noChangeAspect="1"/>
          </p:cNvPicPr>
          <p:nvPr/>
        </p:nvPicPr>
        <p:blipFill>
          <a:blip r:embed="rId12"/>
          <a:stretch>
            <a:fillRect/>
          </a:stretch>
        </p:blipFill>
        <p:spPr>
          <a:xfrm>
            <a:off x="7908925" y="2423795"/>
            <a:ext cx="3155315" cy="1632585"/>
          </a:xfrm>
          <a:prstGeom prst="rect">
            <a:avLst/>
          </a:prstGeom>
        </p:spPr>
      </p:pic>
      <p:pic>
        <p:nvPicPr>
          <p:cNvPr id="65" name="334E55B0-647D-440b-865C-3EC943EB4CBC-81" descr="wpsoffice"/>
          <p:cNvPicPr>
            <a:picLocks noChangeAspect="1"/>
          </p:cNvPicPr>
          <p:nvPr/>
        </p:nvPicPr>
        <p:blipFill>
          <a:blip r:embed="rId13"/>
          <a:stretch>
            <a:fillRect/>
          </a:stretch>
        </p:blipFill>
        <p:spPr>
          <a:xfrm>
            <a:off x="7692390" y="4321175"/>
            <a:ext cx="3992245" cy="17716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65" name="334E55B0-647D-440b-865C-3EC943EB4CBC-44" descr="wpsoffice"/>
          <p:cNvPicPr>
            <a:picLocks noChangeAspect="1"/>
          </p:cNvPicPr>
          <p:nvPr/>
        </p:nvPicPr>
        <p:blipFill>
          <a:blip r:embed="rId1"/>
          <a:stretch>
            <a:fillRect/>
          </a:stretch>
        </p:blipFill>
        <p:spPr>
          <a:xfrm>
            <a:off x="1979930" y="1134110"/>
            <a:ext cx="3992245" cy="17716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65" name="334E55B0-647D-440b-865C-3EC943EB4CBC-95" descr="wpsoffice"/>
          <p:cNvPicPr>
            <a:picLocks noChangeAspect="1"/>
          </p:cNvPicPr>
          <p:nvPr/>
        </p:nvPicPr>
        <p:blipFill>
          <a:blip r:embed="rId1"/>
          <a:stretch>
            <a:fillRect/>
          </a:stretch>
        </p:blipFill>
        <p:spPr>
          <a:xfrm>
            <a:off x="1979930" y="1134110"/>
            <a:ext cx="3992245" cy="1771650"/>
          </a:xfrm>
          <a:prstGeom prst="rect">
            <a:avLst/>
          </a:prstGeom>
        </p:spPr>
      </p:pic>
      <p:pic>
        <p:nvPicPr>
          <p:cNvPr id="2" name="334E55B0-647D-440b-865C-3EC943EB4CBC-45" descr="wpsoffice"/>
          <p:cNvPicPr>
            <a:picLocks noChangeAspect="1"/>
          </p:cNvPicPr>
          <p:nvPr/>
        </p:nvPicPr>
        <p:blipFill>
          <a:blip r:embed="rId2"/>
          <a:stretch>
            <a:fillRect/>
          </a:stretch>
        </p:blipFill>
        <p:spPr>
          <a:xfrm>
            <a:off x="2381885" y="3290570"/>
            <a:ext cx="2333625" cy="2616200"/>
          </a:xfrm>
          <a:prstGeom prst="rect">
            <a:avLst/>
          </a:prstGeom>
        </p:spPr>
      </p:pic>
      <p:sp>
        <p:nvSpPr>
          <p:cNvPr id="5" name="TextBox 24"/>
          <p:cNvSpPr txBox="1"/>
          <p:nvPr/>
        </p:nvSpPr>
        <p:spPr>
          <a:xfrm>
            <a:off x="1889760" y="2905760"/>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换元</a:t>
            </a:r>
            <a:r>
              <a:rPr lang="en-US" altLang="zh-CN" sz="1300" b="0">
                <a:solidFill>
                  <a:srgbClr val="2A272B"/>
                </a:solidFill>
                <a:latin typeface="微软雅黑"/>
              </a:rPr>
              <a:t>：</a:t>
            </a:r>
            <a:endParaRPr lang="en-US" altLang="zh-CN" sz="1300" b="0">
              <a:solidFill>
                <a:srgbClr val="2A272B"/>
              </a:solidFill>
              <a:latin typeface="微软雅黑"/>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65" name="334E55B0-647D-440b-865C-3EC943EB4CBC-82" descr="wpsoffice"/>
          <p:cNvPicPr>
            <a:picLocks noChangeAspect="1"/>
          </p:cNvPicPr>
          <p:nvPr/>
        </p:nvPicPr>
        <p:blipFill>
          <a:blip r:embed="rId1"/>
          <a:stretch>
            <a:fillRect/>
          </a:stretch>
        </p:blipFill>
        <p:spPr>
          <a:xfrm>
            <a:off x="1979930" y="1134110"/>
            <a:ext cx="3992245" cy="1771650"/>
          </a:xfrm>
          <a:prstGeom prst="rect">
            <a:avLst/>
          </a:prstGeom>
        </p:spPr>
      </p:pic>
      <p:pic>
        <p:nvPicPr>
          <p:cNvPr id="2" name="334E55B0-647D-440b-865C-3EC943EB4CBC-83" descr="wpsoffice"/>
          <p:cNvPicPr>
            <a:picLocks noChangeAspect="1"/>
          </p:cNvPicPr>
          <p:nvPr/>
        </p:nvPicPr>
        <p:blipFill>
          <a:blip r:embed="rId2"/>
          <a:stretch>
            <a:fillRect/>
          </a:stretch>
        </p:blipFill>
        <p:spPr>
          <a:xfrm>
            <a:off x="2381885" y="3290570"/>
            <a:ext cx="2333625" cy="2616200"/>
          </a:xfrm>
          <a:prstGeom prst="rect">
            <a:avLst/>
          </a:prstGeom>
        </p:spPr>
      </p:pic>
      <p:sp>
        <p:nvSpPr>
          <p:cNvPr id="5" name="TextBox 24"/>
          <p:cNvSpPr txBox="1"/>
          <p:nvPr/>
        </p:nvSpPr>
        <p:spPr>
          <a:xfrm>
            <a:off x="1889760" y="2905760"/>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换元</a:t>
            </a:r>
            <a:r>
              <a:rPr lang="en-US" altLang="zh-CN" sz="1300" b="0">
                <a:solidFill>
                  <a:srgbClr val="2A272B"/>
                </a:solidFill>
                <a:latin typeface="微软雅黑"/>
              </a:rPr>
              <a:t>：</a:t>
            </a:r>
            <a:endParaRPr lang="en-US" altLang="zh-CN" sz="1300" b="0">
              <a:solidFill>
                <a:srgbClr val="2A272B"/>
              </a:solidFill>
              <a:latin typeface="微软雅黑"/>
            </a:endParaRPr>
          </a:p>
        </p:txBody>
      </p:sp>
      <p:pic>
        <p:nvPicPr>
          <p:cNvPr id="3" name="334E55B0-647D-440b-865C-3EC943EB4CBC-84" descr="wpsoffice"/>
          <p:cNvPicPr>
            <a:picLocks noChangeAspect="1"/>
          </p:cNvPicPr>
          <p:nvPr/>
        </p:nvPicPr>
        <p:blipFill>
          <a:blip r:embed="rId3"/>
          <a:stretch>
            <a:fillRect/>
          </a:stretch>
        </p:blipFill>
        <p:spPr>
          <a:xfrm>
            <a:off x="7280910" y="1397635"/>
            <a:ext cx="3176270" cy="1999615"/>
          </a:xfrm>
          <a:prstGeom prst="rect">
            <a:avLst/>
          </a:prstGeom>
        </p:spPr>
      </p:pic>
      <p:sp>
        <p:nvSpPr>
          <p:cNvPr id="4" name="TextBox 24"/>
          <p:cNvSpPr txBox="1"/>
          <p:nvPr/>
        </p:nvSpPr>
        <p:spPr>
          <a:xfrm>
            <a:off x="7033260" y="1134110"/>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带入整理得</a:t>
            </a:r>
            <a:r>
              <a:rPr lang="en-US" altLang="zh-CN" sz="1300" b="0">
                <a:solidFill>
                  <a:srgbClr val="2A272B"/>
                </a:solidFill>
                <a:latin typeface="微软雅黑"/>
              </a:rPr>
              <a:t>：</a:t>
            </a:r>
            <a:endParaRPr lang="en-US" altLang="zh-CN" sz="1300" b="0">
              <a:solidFill>
                <a:srgbClr val="2A272B"/>
              </a:solidFill>
              <a:latin typeface="微软雅黑"/>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65" name="334E55B0-647D-440b-865C-3EC943EB4CBC-85" descr="wpsoffice"/>
          <p:cNvPicPr>
            <a:picLocks noChangeAspect="1"/>
          </p:cNvPicPr>
          <p:nvPr/>
        </p:nvPicPr>
        <p:blipFill>
          <a:blip r:embed="rId1"/>
          <a:stretch>
            <a:fillRect/>
          </a:stretch>
        </p:blipFill>
        <p:spPr>
          <a:xfrm>
            <a:off x="1979930" y="1134110"/>
            <a:ext cx="3992245" cy="1771650"/>
          </a:xfrm>
          <a:prstGeom prst="rect">
            <a:avLst/>
          </a:prstGeom>
        </p:spPr>
      </p:pic>
      <p:pic>
        <p:nvPicPr>
          <p:cNvPr id="2" name="334E55B0-647D-440b-865C-3EC943EB4CBC-86" descr="wpsoffice"/>
          <p:cNvPicPr>
            <a:picLocks noChangeAspect="1"/>
          </p:cNvPicPr>
          <p:nvPr/>
        </p:nvPicPr>
        <p:blipFill>
          <a:blip r:embed="rId2"/>
          <a:stretch>
            <a:fillRect/>
          </a:stretch>
        </p:blipFill>
        <p:spPr>
          <a:xfrm>
            <a:off x="2381885" y="3290570"/>
            <a:ext cx="2333625" cy="2616200"/>
          </a:xfrm>
          <a:prstGeom prst="rect">
            <a:avLst/>
          </a:prstGeom>
        </p:spPr>
      </p:pic>
      <p:sp>
        <p:nvSpPr>
          <p:cNvPr id="5" name="TextBox 24"/>
          <p:cNvSpPr txBox="1"/>
          <p:nvPr/>
        </p:nvSpPr>
        <p:spPr>
          <a:xfrm>
            <a:off x="1889760" y="2905760"/>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换元</a:t>
            </a:r>
            <a:r>
              <a:rPr lang="en-US" altLang="zh-CN" sz="1300" b="0">
                <a:solidFill>
                  <a:srgbClr val="2A272B"/>
                </a:solidFill>
                <a:latin typeface="微软雅黑"/>
              </a:rPr>
              <a:t>：</a:t>
            </a:r>
            <a:endParaRPr lang="en-US" altLang="zh-CN" sz="1300" b="0">
              <a:solidFill>
                <a:srgbClr val="2A272B"/>
              </a:solidFill>
              <a:latin typeface="微软雅黑"/>
            </a:endParaRPr>
          </a:p>
        </p:txBody>
      </p:sp>
      <p:pic>
        <p:nvPicPr>
          <p:cNvPr id="3" name="334E55B0-647D-440b-865C-3EC943EB4CBC-87" descr="wpsoffice"/>
          <p:cNvPicPr>
            <a:picLocks noChangeAspect="1"/>
          </p:cNvPicPr>
          <p:nvPr/>
        </p:nvPicPr>
        <p:blipFill>
          <a:blip r:embed="rId3"/>
          <a:stretch>
            <a:fillRect/>
          </a:stretch>
        </p:blipFill>
        <p:spPr>
          <a:xfrm>
            <a:off x="7280910" y="1397635"/>
            <a:ext cx="3176270" cy="1999615"/>
          </a:xfrm>
          <a:prstGeom prst="rect">
            <a:avLst/>
          </a:prstGeom>
        </p:spPr>
      </p:pic>
      <p:sp>
        <p:nvSpPr>
          <p:cNvPr id="4" name="TextBox 24"/>
          <p:cNvSpPr txBox="1"/>
          <p:nvPr/>
        </p:nvSpPr>
        <p:spPr>
          <a:xfrm>
            <a:off x="7033260" y="1134110"/>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带入整理得</a:t>
            </a:r>
            <a:r>
              <a:rPr lang="en-US" altLang="zh-CN" sz="1300" b="0">
                <a:solidFill>
                  <a:srgbClr val="2A272B"/>
                </a:solidFill>
                <a:latin typeface="微软雅黑"/>
              </a:rPr>
              <a:t>：</a:t>
            </a:r>
            <a:endParaRPr lang="en-US" altLang="zh-CN" sz="1300" b="0">
              <a:solidFill>
                <a:srgbClr val="2A272B"/>
              </a:solidFill>
              <a:latin typeface="微软雅黑"/>
            </a:endParaRPr>
          </a:p>
        </p:txBody>
      </p:sp>
      <p:pic>
        <p:nvPicPr>
          <p:cNvPr id="6" name="334E55B0-647D-440b-865C-3EC943EB4CBC-88" descr="wpsoffice"/>
          <p:cNvPicPr>
            <a:picLocks noChangeAspect="1"/>
          </p:cNvPicPr>
          <p:nvPr/>
        </p:nvPicPr>
        <p:blipFill>
          <a:blip r:embed="rId4"/>
          <a:stretch>
            <a:fillRect/>
          </a:stretch>
        </p:blipFill>
        <p:spPr>
          <a:xfrm>
            <a:off x="7158355" y="3700780"/>
            <a:ext cx="2414905" cy="1729740"/>
          </a:xfrm>
          <a:prstGeom prst="rect">
            <a:avLst/>
          </a:prstGeom>
        </p:spPr>
      </p:pic>
      <p:sp>
        <p:nvSpPr>
          <p:cNvPr id="7" name="TextBox 24"/>
          <p:cNvSpPr txBox="1"/>
          <p:nvPr/>
        </p:nvSpPr>
        <p:spPr>
          <a:xfrm>
            <a:off x="7033260" y="3416935"/>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转换为 </a:t>
            </a:r>
            <a:r>
              <a:rPr lang="en-US" altLang="zh-CN" sz="1300" b="0">
                <a:solidFill>
                  <a:srgbClr val="2A272B"/>
                </a:solidFill>
                <a:latin typeface="微软雅黑"/>
              </a:rPr>
              <a:t>Gamma </a:t>
            </a:r>
            <a:r>
              <a:rPr lang="zh-CN" altLang="en-US" sz="1300" b="0">
                <a:solidFill>
                  <a:srgbClr val="2A272B"/>
                </a:solidFill>
                <a:latin typeface="微软雅黑"/>
              </a:rPr>
              <a:t>函数</a:t>
            </a:r>
            <a:r>
              <a:rPr lang="en-US" altLang="zh-CN" sz="1300" b="0">
                <a:solidFill>
                  <a:srgbClr val="2A272B"/>
                </a:solidFill>
                <a:latin typeface="微软雅黑"/>
              </a:rPr>
              <a:t>：</a:t>
            </a:r>
            <a:endParaRPr lang="en-US" altLang="zh-CN" sz="1300" b="0">
              <a:solidFill>
                <a:srgbClr val="2A272B"/>
              </a:solidFill>
              <a:latin typeface="微软雅黑"/>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pic>
        <p:nvPicPr>
          <p:cNvPr id="65" name="334E55B0-647D-440b-865C-3EC943EB4CBC-89" descr="wpsoffice"/>
          <p:cNvPicPr>
            <a:picLocks noChangeAspect="1"/>
          </p:cNvPicPr>
          <p:nvPr/>
        </p:nvPicPr>
        <p:blipFill>
          <a:blip r:embed="rId1"/>
          <a:stretch>
            <a:fillRect/>
          </a:stretch>
        </p:blipFill>
        <p:spPr>
          <a:xfrm>
            <a:off x="1979930" y="1134110"/>
            <a:ext cx="3992245" cy="1771650"/>
          </a:xfrm>
          <a:prstGeom prst="rect">
            <a:avLst/>
          </a:prstGeom>
        </p:spPr>
      </p:pic>
      <p:pic>
        <p:nvPicPr>
          <p:cNvPr id="2" name="334E55B0-647D-440b-865C-3EC943EB4CBC-90" descr="wpsoffice"/>
          <p:cNvPicPr>
            <a:picLocks noChangeAspect="1"/>
          </p:cNvPicPr>
          <p:nvPr/>
        </p:nvPicPr>
        <p:blipFill>
          <a:blip r:embed="rId2"/>
          <a:stretch>
            <a:fillRect/>
          </a:stretch>
        </p:blipFill>
        <p:spPr>
          <a:xfrm>
            <a:off x="2381885" y="3290570"/>
            <a:ext cx="2333625" cy="2616200"/>
          </a:xfrm>
          <a:prstGeom prst="rect">
            <a:avLst/>
          </a:prstGeom>
        </p:spPr>
      </p:pic>
      <p:sp>
        <p:nvSpPr>
          <p:cNvPr id="5" name="TextBox 24"/>
          <p:cNvSpPr txBox="1"/>
          <p:nvPr/>
        </p:nvSpPr>
        <p:spPr>
          <a:xfrm>
            <a:off x="1889760" y="2905760"/>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换元</a:t>
            </a:r>
            <a:r>
              <a:rPr lang="en-US" altLang="zh-CN" sz="1300" b="0">
                <a:solidFill>
                  <a:srgbClr val="2A272B"/>
                </a:solidFill>
                <a:latin typeface="微软雅黑"/>
              </a:rPr>
              <a:t>：</a:t>
            </a:r>
            <a:endParaRPr lang="en-US" altLang="zh-CN" sz="1300" b="0">
              <a:solidFill>
                <a:srgbClr val="2A272B"/>
              </a:solidFill>
              <a:latin typeface="微软雅黑"/>
            </a:endParaRPr>
          </a:p>
        </p:txBody>
      </p:sp>
      <p:pic>
        <p:nvPicPr>
          <p:cNvPr id="3" name="334E55B0-647D-440b-865C-3EC943EB4CBC-91" descr="wpsoffice"/>
          <p:cNvPicPr>
            <a:picLocks noChangeAspect="1"/>
          </p:cNvPicPr>
          <p:nvPr/>
        </p:nvPicPr>
        <p:blipFill>
          <a:blip r:embed="rId3"/>
          <a:stretch>
            <a:fillRect/>
          </a:stretch>
        </p:blipFill>
        <p:spPr>
          <a:xfrm>
            <a:off x="7280910" y="1397635"/>
            <a:ext cx="3176270" cy="1999615"/>
          </a:xfrm>
          <a:prstGeom prst="rect">
            <a:avLst/>
          </a:prstGeom>
        </p:spPr>
      </p:pic>
      <p:sp>
        <p:nvSpPr>
          <p:cNvPr id="4" name="TextBox 24"/>
          <p:cNvSpPr txBox="1"/>
          <p:nvPr/>
        </p:nvSpPr>
        <p:spPr>
          <a:xfrm>
            <a:off x="7033260" y="1134110"/>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带入整理得</a:t>
            </a:r>
            <a:r>
              <a:rPr lang="en-US" altLang="zh-CN" sz="1300" b="0">
                <a:solidFill>
                  <a:srgbClr val="2A272B"/>
                </a:solidFill>
                <a:latin typeface="微软雅黑"/>
              </a:rPr>
              <a:t>：</a:t>
            </a:r>
            <a:endParaRPr lang="en-US" altLang="zh-CN" sz="1300" b="0">
              <a:solidFill>
                <a:srgbClr val="2A272B"/>
              </a:solidFill>
              <a:latin typeface="微软雅黑"/>
            </a:endParaRPr>
          </a:p>
        </p:txBody>
      </p:sp>
      <p:pic>
        <p:nvPicPr>
          <p:cNvPr id="6" name="334E55B0-647D-440b-865C-3EC943EB4CBC-92" descr="wpsoffice"/>
          <p:cNvPicPr>
            <a:picLocks noChangeAspect="1"/>
          </p:cNvPicPr>
          <p:nvPr/>
        </p:nvPicPr>
        <p:blipFill>
          <a:blip r:embed="rId4"/>
          <a:stretch>
            <a:fillRect/>
          </a:stretch>
        </p:blipFill>
        <p:spPr>
          <a:xfrm>
            <a:off x="7158355" y="3700780"/>
            <a:ext cx="2414905" cy="1729740"/>
          </a:xfrm>
          <a:prstGeom prst="rect">
            <a:avLst/>
          </a:prstGeom>
        </p:spPr>
      </p:pic>
      <p:sp>
        <p:nvSpPr>
          <p:cNvPr id="7" name="TextBox 24"/>
          <p:cNvSpPr txBox="1"/>
          <p:nvPr/>
        </p:nvSpPr>
        <p:spPr>
          <a:xfrm>
            <a:off x="7033260" y="3416935"/>
            <a:ext cx="5268595" cy="263525"/>
          </a:xfrm>
          <a:prstGeom prst="rect">
            <a:avLst/>
          </a:prstGeom>
          <a:noFill/>
        </p:spPr>
        <p:txBody>
          <a:bodyPr wrap="square" lIns="18288" tIns="18288" rIns="18288">
            <a:spAutoFit/>
          </a:bodyPr>
          <a:lstStyle/>
          <a:p>
            <a:pPr algn="l">
              <a:spcAft>
                <a:spcPts val="300"/>
              </a:spcAft>
            </a:pPr>
            <a:r>
              <a:rPr lang="zh-CN" altLang="en-US" sz="1300" b="0">
                <a:solidFill>
                  <a:srgbClr val="2A272B"/>
                </a:solidFill>
                <a:latin typeface="微软雅黑"/>
              </a:rPr>
              <a:t>转换为 </a:t>
            </a:r>
            <a:r>
              <a:rPr lang="en-US" altLang="zh-CN" sz="1300" b="0">
                <a:solidFill>
                  <a:srgbClr val="2A272B"/>
                </a:solidFill>
                <a:latin typeface="微软雅黑"/>
              </a:rPr>
              <a:t>Gamma </a:t>
            </a:r>
            <a:r>
              <a:rPr lang="zh-CN" altLang="en-US" sz="1300" b="0">
                <a:solidFill>
                  <a:srgbClr val="2A272B"/>
                </a:solidFill>
                <a:latin typeface="微软雅黑"/>
              </a:rPr>
              <a:t>函数</a:t>
            </a:r>
            <a:r>
              <a:rPr lang="en-US" altLang="zh-CN" sz="1300" b="0">
                <a:solidFill>
                  <a:srgbClr val="2A272B"/>
                </a:solidFill>
                <a:latin typeface="微软雅黑"/>
              </a:rPr>
              <a:t>：</a:t>
            </a:r>
            <a:endParaRPr lang="en-US" altLang="zh-CN" sz="1300" b="0">
              <a:solidFill>
                <a:srgbClr val="2A272B"/>
              </a:solidFill>
              <a:latin typeface="微软雅黑"/>
            </a:endParaRPr>
          </a:p>
        </p:txBody>
      </p:sp>
      <p:pic>
        <p:nvPicPr>
          <p:cNvPr id="8" name="334E55B0-647D-440b-865C-3EC943EB4CBC-93" descr="wpsoffice"/>
          <p:cNvPicPr>
            <a:picLocks noChangeAspect="1"/>
          </p:cNvPicPr>
          <p:nvPr/>
        </p:nvPicPr>
        <p:blipFill>
          <a:blip r:embed="rId5"/>
          <a:stretch>
            <a:fillRect/>
          </a:stretch>
        </p:blipFill>
        <p:spPr>
          <a:xfrm>
            <a:off x="7158355" y="5531485"/>
            <a:ext cx="2858135" cy="13563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个人端④：迁移增加，平均工资为何不按比例增加？</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4" name="组合 43"/>
          <p:cNvGrpSpPr/>
          <p:nvPr/>
        </p:nvGrpSpPr>
        <p:grpSpPr>
          <a:xfrm>
            <a:off x="2121535" y="1060450"/>
            <a:ext cx="9217025" cy="5660390"/>
            <a:chOff x="3341" y="1670"/>
            <a:chExt cx="14515" cy="891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Eqs. (5)–(6)：观察到的迁移者并非随机抽样，而是经过技能选择。</a:t>
              </a:r>
              <a:endParaRPr sz="1400" b="1">
                <a:solidFill>
                  <a:srgbClr val="69086F"/>
                </a:solidFill>
                <a:latin typeface="微软雅黑"/>
              </a:endParaRPr>
            </a:p>
          </p:txBody>
        </p:sp>
        <p:sp>
          <p:nvSpPr>
            <p:cNvPr id="21" name="TextBox 20"/>
            <p:cNvSpPr txBox="1"/>
            <p:nvPr/>
          </p:nvSpPr>
          <p:spPr>
            <a:xfrm>
              <a:off x="3355" y="10325"/>
              <a:ext cx="14400" cy="259"/>
            </a:xfrm>
            <a:prstGeom prst="rect">
              <a:avLst/>
            </a:prstGeom>
            <a:noFill/>
          </p:spPr>
          <p:txBody>
            <a:bodyPr wrap="square" lIns="18288" tIns="18288" rIns="18288">
              <a:spAutoFit/>
            </a:bodyPr>
            <a:lstStyle/>
            <a:p>
              <a:pPr algn="l">
                <a:spcAft>
                  <a:spcPts val="300"/>
                </a:spcAft>
              </a:pPr>
              <a:r>
                <a:rPr sz="900" b="0">
                  <a:solidFill>
                    <a:srgbClr val="5E5962"/>
                  </a:solidFill>
                  <a:latin typeface="微软雅黑"/>
                </a:rPr>
                <a:t>Source: Bryan &amp; Morten (2019), Section III, pp. 2244–2249.  符号按汇报约定：πₒd、α_d、τₒd、θ̃、ρ、θ。</a:t>
              </a:r>
              <a:endParaRPr sz="900" b="0">
                <a:solidFill>
                  <a:srgbClr val="5E5962"/>
                </a:solidFill>
                <a:latin typeface="微软雅黑"/>
              </a:endParaRPr>
            </a:p>
          </p:txBody>
        </p:sp>
        <p:sp>
          <p:nvSpPr>
            <p:cNvPr id="22" name="Rectangle 21"/>
            <p:cNvSpPr/>
            <p:nvPr/>
          </p:nvSpPr>
          <p:spPr>
            <a:xfrm>
              <a:off x="3341" y="2304"/>
              <a:ext cx="6624"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77"/>
              <a:ext cx="6192"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原文机制：高收益者先迁移</a:t>
              </a:r>
              <a:endParaRPr sz="1600" b="1">
                <a:solidFill>
                  <a:srgbClr val="69086F"/>
                </a:solidFill>
                <a:latin typeface="微软雅黑"/>
              </a:endParaRPr>
            </a:p>
          </p:txBody>
        </p:sp>
        <p:sp>
          <p:nvSpPr>
            <p:cNvPr id="25" name="TextBox 24"/>
            <p:cNvSpPr txBox="1"/>
            <p:nvPr/>
          </p:nvSpPr>
          <p:spPr>
            <a:xfrm>
              <a:off x="3586" y="3038"/>
              <a:ext cx="6163" cy="1195"/>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当只有少数人选择 d，通常是最适合该地区的人；迁移限制放松后，新进入者的平均目的地技能较低。</a:t>
              </a:r>
              <a:endParaRPr sz="1300" b="0">
                <a:solidFill>
                  <a:srgbClr val="2A272B"/>
                </a:solidFill>
                <a:latin typeface="微软雅黑"/>
              </a:endParaRPr>
            </a:p>
          </p:txBody>
        </p:sp>
        <p:sp>
          <p:nvSpPr>
            <p:cNvPr id="26" name="Rectangle 25"/>
            <p:cNvSpPr/>
            <p:nvPr/>
          </p:nvSpPr>
          <p:spPr>
            <a:xfrm>
              <a:off x="10195" y="2304"/>
              <a:ext cx="7661" cy="20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195" y="2304"/>
              <a:ext cx="79" cy="20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 y="2419"/>
              <a:ext cx="7056" cy="331"/>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平均技能：Eq. (5)</a:t>
              </a:r>
              <a:endParaRPr sz="1400" b="1">
                <a:solidFill>
                  <a:srgbClr val="69086F"/>
                </a:solidFill>
                <a:latin typeface="微软雅黑"/>
              </a:endParaRPr>
            </a:p>
          </p:txBody>
        </p:sp>
        <p:sp>
          <p:nvSpPr>
            <p:cNvPr id="30" name="Rectangle 29"/>
            <p:cNvSpPr/>
            <p:nvPr/>
          </p:nvSpPr>
          <p:spPr>
            <a:xfrm>
              <a:off x="3341" y="4579"/>
              <a:ext cx="14515" cy="1613"/>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41" y="4579"/>
              <a:ext cx="79" cy="1613"/>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29" y="4781"/>
              <a:ext cx="2952" cy="432"/>
            </a:xfrm>
            <a:prstGeom prst="rect">
              <a:avLst/>
            </a:prstGeom>
            <a:noFill/>
          </p:spPr>
          <p:txBody>
            <a:bodyPr wrap="square" lIns="18288" tIns="18288" rIns="18288">
              <a:spAutoFit/>
            </a:bodyPr>
            <a:lstStyle/>
            <a:p>
              <a:pPr algn="l">
                <a:spcAft>
                  <a:spcPts val="300"/>
                </a:spcAft>
              </a:pPr>
              <a:r>
                <a:rPr sz="1500" b="1">
                  <a:solidFill>
                    <a:srgbClr val="69086F"/>
                  </a:solidFill>
                  <a:latin typeface="微软雅黑"/>
                </a:rPr>
                <a:t>平均工资：Eq. (6)</a:t>
              </a:r>
              <a:endParaRPr sz="1500" b="1">
                <a:solidFill>
                  <a:srgbClr val="69086F"/>
                </a:solidFill>
                <a:latin typeface="微软雅黑"/>
              </a:endParaRPr>
            </a:p>
          </p:txBody>
        </p:sp>
        <p:sp>
          <p:nvSpPr>
            <p:cNvPr id="34" name="Rectangle 33"/>
            <p:cNvSpPr/>
            <p:nvPr/>
          </p:nvSpPr>
          <p:spPr>
            <a:xfrm>
              <a:off x="3341" y="6437"/>
              <a:ext cx="6955" cy="2362"/>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41" y="6437"/>
              <a:ext cx="79" cy="2362"/>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86" y="6610"/>
              <a:ext cx="6523"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关键变化在哪里？</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37" name="TextBox 36"/>
                <p:cNvSpPr txBox="1"/>
                <p:nvPr/>
              </p:nvSpPr>
              <p:spPr>
                <a:xfrm>
                  <a:off x="3586" y="7171"/>
                  <a:ext cx="6494" cy="895"/>
                </a:xfrm>
                <a:prstGeom prst="rect">
                  <a:avLst/>
                </a:prstGeom>
                <a:noFill/>
              </p:spPr>
              <p:txBody>
                <a:bodyPr wrap="square" lIns="18288" tIns="18288" rIns="18288">
                  <a:spAutoFit/>
                </a:bodyPr>
                <a:lstStyle/>
                <a:p>
                  <a:pPr algn="l">
                    <a:spcAft>
                      <a:spcPts val="300"/>
                    </a:spcAft>
                  </a:pPr>
                  <a:r>
                    <a:rPr sz="1280" b="0">
                      <a:solidFill>
                        <a:srgbClr val="2A272B"/>
                      </a:solidFill>
                      <a:latin typeface="微软雅黑"/>
                    </a:rPr>
                    <a:t>若 </a:t>
                  </a:r>
                  <a14:m>
                    <m:oMath xmlns:m="http://schemas.openxmlformats.org/officeDocument/2006/math">
                      <m:sSub>
                        <m:sSubPr>
                          <m:ctrlPr>
                            <a:rPr lang="en-US" sz="1280" b="0" i="1">
                              <a:solidFill>
                                <a:srgbClr val="2A272B"/>
                              </a:solidFill>
                              <a:latin typeface="DejaVu Math TeX Gyre" panose="02000503000000000000" charset="0"/>
                              <a:cs typeface="DejaVu Math TeX Gyre" panose="02000503000000000000" charset="0"/>
                            </a:rPr>
                          </m:ctrlPr>
                        </m:sSubPr>
                        <m:e>
                          <m:r>
                            <a:rPr lang="en-US" sz="1280" i="1">
                              <a:solidFill>
                                <a:srgbClr val="2A272B"/>
                              </a:solidFill>
                              <a:latin typeface="DejaVu Math TeX Gyre" panose="02000503000000000000" charset="0"/>
                              <a:cs typeface="DejaVu Math TeX Gyre" panose="02000503000000000000" charset="0"/>
                            </a:rPr>
                            <m:t>𝜋</m:t>
                          </m:r>
                        </m:e>
                        <m:sub>
                          <m:r>
                            <a:rPr lang="en-US" sz="1280" b="0" i="1">
                              <a:solidFill>
                                <a:srgbClr val="2A272B"/>
                              </a:solidFill>
                              <a:latin typeface="DejaVu Math TeX Gyre" panose="02000503000000000000" charset="0"/>
                              <a:cs typeface="DejaVu Math TeX Gyre" panose="02000503000000000000" charset="0"/>
                            </a:rPr>
                            <m:t>𝑑𝑜</m:t>
                          </m:r>
                        </m:sub>
                      </m:sSub>
                    </m:oMath>
                  </a14:m>
                  <a:r>
                    <a:rPr sz="1280" b="0">
                      <a:solidFill>
                        <a:srgbClr val="2A272B"/>
                      </a:solidFill>
                      <a:latin typeface="微软雅黑"/>
                    </a:rPr>
                    <a:t> 增加，</a:t>
                  </a:r>
                  <a14:m>
                    <m:oMath xmlns:m="http://schemas.openxmlformats.org/officeDocument/2006/math">
                      <m:sSubSup>
                        <m:sSubSupPr>
                          <m:ctrlPr>
                            <a:rPr lang="en-US" sz="1280" b="0" i="1">
                              <a:solidFill>
                                <a:srgbClr val="2A272B"/>
                              </a:solidFill>
                              <a:latin typeface="DejaVu Math TeX Gyre" panose="02000503000000000000" charset="0"/>
                              <a:cs typeface="DejaVu Math TeX Gyre" panose="02000503000000000000" charset="0"/>
                            </a:rPr>
                          </m:ctrlPr>
                        </m:sSubSupPr>
                        <m:e>
                          <m:r>
                            <a:rPr lang="en-US" sz="1280" i="1">
                              <a:solidFill>
                                <a:srgbClr val="2A272B"/>
                              </a:solidFill>
                              <a:latin typeface="DejaVu Math TeX Gyre" panose="02000503000000000000" charset="0"/>
                              <a:cs typeface="DejaVu Math TeX Gyre" panose="02000503000000000000" charset="0"/>
                            </a:rPr>
                            <m:t>𝜋</m:t>
                          </m:r>
                        </m:e>
                        <m:sub>
                          <m:r>
                            <a:rPr lang="en-US" sz="1280" b="0" i="1">
                              <a:solidFill>
                                <a:srgbClr val="2A272B"/>
                              </a:solidFill>
                              <a:latin typeface="DejaVu Math TeX Gyre" panose="02000503000000000000" charset="0"/>
                              <a:cs typeface="DejaVu Math TeX Gyre" panose="02000503000000000000" charset="0"/>
                            </a:rPr>
                            <m:t>𝑑𝑜</m:t>
                          </m:r>
                        </m:sub>
                        <m:sup>
                          <m:r>
                            <a:rPr lang="en-US" sz="1280" b="0" i="1">
                              <a:solidFill>
                                <a:srgbClr val="2A272B"/>
                              </a:solidFill>
                              <a:latin typeface="DejaVu Math TeX Gyre" panose="02000503000000000000" charset="0"/>
                              <a:cs typeface="DejaVu Math TeX Gyre" panose="02000503000000000000" charset="0"/>
                            </a:rPr>
                            <m:t>−</m:t>
                          </m:r>
                          <m:r>
                            <a:rPr lang="en-US" sz="1280" b="0" i="1">
                              <a:solidFill>
                                <a:srgbClr val="2A272B"/>
                              </a:solidFill>
                              <a:latin typeface="DejaVu Math TeX Gyre" panose="02000503000000000000" charset="0"/>
                              <a:cs typeface="DejaVu Math TeX Gyre" panose="02000503000000000000" charset="0"/>
                            </a:rPr>
                            <m:t>1</m:t>
                          </m:r>
                          <m:r>
                            <a:rPr lang="en-US" sz="1280" b="0" i="1">
                              <a:solidFill>
                                <a:srgbClr val="2A272B"/>
                              </a:solidFill>
                              <a:latin typeface="DejaVu Math TeX Gyre" panose="02000503000000000000" charset="0"/>
                              <a:cs typeface="DejaVu Math TeX Gyre" panose="02000503000000000000" charset="0"/>
                            </a:rPr>
                            <m:t>/</m:t>
                          </m:r>
                          <m:r>
                            <a:rPr lang="en-US" sz="1280" i="1">
                              <a:solidFill>
                                <a:srgbClr val="2A272B"/>
                              </a:solidFill>
                              <a:latin typeface="DejaVu Math TeX Gyre" panose="02000503000000000000" charset="0"/>
                              <a:cs typeface="DejaVu Math TeX Gyre" panose="02000503000000000000" charset="0"/>
                            </a:rPr>
                            <m:t>𝜃</m:t>
                          </m:r>
                        </m:sup>
                      </m:sSubSup>
                    </m:oMath>
                  </a14:m>
                  <a:r>
                    <a:rPr sz="1280" b="0">
                      <a:solidFill>
                        <a:srgbClr val="2A272B"/>
                      </a:solidFill>
                      <a:latin typeface="微软雅黑"/>
                    </a:rPr>
                    <a:t>下降。因此在其他因素不变时，群体平均技能及平均工资下降。</a:t>
                  </a:r>
                  <a:endParaRPr sz="1280" b="0">
                    <a:solidFill>
                      <a:srgbClr val="2A272B"/>
                    </a:solidFill>
                    <a:latin typeface="微软雅黑"/>
                  </a:endParaRPr>
                </a:p>
              </p:txBody>
            </p:sp>
          </mc:Choice>
          <mc:Fallback>
            <p:sp>
              <p:nvSpPr>
                <p:cNvPr id="37" name="TextBox 36"/>
                <p:cNvSpPr txBox="1">
                  <a:spLocks noRot="1" noChangeAspect="1" noMove="1" noResize="1" noEditPoints="1" noAdjustHandles="1" noChangeArrowheads="1" noChangeShapeType="1" noTextEdit="1"/>
                </p:cNvSpPr>
                <p:nvPr/>
              </p:nvSpPr>
              <p:spPr>
                <a:xfrm>
                  <a:off x="3586" y="7171"/>
                  <a:ext cx="6494" cy="895"/>
                </a:xfrm>
                <a:prstGeom prst="rect">
                  <a:avLst/>
                </a:prstGeom>
                <a:blipFill rotWithShape="1">
                  <a:blip r:embed="rId1"/>
                </a:blipFill>
              </p:spPr>
              <p:txBody>
                <a:bodyPr/>
                <a:lstStyle/>
                <a:p>
                  <a:r>
                    <a:rPr lang="zh-CN" altLang="en-US">
                      <a:noFill/>
                    </a:rPr>
                    <a:t> </a:t>
                  </a:r>
                </a:p>
              </p:txBody>
            </p:sp>
          </mc:Fallback>
        </mc:AlternateContent>
        <p:sp>
          <p:nvSpPr>
            <p:cNvPr id="38" name="Rectangle 37"/>
            <p:cNvSpPr/>
            <p:nvPr/>
          </p:nvSpPr>
          <p:spPr>
            <a:xfrm>
              <a:off x="10498" y="6437"/>
              <a:ext cx="7358" cy="2362"/>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98" y="6437"/>
              <a:ext cx="79" cy="2362"/>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742" y="6610"/>
              <a:ext cx="6926" cy="487"/>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连接 Fact 3</a:t>
              </a:r>
              <a:endParaRPr sz="1600" b="1">
                <a:solidFill>
                  <a:srgbClr val="69086F"/>
                </a:solidFill>
                <a:latin typeface="微软雅黑"/>
              </a:endParaRPr>
            </a:p>
          </p:txBody>
        </p:sp>
        <p:sp>
          <p:nvSpPr>
            <p:cNvPr id="41" name="TextBox 40"/>
            <p:cNvSpPr txBox="1"/>
            <p:nvPr/>
          </p:nvSpPr>
          <p:spPr>
            <a:xfrm>
              <a:off x="10742" y="7171"/>
              <a:ext cx="6898" cy="1526"/>
            </a:xfrm>
            <a:prstGeom prst="rect">
              <a:avLst/>
            </a:prstGeom>
            <a:noFill/>
          </p:spPr>
          <p:txBody>
            <a:bodyPr wrap="square" lIns="18288" tIns="18288" rIns="18288">
              <a:spAutoFit/>
            </a:bodyPr>
            <a:lstStyle/>
            <a:p>
              <a:pPr algn="l">
                <a:spcAft>
                  <a:spcPts val="300"/>
                </a:spcAft>
              </a:pPr>
              <a:r>
                <a:rPr sz="1280" b="0">
                  <a:solidFill>
                    <a:srgbClr val="2A272B"/>
                  </a:solidFill>
                  <a:latin typeface="微软雅黑"/>
                </a:rPr>
                <a:t>对数化后平均工资对迁移份额的弹性为 −1/θ。Γ* = Γ(1−1/θ̃)，是技能分布导出的常数。</a:t>
              </a:r>
              <a:endParaRPr sz="1280" b="0">
                <a:solidFill>
                  <a:srgbClr val="2A272B"/>
                </a:solidFill>
                <a:latin typeface="微软雅黑"/>
              </a:endParaRPr>
            </a:p>
          </p:txBody>
        </p:sp>
        <p:sp>
          <p:nvSpPr>
            <p:cNvPr id="42" name="Rectangle 41"/>
            <p:cNvSpPr/>
            <p:nvPr/>
          </p:nvSpPr>
          <p:spPr>
            <a:xfrm>
              <a:off x="3341" y="9461"/>
              <a:ext cx="14515" cy="677"/>
            </a:xfrm>
            <a:prstGeom prst="rect">
              <a:avLst/>
            </a:prstGeom>
            <a:solidFill>
              <a:srgbClr val="EA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86" y="9576"/>
              <a:ext cx="13968" cy="461"/>
            </a:xfrm>
            <a:prstGeom prst="rect">
              <a:avLst/>
            </a:prstGeom>
            <a:noFill/>
          </p:spPr>
          <p:txBody>
            <a:bodyPr wrap="square" lIns="18288" tIns="18288" rIns="18288">
              <a:spAutoFit/>
            </a:bodyPr>
            <a:lstStyle/>
            <a:p>
              <a:pPr algn="l">
                <a:spcAft>
                  <a:spcPts val="300"/>
                </a:spcAft>
              </a:pPr>
              <a:r>
                <a:rPr sz="1230" b="1">
                  <a:solidFill>
                    <a:srgbClr val="69086F"/>
                  </a:solidFill>
                  <a:latin typeface="微软雅黑"/>
                </a:rPr>
                <a:t>不能用现有迁移者的高工资 × 新迁移人数；否则忽略了边际迁移者的选择效应。</a:t>
              </a:r>
              <a:endParaRPr sz="1230" b="1">
                <a:solidFill>
                  <a:srgbClr val="69086F"/>
                </a:solidFill>
                <a:latin typeface="微软雅黑"/>
              </a:endParaRPr>
            </a:p>
          </p:txBody>
        </p:sp>
      </p:grpSp>
      <p:pic>
        <p:nvPicPr>
          <p:cNvPr id="3" name="334E55B0-647D-440b-865C-3EC943EB4CBC-10" descr="wpsoffice"/>
          <p:cNvPicPr>
            <a:picLocks noChangeAspect="1"/>
          </p:cNvPicPr>
          <p:nvPr/>
        </p:nvPicPr>
        <p:blipFill>
          <a:blip r:embed="rId2"/>
          <a:stretch>
            <a:fillRect/>
          </a:stretch>
        </p:blipFill>
        <p:spPr>
          <a:xfrm>
            <a:off x="6961505" y="1926590"/>
            <a:ext cx="3815715" cy="532130"/>
          </a:xfrm>
          <a:prstGeom prst="rect">
            <a:avLst/>
          </a:prstGeom>
        </p:spPr>
      </p:pic>
      <p:pic>
        <p:nvPicPr>
          <p:cNvPr id="4" name="334E55B0-647D-440b-865C-3EC943EB4CBC-11" descr="wpsoffice"/>
          <p:cNvPicPr>
            <a:picLocks noChangeAspect="1"/>
          </p:cNvPicPr>
          <p:nvPr/>
        </p:nvPicPr>
        <p:blipFill>
          <a:blip r:embed="rId3"/>
          <a:stretch>
            <a:fillRect/>
          </a:stretch>
        </p:blipFill>
        <p:spPr>
          <a:xfrm>
            <a:off x="2684780" y="3245485"/>
            <a:ext cx="8236585" cy="56578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lgn="l">
              <a:spcAft>
                <a:spcPts val="300"/>
              </a:spcAft>
            </a:pPr>
            <a:r>
              <a:rPr sz="2500" b="1">
                <a:solidFill>
                  <a:srgbClr val="2A272B"/>
                </a:solidFill>
                <a:latin typeface="微软雅黑"/>
                <a:sym typeface="+mn-ea"/>
              </a:rPr>
              <a:t>厂商端①：地区工资从哪里来？</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1" name="组合 40"/>
          <p:cNvGrpSpPr/>
          <p:nvPr/>
        </p:nvGrpSpPr>
        <p:grpSpPr>
          <a:xfrm>
            <a:off x="2121535" y="1060450"/>
            <a:ext cx="9217025" cy="5660390"/>
            <a:chOff x="3341" y="1670"/>
            <a:chExt cx="14515" cy="891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Section III.B：每个地区生产一种差异化产品，地区内厂商以有效劳动为投入。</a:t>
              </a:r>
              <a:endParaRPr sz="1400" b="1">
                <a:solidFill>
                  <a:srgbClr val="69086F"/>
                </a:solidFill>
                <a:latin typeface="微软雅黑"/>
              </a:endParaRPr>
            </a:p>
          </p:txBody>
        </p:sp>
        <p:sp>
          <p:nvSpPr>
            <p:cNvPr id="21" name="TextBox 20"/>
            <p:cNvSpPr txBox="1"/>
            <p:nvPr/>
          </p:nvSpPr>
          <p:spPr>
            <a:xfrm>
              <a:off x="3355" y="10325"/>
              <a:ext cx="14400" cy="259"/>
            </a:xfrm>
            <a:prstGeom prst="rect">
              <a:avLst/>
            </a:prstGeom>
            <a:noFill/>
          </p:spPr>
          <p:txBody>
            <a:bodyPr wrap="square" lIns="18288" tIns="18288" rIns="18288">
              <a:spAutoFit/>
            </a:bodyPr>
            <a:lstStyle/>
            <a:p>
              <a:pPr algn="l">
                <a:spcAft>
                  <a:spcPts val="300"/>
                </a:spcAft>
              </a:pPr>
              <a:r>
                <a:rPr sz="900" b="0">
                  <a:solidFill>
                    <a:srgbClr val="5E5962"/>
                  </a:solidFill>
                  <a:latin typeface="微软雅黑"/>
                </a:rPr>
                <a:t>Source: Bryan &amp; Morten (2019), Section III, pp. 2244–2249.  符号按汇报约定：πₒd、α_d、τₒd、θ̃、ρ、θ。</a:t>
              </a:r>
              <a:endParaRPr sz="900" b="0">
                <a:solidFill>
                  <a:srgbClr val="5E5962"/>
                </a:solidFill>
                <a:latin typeface="微软雅黑"/>
              </a:endParaRPr>
            </a:p>
          </p:txBody>
        </p:sp>
        <p:sp>
          <p:nvSpPr>
            <p:cNvPr id="22" name="Rectangle 21"/>
            <p:cNvSpPr/>
            <p:nvPr/>
          </p:nvSpPr>
          <p:spPr>
            <a:xfrm>
              <a:off x="3341" y="2318"/>
              <a:ext cx="6826" cy="19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18"/>
              <a:ext cx="79" cy="19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91"/>
              <a:ext cx="6394"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厂商 j 在地区 d 做什么？</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25" name="TextBox 24"/>
                <p:cNvSpPr txBox="1"/>
                <p:nvPr/>
              </p:nvSpPr>
              <p:spPr>
                <a:xfrm>
                  <a:off x="3586" y="3053"/>
                  <a:ext cx="6365" cy="825"/>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地区产品价格是 </a:t>
                  </a: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𝑝</m:t>
                          </m:r>
                        </m:e>
                        <m:sub>
                          <m:r>
                            <a:rPr lang="en-US" sz="1300" b="0" i="1">
                              <a:solidFill>
                                <a:srgbClr val="2A272B"/>
                              </a:solidFill>
                              <a:latin typeface="DejaVu Math TeX Gyre" panose="02000503000000000000" charset="0"/>
                              <a:cs typeface="DejaVu Math TeX Gyre" panose="02000503000000000000" charset="0"/>
                            </a:rPr>
                            <m:t>𝑑</m:t>
                          </m:r>
                        </m:sub>
                      </m:sSub>
                    </m:oMath>
                  </a14:m>
                  <a:r>
                    <a:rPr sz="1300" b="0">
                      <a:solidFill>
                        <a:srgbClr val="2A272B"/>
                      </a:solidFill>
                      <a:latin typeface="微软雅黑"/>
                    </a:rPr>
                    <a:t>；一单位有效劳动创造</a:t>
                  </a: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𝐴</m:t>
                          </m:r>
                        </m:e>
                        <m:sub>
                          <m:r>
                            <a:rPr lang="en-US" sz="1300" b="0" i="1">
                              <a:solidFill>
                                <a:srgbClr val="2A272B"/>
                              </a:solidFill>
                              <a:latin typeface="DejaVu Math TeX Gyre" panose="02000503000000000000" charset="0"/>
                              <a:cs typeface="DejaVu Math TeX Gyre" panose="02000503000000000000" charset="0"/>
                            </a:rPr>
                            <m:t>𝑑</m:t>
                          </m:r>
                        </m:sub>
                      </m:sSub>
                    </m:oMath>
                  </a14:m>
                  <a:r>
                    <a:rPr sz="1300" b="0">
                      <a:solidFill>
                        <a:srgbClr val="2A272B"/>
                      </a:solidFill>
                      <a:latin typeface="微软雅黑"/>
                    </a:rPr>
                    <a:t>单位产出。厂商雇用 </a:t>
                  </a: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ℎ</m:t>
                          </m:r>
                        </m:e>
                        <m:sub>
                          <m:r>
                            <a:rPr lang="en-US" sz="1300" b="0" i="1">
                              <a:solidFill>
                                <a:srgbClr val="2A272B"/>
                              </a:solidFill>
                              <a:latin typeface="DejaVu Math TeX Gyre" panose="02000503000000000000" charset="0"/>
                              <a:cs typeface="DejaVu Math TeX Gyre" panose="02000503000000000000" charset="0"/>
                            </a:rPr>
                            <m:t>𝑗</m:t>
                          </m:r>
                          <m:r>
                            <a:rPr lang="en-US" sz="1300" b="0" i="1">
                              <a:solidFill>
                                <a:srgbClr val="2A272B"/>
                              </a:solidFill>
                              <a:latin typeface="DejaVu Math TeX Gyre" panose="02000503000000000000" charset="0"/>
                              <a:cs typeface="DejaVu Math TeX Gyre" panose="02000503000000000000" charset="0"/>
                            </a:rPr>
                            <m:t>𝑑</m:t>
                          </m:r>
                        </m:sub>
                      </m:sSub>
                    </m:oMath>
                  </a14:m>
                  <a:r>
                    <a:rPr sz="1300" b="0">
                      <a:solidFill>
                        <a:srgbClr val="2A272B"/>
                      </a:solidFill>
                      <a:latin typeface="微软雅黑"/>
                    </a:rPr>
                    <a:t>个有效劳动单位。</a:t>
                  </a:r>
                  <a:endParaRPr sz="1300" b="0">
                    <a:solidFill>
                      <a:srgbClr val="2A272B"/>
                    </a:solidFill>
                    <a:latin typeface="微软雅黑"/>
                  </a:endParaRPr>
                </a:p>
              </p:txBody>
            </p:sp>
          </mc:Choice>
          <mc:Fallback>
            <p:sp>
              <p:nvSpPr>
                <p:cNvPr id="25" name="TextBox 24"/>
                <p:cNvSpPr txBox="1">
                  <a:spLocks noRot="1" noChangeAspect="1" noMove="1" noResize="1" noEditPoints="1" noAdjustHandles="1" noChangeArrowheads="1" noChangeShapeType="1" noTextEdit="1"/>
                </p:cNvSpPr>
                <p:nvPr/>
              </p:nvSpPr>
              <p:spPr>
                <a:xfrm>
                  <a:off x="3586" y="3053"/>
                  <a:ext cx="6365" cy="825"/>
                </a:xfrm>
                <a:prstGeom prst="rect">
                  <a:avLst/>
                </a:prstGeom>
                <a:blipFill rotWithShape="1">
                  <a:blip r:embed="rId1"/>
                </a:blipFill>
              </p:spPr>
              <p:txBody>
                <a:bodyPr/>
                <a:lstStyle/>
                <a:p>
                  <a:r>
                    <a:rPr lang="zh-CN" altLang="en-US">
                      <a:noFill/>
                    </a:rPr>
                    <a:t> </a:t>
                  </a:r>
                </a:p>
              </p:txBody>
            </p:sp>
          </mc:Fallback>
        </mc:AlternateContent>
        <p:sp>
          <p:nvSpPr>
            <p:cNvPr id="26" name="Rectangle 25"/>
            <p:cNvSpPr/>
            <p:nvPr/>
          </p:nvSpPr>
          <p:spPr>
            <a:xfrm>
              <a:off x="10339" y="2318"/>
              <a:ext cx="7517" cy="193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339" y="2318"/>
              <a:ext cx="79" cy="1930"/>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42" y="2491"/>
              <a:ext cx="6912" cy="374"/>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利润 = 销售收入 − 工资成本</a:t>
              </a:r>
              <a:endParaRPr sz="1400" b="1">
                <a:solidFill>
                  <a:srgbClr val="69086F"/>
                </a:solidFill>
                <a:latin typeface="微软雅黑"/>
              </a:endParaRPr>
            </a:p>
          </p:txBody>
        </p:sp>
        <p:sp>
          <p:nvSpPr>
            <p:cNvPr id="30" name="Rectangle 29"/>
            <p:cNvSpPr/>
            <p:nvPr/>
          </p:nvSpPr>
          <p:spPr>
            <a:xfrm>
              <a:off x="3341" y="4522"/>
              <a:ext cx="6797" cy="4061"/>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41" y="4522"/>
              <a:ext cx="79" cy="4061"/>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86" y="4694"/>
              <a:ext cx="6365"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竞争为什么推出零利润？</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33" name="TextBox 32"/>
                <p:cNvSpPr txBox="1"/>
                <p:nvPr/>
              </p:nvSpPr>
              <p:spPr>
                <a:xfrm>
                  <a:off x="3586" y="5256"/>
                  <a:ext cx="6336" cy="1118"/>
                </a:xfrm>
                <a:prstGeom prst="rect">
                  <a:avLst/>
                </a:prstGeom>
                <a:noFill/>
              </p:spPr>
              <p:txBody>
                <a:bodyPr wrap="square" lIns="18288" tIns="18288" rIns="18288">
                  <a:spAutoFit/>
                </a:bodyPr>
                <a:lstStyle/>
                <a:p>
                  <a:pPr algn="l">
                    <a:spcAft>
                      <a:spcPts val="300"/>
                    </a:spcAft>
                  </a:pPr>
                  <a:r>
                    <a:rPr sz="1400" b="0">
                      <a:solidFill>
                        <a:srgbClr val="2A272B"/>
                      </a:solidFill>
                      <a:latin typeface="微软雅黑"/>
                    </a:rPr>
                    <a:t>同一地区厂商争夺有效劳动；若每单位劳动收入 </a:t>
                  </a:r>
                  <a:r>
                    <a:rPr sz="1400">
                      <a:solidFill>
                        <a:srgbClr val="2A272B"/>
                      </a:solidFill>
                      <a:latin typeface="微软雅黑"/>
                      <a:sym typeface="+mn-ea"/>
                    </a:rPr>
                    <a:t> </a:t>
                  </a:r>
                  <a14:m>
                    <m:oMath xmlns:m="http://schemas.openxmlformats.org/officeDocument/2006/math">
                      <m:sSub>
                        <m:sSubPr>
                          <m:ctrlPr>
                            <a:rPr lang="en-US" sz="1400" b="0" i="1">
                              <a:solidFill>
                                <a:srgbClr val="2A272B"/>
                              </a:solidFill>
                              <a:latin typeface="DejaVu Math TeX Gyre" panose="02000503000000000000" charset="0"/>
                              <a:cs typeface="DejaVu Math TeX Gyre" panose="02000503000000000000" charset="0"/>
                            </a:rPr>
                          </m:ctrlPr>
                        </m:sSubPr>
                        <m:e>
                          <m:r>
                            <a:rPr lang="en-US" sz="1400" b="0" i="1">
                              <a:solidFill>
                                <a:srgbClr val="2A272B"/>
                              </a:solidFill>
                              <a:latin typeface="DejaVu Math TeX Gyre" panose="02000503000000000000" charset="0"/>
                              <a:cs typeface="DejaVu Math TeX Gyre" panose="02000503000000000000" charset="0"/>
                            </a:rPr>
                            <m:t>𝑝</m:t>
                          </m:r>
                        </m:e>
                        <m:sub>
                          <m:r>
                            <a:rPr lang="en-US" sz="1400" b="0" i="1">
                              <a:solidFill>
                                <a:srgbClr val="2A272B"/>
                              </a:solidFill>
                              <a:latin typeface="DejaVu Math TeX Gyre" panose="02000503000000000000" charset="0"/>
                              <a:cs typeface="DejaVu Math TeX Gyre" panose="02000503000000000000" charset="0"/>
                            </a:rPr>
                            <m:t>𝑑</m:t>
                          </m:r>
                        </m:sub>
                      </m:sSub>
                      <m:sSub>
                        <m:sSubPr>
                          <m:ctrlPr>
                            <a:rPr lang="en-US" sz="1400" b="0" i="1">
                              <a:solidFill>
                                <a:srgbClr val="2A272B"/>
                              </a:solidFill>
                              <a:latin typeface="DejaVu Math TeX Gyre" panose="02000503000000000000" charset="0"/>
                              <a:cs typeface="DejaVu Math TeX Gyre" panose="02000503000000000000" charset="0"/>
                            </a:rPr>
                          </m:ctrlPr>
                        </m:sSubPr>
                        <m:e>
                          <m:r>
                            <a:rPr lang="en-US" sz="1400" b="0" i="1">
                              <a:solidFill>
                                <a:srgbClr val="2A272B"/>
                              </a:solidFill>
                              <a:latin typeface="DejaVu Math TeX Gyre" panose="02000503000000000000" charset="0"/>
                              <a:cs typeface="DejaVu Math TeX Gyre" panose="02000503000000000000" charset="0"/>
                            </a:rPr>
                            <m:t>𝐴</m:t>
                          </m:r>
                        </m:e>
                        <m:sub>
                          <m:r>
                            <a:rPr lang="en-US" sz="1400" b="0" i="1">
                              <a:solidFill>
                                <a:srgbClr val="2A272B"/>
                              </a:solidFill>
                              <a:latin typeface="DejaVu Math TeX Gyre" panose="02000503000000000000" charset="0"/>
                              <a:cs typeface="DejaVu Math TeX Gyre" panose="02000503000000000000" charset="0"/>
                            </a:rPr>
                            <m:t>𝑑</m:t>
                          </m:r>
                        </m:sub>
                      </m:sSub>
                    </m:oMath>
                  </a14:m>
                  <a:r>
                    <a:rPr sz="1400" b="0">
                      <a:solidFill>
                        <a:srgbClr val="2A272B"/>
                      </a:solidFill>
                      <a:latin typeface="微软雅黑"/>
                    </a:rPr>
                    <a:t>大于工资，其他厂商可加薪争人。竞争均衡中，工资升至边际收入产品，超额利润消失。</a:t>
                  </a:r>
                  <a:endParaRPr sz="1400" b="0">
                    <a:solidFill>
                      <a:srgbClr val="2A272B"/>
                    </a:solidFill>
                    <a:latin typeface="微软雅黑"/>
                  </a:endParaRPr>
                </a:p>
              </p:txBody>
            </p:sp>
          </mc:Choice>
          <mc:Fallback>
            <p:sp>
              <p:nvSpPr>
                <p:cNvPr id="33" name="TextBox 32"/>
                <p:cNvSpPr txBox="1">
                  <a:spLocks noRot="1" noChangeAspect="1" noMove="1" noResize="1" noEditPoints="1" noAdjustHandles="1" noChangeArrowheads="1" noChangeShapeType="1" noTextEdit="1"/>
                </p:cNvSpPr>
                <p:nvPr/>
              </p:nvSpPr>
              <p:spPr>
                <a:xfrm>
                  <a:off x="3586" y="5256"/>
                  <a:ext cx="6336" cy="1118"/>
                </a:xfrm>
                <a:prstGeom prst="rect">
                  <a:avLst/>
                </a:prstGeom>
                <a:blipFill rotWithShape="1">
                  <a:blip r:embed="rId2"/>
                </a:blipFill>
              </p:spPr>
              <p:txBody>
                <a:bodyPr/>
                <a:lstStyle/>
                <a:p>
                  <a:r>
                    <a:rPr lang="zh-CN" altLang="en-US">
                      <a:noFill/>
                    </a:rPr>
                    <a:t> </a:t>
                  </a:r>
                </a:p>
              </p:txBody>
            </p:sp>
          </mc:Fallback>
        </mc:AlternateContent>
        <p:sp>
          <p:nvSpPr>
            <p:cNvPr id="34" name="Rectangle 33"/>
            <p:cNvSpPr/>
            <p:nvPr/>
          </p:nvSpPr>
          <p:spPr>
            <a:xfrm>
              <a:off x="10339" y="4522"/>
              <a:ext cx="7517" cy="4061"/>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339" y="4522"/>
              <a:ext cx="79" cy="4061"/>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42" y="4781"/>
              <a:ext cx="6826" cy="511"/>
            </a:xfrm>
            <a:prstGeom prst="rect">
              <a:avLst/>
            </a:prstGeom>
            <a:noFill/>
          </p:spPr>
          <p:txBody>
            <a:bodyPr wrap="square" lIns="18288" tIns="18288" rIns="18288">
              <a:spAutoFit/>
            </a:bodyPr>
            <a:lstStyle/>
            <a:p>
              <a:pPr algn="l">
                <a:spcAft>
                  <a:spcPts val="300"/>
                </a:spcAft>
              </a:pPr>
              <a:r>
                <a:rPr sz="1700" b="1">
                  <a:solidFill>
                    <a:srgbClr val="69086F"/>
                  </a:solidFill>
                  <a:latin typeface="微软雅黑"/>
                </a:rPr>
                <a:t>均衡结果</a:t>
              </a:r>
              <a:r>
                <a:rPr lang="zh-CN" sz="1700" b="1">
                  <a:solidFill>
                    <a:srgbClr val="69086F"/>
                  </a:solidFill>
                  <a:latin typeface="微软雅黑"/>
                </a:rPr>
                <a:t>：利润为</a:t>
              </a:r>
              <a:r>
                <a:rPr lang="en-US" altLang="zh-CN" sz="1700" b="1">
                  <a:solidFill>
                    <a:srgbClr val="69086F"/>
                  </a:solidFill>
                  <a:latin typeface="微软雅黑"/>
                </a:rPr>
                <a:t>0</a:t>
              </a:r>
              <a:endParaRPr lang="en-US" altLang="zh-CN" sz="1700" b="1">
                <a:solidFill>
                  <a:srgbClr val="69086F"/>
                </a:solidFill>
                <a:latin typeface="微软雅黑"/>
              </a:endParaRPr>
            </a:p>
          </p:txBody>
        </p:sp>
        <p:sp>
          <p:nvSpPr>
            <p:cNvPr id="38" name="TextBox 37"/>
            <p:cNvSpPr txBox="1"/>
            <p:nvPr/>
          </p:nvSpPr>
          <p:spPr>
            <a:xfrm>
              <a:off x="10627" y="7171"/>
              <a:ext cx="6854" cy="893"/>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实际工资不仅与当地生产率有关，也与其产品市场价格有关。</a:t>
              </a:r>
              <a:endParaRPr sz="1300" b="0">
                <a:solidFill>
                  <a:srgbClr val="2A272B"/>
                </a:solidFill>
                <a:latin typeface="微软雅黑"/>
              </a:endParaRPr>
            </a:p>
          </p:txBody>
        </p:sp>
        <p:sp>
          <p:nvSpPr>
            <p:cNvPr id="39" name="Rectangle 38"/>
            <p:cNvSpPr/>
            <p:nvPr/>
          </p:nvSpPr>
          <p:spPr>
            <a:xfrm>
              <a:off x="3341" y="9461"/>
              <a:ext cx="14515" cy="677"/>
            </a:xfrm>
            <a:prstGeom prst="rect">
              <a:avLst/>
            </a:prstGeom>
            <a:solidFill>
              <a:srgbClr val="EA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86" y="9576"/>
              <a:ext cx="13968" cy="461"/>
            </a:xfrm>
            <a:prstGeom prst="rect">
              <a:avLst/>
            </a:prstGeom>
            <a:noFill/>
          </p:spPr>
          <p:txBody>
            <a:bodyPr wrap="square" lIns="18288" tIns="18288" rIns="18288">
              <a:spAutoFit/>
            </a:bodyPr>
            <a:lstStyle/>
            <a:p>
              <a:pPr algn="l">
                <a:spcAft>
                  <a:spcPts val="300"/>
                </a:spcAft>
              </a:pPr>
              <a:r>
                <a:rPr sz="1230" b="1">
                  <a:solidFill>
                    <a:srgbClr val="69086F"/>
                  </a:solidFill>
                  <a:latin typeface="微软雅黑"/>
                </a:rPr>
                <a:t>个人端把工资视为给定；厂商端说明工资必须由产品价格与生产率共同决定。</a:t>
              </a:r>
              <a:endParaRPr sz="1230" b="1">
                <a:solidFill>
                  <a:srgbClr val="69086F"/>
                </a:solidFill>
                <a:latin typeface="微软雅黑"/>
              </a:endParaRPr>
            </a:p>
          </p:txBody>
        </p:sp>
      </p:grpSp>
      <p:pic>
        <p:nvPicPr>
          <p:cNvPr id="3" name="334E55B0-647D-440b-865C-3EC943EB4CBC-1" descr="wpsoffice"/>
          <p:cNvPicPr>
            <a:picLocks noChangeAspect="1"/>
          </p:cNvPicPr>
          <p:nvPr/>
        </p:nvPicPr>
        <p:blipFill>
          <a:blip r:embed="rId3"/>
          <a:stretch>
            <a:fillRect/>
          </a:stretch>
        </p:blipFill>
        <p:spPr>
          <a:xfrm>
            <a:off x="6843395" y="2029460"/>
            <a:ext cx="4159250" cy="400685"/>
          </a:xfrm>
          <a:prstGeom prst="rect">
            <a:avLst/>
          </a:prstGeom>
        </p:spPr>
      </p:pic>
      <p:pic>
        <p:nvPicPr>
          <p:cNvPr id="5" name="334E55B0-647D-440b-865C-3EC943EB4CBC-2" descr="wpsoffice"/>
          <p:cNvPicPr>
            <a:picLocks noChangeAspect="1"/>
          </p:cNvPicPr>
          <p:nvPr/>
        </p:nvPicPr>
        <p:blipFill>
          <a:blip r:embed="rId4"/>
          <a:stretch>
            <a:fillRect/>
          </a:stretch>
        </p:blipFill>
        <p:spPr>
          <a:xfrm>
            <a:off x="7623810" y="3655695"/>
            <a:ext cx="2597785" cy="51562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lgn="l">
              <a:spcAft>
                <a:spcPts val="300"/>
              </a:spcAft>
            </a:pPr>
            <a:r>
              <a:rPr sz="2500" b="1">
                <a:solidFill>
                  <a:srgbClr val="2A272B"/>
                </a:solidFill>
                <a:latin typeface="微软雅黑"/>
                <a:sym typeface="+mn-ea"/>
              </a:rPr>
              <a:t>厂商端②：通过 CES 汇总</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1" name="组合 40"/>
          <p:cNvGrpSpPr/>
          <p:nvPr/>
        </p:nvGrpSpPr>
        <p:grpSpPr>
          <a:xfrm>
            <a:off x="2121535" y="1060450"/>
            <a:ext cx="9217025" cy="5660390"/>
            <a:chOff x="3341" y="1670"/>
            <a:chExt cx="14515" cy="891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Section III.B：不同地区生产不同产品，需要把地区产出转换成统一的全国最终品。</a:t>
              </a:r>
              <a:endParaRPr sz="1400" b="1">
                <a:solidFill>
                  <a:srgbClr val="69086F"/>
                </a:solidFill>
                <a:latin typeface="微软雅黑"/>
              </a:endParaRPr>
            </a:p>
          </p:txBody>
        </p:sp>
        <p:sp>
          <p:nvSpPr>
            <p:cNvPr id="21" name="TextBox 20"/>
            <p:cNvSpPr txBox="1"/>
            <p:nvPr/>
          </p:nvSpPr>
          <p:spPr>
            <a:xfrm>
              <a:off x="3355" y="10325"/>
              <a:ext cx="14400" cy="259"/>
            </a:xfrm>
            <a:prstGeom prst="rect">
              <a:avLst/>
            </a:prstGeom>
            <a:noFill/>
          </p:spPr>
          <p:txBody>
            <a:bodyPr wrap="square" lIns="18288" tIns="18288" rIns="18288">
              <a:spAutoFit/>
            </a:bodyPr>
            <a:lstStyle/>
            <a:p>
              <a:pPr algn="l">
                <a:spcAft>
                  <a:spcPts val="300"/>
                </a:spcAft>
              </a:pPr>
              <a:r>
                <a:rPr sz="900" b="0">
                  <a:solidFill>
                    <a:srgbClr val="5E5962"/>
                  </a:solidFill>
                  <a:latin typeface="微软雅黑"/>
                </a:rPr>
                <a:t>Source: Bryan &amp; Morten (2019), Section III, pp. 2244–2249.  符号按汇报约定：πₒd、α_d、τₒd、θ̃、ρ、θ。</a:t>
              </a:r>
              <a:endParaRPr sz="900" b="0">
                <a:solidFill>
                  <a:srgbClr val="5E5962"/>
                </a:solidFill>
                <a:latin typeface="微软雅黑"/>
              </a:endParaRPr>
            </a:p>
          </p:txBody>
        </p:sp>
        <p:sp>
          <p:nvSpPr>
            <p:cNvPr id="22" name="Rectangle 21"/>
            <p:cNvSpPr/>
            <p:nvPr/>
          </p:nvSpPr>
          <p:spPr>
            <a:xfrm>
              <a:off x="3341" y="2304"/>
              <a:ext cx="6998" cy="181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1814"/>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6" y="2477"/>
              <a:ext cx="6365"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为什么不能直接加总？</a:t>
              </a:r>
              <a:endParaRPr sz="1600" b="1">
                <a:solidFill>
                  <a:srgbClr val="69086F"/>
                </a:solidFill>
                <a:latin typeface="微软雅黑"/>
              </a:endParaRPr>
            </a:p>
          </p:txBody>
        </p:sp>
        <p:sp>
          <p:nvSpPr>
            <p:cNvPr id="25" name="TextBox 24"/>
            <p:cNvSpPr txBox="1"/>
            <p:nvPr/>
          </p:nvSpPr>
          <p:spPr>
            <a:xfrm>
              <a:off x="3586" y="3038"/>
              <a:ext cx="6336" cy="979"/>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例如粮食和电子产品是不同商品；相互替代程度有限，不能只用实物数量 y₁+y₂。</a:t>
              </a:r>
              <a:endParaRPr sz="1300" b="0">
                <a:solidFill>
                  <a:srgbClr val="2A272B"/>
                </a:solidFill>
                <a:latin typeface="微软雅黑"/>
              </a:endParaRPr>
            </a:p>
          </p:txBody>
        </p:sp>
        <p:sp>
          <p:nvSpPr>
            <p:cNvPr id="26" name="Rectangle 25"/>
            <p:cNvSpPr/>
            <p:nvPr/>
          </p:nvSpPr>
          <p:spPr>
            <a:xfrm>
              <a:off x="10542" y="2304"/>
              <a:ext cx="7314" cy="181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523" y="2304"/>
              <a:ext cx="79" cy="1814"/>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10" y="2488"/>
              <a:ext cx="6768" cy="346"/>
            </a:xfrm>
            <a:prstGeom prst="rect">
              <a:avLst/>
            </a:prstGeom>
            <a:noFill/>
          </p:spPr>
          <p:txBody>
            <a:bodyPr wrap="square" lIns="18288" tIns="18288" rIns="18288">
              <a:spAutoFit/>
            </a:bodyPr>
            <a:lstStyle/>
            <a:p>
              <a:pPr algn="l">
                <a:spcAft>
                  <a:spcPts val="300"/>
                </a:spcAft>
              </a:pPr>
              <a:r>
                <a:rPr sz="1500" b="1">
                  <a:solidFill>
                    <a:srgbClr val="69086F"/>
                  </a:solidFill>
                  <a:latin typeface="微软雅黑"/>
                </a:rPr>
                <a:t>CES 全国总产出</a:t>
              </a:r>
              <a:endParaRPr sz="1500" b="1">
                <a:solidFill>
                  <a:srgbClr val="69086F"/>
                </a:solidFill>
                <a:latin typeface="微软雅黑"/>
              </a:endParaRPr>
            </a:p>
          </p:txBody>
        </p:sp>
        <p:sp>
          <p:nvSpPr>
            <p:cNvPr id="30" name="Rectangle 29"/>
            <p:cNvSpPr/>
            <p:nvPr/>
          </p:nvSpPr>
          <p:spPr>
            <a:xfrm>
              <a:off x="3341" y="4363"/>
              <a:ext cx="6998" cy="4205"/>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41" y="4363"/>
              <a:ext cx="79" cy="4205"/>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86" y="4536"/>
              <a:ext cx="6566" cy="461"/>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σ 控制地区商品的替代弹性</a:t>
              </a:r>
              <a:endParaRPr sz="1600" b="1">
                <a:solidFill>
                  <a:srgbClr val="69086F"/>
                </a:solidFill>
                <a:latin typeface="微软雅黑"/>
              </a:endParaRPr>
            </a:p>
          </p:txBody>
        </p:sp>
        <p:sp>
          <p:nvSpPr>
            <p:cNvPr id="33" name="TextBox 32"/>
            <p:cNvSpPr txBox="1"/>
            <p:nvPr/>
          </p:nvSpPr>
          <p:spPr>
            <a:xfrm>
              <a:off x="3586" y="5098"/>
              <a:ext cx="6538" cy="3370"/>
            </a:xfrm>
            <a:prstGeom prst="rect">
              <a:avLst/>
            </a:prstGeom>
            <a:noFill/>
          </p:spPr>
          <p:txBody>
            <a:bodyPr wrap="square" lIns="18288" tIns="18288" rIns="18288">
              <a:spAutoFit/>
            </a:bodyPr>
            <a:lstStyle/>
            <a:p>
              <a:pPr algn="l">
                <a:spcAft>
                  <a:spcPts val="300"/>
                </a:spcAft>
              </a:pPr>
              <a:r>
                <a:rPr sz="1350" b="0">
                  <a:solidFill>
                    <a:srgbClr val="2A272B"/>
                  </a:solidFill>
                  <a:latin typeface="微软雅黑"/>
                </a:rPr>
                <a:t>σ 越大，各地商品越容易相互替代；σ→∞ 时趋向完全替代。</a:t>
              </a:r>
              <a:endParaRPr sz="1350" b="0">
                <a:solidFill>
                  <a:srgbClr val="2A272B"/>
                </a:solidFill>
                <a:latin typeface="微软雅黑"/>
              </a:endParaRPr>
            </a:p>
            <a:p>
              <a:pPr algn="l">
                <a:spcAft>
                  <a:spcPts val="300"/>
                </a:spcAft>
              </a:pPr>
              <a:r>
                <a:rPr sz="1350" b="0">
                  <a:solidFill>
                    <a:srgbClr val="2A272B"/>
                  </a:solidFill>
                  <a:latin typeface="微软雅黑"/>
                </a:rPr>
                <a:t>最终品可以在全国无成本交易，作为计价物；效用线性依赖最终品消费。</a:t>
              </a:r>
              <a:endParaRPr sz="1350" b="0">
                <a:solidFill>
                  <a:srgbClr val="2A272B"/>
                </a:solidFill>
                <a:latin typeface="微软雅黑"/>
              </a:endParaRPr>
            </a:p>
          </p:txBody>
        </p:sp>
        <p:sp>
          <p:nvSpPr>
            <p:cNvPr id="34" name="Rectangle 33"/>
            <p:cNvSpPr/>
            <p:nvPr/>
          </p:nvSpPr>
          <p:spPr>
            <a:xfrm>
              <a:off x="10541" y="4363"/>
              <a:ext cx="7315" cy="4205"/>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541" y="4363"/>
              <a:ext cx="79" cy="4205"/>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14" y="4637"/>
              <a:ext cx="6768" cy="432"/>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价格怎么产生？</a:t>
              </a:r>
              <a:endParaRPr sz="1600" b="1">
                <a:solidFill>
                  <a:srgbClr val="69086F"/>
                </a:solidFill>
                <a:latin typeface="微软雅黑"/>
              </a:endParaRPr>
            </a:p>
          </p:txBody>
        </p:sp>
        <mc:AlternateContent xmlns:mc="http://schemas.openxmlformats.org/markup-compatibility/2006">
          <mc:Choice xmlns:a14="http://schemas.microsoft.com/office/drawing/2010/main" Requires="a14">
            <p:sp>
              <p:nvSpPr>
                <p:cNvPr id="37" name="TextBox 36"/>
                <p:cNvSpPr txBox="1"/>
                <p:nvPr/>
              </p:nvSpPr>
              <p:spPr>
                <a:xfrm>
                  <a:off x="10814" y="5357"/>
                  <a:ext cx="6624" cy="790"/>
                </a:xfrm>
                <a:prstGeom prst="rect">
                  <a:avLst/>
                </a:prstGeom>
                <a:noFill/>
              </p:spPr>
              <p:txBody>
                <a:bodyPr wrap="square" lIns="18288" tIns="18288" rIns="18288">
                  <a:spAutoFit/>
                </a:bodyPr>
                <a:lstStyle/>
                <a:p>
                  <a:pPr algn="l">
                    <a:spcAft>
                      <a:spcPts val="300"/>
                    </a:spcAft>
                  </a:pPr>
                  <a:r>
                    <a:rPr sz="1300" b="0">
                      <a:solidFill>
                        <a:srgbClr val="2A272B"/>
                      </a:solidFill>
                      <a:latin typeface="微软雅黑"/>
                    </a:rPr>
                    <a:t>代表性最终品厂商选择各地区产品 </a:t>
                  </a:r>
                  <a14:m>
                    <m:oMath xmlns:m="http://schemas.openxmlformats.org/officeDocument/2006/math">
                      <m:sSub>
                        <m:sSubPr>
                          <m:ctrlPr>
                            <a:rPr lang="en-US" sz="1300" b="0" i="1">
                              <a:solidFill>
                                <a:srgbClr val="2A272B"/>
                              </a:solidFill>
                              <a:latin typeface="DejaVu Math TeX Gyre" panose="02000503000000000000" charset="0"/>
                              <a:cs typeface="DejaVu Math TeX Gyre" panose="02000503000000000000" charset="0"/>
                            </a:rPr>
                          </m:ctrlPr>
                        </m:sSubPr>
                        <m:e>
                          <m:r>
                            <a:rPr lang="en-US" sz="1300" b="0" i="1">
                              <a:solidFill>
                                <a:srgbClr val="2A272B"/>
                              </a:solidFill>
                              <a:latin typeface="DejaVu Math TeX Gyre" panose="02000503000000000000" charset="0"/>
                              <a:cs typeface="DejaVu Math TeX Gyre" panose="02000503000000000000" charset="0"/>
                            </a:rPr>
                            <m:t>𝑦</m:t>
                          </m:r>
                        </m:e>
                        <m:sub>
                          <m:r>
                            <a:rPr lang="en-US" sz="1300" b="0" i="1">
                              <a:solidFill>
                                <a:srgbClr val="2A272B"/>
                              </a:solidFill>
                              <a:latin typeface="DejaVu Math TeX Gyre" panose="02000503000000000000" charset="0"/>
                              <a:cs typeface="DejaVu Math TeX Gyre" panose="02000503000000000000" charset="0"/>
                            </a:rPr>
                            <m:t>𝑑</m:t>
                          </m:r>
                        </m:sub>
                      </m:sSub>
                    </m:oMath>
                  </a14:m>
                  <a:r>
                    <a:rPr sz="1300" b="0">
                      <a:solidFill>
                        <a:srgbClr val="2A272B"/>
                      </a:solidFill>
                      <a:latin typeface="微软雅黑"/>
                    </a:rPr>
                    <a:t>，以最大化最终品价值扣除采购成本；由此确定地区产品相对价格。</a:t>
                  </a:r>
                  <a:endParaRPr sz="1300" b="0">
                    <a:solidFill>
                      <a:srgbClr val="2A272B"/>
                    </a:solidFill>
                    <a:latin typeface="微软雅黑"/>
                  </a:endParaRPr>
                </a:p>
              </p:txBody>
            </p:sp>
          </mc:Choice>
          <mc:Fallback>
            <p:sp>
              <p:nvSpPr>
                <p:cNvPr id="37" name="TextBox 36"/>
                <p:cNvSpPr txBox="1">
                  <a:spLocks noRot="1" noChangeAspect="1" noMove="1" noResize="1" noEditPoints="1" noAdjustHandles="1" noChangeArrowheads="1" noChangeShapeType="1" noTextEdit="1"/>
                </p:cNvSpPr>
                <p:nvPr/>
              </p:nvSpPr>
              <p:spPr>
                <a:xfrm>
                  <a:off x="10814" y="5357"/>
                  <a:ext cx="6624" cy="790"/>
                </a:xfrm>
                <a:prstGeom prst="rect">
                  <a:avLst/>
                </a:prstGeom>
                <a:blipFill rotWithShape="1">
                  <a:blip r:embed="rId1"/>
                </a:blipFill>
              </p:spPr>
              <p:txBody>
                <a:bodyPr/>
                <a:lstStyle/>
                <a:p>
                  <a:r>
                    <a:rPr lang="zh-CN" altLang="en-US">
                      <a:noFill/>
                    </a:rPr>
                    <a:t> </a:t>
                  </a:r>
                </a:p>
              </p:txBody>
            </p:sp>
          </mc:Fallback>
        </mc:AlternateContent>
        <p:sp>
          <p:nvSpPr>
            <p:cNvPr id="39" name="Rectangle 38"/>
            <p:cNvSpPr/>
            <p:nvPr/>
          </p:nvSpPr>
          <p:spPr>
            <a:xfrm>
              <a:off x="3341" y="9461"/>
              <a:ext cx="14515" cy="677"/>
            </a:xfrm>
            <a:prstGeom prst="rect">
              <a:avLst/>
            </a:prstGeom>
            <a:solidFill>
              <a:srgbClr val="EA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40" name="TextBox 39"/>
                <p:cNvSpPr txBox="1"/>
                <p:nvPr/>
              </p:nvSpPr>
              <p:spPr>
                <a:xfrm>
                  <a:off x="3586" y="9576"/>
                  <a:ext cx="13968" cy="400"/>
                </a:xfrm>
                <a:prstGeom prst="rect">
                  <a:avLst/>
                </a:prstGeom>
                <a:noFill/>
              </p:spPr>
              <p:txBody>
                <a:bodyPr wrap="square" lIns="18288" tIns="18288" rIns="18288">
                  <a:spAutoFit/>
                </a:bodyPr>
                <a:lstStyle/>
                <a:p>
                  <a:pPr algn="l">
                    <a:spcAft>
                      <a:spcPts val="300"/>
                    </a:spcAft>
                  </a:pPr>
                  <a:r>
                    <a:rPr sz="1230" b="1">
                      <a:solidFill>
                        <a:srgbClr val="69086F"/>
                      </a:solidFill>
                      <a:latin typeface="微软雅黑"/>
                    </a:rPr>
                    <a:t>由产品市场连接回工资：若人口迁移改变某地区供给 </a:t>
                  </a:r>
                  <a14:m>
                    <m:oMath xmlns:m="http://schemas.openxmlformats.org/officeDocument/2006/math">
                      <m:sSub>
                        <m:sSubPr>
                          <m:ctrlPr>
                            <a:rPr lang="en-US" sz="1230" b="0" i="1">
                              <a:solidFill>
                                <a:srgbClr val="642366"/>
                              </a:solidFill>
                              <a:latin typeface="DejaVu Math TeX Gyre" panose="02000503000000000000" charset="0"/>
                              <a:cs typeface="DejaVu Math TeX Gyre" panose="02000503000000000000" charset="0"/>
                            </a:rPr>
                          </m:ctrlPr>
                        </m:sSubPr>
                        <m:e>
                          <m:r>
                            <a:rPr lang="en-US" sz="1230" b="0" i="1">
                              <a:solidFill>
                                <a:srgbClr val="642366"/>
                              </a:solidFill>
                              <a:latin typeface="DejaVu Math TeX Gyre" panose="02000503000000000000" charset="0"/>
                              <a:cs typeface="DejaVu Math TeX Gyre" panose="02000503000000000000" charset="0"/>
                            </a:rPr>
                            <m:t>𝑦</m:t>
                          </m:r>
                        </m:e>
                        <m:sub>
                          <m:r>
                            <a:rPr lang="en-US" sz="1230" b="0" i="1">
                              <a:solidFill>
                                <a:srgbClr val="642366"/>
                              </a:solidFill>
                              <a:latin typeface="DejaVu Math TeX Gyre" panose="02000503000000000000" charset="0"/>
                              <a:cs typeface="DejaVu Math TeX Gyre" panose="02000503000000000000" charset="0"/>
                            </a:rPr>
                            <m:t>𝑑</m:t>
                          </m:r>
                        </m:sub>
                      </m:sSub>
                    </m:oMath>
                  </a14:m>
                  <a:r>
                    <a:rPr sz="1230" b="1">
                      <a:solidFill>
                        <a:srgbClr val="69086F"/>
                      </a:solidFill>
                      <a:latin typeface="微软雅黑"/>
                    </a:rPr>
                    <a:t>，其相对价格 </a:t>
                  </a:r>
                  <a14:m>
                    <m:oMath xmlns:m="http://schemas.openxmlformats.org/officeDocument/2006/math">
                      <m:sSub>
                        <m:sSubPr>
                          <m:ctrlPr>
                            <a:rPr lang="en-US" sz="1230" b="0" i="1">
                              <a:solidFill>
                                <a:srgbClr val="642366"/>
                              </a:solidFill>
                              <a:latin typeface="DejaVu Math TeX Gyre" panose="02000503000000000000" charset="0"/>
                              <a:cs typeface="DejaVu Math TeX Gyre" panose="02000503000000000000" charset="0"/>
                            </a:rPr>
                          </m:ctrlPr>
                        </m:sSubPr>
                        <m:e>
                          <m:r>
                            <a:rPr lang="en-US" sz="1230" b="0" i="1">
                              <a:solidFill>
                                <a:srgbClr val="642366"/>
                              </a:solidFill>
                              <a:latin typeface="DejaVu Math TeX Gyre" panose="02000503000000000000" charset="0"/>
                              <a:cs typeface="DejaVu Math TeX Gyre" panose="02000503000000000000" charset="0"/>
                            </a:rPr>
                            <m:t>𝑝</m:t>
                          </m:r>
                        </m:e>
                        <m:sub>
                          <m:r>
                            <a:rPr lang="en-US" sz="1230" b="0" i="1">
                              <a:solidFill>
                                <a:srgbClr val="642366"/>
                              </a:solidFill>
                              <a:latin typeface="DejaVu Math TeX Gyre" panose="02000503000000000000" charset="0"/>
                              <a:cs typeface="DejaVu Math TeX Gyre" panose="02000503000000000000" charset="0"/>
                            </a:rPr>
                            <m:t>𝑑</m:t>
                          </m:r>
                        </m:sub>
                      </m:sSub>
                    </m:oMath>
                  </a14:m>
                  <a:r>
                    <a:rPr sz="1230" b="1">
                      <a:solidFill>
                        <a:srgbClr val="69086F"/>
                      </a:solidFill>
                      <a:latin typeface="微软雅黑"/>
                    </a:rPr>
                    <a:t>也会变化。</a:t>
                  </a:r>
                  <a:endParaRPr sz="1230" b="1">
                    <a:solidFill>
                      <a:srgbClr val="69086F"/>
                    </a:solidFill>
                    <a:latin typeface="微软雅黑"/>
                  </a:endParaRPr>
                </a:p>
              </p:txBody>
            </p:sp>
          </mc:Choice>
          <mc:Fallback>
            <p:sp>
              <p:nvSpPr>
                <p:cNvPr id="40" name="TextBox 39"/>
                <p:cNvSpPr txBox="1">
                  <a:spLocks noRot="1" noChangeAspect="1" noMove="1" noResize="1" noEditPoints="1" noAdjustHandles="1" noChangeArrowheads="1" noChangeShapeType="1" noTextEdit="1"/>
                </p:cNvSpPr>
                <p:nvPr/>
              </p:nvSpPr>
              <p:spPr>
                <a:xfrm>
                  <a:off x="3586" y="9576"/>
                  <a:ext cx="13968" cy="400"/>
                </a:xfrm>
                <a:prstGeom prst="rect">
                  <a:avLst/>
                </a:prstGeom>
                <a:blipFill rotWithShape="1">
                  <a:blip r:embed="rId2"/>
                </a:blipFill>
              </p:spPr>
              <p:txBody>
                <a:bodyPr/>
                <a:lstStyle/>
                <a:p>
                  <a:r>
                    <a:rPr lang="zh-CN" altLang="en-US">
                      <a:noFill/>
                    </a:rPr>
                    <a:t> </a:t>
                  </a:r>
                </a:p>
              </p:txBody>
            </p:sp>
          </mc:Fallback>
        </mc:AlternateContent>
      </p:grpSp>
      <p:pic>
        <p:nvPicPr>
          <p:cNvPr id="3" name="334E55B0-647D-440b-865C-3EC943EB4CBC-3" descr="wpsoffice"/>
          <p:cNvPicPr>
            <a:picLocks noChangeAspect="1"/>
          </p:cNvPicPr>
          <p:nvPr/>
        </p:nvPicPr>
        <p:blipFill>
          <a:blip r:embed="rId3"/>
          <a:stretch>
            <a:fillRect/>
          </a:stretch>
        </p:blipFill>
        <p:spPr>
          <a:xfrm>
            <a:off x="8179435" y="1551940"/>
            <a:ext cx="2530475" cy="1050290"/>
          </a:xfrm>
          <a:prstGeom prst="rect">
            <a:avLst/>
          </a:prstGeom>
        </p:spPr>
      </p:pic>
      <p:pic>
        <p:nvPicPr>
          <p:cNvPr id="5" name="334E55B0-647D-440b-865C-3EC943EB4CBC-4" descr="wpsoffice"/>
          <p:cNvPicPr>
            <a:picLocks noChangeAspect="1"/>
          </p:cNvPicPr>
          <p:nvPr/>
        </p:nvPicPr>
        <p:blipFill>
          <a:blip r:embed="rId4"/>
          <a:stretch>
            <a:fillRect/>
          </a:stretch>
        </p:blipFill>
        <p:spPr>
          <a:xfrm>
            <a:off x="7840345" y="3851910"/>
            <a:ext cx="1915795" cy="681355"/>
          </a:xfrm>
          <a:prstGeom prst="rect">
            <a:avLst/>
          </a:prstGeom>
        </p:spPr>
      </p:pic>
      <p:cxnSp>
        <p:nvCxnSpPr>
          <p:cNvPr id="6" name="直接箭头连接符 5"/>
          <p:cNvCxnSpPr/>
          <p:nvPr/>
        </p:nvCxnSpPr>
        <p:spPr>
          <a:xfrm>
            <a:off x="7170420" y="5115560"/>
            <a:ext cx="379095" cy="0"/>
          </a:xfrm>
          <a:prstGeom prst="straightConnector1">
            <a:avLst/>
          </a:prstGeom>
          <a:ln w="38100">
            <a:solidFill>
              <a:schemeClr val="tx1"/>
            </a:solidFill>
            <a:tailEnd type="arrow"/>
          </a:ln>
        </p:spPr>
        <p:style>
          <a:lnRef idx="2">
            <a:schemeClr val="accent1"/>
          </a:lnRef>
          <a:fillRef idx="0">
            <a:srgbClr val="FFFFFF"/>
          </a:fillRef>
          <a:effectRef idx="0">
            <a:srgbClr val="FFFFFF"/>
          </a:effectRef>
          <a:fontRef idx="minor">
            <a:schemeClr val="tx1"/>
          </a:fontRef>
        </p:style>
      </p:cxnSp>
      <p:pic>
        <p:nvPicPr>
          <p:cNvPr id="7" name="334E55B0-647D-440b-865C-3EC943EB4CBC-5" descr="wpsoffice"/>
          <p:cNvPicPr>
            <a:picLocks noChangeAspect="1"/>
          </p:cNvPicPr>
          <p:nvPr/>
        </p:nvPicPr>
        <p:blipFill>
          <a:blip r:embed="rId5"/>
          <a:stretch>
            <a:fillRect/>
          </a:stretch>
        </p:blipFill>
        <p:spPr>
          <a:xfrm>
            <a:off x="7840345" y="4709160"/>
            <a:ext cx="2093595" cy="66802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410845"/>
          </a:xfrm>
          <a:prstGeom prst="rect">
            <a:avLst/>
          </a:prstGeom>
          <a:noFill/>
        </p:spPr>
        <p:txBody>
          <a:bodyPr wrap="square" lIns="18288" tIns="18288" rIns="18288" bIns="9144">
            <a:spAutoFit/>
          </a:bodyPr>
          <a:lstStyle/>
          <a:p>
            <a:pPr algn="l">
              <a:spcAft>
                <a:spcPts val="300"/>
              </a:spcAft>
            </a:pPr>
            <a:r>
              <a:rPr sz="2500" b="1">
                <a:solidFill>
                  <a:srgbClr val="2A272B"/>
                </a:solidFill>
                <a:latin typeface="微软雅黑"/>
                <a:sym typeface="+mn-ea"/>
              </a:rPr>
              <a:t>厂商端③：迁移如何改变生产率与宜居性？</a:t>
            </a: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40" name="组合 39"/>
          <p:cNvGrpSpPr/>
          <p:nvPr/>
        </p:nvGrpSpPr>
        <p:grpSpPr>
          <a:xfrm>
            <a:off x="2121535" y="1060450"/>
            <a:ext cx="9252585" cy="5660390"/>
            <a:chOff x="3341" y="1670"/>
            <a:chExt cx="14571" cy="8914"/>
          </a:xfrm>
        </p:grpSpPr>
        <p:sp>
          <p:nvSpPr>
            <p:cNvPr id="20" name="TextBox 19"/>
            <p:cNvSpPr txBox="1"/>
            <p:nvPr/>
          </p:nvSpPr>
          <p:spPr>
            <a:xfrm>
              <a:off x="3355" y="1670"/>
              <a:ext cx="14400" cy="490"/>
            </a:xfrm>
            <a:prstGeom prst="rect">
              <a:avLst/>
            </a:prstGeom>
            <a:noFill/>
          </p:spPr>
          <p:txBody>
            <a:bodyPr wrap="square" lIns="18288" tIns="18288" rIns="18288">
              <a:spAutoFit/>
            </a:bodyPr>
            <a:lstStyle/>
            <a:p>
              <a:pPr algn="l">
                <a:spcAft>
                  <a:spcPts val="300"/>
                </a:spcAft>
              </a:pPr>
              <a:r>
                <a:rPr sz="1400" b="1">
                  <a:solidFill>
                    <a:srgbClr val="69086F"/>
                  </a:solidFill>
                  <a:latin typeface="微软雅黑"/>
                </a:rPr>
                <a:t>原文 Section III.B：地区人口变化不仅影响产量，还会引起集聚与拥挤的反馈。</a:t>
              </a:r>
              <a:endParaRPr sz="1400" b="1">
                <a:solidFill>
                  <a:srgbClr val="69086F"/>
                </a:solidFill>
                <a:latin typeface="微软雅黑"/>
              </a:endParaRPr>
            </a:p>
          </p:txBody>
        </p:sp>
        <p:sp>
          <p:nvSpPr>
            <p:cNvPr id="21" name="TextBox 20"/>
            <p:cNvSpPr txBox="1"/>
            <p:nvPr/>
          </p:nvSpPr>
          <p:spPr>
            <a:xfrm>
              <a:off x="3355" y="10325"/>
              <a:ext cx="14400" cy="259"/>
            </a:xfrm>
            <a:prstGeom prst="rect">
              <a:avLst/>
            </a:prstGeom>
            <a:noFill/>
          </p:spPr>
          <p:txBody>
            <a:bodyPr wrap="square" lIns="18288" tIns="18288" rIns="18288">
              <a:spAutoFit/>
            </a:bodyPr>
            <a:lstStyle/>
            <a:p>
              <a:pPr algn="l">
                <a:spcAft>
                  <a:spcPts val="300"/>
                </a:spcAft>
              </a:pPr>
              <a:r>
                <a:rPr sz="900" b="0">
                  <a:solidFill>
                    <a:srgbClr val="5E5962"/>
                  </a:solidFill>
                  <a:latin typeface="微软雅黑"/>
                </a:rPr>
                <a:t>Source: Bryan &amp; Morten (2019), Section III, pp. 2244–2249.  符号按汇报约定：πₒd、α_d、τₒd、θ̃、ρ、θ。</a:t>
              </a:r>
              <a:endParaRPr sz="900" b="0">
                <a:solidFill>
                  <a:srgbClr val="5E5962"/>
                </a:solidFill>
                <a:latin typeface="微软雅黑"/>
              </a:endParaRPr>
            </a:p>
          </p:txBody>
        </p:sp>
        <p:sp>
          <p:nvSpPr>
            <p:cNvPr id="22" name="Rectangle 21"/>
            <p:cNvSpPr/>
            <p:nvPr/>
          </p:nvSpPr>
          <p:spPr>
            <a:xfrm>
              <a:off x="3341" y="2304"/>
              <a:ext cx="7056" cy="178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41" y="2304"/>
              <a:ext cx="79" cy="178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29" y="2448"/>
              <a:ext cx="6624" cy="389"/>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地区产出与集聚</a:t>
              </a:r>
              <a:endParaRPr sz="1600" b="1">
                <a:solidFill>
                  <a:srgbClr val="69086F"/>
                </a:solidFill>
                <a:latin typeface="微软雅黑"/>
              </a:endParaRPr>
            </a:p>
          </p:txBody>
        </p:sp>
        <p:sp>
          <p:nvSpPr>
            <p:cNvPr id="26" name="Rectangle 25"/>
            <p:cNvSpPr/>
            <p:nvPr/>
          </p:nvSpPr>
          <p:spPr>
            <a:xfrm>
              <a:off x="10642" y="2304"/>
              <a:ext cx="7214" cy="1786"/>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26"/>
            <p:cNvSpPr/>
            <p:nvPr/>
          </p:nvSpPr>
          <p:spPr>
            <a:xfrm>
              <a:off x="10642" y="2304"/>
              <a:ext cx="79" cy="1786"/>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01" y="2448"/>
              <a:ext cx="6538" cy="389"/>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地区宜居性与拥挤</a:t>
              </a:r>
              <a:endParaRPr sz="1600" b="1">
                <a:solidFill>
                  <a:srgbClr val="69086F"/>
                </a:solidFill>
                <a:latin typeface="微软雅黑"/>
              </a:endParaRPr>
            </a:p>
          </p:txBody>
        </p:sp>
        <p:sp>
          <p:nvSpPr>
            <p:cNvPr id="30" name="Rectangle 29"/>
            <p:cNvSpPr/>
            <p:nvPr/>
          </p:nvSpPr>
          <p:spPr>
            <a:xfrm>
              <a:off x="3341" y="4334"/>
              <a:ext cx="7056" cy="4248"/>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41" y="4334"/>
              <a:ext cx="79" cy="4248"/>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2" name="TextBox 31"/>
                <p:cNvSpPr txBox="1"/>
                <p:nvPr/>
              </p:nvSpPr>
              <p:spPr>
                <a:xfrm>
                  <a:off x="3586" y="4507"/>
                  <a:ext cx="6624" cy="488"/>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生产端：有效劳动 </a:t>
                  </a:r>
                  <a14:m>
                    <m:oMath xmlns:m="http://schemas.openxmlformats.org/officeDocument/2006/math">
                      <m:sSub>
                        <m:sSubPr>
                          <m:ctrlPr>
                            <a:rPr lang="en-US" sz="1600" b="1" i="1">
                              <a:solidFill>
                                <a:srgbClr val="69086F"/>
                              </a:solidFill>
                              <a:latin typeface="DejaVu Math TeX Gyre" panose="02000503000000000000" charset="0"/>
                              <a:cs typeface="DejaVu Math TeX Gyre" panose="02000503000000000000" charset="0"/>
                            </a:rPr>
                          </m:ctrlPr>
                        </m:sSubPr>
                        <m:e>
                          <m:r>
                            <a:rPr lang="en-US" sz="1600" b="1" i="1">
                              <a:solidFill>
                                <a:srgbClr val="69086F"/>
                              </a:solidFill>
                              <a:latin typeface="DejaVu Math TeX Gyre" panose="02000503000000000000" charset="0"/>
                              <a:cs typeface="DejaVu Math TeX Gyre" panose="02000503000000000000" charset="0"/>
                            </a:rPr>
                            <m:t>𝑯</m:t>
                          </m:r>
                        </m:e>
                        <m:sub>
                          <m:r>
                            <a:rPr lang="en-US" sz="1600" b="1" i="1">
                              <a:solidFill>
                                <a:srgbClr val="69086F"/>
                              </a:solidFill>
                              <a:latin typeface="DejaVu Math TeX Gyre" panose="02000503000000000000" charset="0"/>
                              <a:cs typeface="DejaVu Math TeX Gyre" panose="02000503000000000000" charset="0"/>
                            </a:rPr>
                            <m:t>𝒅</m:t>
                          </m:r>
                        </m:sub>
                      </m:sSub>
                    </m:oMath>
                  </a14:m>
                  <a:endParaRPr sz="1600" b="1">
                    <a:solidFill>
                      <a:srgbClr val="69086F"/>
                    </a:solidFill>
                    <a:latin typeface="微软雅黑"/>
                  </a:endParaRPr>
                </a:p>
              </p:txBody>
            </p:sp>
          </mc:Choice>
          <mc:Fallback>
            <p:sp>
              <p:nvSpPr>
                <p:cNvPr id="32" name="TextBox 31"/>
                <p:cNvSpPr txBox="1">
                  <a:spLocks noRot="1" noChangeAspect="1" noMove="1" noResize="1" noEditPoints="1" noAdjustHandles="1" noChangeArrowheads="1" noChangeShapeType="1" noTextEdit="1"/>
                </p:cNvSpPr>
                <p:nvPr/>
              </p:nvSpPr>
              <p:spPr>
                <a:xfrm>
                  <a:off x="3586" y="4507"/>
                  <a:ext cx="6624" cy="488"/>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TextBox 32"/>
                <p:cNvSpPr txBox="1"/>
                <p:nvPr/>
              </p:nvSpPr>
              <p:spPr>
                <a:xfrm>
                  <a:off x="3529" y="5412"/>
                  <a:ext cx="6782" cy="1605"/>
                </a:xfrm>
                <a:prstGeom prst="rect">
                  <a:avLst/>
                </a:prstGeom>
                <a:noFill/>
              </p:spPr>
              <p:txBody>
                <a:bodyPr wrap="square" lIns="18288" tIns="18288" rIns="18288">
                  <a:spAutoFit/>
                </a:bodyPr>
                <a:lstStyle/>
                <a:p>
                  <a:pPr algn="l">
                    <a:spcAft>
                      <a:spcPts val="300"/>
                    </a:spcAft>
                  </a:pPr>
                  <a14:m>
                    <m:oMath xmlns:m="http://schemas.openxmlformats.org/officeDocument/2006/math">
                      <m:sSub>
                        <m:sSubPr>
                          <m:ctrlPr>
                            <a:rPr lang="en-US" sz="1400" b="1" i="1">
                              <a:solidFill>
                                <a:srgbClr val="69086F"/>
                              </a:solidFill>
                              <a:latin typeface="DejaVu Math TeX Gyre" panose="02000503000000000000" charset="0"/>
                              <a:cs typeface="DejaVu Math TeX Gyre" panose="02000503000000000000" charset="0"/>
                            </a:rPr>
                          </m:ctrlPr>
                        </m:sSubPr>
                        <m:e>
                          <m:r>
                            <a:rPr lang="en-US" sz="1400" b="1" i="1">
                              <a:solidFill>
                                <a:srgbClr val="69086F"/>
                              </a:solidFill>
                              <a:latin typeface="DejaVu Math TeX Gyre" panose="02000503000000000000" charset="0"/>
                              <a:cs typeface="DejaVu Math TeX Gyre" panose="02000503000000000000" charset="0"/>
                            </a:rPr>
                            <m:t>𝑯</m:t>
                          </m:r>
                        </m:e>
                        <m:sub>
                          <m:r>
                            <a:rPr lang="en-US" sz="1400" b="1" i="1">
                              <a:solidFill>
                                <a:srgbClr val="69086F"/>
                              </a:solidFill>
                              <a:latin typeface="DejaVu Math TeX Gyre" panose="02000503000000000000" charset="0"/>
                              <a:cs typeface="DejaVu Math TeX Gyre" panose="02000503000000000000" charset="0"/>
                            </a:rPr>
                            <m:t>𝒅</m:t>
                          </m:r>
                        </m:sub>
                      </m:sSub>
                    </m:oMath>
                  </a14:m>
                  <a:r>
                    <a:rPr sz="1400" b="0">
                      <a:solidFill>
                        <a:srgbClr val="2A272B"/>
                      </a:solidFill>
                      <a:latin typeface="微软雅黑"/>
                    </a:rPr>
                    <a:t>是技能和人力资本调整后的劳动投入，不等于人数</a:t>
                  </a:r>
                  <a:r>
                    <a:rPr lang="en-US" sz="1400" b="0">
                      <a:solidFill>
                        <a:srgbClr val="2A272B"/>
                      </a:solidFill>
                      <a:latin typeface="微软雅黑"/>
                    </a:rPr>
                    <a:t>;</a:t>
                  </a:r>
                  <a:endParaRPr sz="1400" b="0">
                    <a:solidFill>
                      <a:srgbClr val="2A272B"/>
                    </a:solidFill>
                    <a:latin typeface="微软雅黑"/>
                  </a:endParaRPr>
                </a:p>
                <a:p>
                  <a:pPr algn="l">
                    <a:spcAft>
                      <a:spcPts val="300"/>
                    </a:spcAft>
                  </a:pPr>
                  <a14:m>
                    <m:oMath xmlns:m="http://schemas.openxmlformats.org/officeDocument/2006/math">
                      <m:sSub>
                        <m:sSubPr>
                          <m:ctrlPr>
                            <a:rPr lang="en-US" sz="1400" b="1" i="1">
                              <a:solidFill>
                                <a:srgbClr val="69086F"/>
                              </a:solidFill>
                              <a:latin typeface="DejaVu Math TeX Gyre" panose="02000503000000000000" charset="0"/>
                              <a:cs typeface="DejaVu Math TeX Gyre" panose="02000503000000000000" charset="0"/>
                            </a:rPr>
                          </m:ctrlPr>
                        </m:sSubPr>
                        <m:e>
                          <m:acc>
                            <m:accPr>
                              <m:chr m:val="̅"/>
                              <m:ctrlPr>
                                <a:rPr lang="en-US" sz="1400" b="1" i="1">
                                  <a:solidFill>
                                    <a:srgbClr val="69086F"/>
                                  </a:solidFill>
                                  <a:latin typeface="DejaVu Math TeX Gyre" panose="02000503000000000000" charset="0"/>
                                  <a:cs typeface="DejaVu Math TeX Gyre" panose="02000503000000000000" charset="0"/>
                                </a:rPr>
                              </m:ctrlPr>
                            </m:accPr>
                            <m:e>
                              <m:r>
                                <a:rPr lang="en-US" sz="1400" b="1" i="1">
                                  <a:solidFill>
                                    <a:srgbClr val="69086F"/>
                                  </a:solidFill>
                                  <a:latin typeface="DejaVu Math TeX Gyre" panose="02000503000000000000" charset="0"/>
                                  <a:cs typeface="DejaVu Math TeX Gyre" panose="02000503000000000000" charset="0"/>
                                </a:rPr>
                                <m:t>𝑨</m:t>
                              </m:r>
                            </m:e>
                          </m:acc>
                        </m:e>
                        <m:sub>
                          <m:r>
                            <a:rPr lang="en-US" sz="1400" b="1" i="1">
                              <a:solidFill>
                                <a:srgbClr val="69086F"/>
                              </a:solidFill>
                              <a:latin typeface="DejaVu Math TeX Gyre" panose="02000503000000000000" charset="0"/>
                              <a:cs typeface="DejaVu Math TeX Gyre" panose="02000503000000000000" charset="0"/>
                            </a:rPr>
                            <m:t>𝒅</m:t>
                          </m:r>
                        </m:sub>
                      </m:sSub>
                    </m:oMath>
                  </a14:m>
                  <a:r>
                    <a:rPr sz="1400" b="0">
                      <a:solidFill>
                        <a:srgbClr val="2A272B"/>
                      </a:solidFill>
                      <a:latin typeface="微软雅黑"/>
                    </a:rPr>
                    <a:t> 是基础生产率</a:t>
                  </a:r>
                  <a:r>
                    <a:rPr lang="en-US" sz="1400" b="0">
                      <a:solidFill>
                        <a:srgbClr val="2A272B"/>
                      </a:solidFill>
                      <a:latin typeface="微软雅黑"/>
                    </a:rPr>
                    <a:t>;</a:t>
                  </a:r>
                  <a:endParaRPr sz="1400" b="0">
                    <a:solidFill>
                      <a:srgbClr val="2A272B"/>
                    </a:solidFill>
                    <a:latin typeface="微软雅黑"/>
                  </a:endParaRPr>
                </a:p>
                <a:p>
                  <a:pPr algn="l">
                    <a:spcAft>
                      <a:spcPts val="300"/>
                    </a:spcAft>
                  </a:pPr>
                  <a14:m>
                    <m:oMath xmlns:m="http://schemas.openxmlformats.org/officeDocument/2006/math">
                      <m:r>
                        <a:rPr lang="en-US" sz="1400" i="1">
                          <a:solidFill>
                            <a:srgbClr val="642366"/>
                          </a:solidFill>
                          <a:latin typeface="DejaVu Math TeX Gyre" panose="02000503000000000000" charset="0"/>
                          <a:cs typeface="DejaVu Math TeX Gyre" panose="02000503000000000000" charset="0"/>
                        </a:rPr>
                        <m:t>𝛾</m:t>
                      </m:r>
                    </m:oMath>
                  </a14:m>
                  <a:r>
                    <a:rPr sz="1400" b="0">
                      <a:solidFill>
                        <a:srgbClr val="2A272B"/>
                      </a:solidFill>
                      <a:latin typeface="微软雅黑"/>
                    </a:rPr>
                    <a:t>是生产性集聚溢出参数</a:t>
                  </a:r>
                  <a:r>
                    <a:rPr lang="en-US" sz="1400" b="0">
                      <a:solidFill>
                        <a:srgbClr val="2A272B"/>
                      </a:solidFill>
                      <a:latin typeface="微软雅黑"/>
                    </a:rPr>
                    <a:t>，</a:t>
                  </a:r>
                  <a14:m>
                    <m:oMath xmlns:m="http://schemas.openxmlformats.org/officeDocument/2006/math">
                      <m:r>
                        <a:rPr lang="en-US" sz="1400" i="1">
                          <a:solidFill>
                            <a:srgbClr val="642366"/>
                          </a:solidFill>
                          <a:latin typeface="DejaVu Math TeX Gyre" panose="02000503000000000000" charset="0"/>
                          <a:cs typeface="DejaVu Math TeX Gyre" panose="02000503000000000000" charset="0"/>
                        </a:rPr>
                        <m:t>𝛾</m:t>
                      </m:r>
                    </m:oMath>
                  </a14:m>
                  <a:r>
                    <a:rPr sz="1400" b="0">
                      <a:solidFill>
                        <a:srgbClr val="2A272B"/>
                      </a:solidFill>
                      <a:latin typeface="微软雅黑"/>
                    </a:rPr>
                    <a:t>&gt;0 时，有效劳动流入也会提高</a:t>
                  </a:r>
                  <a14:m>
                    <m:oMath xmlns:m="http://schemas.openxmlformats.org/officeDocument/2006/math">
                      <m:sSub>
                        <m:sSubPr>
                          <m:ctrlPr>
                            <a:rPr lang="en-US" sz="1400" b="1" i="1">
                              <a:solidFill>
                                <a:srgbClr val="69086F"/>
                              </a:solidFill>
                              <a:latin typeface="DejaVu Math TeX Gyre" panose="02000503000000000000" charset="0"/>
                              <a:cs typeface="DejaVu Math TeX Gyre" panose="02000503000000000000" charset="0"/>
                            </a:rPr>
                          </m:ctrlPr>
                        </m:sSubPr>
                        <m:e>
                          <m:r>
                            <a:rPr lang="en-US" sz="1400" b="1" i="1">
                              <a:solidFill>
                                <a:srgbClr val="69086F"/>
                              </a:solidFill>
                              <a:latin typeface="DejaVu Math TeX Gyre" panose="02000503000000000000" charset="0"/>
                              <a:cs typeface="DejaVu Math TeX Gyre" panose="02000503000000000000" charset="0"/>
                            </a:rPr>
                            <m:t>𝑨</m:t>
                          </m:r>
                        </m:e>
                        <m:sub>
                          <m:r>
                            <a:rPr lang="en-US" sz="1400" b="1" i="1">
                              <a:solidFill>
                                <a:srgbClr val="69086F"/>
                              </a:solidFill>
                              <a:latin typeface="DejaVu Math TeX Gyre" panose="02000503000000000000" charset="0"/>
                              <a:cs typeface="DejaVu Math TeX Gyre" panose="02000503000000000000" charset="0"/>
                            </a:rPr>
                            <m:t>𝒅</m:t>
                          </m:r>
                        </m:sub>
                      </m:sSub>
                    </m:oMath>
                  </a14:m>
                  <a:endParaRPr lang="en-US" sz="1400" b="1" i="1">
                    <a:solidFill>
                      <a:srgbClr val="69086F"/>
                    </a:solidFill>
                    <a:latin typeface="DejaVu Math TeX Gyre" panose="02000503000000000000" charset="0"/>
                    <a:cs typeface="DejaVu Math TeX Gyre" panose="02000503000000000000" charset="0"/>
                  </a:endParaRPr>
                </a:p>
              </p:txBody>
            </p:sp>
          </mc:Choice>
          <mc:Fallback>
            <p:sp>
              <p:nvSpPr>
                <p:cNvPr id="33" name="TextBox 32"/>
                <p:cNvSpPr txBox="1">
                  <a:spLocks noRot="1" noChangeAspect="1" noMove="1" noResize="1" noEditPoints="1" noAdjustHandles="1" noChangeArrowheads="1" noChangeShapeType="1" noTextEdit="1"/>
                </p:cNvSpPr>
                <p:nvPr/>
              </p:nvSpPr>
              <p:spPr>
                <a:xfrm>
                  <a:off x="3529" y="5412"/>
                  <a:ext cx="6782" cy="1605"/>
                </a:xfrm>
                <a:prstGeom prst="rect">
                  <a:avLst/>
                </a:prstGeom>
                <a:blipFill rotWithShape="1">
                  <a:blip r:embed="rId2"/>
                </a:blipFill>
              </p:spPr>
              <p:txBody>
                <a:bodyPr/>
                <a:lstStyle/>
                <a:p>
                  <a:r>
                    <a:rPr lang="zh-CN" altLang="en-US">
                      <a:noFill/>
                    </a:rPr>
                    <a:t> </a:t>
                  </a:r>
                </a:p>
              </p:txBody>
            </p:sp>
          </mc:Fallback>
        </mc:AlternateContent>
        <p:sp>
          <p:nvSpPr>
            <p:cNvPr id="34" name="Rectangle 33"/>
            <p:cNvSpPr/>
            <p:nvPr/>
          </p:nvSpPr>
          <p:spPr>
            <a:xfrm>
              <a:off x="10642" y="4334"/>
              <a:ext cx="7214" cy="4248"/>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642" y="4334"/>
              <a:ext cx="79" cy="4248"/>
            </a:xfrm>
            <a:prstGeom prst="rect">
              <a:avLst/>
            </a:prstGeom>
            <a:solidFill>
              <a:srgbClr val="6908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6" name="TextBox 35"/>
                <p:cNvSpPr txBox="1"/>
                <p:nvPr/>
              </p:nvSpPr>
              <p:spPr>
                <a:xfrm>
                  <a:off x="10886" y="4507"/>
                  <a:ext cx="6782" cy="566"/>
                </a:xfrm>
                <a:prstGeom prst="rect">
                  <a:avLst/>
                </a:prstGeom>
                <a:noFill/>
              </p:spPr>
              <p:txBody>
                <a:bodyPr wrap="square" lIns="18288" tIns="18288" rIns="18288">
                  <a:spAutoFit/>
                </a:bodyPr>
                <a:lstStyle/>
                <a:p>
                  <a:pPr algn="l">
                    <a:spcAft>
                      <a:spcPts val="300"/>
                    </a:spcAft>
                  </a:pPr>
                  <a:r>
                    <a:rPr sz="1600" b="1">
                      <a:solidFill>
                        <a:srgbClr val="69086F"/>
                      </a:solidFill>
                      <a:latin typeface="微软雅黑"/>
                    </a:rPr>
                    <a:t>生活端：实际人口 </a:t>
                  </a:r>
                  <a14:m>
                    <m:oMath xmlns:m="http://schemas.openxmlformats.org/officeDocument/2006/math">
                      <m:sSub>
                        <m:sSubPr>
                          <m:ctrlPr>
                            <a:rPr lang="en-US" sz="1600" b="1" i="1">
                              <a:solidFill>
                                <a:srgbClr val="69086F"/>
                              </a:solidFill>
                              <a:latin typeface="DejaVu Math TeX Gyre" panose="02000503000000000000" charset="0"/>
                              <a:cs typeface="DejaVu Math TeX Gyre" panose="02000503000000000000" charset="0"/>
                            </a:rPr>
                          </m:ctrlPr>
                        </m:sSubPr>
                        <m:e>
                          <m:acc>
                            <m:accPr>
                              <m:ctrlPr>
                                <a:rPr lang="en-US" sz="1600" b="1" i="1">
                                  <a:solidFill>
                                    <a:srgbClr val="69086F"/>
                                  </a:solidFill>
                                  <a:latin typeface="DejaVu Math TeX Gyre" panose="02000503000000000000" charset="0"/>
                                  <a:cs typeface="DejaVu Math TeX Gyre" panose="02000503000000000000" charset="0"/>
                                </a:rPr>
                              </m:ctrlPr>
                            </m:accPr>
                            <m:e>
                              <m:r>
                                <a:rPr lang="en-US" sz="1600" b="1" i="1">
                                  <a:solidFill>
                                    <a:srgbClr val="69086F"/>
                                  </a:solidFill>
                                  <a:latin typeface="DejaVu Math TeX Gyre" panose="02000503000000000000" charset="0"/>
                                  <a:cs typeface="DejaVu Math TeX Gyre" panose="02000503000000000000" charset="0"/>
                                </a:rPr>
                                <m:t>𝑳</m:t>
                              </m:r>
                            </m:e>
                          </m:acc>
                        </m:e>
                        <m:sub>
                          <m:r>
                            <a:rPr lang="en-US" sz="1600" b="1" i="1">
                              <a:solidFill>
                                <a:srgbClr val="69086F"/>
                              </a:solidFill>
                              <a:latin typeface="DejaVu Math TeX Gyre" panose="02000503000000000000" charset="0"/>
                              <a:cs typeface="DejaVu Math TeX Gyre" panose="02000503000000000000" charset="0"/>
                            </a:rPr>
                            <m:t>𝒅</m:t>
                          </m:r>
                        </m:sub>
                      </m:sSub>
                    </m:oMath>
                  </a14:m>
                  <a:endParaRPr sz="1600" b="1">
                    <a:solidFill>
                      <a:srgbClr val="69086F"/>
                    </a:solidFill>
                    <a:latin typeface="微软雅黑"/>
                  </a:endParaRPr>
                </a:p>
              </p:txBody>
            </p:sp>
          </mc:Choice>
          <mc:Fallback>
            <p:sp>
              <p:nvSpPr>
                <p:cNvPr id="36" name="TextBox 35"/>
                <p:cNvSpPr txBox="1">
                  <a:spLocks noRot="1" noChangeAspect="1" noMove="1" noResize="1" noEditPoints="1" noAdjustHandles="1" noChangeArrowheads="1" noChangeShapeType="1" noTextEdit="1"/>
                </p:cNvSpPr>
                <p:nvPr/>
              </p:nvSpPr>
              <p:spPr>
                <a:xfrm>
                  <a:off x="10886" y="4507"/>
                  <a:ext cx="6782" cy="566"/>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TextBox 36"/>
                <p:cNvSpPr txBox="1"/>
                <p:nvPr/>
              </p:nvSpPr>
              <p:spPr>
                <a:xfrm>
                  <a:off x="10857" y="5418"/>
                  <a:ext cx="7055" cy="1307"/>
                </a:xfrm>
                <a:prstGeom prst="rect">
                  <a:avLst/>
                </a:prstGeom>
                <a:noFill/>
              </p:spPr>
              <p:txBody>
                <a:bodyPr wrap="square" lIns="18288" tIns="18288" rIns="18288">
                  <a:spAutoFit/>
                </a:bodyPr>
                <a:lstStyle/>
                <a:p>
                  <a:pPr algn="l">
                    <a:spcAft>
                      <a:spcPts val="300"/>
                    </a:spcAft>
                  </a:pPr>
                  <a14:m>
                    <m:oMath xmlns:m="http://schemas.openxmlformats.org/officeDocument/2006/math">
                      <m:sSub>
                        <m:sSubPr>
                          <m:ctrlPr>
                            <a:rPr lang="en-US" sz="1400" b="1" i="1">
                              <a:solidFill>
                                <a:srgbClr val="69086F"/>
                              </a:solidFill>
                              <a:latin typeface="DejaVu Math TeX Gyre" panose="02000503000000000000" charset="0"/>
                              <a:cs typeface="DejaVu Math TeX Gyre" panose="02000503000000000000" charset="0"/>
                            </a:rPr>
                          </m:ctrlPr>
                        </m:sSubPr>
                        <m:e>
                          <m:acc>
                            <m:accPr>
                              <m:ctrlPr>
                                <a:rPr lang="en-US" sz="1400" b="1" i="1">
                                  <a:solidFill>
                                    <a:srgbClr val="69086F"/>
                                  </a:solidFill>
                                  <a:latin typeface="DejaVu Math TeX Gyre" panose="02000503000000000000" charset="0"/>
                                  <a:cs typeface="DejaVu Math TeX Gyre" panose="02000503000000000000" charset="0"/>
                                </a:rPr>
                              </m:ctrlPr>
                            </m:accPr>
                            <m:e>
                              <m:r>
                                <a:rPr lang="en-US" sz="1400" b="1" i="1">
                                  <a:solidFill>
                                    <a:srgbClr val="69086F"/>
                                  </a:solidFill>
                                  <a:latin typeface="DejaVu Math TeX Gyre" panose="02000503000000000000" charset="0"/>
                                  <a:cs typeface="DejaVu Math TeX Gyre" panose="02000503000000000000" charset="0"/>
                                </a:rPr>
                                <m:t>𝑳</m:t>
                              </m:r>
                            </m:e>
                          </m:acc>
                        </m:e>
                        <m:sub>
                          <m:r>
                            <a:rPr lang="en-US" sz="1400" b="1" i="1">
                              <a:solidFill>
                                <a:srgbClr val="69086F"/>
                              </a:solidFill>
                              <a:latin typeface="DejaVu Math TeX Gyre" panose="02000503000000000000" charset="0"/>
                              <a:cs typeface="DejaVu Math TeX Gyre" panose="02000503000000000000" charset="0"/>
                            </a:rPr>
                            <m:t>𝒅</m:t>
                          </m:r>
                        </m:sub>
                      </m:sSub>
                    </m:oMath>
                  </a14:m>
                  <a:r>
                    <a:rPr sz="1400" b="0">
                      <a:solidFill>
                        <a:srgbClr val="2A272B"/>
                      </a:solidFill>
                      <a:latin typeface="微软雅黑"/>
                    </a:rPr>
                    <a:t>是在 d 生活的实际人数</a:t>
                  </a:r>
                  <a:endParaRPr sz="1400" b="0">
                    <a:solidFill>
                      <a:srgbClr val="2A272B"/>
                    </a:solidFill>
                    <a:latin typeface="微软雅黑"/>
                  </a:endParaRPr>
                </a:p>
                <a:p>
                  <a:pPr algn="l">
                    <a:spcAft>
                      <a:spcPts val="300"/>
                    </a:spcAft>
                  </a:pPr>
                  <a:r>
                    <a:rPr sz="1400" b="1">
                      <a:solidFill>
                        <a:srgbClr val="69086F"/>
                      </a:solidFill>
                      <a:latin typeface="微软雅黑"/>
                      <a:sym typeface="+mn-ea"/>
                    </a:rPr>
                    <a:t> </a:t>
                  </a:r>
                  <a14:m>
                    <m:oMath xmlns:m="http://schemas.openxmlformats.org/officeDocument/2006/math">
                      <m:sSub>
                        <m:sSubPr>
                          <m:ctrlPr>
                            <a:rPr lang="en-US" sz="1400" b="1" i="1">
                              <a:solidFill>
                                <a:srgbClr val="69086F"/>
                              </a:solidFill>
                              <a:latin typeface="DejaVu Math TeX Gyre" panose="02000503000000000000" charset="0"/>
                              <a:cs typeface="DejaVu Math TeX Gyre" panose="02000503000000000000" charset="0"/>
                            </a:rPr>
                          </m:ctrlPr>
                        </m:sSubPr>
                        <m:e>
                          <m:acc>
                            <m:accPr>
                              <m:chr m:val="̅"/>
                              <m:ctrlPr>
                                <a:rPr lang="en-US" sz="1400" b="1" i="1">
                                  <a:solidFill>
                                    <a:srgbClr val="69086F"/>
                                  </a:solidFill>
                                  <a:latin typeface="DejaVu Math TeX Gyre" panose="02000503000000000000" charset="0"/>
                                  <a:cs typeface="DejaVu Math TeX Gyre" panose="02000503000000000000" charset="0"/>
                                </a:rPr>
                              </m:ctrlPr>
                            </m:accPr>
                            <m:e>
                              <m:r>
                                <a:rPr lang="en-US" sz="1400" b="1" i="1">
                                  <a:solidFill>
                                    <a:srgbClr val="69086F"/>
                                  </a:solidFill>
                                  <a:latin typeface="DejaVu Math TeX Gyre" panose="02000503000000000000" charset="0"/>
                                  <a:cs typeface="DejaVu Math TeX Gyre" panose="02000503000000000000" charset="0"/>
                                </a:rPr>
                                <m:t>𝜶</m:t>
                              </m:r>
                            </m:e>
                          </m:acc>
                        </m:e>
                        <m:sub>
                          <m:r>
                            <a:rPr lang="en-US" sz="1400" b="1" i="1">
                              <a:solidFill>
                                <a:srgbClr val="69086F"/>
                              </a:solidFill>
                              <a:latin typeface="DejaVu Math TeX Gyre" panose="02000503000000000000" charset="0"/>
                              <a:cs typeface="DejaVu Math TeX Gyre" panose="02000503000000000000" charset="0"/>
                            </a:rPr>
                            <m:t>𝒅</m:t>
                          </m:r>
                        </m:sub>
                      </m:sSub>
                    </m:oMath>
                  </a14:m>
                  <a:r>
                    <a:rPr sz="1400">
                      <a:solidFill>
                        <a:srgbClr val="2A272B"/>
                      </a:solidFill>
                      <a:latin typeface="微软雅黑"/>
                      <a:sym typeface="+mn-ea"/>
                    </a:rPr>
                    <a:t> 是基础宜居性</a:t>
                  </a:r>
                  <a:endParaRPr sz="1400" b="0">
                    <a:solidFill>
                      <a:srgbClr val="2A272B"/>
                    </a:solidFill>
                    <a:latin typeface="微软雅黑"/>
                  </a:endParaRPr>
                </a:p>
                <a:p>
                  <a:pPr algn="l">
                    <a:spcAft>
                      <a:spcPts val="300"/>
                    </a:spcAft>
                  </a:pPr>
                  <a14:m>
                    <m:oMath xmlns:m="http://schemas.openxmlformats.org/officeDocument/2006/math">
                      <m:r>
                        <a:rPr lang="en-US" sz="1400" i="1">
                          <a:solidFill>
                            <a:srgbClr val="2A272B"/>
                          </a:solidFill>
                          <a:latin typeface="DejaVu Math TeX Gyre" panose="02000503000000000000" charset="0"/>
                          <a:cs typeface="DejaVu Math TeX Gyre" panose="02000503000000000000" charset="0"/>
                        </a:rPr>
                        <m:t>𝜆</m:t>
                      </m:r>
                    </m:oMath>
                  </a14:m>
                  <a:r>
                    <a:rPr sz="1400" b="0">
                      <a:solidFill>
                        <a:srgbClr val="2A272B"/>
                      </a:solidFill>
                      <a:latin typeface="微软雅黑"/>
                    </a:rPr>
                    <a:t>是拥挤参数，通常小于 0：人口增加可能降低居住效用</a:t>
                  </a:r>
                  <a:endParaRPr sz="1400" b="0">
                    <a:solidFill>
                      <a:srgbClr val="2A272B"/>
                    </a:solidFill>
                    <a:latin typeface="微软雅黑"/>
                  </a:endParaRPr>
                </a:p>
              </p:txBody>
            </p:sp>
          </mc:Choice>
          <mc:Fallback>
            <p:sp>
              <p:nvSpPr>
                <p:cNvPr id="37" name="TextBox 36"/>
                <p:cNvSpPr txBox="1">
                  <a:spLocks noRot="1" noChangeAspect="1" noMove="1" noResize="1" noEditPoints="1" noAdjustHandles="1" noChangeArrowheads="1" noChangeShapeType="1" noTextEdit="1"/>
                </p:cNvSpPr>
                <p:nvPr/>
              </p:nvSpPr>
              <p:spPr>
                <a:xfrm>
                  <a:off x="10857" y="5418"/>
                  <a:ext cx="7055" cy="1307"/>
                </a:xfrm>
                <a:prstGeom prst="rect">
                  <a:avLst/>
                </a:prstGeom>
                <a:blipFill rotWithShape="1">
                  <a:blip r:embed="rId4"/>
                </a:blipFill>
              </p:spPr>
              <p:txBody>
                <a:bodyPr/>
                <a:lstStyle/>
                <a:p>
                  <a:r>
                    <a:rPr lang="zh-CN" altLang="en-US">
                      <a:noFill/>
                    </a:rPr>
                    <a:t> </a:t>
                  </a:r>
                </a:p>
              </p:txBody>
            </p:sp>
          </mc:Fallback>
        </mc:AlternateContent>
        <p:sp>
          <p:nvSpPr>
            <p:cNvPr id="38" name="Rectangle 37"/>
            <p:cNvSpPr/>
            <p:nvPr/>
          </p:nvSpPr>
          <p:spPr>
            <a:xfrm>
              <a:off x="3341" y="9461"/>
              <a:ext cx="14515" cy="677"/>
            </a:xfrm>
            <a:prstGeom prst="rect">
              <a:avLst/>
            </a:prstGeom>
            <a:solidFill>
              <a:srgbClr val="EA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9" name="TextBox 38"/>
                <p:cNvSpPr txBox="1"/>
                <p:nvPr/>
              </p:nvSpPr>
              <p:spPr>
                <a:xfrm>
                  <a:off x="3586" y="9576"/>
                  <a:ext cx="13968" cy="457"/>
                </a:xfrm>
                <a:prstGeom prst="rect">
                  <a:avLst/>
                </a:prstGeom>
                <a:noFill/>
              </p:spPr>
              <p:txBody>
                <a:bodyPr wrap="square" lIns="18288" tIns="18288" rIns="18288">
                  <a:spAutoFit/>
                </a:bodyPr>
                <a:lstStyle/>
                <a:p>
                  <a:pPr algn="l">
                    <a:spcAft>
                      <a:spcPts val="300"/>
                    </a:spcAft>
                  </a:pPr>
                  <a:r>
                    <a:rPr sz="1230" b="1">
                      <a:solidFill>
                        <a:srgbClr val="69086F"/>
                      </a:solidFill>
                      <a:latin typeface="微软雅黑"/>
                    </a:rPr>
                    <a:t>同一批迁移者会同时改变 </a:t>
                  </a:r>
                  <a14:m>
                    <m:oMath xmlns:m="http://schemas.openxmlformats.org/officeDocument/2006/math">
                      <m:sSub>
                        <m:sSubPr>
                          <m:ctrlPr>
                            <a:rPr lang="en-US" sz="1230" b="1" i="1">
                              <a:solidFill>
                                <a:srgbClr val="69086F"/>
                              </a:solidFill>
                              <a:latin typeface="DejaVu Math TeX Gyre" panose="02000503000000000000" charset="0"/>
                              <a:cs typeface="DejaVu Math TeX Gyre" panose="02000503000000000000" charset="0"/>
                            </a:rPr>
                          </m:ctrlPr>
                        </m:sSubPr>
                        <m:e>
                          <m:r>
                            <a:rPr lang="en-US" sz="1230" b="1" i="1">
                              <a:solidFill>
                                <a:srgbClr val="69086F"/>
                              </a:solidFill>
                              <a:latin typeface="DejaVu Math TeX Gyre" panose="02000503000000000000" charset="0"/>
                              <a:cs typeface="DejaVu Math TeX Gyre" panose="02000503000000000000" charset="0"/>
                            </a:rPr>
                            <m:t>𝑯</m:t>
                          </m:r>
                        </m:e>
                        <m:sub>
                          <m:r>
                            <a:rPr lang="en-US" sz="1230" b="1" i="1">
                              <a:solidFill>
                                <a:srgbClr val="69086F"/>
                              </a:solidFill>
                              <a:latin typeface="DejaVu Math TeX Gyre" panose="02000503000000000000" charset="0"/>
                              <a:cs typeface="DejaVu Math TeX Gyre" panose="02000503000000000000" charset="0"/>
                            </a:rPr>
                            <m:t>𝒅</m:t>
                          </m:r>
                        </m:sub>
                      </m:sSub>
                    </m:oMath>
                  </a14:m>
                  <a:r>
                    <a:rPr sz="1230" b="1">
                      <a:solidFill>
                        <a:srgbClr val="69086F"/>
                      </a:solidFill>
                      <a:latin typeface="微软雅黑"/>
                    </a:rPr>
                    <a:t> 与 </a:t>
                  </a:r>
                  <a14:m>
                    <m:oMath xmlns:m="http://schemas.openxmlformats.org/officeDocument/2006/math">
                      <m:sSub>
                        <m:sSubPr>
                          <m:ctrlPr>
                            <a:rPr lang="en-US" sz="1230" b="1" i="1">
                              <a:solidFill>
                                <a:srgbClr val="69086F"/>
                              </a:solidFill>
                              <a:latin typeface="DejaVu Math TeX Gyre" panose="02000503000000000000" charset="0"/>
                              <a:cs typeface="DejaVu Math TeX Gyre" panose="02000503000000000000" charset="0"/>
                            </a:rPr>
                          </m:ctrlPr>
                        </m:sSubPr>
                        <m:e>
                          <m:acc>
                            <m:accPr>
                              <m:ctrlPr>
                                <a:rPr lang="en-US" sz="1230" b="1" i="1">
                                  <a:solidFill>
                                    <a:srgbClr val="69086F"/>
                                  </a:solidFill>
                                  <a:latin typeface="DejaVu Math TeX Gyre" panose="02000503000000000000" charset="0"/>
                                  <a:cs typeface="DejaVu Math TeX Gyre" panose="02000503000000000000" charset="0"/>
                                </a:rPr>
                              </m:ctrlPr>
                            </m:accPr>
                            <m:e>
                              <m:r>
                                <a:rPr lang="en-US" sz="1230" b="1" i="1">
                                  <a:solidFill>
                                    <a:srgbClr val="69086F"/>
                                  </a:solidFill>
                                  <a:latin typeface="DejaVu Math TeX Gyre" panose="02000503000000000000" charset="0"/>
                                  <a:cs typeface="DejaVu Math TeX Gyre" panose="02000503000000000000" charset="0"/>
                                </a:rPr>
                                <m:t>𝑳</m:t>
                              </m:r>
                            </m:e>
                          </m:acc>
                        </m:e>
                        <m:sub>
                          <m:r>
                            <a:rPr lang="en-US" sz="1230" b="1" i="1">
                              <a:solidFill>
                                <a:srgbClr val="69086F"/>
                              </a:solidFill>
                              <a:latin typeface="DejaVu Math TeX Gyre" panose="02000503000000000000" charset="0"/>
                              <a:cs typeface="DejaVu Math TeX Gyre" panose="02000503000000000000" charset="0"/>
                            </a:rPr>
                            <m:t>𝒅</m:t>
                          </m:r>
                        </m:sub>
                      </m:sSub>
                    </m:oMath>
                  </a14:m>
                  <a:r>
                    <a:rPr sz="1230" b="1">
                      <a:solidFill>
                        <a:srgbClr val="69086F"/>
                      </a:solidFill>
                      <a:latin typeface="微软雅黑"/>
                    </a:rPr>
                    <a:t>：一边提高集聚收益，一边可能带来拥挤成本。</a:t>
                  </a:r>
                  <a:endParaRPr sz="1230" b="1">
                    <a:solidFill>
                      <a:srgbClr val="69086F"/>
                    </a:solidFill>
                    <a:latin typeface="微软雅黑"/>
                  </a:endParaRPr>
                </a:p>
              </p:txBody>
            </p:sp>
          </mc:Choice>
          <mc:Fallback>
            <p:sp>
              <p:nvSpPr>
                <p:cNvPr id="39" name="TextBox 38"/>
                <p:cNvSpPr txBox="1">
                  <a:spLocks noRot="1" noChangeAspect="1" noMove="1" noResize="1" noEditPoints="1" noAdjustHandles="1" noChangeArrowheads="1" noChangeShapeType="1" noTextEdit="1"/>
                </p:cNvSpPr>
                <p:nvPr/>
              </p:nvSpPr>
              <p:spPr>
                <a:xfrm>
                  <a:off x="3586" y="9576"/>
                  <a:ext cx="13968" cy="457"/>
                </a:xfrm>
                <a:prstGeom prst="rect">
                  <a:avLst/>
                </a:prstGeom>
                <a:blipFill rotWithShape="1">
                  <a:blip r:embed="rId5"/>
                </a:blipFill>
              </p:spPr>
              <p:txBody>
                <a:bodyPr/>
                <a:lstStyle/>
                <a:p>
                  <a:r>
                    <a:rPr lang="zh-CN" altLang="en-US">
                      <a:noFill/>
                    </a:rPr>
                    <a:t> </a:t>
                  </a:r>
                </a:p>
              </p:txBody>
            </p:sp>
          </mc:Fallback>
        </mc:AlternateContent>
      </p:grpSp>
      <p:pic>
        <p:nvPicPr>
          <p:cNvPr id="3" name="334E55B0-647D-440b-865C-3EC943EB4CBC-6" descr="wpsoffice"/>
          <p:cNvPicPr>
            <a:picLocks noChangeAspect="1"/>
          </p:cNvPicPr>
          <p:nvPr/>
        </p:nvPicPr>
        <p:blipFill>
          <a:blip r:embed="rId6"/>
          <a:stretch>
            <a:fillRect/>
          </a:stretch>
        </p:blipFill>
        <p:spPr>
          <a:xfrm>
            <a:off x="2381885" y="2063750"/>
            <a:ext cx="1758315" cy="345440"/>
          </a:xfrm>
          <a:prstGeom prst="rect">
            <a:avLst/>
          </a:prstGeom>
        </p:spPr>
      </p:pic>
      <p:pic>
        <p:nvPicPr>
          <p:cNvPr id="4" name="334E55B0-647D-440b-865C-3EC943EB4CBC-7" descr="wpsoffice"/>
          <p:cNvPicPr>
            <a:picLocks noChangeAspect="1"/>
          </p:cNvPicPr>
          <p:nvPr/>
        </p:nvPicPr>
        <p:blipFill>
          <a:blip r:embed="rId7"/>
          <a:stretch>
            <a:fillRect/>
          </a:stretch>
        </p:blipFill>
        <p:spPr>
          <a:xfrm>
            <a:off x="4495800" y="2020570"/>
            <a:ext cx="1763395" cy="401320"/>
          </a:xfrm>
          <a:prstGeom prst="rect">
            <a:avLst/>
          </a:prstGeom>
        </p:spPr>
      </p:pic>
      <p:pic>
        <p:nvPicPr>
          <p:cNvPr id="5" name="334E55B0-647D-440b-865C-3EC943EB4CBC-8" descr="wpsoffice"/>
          <p:cNvPicPr>
            <a:picLocks noChangeAspect="1"/>
          </p:cNvPicPr>
          <p:nvPr/>
        </p:nvPicPr>
        <p:blipFill>
          <a:blip r:embed="rId8"/>
          <a:stretch>
            <a:fillRect/>
          </a:stretch>
        </p:blipFill>
        <p:spPr>
          <a:xfrm>
            <a:off x="7842885" y="1921510"/>
            <a:ext cx="2071370" cy="54356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834390"/>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个人与厂商如何联立成空间一般均衡？</a:t>
            </a:r>
            <a:endParaRPr sz="2500" b="1">
              <a:solidFill>
                <a:srgbClr val="2A272B"/>
              </a:solidFill>
              <a:latin typeface="微软雅黑"/>
            </a:endParaRPr>
          </a:p>
          <a:p>
            <a:pPr>
              <a:spcAft>
                <a:spcPts val="300"/>
              </a:spcAft>
            </a:pP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78" name="组合 77"/>
          <p:cNvGrpSpPr/>
          <p:nvPr/>
        </p:nvGrpSpPr>
        <p:grpSpPr>
          <a:xfrm rot="0">
            <a:off x="2080260" y="1216025"/>
            <a:ext cx="9235440" cy="859790"/>
            <a:chOff x="3226" y="2390"/>
            <a:chExt cx="14544" cy="1354"/>
          </a:xfrm>
        </p:grpSpPr>
        <p:sp>
          <p:nvSpPr>
            <p:cNvPr id="49" name="Rectangle 48"/>
            <p:cNvSpPr/>
            <p:nvPr/>
          </p:nvSpPr>
          <p:spPr>
            <a:xfrm>
              <a:off x="3226" y="2390"/>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26" y="2390"/>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99" y="2693"/>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1</a:t>
              </a:r>
              <a:endParaRPr sz="1500" b="1">
                <a:solidFill>
                  <a:srgbClr val="FFFFFF"/>
                </a:solidFill>
              </a:endParaRPr>
            </a:p>
          </p:txBody>
        </p:sp>
        <p:sp>
          <p:nvSpPr>
            <p:cNvPr id="52" name="TextBox 51"/>
            <p:cNvSpPr txBox="1"/>
            <p:nvPr/>
          </p:nvSpPr>
          <p:spPr>
            <a:xfrm>
              <a:off x="4363" y="2592"/>
              <a:ext cx="3182" cy="446"/>
            </a:xfrm>
            <a:prstGeom prst="rect">
              <a:avLst/>
            </a:prstGeom>
            <a:noFill/>
          </p:spPr>
          <p:txBody>
            <a:bodyPr wrap="square" lIns="18288" tIns="18288" rIns="18288">
              <a:spAutoFit/>
            </a:bodyPr>
            <a:lstStyle/>
            <a:p>
              <a:r>
                <a:rPr sz="1400" b="1">
                  <a:solidFill>
                    <a:srgbClr val="6E0875"/>
                  </a:solidFill>
                  <a:latin typeface="微软雅黑"/>
                </a:rPr>
                <a:t>① 算迁移份额</a:t>
              </a:r>
              <a:endParaRPr sz="1400" b="1">
                <a:solidFill>
                  <a:srgbClr val="6E0875"/>
                </a:solidFill>
                <a:latin typeface="微软雅黑"/>
              </a:endParaRPr>
            </a:p>
          </p:txBody>
        </p:sp>
        <mc:AlternateContent xmlns:mc="http://schemas.openxmlformats.org/markup-compatibility/2006">
          <mc:Choice xmlns:a14="http://schemas.microsoft.com/office/drawing/2010/main" Requires="a14">
            <p:sp>
              <p:nvSpPr>
                <p:cNvPr id="3" name="TextBox 52"/>
                <p:cNvSpPr txBox="1"/>
                <p:nvPr/>
              </p:nvSpPr>
              <p:spPr>
                <a:xfrm>
                  <a:off x="7603" y="2520"/>
                  <a:ext cx="9662" cy="460"/>
                </a:xfrm>
                <a:prstGeom prst="rect">
                  <a:avLst/>
                </a:prstGeom>
                <a:noFill/>
              </p:spPr>
              <p:txBody>
                <a:bodyPr wrap="square" lIns="18288" tIns="18288" rIns="18288">
                  <a:spAutoFit/>
                </a:bodyPr>
                <a:lstStyle/>
                <a:p>
                  <a:r>
                    <a:rPr sz="1250" b="0">
                      <a:solidFill>
                        <a:srgbClr val="242424"/>
                      </a:solidFill>
                      <a:latin typeface="微软雅黑"/>
                    </a:rPr>
                    <a:t>已知：工资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𝜔</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、宜居性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𝛼</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、迁移成本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𝜏</m:t>
                          </m:r>
                        </m:e>
                        <m:sub>
                          <m:r>
                            <a:rPr lang="en-US" sz="1250" b="0" i="1">
                              <a:solidFill>
                                <a:srgbClr val="242424"/>
                              </a:solidFill>
                              <a:latin typeface="DejaVu Math TeX Gyre" panose="02000503000000000000" charset="0"/>
                              <a:cs typeface="DejaVu Math TeX Gyre" panose="02000503000000000000" charset="0"/>
                            </a:rPr>
                            <m:t>𝑑𝑜</m:t>
                          </m:r>
                        </m:sub>
                      </m:sSub>
                    </m:oMath>
                  </a14:m>
                  <a:r>
                    <a:rPr sz="1250" b="0">
                      <a:solidFill>
                        <a:srgbClr val="242424"/>
                      </a:solidFill>
                      <a:latin typeface="微软雅黑"/>
                    </a:rPr>
                    <a:t>，以及技能分选参数</a:t>
                  </a:r>
                  <a14:m>
                    <m:oMath xmlns:m="http://schemas.openxmlformats.org/officeDocument/2006/math">
                      <m:r>
                        <a:rPr lang="en-US" sz="1250" b="0">
                          <a:solidFill>
                            <a:srgbClr val="242424"/>
                          </a:solidFill>
                          <a:latin typeface="DejaVu Math TeX Gyre" panose="02000503000000000000" charset="0"/>
                          <a:cs typeface="DejaVu Math TeX Gyre" panose="02000503000000000000" charset="0"/>
                        </a:rPr>
                        <m:t> </m:t>
                      </m:r>
                      <m:r>
                        <m:rPr>
                          <m:sty m:val="p"/>
                        </m:rPr>
                        <a:rPr lang="en-US" sz="1250" b="0">
                          <a:solidFill>
                            <a:srgbClr val="242424"/>
                          </a:solidFill>
                          <a:latin typeface="DejaVu Math TeX Gyre" panose="02000503000000000000" charset="0"/>
                          <a:cs typeface="DejaVu Math TeX Gyre" panose="02000503000000000000" charset="0"/>
                        </a:rPr>
                        <m:t>θ</m:t>
                      </m:r>
                    </m:oMath>
                  </a14:m>
                  <a:endParaRPr sz="1250" b="0">
                    <a:solidFill>
                      <a:srgbClr val="242424"/>
                    </a:solidFill>
                    <a:latin typeface="微软雅黑"/>
                  </a:endParaRPr>
                </a:p>
              </p:txBody>
            </p:sp>
          </mc:Choice>
          <mc:Fallback>
            <p:sp>
              <p:nvSpPr>
                <p:cNvPr id="3" name="TextBox 52"/>
                <p:cNvSpPr txBox="1">
                  <a:spLocks noRot="1" noChangeAspect="1" noMove="1" noResize="1" noEditPoints="1" noAdjustHandles="1" noChangeArrowheads="1" noChangeShapeType="1" noTextEdit="1"/>
                </p:cNvSpPr>
                <p:nvPr/>
              </p:nvSpPr>
              <p:spPr>
                <a:xfrm>
                  <a:off x="7603" y="2520"/>
                  <a:ext cx="9662" cy="460"/>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TextBox 53"/>
                <p:cNvSpPr txBox="1"/>
                <p:nvPr/>
              </p:nvSpPr>
              <p:spPr>
                <a:xfrm>
                  <a:off x="7603" y="3096"/>
                  <a:ext cx="9720" cy="403"/>
                </a:xfrm>
                <a:prstGeom prst="rect">
                  <a:avLst/>
                </a:prstGeom>
                <a:noFill/>
              </p:spPr>
              <p:txBody>
                <a:bodyPr wrap="square" lIns="18288" tIns="18288" rIns="18288">
                  <a:spAutoFit/>
                </a:bodyPr>
                <a:lstStyle/>
                <a:p>
                  <a:r>
                    <a:rPr sz="1250" b="0">
                      <a:solidFill>
                        <a:srgbClr val="242424"/>
                      </a:solidFill>
                      <a:latin typeface="微软雅黑"/>
                    </a:rPr>
                    <a:t>代入迁移份额方程→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𝑑𝑜</m:t>
                          </m:r>
                        </m:sub>
                      </m:sSub>
                    </m:oMath>
                  </a14:m>
                  <a:endParaRPr sz="1250" b="0">
                    <a:solidFill>
                      <a:srgbClr val="242424"/>
                    </a:solidFill>
                    <a:latin typeface="微软雅黑"/>
                  </a:endParaRPr>
                </a:p>
              </p:txBody>
            </p:sp>
          </mc:Choice>
          <mc:Fallback>
            <p:sp>
              <p:nvSpPr>
                <p:cNvPr id="54" name="TextBox 53"/>
                <p:cNvSpPr txBox="1">
                  <a:spLocks noRot="1" noChangeAspect="1" noMove="1" noResize="1" noEditPoints="1" noAdjustHandles="1" noChangeArrowheads="1" noChangeShapeType="1" noTextEdit="1"/>
                </p:cNvSpPr>
                <p:nvPr/>
              </p:nvSpPr>
              <p:spPr>
                <a:xfrm>
                  <a:off x="7603" y="3096"/>
                  <a:ext cx="9720" cy="403"/>
                </a:xfrm>
                <a:prstGeom prst="rect">
                  <a:avLst/>
                </a:prstGeom>
                <a:blipFill rotWithShape="1">
                  <a:blip r:embed="rId2"/>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48" name="文本框 47"/>
              <p:cNvSpPr txBox="1"/>
              <p:nvPr/>
            </p:nvSpPr>
            <p:spPr>
              <a:xfrm>
                <a:off x="4823079" y="2241169"/>
                <a:ext cx="4057650" cy="37528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acc>
                            <m:accPr>
                              <m:chr m:val="̃"/>
                              <m:ctrlPr>
                                <a:rPr lang="en-US" altLang="zh-CN" i="1">
                                  <a:latin typeface="DejaVu Math TeX Gyre" panose="02000503000000000000" charset="0"/>
                                  <a:cs typeface="DejaVu Math TeX Gyre" panose="02000503000000000000" charset="0"/>
                                </a:rPr>
                              </m:ctrlPr>
                            </m:accPr>
                            <m:e>
                              <m:r>
                                <a:rPr lang="en-US" altLang="zh-CN" i="1">
                                  <a:latin typeface="DejaVu Math TeX Gyre" panose="02000503000000000000" charset="0"/>
                                  <a:cs typeface="DejaVu Math TeX Gyre" panose="02000503000000000000" charset="0"/>
                                </a:rPr>
                                <m:t>𝜔</m:t>
                              </m:r>
                            </m:e>
                          </m:acc>
                        </m:e>
                        <m:sub>
                          <m:r>
                            <a:rPr lang="en-US" altLang="zh-CN" i="1">
                              <a:latin typeface="DejaVu Math TeX Gyre" panose="02000503000000000000" charset="0"/>
                              <a:cs typeface="DejaVu Math TeX Gyre" panose="02000503000000000000" charset="0"/>
                            </a:rPr>
                            <m:t>𝑑𝑜</m:t>
                          </m:r>
                        </m:sub>
                      </m:sSub>
                      <m:r>
                        <a:rPr lang="en-US" altLang="zh-CN" i="1">
                          <a:latin typeface="DejaVu Math TeX Gyre" panose="02000503000000000000" charset="0"/>
                          <a:cs typeface="DejaVu Math TeX Gyre" panose="02000503000000000000" charset="0"/>
                        </a:rPr>
                        <m:t>=</m:t>
                      </m:r>
                      <m:sSub>
                        <m:sSubPr>
                          <m:ctrlPr>
                            <a:rPr lang="en-US" b="0" i="1">
                              <a:solidFill>
                                <a:srgbClr val="2A272B"/>
                              </a:solidFill>
                              <a:latin typeface="DejaVu Math TeX Gyre" panose="02000503000000000000" charset="0"/>
                              <a:cs typeface="DejaVu Math TeX Gyre" panose="02000503000000000000" charset="0"/>
                            </a:rPr>
                          </m:ctrlPr>
                        </m:sSubPr>
                        <m:e>
                          <m:r>
                            <a:rPr lang="en-US" i="1">
                              <a:solidFill>
                                <a:srgbClr val="2A272B"/>
                              </a:solidFill>
                              <a:latin typeface="DejaVu Math TeX Gyre" panose="02000503000000000000" charset="0"/>
                              <a:cs typeface="DejaVu Math TeX Gyre" panose="02000503000000000000" charset="0"/>
                            </a:rPr>
                            <m:t>𝛼</m:t>
                          </m:r>
                        </m:e>
                        <m:sub>
                          <m:r>
                            <a:rPr lang="en-US" b="0" i="1">
                              <a:solidFill>
                                <a:srgbClr val="2A272B"/>
                              </a:solidFill>
                              <a:latin typeface="DejaVu Math TeX Gyre" panose="02000503000000000000" charset="0"/>
                              <a:cs typeface="DejaVu Math TeX Gyre" panose="02000503000000000000" charset="0"/>
                            </a:rPr>
                            <m:t>𝑑</m:t>
                          </m:r>
                        </m:sub>
                      </m:sSub>
                      <m:sSub>
                        <m:sSubPr>
                          <m:ctrlPr>
                            <a:rPr lang="en-US" b="0" i="1">
                              <a:solidFill>
                                <a:srgbClr val="2A272B"/>
                              </a:solidFill>
                              <a:latin typeface="DejaVu Math TeX Gyre" panose="02000503000000000000" charset="0"/>
                              <a:cs typeface="DejaVu Math TeX Gyre" panose="02000503000000000000" charset="0"/>
                            </a:rPr>
                          </m:ctrlPr>
                        </m:sSubPr>
                        <m:e>
                          <m:sSubSup>
                            <m:sSubSupPr>
                              <m:ctrlPr>
                                <a:rPr lang="en-US" b="0" i="1">
                                  <a:solidFill>
                                    <a:srgbClr val="2A272B"/>
                                  </a:solidFill>
                                  <a:latin typeface="DejaVu Math TeX Gyre" panose="02000503000000000000" charset="0"/>
                                  <a:cs typeface="DejaVu Math TeX Gyre" panose="02000503000000000000" charset="0"/>
                                </a:rPr>
                              </m:ctrlPr>
                            </m:sSubSupPr>
                            <m:e>
                              <m:r>
                                <a:rPr lang="en-US" i="1">
                                  <a:solidFill>
                                    <a:srgbClr val="2A272B"/>
                                  </a:solidFill>
                                  <a:latin typeface="DejaVu Math TeX Gyre" panose="02000503000000000000" charset="0"/>
                                  <a:cs typeface="DejaVu Math TeX Gyre" panose="02000503000000000000" charset="0"/>
                                </a:rPr>
                                <m:t>𝜖</m:t>
                              </m:r>
                            </m:e>
                            <m:sub>
                              <m:r>
                                <a:rPr lang="en-US" b="0" i="1">
                                  <a:solidFill>
                                    <a:srgbClr val="2A272B"/>
                                  </a:solidFill>
                                  <a:latin typeface="DejaVu Math TeX Gyre" panose="02000503000000000000" charset="0"/>
                                  <a:cs typeface="DejaVu Math TeX Gyre" panose="02000503000000000000" charset="0"/>
                                </a:rPr>
                                <m:t>𝑑𝑜</m:t>
                              </m:r>
                            </m:sub>
                            <m:sup>
                              <m:r>
                                <a:rPr lang="en-US" i="1">
                                  <a:solidFill>
                                    <a:srgbClr val="2A272B"/>
                                  </a:solidFill>
                                  <a:latin typeface="DejaVu Math TeX Gyre" panose="02000503000000000000" charset="0"/>
                                  <a:cs typeface="DejaVu Math TeX Gyre" panose="02000503000000000000" charset="0"/>
                                </a:rPr>
                                <m:t>𝛼</m:t>
                              </m:r>
                            </m:sup>
                          </m:sSubSup>
                          <m:r>
                            <a:rPr lang="en-US" i="1">
                              <a:solidFill>
                                <a:srgbClr val="2A272B"/>
                              </a:solidFill>
                              <a:latin typeface="DejaVu Math TeX Gyre" panose="02000503000000000000" charset="0"/>
                              <a:cs typeface="DejaVu Math TeX Gyre" panose="02000503000000000000" charset="0"/>
                            </a:rPr>
                            <m:t>(</m:t>
                          </m:r>
                          <m:r>
                            <a:rPr lang="en-US" i="1">
                              <a:solidFill>
                                <a:srgbClr val="2A272B"/>
                              </a:solidFill>
                              <a:latin typeface="DejaVu Math TeX Gyre" panose="02000503000000000000" charset="0"/>
                              <a:cs typeface="DejaVu Math TeX Gyre" panose="02000503000000000000" charset="0"/>
                            </a:rPr>
                            <m:t>1</m:t>
                          </m:r>
                          <m:r>
                            <a:rPr lang="en-US" i="1">
                              <a:solidFill>
                                <a:srgbClr val="2A272B"/>
                              </a:solidFill>
                              <a:latin typeface="DejaVu Math TeX Gyre" panose="02000503000000000000" charset="0"/>
                              <a:cs typeface="DejaVu Math TeX Gyre" panose="02000503000000000000" charset="0"/>
                            </a:rPr>
                            <m:t>−</m:t>
                          </m:r>
                          <m:sSub>
                            <m:sSubPr>
                              <m:ctrlPr>
                                <a:rPr lang="en-US" i="1">
                                  <a:solidFill>
                                    <a:srgbClr val="2A272B"/>
                                  </a:solidFill>
                                  <a:latin typeface="DejaVu Math TeX Gyre" panose="02000503000000000000" charset="0"/>
                                  <a:cs typeface="DejaVu Math TeX Gyre" panose="02000503000000000000" charset="0"/>
                                </a:rPr>
                              </m:ctrlPr>
                            </m:sSubPr>
                            <m:e>
                              <m:r>
                                <a:rPr lang="en-US" i="1">
                                  <a:solidFill>
                                    <a:srgbClr val="2A272B"/>
                                  </a:solidFill>
                                  <a:latin typeface="DejaVu Math TeX Gyre" panose="02000503000000000000" charset="0"/>
                                  <a:cs typeface="DejaVu Math TeX Gyre" panose="02000503000000000000" charset="0"/>
                                </a:rPr>
                                <m:t>𝜏</m:t>
                              </m:r>
                            </m:e>
                            <m:sub>
                              <m:r>
                                <a:rPr lang="en-US" i="1">
                                  <a:solidFill>
                                    <a:srgbClr val="2A272B"/>
                                  </a:solidFill>
                                  <a:latin typeface="DejaVu Math TeX Gyre" panose="02000503000000000000" charset="0"/>
                                  <a:cs typeface="DejaVu Math TeX Gyre" panose="02000503000000000000" charset="0"/>
                                </a:rPr>
                                <m:t>𝑑𝑜</m:t>
                              </m:r>
                            </m:sub>
                          </m:sSub>
                          <m:r>
                            <a:rPr lang="en-US" i="1">
                              <a:solidFill>
                                <a:srgbClr val="2A272B"/>
                              </a:solidFill>
                              <a:latin typeface="DejaVu Math TeX Gyre" panose="02000503000000000000" charset="0"/>
                              <a:cs typeface="DejaVu Math TeX Gyre" panose="02000503000000000000" charset="0"/>
                            </a:rPr>
                            <m:t>)</m:t>
                          </m:r>
                          <m:r>
                            <a:rPr lang="en-US" i="1">
                              <a:solidFill>
                                <a:srgbClr val="2A272B"/>
                              </a:solidFill>
                              <a:latin typeface="DejaVu Math TeX Gyre" panose="02000503000000000000" charset="0"/>
                              <a:cs typeface="DejaVu Math TeX Gyre" panose="02000503000000000000" charset="0"/>
                            </a:rPr>
                            <m:t>𝜔</m:t>
                          </m:r>
                        </m:e>
                        <m:sub>
                          <m:r>
                            <a:rPr lang="en-US" b="0" i="1">
                              <a:solidFill>
                                <a:srgbClr val="2A272B"/>
                              </a:solidFill>
                              <a:latin typeface="DejaVu Math TeX Gyre" panose="02000503000000000000" charset="0"/>
                              <a:cs typeface="DejaVu Math TeX Gyre" panose="02000503000000000000" charset="0"/>
                            </a:rPr>
                            <m:t>𝑑</m:t>
                          </m:r>
                        </m:sub>
                      </m:sSub>
                      <m:sSubSup>
                        <m:sSubSupPr>
                          <m:ctrlPr>
                            <a:rPr lang="en-US" b="0" i="1">
                              <a:solidFill>
                                <a:srgbClr val="2A272B"/>
                              </a:solidFill>
                              <a:latin typeface="DejaVu Math TeX Gyre" panose="02000503000000000000" charset="0"/>
                              <a:cs typeface="DejaVu Math TeX Gyre" panose="02000503000000000000" charset="0"/>
                            </a:rPr>
                          </m:ctrlPr>
                        </m:sSubSupPr>
                        <m:e>
                          <m:r>
                            <a:rPr lang="en-US" i="1">
                              <a:solidFill>
                                <a:srgbClr val="2A272B"/>
                              </a:solidFill>
                              <a:latin typeface="DejaVu Math TeX Gyre" panose="02000503000000000000" charset="0"/>
                              <a:cs typeface="DejaVu Math TeX Gyre" panose="02000503000000000000" charset="0"/>
                            </a:rPr>
                            <m:t>𝜖</m:t>
                          </m:r>
                        </m:e>
                        <m:sub>
                          <m:r>
                            <a:rPr lang="en-US" b="0" i="1">
                              <a:solidFill>
                                <a:srgbClr val="2A272B"/>
                              </a:solidFill>
                              <a:latin typeface="DejaVu Math TeX Gyre" panose="02000503000000000000" charset="0"/>
                              <a:cs typeface="DejaVu Math TeX Gyre" panose="02000503000000000000" charset="0"/>
                            </a:rPr>
                            <m:t>𝑑𝑜</m:t>
                          </m:r>
                        </m:sub>
                        <m:sup>
                          <m:r>
                            <a:rPr lang="en-US" i="1">
                              <a:solidFill>
                                <a:srgbClr val="2A272B"/>
                              </a:solidFill>
                              <a:latin typeface="DejaVu Math TeX Gyre" panose="02000503000000000000" charset="0"/>
                              <a:cs typeface="DejaVu Math TeX Gyre" panose="02000503000000000000" charset="0"/>
                            </a:rPr>
                            <m:t>𝜔</m:t>
                          </m:r>
                        </m:sup>
                      </m:sSubSup>
                      <m:sSub>
                        <m:sSubPr>
                          <m:ctrlPr>
                            <a:rPr lang="en-US" b="0" i="1">
                              <a:solidFill>
                                <a:srgbClr val="2A272B"/>
                              </a:solidFill>
                              <a:latin typeface="DejaVu Math TeX Gyre" panose="02000503000000000000" charset="0"/>
                              <a:cs typeface="DejaVu Math TeX Gyre" panose="02000503000000000000" charset="0"/>
                            </a:rPr>
                          </m:ctrlPr>
                        </m:sSubPr>
                        <m:e>
                          <m:r>
                            <a:rPr lang="en-US" b="0" i="1">
                              <a:solidFill>
                                <a:srgbClr val="2A272B"/>
                              </a:solidFill>
                              <a:latin typeface="DejaVu Math TeX Gyre" panose="02000503000000000000" charset="0"/>
                              <a:cs typeface="DejaVu Math TeX Gyre" panose="02000503000000000000" charset="0"/>
                            </a:rPr>
                            <m:t>𝑠</m:t>
                          </m:r>
                        </m:e>
                        <m:sub>
                          <m:r>
                            <a:rPr lang="en-US" b="0" i="1">
                              <a:solidFill>
                                <a:srgbClr val="2A272B"/>
                              </a:solidFill>
                              <a:latin typeface="DejaVu Math TeX Gyre" panose="02000503000000000000" charset="0"/>
                              <a:cs typeface="DejaVu Math TeX Gyre" panose="02000503000000000000" charset="0"/>
                            </a:rPr>
                            <m:t>𝑖𝑑</m:t>
                          </m:r>
                        </m:sub>
                      </m:sSub>
                    </m:oMath>
                  </m:oMathPara>
                </a14:m>
                <a:endParaRPr lang="zh-CN" altLang="en-US"/>
              </a:p>
            </p:txBody>
          </p:sp>
        </mc:Choice>
        <mc:Fallback>
          <p:sp>
            <p:nvSpPr>
              <p:cNvPr id="48" name="文本框 47"/>
              <p:cNvSpPr txBox="1">
                <a:spLocks noRot="1" noChangeAspect="1" noMove="1" noResize="1" noEditPoints="1" noAdjustHandles="1" noChangeArrowheads="1" noChangeShapeType="1" noTextEdit="1"/>
              </p:cNvSpPr>
              <p:nvPr/>
            </p:nvSpPr>
            <p:spPr>
              <a:xfrm>
                <a:off x="4823079" y="2241169"/>
                <a:ext cx="4057650" cy="375285"/>
              </a:xfrm>
              <a:prstGeom prst="rect">
                <a:avLst/>
              </a:prstGeom>
              <a:blipFill rotWithShape="1">
                <a:blip r:embed="rId3"/>
                <a:stretch>
                  <a:fillRect l="-6" t="-68" r="6"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5505069" y="2714879"/>
                <a:ext cx="2125980" cy="98234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𝜋</m:t>
                          </m:r>
                        </m:e>
                        <m:sub>
                          <m:r>
                            <a:rPr lang="en-US" altLang="zh-CN" i="1">
                              <a:latin typeface="DejaVu Math TeX Gyre" panose="02000503000000000000" charset="0"/>
                              <a:cs typeface="DejaVu Math TeX Gyre" panose="02000503000000000000" charset="0"/>
                            </a:rPr>
                            <m:t>𝑑𝑜</m:t>
                          </m:r>
                        </m:sub>
                      </m:sSub>
                      <m:r>
                        <a:rPr lang="en-US" altLang="zh-CN" i="1">
                          <a:latin typeface="DejaVu Math TeX Gyre" panose="02000503000000000000" charset="0"/>
                          <a:cs typeface="DejaVu Math TeX Gyre" panose="02000503000000000000" charset="0"/>
                        </a:rPr>
                        <m:t>=</m:t>
                      </m:r>
                      <m:f>
                        <m:fPr>
                          <m:ctrlPr>
                            <a:rPr lang="en-US" altLang="zh-CN" i="1">
                              <a:latin typeface="DejaVu Math TeX Gyre" panose="02000503000000000000" charset="0"/>
                              <a:cs typeface="DejaVu Math TeX Gyre" panose="02000503000000000000" charset="0"/>
                            </a:rPr>
                          </m:ctrlPr>
                        </m:fPr>
                        <m:num>
                          <m:sSubSup>
                            <m:sSubSupPr>
                              <m:ctrlPr>
                                <a:rPr lang="en-US" altLang="zh-CN" i="1">
                                  <a:latin typeface="DejaVu Math TeX Gyre" panose="02000503000000000000" charset="0"/>
                                  <a:cs typeface="DejaVu Math TeX Gyre" panose="02000503000000000000" charset="0"/>
                                </a:rPr>
                              </m:ctrlPr>
                            </m:sSubSupPr>
                            <m:e>
                              <m:acc>
                                <m:accPr>
                                  <m:chr m:val="̃"/>
                                  <m:ctrlPr>
                                    <a:rPr lang="en-US" altLang="zh-CN" i="1">
                                      <a:latin typeface="DejaVu Math TeX Gyre" panose="02000503000000000000" charset="0"/>
                                      <a:cs typeface="DejaVu Math TeX Gyre" panose="02000503000000000000" charset="0"/>
                                    </a:rPr>
                                  </m:ctrlPr>
                                </m:accPr>
                                <m:e>
                                  <m:r>
                                    <a:rPr lang="en-US" altLang="zh-CN" i="1">
                                      <a:latin typeface="DejaVu Math TeX Gyre" panose="02000503000000000000" charset="0"/>
                                      <a:cs typeface="DejaVu Math TeX Gyre" panose="02000503000000000000" charset="0"/>
                                    </a:rPr>
                                    <m:t>𝜔</m:t>
                                  </m:r>
                                </m:e>
                              </m:acc>
                            </m:e>
                            <m:sub>
                              <m:r>
                                <a:rPr lang="en-US" altLang="zh-CN" i="1">
                                  <a:latin typeface="DejaVu Math TeX Gyre" panose="02000503000000000000" charset="0"/>
                                  <a:cs typeface="DejaVu Math TeX Gyre" panose="02000503000000000000" charset="0"/>
                                </a:rPr>
                                <m:t>𝑑𝑜</m:t>
                              </m:r>
                            </m:sub>
                            <m:sup>
                              <m:r>
                                <a:rPr lang="en-US" altLang="zh-CN" i="1">
                                  <a:latin typeface="DejaVu Math TeX Gyre" panose="02000503000000000000" charset="0"/>
                                  <a:cs typeface="DejaVu Math TeX Gyre" panose="02000503000000000000" charset="0"/>
                                </a:rPr>
                                <m:t>𝜃</m:t>
                              </m:r>
                            </m:sup>
                          </m:sSubSup>
                        </m:num>
                        <m:den>
                          <m:nary>
                            <m:naryPr>
                              <m:chr m:val="∑"/>
                              <m:limLoc m:val="subSup"/>
                              <m:ctrlPr>
                                <a:rPr lang="en-US" altLang="zh-CN" i="1">
                                  <a:latin typeface="DejaVu Math TeX Gyre" panose="02000503000000000000" charset="0"/>
                                  <a:cs typeface="DejaVu Math TeX Gyre" panose="02000503000000000000" charset="0"/>
                                </a:rPr>
                              </m:ctrlPr>
                            </m:naryPr>
                            <m:sub>
                              <m:r>
                                <a:rPr lang="en-US" altLang="zh-CN" i="1">
                                  <a:latin typeface="DejaVu Math TeX Gyre" panose="02000503000000000000" charset="0"/>
                                  <a:cs typeface="DejaVu Math TeX Gyre" panose="02000503000000000000" charset="0"/>
                                </a:rPr>
                                <m:t>𝑗</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sub>
                            <m:sup>
                              <m:r>
                                <a:rPr lang="en-US" altLang="zh-CN" i="1">
                                  <a:latin typeface="DejaVu Math TeX Gyre" panose="02000503000000000000" charset="0"/>
                                  <a:cs typeface="DejaVu Math TeX Gyre" panose="02000503000000000000" charset="0"/>
                                </a:rPr>
                                <m:t>𝑁</m:t>
                              </m:r>
                            </m:sup>
                            <m:e>
                              <m:sSubSup>
                                <m:sSubSupPr>
                                  <m:ctrlPr>
                                    <a:rPr lang="en-US" altLang="zh-CN" i="1">
                                      <a:latin typeface="DejaVu Math TeX Gyre" panose="02000503000000000000" charset="0"/>
                                      <a:cs typeface="DejaVu Math TeX Gyre" panose="02000503000000000000" charset="0"/>
                                    </a:rPr>
                                  </m:ctrlPr>
                                </m:sSubSupPr>
                                <m:e>
                                  <m:acc>
                                    <m:accPr>
                                      <m:chr m:val="̃"/>
                                      <m:ctrlPr>
                                        <a:rPr lang="en-US" altLang="zh-CN" i="1">
                                          <a:latin typeface="DejaVu Math TeX Gyre" panose="02000503000000000000" charset="0"/>
                                          <a:cs typeface="DejaVu Math TeX Gyre" panose="02000503000000000000" charset="0"/>
                                        </a:rPr>
                                      </m:ctrlPr>
                                    </m:accPr>
                                    <m:e>
                                      <m:r>
                                        <a:rPr lang="en-US" altLang="zh-CN" i="1">
                                          <a:latin typeface="DejaVu Math TeX Gyre" panose="02000503000000000000" charset="0"/>
                                          <a:cs typeface="DejaVu Math TeX Gyre" panose="02000503000000000000" charset="0"/>
                                        </a:rPr>
                                        <m:t>𝜔</m:t>
                                      </m:r>
                                    </m:e>
                                  </m:acc>
                                </m:e>
                                <m:sub>
                                  <m:r>
                                    <a:rPr lang="en-US" altLang="zh-CN" i="1">
                                      <a:latin typeface="DejaVu Math TeX Gyre" panose="02000503000000000000" charset="0"/>
                                      <a:cs typeface="DejaVu Math TeX Gyre" panose="02000503000000000000" charset="0"/>
                                    </a:rPr>
                                    <m:t>𝑗</m:t>
                                  </m:r>
                                  <m:r>
                                    <a:rPr lang="en-US" altLang="zh-CN" i="1">
                                      <a:latin typeface="DejaVu Math TeX Gyre" panose="02000503000000000000" charset="0"/>
                                      <a:cs typeface="DejaVu Math TeX Gyre" panose="02000503000000000000" charset="0"/>
                                    </a:rPr>
                                    <m:t>𝑜</m:t>
                                  </m:r>
                                </m:sub>
                                <m:sup>
                                  <m:r>
                                    <a:rPr lang="en-US" altLang="zh-CN" i="1">
                                      <a:latin typeface="DejaVu Math TeX Gyre" panose="02000503000000000000" charset="0"/>
                                      <a:cs typeface="DejaVu Math TeX Gyre" panose="02000503000000000000" charset="0"/>
                                    </a:rPr>
                                    <m:t>𝜃</m:t>
                                  </m:r>
                                </m:sup>
                              </m:sSubSup>
                            </m:e>
                          </m:nary>
                        </m:den>
                      </m:f>
                    </m:oMath>
                  </m:oMathPara>
                </a14:m>
                <a:endParaRPr lang="zh-CN" altLang="en-US"/>
              </a:p>
            </p:txBody>
          </p:sp>
        </mc:Choice>
        <mc:Fallback>
          <p:sp>
            <p:nvSpPr>
              <p:cNvPr id="4" name="文本框 3"/>
              <p:cNvSpPr txBox="1">
                <a:spLocks noRot="1" noChangeAspect="1" noMove="1" noResize="1" noEditPoints="1" noAdjustHandles="1" noChangeArrowheads="1" noChangeShapeType="1" noTextEdit="1"/>
              </p:cNvSpPr>
              <p:nvPr/>
            </p:nvSpPr>
            <p:spPr>
              <a:xfrm>
                <a:off x="5505069" y="2714879"/>
                <a:ext cx="2125980" cy="982345"/>
              </a:xfrm>
              <a:prstGeom prst="rect">
                <a:avLst/>
              </a:prstGeom>
              <a:blipFill rotWithShape="1">
                <a:blip r:embed="rId4"/>
                <a:stretch>
                  <a:fillRect l="-12" t="-26" r="12" b="26"/>
                </a:stretch>
              </a:blipFill>
            </p:spPr>
            <p:txBody>
              <a:bodyPr/>
              <a:lstStyle/>
              <a:p>
                <a:r>
                  <a:rPr lang="zh-CN"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834390"/>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个人与厂商如何联立成空间一般均衡？</a:t>
            </a:r>
            <a:endParaRPr sz="2500" b="1">
              <a:solidFill>
                <a:srgbClr val="2A272B"/>
              </a:solidFill>
              <a:latin typeface="微软雅黑"/>
            </a:endParaRPr>
          </a:p>
          <a:p>
            <a:pPr>
              <a:spcAft>
                <a:spcPts val="300"/>
              </a:spcAft>
            </a:pP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79" name="组合 78"/>
          <p:cNvGrpSpPr/>
          <p:nvPr/>
        </p:nvGrpSpPr>
        <p:grpSpPr>
          <a:xfrm>
            <a:off x="2080260" y="1216025"/>
            <a:ext cx="9235440" cy="1819910"/>
            <a:chOff x="3226" y="2390"/>
            <a:chExt cx="14544" cy="2866"/>
          </a:xfrm>
        </p:grpSpPr>
        <p:sp>
          <p:nvSpPr>
            <p:cNvPr id="55" name="Rectangle 54"/>
            <p:cNvSpPr/>
            <p:nvPr/>
          </p:nvSpPr>
          <p:spPr>
            <a:xfrm>
              <a:off x="3226" y="3902"/>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8" name="组合 77"/>
            <p:cNvGrpSpPr/>
            <p:nvPr/>
          </p:nvGrpSpPr>
          <p:grpSpPr>
            <a:xfrm>
              <a:off x="3226" y="2390"/>
              <a:ext cx="14544" cy="2866"/>
              <a:chOff x="3226" y="2390"/>
              <a:chExt cx="14544" cy="2866"/>
            </a:xfrm>
          </p:grpSpPr>
          <p:sp>
            <p:nvSpPr>
              <p:cNvPr id="49" name="Rectangle 48"/>
              <p:cNvSpPr/>
              <p:nvPr/>
            </p:nvSpPr>
            <p:spPr>
              <a:xfrm>
                <a:off x="3226" y="2390"/>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26" y="2390"/>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99" y="2693"/>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1</a:t>
                </a:r>
                <a:endParaRPr sz="1500" b="1">
                  <a:solidFill>
                    <a:srgbClr val="FFFFFF"/>
                  </a:solidFill>
                </a:endParaRPr>
              </a:p>
            </p:txBody>
          </p:sp>
          <p:sp>
            <p:nvSpPr>
              <p:cNvPr id="52" name="TextBox 51"/>
              <p:cNvSpPr txBox="1"/>
              <p:nvPr/>
            </p:nvSpPr>
            <p:spPr>
              <a:xfrm>
                <a:off x="4363" y="2592"/>
                <a:ext cx="3182" cy="446"/>
              </a:xfrm>
              <a:prstGeom prst="rect">
                <a:avLst/>
              </a:prstGeom>
              <a:noFill/>
            </p:spPr>
            <p:txBody>
              <a:bodyPr wrap="square" lIns="18288" tIns="18288" rIns="18288">
                <a:spAutoFit/>
              </a:bodyPr>
              <a:lstStyle/>
              <a:p>
                <a:r>
                  <a:rPr sz="1400" b="1">
                    <a:solidFill>
                      <a:srgbClr val="6E0875"/>
                    </a:solidFill>
                    <a:latin typeface="微软雅黑"/>
                  </a:rPr>
                  <a:t>① 算迁移份额</a:t>
                </a:r>
                <a:endParaRPr sz="1400" b="1">
                  <a:solidFill>
                    <a:srgbClr val="6E0875"/>
                  </a:solidFill>
                  <a:latin typeface="微软雅黑"/>
                </a:endParaRPr>
              </a:p>
            </p:txBody>
          </p:sp>
          <p:sp>
            <p:nvSpPr>
              <p:cNvPr id="56" name="Rectangle 55"/>
              <p:cNvSpPr/>
              <p:nvPr/>
            </p:nvSpPr>
            <p:spPr>
              <a:xfrm>
                <a:off x="3226" y="3902"/>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99" y="4205"/>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2</a:t>
                </a:r>
                <a:endParaRPr sz="1500" b="1">
                  <a:solidFill>
                    <a:srgbClr val="FFFFFF"/>
                  </a:solidFill>
                </a:endParaRPr>
              </a:p>
            </p:txBody>
          </p:sp>
          <p:sp>
            <p:nvSpPr>
              <p:cNvPr id="58" name="TextBox 57"/>
              <p:cNvSpPr txBox="1"/>
              <p:nvPr/>
            </p:nvSpPr>
            <p:spPr>
              <a:xfrm>
                <a:off x="4363" y="4104"/>
                <a:ext cx="3182" cy="446"/>
              </a:xfrm>
              <a:prstGeom prst="rect">
                <a:avLst/>
              </a:prstGeom>
              <a:noFill/>
            </p:spPr>
            <p:txBody>
              <a:bodyPr wrap="square" lIns="18288" tIns="18288" rIns="18288">
                <a:spAutoFit/>
              </a:bodyPr>
              <a:lstStyle/>
              <a:p>
                <a:r>
                  <a:rPr sz="1400" b="1">
                    <a:solidFill>
                      <a:srgbClr val="6E0875"/>
                    </a:solidFill>
                    <a:latin typeface="微软雅黑"/>
                  </a:rPr>
                  <a:t>② 算人数与有效劳动</a:t>
                </a:r>
                <a:endParaRPr sz="1400" b="1">
                  <a:solidFill>
                    <a:srgbClr val="6E0875"/>
                  </a:solidFill>
                  <a:latin typeface="微软雅黑"/>
                </a:endParaRPr>
              </a:p>
            </p:txBody>
          </p:sp>
          <p:sp>
            <p:nvSpPr>
              <p:cNvPr id="59" name="TextBox 58"/>
              <p:cNvSpPr txBox="1"/>
              <p:nvPr/>
            </p:nvSpPr>
            <p:spPr>
              <a:xfrm>
                <a:off x="7603" y="4032"/>
                <a:ext cx="9662" cy="402"/>
              </a:xfrm>
              <a:prstGeom prst="rect">
                <a:avLst/>
              </a:prstGeom>
              <a:noFill/>
            </p:spPr>
            <p:txBody>
              <a:bodyPr wrap="square" lIns="18288" tIns="18288" rIns="18288">
                <a:spAutoFit/>
              </a:bodyPr>
              <a:lstStyle/>
              <a:p>
                <a:r>
                  <a:rPr sz="1250" b="0">
                    <a:solidFill>
                      <a:srgbClr val="242424"/>
                    </a:solidFill>
                    <a:latin typeface="微软雅黑"/>
                  </a:rPr>
                  <a:t>地区 d 的人口：</a:t>
                </a:r>
                <a:endParaRPr sz="1250" b="0">
                  <a:solidFill>
                    <a:srgbClr val="242424"/>
                  </a:solidFill>
                  <a:latin typeface="微软雅黑"/>
                </a:endParaRPr>
              </a:p>
            </p:txBody>
          </p:sp>
          <mc:AlternateContent xmlns:mc="http://schemas.openxmlformats.org/markup-compatibility/2006">
            <mc:Choice xmlns:a14="http://schemas.microsoft.com/office/drawing/2010/main" Requires="a14">
              <p:sp>
                <p:nvSpPr>
                  <p:cNvPr id="60" name="TextBox 59"/>
                  <p:cNvSpPr txBox="1"/>
                  <p:nvPr/>
                </p:nvSpPr>
                <p:spPr>
                  <a:xfrm>
                    <a:off x="7603" y="4608"/>
                    <a:ext cx="9720" cy="404"/>
                  </a:xfrm>
                  <a:prstGeom prst="rect">
                    <a:avLst/>
                  </a:prstGeom>
                  <a:noFill/>
                </p:spPr>
                <p:txBody>
                  <a:bodyPr wrap="square" lIns="18288" tIns="18288" rIns="18288">
                    <a:spAutoFit/>
                  </a:bodyPr>
                  <a:lstStyle/>
                  <a:p>
                    <a:r>
                      <a:rPr sz="1250" b="0">
                        <a:solidFill>
                          <a:srgbClr val="242424"/>
                        </a:solidFill>
                        <a:latin typeface="微软雅黑"/>
                      </a:rPr>
                      <a:t>有效劳动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𝐻</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：按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𝐿</m:t>
                            </m:r>
                          </m:e>
                          <m:sub>
                            <m:r>
                              <a:rPr lang="en-US" sz="1250" i="1">
                                <a:solidFill>
                                  <a:srgbClr val="242424"/>
                                </a:solidFill>
                                <a:latin typeface="DejaVu Math TeX Gyre" panose="02000503000000000000" charset="0"/>
                                <a:cs typeface="DejaVu Math TeX Gyre" panose="02000503000000000000" charset="0"/>
                              </a:rPr>
                              <m:t>𝑜</m:t>
                            </m:r>
                          </m:sub>
                        </m:sSub>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𝑜𝑑</m:t>
                            </m:r>
                          </m:sub>
                        </m:sSub>
                      </m:oMath>
                    </a14:m>
                    <a:r>
                      <a:rPr sz="1250" b="0">
                        <a:solidFill>
                          <a:srgbClr val="242424"/>
                        </a:solidFill>
                        <a:latin typeface="微软雅黑"/>
                      </a:rPr>
                      <a:t> 计算各群体人数，再乘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𝑞</m:t>
                            </m:r>
                          </m:e>
                          <m:sub>
                            <m:r>
                              <a:rPr lang="en-US" sz="1250" i="1">
                                <a:solidFill>
                                  <a:srgbClr val="242424"/>
                                </a:solidFill>
                                <a:latin typeface="DejaVu Math TeX Gyre" panose="02000503000000000000" charset="0"/>
                                <a:cs typeface="DejaVu Math TeX Gyre" panose="02000503000000000000" charset="0"/>
                              </a:rPr>
                              <m:t>𝑜</m:t>
                            </m:r>
                          </m:sub>
                        </m:sSub>
                      </m:oMath>
                    </a14:m>
                    <a:r>
                      <a:rPr sz="1250" b="0">
                        <a:solidFill>
                          <a:srgbClr val="242424"/>
                        </a:solidFill>
                        <a:latin typeface="微软雅黑"/>
                      </a:rPr>
                      <a:t> 与该群体平均技能并汇总。</a:t>
                    </a:r>
                    <a:endParaRPr sz="1250" b="0">
                      <a:solidFill>
                        <a:srgbClr val="242424"/>
                      </a:solidFill>
                      <a:latin typeface="微软雅黑"/>
                    </a:endParaRPr>
                  </a:p>
                </p:txBody>
              </p:sp>
            </mc:Choice>
            <mc:Fallback>
              <p:sp>
                <p:nvSpPr>
                  <p:cNvPr id="60" name="TextBox 59"/>
                  <p:cNvSpPr txBox="1">
                    <a:spLocks noRot="1" noChangeAspect="1" noMove="1" noResize="1" noEditPoints="1" noAdjustHandles="1" noChangeArrowheads="1" noChangeShapeType="1" noTextEdit="1"/>
                  </p:cNvSpPr>
                  <p:nvPr/>
                </p:nvSpPr>
                <p:spPr>
                  <a:xfrm>
                    <a:off x="7603" y="4608"/>
                    <a:ext cx="9720" cy="404"/>
                  </a:xfrm>
                  <a:prstGeom prst="rect">
                    <a:avLst/>
                  </a:prstGeom>
                  <a:blipFill rotWithShape="1">
                    <a:blip r:embed="rId1"/>
                  </a:blipFill>
                </p:spPr>
                <p:txBody>
                  <a:bodyPr/>
                  <a:lstStyle/>
                  <a:p>
                    <a:r>
                      <a:rPr lang="zh-CN" altLang="en-US">
                        <a:noFill/>
                      </a:rPr>
                      <a:t> </a:t>
                    </a:r>
                  </a:p>
                </p:txBody>
              </p:sp>
            </mc:Fallback>
          </mc:AlternateContent>
        </p:grpSp>
      </p:grpSp>
      <mc:AlternateContent xmlns:mc="http://schemas.openxmlformats.org/markup-compatibility/2006">
        <mc:Choice xmlns:a14="http://schemas.microsoft.com/office/drawing/2010/main" Requires="a14">
          <p:sp>
            <p:nvSpPr>
              <p:cNvPr id="5" name="TextBox 52"/>
              <p:cNvSpPr txBox="1"/>
              <p:nvPr/>
            </p:nvSpPr>
            <p:spPr>
              <a:xfrm>
                <a:off x="4859655" y="1298575"/>
                <a:ext cx="6135370" cy="292100"/>
              </a:xfrm>
              <a:prstGeom prst="rect">
                <a:avLst/>
              </a:prstGeom>
              <a:noFill/>
            </p:spPr>
            <p:txBody>
              <a:bodyPr wrap="square" lIns="18288" tIns="18288" rIns="18288">
                <a:spAutoFit/>
              </a:bodyPr>
              <a:lstStyle/>
              <a:p>
                <a:r>
                  <a:rPr sz="1250" b="0">
                    <a:solidFill>
                      <a:srgbClr val="242424"/>
                    </a:solidFill>
                    <a:latin typeface="微软雅黑"/>
                  </a:rPr>
                  <a:t>已知：工资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𝜔</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、宜居性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𝛼</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、迁移成本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𝜏</m:t>
                        </m:r>
                      </m:e>
                      <m:sub>
                        <m:r>
                          <a:rPr lang="en-US" sz="1250" b="0" i="1">
                            <a:solidFill>
                              <a:srgbClr val="242424"/>
                            </a:solidFill>
                            <a:latin typeface="DejaVu Math TeX Gyre" panose="02000503000000000000" charset="0"/>
                            <a:cs typeface="DejaVu Math TeX Gyre" panose="02000503000000000000" charset="0"/>
                          </a:rPr>
                          <m:t>𝑑𝑜</m:t>
                        </m:r>
                      </m:sub>
                    </m:sSub>
                  </m:oMath>
                </a14:m>
                <a:r>
                  <a:rPr sz="1250" b="0">
                    <a:solidFill>
                      <a:srgbClr val="242424"/>
                    </a:solidFill>
                    <a:latin typeface="微软雅黑"/>
                  </a:rPr>
                  <a:t>，以及技能分选参数</a:t>
                </a:r>
                <a14:m>
                  <m:oMath xmlns:m="http://schemas.openxmlformats.org/officeDocument/2006/math">
                    <m:r>
                      <a:rPr lang="en-US" sz="1250" b="0">
                        <a:solidFill>
                          <a:srgbClr val="242424"/>
                        </a:solidFill>
                        <a:latin typeface="DejaVu Math TeX Gyre" panose="02000503000000000000" charset="0"/>
                        <a:cs typeface="DejaVu Math TeX Gyre" panose="02000503000000000000" charset="0"/>
                      </a:rPr>
                      <m:t> </m:t>
                    </m:r>
                    <m:r>
                      <m:rPr>
                        <m:sty m:val="p"/>
                      </m:rPr>
                      <a:rPr lang="en-US" sz="1250" b="0">
                        <a:solidFill>
                          <a:srgbClr val="242424"/>
                        </a:solidFill>
                        <a:latin typeface="DejaVu Math TeX Gyre" panose="02000503000000000000" charset="0"/>
                        <a:cs typeface="DejaVu Math TeX Gyre" panose="02000503000000000000" charset="0"/>
                      </a:rPr>
                      <m:t>θ</m:t>
                    </m:r>
                  </m:oMath>
                </a14:m>
                <a:endParaRPr sz="1250" b="0">
                  <a:solidFill>
                    <a:srgbClr val="242424"/>
                  </a:solidFill>
                  <a:latin typeface="微软雅黑"/>
                </a:endParaRPr>
              </a:p>
            </p:txBody>
          </p:sp>
        </mc:Choice>
        <mc:Fallback>
          <p:sp>
            <p:nvSpPr>
              <p:cNvPr id="5" name="TextBox 52"/>
              <p:cNvSpPr txBox="1">
                <a:spLocks noRot="1" noChangeAspect="1" noMove="1" noResize="1" noEditPoints="1" noAdjustHandles="1" noChangeArrowheads="1" noChangeShapeType="1" noTextEdit="1"/>
              </p:cNvSpPr>
              <p:nvPr/>
            </p:nvSpPr>
            <p:spPr>
              <a:xfrm>
                <a:off x="4859655" y="1298575"/>
                <a:ext cx="6135370" cy="2921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3"/>
              <p:cNvSpPr txBox="1"/>
              <p:nvPr/>
            </p:nvSpPr>
            <p:spPr>
              <a:xfrm>
                <a:off x="4859655" y="1664335"/>
                <a:ext cx="6172200" cy="255905"/>
              </a:xfrm>
              <a:prstGeom prst="rect">
                <a:avLst/>
              </a:prstGeom>
              <a:noFill/>
            </p:spPr>
            <p:txBody>
              <a:bodyPr wrap="square" lIns="18288" tIns="18288" rIns="18288">
                <a:spAutoFit/>
              </a:bodyPr>
              <a:lstStyle/>
              <a:p>
                <a:r>
                  <a:rPr sz="1250" b="0">
                    <a:solidFill>
                      <a:srgbClr val="242424"/>
                    </a:solidFill>
                    <a:latin typeface="微软雅黑"/>
                  </a:rPr>
                  <a:t>代入迁移份额方程→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𝑑𝑜</m:t>
                        </m:r>
                      </m:sub>
                    </m:sSub>
                  </m:oMath>
                </a14:m>
                <a:endParaRPr sz="1250" b="0">
                  <a:solidFill>
                    <a:srgbClr val="242424"/>
                  </a:solidFill>
                  <a:latin typeface="微软雅黑"/>
                </a:endParaRPr>
              </a:p>
            </p:txBody>
          </p:sp>
        </mc:Choice>
        <mc:Fallback>
          <p:sp>
            <p:nvSpPr>
              <p:cNvPr id="6" name="TextBox 53"/>
              <p:cNvSpPr txBox="1">
                <a:spLocks noRot="1" noChangeAspect="1" noMove="1" noResize="1" noEditPoints="1" noAdjustHandles="1" noChangeArrowheads="1" noChangeShapeType="1" noTextEdit="1"/>
              </p:cNvSpPr>
              <p:nvPr/>
            </p:nvSpPr>
            <p:spPr>
              <a:xfrm>
                <a:off x="4859655" y="1664335"/>
                <a:ext cx="6172200" cy="25590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94" descr="wpsoffice"/>
          <p:cNvPicPr>
            <a:picLocks noChangeAspect="1"/>
          </p:cNvPicPr>
          <p:nvPr/>
        </p:nvPicPr>
        <p:blipFill>
          <a:blip r:embed="rId4"/>
          <a:stretch>
            <a:fillRect/>
          </a:stretch>
        </p:blipFill>
        <p:spPr>
          <a:xfrm>
            <a:off x="6075045" y="2258695"/>
            <a:ext cx="1249045" cy="41338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834390"/>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个人与厂商如何联立成空间一般均衡？</a:t>
            </a:r>
            <a:endParaRPr sz="2500" b="1">
              <a:solidFill>
                <a:srgbClr val="2A272B"/>
              </a:solidFill>
              <a:latin typeface="微软雅黑"/>
            </a:endParaRPr>
          </a:p>
          <a:p>
            <a:pPr>
              <a:spcAft>
                <a:spcPts val="300"/>
              </a:spcAft>
            </a:pP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79" name="组合 78"/>
          <p:cNvGrpSpPr/>
          <p:nvPr/>
        </p:nvGrpSpPr>
        <p:grpSpPr>
          <a:xfrm>
            <a:off x="2080260" y="1216025"/>
            <a:ext cx="9235440" cy="1819910"/>
            <a:chOff x="3226" y="2390"/>
            <a:chExt cx="14544" cy="2866"/>
          </a:xfrm>
        </p:grpSpPr>
        <p:sp>
          <p:nvSpPr>
            <p:cNvPr id="55" name="Rectangle 54"/>
            <p:cNvSpPr/>
            <p:nvPr/>
          </p:nvSpPr>
          <p:spPr>
            <a:xfrm>
              <a:off x="3226" y="3902"/>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8" name="组合 77"/>
            <p:cNvGrpSpPr/>
            <p:nvPr/>
          </p:nvGrpSpPr>
          <p:grpSpPr>
            <a:xfrm>
              <a:off x="3226" y="2390"/>
              <a:ext cx="14544" cy="2866"/>
              <a:chOff x="3226" y="2390"/>
              <a:chExt cx="14544" cy="2866"/>
            </a:xfrm>
          </p:grpSpPr>
          <p:sp>
            <p:nvSpPr>
              <p:cNvPr id="49" name="Rectangle 48"/>
              <p:cNvSpPr/>
              <p:nvPr/>
            </p:nvSpPr>
            <p:spPr>
              <a:xfrm>
                <a:off x="3226" y="2390"/>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26" y="2390"/>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99" y="2693"/>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1</a:t>
                </a:r>
                <a:endParaRPr sz="1500" b="1">
                  <a:solidFill>
                    <a:srgbClr val="FFFFFF"/>
                  </a:solidFill>
                </a:endParaRPr>
              </a:p>
            </p:txBody>
          </p:sp>
          <p:sp>
            <p:nvSpPr>
              <p:cNvPr id="52" name="TextBox 51"/>
              <p:cNvSpPr txBox="1"/>
              <p:nvPr/>
            </p:nvSpPr>
            <p:spPr>
              <a:xfrm>
                <a:off x="4363" y="2592"/>
                <a:ext cx="3182" cy="446"/>
              </a:xfrm>
              <a:prstGeom prst="rect">
                <a:avLst/>
              </a:prstGeom>
              <a:noFill/>
            </p:spPr>
            <p:txBody>
              <a:bodyPr wrap="square" lIns="18288" tIns="18288" rIns="18288">
                <a:spAutoFit/>
              </a:bodyPr>
              <a:lstStyle/>
              <a:p>
                <a:r>
                  <a:rPr sz="1400" b="1">
                    <a:solidFill>
                      <a:srgbClr val="6E0875"/>
                    </a:solidFill>
                    <a:latin typeface="微软雅黑"/>
                  </a:rPr>
                  <a:t>① 算迁移份额</a:t>
                </a:r>
                <a:endParaRPr sz="1400" b="1">
                  <a:solidFill>
                    <a:srgbClr val="6E0875"/>
                  </a:solidFill>
                  <a:latin typeface="微软雅黑"/>
                </a:endParaRPr>
              </a:p>
            </p:txBody>
          </p:sp>
          <p:sp>
            <p:nvSpPr>
              <p:cNvPr id="56" name="Rectangle 55"/>
              <p:cNvSpPr/>
              <p:nvPr/>
            </p:nvSpPr>
            <p:spPr>
              <a:xfrm>
                <a:off x="3226" y="3902"/>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99" y="4205"/>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2</a:t>
                </a:r>
                <a:endParaRPr sz="1500" b="1">
                  <a:solidFill>
                    <a:srgbClr val="FFFFFF"/>
                  </a:solidFill>
                </a:endParaRPr>
              </a:p>
            </p:txBody>
          </p:sp>
          <p:sp>
            <p:nvSpPr>
              <p:cNvPr id="58" name="TextBox 57"/>
              <p:cNvSpPr txBox="1"/>
              <p:nvPr/>
            </p:nvSpPr>
            <p:spPr>
              <a:xfrm>
                <a:off x="4363" y="4104"/>
                <a:ext cx="3182" cy="446"/>
              </a:xfrm>
              <a:prstGeom prst="rect">
                <a:avLst/>
              </a:prstGeom>
              <a:noFill/>
            </p:spPr>
            <p:txBody>
              <a:bodyPr wrap="square" lIns="18288" tIns="18288" rIns="18288">
                <a:spAutoFit/>
              </a:bodyPr>
              <a:lstStyle/>
              <a:p>
                <a:r>
                  <a:rPr sz="1400" b="1">
                    <a:solidFill>
                      <a:srgbClr val="6E0875"/>
                    </a:solidFill>
                    <a:latin typeface="微软雅黑"/>
                  </a:rPr>
                  <a:t>② 算人数与有效劳动</a:t>
                </a:r>
                <a:endParaRPr sz="1400" b="1">
                  <a:solidFill>
                    <a:srgbClr val="6E0875"/>
                  </a:solidFill>
                  <a:latin typeface="微软雅黑"/>
                </a:endParaRPr>
              </a:p>
            </p:txBody>
          </p:sp>
          <p:sp>
            <p:nvSpPr>
              <p:cNvPr id="59" name="TextBox 58"/>
              <p:cNvSpPr txBox="1"/>
              <p:nvPr/>
            </p:nvSpPr>
            <p:spPr>
              <a:xfrm>
                <a:off x="7603" y="4032"/>
                <a:ext cx="9662" cy="402"/>
              </a:xfrm>
              <a:prstGeom prst="rect">
                <a:avLst/>
              </a:prstGeom>
              <a:noFill/>
            </p:spPr>
            <p:txBody>
              <a:bodyPr wrap="square" lIns="18288" tIns="18288" rIns="18288">
                <a:spAutoFit/>
              </a:bodyPr>
              <a:lstStyle/>
              <a:p>
                <a:r>
                  <a:rPr sz="1250" b="0">
                    <a:solidFill>
                      <a:srgbClr val="242424"/>
                    </a:solidFill>
                    <a:latin typeface="微软雅黑"/>
                  </a:rPr>
                  <a:t>地区 d 的人口：</a:t>
                </a:r>
                <a:endParaRPr sz="1250" b="0">
                  <a:solidFill>
                    <a:srgbClr val="242424"/>
                  </a:solidFill>
                  <a:latin typeface="微软雅黑"/>
                </a:endParaRPr>
              </a:p>
            </p:txBody>
          </p:sp>
          <mc:AlternateContent xmlns:mc="http://schemas.openxmlformats.org/markup-compatibility/2006">
            <mc:Choice xmlns:a14="http://schemas.microsoft.com/office/drawing/2010/main" Requires="a14">
              <p:sp>
                <p:nvSpPr>
                  <p:cNvPr id="60" name="TextBox 59"/>
                  <p:cNvSpPr txBox="1"/>
                  <p:nvPr/>
                </p:nvSpPr>
                <p:spPr>
                  <a:xfrm>
                    <a:off x="7603" y="4608"/>
                    <a:ext cx="9720" cy="404"/>
                  </a:xfrm>
                  <a:prstGeom prst="rect">
                    <a:avLst/>
                  </a:prstGeom>
                  <a:noFill/>
                </p:spPr>
                <p:txBody>
                  <a:bodyPr wrap="square" lIns="18288" tIns="18288" rIns="18288">
                    <a:spAutoFit/>
                  </a:bodyPr>
                  <a:lstStyle/>
                  <a:p>
                    <a:r>
                      <a:rPr sz="1250" b="0">
                        <a:solidFill>
                          <a:srgbClr val="242424"/>
                        </a:solidFill>
                        <a:latin typeface="微软雅黑"/>
                      </a:rPr>
                      <a:t>有效劳动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𝐻</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：按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𝐿</m:t>
                            </m:r>
                          </m:e>
                          <m:sub>
                            <m:r>
                              <a:rPr lang="en-US" sz="1250" i="1">
                                <a:solidFill>
                                  <a:srgbClr val="242424"/>
                                </a:solidFill>
                                <a:latin typeface="DejaVu Math TeX Gyre" panose="02000503000000000000" charset="0"/>
                                <a:cs typeface="DejaVu Math TeX Gyre" panose="02000503000000000000" charset="0"/>
                              </a:rPr>
                              <m:t>𝑜</m:t>
                            </m:r>
                          </m:sub>
                        </m:sSub>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𝑜𝑑</m:t>
                            </m:r>
                          </m:sub>
                        </m:sSub>
                      </m:oMath>
                    </a14:m>
                    <a:r>
                      <a:rPr sz="1250" b="0">
                        <a:solidFill>
                          <a:srgbClr val="242424"/>
                        </a:solidFill>
                        <a:latin typeface="微软雅黑"/>
                      </a:rPr>
                      <a:t> 计算各群体人数，再乘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𝑞</m:t>
                            </m:r>
                          </m:e>
                          <m:sub>
                            <m:r>
                              <a:rPr lang="en-US" sz="1250" i="1">
                                <a:solidFill>
                                  <a:srgbClr val="242424"/>
                                </a:solidFill>
                                <a:latin typeface="DejaVu Math TeX Gyre" panose="02000503000000000000" charset="0"/>
                                <a:cs typeface="DejaVu Math TeX Gyre" panose="02000503000000000000" charset="0"/>
                              </a:rPr>
                              <m:t>𝑜</m:t>
                            </m:r>
                          </m:sub>
                        </m:sSub>
                      </m:oMath>
                    </a14:m>
                    <a:r>
                      <a:rPr sz="1250" b="0">
                        <a:solidFill>
                          <a:srgbClr val="242424"/>
                        </a:solidFill>
                        <a:latin typeface="微软雅黑"/>
                      </a:rPr>
                      <a:t> 与该群体平均技能并汇总。</a:t>
                    </a:r>
                    <a:endParaRPr sz="1250" b="0">
                      <a:solidFill>
                        <a:srgbClr val="242424"/>
                      </a:solidFill>
                      <a:latin typeface="微软雅黑"/>
                    </a:endParaRPr>
                  </a:p>
                </p:txBody>
              </p:sp>
            </mc:Choice>
            <mc:Fallback>
              <p:sp>
                <p:nvSpPr>
                  <p:cNvPr id="60" name="TextBox 59"/>
                  <p:cNvSpPr txBox="1">
                    <a:spLocks noRot="1" noChangeAspect="1" noMove="1" noResize="1" noEditPoints="1" noAdjustHandles="1" noChangeArrowheads="1" noChangeShapeType="1" noTextEdit="1"/>
                  </p:cNvSpPr>
                  <p:nvPr/>
                </p:nvSpPr>
                <p:spPr>
                  <a:xfrm>
                    <a:off x="7603" y="4608"/>
                    <a:ext cx="9720" cy="404"/>
                  </a:xfrm>
                  <a:prstGeom prst="rect">
                    <a:avLst/>
                  </a:prstGeom>
                  <a:blipFill rotWithShape="1">
                    <a:blip r:embed="rId1"/>
                  </a:blipFill>
                </p:spPr>
                <p:txBody>
                  <a:bodyPr/>
                  <a:lstStyle/>
                  <a:p>
                    <a:r>
                      <a:rPr lang="zh-CN" altLang="en-US">
                        <a:noFill/>
                      </a:rPr>
                      <a:t> </a:t>
                    </a:r>
                  </a:p>
                </p:txBody>
              </p:sp>
            </mc:Fallback>
          </mc:AlternateContent>
        </p:grpSp>
      </p:grpSp>
      <mc:AlternateContent xmlns:mc="http://schemas.openxmlformats.org/markup-compatibility/2006">
        <mc:Choice xmlns:a14="http://schemas.microsoft.com/office/drawing/2010/main" Requires="a14">
          <p:sp>
            <p:nvSpPr>
              <p:cNvPr id="5" name="TextBox 52"/>
              <p:cNvSpPr txBox="1"/>
              <p:nvPr/>
            </p:nvSpPr>
            <p:spPr>
              <a:xfrm>
                <a:off x="4859655" y="1298575"/>
                <a:ext cx="6135370" cy="292100"/>
              </a:xfrm>
              <a:prstGeom prst="rect">
                <a:avLst/>
              </a:prstGeom>
              <a:noFill/>
            </p:spPr>
            <p:txBody>
              <a:bodyPr wrap="square" lIns="18288" tIns="18288" rIns="18288">
                <a:spAutoFit/>
              </a:bodyPr>
              <a:lstStyle/>
              <a:p>
                <a:r>
                  <a:rPr sz="1250" b="0">
                    <a:solidFill>
                      <a:srgbClr val="242424"/>
                    </a:solidFill>
                    <a:latin typeface="微软雅黑"/>
                  </a:rPr>
                  <a:t>已知：工资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𝜔</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、宜居性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𝛼</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、迁移成本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𝜏</m:t>
                        </m:r>
                      </m:e>
                      <m:sub>
                        <m:r>
                          <a:rPr lang="en-US" sz="1250" b="0" i="1">
                            <a:solidFill>
                              <a:srgbClr val="242424"/>
                            </a:solidFill>
                            <a:latin typeface="DejaVu Math TeX Gyre" panose="02000503000000000000" charset="0"/>
                            <a:cs typeface="DejaVu Math TeX Gyre" panose="02000503000000000000" charset="0"/>
                          </a:rPr>
                          <m:t>𝑑𝑜</m:t>
                        </m:r>
                      </m:sub>
                    </m:sSub>
                  </m:oMath>
                </a14:m>
                <a:r>
                  <a:rPr sz="1250" b="0">
                    <a:solidFill>
                      <a:srgbClr val="242424"/>
                    </a:solidFill>
                    <a:latin typeface="微软雅黑"/>
                  </a:rPr>
                  <a:t>，以及技能分选参数</a:t>
                </a:r>
                <a14:m>
                  <m:oMath xmlns:m="http://schemas.openxmlformats.org/officeDocument/2006/math">
                    <m:r>
                      <a:rPr lang="en-US" sz="1250" b="0">
                        <a:solidFill>
                          <a:srgbClr val="242424"/>
                        </a:solidFill>
                        <a:latin typeface="DejaVu Math TeX Gyre" panose="02000503000000000000" charset="0"/>
                        <a:cs typeface="DejaVu Math TeX Gyre" panose="02000503000000000000" charset="0"/>
                      </a:rPr>
                      <m:t> </m:t>
                    </m:r>
                    <m:r>
                      <m:rPr>
                        <m:sty m:val="p"/>
                      </m:rPr>
                      <a:rPr lang="en-US" sz="1250" b="0">
                        <a:solidFill>
                          <a:srgbClr val="242424"/>
                        </a:solidFill>
                        <a:latin typeface="DejaVu Math TeX Gyre" panose="02000503000000000000" charset="0"/>
                        <a:cs typeface="DejaVu Math TeX Gyre" panose="02000503000000000000" charset="0"/>
                      </a:rPr>
                      <m:t>θ</m:t>
                    </m:r>
                  </m:oMath>
                </a14:m>
                <a:endParaRPr sz="1250" b="0">
                  <a:solidFill>
                    <a:srgbClr val="242424"/>
                  </a:solidFill>
                  <a:latin typeface="微软雅黑"/>
                </a:endParaRPr>
              </a:p>
            </p:txBody>
          </p:sp>
        </mc:Choice>
        <mc:Fallback>
          <p:sp>
            <p:nvSpPr>
              <p:cNvPr id="5" name="TextBox 52"/>
              <p:cNvSpPr txBox="1">
                <a:spLocks noRot="1" noChangeAspect="1" noMove="1" noResize="1" noEditPoints="1" noAdjustHandles="1" noChangeArrowheads="1" noChangeShapeType="1" noTextEdit="1"/>
              </p:cNvSpPr>
              <p:nvPr/>
            </p:nvSpPr>
            <p:spPr>
              <a:xfrm>
                <a:off x="4859655" y="1298575"/>
                <a:ext cx="6135370" cy="2921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3"/>
              <p:cNvSpPr txBox="1"/>
              <p:nvPr/>
            </p:nvSpPr>
            <p:spPr>
              <a:xfrm>
                <a:off x="4859655" y="1664335"/>
                <a:ext cx="6172200" cy="255905"/>
              </a:xfrm>
              <a:prstGeom prst="rect">
                <a:avLst/>
              </a:prstGeom>
              <a:noFill/>
            </p:spPr>
            <p:txBody>
              <a:bodyPr wrap="square" lIns="18288" tIns="18288" rIns="18288">
                <a:spAutoFit/>
              </a:bodyPr>
              <a:lstStyle/>
              <a:p>
                <a:r>
                  <a:rPr sz="1250" b="0">
                    <a:solidFill>
                      <a:srgbClr val="242424"/>
                    </a:solidFill>
                    <a:latin typeface="微软雅黑"/>
                  </a:rPr>
                  <a:t>代入迁移份额方程→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𝑑𝑜</m:t>
                        </m:r>
                      </m:sub>
                    </m:sSub>
                  </m:oMath>
                </a14:m>
                <a:endParaRPr sz="1250" b="0">
                  <a:solidFill>
                    <a:srgbClr val="242424"/>
                  </a:solidFill>
                  <a:latin typeface="微软雅黑"/>
                </a:endParaRPr>
              </a:p>
            </p:txBody>
          </p:sp>
        </mc:Choice>
        <mc:Fallback>
          <p:sp>
            <p:nvSpPr>
              <p:cNvPr id="6" name="TextBox 53"/>
              <p:cNvSpPr txBox="1">
                <a:spLocks noRot="1" noChangeAspect="1" noMove="1" noResize="1" noEditPoints="1" noAdjustHandles="1" noChangeArrowheads="1" noChangeShapeType="1" noTextEdit="1"/>
              </p:cNvSpPr>
              <p:nvPr/>
            </p:nvSpPr>
            <p:spPr>
              <a:xfrm>
                <a:off x="4859655" y="1664335"/>
                <a:ext cx="6172200" cy="25590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95" descr="wpsoffice"/>
          <p:cNvPicPr>
            <a:picLocks noChangeAspect="1"/>
          </p:cNvPicPr>
          <p:nvPr/>
        </p:nvPicPr>
        <p:blipFill>
          <a:blip r:embed="rId4"/>
          <a:stretch>
            <a:fillRect/>
          </a:stretch>
        </p:blipFill>
        <p:spPr>
          <a:xfrm>
            <a:off x="6075045" y="2258695"/>
            <a:ext cx="1249045" cy="413385"/>
          </a:xfrm>
          <a:prstGeom prst="rect">
            <a:avLst/>
          </a:prstGeom>
        </p:spPr>
      </p:pic>
      <p:pic>
        <p:nvPicPr>
          <p:cNvPr id="8" name="334E55B0-647D-440b-865C-3EC943EB4CBC-96" descr="wpsoffice"/>
          <p:cNvPicPr>
            <a:picLocks noChangeAspect="1"/>
          </p:cNvPicPr>
          <p:nvPr/>
        </p:nvPicPr>
        <p:blipFill>
          <a:blip r:embed="rId5"/>
          <a:stretch>
            <a:fillRect/>
          </a:stretch>
        </p:blipFill>
        <p:spPr>
          <a:xfrm>
            <a:off x="5248910" y="3181985"/>
            <a:ext cx="2670175" cy="37084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834390"/>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个人与厂商如何联立成空间一般均衡？</a:t>
            </a:r>
            <a:endParaRPr sz="2500" b="1">
              <a:solidFill>
                <a:srgbClr val="2A272B"/>
              </a:solidFill>
              <a:latin typeface="微软雅黑"/>
            </a:endParaRPr>
          </a:p>
          <a:p>
            <a:pPr>
              <a:spcAft>
                <a:spcPts val="300"/>
              </a:spcAft>
            </a:pP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79" name="组合 78"/>
          <p:cNvGrpSpPr/>
          <p:nvPr/>
        </p:nvGrpSpPr>
        <p:grpSpPr>
          <a:xfrm>
            <a:off x="2080260" y="1216025"/>
            <a:ext cx="9235440" cy="1819910"/>
            <a:chOff x="3226" y="2390"/>
            <a:chExt cx="14544" cy="2866"/>
          </a:xfrm>
        </p:grpSpPr>
        <p:sp>
          <p:nvSpPr>
            <p:cNvPr id="55" name="Rectangle 54"/>
            <p:cNvSpPr/>
            <p:nvPr/>
          </p:nvSpPr>
          <p:spPr>
            <a:xfrm>
              <a:off x="3226" y="3902"/>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8" name="组合 77"/>
            <p:cNvGrpSpPr/>
            <p:nvPr/>
          </p:nvGrpSpPr>
          <p:grpSpPr>
            <a:xfrm>
              <a:off x="3226" y="2390"/>
              <a:ext cx="14544" cy="2866"/>
              <a:chOff x="3226" y="2390"/>
              <a:chExt cx="14544" cy="2866"/>
            </a:xfrm>
          </p:grpSpPr>
          <p:sp>
            <p:nvSpPr>
              <p:cNvPr id="49" name="Rectangle 48"/>
              <p:cNvSpPr/>
              <p:nvPr/>
            </p:nvSpPr>
            <p:spPr>
              <a:xfrm>
                <a:off x="3226" y="2390"/>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26" y="2390"/>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99" y="2693"/>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1</a:t>
                </a:r>
                <a:endParaRPr sz="1500" b="1">
                  <a:solidFill>
                    <a:srgbClr val="FFFFFF"/>
                  </a:solidFill>
                </a:endParaRPr>
              </a:p>
            </p:txBody>
          </p:sp>
          <p:sp>
            <p:nvSpPr>
              <p:cNvPr id="52" name="TextBox 51"/>
              <p:cNvSpPr txBox="1"/>
              <p:nvPr/>
            </p:nvSpPr>
            <p:spPr>
              <a:xfrm>
                <a:off x="4363" y="2592"/>
                <a:ext cx="3182" cy="446"/>
              </a:xfrm>
              <a:prstGeom prst="rect">
                <a:avLst/>
              </a:prstGeom>
              <a:noFill/>
            </p:spPr>
            <p:txBody>
              <a:bodyPr wrap="square" lIns="18288" tIns="18288" rIns="18288">
                <a:spAutoFit/>
              </a:bodyPr>
              <a:lstStyle/>
              <a:p>
                <a:r>
                  <a:rPr sz="1400" b="1">
                    <a:solidFill>
                      <a:srgbClr val="6E0875"/>
                    </a:solidFill>
                    <a:latin typeface="微软雅黑"/>
                  </a:rPr>
                  <a:t>① 算迁移份额</a:t>
                </a:r>
                <a:endParaRPr sz="1400" b="1">
                  <a:solidFill>
                    <a:srgbClr val="6E0875"/>
                  </a:solidFill>
                  <a:latin typeface="微软雅黑"/>
                </a:endParaRPr>
              </a:p>
            </p:txBody>
          </p:sp>
          <p:sp>
            <p:nvSpPr>
              <p:cNvPr id="56" name="Rectangle 55"/>
              <p:cNvSpPr/>
              <p:nvPr/>
            </p:nvSpPr>
            <p:spPr>
              <a:xfrm>
                <a:off x="3226" y="3902"/>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99" y="4205"/>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2</a:t>
                </a:r>
                <a:endParaRPr sz="1500" b="1">
                  <a:solidFill>
                    <a:srgbClr val="FFFFFF"/>
                  </a:solidFill>
                </a:endParaRPr>
              </a:p>
            </p:txBody>
          </p:sp>
          <p:sp>
            <p:nvSpPr>
              <p:cNvPr id="58" name="TextBox 57"/>
              <p:cNvSpPr txBox="1"/>
              <p:nvPr/>
            </p:nvSpPr>
            <p:spPr>
              <a:xfrm>
                <a:off x="4363" y="4104"/>
                <a:ext cx="3182" cy="446"/>
              </a:xfrm>
              <a:prstGeom prst="rect">
                <a:avLst/>
              </a:prstGeom>
              <a:noFill/>
            </p:spPr>
            <p:txBody>
              <a:bodyPr wrap="square" lIns="18288" tIns="18288" rIns="18288">
                <a:spAutoFit/>
              </a:bodyPr>
              <a:lstStyle/>
              <a:p>
                <a:r>
                  <a:rPr sz="1400" b="1">
                    <a:solidFill>
                      <a:srgbClr val="6E0875"/>
                    </a:solidFill>
                    <a:latin typeface="微软雅黑"/>
                  </a:rPr>
                  <a:t>② 算人数与有效劳动</a:t>
                </a:r>
                <a:endParaRPr sz="1400" b="1">
                  <a:solidFill>
                    <a:srgbClr val="6E0875"/>
                  </a:solidFill>
                  <a:latin typeface="微软雅黑"/>
                </a:endParaRPr>
              </a:p>
            </p:txBody>
          </p:sp>
          <p:sp>
            <p:nvSpPr>
              <p:cNvPr id="59" name="TextBox 58"/>
              <p:cNvSpPr txBox="1"/>
              <p:nvPr/>
            </p:nvSpPr>
            <p:spPr>
              <a:xfrm>
                <a:off x="7603" y="4032"/>
                <a:ext cx="9662" cy="402"/>
              </a:xfrm>
              <a:prstGeom prst="rect">
                <a:avLst/>
              </a:prstGeom>
              <a:noFill/>
            </p:spPr>
            <p:txBody>
              <a:bodyPr wrap="square" lIns="18288" tIns="18288" rIns="18288">
                <a:spAutoFit/>
              </a:bodyPr>
              <a:lstStyle/>
              <a:p>
                <a:r>
                  <a:rPr sz="1250" b="0">
                    <a:solidFill>
                      <a:srgbClr val="242424"/>
                    </a:solidFill>
                    <a:latin typeface="微软雅黑"/>
                  </a:rPr>
                  <a:t>地区 d 的人口：</a:t>
                </a:r>
                <a:endParaRPr sz="1250" b="0">
                  <a:solidFill>
                    <a:srgbClr val="242424"/>
                  </a:solidFill>
                  <a:latin typeface="微软雅黑"/>
                </a:endParaRPr>
              </a:p>
            </p:txBody>
          </p:sp>
          <mc:AlternateContent xmlns:mc="http://schemas.openxmlformats.org/markup-compatibility/2006">
            <mc:Choice xmlns:a14="http://schemas.microsoft.com/office/drawing/2010/main" Requires="a14">
              <p:sp>
                <p:nvSpPr>
                  <p:cNvPr id="60" name="TextBox 59"/>
                  <p:cNvSpPr txBox="1"/>
                  <p:nvPr/>
                </p:nvSpPr>
                <p:spPr>
                  <a:xfrm>
                    <a:off x="7603" y="4608"/>
                    <a:ext cx="9720" cy="404"/>
                  </a:xfrm>
                  <a:prstGeom prst="rect">
                    <a:avLst/>
                  </a:prstGeom>
                  <a:noFill/>
                </p:spPr>
                <p:txBody>
                  <a:bodyPr wrap="square" lIns="18288" tIns="18288" rIns="18288">
                    <a:spAutoFit/>
                  </a:bodyPr>
                  <a:lstStyle/>
                  <a:p>
                    <a:r>
                      <a:rPr sz="1250" b="0">
                        <a:solidFill>
                          <a:srgbClr val="242424"/>
                        </a:solidFill>
                        <a:latin typeface="微软雅黑"/>
                      </a:rPr>
                      <a:t>有效劳动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𝐻</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：按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𝐿</m:t>
                            </m:r>
                          </m:e>
                          <m:sub>
                            <m:r>
                              <a:rPr lang="en-US" sz="1250" i="1">
                                <a:solidFill>
                                  <a:srgbClr val="242424"/>
                                </a:solidFill>
                                <a:latin typeface="DejaVu Math TeX Gyre" panose="02000503000000000000" charset="0"/>
                                <a:cs typeface="DejaVu Math TeX Gyre" panose="02000503000000000000" charset="0"/>
                              </a:rPr>
                              <m:t>𝑜</m:t>
                            </m:r>
                          </m:sub>
                        </m:sSub>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𝑜𝑑</m:t>
                            </m:r>
                          </m:sub>
                        </m:sSub>
                      </m:oMath>
                    </a14:m>
                    <a:r>
                      <a:rPr sz="1250" b="0">
                        <a:solidFill>
                          <a:srgbClr val="242424"/>
                        </a:solidFill>
                        <a:latin typeface="微软雅黑"/>
                      </a:rPr>
                      <a:t> 计算各群体人数，再乘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𝑞</m:t>
                            </m:r>
                          </m:e>
                          <m:sub>
                            <m:r>
                              <a:rPr lang="en-US" sz="1250" i="1">
                                <a:solidFill>
                                  <a:srgbClr val="242424"/>
                                </a:solidFill>
                                <a:latin typeface="DejaVu Math TeX Gyre" panose="02000503000000000000" charset="0"/>
                                <a:cs typeface="DejaVu Math TeX Gyre" panose="02000503000000000000" charset="0"/>
                              </a:rPr>
                              <m:t>𝑜</m:t>
                            </m:r>
                          </m:sub>
                        </m:sSub>
                      </m:oMath>
                    </a14:m>
                    <a:r>
                      <a:rPr sz="1250" b="0">
                        <a:solidFill>
                          <a:srgbClr val="242424"/>
                        </a:solidFill>
                        <a:latin typeface="微软雅黑"/>
                      </a:rPr>
                      <a:t> 与该群体平均技能并汇总。</a:t>
                    </a:r>
                    <a:endParaRPr sz="1250" b="0">
                      <a:solidFill>
                        <a:srgbClr val="242424"/>
                      </a:solidFill>
                      <a:latin typeface="微软雅黑"/>
                    </a:endParaRPr>
                  </a:p>
                </p:txBody>
              </p:sp>
            </mc:Choice>
            <mc:Fallback>
              <p:sp>
                <p:nvSpPr>
                  <p:cNvPr id="60" name="TextBox 59"/>
                  <p:cNvSpPr txBox="1">
                    <a:spLocks noRot="1" noChangeAspect="1" noMove="1" noResize="1" noEditPoints="1" noAdjustHandles="1" noChangeArrowheads="1" noChangeShapeType="1" noTextEdit="1"/>
                  </p:cNvSpPr>
                  <p:nvPr/>
                </p:nvSpPr>
                <p:spPr>
                  <a:xfrm>
                    <a:off x="7603" y="4608"/>
                    <a:ext cx="9720" cy="404"/>
                  </a:xfrm>
                  <a:prstGeom prst="rect">
                    <a:avLst/>
                  </a:prstGeom>
                  <a:blipFill rotWithShape="1">
                    <a:blip r:embed="rId1"/>
                  </a:blipFill>
                </p:spPr>
                <p:txBody>
                  <a:bodyPr/>
                  <a:lstStyle/>
                  <a:p>
                    <a:r>
                      <a:rPr lang="zh-CN" altLang="en-US">
                        <a:noFill/>
                      </a:rPr>
                      <a:t> </a:t>
                    </a:r>
                  </a:p>
                </p:txBody>
              </p:sp>
            </mc:Fallback>
          </mc:AlternateContent>
        </p:grpSp>
      </p:grpSp>
      <mc:AlternateContent xmlns:mc="http://schemas.openxmlformats.org/markup-compatibility/2006">
        <mc:Choice xmlns:a14="http://schemas.microsoft.com/office/drawing/2010/main" Requires="a14">
          <p:sp>
            <p:nvSpPr>
              <p:cNvPr id="5" name="TextBox 52"/>
              <p:cNvSpPr txBox="1"/>
              <p:nvPr/>
            </p:nvSpPr>
            <p:spPr>
              <a:xfrm>
                <a:off x="4859655" y="1298575"/>
                <a:ext cx="6135370" cy="292100"/>
              </a:xfrm>
              <a:prstGeom prst="rect">
                <a:avLst/>
              </a:prstGeom>
              <a:noFill/>
            </p:spPr>
            <p:txBody>
              <a:bodyPr wrap="square" lIns="18288" tIns="18288" rIns="18288">
                <a:spAutoFit/>
              </a:bodyPr>
              <a:lstStyle/>
              <a:p>
                <a:r>
                  <a:rPr sz="1250" b="0">
                    <a:solidFill>
                      <a:srgbClr val="242424"/>
                    </a:solidFill>
                    <a:latin typeface="微软雅黑"/>
                  </a:rPr>
                  <a:t>已知：工资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𝜔</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、宜居性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𝛼</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、迁移成本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𝜏</m:t>
                        </m:r>
                      </m:e>
                      <m:sub>
                        <m:r>
                          <a:rPr lang="en-US" sz="1250" b="0" i="1">
                            <a:solidFill>
                              <a:srgbClr val="242424"/>
                            </a:solidFill>
                            <a:latin typeface="DejaVu Math TeX Gyre" panose="02000503000000000000" charset="0"/>
                            <a:cs typeface="DejaVu Math TeX Gyre" panose="02000503000000000000" charset="0"/>
                          </a:rPr>
                          <m:t>𝑑𝑜</m:t>
                        </m:r>
                      </m:sub>
                    </m:sSub>
                  </m:oMath>
                </a14:m>
                <a:r>
                  <a:rPr sz="1250" b="0">
                    <a:solidFill>
                      <a:srgbClr val="242424"/>
                    </a:solidFill>
                    <a:latin typeface="微软雅黑"/>
                  </a:rPr>
                  <a:t>，以及技能分选参数</a:t>
                </a:r>
                <a14:m>
                  <m:oMath xmlns:m="http://schemas.openxmlformats.org/officeDocument/2006/math">
                    <m:r>
                      <a:rPr lang="en-US" sz="1250" b="0">
                        <a:solidFill>
                          <a:srgbClr val="242424"/>
                        </a:solidFill>
                        <a:latin typeface="DejaVu Math TeX Gyre" panose="02000503000000000000" charset="0"/>
                        <a:cs typeface="DejaVu Math TeX Gyre" panose="02000503000000000000" charset="0"/>
                      </a:rPr>
                      <m:t> </m:t>
                    </m:r>
                    <m:r>
                      <m:rPr>
                        <m:sty m:val="p"/>
                      </m:rPr>
                      <a:rPr lang="en-US" sz="1250" b="0">
                        <a:solidFill>
                          <a:srgbClr val="242424"/>
                        </a:solidFill>
                        <a:latin typeface="DejaVu Math TeX Gyre" panose="02000503000000000000" charset="0"/>
                        <a:cs typeface="DejaVu Math TeX Gyre" panose="02000503000000000000" charset="0"/>
                      </a:rPr>
                      <m:t>θ</m:t>
                    </m:r>
                  </m:oMath>
                </a14:m>
                <a:endParaRPr sz="1250" b="0">
                  <a:solidFill>
                    <a:srgbClr val="242424"/>
                  </a:solidFill>
                  <a:latin typeface="微软雅黑"/>
                </a:endParaRPr>
              </a:p>
            </p:txBody>
          </p:sp>
        </mc:Choice>
        <mc:Fallback>
          <p:sp>
            <p:nvSpPr>
              <p:cNvPr id="5" name="TextBox 52"/>
              <p:cNvSpPr txBox="1">
                <a:spLocks noRot="1" noChangeAspect="1" noMove="1" noResize="1" noEditPoints="1" noAdjustHandles="1" noChangeArrowheads="1" noChangeShapeType="1" noTextEdit="1"/>
              </p:cNvSpPr>
              <p:nvPr/>
            </p:nvSpPr>
            <p:spPr>
              <a:xfrm>
                <a:off x="4859655" y="1298575"/>
                <a:ext cx="6135370" cy="2921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3"/>
              <p:cNvSpPr txBox="1"/>
              <p:nvPr/>
            </p:nvSpPr>
            <p:spPr>
              <a:xfrm>
                <a:off x="4859655" y="1664335"/>
                <a:ext cx="6172200" cy="255905"/>
              </a:xfrm>
              <a:prstGeom prst="rect">
                <a:avLst/>
              </a:prstGeom>
              <a:noFill/>
            </p:spPr>
            <p:txBody>
              <a:bodyPr wrap="square" lIns="18288" tIns="18288" rIns="18288">
                <a:spAutoFit/>
              </a:bodyPr>
              <a:lstStyle/>
              <a:p>
                <a:r>
                  <a:rPr sz="1250" b="0">
                    <a:solidFill>
                      <a:srgbClr val="242424"/>
                    </a:solidFill>
                    <a:latin typeface="微软雅黑"/>
                  </a:rPr>
                  <a:t>代入迁移份额方程→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𝑑𝑜</m:t>
                        </m:r>
                      </m:sub>
                    </m:sSub>
                  </m:oMath>
                </a14:m>
                <a:endParaRPr sz="1250" b="0">
                  <a:solidFill>
                    <a:srgbClr val="242424"/>
                  </a:solidFill>
                  <a:latin typeface="微软雅黑"/>
                </a:endParaRPr>
              </a:p>
            </p:txBody>
          </p:sp>
        </mc:Choice>
        <mc:Fallback>
          <p:sp>
            <p:nvSpPr>
              <p:cNvPr id="6" name="TextBox 53"/>
              <p:cNvSpPr txBox="1">
                <a:spLocks noRot="1" noChangeAspect="1" noMove="1" noResize="1" noEditPoints="1" noAdjustHandles="1" noChangeArrowheads="1" noChangeShapeType="1" noTextEdit="1"/>
              </p:cNvSpPr>
              <p:nvPr/>
            </p:nvSpPr>
            <p:spPr>
              <a:xfrm>
                <a:off x="4859655" y="1664335"/>
                <a:ext cx="6172200" cy="25590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97" descr="wpsoffice"/>
          <p:cNvPicPr>
            <a:picLocks noChangeAspect="1"/>
          </p:cNvPicPr>
          <p:nvPr/>
        </p:nvPicPr>
        <p:blipFill>
          <a:blip r:embed="rId4"/>
          <a:stretch>
            <a:fillRect/>
          </a:stretch>
        </p:blipFill>
        <p:spPr>
          <a:xfrm>
            <a:off x="6075045" y="2258695"/>
            <a:ext cx="1249045" cy="413385"/>
          </a:xfrm>
          <a:prstGeom prst="rect">
            <a:avLst/>
          </a:prstGeom>
        </p:spPr>
      </p:pic>
      <p:pic>
        <p:nvPicPr>
          <p:cNvPr id="8" name="334E55B0-647D-440b-865C-3EC943EB4CBC-98" descr="wpsoffice"/>
          <p:cNvPicPr>
            <a:picLocks noChangeAspect="1"/>
          </p:cNvPicPr>
          <p:nvPr/>
        </p:nvPicPr>
        <p:blipFill>
          <a:blip r:embed="rId5"/>
          <a:stretch>
            <a:fillRect/>
          </a:stretch>
        </p:blipFill>
        <p:spPr>
          <a:xfrm>
            <a:off x="5248910" y="3181985"/>
            <a:ext cx="2670175" cy="370840"/>
          </a:xfrm>
          <a:prstGeom prst="rect">
            <a:avLst/>
          </a:prstGeom>
        </p:spPr>
      </p:pic>
      <p:pic>
        <p:nvPicPr>
          <p:cNvPr id="9" name="334E55B0-647D-440b-865C-3EC943EB4CBC-99" descr="wpsoffice"/>
          <p:cNvPicPr>
            <a:picLocks noChangeAspect="1"/>
          </p:cNvPicPr>
          <p:nvPr/>
        </p:nvPicPr>
        <p:blipFill>
          <a:blip r:embed="rId6"/>
          <a:stretch>
            <a:fillRect/>
          </a:stretch>
        </p:blipFill>
        <p:spPr>
          <a:xfrm>
            <a:off x="5027295" y="3924935"/>
            <a:ext cx="3552190" cy="51625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834390"/>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个人与厂商如何联立成空间一般均衡？</a:t>
            </a:r>
            <a:endParaRPr sz="2500" b="1">
              <a:solidFill>
                <a:srgbClr val="2A272B"/>
              </a:solidFill>
              <a:latin typeface="微软雅黑"/>
            </a:endParaRPr>
          </a:p>
          <a:p>
            <a:pPr>
              <a:spcAft>
                <a:spcPts val="300"/>
              </a:spcAft>
            </a:pP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79" name="组合 78"/>
          <p:cNvGrpSpPr/>
          <p:nvPr/>
        </p:nvGrpSpPr>
        <p:grpSpPr>
          <a:xfrm>
            <a:off x="2080260" y="1216025"/>
            <a:ext cx="9235440" cy="1819910"/>
            <a:chOff x="3226" y="2390"/>
            <a:chExt cx="14544" cy="2866"/>
          </a:xfrm>
        </p:grpSpPr>
        <p:sp>
          <p:nvSpPr>
            <p:cNvPr id="55" name="Rectangle 54"/>
            <p:cNvSpPr/>
            <p:nvPr/>
          </p:nvSpPr>
          <p:spPr>
            <a:xfrm>
              <a:off x="3226" y="3902"/>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8" name="组合 77"/>
            <p:cNvGrpSpPr/>
            <p:nvPr/>
          </p:nvGrpSpPr>
          <p:grpSpPr>
            <a:xfrm>
              <a:off x="3226" y="2390"/>
              <a:ext cx="14544" cy="2866"/>
              <a:chOff x="3226" y="2390"/>
              <a:chExt cx="14544" cy="2866"/>
            </a:xfrm>
          </p:grpSpPr>
          <p:sp>
            <p:nvSpPr>
              <p:cNvPr id="49" name="Rectangle 48"/>
              <p:cNvSpPr/>
              <p:nvPr/>
            </p:nvSpPr>
            <p:spPr>
              <a:xfrm>
                <a:off x="3226" y="2390"/>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26" y="2390"/>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99" y="2693"/>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1</a:t>
                </a:r>
                <a:endParaRPr sz="1500" b="1">
                  <a:solidFill>
                    <a:srgbClr val="FFFFFF"/>
                  </a:solidFill>
                </a:endParaRPr>
              </a:p>
            </p:txBody>
          </p:sp>
          <p:sp>
            <p:nvSpPr>
              <p:cNvPr id="52" name="TextBox 51"/>
              <p:cNvSpPr txBox="1"/>
              <p:nvPr/>
            </p:nvSpPr>
            <p:spPr>
              <a:xfrm>
                <a:off x="4363" y="2592"/>
                <a:ext cx="3182" cy="446"/>
              </a:xfrm>
              <a:prstGeom prst="rect">
                <a:avLst/>
              </a:prstGeom>
              <a:noFill/>
            </p:spPr>
            <p:txBody>
              <a:bodyPr wrap="square" lIns="18288" tIns="18288" rIns="18288">
                <a:spAutoFit/>
              </a:bodyPr>
              <a:lstStyle/>
              <a:p>
                <a:r>
                  <a:rPr sz="1400" b="1">
                    <a:solidFill>
                      <a:srgbClr val="6E0875"/>
                    </a:solidFill>
                    <a:latin typeface="微软雅黑"/>
                  </a:rPr>
                  <a:t>① 算迁移份额</a:t>
                </a:r>
                <a:endParaRPr sz="1400" b="1">
                  <a:solidFill>
                    <a:srgbClr val="6E0875"/>
                  </a:solidFill>
                  <a:latin typeface="微软雅黑"/>
                </a:endParaRPr>
              </a:p>
            </p:txBody>
          </p:sp>
          <p:sp>
            <p:nvSpPr>
              <p:cNvPr id="56" name="Rectangle 55"/>
              <p:cNvSpPr/>
              <p:nvPr/>
            </p:nvSpPr>
            <p:spPr>
              <a:xfrm>
                <a:off x="3226" y="3902"/>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99" y="4205"/>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2</a:t>
                </a:r>
                <a:endParaRPr sz="1500" b="1">
                  <a:solidFill>
                    <a:srgbClr val="FFFFFF"/>
                  </a:solidFill>
                </a:endParaRPr>
              </a:p>
            </p:txBody>
          </p:sp>
          <p:sp>
            <p:nvSpPr>
              <p:cNvPr id="58" name="TextBox 57"/>
              <p:cNvSpPr txBox="1"/>
              <p:nvPr/>
            </p:nvSpPr>
            <p:spPr>
              <a:xfrm>
                <a:off x="4363" y="4104"/>
                <a:ext cx="3182" cy="446"/>
              </a:xfrm>
              <a:prstGeom prst="rect">
                <a:avLst/>
              </a:prstGeom>
              <a:noFill/>
            </p:spPr>
            <p:txBody>
              <a:bodyPr wrap="square" lIns="18288" tIns="18288" rIns="18288">
                <a:spAutoFit/>
              </a:bodyPr>
              <a:lstStyle/>
              <a:p>
                <a:r>
                  <a:rPr sz="1400" b="1">
                    <a:solidFill>
                      <a:srgbClr val="6E0875"/>
                    </a:solidFill>
                    <a:latin typeface="微软雅黑"/>
                  </a:rPr>
                  <a:t>② 算人数与有效劳动</a:t>
                </a:r>
                <a:endParaRPr sz="1400" b="1">
                  <a:solidFill>
                    <a:srgbClr val="6E0875"/>
                  </a:solidFill>
                  <a:latin typeface="微软雅黑"/>
                </a:endParaRPr>
              </a:p>
            </p:txBody>
          </p:sp>
          <p:sp>
            <p:nvSpPr>
              <p:cNvPr id="59" name="TextBox 58"/>
              <p:cNvSpPr txBox="1"/>
              <p:nvPr/>
            </p:nvSpPr>
            <p:spPr>
              <a:xfrm>
                <a:off x="7603" y="4032"/>
                <a:ext cx="9662" cy="402"/>
              </a:xfrm>
              <a:prstGeom prst="rect">
                <a:avLst/>
              </a:prstGeom>
              <a:noFill/>
            </p:spPr>
            <p:txBody>
              <a:bodyPr wrap="square" lIns="18288" tIns="18288" rIns="18288">
                <a:spAutoFit/>
              </a:bodyPr>
              <a:lstStyle/>
              <a:p>
                <a:r>
                  <a:rPr sz="1250" b="0">
                    <a:solidFill>
                      <a:srgbClr val="242424"/>
                    </a:solidFill>
                    <a:latin typeface="微软雅黑"/>
                  </a:rPr>
                  <a:t>地区 d 的人口：</a:t>
                </a:r>
                <a:endParaRPr sz="1250" b="0">
                  <a:solidFill>
                    <a:srgbClr val="242424"/>
                  </a:solidFill>
                  <a:latin typeface="微软雅黑"/>
                </a:endParaRPr>
              </a:p>
            </p:txBody>
          </p:sp>
          <mc:AlternateContent xmlns:mc="http://schemas.openxmlformats.org/markup-compatibility/2006">
            <mc:Choice xmlns:a14="http://schemas.microsoft.com/office/drawing/2010/main" Requires="a14">
              <p:sp>
                <p:nvSpPr>
                  <p:cNvPr id="60" name="TextBox 59"/>
                  <p:cNvSpPr txBox="1"/>
                  <p:nvPr/>
                </p:nvSpPr>
                <p:spPr>
                  <a:xfrm>
                    <a:off x="7603" y="4608"/>
                    <a:ext cx="9720" cy="403"/>
                  </a:xfrm>
                  <a:prstGeom prst="rect">
                    <a:avLst/>
                  </a:prstGeom>
                  <a:noFill/>
                </p:spPr>
                <p:txBody>
                  <a:bodyPr wrap="square" lIns="18288" tIns="18288" rIns="18288">
                    <a:spAutoFit/>
                  </a:bodyPr>
                  <a:lstStyle/>
                  <a:p>
                    <a:r>
                      <a:rPr sz="1250" b="0">
                        <a:solidFill>
                          <a:srgbClr val="242424"/>
                        </a:solidFill>
                        <a:latin typeface="微软雅黑"/>
                      </a:rPr>
                      <a:t>有效劳动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𝐻</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：按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𝐿</m:t>
                            </m:r>
                          </m:e>
                          <m:sub>
                            <m:r>
                              <a:rPr lang="en-US" sz="1250" i="1">
                                <a:solidFill>
                                  <a:srgbClr val="242424"/>
                                </a:solidFill>
                                <a:latin typeface="DejaVu Math TeX Gyre" panose="02000503000000000000" charset="0"/>
                                <a:cs typeface="DejaVu Math TeX Gyre" panose="02000503000000000000" charset="0"/>
                              </a:rPr>
                              <m:t>𝑜</m:t>
                            </m:r>
                          </m:sub>
                        </m:sSub>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𝑜𝑑</m:t>
                            </m:r>
                          </m:sub>
                        </m:sSub>
                      </m:oMath>
                    </a14:m>
                    <a:r>
                      <a:rPr sz="1250" b="0">
                        <a:solidFill>
                          <a:srgbClr val="242424"/>
                        </a:solidFill>
                        <a:latin typeface="微软雅黑"/>
                      </a:rPr>
                      <a:t> 计算各群体人数，再乘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𝑞</m:t>
                            </m:r>
                          </m:e>
                          <m:sub>
                            <m:r>
                              <a:rPr lang="en-US" sz="1250" i="1">
                                <a:solidFill>
                                  <a:srgbClr val="242424"/>
                                </a:solidFill>
                                <a:latin typeface="DejaVu Math TeX Gyre" panose="02000503000000000000" charset="0"/>
                                <a:cs typeface="DejaVu Math TeX Gyre" panose="02000503000000000000" charset="0"/>
                              </a:rPr>
                              <m:t>𝑜</m:t>
                            </m:r>
                          </m:sub>
                        </m:sSub>
                      </m:oMath>
                    </a14:m>
                    <a:r>
                      <a:rPr sz="1250" b="0">
                        <a:solidFill>
                          <a:srgbClr val="242424"/>
                        </a:solidFill>
                        <a:latin typeface="微软雅黑"/>
                      </a:rPr>
                      <a:t> 与该群体平均技能并汇总</a:t>
                    </a:r>
                    <a:endParaRPr sz="1250" b="0">
                      <a:solidFill>
                        <a:srgbClr val="242424"/>
                      </a:solidFill>
                      <a:latin typeface="微软雅黑"/>
                    </a:endParaRPr>
                  </a:p>
                </p:txBody>
              </p:sp>
            </mc:Choice>
            <mc:Fallback>
              <p:sp>
                <p:nvSpPr>
                  <p:cNvPr id="60" name="TextBox 59"/>
                  <p:cNvSpPr txBox="1">
                    <a:spLocks noRot="1" noChangeAspect="1" noMove="1" noResize="1" noEditPoints="1" noAdjustHandles="1" noChangeArrowheads="1" noChangeShapeType="1" noTextEdit="1"/>
                  </p:cNvSpPr>
                  <p:nvPr/>
                </p:nvSpPr>
                <p:spPr>
                  <a:xfrm>
                    <a:off x="7603" y="4608"/>
                    <a:ext cx="9720" cy="403"/>
                  </a:xfrm>
                  <a:prstGeom prst="rect">
                    <a:avLst/>
                  </a:prstGeom>
                  <a:blipFill rotWithShape="1">
                    <a:blip r:embed="rId1"/>
                  </a:blipFill>
                </p:spPr>
                <p:txBody>
                  <a:bodyPr/>
                  <a:lstStyle/>
                  <a:p>
                    <a:r>
                      <a:rPr lang="zh-CN" altLang="en-US">
                        <a:noFill/>
                      </a:rPr>
                      <a:t> </a:t>
                    </a:r>
                  </a:p>
                </p:txBody>
              </p:sp>
            </mc:Fallback>
          </mc:AlternateContent>
        </p:grpSp>
      </p:grpSp>
      <mc:AlternateContent xmlns:mc="http://schemas.openxmlformats.org/markup-compatibility/2006">
        <mc:Choice xmlns:a14="http://schemas.microsoft.com/office/drawing/2010/main" Requires="a14">
          <p:sp>
            <p:nvSpPr>
              <p:cNvPr id="5" name="TextBox 52"/>
              <p:cNvSpPr txBox="1"/>
              <p:nvPr/>
            </p:nvSpPr>
            <p:spPr>
              <a:xfrm>
                <a:off x="4859655" y="1298575"/>
                <a:ext cx="6135370" cy="292100"/>
              </a:xfrm>
              <a:prstGeom prst="rect">
                <a:avLst/>
              </a:prstGeom>
              <a:noFill/>
            </p:spPr>
            <p:txBody>
              <a:bodyPr wrap="square" lIns="18288" tIns="18288" rIns="18288">
                <a:spAutoFit/>
              </a:bodyPr>
              <a:lstStyle/>
              <a:p>
                <a:r>
                  <a:rPr sz="1250" b="0">
                    <a:solidFill>
                      <a:srgbClr val="242424"/>
                    </a:solidFill>
                    <a:latin typeface="微软雅黑"/>
                  </a:rPr>
                  <a:t>已知：工资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𝜔</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、宜居性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𝛼</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、迁移成本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𝜏</m:t>
                        </m:r>
                      </m:e>
                      <m:sub>
                        <m:r>
                          <a:rPr lang="en-US" sz="1250" b="0" i="1">
                            <a:solidFill>
                              <a:srgbClr val="242424"/>
                            </a:solidFill>
                            <a:latin typeface="DejaVu Math TeX Gyre" panose="02000503000000000000" charset="0"/>
                            <a:cs typeface="DejaVu Math TeX Gyre" panose="02000503000000000000" charset="0"/>
                          </a:rPr>
                          <m:t>𝑑𝑜</m:t>
                        </m:r>
                      </m:sub>
                    </m:sSub>
                  </m:oMath>
                </a14:m>
                <a:r>
                  <a:rPr sz="1250" b="0">
                    <a:solidFill>
                      <a:srgbClr val="242424"/>
                    </a:solidFill>
                    <a:latin typeface="微软雅黑"/>
                  </a:rPr>
                  <a:t>，以及技能分选参数</a:t>
                </a:r>
                <a14:m>
                  <m:oMath xmlns:m="http://schemas.openxmlformats.org/officeDocument/2006/math">
                    <m:r>
                      <a:rPr lang="en-US" sz="1250" b="0">
                        <a:solidFill>
                          <a:srgbClr val="242424"/>
                        </a:solidFill>
                        <a:latin typeface="DejaVu Math TeX Gyre" panose="02000503000000000000" charset="0"/>
                        <a:cs typeface="DejaVu Math TeX Gyre" panose="02000503000000000000" charset="0"/>
                      </a:rPr>
                      <m:t> </m:t>
                    </m:r>
                    <m:r>
                      <m:rPr>
                        <m:sty m:val="p"/>
                      </m:rPr>
                      <a:rPr lang="en-US" sz="1250" b="0">
                        <a:solidFill>
                          <a:srgbClr val="242424"/>
                        </a:solidFill>
                        <a:latin typeface="DejaVu Math TeX Gyre" panose="02000503000000000000" charset="0"/>
                        <a:cs typeface="DejaVu Math TeX Gyre" panose="02000503000000000000" charset="0"/>
                      </a:rPr>
                      <m:t>θ</m:t>
                    </m:r>
                  </m:oMath>
                </a14:m>
                <a:endParaRPr sz="1250" b="0">
                  <a:solidFill>
                    <a:srgbClr val="242424"/>
                  </a:solidFill>
                  <a:latin typeface="微软雅黑"/>
                </a:endParaRPr>
              </a:p>
            </p:txBody>
          </p:sp>
        </mc:Choice>
        <mc:Fallback>
          <p:sp>
            <p:nvSpPr>
              <p:cNvPr id="5" name="TextBox 52"/>
              <p:cNvSpPr txBox="1">
                <a:spLocks noRot="1" noChangeAspect="1" noMove="1" noResize="1" noEditPoints="1" noAdjustHandles="1" noChangeArrowheads="1" noChangeShapeType="1" noTextEdit="1"/>
              </p:cNvSpPr>
              <p:nvPr/>
            </p:nvSpPr>
            <p:spPr>
              <a:xfrm>
                <a:off x="4859655" y="1298575"/>
                <a:ext cx="6135370" cy="2921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3"/>
              <p:cNvSpPr txBox="1"/>
              <p:nvPr/>
            </p:nvSpPr>
            <p:spPr>
              <a:xfrm>
                <a:off x="4859655" y="1664335"/>
                <a:ext cx="6172200" cy="255905"/>
              </a:xfrm>
              <a:prstGeom prst="rect">
                <a:avLst/>
              </a:prstGeom>
              <a:noFill/>
            </p:spPr>
            <p:txBody>
              <a:bodyPr wrap="square" lIns="18288" tIns="18288" rIns="18288">
                <a:spAutoFit/>
              </a:bodyPr>
              <a:lstStyle/>
              <a:p>
                <a:r>
                  <a:rPr sz="1250" b="0">
                    <a:solidFill>
                      <a:srgbClr val="242424"/>
                    </a:solidFill>
                    <a:latin typeface="微软雅黑"/>
                  </a:rPr>
                  <a:t>代入迁移份额方程→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𝑑𝑜</m:t>
                        </m:r>
                      </m:sub>
                    </m:sSub>
                  </m:oMath>
                </a14:m>
                <a:endParaRPr sz="1250" b="0">
                  <a:solidFill>
                    <a:srgbClr val="242424"/>
                  </a:solidFill>
                  <a:latin typeface="微软雅黑"/>
                </a:endParaRPr>
              </a:p>
            </p:txBody>
          </p:sp>
        </mc:Choice>
        <mc:Fallback>
          <p:sp>
            <p:nvSpPr>
              <p:cNvPr id="6" name="TextBox 53"/>
              <p:cNvSpPr txBox="1">
                <a:spLocks noRot="1" noChangeAspect="1" noMove="1" noResize="1" noEditPoints="1" noAdjustHandles="1" noChangeArrowheads="1" noChangeShapeType="1" noTextEdit="1"/>
              </p:cNvSpPr>
              <p:nvPr/>
            </p:nvSpPr>
            <p:spPr>
              <a:xfrm>
                <a:off x="4859655" y="1664335"/>
                <a:ext cx="6172200" cy="25590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100" descr="wpsoffice"/>
          <p:cNvPicPr>
            <a:picLocks noChangeAspect="1"/>
          </p:cNvPicPr>
          <p:nvPr/>
        </p:nvPicPr>
        <p:blipFill>
          <a:blip r:embed="rId4"/>
          <a:stretch>
            <a:fillRect/>
          </a:stretch>
        </p:blipFill>
        <p:spPr>
          <a:xfrm>
            <a:off x="6075045" y="2258695"/>
            <a:ext cx="1249045" cy="413385"/>
          </a:xfrm>
          <a:prstGeom prst="rect">
            <a:avLst/>
          </a:prstGeom>
        </p:spPr>
      </p:pic>
      <p:pic>
        <p:nvPicPr>
          <p:cNvPr id="8" name="334E55B0-647D-440b-865C-3EC943EB4CBC-101" descr="wpsoffice"/>
          <p:cNvPicPr>
            <a:picLocks noChangeAspect="1"/>
          </p:cNvPicPr>
          <p:nvPr/>
        </p:nvPicPr>
        <p:blipFill>
          <a:blip r:embed="rId5"/>
          <a:stretch>
            <a:fillRect/>
          </a:stretch>
        </p:blipFill>
        <p:spPr>
          <a:xfrm>
            <a:off x="5248910" y="3181985"/>
            <a:ext cx="2670175" cy="370840"/>
          </a:xfrm>
          <a:prstGeom prst="rect">
            <a:avLst/>
          </a:prstGeom>
        </p:spPr>
      </p:pic>
      <p:pic>
        <p:nvPicPr>
          <p:cNvPr id="9" name="334E55B0-647D-440b-865C-3EC943EB4CBC-102" descr="wpsoffice"/>
          <p:cNvPicPr>
            <a:picLocks noChangeAspect="1"/>
          </p:cNvPicPr>
          <p:nvPr/>
        </p:nvPicPr>
        <p:blipFill>
          <a:blip r:embed="rId6"/>
          <a:stretch>
            <a:fillRect/>
          </a:stretch>
        </p:blipFill>
        <p:spPr>
          <a:xfrm>
            <a:off x="5027295" y="3924935"/>
            <a:ext cx="3552190" cy="516255"/>
          </a:xfrm>
          <a:prstGeom prst="rect">
            <a:avLst/>
          </a:prstGeom>
        </p:spPr>
      </p:pic>
      <p:pic>
        <p:nvPicPr>
          <p:cNvPr id="10" name="334E55B0-647D-440b-865C-3EC943EB4CBC-103" descr="wpsoffice"/>
          <p:cNvPicPr>
            <a:picLocks noChangeAspect="1"/>
          </p:cNvPicPr>
          <p:nvPr/>
        </p:nvPicPr>
        <p:blipFill>
          <a:blip r:embed="rId7"/>
          <a:stretch>
            <a:fillRect/>
          </a:stretch>
        </p:blipFill>
        <p:spPr>
          <a:xfrm>
            <a:off x="5429885" y="4658995"/>
            <a:ext cx="2308225" cy="60833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834390"/>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个人与厂商如何联立成空间一般均衡？</a:t>
            </a:r>
            <a:endParaRPr sz="2500" b="1">
              <a:solidFill>
                <a:srgbClr val="2A272B"/>
              </a:solidFill>
              <a:latin typeface="微软雅黑"/>
            </a:endParaRPr>
          </a:p>
          <a:p>
            <a:pPr>
              <a:spcAft>
                <a:spcPts val="300"/>
              </a:spcAft>
            </a:pP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79" name="组合 78"/>
          <p:cNvGrpSpPr/>
          <p:nvPr/>
        </p:nvGrpSpPr>
        <p:grpSpPr>
          <a:xfrm>
            <a:off x="2080260" y="1216025"/>
            <a:ext cx="9235440" cy="1819910"/>
            <a:chOff x="3226" y="2390"/>
            <a:chExt cx="14544" cy="2866"/>
          </a:xfrm>
        </p:grpSpPr>
        <p:sp>
          <p:nvSpPr>
            <p:cNvPr id="55" name="Rectangle 54"/>
            <p:cNvSpPr/>
            <p:nvPr/>
          </p:nvSpPr>
          <p:spPr>
            <a:xfrm>
              <a:off x="3226" y="3902"/>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8" name="组合 77"/>
            <p:cNvGrpSpPr/>
            <p:nvPr/>
          </p:nvGrpSpPr>
          <p:grpSpPr>
            <a:xfrm>
              <a:off x="3226" y="2390"/>
              <a:ext cx="14544" cy="2866"/>
              <a:chOff x="3226" y="2390"/>
              <a:chExt cx="14544" cy="2866"/>
            </a:xfrm>
          </p:grpSpPr>
          <p:sp>
            <p:nvSpPr>
              <p:cNvPr id="49" name="Rectangle 48"/>
              <p:cNvSpPr/>
              <p:nvPr/>
            </p:nvSpPr>
            <p:spPr>
              <a:xfrm>
                <a:off x="3226" y="2390"/>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26" y="2390"/>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99" y="2693"/>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1</a:t>
                </a:r>
                <a:endParaRPr sz="1500" b="1">
                  <a:solidFill>
                    <a:srgbClr val="FFFFFF"/>
                  </a:solidFill>
                </a:endParaRPr>
              </a:p>
            </p:txBody>
          </p:sp>
          <p:sp>
            <p:nvSpPr>
              <p:cNvPr id="52" name="TextBox 51"/>
              <p:cNvSpPr txBox="1"/>
              <p:nvPr/>
            </p:nvSpPr>
            <p:spPr>
              <a:xfrm>
                <a:off x="4363" y="2592"/>
                <a:ext cx="3182" cy="446"/>
              </a:xfrm>
              <a:prstGeom prst="rect">
                <a:avLst/>
              </a:prstGeom>
              <a:noFill/>
            </p:spPr>
            <p:txBody>
              <a:bodyPr wrap="square" lIns="18288" tIns="18288" rIns="18288">
                <a:spAutoFit/>
              </a:bodyPr>
              <a:lstStyle/>
              <a:p>
                <a:r>
                  <a:rPr sz="1400" b="1">
                    <a:solidFill>
                      <a:srgbClr val="6E0875"/>
                    </a:solidFill>
                    <a:latin typeface="微软雅黑"/>
                  </a:rPr>
                  <a:t>① 算迁移份额</a:t>
                </a:r>
                <a:endParaRPr sz="1400" b="1">
                  <a:solidFill>
                    <a:srgbClr val="6E0875"/>
                  </a:solidFill>
                  <a:latin typeface="微软雅黑"/>
                </a:endParaRPr>
              </a:p>
            </p:txBody>
          </p:sp>
          <p:sp>
            <p:nvSpPr>
              <p:cNvPr id="56" name="Rectangle 55"/>
              <p:cNvSpPr/>
              <p:nvPr/>
            </p:nvSpPr>
            <p:spPr>
              <a:xfrm>
                <a:off x="3226" y="3902"/>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99" y="4205"/>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2</a:t>
                </a:r>
                <a:endParaRPr sz="1500" b="1">
                  <a:solidFill>
                    <a:srgbClr val="FFFFFF"/>
                  </a:solidFill>
                </a:endParaRPr>
              </a:p>
            </p:txBody>
          </p:sp>
          <p:sp>
            <p:nvSpPr>
              <p:cNvPr id="58" name="TextBox 57"/>
              <p:cNvSpPr txBox="1"/>
              <p:nvPr/>
            </p:nvSpPr>
            <p:spPr>
              <a:xfrm>
                <a:off x="4363" y="4104"/>
                <a:ext cx="3182" cy="446"/>
              </a:xfrm>
              <a:prstGeom prst="rect">
                <a:avLst/>
              </a:prstGeom>
              <a:noFill/>
            </p:spPr>
            <p:txBody>
              <a:bodyPr wrap="square" lIns="18288" tIns="18288" rIns="18288">
                <a:spAutoFit/>
              </a:bodyPr>
              <a:lstStyle/>
              <a:p>
                <a:r>
                  <a:rPr sz="1400" b="1">
                    <a:solidFill>
                      <a:srgbClr val="6E0875"/>
                    </a:solidFill>
                    <a:latin typeface="微软雅黑"/>
                  </a:rPr>
                  <a:t>② 算人数与有效劳动</a:t>
                </a:r>
                <a:endParaRPr sz="1400" b="1">
                  <a:solidFill>
                    <a:srgbClr val="6E0875"/>
                  </a:solidFill>
                  <a:latin typeface="微软雅黑"/>
                </a:endParaRPr>
              </a:p>
            </p:txBody>
          </p:sp>
          <p:sp>
            <p:nvSpPr>
              <p:cNvPr id="59" name="TextBox 58"/>
              <p:cNvSpPr txBox="1"/>
              <p:nvPr/>
            </p:nvSpPr>
            <p:spPr>
              <a:xfrm>
                <a:off x="7603" y="4032"/>
                <a:ext cx="9662" cy="402"/>
              </a:xfrm>
              <a:prstGeom prst="rect">
                <a:avLst/>
              </a:prstGeom>
              <a:noFill/>
            </p:spPr>
            <p:txBody>
              <a:bodyPr wrap="square" lIns="18288" tIns="18288" rIns="18288">
                <a:spAutoFit/>
              </a:bodyPr>
              <a:lstStyle/>
              <a:p>
                <a:r>
                  <a:rPr sz="1250" b="0">
                    <a:solidFill>
                      <a:srgbClr val="242424"/>
                    </a:solidFill>
                    <a:latin typeface="微软雅黑"/>
                  </a:rPr>
                  <a:t>地区 d 的人口：</a:t>
                </a:r>
                <a:endParaRPr sz="1250" b="0">
                  <a:solidFill>
                    <a:srgbClr val="242424"/>
                  </a:solidFill>
                  <a:latin typeface="微软雅黑"/>
                </a:endParaRPr>
              </a:p>
            </p:txBody>
          </p:sp>
          <mc:AlternateContent xmlns:mc="http://schemas.openxmlformats.org/markup-compatibility/2006">
            <mc:Choice xmlns:a14="http://schemas.microsoft.com/office/drawing/2010/main" Requires="a14">
              <p:sp>
                <p:nvSpPr>
                  <p:cNvPr id="60" name="TextBox 59"/>
                  <p:cNvSpPr txBox="1"/>
                  <p:nvPr/>
                </p:nvSpPr>
                <p:spPr>
                  <a:xfrm>
                    <a:off x="7603" y="4608"/>
                    <a:ext cx="9720" cy="403"/>
                  </a:xfrm>
                  <a:prstGeom prst="rect">
                    <a:avLst/>
                  </a:prstGeom>
                  <a:noFill/>
                </p:spPr>
                <p:txBody>
                  <a:bodyPr wrap="square" lIns="18288" tIns="18288" rIns="18288">
                    <a:spAutoFit/>
                  </a:bodyPr>
                  <a:lstStyle/>
                  <a:p>
                    <a:r>
                      <a:rPr sz="1250" b="0">
                        <a:solidFill>
                          <a:srgbClr val="242424"/>
                        </a:solidFill>
                        <a:latin typeface="微软雅黑"/>
                      </a:rPr>
                      <a:t>有效劳动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𝐻</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：按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𝐿</m:t>
                            </m:r>
                          </m:e>
                          <m:sub>
                            <m:r>
                              <a:rPr lang="en-US" sz="1250" i="1">
                                <a:solidFill>
                                  <a:srgbClr val="242424"/>
                                </a:solidFill>
                                <a:latin typeface="DejaVu Math TeX Gyre" panose="02000503000000000000" charset="0"/>
                                <a:cs typeface="DejaVu Math TeX Gyre" panose="02000503000000000000" charset="0"/>
                              </a:rPr>
                              <m:t>𝑜</m:t>
                            </m:r>
                          </m:sub>
                        </m:sSub>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𝑜𝑑</m:t>
                            </m:r>
                          </m:sub>
                        </m:sSub>
                      </m:oMath>
                    </a14:m>
                    <a:r>
                      <a:rPr sz="1250" b="0">
                        <a:solidFill>
                          <a:srgbClr val="242424"/>
                        </a:solidFill>
                        <a:latin typeface="微软雅黑"/>
                      </a:rPr>
                      <a:t> 计算各群体人数，再乘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𝑞</m:t>
                            </m:r>
                          </m:e>
                          <m:sub>
                            <m:r>
                              <a:rPr lang="en-US" sz="1250" i="1">
                                <a:solidFill>
                                  <a:srgbClr val="242424"/>
                                </a:solidFill>
                                <a:latin typeface="DejaVu Math TeX Gyre" panose="02000503000000000000" charset="0"/>
                                <a:cs typeface="DejaVu Math TeX Gyre" panose="02000503000000000000" charset="0"/>
                              </a:rPr>
                              <m:t>𝑜</m:t>
                            </m:r>
                          </m:sub>
                        </m:sSub>
                      </m:oMath>
                    </a14:m>
                    <a:r>
                      <a:rPr sz="1250" b="0">
                        <a:solidFill>
                          <a:srgbClr val="242424"/>
                        </a:solidFill>
                        <a:latin typeface="微软雅黑"/>
                      </a:rPr>
                      <a:t> 与该群体平均技能并汇总</a:t>
                    </a:r>
                    <a:endParaRPr sz="1250" b="0">
                      <a:solidFill>
                        <a:srgbClr val="242424"/>
                      </a:solidFill>
                      <a:latin typeface="微软雅黑"/>
                    </a:endParaRPr>
                  </a:p>
                </p:txBody>
              </p:sp>
            </mc:Choice>
            <mc:Fallback>
              <p:sp>
                <p:nvSpPr>
                  <p:cNvPr id="60" name="TextBox 59"/>
                  <p:cNvSpPr txBox="1">
                    <a:spLocks noRot="1" noChangeAspect="1" noMove="1" noResize="1" noEditPoints="1" noAdjustHandles="1" noChangeArrowheads="1" noChangeShapeType="1" noTextEdit="1"/>
                  </p:cNvSpPr>
                  <p:nvPr/>
                </p:nvSpPr>
                <p:spPr>
                  <a:xfrm>
                    <a:off x="7603" y="4608"/>
                    <a:ext cx="9720" cy="403"/>
                  </a:xfrm>
                  <a:prstGeom prst="rect">
                    <a:avLst/>
                  </a:prstGeom>
                  <a:blipFill rotWithShape="1">
                    <a:blip r:embed="rId1"/>
                  </a:blipFill>
                </p:spPr>
                <p:txBody>
                  <a:bodyPr/>
                  <a:lstStyle/>
                  <a:p>
                    <a:r>
                      <a:rPr lang="zh-CN" altLang="en-US">
                        <a:noFill/>
                      </a:rPr>
                      <a:t> </a:t>
                    </a:r>
                  </a:p>
                </p:txBody>
              </p:sp>
            </mc:Fallback>
          </mc:AlternateContent>
        </p:grpSp>
      </p:grpSp>
      <mc:AlternateContent xmlns:mc="http://schemas.openxmlformats.org/markup-compatibility/2006">
        <mc:Choice xmlns:a14="http://schemas.microsoft.com/office/drawing/2010/main" Requires="a14">
          <p:sp>
            <p:nvSpPr>
              <p:cNvPr id="5" name="TextBox 52"/>
              <p:cNvSpPr txBox="1"/>
              <p:nvPr/>
            </p:nvSpPr>
            <p:spPr>
              <a:xfrm>
                <a:off x="4859655" y="1298575"/>
                <a:ext cx="6135370" cy="292100"/>
              </a:xfrm>
              <a:prstGeom prst="rect">
                <a:avLst/>
              </a:prstGeom>
              <a:noFill/>
            </p:spPr>
            <p:txBody>
              <a:bodyPr wrap="square" lIns="18288" tIns="18288" rIns="18288">
                <a:spAutoFit/>
              </a:bodyPr>
              <a:lstStyle/>
              <a:p>
                <a:r>
                  <a:rPr sz="1250" b="0">
                    <a:solidFill>
                      <a:srgbClr val="242424"/>
                    </a:solidFill>
                    <a:latin typeface="微软雅黑"/>
                  </a:rPr>
                  <a:t>已知：工资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𝜔</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、宜居性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𝛼</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、迁移成本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𝜏</m:t>
                        </m:r>
                      </m:e>
                      <m:sub>
                        <m:r>
                          <a:rPr lang="en-US" sz="1250" b="0" i="1">
                            <a:solidFill>
                              <a:srgbClr val="242424"/>
                            </a:solidFill>
                            <a:latin typeface="DejaVu Math TeX Gyre" panose="02000503000000000000" charset="0"/>
                            <a:cs typeface="DejaVu Math TeX Gyre" panose="02000503000000000000" charset="0"/>
                          </a:rPr>
                          <m:t>𝑑𝑜</m:t>
                        </m:r>
                      </m:sub>
                    </m:sSub>
                  </m:oMath>
                </a14:m>
                <a:r>
                  <a:rPr sz="1250" b="0">
                    <a:solidFill>
                      <a:srgbClr val="242424"/>
                    </a:solidFill>
                    <a:latin typeface="微软雅黑"/>
                  </a:rPr>
                  <a:t>，以及技能分选参数</a:t>
                </a:r>
                <a14:m>
                  <m:oMath xmlns:m="http://schemas.openxmlformats.org/officeDocument/2006/math">
                    <m:r>
                      <a:rPr lang="en-US" sz="1250" b="0">
                        <a:solidFill>
                          <a:srgbClr val="242424"/>
                        </a:solidFill>
                        <a:latin typeface="DejaVu Math TeX Gyre" panose="02000503000000000000" charset="0"/>
                        <a:cs typeface="DejaVu Math TeX Gyre" panose="02000503000000000000" charset="0"/>
                      </a:rPr>
                      <m:t> </m:t>
                    </m:r>
                    <m:r>
                      <m:rPr>
                        <m:sty m:val="p"/>
                      </m:rPr>
                      <a:rPr lang="en-US" sz="1250" b="0">
                        <a:solidFill>
                          <a:srgbClr val="242424"/>
                        </a:solidFill>
                        <a:latin typeface="DejaVu Math TeX Gyre" panose="02000503000000000000" charset="0"/>
                        <a:cs typeface="DejaVu Math TeX Gyre" panose="02000503000000000000" charset="0"/>
                      </a:rPr>
                      <m:t>θ</m:t>
                    </m:r>
                  </m:oMath>
                </a14:m>
                <a:endParaRPr sz="1250" b="0">
                  <a:solidFill>
                    <a:srgbClr val="242424"/>
                  </a:solidFill>
                  <a:latin typeface="微软雅黑"/>
                </a:endParaRPr>
              </a:p>
            </p:txBody>
          </p:sp>
        </mc:Choice>
        <mc:Fallback>
          <p:sp>
            <p:nvSpPr>
              <p:cNvPr id="5" name="TextBox 52"/>
              <p:cNvSpPr txBox="1">
                <a:spLocks noRot="1" noChangeAspect="1" noMove="1" noResize="1" noEditPoints="1" noAdjustHandles="1" noChangeArrowheads="1" noChangeShapeType="1" noTextEdit="1"/>
              </p:cNvSpPr>
              <p:nvPr/>
            </p:nvSpPr>
            <p:spPr>
              <a:xfrm>
                <a:off x="4859655" y="1298575"/>
                <a:ext cx="6135370" cy="2921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3"/>
              <p:cNvSpPr txBox="1"/>
              <p:nvPr/>
            </p:nvSpPr>
            <p:spPr>
              <a:xfrm>
                <a:off x="4859655" y="1664335"/>
                <a:ext cx="6172200" cy="255905"/>
              </a:xfrm>
              <a:prstGeom prst="rect">
                <a:avLst/>
              </a:prstGeom>
              <a:noFill/>
            </p:spPr>
            <p:txBody>
              <a:bodyPr wrap="square" lIns="18288" tIns="18288" rIns="18288">
                <a:spAutoFit/>
              </a:bodyPr>
              <a:lstStyle/>
              <a:p>
                <a:r>
                  <a:rPr sz="1250" b="0">
                    <a:solidFill>
                      <a:srgbClr val="242424"/>
                    </a:solidFill>
                    <a:latin typeface="微软雅黑"/>
                  </a:rPr>
                  <a:t>代入迁移份额方程→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𝑑𝑜</m:t>
                        </m:r>
                      </m:sub>
                    </m:sSub>
                  </m:oMath>
                </a14:m>
                <a:endParaRPr sz="1250" b="0">
                  <a:solidFill>
                    <a:srgbClr val="242424"/>
                  </a:solidFill>
                  <a:latin typeface="微软雅黑"/>
                </a:endParaRPr>
              </a:p>
            </p:txBody>
          </p:sp>
        </mc:Choice>
        <mc:Fallback>
          <p:sp>
            <p:nvSpPr>
              <p:cNvPr id="6" name="TextBox 53"/>
              <p:cNvSpPr txBox="1">
                <a:spLocks noRot="1" noChangeAspect="1" noMove="1" noResize="1" noEditPoints="1" noAdjustHandles="1" noChangeArrowheads="1" noChangeShapeType="1" noTextEdit="1"/>
              </p:cNvSpPr>
              <p:nvPr/>
            </p:nvSpPr>
            <p:spPr>
              <a:xfrm>
                <a:off x="4859655" y="1664335"/>
                <a:ext cx="6172200" cy="25590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104" descr="wpsoffice"/>
          <p:cNvPicPr>
            <a:picLocks noChangeAspect="1"/>
          </p:cNvPicPr>
          <p:nvPr/>
        </p:nvPicPr>
        <p:blipFill>
          <a:blip r:embed="rId4"/>
          <a:stretch>
            <a:fillRect/>
          </a:stretch>
        </p:blipFill>
        <p:spPr>
          <a:xfrm>
            <a:off x="6075045" y="2258695"/>
            <a:ext cx="1249045" cy="413385"/>
          </a:xfrm>
          <a:prstGeom prst="rect">
            <a:avLst/>
          </a:prstGeom>
        </p:spPr>
      </p:pic>
      <p:sp>
        <p:nvSpPr>
          <p:cNvPr id="61" name="Rectangle 60"/>
          <p:cNvSpPr/>
          <p:nvPr/>
        </p:nvSpPr>
        <p:spPr>
          <a:xfrm>
            <a:off x="2080260" y="3136265"/>
            <a:ext cx="9235440" cy="85979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253615" y="3328670"/>
            <a:ext cx="429895" cy="429895"/>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3</a:t>
            </a:r>
            <a:endParaRPr sz="1500" b="1">
              <a:solidFill>
                <a:srgbClr val="FFFFFF"/>
              </a:solidFill>
            </a:endParaRPr>
          </a:p>
        </p:txBody>
      </p:sp>
      <p:sp>
        <p:nvSpPr>
          <p:cNvPr id="64" name="TextBox 63"/>
          <p:cNvSpPr txBox="1"/>
          <p:nvPr/>
        </p:nvSpPr>
        <p:spPr>
          <a:xfrm>
            <a:off x="2802255" y="3264535"/>
            <a:ext cx="2020570" cy="283210"/>
          </a:xfrm>
          <a:prstGeom prst="rect">
            <a:avLst/>
          </a:prstGeom>
          <a:noFill/>
        </p:spPr>
        <p:txBody>
          <a:bodyPr wrap="square" lIns="18288" tIns="18288" rIns="18288">
            <a:spAutoFit/>
          </a:bodyPr>
          <a:lstStyle/>
          <a:p>
            <a:r>
              <a:rPr sz="1400" b="1">
                <a:solidFill>
                  <a:srgbClr val="6E0875"/>
                </a:solidFill>
                <a:latin typeface="微软雅黑"/>
              </a:rPr>
              <a:t>③ 算产出、价格和工资</a:t>
            </a:r>
            <a:endParaRPr sz="1400" b="1">
              <a:solidFill>
                <a:srgbClr val="6E0875"/>
              </a:solidFill>
              <a:latin typeface="微软雅黑"/>
            </a:endParaRPr>
          </a:p>
        </p:txBody>
      </p:sp>
      <mc:AlternateContent xmlns:mc="http://schemas.openxmlformats.org/markup-compatibility/2006">
        <mc:Choice xmlns:a14="http://schemas.microsoft.com/office/drawing/2010/main" Requires="a14">
          <p:sp>
            <p:nvSpPr>
              <p:cNvPr id="65" name="TextBox 64"/>
              <p:cNvSpPr txBox="1"/>
              <p:nvPr/>
            </p:nvSpPr>
            <p:spPr>
              <a:xfrm>
                <a:off x="4859655" y="3218815"/>
                <a:ext cx="6135370" cy="255905"/>
              </a:xfrm>
              <a:prstGeom prst="rect">
                <a:avLst/>
              </a:prstGeom>
              <a:noFill/>
            </p:spPr>
            <p:txBody>
              <a:bodyPr wrap="square" lIns="18288" tIns="18288" rIns="18288">
                <a:spAutoFit/>
              </a:bodyPr>
              <a:lstStyle/>
              <a:p>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𝐻</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 → 生产率→ </a:t>
                </a:r>
                <a:r>
                  <a:rPr lang="en-US" sz="1250" b="0">
                    <a:solidFill>
                      <a:srgbClr val="242424"/>
                    </a:solidFill>
                    <a:latin typeface="微软雅黑"/>
                  </a:rPr>
                  <a:t>                       ;  </a:t>
                </a:r>
                <a:r>
                  <a:rPr sz="1250" b="0">
                    <a:solidFill>
                      <a:srgbClr val="242424"/>
                    </a:solidFill>
                    <a:latin typeface="微软雅黑"/>
                  </a:rPr>
                  <a:t>产出</a:t>
                </a:r>
                <a:r>
                  <a:rPr lang="en-US" sz="1250" b="0">
                    <a:solidFill>
                      <a:srgbClr val="242424"/>
                    </a:solidFill>
                    <a:latin typeface="微软雅黑"/>
                  </a:rPr>
                  <a:t> </a:t>
                </a:r>
                <a:r>
                  <a:rPr sz="1250" b="0">
                    <a:solidFill>
                      <a:srgbClr val="242424"/>
                    </a:solidFill>
                    <a:latin typeface="微软雅黑"/>
                  </a:rPr>
                  <a:t> </a:t>
                </a:r>
                <a:r>
                  <a:rPr lang="en-US" sz="1250" b="0">
                    <a:solidFill>
                      <a:srgbClr val="242424"/>
                    </a:solidFill>
                    <a:latin typeface="微软雅黑"/>
                  </a:rPr>
                  <a:t>                   </a:t>
                </a:r>
                <a:r>
                  <a:rPr sz="1250" b="0">
                    <a:solidFill>
                      <a:srgbClr val="242424"/>
                    </a:solidFill>
                    <a:latin typeface="微软雅黑"/>
                  </a:rPr>
                  <a:t>；由 CES 得 Y</a:t>
                </a:r>
                <a:endParaRPr sz="1250" b="0">
                  <a:solidFill>
                    <a:srgbClr val="242424"/>
                  </a:solidFill>
                  <a:latin typeface="微软雅黑"/>
                </a:endParaRPr>
              </a:p>
            </p:txBody>
          </p:sp>
        </mc:Choice>
        <mc:Fallback>
          <p:sp>
            <p:nvSpPr>
              <p:cNvPr id="65" name="TextBox 64"/>
              <p:cNvSpPr txBox="1">
                <a:spLocks noRot="1" noChangeAspect="1" noMove="1" noResize="1" noEditPoints="1" noAdjustHandles="1" noChangeArrowheads="1" noChangeShapeType="1" noTextEdit="1"/>
              </p:cNvSpPr>
              <p:nvPr/>
            </p:nvSpPr>
            <p:spPr>
              <a:xfrm>
                <a:off x="4859655" y="3218815"/>
                <a:ext cx="6135370" cy="255905"/>
              </a:xfrm>
              <a:prstGeom prst="rect">
                <a:avLst/>
              </a:prstGeom>
              <a:blipFill rotWithShape="1">
                <a:blip r:embed="rId5"/>
                <a:stretch>
                  <a:fillRect/>
                </a:stretch>
              </a:blipFill>
            </p:spPr>
            <p:txBody>
              <a:bodyPr/>
              <a:lstStyle/>
              <a:p>
                <a:r>
                  <a:rPr lang="zh-CN" altLang="en-US">
                    <a:noFill/>
                  </a:rPr>
                  <a:t> </a:t>
                </a:r>
              </a:p>
            </p:txBody>
          </p:sp>
        </mc:Fallback>
      </mc:AlternateContent>
      <p:sp>
        <p:nvSpPr>
          <p:cNvPr id="66" name="TextBox 65"/>
          <p:cNvSpPr txBox="1"/>
          <p:nvPr/>
        </p:nvSpPr>
        <p:spPr>
          <a:xfrm>
            <a:off x="4859655" y="3584575"/>
            <a:ext cx="6172200" cy="255270"/>
          </a:xfrm>
          <a:prstGeom prst="rect">
            <a:avLst/>
          </a:prstGeom>
          <a:noFill/>
        </p:spPr>
        <p:txBody>
          <a:bodyPr wrap="square" lIns="18288" tIns="18288" rIns="18288">
            <a:spAutoFit/>
          </a:bodyPr>
          <a:lstStyle/>
          <a:p>
            <a:r>
              <a:rPr sz="1250" b="0">
                <a:solidFill>
                  <a:srgbClr val="242424"/>
                </a:solidFill>
                <a:latin typeface="微软雅黑"/>
              </a:rPr>
              <a:t>产品价格 </a:t>
            </a:r>
            <a:r>
              <a:rPr lang="en-US" sz="1250" b="0">
                <a:solidFill>
                  <a:srgbClr val="242424"/>
                </a:solidFill>
                <a:latin typeface="微软雅黑"/>
              </a:rPr>
              <a:t>                         </a:t>
            </a:r>
            <a:r>
              <a:rPr sz="1250" b="0">
                <a:solidFill>
                  <a:srgbClr val="242424"/>
                </a:solidFill>
                <a:latin typeface="微软雅黑"/>
              </a:rPr>
              <a:t>；竞争工资</a:t>
            </a:r>
            <a:endParaRPr sz="1250" b="0">
              <a:solidFill>
                <a:srgbClr val="242424"/>
              </a:solidFill>
              <a:latin typeface="微软雅黑"/>
            </a:endParaRPr>
          </a:p>
        </p:txBody>
      </p:sp>
      <p:pic>
        <p:nvPicPr>
          <p:cNvPr id="4" name="334E55B0-647D-440b-865C-3EC943EB4CBC-105" descr="wpsoffice"/>
          <p:cNvPicPr>
            <a:picLocks noChangeAspect="1"/>
          </p:cNvPicPr>
          <p:nvPr/>
        </p:nvPicPr>
        <p:blipFill>
          <a:blip r:embed="rId6"/>
          <a:stretch>
            <a:fillRect/>
          </a:stretch>
        </p:blipFill>
        <p:spPr>
          <a:xfrm>
            <a:off x="6075045" y="3221355"/>
            <a:ext cx="1073785" cy="244475"/>
          </a:xfrm>
          <a:prstGeom prst="rect">
            <a:avLst/>
          </a:prstGeom>
        </p:spPr>
      </p:pic>
      <p:pic>
        <p:nvPicPr>
          <p:cNvPr id="3" name="334E55B0-647D-440b-865C-3EC943EB4CBC-106" descr="wpsoffice"/>
          <p:cNvPicPr>
            <a:picLocks noChangeAspect="1"/>
          </p:cNvPicPr>
          <p:nvPr/>
        </p:nvPicPr>
        <p:blipFill>
          <a:blip r:embed="rId7"/>
          <a:stretch>
            <a:fillRect/>
          </a:stretch>
        </p:blipFill>
        <p:spPr>
          <a:xfrm>
            <a:off x="7689850" y="3249930"/>
            <a:ext cx="860425" cy="168910"/>
          </a:xfrm>
          <a:prstGeom prst="rect">
            <a:avLst/>
          </a:prstGeom>
        </p:spPr>
      </p:pic>
      <p:pic>
        <p:nvPicPr>
          <p:cNvPr id="2" name="334E55B0-647D-440b-865C-3EC943EB4CBC-107" descr="wpsoffice"/>
          <p:cNvPicPr>
            <a:picLocks noChangeAspect="1"/>
          </p:cNvPicPr>
          <p:nvPr/>
        </p:nvPicPr>
        <p:blipFill>
          <a:blip r:embed="rId8"/>
          <a:stretch>
            <a:fillRect/>
          </a:stretch>
        </p:blipFill>
        <p:spPr>
          <a:xfrm>
            <a:off x="5559425" y="3497580"/>
            <a:ext cx="1118235" cy="356870"/>
          </a:xfrm>
          <a:prstGeom prst="rect">
            <a:avLst/>
          </a:prstGeom>
        </p:spPr>
      </p:pic>
      <p:pic>
        <p:nvPicPr>
          <p:cNvPr id="8" name="334E55B0-647D-440b-865C-3EC943EB4CBC-108" descr="wpsoffice"/>
          <p:cNvPicPr>
            <a:picLocks noChangeAspect="1"/>
          </p:cNvPicPr>
          <p:nvPr/>
        </p:nvPicPr>
        <p:blipFill>
          <a:blip r:embed="rId9"/>
          <a:stretch>
            <a:fillRect/>
          </a:stretch>
        </p:blipFill>
        <p:spPr>
          <a:xfrm>
            <a:off x="7600315" y="3589655"/>
            <a:ext cx="1174115" cy="233045"/>
          </a:xfrm>
          <a:prstGeom prst="rect">
            <a:avLst/>
          </a:prstGeom>
        </p:spPr>
      </p:pic>
      <p:sp>
        <p:nvSpPr>
          <p:cNvPr id="9" name="Rectangle 55"/>
          <p:cNvSpPr/>
          <p:nvPr/>
        </p:nvSpPr>
        <p:spPr>
          <a:xfrm>
            <a:off x="2084705" y="3136265"/>
            <a:ext cx="50165" cy="859790"/>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3"/>
          <p:cNvSpPr txBox="1"/>
          <p:nvPr/>
        </p:nvSpPr>
        <p:spPr>
          <a:xfrm>
            <a:off x="2542032" y="338328"/>
            <a:ext cx="8522208" cy="834390"/>
          </a:xfrm>
          <a:prstGeom prst="rect">
            <a:avLst/>
          </a:prstGeom>
          <a:noFill/>
        </p:spPr>
        <p:txBody>
          <a:bodyPr wrap="square" lIns="18288" tIns="18288" rIns="18288" bIns="9144">
            <a:spAutoFit/>
          </a:bodyPr>
          <a:lstStyle/>
          <a:p>
            <a:pPr>
              <a:spcAft>
                <a:spcPts val="300"/>
              </a:spcAft>
            </a:pPr>
            <a:r>
              <a:rPr sz="2500" b="1">
                <a:solidFill>
                  <a:srgbClr val="2A272B"/>
                </a:solidFill>
                <a:latin typeface="微软雅黑"/>
                <a:sym typeface="+mn-ea"/>
              </a:rPr>
              <a:t>个人与厂商如何联立成空间一般均衡？</a:t>
            </a:r>
            <a:endParaRPr sz="2500" b="1">
              <a:solidFill>
                <a:srgbClr val="2A272B"/>
              </a:solidFill>
              <a:latin typeface="微软雅黑"/>
            </a:endParaRPr>
          </a:p>
          <a:p>
            <a:pPr>
              <a:spcAft>
                <a:spcPts val="300"/>
              </a:spcAft>
            </a:pPr>
            <a:endParaRPr lang="zh-CN" altLang="en-US" sz="2500" b="1" i="0">
              <a:solidFill>
                <a:srgbClr val="1C1C1C"/>
              </a:solidFill>
              <a:latin typeface="微软雅黑"/>
            </a:endParaRPr>
          </a:p>
        </p:txBody>
      </p:sp>
      <p:sp>
        <p:nvSpPr>
          <p:cNvPr id="53" name="TextBox 2"/>
          <p:cNvSpPr txBox="1"/>
          <p:nvPr/>
        </p:nvSpPr>
        <p:spPr>
          <a:xfrm>
            <a:off x="1979676" y="420624"/>
            <a:ext cx="402336" cy="299085"/>
          </a:xfrm>
          <a:prstGeom prst="rect">
            <a:avLst/>
          </a:prstGeom>
          <a:noFill/>
        </p:spPr>
        <p:txBody>
          <a:bodyPr wrap="square" lIns="27432" tIns="13716" rIns="27432" bIns="9144">
            <a:spAutoFit/>
          </a:bodyPr>
          <a:lstStyle/>
          <a:p>
            <a:pPr algn="ctr">
              <a:spcAft>
                <a:spcPts val="200"/>
              </a:spcAft>
              <a:defRPr sz="1200" b="1" i="0">
                <a:solidFill>
                  <a:srgbClr val="FFFFFF"/>
                </a:solidFill>
                <a:latin typeface="微软雅黑"/>
              </a:defRPr>
            </a:pPr>
            <a:r>
              <a:rPr lang="en-US" sz="1800">
                <a:latin typeface="Times New Roman" panose="02020503050405090304" pitchFamily="18" charset="0"/>
                <a:cs typeface="Times New Roman" panose="02020503050405090304" pitchFamily="18" charset="0"/>
              </a:rPr>
              <a:t>2.5</a:t>
            </a:r>
            <a:endParaRPr lang="en-US" sz="1800">
              <a:latin typeface="Times New Roman" panose="02020503050405090304" pitchFamily="18" charset="0"/>
              <a:cs typeface="Times New Roman" panose="02020503050405090304" pitchFamily="18" charset="0"/>
            </a:endParaRPr>
          </a:p>
        </p:txBody>
      </p:sp>
      <p:grpSp>
        <p:nvGrpSpPr>
          <p:cNvPr id="79" name="组合 78"/>
          <p:cNvGrpSpPr/>
          <p:nvPr/>
        </p:nvGrpSpPr>
        <p:grpSpPr>
          <a:xfrm>
            <a:off x="2080260" y="1216025"/>
            <a:ext cx="9235440" cy="1819910"/>
            <a:chOff x="3226" y="2390"/>
            <a:chExt cx="14544" cy="2866"/>
          </a:xfrm>
        </p:grpSpPr>
        <p:sp>
          <p:nvSpPr>
            <p:cNvPr id="55" name="Rectangle 54"/>
            <p:cNvSpPr/>
            <p:nvPr/>
          </p:nvSpPr>
          <p:spPr>
            <a:xfrm>
              <a:off x="3226" y="3902"/>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8" name="组合 77"/>
            <p:cNvGrpSpPr/>
            <p:nvPr/>
          </p:nvGrpSpPr>
          <p:grpSpPr>
            <a:xfrm>
              <a:off x="3226" y="2390"/>
              <a:ext cx="14544" cy="2866"/>
              <a:chOff x="3226" y="2390"/>
              <a:chExt cx="14544" cy="2866"/>
            </a:xfrm>
          </p:grpSpPr>
          <p:sp>
            <p:nvSpPr>
              <p:cNvPr id="49" name="Rectangle 48"/>
              <p:cNvSpPr/>
              <p:nvPr/>
            </p:nvSpPr>
            <p:spPr>
              <a:xfrm>
                <a:off x="3226" y="2390"/>
                <a:ext cx="14544" cy="1354"/>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26" y="2390"/>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99" y="2693"/>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1</a:t>
                </a:r>
                <a:endParaRPr sz="1500" b="1">
                  <a:solidFill>
                    <a:srgbClr val="FFFFFF"/>
                  </a:solidFill>
                </a:endParaRPr>
              </a:p>
            </p:txBody>
          </p:sp>
          <p:sp>
            <p:nvSpPr>
              <p:cNvPr id="52" name="TextBox 51"/>
              <p:cNvSpPr txBox="1"/>
              <p:nvPr/>
            </p:nvSpPr>
            <p:spPr>
              <a:xfrm>
                <a:off x="4363" y="2592"/>
                <a:ext cx="3182" cy="446"/>
              </a:xfrm>
              <a:prstGeom prst="rect">
                <a:avLst/>
              </a:prstGeom>
              <a:noFill/>
            </p:spPr>
            <p:txBody>
              <a:bodyPr wrap="square" lIns="18288" tIns="18288" rIns="18288">
                <a:spAutoFit/>
              </a:bodyPr>
              <a:lstStyle/>
              <a:p>
                <a:r>
                  <a:rPr sz="1400" b="1">
                    <a:solidFill>
                      <a:srgbClr val="6E0875"/>
                    </a:solidFill>
                    <a:latin typeface="微软雅黑"/>
                  </a:rPr>
                  <a:t>① 算迁移份额</a:t>
                </a:r>
                <a:endParaRPr sz="1400" b="1">
                  <a:solidFill>
                    <a:srgbClr val="6E0875"/>
                  </a:solidFill>
                  <a:latin typeface="微软雅黑"/>
                </a:endParaRPr>
              </a:p>
            </p:txBody>
          </p:sp>
          <p:sp>
            <p:nvSpPr>
              <p:cNvPr id="56" name="Rectangle 55"/>
              <p:cNvSpPr/>
              <p:nvPr/>
            </p:nvSpPr>
            <p:spPr>
              <a:xfrm>
                <a:off x="3226" y="3902"/>
                <a:ext cx="79" cy="1354"/>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99" y="4205"/>
                <a:ext cx="677" cy="677"/>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2</a:t>
                </a:r>
                <a:endParaRPr sz="1500" b="1">
                  <a:solidFill>
                    <a:srgbClr val="FFFFFF"/>
                  </a:solidFill>
                </a:endParaRPr>
              </a:p>
            </p:txBody>
          </p:sp>
          <p:sp>
            <p:nvSpPr>
              <p:cNvPr id="58" name="TextBox 57"/>
              <p:cNvSpPr txBox="1"/>
              <p:nvPr/>
            </p:nvSpPr>
            <p:spPr>
              <a:xfrm>
                <a:off x="4363" y="4104"/>
                <a:ext cx="3182" cy="446"/>
              </a:xfrm>
              <a:prstGeom prst="rect">
                <a:avLst/>
              </a:prstGeom>
              <a:noFill/>
            </p:spPr>
            <p:txBody>
              <a:bodyPr wrap="square" lIns="18288" tIns="18288" rIns="18288">
                <a:spAutoFit/>
              </a:bodyPr>
              <a:lstStyle/>
              <a:p>
                <a:r>
                  <a:rPr sz="1400" b="1">
                    <a:solidFill>
                      <a:srgbClr val="6E0875"/>
                    </a:solidFill>
                    <a:latin typeface="微软雅黑"/>
                  </a:rPr>
                  <a:t>② 算人数与有效劳动</a:t>
                </a:r>
                <a:endParaRPr sz="1400" b="1">
                  <a:solidFill>
                    <a:srgbClr val="6E0875"/>
                  </a:solidFill>
                  <a:latin typeface="微软雅黑"/>
                </a:endParaRPr>
              </a:p>
            </p:txBody>
          </p:sp>
          <p:sp>
            <p:nvSpPr>
              <p:cNvPr id="59" name="TextBox 58"/>
              <p:cNvSpPr txBox="1"/>
              <p:nvPr/>
            </p:nvSpPr>
            <p:spPr>
              <a:xfrm>
                <a:off x="7603" y="4032"/>
                <a:ext cx="9662" cy="402"/>
              </a:xfrm>
              <a:prstGeom prst="rect">
                <a:avLst/>
              </a:prstGeom>
              <a:noFill/>
            </p:spPr>
            <p:txBody>
              <a:bodyPr wrap="square" lIns="18288" tIns="18288" rIns="18288">
                <a:spAutoFit/>
              </a:bodyPr>
              <a:lstStyle/>
              <a:p>
                <a:r>
                  <a:rPr sz="1250" b="0">
                    <a:solidFill>
                      <a:srgbClr val="242424"/>
                    </a:solidFill>
                    <a:latin typeface="微软雅黑"/>
                  </a:rPr>
                  <a:t>地区 d 的人口：</a:t>
                </a:r>
                <a:endParaRPr sz="1250" b="0">
                  <a:solidFill>
                    <a:srgbClr val="242424"/>
                  </a:solidFill>
                  <a:latin typeface="微软雅黑"/>
                </a:endParaRPr>
              </a:p>
            </p:txBody>
          </p:sp>
          <mc:AlternateContent xmlns:mc="http://schemas.openxmlformats.org/markup-compatibility/2006">
            <mc:Choice xmlns:a14="http://schemas.microsoft.com/office/drawing/2010/main" Requires="a14">
              <p:sp>
                <p:nvSpPr>
                  <p:cNvPr id="60" name="TextBox 59"/>
                  <p:cNvSpPr txBox="1"/>
                  <p:nvPr/>
                </p:nvSpPr>
                <p:spPr>
                  <a:xfrm>
                    <a:off x="7603" y="4608"/>
                    <a:ext cx="9720" cy="403"/>
                  </a:xfrm>
                  <a:prstGeom prst="rect">
                    <a:avLst/>
                  </a:prstGeom>
                  <a:noFill/>
                </p:spPr>
                <p:txBody>
                  <a:bodyPr wrap="square" lIns="18288" tIns="18288" rIns="18288">
                    <a:spAutoFit/>
                  </a:bodyPr>
                  <a:lstStyle/>
                  <a:p>
                    <a:r>
                      <a:rPr sz="1250" b="0">
                        <a:solidFill>
                          <a:srgbClr val="242424"/>
                        </a:solidFill>
                        <a:latin typeface="微软雅黑"/>
                      </a:rPr>
                      <a:t>有效劳动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𝐻</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：按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𝐿</m:t>
                            </m:r>
                          </m:e>
                          <m:sub>
                            <m:r>
                              <a:rPr lang="en-US" sz="1250" i="1">
                                <a:solidFill>
                                  <a:srgbClr val="242424"/>
                                </a:solidFill>
                                <a:latin typeface="DejaVu Math TeX Gyre" panose="02000503000000000000" charset="0"/>
                                <a:cs typeface="DejaVu Math TeX Gyre" panose="02000503000000000000" charset="0"/>
                              </a:rPr>
                              <m:t>𝑜</m:t>
                            </m:r>
                          </m:sub>
                        </m:sSub>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𝑜𝑑</m:t>
                            </m:r>
                          </m:sub>
                        </m:sSub>
                      </m:oMath>
                    </a14:m>
                    <a:r>
                      <a:rPr sz="1250" b="0">
                        <a:solidFill>
                          <a:srgbClr val="242424"/>
                        </a:solidFill>
                        <a:latin typeface="微软雅黑"/>
                      </a:rPr>
                      <a:t> 计算各群体人数，再乘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𝑞</m:t>
                            </m:r>
                          </m:e>
                          <m:sub>
                            <m:r>
                              <a:rPr lang="en-US" sz="1250" i="1">
                                <a:solidFill>
                                  <a:srgbClr val="242424"/>
                                </a:solidFill>
                                <a:latin typeface="DejaVu Math TeX Gyre" panose="02000503000000000000" charset="0"/>
                                <a:cs typeface="DejaVu Math TeX Gyre" panose="02000503000000000000" charset="0"/>
                              </a:rPr>
                              <m:t>𝑜</m:t>
                            </m:r>
                          </m:sub>
                        </m:sSub>
                      </m:oMath>
                    </a14:m>
                    <a:r>
                      <a:rPr sz="1250" b="0">
                        <a:solidFill>
                          <a:srgbClr val="242424"/>
                        </a:solidFill>
                        <a:latin typeface="微软雅黑"/>
                      </a:rPr>
                      <a:t> 与该群体平均技能并汇总</a:t>
                    </a:r>
                    <a:endParaRPr sz="1250" b="0">
                      <a:solidFill>
                        <a:srgbClr val="242424"/>
                      </a:solidFill>
                      <a:latin typeface="微软雅黑"/>
                    </a:endParaRPr>
                  </a:p>
                </p:txBody>
              </p:sp>
            </mc:Choice>
            <mc:Fallback>
              <p:sp>
                <p:nvSpPr>
                  <p:cNvPr id="60" name="TextBox 59"/>
                  <p:cNvSpPr txBox="1">
                    <a:spLocks noRot="1" noChangeAspect="1" noMove="1" noResize="1" noEditPoints="1" noAdjustHandles="1" noChangeArrowheads="1" noChangeShapeType="1" noTextEdit="1"/>
                  </p:cNvSpPr>
                  <p:nvPr/>
                </p:nvSpPr>
                <p:spPr>
                  <a:xfrm>
                    <a:off x="7603" y="4608"/>
                    <a:ext cx="9720" cy="403"/>
                  </a:xfrm>
                  <a:prstGeom prst="rect">
                    <a:avLst/>
                  </a:prstGeom>
                  <a:blipFill rotWithShape="1">
                    <a:blip r:embed="rId1"/>
                  </a:blipFill>
                </p:spPr>
                <p:txBody>
                  <a:bodyPr/>
                  <a:lstStyle/>
                  <a:p>
                    <a:r>
                      <a:rPr lang="zh-CN" altLang="en-US">
                        <a:noFill/>
                      </a:rPr>
                      <a:t> </a:t>
                    </a:r>
                  </a:p>
                </p:txBody>
              </p:sp>
            </mc:Fallback>
          </mc:AlternateContent>
        </p:grpSp>
      </p:grpSp>
      <mc:AlternateContent xmlns:mc="http://schemas.openxmlformats.org/markup-compatibility/2006">
        <mc:Choice xmlns:a14="http://schemas.microsoft.com/office/drawing/2010/main" Requires="a14">
          <p:sp>
            <p:nvSpPr>
              <p:cNvPr id="5" name="TextBox 52"/>
              <p:cNvSpPr txBox="1"/>
              <p:nvPr/>
            </p:nvSpPr>
            <p:spPr>
              <a:xfrm>
                <a:off x="4859655" y="1298575"/>
                <a:ext cx="6135370" cy="292100"/>
              </a:xfrm>
              <a:prstGeom prst="rect">
                <a:avLst/>
              </a:prstGeom>
              <a:noFill/>
            </p:spPr>
            <p:txBody>
              <a:bodyPr wrap="square" lIns="18288" tIns="18288" rIns="18288">
                <a:spAutoFit/>
              </a:bodyPr>
              <a:lstStyle/>
              <a:p>
                <a:r>
                  <a:rPr sz="1250" b="0">
                    <a:solidFill>
                      <a:srgbClr val="242424"/>
                    </a:solidFill>
                    <a:latin typeface="微软雅黑"/>
                  </a:rPr>
                  <a:t>已知：工资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𝜔</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、宜居性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𝛼</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、迁移成本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𝜏</m:t>
                        </m:r>
                      </m:e>
                      <m:sub>
                        <m:r>
                          <a:rPr lang="en-US" sz="1250" b="0" i="1">
                            <a:solidFill>
                              <a:srgbClr val="242424"/>
                            </a:solidFill>
                            <a:latin typeface="DejaVu Math TeX Gyre" panose="02000503000000000000" charset="0"/>
                            <a:cs typeface="DejaVu Math TeX Gyre" panose="02000503000000000000" charset="0"/>
                          </a:rPr>
                          <m:t>𝑑𝑜</m:t>
                        </m:r>
                      </m:sub>
                    </m:sSub>
                  </m:oMath>
                </a14:m>
                <a:r>
                  <a:rPr sz="1250" b="0">
                    <a:solidFill>
                      <a:srgbClr val="242424"/>
                    </a:solidFill>
                    <a:latin typeface="微软雅黑"/>
                  </a:rPr>
                  <a:t>，以及技能分选参数</a:t>
                </a:r>
                <a14:m>
                  <m:oMath xmlns:m="http://schemas.openxmlformats.org/officeDocument/2006/math">
                    <m:r>
                      <a:rPr lang="en-US" sz="1250" b="0">
                        <a:solidFill>
                          <a:srgbClr val="242424"/>
                        </a:solidFill>
                        <a:latin typeface="DejaVu Math TeX Gyre" panose="02000503000000000000" charset="0"/>
                        <a:cs typeface="DejaVu Math TeX Gyre" panose="02000503000000000000" charset="0"/>
                      </a:rPr>
                      <m:t> </m:t>
                    </m:r>
                    <m:r>
                      <m:rPr>
                        <m:sty m:val="p"/>
                      </m:rPr>
                      <a:rPr lang="en-US" sz="1250" b="0">
                        <a:solidFill>
                          <a:srgbClr val="242424"/>
                        </a:solidFill>
                        <a:latin typeface="DejaVu Math TeX Gyre" panose="02000503000000000000" charset="0"/>
                        <a:cs typeface="DejaVu Math TeX Gyre" panose="02000503000000000000" charset="0"/>
                      </a:rPr>
                      <m:t>θ</m:t>
                    </m:r>
                  </m:oMath>
                </a14:m>
                <a:endParaRPr sz="1250" b="0">
                  <a:solidFill>
                    <a:srgbClr val="242424"/>
                  </a:solidFill>
                  <a:latin typeface="微软雅黑"/>
                </a:endParaRPr>
              </a:p>
            </p:txBody>
          </p:sp>
        </mc:Choice>
        <mc:Fallback>
          <p:sp>
            <p:nvSpPr>
              <p:cNvPr id="5" name="TextBox 52"/>
              <p:cNvSpPr txBox="1">
                <a:spLocks noRot="1" noChangeAspect="1" noMove="1" noResize="1" noEditPoints="1" noAdjustHandles="1" noChangeArrowheads="1" noChangeShapeType="1" noTextEdit="1"/>
              </p:cNvSpPr>
              <p:nvPr/>
            </p:nvSpPr>
            <p:spPr>
              <a:xfrm>
                <a:off x="4859655" y="1298575"/>
                <a:ext cx="6135370" cy="2921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TextBox 53"/>
              <p:cNvSpPr txBox="1"/>
              <p:nvPr/>
            </p:nvSpPr>
            <p:spPr>
              <a:xfrm>
                <a:off x="4859655" y="1664335"/>
                <a:ext cx="6172200" cy="255905"/>
              </a:xfrm>
              <a:prstGeom prst="rect">
                <a:avLst/>
              </a:prstGeom>
              <a:noFill/>
            </p:spPr>
            <p:txBody>
              <a:bodyPr wrap="square" lIns="18288" tIns="18288" rIns="18288">
                <a:spAutoFit/>
              </a:bodyPr>
              <a:lstStyle/>
              <a:p>
                <a:r>
                  <a:rPr sz="1250" b="0">
                    <a:solidFill>
                      <a:srgbClr val="242424"/>
                    </a:solidFill>
                    <a:latin typeface="微软雅黑"/>
                  </a:rPr>
                  <a:t>代入迁移份额方程→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𝑑𝑜</m:t>
                        </m:r>
                      </m:sub>
                    </m:sSub>
                  </m:oMath>
                </a14:m>
                <a:endParaRPr sz="1250" b="0">
                  <a:solidFill>
                    <a:srgbClr val="242424"/>
                  </a:solidFill>
                  <a:latin typeface="微软雅黑"/>
                </a:endParaRPr>
              </a:p>
            </p:txBody>
          </p:sp>
        </mc:Choice>
        <mc:Fallback>
          <p:sp>
            <p:nvSpPr>
              <p:cNvPr id="6" name="TextBox 53"/>
              <p:cNvSpPr txBox="1">
                <a:spLocks noRot="1" noChangeAspect="1" noMove="1" noResize="1" noEditPoints="1" noAdjustHandles="1" noChangeArrowheads="1" noChangeShapeType="1" noTextEdit="1"/>
              </p:cNvSpPr>
              <p:nvPr/>
            </p:nvSpPr>
            <p:spPr>
              <a:xfrm>
                <a:off x="4859655" y="1664335"/>
                <a:ext cx="6172200" cy="255905"/>
              </a:xfrm>
              <a:prstGeom prst="rect">
                <a:avLst/>
              </a:prstGeom>
              <a:blipFill rotWithShape="1">
                <a:blip r:embed="rId3"/>
                <a:stretch>
                  <a:fillRect/>
                </a:stretch>
              </a:blipFill>
            </p:spPr>
            <p:txBody>
              <a:bodyPr/>
              <a:lstStyle/>
              <a:p>
                <a:r>
                  <a:rPr lang="zh-CN" altLang="en-US">
                    <a:noFill/>
                  </a:rPr>
                  <a:t> </a:t>
                </a:r>
              </a:p>
            </p:txBody>
          </p:sp>
        </mc:Fallback>
      </mc:AlternateContent>
      <p:pic>
        <p:nvPicPr>
          <p:cNvPr id="7" name="334E55B0-647D-440b-865C-3EC943EB4CBC-109" descr="wpsoffice"/>
          <p:cNvPicPr>
            <a:picLocks noChangeAspect="1"/>
          </p:cNvPicPr>
          <p:nvPr/>
        </p:nvPicPr>
        <p:blipFill>
          <a:blip r:embed="rId4"/>
          <a:stretch>
            <a:fillRect/>
          </a:stretch>
        </p:blipFill>
        <p:spPr>
          <a:xfrm>
            <a:off x="6075045" y="2258695"/>
            <a:ext cx="1249045" cy="413385"/>
          </a:xfrm>
          <a:prstGeom prst="rect">
            <a:avLst/>
          </a:prstGeom>
        </p:spPr>
      </p:pic>
      <p:sp>
        <p:nvSpPr>
          <p:cNvPr id="61" name="Rectangle 60"/>
          <p:cNvSpPr/>
          <p:nvPr/>
        </p:nvSpPr>
        <p:spPr>
          <a:xfrm>
            <a:off x="2080260" y="3136265"/>
            <a:ext cx="9235440" cy="85979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253615" y="3328670"/>
            <a:ext cx="429895" cy="429895"/>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3</a:t>
            </a:r>
            <a:endParaRPr sz="1500" b="1">
              <a:solidFill>
                <a:srgbClr val="FFFFFF"/>
              </a:solidFill>
            </a:endParaRPr>
          </a:p>
        </p:txBody>
      </p:sp>
      <p:sp>
        <p:nvSpPr>
          <p:cNvPr id="64" name="TextBox 63"/>
          <p:cNvSpPr txBox="1"/>
          <p:nvPr/>
        </p:nvSpPr>
        <p:spPr>
          <a:xfrm>
            <a:off x="2802255" y="3264535"/>
            <a:ext cx="2020570" cy="283210"/>
          </a:xfrm>
          <a:prstGeom prst="rect">
            <a:avLst/>
          </a:prstGeom>
          <a:noFill/>
        </p:spPr>
        <p:txBody>
          <a:bodyPr wrap="square" lIns="18288" tIns="18288" rIns="18288">
            <a:spAutoFit/>
          </a:bodyPr>
          <a:lstStyle/>
          <a:p>
            <a:r>
              <a:rPr sz="1400" b="1">
                <a:solidFill>
                  <a:srgbClr val="6E0875"/>
                </a:solidFill>
                <a:latin typeface="微软雅黑"/>
              </a:rPr>
              <a:t>③ 算产出、价格和工资</a:t>
            </a:r>
            <a:endParaRPr sz="1400" b="1">
              <a:solidFill>
                <a:srgbClr val="6E0875"/>
              </a:solidFill>
              <a:latin typeface="微软雅黑"/>
            </a:endParaRPr>
          </a:p>
        </p:txBody>
      </p:sp>
      <mc:AlternateContent xmlns:mc="http://schemas.openxmlformats.org/markup-compatibility/2006">
        <mc:Choice xmlns:a14="http://schemas.microsoft.com/office/drawing/2010/main" Requires="a14">
          <p:sp>
            <p:nvSpPr>
              <p:cNvPr id="65" name="TextBox 64"/>
              <p:cNvSpPr txBox="1"/>
              <p:nvPr/>
            </p:nvSpPr>
            <p:spPr>
              <a:xfrm>
                <a:off x="4859655" y="3218815"/>
                <a:ext cx="6135370" cy="255905"/>
              </a:xfrm>
              <a:prstGeom prst="rect">
                <a:avLst/>
              </a:prstGeom>
              <a:noFill/>
            </p:spPr>
            <p:txBody>
              <a:bodyPr wrap="square" lIns="18288" tIns="18288" rIns="18288">
                <a:spAutoFit/>
              </a:bodyPr>
              <a:lstStyle/>
              <a:p>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b="0" i="1">
                            <a:solidFill>
                              <a:srgbClr val="242424"/>
                            </a:solidFill>
                            <a:latin typeface="DejaVu Math TeX Gyre" panose="02000503000000000000" charset="0"/>
                            <a:cs typeface="DejaVu Math TeX Gyre" panose="02000503000000000000" charset="0"/>
                          </a:rPr>
                          <m:t>𝐻</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 → 生产率→ </a:t>
                </a:r>
                <a:r>
                  <a:rPr lang="en-US" sz="1250" b="0">
                    <a:solidFill>
                      <a:srgbClr val="242424"/>
                    </a:solidFill>
                    <a:latin typeface="微软雅黑"/>
                  </a:rPr>
                  <a:t>                       ;  </a:t>
                </a:r>
                <a:r>
                  <a:rPr sz="1250" b="0">
                    <a:solidFill>
                      <a:srgbClr val="242424"/>
                    </a:solidFill>
                    <a:latin typeface="微软雅黑"/>
                  </a:rPr>
                  <a:t>产出</a:t>
                </a:r>
                <a:r>
                  <a:rPr lang="en-US" sz="1250" b="0">
                    <a:solidFill>
                      <a:srgbClr val="242424"/>
                    </a:solidFill>
                    <a:latin typeface="微软雅黑"/>
                  </a:rPr>
                  <a:t> </a:t>
                </a:r>
                <a:r>
                  <a:rPr sz="1250" b="0">
                    <a:solidFill>
                      <a:srgbClr val="242424"/>
                    </a:solidFill>
                    <a:latin typeface="微软雅黑"/>
                  </a:rPr>
                  <a:t> </a:t>
                </a:r>
                <a:r>
                  <a:rPr lang="en-US" sz="1250" b="0">
                    <a:solidFill>
                      <a:srgbClr val="242424"/>
                    </a:solidFill>
                    <a:latin typeface="微软雅黑"/>
                  </a:rPr>
                  <a:t>                   </a:t>
                </a:r>
                <a:r>
                  <a:rPr sz="1250" b="0">
                    <a:solidFill>
                      <a:srgbClr val="242424"/>
                    </a:solidFill>
                    <a:latin typeface="微软雅黑"/>
                  </a:rPr>
                  <a:t>；由 CES 得 Y</a:t>
                </a:r>
                <a:endParaRPr sz="1250" b="0">
                  <a:solidFill>
                    <a:srgbClr val="242424"/>
                  </a:solidFill>
                  <a:latin typeface="微软雅黑"/>
                </a:endParaRPr>
              </a:p>
            </p:txBody>
          </p:sp>
        </mc:Choice>
        <mc:Fallback>
          <p:sp>
            <p:nvSpPr>
              <p:cNvPr id="65" name="TextBox 64"/>
              <p:cNvSpPr txBox="1">
                <a:spLocks noRot="1" noChangeAspect="1" noMove="1" noResize="1" noEditPoints="1" noAdjustHandles="1" noChangeArrowheads="1" noChangeShapeType="1" noTextEdit="1"/>
              </p:cNvSpPr>
              <p:nvPr/>
            </p:nvSpPr>
            <p:spPr>
              <a:xfrm>
                <a:off x="4859655" y="3218815"/>
                <a:ext cx="6135370" cy="255905"/>
              </a:xfrm>
              <a:prstGeom prst="rect">
                <a:avLst/>
              </a:prstGeom>
              <a:blipFill rotWithShape="1">
                <a:blip r:embed="rId5"/>
                <a:stretch>
                  <a:fillRect/>
                </a:stretch>
              </a:blipFill>
            </p:spPr>
            <p:txBody>
              <a:bodyPr/>
              <a:lstStyle/>
              <a:p>
                <a:r>
                  <a:rPr lang="zh-CN" altLang="en-US">
                    <a:noFill/>
                  </a:rPr>
                  <a:t> </a:t>
                </a:r>
              </a:p>
            </p:txBody>
          </p:sp>
        </mc:Fallback>
      </mc:AlternateContent>
      <p:sp>
        <p:nvSpPr>
          <p:cNvPr id="66" name="TextBox 65"/>
          <p:cNvSpPr txBox="1"/>
          <p:nvPr/>
        </p:nvSpPr>
        <p:spPr>
          <a:xfrm>
            <a:off x="4859655" y="3584575"/>
            <a:ext cx="6172200" cy="255270"/>
          </a:xfrm>
          <a:prstGeom prst="rect">
            <a:avLst/>
          </a:prstGeom>
          <a:noFill/>
        </p:spPr>
        <p:txBody>
          <a:bodyPr wrap="square" lIns="18288" tIns="18288" rIns="18288">
            <a:spAutoFit/>
          </a:bodyPr>
          <a:lstStyle/>
          <a:p>
            <a:r>
              <a:rPr sz="1250" b="0">
                <a:solidFill>
                  <a:srgbClr val="242424"/>
                </a:solidFill>
                <a:latin typeface="微软雅黑"/>
              </a:rPr>
              <a:t>产品价格 </a:t>
            </a:r>
            <a:r>
              <a:rPr lang="en-US" sz="1250" b="0">
                <a:solidFill>
                  <a:srgbClr val="242424"/>
                </a:solidFill>
                <a:latin typeface="微软雅黑"/>
              </a:rPr>
              <a:t>                         </a:t>
            </a:r>
            <a:r>
              <a:rPr sz="1250" b="0">
                <a:solidFill>
                  <a:srgbClr val="242424"/>
                </a:solidFill>
                <a:latin typeface="微软雅黑"/>
              </a:rPr>
              <a:t>；竞争工资</a:t>
            </a:r>
            <a:endParaRPr sz="1250" b="0">
              <a:solidFill>
                <a:srgbClr val="242424"/>
              </a:solidFill>
              <a:latin typeface="微软雅黑"/>
            </a:endParaRPr>
          </a:p>
        </p:txBody>
      </p:sp>
      <p:pic>
        <p:nvPicPr>
          <p:cNvPr id="4" name="334E55B0-647D-440b-865C-3EC943EB4CBC-110" descr="wpsoffice"/>
          <p:cNvPicPr>
            <a:picLocks noChangeAspect="1"/>
          </p:cNvPicPr>
          <p:nvPr/>
        </p:nvPicPr>
        <p:blipFill>
          <a:blip r:embed="rId6"/>
          <a:stretch>
            <a:fillRect/>
          </a:stretch>
        </p:blipFill>
        <p:spPr>
          <a:xfrm>
            <a:off x="6075045" y="3221355"/>
            <a:ext cx="1073785" cy="244475"/>
          </a:xfrm>
          <a:prstGeom prst="rect">
            <a:avLst/>
          </a:prstGeom>
        </p:spPr>
      </p:pic>
      <p:pic>
        <p:nvPicPr>
          <p:cNvPr id="3" name="334E55B0-647D-440b-865C-3EC943EB4CBC-111" descr="wpsoffice"/>
          <p:cNvPicPr>
            <a:picLocks noChangeAspect="1"/>
          </p:cNvPicPr>
          <p:nvPr/>
        </p:nvPicPr>
        <p:blipFill>
          <a:blip r:embed="rId7"/>
          <a:stretch>
            <a:fillRect/>
          </a:stretch>
        </p:blipFill>
        <p:spPr>
          <a:xfrm>
            <a:off x="7689850" y="3249930"/>
            <a:ext cx="860425" cy="168910"/>
          </a:xfrm>
          <a:prstGeom prst="rect">
            <a:avLst/>
          </a:prstGeom>
        </p:spPr>
      </p:pic>
      <p:pic>
        <p:nvPicPr>
          <p:cNvPr id="2" name="334E55B0-647D-440b-865C-3EC943EB4CBC-112" descr="wpsoffice"/>
          <p:cNvPicPr>
            <a:picLocks noChangeAspect="1"/>
          </p:cNvPicPr>
          <p:nvPr/>
        </p:nvPicPr>
        <p:blipFill>
          <a:blip r:embed="rId8"/>
          <a:stretch>
            <a:fillRect/>
          </a:stretch>
        </p:blipFill>
        <p:spPr>
          <a:xfrm>
            <a:off x="5559425" y="3497580"/>
            <a:ext cx="1118235" cy="356870"/>
          </a:xfrm>
          <a:prstGeom prst="rect">
            <a:avLst/>
          </a:prstGeom>
        </p:spPr>
      </p:pic>
      <p:pic>
        <p:nvPicPr>
          <p:cNvPr id="8" name="334E55B0-647D-440b-865C-3EC943EB4CBC-113" descr="wpsoffice"/>
          <p:cNvPicPr>
            <a:picLocks noChangeAspect="1"/>
          </p:cNvPicPr>
          <p:nvPr/>
        </p:nvPicPr>
        <p:blipFill>
          <a:blip r:embed="rId9"/>
          <a:stretch>
            <a:fillRect/>
          </a:stretch>
        </p:blipFill>
        <p:spPr>
          <a:xfrm>
            <a:off x="7600315" y="3589655"/>
            <a:ext cx="1174115" cy="233045"/>
          </a:xfrm>
          <a:prstGeom prst="rect">
            <a:avLst/>
          </a:prstGeom>
        </p:spPr>
      </p:pic>
      <p:sp>
        <p:nvSpPr>
          <p:cNvPr id="67" name="Rectangle 66"/>
          <p:cNvSpPr/>
          <p:nvPr/>
        </p:nvSpPr>
        <p:spPr>
          <a:xfrm>
            <a:off x="2080260" y="4096385"/>
            <a:ext cx="9235440" cy="859790"/>
          </a:xfrm>
          <a:prstGeom prst="rect">
            <a:avLst/>
          </a:prstGeom>
          <a:solidFill>
            <a:srgbClr val="F1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253615" y="4288790"/>
            <a:ext cx="429895" cy="429895"/>
          </a:xfrm>
          <a:prstGeom prst="ellipse">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4</a:t>
            </a:r>
            <a:endParaRPr sz="1500" b="1">
              <a:solidFill>
                <a:srgbClr val="FFFFFF"/>
              </a:solidFill>
            </a:endParaRPr>
          </a:p>
        </p:txBody>
      </p:sp>
      <p:sp>
        <p:nvSpPr>
          <p:cNvPr id="70" name="TextBox 69"/>
          <p:cNvSpPr txBox="1"/>
          <p:nvPr/>
        </p:nvSpPr>
        <p:spPr>
          <a:xfrm>
            <a:off x="2802255" y="4224655"/>
            <a:ext cx="2020570" cy="283210"/>
          </a:xfrm>
          <a:prstGeom prst="rect">
            <a:avLst/>
          </a:prstGeom>
          <a:noFill/>
        </p:spPr>
        <p:txBody>
          <a:bodyPr wrap="square" lIns="18288" tIns="18288" rIns="18288">
            <a:spAutoFit/>
          </a:bodyPr>
          <a:lstStyle/>
          <a:p>
            <a:r>
              <a:rPr sz="1400" b="1">
                <a:solidFill>
                  <a:srgbClr val="6E0875"/>
                </a:solidFill>
                <a:latin typeface="微软雅黑"/>
              </a:rPr>
              <a:t>④ 更新宜居性，再算一次</a:t>
            </a:r>
            <a:endParaRPr sz="1400" b="1">
              <a:solidFill>
                <a:srgbClr val="6E0875"/>
              </a:solidFill>
              <a:latin typeface="微软雅黑"/>
            </a:endParaRPr>
          </a:p>
        </p:txBody>
      </p:sp>
      <mc:AlternateContent xmlns:mc="http://schemas.openxmlformats.org/markup-compatibility/2006">
        <mc:Choice xmlns:a14="http://schemas.microsoft.com/office/drawing/2010/main" Requires="a14">
          <p:sp>
            <p:nvSpPr>
              <p:cNvPr id="71" name="TextBox 70"/>
              <p:cNvSpPr txBox="1"/>
              <p:nvPr/>
            </p:nvSpPr>
            <p:spPr>
              <a:xfrm>
                <a:off x="4859655" y="4178935"/>
                <a:ext cx="6135370" cy="294005"/>
              </a:xfrm>
              <a:prstGeom prst="rect">
                <a:avLst/>
              </a:prstGeom>
              <a:noFill/>
            </p:spPr>
            <p:txBody>
              <a:bodyPr wrap="square" lIns="18288" tIns="18288" rIns="18288">
                <a:spAutoFit/>
              </a:bodyPr>
              <a:lstStyle/>
              <a:p>
                <a:r>
                  <a:rPr sz="1250" b="0">
                    <a:solidFill>
                      <a:srgbClr val="242424"/>
                    </a:solidFill>
                    <a:latin typeface="微软雅黑"/>
                  </a:rPr>
                  <a:t>地区人口</a:t>
                </a:r>
                <a:r>
                  <a:rPr sz="1250" b="0">
                    <a:solidFill>
                      <a:schemeClr val="tx1"/>
                    </a:solidFill>
                    <a:latin typeface="微软雅黑"/>
                  </a:rPr>
                  <a:t> </a:t>
                </a:r>
                <a14:m>
                  <m:oMath xmlns:m="http://schemas.openxmlformats.org/officeDocument/2006/math">
                    <m:sSub>
                      <m:sSubPr>
                        <m:ctrlPr>
                          <a:rPr lang="en-US" sz="1250" b="1" i="1">
                            <a:solidFill>
                              <a:schemeClr val="tx1"/>
                            </a:solidFill>
                            <a:latin typeface="DejaVu Math TeX Gyre" panose="02000503000000000000" charset="0"/>
                            <a:cs typeface="DejaVu Math TeX Gyre" panose="02000503000000000000" charset="0"/>
                          </a:rPr>
                        </m:ctrlPr>
                      </m:sSubPr>
                      <m:e>
                        <m:acc>
                          <m:accPr>
                            <m:ctrlPr>
                              <a:rPr lang="en-US" sz="1250" b="1" i="1">
                                <a:solidFill>
                                  <a:schemeClr val="tx1"/>
                                </a:solidFill>
                                <a:latin typeface="DejaVu Math TeX Gyre" panose="02000503000000000000" charset="0"/>
                                <a:cs typeface="DejaVu Math TeX Gyre" panose="02000503000000000000" charset="0"/>
                              </a:rPr>
                            </m:ctrlPr>
                          </m:accPr>
                          <m:e>
                            <m:r>
                              <a:rPr lang="en-US" sz="1250" b="1" i="1">
                                <a:solidFill>
                                  <a:schemeClr val="tx1"/>
                                </a:solidFill>
                                <a:latin typeface="DejaVu Math TeX Gyre" panose="02000503000000000000" charset="0"/>
                                <a:cs typeface="DejaVu Math TeX Gyre" panose="02000503000000000000" charset="0"/>
                              </a:rPr>
                              <m:t>𝑳</m:t>
                            </m:r>
                          </m:e>
                        </m:acc>
                      </m:e>
                      <m:sub>
                        <m:r>
                          <a:rPr lang="en-US" sz="1250" b="1" i="1">
                            <a:solidFill>
                              <a:schemeClr val="tx1"/>
                            </a:solidFill>
                            <a:latin typeface="DejaVu Math TeX Gyre" panose="02000503000000000000" charset="0"/>
                            <a:cs typeface="DejaVu Math TeX Gyre" panose="02000503000000000000" charset="0"/>
                          </a:rPr>
                          <m:t>𝒅</m:t>
                        </m:r>
                      </m:sub>
                    </m:sSub>
                  </m:oMath>
                </a14:m>
                <a:r>
                  <a:rPr sz="1250" b="0">
                    <a:solidFill>
                      <a:srgbClr val="242424"/>
                    </a:solidFill>
                    <a:latin typeface="微软雅黑"/>
                  </a:rPr>
                  <a:t> → 宜居性</a:t>
                </a:r>
                <a:r>
                  <a:rPr lang="en-US" sz="1250" b="0">
                    <a:solidFill>
                      <a:srgbClr val="242424"/>
                    </a:solidFill>
                    <a:latin typeface="微软雅黑"/>
                  </a:rPr>
                  <a:t>                  </a:t>
                </a:r>
                <a:endParaRPr lang="en-US" sz="1250" b="0">
                  <a:solidFill>
                    <a:srgbClr val="242424"/>
                  </a:solidFill>
                  <a:latin typeface="微软雅黑"/>
                </a:endParaRPr>
              </a:p>
            </p:txBody>
          </p:sp>
        </mc:Choice>
        <mc:Fallback>
          <p:sp>
            <p:nvSpPr>
              <p:cNvPr id="71" name="TextBox 70"/>
              <p:cNvSpPr txBox="1">
                <a:spLocks noRot="1" noChangeAspect="1" noMove="1" noResize="1" noEditPoints="1" noAdjustHandles="1" noChangeArrowheads="1" noChangeShapeType="1" noTextEdit="1"/>
              </p:cNvSpPr>
              <p:nvPr/>
            </p:nvSpPr>
            <p:spPr>
              <a:xfrm>
                <a:off x="4859655" y="4178935"/>
                <a:ext cx="6135370" cy="294005"/>
              </a:xfrm>
              <a:prstGeom prst="rect">
                <a:avLst/>
              </a:prstGeom>
              <a:blipFill rotWithShape="1">
                <a:blip r:embed="rId1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2" name="TextBox 71"/>
              <p:cNvSpPr txBox="1"/>
              <p:nvPr/>
            </p:nvSpPr>
            <p:spPr>
              <a:xfrm>
                <a:off x="4859655" y="4544695"/>
                <a:ext cx="6172200" cy="263525"/>
              </a:xfrm>
              <a:prstGeom prst="rect">
                <a:avLst/>
              </a:prstGeom>
              <a:noFill/>
            </p:spPr>
            <p:txBody>
              <a:bodyPr wrap="square" lIns="18288" tIns="18288" rIns="18288">
                <a:spAutoFit/>
              </a:bodyPr>
              <a:lstStyle/>
              <a:p>
                <a:r>
                  <a:rPr sz="1250" b="0">
                    <a:solidFill>
                      <a:srgbClr val="242424"/>
                    </a:solidFill>
                    <a:latin typeface="微软雅黑"/>
                  </a:rPr>
                  <a:t>将新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𝜔</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𝛼</m:t>
                        </m:r>
                      </m:e>
                      <m:sub>
                        <m:r>
                          <a:rPr lang="en-US" sz="1250" b="0" i="1">
                            <a:solidFill>
                              <a:srgbClr val="242424"/>
                            </a:solidFill>
                            <a:latin typeface="DejaVu Math TeX Gyre" panose="02000503000000000000" charset="0"/>
                            <a:cs typeface="DejaVu Math TeX Gyre" panose="02000503000000000000" charset="0"/>
                          </a:rPr>
                          <m:t>𝑑</m:t>
                        </m:r>
                      </m:sub>
                    </m:sSub>
                  </m:oMath>
                </a14:m>
                <a:r>
                  <a:rPr sz="1250" b="0">
                    <a:solidFill>
                      <a:srgbClr val="242424"/>
                    </a:solidFill>
                    <a:latin typeface="微软雅黑"/>
                  </a:rPr>
                  <a:t> 放回第①步，重算 </a:t>
                </a:r>
                <a14:m>
                  <m:oMath xmlns:m="http://schemas.openxmlformats.org/officeDocument/2006/math">
                    <m:sSub>
                      <m:sSubPr>
                        <m:ctrlPr>
                          <a:rPr lang="en-US" sz="1250" b="0" i="1">
                            <a:solidFill>
                              <a:srgbClr val="242424"/>
                            </a:solidFill>
                            <a:latin typeface="DejaVu Math TeX Gyre" panose="02000503000000000000" charset="0"/>
                            <a:cs typeface="DejaVu Math TeX Gyre" panose="02000503000000000000" charset="0"/>
                          </a:rPr>
                        </m:ctrlPr>
                      </m:sSubPr>
                      <m:e>
                        <m:r>
                          <a:rPr lang="en-US" sz="1250" i="1">
                            <a:solidFill>
                              <a:srgbClr val="242424"/>
                            </a:solidFill>
                            <a:latin typeface="DejaVu Math TeX Gyre" panose="02000503000000000000" charset="0"/>
                            <a:cs typeface="DejaVu Math TeX Gyre" panose="02000503000000000000" charset="0"/>
                          </a:rPr>
                          <m:t>𝜋</m:t>
                        </m:r>
                      </m:e>
                      <m:sub>
                        <m:r>
                          <a:rPr lang="en-US" sz="1250" b="0" i="1">
                            <a:solidFill>
                              <a:srgbClr val="242424"/>
                            </a:solidFill>
                            <a:latin typeface="DejaVu Math TeX Gyre" panose="02000503000000000000" charset="0"/>
                            <a:cs typeface="DejaVu Math TeX Gyre" panose="02000503000000000000" charset="0"/>
                          </a:rPr>
                          <m:t>𝑑𝑜</m:t>
                        </m:r>
                      </m:sub>
                    </m:sSub>
                  </m:oMath>
                </a14:m>
                <a:r>
                  <a:rPr sz="1250" b="0">
                    <a:solidFill>
                      <a:srgbClr val="242424"/>
                    </a:solidFill>
                    <a:latin typeface="微软雅黑"/>
                  </a:rPr>
                  <a:t>；直到 </a:t>
                </a:r>
                <a14:m>
                  <m:oMath xmlns:m="http://schemas.openxmlformats.org/officeDocument/2006/math">
                    <m:r>
                      <m:rPr>
                        <m:sty m:val="p"/>
                      </m:rPr>
                      <a:rPr lang="en-US" sz="1250">
                        <a:solidFill>
                          <a:srgbClr val="242424"/>
                        </a:solidFill>
                        <a:latin typeface="DejaVu Math TeX Gyre" panose="02000503000000000000" charset="0"/>
                        <a:cs typeface="DejaVu Math TeX Gyre" panose="02000503000000000000" charset="0"/>
                      </a:rPr>
                      <m:t>π</m:t>
                    </m:r>
                    <m:r>
                      <a:rPr lang="en-US" sz="1250" b="0">
                        <a:solidFill>
                          <a:srgbClr val="242424"/>
                        </a:solidFill>
                        <a:latin typeface="DejaVu Math TeX Gyre" panose="02000503000000000000" charset="0"/>
                        <a:cs typeface="DejaVu Math TeX Gyre" panose="02000503000000000000" charset="0"/>
                      </a:rPr>
                      <m:t>、</m:t>
                    </m:r>
                    <m:acc>
                      <m:accPr>
                        <m:ctrlPr>
                          <a:rPr lang="en-US" sz="1250" b="0" i="1">
                            <a:solidFill>
                              <a:srgbClr val="242424"/>
                            </a:solidFill>
                            <a:latin typeface="DejaVu Math TeX Gyre" panose="02000503000000000000" charset="0"/>
                            <a:cs typeface="DejaVu Math TeX Gyre" panose="02000503000000000000" charset="0"/>
                          </a:rPr>
                        </m:ctrlPr>
                      </m:accPr>
                      <m:e>
                        <m:r>
                          <a:rPr lang="en-US" sz="1250" b="0" i="1">
                            <a:solidFill>
                              <a:srgbClr val="242424"/>
                            </a:solidFill>
                            <a:latin typeface="DejaVu Math TeX Gyre" panose="02000503000000000000" charset="0"/>
                            <a:cs typeface="DejaVu Math TeX Gyre" panose="02000503000000000000" charset="0"/>
                          </a:rPr>
                          <m:t>𝐿</m:t>
                        </m:r>
                      </m:e>
                    </m:acc>
                    <m:r>
                      <a:rPr lang="en-US" sz="1250" b="0">
                        <a:solidFill>
                          <a:srgbClr val="242424"/>
                        </a:solidFill>
                        <a:latin typeface="DejaVu Math TeX Gyre" panose="02000503000000000000" charset="0"/>
                        <a:cs typeface="DejaVu Math TeX Gyre" panose="02000503000000000000" charset="0"/>
                      </a:rPr>
                      <m:t>̂、</m:t>
                    </m:r>
                    <m:r>
                      <m:rPr>
                        <m:sty m:val="p"/>
                      </m:rPr>
                      <a:rPr lang="en-US" sz="1250" b="0">
                        <a:solidFill>
                          <a:srgbClr val="242424"/>
                        </a:solidFill>
                        <a:latin typeface="DejaVu Math TeX Gyre" panose="02000503000000000000" charset="0"/>
                        <a:cs typeface="DejaVu Math TeX Gyre" panose="02000503000000000000" charset="0"/>
                      </a:rPr>
                      <m:t>H</m:t>
                    </m:r>
                    <m:r>
                      <a:rPr lang="en-US" sz="1250" b="0">
                        <a:solidFill>
                          <a:srgbClr val="242424"/>
                        </a:solidFill>
                        <a:latin typeface="DejaVu Math TeX Gyre" panose="02000503000000000000" charset="0"/>
                        <a:cs typeface="DejaVu Math TeX Gyre" panose="02000503000000000000" charset="0"/>
                      </a:rPr>
                      <m:t>、</m:t>
                    </m:r>
                    <m:r>
                      <m:rPr>
                        <m:sty m:val="p"/>
                      </m:rPr>
                      <a:rPr lang="en-US" sz="1250">
                        <a:solidFill>
                          <a:srgbClr val="242424"/>
                        </a:solidFill>
                        <a:latin typeface="DejaVu Math TeX Gyre" panose="02000503000000000000" charset="0"/>
                        <a:cs typeface="DejaVu Math TeX Gyre" panose="02000503000000000000" charset="0"/>
                      </a:rPr>
                      <m:t>ω</m:t>
                    </m:r>
                    <m:r>
                      <a:rPr lang="en-US" sz="1250" b="0">
                        <a:solidFill>
                          <a:srgbClr val="242424"/>
                        </a:solidFill>
                        <a:latin typeface="DejaVu Math TeX Gyre" panose="02000503000000000000" charset="0"/>
                        <a:cs typeface="DejaVu Math TeX Gyre" panose="02000503000000000000" charset="0"/>
                      </a:rPr>
                      <m:t>、</m:t>
                    </m:r>
                    <m:r>
                      <m:rPr>
                        <m:sty m:val="p"/>
                      </m:rPr>
                      <a:rPr lang="en-US" sz="1250" b="0">
                        <a:solidFill>
                          <a:srgbClr val="242424"/>
                        </a:solidFill>
                        <a:latin typeface="DejaVu Math TeX Gyre" panose="02000503000000000000" charset="0"/>
                        <a:cs typeface="DejaVu Math TeX Gyre" panose="02000503000000000000" charset="0"/>
                      </a:rPr>
                      <m:t>α</m:t>
                    </m:r>
                    <m:r>
                      <a:rPr lang="en-US" sz="1250" b="0">
                        <a:solidFill>
                          <a:srgbClr val="242424"/>
                        </a:solidFill>
                        <a:latin typeface="DejaVu Math TeX Gyre" panose="02000503000000000000" charset="0"/>
                        <a:cs typeface="DejaVu Math TeX Gyre" panose="02000503000000000000" charset="0"/>
                      </a:rPr>
                      <m:t> </m:t>
                    </m:r>
                  </m:oMath>
                </a14:m>
                <a:r>
                  <a:rPr sz="1250" b="0">
                    <a:solidFill>
                      <a:srgbClr val="242424"/>
                    </a:solidFill>
                    <a:latin typeface="微软雅黑"/>
                  </a:rPr>
                  <a:t>相互一致。</a:t>
                </a:r>
                <a:endParaRPr sz="1250" b="0">
                  <a:solidFill>
                    <a:srgbClr val="242424"/>
                  </a:solidFill>
                  <a:latin typeface="微软雅黑"/>
                </a:endParaRPr>
              </a:p>
            </p:txBody>
          </p:sp>
        </mc:Choice>
        <mc:Fallback>
          <p:sp>
            <p:nvSpPr>
              <p:cNvPr id="72" name="TextBox 71"/>
              <p:cNvSpPr txBox="1">
                <a:spLocks noRot="1" noChangeAspect="1" noMove="1" noResize="1" noEditPoints="1" noAdjustHandles="1" noChangeArrowheads="1" noChangeShapeType="1" noTextEdit="1"/>
              </p:cNvSpPr>
              <p:nvPr/>
            </p:nvSpPr>
            <p:spPr>
              <a:xfrm>
                <a:off x="4859655" y="4544695"/>
                <a:ext cx="6172200" cy="263525"/>
              </a:xfrm>
              <a:prstGeom prst="rect">
                <a:avLst/>
              </a:prstGeom>
              <a:blipFill rotWithShape="1">
                <a:blip r:embed="rId11"/>
                <a:stretch>
                  <a:fillRect/>
                </a:stretch>
              </a:blipFill>
            </p:spPr>
            <p:txBody>
              <a:bodyPr/>
              <a:lstStyle/>
              <a:p>
                <a:r>
                  <a:rPr lang="zh-CN" altLang="en-US">
                    <a:noFill/>
                  </a:rPr>
                  <a:t> </a:t>
                </a:r>
              </a:p>
            </p:txBody>
          </p:sp>
        </mc:Fallback>
      </mc:AlternateContent>
      <p:sp>
        <p:nvSpPr>
          <p:cNvPr id="9" name="Rectangle 55"/>
          <p:cNvSpPr/>
          <p:nvPr/>
        </p:nvSpPr>
        <p:spPr>
          <a:xfrm>
            <a:off x="2084705" y="3136265"/>
            <a:ext cx="50165" cy="859790"/>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55"/>
          <p:cNvSpPr/>
          <p:nvPr/>
        </p:nvSpPr>
        <p:spPr>
          <a:xfrm>
            <a:off x="2094865" y="4096385"/>
            <a:ext cx="50165" cy="859790"/>
          </a:xfrm>
          <a:prstGeom prst="rect">
            <a:avLst/>
          </a:prstGeom>
          <a:solidFill>
            <a:srgbClr val="6A0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334E55B0-647D-440b-865C-3EC943EB4CBC-114" descr="wpsoffice"/>
          <p:cNvPicPr>
            <a:picLocks noChangeAspect="1"/>
          </p:cNvPicPr>
          <p:nvPr/>
        </p:nvPicPr>
        <p:blipFill>
          <a:blip r:embed="rId12"/>
          <a:stretch>
            <a:fillRect/>
          </a:stretch>
        </p:blipFill>
        <p:spPr>
          <a:xfrm>
            <a:off x="6597650" y="4179570"/>
            <a:ext cx="861060" cy="226060"/>
          </a:xfrm>
          <a:prstGeom prst="rect">
            <a:avLst/>
          </a:prstGeom>
        </p:spPr>
      </p:pic>
      <p:pic>
        <p:nvPicPr>
          <p:cNvPr id="12" name="334E55B0-647D-440b-865C-3EC943EB4CBC-115" descr="wpsoffice"/>
          <p:cNvPicPr>
            <a:picLocks noChangeAspect="1"/>
          </p:cNvPicPr>
          <p:nvPr/>
        </p:nvPicPr>
        <p:blipFill>
          <a:blip r:embed="rId13"/>
          <a:stretch>
            <a:fillRect/>
          </a:stretch>
        </p:blipFill>
        <p:spPr>
          <a:xfrm>
            <a:off x="3411855" y="5276215"/>
            <a:ext cx="7029450" cy="2730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识别目标与归一化</a:t>
            </a:r>
            <a:r>
              <a:rPr lang="zh-CN" altLang="en-US" sz="2800" b="1" dirty="0">
                <a:latin typeface="+mn-lt"/>
              </a:rPr>
              <a:t>处理</a:t>
            </a:r>
            <a:endParaRPr lang="zh-CN" altLang="en-US" sz="2800" b="1" dirty="0">
              <a:latin typeface="+mn-lt"/>
            </a:endParaRPr>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3.1</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5" name="文本框 4"/>
              <p:cNvSpPr txBox="1"/>
              <p:nvPr/>
            </p:nvSpPr>
            <p:spPr>
              <a:xfrm>
                <a:off x="1966595" y="1478280"/>
                <a:ext cx="4201160" cy="368935"/>
              </a:xfrm>
              <a:prstGeom prst="rect">
                <a:avLst/>
              </a:prstGeom>
              <a:noFill/>
            </p:spPr>
            <p:txBody>
              <a:bodyPr wrap="square" rtlCol="0">
                <a:spAutoFit/>
              </a:bodyPr>
              <a:p>
                <a:pPr algn="ctr"/>
                <a:r>
                  <a:rPr lang="en-US" altLang="zh-CN">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rPr>
                      <m:t>𝜃</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rPr>
                      <m:t>𝜌</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𝑞</m:t>
                        </m:r>
                      </m:e>
                      <m:sub>
                        <m:r>
                          <a:rPr lang="en-US" altLang="zh-CN" i="1" dirty="0">
                            <a:latin typeface="DejaVu Math TeX Gyre" panose="02000503000000000000" charset="0"/>
                            <a:cs typeface="DejaVu Math TeX Gyre" panose="02000503000000000000" charset="0"/>
                          </a:rPr>
                          <m:t>𝑜</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𝑤</m:t>
                        </m:r>
                      </m:e>
                      <m:sub>
                        <m:r>
                          <a:rPr lang="en-US" altLang="zh-CN" i="1" dirty="0">
                            <a:latin typeface="DejaVu Math TeX Gyre" panose="02000503000000000000" charset="0"/>
                            <a:cs typeface="DejaVu Math TeX Gyre" panose="02000503000000000000" charset="0"/>
                          </a:rPr>
                          <m:t>𝑑</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ea typeface="宋体" charset="0"/>
                            <a:cs typeface="DejaVu Math TeX Gyre" panose="02000503000000000000" charset="0"/>
                          </a:rPr>
                          <m:t>𝛼</m:t>
                        </m:r>
                      </m:e>
                      <m:sub>
                        <m:r>
                          <a:rPr lang="en-US" altLang="zh-CN" i="1" dirty="0">
                            <a:latin typeface="DejaVu Math TeX Gyre" panose="02000503000000000000" charset="0"/>
                            <a:cs typeface="DejaVu Math TeX Gyre" panose="02000503000000000000" charset="0"/>
                          </a:rPr>
                          <m:t>𝑑</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ea typeface="宋体" charset="0"/>
                            <a:cs typeface="DejaVu Math TeX Gyre" panose="02000503000000000000" charset="0"/>
                          </a:rPr>
                          <m:t>𝜏</m:t>
                        </m:r>
                      </m:e>
                      <m:sub>
                        <m:r>
                          <a:rPr lang="en-US" altLang="zh-CN" i="1" dirty="0">
                            <a:latin typeface="DejaVu Math TeX Gyre" panose="02000503000000000000" charset="0"/>
                            <a:cs typeface="DejaVu Math TeX Gyre" panose="02000503000000000000" charset="0"/>
                          </a:rPr>
                          <m:t>𝑜𝑑</m:t>
                        </m:r>
                      </m:sub>
                    </m:sSub>
                  </m:oMath>
                </a14:m>
                <a:r>
                  <a:rPr lang="en-US" altLang="zh-CN">
                    <a:latin typeface="Times New Roman Regular" panose="02020503050405090304" charset="0"/>
                    <a:cs typeface="Times New Roman Regular" panose="02020503050405090304" charset="0"/>
                  </a:rPr>
                  <a:t>}</a:t>
                </a:r>
                <a:endParaRPr lang="en-US" altLang="zh-CN">
                  <a:latin typeface="Times New Roman Regular" panose="02020503050405090304" charset="0"/>
                  <a:cs typeface="Times New Roman Regular" panose="020205030504050903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966595" y="1478280"/>
                <a:ext cx="4201160" cy="36893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931025" y="1484630"/>
                <a:ext cx="4201795" cy="368300"/>
              </a:xfrm>
              <a:prstGeom prst="rect">
                <a:avLst/>
              </a:prstGeom>
              <a:noFill/>
            </p:spPr>
            <p:txBody>
              <a:bodyPr wrap="square" rtlCol="0">
                <a:spAutoFit/>
              </a:bodyPr>
              <a:p>
                <a:pPr algn="ctr"/>
                <a:r>
                  <a:rPr lang="en-US" altLang="zh-CN">
                    <a:latin typeface="Times New Roman Regular" panose="02020503050405090304" charset="0"/>
                    <a:cs typeface="Times New Roman Regular" panose="02020503050405090304" charset="0"/>
                  </a:rPr>
                  <a:t>{</a:t>
                </a:r>
                <a14:m>
                  <m:oMath xmlns:m="http://schemas.openxmlformats.org/officeDocument/2006/math">
                    <m:r>
                      <a:rPr lang="en-US" altLang="zh-CN" i="1">
                        <a:latin typeface="DejaVu Math TeX Gyre" panose="02000503000000000000" charset="0"/>
                        <a:cs typeface="DejaVu Math TeX Gyre" panose="02000503000000000000" charset="0"/>
                      </a:rPr>
                      <m:t>𝛾</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cs typeface="DejaVu Math TeX Gyre" panose="02000503000000000000" charset="0"/>
                      </a:rPr>
                      <m:t>𝜆</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cs typeface="DejaVu Math TeX Gyre" panose="02000503000000000000" charset="0"/>
                      </a:rPr>
                      <m:t>𝜎</m:t>
                    </m:r>
                  </m:oMath>
                </a14:m>
                <a:r>
                  <a:rPr lang="en-US" altLang="zh-CN">
                    <a:latin typeface="Times New Roman Regular" panose="02020503050405090304" charset="0"/>
                    <a:cs typeface="Times New Roman Regular" panose="02020503050405090304" charset="0"/>
                  </a:rPr>
                  <a:t>}</a:t>
                </a:r>
                <a:endParaRPr lang="en-US" altLang="zh-CN">
                  <a:latin typeface="Times New Roman Regular" panose="02020503050405090304" charset="0"/>
                  <a:cs typeface="Times New Roman Regular" panose="020205030504050903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931025" y="1484630"/>
                <a:ext cx="4201795" cy="368300"/>
              </a:xfrm>
              <a:prstGeom prst="rect">
                <a:avLst/>
              </a:prstGeom>
              <a:blipFill rotWithShape="1">
                <a:blip r:embed="rId2"/>
                <a:stretch>
                  <a:fillRect/>
                </a:stretch>
              </a:blipFill>
            </p:spPr>
            <p:txBody>
              <a:bodyPr/>
              <a:lstStyle/>
              <a:p>
                <a:r>
                  <a:rPr lang="zh-CN" altLang="en-US">
                    <a:noFill/>
                  </a:rPr>
                  <a:t> </a:t>
                </a:r>
              </a:p>
            </p:txBody>
          </p:sp>
        </mc:Fallback>
      </mc:AlternateContent>
      <p:sp>
        <p:nvSpPr>
          <p:cNvPr id="7" name="文本框 6"/>
          <p:cNvSpPr txBox="1"/>
          <p:nvPr/>
        </p:nvSpPr>
        <p:spPr>
          <a:xfrm>
            <a:off x="1965960" y="1048831"/>
            <a:ext cx="4201478" cy="437515"/>
          </a:xfrm>
          <a:prstGeom prst="rect">
            <a:avLst/>
          </a:prstGeom>
          <a:solidFill>
            <a:schemeClr val="bg2"/>
          </a:solidFill>
        </p:spPr>
        <p:txBody>
          <a:bodyPr wrap="square" anchor="ctr" anchorCtr="0">
            <a:spAutoFit/>
          </a:bodyPr>
          <a:lstStyle/>
          <a:p>
            <a:pPr marL="0" marR="0" indent="0" algn="ctr">
              <a:lnSpc>
                <a:spcPct val="125000"/>
              </a:lnSpc>
              <a:buNone/>
            </a:pPr>
            <a:r>
              <a:rPr lang="zh-CN" altLang="en-US" b="1" kern="1400" spc="-50" dirty="0">
                <a:latin typeface="Times New Roman" panose="02020503050405090304" pitchFamily="18" charset="0"/>
              </a:rPr>
              <a:t>待识别与估计的</a:t>
            </a:r>
            <a:r>
              <a:rPr lang="zh-CN" altLang="en-US" b="1" kern="1400" spc="-50" dirty="0">
                <a:latin typeface="Times New Roman" panose="02020503050405090304" pitchFamily="18" charset="0"/>
              </a:rPr>
              <a:t>外生参数</a:t>
            </a:r>
            <a:endParaRPr lang="zh-CN" altLang="en-US" b="1" kern="1400" spc="-50" dirty="0">
              <a:latin typeface="Times New Roman" panose="02020503050405090304" pitchFamily="18" charset="0"/>
            </a:endParaRPr>
          </a:p>
        </p:txBody>
      </p:sp>
      <p:sp>
        <p:nvSpPr>
          <p:cNvPr id="8" name="文本框 7"/>
          <p:cNvSpPr txBox="1"/>
          <p:nvPr/>
        </p:nvSpPr>
        <p:spPr>
          <a:xfrm>
            <a:off x="6931025" y="1048831"/>
            <a:ext cx="4201478" cy="437515"/>
          </a:xfrm>
          <a:prstGeom prst="rect">
            <a:avLst/>
          </a:prstGeom>
          <a:solidFill>
            <a:schemeClr val="bg2"/>
          </a:solidFill>
        </p:spPr>
        <p:txBody>
          <a:bodyPr wrap="square" anchor="ctr" anchorCtr="0">
            <a:spAutoFit/>
          </a:bodyPr>
          <a:lstStyle/>
          <a:p>
            <a:pPr marL="0" marR="0" indent="0" algn="ctr">
              <a:lnSpc>
                <a:spcPct val="125000"/>
              </a:lnSpc>
              <a:buNone/>
            </a:pPr>
            <a:r>
              <a:rPr lang="zh-CN" altLang="en-US" b="1" kern="1400" spc="-50" dirty="0">
                <a:latin typeface="Times New Roman" panose="02020503050405090304" pitchFamily="18" charset="0"/>
              </a:rPr>
              <a:t>一般均衡</a:t>
            </a:r>
            <a:r>
              <a:rPr lang="zh-CN" altLang="en-US" b="1" kern="1400" spc="-50" dirty="0">
                <a:latin typeface="Times New Roman" panose="02020503050405090304" pitchFamily="18" charset="0"/>
              </a:rPr>
              <a:t>参数</a:t>
            </a:r>
            <a:endParaRPr lang="zh-CN" altLang="en-US" b="1" kern="1400" spc="-50" dirty="0">
              <a:latin typeface="Times New Roman" panose="02020503050405090304" pitchFamily="18" charset="0"/>
            </a:endParaRPr>
          </a:p>
        </p:txBody>
      </p:sp>
      <mc:AlternateContent xmlns:mc="http://schemas.openxmlformats.org/markup-compatibility/2006">
        <mc:Choice xmlns:a14="http://schemas.microsoft.com/office/drawing/2010/main" Requires="a14">
          <p:sp>
            <p:nvSpPr>
              <p:cNvPr id="12" name="矩形: 圆角 7"/>
              <p:cNvSpPr/>
              <p:nvPr/>
            </p:nvSpPr>
            <p:spPr>
              <a:xfrm>
                <a:off x="1965960" y="1889125"/>
                <a:ext cx="4201795" cy="11671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90204" pitchFamily="34" charset="0"/>
                  <a:buChar char="•"/>
                </a:pPr>
                <a:r>
                  <a:rPr lang="en-US" altLang="zh-CN" sz="1600" dirty="0">
                    <a:solidFill>
                      <a:schemeClr val="tx1"/>
                    </a:solidFill>
                    <a:sym typeface="+mn-ea"/>
                  </a:rPr>
                  <a:t>Fr</a:t>
                </a:r>
                <a:r>
                  <a:rPr lang="en-US" altLang="en-US" sz="1600" dirty="0">
                    <a:solidFill>
                      <a:schemeClr val="tx1"/>
                    </a:solidFill>
                    <a:sym typeface="+mn-ea"/>
                  </a:rPr>
                  <a:t>é</a:t>
                </a:r>
                <a:r>
                  <a:rPr lang="en-US" altLang="zh-CN" sz="1600" dirty="0">
                    <a:solidFill>
                      <a:schemeClr val="tx1"/>
                    </a:solidFill>
                    <a:sym typeface="+mn-ea"/>
                  </a:rPr>
                  <a:t>chet </a:t>
                </a:r>
                <a:r>
                  <a:rPr lang="zh-CN" altLang="en-US" sz="1600" dirty="0">
                    <a:solidFill>
                      <a:schemeClr val="tx1"/>
                    </a:solidFill>
                    <a:sym typeface="+mn-ea"/>
                  </a:rPr>
                  <a:t>参数 {</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𝜃</m:t>
                    </m:r>
                  </m:oMath>
                </a14:m>
                <a:r>
                  <a:rPr lang="en-US" altLang="zh-CN" sz="1600" i="1" dirty="0">
                    <a:solidFill>
                      <a:schemeClr val="tx1"/>
                    </a:solidFill>
                    <a:sym typeface="+mn-ea"/>
                  </a:rPr>
                  <a:t>, </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𝜌</m:t>
                    </m:r>
                  </m:oMath>
                </a14:m>
                <a:r>
                  <a:rPr lang="en-US" altLang="zh-CN" sz="1600" dirty="0">
                    <a:solidFill>
                      <a:schemeClr val="tx1"/>
                    </a:solidFill>
                    <a:sym typeface="+mn-ea"/>
                  </a:rPr>
                  <a:t>}</a:t>
                </a:r>
                <a:endParaRPr lang="en-US" altLang="zh-CN" sz="1600" dirty="0">
                  <a:solidFill>
                    <a:schemeClr val="tx1"/>
                  </a:solidFill>
                  <a:sym typeface="+mn-ea"/>
                </a:endParaRPr>
              </a:p>
              <a:p>
                <a:pPr marL="285750" indent="-285750" algn="ctr">
                  <a:buFont typeface="Arial" panose="020B0604020202090204" pitchFamily="34" charset="0"/>
                  <a:buChar char="•"/>
                </a:pPr>
                <a:r>
                  <a:rPr lang="zh-CN" altLang="en-US" sz="1600" kern="1400" spc="-50" dirty="0">
                    <a:solidFill>
                      <a:schemeClr val="tx1"/>
                    </a:solidFill>
                    <a:latin typeface="Times New Roman" panose="02020503050405090304" pitchFamily="18" charset="0"/>
                    <a:sym typeface="+mn-ea"/>
                  </a:rPr>
                  <a:t>地点特征</a:t>
                </a:r>
                <a:r>
                  <a:rPr lang="en-US" altLang="zh-CN" sz="1600" kern="1400" spc="-50" dirty="0">
                    <a:solidFill>
                      <a:schemeClr val="tx1"/>
                    </a:solidFill>
                    <a:latin typeface="Times New Roman" panose="02020503050405090304" pitchFamily="18" charset="0"/>
                    <a:sym typeface="+mn-ea"/>
                  </a:rPr>
                  <a:t> </a:t>
                </a:r>
                <a:r>
                  <a:rPr lang="zh-CN" altLang="en-US"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𝑤</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en-US" altLang="zh-CN"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𝑞</m:t>
                        </m:r>
                      </m:e>
                      <m:sub>
                        <m:r>
                          <a:rPr lang="en-US" altLang="zh-CN" sz="1600" i="1" dirty="0">
                            <a:solidFill>
                              <a:schemeClr val="tx1"/>
                            </a:solidFill>
                            <a:latin typeface="DejaVu Math TeX Gyre" panose="02000503000000000000" charset="0"/>
                            <a:cs typeface="DejaVu Math TeX Gyre" panose="02000503000000000000" charset="0"/>
                          </a:rPr>
                          <m:t>𝑜</m:t>
                        </m:r>
                      </m:sub>
                    </m:sSub>
                  </m:oMath>
                </a14:m>
                <a:r>
                  <a:rPr lang="en-US" altLang="zh-CN" sz="1600" dirty="0">
                    <a:solidFill>
                      <a:schemeClr val="tx1"/>
                    </a:solidFill>
                    <a:sym typeface="+mn-ea"/>
                  </a:rPr>
                  <a:t>}</a:t>
                </a:r>
                <a:endParaRPr lang="en-US" altLang="zh-CN" sz="1600" dirty="0">
                  <a:solidFill>
                    <a:schemeClr val="tx1"/>
                  </a:solidFill>
                  <a:sym typeface="+mn-ea"/>
                </a:endParaRPr>
              </a:p>
              <a:p>
                <a:pPr marL="285750" indent="-285750" algn="ctr">
                  <a:buFont typeface="Arial" panose="020B0604020202090204" pitchFamily="34" charset="0"/>
                  <a:buChar char="•"/>
                </a:pPr>
                <a:r>
                  <a:rPr lang="zh-CN" altLang="en-US" sz="1600" kern="1400" spc="-50" dirty="0">
                    <a:solidFill>
                      <a:schemeClr val="tx1"/>
                    </a:solidFill>
                    <a:latin typeface="Times New Roman" panose="02020503050405090304" pitchFamily="18" charset="0"/>
                    <a:sym typeface="+mn-ea"/>
                  </a:rPr>
                  <a:t>移动相关特征</a:t>
                </a:r>
                <a:r>
                  <a:rPr lang="en-US" altLang="zh-CN" sz="1600" kern="1400" spc="-50" dirty="0">
                    <a:solidFill>
                      <a:schemeClr val="tx1"/>
                    </a:solidFill>
                    <a:latin typeface="Times New Roman" panose="02020503050405090304" pitchFamily="18" charset="0"/>
                    <a:sym typeface="+mn-ea"/>
                  </a:rPr>
                  <a:t> </a:t>
                </a:r>
                <a:r>
                  <a:rPr lang="zh-CN" altLang="en-US"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𝜏</m:t>
                        </m:r>
                      </m:e>
                      <m:sub>
                        <m:r>
                          <a:rPr lang="en-US" altLang="zh-CN" sz="1600" i="1" dirty="0">
                            <a:solidFill>
                              <a:schemeClr val="tx1"/>
                            </a:solidFill>
                            <a:latin typeface="DejaVu Math TeX Gyre" panose="02000503000000000000" charset="0"/>
                            <a:cs typeface="DejaVu Math TeX Gyre" panose="02000503000000000000" charset="0"/>
                          </a:rPr>
                          <m:t>𝑜𝑑</m:t>
                        </m:r>
                      </m:sub>
                    </m:sSub>
                  </m:oMath>
                </a14:m>
                <a:r>
                  <a:rPr lang="en-US" altLang="zh-CN" sz="1600" dirty="0">
                    <a:solidFill>
                      <a:schemeClr val="tx1"/>
                    </a:solidFill>
                    <a:sym typeface="+mn-ea"/>
                  </a:rPr>
                  <a:t>, </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𝛼</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en-US" altLang="zh-CN" sz="1600" dirty="0">
                    <a:solidFill>
                      <a:schemeClr val="tx1"/>
                    </a:solidFill>
                    <a:sym typeface="+mn-ea"/>
                  </a:rPr>
                  <a:t>}</a:t>
                </a:r>
                <a:endParaRPr lang="en-US" altLang="zh-CN" sz="1600" kern="1400" spc="-50" dirty="0">
                  <a:solidFill>
                    <a:schemeClr val="tx1"/>
                  </a:solidFill>
                  <a:latin typeface="Times New Roman" panose="02020503050405090304" pitchFamily="18" charset="0"/>
                  <a:sym typeface="+mn-ea"/>
                </a:endParaRPr>
              </a:p>
            </p:txBody>
          </p:sp>
        </mc:Choice>
        <mc:Fallback>
          <p:sp>
            <p:nvSpPr>
              <p:cNvPr id="12" name="矩形: 圆角 7"/>
              <p:cNvSpPr>
                <a:spLocks noRot="1" noChangeAspect="1" noMove="1" noResize="1" noEditPoints="1" noAdjustHandles="1" noChangeArrowheads="1" noChangeShapeType="1" noTextEdit="1"/>
              </p:cNvSpPr>
              <p:nvPr/>
            </p:nvSpPr>
            <p:spPr>
              <a:xfrm>
                <a:off x="1965960" y="1889125"/>
                <a:ext cx="4201795" cy="1167130"/>
              </a:xfrm>
              <a:prstGeom prst="roundRect">
                <a:avLst/>
              </a:prstGeom>
              <a:blipFill rotWithShape="1">
                <a:blip r:embed="rId3"/>
                <a:stretch>
                  <a:fillRect l="-348" t="-1251" r="-332" b="-1197"/>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3" name="矩形: 圆角 7"/>
          <p:cNvSpPr/>
          <p:nvPr/>
        </p:nvSpPr>
        <p:spPr>
          <a:xfrm>
            <a:off x="6931025" y="1897380"/>
            <a:ext cx="4201795" cy="11671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90204" pitchFamily="34" charset="0"/>
              <a:buChar char="•"/>
            </a:pPr>
            <a:r>
              <a:rPr lang="zh-CN" altLang="en-US" sz="1600">
                <a:solidFill>
                  <a:schemeClr val="tx1"/>
                </a:solidFill>
                <a:sym typeface="+mn-ea"/>
              </a:rPr>
              <a:t>在识别环节</a:t>
            </a:r>
            <a:r>
              <a:rPr lang="en-US" altLang="zh-CN" sz="1600">
                <a:solidFill>
                  <a:schemeClr val="tx1"/>
                </a:solidFill>
                <a:sym typeface="+mn-ea"/>
              </a:rPr>
              <a:t>，</a:t>
            </a:r>
            <a:r>
              <a:rPr lang="zh-CN" altLang="en-US" sz="1600">
                <a:solidFill>
                  <a:schemeClr val="tx1"/>
                </a:solidFill>
                <a:sym typeface="+mn-ea"/>
              </a:rPr>
              <a:t>不依赖于一般均衡参数的具体大小</a:t>
            </a:r>
            <a:r>
              <a:rPr lang="en-US" altLang="zh-CN" sz="1600">
                <a:solidFill>
                  <a:schemeClr val="tx1"/>
                </a:solidFill>
                <a:sym typeface="+mn-ea"/>
              </a:rPr>
              <a:t>；</a:t>
            </a:r>
            <a:r>
              <a:rPr lang="zh-CN" altLang="en-US" sz="1600">
                <a:solidFill>
                  <a:schemeClr val="tx1"/>
                </a:solidFill>
                <a:sym typeface="+mn-ea"/>
              </a:rPr>
              <a:t>但在反事实部分</a:t>
            </a:r>
            <a:r>
              <a:rPr lang="en-US" altLang="zh-CN" sz="1600">
                <a:solidFill>
                  <a:schemeClr val="tx1"/>
                </a:solidFill>
                <a:sym typeface="+mn-ea"/>
              </a:rPr>
              <a:t>，</a:t>
            </a:r>
            <a:r>
              <a:rPr lang="zh-CN" altLang="en-US" sz="1600">
                <a:solidFill>
                  <a:schemeClr val="tx1"/>
                </a:solidFill>
                <a:sym typeface="+mn-ea"/>
              </a:rPr>
              <a:t>参数的大小将影响</a:t>
            </a:r>
            <a:r>
              <a:rPr lang="zh-CN" altLang="en-US" sz="1600">
                <a:solidFill>
                  <a:schemeClr val="tx1"/>
                </a:solidFill>
                <a:sym typeface="+mn-ea"/>
              </a:rPr>
              <a:t>反事实结果</a:t>
            </a:r>
            <a:r>
              <a:rPr lang="en-US" altLang="zh-CN" sz="1600">
                <a:solidFill>
                  <a:schemeClr val="tx1"/>
                </a:solidFill>
                <a:sym typeface="+mn-ea"/>
              </a:rPr>
              <a:t>，</a:t>
            </a:r>
            <a:r>
              <a:rPr lang="zh-CN" altLang="en-US" sz="1600">
                <a:solidFill>
                  <a:schemeClr val="tx1"/>
                </a:solidFill>
                <a:sym typeface="+mn-ea"/>
              </a:rPr>
              <a:t>需要</a:t>
            </a:r>
            <a:r>
              <a:rPr lang="zh-CN" altLang="en-US" sz="1600">
                <a:solidFill>
                  <a:schemeClr val="tx1"/>
                </a:solidFill>
                <a:sym typeface="+mn-ea"/>
              </a:rPr>
              <a:t>进行校准</a:t>
            </a:r>
            <a:r>
              <a:rPr lang="en-US" altLang="zh-CN" sz="1600">
                <a:solidFill>
                  <a:schemeClr val="tx1"/>
                </a:solidFill>
                <a:sym typeface="+mn-ea"/>
              </a:rPr>
              <a:t>。</a:t>
            </a:r>
            <a:endParaRPr lang="en-US" altLang="zh-CN" sz="1600" kern="100" dirty="0">
              <a:solidFill>
                <a:schemeClr val="tx1"/>
              </a:solidFill>
              <a:latin typeface="Times New Roman" panose="02020503050405090304" pitchFamily="18" charset="0"/>
              <a:cs typeface="Arial" panose="020B0604020202090204" pitchFamily="34" charset="0"/>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识别目标与归一化</a:t>
            </a:r>
            <a:r>
              <a:rPr lang="zh-CN" altLang="en-US" sz="2800" b="1" dirty="0">
                <a:latin typeface="+mn-lt"/>
              </a:rPr>
              <a:t>处理</a:t>
            </a:r>
            <a:endParaRPr lang="zh-CN" altLang="en-US" sz="2800" b="1" dirty="0">
              <a:latin typeface="+mn-lt"/>
            </a:endParaRPr>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3.1</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5" name="文本框 4"/>
              <p:cNvSpPr txBox="1"/>
              <p:nvPr/>
            </p:nvSpPr>
            <p:spPr>
              <a:xfrm>
                <a:off x="1966595" y="1478280"/>
                <a:ext cx="4201160" cy="368935"/>
              </a:xfrm>
              <a:prstGeom prst="rect">
                <a:avLst/>
              </a:prstGeom>
              <a:noFill/>
            </p:spPr>
            <p:txBody>
              <a:bodyPr wrap="square" rtlCol="0">
                <a:spAutoFit/>
              </a:bodyPr>
              <a:p>
                <a:pPr algn="ctr"/>
                <a:r>
                  <a:rPr lang="en-US" altLang="zh-CN">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rPr>
                      <m:t>𝜃</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rPr>
                      <m:t>𝜌</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𝑞</m:t>
                        </m:r>
                      </m:e>
                      <m:sub>
                        <m:r>
                          <a:rPr lang="en-US" altLang="zh-CN" i="1" dirty="0">
                            <a:latin typeface="DejaVu Math TeX Gyre" panose="02000503000000000000" charset="0"/>
                            <a:cs typeface="DejaVu Math TeX Gyre" panose="02000503000000000000" charset="0"/>
                          </a:rPr>
                          <m:t>𝑜</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𝑤</m:t>
                        </m:r>
                      </m:e>
                      <m:sub>
                        <m:r>
                          <a:rPr lang="en-US" altLang="zh-CN" i="1" dirty="0">
                            <a:latin typeface="DejaVu Math TeX Gyre" panose="02000503000000000000" charset="0"/>
                            <a:cs typeface="DejaVu Math TeX Gyre" panose="02000503000000000000" charset="0"/>
                          </a:rPr>
                          <m:t>𝑑</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ea typeface="宋体" charset="0"/>
                            <a:cs typeface="DejaVu Math TeX Gyre" panose="02000503000000000000" charset="0"/>
                          </a:rPr>
                          <m:t>𝛼</m:t>
                        </m:r>
                      </m:e>
                      <m:sub>
                        <m:r>
                          <a:rPr lang="en-US" altLang="zh-CN" i="1" dirty="0">
                            <a:latin typeface="DejaVu Math TeX Gyre" panose="02000503000000000000" charset="0"/>
                            <a:cs typeface="DejaVu Math TeX Gyre" panose="02000503000000000000" charset="0"/>
                          </a:rPr>
                          <m:t>𝑑</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ea typeface="宋体" charset="0"/>
                            <a:cs typeface="DejaVu Math TeX Gyre" panose="02000503000000000000" charset="0"/>
                          </a:rPr>
                          <m:t>𝜏</m:t>
                        </m:r>
                      </m:e>
                      <m:sub>
                        <m:r>
                          <a:rPr lang="en-US" altLang="zh-CN" i="1" dirty="0">
                            <a:latin typeface="DejaVu Math TeX Gyre" panose="02000503000000000000" charset="0"/>
                            <a:cs typeface="DejaVu Math TeX Gyre" panose="02000503000000000000" charset="0"/>
                          </a:rPr>
                          <m:t>𝑜𝑑</m:t>
                        </m:r>
                      </m:sub>
                    </m:sSub>
                  </m:oMath>
                </a14:m>
                <a:r>
                  <a:rPr lang="en-US" altLang="zh-CN">
                    <a:latin typeface="Times New Roman Regular" panose="02020503050405090304" charset="0"/>
                    <a:cs typeface="Times New Roman Regular" panose="02020503050405090304" charset="0"/>
                  </a:rPr>
                  <a:t>}</a:t>
                </a:r>
                <a:endParaRPr lang="en-US" altLang="zh-CN">
                  <a:latin typeface="Times New Roman Regular" panose="02020503050405090304" charset="0"/>
                  <a:cs typeface="Times New Roman Regular" panose="020205030504050903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966595" y="1478280"/>
                <a:ext cx="4201160" cy="36893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931025" y="1484630"/>
                <a:ext cx="4201795" cy="368300"/>
              </a:xfrm>
              <a:prstGeom prst="rect">
                <a:avLst/>
              </a:prstGeom>
              <a:noFill/>
            </p:spPr>
            <p:txBody>
              <a:bodyPr wrap="square" rtlCol="0">
                <a:spAutoFit/>
              </a:bodyPr>
              <a:p>
                <a:pPr algn="ctr"/>
                <a:r>
                  <a:rPr lang="en-US" altLang="zh-CN">
                    <a:latin typeface="Times New Roman Regular" panose="02020503050405090304" charset="0"/>
                    <a:cs typeface="Times New Roman Regular" panose="02020503050405090304" charset="0"/>
                  </a:rPr>
                  <a:t>{</a:t>
                </a:r>
                <a14:m>
                  <m:oMath xmlns:m="http://schemas.openxmlformats.org/officeDocument/2006/math">
                    <m:r>
                      <a:rPr lang="en-US" altLang="zh-CN" i="1">
                        <a:latin typeface="DejaVu Math TeX Gyre" panose="02000503000000000000" charset="0"/>
                        <a:cs typeface="DejaVu Math TeX Gyre" panose="02000503000000000000" charset="0"/>
                      </a:rPr>
                      <m:t>𝛾</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cs typeface="DejaVu Math TeX Gyre" panose="02000503000000000000" charset="0"/>
                      </a:rPr>
                      <m:t>𝜆</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cs typeface="DejaVu Math TeX Gyre" panose="02000503000000000000" charset="0"/>
                      </a:rPr>
                      <m:t>𝜎</m:t>
                    </m:r>
                  </m:oMath>
                </a14:m>
                <a:r>
                  <a:rPr lang="en-US" altLang="zh-CN">
                    <a:latin typeface="Times New Roman Regular" panose="02020503050405090304" charset="0"/>
                    <a:cs typeface="Times New Roman Regular" panose="02020503050405090304" charset="0"/>
                  </a:rPr>
                  <a:t>}</a:t>
                </a:r>
                <a:endParaRPr lang="en-US" altLang="zh-CN">
                  <a:latin typeface="Times New Roman Regular" panose="02020503050405090304" charset="0"/>
                  <a:cs typeface="Times New Roman Regular" panose="020205030504050903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931025" y="1484630"/>
                <a:ext cx="4201795" cy="368300"/>
              </a:xfrm>
              <a:prstGeom prst="rect">
                <a:avLst/>
              </a:prstGeom>
              <a:blipFill rotWithShape="1">
                <a:blip r:embed="rId2"/>
                <a:stretch>
                  <a:fillRect/>
                </a:stretch>
              </a:blipFill>
            </p:spPr>
            <p:txBody>
              <a:bodyPr/>
              <a:lstStyle/>
              <a:p>
                <a:r>
                  <a:rPr lang="zh-CN" altLang="en-US">
                    <a:noFill/>
                  </a:rPr>
                  <a:t> </a:t>
                </a:r>
              </a:p>
            </p:txBody>
          </p:sp>
        </mc:Fallback>
      </mc:AlternateContent>
      <p:sp>
        <p:nvSpPr>
          <p:cNvPr id="7" name="文本框 6"/>
          <p:cNvSpPr txBox="1"/>
          <p:nvPr/>
        </p:nvSpPr>
        <p:spPr>
          <a:xfrm>
            <a:off x="1965960" y="1048831"/>
            <a:ext cx="4201478" cy="437515"/>
          </a:xfrm>
          <a:prstGeom prst="rect">
            <a:avLst/>
          </a:prstGeom>
          <a:solidFill>
            <a:schemeClr val="bg2"/>
          </a:solidFill>
        </p:spPr>
        <p:txBody>
          <a:bodyPr wrap="square" anchor="ctr" anchorCtr="0">
            <a:spAutoFit/>
          </a:bodyPr>
          <a:lstStyle/>
          <a:p>
            <a:pPr marL="0" marR="0" indent="0" algn="ctr">
              <a:lnSpc>
                <a:spcPct val="125000"/>
              </a:lnSpc>
              <a:buNone/>
            </a:pPr>
            <a:r>
              <a:rPr lang="zh-CN" altLang="en-US" b="1" kern="1400" spc="-50" dirty="0">
                <a:latin typeface="Times New Roman" panose="02020503050405090304" pitchFamily="18" charset="0"/>
              </a:rPr>
              <a:t>待识别与估计的</a:t>
            </a:r>
            <a:r>
              <a:rPr lang="zh-CN" altLang="en-US" b="1" kern="1400" spc="-50" dirty="0">
                <a:latin typeface="Times New Roman" panose="02020503050405090304" pitchFamily="18" charset="0"/>
              </a:rPr>
              <a:t>外生参数</a:t>
            </a:r>
            <a:endParaRPr lang="zh-CN" altLang="en-US" b="1" kern="1400" spc="-50" dirty="0">
              <a:latin typeface="Times New Roman" panose="02020503050405090304" pitchFamily="18" charset="0"/>
            </a:endParaRPr>
          </a:p>
        </p:txBody>
      </p:sp>
      <p:sp>
        <p:nvSpPr>
          <p:cNvPr id="8" name="文本框 7"/>
          <p:cNvSpPr txBox="1"/>
          <p:nvPr/>
        </p:nvSpPr>
        <p:spPr>
          <a:xfrm>
            <a:off x="6931025" y="1048831"/>
            <a:ext cx="4201478" cy="437515"/>
          </a:xfrm>
          <a:prstGeom prst="rect">
            <a:avLst/>
          </a:prstGeom>
          <a:solidFill>
            <a:schemeClr val="bg2"/>
          </a:solidFill>
        </p:spPr>
        <p:txBody>
          <a:bodyPr wrap="square" anchor="ctr" anchorCtr="0">
            <a:spAutoFit/>
          </a:bodyPr>
          <a:lstStyle/>
          <a:p>
            <a:pPr marL="0" marR="0" indent="0" algn="ctr">
              <a:lnSpc>
                <a:spcPct val="125000"/>
              </a:lnSpc>
              <a:buNone/>
            </a:pPr>
            <a:r>
              <a:rPr lang="zh-CN" altLang="en-US" b="1" kern="1400" spc="-50" dirty="0">
                <a:latin typeface="Times New Roman" panose="02020503050405090304" pitchFamily="18" charset="0"/>
              </a:rPr>
              <a:t>一般均衡</a:t>
            </a:r>
            <a:r>
              <a:rPr lang="zh-CN" altLang="en-US" b="1" kern="1400" spc="-50" dirty="0">
                <a:latin typeface="Times New Roman" panose="02020503050405090304" pitchFamily="18" charset="0"/>
              </a:rPr>
              <a:t>参数</a:t>
            </a:r>
            <a:endParaRPr lang="zh-CN" altLang="en-US" b="1" kern="1400" spc="-50" dirty="0">
              <a:latin typeface="Times New Roman" panose="02020503050405090304" pitchFamily="18" charset="0"/>
            </a:endParaRPr>
          </a:p>
        </p:txBody>
      </p:sp>
      <p:grpSp>
        <p:nvGrpSpPr>
          <p:cNvPr id="17" name="组合 16"/>
          <p:cNvGrpSpPr/>
          <p:nvPr/>
        </p:nvGrpSpPr>
        <p:grpSpPr>
          <a:xfrm>
            <a:off x="1966595" y="3845560"/>
            <a:ext cx="2950269" cy="2479675"/>
            <a:chOff x="3107" y="5400"/>
            <a:chExt cx="3989" cy="4349"/>
          </a:xfrm>
        </p:grpSpPr>
        <p:sp>
          <p:nvSpPr>
            <p:cNvPr id="10" name="矩形 9"/>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3989" cy="699"/>
            </a:xfrm>
            <a:prstGeom prst="rect">
              <a:avLst/>
            </a:prstGeom>
            <a:solidFill>
              <a:srgbClr val="69025E"/>
            </a:solidFill>
          </p:spPr>
          <p:txBody>
            <a:bodyPr wrap="square">
              <a:spAutoFit/>
            </a:bodyPr>
            <a:lstStyle/>
            <a:p>
              <a:pPr algn="ctr"/>
              <a:r>
                <a:rPr lang="zh-CN" altLang="en-US" sz="2000" b="1" dirty="0">
                  <a:solidFill>
                    <a:schemeClr val="bg1"/>
                  </a:solidFill>
                </a:rPr>
                <a:t>迁移成本</a:t>
              </a:r>
              <a:endParaRPr lang="zh-CN" altLang="en-US" sz="2000" b="1" dirty="0">
                <a:solidFill>
                  <a:schemeClr val="bg1"/>
                </a:solidFill>
              </a:endParaRPr>
            </a:p>
          </p:txBody>
        </p:sp>
      </p:grpSp>
      <p:grpSp>
        <p:nvGrpSpPr>
          <p:cNvPr id="24" name="组合 23"/>
          <p:cNvGrpSpPr/>
          <p:nvPr/>
        </p:nvGrpSpPr>
        <p:grpSpPr>
          <a:xfrm>
            <a:off x="5036611" y="3864376"/>
            <a:ext cx="2951748" cy="2460859"/>
            <a:chOff x="3105" y="5433"/>
            <a:chExt cx="3991" cy="4316"/>
          </a:xfrm>
        </p:grpSpPr>
        <p:sp>
          <p:nvSpPr>
            <p:cNvPr id="25" name="矩形 24"/>
            <p:cNvSpPr/>
            <p:nvPr/>
          </p:nvSpPr>
          <p:spPr>
            <a:xfrm>
              <a:off x="3107" y="5433"/>
              <a:ext cx="3989" cy="431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105" y="5433"/>
              <a:ext cx="3989" cy="699"/>
            </a:xfrm>
            <a:prstGeom prst="rect">
              <a:avLst/>
            </a:prstGeom>
            <a:solidFill>
              <a:srgbClr val="69025E"/>
            </a:solidFill>
          </p:spPr>
          <p:txBody>
            <a:bodyPr wrap="square">
              <a:spAutoFit/>
            </a:bodyPr>
            <a:lstStyle/>
            <a:p>
              <a:pPr algn="ctr"/>
              <a:r>
                <a:rPr lang="zh-CN" altLang="en-US" sz="2000" b="1" dirty="0">
                  <a:solidFill>
                    <a:schemeClr val="bg1"/>
                  </a:solidFill>
                </a:rPr>
                <a:t>宜居度</a:t>
              </a:r>
              <a:endParaRPr lang="zh-CN" altLang="en-US" sz="2000" b="1" dirty="0">
                <a:solidFill>
                  <a:schemeClr val="bg1"/>
                </a:solidFill>
              </a:endParaRPr>
            </a:p>
          </p:txBody>
        </p:sp>
      </p:grpSp>
      <p:sp>
        <p:nvSpPr>
          <p:cNvPr id="27" name="文本框 26"/>
          <p:cNvSpPr txBox="1"/>
          <p:nvPr/>
        </p:nvSpPr>
        <p:spPr>
          <a:xfrm>
            <a:off x="4430395" y="3255645"/>
            <a:ext cx="4201160" cy="368300"/>
          </a:xfrm>
          <a:prstGeom prst="rect">
            <a:avLst/>
          </a:prstGeom>
          <a:solidFill>
            <a:schemeClr val="bg2"/>
          </a:solidFill>
        </p:spPr>
        <p:txBody>
          <a:bodyPr wrap="square">
            <a:spAutoFit/>
          </a:bodyPr>
          <a:lstStyle/>
          <a:p>
            <a:pPr algn="ctr"/>
            <a:r>
              <a:rPr lang="zh-CN" altLang="en-US" sz="1800" b="1" kern="100" dirty="0">
                <a:solidFill>
                  <a:srgbClr val="69025E"/>
                </a:solidFill>
                <a:effectLst/>
                <a:latin typeface="+mj-ea"/>
                <a:ea typeface="+mj-ea"/>
              </a:rPr>
              <a:t>识别</a:t>
            </a:r>
            <a:r>
              <a:rPr lang="zh-CN" altLang="en-US" sz="1800" b="1" kern="100" dirty="0">
                <a:solidFill>
                  <a:srgbClr val="69025E"/>
                </a:solidFill>
                <a:effectLst/>
                <a:latin typeface="+mj-ea"/>
                <a:ea typeface="+mj-ea"/>
              </a:rPr>
              <a:t>时采取以下的归一化</a:t>
            </a:r>
            <a:r>
              <a:rPr lang="zh-CN" altLang="en-US" sz="1800" b="1" kern="100" dirty="0">
                <a:solidFill>
                  <a:srgbClr val="69025E"/>
                </a:solidFill>
                <a:effectLst/>
                <a:latin typeface="+mj-ea"/>
                <a:ea typeface="+mj-ea"/>
              </a:rPr>
              <a:t>处理</a:t>
            </a:r>
            <a:endParaRPr lang="zh-CN" altLang="en-US" sz="1800" b="1" kern="100" dirty="0">
              <a:solidFill>
                <a:srgbClr val="69025E"/>
              </a:solidFill>
              <a:effectLst/>
              <a:latin typeface="+mj-ea"/>
              <a:ea typeface="+mj-ea"/>
            </a:endParaRPr>
          </a:p>
        </p:txBody>
      </p:sp>
      <mc:AlternateContent xmlns:mc="http://schemas.openxmlformats.org/markup-compatibility/2006">
        <mc:Choice xmlns:a14="http://schemas.microsoft.com/office/drawing/2010/main" Requires="a14">
          <p:sp>
            <p:nvSpPr>
              <p:cNvPr id="33" name="文本框 32"/>
              <p:cNvSpPr txBox="1"/>
              <p:nvPr/>
            </p:nvSpPr>
            <p:spPr>
              <a:xfrm>
                <a:off x="1983740" y="4366260"/>
                <a:ext cx="2922905" cy="1816100"/>
              </a:xfrm>
              <a:prstGeom prst="rect">
                <a:avLst/>
              </a:prstGeom>
              <a:noFill/>
            </p:spPr>
            <p:txBody>
              <a:bodyPr wrap="square" rtlCol="0">
                <a:spAutoFit/>
              </a:bodyPr>
              <a:p>
                <a:pPr algn="ctr"/>
                <a14:m>
                  <m:oMath xmlns:m="http://schemas.openxmlformats.org/officeDocument/2006/math">
                    <m:sSub>
                      <m:sSubPr>
                        <m:ctrlPr>
                          <a:rPr lang="en-US" altLang="zh-CN" sz="1600" b="1" i="1" dirty="0">
                            <a:solidFill>
                              <a:srgbClr val="660066"/>
                            </a:solidFill>
                            <a:latin typeface="DejaVu Math TeX Gyre" panose="02000503000000000000" charset="0"/>
                            <a:cs typeface="DejaVu Math TeX Gyre" panose="02000503000000000000" charset="0"/>
                          </a:rPr>
                        </m:ctrlPr>
                      </m:sSubPr>
                      <m:e>
                        <m:r>
                          <a:rPr lang="en-US" altLang="zh-CN" sz="1600" b="1" i="1" dirty="0">
                            <a:solidFill>
                              <a:srgbClr val="660066"/>
                            </a:solidFill>
                            <a:latin typeface="DejaVu Math TeX Gyre" panose="02000503000000000000" charset="0"/>
                            <a:ea typeface="宋体" charset="0"/>
                            <a:cs typeface="DejaVu Math TeX Gyre" panose="02000503000000000000" charset="0"/>
                          </a:rPr>
                          <m:t>𝝉</m:t>
                        </m:r>
                      </m:e>
                      <m:sub>
                        <m:r>
                          <a:rPr lang="en-US" altLang="zh-CN" sz="1600" b="1" i="1" dirty="0">
                            <a:solidFill>
                              <a:srgbClr val="660066"/>
                            </a:solidFill>
                            <a:latin typeface="DejaVu Math TeX Gyre" panose="02000503000000000000" charset="0"/>
                            <a:cs typeface="DejaVu Math TeX Gyre" panose="02000503000000000000" charset="0"/>
                          </a:rPr>
                          <m:t>𝒐𝒅</m:t>
                        </m:r>
                      </m:sub>
                    </m:sSub>
                    <m:r>
                      <a:rPr lang="en-US" altLang="zh-CN" sz="1600" b="1" i="1" dirty="0">
                        <a:solidFill>
                          <a:srgbClr val="660066"/>
                        </a:solidFill>
                        <a:latin typeface="DejaVu Math TeX Gyre" panose="02000503000000000000" charset="0"/>
                        <a:cs typeface="DejaVu Math TeX Gyre" panose="02000503000000000000" charset="0"/>
                      </a:rPr>
                      <m:t>=</m:t>
                    </m:r>
                    <m:sSub>
                      <m:sSubPr>
                        <m:ctrlPr>
                          <a:rPr lang="en-US" altLang="zh-CN" sz="1600" b="1" i="1" dirty="0">
                            <a:solidFill>
                              <a:srgbClr val="660066"/>
                            </a:solidFill>
                            <a:latin typeface="DejaVu Math TeX Gyre" panose="02000503000000000000" charset="0"/>
                            <a:cs typeface="DejaVu Math TeX Gyre" panose="02000503000000000000" charset="0"/>
                          </a:rPr>
                        </m:ctrlPr>
                      </m:sSubPr>
                      <m:e>
                        <m:r>
                          <a:rPr lang="en-US" altLang="zh-CN" sz="1600" b="1" i="1" dirty="0">
                            <a:solidFill>
                              <a:srgbClr val="660066"/>
                            </a:solidFill>
                            <a:latin typeface="DejaVu Math TeX Gyre" panose="02000503000000000000" charset="0"/>
                            <a:ea typeface="宋体" charset="0"/>
                            <a:cs typeface="DejaVu Math TeX Gyre" panose="02000503000000000000" charset="0"/>
                          </a:rPr>
                          <m:t>𝝉</m:t>
                        </m:r>
                      </m:e>
                      <m:sub>
                        <m:r>
                          <a:rPr lang="en-US" altLang="zh-CN" sz="1600" b="1" i="1" dirty="0">
                            <a:solidFill>
                              <a:srgbClr val="660066"/>
                            </a:solidFill>
                            <a:latin typeface="DejaVu Math TeX Gyre" panose="02000503000000000000" charset="0"/>
                            <a:cs typeface="DejaVu Math TeX Gyre" panose="02000503000000000000" charset="0"/>
                          </a:rPr>
                          <m:t>𝒅𝒐</m:t>
                        </m:r>
                      </m:sub>
                    </m:sSub>
                  </m:oMath>
                </a14:m>
                <a:r>
                  <a:rPr lang="zh-CN" altLang="en-US" sz="1600" b="1" dirty="0">
                    <a:solidFill>
                      <a:srgbClr val="660066"/>
                    </a:solidFill>
                    <a:latin typeface="DejaVu Math TeX Gyre" panose="02000503000000000000" charset="0"/>
                    <a:cs typeface="DejaVu Math TeX Gyre" panose="02000503000000000000" charset="0"/>
                  </a:rPr>
                  <a:t>：两个地点之间的迁移成本对称</a:t>
                </a:r>
                <a:endParaRPr lang="zh-CN" altLang="en-US" sz="1600" dirty="0">
                  <a:latin typeface="DejaVu Math TeX Gyre" panose="02000503000000000000" charset="0"/>
                  <a:cs typeface="DejaVu Math TeX Gyre" panose="02000503000000000000" charset="0"/>
                </a:endParaRPr>
              </a:p>
              <a:p>
                <a:pPr marL="285750" indent="-285750" algn="l">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后续将利用对称性</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把</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𝜏</m:t>
                        </m:r>
                      </m:e>
                      <m:sub>
                        <m:r>
                          <a:rPr lang="en-US" altLang="zh-CN" sz="1600" i="1" dirty="0">
                            <a:solidFill>
                              <a:schemeClr val="tx1"/>
                            </a:solidFill>
                            <a:latin typeface="DejaVu Math TeX Gyre" panose="02000503000000000000" charset="0"/>
                            <a:cs typeface="DejaVu Math TeX Gyre" panose="02000503000000000000" charset="0"/>
                          </a:rPr>
                          <m:t>𝑜𝑑</m:t>
                        </m:r>
                      </m:sub>
                    </m:sSub>
                  </m:oMath>
                </a14:m>
                <a:r>
                  <a:rPr lang="zh-CN" altLang="en-US" sz="1600" dirty="0">
                    <a:latin typeface="DejaVu Math TeX Gyre" panose="02000503000000000000" charset="0"/>
                    <a:cs typeface="DejaVu Math TeX Gyre" panose="02000503000000000000" charset="0"/>
                  </a:rPr>
                  <a:t>分离出来进行识别</a:t>
                </a:r>
                <a:r>
                  <a:rPr lang="en-US" altLang="zh-CN" sz="1600" dirty="0">
                    <a:latin typeface="DejaVu Math TeX Gyre" panose="02000503000000000000" charset="0"/>
                    <a:cs typeface="DejaVu Math TeX Gyre" panose="02000503000000000000" charset="0"/>
                  </a:rPr>
                  <a:t>。</a:t>
                </a:r>
                <a:endParaRPr lang="zh-CN" altLang="en-US" sz="1600" dirty="0">
                  <a:latin typeface="DejaVu Math TeX Gyre" panose="02000503000000000000" charset="0"/>
                  <a:cs typeface="DejaVu Math TeX Gyre" panose="02000503000000000000" charset="0"/>
                </a:endParaRPr>
              </a:p>
              <a:p>
                <a:pPr marL="285750" indent="-285750" algn="l">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稳健性检验将放宽这一假设</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允许两地之间迁移成本不对称</a:t>
                </a:r>
                <a:r>
                  <a:rPr lang="en-US" altLang="zh-CN" sz="1600" dirty="0">
                    <a:latin typeface="DejaVu Math TeX Gyre" panose="02000503000000000000" charset="0"/>
                    <a:cs typeface="DejaVu Math TeX Gyre" panose="02000503000000000000" charset="0"/>
                  </a:rPr>
                  <a:t>。</a:t>
                </a:r>
                <a:endParaRPr lang="en-US" altLang="zh-CN" sz="1600" dirty="0">
                  <a:latin typeface="DejaVu Math TeX Gyre" panose="02000503000000000000" charset="0"/>
                  <a:cs typeface="DejaVu Math TeX Gyre" panose="02000503000000000000" charset="0"/>
                </a:endParaRPr>
              </a:p>
            </p:txBody>
          </p:sp>
        </mc:Choice>
        <mc:Fallback>
          <p:sp>
            <p:nvSpPr>
              <p:cNvPr id="33" name="文本框 32"/>
              <p:cNvSpPr txBox="1">
                <a:spLocks noRot="1" noChangeAspect="1" noMove="1" noResize="1" noEditPoints="1" noAdjustHandles="1" noChangeArrowheads="1" noChangeShapeType="1" noTextEdit="1"/>
              </p:cNvSpPr>
              <p:nvPr/>
            </p:nvSpPr>
            <p:spPr>
              <a:xfrm>
                <a:off x="1983740" y="4366260"/>
                <a:ext cx="2922905" cy="1816100"/>
              </a:xfrm>
              <a:prstGeom prst="rect">
                <a:avLst/>
              </a:prstGeom>
              <a:blipFill rotWithShape="1">
                <a:blip r:embed="rId3"/>
                <a:stretch>
                  <a:fillRect r="-3280"/>
                </a:stretch>
              </a:blipFill>
            </p:spPr>
            <p:txBody>
              <a:bodyPr/>
              <a:lstStyle/>
              <a:p>
                <a:r>
                  <a:rPr lang="zh-CN" altLang="en-US">
                    <a:noFill/>
                  </a:rPr>
                  <a:t> </a:t>
                </a:r>
              </a:p>
            </p:txBody>
          </p:sp>
        </mc:Fallback>
      </mc:AlternateContent>
      <p:sp>
        <p:nvSpPr>
          <p:cNvPr id="28" name="箭头: 下 15"/>
          <p:cNvSpPr/>
          <p:nvPr/>
        </p:nvSpPr>
        <p:spPr>
          <a:xfrm rot="19140000">
            <a:off x="4510405" y="3007995"/>
            <a:ext cx="300990" cy="35560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6" name="文本框 35"/>
              <p:cNvSpPr txBox="1"/>
              <p:nvPr/>
            </p:nvSpPr>
            <p:spPr>
              <a:xfrm>
                <a:off x="5069840" y="4262755"/>
                <a:ext cx="2922905" cy="337185"/>
              </a:xfrm>
              <a:prstGeom prst="rect">
                <a:avLst/>
              </a:prstGeom>
              <a:noFill/>
            </p:spPr>
            <p:txBody>
              <a:bodyPr wrap="square" rtlCol="0">
                <a:spAutoFit/>
              </a:bodyPr>
              <a:p>
                <a:pPr algn="ct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ea typeface="宋体" charset="0"/>
                            <a:cs typeface="DejaVu Math TeX Gyre" panose="02000503000000000000" charset="0"/>
                          </a:rPr>
                          <m:t>𝛼</m:t>
                        </m:r>
                      </m:e>
                      <m:sub>
                        <m:r>
                          <a:rPr lang="en-US" altLang="zh-CN" sz="1600" i="1" dirty="0">
                            <a:latin typeface="DejaVu Math TeX Gyre" panose="02000503000000000000" charset="0"/>
                            <a:ea typeface="宋体" charset="0"/>
                            <a:cs typeface="DejaVu Math TeX Gyre" panose="02000503000000000000" charset="0"/>
                          </a:rPr>
                          <m:t>1</m:t>
                        </m:r>
                      </m:sub>
                    </m:sSub>
                  </m:oMath>
                </a14:m>
                <a:r>
                  <a:rPr lang="en-US" altLang="zh-CN" sz="1600" dirty="0">
                    <a:latin typeface="DejaVu Math TeX Gyre" panose="02000503000000000000" charset="0"/>
                    <a:cs typeface="DejaVu Math TeX Gyre" panose="02000503000000000000" charset="0"/>
                  </a:rPr>
                  <a:t>=1：</a:t>
                </a:r>
                <a:endParaRPr lang="zh-CN" altLang="en-US" sz="1600" dirty="0">
                  <a:latin typeface="DejaVu Math TeX Gyre" panose="02000503000000000000" charset="0"/>
                  <a:cs typeface="DejaVu Math TeX Gyre" panose="02000503000000000000" charset="0"/>
                </a:endParaRPr>
              </a:p>
            </p:txBody>
          </p:sp>
        </mc:Choice>
        <mc:Fallback>
          <p:sp>
            <p:nvSpPr>
              <p:cNvPr id="36" name="文本框 35"/>
              <p:cNvSpPr txBox="1">
                <a:spLocks noRot="1" noChangeAspect="1" noMove="1" noResize="1" noEditPoints="1" noAdjustHandles="1" noChangeArrowheads="1" noChangeShapeType="1" noTextEdit="1"/>
              </p:cNvSpPr>
              <p:nvPr/>
            </p:nvSpPr>
            <p:spPr>
              <a:xfrm>
                <a:off x="5069840" y="4262755"/>
                <a:ext cx="2922905" cy="33718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圆角 7"/>
              <p:cNvSpPr/>
              <p:nvPr/>
            </p:nvSpPr>
            <p:spPr>
              <a:xfrm>
                <a:off x="1965960" y="1889125"/>
                <a:ext cx="4201795" cy="11671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90204" pitchFamily="34" charset="0"/>
                  <a:buChar char="•"/>
                </a:pPr>
                <a:r>
                  <a:rPr lang="en-US" altLang="zh-CN" sz="1600" dirty="0">
                    <a:solidFill>
                      <a:schemeClr val="tx1"/>
                    </a:solidFill>
                    <a:sym typeface="+mn-ea"/>
                  </a:rPr>
                  <a:t>Fr</a:t>
                </a:r>
                <a:r>
                  <a:rPr lang="en-US" altLang="en-US" sz="1600" dirty="0">
                    <a:solidFill>
                      <a:schemeClr val="tx1"/>
                    </a:solidFill>
                    <a:sym typeface="+mn-ea"/>
                  </a:rPr>
                  <a:t>é</a:t>
                </a:r>
                <a:r>
                  <a:rPr lang="en-US" altLang="zh-CN" sz="1600" dirty="0">
                    <a:solidFill>
                      <a:schemeClr val="tx1"/>
                    </a:solidFill>
                    <a:sym typeface="+mn-ea"/>
                  </a:rPr>
                  <a:t>chet </a:t>
                </a:r>
                <a:r>
                  <a:rPr lang="zh-CN" altLang="en-US" sz="1600" dirty="0">
                    <a:solidFill>
                      <a:schemeClr val="tx1"/>
                    </a:solidFill>
                    <a:sym typeface="+mn-ea"/>
                  </a:rPr>
                  <a:t>参数 {</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𝜃</m:t>
                    </m:r>
                  </m:oMath>
                </a14:m>
                <a:r>
                  <a:rPr lang="en-US" altLang="zh-CN" sz="1600" i="1" dirty="0">
                    <a:solidFill>
                      <a:schemeClr val="tx1"/>
                    </a:solidFill>
                    <a:sym typeface="+mn-ea"/>
                  </a:rPr>
                  <a:t>, </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𝜌</m:t>
                    </m:r>
                  </m:oMath>
                </a14:m>
                <a:r>
                  <a:rPr lang="en-US" altLang="zh-CN" sz="1600" dirty="0">
                    <a:solidFill>
                      <a:schemeClr val="tx1"/>
                    </a:solidFill>
                    <a:sym typeface="+mn-ea"/>
                  </a:rPr>
                  <a:t>}</a:t>
                </a:r>
                <a:endParaRPr lang="en-US" altLang="zh-CN" sz="1600" dirty="0">
                  <a:solidFill>
                    <a:schemeClr val="tx1"/>
                  </a:solidFill>
                  <a:sym typeface="+mn-ea"/>
                </a:endParaRPr>
              </a:p>
              <a:p>
                <a:pPr marL="285750" indent="-285750" algn="ctr">
                  <a:buFont typeface="Arial" panose="020B0604020202090204" pitchFamily="34" charset="0"/>
                  <a:buChar char="•"/>
                </a:pPr>
                <a:r>
                  <a:rPr lang="zh-CN" altLang="en-US" sz="1600" kern="1400" spc="-50" dirty="0">
                    <a:solidFill>
                      <a:schemeClr val="tx1"/>
                    </a:solidFill>
                    <a:latin typeface="Times New Roman" panose="02020503050405090304" pitchFamily="18" charset="0"/>
                    <a:sym typeface="+mn-ea"/>
                  </a:rPr>
                  <a:t>地点特征</a:t>
                </a:r>
                <a:r>
                  <a:rPr lang="en-US" altLang="zh-CN" sz="1600" kern="1400" spc="-50" dirty="0">
                    <a:solidFill>
                      <a:schemeClr val="tx1"/>
                    </a:solidFill>
                    <a:latin typeface="Times New Roman" panose="02020503050405090304" pitchFamily="18" charset="0"/>
                    <a:sym typeface="+mn-ea"/>
                  </a:rPr>
                  <a:t> </a:t>
                </a:r>
                <a:r>
                  <a:rPr lang="zh-CN" altLang="en-US"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𝑤</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en-US" altLang="zh-CN"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𝑞</m:t>
                        </m:r>
                      </m:e>
                      <m:sub>
                        <m:r>
                          <a:rPr lang="en-US" altLang="zh-CN" sz="1600" i="1" dirty="0">
                            <a:solidFill>
                              <a:schemeClr val="tx1"/>
                            </a:solidFill>
                            <a:latin typeface="DejaVu Math TeX Gyre" panose="02000503000000000000" charset="0"/>
                            <a:cs typeface="DejaVu Math TeX Gyre" panose="02000503000000000000" charset="0"/>
                          </a:rPr>
                          <m:t>𝑜</m:t>
                        </m:r>
                      </m:sub>
                    </m:sSub>
                  </m:oMath>
                </a14:m>
                <a:r>
                  <a:rPr lang="en-US" altLang="zh-CN" sz="1600" dirty="0">
                    <a:solidFill>
                      <a:schemeClr val="tx1"/>
                    </a:solidFill>
                    <a:sym typeface="+mn-ea"/>
                  </a:rPr>
                  <a:t>}</a:t>
                </a:r>
                <a:endParaRPr lang="en-US" altLang="zh-CN" sz="1600" dirty="0">
                  <a:solidFill>
                    <a:schemeClr val="tx1"/>
                  </a:solidFill>
                  <a:sym typeface="+mn-ea"/>
                </a:endParaRPr>
              </a:p>
              <a:p>
                <a:pPr marL="285750" indent="-285750" algn="ctr">
                  <a:buFont typeface="Arial" panose="020B0604020202090204" pitchFamily="34" charset="0"/>
                  <a:buChar char="•"/>
                </a:pPr>
                <a:r>
                  <a:rPr lang="zh-CN" altLang="en-US" sz="1600" kern="1400" spc="-50" dirty="0">
                    <a:solidFill>
                      <a:schemeClr val="tx1"/>
                    </a:solidFill>
                    <a:latin typeface="Times New Roman" panose="02020503050405090304" pitchFamily="18" charset="0"/>
                    <a:sym typeface="+mn-ea"/>
                  </a:rPr>
                  <a:t>移动相关特征</a:t>
                </a:r>
                <a:r>
                  <a:rPr lang="en-US" altLang="zh-CN" sz="1600" kern="1400" spc="-50" dirty="0">
                    <a:solidFill>
                      <a:schemeClr val="tx1"/>
                    </a:solidFill>
                    <a:latin typeface="Times New Roman" panose="02020503050405090304" pitchFamily="18" charset="0"/>
                    <a:sym typeface="+mn-ea"/>
                  </a:rPr>
                  <a:t> </a:t>
                </a:r>
                <a:r>
                  <a:rPr lang="zh-CN" altLang="en-US"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𝜏</m:t>
                        </m:r>
                      </m:e>
                      <m:sub>
                        <m:r>
                          <a:rPr lang="en-US" altLang="zh-CN" sz="1600" i="1" dirty="0">
                            <a:solidFill>
                              <a:schemeClr val="tx1"/>
                            </a:solidFill>
                            <a:latin typeface="DejaVu Math TeX Gyre" panose="02000503000000000000" charset="0"/>
                            <a:cs typeface="DejaVu Math TeX Gyre" panose="02000503000000000000" charset="0"/>
                          </a:rPr>
                          <m:t>𝑜𝑑</m:t>
                        </m:r>
                      </m:sub>
                    </m:sSub>
                  </m:oMath>
                </a14:m>
                <a:r>
                  <a:rPr lang="en-US" altLang="zh-CN" sz="1600" dirty="0">
                    <a:solidFill>
                      <a:schemeClr val="tx1"/>
                    </a:solidFill>
                    <a:sym typeface="+mn-ea"/>
                  </a:rPr>
                  <a:t>, </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𝛼</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en-US" altLang="zh-CN" sz="1600" dirty="0">
                    <a:solidFill>
                      <a:schemeClr val="tx1"/>
                    </a:solidFill>
                    <a:sym typeface="+mn-ea"/>
                  </a:rPr>
                  <a:t>}</a:t>
                </a:r>
                <a:endParaRPr lang="en-US" altLang="zh-CN" sz="1600" kern="1400" spc="-50" dirty="0">
                  <a:solidFill>
                    <a:schemeClr val="tx1"/>
                  </a:solidFill>
                  <a:latin typeface="Times New Roman" panose="02020503050405090304" pitchFamily="18" charset="0"/>
                  <a:sym typeface="+mn-ea"/>
                </a:endParaRPr>
              </a:p>
            </p:txBody>
          </p:sp>
        </mc:Choice>
        <mc:Fallback>
          <p:sp>
            <p:nvSpPr>
              <p:cNvPr id="12" name="矩形: 圆角 7"/>
              <p:cNvSpPr>
                <a:spLocks noRot="1" noChangeAspect="1" noMove="1" noResize="1" noEditPoints="1" noAdjustHandles="1" noChangeArrowheads="1" noChangeShapeType="1" noTextEdit="1"/>
              </p:cNvSpPr>
              <p:nvPr/>
            </p:nvSpPr>
            <p:spPr>
              <a:xfrm>
                <a:off x="1965960" y="1889125"/>
                <a:ext cx="4201795" cy="1167130"/>
              </a:xfrm>
              <a:prstGeom prst="roundRect">
                <a:avLst/>
              </a:prstGeom>
              <a:blipFill rotWithShape="1">
                <a:blip r:embed="rId5"/>
                <a:stretch>
                  <a:fillRect l="-348" t="-1251" r="-332" b="-1197"/>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3" name="矩形: 圆角 7"/>
          <p:cNvSpPr/>
          <p:nvPr/>
        </p:nvSpPr>
        <p:spPr>
          <a:xfrm>
            <a:off x="6931025" y="1897380"/>
            <a:ext cx="4201795" cy="11671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90204" pitchFamily="34" charset="0"/>
              <a:buChar char="•"/>
            </a:pPr>
            <a:r>
              <a:rPr lang="zh-CN" altLang="en-US" sz="1600">
                <a:solidFill>
                  <a:schemeClr val="tx1"/>
                </a:solidFill>
                <a:sym typeface="+mn-ea"/>
              </a:rPr>
              <a:t>在识别环节</a:t>
            </a:r>
            <a:r>
              <a:rPr lang="en-US" altLang="zh-CN" sz="1600">
                <a:solidFill>
                  <a:schemeClr val="tx1"/>
                </a:solidFill>
                <a:sym typeface="+mn-ea"/>
              </a:rPr>
              <a:t>，</a:t>
            </a:r>
            <a:r>
              <a:rPr lang="zh-CN" altLang="en-US" sz="1600">
                <a:solidFill>
                  <a:schemeClr val="tx1"/>
                </a:solidFill>
                <a:sym typeface="+mn-ea"/>
              </a:rPr>
              <a:t>不依赖于一般均衡参数的具体大小</a:t>
            </a:r>
            <a:r>
              <a:rPr lang="en-US" altLang="zh-CN" sz="1600">
                <a:solidFill>
                  <a:schemeClr val="tx1"/>
                </a:solidFill>
                <a:sym typeface="+mn-ea"/>
              </a:rPr>
              <a:t>；</a:t>
            </a:r>
            <a:r>
              <a:rPr lang="zh-CN" altLang="en-US" sz="1600">
                <a:solidFill>
                  <a:schemeClr val="tx1"/>
                </a:solidFill>
                <a:sym typeface="+mn-ea"/>
              </a:rPr>
              <a:t>但在反事实部分</a:t>
            </a:r>
            <a:r>
              <a:rPr lang="en-US" altLang="zh-CN" sz="1600">
                <a:solidFill>
                  <a:schemeClr val="tx1"/>
                </a:solidFill>
                <a:sym typeface="+mn-ea"/>
              </a:rPr>
              <a:t>，</a:t>
            </a:r>
            <a:r>
              <a:rPr lang="zh-CN" altLang="en-US" sz="1600">
                <a:solidFill>
                  <a:schemeClr val="tx1"/>
                </a:solidFill>
                <a:sym typeface="+mn-ea"/>
              </a:rPr>
              <a:t>参数的大小将影响</a:t>
            </a:r>
            <a:r>
              <a:rPr lang="zh-CN" altLang="en-US" sz="1600">
                <a:solidFill>
                  <a:schemeClr val="tx1"/>
                </a:solidFill>
                <a:sym typeface="+mn-ea"/>
              </a:rPr>
              <a:t>反事实结果</a:t>
            </a:r>
            <a:r>
              <a:rPr lang="en-US" altLang="zh-CN" sz="1600">
                <a:solidFill>
                  <a:schemeClr val="tx1"/>
                </a:solidFill>
                <a:sym typeface="+mn-ea"/>
              </a:rPr>
              <a:t>，</a:t>
            </a:r>
            <a:r>
              <a:rPr lang="zh-CN" altLang="en-US" sz="1600">
                <a:solidFill>
                  <a:schemeClr val="tx1"/>
                </a:solidFill>
                <a:sym typeface="+mn-ea"/>
              </a:rPr>
              <a:t>需要</a:t>
            </a:r>
            <a:r>
              <a:rPr lang="zh-CN" altLang="en-US" sz="1600">
                <a:solidFill>
                  <a:schemeClr val="tx1"/>
                </a:solidFill>
                <a:sym typeface="+mn-ea"/>
              </a:rPr>
              <a:t>进行校准</a:t>
            </a:r>
            <a:r>
              <a:rPr lang="en-US" altLang="zh-CN" sz="1600">
                <a:solidFill>
                  <a:schemeClr val="tx1"/>
                </a:solidFill>
                <a:sym typeface="+mn-ea"/>
              </a:rPr>
              <a:t>。</a:t>
            </a:r>
            <a:endParaRPr lang="en-US" altLang="zh-CN" sz="1600" kern="100" dirty="0">
              <a:solidFill>
                <a:schemeClr val="tx1"/>
              </a:solidFill>
              <a:latin typeface="Times New Roman" panose="02020503050405090304" pitchFamily="18" charset="0"/>
              <a:cs typeface="Arial" panose="020B0604020202090204" pitchFamily="34" charset="0"/>
              <a:sym typeface="+mn-ea"/>
            </a:endParaRPr>
          </a:p>
        </p:txBody>
      </p:sp>
      <mc:AlternateContent xmlns:mc="http://schemas.openxmlformats.org/markup-compatibility/2006">
        <mc:Choice xmlns:a14="http://schemas.microsoft.com/office/drawing/2010/main" Requires="a14">
          <p:sp>
            <p:nvSpPr>
              <p:cNvPr id="18" name="文本框 17"/>
              <p:cNvSpPr txBox="1"/>
              <p:nvPr/>
            </p:nvSpPr>
            <p:spPr>
              <a:xfrm>
                <a:off x="5064125" y="4611370"/>
                <a:ext cx="2922905" cy="1725295"/>
              </a:xfrm>
              <a:prstGeom prst="rect">
                <a:avLst/>
              </a:prstGeom>
              <a:noFill/>
            </p:spPr>
            <p:txBody>
              <a:bodyPr wrap="square" rtlCol="0">
                <a:noAutofit/>
              </a:bodyPr>
              <a:p>
                <a:pPr marL="285750" indent="-285750" algn="l">
                  <a:buClrTx/>
                  <a:buSzTx/>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因为观察不到效用的绝对大小</a:t>
                </a:r>
                <a:r>
                  <a:rPr lang="en-US" altLang="zh-CN" sz="1600" dirty="0">
                    <a:latin typeface="DejaVu Math TeX Gyre" panose="02000503000000000000" charset="0"/>
                    <a:cs typeface="DejaVu Math TeX Gyre" panose="02000503000000000000" charset="0"/>
                  </a:rPr>
                  <a:t>，</a:t>
                </a: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ea typeface="宋体" charset="0"/>
                            <a:cs typeface="DejaVu Math TeX Gyre" panose="02000503000000000000" charset="0"/>
                          </a:rPr>
                          <m:t>𝛼</m:t>
                        </m:r>
                      </m:e>
                      <m:sub>
                        <m:r>
                          <a:rPr lang="en-US" altLang="zh-CN" sz="1600" i="1" dirty="0">
                            <a:latin typeface="DejaVu Math TeX Gyre" panose="02000503000000000000" charset="0"/>
                            <a:cs typeface="DejaVu Math TeX Gyre" panose="02000503000000000000" charset="0"/>
                          </a:rPr>
                          <m:t>𝑑</m:t>
                        </m:r>
                      </m:sub>
                    </m:sSub>
                  </m:oMath>
                </a14:m>
                <a:r>
                  <a:rPr lang="zh-CN" altLang="en-US" sz="1600" dirty="0">
                    <a:latin typeface="DejaVu Math TeX Gyre" panose="02000503000000000000" charset="0"/>
                    <a:cs typeface="DejaVu Math TeX Gyre" panose="02000503000000000000" charset="0"/>
                  </a:rPr>
                  <a:t>绝对</a:t>
                </a:r>
                <a:r>
                  <a:rPr lang="zh-CN" altLang="en-US" sz="1600" dirty="0">
                    <a:latin typeface="DejaVu Math TeX Gyre" panose="02000503000000000000" charset="0"/>
                    <a:cs typeface="DejaVu Math TeX Gyre" panose="02000503000000000000" charset="0"/>
                  </a:rPr>
                  <a:t>值也没有</a:t>
                </a:r>
                <a:r>
                  <a:rPr lang="zh-CN" altLang="en-US" sz="1600" dirty="0">
                    <a:latin typeface="DejaVu Math TeX Gyre" panose="02000503000000000000" charset="0"/>
                    <a:cs typeface="DejaVu Math TeX Gyre" panose="02000503000000000000" charset="0"/>
                  </a:rPr>
                  <a:t>意义</a:t>
                </a:r>
                <a:endParaRPr lang="zh-CN" altLang="en-US" sz="1600" dirty="0">
                  <a:latin typeface="DejaVu Math TeX Gyre" panose="02000503000000000000" charset="0"/>
                  <a:cs typeface="DejaVu Math TeX Gyre" panose="02000503000000000000" charset="0"/>
                </a:endParaRPr>
              </a:p>
              <a:p>
                <a:pPr marL="285750" indent="-285750" algn="l">
                  <a:buClrTx/>
                  <a:buSzTx/>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宜居度是以相对形式进入模型</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例如迁移比例</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对宜居度差异的识别也来自于人们对不同地点的相对偏好</a:t>
                </a:r>
                <a:r>
                  <a:rPr lang="en-US" altLang="zh-CN" sz="1600" dirty="0">
                    <a:latin typeface="DejaVu Math TeX Gyre" panose="02000503000000000000" charset="0"/>
                    <a:cs typeface="DejaVu Math TeX Gyre" panose="02000503000000000000" charset="0"/>
                  </a:rPr>
                  <a:t>。</a:t>
                </a:r>
                <a:endParaRPr lang="en-US" altLang="zh-CN" sz="1600" dirty="0">
                  <a:latin typeface="DejaVu Math TeX Gyre" panose="02000503000000000000" charset="0"/>
                  <a:cs typeface="DejaVu Math TeX Gyre" panose="02000503000000000000" charset="0"/>
                </a:endParaRPr>
              </a:p>
            </p:txBody>
          </p:sp>
        </mc:Choice>
        <mc:Fallback>
          <p:sp>
            <p:nvSpPr>
              <p:cNvPr id="18" name="文本框 17"/>
              <p:cNvSpPr txBox="1">
                <a:spLocks noRot="1" noChangeAspect="1" noMove="1" noResize="1" noEditPoints="1" noAdjustHandles="1" noChangeArrowheads="1" noChangeShapeType="1" noTextEdit="1"/>
              </p:cNvSpPr>
              <p:nvPr/>
            </p:nvSpPr>
            <p:spPr>
              <a:xfrm>
                <a:off x="5064125" y="4611370"/>
                <a:ext cx="2922905" cy="1725295"/>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识别目标与归一化</a:t>
            </a:r>
            <a:r>
              <a:rPr lang="zh-CN" altLang="en-US" sz="2800" b="1" dirty="0">
                <a:latin typeface="+mn-lt"/>
              </a:rPr>
              <a:t>处理</a:t>
            </a:r>
            <a:endParaRPr lang="zh-CN" altLang="en-US" sz="2800" b="1" dirty="0">
              <a:latin typeface="+mn-lt"/>
            </a:endParaRPr>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3.1</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5" name="文本框 4"/>
              <p:cNvSpPr txBox="1"/>
              <p:nvPr/>
            </p:nvSpPr>
            <p:spPr>
              <a:xfrm>
                <a:off x="1966595" y="1478280"/>
                <a:ext cx="4201160" cy="368935"/>
              </a:xfrm>
              <a:prstGeom prst="rect">
                <a:avLst/>
              </a:prstGeom>
              <a:noFill/>
            </p:spPr>
            <p:txBody>
              <a:bodyPr wrap="square" rtlCol="0">
                <a:spAutoFit/>
              </a:bodyPr>
              <a:p>
                <a:pPr algn="ctr"/>
                <a:r>
                  <a:rPr lang="en-US" altLang="zh-CN">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rPr>
                      <m:t>𝜃</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rPr>
                      <m:t>𝜌</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𝑞</m:t>
                        </m:r>
                      </m:e>
                      <m:sub>
                        <m:r>
                          <a:rPr lang="en-US" altLang="zh-CN" i="1" dirty="0">
                            <a:latin typeface="DejaVu Math TeX Gyre" panose="02000503000000000000" charset="0"/>
                            <a:cs typeface="DejaVu Math TeX Gyre" panose="02000503000000000000" charset="0"/>
                          </a:rPr>
                          <m:t>𝑜</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𝑤</m:t>
                        </m:r>
                      </m:e>
                      <m:sub>
                        <m:r>
                          <a:rPr lang="en-US" altLang="zh-CN" i="1" dirty="0">
                            <a:latin typeface="DejaVu Math TeX Gyre" panose="02000503000000000000" charset="0"/>
                            <a:cs typeface="DejaVu Math TeX Gyre" panose="02000503000000000000" charset="0"/>
                          </a:rPr>
                          <m:t>𝑑</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ea typeface="宋体" charset="0"/>
                            <a:cs typeface="DejaVu Math TeX Gyre" panose="02000503000000000000" charset="0"/>
                          </a:rPr>
                          <m:t>𝛼</m:t>
                        </m:r>
                      </m:e>
                      <m:sub>
                        <m:r>
                          <a:rPr lang="en-US" altLang="zh-CN" i="1" dirty="0">
                            <a:latin typeface="DejaVu Math TeX Gyre" panose="02000503000000000000" charset="0"/>
                            <a:cs typeface="DejaVu Math TeX Gyre" panose="02000503000000000000" charset="0"/>
                          </a:rPr>
                          <m:t>𝑑</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ea typeface="宋体" charset="0"/>
                            <a:cs typeface="DejaVu Math TeX Gyre" panose="02000503000000000000" charset="0"/>
                          </a:rPr>
                          <m:t>𝜏</m:t>
                        </m:r>
                      </m:e>
                      <m:sub>
                        <m:r>
                          <a:rPr lang="en-US" altLang="zh-CN" i="1" dirty="0">
                            <a:latin typeface="DejaVu Math TeX Gyre" panose="02000503000000000000" charset="0"/>
                            <a:cs typeface="DejaVu Math TeX Gyre" panose="02000503000000000000" charset="0"/>
                          </a:rPr>
                          <m:t>𝑜𝑑</m:t>
                        </m:r>
                      </m:sub>
                    </m:sSub>
                  </m:oMath>
                </a14:m>
                <a:r>
                  <a:rPr lang="en-US" altLang="zh-CN">
                    <a:latin typeface="Times New Roman Regular" panose="02020503050405090304" charset="0"/>
                    <a:cs typeface="Times New Roman Regular" panose="02020503050405090304" charset="0"/>
                  </a:rPr>
                  <a:t>}</a:t>
                </a:r>
                <a:endParaRPr lang="en-US" altLang="zh-CN">
                  <a:latin typeface="Times New Roman Regular" panose="02020503050405090304" charset="0"/>
                  <a:cs typeface="Times New Roman Regular" panose="020205030504050903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966595" y="1478280"/>
                <a:ext cx="4201160" cy="36893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931025" y="1484630"/>
                <a:ext cx="4201795" cy="368300"/>
              </a:xfrm>
              <a:prstGeom prst="rect">
                <a:avLst/>
              </a:prstGeom>
              <a:noFill/>
            </p:spPr>
            <p:txBody>
              <a:bodyPr wrap="square" rtlCol="0">
                <a:spAutoFit/>
              </a:bodyPr>
              <a:p>
                <a:pPr algn="ctr"/>
                <a:r>
                  <a:rPr lang="en-US" altLang="zh-CN">
                    <a:latin typeface="Times New Roman Regular" panose="02020503050405090304" charset="0"/>
                    <a:cs typeface="Times New Roman Regular" panose="02020503050405090304" charset="0"/>
                  </a:rPr>
                  <a:t>{</a:t>
                </a:r>
                <a14:m>
                  <m:oMath xmlns:m="http://schemas.openxmlformats.org/officeDocument/2006/math">
                    <m:r>
                      <a:rPr lang="en-US" altLang="zh-CN" i="1">
                        <a:latin typeface="DejaVu Math TeX Gyre" panose="02000503000000000000" charset="0"/>
                        <a:cs typeface="DejaVu Math TeX Gyre" panose="02000503000000000000" charset="0"/>
                      </a:rPr>
                      <m:t>𝛾</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cs typeface="DejaVu Math TeX Gyre" panose="02000503000000000000" charset="0"/>
                      </a:rPr>
                      <m:t>𝜆</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cs typeface="DejaVu Math TeX Gyre" panose="02000503000000000000" charset="0"/>
                      </a:rPr>
                      <m:t>𝜎</m:t>
                    </m:r>
                  </m:oMath>
                </a14:m>
                <a:r>
                  <a:rPr lang="en-US" altLang="zh-CN">
                    <a:latin typeface="Times New Roman Regular" panose="02020503050405090304" charset="0"/>
                    <a:cs typeface="Times New Roman Regular" panose="02020503050405090304" charset="0"/>
                  </a:rPr>
                  <a:t>}</a:t>
                </a:r>
                <a:endParaRPr lang="en-US" altLang="zh-CN">
                  <a:latin typeface="Times New Roman Regular" panose="02020503050405090304" charset="0"/>
                  <a:cs typeface="Times New Roman Regular" panose="020205030504050903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931025" y="1484630"/>
                <a:ext cx="4201795" cy="368300"/>
              </a:xfrm>
              <a:prstGeom prst="rect">
                <a:avLst/>
              </a:prstGeom>
              <a:blipFill rotWithShape="1">
                <a:blip r:embed="rId2"/>
                <a:stretch>
                  <a:fillRect/>
                </a:stretch>
              </a:blipFill>
            </p:spPr>
            <p:txBody>
              <a:bodyPr/>
              <a:lstStyle/>
              <a:p>
                <a:r>
                  <a:rPr lang="zh-CN" altLang="en-US">
                    <a:noFill/>
                  </a:rPr>
                  <a:t> </a:t>
                </a:r>
              </a:p>
            </p:txBody>
          </p:sp>
        </mc:Fallback>
      </mc:AlternateContent>
      <p:sp>
        <p:nvSpPr>
          <p:cNvPr id="7" name="文本框 6"/>
          <p:cNvSpPr txBox="1"/>
          <p:nvPr/>
        </p:nvSpPr>
        <p:spPr>
          <a:xfrm>
            <a:off x="1965960" y="1048831"/>
            <a:ext cx="4201478" cy="437515"/>
          </a:xfrm>
          <a:prstGeom prst="rect">
            <a:avLst/>
          </a:prstGeom>
          <a:solidFill>
            <a:schemeClr val="bg2"/>
          </a:solidFill>
        </p:spPr>
        <p:txBody>
          <a:bodyPr wrap="square" anchor="ctr" anchorCtr="0">
            <a:spAutoFit/>
          </a:bodyPr>
          <a:lstStyle/>
          <a:p>
            <a:pPr marL="0" marR="0" indent="0" algn="ctr">
              <a:lnSpc>
                <a:spcPct val="125000"/>
              </a:lnSpc>
              <a:buNone/>
            </a:pPr>
            <a:r>
              <a:rPr lang="zh-CN" altLang="en-US" b="1" kern="1400" spc="-50" dirty="0">
                <a:latin typeface="Times New Roman" panose="02020503050405090304" pitchFamily="18" charset="0"/>
              </a:rPr>
              <a:t>待识别与估计的</a:t>
            </a:r>
            <a:r>
              <a:rPr lang="zh-CN" altLang="en-US" b="1" kern="1400" spc="-50" dirty="0">
                <a:latin typeface="Times New Roman" panose="02020503050405090304" pitchFamily="18" charset="0"/>
              </a:rPr>
              <a:t>外生参数</a:t>
            </a:r>
            <a:endParaRPr lang="zh-CN" altLang="en-US" b="1" kern="1400" spc="-50" dirty="0">
              <a:latin typeface="Times New Roman" panose="02020503050405090304" pitchFamily="18" charset="0"/>
            </a:endParaRPr>
          </a:p>
        </p:txBody>
      </p:sp>
      <p:sp>
        <p:nvSpPr>
          <p:cNvPr id="8" name="文本框 7"/>
          <p:cNvSpPr txBox="1"/>
          <p:nvPr/>
        </p:nvSpPr>
        <p:spPr>
          <a:xfrm>
            <a:off x="6931025" y="1048831"/>
            <a:ext cx="4201478" cy="437515"/>
          </a:xfrm>
          <a:prstGeom prst="rect">
            <a:avLst/>
          </a:prstGeom>
          <a:solidFill>
            <a:schemeClr val="bg2"/>
          </a:solidFill>
        </p:spPr>
        <p:txBody>
          <a:bodyPr wrap="square" anchor="ctr" anchorCtr="0">
            <a:spAutoFit/>
          </a:bodyPr>
          <a:lstStyle/>
          <a:p>
            <a:pPr marL="0" marR="0" indent="0" algn="ctr">
              <a:lnSpc>
                <a:spcPct val="125000"/>
              </a:lnSpc>
              <a:buNone/>
            </a:pPr>
            <a:r>
              <a:rPr lang="zh-CN" altLang="en-US" b="1" kern="1400" spc="-50" dirty="0">
                <a:latin typeface="Times New Roman" panose="02020503050405090304" pitchFamily="18" charset="0"/>
              </a:rPr>
              <a:t>一般均衡</a:t>
            </a:r>
            <a:r>
              <a:rPr lang="zh-CN" altLang="en-US" b="1" kern="1400" spc="-50" dirty="0">
                <a:latin typeface="Times New Roman" panose="02020503050405090304" pitchFamily="18" charset="0"/>
              </a:rPr>
              <a:t>参数</a:t>
            </a:r>
            <a:endParaRPr lang="zh-CN" altLang="en-US" b="1" kern="1400" spc="-50" dirty="0">
              <a:latin typeface="Times New Roman" panose="02020503050405090304" pitchFamily="18" charset="0"/>
            </a:endParaRPr>
          </a:p>
        </p:txBody>
      </p:sp>
      <p:grpSp>
        <p:nvGrpSpPr>
          <p:cNvPr id="21" name="组合 20"/>
          <p:cNvGrpSpPr/>
          <p:nvPr/>
        </p:nvGrpSpPr>
        <p:grpSpPr>
          <a:xfrm>
            <a:off x="8145780" y="3845560"/>
            <a:ext cx="2950269" cy="2479675"/>
            <a:chOff x="3107" y="5400"/>
            <a:chExt cx="3989" cy="4349"/>
          </a:xfrm>
        </p:grpSpPr>
        <p:sp>
          <p:nvSpPr>
            <p:cNvPr id="22" name="矩形 21"/>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3107" y="5400"/>
              <a:ext cx="3989" cy="699"/>
            </a:xfrm>
            <a:prstGeom prst="rect">
              <a:avLst/>
            </a:prstGeom>
            <a:solidFill>
              <a:srgbClr val="69025E"/>
            </a:solidFill>
          </p:spPr>
          <p:txBody>
            <a:bodyPr wrap="square">
              <a:spAutoFit/>
            </a:bodyPr>
            <a:lstStyle/>
            <a:p>
              <a:pPr algn="ctr"/>
              <a:r>
                <a:rPr lang="zh-CN" altLang="en-US" sz="2000" b="1" dirty="0">
                  <a:solidFill>
                    <a:schemeClr val="bg1"/>
                  </a:solidFill>
                </a:rPr>
                <a:t>人力资本形成</a:t>
              </a:r>
              <a:r>
                <a:rPr lang="zh-CN" altLang="en-US" sz="2000" b="1" dirty="0">
                  <a:solidFill>
                    <a:schemeClr val="bg1"/>
                  </a:solidFill>
                </a:rPr>
                <a:t>质量</a:t>
              </a:r>
              <a:endParaRPr lang="zh-CN" altLang="en-US" sz="2000" b="1" dirty="0">
                <a:solidFill>
                  <a:schemeClr val="bg1"/>
                </a:solidFill>
              </a:endParaRPr>
            </a:p>
          </p:txBody>
        </p:sp>
      </p:grpSp>
      <p:sp>
        <p:nvSpPr>
          <p:cNvPr id="27" name="文本框 26"/>
          <p:cNvSpPr txBox="1"/>
          <p:nvPr/>
        </p:nvSpPr>
        <p:spPr>
          <a:xfrm>
            <a:off x="4430395" y="3255645"/>
            <a:ext cx="4201160" cy="368300"/>
          </a:xfrm>
          <a:prstGeom prst="rect">
            <a:avLst/>
          </a:prstGeom>
          <a:solidFill>
            <a:schemeClr val="bg2"/>
          </a:solidFill>
        </p:spPr>
        <p:txBody>
          <a:bodyPr wrap="square">
            <a:spAutoFit/>
          </a:bodyPr>
          <a:lstStyle/>
          <a:p>
            <a:pPr algn="ctr"/>
            <a:r>
              <a:rPr lang="zh-CN" altLang="en-US" sz="1800" b="1" kern="100" dirty="0">
                <a:solidFill>
                  <a:srgbClr val="69025E"/>
                </a:solidFill>
                <a:effectLst/>
                <a:latin typeface="+mj-ea"/>
                <a:ea typeface="+mj-ea"/>
              </a:rPr>
              <a:t>识别</a:t>
            </a:r>
            <a:r>
              <a:rPr lang="zh-CN" altLang="en-US" sz="1800" b="1" kern="100" dirty="0">
                <a:solidFill>
                  <a:srgbClr val="69025E"/>
                </a:solidFill>
                <a:effectLst/>
                <a:latin typeface="+mj-ea"/>
                <a:ea typeface="+mj-ea"/>
              </a:rPr>
              <a:t>时采取以下的归一化</a:t>
            </a:r>
            <a:r>
              <a:rPr lang="zh-CN" altLang="en-US" sz="1800" b="1" kern="100" dirty="0">
                <a:solidFill>
                  <a:srgbClr val="69025E"/>
                </a:solidFill>
                <a:effectLst/>
                <a:latin typeface="+mj-ea"/>
                <a:ea typeface="+mj-ea"/>
              </a:rPr>
              <a:t>处理</a:t>
            </a:r>
            <a:endParaRPr lang="zh-CN" altLang="en-US" sz="1800" b="1" kern="100" dirty="0">
              <a:solidFill>
                <a:srgbClr val="69025E"/>
              </a:solidFill>
              <a:effectLst/>
              <a:latin typeface="+mj-ea"/>
              <a:ea typeface="+mj-ea"/>
            </a:endParaRPr>
          </a:p>
        </p:txBody>
      </p:sp>
      <p:sp>
        <p:nvSpPr>
          <p:cNvPr id="28" name="箭头: 下 15"/>
          <p:cNvSpPr/>
          <p:nvPr/>
        </p:nvSpPr>
        <p:spPr>
          <a:xfrm rot="19140000">
            <a:off x="4510405" y="3007995"/>
            <a:ext cx="300990" cy="35560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7" name="文本框 36"/>
              <p:cNvSpPr txBox="1"/>
              <p:nvPr/>
            </p:nvSpPr>
            <p:spPr>
              <a:xfrm>
                <a:off x="8189595" y="4274185"/>
                <a:ext cx="2922905" cy="337185"/>
              </a:xfrm>
              <a:prstGeom prst="rect">
                <a:avLst/>
              </a:prstGeom>
              <a:noFill/>
            </p:spPr>
            <p:txBody>
              <a:bodyPr wrap="square" rtlCol="0">
                <a:spAutoFit/>
              </a:bodyPr>
              <a:p>
                <a:pPr algn="ct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cs typeface="DejaVu Math TeX Gyre" panose="02000503000000000000" charset="0"/>
                          </a:rPr>
                          <m:t>𝑞</m:t>
                        </m:r>
                      </m:e>
                      <m:sub>
                        <m:r>
                          <a:rPr lang="en-US" altLang="zh-CN" sz="1600" i="1" dirty="0">
                            <a:latin typeface="DejaVu Math TeX Gyre" panose="02000503000000000000" charset="0"/>
                            <a:cs typeface="DejaVu Math TeX Gyre" panose="02000503000000000000" charset="0"/>
                          </a:rPr>
                          <m:t>1</m:t>
                        </m:r>
                      </m:sub>
                    </m:sSub>
                  </m:oMath>
                </a14:m>
                <a:r>
                  <a:rPr lang="en-US" altLang="zh-CN" sz="1600" dirty="0">
                    <a:latin typeface="DejaVu Math TeX Gyre" panose="02000503000000000000" charset="0"/>
                    <a:cs typeface="DejaVu Math TeX Gyre" panose="02000503000000000000" charset="0"/>
                  </a:rPr>
                  <a:t>=1：</a:t>
                </a:r>
                <a:endParaRPr lang="zh-CN" altLang="en-US" sz="1600" dirty="0">
                  <a:latin typeface="DejaVu Math TeX Gyre" panose="02000503000000000000" charset="0"/>
                  <a:cs typeface="DejaVu Math TeX Gyre" panose="02000503000000000000" charset="0"/>
                </a:endParaRPr>
              </a:p>
            </p:txBody>
          </p:sp>
        </mc:Choice>
        <mc:Fallback>
          <p:sp>
            <p:nvSpPr>
              <p:cNvPr id="37" name="文本框 36"/>
              <p:cNvSpPr txBox="1">
                <a:spLocks noRot="1" noChangeAspect="1" noMove="1" noResize="1" noEditPoints="1" noAdjustHandles="1" noChangeArrowheads="1" noChangeShapeType="1" noTextEdit="1"/>
              </p:cNvSpPr>
              <p:nvPr/>
            </p:nvSpPr>
            <p:spPr>
              <a:xfrm>
                <a:off x="8189595" y="4274185"/>
                <a:ext cx="2922905" cy="33718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圆角 7"/>
              <p:cNvSpPr/>
              <p:nvPr/>
            </p:nvSpPr>
            <p:spPr>
              <a:xfrm>
                <a:off x="1965960" y="1889125"/>
                <a:ext cx="4201795" cy="11671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90204" pitchFamily="34" charset="0"/>
                  <a:buChar char="•"/>
                </a:pPr>
                <a:r>
                  <a:rPr lang="en-US" altLang="zh-CN" sz="1600" dirty="0">
                    <a:solidFill>
                      <a:schemeClr val="tx1"/>
                    </a:solidFill>
                    <a:sym typeface="+mn-ea"/>
                  </a:rPr>
                  <a:t>Fr</a:t>
                </a:r>
                <a:r>
                  <a:rPr lang="en-US" altLang="en-US" sz="1600" dirty="0">
                    <a:solidFill>
                      <a:schemeClr val="tx1"/>
                    </a:solidFill>
                    <a:sym typeface="+mn-ea"/>
                  </a:rPr>
                  <a:t>é</a:t>
                </a:r>
                <a:r>
                  <a:rPr lang="en-US" altLang="zh-CN" sz="1600" dirty="0">
                    <a:solidFill>
                      <a:schemeClr val="tx1"/>
                    </a:solidFill>
                    <a:sym typeface="+mn-ea"/>
                  </a:rPr>
                  <a:t>chet </a:t>
                </a:r>
                <a:r>
                  <a:rPr lang="zh-CN" altLang="en-US" sz="1600" dirty="0">
                    <a:solidFill>
                      <a:schemeClr val="tx1"/>
                    </a:solidFill>
                    <a:sym typeface="+mn-ea"/>
                  </a:rPr>
                  <a:t>参数 {</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𝜃</m:t>
                    </m:r>
                  </m:oMath>
                </a14:m>
                <a:r>
                  <a:rPr lang="en-US" altLang="zh-CN" sz="1600" i="1" dirty="0">
                    <a:solidFill>
                      <a:schemeClr val="tx1"/>
                    </a:solidFill>
                    <a:sym typeface="+mn-ea"/>
                  </a:rPr>
                  <a:t>, </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𝜌</m:t>
                    </m:r>
                  </m:oMath>
                </a14:m>
                <a:r>
                  <a:rPr lang="en-US" altLang="zh-CN" sz="1600" dirty="0">
                    <a:solidFill>
                      <a:schemeClr val="tx1"/>
                    </a:solidFill>
                    <a:sym typeface="+mn-ea"/>
                  </a:rPr>
                  <a:t>}</a:t>
                </a:r>
                <a:endParaRPr lang="en-US" altLang="zh-CN" sz="1600" dirty="0">
                  <a:solidFill>
                    <a:schemeClr val="tx1"/>
                  </a:solidFill>
                  <a:sym typeface="+mn-ea"/>
                </a:endParaRPr>
              </a:p>
              <a:p>
                <a:pPr marL="285750" indent="-285750" algn="ctr">
                  <a:buFont typeface="Arial" panose="020B0604020202090204" pitchFamily="34" charset="0"/>
                  <a:buChar char="•"/>
                </a:pPr>
                <a:r>
                  <a:rPr lang="zh-CN" altLang="en-US" sz="1600" kern="1400" spc="-50" dirty="0">
                    <a:solidFill>
                      <a:schemeClr val="tx1"/>
                    </a:solidFill>
                    <a:latin typeface="Times New Roman" panose="02020503050405090304" pitchFamily="18" charset="0"/>
                    <a:sym typeface="+mn-ea"/>
                  </a:rPr>
                  <a:t>地点特征</a:t>
                </a:r>
                <a:r>
                  <a:rPr lang="en-US" altLang="zh-CN" sz="1600" kern="1400" spc="-50" dirty="0">
                    <a:solidFill>
                      <a:schemeClr val="tx1"/>
                    </a:solidFill>
                    <a:latin typeface="Times New Roman" panose="02020503050405090304" pitchFamily="18" charset="0"/>
                    <a:sym typeface="+mn-ea"/>
                  </a:rPr>
                  <a:t> </a:t>
                </a:r>
                <a:r>
                  <a:rPr lang="zh-CN" altLang="en-US"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𝑤</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en-US" altLang="zh-CN"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𝑞</m:t>
                        </m:r>
                      </m:e>
                      <m:sub>
                        <m:r>
                          <a:rPr lang="en-US" altLang="zh-CN" sz="1600" i="1" dirty="0">
                            <a:solidFill>
                              <a:schemeClr val="tx1"/>
                            </a:solidFill>
                            <a:latin typeface="DejaVu Math TeX Gyre" panose="02000503000000000000" charset="0"/>
                            <a:cs typeface="DejaVu Math TeX Gyre" panose="02000503000000000000" charset="0"/>
                          </a:rPr>
                          <m:t>𝑜</m:t>
                        </m:r>
                      </m:sub>
                    </m:sSub>
                  </m:oMath>
                </a14:m>
                <a:r>
                  <a:rPr lang="en-US" altLang="zh-CN" sz="1600" dirty="0">
                    <a:solidFill>
                      <a:schemeClr val="tx1"/>
                    </a:solidFill>
                    <a:sym typeface="+mn-ea"/>
                  </a:rPr>
                  <a:t>}</a:t>
                </a:r>
                <a:endParaRPr lang="en-US" altLang="zh-CN" sz="1600" dirty="0">
                  <a:solidFill>
                    <a:schemeClr val="tx1"/>
                  </a:solidFill>
                  <a:sym typeface="+mn-ea"/>
                </a:endParaRPr>
              </a:p>
              <a:p>
                <a:pPr marL="285750" indent="-285750" algn="ctr">
                  <a:buFont typeface="Arial" panose="020B0604020202090204" pitchFamily="34" charset="0"/>
                  <a:buChar char="•"/>
                </a:pPr>
                <a:r>
                  <a:rPr lang="zh-CN" altLang="en-US" sz="1600" kern="1400" spc="-50" dirty="0">
                    <a:solidFill>
                      <a:schemeClr val="tx1"/>
                    </a:solidFill>
                    <a:latin typeface="Times New Roman" panose="02020503050405090304" pitchFamily="18" charset="0"/>
                    <a:sym typeface="+mn-ea"/>
                  </a:rPr>
                  <a:t>移动相关特征</a:t>
                </a:r>
                <a:r>
                  <a:rPr lang="en-US" altLang="zh-CN" sz="1600" kern="1400" spc="-50" dirty="0">
                    <a:solidFill>
                      <a:schemeClr val="tx1"/>
                    </a:solidFill>
                    <a:latin typeface="Times New Roman" panose="02020503050405090304" pitchFamily="18" charset="0"/>
                    <a:sym typeface="+mn-ea"/>
                  </a:rPr>
                  <a:t> </a:t>
                </a:r>
                <a:r>
                  <a:rPr lang="zh-CN" altLang="en-US"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𝜏</m:t>
                        </m:r>
                      </m:e>
                      <m:sub>
                        <m:r>
                          <a:rPr lang="en-US" altLang="zh-CN" sz="1600" i="1" dirty="0">
                            <a:solidFill>
                              <a:schemeClr val="tx1"/>
                            </a:solidFill>
                            <a:latin typeface="DejaVu Math TeX Gyre" panose="02000503000000000000" charset="0"/>
                            <a:cs typeface="DejaVu Math TeX Gyre" panose="02000503000000000000" charset="0"/>
                          </a:rPr>
                          <m:t>𝑜𝑑</m:t>
                        </m:r>
                      </m:sub>
                    </m:sSub>
                  </m:oMath>
                </a14:m>
                <a:r>
                  <a:rPr lang="en-US" altLang="zh-CN" sz="1600" dirty="0">
                    <a:solidFill>
                      <a:schemeClr val="tx1"/>
                    </a:solidFill>
                    <a:sym typeface="+mn-ea"/>
                  </a:rPr>
                  <a:t>, </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𝛼</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en-US" altLang="zh-CN" sz="1600" dirty="0">
                    <a:solidFill>
                      <a:schemeClr val="tx1"/>
                    </a:solidFill>
                    <a:sym typeface="+mn-ea"/>
                  </a:rPr>
                  <a:t>}</a:t>
                </a:r>
                <a:endParaRPr lang="en-US" altLang="zh-CN" sz="1600" kern="1400" spc="-50" dirty="0">
                  <a:solidFill>
                    <a:schemeClr val="tx1"/>
                  </a:solidFill>
                  <a:latin typeface="Times New Roman" panose="02020503050405090304" pitchFamily="18" charset="0"/>
                  <a:sym typeface="+mn-ea"/>
                </a:endParaRPr>
              </a:p>
            </p:txBody>
          </p:sp>
        </mc:Choice>
        <mc:Fallback>
          <p:sp>
            <p:nvSpPr>
              <p:cNvPr id="12" name="矩形: 圆角 7"/>
              <p:cNvSpPr>
                <a:spLocks noRot="1" noChangeAspect="1" noMove="1" noResize="1" noEditPoints="1" noAdjustHandles="1" noChangeArrowheads="1" noChangeShapeType="1" noTextEdit="1"/>
              </p:cNvSpPr>
              <p:nvPr/>
            </p:nvSpPr>
            <p:spPr>
              <a:xfrm>
                <a:off x="1965960" y="1889125"/>
                <a:ext cx="4201795" cy="1167130"/>
              </a:xfrm>
              <a:prstGeom prst="roundRect">
                <a:avLst/>
              </a:prstGeom>
              <a:blipFill rotWithShape="1">
                <a:blip r:embed="rId4"/>
                <a:stretch>
                  <a:fillRect l="-348" t="-1251" r="-332" b="-1197"/>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3" name="矩形: 圆角 7"/>
          <p:cNvSpPr/>
          <p:nvPr/>
        </p:nvSpPr>
        <p:spPr>
          <a:xfrm>
            <a:off x="6931025" y="1897380"/>
            <a:ext cx="4201795" cy="11671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90204" pitchFamily="34" charset="0"/>
              <a:buChar char="•"/>
            </a:pPr>
            <a:r>
              <a:rPr lang="zh-CN" altLang="en-US" sz="1600">
                <a:solidFill>
                  <a:schemeClr val="tx1"/>
                </a:solidFill>
                <a:sym typeface="+mn-ea"/>
              </a:rPr>
              <a:t>在识别环节</a:t>
            </a:r>
            <a:r>
              <a:rPr lang="en-US" altLang="zh-CN" sz="1600">
                <a:solidFill>
                  <a:schemeClr val="tx1"/>
                </a:solidFill>
                <a:sym typeface="+mn-ea"/>
              </a:rPr>
              <a:t>，</a:t>
            </a:r>
            <a:r>
              <a:rPr lang="zh-CN" altLang="en-US" sz="1600">
                <a:solidFill>
                  <a:schemeClr val="tx1"/>
                </a:solidFill>
                <a:sym typeface="+mn-ea"/>
              </a:rPr>
              <a:t>不依赖于一般均衡参数的具体大小</a:t>
            </a:r>
            <a:r>
              <a:rPr lang="en-US" altLang="zh-CN" sz="1600">
                <a:solidFill>
                  <a:schemeClr val="tx1"/>
                </a:solidFill>
                <a:sym typeface="+mn-ea"/>
              </a:rPr>
              <a:t>；</a:t>
            </a:r>
            <a:r>
              <a:rPr lang="zh-CN" altLang="en-US" sz="1600">
                <a:solidFill>
                  <a:schemeClr val="tx1"/>
                </a:solidFill>
                <a:sym typeface="+mn-ea"/>
              </a:rPr>
              <a:t>但在反事实部分</a:t>
            </a:r>
            <a:r>
              <a:rPr lang="en-US" altLang="zh-CN" sz="1600">
                <a:solidFill>
                  <a:schemeClr val="tx1"/>
                </a:solidFill>
                <a:sym typeface="+mn-ea"/>
              </a:rPr>
              <a:t>，</a:t>
            </a:r>
            <a:r>
              <a:rPr lang="zh-CN" altLang="en-US" sz="1600">
                <a:solidFill>
                  <a:schemeClr val="tx1"/>
                </a:solidFill>
                <a:sym typeface="+mn-ea"/>
              </a:rPr>
              <a:t>参数的大小将影响</a:t>
            </a:r>
            <a:r>
              <a:rPr lang="zh-CN" altLang="en-US" sz="1600">
                <a:solidFill>
                  <a:schemeClr val="tx1"/>
                </a:solidFill>
                <a:sym typeface="+mn-ea"/>
              </a:rPr>
              <a:t>反事实结果</a:t>
            </a:r>
            <a:r>
              <a:rPr lang="en-US" altLang="zh-CN" sz="1600">
                <a:solidFill>
                  <a:schemeClr val="tx1"/>
                </a:solidFill>
                <a:sym typeface="+mn-ea"/>
              </a:rPr>
              <a:t>，</a:t>
            </a:r>
            <a:r>
              <a:rPr lang="zh-CN" altLang="en-US" sz="1600">
                <a:solidFill>
                  <a:schemeClr val="tx1"/>
                </a:solidFill>
                <a:sym typeface="+mn-ea"/>
              </a:rPr>
              <a:t>需要</a:t>
            </a:r>
            <a:r>
              <a:rPr lang="zh-CN" altLang="en-US" sz="1600">
                <a:solidFill>
                  <a:schemeClr val="tx1"/>
                </a:solidFill>
                <a:sym typeface="+mn-ea"/>
              </a:rPr>
              <a:t>进行校准</a:t>
            </a:r>
            <a:r>
              <a:rPr lang="en-US" altLang="zh-CN" sz="1600">
                <a:solidFill>
                  <a:schemeClr val="tx1"/>
                </a:solidFill>
                <a:sym typeface="+mn-ea"/>
              </a:rPr>
              <a:t>。</a:t>
            </a:r>
            <a:endParaRPr lang="en-US" altLang="zh-CN" sz="1600" kern="100" dirty="0">
              <a:solidFill>
                <a:schemeClr val="tx1"/>
              </a:solidFill>
              <a:latin typeface="Times New Roman" panose="02020503050405090304" pitchFamily="18" charset="0"/>
              <a:cs typeface="Arial" panose="020B0604020202090204" pitchFamily="34" charset="0"/>
              <a:sym typeface="+mn-ea"/>
            </a:endParaRPr>
          </a:p>
        </p:txBody>
      </p:sp>
      <mc:AlternateContent xmlns:mc="http://schemas.openxmlformats.org/markup-compatibility/2006">
        <mc:Choice xmlns:a14="http://schemas.microsoft.com/office/drawing/2010/main" Requires="a14">
          <p:sp>
            <p:nvSpPr>
              <p:cNvPr id="20" name="文本框 19"/>
              <p:cNvSpPr txBox="1"/>
              <p:nvPr/>
            </p:nvSpPr>
            <p:spPr>
              <a:xfrm>
                <a:off x="8183245" y="4599940"/>
                <a:ext cx="2922905" cy="1725295"/>
              </a:xfrm>
              <a:prstGeom prst="rect">
                <a:avLst/>
              </a:prstGeom>
              <a:noFill/>
            </p:spPr>
            <p:txBody>
              <a:bodyPr wrap="square" rtlCol="0">
                <a:noAutofit/>
              </a:bodyPr>
              <a:p>
                <a:pPr marL="285750" indent="-285750" algn="l">
                  <a:buClrTx/>
                  <a:buSzTx/>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只能识别人力资本生成质量的相对水平</a:t>
                </a:r>
                <a:endParaRPr lang="zh-CN" altLang="en-US" sz="1600" dirty="0">
                  <a:latin typeface="DejaVu Math TeX Gyre" panose="02000503000000000000" charset="0"/>
                  <a:cs typeface="DejaVu Math TeX Gyre" panose="02000503000000000000" charset="0"/>
                </a:endParaRPr>
              </a:p>
              <a:p>
                <a:pPr marL="285750" indent="-285750" algn="l">
                  <a:buClrTx/>
                  <a:buSzTx/>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设定</a:t>
                </a: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cs typeface="DejaVu Math TeX Gyre" panose="02000503000000000000" charset="0"/>
                          </a:rPr>
                          <m:t>𝑞</m:t>
                        </m:r>
                      </m:e>
                      <m:sub>
                        <m:r>
                          <a:rPr lang="en-US" altLang="zh-CN" sz="1600" i="1" dirty="0">
                            <a:latin typeface="DejaVu Math TeX Gyre" panose="02000503000000000000" charset="0"/>
                            <a:cs typeface="DejaVu Math TeX Gyre" panose="02000503000000000000" charset="0"/>
                          </a:rPr>
                          <m:t>1</m:t>
                        </m:r>
                      </m:sub>
                    </m:sSub>
                  </m:oMath>
                </a14:m>
                <a:r>
                  <a:rPr lang="en-US" altLang="zh-CN" sz="1600" dirty="0">
                    <a:latin typeface="DejaVu Math TeX Gyre" panose="02000503000000000000" charset="0"/>
                    <a:cs typeface="DejaVu Math TeX Gyre" panose="02000503000000000000" charset="0"/>
                    <a:sym typeface="+mn-ea"/>
                  </a:rPr>
                  <a:t>=1，</a:t>
                </a: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cs typeface="DejaVu Math TeX Gyre" panose="02000503000000000000" charset="0"/>
                          </a:rPr>
                          <m:t>𝑤</m:t>
                        </m:r>
                      </m:e>
                      <m:sub>
                        <m:r>
                          <a:rPr lang="en-US" altLang="zh-CN" sz="1600" i="1" dirty="0">
                            <a:latin typeface="DejaVu Math TeX Gyre" panose="02000503000000000000" charset="0"/>
                            <a:cs typeface="DejaVu Math TeX Gyre" panose="02000503000000000000" charset="0"/>
                          </a:rPr>
                          <m:t>𝑑</m:t>
                        </m:r>
                      </m:sub>
                    </m:sSub>
                  </m:oMath>
                </a14:m>
                <a:r>
                  <a:rPr lang="zh-CN" altLang="en-US" sz="1600" dirty="0">
                    <a:latin typeface="DejaVu Math TeX Gyre" panose="02000503000000000000" charset="0"/>
                    <a:cs typeface="DejaVu Math TeX Gyre" panose="02000503000000000000" charset="0"/>
                  </a:rPr>
                  <a:t>也会被归一化</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定义为出生在1、</a:t>
                </a:r>
                <a:r>
                  <a:rPr lang="en-US" altLang="zh-CN" sz="1600" dirty="0">
                    <a:latin typeface="DejaVu Math TeX Gyre" panose="02000503000000000000" charset="0"/>
                    <a:cs typeface="DejaVu Math TeX Gyre" panose="02000503000000000000" charset="0"/>
                  </a:rPr>
                  <a:t>skill draw</a:t>
                </a:r>
                <a:r>
                  <a:rPr lang="zh-CN" altLang="en-US" sz="1600" dirty="0">
                    <a:latin typeface="DejaVu Math TeX Gyre" panose="02000503000000000000" charset="0"/>
                    <a:cs typeface="DejaVu Math TeX Gyre" panose="02000503000000000000" charset="0"/>
                  </a:rPr>
                  <a:t>为</a:t>
                </a:r>
                <a:r>
                  <a:rPr lang="en-US" altLang="zh-CN" sz="1600" dirty="0">
                    <a:latin typeface="DejaVu Math TeX Gyre" panose="02000503000000000000" charset="0"/>
                    <a:cs typeface="DejaVu Math TeX Gyre" panose="02000503000000000000" charset="0"/>
                  </a:rPr>
                  <a:t>1</a:t>
                </a:r>
                <a:r>
                  <a:rPr lang="zh-CN" altLang="en-US" sz="1600" dirty="0">
                    <a:latin typeface="DejaVu Math TeX Gyre" panose="02000503000000000000" charset="0"/>
                    <a:cs typeface="DejaVu Math TeX Gyre" panose="02000503000000000000" charset="0"/>
                  </a:rPr>
                  <a:t>的人在目的地</a:t>
                </a:r>
                <a:r>
                  <a:rPr lang="en-US" altLang="zh-CN" sz="1600" dirty="0">
                    <a:latin typeface="DejaVu Math TeX Gyre" panose="02000503000000000000" charset="0"/>
                    <a:cs typeface="DejaVu Math TeX Gyre" panose="02000503000000000000" charset="0"/>
                  </a:rPr>
                  <a:t>d</a:t>
                </a:r>
                <a:r>
                  <a:rPr lang="zh-CN" altLang="en-US" sz="1600" dirty="0">
                    <a:latin typeface="DejaVu Math TeX Gyre" panose="02000503000000000000" charset="0"/>
                    <a:cs typeface="DejaVu Math TeX Gyre" panose="02000503000000000000" charset="0"/>
                  </a:rPr>
                  <a:t>能得到</a:t>
                </a:r>
                <a:r>
                  <a:rPr lang="zh-CN" altLang="en-US" sz="1600" dirty="0">
                    <a:latin typeface="DejaVu Math TeX Gyre" panose="02000503000000000000" charset="0"/>
                    <a:cs typeface="DejaVu Math TeX Gyre" panose="02000503000000000000" charset="0"/>
                  </a:rPr>
                  <a:t>的工资</a:t>
                </a:r>
                <a:endParaRPr lang="zh-CN" altLang="en-US" sz="1600" dirty="0">
                  <a:latin typeface="DejaVu Math TeX Gyre" panose="02000503000000000000" charset="0"/>
                  <a:cs typeface="DejaVu Math TeX Gyre" panose="02000503000000000000" charset="0"/>
                </a:endParaRPr>
              </a:p>
            </p:txBody>
          </p:sp>
        </mc:Choice>
        <mc:Fallback>
          <p:sp>
            <p:nvSpPr>
              <p:cNvPr id="20" name="文本框 19"/>
              <p:cNvSpPr txBox="1">
                <a:spLocks noRot="1" noChangeAspect="1" noMove="1" noResize="1" noEditPoints="1" noAdjustHandles="1" noChangeArrowheads="1" noChangeShapeType="1" noTextEdit="1"/>
              </p:cNvSpPr>
              <p:nvPr/>
            </p:nvSpPr>
            <p:spPr>
              <a:xfrm>
                <a:off x="8183245" y="4599940"/>
                <a:ext cx="2922905" cy="172529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矩形: 圆角 7"/>
              <p:cNvSpPr/>
              <p:nvPr/>
            </p:nvSpPr>
            <p:spPr>
              <a:xfrm>
                <a:off x="1965960" y="3850005"/>
                <a:ext cx="6014085" cy="246570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设定</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𝑞</m:t>
                        </m:r>
                      </m:e>
                      <m:sub>
                        <m:r>
                          <a:rPr lang="en-US" altLang="zh-CN" sz="1600" i="1" dirty="0">
                            <a:solidFill>
                              <a:schemeClr val="tx1"/>
                            </a:solidFill>
                            <a:latin typeface="DejaVu Math TeX Gyre" panose="02000503000000000000" charset="0"/>
                            <a:cs typeface="DejaVu Math TeX Gyre" panose="02000503000000000000" charset="0"/>
                          </a:rPr>
                          <m:t>1</m:t>
                        </m:r>
                      </m:sub>
                    </m:sSub>
                  </m:oMath>
                </a14:m>
                <a:r>
                  <a:rPr lang="en-US" altLang="zh-CN" sz="1600" dirty="0">
                    <a:solidFill>
                      <a:schemeClr val="tx1"/>
                    </a:solidFill>
                    <a:latin typeface="DejaVu Math TeX Gyre" panose="02000503000000000000" charset="0"/>
                    <a:cs typeface="DejaVu Math TeX Gyre" panose="02000503000000000000" charset="0"/>
                    <a:sym typeface="+mn-ea"/>
                  </a:rPr>
                  <a:t>=1</a:t>
                </a:r>
                <a:r>
                  <a:rPr lang="zh-CN" altLang="en-US" sz="1600" dirty="0">
                    <a:solidFill>
                      <a:schemeClr val="tx1"/>
                    </a:solidFill>
                    <a:latin typeface="DejaVu Math TeX Gyre" panose="02000503000000000000" charset="0"/>
                    <a:cs typeface="DejaVu Math TeX Gyre" panose="02000503000000000000" charset="0"/>
                    <a:sym typeface="+mn-ea"/>
                  </a:rPr>
                  <a:t>后</a:t>
                </a:r>
                <a:r>
                  <a:rPr lang="en-US" altLang="zh-CN" sz="1600" dirty="0">
                    <a:solidFill>
                      <a:schemeClr val="tx1"/>
                    </a:solidFill>
                    <a:latin typeface="DejaVu Math TeX Gyre" panose="02000503000000000000" charset="0"/>
                    <a:cs typeface="DejaVu Math TeX Gyre" panose="02000503000000000000" charset="0"/>
                    <a:sym typeface="+mn-ea"/>
                  </a:rPr>
                  <a:t>：</a:t>
                </a:r>
                <a:r>
                  <a:rPr lang="zh-CN" altLang="en-US" sz="1600" dirty="0">
                    <a:solidFill>
                      <a:schemeClr val="tx1"/>
                    </a:solidFill>
                    <a:latin typeface="DejaVu Math TeX Gyre" panose="02000503000000000000" charset="0"/>
                    <a:cs typeface="DejaVu Math TeX Gyre" panose="02000503000000000000" charset="0"/>
                    <a:sym typeface="+mn-ea"/>
                  </a:rPr>
                  <a:t>任何</a:t>
                </a:r>
                <a:r>
                  <a:rPr lang="zh-CN" altLang="en-US" sz="1600" dirty="0">
                    <a:solidFill>
                      <a:srgbClr val="660066"/>
                    </a:solidFill>
                    <a:latin typeface="DejaVu Math TeX Gyre" panose="02000503000000000000" charset="0"/>
                    <a:cs typeface="DejaVu Math TeX Gyre" panose="02000503000000000000" charset="0"/>
                    <a:sym typeface="+mn-ea"/>
                  </a:rPr>
                  <a:t>总体的人力资本生成的改善</a:t>
                </a:r>
                <a:r>
                  <a:rPr lang="zh-CN" altLang="en-US" sz="1600" dirty="0">
                    <a:solidFill>
                      <a:schemeClr val="tx1"/>
                    </a:solidFill>
                    <a:latin typeface="DejaVu Math TeX Gyre" panose="02000503000000000000" charset="0"/>
                    <a:cs typeface="DejaVu Math TeX Gyre" panose="02000503000000000000" charset="0"/>
                    <a:sym typeface="+mn-ea"/>
                  </a:rPr>
                  <a:t>都会被吸收进</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𝑤</m:t>
                    </m:r>
                  </m:oMath>
                </a14:m>
                <a:r>
                  <a:rPr lang="en-US" altLang="zh-CN" sz="1600" dirty="0">
                    <a:solidFill>
                      <a:schemeClr val="tx1"/>
                    </a:solidFill>
                    <a:latin typeface="DejaVu Math TeX Gyre" panose="02000503000000000000" charset="0"/>
                    <a:cs typeface="DejaVu Math TeX Gyre" panose="02000503000000000000" charset="0"/>
                    <a:sym typeface="+mn-ea"/>
                  </a:rPr>
                  <a:t>；</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𝑞</m:t>
                    </m:r>
                  </m:oMath>
                </a14:m>
                <a:r>
                  <a:rPr lang="zh-CN" altLang="en-US" sz="1600" dirty="0">
                    <a:solidFill>
                      <a:schemeClr val="tx1"/>
                    </a:solidFill>
                    <a:latin typeface="DejaVu Math TeX Gyre" panose="02000503000000000000" charset="0"/>
                    <a:cs typeface="DejaVu Math TeX Gyre" panose="02000503000000000000" charset="0"/>
                    <a:sym typeface="+mn-ea"/>
                  </a:rPr>
                  <a:t>的变化只捕捉人力资本生成可能性在空间上的重新</a:t>
                </a:r>
                <a:r>
                  <a:rPr lang="zh-CN" altLang="en-US" sz="1600" dirty="0">
                    <a:solidFill>
                      <a:srgbClr val="660066"/>
                    </a:solidFill>
                    <a:latin typeface="DejaVu Math TeX Gyre" panose="02000503000000000000" charset="0"/>
                    <a:cs typeface="DejaVu Math TeX Gyre" panose="02000503000000000000" charset="0"/>
                    <a:sym typeface="+mn-ea"/>
                  </a:rPr>
                  <a:t>配置</a:t>
                </a:r>
                <a:r>
                  <a:rPr lang="en-US" altLang="zh-CN" sz="1600" dirty="0">
                    <a:solidFill>
                      <a:srgbClr val="660066"/>
                    </a:solidFill>
                    <a:latin typeface="DejaVu Math TeX Gyre" panose="02000503000000000000" charset="0"/>
                    <a:cs typeface="DejaVu Math TeX Gyre" panose="02000503000000000000" charset="0"/>
                    <a:sym typeface="+mn-ea"/>
                  </a:rPr>
                  <a:t>（</a:t>
                </a:r>
                <a:r>
                  <a:rPr lang="zh-CN" altLang="en-US" sz="1600" dirty="0">
                    <a:solidFill>
                      <a:srgbClr val="660066"/>
                    </a:solidFill>
                    <a:latin typeface="DejaVu Math TeX Gyre" panose="02000503000000000000" charset="0"/>
                    <a:cs typeface="DejaVu Math TeX Gyre" panose="02000503000000000000" charset="0"/>
                    <a:sym typeface="+mn-ea"/>
                  </a:rPr>
                  <a:t>只负责捕捉地点之间的相对差异</a:t>
                </a:r>
                <a:r>
                  <a:rPr lang="en-US" altLang="zh-CN" sz="1600" dirty="0">
                    <a:solidFill>
                      <a:srgbClr val="660066"/>
                    </a:solidFill>
                    <a:latin typeface="DejaVu Math TeX Gyre" panose="02000503000000000000" charset="0"/>
                    <a:cs typeface="DejaVu Math TeX Gyre" panose="02000503000000000000" charset="0"/>
                    <a:sym typeface="+mn-ea"/>
                  </a:rPr>
                  <a:t>）</a:t>
                </a:r>
                <a:endParaRPr lang="en-US" altLang="zh-CN" sz="1600" dirty="0">
                  <a:solidFill>
                    <a:srgbClr val="660066"/>
                  </a:solidFill>
                  <a:latin typeface="DejaVu Math TeX Gyre" panose="02000503000000000000" charset="0"/>
                  <a:cs typeface="DejaVu Math TeX Gyre" panose="02000503000000000000" charset="0"/>
                  <a:sym typeface="+mn-ea"/>
                </a:endParaRPr>
              </a:p>
              <a:p>
                <a:pPr marL="285750" indent="-285750">
                  <a:buFont typeface="Arial" panose="020B0604020202090204" pitchFamily="34" charset="0"/>
                  <a:buChar char="•"/>
                </a:pPr>
                <a:r>
                  <a:rPr lang="zh-CN" altLang="en-US" sz="1600" dirty="0">
                    <a:solidFill>
                      <a:srgbClr val="660066"/>
                    </a:solidFill>
                    <a:latin typeface="DejaVu Math TeX Gyre" panose="02000503000000000000" charset="0"/>
                    <a:cs typeface="DejaVu Math TeX Gyre" panose="02000503000000000000" charset="0"/>
                    <a:sym typeface="+mn-ea"/>
                  </a:rPr>
                  <a:t>后续才能将两者进行唯一的分解</a:t>
                </a:r>
                <a:r>
                  <a:rPr lang="en-US" altLang="zh-CN" sz="1600" dirty="0">
                    <a:solidFill>
                      <a:srgbClr val="660066"/>
                    </a:solidFill>
                    <a:latin typeface="DejaVu Math TeX Gyre" panose="02000503000000000000" charset="0"/>
                    <a:cs typeface="DejaVu Math TeX Gyre" panose="02000503000000000000" charset="0"/>
                    <a:sym typeface="+mn-ea"/>
                  </a:rPr>
                  <a:t>。</a:t>
                </a:r>
                <a:r>
                  <a:rPr lang="zh-CN" altLang="en-US" sz="1600" dirty="0">
                    <a:solidFill>
                      <a:schemeClr val="tx1"/>
                    </a:solidFill>
                    <a:latin typeface="DejaVu Math TeX Gyre" panose="02000503000000000000" charset="0"/>
                    <a:cs typeface="DejaVu Math TeX Gyre" panose="02000503000000000000" charset="0"/>
                    <a:sym typeface="+mn-ea"/>
                  </a:rPr>
                  <a:t>否则会出现</a:t>
                </a:r>
                <a:r>
                  <a:rPr lang="en-US" altLang="zh-CN" sz="1600" dirty="0">
                    <a:solidFill>
                      <a:schemeClr val="tx1"/>
                    </a:solidFill>
                    <a:latin typeface="DejaVu Math TeX Gyre" panose="02000503000000000000" charset="0"/>
                    <a:cs typeface="DejaVu Math TeX Gyre" panose="02000503000000000000" charset="0"/>
                    <a:sym typeface="+mn-ea"/>
                  </a:rPr>
                  <a:t>：</a:t>
                </a:r>
                <a:r>
                  <a:rPr lang="zh-CN" altLang="en-US" sz="1600" dirty="0">
                    <a:solidFill>
                      <a:schemeClr val="tx1"/>
                    </a:solidFill>
                    <a:latin typeface="DejaVu Math TeX Gyre" panose="02000503000000000000" charset="0"/>
                    <a:cs typeface="DejaVu Math TeX Gyre" panose="02000503000000000000" charset="0"/>
                    <a:sym typeface="+mn-ea"/>
                  </a:rPr>
                  <a:t>所有地点</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𝑞</m:t>
                    </m:r>
                  </m:oMath>
                </a14:m>
                <a:r>
                  <a:rPr lang="zh-CN" altLang="en-US" sz="1600" dirty="0">
                    <a:solidFill>
                      <a:schemeClr val="tx1"/>
                    </a:solidFill>
                    <a:latin typeface="DejaVu Math TeX Gyre" panose="02000503000000000000" charset="0"/>
                    <a:cs typeface="DejaVu Math TeX Gyre" panose="02000503000000000000" charset="0"/>
                    <a:sym typeface="+mn-ea"/>
                  </a:rPr>
                  <a:t>的同步提高 10%，等价于把所有</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𝑤</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zh-CN" altLang="en-US" sz="1600" dirty="0">
                    <a:solidFill>
                      <a:schemeClr val="tx1"/>
                    </a:solidFill>
                    <a:latin typeface="DejaVu Math TeX Gyre" panose="02000503000000000000" charset="0"/>
                    <a:cs typeface="DejaVu Math TeX Gyre" panose="02000503000000000000" charset="0"/>
                    <a:sym typeface="+mn-ea"/>
                  </a:rPr>
                  <a:t>同步提高 10%</a:t>
                </a:r>
                <a:r>
                  <a:rPr lang="en-US" altLang="zh-CN" sz="1600" dirty="0">
                    <a:solidFill>
                      <a:schemeClr val="tx1"/>
                    </a:solidFill>
                    <a:latin typeface="DejaVu Math TeX Gyre" panose="02000503000000000000" charset="0"/>
                    <a:cs typeface="DejaVu Math TeX Gyre" panose="02000503000000000000" charset="0"/>
                    <a:sym typeface="+mn-ea"/>
                  </a:rPr>
                  <a:t>，</a:t>
                </a:r>
                <a:r>
                  <a:rPr lang="zh-CN" altLang="en-US" sz="1600" dirty="0">
                    <a:solidFill>
                      <a:schemeClr val="tx1"/>
                    </a:solidFill>
                    <a:latin typeface="DejaVu Math TeX Gyre" panose="02000503000000000000" charset="0"/>
                    <a:cs typeface="DejaVu Math TeX Gyre" panose="02000503000000000000" charset="0"/>
                    <a:sym typeface="+mn-ea"/>
                  </a:rPr>
                  <a:t>从观察数据上 "教育质量普遍提高" 还是 "生产率普遍提高"</a:t>
                </a:r>
                <a:endParaRPr lang="en-US" altLang="zh-CN" sz="1600" dirty="0">
                  <a:solidFill>
                    <a:schemeClr val="tx1"/>
                  </a:solidFill>
                  <a:latin typeface="DejaVu Math TeX Gyre" panose="02000503000000000000" charset="0"/>
                  <a:cs typeface="DejaVu Math TeX Gyre" panose="02000503000000000000" charset="0"/>
                  <a:sym typeface="+mn-ea"/>
                </a:endParaRPr>
              </a:p>
              <a:p>
                <a:pPr indent="0">
                  <a:buFont typeface="Arial" panose="020B0604020202090204" pitchFamily="34" charset="0"/>
                  <a:buNone/>
                </a:pPr>
                <a:endParaRPr lang="en-US" altLang="zh-CN" sz="1600" dirty="0">
                  <a:solidFill>
                    <a:schemeClr val="tx1"/>
                  </a:solidFill>
                  <a:latin typeface="DejaVu Math TeX Gyre" panose="02000503000000000000" charset="0"/>
                  <a:cs typeface="DejaVu Math TeX Gyre" panose="02000503000000000000" charset="0"/>
                  <a:sym typeface="+mn-ea"/>
                </a:endParaRPr>
              </a:p>
              <a:p>
                <a:pPr marL="285750" indent="-285750">
                  <a:buFont typeface="Arial" panose="020B0604020202090204" pitchFamily="34" charset="0"/>
                  <a:buChar char="•"/>
                </a:pPr>
                <a:r>
                  <a:rPr lang="zh-CN" altLang="en-US" sz="1600" dirty="0">
                    <a:solidFill>
                      <a:schemeClr val="tx1"/>
                    </a:solidFill>
                    <a:latin typeface="DejaVu Math TeX Gyre" panose="02000503000000000000" charset="0"/>
                    <a:cs typeface="DejaVu Math TeX Gyre" panose="02000503000000000000" charset="0"/>
                    <a:sym typeface="+mn-ea"/>
                  </a:rPr>
                  <a:t>例如</a:t>
                </a:r>
                <a:r>
                  <a:rPr lang="en-US" altLang="zh-CN" sz="1600" dirty="0">
                    <a:solidFill>
                      <a:schemeClr val="tx1"/>
                    </a:solidFill>
                    <a:latin typeface="DejaVu Math TeX Gyre" panose="02000503000000000000" charset="0"/>
                    <a:cs typeface="DejaVu Math TeX Gyre" panose="02000503000000000000" charset="0"/>
                    <a:sym typeface="+mn-ea"/>
                  </a:rPr>
                  <a:t>：</a:t>
                </a:r>
                <a:r>
                  <a:rPr lang="zh-CN" altLang="en-US" sz="1600" dirty="0">
                    <a:solidFill>
                      <a:schemeClr val="tx1"/>
                    </a:solidFill>
                    <a:latin typeface="DejaVu Math TeX Gyre" panose="02000503000000000000" charset="0"/>
                    <a:cs typeface="DejaVu Math TeX Gyre" panose="02000503000000000000" charset="0"/>
                    <a:sym typeface="+mn-ea"/>
                  </a:rPr>
                  <a:t>全国教育投入统一增加</a:t>
                </a:r>
                <a:r>
                  <a:rPr lang="en-US" altLang="zh-CN" sz="1600" dirty="0">
                    <a:solidFill>
                      <a:schemeClr val="tx1"/>
                    </a:solidFill>
                    <a:latin typeface="DejaVu Math TeX Gyre" panose="02000503000000000000" charset="0"/>
                    <a:cs typeface="DejaVu Math TeX Gyre" panose="02000503000000000000" charset="0"/>
                    <a:sym typeface="+mn-ea"/>
                  </a:rPr>
                  <a:t>，</a:t>
                </a:r>
                <a:r>
                  <a:rPr lang="zh-CN" altLang="en-US" sz="1600" dirty="0">
                    <a:solidFill>
                      <a:schemeClr val="tx1"/>
                    </a:solidFill>
                    <a:latin typeface="DejaVu Math TeX Gyre" panose="02000503000000000000" charset="0"/>
                    <a:cs typeface="DejaVu Math TeX Gyre" panose="02000503000000000000" charset="0"/>
                    <a:sym typeface="+mn-ea"/>
                  </a:rPr>
                  <a:t>会表现为所有</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𝑤</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zh-CN" altLang="en-US" sz="1600" dirty="0">
                    <a:solidFill>
                      <a:schemeClr val="tx1"/>
                    </a:solidFill>
                    <a:latin typeface="DejaVu Math TeX Gyre" panose="02000503000000000000" charset="0"/>
                    <a:cs typeface="DejaVu Math TeX Gyre" panose="02000503000000000000" charset="0"/>
                    <a:sym typeface="+mn-ea"/>
                  </a:rPr>
                  <a:t>上升，而</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𝑞</m:t>
                    </m:r>
                  </m:oMath>
                </a14:m>
                <a:r>
                  <a:rPr lang="zh-CN" altLang="en-US" sz="1600" dirty="0">
                    <a:solidFill>
                      <a:schemeClr val="tx1"/>
                    </a:solidFill>
                    <a:latin typeface="DejaVu Math TeX Gyre" panose="02000503000000000000" charset="0"/>
                    <a:cs typeface="DejaVu Math TeX Gyre" panose="02000503000000000000" charset="0"/>
                    <a:sym typeface="+mn-ea"/>
                  </a:rPr>
                  <a:t>不变</a:t>
                </a:r>
                <a:r>
                  <a:rPr lang="en-US" altLang="zh-CN" sz="1600" dirty="0">
                    <a:solidFill>
                      <a:schemeClr val="tx1"/>
                    </a:solidFill>
                    <a:latin typeface="DejaVu Math TeX Gyre" panose="02000503000000000000" charset="0"/>
                    <a:cs typeface="DejaVu Math TeX Gyre" panose="02000503000000000000" charset="0"/>
                    <a:sym typeface="+mn-ea"/>
                  </a:rPr>
                  <a:t>，</a:t>
                </a:r>
                <a:r>
                  <a:rPr lang="zh-CN" altLang="en-US" sz="1600" dirty="0">
                    <a:solidFill>
                      <a:schemeClr val="tx1"/>
                    </a:solidFill>
                    <a:latin typeface="DejaVu Math TeX Gyre" panose="02000503000000000000" charset="0"/>
                    <a:cs typeface="DejaVu Math TeX Gyre" panose="02000503000000000000" charset="0"/>
                    <a:sym typeface="+mn-ea"/>
                  </a:rPr>
                  <a:t>因为反应的是相对差异而非整体的绝对大小</a:t>
                </a:r>
                <a:r>
                  <a:rPr lang="en-US" altLang="zh-CN" sz="1600" dirty="0">
                    <a:solidFill>
                      <a:schemeClr val="tx1"/>
                    </a:solidFill>
                    <a:latin typeface="DejaVu Math TeX Gyre" panose="02000503000000000000" charset="0"/>
                    <a:cs typeface="DejaVu Math TeX Gyre" panose="02000503000000000000" charset="0"/>
                    <a:sym typeface="+mn-ea"/>
                  </a:rPr>
                  <a:t>。</a:t>
                </a:r>
                <a:endParaRPr lang="en-US" altLang="zh-CN" sz="1600" dirty="0">
                  <a:solidFill>
                    <a:schemeClr val="tx1"/>
                  </a:solidFill>
                  <a:latin typeface="DejaVu Math TeX Gyre" panose="02000503000000000000" charset="0"/>
                  <a:cs typeface="DejaVu Math TeX Gyre" panose="02000503000000000000" charset="0"/>
                  <a:sym typeface="+mn-ea"/>
                </a:endParaRPr>
              </a:p>
            </p:txBody>
          </p:sp>
        </mc:Choice>
        <mc:Fallback>
          <p:sp>
            <p:nvSpPr>
              <p:cNvPr id="46" name="矩形: 圆角 7"/>
              <p:cNvSpPr>
                <a:spLocks noRot="1" noChangeAspect="1" noMove="1" noResize="1" noEditPoints="1" noAdjustHandles="1" noChangeArrowheads="1" noChangeShapeType="1" noTextEdit="1"/>
              </p:cNvSpPr>
              <p:nvPr/>
            </p:nvSpPr>
            <p:spPr>
              <a:xfrm>
                <a:off x="1965960" y="3850005"/>
                <a:ext cx="6014085" cy="2465705"/>
              </a:xfrm>
              <a:prstGeom prst="roundRect">
                <a:avLst/>
              </a:prstGeom>
              <a:blipFill rotWithShape="1">
                <a:blip r:embed="rId6"/>
                <a:stretch>
                  <a:fillRect l="-243" t="-592" r="-232" b="-567"/>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pic>
        <p:nvPicPr>
          <p:cNvPr id="4" name="图片 3"/>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3718560" y="5422265"/>
            <a:ext cx="2508885" cy="33718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识别目标与归一化</a:t>
            </a:r>
            <a:r>
              <a:rPr lang="zh-CN" altLang="en-US" sz="2800" b="1" dirty="0">
                <a:latin typeface="+mn-lt"/>
              </a:rPr>
              <a:t>处理</a:t>
            </a:r>
            <a:endParaRPr lang="zh-CN" altLang="en-US" sz="2800" b="1" dirty="0">
              <a:latin typeface="+mn-lt"/>
            </a:endParaRPr>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3.1</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5" name="文本框 4"/>
              <p:cNvSpPr txBox="1"/>
              <p:nvPr/>
            </p:nvSpPr>
            <p:spPr>
              <a:xfrm>
                <a:off x="1966595" y="1478280"/>
                <a:ext cx="4201160" cy="368935"/>
              </a:xfrm>
              <a:prstGeom prst="rect">
                <a:avLst/>
              </a:prstGeom>
              <a:noFill/>
            </p:spPr>
            <p:txBody>
              <a:bodyPr wrap="square" rtlCol="0">
                <a:spAutoFit/>
              </a:bodyPr>
              <a:p>
                <a:pPr algn="ctr"/>
                <a:r>
                  <a:rPr lang="en-US" altLang="zh-CN">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rPr>
                      <m:t>𝜃</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ea typeface="宋体" charset="0"/>
                        <a:cs typeface="DejaVu Math TeX Gyre" panose="02000503000000000000" charset="0"/>
                      </a:rPr>
                      <m:t>𝜌</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𝑞</m:t>
                        </m:r>
                      </m:e>
                      <m:sub>
                        <m:r>
                          <a:rPr lang="en-US" altLang="zh-CN" i="1" dirty="0">
                            <a:latin typeface="DejaVu Math TeX Gyre" panose="02000503000000000000" charset="0"/>
                            <a:cs typeface="DejaVu Math TeX Gyre" panose="02000503000000000000" charset="0"/>
                          </a:rPr>
                          <m:t>𝑜</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𝑤</m:t>
                        </m:r>
                      </m:e>
                      <m:sub>
                        <m:r>
                          <a:rPr lang="en-US" altLang="zh-CN" i="1" dirty="0">
                            <a:latin typeface="DejaVu Math TeX Gyre" panose="02000503000000000000" charset="0"/>
                            <a:cs typeface="DejaVu Math TeX Gyre" panose="02000503000000000000" charset="0"/>
                          </a:rPr>
                          <m:t>𝑑</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ea typeface="宋体" charset="0"/>
                            <a:cs typeface="DejaVu Math TeX Gyre" panose="02000503000000000000" charset="0"/>
                          </a:rPr>
                          <m:t>𝛼</m:t>
                        </m:r>
                      </m:e>
                      <m:sub>
                        <m:r>
                          <a:rPr lang="en-US" altLang="zh-CN" i="1" dirty="0">
                            <a:latin typeface="DejaVu Math TeX Gyre" panose="02000503000000000000" charset="0"/>
                            <a:cs typeface="DejaVu Math TeX Gyre" panose="02000503000000000000" charset="0"/>
                          </a:rPr>
                          <m:t>𝑑</m:t>
                        </m:r>
                      </m:sub>
                    </m:sSub>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ea typeface="宋体" charset="0"/>
                            <a:cs typeface="DejaVu Math TeX Gyre" panose="02000503000000000000" charset="0"/>
                          </a:rPr>
                          <m:t>𝜏</m:t>
                        </m:r>
                      </m:e>
                      <m:sub>
                        <m:r>
                          <a:rPr lang="en-US" altLang="zh-CN" i="1" dirty="0">
                            <a:latin typeface="DejaVu Math TeX Gyre" panose="02000503000000000000" charset="0"/>
                            <a:cs typeface="DejaVu Math TeX Gyre" panose="02000503000000000000" charset="0"/>
                          </a:rPr>
                          <m:t>𝑜𝑑</m:t>
                        </m:r>
                      </m:sub>
                    </m:sSub>
                  </m:oMath>
                </a14:m>
                <a:r>
                  <a:rPr lang="en-US" altLang="zh-CN">
                    <a:latin typeface="Times New Roman Regular" panose="02020503050405090304" charset="0"/>
                    <a:cs typeface="Times New Roman Regular" panose="02020503050405090304" charset="0"/>
                  </a:rPr>
                  <a:t>}</a:t>
                </a:r>
                <a:endParaRPr lang="en-US" altLang="zh-CN">
                  <a:latin typeface="Times New Roman Regular" panose="02020503050405090304" charset="0"/>
                  <a:cs typeface="Times New Roman Regular" panose="020205030504050903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966595" y="1478280"/>
                <a:ext cx="4201160" cy="36893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931025" y="1484630"/>
                <a:ext cx="4201795" cy="368300"/>
              </a:xfrm>
              <a:prstGeom prst="rect">
                <a:avLst/>
              </a:prstGeom>
              <a:noFill/>
            </p:spPr>
            <p:txBody>
              <a:bodyPr wrap="square" rtlCol="0">
                <a:spAutoFit/>
              </a:bodyPr>
              <a:p>
                <a:pPr algn="ctr"/>
                <a:r>
                  <a:rPr lang="en-US" altLang="zh-CN">
                    <a:latin typeface="Times New Roman Regular" panose="02020503050405090304" charset="0"/>
                    <a:cs typeface="Times New Roman Regular" panose="02020503050405090304" charset="0"/>
                  </a:rPr>
                  <a:t>{</a:t>
                </a:r>
                <a14:m>
                  <m:oMath xmlns:m="http://schemas.openxmlformats.org/officeDocument/2006/math">
                    <m:r>
                      <a:rPr lang="en-US" altLang="zh-CN" i="1">
                        <a:latin typeface="DejaVu Math TeX Gyre" panose="02000503000000000000" charset="0"/>
                        <a:cs typeface="DejaVu Math TeX Gyre" panose="02000503000000000000" charset="0"/>
                      </a:rPr>
                      <m:t>𝛾</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cs typeface="DejaVu Math TeX Gyre" panose="02000503000000000000" charset="0"/>
                      </a:rPr>
                      <m:t>𝜆</m:t>
                    </m:r>
                  </m:oMath>
                </a14:m>
                <a:r>
                  <a:rPr lang="zh-CN" altLang="en-US" i="1" dirty="0">
                    <a:latin typeface="Times New Roman Regular" panose="02020503050405090304" charset="0"/>
                    <a:cs typeface="Times New Roman Regular" panose="02020503050405090304" charset="0"/>
                  </a:rPr>
                  <a:t>，</a:t>
                </a:r>
                <a14:m>
                  <m:oMath xmlns:m="http://schemas.openxmlformats.org/officeDocument/2006/math">
                    <m:r>
                      <a:rPr lang="en-US" altLang="zh-CN" i="1" dirty="0">
                        <a:latin typeface="DejaVu Math TeX Gyre" panose="02000503000000000000" charset="0"/>
                        <a:cs typeface="DejaVu Math TeX Gyre" panose="02000503000000000000" charset="0"/>
                      </a:rPr>
                      <m:t>𝜎</m:t>
                    </m:r>
                  </m:oMath>
                </a14:m>
                <a:r>
                  <a:rPr lang="en-US" altLang="zh-CN">
                    <a:latin typeface="Times New Roman Regular" panose="02020503050405090304" charset="0"/>
                    <a:cs typeface="Times New Roman Regular" panose="02020503050405090304" charset="0"/>
                  </a:rPr>
                  <a:t>}</a:t>
                </a:r>
                <a:endParaRPr lang="en-US" altLang="zh-CN">
                  <a:latin typeface="Times New Roman Regular" panose="02020503050405090304" charset="0"/>
                  <a:cs typeface="Times New Roman Regular" panose="020205030504050903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931025" y="1484630"/>
                <a:ext cx="4201795" cy="368300"/>
              </a:xfrm>
              <a:prstGeom prst="rect">
                <a:avLst/>
              </a:prstGeom>
              <a:blipFill rotWithShape="1">
                <a:blip r:embed="rId2"/>
                <a:stretch>
                  <a:fillRect/>
                </a:stretch>
              </a:blipFill>
            </p:spPr>
            <p:txBody>
              <a:bodyPr/>
              <a:lstStyle/>
              <a:p>
                <a:r>
                  <a:rPr lang="zh-CN" altLang="en-US">
                    <a:noFill/>
                  </a:rPr>
                  <a:t> </a:t>
                </a:r>
              </a:p>
            </p:txBody>
          </p:sp>
        </mc:Fallback>
      </mc:AlternateContent>
      <p:sp>
        <p:nvSpPr>
          <p:cNvPr id="7" name="文本框 6"/>
          <p:cNvSpPr txBox="1"/>
          <p:nvPr/>
        </p:nvSpPr>
        <p:spPr>
          <a:xfrm>
            <a:off x="1965960" y="1048831"/>
            <a:ext cx="4201478" cy="437515"/>
          </a:xfrm>
          <a:prstGeom prst="rect">
            <a:avLst/>
          </a:prstGeom>
          <a:solidFill>
            <a:schemeClr val="bg2"/>
          </a:solidFill>
        </p:spPr>
        <p:txBody>
          <a:bodyPr wrap="square" anchor="ctr" anchorCtr="0">
            <a:spAutoFit/>
          </a:bodyPr>
          <a:lstStyle/>
          <a:p>
            <a:pPr marL="0" marR="0" indent="0" algn="ctr">
              <a:lnSpc>
                <a:spcPct val="125000"/>
              </a:lnSpc>
              <a:buNone/>
            </a:pPr>
            <a:r>
              <a:rPr lang="zh-CN" altLang="en-US" b="1" kern="1400" spc="-50" dirty="0">
                <a:latin typeface="Times New Roman" panose="02020503050405090304" pitchFamily="18" charset="0"/>
              </a:rPr>
              <a:t>待识别与估计的</a:t>
            </a:r>
            <a:r>
              <a:rPr lang="zh-CN" altLang="en-US" b="1" kern="1400" spc="-50" dirty="0">
                <a:latin typeface="Times New Roman" panose="02020503050405090304" pitchFamily="18" charset="0"/>
              </a:rPr>
              <a:t>外生参数</a:t>
            </a:r>
            <a:endParaRPr lang="zh-CN" altLang="en-US" b="1" kern="1400" spc="-50" dirty="0">
              <a:latin typeface="Times New Roman" panose="02020503050405090304" pitchFamily="18" charset="0"/>
            </a:endParaRPr>
          </a:p>
        </p:txBody>
      </p:sp>
      <p:sp>
        <p:nvSpPr>
          <p:cNvPr id="8" name="文本框 7"/>
          <p:cNvSpPr txBox="1"/>
          <p:nvPr/>
        </p:nvSpPr>
        <p:spPr>
          <a:xfrm>
            <a:off x="6931025" y="1048831"/>
            <a:ext cx="4201478" cy="437515"/>
          </a:xfrm>
          <a:prstGeom prst="rect">
            <a:avLst/>
          </a:prstGeom>
          <a:solidFill>
            <a:schemeClr val="bg2"/>
          </a:solidFill>
        </p:spPr>
        <p:txBody>
          <a:bodyPr wrap="square" anchor="ctr" anchorCtr="0">
            <a:spAutoFit/>
          </a:bodyPr>
          <a:lstStyle/>
          <a:p>
            <a:pPr marL="0" marR="0" indent="0" algn="ctr">
              <a:lnSpc>
                <a:spcPct val="125000"/>
              </a:lnSpc>
              <a:buNone/>
            </a:pPr>
            <a:r>
              <a:rPr lang="zh-CN" altLang="en-US" b="1" kern="1400" spc="-50" dirty="0">
                <a:latin typeface="Times New Roman" panose="02020503050405090304" pitchFamily="18" charset="0"/>
              </a:rPr>
              <a:t>一般均衡</a:t>
            </a:r>
            <a:r>
              <a:rPr lang="zh-CN" altLang="en-US" b="1" kern="1400" spc="-50" dirty="0">
                <a:latin typeface="Times New Roman" panose="02020503050405090304" pitchFamily="18" charset="0"/>
              </a:rPr>
              <a:t>参数</a:t>
            </a:r>
            <a:endParaRPr lang="zh-CN" altLang="en-US" b="1" kern="1400" spc="-50" dirty="0">
              <a:latin typeface="Times New Roman" panose="02020503050405090304" pitchFamily="18" charset="0"/>
            </a:endParaRPr>
          </a:p>
        </p:txBody>
      </p:sp>
      <p:grpSp>
        <p:nvGrpSpPr>
          <p:cNvPr id="17" name="组合 16"/>
          <p:cNvGrpSpPr/>
          <p:nvPr/>
        </p:nvGrpSpPr>
        <p:grpSpPr>
          <a:xfrm>
            <a:off x="1966595" y="3845560"/>
            <a:ext cx="2950269" cy="2479675"/>
            <a:chOff x="3107" y="5400"/>
            <a:chExt cx="3989" cy="4349"/>
          </a:xfrm>
        </p:grpSpPr>
        <p:sp>
          <p:nvSpPr>
            <p:cNvPr id="10" name="矩形 9"/>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3989" cy="699"/>
            </a:xfrm>
            <a:prstGeom prst="rect">
              <a:avLst/>
            </a:prstGeom>
            <a:solidFill>
              <a:srgbClr val="69025E"/>
            </a:solidFill>
          </p:spPr>
          <p:txBody>
            <a:bodyPr wrap="square">
              <a:spAutoFit/>
            </a:bodyPr>
            <a:lstStyle/>
            <a:p>
              <a:pPr algn="ctr"/>
              <a:r>
                <a:rPr lang="zh-CN" altLang="en-US" sz="2000" b="1" dirty="0">
                  <a:solidFill>
                    <a:schemeClr val="bg1"/>
                  </a:solidFill>
                </a:rPr>
                <a:t>迁移成本</a:t>
              </a:r>
              <a:endParaRPr lang="zh-CN" altLang="en-US" sz="2000" b="1" dirty="0">
                <a:solidFill>
                  <a:schemeClr val="bg1"/>
                </a:solidFill>
              </a:endParaRPr>
            </a:p>
          </p:txBody>
        </p:sp>
      </p:grpSp>
      <p:grpSp>
        <p:nvGrpSpPr>
          <p:cNvPr id="21" name="组合 20"/>
          <p:cNvGrpSpPr/>
          <p:nvPr/>
        </p:nvGrpSpPr>
        <p:grpSpPr>
          <a:xfrm>
            <a:off x="8145780" y="3845560"/>
            <a:ext cx="2950269" cy="2479675"/>
            <a:chOff x="3107" y="5400"/>
            <a:chExt cx="3989" cy="4349"/>
          </a:xfrm>
        </p:grpSpPr>
        <p:sp>
          <p:nvSpPr>
            <p:cNvPr id="22" name="矩形 21"/>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3107" y="5400"/>
              <a:ext cx="3989" cy="699"/>
            </a:xfrm>
            <a:prstGeom prst="rect">
              <a:avLst/>
            </a:prstGeom>
            <a:solidFill>
              <a:srgbClr val="69025E"/>
            </a:solidFill>
          </p:spPr>
          <p:txBody>
            <a:bodyPr wrap="square">
              <a:spAutoFit/>
            </a:bodyPr>
            <a:lstStyle/>
            <a:p>
              <a:pPr algn="ctr"/>
              <a:r>
                <a:rPr lang="zh-CN" altLang="en-US" sz="2000" b="1" dirty="0">
                  <a:solidFill>
                    <a:schemeClr val="bg1"/>
                  </a:solidFill>
                </a:rPr>
                <a:t>人力资本形成</a:t>
              </a:r>
              <a:r>
                <a:rPr lang="zh-CN" altLang="en-US" sz="2000" b="1" dirty="0">
                  <a:solidFill>
                    <a:schemeClr val="bg1"/>
                  </a:solidFill>
                </a:rPr>
                <a:t>质量</a:t>
              </a:r>
              <a:endParaRPr lang="zh-CN" altLang="en-US" sz="2000" b="1" dirty="0">
                <a:solidFill>
                  <a:schemeClr val="bg1"/>
                </a:solidFill>
              </a:endParaRPr>
            </a:p>
          </p:txBody>
        </p:sp>
      </p:grpSp>
      <p:grpSp>
        <p:nvGrpSpPr>
          <p:cNvPr id="24" name="组合 23"/>
          <p:cNvGrpSpPr/>
          <p:nvPr/>
        </p:nvGrpSpPr>
        <p:grpSpPr>
          <a:xfrm>
            <a:off x="5036611" y="3864376"/>
            <a:ext cx="2951748" cy="2460859"/>
            <a:chOff x="3105" y="5433"/>
            <a:chExt cx="3991" cy="4316"/>
          </a:xfrm>
        </p:grpSpPr>
        <p:sp>
          <p:nvSpPr>
            <p:cNvPr id="25" name="矩形 24"/>
            <p:cNvSpPr/>
            <p:nvPr/>
          </p:nvSpPr>
          <p:spPr>
            <a:xfrm>
              <a:off x="3107" y="5433"/>
              <a:ext cx="3989" cy="431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105" y="5433"/>
              <a:ext cx="3989" cy="699"/>
            </a:xfrm>
            <a:prstGeom prst="rect">
              <a:avLst/>
            </a:prstGeom>
            <a:solidFill>
              <a:srgbClr val="69025E"/>
            </a:solidFill>
          </p:spPr>
          <p:txBody>
            <a:bodyPr wrap="square">
              <a:spAutoFit/>
            </a:bodyPr>
            <a:lstStyle/>
            <a:p>
              <a:pPr algn="ctr"/>
              <a:r>
                <a:rPr lang="zh-CN" altLang="en-US" sz="2000" b="1" dirty="0">
                  <a:solidFill>
                    <a:schemeClr val="bg1"/>
                  </a:solidFill>
                </a:rPr>
                <a:t>宜居度</a:t>
              </a:r>
              <a:endParaRPr lang="zh-CN" altLang="en-US" sz="2000" b="1" dirty="0">
                <a:solidFill>
                  <a:schemeClr val="bg1"/>
                </a:solidFill>
              </a:endParaRPr>
            </a:p>
          </p:txBody>
        </p:sp>
      </p:grpSp>
      <p:sp>
        <p:nvSpPr>
          <p:cNvPr id="27" name="文本框 26"/>
          <p:cNvSpPr txBox="1"/>
          <p:nvPr/>
        </p:nvSpPr>
        <p:spPr>
          <a:xfrm>
            <a:off x="4430395" y="3255645"/>
            <a:ext cx="4201160" cy="368300"/>
          </a:xfrm>
          <a:prstGeom prst="rect">
            <a:avLst/>
          </a:prstGeom>
          <a:solidFill>
            <a:schemeClr val="bg2"/>
          </a:solidFill>
        </p:spPr>
        <p:txBody>
          <a:bodyPr wrap="square">
            <a:spAutoFit/>
          </a:bodyPr>
          <a:lstStyle/>
          <a:p>
            <a:pPr algn="ctr"/>
            <a:r>
              <a:rPr lang="zh-CN" altLang="en-US" sz="1800" b="1" kern="100" dirty="0">
                <a:solidFill>
                  <a:srgbClr val="69025E"/>
                </a:solidFill>
                <a:effectLst/>
                <a:latin typeface="+mj-ea"/>
                <a:ea typeface="+mj-ea"/>
              </a:rPr>
              <a:t>识别</a:t>
            </a:r>
            <a:r>
              <a:rPr lang="zh-CN" altLang="en-US" sz="1800" b="1" kern="100" dirty="0">
                <a:solidFill>
                  <a:srgbClr val="69025E"/>
                </a:solidFill>
                <a:effectLst/>
                <a:latin typeface="+mj-ea"/>
                <a:ea typeface="+mj-ea"/>
              </a:rPr>
              <a:t>时采取以下的归一化</a:t>
            </a:r>
            <a:r>
              <a:rPr lang="zh-CN" altLang="en-US" sz="1800" b="1" kern="100" dirty="0">
                <a:solidFill>
                  <a:srgbClr val="69025E"/>
                </a:solidFill>
                <a:effectLst/>
                <a:latin typeface="+mj-ea"/>
                <a:ea typeface="+mj-ea"/>
              </a:rPr>
              <a:t>处理</a:t>
            </a:r>
            <a:endParaRPr lang="zh-CN" altLang="en-US" sz="1800" b="1" kern="100" dirty="0">
              <a:solidFill>
                <a:srgbClr val="69025E"/>
              </a:solidFill>
              <a:effectLst/>
              <a:latin typeface="+mj-ea"/>
              <a:ea typeface="+mj-ea"/>
            </a:endParaRPr>
          </a:p>
        </p:txBody>
      </p:sp>
      <mc:AlternateContent xmlns:mc="http://schemas.openxmlformats.org/markup-compatibility/2006">
        <mc:Choice xmlns:a14="http://schemas.microsoft.com/office/drawing/2010/main" Requires="a14">
          <p:sp>
            <p:nvSpPr>
              <p:cNvPr id="33" name="文本框 32"/>
              <p:cNvSpPr txBox="1"/>
              <p:nvPr/>
            </p:nvSpPr>
            <p:spPr>
              <a:xfrm>
                <a:off x="1983740" y="4366260"/>
                <a:ext cx="2922905" cy="1816100"/>
              </a:xfrm>
              <a:prstGeom prst="rect">
                <a:avLst/>
              </a:prstGeom>
              <a:noFill/>
            </p:spPr>
            <p:txBody>
              <a:bodyPr wrap="square" rtlCol="0">
                <a:spAutoFit/>
              </a:bodyPr>
              <a:p>
                <a:pPr algn="ctr"/>
                <a14:m>
                  <m:oMath xmlns:m="http://schemas.openxmlformats.org/officeDocument/2006/math">
                    <m:sSub>
                      <m:sSubPr>
                        <m:ctrlPr>
                          <a:rPr lang="en-US" altLang="zh-CN" sz="1600" b="1" i="1" dirty="0">
                            <a:solidFill>
                              <a:srgbClr val="660066"/>
                            </a:solidFill>
                            <a:latin typeface="DejaVu Math TeX Gyre" panose="02000503000000000000" charset="0"/>
                            <a:cs typeface="DejaVu Math TeX Gyre" panose="02000503000000000000" charset="0"/>
                          </a:rPr>
                        </m:ctrlPr>
                      </m:sSubPr>
                      <m:e>
                        <m:r>
                          <a:rPr lang="en-US" altLang="zh-CN" sz="1600" b="1" i="1" dirty="0">
                            <a:solidFill>
                              <a:srgbClr val="660066"/>
                            </a:solidFill>
                            <a:latin typeface="DejaVu Math TeX Gyre" panose="02000503000000000000" charset="0"/>
                            <a:ea typeface="宋体" charset="0"/>
                            <a:cs typeface="DejaVu Math TeX Gyre" panose="02000503000000000000" charset="0"/>
                          </a:rPr>
                          <m:t>𝝉</m:t>
                        </m:r>
                      </m:e>
                      <m:sub>
                        <m:r>
                          <a:rPr lang="en-US" altLang="zh-CN" sz="1600" b="1" i="1" dirty="0">
                            <a:solidFill>
                              <a:srgbClr val="660066"/>
                            </a:solidFill>
                            <a:latin typeface="DejaVu Math TeX Gyre" panose="02000503000000000000" charset="0"/>
                            <a:cs typeface="DejaVu Math TeX Gyre" panose="02000503000000000000" charset="0"/>
                          </a:rPr>
                          <m:t>𝒐𝒅</m:t>
                        </m:r>
                      </m:sub>
                    </m:sSub>
                    <m:r>
                      <a:rPr lang="en-US" altLang="zh-CN" sz="1600" b="1" i="1" dirty="0">
                        <a:solidFill>
                          <a:srgbClr val="660066"/>
                        </a:solidFill>
                        <a:latin typeface="DejaVu Math TeX Gyre" panose="02000503000000000000" charset="0"/>
                        <a:cs typeface="DejaVu Math TeX Gyre" panose="02000503000000000000" charset="0"/>
                      </a:rPr>
                      <m:t>=</m:t>
                    </m:r>
                    <m:sSub>
                      <m:sSubPr>
                        <m:ctrlPr>
                          <a:rPr lang="en-US" altLang="zh-CN" sz="1600" b="1" i="1" dirty="0">
                            <a:solidFill>
                              <a:srgbClr val="660066"/>
                            </a:solidFill>
                            <a:latin typeface="DejaVu Math TeX Gyre" panose="02000503000000000000" charset="0"/>
                            <a:cs typeface="DejaVu Math TeX Gyre" panose="02000503000000000000" charset="0"/>
                          </a:rPr>
                        </m:ctrlPr>
                      </m:sSubPr>
                      <m:e>
                        <m:r>
                          <a:rPr lang="en-US" altLang="zh-CN" sz="1600" b="1" i="1" dirty="0">
                            <a:solidFill>
                              <a:srgbClr val="660066"/>
                            </a:solidFill>
                            <a:latin typeface="DejaVu Math TeX Gyre" panose="02000503000000000000" charset="0"/>
                            <a:ea typeface="宋体" charset="0"/>
                            <a:cs typeface="DejaVu Math TeX Gyre" panose="02000503000000000000" charset="0"/>
                          </a:rPr>
                          <m:t>𝝉</m:t>
                        </m:r>
                      </m:e>
                      <m:sub>
                        <m:r>
                          <a:rPr lang="en-US" altLang="zh-CN" sz="1600" b="1" i="1" dirty="0">
                            <a:solidFill>
                              <a:srgbClr val="660066"/>
                            </a:solidFill>
                            <a:latin typeface="DejaVu Math TeX Gyre" panose="02000503000000000000" charset="0"/>
                            <a:cs typeface="DejaVu Math TeX Gyre" panose="02000503000000000000" charset="0"/>
                          </a:rPr>
                          <m:t>𝒅𝒐</m:t>
                        </m:r>
                      </m:sub>
                    </m:sSub>
                  </m:oMath>
                </a14:m>
                <a:r>
                  <a:rPr lang="zh-CN" altLang="en-US" sz="1600" b="1" dirty="0">
                    <a:solidFill>
                      <a:srgbClr val="660066"/>
                    </a:solidFill>
                    <a:latin typeface="DejaVu Math TeX Gyre" panose="02000503000000000000" charset="0"/>
                    <a:cs typeface="DejaVu Math TeX Gyre" panose="02000503000000000000" charset="0"/>
                  </a:rPr>
                  <a:t>：两个地点之间的迁移成本对称</a:t>
                </a:r>
                <a:endParaRPr lang="zh-CN" altLang="en-US" sz="1600" dirty="0">
                  <a:latin typeface="DejaVu Math TeX Gyre" panose="02000503000000000000" charset="0"/>
                  <a:cs typeface="DejaVu Math TeX Gyre" panose="02000503000000000000" charset="0"/>
                </a:endParaRPr>
              </a:p>
              <a:p>
                <a:pPr marL="285750" indent="-285750" algn="l">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后续将利用对称性</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把</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𝜏</m:t>
                        </m:r>
                      </m:e>
                      <m:sub>
                        <m:r>
                          <a:rPr lang="en-US" altLang="zh-CN" sz="1600" i="1" dirty="0">
                            <a:solidFill>
                              <a:schemeClr val="tx1"/>
                            </a:solidFill>
                            <a:latin typeface="DejaVu Math TeX Gyre" panose="02000503000000000000" charset="0"/>
                            <a:cs typeface="DejaVu Math TeX Gyre" panose="02000503000000000000" charset="0"/>
                          </a:rPr>
                          <m:t>𝑜𝑑</m:t>
                        </m:r>
                      </m:sub>
                    </m:sSub>
                  </m:oMath>
                </a14:m>
                <a:r>
                  <a:rPr lang="zh-CN" altLang="en-US" sz="1600" dirty="0">
                    <a:latin typeface="DejaVu Math TeX Gyre" panose="02000503000000000000" charset="0"/>
                    <a:cs typeface="DejaVu Math TeX Gyre" panose="02000503000000000000" charset="0"/>
                  </a:rPr>
                  <a:t>分离出来进行识别</a:t>
                </a:r>
                <a:r>
                  <a:rPr lang="en-US" altLang="zh-CN" sz="1600" dirty="0">
                    <a:latin typeface="DejaVu Math TeX Gyre" panose="02000503000000000000" charset="0"/>
                    <a:cs typeface="DejaVu Math TeX Gyre" panose="02000503000000000000" charset="0"/>
                  </a:rPr>
                  <a:t>。</a:t>
                </a:r>
                <a:endParaRPr lang="zh-CN" altLang="en-US" sz="1600" dirty="0">
                  <a:latin typeface="DejaVu Math TeX Gyre" panose="02000503000000000000" charset="0"/>
                  <a:cs typeface="DejaVu Math TeX Gyre" panose="02000503000000000000" charset="0"/>
                </a:endParaRPr>
              </a:p>
              <a:p>
                <a:pPr marL="285750" indent="-285750" algn="l">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稳健性检验将放宽这一假设</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允许两地之间迁移成本不对称</a:t>
                </a:r>
                <a:r>
                  <a:rPr lang="en-US" altLang="zh-CN" sz="1600" dirty="0">
                    <a:latin typeface="DejaVu Math TeX Gyre" panose="02000503000000000000" charset="0"/>
                    <a:cs typeface="DejaVu Math TeX Gyre" panose="02000503000000000000" charset="0"/>
                  </a:rPr>
                  <a:t>。</a:t>
                </a:r>
                <a:endParaRPr lang="en-US" altLang="zh-CN" sz="1600" dirty="0">
                  <a:latin typeface="DejaVu Math TeX Gyre" panose="02000503000000000000" charset="0"/>
                  <a:cs typeface="DejaVu Math TeX Gyre" panose="02000503000000000000" charset="0"/>
                </a:endParaRPr>
              </a:p>
            </p:txBody>
          </p:sp>
        </mc:Choice>
        <mc:Fallback>
          <p:sp>
            <p:nvSpPr>
              <p:cNvPr id="33" name="文本框 32"/>
              <p:cNvSpPr txBox="1">
                <a:spLocks noRot="1" noChangeAspect="1" noMove="1" noResize="1" noEditPoints="1" noAdjustHandles="1" noChangeArrowheads="1" noChangeShapeType="1" noTextEdit="1"/>
              </p:cNvSpPr>
              <p:nvPr/>
            </p:nvSpPr>
            <p:spPr>
              <a:xfrm>
                <a:off x="1983740" y="4366260"/>
                <a:ext cx="2922905" cy="1816100"/>
              </a:xfrm>
              <a:prstGeom prst="rect">
                <a:avLst/>
              </a:prstGeom>
              <a:blipFill rotWithShape="1">
                <a:blip r:embed="rId3"/>
                <a:stretch>
                  <a:fillRect r="-3280"/>
                </a:stretch>
              </a:blipFill>
            </p:spPr>
            <p:txBody>
              <a:bodyPr/>
              <a:lstStyle/>
              <a:p>
                <a:r>
                  <a:rPr lang="zh-CN" altLang="en-US">
                    <a:noFill/>
                  </a:rPr>
                  <a:t> </a:t>
                </a:r>
              </a:p>
            </p:txBody>
          </p:sp>
        </mc:Fallback>
      </mc:AlternateContent>
      <p:sp>
        <p:nvSpPr>
          <p:cNvPr id="28" name="箭头: 下 15"/>
          <p:cNvSpPr/>
          <p:nvPr/>
        </p:nvSpPr>
        <p:spPr>
          <a:xfrm rot="19140000">
            <a:off x="4510405" y="3007995"/>
            <a:ext cx="300990" cy="35560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6" name="文本框 35"/>
              <p:cNvSpPr txBox="1"/>
              <p:nvPr/>
            </p:nvSpPr>
            <p:spPr>
              <a:xfrm>
                <a:off x="5069840" y="4262755"/>
                <a:ext cx="2922905" cy="337185"/>
              </a:xfrm>
              <a:prstGeom prst="rect">
                <a:avLst/>
              </a:prstGeom>
              <a:noFill/>
            </p:spPr>
            <p:txBody>
              <a:bodyPr wrap="square" rtlCol="0">
                <a:spAutoFit/>
              </a:bodyPr>
              <a:p>
                <a:pPr algn="ct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ea typeface="宋体" charset="0"/>
                            <a:cs typeface="DejaVu Math TeX Gyre" panose="02000503000000000000" charset="0"/>
                          </a:rPr>
                          <m:t>𝛼</m:t>
                        </m:r>
                      </m:e>
                      <m:sub>
                        <m:r>
                          <a:rPr lang="en-US" altLang="zh-CN" sz="1600" i="1" dirty="0">
                            <a:latin typeface="DejaVu Math TeX Gyre" panose="02000503000000000000" charset="0"/>
                            <a:ea typeface="宋体" charset="0"/>
                            <a:cs typeface="DejaVu Math TeX Gyre" panose="02000503000000000000" charset="0"/>
                          </a:rPr>
                          <m:t>1</m:t>
                        </m:r>
                      </m:sub>
                    </m:sSub>
                  </m:oMath>
                </a14:m>
                <a:r>
                  <a:rPr lang="en-US" altLang="zh-CN" sz="1600" dirty="0">
                    <a:latin typeface="DejaVu Math TeX Gyre" panose="02000503000000000000" charset="0"/>
                    <a:cs typeface="DejaVu Math TeX Gyre" panose="02000503000000000000" charset="0"/>
                  </a:rPr>
                  <a:t>=1：</a:t>
                </a:r>
                <a:endParaRPr lang="zh-CN" altLang="en-US" sz="1600" dirty="0">
                  <a:latin typeface="DejaVu Math TeX Gyre" panose="02000503000000000000" charset="0"/>
                  <a:cs typeface="DejaVu Math TeX Gyre" panose="02000503000000000000" charset="0"/>
                </a:endParaRPr>
              </a:p>
            </p:txBody>
          </p:sp>
        </mc:Choice>
        <mc:Fallback>
          <p:sp>
            <p:nvSpPr>
              <p:cNvPr id="36" name="文本框 35"/>
              <p:cNvSpPr txBox="1">
                <a:spLocks noRot="1" noChangeAspect="1" noMove="1" noResize="1" noEditPoints="1" noAdjustHandles="1" noChangeArrowheads="1" noChangeShapeType="1" noTextEdit="1"/>
              </p:cNvSpPr>
              <p:nvPr/>
            </p:nvSpPr>
            <p:spPr>
              <a:xfrm>
                <a:off x="5069840" y="4262755"/>
                <a:ext cx="2922905" cy="33718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文本框 36"/>
              <p:cNvSpPr txBox="1"/>
              <p:nvPr/>
            </p:nvSpPr>
            <p:spPr>
              <a:xfrm>
                <a:off x="8189595" y="4274185"/>
                <a:ext cx="2922905" cy="337185"/>
              </a:xfrm>
              <a:prstGeom prst="rect">
                <a:avLst/>
              </a:prstGeom>
              <a:noFill/>
            </p:spPr>
            <p:txBody>
              <a:bodyPr wrap="square" rtlCol="0">
                <a:spAutoFit/>
              </a:bodyPr>
              <a:p>
                <a:pPr algn="ct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cs typeface="DejaVu Math TeX Gyre" panose="02000503000000000000" charset="0"/>
                          </a:rPr>
                          <m:t>𝑞</m:t>
                        </m:r>
                      </m:e>
                      <m:sub>
                        <m:r>
                          <a:rPr lang="en-US" altLang="zh-CN" sz="1600" i="1" dirty="0">
                            <a:latin typeface="DejaVu Math TeX Gyre" panose="02000503000000000000" charset="0"/>
                            <a:cs typeface="DejaVu Math TeX Gyre" panose="02000503000000000000" charset="0"/>
                          </a:rPr>
                          <m:t>1</m:t>
                        </m:r>
                      </m:sub>
                    </m:sSub>
                  </m:oMath>
                </a14:m>
                <a:r>
                  <a:rPr lang="en-US" altLang="zh-CN" sz="1600" dirty="0">
                    <a:latin typeface="DejaVu Math TeX Gyre" panose="02000503000000000000" charset="0"/>
                    <a:cs typeface="DejaVu Math TeX Gyre" panose="02000503000000000000" charset="0"/>
                  </a:rPr>
                  <a:t>=1：</a:t>
                </a:r>
                <a:endParaRPr lang="zh-CN" altLang="en-US" sz="1600" dirty="0">
                  <a:latin typeface="DejaVu Math TeX Gyre" panose="02000503000000000000" charset="0"/>
                  <a:cs typeface="DejaVu Math TeX Gyre" panose="02000503000000000000" charset="0"/>
                </a:endParaRPr>
              </a:p>
            </p:txBody>
          </p:sp>
        </mc:Choice>
        <mc:Fallback>
          <p:sp>
            <p:nvSpPr>
              <p:cNvPr id="37" name="文本框 36"/>
              <p:cNvSpPr txBox="1">
                <a:spLocks noRot="1" noChangeAspect="1" noMove="1" noResize="1" noEditPoints="1" noAdjustHandles="1" noChangeArrowheads="1" noChangeShapeType="1" noTextEdit="1"/>
              </p:cNvSpPr>
              <p:nvPr/>
            </p:nvSpPr>
            <p:spPr>
              <a:xfrm>
                <a:off x="8189595" y="4274185"/>
                <a:ext cx="2922905" cy="33718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圆角 7"/>
              <p:cNvSpPr/>
              <p:nvPr/>
            </p:nvSpPr>
            <p:spPr>
              <a:xfrm>
                <a:off x="1965960" y="1889125"/>
                <a:ext cx="4201795" cy="11671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90204" pitchFamily="34" charset="0"/>
                  <a:buChar char="•"/>
                </a:pPr>
                <a:r>
                  <a:rPr lang="en-US" altLang="zh-CN" sz="1600" dirty="0">
                    <a:solidFill>
                      <a:schemeClr val="tx1"/>
                    </a:solidFill>
                    <a:sym typeface="+mn-ea"/>
                  </a:rPr>
                  <a:t>Fr</a:t>
                </a:r>
                <a:r>
                  <a:rPr lang="en-US" altLang="en-US" sz="1600" dirty="0">
                    <a:solidFill>
                      <a:schemeClr val="tx1"/>
                    </a:solidFill>
                    <a:sym typeface="+mn-ea"/>
                  </a:rPr>
                  <a:t>é</a:t>
                </a:r>
                <a:r>
                  <a:rPr lang="en-US" altLang="zh-CN" sz="1600" dirty="0">
                    <a:solidFill>
                      <a:schemeClr val="tx1"/>
                    </a:solidFill>
                    <a:sym typeface="+mn-ea"/>
                  </a:rPr>
                  <a:t>chet </a:t>
                </a:r>
                <a:r>
                  <a:rPr lang="zh-CN" altLang="en-US" sz="1600" dirty="0">
                    <a:solidFill>
                      <a:schemeClr val="tx1"/>
                    </a:solidFill>
                    <a:sym typeface="+mn-ea"/>
                  </a:rPr>
                  <a:t>参数 {</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𝜃</m:t>
                    </m:r>
                  </m:oMath>
                </a14:m>
                <a:r>
                  <a:rPr lang="en-US" altLang="zh-CN" sz="1600" i="1" dirty="0">
                    <a:solidFill>
                      <a:schemeClr val="tx1"/>
                    </a:solidFill>
                    <a:sym typeface="+mn-ea"/>
                  </a:rPr>
                  <a:t>, </a:t>
                </a:r>
                <a14:m>
                  <m:oMath xmlns:m="http://schemas.openxmlformats.org/officeDocument/2006/math">
                    <m:r>
                      <a:rPr lang="en-US" altLang="zh-CN" sz="1600" i="1" dirty="0">
                        <a:solidFill>
                          <a:schemeClr val="tx1"/>
                        </a:solidFill>
                        <a:latin typeface="DejaVu Math TeX Gyre" panose="02000503000000000000" charset="0"/>
                        <a:cs typeface="DejaVu Math TeX Gyre" panose="02000503000000000000" charset="0"/>
                      </a:rPr>
                      <m:t>𝜌</m:t>
                    </m:r>
                  </m:oMath>
                </a14:m>
                <a:r>
                  <a:rPr lang="en-US" altLang="zh-CN" sz="1600" dirty="0">
                    <a:solidFill>
                      <a:schemeClr val="tx1"/>
                    </a:solidFill>
                    <a:sym typeface="+mn-ea"/>
                  </a:rPr>
                  <a:t>}</a:t>
                </a:r>
                <a:endParaRPr lang="en-US" altLang="zh-CN" sz="1600" dirty="0">
                  <a:solidFill>
                    <a:schemeClr val="tx1"/>
                  </a:solidFill>
                  <a:sym typeface="+mn-ea"/>
                </a:endParaRPr>
              </a:p>
              <a:p>
                <a:pPr marL="285750" indent="-285750" algn="ctr">
                  <a:buFont typeface="Arial" panose="020B0604020202090204" pitchFamily="34" charset="0"/>
                  <a:buChar char="•"/>
                </a:pPr>
                <a:r>
                  <a:rPr lang="zh-CN" altLang="en-US" sz="1600" kern="1400" spc="-50" dirty="0">
                    <a:solidFill>
                      <a:schemeClr val="tx1"/>
                    </a:solidFill>
                    <a:latin typeface="Times New Roman" panose="02020503050405090304" pitchFamily="18" charset="0"/>
                    <a:sym typeface="+mn-ea"/>
                  </a:rPr>
                  <a:t>地点特征</a:t>
                </a:r>
                <a:r>
                  <a:rPr lang="en-US" altLang="zh-CN" sz="1600" kern="1400" spc="-50" dirty="0">
                    <a:solidFill>
                      <a:schemeClr val="tx1"/>
                    </a:solidFill>
                    <a:latin typeface="Times New Roman" panose="02020503050405090304" pitchFamily="18" charset="0"/>
                    <a:sym typeface="+mn-ea"/>
                  </a:rPr>
                  <a:t> </a:t>
                </a:r>
                <a:r>
                  <a:rPr lang="zh-CN" altLang="en-US"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𝑤</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en-US" altLang="zh-CN"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𝑞</m:t>
                        </m:r>
                      </m:e>
                      <m:sub>
                        <m:r>
                          <a:rPr lang="en-US" altLang="zh-CN" sz="1600" i="1" dirty="0">
                            <a:solidFill>
                              <a:schemeClr val="tx1"/>
                            </a:solidFill>
                            <a:latin typeface="DejaVu Math TeX Gyre" panose="02000503000000000000" charset="0"/>
                            <a:cs typeface="DejaVu Math TeX Gyre" panose="02000503000000000000" charset="0"/>
                          </a:rPr>
                          <m:t>𝑜</m:t>
                        </m:r>
                      </m:sub>
                    </m:sSub>
                  </m:oMath>
                </a14:m>
                <a:r>
                  <a:rPr lang="en-US" altLang="zh-CN" sz="1600" dirty="0">
                    <a:solidFill>
                      <a:schemeClr val="tx1"/>
                    </a:solidFill>
                    <a:sym typeface="+mn-ea"/>
                  </a:rPr>
                  <a:t>}</a:t>
                </a:r>
                <a:endParaRPr lang="en-US" altLang="zh-CN" sz="1600" dirty="0">
                  <a:solidFill>
                    <a:schemeClr val="tx1"/>
                  </a:solidFill>
                  <a:sym typeface="+mn-ea"/>
                </a:endParaRPr>
              </a:p>
              <a:p>
                <a:pPr marL="285750" indent="-285750" algn="ctr">
                  <a:buFont typeface="Arial" panose="020B0604020202090204" pitchFamily="34" charset="0"/>
                  <a:buChar char="•"/>
                </a:pPr>
                <a:r>
                  <a:rPr lang="zh-CN" altLang="en-US" sz="1600" kern="1400" spc="-50" dirty="0">
                    <a:solidFill>
                      <a:schemeClr val="tx1"/>
                    </a:solidFill>
                    <a:latin typeface="Times New Roman" panose="02020503050405090304" pitchFamily="18" charset="0"/>
                    <a:sym typeface="+mn-ea"/>
                  </a:rPr>
                  <a:t>移动相关特征</a:t>
                </a:r>
                <a:r>
                  <a:rPr lang="en-US" altLang="zh-CN" sz="1600" kern="1400" spc="-50" dirty="0">
                    <a:solidFill>
                      <a:schemeClr val="tx1"/>
                    </a:solidFill>
                    <a:latin typeface="Times New Roman" panose="02020503050405090304" pitchFamily="18" charset="0"/>
                    <a:sym typeface="+mn-ea"/>
                  </a:rPr>
                  <a:t> </a:t>
                </a:r>
                <a:r>
                  <a:rPr lang="zh-CN" altLang="en-US" sz="1600" dirty="0">
                    <a:solidFill>
                      <a:schemeClr val="tx1"/>
                    </a:solidFill>
                    <a:sym typeface="+mn-ea"/>
                  </a:rPr>
                  <a:t>{</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𝜏</m:t>
                        </m:r>
                      </m:e>
                      <m:sub>
                        <m:r>
                          <a:rPr lang="en-US" altLang="zh-CN" sz="1600" i="1" dirty="0">
                            <a:solidFill>
                              <a:schemeClr val="tx1"/>
                            </a:solidFill>
                            <a:latin typeface="DejaVu Math TeX Gyre" panose="02000503000000000000" charset="0"/>
                            <a:cs typeface="DejaVu Math TeX Gyre" panose="02000503000000000000" charset="0"/>
                          </a:rPr>
                          <m:t>𝑜𝑑</m:t>
                        </m:r>
                      </m:sub>
                    </m:sSub>
                  </m:oMath>
                </a14:m>
                <a:r>
                  <a:rPr lang="en-US" altLang="zh-CN" sz="1600" dirty="0">
                    <a:solidFill>
                      <a:schemeClr val="tx1"/>
                    </a:solidFill>
                    <a:sym typeface="+mn-ea"/>
                  </a:rPr>
                  <a:t>, </a:t>
                </a:r>
                <a14:m>
                  <m:oMath xmlns:m="http://schemas.openxmlformats.org/officeDocument/2006/math">
                    <m:sSub>
                      <m:sSubPr>
                        <m:ctrlPr>
                          <a:rPr lang="en-US" altLang="zh-CN" sz="1600" i="1" dirty="0">
                            <a:solidFill>
                              <a:schemeClr val="tx1"/>
                            </a:solidFill>
                            <a:latin typeface="DejaVu Math TeX Gyre" panose="02000503000000000000" charset="0"/>
                            <a:cs typeface="DejaVu Math TeX Gyre" panose="02000503000000000000" charset="0"/>
                          </a:rPr>
                        </m:ctrlPr>
                      </m:sSubPr>
                      <m:e>
                        <m:r>
                          <a:rPr lang="en-US" altLang="zh-CN" sz="1600" i="1" dirty="0">
                            <a:solidFill>
                              <a:schemeClr val="tx1"/>
                            </a:solidFill>
                            <a:latin typeface="DejaVu Math TeX Gyre" panose="02000503000000000000" charset="0"/>
                            <a:cs typeface="DejaVu Math TeX Gyre" panose="02000503000000000000" charset="0"/>
                          </a:rPr>
                          <m:t>𝛼</m:t>
                        </m:r>
                      </m:e>
                      <m:sub>
                        <m:r>
                          <a:rPr lang="en-US" altLang="zh-CN" sz="1600" i="1" dirty="0">
                            <a:solidFill>
                              <a:schemeClr val="tx1"/>
                            </a:solidFill>
                            <a:latin typeface="DejaVu Math TeX Gyre" panose="02000503000000000000" charset="0"/>
                            <a:cs typeface="DejaVu Math TeX Gyre" panose="02000503000000000000" charset="0"/>
                          </a:rPr>
                          <m:t>𝑑</m:t>
                        </m:r>
                      </m:sub>
                    </m:sSub>
                  </m:oMath>
                </a14:m>
                <a:r>
                  <a:rPr lang="en-US" altLang="zh-CN" sz="1600" dirty="0">
                    <a:solidFill>
                      <a:schemeClr val="tx1"/>
                    </a:solidFill>
                    <a:sym typeface="+mn-ea"/>
                  </a:rPr>
                  <a:t>}</a:t>
                </a:r>
                <a:endParaRPr lang="en-US" altLang="zh-CN" sz="1600" kern="1400" spc="-50" dirty="0">
                  <a:solidFill>
                    <a:schemeClr val="tx1"/>
                  </a:solidFill>
                  <a:latin typeface="Times New Roman" panose="02020503050405090304" pitchFamily="18" charset="0"/>
                  <a:sym typeface="+mn-ea"/>
                </a:endParaRPr>
              </a:p>
            </p:txBody>
          </p:sp>
        </mc:Choice>
        <mc:Fallback>
          <p:sp>
            <p:nvSpPr>
              <p:cNvPr id="12" name="矩形: 圆角 7"/>
              <p:cNvSpPr>
                <a:spLocks noRot="1" noChangeAspect="1" noMove="1" noResize="1" noEditPoints="1" noAdjustHandles="1" noChangeArrowheads="1" noChangeShapeType="1" noTextEdit="1"/>
              </p:cNvSpPr>
              <p:nvPr/>
            </p:nvSpPr>
            <p:spPr>
              <a:xfrm>
                <a:off x="1965960" y="1889125"/>
                <a:ext cx="4201795" cy="1167130"/>
              </a:xfrm>
              <a:prstGeom prst="roundRect">
                <a:avLst/>
              </a:prstGeom>
              <a:blipFill rotWithShape="1">
                <a:blip r:embed="rId6"/>
                <a:stretch>
                  <a:fillRect l="-348" t="-1251" r="-332" b="-1197"/>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3" name="矩形: 圆角 7"/>
          <p:cNvSpPr/>
          <p:nvPr/>
        </p:nvSpPr>
        <p:spPr>
          <a:xfrm>
            <a:off x="6931025" y="1897380"/>
            <a:ext cx="4201795" cy="11671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90204" pitchFamily="34" charset="0"/>
              <a:buChar char="•"/>
            </a:pPr>
            <a:r>
              <a:rPr lang="zh-CN" altLang="en-US" sz="1600">
                <a:solidFill>
                  <a:schemeClr val="tx1"/>
                </a:solidFill>
                <a:sym typeface="+mn-ea"/>
              </a:rPr>
              <a:t>在识别环节</a:t>
            </a:r>
            <a:r>
              <a:rPr lang="en-US" altLang="zh-CN" sz="1600">
                <a:solidFill>
                  <a:schemeClr val="tx1"/>
                </a:solidFill>
                <a:sym typeface="+mn-ea"/>
              </a:rPr>
              <a:t>，</a:t>
            </a:r>
            <a:r>
              <a:rPr lang="zh-CN" altLang="en-US" sz="1600">
                <a:solidFill>
                  <a:schemeClr val="tx1"/>
                </a:solidFill>
                <a:sym typeface="+mn-ea"/>
              </a:rPr>
              <a:t>不依赖于一般均衡参数的具体大小</a:t>
            </a:r>
            <a:r>
              <a:rPr lang="en-US" altLang="zh-CN" sz="1600">
                <a:solidFill>
                  <a:schemeClr val="tx1"/>
                </a:solidFill>
                <a:sym typeface="+mn-ea"/>
              </a:rPr>
              <a:t>；</a:t>
            </a:r>
            <a:r>
              <a:rPr lang="zh-CN" altLang="en-US" sz="1600">
                <a:solidFill>
                  <a:schemeClr val="tx1"/>
                </a:solidFill>
                <a:sym typeface="+mn-ea"/>
              </a:rPr>
              <a:t>但在反事实部分</a:t>
            </a:r>
            <a:r>
              <a:rPr lang="en-US" altLang="zh-CN" sz="1600">
                <a:solidFill>
                  <a:schemeClr val="tx1"/>
                </a:solidFill>
                <a:sym typeface="+mn-ea"/>
              </a:rPr>
              <a:t>，</a:t>
            </a:r>
            <a:r>
              <a:rPr lang="zh-CN" altLang="en-US" sz="1600">
                <a:solidFill>
                  <a:schemeClr val="tx1"/>
                </a:solidFill>
                <a:sym typeface="+mn-ea"/>
              </a:rPr>
              <a:t>参数的大小将影响</a:t>
            </a:r>
            <a:r>
              <a:rPr lang="zh-CN" altLang="en-US" sz="1600">
                <a:solidFill>
                  <a:schemeClr val="tx1"/>
                </a:solidFill>
                <a:sym typeface="+mn-ea"/>
              </a:rPr>
              <a:t>反事实结果</a:t>
            </a:r>
            <a:r>
              <a:rPr lang="en-US" altLang="zh-CN" sz="1600">
                <a:solidFill>
                  <a:schemeClr val="tx1"/>
                </a:solidFill>
                <a:sym typeface="+mn-ea"/>
              </a:rPr>
              <a:t>，</a:t>
            </a:r>
            <a:r>
              <a:rPr lang="zh-CN" altLang="en-US" sz="1600">
                <a:solidFill>
                  <a:schemeClr val="tx1"/>
                </a:solidFill>
                <a:sym typeface="+mn-ea"/>
              </a:rPr>
              <a:t>需要</a:t>
            </a:r>
            <a:r>
              <a:rPr lang="zh-CN" altLang="en-US" sz="1600">
                <a:solidFill>
                  <a:schemeClr val="tx1"/>
                </a:solidFill>
                <a:sym typeface="+mn-ea"/>
              </a:rPr>
              <a:t>进行校准</a:t>
            </a:r>
            <a:r>
              <a:rPr lang="en-US" altLang="zh-CN" sz="1600">
                <a:solidFill>
                  <a:schemeClr val="tx1"/>
                </a:solidFill>
                <a:sym typeface="+mn-ea"/>
              </a:rPr>
              <a:t>。</a:t>
            </a:r>
            <a:endParaRPr lang="en-US" altLang="zh-CN" sz="1600" kern="100" dirty="0">
              <a:solidFill>
                <a:schemeClr val="tx1"/>
              </a:solidFill>
              <a:latin typeface="Times New Roman" panose="02020503050405090304" pitchFamily="18" charset="0"/>
              <a:cs typeface="Arial" panose="020B0604020202090204" pitchFamily="34" charset="0"/>
              <a:sym typeface="+mn-ea"/>
            </a:endParaRPr>
          </a:p>
        </p:txBody>
      </p:sp>
      <mc:AlternateContent xmlns:mc="http://schemas.openxmlformats.org/markup-compatibility/2006">
        <mc:Choice xmlns:a14="http://schemas.microsoft.com/office/drawing/2010/main" Requires="a14">
          <p:sp>
            <p:nvSpPr>
              <p:cNvPr id="18" name="文本框 17"/>
              <p:cNvSpPr txBox="1"/>
              <p:nvPr/>
            </p:nvSpPr>
            <p:spPr>
              <a:xfrm>
                <a:off x="5064125" y="4611370"/>
                <a:ext cx="2922905" cy="1725295"/>
              </a:xfrm>
              <a:prstGeom prst="rect">
                <a:avLst/>
              </a:prstGeom>
              <a:noFill/>
            </p:spPr>
            <p:txBody>
              <a:bodyPr wrap="square" rtlCol="0">
                <a:noAutofit/>
              </a:bodyPr>
              <a:p>
                <a:pPr marL="285750" indent="-285750" algn="l">
                  <a:buClrTx/>
                  <a:buSzTx/>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因为观察不到效用的绝对大小</a:t>
                </a:r>
                <a:r>
                  <a:rPr lang="en-US" altLang="zh-CN" sz="1600" dirty="0">
                    <a:latin typeface="DejaVu Math TeX Gyre" panose="02000503000000000000" charset="0"/>
                    <a:cs typeface="DejaVu Math TeX Gyre" panose="02000503000000000000" charset="0"/>
                  </a:rPr>
                  <a:t>，</a:t>
                </a: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ea typeface="宋体" charset="0"/>
                            <a:cs typeface="DejaVu Math TeX Gyre" panose="02000503000000000000" charset="0"/>
                          </a:rPr>
                          <m:t>𝛼</m:t>
                        </m:r>
                      </m:e>
                      <m:sub>
                        <m:r>
                          <a:rPr lang="en-US" altLang="zh-CN" sz="1600" i="1" dirty="0">
                            <a:latin typeface="DejaVu Math TeX Gyre" panose="02000503000000000000" charset="0"/>
                            <a:cs typeface="DejaVu Math TeX Gyre" panose="02000503000000000000" charset="0"/>
                          </a:rPr>
                          <m:t>𝑑</m:t>
                        </m:r>
                      </m:sub>
                    </m:sSub>
                  </m:oMath>
                </a14:m>
                <a:r>
                  <a:rPr lang="zh-CN" altLang="en-US" sz="1600" dirty="0">
                    <a:latin typeface="DejaVu Math TeX Gyre" panose="02000503000000000000" charset="0"/>
                    <a:cs typeface="DejaVu Math TeX Gyre" panose="02000503000000000000" charset="0"/>
                  </a:rPr>
                  <a:t>绝对</a:t>
                </a:r>
                <a:r>
                  <a:rPr lang="zh-CN" altLang="en-US" sz="1600" dirty="0">
                    <a:latin typeface="DejaVu Math TeX Gyre" panose="02000503000000000000" charset="0"/>
                    <a:cs typeface="DejaVu Math TeX Gyre" panose="02000503000000000000" charset="0"/>
                  </a:rPr>
                  <a:t>值也没有</a:t>
                </a:r>
                <a:r>
                  <a:rPr lang="zh-CN" altLang="en-US" sz="1600" dirty="0">
                    <a:latin typeface="DejaVu Math TeX Gyre" panose="02000503000000000000" charset="0"/>
                    <a:cs typeface="DejaVu Math TeX Gyre" panose="02000503000000000000" charset="0"/>
                  </a:rPr>
                  <a:t>意义</a:t>
                </a:r>
                <a:endParaRPr lang="zh-CN" altLang="en-US" sz="1600" dirty="0">
                  <a:latin typeface="DejaVu Math TeX Gyre" panose="02000503000000000000" charset="0"/>
                  <a:cs typeface="DejaVu Math TeX Gyre" panose="02000503000000000000" charset="0"/>
                </a:endParaRPr>
              </a:p>
              <a:p>
                <a:pPr marL="285750" indent="-285750" algn="l">
                  <a:buClrTx/>
                  <a:buSzTx/>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宜居度是以相对形式进入模型</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例如迁移比例</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对宜居度差异的识别也来自于人们对不同地点的相对偏好</a:t>
                </a:r>
                <a:r>
                  <a:rPr lang="en-US" altLang="zh-CN" sz="1600" dirty="0">
                    <a:latin typeface="DejaVu Math TeX Gyre" panose="02000503000000000000" charset="0"/>
                    <a:cs typeface="DejaVu Math TeX Gyre" panose="02000503000000000000" charset="0"/>
                  </a:rPr>
                  <a:t>。</a:t>
                </a:r>
                <a:endParaRPr lang="en-US" altLang="zh-CN" sz="1600" dirty="0">
                  <a:latin typeface="DejaVu Math TeX Gyre" panose="02000503000000000000" charset="0"/>
                  <a:cs typeface="DejaVu Math TeX Gyre" panose="02000503000000000000" charset="0"/>
                </a:endParaRPr>
              </a:p>
            </p:txBody>
          </p:sp>
        </mc:Choice>
        <mc:Fallback>
          <p:sp>
            <p:nvSpPr>
              <p:cNvPr id="18" name="文本框 17"/>
              <p:cNvSpPr txBox="1">
                <a:spLocks noRot="1" noChangeAspect="1" noMove="1" noResize="1" noEditPoints="1" noAdjustHandles="1" noChangeArrowheads="1" noChangeShapeType="1" noTextEdit="1"/>
              </p:cNvSpPr>
              <p:nvPr/>
            </p:nvSpPr>
            <p:spPr>
              <a:xfrm>
                <a:off x="5064125" y="4611370"/>
                <a:ext cx="2922905" cy="1725295"/>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183245" y="4599940"/>
                <a:ext cx="2922905" cy="1725295"/>
              </a:xfrm>
              <a:prstGeom prst="rect">
                <a:avLst/>
              </a:prstGeom>
              <a:noFill/>
            </p:spPr>
            <p:txBody>
              <a:bodyPr wrap="square" rtlCol="0">
                <a:noAutofit/>
              </a:bodyPr>
              <a:p>
                <a:pPr marL="285750" indent="-285750" algn="l">
                  <a:buClrTx/>
                  <a:buSzTx/>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只能识别人力资本生成质量的相对水平</a:t>
                </a:r>
                <a:endParaRPr lang="zh-CN" altLang="en-US" sz="1600" dirty="0">
                  <a:latin typeface="DejaVu Math TeX Gyre" panose="02000503000000000000" charset="0"/>
                  <a:cs typeface="DejaVu Math TeX Gyre" panose="02000503000000000000" charset="0"/>
                </a:endParaRPr>
              </a:p>
              <a:p>
                <a:pPr marL="285750" indent="-285750" algn="l">
                  <a:buClrTx/>
                  <a:buSzTx/>
                  <a:buFont typeface="Arial" panose="020B0604020202090204" pitchFamily="34" charset="0"/>
                  <a:buChar char="•"/>
                </a:pPr>
                <a:r>
                  <a:rPr lang="zh-CN" altLang="en-US" sz="1600" dirty="0">
                    <a:latin typeface="DejaVu Math TeX Gyre" panose="02000503000000000000" charset="0"/>
                    <a:cs typeface="DejaVu Math TeX Gyre" panose="02000503000000000000" charset="0"/>
                  </a:rPr>
                  <a:t>设定</a:t>
                </a: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cs typeface="DejaVu Math TeX Gyre" panose="02000503000000000000" charset="0"/>
                          </a:rPr>
                          <m:t>𝑞</m:t>
                        </m:r>
                      </m:e>
                      <m:sub>
                        <m:r>
                          <a:rPr lang="en-US" altLang="zh-CN" sz="1600" i="1" dirty="0">
                            <a:latin typeface="DejaVu Math TeX Gyre" panose="02000503000000000000" charset="0"/>
                            <a:cs typeface="DejaVu Math TeX Gyre" panose="02000503000000000000" charset="0"/>
                          </a:rPr>
                          <m:t>1</m:t>
                        </m:r>
                      </m:sub>
                    </m:sSub>
                  </m:oMath>
                </a14:m>
                <a:r>
                  <a:rPr lang="en-US" altLang="zh-CN" sz="1600" dirty="0">
                    <a:latin typeface="DejaVu Math TeX Gyre" panose="02000503000000000000" charset="0"/>
                    <a:cs typeface="DejaVu Math TeX Gyre" panose="02000503000000000000" charset="0"/>
                    <a:sym typeface="+mn-ea"/>
                  </a:rPr>
                  <a:t>=1，</a:t>
                </a:r>
                <a14:m>
                  <m:oMath xmlns:m="http://schemas.openxmlformats.org/officeDocument/2006/math">
                    <m:sSub>
                      <m:sSubPr>
                        <m:ctrlPr>
                          <a:rPr lang="en-US" altLang="zh-CN" sz="1600" i="1" dirty="0">
                            <a:latin typeface="DejaVu Math TeX Gyre" panose="02000503000000000000" charset="0"/>
                            <a:cs typeface="DejaVu Math TeX Gyre" panose="02000503000000000000" charset="0"/>
                          </a:rPr>
                        </m:ctrlPr>
                      </m:sSubPr>
                      <m:e>
                        <m:r>
                          <a:rPr lang="en-US" altLang="zh-CN" sz="1600" i="1" dirty="0">
                            <a:latin typeface="DejaVu Math TeX Gyre" panose="02000503000000000000" charset="0"/>
                            <a:cs typeface="DejaVu Math TeX Gyre" panose="02000503000000000000" charset="0"/>
                          </a:rPr>
                          <m:t>𝑤</m:t>
                        </m:r>
                      </m:e>
                      <m:sub>
                        <m:r>
                          <a:rPr lang="en-US" altLang="zh-CN" sz="1600" i="1" dirty="0">
                            <a:latin typeface="DejaVu Math TeX Gyre" panose="02000503000000000000" charset="0"/>
                            <a:cs typeface="DejaVu Math TeX Gyre" panose="02000503000000000000" charset="0"/>
                          </a:rPr>
                          <m:t>𝑑</m:t>
                        </m:r>
                      </m:sub>
                    </m:sSub>
                  </m:oMath>
                </a14:m>
                <a:r>
                  <a:rPr lang="zh-CN" altLang="en-US" sz="1600" dirty="0">
                    <a:latin typeface="DejaVu Math TeX Gyre" panose="02000503000000000000" charset="0"/>
                    <a:cs typeface="DejaVu Math TeX Gyre" panose="02000503000000000000" charset="0"/>
                  </a:rPr>
                  <a:t>也会被归一化</a:t>
                </a:r>
                <a:r>
                  <a:rPr lang="en-US" altLang="zh-CN" sz="1600" dirty="0">
                    <a:latin typeface="DejaVu Math TeX Gyre" panose="02000503000000000000" charset="0"/>
                    <a:cs typeface="DejaVu Math TeX Gyre" panose="02000503000000000000" charset="0"/>
                  </a:rPr>
                  <a:t>，</a:t>
                </a:r>
                <a:r>
                  <a:rPr lang="zh-CN" altLang="en-US" sz="1600" dirty="0">
                    <a:latin typeface="DejaVu Math TeX Gyre" panose="02000503000000000000" charset="0"/>
                    <a:cs typeface="DejaVu Math TeX Gyre" panose="02000503000000000000" charset="0"/>
                  </a:rPr>
                  <a:t>定义为出生在1、</a:t>
                </a:r>
                <a:r>
                  <a:rPr lang="en-US" altLang="zh-CN" sz="1600" dirty="0">
                    <a:latin typeface="DejaVu Math TeX Gyre" panose="02000503000000000000" charset="0"/>
                    <a:cs typeface="DejaVu Math TeX Gyre" panose="02000503000000000000" charset="0"/>
                  </a:rPr>
                  <a:t>skill draw</a:t>
                </a:r>
                <a:r>
                  <a:rPr lang="zh-CN" altLang="en-US" sz="1600" dirty="0">
                    <a:latin typeface="DejaVu Math TeX Gyre" panose="02000503000000000000" charset="0"/>
                    <a:cs typeface="DejaVu Math TeX Gyre" panose="02000503000000000000" charset="0"/>
                  </a:rPr>
                  <a:t>为</a:t>
                </a:r>
                <a:r>
                  <a:rPr lang="en-US" altLang="zh-CN" sz="1600" dirty="0">
                    <a:latin typeface="DejaVu Math TeX Gyre" panose="02000503000000000000" charset="0"/>
                    <a:cs typeface="DejaVu Math TeX Gyre" panose="02000503000000000000" charset="0"/>
                  </a:rPr>
                  <a:t>1</a:t>
                </a:r>
                <a:r>
                  <a:rPr lang="zh-CN" altLang="en-US" sz="1600" dirty="0">
                    <a:latin typeface="DejaVu Math TeX Gyre" panose="02000503000000000000" charset="0"/>
                    <a:cs typeface="DejaVu Math TeX Gyre" panose="02000503000000000000" charset="0"/>
                  </a:rPr>
                  <a:t>的人在目的地</a:t>
                </a:r>
                <a:r>
                  <a:rPr lang="en-US" altLang="zh-CN" sz="1600" dirty="0">
                    <a:latin typeface="DejaVu Math TeX Gyre" panose="02000503000000000000" charset="0"/>
                    <a:cs typeface="DejaVu Math TeX Gyre" panose="02000503000000000000" charset="0"/>
                  </a:rPr>
                  <a:t>d</a:t>
                </a:r>
                <a:r>
                  <a:rPr lang="zh-CN" altLang="en-US" sz="1600" dirty="0">
                    <a:latin typeface="DejaVu Math TeX Gyre" panose="02000503000000000000" charset="0"/>
                    <a:cs typeface="DejaVu Math TeX Gyre" panose="02000503000000000000" charset="0"/>
                  </a:rPr>
                  <a:t>能得到</a:t>
                </a:r>
                <a:r>
                  <a:rPr lang="zh-CN" altLang="en-US" sz="1600" dirty="0">
                    <a:latin typeface="DejaVu Math TeX Gyre" panose="02000503000000000000" charset="0"/>
                    <a:cs typeface="DejaVu Math TeX Gyre" panose="02000503000000000000" charset="0"/>
                  </a:rPr>
                  <a:t>的工资</a:t>
                </a:r>
                <a:endParaRPr lang="zh-CN" altLang="en-US" sz="1600" dirty="0">
                  <a:latin typeface="DejaVu Math TeX Gyre" panose="02000503000000000000" charset="0"/>
                  <a:cs typeface="DejaVu Math TeX Gyre" panose="02000503000000000000" charset="0"/>
                </a:endParaRPr>
              </a:p>
            </p:txBody>
          </p:sp>
        </mc:Choice>
        <mc:Fallback>
          <p:sp>
            <p:nvSpPr>
              <p:cNvPr id="20" name="文本框 19"/>
              <p:cNvSpPr txBox="1">
                <a:spLocks noRot="1" noChangeAspect="1" noMove="1" noResize="1" noEditPoints="1" noAdjustHandles="1" noChangeArrowheads="1" noChangeShapeType="1" noTextEdit="1"/>
              </p:cNvSpPr>
              <p:nvPr/>
            </p:nvSpPr>
            <p:spPr>
              <a:xfrm>
                <a:off x="8183245" y="4599940"/>
                <a:ext cx="2922905" cy="172529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识别</a:t>
                </a:r>
                <a:r>
                  <a:rPr lang="en-US" altLang="zh-CN" sz="2800" b="1" dirty="0">
                    <a:latin typeface="+mn-lt"/>
                  </a:rPr>
                  <a:t>：Fr</a:t>
                </a:r>
                <a:r>
                  <a:rPr lang="en-US" altLang="en-US" sz="2800" b="1" dirty="0">
                    <a:latin typeface="+mn-lt"/>
                  </a:rPr>
                  <a:t>é</a:t>
                </a:r>
                <a:r>
                  <a:rPr lang="en-US" altLang="zh-CN" sz="2800" b="1" dirty="0">
                    <a:latin typeface="+mn-lt"/>
                  </a:rPr>
                  <a:t>chet </a:t>
                </a:r>
                <a:r>
                  <a:rPr lang="zh-CN" altLang="en-US" sz="2800" b="1" dirty="0">
                    <a:latin typeface="+mn-lt"/>
                  </a:rPr>
                  <a:t>参数 {</a:t>
                </a:r>
                <a14:m>
                  <m:oMath xmlns:m="http://schemas.openxmlformats.org/officeDocument/2006/math">
                    <m:r>
                      <a:rPr lang="en-US" altLang="zh-CN" sz="2800" b="1" i="1" dirty="0">
                        <a:latin typeface="DejaVu Math TeX Gyre" panose="02000503000000000000" charset="0"/>
                        <a:cs typeface="DejaVu Math TeX Gyre" panose="02000503000000000000" charset="0"/>
                      </a:rPr>
                      <m:t>𝜽</m:t>
                    </m:r>
                  </m:oMath>
                </a14:m>
                <a:r>
                  <a:rPr lang="en-US" altLang="zh-CN" sz="2800" b="1" i="1" dirty="0">
                    <a:latin typeface="+mn-lt"/>
                  </a:rPr>
                  <a:t>, </a:t>
                </a:r>
                <a14:m>
                  <m:oMath xmlns:m="http://schemas.openxmlformats.org/officeDocument/2006/math">
                    <m:r>
                      <a:rPr lang="en-US" altLang="zh-CN" sz="2800" b="1" i="1" dirty="0">
                        <a:latin typeface="DejaVu Math TeX Gyre" panose="02000503000000000000" charset="0"/>
                        <a:cs typeface="DejaVu Math TeX Gyre" panose="02000503000000000000" charset="0"/>
                      </a:rPr>
                      <m:t>𝝆</m:t>
                    </m:r>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4" name="图片 3" descr="54c326d7763e9e429a7de7f5aacac59d"/>
          <p:cNvPicPr>
            <a:picLocks noChangeAspect="1"/>
          </p:cNvPicPr>
          <p:nvPr/>
        </p:nvPicPr>
        <p:blipFill>
          <a:blip r:embed="rId2"/>
          <a:srcRect r="10607"/>
          <a:stretch>
            <a:fillRect/>
          </a:stretch>
        </p:blipFill>
        <p:spPr>
          <a:xfrm>
            <a:off x="2565400" y="1935480"/>
            <a:ext cx="4592955" cy="588010"/>
          </a:xfrm>
          <a:prstGeom prst="rect">
            <a:avLst/>
          </a:prstGeom>
        </p:spPr>
      </p:pic>
      <mc:AlternateContent xmlns:mc="http://schemas.openxmlformats.org/markup-compatibility/2006">
        <mc:Choice xmlns:a14="http://schemas.microsoft.com/office/drawing/2010/main" Requires="a14">
          <p:sp>
            <p:nvSpPr>
              <p:cNvPr id="27" name="文本框 26"/>
              <p:cNvSpPr txBox="1"/>
              <p:nvPr/>
            </p:nvSpPr>
            <p:spPr>
              <a:xfrm>
                <a:off x="2075815" y="1076325"/>
                <a:ext cx="5791835" cy="368300"/>
              </a:xfrm>
              <a:prstGeom prst="rect">
                <a:avLst/>
              </a:prstGeom>
              <a:solidFill>
                <a:schemeClr val="bg2"/>
              </a:solidFill>
            </p:spPr>
            <p:txBody>
              <a:bodyPr wrap="square">
                <a:spAutoFit/>
              </a:bodyPr>
              <a:lstStyle/>
              <a:p>
                <a:pPr algn="ctr">
                  <a:buClrTx/>
                  <a:buSzTx/>
                  <a:buFontTx/>
                </a:pPr>
                <a:r>
                  <a:rPr lang="zh-CN" altLang="en-US" b="1" kern="100" dirty="0">
                    <a:solidFill>
                      <a:srgbClr val="69025E"/>
                    </a:solidFill>
                    <a:effectLst/>
                    <a:latin typeface="+mj-ea"/>
                    <a:ea typeface="+mj-ea"/>
                  </a:rPr>
                  <a:t>技能水平离散程度</a:t>
                </a:r>
                <a14:m>
                  <m:oMath xmlns:m="http://schemas.openxmlformats.org/officeDocument/2006/math">
                    <m:r>
                      <a:rPr lang="zh-CN" altLang="en-US" b="1" kern="100" dirty="0">
                        <a:solidFill>
                          <a:srgbClr val="69025E"/>
                        </a:solidFill>
                        <a:effectLst/>
                        <a:latin typeface="+mj-ea"/>
                        <a:ea typeface="+mj-ea"/>
                      </a:rPr>
                      <m:t>𝜽</m:t>
                    </m:r>
                  </m:oMath>
                </a14:m>
                <a:endParaRPr lang="en-US" altLang="zh-CN" sz="1800" kern="100" dirty="0">
                  <a:solidFill>
                    <a:srgbClr val="69025E"/>
                  </a:solidFill>
                  <a:effectLst/>
                  <a:latin typeface="+mj-ea"/>
                  <a:ea typeface="+mj-ea"/>
                </a:endParaRPr>
              </a:p>
            </p:txBody>
          </p:sp>
        </mc:Choice>
        <mc:Fallback>
          <p:sp>
            <p:nvSpPr>
              <p:cNvPr id="27" name="文本框 26"/>
              <p:cNvSpPr txBox="1">
                <a:spLocks noRot="1" noChangeAspect="1" noMove="1" noResize="1" noEditPoints="1" noAdjustHandles="1" noChangeArrowheads="1" noChangeShapeType="1" noTextEdit="1"/>
              </p:cNvSpPr>
              <p:nvPr/>
            </p:nvSpPr>
            <p:spPr>
              <a:xfrm>
                <a:off x="2075815" y="1076325"/>
                <a:ext cx="5791835" cy="368300"/>
              </a:xfrm>
              <a:prstGeom prst="rect">
                <a:avLst/>
              </a:prstGeom>
              <a:blipFill rotWithShape="1">
                <a:blip r:embed="rId3"/>
                <a:stretch>
                  <a:fillRect/>
                </a:stretch>
              </a:blipFill>
            </p:spPr>
            <p:txBody>
              <a:bodyPr/>
              <a:lstStyle/>
              <a:p>
                <a:r>
                  <a:rPr lang="zh-CN" altLang="en-US">
                    <a:noFill/>
                  </a:rPr>
                  <a:t> </a:t>
                </a:r>
              </a:p>
            </p:txBody>
          </p:sp>
        </mc:Fallback>
      </mc:AlternateContent>
      <p:grpSp>
        <p:nvGrpSpPr>
          <p:cNvPr id="17" name="组合 16"/>
          <p:cNvGrpSpPr/>
          <p:nvPr/>
        </p:nvGrpSpPr>
        <p:grpSpPr>
          <a:xfrm>
            <a:off x="2075815" y="1524000"/>
            <a:ext cx="5793105" cy="2479675"/>
            <a:chOff x="3107" y="5400"/>
            <a:chExt cx="4038" cy="4349"/>
          </a:xfrm>
        </p:grpSpPr>
        <p:sp>
          <p:nvSpPr>
            <p:cNvPr id="13" name="矩形 12"/>
            <p:cNvSpPr/>
            <p:nvPr/>
          </p:nvSpPr>
          <p:spPr>
            <a:xfrm>
              <a:off x="3107" y="5423"/>
              <a:ext cx="4038"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4037" cy="646"/>
            </a:xfrm>
            <a:prstGeom prst="rect">
              <a:avLst/>
            </a:prstGeom>
            <a:solidFill>
              <a:srgbClr val="69025E"/>
            </a:solidFill>
          </p:spPr>
          <p:txBody>
            <a:bodyPr wrap="square">
              <a:spAutoFit/>
            </a:bodyPr>
            <a:lstStyle/>
            <a:p>
              <a:pPr algn="ctr"/>
              <a:r>
                <a:rPr lang="zh-CN" altLang="en-US" b="1" dirty="0">
                  <a:solidFill>
                    <a:schemeClr val="bg1"/>
                  </a:solidFill>
                </a:rPr>
                <a:t>识别方法</a:t>
              </a:r>
              <a:endParaRPr lang="zh-CN" altLang="en-US" b="1" dirty="0">
                <a:solidFill>
                  <a:schemeClr val="bg1"/>
                </a:solidFill>
              </a:endParaRPr>
            </a:p>
          </p:txBody>
        </p:sp>
      </p:grpSp>
      <mc:AlternateContent xmlns:mc="http://schemas.openxmlformats.org/markup-compatibility/2006">
        <mc:Choice xmlns:a14="http://schemas.microsoft.com/office/drawing/2010/main" Requires="a14">
          <p:sp>
            <p:nvSpPr>
              <p:cNvPr id="6" name="文本框 5"/>
              <p:cNvSpPr txBox="1"/>
              <p:nvPr/>
            </p:nvSpPr>
            <p:spPr>
              <a:xfrm>
                <a:off x="2095500" y="2555875"/>
                <a:ext cx="5789930" cy="1362710"/>
              </a:xfrm>
              <a:prstGeom prst="rect">
                <a:avLst/>
              </a:prstGeom>
              <a:noFill/>
            </p:spPr>
            <p:txBody>
              <a:bodyPr wrap="square" rtlCol="0">
                <a:noAutofit/>
              </a:bodyPr>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将前文得到的平均工资方程取对数后得到上式</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在控制目的地</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出生地固定效应后</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利用平均工资对迁移比例的弹性识别</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识别上</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与特征事实的</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Fact 3 selection</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对应</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直觉上</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越大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不同人之间的技能</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水平越同质</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→selection</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越弱</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先迁入目的地和后迁入的劳动者工资变化不大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即</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1/</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越小</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095500" y="2555875"/>
                <a:ext cx="5789930" cy="1362710"/>
              </a:xfrm>
              <a:prstGeom prst="rect">
                <a:avLst/>
              </a:prstGeom>
              <a:blipFill rotWithShape="1">
                <a:blip r:embed="rId4"/>
                <a:stretch>
                  <a:fillRect/>
                </a:stretch>
              </a:blipFill>
            </p:spPr>
            <p:txBody>
              <a:bodyPr/>
              <a:lstStyle/>
              <a:p>
                <a:r>
                  <a:rPr lang="zh-CN" altLang="en-US">
                    <a:noFill/>
                  </a:rPr>
                  <a:t> </a:t>
                </a:r>
              </a:p>
            </p:txBody>
          </p:sp>
        </mc:Fallback>
      </mc:AlternateContent>
      <p:sp>
        <p:nvSpPr>
          <p:cNvPr id="40" name="矩形 39"/>
          <p:cNvSpPr/>
          <p:nvPr/>
        </p:nvSpPr>
        <p:spPr>
          <a:xfrm>
            <a:off x="4688840" y="1891030"/>
            <a:ext cx="350520" cy="58864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识别</a:t>
                </a:r>
                <a:r>
                  <a:rPr lang="en-US" altLang="zh-CN" sz="2800" b="1" dirty="0">
                    <a:latin typeface="+mn-lt"/>
                  </a:rPr>
                  <a:t>：Fr</a:t>
                </a:r>
                <a:r>
                  <a:rPr lang="en-US" altLang="en-US" sz="2800" b="1" dirty="0">
                    <a:latin typeface="+mn-lt"/>
                  </a:rPr>
                  <a:t>é</a:t>
                </a:r>
                <a:r>
                  <a:rPr lang="en-US" altLang="zh-CN" sz="2800" b="1" dirty="0">
                    <a:latin typeface="+mn-lt"/>
                  </a:rPr>
                  <a:t>chet </a:t>
                </a:r>
                <a:r>
                  <a:rPr lang="zh-CN" altLang="en-US" sz="2800" b="1" dirty="0">
                    <a:latin typeface="+mn-lt"/>
                  </a:rPr>
                  <a:t>参数 {</a:t>
                </a:r>
                <a14:m>
                  <m:oMath xmlns:m="http://schemas.openxmlformats.org/officeDocument/2006/math">
                    <m:r>
                      <a:rPr lang="en-US" altLang="zh-CN" sz="2800" b="1" i="1" dirty="0">
                        <a:latin typeface="DejaVu Math TeX Gyre" panose="02000503000000000000" charset="0"/>
                        <a:cs typeface="DejaVu Math TeX Gyre" panose="02000503000000000000" charset="0"/>
                      </a:rPr>
                      <m:t>𝜽</m:t>
                    </m:r>
                  </m:oMath>
                </a14:m>
                <a:r>
                  <a:rPr lang="en-US" altLang="zh-CN" sz="2800" b="1" i="1" dirty="0">
                    <a:latin typeface="+mn-lt"/>
                  </a:rPr>
                  <a:t>, </a:t>
                </a:r>
                <a14:m>
                  <m:oMath xmlns:m="http://schemas.openxmlformats.org/officeDocument/2006/math">
                    <m:r>
                      <a:rPr lang="en-US" altLang="zh-CN" sz="2800" b="1" i="1" dirty="0">
                        <a:latin typeface="DejaVu Math TeX Gyre" panose="02000503000000000000" charset="0"/>
                        <a:cs typeface="DejaVu Math TeX Gyre" panose="02000503000000000000" charset="0"/>
                      </a:rPr>
                      <m:t>𝝆</m:t>
                    </m:r>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4" name="图片 3" descr="54c326d7763e9e429a7de7f5aacac59d"/>
          <p:cNvPicPr>
            <a:picLocks noChangeAspect="1"/>
          </p:cNvPicPr>
          <p:nvPr/>
        </p:nvPicPr>
        <p:blipFill>
          <a:blip r:embed="rId2"/>
          <a:srcRect r="10607"/>
          <a:stretch>
            <a:fillRect/>
          </a:stretch>
        </p:blipFill>
        <p:spPr>
          <a:xfrm>
            <a:off x="2565400" y="1935480"/>
            <a:ext cx="4592955" cy="588010"/>
          </a:xfrm>
          <a:prstGeom prst="rect">
            <a:avLst/>
          </a:prstGeom>
        </p:spPr>
      </p:pic>
      <mc:AlternateContent xmlns:mc="http://schemas.openxmlformats.org/markup-compatibility/2006">
        <mc:Choice xmlns:a14="http://schemas.microsoft.com/office/drawing/2010/main" Requires="a14">
          <p:sp>
            <p:nvSpPr>
              <p:cNvPr id="27" name="文本框 26"/>
              <p:cNvSpPr txBox="1"/>
              <p:nvPr/>
            </p:nvSpPr>
            <p:spPr>
              <a:xfrm>
                <a:off x="2075815" y="1076325"/>
                <a:ext cx="5791835" cy="368300"/>
              </a:xfrm>
              <a:prstGeom prst="rect">
                <a:avLst/>
              </a:prstGeom>
              <a:solidFill>
                <a:schemeClr val="bg2"/>
              </a:solidFill>
            </p:spPr>
            <p:txBody>
              <a:bodyPr wrap="square">
                <a:spAutoFit/>
              </a:bodyPr>
              <a:lstStyle/>
              <a:p>
                <a:pPr algn="ctr">
                  <a:buClrTx/>
                  <a:buSzTx/>
                  <a:buFontTx/>
                </a:pPr>
                <a:r>
                  <a:rPr lang="zh-CN" altLang="en-US" b="1" kern="100" dirty="0">
                    <a:solidFill>
                      <a:srgbClr val="69025E"/>
                    </a:solidFill>
                    <a:effectLst/>
                    <a:latin typeface="+mj-ea"/>
                    <a:ea typeface="+mj-ea"/>
                  </a:rPr>
                  <a:t>技能水平离散程度</a:t>
                </a:r>
                <a14:m>
                  <m:oMath xmlns:m="http://schemas.openxmlformats.org/officeDocument/2006/math">
                    <m:r>
                      <a:rPr lang="zh-CN" altLang="en-US" b="1" kern="100" dirty="0">
                        <a:solidFill>
                          <a:srgbClr val="69025E"/>
                        </a:solidFill>
                        <a:effectLst/>
                        <a:latin typeface="+mj-ea"/>
                        <a:ea typeface="+mj-ea"/>
                      </a:rPr>
                      <m:t>𝜽</m:t>
                    </m:r>
                  </m:oMath>
                </a14:m>
                <a:endParaRPr lang="en-US" altLang="zh-CN" sz="1800" kern="100" dirty="0">
                  <a:solidFill>
                    <a:srgbClr val="69025E"/>
                  </a:solidFill>
                  <a:effectLst/>
                  <a:latin typeface="+mj-ea"/>
                  <a:ea typeface="+mj-ea"/>
                </a:endParaRPr>
              </a:p>
            </p:txBody>
          </p:sp>
        </mc:Choice>
        <mc:Fallback>
          <p:sp>
            <p:nvSpPr>
              <p:cNvPr id="27" name="文本框 26"/>
              <p:cNvSpPr txBox="1">
                <a:spLocks noRot="1" noChangeAspect="1" noMove="1" noResize="1" noEditPoints="1" noAdjustHandles="1" noChangeArrowheads="1" noChangeShapeType="1" noTextEdit="1"/>
              </p:cNvSpPr>
              <p:nvPr/>
            </p:nvSpPr>
            <p:spPr>
              <a:xfrm>
                <a:off x="2075815" y="1076325"/>
                <a:ext cx="5791835" cy="368300"/>
              </a:xfrm>
              <a:prstGeom prst="rect">
                <a:avLst/>
              </a:prstGeom>
              <a:blipFill rotWithShape="1">
                <a:blip r:embed="rId3"/>
                <a:stretch>
                  <a:fillRect/>
                </a:stretch>
              </a:blipFill>
            </p:spPr>
            <p:txBody>
              <a:bodyPr/>
              <a:lstStyle/>
              <a:p>
                <a:r>
                  <a:rPr lang="zh-CN" altLang="en-US">
                    <a:noFill/>
                  </a:rPr>
                  <a:t> </a:t>
                </a:r>
              </a:p>
            </p:txBody>
          </p:sp>
        </mc:Fallback>
      </mc:AlternateContent>
      <p:grpSp>
        <p:nvGrpSpPr>
          <p:cNvPr id="17" name="组合 16"/>
          <p:cNvGrpSpPr/>
          <p:nvPr/>
        </p:nvGrpSpPr>
        <p:grpSpPr>
          <a:xfrm>
            <a:off x="2075815" y="1524000"/>
            <a:ext cx="5793105" cy="2479675"/>
            <a:chOff x="3107" y="5400"/>
            <a:chExt cx="4038" cy="4349"/>
          </a:xfrm>
        </p:grpSpPr>
        <p:sp>
          <p:nvSpPr>
            <p:cNvPr id="13" name="矩形 12"/>
            <p:cNvSpPr/>
            <p:nvPr/>
          </p:nvSpPr>
          <p:spPr>
            <a:xfrm>
              <a:off x="3107" y="5423"/>
              <a:ext cx="4038"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4037" cy="646"/>
            </a:xfrm>
            <a:prstGeom prst="rect">
              <a:avLst/>
            </a:prstGeom>
            <a:solidFill>
              <a:srgbClr val="69025E"/>
            </a:solidFill>
          </p:spPr>
          <p:txBody>
            <a:bodyPr wrap="square">
              <a:spAutoFit/>
            </a:bodyPr>
            <a:lstStyle/>
            <a:p>
              <a:pPr algn="ctr"/>
              <a:r>
                <a:rPr lang="zh-CN" altLang="en-US" b="1" dirty="0">
                  <a:solidFill>
                    <a:schemeClr val="bg1"/>
                  </a:solidFill>
                </a:rPr>
                <a:t>识别方法</a:t>
              </a:r>
              <a:endParaRPr lang="zh-CN" altLang="en-US" b="1" dirty="0">
                <a:solidFill>
                  <a:schemeClr val="bg1"/>
                </a:solidFill>
              </a:endParaRPr>
            </a:p>
          </p:txBody>
        </p:sp>
      </p:grpSp>
      <mc:AlternateContent xmlns:mc="http://schemas.openxmlformats.org/markup-compatibility/2006">
        <mc:Choice xmlns:a14="http://schemas.microsoft.com/office/drawing/2010/main" Requires="a14">
          <p:sp>
            <p:nvSpPr>
              <p:cNvPr id="6" name="文本框 5"/>
              <p:cNvSpPr txBox="1"/>
              <p:nvPr/>
            </p:nvSpPr>
            <p:spPr>
              <a:xfrm>
                <a:off x="2095500" y="2555875"/>
                <a:ext cx="5789930" cy="1362710"/>
              </a:xfrm>
              <a:prstGeom prst="rect">
                <a:avLst/>
              </a:prstGeom>
              <a:noFill/>
            </p:spPr>
            <p:txBody>
              <a:bodyPr wrap="square" rtlCol="0">
                <a:noAutofit/>
              </a:bodyPr>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将前文得到的平均工资方程取对数后得到上式</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在控制目的地</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出生地固定效应后</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利用平均工资对迁移比例的弹性识别</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识别上</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与特征事实的</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Fact 3 selection</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对应</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直觉上</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越大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不同人之间的技能</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水平越同质</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→selection</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越弱</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先迁入目的地和后迁入的劳动者工资变化不大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即</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1/</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越小</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095500" y="2555875"/>
                <a:ext cx="5789930" cy="1362710"/>
              </a:xfrm>
              <a:prstGeom prst="rect">
                <a:avLst/>
              </a:prstGeom>
              <a:blipFill rotWithShape="1">
                <a:blip r:embed="rId4"/>
                <a:stretch>
                  <a:fillRect/>
                </a:stretch>
              </a:blipFill>
            </p:spPr>
            <p:txBody>
              <a:bodyPr/>
              <a:lstStyle/>
              <a:p>
                <a:r>
                  <a:rPr lang="zh-CN" altLang="en-US">
                    <a:noFill/>
                  </a:rPr>
                  <a:t> </a:t>
                </a:r>
              </a:p>
            </p:txBody>
          </p:sp>
        </mc:Fallback>
      </mc:AlternateContent>
      <p:grpSp>
        <p:nvGrpSpPr>
          <p:cNvPr id="32" name="组合 31"/>
          <p:cNvGrpSpPr/>
          <p:nvPr/>
        </p:nvGrpSpPr>
        <p:grpSpPr>
          <a:xfrm>
            <a:off x="9153432" y="4497705"/>
            <a:ext cx="2202908" cy="1260584"/>
            <a:chOff x="13066" y="7073"/>
            <a:chExt cx="3469" cy="1985"/>
          </a:xfrm>
        </p:grpSpPr>
        <p:grpSp>
          <p:nvGrpSpPr>
            <p:cNvPr id="10" name="组合 9"/>
            <p:cNvGrpSpPr/>
            <p:nvPr/>
          </p:nvGrpSpPr>
          <p:grpSpPr>
            <a:xfrm>
              <a:off x="13066" y="7073"/>
              <a:ext cx="3469" cy="1985"/>
              <a:chOff x="12654" y="7031"/>
              <a:chExt cx="4841" cy="2710"/>
            </a:xfrm>
          </p:grpSpPr>
          <p:grpSp>
            <p:nvGrpSpPr>
              <p:cNvPr id="25" name="组合 24"/>
              <p:cNvGrpSpPr/>
              <p:nvPr/>
            </p:nvGrpSpPr>
            <p:grpSpPr>
              <a:xfrm>
                <a:off x="12654" y="7031"/>
                <a:ext cx="4841" cy="2710"/>
                <a:chOff x="5768" y="7031"/>
                <a:chExt cx="4841" cy="2710"/>
              </a:xfrm>
            </p:grpSpPr>
            <mc:AlternateContent xmlns:mc="http://schemas.openxmlformats.org/markup-compatibility/2006">
              <mc:Choice xmlns:a14="http://schemas.microsoft.com/office/drawing/2010/main" Requires="a14">
                <p:sp>
                  <p:nvSpPr>
                    <p:cNvPr id="19" name="文本框 18"/>
                    <p:cNvSpPr txBox="1"/>
                    <p:nvPr/>
                  </p:nvSpPr>
                  <p:spPr>
                    <a:xfrm>
                      <a:off x="7506" y="7031"/>
                      <a:ext cx="1213" cy="796"/>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Sup>
                              <m:sSubSupPr>
                                <m:ctrlPr>
                                  <a:rPr lang="en-US" altLang="zh-CN" i="1" dirty="0">
                                    <a:latin typeface="DejaVu Math TeX Gyre" panose="02000503000000000000" charset="0"/>
                                    <a:cs typeface="DejaVu Math TeX Gyre" panose="02000503000000000000" charset="0"/>
                                  </a:rPr>
                                </m:ctrlPr>
                              </m:sSubSupPr>
                              <m:e>
                                <m:r>
                                  <a:rPr lang="en-US" altLang="zh-CN" i="1" dirty="0">
                                    <a:latin typeface="DejaVu Math TeX Gyre" panose="02000503000000000000" charset="0"/>
                                    <a:ea typeface="宋体" charset="0"/>
                                    <a:cs typeface="DejaVu Math TeX Gyre" panose="02000503000000000000" charset="0"/>
                                  </a:rPr>
                                  <m:t>𝜖</m:t>
                                </m:r>
                              </m:e>
                              <m:sub>
                                <m:r>
                                  <a:rPr lang="en-US" altLang="zh-CN" i="1" dirty="0">
                                    <a:latin typeface="DejaVu Math TeX Gyre" panose="02000503000000000000" charset="0"/>
                                    <a:cs typeface="DejaVu Math TeX Gyre" panose="02000503000000000000" charset="0"/>
                                  </a:rPr>
                                  <m:t>𝑑𝑜</m:t>
                                </m:r>
                              </m:sub>
                              <m:sup>
                                <m:r>
                                  <a:rPr lang="en-US" altLang="zh-CN" i="1" dirty="0">
                                    <a:latin typeface="DejaVu Math TeX Gyre" panose="02000503000000000000" charset="0"/>
                                    <a:cs typeface="DejaVu Math TeX Gyre" panose="02000503000000000000" charset="0"/>
                                  </a:rPr>
                                  <m:t>𝑤</m:t>
                                </m:r>
                              </m:sup>
                            </m:sSubSup>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7506" y="7031"/>
                      <a:ext cx="1213" cy="796"/>
                    </a:xfrm>
                    <a:prstGeom prst="rect">
                      <a:avLst/>
                    </a:prstGeom>
                    <a:blipFill rotWithShape="1">
                      <a:blip r:embed="rId5"/>
                    </a:blipFill>
                  </p:spPr>
                  <p:txBody>
                    <a:bodyPr/>
                    <a:lstStyle/>
                    <a:p>
                      <a:r>
                        <a:rPr lang="zh-CN" altLang="en-US">
                          <a:noFill/>
                        </a:rPr>
                        <a:t> </a:t>
                      </a:r>
                    </a:p>
                  </p:txBody>
                </p:sp>
              </mc:Fallback>
            </mc:AlternateContent>
            <p:cxnSp>
              <p:nvCxnSpPr>
                <p:cNvPr id="20" name="直接箭头连接符 19"/>
                <p:cNvCxnSpPr>
                  <a:stCxn id="19" idx="2"/>
                  <a:endCxn id="22" idx="0"/>
                </p:cNvCxnSpPr>
                <p:nvPr/>
              </p:nvCxnSpPr>
              <p:spPr>
                <a:xfrm flipH="1">
                  <a:off x="6376" y="7827"/>
                  <a:ext cx="1737" cy="1078"/>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9" idx="2"/>
                  <a:endCxn id="23" idx="0"/>
                </p:cNvCxnSpPr>
                <p:nvPr/>
              </p:nvCxnSpPr>
              <p:spPr>
                <a:xfrm>
                  <a:off x="8113" y="7827"/>
                  <a:ext cx="1891" cy="1118"/>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文本框 21"/>
                    <p:cNvSpPr txBox="1"/>
                    <p:nvPr/>
                  </p:nvSpPr>
                  <p:spPr>
                    <a:xfrm>
                      <a:off x="5768" y="8905"/>
                      <a:ext cx="1213" cy="793"/>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𝜋</m:t>
                                </m:r>
                              </m:e>
                              <m:sub>
                                <m:r>
                                  <a:rPr lang="en-US" altLang="zh-CN" i="1" dirty="0">
                                    <a:latin typeface="DejaVu Math TeX Gyre" panose="02000503000000000000" charset="0"/>
                                    <a:cs typeface="DejaVu Math TeX Gyre" panose="02000503000000000000" charset="0"/>
                                  </a:rPr>
                                  <m:t>𝑑𝑜</m:t>
                                </m:r>
                              </m:sub>
                            </m:sSub>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5768" y="8905"/>
                      <a:ext cx="1213" cy="793"/>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9396" y="8945"/>
                      <a:ext cx="1213" cy="796"/>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acc>
                                  <m:accPr>
                                    <m:chr m:val="̅"/>
                                    <m:ctrlPr>
                                      <a:rPr lang="en-US" altLang="zh-CN" i="1" dirty="0">
                                        <a:latin typeface="DejaVu Math TeX Gyre" panose="02000503000000000000" charset="0"/>
                                        <a:cs typeface="DejaVu Math TeX Gyre" panose="02000503000000000000" charset="0"/>
                                      </a:rPr>
                                    </m:ctrlPr>
                                  </m:accPr>
                                  <m:e>
                                    <m:r>
                                      <a:rPr lang="en-US" altLang="zh-CN" i="1" dirty="0">
                                        <a:latin typeface="DejaVu Math TeX Gyre" panose="02000503000000000000" charset="0"/>
                                        <a:cs typeface="DejaVu Math TeX Gyre" panose="02000503000000000000" charset="0"/>
                                      </a:rPr>
                                      <m:t>𝑤𝑎𝑔𝑒</m:t>
                                    </m:r>
                                  </m:e>
                                </m:acc>
                              </m:e>
                              <m:sub>
                                <m:r>
                                  <a:rPr lang="en-US" altLang="zh-CN" i="1" dirty="0">
                                    <a:latin typeface="DejaVu Math TeX Gyre" panose="02000503000000000000" charset="0"/>
                                    <a:cs typeface="DejaVu Math TeX Gyre" panose="02000503000000000000" charset="0"/>
                                  </a:rPr>
                                  <m:t>𝑑𝑜</m:t>
                                </m:r>
                              </m:sub>
                            </m:sSub>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23" name="文本框 22"/>
                    <p:cNvSpPr txBox="1">
                      <a:spLocks noRot="1" noChangeAspect="1" noMove="1" noResize="1" noEditPoints="1" noAdjustHandles="1" noChangeArrowheads="1" noChangeShapeType="1" noTextEdit="1"/>
                    </p:cNvSpPr>
                    <p:nvPr/>
                  </p:nvSpPr>
                  <p:spPr>
                    <a:xfrm>
                      <a:off x="9396" y="8945"/>
                      <a:ext cx="1213" cy="796"/>
                    </a:xfrm>
                    <a:prstGeom prst="rect">
                      <a:avLst/>
                    </a:prstGeom>
                    <a:blipFill rotWithShape="1">
                      <a:blip r:embed="rId7"/>
                    </a:blipFill>
                  </p:spPr>
                  <p:txBody>
                    <a:bodyPr/>
                    <a:lstStyle/>
                    <a:p>
                      <a:r>
                        <a:rPr lang="zh-CN" altLang="en-US">
                          <a:noFill/>
                        </a:rPr>
                        <a:t> </a:t>
                      </a:r>
                    </a:p>
                  </p:txBody>
                </p:sp>
              </mc:Fallback>
            </mc:AlternateContent>
            <p:cxnSp>
              <p:nvCxnSpPr>
                <p:cNvPr id="24" name="直接箭头连接符 23"/>
                <p:cNvCxnSpPr>
                  <a:stCxn id="22" idx="3"/>
                  <a:endCxn id="23" idx="1"/>
                </p:cNvCxnSpPr>
                <p:nvPr/>
              </p:nvCxnSpPr>
              <p:spPr>
                <a:xfrm>
                  <a:off x="6981" y="9303"/>
                  <a:ext cx="2416" cy="41"/>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grpSp>
          <p:sp>
            <p:nvSpPr>
              <p:cNvPr id="8" name="文本框 7"/>
              <p:cNvSpPr txBox="1"/>
              <p:nvPr/>
            </p:nvSpPr>
            <p:spPr>
              <a:xfrm>
                <a:off x="13695" y="7901"/>
                <a:ext cx="1606" cy="561"/>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grpSp>
        <p:sp>
          <p:nvSpPr>
            <p:cNvPr id="26" name="文本框 25"/>
            <p:cNvSpPr txBox="1"/>
            <p:nvPr/>
          </p:nvSpPr>
          <p:spPr>
            <a:xfrm>
              <a:off x="15181" y="7710"/>
              <a:ext cx="1151" cy="411"/>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grpSp>
      <p:sp>
        <p:nvSpPr>
          <p:cNvPr id="31" name="箭头: 下 15"/>
          <p:cNvSpPr/>
          <p:nvPr/>
        </p:nvSpPr>
        <p:spPr>
          <a:xfrm>
            <a:off x="4688840" y="3994785"/>
            <a:ext cx="350520" cy="26035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6" name="矩形: 圆角 7"/>
              <p:cNvSpPr/>
              <p:nvPr/>
            </p:nvSpPr>
            <p:spPr>
              <a:xfrm>
                <a:off x="2073910" y="4255770"/>
                <a:ext cx="5811520" cy="219646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342900" indent="-342900" algn="l">
                  <a:buClrTx/>
                  <a:buSzTx/>
                  <a:buFont typeface="Arial" panose="020B0604020202090204" pitchFamily="34" charset="0"/>
                  <a:buChar char="•"/>
                </a:pPr>
                <a:r>
                  <a:rPr lang="zh-CN" altLang="en-US" sz="1600" b="1">
                    <a:solidFill>
                      <a:srgbClr val="660066"/>
                    </a:solidFill>
                    <a:sym typeface="+mn-ea"/>
                  </a:rPr>
                  <a:t>内生性问题</a:t>
                </a:r>
                <a:r>
                  <a:rPr lang="en-US" altLang="zh-CN" sz="1600" b="1">
                    <a:solidFill>
                      <a:srgbClr val="660066"/>
                    </a:solidFill>
                    <a:sym typeface="+mn-ea"/>
                  </a:rPr>
                  <a:t>：</a:t>
                </a:r>
                <a:r>
                  <a:rPr lang="zh-CN" altLang="en-US" sz="1600">
                    <a:solidFill>
                      <a:schemeClr val="tx1"/>
                    </a:solidFill>
                    <a:sym typeface="+mn-ea"/>
                  </a:rPr>
                  <a:t>误差项可能同时影响工资</a:t>
                </a:r>
                <a:r>
                  <a:rPr lang="en-US" altLang="zh-CN" sz="1600">
                    <a:solidFill>
                      <a:schemeClr val="tx1"/>
                    </a:solidFill>
                    <a:sym typeface="+mn-ea"/>
                  </a:rPr>
                  <a:t>、</a:t>
                </a:r>
                <a:r>
                  <a:rPr lang="zh-CN" altLang="en-US" sz="1600">
                    <a:solidFill>
                      <a:schemeClr val="tx1"/>
                    </a:solidFill>
                    <a:sym typeface="+mn-ea"/>
                  </a:rPr>
                  <a:t>迁移比例</a:t>
                </a:r>
                <a:r>
                  <a:rPr lang="en-US" altLang="zh-CN" sz="1600">
                    <a:solidFill>
                      <a:schemeClr val="tx1"/>
                    </a:solidFill>
                    <a:sym typeface="+mn-ea"/>
                  </a:rPr>
                  <a:t>。</a:t>
                </a:r>
                <a:r>
                  <a:rPr lang="zh-CN" altLang="en-US" sz="1600">
                    <a:solidFill>
                      <a:schemeClr val="tx1"/>
                    </a:solidFill>
                    <a:sym typeface="+mn-ea"/>
                  </a:rPr>
                  <a:t>例如</a:t>
                </a:r>
                <a:r>
                  <a:rPr lang="en-US" altLang="zh-CN" sz="1600">
                    <a:solidFill>
                      <a:schemeClr val="tx1"/>
                    </a:solidFill>
                    <a:sym typeface="+mn-ea"/>
                  </a:rPr>
                  <a:t>，</a:t>
                </a:r>
                <a:r>
                  <a:rPr lang="zh-CN" altLang="en-US" sz="1600">
                    <a:solidFill>
                      <a:schemeClr val="tx1"/>
                    </a:solidFill>
                    <a:sym typeface="+mn-ea"/>
                  </a:rPr>
                  <a:t>目的地</a:t>
                </a:r>
                <a:r>
                  <a:rPr lang="en-US" altLang="zh-CN" sz="1600">
                    <a:solidFill>
                      <a:schemeClr val="tx1"/>
                    </a:solidFill>
                    <a:sym typeface="+mn-ea"/>
                  </a:rPr>
                  <a:t>d</a:t>
                </a:r>
                <a:r>
                  <a:rPr lang="zh-CN" altLang="en-US" sz="1600">
                    <a:solidFill>
                      <a:schemeClr val="tx1"/>
                    </a:solidFill>
                    <a:sym typeface="+mn-ea"/>
                  </a:rPr>
                  <a:t>用工潮抬高了当地平均工资</a:t>
                </a:r>
                <a:r>
                  <a:rPr lang="en-US" altLang="zh-CN" sz="1600">
                    <a:solidFill>
                      <a:schemeClr val="tx1"/>
                    </a:solidFill>
                    <a:sym typeface="+mn-ea"/>
                  </a:rPr>
                  <a:t>，</a:t>
                </a:r>
                <a:r>
                  <a:rPr lang="zh-CN" altLang="en-US" sz="1600">
                    <a:solidFill>
                      <a:schemeClr val="tx1"/>
                    </a:solidFill>
                    <a:sym typeface="+mn-ea"/>
                  </a:rPr>
                  <a:t>吸引更多出生在</a:t>
                </a:r>
                <a:r>
                  <a:rPr lang="en-US" altLang="zh-CN" sz="1600">
                    <a:solidFill>
                      <a:schemeClr val="tx1"/>
                    </a:solidFill>
                    <a:sym typeface="+mn-ea"/>
                  </a:rPr>
                  <a:t>o</a:t>
                </a:r>
                <a:r>
                  <a:rPr lang="zh-CN" altLang="en-US" sz="1600">
                    <a:solidFill>
                      <a:schemeClr val="tx1"/>
                    </a:solidFill>
                    <a:sym typeface="+mn-ea"/>
                  </a:rPr>
                  <a:t>的人迁往</a:t>
                </a:r>
                <a:r>
                  <a:rPr lang="en-US" altLang="zh-CN" sz="1600">
                    <a:solidFill>
                      <a:schemeClr val="tx1"/>
                    </a:solidFill>
                    <a:sym typeface="+mn-ea"/>
                  </a:rPr>
                  <a:t>d，</a:t>
                </a:r>
                <a:r>
                  <a:rPr lang="zh-CN" altLang="en-US" sz="1600">
                    <a:solidFill>
                      <a:schemeClr val="tx1"/>
                    </a:solidFill>
                    <a:sym typeface="+mn-ea"/>
                  </a:rPr>
                  <a:t>同时影响迁移比例</a:t>
                </a:r>
                <a:r>
                  <a:rPr lang="en-US" altLang="zh-CN" sz="1600">
                    <a:solidFill>
                      <a:schemeClr val="tx1"/>
                    </a:solidFill>
                    <a:sym typeface="+mn-ea"/>
                  </a:rPr>
                  <a:t>。</a:t>
                </a:r>
                <a:r>
                  <a:rPr lang="zh-CN" altLang="en-US" sz="1600">
                    <a:solidFill>
                      <a:schemeClr val="tx1"/>
                    </a:solidFill>
                    <a:sym typeface="+mn-ea"/>
                  </a:rPr>
                  <a:t>最终导致迁移比例项的</a:t>
                </a:r>
                <a:r>
                  <a:rPr lang="zh-CN" altLang="en-US" sz="1600" b="1">
                    <a:solidFill>
                      <a:srgbClr val="660066"/>
                    </a:solidFill>
                    <a:sym typeface="+mn-ea"/>
                  </a:rPr>
                  <a:t>系数被高估</a:t>
                </a:r>
                <a:r>
                  <a:rPr lang="en-US" altLang="zh-CN" sz="1600" b="1">
                    <a:solidFill>
                      <a:srgbClr val="660066"/>
                    </a:solidFill>
                    <a:sym typeface="+mn-ea"/>
                  </a:rPr>
                  <a:t>，</a:t>
                </a:r>
                <a14:m>
                  <m:oMath xmlns:m="http://schemas.openxmlformats.org/officeDocument/2006/math">
                    <m:r>
                      <a:rPr lang="zh-CN" altLang="en-US" sz="1600" kern="100" dirty="0">
                        <a:solidFill>
                          <a:srgbClr val="660066"/>
                        </a:solidFill>
                        <a:effectLst/>
                        <a:uFillTx/>
                        <a:latin typeface="DejaVu Math TeX Gyre" panose="02000503000000000000" charset="0"/>
                        <a:ea typeface="宋体" charset="0"/>
                        <a:cs typeface="DejaVu Math TeX Gyre" panose="02000503000000000000" charset="0"/>
                      </a:rPr>
                      <m:t>𝜃</m:t>
                    </m:r>
                  </m:oMath>
                </a14:m>
                <a:r>
                  <a:rPr lang="zh-CN" altLang="en-US" sz="1600" b="1">
                    <a:solidFill>
                      <a:srgbClr val="660066"/>
                    </a:solidFill>
                    <a:sym typeface="+mn-ea"/>
                  </a:rPr>
                  <a:t>被高估</a:t>
                </a:r>
                <a:r>
                  <a:rPr lang="en-US" altLang="zh-CN" sz="1600" b="1">
                    <a:solidFill>
                      <a:srgbClr val="660066"/>
                    </a:solidFill>
                    <a:sym typeface="+mn-ea"/>
                  </a:rPr>
                  <a:t>。</a:t>
                </a:r>
                <a:endParaRPr lang="en-US" altLang="zh-CN" sz="1600" b="1">
                  <a:solidFill>
                    <a:srgbClr val="660066"/>
                  </a:solidFill>
                  <a:sym typeface="+mn-ea"/>
                </a:endParaRPr>
              </a:p>
            </p:txBody>
          </p:sp>
        </mc:Choice>
        <mc:Fallback>
          <p:sp>
            <p:nvSpPr>
              <p:cNvPr id="46" name="矩形: 圆角 7"/>
              <p:cNvSpPr>
                <a:spLocks noRot="1" noChangeAspect="1" noMove="1" noResize="1" noEditPoints="1" noAdjustHandles="1" noChangeArrowheads="1" noChangeShapeType="1" noTextEdit="1"/>
              </p:cNvSpPr>
              <p:nvPr/>
            </p:nvSpPr>
            <p:spPr>
              <a:xfrm>
                <a:off x="2073910" y="4255770"/>
                <a:ext cx="5811520" cy="2196465"/>
              </a:xfrm>
              <a:prstGeom prst="roundRect">
                <a:avLst/>
              </a:prstGeom>
              <a:blipFill rotWithShape="1">
                <a:blip r:embed="rId8"/>
                <a:stretch>
                  <a:fillRect l="-251" t="-665" r="-240" b="-636"/>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40" name="矩形 39"/>
          <p:cNvSpPr/>
          <p:nvPr/>
        </p:nvSpPr>
        <p:spPr>
          <a:xfrm>
            <a:off x="4688840" y="1891030"/>
            <a:ext cx="350520" cy="58864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识别</a:t>
                </a:r>
                <a:r>
                  <a:rPr lang="en-US" altLang="zh-CN" sz="2800" b="1" dirty="0">
                    <a:latin typeface="+mn-lt"/>
                  </a:rPr>
                  <a:t>：Fr</a:t>
                </a:r>
                <a:r>
                  <a:rPr lang="en-US" altLang="en-US" sz="2800" b="1" dirty="0">
                    <a:latin typeface="+mn-lt"/>
                  </a:rPr>
                  <a:t>é</a:t>
                </a:r>
                <a:r>
                  <a:rPr lang="en-US" altLang="zh-CN" sz="2800" b="1" dirty="0">
                    <a:latin typeface="+mn-lt"/>
                  </a:rPr>
                  <a:t>chet </a:t>
                </a:r>
                <a:r>
                  <a:rPr lang="zh-CN" altLang="en-US" sz="2800" b="1" dirty="0">
                    <a:latin typeface="+mn-lt"/>
                  </a:rPr>
                  <a:t>参数 {</a:t>
                </a:r>
                <a14:m>
                  <m:oMath xmlns:m="http://schemas.openxmlformats.org/officeDocument/2006/math">
                    <m:r>
                      <a:rPr lang="en-US" altLang="zh-CN" sz="2800" b="1" i="1" dirty="0">
                        <a:latin typeface="DejaVu Math TeX Gyre" panose="02000503000000000000" charset="0"/>
                        <a:cs typeface="DejaVu Math TeX Gyre" panose="02000503000000000000" charset="0"/>
                      </a:rPr>
                      <m:t>𝜽</m:t>
                    </m:r>
                  </m:oMath>
                </a14:m>
                <a:r>
                  <a:rPr lang="en-US" altLang="zh-CN" sz="2800" b="1" i="1" dirty="0">
                    <a:latin typeface="+mn-lt"/>
                  </a:rPr>
                  <a:t>, </a:t>
                </a:r>
                <a14:m>
                  <m:oMath xmlns:m="http://schemas.openxmlformats.org/officeDocument/2006/math">
                    <m:r>
                      <a:rPr lang="en-US" altLang="zh-CN" sz="2800" b="1" i="1" dirty="0">
                        <a:latin typeface="DejaVu Math TeX Gyre" panose="02000503000000000000" charset="0"/>
                        <a:cs typeface="DejaVu Math TeX Gyre" panose="02000503000000000000" charset="0"/>
                      </a:rPr>
                      <m:t>𝝆</m:t>
                    </m:r>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4" name="图片 3" descr="54c326d7763e9e429a7de7f5aacac59d"/>
          <p:cNvPicPr>
            <a:picLocks noChangeAspect="1"/>
          </p:cNvPicPr>
          <p:nvPr/>
        </p:nvPicPr>
        <p:blipFill>
          <a:blip r:embed="rId2"/>
          <a:srcRect r="10607"/>
          <a:stretch>
            <a:fillRect/>
          </a:stretch>
        </p:blipFill>
        <p:spPr>
          <a:xfrm>
            <a:off x="2565400" y="1935480"/>
            <a:ext cx="4592955" cy="588010"/>
          </a:xfrm>
          <a:prstGeom prst="rect">
            <a:avLst/>
          </a:prstGeom>
        </p:spPr>
      </p:pic>
      <mc:AlternateContent xmlns:mc="http://schemas.openxmlformats.org/markup-compatibility/2006">
        <mc:Choice xmlns:a14="http://schemas.microsoft.com/office/drawing/2010/main" Requires="a14">
          <p:sp>
            <p:nvSpPr>
              <p:cNvPr id="27" name="文本框 26"/>
              <p:cNvSpPr txBox="1"/>
              <p:nvPr/>
            </p:nvSpPr>
            <p:spPr>
              <a:xfrm>
                <a:off x="2075815" y="1076325"/>
                <a:ext cx="5791835" cy="368300"/>
              </a:xfrm>
              <a:prstGeom prst="rect">
                <a:avLst/>
              </a:prstGeom>
              <a:solidFill>
                <a:schemeClr val="bg2"/>
              </a:solidFill>
            </p:spPr>
            <p:txBody>
              <a:bodyPr wrap="square">
                <a:spAutoFit/>
              </a:bodyPr>
              <a:lstStyle/>
              <a:p>
                <a:pPr algn="ctr">
                  <a:buClrTx/>
                  <a:buSzTx/>
                  <a:buFontTx/>
                </a:pPr>
                <a:r>
                  <a:rPr lang="zh-CN" altLang="en-US" b="1" kern="100" dirty="0">
                    <a:solidFill>
                      <a:srgbClr val="69025E"/>
                    </a:solidFill>
                    <a:effectLst/>
                    <a:latin typeface="+mj-ea"/>
                    <a:ea typeface="+mj-ea"/>
                  </a:rPr>
                  <a:t>技能水平离散程度</a:t>
                </a:r>
                <a14:m>
                  <m:oMath xmlns:m="http://schemas.openxmlformats.org/officeDocument/2006/math">
                    <m:r>
                      <a:rPr lang="zh-CN" altLang="en-US" b="1" kern="100" dirty="0">
                        <a:solidFill>
                          <a:srgbClr val="69025E"/>
                        </a:solidFill>
                        <a:effectLst/>
                        <a:latin typeface="+mj-ea"/>
                        <a:ea typeface="+mj-ea"/>
                      </a:rPr>
                      <m:t>𝜽</m:t>
                    </m:r>
                  </m:oMath>
                </a14:m>
                <a:endParaRPr lang="en-US" altLang="zh-CN" sz="1800" kern="100" dirty="0">
                  <a:solidFill>
                    <a:srgbClr val="69025E"/>
                  </a:solidFill>
                  <a:effectLst/>
                  <a:latin typeface="+mj-ea"/>
                  <a:ea typeface="+mj-ea"/>
                </a:endParaRPr>
              </a:p>
            </p:txBody>
          </p:sp>
        </mc:Choice>
        <mc:Fallback>
          <p:sp>
            <p:nvSpPr>
              <p:cNvPr id="27" name="文本框 26"/>
              <p:cNvSpPr txBox="1">
                <a:spLocks noRot="1" noChangeAspect="1" noMove="1" noResize="1" noEditPoints="1" noAdjustHandles="1" noChangeArrowheads="1" noChangeShapeType="1" noTextEdit="1"/>
              </p:cNvSpPr>
              <p:nvPr/>
            </p:nvSpPr>
            <p:spPr>
              <a:xfrm>
                <a:off x="2075815" y="1076325"/>
                <a:ext cx="5791835" cy="368300"/>
              </a:xfrm>
              <a:prstGeom prst="rect">
                <a:avLst/>
              </a:prstGeom>
              <a:blipFill rotWithShape="1">
                <a:blip r:embed="rId3"/>
                <a:stretch>
                  <a:fillRect/>
                </a:stretch>
              </a:blipFill>
            </p:spPr>
            <p:txBody>
              <a:bodyPr/>
              <a:lstStyle/>
              <a:p>
                <a:r>
                  <a:rPr lang="zh-CN" altLang="en-US">
                    <a:noFill/>
                  </a:rPr>
                  <a:t> </a:t>
                </a:r>
              </a:p>
            </p:txBody>
          </p:sp>
        </mc:Fallback>
      </mc:AlternateContent>
      <p:grpSp>
        <p:nvGrpSpPr>
          <p:cNvPr id="17" name="组合 16"/>
          <p:cNvGrpSpPr/>
          <p:nvPr/>
        </p:nvGrpSpPr>
        <p:grpSpPr>
          <a:xfrm>
            <a:off x="2075815" y="1524000"/>
            <a:ext cx="5793105" cy="2479675"/>
            <a:chOff x="3107" y="5400"/>
            <a:chExt cx="4038" cy="4349"/>
          </a:xfrm>
        </p:grpSpPr>
        <p:sp>
          <p:nvSpPr>
            <p:cNvPr id="13" name="矩形 12"/>
            <p:cNvSpPr/>
            <p:nvPr/>
          </p:nvSpPr>
          <p:spPr>
            <a:xfrm>
              <a:off x="3107" y="5423"/>
              <a:ext cx="4038"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4037" cy="646"/>
            </a:xfrm>
            <a:prstGeom prst="rect">
              <a:avLst/>
            </a:prstGeom>
            <a:solidFill>
              <a:srgbClr val="69025E"/>
            </a:solidFill>
          </p:spPr>
          <p:txBody>
            <a:bodyPr wrap="square">
              <a:spAutoFit/>
            </a:bodyPr>
            <a:lstStyle/>
            <a:p>
              <a:pPr algn="ctr"/>
              <a:r>
                <a:rPr lang="zh-CN" altLang="en-US" b="1" dirty="0">
                  <a:solidFill>
                    <a:schemeClr val="bg1"/>
                  </a:solidFill>
                </a:rPr>
                <a:t>识别方法</a:t>
              </a:r>
              <a:endParaRPr lang="zh-CN" altLang="en-US" b="1" dirty="0">
                <a:solidFill>
                  <a:schemeClr val="bg1"/>
                </a:solidFill>
              </a:endParaRPr>
            </a:p>
          </p:txBody>
        </p:sp>
      </p:grpSp>
      <mc:AlternateContent xmlns:mc="http://schemas.openxmlformats.org/markup-compatibility/2006">
        <mc:Choice xmlns:a14="http://schemas.microsoft.com/office/drawing/2010/main" Requires="a14">
          <p:sp>
            <p:nvSpPr>
              <p:cNvPr id="6" name="文本框 5"/>
              <p:cNvSpPr txBox="1"/>
              <p:nvPr/>
            </p:nvSpPr>
            <p:spPr>
              <a:xfrm>
                <a:off x="2095500" y="2555875"/>
                <a:ext cx="5789930" cy="1362710"/>
              </a:xfrm>
              <a:prstGeom prst="rect">
                <a:avLst/>
              </a:prstGeom>
              <a:noFill/>
            </p:spPr>
            <p:txBody>
              <a:bodyPr wrap="square" rtlCol="0">
                <a:noAutofit/>
              </a:bodyPr>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将前文得到的平均工资方程取对数后得到上式</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在控制目的地</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出生地固定效应后</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利用平均工资对迁移比例的弹性识别</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识别上</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与特征事实的</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Fact 3 selection</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对应</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直觉上</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越大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不同人之间的技能</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水平越同质</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→selection</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越弱</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先迁入目的地和后迁入的劳动者工资变化不大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即</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1/</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越小</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095500" y="2555875"/>
                <a:ext cx="5789930" cy="1362710"/>
              </a:xfrm>
              <a:prstGeom prst="rect">
                <a:avLst/>
              </a:prstGeom>
              <a:blipFill rotWithShape="1">
                <a:blip r:embed="rId4"/>
                <a:stretch>
                  <a:fillRect/>
                </a:stretch>
              </a:blipFill>
            </p:spPr>
            <p:txBody>
              <a:bodyPr/>
              <a:lstStyle/>
              <a:p>
                <a:r>
                  <a:rPr lang="zh-CN" altLang="en-US">
                    <a:noFill/>
                  </a:rPr>
                  <a:t> </a:t>
                </a:r>
              </a:p>
            </p:txBody>
          </p:sp>
        </mc:Fallback>
      </mc:AlternateContent>
      <p:grpSp>
        <p:nvGrpSpPr>
          <p:cNvPr id="32" name="组合 31"/>
          <p:cNvGrpSpPr/>
          <p:nvPr/>
        </p:nvGrpSpPr>
        <p:grpSpPr>
          <a:xfrm>
            <a:off x="8094980" y="4497705"/>
            <a:ext cx="3261360" cy="1260584"/>
            <a:chOff x="11399" y="7073"/>
            <a:chExt cx="5136" cy="1985"/>
          </a:xfrm>
        </p:grpSpPr>
        <p:grpSp>
          <p:nvGrpSpPr>
            <p:cNvPr id="10" name="组合 9"/>
            <p:cNvGrpSpPr/>
            <p:nvPr/>
          </p:nvGrpSpPr>
          <p:grpSpPr>
            <a:xfrm>
              <a:off x="11399" y="7073"/>
              <a:ext cx="5136" cy="1985"/>
              <a:chOff x="10328" y="7031"/>
              <a:chExt cx="7167" cy="2710"/>
            </a:xfrm>
          </p:grpSpPr>
          <p:grpSp>
            <p:nvGrpSpPr>
              <p:cNvPr id="25" name="组合 24"/>
              <p:cNvGrpSpPr/>
              <p:nvPr/>
            </p:nvGrpSpPr>
            <p:grpSpPr>
              <a:xfrm>
                <a:off x="12654" y="7031"/>
                <a:ext cx="4841" cy="2710"/>
                <a:chOff x="5768" y="7031"/>
                <a:chExt cx="4841" cy="2710"/>
              </a:xfrm>
            </p:grpSpPr>
            <mc:AlternateContent xmlns:mc="http://schemas.openxmlformats.org/markup-compatibility/2006">
              <mc:Choice xmlns:a14="http://schemas.microsoft.com/office/drawing/2010/main" Requires="a14">
                <p:sp>
                  <p:nvSpPr>
                    <p:cNvPr id="19" name="文本框 18"/>
                    <p:cNvSpPr txBox="1"/>
                    <p:nvPr/>
                  </p:nvSpPr>
                  <p:spPr>
                    <a:xfrm>
                      <a:off x="7506" y="7031"/>
                      <a:ext cx="1213" cy="796"/>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Sup>
                              <m:sSubSupPr>
                                <m:ctrlPr>
                                  <a:rPr lang="en-US" altLang="zh-CN" i="1" dirty="0">
                                    <a:latin typeface="DejaVu Math TeX Gyre" panose="02000503000000000000" charset="0"/>
                                    <a:cs typeface="DejaVu Math TeX Gyre" panose="02000503000000000000" charset="0"/>
                                  </a:rPr>
                                </m:ctrlPr>
                              </m:sSubSupPr>
                              <m:e>
                                <m:r>
                                  <a:rPr lang="en-US" altLang="zh-CN" i="1" dirty="0">
                                    <a:latin typeface="DejaVu Math TeX Gyre" panose="02000503000000000000" charset="0"/>
                                    <a:ea typeface="宋体" charset="0"/>
                                    <a:cs typeface="DejaVu Math TeX Gyre" panose="02000503000000000000" charset="0"/>
                                  </a:rPr>
                                  <m:t>𝜖</m:t>
                                </m:r>
                              </m:e>
                              <m:sub>
                                <m:r>
                                  <a:rPr lang="en-US" altLang="zh-CN" i="1" dirty="0">
                                    <a:latin typeface="DejaVu Math TeX Gyre" panose="02000503000000000000" charset="0"/>
                                    <a:cs typeface="DejaVu Math TeX Gyre" panose="02000503000000000000" charset="0"/>
                                  </a:rPr>
                                  <m:t>𝑑𝑜</m:t>
                                </m:r>
                              </m:sub>
                              <m:sup>
                                <m:r>
                                  <a:rPr lang="en-US" altLang="zh-CN" i="1" dirty="0">
                                    <a:latin typeface="DejaVu Math TeX Gyre" panose="02000503000000000000" charset="0"/>
                                    <a:cs typeface="DejaVu Math TeX Gyre" panose="02000503000000000000" charset="0"/>
                                  </a:rPr>
                                  <m:t>𝑤</m:t>
                                </m:r>
                              </m:sup>
                            </m:sSubSup>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7506" y="7031"/>
                      <a:ext cx="1213" cy="796"/>
                    </a:xfrm>
                    <a:prstGeom prst="rect">
                      <a:avLst/>
                    </a:prstGeom>
                    <a:blipFill rotWithShape="1">
                      <a:blip r:embed="rId5"/>
                    </a:blipFill>
                  </p:spPr>
                  <p:txBody>
                    <a:bodyPr/>
                    <a:lstStyle/>
                    <a:p>
                      <a:r>
                        <a:rPr lang="zh-CN" altLang="en-US">
                          <a:noFill/>
                        </a:rPr>
                        <a:t> </a:t>
                      </a:r>
                    </a:p>
                  </p:txBody>
                </p:sp>
              </mc:Fallback>
            </mc:AlternateContent>
            <p:cxnSp>
              <p:nvCxnSpPr>
                <p:cNvPr id="20" name="直接箭头连接符 19"/>
                <p:cNvCxnSpPr>
                  <a:stCxn id="19" idx="2"/>
                  <a:endCxn id="22" idx="0"/>
                </p:cNvCxnSpPr>
                <p:nvPr/>
              </p:nvCxnSpPr>
              <p:spPr>
                <a:xfrm flipH="1">
                  <a:off x="6376" y="7827"/>
                  <a:ext cx="1737" cy="1078"/>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9" idx="2"/>
                  <a:endCxn id="23" idx="0"/>
                </p:cNvCxnSpPr>
                <p:nvPr/>
              </p:nvCxnSpPr>
              <p:spPr>
                <a:xfrm>
                  <a:off x="8113" y="7827"/>
                  <a:ext cx="1891" cy="1118"/>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文本框 21"/>
                    <p:cNvSpPr txBox="1"/>
                    <p:nvPr/>
                  </p:nvSpPr>
                  <p:spPr>
                    <a:xfrm>
                      <a:off x="5768" y="8905"/>
                      <a:ext cx="1213" cy="793"/>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𝜋</m:t>
                                </m:r>
                              </m:e>
                              <m:sub>
                                <m:r>
                                  <a:rPr lang="en-US" altLang="zh-CN" i="1" dirty="0">
                                    <a:latin typeface="DejaVu Math TeX Gyre" panose="02000503000000000000" charset="0"/>
                                    <a:cs typeface="DejaVu Math TeX Gyre" panose="02000503000000000000" charset="0"/>
                                  </a:rPr>
                                  <m:t>𝑑𝑜</m:t>
                                </m:r>
                              </m:sub>
                            </m:sSub>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5768" y="8905"/>
                      <a:ext cx="1213" cy="793"/>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9396" y="8945"/>
                      <a:ext cx="1213" cy="796"/>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acc>
                                  <m:accPr>
                                    <m:chr m:val="̅"/>
                                    <m:ctrlPr>
                                      <a:rPr lang="en-US" altLang="zh-CN" i="1" dirty="0">
                                        <a:latin typeface="DejaVu Math TeX Gyre" panose="02000503000000000000" charset="0"/>
                                        <a:cs typeface="DejaVu Math TeX Gyre" panose="02000503000000000000" charset="0"/>
                                      </a:rPr>
                                    </m:ctrlPr>
                                  </m:accPr>
                                  <m:e>
                                    <m:r>
                                      <a:rPr lang="en-US" altLang="zh-CN" i="1" dirty="0">
                                        <a:latin typeface="DejaVu Math TeX Gyre" panose="02000503000000000000" charset="0"/>
                                        <a:cs typeface="DejaVu Math TeX Gyre" panose="02000503000000000000" charset="0"/>
                                      </a:rPr>
                                      <m:t>𝑤𝑎𝑔𝑒</m:t>
                                    </m:r>
                                  </m:e>
                                </m:acc>
                              </m:e>
                              <m:sub>
                                <m:r>
                                  <a:rPr lang="en-US" altLang="zh-CN" i="1" dirty="0">
                                    <a:latin typeface="DejaVu Math TeX Gyre" panose="02000503000000000000" charset="0"/>
                                    <a:cs typeface="DejaVu Math TeX Gyre" panose="02000503000000000000" charset="0"/>
                                  </a:rPr>
                                  <m:t>𝑑𝑜</m:t>
                                </m:r>
                              </m:sub>
                            </m:sSub>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23" name="文本框 22"/>
                    <p:cNvSpPr txBox="1">
                      <a:spLocks noRot="1" noChangeAspect="1" noMove="1" noResize="1" noEditPoints="1" noAdjustHandles="1" noChangeArrowheads="1" noChangeShapeType="1" noTextEdit="1"/>
                    </p:cNvSpPr>
                    <p:nvPr/>
                  </p:nvSpPr>
                  <p:spPr>
                    <a:xfrm>
                      <a:off x="9396" y="8945"/>
                      <a:ext cx="1213" cy="796"/>
                    </a:xfrm>
                    <a:prstGeom prst="rect">
                      <a:avLst/>
                    </a:prstGeom>
                    <a:blipFill rotWithShape="1">
                      <a:blip r:embed="rId7"/>
                    </a:blipFill>
                  </p:spPr>
                  <p:txBody>
                    <a:bodyPr/>
                    <a:lstStyle/>
                    <a:p>
                      <a:r>
                        <a:rPr lang="zh-CN" altLang="en-US">
                          <a:noFill/>
                        </a:rPr>
                        <a:t> </a:t>
                      </a:r>
                    </a:p>
                  </p:txBody>
                </p:sp>
              </mc:Fallback>
            </mc:AlternateContent>
            <p:cxnSp>
              <p:nvCxnSpPr>
                <p:cNvPr id="24" name="直接箭头连接符 23"/>
                <p:cNvCxnSpPr>
                  <a:stCxn id="22" idx="3"/>
                  <a:endCxn id="23" idx="1"/>
                </p:cNvCxnSpPr>
                <p:nvPr/>
              </p:nvCxnSpPr>
              <p:spPr>
                <a:xfrm>
                  <a:off x="6981" y="9303"/>
                  <a:ext cx="2416" cy="41"/>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文本框 27"/>
              <p:cNvSpPr txBox="1"/>
              <p:nvPr/>
            </p:nvSpPr>
            <p:spPr>
              <a:xfrm>
                <a:off x="10328" y="8933"/>
                <a:ext cx="1213" cy="792"/>
              </a:xfrm>
              <a:prstGeom prst="rect">
                <a:avLst/>
              </a:prstGeom>
              <a:noFill/>
            </p:spPr>
            <p:txBody>
              <a:bodyPr wrap="square" rtlCol="0" anchor="t">
                <a:spAutoFit/>
              </a:bodyPr>
              <a:p>
                <a:pPr algn="ctr"/>
                <a:r>
                  <a:rPr lang="en-US" altLang="zh-CN" i="1" dirty="0">
                    <a:latin typeface="Times New Roman" panose="02020503050405090304" pitchFamily="18" charset="0"/>
                    <a:cs typeface="Times New Roman" panose="02020503050405090304" pitchFamily="18" charset="0"/>
                  </a:rPr>
                  <a:t>IV</a:t>
                </a:r>
                <a:endParaRPr lang="en-US" altLang="zh-CN" i="1" dirty="0">
                  <a:latin typeface="Times New Roman" panose="02020503050405090304" pitchFamily="18" charset="0"/>
                  <a:cs typeface="Times New Roman" panose="02020503050405090304" pitchFamily="18" charset="0"/>
                </a:endParaRPr>
              </a:p>
            </p:txBody>
          </p:sp>
          <p:cxnSp>
            <p:nvCxnSpPr>
              <p:cNvPr id="29" name="直接箭头连接符 28"/>
              <p:cNvCxnSpPr>
                <a:stCxn id="28" idx="3"/>
                <a:endCxn id="22" idx="1"/>
              </p:cNvCxnSpPr>
              <p:nvPr/>
            </p:nvCxnSpPr>
            <p:spPr>
              <a:xfrm flipV="1">
                <a:off x="11541" y="9303"/>
                <a:ext cx="1114" cy="26"/>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8" idx="0"/>
                <a:endCxn id="19" idx="1"/>
              </p:cNvCxnSpPr>
              <p:nvPr/>
            </p:nvCxnSpPr>
            <p:spPr>
              <a:xfrm flipV="1">
                <a:off x="10935" y="7430"/>
                <a:ext cx="3457" cy="1503"/>
              </a:xfrm>
              <a:prstGeom prst="straightConnector1">
                <a:avLst/>
              </a:prstGeom>
              <a:ln w="28575">
                <a:solidFill>
                  <a:srgbClr val="69025E"/>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3695" y="7901"/>
                <a:ext cx="1606" cy="561"/>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grpSp>
        <p:sp>
          <p:nvSpPr>
            <p:cNvPr id="26" name="文本框 25"/>
            <p:cNvSpPr txBox="1"/>
            <p:nvPr/>
          </p:nvSpPr>
          <p:spPr>
            <a:xfrm>
              <a:off x="15181" y="7710"/>
              <a:ext cx="1151" cy="411"/>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grpSp>
      <p:sp>
        <p:nvSpPr>
          <p:cNvPr id="31" name="箭头: 下 15"/>
          <p:cNvSpPr/>
          <p:nvPr/>
        </p:nvSpPr>
        <p:spPr>
          <a:xfrm>
            <a:off x="4688840" y="3994785"/>
            <a:ext cx="350520" cy="26035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6" name="矩形: 圆角 7"/>
              <p:cNvSpPr/>
              <p:nvPr/>
            </p:nvSpPr>
            <p:spPr>
              <a:xfrm>
                <a:off x="2073910" y="4255770"/>
                <a:ext cx="5811520" cy="219646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342900" indent="-342900" algn="l">
                  <a:buClrTx/>
                  <a:buSzTx/>
                  <a:buFont typeface="Arial" panose="020B0604020202090204" pitchFamily="34" charset="0"/>
                  <a:buChar char="•"/>
                </a:pPr>
                <a:r>
                  <a:rPr lang="en-US" altLang="zh-CN" sz="1400" b="1">
                    <a:solidFill>
                      <a:srgbClr val="660066"/>
                    </a:solidFill>
                    <a:sym typeface="+mn-ea"/>
                  </a:rPr>
                  <a:t>IV</a:t>
                </a:r>
                <a:r>
                  <a:rPr lang="zh-CN" altLang="en-US" sz="1400" b="1">
                    <a:solidFill>
                      <a:srgbClr val="660066"/>
                    </a:solidFill>
                    <a:sym typeface="+mn-ea"/>
                  </a:rPr>
                  <a:t>识别策略</a:t>
                </a:r>
                <a:r>
                  <a:rPr lang="en-US" altLang="zh-CN" sz="1400" b="1">
                    <a:solidFill>
                      <a:srgbClr val="660066"/>
                    </a:solidFill>
                    <a:sym typeface="+mn-ea"/>
                  </a:rPr>
                  <a:t>：</a:t>
                </a:r>
                <a:r>
                  <a:rPr lang="zh-CN" altLang="en-US" sz="1400">
                    <a:solidFill>
                      <a:srgbClr val="660066"/>
                    </a:solidFill>
                    <a:sym typeface="+mn-ea"/>
                  </a:rPr>
                  <a:t>所有</a:t>
                </a:r>
                <a:r>
                  <a:rPr lang="zh-CN" altLang="en-US" sz="1400" b="1">
                    <a:solidFill>
                      <a:srgbClr val="660066"/>
                    </a:solidFill>
                    <a:sym typeface="+mn-ea"/>
                  </a:rPr>
                  <a:t>其他出生地</a:t>
                </a:r>
                <a:r>
                  <a:rPr lang="zh-CN" altLang="en-US" sz="1400">
                    <a:solidFill>
                      <a:srgbClr val="660066"/>
                    </a:solidFill>
                    <a:sym typeface="+mn-ea"/>
                  </a:rPr>
                  <a:t>的人迁往目的地 </a:t>
                </a:r>
                <a:r>
                  <a:rPr lang="en-US" altLang="zh-CN" sz="1400">
                    <a:solidFill>
                      <a:srgbClr val="660066"/>
                    </a:solidFill>
                    <a:sym typeface="+mn-ea"/>
                  </a:rPr>
                  <a:t>d </a:t>
                </a:r>
                <a:r>
                  <a:rPr lang="zh-CN" altLang="en-US" sz="1400">
                    <a:solidFill>
                      <a:srgbClr val="660066"/>
                    </a:solidFill>
                    <a:sym typeface="+mn-ea"/>
                  </a:rPr>
                  <a:t>的比例</a:t>
                </a:r>
                <a:endParaRPr lang="zh-CN" altLang="en-US" sz="1400">
                  <a:solidFill>
                    <a:srgbClr val="660066"/>
                  </a:solidFill>
                  <a:sym typeface="+mn-ea"/>
                </a:endParaRPr>
              </a:p>
              <a:p>
                <a:pPr marL="342900" indent="-342900" algn="l">
                  <a:buClrTx/>
                  <a:buSzTx/>
                  <a:buFont typeface="+mj-lt"/>
                  <a:buAutoNum type="arabicPeriod"/>
                </a:pPr>
                <a:r>
                  <a:rPr lang="zh-CN" altLang="en-US" sz="1400" b="1">
                    <a:solidFill>
                      <a:srgbClr val="660066"/>
                    </a:solidFill>
                    <a:sym typeface="+mn-ea"/>
                  </a:rPr>
                  <a:t>外生性</a:t>
                </a:r>
                <a:r>
                  <a:rPr lang="en-US" altLang="zh-CN" sz="1400" b="1">
                    <a:solidFill>
                      <a:srgbClr val="660066"/>
                    </a:solidFill>
                    <a:sym typeface="+mn-ea"/>
                  </a:rPr>
                  <a:t>：</a:t>
                </a:r>
                <a:r>
                  <a:rPr lang="zh-CN" altLang="en-US" sz="1400">
                    <a:solidFill>
                      <a:schemeClr val="tx1"/>
                    </a:solidFill>
                    <a:sym typeface="+mn-ea"/>
                  </a:rPr>
                  <a:t>误差项冲击只作用在</a:t>
                </a:r>
                <a:r>
                  <a:rPr lang="en-US" altLang="zh-CN" sz="1400">
                    <a:solidFill>
                      <a:schemeClr val="tx1"/>
                    </a:solidFill>
                    <a:sym typeface="+mn-ea"/>
                  </a:rPr>
                  <a:t>o-d</a:t>
                </a:r>
                <a:r>
                  <a:rPr lang="zh-CN" altLang="en-US" sz="1400">
                    <a:solidFill>
                      <a:schemeClr val="tx1"/>
                    </a:solidFill>
                    <a:sym typeface="+mn-ea"/>
                  </a:rPr>
                  <a:t>迁移比例</a:t>
                </a:r>
                <a:r>
                  <a:rPr lang="en-US" altLang="zh-CN" sz="1400">
                    <a:solidFill>
                      <a:schemeClr val="tx1"/>
                    </a:solidFill>
                    <a:sym typeface="+mn-ea"/>
                  </a:rPr>
                  <a:t>：</a:t>
                </a:r>
                <a:r>
                  <a:rPr lang="zh-CN" altLang="en-US" sz="1400">
                    <a:solidFill>
                      <a:schemeClr val="tx1"/>
                    </a:solidFill>
                    <a:sym typeface="+mn-ea"/>
                  </a:rPr>
                  <a:t>一个只让中爪哇工人在雅加达工资变高的冲击，不改变苏门答腊人迁往雅加达的意愿</a:t>
                </a:r>
                <a:r>
                  <a:rPr lang="en-US" altLang="zh-CN" sz="1400">
                    <a:solidFill>
                      <a:schemeClr val="tx1"/>
                    </a:solidFill>
                    <a:sym typeface="+mn-ea"/>
                  </a:rPr>
                  <a:t>。</a:t>
                </a:r>
                <a:endParaRPr lang="zh-CN" altLang="en-US" sz="1400">
                  <a:solidFill>
                    <a:schemeClr val="tx1"/>
                  </a:solidFill>
                  <a:sym typeface="+mn-ea"/>
                </a:endParaRPr>
              </a:p>
              <a:p>
                <a:pPr marL="342900" indent="-342900" algn="l">
                  <a:buClrTx/>
                  <a:buSzTx/>
                  <a:buFont typeface="+mj-lt"/>
                  <a:buAutoNum type="arabicPeriod"/>
                </a:pPr>
                <a:r>
                  <a:rPr lang="zh-CN" altLang="en-US" sz="1400" b="1">
                    <a:solidFill>
                      <a:srgbClr val="660066"/>
                    </a:solidFill>
                    <a:sym typeface="+mn-ea"/>
                  </a:rPr>
                  <a:t>相关性</a:t>
                </a:r>
                <a:r>
                  <a:rPr lang="en-US" altLang="zh-CN" sz="1400" b="1">
                    <a:solidFill>
                      <a:srgbClr val="660066"/>
                    </a:solidFill>
                    <a:sym typeface="+mn-ea"/>
                  </a:rPr>
                  <a:t>：</a:t>
                </a:r>
                <a:r>
                  <a:rPr lang="zh-CN" altLang="en-US" sz="1400">
                    <a:solidFill>
                      <a:schemeClr val="tx1"/>
                    </a:solidFill>
                    <a:sym typeface="+mn-ea"/>
                  </a:rPr>
                  <a:t>两个迁移比例会被同一批目的地</a:t>
                </a:r>
                <a:r>
                  <a:rPr lang="en-US" altLang="zh-CN" sz="1400">
                    <a:solidFill>
                      <a:schemeClr val="tx1"/>
                    </a:solidFill>
                    <a:sym typeface="+mn-ea"/>
                  </a:rPr>
                  <a:t>d</a:t>
                </a:r>
                <a:r>
                  <a:rPr lang="zh-CN" altLang="en-US" sz="1400">
                    <a:solidFill>
                      <a:schemeClr val="tx1"/>
                    </a:solidFill>
                    <a:sym typeface="+mn-ea"/>
                  </a:rPr>
                  <a:t>的迁移拉力所驱动</a:t>
                </a:r>
                <a:r>
                  <a:rPr lang="en-US" altLang="zh-CN" sz="1400">
                    <a:solidFill>
                      <a:schemeClr val="tx1"/>
                    </a:solidFill>
                    <a:sym typeface="+mn-ea"/>
                  </a:rPr>
                  <a:t>，</a:t>
                </a:r>
                <a:r>
                  <a:rPr lang="zh-CN" altLang="en-US" sz="1400">
                    <a:solidFill>
                      <a:schemeClr val="tx1"/>
                    </a:solidFill>
                    <a:sym typeface="+mn-ea"/>
                  </a:rPr>
                  <a:t>会同涨同跌</a:t>
                </a:r>
                <a:r>
                  <a:rPr lang="en-US" altLang="zh-CN" sz="1400">
                    <a:solidFill>
                      <a:schemeClr val="tx1"/>
                    </a:solidFill>
                    <a:sym typeface="+mn-ea"/>
                  </a:rPr>
                  <a:t>，</a:t>
                </a:r>
                <a:r>
                  <a:rPr lang="zh-CN" altLang="en-US" sz="1400">
                    <a:solidFill>
                      <a:schemeClr val="tx1"/>
                    </a:solidFill>
                    <a:sym typeface="+mn-ea"/>
                  </a:rPr>
                  <a:t>体现为相关性</a:t>
                </a:r>
                <a:r>
                  <a:rPr lang="en-US" altLang="zh-CN" sz="1400">
                    <a:solidFill>
                      <a:schemeClr val="tx1"/>
                    </a:solidFill>
                    <a:sym typeface="+mn-ea"/>
                  </a:rPr>
                  <a:t>。</a:t>
                </a:r>
                <a:endParaRPr lang="en-US" altLang="zh-CN" sz="1400">
                  <a:solidFill>
                    <a:schemeClr val="tx1"/>
                  </a:solidFill>
                  <a:sym typeface="+mn-ea"/>
                </a:endParaRPr>
              </a:p>
              <a:p>
                <a:pPr marL="342900" indent="-342900" algn="l">
                  <a:buClrTx/>
                  <a:buSzTx/>
                  <a:buFont typeface="+mj-lt"/>
                  <a:buAutoNum type="arabicPeriod"/>
                </a:pPr>
                <a:r>
                  <a:rPr lang="zh-CN" altLang="en-US" sz="1400" b="1">
                    <a:solidFill>
                      <a:srgbClr val="660066"/>
                    </a:solidFill>
                    <a:sym typeface="+mn-ea"/>
                  </a:rPr>
                  <a:t>排他性</a:t>
                </a:r>
                <a:r>
                  <a:rPr lang="en-US" altLang="zh-CN" sz="1400" b="1">
                    <a:solidFill>
                      <a:srgbClr val="660066"/>
                    </a:solidFill>
                    <a:sym typeface="+mn-ea"/>
                  </a:rPr>
                  <a:t>：</a:t>
                </a:r>
                <a:r>
                  <a:rPr lang="zh-CN" altLang="en-US" sz="1400">
                    <a:solidFill>
                      <a:schemeClr val="tx1"/>
                    </a:solidFill>
                    <a:sym typeface="+mn-ea"/>
                  </a:rPr>
                  <a:t>其他出生地 o′ 迁往 d 的比例，由 目的地</a:t>
                </a:r>
                <a:r>
                  <a:rPr lang="en-US" altLang="zh-CN" sz="1400">
                    <a:solidFill>
                      <a:schemeClr val="tx1"/>
                    </a:solidFill>
                    <a:sym typeface="+mn-ea"/>
                  </a:rPr>
                  <a:t> </a:t>
                </a:r>
                <a:r>
                  <a:rPr lang="zh-CN" altLang="en-US" sz="1400">
                    <a:solidFill>
                      <a:schemeClr val="tx1"/>
                    </a:solidFill>
                    <a:sym typeface="+mn-ea"/>
                  </a:rPr>
                  <a:t>d 的共同相对禀赋</a:t>
                </a:r>
                <a:r>
                  <a:rPr lang="en-US" altLang="zh-CN" sz="1400">
                    <a:solidFill>
                      <a:schemeClr val="tx1"/>
                    </a:solidFill>
                    <a:sym typeface="+mn-ea"/>
                  </a:rPr>
                  <a:t>（</a:t>
                </a:r>
                <a14:m>
                  <m:oMath xmlns:m="http://schemas.openxmlformats.org/officeDocument/2006/math">
                    <m:sSub>
                      <m:sSubPr>
                        <m:ctrlPr>
                          <a:rPr lang="en-US" altLang="zh-CN" sz="1400" i="1" dirty="0">
                            <a:solidFill>
                              <a:schemeClr val="tx1"/>
                            </a:solidFill>
                            <a:latin typeface="DejaVu Math TeX Gyre" panose="02000503000000000000" charset="0"/>
                            <a:cs typeface="DejaVu Math TeX Gyre" panose="02000503000000000000" charset="0"/>
                          </a:rPr>
                        </m:ctrlPr>
                      </m:sSubPr>
                      <m:e>
                        <m:r>
                          <a:rPr lang="en-US" altLang="zh-CN" sz="1400" i="1" dirty="0">
                            <a:solidFill>
                              <a:schemeClr val="tx1"/>
                            </a:solidFill>
                            <a:latin typeface="DejaVu Math TeX Gyre" panose="02000503000000000000" charset="0"/>
                            <a:cs typeface="DejaVu Math TeX Gyre" panose="02000503000000000000" charset="0"/>
                          </a:rPr>
                          <m:t>𝑤</m:t>
                        </m:r>
                      </m:e>
                      <m:sub>
                        <m:r>
                          <a:rPr lang="en-US" altLang="zh-CN" sz="1400" i="1" dirty="0">
                            <a:solidFill>
                              <a:schemeClr val="tx1"/>
                            </a:solidFill>
                            <a:latin typeface="DejaVu Math TeX Gyre" panose="02000503000000000000" charset="0"/>
                            <a:cs typeface="DejaVu Math TeX Gyre" panose="02000503000000000000" charset="0"/>
                          </a:rPr>
                          <m:t>𝑑</m:t>
                        </m:r>
                      </m:sub>
                    </m:sSub>
                    <m:sSub>
                      <m:sSubPr>
                        <m:ctrlPr>
                          <a:rPr lang="en-US" altLang="zh-CN" sz="1400" i="1" dirty="0">
                            <a:solidFill>
                              <a:schemeClr val="tx1"/>
                            </a:solidFill>
                            <a:latin typeface="DejaVu Math TeX Gyre" panose="02000503000000000000" charset="0"/>
                            <a:cs typeface="DejaVu Math TeX Gyre" panose="02000503000000000000" charset="0"/>
                          </a:rPr>
                        </m:ctrlPr>
                      </m:sSubPr>
                      <m:e>
                        <m:r>
                          <a:rPr lang="en-US" altLang="zh-CN" sz="1400" i="1" dirty="0">
                            <a:solidFill>
                              <a:schemeClr val="tx1"/>
                            </a:solidFill>
                            <a:latin typeface="DejaVu Math TeX Gyre" panose="02000503000000000000" charset="0"/>
                            <a:ea typeface="宋体" charset="0"/>
                            <a:cs typeface="DejaVu Math TeX Gyre" panose="02000503000000000000" charset="0"/>
                          </a:rPr>
                          <m:t>𝛼</m:t>
                        </m:r>
                      </m:e>
                      <m:sub>
                        <m:r>
                          <a:rPr lang="en-US" altLang="zh-CN" sz="1400" i="1" dirty="0">
                            <a:solidFill>
                              <a:schemeClr val="tx1"/>
                            </a:solidFill>
                            <a:latin typeface="DejaVu Math TeX Gyre" panose="02000503000000000000" charset="0"/>
                            <a:cs typeface="DejaVu Math TeX Gyre" panose="02000503000000000000" charset="0"/>
                          </a:rPr>
                          <m:t>𝑑</m:t>
                        </m:r>
                      </m:sub>
                    </m:sSub>
                  </m:oMath>
                </a14:m>
                <a:r>
                  <a:rPr lang="en-US" altLang="zh-CN" sz="1400">
                    <a:solidFill>
                      <a:schemeClr val="tx1"/>
                    </a:solidFill>
                    <a:sym typeface="+mn-ea"/>
                  </a:rPr>
                  <a:t>）</a:t>
                </a:r>
                <a:r>
                  <a:rPr lang="zh-CN" altLang="en-US" sz="1400">
                    <a:solidFill>
                      <a:schemeClr val="tx1"/>
                    </a:solidFill>
                    <a:sym typeface="+mn-ea"/>
                  </a:rPr>
                  <a:t>和 (d,o′) 配对的冲击决定，不受</a:t>
                </a:r>
                <a14:m>
                  <m:oMath xmlns:m="http://schemas.openxmlformats.org/officeDocument/2006/math">
                    <m:sSubSup>
                      <m:sSubSupPr>
                        <m:ctrlPr>
                          <a:rPr lang="zh-CN" altLang="en-US" sz="1400">
                            <a:solidFill>
                              <a:schemeClr val="tx1"/>
                            </a:solidFill>
                          </a:rPr>
                        </m:ctrlPr>
                      </m:sSubSupPr>
                      <m:e>
                        <m:r>
                          <a:rPr lang="zh-CN" altLang="en-US" sz="1400">
                            <a:solidFill>
                              <a:schemeClr val="tx1"/>
                            </a:solidFill>
                            <a:latin typeface="DejaVu Math TeX Gyre" panose="02000503000000000000" charset="0"/>
                          </a:rPr>
                          <m:t>𝜖</m:t>
                        </m:r>
                      </m:e>
                      <m:sub>
                        <m:r>
                          <a:rPr lang="zh-CN" altLang="en-US" sz="1400">
                            <a:solidFill>
                              <a:schemeClr val="tx1"/>
                            </a:solidFill>
                            <a:latin typeface="DejaVu Math TeX Gyre" panose="02000503000000000000" charset="0"/>
                          </a:rPr>
                          <m:t>𝑑𝑜</m:t>
                        </m:r>
                      </m:sub>
                      <m:sup>
                        <m:r>
                          <a:rPr lang="zh-CN" altLang="en-US" sz="1400">
                            <a:solidFill>
                              <a:schemeClr val="tx1"/>
                            </a:solidFill>
                            <a:latin typeface="DejaVu Math TeX Gyre" panose="02000503000000000000" charset="0"/>
                          </a:rPr>
                          <m:t>𝑤</m:t>
                        </m:r>
                      </m:sup>
                    </m:sSubSup>
                  </m:oMath>
                </a14:m>
                <a:r>
                  <a:rPr lang="zh-CN" altLang="en-US" sz="1400">
                    <a:solidFill>
                      <a:schemeClr val="tx1"/>
                    </a:solidFill>
                    <a:sym typeface="+mn-ea"/>
                  </a:rPr>
                  <a:t>的影响；同时方程中控制了目的地固定效应</a:t>
                </a:r>
                <a:r>
                  <a:rPr lang="en-US" altLang="zh-CN" sz="1400">
                    <a:solidFill>
                      <a:schemeClr val="tx1"/>
                    </a:solidFill>
                    <a:sym typeface="+mn-ea"/>
                  </a:rPr>
                  <a:t>，IV</a:t>
                </a:r>
                <a:r>
                  <a:rPr lang="zh-CN" altLang="en-US" sz="1400">
                    <a:solidFill>
                      <a:schemeClr val="tx1"/>
                    </a:solidFill>
                    <a:sym typeface="+mn-ea"/>
                  </a:rPr>
                  <a:t>只能通过</a:t>
                </a:r>
                <a:r>
                  <a:rPr lang="zh-CN" altLang="en-US" sz="1400">
                    <a:solidFill>
                      <a:schemeClr val="tx1"/>
                    </a:solidFill>
                    <a:sym typeface="+mn-ea"/>
                  </a:rPr>
                  <a:t>(d,o) 迁移比例影响平均工资</a:t>
                </a:r>
                <a:r>
                  <a:rPr lang="en-US" altLang="zh-CN" sz="1400">
                    <a:solidFill>
                      <a:schemeClr val="tx1"/>
                    </a:solidFill>
                    <a:sym typeface="+mn-ea"/>
                  </a:rPr>
                  <a:t>，</a:t>
                </a:r>
                <a:r>
                  <a:rPr lang="zh-CN" altLang="en-US" sz="1400">
                    <a:solidFill>
                      <a:schemeClr val="tx1"/>
                    </a:solidFill>
                    <a:sym typeface="+mn-ea"/>
                  </a:rPr>
                  <a:t>体现为排他性</a:t>
                </a:r>
                <a:r>
                  <a:rPr lang="en-US" altLang="zh-CN" sz="1400">
                    <a:solidFill>
                      <a:schemeClr val="tx1"/>
                    </a:solidFill>
                    <a:sym typeface="+mn-ea"/>
                  </a:rPr>
                  <a:t>。</a:t>
                </a:r>
                <a:endParaRPr lang="en-US" altLang="zh-CN" sz="1400">
                  <a:solidFill>
                    <a:schemeClr val="tx1"/>
                  </a:solidFill>
                  <a:sym typeface="+mn-ea"/>
                </a:endParaRPr>
              </a:p>
            </p:txBody>
          </p:sp>
        </mc:Choice>
        <mc:Fallback>
          <p:sp>
            <p:nvSpPr>
              <p:cNvPr id="46" name="矩形: 圆角 7"/>
              <p:cNvSpPr>
                <a:spLocks noRot="1" noChangeAspect="1" noMove="1" noResize="1" noEditPoints="1" noAdjustHandles="1" noChangeArrowheads="1" noChangeShapeType="1" noTextEdit="1"/>
              </p:cNvSpPr>
              <p:nvPr/>
            </p:nvSpPr>
            <p:spPr>
              <a:xfrm>
                <a:off x="2073910" y="4255770"/>
                <a:ext cx="5811520" cy="2196465"/>
              </a:xfrm>
              <a:prstGeom prst="roundRect">
                <a:avLst/>
              </a:prstGeom>
              <a:blipFill rotWithShape="1">
                <a:blip r:embed="rId8"/>
                <a:stretch>
                  <a:fillRect l="-251" t="-665" r="-240" b="-636"/>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4" name="矩形 33"/>
          <p:cNvSpPr/>
          <p:nvPr/>
        </p:nvSpPr>
        <p:spPr>
          <a:xfrm>
            <a:off x="8086090" y="5274310"/>
            <a:ext cx="558800" cy="58864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8896350" y="4867910"/>
            <a:ext cx="730885" cy="260985"/>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sp>
        <p:nvSpPr>
          <p:cNvPr id="40" name="矩形 39"/>
          <p:cNvSpPr/>
          <p:nvPr/>
        </p:nvSpPr>
        <p:spPr>
          <a:xfrm>
            <a:off x="4688840" y="1891030"/>
            <a:ext cx="350520" cy="58864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曲线连接符 41"/>
          <p:cNvCxnSpPr>
            <a:stCxn id="28" idx="2"/>
            <a:endCxn id="23" idx="2"/>
          </p:cNvCxnSpPr>
          <p:nvPr/>
        </p:nvCxnSpPr>
        <p:spPr>
          <a:xfrm rot="5400000" flipV="1">
            <a:off x="9721850" y="4399915"/>
            <a:ext cx="7620" cy="2708910"/>
          </a:xfrm>
          <a:prstGeom prst="curvedConnector3">
            <a:avLst>
              <a:gd name="adj1" fmla="val 3225000"/>
            </a:avLst>
          </a:prstGeom>
          <a:ln>
            <a:solidFill>
              <a:srgbClr val="660066"/>
            </a:solidFill>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9489440" y="5871845"/>
            <a:ext cx="730885" cy="260985"/>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识别</a:t>
                </a:r>
                <a:r>
                  <a:rPr lang="en-US" altLang="zh-CN" sz="2800" b="1" dirty="0">
                    <a:latin typeface="+mn-lt"/>
                  </a:rPr>
                  <a:t>：Fr</a:t>
                </a:r>
                <a:r>
                  <a:rPr lang="en-US" altLang="en-US" sz="2800" b="1" dirty="0">
                    <a:latin typeface="+mn-lt"/>
                  </a:rPr>
                  <a:t>é</a:t>
                </a:r>
                <a:r>
                  <a:rPr lang="en-US" altLang="zh-CN" sz="2800" b="1" dirty="0">
                    <a:latin typeface="+mn-lt"/>
                  </a:rPr>
                  <a:t>chet </a:t>
                </a:r>
                <a:r>
                  <a:rPr lang="zh-CN" altLang="en-US" sz="2800" b="1" dirty="0">
                    <a:latin typeface="+mn-lt"/>
                  </a:rPr>
                  <a:t>参数 {</a:t>
                </a:r>
                <a14:m>
                  <m:oMath xmlns:m="http://schemas.openxmlformats.org/officeDocument/2006/math">
                    <m:r>
                      <a:rPr lang="en-US" altLang="zh-CN" sz="2800" b="1" i="1" dirty="0">
                        <a:latin typeface="DejaVu Math TeX Gyre" panose="02000503000000000000" charset="0"/>
                        <a:cs typeface="DejaVu Math TeX Gyre" panose="02000503000000000000" charset="0"/>
                      </a:rPr>
                      <m:t>𝜽</m:t>
                    </m:r>
                  </m:oMath>
                </a14:m>
                <a:r>
                  <a:rPr lang="en-US" altLang="zh-CN" sz="2800" b="1" i="1" dirty="0">
                    <a:latin typeface="+mn-lt"/>
                  </a:rPr>
                  <a:t>, </a:t>
                </a:r>
                <a14:m>
                  <m:oMath xmlns:m="http://schemas.openxmlformats.org/officeDocument/2006/math">
                    <m:r>
                      <a:rPr lang="en-US" altLang="zh-CN" sz="2800" b="1" i="1" dirty="0">
                        <a:latin typeface="DejaVu Math TeX Gyre" panose="02000503000000000000" charset="0"/>
                        <a:cs typeface="DejaVu Math TeX Gyre" panose="02000503000000000000" charset="0"/>
                      </a:rPr>
                      <m:t>𝝆</m:t>
                    </m:r>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4" name="图片 3" descr="54c326d7763e9e429a7de7f5aacac59d"/>
          <p:cNvPicPr>
            <a:picLocks noChangeAspect="1"/>
          </p:cNvPicPr>
          <p:nvPr/>
        </p:nvPicPr>
        <p:blipFill>
          <a:blip r:embed="rId2"/>
          <a:srcRect r="10607"/>
          <a:stretch>
            <a:fillRect/>
          </a:stretch>
        </p:blipFill>
        <p:spPr>
          <a:xfrm>
            <a:off x="2565400" y="1935480"/>
            <a:ext cx="4592955" cy="588010"/>
          </a:xfrm>
          <a:prstGeom prst="rect">
            <a:avLst/>
          </a:prstGeom>
        </p:spPr>
      </p:pic>
      <p:pic>
        <p:nvPicPr>
          <p:cNvPr id="5" name="图片 4" descr="b4e2beeb133c75a93874a37876f629f2"/>
          <p:cNvPicPr>
            <a:picLocks noChangeAspect="1"/>
          </p:cNvPicPr>
          <p:nvPr/>
        </p:nvPicPr>
        <p:blipFill>
          <a:blip r:embed="rId3"/>
          <a:srcRect l="22525" r="25035"/>
          <a:stretch>
            <a:fillRect/>
          </a:stretch>
        </p:blipFill>
        <p:spPr>
          <a:xfrm>
            <a:off x="8095615" y="1892300"/>
            <a:ext cx="3261360" cy="709930"/>
          </a:xfrm>
          <a:prstGeom prst="rect">
            <a:avLst/>
          </a:prstGeom>
        </p:spPr>
      </p:pic>
      <mc:AlternateContent xmlns:mc="http://schemas.openxmlformats.org/markup-compatibility/2006">
        <mc:Choice xmlns:a14="http://schemas.microsoft.com/office/drawing/2010/main" Requires="a14">
          <p:sp>
            <p:nvSpPr>
              <p:cNvPr id="27" name="文本框 26"/>
              <p:cNvSpPr txBox="1"/>
              <p:nvPr/>
            </p:nvSpPr>
            <p:spPr>
              <a:xfrm>
                <a:off x="2075815" y="1076325"/>
                <a:ext cx="5791835" cy="368300"/>
              </a:xfrm>
              <a:prstGeom prst="rect">
                <a:avLst/>
              </a:prstGeom>
              <a:solidFill>
                <a:schemeClr val="bg2"/>
              </a:solidFill>
            </p:spPr>
            <p:txBody>
              <a:bodyPr wrap="square">
                <a:spAutoFit/>
              </a:bodyPr>
              <a:lstStyle/>
              <a:p>
                <a:pPr algn="ctr">
                  <a:buClrTx/>
                  <a:buSzTx/>
                  <a:buFontTx/>
                </a:pPr>
                <a:r>
                  <a:rPr lang="zh-CN" altLang="en-US" b="1" kern="100" dirty="0">
                    <a:solidFill>
                      <a:srgbClr val="69025E"/>
                    </a:solidFill>
                    <a:effectLst/>
                    <a:latin typeface="+mj-ea"/>
                    <a:ea typeface="+mj-ea"/>
                  </a:rPr>
                  <a:t>技能水平离散程度</a:t>
                </a:r>
                <a14:m>
                  <m:oMath xmlns:m="http://schemas.openxmlformats.org/officeDocument/2006/math">
                    <m:r>
                      <a:rPr lang="zh-CN" altLang="en-US" b="1" kern="100" dirty="0">
                        <a:solidFill>
                          <a:srgbClr val="69025E"/>
                        </a:solidFill>
                        <a:effectLst/>
                        <a:latin typeface="+mj-ea"/>
                        <a:ea typeface="+mj-ea"/>
                      </a:rPr>
                      <m:t>𝜽</m:t>
                    </m:r>
                  </m:oMath>
                </a14:m>
                <a:endParaRPr lang="en-US" altLang="zh-CN" sz="1800" kern="100" dirty="0">
                  <a:solidFill>
                    <a:srgbClr val="69025E"/>
                  </a:solidFill>
                  <a:effectLst/>
                  <a:latin typeface="+mj-ea"/>
                  <a:ea typeface="+mj-ea"/>
                </a:endParaRPr>
              </a:p>
            </p:txBody>
          </p:sp>
        </mc:Choice>
        <mc:Fallback>
          <p:sp>
            <p:nvSpPr>
              <p:cNvPr id="27" name="文本框 26"/>
              <p:cNvSpPr txBox="1">
                <a:spLocks noRot="1" noChangeAspect="1" noMove="1" noResize="1" noEditPoints="1" noAdjustHandles="1" noChangeArrowheads="1" noChangeShapeType="1" noTextEdit="1"/>
              </p:cNvSpPr>
              <p:nvPr/>
            </p:nvSpPr>
            <p:spPr>
              <a:xfrm>
                <a:off x="2075815" y="1076325"/>
                <a:ext cx="5791835" cy="368300"/>
              </a:xfrm>
              <a:prstGeom prst="rect">
                <a:avLst/>
              </a:prstGeom>
              <a:blipFill rotWithShape="1">
                <a:blip r:embed="rId4"/>
                <a:stretch>
                  <a:fillRect/>
                </a:stretch>
              </a:blipFill>
            </p:spPr>
            <p:txBody>
              <a:bodyPr/>
              <a:lstStyle/>
              <a:p>
                <a:r>
                  <a:rPr lang="zh-CN" altLang="en-US">
                    <a:noFill/>
                  </a:rPr>
                  <a:t> </a:t>
                </a:r>
              </a:p>
            </p:txBody>
          </p:sp>
        </mc:Fallback>
      </mc:AlternateContent>
      <p:sp>
        <p:nvSpPr>
          <p:cNvPr id="12" name="文本框 11"/>
          <p:cNvSpPr txBox="1"/>
          <p:nvPr/>
        </p:nvSpPr>
        <p:spPr>
          <a:xfrm>
            <a:off x="8095615" y="1076325"/>
            <a:ext cx="3261360" cy="368300"/>
          </a:xfrm>
          <a:prstGeom prst="rect">
            <a:avLst/>
          </a:prstGeom>
          <a:solidFill>
            <a:schemeClr val="bg2"/>
          </a:solidFill>
        </p:spPr>
        <p:txBody>
          <a:bodyPr wrap="square">
            <a:spAutoFit/>
          </a:bodyPr>
          <a:lstStyle/>
          <a:p>
            <a:pPr algn="ctr"/>
            <a:r>
              <a:rPr lang="zh-CN" altLang="en-US" sz="1800" b="1" kern="100" dirty="0">
                <a:solidFill>
                  <a:srgbClr val="69025E"/>
                </a:solidFill>
                <a:effectLst/>
                <a:latin typeface="+mj-ea"/>
                <a:ea typeface="+mj-ea"/>
              </a:rPr>
              <a:t>技能跨地点</a:t>
            </a:r>
            <a:r>
              <a:rPr lang="zh-CN" altLang="en-US" sz="1800" b="1" kern="100" dirty="0">
                <a:solidFill>
                  <a:srgbClr val="69025E"/>
                </a:solidFill>
                <a:effectLst/>
                <a:latin typeface="+mj-ea"/>
                <a:ea typeface="+mj-ea"/>
              </a:rPr>
              <a:t>相关性</a:t>
            </a:r>
            <a:endParaRPr lang="zh-CN" altLang="en-US" sz="1800" b="1" kern="100" dirty="0">
              <a:solidFill>
                <a:srgbClr val="69025E"/>
              </a:solidFill>
              <a:effectLst/>
              <a:latin typeface="+mj-ea"/>
              <a:ea typeface="+mj-ea"/>
            </a:endParaRPr>
          </a:p>
        </p:txBody>
      </p:sp>
      <p:grpSp>
        <p:nvGrpSpPr>
          <p:cNvPr id="17" name="组合 16"/>
          <p:cNvGrpSpPr/>
          <p:nvPr/>
        </p:nvGrpSpPr>
        <p:grpSpPr>
          <a:xfrm>
            <a:off x="2075815" y="1524000"/>
            <a:ext cx="5793105" cy="2479675"/>
            <a:chOff x="3107" y="5400"/>
            <a:chExt cx="4038" cy="4349"/>
          </a:xfrm>
        </p:grpSpPr>
        <p:sp>
          <p:nvSpPr>
            <p:cNvPr id="13" name="矩形 12"/>
            <p:cNvSpPr/>
            <p:nvPr/>
          </p:nvSpPr>
          <p:spPr>
            <a:xfrm>
              <a:off x="3107" y="5423"/>
              <a:ext cx="4038"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4037" cy="646"/>
            </a:xfrm>
            <a:prstGeom prst="rect">
              <a:avLst/>
            </a:prstGeom>
            <a:solidFill>
              <a:srgbClr val="69025E"/>
            </a:solidFill>
          </p:spPr>
          <p:txBody>
            <a:bodyPr wrap="square">
              <a:spAutoFit/>
            </a:bodyPr>
            <a:lstStyle/>
            <a:p>
              <a:pPr algn="ctr"/>
              <a:r>
                <a:rPr lang="zh-CN" altLang="en-US" b="1" dirty="0">
                  <a:solidFill>
                    <a:schemeClr val="bg1"/>
                  </a:solidFill>
                </a:rPr>
                <a:t>识别方法</a:t>
              </a:r>
              <a:endParaRPr lang="zh-CN" altLang="en-US" b="1" dirty="0">
                <a:solidFill>
                  <a:schemeClr val="bg1"/>
                </a:solidFill>
              </a:endParaRPr>
            </a:p>
          </p:txBody>
        </p:sp>
      </p:grpSp>
      <p:grpSp>
        <p:nvGrpSpPr>
          <p:cNvPr id="14" name="组合 13"/>
          <p:cNvGrpSpPr/>
          <p:nvPr/>
        </p:nvGrpSpPr>
        <p:grpSpPr>
          <a:xfrm>
            <a:off x="8095615" y="1537335"/>
            <a:ext cx="3261360" cy="2479675"/>
            <a:chOff x="3107" y="5400"/>
            <a:chExt cx="4038" cy="4349"/>
          </a:xfrm>
        </p:grpSpPr>
        <p:sp>
          <p:nvSpPr>
            <p:cNvPr id="15" name="矩形 14"/>
            <p:cNvSpPr/>
            <p:nvPr/>
          </p:nvSpPr>
          <p:spPr>
            <a:xfrm>
              <a:off x="3107" y="5423"/>
              <a:ext cx="4038"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107" y="5400"/>
              <a:ext cx="4037" cy="646"/>
            </a:xfrm>
            <a:prstGeom prst="rect">
              <a:avLst/>
            </a:prstGeom>
            <a:solidFill>
              <a:srgbClr val="69025E"/>
            </a:solidFill>
          </p:spPr>
          <p:txBody>
            <a:bodyPr wrap="square">
              <a:spAutoFit/>
            </a:bodyPr>
            <a:lstStyle/>
            <a:p>
              <a:pPr algn="ctr"/>
              <a:r>
                <a:rPr lang="zh-CN" altLang="en-US" b="1" dirty="0">
                  <a:solidFill>
                    <a:schemeClr val="bg1"/>
                  </a:solidFill>
                </a:rPr>
                <a:t>识别方法</a:t>
              </a:r>
              <a:endParaRPr lang="zh-CN" altLang="en-US" b="1" dirty="0">
                <a:solidFill>
                  <a:schemeClr val="bg1"/>
                </a:solidFill>
              </a:endParaRPr>
            </a:p>
          </p:txBody>
        </p:sp>
      </p:grpSp>
      <mc:AlternateContent xmlns:mc="http://schemas.openxmlformats.org/markup-compatibility/2006">
        <mc:Choice xmlns:a14="http://schemas.microsoft.com/office/drawing/2010/main" Requires="a14">
          <p:sp>
            <p:nvSpPr>
              <p:cNvPr id="6" name="文本框 5"/>
              <p:cNvSpPr txBox="1"/>
              <p:nvPr/>
            </p:nvSpPr>
            <p:spPr>
              <a:xfrm>
                <a:off x="2095500" y="2555875"/>
                <a:ext cx="5789930" cy="1362710"/>
              </a:xfrm>
              <a:prstGeom prst="rect">
                <a:avLst/>
              </a:prstGeom>
              <a:noFill/>
            </p:spPr>
            <p:txBody>
              <a:bodyPr wrap="square" rtlCol="0">
                <a:noAutofit/>
              </a:bodyPr>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将前文得到的平均工资方程取对数后得到上式</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在控制目的地</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出生地固定效应后</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利用平均工资对迁移比例的弹性识别</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识别上</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与特征事实的</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Fact 3 selection</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对应</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直觉上</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越大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不同人之间的技能</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水平越同质</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→selection</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越弱</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先迁入目的地和后迁入的劳动者工资变化不大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即</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1/</a:t>
                </a:r>
                <a14:m>
                  <m:oMath xmlns:m="http://schemas.openxmlformats.org/officeDocument/2006/math">
                    <m:r>
                      <a:rPr lang="zh-CN" altLang="en-US" sz="1400" kern="10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rPr>
                  <a:t>越小</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095500" y="2555875"/>
                <a:ext cx="5789930" cy="1362710"/>
              </a:xfrm>
              <a:prstGeom prst="rect">
                <a:avLst/>
              </a:prstGeom>
              <a:blipFill rotWithShape="1">
                <a:blip r:embed="rId5"/>
                <a:stretch>
                  <a:fillRect/>
                </a:stretch>
              </a:blipFill>
            </p:spPr>
            <p:txBody>
              <a:bodyPr/>
              <a:lstStyle/>
              <a:p>
                <a:r>
                  <a:rPr lang="zh-CN" altLang="en-US">
                    <a:noFill/>
                  </a:rPr>
                  <a:t> </a:t>
                </a:r>
              </a:p>
            </p:txBody>
          </p:sp>
        </mc:Fallback>
      </mc:AlternateContent>
      <p:grpSp>
        <p:nvGrpSpPr>
          <p:cNvPr id="32" name="组合 31"/>
          <p:cNvGrpSpPr/>
          <p:nvPr/>
        </p:nvGrpSpPr>
        <p:grpSpPr>
          <a:xfrm>
            <a:off x="8094980" y="4497705"/>
            <a:ext cx="3261360" cy="1260584"/>
            <a:chOff x="11399" y="7073"/>
            <a:chExt cx="5136" cy="1985"/>
          </a:xfrm>
        </p:grpSpPr>
        <p:grpSp>
          <p:nvGrpSpPr>
            <p:cNvPr id="10" name="组合 9"/>
            <p:cNvGrpSpPr/>
            <p:nvPr/>
          </p:nvGrpSpPr>
          <p:grpSpPr>
            <a:xfrm>
              <a:off x="11399" y="7073"/>
              <a:ext cx="5136" cy="1985"/>
              <a:chOff x="10328" y="7031"/>
              <a:chExt cx="7167" cy="2710"/>
            </a:xfrm>
          </p:grpSpPr>
          <p:grpSp>
            <p:nvGrpSpPr>
              <p:cNvPr id="25" name="组合 24"/>
              <p:cNvGrpSpPr/>
              <p:nvPr/>
            </p:nvGrpSpPr>
            <p:grpSpPr>
              <a:xfrm>
                <a:off x="12654" y="7031"/>
                <a:ext cx="4841" cy="2710"/>
                <a:chOff x="5768" y="7031"/>
                <a:chExt cx="4841" cy="2710"/>
              </a:xfrm>
            </p:grpSpPr>
            <mc:AlternateContent xmlns:mc="http://schemas.openxmlformats.org/markup-compatibility/2006">
              <mc:Choice xmlns:a14="http://schemas.microsoft.com/office/drawing/2010/main" Requires="a14">
                <p:sp>
                  <p:nvSpPr>
                    <p:cNvPr id="19" name="文本框 18"/>
                    <p:cNvSpPr txBox="1"/>
                    <p:nvPr/>
                  </p:nvSpPr>
                  <p:spPr>
                    <a:xfrm>
                      <a:off x="7506" y="7031"/>
                      <a:ext cx="1213" cy="796"/>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Sup>
                              <m:sSubSupPr>
                                <m:ctrlPr>
                                  <a:rPr lang="en-US" altLang="zh-CN" i="1" dirty="0">
                                    <a:latin typeface="DejaVu Math TeX Gyre" panose="02000503000000000000" charset="0"/>
                                    <a:cs typeface="DejaVu Math TeX Gyre" panose="02000503000000000000" charset="0"/>
                                  </a:rPr>
                                </m:ctrlPr>
                              </m:sSubSupPr>
                              <m:e>
                                <m:r>
                                  <a:rPr lang="en-US" altLang="zh-CN" i="1" dirty="0">
                                    <a:latin typeface="DejaVu Math TeX Gyre" panose="02000503000000000000" charset="0"/>
                                    <a:ea typeface="宋体" charset="0"/>
                                    <a:cs typeface="DejaVu Math TeX Gyre" panose="02000503000000000000" charset="0"/>
                                  </a:rPr>
                                  <m:t>𝜖</m:t>
                                </m:r>
                              </m:e>
                              <m:sub>
                                <m:r>
                                  <a:rPr lang="en-US" altLang="zh-CN" i="1" dirty="0">
                                    <a:latin typeface="DejaVu Math TeX Gyre" panose="02000503000000000000" charset="0"/>
                                    <a:cs typeface="DejaVu Math TeX Gyre" panose="02000503000000000000" charset="0"/>
                                  </a:rPr>
                                  <m:t>𝑑𝑜</m:t>
                                </m:r>
                              </m:sub>
                              <m:sup>
                                <m:r>
                                  <a:rPr lang="en-US" altLang="zh-CN" i="1" dirty="0">
                                    <a:latin typeface="DejaVu Math TeX Gyre" panose="02000503000000000000" charset="0"/>
                                    <a:cs typeface="DejaVu Math TeX Gyre" panose="02000503000000000000" charset="0"/>
                                  </a:rPr>
                                  <m:t>𝑤</m:t>
                                </m:r>
                              </m:sup>
                            </m:sSubSup>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7506" y="7031"/>
                      <a:ext cx="1213" cy="796"/>
                    </a:xfrm>
                    <a:prstGeom prst="rect">
                      <a:avLst/>
                    </a:prstGeom>
                    <a:blipFill rotWithShape="1">
                      <a:blip r:embed="rId6"/>
                    </a:blipFill>
                  </p:spPr>
                  <p:txBody>
                    <a:bodyPr/>
                    <a:lstStyle/>
                    <a:p>
                      <a:r>
                        <a:rPr lang="zh-CN" altLang="en-US">
                          <a:noFill/>
                        </a:rPr>
                        <a:t> </a:t>
                      </a:r>
                    </a:p>
                  </p:txBody>
                </p:sp>
              </mc:Fallback>
            </mc:AlternateContent>
            <p:cxnSp>
              <p:nvCxnSpPr>
                <p:cNvPr id="20" name="直接箭头连接符 19"/>
                <p:cNvCxnSpPr>
                  <a:stCxn id="19" idx="2"/>
                  <a:endCxn id="22" idx="0"/>
                </p:cNvCxnSpPr>
                <p:nvPr/>
              </p:nvCxnSpPr>
              <p:spPr>
                <a:xfrm flipH="1">
                  <a:off x="6376" y="7827"/>
                  <a:ext cx="1737" cy="1078"/>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9" idx="2"/>
                  <a:endCxn id="23" idx="0"/>
                </p:cNvCxnSpPr>
                <p:nvPr/>
              </p:nvCxnSpPr>
              <p:spPr>
                <a:xfrm>
                  <a:off x="8113" y="7827"/>
                  <a:ext cx="1891" cy="1118"/>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文本框 21"/>
                    <p:cNvSpPr txBox="1"/>
                    <p:nvPr/>
                  </p:nvSpPr>
                  <p:spPr>
                    <a:xfrm>
                      <a:off x="5768" y="8905"/>
                      <a:ext cx="1213" cy="793"/>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r>
                                  <a:rPr lang="en-US" altLang="zh-CN" i="1" dirty="0">
                                    <a:latin typeface="DejaVu Math TeX Gyre" panose="02000503000000000000" charset="0"/>
                                    <a:cs typeface="DejaVu Math TeX Gyre" panose="02000503000000000000" charset="0"/>
                                  </a:rPr>
                                  <m:t>𝜋</m:t>
                                </m:r>
                              </m:e>
                              <m:sub>
                                <m:r>
                                  <a:rPr lang="en-US" altLang="zh-CN" i="1" dirty="0">
                                    <a:latin typeface="DejaVu Math TeX Gyre" panose="02000503000000000000" charset="0"/>
                                    <a:cs typeface="DejaVu Math TeX Gyre" panose="02000503000000000000" charset="0"/>
                                  </a:rPr>
                                  <m:t>𝑑𝑜</m:t>
                                </m:r>
                              </m:sub>
                            </m:sSub>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5768" y="8905"/>
                      <a:ext cx="1213" cy="793"/>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9396" y="8945"/>
                      <a:ext cx="1213" cy="796"/>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i="1" dirty="0">
                                    <a:latin typeface="DejaVu Math TeX Gyre" panose="02000503000000000000" charset="0"/>
                                    <a:cs typeface="DejaVu Math TeX Gyre" panose="02000503000000000000" charset="0"/>
                                  </a:rPr>
                                </m:ctrlPr>
                              </m:sSubPr>
                              <m:e>
                                <m:acc>
                                  <m:accPr>
                                    <m:chr m:val="̅"/>
                                    <m:ctrlPr>
                                      <a:rPr lang="en-US" altLang="zh-CN" i="1" dirty="0">
                                        <a:latin typeface="DejaVu Math TeX Gyre" panose="02000503000000000000" charset="0"/>
                                        <a:cs typeface="DejaVu Math TeX Gyre" panose="02000503000000000000" charset="0"/>
                                      </a:rPr>
                                    </m:ctrlPr>
                                  </m:accPr>
                                  <m:e>
                                    <m:r>
                                      <a:rPr lang="en-US" altLang="zh-CN" i="1" dirty="0">
                                        <a:latin typeface="DejaVu Math TeX Gyre" panose="02000503000000000000" charset="0"/>
                                        <a:cs typeface="DejaVu Math TeX Gyre" panose="02000503000000000000" charset="0"/>
                                      </a:rPr>
                                      <m:t>𝑤𝑎𝑔𝑒</m:t>
                                    </m:r>
                                  </m:e>
                                </m:acc>
                              </m:e>
                              <m:sub>
                                <m:r>
                                  <a:rPr lang="en-US" altLang="zh-CN" i="1" dirty="0">
                                    <a:latin typeface="DejaVu Math TeX Gyre" panose="02000503000000000000" charset="0"/>
                                    <a:cs typeface="DejaVu Math TeX Gyre" panose="02000503000000000000" charset="0"/>
                                  </a:rPr>
                                  <m:t>𝑑𝑜</m:t>
                                </m:r>
                              </m:sub>
                            </m:sSub>
                          </m:oMath>
                        </m:oMathPara>
                      </a14:m>
                      <a:endParaRPr lang="en-US" altLang="zh-CN" i="1" dirty="0">
                        <a:latin typeface="Times New Roman" panose="02020503050405090304" pitchFamily="18" charset="0"/>
                        <a:cs typeface="Times New Roman" panose="02020503050405090304" pitchFamily="18" charset="0"/>
                      </a:endParaRPr>
                    </a:p>
                  </p:txBody>
                </p:sp>
              </mc:Choice>
              <mc:Fallback>
                <p:sp>
                  <p:nvSpPr>
                    <p:cNvPr id="23" name="文本框 22"/>
                    <p:cNvSpPr txBox="1">
                      <a:spLocks noRot="1" noChangeAspect="1" noMove="1" noResize="1" noEditPoints="1" noAdjustHandles="1" noChangeArrowheads="1" noChangeShapeType="1" noTextEdit="1"/>
                    </p:cNvSpPr>
                    <p:nvPr/>
                  </p:nvSpPr>
                  <p:spPr>
                    <a:xfrm>
                      <a:off x="9396" y="8945"/>
                      <a:ext cx="1213" cy="796"/>
                    </a:xfrm>
                    <a:prstGeom prst="rect">
                      <a:avLst/>
                    </a:prstGeom>
                    <a:blipFill rotWithShape="1">
                      <a:blip r:embed="rId8"/>
                    </a:blipFill>
                  </p:spPr>
                  <p:txBody>
                    <a:bodyPr/>
                    <a:lstStyle/>
                    <a:p>
                      <a:r>
                        <a:rPr lang="zh-CN" altLang="en-US">
                          <a:noFill/>
                        </a:rPr>
                        <a:t> </a:t>
                      </a:r>
                    </a:p>
                  </p:txBody>
                </p:sp>
              </mc:Fallback>
            </mc:AlternateContent>
            <p:cxnSp>
              <p:nvCxnSpPr>
                <p:cNvPr id="24" name="直接箭头连接符 23"/>
                <p:cNvCxnSpPr>
                  <a:stCxn id="22" idx="3"/>
                  <a:endCxn id="23" idx="1"/>
                </p:cNvCxnSpPr>
                <p:nvPr/>
              </p:nvCxnSpPr>
              <p:spPr>
                <a:xfrm>
                  <a:off x="6981" y="9303"/>
                  <a:ext cx="2416" cy="41"/>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文本框 27"/>
              <p:cNvSpPr txBox="1"/>
              <p:nvPr/>
            </p:nvSpPr>
            <p:spPr>
              <a:xfrm>
                <a:off x="10328" y="8933"/>
                <a:ext cx="1213" cy="792"/>
              </a:xfrm>
              <a:prstGeom prst="rect">
                <a:avLst/>
              </a:prstGeom>
              <a:noFill/>
            </p:spPr>
            <p:txBody>
              <a:bodyPr wrap="square" rtlCol="0" anchor="t">
                <a:spAutoFit/>
              </a:bodyPr>
              <a:p>
                <a:pPr algn="ctr"/>
                <a:r>
                  <a:rPr lang="en-US" altLang="zh-CN" i="1" dirty="0">
                    <a:latin typeface="Times New Roman" panose="02020503050405090304" pitchFamily="18" charset="0"/>
                    <a:cs typeface="Times New Roman" panose="02020503050405090304" pitchFamily="18" charset="0"/>
                  </a:rPr>
                  <a:t>IV</a:t>
                </a:r>
                <a:endParaRPr lang="en-US" altLang="zh-CN" i="1" dirty="0">
                  <a:latin typeface="Times New Roman" panose="02020503050405090304" pitchFamily="18" charset="0"/>
                  <a:cs typeface="Times New Roman" panose="02020503050405090304" pitchFamily="18" charset="0"/>
                </a:endParaRPr>
              </a:p>
            </p:txBody>
          </p:sp>
          <p:cxnSp>
            <p:nvCxnSpPr>
              <p:cNvPr id="29" name="直接箭头连接符 28"/>
              <p:cNvCxnSpPr>
                <a:stCxn id="28" idx="3"/>
                <a:endCxn id="22" idx="1"/>
              </p:cNvCxnSpPr>
              <p:nvPr/>
            </p:nvCxnSpPr>
            <p:spPr>
              <a:xfrm flipV="1">
                <a:off x="11541" y="9303"/>
                <a:ext cx="1114" cy="26"/>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8" idx="0"/>
                <a:endCxn id="19" idx="1"/>
              </p:cNvCxnSpPr>
              <p:nvPr/>
            </p:nvCxnSpPr>
            <p:spPr>
              <a:xfrm flipV="1">
                <a:off x="10935" y="7430"/>
                <a:ext cx="3457" cy="1503"/>
              </a:xfrm>
              <a:prstGeom prst="straightConnector1">
                <a:avLst/>
              </a:prstGeom>
              <a:ln w="28575">
                <a:solidFill>
                  <a:srgbClr val="69025E"/>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3695" y="7901"/>
                <a:ext cx="1606" cy="561"/>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grpSp>
        <p:sp>
          <p:nvSpPr>
            <p:cNvPr id="26" name="文本框 25"/>
            <p:cNvSpPr txBox="1"/>
            <p:nvPr/>
          </p:nvSpPr>
          <p:spPr>
            <a:xfrm>
              <a:off x="15181" y="7710"/>
              <a:ext cx="1151" cy="411"/>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grpSp>
      <p:sp>
        <p:nvSpPr>
          <p:cNvPr id="31" name="箭头: 下 15"/>
          <p:cNvSpPr/>
          <p:nvPr/>
        </p:nvSpPr>
        <p:spPr>
          <a:xfrm>
            <a:off x="4688840" y="3994785"/>
            <a:ext cx="350520" cy="26035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6" name="矩形: 圆角 7"/>
              <p:cNvSpPr/>
              <p:nvPr/>
            </p:nvSpPr>
            <p:spPr>
              <a:xfrm>
                <a:off x="2073910" y="4255770"/>
                <a:ext cx="5811520" cy="219646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342900" indent="-342900" algn="l">
                  <a:buClrTx/>
                  <a:buSzTx/>
                  <a:buFont typeface="Arial" panose="020B0604020202090204" pitchFamily="34" charset="0"/>
                  <a:buChar char="•"/>
                </a:pPr>
                <a:r>
                  <a:rPr lang="en-US" altLang="zh-CN" sz="1400" b="1">
                    <a:solidFill>
                      <a:srgbClr val="660066"/>
                    </a:solidFill>
                    <a:sym typeface="+mn-ea"/>
                  </a:rPr>
                  <a:t>IV</a:t>
                </a:r>
                <a:r>
                  <a:rPr lang="zh-CN" altLang="en-US" sz="1400" b="1">
                    <a:solidFill>
                      <a:srgbClr val="660066"/>
                    </a:solidFill>
                    <a:sym typeface="+mn-ea"/>
                  </a:rPr>
                  <a:t>识别策略</a:t>
                </a:r>
                <a:r>
                  <a:rPr lang="en-US" altLang="zh-CN" sz="1400" b="1">
                    <a:solidFill>
                      <a:srgbClr val="660066"/>
                    </a:solidFill>
                    <a:sym typeface="+mn-ea"/>
                  </a:rPr>
                  <a:t>：</a:t>
                </a:r>
                <a:r>
                  <a:rPr lang="zh-CN" altLang="en-US" sz="1400">
                    <a:solidFill>
                      <a:srgbClr val="660066"/>
                    </a:solidFill>
                    <a:sym typeface="+mn-ea"/>
                  </a:rPr>
                  <a:t>所有</a:t>
                </a:r>
                <a:r>
                  <a:rPr lang="zh-CN" altLang="en-US" sz="1400" b="1">
                    <a:solidFill>
                      <a:srgbClr val="660066"/>
                    </a:solidFill>
                    <a:sym typeface="+mn-ea"/>
                  </a:rPr>
                  <a:t>其他出生地</a:t>
                </a:r>
                <a:r>
                  <a:rPr lang="zh-CN" altLang="en-US" sz="1400">
                    <a:solidFill>
                      <a:srgbClr val="660066"/>
                    </a:solidFill>
                    <a:sym typeface="+mn-ea"/>
                  </a:rPr>
                  <a:t>的人迁往目的地 </a:t>
                </a:r>
                <a:r>
                  <a:rPr lang="en-US" altLang="zh-CN" sz="1400">
                    <a:solidFill>
                      <a:srgbClr val="660066"/>
                    </a:solidFill>
                    <a:sym typeface="+mn-ea"/>
                  </a:rPr>
                  <a:t>d </a:t>
                </a:r>
                <a:r>
                  <a:rPr lang="zh-CN" altLang="en-US" sz="1400">
                    <a:solidFill>
                      <a:srgbClr val="660066"/>
                    </a:solidFill>
                    <a:sym typeface="+mn-ea"/>
                  </a:rPr>
                  <a:t>的比例</a:t>
                </a:r>
                <a:endParaRPr lang="zh-CN" altLang="en-US" sz="1400">
                  <a:solidFill>
                    <a:srgbClr val="660066"/>
                  </a:solidFill>
                  <a:sym typeface="+mn-ea"/>
                </a:endParaRPr>
              </a:p>
              <a:p>
                <a:pPr marL="342900" indent="-342900" algn="l">
                  <a:buClrTx/>
                  <a:buSzTx/>
                  <a:buFont typeface="+mj-lt"/>
                  <a:buAutoNum type="arabicPeriod"/>
                </a:pPr>
                <a:r>
                  <a:rPr lang="zh-CN" altLang="en-US" sz="1400" b="1">
                    <a:solidFill>
                      <a:srgbClr val="660066"/>
                    </a:solidFill>
                    <a:sym typeface="+mn-ea"/>
                  </a:rPr>
                  <a:t>外生性</a:t>
                </a:r>
                <a:r>
                  <a:rPr lang="en-US" altLang="zh-CN" sz="1400" b="1">
                    <a:solidFill>
                      <a:srgbClr val="660066"/>
                    </a:solidFill>
                    <a:sym typeface="+mn-ea"/>
                  </a:rPr>
                  <a:t>：</a:t>
                </a:r>
                <a:r>
                  <a:rPr lang="zh-CN" altLang="en-US" sz="1400">
                    <a:solidFill>
                      <a:schemeClr val="tx1"/>
                    </a:solidFill>
                    <a:sym typeface="+mn-ea"/>
                  </a:rPr>
                  <a:t>误差项冲击只作用在</a:t>
                </a:r>
                <a:r>
                  <a:rPr lang="en-US" altLang="zh-CN" sz="1400">
                    <a:solidFill>
                      <a:schemeClr val="tx1"/>
                    </a:solidFill>
                    <a:sym typeface="+mn-ea"/>
                  </a:rPr>
                  <a:t>o-d</a:t>
                </a:r>
                <a:r>
                  <a:rPr lang="zh-CN" altLang="en-US" sz="1400">
                    <a:solidFill>
                      <a:schemeClr val="tx1"/>
                    </a:solidFill>
                    <a:sym typeface="+mn-ea"/>
                  </a:rPr>
                  <a:t>迁移比例</a:t>
                </a:r>
                <a:r>
                  <a:rPr lang="en-US" altLang="zh-CN" sz="1400">
                    <a:solidFill>
                      <a:schemeClr val="tx1"/>
                    </a:solidFill>
                    <a:sym typeface="+mn-ea"/>
                  </a:rPr>
                  <a:t>：</a:t>
                </a:r>
                <a:r>
                  <a:rPr lang="zh-CN" altLang="en-US" sz="1400">
                    <a:solidFill>
                      <a:schemeClr val="tx1"/>
                    </a:solidFill>
                    <a:sym typeface="+mn-ea"/>
                  </a:rPr>
                  <a:t>一个只让中爪哇工人在雅加达工资变高的冲击，不改变苏门答腊人迁往雅加达的意愿</a:t>
                </a:r>
                <a:r>
                  <a:rPr lang="en-US" altLang="zh-CN" sz="1400">
                    <a:solidFill>
                      <a:schemeClr val="tx1"/>
                    </a:solidFill>
                    <a:sym typeface="+mn-ea"/>
                  </a:rPr>
                  <a:t>。</a:t>
                </a:r>
                <a:endParaRPr lang="zh-CN" altLang="en-US" sz="1400">
                  <a:solidFill>
                    <a:schemeClr val="tx1"/>
                  </a:solidFill>
                  <a:sym typeface="+mn-ea"/>
                </a:endParaRPr>
              </a:p>
              <a:p>
                <a:pPr marL="342900" indent="-342900" algn="l">
                  <a:buClrTx/>
                  <a:buSzTx/>
                  <a:buFont typeface="+mj-lt"/>
                  <a:buAutoNum type="arabicPeriod"/>
                </a:pPr>
                <a:r>
                  <a:rPr lang="zh-CN" altLang="en-US" sz="1400" b="1">
                    <a:solidFill>
                      <a:srgbClr val="660066"/>
                    </a:solidFill>
                    <a:sym typeface="+mn-ea"/>
                  </a:rPr>
                  <a:t>相关性</a:t>
                </a:r>
                <a:r>
                  <a:rPr lang="en-US" altLang="zh-CN" sz="1400" b="1">
                    <a:solidFill>
                      <a:srgbClr val="660066"/>
                    </a:solidFill>
                    <a:sym typeface="+mn-ea"/>
                  </a:rPr>
                  <a:t>：</a:t>
                </a:r>
                <a:r>
                  <a:rPr lang="zh-CN" altLang="en-US" sz="1400">
                    <a:solidFill>
                      <a:schemeClr val="tx1"/>
                    </a:solidFill>
                    <a:sym typeface="+mn-ea"/>
                  </a:rPr>
                  <a:t>两个迁移比例会被同一批目的地</a:t>
                </a:r>
                <a:r>
                  <a:rPr lang="en-US" altLang="zh-CN" sz="1400">
                    <a:solidFill>
                      <a:schemeClr val="tx1"/>
                    </a:solidFill>
                    <a:sym typeface="+mn-ea"/>
                  </a:rPr>
                  <a:t>d</a:t>
                </a:r>
                <a:r>
                  <a:rPr lang="zh-CN" altLang="en-US" sz="1400">
                    <a:solidFill>
                      <a:schemeClr val="tx1"/>
                    </a:solidFill>
                    <a:sym typeface="+mn-ea"/>
                  </a:rPr>
                  <a:t>的迁移拉力所驱动</a:t>
                </a:r>
                <a:r>
                  <a:rPr lang="en-US" altLang="zh-CN" sz="1400">
                    <a:solidFill>
                      <a:schemeClr val="tx1"/>
                    </a:solidFill>
                    <a:sym typeface="+mn-ea"/>
                  </a:rPr>
                  <a:t>，</a:t>
                </a:r>
                <a:r>
                  <a:rPr lang="zh-CN" altLang="en-US" sz="1400">
                    <a:solidFill>
                      <a:schemeClr val="tx1"/>
                    </a:solidFill>
                    <a:sym typeface="+mn-ea"/>
                  </a:rPr>
                  <a:t>会同涨同跌</a:t>
                </a:r>
                <a:r>
                  <a:rPr lang="en-US" altLang="zh-CN" sz="1400">
                    <a:solidFill>
                      <a:schemeClr val="tx1"/>
                    </a:solidFill>
                    <a:sym typeface="+mn-ea"/>
                  </a:rPr>
                  <a:t>，</a:t>
                </a:r>
                <a:r>
                  <a:rPr lang="zh-CN" altLang="en-US" sz="1400">
                    <a:solidFill>
                      <a:schemeClr val="tx1"/>
                    </a:solidFill>
                    <a:sym typeface="+mn-ea"/>
                  </a:rPr>
                  <a:t>体现为相关性</a:t>
                </a:r>
                <a:r>
                  <a:rPr lang="en-US" altLang="zh-CN" sz="1400">
                    <a:solidFill>
                      <a:schemeClr val="tx1"/>
                    </a:solidFill>
                    <a:sym typeface="+mn-ea"/>
                  </a:rPr>
                  <a:t>。</a:t>
                </a:r>
                <a:endParaRPr lang="en-US" altLang="zh-CN" sz="1400">
                  <a:solidFill>
                    <a:schemeClr val="tx1"/>
                  </a:solidFill>
                  <a:sym typeface="+mn-ea"/>
                </a:endParaRPr>
              </a:p>
              <a:p>
                <a:pPr marL="342900" indent="-342900" algn="l">
                  <a:buClrTx/>
                  <a:buSzTx/>
                  <a:buFont typeface="+mj-lt"/>
                  <a:buAutoNum type="arabicPeriod"/>
                </a:pPr>
                <a:r>
                  <a:rPr lang="zh-CN" altLang="en-US" sz="1400" b="1">
                    <a:solidFill>
                      <a:srgbClr val="660066"/>
                    </a:solidFill>
                    <a:sym typeface="+mn-ea"/>
                  </a:rPr>
                  <a:t>排他性</a:t>
                </a:r>
                <a:r>
                  <a:rPr lang="en-US" altLang="zh-CN" sz="1400" b="1">
                    <a:solidFill>
                      <a:srgbClr val="660066"/>
                    </a:solidFill>
                    <a:sym typeface="+mn-ea"/>
                  </a:rPr>
                  <a:t>：</a:t>
                </a:r>
                <a:r>
                  <a:rPr lang="zh-CN" altLang="en-US" sz="1400">
                    <a:solidFill>
                      <a:schemeClr val="tx1"/>
                    </a:solidFill>
                    <a:sym typeface="+mn-ea"/>
                  </a:rPr>
                  <a:t>其他出生地 o′ 迁往 d 的比例，由 目的地</a:t>
                </a:r>
                <a:r>
                  <a:rPr lang="en-US" altLang="zh-CN" sz="1400">
                    <a:solidFill>
                      <a:schemeClr val="tx1"/>
                    </a:solidFill>
                    <a:sym typeface="+mn-ea"/>
                  </a:rPr>
                  <a:t> </a:t>
                </a:r>
                <a:r>
                  <a:rPr lang="zh-CN" altLang="en-US" sz="1400">
                    <a:solidFill>
                      <a:schemeClr val="tx1"/>
                    </a:solidFill>
                    <a:sym typeface="+mn-ea"/>
                  </a:rPr>
                  <a:t>d 的共同相对禀赋</a:t>
                </a:r>
                <a:r>
                  <a:rPr lang="en-US" altLang="zh-CN" sz="1400">
                    <a:solidFill>
                      <a:schemeClr val="tx1"/>
                    </a:solidFill>
                    <a:sym typeface="+mn-ea"/>
                  </a:rPr>
                  <a:t>（</a:t>
                </a:r>
                <a14:m>
                  <m:oMath xmlns:m="http://schemas.openxmlformats.org/officeDocument/2006/math">
                    <m:sSub>
                      <m:sSubPr>
                        <m:ctrlPr>
                          <a:rPr lang="en-US" altLang="zh-CN" sz="1400" i="1" dirty="0">
                            <a:solidFill>
                              <a:schemeClr val="tx1"/>
                            </a:solidFill>
                            <a:latin typeface="DejaVu Math TeX Gyre" panose="02000503000000000000" charset="0"/>
                            <a:cs typeface="DejaVu Math TeX Gyre" panose="02000503000000000000" charset="0"/>
                          </a:rPr>
                        </m:ctrlPr>
                      </m:sSubPr>
                      <m:e>
                        <m:r>
                          <a:rPr lang="en-US" altLang="zh-CN" sz="1400" i="1" dirty="0">
                            <a:solidFill>
                              <a:schemeClr val="tx1"/>
                            </a:solidFill>
                            <a:latin typeface="DejaVu Math TeX Gyre" panose="02000503000000000000" charset="0"/>
                            <a:cs typeface="DejaVu Math TeX Gyre" panose="02000503000000000000" charset="0"/>
                          </a:rPr>
                          <m:t>𝑤</m:t>
                        </m:r>
                      </m:e>
                      <m:sub>
                        <m:r>
                          <a:rPr lang="en-US" altLang="zh-CN" sz="1400" i="1" dirty="0">
                            <a:solidFill>
                              <a:schemeClr val="tx1"/>
                            </a:solidFill>
                            <a:latin typeface="DejaVu Math TeX Gyre" panose="02000503000000000000" charset="0"/>
                            <a:cs typeface="DejaVu Math TeX Gyre" panose="02000503000000000000" charset="0"/>
                          </a:rPr>
                          <m:t>𝑑</m:t>
                        </m:r>
                      </m:sub>
                    </m:sSub>
                    <m:sSub>
                      <m:sSubPr>
                        <m:ctrlPr>
                          <a:rPr lang="en-US" altLang="zh-CN" sz="1400" i="1" dirty="0">
                            <a:solidFill>
                              <a:schemeClr val="tx1"/>
                            </a:solidFill>
                            <a:latin typeface="DejaVu Math TeX Gyre" panose="02000503000000000000" charset="0"/>
                            <a:cs typeface="DejaVu Math TeX Gyre" panose="02000503000000000000" charset="0"/>
                          </a:rPr>
                        </m:ctrlPr>
                      </m:sSubPr>
                      <m:e>
                        <m:r>
                          <a:rPr lang="en-US" altLang="zh-CN" sz="1400" i="1" dirty="0">
                            <a:solidFill>
                              <a:schemeClr val="tx1"/>
                            </a:solidFill>
                            <a:latin typeface="DejaVu Math TeX Gyre" panose="02000503000000000000" charset="0"/>
                            <a:ea typeface="宋体" charset="0"/>
                            <a:cs typeface="DejaVu Math TeX Gyre" panose="02000503000000000000" charset="0"/>
                          </a:rPr>
                          <m:t>𝛼</m:t>
                        </m:r>
                      </m:e>
                      <m:sub>
                        <m:r>
                          <a:rPr lang="en-US" altLang="zh-CN" sz="1400" i="1" dirty="0">
                            <a:solidFill>
                              <a:schemeClr val="tx1"/>
                            </a:solidFill>
                            <a:latin typeface="DejaVu Math TeX Gyre" panose="02000503000000000000" charset="0"/>
                            <a:cs typeface="DejaVu Math TeX Gyre" panose="02000503000000000000" charset="0"/>
                          </a:rPr>
                          <m:t>𝑑</m:t>
                        </m:r>
                      </m:sub>
                    </m:sSub>
                  </m:oMath>
                </a14:m>
                <a:r>
                  <a:rPr lang="en-US" altLang="zh-CN" sz="1400">
                    <a:solidFill>
                      <a:schemeClr val="tx1"/>
                    </a:solidFill>
                    <a:sym typeface="+mn-ea"/>
                  </a:rPr>
                  <a:t>）</a:t>
                </a:r>
                <a:r>
                  <a:rPr lang="zh-CN" altLang="en-US" sz="1400">
                    <a:solidFill>
                      <a:schemeClr val="tx1"/>
                    </a:solidFill>
                    <a:sym typeface="+mn-ea"/>
                  </a:rPr>
                  <a:t>和 (d,o′) 配对的冲击决定，不受</a:t>
                </a:r>
                <a14:m>
                  <m:oMath xmlns:m="http://schemas.openxmlformats.org/officeDocument/2006/math">
                    <m:sSubSup>
                      <m:sSubSupPr>
                        <m:ctrlPr>
                          <a:rPr lang="zh-CN" altLang="en-US" sz="1400">
                            <a:solidFill>
                              <a:schemeClr val="tx1"/>
                            </a:solidFill>
                          </a:rPr>
                        </m:ctrlPr>
                      </m:sSubSupPr>
                      <m:e>
                        <m:r>
                          <a:rPr lang="zh-CN" altLang="en-US" sz="1400">
                            <a:solidFill>
                              <a:schemeClr val="tx1"/>
                            </a:solidFill>
                            <a:latin typeface="DejaVu Math TeX Gyre" panose="02000503000000000000" charset="0"/>
                          </a:rPr>
                          <m:t>𝜖</m:t>
                        </m:r>
                      </m:e>
                      <m:sub>
                        <m:r>
                          <a:rPr lang="zh-CN" altLang="en-US" sz="1400">
                            <a:solidFill>
                              <a:schemeClr val="tx1"/>
                            </a:solidFill>
                            <a:latin typeface="DejaVu Math TeX Gyre" panose="02000503000000000000" charset="0"/>
                          </a:rPr>
                          <m:t>𝑑𝑜</m:t>
                        </m:r>
                      </m:sub>
                      <m:sup>
                        <m:r>
                          <a:rPr lang="zh-CN" altLang="en-US" sz="1400">
                            <a:solidFill>
                              <a:schemeClr val="tx1"/>
                            </a:solidFill>
                            <a:latin typeface="DejaVu Math TeX Gyre" panose="02000503000000000000" charset="0"/>
                          </a:rPr>
                          <m:t>𝑤</m:t>
                        </m:r>
                      </m:sup>
                    </m:sSubSup>
                  </m:oMath>
                </a14:m>
                <a:r>
                  <a:rPr lang="zh-CN" altLang="en-US" sz="1400">
                    <a:solidFill>
                      <a:schemeClr val="tx1"/>
                    </a:solidFill>
                    <a:sym typeface="+mn-ea"/>
                  </a:rPr>
                  <a:t>的影响；同时方程中控制了目的地固定效应</a:t>
                </a:r>
                <a:r>
                  <a:rPr lang="en-US" altLang="zh-CN" sz="1400">
                    <a:solidFill>
                      <a:schemeClr val="tx1"/>
                    </a:solidFill>
                    <a:sym typeface="+mn-ea"/>
                  </a:rPr>
                  <a:t>，IV</a:t>
                </a:r>
                <a:r>
                  <a:rPr lang="zh-CN" altLang="en-US" sz="1400">
                    <a:solidFill>
                      <a:schemeClr val="tx1"/>
                    </a:solidFill>
                    <a:sym typeface="+mn-ea"/>
                  </a:rPr>
                  <a:t>只能通过</a:t>
                </a:r>
                <a:r>
                  <a:rPr lang="zh-CN" altLang="en-US" sz="1400">
                    <a:solidFill>
                      <a:schemeClr val="tx1"/>
                    </a:solidFill>
                    <a:sym typeface="+mn-ea"/>
                  </a:rPr>
                  <a:t>(d,o) 迁移比例影响平均工资</a:t>
                </a:r>
                <a:r>
                  <a:rPr lang="en-US" altLang="zh-CN" sz="1400">
                    <a:solidFill>
                      <a:schemeClr val="tx1"/>
                    </a:solidFill>
                    <a:sym typeface="+mn-ea"/>
                  </a:rPr>
                  <a:t>，</a:t>
                </a:r>
                <a:r>
                  <a:rPr lang="zh-CN" altLang="en-US" sz="1400">
                    <a:solidFill>
                      <a:schemeClr val="tx1"/>
                    </a:solidFill>
                    <a:sym typeface="+mn-ea"/>
                  </a:rPr>
                  <a:t>体现为排他性</a:t>
                </a:r>
                <a:r>
                  <a:rPr lang="en-US" altLang="zh-CN" sz="1400">
                    <a:solidFill>
                      <a:schemeClr val="tx1"/>
                    </a:solidFill>
                    <a:sym typeface="+mn-ea"/>
                  </a:rPr>
                  <a:t>。</a:t>
                </a:r>
                <a:endParaRPr lang="en-US" altLang="zh-CN" sz="1400">
                  <a:solidFill>
                    <a:schemeClr val="tx1"/>
                  </a:solidFill>
                  <a:sym typeface="+mn-ea"/>
                </a:endParaRPr>
              </a:p>
            </p:txBody>
          </p:sp>
        </mc:Choice>
        <mc:Fallback>
          <p:sp>
            <p:nvSpPr>
              <p:cNvPr id="46" name="矩形: 圆角 7"/>
              <p:cNvSpPr>
                <a:spLocks noRot="1" noChangeAspect="1" noMove="1" noResize="1" noEditPoints="1" noAdjustHandles="1" noChangeArrowheads="1" noChangeShapeType="1" noTextEdit="1"/>
              </p:cNvSpPr>
              <p:nvPr/>
            </p:nvSpPr>
            <p:spPr>
              <a:xfrm>
                <a:off x="2073910" y="4255770"/>
                <a:ext cx="5811520" cy="2196465"/>
              </a:xfrm>
              <a:prstGeom prst="roundRect">
                <a:avLst/>
              </a:prstGeom>
              <a:blipFill rotWithShape="1">
                <a:blip r:embed="rId9"/>
                <a:stretch>
                  <a:fillRect l="-251" t="-665" r="-240" b="-636"/>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4" name="矩形 33"/>
          <p:cNvSpPr/>
          <p:nvPr/>
        </p:nvSpPr>
        <p:spPr>
          <a:xfrm>
            <a:off x="8086090" y="5274310"/>
            <a:ext cx="558800" cy="58864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8896350" y="4867910"/>
            <a:ext cx="730885" cy="260985"/>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mc:AlternateContent xmlns:mc="http://schemas.openxmlformats.org/markup-compatibility/2006">
        <mc:Choice xmlns:a14="http://schemas.microsoft.com/office/drawing/2010/main" Requires="a14">
          <p:sp>
            <p:nvSpPr>
              <p:cNvPr id="39" name="文本框 38"/>
              <p:cNvSpPr txBox="1"/>
              <p:nvPr/>
            </p:nvSpPr>
            <p:spPr>
              <a:xfrm>
                <a:off x="8086090" y="2556510"/>
                <a:ext cx="3270250" cy="1362710"/>
              </a:xfrm>
              <a:prstGeom prst="rect">
                <a:avLst/>
              </a:prstGeom>
              <a:noFill/>
            </p:spPr>
            <p:txBody>
              <a:bodyPr wrap="square" rtlCol="0">
                <a:noAutofit/>
              </a:bodyPr>
              <a:p>
                <a:pPr marL="285750" indent="-285750">
                  <a:buFont typeface="Arial" panose="020B0604020202090204" pitchFamily="34" charset="0"/>
                  <a:buChar char="•"/>
                </a:pPr>
                <a:r>
                  <a:rPr lang="zh-CN" altLang="en-US" sz="1400" kern="0">
                    <a:solidFill>
                      <a:schemeClr val="tx1"/>
                    </a:solidFill>
                    <a:uFillTx/>
                    <a:latin typeface="Times New Roman" panose="02020503050405090304" pitchFamily="18" charset="0"/>
                    <a:ea typeface="楷体" charset="0"/>
                  </a:rPr>
                  <a:t>利用 </a:t>
                </a:r>
                <a:r>
                  <a:rPr lang="en-US" altLang="zh-CN" sz="1400" kern="0">
                    <a:solidFill>
                      <a:schemeClr val="tx1"/>
                    </a:solidFill>
                    <a:uFillTx/>
                    <a:latin typeface="Times New Roman" panose="02020503050405090304" pitchFamily="18" charset="0"/>
                    <a:ea typeface="楷体" charset="0"/>
                  </a:rPr>
                  <a:t>Fr</a:t>
                </a:r>
                <a:r>
                  <a:rPr lang="en-US" altLang="en-US" sz="1400" kern="0">
                    <a:solidFill>
                      <a:schemeClr val="tx1"/>
                    </a:solidFill>
                    <a:uFillTx/>
                    <a:latin typeface="Times New Roman" panose="02020503050405090304" pitchFamily="18" charset="0"/>
                    <a:ea typeface="楷体" charset="0"/>
                  </a:rPr>
                  <a:t>é</a:t>
                </a:r>
                <a:r>
                  <a:rPr lang="en-US" altLang="zh-CN" sz="1400" kern="0">
                    <a:solidFill>
                      <a:schemeClr val="tx1"/>
                    </a:solidFill>
                    <a:uFillTx/>
                    <a:latin typeface="Times New Roman" panose="02020503050405090304" pitchFamily="18" charset="0"/>
                    <a:ea typeface="楷体" charset="0"/>
                  </a:rPr>
                  <a:t>chet </a:t>
                </a:r>
                <a:r>
                  <a:rPr lang="zh-CN" altLang="en-US" sz="1400" kern="0">
                    <a:solidFill>
                      <a:schemeClr val="tx1"/>
                    </a:solidFill>
                    <a:uFillTx/>
                    <a:latin typeface="Times New Roman" panose="02020503050405090304" pitchFamily="18" charset="0"/>
                    <a:ea typeface="楷体" charset="0"/>
                  </a:rPr>
                  <a:t>分布性质</a:t>
                </a:r>
                <a:r>
                  <a:rPr lang="en-US" altLang="zh-CN" sz="1400" kern="0">
                    <a:solidFill>
                      <a:schemeClr val="tx1"/>
                    </a:solidFill>
                    <a:uFillTx/>
                    <a:latin typeface="Times New Roman" panose="02020503050405090304" pitchFamily="18" charset="0"/>
                    <a:ea typeface="楷体" charset="0"/>
                  </a:rPr>
                  <a:t>，</a:t>
                </a:r>
                <a:r>
                  <a:rPr lang="zh-CN" altLang="en-US" sz="1400" kern="0">
                    <a:solidFill>
                      <a:schemeClr val="tx1"/>
                    </a:solidFill>
                    <a:uFillTx/>
                    <a:latin typeface="Times New Roman" panose="02020503050405090304" pitchFamily="18" charset="0"/>
                    <a:ea typeface="楷体" charset="0"/>
                  </a:rPr>
                  <a:t>计算出工资的二阶矩的表达式</a:t>
                </a:r>
                <a:r>
                  <a:rPr lang="en-US" altLang="zh-CN" sz="1400" kern="0">
                    <a:solidFill>
                      <a:schemeClr val="tx1"/>
                    </a:solidFill>
                    <a:uFillTx/>
                    <a:latin typeface="Times New Roman" panose="02020503050405090304" pitchFamily="18" charset="0"/>
                    <a:ea typeface="楷体" charset="0"/>
                  </a:rPr>
                  <a:t>，</a:t>
                </a:r>
                <a:r>
                  <a:rPr lang="zh-CN" altLang="en-US" sz="1400" kern="0">
                    <a:solidFill>
                      <a:schemeClr val="tx1"/>
                    </a:solidFill>
                    <a:uFillTx/>
                    <a:latin typeface="Times New Roman" panose="02020503050405090304" pitchFamily="18" charset="0"/>
                    <a:ea typeface="楷体" charset="0"/>
                  </a:rPr>
                  <a:t>将已经识别的</a:t>
                </a:r>
                <a14:m>
                  <m:oMath xmlns:m="http://schemas.openxmlformats.org/officeDocument/2006/math">
                    <m:r>
                      <a:rPr lang="zh-CN" altLang="en-US" sz="1400" kern="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rPr>
                  <a:t>代入</a:t>
                </a:r>
                <a:r>
                  <a:rPr lang="en-US" altLang="zh-CN" sz="1400" kern="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rPr>
                  <a:t>反解出</a:t>
                </a:r>
                <a14:m>
                  <m:oMath xmlns:m="http://schemas.openxmlformats.org/officeDocument/2006/math">
                    <m:r>
                      <a:rPr lang="en-US" altLang="zh-CN" sz="1400" i="1" kern="0" dirty="0">
                        <a:solidFill>
                          <a:schemeClr val="tx1"/>
                        </a:solidFill>
                        <a:effectLst/>
                        <a:uFillTx/>
                        <a:latin typeface="DejaVu Math TeX Gyre" panose="02000503000000000000" charset="0"/>
                        <a:ea typeface="宋体" charset="0"/>
                        <a:cs typeface="DejaVu Math TeX Gyre" panose="02000503000000000000" charset="0"/>
                      </a:rPr>
                      <m:t>𝜌</m:t>
                    </m:r>
                  </m:oMath>
                </a14:m>
                <a:endParaRPr lang="en-US" altLang="zh-CN" sz="1400" i="1" kern="0" dirty="0">
                  <a:solidFill>
                    <a:schemeClr val="tx1"/>
                  </a:solidFill>
                  <a:effectLst/>
                  <a:uFillTx/>
                  <a:latin typeface="Times New Roman" panose="02020503050405090304" pitchFamily="18" charset="0"/>
                  <a:ea typeface="楷体" charset="0"/>
                  <a:cs typeface="DejaVu Math TeX Gyre" panose="02000503000000000000" charset="0"/>
                </a:endParaRPr>
              </a:p>
              <a:p>
                <a:pPr marL="285750" indent="-285750">
                  <a:buFont typeface="Arial" panose="020B0604020202090204" pitchFamily="34" charset="0"/>
                  <a:buChar char="•"/>
                </a:pPr>
                <a:r>
                  <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rPr>
                  <a:t>直觉上</a:t>
                </a:r>
                <a:r>
                  <a:rPr lang="en-US" altLang="zh-CN" sz="1400" kern="0" dirty="0">
                    <a:solidFill>
                      <a:schemeClr val="tx1"/>
                    </a:solidFill>
                    <a:effectLst/>
                    <a:uFillTx/>
                    <a:latin typeface="Times New Roman" panose="02020503050405090304" pitchFamily="18" charset="0"/>
                    <a:ea typeface="楷体" charset="0"/>
                    <a:cs typeface="DejaVu Math TeX Gyre" panose="02000503000000000000" charset="0"/>
                  </a:rPr>
                  <a:t>：</a:t>
                </a:r>
                <a14:m>
                  <m:oMath xmlns:m="http://schemas.openxmlformats.org/officeDocument/2006/math">
                    <m:r>
                      <a:rPr lang="en-US" altLang="zh-CN" sz="1400" i="1" kern="0" dirty="0">
                        <a:solidFill>
                          <a:schemeClr val="tx1"/>
                        </a:solidFill>
                        <a:effectLst/>
                        <a:uFillTx/>
                        <a:latin typeface="DejaVu Math TeX Gyre" panose="02000503000000000000" charset="0"/>
                        <a:ea typeface="宋体" charset="0"/>
                        <a:cs typeface="DejaVu Math TeX Gyre" panose="02000503000000000000" charset="0"/>
                      </a:rPr>
                      <m:t>𝜌</m:t>
                    </m:r>
                  </m:oMath>
                </a14:m>
                <a:r>
                  <a:rPr lang="zh-CN" altLang="en-US" sz="1400" i="1" kern="0" dirty="0">
                    <a:solidFill>
                      <a:schemeClr val="tx1"/>
                    </a:solidFill>
                    <a:effectLst/>
                    <a:uFillTx/>
                    <a:latin typeface="Times New Roman" panose="02020503050405090304" pitchFamily="18" charset="0"/>
                    <a:ea typeface="楷体" charset="0"/>
                    <a:cs typeface="DejaVu Math TeX Gyre" panose="02000503000000000000" charset="0"/>
                  </a:rPr>
                  <a:t>越高</a:t>
                </a:r>
                <a:r>
                  <a:rPr lang="en-US" altLang="zh-CN" sz="1400" kern="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rPr>
                  <a:t>不同技能水平的人都觉得同一个地方最好</a:t>
                </a:r>
                <a:r>
                  <a:rPr lang="en-US" altLang="zh-CN" sz="1400" kern="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rPr>
                  <a:t>观测工资的方差相对均值偏高</a:t>
                </a:r>
                <a:r>
                  <a:rPr lang="en-US" altLang="zh-CN" sz="1400" kern="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rPr>
                  <a:t>更加</a:t>
                </a:r>
                <a:r>
                  <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rPr>
                  <a:t>离散</a:t>
                </a:r>
                <a:endPar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endParaRPr>
              </a:p>
            </p:txBody>
          </p:sp>
        </mc:Choice>
        <mc:Fallback>
          <p:sp>
            <p:nvSpPr>
              <p:cNvPr id="39" name="文本框 38"/>
              <p:cNvSpPr txBox="1">
                <a:spLocks noRot="1" noChangeAspect="1" noMove="1" noResize="1" noEditPoints="1" noAdjustHandles="1" noChangeArrowheads="1" noChangeShapeType="1" noTextEdit="1"/>
              </p:cNvSpPr>
              <p:nvPr/>
            </p:nvSpPr>
            <p:spPr>
              <a:xfrm>
                <a:off x="8086090" y="2556510"/>
                <a:ext cx="3270250" cy="1362710"/>
              </a:xfrm>
              <a:prstGeom prst="rect">
                <a:avLst/>
              </a:prstGeom>
              <a:blipFill rotWithShape="1">
                <a:blip r:embed="rId10"/>
                <a:stretch>
                  <a:fillRect/>
                </a:stretch>
              </a:blipFill>
            </p:spPr>
            <p:txBody>
              <a:bodyPr/>
              <a:lstStyle/>
              <a:p>
                <a:r>
                  <a:rPr lang="zh-CN" altLang="en-US">
                    <a:noFill/>
                  </a:rPr>
                  <a:t> </a:t>
                </a:r>
              </a:p>
            </p:txBody>
          </p:sp>
        </mc:Fallback>
      </mc:AlternateContent>
      <p:sp>
        <p:nvSpPr>
          <p:cNvPr id="40" name="矩形 39"/>
          <p:cNvSpPr/>
          <p:nvPr/>
        </p:nvSpPr>
        <p:spPr>
          <a:xfrm>
            <a:off x="4688840" y="1891030"/>
            <a:ext cx="350520" cy="58864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0014585" y="1998345"/>
            <a:ext cx="789940" cy="55816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a:t>
            </a:r>
            <a:endParaRPr lang="en-US" altLang="zh-CN"/>
          </a:p>
        </p:txBody>
      </p:sp>
      <p:cxnSp>
        <p:nvCxnSpPr>
          <p:cNvPr id="42" name="曲线连接符 41"/>
          <p:cNvCxnSpPr>
            <a:stCxn id="28" idx="2"/>
            <a:endCxn id="23" idx="2"/>
          </p:cNvCxnSpPr>
          <p:nvPr/>
        </p:nvCxnSpPr>
        <p:spPr>
          <a:xfrm rot="5400000" flipV="1">
            <a:off x="9721850" y="4399915"/>
            <a:ext cx="7620" cy="2708910"/>
          </a:xfrm>
          <a:prstGeom prst="curvedConnector3">
            <a:avLst>
              <a:gd name="adj1" fmla="val 3225000"/>
            </a:avLst>
          </a:prstGeom>
          <a:ln>
            <a:solidFill>
              <a:srgbClr val="660066"/>
            </a:solidFill>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9489440" y="5871845"/>
            <a:ext cx="730885" cy="260985"/>
          </a:xfrm>
          <a:prstGeom prst="rect">
            <a:avLst/>
          </a:prstGeom>
          <a:noFill/>
        </p:spPr>
        <p:txBody>
          <a:bodyPr wrap="square" rtlCol="0">
            <a:noAutofit/>
          </a:bodyPr>
          <a:p>
            <a:r>
              <a:rPr lang="zh-CN" altLang="en-US" sz="1600" b="1">
                <a:solidFill>
                  <a:srgbClr val="FF0000"/>
                </a:solidFill>
                <a:latin typeface="Times New Roman" panose="02020503050405090304" pitchFamily="18" charset="0"/>
                <a:cs typeface="Times New Roman" panose="02020503050405090304" pitchFamily="18" charset="0"/>
              </a:rPr>
              <a:t>❌</a:t>
            </a:r>
            <a:endParaRPr lang="zh-CN" altLang="en-US" sz="1600" b="1">
              <a:solidFill>
                <a:srgbClr val="FF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sym typeface="+mn-ea"/>
                  </a:rPr>
                  <a:t>识别</a:t>
                </a:r>
                <a:r>
                  <a:rPr lang="en-US" altLang="zh-CN" sz="2800" b="1" dirty="0">
                    <a:latin typeface="+mn-lt"/>
                    <a:sym typeface="+mn-ea"/>
                  </a:rPr>
                  <a:t>：</a:t>
                </a:r>
                <a:r>
                  <a:rPr lang="zh-CN" altLang="en-US" sz="2800" b="1" dirty="0">
                    <a:latin typeface="+mn-lt"/>
                  </a:rPr>
                  <a:t>地点特征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𝒘</m:t>
                        </m:r>
                      </m:e>
                      <m:sub>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𝒒</m:t>
                        </m:r>
                      </m:e>
                      <m:sub>
                        <m:r>
                          <a:rPr lang="en-US" altLang="zh-CN" sz="2800" b="1" i="1" dirty="0">
                            <a:latin typeface="DejaVu Math TeX Gyre" panose="02000503000000000000" charset="0"/>
                            <a:cs typeface="DejaVu Math TeX Gyre" panose="02000503000000000000" charset="0"/>
                          </a:rPr>
                          <m:t>𝒐</m:t>
                        </m:r>
                      </m:sub>
                    </m:sSub>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7" name="图片 6" descr="54c326d7763e9e429a7de7f5aacac59d"/>
          <p:cNvPicPr>
            <a:picLocks noChangeAspect="1"/>
          </p:cNvPicPr>
          <p:nvPr/>
        </p:nvPicPr>
        <p:blipFill>
          <a:blip r:embed="rId2"/>
          <a:srcRect r="10588"/>
          <a:stretch>
            <a:fillRect/>
          </a:stretch>
        </p:blipFill>
        <p:spPr>
          <a:xfrm>
            <a:off x="3286125" y="1070610"/>
            <a:ext cx="6707505" cy="859155"/>
          </a:xfrm>
          <a:prstGeom prst="rect">
            <a:avLst/>
          </a:prstGeom>
        </p:spPr>
      </p:pic>
      <p:sp>
        <p:nvSpPr>
          <p:cNvPr id="10" name="矩形 9"/>
          <p:cNvSpPr/>
          <p:nvPr/>
        </p:nvSpPr>
        <p:spPr>
          <a:xfrm>
            <a:off x="4654550" y="1180465"/>
            <a:ext cx="1731010" cy="771525"/>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47660" y="1171575"/>
            <a:ext cx="1010920" cy="795020"/>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下 15"/>
          <p:cNvSpPr/>
          <p:nvPr/>
        </p:nvSpPr>
        <p:spPr>
          <a:xfrm>
            <a:off x="5369560" y="1978660"/>
            <a:ext cx="300990" cy="21399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下 15"/>
          <p:cNvSpPr/>
          <p:nvPr/>
        </p:nvSpPr>
        <p:spPr>
          <a:xfrm>
            <a:off x="8302625" y="1997075"/>
            <a:ext cx="300990" cy="21463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2204085" y="2191724"/>
            <a:ext cx="4182110" cy="2695932"/>
            <a:chOff x="3096" y="3855"/>
            <a:chExt cx="6064" cy="5799"/>
          </a:xfrm>
        </p:grpSpPr>
        <mc:AlternateContent xmlns:mc="http://schemas.openxmlformats.org/markup-compatibility/2006">
          <mc:Choice xmlns:a14="http://schemas.microsoft.com/office/drawing/2010/main" Requires="a14">
            <p:sp>
              <p:nvSpPr>
                <p:cNvPr id="11" name="文本框 10"/>
                <p:cNvSpPr txBox="1"/>
                <p:nvPr/>
              </p:nvSpPr>
              <p:spPr>
                <a:xfrm>
                  <a:off x="3097" y="3855"/>
                  <a:ext cx="6063" cy="942"/>
                </a:xfrm>
                <a:prstGeom prst="rect">
                  <a:avLst/>
                </a:prstGeom>
                <a:solidFill>
                  <a:srgbClr val="69025E"/>
                </a:solidFill>
              </p:spPr>
              <p:txBody>
                <a:bodyPr wrap="square" anchor="ctr" anchorCtr="0">
                  <a:spAutoFit/>
                </a:bodyPr>
                <a:lstStyle/>
                <a:p>
                  <a:pPr marL="0" marR="0" indent="0" algn="ctr">
                    <a:lnSpc>
                      <a:spcPct val="125000"/>
                    </a:lnSpc>
                    <a:buNone/>
                  </a:pPr>
                  <a14:m>
                    <m:oMath xmlns:m="http://schemas.openxmlformats.org/officeDocument/2006/math">
                      <m:sSub>
                        <m:sSubPr>
                          <m:ctrlPr>
                            <a:rPr lang="en-US" altLang="zh-CN" b="1" dirty="0">
                              <a:solidFill>
                                <a:schemeClr val="bg1"/>
                              </a:solidFill>
                              <a:latin typeface="DejaVu Math TeX Gyre" panose="02000503000000000000" charset="0"/>
                              <a:cs typeface="DejaVu Math TeX Gyre" panose="02000503000000000000" charset="0"/>
                            </a:rPr>
                          </m:ctrlPr>
                        </m:sSubPr>
                        <m:e>
                          <m:r>
                            <a:rPr lang="en-US" altLang="zh-CN" b="1" dirty="0">
                              <a:solidFill>
                                <a:schemeClr val="bg1"/>
                              </a:solidFill>
                              <a:latin typeface="DejaVu Math TeX Gyre" panose="02000503000000000000" charset="0"/>
                              <a:cs typeface="DejaVu Math TeX Gyre" panose="02000503000000000000" charset="0"/>
                            </a:rPr>
                            <m:t>𝐰</m:t>
                          </m:r>
                        </m:e>
                        <m:sub>
                          <m:r>
                            <a:rPr lang="en-US" altLang="zh-CN" b="1" dirty="0">
                              <a:solidFill>
                                <a:schemeClr val="bg1"/>
                              </a:solidFill>
                              <a:latin typeface="DejaVu Math TeX Gyre" panose="02000503000000000000" charset="0"/>
                              <a:cs typeface="DejaVu Math TeX Gyre" panose="02000503000000000000" charset="0"/>
                            </a:rPr>
                            <m:t>𝐝</m:t>
                          </m:r>
                        </m:sub>
                      </m:sSub>
                    </m:oMath>
                  </a14:m>
                  <a:r>
                    <a:rPr lang="zh-CN" altLang="en-US" b="1" dirty="0">
                      <a:solidFill>
                        <a:schemeClr val="bg1"/>
                      </a:solidFill>
                      <a:latin typeface="DejaVu Math TeX Gyre" panose="02000503000000000000" charset="0"/>
                      <a:cs typeface="DejaVu Math TeX Gyre" panose="02000503000000000000" charset="0"/>
                    </a:rPr>
                    <a:t>的识别</a:t>
                  </a:r>
                  <a:r>
                    <a:rPr lang="en-US" altLang="zh-CN" b="1" dirty="0">
                      <a:solidFill>
                        <a:schemeClr val="bg1"/>
                      </a:solidFill>
                      <a:latin typeface="DejaVu Math TeX Gyre" panose="02000503000000000000" charset="0"/>
                      <a:cs typeface="DejaVu Math TeX Gyre" panose="02000503000000000000" charset="0"/>
                    </a:rPr>
                    <a:t>：</a:t>
                  </a:r>
                  <a:r>
                    <a:rPr lang="zh-CN" altLang="en-US" b="1" kern="1400" spc="-50" dirty="0">
                      <a:solidFill>
                        <a:schemeClr val="bg1"/>
                      </a:solidFill>
                      <a:latin typeface="Times New Roman" panose="02020503050405090304" pitchFamily="18" charset="0"/>
                    </a:rPr>
                    <a:t>目的地固定效应</a:t>
                  </a:r>
                  <a:endParaRPr lang="zh-CN" altLang="en-US" b="1" kern="1400" spc="-50" dirty="0">
                    <a:solidFill>
                      <a:schemeClr val="bg1"/>
                    </a:solidFill>
                    <a:latin typeface="Times New Roman" panose="0202050305040509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3097" y="3855"/>
                  <a:ext cx="6063" cy="942"/>
                </a:xfrm>
                <a:prstGeom prst="rect">
                  <a:avLst/>
                </a:prstGeom>
                <a:blipFill rotWithShape="1">
                  <a:blip r:embed="rId3"/>
                </a:blipFill>
              </p:spPr>
              <p:txBody>
                <a:bodyPr/>
                <a:lstStyle/>
                <a:p>
                  <a:r>
                    <a:rPr lang="zh-CN" altLang="en-US">
                      <a:noFill/>
                    </a:rPr>
                    <a:t> </a:t>
                  </a:r>
                </a:p>
              </p:txBody>
            </p:sp>
          </mc:Fallback>
        </mc:AlternateContent>
        <p:sp>
          <p:nvSpPr>
            <p:cNvPr id="16" name="矩形 15"/>
            <p:cNvSpPr/>
            <p:nvPr/>
          </p:nvSpPr>
          <p:spPr>
            <a:xfrm>
              <a:off x="3096" y="3887"/>
              <a:ext cx="6063" cy="3428"/>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3368" y="5057"/>
                  <a:ext cx="5457" cy="1785"/>
                </a:xfrm>
                <a:prstGeom prst="rect">
                  <a:avLst/>
                </a:prstGeom>
                <a:noFill/>
              </p:spPr>
              <p:txBody>
                <a:bodyPr wrap="square" rtlCol="0" anchor="ctr" anchorCtr="0">
                  <a:spAutoFit/>
                </a:bodyPr>
                <a:p>
                  <a:pPr marL="285750" indent="-285750">
                    <a:buFont typeface="Arial" panose="020B0604020202090204" pitchFamily="34" charset="0"/>
                    <a:buChar char="•"/>
                  </a:pPr>
                  <a:r>
                    <a:rPr lang="zh-CN" altLang="en-US" sz="1600" kern="0">
                      <a:solidFill>
                        <a:schemeClr val="tx1"/>
                      </a:solidFill>
                      <a:uFillTx/>
                      <a:latin typeface="Times New Roman" panose="02020503050405090304" pitchFamily="18" charset="0"/>
                      <a:ea typeface="楷体" charset="0"/>
                    </a:rPr>
                    <a:t>已知平均工资</a:t>
                  </a:r>
                  <a:r>
                    <a:rPr lang="en-US" altLang="zh-CN" sz="1600" kern="0">
                      <a:solidFill>
                        <a:schemeClr val="tx1"/>
                      </a:solidFill>
                      <a:uFillTx/>
                      <a:latin typeface="Times New Roman" panose="02020503050405090304" pitchFamily="18" charset="0"/>
                      <a:ea typeface="楷体" charset="0"/>
                    </a:rPr>
                    <a:t>、</a:t>
                  </a:r>
                  <a:r>
                    <a:rPr lang="zh-CN" altLang="en-US" sz="1600" kern="0">
                      <a:solidFill>
                        <a:schemeClr val="tx1"/>
                      </a:solidFill>
                      <a:uFillTx/>
                      <a:latin typeface="Times New Roman" panose="02020503050405090304" pitchFamily="18" charset="0"/>
                      <a:ea typeface="楷体" charset="0"/>
                    </a:rPr>
                    <a:t>迁移比例的</a:t>
                  </a:r>
                  <a:r>
                    <a:rPr lang="zh-CN" altLang="en-US" sz="1600" kern="0">
                      <a:solidFill>
                        <a:schemeClr val="tx1"/>
                      </a:solidFill>
                      <a:uFillTx/>
                      <a:latin typeface="Times New Roman" panose="02020503050405090304" pitchFamily="18" charset="0"/>
                      <a:ea typeface="楷体" charset="0"/>
                    </a:rPr>
                    <a:t>观测数据</a:t>
                  </a:r>
                  <a:endParaRPr lang="zh-CN" altLang="en-US" sz="1600" kern="0">
                    <a:solidFill>
                      <a:schemeClr val="tx1"/>
                    </a:solidFill>
                    <a:uFillTx/>
                    <a:latin typeface="Times New Roman" panose="02020503050405090304" pitchFamily="18" charset="0"/>
                    <a:ea typeface="楷体" charset="0"/>
                  </a:endParaRPr>
                </a:p>
                <a:p>
                  <a:pPr marL="285750" indent="-285750">
                    <a:buFont typeface="Arial" panose="020B0604020202090204" pitchFamily="34" charset="0"/>
                    <a:buChar char="•"/>
                  </a:pPr>
                  <a:r>
                    <a:rPr lang="zh-CN" altLang="en-US" sz="1600" kern="0">
                      <a:solidFill>
                        <a:schemeClr val="tx1"/>
                      </a:solidFill>
                      <a:uFillTx/>
                      <a:latin typeface="Times New Roman" panose="02020503050405090304" pitchFamily="18" charset="0"/>
                      <a:ea typeface="楷体" charset="0"/>
                    </a:rPr>
                    <a:t>已知</a:t>
                  </a:r>
                  <a:r>
                    <a:rPr lang="en-US" altLang="zh-CN" sz="1600" kern="0">
                      <a:solidFill>
                        <a:schemeClr val="tx1"/>
                      </a:solidFill>
                      <a:uFillTx/>
                      <a:latin typeface="Times New Roman" panose="02020503050405090304" pitchFamily="18" charset="0"/>
                      <a:ea typeface="楷体" charset="0"/>
                    </a:rPr>
                    <a:t>Gamma</a:t>
                  </a:r>
                  <a:r>
                    <a:rPr lang="zh-CN" altLang="en-US" sz="1600" kern="0">
                      <a:solidFill>
                        <a:schemeClr val="tx1"/>
                      </a:solidFill>
                      <a:uFillTx/>
                      <a:latin typeface="Times New Roman" panose="02020503050405090304" pitchFamily="18" charset="0"/>
                      <a:ea typeface="楷体" charset="0"/>
                    </a:rPr>
                    <a:t>系数常数项</a:t>
                  </a:r>
                  <a:endParaRPr lang="zh-CN" altLang="en-US" sz="1600" kern="0">
                    <a:solidFill>
                      <a:schemeClr val="tx1"/>
                    </a:solidFill>
                    <a:uFillTx/>
                    <a:latin typeface="Times New Roman" panose="02020503050405090304" pitchFamily="18" charset="0"/>
                    <a:ea typeface="楷体" charset="0"/>
                  </a:endParaRPr>
                </a:p>
                <a:p>
                  <a:pPr marL="285750" indent="-285750">
                    <a:buFont typeface="Arial" panose="020B0604020202090204" pitchFamily="34" charset="0"/>
                    <a:buChar char="•"/>
                  </a:pPr>
                  <a:r>
                    <a:rPr lang="zh-CN" altLang="en-US" sz="1600" kern="0">
                      <a:solidFill>
                        <a:schemeClr val="tx1"/>
                      </a:solidFill>
                      <a:uFillTx/>
                      <a:latin typeface="Times New Roman" panose="02020503050405090304" pitchFamily="18" charset="0"/>
                      <a:ea typeface="楷体" charset="0"/>
                    </a:rPr>
                    <a:t>已识别</a:t>
                  </a:r>
                  <a14:m>
                    <m:oMath xmlns:m="http://schemas.openxmlformats.org/officeDocument/2006/math">
                      <m:r>
                        <a:rPr lang="zh-CN" altLang="en-US" sz="1600" kern="0" dirty="0">
                          <a:solidFill>
                            <a:schemeClr val="tx1"/>
                          </a:solidFill>
                          <a:effectLst/>
                          <a:uFillTx/>
                          <a:latin typeface="DejaVu Math TeX Gyre" panose="02000503000000000000" charset="0"/>
                          <a:ea typeface="宋体" charset="0"/>
                          <a:cs typeface="DejaVu Math TeX Gyre" panose="02000503000000000000" charset="0"/>
                        </a:rPr>
                        <m:t>𝜃</m:t>
                      </m:r>
                    </m:oMath>
                  </a14:m>
                  <a:r>
                    <a:rPr lang="en-US" altLang="zh-CN" sz="1600" kern="0" dirty="0">
                      <a:solidFill>
                        <a:schemeClr val="tx1"/>
                      </a:solidFill>
                      <a:effectLst/>
                      <a:uFillTx/>
                      <a:latin typeface="DejaVu Math TeX Gyre" panose="02000503000000000000" charset="0"/>
                      <a:ea typeface="宋体" charset="0"/>
                      <a:cs typeface="DejaVu Math TeX Gyre" panose="02000503000000000000" charset="0"/>
                    </a:rPr>
                    <a:t>、</a:t>
                  </a:r>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已归一化</a:t>
                  </a:r>
                  <a14:m>
                    <m:oMath xmlns:m="http://schemas.openxmlformats.org/officeDocument/2006/math">
                      <m:sSub>
                        <m:sSubPr>
                          <m:ctrlPr>
                            <a:rPr lang="en-US" altLang="zh-CN" sz="1600" i="1" kern="0" dirty="0">
                              <a:solidFill>
                                <a:schemeClr val="tx1"/>
                              </a:solidFill>
                              <a:uFillTx/>
                              <a:latin typeface="DejaVu Math TeX Gyre" panose="02000503000000000000" charset="0"/>
                              <a:ea typeface="楷体" charset="0"/>
                              <a:cs typeface="DejaVu Math TeX Gyre" panose="02000503000000000000" charset="0"/>
                            </a:rPr>
                          </m:ctrlPr>
                        </m:sSubPr>
                        <m:e>
                          <m:r>
                            <a:rPr lang="en-US" altLang="zh-CN" sz="1600" i="1" kern="0" dirty="0">
                              <a:solidFill>
                                <a:schemeClr val="tx1"/>
                              </a:solidFill>
                              <a:uFillTx/>
                              <a:latin typeface="DejaVu Math TeX Gyre" panose="02000503000000000000" charset="0"/>
                              <a:ea typeface="楷体" charset="0"/>
                              <a:cs typeface="DejaVu Math TeX Gyre" panose="02000503000000000000" charset="0"/>
                            </a:rPr>
                            <m:t>𝑞</m:t>
                          </m:r>
                        </m:e>
                        <m:sub>
                          <m:r>
                            <a:rPr lang="en-US" altLang="zh-CN" sz="1600" i="1" kern="0" dirty="0">
                              <a:solidFill>
                                <a:schemeClr val="tx1"/>
                              </a:solidFill>
                              <a:uFillTx/>
                              <a:latin typeface="DejaVu Math TeX Gyre" panose="02000503000000000000" charset="0"/>
                              <a:ea typeface="宋体" charset="0"/>
                              <a:cs typeface="DejaVu Math TeX Gyre" panose="02000503000000000000" charset="0"/>
                            </a:rPr>
                            <m:t>1</m:t>
                          </m:r>
                        </m:sub>
                      </m:sSub>
                    </m:oMath>
                  </a14:m>
                  <a:r>
                    <a:rPr lang="en-US" altLang="zh-CN" sz="1600" kern="0" dirty="0">
                      <a:solidFill>
                        <a:schemeClr val="tx1"/>
                      </a:solidFill>
                      <a:uFillTx/>
                      <a:latin typeface="Times New Roman" panose="02020503050405090304" pitchFamily="18" charset="0"/>
                      <a:ea typeface="楷体" charset="0"/>
                      <a:cs typeface="DejaVu Math TeX Gyre" panose="02000503000000000000" charset="0"/>
                      <a:sym typeface="+mn-ea"/>
                    </a:rPr>
                    <a:t>=1</a:t>
                  </a:r>
                  <a:endParaRPr lang="en-US" altLang="zh-CN" sz="1600" kern="0" dirty="0">
                    <a:solidFill>
                      <a:schemeClr val="tx1"/>
                    </a:solidFill>
                    <a:effectLst/>
                    <a:uFillTx/>
                    <a:latin typeface="Times New Roman" panose="02020503050405090304" pitchFamily="18" charset="0"/>
                    <a:ea typeface="楷体" charset="0"/>
                    <a:cs typeface="DejaVu Math TeX Gyre" panose="02000503000000000000"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3368" y="5057"/>
                  <a:ext cx="5457" cy="1785"/>
                </a:xfrm>
                <a:prstGeom prst="rect">
                  <a:avLst/>
                </a:prstGeom>
                <a:blipFill rotWithShape="1">
                  <a:blip r:embed="rId4"/>
                </a:blipFill>
              </p:spPr>
              <p:txBody>
                <a:bodyPr/>
                <a:lstStyle/>
                <a:p>
                  <a:r>
                    <a:rPr lang="zh-CN" altLang="en-US">
                      <a:noFill/>
                    </a:rPr>
                    <a:t> </a:t>
                  </a:r>
                </a:p>
              </p:txBody>
            </p:sp>
          </mc:Fallback>
        </mc:AlternateContent>
        <p:sp>
          <p:nvSpPr>
            <p:cNvPr id="35" name="矩形 34"/>
            <p:cNvSpPr/>
            <p:nvPr/>
          </p:nvSpPr>
          <p:spPr>
            <a:xfrm>
              <a:off x="3096" y="7614"/>
              <a:ext cx="6064" cy="20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控制住迁移比例和人力资本质量后，地区间工资差异只能由生产率差异解释。</a:t>
              </a:r>
              <a:endParaRPr lang="zh-CN" altLang="en-US" sz="1600">
                <a:solidFill>
                  <a:schemeClr val="tx1"/>
                </a:solidFill>
              </a:endParaRPr>
            </a:p>
          </p:txBody>
        </p:sp>
      </p:grpSp>
      <p:grpSp>
        <p:nvGrpSpPr>
          <p:cNvPr id="23" name="组合 22"/>
          <p:cNvGrpSpPr/>
          <p:nvPr/>
        </p:nvGrpSpPr>
        <p:grpSpPr>
          <a:xfrm>
            <a:off x="7322185" y="2208530"/>
            <a:ext cx="4068445" cy="2677889"/>
            <a:chOff x="9767" y="3702"/>
            <a:chExt cx="5463" cy="5916"/>
          </a:xfrm>
        </p:grpSpPr>
        <mc:AlternateContent xmlns:mc="http://schemas.openxmlformats.org/markup-compatibility/2006">
          <mc:Choice xmlns:a14="http://schemas.microsoft.com/office/drawing/2010/main" Requires="a14">
            <p:sp>
              <p:nvSpPr>
                <p:cNvPr id="15" name="文本框 14"/>
                <p:cNvSpPr txBox="1"/>
                <p:nvPr/>
              </p:nvSpPr>
              <p:spPr>
                <a:xfrm>
                  <a:off x="9772" y="3702"/>
                  <a:ext cx="5458" cy="968"/>
                </a:xfrm>
                <a:prstGeom prst="rect">
                  <a:avLst/>
                </a:prstGeom>
                <a:solidFill>
                  <a:srgbClr val="69025E"/>
                </a:solidFill>
              </p:spPr>
              <p:txBody>
                <a:bodyPr wrap="square" anchor="ctr" anchorCtr="0">
                  <a:spAutoFit/>
                </a:bodyPr>
                <a:lstStyle/>
                <a:p>
                  <a:pPr marL="0" marR="0" indent="0" algn="ctr">
                    <a:lnSpc>
                      <a:spcPct val="125000"/>
                    </a:lnSpc>
                    <a:buNone/>
                  </a:pPr>
                  <a14:m>
                    <m:oMath xmlns:m="http://schemas.openxmlformats.org/officeDocument/2006/math">
                      <m:sSub>
                        <m:sSubPr>
                          <m:ctrlPr>
                            <a:rPr lang="en-US" altLang="zh-CN" b="1" dirty="0">
                              <a:solidFill>
                                <a:schemeClr val="bg1"/>
                              </a:solidFill>
                              <a:latin typeface="DejaVu Math TeX Gyre" panose="02000503000000000000" charset="0"/>
                              <a:cs typeface="DejaVu Math TeX Gyre" panose="02000503000000000000" charset="0"/>
                            </a:rPr>
                          </m:ctrlPr>
                        </m:sSubPr>
                        <m:e>
                          <m:r>
                            <a:rPr lang="en-US" altLang="zh-CN" b="1" dirty="0">
                              <a:solidFill>
                                <a:schemeClr val="bg1"/>
                              </a:solidFill>
                              <a:latin typeface="DejaVu Math TeX Gyre" panose="02000503000000000000" charset="0"/>
                              <a:cs typeface="DejaVu Math TeX Gyre" panose="02000503000000000000" charset="0"/>
                            </a:rPr>
                            <m:t>𝐪</m:t>
                          </m:r>
                        </m:e>
                        <m:sub>
                          <m:r>
                            <a:rPr lang="en-US" altLang="zh-CN" b="1" dirty="0">
                              <a:solidFill>
                                <a:schemeClr val="bg1"/>
                              </a:solidFill>
                              <a:latin typeface="DejaVu Math TeX Gyre" panose="02000503000000000000" charset="0"/>
                              <a:cs typeface="DejaVu Math TeX Gyre" panose="02000503000000000000" charset="0"/>
                            </a:rPr>
                            <m:t>𝐨</m:t>
                          </m:r>
                        </m:sub>
                      </m:sSub>
                    </m:oMath>
                  </a14:m>
                  <a:r>
                    <a:rPr lang="zh-CN" altLang="en-US" b="1" dirty="0">
                      <a:solidFill>
                        <a:schemeClr val="bg1"/>
                      </a:solidFill>
                      <a:latin typeface="DejaVu Math TeX Gyre" panose="02000503000000000000" charset="0"/>
                      <a:cs typeface="DejaVu Math TeX Gyre" panose="02000503000000000000" charset="0"/>
                    </a:rPr>
                    <a:t>的识别</a:t>
                  </a:r>
                  <a:r>
                    <a:rPr lang="en-US" altLang="zh-CN" b="1" dirty="0">
                      <a:solidFill>
                        <a:schemeClr val="bg1"/>
                      </a:solidFill>
                      <a:latin typeface="DejaVu Math TeX Gyre" panose="02000503000000000000" charset="0"/>
                      <a:cs typeface="DejaVu Math TeX Gyre" panose="02000503000000000000" charset="0"/>
                    </a:rPr>
                    <a:t>：</a:t>
                  </a:r>
                  <a:r>
                    <a:rPr lang="zh-CN" altLang="en-US" b="1" kern="1400" spc="-50" dirty="0">
                      <a:solidFill>
                        <a:schemeClr val="bg1"/>
                      </a:solidFill>
                      <a:latin typeface="Times New Roman" panose="02020503050405090304" pitchFamily="18" charset="0"/>
                    </a:rPr>
                    <a:t>出生地固定效应</a:t>
                  </a:r>
                  <a:endParaRPr lang="zh-CN" altLang="en-US" b="1" kern="1400" spc="-50" dirty="0">
                    <a:solidFill>
                      <a:schemeClr val="bg1"/>
                    </a:solidFill>
                    <a:latin typeface="Times New Roman" panose="02020503050405090304" pitchFamily="18" charset="0"/>
                  </a:endParaRPr>
                </a:p>
              </p:txBody>
            </p:sp>
          </mc:Choice>
          <mc:Fallback>
            <p:sp>
              <p:nvSpPr>
                <p:cNvPr id="15" name="文本框 14"/>
                <p:cNvSpPr txBox="1">
                  <a:spLocks noRot="1" noChangeAspect="1" noMove="1" noResize="1" noEditPoints="1" noAdjustHandles="1" noChangeArrowheads="1" noChangeShapeType="1" noTextEdit="1"/>
                </p:cNvSpPr>
                <p:nvPr/>
              </p:nvSpPr>
              <p:spPr>
                <a:xfrm>
                  <a:off x="9772" y="3702"/>
                  <a:ext cx="5458" cy="968"/>
                </a:xfrm>
                <a:prstGeom prst="rect">
                  <a:avLst/>
                </a:prstGeom>
                <a:blipFill rotWithShape="1">
                  <a:blip r:embed="rId5"/>
                </a:blipFill>
              </p:spPr>
              <p:txBody>
                <a:bodyPr/>
                <a:lstStyle/>
                <a:p>
                  <a:r>
                    <a:rPr lang="zh-CN" altLang="en-US">
                      <a:noFill/>
                    </a:rPr>
                    <a:t> </a:t>
                  </a:r>
                </a:p>
              </p:txBody>
            </p:sp>
          </mc:Fallback>
        </mc:AlternateContent>
        <p:sp>
          <p:nvSpPr>
            <p:cNvPr id="17" name="矩形 16"/>
            <p:cNvSpPr/>
            <p:nvPr/>
          </p:nvSpPr>
          <p:spPr>
            <a:xfrm>
              <a:off x="9767" y="3709"/>
              <a:ext cx="5459" cy="3520"/>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772" y="7511"/>
              <a:ext cx="5457" cy="210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zh-CN" altLang="en-US" sz="1600">
                  <a:solidFill>
                    <a:schemeClr val="tx1"/>
                  </a:solidFill>
                </a:rPr>
                <a:t>控制目的地生产率与</a:t>
              </a:r>
              <a:r>
                <a:rPr lang="zh-CN" altLang="en-US" sz="1600">
                  <a:solidFill>
                    <a:schemeClr val="tx1"/>
                  </a:solidFill>
                  <a:sym typeface="+mn-ea"/>
                </a:rPr>
                <a:t>迁移比例</a:t>
              </a:r>
              <a:r>
                <a:rPr lang="zh-CN" altLang="en-US" sz="1600">
                  <a:solidFill>
                    <a:schemeClr val="tx1"/>
                  </a:solidFill>
                </a:rPr>
                <a:t>后，不同出生地的劳动者</a:t>
              </a:r>
              <a:r>
                <a:rPr lang="zh-CN" altLang="en-US" sz="1600">
                  <a:solidFill>
                    <a:schemeClr val="tx1"/>
                  </a:solidFill>
                </a:rPr>
                <a:t>的工资差异</a:t>
              </a:r>
              <a:r>
                <a:rPr lang="zh-CN" altLang="en-US" sz="1600">
                  <a:solidFill>
                    <a:schemeClr val="tx1"/>
                  </a:solidFill>
                  <a:sym typeface="+mn-ea"/>
                </a:rPr>
                <a:t>只能由人力资本质量差异解释。</a:t>
              </a:r>
              <a:endParaRPr lang="en-US" altLang="zh-CN" sz="1600">
                <a:solidFill>
                  <a:schemeClr val="tx1"/>
                </a:solidFill>
              </a:endParaRPr>
            </a:p>
          </p:txBody>
        </p:sp>
      </p:grpSp>
      <p:sp>
        <p:nvSpPr>
          <p:cNvPr id="27" name="箭头: 下 15"/>
          <p:cNvSpPr/>
          <p:nvPr/>
        </p:nvSpPr>
        <p:spPr>
          <a:xfrm>
            <a:off x="4144010" y="3800475"/>
            <a:ext cx="300990" cy="18923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15"/>
          <p:cNvSpPr/>
          <p:nvPr/>
        </p:nvSpPr>
        <p:spPr>
          <a:xfrm>
            <a:off x="9208135" y="3800475"/>
            <a:ext cx="300990" cy="18923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0" name="文本框 29"/>
              <p:cNvSpPr txBox="1"/>
              <p:nvPr/>
            </p:nvSpPr>
            <p:spPr>
              <a:xfrm>
                <a:off x="7477388" y="2854299"/>
                <a:ext cx="3763485" cy="635000"/>
              </a:xfrm>
              <a:prstGeom prst="rect">
                <a:avLst/>
              </a:prstGeom>
              <a:noFill/>
            </p:spPr>
            <p:txBody>
              <a:bodyPr wrap="square" rtlCol="0" anchor="ctr" anchorCtr="0">
                <a:spAutoFit/>
              </a:bodyPr>
              <a:p>
                <a:pPr marL="285750" indent="-285750" algn="l">
                  <a:buClrTx/>
                  <a:buSzTx/>
                  <a:buFont typeface="Arial" panose="020B0604020202090204" pitchFamily="34" charset="0"/>
                  <a:buChar char="•"/>
                </a:pPr>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已归一化</a:t>
                </a:r>
                <a14:m>
                  <m:oMath xmlns:m="http://schemas.openxmlformats.org/officeDocument/2006/math">
                    <m:sSub>
                      <m:sSubPr>
                        <m:ctrlPr>
                          <a:rPr lang="en-US" altLang="zh-CN" sz="1600" i="1" kern="0" dirty="0">
                            <a:solidFill>
                              <a:schemeClr val="tx1"/>
                            </a:solidFill>
                            <a:uFillTx/>
                            <a:latin typeface="DejaVu Math TeX Gyre" panose="02000503000000000000" charset="0"/>
                            <a:ea typeface="楷体" charset="0"/>
                            <a:cs typeface="DejaVu Math TeX Gyre" panose="02000503000000000000" charset="0"/>
                          </a:rPr>
                        </m:ctrlPr>
                      </m:sSubPr>
                      <m:e>
                        <m:r>
                          <a:rPr lang="en-US" altLang="zh-CN" sz="1600" i="1" kern="0" dirty="0">
                            <a:solidFill>
                              <a:schemeClr val="tx1"/>
                            </a:solidFill>
                            <a:uFillTx/>
                            <a:latin typeface="DejaVu Math TeX Gyre" panose="02000503000000000000" charset="0"/>
                            <a:ea typeface="楷体" charset="0"/>
                            <a:cs typeface="DejaVu Math TeX Gyre" panose="02000503000000000000" charset="0"/>
                          </a:rPr>
                          <m:t>𝑞</m:t>
                        </m:r>
                      </m:e>
                      <m:sub>
                        <m:r>
                          <a:rPr lang="en-US" altLang="zh-CN" sz="1600" i="1" kern="0" dirty="0">
                            <a:solidFill>
                              <a:schemeClr val="tx1"/>
                            </a:solidFill>
                            <a:uFillTx/>
                            <a:latin typeface="DejaVu Math TeX Gyre" panose="02000503000000000000" charset="0"/>
                            <a:ea typeface="宋体" charset="0"/>
                            <a:cs typeface="DejaVu Math TeX Gyre" panose="02000503000000000000" charset="0"/>
                          </a:rPr>
                          <m:t>1</m:t>
                        </m:r>
                      </m:sub>
                    </m:sSub>
                  </m:oMath>
                </a14:m>
                <a:r>
                  <a:rPr lang="en-US" altLang="zh-CN" sz="1600" kern="0" dirty="0">
                    <a:solidFill>
                      <a:schemeClr val="tx1"/>
                    </a:solidFill>
                    <a:uFillTx/>
                    <a:latin typeface="Times New Roman" panose="02020503050405090304" pitchFamily="18" charset="0"/>
                    <a:ea typeface="楷体" charset="0"/>
                    <a:cs typeface="DejaVu Math TeX Gyre" panose="02000503000000000000" charset="0"/>
                    <a:sym typeface="+mn-ea"/>
                  </a:rPr>
                  <a:t>=1，</a:t>
                </a:r>
                <a:r>
                  <a:rPr lang="zh-CN" altLang="en-US" sz="1600" kern="0" dirty="0">
                    <a:solidFill>
                      <a:schemeClr val="tx1"/>
                    </a:solidFill>
                    <a:uFillTx/>
                    <a:latin typeface="Times New Roman" panose="02020503050405090304" pitchFamily="18" charset="0"/>
                    <a:ea typeface="楷体" charset="0"/>
                    <a:cs typeface="DejaVu Math TeX Gyre" panose="02000503000000000000" charset="0"/>
                    <a:sym typeface="+mn-ea"/>
                  </a:rPr>
                  <a:t>最终识别</a:t>
                </a:r>
                <a14:m>
                  <m:oMath xmlns:m="http://schemas.openxmlformats.org/officeDocument/2006/math">
                    <m:sSub>
                      <m:sSubPr>
                        <m:ctrlP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ctrlPr>
                      </m:sSubPr>
                      <m:e>
                        <m: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t>𝐪</m:t>
                        </m:r>
                      </m:e>
                      <m:sub>
                        <m: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t>𝐨</m:t>
                        </m:r>
                      </m:sub>
                    </m:sSub>
                  </m:oMath>
                </a14:m>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相对于</a:t>
                </a:r>
                <a14:m>
                  <m:oMath xmlns:m="http://schemas.openxmlformats.org/officeDocument/2006/math">
                    <m:sSub>
                      <m:sSubPr>
                        <m:ctrlP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ctrlPr>
                      </m:sSubPr>
                      <m:e>
                        <m: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t>𝑞</m:t>
                        </m:r>
                      </m:e>
                      <m:sub>
                        <m: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t>1</m:t>
                        </m:r>
                      </m:sub>
                    </m:sSub>
                  </m:oMath>
                </a14:m>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的大小</a:t>
                </a:r>
                <a:endPar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endParaRPr>
              </a:p>
            </p:txBody>
          </p:sp>
        </mc:Choice>
        <mc:Fallback>
          <p:sp>
            <p:nvSpPr>
              <p:cNvPr id="30" name="文本框 29"/>
              <p:cNvSpPr txBox="1">
                <a:spLocks noRot="1" noChangeAspect="1" noMove="1" noResize="1" noEditPoints="1" noAdjustHandles="1" noChangeArrowheads="1" noChangeShapeType="1" noTextEdit="1"/>
              </p:cNvSpPr>
              <p:nvPr/>
            </p:nvSpPr>
            <p:spPr>
              <a:xfrm>
                <a:off x="7477388" y="2854299"/>
                <a:ext cx="3763485" cy="635000"/>
              </a:xfrm>
              <a:prstGeom prst="rect">
                <a:avLst/>
              </a:prstGeom>
              <a:blipFill rotWithShape="1">
                <a:blip r:embed="rId6"/>
                <a:stretch>
                  <a:fillRect l="-7" t="-96" r="3" b="96"/>
                </a:stretch>
              </a:blipFill>
            </p:spPr>
            <p:txBody>
              <a:bodyPr/>
              <a:lstStyle/>
              <a:p>
                <a:r>
                  <a:rPr lang="zh-CN" altLang="en-US">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sym typeface="+mn-ea"/>
                  </a:rPr>
                  <a:t>识别</a:t>
                </a:r>
                <a:r>
                  <a:rPr lang="en-US" altLang="zh-CN" sz="2800" b="1" dirty="0">
                    <a:latin typeface="+mn-lt"/>
                    <a:sym typeface="+mn-ea"/>
                  </a:rPr>
                  <a:t>：</a:t>
                </a:r>
                <a:r>
                  <a:rPr lang="zh-CN" altLang="en-US" sz="2800" b="1" dirty="0">
                    <a:latin typeface="+mn-lt"/>
                  </a:rPr>
                  <a:t>地点特征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𝒘</m:t>
                        </m:r>
                      </m:e>
                      <m:sub>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𝒒</m:t>
                        </m:r>
                      </m:e>
                      <m:sub>
                        <m:r>
                          <a:rPr lang="en-US" altLang="zh-CN" sz="2800" b="1" i="1" dirty="0">
                            <a:latin typeface="DejaVu Math TeX Gyre" panose="02000503000000000000" charset="0"/>
                            <a:cs typeface="DejaVu Math TeX Gyre" panose="02000503000000000000" charset="0"/>
                          </a:rPr>
                          <m:t>𝒐</m:t>
                        </m:r>
                      </m:sub>
                    </m:sSub>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7" name="图片 6" descr="54c326d7763e9e429a7de7f5aacac59d"/>
          <p:cNvPicPr>
            <a:picLocks noChangeAspect="1"/>
          </p:cNvPicPr>
          <p:nvPr/>
        </p:nvPicPr>
        <p:blipFill>
          <a:blip r:embed="rId2"/>
          <a:srcRect r="10588"/>
          <a:stretch>
            <a:fillRect/>
          </a:stretch>
        </p:blipFill>
        <p:spPr>
          <a:xfrm>
            <a:off x="3286125" y="1070610"/>
            <a:ext cx="6707505" cy="859155"/>
          </a:xfrm>
          <a:prstGeom prst="rect">
            <a:avLst/>
          </a:prstGeom>
        </p:spPr>
      </p:pic>
      <p:sp>
        <p:nvSpPr>
          <p:cNvPr id="10" name="矩形 9"/>
          <p:cNvSpPr/>
          <p:nvPr/>
        </p:nvSpPr>
        <p:spPr>
          <a:xfrm>
            <a:off x="4654550" y="1180465"/>
            <a:ext cx="1731010" cy="771525"/>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47660" y="1171575"/>
            <a:ext cx="1010920" cy="795020"/>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下 15"/>
          <p:cNvSpPr/>
          <p:nvPr/>
        </p:nvSpPr>
        <p:spPr>
          <a:xfrm>
            <a:off x="5369560" y="1978660"/>
            <a:ext cx="300990" cy="21399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下 15"/>
          <p:cNvSpPr/>
          <p:nvPr/>
        </p:nvSpPr>
        <p:spPr>
          <a:xfrm>
            <a:off x="8302625" y="1997075"/>
            <a:ext cx="300990" cy="21463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2204085" y="2191724"/>
            <a:ext cx="4182110" cy="2695932"/>
            <a:chOff x="3096" y="3855"/>
            <a:chExt cx="6064" cy="5799"/>
          </a:xfrm>
        </p:grpSpPr>
        <mc:AlternateContent xmlns:mc="http://schemas.openxmlformats.org/markup-compatibility/2006">
          <mc:Choice xmlns:a14="http://schemas.microsoft.com/office/drawing/2010/main" Requires="a14">
            <p:sp>
              <p:nvSpPr>
                <p:cNvPr id="11" name="文本框 10"/>
                <p:cNvSpPr txBox="1"/>
                <p:nvPr/>
              </p:nvSpPr>
              <p:spPr>
                <a:xfrm>
                  <a:off x="3097" y="3855"/>
                  <a:ext cx="6063" cy="942"/>
                </a:xfrm>
                <a:prstGeom prst="rect">
                  <a:avLst/>
                </a:prstGeom>
                <a:solidFill>
                  <a:srgbClr val="69025E"/>
                </a:solidFill>
              </p:spPr>
              <p:txBody>
                <a:bodyPr wrap="square" anchor="ctr" anchorCtr="0">
                  <a:spAutoFit/>
                </a:bodyPr>
                <a:lstStyle/>
                <a:p>
                  <a:pPr marL="0" marR="0" indent="0" algn="ctr">
                    <a:lnSpc>
                      <a:spcPct val="125000"/>
                    </a:lnSpc>
                    <a:buNone/>
                  </a:pPr>
                  <a14:m>
                    <m:oMath xmlns:m="http://schemas.openxmlformats.org/officeDocument/2006/math">
                      <m:sSub>
                        <m:sSubPr>
                          <m:ctrlPr>
                            <a:rPr lang="en-US" altLang="zh-CN" b="1" dirty="0">
                              <a:solidFill>
                                <a:schemeClr val="bg1"/>
                              </a:solidFill>
                              <a:latin typeface="DejaVu Math TeX Gyre" panose="02000503000000000000" charset="0"/>
                              <a:cs typeface="DejaVu Math TeX Gyre" panose="02000503000000000000" charset="0"/>
                            </a:rPr>
                          </m:ctrlPr>
                        </m:sSubPr>
                        <m:e>
                          <m:r>
                            <a:rPr lang="en-US" altLang="zh-CN" b="1" dirty="0">
                              <a:solidFill>
                                <a:schemeClr val="bg1"/>
                              </a:solidFill>
                              <a:latin typeface="DejaVu Math TeX Gyre" panose="02000503000000000000" charset="0"/>
                              <a:cs typeface="DejaVu Math TeX Gyre" panose="02000503000000000000" charset="0"/>
                            </a:rPr>
                            <m:t>𝐰</m:t>
                          </m:r>
                        </m:e>
                        <m:sub>
                          <m:r>
                            <a:rPr lang="en-US" altLang="zh-CN" b="1" dirty="0">
                              <a:solidFill>
                                <a:schemeClr val="bg1"/>
                              </a:solidFill>
                              <a:latin typeface="DejaVu Math TeX Gyre" panose="02000503000000000000" charset="0"/>
                              <a:cs typeface="DejaVu Math TeX Gyre" panose="02000503000000000000" charset="0"/>
                            </a:rPr>
                            <m:t>𝐝</m:t>
                          </m:r>
                        </m:sub>
                      </m:sSub>
                    </m:oMath>
                  </a14:m>
                  <a:r>
                    <a:rPr lang="zh-CN" altLang="en-US" b="1" dirty="0">
                      <a:solidFill>
                        <a:schemeClr val="bg1"/>
                      </a:solidFill>
                      <a:latin typeface="DejaVu Math TeX Gyre" panose="02000503000000000000" charset="0"/>
                      <a:cs typeface="DejaVu Math TeX Gyre" panose="02000503000000000000" charset="0"/>
                    </a:rPr>
                    <a:t>的识别</a:t>
                  </a:r>
                  <a:r>
                    <a:rPr lang="en-US" altLang="zh-CN" b="1" dirty="0">
                      <a:solidFill>
                        <a:schemeClr val="bg1"/>
                      </a:solidFill>
                      <a:latin typeface="DejaVu Math TeX Gyre" panose="02000503000000000000" charset="0"/>
                      <a:cs typeface="DejaVu Math TeX Gyre" panose="02000503000000000000" charset="0"/>
                    </a:rPr>
                    <a:t>：</a:t>
                  </a:r>
                  <a:r>
                    <a:rPr lang="zh-CN" altLang="en-US" b="1" kern="1400" spc="-50" dirty="0">
                      <a:solidFill>
                        <a:schemeClr val="bg1"/>
                      </a:solidFill>
                      <a:latin typeface="Times New Roman" panose="02020503050405090304" pitchFamily="18" charset="0"/>
                    </a:rPr>
                    <a:t>目的地固定效应</a:t>
                  </a:r>
                  <a:endParaRPr lang="zh-CN" altLang="en-US" b="1" kern="1400" spc="-50" dirty="0">
                    <a:solidFill>
                      <a:schemeClr val="bg1"/>
                    </a:solidFill>
                    <a:latin typeface="Times New Roman" panose="020205030504050903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3097" y="3855"/>
                  <a:ext cx="6063" cy="942"/>
                </a:xfrm>
                <a:prstGeom prst="rect">
                  <a:avLst/>
                </a:prstGeom>
                <a:blipFill rotWithShape="1">
                  <a:blip r:embed="rId3"/>
                </a:blipFill>
              </p:spPr>
              <p:txBody>
                <a:bodyPr/>
                <a:lstStyle/>
                <a:p>
                  <a:r>
                    <a:rPr lang="zh-CN" altLang="en-US">
                      <a:noFill/>
                    </a:rPr>
                    <a:t> </a:t>
                  </a:r>
                </a:p>
              </p:txBody>
            </p:sp>
          </mc:Fallback>
        </mc:AlternateContent>
        <p:sp>
          <p:nvSpPr>
            <p:cNvPr id="16" name="矩形 15"/>
            <p:cNvSpPr/>
            <p:nvPr/>
          </p:nvSpPr>
          <p:spPr>
            <a:xfrm>
              <a:off x="3096" y="3887"/>
              <a:ext cx="6063" cy="3428"/>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3368" y="5057"/>
                  <a:ext cx="5457" cy="1785"/>
                </a:xfrm>
                <a:prstGeom prst="rect">
                  <a:avLst/>
                </a:prstGeom>
                <a:noFill/>
              </p:spPr>
              <p:txBody>
                <a:bodyPr wrap="square" rtlCol="0" anchor="ctr" anchorCtr="0">
                  <a:spAutoFit/>
                </a:bodyPr>
                <a:p>
                  <a:pPr marL="285750" indent="-285750">
                    <a:buFont typeface="Arial" panose="020B0604020202090204" pitchFamily="34" charset="0"/>
                    <a:buChar char="•"/>
                  </a:pPr>
                  <a:r>
                    <a:rPr lang="zh-CN" altLang="en-US" sz="1600" kern="0">
                      <a:solidFill>
                        <a:schemeClr val="tx1"/>
                      </a:solidFill>
                      <a:uFillTx/>
                      <a:latin typeface="Times New Roman" panose="02020503050405090304" pitchFamily="18" charset="0"/>
                      <a:ea typeface="楷体" charset="0"/>
                    </a:rPr>
                    <a:t>已知平均工资</a:t>
                  </a:r>
                  <a:r>
                    <a:rPr lang="en-US" altLang="zh-CN" sz="1600" kern="0">
                      <a:solidFill>
                        <a:schemeClr val="tx1"/>
                      </a:solidFill>
                      <a:uFillTx/>
                      <a:latin typeface="Times New Roman" panose="02020503050405090304" pitchFamily="18" charset="0"/>
                      <a:ea typeface="楷体" charset="0"/>
                    </a:rPr>
                    <a:t>、</a:t>
                  </a:r>
                  <a:r>
                    <a:rPr lang="zh-CN" altLang="en-US" sz="1600" kern="0">
                      <a:solidFill>
                        <a:schemeClr val="tx1"/>
                      </a:solidFill>
                      <a:uFillTx/>
                      <a:latin typeface="Times New Roman" panose="02020503050405090304" pitchFamily="18" charset="0"/>
                      <a:ea typeface="楷体" charset="0"/>
                    </a:rPr>
                    <a:t>迁移比例的</a:t>
                  </a:r>
                  <a:r>
                    <a:rPr lang="zh-CN" altLang="en-US" sz="1600" kern="0">
                      <a:solidFill>
                        <a:schemeClr val="tx1"/>
                      </a:solidFill>
                      <a:uFillTx/>
                      <a:latin typeface="Times New Roman" panose="02020503050405090304" pitchFamily="18" charset="0"/>
                      <a:ea typeface="楷体" charset="0"/>
                    </a:rPr>
                    <a:t>观测数据</a:t>
                  </a:r>
                  <a:endParaRPr lang="zh-CN" altLang="en-US" sz="1600" kern="0">
                    <a:solidFill>
                      <a:schemeClr val="tx1"/>
                    </a:solidFill>
                    <a:uFillTx/>
                    <a:latin typeface="Times New Roman" panose="02020503050405090304" pitchFamily="18" charset="0"/>
                    <a:ea typeface="楷体" charset="0"/>
                  </a:endParaRPr>
                </a:p>
                <a:p>
                  <a:pPr marL="285750" indent="-285750">
                    <a:buFont typeface="Arial" panose="020B0604020202090204" pitchFamily="34" charset="0"/>
                    <a:buChar char="•"/>
                  </a:pPr>
                  <a:r>
                    <a:rPr lang="zh-CN" altLang="en-US" sz="1600" kern="0">
                      <a:solidFill>
                        <a:schemeClr val="tx1"/>
                      </a:solidFill>
                      <a:uFillTx/>
                      <a:latin typeface="Times New Roman" panose="02020503050405090304" pitchFamily="18" charset="0"/>
                      <a:ea typeface="楷体" charset="0"/>
                    </a:rPr>
                    <a:t>已知</a:t>
                  </a:r>
                  <a:r>
                    <a:rPr lang="en-US" altLang="zh-CN" sz="1600" kern="0">
                      <a:solidFill>
                        <a:schemeClr val="tx1"/>
                      </a:solidFill>
                      <a:uFillTx/>
                      <a:latin typeface="Times New Roman" panose="02020503050405090304" pitchFamily="18" charset="0"/>
                      <a:ea typeface="楷体" charset="0"/>
                    </a:rPr>
                    <a:t>Gamma</a:t>
                  </a:r>
                  <a:r>
                    <a:rPr lang="zh-CN" altLang="en-US" sz="1600" kern="0">
                      <a:solidFill>
                        <a:schemeClr val="tx1"/>
                      </a:solidFill>
                      <a:uFillTx/>
                      <a:latin typeface="Times New Roman" panose="02020503050405090304" pitchFamily="18" charset="0"/>
                      <a:ea typeface="楷体" charset="0"/>
                    </a:rPr>
                    <a:t>系数常数项</a:t>
                  </a:r>
                  <a:endParaRPr lang="zh-CN" altLang="en-US" sz="1600" kern="0">
                    <a:solidFill>
                      <a:schemeClr val="tx1"/>
                    </a:solidFill>
                    <a:uFillTx/>
                    <a:latin typeface="Times New Roman" panose="02020503050405090304" pitchFamily="18" charset="0"/>
                    <a:ea typeface="楷体" charset="0"/>
                  </a:endParaRPr>
                </a:p>
                <a:p>
                  <a:pPr marL="285750" indent="-285750">
                    <a:buFont typeface="Arial" panose="020B0604020202090204" pitchFamily="34" charset="0"/>
                    <a:buChar char="•"/>
                  </a:pPr>
                  <a:r>
                    <a:rPr lang="zh-CN" altLang="en-US" sz="1600" kern="0">
                      <a:solidFill>
                        <a:schemeClr val="tx1"/>
                      </a:solidFill>
                      <a:uFillTx/>
                      <a:latin typeface="Times New Roman" panose="02020503050405090304" pitchFamily="18" charset="0"/>
                      <a:ea typeface="楷体" charset="0"/>
                    </a:rPr>
                    <a:t>已识别</a:t>
                  </a:r>
                  <a14:m>
                    <m:oMath xmlns:m="http://schemas.openxmlformats.org/officeDocument/2006/math">
                      <m:r>
                        <a:rPr lang="zh-CN" altLang="en-US" sz="1600" kern="0" dirty="0">
                          <a:solidFill>
                            <a:schemeClr val="tx1"/>
                          </a:solidFill>
                          <a:effectLst/>
                          <a:uFillTx/>
                          <a:latin typeface="DejaVu Math TeX Gyre" panose="02000503000000000000" charset="0"/>
                          <a:ea typeface="宋体" charset="0"/>
                          <a:cs typeface="DejaVu Math TeX Gyre" panose="02000503000000000000" charset="0"/>
                        </a:rPr>
                        <m:t>𝜃</m:t>
                      </m:r>
                    </m:oMath>
                  </a14:m>
                  <a:r>
                    <a:rPr lang="en-US" altLang="zh-CN" sz="1600" kern="0" dirty="0">
                      <a:solidFill>
                        <a:schemeClr val="tx1"/>
                      </a:solidFill>
                      <a:effectLst/>
                      <a:uFillTx/>
                      <a:latin typeface="DejaVu Math TeX Gyre" panose="02000503000000000000" charset="0"/>
                      <a:ea typeface="宋体" charset="0"/>
                      <a:cs typeface="DejaVu Math TeX Gyre" panose="02000503000000000000" charset="0"/>
                    </a:rPr>
                    <a:t>、</a:t>
                  </a:r>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已归一化</a:t>
                  </a:r>
                  <a14:m>
                    <m:oMath xmlns:m="http://schemas.openxmlformats.org/officeDocument/2006/math">
                      <m:sSub>
                        <m:sSubPr>
                          <m:ctrlPr>
                            <a:rPr lang="en-US" altLang="zh-CN" sz="1600" i="1" kern="0" dirty="0">
                              <a:solidFill>
                                <a:schemeClr val="tx1"/>
                              </a:solidFill>
                              <a:uFillTx/>
                              <a:latin typeface="DejaVu Math TeX Gyre" panose="02000503000000000000" charset="0"/>
                              <a:ea typeface="楷体" charset="0"/>
                              <a:cs typeface="DejaVu Math TeX Gyre" panose="02000503000000000000" charset="0"/>
                            </a:rPr>
                          </m:ctrlPr>
                        </m:sSubPr>
                        <m:e>
                          <m:r>
                            <a:rPr lang="en-US" altLang="zh-CN" sz="1600" i="1" kern="0" dirty="0">
                              <a:solidFill>
                                <a:schemeClr val="tx1"/>
                              </a:solidFill>
                              <a:uFillTx/>
                              <a:latin typeface="DejaVu Math TeX Gyre" panose="02000503000000000000" charset="0"/>
                              <a:ea typeface="楷体" charset="0"/>
                              <a:cs typeface="DejaVu Math TeX Gyre" panose="02000503000000000000" charset="0"/>
                            </a:rPr>
                            <m:t>𝑞</m:t>
                          </m:r>
                        </m:e>
                        <m:sub>
                          <m:r>
                            <a:rPr lang="en-US" altLang="zh-CN" sz="1600" i="1" kern="0" dirty="0">
                              <a:solidFill>
                                <a:schemeClr val="tx1"/>
                              </a:solidFill>
                              <a:uFillTx/>
                              <a:latin typeface="DejaVu Math TeX Gyre" panose="02000503000000000000" charset="0"/>
                              <a:ea typeface="宋体" charset="0"/>
                              <a:cs typeface="DejaVu Math TeX Gyre" panose="02000503000000000000" charset="0"/>
                            </a:rPr>
                            <m:t>1</m:t>
                          </m:r>
                        </m:sub>
                      </m:sSub>
                    </m:oMath>
                  </a14:m>
                  <a:r>
                    <a:rPr lang="en-US" altLang="zh-CN" sz="1600" kern="0" dirty="0">
                      <a:solidFill>
                        <a:schemeClr val="tx1"/>
                      </a:solidFill>
                      <a:uFillTx/>
                      <a:latin typeface="Times New Roman" panose="02020503050405090304" pitchFamily="18" charset="0"/>
                      <a:ea typeface="楷体" charset="0"/>
                      <a:cs typeface="DejaVu Math TeX Gyre" panose="02000503000000000000" charset="0"/>
                      <a:sym typeface="+mn-ea"/>
                    </a:rPr>
                    <a:t>=1</a:t>
                  </a:r>
                  <a:endParaRPr lang="en-US" altLang="zh-CN" sz="1600" kern="0" dirty="0">
                    <a:solidFill>
                      <a:schemeClr val="tx1"/>
                    </a:solidFill>
                    <a:effectLst/>
                    <a:uFillTx/>
                    <a:latin typeface="Times New Roman" panose="02020503050405090304" pitchFamily="18" charset="0"/>
                    <a:ea typeface="楷体" charset="0"/>
                    <a:cs typeface="DejaVu Math TeX Gyre" panose="02000503000000000000"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3368" y="5057"/>
                  <a:ext cx="5457" cy="1785"/>
                </a:xfrm>
                <a:prstGeom prst="rect">
                  <a:avLst/>
                </a:prstGeom>
                <a:blipFill rotWithShape="1">
                  <a:blip r:embed="rId4"/>
                </a:blipFill>
              </p:spPr>
              <p:txBody>
                <a:bodyPr/>
                <a:lstStyle/>
                <a:p>
                  <a:r>
                    <a:rPr lang="zh-CN" altLang="en-US">
                      <a:noFill/>
                    </a:rPr>
                    <a:t> </a:t>
                  </a:r>
                </a:p>
              </p:txBody>
            </p:sp>
          </mc:Fallback>
        </mc:AlternateContent>
        <p:sp>
          <p:nvSpPr>
            <p:cNvPr id="35" name="矩形 34"/>
            <p:cNvSpPr/>
            <p:nvPr/>
          </p:nvSpPr>
          <p:spPr>
            <a:xfrm>
              <a:off x="3096" y="7614"/>
              <a:ext cx="6064" cy="20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控制住迁移比例和人力资本质量后，地区间工资差异只能由生产率差异解释。</a:t>
              </a:r>
              <a:endParaRPr lang="zh-CN" altLang="en-US" sz="1600">
                <a:solidFill>
                  <a:schemeClr val="tx1"/>
                </a:solidFill>
              </a:endParaRPr>
            </a:p>
          </p:txBody>
        </p:sp>
      </p:grpSp>
      <p:grpSp>
        <p:nvGrpSpPr>
          <p:cNvPr id="23" name="组合 22"/>
          <p:cNvGrpSpPr/>
          <p:nvPr/>
        </p:nvGrpSpPr>
        <p:grpSpPr>
          <a:xfrm>
            <a:off x="7322185" y="2208530"/>
            <a:ext cx="4068445" cy="2677889"/>
            <a:chOff x="9767" y="3702"/>
            <a:chExt cx="5463" cy="5916"/>
          </a:xfrm>
        </p:grpSpPr>
        <mc:AlternateContent xmlns:mc="http://schemas.openxmlformats.org/markup-compatibility/2006">
          <mc:Choice xmlns:a14="http://schemas.microsoft.com/office/drawing/2010/main" Requires="a14">
            <p:sp>
              <p:nvSpPr>
                <p:cNvPr id="15" name="文本框 14"/>
                <p:cNvSpPr txBox="1"/>
                <p:nvPr/>
              </p:nvSpPr>
              <p:spPr>
                <a:xfrm>
                  <a:off x="9772" y="3702"/>
                  <a:ext cx="5458" cy="968"/>
                </a:xfrm>
                <a:prstGeom prst="rect">
                  <a:avLst/>
                </a:prstGeom>
                <a:solidFill>
                  <a:srgbClr val="69025E"/>
                </a:solidFill>
              </p:spPr>
              <p:txBody>
                <a:bodyPr wrap="square" anchor="ctr" anchorCtr="0">
                  <a:spAutoFit/>
                </a:bodyPr>
                <a:lstStyle/>
                <a:p>
                  <a:pPr marL="0" marR="0" indent="0" algn="ctr">
                    <a:lnSpc>
                      <a:spcPct val="125000"/>
                    </a:lnSpc>
                    <a:buNone/>
                  </a:pPr>
                  <a14:m>
                    <m:oMath xmlns:m="http://schemas.openxmlformats.org/officeDocument/2006/math">
                      <m:sSub>
                        <m:sSubPr>
                          <m:ctrlPr>
                            <a:rPr lang="en-US" altLang="zh-CN" b="1" dirty="0">
                              <a:solidFill>
                                <a:schemeClr val="bg1"/>
                              </a:solidFill>
                              <a:latin typeface="DejaVu Math TeX Gyre" panose="02000503000000000000" charset="0"/>
                              <a:cs typeface="DejaVu Math TeX Gyre" panose="02000503000000000000" charset="0"/>
                            </a:rPr>
                          </m:ctrlPr>
                        </m:sSubPr>
                        <m:e>
                          <m:r>
                            <a:rPr lang="en-US" altLang="zh-CN" b="1" dirty="0">
                              <a:solidFill>
                                <a:schemeClr val="bg1"/>
                              </a:solidFill>
                              <a:latin typeface="DejaVu Math TeX Gyre" panose="02000503000000000000" charset="0"/>
                              <a:cs typeface="DejaVu Math TeX Gyre" panose="02000503000000000000" charset="0"/>
                            </a:rPr>
                            <m:t>𝐪</m:t>
                          </m:r>
                        </m:e>
                        <m:sub>
                          <m:r>
                            <a:rPr lang="en-US" altLang="zh-CN" b="1" dirty="0">
                              <a:solidFill>
                                <a:schemeClr val="bg1"/>
                              </a:solidFill>
                              <a:latin typeface="DejaVu Math TeX Gyre" panose="02000503000000000000" charset="0"/>
                              <a:cs typeface="DejaVu Math TeX Gyre" panose="02000503000000000000" charset="0"/>
                            </a:rPr>
                            <m:t>𝐨</m:t>
                          </m:r>
                        </m:sub>
                      </m:sSub>
                    </m:oMath>
                  </a14:m>
                  <a:r>
                    <a:rPr lang="zh-CN" altLang="en-US" b="1" dirty="0">
                      <a:solidFill>
                        <a:schemeClr val="bg1"/>
                      </a:solidFill>
                      <a:latin typeface="DejaVu Math TeX Gyre" panose="02000503000000000000" charset="0"/>
                      <a:cs typeface="DejaVu Math TeX Gyre" panose="02000503000000000000" charset="0"/>
                    </a:rPr>
                    <a:t>的识别</a:t>
                  </a:r>
                  <a:r>
                    <a:rPr lang="en-US" altLang="zh-CN" b="1" dirty="0">
                      <a:solidFill>
                        <a:schemeClr val="bg1"/>
                      </a:solidFill>
                      <a:latin typeface="DejaVu Math TeX Gyre" panose="02000503000000000000" charset="0"/>
                      <a:cs typeface="DejaVu Math TeX Gyre" panose="02000503000000000000" charset="0"/>
                    </a:rPr>
                    <a:t>：</a:t>
                  </a:r>
                  <a:r>
                    <a:rPr lang="zh-CN" altLang="en-US" b="1" kern="1400" spc="-50" dirty="0">
                      <a:solidFill>
                        <a:schemeClr val="bg1"/>
                      </a:solidFill>
                      <a:latin typeface="Times New Roman" panose="02020503050405090304" pitchFamily="18" charset="0"/>
                    </a:rPr>
                    <a:t>出生地固定效应</a:t>
                  </a:r>
                  <a:endParaRPr lang="zh-CN" altLang="en-US" b="1" kern="1400" spc="-50" dirty="0">
                    <a:solidFill>
                      <a:schemeClr val="bg1"/>
                    </a:solidFill>
                    <a:latin typeface="Times New Roman" panose="02020503050405090304" pitchFamily="18" charset="0"/>
                  </a:endParaRPr>
                </a:p>
              </p:txBody>
            </p:sp>
          </mc:Choice>
          <mc:Fallback>
            <p:sp>
              <p:nvSpPr>
                <p:cNvPr id="15" name="文本框 14"/>
                <p:cNvSpPr txBox="1">
                  <a:spLocks noRot="1" noChangeAspect="1" noMove="1" noResize="1" noEditPoints="1" noAdjustHandles="1" noChangeArrowheads="1" noChangeShapeType="1" noTextEdit="1"/>
                </p:cNvSpPr>
                <p:nvPr/>
              </p:nvSpPr>
              <p:spPr>
                <a:xfrm>
                  <a:off x="9772" y="3702"/>
                  <a:ext cx="5458" cy="968"/>
                </a:xfrm>
                <a:prstGeom prst="rect">
                  <a:avLst/>
                </a:prstGeom>
                <a:blipFill rotWithShape="1">
                  <a:blip r:embed="rId5"/>
                </a:blipFill>
              </p:spPr>
              <p:txBody>
                <a:bodyPr/>
                <a:lstStyle/>
                <a:p>
                  <a:r>
                    <a:rPr lang="zh-CN" altLang="en-US">
                      <a:noFill/>
                    </a:rPr>
                    <a:t> </a:t>
                  </a:r>
                </a:p>
              </p:txBody>
            </p:sp>
          </mc:Fallback>
        </mc:AlternateContent>
        <p:sp>
          <p:nvSpPr>
            <p:cNvPr id="17" name="矩形 16"/>
            <p:cNvSpPr/>
            <p:nvPr/>
          </p:nvSpPr>
          <p:spPr>
            <a:xfrm>
              <a:off x="9767" y="3709"/>
              <a:ext cx="5459" cy="3520"/>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772" y="7511"/>
              <a:ext cx="5457" cy="210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zh-CN" altLang="en-US" sz="1600">
                  <a:solidFill>
                    <a:schemeClr val="tx1"/>
                  </a:solidFill>
                </a:rPr>
                <a:t>控制目的地生产率与</a:t>
              </a:r>
              <a:r>
                <a:rPr lang="zh-CN" altLang="en-US" sz="1600">
                  <a:solidFill>
                    <a:schemeClr val="tx1"/>
                  </a:solidFill>
                  <a:sym typeface="+mn-ea"/>
                </a:rPr>
                <a:t>迁移比例</a:t>
              </a:r>
              <a:r>
                <a:rPr lang="zh-CN" altLang="en-US" sz="1600">
                  <a:solidFill>
                    <a:schemeClr val="tx1"/>
                  </a:solidFill>
                </a:rPr>
                <a:t>后，不同出生地的劳动者</a:t>
              </a:r>
              <a:r>
                <a:rPr lang="zh-CN" altLang="en-US" sz="1600">
                  <a:solidFill>
                    <a:schemeClr val="tx1"/>
                  </a:solidFill>
                </a:rPr>
                <a:t>的工资差异</a:t>
              </a:r>
              <a:r>
                <a:rPr lang="zh-CN" altLang="en-US" sz="1600">
                  <a:solidFill>
                    <a:schemeClr val="tx1"/>
                  </a:solidFill>
                  <a:sym typeface="+mn-ea"/>
                </a:rPr>
                <a:t>只能由人力资本质量差异解释。</a:t>
              </a:r>
              <a:endParaRPr lang="en-US" altLang="zh-CN" sz="1600">
                <a:solidFill>
                  <a:schemeClr val="tx1"/>
                </a:solidFill>
              </a:endParaRPr>
            </a:p>
          </p:txBody>
        </p:sp>
      </p:grpSp>
      <p:pic>
        <p:nvPicPr>
          <p:cNvPr id="25" name="图片 24" descr="fb165d4b-772c-4e5c-bf3e-b64283b3c606"/>
          <p:cNvPicPr>
            <a:picLocks noChangeAspect="1"/>
          </p:cNvPicPr>
          <p:nvPr/>
        </p:nvPicPr>
        <p:blipFill>
          <a:blip r:embed="rId6"/>
          <a:stretch>
            <a:fillRect/>
          </a:stretch>
        </p:blipFill>
        <p:spPr>
          <a:xfrm>
            <a:off x="2204085" y="5150485"/>
            <a:ext cx="2167890" cy="1194435"/>
          </a:xfrm>
          <a:prstGeom prst="rect">
            <a:avLst/>
          </a:prstGeom>
        </p:spPr>
      </p:pic>
      <mc:AlternateContent xmlns:mc="http://schemas.openxmlformats.org/markup-compatibility/2006">
        <mc:Choice xmlns:a14="http://schemas.microsoft.com/office/drawing/2010/main" Requires="a14">
          <p:sp>
            <p:nvSpPr>
              <p:cNvPr id="46" name="矩形: 圆角 7"/>
              <p:cNvSpPr/>
              <p:nvPr/>
            </p:nvSpPr>
            <p:spPr>
              <a:xfrm>
                <a:off x="4371975" y="5153660"/>
                <a:ext cx="7015480" cy="119380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buFont typeface="Arial" panose="020B0604020202090204" pitchFamily="34" charset="0"/>
                  <a:buChar char="•"/>
                </a:pPr>
                <a:r>
                  <a:rPr lang="zh-CN" altLang="en-US" sz="1400" kern="100" dirty="0">
                    <a:solidFill>
                      <a:schemeClr val="tx1"/>
                    </a:solidFill>
                    <a:effectLst/>
                    <a:latin typeface="Times New Roman" panose="02020503050405090304" pitchFamily="18" charset="0"/>
                  </a:rPr>
                  <a:t>上述识别过程可通过一个简单的例子理解</a:t>
                </a:r>
                <a:r>
                  <a:rPr lang="en-US" altLang="zh-CN" sz="1400" kern="100" dirty="0">
                    <a:solidFill>
                      <a:schemeClr val="tx1"/>
                    </a:solidFill>
                    <a:effectLst/>
                    <a:latin typeface="Times New Roman" panose="02020503050405090304" pitchFamily="18" charset="0"/>
                  </a:rPr>
                  <a:t>：</a:t>
                </a:r>
                <a:r>
                  <a:rPr lang="zh-CN" altLang="en-US" sz="1400" kern="100" dirty="0">
                    <a:solidFill>
                      <a:schemeClr val="tx1"/>
                    </a:solidFill>
                    <a:effectLst/>
                    <a:latin typeface="Times New Roman" panose="02020503050405090304" pitchFamily="18" charset="0"/>
                  </a:rPr>
                  <a:t>将识别方程移项</a:t>
                </a:r>
                <a:r>
                  <a:rPr lang="en-US" altLang="zh-CN" sz="1400" kern="100" dirty="0">
                    <a:solidFill>
                      <a:schemeClr val="tx1"/>
                    </a:solidFill>
                    <a:effectLst/>
                    <a:latin typeface="Times New Roman" panose="02020503050405090304" pitchFamily="18" charset="0"/>
                  </a:rPr>
                  <a:t>，</a:t>
                </a:r>
                <a:r>
                  <a:rPr lang="zh-CN" altLang="en-US" sz="1400" kern="100" dirty="0">
                    <a:solidFill>
                      <a:schemeClr val="tx1"/>
                    </a:solidFill>
                    <a:effectLst/>
                    <a:latin typeface="Times New Roman" panose="02020503050405090304" pitchFamily="18" charset="0"/>
                  </a:rPr>
                  <a:t>左侧为出生地</a:t>
                </a:r>
                <a:r>
                  <a:rPr lang="en-US" altLang="zh-CN" sz="1400" kern="100" dirty="0">
                    <a:solidFill>
                      <a:schemeClr val="tx1"/>
                    </a:solidFill>
                    <a:effectLst/>
                    <a:latin typeface="Times New Roman" panose="02020503050405090304" pitchFamily="18" charset="0"/>
                  </a:rPr>
                  <a:t>{1,2}、</a:t>
                </a:r>
                <a:r>
                  <a:rPr lang="zh-CN" altLang="en-US" sz="1400" kern="100" dirty="0">
                    <a:solidFill>
                      <a:schemeClr val="tx1"/>
                    </a:solidFill>
                    <a:effectLst/>
                    <a:latin typeface="Times New Roman" panose="02020503050405090304" pitchFamily="18" charset="0"/>
                  </a:rPr>
                  <a:t>目的地</a:t>
                </a:r>
                <a:r>
                  <a:rPr lang="en-US" altLang="zh-CN" sz="1400" kern="100" dirty="0">
                    <a:solidFill>
                      <a:schemeClr val="tx1"/>
                    </a:solidFill>
                    <a:effectLst/>
                    <a:latin typeface="Times New Roman" panose="02020503050405090304" pitchFamily="18" charset="0"/>
                  </a:rPr>
                  <a:t>{A,B}</a:t>
                </a:r>
                <a:r>
                  <a:rPr lang="zh-CN" altLang="en-US" sz="1400" kern="100" dirty="0">
                    <a:solidFill>
                      <a:schemeClr val="tx1"/>
                    </a:solidFill>
                    <a:effectLst/>
                    <a:latin typeface="Times New Roman" panose="02020503050405090304" pitchFamily="18" charset="0"/>
                  </a:rPr>
                  <a:t>的已知信息</a:t>
                </a:r>
                <a:r>
                  <a:rPr lang="en-US" altLang="zh-CN" sz="1400" kern="100" dirty="0">
                    <a:solidFill>
                      <a:schemeClr val="tx1"/>
                    </a:solidFill>
                    <a:effectLst/>
                    <a:latin typeface="Times New Roman" panose="02020503050405090304" pitchFamily="18" charset="0"/>
                  </a:rPr>
                  <a:t>：</a:t>
                </a:r>
                <a:r>
                  <a:rPr lang="zh-CN" altLang="en-US" sz="1400" kern="100" dirty="0">
                    <a:solidFill>
                      <a:schemeClr val="tx1"/>
                    </a:solidFill>
                    <a:effectLst/>
                    <a:latin typeface="Times New Roman" panose="02020503050405090304" pitchFamily="18" charset="0"/>
                  </a:rPr>
                  <a:t>工资</a:t>
                </a:r>
                <a:r>
                  <a:rPr lang="en-US" altLang="zh-CN" sz="1400" kern="100" dirty="0">
                    <a:solidFill>
                      <a:schemeClr val="tx1"/>
                    </a:solidFill>
                    <a:effectLst/>
                    <a:latin typeface="Times New Roman" panose="02020503050405090304" pitchFamily="18" charset="0"/>
                  </a:rPr>
                  <a:t>、</a:t>
                </a:r>
                <a:r>
                  <a:rPr lang="zh-CN" altLang="en-US" sz="1400" kern="100" dirty="0">
                    <a:solidFill>
                      <a:schemeClr val="tx1"/>
                    </a:solidFill>
                    <a:effectLst/>
                    <a:latin typeface="Times New Roman" panose="02020503050405090304" pitchFamily="18" charset="0"/>
                  </a:rPr>
                  <a:t>迁移比例</a:t>
                </a:r>
                <a:r>
                  <a:rPr lang="en-US" altLang="zh-CN" sz="1400" kern="100" dirty="0">
                    <a:solidFill>
                      <a:schemeClr val="tx1"/>
                    </a:solidFill>
                    <a:effectLst/>
                    <a:latin typeface="Times New Roman" panose="02020503050405090304" pitchFamily="18" charset="0"/>
                  </a:rPr>
                  <a:t>、</a:t>
                </a:r>
                <a14:m>
                  <m:oMath xmlns:m="http://schemas.openxmlformats.org/officeDocument/2006/math">
                    <m:r>
                      <a:rPr lang="zh-CN" altLang="en-US" sz="1400" kern="0" dirty="0">
                        <a:solidFill>
                          <a:schemeClr val="tx1"/>
                        </a:solidFill>
                        <a:effectLst/>
                        <a:uFillTx/>
                        <a:latin typeface="DejaVu Math TeX Gyre" panose="02000503000000000000" charset="0"/>
                        <a:ea typeface="宋体" charset="0"/>
                        <a:cs typeface="DejaVu Math TeX Gyre" panose="02000503000000000000" charset="0"/>
                      </a:rPr>
                      <m:t>𝜃</m:t>
                    </m:r>
                  </m:oMath>
                </a14:m>
                <a:r>
                  <a:rPr lang="zh-CN" altLang="en-US" sz="1400" kern="100" dirty="0">
                    <a:solidFill>
                      <a:schemeClr val="tx1"/>
                    </a:solidFill>
                    <a:effectLst/>
                    <a:latin typeface="Times New Roman" panose="02020503050405090304" pitchFamily="18" charset="0"/>
                    <a:sym typeface="+mn-ea"/>
                  </a:rPr>
                  <a:t>等</a:t>
                </a:r>
                <a:r>
                  <a:rPr lang="en-US" altLang="zh-CN" sz="1400" kern="100" dirty="0">
                    <a:solidFill>
                      <a:schemeClr val="tx1"/>
                    </a:solidFill>
                    <a:effectLst/>
                    <a:latin typeface="Times New Roman" panose="02020503050405090304" pitchFamily="18" charset="0"/>
                    <a:sym typeface="+mn-ea"/>
                  </a:rPr>
                  <a:t>；</a:t>
                </a:r>
                <a:endParaRPr lang="en-US" altLang="zh-CN" sz="1400" kern="100" dirty="0">
                  <a:solidFill>
                    <a:schemeClr val="tx1"/>
                  </a:solidFill>
                  <a:effectLst/>
                  <a:latin typeface="Times New Roman" panose="02020503050405090304" pitchFamily="18" charset="0"/>
                  <a:sym typeface="+mn-ea"/>
                </a:endParaRPr>
              </a:p>
              <a:p>
                <a:pPr marL="285750" indent="-285750">
                  <a:buFont typeface="Arial" panose="020B0604020202090204" pitchFamily="34" charset="0"/>
                  <a:buChar char="•"/>
                </a:pPr>
                <a:r>
                  <a:rPr lang="zh-CN" altLang="en-US" sz="1400" kern="100" dirty="0">
                    <a:solidFill>
                      <a:schemeClr val="tx1"/>
                    </a:solidFill>
                    <a:effectLst/>
                    <a:latin typeface="Times New Roman" panose="02020503050405090304" pitchFamily="18" charset="0"/>
                  </a:rPr>
                  <a:t>右侧为需要识别的</a:t>
                </a:r>
                <a14:m>
                  <m:oMath xmlns:m="http://schemas.openxmlformats.org/officeDocument/2006/math">
                    <m:sSub>
                      <m:sSubPr>
                        <m:ctrlPr>
                          <a:rPr lang="en-US" altLang="zh-CN" sz="1400" b="1" i="1" dirty="0">
                            <a:solidFill>
                              <a:schemeClr val="tx1"/>
                            </a:solidFill>
                            <a:latin typeface="DejaVu Math TeX Gyre" panose="02000503000000000000" charset="0"/>
                            <a:cs typeface="DejaVu Math TeX Gyre" panose="02000503000000000000" charset="0"/>
                          </a:rPr>
                        </m:ctrlPr>
                      </m:sSubPr>
                      <m:e>
                        <m:r>
                          <a:rPr lang="en-US" altLang="zh-CN" sz="1400" b="1" i="1" dirty="0">
                            <a:solidFill>
                              <a:schemeClr val="tx1"/>
                            </a:solidFill>
                            <a:latin typeface="DejaVu Math TeX Gyre" panose="02000503000000000000" charset="0"/>
                            <a:cs typeface="DejaVu Math TeX Gyre" panose="02000503000000000000" charset="0"/>
                          </a:rPr>
                          <m:t>𝒘</m:t>
                        </m:r>
                      </m:e>
                      <m:sub>
                        <m:r>
                          <a:rPr lang="en-US" altLang="zh-CN" sz="1400" b="1" i="1" dirty="0">
                            <a:solidFill>
                              <a:schemeClr val="tx1"/>
                            </a:solidFill>
                            <a:latin typeface="DejaVu Math TeX Gyre" panose="02000503000000000000" charset="0"/>
                            <a:cs typeface="DejaVu Math TeX Gyre" panose="02000503000000000000" charset="0"/>
                          </a:rPr>
                          <m:t>𝒅</m:t>
                        </m:r>
                      </m:sub>
                    </m:sSub>
                  </m:oMath>
                </a14:m>
                <a:r>
                  <a:rPr lang="en-US" altLang="zh-CN" sz="1400" b="1" i="1" kern="100" dirty="0">
                    <a:solidFill>
                      <a:schemeClr val="tx1"/>
                    </a:solidFill>
                    <a:effectLst/>
                    <a:latin typeface="DejaVu Math TeX Gyre" panose="02000503000000000000" charset="0"/>
                    <a:cs typeface="DejaVu Math TeX Gyre" panose="02000503000000000000" charset="0"/>
                  </a:rPr>
                  <a:t>、</a:t>
                </a:r>
                <a14:m>
                  <m:oMath xmlns:m="http://schemas.openxmlformats.org/officeDocument/2006/math">
                    <m:sSub>
                      <m:sSubPr>
                        <m:ctrlPr>
                          <a:rPr lang="en-US" altLang="zh-CN" sz="1400" b="1" i="1" dirty="0">
                            <a:solidFill>
                              <a:schemeClr val="tx1"/>
                            </a:solidFill>
                            <a:latin typeface="DejaVu Math TeX Gyre" panose="02000503000000000000" charset="0"/>
                            <a:cs typeface="DejaVu Math TeX Gyre" panose="02000503000000000000" charset="0"/>
                          </a:rPr>
                        </m:ctrlPr>
                      </m:sSubPr>
                      <m:e>
                        <m:r>
                          <a:rPr lang="en-US" altLang="zh-CN" sz="1400" b="1" i="1" dirty="0">
                            <a:solidFill>
                              <a:schemeClr val="tx1"/>
                            </a:solidFill>
                            <a:latin typeface="DejaVu Math TeX Gyre" panose="02000503000000000000" charset="0"/>
                            <a:cs typeface="DejaVu Math TeX Gyre" panose="02000503000000000000" charset="0"/>
                          </a:rPr>
                          <m:t>𝒒</m:t>
                        </m:r>
                      </m:e>
                      <m:sub>
                        <m:r>
                          <a:rPr lang="en-US" altLang="zh-CN" sz="1400" b="1" i="1" dirty="0">
                            <a:solidFill>
                              <a:schemeClr val="tx1"/>
                            </a:solidFill>
                            <a:latin typeface="DejaVu Math TeX Gyre" panose="02000503000000000000" charset="0"/>
                            <a:cs typeface="DejaVu Math TeX Gyre" panose="02000503000000000000" charset="0"/>
                          </a:rPr>
                          <m:t>𝒐</m:t>
                        </m:r>
                      </m:sub>
                    </m:sSub>
                  </m:oMath>
                </a14:m>
                <a:r>
                  <a:rPr lang="zh-CN" altLang="en-US" sz="1400" kern="100" dirty="0">
                    <a:solidFill>
                      <a:schemeClr val="tx1"/>
                    </a:solidFill>
                    <a:effectLst/>
                    <a:latin typeface="Times New Roman" panose="02020503050405090304" pitchFamily="18" charset="0"/>
                  </a:rPr>
                  <a:t>，此时相当于解多条联立方程</a:t>
                </a:r>
                <a:r>
                  <a:rPr lang="en-US" altLang="zh-CN" sz="1400" kern="100" dirty="0">
                    <a:solidFill>
                      <a:schemeClr val="tx1"/>
                    </a:solidFill>
                    <a:effectLst/>
                    <a:latin typeface="Times New Roman" panose="02020503050405090304" pitchFamily="18" charset="0"/>
                  </a:rPr>
                  <a:t>。</a:t>
                </a:r>
                <a:endParaRPr lang="en-US" altLang="zh-CN" sz="1400" kern="100" dirty="0">
                  <a:solidFill>
                    <a:schemeClr val="tx1"/>
                  </a:solidFill>
                  <a:effectLst/>
                  <a:latin typeface="Times New Roman" panose="02020503050405090304" pitchFamily="18" charset="0"/>
                </a:endParaRPr>
              </a:p>
              <a:p>
                <a:pPr marL="285750" indent="-285750" algn="l">
                  <a:buClrTx/>
                  <a:buSzTx/>
                  <a:buFont typeface="Arial" panose="020B0604020202090204" pitchFamily="34" charset="0"/>
                  <a:buChar char="•"/>
                </a:pPr>
                <a:r>
                  <a:rPr lang="zh-CN" altLang="en-US" sz="1400" kern="100" dirty="0">
                    <a:solidFill>
                      <a:schemeClr val="tx1"/>
                    </a:solidFill>
                    <a:effectLst/>
                    <a:latin typeface="Times New Roman" panose="02020503050405090304" pitchFamily="18" charset="0"/>
                  </a:rPr>
                  <a:t>通过</a:t>
                </a:r>
                <a:r>
                  <a:rPr lang="zh-CN" altLang="en-US" sz="1400" kern="0" dirty="0">
                    <a:solidFill>
                      <a:schemeClr val="tx1"/>
                    </a:solidFill>
                    <a:effectLst/>
                    <a:uFillTx/>
                    <a:latin typeface="Times New Roman" panose="02020503050405090304" pitchFamily="18" charset="0"/>
                    <a:ea typeface="楷体" charset="0"/>
                    <a:cs typeface="DejaVu Math TeX Gyre" panose="02000503000000000000" charset="0"/>
                    <a:sym typeface="+mn-ea"/>
                  </a:rPr>
                  <a:t>归一化</a:t>
                </a:r>
                <a14:m>
                  <m:oMath xmlns:m="http://schemas.openxmlformats.org/officeDocument/2006/math">
                    <m:sSub>
                      <m:sSubPr>
                        <m:ctrlPr>
                          <a:rPr lang="en-US" altLang="zh-CN" sz="1400" i="1" kern="0" dirty="0">
                            <a:solidFill>
                              <a:schemeClr val="tx1"/>
                            </a:solidFill>
                            <a:uFillTx/>
                            <a:latin typeface="DejaVu Math TeX Gyre" panose="02000503000000000000" charset="0"/>
                            <a:ea typeface="楷体" charset="0"/>
                            <a:cs typeface="DejaVu Math TeX Gyre" panose="02000503000000000000" charset="0"/>
                          </a:rPr>
                        </m:ctrlPr>
                      </m:sSubPr>
                      <m:e>
                        <m:r>
                          <a:rPr lang="en-US" altLang="zh-CN" sz="1400" i="1" kern="0" dirty="0">
                            <a:solidFill>
                              <a:schemeClr val="tx1"/>
                            </a:solidFill>
                            <a:uFillTx/>
                            <a:latin typeface="DejaVu Math TeX Gyre" panose="02000503000000000000" charset="0"/>
                            <a:ea typeface="楷体" charset="0"/>
                            <a:cs typeface="DejaVu Math TeX Gyre" panose="02000503000000000000" charset="0"/>
                          </a:rPr>
                          <m:t>𝑞</m:t>
                        </m:r>
                      </m:e>
                      <m:sub>
                        <m:r>
                          <a:rPr lang="en-US" altLang="zh-CN" sz="1400" i="1" kern="0" dirty="0">
                            <a:solidFill>
                              <a:schemeClr val="tx1"/>
                            </a:solidFill>
                            <a:uFillTx/>
                            <a:latin typeface="DejaVu Math TeX Gyre" panose="02000503000000000000" charset="0"/>
                            <a:ea typeface="宋体" charset="0"/>
                            <a:cs typeface="DejaVu Math TeX Gyre" panose="02000503000000000000" charset="0"/>
                          </a:rPr>
                          <m:t>1</m:t>
                        </m:r>
                      </m:sub>
                    </m:sSub>
                  </m:oMath>
                </a14:m>
                <a:r>
                  <a:rPr lang="en-US" altLang="zh-CN" sz="1400" kern="0" dirty="0">
                    <a:solidFill>
                      <a:schemeClr val="tx1"/>
                    </a:solidFill>
                    <a:uFillTx/>
                    <a:latin typeface="Times New Roman" panose="02020503050405090304" pitchFamily="18" charset="0"/>
                    <a:ea typeface="楷体" charset="0"/>
                    <a:cs typeface="DejaVu Math TeX Gyre" panose="02000503000000000000" charset="0"/>
                    <a:sym typeface="+mn-ea"/>
                  </a:rPr>
                  <a:t>=1，</a:t>
                </a:r>
                <a:r>
                  <a:rPr lang="zh-CN" altLang="en-US" sz="1400" kern="0" dirty="0">
                    <a:solidFill>
                      <a:schemeClr val="tx1"/>
                    </a:solidFill>
                    <a:uFillTx/>
                    <a:latin typeface="Times New Roman" panose="02020503050405090304" pitchFamily="18" charset="0"/>
                    <a:ea typeface="楷体" charset="0"/>
                    <a:cs typeface="DejaVu Math TeX Gyre" panose="02000503000000000000" charset="0"/>
                    <a:sym typeface="+mn-ea"/>
                  </a:rPr>
                  <a:t>使得有一组唯一解</a:t>
                </a:r>
                <a:r>
                  <a:rPr lang="en-US" altLang="zh-CN" sz="1400" kern="0" dirty="0">
                    <a:solidFill>
                      <a:schemeClr val="tx1"/>
                    </a:solidFill>
                    <a:uFillTx/>
                    <a:latin typeface="Times New Roman" panose="02020503050405090304" pitchFamily="18" charset="0"/>
                    <a:ea typeface="楷体" charset="0"/>
                    <a:cs typeface="DejaVu Math TeX Gyre" panose="02000503000000000000" charset="0"/>
                    <a:sym typeface="+mn-ea"/>
                  </a:rPr>
                  <a:t>：</a:t>
                </a:r>
                <a:r>
                  <a:rPr lang="zh-CN" altLang="en-US" sz="1400" kern="0" dirty="0">
                    <a:solidFill>
                      <a:schemeClr val="tx1"/>
                    </a:solidFill>
                    <a:uFillTx/>
                    <a:latin typeface="Times New Roman" panose="02020503050405090304" pitchFamily="18" charset="0"/>
                    <a:ea typeface="楷体" charset="0"/>
                    <a:cs typeface="DejaVu Math TeX Gyre" panose="02000503000000000000" charset="0"/>
                    <a:sym typeface="+mn-ea"/>
                  </a:rPr>
                  <a:t>如果把所有</a:t>
                </a:r>
                <a14:m>
                  <m:oMath xmlns:m="http://schemas.openxmlformats.org/officeDocument/2006/math">
                    <m:sSub>
                      <m:sSubPr>
                        <m:ctrlPr>
                          <a:rPr lang="en-US" altLang="zh-CN" sz="1400" b="1" i="1" dirty="0">
                            <a:solidFill>
                              <a:schemeClr val="tx1"/>
                            </a:solidFill>
                            <a:latin typeface="DejaVu Math TeX Gyre" panose="02000503000000000000" charset="0"/>
                            <a:cs typeface="DejaVu Math TeX Gyre" panose="02000503000000000000" charset="0"/>
                          </a:rPr>
                        </m:ctrlPr>
                      </m:sSubPr>
                      <m:e>
                        <m:r>
                          <a:rPr lang="en-US" altLang="zh-CN" sz="1400" b="1" i="1" dirty="0">
                            <a:solidFill>
                              <a:schemeClr val="tx1"/>
                            </a:solidFill>
                            <a:latin typeface="DejaVu Math TeX Gyre" panose="02000503000000000000" charset="0"/>
                            <a:cs typeface="DejaVu Math TeX Gyre" panose="02000503000000000000" charset="0"/>
                          </a:rPr>
                          <m:t>𝒘</m:t>
                        </m:r>
                      </m:e>
                      <m:sub>
                        <m:r>
                          <a:rPr lang="en-US" altLang="zh-CN" sz="1400" b="1" i="1" dirty="0">
                            <a:solidFill>
                              <a:schemeClr val="tx1"/>
                            </a:solidFill>
                            <a:latin typeface="DejaVu Math TeX Gyre" panose="02000503000000000000" charset="0"/>
                            <a:cs typeface="DejaVu Math TeX Gyre" panose="02000503000000000000" charset="0"/>
                          </a:rPr>
                          <m:t>𝒅</m:t>
                        </m:r>
                      </m:sub>
                    </m:sSub>
                  </m:oMath>
                </a14:m>
                <a:r>
                  <a:rPr lang="zh-CN" altLang="en-US" sz="1400" kern="0" dirty="0">
                    <a:solidFill>
                      <a:schemeClr val="tx1"/>
                    </a:solidFill>
                    <a:uFillTx/>
                    <a:latin typeface="Times New Roman" panose="02020503050405090304" pitchFamily="18" charset="0"/>
                    <a:ea typeface="楷体" charset="0"/>
                    <a:cs typeface="DejaVu Math TeX Gyre" panose="02000503000000000000" charset="0"/>
                    <a:sym typeface="+mn-ea"/>
                  </a:rPr>
                  <a:t>乘以常数</a:t>
                </a:r>
                <a:r>
                  <a:rPr lang="en-US" altLang="zh-CN" sz="1400" kern="0" dirty="0">
                    <a:solidFill>
                      <a:schemeClr val="tx1"/>
                    </a:solidFill>
                    <a:uFillTx/>
                    <a:latin typeface="Times New Roman" panose="02020503050405090304" pitchFamily="18" charset="0"/>
                    <a:ea typeface="楷体" charset="0"/>
                    <a:cs typeface="DejaVu Math TeX Gyre" panose="02000503000000000000" charset="0"/>
                    <a:sym typeface="+mn-ea"/>
                  </a:rPr>
                  <a:t>c、</a:t>
                </a:r>
                <a:r>
                  <a:rPr lang="zh-CN" altLang="en-US" sz="1400" kern="0" dirty="0">
                    <a:solidFill>
                      <a:schemeClr val="tx1"/>
                    </a:solidFill>
                    <a:uFillTx/>
                    <a:latin typeface="Times New Roman" panose="02020503050405090304" pitchFamily="18" charset="0"/>
                    <a:ea typeface="楷体" charset="0"/>
                    <a:cs typeface="DejaVu Math TeX Gyre" panose="02000503000000000000" charset="0"/>
                    <a:sym typeface="+mn-ea"/>
                  </a:rPr>
                  <a:t>把所有</a:t>
                </a:r>
                <a14:m>
                  <m:oMath xmlns:m="http://schemas.openxmlformats.org/officeDocument/2006/math">
                    <m:sSub>
                      <m:sSubPr>
                        <m:ctrlPr>
                          <a:rPr lang="en-US" altLang="zh-CN" sz="1400" b="1" i="1" dirty="0">
                            <a:solidFill>
                              <a:schemeClr val="tx1"/>
                            </a:solidFill>
                            <a:latin typeface="DejaVu Math TeX Gyre" panose="02000503000000000000" charset="0"/>
                            <a:cs typeface="DejaVu Math TeX Gyre" panose="02000503000000000000" charset="0"/>
                          </a:rPr>
                        </m:ctrlPr>
                      </m:sSubPr>
                      <m:e>
                        <m:r>
                          <a:rPr lang="en-US" altLang="zh-CN" sz="1400" b="1" i="1" dirty="0">
                            <a:solidFill>
                              <a:schemeClr val="tx1"/>
                            </a:solidFill>
                            <a:latin typeface="DejaVu Math TeX Gyre" panose="02000503000000000000" charset="0"/>
                            <a:cs typeface="DejaVu Math TeX Gyre" panose="02000503000000000000" charset="0"/>
                          </a:rPr>
                          <m:t>𝒒</m:t>
                        </m:r>
                      </m:e>
                      <m:sub>
                        <m:r>
                          <a:rPr lang="en-US" altLang="zh-CN" sz="1400" b="1" i="1" dirty="0">
                            <a:solidFill>
                              <a:schemeClr val="tx1"/>
                            </a:solidFill>
                            <a:latin typeface="DejaVu Math TeX Gyre" panose="02000503000000000000" charset="0"/>
                            <a:cs typeface="DejaVu Math TeX Gyre" panose="02000503000000000000" charset="0"/>
                          </a:rPr>
                          <m:t>𝒐</m:t>
                        </m:r>
                      </m:sub>
                    </m:sSub>
                  </m:oMath>
                </a14:m>
                <a:r>
                  <a:rPr lang="zh-CN" altLang="en-US" sz="1400" kern="0" dirty="0">
                    <a:solidFill>
                      <a:schemeClr val="tx1"/>
                    </a:solidFill>
                    <a:uFillTx/>
                    <a:latin typeface="Times New Roman" panose="02020503050405090304" pitchFamily="18" charset="0"/>
                    <a:ea typeface="楷体" charset="0"/>
                    <a:cs typeface="DejaVu Math TeX Gyre" panose="02000503000000000000" charset="0"/>
                    <a:sym typeface="+mn-ea"/>
                  </a:rPr>
                  <a:t>除以</a:t>
                </a:r>
                <a:r>
                  <a:rPr lang="en-US" altLang="zh-CN" sz="1400" kern="0" dirty="0">
                    <a:solidFill>
                      <a:schemeClr val="tx1"/>
                    </a:solidFill>
                    <a:uFillTx/>
                    <a:latin typeface="Times New Roman" panose="02020503050405090304" pitchFamily="18" charset="0"/>
                    <a:ea typeface="楷体" charset="0"/>
                    <a:cs typeface="DejaVu Math TeX Gyre" panose="02000503000000000000" charset="0"/>
                    <a:sym typeface="+mn-ea"/>
                  </a:rPr>
                  <a:t>c，</a:t>
                </a:r>
                <a:r>
                  <a:rPr lang="zh-CN" altLang="en-US" sz="1400" kern="0" dirty="0">
                    <a:solidFill>
                      <a:schemeClr val="tx1"/>
                    </a:solidFill>
                    <a:uFillTx/>
                    <a:latin typeface="Times New Roman" panose="02020503050405090304" pitchFamily="18" charset="0"/>
                    <a:ea typeface="楷体" charset="0"/>
                    <a:cs typeface="DejaVu Math TeX Gyre" panose="02000503000000000000" charset="0"/>
                    <a:sym typeface="+mn-ea"/>
                  </a:rPr>
                  <a:t>解不唯一但式子仍成立</a:t>
                </a:r>
                <a:r>
                  <a:rPr lang="en-US" altLang="zh-CN" sz="1400" kern="0" dirty="0">
                    <a:solidFill>
                      <a:schemeClr val="tx1"/>
                    </a:solidFill>
                    <a:uFillTx/>
                    <a:latin typeface="Times New Roman" panose="02020503050405090304" pitchFamily="18" charset="0"/>
                    <a:ea typeface="楷体" charset="0"/>
                    <a:cs typeface="DejaVu Math TeX Gyre" panose="02000503000000000000" charset="0"/>
                    <a:sym typeface="+mn-ea"/>
                  </a:rPr>
                  <a:t>。</a:t>
                </a:r>
                <a:r>
                  <a:rPr lang="zh-CN" altLang="en-US" sz="1400" kern="0" dirty="0">
                    <a:solidFill>
                      <a:schemeClr val="tx1"/>
                    </a:solidFill>
                    <a:uFillTx/>
                    <a:latin typeface="Times New Roman" panose="02020503050405090304" pitchFamily="18" charset="0"/>
                    <a:ea typeface="楷体" charset="0"/>
                    <a:cs typeface="DejaVu Math TeX Gyre" panose="02000503000000000000" charset="0"/>
                    <a:sym typeface="+mn-ea"/>
                  </a:rPr>
                  <a:t>因此需要通过归一化</a:t>
                </a:r>
                <a:r>
                  <a:rPr lang="zh-CN" altLang="en-US" sz="1400" kern="0" dirty="0">
                    <a:solidFill>
                      <a:schemeClr val="tx1"/>
                    </a:solidFill>
                    <a:uFillTx/>
                    <a:latin typeface="Times New Roman" panose="02020503050405090304" pitchFamily="18" charset="0"/>
                    <a:ea typeface="楷体" charset="0"/>
                    <a:cs typeface="DejaVu Math TeX Gyre" panose="02000503000000000000" charset="0"/>
                    <a:sym typeface="+mn-ea"/>
                  </a:rPr>
                  <a:t>处理固定尺度</a:t>
                </a:r>
                <a:r>
                  <a:rPr lang="en-US" altLang="zh-CN" sz="1400" kern="0" dirty="0">
                    <a:solidFill>
                      <a:schemeClr val="tx1"/>
                    </a:solidFill>
                    <a:uFillTx/>
                    <a:latin typeface="Times New Roman" panose="02020503050405090304" pitchFamily="18" charset="0"/>
                    <a:ea typeface="楷体" charset="0"/>
                    <a:cs typeface="DejaVu Math TeX Gyre" panose="02000503000000000000" charset="0"/>
                    <a:sym typeface="+mn-ea"/>
                  </a:rPr>
                  <a:t>。</a:t>
                </a:r>
                <a:endParaRPr lang="en-US" altLang="zh-CN" sz="1400" kern="0" dirty="0">
                  <a:solidFill>
                    <a:schemeClr val="tx1"/>
                  </a:solidFill>
                  <a:uFillTx/>
                  <a:latin typeface="Times New Roman" panose="02020503050405090304" pitchFamily="18" charset="0"/>
                  <a:ea typeface="楷体" charset="0"/>
                  <a:cs typeface="DejaVu Math TeX Gyre" panose="02000503000000000000" charset="0"/>
                  <a:sym typeface="+mn-ea"/>
                </a:endParaRPr>
              </a:p>
            </p:txBody>
          </p:sp>
        </mc:Choice>
        <mc:Fallback>
          <p:sp>
            <p:nvSpPr>
              <p:cNvPr id="46" name="矩形: 圆角 7"/>
              <p:cNvSpPr>
                <a:spLocks noRot="1" noChangeAspect="1" noMove="1" noResize="1" noEditPoints="1" noAdjustHandles="1" noChangeArrowheads="1" noChangeShapeType="1" noTextEdit="1"/>
              </p:cNvSpPr>
              <p:nvPr/>
            </p:nvSpPr>
            <p:spPr>
              <a:xfrm>
                <a:off x="4371975" y="5153660"/>
                <a:ext cx="7015480" cy="1193800"/>
              </a:xfrm>
              <a:prstGeom prst="roundRect">
                <a:avLst/>
              </a:prstGeom>
              <a:blipFill rotWithShape="1">
                <a:blip r:embed="rId7"/>
                <a:stretch>
                  <a:fillRect l="-208" t="-1223" r="-199" b="-1170"/>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7" name="箭头: 下 15"/>
          <p:cNvSpPr/>
          <p:nvPr/>
        </p:nvSpPr>
        <p:spPr>
          <a:xfrm>
            <a:off x="4144010" y="3800475"/>
            <a:ext cx="300990" cy="18923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15"/>
          <p:cNvSpPr/>
          <p:nvPr/>
        </p:nvSpPr>
        <p:spPr>
          <a:xfrm>
            <a:off x="9208135" y="3800475"/>
            <a:ext cx="300990" cy="18923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0" name="文本框 29"/>
              <p:cNvSpPr txBox="1"/>
              <p:nvPr/>
            </p:nvSpPr>
            <p:spPr>
              <a:xfrm>
                <a:off x="7477388" y="2854299"/>
                <a:ext cx="3763485" cy="635000"/>
              </a:xfrm>
              <a:prstGeom prst="rect">
                <a:avLst/>
              </a:prstGeom>
              <a:noFill/>
            </p:spPr>
            <p:txBody>
              <a:bodyPr wrap="square" rtlCol="0" anchor="ctr" anchorCtr="0">
                <a:spAutoFit/>
              </a:bodyPr>
              <a:p>
                <a:pPr marL="285750" indent="-285750" algn="l">
                  <a:buClrTx/>
                  <a:buSzTx/>
                  <a:buFont typeface="Arial" panose="020B0604020202090204" pitchFamily="34" charset="0"/>
                  <a:buChar char="•"/>
                </a:pPr>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已归一化</a:t>
                </a:r>
                <a14:m>
                  <m:oMath xmlns:m="http://schemas.openxmlformats.org/officeDocument/2006/math">
                    <m:sSub>
                      <m:sSubPr>
                        <m:ctrlPr>
                          <a:rPr lang="en-US" altLang="zh-CN" sz="1600" i="1" kern="0" dirty="0">
                            <a:solidFill>
                              <a:schemeClr val="tx1"/>
                            </a:solidFill>
                            <a:uFillTx/>
                            <a:latin typeface="DejaVu Math TeX Gyre" panose="02000503000000000000" charset="0"/>
                            <a:ea typeface="楷体" charset="0"/>
                            <a:cs typeface="DejaVu Math TeX Gyre" panose="02000503000000000000" charset="0"/>
                          </a:rPr>
                        </m:ctrlPr>
                      </m:sSubPr>
                      <m:e>
                        <m:r>
                          <a:rPr lang="en-US" altLang="zh-CN" sz="1600" i="1" kern="0" dirty="0">
                            <a:solidFill>
                              <a:schemeClr val="tx1"/>
                            </a:solidFill>
                            <a:uFillTx/>
                            <a:latin typeface="DejaVu Math TeX Gyre" panose="02000503000000000000" charset="0"/>
                            <a:ea typeface="楷体" charset="0"/>
                            <a:cs typeface="DejaVu Math TeX Gyre" panose="02000503000000000000" charset="0"/>
                          </a:rPr>
                          <m:t>𝑞</m:t>
                        </m:r>
                      </m:e>
                      <m:sub>
                        <m:r>
                          <a:rPr lang="en-US" altLang="zh-CN" sz="1600" i="1" kern="0" dirty="0">
                            <a:solidFill>
                              <a:schemeClr val="tx1"/>
                            </a:solidFill>
                            <a:uFillTx/>
                            <a:latin typeface="DejaVu Math TeX Gyre" panose="02000503000000000000" charset="0"/>
                            <a:ea typeface="宋体" charset="0"/>
                            <a:cs typeface="DejaVu Math TeX Gyre" panose="02000503000000000000" charset="0"/>
                          </a:rPr>
                          <m:t>1</m:t>
                        </m:r>
                      </m:sub>
                    </m:sSub>
                  </m:oMath>
                </a14:m>
                <a:r>
                  <a:rPr lang="en-US" altLang="zh-CN" sz="1600" kern="0" dirty="0">
                    <a:solidFill>
                      <a:schemeClr val="tx1"/>
                    </a:solidFill>
                    <a:uFillTx/>
                    <a:latin typeface="Times New Roman" panose="02020503050405090304" pitchFamily="18" charset="0"/>
                    <a:ea typeface="楷体" charset="0"/>
                    <a:cs typeface="DejaVu Math TeX Gyre" panose="02000503000000000000" charset="0"/>
                    <a:sym typeface="+mn-ea"/>
                  </a:rPr>
                  <a:t>=1，</a:t>
                </a:r>
                <a:r>
                  <a:rPr lang="zh-CN" altLang="en-US" sz="1600" kern="0" dirty="0">
                    <a:solidFill>
                      <a:schemeClr val="tx1"/>
                    </a:solidFill>
                    <a:uFillTx/>
                    <a:latin typeface="Times New Roman" panose="02020503050405090304" pitchFamily="18" charset="0"/>
                    <a:ea typeface="楷体" charset="0"/>
                    <a:cs typeface="DejaVu Math TeX Gyre" panose="02000503000000000000" charset="0"/>
                    <a:sym typeface="+mn-ea"/>
                  </a:rPr>
                  <a:t>最终识别</a:t>
                </a:r>
                <a14:m>
                  <m:oMath xmlns:m="http://schemas.openxmlformats.org/officeDocument/2006/math">
                    <m:sSub>
                      <m:sSubPr>
                        <m:ctrlP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ctrlPr>
                      </m:sSubPr>
                      <m:e>
                        <m: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t>𝐪</m:t>
                        </m:r>
                      </m:e>
                      <m:sub>
                        <m: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t>𝐨</m:t>
                        </m:r>
                      </m:sub>
                    </m:sSub>
                  </m:oMath>
                </a14:m>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相对于</a:t>
                </a:r>
                <a14:m>
                  <m:oMath xmlns:m="http://schemas.openxmlformats.org/officeDocument/2006/math">
                    <m:sSub>
                      <m:sSubPr>
                        <m:ctrlP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ctrlPr>
                      </m:sSubPr>
                      <m:e>
                        <m: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t>𝑞</m:t>
                        </m:r>
                      </m:e>
                      <m:sub>
                        <m: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m:t>1</m:t>
                        </m:r>
                      </m:sub>
                    </m:sSub>
                  </m:oMath>
                </a14:m>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的大小</a:t>
                </a:r>
                <a:endPar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endParaRPr>
              </a:p>
            </p:txBody>
          </p:sp>
        </mc:Choice>
        <mc:Fallback>
          <p:sp>
            <p:nvSpPr>
              <p:cNvPr id="30" name="文本框 29"/>
              <p:cNvSpPr txBox="1">
                <a:spLocks noRot="1" noChangeAspect="1" noMove="1" noResize="1" noEditPoints="1" noAdjustHandles="1" noChangeArrowheads="1" noChangeShapeType="1" noTextEdit="1"/>
              </p:cNvSpPr>
              <p:nvPr/>
            </p:nvSpPr>
            <p:spPr>
              <a:xfrm>
                <a:off x="7477388" y="2854299"/>
                <a:ext cx="3763485" cy="635000"/>
              </a:xfrm>
              <a:prstGeom prst="rect">
                <a:avLst/>
              </a:prstGeom>
              <a:blipFill rotWithShape="1">
                <a:blip r:embed="rId8"/>
                <a:stretch>
                  <a:fillRect l="-7" t="-96" r="3" b="96"/>
                </a:stretch>
              </a:blipFill>
            </p:spPr>
            <p:txBody>
              <a:bodyPr/>
              <a:lstStyle/>
              <a:p>
                <a:r>
                  <a:rPr lang="zh-CN" altLang="en-US">
                    <a:noFill/>
                  </a:rPr>
                  <a:t> </a:t>
                </a:r>
              </a:p>
            </p:txBody>
          </p:sp>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sym typeface="+mn-ea"/>
                  </a:rPr>
                  <a:t>识别</a:t>
                </a:r>
                <a:r>
                  <a:rPr lang="en-US" altLang="zh-CN" sz="2800" b="1" dirty="0">
                    <a:latin typeface="+mn-lt"/>
                    <a:sym typeface="+mn-ea"/>
                  </a:rPr>
                  <a:t>：</a:t>
                </a:r>
                <a:r>
                  <a:rPr lang="zh-CN" altLang="en-US" sz="2800" b="1" dirty="0">
                    <a:latin typeface="+mn-lt"/>
                  </a:rPr>
                  <a:t>移动相关特征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m:t>
                        </m:r>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𝜶</m:t>
                        </m:r>
                      </m:e>
                      <m:sub>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4" name="图片 3" descr="c70307b51191c03a1887436b6cc6e3af"/>
          <p:cNvPicPr>
            <a:picLocks noChangeAspect="1"/>
          </p:cNvPicPr>
          <p:nvPr/>
        </p:nvPicPr>
        <p:blipFill>
          <a:blip r:embed="rId2"/>
          <a:srcRect l="21151" r="20481"/>
          <a:stretch>
            <a:fillRect/>
          </a:stretch>
        </p:blipFill>
        <p:spPr>
          <a:xfrm>
            <a:off x="2125980" y="1411605"/>
            <a:ext cx="4199255" cy="1525905"/>
          </a:xfrm>
          <a:prstGeom prst="rect">
            <a:avLst/>
          </a:prstGeom>
        </p:spPr>
      </p:pic>
      <p:sp>
        <p:nvSpPr>
          <p:cNvPr id="46" name="矩形: 圆角 7"/>
          <p:cNvSpPr/>
          <p:nvPr/>
        </p:nvSpPr>
        <p:spPr>
          <a:xfrm>
            <a:off x="7080885" y="1134110"/>
            <a:ext cx="4199255" cy="18599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将迁移比例的表达式取</a:t>
            </a:r>
            <a:r>
              <a:rPr lang="zh-CN" altLang="en-US" sz="1600" kern="100" dirty="0">
                <a:solidFill>
                  <a:schemeClr val="tx1"/>
                </a:solidFill>
                <a:effectLst/>
                <a:latin typeface="Times New Roman" panose="02020503050405090304" pitchFamily="18" charset="0"/>
              </a:rPr>
              <a:t>对数</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迁移比例受到目的地宜居性、生产率</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出生地</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目的地迁移成本的</a:t>
            </a:r>
            <a:r>
              <a:rPr lang="zh-CN" altLang="en-US" sz="1600" kern="100" dirty="0">
                <a:solidFill>
                  <a:schemeClr val="tx1"/>
                </a:solidFill>
                <a:effectLst/>
                <a:latin typeface="Times New Roman" panose="02020503050405090304" pitchFamily="18" charset="0"/>
              </a:rPr>
              <a:t>影响</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直觉上</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上述因素中只有迁移成本会影响两地之间的双向</a:t>
            </a:r>
            <a:r>
              <a:rPr lang="zh-CN" altLang="en-US" sz="1600" kern="100" dirty="0">
                <a:solidFill>
                  <a:schemeClr val="tx1"/>
                </a:solidFill>
                <a:effectLst/>
                <a:latin typeface="Times New Roman" panose="02020503050405090304" pitchFamily="18" charset="0"/>
              </a:rPr>
              <a:t>迁移</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利用</a:t>
            </a:r>
            <a:r>
              <a:rPr lang="zh-CN" altLang="en-US" sz="1600" b="1" kern="100" dirty="0">
                <a:solidFill>
                  <a:srgbClr val="660066"/>
                </a:solidFill>
                <a:effectLst/>
                <a:latin typeface="Times New Roman" panose="02020503050405090304" pitchFamily="18" charset="0"/>
              </a:rPr>
              <a:t>迁移成本对称</a:t>
            </a:r>
            <a:r>
              <a:rPr lang="en-US" altLang="zh-CN" sz="1600" b="1" kern="100" dirty="0">
                <a:solidFill>
                  <a:srgbClr val="660066"/>
                </a:solidFill>
                <a:effectLst/>
                <a:latin typeface="Times New Roman" panose="02020503050405090304" pitchFamily="18" charset="0"/>
              </a:rPr>
              <a:t>、留在原地迁移成本为零</a:t>
            </a:r>
            <a:r>
              <a:rPr lang="zh-CN" altLang="en-US" sz="1600" kern="100" dirty="0">
                <a:solidFill>
                  <a:schemeClr val="tx1"/>
                </a:solidFill>
                <a:effectLst/>
                <a:latin typeface="Times New Roman" panose="02020503050405090304" pitchFamily="18" charset="0"/>
              </a:rPr>
              <a:t>的假设</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可对上式重新进行组合</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p:sp>
        <p:nvSpPr>
          <p:cNvPr id="19" name="箭头: 下 15"/>
          <p:cNvSpPr/>
          <p:nvPr/>
        </p:nvSpPr>
        <p:spPr>
          <a:xfrm rot="16200000">
            <a:off x="6802120" y="1935480"/>
            <a:ext cx="300990" cy="2571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sym typeface="+mn-ea"/>
                  </a:rPr>
                  <a:t>识别</a:t>
                </a:r>
                <a:r>
                  <a:rPr lang="en-US" altLang="zh-CN" sz="2800" b="1" dirty="0">
                    <a:latin typeface="+mn-lt"/>
                    <a:sym typeface="+mn-ea"/>
                  </a:rPr>
                  <a:t>：</a:t>
                </a:r>
                <a:r>
                  <a:rPr lang="zh-CN" altLang="en-US" sz="2800" b="1" dirty="0">
                    <a:latin typeface="+mn-lt"/>
                  </a:rPr>
                  <a:t>移动相关特征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m:t>
                        </m:r>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𝜶</m:t>
                        </m:r>
                      </m:e>
                      <m:sub>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4" name="图片 3" descr="c70307b51191c03a1887436b6cc6e3af"/>
          <p:cNvPicPr>
            <a:picLocks noChangeAspect="1"/>
          </p:cNvPicPr>
          <p:nvPr/>
        </p:nvPicPr>
        <p:blipFill>
          <a:blip r:embed="rId2"/>
          <a:srcRect l="21151" r="20481"/>
          <a:stretch>
            <a:fillRect/>
          </a:stretch>
        </p:blipFill>
        <p:spPr>
          <a:xfrm>
            <a:off x="2125980" y="1411605"/>
            <a:ext cx="4199255" cy="1525905"/>
          </a:xfrm>
          <a:prstGeom prst="rect">
            <a:avLst/>
          </a:prstGeom>
        </p:spPr>
      </p:pic>
      <p:pic>
        <p:nvPicPr>
          <p:cNvPr id="5" name="图片 4" descr="e16353647d3b5709be1789d894521b89"/>
          <p:cNvPicPr>
            <a:picLocks noChangeAspect="1"/>
          </p:cNvPicPr>
          <p:nvPr/>
        </p:nvPicPr>
        <p:blipFill>
          <a:blip r:embed="rId3"/>
          <a:srcRect l="6801" r="8768"/>
          <a:stretch>
            <a:fillRect/>
          </a:stretch>
        </p:blipFill>
        <p:spPr>
          <a:xfrm>
            <a:off x="1877695" y="3833495"/>
            <a:ext cx="4937125" cy="483870"/>
          </a:xfrm>
          <a:prstGeom prst="rect">
            <a:avLst/>
          </a:prstGeom>
        </p:spPr>
      </p:pic>
      <p:pic>
        <p:nvPicPr>
          <p:cNvPr id="6" name="图片 5" descr="2c783df17359d5d1495636ec7519e1bc"/>
          <p:cNvPicPr>
            <a:picLocks noChangeAspect="1"/>
          </p:cNvPicPr>
          <p:nvPr/>
        </p:nvPicPr>
        <p:blipFill>
          <a:blip r:embed="rId4"/>
          <a:stretch>
            <a:fillRect/>
          </a:stretch>
        </p:blipFill>
        <p:spPr>
          <a:xfrm>
            <a:off x="2289810" y="6224905"/>
            <a:ext cx="3870960" cy="330835"/>
          </a:xfrm>
          <a:prstGeom prst="rect">
            <a:avLst/>
          </a:prstGeom>
        </p:spPr>
      </p:pic>
      <p:cxnSp>
        <p:nvCxnSpPr>
          <p:cNvPr id="7" name="直接连接符 6"/>
          <p:cNvCxnSpPr/>
          <p:nvPr/>
        </p:nvCxnSpPr>
        <p:spPr>
          <a:xfrm>
            <a:off x="1965960" y="6224905"/>
            <a:ext cx="5114925" cy="0"/>
          </a:xfrm>
          <a:prstGeom prst="line">
            <a:avLst/>
          </a:prstGeom>
          <a:ln w="12700" cap="flat" cmpd="sng">
            <a:solidFill>
              <a:schemeClr val="accent3"/>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965960" y="6275705"/>
            <a:ext cx="404495" cy="233045"/>
          </a:xfrm>
          <a:prstGeom prst="rect">
            <a:avLst/>
          </a:prstGeom>
          <a:noFill/>
        </p:spPr>
        <p:txBody>
          <a:bodyPr wrap="square" rtlCol="0">
            <a:noAutofit/>
          </a:bodyPr>
          <a:p>
            <a:r>
              <a:rPr lang="zh-CN" altLang="en-US" sz="1000">
                <a:solidFill>
                  <a:schemeClr val="tx1">
                    <a:lumMod val="50000"/>
                    <a:lumOff val="50000"/>
                  </a:schemeClr>
                </a:solidFill>
              </a:rPr>
              <a:t>注</a:t>
            </a:r>
            <a:r>
              <a:rPr lang="en-US" altLang="zh-CN" sz="1000">
                <a:solidFill>
                  <a:schemeClr val="tx1">
                    <a:lumMod val="50000"/>
                    <a:lumOff val="50000"/>
                  </a:schemeClr>
                </a:solidFill>
              </a:rPr>
              <a:t>：</a:t>
            </a:r>
            <a:endParaRPr lang="en-US" altLang="zh-CN" sz="1000">
              <a:solidFill>
                <a:schemeClr val="tx1">
                  <a:lumMod val="50000"/>
                  <a:lumOff val="50000"/>
                </a:schemeClr>
              </a:solidFill>
            </a:endParaRPr>
          </a:p>
        </p:txBody>
      </p:sp>
      <p:sp>
        <p:nvSpPr>
          <p:cNvPr id="46" name="矩形: 圆角 7"/>
          <p:cNvSpPr/>
          <p:nvPr/>
        </p:nvSpPr>
        <p:spPr>
          <a:xfrm>
            <a:off x="7080885" y="1134110"/>
            <a:ext cx="4199255" cy="18599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将迁移比例的表达式取</a:t>
            </a:r>
            <a:r>
              <a:rPr lang="zh-CN" altLang="en-US" sz="1600" kern="100" dirty="0">
                <a:solidFill>
                  <a:schemeClr val="tx1"/>
                </a:solidFill>
                <a:effectLst/>
                <a:latin typeface="Times New Roman" panose="02020503050405090304" pitchFamily="18" charset="0"/>
              </a:rPr>
              <a:t>对数</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迁移比例受到目的地宜居性、生产率</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出生地</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目的地迁移成本的</a:t>
            </a:r>
            <a:r>
              <a:rPr lang="zh-CN" altLang="en-US" sz="1600" kern="100" dirty="0">
                <a:solidFill>
                  <a:schemeClr val="tx1"/>
                </a:solidFill>
                <a:effectLst/>
                <a:latin typeface="Times New Roman" panose="02020503050405090304" pitchFamily="18" charset="0"/>
              </a:rPr>
              <a:t>影响</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直觉上</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上述因素中只有迁移成本会影响两地之间的双向</a:t>
            </a:r>
            <a:r>
              <a:rPr lang="zh-CN" altLang="en-US" sz="1600" kern="100" dirty="0">
                <a:solidFill>
                  <a:schemeClr val="tx1"/>
                </a:solidFill>
                <a:effectLst/>
                <a:latin typeface="Times New Roman" panose="02020503050405090304" pitchFamily="18" charset="0"/>
              </a:rPr>
              <a:t>迁移</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利用</a:t>
            </a:r>
            <a:r>
              <a:rPr lang="zh-CN" altLang="en-US" sz="1600" b="1" kern="100" dirty="0">
                <a:solidFill>
                  <a:srgbClr val="660066"/>
                </a:solidFill>
                <a:effectLst/>
                <a:latin typeface="Times New Roman" panose="02020503050405090304" pitchFamily="18" charset="0"/>
              </a:rPr>
              <a:t>迁移成本对称</a:t>
            </a:r>
            <a:r>
              <a:rPr lang="en-US" altLang="zh-CN" sz="1600" b="1" kern="100" dirty="0">
                <a:solidFill>
                  <a:srgbClr val="660066"/>
                </a:solidFill>
                <a:effectLst/>
                <a:latin typeface="Times New Roman" panose="02020503050405090304" pitchFamily="18" charset="0"/>
              </a:rPr>
              <a:t>、留在原地迁移成本为零</a:t>
            </a:r>
            <a:r>
              <a:rPr lang="zh-CN" altLang="en-US" sz="1600" kern="100" dirty="0">
                <a:solidFill>
                  <a:schemeClr val="tx1"/>
                </a:solidFill>
                <a:effectLst/>
                <a:latin typeface="Times New Roman" panose="02020503050405090304" pitchFamily="18" charset="0"/>
              </a:rPr>
              <a:t>的假设</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可对上式重新进行组合</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mc:AlternateContent xmlns:mc="http://schemas.openxmlformats.org/markup-compatibility/2006">
        <mc:Choice xmlns:a14="http://schemas.microsoft.com/office/drawing/2010/main" Requires="a14">
          <p:sp>
            <p:nvSpPr>
              <p:cNvPr id="9" name="矩形: 圆角 7"/>
              <p:cNvSpPr/>
              <p:nvPr/>
            </p:nvSpPr>
            <p:spPr>
              <a:xfrm>
                <a:off x="7080885" y="3239135"/>
                <a:ext cx="4199255" cy="152590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新的式子比较两地的双向迁移相对于留在原地的比例</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其中最后</a:t>
                </a:r>
                <a:r>
                  <a:rPr lang="zh-CN" altLang="en-US" sz="1600" kern="100" dirty="0">
                    <a:solidFill>
                      <a:schemeClr val="tx1"/>
                    </a:solidFill>
                    <a:effectLst/>
                    <a:latin typeface="Times New Roman" panose="02020503050405090304" pitchFamily="18" charset="0"/>
                  </a:rPr>
                  <a:t>一项误差项均值为零</a:t>
                </a:r>
                <a:r>
                  <a:rPr lang="en-US" altLang="zh-CN" sz="1600" kern="100" dirty="0">
                    <a:solidFill>
                      <a:schemeClr val="tx1"/>
                    </a:solidFill>
                    <a:effectLst/>
                    <a:latin typeface="Times New Roman" panose="02020503050405090304" pitchFamily="18" charset="0"/>
                  </a:rPr>
                  <a:t>。</a:t>
                </a:r>
                <a:endParaRPr lang="zh-CN" altLang="en-US" sz="1600" kern="100" dirty="0">
                  <a:solidFill>
                    <a:schemeClr val="tx1"/>
                  </a:solidFill>
                  <a:effectLst/>
                  <a:latin typeface="Times New Roman" panose="02020503050405090304" pitchFamily="18" charset="0"/>
                </a:endParaRPr>
              </a:p>
              <a:p>
                <a:pPr marL="285750" indent="-285750" algn="l">
                  <a:buClrTx/>
                  <a:buSzTx/>
                  <a:buFont typeface="Arial" panose="020B0604020202090204" pitchFamily="34" charset="0"/>
                  <a:buChar char="•"/>
                </a:pPr>
                <a14:m>
                  <m:oMath xmlns:m="http://schemas.openxmlformats.org/officeDocument/2006/math">
                    <m:sSub>
                      <m:sSubPr>
                        <m:ctrlPr>
                          <a:rPr lang="zh-CN" altLang="en-US" sz="1600" kern="100" dirty="0">
                            <a:solidFill>
                              <a:schemeClr val="tx1"/>
                            </a:solidFill>
                            <a:effectLst/>
                            <a:latin typeface="Times New Roman" panose="02020503050405090304" pitchFamily="18" charset="0"/>
                          </a:rPr>
                        </m:ctrlPr>
                      </m:sSubPr>
                      <m:e>
                        <m:r>
                          <a:rPr lang="zh-CN" altLang="en-US" sz="1600" kern="100" dirty="0">
                            <a:solidFill>
                              <a:schemeClr val="tx1"/>
                            </a:solidFill>
                            <a:effectLst/>
                            <a:latin typeface="Times New Roman" panose="02020503050405090304" pitchFamily="18" charset="0"/>
                          </a:rPr>
                          <m:t>𝝉</m:t>
                        </m:r>
                      </m:e>
                      <m:sub>
                        <m:r>
                          <a:rPr lang="zh-CN" altLang="en-US" sz="1600" kern="100" dirty="0">
                            <a:solidFill>
                              <a:schemeClr val="tx1"/>
                            </a:solidFill>
                            <a:effectLst/>
                            <a:latin typeface="Times New Roman" panose="02020503050405090304" pitchFamily="18" charset="0"/>
                          </a:rPr>
                          <m:t>𝒐𝒅</m:t>
                        </m:r>
                      </m:sub>
                    </m:sSub>
                  </m:oMath>
                </a14:m>
                <a:r>
                  <a:rPr lang="zh-CN" altLang="en-US" sz="1600" kern="100" dirty="0">
                    <a:solidFill>
                      <a:schemeClr val="tx1"/>
                    </a:solidFill>
                    <a:effectLst/>
                    <a:latin typeface="Times New Roman" panose="02020503050405090304" pitchFamily="18" charset="0"/>
                  </a:rPr>
                  <a:t>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迁移需要补偿的工资份额越高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迁移成本越高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越倾向于留在</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原地</a:t>
                </a:r>
                <a:endPar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endParaRPr>
              </a:p>
            </p:txBody>
          </p:sp>
        </mc:Choice>
        <mc:Fallback>
          <p:sp>
            <p:nvSpPr>
              <p:cNvPr id="9" name="矩形: 圆角 7"/>
              <p:cNvSpPr>
                <a:spLocks noRot="1" noChangeAspect="1" noMove="1" noResize="1" noEditPoints="1" noAdjustHandles="1" noChangeArrowheads="1" noChangeShapeType="1" noTextEdit="1"/>
              </p:cNvSpPr>
              <p:nvPr/>
            </p:nvSpPr>
            <p:spPr>
              <a:xfrm>
                <a:off x="7080885" y="3239135"/>
                <a:ext cx="4199255" cy="1525905"/>
              </a:xfrm>
              <a:prstGeom prst="roundRect">
                <a:avLst/>
              </a:prstGeom>
              <a:blipFill rotWithShape="1">
                <a:blip r:embed="rId5"/>
                <a:stretch>
                  <a:fillRect l="-348" t="-957" r="-333" b="-916"/>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8" name="箭头: 下 15"/>
          <p:cNvSpPr/>
          <p:nvPr/>
        </p:nvSpPr>
        <p:spPr>
          <a:xfrm>
            <a:off x="4074795" y="2952115"/>
            <a:ext cx="256540" cy="8667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5"/>
          <p:cNvSpPr/>
          <p:nvPr/>
        </p:nvSpPr>
        <p:spPr>
          <a:xfrm>
            <a:off x="9029700" y="3009900"/>
            <a:ext cx="300990" cy="21399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5"/>
          <p:cNvSpPr/>
          <p:nvPr/>
        </p:nvSpPr>
        <p:spPr>
          <a:xfrm rot="16200000">
            <a:off x="6792595" y="3855085"/>
            <a:ext cx="300990" cy="2571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5"/>
          <p:cNvSpPr/>
          <p:nvPr/>
        </p:nvSpPr>
        <p:spPr>
          <a:xfrm rot="16200000">
            <a:off x="6802120" y="1935480"/>
            <a:ext cx="300990" cy="2571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sym typeface="+mn-ea"/>
                  </a:rPr>
                  <a:t>识别</a:t>
                </a:r>
                <a:r>
                  <a:rPr lang="en-US" altLang="zh-CN" sz="2800" b="1" dirty="0">
                    <a:latin typeface="+mn-lt"/>
                    <a:sym typeface="+mn-ea"/>
                  </a:rPr>
                  <a:t>：</a:t>
                </a:r>
                <a:r>
                  <a:rPr lang="zh-CN" altLang="en-US" sz="2800" b="1" dirty="0">
                    <a:latin typeface="+mn-lt"/>
                  </a:rPr>
                  <a:t>移动相关特征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m:t>
                        </m:r>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𝜶</m:t>
                        </m:r>
                      </m:e>
                      <m:sub>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4" name="图片 3" descr="c70307b51191c03a1887436b6cc6e3af"/>
          <p:cNvPicPr>
            <a:picLocks noChangeAspect="1"/>
          </p:cNvPicPr>
          <p:nvPr/>
        </p:nvPicPr>
        <p:blipFill>
          <a:blip r:embed="rId2"/>
          <a:srcRect l="21151" r="20481"/>
          <a:stretch>
            <a:fillRect/>
          </a:stretch>
        </p:blipFill>
        <p:spPr>
          <a:xfrm>
            <a:off x="2125980" y="1411605"/>
            <a:ext cx="4199255" cy="1525905"/>
          </a:xfrm>
          <a:prstGeom prst="rect">
            <a:avLst/>
          </a:prstGeom>
        </p:spPr>
      </p:pic>
      <p:pic>
        <p:nvPicPr>
          <p:cNvPr id="5" name="图片 4" descr="e16353647d3b5709be1789d894521b89"/>
          <p:cNvPicPr>
            <a:picLocks noChangeAspect="1"/>
          </p:cNvPicPr>
          <p:nvPr/>
        </p:nvPicPr>
        <p:blipFill>
          <a:blip r:embed="rId3"/>
          <a:srcRect l="6801" r="8768"/>
          <a:stretch>
            <a:fillRect/>
          </a:stretch>
        </p:blipFill>
        <p:spPr>
          <a:xfrm>
            <a:off x="1877695" y="3833495"/>
            <a:ext cx="4937125" cy="483870"/>
          </a:xfrm>
          <a:prstGeom prst="rect">
            <a:avLst/>
          </a:prstGeom>
        </p:spPr>
      </p:pic>
      <p:pic>
        <p:nvPicPr>
          <p:cNvPr id="6" name="图片 5" descr="2c783df17359d5d1495636ec7519e1bc"/>
          <p:cNvPicPr>
            <a:picLocks noChangeAspect="1"/>
          </p:cNvPicPr>
          <p:nvPr/>
        </p:nvPicPr>
        <p:blipFill>
          <a:blip r:embed="rId4"/>
          <a:stretch>
            <a:fillRect/>
          </a:stretch>
        </p:blipFill>
        <p:spPr>
          <a:xfrm>
            <a:off x="2289810" y="6224905"/>
            <a:ext cx="3870960" cy="330835"/>
          </a:xfrm>
          <a:prstGeom prst="rect">
            <a:avLst/>
          </a:prstGeom>
        </p:spPr>
      </p:pic>
      <p:cxnSp>
        <p:nvCxnSpPr>
          <p:cNvPr id="7" name="直接连接符 6"/>
          <p:cNvCxnSpPr/>
          <p:nvPr/>
        </p:nvCxnSpPr>
        <p:spPr>
          <a:xfrm>
            <a:off x="1965960" y="6224905"/>
            <a:ext cx="5114925" cy="0"/>
          </a:xfrm>
          <a:prstGeom prst="line">
            <a:avLst/>
          </a:prstGeom>
          <a:ln w="12700" cap="flat" cmpd="sng">
            <a:solidFill>
              <a:schemeClr val="accent3"/>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965960" y="6275705"/>
            <a:ext cx="404495" cy="233045"/>
          </a:xfrm>
          <a:prstGeom prst="rect">
            <a:avLst/>
          </a:prstGeom>
          <a:noFill/>
        </p:spPr>
        <p:txBody>
          <a:bodyPr wrap="square" rtlCol="0">
            <a:noAutofit/>
          </a:bodyPr>
          <a:p>
            <a:r>
              <a:rPr lang="zh-CN" altLang="en-US" sz="1000">
                <a:solidFill>
                  <a:schemeClr val="tx1">
                    <a:lumMod val="50000"/>
                    <a:lumOff val="50000"/>
                  </a:schemeClr>
                </a:solidFill>
              </a:rPr>
              <a:t>注</a:t>
            </a:r>
            <a:r>
              <a:rPr lang="en-US" altLang="zh-CN" sz="1000">
                <a:solidFill>
                  <a:schemeClr val="tx1">
                    <a:lumMod val="50000"/>
                    <a:lumOff val="50000"/>
                  </a:schemeClr>
                </a:solidFill>
              </a:rPr>
              <a:t>：</a:t>
            </a:r>
            <a:endParaRPr lang="en-US" altLang="zh-CN" sz="1000">
              <a:solidFill>
                <a:schemeClr val="tx1">
                  <a:lumMod val="50000"/>
                  <a:lumOff val="50000"/>
                </a:schemeClr>
              </a:solidFill>
            </a:endParaRPr>
          </a:p>
        </p:txBody>
      </p:sp>
      <p:sp>
        <p:nvSpPr>
          <p:cNvPr id="46" name="矩形: 圆角 7"/>
          <p:cNvSpPr/>
          <p:nvPr/>
        </p:nvSpPr>
        <p:spPr>
          <a:xfrm>
            <a:off x="7080885" y="1134110"/>
            <a:ext cx="4199255" cy="18599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将迁移比例的表达式取</a:t>
            </a:r>
            <a:r>
              <a:rPr lang="zh-CN" altLang="en-US" sz="1600" kern="100" dirty="0">
                <a:solidFill>
                  <a:schemeClr val="tx1"/>
                </a:solidFill>
                <a:effectLst/>
                <a:latin typeface="Times New Roman" panose="02020503050405090304" pitchFamily="18" charset="0"/>
              </a:rPr>
              <a:t>对数</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迁移比例受到目的地宜居性、生产率</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出生地</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目的地迁移成本的</a:t>
            </a:r>
            <a:r>
              <a:rPr lang="zh-CN" altLang="en-US" sz="1600" kern="100" dirty="0">
                <a:solidFill>
                  <a:schemeClr val="tx1"/>
                </a:solidFill>
                <a:effectLst/>
                <a:latin typeface="Times New Roman" panose="02020503050405090304" pitchFamily="18" charset="0"/>
              </a:rPr>
              <a:t>影响</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直觉上</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上述因素中只有迁移成本会影响两地之间的双向</a:t>
            </a:r>
            <a:r>
              <a:rPr lang="zh-CN" altLang="en-US" sz="1600" kern="100" dirty="0">
                <a:solidFill>
                  <a:schemeClr val="tx1"/>
                </a:solidFill>
                <a:effectLst/>
                <a:latin typeface="Times New Roman" panose="02020503050405090304" pitchFamily="18" charset="0"/>
              </a:rPr>
              <a:t>迁移</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利用</a:t>
            </a:r>
            <a:r>
              <a:rPr lang="zh-CN" altLang="en-US" sz="1600" b="1" kern="100" dirty="0">
                <a:solidFill>
                  <a:srgbClr val="660066"/>
                </a:solidFill>
                <a:effectLst/>
                <a:latin typeface="Times New Roman" panose="02020503050405090304" pitchFamily="18" charset="0"/>
              </a:rPr>
              <a:t>迁移成本对称</a:t>
            </a:r>
            <a:r>
              <a:rPr lang="en-US" altLang="zh-CN" sz="1600" b="1" kern="100" dirty="0">
                <a:solidFill>
                  <a:srgbClr val="660066"/>
                </a:solidFill>
                <a:effectLst/>
                <a:latin typeface="Times New Roman" panose="02020503050405090304" pitchFamily="18" charset="0"/>
              </a:rPr>
              <a:t>、留在原地迁移成本为零</a:t>
            </a:r>
            <a:r>
              <a:rPr lang="zh-CN" altLang="en-US" sz="1600" kern="100" dirty="0">
                <a:solidFill>
                  <a:schemeClr val="tx1"/>
                </a:solidFill>
                <a:effectLst/>
                <a:latin typeface="Times New Roman" panose="02020503050405090304" pitchFamily="18" charset="0"/>
              </a:rPr>
              <a:t>的假设</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可对上式重新进行组合</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mc:AlternateContent xmlns:mc="http://schemas.openxmlformats.org/markup-compatibility/2006">
        <mc:Choice xmlns:a14="http://schemas.microsoft.com/office/drawing/2010/main" Requires="a14">
          <p:sp>
            <p:nvSpPr>
              <p:cNvPr id="9" name="矩形: 圆角 7"/>
              <p:cNvSpPr/>
              <p:nvPr/>
            </p:nvSpPr>
            <p:spPr>
              <a:xfrm>
                <a:off x="7080885" y="3239135"/>
                <a:ext cx="4199255" cy="152590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新的式子比较两地的双向迁移相对于留在原地的比例</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其中最后</a:t>
                </a:r>
                <a:r>
                  <a:rPr lang="zh-CN" altLang="en-US" sz="1600" kern="100" dirty="0">
                    <a:solidFill>
                      <a:schemeClr val="tx1"/>
                    </a:solidFill>
                    <a:effectLst/>
                    <a:latin typeface="Times New Roman" panose="02020503050405090304" pitchFamily="18" charset="0"/>
                  </a:rPr>
                  <a:t>一项误差项均值为零</a:t>
                </a:r>
                <a:r>
                  <a:rPr lang="en-US" altLang="zh-CN" sz="1600" kern="100" dirty="0">
                    <a:solidFill>
                      <a:schemeClr val="tx1"/>
                    </a:solidFill>
                    <a:effectLst/>
                    <a:latin typeface="Times New Roman" panose="02020503050405090304" pitchFamily="18" charset="0"/>
                  </a:rPr>
                  <a:t>。</a:t>
                </a:r>
                <a:endParaRPr lang="zh-CN" altLang="en-US" sz="1600" kern="100" dirty="0">
                  <a:solidFill>
                    <a:schemeClr val="tx1"/>
                  </a:solidFill>
                  <a:effectLst/>
                  <a:latin typeface="Times New Roman" panose="02020503050405090304" pitchFamily="18" charset="0"/>
                </a:endParaRPr>
              </a:p>
              <a:p>
                <a:pPr marL="285750" indent="-285750" algn="l">
                  <a:buClrTx/>
                  <a:buSzTx/>
                  <a:buFont typeface="Arial" panose="020B0604020202090204" pitchFamily="34" charset="0"/>
                  <a:buChar char="•"/>
                </a:pPr>
                <a14:m>
                  <m:oMath xmlns:m="http://schemas.openxmlformats.org/officeDocument/2006/math">
                    <m:sSub>
                      <m:sSubPr>
                        <m:ctrlPr>
                          <a:rPr lang="zh-CN" altLang="en-US" sz="1600" kern="100" dirty="0">
                            <a:solidFill>
                              <a:schemeClr val="tx1"/>
                            </a:solidFill>
                            <a:effectLst/>
                            <a:latin typeface="Times New Roman" panose="02020503050405090304" pitchFamily="18" charset="0"/>
                          </a:rPr>
                        </m:ctrlPr>
                      </m:sSubPr>
                      <m:e>
                        <m:r>
                          <a:rPr lang="zh-CN" altLang="en-US" sz="1600" kern="100" dirty="0">
                            <a:solidFill>
                              <a:schemeClr val="tx1"/>
                            </a:solidFill>
                            <a:effectLst/>
                            <a:latin typeface="Times New Roman" panose="02020503050405090304" pitchFamily="18" charset="0"/>
                          </a:rPr>
                          <m:t>𝝉</m:t>
                        </m:r>
                      </m:e>
                      <m:sub>
                        <m:r>
                          <a:rPr lang="zh-CN" altLang="en-US" sz="1600" kern="100" dirty="0">
                            <a:solidFill>
                              <a:schemeClr val="tx1"/>
                            </a:solidFill>
                            <a:effectLst/>
                            <a:latin typeface="Times New Roman" panose="02020503050405090304" pitchFamily="18" charset="0"/>
                          </a:rPr>
                          <m:t>𝒐𝒅</m:t>
                        </m:r>
                      </m:sub>
                    </m:sSub>
                  </m:oMath>
                </a14:m>
                <a:r>
                  <a:rPr lang="zh-CN" altLang="en-US" sz="1600" kern="100" dirty="0">
                    <a:solidFill>
                      <a:schemeClr val="tx1"/>
                    </a:solidFill>
                    <a:effectLst/>
                    <a:latin typeface="Times New Roman" panose="02020503050405090304" pitchFamily="18" charset="0"/>
                  </a:rPr>
                  <a:t>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迁移需要补偿的工资份额越高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迁移成本越高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越倾向于留在</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原地</a:t>
                </a:r>
                <a:endPar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endParaRPr>
              </a:p>
            </p:txBody>
          </p:sp>
        </mc:Choice>
        <mc:Fallback>
          <p:sp>
            <p:nvSpPr>
              <p:cNvPr id="9" name="矩形: 圆角 7"/>
              <p:cNvSpPr>
                <a:spLocks noRot="1" noChangeAspect="1" noMove="1" noResize="1" noEditPoints="1" noAdjustHandles="1" noChangeArrowheads="1" noChangeShapeType="1" noTextEdit="1"/>
              </p:cNvSpPr>
              <p:nvPr/>
            </p:nvSpPr>
            <p:spPr>
              <a:xfrm>
                <a:off x="7080885" y="3239135"/>
                <a:ext cx="4199255" cy="1525905"/>
              </a:xfrm>
              <a:prstGeom prst="roundRect">
                <a:avLst/>
              </a:prstGeom>
              <a:blipFill rotWithShape="1">
                <a:blip r:embed="rId5"/>
                <a:stretch>
                  <a:fillRect l="-348" t="-957" r="-333" b="-916"/>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8" name="箭头: 下 15"/>
          <p:cNvSpPr/>
          <p:nvPr/>
        </p:nvSpPr>
        <p:spPr>
          <a:xfrm>
            <a:off x="4074795" y="2952115"/>
            <a:ext cx="256540" cy="8667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5"/>
          <p:cNvSpPr/>
          <p:nvPr/>
        </p:nvSpPr>
        <p:spPr>
          <a:xfrm>
            <a:off x="9029700" y="3009900"/>
            <a:ext cx="300990" cy="21399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125980" y="4765040"/>
            <a:ext cx="2822575" cy="829945"/>
          </a:xfrm>
          <a:prstGeom prst="rect">
            <a:avLst/>
          </a:prstGeom>
          <a:noFill/>
        </p:spPr>
        <p:txBody>
          <a:bodyPr wrap="square" rtlCol="0" anchor="t">
            <a:spAutoFit/>
          </a:bodyPr>
          <a:p>
            <a:pPr indent="0" algn="ctr">
              <a:buFont typeface="Arial" panose="020B0604020202090204" pitchFamily="34" charset="0"/>
              <a:buNone/>
            </a:pPr>
            <a:r>
              <a:rPr lang="zh-CN" altLang="en-US" sz="1600" kern="100" dirty="0">
                <a:solidFill>
                  <a:srgbClr val="660066"/>
                </a:solidFill>
                <a:effectLst/>
                <a:latin typeface="+mn-ea"/>
                <a:cs typeface="+mn-ea"/>
                <a:sym typeface="+mn-ea"/>
              </a:rPr>
              <a:t>双向相加能把“共同的双向阻力”与“偏向某一地的吸引力”区分开来</a:t>
            </a:r>
            <a:endParaRPr lang="zh-CN" altLang="en-US" sz="1600" kern="100" dirty="0">
              <a:solidFill>
                <a:srgbClr val="660066"/>
              </a:solidFill>
              <a:effectLst/>
              <a:latin typeface="+mn-ea"/>
              <a:cs typeface="+mn-ea"/>
              <a:sym typeface="+mn-ea"/>
            </a:endParaRPr>
          </a:p>
        </p:txBody>
      </p:sp>
      <p:sp>
        <p:nvSpPr>
          <p:cNvPr id="41" name="矩形 40"/>
          <p:cNvSpPr/>
          <p:nvPr/>
        </p:nvSpPr>
        <p:spPr>
          <a:xfrm>
            <a:off x="1877695" y="3818890"/>
            <a:ext cx="1500505" cy="49784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a:t>
            </a:r>
            <a:endParaRPr lang="en-US" altLang="zh-CN"/>
          </a:p>
        </p:txBody>
      </p:sp>
      <p:sp>
        <p:nvSpPr>
          <p:cNvPr id="15" name="矩形 14"/>
          <p:cNvSpPr/>
          <p:nvPr/>
        </p:nvSpPr>
        <p:spPr>
          <a:xfrm>
            <a:off x="3505200" y="3833495"/>
            <a:ext cx="1500505" cy="49784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a:t>
            </a:r>
            <a:endParaRPr lang="en-US" altLang="zh-CN"/>
          </a:p>
        </p:txBody>
      </p:sp>
      <p:cxnSp>
        <p:nvCxnSpPr>
          <p:cNvPr id="20" name="直接箭头连接符 19"/>
          <p:cNvCxnSpPr/>
          <p:nvPr/>
        </p:nvCxnSpPr>
        <p:spPr>
          <a:xfrm flipH="1">
            <a:off x="3554935" y="4334572"/>
            <a:ext cx="775970" cy="481965"/>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2644979" y="4305362"/>
            <a:ext cx="860504" cy="520049"/>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
        <p:nvSpPr>
          <p:cNvPr id="18" name="箭头: 下 15"/>
          <p:cNvSpPr/>
          <p:nvPr/>
        </p:nvSpPr>
        <p:spPr>
          <a:xfrm rot="16200000">
            <a:off x="6792595" y="3855085"/>
            <a:ext cx="300990" cy="2571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5"/>
          <p:cNvSpPr/>
          <p:nvPr/>
        </p:nvSpPr>
        <p:spPr>
          <a:xfrm rot="16200000">
            <a:off x="6802120" y="1935480"/>
            <a:ext cx="300990" cy="2571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sym typeface="+mn-ea"/>
                  </a:rPr>
                  <a:t>识别</a:t>
                </a:r>
                <a:r>
                  <a:rPr lang="en-US" altLang="zh-CN" sz="2800" b="1" dirty="0">
                    <a:latin typeface="+mn-lt"/>
                    <a:sym typeface="+mn-ea"/>
                  </a:rPr>
                  <a:t>：</a:t>
                </a:r>
                <a:r>
                  <a:rPr lang="zh-CN" altLang="en-US" sz="2800" b="1" dirty="0">
                    <a:latin typeface="+mn-lt"/>
                  </a:rPr>
                  <a:t>移动相关特征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m:t>
                        </m:r>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 </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𝜶</m:t>
                        </m:r>
                      </m:e>
                      <m:sub>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3.2</a:t>
            </a:r>
            <a:endParaRPr lang="zh-CN" altLang="en-US" b="1">
              <a:solidFill>
                <a:schemeClr val="bg1"/>
              </a:solidFill>
            </a:endParaRPr>
          </a:p>
        </p:txBody>
      </p:sp>
      <p:pic>
        <p:nvPicPr>
          <p:cNvPr id="4" name="图片 3" descr="c70307b51191c03a1887436b6cc6e3af"/>
          <p:cNvPicPr>
            <a:picLocks noChangeAspect="1"/>
          </p:cNvPicPr>
          <p:nvPr/>
        </p:nvPicPr>
        <p:blipFill>
          <a:blip r:embed="rId2"/>
          <a:srcRect l="21151" r="20481"/>
          <a:stretch>
            <a:fillRect/>
          </a:stretch>
        </p:blipFill>
        <p:spPr>
          <a:xfrm>
            <a:off x="2125980" y="1411605"/>
            <a:ext cx="4199255" cy="1525905"/>
          </a:xfrm>
          <a:prstGeom prst="rect">
            <a:avLst/>
          </a:prstGeom>
        </p:spPr>
      </p:pic>
      <p:pic>
        <p:nvPicPr>
          <p:cNvPr id="5" name="图片 4" descr="e16353647d3b5709be1789d894521b89"/>
          <p:cNvPicPr>
            <a:picLocks noChangeAspect="1"/>
          </p:cNvPicPr>
          <p:nvPr/>
        </p:nvPicPr>
        <p:blipFill>
          <a:blip r:embed="rId3"/>
          <a:srcRect l="6801" r="8768"/>
          <a:stretch>
            <a:fillRect/>
          </a:stretch>
        </p:blipFill>
        <p:spPr>
          <a:xfrm>
            <a:off x="1877695" y="3833495"/>
            <a:ext cx="4937125" cy="483870"/>
          </a:xfrm>
          <a:prstGeom prst="rect">
            <a:avLst/>
          </a:prstGeom>
        </p:spPr>
      </p:pic>
      <p:pic>
        <p:nvPicPr>
          <p:cNvPr id="6" name="图片 5" descr="2c783df17359d5d1495636ec7519e1bc"/>
          <p:cNvPicPr>
            <a:picLocks noChangeAspect="1"/>
          </p:cNvPicPr>
          <p:nvPr/>
        </p:nvPicPr>
        <p:blipFill>
          <a:blip r:embed="rId4"/>
          <a:stretch>
            <a:fillRect/>
          </a:stretch>
        </p:blipFill>
        <p:spPr>
          <a:xfrm>
            <a:off x="2289810" y="6224905"/>
            <a:ext cx="3870960" cy="330835"/>
          </a:xfrm>
          <a:prstGeom prst="rect">
            <a:avLst/>
          </a:prstGeom>
        </p:spPr>
      </p:pic>
      <p:cxnSp>
        <p:nvCxnSpPr>
          <p:cNvPr id="7" name="直接连接符 6"/>
          <p:cNvCxnSpPr/>
          <p:nvPr/>
        </p:nvCxnSpPr>
        <p:spPr>
          <a:xfrm>
            <a:off x="1965960" y="6224905"/>
            <a:ext cx="5114925" cy="0"/>
          </a:xfrm>
          <a:prstGeom prst="line">
            <a:avLst/>
          </a:prstGeom>
          <a:ln w="12700" cap="flat" cmpd="sng">
            <a:solidFill>
              <a:schemeClr val="accent3"/>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965960" y="6275705"/>
            <a:ext cx="404495" cy="233045"/>
          </a:xfrm>
          <a:prstGeom prst="rect">
            <a:avLst/>
          </a:prstGeom>
          <a:noFill/>
        </p:spPr>
        <p:txBody>
          <a:bodyPr wrap="square" rtlCol="0">
            <a:noAutofit/>
          </a:bodyPr>
          <a:p>
            <a:r>
              <a:rPr lang="zh-CN" altLang="en-US" sz="1000">
                <a:solidFill>
                  <a:schemeClr val="tx1">
                    <a:lumMod val="50000"/>
                    <a:lumOff val="50000"/>
                  </a:schemeClr>
                </a:solidFill>
              </a:rPr>
              <a:t>注</a:t>
            </a:r>
            <a:r>
              <a:rPr lang="en-US" altLang="zh-CN" sz="1000">
                <a:solidFill>
                  <a:schemeClr val="tx1">
                    <a:lumMod val="50000"/>
                    <a:lumOff val="50000"/>
                  </a:schemeClr>
                </a:solidFill>
              </a:rPr>
              <a:t>：</a:t>
            </a:r>
            <a:endParaRPr lang="en-US" altLang="zh-CN" sz="1000">
              <a:solidFill>
                <a:schemeClr val="tx1">
                  <a:lumMod val="50000"/>
                  <a:lumOff val="50000"/>
                </a:schemeClr>
              </a:solidFill>
            </a:endParaRPr>
          </a:p>
        </p:txBody>
      </p:sp>
      <p:sp>
        <p:nvSpPr>
          <p:cNvPr id="46" name="矩形: 圆角 7"/>
          <p:cNvSpPr/>
          <p:nvPr/>
        </p:nvSpPr>
        <p:spPr>
          <a:xfrm>
            <a:off x="7080885" y="1134110"/>
            <a:ext cx="4199255" cy="18599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将迁移比例的表达式取</a:t>
            </a:r>
            <a:r>
              <a:rPr lang="zh-CN" altLang="en-US" sz="1600" kern="100" dirty="0">
                <a:solidFill>
                  <a:schemeClr val="tx1"/>
                </a:solidFill>
                <a:effectLst/>
                <a:latin typeface="Times New Roman" panose="02020503050405090304" pitchFamily="18" charset="0"/>
              </a:rPr>
              <a:t>对数</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迁移比例受到目的地宜居性、生产率</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出生地</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目的地迁移成本的</a:t>
            </a:r>
            <a:r>
              <a:rPr lang="zh-CN" altLang="en-US" sz="1600" kern="100" dirty="0">
                <a:solidFill>
                  <a:schemeClr val="tx1"/>
                </a:solidFill>
                <a:effectLst/>
                <a:latin typeface="Times New Roman" panose="02020503050405090304" pitchFamily="18" charset="0"/>
              </a:rPr>
              <a:t>影响</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直觉上</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上述因素中只有迁移成本会影响两地之间的双向</a:t>
            </a:r>
            <a:r>
              <a:rPr lang="zh-CN" altLang="en-US" sz="1600" kern="100" dirty="0">
                <a:solidFill>
                  <a:schemeClr val="tx1"/>
                </a:solidFill>
                <a:effectLst/>
                <a:latin typeface="Times New Roman" panose="02020503050405090304" pitchFamily="18" charset="0"/>
              </a:rPr>
              <a:t>迁移</a:t>
            </a:r>
            <a:endParaRPr lang="zh-CN" altLang="en-US" sz="16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利用</a:t>
            </a:r>
            <a:r>
              <a:rPr lang="zh-CN" altLang="en-US" sz="1600" b="1" kern="100" dirty="0">
                <a:solidFill>
                  <a:srgbClr val="660066"/>
                </a:solidFill>
                <a:effectLst/>
                <a:latin typeface="Times New Roman" panose="02020503050405090304" pitchFamily="18" charset="0"/>
              </a:rPr>
              <a:t>迁移成本对称</a:t>
            </a:r>
            <a:r>
              <a:rPr lang="en-US" altLang="zh-CN" sz="1600" b="1" kern="100" dirty="0">
                <a:solidFill>
                  <a:srgbClr val="660066"/>
                </a:solidFill>
                <a:effectLst/>
                <a:latin typeface="Times New Roman" panose="02020503050405090304" pitchFamily="18" charset="0"/>
              </a:rPr>
              <a:t>、留在原地迁移成本为零</a:t>
            </a:r>
            <a:r>
              <a:rPr lang="zh-CN" altLang="en-US" sz="1600" kern="100" dirty="0">
                <a:solidFill>
                  <a:schemeClr val="tx1"/>
                </a:solidFill>
                <a:effectLst/>
                <a:latin typeface="Times New Roman" panose="02020503050405090304" pitchFamily="18" charset="0"/>
              </a:rPr>
              <a:t>的假设</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可对上式重新进行组合</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mc:AlternateContent xmlns:mc="http://schemas.openxmlformats.org/markup-compatibility/2006">
        <mc:Choice xmlns:a14="http://schemas.microsoft.com/office/drawing/2010/main" Requires="a14">
          <p:sp>
            <p:nvSpPr>
              <p:cNvPr id="9" name="矩形: 圆角 7"/>
              <p:cNvSpPr/>
              <p:nvPr/>
            </p:nvSpPr>
            <p:spPr>
              <a:xfrm>
                <a:off x="7080885" y="3239135"/>
                <a:ext cx="4199255" cy="152590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新的式子比较两地的双向迁移相对于留在原地的比例</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其中最后</a:t>
                </a:r>
                <a:r>
                  <a:rPr lang="zh-CN" altLang="en-US" sz="1600" kern="100" dirty="0">
                    <a:solidFill>
                      <a:schemeClr val="tx1"/>
                    </a:solidFill>
                    <a:effectLst/>
                    <a:latin typeface="Times New Roman" panose="02020503050405090304" pitchFamily="18" charset="0"/>
                  </a:rPr>
                  <a:t>一项误差项均值为零</a:t>
                </a:r>
                <a:r>
                  <a:rPr lang="en-US" altLang="zh-CN" sz="1600" kern="100" dirty="0">
                    <a:solidFill>
                      <a:schemeClr val="tx1"/>
                    </a:solidFill>
                    <a:effectLst/>
                    <a:latin typeface="Times New Roman" panose="02020503050405090304" pitchFamily="18" charset="0"/>
                  </a:rPr>
                  <a:t>。</a:t>
                </a:r>
                <a:endParaRPr lang="zh-CN" altLang="en-US" sz="1600" kern="100" dirty="0">
                  <a:solidFill>
                    <a:schemeClr val="tx1"/>
                  </a:solidFill>
                  <a:effectLst/>
                  <a:latin typeface="Times New Roman" panose="02020503050405090304" pitchFamily="18" charset="0"/>
                </a:endParaRPr>
              </a:p>
              <a:p>
                <a:pPr marL="285750" indent="-285750" algn="l">
                  <a:buClrTx/>
                  <a:buSzTx/>
                  <a:buFont typeface="Arial" panose="020B0604020202090204" pitchFamily="34" charset="0"/>
                  <a:buChar char="•"/>
                </a:pPr>
                <a14:m>
                  <m:oMath xmlns:m="http://schemas.openxmlformats.org/officeDocument/2006/math">
                    <m:sSub>
                      <m:sSubPr>
                        <m:ctrlPr>
                          <a:rPr lang="zh-CN" altLang="en-US" sz="1600" kern="100" dirty="0">
                            <a:solidFill>
                              <a:schemeClr val="tx1"/>
                            </a:solidFill>
                            <a:effectLst/>
                            <a:latin typeface="Times New Roman" panose="02020503050405090304" pitchFamily="18" charset="0"/>
                          </a:rPr>
                        </m:ctrlPr>
                      </m:sSubPr>
                      <m:e>
                        <m:r>
                          <a:rPr lang="zh-CN" altLang="en-US" sz="1600" kern="100" dirty="0">
                            <a:solidFill>
                              <a:schemeClr val="tx1"/>
                            </a:solidFill>
                            <a:effectLst/>
                            <a:latin typeface="Times New Roman" panose="02020503050405090304" pitchFamily="18" charset="0"/>
                          </a:rPr>
                          <m:t>𝝉</m:t>
                        </m:r>
                      </m:e>
                      <m:sub>
                        <m:r>
                          <a:rPr lang="zh-CN" altLang="en-US" sz="1600" kern="100" dirty="0">
                            <a:solidFill>
                              <a:schemeClr val="tx1"/>
                            </a:solidFill>
                            <a:effectLst/>
                            <a:latin typeface="Times New Roman" panose="02020503050405090304" pitchFamily="18" charset="0"/>
                          </a:rPr>
                          <m:t>𝒐𝒅</m:t>
                        </m:r>
                      </m:sub>
                    </m:sSub>
                  </m:oMath>
                </a14:m>
                <a:r>
                  <a:rPr lang="zh-CN" altLang="en-US" sz="1600" kern="100" dirty="0">
                    <a:solidFill>
                      <a:schemeClr val="tx1"/>
                    </a:solidFill>
                    <a:effectLst/>
                    <a:latin typeface="Times New Roman" panose="02020503050405090304" pitchFamily="18" charset="0"/>
                  </a:rPr>
                  <a:t>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迁移需要补偿的工资份额越高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迁移成本越高</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越倾向于留在</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原地</a:t>
                </a:r>
                <a:endPar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endParaRPr>
              </a:p>
            </p:txBody>
          </p:sp>
        </mc:Choice>
        <mc:Fallback>
          <p:sp>
            <p:nvSpPr>
              <p:cNvPr id="9" name="矩形: 圆角 7"/>
              <p:cNvSpPr>
                <a:spLocks noRot="1" noChangeAspect="1" noMove="1" noResize="1" noEditPoints="1" noAdjustHandles="1" noChangeArrowheads="1" noChangeShapeType="1" noTextEdit="1"/>
              </p:cNvSpPr>
              <p:nvPr/>
            </p:nvSpPr>
            <p:spPr>
              <a:xfrm>
                <a:off x="7080885" y="3239135"/>
                <a:ext cx="4199255" cy="1525905"/>
              </a:xfrm>
              <a:prstGeom prst="roundRect">
                <a:avLst/>
              </a:prstGeom>
              <a:blipFill rotWithShape="1">
                <a:blip r:embed="rId5"/>
                <a:stretch>
                  <a:fillRect l="-348" t="-957" r="-333" b="-916"/>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圆角 7"/>
              <p:cNvSpPr/>
              <p:nvPr/>
            </p:nvSpPr>
            <p:spPr>
              <a:xfrm>
                <a:off x="7080885" y="4980940"/>
                <a:ext cx="4199255" cy="112014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90204" pitchFamily="34" charset="0"/>
                  <a:buChar char="•"/>
                </a:pPr>
                <a:r>
                  <a:rPr lang="zh-CN" altLang="en-US" sz="1600" kern="0" dirty="0">
                    <a:solidFill>
                      <a:schemeClr val="tx1"/>
                    </a:solidFill>
                    <a:effectLst/>
                    <a:latin typeface="Times New Roman" panose="02020503050405090304" pitchFamily="18" charset="0"/>
                    <a:ea typeface="楷体" charset="0"/>
                  </a:rPr>
                  <a:t>在第二个式子中</a:t>
                </a:r>
                <a:r>
                  <a:rPr lang="en-US" altLang="zh-CN" sz="1600" kern="0" dirty="0">
                    <a:solidFill>
                      <a:schemeClr val="tx1"/>
                    </a:solidFill>
                    <a:effectLst/>
                    <a:latin typeface="Times New Roman" panose="02020503050405090304" pitchFamily="18" charset="0"/>
                    <a:ea typeface="楷体" charset="0"/>
                  </a:rPr>
                  <a:t>，</a:t>
                </a:r>
                <a:r>
                  <a:rPr lang="zh-CN" altLang="en-US" sz="1600" kern="0" dirty="0">
                    <a:solidFill>
                      <a:schemeClr val="tx1"/>
                    </a:solidFill>
                    <a:effectLst/>
                    <a:latin typeface="Times New Roman" panose="02020503050405090304" pitchFamily="18" charset="0"/>
                    <a:ea typeface="楷体" charset="0"/>
                  </a:rPr>
                  <a:t>利用</a:t>
                </a:r>
                <a:r>
                  <a:rPr lang="zh-CN" altLang="en-US" sz="1600" kern="0" dirty="0">
                    <a:solidFill>
                      <a:schemeClr val="tx1"/>
                    </a:solidFill>
                    <a:effectLst/>
                    <a:latin typeface="Times New Roman" panose="02020503050405090304" pitchFamily="18" charset="0"/>
                    <a:ea typeface="楷体" charset="0"/>
                  </a:rPr>
                  <a:t>观测到的迁移比例</a:t>
                </a:r>
                <a:r>
                  <a:rPr lang="en-US" altLang="zh-CN" sz="1600" kern="0" dirty="0">
                    <a:solidFill>
                      <a:schemeClr val="tx1"/>
                    </a:solidFill>
                    <a:effectLst/>
                    <a:latin typeface="Times New Roman" panose="02020503050405090304" pitchFamily="18" charset="0"/>
                    <a:ea typeface="楷体" charset="0"/>
                  </a:rPr>
                  <a:t>、</a:t>
                </a:r>
                <a:r>
                  <a:rPr lang="zh-CN" altLang="en-US" sz="1600" kern="0" dirty="0">
                    <a:solidFill>
                      <a:schemeClr val="tx1"/>
                    </a:solidFill>
                    <a:effectLst/>
                    <a:latin typeface="Times New Roman" panose="02020503050405090304" pitchFamily="18" charset="0"/>
                    <a:ea typeface="楷体" charset="0"/>
                  </a:rPr>
                  <a:t>已识别的</a:t>
                </a:r>
                <a14:m>
                  <m:oMath xmlns:m="http://schemas.openxmlformats.org/officeDocument/2006/math">
                    <m:r>
                      <a:rPr lang="zh-CN" altLang="en-US" sz="1600" kern="0" dirty="0">
                        <a:solidFill>
                          <a:schemeClr val="tx1"/>
                        </a:solidFill>
                        <a:effectLst/>
                        <a:uFillTx/>
                        <a:latin typeface="DejaVu Math TeX Gyre" panose="02000503000000000000" charset="0"/>
                        <a:ea typeface="宋体" charset="0"/>
                        <a:cs typeface="DejaVu Math TeX Gyre" panose="02000503000000000000" charset="0"/>
                      </a:rPr>
                      <m:t>𝜃</m:t>
                    </m:r>
                  </m:oMath>
                </a14:m>
                <a:r>
                  <a:rPr lang="en-US" altLang="zh-CN" sz="1600" kern="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可识别出</a:t>
                </a:r>
                <a14:m>
                  <m:oMath xmlns:m="http://schemas.openxmlformats.org/officeDocument/2006/math">
                    <m:sSub>
                      <m:sSubPr>
                        <m:ctrlPr>
                          <a:rPr lang="zh-CN" altLang="en-US" sz="1600" kern="0" dirty="0">
                            <a:solidFill>
                              <a:schemeClr val="tx1"/>
                            </a:solidFill>
                            <a:effectLst/>
                            <a:latin typeface="DejaVu Math TeX Gyre" panose="02000503000000000000" charset="0"/>
                            <a:ea typeface="楷体" charset="0"/>
                            <a:cs typeface="DejaVu Math TeX Gyre" panose="02000503000000000000" charset="0"/>
                          </a:rPr>
                        </m:ctrlPr>
                      </m:sSubPr>
                      <m:e>
                        <m:r>
                          <a:rPr lang="zh-CN" altLang="en-US" sz="1600" kern="0" dirty="0">
                            <a:solidFill>
                              <a:schemeClr val="tx1"/>
                            </a:solidFill>
                            <a:effectLst/>
                            <a:latin typeface="DejaVu Math TeX Gyre" panose="02000503000000000000" charset="0"/>
                            <a:ea typeface="宋体" charset="0"/>
                            <a:cs typeface="DejaVu Math TeX Gyre" panose="02000503000000000000" charset="0"/>
                          </a:rPr>
                          <m:t>𝝉</m:t>
                        </m:r>
                      </m:e>
                      <m:sub>
                        <m:r>
                          <a:rPr lang="zh-CN" altLang="en-US" sz="1600" kern="0" dirty="0">
                            <a:solidFill>
                              <a:schemeClr val="tx1"/>
                            </a:solidFill>
                            <a:effectLst/>
                            <a:latin typeface="DejaVu Math TeX Gyre" panose="02000503000000000000" charset="0"/>
                            <a:ea typeface="楷体" charset="0"/>
                            <a:cs typeface="DejaVu Math TeX Gyre" panose="02000503000000000000" charset="0"/>
                          </a:rPr>
                          <m:t>𝒐𝒅</m:t>
                        </m:r>
                      </m:sub>
                    </m:sSub>
                  </m:oMath>
                </a14:m>
                <a:endParaRPr lang="zh-CN" altLang="en-US" sz="1600" kern="0" dirty="0">
                  <a:solidFill>
                    <a:schemeClr val="tx1"/>
                  </a:solidFill>
                  <a:effectLst/>
                  <a:latin typeface="Times New Roman" panose="02020503050405090304" pitchFamily="18" charset="0"/>
                  <a:ea typeface="楷体" charset="0"/>
                </a:endParaRPr>
              </a:p>
              <a:p>
                <a:pPr marL="285750" indent="-285750">
                  <a:buFont typeface="Arial" panose="020B0604020202090204" pitchFamily="34" charset="0"/>
                  <a:buChar char="•"/>
                </a:pPr>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在第一个式子中</a:t>
                </a:r>
                <a:r>
                  <a:rPr lang="en-US" altLang="zh-CN" sz="1600" kern="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其余变量均已知</a:t>
                </a:r>
                <a:r>
                  <a:rPr lang="en-US" altLang="zh-CN" sz="1600" kern="0" dirty="0">
                    <a:solidFill>
                      <a:schemeClr val="tx1"/>
                    </a:solidFill>
                    <a:effectLst/>
                    <a:uFillTx/>
                    <a:latin typeface="Times New Roman" panose="02020503050405090304" pitchFamily="18" charset="0"/>
                    <a:ea typeface="楷体" charset="0"/>
                    <a:cs typeface="DejaVu Math TeX Gyre" panose="02000503000000000000" charset="0"/>
                  </a:rPr>
                  <a:t>，</a:t>
                </a:r>
                <a:r>
                  <a:rPr lang="zh-CN" altLang="en-US" sz="1600" kern="0" dirty="0">
                    <a:solidFill>
                      <a:schemeClr val="tx1"/>
                    </a:solidFill>
                    <a:effectLst/>
                    <a:uFillTx/>
                    <a:latin typeface="Times New Roman" panose="02020503050405090304" pitchFamily="18" charset="0"/>
                    <a:ea typeface="楷体" charset="0"/>
                    <a:cs typeface="DejaVu Math TeX Gyre" panose="02000503000000000000" charset="0"/>
                  </a:rPr>
                  <a:t>在识别出</a:t>
                </a:r>
                <a14:m>
                  <m:oMath xmlns:m="http://schemas.openxmlformats.org/officeDocument/2006/math">
                    <m:sSub>
                      <m:sSubPr>
                        <m:ctrlPr>
                          <a:rPr lang="zh-CN" altLang="en-US" sz="1600" kern="0" dirty="0">
                            <a:solidFill>
                              <a:schemeClr val="tx1"/>
                            </a:solidFill>
                            <a:effectLst/>
                            <a:latin typeface="DejaVu Math TeX Gyre" panose="02000503000000000000" charset="0"/>
                            <a:ea typeface="楷体" charset="0"/>
                            <a:cs typeface="DejaVu Math TeX Gyre" panose="02000503000000000000" charset="0"/>
                          </a:rPr>
                        </m:ctrlPr>
                      </m:sSubPr>
                      <m:e>
                        <m:r>
                          <a:rPr lang="zh-CN" altLang="en-US" sz="1600" kern="0" dirty="0">
                            <a:solidFill>
                              <a:schemeClr val="tx1"/>
                            </a:solidFill>
                            <a:effectLst/>
                            <a:latin typeface="DejaVu Math TeX Gyre" panose="02000503000000000000" charset="0"/>
                            <a:ea typeface="宋体" charset="0"/>
                            <a:cs typeface="DejaVu Math TeX Gyre" panose="02000503000000000000" charset="0"/>
                          </a:rPr>
                          <m:t>𝝉</m:t>
                        </m:r>
                      </m:e>
                      <m:sub>
                        <m:r>
                          <a:rPr lang="zh-CN" altLang="en-US" sz="1600" kern="0" dirty="0">
                            <a:solidFill>
                              <a:schemeClr val="tx1"/>
                            </a:solidFill>
                            <a:effectLst/>
                            <a:latin typeface="DejaVu Math TeX Gyre" panose="02000503000000000000" charset="0"/>
                            <a:ea typeface="楷体" charset="0"/>
                            <a:cs typeface="DejaVu Math TeX Gyre" panose="02000503000000000000" charset="0"/>
                          </a:rPr>
                          <m:t>𝒐𝒅</m:t>
                        </m:r>
                      </m:sub>
                    </m:sSub>
                  </m:oMath>
                </a14:m>
                <a:r>
                  <a:rPr lang="zh-CN" altLang="en-US" sz="1600" kern="0" dirty="0">
                    <a:solidFill>
                      <a:schemeClr val="tx1"/>
                    </a:solidFill>
                    <a:effectLst/>
                    <a:latin typeface="Times New Roman" panose="02020503050405090304" pitchFamily="18" charset="0"/>
                    <a:ea typeface="楷体" charset="0"/>
                  </a:rPr>
                  <a:t>的基础上</a:t>
                </a:r>
                <a:r>
                  <a:rPr lang="en-US" altLang="zh-CN" sz="1600" kern="0" dirty="0">
                    <a:solidFill>
                      <a:schemeClr val="tx1"/>
                    </a:solidFill>
                    <a:effectLst/>
                    <a:latin typeface="Times New Roman" panose="02020503050405090304" pitchFamily="18" charset="0"/>
                    <a:ea typeface="楷体" charset="0"/>
                  </a:rPr>
                  <a:t>，</a:t>
                </a:r>
                <a:r>
                  <a:rPr lang="zh-CN" altLang="en-US" sz="1600" kern="0" dirty="0">
                    <a:solidFill>
                      <a:schemeClr val="tx1"/>
                    </a:solidFill>
                    <a:effectLst/>
                    <a:latin typeface="Times New Roman" panose="02020503050405090304" pitchFamily="18" charset="0"/>
                    <a:ea typeface="楷体" charset="0"/>
                  </a:rPr>
                  <a:t>反解出</a:t>
                </a:r>
                <a14:m>
                  <m:oMath xmlns:m="http://schemas.openxmlformats.org/officeDocument/2006/math">
                    <m:sSub>
                      <m:sSubPr>
                        <m:ctrlPr>
                          <a:rPr lang="en-US" altLang="zh-CN" sz="1600" b="1" i="1" kern="0" dirty="0">
                            <a:solidFill>
                              <a:schemeClr val="tx1"/>
                            </a:solidFill>
                            <a:latin typeface="DejaVu Math TeX Gyre" panose="02000503000000000000" charset="0"/>
                            <a:ea typeface="楷体" charset="0"/>
                            <a:cs typeface="DejaVu Math TeX Gyre" panose="02000503000000000000" charset="0"/>
                          </a:rPr>
                        </m:ctrlPr>
                      </m:sSubPr>
                      <m:e>
                        <m:r>
                          <a:rPr lang="en-US" altLang="zh-CN" sz="1600" b="1" i="1" kern="0" dirty="0">
                            <a:solidFill>
                              <a:schemeClr val="tx1"/>
                            </a:solidFill>
                            <a:latin typeface="DejaVu Math TeX Gyre" panose="02000503000000000000" charset="0"/>
                            <a:ea typeface="宋体" charset="0"/>
                            <a:cs typeface="DejaVu Math TeX Gyre" panose="02000503000000000000" charset="0"/>
                          </a:rPr>
                          <m:t>𝜶</m:t>
                        </m:r>
                      </m:e>
                      <m:sub>
                        <m:r>
                          <a:rPr lang="en-US" altLang="zh-CN" sz="1600" b="1" i="1" kern="0" dirty="0">
                            <a:solidFill>
                              <a:schemeClr val="tx1"/>
                            </a:solidFill>
                            <a:latin typeface="DejaVu Math TeX Gyre" panose="02000503000000000000" charset="0"/>
                            <a:ea typeface="楷体" charset="0"/>
                            <a:cs typeface="DejaVu Math TeX Gyre" panose="02000503000000000000" charset="0"/>
                          </a:rPr>
                          <m:t>𝒅</m:t>
                        </m:r>
                      </m:sub>
                    </m:sSub>
                  </m:oMath>
                </a14:m>
                <a:endParaRPr lang="en-US" altLang="zh-CN" sz="1600" b="1" i="1" kern="0" dirty="0">
                  <a:solidFill>
                    <a:schemeClr val="tx1"/>
                  </a:solidFill>
                  <a:effectLst/>
                  <a:latin typeface="DejaVu Math TeX Gyre" panose="02000503000000000000" charset="0"/>
                  <a:ea typeface="楷体" charset="0"/>
                  <a:cs typeface="DejaVu Math TeX Gyre" panose="02000503000000000000" charset="0"/>
                </a:endParaRPr>
              </a:p>
            </p:txBody>
          </p:sp>
        </mc:Choice>
        <mc:Fallback>
          <p:sp>
            <p:nvSpPr>
              <p:cNvPr id="10" name="矩形: 圆角 7"/>
              <p:cNvSpPr>
                <a:spLocks noRot="1" noChangeAspect="1" noMove="1" noResize="1" noEditPoints="1" noAdjustHandles="1" noChangeArrowheads="1" noChangeShapeType="1" noTextEdit="1"/>
              </p:cNvSpPr>
              <p:nvPr/>
            </p:nvSpPr>
            <p:spPr>
              <a:xfrm>
                <a:off x="7080885" y="4980940"/>
                <a:ext cx="4199255" cy="1120140"/>
              </a:xfrm>
              <a:prstGeom prst="roundRect">
                <a:avLst/>
              </a:prstGeom>
              <a:blipFill rotWithShape="1">
                <a:blip r:embed="rId6"/>
                <a:stretch>
                  <a:fillRect l="-348" t="-1304" r="-333" b="-1247"/>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8" name="箭头: 下 15"/>
          <p:cNvSpPr/>
          <p:nvPr/>
        </p:nvSpPr>
        <p:spPr>
          <a:xfrm>
            <a:off x="4074795" y="2952115"/>
            <a:ext cx="256540" cy="8667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5"/>
          <p:cNvSpPr/>
          <p:nvPr/>
        </p:nvSpPr>
        <p:spPr>
          <a:xfrm>
            <a:off x="9029700" y="3009900"/>
            <a:ext cx="300990" cy="21399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5"/>
          <p:cNvSpPr/>
          <p:nvPr/>
        </p:nvSpPr>
        <p:spPr>
          <a:xfrm>
            <a:off x="9029700" y="4765040"/>
            <a:ext cx="300990" cy="21399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125980" y="4765040"/>
            <a:ext cx="2822575" cy="829945"/>
          </a:xfrm>
          <a:prstGeom prst="rect">
            <a:avLst/>
          </a:prstGeom>
          <a:noFill/>
        </p:spPr>
        <p:txBody>
          <a:bodyPr wrap="square" rtlCol="0" anchor="t">
            <a:spAutoFit/>
          </a:bodyPr>
          <a:p>
            <a:pPr indent="0" algn="ctr">
              <a:buFont typeface="Arial" panose="020B0604020202090204" pitchFamily="34" charset="0"/>
              <a:buNone/>
            </a:pPr>
            <a:r>
              <a:rPr lang="zh-CN" altLang="en-US" sz="1600" kern="100" dirty="0">
                <a:solidFill>
                  <a:srgbClr val="660066"/>
                </a:solidFill>
                <a:effectLst/>
                <a:latin typeface="+mn-ea"/>
                <a:cs typeface="+mn-ea"/>
                <a:sym typeface="+mn-ea"/>
              </a:rPr>
              <a:t>双向相加能把“共同的双向阻力”与“偏向某一地的吸引力”区分开来</a:t>
            </a:r>
            <a:endParaRPr lang="zh-CN" altLang="en-US" sz="1600" kern="100" dirty="0">
              <a:solidFill>
                <a:srgbClr val="660066"/>
              </a:solidFill>
              <a:effectLst/>
              <a:latin typeface="+mn-ea"/>
              <a:cs typeface="+mn-ea"/>
              <a:sym typeface="+mn-ea"/>
            </a:endParaRPr>
          </a:p>
        </p:txBody>
      </p:sp>
      <p:sp>
        <p:nvSpPr>
          <p:cNvPr id="41" name="矩形 40"/>
          <p:cNvSpPr/>
          <p:nvPr/>
        </p:nvSpPr>
        <p:spPr>
          <a:xfrm>
            <a:off x="1877695" y="3818890"/>
            <a:ext cx="1500505" cy="49784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a:t>
            </a:r>
            <a:endParaRPr lang="en-US" altLang="zh-CN"/>
          </a:p>
        </p:txBody>
      </p:sp>
      <p:sp>
        <p:nvSpPr>
          <p:cNvPr id="15" name="矩形 14"/>
          <p:cNvSpPr/>
          <p:nvPr/>
        </p:nvSpPr>
        <p:spPr>
          <a:xfrm>
            <a:off x="3505200" y="3833495"/>
            <a:ext cx="1500505" cy="49784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a:t>
            </a:r>
            <a:endParaRPr lang="en-US" altLang="zh-CN"/>
          </a:p>
        </p:txBody>
      </p:sp>
      <p:cxnSp>
        <p:nvCxnSpPr>
          <p:cNvPr id="20" name="直接箭头连接符 19"/>
          <p:cNvCxnSpPr/>
          <p:nvPr/>
        </p:nvCxnSpPr>
        <p:spPr>
          <a:xfrm flipH="1">
            <a:off x="3554935" y="4334572"/>
            <a:ext cx="775970" cy="481965"/>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2644979" y="4305362"/>
            <a:ext cx="860504" cy="520049"/>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
        <p:nvSpPr>
          <p:cNvPr id="18" name="箭头: 下 15"/>
          <p:cNvSpPr/>
          <p:nvPr/>
        </p:nvSpPr>
        <p:spPr>
          <a:xfrm rot="16200000">
            <a:off x="6792595" y="3855085"/>
            <a:ext cx="300990" cy="2571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5"/>
          <p:cNvSpPr/>
          <p:nvPr/>
        </p:nvSpPr>
        <p:spPr>
          <a:xfrm rot="16200000">
            <a:off x="6802120" y="1935480"/>
            <a:ext cx="300990" cy="25717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估计方法及</a:t>
            </a:r>
            <a:r>
              <a:rPr lang="zh-CN" altLang="en-US" sz="2800" b="1" dirty="0">
                <a:latin typeface="+mn-lt"/>
              </a:rPr>
              <a:t>处理</a:t>
            </a:r>
            <a:endParaRPr lang="zh-CN" altLang="en-US" sz="2800" b="1" dirty="0">
              <a:latin typeface="+mn-lt"/>
            </a:endParaRPr>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3.3</a:t>
            </a:r>
            <a:endParaRPr lang="zh-CN" altLang="en-US" b="1">
              <a:solidFill>
                <a:schemeClr val="bg1"/>
              </a:solidFill>
            </a:endParaRPr>
          </a:p>
        </p:txBody>
      </p:sp>
      <p:pic>
        <p:nvPicPr>
          <p:cNvPr id="7" name="图片 6" descr="a8f2b57e76432cc28133f48b112b8d1b"/>
          <p:cNvPicPr>
            <a:picLocks noChangeAspect="1"/>
          </p:cNvPicPr>
          <p:nvPr/>
        </p:nvPicPr>
        <p:blipFill>
          <a:blip r:embed="rId1"/>
          <a:srcRect l="8563" r="10745" b="64463"/>
          <a:stretch>
            <a:fillRect/>
          </a:stretch>
        </p:blipFill>
        <p:spPr>
          <a:xfrm>
            <a:off x="2553970" y="1711960"/>
            <a:ext cx="4089400" cy="531495"/>
          </a:xfrm>
          <a:prstGeom prst="rect">
            <a:avLst/>
          </a:prstGeom>
        </p:spPr>
      </p:pic>
      <mc:AlternateContent xmlns:mc="http://schemas.openxmlformats.org/markup-compatibility/2006">
        <mc:Choice xmlns:a14="http://schemas.microsoft.com/office/drawing/2010/main" Requires="a14">
          <p:sp>
            <p:nvSpPr>
              <p:cNvPr id="46" name="矩形: 圆角 7"/>
              <p:cNvSpPr/>
              <p:nvPr/>
            </p:nvSpPr>
            <p:spPr>
              <a:xfrm>
                <a:off x="1965960" y="1228090"/>
                <a:ext cx="5559425" cy="103378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lgn="l">
                  <a:buClrTx/>
                  <a:buSzTx/>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使用IV，估计出</a:t>
                </a:r>
                <a14:m>
                  <m:oMath xmlns:m="http://schemas.openxmlformats.org/officeDocument/2006/math">
                    <m:r>
                      <a:rPr lang="zh-CN" altLang="en-US" sz="1600" kern="100" dirty="0">
                        <a:solidFill>
                          <a:schemeClr val="tx1"/>
                        </a:solidFill>
                        <a:effectLst/>
                        <a:latin typeface="Times New Roman" panose="02020503050405090304" pitchFamily="18" charset="0"/>
                      </a:rPr>
                      <m:t>𝜃</m:t>
                    </m:r>
                  </m:oMath>
                </a14:m>
                <a:r>
                  <a:rPr lang="zh-CN" altLang="en-US" sz="1600" kern="100" dirty="0">
                    <a:solidFill>
                      <a:schemeClr val="tx1"/>
                    </a:solidFill>
                    <a:effectLst/>
                    <a:latin typeface="Times New Roman" panose="02020503050405090304" pitchFamily="18" charset="0"/>
                  </a:rPr>
                  <a:t>的大小</a:t>
                </a:r>
                <a:endParaRPr lang="zh-CN" altLang="en-US" sz="1600" kern="100" dirty="0">
                  <a:solidFill>
                    <a:schemeClr val="tx1"/>
                  </a:solidFill>
                  <a:effectLst/>
                  <a:latin typeface="Times New Roman" panose="02020503050405090304" pitchFamily="18" charset="0"/>
                </a:endParaRPr>
              </a:p>
              <a:p>
                <a:pPr marL="285750" indent="-285750" algn="l">
                  <a:buClrTx/>
                  <a:buSzTx/>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使用到的识别方程</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mc:Choice>
        <mc:Fallback>
          <p:sp>
            <p:nvSpPr>
              <p:cNvPr id="46" name="矩形: 圆角 7"/>
              <p:cNvSpPr>
                <a:spLocks noRot="1" noChangeAspect="1" noMove="1" noResize="1" noEditPoints="1" noAdjustHandles="1" noChangeArrowheads="1" noChangeShapeType="1" noTextEdit="1"/>
              </p:cNvSpPr>
              <p:nvPr/>
            </p:nvSpPr>
            <p:spPr>
              <a:xfrm>
                <a:off x="1965960" y="1228090"/>
                <a:ext cx="5559425" cy="1033780"/>
              </a:xfrm>
              <a:prstGeom prst="roundRect">
                <a:avLst/>
              </a:prstGeom>
              <a:blipFill rotWithShape="1">
                <a:blip r:embed="rId2"/>
                <a:stretch>
                  <a:fillRect l="-263" t="-1413" r="-251" b="-1351"/>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估计方法及</a:t>
            </a:r>
            <a:r>
              <a:rPr lang="zh-CN" altLang="en-US" sz="2800" b="1" dirty="0">
                <a:latin typeface="+mn-lt"/>
              </a:rPr>
              <a:t>处理</a:t>
            </a:r>
            <a:endParaRPr lang="zh-CN" altLang="en-US" sz="2800" b="1" dirty="0">
              <a:latin typeface="+mn-lt"/>
            </a:endParaRPr>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3.3</a:t>
            </a:r>
            <a:endParaRPr lang="zh-CN" altLang="en-US" b="1">
              <a:solidFill>
                <a:schemeClr val="bg1"/>
              </a:solidFill>
            </a:endParaRPr>
          </a:p>
        </p:txBody>
      </p:sp>
      <p:pic>
        <p:nvPicPr>
          <p:cNvPr id="7" name="图片 6" descr="a8f2b57e76432cc28133f48b112b8d1b"/>
          <p:cNvPicPr>
            <a:picLocks noChangeAspect="1"/>
          </p:cNvPicPr>
          <p:nvPr/>
        </p:nvPicPr>
        <p:blipFill>
          <a:blip r:embed="rId1"/>
          <a:srcRect l="8563" r="10745" b="64463"/>
          <a:stretch>
            <a:fillRect/>
          </a:stretch>
        </p:blipFill>
        <p:spPr>
          <a:xfrm>
            <a:off x="2553970" y="1711960"/>
            <a:ext cx="4089400" cy="531495"/>
          </a:xfrm>
          <a:prstGeom prst="rect">
            <a:avLst/>
          </a:prstGeom>
        </p:spPr>
      </p:pic>
      <mc:AlternateContent xmlns:mc="http://schemas.openxmlformats.org/markup-compatibility/2006">
        <mc:Choice xmlns:a14="http://schemas.microsoft.com/office/drawing/2010/main" Requires="a14">
          <p:sp>
            <p:nvSpPr>
              <p:cNvPr id="46" name="矩形: 圆角 7"/>
              <p:cNvSpPr/>
              <p:nvPr/>
            </p:nvSpPr>
            <p:spPr>
              <a:xfrm>
                <a:off x="1965960" y="1228090"/>
                <a:ext cx="5559425" cy="103378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lgn="l">
                  <a:buClrTx/>
                  <a:buSzTx/>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使用IV，估计出</a:t>
                </a:r>
                <a14:m>
                  <m:oMath xmlns:m="http://schemas.openxmlformats.org/officeDocument/2006/math">
                    <m:r>
                      <a:rPr lang="zh-CN" altLang="en-US" sz="1600" kern="100" dirty="0">
                        <a:solidFill>
                          <a:schemeClr val="tx1"/>
                        </a:solidFill>
                        <a:effectLst/>
                        <a:latin typeface="Times New Roman" panose="02020503050405090304" pitchFamily="18" charset="0"/>
                      </a:rPr>
                      <m:t>𝜃</m:t>
                    </m:r>
                  </m:oMath>
                </a14:m>
                <a:r>
                  <a:rPr lang="zh-CN" altLang="en-US" sz="1600" kern="100" dirty="0">
                    <a:solidFill>
                      <a:schemeClr val="tx1"/>
                    </a:solidFill>
                    <a:effectLst/>
                    <a:latin typeface="Times New Roman" panose="02020503050405090304" pitchFamily="18" charset="0"/>
                  </a:rPr>
                  <a:t>的大小</a:t>
                </a:r>
                <a:endParaRPr lang="zh-CN" altLang="en-US" sz="1600" kern="100" dirty="0">
                  <a:solidFill>
                    <a:schemeClr val="tx1"/>
                  </a:solidFill>
                  <a:effectLst/>
                  <a:latin typeface="Times New Roman" panose="02020503050405090304" pitchFamily="18" charset="0"/>
                </a:endParaRPr>
              </a:p>
              <a:p>
                <a:pPr marL="285750" indent="-285750" algn="l">
                  <a:buClrTx/>
                  <a:buSzTx/>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使用到的识别方程</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mc:Choice>
        <mc:Fallback>
          <p:sp>
            <p:nvSpPr>
              <p:cNvPr id="46" name="矩形: 圆角 7"/>
              <p:cNvSpPr>
                <a:spLocks noRot="1" noChangeAspect="1" noMove="1" noResize="1" noEditPoints="1" noAdjustHandles="1" noChangeArrowheads="1" noChangeShapeType="1" noTextEdit="1"/>
              </p:cNvSpPr>
              <p:nvPr/>
            </p:nvSpPr>
            <p:spPr>
              <a:xfrm>
                <a:off x="1965960" y="1228090"/>
                <a:ext cx="5559425" cy="1033780"/>
              </a:xfrm>
              <a:prstGeom prst="roundRect">
                <a:avLst/>
              </a:prstGeom>
              <a:blipFill rotWithShape="1">
                <a:blip r:embed="rId2"/>
                <a:stretch>
                  <a:fillRect l="-263" t="-1413" r="-251" b="-1351"/>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圆角 7"/>
              <p:cNvSpPr/>
              <p:nvPr/>
            </p:nvSpPr>
            <p:spPr>
              <a:xfrm>
                <a:off x="1965960" y="2816225"/>
                <a:ext cx="5559425" cy="33966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90204" pitchFamily="34" charset="0"/>
                  <a:buChar char="•"/>
                </a:pP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得到</a:t>
                </a:r>
                <a14:m>
                  <m:oMath xmlns:m="http://schemas.openxmlformats.org/officeDocument/2006/math">
                    <m:r>
                      <a:rPr lang="zh-CN" altLang="en-US" sz="1600" kern="100" dirty="0">
                        <a:solidFill>
                          <a:schemeClr val="tx1"/>
                        </a:solidFill>
                        <a:effectLst/>
                        <a:latin typeface="Times New Roman" panose="02020503050405090304" pitchFamily="18" charset="0"/>
                      </a:rPr>
                      <m:t>𝜃</m:t>
                    </m:r>
                  </m:oMath>
                </a14:m>
                <a:r>
                  <a:rPr lang="zh-CN" altLang="en-US" sz="1600" kern="100" dirty="0">
                    <a:solidFill>
                      <a:schemeClr val="tx1"/>
                    </a:solidFill>
                    <a:effectLst/>
                    <a:latin typeface="Times New Roman" panose="02020503050405090304" pitchFamily="18" charset="0"/>
                  </a:rPr>
                  <a:t>的估计值后</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代入到以下三个方程构成的系统</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mc:Choice>
        <mc:Fallback>
          <p:sp>
            <p:nvSpPr>
              <p:cNvPr id="9" name="矩形: 圆角 7"/>
              <p:cNvSpPr>
                <a:spLocks noRot="1" noChangeAspect="1" noMove="1" noResize="1" noEditPoints="1" noAdjustHandles="1" noChangeArrowheads="1" noChangeShapeType="1" noTextEdit="1"/>
              </p:cNvSpPr>
              <p:nvPr/>
            </p:nvSpPr>
            <p:spPr>
              <a:xfrm>
                <a:off x="1965960" y="2816225"/>
                <a:ext cx="5559425" cy="3396615"/>
              </a:xfrm>
              <a:prstGeom prst="roundRect">
                <a:avLst/>
              </a:prstGeom>
              <a:blipFill rotWithShape="1">
                <a:blip r:embed="rId3"/>
                <a:stretch>
                  <a:fillRect l="-263" t="-430" r="-251" b="-411"/>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1" name="箭头: 下 15"/>
          <p:cNvSpPr/>
          <p:nvPr/>
        </p:nvSpPr>
        <p:spPr>
          <a:xfrm>
            <a:off x="4595495" y="2432050"/>
            <a:ext cx="300990" cy="21399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b4e2beeb133c75a93874a37876f629f2"/>
          <p:cNvPicPr>
            <a:picLocks noChangeAspect="1"/>
          </p:cNvPicPr>
          <p:nvPr/>
        </p:nvPicPr>
        <p:blipFill>
          <a:blip r:embed="rId4"/>
          <a:srcRect l="22525" r="25035"/>
          <a:stretch>
            <a:fillRect/>
          </a:stretch>
        </p:blipFill>
        <p:spPr>
          <a:xfrm>
            <a:off x="3286125" y="3331210"/>
            <a:ext cx="2624455" cy="571500"/>
          </a:xfrm>
          <a:prstGeom prst="rect">
            <a:avLst/>
          </a:prstGeom>
        </p:spPr>
      </p:pic>
      <p:pic>
        <p:nvPicPr>
          <p:cNvPr id="8" name="图片 7" descr="a8f2b57e76432cc28133f48b112b8d1b"/>
          <p:cNvPicPr>
            <a:picLocks noChangeAspect="1"/>
          </p:cNvPicPr>
          <p:nvPr/>
        </p:nvPicPr>
        <p:blipFill>
          <a:blip r:embed="rId1"/>
          <a:srcRect l="8563" r="10745" b="734"/>
          <a:stretch>
            <a:fillRect/>
          </a:stretch>
        </p:blipFill>
        <p:spPr>
          <a:xfrm>
            <a:off x="2553970" y="3902710"/>
            <a:ext cx="4089400" cy="1484630"/>
          </a:xfrm>
          <a:prstGeom prst="rect">
            <a:avLst/>
          </a:prstGeom>
        </p:spPr>
      </p:pic>
      <p:sp>
        <p:nvSpPr>
          <p:cNvPr id="21" name="左大括号 20"/>
          <p:cNvSpPr/>
          <p:nvPr/>
        </p:nvSpPr>
        <p:spPr>
          <a:xfrm>
            <a:off x="2474595" y="3406140"/>
            <a:ext cx="75565" cy="1981200"/>
          </a:xfrm>
          <a:prstGeom prst="leftBrace">
            <a:avLst/>
          </a:prstGeom>
          <a:ln>
            <a:solidFill>
              <a:srgbClr val="660066"/>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2113280" y="5607050"/>
            <a:ext cx="5559425" cy="336550"/>
          </a:xfrm>
          <a:prstGeom prst="rect">
            <a:avLst/>
          </a:prstGeom>
        </p:spPr>
        <p:txBody>
          <a:bodyPr>
            <a:noAutofit/>
          </a:bodyPr>
          <a:p>
            <a:pPr marL="285750" indent="-285750">
              <a:buFont typeface="Arial" panose="020B0604020202090204" pitchFamily="34" charset="0"/>
              <a:buChar char="•"/>
            </a:pPr>
            <a:r>
              <a:rPr lang="zh-CN" altLang="en-US" sz="1600"/>
              <a:t>对该系统使用</a:t>
            </a:r>
            <a:r>
              <a:rPr lang="zh-CN" altLang="en-US" sz="1600" b="1">
                <a:solidFill>
                  <a:srgbClr val="660066"/>
                </a:solidFill>
              </a:rPr>
              <a:t>广义矩估计</a:t>
            </a:r>
            <a:r>
              <a:rPr lang="en-US" altLang="zh-CN" sz="1600" b="1">
                <a:solidFill>
                  <a:srgbClr val="660066"/>
                </a:solidFill>
              </a:rPr>
              <a:t>（GMM）</a:t>
            </a:r>
            <a:r>
              <a:rPr lang="zh-CN" altLang="en-US" sz="1600"/>
              <a:t>的</a:t>
            </a:r>
            <a:r>
              <a:rPr lang="zh-CN" altLang="en-US" sz="1600"/>
              <a:t>估计框架</a:t>
            </a:r>
            <a:endParaRPr lang="zh-CN" altLang="en-US" sz="16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估计方法及</a:t>
            </a:r>
            <a:r>
              <a:rPr lang="zh-CN" altLang="en-US" sz="2800" b="1" dirty="0">
                <a:latin typeface="+mn-lt"/>
              </a:rPr>
              <a:t>处理</a:t>
            </a:r>
            <a:endParaRPr lang="zh-CN" altLang="en-US" sz="2800" b="1" dirty="0">
              <a:latin typeface="+mn-lt"/>
            </a:endParaRPr>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3.3</a:t>
            </a:r>
            <a:endParaRPr lang="zh-CN" altLang="en-US" b="1">
              <a:solidFill>
                <a:schemeClr val="bg1"/>
              </a:solidFill>
            </a:endParaRPr>
          </a:p>
        </p:txBody>
      </p:sp>
      <p:pic>
        <p:nvPicPr>
          <p:cNvPr id="7" name="图片 6" descr="a8f2b57e76432cc28133f48b112b8d1b"/>
          <p:cNvPicPr>
            <a:picLocks noChangeAspect="1"/>
          </p:cNvPicPr>
          <p:nvPr/>
        </p:nvPicPr>
        <p:blipFill>
          <a:blip r:embed="rId1"/>
          <a:srcRect l="8563" r="10745" b="64463"/>
          <a:stretch>
            <a:fillRect/>
          </a:stretch>
        </p:blipFill>
        <p:spPr>
          <a:xfrm>
            <a:off x="2553970" y="1711960"/>
            <a:ext cx="4089400" cy="531495"/>
          </a:xfrm>
          <a:prstGeom prst="rect">
            <a:avLst/>
          </a:prstGeom>
        </p:spPr>
      </p:pic>
      <mc:AlternateContent xmlns:mc="http://schemas.openxmlformats.org/markup-compatibility/2006">
        <mc:Choice xmlns:a14="http://schemas.microsoft.com/office/drawing/2010/main" Requires="a14">
          <p:sp>
            <p:nvSpPr>
              <p:cNvPr id="46" name="矩形: 圆角 7"/>
              <p:cNvSpPr/>
              <p:nvPr/>
            </p:nvSpPr>
            <p:spPr>
              <a:xfrm>
                <a:off x="1965960" y="1228090"/>
                <a:ext cx="5559425" cy="103378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lgn="l">
                  <a:buClrTx/>
                  <a:buSzTx/>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使用IV，估计出</a:t>
                </a:r>
                <a14:m>
                  <m:oMath xmlns:m="http://schemas.openxmlformats.org/officeDocument/2006/math">
                    <m:r>
                      <a:rPr lang="zh-CN" altLang="en-US" sz="1600" kern="100" dirty="0">
                        <a:solidFill>
                          <a:schemeClr val="tx1"/>
                        </a:solidFill>
                        <a:effectLst/>
                        <a:latin typeface="Times New Roman" panose="02020503050405090304" pitchFamily="18" charset="0"/>
                      </a:rPr>
                      <m:t>𝜃</m:t>
                    </m:r>
                  </m:oMath>
                </a14:m>
                <a:r>
                  <a:rPr lang="zh-CN" altLang="en-US" sz="1600" kern="100" dirty="0">
                    <a:solidFill>
                      <a:schemeClr val="tx1"/>
                    </a:solidFill>
                    <a:effectLst/>
                    <a:latin typeface="Times New Roman" panose="02020503050405090304" pitchFamily="18" charset="0"/>
                  </a:rPr>
                  <a:t>的大小</a:t>
                </a:r>
                <a:endParaRPr lang="zh-CN" altLang="en-US" sz="1600" kern="100" dirty="0">
                  <a:solidFill>
                    <a:schemeClr val="tx1"/>
                  </a:solidFill>
                  <a:effectLst/>
                  <a:latin typeface="Times New Roman" panose="02020503050405090304" pitchFamily="18" charset="0"/>
                </a:endParaRPr>
              </a:p>
              <a:p>
                <a:pPr marL="285750" indent="-285750" algn="l">
                  <a:buClrTx/>
                  <a:buSzTx/>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使用到的识别方程</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mc:Choice>
        <mc:Fallback>
          <p:sp>
            <p:nvSpPr>
              <p:cNvPr id="46" name="矩形: 圆角 7"/>
              <p:cNvSpPr>
                <a:spLocks noRot="1" noChangeAspect="1" noMove="1" noResize="1" noEditPoints="1" noAdjustHandles="1" noChangeArrowheads="1" noChangeShapeType="1" noTextEdit="1"/>
              </p:cNvSpPr>
              <p:nvPr/>
            </p:nvSpPr>
            <p:spPr>
              <a:xfrm>
                <a:off x="1965960" y="1228090"/>
                <a:ext cx="5559425" cy="1033780"/>
              </a:xfrm>
              <a:prstGeom prst="roundRect">
                <a:avLst/>
              </a:prstGeom>
              <a:blipFill rotWithShape="1">
                <a:blip r:embed="rId2"/>
                <a:stretch>
                  <a:fillRect l="-263" t="-1413" r="-251" b="-1351"/>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圆角 7"/>
              <p:cNvSpPr/>
              <p:nvPr/>
            </p:nvSpPr>
            <p:spPr>
              <a:xfrm>
                <a:off x="1965960" y="2816225"/>
                <a:ext cx="5559425" cy="33966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90204" pitchFamily="34" charset="0"/>
                  <a:buChar char="•"/>
                </a:pP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得到</a:t>
                </a:r>
                <a14:m>
                  <m:oMath xmlns:m="http://schemas.openxmlformats.org/officeDocument/2006/math">
                    <m:r>
                      <a:rPr lang="zh-CN" altLang="en-US" sz="1600" kern="100" dirty="0">
                        <a:solidFill>
                          <a:schemeClr val="tx1"/>
                        </a:solidFill>
                        <a:effectLst/>
                        <a:latin typeface="Times New Roman" panose="02020503050405090304" pitchFamily="18" charset="0"/>
                      </a:rPr>
                      <m:t>𝜃</m:t>
                    </m:r>
                  </m:oMath>
                </a14:m>
                <a:r>
                  <a:rPr lang="zh-CN" altLang="en-US" sz="1600" kern="100" dirty="0">
                    <a:solidFill>
                      <a:schemeClr val="tx1"/>
                    </a:solidFill>
                    <a:effectLst/>
                    <a:latin typeface="Times New Roman" panose="02020503050405090304" pitchFamily="18" charset="0"/>
                  </a:rPr>
                  <a:t>的估计值后</a:t>
                </a:r>
                <a:r>
                  <a:rPr lang="en-US" altLang="zh-CN" sz="1600" kern="100" dirty="0">
                    <a:solidFill>
                      <a:schemeClr val="tx1"/>
                    </a:solidFill>
                    <a:effectLst/>
                    <a:latin typeface="Times New Roman" panose="02020503050405090304" pitchFamily="18" charset="0"/>
                  </a:rPr>
                  <a:t>，</a:t>
                </a:r>
                <a:r>
                  <a:rPr lang="zh-CN" altLang="en-US" sz="1600" kern="100" dirty="0">
                    <a:solidFill>
                      <a:schemeClr val="tx1"/>
                    </a:solidFill>
                    <a:effectLst/>
                    <a:latin typeface="Times New Roman" panose="02020503050405090304" pitchFamily="18" charset="0"/>
                  </a:rPr>
                  <a:t>代入到以下三个方程构成的系统</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p:txBody>
          </p:sp>
        </mc:Choice>
        <mc:Fallback>
          <p:sp>
            <p:nvSpPr>
              <p:cNvPr id="9" name="矩形: 圆角 7"/>
              <p:cNvSpPr>
                <a:spLocks noRot="1" noChangeAspect="1" noMove="1" noResize="1" noEditPoints="1" noAdjustHandles="1" noChangeArrowheads="1" noChangeShapeType="1" noTextEdit="1"/>
              </p:cNvSpPr>
              <p:nvPr/>
            </p:nvSpPr>
            <p:spPr>
              <a:xfrm>
                <a:off x="1965960" y="2816225"/>
                <a:ext cx="5559425" cy="3396615"/>
              </a:xfrm>
              <a:prstGeom prst="roundRect">
                <a:avLst/>
              </a:prstGeom>
              <a:blipFill rotWithShape="1">
                <a:blip r:embed="rId3"/>
                <a:stretch>
                  <a:fillRect l="-263" t="-430" r="-251" b="-411"/>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1" name="箭头: 下 15"/>
          <p:cNvSpPr/>
          <p:nvPr/>
        </p:nvSpPr>
        <p:spPr>
          <a:xfrm>
            <a:off x="4595495" y="2432050"/>
            <a:ext cx="300990" cy="21399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b4e2beeb133c75a93874a37876f629f2"/>
          <p:cNvPicPr>
            <a:picLocks noChangeAspect="1"/>
          </p:cNvPicPr>
          <p:nvPr/>
        </p:nvPicPr>
        <p:blipFill>
          <a:blip r:embed="rId4"/>
          <a:srcRect l="22525" r="25035"/>
          <a:stretch>
            <a:fillRect/>
          </a:stretch>
        </p:blipFill>
        <p:spPr>
          <a:xfrm>
            <a:off x="3286125" y="3331210"/>
            <a:ext cx="2624455" cy="571500"/>
          </a:xfrm>
          <a:prstGeom prst="rect">
            <a:avLst/>
          </a:prstGeom>
        </p:spPr>
      </p:pic>
      <p:pic>
        <p:nvPicPr>
          <p:cNvPr id="8" name="图片 7" descr="a8f2b57e76432cc28133f48b112b8d1b"/>
          <p:cNvPicPr>
            <a:picLocks noChangeAspect="1"/>
          </p:cNvPicPr>
          <p:nvPr/>
        </p:nvPicPr>
        <p:blipFill>
          <a:blip r:embed="rId1"/>
          <a:srcRect l="8563" r="10745" b="734"/>
          <a:stretch>
            <a:fillRect/>
          </a:stretch>
        </p:blipFill>
        <p:spPr>
          <a:xfrm>
            <a:off x="2553970" y="3902710"/>
            <a:ext cx="4089400" cy="1484630"/>
          </a:xfrm>
          <a:prstGeom prst="rect">
            <a:avLst/>
          </a:prstGeom>
        </p:spPr>
      </p:pic>
      <mc:AlternateContent xmlns:mc="http://schemas.openxmlformats.org/markup-compatibility/2006">
        <mc:Choice xmlns:a14="http://schemas.microsoft.com/office/drawing/2010/main" Requires="a14">
          <p:sp>
            <p:nvSpPr>
              <p:cNvPr id="14" name="文本框 13"/>
              <p:cNvSpPr txBox="1"/>
              <p:nvPr/>
            </p:nvSpPr>
            <p:spPr>
              <a:xfrm>
                <a:off x="7776845" y="1595755"/>
                <a:ext cx="3356610" cy="4616450"/>
              </a:xfrm>
              <a:prstGeom prst="rect">
                <a:avLst/>
              </a:prstGeom>
            </p:spPr>
            <p:txBody>
              <a:bodyPr wrap="square">
                <a:noAutofit/>
              </a:bodyPr>
              <a:p>
                <a:pPr marL="285750" indent="-285750">
                  <a:buFont typeface="Arial" panose="020B0604020202090204" pitchFamily="34" charset="0"/>
                  <a:buChar char="•"/>
                </a:pPr>
                <a:r>
                  <a:rPr lang="zh-CN" altLang="en-US" sz="1400"/>
                  <a:t>在</a:t>
                </a:r>
                <a:r>
                  <a:rPr lang="en-US" altLang="zh-CN" sz="1400"/>
                  <a:t>GMM</a:t>
                </a:r>
                <a:r>
                  <a:rPr lang="zh-CN" altLang="en-US" sz="1400"/>
                  <a:t>的估计框架里</a:t>
                </a:r>
                <a:r>
                  <a:rPr lang="en-US" altLang="zh-CN" sz="1400"/>
                  <a:t>，</a:t>
                </a:r>
                <a:r>
                  <a:rPr lang="zh-CN" altLang="en-US" sz="1400"/>
                  <a:t>对涉及到迁移流量</a:t>
                </a:r>
                <a:r>
                  <a:rPr lang="en-US" altLang="zh-CN" sz="1400"/>
                  <a:t>（</a:t>
                </a:r>
                <a:r>
                  <a:rPr lang="zh-CN" altLang="en-US" sz="1400"/>
                  <a:t>比例</a:t>
                </a:r>
                <a:r>
                  <a:rPr lang="en-US" altLang="zh-CN" sz="1400"/>
                  <a:t>）</a:t>
                </a:r>
                <a:r>
                  <a:rPr lang="zh-CN" altLang="en-US" sz="1400"/>
                  <a:t>的两个方程使用</a:t>
                </a:r>
                <a:r>
                  <a:rPr lang="en-US" altLang="zh-CN" sz="1400"/>
                  <a:t> </a:t>
                </a:r>
                <a:r>
                  <a:rPr lang="en-US" altLang="zh-CN" sz="1400" b="1">
                    <a:solidFill>
                      <a:srgbClr val="660066"/>
                    </a:solidFill>
                  </a:rPr>
                  <a:t>Poisson </a:t>
                </a:r>
                <a:r>
                  <a:rPr lang="zh-CN" altLang="en-US" sz="1400" b="1">
                    <a:solidFill>
                      <a:srgbClr val="660066"/>
                    </a:solidFill>
                  </a:rPr>
                  <a:t>伪极大似然估计（</a:t>
                </a:r>
                <a:r>
                  <a:rPr lang="en-US" altLang="zh-CN" sz="1400" b="1">
                    <a:solidFill>
                      <a:srgbClr val="660066"/>
                    </a:solidFill>
                  </a:rPr>
                  <a:t>PPML</a:t>
                </a:r>
                <a:r>
                  <a:rPr lang="zh-CN" altLang="en-US" sz="1400" b="1">
                    <a:solidFill>
                      <a:srgbClr val="660066"/>
                    </a:solidFill>
                  </a:rPr>
                  <a:t>），原因及优点如下</a:t>
                </a:r>
                <a:r>
                  <a:rPr lang="en-US" altLang="zh-CN" sz="1400" b="1">
                    <a:solidFill>
                      <a:srgbClr val="660066"/>
                    </a:solidFill>
                  </a:rPr>
                  <a:t>：</a:t>
                </a:r>
                <a:endParaRPr lang="en-US" altLang="zh-CN" sz="1400" b="1">
                  <a:solidFill>
                    <a:srgbClr val="660066"/>
                  </a:solidFill>
                </a:endParaRPr>
              </a:p>
              <a:p>
                <a:pPr marL="285750" indent="-285750">
                  <a:buFont typeface="Arial" panose="020B0604020202090204" pitchFamily="34" charset="0"/>
                  <a:buChar char="•"/>
                </a:pPr>
                <a:r>
                  <a:rPr lang="zh-CN" altLang="en-US" sz="1400" b="1">
                    <a:solidFill>
                      <a:srgbClr val="660066"/>
                    </a:solidFill>
                  </a:rPr>
                  <a:t>能保留零迁移流量</a:t>
                </a:r>
                <a:r>
                  <a:rPr lang="en-US" altLang="zh-CN" sz="1400" b="1">
                    <a:solidFill>
                      <a:srgbClr val="660066"/>
                    </a:solidFill>
                  </a:rPr>
                  <a:t>：</a:t>
                </a:r>
                <a:r>
                  <a:rPr lang="zh-CN" altLang="en-US" sz="1400"/>
                  <a:t>模型中对迁移比例取了对数，若没有迁移</a:t>
                </a:r>
                <a:r>
                  <a:rPr lang="en-US" altLang="zh-CN" sz="1400"/>
                  <a:t>，</a:t>
                </a:r>
                <a:r>
                  <a:rPr lang="zh-CN" altLang="en-US" sz="1400"/>
                  <a:t>则无法取对数</a:t>
                </a:r>
                <a:r>
                  <a:rPr lang="en-US" altLang="zh-CN" sz="1400"/>
                  <a:t>，</a:t>
                </a:r>
                <a:r>
                  <a:rPr lang="zh-CN" altLang="en-US" sz="1400"/>
                  <a:t>需要剔除或单独处理</a:t>
                </a:r>
                <a:r>
                  <a:rPr lang="en-US" altLang="zh-CN" sz="1400"/>
                  <a:t>。PPML</a:t>
                </a:r>
                <a:r>
                  <a:rPr lang="zh-CN" altLang="en-US" sz="1400"/>
                  <a:t>能够直接用迁移流量的原始数值进行估计</a:t>
                </a:r>
                <a:r>
                  <a:rPr lang="en-US" altLang="zh-CN" sz="1400"/>
                  <a:t>，</a:t>
                </a:r>
                <a:r>
                  <a:rPr lang="zh-CN" altLang="en-US" sz="1400"/>
                  <a:t>可以保留这部分样本</a:t>
                </a:r>
                <a:r>
                  <a:rPr lang="en-US" altLang="zh-CN" sz="1400"/>
                  <a:t>。</a:t>
                </a:r>
                <a:endParaRPr lang="en-US" altLang="zh-CN" sz="1400">
                  <a:solidFill>
                    <a:schemeClr val="bg1"/>
                  </a:solidFill>
                </a:endParaRPr>
              </a:p>
              <a:p>
                <a:pPr marL="285750" indent="-285750" algn="l">
                  <a:buClrTx/>
                  <a:buSzTx/>
                  <a:buFont typeface="Arial" panose="020B0604020202090204" pitchFamily="34" charset="0"/>
                  <a:buChar char="•"/>
                </a:pPr>
                <a:r>
                  <a:rPr lang="zh-CN" altLang="en-US" sz="1400" b="1">
                    <a:solidFill>
                      <a:srgbClr val="660066"/>
                    </a:solidFill>
                  </a:rPr>
                  <a:t>尊重模型中的总量约束</a:t>
                </a:r>
                <a:r>
                  <a:rPr lang="en-US" altLang="zh-CN" sz="1400" b="1">
                    <a:solidFill>
                      <a:srgbClr val="660066"/>
                    </a:solidFill>
                  </a:rPr>
                  <a:t>：</a:t>
                </a:r>
                <a:r>
                  <a:rPr lang="zh-CN" altLang="en-US" sz="1400"/>
                  <a:t>迁移流量彼此关联：一个来源地流出的人口，要和各目的地接收的人口对应起来；各地流量还要符合人口总量</a:t>
                </a:r>
                <a:r>
                  <a:rPr lang="en-US" altLang="zh-CN" sz="1400"/>
                  <a:t>，</a:t>
                </a:r>
                <a:r>
                  <a:rPr lang="zh-CN" altLang="en-US" sz="1400"/>
                  <a:t>已有研究也支持</a:t>
                </a:r>
                <a:r>
                  <a:rPr lang="en-US" altLang="zh-CN" sz="1400"/>
                  <a:t>PPML</a:t>
                </a:r>
                <a:r>
                  <a:rPr lang="zh-CN" altLang="en-US" sz="1400"/>
                  <a:t>能尊重这一约束</a:t>
                </a:r>
                <a:r>
                  <a:rPr lang="en-US" altLang="zh-CN" sz="1400"/>
                  <a:t>。</a:t>
                </a:r>
                <a:endParaRPr lang="zh-CN" altLang="en-US" sz="1400"/>
              </a:p>
              <a:p>
                <a:pPr marL="285750" indent="-285750">
                  <a:buFont typeface="Arial" panose="020B0604020202090204" pitchFamily="34" charset="0"/>
                  <a:buChar char="•"/>
                </a:pPr>
                <a:r>
                  <a:rPr lang="zh-CN" altLang="en-US" sz="1400" b="1">
                    <a:solidFill>
                      <a:srgbClr val="660066"/>
                    </a:solidFill>
                  </a:rPr>
                  <a:t>其他的处理包括</a:t>
                </a:r>
                <a:r>
                  <a:rPr lang="en-US" altLang="zh-CN" sz="1400" b="1">
                    <a:solidFill>
                      <a:srgbClr val="660066"/>
                    </a:solidFill>
                  </a:rPr>
                  <a:t>：</a:t>
                </a:r>
                <a:endParaRPr lang="en-US" altLang="zh-CN" sz="1400" b="1">
                  <a:solidFill>
                    <a:srgbClr val="660066"/>
                  </a:solidFill>
                </a:endParaRPr>
              </a:p>
              <a:p>
                <a:pPr marL="342900" indent="-342900" algn="l">
                  <a:buClrTx/>
                  <a:buSzTx/>
                  <a:buFont typeface="Arial" panose="020B0604020202090204" pitchFamily="34" charset="0"/>
                  <a:buAutoNum type="arabicPeriod"/>
                </a:pPr>
                <a:r>
                  <a:rPr lang="en-US" altLang="zh-CN" sz="1400"/>
                  <a:t>工资数据里，</a:t>
                </a:r>
                <a:r>
                  <a:rPr lang="zh-CN" altLang="en-US" sz="1400"/>
                  <a:t>若</a:t>
                </a:r>
                <a:r>
                  <a:rPr lang="en-US" altLang="zh-CN" sz="1400"/>
                  <a:t>od</a:t>
                </a:r>
                <a:r>
                  <a:rPr lang="zh-CN" altLang="en-US" sz="1400"/>
                  <a:t>两地迁移中</a:t>
                </a:r>
                <a:r>
                  <a:rPr lang="en-US" altLang="zh-CN" sz="1400"/>
                  <a:t>，</a:t>
                </a:r>
                <a:r>
                  <a:rPr lang="zh-CN" altLang="en-US" sz="1400"/>
                  <a:t>观察到的迁移人数少于</a:t>
                </a:r>
                <a:r>
                  <a:rPr lang="en-US" altLang="zh-CN" sz="1400"/>
                  <a:t>5</a:t>
                </a:r>
                <a:r>
                  <a:rPr lang="zh-CN" altLang="en-US" sz="1400"/>
                  <a:t>人</a:t>
                </a:r>
                <a:r>
                  <a:rPr lang="en-US" altLang="zh-CN" sz="1400"/>
                  <a:t>，</a:t>
                </a:r>
                <a:r>
                  <a:rPr lang="zh-CN" altLang="en-US" sz="1400"/>
                  <a:t>则剔除这些样本</a:t>
                </a:r>
                <a:r>
                  <a:rPr lang="en-US" altLang="zh-CN" sz="1400"/>
                  <a:t>：PPML </a:t>
                </a:r>
                <a:r>
                  <a:rPr lang="zh-CN" altLang="en-US" sz="1400"/>
                  <a:t>能处理零迁移流量问题，但样本太少会让平均工资的估计不精确</a:t>
                </a:r>
                <a:r>
                  <a:rPr lang="en-US" altLang="zh-CN" sz="1400"/>
                  <a:t>。</a:t>
                </a:r>
                <a:endParaRPr lang="zh-CN" altLang="en-US" sz="1400"/>
              </a:p>
              <a:p>
                <a:pPr marL="342900" indent="-342900" algn="l">
                  <a:buClrTx/>
                  <a:buSzTx/>
                  <a:buFont typeface="Arial" panose="020B0604020202090204" pitchFamily="34" charset="0"/>
                  <a:buAutoNum type="arabicPeriod"/>
                </a:pPr>
                <a14:m>
                  <m:oMath xmlns:m="http://schemas.openxmlformats.org/officeDocument/2006/math">
                    <m:r>
                      <a:rPr lang="en-US" altLang="zh-CN" sz="1400">
                        <a:solidFill>
                          <a:schemeClr val="tx1"/>
                        </a:solidFill>
                        <a:latin typeface="DejaVu Math TeX Gyre" panose="02000503000000000000" charset="0"/>
                      </a:rPr>
                      <m:t>𝜃</m:t>
                    </m:r>
                  </m:oMath>
                </a14:m>
                <a:r>
                  <a:rPr lang="en-US" altLang="zh-CN" sz="1400">
                    <a:solidFill>
                      <a:schemeClr val="tx1"/>
                    </a:solidFill>
                  </a:rPr>
                  <a:t>、</a:t>
                </a:r>
                <a14:m>
                  <m:oMath xmlns:m="http://schemas.openxmlformats.org/officeDocument/2006/math">
                    <m:r>
                      <a:rPr lang="en-US" altLang="zh-CN" sz="1400">
                        <a:solidFill>
                          <a:schemeClr val="tx1"/>
                        </a:solidFill>
                        <a:latin typeface="DejaVu Math TeX Gyre" panose="02000503000000000000" charset="0"/>
                      </a:rPr>
                      <m:t>𝜌</m:t>
                    </m:r>
                  </m:oMath>
                </a14:m>
                <a:r>
                  <a:rPr lang="en-US" altLang="zh-CN" sz="1400">
                    <a:solidFill>
                      <a:schemeClr val="tx1"/>
                    </a:solidFill>
                  </a:rPr>
                  <a:t>使用bootstrap得到标准误</a:t>
                </a:r>
                <a:r>
                  <a:rPr lang="en-US" altLang="zh-CN" sz="1400">
                    <a:solidFill>
                      <a:schemeClr val="tx1"/>
                    </a:solidFill>
                  </a:rPr>
                  <a:t>。</a:t>
                </a:r>
                <a:endParaRPr lang="en-US" altLang="zh-CN" sz="1400">
                  <a:solidFill>
                    <a:schemeClr val="tx1"/>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7776845" y="1595755"/>
                <a:ext cx="3356610" cy="4616450"/>
              </a:xfrm>
              <a:prstGeom prst="rect">
                <a:avLst/>
              </a:prstGeom>
              <a:blipFill rotWithShape="1">
                <a:blip r:embed="rId5"/>
                <a:stretch>
                  <a:fillRect/>
                </a:stretch>
              </a:blipFill>
            </p:spPr>
            <p:txBody>
              <a:bodyPr/>
              <a:lstStyle/>
              <a:p>
                <a:r>
                  <a:rPr lang="zh-CN" altLang="en-US">
                    <a:noFill/>
                  </a:rPr>
                  <a:t> </a:t>
                </a:r>
              </a:p>
            </p:txBody>
          </p:sp>
        </mc:Fallback>
      </mc:AlternateContent>
      <p:grpSp>
        <p:nvGrpSpPr>
          <p:cNvPr id="15" name="组合 14"/>
          <p:cNvGrpSpPr/>
          <p:nvPr/>
        </p:nvGrpSpPr>
        <p:grpSpPr>
          <a:xfrm>
            <a:off x="7792720" y="1228090"/>
            <a:ext cx="3355975" cy="4984750"/>
            <a:chOff x="3107" y="5400"/>
            <a:chExt cx="3989" cy="4349"/>
          </a:xfrm>
        </p:grpSpPr>
        <p:sp>
          <p:nvSpPr>
            <p:cNvPr id="18" name="矩形 17"/>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3107" y="5400"/>
              <a:ext cx="3989" cy="321"/>
            </a:xfrm>
            <a:prstGeom prst="rect">
              <a:avLst/>
            </a:prstGeom>
            <a:solidFill>
              <a:srgbClr val="69025E"/>
            </a:solidFill>
          </p:spPr>
          <p:txBody>
            <a:bodyPr wrap="square">
              <a:spAutoFit/>
            </a:bodyPr>
            <a:lstStyle/>
            <a:p>
              <a:pPr algn="ctr"/>
              <a:r>
                <a:rPr lang="en-US" altLang="zh-CN" b="1">
                  <a:solidFill>
                    <a:schemeClr val="bg1"/>
                  </a:solidFill>
                  <a:sym typeface="+mn-ea"/>
                </a:rPr>
                <a:t>Poisson </a:t>
              </a:r>
              <a:r>
                <a:rPr lang="zh-CN" altLang="en-US" b="1">
                  <a:solidFill>
                    <a:schemeClr val="bg1"/>
                  </a:solidFill>
                  <a:sym typeface="+mn-ea"/>
                </a:rPr>
                <a:t>伪极大似然</a:t>
              </a:r>
              <a:r>
                <a:rPr lang="zh-CN" altLang="en-US" b="1">
                  <a:solidFill>
                    <a:schemeClr val="bg1"/>
                  </a:solidFill>
                  <a:sym typeface="+mn-ea"/>
                </a:rPr>
                <a:t>估计</a:t>
              </a:r>
              <a:endParaRPr lang="zh-CN" altLang="en-US" b="1">
                <a:solidFill>
                  <a:schemeClr val="bg1"/>
                </a:solidFill>
                <a:sym typeface="+mn-ea"/>
              </a:endParaRPr>
            </a:p>
          </p:txBody>
        </p:sp>
      </p:grpSp>
      <p:sp>
        <p:nvSpPr>
          <p:cNvPr id="21" name="左大括号 20"/>
          <p:cNvSpPr/>
          <p:nvPr/>
        </p:nvSpPr>
        <p:spPr>
          <a:xfrm>
            <a:off x="2474595" y="3406140"/>
            <a:ext cx="75565" cy="1981200"/>
          </a:xfrm>
          <a:prstGeom prst="leftBrace">
            <a:avLst/>
          </a:prstGeom>
          <a:ln>
            <a:solidFill>
              <a:srgbClr val="660066"/>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2113280" y="5607050"/>
            <a:ext cx="5559425" cy="336550"/>
          </a:xfrm>
          <a:prstGeom prst="rect">
            <a:avLst/>
          </a:prstGeom>
        </p:spPr>
        <p:txBody>
          <a:bodyPr>
            <a:noAutofit/>
          </a:bodyPr>
          <a:p>
            <a:pPr marL="285750" indent="-285750">
              <a:buFont typeface="Arial" panose="020B0604020202090204" pitchFamily="34" charset="0"/>
              <a:buChar char="•"/>
            </a:pPr>
            <a:r>
              <a:rPr lang="zh-CN" altLang="en-US" sz="1600"/>
              <a:t>对该系统使用</a:t>
            </a:r>
            <a:r>
              <a:rPr lang="zh-CN" altLang="en-US" sz="1600" b="1">
                <a:solidFill>
                  <a:srgbClr val="660066"/>
                </a:solidFill>
              </a:rPr>
              <a:t>广义矩估计</a:t>
            </a:r>
            <a:r>
              <a:rPr lang="en-US" altLang="zh-CN" sz="1600" b="1">
                <a:solidFill>
                  <a:srgbClr val="660066"/>
                </a:solidFill>
              </a:rPr>
              <a:t>（GMM）</a:t>
            </a:r>
            <a:r>
              <a:rPr lang="zh-CN" altLang="en-US" sz="1600"/>
              <a:t>的</a:t>
            </a:r>
            <a:r>
              <a:rPr lang="zh-CN" altLang="en-US" sz="1600"/>
              <a:t>估计框架</a:t>
            </a:r>
            <a:endParaRPr lang="zh-CN" altLang="en-US" sz="1600"/>
          </a:p>
        </p:txBody>
      </p:sp>
      <p:sp>
        <p:nvSpPr>
          <p:cNvPr id="4" name="矩形 3"/>
          <p:cNvSpPr/>
          <p:nvPr/>
        </p:nvSpPr>
        <p:spPr>
          <a:xfrm>
            <a:off x="2553970" y="3985260"/>
            <a:ext cx="4281805" cy="1393825"/>
          </a:xfrm>
          <a:prstGeom prst="rect">
            <a:avLst/>
          </a:prstGeom>
          <a:noFill/>
          <a:ln w="19050">
            <a:solidFill>
              <a:srgbClr val="FF0000">
                <a:alpha val="100000"/>
              </a:srgb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下 15"/>
          <p:cNvSpPr/>
          <p:nvPr/>
        </p:nvSpPr>
        <p:spPr>
          <a:xfrm rot="16200000">
            <a:off x="7145020" y="4203065"/>
            <a:ext cx="320675" cy="94107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估计结果</a:t>
            </a:r>
            <a:endParaRPr lang="zh-CN" altLang="en-US" sz="2800" b="1" dirty="0">
              <a:latin typeface="+mn-lt"/>
            </a:endParaRPr>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3.4</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6" name="文本框 5"/>
              <p:cNvSpPr txBox="1"/>
              <p:nvPr/>
            </p:nvSpPr>
            <p:spPr>
              <a:xfrm>
                <a:off x="2345690" y="1586865"/>
                <a:ext cx="8589645" cy="4157980"/>
              </a:xfrm>
              <a:prstGeom prst="rect">
                <a:avLst/>
              </a:prstGeom>
            </p:spPr>
            <p:txBody>
              <a:bodyPr wrap="square">
                <a:spAutoFit/>
              </a:bodyPr>
              <a:p>
                <a:pPr marL="285750" indent="-285750">
                  <a:buFont typeface="Arial" panose="020B0604020202090204" pitchFamily="34" charset="0"/>
                  <a:buChar char="•"/>
                </a:pPr>
                <a:r>
                  <a:rPr lang="zh-CN" altLang="en-US" sz="2000" b="1">
                    <a:solidFill>
                      <a:srgbClr val="660066"/>
                    </a:solidFill>
                  </a:rPr>
                  <a:t>汇报了估计参数与可观测的现实变量的相关性</a:t>
                </a:r>
                <a:r>
                  <a:rPr lang="en-US" altLang="zh-CN" sz="2000" b="1">
                    <a:solidFill>
                      <a:srgbClr val="660066"/>
                    </a:solidFill>
                  </a:rPr>
                  <a:t>：</a:t>
                </a:r>
                <a:r>
                  <a:rPr lang="zh-CN" altLang="en-US" sz="2000"/>
                  <a:t>除了具体的估计数值外</a:t>
                </a:r>
                <a:r>
                  <a:rPr lang="en-US" altLang="zh-CN" sz="2000"/>
                  <a:t>，</a:t>
                </a:r>
                <a:r>
                  <a:rPr lang="zh-CN" altLang="en-US" sz="2000"/>
                  <a:t>同时汇报了结构估计得到的参数与代理指标存在相关关系，说明估计结果具备一定的经济含义</a:t>
                </a:r>
                <a:r>
                  <a:rPr lang="en-US" altLang="zh-CN" sz="2000"/>
                  <a:t>，</a:t>
                </a:r>
                <a:r>
                  <a:rPr lang="zh-CN" altLang="en-US" sz="2000"/>
                  <a:t>能够捕捉到真实经济特征。</a:t>
                </a:r>
                <a:endParaRPr lang="zh-CN" altLang="en-US" sz="2000"/>
              </a:p>
              <a:p>
                <a:pPr marL="285750" indent="-285750">
                  <a:buFont typeface="Arial" panose="020B0604020202090204" pitchFamily="34" charset="0"/>
                  <a:buChar char="•"/>
                </a:pPr>
                <a:endParaRPr lang="zh-CN" altLang="en-US" sz="2000"/>
              </a:p>
              <a:p>
                <a:pPr marL="285750" indent="-285750">
                  <a:buFont typeface="Arial" panose="020B0604020202090204" pitchFamily="34" charset="0"/>
                  <a:buChar char="•"/>
                </a:pPr>
                <a:r>
                  <a:rPr lang="zh-CN" altLang="en-US" sz="2000" b="1">
                    <a:solidFill>
                      <a:srgbClr val="660066"/>
                    </a:solidFill>
                    <a:sym typeface="+mn-ea"/>
                  </a:rPr>
                  <a:t>其中</a:t>
                </a:r>
                <a:r>
                  <a:rPr lang="en-US" altLang="zh-CN" sz="2000" b="1">
                    <a:solidFill>
                      <a:srgbClr val="660066"/>
                    </a:solidFill>
                    <a:sym typeface="+mn-ea"/>
                  </a:rPr>
                  <a:t>，</a:t>
                </a:r>
                <a:r>
                  <a:rPr lang="zh-CN" altLang="en-US" sz="2000" b="1">
                    <a:solidFill>
                      <a:srgbClr val="660066"/>
                    </a:solidFill>
                    <a:sym typeface="+mn-ea"/>
                  </a:rPr>
                  <a:t>以非参数估计得到</a:t>
                </a:r>
                <a14:m>
                  <m:oMath xmlns:m="http://schemas.openxmlformats.org/officeDocument/2006/math">
                    <m:sSub>
                      <m:sSubPr>
                        <m:ctrlPr>
                          <a:rPr lang="zh-CN" altLang="en-US" sz="2000" b="1">
                            <a:solidFill>
                              <a:srgbClr val="660066"/>
                            </a:solidFill>
                          </a:rPr>
                        </m:ctrlPr>
                      </m:sSubPr>
                      <m:e>
                        <m:r>
                          <a:rPr lang="zh-CN" altLang="en-US" sz="2000" b="1">
                            <a:solidFill>
                              <a:srgbClr val="660066"/>
                            </a:solidFill>
                            <a:latin typeface="DejaVu Math TeX Gyre" panose="02000503000000000000" charset="0"/>
                          </a:rPr>
                          <m:t>𝝉</m:t>
                        </m:r>
                      </m:e>
                      <m:sub>
                        <m:r>
                          <a:rPr lang="zh-CN" altLang="en-US" sz="2000" b="1">
                            <a:solidFill>
                              <a:srgbClr val="660066"/>
                            </a:solidFill>
                            <a:latin typeface="DejaVu Math TeX Gyre" panose="02000503000000000000" charset="0"/>
                          </a:rPr>
                          <m:t>𝒐𝒅</m:t>
                        </m:r>
                      </m:sub>
                    </m:sSub>
                  </m:oMath>
                </a14:m>
                <a:r>
                  <a:rPr lang="zh-CN" altLang="en-US" sz="2000" b="1">
                    <a:solidFill>
                      <a:srgbClr val="660066"/>
                    </a:solidFill>
                  </a:rPr>
                  <a:t>与距离的相关性</a:t>
                </a:r>
                <a:r>
                  <a:rPr lang="zh-CN" altLang="en-US" sz="2000" b="1">
                    <a:solidFill>
                      <a:srgbClr val="660066"/>
                    </a:solidFill>
                    <a:sym typeface="+mn-ea"/>
                  </a:rPr>
                  <a:t>：</a:t>
                </a:r>
                <a:r>
                  <a:rPr lang="zh-CN" altLang="en-US" sz="2000">
                    <a:sym typeface="+mn-ea"/>
                  </a:rPr>
                  <a:t>在估计</a:t>
                </a:r>
                <a14:m>
                  <m:oMath xmlns:m="http://schemas.openxmlformats.org/officeDocument/2006/math">
                    <m:sSub>
                      <m:sSubPr>
                        <m:ctrlPr>
                          <a:rPr lang="zh-CN" altLang="en-US" sz="2000" kern="100" dirty="0">
                            <a:effectLst/>
                            <a:latin typeface="Times New Roman" panose="02020503050405090304" pitchFamily="18" charset="0"/>
                          </a:rPr>
                        </m:ctrlPr>
                      </m:sSubPr>
                      <m:e>
                        <m:r>
                          <a:rPr lang="zh-CN" altLang="en-US" sz="2000" kern="100" dirty="0">
                            <a:effectLst/>
                            <a:latin typeface="Times New Roman" panose="02020503050405090304" pitchFamily="18" charset="0"/>
                          </a:rPr>
                          <m:t>𝝉</m:t>
                        </m:r>
                      </m:e>
                      <m:sub>
                        <m:r>
                          <a:rPr lang="zh-CN" altLang="en-US" sz="2000" kern="100" dirty="0">
                            <a:effectLst/>
                            <a:latin typeface="Times New Roman" panose="02020503050405090304" pitchFamily="18" charset="0"/>
                          </a:rPr>
                          <m:t>𝒐𝒅</m:t>
                        </m:r>
                      </m:sub>
                    </m:sSub>
                  </m:oMath>
                </a14:m>
                <a:r>
                  <a:rPr lang="zh-CN" altLang="en-US" sz="2000">
                    <a:sym typeface="+mn-ea"/>
                  </a:rPr>
                  <a:t>时</a:t>
                </a:r>
                <a:r>
                  <a:rPr lang="en-US" altLang="zh-CN" sz="2000">
                    <a:sym typeface="+mn-ea"/>
                  </a:rPr>
                  <a:t>，</a:t>
                </a:r>
                <a:r>
                  <a:rPr lang="zh-CN" altLang="en-US" sz="2000">
                    <a:sym typeface="+mn-ea"/>
                  </a:rPr>
                  <a:t>只假设了对称性</a:t>
                </a:r>
                <a:r>
                  <a:rPr lang="en-US" altLang="zh-CN" sz="2000">
                    <a:sym typeface="+mn-ea"/>
                  </a:rPr>
                  <a:t>、</a:t>
                </a:r>
                <a:r>
                  <a:rPr lang="zh-CN" altLang="en-US" sz="2000">
                    <a:sym typeface="+mn-ea"/>
                  </a:rPr>
                  <a:t>留在原地零迁移成本</a:t>
                </a:r>
                <a:r>
                  <a:rPr lang="en-US" altLang="zh-CN" sz="2000">
                    <a:sym typeface="+mn-ea"/>
                  </a:rPr>
                  <a:t>，</a:t>
                </a:r>
                <a:r>
                  <a:rPr lang="zh-CN" altLang="en-US" sz="2000" kern="100" dirty="0">
                    <a:effectLst/>
                    <a:latin typeface="Times New Roman" panose="02020503050405090304" pitchFamily="18" charset="0"/>
                    <a:sym typeface="+mn-ea"/>
                  </a:rPr>
                  <a:t>不预设跟距离之间的函数形式</a:t>
                </a:r>
                <a:r>
                  <a:rPr lang="en-US" altLang="zh-CN" sz="2000" kern="100" dirty="0">
                    <a:effectLst/>
                    <a:latin typeface="Times New Roman" panose="02020503050405090304" pitchFamily="18" charset="0"/>
                    <a:sym typeface="+mn-ea"/>
                  </a:rPr>
                  <a:t>，</a:t>
                </a:r>
                <a:r>
                  <a:rPr lang="zh-CN" altLang="en-US" sz="2000" kern="100" dirty="0">
                    <a:effectLst/>
                    <a:latin typeface="Times New Roman" panose="02020503050405090304" pitchFamily="18" charset="0"/>
                    <a:sym typeface="+mn-ea"/>
                  </a:rPr>
                  <a:t>在这一前提下</a:t>
                </a:r>
                <a:r>
                  <a:rPr lang="en-US" altLang="zh-CN" sz="2000" kern="100" dirty="0">
                    <a:effectLst/>
                    <a:latin typeface="Times New Roman" panose="02020503050405090304" pitchFamily="18" charset="0"/>
                    <a:sym typeface="+mn-ea"/>
                  </a:rPr>
                  <a:t>，</a:t>
                </a:r>
                <a:r>
                  <a:rPr lang="zh-CN" altLang="en-US" sz="2000" kern="100" dirty="0">
                    <a:effectLst/>
                    <a:latin typeface="Times New Roman" panose="02020503050405090304" pitchFamily="18" charset="0"/>
                    <a:sym typeface="+mn-ea"/>
                  </a:rPr>
                  <a:t>如果估计的</a:t>
                </a:r>
                <a14:m>
                  <m:oMath xmlns:m="http://schemas.openxmlformats.org/officeDocument/2006/math">
                    <m:sSub>
                      <m:sSubPr>
                        <m:ctrlPr>
                          <a:rPr lang="zh-CN" altLang="en-US" sz="2000" kern="100" dirty="0">
                            <a:effectLst/>
                            <a:latin typeface="Times New Roman" panose="02020503050405090304" pitchFamily="18" charset="0"/>
                          </a:rPr>
                        </m:ctrlPr>
                      </m:sSubPr>
                      <m:e>
                        <m:r>
                          <a:rPr lang="zh-CN" altLang="en-US" sz="2000" kern="100" dirty="0">
                            <a:effectLst/>
                            <a:latin typeface="Times New Roman" panose="02020503050405090304" pitchFamily="18" charset="0"/>
                          </a:rPr>
                          <m:t>𝝉</m:t>
                        </m:r>
                      </m:e>
                      <m:sub>
                        <m:r>
                          <a:rPr lang="zh-CN" altLang="en-US" sz="2000" kern="100" dirty="0">
                            <a:effectLst/>
                            <a:latin typeface="Times New Roman" panose="02020503050405090304" pitchFamily="18" charset="0"/>
                          </a:rPr>
                          <m:t>𝒐𝒅</m:t>
                        </m:r>
                      </m:sub>
                    </m:sSub>
                  </m:oMath>
                </a14:m>
                <a:r>
                  <a:rPr lang="zh-CN" altLang="en-US" sz="2000" kern="100" dirty="0">
                    <a:effectLst/>
                    <a:latin typeface="Times New Roman" panose="02020503050405090304" pitchFamily="18" charset="0"/>
                    <a:sym typeface="+mn-ea"/>
                  </a:rPr>
                  <a:t>与地理距离正相关</a:t>
                </a:r>
                <a:r>
                  <a:rPr lang="en-US" altLang="zh-CN" sz="2000" kern="100" dirty="0">
                    <a:effectLst/>
                    <a:uFillTx/>
                    <a:latin typeface="Times New Roman" panose="02020503050405090304" pitchFamily="18" charset="0"/>
                    <a:ea typeface="楷体" charset="0"/>
                    <a:cs typeface="DejaVu Math TeX Gyre" panose="02000503000000000000" charset="0"/>
                    <a:sym typeface="+mn-ea"/>
                  </a:rPr>
                  <a:t>→</a:t>
                </a:r>
                <a:r>
                  <a:rPr lang="zh-CN" altLang="en-US" sz="2000" kern="100" dirty="0">
                    <a:effectLst/>
                    <a:uFillTx/>
                    <a:latin typeface="Times New Roman" panose="02020503050405090304" pitchFamily="18" charset="0"/>
                    <a:ea typeface="楷体" charset="0"/>
                    <a:cs typeface="DejaVu Math TeX Gyre" panose="02000503000000000000" charset="0"/>
                    <a:sym typeface="+mn-ea"/>
                  </a:rPr>
                  <a:t>迁移成本的估计可信</a:t>
                </a:r>
                <a:r>
                  <a:rPr lang="en-US" altLang="zh-CN" sz="2000" kern="100" dirty="0">
                    <a:effectLst/>
                    <a:uFillTx/>
                    <a:latin typeface="Times New Roman" panose="02020503050405090304" pitchFamily="18" charset="0"/>
                    <a:ea typeface="楷体" charset="0"/>
                    <a:cs typeface="DejaVu Math TeX Gyre" panose="02000503000000000000" charset="0"/>
                    <a:sym typeface="+mn-ea"/>
                  </a:rPr>
                  <a:t>。</a:t>
                </a:r>
                <a:endParaRPr lang="zh-CN" altLang="en-US" sz="2000"/>
              </a:p>
              <a:p>
                <a:pPr indent="0">
                  <a:buFont typeface="Arial" panose="020B0604020202090204" pitchFamily="34" charset="0"/>
                  <a:buNone/>
                </a:pPr>
                <a:endParaRPr lang="zh-CN" altLang="en-US" sz="2000"/>
              </a:p>
              <a:p>
                <a:pPr marL="285750" indent="-285750">
                  <a:buFont typeface="Arial" panose="020B0604020202090204" pitchFamily="34" charset="0"/>
                  <a:buChar char="•"/>
                </a:pPr>
                <a:r>
                  <a:rPr lang="zh-CN" altLang="en-US" sz="2000" b="1">
                    <a:solidFill>
                      <a:srgbClr val="660066"/>
                    </a:solidFill>
                    <a:sym typeface="+mn-ea"/>
                  </a:rPr>
                  <a:t>同时给出印度尼西亚与美国两组估计结果：</a:t>
                </a:r>
                <a:r>
                  <a:rPr lang="zh-CN" altLang="en-US" sz="2000">
                    <a:sym typeface="+mn-ea"/>
                  </a:rPr>
                  <a:t>利用模型估算美国国内的流动成本，以此构造高流动性经济体的反事实情况</a:t>
                </a:r>
                <a:r>
                  <a:rPr lang="en-US" altLang="zh-CN" sz="2000">
                    <a:sym typeface="+mn-ea"/>
                  </a:rPr>
                  <a:t>。</a:t>
                </a:r>
                <a:endParaRPr lang="en-US" altLang="zh-CN" sz="2000">
                  <a:sym typeface="+mn-ea"/>
                </a:endParaRPr>
              </a:p>
              <a:p>
                <a:pPr indent="0">
                  <a:buFont typeface="Arial" panose="020B0604020202090204" pitchFamily="34" charset="0"/>
                  <a:buNone/>
                </a:pPr>
                <a:endParaRPr lang="zh-CN" altLang="en-US" sz="2000" kern="100" dirty="0">
                  <a:solidFill>
                    <a:schemeClr val="tx1"/>
                  </a:solidFill>
                  <a:effectLst/>
                  <a:latin typeface="Times New Roman" panose="02020503050405090304" pitchFamily="18" charset="0"/>
                </a:endParaRPr>
              </a:p>
              <a:p>
                <a:pPr marL="285750" indent="-285750">
                  <a:buFont typeface="Arial" panose="020B0604020202090204" pitchFamily="34" charset="0"/>
                  <a:buChar char="•"/>
                </a:pPr>
                <a:r>
                  <a:rPr lang="zh-CN" altLang="en-US" sz="2000" b="1">
                    <a:solidFill>
                      <a:srgbClr val="660066"/>
                    </a:solidFill>
                    <a:sym typeface="+mn-ea"/>
                  </a:rPr>
                  <a:t>本节的估计不依赖对一般均衡参数预先设定取值</a:t>
                </a:r>
                <a:r>
                  <a:rPr lang="en-US" altLang="zh-CN" sz="2000" b="1">
                    <a:solidFill>
                      <a:srgbClr val="660066"/>
                    </a:solidFill>
                    <a:sym typeface="+mn-ea"/>
                  </a:rPr>
                  <a:t>：</a:t>
                </a:r>
                <a:r>
                  <a:rPr lang="zh-CN" altLang="en-US" sz="2000">
                    <a:sym typeface="+mn-ea"/>
                  </a:rPr>
                  <a:t>在反事实部分会详细讨论参数的校准方式与稳健性检验</a:t>
                </a:r>
                <a:r>
                  <a:rPr lang="en-US" altLang="zh-CN" sz="2000">
                    <a:sym typeface="+mn-ea"/>
                  </a:rPr>
                  <a:t>。</a:t>
                </a:r>
                <a:endParaRPr lang="zh-CN" altLang="en-US" sz="2000"/>
              </a:p>
            </p:txBody>
          </p:sp>
        </mc:Choice>
        <mc:Fallback>
          <p:sp>
            <p:nvSpPr>
              <p:cNvPr id="6" name="文本框 5"/>
              <p:cNvSpPr txBox="1">
                <a:spLocks noRot="1" noChangeAspect="1" noMove="1" noResize="1" noEditPoints="1" noAdjustHandles="1" noChangeArrowheads="1" noChangeShapeType="1" noTextEdit="1"/>
              </p:cNvSpPr>
              <p:nvPr/>
            </p:nvSpPr>
            <p:spPr>
              <a:xfrm>
                <a:off x="2345690" y="1586865"/>
                <a:ext cx="8589645" cy="415798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估计结果</a:t>
                </a:r>
                <a:r>
                  <a:rPr lang="en-US" altLang="zh-CN" sz="2800" b="1" dirty="0">
                    <a:latin typeface="+mn-lt"/>
                  </a:rPr>
                  <a:t>：</a:t>
                </a:r>
                <a:r>
                  <a:rPr lang="en-US" altLang="zh-CN" sz="2800" b="1" dirty="0">
                    <a:latin typeface="+mn-lt"/>
                    <a:sym typeface="+mn-ea"/>
                  </a:rPr>
                  <a:t>Fr</a:t>
                </a:r>
                <a:r>
                  <a:rPr lang="en-US" altLang="en-US" sz="2800" b="1" dirty="0">
                    <a:latin typeface="+mn-lt"/>
                    <a:sym typeface="+mn-ea"/>
                  </a:rPr>
                  <a:t>é</a:t>
                </a:r>
                <a:r>
                  <a:rPr lang="en-US" altLang="zh-CN" sz="2800" b="1" dirty="0">
                    <a:latin typeface="+mn-lt"/>
                    <a:sym typeface="+mn-ea"/>
                  </a:rPr>
                  <a:t>chet </a:t>
                </a:r>
                <a:r>
                  <a:rPr lang="zh-CN" altLang="en-US" sz="2800" b="1" dirty="0">
                    <a:latin typeface="+mn-lt"/>
                    <a:sym typeface="+mn-ea"/>
                  </a:rPr>
                  <a:t>参数 {</a:t>
                </a:r>
                <a14:m>
                  <m:oMath xmlns:m="http://schemas.openxmlformats.org/officeDocument/2006/math">
                    <m:r>
                      <a:rPr lang="en-US" altLang="zh-CN" sz="2800" b="1" i="1" dirty="0">
                        <a:latin typeface="DejaVu Math TeX Gyre" panose="02000503000000000000" charset="0"/>
                        <a:cs typeface="DejaVu Math TeX Gyre" panose="02000503000000000000" charset="0"/>
                      </a:rPr>
                      <m:t>𝜽</m:t>
                    </m:r>
                  </m:oMath>
                </a14:m>
                <a:r>
                  <a:rPr lang="en-US" altLang="zh-CN" sz="2800" b="1" i="1" dirty="0">
                    <a:latin typeface="+mn-lt"/>
                    <a:sym typeface="+mn-ea"/>
                  </a:rPr>
                  <a:t>, </a:t>
                </a:r>
                <a14:m>
                  <m:oMath xmlns:m="http://schemas.openxmlformats.org/officeDocument/2006/math">
                    <m:r>
                      <a:rPr lang="en-US" altLang="zh-CN" sz="2800" b="1" i="1" dirty="0">
                        <a:latin typeface="DejaVu Math TeX Gyre" panose="02000503000000000000" charset="0"/>
                        <a:cs typeface="DejaVu Math TeX Gyre" panose="02000503000000000000" charset="0"/>
                        <a:sym typeface="+mn-ea"/>
                      </a:rPr>
                      <m:t>𝝆</m:t>
                    </m:r>
                  </m:oMath>
                </a14:m>
                <a:r>
                  <a:rPr lang="en-US" altLang="zh-CN" sz="2800" b="1" dirty="0">
                    <a:latin typeface="+mn-lt"/>
                    <a:sym typeface="+mn-ea"/>
                  </a:rPr>
                  <a:t>}</a:t>
                </a:r>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3.4</a:t>
            </a:r>
            <a:endParaRPr lang="zh-CN" altLang="en-US" b="1">
              <a:solidFill>
                <a:schemeClr val="bg1"/>
              </a:solidFill>
            </a:endParaRPr>
          </a:p>
        </p:txBody>
      </p:sp>
      <p:pic>
        <p:nvPicPr>
          <p:cNvPr id="4" name="图片 3"/>
          <p:cNvPicPr>
            <a:picLocks noChangeAspect="1"/>
          </p:cNvPicPr>
          <p:nvPr/>
        </p:nvPicPr>
        <p:blipFill>
          <a:blip r:embed="rId2"/>
          <a:srcRect b="25976"/>
          <a:stretch>
            <a:fillRect/>
          </a:stretch>
        </p:blipFill>
        <p:spPr>
          <a:xfrm>
            <a:off x="1965960" y="1183640"/>
            <a:ext cx="4721225" cy="1891030"/>
          </a:xfrm>
          <a:prstGeom prst="rect">
            <a:avLst/>
          </a:prstGeom>
        </p:spPr>
      </p:pic>
      <p:pic>
        <p:nvPicPr>
          <p:cNvPr id="5" name="图片 4"/>
          <p:cNvPicPr>
            <a:picLocks noChangeAspect="1"/>
          </p:cNvPicPr>
          <p:nvPr/>
        </p:nvPicPr>
        <p:blipFill>
          <a:blip r:embed="rId3"/>
          <a:stretch>
            <a:fillRect/>
          </a:stretch>
        </p:blipFill>
        <p:spPr>
          <a:xfrm>
            <a:off x="2446655" y="3181985"/>
            <a:ext cx="3759200" cy="3181985"/>
          </a:xfrm>
          <a:prstGeom prst="rect">
            <a:avLst/>
          </a:prstGeom>
        </p:spPr>
      </p:pic>
      <mc:AlternateContent xmlns:mc="http://schemas.openxmlformats.org/markup-compatibility/2006">
        <mc:Choice xmlns:a14="http://schemas.microsoft.com/office/drawing/2010/main" Requires="a14">
          <p:sp>
            <p:nvSpPr>
              <p:cNvPr id="11" name="文本框 10"/>
              <p:cNvSpPr txBox="1"/>
              <p:nvPr/>
            </p:nvSpPr>
            <p:spPr>
              <a:xfrm>
                <a:off x="7040880" y="2924175"/>
                <a:ext cx="4550410" cy="1426845"/>
              </a:xfrm>
              <a:prstGeom prst="rect">
                <a:avLst/>
              </a:prstGeom>
              <a:noFill/>
            </p:spPr>
            <p:txBody>
              <a:bodyPr wrap="square" rtlCol="0" anchor="ctr" anchorCtr="0">
                <a:noAutofit/>
              </a:bodyPr>
              <a:p>
                <a:pPr marL="285750" indent="-285750">
                  <a:lnSpc>
                    <a:spcPct val="125000"/>
                  </a:lnSpc>
                  <a:spcBef>
                    <a:spcPts val="0"/>
                  </a:spcBef>
                  <a:spcAft>
                    <a:spcPts val="0"/>
                  </a:spcAft>
                  <a:buFont typeface="Arial" panose="020B0604020202090204" pitchFamily="34" charset="0"/>
                  <a:buChar char="•"/>
                </a:pPr>
                <a:r>
                  <a:rPr lang="zh-CN" altLang="en-US" sz="1600"/>
                  <a:t>技能水平离散程度</a:t>
                </a:r>
                <a14:m>
                  <m:oMath xmlns:m="http://schemas.openxmlformats.org/officeDocument/2006/math">
                    <m:r>
                      <a:rPr lang="en-US" altLang="zh-CN" sz="1600">
                        <a:latin typeface="DejaVu Math TeX Gyre" panose="02000503000000000000" charset="0"/>
                        <a:ea typeface="宋体" charset="0"/>
                        <a:cs typeface="DejaVu Math TeX Gyre" panose="02000503000000000000" charset="0"/>
                      </a:rPr>
                      <m:t>𝜃</m:t>
                    </m:r>
                  </m:oMath>
                </a14:m>
                <a:r>
                  <a:rPr lang="en-US" altLang="zh-CN" sz="1600"/>
                  <a:t>：</a:t>
                </a:r>
                <a:r>
                  <a:rPr lang="zh-CN" altLang="en-US" sz="1600"/>
                  <a:t>印尼</a:t>
                </a:r>
                <a:r>
                  <a:rPr lang="en-US" altLang="zh-CN" sz="1600"/>
                  <a:t>12.5、</a:t>
                </a:r>
                <a:r>
                  <a:rPr lang="zh-CN" altLang="en-US" sz="1600"/>
                  <a:t>美国</a:t>
                </a:r>
                <a:r>
                  <a:rPr lang="en-US" altLang="zh-CN" sz="1600"/>
                  <a:t>27.6</a:t>
                </a:r>
                <a:endParaRPr lang="en-US" altLang="zh-CN" sz="1600"/>
              </a:p>
              <a:p>
                <a:pPr marL="285750" lvl="1" indent="-285750" algn="l">
                  <a:lnSpc>
                    <a:spcPct val="125000"/>
                  </a:lnSpc>
                  <a:spcBef>
                    <a:spcPts val="0"/>
                  </a:spcBef>
                  <a:spcAft>
                    <a:spcPts val="0"/>
                  </a:spcAft>
                  <a:buClrTx/>
                  <a:buSzTx/>
                  <a:buFont typeface="Wingdings" panose="05000000000000000000" charset="0"/>
                  <a:buChar char=""/>
                </a:pPr>
                <a:r>
                  <a:rPr lang="zh-CN" altLang="en-US" sz="1600">
                    <a:solidFill>
                      <a:schemeClr val="accent3"/>
                    </a:solidFill>
                  </a:rPr>
                  <a:t>印尼的样本中，技能水平离散程度更高</a:t>
                </a:r>
                <a:endParaRPr lang="zh-CN" altLang="en-US" sz="1600">
                  <a:solidFill>
                    <a:schemeClr val="accent3"/>
                  </a:solidFill>
                </a:endParaRPr>
              </a:p>
              <a:p>
                <a:pPr marL="285750" indent="-285750">
                  <a:lnSpc>
                    <a:spcPct val="125000"/>
                  </a:lnSpc>
                  <a:spcBef>
                    <a:spcPts val="0"/>
                  </a:spcBef>
                  <a:spcAft>
                    <a:spcPts val="0"/>
                  </a:spcAft>
                  <a:buFont typeface="Arial" panose="020B0604020202090204" pitchFamily="34" charset="0"/>
                  <a:buChar char="•"/>
                </a:pPr>
                <a:r>
                  <a:rPr lang="zh-CN" altLang="en-US" sz="1600"/>
                  <a:t>技能跨地点相关性</a:t>
                </a:r>
                <a14:m>
                  <m:oMath xmlns:m="http://schemas.openxmlformats.org/officeDocument/2006/math">
                    <m:r>
                      <a:rPr lang="en-US" altLang="zh-CN" sz="1600">
                        <a:latin typeface="DejaVu Math TeX Gyre" panose="02000503000000000000" charset="0"/>
                        <a:ea typeface="宋体" charset="0"/>
                        <a:cs typeface="DejaVu Math TeX Gyre" panose="02000503000000000000" charset="0"/>
                      </a:rPr>
                      <m:t>𝜌</m:t>
                    </m:r>
                  </m:oMath>
                </a14:m>
                <a:r>
                  <a:rPr lang="en-US" altLang="zh-CN" sz="1600"/>
                  <a:t>：</a:t>
                </a:r>
                <a:r>
                  <a:rPr lang="zh-CN" altLang="en-US" sz="1600"/>
                  <a:t>印尼</a:t>
                </a:r>
                <a:r>
                  <a:rPr lang="en-US" altLang="zh-CN" sz="1600"/>
                  <a:t>0.74、</a:t>
                </a:r>
                <a:r>
                  <a:rPr lang="zh-CN" altLang="en-US" sz="1600"/>
                  <a:t>美国</a:t>
                </a:r>
                <a:r>
                  <a:rPr lang="en-US" altLang="zh-CN" sz="1600"/>
                  <a:t>0.90</a:t>
                </a:r>
                <a:endParaRPr lang="en-US" altLang="zh-CN" sz="1600"/>
              </a:p>
              <a:p>
                <a:pPr marL="285750" lvl="1" indent="-285750" algn="l">
                  <a:lnSpc>
                    <a:spcPct val="125000"/>
                  </a:lnSpc>
                  <a:spcBef>
                    <a:spcPts val="0"/>
                  </a:spcBef>
                  <a:spcAft>
                    <a:spcPts val="0"/>
                  </a:spcAft>
                  <a:buClrTx/>
                  <a:buSzTx/>
                  <a:buFont typeface="Wingdings" panose="05000000000000000000" charset="0"/>
                  <a:buChar char=""/>
                </a:pPr>
                <a:r>
                  <a:rPr lang="zh-CN" altLang="en-US" sz="1600">
                    <a:solidFill>
                      <a:schemeClr val="accent3"/>
                    </a:solidFill>
                  </a:rPr>
                  <a:t>美国的样本中，相关性更高</a:t>
                </a:r>
                <a:endParaRPr lang="zh-CN" altLang="en-US" sz="1600">
                  <a:solidFill>
                    <a:schemeClr val="accent3"/>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7040880" y="2924175"/>
                <a:ext cx="4550410" cy="142684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040880" y="1327150"/>
                <a:ext cx="4549775" cy="289560"/>
              </a:xfrm>
              <a:prstGeom prst="rect">
                <a:avLst/>
              </a:prstGeom>
              <a:solidFill>
                <a:srgbClr val="69025E"/>
              </a:solidFill>
            </p:spPr>
            <p:txBody>
              <a:bodyPr wrap="square" anchor="ctr" anchorCtr="0">
                <a:noAutofit/>
              </a:bodyPr>
              <a:lstStyle/>
              <a:p>
                <a:pPr algn="ctr"/>
                <a14:m>
                  <m:oMathPara xmlns:m="http://schemas.openxmlformats.org/officeDocument/2006/math">
                    <m:oMathParaPr>
                      <m:jc m:val="centerGroup"/>
                    </m:oMathParaPr>
                    <m:oMath xmlns:m="http://schemas.openxmlformats.org/officeDocument/2006/math">
                      <m:r>
                        <a:rPr lang="en-US" altLang="zh-CN" i="1" dirty="0">
                          <a:solidFill>
                            <a:schemeClr val="bg1"/>
                          </a:solidFill>
                          <a:latin typeface="DejaVu Math TeX Gyre" panose="02000503000000000000" charset="0"/>
                          <a:cs typeface="DejaVu Math TeX Gyre" panose="02000503000000000000" charset="0"/>
                        </a:rPr>
                        <m:t>𝜃</m:t>
                      </m:r>
                      <m:r>
                        <a:rPr lang="en-US" altLang="zh-CN" i="1" dirty="0">
                          <a:solidFill>
                            <a:schemeClr val="bg1"/>
                          </a:solidFill>
                          <a:latin typeface="DejaVu Math TeX Gyre" panose="02000503000000000000" charset="0"/>
                          <a:cs typeface="DejaVu Math TeX Gyre" panose="02000503000000000000" charset="0"/>
                        </a:rPr>
                        <m:t>(</m:t>
                      </m:r>
                      <m:r>
                        <a:rPr lang="en-US" altLang="zh-CN" i="1" dirty="0">
                          <a:solidFill>
                            <a:schemeClr val="bg1"/>
                          </a:solidFill>
                          <a:latin typeface="DejaVu Math TeX Gyre" panose="02000503000000000000" charset="0"/>
                          <a:cs typeface="DejaVu Math TeX Gyre" panose="02000503000000000000" charset="0"/>
                        </a:rPr>
                        <m:t>1</m:t>
                      </m:r>
                      <m:r>
                        <a:rPr lang="en-US" altLang="zh-CN" i="1" dirty="0">
                          <a:solidFill>
                            <a:schemeClr val="bg1"/>
                          </a:solidFill>
                          <a:latin typeface="DejaVu Math TeX Gyre" panose="02000503000000000000" charset="0"/>
                          <a:cs typeface="DejaVu Math TeX Gyre" panose="02000503000000000000" charset="0"/>
                        </a:rPr>
                        <m:t>−</m:t>
                      </m:r>
                      <m:r>
                        <a:rPr lang="en-US" altLang="zh-CN" i="1" dirty="0">
                          <a:solidFill>
                            <a:schemeClr val="bg1"/>
                          </a:solidFill>
                          <a:latin typeface="DejaVu Math TeX Gyre" panose="02000503000000000000" charset="0"/>
                          <a:ea typeface="宋体" charset="0"/>
                          <a:cs typeface="DejaVu Math TeX Gyre" panose="02000503000000000000" charset="0"/>
                          <a:sym typeface="+mn-ea"/>
                        </a:rPr>
                        <m:t>𝜌</m:t>
                      </m:r>
                      <m:r>
                        <a:rPr lang="en-US" altLang="zh-CN" i="1" dirty="0">
                          <a:solidFill>
                            <a:schemeClr val="bg1"/>
                          </a:solidFill>
                          <a:latin typeface="DejaVu Math TeX Gyre" panose="02000503000000000000" charset="0"/>
                          <a:ea typeface="宋体" charset="0"/>
                          <a:cs typeface="DejaVu Math TeX Gyre" panose="02000503000000000000" charset="0"/>
                          <a:sym typeface="+mn-ea"/>
                        </a:rPr>
                        <m:t>)</m:t>
                      </m:r>
                    </m:oMath>
                  </m:oMathPara>
                </a14:m>
                <a:endParaRPr lang="zh-CN" altLang="en-US" dirty="0">
                  <a:solidFill>
                    <a:schemeClr val="bg1"/>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040880" y="1327150"/>
                <a:ext cx="4549775" cy="289560"/>
              </a:xfrm>
              <a:prstGeom prst="rect">
                <a:avLst/>
              </a:prstGeom>
              <a:blipFill rotWithShape="1">
                <a:blip r:embed="rId5"/>
                <a:stretch>
                  <a:fillRect/>
                </a:stretch>
              </a:blipFill>
            </p:spPr>
            <p:txBody>
              <a:bodyPr/>
              <a:lstStyle/>
              <a:p>
                <a:r>
                  <a:rPr lang="zh-CN" altLang="en-US">
                    <a:noFill/>
                  </a:rPr>
                  <a:t> </a:t>
                </a:r>
              </a:p>
            </p:txBody>
          </p:sp>
        </mc:Fallback>
      </mc:AlternateContent>
      <p:sp>
        <p:nvSpPr>
          <p:cNvPr id="15" name="文本框 14"/>
          <p:cNvSpPr txBox="1"/>
          <p:nvPr/>
        </p:nvSpPr>
        <p:spPr>
          <a:xfrm>
            <a:off x="7040880" y="1616710"/>
            <a:ext cx="4550410" cy="1012190"/>
          </a:xfrm>
          <a:prstGeom prst="rect">
            <a:avLst/>
          </a:prstGeom>
          <a:noFill/>
        </p:spPr>
        <p:txBody>
          <a:bodyPr wrap="square" rtlCol="0">
            <a:noAutofit/>
          </a:bodyPr>
          <a:p>
            <a:pPr marL="285750" indent="-285750">
              <a:lnSpc>
                <a:spcPct val="125000"/>
              </a:lnSpc>
              <a:spcBef>
                <a:spcPts val="0"/>
              </a:spcBef>
              <a:spcAft>
                <a:spcPts val="0"/>
              </a:spcAft>
              <a:buFont typeface="Arial" panose="020B0604020202090204" pitchFamily="34" charset="0"/>
              <a:buChar char="•"/>
            </a:pPr>
            <a:r>
              <a:rPr lang="zh-CN" altLang="en-US" sz="1600">
                <a:solidFill>
                  <a:schemeClr val="tx1"/>
                </a:solidFill>
              </a:rPr>
              <a:t>技能水平分布形状的参数：印尼</a:t>
            </a:r>
            <a:r>
              <a:rPr lang="en-US" altLang="zh-CN" sz="1600">
                <a:solidFill>
                  <a:schemeClr val="tx1"/>
                </a:solidFill>
              </a:rPr>
              <a:t>3.18</a:t>
            </a:r>
            <a:r>
              <a:rPr lang="zh-CN" altLang="en-US" sz="1600">
                <a:solidFill>
                  <a:schemeClr val="tx1"/>
                </a:solidFill>
              </a:rPr>
              <a:t>、美国</a:t>
            </a:r>
            <a:r>
              <a:rPr lang="en-US" altLang="zh-CN" sz="1600">
                <a:solidFill>
                  <a:schemeClr val="tx1"/>
                </a:solidFill>
              </a:rPr>
              <a:t>2.69；</a:t>
            </a:r>
            <a:endParaRPr lang="en-US" altLang="zh-CN" sz="1600">
              <a:solidFill>
                <a:schemeClr val="tx1"/>
              </a:solidFill>
            </a:endParaRPr>
          </a:p>
          <a:p>
            <a:pPr marL="285750" indent="-285750">
              <a:lnSpc>
                <a:spcPct val="125000"/>
              </a:lnSpc>
              <a:spcBef>
                <a:spcPts val="0"/>
              </a:spcBef>
              <a:spcAft>
                <a:spcPts val="0"/>
              </a:spcAft>
              <a:buFont typeface="Arial" panose="020B0604020202090204" pitchFamily="34" charset="0"/>
              <a:buChar char="•"/>
            </a:pPr>
            <a:r>
              <a:rPr lang="zh-CN" altLang="en-US" sz="1600">
                <a:solidFill>
                  <a:schemeClr val="tx1"/>
                </a:solidFill>
              </a:rPr>
              <a:t>相关文献估计结果</a:t>
            </a:r>
            <a:r>
              <a:rPr lang="en-US" altLang="zh-CN" sz="1600">
                <a:solidFill>
                  <a:schemeClr val="tx1"/>
                </a:solidFill>
              </a:rPr>
              <a:t>：</a:t>
            </a:r>
            <a:r>
              <a:rPr lang="zh-CN" altLang="en-US" sz="1600">
                <a:solidFill>
                  <a:schemeClr val="tx1"/>
                </a:solidFill>
              </a:rPr>
              <a:t>印尼</a:t>
            </a:r>
            <a:r>
              <a:rPr lang="en-US" altLang="zh-CN" sz="1600">
                <a:solidFill>
                  <a:schemeClr val="tx1"/>
                </a:solidFill>
              </a:rPr>
              <a:t> 2 （Hsieh</a:t>
            </a:r>
            <a:r>
              <a:rPr lang="zh-CN" altLang="en-US" sz="1600">
                <a:solidFill>
                  <a:schemeClr val="tx1"/>
                </a:solidFill>
              </a:rPr>
              <a:t>等</a:t>
            </a:r>
            <a:r>
              <a:rPr lang="en-US" altLang="zh-CN" sz="1600">
                <a:solidFill>
                  <a:schemeClr val="tx1"/>
                </a:solidFill>
              </a:rPr>
              <a:t>，2019）</a:t>
            </a:r>
            <a:endParaRPr lang="en-US" altLang="zh-CN" sz="1600">
              <a:solidFill>
                <a:schemeClr val="tx1"/>
              </a:solidFill>
            </a:endParaRPr>
          </a:p>
          <a:p>
            <a:pPr marL="285750" indent="-285750">
              <a:lnSpc>
                <a:spcPct val="125000"/>
              </a:lnSpc>
              <a:spcBef>
                <a:spcPts val="0"/>
              </a:spcBef>
              <a:spcAft>
                <a:spcPts val="0"/>
              </a:spcAft>
              <a:buFont typeface="Arial" panose="020B0604020202090204" pitchFamily="34" charset="0"/>
              <a:buChar char="•"/>
            </a:pPr>
            <a:endParaRPr lang="zh-CN" altLang="en-US" sz="1600" dirty="0">
              <a:solidFill>
                <a:schemeClr val="tx1"/>
              </a:solidFill>
            </a:endParaRPr>
          </a:p>
        </p:txBody>
      </p:sp>
      <p:sp>
        <p:nvSpPr>
          <p:cNvPr id="18" name="文本框 17"/>
          <p:cNvSpPr txBox="1"/>
          <p:nvPr/>
        </p:nvSpPr>
        <p:spPr>
          <a:xfrm>
            <a:off x="7044055" y="4634230"/>
            <a:ext cx="4550410" cy="1630045"/>
          </a:xfrm>
          <a:prstGeom prst="rect">
            <a:avLst/>
          </a:prstGeom>
          <a:noFill/>
        </p:spPr>
        <p:txBody>
          <a:bodyPr wrap="square" rtlCol="0">
            <a:spAutoFit/>
          </a:bodyPr>
          <a:p>
            <a:pPr marL="285750" indent="-285750">
              <a:lnSpc>
                <a:spcPct val="125000"/>
              </a:lnSpc>
              <a:spcBef>
                <a:spcPts val="0"/>
              </a:spcBef>
              <a:spcAft>
                <a:spcPts val="0"/>
              </a:spcAft>
              <a:buFont typeface="Arial" panose="020B0604020202090204" pitchFamily="34" charset="0"/>
              <a:buChar char="•"/>
            </a:pPr>
            <a:r>
              <a:rPr lang="zh-CN" altLang="en-US" sz="1600"/>
              <a:t>使用上述估计结果</a:t>
            </a:r>
            <a:r>
              <a:rPr lang="en-US" altLang="zh-CN" sz="1600"/>
              <a:t>，</a:t>
            </a:r>
            <a:r>
              <a:rPr lang="zh-CN" altLang="en-US" sz="1600"/>
              <a:t>模拟技能水平分布并</a:t>
            </a:r>
            <a:r>
              <a:rPr lang="zh-CN" altLang="en-US" sz="1600"/>
              <a:t>抽样</a:t>
            </a:r>
            <a:endParaRPr lang="zh-CN" altLang="en-US" sz="1600"/>
          </a:p>
          <a:p>
            <a:pPr marL="285750" indent="-285750">
              <a:lnSpc>
                <a:spcPct val="125000"/>
              </a:lnSpc>
              <a:spcBef>
                <a:spcPts val="0"/>
              </a:spcBef>
              <a:spcAft>
                <a:spcPts val="0"/>
              </a:spcAft>
              <a:buFont typeface="Arial" panose="020B0604020202090204" pitchFamily="34" charset="0"/>
              <a:buChar char="•"/>
            </a:pPr>
            <a:r>
              <a:rPr lang="zh-CN" altLang="en-US" sz="1600"/>
              <a:t>横纵轴分别为国内两个地点的劳动者</a:t>
            </a:r>
            <a:r>
              <a:rPr lang="zh-CN" altLang="en-US" sz="1600"/>
              <a:t>生产率</a:t>
            </a:r>
            <a:endParaRPr lang="zh-CN" altLang="en-US" sz="1600"/>
          </a:p>
          <a:p>
            <a:pPr marL="342900" indent="-342900">
              <a:lnSpc>
                <a:spcPct val="125000"/>
              </a:lnSpc>
              <a:spcBef>
                <a:spcPts val="0"/>
              </a:spcBef>
              <a:spcAft>
                <a:spcPts val="0"/>
              </a:spcAft>
              <a:buFont typeface="+mj-lt"/>
              <a:buAutoNum type="arabicPeriod"/>
            </a:pPr>
            <a:r>
              <a:rPr lang="zh-CN" altLang="en-US" sz="1600"/>
              <a:t>美国的样本点更贴近对角线</a:t>
            </a:r>
            <a:r>
              <a:rPr lang="en-US" altLang="zh-CN" sz="1600"/>
              <a:t>，</a:t>
            </a:r>
            <a:r>
              <a:rPr lang="zh-CN" altLang="en-US" sz="1600"/>
              <a:t>两地之间的相关性更强</a:t>
            </a:r>
            <a:r>
              <a:rPr lang="en-US" altLang="zh-CN" sz="1600"/>
              <a:t>；</a:t>
            </a:r>
            <a:endParaRPr lang="zh-CN" altLang="en-US" sz="1600"/>
          </a:p>
          <a:p>
            <a:pPr marL="342900" indent="-342900">
              <a:lnSpc>
                <a:spcPct val="125000"/>
              </a:lnSpc>
              <a:spcBef>
                <a:spcPts val="0"/>
              </a:spcBef>
              <a:spcAft>
                <a:spcPts val="0"/>
              </a:spcAft>
              <a:buFont typeface="+mj-lt"/>
              <a:buAutoNum type="arabicPeriod"/>
            </a:pPr>
            <a:r>
              <a:rPr lang="zh-CN" altLang="en-US" sz="1600"/>
              <a:t>印尼的点整体离原点更远、尾部更厚</a:t>
            </a:r>
            <a:endParaRPr lang="zh-CN" altLang="en-US" sz="1600"/>
          </a:p>
        </p:txBody>
      </p:sp>
      <p:sp>
        <p:nvSpPr>
          <p:cNvPr id="21" name="矩形 20"/>
          <p:cNvSpPr/>
          <p:nvPr/>
        </p:nvSpPr>
        <p:spPr>
          <a:xfrm>
            <a:off x="1965960" y="2037715"/>
            <a:ext cx="4721225" cy="801370"/>
          </a:xfrm>
          <a:prstGeom prst="rect">
            <a:avLst/>
          </a:prstGeom>
          <a:noFill/>
          <a:ln w="19050">
            <a:solidFill>
              <a:srgbClr val="FF0000">
                <a:alpha val="100000"/>
              </a:srgb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2" name="文本框 21"/>
              <p:cNvSpPr txBox="1"/>
              <p:nvPr/>
            </p:nvSpPr>
            <p:spPr>
              <a:xfrm>
                <a:off x="7042150" y="2710815"/>
                <a:ext cx="4549775" cy="289560"/>
              </a:xfrm>
              <a:prstGeom prst="rect">
                <a:avLst/>
              </a:prstGeom>
              <a:solidFill>
                <a:srgbClr val="69025E"/>
              </a:solidFill>
            </p:spPr>
            <p:txBody>
              <a:bodyPr wrap="square" anchor="ctr" anchorCtr="0">
                <a:noAutofit/>
              </a:bodyPr>
              <a:lstStyle/>
              <a:p>
                <a:pPr algn="ctr"/>
                <a:r>
                  <a:rPr lang="zh-CN" altLang="en-US" dirty="0">
                    <a:solidFill>
                      <a:schemeClr val="bg1"/>
                    </a:solidFill>
                    <a:sym typeface="+mn-ea"/>
                  </a:rPr>
                  <a:t>拆解为</a:t>
                </a:r>
                <a14:m>
                  <m:oMath xmlns:m="http://schemas.openxmlformats.org/officeDocument/2006/math">
                    <m:r>
                      <a:rPr lang="en-US" altLang="zh-CN" i="1" dirty="0">
                        <a:solidFill>
                          <a:schemeClr val="bg1"/>
                        </a:solidFill>
                        <a:latin typeface="DejaVu Math TeX Gyre" panose="02000503000000000000" charset="0"/>
                        <a:cs typeface="DejaVu Math TeX Gyre" panose="02000503000000000000" charset="0"/>
                      </a:rPr>
                      <m:t>𝜃</m:t>
                    </m:r>
                  </m:oMath>
                </a14:m>
                <a:r>
                  <a:rPr lang="en-US" altLang="zh-CN" dirty="0">
                    <a:solidFill>
                      <a:schemeClr val="bg1"/>
                    </a:solidFill>
                    <a:sym typeface="+mn-ea"/>
                  </a:rPr>
                  <a:t>、</a:t>
                </a:r>
                <a14:m>
                  <m:oMath xmlns:m="http://schemas.openxmlformats.org/officeDocument/2006/math">
                    <m:r>
                      <a:rPr lang="en-US" altLang="zh-CN" i="1" dirty="0">
                        <a:solidFill>
                          <a:schemeClr val="bg1"/>
                        </a:solidFill>
                        <a:latin typeface="DejaVu Math TeX Gyre" panose="02000503000000000000" charset="0"/>
                        <a:ea typeface="宋体" charset="0"/>
                        <a:cs typeface="DejaVu Math TeX Gyre" panose="02000503000000000000" charset="0"/>
                        <a:sym typeface="+mn-ea"/>
                      </a:rPr>
                      <m:t>𝜌</m:t>
                    </m:r>
                  </m:oMath>
                </a14:m>
                <a:endParaRPr lang="zh-CN" altLang="en-US" dirty="0">
                  <a:solidFill>
                    <a:schemeClr val="bg1"/>
                  </a:solidFill>
                </a:endParaRPr>
              </a:p>
            </p:txBody>
          </p:sp>
        </mc:Choice>
        <mc:Fallback>
          <p:sp>
            <p:nvSpPr>
              <p:cNvPr id="22" name="文本框 21"/>
              <p:cNvSpPr txBox="1">
                <a:spLocks noRot="1" noChangeAspect="1" noMove="1" noResize="1" noEditPoints="1" noAdjustHandles="1" noChangeArrowheads="1" noChangeShapeType="1" noTextEdit="1"/>
              </p:cNvSpPr>
              <p:nvPr/>
            </p:nvSpPr>
            <p:spPr>
              <a:xfrm>
                <a:off x="7042150" y="2710815"/>
                <a:ext cx="4549775" cy="289560"/>
              </a:xfrm>
              <a:prstGeom prst="rect">
                <a:avLst/>
              </a:prstGeom>
              <a:blipFill rotWithShape="1">
                <a:blip r:embed="rId6"/>
                <a:stretch>
                  <a:fillRect/>
                </a:stretch>
              </a:blipFill>
            </p:spPr>
            <p:txBody>
              <a:bodyPr/>
              <a:lstStyle/>
              <a:p>
                <a:r>
                  <a:rPr lang="zh-CN" altLang="en-US">
                    <a:noFill/>
                  </a:rPr>
                  <a:t> </a:t>
                </a:r>
              </a:p>
            </p:txBody>
          </p:sp>
        </mc:Fallback>
      </mc:AlternateContent>
      <p:sp>
        <p:nvSpPr>
          <p:cNvPr id="23" name="文本框 22"/>
          <p:cNvSpPr txBox="1"/>
          <p:nvPr/>
        </p:nvSpPr>
        <p:spPr>
          <a:xfrm>
            <a:off x="7042150" y="4344670"/>
            <a:ext cx="4550410" cy="289560"/>
          </a:xfrm>
          <a:prstGeom prst="rect">
            <a:avLst/>
          </a:prstGeom>
          <a:solidFill>
            <a:srgbClr val="69025E"/>
          </a:solidFill>
        </p:spPr>
        <p:txBody>
          <a:bodyPr wrap="square" anchor="ctr" anchorCtr="0">
            <a:noAutofit/>
          </a:bodyPr>
          <a:lstStyle/>
          <a:p>
            <a:pPr algn="ctr"/>
            <a:r>
              <a:rPr lang="zh-CN" altLang="en-US" dirty="0">
                <a:solidFill>
                  <a:schemeClr val="bg1"/>
                </a:solidFill>
                <a:sym typeface="+mn-ea"/>
              </a:rPr>
              <a:t>随机抽取样本点绘制散点图</a:t>
            </a:r>
            <a:endParaRPr lang="zh-CN" altLang="en-US" dirty="0">
              <a:solidFill>
                <a:schemeClr val="bg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1966595" y="5600700"/>
            <a:ext cx="4720590" cy="9486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966595" y="5600700"/>
            <a:ext cx="4721225" cy="949325"/>
          </a:xfrm>
          <a:prstGeom prst="rect">
            <a:avLst/>
          </a:prstGeom>
          <a:noFill/>
        </p:spPr>
        <p:txBody>
          <a:bodyPr wrap="square" rtlCol="0" anchor="t">
            <a:noAutofit/>
          </a:bodyPr>
          <a:p>
            <a:pPr marL="285750" indent="-285750">
              <a:buFont typeface="Arial" panose="020B0604020202090204" pitchFamily="34" charset="0"/>
              <a:buChar char="•"/>
            </a:pPr>
            <a:r>
              <a:rPr lang="zh-CN" altLang="en-US" sz="1400" b="1">
                <a:sym typeface="+mn-ea"/>
              </a:rPr>
              <a:t>二者正相关</a:t>
            </a:r>
            <a:r>
              <a:rPr lang="en-US" altLang="zh-CN" sz="1400" b="1">
                <a:sym typeface="+mn-ea"/>
              </a:rPr>
              <a:t>：</a:t>
            </a:r>
            <a:r>
              <a:rPr lang="zh-CN" altLang="en-US" sz="1400"/>
              <a:t>在美国</a:t>
            </a:r>
            <a:r>
              <a:rPr lang="zh-CN" altLang="en-US" sz="1400"/>
              <a:t>这一相关性</a:t>
            </a:r>
            <a:r>
              <a:rPr lang="zh-CN" altLang="en-US" sz="1400"/>
              <a:t>更低，迁移成本对距离的弹性（斜率</a:t>
            </a:r>
            <a:r>
              <a:rPr lang="en-US" altLang="zh-CN" sz="1400"/>
              <a:t>）</a:t>
            </a:r>
            <a:r>
              <a:rPr lang="zh-CN" altLang="en-US" sz="1400"/>
              <a:t>在美国为2%，在印尼为15%。</a:t>
            </a:r>
            <a:endParaRPr lang="zh-CN" altLang="en-US" sz="1400"/>
          </a:p>
          <a:p>
            <a:pPr marL="285750" indent="-285750">
              <a:buFont typeface="Arial" panose="020B0604020202090204" pitchFamily="34" charset="0"/>
              <a:buChar char="•"/>
            </a:pPr>
            <a:r>
              <a:rPr lang="zh-CN" altLang="en-US" sz="1400"/>
              <a:t>美国出行成本更便宜</a:t>
            </a:r>
            <a:r>
              <a:rPr lang="en-US" altLang="zh-CN" sz="1400"/>
              <a:t> or </a:t>
            </a:r>
            <a:r>
              <a:rPr lang="zh-CN" altLang="en-US" sz="1400"/>
              <a:t>美国人对来自远方的移民更包容</a:t>
            </a:r>
            <a:r>
              <a:rPr lang="en-US" altLang="zh-CN" sz="1400"/>
              <a:t>（</a:t>
            </a:r>
            <a:r>
              <a:rPr lang="zh-CN" altLang="en-US" sz="1400"/>
              <a:t>跨地区迁移的文化心理成本更低</a:t>
            </a:r>
            <a:r>
              <a:rPr lang="en-US" altLang="zh-CN" sz="1400"/>
              <a:t>）</a:t>
            </a:r>
            <a:endParaRPr lang="en-US" altLang="zh-CN" sz="1400"/>
          </a:p>
        </p:txBody>
      </p:sp>
      <p:sp>
        <p:nvSpPr>
          <p:cNvPr id="20" name="矩形 19"/>
          <p:cNvSpPr/>
          <p:nvPr/>
        </p:nvSpPr>
        <p:spPr>
          <a:xfrm>
            <a:off x="6880225" y="5601335"/>
            <a:ext cx="4377690" cy="9423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879590" y="5602605"/>
            <a:ext cx="4379595" cy="948690"/>
          </a:xfrm>
          <a:prstGeom prst="rect">
            <a:avLst/>
          </a:prstGeom>
          <a:noFill/>
        </p:spPr>
        <p:txBody>
          <a:bodyPr wrap="square" rtlCol="0" anchor="t">
            <a:noAutofit/>
          </a:bodyPr>
          <a:p>
            <a:pPr marL="285750" indent="-285750">
              <a:buFont typeface="Arial" panose="020B0604020202090204" pitchFamily="34" charset="0"/>
              <a:buChar char="•"/>
            </a:pPr>
            <a:r>
              <a:rPr lang="zh-CN" altLang="en-US" sz="1400">
                <a:sym typeface="+mn-ea"/>
              </a:rPr>
              <a:t>在控制了地理距离后</a:t>
            </a:r>
            <a:r>
              <a:rPr lang="en-US" altLang="zh-CN" sz="1400">
                <a:sym typeface="+mn-ea"/>
              </a:rPr>
              <a:t>，</a:t>
            </a:r>
            <a:r>
              <a:rPr lang="zh-CN" altLang="en-US" sz="1400">
                <a:sym typeface="+mn-ea"/>
              </a:rPr>
              <a:t>估计出的迁移成本</a:t>
            </a:r>
            <a:r>
              <a:rPr lang="zh-CN" altLang="en-US" sz="1400" b="1">
                <a:sym typeface="+mn-ea"/>
              </a:rPr>
              <a:t>和社会距离指标也表现出正相关性</a:t>
            </a:r>
            <a:r>
              <a:rPr lang="en-US" altLang="zh-CN" sz="1400" b="1">
                <a:sym typeface="+mn-ea"/>
              </a:rPr>
              <a:t>。</a:t>
            </a:r>
            <a:endParaRPr lang="en-US" altLang="zh-CN" sz="1400" b="1">
              <a:sym typeface="+mn-ea"/>
            </a:endParaRPr>
          </a:p>
          <a:p>
            <a:pPr marL="285750" indent="-285750">
              <a:buFont typeface="Arial" panose="020B0604020202090204" pitchFamily="34" charset="0"/>
              <a:buChar char="•"/>
            </a:pPr>
            <a:r>
              <a:rPr lang="zh-CN" altLang="en-US" sz="1400"/>
              <a:t>使用人口普查数据构建了</a:t>
            </a:r>
            <a:r>
              <a:rPr lang="zh-CN" altLang="en-US" sz="1400" b="1"/>
              <a:t>语言相似度</a:t>
            </a:r>
            <a:r>
              <a:rPr lang="en-US" altLang="zh-CN" sz="1400" b="1"/>
              <a:t>、</a:t>
            </a:r>
            <a:r>
              <a:rPr lang="zh-CN" altLang="en-US" sz="1400" b="1">
                <a:sym typeface="+mn-ea"/>
              </a:rPr>
              <a:t>宗教相似度</a:t>
            </a:r>
            <a:r>
              <a:rPr lang="zh-CN" altLang="en-US" sz="1400">
                <a:sym typeface="+mn-ea"/>
              </a:rPr>
              <a:t>以衡量社会距离</a:t>
            </a:r>
            <a:r>
              <a:rPr lang="en-US" altLang="zh-CN" sz="1400">
                <a:sym typeface="+mn-ea"/>
              </a:rPr>
              <a:t>：</a:t>
            </a:r>
            <a:endParaRPr lang="en-US" altLang="zh-CN" sz="1400">
              <a:sym typeface="+mn-ea"/>
            </a:endParaRPr>
          </a:p>
        </p:txBody>
      </p:sp>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估计结果</a:t>
                </a:r>
                <a:r>
                  <a:rPr lang="en-US" altLang="zh-CN" sz="2800" b="1" dirty="0">
                    <a:latin typeface="+mn-lt"/>
                  </a:rPr>
                  <a:t>：</a:t>
                </a:r>
                <a:r>
                  <a:rPr lang="zh-CN" altLang="en-US" sz="2800" b="1" dirty="0">
                    <a:latin typeface="+mn-lt"/>
                  </a:rPr>
                  <a:t>迁移成本</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endParaRPr lang="zh-CN" altLang="en-US"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3.4</a:t>
            </a:r>
            <a:endParaRPr lang="zh-CN" altLang="en-US" b="1">
              <a:solidFill>
                <a:schemeClr val="bg1"/>
              </a:solidFill>
            </a:endParaRPr>
          </a:p>
        </p:txBody>
      </p:sp>
      <p:pic>
        <p:nvPicPr>
          <p:cNvPr id="5" name="图片 4"/>
          <p:cNvPicPr>
            <a:picLocks noChangeAspect="1"/>
          </p:cNvPicPr>
          <p:nvPr/>
        </p:nvPicPr>
        <p:blipFill>
          <a:blip r:embed="rId2">
            <a:clrChange>
              <a:clrFrom>
                <a:srgbClr val="FFFFFF">
                  <a:alpha val="100000"/>
                </a:srgbClr>
              </a:clrFrom>
              <a:clrTo>
                <a:srgbClr val="FFFFFF">
                  <a:alpha val="100000"/>
                  <a:alpha val="0"/>
                </a:srgbClr>
              </a:clrTo>
            </a:clrChange>
          </a:blip>
          <a:srcRect b="2428"/>
          <a:stretch>
            <a:fillRect/>
          </a:stretch>
        </p:blipFill>
        <p:spPr>
          <a:xfrm>
            <a:off x="2493010" y="3070225"/>
            <a:ext cx="3690620" cy="2453640"/>
          </a:xfrm>
          <a:prstGeom prst="rect">
            <a:avLst/>
          </a:prstGeom>
        </p:spPr>
      </p:pic>
      <p:pic>
        <p:nvPicPr>
          <p:cNvPr id="6" name="图片 5"/>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122160" y="3070225"/>
            <a:ext cx="3859530" cy="2429510"/>
          </a:xfrm>
          <a:prstGeom prst="rect">
            <a:avLst/>
          </a:prstGeom>
        </p:spPr>
      </p:pic>
      <p:sp>
        <p:nvSpPr>
          <p:cNvPr id="14" name="文本框 13"/>
          <p:cNvSpPr txBox="1"/>
          <p:nvPr/>
        </p:nvSpPr>
        <p:spPr>
          <a:xfrm>
            <a:off x="1965960" y="2781935"/>
            <a:ext cx="4721860" cy="288290"/>
          </a:xfrm>
          <a:prstGeom prst="rect">
            <a:avLst/>
          </a:prstGeom>
          <a:solidFill>
            <a:srgbClr val="69025E"/>
          </a:solidFill>
        </p:spPr>
        <p:txBody>
          <a:bodyPr wrap="square" anchor="ctr" anchorCtr="0">
            <a:noAutofit/>
          </a:bodyPr>
          <a:lstStyle/>
          <a:p>
            <a:pPr algn="ctr"/>
            <a:r>
              <a:rPr lang="zh-CN" altLang="en-US" sz="1600">
                <a:solidFill>
                  <a:schemeClr val="bg1"/>
                </a:solidFill>
                <a:sym typeface="+mn-ea"/>
              </a:rPr>
              <a:t>迁移成本与地理距离的相关性</a:t>
            </a:r>
            <a:endParaRPr lang="zh-CN" altLang="en-US" sz="1600">
              <a:solidFill>
                <a:schemeClr val="bg1"/>
              </a:solidFill>
              <a:sym typeface="+mn-ea"/>
            </a:endParaRPr>
          </a:p>
        </p:txBody>
      </p:sp>
      <p:sp>
        <p:nvSpPr>
          <p:cNvPr id="18" name="文本框 17"/>
          <p:cNvSpPr txBox="1"/>
          <p:nvPr/>
        </p:nvSpPr>
        <p:spPr>
          <a:xfrm>
            <a:off x="6879590" y="2781935"/>
            <a:ext cx="4378960" cy="288290"/>
          </a:xfrm>
          <a:prstGeom prst="rect">
            <a:avLst/>
          </a:prstGeom>
          <a:solidFill>
            <a:srgbClr val="69025E"/>
          </a:solidFill>
        </p:spPr>
        <p:txBody>
          <a:bodyPr wrap="square" anchor="ctr" anchorCtr="0">
            <a:noAutofit/>
          </a:bodyPr>
          <a:lstStyle/>
          <a:p>
            <a:pPr algn="ctr"/>
            <a:r>
              <a:rPr lang="zh-CN" altLang="en-US" sz="1600">
                <a:solidFill>
                  <a:schemeClr val="bg1"/>
                </a:solidFill>
                <a:sym typeface="+mn-ea"/>
              </a:rPr>
              <a:t>迁移成本与社会距离的相关性</a:t>
            </a:r>
            <a:endParaRPr lang="zh-CN" altLang="en-US" sz="1600">
              <a:solidFill>
                <a:schemeClr val="bg1"/>
              </a:solidFill>
              <a:sym typeface="+mn-ea"/>
            </a:endParaRPr>
          </a:p>
        </p:txBody>
      </p:sp>
      <p:pic>
        <p:nvPicPr>
          <p:cNvPr id="19" name="图片 18"/>
          <p:cNvPicPr>
            <a:picLocks noChangeAspect="1"/>
          </p:cNvPicPr>
          <p:nvPr/>
        </p:nvPicPr>
        <p:blipFill>
          <a:blip r:embed="rId4"/>
          <a:srcRect t="15038" b="25976"/>
          <a:stretch>
            <a:fillRect/>
          </a:stretch>
        </p:blipFill>
        <p:spPr>
          <a:xfrm>
            <a:off x="1965960" y="1076325"/>
            <a:ext cx="4721225" cy="1506855"/>
          </a:xfrm>
          <a:prstGeom prst="rect">
            <a:avLst/>
          </a:prstGeom>
        </p:spPr>
      </p:pic>
      <p:sp>
        <p:nvSpPr>
          <p:cNvPr id="21" name="矩形 20"/>
          <p:cNvSpPr/>
          <p:nvPr/>
        </p:nvSpPr>
        <p:spPr>
          <a:xfrm>
            <a:off x="8430260" y="3477260"/>
            <a:ext cx="2677795" cy="119951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2054860" y="2294890"/>
            <a:ext cx="4378960" cy="28829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15"/>
          <p:cNvSpPr/>
          <p:nvPr/>
        </p:nvSpPr>
        <p:spPr>
          <a:xfrm>
            <a:off x="6832600" y="1141095"/>
            <a:ext cx="4380230" cy="143383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indent="-285750">
              <a:buFont typeface="Arial" panose="020B0604020202090204" pitchFamily="34" charset="0"/>
              <a:buChar char="•"/>
            </a:pPr>
            <a:r>
              <a:rPr lang="zh-CN" altLang="en-US">
                <a:solidFill>
                  <a:schemeClr val="tx1"/>
                </a:solidFill>
                <a:sym typeface="+mn-ea"/>
              </a:rPr>
              <a:t>平均而言，印尼移民要获得39 %的收入补偿，美国</a:t>
            </a:r>
            <a:r>
              <a:rPr lang="zh-CN" altLang="en-US">
                <a:solidFill>
                  <a:schemeClr val="tx1"/>
                </a:solidFill>
                <a:sym typeface="+mn-ea"/>
              </a:rPr>
              <a:t>移民需要15 %的收入补偿</a:t>
            </a:r>
            <a:endParaRPr lang="zh-CN" altLang="en-US">
              <a:solidFill>
                <a:schemeClr val="tx1"/>
              </a:solidFill>
              <a:sym typeface="+mn-ea"/>
            </a:endParaRPr>
          </a:p>
          <a:p>
            <a:pPr marL="285750" marR="0" indent="-285750">
              <a:buFont typeface="Arial" panose="020B0604020202090204" pitchFamily="34" charset="0"/>
              <a:buChar char="•"/>
            </a:pPr>
            <a:r>
              <a:rPr lang="zh-CN" altLang="en-US">
                <a:solidFill>
                  <a:schemeClr val="tx1"/>
                </a:solidFill>
                <a:sym typeface="+mn-ea"/>
              </a:rPr>
              <a:t>美国平均迁移成本更低</a:t>
            </a:r>
            <a:r>
              <a:rPr lang="en-US" altLang="zh-CN">
                <a:solidFill>
                  <a:schemeClr val="tx1"/>
                </a:solidFill>
                <a:sym typeface="+mn-ea"/>
              </a:rPr>
              <a:t>、</a:t>
            </a:r>
            <a:r>
              <a:rPr lang="zh-CN" altLang="en-US">
                <a:solidFill>
                  <a:schemeClr val="tx1"/>
                </a:solidFill>
                <a:sym typeface="+mn-ea"/>
              </a:rPr>
              <a:t>流动性更高。</a:t>
            </a:r>
            <a:endParaRPr lang="zh-CN" altLang="en-US" sz="1800" b="1" kern="100" dirty="0">
              <a:solidFill>
                <a:schemeClr val="tx1"/>
              </a:solidFill>
              <a:effectLst/>
              <a:latin typeface="Times New Roman" panose="02020503050405090304" pitchFamily="18" charset="0"/>
              <a:sym typeface="+mn-ea"/>
            </a:endParaRPr>
          </a:p>
        </p:txBody>
      </p:sp>
      <p:sp>
        <p:nvSpPr>
          <p:cNvPr id="4" name="矩形 3"/>
          <p:cNvSpPr/>
          <p:nvPr/>
        </p:nvSpPr>
        <p:spPr>
          <a:xfrm>
            <a:off x="3270382" y="5251620"/>
            <a:ext cx="2380887" cy="349118"/>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7209790" y="4421505"/>
            <a:ext cx="4350385" cy="193484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1966595" y="4425315"/>
            <a:ext cx="4956810" cy="19304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2493144" y="356016"/>
                <a:ext cx="8294008" cy="720428"/>
              </a:xfrm>
            </p:spPr>
            <p:txBody>
              <a:bodyPr/>
              <a:lstStyle/>
              <a:p>
                <a:pPr algn="l">
                  <a:buClrTx/>
                  <a:buSzTx/>
                  <a:buFontTx/>
                </a:pPr>
                <a:r>
                  <a:rPr lang="zh-CN" altLang="en-US" sz="2800" b="1" dirty="0">
                    <a:latin typeface="+mn-lt"/>
                  </a:rPr>
                  <a:t>估计结果</a:t>
                </a:r>
                <a:r>
                  <a:rPr lang="en-US" altLang="zh-CN" sz="2800" b="1" dirty="0">
                    <a:latin typeface="+mn-lt"/>
                  </a:rPr>
                  <a:t>：</a:t>
                </a:r>
                <a:r>
                  <a:rPr lang="zh-CN" altLang="en-US" sz="2800" b="1" dirty="0">
                    <a:latin typeface="+mn-lt"/>
                  </a:rPr>
                  <a:t>宜居度</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𝜶</m:t>
                        </m:r>
                      </m:e>
                      <m:sub>
                        <m:r>
                          <a:rPr lang="en-US" altLang="zh-CN" sz="2800" b="1" i="1" dirty="0">
                            <a:latin typeface="DejaVu Math TeX Gyre" panose="02000503000000000000" charset="0"/>
                            <a:cs typeface="DejaVu Math TeX Gyre" panose="02000503000000000000" charset="0"/>
                          </a:rPr>
                          <m:t>𝒅</m:t>
                        </m:r>
                      </m:sub>
                    </m:sSub>
                  </m:oMath>
                </a14:m>
                <a:r>
                  <a:rPr lang="en-US" altLang="zh-CN" sz="2800" b="1" dirty="0">
                    <a:latin typeface="+mn-lt"/>
                  </a:rPr>
                  <a:t>、</a:t>
                </a:r>
                <a:r>
                  <a:rPr lang="zh-CN" altLang="en-US" sz="2800" b="1" dirty="0">
                    <a:latin typeface="+mn-lt"/>
                    <a:sym typeface="+mn-ea"/>
                  </a:rPr>
                  <a:t>人力资本形成质量</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𝒒</m:t>
                        </m:r>
                      </m:e>
                      <m:sub>
                        <m:r>
                          <a:rPr lang="en-US" altLang="zh-CN" sz="2800" b="1" i="1" dirty="0">
                            <a:latin typeface="DejaVu Math TeX Gyre" panose="02000503000000000000" charset="0"/>
                            <a:cs typeface="DejaVu Math TeX Gyre" panose="02000503000000000000" charset="0"/>
                          </a:rPr>
                          <m:t>𝒐</m:t>
                        </m:r>
                      </m:sub>
                    </m:sSub>
                  </m:oMath>
                </a14:m>
                <a:endParaRPr lang="en-US" altLang="zh-CN" sz="2800" b="1" dirty="0">
                  <a:latin typeface="+mn-lt"/>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2493144" y="356016"/>
                <a:ext cx="8294008" cy="720428"/>
              </a:xfrm>
              <a:blipFill rotWithShape="1">
                <a:blip r:embed="rId1"/>
                <a:stretch>
                  <a:fillRect l="-2" t="-58" r="5" b="17"/>
                </a:stretch>
              </a:blipFill>
            </p:spPr>
            <p:txBody>
              <a:bodyPr/>
              <a:lstStyle/>
              <a:p>
                <a:r>
                  <a:rPr lang="zh-CN" altLang="en-US">
                    <a:noFill/>
                  </a:rPr>
                  <a:t> </a:t>
                </a:r>
              </a:p>
            </p:txBody>
          </p:sp>
        </mc:Fallback>
      </mc:AlternateContent>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3.4</a:t>
            </a:r>
            <a:endParaRPr lang="en-US" altLang="zh-CN" b="1">
              <a:solidFill>
                <a:schemeClr val="bg1"/>
              </a:solidFill>
            </a:endParaRPr>
          </a:p>
        </p:txBody>
      </p:sp>
      <p:pic>
        <p:nvPicPr>
          <p:cNvPr id="6" name="图片 5"/>
          <p:cNvPicPr>
            <a:picLocks noChangeAspect="1"/>
          </p:cNvPicPr>
          <p:nvPr/>
        </p:nvPicPr>
        <p:blipFill>
          <a:blip r:embed="rId2"/>
          <a:stretch>
            <a:fillRect/>
          </a:stretch>
        </p:blipFill>
        <p:spPr>
          <a:xfrm>
            <a:off x="1965960" y="1581785"/>
            <a:ext cx="4956810" cy="2809875"/>
          </a:xfrm>
          <a:prstGeom prst="rect">
            <a:avLst/>
          </a:prstGeom>
        </p:spPr>
      </p:pic>
      <p:sp>
        <p:nvSpPr>
          <p:cNvPr id="8" name="文本框 7"/>
          <p:cNvSpPr txBox="1"/>
          <p:nvPr/>
        </p:nvSpPr>
        <p:spPr>
          <a:xfrm>
            <a:off x="1967230" y="4492625"/>
            <a:ext cx="4956175" cy="1814830"/>
          </a:xfrm>
          <a:prstGeom prst="rect">
            <a:avLst/>
          </a:prstGeom>
        </p:spPr>
        <p:txBody>
          <a:bodyPr wrap="square">
            <a:spAutoFit/>
          </a:bodyPr>
          <a:p>
            <a:pPr marL="285750" indent="-285750">
              <a:buFont typeface="Wingdings" panose="05000000000000000000" charset="0"/>
              <a:buChar char=""/>
            </a:pPr>
            <a:r>
              <a:rPr lang="zh-CN" altLang="en-US" sz="1600"/>
              <a:t>宜居度估计结果和观测到的宜居指标同样呈现相关性</a:t>
            </a:r>
            <a:r>
              <a:rPr lang="en-US" altLang="zh-CN" sz="1600"/>
              <a:t>。</a:t>
            </a:r>
            <a:r>
              <a:rPr lang="zh-CN" altLang="en-US" sz="1600"/>
              <a:t>（图片对应印尼的情况</a:t>
            </a:r>
            <a:r>
              <a:rPr lang="en-US" altLang="zh-CN" sz="1600"/>
              <a:t>）</a:t>
            </a:r>
            <a:endParaRPr lang="zh-CN" altLang="en-US" sz="1600"/>
          </a:p>
          <a:p>
            <a:pPr marL="285750" indent="-285750">
              <a:buFont typeface="Arial" panose="020B0604020202090204" pitchFamily="34" charset="0"/>
              <a:buChar char="•"/>
            </a:pPr>
            <a:r>
              <a:rPr lang="en-US" altLang="zh-CN" sz="1600"/>
              <a:t>A：</a:t>
            </a:r>
            <a:r>
              <a:rPr lang="zh-CN" altLang="en-US" sz="1600"/>
              <a:t>宜居度和标准化后的污染指标第一主成分负相关</a:t>
            </a:r>
            <a:r>
              <a:rPr lang="en-US" altLang="zh-CN" sz="1600"/>
              <a:t>。</a:t>
            </a:r>
            <a:r>
              <a:rPr lang="zh-CN" altLang="en-US" sz="1600"/>
              <a:t>污染越轻的地方，宜居度越高</a:t>
            </a:r>
            <a:endParaRPr lang="zh-CN" altLang="en-US" sz="1600"/>
          </a:p>
          <a:p>
            <a:pPr marL="285750" indent="-285750">
              <a:buFont typeface="Arial" panose="020B0604020202090204" pitchFamily="34" charset="0"/>
              <a:buChar char="•"/>
            </a:pPr>
            <a:r>
              <a:rPr lang="en-US" altLang="zh-CN" sz="1600"/>
              <a:t>B：</a:t>
            </a:r>
            <a:r>
              <a:rPr lang="zh-CN" altLang="en-US" sz="1600"/>
              <a:t>宜居度和医疗资源、市场可达性的第一主成分正相关</a:t>
            </a:r>
            <a:r>
              <a:rPr lang="en-US" altLang="zh-CN" sz="1600"/>
              <a:t>。</a:t>
            </a:r>
            <a:r>
              <a:rPr lang="zh-CN" altLang="en-US" sz="1600"/>
              <a:t>医疗和市场条件越好的地方，宜居度越高。</a:t>
            </a:r>
            <a:endParaRPr lang="zh-CN" altLang="en-US" sz="1600"/>
          </a:p>
          <a:p>
            <a:pPr marL="285750" indent="-285750">
              <a:buFont typeface="Arial" panose="020B0604020202090204" pitchFamily="34" charset="0"/>
              <a:buChar char="•"/>
            </a:pPr>
            <a:r>
              <a:rPr lang="en-US" altLang="zh-CN" sz="1600"/>
              <a:t>C：</a:t>
            </a:r>
            <a:r>
              <a:rPr lang="zh-CN" altLang="en-US" sz="1600"/>
              <a:t>宜居度越高的地方，平均住房成本也越高</a:t>
            </a:r>
            <a:endParaRPr lang="zh-CN" altLang="en-US" sz="1600"/>
          </a:p>
        </p:txBody>
      </p:sp>
      <p:pic>
        <p:nvPicPr>
          <p:cNvPr id="10" name="图片 9"/>
          <p:cNvPicPr>
            <a:picLocks noChangeAspect="1"/>
          </p:cNvPicPr>
          <p:nvPr/>
        </p:nvPicPr>
        <p:blipFill>
          <a:blip r:embed="rId3"/>
          <a:stretch>
            <a:fillRect/>
          </a:stretch>
        </p:blipFill>
        <p:spPr>
          <a:xfrm>
            <a:off x="7209790" y="1783080"/>
            <a:ext cx="4350385" cy="2438400"/>
          </a:xfrm>
          <a:prstGeom prst="rect">
            <a:avLst/>
          </a:prstGeom>
        </p:spPr>
      </p:pic>
      <mc:AlternateContent xmlns:mc="http://schemas.openxmlformats.org/markup-compatibility/2006">
        <mc:Choice xmlns:a14="http://schemas.microsoft.com/office/drawing/2010/main" Requires="a14">
          <p:sp>
            <p:nvSpPr>
              <p:cNvPr id="9" name="文本框 8"/>
              <p:cNvSpPr txBox="1"/>
              <p:nvPr/>
            </p:nvSpPr>
            <p:spPr>
              <a:xfrm>
                <a:off x="7209155" y="4607560"/>
                <a:ext cx="4350385" cy="1562100"/>
              </a:xfrm>
              <a:prstGeom prst="rect">
                <a:avLst/>
              </a:prstGeom>
            </p:spPr>
            <p:txBody>
              <a:bodyPr wrap="square" anchor="ctr" anchorCtr="0">
                <a:noAutofit/>
              </a:bodyPr>
              <a:p>
                <a:pPr marL="285750" indent="-285750">
                  <a:buFont typeface="Arial" panose="020B0604020202090204" pitchFamily="34" charset="0"/>
                  <a:buChar char="•"/>
                </a:pPr>
                <a14:m>
                  <m:oMath xmlns:m="http://schemas.openxmlformats.org/officeDocument/2006/math">
                    <m:sSub>
                      <m:sSubPr>
                        <m:ctrlPr>
                          <a:rPr lang="en-US" altLang="zh-CN" sz="1600" b="1" i="1" dirty="0">
                            <a:latin typeface="DejaVu Math TeX Gyre" panose="02000503000000000000" charset="0"/>
                            <a:cs typeface="DejaVu Math TeX Gyre" panose="02000503000000000000" charset="0"/>
                          </a:rPr>
                        </m:ctrlPr>
                      </m:sSubPr>
                      <m:e>
                        <m:r>
                          <a:rPr lang="en-US" altLang="zh-CN" sz="1600" b="1" i="1" dirty="0">
                            <a:latin typeface="DejaVu Math TeX Gyre" panose="02000503000000000000" charset="0"/>
                            <a:cs typeface="DejaVu Math TeX Gyre" panose="02000503000000000000" charset="0"/>
                          </a:rPr>
                          <m:t>𝒒</m:t>
                        </m:r>
                      </m:e>
                      <m:sub>
                        <m:r>
                          <a:rPr lang="en-US" altLang="zh-CN" sz="1600" b="1" i="1" dirty="0">
                            <a:latin typeface="DejaVu Math TeX Gyre" panose="02000503000000000000" charset="0"/>
                            <a:cs typeface="DejaVu Math TeX Gyre" panose="02000503000000000000" charset="0"/>
                          </a:rPr>
                          <m:t>𝒐</m:t>
                        </m:r>
                      </m:sub>
                    </m:sSub>
                  </m:oMath>
                </a14:m>
                <a:r>
                  <a:rPr lang="zh-CN" altLang="en-US" sz="1600"/>
                  <a:t>估计结果和该地区的平均受教育程度正相关</a:t>
                </a:r>
                <a:r>
                  <a:rPr lang="en-US" altLang="zh-CN" sz="1600"/>
                  <a:t>（A</a:t>
                </a:r>
                <a:r>
                  <a:rPr lang="zh-CN" altLang="en-US" sz="1600"/>
                  <a:t>图对应印尼</a:t>
                </a:r>
                <a:r>
                  <a:rPr lang="en-US" altLang="zh-CN" sz="1600"/>
                  <a:t>、B</a:t>
                </a:r>
                <a:r>
                  <a:rPr lang="zh-CN" altLang="en-US" sz="1600"/>
                  <a:t>图对应美国</a:t>
                </a:r>
                <a:r>
                  <a:rPr lang="en-US" altLang="zh-CN" sz="1600"/>
                  <a:t>）</a:t>
                </a:r>
                <a:endParaRPr lang="zh-CN" altLang="en-US" sz="1600"/>
              </a:p>
              <a:p>
                <a:pPr marL="285750" indent="-285750">
                  <a:buFont typeface="Arial" panose="020B0604020202090204" pitchFamily="34" charset="0"/>
                  <a:buChar char="•"/>
                </a:pPr>
                <a:r>
                  <a:rPr lang="zh-CN" altLang="en-US" sz="1600"/>
                  <a:t>直觉上：如果一个地方教育回报率高，人们就会愿意多上学</a:t>
                </a:r>
                <a:r>
                  <a:rPr lang="en-US" altLang="zh-CN" sz="1600" kern="100" dirty="0">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effectLst/>
                    <a:uFillTx/>
                    <a:latin typeface="Times New Roman" panose="02020503050405090304" pitchFamily="18" charset="0"/>
                    <a:ea typeface="楷体" charset="0"/>
                    <a:cs typeface="DejaVu Math TeX Gyre" panose="02000503000000000000" charset="0"/>
                    <a:sym typeface="+mn-ea"/>
                  </a:rPr>
                  <a:t>通过接受更久的教育</a:t>
                </a:r>
                <a:r>
                  <a:rPr lang="en-US" altLang="zh-CN" sz="1600" kern="100" dirty="0">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effectLst/>
                    <a:uFillTx/>
                    <a:latin typeface="Times New Roman" panose="02020503050405090304" pitchFamily="18" charset="0"/>
                    <a:ea typeface="楷体" charset="0"/>
                    <a:cs typeface="DejaVu Math TeX Gyre" panose="02000503000000000000" charset="0"/>
                    <a:sym typeface="+mn-ea"/>
                  </a:rPr>
                  <a:t>提高</a:t>
                </a:r>
                <a:r>
                  <a:rPr lang="zh-CN" altLang="en-US" sz="1600" kern="100" dirty="0">
                    <a:effectLst/>
                    <a:uFillTx/>
                    <a:latin typeface="Times New Roman" panose="02020503050405090304" pitchFamily="18" charset="0"/>
                    <a:ea typeface="楷体" charset="0"/>
                    <a:cs typeface="DejaVu Math TeX Gyre" panose="02000503000000000000" charset="0"/>
                    <a:sym typeface="+mn-ea"/>
                  </a:rPr>
                  <a:t>该地人力资本的质量</a:t>
                </a:r>
                <a:r>
                  <a:rPr lang="en-US" altLang="zh-CN" sz="1600" kern="100" dirty="0">
                    <a:effectLst/>
                    <a:uFillTx/>
                    <a:latin typeface="Times New Roman" panose="02020503050405090304" pitchFamily="18" charset="0"/>
                    <a:ea typeface="楷体" charset="0"/>
                    <a:cs typeface="DejaVu Math TeX Gyre" panose="02000503000000000000" charset="0"/>
                    <a:sym typeface="+mn-ea"/>
                  </a:rPr>
                  <a:t>。</a:t>
                </a:r>
                <a:endParaRPr lang="en-US" altLang="zh-CN" sz="1600" kern="100" dirty="0">
                  <a:effectLst/>
                  <a:uFillTx/>
                  <a:latin typeface="Times New Roman" panose="02020503050405090304" pitchFamily="18" charset="0"/>
                  <a:ea typeface="楷体" charset="0"/>
                  <a:cs typeface="DejaVu Math TeX Gyre" panose="02000503000000000000" charset="0"/>
                  <a:sym typeface="+mn-ea"/>
                </a:endParaRPr>
              </a:p>
            </p:txBody>
          </p:sp>
        </mc:Choice>
        <mc:Fallback>
          <p:sp>
            <p:nvSpPr>
              <p:cNvPr id="9" name="文本框 8"/>
              <p:cNvSpPr txBox="1">
                <a:spLocks noRot="1" noChangeAspect="1" noMove="1" noResize="1" noEditPoints="1" noAdjustHandles="1" noChangeArrowheads="1" noChangeShapeType="1" noTextEdit="1"/>
              </p:cNvSpPr>
              <p:nvPr/>
            </p:nvSpPr>
            <p:spPr>
              <a:xfrm>
                <a:off x="7209155" y="4607560"/>
                <a:ext cx="4350385" cy="15621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965960" y="1221740"/>
                <a:ext cx="4956175" cy="288290"/>
              </a:xfrm>
              <a:prstGeom prst="rect">
                <a:avLst/>
              </a:prstGeom>
              <a:solidFill>
                <a:srgbClr val="69025E"/>
              </a:solidFill>
            </p:spPr>
            <p:txBody>
              <a:bodyPr wrap="square" anchor="ctr" anchorCtr="0">
                <a:noAutofit/>
              </a:bodyPr>
              <a:lstStyle/>
              <a:p>
                <a:pPr algn="ctr"/>
                <a14:m>
                  <m:oMath xmlns:m="http://schemas.openxmlformats.org/officeDocument/2006/math">
                    <m:sSub>
                      <m:sSubPr>
                        <m:ctrlPr>
                          <a:rPr lang="en-US" altLang="zh-CN" sz="1600" b="1" i="1" dirty="0">
                            <a:solidFill>
                              <a:schemeClr val="bg1"/>
                            </a:solidFill>
                            <a:latin typeface="DejaVu Math TeX Gyre" panose="02000503000000000000" charset="0"/>
                            <a:cs typeface="DejaVu Math TeX Gyre" panose="02000503000000000000" charset="0"/>
                          </a:rPr>
                        </m:ctrlPr>
                      </m:sSubPr>
                      <m:e>
                        <m:r>
                          <a:rPr lang="en-US" altLang="zh-CN" sz="1600" b="1" i="1" dirty="0">
                            <a:solidFill>
                              <a:schemeClr val="bg1"/>
                            </a:solidFill>
                            <a:latin typeface="DejaVu Math TeX Gyre" panose="02000503000000000000" charset="0"/>
                            <a:cs typeface="DejaVu Math TeX Gyre" panose="02000503000000000000" charset="0"/>
                          </a:rPr>
                          <m:t>𝜶</m:t>
                        </m:r>
                      </m:e>
                      <m:sub>
                        <m:r>
                          <a:rPr lang="en-US" altLang="zh-CN" sz="1600" b="1" i="1" dirty="0">
                            <a:solidFill>
                              <a:schemeClr val="bg1"/>
                            </a:solidFill>
                            <a:latin typeface="DejaVu Math TeX Gyre" panose="02000503000000000000" charset="0"/>
                            <a:cs typeface="DejaVu Math TeX Gyre" panose="02000503000000000000" charset="0"/>
                          </a:rPr>
                          <m:t>𝒅</m:t>
                        </m:r>
                      </m:sub>
                    </m:sSub>
                  </m:oMath>
                </a14:m>
                <a:r>
                  <a:rPr lang="zh-CN" altLang="en-US" sz="1600">
                    <a:solidFill>
                      <a:schemeClr val="bg1"/>
                    </a:solidFill>
                    <a:sym typeface="+mn-ea"/>
                  </a:rPr>
                  <a:t>与宜居度</a:t>
                </a:r>
                <a:r>
                  <a:rPr lang="zh-CN" altLang="en-US" sz="1600">
                    <a:solidFill>
                      <a:schemeClr val="bg1"/>
                    </a:solidFill>
                    <a:sym typeface="+mn-ea"/>
                  </a:rPr>
                  <a:t>指标的相关性</a:t>
                </a:r>
                <a:endParaRPr lang="zh-CN" altLang="en-US" sz="1600">
                  <a:solidFill>
                    <a:schemeClr val="bg1"/>
                  </a:solidFill>
                  <a:sym typeface="+mn-ea"/>
                </a:endParaRPr>
              </a:p>
            </p:txBody>
          </p:sp>
        </mc:Choice>
        <mc:Fallback>
          <p:sp>
            <p:nvSpPr>
              <p:cNvPr id="14" name="文本框 13"/>
              <p:cNvSpPr txBox="1">
                <a:spLocks noRot="1" noChangeAspect="1" noMove="1" noResize="1" noEditPoints="1" noAdjustHandles="1" noChangeArrowheads="1" noChangeShapeType="1" noTextEdit="1"/>
              </p:cNvSpPr>
              <p:nvPr/>
            </p:nvSpPr>
            <p:spPr>
              <a:xfrm>
                <a:off x="1965960" y="1221740"/>
                <a:ext cx="4956175" cy="28829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7209790" y="1221740"/>
                <a:ext cx="4349750" cy="288290"/>
              </a:xfrm>
              <a:prstGeom prst="rect">
                <a:avLst/>
              </a:prstGeom>
              <a:solidFill>
                <a:srgbClr val="69025E"/>
              </a:solidFill>
            </p:spPr>
            <p:txBody>
              <a:bodyPr wrap="square" anchor="ctr" anchorCtr="0">
                <a:noAutofit/>
              </a:bodyPr>
              <a:lstStyle/>
              <a:p>
                <a:pPr algn="ctr"/>
                <a14:m>
                  <m:oMath xmlns:m="http://schemas.openxmlformats.org/officeDocument/2006/math">
                    <m:sSub>
                      <m:sSubPr>
                        <m:ctrlPr>
                          <a:rPr lang="en-US" altLang="zh-CN" sz="1600" b="1" i="1" dirty="0">
                            <a:solidFill>
                              <a:schemeClr val="bg1"/>
                            </a:solidFill>
                            <a:latin typeface="DejaVu Math TeX Gyre" panose="02000503000000000000" charset="0"/>
                            <a:cs typeface="DejaVu Math TeX Gyre" panose="02000503000000000000" charset="0"/>
                          </a:rPr>
                        </m:ctrlPr>
                      </m:sSubPr>
                      <m:e>
                        <m:r>
                          <a:rPr lang="en-US" altLang="zh-CN" sz="1600" b="1" i="1" dirty="0">
                            <a:solidFill>
                              <a:schemeClr val="bg1"/>
                            </a:solidFill>
                            <a:latin typeface="DejaVu Math TeX Gyre" panose="02000503000000000000" charset="0"/>
                            <a:cs typeface="DejaVu Math TeX Gyre" panose="02000503000000000000" charset="0"/>
                          </a:rPr>
                          <m:t>𝒒</m:t>
                        </m:r>
                      </m:e>
                      <m:sub>
                        <m:r>
                          <a:rPr lang="en-US" altLang="zh-CN" sz="1600" b="1" i="1" dirty="0">
                            <a:solidFill>
                              <a:schemeClr val="bg1"/>
                            </a:solidFill>
                            <a:latin typeface="DejaVu Math TeX Gyre" panose="02000503000000000000" charset="0"/>
                            <a:cs typeface="DejaVu Math TeX Gyre" panose="02000503000000000000" charset="0"/>
                          </a:rPr>
                          <m:t>𝒐</m:t>
                        </m:r>
                      </m:sub>
                    </m:sSub>
                  </m:oMath>
                </a14:m>
                <a:r>
                  <a:rPr lang="zh-CN" altLang="en-US" sz="1600">
                    <a:solidFill>
                      <a:schemeClr val="bg1"/>
                    </a:solidFill>
                    <a:sym typeface="+mn-ea"/>
                  </a:rPr>
                  <a:t>与教育</a:t>
                </a:r>
                <a:r>
                  <a:rPr lang="zh-CN" altLang="en-US" sz="1600">
                    <a:solidFill>
                      <a:schemeClr val="bg1"/>
                    </a:solidFill>
                    <a:sym typeface="+mn-ea"/>
                  </a:rPr>
                  <a:t>年限的相关性</a:t>
                </a:r>
                <a:endParaRPr lang="zh-CN" altLang="en-US" sz="1600">
                  <a:solidFill>
                    <a:schemeClr val="bg1"/>
                  </a:solidFill>
                  <a:sym typeface="+mn-ea"/>
                </a:endParaRPr>
              </a:p>
            </p:txBody>
          </p:sp>
        </mc:Choice>
        <mc:Fallback>
          <p:sp>
            <p:nvSpPr>
              <p:cNvPr id="11" name="文本框 10"/>
              <p:cNvSpPr txBox="1">
                <a:spLocks noRot="1" noChangeAspect="1" noMove="1" noResize="1" noEditPoints="1" noAdjustHandles="1" noChangeArrowheads="1" noChangeShapeType="1" noTextEdit="1"/>
              </p:cNvSpPr>
              <p:nvPr/>
            </p:nvSpPr>
            <p:spPr>
              <a:xfrm>
                <a:off x="7209790" y="1221740"/>
                <a:ext cx="4349750" cy="288290"/>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2038350" y="1071245"/>
            <a:ext cx="9129395" cy="7289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4.1</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反事实</a:t>
            </a:r>
            <a:r>
              <a:rPr lang="en-US" altLang="zh-CN" sz="2800" b="1" dirty="0">
                <a:latin typeface="+mn-lt"/>
              </a:rPr>
              <a:t>、</a:t>
            </a:r>
            <a:r>
              <a:rPr lang="zh-CN" altLang="en-US" sz="2800" b="1" dirty="0">
                <a:latin typeface="+mn-lt"/>
              </a:rPr>
              <a:t>一般均衡参数</a:t>
            </a:r>
            <a:r>
              <a:rPr lang="zh-CN" altLang="en-US" sz="2800" b="1" dirty="0">
                <a:latin typeface="+mn-lt"/>
              </a:rPr>
              <a:t>校准</a:t>
            </a:r>
            <a:endParaRPr lang="zh-CN" altLang="en-US" sz="2800" b="1" dirty="0">
              <a:latin typeface="+mn-lt"/>
            </a:endParaRPr>
          </a:p>
        </p:txBody>
      </p:sp>
      <p:sp>
        <p:nvSpPr>
          <p:cNvPr id="2" name="文本框 1"/>
          <p:cNvSpPr txBox="1"/>
          <p:nvPr/>
        </p:nvSpPr>
        <p:spPr>
          <a:xfrm>
            <a:off x="2048510" y="1076960"/>
            <a:ext cx="9130030" cy="720090"/>
          </a:xfrm>
          <a:prstGeom prst="rect">
            <a:avLst/>
          </a:prstGeom>
          <a:noFill/>
        </p:spPr>
        <p:txBody>
          <a:bodyPr wrap="square" rtlCol="0" anchor="ctr" anchorCtr="0">
            <a:noAutofit/>
          </a:bodyPr>
          <a:p>
            <a:pPr algn="ctr"/>
            <a:r>
              <a:rPr lang="zh-CN" altLang="en-US" b="1"/>
              <a:t>反事实研究的核心问题</a:t>
            </a:r>
            <a:r>
              <a:rPr lang="en-US" altLang="zh-CN" b="1"/>
              <a:t>：</a:t>
            </a:r>
            <a:r>
              <a:rPr lang="zh-CN" altLang="en-US" b="1" u="sng"/>
              <a:t>消除迁移障碍是否会提高生产率</a:t>
            </a:r>
            <a:endParaRPr lang="zh-CN" altLang="en-US" b="1" u="sng"/>
          </a:p>
          <a:p>
            <a:pPr algn="ctr"/>
            <a:r>
              <a:rPr lang="en-US" altLang="zh-CN"/>
              <a:t>（</a:t>
            </a:r>
            <a:r>
              <a:rPr lang="zh-CN" altLang="en-US"/>
              <a:t>前提</a:t>
            </a:r>
            <a:r>
              <a:rPr lang="en-US" altLang="zh-CN"/>
              <a:t>：</a:t>
            </a:r>
            <a:r>
              <a:rPr lang="zh-CN" altLang="en-US"/>
              <a:t>消除迁移障碍的政策只改变迁移摩擦</a:t>
            </a:r>
            <a:r>
              <a:rPr lang="en-US" altLang="zh-CN"/>
              <a:t>，</a:t>
            </a:r>
            <a:r>
              <a:rPr lang="zh-CN" altLang="en-US"/>
              <a:t>而控制</a:t>
            </a:r>
            <a:r>
              <a:rPr lang="zh-CN" altLang="en-US"/>
              <a:t>住交易成本等其他因素</a:t>
            </a:r>
            <a:r>
              <a:rPr lang="en-US" altLang="zh-CN"/>
              <a:t>）</a:t>
            </a:r>
            <a:endParaRPr lang="en-US" altLang="zh-CN"/>
          </a:p>
        </p:txBody>
      </p:sp>
      <p:grpSp>
        <p:nvGrpSpPr>
          <p:cNvPr id="17" name="组合 16"/>
          <p:cNvGrpSpPr/>
          <p:nvPr/>
        </p:nvGrpSpPr>
        <p:grpSpPr>
          <a:xfrm>
            <a:off x="2069465" y="1906905"/>
            <a:ext cx="2950210" cy="2720975"/>
            <a:chOff x="3107" y="5400"/>
            <a:chExt cx="3989" cy="4349"/>
          </a:xfrm>
        </p:grpSpPr>
        <p:sp>
          <p:nvSpPr>
            <p:cNvPr id="10" name="矩形 9"/>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3989" cy="589"/>
            </a:xfrm>
            <a:prstGeom prst="rect">
              <a:avLst/>
            </a:prstGeom>
            <a:solidFill>
              <a:srgbClr val="69025E"/>
            </a:solidFill>
          </p:spPr>
          <p:txBody>
            <a:bodyPr wrap="square">
              <a:spAutoFit/>
            </a:bodyPr>
            <a:lstStyle/>
            <a:p>
              <a:pPr algn="ctr"/>
              <a:r>
                <a:rPr lang="zh-CN" altLang="en-US" b="1">
                  <a:solidFill>
                    <a:schemeClr val="bg1"/>
                  </a:solidFill>
                  <a:sym typeface="+mn-ea"/>
                </a:rPr>
                <a:t>校准</a:t>
              </a:r>
              <a:r>
                <a:rPr lang="en-US" altLang="zh-CN" b="1">
                  <a:solidFill>
                    <a:schemeClr val="bg1"/>
                  </a:solidFill>
                  <a:sym typeface="+mn-ea"/>
                </a:rPr>
                <a:t>1 </a:t>
              </a:r>
              <a:r>
                <a:rPr lang="zh-CN" altLang="en-US" b="1">
                  <a:solidFill>
                    <a:schemeClr val="bg1"/>
                  </a:solidFill>
                  <a:sym typeface="+mn-ea"/>
                </a:rPr>
                <a:t>集聚参数 </a:t>
              </a:r>
              <a:r>
                <a:rPr lang="en-US" altLang="zh-CN" b="1">
                  <a:solidFill>
                    <a:schemeClr val="bg1"/>
                  </a:solidFill>
                  <a:sym typeface="+mn-ea"/>
                </a:rPr>
                <a:t>γ</a:t>
              </a:r>
              <a:endParaRPr lang="en-US" altLang="zh-CN" b="1" dirty="0">
                <a:solidFill>
                  <a:schemeClr val="bg1"/>
                </a:solidFill>
                <a:sym typeface="+mn-ea"/>
              </a:endParaRPr>
            </a:p>
          </p:txBody>
        </p:sp>
      </p:grpSp>
      <p:sp>
        <p:nvSpPr>
          <p:cNvPr id="5" name="文本框 4"/>
          <p:cNvSpPr txBox="1"/>
          <p:nvPr/>
        </p:nvSpPr>
        <p:spPr>
          <a:xfrm>
            <a:off x="2068830" y="2275205"/>
            <a:ext cx="2950210" cy="2351405"/>
          </a:xfrm>
          <a:prstGeom prst="rect">
            <a:avLst/>
          </a:prstGeom>
          <a:noFill/>
        </p:spPr>
        <p:txBody>
          <a:bodyPr wrap="square" rtlCol="0" anchor="ctr" anchorCtr="0">
            <a:noAutofit/>
          </a:bodyPr>
          <a:p>
            <a:pPr marL="285750" indent="-285750">
              <a:buFont typeface="Arial" panose="020B0604020202090204" pitchFamily="34" charset="0"/>
              <a:buChar char="•"/>
            </a:pPr>
            <a:r>
              <a:rPr lang="zh-CN" altLang="en-US" sz="1600">
                <a:solidFill>
                  <a:schemeClr val="tx1"/>
                </a:solidFill>
              </a:rPr>
              <a:t>研究现状</a:t>
            </a:r>
            <a:r>
              <a:rPr lang="en-US" altLang="zh-CN" sz="1600">
                <a:solidFill>
                  <a:schemeClr val="tx1"/>
                </a:solidFill>
              </a:rPr>
              <a:t>：</a:t>
            </a:r>
            <a:endParaRPr lang="en-US" altLang="zh-CN" sz="1600">
              <a:solidFill>
                <a:schemeClr val="tx1"/>
              </a:solidFill>
            </a:endParaRPr>
          </a:p>
          <a:p>
            <a:pPr marL="342900" indent="-342900">
              <a:buFont typeface="+mj-lt"/>
              <a:buAutoNum type="arabicPeriod"/>
            </a:pPr>
            <a:r>
              <a:rPr lang="en-US" altLang="zh-CN" sz="1600">
                <a:solidFill>
                  <a:schemeClr val="tx1"/>
                </a:solidFill>
              </a:rPr>
              <a:t>Rosenthal</a:t>
            </a:r>
            <a:r>
              <a:rPr lang="zh-CN" altLang="en-US" sz="1600">
                <a:solidFill>
                  <a:schemeClr val="tx1"/>
                </a:solidFill>
              </a:rPr>
              <a:t>和</a:t>
            </a:r>
            <a:r>
              <a:rPr lang="en-US" altLang="zh-CN" sz="1600">
                <a:solidFill>
                  <a:schemeClr val="tx1"/>
                </a:solidFill>
              </a:rPr>
              <a:t>Strange (2004)、Combes</a:t>
            </a:r>
            <a:r>
              <a:rPr lang="zh-CN" altLang="en-US" sz="1600">
                <a:solidFill>
                  <a:schemeClr val="tx1"/>
                </a:solidFill>
              </a:rPr>
              <a:t>和</a:t>
            </a:r>
            <a:r>
              <a:rPr lang="en-US" altLang="zh-CN" sz="1600">
                <a:solidFill>
                  <a:schemeClr val="tx1"/>
                </a:solidFill>
              </a:rPr>
              <a:t>Gobillon</a:t>
            </a:r>
            <a:r>
              <a:rPr lang="en-US" altLang="zh-CN" sz="1600">
                <a:solidFill>
                  <a:schemeClr val="tx1"/>
                </a:solidFill>
                <a:sym typeface="+mn-ea"/>
              </a:rPr>
              <a:t>(2015)</a:t>
            </a:r>
            <a:r>
              <a:rPr lang="zh-CN" altLang="en-US" sz="1600">
                <a:solidFill>
                  <a:schemeClr val="tx1"/>
                </a:solidFill>
                <a:sym typeface="+mn-ea"/>
              </a:rPr>
              <a:t>进行了文献综述</a:t>
            </a:r>
            <a:r>
              <a:rPr lang="en-US" altLang="zh-CN" sz="1600">
                <a:solidFill>
                  <a:schemeClr val="tx1"/>
                </a:solidFill>
                <a:sym typeface="+mn-ea"/>
              </a:rPr>
              <a:t>。</a:t>
            </a:r>
            <a:endParaRPr lang="en-US" altLang="zh-CN" sz="1600">
              <a:solidFill>
                <a:schemeClr val="tx1"/>
              </a:solidFill>
              <a:sym typeface="+mn-ea"/>
            </a:endParaRPr>
          </a:p>
          <a:p>
            <a:pPr marL="342900" indent="-342900">
              <a:buFont typeface="+mj-lt"/>
              <a:buAutoNum type="arabicPeriod"/>
            </a:pPr>
            <a:r>
              <a:rPr lang="zh-CN" altLang="en-US" sz="1600" b="1">
                <a:solidFill>
                  <a:srgbClr val="660066"/>
                </a:solidFill>
                <a:sym typeface="+mn-ea"/>
              </a:rPr>
              <a:t>对发达国家</a:t>
            </a:r>
            <a:r>
              <a:rPr lang="en-US" altLang="zh-CN" sz="1600" b="1">
                <a:solidFill>
                  <a:srgbClr val="660066"/>
                </a:solidFill>
                <a:sym typeface="+mn-ea"/>
              </a:rPr>
              <a:t>：</a:t>
            </a:r>
            <a:r>
              <a:rPr lang="en-US" altLang="zh-CN" sz="1600" b="1">
                <a:solidFill>
                  <a:schemeClr val="tx1"/>
                </a:solidFill>
                <a:sym typeface="+mn-ea"/>
              </a:rPr>
              <a:t>γ</a:t>
            </a:r>
            <a:r>
              <a:rPr lang="zh-CN" altLang="en-US" sz="1600">
                <a:solidFill>
                  <a:schemeClr val="tx1"/>
                </a:solidFill>
                <a:sym typeface="+mn-ea"/>
              </a:rPr>
              <a:t>共识的数值在</a:t>
            </a:r>
            <a:r>
              <a:rPr lang="en-US" altLang="zh-CN" sz="1600">
                <a:solidFill>
                  <a:schemeClr val="tx1"/>
                </a:solidFill>
                <a:sym typeface="+mn-ea"/>
              </a:rPr>
              <a:t>0.01～0.02</a:t>
            </a:r>
            <a:r>
              <a:rPr lang="zh-CN" altLang="en-US" sz="1600">
                <a:solidFill>
                  <a:schemeClr val="tx1"/>
                </a:solidFill>
                <a:sym typeface="+mn-ea"/>
              </a:rPr>
              <a:t>之间</a:t>
            </a:r>
            <a:r>
              <a:rPr lang="en-US" altLang="zh-CN" sz="1600">
                <a:solidFill>
                  <a:schemeClr val="tx1"/>
                </a:solidFill>
                <a:sym typeface="+mn-ea"/>
              </a:rPr>
              <a:t>，</a:t>
            </a:r>
            <a:r>
              <a:rPr lang="zh-CN" altLang="en-US" sz="1600">
                <a:solidFill>
                  <a:schemeClr val="tx1"/>
                </a:solidFill>
                <a:sym typeface="+mn-ea"/>
              </a:rPr>
              <a:t>部分研究认为这一数值应该更大</a:t>
            </a:r>
            <a:r>
              <a:rPr lang="en-US" altLang="zh-CN" sz="1600">
                <a:solidFill>
                  <a:schemeClr val="tx1"/>
                </a:solidFill>
                <a:sym typeface="+mn-ea"/>
              </a:rPr>
              <a:t>。</a:t>
            </a:r>
            <a:endParaRPr lang="en-US" altLang="zh-CN" sz="1600">
              <a:solidFill>
                <a:schemeClr val="tx1"/>
              </a:solidFill>
              <a:sym typeface="+mn-ea"/>
            </a:endParaRPr>
          </a:p>
          <a:p>
            <a:pPr marL="342900" indent="-342900">
              <a:buFont typeface="+mj-lt"/>
              <a:buAutoNum type="arabicPeriod"/>
            </a:pPr>
            <a:r>
              <a:rPr lang="zh-CN" altLang="en-US" sz="1600" b="1">
                <a:solidFill>
                  <a:srgbClr val="660066"/>
                </a:solidFill>
              </a:rPr>
              <a:t>对发展中国家：</a:t>
            </a:r>
            <a:r>
              <a:rPr lang="zh-CN" altLang="en-US" sz="1600">
                <a:solidFill>
                  <a:schemeClr val="tx1"/>
                </a:solidFill>
              </a:rPr>
              <a:t>文献较少</a:t>
            </a:r>
            <a:r>
              <a:rPr lang="en-US" altLang="zh-CN" sz="1600">
                <a:solidFill>
                  <a:schemeClr val="tx1"/>
                </a:solidFill>
              </a:rPr>
              <a:t>、</a:t>
            </a:r>
            <a:r>
              <a:rPr lang="zh-CN" altLang="en-US" sz="1600">
                <a:solidFill>
                  <a:schemeClr val="tx1"/>
                </a:solidFill>
              </a:rPr>
              <a:t>认为这一数值最大为</a:t>
            </a:r>
            <a:r>
              <a:rPr lang="en-US" altLang="zh-CN" sz="1600">
                <a:solidFill>
                  <a:schemeClr val="tx1"/>
                </a:solidFill>
              </a:rPr>
              <a:t>1。</a:t>
            </a:r>
            <a:endParaRPr lang="en-US" altLang="zh-CN" sz="1600">
              <a:solidFill>
                <a:schemeClr val="tx1"/>
              </a:solidFill>
            </a:endParaRPr>
          </a:p>
        </p:txBody>
      </p:sp>
      <p:sp>
        <p:nvSpPr>
          <p:cNvPr id="12" name="文本框 11"/>
          <p:cNvSpPr txBox="1"/>
          <p:nvPr/>
        </p:nvSpPr>
        <p:spPr>
          <a:xfrm>
            <a:off x="2048510" y="4853305"/>
            <a:ext cx="2986405" cy="72072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t> </a:t>
            </a:r>
            <a:r>
              <a:rPr lang="zh-CN" altLang="en-US" sz="1600" dirty="0"/>
              <a:t>基准</a:t>
            </a:r>
            <a:r>
              <a:rPr lang="en-US" altLang="zh-CN" sz="1600" dirty="0"/>
              <a:t>：</a:t>
            </a:r>
            <a:r>
              <a:rPr lang="en-US" altLang="zh-CN" sz="1600">
                <a:solidFill>
                  <a:schemeClr val="bg1"/>
                </a:solidFill>
                <a:sym typeface="+mn-ea"/>
              </a:rPr>
              <a:t>γ=0.05</a:t>
            </a:r>
            <a:endParaRPr lang="en-US" altLang="zh-CN" sz="1600" dirty="0"/>
          </a:p>
          <a:p>
            <a:r>
              <a:rPr lang="zh-CN" altLang="en-US" sz="1600" dirty="0"/>
              <a:t>稳健性检验</a:t>
            </a:r>
            <a:r>
              <a:rPr lang="en-US" altLang="zh-CN" sz="1600" dirty="0"/>
              <a:t>：</a:t>
            </a:r>
            <a:r>
              <a:rPr lang="en-US" altLang="zh-CN" sz="1600">
                <a:solidFill>
                  <a:schemeClr val="bg1"/>
                </a:solidFill>
                <a:sym typeface="+mn-ea"/>
              </a:rPr>
              <a:t>0～0.08</a:t>
            </a:r>
            <a:endParaRPr lang="zh-CN" altLang="en-US" sz="1600">
              <a:solidFill>
                <a:schemeClr val="bg1"/>
              </a:solidFill>
              <a:sym typeface="+mn-ea"/>
            </a:endParaRPr>
          </a:p>
        </p:txBody>
      </p:sp>
      <p:sp>
        <p:nvSpPr>
          <p:cNvPr id="46" name="矩形: 圆角 7"/>
          <p:cNvSpPr/>
          <p:nvPr/>
        </p:nvSpPr>
        <p:spPr>
          <a:xfrm>
            <a:off x="5286375" y="1921510"/>
            <a:ext cx="2987040" cy="270700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indent="0" algn="ctr">
              <a:buFont typeface="Arial" panose="020B0604020202090204" pitchFamily="34" charset="0"/>
              <a:buNone/>
            </a:pPr>
            <a:r>
              <a:rPr lang="zh-CN" altLang="en-US" sz="1600" kern="100" dirty="0">
                <a:solidFill>
                  <a:schemeClr val="tx1"/>
                </a:solidFill>
                <a:effectLst/>
                <a:latin typeface="Times New Roman" panose="02020503050405090304" pitchFamily="18" charset="0"/>
              </a:rPr>
              <a:t>直觉上</a:t>
            </a:r>
            <a:r>
              <a:rPr lang="en-US" altLang="zh-CN" sz="1600" kern="100" dirty="0">
                <a:solidFill>
                  <a:schemeClr val="tx1"/>
                </a:solidFill>
                <a:effectLst/>
                <a:latin typeface="Times New Roman" panose="02020503050405090304" pitchFamily="18" charset="0"/>
              </a:rPr>
              <a:t>：</a:t>
            </a:r>
            <a:endParaRPr lang="en-US" altLang="zh-CN" sz="1600" kern="100" dirty="0">
              <a:solidFill>
                <a:schemeClr val="tx1"/>
              </a:solidFill>
              <a:effectLst/>
              <a:latin typeface="Times New Roman" panose="02020503050405090304" pitchFamily="18" charset="0"/>
            </a:endParaRPr>
          </a:p>
          <a:p>
            <a:pPr indent="0">
              <a:buFont typeface="Arial" panose="020B0604020202090204" pitchFamily="34" charset="0"/>
              <a:buNone/>
            </a:pPr>
            <a:r>
              <a:rPr lang="zh-CN" altLang="en-US" sz="1600" kern="100" dirty="0">
                <a:solidFill>
                  <a:schemeClr val="tx1"/>
                </a:solidFill>
                <a:effectLst/>
                <a:latin typeface="Times New Roman" panose="02020503050405090304" pitchFamily="18" charset="0"/>
              </a:rPr>
              <a:t>人和企业聚在一起，可能更容易找到合适的工作者、交流知识、共享设施，因此每个人的生产率会提高。因此</a:t>
            </a:r>
            <a:r>
              <a:rPr lang="en-US" altLang="zh-CN" sz="1600" kern="100" dirty="0">
                <a:solidFill>
                  <a:schemeClr val="tx1"/>
                </a:solidFill>
                <a:effectLst/>
                <a:latin typeface="Times New Roman" panose="02020503050405090304" pitchFamily="18" charset="0"/>
              </a:rPr>
              <a:t>，</a:t>
            </a:r>
            <a:r>
              <a:rPr lang="en-US" altLang="zh-CN" sz="1600" b="1">
                <a:solidFill>
                  <a:schemeClr val="tx1"/>
                </a:solidFill>
                <a:sym typeface="+mn-ea"/>
              </a:rPr>
              <a:t>γ</a:t>
            </a:r>
            <a:r>
              <a:rPr lang="zh-CN" altLang="en-US" sz="1600" kern="100" dirty="0">
                <a:solidFill>
                  <a:schemeClr val="tx1"/>
                </a:solidFill>
                <a:effectLst/>
                <a:latin typeface="Times New Roman" panose="02020503050405090304" pitchFamily="18" charset="0"/>
              </a:rPr>
              <a:t>越大，降低迁移障碍的产出收益越大。</a:t>
            </a:r>
            <a:endParaRPr lang="zh-CN" altLang="en-US" sz="1600" kern="100" dirty="0">
              <a:solidFill>
                <a:schemeClr val="tx1"/>
              </a:solidFill>
              <a:effectLst/>
              <a:latin typeface="Times New Roman" panose="0202050305040509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2038350" y="1071245"/>
            <a:ext cx="9129395" cy="7289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4.1</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反事实</a:t>
            </a:r>
            <a:r>
              <a:rPr lang="en-US" altLang="zh-CN" sz="2800" b="1" dirty="0">
                <a:latin typeface="+mn-lt"/>
              </a:rPr>
              <a:t>、</a:t>
            </a:r>
            <a:r>
              <a:rPr lang="zh-CN" altLang="en-US" sz="2800" b="1" dirty="0">
                <a:latin typeface="+mn-lt"/>
              </a:rPr>
              <a:t>一般均衡参数</a:t>
            </a:r>
            <a:r>
              <a:rPr lang="zh-CN" altLang="en-US" sz="2800" b="1" dirty="0">
                <a:latin typeface="+mn-lt"/>
              </a:rPr>
              <a:t>校准</a:t>
            </a:r>
            <a:endParaRPr lang="zh-CN" altLang="en-US" sz="2800" b="1" dirty="0">
              <a:latin typeface="+mn-lt"/>
            </a:endParaRPr>
          </a:p>
        </p:txBody>
      </p:sp>
      <p:sp>
        <p:nvSpPr>
          <p:cNvPr id="2" name="文本框 1"/>
          <p:cNvSpPr txBox="1"/>
          <p:nvPr/>
        </p:nvSpPr>
        <p:spPr>
          <a:xfrm>
            <a:off x="2048510" y="1076960"/>
            <a:ext cx="9130030" cy="720090"/>
          </a:xfrm>
          <a:prstGeom prst="rect">
            <a:avLst/>
          </a:prstGeom>
          <a:noFill/>
        </p:spPr>
        <p:txBody>
          <a:bodyPr wrap="square" rtlCol="0" anchor="ctr" anchorCtr="0">
            <a:noAutofit/>
          </a:bodyPr>
          <a:p>
            <a:pPr algn="ctr"/>
            <a:r>
              <a:rPr lang="zh-CN" altLang="en-US" b="1"/>
              <a:t>反事实研究的核心问题</a:t>
            </a:r>
            <a:r>
              <a:rPr lang="en-US" altLang="zh-CN" b="1"/>
              <a:t>：</a:t>
            </a:r>
            <a:r>
              <a:rPr lang="zh-CN" altLang="en-US" b="1" u="sng"/>
              <a:t>消除迁移障碍是否会提高生产率</a:t>
            </a:r>
            <a:endParaRPr lang="zh-CN" altLang="en-US" b="1" u="sng"/>
          </a:p>
          <a:p>
            <a:pPr algn="ctr"/>
            <a:r>
              <a:rPr lang="en-US" altLang="zh-CN"/>
              <a:t>（</a:t>
            </a:r>
            <a:r>
              <a:rPr lang="zh-CN" altLang="en-US"/>
              <a:t>前提</a:t>
            </a:r>
            <a:r>
              <a:rPr lang="en-US" altLang="zh-CN"/>
              <a:t>：</a:t>
            </a:r>
            <a:r>
              <a:rPr lang="zh-CN" altLang="en-US"/>
              <a:t>消除迁移障碍的政策只改变迁移摩擦</a:t>
            </a:r>
            <a:r>
              <a:rPr lang="en-US" altLang="zh-CN"/>
              <a:t>，</a:t>
            </a:r>
            <a:r>
              <a:rPr lang="zh-CN" altLang="en-US"/>
              <a:t>而控制</a:t>
            </a:r>
            <a:r>
              <a:rPr lang="zh-CN" altLang="en-US"/>
              <a:t>住交易成本等其他因素</a:t>
            </a:r>
            <a:r>
              <a:rPr lang="en-US" altLang="zh-CN"/>
              <a:t>）</a:t>
            </a:r>
            <a:endParaRPr lang="en-US" altLang="zh-CN"/>
          </a:p>
        </p:txBody>
      </p:sp>
      <p:grpSp>
        <p:nvGrpSpPr>
          <p:cNvPr id="17" name="组合 16"/>
          <p:cNvGrpSpPr/>
          <p:nvPr/>
        </p:nvGrpSpPr>
        <p:grpSpPr>
          <a:xfrm>
            <a:off x="2069465" y="1906905"/>
            <a:ext cx="2950210" cy="2720975"/>
            <a:chOff x="3107" y="5400"/>
            <a:chExt cx="3989" cy="4349"/>
          </a:xfrm>
        </p:grpSpPr>
        <p:sp>
          <p:nvSpPr>
            <p:cNvPr id="10" name="矩形 9"/>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3989" cy="589"/>
            </a:xfrm>
            <a:prstGeom prst="rect">
              <a:avLst/>
            </a:prstGeom>
            <a:solidFill>
              <a:srgbClr val="69025E"/>
            </a:solidFill>
          </p:spPr>
          <p:txBody>
            <a:bodyPr wrap="square">
              <a:spAutoFit/>
            </a:bodyPr>
            <a:lstStyle/>
            <a:p>
              <a:pPr algn="ctr"/>
              <a:r>
                <a:rPr lang="zh-CN" altLang="en-US" b="1">
                  <a:solidFill>
                    <a:schemeClr val="bg1"/>
                  </a:solidFill>
                  <a:sym typeface="+mn-ea"/>
                </a:rPr>
                <a:t>校准</a:t>
              </a:r>
              <a:r>
                <a:rPr lang="en-US" altLang="zh-CN" b="1">
                  <a:solidFill>
                    <a:schemeClr val="bg1"/>
                  </a:solidFill>
                  <a:sym typeface="+mn-ea"/>
                </a:rPr>
                <a:t>1 </a:t>
              </a:r>
              <a:r>
                <a:rPr lang="zh-CN" altLang="en-US" b="1">
                  <a:solidFill>
                    <a:schemeClr val="bg1"/>
                  </a:solidFill>
                  <a:sym typeface="+mn-ea"/>
                </a:rPr>
                <a:t>集聚参数 </a:t>
              </a:r>
              <a:r>
                <a:rPr lang="en-US" altLang="zh-CN" b="1">
                  <a:solidFill>
                    <a:schemeClr val="bg1"/>
                  </a:solidFill>
                  <a:sym typeface="+mn-ea"/>
                </a:rPr>
                <a:t>γ</a:t>
              </a:r>
              <a:endParaRPr lang="en-US" altLang="zh-CN" b="1" dirty="0">
                <a:solidFill>
                  <a:schemeClr val="bg1"/>
                </a:solidFill>
                <a:sym typeface="+mn-ea"/>
              </a:endParaRPr>
            </a:p>
          </p:txBody>
        </p:sp>
      </p:grpSp>
      <p:grpSp>
        <p:nvGrpSpPr>
          <p:cNvPr id="24" name="组合 23"/>
          <p:cNvGrpSpPr/>
          <p:nvPr/>
        </p:nvGrpSpPr>
        <p:grpSpPr>
          <a:xfrm>
            <a:off x="5139690" y="1925955"/>
            <a:ext cx="2951480" cy="2700655"/>
            <a:chOff x="3105" y="5433"/>
            <a:chExt cx="3991" cy="4316"/>
          </a:xfrm>
        </p:grpSpPr>
        <p:sp>
          <p:nvSpPr>
            <p:cNvPr id="25" name="矩形 24"/>
            <p:cNvSpPr/>
            <p:nvPr/>
          </p:nvSpPr>
          <p:spPr>
            <a:xfrm>
              <a:off x="3107" y="5433"/>
              <a:ext cx="3989" cy="431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105" y="5433"/>
              <a:ext cx="3989" cy="589"/>
            </a:xfrm>
            <a:prstGeom prst="rect">
              <a:avLst/>
            </a:prstGeom>
            <a:solidFill>
              <a:srgbClr val="69025E"/>
            </a:solidFill>
          </p:spPr>
          <p:txBody>
            <a:bodyPr wrap="square">
              <a:spAutoFit/>
            </a:bodyPr>
            <a:lstStyle/>
            <a:p>
              <a:pPr algn="ctr"/>
              <a:r>
                <a:rPr lang="zh-CN" altLang="en-US" b="1" dirty="0">
                  <a:solidFill>
                    <a:schemeClr val="bg1"/>
                  </a:solidFill>
                </a:rPr>
                <a:t>校准</a:t>
              </a:r>
              <a:r>
                <a:rPr lang="en-US" altLang="zh-CN" b="1" dirty="0">
                  <a:solidFill>
                    <a:schemeClr val="bg1"/>
                  </a:solidFill>
                </a:rPr>
                <a:t>2 </a:t>
              </a:r>
              <a:r>
                <a:rPr lang="zh-CN" altLang="en-US" b="1" dirty="0">
                  <a:solidFill>
                    <a:schemeClr val="bg1"/>
                  </a:solidFill>
                </a:rPr>
                <a:t>拥挤参数 </a:t>
              </a:r>
              <a:r>
                <a:rPr lang="en-US" altLang="zh-CN" b="1" dirty="0">
                  <a:solidFill>
                    <a:schemeClr val="bg1"/>
                  </a:solidFill>
                </a:rPr>
                <a:t>λ</a:t>
              </a:r>
              <a:endParaRPr lang="en-US" altLang="zh-CN" b="1" dirty="0">
                <a:solidFill>
                  <a:schemeClr val="bg1"/>
                </a:solidFill>
              </a:endParaRPr>
            </a:p>
          </p:txBody>
        </p:sp>
      </p:grpSp>
      <p:sp>
        <p:nvSpPr>
          <p:cNvPr id="5" name="文本框 4"/>
          <p:cNvSpPr txBox="1"/>
          <p:nvPr/>
        </p:nvSpPr>
        <p:spPr>
          <a:xfrm>
            <a:off x="2068830" y="2275205"/>
            <a:ext cx="2950210" cy="2351405"/>
          </a:xfrm>
          <a:prstGeom prst="rect">
            <a:avLst/>
          </a:prstGeom>
          <a:noFill/>
        </p:spPr>
        <p:txBody>
          <a:bodyPr wrap="square" rtlCol="0" anchor="ctr" anchorCtr="0">
            <a:noAutofit/>
          </a:bodyPr>
          <a:p>
            <a:pPr marL="285750" indent="-285750">
              <a:buFont typeface="Arial" panose="020B0604020202090204" pitchFamily="34" charset="0"/>
              <a:buChar char="•"/>
            </a:pPr>
            <a:r>
              <a:rPr lang="zh-CN" altLang="en-US" sz="1600">
                <a:solidFill>
                  <a:schemeClr val="tx1"/>
                </a:solidFill>
              </a:rPr>
              <a:t>研究现状</a:t>
            </a:r>
            <a:r>
              <a:rPr lang="en-US" altLang="zh-CN" sz="1600">
                <a:solidFill>
                  <a:schemeClr val="tx1"/>
                </a:solidFill>
              </a:rPr>
              <a:t>：</a:t>
            </a:r>
            <a:endParaRPr lang="en-US" altLang="zh-CN" sz="1600">
              <a:solidFill>
                <a:schemeClr val="tx1"/>
              </a:solidFill>
            </a:endParaRPr>
          </a:p>
          <a:p>
            <a:pPr marL="342900" indent="-342900">
              <a:buFont typeface="+mj-lt"/>
              <a:buAutoNum type="arabicPeriod"/>
            </a:pPr>
            <a:r>
              <a:rPr lang="en-US" altLang="zh-CN" sz="1600">
                <a:solidFill>
                  <a:schemeClr val="tx1"/>
                </a:solidFill>
              </a:rPr>
              <a:t>Rosenthal</a:t>
            </a:r>
            <a:r>
              <a:rPr lang="zh-CN" altLang="en-US" sz="1600">
                <a:solidFill>
                  <a:schemeClr val="tx1"/>
                </a:solidFill>
              </a:rPr>
              <a:t>和</a:t>
            </a:r>
            <a:r>
              <a:rPr lang="en-US" altLang="zh-CN" sz="1600">
                <a:solidFill>
                  <a:schemeClr val="tx1"/>
                </a:solidFill>
              </a:rPr>
              <a:t>Strange (2004)、Combes</a:t>
            </a:r>
            <a:r>
              <a:rPr lang="zh-CN" altLang="en-US" sz="1600">
                <a:solidFill>
                  <a:schemeClr val="tx1"/>
                </a:solidFill>
              </a:rPr>
              <a:t>和</a:t>
            </a:r>
            <a:r>
              <a:rPr lang="en-US" altLang="zh-CN" sz="1600">
                <a:solidFill>
                  <a:schemeClr val="tx1"/>
                </a:solidFill>
              </a:rPr>
              <a:t>Gobillon</a:t>
            </a:r>
            <a:r>
              <a:rPr lang="en-US" altLang="zh-CN" sz="1600">
                <a:solidFill>
                  <a:schemeClr val="tx1"/>
                </a:solidFill>
                <a:sym typeface="+mn-ea"/>
              </a:rPr>
              <a:t>(2015)</a:t>
            </a:r>
            <a:r>
              <a:rPr lang="zh-CN" altLang="en-US" sz="1600">
                <a:solidFill>
                  <a:schemeClr val="tx1"/>
                </a:solidFill>
                <a:sym typeface="+mn-ea"/>
              </a:rPr>
              <a:t>进行了文献综述</a:t>
            </a:r>
            <a:r>
              <a:rPr lang="en-US" altLang="zh-CN" sz="1600">
                <a:solidFill>
                  <a:schemeClr val="tx1"/>
                </a:solidFill>
                <a:sym typeface="+mn-ea"/>
              </a:rPr>
              <a:t>。</a:t>
            </a:r>
            <a:endParaRPr lang="en-US" altLang="zh-CN" sz="1600">
              <a:solidFill>
                <a:schemeClr val="tx1"/>
              </a:solidFill>
              <a:sym typeface="+mn-ea"/>
            </a:endParaRPr>
          </a:p>
          <a:p>
            <a:pPr marL="342900" indent="-342900">
              <a:buFont typeface="+mj-lt"/>
              <a:buAutoNum type="arabicPeriod"/>
            </a:pPr>
            <a:r>
              <a:rPr lang="zh-CN" altLang="en-US" sz="1600" b="1">
                <a:solidFill>
                  <a:srgbClr val="660066"/>
                </a:solidFill>
                <a:sym typeface="+mn-ea"/>
              </a:rPr>
              <a:t>对发达国家</a:t>
            </a:r>
            <a:r>
              <a:rPr lang="en-US" altLang="zh-CN" sz="1600" b="1">
                <a:solidFill>
                  <a:srgbClr val="660066"/>
                </a:solidFill>
                <a:sym typeface="+mn-ea"/>
              </a:rPr>
              <a:t>：</a:t>
            </a:r>
            <a:r>
              <a:rPr lang="en-US" altLang="zh-CN" sz="1600" b="1">
                <a:solidFill>
                  <a:schemeClr val="tx1"/>
                </a:solidFill>
                <a:sym typeface="+mn-ea"/>
              </a:rPr>
              <a:t>γ</a:t>
            </a:r>
            <a:r>
              <a:rPr lang="zh-CN" altLang="en-US" sz="1600">
                <a:solidFill>
                  <a:schemeClr val="tx1"/>
                </a:solidFill>
                <a:sym typeface="+mn-ea"/>
              </a:rPr>
              <a:t>共识的数值在</a:t>
            </a:r>
            <a:r>
              <a:rPr lang="en-US" altLang="zh-CN" sz="1600">
                <a:solidFill>
                  <a:schemeClr val="tx1"/>
                </a:solidFill>
                <a:sym typeface="+mn-ea"/>
              </a:rPr>
              <a:t>0.01～0.02</a:t>
            </a:r>
            <a:r>
              <a:rPr lang="zh-CN" altLang="en-US" sz="1600">
                <a:solidFill>
                  <a:schemeClr val="tx1"/>
                </a:solidFill>
                <a:sym typeface="+mn-ea"/>
              </a:rPr>
              <a:t>之间</a:t>
            </a:r>
            <a:r>
              <a:rPr lang="en-US" altLang="zh-CN" sz="1600">
                <a:solidFill>
                  <a:schemeClr val="tx1"/>
                </a:solidFill>
                <a:sym typeface="+mn-ea"/>
              </a:rPr>
              <a:t>，</a:t>
            </a:r>
            <a:r>
              <a:rPr lang="zh-CN" altLang="en-US" sz="1600">
                <a:solidFill>
                  <a:schemeClr val="tx1"/>
                </a:solidFill>
                <a:sym typeface="+mn-ea"/>
              </a:rPr>
              <a:t>部分研究认为这一数值应该更大</a:t>
            </a:r>
            <a:r>
              <a:rPr lang="en-US" altLang="zh-CN" sz="1600">
                <a:solidFill>
                  <a:schemeClr val="tx1"/>
                </a:solidFill>
                <a:sym typeface="+mn-ea"/>
              </a:rPr>
              <a:t>。</a:t>
            </a:r>
            <a:endParaRPr lang="en-US" altLang="zh-CN" sz="1600">
              <a:solidFill>
                <a:schemeClr val="tx1"/>
              </a:solidFill>
              <a:sym typeface="+mn-ea"/>
            </a:endParaRPr>
          </a:p>
          <a:p>
            <a:pPr marL="342900" indent="-342900">
              <a:buFont typeface="+mj-lt"/>
              <a:buAutoNum type="arabicPeriod"/>
            </a:pPr>
            <a:r>
              <a:rPr lang="zh-CN" altLang="en-US" sz="1600" b="1">
                <a:solidFill>
                  <a:srgbClr val="660066"/>
                </a:solidFill>
              </a:rPr>
              <a:t>对发展中国家：</a:t>
            </a:r>
            <a:r>
              <a:rPr lang="zh-CN" altLang="en-US" sz="1600">
                <a:solidFill>
                  <a:schemeClr val="tx1"/>
                </a:solidFill>
              </a:rPr>
              <a:t>文献较少</a:t>
            </a:r>
            <a:r>
              <a:rPr lang="en-US" altLang="zh-CN" sz="1600">
                <a:solidFill>
                  <a:schemeClr val="tx1"/>
                </a:solidFill>
              </a:rPr>
              <a:t>、</a:t>
            </a:r>
            <a:r>
              <a:rPr lang="zh-CN" altLang="en-US" sz="1600">
                <a:solidFill>
                  <a:schemeClr val="tx1"/>
                </a:solidFill>
              </a:rPr>
              <a:t>认为这一数值最大为</a:t>
            </a:r>
            <a:r>
              <a:rPr lang="en-US" altLang="zh-CN" sz="1600">
                <a:solidFill>
                  <a:schemeClr val="tx1"/>
                </a:solidFill>
              </a:rPr>
              <a:t>1。</a:t>
            </a:r>
            <a:endParaRPr lang="en-US" altLang="zh-CN" sz="1600">
              <a:solidFill>
                <a:schemeClr val="tx1"/>
              </a:solidFill>
            </a:endParaRPr>
          </a:p>
        </p:txBody>
      </p:sp>
      <p:sp>
        <p:nvSpPr>
          <p:cNvPr id="12" name="文本框 11"/>
          <p:cNvSpPr txBox="1"/>
          <p:nvPr/>
        </p:nvSpPr>
        <p:spPr>
          <a:xfrm>
            <a:off x="2048510" y="4853305"/>
            <a:ext cx="2986405" cy="72072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t> </a:t>
            </a:r>
            <a:r>
              <a:rPr lang="zh-CN" altLang="en-US" sz="1600" dirty="0"/>
              <a:t>基准</a:t>
            </a:r>
            <a:r>
              <a:rPr lang="en-US" altLang="zh-CN" sz="1600" dirty="0"/>
              <a:t>：</a:t>
            </a:r>
            <a:r>
              <a:rPr lang="en-US" altLang="zh-CN" sz="1600">
                <a:solidFill>
                  <a:schemeClr val="bg1"/>
                </a:solidFill>
                <a:sym typeface="+mn-ea"/>
              </a:rPr>
              <a:t>γ=0.05</a:t>
            </a:r>
            <a:endParaRPr lang="en-US" altLang="zh-CN" sz="1600" dirty="0"/>
          </a:p>
          <a:p>
            <a:r>
              <a:rPr lang="zh-CN" altLang="en-US" sz="1600" dirty="0"/>
              <a:t>稳健性检验</a:t>
            </a:r>
            <a:r>
              <a:rPr lang="en-US" altLang="zh-CN" sz="1600" dirty="0"/>
              <a:t>：</a:t>
            </a:r>
            <a:r>
              <a:rPr lang="en-US" altLang="zh-CN" sz="1600">
                <a:solidFill>
                  <a:schemeClr val="bg1"/>
                </a:solidFill>
                <a:sym typeface="+mn-ea"/>
              </a:rPr>
              <a:t>0～0.08</a:t>
            </a:r>
            <a:endParaRPr lang="zh-CN" altLang="en-US" sz="1600">
              <a:solidFill>
                <a:schemeClr val="bg1"/>
              </a:solidFill>
              <a:sym typeface="+mn-ea"/>
            </a:endParaRPr>
          </a:p>
        </p:txBody>
      </p:sp>
      <p:sp>
        <p:nvSpPr>
          <p:cNvPr id="13" name="文本框 12"/>
          <p:cNvSpPr txBox="1"/>
          <p:nvPr/>
        </p:nvSpPr>
        <p:spPr>
          <a:xfrm>
            <a:off x="5154930" y="4853305"/>
            <a:ext cx="6570345" cy="72072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solidFill>
                  <a:schemeClr val="bg1"/>
                </a:solidFill>
              </a:rPr>
              <a:t> </a:t>
            </a:r>
            <a:r>
              <a:rPr lang="zh-CN" altLang="en-US" sz="1600" dirty="0">
                <a:solidFill>
                  <a:schemeClr val="bg1"/>
                </a:solidFill>
              </a:rPr>
              <a:t>基准</a:t>
            </a:r>
            <a:r>
              <a:rPr lang="en-US" altLang="zh-CN" sz="1600" dirty="0">
                <a:solidFill>
                  <a:schemeClr val="bg1"/>
                </a:solidFill>
              </a:rPr>
              <a:t>：</a:t>
            </a:r>
            <a:r>
              <a:rPr lang="en-US" altLang="zh-CN" sz="1600" dirty="0">
                <a:solidFill>
                  <a:schemeClr val="bg1"/>
                </a:solidFill>
                <a:sym typeface="+mn-ea"/>
              </a:rPr>
              <a:t>λ=λa-0.3λr=0-0.3*0.25=-0.075（</a:t>
            </a:r>
            <a:r>
              <a:rPr lang="en-US" altLang="zh-CN" sz="1600" dirty="0">
                <a:solidFill>
                  <a:schemeClr val="bg1"/>
                </a:solidFill>
                <a:sym typeface="+mn-ea"/>
              </a:rPr>
              <a:t>0.3</a:t>
            </a:r>
            <a:r>
              <a:rPr lang="zh-CN" altLang="en-US" sz="1600" dirty="0">
                <a:solidFill>
                  <a:schemeClr val="bg1"/>
                </a:solidFill>
                <a:sym typeface="+mn-ea"/>
              </a:rPr>
              <a:t>为租房支出在收入份额</a:t>
            </a:r>
            <a:r>
              <a:rPr lang="en-US" altLang="zh-CN" sz="1600" dirty="0">
                <a:solidFill>
                  <a:schemeClr val="bg1"/>
                </a:solidFill>
                <a:sym typeface="+mn-ea"/>
              </a:rPr>
              <a:t>）</a:t>
            </a:r>
            <a:endParaRPr lang="en-US" altLang="zh-CN" sz="1600" dirty="0">
              <a:solidFill>
                <a:schemeClr val="bg1"/>
              </a:solidFill>
            </a:endParaRPr>
          </a:p>
          <a:p>
            <a:r>
              <a:rPr lang="zh-CN" altLang="en-US" sz="1600" dirty="0">
                <a:solidFill>
                  <a:schemeClr val="bg1"/>
                </a:solidFill>
                <a:sym typeface="+mn-ea"/>
              </a:rPr>
              <a:t>稳健性检验</a:t>
            </a:r>
            <a:r>
              <a:rPr lang="en-US" altLang="zh-CN" sz="1600" dirty="0">
                <a:solidFill>
                  <a:schemeClr val="bg1"/>
                </a:solidFill>
                <a:sym typeface="+mn-ea"/>
              </a:rPr>
              <a:t>：</a:t>
            </a:r>
            <a:r>
              <a:rPr lang="en-US" altLang="zh-CN" sz="1600" dirty="0">
                <a:solidFill>
                  <a:schemeClr val="bg1"/>
                </a:solidFill>
                <a:sym typeface="+mn-ea"/>
              </a:rPr>
              <a:t>λa 0～-0.04</a:t>
            </a:r>
            <a:endParaRPr lang="en-US" altLang="zh-CN" sz="1600" dirty="0">
              <a:solidFill>
                <a:schemeClr val="bg1"/>
              </a:solidFill>
              <a:sym typeface="+mn-ea"/>
            </a:endParaRPr>
          </a:p>
        </p:txBody>
      </p:sp>
      <p:sp>
        <p:nvSpPr>
          <p:cNvPr id="4" name="文本框 3"/>
          <p:cNvSpPr txBox="1"/>
          <p:nvPr/>
        </p:nvSpPr>
        <p:spPr>
          <a:xfrm>
            <a:off x="5132705" y="2283460"/>
            <a:ext cx="2950210" cy="2351405"/>
          </a:xfrm>
          <a:prstGeom prst="rect">
            <a:avLst/>
          </a:prstGeom>
          <a:noFill/>
        </p:spPr>
        <p:txBody>
          <a:bodyPr wrap="square" rtlCol="0" anchor="ctr" anchorCtr="0">
            <a:noAutofit/>
          </a:bodyPr>
          <a:p>
            <a:pPr marL="285750" indent="-285750">
              <a:buFont typeface="Arial" panose="020B0604020202090204" pitchFamily="34" charset="0"/>
              <a:buChar char="•"/>
            </a:pPr>
            <a:r>
              <a:rPr lang="zh-CN" altLang="en-US" sz="1600">
                <a:solidFill>
                  <a:schemeClr val="tx1"/>
                </a:solidFill>
              </a:rPr>
              <a:t>研究现状</a:t>
            </a:r>
            <a:r>
              <a:rPr lang="en-US" altLang="zh-CN" sz="1600">
                <a:solidFill>
                  <a:schemeClr val="tx1"/>
                </a:solidFill>
              </a:rPr>
              <a:t>：</a:t>
            </a:r>
            <a:r>
              <a:rPr lang="zh-CN" altLang="en-US" sz="1600">
                <a:solidFill>
                  <a:schemeClr val="tx1"/>
                </a:solidFill>
              </a:rPr>
              <a:t>拆分</a:t>
            </a:r>
            <a:r>
              <a:rPr lang="zh-CN" altLang="en-US" sz="1600">
                <a:solidFill>
                  <a:schemeClr val="tx1"/>
                </a:solidFill>
              </a:rPr>
              <a:t>为纯宜居性外溢</a:t>
            </a:r>
            <a:r>
              <a:rPr lang="en-US" altLang="zh-CN" sz="1600" b="1" dirty="0">
                <a:solidFill>
                  <a:schemeClr val="tx1"/>
                </a:solidFill>
                <a:sym typeface="+mn-ea"/>
              </a:rPr>
              <a:t>λa</a:t>
            </a:r>
            <a:r>
              <a:rPr lang="zh-CN" altLang="en-US" sz="1600">
                <a:solidFill>
                  <a:schemeClr val="tx1"/>
                </a:solidFill>
              </a:rPr>
              <a:t>和住房价格反应</a:t>
            </a:r>
            <a:r>
              <a:rPr lang="en-US" altLang="zh-CN" sz="1600" b="1" dirty="0">
                <a:solidFill>
                  <a:schemeClr val="tx1"/>
                </a:solidFill>
                <a:sym typeface="+mn-ea"/>
              </a:rPr>
              <a:t>λr</a:t>
            </a:r>
            <a:endParaRPr lang="en-US" altLang="zh-CN" sz="1600" b="1" dirty="0">
              <a:solidFill>
                <a:schemeClr val="tx1"/>
              </a:solidFill>
              <a:sym typeface="+mn-ea"/>
            </a:endParaRPr>
          </a:p>
          <a:p>
            <a:pPr marL="342900" indent="-342900">
              <a:buFont typeface="Arial" panose="020B0604020202090204" pitchFamily="34" charset="0"/>
              <a:buAutoNum type="arabicPeriod"/>
            </a:pPr>
            <a:r>
              <a:rPr lang="en-US" altLang="zh-CN" sz="1600" b="1" dirty="0">
                <a:solidFill>
                  <a:srgbClr val="660066"/>
                </a:solidFill>
                <a:sym typeface="+mn-ea"/>
              </a:rPr>
              <a:t>λa：</a:t>
            </a:r>
            <a:r>
              <a:rPr lang="en-US" altLang="zh-CN" sz="1600" dirty="0">
                <a:sym typeface="+mn-ea"/>
              </a:rPr>
              <a:t>Albouy (2011) </a:t>
            </a:r>
            <a:r>
              <a:rPr lang="zh-CN" altLang="en-US" sz="1600" dirty="0">
                <a:sym typeface="+mn-ea"/>
              </a:rPr>
              <a:t>认为美国的水平为</a:t>
            </a:r>
            <a:r>
              <a:rPr lang="en-US" altLang="zh-CN" sz="1600" dirty="0">
                <a:sym typeface="+mn-ea"/>
              </a:rPr>
              <a:t>0；Combes &amp; Gobillon (2015)</a:t>
            </a:r>
            <a:r>
              <a:rPr lang="zh-CN" altLang="en-US" sz="1600" dirty="0">
                <a:sym typeface="+mn-ea"/>
              </a:rPr>
              <a:t>估计为</a:t>
            </a:r>
            <a:r>
              <a:rPr lang="en-US" altLang="zh-CN" sz="1600" dirty="0">
                <a:sym typeface="+mn-ea"/>
              </a:rPr>
              <a:t>-0.04</a:t>
            </a:r>
            <a:endParaRPr lang="en-US" altLang="zh-CN" sz="1600" dirty="0">
              <a:sym typeface="+mn-ea"/>
            </a:endParaRPr>
          </a:p>
          <a:p>
            <a:pPr marL="342900" indent="-342900">
              <a:buFont typeface="Arial" panose="020B0604020202090204" pitchFamily="34" charset="0"/>
              <a:buAutoNum type="arabicPeriod"/>
            </a:pPr>
            <a:r>
              <a:rPr lang="en-US" altLang="zh-CN" sz="1600" b="1" dirty="0">
                <a:solidFill>
                  <a:srgbClr val="660066"/>
                </a:solidFill>
                <a:sym typeface="+mn-ea"/>
              </a:rPr>
              <a:t>λr：</a:t>
            </a:r>
            <a:r>
              <a:rPr lang="zh-CN" altLang="en-US" sz="1600" dirty="0">
                <a:sym typeface="+mn-ea"/>
              </a:rPr>
              <a:t>低收入国家研究较少</a:t>
            </a:r>
            <a:r>
              <a:rPr lang="en-US" altLang="zh-CN" sz="1600" dirty="0">
                <a:sym typeface="+mn-ea"/>
              </a:rPr>
              <a:t>，</a:t>
            </a:r>
            <a:r>
              <a:rPr lang="zh-CN" altLang="en-US" sz="1600" dirty="0">
                <a:sym typeface="+mn-ea"/>
              </a:rPr>
              <a:t>本文用印尼租赁数据估计为</a:t>
            </a:r>
            <a:r>
              <a:rPr lang="en-US" altLang="zh-CN" sz="1600" dirty="0">
                <a:sym typeface="+mn-ea"/>
              </a:rPr>
              <a:t>0.25；</a:t>
            </a:r>
            <a:r>
              <a:rPr lang="zh-CN" altLang="en-US" sz="1600" dirty="0">
                <a:sym typeface="+mn-ea"/>
              </a:rPr>
              <a:t>美国为</a:t>
            </a:r>
            <a:r>
              <a:rPr lang="en-US" altLang="zh-CN" sz="1600" dirty="0">
                <a:sym typeface="+mn-ea"/>
              </a:rPr>
              <a:t>0.65(Saiz, 2010)</a:t>
            </a:r>
            <a:endParaRPr lang="en-US" altLang="zh-CN" sz="1600" dirty="0">
              <a:sym typeface="+mn-ea"/>
            </a:endParaRPr>
          </a:p>
        </p:txBody>
      </p:sp>
      <p:sp>
        <p:nvSpPr>
          <p:cNvPr id="46" name="矩形: 圆角 7"/>
          <p:cNvSpPr/>
          <p:nvPr/>
        </p:nvSpPr>
        <p:spPr>
          <a:xfrm>
            <a:off x="8267700" y="1927860"/>
            <a:ext cx="3457575" cy="270637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lgn="l">
              <a:buFont typeface="Arial" panose="020B0604020202090204" pitchFamily="34" charset="0"/>
              <a:buChar char="•"/>
            </a:pPr>
            <a:r>
              <a:rPr lang="zh-CN" altLang="en-US" sz="1600" kern="100" dirty="0">
                <a:solidFill>
                  <a:schemeClr val="tx1"/>
                </a:solidFill>
                <a:effectLst/>
                <a:latin typeface="Times New Roman" panose="02020503050405090304" pitchFamily="18" charset="0"/>
              </a:rPr>
              <a:t>直觉上</a:t>
            </a:r>
            <a:r>
              <a:rPr lang="en-US" altLang="zh-CN" sz="1600" kern="100" dirty="0">
                <a:solidFill>
                  <a:schemeClr val="tx1"/>
                </a:solidFill>
                <a:effectLst/>
                <a:latin typeface="Times New Roman" panose="02020503050405090304" pitchFamily="18" charset="0"/>
              </a:rPr>
              <a:t>：</a:t>
            </a:r>
            <a:r>
              <a:rPr lang="en-US" altLang="zh-CN" sz="1600" dirty="0">
                <a:solidFill>
                  <a:schemeClr val="tx1"/>
                </a:solidFill>
                <a:sym typeface="+mn-ea"/>
              </a:rPr>
              <a:t>λ</a:t>
            </a:r>
            <a:r>
              <a:rPr lang="zh-CN" altLang="en-US" sz="1600" dirty="0">
                <a:solidFill>
                  <a:schemeClr val="tx1"/>
                </a:solidFill>
                <a:sym typeface="+mn-ea"/>
              </a:rPr>
              <a:t>越低</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人口集中带来的拥挤或生活成本反馈越强</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dirty="0">
                <a:solidFill>
                  <a:schemeClr val="tx1"/>
                </a:solidFill>
                <a:sym typeface="+mn-ea"/>
              </a:rPr>
              <a:t>拥挤效应增强</a:t>
            </a:r>
            <a:r>
              <a:rPr lang="en-US" altLang="zh-CN"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6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迁移障碍下降，生产率收益也会更小。</a:t>
            </a:r>
            <a:endParaRPr lang="en-US" altLang="zh-CN" sz="1600" kern="100" dirty="0">
              <a:solidFill>
                <a:schemeClr val="tx1"/>
              </a:solidFill>
              <a:effectLst/>
              <a:latin typeface="Times New Roman" panose="02020503050405090304" pitchFamily="18" charset="0"/>
            </a:endParaRPr>
          </a:p>
          <a:p>
            <a:pPr marL="342900" indent="-342900" algn="l">
              <a:buFont typeface="Arial" panose="020B0604020202090204" pitchFamily="34" charset="0"/>
              <a:buAutoNum type="arabicPeriod"/>
            </a:pPr>
            <a:r>
              <a:rPr lang="en-US" altLang="zh-CN" sz="1600" dirty="0">
                <a:solidFill>
                  <a:schemeClr val="tx1"/>
                </a:solidFill>
                <a:sym typeface="+mn-ea"/>
              </a:rPr>
              <a:t>λa：</a:t>
            </a:r>
            <a:r>
              <a:rPr lang="zh-CN" altLang="en-US" sz="1600" dirty="0">
                <a:solidFill>
                  <a:schemeClr val="tx1"/>
                </a:solidFill>
                <a:sym typeface="+mn-ea"/>
              </a:rPr>
              <a:t>人口增加可能带来更多服务和便利，也可能加重污染、拥挤等问题</a:t>
            </a:r>
            <a:endParaRPr lang="zh-CN" altLang="en-US" sz="1600" dirty="0">
              <a:solidFill>
                <a:schemeClr val="tx1"/>
              </a:solidFill>
              <a:sym typeface="+mn-ea"/>
            </a:endParaRPr>
          </a:p>
          <a:p>
            <a:pPr marL="342900" indent="-342900" algn="l">
              <a:buFont typeface="Arial" panose="020B0604020202090204" pitchFamily="34" charset="0"/>
              <a:buAutoNum type="arabicPeriod"/>
            </a:pPr>
            <a:r>
              <a:rPr lang="en-US" altLang="zh-CN" sz="1600" dirty="0">
                <a:solidFill>
                  <a:schemeClr val="tx1"/>
                </a:solidFill>
                <a:sym typeface="+mn-ea"/>
              </a:rPr>
              <a:t>λr：</a:t>
            </a:r>
            <a:r>
              <a:rPr lang="zh-CN" altLang="en-US" sz="1600" dirty="0">
                <a:solidFill>
                  <a:schemeClr val="tx1"/>
                </a:solidFill>
                <a:sym typeface="+mn-ea"/>
              </a:rPr>
              <a:t>人变多会增加住房需求，租金通常会上升；租金上涨会提高居住成本，抵消一部分迁入带来的吸引力。</a:t>
            </a:r>
            <a:endParaRPr lang="zh-CN" altLang="en-US" sz="1600" dirty="0">
              <a:solidFill>
                <a:schemeClr val="tx1"/>
              </a:solidFill>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2038350" y="1071245"/>
            <a:ext cx="9129395" cy="7289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4.1</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反事实</a:t>
            </a:r>
            <a:r>
              <a:rPr lang="en-US" altLang="zh-CN" sz="2800" b="1" dirty="0">
                <a:latin typeface="+mn-lt"/>
              </a:rPr>
              <a:t>、</a:t>
            </a:r>
            <a:r>
              <a:rPr lang="zh-CN" altLang="en-US" sz="2800" b="1" dirty="0">
                <a:latin typeface="+mn-lt"/>
              </a:rPr>
              <a:t>一般均衡参数</a:t>
            </a:r>
            <a:r>
              <a:rPr lang="zh-CN" altLang="en-US" sz="2800" b="1" dirty="0">
                <a:latin typeface="+mn-lt"/>
              </a:rPr>
              <a:t>校准</a:t>
            </a:r>
            <a:endParaRPr lang="zh-CN" altLang="en-US" sz="2800" b="1" dirty="0">
              <a:latin typeface="+mn-lt"/>
            </a:endParaRPr>
          </a:p>
        </p:txBody>
      </p:sp>
      <p:sp>
        <p:nvSpPr>
          <p:cNvPr id="2" name="文本框 1"/>
          <p:cNvSpPr txBox="1"/>
          <p:nvPr/>
        </p:nvSpPr>
        <p:spPr>
          <a:xfrm>
            <a:off x="2048510" y="1076960"/>
            <a:ext cx="9130030" cy="720090"/>
          </a:xfrm>
          <a:prstGeom prst="rect">
            <a:avLst/>
          </a:prstGeom>
          <a:noFill/>
        </p:spPr>
        <p:txBody>
          <a:bodyPr wrap="square" rtlCol="0" anchor="ctr" anchorCtr="0">
            <a:noAutofit/>
          </a:bodyPr>
          <a:p>
            <a:pPr algn="ctr"/>
            <a:r>
              <a:rPr lang="zh-CN" altLang="en-US" b="1"/>
              <a:t>反事实研究的核心问题</a:t>
            </a:r>
            <a:r>
              <a:rPr lang="en-US" altLang="zh-CN" b="1"/>
              <a:t>：</a:t>
            </a:r>
            <a:r>
              <a:rPr lang="zh-CN" altLang="en-US" b="1" u="sng"/>
              <a:t>消除迁移障碍是否会提高生产率</a:t>
            </a:r>
            <a:endParaRPr lang="zh-CN" altLang="en-US" b="1" u="sng"/>
          </a:p>
          <a:p>
            <a:pPr algn="ctr"/>
            <a:r>
              <a:rPr lang="en-US" altLang="zh-CN"/>
              <a:t>（</a:t>
            </a:r>
            <a:r>
              <a:rPr lang="zh-CN" altLang="en-US"/>
              <a:t>前提</a:t>
            </a:r>
            <a:r>
              <a:rPr lang="en-US" altLang="zh-CN"/>
              <a:t>：</a:t>
            </a:r>
            <a:r>
              <a:rPr lang="zh-CN" altLang="en-US"/>
              <a:t>消除迁移障碍的政策只改变迁移摩擦</a:t>
            </a:r>
            <a:r>
              <a:rPr lang="en-US" altLang="zh-CN"/>
              <a:t>，</a:t>
            </a:r>
            <a:r>
              <a:rPr lang="zh-CN" altLang="en-US"/>
              <a:t>而控制</a:t>
            </a:r>
            <a:r>
              <a:rPr lang="zh-CN" altLang="en-US"/>
              <a:t>住交易成本等其他因素</a:t>
            </a:r>
            <a:r>
              <a:rPr lang="en-US" altLang="zh-CN"/>
              <a:t>）</a:t>
            </a:r>
            <a:endParaRPr lang="en-US" altLang="zh-CN"/>
          </a:p>
        </p:txBody>
      </p:sp>
      <p:grpSp>
        <p:nvGrpSpPr>
          <p:cNvPr id="17" name="组合 16"/>
          <p:cNvGrpSpPr/>
          <p:nvPr/>
        </p:nvGrpSpPr>
        <p:grpSpPr>
          <a:xfrm>
            <a:off x="2069465" y="1906905"/>
            <a:ext cx="2950210" cy="2720975"/>
            <a:chOff x="3107" y="5400"/>
            <a:chExt cx="3989" cy="4349"/>
          </a:xfrm>
        </p:grpSpPr>
        <p:sp>
          <p:nvSpPr>
            <p:cNvPr id="10" name="矩形 9"/>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107" y="5400"/>
              <a:ext cx="3989" cy="589"/>
            </a:xfrm>
            <a:prstGeom prst="rect">
              <a:avLst/>
            </a:prstGeom>
            <a:solidFill>
              <a:srgbClr val="69025E"/>
            </a:solidFill>
          </p:spPr>
          <p:txBody>
            <a:bodyPr wrap="square">
              <a:spAutoFit/>
            </a:bodyPr>
            <a:lstStyle/>
            <a:p>
              <a:pPr algn="ctr"/>
              <a:r>
                <a:rPr lang="zh-CN" altLang="en-US" b="1">
                  <a:solidFill>
                    <a:schemeClr val="bg1"/>
                  </a:solidFill>
                  <a:sym typeface="+mn-ea"/>
                </a:rPr>
                <a:t>校准</a:t>
              </a:r>
              <a:r>
                <a:rPr lang="en-US" altLang="zh-CN" b="1">
                  <a:solidFill>
                    <a:schemeClr val="bg1"/>
                  </a:solidFill>
                  <a:sym typeface="+mn-ea"/>
                </a:rPr>
                <a:t>1 </a:t>
              </a:r>
              <a:r>
                <a:rPr lang="zh-CN" altLang="en-US" b="1">
                  <a:solidFill>
                    <a:schemeClr val="bg1"/>
                  </a:solidFill>
                  <a:sym typeface="+mn-ea"/>
                </a:rPr>
                <a:t>集聚参数 </a:t>
              </a:r>
              <a:r>
                <a:rPr lang="en-US" altLang="zh-CN" b="1">
                  <a:solidFill>
                    <a:schemeClr val="bg1"/>
                  </a:solidFill>
                  <a:sym typeface="+mn-ea"/>
                </a:rPr>
                <a:t>γ</a:t>
              </a:r>
              <a:endParaRPr lang="en-US" altLang="zh-CN" b="1" dirty="0">
                <a:solidFill>
                  <a:schemeClr val="bg1"/>
                </a:solidFill>
                <a:sym typeface="+mn-ea"/>
              </a:endParaRPr>
            </a:p>
          </p:txBody>
        </p:sp>
      </p:grpSp>
      <p:grpSp>
        <p:nvGrpSpPr>
          <p:cNvPr id="21" name="组合 20"/>
          <p:cNvGrpSpPr/>
          <p:nvPr/>
        </p:nvGrpSpPr>
        <p:grpSpPr>
          <a:xfrm>
            <a:off x="8248650" y="1906905"/>
            <a:ext cx="2950210" cy="2720975"/>
            <a:chOff x="3107" y="5400"/>
            <a:chExt cx="3989" cy="4349"/>
          </a:xfrm>
        </p:grpSpPr>
        <p:sp>
          <p:nvSpPr>
            <p:cNvPr id="22" name="矩形 21"/>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3107" y="5400"/>
              <a:ext cx="3989" cy="589"/>
            </a:xfrm>
            <a:prstGeom prst="rect">
              <a:avLst/>
            </a:prstGeom>
            <a:solidFill>
              <a:srgbClr val="69025E"/>
            </a:solidFill>
          </p:spPr>
          <p:txBody>
            <a:bodyPr wrap="square">
              <a:spAutoFit/>
            </a:bodyPr>
            <a:lstStyle/>
            <a:p>
              <a:pPr algn="ctr"/>
              <a:r>
                <a:rPr lang="zh-CN" altLang="en-US" b="1" dirty="0">
                  <a:solidFill>
                    <a:schemeClr val="bg1"/>
                  </a:solidFill>
                </a:rPr>
                <a:t>校准</a:t>
              </a:r>
              <a:r>
                <a:rPr lang="en-US" altLang="zh-CN" b="1" dirty="0">
                  <a:solidFill>
                    <a:schemeClr val="bg1"/>
                  </a:solidFill>
                </a:rPr>
                <a:t>3 </a:t>
              </a:r>
              <a:r>
                <a:rPr lang="zh-CN" altLang="en-US" b="1" dirty="0">
                  <a:solidFill>
                    <a:schemeClr val="bg1"/>
                  </a:solidFill>
                </a:rPr>
                <a:t>跨地区替代弹性 </a:t>
              </a:r>
              <a:r>
                <a:rPr lang="en-US" altLang="zh-CN" b="1" dirty="0">
                  <a:solidFill>
                    <a:schemeClr val="bg1"/>
                  </a:solidFill>
                </a:rPr>
                <a:t>σ</a:t>
              </a:r>
              <a:endParaRPr lang="en-US" altLang="zh-CN" b="1" dirty="0">
                <a:solidFill>
                  <a:schemeClr val="bg1"/>
                </a:solidFill>
              </a:endParaRPr>
            </a:p>
          </p:txBody>
        </p:sp>
      </p:grpSp>
      <p:grpSp>
        <p:nvGrpSpPr>
          <p:cNvPr id="24" name="组合 23"/>
          <p:cNvGrpSpPr/>
          <p:nvPr/>
        </p:nvGrpSpPr>
        <p:grpSpPr>
          <a:xfrm>
            <a:off x="5139690" y="1925955"/>
            <a:ext cx="2951480" cy="2700655"/>
            <a:chOff x="3105" y="5433"/>
            <a:chExt cx="3991" cy="4316"/>
          </a:xfrm>
        </p:grpSpPr>
        <p:sp>
          <p:nvSpPr>
            <p:cNvPr id="25" name="矩形 24"/>
            <p:cNvSpPr/>
            <p:nvPr/>
          </p:nvSpPr>
          <p:spPr>
            <a:xfrm>
              <a:off x="3107" y="5433"/>
              <a:ext cx="3989" cy="431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105" y="5433"/>
              <a:ext cx="3989" cy="589"/>
            </a:xfrm>
            <a:prstGeom prst="rect">
              <a:avLst/>
            </a:prstGeom>
            <a:solidFill>
              <a:srgbClr val="69025E"/>
            </a:solidFill>
          </p:spPr>
          <p:txBody>
            <a:bodyPr wrap="square">
              <a:spAutoFit/>
            </a:bodyPr>
            <a:lstStyle/>
            <a:p>
              <a:pPr algn="ctr"/>
              <a:r>
                <a:rPr lang="zh-CN" altLang="en-US" b="1" dirty="0">
                  <a:solidFill>
                    <a:schemeClr val="bg1"/>
                  </a:solidFill>
                </a:rPr>
                <a:t>校准</a:t>
              </a:r>
              <a:r>
                <a:rPr lang="en-US" altLang="zh-CN" b="1" dirty="0">
                  <a:solidFill>
                    <a:schemeClr val="bg1"/>
                  </a:solidFill>
                </a:rPr>
                <a:t>2 </a:t>
              </a:r>
              <a:r>
                <a:rPr lang="zh-CN" altLang="en-US" b="1" dirty="0">
                  <a:solidFill>
                    <a:schemeClr val="bg1"/>
                  </a:solidFill>
                </a:rPr>
                <a:t>拥挤参数 </a:t>
              </a:r>
              <a:r>
                <a:rPr lang="en-US" altLang="zh-CN" b="1" dirty="0">
                  <a:solidFill>
                    <a:schemeClr val="bg1"/>
                  </a:solidFill>
                </a:rPr>
                <a:t>λ</a:t>
              </a:r>
              <a:endParaRPr lang="en-US" altLang="zh-CN" b="1" dirty="0">
                <a:solidFill>
                  <a:schemeClr val="bg1"/>
                </a:solidFill>
              </a:endParaRPr>
            </a:p>
          </p:txBody>
        </p:sp>
      </p:grpSp>
      <p:sp>
        <p:nvSpPr>
          <p:cNvPr id="5" name="文本框 4"/>
          <p:cNvSpPr txBox="1"/>
          <p:nvPr/>
        </p:nvSpPr>
        <p:spPr>
          <a:xfrm>
            <a:off x="2068830" y="2275205"/>
            <a:ext cx="2950210" cy="2351405"/>
          </a:xfrm>
          <a:prstGeom prst="rect">
            <a:avLst/>
          </a:prstGeom>
          <a:noFill/>
        </p:spPr>
        <p:txBody>
          <a:bodyPr wrap="square" rtlCol="0" anchor="ctr" anchorCtr="0">
            <a:noAutofit/>
          </a:bodyPr>
          <a:p>
            <a:pPr marL="285750" indent="-285750">
              <a:buFont typeface="Arial" panose="020B0604020202090204" pitchFamily="34" charset="0"/>
              <a:buChar char="•"/>
            </a:pPr>
            <a:r>
              <a:rPr lang="zh-CN" altLang="en-US" sz="1600">
                <a:solidFill>
                  <a:schemeClr val="tx1"/>
                </a:solidFill>
              </a:rPr>
              <a:t>研究现状</a:t>
            </a:r>
            <a:r>
              <a:rPr lang="en-US" altLang="zh-CN" sz="1600">
                <a:solidFill>
                  <a:schemeClr val="tx1"/>
                </a:solidFill>
              </a:rPr>
              <a:t>：</a:t>
            </a:r>
            <a:endParaRPr lang="en-US" altLang="zh-CN" sz="1600">
              <a:solidFill>
                <a:schemeClr val="tx1"/>
              </a:solidFill>
            </a:endParaRPr>
          </a:p>
          <a:p>
            <a:pPr marL="342900" indent="-342900">
              <a:buFont typeface="+mj-lt"/>
              <a:buAutoNum type="arabicPeriod"/>
            </a:pPr>
            <a:r>
              <a:rPr lang="en-US" altLang="zh-CN" sz="1600">
                <a:solidFill>
                  <a:schemeClr val="tx1"/>
                </a:solidFill>
              </a:rPr>
              <a:t>Rosenthal</a:t>
            </a:r>
            <a:r>
              <a:rPr lang="zh-CN" altLang="en-US" sz="1600">
                <a:solidFill>
                  <a:schemeClr val="tx1"/>
                </a:solidFill>
              </a:rPr>
              <a:t>和</a:t>
            </a:r>
            <a:r>
              <a:rPr lang="en-US" altLang="zh-CN" sz="1600">
                <a:solidFill>
                  <a:schemeClr val="tx1"/>
                </a:solidFill>
              </a:rPr>
              <a:t>Strange (2004)、Combes</a:t>
            </a:r>
            <a:r>
              <a:rPr lang="zh-CN" altLang="en-US" sz="1600">
                <a:solidFill>
                  <a:schemeClr val="tx1"/>
                </a:solidFill>
              </a:rPr>
              <a:t>和</a:t>
            </a:r>
            <a:r>
              <a:rPr lang="en-US" altLang="zh-CN" sz="1600">
                <a:solidFill>
                  <a:schemeClr val="tx1"/>
                </a:solidFill>
              </a:rPr>
              <a:t>Gobillon</a:t>
            </a:r>
            <a:r>
              <a:rPr lang="en-US" altLang="zh-CN" sz="1600">
                <a:solidFill>
                  <a:schemeClr val="tx1"/>
                </a:solidFill>
                <a:sym typeface="+mn-ea"/>
              </a:rPr>
              <a:t>(2015)</a:t>
            </a:r>
            <a:r>
              <a:rPr lang="zh-CN" altLang="en-US" sz="1600">
                <a:solidFill>
                  <a:schemeClr val="tx1"/>
                </a:solidFill>
                <a:sym typeface="+mn-ea"/>
              </a:rPr>
              <a:t>进行了文献综述</a:t>
            </a:r>
            <a:r>
              <a:rPr lang="en-US" altLang="zh-CN" sz="1600">
                <a:solidFill>
                  <a:schemeClr val="tx1"/>
                </a:solidFill>
                <a:sym typeface="+mn-ea"/>
              </a:rPr>
              <a:t>。</a:t>
            </a:r>
            <a:endParaRPr lang="en-US" altLang="zh-CN" sz="1600">
              <a:solidFill>
                <a:schemeClr val="tx1"/>
              </a:solidFill>
              <a:sym typeface="+mn-ea"/>
            </a:endParaRPr>
          </a:p>
          <a:p>
            <a:pPr marL="342900" indent="-342900">
              <a:buFont typeface="+mj-lt"/>
              <a:buAutoNum type="arabicPeriod"/>
            </a:pPr>
            <a:r>
              <a:rPr lang="zh-CN" altLang="en-US" sz="1600" b="1">
                <a:solidFill>
                  <a:srgbClr val="660066"/>
                </a:solidFill>
                <a:sym typeface="+mn-ea"/>
              </a:rPr>
              <a:t>对发达国家</a:t>
            </a:r>
            <a:r>
              <a:rPr lang="en-US" altLang="zh-CN" sz="1600" b="1">
                <a:solidFill>
                  <a:srgbClr val="660066"/>
                </a:solidFill>
                <a:sym typeface="+mn-ea"/>
              </a:rPr>
              <a:t>：</a:t>
            </a:r>
            <a:r>
              <a:rPr lang="en-US" altLang="zh-CN" sz="1600" b="1">
                <a:solidFill>
                  <a:schemeClr val="tx1"/>
                </a:solidFill>
                <a:sym typeface="+mn-ea"/>
              </a:rPr>
              <a:t>γ</a:t>
            </a:r>
            <a:r>
              <a:rPr lang="zh-CN" altLang="en-US" sz="1600">
                <a:solidFill>
                  <a:schemeClr val="tx1"/>
                </a:solidFill>
                <a:sym typeface="+mn-ea"/>
              </a:rPr>
              <a:t>共识的数值在</a:t>
            </a:r>
            <a:r>
              <a:rPr lang="en-US" altLang="zh-CN" sz="1600">
                <a:solidFill>
                  <a:schemeClr val="tx1"/>
                </a:solidFill>
                <a:sym typeface="+mn-ea"/>
              </a:rPr>
              <a:t>0.01～0.02</a:t>
            </a:r>
            <a:r>
              <a:rPr lang="zh-CN" altLang="en-US" sz="1600">
                <a:solidFill>
                  <a:schemeClr val="tx1"/>
                </a:solidFill>
                <a:sym typeface="+mn-ea"/>
              </a:rPr>
              <a:t>之间</a:t>
            </a:r>
            <a:r>
              <a:rPr lang="en-US" altLang="zh-CN" sz="1600">
                <a:solidFill>
                  <a:schemeClr val="tx1"/>
                </a:solidFill>
                <a:sym typeface="+mn-ea"/>
              </a:rPr>
              <a:t>，</a:t>
            </a:r>
            <a:r>
              <a:rPr lang="zh-CN" altLang="en-US" sz="1600">
                <a:solidFill>
                  <a:schemeClr val="tx1"/>
                </a:solidFill>
                <a:sym typeface="+mn-ea"/>
              </a:rPr>
              <a:t>部分研究认为这一数值应该更大</a:t>
            </a:r>
            <a:r>
              <a:rPr lang="en-US" altLang="zh-CN" sz="1600">
                <a:solidFill>
                  <a:schemeClr val="tx1"/>
                </a:solidFill>
                <a:sym typeface="+mn-ea"/>
              </a:rPr>
              <a:t>。</a:t>
            </a:r>
            <a:endParaRPr lang="en-US" altLang="zh-CN" sz="1600">
              <a:solidFill>
                <a:schemeClr val="tx1"/>
              </a:solidFill>
              <a:sym typeface="+mn-ea"/>
            </a:endParaRPr>
          </a:p>
          <a:p>
            <a:pPr marL="342900" indent="-342900">
              <a:buFont typeface="+mj-lt"/>
              <a:buAutoNum type="arabicPeriod"/>
            </a:pPr>
            <a:r>
              <a:rPr lang="zh-CN" altLang="en-US" sz="1600" b="1">
                <a:solidFill>
                  <a:srgbClr val="660066"/>
                </a:solidFill>
              </a:rPr>
              <a:t>对发展中国家：</a:t>
            </a:r>
            <a:r>
              <a:rPr lang="zh-CN" altLang="en-US" sz="1600">
                <a:solidFill>
                  <a:schemeClr val="tx1"/>
                </a:solidFill>
              </a:rPr>
              <a:t>文献较少</a:t>
            </a:r>
            <a:r>
              <a:rPr lang="en-US" altLang="zh-CN" sz="1600">
                <a:solidFill>
                  <a:schemeClr val="tx1"/>
                </a:solidFill>
              </a:rPr>
              <a:t>、</a:t>
            </a:r>
            <a:r>
              <a:rPr lang="zh-CN" altLang="en-US" sz="1600">
                <a:solidFill>
                  <a:schemeClr val="tx1"/>
                </a:solidFill>
              </a:rPr>
              <a:t>认为这一数值最大为</a:t>
            </a:r>
            <a:r>
              <a:rPr lang="en-US" altLang="zh-CN" sz="1600">
                <a:solidFill>
                  <a:schemeClr val="tx1"/>
                </a:solidFill>
              </a:rPr>
              <a:t>1。</a:t>
            </a:r>
            <a:endParaRPr lang="en-US" altLang="zh-CN" sz="1600">
              <a:solidFill>
                <a:schemeClr val="tx1"/>
              </a:solidFill>
            </a:endParaRPr>
          </a:p>
        </p:txBody>
      </p:sp>
      <p:sp>
        <p:nvSpPr>
          <p:cNvPr id="28" name="箭头: 下 15"/>
          <p:cNvSpPr/>
          <p:nvPr/>
        </p:nvSpPr>
        <p:spPr>
          <a:xfrm>
            <a:off x="6191885" y="4628515"/>
            <a:ext cx="883920" cy="22098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048510" y="4853305"/>
            <a:ext cx="2986405" cy="72072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t> </a:t>
            </a:r>
            <a:r>
              <a:rPr lang="zh-CN" altLang="en-US" sz="1600" dirty="0"/>
              <a:t>基准</a:t>
            </a:r>
            <a:r>
              <a:rPr lang="en-US" altLang="zh-CN" sz="1600" dirty="0"/>
              <a:t>：</a:t>
            </a:r>
            <a:r>
              <a:rPr lang="en-US" altLang="zh-CN" sz="1600">
                <a:solidFill>
                  <a:schemeClr val="bg1"/>
                </a:solidFill>
                <a:sym typeface="+mn-ea"/>
              </a:rPr>
              <a:t>γ=0.05</a:t>
            </a:r>
            <a:endParaRPr lang="en-US" altLang="zh-CN" sz="1600" dirty="0"/>
          </a:p>
          <a:p>
            <a:r>
              <a:rPr lang="zh-CN" altLang="en-US" sz="1600" dirty="0"/>
              <a:t>稳健性检验</a:t>
            </a:r>
            <a:r>
              <a:rPr lang="en-US" altLang="zh-CN" sz="1600" dirty="0"/>
              <a:t>：</a:t>
            </a:r>
            <a:r>
              <a:rPr lang="en-US" altLang="zh-CN" sz="1600">
                <a:solidFill>
                  <a:schemeClr val="bg1"/>
                </a:solidFill>
                <a:sym typeface="+mn-ea"/>
              </a:rPr>
              <a:t>0～0.08</a:t>
            </a:r>
            <a:endParaRPr lang="zh-CN" altLang="en-US" sz="1600">
              <a:solidFill>
                <a:schemeClr val="bg1"/>
              </a:solidFill>
              <a:sym typeface="+mn-ea"/>
            </a:endParaRPr>
          </a:p>
        </p:txBody>
      </p:sp>
      <p:sp>
        <p:nvSpPr>
          <p:cNvPr id="13" name="文本框 12"/>
          <p:cNvSpPr txBox="1"/>
          <p:nvPr/>
        </p:nvSpPr>
        <p:spPr>
          <a:xfrm>
            <a:off x="5154930" y="4853305"/>
            <a:ext cx="2966085" cy="72072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solidFill>
                  <a:schemeClr val="bg1"/>
                </a:solidFill>
              </a:rPr>
              <a:t> </a:t>
            </a:r>
            <a:r>
              <a:rPr lang="zh-CN" altLang="en-US" sz="1600" dirty="0">
                <a:solidFill>
                  <a:schemeClr val="bg1"/>
                </a:solidFill>
              </a:rPr>
              <a:t>基准</a:t>
            </a:r>
            <a:r>
              <a:rPr lang="en-US" altLang="zh-CN" sz="1600" dirty="0">
                <a:solidFill>
                  <a:schemeClr val="bg1"/>
                </a:solidFill>
              </a:rPr>
              <a:t>：</a:t>
            </a:r>
            <a:r>
              <a:rPr lang="en-US" altLang="zh-CN" sz="1600" dirty="0">
                <a:solidFill>
                  <a:schemeClr val="bg1"/>
                </a:solidFill>
                <a:sym typeface="+mn-ea"/>
              </a:rPr>
              <a:t>λ=</a:t>
            </a:r>
            <a:r>
              <a:rPr lang="en-US" altLang="zh-CN" sz="1600" dirty="0">
                <a:solidFill>
                  <a:schemeClr val="bg1"/>
                </a:solidFill>
                <a:sym typeface="+mn-ea"/>
              </a:rPr>
              <a:t>λa-0.3λr=0-0.3*0.25=-0.075</a:t>
            </a:r>
            <a:endParaRPr lang="en-US" altLang="zh-CN" sz="1600" dirty="0">
              <a:solidFill>
                <a:schemeClr val="bg1"/>
              </a:solidFill>
            </a:endParaRPr>
          </a:p>
          <a:p>
            <a:r>
              <a:rPr lang="zh-CN" altLang="en-US" sz="1600" dirty="0">
                <a:solidFill>
                  <a:schemeClr val="bg1"/>
                </a:solidFill>
                <a:sym typeface="+mn-ea"/>
              </a:rPr>
              <a:t>稳健性检验</a:t>
            </a:r>
            <a:r>
              <a:rPr lang="en-US" altLang="zh-CN" sz="1600" dirty="0">
                <a:solidFill>
                  <a:schemeClr val="bg1"/>
                </a:solidFill>
                <a:sym typeface="+mn-ea"/>
              </a:rPr>
              <a:t>：</a:t>
            </a:r>
            <a:r>
              <a:rPr lang="en-US" altLang="zh-CN" sz="1600" dirty="0">
                <a:solidFill>
                  <a:schemeClr val="bg1"/>
                </a:solidFill>
                <a:sym typeface="+mn-ea"/>
              </a:rPr>
              <a:t>λa 0～-0.04</a:t>
            </a:r>
            <a:endParaRPr lang="en-US" altLang="zh-CN" sz="1600" dirty="0">
              <a:solidFill>
                <a:schemeClr val="bg1"/>
              </a:solidFill>
              <a:sym typeface="+mn-ea"/>
            </a:endParaRPr>
          </a:p>
        </p:txBody>
      </p:sp>
      <p:sp>
        <p:nvSpPr>
          <p:cNvPr id="14" name="文本框 13"/>
          <p:cNvSpPr txBox="1"/>
          <p:nvPr/>
        </p:nvSpPr>
        <p:spPr>
          <a:xfrm>
            <a:off x="8279130" y="4853305"/>
            <a:ext cx="2944495" cy="72072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t> </a:t>
            </a:r>
            <a:r>
              <a:rPr lang="zh-CN" altLang="en-US" sz="1600" dirty="0">
                <a:sym typeface="+mn-ea"/>
              </a:rPr>
              <a:t>主估计</a:t>
            </a:r>
            <a:r>
              <a:rPr lang="en-US" altLang="zh-CN" sz="1600" dirty="0">
                <a:sym typeface="+mn-ea"/>
              </a:rPr>
              <a:t>：</a:t>
            </a:r>
            <a:r>
              <a:rPr lang="en-US" altLang="zh-CN" sz="1600" dirty="0">
                <a:solidFill>
                  <a:schemeClr val="bg1"/>
                </a:solidFill>
                <a:sym typeface="+mn-ea"/>
              </a:rPr>
              <a:t>σ=8</a:t>
            </a:r>
            <a:endParaRPr lang="en-US" altLang="zh-CN" sz="1600" dirty="0">
              <a:solidFill>
                <a:schemeClr val="bg1"/>
              </a:solidFill>
            </a:endParaRPr>
          </a:p>
          <a:p>
            <a:r>
              <a:rPr lang="zh-CN" altLang="en-US" sz="1600" dirty="0">
                <a:sym typeface="+mn-ea"/>
              </a:rPr>
              <a:t>稳健性检验</a:t>
            </a:r>
            <a:r>
              <a:rPr lang="en-US" altLang="zh-CN" sz="1600" dirty="0">
                <a:sym typeface="+mn-ea"/>
              </a:rPr>
              <a:t>：4～8</a:t>
            </a:r>
            <a:endParaRPr lang="zh-CN" altLang="en-US" sz="1600" dirty="0">
              <a:sym typeface="+mn-ea"/>
            </a:endParaRPr>
          </a:p>
        </p:txBody>
      </p:sp>
      <p:sp>
        <p:nvSpPr>
          <p:cNvPr id="4" name="文本框 3"/>
          <p:cNvSpPr txBox="1"/>
          <p:nvPr/>
        </p:nvSpPr>
        <p:spPr>
          <a:xfrm>
            <a:off x="5132705" y="2283460"/>
            <a:ext cx="2950210" cy="2351405"/>
          </a:xfrm>
          <a:prstGeom prst="rect">
            <a:avLst/>
          </a:prstGeom>
          <a:noFill/>
        </p:spPr>
        <p:txBody>
          <a:bodyPr wrap="square" rtlCol="0" anchor="ctr" anchorCtr="0">
            <a:noAutofit/>
          </a:bodyPr>
          <a:p>
            <a:pPr marL="285750" indent="-285750">
              <a:buFont typeface="Arial" panose="020B0604020202090204" pitchFamily="34" charset="0"/>
              <a:buChar char="•"/>
            </a:pPr>
            <a:r>
              <a:rPr lang="zh-CN" altLang="en-US" sz="1600">
                <a:solidFill>
                  <a:schemeClr val="tx1"/>
                </a:solidFill>
              </a:rPr>
              <a:t>研究现状</a:t>
            </a:r>
            <a:r>
              <a:rPr lang="en-US" altLang="zh-CN" sz="1600">
                <a:solidFill>
                  <a:schemeClr val="tx1"/>
                </a:solidFill>
              </a:rPr>
              <a:t>：</a:t>
            </a:r>
            <a:r>
              <a:rPr lang="zh-CN" altLang="en-US" sz="1600">
                <a:solidFill>
                  <a:schemeClr val="tx1"/>
                </a:solidFill>
              </a:rPr>
              <a:t>拆分</a:t>
            </a:r>
            <a:r>
              <a:rPr lang="zh-CN" altLang="en-US" sz="1600">
                <a:solidFill>
                  <a:schemeClr val="tx1"/>
                </a:solidFill>
              </a:rPr>
              <a:t>为纯宜居性外溢</a:t>
            </a:r>
            <a:r>
              <a:rPr lang="en-US" altLang="zh-CN" sz="1600" b="1" dirty="0">
                <a:solidFill>
                  <a:schemeClr val="tx1"/>
                </a:solidFill>
                <a:sym typeface="+mn-ea"/>
              </a:rPr>
              <a:t>λa</a:t>
            </a:r>
            <a:r>
              <a:rPr lang="zh-CN" altLang="en-US" sz="1600">
                <a:solidFill>
                  <a:schemeClr val="tx1"/>
                </a:solidFill>
              </a:rPr>
              <a:t>和住房价格反应</a:t>
            </a:r>
            <a:r>
              <a:rPr lang="en-US" altLang="zh-CN" sz="1600" b="1" dirty="0">
                <a:solidFill>
                  <a:schemeClr val="tx1"/>
                </a:solidFill>
                <a:sym typeface="+mn-ea"/>
              </a:rPr>
              <a:t>λr</a:t>
            </a:r>
            <a:endParaRPr lang="en-US" altLang="zh-CN" sz="1600" b="1" dirty="0">
              <a:solidFill>
                <a:schemeClr val="tx1"/>
              </a:solidFill>
              <a:sym typeface="+mn-ea"/>
            </a:endParaRPr>
          </a:p>
          <a:p>
            <a:pPr marL="342900" indent="-342900">
              <a:buFont typeface="Arial" panose="020B0604020202090204" pitchFamily="34" charset="0"/>
              <a:buAutoNum type="arabicPeriod"/>
            </a:pPr>
            <a:r>
              <a:rPr lang="en-US" altLang="zh-CN" sz="1600" b="1" dirty="0">
                <a:solidFill>
                  <a:srgbClr val="660066"/>
                </a:solidFill>
                <a:sym typeface="+mn-ea"/>
              </a:rPr>
              <a:t>λa：</a:t>
            </a:r>
            <a:r>
              <a:rPr lang="en-US" altLang="zh-CN" sz="1600" dirty="0">
                <a:sym typeface="+mn-ea"/>
              </a:rPr>
              <a:t>Albouy (2011) </a:t>
            </a:r>
            <a:r>
              <a:rPr lang="zh-CN" altLang="en-US" sz="1600" dirty="0">
                <a:sym typeface="+mn-ea"/>
              </a:rPr>
              <a:t>认为美国的水平为</a:t>
            </a:r>
            <a:r>
              <a:rPr lang="en-US" altLang="zh-CN" sz="1600" dirty="0">
                <a:sym typeface="+mn-ea"/>
              </a:rPr>
              <a:t>0；Combes &amp; Gobillon (2015)</a:t>
            </a:r>
            <a:r>
              <a:rPr lang="zh-CN" altLang="en-US" sz="1600" dirty="0">
                <a:sym typeface="+mn-ea"/>
              </a:rPr>
              <a:t>估计为</a:t>
            </a:r>
            <a:r>
              <a:rPr lang="en-US" altLang="zh-CN" sz="1600" dirty="0">
                <a:sym typeface="+mn-ea"/>
              </a:rPr>
              <a:t>-0.04</a:t>
            </a:r>
            <a:endParaRPr lang="en-US" altLang="zh-CN" sz="1600" dirty="0">
              <a:sym typeface="+mn-ea"/>
            </a:endParaRPr>
          </a:p>
          <a:p>
            <a:pPr marL="342900" indent="-342900">
              <a:buFont typeface="Arial" panose="020B0604020202090204" pitchFamily="34" charset="0"/>
              <a:buAutoNum type="arabicPeriod"/>
            </a:pPr>
            <a:r>
              <a:rPr lang="en-US" altLang="zh-CN" sz="1600" b="1" dirty="0">
                <a:solidFill>
                  <a:srgbClr val="660066"/>
                </a:solidFill>
                <a:sym typeface="+mn-ea"/>
              </a:rPr>
              <a:t>λr：</a:t>
            </a:r>
            <a:r>
              <a:rPr lang="zh-CN" altLang="en-US" sz="1600" dirty="0">
                <a:sym typeface="+mn-ea"/>
              </a:rPr>
              <a:t>低收入国家研究较少</a:t>
            </a:r>
            <a:r>
              <a:rPr lang="en-US" altLang="zh-CN" sz="1600" dirty="0">
                <a:sym typeface="+mn-ea"/>
              </a:rPr>
              <a:t>，</a:t>
            </a:r>
            <a:r>
              <a:rPr lang="zh-CN" altLang="en-US" sz="1600" dirty="0">
                <a:sym typeface="+mn-ea"/>
              </a:rPr>
              <a:t>本文用印尼租赁数据估计为</a:t>
            </a:r>
            <a:r>
              <a:rPr lang="en-US" altLang="zh-CN" sz="1600" dirty="0">
                <a:sym typeface="+mn-ea"/>
              </a:rPr>
              <a:t>0.25；</a:t>
            </a:r>
            <a:r>
              <a:rPr lang="zh-CN" altLang="en-US" sz="1600" dirty="0">
                <a:sym typeface="+mn-ea"/>
              </a:rPr>
              <a:t>美国为</a:t>
            </a:r>
            <a:r>
              <a:rPr lang="en-US" altLang="zh-CN" sz="1600" dirty="0">
                <a:sym typeface="+mn-ea"/>
              </a:rPr>
              <a:t>0.65(Saiz, 2010)</a:t>
            </a:r>
            <a:endParaRPr lang="en-US" altLang="zh-CN" sz="1600" dirty="0">
              <a:sym typeface="+mn-ea"/>
            </a:endParaRPr>
          </a:p>
        </p:txBody>
      </p:sp>
      <p:sp>
        <p:nvSpPr>
          <p:cNvPr id="11" name="文本框 10"/>
          <p:cNvSpPr txBox="1"/>
          <p:nvPr/>
        </p:nvSpPr>
        <p:spPr>
          <a:xfrm>
            <a:off x="8263890" y="2275205"/>
            <a:ext cx="2950210" cy="2351405"/>
          </a:xfrm>
          <a:prstGeom prst="rect">
            <a:avLst/>
          </a:prstGeom>
          <a:noFill/>
        </p:spPr>
        <p:txBody>
          <a:bodyPr wrap="square" rtlCol="0" anchor="ctr" anchorCtr="0">
            <a:noAutofit/>
          </a:bodyPr>
          <a:p>
            <a:pPr marL="285750" indent="-285750">
              <a:buFont typeface="Arial" panose="020B0604020202090204" pitchFamily="34" charset="0"/>
              <a:buChar char="•"/>
            </a:pPr>
            <a:r>
              <a:rPr lang="zh-CN" altLang="en-US" sz="1600">
                <a:solidFill>
                  <a:schemeClr val="tx1"/>
                </a:solidFill>
              </a:rPr>
              <a:t>研究现状</a:t>
            </a:r>
            <a:r>
              <a:rPr lang="en-US" altLang="zh-CN" sz="1600">
                <a:solidFill>
                  <a:schemeClr val="tx1"/>
                </a:solidFill>
              </a:rPr>
              <a:t>：</a:t>
            </a:r>
            <a:r>
              <a:rPr lang="zh-CN" altLang="en-US" sz="1600">
                <a:solidFill>
                  <a:schemeClr val="tx1"/>
                </a:solidFill>
              </a:rPr>
              <a:t>已有研究较少</a:t>
            </a:r>
            <a:r>
              <a:rPr lang="en-US" altLang="zh-CN" sz="1600">
                <a:solidFill>
                  <a:schemeClr val="tx1"/>
                </a:solidFill>
              </a:rPr>
              <a:t>，Allen </a:t>
            </a:r>
            <a:r>
              <a:rPr lang="zh-CN" altLang="en-US" sz="1600">
                <a:solidFill>
                  <a:schemeClr val="tx1"/>
                </a:solidFill>
              </a:rPr>
              <a:t>和 </a:t>
            </a:r>
            <a:r>
              <a:rPr lang="en-US" altLang="zh-CN" sz="1600">
                <a:solidFill>
                  <a:schemeClr val="tx1"/>
                </a:solidFill>
              </a:rPr>
              <a:t>Arkolakis </a:t>
            </a:r>
            <a:r>
              <a:rPr lang="en-US" altLang="zh-CN" sz="1600">
                <a:solidFill>
                  <a:schemeClr val="tx1"/>
                </a:solidFill>
                <a:sym typeface="+mn-ea"/>
              </a:rPr>
              <a:t>(2014) </a:t>
            </a:r>
            <a:r>
              <a:rPr lang="zh-CN" altLang="en-US" sz="1600">
                <a:solidFill>
                  <a:schemeClr val="tx1"/>
                </a:solidFill>
              </a:rPr>
              <a:t>估计为8</a:t>
            </a:r>
            <a:r>
              <a:rPr lang="en-US" altLang="zh-CN" sz="1600">
                <a:solidFill>
                  <a:schemeClr val="tx1"/>
                </a:solidFill>
              </a:rPr>
              <a:t>，Bernard</a:t>
            </a:r>
            <a:r>
              <a:rPr lang="zh-CN" altLang="en-US" sz="1600">
                <a:solidFill>
                  <a:schemeClr val="tx1"/>
                </a:solidFill>
              </a:rPr>
              <a:t>等</a:t>
            </a:r>
            <a:r>
              <a:rPr lang="en-US" altLang="zh-CN" sz="1600">
                <a:solidFill>
                  <a:schemeClr val="tx1"/>
                </a:solidFill>
                <a:sym typeface="+mn-ea"/>
              </a:rPr>
              <a:t>(2003)</a:t>
            </a:r>
            <a:r>
              <a:rPr lang="zh-CN" altLang="en-US" sz="1600">
                <a:solidFill>
                  <a:schemeClr val="tx1"/>
                </a:solidFill>
              </a:rPr>
              <a:t>估计为 4</a:t>
            </a:r>
            <a:endParaRPr lang="zh-CN" altLang="en-US" sz="1600">
              <a:solidFill>
                <a:schemeClr val="tx1"/>
              </a:solidFill>
            </a:endParaRPr>
          </a:p>
          <a:p>
            <a:pPr marL="285750" indent="-285750" algn="l">
              <a:buClrTx/>
              <a:buSzTx/>
              <a:buFont typeface="Arial" panose="020B0604020202090204" pitchFamily="34" charset="0"/>
              <a:buChar char="•"/>
            </a:pPr>
            <a:r>
              <a:rPr lang="zh-CN" altLang="en-US" sz="1600" b="1">
                <a:solidFill>
                  <a:srgbClr val="660066"/>
                </a:solidFill>
              </a:rPr>
              <a:t>直觉</a:t>
            </a:r>
            <a:r>
              <a:rPr lang="en-US" altLang="zh-CN" sz="1600" b="1">
                <a:solidFill>
                  <a:srgbClr val="660066"/>
                </a:solidFill>
              </a:rPr>
              <a:t>：</a:t>
            </a:r>
            <a:r>
              <a:rPr lang="en-US" altLang="zh-CN" sz="1600" dirty="0">
                <a:solidFill>
                  <a:schemeClr val="tx1"/>
                </a:solidFill>
                <a:sym typeface="+mn-ea"/>
              </a:rPr>
              <a:t>σ</a:t>
            </a:r>
            <a:r>
              <a:rPr lang="zh-CN" altLang="en-US" sz="1600">
                <a:solidFill>
                  <a:schemeClr val="tx1"/>
                </a:solidFill>
              </a:rPr>
              <a:t>越大</a:t>
            </a:r>
            <a:r>
              <a:rPr lang="en-US" altLang="zh-CN" sz="1600" kern="100" dirty="0">
                <a:effectLst/>
                <a:uFillTx/>
                <a:latin typeface="Times New Roman" panose="02020503050405090304" pitchFamily="18" charset="0"/>
                <a:ea typeface="楷体" charset="0"/>
                <a:cs typeface="DejaVu Math TeX Gyre" panose="02000503000000000000" charset="0"/>
                <a:sym typeface="+mn-ea"/>
              </a:rPr>
              <a:t>→</a:t>
            </a:r>
            <a:r>
              <a:rPr lang="zh-CN" altLang="en-US" sz="1600">
                <a:solidFill>
                  <a:schemeClr val="tx1"/>
                </a:solidFill>
              </a:rPr>
              <a:t>不同地区产品越容易互相替代</a:t>
            </a:r>
            <a:r>
              <a:rPr lang="en-US" altLang="zh-CN" sz="1600" kern="100" dirty="0">
                <a:effectLst/>
                <a:uFillTx/>
                <a:latin typeface="Times New Roman" panose="02020503050405090304" pitchFamily="18" charset="0"/>
                <a:ea typeface="楷体" charset="0"/>
                <a:cs typeface="DejaVu Math TeX Gyre" panose="02000503000000000000" charset="0"/>
                <a:sym typeface="+mn-ea"/>
              </a:rPr>
              <a:t>→</a:t>
            </a:r>
            <a:r>
              <a:rPr lang="zh-CN" altLang="en-US" sz="1600">
                <a:solidFill>
                  <a:schemeClr val="tx1"/>
                </a:solidFill>
              </a:rPr>
              <a:t>生产活动重新分配到其他地方造成的成本越小</a:t>
            </a:r>
            <a:r>
              <a:rPr lang="en-US" altLang="zh-CN" sz="1600" kern="100" dirty="0">
                <a:effectLst/>
                <a:uFillTx/>
                <a:latin typeface="Times New Roman" panose="02020503050405090304" pitchFamily="18" charset="0"/>
                <a:ea typeface="楷体" charset="0"/>
                <a:cs typeface="DejaVu Math TeX Gyre" panose="02000503000000000000" charset="0"/>
                <a:sym typeface="+mn-ea"/>
              </a:rPr>
              <a:t>→</a:t>
            </a:r>
            <a:r>
              <a:rPr lang="zh-CN" altLang="en-US" sz="1600">
                <a:solidFill>
                  <a:schemeClr val="tx1"/>
                </a:solidFill>
              </a:rPr>
              <a:t>降低迁移障碍带来的额外收益也越有限。</a:t>
            </a:r>
            <a:endParaRPr lang="zh-CN" altLang="en-US" sz="1600">
              <a:solidFill>
                <a:schemeClr val="tx1"/>
              </a:solidFill>
            </a:endParaRPr>
          </a:p>
        </p:txBody>
      </p:sp>
      <p:sp>
        <p:nvSpPr>
          <p:cNvPr id="15" name="文本框 14"/>
          <p:cNvSpPr txBox="1"/>
          <p:nvPr/>
        </p:nvSpPr>
        <p:spPr>
          <a:xfrm>
            <a:off x="2038350" y="5622290"/>
            <a:ext cx="9165590" cy="720090"/>
          </a:xfrm>
          <a:prstGeom prst="rect">
            <a:avLst/>
          </a:prstGeom>
          <a:noFill/>
        </p:spPr>
        <p:txBody>
          <a:bodyPr wrap="square" rtlCol="0" anchor="ctr" anchorCtr="0">
            <a:noAutofit/>
          </a:bodyPr>
          <a:p>
            <a:pPr marL="285750" indent="-285750" algn="l">
              <a:buFont typeface="Arial" panose="020B0604020202090204" pitchFamily="34" charset="0"/>
              <a:buChar char="•"/>
            </a:pPr>
            <a:r>
              <a:rPr lang="zh-CN" altLang="en-US" sz="1400"/>
              <a:t>本文也用数据直接估计了集聚、宜居性外溢和住房价格参数</a:t>
            </a:r>
            <a:r>
              <a:rPr lang="en-US" altLang="zh-CN" sz="1400"/>
              <a:t>，</a:t>
            </a:r>
            <a:r>
              <a:rPr lang="zh-CN" altLang="en-US" sz="1400"/>
              <a:t>分别为</a:t>
            </a:r>
            <a:r>
              <a:rPr lang="en-US" altLang="zh-CN" sz="1400"/>
              <a:t>0.01、0.04、0.25。</a:t>
            </a:r>
            <a:r>
              <a:rPr lang="zh-CN" altLang="en-US" sz="1400"/>
              <a:t>但估计的统计效力不足</a:t>
            </a:r>
            <a:r>
              <a:rPr lang="en-US" altLang="zh-CN" sz="1400"/>
              <a:t>、</a:t>
            </a:r>
            <a:r>
              <a:rPr lang="zh-CN" altLang="en-US" sz="1400"/>
              <a:t>宜居性外溢的符号与已有</a:t>
            </a:r>
            <a:r>
              <a:rPr lang="zh-CN" altLang="en-US" sz="1400"/>
              <a:t>研究相反</a:t>
            </a:r>
            <a:r>
              <a:rPr lang="en-US" altLang="zh-CN" sz="1400"/>
              <a:t>，</a:t>
            </a:r>
            <a:r>
              <a:rPr lang="zh-CN" altLang="en-US" sz="1400"/>
              <a:t>自行测量的数值大体支持基准的设定</a:t>
            </a:r>
            <a:r>
              <a:rPr lang="en-US" altLang="zh-CN" sz="1400"/>
              <a:t>，</a:t>
            </a:r>
            <a:r>
              <a:rPr lang="zh-CN" altLang="en-US" sz="1400"/>
              <a:t>仍需要采用已有研究的结果</a:t>
            </a:r>
            <a:r>
              <a:rPr lang="en-US" altLang="zh-CN" sz="1400"/>
              <a:t>。</a:t>
            </a:r>
            <a:endParaRPr lang="en-US" altLang="zh-CN" sz="14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2698115" y="1094253"/>
            <a:ext cx="8890487" cy="19964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2788920" y="1199677"/>
            <a:ext cx="4064000" cy="1753235"/>
          </a:xfrm>
          <a:prstGeom prst="rect">
            <a:avLst/>
          </a:prstGeom>
          <a:noFill/>
        </p:spPr>
        <p:txBody>
          <a:bodyPr wrap="square" rtlCol="0">
            <a:spAutoFit/>
          </a:bodyPr>
          <a:p>
            <a:pPr marL="285750" indent="-285750">
              <a:lnSpc>
                <a:spcPct val="150000"/>
              </a:lnSpc>
              <a:buFont typeface="Arial" panose="020B0604020202090204" pitchFamily="34" charset="0"/>
              <a:buChar char="•"/>
            </a:pPr>
            <a:r>
              <a:rPr lang="zh-CN" altLang="en-US"/>
              <a:t>数据可直接观测</a:t>
            </a:r>
            <a:r>
              <a:rPr lang="en-US" altLang="zh-CN"/>
              <a:t>：</a:t>
            </a:r>
            <a:endParaRPr lang="en-US" altLang="zh-CN"/>
          </a:p>
          <a:p>
            <a:pPr marL="285750" indent="-285750">
              <a:lnSpc>
                <a:spcPct val="150000"/>
              </a:lnSpc>
              <a:buFont typeface="Arial" panose="020B0604020202090204" pitchFamily="34" charset="0"/>
              <a:buChar char="•"/>
            </a:pPr>
            <a:r>
              <a:rPr lang="zh-CN" altLang="en-US"/>
              <a:t>校准后的一般均衡参数</a:t>
            </a:r>
            <a:r>
              <a:rPr lang="en-US" altLang="zh-CN"/>
              <a:t>：</a:t>
            </a:r>
            <a:endParaRPr lang="en-US" altLang="zh-CN"/>
          </a:p>
          <a:p>
            <a:pPr marL="285750" indent="-285750">
              <a:lnSpc>
                <a:spcPct val="150000"/>
              </a:lnSpc>
              <a:buFont typeface="Arial" panose="020B0604020202090204" pitchFamily="34" charset="0"/>
              <a:buChar char="•"/>
            </a:pPr>
            <a:r>
              <a:rPr lang="zh-CN" altLang="en-US"/>
              <a:t>已识别</a:t>
            </a:r>
            <a:r>
              <a:rPr lang="en-US" altLang="zh-CN"/>
              <a:t>、</a:t>
            </a:r>
            <a:r>
              <a:rPr lang="zh-CN" altLang="en-US"/>
              <a:t>估计的参数</a:t>
            </a:r>
            <a:r>
              <a:rPr lang="en-US" altLang="zh-CN"/>
              <a:t>：</a:t>
            </a:r>
            <a:endParaRPr lang="en-US" altLang="zh-CN"/>
          </a:p>
          <a:p>
            <a:pPr marL="285750" indent="-285750">
              <a:lnSpc>
                <a:spcPct val="150000"/>
              </a:lnSpc>
              <a:buFont typeface="Arial" panose="020B0604020202090204" pitchFamily="34" charset="0"/>
              <a:buChar char="•"/>
            </a:pPr>
            <a:r>
              <a:rPr lang="zh-CN" altLang="en-US"/>
              <a:t>从基准均衡</a:t>
            </a:r>
            <a:r>
              <a:rPr lang="zh-CN" altLang="en-US"/>
              <a:t>可反推出的外生禀赋：</a:t>
            </a:r>
            <a:endParaRPr lang="zh-CN" altLang="en-US"/>
          </a:p>
        </p:txBody>
      </p:sp>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4.2</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反事实</a:t>
            </a:r>
            <a:r>
              <a:rPr lang="zh-CN" altLang="en-US" sz="2800" b="1" dirty="0">
                <a:latin typeface="+mn-lt"/>
              </a:rPr>
              <a:t>均衡求解过程</a:t>
            </a:r>
            <a:r>
              <a:rPr lang="en-US" altLang="zh-CN" sz="2800" b="1" dirty="0">
                <a:latin typeface="+mn-lt"/>
              </a:rPr>
              <a:t>：</a:t>
            </a:r>
            <a:r>
              <a:rPr lang="zh-CN" altLang="en-US" sz="2800" b="1" dirty="0">
                <a:latin typeface="+mn-lt"/>
              </a:rPr>
              <a:t>设定</a:t>
            </a:r>
            <a:r>
              <a:rPr lang="en-US" altLang="zh-CN" sz="2800" b="1" dirty="0">
                <a:latin typeface="+mn-lt"/>
              </a:rPr>
              <a:t>、</a:t>
            </a:r>
            <a:r>
              <a:rPr lang="zh-CN" altLang="en-US" sz="2800" b="1" dirty="0">
                <a:latin typeface="+mn-lt"/>
              </a:rPr>
              <a:t>求解前的</a:t>
            </a:r>
            <a:r>
              <a:rPr lang="zh-CN" altLang="en-US" sz="2800" b="1" dirty="0">
                <a:latin typeface="+mn-lt"/>
              </a:rPr>
              <a:t>已知对象</a:t>
            </a:r>
            <a:endParaRPr lang="zh-CN" altLang="en-US" sz="2800" b="1" dirty="0">
              <a:latin typeface="+mn-lt"/>
            </a:endParaRPr>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167919" y="3924330"/>
            <a:ext cx="2654006" cy="402590"/>
          </a:xfrm>
          <a:prstGeom prst="rect">
            <a:avLst/>
          </a:prstGeom>
        </p:spPr>
      </p:pic>
      <p:pic>
        <p:nvPicPr>
          <p:cNvPr id="4" name="图片 3"/>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4843285" y="3867174"/>
            <a:ext cx="1884311" cy="516872"/>
          </a:xfrm>
          <a:prstGeom prst="rect">
            <a:avLst/>
          </a:prstGeom>
        </p:spPr>
      </p:pic>
      <p:pic>
        <p:nvPicPr>
          <p:cNvPr id="9" name="图片 8"/>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4896485" y="1273337"/>
            <a:ext cx="419100" cy="419100"/>
          </a:xfrm>
          <a:prstGeom prst="rect">
            <a:avLst/>
          </a:prstGeom>
        </p:spPr>
      </p:pic>
      <p:pic>
        <p:nvPicPr>
          <p:cNvPr id="10" name="图片 9"/>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7628255" y="2117887"/>
            <a:ext cx="381000" cy="393700"/>
          </a:xfrm>
          <a:prstGeom prst="rect">
            <a:avLst/>
          </a:prstGeom>
        </p:spPr>
      </p:pic>
      <p:pic>
        <p:nvPicPr>
          <p:cNvPr id="11" name="图片 10"/>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5544185" y="1333662"/>
            <a:ext cx="368300" cy="342900"/>
          </a:xfrm>
          <a:prstGeom prst="rect">
            <a:avLst/>
          </a:prstGeom>
        </p:spPr>
      </p:pic>
      <p:pic>
        <p:nvPicPr>
          <p:cNvPr id="12" name="图片 11"/>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5407025" y="2131222"/>
            <a:ext cx="1755140" cy="438785"/>
          </a:xfrm>
          <a:prstGeom prst="rect">
            <a:avLst/>
          </a:prstGeom>
        </p:spPr>
      </p:pic>
      <p:pic>
        <p:nvPicPr>
          <p:cNvPr id="13" name="图片 12"/>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7299960" y="2107727"/>
            <a:ext cx="317500" cy="393700"/>
          </a:xfrm>
          <a:prstGeom prst="rect">
            <a:avLst/>
          </a:prstGeom>
        </p:spPr>
      </p:pic>
      <p:pic>
        <p:nvPicPr>
          <p:cNvPr id="14" name="图片 13"/>
          <p:cNvPicPr>
            <a:picLocks noChangeAspect="1"/>
          </p:cNvPicPr>
          <p:nvPr/>
        </p:nvPicPr>
        <p:blipFill>
          <a:blip r:embed="rId8">
            <a:clrChange>
              <a:clrFrom>
                <a:srgbClr val="FFFFFF">
                  <a:alpha val="100000"/>
                </a:srgbClr>
              </a:clrFrom>
              <a:clrTo>
                <a:srgbClr val="FFFFFF">
                  <a:alpha val="100000"/>
                  <a:alpha val="0"/>
                </a:srgbClr>
              </a:clrTo>
            </a:clrChange>
          </a:blip>
          <a:stretch>
            <a:fillRect/>
          </a:stretch>
        </p:blipFill>
        <p:spPr>
          <a:xfrm>
            <a:off x="8064500" y="2107727"/>
            <a:ext cx="355600" cy="368300"/>
          </a:xfrm>
          <a:prstGeom prst="rect">
            <a:avLst/>
          </a:prstGeom>
        </p:spPr>
      </p:pic>
      <p:pic>
        <p:nvPicPr>
          <p:cNvPr id="15" name="图片 14"/>
          <p:cNvPicPr>
            <a:picLocks noChangeAspect="1"/>
          </p:cNvPicPr>
          <p:nvPr/>
        </p:nvPicPr>
        <p:blipFill>
          <a:blip r:embed="rId9">
            <a:clrChange>
              <a:clrFrom>
                <a:srgbClr val="FFFFFF">
                  <a:alpha val="100000"/>
                </a:srgbClr>
              </a:clrFrom>
              <a:clrTo>
                <a:srgbClr val="FFFFFF">
                  <a:alpha val="100000"/>
                  <a:alpha val="0"/>
                </a:srgbClr>
              </a:clrTo>
            </a:clrChange>
          </a:blip>
          <a:stretch>
            <a:fillRect/>
          </a:stretch>
        </p:blipFill>
        <p:spPr>
          <a:xfrm>
            <a:off x="8479155" y="2099472"/>
            <a:ext cx="317500" cy="419100"/>
          </a:xfrm>
          <a:prstGeom prst="rect">
            <a:avLst/>
          </a:prstGeom>
        </p:spPr>
      </p:pic>
      <p:pic>
        <p:nvPicPr>
          <p:cNvPr id="16" name="图片 15"/>
          <p:cNvPicPr>
            <a:picLocks noChangeAspect="1"/>
          </p:cNvPicPr>
          <p:nvPr/>
        </p:nvPicPr>
        <p:blipFill>
          <a:blip r:embed="rId10">
            <a:clrChange>
              <a:clrFrom>
                <a:srgbClr val="FFFFFF">
                  <a:alpha val="100000"/>
                </a:srgbClr>
              </a:clrFrom>
              <a:clrTo>
                <a:srgbClr val="FFFFFF">
                  <a:alpha val="100000"/>
                  <a:alpha val="0"/>
                </a:srgbClr>
              </a:clrTo>
            </a:clrChange>
          </a:blip>
          <a:stretch>
            <a:fillRect/>
          </a:stretch>
        </p:blipFill>
        <p:spPr>
          <a:xfrm>
            <a:off x="5658485" y="1692437"/>
            <a:ext cx="254000" cy="368300"/>
          </a:xfrm>
          <a:prstGeom prst="rect">
            <a:avLst/>
          </a:prstGeom>
        </p:spPr>
      </p:pic>
      <p:pic>
        <p:nvPicPr>
          <p:cNvPr id="17" name="图片 16"/>
          <p:cNvPicPr>
            <a:picLocks noChangeAspect="1"/>
          </p:cNvPicPr>
          <p:nvPr/>
        </p:nvPicPr>
        <p:blipFill>
          <a:blip r:embed="rId11">
            <a:clrChange>
              <a:clrFrom>
                <a:srgbClr val="FFFFFF">
                  <a:alpha val="100000"/>
                </a:srgbClr>
              </a:clrFrom>
              <a:clrTo>
                <a:srgbClr val="FFFFFF">
                  <a:alpha val="100000"/>
                  <a:alpha val="0"/>
                </a:srgbClr>
              </a:clrTo>
            </a:clrChange>
          </a:blip>
          <a:stretch>
            <a:fillRect/>
          </a:stretch>
        </p:blipFill>
        <p:spPr>
          <a:xfrm>
            <a:off x="5953760" y="1705137"/>
            <a:ext cx="228600" cy="355600"/>
          </a:xfrm>
          <a:prstGeom prst="rect">
            <a:avLst/>
          </a:prstGeom>
        </p:spPr>
      </p:pic>
      <p:pic>
        <p:nvPicPr>
          <p:cNvPr id="19" name="图片 18"/>
          <p:cNvPicPr>
            <a:picLocks noChangeAspect="1"/>
          </p:cNvPicPr>
          <p:nvPr/>
        </p:nvPicPr>
        <p:blipFill>
          <a:blip r:embed="rId12">
            <a:clrChange>
              <a:clrFrom>
                <a:srgbClr val="FFFFFF">
                  <a:alpha val="100000"/>
                </a:srgbClr>
              </a:clrFrom>
              <a:clrTo>
                <a:srgbClr val="FFFFFF">
                  <a:alpha val="100000"/>
                  <a:alpha val="0"/>
                </a:srgbClr>
              </a:clrTo>
            </a:clrChange>
          </a:blip>
          <a:stretch>
            <a:fillRect/>
          </a:stretch>
        </p:blipFill>
        <p:spPr>
          <a:xfrm>
            <a:off x="6255385" y="1705137"/>
            <a:ext cx="279400" cy="381000"/>
          </a:xfrm>
          <a:prstGeom prst="rect">
            <a:avLst/>
          </a:prstGeom>
        </p:spPr>
      </p:pic>
      <p:pic>
        <p:nvPicPr>
          <p:cNvPr id="20" name="图片 19"/>
          <p:cNvPicPr>
            <a:picLocks noChangeAspect="1"/>
          </p:cNvPicPr>
          <p:nvPr/>
        </p:nvPicPr>
        <p:blipFill>
          <a:blip r:embed="rId13">
            <a:clrChange>
              <a:clrFrom>
                <a:srgbClr val="FFFFFF">
                  <a:alpha val="100000"/>
                </a:srgbClr>
              </a:clrFrom>
              <a:clrTo>
                <a:srgbClr val="FFFFFF">
                  <a:alpha val="100000"/>
                  <a:alpha val="0"/>
                </a:srgbClr>
              </a:clrTo>
            </a:clrChange>
          </a:blip>
          <a:stretch>
            <a:fillRect/>
          </a:stretch>
        </p:blipFill>
        <p:spPr>
          <a:xfrm>
            <a:off x="6608445" y="2476027"/>
            <a:ext cx="2684145" cy="509270"/>
          </a:xfrm>
          <a:prstGeom prst="rect">
            <a:avLst/>
          </a:prstGeom>
        </p:spPr>
      </p:pic>
      <p:pic>
        <p:nvPicPr>
          <p:cNvPr id="21" name="图片 20"/>
          <p:cNvPicPr>
            <a:picLocks noChangeAspect="1"/>
          </p:cNvPicPr>
          <p:nvPr/>
        </p:nvPicPr>
        <p:blipFill>
          <a:blip r:embed="rId14">
            <a:clrChange>
              <a:clrFrom>
                <a:srgbClr val="FFFFFF">
                  <a:alpha val="100000"/>
                </a:srgbClr>
              </a:clrFrom>
              <a:clrTo>
                <a:srgbClr val="FFFFFF">
                  <a:alpha val="100000"/>
                  <a:alpha val="0"/>
                </a:srgbClr>
              </a:clrTo>
            </a:clrChange>
          </a:blip>
          <a:stretch>
            <a:fillRect/>
          </a:stretch>
        </p:blipFill>
        <p:spPr>
          <a:xfrm>
            <a:off x="9549765" y="2501427"/>
            <a:ext cx="1365250" cy="447040"/>
          </a:xfrm>
          <a:prstGeom prst="rect">
            <a:avLst/>
          </a:prstGeom>
        </p:spPr>
      </p:pic>
      <p:pic>
        <p:nvPicPr>
          <p:cNvPr id="5" name="图片 4"/>
          <p:cNvPicPr>
            <a:picLocks noChangeAspect="1"/>
          </p:cNvPicPr>
          <p:nvPr/>
        </p:nvPicPr>
        <p:blipFill>
          <a:blip r:embed="rId15">
            <a:clrChange>
              <a:clrFrom>
                <a:srgbClr val="FFFFFF">
                  <a:alpha val="100000"/>
                </a:srgbClr>
              </a:clrFrom>
              <a:clrTo>
                <a:srgbClr val="FFFFFF">
                  <a:alpha val="100000"/>
                  <a:alpha val="0"/>
                </a:srgbClr>
              </a:clrTo>
            </a:clrChange>
          </a:blip>
          <a:stretch>
            <a:fillRect/>
          </a:stretch>
        </p:blipFill>
        <p:spPr>
          <a:xfrm>
            <a:off x="7683217" y="3691536"/>
            <a:ext cx="1596307" cy="721596"/>
          </a:xfrm>
          <a:prstGeom prst="rect">
            <a:avLst/>
          </a:prstGeom>
        </p:spPr>
      </p:pic>
      <p:pic>
        <p:nvPicPr>
          <p:cNvPr id="8" name="图片 7"/>
          <p:cNvPicPr>
            <a:picLocks noChangeAspect="1"/>
          </p:cNvPicPr>
          <p:nvPr/>
        </p:nvPicPr>
        <p:blipFill>
          <a:blip r:embed="rId16">
            <a:clrChange>
              <a:clrFrom>
                <a:srgbClr val="FFFFFF">
                  <a:alpha val="100000"/>
                </a:srgbClr>
              </a:clrFrom>
              <a:clrTo>
                <a:srgbClr val="FFFFFF">
                  <a:alpha val="100000"/>
                  <a:alpha val="0"/>
                </a:srgbClr>
              </a:clrTo>
            </a:clrChange>
          </a:blip>
          <a:stretch>
            <a:fillRect/>
          </a:stretch>
        </p:blipFill>
        <p:spPr>
          <a:xfrm>
            <a:off x="9810801" y="3764825"/>
            <a:ext cx="1091162" cy="575017"/>
          </a:xfrm>
          <a:prstGeom prst="rect">
            <a:avLst/>
          </a:prstGeom>
        </p:spPr>
      </p:pic>
      <p:grpSp>
        <p:nvGrpSpPr>
          <p:cNvPr id="25" name="组合 24"/>
          <p:cNvGrpSpPr/>
          <p:nvPr/>
        </p:nvGrpSpPr>
        <p:grpSpPr>
          <a:xfrm rot="0">
            <a:off x="7003548" y="3235753"/>
            <a:ext cx="4585054" cy="3104796"/>
            <a:chOff x="3107" y="5400"/>
            <a:chExt cx="3989" cy="4349"/>
          </a:xfrm>
        </p:grpSpPr>
        <p:sp>
          <p:nvSpPr>
            <p:cNvPr id="26" name="矩形 25"/>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3107" y="5400"/>
              <a:ext cx="3989" cy="516"/>
            </a:xfrm>
            <a:prstGeom prst="rect">
              <a:avLst/>
            </a:prstGeom>
            <a:solidFill>
              <a:srgbClr val="69025E"/>
            </a:solidFill>
          </p:spPr>
          <p:txBody>
            <a:bodyPr wrap="square">
              <a:spAutoFit/>
            </a:bodyPr>
            <a:lstStyle/>
            <a:p>
              <a:pPr algn="ctr"/>
              <a:r>
                <a:rPr lang="zh-CN" altLang="en-US" b="1">
                  <a:solidFill>
                    <a:schemeClr val="bg1"/>
                  </a:solidFill>
                  <a:sym typeface="+mn-ea"/>
                </a:rPr>
                <a:t>消除补偿性工资差异</a:t>
              </a:r>
              <a:endParaRPr lang="en-US" altLang="zh-CN" b="1">
                <a:solidFill>
                  <a:schemeClr val="bg1"/>
                </a:solidFill>
                <a:sym typeface="+mn-ea"/>
              </a:endParaRPr>
            </a:p>
          </p:txBody>
        </p:sp>
      </p:grpSp>
      <p:grpSp>
        <p:nvGrpSpPr>
          <p:cNvPr id="32" name="组合 31"/>
          <p:cNvGrpSpPr/>
          <p:nvPr/>
        </p:nvGrpSpPr>
        <p:grpSpPr>
          <a:xfrm rot="0">
            <a:off x="2030755" y="3235722"/>
            <a:ext cx="4618429" cy="3104766"/>
            <a:chOff x="3107" y="5400"/>
            <a:chExt cx="3989" cy="4349"/>
          </a:xfrm>
        </p:grpSpPr>
        <p:sp>
          <p:nvSpPr>
            <p:cNvPr id="33" name="矩形 32"/>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3107" y="5400"/>
              <a:ext cx="3989" cy="516"/>
            </a:xfrm>
            <a:prstGeom prst="rect">
              <a:avLst/>
            </a:prstGeom>
            <a:solidFill>
              <a:srgbClr val="69025E"/>
            </a:solidFill>
          </p:spPr>
          <p:txBody>
            <a:bodyPr wrap="square">
              <a:spAutoFit/>
            </a:bodyPr>
            <a:lstStyle/>
            <a:p>
              <a:pPr algn="ctr"/>
              <a:r>
                <a:rPr lang="zh-CN" altLang="en-US" b="1">
                  <a:solidFill>
                    <a:schemeClr val="bg1"/>
                  </a:solidFill>
                  <a:sym typeface="+mn-ea"/>
                </a:rPr>
                <a:t>消除迁移成本</a:t>
              </a:r>
              <a:endParaRPr lang="zh-CN" altLang="en-US" b="1">
                <a:solidFill>
                  <a:schemeClr val="bg1"/>
                </a:solidFill>
                <a:sym typeface="+mn-ea"/>
              </a:endParaRPr>
            </a:p>
          </p:txBody>
        </p:sp>
      </p:grpSp>
      <p:sp>
        <p:nvSpPr>
          <p:cNvPr id="36" name="矩形 35"/>
          <p:cNvSpPr/>
          <p:nvPr/>
        </p:nvSpPr>
        <p:spPr>
          <a:xfrm>
            <a:off x="2030730" y="1094253"/>
            <a:ext cx="668020" cy="1996455"/>
          </a:xfrm>
          <a:prstGeom prst="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t>已知</a:t>
            </a:r>
            <a:endParaRPr lang="zh-CN" altLang="en-US" sz="2000"/>
          </a:p>
          <a:p>
            <a:pPr algn="ctr"/>
            <a:r>
              <a:rPr lang="zh-CN" altLang="en-US" sz="2000"/>
              <a:t>参数变量</a:t>
            </a:r>
            <a:endParaRPr lang="zh-CN" altLang="en-US" sz="2000"/>
          </a:p>
        </p:txBody>
      </p:sp>
      <p:sp>
        <p:nvSpPr>
          <p:cNvPr id="6" name="文本框 5"/>
          <p:cNvSpPr txBox="1"/>
          <p:nvPr/>
        </p:nvSpPr>
        <p:spPr>
          <a:xfrm>
            <a:off x="2030730" y="3691536"/>
            <a:ext cx="1473200" cy="306705"/>
          </a:xfrm>
          <a:prstGeom prst="rect">
            <a:avLst/>
          </a:prstGeom>
          <a:noFill/>
        </p:spPr>
        <p:txBody>
          <a:bodyPr wrap="square" rtlCol="0">
            <a:spAutoFit/>
          </a:bodyPr>
          <a:p>
            <a:r>
              <a:rPr lang="zh-CN" altLang="en-US" sz="1400"/>
              <a:t>设定：</a:t>
            </a:r>
            <a:endParaRPr lang="en-US" altLang="zh-CN" sz="1400"/>
          </a:p>
        </p:txBody>
      </p:sp>
      <p:sp>
        <p:nvSpPr>
          <p:cNvPr id="24" name="文本框 23"/>
          <p:cNvSpPr txBox="1"/>
          <p:nvPr/>
        </p:nvSpPr>
        <p:spPr>
          <a:xfrm>
            <a:off x="7030245" y="3691536"/>
            <a:ext cx="1473200" cy="306705"/>
          </a:xfrm>
          <a:prstGeom prst="rect">
            <a:avLst/>
          </a:prstGeom>
          <a:noFill/>
        </p:spPr>
        <p:txBody>
          <a:bodyPr wrap="square" rtlCol="0">
            <a:spAutoFit/>
          </a:bodyPr>
          <a:p>
            <a:r>
              <a:rPr lang="zh-CN" altLang="en-US" sz="1400"/>
              <a:t>设定：</a:t>
            </a:r>
            <a:endParaRPr lang="en-US" altLang="zh-CN" sz="1400"/>
          </a:p>
        </p:txBody>
      </p:sp>
      <p:sp>
        <p:nvSpPr>
          <p:cNvPr id="29" name="文本框 28"/>
          <p:cNvSpPr txBox="1"/>
          <p:nvPr/>
        </p:nvSpPr>
        <p:spPr>
          <a:xfrm>
            <a:off x="2030730" y="4256036"/>
            <a:ext cx="4618429" cy="1956479"/>
          </a:xfrm>
          <a:prstGeom prst="rect">
            <a:avLst/>
          </a:prstGeom>
          <a:noFill/>
        </p:spPr>
        <p:txBody>
          <a:bodyPr wrap="square" rtlCol="0">
            <a:noAutofit/>
          </a:bodyPr>
          <a:p>
            <a:pPr marL="285750" indent="-285750">
              <a:buFont typeface="Arial" panose="020B0604020202090204" pitchFamily="34" charset="0"/>
              <a:buChar char="•"/>
            </a:pPr>
            <a:r>
              <a:rPr lang="en-US" altLang="zh-CN" sz="1300"/>
              <a:t>κ</a:t>
            </a:r>
            <a:r>
              <a:rPr lang="zh-CN" altLang="en-US" sz="1300"/>
              <a:t>=</a:t>
            </a:r>
            <a:r>
              <a:rPr lang="en-US" altLang="zh-CN" sz="1300"/>
              <a:t>0</a:t>
            </a:r>
            <a:r>
              <a:rPr lang="zh-CN" altLang="en-US" sz="1300"/>
              <a:t>：</a:t>
            </a:r>
            <a:r>
              <a:rPr lang="en-US" altLang="zh-CN" sz="1300">
                <a:cs typeface="Arial" panose="020B0604020202090204" pitchFamily="34" charset="0"/>
              </a:rPr>
              <a:t>baseline</a:t>
            </a:r>
            <a:r>
              <a:rPr lang="zh-CN" altLang="en-US" sz="1300">
                <a:cs typeface="Arial" panose="020B0604020202090204" pitchFamily="34" charset="0"/>
              </a:rPr>
              <a:t>状态、</a:t>
            </a:r>
            <a:r>
              <a:rPr lang="en-US" altLang="zh-CN" sz="1300">
                <a:cs typeface="Arial" panose="020B0604020202090204" pitchFamily="34" charset="0"/>
              </a:rPr>
              <a:t>κ=1：</a:t>
            </a:r>
            <a:r>
              <a:rPr lang="zh-CN" altLang="en-US" sz="1300">
                <a:cs typeface="Arial" panose="020B0604020202090204" pitchFamily="34" charset="0"/>
              </a:rPr>
              <a:t>完全消除</a:t>
            </a:r>
            <a:endParaRPr lang="zh-CN" altLang="en-US" sz="1300">
              <a:cs typeface="Arial" panose="020B0604020202090204" pitchFamily="34" charset="0"/>
            </a:endParaRPr>
          </a:p>
          <a:p>
            <a:pPr marL="285750" indent="-285750">
              <a:buFont typeface="Arial" panose="020B0604020202090204" pitchFamily="34" charset="0"/>
              <a:buChar char="•"/>
            </a:pPr>
            <a:r>
              <a:rPr lang="en-US" altLang="zh-CN" sz="1300">
                <a:cs typeface="Arial" panose="020B0604020202090204" pitchFamily="34" charset="0"/>
              </a:rPr>
              <a:t>κ≈0.28</a:t>
            </a:r>
            <a:r>
              <a:rPr lang="zh-CN" altLang="en-US" sz="1300">
                <a:cs typeface="Arial" panose="020B0604020202090204" pitchFamily="34" charset="0"/>
              </a:rPr>
              <a:t>：下降至美国水平</a:t>
            </a:r>
            <a:r>
              <a:rPr lang="en-US" altLang="zh-CN" sz="1300">
                <a:cs typeface="Arial" panose="020B0604020202090204" pitchFamily="34" charset="0"/>
              </a:rPr>
              <a:t>（</a:t>
            </a:r>
            <a:r>
              <a:rPr lang="zh-CN" altLang="en-US" sz="1300">
                <a:cs typeface="Arial" panose="020B0604020202090204" pitchFamily="34" charset="0"/>
              </a:rPr>
              <a:t>按照前文的估计结果计算</a:t>
            </a:r>
            <a:r>
              <a:rPr lang="en-US" altLang="zh-CN" sz="1300">
                <a:cs typeface="Arial" panose="020B0604020202090204" pitchFamily="34" charset="0"/>
              </a:rPr>
              <a:t>：</a:t>
            </a:r>
            <a:r>
              <a:rPr lang="zh-CN" altLang="en-US" sz="1300">
                <a:sym typeface="+mn-ea"/>
              </a:rPr>
              <a:t>印尼移民要获得39 %的收入补偿，美国移民需要15 %的收入补偿</a:t>
            </a:r>
            <a:r>
              <a:rPr lang="en-US" altLang="zh-CN" sz="1300">
                <a:sym typeface="+mn-ea"/>
              </a:rPr>
              <a:t>）</a:t>
            </a:r>
            <a:endParaRPr lang="zh-CN" altLang="en-US" sz="1300">
              <a:cs typeface="Arial" panose="020B0604020202090204" pitchFamily="34" charset="0"/>
            </a:endParaRPr>
          </a:p>
          <a:p>
            <a:pPr marL="285750" indent="-285750">
              <a:buFont typeface="Arial" panose="020B0604020202090204" pitchFamily="34" charset="0"/>
              <a:buChar char="•"/>
            </a:pPr>
            <a:r>
              <a:rPr lang="zh-CN" altLang="en-US" sz="1300" b="1">
                <a:solidFill>
                  <a:srgbClr val="642366"/>
                </a:solidFill>
                <a:cs typeface="Arial" panose="020B0604020202090204" pitchFamily="34" charset="0"/>
              </a:rPr>
              <a:t>现实政策包括：</a:t>
            </a:r>
            <a:r>
              <a:rPr lang="zh-CN" altLang="en-US" sz="1300">
                <a:cs typeface="Arial" panose="020B0604020202090204" pitchFamily="34" charset="0"/>
              </a:rPr>
              <a:t>移民补贴、移民接待中心、语言培训、道路建设等</a:t>
            </a:r>
            <a:endParaRPr lang="zh-CN" altLang="en-US" sz="1300">
              <a:cs typeface="Arial" panose="020B0604020202090204" pitchFamily="34" charset="0"/>
            </a:endParaRPr>
          </a:p>
          <a:p>
            <a:pPr marL="285750" indent="-285750">
              <a:buFont typeface="Arial" panose="020B0604020202090204" pitchFamily="34" charset="0"/>
              <a:buChar char="•"/>
            </a:pPr>
            <a:r>
              <a:rPr lang="zh-CN" altLang="en-US" sz="1300">
                <a:cs typeface="Arial" panose="020B0604020202090204" pitchFamily="34" charset="0"/>
              </a:rPr>
              <a:t>在分析降低迁移成本的反事实时，</a:t>
            </a:r>
            <a:r>
              <a:rPr lang="zh-CN" altLang="en-US" sz="1300" b="1">
                <a:solidFill>
                  <a:srgbClr val="642366"/>
                </a:solidFill>
                <a:cs typeface="Arial" panose="020B0604020202090204" pitchFamily="34" charset="0"/>
              </a:rPr>
              <a:t>允许       发生内生变动</a:t>
            </a:r>
            <a:r>
              <a:rPr lang="zh-CN" altLang="en-US" sz="1300">
                <a:cs typeface="Arial" panose="020B0604020202090204" pitchFamily="34" charset="0"/>
              </a:rPr>
              <a:t>（迁移成本变动—人口分布变动—目的地拥挤程度变化—宜居度变动）</a:t>
            </a:r>
            <a:endParaRPr lang="en-US" altLang="zh-CN" sz="1300">
              <a:cs typeface="Arial" panose="020B0604020202090204" pitchFamily="34" charset="0"/>
            </a:endParaRPr>
          </a:p>
        </p:txBody>
      </p:sp>
      <p:sp>
        <p:nvSpPr>
          <p:cNvPr id="30" name="文本框 29"/>
          <p:cNvSpPr txBox="1"/>
          <p:nvPr/>
        </p:nvSpPr>
        <p:spPr>
          <a:xfrm>
            <a:off x="7030247" y="4256036"/>
            <a:ext cx="4558355" cy="1956479"/>
          </a:xfrm>
          <a:prstGeom prst="rect">
            <a:avLst/>
          </a:prstGeom>
          <a:noFill/>
        </p:spPr>
        <p:txBody>
          <a:bodyPr wrap="square" rtlCol="0">
            <a:noAutofit/>
          </a:bodyPr>
          <a:p>
            <a:pPr marL="285750" indent="-285750">
              <a:buFont typeface="Arial" panose="020B0604020202090204" pitchFamily="34" charset="0"/>
              <a:buChar char="•"/>
            </a:pPr>
            <a:r>
              <a:rPr lang="en-US" altLang="zh-CN" sz="1300"/>
              <a:t>κ</a:t>
            </a:r>
            <a:r>
              <a:rPr lang="zh-CN" altLang="en-US" sz="1300"/>
              <a:t>=</a:t>
            </a:r>
            <a:r>
              <a:rPr lang="en-US" altLang="zh-CN" sz="1300"/>
              <a:t>0</a:t>
            </a:r>
            <a:r>
              <a:rPr lang="zh-CN" altLang="en-US" sz="1300"/>
              <a:t>：</a:t>
            </a:r>
            <a:r>
              <a:rPr lang="en-US" altLang="zh-CN" sz="1300">
                <a:cs typeface="Arial" panose="020B0604020202090204" pitchFamily="34" charset="0"/>
              </a:rPr>
              <a:t>baseline</a:t>
            </a:r>
            <a:r>
              <a:rPr lang="zh-CN" altLang="en-US" sz="1300">
                <a:cs typeface="Arial" panose="020B0604020202090204" pitchFamily="34" charset="0"/>
              </a:rPr>
              <a:t>状态、</a:t>
            </a:r>
            <a:r>
              <a:rPr lang="en-US" altLang="zh-CN" sz="1300">
                <a:cs typeface="Arial" panose="020B0604020202090204" pitchFamily="34" charset="0"/>
              </a:rPr>
              <a:t>κ</a:t>
            </a:r>
            <a:r>
              <a:rPr lang="zh-CN" altLang="en-US" sz="1300">
                <a:cs typeface="Arial" panose="020B0604020202090204" pitchFamily="34" charset="0"/>
              </a:rPr>
              <a:t>=</a:t>
            </a:r>
            <a:r>
              <a:rPr lang="en-US" altLang="zh-CN" sz="1300">
                <a:cs typeface="Arial" panose="020B0604020202090204" pitchFamily="34" charset="0"/>
              </a:rPr>
              <a:t>1</a:t>
            </a:r>
            <a:r>
              <a:rPr lang="zh-CN" altLang="en-US" sz="1300">
                <a:cs typeface="Arial" panose="020B0604020202090204" pitchFamily="34" charset="0"/>
              </a:rPr>
              <a:t>：</a:t>
            </a:r>
            <a:r>
              <a:rPr lang="zh-CN" altLang="en-US" sz="1300" b="1">
                <a:solidFill>
                  <a:srgbClr val="642366"/>
                </a:solidFill>
                <a:cs typeface="Arial" panose="020B0604020202090204" pitchFamily="34" charset="0"/>
              </a:rPr>
              <a:t>完全均等化</a:t>
            </a:r>
            <a:r>
              <a:rPr lang="zh-CN" altLang="en-US" sz="1300">
                <a:cs typeface="Arial" panose="020B0604020202090204" pitchFamily="34" charset="0"/>
              </a:rPr>
              <a:t>宜居度、租金等可能带来补偿性工资差异的因素</a:t>
            </a:r>
            <a:endParaRPr lang="zh-CN" altLang="en-US" sz="1300">
              <a:cs typeface="Arial" panose="020B0604020202090204" pitchFamily="34" charset="0"/>
            </a:endParaRPr>
          </a:p>
          <a:p>
            <a:pPr marL="285750" indent="-285750">
              <a:buFont typeface="Arial" panose="020B0604020202090204" pitchFamily="34" charset="0"/>
              <a:buChar char="•"/>
            </a:pPr>
            <a:r>
              <a:rPr lang="zh-CN" altLang="en-US" sz="1300" b="1">
                <a:solidFill>
                  <a:srgbClr val="642366"/>
                </a:solidFill>
                <a:cs typeface="Arial" panose="020B0604020202090204" pitchFamily="34" charset="0"/>
              </a:rPr>
              <a:t>此处没有将补偿性工资差异调整为美国水平：</a:t>
            </a:r>
            <a:r>
              <a:rPr lang="zh-CN" altLang="en-US" sz="1300">
                <a:solidFill>
                  <a:srgbClr val="000000"/>
                </a:solidFill>
                <a:cs typeface="Arial" panose="020B0604020202090204" pitchFamily="34" charset="0"/>
              </a:rPr>
              <a:t>（</a:t>
            </a:r>
            <a:r>
              <a:rPr lang="en-US" altLang="zh-CN" sz="1300">
                <a:solidFill>
                  <a:srgbClr val="000000"/>
                </a:solidFill>
                <a:cs typeface="Arial" panose="020B0604020202090204" pitchFamily="34" charset="0"/>
              </a:rPr>
              <a:t>1</a:t>
            </a:r>
            <a:r>
              <a:rPr lang="zh-CN" altLang="en-US" sz="1300">
                <a:solidFill>
                  <a:srgbClr val="000000"/>
                </a:solidFill>
                <a:cs typeface="Arial" panose="020B0604020202090204" pitchFamily="34" charset="0"/>
              </a:rPr>
              <a:t>）宜居性差异为零是一个合理的设定：没有明显理由表明部分地区必然配套更少公共服务、污染水平更高；（</a:t>
            </a:r>
            <a:r>
              <a:rPr lang="en-US" altLang="zh-CN" sz="1300">
                <a:solidFill>
                  <a:srgbClr val="000000"/>
                </a:solidFill>
                <a:cs typeface="Arial" panose="020B0604020202090204" pitchFamily="34" charset="0"/>
              </a:rPr>
              <a:t>2</a:t>
            </a:r>
            <a:r>
              <a:rPr lang="zh-CN" altLang="en-US" sz="1300">
                <a:solidFill>
                  <a:srgbClr val="000000"/>
                </a:solidFill>
                <a:cs typeface="Arial" panose="020B0604020202090204" pitchFamily="34" charset="0"/>
              </a:rPr>
              <a:t>）美国的宜居性离散程度高于印度尼西亚（</a:t>
            </a:r>
            <a:r>
              <a:rPr lang="en-US" altLang="zh-CN" sz="1300">
                <a:solidFill>
                  <a:srgbClr val="000000"/>
                </a:solidFill>
                <a:cs typeface="Arial" panose="020B0604020202090204" pitchFamily="34" charset="0"/>
              </a:rPr>
              <a:t>Hsieh &amp; Moretti</a:t>
            </a:r>
            <a:r>
              <a:rPr lang="zh-CN" altLang="en-US" sz="1300">
                <a:solidFill>
                  <a:srgbClr val="000000"/>
                </a:solidFill>
                <a:cs typeface="Arial" panose="020B0604020202090204" pitchFamily="34" charset="0"/>
              </a:rPr>
              <a:t>，</a:t>
            </a:r>
            <a:r>
              <a:rPr lang="en-US" altLang="zh-CN" sz="1300">
                <a:solidFill>
                  <a:srgbClr val="000000"/>
                </a:solidFill>
                <a:cs typeface="Arial" panose="020B0604020202090204" pitchFamily="34" charset="0"/>
              </a:rPr>
              <a:t>2019</a:t>
            </a:r>
            <a:r>
              <a:rPr lang="zh-CN" altLang="en-US" sz="1300">
                <a:solidFill>
                  <a:srgbClr val="000000"/>
                </a:solidFill>
                <a:cs typeface="Arial" panose="020B0604020202090204" pitchFamily="34" charset="0"/>
              </a:rPr>
              <a:t>），限制性住房政策推高部分高生产率地区的租金</a:t>
            </a:r>
            <a:endParaRPr lang="zh-CN" altLang="en-US" sz="1300">
              <a:solidFill>
                <a:srgbClr val="000000"/>
              </a:solidFill>
              <a:cs typeface="Arial" panose="020B0604020202090204" pitchFamily="34" charset="0"/>
            </a:endParaRPr>
          </a:p>
          <a:p>
            <a:pPr marL="285750" indent="-285750">
              <a:buFont typeface="Arial" panose="020B0604020202090204" pitchFamily="34" charset="0"/>
              <a:buChar char="•"/>
            </a:pPr>
            <a:r>
              <a:rPr lang="zh-CN" altLang="en-US" sz="1300" b="1">
                <a:solidFill>
                  <a:srgbClr val="642366"/>
                </a:solidFill>
                <a:cs typeface="Arial" panose="020B0604020202090204" pitchFamily="34" charset="0"/>
              </a:rPr>
              <a:t>现实政策包括：</a:t>
            </a:r>
            <a:r>
              <a:rPr lang="zh-CN" altLang="en-US" sz="1300">
                <a:solidFill>
                  <a:schemeClr val="tx1"/>
                </a:solidFill>
                <a:cs typeface="Arial" panose="020B0604020202090204" pitchFamily="34" charset="0"/>
              </a:rPr>
              <a:t>在高需求地点建造房屋以均衡租金率；减少高生产率城市的污染；提供平等教育和医疗机会</a:t>
            </a:r>
            <a:endParaRPr lang="zh-CN" altLang="en-US" sz="1300">
              <a:cs typeface="Arial" panose="020B0604020202090204" pitchFamily="34" charset="0"/>
            </a:endParaRPr>
          </a:p>
        </p:txBody>
      </p:sp>
      <p:pic>
        <p:nvPicPr>
          <p:cNvPr id="31" name="图片 30"/>
          <p:cNvPicPr>
            <a:picLocks noChangeAspect="1"/>
          </p:cNvPicPr>
          <p:nvPr/>
        </p:nvPicPr>
        <p:blipFill>
          <a:blip r:embed="rId9">
            <a:clrChange>
              <a:clrFrom>
                <a:srgbClr val="FFFFFF">
                  <a:alpha val="100000"/>
                </a:srgbClr>
              </a:clrFrom>
              <a:clrTo>
                <a:srgbClr val="FFFFFF">
                  <a:alpha val="100000"/>
                  <a:alpha val="0"/>
                </a:srgbClr>
              </a:clrTo>
            </a:clrChange>
          </a:blip>
          <a:stretch>
            <a:fillRect/>
          </a:stretch>
        </p:blipFill>
        <p:spPr>
          <a:xfrm>
            <a:off x="5235347" y="5414894"/>
            <a:ext cx="242681" cy="320339"/>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4.2</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反事实</a:t>
            </a:r>
            <a:r>
              <a:rPr lang="zh-CN" altLang="en-US" sz="2800" b="1" dirty="0">
                <a:latin typeface="+mn-lt"/>
              </a:rPr>
              <a:t>均衡求解过程</a:t>
            </a:r>
            <a:r>
              <a:rPr lang="en-US" altLang="zh-CN" sz="2800" b="1" dirty="0">
                <a:latin typeface="+mn-lt"/>
              </a:rPr>
              <a:t>：</a:t>
            </a:r>
            <a:r>
              <a:rPr lang="zh-CN" altLang="en-US" sz="2800" b="1" dirty="0">
                <a:latin typeface="+mn-lt"/>
              </a:rPr>
              <a:t>设定</a:t>
            </a:r>
            <a:r>
              <a:rPr lang="en-US" altLang="zh-CN" sz="2800" b="1" dirty="0">
                <a:latin typeface="+mn-lt"/>
              </a:rPr>
              <a:t>、</a:t>
            </a:r>
            <a:r>
              <a:rPr lang="zh-CN" altLang="en-US" sz="2800" b="1" dirty="0">
                <a:latin typeface="+mn-lt"/>
              </a:rPr>
              <a:t>求解前的</a:t>
            </a:r>
            <a:r>
              <a:rPr lang="zh-CN" altLang="en-US" sz="2800" b="1" dirty="0">
                <a:latin typeface="+mn-lt"/>
              </a:rPr>
              <a:t>已知对象</a:t>
            </a:r>
            <a:endParaRPr lang="zh-CN" altLang="en-US" sz="2800" b="1" dirty="0">
              <a:latin typeface="+mn-lt"/>
            </a:endParaRPr>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494230" y="2321018"/>
            <a:ext cx="2654006" cy="402590"/>
          </a:xfrm>
          <a:prstGeom prst="rect">
            <a:avLst/>
          </a:prstGeom>
        </p:spPr>
      </p:pic>
      <p:pic>
        <p:nvPicPr>
          <p:cNvPr id="4" name="图片 3"/>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5987706" y="2723608"/>
            <a:ext cx="1884311" cy="516872"/>
          </a:xfrm>
          <a:prstGeom prst="rect">
            <a:avLst/>
          </a:prstGeom>
        </p:spPr>
      </p:pic>
      <p:pic>
        <p:nvPicPr>
          <p:cNvPr id="5" name="图片 4"/>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6023079" y="3240439"/>
            <a:ext cx="1596307" cy="721596"/>
          </a:xfrm>
          <a:prstGeom prst="rect">
            <a:avLst/>
          </a:prstGeom>
        </p:spPr>
      </p:pic>
      <p:pic>
        <p:nvPicPr>
          <p:cNvPr id="8" name="图片 7"/>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6275652" y="3962036"/>
            <a:ext cx="1091162" cy="575017"/>
          </a:xfrm>
          <a:prstGeom prst="rect">
            <a:avLst/>
          </a:prstGeom>
        </p:spPr>
      </p:pic>
      <p:sp>
        <p:nvSpPr>
          <p:cNvPr id="28" name="矩形 27"/>
          <p:cNvSpPr/>
          <p:nvPr/>
        </p:nvSpPr>
        <p:spPr>
          <a:xfrm>
            <a:off x="6765382" y="3355197"/>
            <a:ext cx="328960" cy="492081"/>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箭头连接符 40"/>
          <p:cNvCxnSpPr>
            <a:stCxn id="43" idx="1"/>
          </p:cNvCxnSpPr>
          <p:nvPr/>
        </p:nvCxnSpPr>
        <p:spPr>
          <a:xfrm flipH="1">
            <a:off x="5219129" y="2935622"/>
            <a:ext cx="2147561" cy="44784"/>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44" idx="1"/>
          </p:cNvCxnSpPr>
          <p:nvPr/>
        </p:nvCxnSpPr>
        <p:spPr>
          <a:xfrm flipH="1" flipV="1">
            <a:off x="5201364" y="3075159"/>
            <a:ext cx="1892866" cy="1001583"/>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7366826" y="2820950"/>
            <a:ext cx="369964" cy="229826"/>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7094366" y="3962069"/>
            <a:ext cx="272460" cy="229826"/>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箭头连接符 44"/>
          <p:cNvCxnSpPr>
            <a:stCxn id="28" idx="3"/>
          </p:cNvCxnSpPr>
          <p:nvPr/>
        </p:nvCxnSpPr>
        <p:spPr>
          <a:xfrm>
            <a:off x="7094205" y="3601631"/>
            <a:ext cx="1366003" cy="0"/>
          </a:xfrm>
          <a:prstGeom prst="straightConnector1">
            <a:avLst/>
          </a:prstGeom>
          <a:ln w="28575">
            <a:solidFill>
              <a:srgbClr val="B686BF">
                <a:alpha val="100000"/>
              </a:srgbClr>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圆角 7"/>
          <p:cNvSpPr/>
          <p:nvPr/>
        </p:nvSpPr>
        <p:spPr>
          <a:xfrm>
            <a:off x="2238247" y="1353445"/>
            <a:ext cx="2980917" cy="4779269"/>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buNone/>
            </a:pPr>
            <a:r>
              <a:rPr lang="zh-CN" altLang="en-US" sz="1600" b="1" kern="100" dirty="0">
                <a:solidFill>
                  <a:srgbClr val="69025E"/>
                </a:solidFill>
                <a:effectLst/>
                <a:latin typeface="Times New Roman" panose="02020503050405090304" pitchFamily="18" charset="0"/>
              </a:rPr>
              <a:t>为什么设定成指数形式，而非线形或其他形式？</a:t>
            </a:r>
            <a:endParaRPr lang="zh-CN" altLang="en-US" sz="1600" b="1" kern="100" dirty="0">
              <a:solidFill>
                <a:srgbClr val="69025E"/>
              </a:solidFill>
              <a:effectLst/>
              <a:latin typeface="Times New Roman" panose="02020503050405090304" pitchFamily="18" charset="0"/>
            </a:endParaRPr>
          </a:p>
          <a:p>
            <a:pPr indent="0">
              <a:buNone/>
            </a:pPr>
            <a:endParaRPr lang="zh-CN" altLang="en-US" sz="1600" b="1" kern="100" dirty="0">
              <a:solidFill>
                <a:srgbClr val="69025E"/>
              </a:solidFill>
              <a:effectLst/>
              <a:latin typeface="Times New Roman" panose="02020503050405090304" pitchFamily="18" charset="0"/>
            </a:endParaRPr>
          </a:p>
          <a:p>
            <a:pPr indent="0">
              <a:buNone/>
            </a:pPr>
            <a:r>
              <a:rPr lang="zh-CN" altLang="en-US" sz="1600" kern="100" dirty="0">
                <a:solidFill>
                  <a:schemeClr val="tx1"/>
                </a:solidFill>
                <a:effectLst/>
                <a:latin typeface="Times New Roman" panose="02020503050405090304" pitchFamily="18" charset="0"/>
              </a:rPr>
              <a:t>因为迁移成本、宜居度两项是以乘性楔子进入模型设定，优点是在对数尺度下，政策能够线形地削减迁移阻力，例如：</a:t>
            </a:r>
            <a:endParaRPr lang="zh-CN" altLang="en-US" sz="1600" kern="100" dirty="0">
              <a:solidFill>
                <a:schemeClr val="tx1"/>
              </a:solidFill>
              <a:effectLst/>
              <a:latin typeface="Times New Roman" panose="02020503050405090304" pitchFamily="18" charset="0"/>
            </a:endParaRPr>
          </a:p>
        </p:txBody>
      </p:sp>
      <p:sp>
        <p:nvSpPr>
          <p:cNvPr id="47" name="矩形: 圆角 7"/>
          <p:cNvSpPr/>
          <p:nvPr/>
        </p:nvSpPr>
        <p:spPr>
          <a:xfrm>
            <a:off x="8460250" y="2026728"/>
            <a:ext cx="2980917" cy="3148957"/>
          </a:xfrm>
          <a:prstGeom prst="roundRect">
            <a:avLst/>
          </a:prstGeom>
          <a:noFill/>
          <a:ln w="28575">
            <a:solidFill>
              <a:srgbClr val="B686BF">
                <a:alpha val="10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buNone/>
            </a:pPr>
            <a:r>
              <a:rPr lang="zh-CN" altLang="en-US" sz="1600" b="1" kern="100" dirty="0">
                <a:solidFill>
                  <a:srgbClr val="B686BF"/>
                </a:solidFill>
                <a:effectLst/>
                <a:latin typeface="Times New Roman" panose="02020503050405090304" pitchFamily="18" charset="0"/>
              </a:rPr>
              <a:t>为什么</a:t>
            </a:r>
            <a:r>
              <a:rPr lang="zh-CN" altLang="en-US" sz="1600" b="1" kern="100" dirty="0">
                <a:solidFill>
                  <a:srgbClr val="B686BF"/>
                </a:solidFill>
                <a:effectLst/>
                <a:latin typeface="Times New Roman" panose="02020503050405090304" pitchFamily="18" charset="0"/>
                <a:cs typeface="Arial" panose="020B0604020202090204" pitchFamily="34" charset="0"/>
              </a:rPr>
              <a:t>设定为目的地相对于出生地的形式？</a:t>
            </a:r>
            <a:endParaRPr lang="zh-CN" altLang="en-US" sz="1600" b="1" kern="100" dirty="0">
              <a:solidFill>
                <a:srgbClr val="B686BF"/>
              </a:solidFill>
              <a:effectLst/>
              <a:latin typeface="Times New Roman" panose="02020503050405090304" pitchFamily="18" charset="0"/>
              <a:cs typeface="Arial" panose="020B0604020202090204" pitchFamily="34" charset="0"/>
            </a:endParaRPr>
          </a:p>
          <a:p>
            <a:pPr indent="0">
              <a:buNone/>
            </a:pPr>
            <a:endParaRPr lang="zh-CN" altLang="en-US" sz="1600" b="1" kern="100" dirty="0">
              <a:solidFill>
                <a:srgbClr val="B686BF"/>
              </a:solidFill>
              <a:effectLst/>
              <a:latin typeface="Times New Roman" panose="02020503050405090304" pitchFamily="18" charset="0"/>
            </a:endParaRPr>
          </a:p>
          <a:p>
            <a:pPr indent="0">
              <a:buNone/>
            </a:pPr>
            <a:r>
              <a:rPr lang="zh-CN" altLang="en-US" sz="1600" kern="100" dirty="0">
                <a:solidFill>
                  <a:srgbClr val="000000"/>
                </a:solidFill>
                <a:effectLst/>
                <a:latin typeface="Times New Roman" panose="02020503050405090304" pitchFamily="18" charset="0"/>
                <a:sym typeface="+mn-ea"/>
              </a:rPr>
              <a:t>与识别部分“归一化”处理的逻辑一致</a:t>
            </a:r>
            <a:r>
              <a:rPr lang="en-US" altLang="zh-CN" sz="1600" kern="100" dirty="0">
                <a:solidFill>
                  <a:srgbClr val="000000"/>
                </a:solidFill>
                <a:effectLst/>
                <a:latin typeface="Times New Roman" panose="02020503050405090304" pitchFamily="18" charset="0"/>
                <a:sym typeface="+mn-ea"/>
              </a:rPr>
              <a:t>。</a:t>
            </a:r>
            <a:endParaRPr lang="en-US" altLang="zh-CN" sz="1600" kern="100" dirty="0">
              <a:solidFill>
                <a:srgbClr val="000000"/>
              </a:solidFill>
              <a:effectLst/>
              <a:latin typeface="Times New Roman" panose="02020503050405090304" pitchFamily="18" charset="0"/>
            </a:endParaRPr>
          </a:p>
          <a:p>
            <a:pPr indent="0">
              <a:buNone/>
            </a:pPr>
            <a:endParaRPr lang="zh-CN" altLang="en-US" sz="1600" b="1" kern="100" dirty="0">
              <a:solidFill>
                <a:srgbClr val="B686BF"/>
              </a:solidFill>
              <a:effectLst/>
              <a:latin typeface="Times New Roman" panose="02020503050405090304" pitchFamily="18" charset="0"/>
            </a:endParaRPr>
          </a:p>
          <a:p>
            <a:pPr indent="0">
              <a:buNone/>
            </a:pPr>
            <a:r>
              <a:rPr lang="zh-CN" altLang="en-US" sz="1600" kern="100" dirty="0">
                <a:solidFill>
                  <a:srgbClr val="000000"/>
                </a:solidFill>
                <a:effectLst/>
                <a:latin typeface="Times New Roman" panose="02020503050405090304" pitchFamily="18" charset="0"/>
              </a:rPr>
              <a:t>劳动者选择目的地时，比较的是各地的相对吸引力。对出生于</a:t>
            </a:r>
            <a:r>
              <a:rPr lang="en-US" altLang="zh-CN" sz="1600" kern="100" dirty="0">
                <a:solidFill>
                  <a:srgbClr val="000000"/>
                </a:solidFill>
                <a:effectLst/>
                <a:latin typeface="Times New Roman" panose="02020503050405090304" pitchFamily="18" charset="0"/>
              </a:rPr>
              <a:t>o</a:t>
            </a:r>
            <a:r>
              <a:rPr lang="zh-CN" altLang="en-US" sz="1600" kern="100" dirty="0">
                <a:solidFill>
                  <a:srgbClr val="000000"/>
                </a:solidFill>
                <a:effectLst/>
                <a:latin typeface="Times New Roman" panose="02020503050405090304" pitchFamily="18" charset="0"/>
              </a:rPr>
              <a:t>的人，宜居度通过相对值影响其去往目的地</a:t>
            </a:r>
            <a:r>
              <a:rPr lang="en-US" altLang="zh-CN" sz="1600" kern="100" dirty="0">
                <a:solidFill>
                  <a:srgbClr val="000000"/>
                </a:solidFill>
                <a:effectLst/>
                <a:latin typeface="Times New Roman" panose="02020503050405090304" pitchFamily="18" charset="0"/>
              </a:rPr>
              <a:t>d</a:t>
            </a:r>
            <a:r>
              <a:rPr lang="zh-CN" altLang="en-US" sz="1600" kern="100" dirty="0">
                <a:solidFill>
                  <a:srgbClr val="000000"/>
                </a:solidFill>
                <a:effectLst/>
                <a:latin typeface="Times New Roman" panose="02020503050405090304" pitchFamily="18" charset="0"/>
              </a:rPr>
              <a:t>的选择。</a:t>
            </a:r>
            <a:endParaRPr lang="en-US" altLang="zh-CN" sz="1600" kern="100" dirty="0">
              <a:solidFill>
                <a:srgbClr val="000000"/>
              </a:solidFill>
              <a:effectLst/>
              <a:latin typeface="Times New Roman" panose="02020503050405090304" pitchFamily="18" charset="0"/>
            </a:endParaRPr>
          </a:p>
        </p:txBody>
      </p:sp>
      <p:pic>
        <p:nvPicPr>
          <p:cNvPr id="49" name="图片 48" descr="post_object_image_2536487030"/>
          <p:cNvPicPr>
            <a:picLocks noChangeAspect="1"/>
          </p:cNvPicPr>
          <p:nvPr/>
        </p:nvPicPr>
        <p:blipFill>
          <a:blip r:embed="rId5"/>
          <a:stretch>
            <a:fillRect/>
          </a:stretch>
        </p:blipFill>
        <p:spPr>
          <a:xfrm>
            <a:off x="2391642" y="3495958"/>
            <a:ext cx="2638711" cy="303095"/>
          </a:xfrm>
          <a:prstGeom prst="rect">
            <a:avLst/>
          </a:prstGeom>
        </p:spPr>
      </p:pic>
      <p:pic>
        <p:nvPicPr>
          <p:cNvPr id="50" name="图片 49" descr="post_object_image_3058152672"/>
          <p:cNvPicPr>
            <a:picLocks noChangeAspect="1"/>
          </p:cNvPicPr>
          <p:nvPr/>
        </p:nvPicPr>
        <p:blipFill>
          <a:blip r:embed="rId6"/>
          <a:stretch>
            <a:fillRect/>
          </a:stretch>
        </p:blipFill>
        <p:spPr>
          <a:xfrm>
            <a:off x="2474859" y="4120259"/>
            <a:ext cx="2472276" cy="416782"/>
          </a:xfrm>
          <a:prstGeom prst="rect">
            <a:avLst/>
          </a:prstGeom>
        </p:spPr>
      </p:pic>
      <p:sp>
        <p:nvSpPr>
          <p:cNvPr id="51" name="箭头: 下 15"/>
          <p:cNvSpPr/>
          <p:nvPr/>
        </p:nvSpPr>
        <p:spPr>
          <a:xfrm>
            <a:off x="3592443" y="3890203"/>
            <a:ext cx="237109" cy="331736"/>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2391642" y="4707048"/>
            <a:ext cx="2638746" cy="1052871"/>
          </a:xfrm>
          <a:prstGeom prst="rect">
            <a:avLst/>
          </a:prstGeom>
          <a:noFill/>
        </p:spPr>
        <p:txBody>
          <a:bodyPr wrap="square" rtlCol="0" anchor="t">
            <a:noAutofit/>
          </a:bodyPr>
          <a:p>
            <a:r>
              <a:rPr lang="en-US" altLang="zh-CN" sz="1600"/>
              <a:t>κ</a:t>
            </a:r>
            <a:r>
              <a:rPr lang="zh-CN" altLang="en-US" sz="1600"/>
              <a:t>每增加相同幅度，都是把对数的迁移阻力按相同比例缩小，端点也正好对应“不变”和“完全消除”</a:t>
            </a:r>
            <a:endParaRPr lang="zh-CN" altLang="en-US" sz="16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4.2</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010" y="351155"/>
                <a:ext cx="8620125" cy="720725"/>
              </a:xfrm>
            </p:spPr>
            <p:txBody>
              <a:bodyPr/>
              <a:lstStyle/>
              <a:p>
                <a:pPr algn="l">
                  <a:buClrTx/>
                  <a:buSzTx/>
                  <a:buFontTx/>
                </a:pPr>
                <a:r>
                  <a:rPr lang="zh-CN" altLang="en-US" sz="2800" b="1" dirty="0">
                    <a:latin typeface="+mn-lt"/>
                    <a:sym typeface="+mn-ea"/>
                  </a:rPr>
                  <a:t>反事实均衡求解过程</a:t>
                </a:r>
                <a:r>
                  <a:rPr lang="en-US" altLang="zh-CN" sz="2800" b="1" dirty="0">
                    <a:latin typeface="+mn-lt"/>
                    <a:sym typeface="+mn-ea"/>
                  </a:rPr>
                  <a:t>：</a:t>
                </a:r>
                <a:r>
                  <a:rPr lang="zh-CN" altLang="en-US" sz="2800" b="1" dirty="0">
                    <a:latin typeface="+mn-lt"/>
                    <a:sym typeface="+mn-ea"/>
                  </a:rPr>
                  <a:t>降低迁移成本</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endParaRPr lang="en-US" altLang="zh-CN"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010" y="351155"/>
                <a:ext cx="8620125" cy="720725"/>
              </a:xfrm>
              <a:blipFill rotWithShape="1">
                <a:blip r:embed="rId1"/>
                <a:stretch>
                  <a:fillRect/>
                </a:stretch>
              </a:blipFill>
            </p:spPr>
            <p:txBody>
              <a:bodyPr/>
              <a:lstStyle/>
              <a:p>
                <a:r>
                  <a:rPr lang="zh-CN" altLang="en-US">
                    <a:noFill/>
                  </a:rPr>
                  <a:t> </a:t>
                </a:r>
              </a:p>
            </p:txBody>
          </p:sp>
        </mc:Fallback>
      </mc:AlternateContent>
      <p:pic>
        <p:nvPicPr>
          <p:cNvPr id="25" name="图片 24" descr="e510041c-1705-4ac8-a461-a8fc6d35cafc"/>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7419975" y="3314700"/>
            <a:ext cx="2939415" cy="398145"/>
          </a:xfrm>
          <a:prstGeom prst="rect">
            <a:avLst/>
          </a:prstGeom>
        </p:spPr>
      </p:pic>
      <p:sp>
        <p:nvSpPr>
          <p:cNvPr id="36" name="矩形 35"/>
          <p:cNvSpPr/>
          <p:nvPr/>
        </p:nvSpPr>
        <p:spPr>
          <a:xfrm>
            <a:off x="2157095" y="1103630"/>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t>Step 0 </a:t>
            </a:r>
            <a:r>
              <a:rPr lang="zh-CN" altLang="en-US" sz="1600" b="1"/>
              <a:t>反事实变化初始化</a:t>
            </a:r>
            <a:endParaRPr lang="zh-CN" altLang="en-US" sz="1600" b="1"/>
          </a:p>
        </p:txBody>
      </p:sp>
      <p:sp>
        <p:nvSpPr>
          <p:cNvPr id="42" name="文本框 41"/>
          <p:cNvSpPr txBox="1"/>
          <p:nvPr/>
        </p:nvSpPr>
        <p:spPr>
          <a:xfrm>
            <a:off x="2157095" y="1995805"/>
            <a:ext cx="7160895" cy="368300"/>
          </a:xfrm>
          <a:prstGeom prst="rect">
            <a:avLst/>
          </a:prstGeom>
          <a:noFill/>
        </p:spPr>
        <p:txBody>
          <a:bodyPr wrap="square" rtlCol="0" anchor="t">
            <a:spAutoFit/>
          </a:bodyPr>
          <a:p>
            <a:pPr marL="342900" marR="0" indent="-342900">
              <a:buFont typeface="Arial" panose="020B0604020202090204" pitchFamily="34" charset="0"/>
              <a:buChar char="•"/>
            </a:pPr>
            <a:r>
              <a:rPr lang="zh-CN" altLang="en-US">
                <a:sym typeface="+mn-ea"/>
              </a:rPr>
              <a:t>设定一组目的地工资</a:t>
            </a:r>
            <a:r>
              <a:rPr lang="en-US" altLang="zh-CN">
                <a:sym typeface="+mn-ea"/>
              </a:rPr>
              <a:t>、</a:t>
            </a:r>
            <a:r>
              <a:rPr lang="zh-CN" altLang="en-US">
                <a:sym typeface="+mn-ea"/>
              </a:rPr>
              <a:t>人口</a:t>
            </a:r>
            <a:r>
              <a:rPr lang="zh-CN" altLang="en-US">
                <a:sym typeface="+mn-ea"/>
              </a:rPr>
              <a:t>的的相对变化</a:t>
            </a:r>
            <a:r>
              <a:rPr lang="en-US" altLang="zh-CN">
                <a:sym typeface="+mn-ea"/>
              </a:rPr>
              <a:t>（</a:t>
            </a:r>
            <a:r>
              <a:rPr lang="zh-CN" altLang="en-US">
                <a:sym typeface="+mn-ea"/>
              </a:rPr>
              <a:t>初始可以全设为 1</a:t>
            </a:r>
            <a:r>
              <a:rPr lang="en-US" altLang="zh-CN">
                <a:sym typeface="+mn-ea"/>
              </a:rPr>
              <a:t>）</a:t>
            </a:r>
            <a:endParaRPr lang="en-US" altLang="zh-CN">
              <a:sym typeface="+mn-ea"/>
            </a:endParaRPr>
          </a:p>
        </p:txBody>
      </p:sp>
      <p:pic>
        <p:nvPicPr>
          <p:cNvPr id="43" name="图片 42" descr="db6c4a0b-4fde-4d37-be80-af93c71ddde3"/>
          <p:cNvPicPr>
            <a:picLocks noChangeAspect="1"/>
          </p:cNvPicPr>
          <p:nvPr/>
        </p:nvPicPr>
        <p:blipFill>
          <a:blip r:embed="rId3">
            <a:clrChange>
              <a:clrFrom>
                <a:srgbClr val="FFFFFF">
                  <a:alpha val="100000"/>
                </a:srgbClr>
              </a:clrFrom>
              <a:clrTo>
                <a:srgbClr val="FFFFFF">
                  <a:alpha val="100000"/>
                  <a:alpha val="0"/>
                </a:srgbClr>
              </a:clrTo>
            </a:clrChange>
          </a:blip>
          <a:srcRect r="14843" b="7093"/>
          <a:stretch>
            <a:fillRect/>
          </a:stretch>
        </p:blipFill>
        <p:spPr>
          <a:xfrm>
            <a:off x="3795395" y="3314700"/>
            <a:ext cx="2604770" cy="490855"/>
          </a:xfrm>
          <a:prstGeom prst="rect">
            <a:avLst/>
          </a:prstGeom>
        </p:spPr>
      </p:pic>
      <p:sp>
        <p:nvSpPr>
          <p:cNvPr id="44" name="箭头: 下 15"/>
          <p:cNvSpPr/>
          <p:nvPr/>
        </p:nvSpPr>
        <p:spPr>
          <a:xfrm rot="16200000">
            <a:off x="6843395" y="3214370"/>
            <a:ext cx="281940" cy="57213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2157095" y="2627630"/>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sym typeface="+mn-ea"/>
              </a:rPr>
              <a:t>Step 1 </a:t>
            </a:r>
            <a:r>
              <a:rPr lang="zh-CN" altLang="en-US" sz="1600" b="1">
                <a:sym typeface="+mn-ea"/>
              </a:rPr>
              <a:t>计算新的迁移比例</a:t>
            </a:r>
            <a:endParaRPr lang="zh-CN" altLang="en-US" sz="1600" b="1"/>
          </a:p>
        </p:txBody>
      </p:sp>
      <p:pic>
        <p:nvPicPr>
          <p:cNvPr id="49" name="图片 48" descr="a8b453b1-e870-4dbd-a194-a96cb82bc112"/>
          <p:cNvPicPr>
            <a:picLocks noChangeAspect="1"/>
          </p:cNvPicPr>
          <p:nvPr/>
        </p:nvPicPr>
        <p:blipFill>
          <a:blip r:embed="rId4"/>
          <a:stretch>
            <a:fillRect/>
          </a:stretch>
        </p:blipFill>
        <p:spPr>
          <a:xfrm>
            <a:off x="3795395" y="3969385"/>
            <a:ext cx="6377940" cy="1807210"/>
          </a:xfrm>
          <a:prstGeom prst="rect">
            <a:avLst/>
          </a:prstGeom>
        </p:spPr>
      </p:pic>
      <p:sp>
        <p:nvSpPr>
          <p:cNvPr id="50" name="矩形 49"/>
          <p:cNvSpPr/>
          <p:nvPr/>
        </p:nvSpPr>
        <p:spPr>
          <a:xfrm>
            <a:off x="9010650" y="4084320"/>
            <a:ext cx="1162050" cy="88455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8056880" y="3205480"/>
            <a:ext cx="2303145" cy="60007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4" name="图片 53" descr="a8bcfee1-f0fd-44c4-ad5f-d40ef99eed9d"/>
          <p:cNvPicPr>
            <a:picLocks noChangeAspect="1"/>
          </p:cNvPicPr>
          <p:nvPr/>
        </p:nvPicPr>
        <p:blipFill>
          <a:blip r:embed="rId5"/>
          <a:stretch>
            <a:fillRect/>
          </a:stretch>
        </p:blipFill>
        <p:spPr>
          <a:xfrm>
            <a:off x="5708015" y="1472565"/>
            <a:ext cx="2545080" cy="509270"/>
          </a:xfrm>
          <a:prstGeom prst="rect">
            <a:avLst/>
          </a:prstGeom>
        </p:spPr>
      </p:pic>
      <p:sp>
        <p:nvSpPr>
          <p:cNvPr id="55" name="文本框 54"/>
          <p:cNvSpPr txBox="1"/>
          <p:nvPr/>
        </p:nvSpPr>
        <p:spPr>
          <a:xfrm>
            <a:off x="8811895" y="4968875"/>
            <a:ext cx="1990725" cy="306705"/>
          </a:xfrm>
          <a:prstGeom prst="rect">
            <a:avLst/>
          </a:prstGeom>
          <a:noFill/>
        </p:spPr>
        <p:txBody>
          <a:bodyPr wrap="square" rtlCol="0">
            <a:spAutoFit/>
          </a:bodyPr>
          <a:p>
            <a:r>
              <a:rPr lang="zh-CN" altLang="en-US" sz="1400">
                <a:solidFill>
                  <a:srgbClr val="FF0000"/>
                </a:solidFill>
              </a:rPr>
              <a:t>上下同时除以分子</a:t>
            </a:r>
            <a:endParaRPr lang="zh-CN" altLang="en-US" sz="1400">
              <a:solidFill>
                <a:srgbClr val="FF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4.2</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010" y="351155"/>
                <a:ext cx="8620125" cy="720725"/>
              </a:xfrm>
            </p:spPr>
            <p:txBody>
              <a:bodyPr/>
              <a:lstStyle/>
              <a:p>
                <a:pPr algn="l">
                  <a:buClrTx/>
                  <a:buSzTx/>
                  <a:buFontTx/>
                </a:pPr>
                <a:r>
                  <a:rPr lang="zh-CN" altLang="en-US" sz="2800" b="1" dirty="0">
                    <a:latin typeface="+mn-lt"/>
                    <a:sym typeface="+mn-ea"/>
                  </a:rPr>
                  <a:t>反事实均衡求解过程</a:t>
                </a:r>
                <a:r>
                  <a:rPr lang="en-US" altLang="zh-CN" sz="2800" b="1" dirty="0">
                    <a:latin typeface="+mn-lt"/>
                    <a:sym typeface="+mn-ea"/>
                  </a:rPr>
                  <a:t>：</a:t>
                </a:r>
                <a:r>
                  <a:rPr lang="zh-CN" altLang="en-US" sz="2800" b="1" dirty="0">
                    <a:latin typeface="+mn-lt"/>
                    <a:sym typeface="+mn-ea"/>
                  </a:rPr>
                  <a:t>降低迁移成本</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endParaRPr lang="en-US" altLang="zh-CN"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010" y="351155"/>
                <a:ext cx="8620125" cy="720725"/>
              </a:xfrm>
              <a:blipFill rotWithShape="1">
                <a:blip r:embed="rId1"/>
                <a:stretch>
                  <a:fillRect/>
                </a:stretch>
              </a:blipFill>
            </p:spPr>
            <p:txBody>
              <a:bodyPr/>
              <a:lstStyle/>
              <a:p>
                <a:r>
                  <a:rPr lang="zh-CN" altLang="en-US">
                    <a:noFill/>
                  </a:rPr>
                  <a:t> </a:t>
                </a:r>
              </a:p>
            </p:txBody>
          </p:sp>
        </mc:Fallback>
      </mc:AlternateContent>
      <p:sp>
        <p:nvSpPr>
          <p:cNvPr id="36" name="矩形 35"/>
          <p:cNvSpPr/>
          <p:nvPr/>
        </p:nvSpPr>
        <p:spPr>
          <a:xfrm>
            <a:off x="2157095" y="1103630"/>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sym typeface="+mn-ea"/>
              </a:rPr>
              <a:t>Step 2 </a:t>
            </a:r>
            <a:r>
              <a:rPr lang="zh-CN" altLang="en-US" sz="1600" b="1">
                <a:sym typeface="+mn-ea"/>
              </a:rPr>
              <a:t>计算新的人口</a:t>
            </a:r>
            <a:r>
              <a:rPr lang="en-US" altLang="zh-CN" sz="1600" b="1">
                <a:sym typeface="+mn-ea"/>
              </a:rPr>
              <a:t>、</a:t>
            </a:r>
            <a:r>
              <a:rPr lang="zh-CN" altLang="en-US" sz="1600" b="1">
                <a:sym typeface="+mn-ea"/>
              </a:rPr>
              <a:t>人力资本</a:t>
            </a:r>
            <a:endParaRPr lang="zh-CN" altLang="en-US" sz="1600" b="1"/>
          </a:p>
        </p:txBody>
      </p:sp>
      <p:pic>
        <p:nvPicPr>
          <p:cNvPr id="27" name="图片 26"/>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4640580" y="1380490"/>
            <a:ext cx="4648200" cy="812800"/>
          </a:xfrm>
          <a:prstGeom prst="rect">
            <a:avLst/>
          </a:prstGeom>
        </p:spPr>
      </p:pic>
      <p:pic>
        <p:nvPicPr>
          <p:cNvPr id="28" name="图片 27"/>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4640580" y="3009265"/>
            <a:ext cx="2667000" cy="774700"/>
          </a:xfrm>
          <a:prstGeom prst="rect">
            <a:avLst/>
          </a:prstGeom>
        </p:spPr>
      </p:pic>
      <p:pic>
        <p:nvPicPr>
          <p:cNvPr id="29" name="图片 28"/>
          <p:cNvPicPr>
            <a:picLocks noChangeAspect="1"/>
          </p:cNvPicPr>
          <p:nvPr/>
        </p:nvPicPr>
        <p:blipFill>
          <a:blip r:embed="rId4">
            <a:clrChange>
              <a:clrFrom>
                <a:srgbClr val="FFFFFF">
                  <a:alpha val="100000"/>
                </a:srgbClr>
              </a:clrFrom>
              <a:clrTo>
                <a:srgbClr val="FFFFFF">
                  <a:alpha val="100000"/>
                  <a:alpha val="0"/>
                </a:srgbClr>
              </a:clrTo>
            </a:clrChange>
          </a:blip>
          <a:srcRect l="7609"/>
          <a:stretch>
            <a:fillRect/>
          </a:stretch>
        </p:blipFill>
        <p:spPr>
          <a:xfrm>
            <a:off x="8358505" y="3413125"/>
            <a:ext cx="894080" cy="462915"/>
          </a:xfrm>
          <a:prstGeom prst="rect">
            <a:avLst/>
          </a:prstGeom>
        </p:spPr>
      </p:pic>
      <p:pic>
        <p:nvPicPr>
          <p:cNvPr id="30" name="图片 29"/>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9391015" y="3459480"/>
            <a:ext cx="894080" cy="357505"/>
          </a:xfrm>
          <a:prstGeom prst="rect">
            <a:avLst/>
          </a:prstGeom>
        </p:spPr>
      </p:pic>
      <p:pic>
        <p:nvPicPr>
          <p:cNvPr id="31" name="图片 30"/>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10487025" y="3446780"/>
            <a:ext cx="1275715" cy="414655"/>
          </a:xfrm>
          <a:prstGeom prst="rect">
            <a:avLst/>
          </a:prstGeom>
        </p:spPr>
      </p:pic>
      <p:pic>
        <p:nvPicPr>
          <p:cNvPr id="32" name="图片 31"/>
          <p:cNvPicPr>
            <a:picLocks noChangeAspect="1"/>
          </p:cNvPicPr>
          <p:nvPr/>
        </p:nvPicPr>
        <p:blipFill>
          <a:blip r:embed="rId7">
            <a:clrChange>
              <a:clrFrom>
                <a:srgbClr val="FFFFFF">
                  <a:alpha val="100000"/>
                </a:srgbClr>
              </a:clrFrom>
              <a:clrTo>
                <a:srgbClr val="FFFFFF">
                  <a:alpha val="100000"/>
                  <a:alpha val="0"/>
                </a:srgbClr>
              </a:clrTo>
            </a:clrChange>
          </a:blip>
          <a:srcRect l="12863"/>
          <a:stretch>
            <a:fillRect/>
          </a:stretch>
        </p:blipFill>
        <p:spPr>
          <a:xfrm>
            <a:off x="5034280" y="3816985"/>
            <a:ext cx="2667000" cy="812800"/>
          </a:xfrm>
          <a:prstGeom prst="rect">
            <a:avLst/>
          </a:prstGeom>
        </p:spPr>
      </p:pic>
      <p:pic>
        <p:nvPicPr>
          <p:cNvPr id="33" name="图片 32"/>
          <p:cNvPicPr>
            <a:picLocks noChangeAspect="1"/>
          </p:cNvPicPr>
          <p:nvPr/>
        </p:nvPicPr>
        <p:blipFill>
          <a:blip r:embed="rId8">
            <a:clrChange>
              <a:clrFrom>
                <a:srgbClr val="FFFFFF">
                  <a:alpha val="100000"/>
                </a:srgbClr>
              </a:clrFrom>
              <a:clrTo>
                <a:srgbClr val="FFFFFF">
                  <a:alpha val="100000"/>
                  <a:alpha val="0"/>
                </a:srgbClr>
              </a:clrTo>
            </a:clrChange>
          </a:blip>
          <a:srcRect l="1296"/>
          <a:stretch>
            <a:fillRect/>
          </a:stretch>
        </p:blipFill>
        <p:spPr>
          <a:xfrm>
            <a:off x="5034280" y="4629785"/>
            <a:ext cx="2950845" cy="681990"/>
          </a:xfrm>
          <a:prstGeom prst="rect">
            <a:avLst/>
          </a:prstGeom>
        </p:spPr>
      </p:pic>
      <p:pic>
        <p:nvPicPr>
          <p:cNvPr id="35" name="图片 34"/>
          <p:cNvPicPr>
            <a:picLocks noChangeAspect="1"/>
          </p:cNvPicPr>
          <p:nvPr/>
        </p:nvPicPr>
        <p:blipFill>
          <a:blip r:embed="rId9">
            <a:clrChange>
              <a:clrFrom>
                <a:srgbClr val="FFFFFF">
                  <a:alpha val="100000"/>
                </a:srgbClr>
              </a:clrFrom>
              <a:clrTo>
                <a:srgbClr val="FFFFFF">
                  <a:alpha val="100000"/>
                  <a:alpha val="0"/>
                </a:srgbClr>
              </a:clrTo>
            </a:clrChange>
          </a:blip>
          <a:srcRect l="7819"/>
          <a:stretch>
            <a:fillRect/>
          </a:stretch>
        </p:blipFill>
        <p:spPr>
          <a:xfrm>
            <a:off x="5034280" y="5437505"/>
            <a:ext cx="3256915" cy="813435"/>
          </a:xfrm>
          <a:prstGeom prst="rect">
            <a:avLst/>
          </a:prstGeom>
        </p:spPr>
      </p:pic>
      <p:sp>
        <p:nvSpPr>
          <p:cNvPr id="2" name="右弧形箭头 1"/>
          <p:cNvSpPr/>
          <p:nvPr/>
        </p:nvSpPr>
        <p:spPr>
          <a:xfrm>
            <a:off x="7827010" y="3413125"/>
            <a:ext cx="405765" cy="676275"/>
          </a:xfrm>
          <a:prstGeom prst="curvedLeftArrow">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pic>
        <p:nvPicPr>
          <p:cNvPr id="4" name="图片 3" descr="433e8940-37c9-4dee-91af-867b8279a7ad"/>
          <p:cNvPicPr>
            <a:picLocks noChangeAspect="1"/>
          </p:cNvPicPr>
          <p:nvPr/>
        </p:nvPicPr>
        <p:blipFill>
          <a:blip r:embed="rId10"/>
          <a:stretch>
            <a:fillRect/>
          </a:stretch>
        </p:blipFill>
        <p:spPr>
          <a:xfrm>
            <a:off x="3896995" y="2192655"/>
            <a:ext cx="1771650" cy="675640"/>
          </a:xfrm>
          <a:prstGeom prst="rect">
            <a:avLst/>
          </a:prstGeom>
        </p:spPr>
      </p:pic>
      <p:pic>
        <p:nvPicPr>
          <p:cNvPr id="5" name="图片 4" descr="122fa30f-e035-4426-959f-651bc5ae5b9f"/>
          <p:cNvPicPr>
            <a:picLocks noChangeAspect="1"/>
          </p:cNvPicPr>
          <p:nvPr/>
        </p:nvPicPr>
        <p:blipFill>
          <a:blip r:embed="rId11">
            <a:clrChange>
              <a:clrFrom>
                <a:srgbClr val="FFFFFF">
                  <a:alpha val="100000"/>
                </a:srgbClr>
              </a:clrFrom>
              <a:clrTo>
                <a:srgbClr val="FFFFFF">
                  <a:alpha val="100000"/>
                  <a:alpha val="0"/>
                </a:srgbClr>
              </a:clrTo>
            </a:clrChange>
          </a:blip>
          <a:stretch>
            <a:fillRect/>
          </a:stretch>
        </p:blipFill>
        <p:spPr>
          <a:xfrm>
            <a:off x="6546850" y="2157095"/>
            <a:ext cx="4364990" cy="690245"/>
          </a:xfrm>
          <a:prstGeom prst="rect">
            <a:avLst/>
          </a:prstGeom>
        </p:spPr>
      </p:pic>
      <p:sp>
        <p:nvSpPr>
          <p:cNvPr id="8" name="箭头: 下 15"/>
          <p:cNvSpPr/>
          <p:nvPr/>
        </p:nvSpPr>
        <p:spPr>
          <a:xfrm rot="16200000">
            <a:off x="5966460" y="2244090"/>
            <a:ext cx="281940" cy="57213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640576" y="1616230"/>
            <a:ext cx="369964" cy="394449"/>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箭头连接符 40"/>
          <p:cNvCxnSpPr/>
          <p:nvPr/>
        </p:nvCxnSpPr>
        <p:spPr>
          <a:xfrm flipH="1">
            <a:off x="3910470" y="1836517"/>
            <a:ext cx="730065" cy="255493"/>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圆角 7"/>
          <p:cNvSpPr/>
          <p:nvPr/>
        </p:nvSpPr>
        <p:spPr>
          <a:xfrm>
            <a:off x="2157084" y="1616233"/>
            <a:ext cx="1753385" cy="1542014"/>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buNone/>
            </a:pPr>
            <a:r>
              <a:rPr lang="zh-CN" altLang="en-US" sz="1400" b="1" kern="100" dirty="0">
                <a:solidFill>
                  <a:srgbClr val="000000"/>
                </a:solidFill>
                <a:effectLst/>
                <a:latin typeface="Times New Roman" panose="02020503050405090304" pitchFamily="18" charset="0"/>
              </a:rPr>
              <a:t>人口</a:t>
            </a:r>
            <a:r>
              <a:rPr lang="zh-CN" altLang="en-US" sz="1400" b="1" kern="100" dirty="0">
                <a:solidFill>
                  <a:srgbClr val="000000"/>
                </a:solidFill>
                <a:effectLst/>
                <a:latin typeface="Times New Roman" panose="02020503050405090304" pitchFamily="18" charset="0"/>
                <a:cs typeface="Arial" panose="020B0604020202090204" pitchFamily="34" charset="0"/>
              </a:rPr>
              <a:t>变动将进一步影响有效劳动、目的地宜居度等内生变量，符合反事实假定</a:t>
            </a:r>
            <a:endParaRPr lang="zh-CN" altLang="en-US" sz="1400">
              <a:solidFill>
                <a:srgbClr val="000000"/>
              </a:solidFill>
              <a:latin typeface="Times New Roman" panose="0202050305040509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4.2</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010" y="351155"/>
                <a:ext cx="8620125" cy="720725"/>
              </a:xfrm>
            </p:spPr>
            <p:txBody>
              <a:bodyPr/>
              <a:lstStyle/>
              <a:p>
                <a:pPr algn="l">
                  <a:buClrTx/>
                  <a:buSzTx/>
                  <a:buFontTx/>
                </a:pPr>
                <a:r>
                  <a:rPr lang="zh-CN" altLang="en-US" sz="2800" b="1" dirty="0">
                    <a:latin typeface="+mn-lt"/>
                    <a:sym typeface="+mn-ea"/>
                  </a:rPr>
                  <a:t>反事实均衡求解过程</a:t>
                </a:r>
                <a:r>
                  <a:rPr lang="en-US" altLang="zh-CN" sz="2800" b="1" dirty="0">
                    <a:latin typeface="+mn-lt"/>
                    <a:sym typeface="+mn-ea"/>
                  </a:rPr>
                  <a:t>：</a:t>
                </a:r>
                <a:r>
                  <a:rPr lang="zh-CN" altLang="en-US" sz="2800" b="1" dirty="0">
                    <a:latin typeface="+mn-lt"/>
                    <a:sym typeface="+mn-ea"/>
                  </a:rPr>
                  <a:t>降低迁移成本</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endParaRPr lang="en-US" altLang="zh-CN"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010" y="351155"/>
                <a:ext cx="8620125" cy="720725"/>
              </a:xfrm>
              <a:blipFill rotWithShape="1">
                <a:blip r:embed="rId1"/>
                <a:stretch>
                  <a:fillRect/>
                </a:stretch>
              </a:blipFill>
            </p:spPr>
            <p:txBody>
              <a:bodyPr/>
              <a:lstStyle/>
              <a:p>
                <a:r>
                  <a:rPr lang="zh-CN" altLang="en-US">
                    <a:noFill/>
                  </a:rPr>
                  <a:t> </a:t>
                </a:r>
              </a:p>
            </p:txBody>
          </p:sp>
        </mc:Fallback>
      </mc:AlternateContent>
      <p:sp>
        <p:nvSpPr>
          <p:cNvPr id="2" name="矩形 1"/>
          <p:cNvSpPr/>
          <p:nvPr/>
        </p:nvSpPr>
        <p:spPr>
          <a:xfrm>
            <a:off x="2157095" y="1103630"/>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sym typeface="+mn-ea"/>
              </a:rPr>
              <a:t>Step 3 </a:t>
            </a:r>
            <a:r>
              <a:rPr lang="zh-CN" altLang="en-US" sz="1600" b="1">
                <a:sym typeface="+mn-ea"/>
              </a:rPr>
              <a:t>计算劳动</a:t>
            </a:r>
            <a:r>
              <a:rPr lang="zh-CN" altLang="en-US" sz="1600" b="1">
                <a:sym typeface="+mn-ea"/>
              </a:rPr>
              <a:t>力生产率</a:t>
            </a:r>
            <a:r>
              <a:rPr lang="zh-CN" altLang="en-US" sz="1600" b="1">
                <a:sym typeface="+mn-ea"/>
              </a:rPr>
              <a:t>变化率</a:t>
            </a:r>
            <a:endParaRPr lang="zh-CN" altLang="en-US" sz="1600" b="1">
              <a:sym typeface="+mn-ea"/>
            </a:endParaRPr>
          </a:p>
        </p:txBody>
      </p:sp>
      <p:pic>
        <p:nvPicPr>
          <p:cNvPr id="4" name="图片 3"/>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5360035" y="1472565"/>
            <a:ext cx="2400300" cy="812800"/>
          </a:xfrm>
          <a:prstGeom prst="rect">
            <a:avLst/>
          </a:prstGeom>
        </p:spPr>
      </p:pic>
      <p:pic>
        <p:nvPicPr>
          <p:cNvPr id="5" name="图片 4" descr="fc3b0510-c0a8-4a12-abc3-4c4ce13b0091"/>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682865" y="1650365"/>
            <a:ext cx="721995" cy="374650"/>
          </a:xfrm>
          <a:prstGeom prst="rect">
            <a:avLst/>
          </a:prstGeom>
        </p:spPr>
      </p:pic>
      <p:sp>
        <p:nvSpPr>
          <p:cNvPr id="6" name="矩形 5"/>
          <p:cNvSpPr/>
          <p:nvPr/>
        </p:nvSpPr>
        <p:spPr>
          <a:xfrm>
            <a:off x="2157095" y="2335530"/>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sym typeface="+mn-ea"/>
              </a:rPr>
              <a:t>Step 4 </a:t>
            </a:r>
            <a:r>
              <a:rPr lang="zh-CN" altLang="en-US" sz="1600" b="1">
                <a:sym typeface="+mn-ea"/>
              </a:rPr>
              <a:t>计算产出</a:t>
            </a:r>
            <a:r>
              <a:rPr lang="zh-CN" altLang="en-US" sz="1600" b="1">
                <a:sym typeface="+mn-ea"/>
              </a:rPr>
              <a:t>变化率</a:t>
            </a:r>
            <a:endParaRPr lang="zh-CN" altLang="en-US" sz="1600" b="1">
              <a:sym typeface="+mn-ea"/>
            </a:endParaRPr>
          </a:p>
        </p:txBody>
      </p:sp>
      <p:pic>
        <p:nvPicPr>
          <p:cNvPr id="9" name="图片 8" descr="f31d4ffb-1d64-426e-9355-27dcad1624c7"/>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5311140" y="2809240"/>
            <a:ext cx="2226310" cy="590550"/>
          </a:xfrm>
          <a:prstGeom prst="rect">
            <a:avLst/>
          </a:prstGeom>
        </p:spPr>
      </p:pic>
      <p:pic>
        <p:nvPicPr>
          <p:cNvPr id="10" name="图片 9" descr="e2e507c7-95c0-4c7f-9a7f-07970f6f6ac8"/>
          <p:cNvPicPr>
            <a:picLocks noChangeAspect="1"/>
          </p:cNvPicPr>
          <p:nvPr/>
        </p:nvPicPr>
        <p:blipFill>
          <a:blip r:embed="rId5">
            <a:clrChange>
              <a:clrFrom>
                <a:srgbClr val="FFFFFF">
                  <a:alpha val="100000"/>
                </a:srgbClr>
              </a:clrFrom>
              <a:clrTo>
                <a:srgbClr val="FFFFFF">
                  <a:alpha val="100000"/>
                  <a:alpha val="0"/>
                </a:srgbClr>
              </a:clrTo>
            </a:clrChange>
          </a:blip>
          <a:srcRect l="26386"/>
          <a:stretch>
            <a:fillRect/>
          </a:stretch>
        </p:blipFill>
        <p:spPr>
          <a:xfrm>
            <a:off x="7574280" y="2930525"/>
            <a:ext cx="833755" cy="369570"/>
          </a:xfrm>
          <a:prstGeom prst="rect">
            <a:avLst/>
          </a:prstGeom>
        </p:spPr>
      </p:pic>
      <p:pic>
        <p:nvPicPr>
          <p:cNvPr id="11" name="图片 10" descr="f1617d22-c6e3-4db9-9601-62c25da19160"/>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5649595" y="3399790"/>
            <a:ext cx="2366010" cy="622300"/>
          </a:xfrm>
          <a:prstGeom prst="rect">
            <a:avLst/>
          </a:prstGeom>
        </p:spPr>
      </p:pic>
      <p:sp>
        <p:nvSpPr>
          <p:cNvPr id="12" name="矩形 11"/>
          <p:cNvSpPr/>
          <p:nvPr/>
        </p:nvSpPr>
        <p:spPr>
          <a:xfrm>
            <a:off x="2157095" y="4022090"/>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sym typeface="+mn-ea"/>
              </a:rPr>
              <a:t>Step 5 </a:t>
            </a:r>
            <a:r>
              <a:rPr lang="zh-CN" altLang="en-US" sz="1600" b="1">
                <a:sym typeface="+mn-ea"/>
              </a:rPr>
              <a:t>计算价格</a:t>
            </a:r>
            <a:r>
              <a:rPr lang="zh-CN" altLang="en-US" sz="1600" b="1">
                <a:sym typeface="+mn-ea"/>
              </a:rPr>
              <a:t>变化率</a:t>
            </a:r>
            <a:endParaRPr lang="zh-CN" altLang="en-US" sz="1600" b="1">
              <a:sym typeface="+mn-ea"/>
            </a:endParaRPr>
          </a:p>
        </p:txBody>
      </p:sp>
      <p:pic>
        <p:nvPicPr>
          <p:cNvPr id="13" name="图片 12" descr="6e4a5f54-df1d-4b91-9180-cfffbe361939"/>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5840095" y="4391025"/>
            <a:ext cx="1440180" cy="685800"/>
          </a:xfrm>
          <a:prstGeom prst="rect">
            <a:avLst/>
          </a:prstGeom>
        </p:spPr>
      </p:pic>
      <p:sp>
        <p:nvSpPr>
          <p:cNvPr id="14" name="矩形 13"/>
          <p:cNvSpPr/>
          <p:nvPr/>
        </p:nvSpPr>
        <p:spPr>
          <a:xfrm>
            <a:off x="2157095" y="5137150"/>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sym typeface="+mn-ea"/>
              </a:rPr>
              <a:t>Step 6 </a:t>
            </a:r>
            <a:r>
              <a:rPr lang="zh-CN" altLang="en-US" sz="1600" b="1">
                <a:sym typeface="+mn-ea"/>
              </a:rPr>
              <a:t>最终得到初次迭代的</a:t>
            </a:r>
            <a:r>
              <a:rPr lang="zh-CN" altLang="en-US" sz="1600" b="1">
                <a:sym typeface="+mn-ea"/>
              </a:rPr>
              <a:t>工资</a:t>
            </a:r>
            <a:endParaRPr lang="zh-CN" altLang="en-US" sz="1600" b="1">
              <a:sym typeface="+mn-ea"/>
            </a:endParaRPr>
          </a:p>
        </p:txBody>
      </p:sp>
      <p:pic>
        <p:nvPicPr>
          <p:cNvPr id="15" name="图片 14" descr="7da0fa38-aedb-48c2-9c95-f6eb9d4f046b"/>
          <p:cNvPicPr>
            <a:picLocks noChangeAspect="1"/>
          </p:cNvPicPr>
          <p:nvPr/>
        </p:nvPicPr>
        <p:blipFill>
          <a:blip r:embed="rId8">
            <a:clrChange>
              <a:clrFrom>
                <a:srgbClr val="FFFFFF">
                  <a:alpha val="100000"/>
                </a:srgbClr>
              </a:clrFrom>
              <a:clrTo>
                <a:srgbClr val="FFFFFF">
                  <a:alpha val="100000"/>
                  <a:alpha val="0"/>
                </a:srgbClr>
              </a:clrTo>
            </a:clrChange>
          </a:blip>
          <a:stretch>
            <a:fillRect/>
          </a:stretch>
        </p:blipFill>
        <p:spPr>
          <a:xfrm>
            <a:off x="5311140" y="5708650"/>
            <a:ext cx="2179955" cy="497840"/>
          </a:xfrm>
          <a:prstGeom prst="rect">
            <a:avLst/>
          </a:prstGeom>
        </p:spPr>
      </p:pic>
      <p:pic>
        <p:nvPicPr>
          <p:cNvPr id="16" name="图片 15" descr="d6e9afc6-9edf-4f1e-91b5-62e8b25e9e30"/>
          <p:cNvPicPr>
            <a:picLocks noChangeAspect="1"/>
          </p:cNvPicPr>
          <p:nvPr/>
        </p:nvPicPr>
        <p:blipFill>
          <a:blip r:embed="rId9"/>
          <a:srcRect l="35174"/>
          <a:stretch>
            <a:fillRect/>
          </a:stretch>
        </p:blipFill>
        <p:spPr>
          <a:xfrm>
            <a:off x="7378700" y="5772785"/>
            <a:ext cx="995045" cy="368935"/>
          </a:xfrm>
          <a:prstGeom prst="rect">
            <a:avLst/>
          </a:prstGeom>
        </p:spPr>
      </p:pic>
      <p:sp>
        <p:nvSpPr>
          <p:cNvPr id="50" name="矩形 49"/>
          <p:cNvSpPr/>
          <p:nvPr/>
        </p:nvSpPr>
        <p:spPr>
          <a:xfrm>
            <a:off x="5099050" y="5708650"/>
            <a:ext cx="3485515" cy="58991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4.2</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010" y="351155"/>
                <a:ext cx="8620125" cy="720725"/>
              </a:xfrm>
            </p:spPr>
            <p:txBody>
              <a:bodyPr/>
              <a:lstStyle/>
              <a:p>
                <a:pPr algn="l">
                  <a:buClrTx/>
                  <a:buSzTx/>
                  <a:buFontTx/>
                </a:pPr>
                <a:r>
                  <a:rPr lang="zh-CN" altLang="en-US" sz="2800" b="1" dirty="0">
                    <a:latin typeface="+mn-lt"/>
                    <a:sym typeface="+mn-ea"/>
                  </a:rPr>
                  <a:t>反事实均衡求解过程</a:t>
                </a:r>
                <a:r>
                  <a:rPr lang="en-US" altLang="zh-CN" sz="2800" b="1" dirty="0">
                    <a:latin typeface="+mn-lt"/>
                    <a:sym typeface="+mn-ea"/>
                  </a:rPr>
                  <a:t>：</a:t>
                </a:r>
                <a:r>
                  <a:rPr lang="zh-CN" altLang="en-US" sz="2800" b="1" dirty="0">
                    <a:latin typeface="+mn-lt"/>
                    <a:sym typeface="+mn-ea"/>
                  </a:rPr>
                  <a:t>降低迁移成本</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endParaRPr lang="en-US" altLang="zh-CN"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010" y="351155"/>
                <a:ext cx="8620125" cy="720725"/>
              </a:xfrm>
              <a:blipFill rotWithShape="1">
                <a:blip r:embed="rId1"/>
                <a:stretch>
                  <a:fillRect/>
                </a:stretch>
              </a:blipFill>
            </p:spPr>
            <p:txBody>
              <a:bodyPr/>
              <a:lstStyle/>
              <a:p>
                <a:r>
                  <a:rPr lang="zh-CN" altLang="en-US">
                    <a:noFill/>
                  </a:rPr>
                  <a:t> </a:t>
                </a:r>
              </a:p>
            </p:txBody>
          </p:sp>
        </mc:Fallback>
      </mc:AlternateContent>
      <p:pic>
        <p:nvPicPr>
          <p:cNvPr id="15" name="图片 14" descr="7da0fa38-aedb-48c2-9c95-f6eb9d4f046b"/>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5311140" y="1314450"/>
            <a:ext cx="2179955" cy="497840"/>
          </a:xfrm>
          <a:prstGeom prst="rect">
            <a:avLst/>
          </a:prstGeom>
        </p:spPr>
      </p:pic>
      <p:pic>
        <p:nvPicPr>
          <p:cNvPr id="16" name="图片 15" descr="d6e9afc6-9edf-4f1e-91b5-62e8b25e9e30"/>
          <p:cNvPicPr>
            <a:picLocks noChangeAspect="1"/>
          </p:cNvPicPr>
          <p:nvPr/>
        </p:nvPicPr>
        <p:blipFill>
          <a:blip r:embed="rId3"/>
          <a:srcRect l="35174"/>
          <a:stretch>
            <a:fillRect/>
          </a:stretch>
        </p:blipFill>
        <p:spPr>
          <a:xfrm>
            <a:off x="7378700" y="1378585"/>
            <a:ext cx="995045" cy="368935"/>
          </a:xfrm>
          <a:prstGeom prst="rect">
            <a:avLst/>
          </a:prstGeom>
        </p:spPr>
      </p:pic>
      <p:pic>
        <p:nvPicPr>
          <p:cNvPr id="27" name="图片 26"/>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4640580" y="1812290"/>
            <a:ext cx="4648200" cy="812800"/>
          </a:xfrm>
          <a:prstGeom prst="rect">
            <a:avLst/>
          </a:prstGeom>
        </p:spPr>
      </p:pic>
      <p:grpSp>
        <p:nvGrpSpPr>
          <p:cNvPr id="32" name="组合 31"/>
          <p:cNvGrpSpPr/>
          <p:nvPr/>
        </p:nvGrpSpPr>
        <p:grpSpPr>
          <a:xfrm rot="0">
            <a:off x="2032958" y="2692630"/>
            <a:ext cx="4388565" cy="3702807"/>
            <a:chOff x="3107" y="5400"/>
            <a:chExt cx="3989" cy="4349"/>
          </a:xfrm>
        </p:grpSpPr>
        <p:sp>
          <p:nvSpPr>
            <p:cNvPr id="33" name="矩形 32"/>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3107" y="5400"/>
              <a:ext cx="3989" cy="433"/>
            </a:xfrm>
            <a:prstGeom prst="rect">
              <a:avLst/>
            </a:prstGeom>
            <a:solidFill>
              <a:srgbClr val="69025E"/>
            </a:solidFill>
          </p:spPr>
          <p:txBody>
            <a:bodyPr wrap="square">
              <a:spAutoFit/>
            </a:bodyPr>
            <a:lstStyle/>
            <a:p>
              <a:pPr algn="ctr"/>
              <a:r>
                <a:rPr lang="zh-CN" altLang="en-US" b="1">
                  <a:solidFill>
                    <a:schemeClr val="bg1"/>
                  </a:solidFill>
                  <a:sym typeface="+mn-ea"/>
                </a:rPr>
                <a:t>收敛、获得一般均衡解</a:t>
              </a:r>
              <a:endParaRPr lang="zh-CN" altLang="en-US" b="1">
                <a:solidFill>
                  <a:schemeClr val="bg1"/>
                </a:solidFill>
                <a:sym typeface="+mn-ea"/>
              </a:endParaRPr>
            </a:p>
          </p:txBody>
        </p:sp>
      </p:grpSp>
      <p:sp>
        <p:nvSpPr>
          <p:cNvPr id="28" name="箭头: 下 15"/>
          <p:cNvSpPr/>
          <p:nvPr/>
        </p:nvSpPr>
        <p:spPr>
          <a:xfrm rot="16200000">
            <a:off x="6577343" y="4136690"/>
            <a:ext cx="451554" cy="596889"/>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rot="0">
            <a:off x="7187764" y="2692668"/>
            <a:ext cx="4388565" cy="3702807"/>
            <a:chOff x="3107" y="5400"/>
            <a:chExt cx="3989" cy="4349"/>
          </a:xfrm>
        </p:grpSpPr>
        <p:sp>
          <p:nvSpPr>
            <p:cNvPr id="4" name="矩形 3"/>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107" y="5400"/>
              <a:ext cx="3989" cy="433"/>
            </a:xfrm>
            <a:prstGeom prst="rect">
              <a:avLst/>
            </a:prstGeom>
            <a:solidFill>
              <a:srgbClr val="69025E"/>
            </a:solidFill>
          </p:spPr>
          <p:txBody>
            <a:bodyPr wrap="square">
              <a:spAutoFit/>
            </a:bodyPr>
            <a:lstStyle/>
            <a:p>
              <a:pPr algn="ctr"/>
              <a:r>
                <a:rPr lang="zh-CN" altLang="en-US" b="1">
                  <a:solidFill>
                    <a:schemeClr val="bg1"/>
                  </a:solidFill>
                  <a:sym typeface="+mn-ea"/>
                </a:rPr>
                <a:t>最终</a:t>
              </a:r>
              <a:r>
                <a:rPr lang="zh-CN" altLang="en-US" b="1">
                  <a:solidFill>
                    <a:schemeClr val="bg1"/>
                  </a:solidFill>
                  <a:cs typeface="Arial" panose="020B0604020202090204" pitchFamily="34" charset="0"/>
                  <a:sym typeface="+mn-ea"/>
                </a:rPr>
                <a:t>计算反事实处理的效应</a:t>
              </a:r>
              <a:endParaRPr lang="zh-CN" altLang="en-US" b="1">
                <a:solidFill>
                  <a:schemeClr val="bg1"/>
                </a:solidFill>
                <a:sym typeface="+mn-ea"/>
              </a:endParaRPr>
            </a:p>
          </p:txBody>
        </p:sp>
      </p:grpSp>
      <p:pic>
        <p:nvPicPr>
          <p:cNvPr id="6" name="图片 5" descr="ee0d120a-6062-4822-94a1-91df04b1b858"/>
          <p:cNvPicPr>
            <a:picLocks noChangeAspect="1"/>
          </p:cNvPicPr>
          <p:nvPr/>
        </p:nvPicPr>
        <p:blipFill>
          <a:blip r:embed="rId5"/>
          <a:stretch>
            <a:fillRect/>
          </a:stretch>
        </p:blipFill>
        <p:spPr>
          <a:xfrm>
            <a:off x="2299335" y="3997325"/>
            <a:ext cx="1905000" cy="551815"/>
          </a:xfrm>
          <a:prstGeom prst="rect">
            <a:avLst/>
          </a:prstGeom>
        </p:spPr>
      </p:pic>
      <p:pic>
        <p:nvPicPr>
          <p:cNvPr id="9" name="图片 8" descr="f6329802-fe92-4031-9b8e-7a14e67d7f7c"/>
          <p:cNvPicPr>
            <a:picLocks noChangeAspect="1"/>
          </p:cNvPicPr>
          <p:nvPr/>
        </p:nvPicPr>
        <p:blipFill>
          <a:blip r:embed="rId6"/>
          <a:stretch>
            <a:fillRect/>
          </a:stretch>
        </p:blipFill>
        <p:spPr>
          <a:xfrm>
            <a:off x="4321175" y="4055110"/>
            <a:ext cx="1826260" cy="449580"/>
          </a:xfrm>
          <a:prstGeom prst="rect">
            <a:avLst/>
          </a:prstGeom>
        </p:spPr>
      </p:pic>
      <p:pic>
        <p:nvPicPr>
          <p:cNvPr id="10" name="图片 9" descr="12ec5bbf-be57-44cc-897a-68778b774dd3"/>
          <p:cNvPicPr>
            <a:picLocks noChangeAspect="1"/>
          </p:cNvPicPr>
          <p:nvPr/>
        </p:nvPicPr>
        <p:blipFill>
          <a:blip r:embed="rId7"/>
          <a:stretch>
            <a:fillRect/>
          </a:stretch>
        </p:blipFill>
        <p:spPr>
          <a:xfrm>
            <a:off x="3206750" y="5447665"/>
            <a:ext cx="2041525" cy="483870"/>
          </a:xfrm>
          <a:prstGeom prst="rect">
            <a:avLst/>
          </a:prstGeom>
        </p:spPr>
      </p:pic>
      <p:sp>
        <p:nvSpPr>
          <p:cNvPr id="12" name="文本框 11"/>
          <p:cNvSpPr txBox="1"/>
          <p:nvPr/>
        </p:nvSpPr>
        <p:spPr>
          <a:xfrm>
            <a:off x="2176145" y="3426460"/>
            <a:ext cx="4064000" cy="645160"/>
          </a:xfrm>
          <a:prstGeom prst="rect">
            <a:avLst/>
          </a:prstGeom>
          <a:noFill/>
        </p:spPr>
        <p:txBody>
          <a:bodyPr wrap="square" rtlCol="0">
            <a:spAutoFit/>
          </a:bodyPr>
          <a:p>
            <a:r>
              <a:rPr lang="zh-CN" altLang="en-US"/>
              <a:t>对于初始化的变化率</a:t>
            </a:r>
            <a:r>
              <a:rPr lang="en-US" altLang="zh-CN"/>
              <a:t>，</a:t>
            </a:r>
            <a:r>
              <a:rPr lang="zh-CN" altLang="en-US"/>
              <a:t>满足以下收敛条件才可以收敛至均衡解</a:t>
            </a:r>
            <a:r>
              <a:rPr lang="en-US" altLang="zh-CN"/>
              <a:t>：</a:t>
            </a:r>
            <a:endParaRPr lang="en-US" altLang="zh-CN"/>
          </a:p>
        </p:txBody>
      </p:sp>
      <p:sp>
        <p:nvSpPr>
          <p:cNvPr id="13" name="文本框 12"/>
          <p:cNvSpPr txBox="1"/>
          <p:nvPr/>
        </p:nvSpPr>
        <p:spPr>
          <a:xfrm>
            <a:off x="2176145" y="4830445"/>
            <a:ext cx="4064000" cy="645160"/>
          </a:xfrm>
          <a:prstGeom prst="rect">
            <a:avLst/>
          </a:prstGeom>
          <a:noFill/>
        </p:spPr>
        <p:txBody>
          <a:bodyPr wrap="square" rtlCol="0">
            <a:spAutoFit/>
          </a:bodyPr>
          <a:p>
            <a:r>
              <a:rPr lang="zh-CN" altLang="en-US"/>
              <a:t>否则进行以下处理</a:t>
            </a:r>
            <a:r>
              <a:rPr lang="en-US" altLang="zh-CN"/>
              <a:t>，</a:t>
            </a:r>
            <a:r>
              <a:rPr lang="zh-CN" altLang="en-US"/>
              <a:t>回到</a:t>
            </a:r>
            <a:r>
              <a:rPr lang="en-US" altLang="zh-CN"/>
              <a:t>Step 1</a:t>
            </a:r>
            <a:r>
              <a:rPr lang="zh-CN" altLang="en-US"/>
              <a:t>进行下一轮迭代</a:t>
            </a:r>
            <a:r>
              <a:rPr lang="en-US" altLang="zh-CN"/>
              <a:t>，</a:t>
            </a:r>
            <a:r>
              <a:rPr lang="zh-CN" altLang="en-US"/>
              <a:t>直到收敛至均衡解</a:t>
            </a:r>
            <a:r>
              <a:rPr lang="en-US" altLang="zh-CN"/>
              <a:t>：</a:t>
            </a:r>
            <a:endParaRPr lang="en-US" altLang="zh-CN"/>
          </a:p>
        </p:txBody>
      </p:sp>
      <p:pic>
        <p:nvPicPr>
          <p:cNvPr id="8" name="图片 7" descr="fad0a2ec-da75-4cac-b30f-f8e918f940e9"/>
          <p:cNvPicPr>
            <a:picLocks noChangeAspect="1"/>
          </p:cNvPicPr>
          <p:nvPr/>
        </p:nvPicPr>
        <p:blipFill>
          <a:blip r:embed="rId8"/>
          <a:stretch>
            <a:fillRect/>
          </a:stretch>
        </p:blipFill>
        <p:spPr>
          <a:xfrm>
            <a:off x="8468995" y="3128645"/>
            <a:ext cx="1826260" cy="496570"/>
          </a:xfrm>
          <a:prstGeom prst="rect">
            <a:avLst/>
          </a:prstGeom>
        </p:spPr>
      </p:pic>
      <p:pic>
        <p:nvPicPr>
          <p:cNvPr id="11" name="图片 10" descr="b34f0c2b-0978-464c-9a17-737089d82caf"/>
          <p:cNvPicPr>
            <a:picLocks noChangeAspect="1"/>
          </p:cNvPicPr>
          <p:nvPr/>
        </p:nvPicPr>
        <p:blipFill>
          <a:blip r:embed="rId9"/>
          <a:stretch>
            <a:fillRect/>
          </a:stretch>
        </p:blipFill>
        <p:spPr>
          <a:xfrm>
            <a:off x="7978140" y="3602990"/>
            <a:ext cx="2700020" cy="497840"/>
          </a:xfrm>
          <a:prstGeom prst="rect">
            <a:avLst/>
          </a:prstGeom>
        </p:spPr>
      </p:pic>
      <p:pic>
        <p:nvPicPr>
          <p:cNvPr id="14" name="图片 13" descr="b7ffbc39-8ca6-444c-9585-7a57ade3901c"/>
          <p:cNvPicPr>
            <a:picLocks noChangeAspect="1"/>
          </p:cNvPicPr>
          <p:nvPr/>
        </p:nvPicPr>
        <p:blipFill>
          <a:blip r:embed="rId10"/>
          <a:stretch>
            <a:fillRect/>
          </a:stretch>
        </p:blipFill>
        <p:spPr>
          <a:xfrm>
            <a:off x="7372350" y="4109085"/>
            <a:ext cx="2038985" cy="705485"/>
          </a:xfrm>
          <a:prstGeom prst="rect">
            <a:avLst/>
          </a:prstGeom>
        </p:spPr>
      </p:pic>
      <p:pic>
        <p:nvPicPr>
          <p:cNvPr id="17" name="图片 16" descr="9ba3a03c-4f21-4a76-bbaf-be5bd4463425"/>
          <p:cNvPicPr>
            <a:picLocks noChangeAspect="1"/>
          </p:cNvPicPr>
          <p:nvPr/>
        </p:nvPicPr>
        <p:blipFill>
          <a:blip r:embed="rId11"/>
          <a:stretch>
            <a:fillRect/>
          </a:stretch>
        </p:blipFill>
        <p:spPr>
          <a:xfrm>
            <a:off x="9535795" y="4173220"/>
            <a:ext cx="1905635" cy="619125"/>
          </a:xfrm>
          <a:prstGeom prst="rect">
            <a:avLst/>
          </a:prstGeom>
        </p:spPr>
      </p:pic>
      <p:pic>
        <p:nvPicPr>
          <p:cNvPr id="18" name="图片 17" descr="84913804-9814-4890-ad33-84c6a2f34bc5"/>
          <p:cNvPicPr>
            <a:picLocks noChangeAspect="1"/>
          </p:cNvPicPr>
          <p:nvPr/>
        </p:nvPicPr>
        <p:blipFill>
          <a:blip r:embed="rId12"/>
          <a:stretch>
            <a:fillRect/>
          </a:stretch>
        </p:blipFill>
        <p:spPr>
          <a:xfrm>
            <a:off x="7597140" y="4789805"/>
            <a:ext cx="3570605" cy="732155"/>
          </a:xfrm>
          <a:prstGeom prst="rect">
            <a:avLst/>
          </a:prstGeom>
        </p:spPr>
      </p:pic>
      <p:sp>
        <p:nvSpPr>
          <p:cNvPr id="21" name="矩形 20"/>
          <p:cNvSpPr/>
          <p:nvPr/>
        </p:nvSpPr>
        <p:spPr>
          <a:xfrm>
            <a:off x="7694295" y="4785360"/>
            <a:ext cx="3571240" cy="73723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7372350" y="5681980"/>
            <a:ext cx="4064000" cy="521970"/>
          </a:xfrm>
          <a:prstGeom prst="rect">
            <a:avLst/>
          </a:prstGeom>
          <a:noFill/>
        </p:spPr>
        <p:txBody>
          <a:bodyPr wrap="square" rtlCol="0">
            <a:spAutoFit/>
          </a:bodyPr>
          <a:p>
            <a:pPr algn="ctr"/>
            <a:r>
              <a:rPr lang="zh-CN" altLang="en-US" sz="1400" b="1">
                <a:solidFill>
                  <a:srgbClr val="FF0000"/>
                </a:solidFill>
              </a:rPr>
              <a:t>得到出生地为</a:t>
            </a:r>
            <a:r>
              <a:rPr lang="en-US" altLang="zh-CN" sz="1400" b="1">
                <a:solidFill>
                  <a:srgbClr val="FF0000"/>
                </a:solidFill>
              </a:rPr>
              <a:t>o</a:t>
            </a:r>
            <a:r>
              <a:rPr lang="zh-CN" altLang="en-US" sz="1400" b="1">
                <a:solidFill>
                  <a:srgbClr val="FF0000"/>
                </a:solidFill>
              </a:rPr>
              <a:t>的劳动者收入在消除迁移障碍后的变化</a:t>
            </a:r>
            <a:r>
              <a:rPr lang="en-US" altLang="zh-CN" sz="1400" b="1">
                <a:solidFill>
                  <a:srgbClr val="FF0000"/>
                </a:solidFill>
              </a:rPr>
              <a:t>（</a:t>
            </a:r>
            <a:r>
              <a:rPr lang="zh-CN" altLang="en-US" sz="1400" b="1">
                <a:solidFill>
                  <a:srgbClr val="FF0000"/>
                </a:solidFill>
              </a:rPr>
              <a:t>因出生地不同</a:t>
            </a:r>
            <a:r>
              <a:rPr lang="en-US" altLang="zh-CN" sz="1400" b="1">
                <a:solidFill>
                  <a:srgbClr val="FF0000"/>
                </a:solidFill>
              </a:rPr>
              <a:t>，</a:t>
            </a:r>
            <a:r>
              <a:rPr lang="zh-CN" altLang="en-US" sz="1400" b="1">
                <a:solidFill>
                  <a:srgbClr val="FF0000"/>
                </a:solidFill>
              </a:rPr>
              <a:t>可能存在异质性</a:t>
            </a:r>
            <a:r>
              <a:rPr lang="en-US" altLang="zh-CN" sz="1400" b="1">
                <a:solidFill>
                  <a:srgbClr val="FF0000"/>
                </a:solidFill>
              </a:rPr>
              <a:t>）</a:t>
            </a:r>
            <a:endParaRPr lang="en-US" altLang="zh-CN" sz="1400" b="1">
              <a:solidFill>
                <a:srgbClr val="FF0000"/>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4.2</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010" y="351155"/>
                <a:ext cx="8620125" cy="720725"/>
              </a:xfrm>
            </p:spPr>
            <p:txBody>
              <a:bodyPr/>
              <a:lstStyle/>
              <a:p>
                <a:pPr algn="l">
                  <a:buClrTx/>
                  <a:buSzTx/>
                  <a:buFontTx/>
                </a:pPr>
                <a:r>
                  <a:rPr lang="zh-CN" altLang="en-US" sz="2800" b="1" dirty="0">
                    <a:latin typeface="+mn-lt"/>
                    <a:sym typeface="+mn-ea"/>
                  </a:rPr>
                  <a:t>反事实均衡求解过程</a:t>
                </a:r>
                <a:r>
                  <a:rPr lang="en-US" altLang="zh-CN" sz="2800" b="1" dirty="0">
                    <a:latin typeface="+mn-lt"/>
                    <a:sym typeface="+mn-ea"/>
                  </a:rPr>
                  <a:t>：</a:t>
                </a:r>
                <a:r>
                  <a:rPr lang="zh-CN" altLang="en-US" sz="2800" b="1" dirty="0">
                    <a:latin typeface="+mn-lt"/>
                    <a:sym typeface="+mn-ea"/>
                  </a:rPr>
                  <a:t>降低迁移成本</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endParaRPr lang="en-US" altLang="zh-CN"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010" y="351155"/>
                <a:ext cx="8620125" cy="720725"/>
              </a:xfrm>
              <a:blipFill rotWithShape="1">
                <a:blip r:embed="rId1"/>
                <a:stretch>
                  <a:fillRect/>
                </a:stretch>
              </a:blipFill>
            </p:spPr>
            <p:txBody>
              <a:bodyPr/>
              <a:lstStyle/>
              <a:p>
                <a:r>
                  <a:rPr lang="zh-CN" altLang="en-US">
                    <a:noFill/>
                  </a:rPr>
                  <a:t> </a:t>
                </a:r>
              </a:p>
            </p:txBody>
          </p:sp>
        </mc:Fallback>
      </mc:AlternateContent>
      <p:pic>
        <p:nvPicPr>
          <p:cNvPr id="15" name="图片 14" descr="7da0fa38-aedb-48c2-9c95-f6eb9d4f046b"/>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5311140" y="1314450"/>
            <a:ext cx="2179955" cy="497840"/>
          </a:xfrm>
          <a:prstGeom prst="rect">
            <a:avLst/>
          </a:prstGeom>
        </p:spPr>
      </p:pic>
      <p:pic>
        <p:nvPicPr>
          <p:cNvPr id="16" name="图片 15" descr="d6e9afc6-9edf-4f1e-91b5-62e8b25e9e30"/>
          <p:cNvPicPr>
            <a:picLocks noChangeAspect="1"/>
          </p:cNvPicPr>
          <p:nvPr/>
        </p:nvPicPr>
        <p:blipFill>
          <a:blip r:embed="rId3"/>
          <a:srcRect l="35174"/>
          <a:stretch>
            <a:fillRect/>
          </a:stretch>
        </p:blipFill>
        <p:spPr>
          <a:xfrm>
            <a:off x="7378700" y="1378585"/>
            <a:ext cx="995045" cy="368935"/>
          </a:xfrm>
          <a:prstGeom prst="rect">
            <a:avLst/>
          </a:prstGeom>
        </p:spPr>
      </p:pic>
      <p:pic>
        <p:nvPicPr>
          <p:cNvPr id="27" name="图片 26"/>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4640580" y="1812290"/>
            <a:ext cx="4648200" cy="812800"/>
          </a:xfrm>
          <a:prstGeom prst="rect">
            <a:avLst/>
          </a:prstGeom>
        </p:spPr>
      </p:pic>
      <p:grpSp>
        <p:nvGrpSpPr>
          <p:cNvPr id="32" name="组合 31"/>
          <p:cNvGrpSpPr/>
          <p:nvPr/>
        </p:nvGrpSpPr>
        <p:grpSpPr>
          <a:xfrm rot="0">
            <a:off x="2032958" y="2692630"/>
            <a:ext cx="4388565" cy="3702807"/>
            <a:chOff x="3107" y="5400"/>
            <a:chExt cx="3989" cy="4349"/>
          </a:xfrm>
        </p:grpSpPr>
        <p:sp>
          <p:nvSpPr>
            <p:cNvPr id="33" name="矩形 32"/>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3107" y="5400"/>
              <a:ext cx="3989" cy="433"/>
            </a:xfrm>
            <a:prstGeom prst="rect">
              <a:avLst/>
            </a:prstGeom>
            <a:solidFill>
              <a:srgbClr val="69025E"/>
            </a:solidFill>
          </p:spPr>
          <p:txBody>
            <a:bodyPr wrap="square">
              <a:spAutoFit/>
            </a:bodyPr>
            <a:lstStyle/>
            <a:p>
              <a:pPr algn="ctr"/>
              <a:r>
                <a:rPr lang="zh-CN" altLang="en-US" b="1">
                  <a:solidFill>
                    <a:schemeClr val="bg1"/>
                  </a:solidFill>
                  <a:sym typeface="+mn-ea"/>
                </a:rPr>
                <a:t>收敛、获得一般均衡解</a:t>
              </a:r>
              <a:endParaRPr lang="zh-CN" altLang="en-US" b="1">
                <a:solidFill>
                  <a:schemeClr val="bg1"/>
                </a:solidFill>
                <a:sym typeface="+mn-ea"/>
              </a:endParaRPr>
            </a:p>
          </p:txBody>
        </p:sp>
      </p:grpSp>
      <p:sp>
        <p:nvSpPr>
          <p:cNvPr id="28" name="箭头: 下 15"/>
          <p:cNvSpPr/>
          <p:nvPr/>
        </p:nvSpPr>
        <p:spPr>
          <a:xfrm rot="16200000">
            <a:off x="6577343" y="4136690"/>
            <a:ext cx="451554" cy="596889"/>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rot="0">
            <a:off x="7187764" y="2692668"/>
            <a:ext cx="4388565" cy="3702807"/>
            <a:chOff x="3107" y="5400"/>
            <a:chExt cx="3989" cy="4349"/>
          </a:xfrm>
        </p:grpSpPr>
        <p:sp>
          <p:nvSpPr>
            <p:cNvPr id="4" name="矩形 3"/>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107" y="5400"/>
              <a:ext cx="3989" cy="433"/>
            </a:xfrm>
            <a:prstGeom prst="rect">
              <a:avLst/>
            </a:prstGeom>
            <a:solidFill>
              <a:srgbClr val="69025E"/>
            </a:solidFill>
          </p:spPr>
          <p:txBody>
            <a:bodyPr wrap="square">
              <a:spAutoFit/>
            </a:bodyPr>
            <a:lstStyle/>
            <a:p>
              <a:pPr algn="ctr"/>
              <a:r>
                <a:rPr lang="zh-CN" altLang="en-US" b="1">
                  <a:solidFill>
                    <a:schemeClr val="bg1"/>
                  </a:solidFill>
                  <a:sym typeface="+mn-ea"/>
                </a:rPr>
                <a:t>最终</a:t>
              </a:r>
              <a:r>
                <a:rPr lang="zh-CN" altLang="en-US" b="1">
                  <a:solidFill>
                    <a:schemeClr val="bg1"/>
                  </a:solidFill>
                  <a:cs typeface="Arial" panose="020B0604020202090204" pitchFamily="34" charset="0"/>
                  <a:sym typeface="+mn-ea"/>
                </a:rPr>
                <a:t>计算反事实处理的效应</a:t>
              </a:r>
              <a:endParaRPr lang="zh-CN" altLang="en-US" b="1">
                <a:solidFill>
                  <a:schemeClr val="bg1"/>
                </a:solidFill>
                <a:sym typeface="+mn-ea"/>
              </a:endParaRPr>
            </a:p>
          </p:txBody>
        </p:sp>
      </p:grpSp>
      <p:pic>
        <p:nvPicPr>
          <p:cNvPr id="6" name="图片 5" descr="ee0d120a-6062-4822-94a1-91df04b1b858"/>
          <p:cNvPicPr>
            <a:picLocks noChangeAspect="1"/>
          </p:cNvPicPr>
          <p:nvPr/>
        </p:nvPicPr>
        <p:blipFill>
          <a:blip r:embed="rId5"/>
          <a:stretch>
            <a:fillRect/>
          </a:stretch>
        </p:blipFill>
        <p:spPr>
          <a:xfrm>
            <a:off x="2299335" y="3997325"/>
            <a:ext cx="1905000" cy="551815"/>
          </a:xfrm>
          <a:prstGeom prst="rect">
            <a:avLst/>
          </a:prstGeom>
        </p:spPr>
      </p:pic>
      <p:pic>
        <p:nvPicPr>
          <p:cNvPr id="9" name="图片 8" descr="f6329802-fe92-4031-9b8e-7a14e67d7f7c"/>
          <p:cNvPicPr>
            <a:picLocks noChangeAspect="1"/>
          </p:cNvPicPr>
          <p:nvPr/>
        </p:nvPicPr>
        <p:blipFill>
          <a:blip r:embed="rId6"/>
          <a:stretch>
            <a:fillRect/>
          </a:stretch>
        </p:blipFill>
        <p:spPr>
          <a:xfrm>
            <a:off x="4321175" y="4055110"/>
            <a:ext cx="1826260" cy="449580"/>
          </a:xfrm>
          <a:prstGeom prst="rect">
            <a:avLst/>
          </a:prstGeom>
        </p:spPr>
      </p:pic>
      <p:pic>
        <p:nvPicPr>
          <p:cNvPr id="10" name="图片 9" descr="12ec5bbf-be57-44cc-897a-68778b774dd3"/>
          <p:cNvPicPr>
            <a:picLocks noChangeAspect="1"/>
          </p:cNvPicPr>
          <p:nvPr/>
        </p:nvPicPr>
        <p:blipFill>
          <a:blip r:embed="rId7"/>
          <a:stretch>
            <a:fillRect/>
          </a:stretch>
        </p:blipFill>
        <p:spPr>
          <a:xfrm>
            <a:off x="3206750" y="5447665"/>
            <a:ext cx="2041525" cy="483870"/>
          </a:xfrm>
          <a:prstGeom prst="rect">
            <a:avLst/>
          </a:prstGeom>
        </p:spPr>
      </p:pic>
      <p:sp>
        <p:nvSpPr>
          <p:cNvPr id="12" name="文本框 11"/>
          <p:cNvSpPr txBox="1"/>
          <p:nvPr/>
        </p:nvSpPr>
        <p:spPr>
          <a:xfrm>
            <a:off x="2176145" y="3426460"/>
            <a:ext cx="4064000" cy="645160"/>
          </a:xfrm>
          <a:prstGeom prst="rect">
            <a:avLst/>
          </a:prstGeom>
          <a:noFill/>
        </p:spPr>
        <p:txBody>
          <a:bodyPr wrap="square" rtlCol="0">
            <a:spAutoFit/>
          </a:bodyPr>
          <a:p>
            <a:r>
              <a:rPr lang="zh-CN" altLang="en-US"/>
              <a:t>对于初始化的变化率</a:t>
            </a:r>
            <a:r>
              <a:rPr lang="en-US" altLang="zh-CN"/>
              <a:t>，</a:t>
            </a:r>
            <a:r>
              <a:rPr lang="zh-CN" altLang="en-US"/>
              <a:t>满足以下收敛条件才可以收敛至均衡解</a:t>
            </a:r>
            <a:r>
              <a:rPr lang="en-US" altLang="zh-CN"/>
              <a:t>：</a:t>
            </a:r>
            <a:endParaRPr lang="en-US" altLang="zh-CN"/>
          </a:p>
        </p:txBody>
      </p:sp>
      <p:sp>
        <p:nvSpPr>
          <p:cNvPr id="13" name="文本框 12"/>
          <p:cNvSpPr txBox="1"/>
          <p:nvPr/>
        </p:nvSpPr>
        <p:spPr>
          <a:xfrm>
            <a:off x="2176145" y="4830445"/>
            <a:ext cx="4064000" cy="645160"/>
          </a:xfrm>
          <a:prstGeom prst="rect">
            <a:avLst/>
          </a:prstGeom>
          <a:noFill/>
        </p:spPr>
        <p:txBody>
          <a:bodyPr wrap="square" rtlCol="0">
            <a:spAutoFit/>
          </a:bodyPr>
          <a:p>
            <a:r>
              <a:rPr lang="zh-CN" altLang="en-US"/>
              <a:t>否则进行以下处理</a:t>
            </a:r>
            <a:r>
              <a:rPr lang="en-US" altLang="zh-CN"/>
              <a:t>，</a:t>
            </a:r>
            <a:r>
              <a:rPr lang="zh-CN" altLang="en-US"/>
              <a:t>回到</a:t>
            </a:r>
            <a:r>
              <a:rPr lang="en-US" altLang="zh-CN"/>
              <a:t>Step 1</a:t>
            </a:r>
            <a:r>
              <a:rPr lang="zh-CN" altLang="en-US"/>
              <a:t>进行下一轮迭代</a:t>
            </a:r>
            <a:r>
              <a:rPr lang="en-US" altLang="zh-CN"/>
              <a:t>，</a:t>
            </a:r>
            <a:r>
              <a:rPr lang="zh-CN" altLang="en-US"/>
              <a:t>直到收敛至均衡解</a:t>
            </a:r>
            <a:r>
              <a:rPr lang="en-US" altLang="zh-CN"/>
              <a:t>：</a:t>
            </a:r>
            <a:endParaRPr lang="en-US" altLang="zh-CN"/>
          </a:p>
        </p:txBody>
      </p:sp>
      <p:pic>
        <p:nvPicPr>
          <p:cNvPr id="14" name="图片 13" descr="b7ffbc39-8ca6-444c-9585-7a57ade3901c"/>
          <p:cNvPicPr>
            <a:picLocks noChangeAspect="1"/>
          </p:cNvPicPr>
          <p:nvPr/>
        </p:nvPicPr>
        <p:blipFill>
          <a:blip r:embed="rId8"/>
          <a:stretch>
            <a:fillRect/>
          </a:stretch>
        </p:blipFill>
        <p:spPr>
          <a:xfrm>
            <a:off x="7372350" y="3278505"/>
            <a:ext cx="2038985" cy="705485"/>
          </a:xfrm>
          <a:prstGeom prst="rect">
            <a:avLst/>
          </a:prstGeom>
        </p:spPr>
      </p:pic>
      <p:pic>
        <p:nvPicPr>
          <p:cNvPr id="17" name="图片 16" descr="9ba3a03c-4f21-4a76-bbaf-be5bd4463425"/>
          <p:cNvPicPr>
            <a:picLocks noChangeAspect="1"/>
          </p:cNvPicPr>
          <p:nvPr/>
        </p:nvPicPr>
        <p:blipFill>
          <a:blip r:embed="rId9"/>
          <a:stretch>
            <a:fillRect/>
          </a:stretch>
        </p:blipFill>
        <p:spPr>
          <a:xfrm>
            <a:off x="9535795" y="3342640"/>
            <a:ext cx="1905635" cy="619125"/>
          </a:xfrm>
          <a:prstGeom prst="rect">
            <a:avLst/>
          </a:prstGeom>
        </p:spPr>
      </p:pic>
      <p:pic>
        <p:nvPicPr>
          <p:cNvPr id="20" name="图片 19" descr="94693937-31d9-4802-b927-d667d61efc63"/>
          <p:cNvPicPr>
            <a:picLocks noChangeAspect="1"/>
          </p:cNvPicPr>
          <p:nvPr/>
        </p:nvPicPr>
        <p:blipFill>
          <a:blip r:embed="rId10"/>
          <a:stretch>
            <a:fillRect/>
          </a:stretch>
        </p:blipFill>
        <p:spPr>
          <a:xfrm>
            <a:off x="7372985" y="4052570"/>
            <a:ext cx="4082415" cy="695325"/>
          </a:xfrm>
          <a:prstGeom prst="rect">
            <a:avLst/>
          </a:prstGeom>
        </p:spPr>
      </p:pic>
      <p:pic>
        <p:nvPicPr>
          <p:cNvPr id="22" name="图片 21" descr="621dc229-5e2e-4ec9-bf31-c5321b85e1e9"/>
          <p:cNvPicPr>
            <a:picLocks noChangeAspect="1"/>
          </p:cNvPicPr>
          <p:nvPr/>
        </p:nvPicPr>
        <p:blipFill>
          <a:blip r:embed="rId11"/>
          <a:stretch>
            <a:fillRect/>
          </a:stretch>
        </p:blipFill>
        <p:spPr>
          <a:xfrm>
            <a:off x="7743825" y="4816475"/>
            <a:ext cx="3275965" cy="704850"/>
          </a:xfrm>
          <a:prstGeom prst="rect">
            <a:avLst/>
          </a:prstGeom>
        </p:spPr>
      </p:pic>
      <p:sp>
        <p:nvSpPr>
          <p:cNvPr id="23" name="矩形 22"/>
          <p:cNvSpPr/>
          <p:nvPr/>
        </p:nvSpPr>
        <p:spPr>
          <a:xfrm>
            <a:off x="7694295" y="4785360"/>
            <a:ext cx="3571240" cy="73723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7372350" y="5681980"/>
            <a:ext cx="4064000" cy="583565"/>
          </a:xfrm>
          <a:prstGeom prst="rect">
            <a:avLst/>
          </a:prstGeom>
          <a:noFill/>
        </p:spPr>
        <p:txBody>
          <a:bodyPr wrap="square" rtlCol="0">
            <a:spAutoFit/>
          </a:bodyPr>
          <a:p>
            <a:pPr algn="ctr"/>
            <a:r>
              <a:rPr lang="zh-CN" altLang="en-US" sz="1600" b="1">
                <a:solidFill>
                  <a:srgbClr val="FF0000"/>
                </a:solidFill>
              </a:rPr>
              <a:t>得到印尼整体的</a:t>
            </a:r>
            <a:r>
              <a:rPr lang="zh-CN" altLang="en-US" sz="1600" b="1">
                <a:solidFill>
                  <a:srgbClr val="FF0000"/>
                </a:solidFill>
                <a:sym typeface="+mn-ea"/>
              </a:rPr>
              <a:t>劳动者收入</a:t>
            </a:r>
            <a:endParaRPr lang="zh-CN" altLang="en-US" sz="1600" b="1">
              <a:solidFill>
                <a:srgbClr val="FF0000"/>
              </a:solidFill>
              <a:sym typeface="+mn-ea"/>
            </a:endParaRPr>
          </a:p>
          <a:p>
            <a:pPr algn="ctr"/>
            <a:r>
              <a:rPr lang="zh-CN" altLang="en-US" sz="1600" b="1">
                <a:solidFill>
                  <a:srgbClr val="FF0000"/>
                </a:solidFill>
                <a:sym typeface="+mn-ea"/>
              </a:rPr>
              <a:t>在消除迁移障碍后的变化</a:t>
            </a:r>
            <a:endParaRPr lang="zh-CN" altLang="en-US" sz="1600" b="1">
              <a:solidFill>
                <a:srgbClr val="FF000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4.2</a:t>
            </a:r>
            <a:endParaRPr lang="zh-CN" altLang="en-US" b="1">
              <a:solidFill>
                <a:schemeClr val="bg1"/>
              </a:solidFill>
            </a:endParaRPr>
          </a:p>
        </p:txBody>
      </p:sp>
      <p:sp>
        <p:nvSpPr>
          <p:cNvPr id="6" name="Rectangle 1"/>
          <p:cNvSpPr>
            <a:spLocks noChangeArrowheads="1"/>
          </p:cNvSpPr>
          <p:nvPr/>
        </p:nvSpPr>
        <p:spPr bwMode="auto">
          <a:xfrm>
            <a:off x="3260725" y="2027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010" y="351155"/>
                <a:ext cx="8620125" cy="720725"/>
              </a:xfrm>
            </p:spPr>
            <p:txBody>
              <a:bodyPr/>
              <a:lstStyle/>
              <a:p>
                <a:pPr algn="l">
                  <a:buClrTx/>
                  <a:buSzTx/>
                  <a:buFontTx/>
                </a:pPr>
                <a:r>
                  <a:rPr lang="zh-CN" altLang="en-US" sz="2800" b="1" dirty="0">
                    <a:latin typeface="+mn-lt"/>
                    <a:sym typeface="+mn-ea"/>
                  </a:rPr>
                  <a:t>反事实</a:t>
                </a:r>
                <a:r>
                  <a:rPr lang="zh-CN" altLang="en-US" sz="2800" b="1" dirty="0">
                    <a:latin typeface="+mn-lt"/>
                    <a:sym typeface="+mn-ea"/>
                  </a:rPr>
                  <a:t>均衡</a:t>
                </a:r>
                <a:r>
                  <a:rPr lang="zh-CN" altLang="en-US" sz="2800" b="1" dirty="0">
                    <a:latin typeface="+mn-lt"/>
                    <a:sym typeface="+mn-ea"/>
                  </a:rPr>
                  <a:t>求解过程</a:t>
                </a:r>
                <a:r>
                  <a:rPr lang="en-US" altLang="zh-CN" sz="2800" b="1" dirty="0">
                    <a:latin typeface="+mn-lt"/>
                    <a:sym typeface="+mn-ea"/>
                  </a:rPr>
                  <a:t>：</a:t>
                </a:r>
                <a:r>
                  <a:rPr lang="zh-CN" altLang="en-US" sz="2800" b="1" dirty="0">
                    <a:latin typeface="+mn-lt"/>
                    <a:sym typeface="+mn-ea"/>
                  </a:rPr>
                  <a:t>均等化</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𝜶</m:t>
                        </m:r>
                      </m:e>
                      <m:sub>
                        <m:r>
                          <a:rPr lang="en-US" altLang="zh-CN" sz="2800" b="1" i="1" dirty="0">
                            <a:latin typeface="DejaVu Math TeX Gyre" panose="02000503000000000000" charset="0"/>
                            <a:cs typeface="DejaVu Math TeX Gyre" panose="02000503000000000000" charset="0"/>
                          </a:rPr>
                          <m:t>𝒅</m:t>
                        </m:r>
                      </m:sub>
                    </m:sSub>
                  </m:oMath>
                </a14:m>
                <a:endParaRPr lang="en-US" altLang="zh-CN"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010" y="351155"/>
                <a:ext cx="8620125" cy="720725"/>
              </a:xfrm>
              <a:blipFill rotWithShape="1">
                <a:blip r:embed="rId1"/>
                <a:stretch>
                  <a:fillRect/>
                </a:stretch>
              </a:blipFill>
            </p:spPr>
            <p:txBody>
              <a:bodyPr/>
              <a:lstStyle/>
              <a:p>
                <a:r>
                  <a:rPr lang="zh-CN" altLang="en-US">
                    <a:noFill/>
                  </a:rPr>
                  <a:t> </a:t>
                </a:r>
              </a:p>
            </p:txBody>
          </p:sp>
        </mc:Fallback>
      </mc:AlternateContent>
      <p:sp>
        <p:nvSpPr>
          <p:cNvPr id="36" name="矩形 35"/>
          <p:cNvSpPr/>
          <p:nvPr/>
        </p:nvSpPr>
        <p:spPr>
          <a:xfrm>
            <a:off x="2166673" y="1620825"/>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t>Step 0 </a:t>
            </a:r>
            <a:r>
              <a:rPr lang="zh-CN" altLang="en-US" sz="1600" b="1"/>
              <a:t>反事实变化初始化</a:t>
            </a:r>
            <a:endParaRPr lang="zh-CN" altLang="en-US" sz="1600" b="1"/>
          </a:p>
        </p:txBody>
      </p:sp>
      <p:sp>
        <p:nvSpPr>
          <p:cNvPr id="42" name="文本框 41"/>
          <p:cNvSpPr txBox="1"/>
          <p:nvPr/>
        </p:nvSpPr>
        <p:spPr>
          <a:xfrm>
            <a:off x="2166673" y="2513000"/>
            <a:ext cx="7160895" cy="368300"/>
          </a:xfrm>
          <a:prstGeom prst="rect">
            <a:avLst/>
          </a:prstGeom>
          <a:noFill/>
        </p:spPr>
        <p:txBody>
          <a:bodyPr wrap="square" rtlCol="0" anchor="t">
            <a:spAutoFit/>
          </a:bodyPr>
          <a:p>
            <a:pPr marL="342900" marR="0" indent="-342900">
              <a:buFont typeface="Arial" panose="020B0604020202090204" pitchFamily="34" charset="0"/>
              <a:buChar char="•"/>
            </a:pPr>
            <a:r>
              <a:rPr lang="zh-CN" altLang="en-US">
                <a:sym typeface="+mn-ea"/>
              </a:rPr>
              <a:t>设定一组目的地工资</a:t>
            </a:r>
            <a:r>
              <a:rPr lang="en-US" altLang="zh-CN">
                <a:sym typeface="+mn-ea"/>
              </a:rPr>
              <a:t>、</a:t>
            </a:r>
            <a:r>
              <a:rPr lang="zh-CN" altLang="en-US">
                <a:sym typeface="+mn-ea"/>
              </a:rPr>
              <a:t>人口</a:t>
            </a:r>
            <a:r>
              <a:rPr lang="zh-CN" altLang="en-US">
                <a:sym typeface="+mn-ea"/>
              </a:rPr>
              <a:t>的的相对变化</a:t>
            </a:r>
            <a:r>
              <a:rPr lang="en-US" altLang="zh-CN">
                <a:sym typeface="+mn-ea"/>
              </a:rPr>
              <a:t>（</a:t>
            </a:r>
            <a:r>
              <a:rPr lang="zh-CN" altLang="en-US">
                <a:sym typeface="+mn-ea"/>
              </a:rPr>
              <a:t>初始可以全设为 1</a:t>
            </a:r>
            <a:r>
              <a:rPr lang="en-US" altLang="zh-CN">
                <a:sym typeface="+mn-ea"/>
              </a:rPr>
              <a:t>）</a:t>
            </a:r>
            <a:endParaRPr lang="en-US" altLang="zh-CN">
              <a:sym typeface="+mn-ea"/>
            </a:endParaRPr>
          </a:p>
        </p:txBody>
      </p:sp>
      <p:pic>
        <p:nvPicPr>
          <p:cNvPr id="54" name="图片 53" descr="a8bcfee1-f0fd-44c4-ad5f-d40ef99eed9d"/>
          <p:cNvPicPr>
            <a:picLocks noChangeAspect="1"/>
          </p:cNvPicPr>
          <p:nvPr/>
        </p:nvPicPr>
        <p:blipFill>
          <a:blip r:embed="rId2"/>
          <a:stretch>
            <a:fillRect/>
          </a:stretch>
        </p:blipFill>
        <p:spPr>
          <a:xfrm>
            <a:off x="5717593" y="1989760"/>
            <a:ext cx="2545080" cy="509270"/>
          </a:xfrm>
          <a:prstGeom prst="rect">
            <a:avLst/>
          </a:prstGeom>
        </p:spPr>
      </p:pic>
      <p:sp>
        <p:nvSpPr>
          <p:cNvPr id="45" name="矩形 44"/>
          <p:cNvSpPr/>
          <p:nvPr/>
        </p:nvSpPr>
        <p:spPr>
          <a:xfrm>
            <a:off x="2166673" y="3144825"/>
            <a:ext cx="3288665" cy="368935"/>
          </a:xfrm>
          <a:prstGeom prst="rect">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a:sym typeface="+mn-ea"/>
              </a:rPr>
              <a:t>Step 1 </a:t>
            </a:r>
            <a:r>
              <a:rPr lang="zh-CN" altLang="en-US" sz="1600" b="1">
                <a:sym typeface="+mn-ea"/>
              </a:rPr>
              <a:t>计算新的迁移比例</a:t>
            </a:r>
            <a:endParaRPr lang="zh-CN" altLang="en-US" sz="1600" b="1"/>
          </a:p>
        </p:txBody>
      </p:sp>
      <p:pic>
        <p:nvPicPr>
          <p:cNvPr id="2" name="图片 1" descr="post_object_image_706521237"/>
          <p:cNvPicPr>
            <a:picLocks noChangeAspect="1"/>
          </p:cNvPicPr>
          <p:nvPr/>
        </p:nvPicPr>
        <p:blipFill>
          <a:blip r:embed="rId3"/>
          <a:stretch>
            <a:fillRect/>
          </a:stretch>
        </p:blipFill>
        <p:spPr>
          <a:xfrm>
            <a:off x="3884807" y="3663702"/>
            <a:ext cx="2998942" cy="565018"/>
          </a:xfrm>
          <a:prstGeom prst="rect">
            <a:avLst/>
          </a:prstGeom>
        </p:spPr>
      </p:pic>
      <p:sp>
        <p:nvSpPr>
          <p:cNvPr id="44" name="箭头: 下 15"/>
          <p:cNvSpPr/>
          <p:nvPr/>
        </p:nvSpPr>
        <p:spPr>
          <a:xfrm rot="16200000">
            <a:off x="7084712" y="3660143"/>
            <a:ext cx="281940" cy="572135"/>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post_object_image_2932129530"/>
          <p:cNvPicPr>
            <a:picLocks noChangeAspect="1"/>
          </p:cNvPicPr>
          <p:nvPr/>
        </p:nvPicPr>
        <p:blipFill>
          <a:blip r:embed="rId4"/>
          <a:stretch>
            <a:fillRect/>
          </a:stretch>
        </p:blipFill>
        <p:spPr>
          <a:xfrm>
            <a:off x="7716413" y="3663669"/>
            <a:ext cx="2024175" cy="563430"/>
          </a:xfrm>
          <a:prstGeom prst="rect">
            <a:avLst/>
          </a:prstGeom>
        </p:spPr>
      </p:pic>
      <p:pic>
        <p:nvPicPr>
          <p:cNvPr id="25" name="图片 24" descr="e510041c-1705-4ac8-a461-a8fc6d35cafc"/>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7362509" y="4521487"/>
            <a:ext cx="2939415" cy="398145"/>
          </a:xfrm>
          <a:prstGeom prst="rect">
            <a:avLst/>
          </a:prstGeom>
        </p:spPr>
      </p:pic>
      <p:sp>
        <p:nvSpPr>
          <p:cNvPr id="51" name="矩形 50"/>
          <p:cNvSpPr/>
          <p:nvPr/>
        </p:nvSpPr>
        <p:spPr>
          <a:xfrm>
            <a:off x="8995492" y="4420512"/>
            <a:ext cx="1306449" cy="60007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650696" y="3588587"/>
            <a:ext cx="734374" cy="705429"/>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7"/>
          <p:cNvSpPr/>
          <p:nvPr/>
        </p:nvSpPr>
        <p:spPr>
          <a:xfrm>
            <a:off x="5394339" y="5020618"/>
            <a:ext cx="2589804" cy="1116286"/>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buNone/>
            </a:pPr>
            <a:r>
              <a:rPr lang="zh-CN" altLang="en-US" sz="1400" kern="100" dirty="0">
                <a:solidFill>
                  <a:srgbClr val="000000"/>
                </a:solidFill>
                <a:latin typeface="Times New Roman" panose="02020503050405090304" pitchFamily="18" charset="0"/>
              </a:rPr>
              <a:t>除了</a:t>
            </a:r>
            <a:r>
              <a:rPr lang="zh-CN" altLang="en-US" sz="1400" kern="100" dirty="0">
                <a:solidFill>
                  <a:srgbClr val="000000"/>
                </a:solidFill>
                <a:latin typeface="Times New Roman" panose="02020503050405090304" pitchFamily="18" charset="0"/>
                <a:cs typeface="Arial" panose="020B0604020202090204" pitchFamily="34" charset="0"/>
              </a:rPr>
              <a:t>消除迁移摩擦的方式不同（即</a:t>
            </a:r>
            <a:r>
              <a:rPr lang="en-US" altLang="zh-CN" sz="1400" kern="100" dirty="0">
                <a:solidFill>
                  <a:srgbClr val="000000"/>
                </a:solidFill>
                <a:latin typeface="Times New Roman" panose="02020503050405090304" pitchFamily="18" charset="0"/>
                <a:cs typeface="Arial" panose="020B0604020202090204" pitchFamily="34" charset="0"/>
              </a:rPr>
              <a:t>Step 1</a:t>
            </a:r>
            <a:r>
              <a:rPr lang="zh-CN" altLang="en-US" sz="1400" kern="100" dirty="0">
                <a:solidFill>
                  <a:srgbClr val="000000"/>
                </a:solidFill>
                <a:latin typeface="Times New Roman" panose="02020503050405090304" pitchFamily="18" charset="0"/>
                <a:cs typeface="Arial" panose="020B0604020202090204" pitchFamily="34" charset="0"/>
              </a:rPr>
              <a:t>），</a:t>
            </a:r>
            <a:r>
              <a:rPr lang="zh-CN" altLang="en-US" sz="1400" b="1" kern="100" dirty="0">
                <a:solidFill>
                  <a:srgbClr val="69025E"/>
                </a:solidFill>
                <a:latin typeface="Times New Roman" panose="02020503050405090304" pitchFamily="18" charset="0"/>
                <a:cs typeface="Arial" panose="020B0604020202090204" pitchFamily="34" charset="0"/>
              </a:rPr>
              <a:t>其余求一般均衡解、迭代步骤、收敛方式与降低</a:t>
            </a:r>
            <a:r>
              <a:rPr lang="en-US" altLang="zh-CN" sz="1400" b="1" kern="100" dirty="0">
                <a:solidFill>
                  <a:srgbClr val="69025E"/>
                </a:solidFill>
                <a:latin typeface="Times New Roman" panose="02020503050405090304" pitchFamily="18" charset="0"/>
                <a:cs typeface="Arial" panose="020B0604020202090204" pitchFamily="34" charset="0"/>
              </a:rPr>
              <a:t>τ</a:t>
            </a:r>
            <a:r>
              <a:rPr lang="en-US" altLang="zh-CN" sz="1000" b="1" kern="100" dirty="0">
                <a:solidFill>
                  <a:srgbClr val="69025E"/>
                </a:solidFill>
                <a:latin typeface="Times New Roman" panose="02020503050405090304" pitchFamily="18" charset="0"/>
                <a:cs typeface="Arial" panose="020B0604020202090204" pitchFamily="34" charset="0"/>
              </a:rPr>
              <a:t>od</a:t>
            </a:r>
            <a:r>
              <a:rPr lang="zh-CN" altLang="en-US" sz="1400" b="1" kern="100" dirty="0">
                <a:solidFill>
                  <a:srgbClr val="69025E"/>
                </a:solidFill>
                <a:latin typeface="Times New Roman" panose="02020503050405090304" pitchFamily="18" charset="0"/>
                <a:cs typeface="Arial" panose="020B0604020202090204" pitchFamily="34" charset="0"/>
              </a:rPr>
              <a:t>一致</a:t>
            </a:r>
            <a:endParaRPr lang="en-US" altLang="zh-CN" sz="1400" b="1" kern="100" dirty="0">
              <a:solidFill>
                <a:srgbClr val="69025E"/>
              </a:solidFill>
              <a:latin typeface="Times New Roman" panose="02020503050405090304" pitchFamily="18" charset="0"/>
              <a:cs typeface="Arial" panose="020B0604020202090204" pitchFamily="34" charset="0"/>
            </a:endParaRPr>
          </a:p>
        </p:txBody>
      </p:sp>
      <p:cxnSp>
        <p:nvCxnSpPr>
          <p:cNvPr id="41" name="直接箭头连接符 40"/>
          <p:cNvCxnSpPr>
            <a:stCxn id="5" idx="1"/>
            <a:endCxn id="12" idx="3"/>
          </p:cNvCxnSpPr>
          <p:nvPr/>
        </p:nvCxnSpPr>
        <p:spPr>
          <a:xfrm flipH="1">
            <a:off x="7983946" y="3941302"/>
            <a:ext cx="666750" cy="163703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endCxn id="12" idx="3"/>
          </p:cNvCxnSpPr>
          <p:nvPr/>
        </p:nvCxnSpPr>
        <p:spPr>
          <a:xfrm flipH="1">
            <a:off x="7984143" y="4659101"/>
            <a:ext cx="1011307" cy="919277"/>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反事实结果</a:t>
                </a:r>
                <a:r>
                  <a:rPr lang="en-US" altLang="zh-CN" sz="2800" b="1" dirty="0">
                    <a:latin typeface="+mn-lt"/>
                  </a:rPr>
                  <a:t>1：</a:t>
                </a:r>
                <a:r>
                  <a:rPr lang="zh-CN" altLang="en-US" sz="2800" b="1" dirty="0">
                    <a:latin typeface="+mn-lt"/>
                  </a:rPr>
                  <a:t>降低迁移成本</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endParaRPr lang="zh-CN" altLang="en-US"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144" y="350986"/>
                <a:ext cx="8294008" cy="720428"/>
              </a:xfrm>
              <a:blipFill rotWithShape="1">
                <a:blip r:embed="rId1"/>
                <a:stretch>
                  <a:fillRect l="-2" t="-65" r="5" b="23"/>
                </a:stretch>
              </a:blipFill>
            </p:spPr>
            <p:txBody>
              <a:bodyPr/>
              <a:lstStyle/>
              <a:p>
                <a:r>
                  <a:rPr lang="zh-CN" altLang="en-US">
                    <a:noFill/>
                  </a:rPr>
                  <a:t> </a:t>
                </a:r>
              </a:p>
            </p:txBody>
          </p:sp>
        </mc:Fallback>
      </mc:AlternateContent>
      <p:pic>
        <p:nvPicPr>
          <p:cNvPr id="2" name="图片 1"/>
          <p:cNvPicPr>
            <a:picLocks noChangeAspect="1"/>
          </p:cNvPicPr>
          <p:nvPr/>
        </p:nvPicPr>
        <p:blipFill>
          <a:blip r:embed="rId2"/>
          <a:stretch>
            <a:fillRect/>
          </a:stretch>
        </p:blipFill>
        <p:spPr>
          <a:xfrm>
            <a:off x="2248535" y="2334895"/>
            <a:ext cx="4385310" cy="2365375"/>
          </a:xfrm>
          <a:prstGeom prst="rect">
            <a:avLst/>
          </a:prstGeom>
        </p:spPr>
      </p:pic>
      <p:pic>
        <p:nvPicPr>
          <p:cNvPr id="5" name="图片 4"/>
          <p:cNvPicPr>
            <a:picLocks noChangeAspect="1"/>
          </p:cNvPicPr>
          <p:nvPr/>
        </p:nvPicPr>
        <p:blipFill>
          <a:blip r:embed="rId3"/>
          <a:stretch>
            <a:fillRect/>
          </a:stretch>
        </p:blipFill>
        <p:spPr>
          <a:xfrm>
            <a:off x="2080260" y="1123950"/>
            <a:ext cx="4722495" cy="1082040"/>
          </a:xfrm>
          <a:prstGeom prst="rect">
            <a:avLst/>
          </a:prstGeom>
        </p:spPr>
      </p:pic>
      <p:sp>
        <p:nvSpPr>
          <p:cNvPr id="21" name="矩形 20"/>
          <p:cNvSpPr/>
          <p:nvPr/>
        </p:nvSpPr>
        <p:spPr>
          <a:xfrm>
            <a:off x="3424097" y="1442927"/>
            <a:ext cx="719632" cy="763063"/>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81910" y="2917825"/>
            <a:ext cx="930910" cy="159448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7"/>
          <p:cNvSpPr/>
          <p:nvPr/>
        </p:nvSpPr>
        <p:spPr>
          <a:xfrm>
            <a:off x="7035800" y="1156335"/>
            <a:ext cx="4534535" cy="108140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lnSpc>
                <a:spcPct val="100000"/>
              </a:lnSpc>
              <a:buFont typeface="Arial" panose="020B0604020202090204" pitchFamily="34" charset="0"/>
              <a:buChar char="•"/>
            </a:pPr>
            <a:r>
              <a:rPr lang="zh-CN" altLang="en-US" sz="1400">
                <a:solidFill>
                  <a:schemeClr val="tx1"/>
                </a:solidFill>
                <a:sym typeface="+mn-ea"/>
              </a:rPr>
              <a:t>完全消除迁移成本</a:t>
            </a:r>
            <a:r>
              <a:rPr lang="en-US" altLang="zh-CN" sz="1400">
                <a:solidFill>
                  <a:schemeClr val="tx1"/>
                </a:solidFill>
                <a:sym typeface="+mn-ea"/>
              </a:rPr>
              <a:t>，</a:t>
            </a:r>
            <a:r>
              <a:rPr lang="zh-CN" altLang="en-US" sz="1400">
                <a:solidFill>
                  <a:schemeClr val="tx1"/>
                </a:solidFill>
                <a:sym typeface="+mn-ea"/>
              </a:rPr>
              <a:t>平均而言总产出提升</a:t>
            </a:r>
            <a:r>
              <a:rPr lang="en-US" altLang="zh-CN" sz="1400">
                <a:solidFill>
                  <a:schemeClr val="tx1"/>
                </a:solidFill>
                <a:sym typeface="+mn-ea"/>
              </a:rPr>
              <a:t>7.5%</a:t>
            </a:r>
            <a:endParaRPr lang="en-US" altLang="zh-CN" sz="1400">
              <a:solidFill>
                <a:schemeClr val="tx1"/>
              </a:solidFill>
              <a:sym typeface="+mn-ea"/>
            </a:endParaRPr>
          </a:p>
          <a:p>
            <a:pPr marL="285750" indent="-285750">
              <a:lnSpc>
                <a:spcPct val="100000"/>
              </a:lnSpc>
              <a:buFont typeface="Arial" panose="020B0604020202090204" pitchFamily="34" charset="0"/>
              <a:buChar char="•"/>
            </a:pPr>
            <a:r>
              <a:rPr lang="zh-CN" altLang="en-US" sz="1400">
                <a:solidFill>
                  <a:schemeClr val="tx1"/>
                </a:solidFill>
                <a:sym typeface="+mn-ea"/>
              </a:rPr>
              <a:t>迁移成本下降至美国水平</a:t>
            </a:r>
            <a:r>
              <a:rPr lang="en-US" altLang="zh-CN" sz="1400">
                <a:solidFill>
                  <a:schemeClr val="tx1"/>
                </a:solidFill>
                <a:sym typeface="+mn-ea"/>
              </a:rPr>
              <a:t>，</a:t>
            </a:r>
            <a:r>
              <a:rPr lang="zh-CN" altLang="en-US" sz="1400">
                <a:solidFill>
                  <a:schemeClr val="tx1"/>
                </a:solidFill>
                <a:sym typeface="+mn-ea"/>
              </a:rPr>
              <a:t>平均总产出提升</a:t>
            </a:r>
            <a:r>
              <a:rPr lang="en-US" altLang="zh-CN" sz="1400">
                <a:solidFill>
                  <a:schemeClr val="tx1"/>
                </a:solidFill>
                <a:sym typeface="+mn-ea"/>
              </a:rPr>
              <a:t>7.1%</a:t>
            </a:r>
            <a:endParaRPr lang="en-US" altLang="zh-CN" sz="1400">
              <a:solidFill>
                <a:schemeClr val="tx1"/>
              </a:solidFill>
              <a:sym typeface="+mn-ea"/>
            </a:endParaRPr>
          </a:p>
          <a:p>
            <a:pPr marL="285750" indent="-285750">
              <a:lnSpc>
                <a:spcPct val="100000"/>
              </a:lnSpc>
              <a:buFont typeface="Arial" panose="020B0604020202090204" pitchFamily="34" charset="0"/>
              <a:buChar char="•"/>
            </a:pPr>
            <a:r>
              <a:rPr lang="zh-CN" altLang="en-US" sz="1400">
                <a:solidFill>
                  <a:schemeClr val="tx1"/>
                </a:solidFill>
                <a:cs typeface="Arial" panose="020B0604020202090204" pitchFamily="34" charset="0"/>
                <a:sym typeface="+mn-ea"/>
              </a:rPr>
              <a:t>作者认为</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美国已是高流动性经济体的代表，且</a:t>
            </a:r>
            <a:r>
              <a:rPr lang="en-US" altLang="zh-CN" sz="1400">
                <a:solidFill>
                  <a:schemeClr val="tx1"/>
                </a:solidFill>
                <a:cs typeface="Arial" panose="020B0604020202090204" pitchFamily="34" charset="0"/>
                <a:sym typeface="+mn-ea"/>
              </a:rPr>
              <a:t>0.4%</a:t>
            </a:r>
            <a:r>
              <a:rPr lang="zh-CN" altLang="en-US" sz="1400">
                <a:solidFill>
                  <a:schemeClr val="tx1"/>
                </a:solidFill>
                <a:cs typeface="Arial" panose="020B0604020202090204" pitchFamily="34" charset="0"/>
                <a:sym typeface="+mn-ea"/>
              </a:rPr>
              <a:t>的增幅不大</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所以7.1%是“现实可达的上限”</a:t>
            </a:r>
            <a:endParaRPr lang="zh-CN" altLang="en-US" sz="1400">
              <a:solidFill>
                <a:schemeClr val="tx1"/>
              </a:solidFill>
              <a:cs typeface="Arial" panose="020B0604020202090204" pitchFamily="34" charset="0"/>
              <a:sym typeface="+mn-ea"/>
            </a:endParaRPr>
          </a:p>
        </p:txBody>
      </p:sp>
      <p:sp>
        <p:nvSpPr>
          <p:cNvPr id="12" name="矩形 11"/>
          <p:cNvSpPr/>
          <p:nvPr/>
        </p:nvSpPr>
        <p:spPr>
          <a:xfrm>
            <a:off x="2080260" y="4759325"/>
            <a:ext cx="4754880" cy="17202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buClrTx/>
              <a:buSzTx/>
              <a:buFont typeface="Arial" panose="020B0604020202090204" pitchFamily="34" charset="0"/>
              <a:buChar char="•"/>
            </a:pPr>
            <a:r>
              <a:rPr lang="zh-CN" altLang="en-US" sz="1400">
                <a:solidFill>
                  <a:srgbClr val="660066"/>
                </a:solidFill>
                <a:cs typeface="Arial" panose="020B0604020202090204" pitchFamily="34" charset="0"/>
              </a:rPr>
              <a:t>selection</a:t>
            </a:r>
            <a:r>
              <a:rPr lang="zh-CN" altLang="en-US" sz="1400">
                <a:solidFill>
                  <a:schemeClr val="tx1"/>
                </a:solidFill>
                <a:cs typeface="Arial" panose="020B0604020202090204" pitchFamily="34" charset="0"/>
              </a:rPr>
              <a:t>对反事实估计存在明显的影响：一方面</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技能差异越大</a:t>
            </a:r>
            <a:r>
              <a:rPr lang="en-US" altLang="zh-CN" sz="1400">
                <a:solidFill>
                  <a:schemeClr val="tx1"/>
                </a:solidFill>
                <a:cs typeface="Arial" panose="020B0604020202090204" pitchFamily="34" charset="0"/>
              </a:rPr>
              <a:t>，</a:t>
            </a:r>
            <a:r>
              <a:rPr lang="en-US" altLang="zh-CN" sz="1400">
                <a:solidFill>
                  <a:srgbClr val="660066"/>
                </a:solidFill>
                <a:cs typeface="Arial" panose="020B0604020202090204" pitchFamily="34" charset="0"/>
              </a:rPr>
              <a:t>sorting</a:t>
            </a:r>
            <a:r>
              <a:rPr lang="zh-CN" altLang="en-US" sz="1400">
                <a:solidFill>
                  <a:schemeClr val="tx1"/>
                </a:solidFill>
                <a:cs typeface="Arial" panose="020B0604020202090204" pitchFamily="34" charset="0"/>
              </a:rPr>
              <a:t>带来的收益越大</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高技能的人去高回报的地点</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如果每一个新增移民赚得都比上一个少</a:t>
            </a:r>
            <a:r>
              <a:rPr lang="en-US" altLang="zh-CN" sz="1400">
                <a:solidFill>
                  <a:schemeClr val="tx1"/>
                </a:solidFill>
                <a:cs typeface="Arial" panose="020B0604020202090204" pitchFamily="34" charset="0"/>
              </a:rPr>
              <a:t>，selection</a:t>
            </a:r>
            <a:r>
              <a:rPr lang="zh-CN" altLang="en-US" sz="1400">
                <a:solidFill>
                  <a:schemeClr val="tx1"/>
                </a:solidFill>
                <a:cs typeface="Arial" panose="020B0604020202090204" pitchFamily="34" charset="0"/>
              </a:rPr>
              <a:t>可能会压低集聚带来的收益</a:t>
            </a:r>
            <a:r>
              <a:rPr lang="en-US" altLang="zh-CN" sz="1400">
                <a:solidFill>
                  <a:schemeClr val="tx1"/>
                </a:solidFill>
                <a:cs typeface="Arial" panose="020B0604020202090204" pitchFamily="34" charset="0"/>
              </a:rPr>
              <a:t>。</a:t>
            </a:r>
            <a:r>
              <a:rPr lang="zh-CN" altLang="en-US" sz="1400">
                <a:solidFill>
                  <a:srgbClr val="660066"/>
                </a:solidFill>
                <a:cs typeface="Arial" panose="020B0604020202090204" pitchFamily="34" charset="0"/>
              </a:rPr>
              <a:t>对于结果的高估</a:t>
            </a:r>
            <a:r>
              <a:rPr lang="en-US" altLang="zh-CN" sz="1400">
                <a:solidFill>
                  <a:srgbClr val="660066"/>
                </a:solidFill>
                <a:cs typeface="Arial" panose="020B0604020202090204" pitchFamily="34" charset="0"/>
              </a:rPr>
              <a:t>or</a:t>
            </a:r>
            <a:r>
              <a:rPr lang="zh-CN" altLang="en-US" sz="1400">
                <a:solidFill>
                  <a:srgbClr val="660066"/>
                </a:solidFill>
                <a:cs typeface="Arial" panose="020B0604020202090204" pitchFamily="34" charset="0"/>
              </a:rPr>
              <a:t>低估不确定</a:t>
            </a:r>
            <a:r>
              <a:rPr lang="en-US" altLang="zh-CN" sz="1400">
                <a:solidFill>
                  <a:srgbClr val="660066"/>
                </a:solidFill>
                <a:cs typeface="Arial" panose="020B0604020202090204" pitchFamily="34" charset="0"/>
              </a:rPr>
              <a:t>。</a:t>
            </a:r>
            <a:endParaRPr lang="zh-CN" altLang="en-US" sz="1400">
              <a:solidFill>
                <a:srgbClr val="660066"/>
              </a:solidFill>
              <a:cs typeface="Arial" panose="020B0604020202090204" pitchFamily="34" charset="0"/>
            </a:endParaRPr>
          </a:p>
          <a:p>
            <a:pPr marL="285750" indent="-285750" algn="l">
              <a:buClrTx/>
              <a:buSzTx/>
              <a:buFont typeface="Arial" panose="020B0604020202090204" pitchFamily="34" charset="0"/>
              <a:buChar char="•"/>
            </a:pPr>
            <a:r>
              <a:rPr lang="zh-CN" altLang="en-US" sz="1400">
                <a:solidFill>
                  <a:schemeClr val="tx1"/>
                </a:solidFill>
                <a:cs typeface="Arial" panose="020B0604020202090204" pitchFamily="34" charset="0"/>
              </a:rPr>
              <a:t>让</a:t>
            </a:r>
            <a:r>
              <a:rPr lang="en-US" altLang="zh-CN" sz="1400">
                <a:solidFill>
                  <a:schemeClr val="tx1"/>
                </a:solidFill>
                <a:cs typeface="Arial" panose="020B0604020202090204" pitchFamily="34" charset="0"/>
              </a:rPr>
              <a:t>selection</a:t>
            </a:r>
            <a:r>
              <a:rPr lang="zh-CN" altLang="en-US" sz="1400">
                <a:solidFill>
                  <a:schemeClr val="tx1"/>
                </a:solidFill>
                <a:cs typeface="Arial" panose="020B0604020202090204" pitchFamily="34" charset="0"/>
              </a:rPr>
              <a:t>不起作用后</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生产率将降低</a:t>
            </a:r>
            <a:r>
              <a:rPr lang="en-US" altLang="zh-CN" sz="1400">
                <a:solidFill>
                  <a:schemeClr val="tx1"/>
                </a:solidFill>
                <a:cs typeface="Arial" panose="020B0604020202090204" pitchFamily="34" charset="0"/>
              </a:rPr>
              <a:t>8%，</a:t>
            </a:r>
            <a:r>
              <a:rPr lang="zh-CN" altLang="en-US" sz="1400">
                <a:solidFill>
                  <a:schemeClr val="tx1"/>
                </a:solidFill>
                <a:cs typeface="Arial" panose="020B0604020202090204" pitchFamily="34" charset="0"/>
              </a:rPr>
              <a:t>忽略选择将导致收益的</a:t>
            </a:r>
            <a:r>
              <a:rPr lang="zh-CN" altLang="en-US" sz="1400">
                <a:solidFill>
                  <a:srgbClr val="660066"/>
                </a:solidFill>
                <a:cs typeface="Arial" panose="020B0604020202090204" pitchFamily="34" charset="0"/>
              </a:rPr>
              <a:t>低估</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且说明了</a:t>
            </a:r>
            <a:r>
              <a:rPr lang="en-US" altLang="zh-CN" sz="1400">
                <a:solidFill>
                  <a:srgbClr val="660066"/>
                </a:solidFill>
                <a:cs typeface="Arial" panose="020B0604020202090204" pitchFamily="34" charset="0"/>
              </a:rPr>
              <a:t>sorting</a:t>
            </a:r>
            <a:r>
              <a:rPr lang="zh-CN" altLang="en-US" sz="1400">
                <a:solidFill>
                  <a:schemeClr val="tx1"/>
                </a:solidFill>
                <a:cs typeface="Arial" panose="020B0604020202090204" pitchFamily="34" charset="0"/>
              </a:rPr>
              <a:t>是消除迁移成本</a:t>
            </a:r>
            <a:r>
              <a:rPr lang="zh-CN" altLang="en-US" sz="1400">
                <a:solidFill>
                  <a:schemeClr val="tx1"/>
                </a:solidFill>
                <a:cs typeface="Arial" panose="020B0604020202090204" pitchFamily="34" charset="0"/>
              </a:rPr>
              <a:t>带来收益的</a:t>
            </a:r>
            <a:r>
              <a:rPr lang="zh-CN" altLang="en-US" sz="1400">
                <a:solidFill>
                  <a:schemeClr val="tx1"/>
                </a:solidFill>
                <a:cs typeface="Arial" panose="020B0604020202090204" pitchFamily="34" charset="0"/>
              </a:rPr>
              <a:t>主要来源</a:t>
            </a:r>
            <a:endParaRPr lang="zh-CN" altLang="en-US" sz="1400">
              <a:solidFill>
                <a:schemeClr val="tx1"/>
              </a:solidFill>
              <a:cs typeface="Arial" panose="020B0604020202090204" pitchFamily="34" charset="0"/>
            </a:endParaRPr>
          </a:p>
        </p:txBody>
      </p:sp>
      <p:sp>
        <p:nvSpPr>
          <p:cNvPr id="4" name="矩形: 圆角 7"/>
          <p:cNvSpPr/>
          <p:nvPr/>
        </p:nvSpPr>
        <p:spPr>
          <a:xfrm>
            <a:off x="7035800" y="4113530"/>
            <a:ext cx="4534535" cy="236601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lnSpc>
                <a:spcPct val="100000"/>
              </a:lnSpc>
              <a:buFont typeface="Arial" panose="020B0604020202090204" pitchFamily="34" charset="0"/>
              <a:buChar char="•"/>
            </a:pPr>
            <a:r>
              <a:rPr lang="zh-CN" altLang="en-US" sz="1400">
                <a:solidFill>
                  <a:schemeClr val="tx1"/>
                </a:solidFill>
                <a:cs typeface="Arial" panose="020B0604020202090204" pitchFamily="34" charset="0"/>
                <a:sym typeface="+mn-ea"/>
              </a:rPr>
              <a:t>如何在模型中“让选择不起作用”</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在模型中将</a:t>
            </a:r>
            <a:r>
              <a:rPr lang="zh-CN" altLang="en-US" sz="1400">
                <a:solidFill>
                  <a:srgbClr val="660066"/>
                </a:solidFill>
                <a:cs typeface="Arial" panose="020B0604020202090204" pitchFamily="34" charset="0"/>
                <a:sym typeface="+mn-ea"/>
              </a:rPr>
              <a:t>内生人力资本项设为</a:t>
            </a:r>
            <a:r>
              <a:rPr lang="en-US" altLang="zh-CN" sz="1400">
                <a:solidFill>
                  <a:srgbClr val="660066"/>
                </a:solidFill>
                <a:cs typeface="Arial" panose="020B0604020202090204" pitchFamily="34" charset="0"/>
                <a:sym typeface="+mn-ea"/>
              </a:rPr>
              <a:t>1。</a:t>
            </a:r>
            <a:r>
              <a:rPr lang="en-US" altLang="zh-CN" sz="1400">
                <a:solidFill>
                  <a:schemeClr val="tx1"/>
                </a:solidFill>
                <a:cs typeface="Arial" panose="020B0604020202090204" pitchFamily="34" charset="0"/>
                <a:sym typeface="+mn-ea"/>
              </a:rPr>
              <a:t>selection</a:t>
            </a:r>
            <a:r>
              <a:rPr lang="zh-CN" altLang="en-US" sz="1400">
                <a:solidFill>
                  <a:schemeClr val="tx1"/>
                </a:solidFill>
                <a:cs typeface="Arial" panose="020B0604020202090204" pitchFamily="34" charset="0"/>
                <a:sym typeface="+mn-ea"/>
              </a:rPr>
              <a:t>存在时迁移份额改变时</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迁移者的平均技能也随之改变</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迁往某地的人越多，模型预测其平均技能越低</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因此</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将该项</a:t>
            </a:r>
            <a:r>
              <a:rPr lang="zh-CN" altLang="en-US" sz="1400">
                <a:solidFill>
                  <a:srgbClr val="660066"/>
                </a:solidFill>
                <a:cs typeface="Arial" panose="020B0604020202090204" pitchFamily="34" charset="0"/>
                <a:sym typeface="+mn-ea"/>
              </a:rPr>
              <a:t>固定为</a:t>
            </a:r>
            <a:r>
              <a:rPr lang="en-US" altLang="zh-CN" sz="1400">
                <a:solidFill>
                  <a:srgbClr val="660066"/>
                </a:solidFill>
                <a:cs typeface="Arial" panose="020B0604020202090204" pitchFamily="34" charset="0"/>
                <a:sym typeface="+mn-ea"/>
              </a:rPr>
              <a:t>1，</a:t>
            </a:r>
            <a:r>
              <a:rPr lang="zh-CN" altLang="en-US" sz="1400">
                <a:solidFill>
                  <a:schemeClr val="tx1"/>
                </a:solidFill>
                <a:cs typeface="Arial" panose="020B0604020202090204" pitchFamily="34" charset="0"/>
                <a:sym typeface="+mn-ea"/>
              </a:rPr>
              <a:t>迁移份额变化仍会改变人们去哪里、各地人口和均衡结果，但不再通过人群技能构成的变化影响产出</a:t>
            </a:r>
            <a:endParaRPr lang="zh-CN" altLang="en-US" sz="1400">
              <a:solidFill>
                <a:schemeClr val="tx1"/>
              </a:solidFill>
              <a:cs typeface="Arial" panose="020B0604020202090204" pitchFamily="34" charset="0"/>
              <a:sym typeface="+mn-ea"/>
            </a:endParaRPr>
          </a:p>
        </p:txBody>
      </p:sp>
      <p:pic>
        <p:nvPicPr>
          <p:cNvPr id="6" name="图片 5" descr="43d49f38-8c1b-442c-a834-e73c07174afe"/>
          <p:cNvPicPr>
            <a:picLocks noChangeAspect="1"/>
          </p:cNvPicPr>
          <p:nvPr/>
        </p:nvPicPr>
        <p:blipFill>
          <a:blip r:embed="rId4"/>
          <a:stretch>
            <a:fillRect/>
          </a:stretch>
        </p:blipFill>
        <p:spPr>
          <a:xfrm>
            <a:off x="7894320" y="5863590"/>
            <a:ext cx="2817495" cy="41021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反事实结果</a:t>
                </a:r>
                <a:r>
                  <a:rPr lang="en-US" altLang="zh-CN" sz="2800" b="1" dirty="0">
                    <a:latin typeface="+mn-lt"/>
                  </a:rPr>
                  <a:t>1：</a:t>
                </a:r>
                <a:r>
                  <a:rPr lang="zh-CN" altLang="en-US" sz="2800" b="1" dirty="0">
                    <a:latin typeface="+mn-lt"/>
                  </a:rPr>
                  <a:t>降低迁移成本</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endParaRPr lang="zh-CN" altLang="en-US"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144" y="350986"/>
                <a:ext cx="8294008" cy="720428"/>
              </a:xfrm>
              <a:blipFill rotWithShape="1">
                <a:blip r:embed="rId1"/>
                <a:stretch>
                  <a:fillRect l="-2" t="-65" r="5" b="23"/>
                </a:stretch>
              </a:blipFill>
            </p:spPr>
            <p:txBody>
              <a:bodyPr/>
              <a:lstStyle/>
              <a:p>
                <a:r>
                  <a:rPr lang="zh-CN" altLang="en-US">
                    <a:noFill/>
                  </a:rPr>
                  <a:t> </a:t>
                </a:r>
              </a:p>
            </p:txBody>
          </p:sp>
        </mc:Fallback>
      </mc:AlternateContent>
      <p:pic>
        <p:nvPicPr>
          <p:cNvPr id="2" name="图片 1"/>
          <p:cNvPicPr>
            <a:picLocks noChangeAspect="1"/>
          </p:cNvPicPr>
          <p:nvPr/>
        </p:nvPicPr>
        <p:blipFill>
          <a:blip r:embed="rId2"/>
          <a:stretch>
            <a:fillRect/>
          </a:stretch>
        </p:blipFill>
        <p:spPr>
          <a:xfrm>
            <a:off x="2248535" y="2334895"/>
            <a:ext cx="4385310" cy="2365375"/>
          </a:xfrm>
          <a:prstGeom prst="rect">
            <a:avLst/>
          </a:prstGeom>
        </p:spPr>
      </p:pic>
      <p:pic>
        <p:nvPicPr>
          <p:cNvPr id="5" name="图片 4"/>
          <p:cNvPicPr>
            <a:picLocks noChangeAspect="1"/>
          </p:cNvPicPr>
          <p:nvPr/>
        </p:nvPicPr>
        <p:blipFill>
          <a:blip r:embed="rId3"/>
          <a:stretch>
            <a:fillRect/>
          </a:stretch>
        </p:blipFill>
        <p:spPr>
          <a:xfrm>
            <a:off x="2080260" y="1123950"/>
            <a:ext cx="4722495" cy="1082040"/>
          </a:xfrm>
          <a:prstGeom prst="rect">
            <a:avLst/>
          </a:prstGeom>
        </p:spPr>
      </p:pic>
      <p:sp>
        <p:nvSpPr>
          <p:cNvPr id="21" name="矩形 20"/>
          <p:cNvSpPr/>
          <p:nvPr/>
        </p:nvSpPr>
        <p:spPr>
          <a:xfrm>
            <a:off x="3424097" y="1442927"/>
            <a:ext cx="719632" cy="763063"/>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81910" y="2917825"/>
            <a:ext cx="930910" cy="159448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7"/>
          <p:cNvSpPr/>
          <p:nvPr/>
        </p:nvSpPr>
        <p:spPr>
          <a:xfrm>
            <a:off x="7035800" y="1156335"/>
            <a:ext cx="4534535" cy="108140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lnSpc>
                <a:spcPct val="100000"/>
              </a:lnSpc>
              <a:buFont typeface="Arial" panose="020B0604020202090204" pitchFamily="34" charset="0"/>
              <a:buChar char="•"/>
            </a:pPr>
            <a:r>
              <a:rPr lang="zh-CN" altLang="en-US" sz="1400">
                <a:solidFill>
                  <a:schemeClr val="tx1"/>
                </a:solidFill>
                <a:sym typeface="+mn-ea"/>
              </a:rPr>
              <a:t>完全消除迁移成本</a:t>
            </a:r>
            <a:r>
              <a:rPr lang="en-US" altLang="zh-CN" sz="1400">
                <a:solidFill>
                  <a:schemeClr val="tx1"/>
                </a:solidFill>
                <a:sym typeface="+mn-ea"/>
              </a:rPr>
              <a:t>，</a:t>
            </a:r>
            <a:r>
              <a:rPr lang="zh-CN" altLang="en-US" sz="1400">
                <a:solidFill>
                  <a:schemeClr val="tx1"/>
                </a:solidFill>
                <a:sym typeface="+mn-ea"/>
              </a:rPr>
              <a:t>平均而言总产出提升</a:t>
            </a:r>
            <a:r>
              <a:rPr lang="en-US" altLang="zh-CN" sz="1400">
                <a:solidFill>
                  <a:schemeClr val="tx1"/>
                </a:solidFill>
                <a:sym typeface="+mn-ea"/>
              </a:rPr>
              <a:t>7.5%</a:t>
            </a:r>
            <a:endParaRPr lang="en-US" altLang="zh-CN" sz="1400">
              <a:solidFill>
                <a:schemeClr val="tx1"/>
              </a:solidFill>
              <a:sym typeface="+mn-ea"/>
            </a:endParaRPr>
          </a:p>
          <a:p>
            <a:pPr marL="285750" indent="-285750">
              <a:lnSpc>
                <a:spcPct val="100000"/>
              </a:lnSpc>
              <a:buFont typeface="Arial" panose="020B0604020202090204" pitchFamily="34" charset="0"/>
              <a:buChar char="•"/>
            </a:pPr>
            <a:r>
              <a:rPr lang="zh-CN" altLang="en-US" sz="1400">
                <a:solidFill>
                  <a:schemeClr val="tx1"/>
                </a:solidFill>
                <a:sym typeface="+mn-ea"/>
              </a:rPr>
              <a:t>迁移成本下降至美国水平</a:t>
            </a:r>
            <a:r>
              <a:rPr lang="en-US" altLang="zh-CN" sz="1400">
                <a:solidFill>
                  <a:schemeClr val="tx1"/>
                </a:solidFill>
                <a:sym typeface="+mn-ea"/>
              </a:rPr>
              <a:t>，</a:t>
            </a:r>
            <a:r>
              <a:rPr lang="zh-CN" altLang="en-US" sz="1400">
                <a:solidFill>
                  <a:schemeClr val="tx1"/>
                </a:solidFill>
                <a:sym typeface="+mn-ea"/>
              </a:rPr>
              <a:t>平均总产出提升</a:t>
            </a:r>
            <a:r>
              <a:rPr lang="en-US" altLang="zh-CN" sz="1400">
                <a:solidFill>
                  <a:schemeClr val="tx1"/>
                </a:solidFill>
                <a:sym typeface="+mn-ea"/>
              </a:rPr>
              <a:t>7.1%</a:t>
            </a:r>
            <a:endParaRPr lang="en-US" altLang="zh-CN" sz="1400">
              <a:solidFill>
                <a:schemeClr val="tx1"/>
              </a:solidFill>
              <a:sym typeface="+mn-ea"/>
            </a:endParaRPr>
          </a:p>
          <a:p>
            <a:pPr marL="285750" indent="-285750">
              <a:lnSpc>
                <a:spcPct val="100000"/>
              </a:lnSpc>
              <a:buFont typeface="Arial" panose="020B0604020202090204" pitchFamily="34" charset="0"/>
              <a:buChar char="•"/>
            </a:pPr>
            <a:r>
              <a:rPr lang="zh-CN" altLang="en-US" sz="1400">
                <a:solidFill>
                  <a:schemeClr val="tx1"/>
                </a:solidFill>
                <a:cs typeface="Arial" panose="020B0604020202090204" pitchFamily="34" charset="0"/>
                <a:sym typeface="+mn-ea"/>
              </a:rPr>
              <a:t>作者认为</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美国已是高流动性经济体的代表，且</a:t>
            </a:r>
            <a:r>
              <a:rPr lang="en-US" altLang="zh-CN" sz="1400">
                <a:solidFill>
                  <a:schemeClr val="tx1"/>
                </a:solidFill>
                <a:cs typeface="Arial" panose="020B0604020202090204" pitchFamily="34" charset="0"/>
                <a:sym typeface="+mn-ea"/>
              </a:rPr>
              <a:t>0.4%</a:t>
            </a:r>
            <a:r>
              <a:rPr lang="zh-CN" altLang="en-US" sz="1400">
                <a:solidFill>
                  <a:schemeClr val="tx1"/>
                </a:solidFill>
                <a:cs typeface="Arial" panose="020B0604020202090204" pitchFamily="34" charset="0"/>
                <a:sym typeface="+mn-ea"/>
              </a:rPr>
              <a:t>的增幅不大</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所以7.1%是“现实可达的上限”</a:t>
            </a:r>
            <a:endParaRPr lang="zh-CN" altLang="en-US" sz="1400">
              <a:solidFill>
                <a:schemeClr val="tx1"/>
              </a:solidFill>
              <a:cs typeface="Arial" panose="020B0604020202090204" pitchFamily="34" charset="0"/>
              <a:sym typeface="+mn-ea"/>
            </a:endParaRPr>
          </a:p>
        </p:txBody>
      </p:sp>
      <p:pic>
        <p:nvPicPr>
          <p:cNvPr id="11" name="图片 10"/>
          <p:cNvPicPr>
            <a:picLocks noChangeAspect="1"/>
          </p:cNvPicPr>
          <p:nvPr/>
        </p:nvPicPr>
        <p:blipFill>
          <a:blip r:embed="rId4"/>
          <a:stretch>
            <a:fillRect/>
          </a:stretch>
        </p:blipFill>
        <p:spPr>
          <a:xfrm>
            <a:off x="7334250" y="2334895"/>
            <a:ext cx="3937000" cy="2345690"/>
          </a:xfrm>
          <a:prstGeom prst="rect">
            <a:avLst/>
          </a:prstGeom>
        </p:spPr>
      </p:pic>
      <p:sp>
        <p:nvSpPr>
          <p:cNvPr id="12" name="矩形 11"/>
          <p:cNvSpPr/>
          <p:nvPr/>
        </p:nvSpPr>
        <p:spPr>
          <a:xfrm>
            <a:off x="2080260" y="4759325"/>
            <a:ext cx="4754880" cy="17202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buClrTx/>
              <a:buSzTx/>
              <a:buFont typeface="Arial" panose="020B0604020202090204" pitchFamily="34" charset="0"/>
              <a:buChar char="•"/>
            </a:pPr>
            <a:r>
              <a:rPr lang="zh-CN" altLang="en-US" sz="1400">
                <a:solidFill>
                  <a:srgbClr val="660066"/>
                </a:solidFill>
                <a:cs typeface="Arial" panose="020B0604020202090204" pitchFamily="34" charset="0"/>
              </a:rPr>
              <a:t>selection</a:t>
            </a:r>
            <a:r>
              <a:rPr lang="zh-CN" altLang="en-US" sz="1400">
                <a:solidFill>
                  <a:schemeClr val="tx1"/>
                </a:solidFill>
                <a:cs typeface="Arial" panose="020B0604020202090204" pitchFamily="34" charset="0"/>
              </a:rPr>
              <a:t>对反事实估计存在明显的影响：一方面</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技能差异越大</a:t>
            </a:r>
            <a:r>
              <a:rPr lang="en-US" altLang="zh-CN" sz="1400">
                <a:solidFill>
                  <a:schemeClr val="tx1"/>
                </a:solidFill>
                <a:cs typeface="Arial" panose="020B0604020202090204" pitchFamily="34" charset="0"/>
              </a:rPr>
              <a:t>，</a:t>
            </a:r>
            <a:r>
              <a:rPr lang="en-US" altLang="zh-CN" sz="1400">
                <a:solidFill>
                  <a:srgbClr val="660066"/>
                </a:solidFill>
                <a:cs typeface="Arial" panose="020B0604020202090204" pitchFamily="34" charset="0"/>
              </a:rPr>
              <a:t>sorting</a:t>
            </a:r>
            <a:r>
              <a:rPr lang="zh-CN" altLang="en-US" sz="1400">
                <a:solidFill>
                  <a:schemeClr val="tx1"/>
                </a:solidFill>
                <a:cs typeface="Arial" panose="020B0604020202090204" pitchFamily="34" charset="0"/>
              </a:rPr>
              <a:t>带来的收益越大</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高技能的人去高回报的地点</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如果每一个新增移民赚得都比上一个少</a:t>
            </a:r>
            <a:r>
              <a:rPr lang="en-US" altLang="zh-CN" sz="1400">
                <a:solidFill>
                  <a:schemeClr val="tx1"/>
                </a:solidFill>
                <a:cs typeface="Arial" panose="020B0604020202090204" pitchFamily="34" charset="0"/>
              </a:rPr>
              <a:t>，selection</a:t>
            </a:r>
            <a:r>
              <a:rPr lang="zh-CN" altLang="en-US" sz="1400">
                <a:solidFill>
                  <a:schemeClr val="tx1"/>
                </a:solidFill>
                <a:cs typeface="Arial" panose="020B0604020202090204" pitchFamily="34" charset="0"/>
              </a:rPr>
              <a:t>可能会压低集聚带来的收益</a:t>
            </a:r>
            <a:r>
              <a:rPr lang="en-US" altLang="zh-CN" sz="1400">
                <a:solidFill>
                  <a:schemeClr val="tx1"/>
                </a:solidFill>
                <a:cs typeface="Arial" panose="020B0604020202090204" pitchFamily="34" charset="0"/>
              </a:rPr>
              <a:t>。</a:t>
            </a:r>
            <a:r>
              <a:rPr lang="zh-CN" altLang="en-US" sz="1400">
                <a:solidFill>
                  <a:srgbClr val="660066"/>
                </a:solidFill>
                <a:cs typeface="Arial" panose="020B0604020202090204" pitchFamily="34" charset="0"/>
              </a:rPr>
              <a:t>对于结果的高估</a:t>
            </a:r>
            <a:r>
              <a:rPr lang="en-US" altLang="zh-CN" sz="1400">
                <a:solidFill>
                  <a:srgbClr val="660066"/>
                </a:solidFill>
                <a:cs typeface="Arial" panose="020B0604020202090204" pitchFamily="34" charset="0"/>
              </a:rPr>
              <a:t>or</a:t>
            </a:r>
            <a:r>
              <a:rPr lang="zh-CN" altLang="en-US" sz="1400">
                <a:solidFill>
                  <a:srgbClr val="660066"/>
                </a:solidFill>
                <a:cs typeface="Arial" panose="020B0604020202090204" pitchFamily="34" charset="0"/>
              </a:rPr>
              <a:t>低估不确定</a:t>
            </a:r>
            <a:r>
              <a:rPr lang="en-US" altLang="zh-CN" sz="1400">
                <a:solidFill>
                  <a:srgbClr val="660066"/>
                </a:solidFill>
                <a:cs typeface="Arial" panose="020B0604020202090204" pitchFamily="34" charset="0"/>
              </a:rPr>
              <a:t>。</a:t>
            </a:r>
            <a:endParaRPr lang="zh-CN" altLang="en-US" sz="1400">
              <a:solidFill>
                <a:srgbClr val="660066"/>
              </a:solidFill>
              <a:cs typeface="Arial" panose="020B0604020202090204" pitchFamily="34" charset="0"/>
            </a:endParaRPr>
          </a:p>
          <a:p>
            <a:pPr marL="285750" indent="-285750" algn="l">
              <a:buClrTx/>
              <a:buSzTx/>
              <a:buFont typeface="Arial" panose="020B0604020202090204" pitchFamily="34" charset="0"/>
              <a:buChar char="•"/>
            </a:pPr>
            <a:r>
              <a:rPr lang="zh-CN" altLang="en-US" sz="1400">
                <a:solidFill>
                  <a:schemeClr val="tx1"/>
                </a:solidFill>
                <a:cs typeface="Arial" panose="020B0604020202090204" pitchFamily="34" charset="0"/>
              </a:rPr>
              <a:t>让</a:t>
            </a:r>
            <a:r>
              <a:rPr lang="en-US" altLang="zh-CN" sz="1400">
                <a:solidFill>
                  <a:schemeClr val="tx1"/>
                </a:solidFill>
                <a:cs typeface="Arial" panose="020B0604020202090204" pitchFamily="34" charset="0"/>
              </a:rPr>
              <a:t>selection</a:t>
            </a:r>
            <a:r>
              <a:rPr lang="zh-CN" altLang="en-US" sz="1400">
                <a:solidFill>
                  <a:schemeClr val="tx1"/>
                </a:solidFill>
                <a:cs typeface="Arial" panose="020B0604020202090204" pitchFamily="34" charset="0"/>
              </a:rPr>
              <a:t>不起作用后</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生产率将降低</a:t>
            </a:r>
            <a:r>
              <a:rPr lang="en-US" altLang="zh-CN" sz="1400">
                <a:solidFill>
                  <a:schemeClr val="tx1"/>
                </a:solidFill>
                <a:cs typeface="Arial" panose="020B0604020202090204" pitchFamily="34" charset="0"/>
              </a:rPr>
              <a:t>8%，</a:t>
            </a:r>
            <a:r>
              <a:rPr lang="zh-CN" altLang="en-US" sz="1400">
                <a:solidFill>
                  <a:schemeClr val="tx1"/>
                </a:solidFill>
                <a:cs typeface="Arial" panose="020B0604020202090204" pitchFamily="34" charset="0"/>
              </a:rPr>
              <a:t>忽略选择将导致收益的</a:t>
            </a:r>
            <a:r>
              <a:rPr lang="zh-CN" altLang="en-US" sz="1400">
                <a:solidFill>
                  <a:srgbClr val="660066"/>
                </a:solidFill>
                <a:cs typeface="Arial" panose="020B0604020202090204" pitchFamily="34" charset="0"/>
              </a:rPr>
              <a:t>低估</a:t>
            </a:r>
            <a:r>
              <a:rPr lang="en-US" altLang="zh-CN" sz="1400">
                <a:solidFill>
                  <a:schemeClr val="tx1"/>
                </a:solidFill>
                <a:cs typeface="Arial" panose="020B0604020202090204" pitchFamily="34" charset="0"/>
              </a:rPr>
              <a:t>，</a:t>
            </a:r>
            <a:r>
              <a:rPr lang="zh-CN" altLang="en-US" sz="1400">
                <a:solidFill>
                  <a:schemeClr val="tx1"/>
                </a:solidFill>
                <a:cs typeface="Arial" panose="020B0604020202090204" pitchFamily="34" charset="0"/>
              </a:rPr>
              <a:t>且说明了</a:t>
            </a:r>
            <a:r>
              <a:rPr lang="en-US" altLang="zh-CN" sz="1400">
                <a:solidFill>
                  <a:srgbClr val="660066"/>
                </a:solidFill>
                <a:cs typeface="Arial" panose="020B0604020202090204" pitchFamily="34" charset="0"/>
              </a:rPr>
              <a:t>sorting</a:t>
            </a:r>
            <a:r>
              <a:rPr lang="zh-CN" altLang="en-US" sz="1400">
                <a:solidFill>
                  <a:schemeClr val="tx1"/>
                </a:solidFill>
                <a:cs typeface="Arial" panose="020B0604020202090204" pitchFamily="34" charset="0"/>
              </a:rPr>
              <a:t>是消除迁移成本</a:t>
            </a:r>
            <a:r>
              <a:rPr lang="zh-CN" altLang="en-US" sz="1400">
                <a:solidFill>
                  <a:schemeClr val="tx1"/>
                </a:solidFill>
                <a:cs typeface="Arial" panose="020B0604020202090204" pitchFamily="34" charset="0"/>
              </a:rPr>
              <a:t>带来收益的</a:t>
            </a:r>
            <a:r>
              <a:rPr lang="zh-CN" altLang="en-US" sz="1400">
                <a:solidFill>
                  <a:schemeClr val="tx1"/>
                </a:solidFill>
                <a:cs typeface="Arial" panose="020B0604020202090204" pitchFamily="34" charset="0"/>
              </a:rPr>
              <a:t>主要来源</a:t>
            </a:r>
            <a:endParaRPr lang="zh-CN" altLang="en-US" sz="1400">
              <a:solidFill>
                <a:schemeClr val="tx1"/>
              </a:solidFill>
              <a:cs typeface="Arial" panose="020B0604020202090204" pitchFamily="34" charset="0"/>
            </a:endParaRPr>
          </a:p>
        </p:txBody>
      </p:sp>
      <p:sp>
        <p:nvSpPr>
          <p:cNvPr id="13" name="矩形 12"/>
          <p:cNvSpPr/>
          <p:nvPr/>
        </p:nvSpPr>
        <p:spPr>
          <a:xfrm>
            <a:off x="7035800" y="4752975"/>
            <a:ext cx="4534535" cy="17202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buFont typeface="Arial" panose="020B0604020202090204" pitchFamily="34" charset="0"/>
              <a:buChar char="•"/>
            </a:pPr>
            <a:r>
              <a:rPr lang="en-US" altLang="zh-CN" sz="1400">
                <a:solidFill>
                  <a:schemeClr val="tx1"/>
                </a:solidFill>
              </a:rPr>
              <a:t>A：</a:t>
            </a:r>
            <a:r>
              <a:rPr lang="en-US" altLang="zh-CN" sz="1400">
                <a:solidFill>
                  <a:schemeClr val="tx1"/>
                </a:solidFill>
                <a:cs typeface="Arial" panose="020B0604020202090204" pitchFamily="34" charset="0"/>
                <a:sym typeface="+mn-ea"/>
              </a:rPr>
              <a:t>κ</a:t>
            </a:r>
            <a:r>
              <a:rPr lang="zh-CN" altLang="en-US" sz="1400">
                <a:solidFill>
                  <a:schemeClr val="tx1"/>
                </a:solidFill>
                <a:cs typeface="Arial" panose="020B0604020202090204" pitchFamily="34" charset="0"/>
                <a:sym typeface="+mn-ea"/>
              </a:rPr>
              <a:t>从</a:t>
            </a:r>
            <a:r>
              <a:rPr lang="en-US" altLang="zh-CN" sz="1400">
                <a:solidFill>
                  <a:schemeClr val="tx1"/>
                </a:solidFill>
                <a:cs typeface="Arial" panose="020B0604020202090204" pitchFamily="34" charset="0"/>
                <a:sym typeface="+mn-ea"/>
              </a:rPr>
              <a:t>0</a:t>
            </a:r>
            <a:r>
              <a:rPr lang="zh-CN" altLang="en-US" sz="1400">
                <a:solidFill>
                  <a:schemeClr val="tx1"/>
                </a:solidFill>
                <a:cs typeface="Arial" panose="020B0604020202090204" pitchFamily="34" charset="0"/>
                <a:sym typeface="+mn-ea"/>
              </a:rPr>
              <a:t>上升到</a:t>
            </a:r>
            <a:r>
              <a:rPr lang="en-US" altLang="zh-CN" sz="1400">
                <a:solidFill>
                  <a:schemeClr val="tx1"/>
                </a:solidFill>
                <a:cs typeface="Arial" panose="020B0604020202090204" pitchFamily="34" charset="0"/>
                <a:sym typeface="+mn-ea"/>
              </a:rPr>
              <a:t>1（</a:t>
            </a:r>
            <a:r>
              <a:rPr lang="zh-CN" altLang="en-US" sz="1400">
                <a:solidFill>
                  <a:schemeClr val="tx1"/>
                </a:solidFill>
                <a:cs typeface="Arial" panose="020B0604020202090204" pitchFamily="34" charset="0"/>
                <a:sym typeface="+mn-ea"/>
              </a:rPr>
              <a:t>从不消除到完全消除迁移成本</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总产出的变动呈现出</a:t>
            </a:r>
            <a:r>
              <a:rPr lang="zh-CN" altLang="en-US" sz="1400">
                <a:solidFill>
                  <a:srgbClr val="660066"/>
                </a:solidFill>
                <a:cs typeface="Arial" panose="020B0604020202090204" pitchFamily="34" charset="0"/>
                <a:sym typeface="+mn-ea"/>
              </a:rPr>
              <a:t>倒</a:t>
            </a:r>
            <a:r>
              <a:rPr lang="en-US" altLang="zh-CN" sz="1400">
                <a:solidFill>
                  <a:srgbClr val="660066"/>
                </a:solidFill>
                <a:cs typeface="Arial" panose="020B0604020202090204" pitchFamily="34" charset="0"/>
                <a:sym typeface="+mn-ea"/>
              </a:rPr>
              <a:t>U</a:t>
            </a:r>
            <a:r>
              <a:rPr lang="zh-CN" altLang="en-US" sz="1400">
                <a:solidFill>
                  <a:srgbClr val="660066"/>
                </a:solidFill>
                <a:cs typeface="Arial" panose="020B0604020202090204" pitchFamily="34" charset="0"/>
                <a:sym typeface="+mn-ea"/>
              </a:rPr>
              <a:t>形</a:t>
            </a:r>
            <a:endParaRPr lang="zh-CN" altLang="en-US" sz="1400">
              <a:solidFill>
                <a:schemeClr val="tx1"/>
              </a:solidFill>
              <a:cs typeface="Arial" panose="020B0604020202090204" pitchFamily="34" charset="0"/>
              <a:sym typeface="+mn-ea"/>
            </a:endParaRPr>
          </a:p>
          <a:p>
            <a:pPr marL="285750" indent="-285750" algn="l">
              <a:buFont typeface="Arial" panose="020B0604020202090204" pitchFamily="34" charset="0"/>
              <a:buChar char="•"/>
            </a:pPr>
            <a:r>
              <a:rPr lang="zh-CN" altLang="en-US" sz="1400">
                <a:solidFill>
                  <a:schemeClr val="tx1"/>
                </a:solidFill>
                <a:cs typeface="Arial" panose="020B0604020202090204" pitchFamily="34" charset="0"/>
                <a:sym typeface="+mn-ea"/>
              </a:rPr>
              <a:t>解释</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减少摩擦会让工人从</a:t>
            </a:r>
            <a:r>
              <a:rPr lang="zh-CN" altLang="en-US" sz="1400">
                <a:solidFill>
                  <a:srgbClr val="660066"/>
                </a:solidFill>
                <a:cs typeface="Arial" panose="020B0604020202090204" pitchFamily="34" charset="0"/>
                <a:sym typeface="+mn-ea"/>
              </a:rPr>
              <a:t>高生产率 — 低宜居度</a:t>
            </a:r>
            <a:r>
              <a:rPr lang="zh-CN" altLang="en-US" sz="1400">
                <a:solidFill>
                  <a:schemeClr val="tx1"/>
                </a:solidFill>
                <a:cs typeface="Arial" panose="020B0604020202090204" pitchFamily="34" charset="0"/>
                <a:sym typeface="+mn-ea"/>
              </a:rPr>
              <a:t>地区流向</a:t>
            </a:r>
            <a:r>
              <a:rPr lang="zh-CN" altLang="en-US" sz="1400">
                <a:solidFill>
                  <a:srgbClr val="660066"/>
                </a:solidFill>
                <a:cs typeface="Arial" panose="020B0604020202090204" pitchFamily="34" charset="0"/>
                <a:sym typeface="+mn-ea"/>
              </a:rPr>
              <a:t>低生产率 — 高宜居度</a:t>
            </a:r>
            <a:r>
              <a:rPr lang="zh-CN" altLang="en-US" sz="1400">
                <a:solidFill>
                  <a:schemeClr val="tx1"/>
                </a:solidFill>
                <a:cs typeface="Arial" panose="020B0604020202090204" pitchFamily="34" charset="0"/>
                <a:sym typeface="+mn-ea"/>
              </a:rPr>
              <a:t>地区</a:t>
            </a:r>
            <a:r>
              <a:rPr lang="en-US" altLang="zh-CN" sz="1400">
                <a:solidFill>
                  <a:schemeClr val="tx1"/>
                </a:solidFill>
                <a:cs typeface="Arial" panose="020B0604020202090204" pitchFamily="34" charset="0"/>
                <a:sym typeface="+mn-ea"/>
              </a:rPr>
              <a:t>，</a:t>
            </a:r>
            <a:r>
              <a:rPr lang="zh-CN" altLang="en-US" sz="1400">
                <a:solidFill>
                  <a:schemeClr val="tx1"/>
                </a:solidFill>
                <a:cs typeface="Arial" panose="020B0604020202090204" pitchFamily="34" charset="0"/>
                <a:sym typeface="+mn-ea"/>
              </a:rPr>
              <a:t>产出反而</a:t>
            </a:r>
            <a:r>
              <a:rPr lang="zh-CN" altLang="en-US" sz="1400">
                <a:solidFill>
                  <a:schemeClr val="tx1"/>
                </a:solidFill>
                <a:cs typeface="Arial" panose="020B0604020202090204" pitchFamily="34" charset="0"/>
                <a:sym typeface="+mn-ea"/>
              </a:rPr>
              <a:t>下降</a:t>
            </a:r>
            <a:endParaRPr lang="zh-CN" altLang="en-US" sz="1400">
              <a:solidFill>
                <a:schemeClr val="tx1"/>
              </a:solidFill>
              <a:cs typeface="Arial" panose="020B0604020202090204" pitchFamily="34" charset="0"/>
              <a:sym typeface="+mn-ea"/>
            </a:endParaRPr>
          </a:p>
          <a:p>
            <a:pPr marL="285750" indent="-285750" algn="l">
              <a:buFont typeface="Arial" panose="020B0604020202090204" pitchFamily="34" charset="0"/>
              <a:buChar char="•"/>
            </a:pPr>
            <a:r>
              <a:rPr lang="zh-CN" altLang="en-US" sz="1400">
                <a:solidFill>
                  <a:schemeClr val="tx1"/>
                </a:solidFill>
                <a:cs typeface="Arial" panose="020B0604020202090204" pitchFamily="34" charset="0"/>
                <a:sym typeface="+mn-ea"/>
              </a:rPr>
              <a:t>对于印尼</a:t>
            </a:r>
            <a:r>
              <a:rPr lang="zh-CN" altLang="en-US" sz="1400">
                <a:solidFill>
                  <a:schemeClr val="tx1"/>
                </a:solidFill>
                <a:cs typeface="Arial" panose="020B0604020202090204" pitchFamily="34" charset="0"/>
                <a:sym typeface="+mn-ea"/>
              </a:rPr>
              <a:t>而言，这种负效应要到迁移成本降得低于美国水平才出现</a:t>
            </a:r>
            <a:endParaRPr lang="zh-CN" altLang="en-US" sz="1400">
              <a:solidFill>
                <a:schemeClr val="tx1"/>
              </a:solidFill>
              <a:cs typeface="Arial" panose="020B0604020202090204" pitchFamily="34" charset="0"/>
              <a:sym typeface="+mn-ea"/>
            </a:endParaRPr>
          </a:p>
        </p:txBody>
      </p:sp>
      <p:sp>
        <p:nvSpPr>
          <p:cNvPr id="15" name="矩形 14"/>
          <p:cNvSpPr/>
          <p:nvPr/>
        </p:nvSpPr>
        <p:spPr>
          <a:xfrm>
            <a:off x="7584440" y="2960370"/>
            <a:ext cx="1168400" cy="172021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p:sp>
        <p:nvSpPr>
          <p:cNvPr id="6" name="Rectangle 1"/>
          <p:cNvSpPr>
            <a:spLocks noChangeArrowheads="1"/>
          </p:cNvSpPr>
          <p:nvPr/>
        </p:nvSpPr>
        <p:spPr bwMode="auto">
          <a:xfrm>
            <a:off x="3260725" y="2027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sym typeface="+mn-ea"/>
                  </a:rPr>
                  <a:t>反事实结果</a:t>
                </a:r>
                <a:r>
                  <a:rPr lang="en-US" altLang="zh-CN" sz="2800" b="1" dirty="0">
                    <a:latin typeface="+mn-lt"/>
                    <a:sym typeface="+mn-ea"/>
                  </a:rPr>
                  <a:t>2：</a:t>
                </a:r>
                <a:r>
                  <a:rPr lang="zh-CN" altLang="en-US" sz="2800" b="1" dirty="0">
                    <a:latin typeface="+mn-lt"/>
                  </a:rPr>
                  <a:t>减少宜居度差异</a:t>
                </a:r>
                <a:r>
                  <a:rPr lang="en-US" altLang="zh-CN" sz="2800" b="1" dirty="0">
                    <a:latin typeface="+mn-lt"/>
                  </a:rPr>
                  <a:t>（</a:t>
                </a:r>
                <a:r>
                  <a:rPr lang="zh-CN" altLang="en-US" sz="2800" b="1" dirty="0">
                    <a:latin typeface="+mn-lt"/>
                  </a:rPr>
                  <a:t>均等化</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𝜶</m:t>
                        </m:r>
                      </m:e>
                      <m:sub>
                        <m:r>
                          <a:rPr lang="en-US" altLang="zh-CN" sz="2800" b="1" i="1" dirty="0">
                            <a:latin typeface="DejaVu Math TeX Gyre" panose="02000503000000000000" charset="0"/>
                            <a:cs typeface="DejaVu Math TeX Gyre" panose="02000503000000000000" charset="0"/>
                          </a:rPr>
                          <m:t>𝒅</m:t>
                        </m:r>
                      </m:sub>
                    </m:sSub>
                    <m:r>
                      <a:rPr lang="en-US" altLang="zh-CN" sz="2800" b="1" i="1" dirty="0">
                        <a:latin typeface="DejaVu Math TeX Gyre" panose="02000503000000000000" charset="0"/>
                        <a:cs typeface="DejaVu Math TeX Gyre" panose="02000503000000000000" charset="0"/>
                      </a:rPr>
                      <m:t>）</m:t>
                    </m:r>
                  </m:oMath>
                </a14:m>
                <a:endParaRPr lang="en-US" altLang="zh-CN"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144" y="350986"/>
                <a:ext cx="8294008" cy="720428"/>
              </a:xfrm>
              <a:blipFill rotWithShape="1">
                <a:blip r:embed="rId1"/>
                <a:stretch>
                  <a:fillRect l="-2" t="-65" r="5" b="23"/>
                </a:stretch>
              </a:blipFill>
            </p:spPr>
            <p:txBody>
              <a:bodyPr/>
              <a:lstStyle/>
              <a:p>
                <a:r>
                  <a:rPr lang="zh-CN" altLang="en-US">
                    <a:noFill/>
                  </a:rPr>
                  <a:t> </a:t>
                </a:r>
              </a:p>
            </p:txBody>
          </p:sp>
        </mc:Fallback>
      </mc:AlternateContent>
      <p:pic>
        <p:nvPicPr>
          <p:cNvPr id="9" name="图片 8"/>
          <p:cNvPicPr>
            <a:picLocks noChangeAspect="1"/>
          </p:cNvPicPr>
          <p:nvPr/>
        </p:nvPicPr>
        <p:blipFill>
          <a:blip r:embed="rId2"/>
          <a:stretch>
            <a:fillRect/>
          </a:stretch>
        </p:blipFill>
        <p:spPr>
          <a:xfrm>
            <a:off x="2080260" y="1831975"/>
            <a:ext cx="4722495" cy="1082040"/>
          </a:xfrm>
          <a:prstGeom prst="rect">
            <a:avLst/>
          </a:prstGeom>
        </p:spPr>
      </p:pic>
      <p:pic>
        <p:nvPicPr>
          <p:cNvPr id="11" name="图片 10"/>
          <p:cNvPicPr>
            <a:picLocks noChangeAspect="1"/>
          </p:cNvPicPr>
          <p:nvPr/>
        </p:nvPicPr>
        <p:blipFill>
          <a:blip r:embed="rId3"/>
          <a:stretch>
            <a:fillRect/>
          </a:stretch>
        </p:blipFill>
        <p:spPr>
          <a:xfrm>
            <a:off x="2593340" y="3441065"/>
            <a:ext cx="3696291" cy="1993972"/>
          </a:xfrm>
          <a:prstGeom prst="rect">
            <a:avLst/>
          </a:prstGeom>
        </p:spPr>
      </p:pic>
      <p:sp>
        <p:nvSpPr>
          <p:cNvPr id="21" name="矩形 20"/>
          <p:cNvSpPr/>
          <p:nvPr/>
        </p:nvSpPr>
        <p:spPr>
          <a:xfrm>
            <a:off x="4447134" y="2150952"/>
            <a:ext cx="1118353" cy="763063"/>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001135" y="3674745"/>
            <a:ext cx="881380" cy="152146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7"/>
          <p:cNvSpPr/>
          <p:nvPr/>
        </p:nvSpPr>
        <p:spPr>
          <a:xfrm>
            <a:off x="7035800" y="1831340"/>
            <a:ext cx="4534535" cy="360362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lnSpc>
                <a:spcPct val="150000"/>
              </a:lnSpc>
              <a:buFont typeface="Arial" panose="020B0604020202090204" pitchFamily="34" charset="0"/>
              <a:buChar char="•"/>
            </a:pPr>
            <a:r>
              <a:rPr lang="zh-CN" altLang="en-US">
                <a:solidFill>
                  <a:schemeClr val="tx1"/>
                </a:solidFill>
                <a:sym typeface="+mn-ea"/>
              </a:rPr>
              <a:t>均等化各地的宜居度后</a:t>
            </a:r>
            <a:r>
              <a:rPr lang="en-US" altLang="zh-CN">
                <a:solidFill>
                  <a:schemeClr val="tx1"/>
                </a:solidFill>
                <a:sym typeface="+mn-ea"/>
              </a:rPr>
              <a:t>，</a:t>
            </a:r>
            <a:r>
              <a:rPr lang="zh-CN" altLang="en-US">
                <a:solidFill>
                  <a:schemeClr val="tx1"/>
                </a:solidFill>
                <a:sym typeface="+mn-ea"/>
              </a:rPr>
              <a:t>平均而言会带来</a:t>
            </a:r>
            <a:r>
              <a:rPr lang="zh-CN" altLang="en-US" b="1">
                <a:solidFill>
                  <a:srgbClr val="660066"/>
                </a:solidFill>
                <a:latin typeface="Times New Roman" panose="02020503050405090304" pitchFamily="18" charset="0"/>
                <a:cs typeface="Times New Roman" panose="02020503050405090304" pitchFamily="18" charset="0"/>
                <a:sym typeface="+mn-ea"/>
              </a:rPr>
              <a:t>12.7%</a:t>
            </a:r>
            <a:r>
              <a:rPr lang="zh-CN" altLang="en-US">
                <a:solidFill>
                  <a:schemeClr val="tx1"/>
                </a:solidFill>
                <a:sym typeface="+mn-ea"/>
              </a:rPr>
              <a:t>的产出提升</a:t>
            </a:r>
            <a:r>
              <a:rPr lang="en-US" altLang="zh-CN">
                <a:solidFill>
                  <a:schemeClr val="tx1"/>
                </a:solidFill>
                <a:sym typeface="+mn-ea"/>
              </a:rPr>
              <a:t>，</a:t>
            </a:r>
            <a:r>
              <a:rPr lang="zh-CN" altLang="en-US">
                <a:solidFill>
                  <a:schemeClr val="tx1"/>
                </a:solidFill>
                <a:sym typeface="+mn-ea"/>
              </a:rPr>
              <a:t>且对于不同的来源地</a:t>
            </a:r>
            <a:r>
              <a:rPr lang="en-US" altLang="zh-CN">
                <a:solidFill>
                  <a:schemeClr val="tx1"/>
                </a:solidFill>
                <a:sym typeface="+mn-ea"/>
              </a:rPr>
              <a:t>，</a:t>
            </a:r>
            <a:r>
              <a:rPr lang="zh-CN" altLang="en-US">
                <a:solidFill>
                  <a:schemeClr val="tx1"/>
                </a:solidFill>
                <a:sym typeface="+mn-ea"/>
              </a:rPr>
              <a:t>这一收益存在异质性</a:t>
            </a:r>
            <a:r>
              <a:rPr lang="en-US" altLang="zh-CN">
                <a:solidFill>
                  <a:schemeClr val="tx1"/>
                </a:solidFill>
                <a:sym typeface="+mn-ea"/>
              </a:rPr>
              <a:t>。</a:t>
            </a:r>
            <a:endParaRPr lang="en-US" altLang="zh-CN">
              <a:solidFill>
                <a:schemeClr val="tx1"/>
              </a:solidFill>
              <a:sym typeface="+mn-ea"/>
            </a:endParaRPr>
          </a:p>
          <a:p>
            <a:pPr marL="285750" indent="-285750">
              <a:lnSpc>
                <a:spcPct val="150000"/>
              </a:lnSpc>
              <a:buFont typeface="Arial" panose="020B0604020202090204" pitchFamily="34" charset="0"/>
              <a:buChar char="•"/>
            </a:pPr>
            <a:r>
              <a:rPr lang="zh-CN" altLang="en-US">
                <a:solidFill>
                  <a:schemeClr val="tx1"/>
                </a:solidFill>
                <a:sym typeface="+mn-ea"/>
              </a:rPr>
              <a:t>选择不起作用时</a:t>
            </a:r>
            <a:r>
              <a:rPr lang="en-US" altLang="zh-CN">
                <a:solidFill>
                  <a:schemeClr val="tx1"/>
                </a:solidFill>
                <a:sym typeface="+mn-ea"/>
              </a:rPr>
              <a:t>，</a:t>
            </a:r>
            <a:r>
              <a:rPr lang="zh-CN" altLang="en-US">
                <a:solidFill>
                  <a:schemeClr val="tx1"/>
                </a:solidFill>
                <a:sym typeface="+mn-ea"/>
              </a:rPr>
              <a:t>收益几乎没有发生变化</a:t>
            </a:r>
            <a:r>
              <a:rPr lang="en-US" altLang="zh-CN">
                <a:solidFill>
                  <a:schemeClr val="tx1"/>
                </a:solidFill>
                <a:sym typeface="+mn-ea"/>
              </a:rPr>
              <a:t>（</a:t>
            </a:r>
            <a:r>
              <a:rPr lang="zh-CN" altLang="en-US">
                <a:solidFill>
                  <a:schemeClr val="tx1"/>
                </a:solidFill>
                <a:sym typeface="+mn-ea"/>
              </a:rPr>
              <a:t>仍然为</a:t>
            </a:r>
            <a:r>
              <a:rPr lang="en-US" altLang="zh-CN">
                <a:solidFill>
                  <a:schemeClr val="tx1"/>
                </a:solidFill>
                <a:sym typeface="+mn-ea"/>
              </a:rPr>
              <a:t>12.7%），</a:t>
            </a:r>
            <a:r>
              <a:rPr lang="zh-CN" altLang="en-US">
                <a:solidFill>
                  <a:schemeClr val="tx1"/>
                </a:solidFill>
                <a:sym typeface="+mn-ea"/>
              </a:rPr>
              <a:t>说明忽略</a:t>
            </a:r>
            <a:r>
              <a:rPr lang="en-US" altLang="zh-CN">
                <a:solidFill>
                  <a:schemeClr val="tx1"/>
                </a:solidFill>
                <a:sym typeface="+mn-ea"/>
              </a:rPr>
              <a:t>selection</a:t>
            </a:r>
            <a:r>
              <a:rPr lang="zh-CN" altLang="en-US">
                <a:solidFill>
                  <a:schemeClr val="tx1"/>
                </a:solidFill>
                <a:sym typeface="+mn-ea"/>
              </a:rPr>
              <a:t>会</a:t>
            </a:r>
            <a:r>
              <a:rPr lang="zh-CN" altLang="en-US" b="1">
                <a:solidFill>
                  <a:srgbClr val="660066"/>
                </a:solidFill>
                <a:sym typeface="+mn-ea"/>
              </a:rPr>
              <a:t>高估集聚带来的收益提升</a:t>
            </a:r>
            <a:r>
              <a:rPr lang="en-US" altLang="zh-CN" b="1">
                <a:solidFill>
                  <a:srgbClr val="660066"/>
                </a:solidFill>
                <a:sym typeface="+mn-ea"/>
              </a:rPr>
              <a:t>。</a:t>
            </a:r>
            <a:endParaRPr lang="en-US" altLang="zh-CN" b="1">
              <a:solidFill>
                <a:srgbClr val="660066"/>
              </a:solidFill>
              <a:sym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p:sp>
        <p:nvSpPr>
          <p:cNvPr id="6" name="Rectangle 1"/>
          <p:cNvSpPr>
            <a:spLocks noChangeArrowheads="1"/>
          </p:cNvSpPr>
          <p:nvPr/>
        </p:nvSpPr>
        <p:spPr bwMode="auto">
          <a:xfrm>
            <a:off x="3260725" y="2027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sym typeface="+mn-ea"/>
                  </a:rPr>
                  <a:t>反事实结果</a:t>
                </a:r>
                <a:r>
                  <a:rPr lang="en-US" altLang="zh-CN" sz="2800" b="1" dirty="0">
                    <a:latin typeface="+mn-lt"/>
                    <a:sym typeface="+mn-ea"/>
                  </a:rPr>
                  <a:t>3：</a:t>
                </a:r>
                <a:r>
                  <a:rPr lang="zh-CN" altLang="en-US" sz="2800" b="1" dirty="0">
                    <a:latin typeface="+mn-lt"/>
                  </a:rPr>
                  <a:t>同时消除两类阻力</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𝝉</m:t>
                        </m:r>
                      </m:e>
                      <m:sub>
                        <m:r>
                          <a:rPr lang="en-US" altLang="zh-CN" sz="2800" b="1" i="1" dirty="0">
                            <a:latin typeface="DejaVu Math TeX Gyre" panose="02000503000000000000" charset="0"/>
                            <a:cs typeface="DejaVu Math TeX Gyre" panose="02000503000000000000" charset="0"/>
                          </a:rPr>
                          <m:t>𝒐𝒅</m:t>
                        </m:r>
                      </m:sub>
                    </m:sSub>
                  </m:oMath>
                </a14:m>
                <a:r>
                  <a:rPr lang="en-US" altLang="zh-CN" sz="2800" b="1" dirty="0">
                    <a:latin typeface="+mn-lt"/>
                  </a:rPr>
                  <a:t>、</a:t>
                </a:r>
                <a14:m>
                  <m:oMath xmlns:m="http://schemas.openxmlformats.org/officeDocument/2006/math">
                    <m:sSub>
                      <m:sSubPr>
                        <m:ctrlPr>
                          <a:rPr lang="en-US" altLang="zh-CN" sz="2800" b="1" i="1" dirty="0">
                            <a:latin typeface="DejaVu Math TeX Gyre" panose="02000503000000000000" charset="0"/>
                            <a:cs typeface="DejaVu Math TeX Gyre" panose="02000503000000000000" charset="0"/>
                          </a:rPr>
                        </m:ctrlPr>
                      </m:sSubPr>
                      <m:e>
                        <m:r>
                          <a:rPr lang="en-US" altLang="zh-CN" sz="2800" b="1" i="1" dirty="0">
                            <a:latin typeface="DejaVu Math TeX Gyre" panose="02000503000000000000" charset="0"/>
                            <a:cs typeface="DejaVu Math TeX Gyre" panose="02000503000000000000" charset="0"/>
                          </a:rPr>
                          <m:t>𝜶</m:t>
                        </m:r>
                      </m:e>
                      <m:sub>
                        <m:r>
                          <a:rPr lang="en-US" altLang="zh-CN" sz="2800" b="1" i="1" dirty="0">
                            <a:latin typeface="DejaVu Math TeX Gyre" panose="02000503000000000000" charset="0"/>
                            <a:cs typeface="DejaVu Math TeX Gyre" panose="02000503000000000000" charset="0"/>
                          </a:rPr>
                          <m:t>𝒅</m:t>
                        </m:r>
                      </m:sub>
                    </m:sSub>
                  </m:oMath>
                </a14:m>
                <a:endParaRPr lang="en-US" altLang="zh-CN" sz="2800" b="1" dirty="0">
                  <a:latin typeface="+mn-lt"/>
                </a:endParaRPr>
              </a:p>
            </p:txBody>
          </p:sp>
        </mc:Choice>
        <mc:Fallback>
          <p:sp>
            <p:nvSpPr>
              <p:cNvPr id="7" name="标题 6"/>
              <p:cNvSpPr>
                <a:spLocks noRot="1" noChangeAspect="1" noMove="1" noResize="1" noEditPoints="1" noAdjustHandles="1" noChangeArrowheads="1" noChangeShapeType="1" noTextEdit="1"/>
              </p:cNvSpPr>
              <p:nvPr>
                <p:ph type="title" idx="4294967295"/>
              </p:nvPr>
            </p:nvSpPr>
            <p:spPr>
              <a:xfrm>
                <a:off x="2493144" y="350986"/>
                <a:ext cx="8294008" cy="720428"/>
              </a:xfrm>
              <a:blipFill rotWithShape="1">
                <a:blip r:embed="rId1"/>
                <a:stretch>
                  <a:fillRect l="-2" t="-65" r="5" b="23"/>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2080260" y="1831975"/>
            <a:ext cx="4722495" cy="1082040"/>
          </a:xfrm>
          <a:prstGeom prst="rect">
            <a:avLst/>
          </a:prstGeom>
        </p:spPr>
      </p:pic>
      <p:sp>
        <p:nvSpPr>
          <p:cNvPr id="21" name="矩形 20"/>
          <p:cNvSpPr/>
          <p:nvPr/>
        </p:nvSpPr>
        <p:spPr>
          <a:xfrm>
            <a:off x="5736184" y="2150952"/>
            <a:ext cx="1118353" cy="763063"/>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a:stretch>
            <a:fillRect/>
          </a:stretch>
        </p:blipFill>
        <p:spPr>
          <a:xfrm>
            <a:off x="2593340" y="3441065"/>
            <a:ext cx="3696291" cy="1993972"/>
          </a:xfrm>
          <a:prstGeom prst="rect">
            <a:avLst/>
          </a:prstGeom>
        </p:spPr>
      </p:pic>
      <p:sp>
        <p:nvSpPr>
          <p:cNvPr id="10" name="矩形 9"/>
          <p:cNvSpPr/>
          <p:nvPr/>
        </p:nvSpPr>
        <p:spPr>
          <a:xfrm>
            <a:off x="5347335" y="3674745"/>
            <a:ext cx="881380" cy="152146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7"/>
          <p:cNvSpPr/>
          <p:nvPr/>
        </p:nvSpPr>
        <p:spPr>
          <a:xfrm>
            <a:off x="7035800" y="1831340"/>
            <a:ext cx="4534535" cy="360362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marL="285750" indent="-285750">
              <a:lnSpc>
                <a:spcPct val="150000"/>
              </a:lnSpc>
              <a:buFont typeface="Arial" panose="020B0604020202090204" pitchFamily="34" charset="0"/>
              <a:buChar char="•"/>
            </a:pPr>
            <a:r>
              <a:rPr lang="zh-CN" altLang="en-US">
                <a:solidFill>
                  <a:schemeClr val="tx1"/>
                </a:solidFill>
                <a:sym typeface="+mn-ea"/>
              </a:rPr>
              <a:t>同时消除两类障碍后</a:t>
            </a:r>
            <a:r>
              <a:rPr lang="en-US" altLang="zh-CN">
                <a:solidFill>
                  <a:schemeClr val="tx1"/>
                </a:solidFill>
                <a:sym typeface="+mn-ea"/>
              </a:rPr>
              <a:t>，</a:t>
            </a:r>
            <a:r>
              <a:rPr lang="zh-CN" altLang="en-US">
                <a:solidFill>
                  <a:schemeClr val="tx1"/>
                </a:solidFill>
                <a:sym typeface="+mn-ea"/>
              </a:rPr>
              <a:t>平均而言会带来</a:t>
            </a:r>
            <a:r>
              <a:rPr lang="zh-CN" altLang="en-US" b="1">
                <a:solidFill>
                  <a:srgbClr val="660066"/>
                </a:solidFill>
                <a:latin typeface="Times New Roman" panose="02020503050405090304" pitchFamily="18" charset="0"/>
                <a:cs typeface="Times New Roman" panose="02020503050405090304" pitchFamily="18" charset="0"/>
                <a:sym typeface="+mn-ea"/>
              </a:rPr>
              <a:t>21.7%</a:t>
            </a:r>
            <a:r>
              <a:rPr lang="zh-CN" altLang="en-US">
                <a:solidFill>
                  <a:schemeClr val="tx1"/>
                </a:solidFill>
                <a:sym typeface="+mn-ea"/>
              </a:rPr>
              <a:t>的产出提升，</a:t>
            </a:r>
            <a:r>
              <a:rPr lang="zh-CN" altLang="en-US">
                <a:solidFill>
                  <a:schemeClr val="tx1"/>
                </a:solidFill>
                <a:sym typeface="+mn-ea"/>
              </a:rPr>
              <a:t>获益最多的迁出地将出现 104% 的工资涨幅</a:t>
            </a:r>
            <a:endParaRPr lang="zh-CN" altLang="en-US">
              <a:solidFill>
                <a:schemeClr val="tx1"/>
              </a:solidFill>
            </a:endParaRPr>
          </a:p>
          <a:p>
            <a:pPr marL="285750" indent="-285750">
              <a:lnSpc>
                <a:spcPct val="150000"/>
              </a:lnSpc>
              <a:buFont typeface="Arial" panose="020B0604020202090204" pitchFamily="34" charset="0"/>
              <a:buChar char="•"/>
            </a:pPr>
            <a:r>
              <a:rPr lang="zh-CN" altLang="en-US" b="1">
                <a:solidFill>
                  <a:srgbClr val="660066"/>
                </a:solidFill>
                <a:sym typeface="+mn-ea"/>
              </a:rPr>
              <a:t>两类政策存在弱替代</a:t>
            </a:r>
            <a:r>
              <a:rPr lang="en-US" altLang="zh-CN" b="1">
                <a:solidFill>
                  <a:srgbClr val="660066"/>
                </a:solidFill>
                <a:sym typeface="+mn-ea"/>
              </a:rPr>
              <a:t>：</a:t>
            </a:r>
            <a:r>
              <a:rPr lang="zh-CN" altLang="en-US">
                <a:solidFill>
                  <a:schemeClr val="tx1"/>
                </a:solidFill>
                <a:sym typeface="+mn-ea"/>
              </a:rPr>
              <a:t>同时降低两类障碍的总效应略小于的效应之和</a:t>
            </a:r>
            <a:r>
              <a:rPr lang="en-US" altLang="zh-CN">
                <a:solidFill>
                  <a:schemeClr val="tx1"/>
                </a:solidFill>
                <a:sym typeface="+mn-ea"/>
              </a:rPr>
              <a:t>。</a:t>
            </a:r>
            <a:endParaRPr lang="en-US" altLang="zh-CN">
              <a:solidFill>
                <a:schemeClr val="tx1"/>
              </a:solidFill>
              <a:sym typeface="+mn-ea"/>
            </a:endParaRPr>
          </a:p>
          <a:p>
            <a:pPr marL="285750" indent="-285750">
              <a:lnSpc>
                <a:spcPct val="150000"/>
              </a:lnSpc>
              <a:buFont typeface="Arial" panose="020B0604020202090204" pitchFamily="34" charset="0"/>
              <a:buChar char="•"/>
            </a:pPr>
            <a:r>
              <a:rPr lang="zh-CN" altLang="en-US" b="1">
                <a:solidFill>
                  <a:srgbClr val="660066"/>
                </a:solidFill>
                <a:sym typeface="+mn-ea"/>
              </a:rPr>
              <a:t>此时仍然不能忽略</a:t>
            </a:r>
            <a:r>
              <a:rPr lang="en-US" altLang="zh-CN" b="1">
                <a:solidFill>
                  <a:srgbClr val="660066"/>
                </a:solidFill>
                <a:sym typeface="+mn-ea"/>
              </a:rPr>
              <a:t>selection：</a:t>
            </a:r>
            <a:r>
              <a:rPr lang="zh-CN" altLang="en-US">
                <a:solidFill>
                  <a:schemeClr val="tx1"/>
                </a:solidFill>
                <a:sym typeface="+mn-ea"/>
              </a:rPr>
              <a:t>如果没有考虑</a:t>
            </a:r>
            <a:r>
              <a:rPr lang="en-US" altLang="zh-CN">
                <a:solidFill>
                  <a:schemeClr val="tx1"/>
                </a:solidFill>
                <a:sym typeface="+mn-ea"/>
              </a:rPr>
              <a:t>selection，</a:t>
            </a:r>
            <a:r>
              <a:rPr lang="zh-CN" altLang="en-US">
                <a:solidFill>
                  <a:schemeClr val="tx1"/>
                </a:solidFill>
                <a:sym typeface="+mn-ea"/>
              </a:rPr>
              <a:t>将会低估约</a:t>
            </a:r>
            <a:r>
              <a:rPr lang="en-US" altLang="zh-CN">
                <a:solidFill>
                  <a:schemeClr val="tx1"/>
                </a:solidFill>
                <a:sym typeface="+mn-ea"/>
              </a:rPr>
              <a:t>40%</a:t>
            </a:r>
            <a:r>
              <a:rPr lang="zh-CN" altLang="en-US">
                <a:solidFill>
                  <a:schemeClr val="tx1"/>
                </a:solidFill>
                <a:sym typeface="+mn-ea"/>
              </a:rPr>
              <a:t>的收入效应</a:t>
            </a:r>
            <a:r>
              <a:rPr lang="en-US" altLang="zh-CN">
                <a:solidFill>
                  <a:schemeClr val="tx1"/>
                </a:solidFill>
                <a:sym typeface="+mn-ea"/>
              </a:rPr>
              <a:t>（1-13.3%/21.7%=38.71%）</a:t>
            </a:r>
            <a:endParaRPr lang="en-US" altLang="zh-CN" kern="100" dirty="0">
              <a:solidFill>
                <a:schemeClr val="tx1"/>
              </a:solidFill>
              <a:effectLst/>
              <a:latin typeface="Times New Roman" panose="02020503050405090304" pitchFamily="18" charset="0"/>
              <a:sym typeface="+mn-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p:sp>
        <p:nvSpPr>
          <p:cNvPr id="6" name="Rectangle 1"/>
          <p:cNvSpPr>
            <a:spLocks noChangeArrowheads="1"/>
          </p:cNvSpPr>
          <p:nvPr/>
        </p:nvSpPr>
        <p:spPr bwMode="auto">
          <a:xfrm>
            <a:off x="3260725" y="2027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sym typeface="+mn-ea"/>
              </a:rPr>
              <a:t>反事实结果</a:t>
            </a:r>
            <a:r>
              <a:rPr lang="en-US" altLang="zh-CN" sz="2800" b="1" dirty="0">
                <a:latin typeface="+mn-lt"/>
                <a:sym typeface="+mn-ea"/>
              </a:rPr>
              <a:t>：</a:t>
            </a:r>
            <a:r>
              <a:rPr lang="zh-CN" altLang="en-US" sz="2800" b="1" dirty="0">
                <a:latin typeface="+mn-lt"/>
              </a:rPr>
              <a:t>异质性</a:t>
            </a:r>
            <a:r>
              <a:rPr lang="zh-CN" altLang="en-US" sz="2800" b="1" dirty="0">
                <a:latin typeface="+mn-lt"/>
              </a:rPr>
              <a:t>讨论</a:t>
            </a:r>
            <a:endParaRPr lang="zh-CN" altLang="en-US" sz="2800" b="1" dirty="0">
              <a:latin typeface="+mn-lt"/>
            </a:endParaRPr>
          </a:p>
        </p:txBody>
      </p:sp>
      <p:pic>
        <p:nvPicPr>
          <p:cNvPr id="2" name="图片 1"/>
          <p:cNvPicPr>
            <a:picLocks noChangeAspect="1"/>
          </p:cNvPicPr>
          <p:nvPr/>
        </p:nvPicPr>
        <p:blipFill>
          <a:blip r:embed="rId1"/>
          <a:stretch>
            <a:fillRect/>
          </a:stretch>
        </p:blipFill>
        <p:spPr>
          <a:xfrm>
            <a:off x="2105660" y="1075959"/>
            <a:ext cx="4049603" cy="2184567"/>
          </a:xfrm>
          <a:prstGeom prst="rect">
            <a:avLst/>
          </a:prstGeom>
        </p:spPr>
      </p:pic>
      <p:sp>
        <p:nvSpPr>
          <p:cNvPr id="21" name="矩形 20"/>
          <p:cNvSpPr/>
          <p:nvPr/>
        </p:nvSpPr>
        <p:spPr>
          <a:xfrm>
            <a:off x="2105652" y="2745491"/>
            <a:ext cx="4116758" cy="515038"/>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箭头连接符 40"/>
          <p:cNvCxnSpPr>
            <a:stCxn id="21" idx="3"/>
          </p:cNvCxnSpPr>
          <p:nvPr/>
        </p:nvCxnSpPr>
        <p:spPr>
          <a:xfrm flipV="1">
            <a:off x="6222410" y="2638620"/>
            <a:ext cx="459744" cy="365025"/>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圆角 7"/>
          <p:cNvSpPr/>
          <p:nvPr/>
        </p:nvSpPr>
        <p:spPr>
          <a:xfrm>
            <a:off x="6682154" y="1119431"/>
            <a:ext cx="4652740" cy="2141097"/>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buNone/>
            </a:pPr>
            <a:r>
              <a:rPr lang="zh-CN" altLang="en-US" sz="1400" kern="100" dirty="0">
                <a:solidFill>
                  <a:srgbClr val="000000"/>
                </a:solidFill>
                <a:latin typeface="Times New Roman" panose="02020503050405090304" pitchFamily="18" charset="0"/>
                <a:cs typeface="Arial" panose="020B0604020202090204" pitchFamily="34" charset="0"/>
              </a:rPr>
              <a:t>在反事实结果中，不同地区从消除迁移障碍当中获得的生产力效应大小不同。</a:t>
            </a:r>
            <a:endParaRPr lang="zh-CN" altLang="en-US" sz="1400" kern="100" dirty="0">
              <a:solidFill>
                <a:srgbClr val="000000"/>
              </a:solidFill>
              <a:latin typeface="Times New Roman" panose="02020503050405090304" pitchFamily="18" charset="0"/>
              <a:cs typeface="Arial" panose="020B0604020202090204" pitchFamily="34" charset="0"/>
            </a:endParaRPr>
          </a:p>
          <a:p>
            <a:pPr indent="0">
              <a:buNone/>
            </a:pPr>
            <a:r>
              <a:rPr lang="zh-CN" altLang="en-US" sz="1400" b="1" kern="100" dirty="0">
                <a:solidFill>
                  <a:srgbClr val="000000"/>
                </a:solidFill>
                <a:latin typeface="Times New Roman" panose="02020503050405090304" pitchFamily="18" charset="0"/>
                <a:cs typeface="Arial" panose="020B0604020202090204" pitchFamily="34" charset="0"/>
              </a:rPr>
              <a:t>图</a:t>
            </a:r>
            <a:r>
              <a:rPr lang="en-US" altLang="zh-CN" sz="1400" b="1" kern="100" dirty="0">
                <a:solidFill>
                  <a:srgbClr val="000000"/>
                </a:solidFill>
                <a:latin typeface="Times New Roman" panose="02020503050405090304" pitchFamily="18" charset="0"/>
                <a:cs typeface="Arial" panose="020B0604020202090204" pitchFamily="34" charset="0"/>
              </a:rPr>
              <a:t>A</a:t>
            </a:r>
            <a:r>
              <a:rPr lang="zh-CN" altLang="en-US" sz="1400" b="1" kern="100" dirty="0">
                <a:solidFill>
                  <a:srgbClr val="000000"/>
                </a:solidFill>
                <a:latin typeface="Times New Roman" panose="02020503050405090304" pitchFamily="18" charset="0"/>
                <a:cs typeface="Arial" panose="020B0604020202090204" pitchFamily="34" charset="0"/>
              </a:rPr>
              <a:t>：</a:t>
            </a:r>
            <a:r>
              <a:rPr lang="zh-CN" altLang="en-US" sz="1400" kern="100" dirty="0">
                <a:solidFill>
                  <a:srgbClr val="000000"/>
                </a:solidFill>
                <a:latin typeface="Times New Roman" panose="02020503050405090304" pitchFamily="18" charset="0"/>
                <a:cs typeface="Arial" panose="020B0604020202090204" pitchFamily="34" charset="0"/>
              </a:rPr>
              <a:t>消除迁移成本。生产力效应均值、最小值、最大值分别为</a:t>
            </a:r>
            <a:r>
              <a:rPr lang="en-US" altLang="zh-CN" sz="1400" kern="100" dirty="0">
                <a:solidFill>
                  <a:srgbClr val="000000"/>
                </a:solidFill>
                <a:latin typeface="Times New Roman" panose="02020503050405090304" pitchFamily="18" charset="0"/>
                <a:cs typeface="Arial" panose="020B0604020202090204" pitchFamily="34" charset="0"/>
              </a:rPr>
              <a:t>7.5%</a:t>
            </a:r>
            <a:r>
              <a:rPr lang="zh-CN" altLang="en-US" sz="1400" kern="100" dirty="0">
                <a:solidFill>
                  <a:srgbClr val="000000"/>
                </a:solidFill>
                <a:latin typeface="Times New Roman" panose="02020503050405090304" pitchFamily="18" charset="0"/>
                <a:cs typeface="Arial" panose="020B0604020202090204" pitchFamily="34" charset="0"/>
              </a:rPr>
              <a:t>、</a:t>
            </a:r>
            <a:r>
              <a:rPr lang="zh-CN" altLang="en-US" sz="1400" b="1" kern="100" dirty="0">
                <a:solidFill>
                  <a:srgbClr val="FF0000"/>
                </a:solidFill>
                <a:latin typeface="Times New Roman" panose="02020503050405090304" pitchFamily="18" charset="0"/>
                <a:cs typeface="Arial" panose="020B0604020202090204" pitchFamily="34" charset="0"/>
              </a:rPr>
              <a:t>-</a:t>
            </a:r>
            <a:r>
              <a:rPr lang="en-US" altLang="zh-CN" sz="1400" b="1" kern="100" dirty="0">
                <a:solidFill>
                  <a:srgbClr val="FF0000"/>
                </a:solidFill>
                <a:latin typeface="Times New Roman" panose="02020503050405090304" pitchFamily="18" charset="0"/>
                <a:cs typeface="Arial" panose="020B0604020202090204" pitchFamily="34" charset="0"/>
              </a:rPr>
              <a:t>17.6%</a:t>
            </a:r>
            <a:r>
              <a:rPr lang="zh-CN" altLang="en-US" sz="1400" b="1" kern="100" dirty="0">
                <a:solidFill>
                  <a:srgbClr val="FF0000"/>
                </a:solidFill>
                <a:latin typeface="Times New Roman" panose="02020503050405090304" pitchFamily="18" charset="0"/>
                <a:cs typeface="Arial" panose="020B0604020202090204" pitchFamily="34" charset="0"/>
              </a:rPr>
              <a:t>、</a:t>
            </a:r>
            <a:r>
              <a:rPr lang="en-US" altLang="zh-CN" sz="1400" b="1" kern="100" dirty="0">
                <a:solidFill>
                  <a:srgbClr val="FF0000"/>
                </a:solidFill>
                <a:latin typeface="Times New Roman" panose="02020503050405090304" pitchFamily="18" charset="0"/>
                <a:cs typeface="Arial" panose="020B0604020202090204" pitchFamily="34" charset="0"/>
              </a:rPr>
              <a:t>67.8%</a:t>
            </a:r>
            <a:endParaRPr lang="zh-CN" altLang="en-US" sz="1400" b="1" kern="100" dirty="0">
              <a:solidFill>
                <a:srgbClr val="FF0000"/>
              </a:solidFill>
              <a:latin typeface="Times New Roman" panose="02020503050405090304" pitchFamily="18" charset="0"/>
              <a:cs typeface="Arial" panose="020B0604020202090204" pitchFamily="34" charset="0"/>
            </a:endParaRPr>
          </a:p>
          <a:p>
            <a:pPr indent="0">
              <a:buNone/>
            </a:pPr>
            <a:r>
              <a:rPr lang="zh-CN" altLang="en-US" sz="1400" b="1" kern="100" dirty="0">
                <a:solidFill>
                  <a:srgbClr val="000000"/>
                </a:solidFill>
                <a:latin typeface="Times New Roman" panose="02020503050405090304" pitchFamily="18" charset="0"/>
                <a:cs typeface="Arial" panose="020B0604020202090204" pitchFamily="34" charset="0"/>
              </a:rPr>
              <a:t>图</a:t>
            </a:r>
            <a:r>
              <a:rPr lang="en-US" altLang="zh-CN" sz="1400" b="1" kern="100" dirty="0">
                <a:solidFill>
                  <a:srgbClr val="000000"/>
                </a:solidFill>
                <a:latin typeface="Times New Roman" panose="02020503050405090304" pitchFamily="18" charset="0"/>
                <a:cs typeface="Arial" panose="020B0604020202090204" pitchFamily="34" charset="0"/>
              </a:rPr>
              <a:t>B</a:t>
            </a:r>
            <a:r>
              <a:rPr lang="zh-CN" altLang="en-US" sz="1400" b="1" kern="100" dirty="0">
                <a:solidFill>
                  <a:srgbClr val="000000"/>
                </a:solidFill>
                <a:latin typeface="Times New Roman" panose="02020503050405090304" pitchFamily="18" charset="0"/>
                <a:cs typeface="Arial" panose="020B0604020202090204" pitchFamily="34" charset="0"/>
              </a:rPr>
              <a:t>：</a:t>
            </a:r>
            <a:r>
              <a:rPr lang="zh-CN" altLang="en-US" sz="1400" kern="100" dirty="0">
                <a:solidFill>
                  <a:srgbClr val="000000"/>
                </a:solidFill>
                <a:latin typeface="Times New Roman" panose="02020503050405090304" pitchFamily="18" charset="0"/>
                <a:cs typeface="Arial" panose="020B0604020202090204" pitchFamily="34" charset="0"/>
              </a:rPr>
              <a:t>均等化宜居度。生产力效应均值、最小值、最大值分别为</a:t>
            </a:r>
            <a:r>
              <a:rPr lang="en-US" altLang="zh-CN" sz="1400" kern="100" dirty="0">
                <a:solidFill>
                  <a:srgbClr val="000000"/>
                </a:solidFill>
                <a:latin typeface="Times New Roman" panose="02020503050405090304" pitchFamily="18" charset="0"/>
                <a:cs typeface="Arial" panose="020B0604020202090204" pitchFamily="34" charset="0"/>
              </a:rPr>
              <a:t>12.7%</a:t>
            </a:r>
            <a:r>
              <a:rPr lang="zh-CN" altLang="en-US" sz="1400" kern="100" dirty="0">
                <a:solidFill>
                  <a:srgbClr val="000000"/>
                </a:solidFill>
                <a:latin typeface="Times New Roman" panose="02020503050405090304" pitchFamily="18" charset="0"/>
                <a:cs typeface="Arial" panose="020B0604020202090204" pitchFamily="34" charset="0"/>
              </a:rPr>
              <a:t>、</a:t>
            </a:r>
            <a:r>
              <a:rPr lang="zh-CN" altLang="en-US" sz="1400" b="1" kern="100" dirty="0">
                <a:solidFill>
                  <a:srgbClr val="FF0000"/>
                </a:solidFill>
                <a:latin typeface="Times New Roman" panose="02020503050405090304" pitchFamily="18" charset="0"/>
                <a:cs typeface="Arial" panose="020B0604020202090204" pitchFamily="34" charset="0"/>
              </a:rPr>
              <a:t>-</a:t>
            </a:r>
            <a:r>
              <a:rPr lang="en-US" altLang="zh-CN" sz="1400" b="1" kern="100" dirty="0">
                <a:solidFill>
                  <a:srgbClr val="FF0000"/>
                </a:solidFill>
                <a:latin typeface="Times New Roman" panose="02020503050405090304" pitchFamily="18" charset="0"/>
                <a:cs typeface="Arial" panose="020B0604020202090204" pitchFamily="34" charset="0"/>
              </a:rPr>
              <a:t>7.8%、88.0%</a:t>
            </a:r>
            <a:endParaRPr lang="zh-CN" altLang="en-US" sz="1400" b="1" kern="100" dirty="0">
              <a:solidFill>
                <a:srgbClr val="FF0000"/>
              </a:solidFill>
              <a:latin typeface="Times New Roman" panose="02020503050405090304" pitchFamily="18" charset="0"/>
              <a:cs typeface="Arial" panose="020B0604020202090204" pitchFamily="34" charset="0"/>
            </a:endParaRPr>
          </a:p>
          <a:p>
            <a:pPr indent="0">
              <a:buNone/>
            </a:pPr>
            <a:r>
              <a:rPr lang="zh-CN" altLang="en-US" sz="1400" b="1" kern="100" dirty="0">
                <a:solidFill>
                  <a:srgbClr val="000000"/>
                </a:solidFill>
                <a:latin typeface="Times New Roman" panose="02020503050405090304" pitchFamily="18" charset="0"/>
                <a:cs typeface="Arial" panose="020B0604020202090204" pitchFamily="34" charset="0"/>
              </a:rPr>
              <a:t>图</a:t>
            </a:r>
            <a:r>
              <a:rPr lang="en-US" altLang="zh-CN" sz="1400" b="1" kern="100" dirty="0">
                <a:solidFill>
                  <a:srgbClr val="000000"/>
                </a:solidFill>
                <a:latin typeface="Times New Roman" panose="02020503050405090304" pitchFamily="18" charset="0"/>
                <a:cs typeface="Arial" panose="020B0604020202090204" pitchFamily="34" charset="0"/>
              </a:rPr>
              <a:t>C</a:t>
            </a:r>
            <a:r>
              <a:rPr lang="zh-CN" altLang="en-US" sz="1400" b="1" kern="100" dirty="0">
                <a:solidFill>
                  <a:srgbClr val="000000"/>
                </a:solidFill>
                <a:latin typeface="Times New Roman" panose="02020503050405090304" pitchFamily="18" charset="0"/>
                <a:cs typeface="Arial" panose="020B0604020202090204" pitchFamily="34" charset="0"/>
              </a:rPr>
              <a:t>：</a:t>
            </a:r>
            <a:r>
              <a:rPr lang="zh-CN" altLang="en-US" sz="1400" kern="100" dirty="0">
                <a:solidFill>
                  <a:srgbClr val="000000"/>
                </a:solidFill>
                <a:latin typeface="Times New Roman" panose="02020503050405090304" pitchFamily="18" charset="0"/>
                <a:cs typeface="Arial" panose="020B0604020202090204" pitchFamily="34" charset="0"/>
              </a:rPr>
              <a:t>消除两类障碍。生产力效应均值、最小值、最大值分别为</a:t>
            </a:r>
            <a:r>
              <a:rPr lang="en-US" altLang="zh-CN" sz="1400" kern="100" dirty="0">
                <a:solidFill>
                  <a:srgbClr val="000000"/>
                </a:solidFill>
                <a:latin typeface="Times New Roman" panose="02020503050405090304" pitchFamily="18" charset="0"/>
                <a:cs typeface="Arial" panose="020B0604020202090204" pitchFamily="34" charset="0"/>
              </a:rPr>
              <a:t>21.7%、</a:t>
            </a:r>
            <a:r>
              <a:rPr lang="en-US" altLang="zh-CN" sz="1400" b="1" kern="100" dirty="0">
                <a:solidFill>
                  <a:srgbClr val="FF0000"/>
                </a:solidFill>
                <a:latin typeface="Times New Roman" panose="02020503050405090304" pitchFamily="18" charset="0"/>
                <a:cs typeface="Arial" panose="020B0604020202090204" pitchFamily="34" charset="0"/>
              </a:rPr>
              <a:t>0.1%、103.5%</a:t>
            </a:r>
            <a:endParaRPr lang="en-US" altLang="zh-CN" sz="1400" b="1" kern="100" dirty="0">
              <a:solidFill>
                <a:srgbClr val="FF0000"/>
              </a:solidFill>
              <a:latin typeface="Times New Roman" panose="02020503050405090304" pitchFamily="18" charset="0"/>
              <a:cs typeface="Arial" panose="020B0604020202090204" pitchFamily="34" charset="0"/>
            </a:endParaRPr>
          </a:p>
        </p:txBody>
      </p:sp>
      <p:grpSp>
        <p:nvGrpSpPr>
          <p:cNvPr id="32" name="组合 31"/>
          <p:cNvGrpSpPr/>
          <p:nvPr/>
        </p:nvGrpSpPr>
        <p:grpSpPr>
          <a:xfrm rot="0">
            <a:off x="2106295" y="3450590"/>
            <a:ext cx="9229090" cy="3051810"/>
            <a:chOff x="3107" y="5400"/>
            <a:chExt cx="3989" cy="4349"/>
          </a:xfrm>
        </p:grpSpPr>
        <p:sp>
          <p:nvSpPr>
            <p:cNvPr id="33" name="矩形 32"/>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3107" y="5400"/>
              <a:ext cx="3989" cy="525"/>
            </a:xfrm>
            <a:prstGeom prst="rect">
              <a:avLst/>
            </a:prstGeom>
            <a:solidFill>
              <a:srgbClr val="69025E"/>
            </a:solidFill>
          </p:spPr>
          <p:txBody>
            <a:bodyPr wrap="square">
              <a:spAutoFit/>
            </a:bodyPr>
            <a:lstStyle/>
            <a:p>
              <a:pPr algn="ctr"/>
              <a:r>
                <a:rPr lang="zh-CN" altLang="en-US" b="1">
                  <a:solidFill>
                    <a:schemeClr val="bg1"/>
                  </a:solidFill>
                  <a:sym typeface="+mn-ea"/>
                </a:rPr>
                <a:t>直觉解释</a:t>
              </a:r>
              <a:endParaRPr lang="zh-CN" altLang="en-US" b="1">
                <a:solidFill>
                  <a:schemeClr val="bg1"/>
                </a:solidFill>
                <a:sym typeface="+mn-ea"/>
              </a:endParaRPr>
            </a:p>
          </p:txBody>
        </p:sp>
      </p:grpSp>
      <p:sp>
        <p:nvSpPr>
          <p:cNvPr id="5" name="文本框 4"/>
          <p:cNvSpPr txBox="1"/>
          <p:nvPr/>
        </p:nvSpPr>
        <p:spPr>
          <a:xfrm>
            <a:off x="2106295" y="3818890"/>
            <a:ext cx="9229090" cy="2682240"/>
          </a:xfrm>
          <a:prstGeom prst="rect">
            <a:avLst/>
          </a:prstGeom>
          <a:noFill/>
        </p:spPr>
        <p:txBody>
          <a:bodyPr wrap="square" rtlCol="0" anchor="ctr" anchorCtr="0">
            <a:noAutofit/>
          </a:bodyPr>
          <a:p>
            <a:pPr marL="342900" indent="-342900">
              <a:buFont typeface="Wingdings" panose="05000000000000000000" charset="0"/>
              <a:buChar char=""/>
            </a:pPr>
            <a:r>
              <a:rPr lang="zh-CN" altLang="en-US" b="1">
                <a:solidFill>
                  <a:srgbClr val="660066"/>
                </a:solidFill>
              </a:rPr>
              <a:t>事前摩擦越大，收益越大</a:t>
            </a:r>
            <a:endParaRPr lang="zh-CN" altLang="en-US" b="1">
              <a:solidFill>
                <a:srgbClr val="660066"/>
              </a:solidFill>
            </a:endParaRPr>
          </a:p>
          <a:p>
            <a:pPr marL="342900" indent="-342900">
              <a:buFont typeface="Arial" panose="020B0604020202090204" pitchFamily="34" charset="0"/>
              <a:buChar char="•"/>
            </a:pPr>
            <a:r>
              <a:rPr lang="zh-CN" altLang="en-US"/>
              <a:t>被迁移成本物理隔绝的地方</a:t>
            </a:r>
            <a:endParaRPr lang="zh-CN" altLang="en-US"/>
          </a:p>
          <a:p>
            <a:pPr marL="342900" indent="-342900">
              <a:buFont typeface="Arial" panose="020B0604020202090204" pitchFamily="34" charset="0"/>
              <a:buChar char="•"/>
            </a:pPr>
            <a:r>
              <a:rPr lang="zh-CN" altLang="en-US"/>
              <a:t>位于“高宜居度</a:t>
            </a:r>
            <a:r>
              <a:rPr lang="en-US" altLang="zh-CN"/>
              <a:t> / </a:t>
            </a:r>
            <a:r>
              <a:rPr lang="zh-CN" altLang="en-US"/>
              <a:t>低房价”但低生产率的地方</a:t>
            </a:r>
            <a:r>
              <a:rPr lang="en-US" altLang="zh-CN"/>
              <a:t>，</a:t>
            </a:r>
            <a:r>
              <a:rPr lang="zh-CN" altLang="en-US"/>
              <a:t>人们被补偿性差异留在错配岗位上，一旦消除</a:t>
            </a:r>
            <a:r>
              <a:rPr lang="zh-CN" altLang="en-US"/>
              <a:t>这一差异，</a:t>
            </a:r>
            <a:r>
              <a:rPr lang="zh-CN" altLang="en-US"/>
              <a:t>就流向高生产率目的地</a:t>
            </a:r>
            <a:r>
              <a:rPr lang="en-US" altLang="zh-CN"/>
              <a:t>。</a:t>
            </a:r>
            <a:endParaRPr lang="en-US" altLang="zh-CN"/>
          </a:p>
          <a:p>
            <a:pPr marL="342900" indent="-342900" algn="l">
              <a:buClrTx/>
              <a:buSzTx/>
              <a:buFont typeface="Wingdings" panose="05000000000000000000" charset="0"/>
              <a:buChar char=""/>
            </a:pPr>
            <a:r>
              <a:rPr lang="zh-CN" altLang="en-US" b="1">
                <a:solidFill>
                  <a:srgbClr val="660066"/>
                </a:solidFill>
              </a:rPr>
              <a:t>我国的典型现实案例：</a:t>
            </a:r>
            <a:endParaRPr lang="zh-CN" altLang="en-US" b="1">
              <a:solidFill>
                <a:srgbClr val="660066"/>
              </a:solidFill>
            </a:endParaRPr>
          </a:p>
          <a:p>
            <a:pPr marL="342900" indent="-342900">
              <a:buFont typeface="Arial" panose="020B0604020202090204" pitchFamily="34" charset="0"/>
              <a:buChar char="•"/>
            </a:pPr>
            <a:r>
              <a:rPr lang="zh-CN" altLang="en-US"/>
              <a:t>贵广高铁、成昆高铁通车</a:t>
            </a:r>
            <a:r>
              <a:rPr lang="en-US" altLang="zh-CN"/>
              <a:t>：</a:t>
            </a:r>
            <a:r>
              <a:rPr lang="zh-CN" altLang="en-US"/>
              <a:t>毕节、昭通、黔东南这些原先 “一年出不了几次山” 的地州，跨省务工比例</a:t>
            </a:r>
            <a:r>
              <a:rPr lang="en-US" altLang="zh-CN"/>
              <a:t>、</a:t>
            </a:r>
            <a:r>
              <a:rPr lang="zh-CN" altLang="en-US"/>
              <a:t>收入显著上升</a:t>
            </a:r>
            <a:endParaRPr lang="zh-CN" altLang="en-US"/>
          </a:p>
          <a:p>
            <a:pPr marL="342900" indent="-342900">
              <a:buFont typeface="Arial" panose="020B0604020202090204" pitchFamily="34" charset="0"/>
              <a:buChar char="•"/>
            </a:pPr>
            <a:r>
              <a:rPr lang="zh-CN" altLang="en-US">
                <a:sym typeface="+mn-ea"/>
              </a:rPr>
              <a:t>考公热</a:t>
            </a:r>
            <a:r>
              <a:rPr lang="en-US" altLang="zh-CN">
                <a:sym typeface="+mn-ea"/>
              </a:rPr>
              <a:t>：</a:t>
            </a:r>
            <a:r>
              <a:rPr lang="zh-CN" altLang="en-US">
                <a:sym typeface="+mn-ea"/>
              </a:rPr>
              <a:t>较多高校学生看重编制</a:t>
            </a:r>
            <a:r>
              <a:rPr lang="en-US" altLang="zh-CN">
                <a:sym typeface="+mn-ea"/>
              </a:rPr>
              <a:t>、</a:t>
            </a:r>
            <a:r>
              <a:rPr lang="zh-CN" altLang="en-US">
                <a:sym typeface="+mn-ea"/>
              </a:rPr>
              <a:t>通勤</a:t>
            </a:r>
            <a:r>
              <a:rPr lang="en-US" altLang="zh-CN">
                <a:sym typeface="+mn-ea"/>
              </a:rPr>
              <a:t>、</a:t>
            </a:r>
            <a:r>
              <a:rPr lang="zh-CN" altLang="en-US">
                <a:sym typeface="+mn-ea"/>
              </a:rPr>
              <a:t>稳定性等</a:t>
            </a:r>
            <a:r>
              <a:rPr lang="zh-CN" altLang="en-US">
                <a:sym typeface="+mn-ea"/>
              </a:rPr>
              <a:t>非工资收益</a:t>
            </a:r>
            <a:r>
              <a:rPr lang="en-US" altLang="zh-CN">
                <a:sym typeface="+mn-ea"/>
              </a:rPr>
              <a:t>，</a:t>
            </a:r>
            <a:r>
              <a:rPr lang="zh-CN" altLang="en-US">
                <a:sym typeface="+mn-ea"/>
              </a:rPr>
              <a:t>进入县城岗位</a:t>
            </a:r>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p:sp>
        <p:nvSpPr>
          <p:cNvPr id="6" name="Rectangle 1"/>
          <p:cNvSpPr>
            <a:spLocks noChangeArrowheads="1"/>
          </p:cNvSpPr>
          <p:nvPr/>
        </p:nvSpPr>
        <p:spPr bwMode="auto">
          <a:xfrm>
            <a:off x="3260725" y="2027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sym typeface="+mn-ea"/>
              </a:rPr>
              <a:t>反事实结果</a:t>
            </a:r>
            <a:r>
              <a:rPr lang="en-US" altLang="zh-CN" sz="2800" b="1" dirty="0">
                <a:latin typeface="+mn-lt"/>
                <a:sym typeface="+mn-ea"/>
              </a:rPr>
              <a:t>：</a:t>
            </a:r>
            <a:r>
              <a:rPr lang="zh-CN" altLang="en-US" sz="2800" b="1" dirty="0">
                <a:latin typeface="+mn-lt"/>
              </a:rPr>
              <a:t>异质性</a:t>
            </a:r>
            <a:r>
              <a:rPr lang="zh-CN" altLang="en-US" sz="2800" b="1" dirty="0">
                <a:latin typeface="+mn-lt"/>
              </a:rPr>
              <a:t>讨论</a:t>
            </a:r>
            <a:endParaRPr lang="zh-CN" altLang="en-US" sz="2800" b="1" dirty="0">
              <a:latin typeface="+mn-lt"/>
            </a:endParaRPr>
          </a:p>
        </p:txBody>
      </p:sp>
      <p:grpSp>
        <p:nvGrpSpPr>
          <p:cNvPr id="10" name="组合 9"/>
          <p:cNvGrpSpPr/>
          <p:nvPr/>
        </p:nvGrpSpPr>
        <p:grpSpPr>
          <a:xfrm rot="0">
            <a:off x="2105660" y="1241425"/>
            <a:ext cx="9229090" cy="3646805"/>
            <a:chOff x="3107" y="5400"/>
            <a:chExt cx="3989" cy="4349"/>
          </a:xfrm>
        </p:grpSpPr>
        <p:sp>
          <p:nvSpPr>
            <p:cNvPr id="11" name="矩形 10"/>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107" y="5400"/>
              <a:ext cx="3989" cy="439"/>
            </a:xfrm>
            <a:prstGeom prst="rect">
              <a:avLst/>
            </a:prstGeom>
            <a:solidFill>
              <a:srgbClr val="69025E"/>
            </a:solidFill>
          </p:spPr>
          <p:txBody>
            <a:bodyPr wrap="square">
              <a:spAutoFit/>
            </a:bodyPr>
            <a:lstStyle/>
            <a:p>
              <a:pPr algn="ctr"/>
              <a:r>
                <a:rPr lang="zh-CN" altLang="en-US" b="1">
                  <a:solidFill>
                    <a:schemeClr val="bg1"/>
                  </a:solidFill>
                  <a:cs typeface="Arial" panose="020B0604020202090204" pitchFamily="34" charset="0"/>
                  <a:sym typeface="+mn-ea"/>
                </a:rPr>
                <a:t>公式解释</a:t>
              </a:r>
              <a:endParaRPr lang="zh-CN" altLang="en-US" b="1">
                <a:solidFill>
                  <a:schemeClr val="bg1"/>
                </a:solidFill>
                <a:sym typeface="+mn-ea"/>
              </a:endParaRPr>
            </a:p>
          </p:txBody>
        </p:sp>
      </p:grpSp>
      <p:pic>
        <p:nvPicPr>
          <p:cNvPr id="26" name="图片 25" descr="06aaef3aab26a1b45ced3d4e58801c4a"/>
          <p:cNvPicPr>
            <a:picLocks noChangeAspect="1"/>
          </p:cNvPicPr>
          <p:nvPr/>
        </p:nvPicPr>
        <p:blipFill>
          <a:blip r:embed="rId1"/>
          <a:stretch>
            <a:fillRect/>
          </a:stretch>
        </p:blipFill>
        <p:spPr>
          <a:xfrm>
            <a:off x="2258060" y="2027555"/>
            <a:ext cx="2727325" cy="413385"/>
          </a:xfrm>
          <a:prstGeom prst="rect">
            <a:avLst/>
          </a:prstGeom>
        </p:spPr>
      </p:pic>
      <p:pic>
        <p:nvPicPr>
          <p:cNvPr id="29" name="图片 28" descr="0dcfaa091fde8e6b8c36cfa2cc9ce806"/>
          <p:cNvPicPr>
            <a:picLocks noChangeAspect="1"/>
          </p:cNvPicPr>
          <p:nvPr/>
        </p:nvPicPr>
        <p:blipFill>
          <a:blip r:embed="rId2"/>
          <a:stretch>
            <a:fillRect/>
          </a:stretch>
        </p:blipFill>
        <p:spPr>
          <a:xfrm>
            <a:off x="5306695" y="1974215"/>
            <a:ext cx="2553335" cy="466725"/>
          </a:xfrm>
          <a:prstGeom prst="rect">
            <a:avLst/>
          </a:prstGeom>
        </p:spPr>
      </p:pic>
      <p:sp>
        <p:nvSpPr>
          <p:cNvPr id="35" name="文本框 34"/>
          <p:cNvSpPr txBox="1"/>
          <p:nvPr/>
        </p:nvSpPr>
        <p:spPr>
          <a:xfrm>
            <a:off x="2258060" y="1707515"/>
            <a:ext cx="4064000" cy="337185"/>
          </a:xfrm>
          <a:prstGeom prst="rect">
            <a:avLst/>
          </a:prstGeom>
          <a:noFill/>
        </p:spPr>
        <p:txBody>
          <a:bodyPr wrap="square" rtlCol="0">
            <a:spAutoFit/>
          </a:bodyPr>
          <a:p>
            <a:r>
              <a:rPr lang="zh-CN" altLang="en-US" sz="1600"/>
              <a:t>反事实前的平均工资</a:t>
            </a:r>
            <a:r>
              <a:rPr lang="en-US" altLang="zh-CN" sz="1600"/>
              <a:t>：</a:t>
            </a:r>
            <a:endParaRPr lang="en-US" altLang="zh-CN" sz="1600"/>
          </a:p>
        </p:txBody>
      </p:sp>
      <p:cxnSp>
        <p:nvCxnSpPr>
          <p:cNvPr id="36" name="直接箭头连接符 35"/>
          <p:cNvCxnSpPr/>
          <p:nvPr/>
        </p:nvCxnSpPr>
        <p:spPr>
          <a:xfrm>
            <a:off x="4978445" y="223402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pic>
        <p:nvPicPr>
          <p:cNvPr id="42" name="图片 41" descr="d6d781d4bff3ba3f1c86e2714be14850"/>
          <p:cNvPicPr>
            <a:picLocks noChangeAspect="1"/>
          </p:cNvPicPr>
          <p:nvPr/>
        </p:nvPicPr>
        <p:blipFill>
          <a:blip r:embed="rId3"/>
          <a:stretch>
            <a:fillRect/>
          </a:stretch>
        </p:blipFill>
        <p:spPr>
          <a:xfrm>
            <a:off x="8181340" y="1873250"/>
            <a:ext cx="1853565" cy="572135"/>
          </a:xfrm>
          <a:prstGeom prst="rect">
            <a:avLst/>
          </a:prstGeom>
        </p:spPr>
      </p:pic>
      <p:cxnSp>
        <p:nvCxnSpPr>
          <p:cNvPr id="46" name="直接箭头连接符 45"/>
          <p:cNvCxnSpPr/>
          <p:nvPr/>
        </p:nvCxnSpPr>
        <p:spPr>
          <a:xfrm>
            <a:off x="7861345" y="223402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p:sp>
        <p:nvSpPr>
          <p:cNvPr id="6" name="Rectangle 1"/>
          <p:cNvSpPr>
            <a:spLocks noChangeArrowheads="1"/>
          </p:cNvSpPr>
          <p:nvPr/>
        </p:nvSpPr>
        <p:spPr bwMode="auto">
          <a:xfrm>
            <a:off x="3260725" y="2027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sym typeface="+mn-ea"/>
              </a:rPr>
              <a:t>反事实结果</a:t>
            </a:r>
            <a:r>
              <a:rPr lang="en-US" altLang="zh-CN" sz="2800" b="1" dirty="0">
                <a:latin typeface="+mn-lt"/>
                <a:sym typeface="+mn-ea"/>
              </a:rPr>
              <a:t>：</a:t>
            </a:r>
            <a:r>
              <a:rPr lang="zh-CN" altLang="en-US" sz="2800" b="1" dirty="0">
                <a:latin typeface="+mn-lt"/>
              </a:rPr>
              <a:t>异质性</a:t>
            </a:r>
            <a:r>
              <a:rPr lang="zh-CN" altLang="en-US" sz="2800" b="1" dirty="0">
                <a:latin typeface="+mn-lt"/>
              </a:rPr>
              <a:t>讨论</a:t>
            </a:r>
            <a:endParaRPr lang="zh-CN" altLang="en-US" sz="2800" b="1" dirty="0">
              <a:latin typeface="+mn-lt"/>
            </a:endParaRPr>
          </a:p>
        </p:txBody>
      </p:sp>
      <p:grpSp>
        <p:nvGrpSpPr>
          <p:cNvPr id="10" name="组合 9"/>
          <p:cNvGrpSpPr/>
          <p:nvPr/>
        </p:nvGrpSpPr>
        <p:grpSpPr>
          <a:xfrm rot="0">
            <a:off x="2105660" y="1241425"/>
            <a:ext cx="9229090" cy="3646805"/>
            <a:chOff x="3107" y="5400"/>
            <a:chExt cx="3989" cy="4349"/>
          </a:xfrm>
        </p:grpSpPr>
        <p:sp>
          <p:nvSpPr>
            <p:cNvPr id="11" name="矩形 10"/>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107" y="5400"/>
              <a:ext cx="3989" cy="439"/>
            </a:xfrm>
            <a:prstGeom prst="rect">
              <a:avLst/>
            </a:prstGeom>
            <a:solidFill>
              <a:srgbClr val="69025E"/>
            </a:solidFill>
          </p:spPr>
          <p:txBody>
            <a:bodyPr wrap="square">
              <a:spAutoFit/>
            </a:bodyPr>
            <a:lstStyle/>
            <a:p>
              <a:pPr algn="ctr"/>
              <a:r>
                <a:rPr lang="zh-CN" altLang="en-US" b="1">
                  <a:solidFill>
                    <a:schemeClr val="bg1"/>
                  </a:solidFill>
                  <a:cs typeface="Arial" panose="020B0604020202090204" pitchFamily="34" charset="0"/>
                  <a:sym typeface="+mn-ea"/>
                </a:rPr>
                <a:t>公式解释</a:t>
              </a:r>
              <a:endParaRPr lang="zh-CN" altLang="en-US" b="1">
                <a:solidFill>
                  <a:schemeClr val="bg1"/>
                </a:solidFill>
                <a:sym typeface="+mn-ea"/>
              </a:endParaRPr>
            </a:p>
          </p:txBody>
        </p:sp>
      </p:grpSp>
      <p:pic>
        <p:nvPicPr>
          <p:cNvPr id="26" name="图片 25" descr="06aaef3aab26a1b45ced3d4e58801c4a"/>
          <p:cNvPicPr>
            <a:picLocks noChangeAspect="1"/>
          </p:cNvPicPr>
          <p:nvPr/>
        </p:nvPicPr>
        <p:blipFill>
          <a:blip r:embed="rId1"/>
          <a:stretch>
            <a:fillRect/>
          </a:stretch>
        </p:blipFill>
        <p:spPr>
          <a:xfrm>
            <a:off x="2258060" y="2027555"/>
            <a:ext cx="2727325" cy="413385"/>
          </a:xfrm>
          <a:prstGeom prst="rect">
            <a:avLst/>
          </a:prstGeom>
        </p:spPr>
      </p:pic>
      <p:pic>
        <p:nvPicPr>
          <p:cNvPr id="29" name="图片 28" descr="0dcfaa091fde8e6b8c36cfa2cc9ce806"/>
          <p:cNvPicPr>
            <a:picLocks noChangeAspect="1"/>
          </p:cNvPicPr>
          <p:nvPr/>
        </p:nvPicPr>
        <p:blipFill>
          <a:blip r:embed="rId2"/>
          <a:stretch>
            <a:fillRect/>
          </a:stretch>
        </p:blipFill>
        <p:spPr>
          <a:xfrm>
            <a:off x="5306695" y="1974215"/>
            <a:ext cx="2553335" cy="466725"/>
          </a:xfrm>
          <a:prstGeom prst="rect">
            <a:avLst/>
          </a:prstGeom>
        </p:spPr>
      </p:pic>
      <p:pic>
        <p:nvPicPr>
          <p:cNvPr id="30" name="图片 29" descr="3e7d7909b04daf56c1cd28d4b686e4ea"/>
          <p:cNvPicPr>
            <a:picLocks noChangeAspect="1"/>
          </p:cNvPicPr>
          <p:nvPr/>
        </p:nvPicPr>
        <p:blipFill>
          <a:blip r:embed="rId3"/>
          <a:stretch>
            <a:fillRect/>
          </a:stretch>
        </p:blipFill>
        <p:spPr>
          <a:xfrm>
            <a:off x="2258060" y="2771140"/>
            <a:ext cx="3798570" cy="453390"/>
          </a:xfrm>
          <a:prstGeom prst="rect">
            <a:avLst/>
          </a:prstGeom>
        </p:spPr>
      </p:pic>
      <p:pic>
        <p:nvPicPr>
          <p:cNvPr id="31" name="图片 30" descr="471fbe65f54da34c60840716f532aa92"/>
          <p:cNvPicPr>
            <a:picLocks noChangeAspect="1"/>
          </p:cNvPicPr>
          <p:nvPr/>
        </p:nvPicPr>
        <p:blipFill>
          <a:blip r:embed="rId4"/>
          <a:stretch>
            <a:fillRect/>
          </a:stretch>
        </p:blipFill>
        <p:spPr>
          <a:xfrm>
            <a:off x="3144520" y="3188970"/>
            <a:ext cx="2290445" cy="1619885"/>
          </a:xfrm>
          <a:prstGeom prst="rect">
            <a:avLst/>
          </a:prstGeom>
        </p:spPr>
      </p:pic>
      <p:sp>
        <p:nvSpPr>
          <p:cNvPr id="35" name="文本框 34"/>
          <p:cNvSpPr txBox="1"/>
          <p:nvPr/>
        </p:nvSpPr>
        <p:spPr>
          <a:xfrm>
            <a:off x="2258060" y="1707515"/>
            <a:ext cx="4064000" cy="337185"/>
          </a:xfrm>
          <a:prstGeom prst="rect">
            <a:avLst/>
          </a:prstGeom>
          <a:noFill/>
        </p:spPr>
        <p:txBody>
          <a:bodyPr wrap="square" rtlCol="0">
            <a:spAutoFit/>
          </a:bodyPr>
          <a:p>
            <a:r>
              <a:rPr lang="zh-CN" altLang="en-US" sz="1600"/>
              <a:t>反事实前的平均工资</a:t>
            </a:r>
            <a:r>
              <a:rPr lang="en-US" altLang="zh-CN" sz="1600"/>
              <a:t>：</a:t>
            </a:r>
            <a:endParaRPr lang="en-US" altLang="zh-CN" sz="1600"/>
          </a:p>
        </p:txBody>
      </p:sp>
      <p:cxnSp>
        <p:nvCxnSpPr>
          <p:cNvPr id="36" name="直接箭头连接符 35"/>
          <p:cNvCxnSpPr/>
          <p:nvPr/>
        </p:nvCxnSpPr>
        <p:spPr>
          <a:xfrm>
            <a:off x="4978445" y="223402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2258060" y="2518410"/>
            <a:ext cx="4676775" cy="337185"/>
          </a:xfrm>
          <a:prstGeom prst="rect">
            <a:avLst/>
          </a:prstGeom>
          <a:noFill/>
        </p:spPr>
        <p:txBody>
          <a:bodyPr wrap="square" rtlCol="0">
            <a:spAutoFit/>
          </a:bodyPr>
          <a:p>
            <a:r>
              <a:rPr lang="zh-CN" altLang="en-US" sz="1600"/>
              <a:t>反事实后的平均工资（无迁移摩擦时</a:t>
            </a:r>
            <a:r>
              <a:rPr lang="en-US" altLang="zh-CN" sz="1600"/>
              <a:t>）：</a:t>
            </a:r>
            <a:endParaRPr lang="en-US" altLang="zh-CN" sz="1600"/>
          </a:p>
        </p:txBody>
      </p:sp>
      <p:cxnSp>
        <p:nvCxnSpPr>
          <p:cNvPr id="38" name="直接箭头连接符 37"/>
          <p:cNvCxnSpPr/>
          <p:nvPr/>
        </p:nvCxnSpPr>
        <p:spPr>
          <a:xfrm>
            <a:off x="2737530" y="342909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2737530" y="4002500"/>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2737530" y="4632420"/>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pic>
        <p:nvPicPr>
          <p:cNvPr id="42" name="图片 41" descr="d6d781d4bff3ba3f1c86e2714be14850"/>
          <p:cNvPicPr>
            <a:picLocks noChangeAspect="1"/>
          </p:cNvPicPr>
          <p:nvPr/>
        </p:nvPicPr>
        <p:blipFill>
          <a:blip r:embed="rId5"/>
          <a:stretch>
            <a:fillRect/>
          </a:stretch>
        </p:blipFill>
        <p:spPr>
          <a:xfrm>
            <a:off x="8181340" y="1873250"/>
            <a:ext cx="1853565" cy="572135"/>
          </a:xfrm>
          <a:prstGeom prst="rect">
            <a:avLst/>
          </a:prstGeom>
        </p:spPr>
      </p:pic>
      <p:cxnSp>
        <p:nvCxnSpPr>
          <p:cNvPr id="46" name="直接箭头连接符 45"/>
          <p:cNvCxnSpPr/>
          <p:nvPr/>
        </p:nvCxnSpPr>
        <p:spPr>
          <a:xfrm>
            <a:off x="7861345" y="223402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p:sp>
        <p:nvSpPr>
          <p:cNvPr id="6" name="Rectangle 1"/>
          <p:cNvSpPr>
            <a:spLocks noChangeArrowheads="1"/>
          </p:cNvSpPr>
          <p:nvPr/>
        </p:nvSpPr>
        <p:spPr bwMode="auto">
          <a:xfrm>
            <a:off x="3260725" y="2027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sym typeface="+mn-ea"/>
              </a:rPr>
              <a:t>反事实结果</a:t>
            </a:r>
            <a:r>
              <a:rPr lang="en-US" altLang="zh-CN" sz="2800" b="1" dirty="0">
                <a:latin typeface="+mn-lt"/>
                <a:sym typeface="+mn-ea"/>
              </a:rPr>
              <a:t>：</a:t>
            </a:r>
            <a:r>
              <a:rPr lang="zh-CN" altLang="en-US" sz="2800" b="1" dirty="0">
                <a:latin typeface="+mn-lt"/>
              </a:rPr>
              <a:t>异质性</a:t>
            </a:r>
            <a:r>
              <a:rPr lang="zh-CN" altLang="en-US" sz="2800" b="1" dirty="0">
                <a:latin typeface="+mn-lt"/>
              </a:rPr>
              <a:t>讨论</a:t>
            </a:r>
            <a:endParaRPr lang="zh-CN" altLang="en-US" sz="2800" b="1" dirty="0">
              <a:latin typeface="+mn-lt"/>
            </a:endParaRPr>
          </a:p>
        </p:txBody>
      </p:sp>
      <p:grpSp>
        <p:nvGrpSpPr>
          <p:cNvPr id="10" name="组合 9"/>
          <p:cNvGrpSpPr/>
          <p:nvPr/>
        </p:nvGrpSpPr>
        <p:grpSpPr>
          <a:xfrm rot="0">
            <a:off x="2105660" y="1241425"/>
            <a:ext cx="9229090" cy="3646805"/>
            <a:chOff x="3107" y="5400"/>
            <a:chExt cx="3989" cy="4349"/>
          </a:xfrm>
        </p:grpSpPr>
        <p:sp>
          <p:nvSpPr>
            <p:cNvPr id="11" name="矩形 10"/>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107" y="5400"/>
              <a:ext cx="3989" cy="439"/>
            </a:xfrm>
            <a:prstGeom prst="rect">
              <a:avLst/>
            </a:prstGeom>
            <a:solidFill>
              <a:srgbClr val="69025E"/>
            </a:solidFill>
          </p:spPr>
          <p:txBody>
            <a:bodyPr wrap="square">
              <a:spAutoFit/>
            </a:bodyPr>
            <a:lstStyle/>
            <a:p>
              <a:pPr algn="ctr"/>
              <a:r>
                <a:rPr lang="zh-CN" altLang="en-US" b="1">
                  <a:solidFill>
                    <a:schemeClr val="bg1"/>
                  </a:solidFill>
                  <a:cs typeface="Arial" panose="020B0604020202090204" pitchFamily="34" charset="0"/>
                  <a:sym typeface="+mn-ea"/>
                </a:rPr>
                <a:t>公式解释</a:t>
              </a:r>
              <a:endParaRPr lang="zh-CN" altLang="en-US" b="1">
                <a:solidFill>
                  <a:schemeClr val="bg1"/>
                </a:solidFill>
                <a:sym typeface="+mn-ea"/>
              </a:endParaRPr>
            </a:p>
          </p:txBody>
        </p:sp>
      </p:grpSp>
      <p:pic>
        <p:nvPicPr>
          <p:cNvPr id="26" name="图片 25" descr="06aaef3aab26a1b45ced3d4e58801c4a"/>
          <p:cNvPicPr>
            <a:picLocks noChangeAspect="1"/>
          </p:cNvPicPr>
          <p:nvPr/>
        </p:nvPicPr>
        <p:blipFill>
          <a:blip r:embed="rId1"/>
          <a:stretch>
            <a:fillRect/>
          </a:stretch>
        </p:blipFill>
        <p:spPr>
          <a:xfrm>
            <a:off x="2258060" y="2027555"/>
            <a:ext cx="2727325" cy="413385"/>
          </a:xfrm>
          <a:prstGeom prst="rect">
            <a:avLst/>
          </a:prstGeom>
        </p:spPr>
      </p:pic>
      <p:pic>
        <p:nvPicPr>
          <p:cNvPr id="29" name="图片 28" descr="0dcfaa091fde8e6b8c36cfa2cc9ce806"/>
          <p:cNvPicPr>
            <a:picLocks noChangeAspect="1"/>
          </p:cNvPicPr>
          <p:nvPr/>
        </p:nvPicPr>
        <p:blipFill>
          <a:blip r:embed="rId2"/>
          <a:stretch>
            <a:fillRect/>
          </a:stretch>
        </p:blipFill>
        <p:spPr>
          <a:xfrm>
            <a:off x="5306695" y="1974215"/>
            <a:ext cx="2553335" cy="466725"/>
          </a:xfrm>
          <a:prstGeom prst="rect">
            <a:avLst/>
          </a:prstGeom>
        </p:spPr>
      </p:pic>
      <p:pic>
        <p:nvPicPr>
          <p:cNvPr id="30" name="图片 29" descr="3e7d7909b04daf56c1cd28d4b686e4ea"/>
          <p:cNvPicPr>
            <a:picLocks noChangeAspect="1"/>
          </p:cNvPicPr>
          <p:nvPr/>
        </p:nvPicPr>
        <p:blipFill>
          <a:blip r:embed="rId3"/>
          <a:stretch>
            <a:fillRect/>
          </a:stretch>
        </p:blipFill>
        <p:spPr>
          <a:xfrm>
            <a:off x="2258060" y="2771140"/>
            <a:ext cx="3798570" cy="453390"/>
          </a:xfrm>
          <a:prstGeom prst="rect">
            <a:avLst/>
          </a:prstGeom>
        </p:spPr>
      </p:pic>
      <p:pic>
        <p:nvPicPr>
          <p:cNvPr id="31" name="图片 30" descr="471fbe65f54da34c60840716f532aa92"/>
          <p:cNvPicPr>
            <a:picLocks noChangeAspect="1"/>
          </p:cNvPicPr>
          <p:nvPr/>
        </p:nvPicPr>
        <p:blipFill>
          <a:blip r:embed="rId4"/>
          <a:stretch>
            <a:fillRect/>
          </a:stretch>
        </p:blipFill>
        <p:spPr>
          <a:xfrm>
            <a:off x="3144520" y="3188970"/>
            <a:ext cx="2290445" cy="1619885"/>
          </a:xfrm>
          <a:prstGeom prst="rect">
            <a:avLst/>
          </a:prstGeom>
        </p:spPr>
      </p:pic>
      <p:sp>
        <p:nvSpPr>
          <p:cNvPr id="35" name="文本框 34"/>
          <p:cNvSpPr txBox="1"/>
          <p:nvPr/>
        </p:nvSpPr>
        <p:spPr>
          <a:xfrm>
            <a:off x="2258060" y="1707515"/>
            <a:ext cx="4064000" cy="337185"/>
          </a:xfrm>
          <a:prstGeom prst="rect">
            <a:avLst/>
          </a:prstGeom>
          <a:noFill/>
        </p:spPr>
        <p:txBody>
          <a:bodyPr wrap="square" rtlCol="0">
            <a:spAutoFit/>
          </a:bodyPr>
          <a:p>
            <a:r>
              <a:rPr lang="zh-CN" altLang="en-US" sz="1600"/>
              <a:t>反事实前的平均工资</a:t>
            </a:r>
            <a:r>
              <a:rPr lang="en-US" altLang="zh-CN" sz="1600"/>
              <a:t>：</a:t>
            </a:r>
            <a:endParaRPr lang="en-US" altLang="zh-CN" sz="1600"/>
          </a:p>
        </p:txBody>
      </p:sp>
      <p:cxnSp>
        <p:nvCxnSpPr>
          <p:cNvPr id="36" name="直接箭头连接符 35"/>
          <p:cNvCxnSpPr/>
          <p:nvPr/>
        </p:nvCxnSpPr>
        <p:spPr>
          <a:xfrm>
            <a:off x="4978445" y="223402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2258060" y="2518410"/>
            <a:ext cx="4676775" cy="337185"/>
          </a:xfrm>
          <a:prstGeom prst="rect">
            <a:avLst/>
          </a:prstGeom>
          <a:noFill/>
        </p:spPr>
        <p:txBody>
          <a:bodyPr wrap="square" rtlCol="0">
            <a:spAutoFit/>
          </a:bodyPr>
          <a:p>
            <a:r>
              <a:rPr lang="zh-CN" altLang="en-US" sz="1600"/>
              <a:t>反事实后的平均工资（无迁移摩擦时</a:t>
            </a:r>
            <a:r>
              <a:rPr lang="en-US" altLang="zh-CN" sz="1600"/>
              <a:t>）：</a:t>
            </a:r>
            <a:endParaRPr lang="en-US" altLang="zh-CN" sz="1600"/>
          </a:p>
        </p:txBody>
      </p:sp>
      <p:cxnSp>
        <p:nvCxnSpPr>
          <p:cNvPr id="38" name="直接箭头连接符 37"/>
          <p:cNvCxnSpPr/>
          <p:nvPr/>
        </p:nvCxnSpPr>
        <p:spPr>
          <a:xfrm>
            <a:off x="2737530" y="342909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2737530" y="4002500"/>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2737530" y="4632420"/>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pic>
        <p:nvPicPr>
          <p:cNvPr id="42" name="图片 41" descr="d6d781d4bff3ba3f1c86e2714be14850"/>
          <p:cNvPicPr>
            <a:picLocks noChangeAspect="1"/>
          </p:cNvPicPr>
          <p:nvPr/>
        </p:nvPicPr>
        <p:blipFill>
          <a:blip r:embed="rId5"/>
          <a:stretch>
            <a:fillRect/>
          </a:stretch>
        </p:blipFill>
        <p:spPr>
          <a:xfrm>
            <a:off x="8181340" y="1873250"/>
            <a:ext cx="1853565" cy="572135"/>
          </a:xfrm>
          <a:prstGeom prst="rect">
            <a:avLst/>
          </a:prstGeom>
        </p:spPr>
      </p:pic>
      <p:cxnSp>
        <p:nvCxnSpPr>
          <p:cNvPr id="43" name="直接箭头连接符 42"/>
          <p:cNvCxnSpPr/>
          <p:nvPr/>
        </p:nvCxnSpPr>
        <p:spPr>
          <a:xfrm>
            <a:off x="5513750" y="4632420"/>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pic>
        <p:nvPicPr>
          <p:cNvPr id="44" name="图片 43" descr="0d66adb5236a6d766b2921f0c357f94a"/>
          <p:cNvPicPr>
            <a:picLocks noChangeAspect="1"/>
          </p:cNvPicPr>
          <p:nvPr/>
        </p:nvPicPr>
        <p:blipFill>
          <a:blip r:embed="rId6"/>
          <a:stretch>
            <a:fillRect/>
          </a:stretch>
        </p:blipFill>
        <p:spPr>
          <a:xfrm>
            <a:off x="5920740" y="4247515"/>
            <a:ext cx="4237990" cy="632460"/>
          </a:xfrm>
          <a:prstGeom prst="rect">
            <a:avLst/>
          </a:prstGeom>
        </p:spPr>
      </p:pic>
      <p:cxnSp>
        <p:nvCxnSpPr>
          <p:cNvPr id="46" name="直接箭头连接符 45"/>
          <p:cNvCxnSpPr/>
          <p:nvPr/>
        </p:nvCxnSpPr>
        <p:spPr>
          <a:xfrm>
            <a:off x="7861345" y="223402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48" name="曲线连接符 47"/>
          <p:cNvCxnSpPr>
            <a:stCxn id="42" idx="2"/>
            <a:endCxn id="31" idx="3"/>
          </p:cNvCxnSpPr>
          <p:nvPr/>
        </p:nvCxnSpPr>
        <p:spPr>
          <a:xfrm rot="5400000">
            <a:off x="6494780" y="1384935"/>
            <a:ext cx="1553845" cy="3673475"/>
          </a:xfrm>
          <a:prstGeom prst="curvedConnector2">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8305800" y="3324225"/>
            <a:ext cx="4064000" cy="368300"/>
          </a:xfrm>
          <a:prstGeom prst="rect">
            <a:avLst/>
          </a:prstGeom>
          <a:noFill/>
        </p:spPr>
        <p:txBody>
          <a:bodyPr wrap="square" rtlCol="0">
            <a:spAutoFit/>
          </a:bodyPr>
          <a:p>
            <a:r>
              <a:rPr lang="zh-CN" altLang="en-US">
                <a:solidFill>
                  <a:srgbClr val="FF0000"/>
                </a:solidFill>
              </a:rPr>
              <a:t>代入</a:t>
            </a:r>
            <a:endParaRPr lang="zh-CN" altLang="en-US">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4.3</a:t>
            </a:r>
            <a:endParaRPr lang="zh-CN" altLang="en-US" b="1">
              <a:solidFill>
                <a:schemeClr val="bg1"/>
              </a:solidFill>
            </a:endParaRPr>
          </a:p>
        </p:txBody>
      </p:sp>
      <p:sp>
        <p:nvSpPr>
          <p:cNvPr id="6" name="Rectangle 1"/>
          <p:cNvSpPr>
            <a:spLocks noChangeArrowheads="1"/>
          </p:cNvSpPr>
          <p:nvPr/>
        </p:nvSpPr>
        <p:spPr bwMode="auto">
          <a:xfrm>
            <a:off x="3260725" y="2027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sym typeface="+mn-ea"/>
              </a:rPr>
              <a:t>反事实结果</a:t>
            </a:r>
            <a:r>
              <a:rPr lang="en-US" altLang="zh-CN" sz="2800" b="1" dirty="0">
                <a:latin typeface="+mn-lt"/>
                <a:sym typeface="+mn-ea"/>
              </a:rPr>
              <a:t>：</a:t>
            </a:r>
            <a:r>
              <a:rPr lang="zh-CN" altLang="en-US" sz="2800" b="1" dirty="0">
                <a:latin typeface="+mn-lt"/>
              </a:rPr>
              <a:t>异质性</a:t>
            </a:r>
            <a:r>
              <a:rPr lang="zh-CN" altLang="en-US" sz="2800" b="1" dirty="0">
                <a:latin typeface="+mn-lt"/>
              </a:rPr>
              <a:t>讨论</a:t>
            </a:r>
            <a:endParaRPr lang="zh-CN" altLang="en-US" sz="2800" b="1" dirty="0">
              <a:latin typeface="+mn-lt"/>
            </a:endParaRPr>
          </a:p>
        </p:txBody>
      </p:sp>
      <p:grpSp>
        <p:nvGrpSpPr>
          <p:cNvPr id="10" name="组合 9"/>
          <p:cNvGrpSpPr/>
          <p:nvPr/>
        </p:nvGrpSpPr>
        <p:grpSpPr>
          <a:xfrm rot="0">
            <a:off x="2105660" y="1241425"/>
            <a:ext cx="9229090" cy="3646805"/>
            <a:chOff x="3107" y="5400"/>
            <a:chExt cx="3989" cy="4349"/>
          </a:xfrm>
        </p:grpSpPr>
        <p:sp>
          <p:nvSpPr>
            <p:cNvPr id="11" name="矩形 10"/>
            <p:cNvSpPr/>
            <p:nvPr/>
          </p:nvSpPr>
          <p:spPr>
            <a:xfrm>
              <a:off x="3107" y="5423"/>
              <a:ext cx="3989" cy="4326"/>
            </a:xfrm>
            <a:prstGeom prst="rect">
              <a:avLst/>
            </a:prstGeom>
            <a:noFill/>
            <a:ln w="28575">
              <a:solidFill>
                <a:srgbClr val="69025E"/>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107" y="5400"/>
              <a:ext cx="3989" cy="439"/>
            </a:xfrm>
            <a:prstGeom prst="rect">
              <a:avLst/>
            </a:prstGeom>
            <a:solidFill>
              <a:srgbClr val="69025E"/>
            </a:solidFill>
          </p:spPr>
          <p:txBody>
            <a:bodyPr wrap="square">
              <a:spAutoFit/>
            </a:bodyPr>
            <a:lstStyle/>
            <a:p>
              <a:pPr algn="ctr"/>
              <a:r>
                <a:rPr lang="zh-CN" altLang="en-US" b="1">
                  <a:solidFill>
                    <a:schemeClr val="bg1"/>
                  </a:solidFill>
                  <a:cs typeface="Arial" panose="020B0604020202090204" pitchFamily="34" charset="0"/>
                  <a:sym typeface="+mn-ea"/>
                </a:rPr>
                <a:t>公式解释</a:t>
              </a:r>
              <a:endParaRPr lang="zh-CN" altLang="en-US" b="1">
                <a:solidFill>
                  <a:schemeClr val="bg1"/>
                </a:solidFill>
                <a:sym typeface="+mn-ea"/>
              </a:endParaRPr>
            </a:p>
          </p:txBody>
        </p:sp>
      </p:grpSp>
      <p:sp>
        <p:nvSpPr>
          <p:cNvPr id="28" name="箭头: 下 15"/>
          <p:cNvSpPr/>
          <p:nvPr/>
        </p:nvSpPr>
        <p:spPr>
          <a:xfrm>
            <a:off x="6426835" y="4888230"/>
            <a:ext cx="587375" cy="368300"/>
          </a:xfrm>
          <a:prstGeom prst="downArrow">
            <a:avLst/>
          </a:prstGeom>
          <a:solidFill>
            <a:srgbClr val="6902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464050" y="5253355"/>
            <a:ext cx="6871335" cy="10648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buFont typeface="Arial" panose="020B0604020202090204" pitchFamily="34" charset="0"/>
              <a:buChar char="•"/>
            </a:pPr>
            <a:r>
              <a:rPr lang="zh-CN" altLang="en-US" sz="1400" b="1">
                <a:solidFill>
                  <a:schemeClr val="tx1"/>
                </a:solidFill>
              </a:rPr>
              <a:t>式子左侧</a:t>
            </a:r>
            <a:r>
              <a:rPr lang="en-US" altLang="zh-CN" sz="1400" b="1">
                <a:solidFill>
                  <a:schemeClr val="tx1"/>
                </a:solidFill>
              </a:rPr>
              <a:t>：</a:t>
            </a:r>
            <a:r>
              <a:rPr lang="zh-CN" altLang="en-US" sz="1400">
                <a:solidFill>
                  <a:schemeClr val="tx1"/>
                </a:solidFill>
              </a:rPr>
              <a:t>反事实后的出生地为</a:t>
            </a:r>
            <a:r>
              <a:rPr lang="en-US" altLang="zh-CN" sz="1400">
                <a:solidFill>
                  <a:schemeClr val="tx1"/>
                </a:solidFill>
              </a:rPr>
              <a:t>o</a:t>
            </a:r>
            <a:r>
              <a:rPr lang="zh-CN" altLang="en-US" sz="1400">
                <a:solidFill>
                  <a:schemeClr val="tx1"/>
                </a:solidFill>
              </a:rPr>
              <a:t>的劳动者平均工资</a:t>
            </a:r>
            <a:r>
              <a:rPr lang="en-US" altLang="zh-CN" sz="1400">
                <a:solidFill>
                  <a:schemeClr val="tx1"/>
                </a:solidFill>
              </a:rPr>
              <a:t>/</a:t>
            </a:r>
            <a:r>
              <a:rPr lang="zh-CN" altLang="en-US" sz="1400">
                <a:solidFill>
                  <a:schemeClr val="tx1"/>
                </a:solidFill>
              </a:rPr>
              <a:t>反事实前平均工资</a:t>
            </a:r>
            <a:r>
              <a:rPr lang="en-US" altLang="zh-CN" sz="1400">
                <a:solidFill>
                  <a:schemeClr val="tx1"/>
                </a:solidFill>
              </a:rPr>
              <a:t>（</a:t>
            </a:r>
            <a:r>
              <a:rPr lang="zh-CN" altLang="en-US" sz="1400">
                <a:solidFill>
                  <a:schemeClr val="tx1"/>
                </a:solidFill>
              </a:rPr>
              <a:t>观测值</a:t>
            </a:r>
            <a:r>
              <a:rPr lang="en-US" altLang="zh-CN" sz="1400">
                <a:solidFill>
                  <a:schemeClr val="tx1"/>
                </a:solidFill>
              </a:rPr>
              <a:t>）</a:t>
            </a:r>
            <a:endParaRPr lang="en-US" altLang="zh-CN" sz="1400">
              <a:solidFill>
                <a:schemeClr val="tx1"/>
              </a:solidFill>
            </a:endParaRPr>
          </a:p>
          <a:p>
            <a:pPr marL="285750" indent="-285750" algn="l">
              <a:buFont typeface="Arial" panose="020B0604020202090204" pitchFamily="34" charset="0"/>
              <a:buChar char="•"/>
            </a:pPr>
            <a:r>
              <a:rPr lang="zh-CN" altLang="en-US" sz="1400" b="1">
                <a:solidFill>
                  <a:schemeClr val="tx1"/>
                </a:solidFill>
              </a:rPr>
              <a:t>式子右侧</a:t>
            </a:r>
            <a:r>
              <a:rPr lang="en-US" altLang="zh-CN" sz="1400" b="1">
                <a:solidFill>
                  <a:schemeClr val="tx1"/>
                </a:solidFill>
              </a:rPr>
              <a:t>：</a:t>
            </a:r>
            <a:r>
              <a:rPr lang="zh-CN" altLang="en-US" sz="1400">
                <a:solidFill>
                  <a:schemeClr val="tx1"/>
                </a:solidFill>
              </a:rPr>
              <a:t>若分子中的</a:t>
            </a:r>
            <a:r>
              <a:rPr lang="en-US" altLang="zh-CN" sz="1400">
                <a:solidFill>
                  <a:schemeClr val="tx1"/>
                </a:solidFill>
              </a:rPr>
              <a:t>o-d</a:t>
            </a:r>
            <a:r>
              <a:rPr lang="zh-CN" altLang="en-US" sz="1400">
                <a:solidFill>
                  <a:schemeClr val="tx1"/>
                </a:solidFill>
              </a:rPr>
              <a:t>平均工资离散程度越大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rgbClr val="660066"/>
                </a:solidFill>
                <a:effectLst/>
                <a:uFillTx/>
                <a:latin typeface="Times New Roman" panose="02020503050405090304" pitchFamily="18" charset="0"/>
                <a:ea typeface="楷体" charset="0"/>
                <a:cs typeface="DejaVu Math TeX Gyre" panose="02000503000000000000" charset="0"/>
                <a:sym typeface="+mn-ea"/>
              </a:rPr>
              <a:t>大量人口被困在低回报目的地（高迁移成本、低生产率、高宜居度补偿的地方）</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分子越大</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导致消除迁移摩擦后</a:t>
            </a:r>
            <a:r>
              <a:rPr lang="en-US" altLang="zh-CN"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反事实工资增长</a:t>
            </a:r>
            <a:r>
              <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rPr>
              <a:t>越多</a:t>
            </a:r>
            <a:endParaRPr lang="zh-CN" altLang="en-US" sz="1400" kern="100" dirty="0">
              <a:solidFill>
                <a:schemeClr val="tx1"/>
              </a:solidFill>
              <a:effectLst/>
              <a:uFillTx/>
              <a:latin typeface="Times New Roman" panose="02020503050405090304" pitchFamily="18" charset="0"/>
              <a:ea typeface="楷体" charset="0"/>
              <a:cs typeface="DejaVu Math TeX Gyre" panose="02000503000000000000" charset="0"/>
              <a:sym typeface="+mn-ea"/>
            </a:endParaRPr>
          </a:p>
        </p:txBody>
      </p:sp>
      <p:pic>
        <p:nvPicPr>
          <p:cNvPr id="26" name="图片 25" descr="06aaef3aab26a1b45ced3d4e58801c4a"/>
          <p:cNvPicPr>
            <a:picLocks noChangeAspect="1"/>
          </p:cNvPicPr>
          <p:nvPr/>
        </p:nvPicPr>
        <p:blipFill>
          <a:blip r:embed="rId1"/>
          <a:stretch>
            <a:fillRect/>
          </a:stretch>
        </p:blipFill>
        <p:spPr>
          <a:xfrm>
            <a:off x="2258060" y="2027555"/>
            <a:ext cx="2727325" cy="413385"/>
          </a:xfrm>
          <a:prstGeom prst="rect">
            <a:avLst/>
          </a:prstGeom>
        </p:spPr>
      </p:pic>
      <p:pic>
        <p:nvPicPr>
          <p:cNvPr id="29" name="图片 28" descr="0dcfaa091fde8e6b8c36cfa2cc9ce806"/>
          <p:cNvPicPr>
            <a:picLocks noChangeAspect="1"/>
          </p:cNvPicPr>
          <p:nvPr/>
        </p:nvPicPr>
        <p:blipFill>
          <a:blip r:embed="rId2"/>
          <a:stretch>
            <a:fillRect/>
          </a:stretch>
        </p:blipFill>
        <p:spPr>
          <a:xfrm>
            <a:off x="5306695" y="1974215"/>
            <a:ext cx="2553335" cy="466725"/>
          </a:xfrm>
          <a:prstGeom prst="rect">
            <a:avLst/>
          </a:prstGeom>
        </p:spPr>
      </p:pic>
      <p:pic>
        <p:nvPicPr>
          <p:cNvPr id="30" name="图片 29" descr="3e7d7909b04daf56c1cd28d4b686e4ea"/>
          <p:cNvPicPr>
            <a:picLocks noChangeAspect="1"/>
          </p:cNvPicPr>
          <p:nvPr/>
        </p:nvPicPr>
        <p:blipFill>
          <a:blip r:embed="rId3"/>
          <a:stretch>
            <a:fillRect/>
          </a:stretch>
        </p:blipFill>
        <p:spPr>
          <a:xfrm>
            <a:off x="2258060" y="2771140"/>
            <a:ext cx="3798570" cy="453390"/>
          </a:xfrm>
          <a:prstGeom prst="rect">
            <a:avLst/>
          </a:prstGeom>
        </p:spPr>
      </p:pic>
      <p:pic>
        <p:nvPicPr>
          <p:cNvPr id="31" name="图片 30" descr="471fbe65f54da34c60840716f532aa92"/>
          <p:cNvPicPr>
            <a:picLocks noChangeAspect="1"/>
          </p:cNvPicPr>
          <p:nvPr/>
        </p:nvPicPr>
        <p:blipFill>
          <a:blip r:embed="rId4"/>
          <a:stretch>
            <a:fillRect/>
          </a:stretch>
        </p:blipFill>
        <p:spPr>
          <a:xfrm>
            <a:off x="3144520" y="3188970"/>
            <a:ext cx="2290445" cy="1619885"/>
          </a:xfrm>
          <a:prstGeom prst="rect">
            <a:avLst/>
          </a:prstGeom>
        </p:spPr>
      </p:pic>
      <p:sp>
        <p:nvSpPr>
          <p:cNvPr id="35" name="文本框 34"/>
          <p:cNvSpPr txBox="1"/>
          <p:nvPr/>
        </p:nvSpPr>
        <p:spPr>
          <a:xfrm>
            <a:off x="2258060" y="1707515"/>
            <a:ext cx="4064000" cy="337185"/>
          </a:xfrm>
          <a:prstGeom prst="rect">
            <a:avLst/>
          </a:prstGeom>
          <a:noFill/>
        </p:spPr>
        <p:txBody>
          <a:bodyPr wrap="square" rtlCol="0">
            <a:spAutoFit/>
          </a:bodyPr>
          <a:p>
            <a:r>
              <a:rPr lang="zh-CN" altLang="en-US" sz="1600"/>
              <a:t>反事实前的平均工资</a:t>
            </a:r>
            <a:r>
              <a:rPr lang="en-US" altLang="zh-CN" sz="1600"/>
              <a:t>：</a:t>
            </a:r>
            <a:endParaRPr lang="en-US" altLang="zh-CN" sz="1600"/>
          </a:p>
        </p:txBody>
      </p:sp>
      <p:cxnSp>
        <p:nvCxnSpPr>
          <p:cNvPr id="36" name="直接箭头连接符 35"/>
          <p:cNvCxnSpPr/>
          <p:nvPr/>
        </p:nvCxnSpPr>
        <p:spPr>
          <a:xfrm>
            <a:off x="4978445" y="223402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2258060" y="2518410"/>
            <a:ext cx="4676775" cy="337185"/>
          </a:xfrm>
          <a:prstGeom prst="rect">
            <a:avLst/>
          </a:prstGeom>
          <a:noFill/>
        </p:spPr>
        <p:txBody>
          <a:bodyPr wrap="square" rtlCol="0">
            <a:spAutoFit/>
          </a:bodyPr>
          <a:p>
            <a:r>
              <a:rPr lang="zh-CN" altLang="en-US" sz="1600"/>
              <a:t>反事实后的平均工资（无迁移摩擦时</a:t>
            </a:r>
            <a:r>
              <a:rPr lang="en-US" altLang="zh-CN" sz="1600"/>
              <a:t>）：</a:t>
            </a:r>
            <a:endParaRPr lang="en-US" altLang="zh-CN" sz="1600"/>
          </a:p>
        </p:txBody>
      </p:sp>
      <p:cxnSp>
        <p:nvCxnSpPr>
          <p:cNvPr id="38" name="直接箭头连接符 37"/>
          <p:cNvCxnSpPr/>
          <p:nvPr/>
        </p:nvCxnSpPr>
        <p:spPr>
          <a:xfrm>
            <a:off x="2737530" y="342909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2737530" y="4002500"/>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2737530" y="4632420"/>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pic>
        <p:nvPicPr>
          <p:cNvPr id="42" name="图片 41" descr="d6d781d4bff3ba3f1c86e2714be14850"/>
          <p:cNvPicPr>
            <a:picLocks noChangeAspect="1"/>
          </p:cNvPicPr>
          <p:nvPr/>
        </p:nvPicPr>
        <p:blipFill>
          <a:blip r:embed="rId5"/>
          <a:stretch>
            <a:fillRect/>
          </a:stretch>
        </p:blipFill>
        <p:spPr>
          <a:xfrm>
            <a:off x="8181340" y="1873250"/>
            <a:ext cx="1853565" cy="572135"/>
          </a:xfrm>
          <a:prstGeom prst="rect">
            <a:avLst/>
          </a:prstGeom>
        </p:spPr>
      </p:pic>
      <p:cxnSp>
        <p:nvCxnSpPr>
          <p:cNvPr id="43" name="直接箭头连接符 42"/>
          <p:cNvCxnSpPr/>
          <p:nvPr/>
        </p:nvCxnSpPr>
        <p:spPr>
          <a:xfrm>
            <a:off x="5513750" y="4632420"/>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pic>
        <p:nvPicPr>
          <p:cNvPr id="44" name="图片 43" descr="0d66adb5236a6d766b2921f0c357f94a"/>
          <p:cNvPicPr>
            <a:picLocks noChangeAspect="1"/>
          </p:cNvPicPr>
          <p:nvPr/>
        </p:nvPicPr>
        <p:blipFill>
          <a:blip r:embed="rId6"/>
          <a:stretch>
            <a:fillRect/>
          </a:stretch>
        </p:blipFill>
        <p:spPr>
          <a:xfrm>
            <a:off x="5920740" y="4247515"/>
            <a:ext cx="4237990" cy="632460"/>
          </a:xfrm>
          <a:prstGeom prst="rect">
            <a:avLst/>
          </a:prstGeom>
        </p:spPr>
      </p:pic>
      <p:cxnSp>
        <p:nvCxnSpPr>
          <p:cNvPr id="46" name="直接箭头连接符 45"/>
          <p:cNvCxnSpPr/>
          <p:nvPr/>
        </p:nvCxnSpPr>
        <p:spPr>
          <a:xfrm>
            <a:off x="7861345" y="2234025"/>
            <a:ext cx="328295" cy="0"/>
          </a:xfrm>
          <a:prstGeom prst="straightConnector1">
            <a:avLst/>
          </a:prstGeom>
          <a:ln w="28575">
            <a:solidFill>
              <a:srgbClr val="69025E"/>
            </a:solidFill>
            <a:tailEnd type="triangle"/>
          </a:ln>
        </p:spPr>
        <p:style>
          <a:lnRef idx="1">
            <a:schemeClr val="accent1"/>
          </a:lnRef>
          <a:fillRef idx="0">
            <a:schemeClr val="accent1"/>
          </a:fillRef>
          <a:effectRef idx="0">
            <a:schemeClr val="accent1"/>
          </a:effectRef>
          <a:fontRef idx="minor">
            <a:schemeClr val="tx1"/>
          </a:fontRef>
        </p:style>
      </p:cxnSp>
      <p:pic>
        <p:nvPicPr>
          <p:cNvPr id="47" name="图片 46" descr="1868f11005e4d13dfa418778bd6f5df0"/>
          <p:cNvPicPr>
            <a:picLocks noChangeAspect="1"/>
          </p:cNvPicPr>
          <p:nvPr/>
        </p:nvPicPr>
        <p:blipFill>
          <a:blip r:embed="rId7"/>
          <a:stretch>
            <a:fillRect/>
          </a:stretch>
        </p:blipFill>
        <p:spPr>
          <a:xfrm>
            <a:off x="2105660" y="5125720"/>
            <a:ext cx="2198370" cy="1316990"/>
          </a:xfrm>
          <a:prstGeom prst="rect">
            <a:avLst/>
          </a:prstGeom>
        </p:spPr>
      </p:pic>
      <p:cxnSp>
        <p:nvCxnSpPr>
          <p:cNvPr id="48" name="曲线连接符 47"/>
          <p:cNvCxnSpPr>
            <a:stCxn id="42" idx="2"/>
            <a:endCxn id="31" idx="3"/>
          </p:cNvCxnSpPr>
          <p:nvPr/>
        </p:nvCxnSpPr>
        <p:spPr>
          <a:xfrm rot="5400000">
            <a:off x="6494780" y="1384935"/>
            <a:ext cx="1553845" cy="3673475"/>
          </a:xfrm>
          <a:prstGeom prst="curvedConnector2">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8305800" y="3324225"/>
            <a:ext cx="4064000" cy="368300"/>
          </a:xfrm>
          <a:prstGeom prst="rect">
            <a:avLst/>
          </a:prstGeom>
          <a:noFill/>
        </p:spPr>
        <p:txBody>
          <a:bodyPr wrap="square" rtlCol="0">
            <a:spAutoFit/>
          </a:bodyPr>
          <a:p>
            <a:r>
              <a:rPr lang="zh-CN" altLang="en-US">
                <a:solidFill>
                  <a:srgbClr val="FF0000"/>
                </a:solidFill>
              </a:rPr>
              <a:t>代入</a:t>
            </a:r>
            <a:endParaRPr lang="zh-CN" altLang="en-US">
              <a:solidFill>
                <a:srgbClr val="FF0000"/>
              </a:solidFill>
            </a:endParaRPr>
          </a:p>
        </p:txBody>
      </p:sp>
      <p:sp>
        <p:nvSpPr>
          <p:cNvPr id="51" name="矩形 50"/>
          <p:cNvSpPr/>
          <p:nvPr/>
        </p:nvSpPr>
        <p:spPr>
          <a:xfrm>
            <a:off x="1945640" y="5702300"/>
            <a:ext cx="2358390" cy="79629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4.4</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稳健性检验</a:t>
            </a:r>
            <a:r>
              <a:rPr lang="en-US" altLang="zh-CN" sz="2800" b="1" dirty="0">
                <a:latin typeface="+mn-lt"/>
              </a:rPr>
              <a:t>1：</a:t>
            </a:r>
            <a:r>
              <a:rPr lang="zh-CN" altLang="en-US" sz="2800" b="1" dirty="0">
                <a:latin typeface="+mn-lt"/>
              </a:rPr>
              <a:t>调整一般均衡参数</a:t>
            </a:r>
            <a:r>
              <a:rPr lang="zh-CN" altLang="en-US" sz="2800" b="1" dirty="0">
                <a:latin typeface="+mn-lt"/>
              </a:rPr>
              <a:t>大小</a:t>
            </a:r>
            <a:endParaRPr lang="zh-CN" altLang="en-US" sz="2800" b="1" dirty="0">
              <a:latin typeface="+mn-lt"/>
            </a:endParaRPr>
          </a:p>
        </p:txBody>
      </p:sp>
      <p:pic>
        <p:nvPicPr>
          <p:cNvPr id="22" name="图片 21"/>
          <p:cNvPicPr>
            <a:picLocks noChangeAspect="1"/>
          </p:cNvPicPr>
          <p:nvPr/>
        </p:nvPicPr>
        <p:blipFill>
          <a:blip r:embed="rId1"/>
          <a:stretch>
            <a:fillRect/>
          </a:stretch>
        </p:blipFill>
        <p:spPr>
          <a:xfrm>
            <a:off x="1965960" y="1708150"/>
            <a:ext cx="5015230" cy="3811270"/>
          </a:xfrm>
          <a:prstGeom prst="rect">
            <a:avLst/>
          </a:prstGeom>
        </p:spPr>
      </p:pic>
      <p:sp>
        <p:nvSpPr>
          <p:cNvPr id="23" name="矩形: 圆角 7"/>
          <p:cNvSpPr/>
          <p:nvPr/>
        </p:nvSpPr>
        <p:spPr>
          <a:xfrm>
            <a:off x="7141210" y="3407410"/>
            <a:ext cx="4272915" cy="2141220"/>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buClrTx/>
              <a:buSzTx/>
              <a:buFont typeface="Arial" panose="020B0604020202090204" pitchFamily="34" charset="0"/>
              <a:buChar char="•"/>
            </a:pPr>
            <a:r>
              <a:rPr lang="en-US" altLang="zh-CN" sz="1600" dirty="0">
                <a:solidFill>
                  <a:schemeClr val="tx1"/>
                </a:solidFill>
              </a:rPr>
              <a:t>集聚越强、拥挤越弱、替代弹性越低，移除流动障碍的收益越大。</a:t>
            </a:r>
            <a:endParaRPr lang="en-US" altLang="zh-CN" sz="1600" dirty="0">
              <a:solidFill>
                <a:schemeClr val="tx1"/>
              </a:solidFill>
            </a:endParaRPr>
          </a:p>
          <a:p>
            <a:pPr marL="285750" indent="-285750" algn="l">
              <a:buClrTx/>
              <a:buSzTx/>
              <a:buFont typeface="Arial" panose="020B0604020202090204" pitchFamily="34" charset="0"/>
              <a:buChar char="•"/>
            </a:pPr>
            <a:r>
              <a:rPr lang="zh-CN" altLang="en-US" sz="1600" dirty="0">
                <a:solidFill>
                  <a:srgbClr val="660066"/>
                </a:solidFill>
              </a:rPr>
              <a:t>三个参数的作用方向都符合预期</a:t>
            </a:r>
            <a:r>
              <a:rPr lang="en-US" altLang="zh-CN" sz="1600" dirty="0">
                <a:solidFill>
                  <a:srgbClr val="660066"/>
                </a:solidFill>
              </a:rPr>
              <a:t>，</a:t>
            </a:r>
            <a:r>
              <a:rPr lang="zh-CN" altLang="en-US" sz="1600" dirty="0">
                <a:solidFill>
                  <a:schemeClr val="tx1"/>
                </a:solidFill>
              </a:rPr>
              <a:t>消除迁移摩擦带来收益提升的结论稳健</a:t>
            </a:r>
            <a:r>
              <a:rPr lang="en-US" altLang="zh-CN" sz="1600" dirty="0">
                <a:solidFill>
                  <a:schemeClr val="tx1"/>
                </a:solidFill>
              </a:rPr>
              <a:t>。</a:t>
            </a:r>
            <a:endParaRPr lang="zh-CN" altLang="en-US" sz="1600" dirty="0">
              <a:solidFill>
                <a:schemeClr val="tx1"/>
              </a:solidFill>
            </a:endParaRPr>
          </a:p>
          <a:p>
            <a:pPr marL="285750" indent="-285750" algn="l">
              <a:buClrTx/>
              <a:buSzTx/>
              <a:buFont typeface="Arial" panose="020B0604020202090204" pitchFamily="34" charset="0"/>
              <a:buChar char="•"/>
            </a:pPr>
            <a:r>
              <a:rPr lang="zh-CN" altLang="en-US" sz="1600" dirty="0">
                <a:solidFill>
                  <a:schemeClr val="tx1"/>
                </a:solidFill>
              </a:rPr>
              <a:t>左侧表格为同时消除两类迁移摩擦</a:t>
            </a:r>
            <a:r>
              <a:rPr lang="en-US" altLang="zh-CN" sz="1600" dirty="0">
                <a:solidFill>
                  <a:schemeClr val="tx1"/>
                </a:solidFill>
              </a:rPr>
              <a:t>：baseline</a:t>
            </a:r>
            <a:r>
              <a:rPr lang="zh-CN" altLang="en-US" sz="1600" dirty="0">
                <a:solidFill>
                  <a:schemeClr val="tx1"/>
                </a:solidFill>
              </a:rPr>
              <a:t>效应为</a:t>
            </a:r>
            <a:r>
              <a:rPr lang="en-US" altLang="zh-CN" sz="1600" dirty="0">
                <a:solidFill>
                  <a:schemeClr val="tx1"/>
                </a:solidFill>
              </a:rPr>
              <a:t> 21.7%，</a:t>
            </a:r>
            <a:r>
              <a:rPr lang="zh-CN" altLang="en-US" sz="1600" dirty="0">
                <a:solidFill>
                  <a:schemeClr val="tx1"/>
                </a:solidFill>
              </a:rPr>
              <a:t>调整一般均衡参数的</a:t>
            </a:r>
            <a:r>
              <a:rPr lang="en-US" altLang="zh-CN" sz="1600" dirty="0">
                <a:solidFill>
                  <a:schemeClr val="tx1"/>
                </a:solidFill>
              </a:rPr>
              <a:t>结果在 15.9%–24.7%之间。</a:t>
            </a:r>
            <a:endParaRPr lang="en-US" altLang="zh-CN" sz="1600" dirty="0">
              <a:solidFill>
                <a:schemeClr val="tx1"/>
              </a:solidFill>
            </a:endParaRPr>
          </a:p>
        </p:txBody>
      </p:sp>
      <p:sp>
        <p:nvSpPr>
          <p:cNvPr id="25" name="矩形 24"/>
          <p:cNvSpPr/>
          <p:nvPr/>
        </p:nvSpPr>
        <p:spPr>
          <a:xfrm>
            <a:off x="7150735" y="1708150"/>
            <a:ext cx="4272280" cy="159766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buFont typeface="Arial" panose="020B0604020202090204" pitchFamily="34" charset="0"/>
              <a:buChar char="•"/>
            </a:pPr>
            <a:r>
              <a:rPr lang="zh-CN" altLang="en-US" sz="1600" b="1">
                <a:solidFill>
                  <a:srgbClr val="660066"/>
                </a:solidFill>
                <a:sym typeface="+mn-ea"/>
              </a:rPr>
              <a:t>集聚参数 </a:t>
            </a:r>
            <a:r>
              <a:rPr lang="en-US" altLang="zh-CN" sz="1600" b="1">
                <a:solidFill>
                  <a:srgbClr val="660066"/>
                </a:solidFill>
                <a:sym typeface="+mn-ea"/>
              </a:rPr>
              <a:t>γ：</a:t>
            </a:r>
            <a:r>
              <a:rPr lang="zh-CN" altLang="en-US" sz="1600" dirty="0">
                <a:solidFill>
                  <a:schemeClr val="tx1"/>
                </a:solidFill>
                <a:sym typeface="+mn-ea"/>
              </a:rPr>
              <a:t>基准</a:t>
            </a:r>
            <a:r>
              <a:rPr lang="en-US" altLang="zh-CN" sz="1600">
                <a:solidFill>
                  <a:schemeClr val="tx1"/>
                </a:solidFill>
                <a:sym typeface="+mn-ea"/>
              </a:rPr>
              <a:t>γ=0.05</a:t>
            </a:r>
            <a:r>
              <a:rPr lang="zh-CN" altLang="en-US" sz="1600">
                <a:solidFill>
                  <a:schemeClr val="tx1"/>
                </a:solidFill>
                <a:sym typeface="+mn-ea"/>
              </a:rPr>
              <a:t>，</a:t>
            </a:r>
            <a:r>
              <a:rPr lang="zh-CN" altLang="en-US" sz="1600" dirty="0">
                <a:solidFill>
                  <a:schemeClr val="tx1"/>
                </a:solidFill>
                <a:sym typeface="+mn-ea"/>
              </a:rPr>
              <a:t>稳健性检验</a:t>
            </a:r>
            <a:r>
              <a:rPr lang="en-US" altLang="zh-CN" sz="1600">
                <a:solidFill>
                  <a:schemeClr val="tx1"/>
                </a:solidFill>
                <a:sym typeface="+mn-ea"/>
              </a:rPr>
              <a:t>0～0.08</a:t>
            </a:r>
            <a:endParaRPr lang="en-US" altLang="zh-CN" sz="1600" b="1">
              <a:solidFill>
                <a:schemeClr val="tx1"/>
              </a:solidFill>
              <a:sym typeface="+mn-ea"/>
            </a:endParaRPr>
          </a:p>
          <a:p>
            <a:pPr marL="285750" indent="-285750" algn="l">
              <a:buFont typeface="Arial" panose="020B0604020202090204" pitchFamily="34" charset="0"/>
              <a:buChar char="•"/>
            </a:pPr>
            <a:r>
              <a:rPr lang="zh-CN" altLang="en-US" sz="1600" b="1" dirty="0">
                <a:solidFill>
                  <a:srgbClr val="660066"/>
                </a:solidFill>
                <a:sym typeface="+mn-ea"/>
              </a:rPr>
              <a:t>拥挤参数 </a:t>
            </a:r>
            <a:r>
              <a:rPr lang="en-US" altLang="zh-CN" sz="1600" b="1" dirty="0">
                <a:solidFill>
                  <a:srgbClr val="660066"/>
                </a:solidFill>
                <a:sym typeface="+mn-ea"/>
              </a:rPr>
              <a:t>λ：</a:t>
            </a:r>
            <a:r>
              <a:rPr lang="zh-CN" altLang="en-US" sz="1600" dirty="0">
                <a:solidFill>
                  <a:schemeClr val="tx1"/>
                </a:solidFill>
                <a:sym typeface="+mn-ea"/>
              </a:rPr>
              <a:t>基准</a:t>
            </a:r>
            <a:r>
              <a:rPr lang="en-US" altLang="zh-CN" sz="1600" dirty="0">
                <a:solidFill>
                  <a:schemeClr val="tx1"/>
                </a:solidFill>
                <a:sym typeface="+mn-ea"/>
              </a:rPr>
              <a:t>λ=λa-0.3λr=0-0.3*0.25=-0.075</a:t>
            </a:r>
            <a:r>
              <a:rPr lang="zh-CN" altLang="en-US" sz="1600" dirty="0">
                <a:solidFill>
                  <a:schemeClr val="tx1"/>
                </a:solidFill>
                <a:sym typeface="+mn-ea"/>
              </a:rPr>
              <a:t>，稳健性检验</a:t>
            </a:r>
            <a:r>
              <a:rPr lang="en-US" altLang="zh-CN" sz="1600" dirty="0">
                <a:solidFill>
                  <a:schemeClr val="tx1"/>
                </a:solidFill>
                <a:sym typeface="+mn-ea"/>
              </a:rPr>
              <a:t>λa 0～-0.04</a:t>
            </a:r>
            <a:endParaRPr lang="en-US" altLang="zh-CN" sz="1600" b="1" dirty="0">
              <a:solidFill>
                <a:schemeClr val="tx1"/>
              </a:solidFill>
              <a:sym typeface="+mn-ea"/>
            </a:endParaRPr>
          </a:p>
          <a:p>
            <a:pPr marL="285750" indent="-285750" algn="l">
              <a:buFont typeface="Arial" panose="020B0604020202090204" pitchFamily="34" charset="0"/>
              <a:buChar char="•"/>
            </a:pPr>
            <a:r>
              <a:rPr lang="zh-CN" altLang="en-US" sz="1600" b="1" dirty="0">
                <a:solidFill>
                  <a:srgbClr val="660066"/>
                </a:solidFill>
                <a:sym typeface="+mn-ea"/>
              </a:rPr>
              <a:t>跨地区替代弹性 </a:t>
            </a:r>
            <a:r>
              <a:rPr lang="en-US" altLang="zh-CN" sz="1600" b="1" dirty="0">
                <a:solidFill>
                  <a:srgbClr val="660066"/>
                </a:solidFill>
                <a:sym typeface="+mn-ea"/>
              </a:rPr>
              <a:t>σ：</a:t>
            </a:r>
            <a:r>
              <a:rPr lang="zh-CN" altLang="en-US" sz="1600" dirty="0">
                <a:solidFill>
                  <a:schemeClr val="tx1"/>
                </a:solidFill>
                <a:sym typeface="+mn-ea"/>
              </a:rPr>
              <a:t>主估计</a:t>
            </a:r>
            <a:r>
              <a:rPr lang="en-US" altLang="zh-CN" sz="1600" dirty="0">
                <a:solidFill>
                  <a:schemeClr val="tx1"/>
                </a:solidFill>
                <a:sym typeface="+mn-ea"/>
              </a:rPr>
              <a:t>σ=8</a:t>
            </a:r>
            <a:r>
              <a:rPr lang="zh-CN" altLang="en-US" sz="1600" dirty="0">
                <a:solidFill>
                  <a:schemeClr val="tx1"/>
                </a:solidFill>
                <a:sym typeface="+mn-ea"/>
              </a:rPr>
              <a:t>，稳健性检验</a:t>
            </a:r>
            <a:r>
              <a:rPr lang="en-US" altLang="zh-CN" sz="1600" dirty="0">
                <a:solidFill>
                  <a:schemeClr val="tx1"/>
                </a:solidFill>
                <a:sym typeface="+mn-ea"/>
              </a:rPr>
              <a:t>：4～8</a:t>
            </a:r>
            <a:endParaRPr lang="en-US" altLang="zh-CN" sz="1600" b="1" dirty="0">
              <a:solidFill>
                <a:schemeClr val="tx1"/>
              </a:solidFill>
              <a:cs typeface="Arial" panose="020B0604020202090204" pitchFamily="34" charset="0"/>
              <a:sym typeface="+mn-ea"/>
            </a:endParaRPr>
          </a:p>
        </p:txBody>
      </p:sp>
      <p:sp>
        <p:nvSpPr>
          <p:cNvPr id="51" name="矩形 50"/>
          <p:cNvSpPr/>
          <p:nvPr/>
        </p:nvSpPr>
        <p:spPr>
          <a:xfrm>
            <a:off x="3233420" y="3506470"/>
            <a:ext cx="629285" cy="18351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899785" y="4994910"/>
            <a:ext cx="629285" cy="18351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4.4</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稳健性检验</a:t>
            </a:r>
            <a:r>
              <a:rPr lang="en-US" altLang="zh-CN" sz="2800" b="1" dirty="0">
                <a:latin typeface="+mn-lt"/>
              </a:rPr>
              <a:t>2：</a:t>
            </a:r>
            <a:r>
              <a:rPr lang="zh-CN" altLang="en-US" sz="2800" b="1" dirty="0">
                <a:latin typeface="+mn-lt"/>
              </a:rPr>
              <a:t>考虑自雇者</a:t>
            </a:r>
            <a:r>
              <a:rPr lang="zh-CN" altLang="en-US" sz="2800" b="1" dirty="0">
                <a:latin typeface="+mn-lt"/>
              </a:rPr>
              <a:t>收入</a:t>
            </a:r>
            <a:endParaRPr lang="zh-CN" altLang="en-US" sz="2800" b="1" dirty="0">
              <a:latin typeface="+mn-lt"/>
            </a:endParaRPr>
          </a:p>
        </p:txBody>
      </p:sp>
      <p:sp>
        <p:nvSpPr>
          <p:cNvPr id="4" name="矩形: 圆角 7"/>
          <p:cNvSpPr/>
          <p:nvPr/>
        </p:nvSpPr>
        <p:spPr>
          <a:xfrm>
            <a:off x="6612255" y="1505585"/>
            <a:ext cx="4789170" cy="43364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90204" pitchFamily="34" charset="0"/>
              <a:buChar char="•"/>
            </a:pPr>
            <a:r>
              <a:rPr lang="zh-CN" altLang="en-US" sz="1600">
                <a:solidFill>
                  <a:schemeClr val="tx1"/>
                </a:solidFill>
                <a:sym typeface="+mn-ea"/>
              </a:rPr>
              <a:t>原始数据</a:t>
            </a:r>
            <a:r>
              <a:rPr lang="en-US" altLang="zh-CN" sz="1600">
                <a:solidFill>
                  <a:schemeClr val="tx1"/>
                </a:solidFill>
                <a:sym typeface="+mn-ea"/>
              </a:rPr>
              <a:t> SUSENAS/SUPAS </a:t>
            </a:r>
            <a:r>
              <a:rPr lang="zh-CN" altLang="en-US" sz="1600" b="1">
                <a:solidFill>
                  <a:srgbClr val="660066"/>
                </a:solidFill>
                <a:sym typeface="+mn-ea"/>
              </a:rPr>
              <a:t>不记录自雇者收入</a:t>
            </a:r>
            <a:r>
              <a:rPr lang="zh-CN" altLang="en-US" sz="1600">
                <a:solidFill>
                  <a:srgbClr val="660066"/>
                </a:solidFill>
                <a:sym typeface="+mn-ea"/>
              </a:rPr>
              <a:t>，</a:t>
            </a:r>
            <a:r>
              <a:rPr lang="zh-CN" altLang="en-US" sz="1600">
                <a:solidFill>
                  <a:schemeClr val="tx1"/>
                </a:solidFill>
                <a:sym typeface="+mn-ea"/>
              </a:rPr>
              <a:t>可能会导致参数估计</a:t>
            </a:r>
            <a:r>
              <a:rPr lang="zh-CN" altLang="en-US" sz="1600" b="1">
                <a:solidFill>
                  <a:srgbClr val="660066"/>
                </a:solidFill>
                <a:sym typeface="+mn-ea"/>
              </a:rPr>
              <a:t>有偏：</a:t>
            </a:r>
            <a:r>
              <a:rPr lang="zh-CN" altLang="en-US" sz="1600">
                <a:solidFill>
                  <a:schemeClr val="tx1"/>
                </a:solidFill>
                <a:sym typeface="+mn-ea"/>
              </a:rPr>
              <a:t>如果迁移者更可能从事受雇工作，“迁移对平均工资的影响” 就混杂了样本选择效应，直接影响技能分布离散参数的估计</a:t>
            </a:r>
            <a:r>
              <a:rPr lang="en-US" altLang="zh-CN" sz="1600">
                <a:solidFill>
                  <a:schemeClr val="tx1"/>
                </a:solidFill>
                <a:sym typeface="+mn-ea"/>
              </a:rPr>
              <a:t>。</a:t>
            </a:r>
            <a:endParaRPr lang="en-US" altLang="zh-CN" sz="1600">
              <a:solidFill>
                <a:schemeClr val="tx1"/>
              </a:solidFill>
            </a:endParaRPr>
          </a:p>
          <a:p>
            <a:pPr marL="285750" indent="-285750">
              <a:buFont typeface="Arial" panose="020B0604020202090204" pitchFamily="34" charset="0"/>
              <a:buChar char="•"/>
            </a:pPr>
            <a:endParaRPr lang="en-US" altLang="zh-CN" sz="1600">
              <a:solidFill>
                <a:schemeClr val="tx1"/>
              </a:solidFill>
            </a:endParaRPr>
          </a:p>
          <a:p>
            <a:pPr marL="285750" indent="-285750">
              <a:buFont typeface="Arial" panose="020B0604020202090204" pitchFamily="34" charset="0"/>
              <a:buChar char="•"/>
            </a:pPr>
            <a:r>
              <a:rPr lang="zh-CN" altLang="en-US" sz="1600">
                <a:solidFill>
                  <a:schemeClr val="tx1"/>
                </a:solidFill>
                <a:sym typeface="+mn-ea"/>
              </a:rPr>
              <a:t>用 </a:t>
            </a:r>
            <a:r>
              <a:rPr lang="en-US" altLang="zh-CN" sz="1600">
                <a:solidFill>
                  <a:schemeClr val="tx1"/>
                </a:solidFill>
                <a:sym typeface="+mn-ea"/>
              </a:rPr>
              <a:t>IFLS </a:t>
            </a:r>
            <a:r>
              <a:rPr lang="zh-CN" altLang="en-US" sz="1600">
                <a:solidFill>
                  <a:schemeClr val="tx1"/>
                </a:solidFill>
                <a:sym typeface="+mn-ea"/>
              </a:rPr>
              <a:t>数据（同时记录受雇和自雇收入）尝试</a:t>
            </a:r>
            <a:r>
              <a:rPr lang="zh-CN" altLang="en-US" sz="1600" b="1">
                <a:solidFill>
                  <a:srgbClr val="660066"/>
                </a:solidFill>
                <a:sym typeface="+mn-ea"/>
              </a:rPr>
              <a:t>检验偏差方向：</a:t>
            </a:r>
            <a:r>
              <a:rPr lang="zh-CN" altLang="en-US" sz="1600">
                <a:solidFill>
                  <a:schemeClr val="tx1"/>
                </a:solidFill>
                <a:sym typeface="+mn-ea"/>
              </a:rPr>
              <a:t>全样本的 “工资对迁移比例的弹性”明显大于仅受雇样本，</a:t>
            </a:r>
            <a:r>
              <a:rPr lang="zh-CN" altLang="en-US" sz="1600" b="1">
                <a:solidFill>
                  <a:srgbClr val="660066"/>
                </a:solidFill>
                <a:sym typeface="+mn-ea"/>
              </a:rPr>
              <a:t>说明一旦纳入自雇者，技能分布更分散（</a:t>
            </a:r>
            <a:r>
              <a:rPr lang="en-US" altLang="zh-CN" sz="1600" b="1">
                <a:solidFill>
                  <a:srgbClr val="660066"/>
                </a:solidFill>
                <a:sym typeface="+mn-ea"/>
              </a:rPr>
              <a:t>θ </a:t>
            </a:r>
            <a:r>
              <a:rPr lang="zh-CN" altLang="en-US" sz="1600" b="1">
                <a:solidFill>
                  <a:srgbClr val="660066"/>
                </a:solidFill>
                <a:sym typeface="+mn-ea"/>
              </a:rPr>
              <a:t>更小）</a:t>
            </a:r>
            <a:r>
              <a:rPr lang="zh-CN" altLang="en-US" sz="1600">
                <a:solidFill>
                  <a:schemeClr val="tx1"/>
                </a:solidFill>
                <a:sym typeface="+mn-ea"/>
              </a:rPr>
              <a:t>、</a:t>
            </a:r>
            <a:r>
              <a:rPr lang="en-US" altLang="zh-CN" sz="1600">
                <a:solidFill>
                  <a:schemeClr val="tx1"/>
                </a:solidFill>
                <a:sym typeface="+mn-ea"/>
              </a:rPr>
              <a:t>sorting</a:t>
            </a:r>
            <a:r>
              <a:rPr lang="zh-CN" altLang="en-US" sz="1600">
                <a:solidFill>
                  <a:schemeClr val="tx1"/>
                </a:solidFill>
                <a:sym typeface="+mn-ea"/>
              </a:rPr>
              <a:t>收益空间更大</a:t>
            </a:r>
            <a:r>
              <a:rPr lang="en-US" altLang="zh-CN" sz="1600">
                <a:solidFill>
                  <a:schemeClr val="tx1"/>
                </a:solidFill>
                <a:sym typeface="+mn-ea"/>
              </a:rPr>
              <a:t>，</a:t>
            </a:r>
            <a:r>
              <a:rPr lang="zh-CN" altLang="en-US" sz="1600">
                <a:solidFill>
                  <a:schemeClr val="tx1"/>
                </a:solidFill>
                <a:sym typeface="+mn-ea"/>
              </a:rPr>
              <a:t>所以基准结果很可能只是整体收益的下界</a:t>
            </a:r>
            <a:endParaRPr lang="zh-CN" altLang="en-US" sz="1600">
              <a:solidFill>
                <a:schemeClr val="tx1"/>
              </a:solidFill>
            </a:endParaRPr>
          </a:p>
          <a:p>
            <a:pPr marL="285750" indent="-285750">
              <a:buFont typeface="Arial" panose="020B0604020202090204" pitchFamily="34" charset="0"/>
              <a:buChar char="•"/>
            </a:pPr>
            <a:endParaRPr lang="zh-CN" altLang="en-US" sz="1600">
              <a:solidFill>
                <a:schemeClr val="tx1"/>
              </a:solidFill>
            </a:endParaRPr>
          </a:p>
          <a:p>
            <a:pPr marL="285750" indent="-285750">
              <a:buFont typeface="Arial" panose="020B0604020202090204" pitchFamily="34" charset="0"/>
              <a:buChar char="•"/>
            </a:pPr>
            <a:r>
              <a:rPr lang="zh-CN" altLang="en-US" sz="1600" b="1">
                <a:solidFill>
                  <a:srgbClr val="660066"/>
                </a:solidFill>
                <a:sym typeface="+mn-ea"/>
              </a:rPr>
              <a:t>把 </a:t>
            </a:r>
            <a:r>
              <a:rPr lang="en-US" altLang="zh-CN" sz="1600" b="1">
                <a:solidFill>
                  <a:srgbClr val="660066"/>
                </a:solidFill>
                <a:sym typeface="+mn-ea"/>
              </a:rPr>
              <a:t>θ </a:t>
            </a:r>
            <a:r>
              <a:rPr lang="zh-CN" altLang="en-US" sz="1600" b="1">
                <a:solidFill>
                  <a:srgbClr val="660066"/>
                </a:solidFill>
                <a:sym typeface="+mn-ea"/>
              </a:rPr>
              <a:t>减半重新模拟</a:t>
            </a:r>
            <a:r>
              <a:rPr lang="en-US" altLang="zh-CN" sz="1600" b="1">
                <a:solidFill>
                  <a:srgbClr val="660066"/>
                </a:solidFill>
                <a:sym typeface="+mn-ea"/>
              </a:rPr>
              <a:t>：</a:t>
            </a:r>
            <a:r>
              <a:rPr lang="zh-CN" altLang="en-US" sz="1600">
                <a:solidFill>
                  <a:schemeClr val="tx1"/>
                </a:solidFill>
                <a:sym typeface="+mn-ea"/>
              </a:rPr>
              <a:t>总收益从 22% 上升到 23%，方向一致。原始数据中没有记录自雇数据</a:t>
            </a:r>
            <a:r>
              <a:rPr lang="en-US" altLang="zh-CN" sz="1600">
                <a:solidFill>
                  <a:schemeClr val="tx1"/>
                </a:solidFill>
                <a:sym typeface="+mn-ea"/>
              </a:rPr>
              <a:t>，</a:t>
            </a:r>
            <a:r>
              <a:rPr lang="zh-CN" altLang="en-US" sz="1600" b="1">
                <a:solidFill>
                  <a:srgbClr val="660066"/>
                </a:solidFill>
                <a:sym typeface="+mn-ea"/>
              </a:rPr>
              <a:t>并没有高估反事实结果，</a:t>
            </a:r>
            <a:r>
              <a:rPr lang="zh-CN" altLang="en-US" sz="1600">
                <a:solidFill>
                  <a:schemeClr val="tx1"/>
                </a:solidFill>
                <a:sym typeface="+mn-ea"/>
              </a:rPr>
              <a:t>反而偏保守。</a:t>
            </a:r>
            <a:endParaRPr lang="zh-CN" altLang="en-US" sz="1600" dirty="0">
              <a:solidFill>
                <a:schemeClr val="tx1"/>
              </a:solidFill>
              <a:sym typeface="+mn-ea"/>
            </a:endParaRPr>
          </a:p>
        </p:txBody>
      </p:sp>
      <p:pic>
        <p:nvPicPr>
          <p:cNvPr id="5" name="图片 4"/>
          <p:cNvPicPr>
            <a:picLocks noChangeAspect="1"/>
          </p:cNvPicPr>
          <p:nvPr/>
        </p:nvPicPr>
        <p:blipFill>
          <a:blip r:embed="rId1"/>
          <a:stretch>
            <a:fillRect/>
          </a:stretch>
        </p:blipFill>
        <p:spPr>
          <a:xfrm>
            <a:off x="1689100" y="1852295"/>
            <a:ext cx="4789805" cy="3643630"/>
          </a:xfrm>
          <a:prstGeom prst="rect">
            <a:avLst/>
          </a:prstGeom>
        </p:spPr>
      </p:pic>
      <p:sp>
        <p:nvSpPr>
          <p:cNvPr id="51" name="矩形 50"/>
          <p:cNvSpPr/>
          <p:nvPr/>
        </p:nvSpPr>
        <p:spPr>
          <a:xfrm>
            <a:off x="5184140" y="3429000"/>
            <a:ext cx="629285" cy="18351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184140" y="4022090"/>
            <a:ext cx="629285" cy="18351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965960" y="3764915"/>
            <a:ext cx="969645" cy="256540"/>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4.4</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稳健性检验</a:t>
            </a:r>
            <a:r>
              <a:rPr lang="en-US" altLang="zh-CN" sz="2800" b="1" dirty="0">
                <a:latin typeface="+mn-lt"/>
              </a:rPr>
              <a:t>3：</a:t>
            </a:r>
            <a:r>
              <a:rPr lang="zh-CN" altLang="en-US" sz="2800" b="1" dirty="0">
                <a:latin typeface="+mn-lt"/>
              </a:rPr>
              <a:t>允许迁移成本</a:t>
            </a:r>
            <a:r>
              <a:rPr lang="zh-CN" altLang="en-US" sz="2800" b="1" dirty="0">
                <a:latin typeface="+mn-lt"/>
              </a:rPr>
              <a:t>不对称</a:t>
            </a:r>
            <a:endParaRPr lang="zh-CN" altLang="en-US" sz="2800" b="1" dirty="0">
              <a:latin typeface="+mn-lt"/>
            </a:endParaRPr>
          </a:p>
        </p:txBody>
      </p:sp>
      <p:pic>
        <p:nvPicPr>
          <p:cNvPr id="2" name="图片 1"/>
          <p:cNvPicPr>
            <a:picLocks noChangeAspect="1"/>
          </p:cNvPicPr>
          <p:nvPr/>
        </p:nvPicPr>
        <p:blipFill>
          <a:blip r:embed="rId1"/>
          <a:stretch>
            <a:fillRect/>
          </a:stretch>
        </p:blipFill>
        <p:spPr>
          <a:xfrm>
            <a:off x="2032000" y="2060575"/>
            <a:ext cx="4754880" cy="3251835"/>
          </a:xfrm>
          <a:prstGeom prst="rect">
            <a:avLst/>
          </a:prstGeom>
        </p:spPr>
      </p:pic>
      <mc:AlternateContent xmlns:mc="http://schemas.openxmlformats.org/markup-compatibility/2006">
        <mc:Choice xmlns:a14="http://schemas.microsoft.com/office/drawing/2010/main" Requires="a14">
          <p:sp>
            <p:nvSpPr>
              <p:cNvPr id="4" name="矩形: 圆角 7"/>
              <p:cNvSpPr/>
              <p:nvPr/>
            </p:nvSpPr>
            <p:spPr>
              <a:xfrm>
                <a:off x="6786880" y="1518285"/>
                <a:ext cx="4789170" cy="43364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l">
                  <a:buClrTx/>
                  <a:buSzTx/>
                  <a:buFont typeface="Arial" panose="020B0604020202090204" pitchFamily="34" charset="0"/>
                  <a:buChar char="•"/>
                </a:pPr>
                <a:r>
                  <a:rPr lang="zh-CN" altLang="en-US" sz="1600" b="1">
                    <a:solidFill>
                      <a:srgbClr val="660066"/>
                    </a:solidFill>
                    <a:sym typeface="+mn-ea"/>
                  </a:rPr>
                  <a:t>识别依赖假设：</a:t>
                </a:r>
                <a:r>
                  <a:rPr lang="zh-CN" altLang="en-US" sz="1600">
                    <a:solidFill>
                      <a:schemeClr val="tx1"/>
                    </a:solidFill>
                    <a:sym typeface="+mn-ea"/>
                  </a:rPr>
                  <a:t>从 </a:t>
                </a:r>
                <a:r>
                  <a:rPr lang="en-US" altLang="zh-CN" sz="1600">
                    <a:solidFill>
                      <a:schemeClr val="tx1"/>
                    </a:solidFill>
                    <a:sym typeface="+mn-ea"/>
                  </a:rPr>
                  <a:t>o </a:t>
                </a:r>
                <a:r>
                  <a:rPr lang="zh-CN" altLang="en-US" sz="1600">
                    <a:solidFill>
                      <a:schemeClr val="tx1"/>
                    </a:solidFill>
                    <a:sym typeface="+mn-ea"/>
                  </a:rPr>
                  <a:t>地迁到 </a:t>
                </a:r>
                <a:r>
                  <a:rPr lang="en-US" altLang="zh-CN" sz="1600">
                    <a:solidFill>
                      <a:schemeClr val="tx1"/>
                    </a:solidFill>
                    <a:sym typeface="+mn-ea"/>
                  </a:rPr>
                  <a:t>d </a:t>
                </a:r>
                <a:r>
                  <a:rPr lang="zh-CN" altLang="en-US" sz="1600">
                    <a:solidFill>
                      <a:schemeClr val="tx1"/>
                    </a:solidFill>
                    <a:sym typeface="+mn-ea"/>
                  </a:rPr>
                  <a:t>地和从 </a:t>
                </a:r>
                <a:r>
                  <a:rPr lang="en-US" altLang="zh-CN" sz="1600">
                    <a:solidFill>
                      <a:schemeClr val="tx1"/>
                    </a:solidFill>
                    <a:sym typeface="+mn-ea"/>
                  </a:rPr>
                  <a:t>d </a:t>
                </a:r>
                <a:r>
                  <a:rPr lang="zh-CN" altLang="en-US" sz="1600">
                    <a:solidFill>
                      <a:schemeClr val="tx1"/>
                    </a:solidFill>
                    <a:sym typeface="+mn-ea"/>
                  </a:rPr>
                  <a:t>地迁到 </a:t>
                </a:r>
                <a:r>
                  <a:rPr lang="en-US" altLang="zh-CN" sz="1600">
                    <a:solidFill>
                      <a:schemeClr val="tx1"/>
                    </a:solidFill>
                    <a:sym typeface="+mn-ea"/>
                  </a:rPr>
                  <a:t>o </a:t>
                </a:r>
                <a:r>
                  <a:rPr lang="zh-CN" altLang="en-US" sz="1600">
                    <a:solidFill>
                      <a:schemeClr val="tx1"/>
                    </a:solidFill>
                    <a:sym typeface="+mn-ea"/>
                  </a:rPr>
                  <a:t>地的成本相同。</a:t>
                </a:r>
                <a:r>
                  <a:rPr lang="zh-CN" altLang="en-US" sz="1600" b="1">
                    <a:solidFill>
                      <a:srgbClr val="660066"/>
                    </a:solidFill>
                    <a:sym typeface="+mn-ea"/>
                  </a:rPr>
                  <a:t>直觉上，从小城镇去大城市可能比反向更贵（</a:t>
                </a:r>
                <a:r>
                  <a:rPr lang="zh-CN" altLang="en-US" sz="1600">
                    <a:solidFill>
                      <a:schemeClr val="tx1"/>
                    </a:solidFill>
                    <a:sym typeface="+mn-ea"/>
                  </a:rPr>
                  <a:t>例如</a:t>
                </a:r>
                <a:r>
                  <a:rPr lang="en-US" altLang="zh-CN" sz="1600">
                    <a:solidFill>
                      <a:schemeClr val="tx1"/>
                    </a:solidFill>
                    <a:sym typeface="+mn-ea"/>
                  </a:rPr>
                  <a:t>：</a:t>
                </a:r>
                <a:r>
                  <a:rPr lang="zh-CN" altLang="en-US" sz="1600">
                    <a:solidFill>
                      <a:schemeClr val="tx1"/>
                    </a:solidFill>
                    <a:sym typeface="+mn-ea"/>
                  </a:rPr>
                  <a:t>大城市生活成本高、正式就业占比高、对技能和文书的要求更严格。小镇出身的人进入要付出适配成本；反向迁移到小城镇，生活成本下降，技能要求也更宽松）</a:t>
                </a:r>
                <a:endParaRPr lang="zh-CN" altLang="en-US" sz="1600">
                  <a:solidFill>
                    <a:schemeClr val="tx1"/>
                  </a:solidFill>
                </a:endParaRPr>
              </a:p>
              <a:p>
                <a:pPr marL="285750" indent="-285750">
                  <a:buFont typeface="Arial" panose="020B0604020202090204" pitchFamily="34" charset="0"/>
                  <a:buChar char="•"/>
                </a:pPr>
                <a:endParaRPr lang="zh-CN" altLang="en-US" sz="1600">
                  <a:solidFill>
                    <a:schemeClr val="tx1"/>
                  </a:solidFill>
                </a:endParaRPr>
              </a:p>
              <a:p>
                <a:pPr marL="285750" indent="-285750">
                  <a:buFont typeface="Arial" panose="020B0604020202090204" pitchFamily="34" charset="0"/>
                  <a:buChar char="•"/>
                </a:pPr>
                <a:r>
                  <a:rPr lang="zh-CN" altLang="en-US" sz="1600">
                    <a:solidFill>
                      <a:schemeClr val="tx1"/>
                    </a:solidFill>
                    <a:sym typeface="+mn-ea"/>
                  </a:rPr>
                  <a:t>检验方法</a:t>
                </a:r>
                <a:r>
                  <a:rPr lang="en-US" altLang="zh-CN" sz="1600">
                    <a:solidFill>
                      <a:schemeClr val="tx1"/>
                    </a:solidFill>
                    <a:sym typeface="+mn-ea"/>
                  </a:rPr>
                  <a:t>：</a:t>
                </a:r>
                <a14:m>
                  <m:oMath xmlns:m="http://schemas.openxmlformats.org/officeDocument/2006/math">
                    <m:sSub>
                      <m:sSubPr>
                        <m:ctrlPr>
                          <a:rPr lang="en-US" altLang="zh-CN" sz="1600" b="1" i="1" dirty="0">
                            <a:solidFill>
                              <a:schemeClr val="tx1"/>
                            </a:solidFill>
                            <a:latin typeface="DejaVu Math TeX Gyre" panose="02000503000000000000" charset="0"/>
                            <a:cs typeface="DejaVu Math TeX Gyre" panose="02000503000000000000" charset="0"/>
                          </a:rPr>
                        </m:ctrlPr>
                      </m:sSubPr>
                      <m:e>
                        <m:r>
                          <a:rPr lang="en-US" altLang="zh-CN" sz="1600" b="1" i="1" dirty="0">
                            <a:solidFill>
                              <a:schemeClr val="tx1"/>
                            </a:solidFill>
                            <a:latin typeface="DejaVu Math TeX Gyre" panose="02000503000000000000" charset="0"/>
                            <a:cs typeface="DejaVu Math TeX Gyre" panose="02000503000000000000" charset="0"/>
                          </a:rPr>
                          <m:t>𝝉</m:t>
                        </m:r>
                      </m:e>
                      <m:sub>
                        <m:r>
                          <a:rPr lang="en-US" altLang="zh-CN" sz="1600" b="1" i="1" dirty="0">
                            <a:solidFill>
                              <a:schemeClr val="tx1"/>
                            </a:solidFill>
                            <a:latin typeface="DejaVu Math TeX Gyre" panose="02000503000000000000" charset="0"/>
                            <a:cs typeface="DejaVu Math TeX Gyre" panose="02000503000000000000" charset="0"/>
                          </a:rPr>
                          <m:t>𝒅𝒐</m:t>
                        </m:r>
                      </m:sub>
                    </m:sSub>
                  </m:oMath>
                </a14:m>
                <a:r>
                  <a:rPr lang="en-US" altLang="zh-CN" sz="1600">
                    <a:solidFill>
                      <a:schemeClr val="tx1"/>
                    </a:solidFill>
                    <a:sym typeface="+mn-ea"/>
                  </a:rPr>
                  <a:t> = k・</a:t>
                </a:r>
                <a14:m>
                  <m:oMath xmlns:m="http://schemas.openxmlformats.org/officeDocument/2006/math">
                    <m:sSub>
                      <m:sSubPr>
                        <m:ctrlPr>
                          <a:rPr lang="en-US" altLang="zh-CN" sz="1600" b="1" i="1" dirty="0">
                            <a:solidFill>
                              <a:schemeClr val="tx1"/>
                            </a:solidFill>
                            <a:latin typeface="DejaVu Math TeX Gyre" panose="02000503000000000000" charset="0"/>
                            <a:cs typeface="DejaVu Math TeX Gyre" panose="02000503000000000000" charset="0"/>
                          </a:rPr>
                        </m:ctrlPr>
                      </m:sSubPr>
                      <m:e>
                        <m:r>
                          <a:rPr lang="en-US" altLang="zh-CN" sz="1600" b="1" i="1" dirty="0">
                            <a:solidFill>
                              <a:schemeClr val="tx1"/>
                            </a:solidFill>
                            <a:latin typeface="DejaVu Math TeX Gyre" panose="02000503000000000000" charset="0"/>
                            <a:cs typeface="DejaVu Math TeX Gyre" panose="02000503000000000000" charset="0"/>
                          </a:rPr>
                          <m:t>𝝉</m:t>
                        </m:r>
                      </m:e>
                      <m:sub>
                        <m:r>
                          <a:rPr lang="en-US" altLang="zh-CN" sz="1600" b="1" i="1" dirty="0">
                            <a:solidFill>
                              <a:schemeClr val="tx1"/>
                            </a:solidFill>
                            <a:latin typeface="DejaVu Math TeX Gyre" panose="02000503000000000000" charset="0"/>
                            <a:cs typeface="DejaVu Math TeX Gyre" panose="02000503000000000000" charset="0"/>
                          </a:rPr>
                          <m:t>𝒐𝒅</m:t>
                        </m:r>
                      </m:sub>
                    </m:sSub>
                  </m:oMath>
                </a14:m>
                <a:r>
                  <a:rPr lang="en-US" altLang="zh-CN" sz="1600">
                    <a:solidFill>
                      <a:schemeClr val="tx1"/>
                    </a:solidFill>
                    <a:sym typeface="+mn-ea"/>
                  </a:rPr>
                  <a:t>（d </a:t>
                </a:r>
                <a:r>
                  <a:rPr lang="zh-CN" altLang="en-US" sz="1600">
                    <a:solidFill>
                      <a:schemeClr val="tx1"/>
                    </a:solidFill>
                    <a:sym typeface="+mn-ea"/>
                  </a:rPr>
                  <a:t>的人口大于 </a:t>
                </a:r>
                <a:r>
                  <a:rPr lang="en-US" altLang="zh-CN" sz="1600">
                    <a:solidFill>
                      <a:schemeClr val="tx1"/>
                    </a:solidFill>
                    <a:sym typeface="+mn-ea"/>
                  </a:rPr>
                  <a:t>o）</a:t>
                </a:r>
                <a:r>
                  <a:rPr lang="zh-CN" altLang="en-US" sz="1600">
                    <a:solidFill>
                      <a:schemeClr val="tx1"/>
                    </a:solidFill>
                    <a:sym typeface="+mn-ea"/>
                  </a:rPr>
                  <a:t>进行估计</a:t>
                </a:r>
                <a:r>
                  <a:rPr lang="en-US" altLang="zh-CN" sz="1600">
                    <a:solidFill>
                      <a:schemeClr val="tx1"/>
                    </a:solidFill>
                    <a:sym typeface="+mn-ea"/>
                  </a:rPr>
                  <a:t>。</a:t>
                </a:r>
                <a:r>
                  <a:rPr lang="zh-CN" altLang="en-US" sz="1600">
                    <a:solidFill>
                      <a:schemeClr val="tx1"/>
                    </a:solidFill>
                    <a:sym typeface="+mn-ea"/>
                  </a:rPr>
                  <a:t>这种设定下，移除迁移</a:t>
                </a:r>
                <a:r>
                  <a:rPr lang="zh-CN" altLang="en-US" sz="1600">
                    <a:solidFill>
                      <a:schemeClr val="tx1"/>
                    </a:solidFill>
                    <a:sym typeface="+mn-ea"/>
                  </a:rPr>
                  <a:t>摩擦的收益变大。</a:t>
                </a:r>
                <a:endParaRPr lang="zh-CN" altLang="en-US" sz="1600">
                  <a:solidFill>
                    <a:schemeClr val="tx1"/>
                  </a:solidFill>
                </a:endParaRPr>
              </a:p>
              <a:p>
                <a:pPr marL="285750" indent="-285750">
                  <a:buFont typeface="Arial" panose="020B0604020202090204" pitchFamily="34" charset="0"/>
                  <a:buChar char="•"/>
                </a:pPr>
                <a:endParaRPr lang="zh-CN" altLang="en-US" sz="1600">
                  <a:solidFill>
                    <a:schemeClr val="tx1"/>
                  </a:solidFill>
                </a:endParaRPr>
              </a:p>
              <a:p>
                <a:pPr marL="285750" indent="-285750">
                  <a:buFont typeface="Arial" panose="020B0604020202090204" pitchFamily="34" charset="0"/>
                  <a:buChar char="•"/>
                </a:pPr>
                <a:r>
                  <a:rPr lang="zh-CN" altLang="en-US" sz="1600">
                    <a:solidFill>
                      <a:schemeClr val="tx1"/>
                    </a:solidFill>
                    <a:sym typeface="+mn-ea"/>
                  </a:rPr>
                  <a:t>但本文并没有将这一更大的估计结果用作主结果</a:t>
                </a:r>
                <a:r>
                  <a:rPr lang="en-US" altLang="zh-CN" sz="1600">
                    <a:solidFill>
                      <a:schemeClr val="tx1"/>
                    </a:solidFill>
                    <a:sym typeface="+mn-ea"/>
                  </a:rPr>
                  <a:t>：</a:t>
                </a:r>
                <a:r>
                  <a:rPr lang="zh-CN" altLang="en-US" sz="1600">
                    <a:solidFill>
                      <a:schemeClr val="tx1"/>
                    </a:solidFill>
                    <a:sym typeface="+mn-ea"/>
                  </a:rPr>
                  <a:t>如果更换非对称的表达形式，收益完全可能变小。</a:t>
                </a:r>
                <a:endParaRPr lang="zh-CN" altLang="en-US" sz="1600" dirty="0">
                  <a:solidFill>
                    <a:schemeClr val="tx1"/>
                  </a:solidFill>
                  <a:sym typeface="+mn-ea"/>
                </a:endParaRPr>
              </a:p>
            </p:txBody>
          </p:sp>
        </mc:Choice>
        <mc:Fallback>
          <p:sp>
            <p:nvSpPr>
              <p:cNvPr id="4" name="矩形: 圆角 7"/>
              <p:cNvSpPr>
                <a:spLocks noRot="1" noChangeAspect="1" noMove="1" noResize="1" noEditPoints="1" noAdjustHandles="1" noChangeArrowheads="1" noChangeShapeType="1" noTextEdit="1"/>
              </p:cNvSpPr>
              <p:nvPr/>
            </p:nvSpPr>
            <p:spPr>
              <a:xfrm>
                <a:off x="6786880" y="1518285"/>
                <a:ext cx="4789170" cy="4336415"/>
              </a:xfrm>
              <a:prstGeom prst="roundRect">
                <a:avLst/>
              </a:prstGeom>
              <a:blipFill rotWithShape="1">
                <a:blip r:embed="rId2"/>
                <a:stretch>
                  <a:fillRect l="-305" t="-337" r="-292" b="-322"/>
                </a:stretch>
              </a:blip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9" name="矩形 8"/>
          <p:cNvSpPr/>
          <p:nvPr/>
        </p:nvSpPr>
        <p:spPr>
          <a:xfrm>
            <a:off x="2211070" y="3924300"/>
            <a:ext cx="2920365" cy="26860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211070" y="4525645"/>
            <a:ext cx="4219575" cy="26860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584190" y="4108450"/>
            <a:ext cx="511810" cy="26860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584825" y="4794250"/>
            <a:ext cx="516255" cy="19494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5960" y="373380"/>
            <a:ext cx="822960" cy="368300"/>
          </a:xfrm>
          <a:prstGeom prst="rect">
            <a:avLst/>
          </a:prstGeom>
          <a:noFill/>
        </p:spPr>
        <p:txBody>
          <a:bodyPr wrap="square" rtlCol="0">
            <a:spAutoFit/>
          </a:bodyPr>
          <a:lstStyle/>
          <a:p>
            <a:r>
              <a:rPr lang="en-US" altLang="zh-CN" b="1">
                <a:solidFill>
                  <a:schemeClr val="bg1"/>
                </a:solidFill>
              </a:rPr>
              <a:t>4.4</a:t>
            </a:r>
            <a:endParaRPr lang="zh-CN" altLang="en-US" b="1">
              <a:solidFill>
                <a:schemeClr val="bg1"/>
              </a:solidFill>
            </a:endParaRPr>
          </a:p>
        </p:txBody>
      </p:sp>
      <p:sp>
        <p:nvSpPr>
          <p:cNvPr id="7" name="标题 6"/>
          <p:cNvSpPr>
            <a:spLocks noGrp="1"/>
          </p:cNvSpPr>
          <p:nvPr>
            <p:ph type="title" idx="4294967295"/>
          </p:nvPr>
        </p:nvSpPr>
        <p:spPr>
          <a:xfrm>
            <a:off x="2493144" y="350986"/>
            <a:ext cx="8294008" cy="720428"/>
          </a:xfrm>
        </p:spPr>
        <p:txBody>
          <a:bodyPr/>
          <a:lstStyle/>
          <a:p>
            <a:pPr algn="l">
              <a:buClrTx/>
              <a:buSzTx/>
              <a:buFontTx/>
            </a:pPr>
            <a:r>
              <a:rPr lang="zh-CN" altLang="en-US" sz="2800" b="1" dirty="0">
                <a:latin typeface="+mn-lt"/>
              </a:rPr>
              <a:t>稳健性检验</a:t>
            </a:r>
            <a:r>
              <a:rPr lang="en-US" altLang="zh-CN" sz="2800" b="1" dirty="0">
                <a:latin typeface="+mn-lt"/>
              </a:rPr>
              <a:t>4：</a:t>
            </a:r>
            <a:r>
              <a:rPr lang="zh-CN" altLang="en-US" sz="2800" b="1" dirty="0">
                <a:latin typeface="+mn-lt"/>
              </a:rPr>
              <a:t>人力资本</a:t>
            </a:r>
            <a:r>
              <a:rPr lang="zh-CN" altLang="en-US" sz="2800" b="1" dirty="0">
                <a:latin typeface="+mn-lt"/>
              </a:rPr>
              <a:t>投资</a:t>
            </a:r>
            <a:endParaRPr lang="zh-CN" altLang="en-US" sz="2800" b="1" dirty="0">
              <a:latin typeface="+mn-lt"/>
            </a:endParaRPr>
          </a:p>
        </p:txBody>
      </p:sp>
      <p:sp>
        <p:nvSpPr>
          <p:cNvPr id="4" name="矩形: 圆角 7"/>
          <p:cNvSpPr/>
          <p:nvPr/>
        </p:nvSpPr>
        <p:spPr>
          <a:xfrm>
            <a:off x="6786880" y="1518285"/>
            <a:ext cx="4789170" cy="4336415"/>
          </a:xfrm>
          <a:prstGeom prst="roundRect">
            <a:avLst/>
          </a:prstGeom>
          <a:noFill/>
          <a:ln w="28575">
            <a:solidFill>
              <a:srgbClr val="6902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90204" pitchFamily="34" charset="0"/>
              <a:buChar char="•"/>
            </a:pPr>
            <a:r>
              <a:rPr lang="zh-CN" altLang="en-US" sz="1600">
                <a:solidFill>
                  <a:schemeClr val="tx1"/>
                </a:solidFill>
                <a:sym typeface="+mn-ea"/>
              </a:rPr>
              <a:t>反事实默认教育投入不变，但如果迁移障碍真被移除，年轻人可能增加教育、改变人力资本。</a:t>
            </a:r>
            <a:endParaRPr lang="zh-CN" altLang="en-US" sz="1600">
              <a:solidFill>
                <a:schemeClr val="tx1"/>
              </a:solidFill>
            </a:endParaRPr>
          </a:p>
          <a:p>
            <a:pPr indent="0">
              <a:buFont typeface="Arial" panose="020B0604020202090204" pitchFamily="34" charset="0"/>
              <a:buNone/>
            </a:pPr>
            <a:endParaRPr lang="zh-CN" altLang="en-US" sz="1600">
              <a:solidFill>
                <a:schemeClr val="tx1"/>
              </a:solidFill>
            </a:endParaRPr>
          </a:p>
          <a:p>
            <a:pPr marL="285750" indent="-285750">
              <a:buFont typeface="Arial" panose="020B0604020202090204" pitchFamily="34" charset="0"/>
              <a:buChar char="•"/>
            </a:pPr>
            <a:r>
              <a:rPr lang="zh-CN" altLang="en-US" sz="1600" b="1">
                <a:solidFill>
                  <a:srgbClr val="660066"/>
                </a:solidFill>
                <a:sym typeface="+mn-ea"/>
              </a:rPr>
              <a:t>本文直接计算最不利的情形：</a:t>
            </a:r>
            <a:r>
              <a:rPr lang="zh-CN" altLang="en-US" sz="1600">
                <a:solidFill>
                  <a:schemeClr val="tx1"/>
                </a:solidFill>
                <a:sym typeface="+mn-ea"/>
              </a:rPr>
              <a:t>假设完全没有教育优化响应</a:t>
            </a:r>
            <a:r>
              <a:rPr lang="zh-CN" altLang="en-US" sz="1600" b="1">
                <a:solidFill>
                  <a:srgbClr val="660066"/>
                </a:solidFill>
                <a:sym typeface="+mn-ea"/>
              </a:rPr>
              <a:t>（把内生人力资本关掉）</a:t>
            </a:r>
            <a:r>
              <a:rPr lang="en-US" altLang="zh-CN" sz="1600">
                <a:solidFill>
                  <a:schemeClr val="tx1"/>
                </a:solidFill>
                <a:sym typeface="+mn-ea"/>
              </a:rPr>
              <a:t>，</a:t>
            </a:r>
            <a:r>
              <a:rPr lang="zh-CN" altLang="en-US" sz="1600">
                <a:solidFill>
                  <a:schemeClr val="tx1"/>
                </a:solidFill>
                <a:sym typeface="+mn-ea"/>
              </a:rPr>
              <a:t>重新估计反事实结果，总收益从 22% 下降到18</a:t>
            </a:r>
            <a:r>
              <a:rPr lang="en-US" altLang="zh-CN" sz="1600">
                <a:solidFill>
                  <a:schemeClr val="tx1"/>
                </a:solidFill>
                <a:sym typeface="+mn-ea"/>
              </a:rPr>
              <a:t>%。</a:t>
            </a:r>
            <a:endParaRPr lang="en-US" altLang="zh-CN" sz="1600">
              <a:solidFill>
                <a:schemeClr val="tx1"/>
              </a:solidFill>
              <a:sym typeface="+mn-ea"/>
            </a:endParaRPr>
          </a:p>
          <a:p>
            <a:pPr marL="285750" indent="-285750">
              <a:buFont typeface="Arial" panose="020B0604020202090204" pitchFamily="34" charset="0"/>
              <a:buChar char="•"/>
            </a:pPr>
            <a:endParaRPr lang="en-US" altLang="zh-CN" sz="1600">
              <a:solidFill>
                <a:schemeClr val="tx1"/>
              </a:solidFill>
              <a:sym typeface="+mn-ea"/>
            </a:endParaRPr>
          </a:p>
          <a:p>
            <a:pPr marL="285750" indent="-285750">
              <a:buFont typeface="Arial" panose="020B0604020202090204" pitchFamily="34" charset="0"/>
              <a:buChar char="•"/>
            </a:pPr>
            <a:r>
              <a:rPr lang="zh-CN" altLang="en-US" sz="1600">
                <a:solidFill>
                  <a:schemeClr val="tx1"/>
                </a:solidFill>
                <a:sym typeface="+mn-ea"/>
              </a:rPr>
              <a:t>即使把教育响应全部移除，消除迁移摩擦仍能带来产出增长，一定程度说明</a:t>
            </a:r>
            <a:r>
              <a:rPr lang="en-US" altLang="zh-CN" sz="1600">
                <a:solidFill>
                  <a:schemeClr val="tx1"/>
                </a:solidFill>
                <a:sym typeface="+mn-ea"/>
              </a:rPr>
              <a:t>：</a:t>
            </a:r>
            <a:r>
              <a:rPr lang="zh-CN" altLang="en-US" sz="1600">
                <a:solidFill>
                  <a:schemeClr val="tx1"/>
                </a:solidFill>
                <a:sym typeface="+mn-ea"/>
              </a:rPr>
              <a:t>教育的内生调整是一个需要考虑的问题，但它不足以推翻本文的主要结论</a:t>
            </a:r>
            <a:r>
              <a:rPr lang="en-US" altLang="zh-CN" sz="1600">
                <a:solidFill>
                  <a:schemeClr val="tx1"/>
                </a:solidFill>
                <a:sym typeface="+mn-ea"/>
              </a:rPr>
              <a:t>，</a:t>
            </a:r>
            <a:r>
              <a:rPr lang="zh-CN" altLang="en-US" sz="1600">
                <a:solidFill>
                  <a:schemeClr val="tx1"/>
                </a:solidFill>
                <a:sym typeface="+mn-ea"/>
              </a:rPr>
              <a:t>验证了结论的稳健性</a:t>
            </a:r>
            <a:r>
              <a:rPr lang="en-US" altLang="zh-CN" sz="1600">
                <a:solidFill>
                  <a:schemeClr val="tx1"/>
                </a:solidFill>
                <a:sym typeface="+mn-ea"/>
              </a:rPr>
              <a:t>。</a:t>
            </a:r>
            <a:endParaRPr lang="en-US" altLang="zh-CN" sz="1600">
              <a:solidFill>
                <a:schemeClr val="tx1"/>
              </a:solidFill>
              <a:sym typeface="+mn-ea"/>
            </a:endParaRPr>
          </a:p>
        </p:txBody>
      </p:sp>
      <p:pic>
        <p:nvPicPr>
          <p:cNvPr id="2" name="图片 1"/>
          <p:cNvPicPr>
            <a:picLocks noChangeAspect="1"/>
          </p:cNvPicPr>
          <p:nvPr/>
        </p:nvPicPr>
        <p:blipFill>
          <a:blip r:embed="rId1"/>
          <a:stretch>
            <a:fillRect/>
          </a:stretch>
        </p:blipFill>
        <p:spPr>
          <a:xfrm>
            <a:off x="2138680" y="2475230"/>
            <a:ext cx="4383405" cy="2421890"/>
          </a:xfrm>
          <a:prstGeom prst="rect">
            <a:avLst/>
          </a:prstGeom>
        </p:spPr>
      </p:pic>
      <p:sp>
        <p:nvSpPr>
          <p:cNvPr id="8" name="矩形 7"/>
          <p:cNvSpPr/>
          <p:nvPr/>
        </p:nvSpPr>
        <p:spPr>
          <a:xfrm>
            <a:off x="5400040" y="3839845"/>
            <a:ext cx="511810" cy="26860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400040" y="4377055"/>
            <a:ext cx="511810" cy="26860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144" y="350986"/>
            <a:ext cx="8294008" cy="720428"/>
          </a:xfrm>
        </p:spPr>
        <p:txBody>
          <a:bodyPr/>
          <a:lstStyle/>
          <a:p>
            <a:r>
              <a:rPr sz="2600" b="1" dirty="0">
                <a:solidFill>
                  <a:srgbClr val="642366"/>
                </a:solidFill>
              </a:rPr>
              <a:t>table1：指标定义与复现口径</a:t>
            </a:r>
            <a:endParaRPr sz="2600" b="1" dirty="0">
              <a:solidFill>
                <a:srgbClr val="642366"/>
              </a:solidFill>
            </a:endParaRPr>
          </a:p>
        </p:txBody>
      </p:sp>
      <p:sp>
        <p:nvSpPr>
          <p:cNvPr id="3" name="文本框 2"/>
          <p:cNvSpPr txBox="1"/>
          <p:nvPr/>
        </p:nvSpPr>
        <p:spPr>
          <a:xfrm>
            <a:off x="1932305" y="365125"/>
            <a:ext cx="717550" cy="368300"/>
          </a:xfrm>
          <a:prstGeom prst="rect">
            <a:avLst/>
          </a:prstGeom>
          <a:noFill/>
        </p:spPr>
        <p:txBody>
          <a:bodyPr wrap="square" rtlCol="0">
            <a:spAutoFit/>
          </a:bodyPr>
          <a:lstStyle/>
          <a:p>
            <a:r>
              <a:rPr lang="en-US" altLang="zh-CN" b="1" dirty="0">
                <a:solidFill>
                  <a:schemeClr val="bg1"/>
                </a:solidFill>
              </a:rPr>
              <a:t>5.1</a:t>
            </a:r>
            <a:endParaRPr lang="zh-CN" altLang="en-US" b="1" dirty="0">
              <a:solidFill>
                <a:schemeClr val="bg1"/>
              </a:solidFill>
            </a:endParaRPr>
          </a:p>
        </p:txBody>
      </p:sp>
      <p:sp>
        <p:nvSpPr>
          <p:cNvPr id="33" name="爱设计-1-1"/>
          <p:cNvSpPr/>
          <p:nvPr/>
        </p:nvSpPr>
        <p:spPr>
          <a:xfrm>
            <a:off x="13134518" y="1698544"/>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爱设计-1-2"/>
          <p:cNvSpPr/>
          <p:nvPr/>
        </p:nvSpPr>
        <p:spPr>
          <a:xfrm>
            <a:off x="12987683" y="1698544"/>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爱设计-1-3"/>
          <p:cNvSpPr/>
          <p:nvPr/>
        </p:nvSpPr>
        <p:spPr>
          <a:xfrm>
            <a:off x="13134518" y="1840472"/>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Box 35"/>
          <p:cNvSpPr txBox="1"/>
          <p:nvPr/>
        </p:nvSpPr>
        <p:spPr>
          <a:xfrm>
            <a:off x="1938909" y="1037163"/>
            <a:ext cx="9692640" cy="384048"/>
          </a:xfrm>
          <a:prstGeom prst="rect">
            <a:avLst/>
          </a:prstGeom>
          <a:noFill/>
        </p:spPr>
        <p:txBody>
          <a:bodyPr wrap="square" lIns="18288" tIns="0" rIns="18288" bIns="0">
            <a:spAutoFit/>
          </a:bodyPr>
          <a:lstStyle/>
          <a:p>
            <a:pPr algn="l">
              <a:lnSpc>
                <a:spcPct val="105000"/>
              </a:lnSpc>
              <a:spcAft>
                <a:spcPts val="400"/>
              </a:spcAft>
            </a:pPr>
            <a:r>
              <a:rPr sz="2300" b="1" i="0" dirty="0" err="1">
                <a:solidFill>
                  <a:srgbClr val="642366"/>
                </a:solidFill>
              </a:rPr>
              <a:t>这张表的两个指标</a:t>
            </a:r>
            <a:endParaRPr sz="2300" b="1" i="0" dirty="0">
              <a:solidFill>
                <a:srgbClr val="642366"/>
              </a:solidFill>
            </a:endParaRPr>
          </a:p>
        </p:txBody>
      </p:sp>
      <p:sp>
        <p:nvSpPr>
          <p:cNvPr id="37" name="TextBox 36"/>
          <p:cNvSpPr txBox="1"/>
          <p:nvPr/>
        </p:nvSpPr>
        <p:spPr>
          <a:xfrm>
            <a:off x="1932305" y="1379220"/>
            <a:ext cx="4929505" cy="874395"/>
          </a:xfrm>
          <a:prstGeom prst="rect">
            <a:avLst/>
          </a:prstGeom>
          <a:noFill/>
        </p:spPr>
        <p:txBody>
          <a:bodyPr wrap="square" lIns="18288" tIns="0" rIns="18288" bIns="0">
            <a:spAutoFit/>
          </a:bodyPr>
          <a:lstStyle/>
          <a:p>
            <a:pPr algn="l">
              <a:lnSpc>
                <a:spcPct val="105000"/>
              </a:lnSpc>
              <a:spcAft>
                <a:spcPts val="400"/>
              </a:spcAft>
            </a:pPr>
            <a:r>
              <a:rPr sz="1700" b="0" i="0" dirty="0" err="1">
                <a:solidFill>
                  <a:srgbClr val="252A33"/>
                </a:solidFill>
              </a:rPr>
              <a:t>迁移率</a:t>
            </a:r>
            <a:r>
              <a:rPr sz="1700" b="0" i="0" dirty="0">
                <a:solidFill>
                  <a:srgbClr val="252A33"/>
                </a:solidFill>
              </a:rPr>
              <a:t> = </a:t>
            </a:r>
            <a:r>
              <a:rPr sz="1700" b="0" i="0" dirty="0" err="1">
                <a:solidFill>
                  <a:srgbClr val="252A33"/>
                </a:solidFill>
              </a:rPr>
              <a:t>现居县</a:t>
            </a:r>
            <a:r>
              <a:rPr sz="1700" b="0" i="0" dirty="0">
                <a:solidFill>
                  <a:srgbClr val="252A33"/>
                </a:solidFill>
              </a:rPr>
              <a:t> ≠ </a:t>
            </a:r>
            <a:r>
              <a:rPr sz="1700" b="0" i="0" dirty="0" err="1">
                <a:solidFill>
                  <a:srgbClr val="252A33"/>
                </a:solidFill>
              </a:rPr>
              <a:t>出生县</a:t>
            </a:r>
            <a:r>
              <a:rPr sz="1700" b="0" i="0" dirty="0">
                <a:solidFill>
                  <a:srgbClr val="252A33"/>
                </a:solidFill>
              </a:rPr>
              <a:t> </a:t>
            </a:r>
            <a:r>
              <a:rPr sz="1700" b="0" i="0" dirty="0" err="1">
                <a:solidFill>
                  <a:srgbClr val="252A33"/>
                </a:solidFill>
              </a:rPr>
              <a:t>的人口占比</a:t>
            </a:r>
            <a:endParaRPr sz="1700" b="0" i="0" dirty="0">
              <a:solidFill>
                <a:srgbClr val="252A33"/>
              </a:solidFill>
            </a:endParaRPr>
          </a:p>
          <a:p>
            <a:pPr algn="l">
              <a:lnSpc>
                <a:spcPct val="105000"/>
              </a:lnSpc>
              <a:spcAft>
                <a:spcPts val="400"/>
              </a:spcAft>
            </a:pPr>
            <a:r>
              <a:rPr sz="1700" b="0" i="0" dirty="0" err="1">
                <a:solidFill>
                  <a:srgbClr val="252A33"/>
                </a:solidFill>
              </a:rPr>
              <a:t>同类内迁移占比</a:t>
            </a:r>
            <a:r>
              <a:rPr sz="1700" b="0" i="0" dirty="0">
                <a:solidFill>
                  <a:srgbClr val="252A33"/>
                </a:solidFill>
              </a:rPr>
              <a:t> = </a:t>
            </a:r>
            <a:r>
              <a:rPr sz="1700" b="0" i="0" dirty="0" err="1">
                <a:solidFill>
                  <a:srgbClr val="252A33"/>
                </a:solidFill>
              </a:rPr>
              <a:t>迁移者中，迁往同类型县（农村→农村</a:t>
            </a:r>
            <a:r>
              <a:rPr sz="1700" b="0" i="0" dirty="0">
                <a:solidFill>
                  <a:srgbClr val="252A33"/>
                </a:solidFill>
              </a:rPr>
              <a:t> / </a:t>
            </a:r>
            <a:r>
              <a:rPr sz="1700" b="0" i="0" dirty="0" err="1">
                <a:solidFill>
                  <a:srgbClr val="252A33"/>
                </a:solidFill>
              </a:rPr>
              <a:t>城市→城市）的比例</a:t>
            </a:r>
            <a:endParaRPr sz="1700" b="0" i="0" dirty="0">
              <a:solidFill>
                <a:srgbClr val="252A33"/>
              </a:solidFill>
            </a:endParaRPr>
          </a:p>
        </p:txBody>
      </p:sp>
      <p:sp>
        <p:nvSpPr>
          <p:cNvPr id="38" name="TextBox 37"/>
          <p:cNvSpPr txBox="1"/>
          <p:nvPr/>
        </p:nvSpPr>
        <p:spPr>
          <a:xfrm>
            <a:off x="1929384" y="2266569"/>
            <a:ext cx="9692640" cy="384048"/>
          </a:xfrm>
          <a:prstGeom prst="rect">
            <a:avLst/>
          </a:prstGeom>
          <a:noFill/>
        </p:spPr>
        <p:txBody>
          <a:bodyPr wrap="square" lIns="18288" tIns="0" rIns="18288" bIns="0">
            <a:spAutoFit/>
          </a:bodyPr>
          <a:lstStyle/>
          <a:p>
            <a:pPr algn="l">
              <a:lnSpc>
                <a:spcPct val="105000"/>
              </a:lnSpc>
              <a:spcAft>
                <a:spcPts val="400"/>
              </a:spcAft>
            </a:pPr>
            <a:r>
              <a:rPr sz="2300" b="1" i="0">
                <a:solidFill>
                  <a:srgbClr val="642366"/>
                </a:solidFill>
              </a:rPr>
              <a:t>论文 Table 1 的作用</a:t>
            </a:r>
            <a:endParaRPr sz="2300" b="1" i="0">
              <a:solidFill>
                <a:srgbClr val="642366"/>
              </a:solidFill>
            </a:endParaRPr>
          </a:p>
        </p:txBody>
      </p:sp>
      <p:sp>
        <p:nvSpPr>
          <p:cNvPr id="39" name="TextBox 38"/>
          <p:cNvSpPr txBox="1"/>
          <p:nvPr/>
        </p:nvSpPr>
        <p:spPr>
          <a:xfrm>
            <a:off x="1929130" y="2638425"/>
            <a:ext cx="4933315" cy="1148715"/>
          </a:xfrm>
          <a:prstGeom prst="rect">
            <a:avLst/>
          </a:prstGeom>
          <a:noFill/>
        </p:spPr>
        <p:txBody>
          <a:bodyPr wrap="square" lIns="18288" tIns="0" rIns="18288" bIns="0">
            <a:spAutoFit/>
          </a:bodyPr>
          <a:lstStyle/>
          <a:p>
            <a:pPr algn="l">
              <a:lnSpc>
                <a:spcPct val="105000"/>
              </a:lnSpc>
              <a:spcAft>
                <a:spcPts val="400"/>
              </a:spcAft>
            </a:pPr>
            <a:r>
              <a:rPr sz="1700" b="0" i="0" dirty="0" err="1">
                <a:solidFill>
                  <a:srgbClr val="252A33"/>
                </a:solidFill>
              </a:rPr>
              <a:t>支撑第一个创新点：应研究「地区对地区</a:t>
            </a:r>
            <a:r>
              <a:rPr sz="1700" b="0" i="0" dirty="0">
                <a:solidFill>
                  <a:srgbClr val="252A33"/>
                </a:solidFill>
              </a:rPr>
              <a:t>」，</a:t>
            </a:r>
            <a:r>
              <a:rPr sz="1700" b="0" i="0" dirty="0" err="1">
                <a:solidFill>
                  <a:srgbClr val="252A33"/>
                </a:solidFill>
              </a:rPr>
              <a:t>而非「农村对城市</a:t>
            </a:r>
            <a:r>
              <a:rPr sz="1700" b="0" i="0" dirty="0">
                <a:solidFill>
                  <a:srgbClr val="252A33"/>
                </a:solidFill>
              </a:rPr>
              <a:t>」</a:t>
            </a:r>
            <a:endParaRPr sz="1700" b="0" i="0" dirty="0">
              <a:solidFill>
                <a:srgbClr val="252A33"/>
              </a:solidFill>
            </a:endParaRPr>
          </a:p>
          <a:p>
            <a:pPr algn="l">
              <a:lnSpc>
                <a:spcPct val="105000"/>
              </a:lnSpc>
              <a:spcAft>
                <a:spcPts val="400"/>
              </a:spcAft>
            </a:pPr>
            <a:r>
              <a:rPr sz="1700" b="0" i="0" dirty="0">
                <a:solidFill>
                  <a:srgbClr val="606670"/>
                </a:solidFill>
              </a:rPr>
              <a:t>1995 </a:t>
            </a:r>
            <a:r>
              <a:rPr sz="1700" b="0" i="0" dirty="0" err="1">
                <a:solidFill>
                  <a:srgbClr val="606670"/>
                </a:solidFill>
              </a:rPr>
              <a:t>年城市迁移者中</a:t>
            </a:r>
            <a:r>
              <a:rPr sz="1700" b="0" i="0" dirty="0">
                <a:solidFill>
                  <a:srgbClr val="606670"/>
                </a:solidFill>
              </a:rPr>
              <a:t> 74.6% </a:t>
            </a:r>
            <a:r>
              <a:rPr sz="1700" b="0" i="0" dirty="0" err="1">
                <a:solidFill>
                  <a:srgbClr val="606670"/>
                </a:solidFill>
              </a:rPr>
              <a:t>搬到了另一个城市</a:t>
            </a:r>
            <a:r>
              <a:rPr sz="1700" b="0" i="0" dirty="0">
                <a:solidFill>
                  <a:srgbClr val="606670"/>
                </a:solidFill>
              </a:rPr>
              <a:t> —— </a:t>
            </a:r>
            <a:r>
              <a:rPr sz="1700" b="0" i="0" dirty="0" err="1">
                <a:solidFill>
                  <a:srgbClr val="606670"/>
                </a:solidFill>
              </a:rPr>
              <a:t>只研究城乡迁移会漏掉这部分</a:t>
            </a:r>
            <a:endParaRPr sz="1700" b="0" i="0" dirty="0">
              <a:solidFill>
                <a:srgbClr val="606670"/>
              </a:solidFill>
            </a:endParaRPr>
          </a:p>
        </p:txBody>
      </p:sp>
      <p:sp>
        <p:nvSpPr>
          <p:cNvPr id="40" name="TextBox 39"/>
          <p:cNvSpPr txBox="1"/>
          <p:nvPr/>
        </p:nvSpPr>
        <p:spPr>
          <a:xfrm>
            <a:off x="1929384" y="3806597"/>
            <a:ext cx="9692640" cy="384048"/>
          </a:xfrm>
          <a:prstGeom prst="rect">
            <a:avLst/>
          </a:prstGeom>
          <a:noFill/>
        </p:spPr>
        <p:txBody>
          <a:bodyPr wrap="square" lIns="18288" tIns="0" rIns="18288" bIns="0">
            <a:spAutoFit/>
          </a:bodyPr>
          <a:lstStyle/>
          <a:p>
            <a:pPr algn="l">
              <a:lnSpc>
                <a:spcPct val="105000"/>
              </a:lnSpc>
              <a:spcAft>
                <a:spcPts val="400"/>
              </a:spcAft>
            </a:pPr>
            <a:r>
              <a:rPr sz="2300" b="1" i="0">
                <a:solidFill>
                  <a:srgbClr val="642366"/>
                </a:solidFill>
              </a:rPr>
              <a:t>我们的复现口径（三条，出处均标注论文原文）</a:t>
            </a:r>
            <a:endParaRPr sz="2300" b="1" i="0">
              <a:solidFill>
                <a:srgbClr val="642366"/>
              </a:solidFill>
            </a:endParaRPr>
          </a:p>
        </p:txBody>
      </p:sp>
      <p:sp>
        <p:nvSpPr>
          <p:cNvPr id="41" name="TextBox 40"/>
          <p:cNvSpPr txBox="1"/>
          <p:nvPr/>
        </p:nvSpPr>
        <p:spPr>
          <a:xfrm>
            <a:off x="2029968" y="4181706"/>
            <a:ext cx="9601200" cy="1627632"/>
          </a:xfrm>
          <a:prstGeom prst="rect">
            <a:avLst/>
          </a:prstGeom>
          <a:noFill/>
        </p:spPr>
        <p:txBody>
          <a:bodyPr wrap="square" lIns="18288" tIns="0" rIns="18288" bIns="0">
            <a:spAutoFit/>
          </a:bodyPr>
          <a:lstStyle/>
          <a:p>
            <a:pPr algn="l">
              <a:lnSpc>
                <a:spcPct val="105000"/>
              </a:lnSpc>
              <a:spcAft>
                <a:spcPts val="100"/>
              </a:spcAft>
            </a:pPr>
            <a:r>
              <a:rPr sz="1600" b="0" i="0" dirty="0">
                <a:solidFill>
                  <a:srgbClr val="252A33"/>
                </a:solidFill>
              </a:rPr>
              <a:t>① </a:t>
            </a:r>
            <a:r>
              <a:rPr sz="1600" b="0" i="0" dirty="0" err="1">
                <a:solidFill>
                  <a:srgbClr val="252A33"/>
                </a:solidFill>
              </a:rPr>
              <a:t>迁移定义</a:t>
            </a:r>
            <a:r>
              <a:rPr sz="1600" b="0" i="0" dirty="0">
                <a:solidFill>
                  <a:srgbClr val="252A33"/>
                </a:solidFill>
              </a:rPr>
              <a:t> = </a:t>
            </a:r>
            <a:r>
              <a:rPr sz="1600" b="0" i="0" dirty="0" err="1">
                <a:solidFill>
                  <a:srgbClr val="252A33"/>
                </a:solidFill>
              </a:rPr>
              <a:t>现居县</a:t>
            </a:r>
            <a:r>
              <a:rPr sz="1600" b="0" i="0" dirty="0">
                <a:solidFill>
                  <a:srgbClr val="252A33"/>
                </a:solidFill>
              </a:rPr>
              <a:t> ≠ </a:t>
            </a:r>
            <a:r>
              <a:rPr sz="1600" b="0" i="0" dirty="0" err="1">
                <a:solidFill>
                  <a:srgbClr val="252A33"/>
                </a:solidFill>
              </a:rPr>
              <a:t>出生县</a:t>
            </a:r>
            <a:endParaRPr sz="1600" b="0" i="0" dirty="0">
              <a:solidFill>
                <a:srgbClr val="252A33"/>
              </a:solidFill>
            </a:endParaRPr>
          </a:p>
          <a:p>
            <a:pPr algn="l">
              <a:lnSpc>
                <a:spcPct val="105000"/>
              </a:lnSpc>
              <a:spcAft>
                <a:spcPts val="600"/>
              </a:spcAft>
            </a:pPr>
            <a:r>
              <a:rPr sz="1300" b="0" i="0" dirty="0">
                <a:solidFill>
                  <a:srgbClr val="606670"/>
                </a:solidFill>
              </a:rPr>
              <a:t>       </a:t>
            </a:r>
            <a:r>
              <a:rPr sz="1300" b="0" i="0" dirty="0" err="1">
                <a:solidFill>
                  <a:srgbClr val="606670"/>
                </a:solidFill>
              </a:rPr>
              <a:t>出处：Table</a:t>
            </a:r>
            <a:r>
              <a:rPr sz="1300" b="0" i="0" dirty="0">
                <a:solidFill>
                  <a:srgbClr val="606670"/>
                </a:solidFill>
              </a:rPr>
              <a:t> 1 </a:t>
            </a:r>
            <a:r>
              <a:rPr sz="1300" b="0" i="0" dirty="0" err="1">
                <a:solidFill>
                  <a:srgbClr val="606670"/>
                </a:solidFill>
              </a:rPr>
              <a:t>注释</a:t>
            </a:r>
            <a:endParaRPr sz="1300" b="0" i="0" dirty="0">
              <a:solidFill>
                <a:srgbClr val="606670"/>
              </a:solidFill>
            </a:endParaRPr>
          </a:p>
          <a:p>
            <a:pPr algn="l">
              <a:lnSpc>
                <a:spcPct val="105000"/>
              </a:lnSpc>
              <a:spcAft>
                <a:spcPts val="100"/>
              </a:spcAft>
            </a:pPr>
            <a:r>
              <a:rPr sz="1600" b="0" i="0" dirty="0">
                <a:solidFill>
                  <a:srgbClr val="252A33"/>
                </a:solidFill>
              </a:rPr>
              <a:t>② </a:t>
            </a:r>
            <a:r>
              <a:rPr sz="1600" b="0" i="0" dirty="0" err="1">
                <a:solidFill>
                  <a:srgbClr val="252A33"/>
                </a:solidFill>
              </a:rPr>
              <a:t>城乡划分</a:t>
            </a:r>
            <a:r>
              <a:rPr sz="1600" b="0" i="0" dirty="0">
                <a:solidFill>
                  <a:srgbClr val="252A33"/>
                </a:solidFill>
              </a:rPr>
              <a:t> = </a:t>
            </a:r>
            <a:r>
              <a:rPr sz="1600" b="0" i="0" dirty="0" err="1">
                <a:solidFill>
                  <a:srgbClr val="252A33"/>
                </a:solidFill>
              </a:rPr>
              <a:t>用「县」的农村人口占比给每个县贴标签，出生县与现居县用同一套规则</a:t>
            </a:r>
            <a:endParaRPr sz="1600" b="0" i="0" dirty="0">
              <a:solidFill>
                <a:srgbClr val="252A33"/>
              </a:solidFill>
            </a:endParaRPr>
          </a:p>
          <a:p>
            <a:pPr algn="l">
              <a:lnSpc>
                <a:spcPct val="105000"/>
              </a:lnSpc>
              <a:spcAft>
                <a:spcPts val="600"/>
              </a:spcAft>
            </a:pPr>
            <a:r>
              <a:rPr sz="1300" b="0" i="0" dirty="0">
                <a:solidFill>
                  <a:srgbClr val="606670"/>
                </a:solidFill>
              </a:rPr>
              <a:t>       </a:t>
            </a:r>
            <a:r>
              <a:rPr sz="1300" b="0" i="0" dirty="0" err="1">
                <a:solidFill>
                  <a:srgbClr val="606670"/>
                </a:solidFill>
              </a:rPr>
              <a:t>为什么必须用县级规则</a:t>
            </a:r>
            <a:r>
              <a:rPr sz="1300" b="0" i="0" dirty="0">
                <a:solidFill>
                  <a:srgbClr val="606670"/>
                </a:solidFill>
              </a:rPr>
              <a:t> → </a:t>
            </a:r>
            <a:r>
              <a:rPr sz="1300" b="0" i="0" dirty="0" err="1">
                <a:solidFill>
                  <a:srgbClr val="606670"/>
                </a:solidFill>
              </a:rPr>
              <a:t>脚注</a:t>
            </a:r>
            <a:r>
              <a:rPr sz="1300" b="0" i="0" dirty="0">
                <a:solidFill>
                  <a:srgbClr val="606670"/>
                </a:solidFill>
              </a:rPr>
              <a:t> 12：数据只记录现居地的城乡，出生地没有城乡标记</a:t>
            </a:r>
            <a:endParaRPr sz="1300" b="0" i="0" dirty="0">
              <a:solidFill>
                <a:srgbClr val="606670"/>
              </a:solidFill>
            </a:endParaRPr>
          </a:p>
          <a:p>
            <a:pPr algn="l">
              <a:lnSpc>
                <a:spcPct val="105000"/>
              </a:lnSpc>
              <a:spcAft>
                <a:spcPts val="100"/>
              </a:spcAft>
            </a:pPr>
            <a:r>
              <a:rPr sz="1600" b="0" i="0" dirty="0">
                <a:solidFill>
                  <a:srgbClr val="252A33"/>
                </a:solidFill>
              </a:rPr>
              <a:t>③ </a:t>
            </a:r>
            <a:r>
              <a:rPr sz="1600" b="0" i="0" dirty="0" err="1">
                <a:solidFill>
                  <a:srgbClr val="252A33"/>
                </a:solidFill>
              </a:rPr>
              <a:t>样本</a:t>
            </a:r>
            <a:r>
              <a:rPr sz="1600" b="0" i="0" dirty="0">
                <a:solidFill>
                  <a:srgbClr val="252A33"/>
                </a:solidFill>
              </a:rPr>
              <a:t> = 男性户主、15–65 </a:t>
            </a:r>
            <a:r>
              <a:rPr sz="1600" b="0" i="0" dirty="0" err="1">
                <a:solidFill>
                  <a:srgbClr val="252A33"/>
                </a:solidFill>
              </a:rPr>
              <a:t>岁、有工资记录</a:t>
            </a:r>
            <a:endParaRPr sz="1600" b="0" i="0" dirty="0">
              <a:solidFill>
                <a:srgbClr val="252A33"/>
              </a:solidFill>
            </a:endParaRPr>
          </a:p>
          <a:p>
            <a:pPr algn="l">
              <a:lnSpc>
                <a:spcPct val="105000"/>
              </a:lnSpc>
              <a:spcAft>
                <a:spcPts val="400"/>
              </a:spcAft>
            </a:pPr>
            <a:r>
              <a:rPr sz="1300" b="0" i="0" dirty="0">
                <a:solidFill>
                  <a:srgbClr val="606670"/>
                </a:solidFill>
              </a:rPr>
              <a:t>       </a:t>
            </a:r>
            <a:r>
              <a:rPr sz="1300" b="0" i="0" dirty="0" err="1">
                <a:solidFill>
                  <a:srgbClr val="606670"/>
                </a:solidFill>
              </a:rPr>
              <a:t>出处：Appendix</a:t>
            </a:r>
            <a:r>
              <a:rPr sz="1300" b="0" i="0" dirty="0">
                <a:solidFill>
                  <a:srgbClr val="606670"/>
                </a:solidFill>
              </a:rPr>
              <a:t> Table 1 </a:t>
            </a:r>
            <a:r>
              <a:rPr sz="1300" b="0" i="0" dirty="0" err="1">
                <a:solidFill>
                  <a:srgbClr val="606670"/>
                </a:solidFill>
              </a:rPr>
              <a:t>注释</a:t>
            </a:r>
            <a:endParaRPr sz="1300" b="0" i="0" dirty="0">
              <a:solidFill>
                <a:srgbClr val="606670"/>
              </a:solidFill>
            </a:endParaRPr>
          </a:p>
        </p:txBody>
      </p:sp>
      <p:sp>
        <p:nvSpPr>
          <p:cNvPr id="42" name="TextBox 41"/>
          <p:cNvSpPr txBox="1"/>
          <p:nvPr/>
        </p:nvSpPr>
        <p:spPr>
          <a:xfrm>
            <a:off x="1929384" y="5805324"/>
            <a:ext cx="9692640" cy="960120"/>
          </a:xfrm>
          <a:prstGeom prst="rect">
            <a:avLst/>
          </a:prstGeom>
          <a:noFill/>
        </p:spPr>
        <p:txBody>
          <a:bodyPr wrap="square" lIns="18288" tIns="0" rIns="18288" bIns="0">
            <a:spAutoFit/>
          </a:bodyPr>
          <a:lstStyle/>
          <a:p>
            <a:pPr algn="l">
              <a:lnSpc>
                <a:spcPct val="105000"/>
              </a:lnSpc>
              <a:spcAft>
                <a:spcPts val="200"/>
              </a:spcAft>
            </a:pPr>
            <a:r>
              <a:rPr sz="1400" b="1" i="0" dirty="0" err="1">
                <a:solidFill>
                  <a:srgbClr val="1B6B45"/>
                </a:solidFill>
              </a:rPr>
              <a:t>数据：IPUMS</a:t>
            </a:r>
            <a:r>
              <a:rPr sz="1400" b="1" i="0" dirty="0">
                <a:solidFill>
                  <a:srgbClr val="1B6B45"/>
                </a:solidFill>
              </a:rPr>
              <a:t> International, Indonesia 1995（SUPAS）</a:t>
            </a:r>
            <a:endParaRPr sz="1400" b="1" i="0" dirty="0">
              <a:solidFill>
                <a:srgbClr val="1B6B45"/>
              </a:solidFill>
            </a:endParaRPr>
          </a:p>
          <a:p>
            <a:pPr algn="l">
              <a:lnSpc>
                <a:spcPct val="105000"/>
              </a:lnSpc>
              <a:spcAft>
                <a:spcPts val="200"/>
              </a:spcAft>
            </a:pPr>
            <a:r>
              <a:rPr sz="1300" b="0" i="0" dirty="0" err="1">
                <a:solidFill>
                  <a:srgbClr val="606670"/>
                </a:solidFill>
              </a:rPr>
              <a:t>原始</a:t>
            </a:r>
            <a:r>
              <a:rPr sz="1300" b="0" i="0" dirty="0">
                <a:solidFill>
                  <a:srgbClr val="606670"/>
                </a:solidFill>
              </a:rPr>
              <a:t> 718,837 人 → </a:t>
            </a:r>
            <a:r>
              <a:rPr sz="1300" b="0" i="0" dirty="0" err="1">
                <a:solidFill>
                  <a:srgbClr val="606670"/>
                </a:solidFill>
              </a:rPr>
              <a:t>分析样本</a:t>
            </a:r>
            <a:r>
              <a:rPr sz="1300" b="0" i="0" dirty="0">
                <a:solidFill>
                  <a:srgbClr val="606670"/>
                </a:solidFill>
              </a:rPr>
              <a:t> 50,200 </a:t>
            </a:r>
            <a:r>
              <a:rPr sz="1300" b="0" i="0" dirty="0" err="1">
                <a:solidFill>
                  <a:srgbClr val="606670"/>
                </a:solidFill>
              </a:rPr>
              <a:t>人（其中迁移者</a:t>
            </a:r>
            <a:r>
              <a:rPr sz="1300" b="0" i="0" dirty="0">
                <a:solidFill>
                  <a:srgbClr val="606670"/>
                </a:solidFill>
              </a:rPr>
              <a:t> 19,779 人）｜</a:t>
            </a:r>
            <a:r>
              <a:rPr sz="1300" b="0" i="0" dirty="0" err="1">
                <a:solidFill>
                  <a:srgbClr val="606670"/>
                </a:solidFill>
              </a:rPr>
              <a:t>覆盖</a:t>
            </a:r>
            <a:r>
              <a:rPr sz="1300" b="0" i="0" dirty="0">
                <a:solidFill>
                  <a:srgbClr val="606670"/>
                </a:solidFill>
              </a:rPr>
              <a:t> 221 </a:t>
            </a:r>
            <a:r>
              <a:rPr sz="1300" b="0" i="0" dirty="0" err="1">
                <a:solidFill>
                  <a:srgbClr val="606670"/>
                </a:solidFill>
              </a:rPr>
              <a:t>个县</a:t>
            </a:r>
            <a:endParaRPr sz="1300" b="0" i="0" dirty="0">
              <a:solidFill>
                <a:srgbClr val="606670"/>
              </a:solidFill>
            </a:endParaRPr>
          </a:p>
          <a:p>
            <a:pPr algn="l">
              <a:lnSpc>
                <a:spcPct val="105000"/>
              </a:lnSpc>
              <a:spcAft>
                <a:spcPts val="400"/>
              </a:spcAft>
            </a:pPr>
            <a:r>
              <a:rPr sz="1300" b="0" i="0" dirty="0">
                <a:solidFill>
                  <a:srgbClr val="A63A1E"/>
                </a:solidFill>
              </a:rPr>
              <a:t>⚠ 这 221 </a:t>
            </a:r>
            <a:r>
              <a:rPr sz="1300" b="0" i="0" dirty="0" err="1">
                <a:solidFill>
                  <a:srgbClr val="A63A1E"/>
                </a:solidFill>
              </a:rPr>
              <a:t>个县只覆盖</a:t>
            </a:r>
            <a:r>
              <a:rPr sz="1300" b="0" i="0" dirty="0">
                <a:solidFill>
                  <a:srgbClr val="A63A1E"/>
                </a:solidFill>
              </a:rPr>
              <a:t> 17 </a:t>
            </a:r>
            <a:r>
              <a:rPr sz="1300" b="0" i="0" dirty="0" err="1">
                <a:solidFill>
                  <a:srgbClr val="A63A1E"/>
                </a:solidFill>
              </a:rPr>
              <a:t>个省（苏门答腊、爪哇、巴厘与努沙登加拉</a:t>
            </a:r>
            <a:r>
              <a:rPr sz="1300" b="0" i="0" dirty="0">
                <a:solidFill>
                  <a:srgbClr val="A63A1E"/>
                </a:solidFill>
              </a:rPr>
              <a:t>）；</a:t>
            </a:r>
            <a:r>
              <a:rPr sz="1300" b="0" i="0" dirty="0" err="1">
                <a:solidFill>
                  <a:srgbClr val="A63A1E"/>
                </a:solidFill>
              </a:rPr>
              <a:t>加里曼丹、苏拉威西、马鲁古、巴布亚不在样本内</a:t>
            </a:r>
            <a:endParaRPr sz="1300" b="0" i="0" dirty="0">
              <a:solidFill>
                <a:srgbClr val="A63A1E"/>
              </a:solidFill>
            </a:endParaRPr>
          </a:p>
        </p:txBody>
      </p:sp>
      <p:pic>
        <p:nvPicPr>
          <p:cNvPr id="14" name="图片 13"/>
          <p:cNvPicPr/>
          <p:nvPr/>
        </p:nvPicPr>
        <p:blipFill rotWithShape="1">
          <a:blip r:embed="rId1"/>
          <a:srcRect l="8960" t="10793" r="8658" b="30747"/>
          <a:stretch>
            <a:fillRect/>
          </a:stretch>
        </p:blipFill>
        <p:spPr bwMode="auto">
          <a:xfrm>
            <a:off x="6862445" y="1279525"/>
            <a:ext cx="4928870" cy="235712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P spid="42"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144" y="350986"/>
            <a:ext cx="8294008" cy="720428"/>
          </a:xfrm>
        </p:spPr>
        <p:txBody>
          <a:bodyPr/>
          <a:lstStyle/>
          <a:p>
            <a:r>
              <a:rPr sz="2600" b="1">
                <a:solidFill>
                  <a:srgbClr val="642366"/>
                </a:solidFill>
              </a:rPr>
              <a:t>table1：复现结果对照</a:t>
            </a:r>
            <a:endParaRPr sz="2600" b="1">
              <a:solidFill>
                <a:srgbClr val="642366"/>
              </a:solidFill>
            </a:endParaRPr>
          </a:p>
        </p:txBody>
      </p:sp>
      <p:sp>
        <p:nvSpPr>
          <p:cNvPr id="3" name="文本框 2"/>
          <p:cNvSpPr txBox="1"/>
          <p:nvPr/>
        </p:nvSpPr>
        <p:spPr>
          <a:xfrm>
            <a:off x="1932305" y="365125"/>
            <a:ext cx="717550" cy="368300"/>
          </a:xfrm>
          <a:prstGeom prst="rect">
            <a:avLst/>
          </a:prstGeom>
          <a:noFill/>
        </p:spPr>
        <p:txBody>
          <a:bodyPr wrap="square" rtlCol="0">
            <a:spAutoFit/>
          </a:bodyPr>
          <a:lstStyle/>
          <a:p>
            <a:r>
              <a:rPr lang="en-US" altLang="zh-CN" b="1" dirty="0">
                <a:solidFill>
                  <a:schemeClr val="bg1"/>
                </a:solidFill>
              </a:rPr>
              <a:t>5.1</a:t>
            </a:r>
            <a:endParaRPr lang="zh-CN" altLang="en-US" b="1" dirty="0">
              <a:solidFill>
                <a:schemeClr val="bg1"/>
              </a:solidFill>
            </a:endParaRPr>
          </a:p>
        </p:txBody>
      </p:sp>
      <p:sp>
        <p:nvSpPr>
          <p:cNvPr id="33" name="爱设计-1-1"/>
          <p:cNvSpPr/>
          <p:nvPr/>
        </p:nvSpPr>
        <p:spPr>
          <a:xfrm>
            <a:off x="13134518" y="1698544"/>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爱设计-1-2"/>
          <p:cNvSpPr/>
          <p:nvPr/>
        </p:nvSpPr>
        <p:spPr>
          <a:xfrm>
            <a:off x="12987683" y="1698544"/>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爱设计-1-3"/>
          <p:cNvSpPr/>
          <p:nvPr/>
        </p:nvSpPr>
        <p:spPr>
          <a:xfrm>
            <a:off x="13134518" y="1840472"/>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Box 35"/>
          <p:cNvSpPr txBox="1"/>
          <p:nvPr/>
        </p:nvSpPr>
        <p:spPr>
          <a:xfrm>
            <a:off x="1929384" y="1133856"/>
            <a:ext cx="9692640" cy="384048"/>
          </a:xfrm>
          <a:prstGeom prst="rect">
            <a:avLst/>
          </a:prstGeom>
          <a:noFill/>
        </p:spPr>
        <p:txBody>
          <a:bodyPr wrap="square" lIns="18288" tIns="0" rIns="18288" bIns="0">
            <a:spAutoFit/>
          </a:bodyPr>
          <a:lstStyle/>
          <a:p>
            <a:pPr algn="l">
              <a:lnSpc>
                <a:spcPct val="105000"/>
              </a:lnSpc>
              <a:spcAft>
                <a:spcPts val="400"/>
              </a:spcAft>
            </a:pPr>
            <a:r>
              <a:rPr sz="2300" b="1" i="0" dirty="0" err="1">
                <a:solidFill>
                  <a:srgbClr val="642366"/>
                </a:solidFill>
              </a:rPr>
              <a:t>论文报告值</a:t>
            </a:r>
            <a:r>
              <a:rPr sz="2300" b="1" i="0" dirty="0">
                <a:solidFill>
                  <a:srgbClr val="642366"/>
                </a:solidFill>
              </a:rPr>
              <a:t> 与 </a:t>
            </a:r>
            <a:r>
              <a:rPr sz="2300" b="1" i="0" dirty="0" err="1">
                <a:solidFill>
                  <a:srgbClr val="642366"/>
                </a:solidFill>
              </a:rPr>
              <a:t>本复现计算值</a:t>
            </a:r>
            <a:r>
              <a:rPr sz="2300" b="1" i="0" dirty="0">
                <a:solidFill>
                  <a:srgbClr val="642366"/>
                </a:solidFill>
              </a:rPr>
              <a:t>（%，</a:t>
            </a:r>
            <a:r>
              <a:rPr sz="2300" b="1" i="0" dirty="0" err="1">
                <a:solidFill>
                  <a:srgbClr val="642366"/>
                </a:solidFill>
              </a:rPr>
              <a:t>加权</a:t>
            </a:r>
            <a:r>
              <a:rPr sz="2300" b="1" i="0" dirty="0">
                <a:solidFill>
                  <a:srgbClr val="642366"/>
                </a:solidFill>
              </a:rPr>
              <a:t>）</a:t>
            </a:r>
            <a:endParaRPr sz="2300" b="1" i="0" dirty="0">
              <a:solidFill>
                <a:srgbClr val="642366"/>
              </a:solidFill>
            </a:endParaRPr>
          </a:p>
        </p:txBody>
      </p:sp>
      <p:graphicFrame>
        <p:nvGraphicFramePr>
          <p:cNvPr id="37" name="Table 36"/>
          <p:cNvGraphicFramePr>
            <a:graphicFrameLocks noGrp="1"/>
          </p:cNvGraphicFramePr>
          <p:nvPr/>
        </p:nvGraphicFramePr>
        <p:xfrm>
          <a:off x="1929384" y="1536192"/>
          <a:ext cx="9692636" cy="2560315"/>
        </p:xfrm>
        <a:graphic>
          <a:graphicData uri="http://schemas.openxmlformats.org/drawingml/2006/table">
            <a:tbl>
              <a:tblPr firstRow="1">
                <a:tableStyleId>{5C22544A-7EE6-4342-B048-85BDC9FD1C3A}</a:tableStyleId>
              </a:tblPr>
              <a:tblGrid>
                <a:gridCol w="3657599"/>
                <a:gridCol w="2011679"/>
                <a:gridCol w="2011679"/>
                <a:gridCol w="2011679"/>
              </a:tblGrid>
              <a:tr h="512063">
                <a:tc>
                  <a:txBody>
                    <a:bodyPr/>
                    <a:lstStyle/>
                    <a:p>
                      <a:pPr algn="l">
                        <a:lnSpc>
                          <a:spcPct val="100000"/>
                        </a:lnSpc>
                      </a:pPr>
                    </a:p>
                  </a:txBody>
                  <a:tcPr marL="45720" marR="45720" marT="9144" marB="9144" anchor="ctr">
                    <a:solidFill>
                      <a:srgbClr val="642366"/>
                    </a:solidFill>
                  </a:tcPr>
                </a:tc>
                <a:tc>
                  <a:txBody>
                    <a:bodyPr/>
                    <a:lstStyle/>
                    <a:p>
                      <a:pPr algn="ctr">
                        <a:lnSpc>
                          <a:spcPct val="100000"/>
                        </a:lnSpc>
                      </a:pPr>
                      <a:r>
                        <a:rPr sz="1600" b="1">
                          <a:solidFill>
                            <a:srgbClr val="FFFFFF"/>
                          </a:solidFill>
                        </a:rPr>
                        <a:t>Rural（农村）</a:t>
                      </a:r>
                      <a:endParaRPr sz="1600" b="1">
                        <a:solidFill>
                          <a:srgbClr val="FFFFFF"/>
                        </a:solidFill>
                      </a:endParaRPr>
                    </a:p>
                  </a:txBody>
                  <a:tcPr marL="45720" marR="45720" marT="9144" marB="9144" anchor="ctr">
                    <a:solidFill>
                      <a:srgbClr val="642366"/>
                    </a:solidFill>
                  </a:tcPr>
                </a:tc>
                <a:tc>
                  <a:txBody>
                    <a:bodyPr/>
                    <a:lstStyle/>
                    <a:p>
                      <a:pPr algn="ctr">
                        <a:lnSpc>
                          <a:spcPct val="100000"/>
                        </a:lnSpc>
                      </a:pPr>
                      <a:r>
                        <a:rPr sz="1600" b="1">
                          <a:solidFill>
                            <a:srgbClr val="FFFFFF"/>
                          </a:solidFill>
                        </a:rPr>
                        <a:t>Urban（城市）</a:t>
                      </a:r>
                      <a:endParaRPr sz="1600" b="1">
                        <a:solidFill>
                          <a:srgbClr val="FFFFFF"/>
                        </a:solidFill>
                      </a:endParaRPr>
                    </a:p>
                  </a:txBody>
                  <a:tcPr marL="45720" marR="45720" marT="9144" marB="9144" anchor="ctr">
                    <a:solidFill>
                      <a:srgbClr val="642366"/>
                    </a:solidFill>
                  </a:tcPr>
                </a:tc>
                <a:tc>
                  <a:txBody>
                    <a:bodyPr/>
                    <a:lstStyle/>
                    <a:p>
                      <a:pPr algn="ctr">
                        <a:lnSpc>
                          <a:spcPct val="100000"/>
                        </a:lnSpc>
                      </a:pPr>
                      <a:r>
                        <a:rPr sz="1600" b="1">
                          <a:solidFill>
                            <a:srgbClr val="FFFFFF"/>
                          </a:solidFill>
                        </a:rPr>
                        <a:t>All（全体）</a:t>
                      </a:r>
                      <a:endParaRPr sz="1600" b="1">
                        <a:solidFill>
                          <a:srgbClr val="FFFFFF"/>
                        </a:solidFill>
                      </a:endParaRPr>
                    </a:p>
                  </a:txBody>
                  <a:tcPr marL="45720" marR="45720" marT="9144" marB="9144" anchor="ctr">
                    <a:solidFill>
                      <a:srgbClr val="642366"/>
                    </a:solidFill>
                  </a:tcPr>
                </a:tc>
              </a:tr>
              <a:tr h="512063">
                <a:tc>
                  <a:txBody>
                    <a:bodyPr/>
                    <a:lstStyle/>
                    <a:p>
                      <a:pPr algn="l">
                        <a:lnSpc>
                          <a:spcPct val="100000"/>
                        </a:lnSpc>
                      </a:pPr>
                      <a:r>
                        <a:rPr sz="1600" b="0">
                          <a:solidFill>
                            <a:srgbClr val="252A33"/>
                          </a:solidFill>
                        </a:rPr>
                        <a:t>迁移率 — 论文 1995</a:t>
                      </a:r>
                      <a:endParaRPr sz="1600" b="0">
                        <a:solidFill>
                          <a:srgbClr val="252A33"/>
                        </a:solidFill>
                      </a:endParaRPr>
                    </a:p>
                  </a:txBody>
                  <a:tcPr marL="45720" marR="45720" marT="9144" marB="9144" anchor="ctr">
                    <a:solidFill>
                      <a:srgbClr val="FFFFFF"/>
                    </a:solidFill>
                  </a:tcPr>
                </a:tc>
                <a:tc>
                  <a:txBody>
                    <a:bodyPr/>
                    <a:lstStyle/>
                    <a:p>
                      <a:pPr algn="ctr">
                        <a:lnSpc>
                          <a:spcPct val="100000"/>
                        </a:lnSpc>
                      </a:pPr>
                      <a:r>
                        <a:rPr sz="1600" b="0">
                          <a:solidFill>
                            <a:srgbClr val="252A33"/>
                          </a:solidFill>
                        </a:rPr>
                        <a:t>32.3</a:t>
                      </a:r>
                      <a:endParaRPr sz="1600" b="0">
                        <a:solidFill>
                          <a:srgbClr val="252A33"/>
                        </a:solidFill>
                      </a:endParaRPr>
                    </a:p>
                  </a:txBody>
                  <a:tcPr marL="45720" marR="45720" marT="9144" marB="9144" anchor="ctr">
                    <a:solidFill>
                      <a:srgbClr val="FFFFFF"/>
                    </a:solidFill>
                  </a:tcPr>
                </a:tc>
                <a:tc>
                  <a:txBody>
                    <a:bodyPr/>
                    <a:lstStyle/>
                    <a:p>
                      <a:pPr algn="ctr">
                        <a:lnSpc>
                          <a:spcPct val="100000"/>
                        </a:lnSpc>
                      </a:pPr>
                      <a:r>
                        <a:rPr sz="1600" b="0">
                          <a:solidFill>
                            <a:srgbClr val="252A33"/>
                          </a:solidFill>
                        </a:rPr>
                        <a:t>35.8</a:t>
                      </a:r>
                      <a:endParaRPr sz="1600" b="0">
                        <a:solidFill>
                          <a:srgbClr val="252A33"/>
                        </a:solidFill>
                      </a:endParaRPr>
                    </a:p>
                  </a:txBody>
                  <a:tcPr marL="45720" marR="45720" marT="9144" marB="9144" anchor="ctr">
                    <a:solidFill>
                      <a:srgbClr val="FFFFFF"/>
                    </a:solidFill>
                  </a:tcPr>
                </a:tc>
                <a:tc>
                  <a:txBody>
                    <a:bodyPr/>
                    <a:lstStyle/>
                    <a:p>
                      <a:pPr algn="ctr">
                        <a:lnSpc>
                          <a:spcPct val="100000"/>
                        </a:lnSpc>
                      </a:pPr>
                      <a:r>
                        <a:rPr sz="1600" b="0">
                          <a:solidFill>
                            <a:srgbClr val="252A33"/>
                          </a:solidFill>
                        </a:rPr>
                        <a:t>33.7</a:t>
                      </a:r>
                      <a:endParaRPr sz="1600" b="0">
                        <a:solidFill>
                          <a:srgbClr val="252A33"/>
                        </a:solidFill>
                      </a:endParaRPr>
                    </a:p>
                  </a:txBody>
                  <a:tcPr marL="45720" marR="45720" marT="9144" marB="9144" anchor="ctr">
                    <a:solidFill>
                      <a:srgbClr val="FFFFFF"/>
                    </a:solidFill>
                  </a:tcPr>
                </a:tc>
              </a:tr>
              <a:tr h="512063">
                <a:tc>
                  <a:txBody>
                    <a:bodyPr/>
                    <a:lstStyle/>
                    <a:p>
                      <a:pPr algn="l">
                        <a:lnSpc>
                          <a:spcPct val="100000"/>
                        </a:lnSpc>
                      </a:pPr>
                      <a:r>
                        <a:rPr sz="1600" b="0">
                          <a:solidFill>
                            <a:srgbClr val="252A33"/>
                          </a:solidFill>
                        </a:rPr>
                        <a:t>迁移率 — 本复现</a:t>
                      </a:r>
                      <a:endParaRPr sz="1600" b="0">
                        <a:solidFill>
                          <a:srgbClr val="252A33"/>
                        </a:solidFill>
                      </a:endParaRPr>
                    </a:p>
                  </a:txBody>
                  <a:tcPr marL="45720" marR="45720" marT="9144" marB="9144" anchor="ctr">
                    <a:solidFill>
                      <a:srgbClr val="F2EEF5"/>
                    </a:solidFill>
                  </a:tcPr>
                </a:tc>
                <a:tc>
                  <a:txBody>
                    <a:bodyPr/>
                    <a:lstStyle/>
                    <a:p>
                      <a:pPr algn="ctr">
                        <a:lnSpc>
                          <a:spcPct val="100000"/>
                        </a:lnSpc>
                      </a:pPr>
                      <a:r>
                        <a:rPr sz="1600" b="0">
                          <a:solidFill>
                            <a:srgbClr val="252A33"/>
                          </a:solidFill>
                        </a:rPr>
                        <a:t>31.3</a:t>
                      </a:r>
                      <a:endParaRPr sz="1600" b="0">
                        <a:solidFill>
                          <a:srgbClr val="252A33"/>
                        </a:solidFill>
                      </a:endParaRPr>
                    </a:p>
                  </a:txBody>
                  <a:tcPr marL="45720" marR="45720" marT="9144" marB="9144" anchor="ctr">
                    <a:solidFill>
                      <a:srgbClr val="F2EEF5"/>
                    </a:solidFill>
                  </a:tcPr>
                </a:tc>
                <a:tc>
                  <a:txBody>
                    <a:bodyPr/>
                    <a:lstStyle/>
                    <a:p>
                      <a:pPr algn="ctr">
                        <a:lnSpc>
                          <a:spcPct val="100000"/>
                        </a:lnSpc>
                      </a:pPr>
                      <a:r>
                        <a:rPr sz="1600" b="0">
                          <a:solidFill>
                            <a:srgbClr val="252A33"/>
                          </a:solidFill>
                        </a:rPr>
                        <a:t>34.4</a:t>
                      </a:r>
                      <a:endParaRPr sz="1600" b="0">
                        <a:solidFill>
                          <a:srgbClr val="252A33"/>
                        </a:solidFill>
                      </a:endParaRPr>
                    </a:p>
                  </a:txBody>
                  <a:tcPr marL="45720" marR="45720" marT="9144" marB="9144" anchor="ctr">
                    <a:solidFill>
                      <a:srgbClr val="F2EEF5"/>
                    </a:solidFill>
                  </a:tcPr>
                </a:tc>
                <a:tc>
                  <a:txBody>
                    <a:bodyPr/>
                    <a:lstStyle/>
                    <a:p>
                      <a:pPr algn="ctr">
                        <a:lnSpc>
                          <a:spcPct val="100000"/>
                        </a:lnSpc>
                      </a:pPr>
                      <a:r>
                        <a:rPr sz="1600" b="0">
                          <a:solidFill>
                            <a:srgbClr val="252A33"/>
                          </a:solidFill>
                        </a:rPr>
                        <a:t>33.2</a:t>
                      </a:r>
                      <a:endParaRPr sz="1600" b="0">
                        <a:solidFill>
                          <a:srgbClr val="252A33"/>
                        </a:solidFill>
                      </a:endParaRPr>
                    </a:p>
                  </a:txBody>
                  <a:tcPr marL="45720" marR="45720" marT="9144" marB="9144" anchor="ctr">
                    <a:solidFill>
                      <a:srgbClr val="F2EEF5"/>
                    </a:solidFill>
                  </a:tcPr>
                </a:tc>
              </a:tr>
              <a:tr h="512063">
                <a:tc>
                  <a:txBody>
                    <a:bodyPr/>
                    <a:lstStyle/>
                    <a:p>
                      <a:pPr algn="l">
                        <a:lnSpc>
                          <a:spcPct val="100000"/>
                        </a:lnSpc>
                      </a:pPr>
                      <a:r>
                        <a:rPr sz="1600" b="0">
                          <a:solidFill>
                            <a:srgbClr val="252A33"/>
                          </a:solidFill>
                        </a:rPr>
                        <a:t>同类内迁移占比 — 论文 1995</a:t>
                      </a:r>
                      <a:endParaRPr sz="1600" b="0">
                        <a:solidFill>
                          <a:srgbClr val="252A33"/>
                        </a:solidFill>
                      </a:endParaRPr>
                    </a:p>
                  </a:txBody>
                  <a:tcPr marL="45720" marR="45720" marT="9144" marB="9144" anchor="ctr">
                    <a:solidFill>
                      <a:srgbClr val="FFFFFF"/>
                    </a:solidFill>
                  </a:tcPr>
                </a:tc>
                <a:tc>
                  <a:txBody>
                    <a:bodyPr/>
                    <a:lstStyle/>
                    <a:p>
                      <a:pPr algn="ctr">
                        <a:lnSpc>
                          <a:spcPct val="100000"/>
                        </a:lnSpc>
                      </a:pPr>
                      <a:r>
                        <a:rPr sz="1600" b="0">
                          <a:solidFill>
                            <a:srgbClr val="252A33"/>
                          </a:solidFill>
                        </a:rPr>
                        <a:t>31.1</a:t>
                      </a:r>
                      <a:endParaRPr sz="1600" b="0">
                        <a:solidFill>
                          <a:srgbClr val="252A33"/>
                        </a:solidFill>
                      </a:endParaRPr>
                    </a:p>
                  </a:txBody>
                  <a:tcPr marL="45720" marR="45720" marT="9144" marB="9144" anchor="ctr">
                    <a:solidFill>
                      <a:srgbClr val="FFFFFF"/>
                    </a:solidFill>
                  </a:tcPr>
                </a:tc>
                <a:tc>
                  <a:txBody>
                    <a:bodyPr/>
                    <a:lstStyle/>
                    <a:p>
                      <a:pPr algn="ctr">
                        <a:lnSpc>
                          <a:spcPct val="100000"/>
                        </a:lnSpc>
                      </a:pPr>
                      <a:r>
                        <a:rPr sz="1600" b="0">
                          <a:solidFill>
                            <a:srgbClr val="252A33"/>
                          </a:solidFill>
                        </a:rPr>
                        <a:t>74.6</a:t>
                      </a:r>
                      <a:endParaRPr sz="1600" b="0">
                        <a:solidFill>
                          <a:srgbClr val="252A33"/>
                        </a:solidFill>
                      </a:endParaRPr>
                    </a:p>
                  </a:txBody>
                  <a:tcPr marL="45720" marR="45720" marT="9144" marB="9144" anchor="ctr">
                    <a:solidFill>
                      <a:srgbClr val="FFFFFF"/>
                    </a:solidFill>
                  </a:tcPr>
                </a:tc>
                <a:tc>
                  <a:txBody>
                    <a:bodyPr/>
                    <a:lstStyle/>
                    <a:p>
                      <a:pPr algn="ctr">
                        <a:lnSpc>
                          <a:spcPct val="100000"/>
                        </a:lnSpc>
                      </a:pPr>
                      <a:r>
                        <a:rPr sz="1600" b="0">
                          <a:solidFill>
                            <a:srgbClr val="252A33"/>
                          </a:solidFill>
                        </a:rPr>
                        <a:t>49.4</a:t>
                      </a:r>
                      <a:endParaRPr sz="1600" b="0">
                        <a:solidFill>
                          <a:srgbClr val="252A33"/>
                        </a:solidFill>
                      </a:endParaRPr>
                    </a:p>
                  </a:txBody>
                  <a:tcPr marL="45720" marR="45720" marT="9144" marB="9144" anchor="ctr">
                    <a:solidFill>
                      <a:srgbClr val="FFFFFF"/>
                    </a:solidFill>
                  </a:tcPr>
                </a:tc>
              </a:tr>
              <a:tr h="512063">
                <a:tc>
                  <a:txBody>
                    <a:bodyPr/>
                    <a:lstStyle/>
                    <a:p>
                      <a:pPr algn="l">
                        <a:lnSpc>
                          <a:spcPct val="100000"/>
                        </a:lnSpc>
                      </a:pPr>
                      <a:r>
                        <a:rPr sz="1600" b="0">
                          <a:solidFill>
                            <a:srgbClr val="252A33"/>
                          </a:solidFill>
                        </a:rPr>
                        <a:t>同类内迁移占比 — 本复现</a:t>
                      </a:r>
                      <a:endParaRPr sz="1600" b="0">
                        <a:solidFill>
                          <a:srgbClr val="252A33"/>
                        </a:solidFill>
                      </a:endParaRPr>
                    </a:p>
                  </a:txBody>
                  <a:tcPr marL="45720" marR="45720" marT="9144" marB="9144" anchor="ctr">
                    <a:solidFill>
                      <a:srgbClr val="F2EEF5"/>
                    </a:solidFill>
                  </a:tcPr>
                </a:tc>
                <a:tc>
                  <a:txBody>
                    <a:bodyPr/>
                    <a:lstStyle/>
                    <a:p>
                      <a:pPr algn="ctr">
                        <a:lnSpc>
                          <a:spcPct val="100000"/>
                        </a:lnSpc>
                      </a:pPr>
                      <a:r>
                        <a:rPr sz="1600" b="0">
                          <a:solidFill>
                            <a:srgbClr val="252A33"/>
                          </a:solidFill>
                        </a:rPr>
                        <a:t>32.8</a:t>
                      </a:r>
                      <a:endParaRPr sz="1600" b="0">
                        <a:solidFill>
                          <a:srgbClr val="252A33"/>
                        </a:solidFill>
                      </a:endParaRPr>
                    </a:p>
                  </a:txBody>
                  <a:tcPr marL="45720" marR="45720" marT="9144" marB="9144" anchor="ctr">
                    <a:solidFill>
                      <a:srgbClr val="F2EEF5"/>
                    </a:solidFill>
                  </a:tcPr>
                </a:tc>
                <a:tc>
                  <a:txBody>
                    <a:bodyPr/>
                    <a:lstStyle/>
                    <a:p>
                      <a:pPr algn="ctr">
                        <a:lnSpc>
                          <a:spcPct val="100000"/>
                        </a:lnSpc>
                      </a:pPr>
                      <a:r>
                        <a:rPr sz="1600" b="0">
                          <a:solidFill>
                            <a:srgbClr val="252A33"/>
                          </a:solidFill>
                        </a:rPr>
                        <a:t>74.5</a:t>
                      </a:r>
                      <a:endParaRPr sz="1600" b="0">
                        <a:solidFill>
                          <a:srgbClr val="252A33"/>
                        </a:solidFill>
                      </a:endParaRPr>
                    </a:p>
                  </a:txBody>
                  <a:tcPr marL="45720" marR="45720" marT="9144" marB="9144" anchor="ctr">
                    <a:solidFill>
                      <a:srgbClr val="F2EEF5"/>
                    </a:solidFill>
                  </a:tcPr>
                </a:tc>
                <a:tc>
                  <a:txBody>
                    <a:bodyPr/>
                    <a:lstStyle/>
                    <a:p>
                      <a:pPr algn="ctr">
                        <a:lnSpc>
                          <a:spcPct val="100000"/>
                        </a:lnSpc>
                      </a:pPr>
                      <a:r>
                        <a:rPr sz="1600" b="0" dirty="0">
                          <a:solidFill>
                            <a:srgbClr val="252A33"/>
                          </a:solidFill>
                        </a:rPr>
                        <a:t>50.3</a:t>
                      </a:r>
                      <a:endParaRPr sz="1600" b="0" dirty="0">
                        <a:solidFill>
                          <a:srgbClr val="252A33"/>
                        </a:solidFill>
                      </a:endParaRPr>
                    </a:p>
                  </a:txBody>
                  <a:tcPr marL="45720" marR="45720" marT="9144" marB="9144" anchor="ctr">
                    <a:solidFill>
                      <a:srgbClr val="F2EEF5"/>
                    </a:solidFill>
                  </a:tcPr>
                </a:tc>
              </a:tr>
            </a:tbl>
          </a:graphicData>
        </a:graphic>
      </p:graphicFrame>
      <p:sp>
        <p:nvSpPr>
          <p:cNvPr id="38" name="TextBox 37"/>
          <p:cNvSpPr txBox="1"/>
          <p:nvPr/>
        </p:nvSpPr>
        <p:spPr>
          <a:xfrm>
            <a:off x="1929384" y="4206240"/>
            <a:ext cx="9692640" cy="384048"/>
          </a:xfrm>
          <a:prstGeom prst="rect">
            <a:avLst/>
          </a:prstGeom>
          <a:noFill/>
        </p:spPr>
        <p:txBody>
          <a:bodyPr wrap="square" lIns="18288" tIns="0" rIns="18288" bIns="0">
            <a:spAutoFit/>
          </a:bodyPr>
          <a:lstStyle/>
          <a:p>
            <a:pPr algn="l">
              <a:lnSpc>
                <a:spcPct val="105000"/>
              </a:lnSpc>
              <a:spcAft>
                <a:spcPts val="400"/>
              </a:spcAft>
            </a:pPr>
            <a:r>
              <a:rPr sz="2300" b="1" i="0">
                <a:solidFill>
                  <a:srgbClr val="642366"/>
                </a:solidFill>
              </a:rPr>
              <a:t>复现结论</a:t>
            </a:r>
            <a:endParaRPr sz="2300" b="1" i="0">
              <a:solidFill>
                <a:srgbClr val="642366"/>
              </a:solidFill>
            </a:endParaRPr>
          </a:p>
        </p:txBody>
      </p:sp>
      <p:sp>
        <p:nvSpPr>
          <p:cNvPr id="39" name="TextBox 38"/>
          <p:cNvSpPr txBox="1"/>
          <p:nvPr/>
        </p:nvSpPr>
        <p:spPr>
          <a:xfrm>
            <a:off x="2029968" y="4608576"/>
            <a:ext cx="9601200" cy="868680"/>
          </a:xfrm>
          <a:prstGeom prst="rect">
            <a:avLst/>
          </a:prstGeom>
          <a:noFill/>
        </p:spPr>
        <p:txBody>
          <a:bodyPr wrap="square" lIns="18288" tIns="0" rIns="18288" bIns="0">
            <a:spAutoFit/>
          </a:bodyPr>
          <a:lstStyle/>
          <a:p>
            <a:pPr algn="l">
              <a:lnSpc>
                <a:spcPct val="105000"/>
              </a:lnSpc>
              <a:spcAft>
                <a:spcPts val="400"/>
              </a:spcAft>
            </a:pPr>
            <a:r>
              <a:rPr sz="1800" b="1" i="0">
                <a:solidFill>
                  <a:srgbClr val="1B6B45"/>
                </a:solidFill>
              </a:rPr>
              <a:t>六个数值与论文报告值的偏差全部在 1.7 个百分点以内</a:t>
            </a:r>
            <a:endParaRPr sz="1800" b="1" i="0">
              <a:solidFill>
                <a:srgbClr val="1B6B45"/>
              </a:solidFill>
            </a:endParaRPr>
          </a:p>
          <a:p>
            <a:pPr algn="l">
              <a:lnSpc>
                <a:spcPct val="105000"/>
              </a:lnSpc>
              <a:spcAft>
                <a:spcPts val="400"/>
              </a:spcAft>
            </a:pPr>
            <a:r>
              <a:rPr sz="1600" b="0" i="0">
                <a:solidFill>
                  <a:srgbClr val="252A33"/>
                </a:solidFill>
              </a:rPr>
              <a:t>其中「城市同类内迁移占比」只差 0.1 个百分点（本复现 74.5 vs 论文 74.6）</a:t>
            </a:r>
            <a:endParaRPr sz="1600" b="0" i="0">
              <a:solidFill>
                <a:srgbClr val="252A33"/>
              </a:solidFill>
            </a:endParaRPr>
          </a:p>
        </p:txBody>
      </p:sp>
      <p:sp>
        <p:nvSpPr>
          <p:cNvPr id="40" name="TextBox 39"/>
          <p:cNvSpPr txBox="1"/>
          <p:nvPr/>
        </p:nvSpPr>
        <p:spPr>
          <a:xfrm>
            <a:off x="1929384" y="5623560"/>
            <a:ext cx="9692640" cy="868680"/>
          </a:xfrm>
          <a:prstGeom prst="rect">
            <a:avLst/>
          </a:prstGeom>
          <a:noFill/>
        </p:spPr>
        <p:txBody>
          <a:bodyPr wrap="square" lIns="18288" tIns="0" rIns="18288" bIns="0">
            <a:spAutoFit/>
          </a:bodyPr>
          <a:lstStyle/>
          <a:p>
            <a:pPr algn="l">
              <a:lnSpc>
                <a:spcPct val="105000"/>
              </a:lnSpc>
              <a:spcAft>
                <a:spcPts val="200"/>
              </a:spcAft>
            </a:pPr>
            <a:r>
              <a:rPr sz="1300" b="0" i="0">
                <a:solidFill>
                  <a:srgbClr val="606670"/>
                </a:solidFill>
              </a:rPr>
              <a:t>仅复现 1995 年一列：IPUMS International 未提供 2011、2012 年 SUSENAS 数据，故该两列无法复现。</a:t>
            </a:r>
            <a:endParaRPr sz="1300" b="0" i="0">
              <a:solidFill>
                <a:srgbClr val="606670"/>
              </a:solidFill>
            </a:endParaRPr>
          </a:p>
          <a:p>
            <a:pPr algn="l">
              <a:lnSpc>
                <a:spcPct val="105000"/>
              </a:lnSpc>
              <a:spcAft>
                <a:spcPts val="400"/>
              </a:spcAft>
            </a:pPr>
            <a:r>
              <a:rPr sz="1300" b="0" i="0">
                <a:solidFill>
                  <a:srgbClr val="A63A1E"/>
                </a:solidFill>
              </a:rPr>
              <a:t>样本仅覆盖 17 个省（西部印尼），加权人口约占当年全国 86% —— 这是县数少于论文（221 vs 281）的主要原因。</a:t>
            </a:r>
            <a:endParaRPr sz="1300" b="0" i="0">
              <a:solidFill>
                <a:srgbClr val="A63A1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144" y="350986"/>
            <a:ext cx="8294008" cy="720428"/>
          </a:xfrm>
        </p:spPr>
        <p:txBody>
          <a:bodyPr/>
          <a:lstStyle/>
          <a:p>
            <a:r>
              <a:rPr sz="2600" b="1">
                <a:solidFill>
                  <a:srgbClr val="642366"/>
                </a:solidFill>
              </a:rPr>
              <a:t>table1：切点口径与稳健性检验</a:t>
            </a:r>
            <a:endParaRPr sz="2600" b="1">
              <a:solidFill>
                <a:srgbClr val="642366"/>
              </a:solidFill>
            </a:endParaRPr>
          </a:p>
        </p:txBody>
      </p:sp>
      <p:sp>
        <p:nvSpPr>
          <p:cNvPr id="3" name="文本框 2"/>
          <p:cNvSpPr txBox="1"/>
          <p:nvPr/>
        </p:nvSpPr>
        <p:spPr>
          <a:xfrm>
            <a:off x="1932305" y="365125"/>
            <a:ext cx="717550" cy="368300"/>
          </a:xfrm>
          <a:prstGeom prst="rect">
            <a:avLst/>
          </a:prstGeom>
          <a:noFill/>
        </p:spPr>
        <p:txBody>
          <a:bodyPr wrap="square" rtlCol="0">
            <a:spAutoFit/>
          </a:bodyPr>
          <a:lstStyle/>
          <a:p>
            <a:r>
              <a:rPr lang="en-US" altLang="zh-CN" b="1" dirty="0">
                <a:solidFill>
                  <a:schemeClr val="bg1"/>
                </a:solidFill>
              </a:rPr>
              <a:t>5.1</a:t>
            </a:r>
            <a:endParaRPr lang="zh-CN" altLang="en-US" b="1" dirty="0">
              <a:solidFill>
                <a:schemeClr val="bg1"/>
              </a:solidFill>
            </a:endParaRPr>
          </a:p>
        </p:txBody>
      </p:sp>
      <p:sp>
        <p:nvSpPr>
          <p:cNvPr id="33" name="爱设计-1-1"/>
          <p:cNvSpPr/>
          <p:nvPr/>
        </p:nvSpPr>
        <p:spPr>
          <a:xfrm>
            <a:off x="13134518" y="1698544"/>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爱设计-1-2"/>
          <p:cNvSpPr/>
          <p:nvPr/>
        </p:nvSpPr>
        <p:spPr>
          <a:xfrm>
            <a:off x="12987683" y="1698544"/>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爱设计-1-3"/>
          <p:cNvSpPr/>
          <p:nvPr/>
        </p:nvSpPr>
        <p:spPr>
          <a:xfrm>
            <a:off x="13134518" y="1840472"/>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Box 35"/>
          <p:cNvSpPr txBox="1"/>
          <p:nvPr/>
        </p:nvSpPr>
        <p:spPr>
          <a:xfrm>
            <a:off x="1929384" y="1133856"/>
            <a:ext cx="9692640" cy="384048"/>
          </a:xfrm>
          <a:prstGeom prst="rect">
            <a:avLst/>
          </a:prstGeom>
          <a:noFill/>
        </p:spPr>
        <p:txBody>
          <a:bodyPr wrap="square" lIns="18288" tIns="0" rIns="18288" bIns="0">
            <a:spAutoFit/>
          </a:bodyPr>
          <a:lstStyle/>
          <a:p>
            <a:pPr algn="l">
              <a:lnSpc>
                <a:spcPct val="105000"/>
              </a:lnSpc>
              <a:spcAft>
                <a:spcPts val="400"/>
              </a:spcAft>
            </a:pPr>
            <a:r>
              <a:rPr sz="2300" b="1" i="0" dirty="0" err="1">
                <a:solidFill>
                  <a:srgbClr val="642366"/>
                </a:solidFill>
              </a:rPr>
              <a:t>切点口径：论文</a:t>
            </a:r>
            <a:r>
              <a:rPr sz="2300" b="1" i="0" dirty="0">
                <a:solidFill>
                  <a:srgbClr val="642366"/>
                </a:solidFill>
              </a:rPr>
              <a:t> Table 1 </a:t>
            </a:r>
            <a:r>
              <a:rPr sz="2300" b="1" i="0" dirty="0" err="1">
                <a:solidFill>
                  <a:srgbClr val="642366"/>
                </a:solidFill>
              </a:rPr>
              <a:t>注释的规定</a:t>
            </a:r>
            <a:r>
              <a:rPr sz="2300" b="1" i="0" dirty="0">
                <a:solidFill>
                  <a:srgbClr val="642366"/>
                </a:solidFill>
              </a:rPr>
              <a:t> + </a:t>
            </a:r>
            <a:r>
              <a:rPr sz="2300" b="1" i="0" dirty="0" err="1">
                <a:solidFill>
                  <a:srgbClr val="642366"/>
                </a:solidFill>
              </a:rPr>
              <a:t>一条稳健性检验</a:t>
            </a:r>
            <a:endParaRPr sz="2300" b="1" i="0" dirty="0">
              <a:solidFill>
                <a:srgbClr val="642366"/>
              </a:solidFill>
            </a:endParaRPr>
          </a:p>
        </p:txBody>
      </p:sp>
      <p:graphicFrame>
        <p:nvGraphicFramePr>
          <p:cNvPr id="37" name="Table 36"/>
          <p:cNvGraphicFramePr>
            <a:graphicFrameLocks noGrp="1"/>
          </p:cNvGraphicFramePr>
          <p:nvPr/>
        </p:nvGraphicFramePr>
        <p:xfrm>
          <a:off x="1929384" y="1536192"/>
          <a:ext cx="9875518" cy="2286000"/>
        </p:xfrm>
        <a:graphic>
          <a:graphicData uri="http://schemas.openxmlformats.org/drawingml/2006/table">
            <a:tbl>
              <a:tblPr firstRow="1">
                <a:tableStyleId>{5C22544A-7EE6-4342-B048-85BDC9FD1C3A}</a:tableStyleId>
              </a:tblPr>
              <a:tblGrid>
                <a:gridCol w="3638349"/>
                <a:gridCol w="1299410"/>
                <a:gridCol w="1212783"/>
                <a:gridCol w="1212783"/>
                <a:gridCol w="1212783"/>
                <a:gridCol w="1299410"/>
              </a:tblGrid>
              <a:tr h="457200">
                <a:tc>
                  <a:txBody>
                    <a:bodyPr/>
                    <a:lstStyle/>
                    <a:p>
                      <a:pPr algn="l">
                        <a:lnSpc>
                          <a:spcPct val="100000"/>
                        </a:lnSpc>
                      </a:pPr>
                      <a:r>
                        <a:rPr sz="1500" b="1">
                          <a:solidFill>
                            <a:srgbClr val="FFFFFF"/>
                          </a:solidFill>
                        </a:rPr>
                        <a:t>切点规则</a:t>
                      </a:r>
                      <a:endParaRPr sz="1500" b="1">
                        <a:solidFill>
                          <a:srgbClr val="FFFFFF"/>
                        </a:solidFill>
                      </a:endParaRPr>
                    </a:p>
                  </a:txBody>
                  <a:tcPr marL="45720" marR="45720" marT="9144" marB="9144" anchor="ctr">
                    <a:solidFill>
                      <a:srgbClr val="642366"/>
                    </a:solidFill>
                  </a:tcPr>
                </a:tc>
                <a:tc>
                  <a:txBody>
                    <a:bodyPr/>
                    <a:lstStyle/>
                    <a:p>
                      <a:pPr algn="ctr">
                        <a:lnSpc>
                          <a:spcPct val="100000"/>
                        </a:lnSpc>
                      </a:pPr>
                      <a:r>
                        <a:rPr sz="1500" b="1">
                          <a:solidFill>
                            <a:srgbClr val="FFFFFF"/>
                          </a:solidFill>
                        </a:rPr>
                        <a:t>指标</a:t>
                      </a:r>
                      <a:endParaRPr sz="1500" b="1">
                        <a:solidFill>
                          <a:srgbClr val="FFFFFF"/>
                        </a:solidFill>
                      </a:endParaRPr>
                    </a:p>
                  </a:txBody>
                  <a:tcPr marL="45720" marR="45720" marT="9144" marB="9144" anchor="ctr">
                    <a:solidFill>
                      <a:srgbClr val="642366"/>
                    </a:solidFill>
                  </a:tcPr>
                </a:tc>
                <a:tc>
                  <a:txBody>
                    <a:bodyPr/>
                    <a:lstStyle/>
                    <a:p>
                      <a:pPr algn="ctr">
                        <a:lnSpc>
                          <a:spcPct val="100000"/>
                        </a:lnSpc>
                      </a:pPr>
                      <a:r>
                        <a:rPr sz="1500" b="1">
                          <a:solidFill>
                            <a:srgbClr val="FFFFFF"/>
                          </a:solidFill>
                        </a:rPr>
                        <a:t>Rural</a:t>
                      </a:r>
                      <a:endParaRPr sz="1500" b="1">
                        <a:solidFill>
                          <a:srgbClr val="FFFFFF"/>
                        </a:solidFill>
                      </a:endParaRPr>
                    </a:p>
                  </a:txBody>
                  <a:tcPr marL="45720" marR="45720" marT="9144" marB="9144" anchor="ctr">
                    <a:solidFill>
                      <a:srgbClr val="642366"/>
                    </a:solidFill>
                  </a:tcPr>
                </a:tc>
                <a:tc>
                  <a:txBody>
                    <a:bodyPr/>
                    <a:lstStyle/>
                    <a:p>
                      <a:pPr algn="ctr">
                        <a:lnSpc>
                          <a:spcPct val="100000"/>
                        </a:lnSpc>
                      </a:pPr>
                      <a:r>
                        <a:rPr sz="1500" b="1">
                          <a:solidFill>
                            <a:srgbClr val="FFFFFF"/>
                          </a:solidFill>
                        </a:rPr>
                        <a:t>Urban</a:t>
                      </a:r>
                      <a:endParaRPr sz="1500" b="1">
                        <a:solidFill>
                          <a:srgbClr val="FFFFFF"/>
                        </a:solidFill>
                      </a:endParaRPr>
                    </a:p>
                  </a:txBody>
                  <a:tcPr marL="45720" marR="45720" marT="9144" marB="9144" anchor="ctr">
                    <a:solidFill>
                      <a:srgbClr val="642366"/>
                    </a:solidFill>
                  </a:tcPr>
                </a:tc>
                <a:tc>
                  <a:txBody>
                    <a:bodyPr/>
                    <a:lstStyle/>
                    <a:p>
                      <a:pPr algn="ctr">
                        <a:lnSpc>
                          <a:spcPct val="100000"/>
                        </a:lnSpc>
                      </a:pPr>
                      <a:r>
                        <a:rPr sz="1500" b="1">
                          <a:solidFill>
                            <a:srgbClr val="FFFFFF"/>
                          </a:solidFill>
                        </a:rPr>
                        <a:t>All</a:t>
                      </a:r>
                      <a:endParaRPr sz="1500" b="1">
                        <a:solidFill>
                          <a:srgbClr val="FFFFFF"/>
                        </a:solidFill>
                      </a:endParaRPr>
                    </a:p>
                  </a:txBody>
                  <a:tcPr marL="45720" marR="45720" marT="9144" marB="9144" anchor="ctr">
                    <a:solidFill>
                      <a:srgbClr val="642366"/>
                    </a:solidFill>
                  </a:tcPr>
                </a:tc>
                <a:tc>
                  <a:txBody>
                    <a:bodyPr/>
                    <a:lstStyle/>
                    <a:p>
                      <a:pPr algn="ctr">
                        <a:lnSpc>
                          <a:spcPct val="100000"/>
                        </a:lnSpc>
                      </a:pPr>
                      <a:r>
                        <a:rPr sz="1500" b="1">
                          <a:solidFill>
                            <a:srgbClr val="FFFFFF"/>
                          </a:solidFill>
                        </a:rPr>
                        <a:t>最大偏差</a:t>
                      </a:r>
                      <a:endParaRPr sz="1500" b="1">
                        <a:solidFill>
                          <a:srgbClr val="FFFFFF"/>
                        </a:solidFill>
                      </a:endParaRPr>
                    </a:p>
                  </a:txBody>
                  <a:tcPr marL="45720" marR="45720" marT="9144" marB="9144" anchor="ctr">
                    <a:solidFill>
                      <a:srgbClr val="642366"/>
                    </a:solidFill>
                  </a:tcPr>
                </a:tc>
              </a:tr>
              <a:tr h="457200">
                <a:tc>
                  <a:txBody>
                    <a:bodyPr/>
                    <a:lstStyle/>
                    <a:p>
                      <a:pPr algn="l">
                        <a:lnSpc>
                          <a:spcPct val="100000"/>
                        </a:lnSpc>
                      </a:pPr>
                      <a:r>
                        <a:rPr sz="1500" b="1">
                          <a:solidFill>
                            <a:srgbClr val="642366"/>
                          </a:solidFill>
                        </a:rPr>
                        <a:t>A  匹配全国城镇化率（Table 1 注释）</a:t>
                      </a:r>
                      <a:endParaRPr sz="1500" b="1">
                        <a:solidFill>
                          <a:srgbClr val="642366"/>
                        </a:solidFill>
                      </a:endParaRPr>
                    </a:p>
                  </a:txBody>
                  <a:tcPr marL="45720" marR="45720" marT="9144" marB="9144" anchor="ctr">
                    <a:solidFill>
                      <a:srgbClr val="FFFFFF"/>
                    </a:solidFill>
                  </a:tcPr>
                </a:tc>
                <a:tc>
                  <a:txBody>
                    <a:bodyPr/>
                    <a:lstStyle/>
                    <a:p>
                      <a:pPr algn="ctr">
                        <a:lnSpc>
                          <a:spcPct val="100000"/>
                        </a:lnSpc>
                      </a:pPr>
                      <a:r>
                        <a:rPr sz="1500" b="0" dirty="0" err="1">
                          <a:solidFill>
                            <a:srgbClr val="252A33"/>
                          </a:solidFill>
                        </a:rPr>
                        <a:t>迁移率</a:t>
                      </a:r>
                      <a:endParaRPr sz="1500" b="0" dirty="0">
                        <a:solidFill>
                          <a:srgbClr val="252A33"/>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31.3</a:t>
                      </a:r>
                      <a:endParaRPr sz="1500" b="0">
                        <a:solidFill>
                          <a:srgbClr val="252A33"/>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34.4</a:t>
                      </a:r>
                      <a:endParaRPr sz="1500" b="0">
                        <a:solidFill>
                          <a:srgbClr val="252A33"/>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33.2</a:t>
                      </a:r>
                      <a:endParaRPr sz="1500" b="0">
                        <a:solidFill>
                          <a:srgbClr val="252A33"/>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1.4</a:t>
                      </a:r>
                      <a:endParaRPr sz="1500" b="0">
                        <a:solidFill>
                          <a:srgbClr val="252A33"/>
                        </a:solidFill>
                      </a:endParaRPr>
                    </a:p>
                  </a:txBody>
                  <a:tcPr marL="45720" marR="45720" marT="9144" marB="9144" anchor="ctr">
                    <a:solidFill>
                      <a:srgbClr val="FFFFFF"/>
                    </a:solidFill>
                  </a:tcPr>
                </a:tc>
              </a:tr>
              <a:tr h="457200">
                <a:tc>
                  <a:txBody>
                    <a:bodyPr/>
                    <a:lstStyle/>
                    <a:p>
                      <a:pPr algn="l">
                        <a:lnSpc>
                          <a:spcPct val="100000"/>
                        </a:lnSpc>
                      </a:pPr>
                    </a:p>
                  </a:txBody>
                  <a:tcPr marL="45720" marR="45720" marT="9144" marB="9144" anchor="ctr">
                    <a:solidFill>
                      <a:srgbClr val="F2EEF5"/>
                    </a:solidFill>
                  </a:tcPr>
                </a:tc>
                <a:tc>
                  <a:txBody>
                    <a:bodyPr/>
                    <a:lstStyle/>
                    <a:p>
                      <a:pPr algn="ctr">
                        <a:lnSpc>
                          <a:spcPct val="100000"/>
                        </a:lnSpc>
                      </a:pPr>
                      <a:r>
                        <a:rPr sz="1500" b="0">
                          <a:solidFill>
                            <a:srgbClr val="252A33"/>
                          </a:solidFill>
                        </a:rPr>
                        <a:t>同类内</a:t>
                      </a:r>
                      <a:endParaRPr sz="1500" b="0">
                        <a:solidFill>
                          <a:srgbClr val="252A33"/>
                        </a:solidFill>
                      </a:endParaRPr>
                    </a:p>
                  </a:txBody>
                  <a:tcPr marL="45720" marR="45720" marT="9144" marB="9144" anchor="ctr">
                    <a:solidFill>
                      <a:srgbClr val="F2EEF5"/>
                    </a:solidFill>
                  </a:tcPr>
                </a:tc>
                <a:tc>
                  <a:txBody>
                    <a:bodyPr/>
                    <a:lstStyle/>
                    <a:p>
                      <a:pPr algn="ctr">
                        <a:lnSpc>
                          <a:spcPct val="100000"/>
                        </a:lnSpc>
                      </a:pPr>
                      <a:r>
                        <a:rPr sz="1500" b="0">
                          <a:solidFill>
                            <a:srgbClr val="252A33"/>
                          </a:solidFill>
                        </a:rPr>
                        <a:t>32.8</a:t>
                      </a:r>
                      <a:endParaRPr sz="1500" b="0">
                        <a:solidFill>
                          <a:srgbClr val="252A33"/>
                        </a:solidFill>
                      </a:endParaRPr>
                    </a:p>
                  </a:txBody>
                  <a:tcPr marL="45720" marR="45720" marT="9144" marB="9144" anchor="ctr">
                    <a:solidFill>
                      <a:srgbClr val="F2EEF5"/>
                    </a:solidFill>
                  </a:tcPr>
                </a:tc>
                <a:tc>
                  <a:txBody>
                    <a:bodyPr/>
                    <a:lstStyle/>
                    <a:p>
                      <a:pPr algn="ctr">
                        <a:lnSpc>
                          <a:spcPct val="100000"/>
                        </a:lnSpc>
                      </a:pPr>
                      <a:r>
                        <a:rPr sz="1500" b="0">
                          <a:solidFill>
                            <a:srgbClr val="252A33"/>
                          </a:solidFill>
                        </a:rPr>
                        <a:t>74.5</a:t>
                      </a:r>
                      <a:endParaRPr sz="1500" b="0">
                        <a:solidFill>
                          <a:srgbClr val="252A33"/>
                        </a:solidFill>
                      </a:endParaRPr>
                    </a:p>
                  </a:txBody>
                  <a:tcPr marL="45720" marR="45720" marT="9144" marB="9144" anchor="ctr">
                    <a:solidFill>
                      <a:srgbClr val="F2EEF5"/>
                    </a:solidFill>
                  </a:tcPr>
                </a:tc>
                <a:tc>
                  <a:txBody>
                    <a:bodyPr/>
                    <a:lstStyle/>
                    <a:p>
                      <a:pPr algn="ctr">
                        <a:lnSpc>
                          <a:spcPct val="100000"/>
                        </a:lnSpc>
                      </a:pPr>
                      <a:r>
                        <a:rPr sz="1500" b="0">
                          <a:solidFill>
                            <a:srgbClr val="252A33"/>
                          </a:solidFill>
                        </a:rPr>
                        <a:t>50.3</a:t>
                      </a:r>
                      <a:endParaRPr sz="1500" b="0">
                        <a:solidFill>
                          <a:srgbClr val="252A33"/>
                        </a:solidFill>
                      </a:endParaRPr>
                    </a:p>
                  </a:txBody>
                  <a:tcPr marL="45720" marR="45720" marT="9144" marB="9144" anchor="ctr">
                    <a:solidFill>
                      <a:srgbClr val="F2EEF5"/>
                    </a:solidFill>
                  </a:tcPr>
                </a:tc>
                <a:tc>
                  <a:txBody>
                    <a:bodyPr/>
                    <a:lstStyle/>
                    <a:p>
                      <a:pPr algn="ctr">
                        <a:lnSpc>
                          <a:spcPct val="100000"/>
                        </a:lnSpc>
                      </a:pPr>
                      <a:r>
                        <a:rPr sz="1500" b="0">
                          <a:solidFill>
                            <a:srgbClr val="252A33"/>
                          </a:solidFill>
                        </a:rPr>
                        <a:t>1.7</a:t>
                      </a:r>
                      <a:endParaRPr sz="1500" b="0">
                        <a:solidFill>
                          <a:srgbClr val="252A33"/>
                        </a:solidFill>
                      </a:endParaRPr>
                    </a:p>
                  </a:txBody>
                  <a:tcPr marL="45720" marR="45720" marT="9144" marB="9144" anchor="ctr">
                    <a:solidFill>
                      <a:srgbClr val="F2EEF5"/>
                    </a:solidFill>
                  </a:tcPr>
                </a:tc>
              </a:tr>
              <a:tr h="457200">
                <a:tc>
                  <a:txBody>
                    <a:bodyPr/>
                    <a:lstStyle/>
                    <a:p>
                      <a:pPr algn="l">
                        <a:lnSpc>
                          <a:spcPct val="100000"/>
                        </a:lnSpc>
                      </a:pPr>
                      <a:r>
                        <a:rPr sz="1500" b="0">
                          <a:solidFill>
                            <a:srgbClr val="606670"/>
                          </a:solidFill>
                        </a:rPr>
                        <a:t>B  县级中位数（稳健性检验）</a:t>
                      </a:r>
                      <a:endParaRPr sz="1500" b="0">
                        <a:solidFill>
                          <a:srgbClr val="606670"/>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迁移率</a:t>
                      </a:r>
                      <a:endParaRPr sz="1500" b="0">
                        <a:solidFill>
                          <a:srgbClr val="252A33"/>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34.1</a:t>
                      </a:r>
                      <a:endParaRPr sz="1500" b="0">
                        <a:solidFill>
                          <a:srgbClr val="252A33"/>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31.6</a:t>
                      </a:r>
                      <a:endParaRPr sz="1500" b="0">
                        <a:solidFill>
                          <a:srgbClr val="252A33"/>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33.2</a:t>
                      </a:r>
                      <a:endParaRPr sz="1500" b="0">
                        <a:solidFill>
                          <a:srgbClr val="252A33"/>
                        </a:solidFill>
                      </a:endParaRPr>
                    </a:p>
                  </a:txBody>
                  <a:tcPr marL="45720" marR="45720" marT="9144" marB="9144" anchor="ctr">
                    <a:solidFill>
                      <a:srgbClr val="FFFFFF"/>
                    </a:solidFill>
                  </a:tcPr>
                </a:tc>
                <a:tc>
                  <a:txBody>
                    <a:bodyPr/>
                    <a:lstStyle/>
                    <a:p>
                      <a:pPr algn="ctr">
                        <a:lnSpc>
                          <a:spcPct val="100000"/>
                        </a:lnSpc>
                      </a:pPr>
                      <a:r>
                        <a:rPr sz="1500" b="0">
                          <a:solidFill>
                            <a:srgbClr val="252A33"/>
                          </a:solidFill>
                        </a:rPr>
                        <a:t>4.2</a:t>
                      </a:r>
                      <a:endParaRPr sz="1500" b="0">
                        <a:solidFill>
                          <a:srgbClr val="252A33"/>
                        </a:solidFill>
                      </a:endParaRPr>
                    </a:p>
                  </a:txBody>
                  <a:tcPr marL="45720" marR="45720" marT="9144" marB="9144" anchor="ctr">
                    <a:solidFill>
                      <a:srgbClr val="FFFFFF"/>
                    </a:solidFill>
                  </a:tcPr>
                </a:tc>
              </a:tr>
              <a:tr h="457200">
                <a:tc>
                  <a:txBody>
                    <a:bodyPr/>
                    <a:lstStyle/>
                    <a:p>
                      <a:pPr algn="l">
                        <a:lnSpc>
                          <a:spcPct val="100000"/>
                        </a:lnSpc>
                      </a:pPr>
                    </a:p>
                  </a:txBody>
                  <a:tcPr marL="45720" marR="45720" marT="9144" marB="9144" anchor="ctr">
                    <a:solidFill>
                      <a:srgbClr val="F2EEF5"/>
                    </a:solidFill>
                  </a:tcPr>
                </a:tc>
                <a:tc>
                  <a:txBody>
                    <a:bodyPr/>
                    <a:lstStyle/>
                    <a:p>
                      <a:pPr algn="ctr">
                        <a:lnSpc>
                          <a:spcPct val="100000"/>
                        </a:lnSpc>
                      </a:pPr>
                      <a:r>
                        <a:rPr sz="1500" b="0">
                          <a:solidFill>
                            <a:srgbClr val="252A33"/>
                          </a:solidFill>
                        </a:rPr>
                        <a:t>同类内</a:t>
                      </a:r>
                      <a:endParaRPr sz="1500" b="0">
                        <a:solidFill>
                          <a:srgbClr val="252A33"/>
                        </a:solidFill>
                      </a:endParaRPr>
                    </a:p>
                  </a:txBody>
                  <a:tcPr marL="45720" marR="45720" marT="9144" marB="9144" anchor="ctr">
                    <a:solidFill>
                      <a:srgbClr val="F2EEF5"/>
                    </a:solidFill>
                  </a:tcPr>
                </a:tc>
                <a:tc>
                  <a:txBody>
                    <a:bodyPr/>
                    <a:lstStyle/>
                    <a:p>
                      <a:pPr algn="ctr">
                        <a:lnSpc>
                          <a:spcPct val="100000"/>
                        </a:lnSpc>
                      </a:pPr>
                      <a:r>
                        <a:rPr sz="1500" b="0">
                          <a:solidFill>
                            <a:srgbClr val="252A33"/>
                          </a:solidFill>
                        </a:rPr>
                        <a:t>20.8</a:t>
                      </a:r>
                      <a:endParaRPr sz="1500" b="0">
                        <a:solidFill>
                          <a:srgbClr val="252A33"/>
                        </a:solidFill>
                      </a:endParaRPr>
                    </a:p>
                  </a:txBody>
                  <a:tcPr marL="45720" marR="45720" marT="9144" marB="9144" anchor="ctr">
                    <a:solidFill>
                      <a:srgbClr val="F2EEF5"/>
                    </a:solidFill>
                  </a:tcPr>
                </a:tc>
                <a:tc>
                  <a:txBody>
                    <a:bodyPr/>
                    <a:lstStyle/>
                    <a:p>
                      <a:pPr algn="ctr">
                        <a:lnSpc>
                          <a:spcPct val="100000"/>
                        </a:lnSpc>
                      </a:pPr>
                      <a:r>
                        <a:rPr sz="1500" b="0">
                          <a:solidFill>
                            <a:srgbClr val="252A33"/>
                          </a:solidFill>
                        </a:rPr>
                        <a:t>83.3</a:t>
                      </a:r>
                      <a:endParaRPr sz="1500" b="0">
                        <a:solidFill>
                          <a:srgbClr val="252A33"/>
                        </a:solidFill>
                      </a:endParaRPr>
                    </a:p>
                  </a:txBody>
                  <a:tcPr marL="45720" marR="45720" marT="9144" marB="9144" anchor="ctr">
                    <a:solidFill>
                      <a:srgbClr val="F2EEF5"/>
                    </a:solidFill>
                  </a:tcPr>
                </a:tc>
                <a:tc>
                  <a:txBody>
                    <a:bodyPr/>
                    <a:lstStyle/>
                    <a:p>
                      <a:pPr algn="ctr">
                        <a:lnSpc>
                          <a:spcPct val="100000"/>
                        </a:lnSpc>
                      </a:pPr>
                      <a:r>
                        <a:rPr sz="1500" b="0">
                          <a:solidFill>
                            <a:srgbClr val="252A33"/>
                          </a:solidFill>
                        </a:rPr>
                        <a:t>58.8</a:t>
                      </a:r>
                      <a:endParaRPr sz="1500" b="0">
                        <a:solidFill>
                          <a:srgbClr val="252A33"/>
                        </a:solidFill>
                      </a:endParaRPr>
                    </a:p>
                  </a:txBody>
                  <a:tcPr marL="45720" marR="45720" marT="9144" marB="9144" anchor="ctr">
                    <a:solidFill>
                      <a:srgbClr val="F2EEF5"/>
                    </a:solidFill>
                  </a:tcPr>
                </a:tc>
                <a:tc>
                  <a:txBody>
                    <a:bodyPr/>
                    <a:lstStyle/>
                    <a:p>
                      <a:pPr algn="ctr">
                        <a:lnSpc>
                          <a:spcPct val="100000"/>
                        </a:lnSpc>
                      </a:pPr>
                      <a:r>
                        <a:rPr sz="1500" b="0" dirty="0">
                          <a:solidFill>
                            <a:srgbClr val="252A33"/>
                          </a:solidFill>
                        </a:rPr>
                        <a:t>10.3</a:t>
                      </a:r>
                      <a:endParaRPr sz="1500" b="0" dirty="0">
                        <a:solidFill>
                          <a:srgbClr val="252A33"/>
                        </a:solidFill>
                      </a:endParaRPr>
                    </a:p>
                  </a:txBody>
                  <a:tcPr marL="45720" marR="45720" marT="9144" marB="9144" anchor="ctr">
                    <a:solidFill>
                      <a:srgbClr val="F2EEF5"/>
                    </a:solidFill>
                  </a:tcPr>
                </a:tc>
              </a:tr>
            </a:tbl>
          </a:graphicData>
        </a:graphic>
      </p:graphicFrame>
      <p:sp>
        <p:nvSpPr>
          <p:cNvPr id="38" name="TextBox 37"/>
          <p:cNvSpPr txBox="1"/>
          <p:nvPr/>
        </p:nvSpPr>
        <p:spPr>
          <a:xfrm>
            <a:off x="1929384" y="3931920"/>
            <a:ext cx="9692640" cy="384048"/>
          </a:xfrm>
          <a:prstGeom prst="rect">
            <a:avLst/>
          </a:prstGeom>
          <a:noFill/>
        </p:spPr>
        <p:txBody>
          <a:bodyPr wrap="square" lIns="18288" tIns="0" rIns="18288" bIns="0">
            <a:spAutoFit/>
          </a:bodyPr>
          <a:lstStyle/>
          <a:p>
            <a:pPr algn="l">
              <a:lnSpc>
                <a:spcPct val="105000"/>
              </a:lnSpc>
              <a:spcAft>
                <a:spcPts val="400"/>
              </a:spcAft>
            </a:pPr>
            <a:r>
              <a:rPr sz="2300" b="1" i="0">
                <a:solidFill>
                  <a:srgbClr val="642366"/>
                </a:solidFill>
              </a:rPr>
              <a:t>这说明什么</a:t>
            </a:r>
            <a:endParaRPr sz="2300" b="1" i="0">
              <a:solidFill>
                <a:srgbClr val="642366"/>
              </a:solidFill>
            </a:endParaRPr>
          </a:p>
        </p:txBody>
      </p:sp>
      <p:sp>
        <p:nvSpPr>
          <p:cNvPr id="39" name="TextBox 38"/>
          <p:cNvSpPr txBox="1"/>
          <p:nvPr/>
        </p:nvSpPr>
        <p:spPr>
          <a:xfrm>
            <a:off x="2029968" y="4315968"/>
            <a:ext cx="9601200" cy="786241"/>
          </a:xfrm>
          <a:prstGeom prst="rect">
            <a:avLst/>
          </a:prstGeom>
          <a:noFill/>
        </p:spPr>
        <p:txBody>
          <a:bodyPr wrap="square" lIns="18288" tIns="0" rIns="18288" bIns="0">
            <a:spAutoFit/>
          </a:bodyPr>
          <a:lstStyle/>
          <a:p>
            <a:pPr algn="l">
              <a:lnSpc>
                <a:spcPct val="105000"/>
              </a:lnSpc>
              <a:spcAft>
                <a:spcPts val="300"/>
              </a:spcAft>
            </a:pPr>
            <a:r>
              <a:rPr sz="1500" b="0" i="0" dirty="0" err="1">
                <a:solidFill>
                  <a:srgbClr val="252A33"/>
                </a:solidFill>
              </a:rPr>
              <a:t>规则</a:t>
            </a:r>
            <a:r>
              <a:rPr sz="1500" b="0" i="0" dirty="0">
                <a:solidFill>
                  <a:srgbClr val="252A33"/>
                </a:solidFill>
              </a:rPr>
              <a:t> A </a:t>
            </a:r>
            <a:r>
              <a:rPr sz="1500" b="0" i="0" dirty="0" err="1">
                <a:solidFill>
                  <a:srgbClr val="252A33"/>
                </a:solidFill>
              </a:rPr>
              <a:t>的切点让「农村县」恰好承载全国农村人口比例</a:t>
            </a:r>
            <a:r>
              <a:rPr sz="1500" b="0" i="0" dirty="0">
                <a:solidFill>
                  <a:srgbClr val="252A33"/>
                </a:solidFill>
              </a:rPr>
              <a:t> 62.69% —— </a:t>
            </a:r>
            <a:r>
              <a:rPr lang="zh-CN" altLang="en-US" sz="1500" b="0" i="0" dirty="0">
                <a:solidFill>
                  <a:srgbClr val="252A33"/>
                </a:solidFill>
              </a:rPr>
              <a:t>该数字为总农村人口与全国人口相比获得</a:t>
            </a:r>
            <a:r>
              <a:rPr sz="1500" b="0" i="0" dirty="0">
                <a:solidFill>
                  <a:srgbClr val="252A33"/>
                </a:solidFill>
              </a:rPr>
              <a:t>。</a:t>
            </a:r>
            <a:endParaRPr sz="1500" b="0" i="0" dirty="0">
              <a:solidFill>
                <a:srgbClr val="252A33"/>
              </a:solidFill>
            </a:endParaRPr>
          </a:p>
          <a:p>
            <a:pPr algn="l">
              <a:lnSpc>
                <a:spcPct val="105000"/>
              </a:lnSpc>
              <a:spcAft>
                <a:spcPts val="300"/>
              </a:spcAft>
            </a:pPr>
            <a:r>
              <a:rPr sz="1500" b="0" i="0" dirty="0" err="1">
                <a:solidFill>
                  <a:srgbClr val="252A33"/>
                </a:solidFill>
              </a:rPr>
              <a:t>规则</a:t>
            </a:r>
            <a:r>
              <a:rPr sz="1500" b="0" i="0" dirty="0">
                <a:solidFill>
                  <a:srgbClr val="252A33"/>
                </a:solidFill>
              </a:rPr>
              <a:t> B 用中位数切，天生把县一分为二（110 / 111）</a:t>
            </a:r>
            <a:endParaRPr sz="1500" b="0" i="0" dirty="0">
              <a:solidFill>
                <a:srgbClr val="252A33"/>
              </a:solidFill>
            </a:endParaRPr>
          </a:p>
          <a:p>
            <a:pPr algn="l">
              <a:lnSpc>
                <a:spcPct val="105000"/>
              </a:lnSpc>
              <a:spcAft>
                <a:spcPts val="400"/>
              </a:spcAft>
            </a:pPr>
            <a:r>
              <a:rPr sz="1500" b="1" i="0" dirty="0">
                <a:solidFill>
                  <a:srgbClr val="1B6B45"/>
                </a:solidFill>
              </a:rPr>
              <a:t>→ </a:t>
            </a:r>
            <a:r>
              <a:rPr sz="1500" b="1" i="0" dirty="0" err="1">
                <a:solidFill>
                  <a:srgbClr val="1B6B45"/>
                </a:solidFill>
              </a:rPr>
              <a:t>论文表格用的是规则</a:t>
            </a:r>
            <a:r>
              <a:rPr sz="1500" b="1" i="0" dirty="0">
                <a:solidFill>
                  <a:srgbClr val="1B6B45"/>
                </a:solidFill>
              </a:rPr>
              <a:t> </a:t>
            </a:r>
            <a:r>
              <a:rPr sz="1500" b="1" i="0" dirty="0" err="1">
                <a:solidFill>
                  <a:srgbClr val="1B6B45"/>
                </a:solidFill>
              </a:rPr>
              <a:t>A。规则</a:t>
            </a:r>
            <a:r>
              <a:rPr sz="1500" b="1" i="0" dirty="0">
                <a:solidFill>
                  <a:srgbClr val="1B6B45"/>
                </a:solidFill>
              </a:rPr>
              <a:t> B </a:t>
            </a:r>
            <a:r>
              <a:rPr lang="zh-CN" altLang="en-US" sz="1500" b="1" i="0" dirty="0">
                <a:solidFill>
                  <a:srgbClr val="1B6B45"/>
                </a:solidFill>
              </a:rPr>
              <a:t>为文中</a:t>
            </a:r>
            <a:r>
              <a:rPr lang="en-US" altLang="zh-CN" sz="1500" b="1" i="0" dirty="0">
                <a:solidFill>
                  <a:srgbClr val="1B6B45"/>
                </a:solidFill>
              </a:rPr>
              <a:t>figure1</a:t>
            </a:r>
            <a:r>
              <a:rPr lang="zh-CN" altLang="en-US" sz="1500" b="1" i="0" dirty="0">
                <a:solidFill>
                  <a:srgbClr val="1B6B45"/>
                </a:solidFill>
              </a:rPr>
              <a:t>的城乡定义，此处借用以作稳健性检验</a:t>
            </a:r>
            <a:r>
              <a:rPr sz="1500" b="1" i="0" dirty="0">
                <a:solidFill>
                  <a:srgbClr val="1B6B45"/>
                </a:solidFill>
              </a:rPr>
              <a:t>。</a:t>
            </a:r>
            <a:endParaRPr sz="1500" b="1" i="0" dirty="0">
              <a:solidFill>
                <a:srgbClr val="1B6B45"/>
              </a:solidFill>
            </a:endParaRPr>
          </a:p>
        </p:txBody>
      </p:sp>
      <p:sp>
        <p:nvSpPr>
          <p:cNvPr id="40" name="TextBox 39"/>
          <p:cNvSpPr txBox="1"/>
          <p:nvPr/>
        </p:nvSpPr>
        <p:spPr>
          <a:xfrm>
            <a:off x="1929384" y="5623560"/>
            <a:ext cx="9692640" cy="914400"/>
          </a:xfrm>
          <a:prstGeom prst="rect">
            <a:avLst/>
          </a:prstGeom>
          <a:noFill/>
        </p:spPr>
        <p:txBody>
          <a:bodyPr wrap="square" lIns="18288" tIns="0" rIns="18288" bIns="0">
            <a:spAutoFit/>
          </a:bodyPr>
          <a:lstStyle/>
          <a:p>
            <a:pPr algn="l">
              <a:lnSpc>
                <a:spcPct val="105000"/>
              </a:lnSpc>
              <a:spcAft>
                <a:spcPts val="200"/>
              </a:spcAft>
            </a:pPr>
            <a:r>
              <a:rPr sz="1300" b="0" i="0">
                <a:solidFill>
                  <a:srgbClr val="606670"/>
                </a:solidFill>
              </a:rPr>
              <a:t>复现边界：仅 1995 年（IPUMS 无 2011 / 2012）｜221 个县、17 个省（论文为 281 个县）</a:t>
            </a:r>
            <a:endParaRPr sz="1300" b="0" i="0">
              <a:solidFill>
                <a:srgbClr val="606670"/>
              </a:solidFill>
            </a:endParaRPr>
          </a:p>
          <a:p>
            <a:pPr algn="l">
              <a:lnSpc>
                <a:spcPct val="105000"/>
              </a:lnSpc>
              <a:spcAft>
                <a:spcPts val="400"/>
              </a:spcAft>
            </a:pPr>
            <a:r>
              <a:rPr sz="1300" b="0" i="0">
                <a:solidFill>
                  <a:srgbClr val="606670"/>
                </a:solidFill>
              </a:rPr>
              <a:t>数据源为 IPUMS International 协调版，而非论文使用的 BPS 原始微观数据；加里曼丹、苏拉威西、马鲁古、巴布亚四区不在样本内。</a:t>
            </a:r>
            <a:endParaRPr sz="1300" b="0" i="0">
              <a:solidFill>
                <a:srgbClr val="606670"/>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144" y="350986"/>
            <a:ext cx="8294008" cy="720428"/>
          </a:xfrm>
        </p:spPr>
        <p:txBody>
          <a:bodyPr/>
          <a:lstStyle/>
          <a:p>
            <a:r>
              <a:rPr sz="2600" b="1">
                <a:solidFill>
                  <a:srgbClr val="642366"/>
                </a:solidFill>
              </a:rPr>
              <a:t>table2：五个事实与复现口径</a:t>
            </a:r>
            <a:endParaRPr sz="2600" b="1">
              <a:solidFill>
                <a:srgbClr val="642366"/>
              </a:solidFill>
            </a:endParaRPr>
          </a:p>
        </p:txBody>
      </p:sp>
      <p:sp>
        <p:nvSpPr>
          <p:cNvPr id="3" name="文本框 2"/>
          <p:cNvSpPr txBox="1"/>
          <p:nvPr/>
        </p:nvSpPr>
        <p:spPr>
          <a:xfrm>
            <a:off x="1932305" y="365125"/>
            <a:ext cx="717550" cy="368300"/>
          </a:xfrm>
          <a:prstGeom prst="rect">
            <a:avLst/>
          </a:prstGeom>
          <a:noFill/>
        </p:spPr>
        <p:txBody>
          <a:bodyPr wrap="square" rtlCol="0">
            <a:spAutoFit/>
          </a:bodyPr>
          <a:lstStyle/>
          <a:p>
            <a:r>
              <a:rPr lang="en-US" altLang="zh-CN" b="1" dirty="0">
                <a:solidFill>
                  <a:schemeClr val="bg1"/>
                </a:solidFill>
              </a:rPr>
              <a:t>5.2</a:t>
            </a:r>
            <a:endParaRPr lang="zh-CN" altLang="en-US" b="1" dirty="0">
              <a:solidFill>
                <a:schemeClr val="bg1"/>
              </a:solidFill>
            </a:endParaRPr>
          </a:p>
        </p:txBody>
      </p:sp>
      <p:sp>
        <p:nvSpPr>
          <p:cNvPr id="33" name="爱设计-1-1"/>
          <p:cNvSpPr/>
          <p:nvPr/>
        </p:nvSpPr>
        <p:spPr>
          <a:xfrm>
            <a:off x="13134518" y="1698544"/>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爱设计-1-2"/>
          <p:cNvSpPr/>
          <p:nvPr/>
        </p:nvSpPr>
        <p:spPr>
          <a:xfrm>
            <a:off x="12987683" y="1698544"/>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爱设计-1-3"/>
          <p:cNvSpPr/>
          <p:nvPr/>
        </p:nvSpPr>
        <p:spPr>
          <a:xfrm>
            <a:off x="13134518" y="1840472"/>
            <a:ext cx="100185" cy="100184"/>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Box 35"/>
          <p:cNvSpPr txBox="1"/>
          <p:nvPr/>
        </p:nvSpPr>
        <p:spPr>
          <a:xfrm>
            <a:off x="1929384" y="1755648"/>
            <a:ext cx="9692640" cy="384048"/>
          </a:xfrm>
          <a:prstGeom prst="rect">
            <a:avLst/>
          </a:prstGeom>
          <a:noFill/>
        </p:spPr>
        <p:txBody>
          <a:bodyPr wrap="square" lIns="18288" tIns="0" rIns="18288" bIns="0">
            <a:spAutoFit/>
          </a:bodyPr>
          <a:lstStyle/>
          <a:p>
            <a:pPr algn="l">
              <a:lnSpc>
                <a:spcPct val="105000"/>
              </a:lnSpc>
              <a:spcAft>
                <a:spcPts val="400"/>
              </a:spcAft>
            </a:pPr>
            <a:r>
              <a:rPr sz="2100" b="1">
                <a:solidFill>
                  <a:srgbClr val="642366"/>
                </a:solidFill>
              </a:rPr>
              <a:t>论文 Table 2 测的五项事实</a:t>
            </a:r>
            <a:endParaRPr sz="2100" b="1">
              <a:solidFill>
                <a:srgbClr val="642366"/>
              </a:solidFill>
            </a:endParaRPr>
          </a:p>
        </p:txBody>
      </p:sp>
      <p:sp>
        <p:nvSpPr>
          <p:cNvPr id="37" name="TextBox 36"/>
          <p:cNvSpPr txBox="1"/>
          <p:nvPr/>
        </p:nvSpPr>
        <p:spPr>
          <a:xfrm>
            <a:off x="2029968" y="2139696"/>
            <a:ext cx="9601200" cy="1371600"/>
          </a:xfrm>
          <a:prstGeom prst="rect">
            <a:avLst/>
          </a:prstGeom>
          <a:noFill/>
        </p:spPr>
        <p:txBody>
          <a:bodyPr wrap="square" lIns="18288" tIns="0" rIns="18288" bIns="0">
            <a:spAutoFit/>
          </a:bodyPr>
          <a:lstStyle/>
          <a:p>
            <a:pPr algn="l">
              <a:lnSpc>
                <a:spcPct val="105000"/>
              </a:lnSpc>
              <a:spcAft>
                <a:spcPts val="300"/>
              </a:spcAft>
            </a:pPr>
            <a:r>
              <a:rPr sz="1500" b="0">
                <a:solidFill>
                  <a:srgbClr val="252A33"/>
                </a:solidFill>
              </a:rPr>
              <a:t>(1) 迁移成本：ln π 对 ln 距离 —— 距离越远，迁移的人越少</a:t>
            </a:r>
            <a:endParaRPr sz="1500" b="0">
              <a:solidFill>
                <a:srgbClr val="252A33"/>
              </a:solidFill>
            </a:endParaRPr>
          </a:p>
          <a:p>
            <a:pPr algn="l">
              <a:lnSpc>
                <a:spcPct val="105000"/>
              </a:lnSpc>
              <a:spcAft>
                <a:spcPts val="300"/>
              </a:spcAft>
            </a:pPr>
            <a:r>
              <a:rPr sz="1500" b="0">
                <a:solidFill>
                  <a:srgbClr val="252A33"/>
                </a:solidFill>
              </a:rPr>
              <a:t>(2) 工资楔子：ln w 对 ln 距离 —— 距离越远，目的地工资越高（补偿迁移成本）</a:t>
            </a:r>
            <a:endParaRPr sz="1500" b="0">
              <a:solidFill>
                <a:srgbClr val="252A33"/>
              </a:solidFill>
            </a:endParaRPr>
          </a:p>
          <a:p>
            <a:pPr algn="l">
              <a:lnSpc>
                <a:spcPct val="105000"/>
              </a:lnSpc>
              <a:spcAft>
                <a:spcPts val="300"/>
              </a:spcAft>
            </a:pPr>
            <a:r>
              <a:rPr sz="1500" b="0">
                <a:solidFill>
                  <a:srgbClr val="252A33"/>
                </a:solidFill>
              </a:rPr>
              <a:t>(3) 选择效应：ln w 对 ln π —— 迁入份额越高的 OD 对，工资越低</a:t>
            </a:r>
            <a:endParaRPr sz="1500" b="0">
              <a:solidFill>
                <a:srgbClr val="252A33"/>
              </a:solidFill>
            </a:endParaRPr>
          </a:p>
          <a:p>
            <a:pPr algn="l">
              <a:lnSpc>
                <a:spcPct val="105000"/>
              </a:lnSpc>
              <a:spcAft>
                <a:spcPts val="300"/>
              </a:spcAft>
            </a:pPr>
            <a:r>
              <a:rPr sz="1500" b="0">
                <a:solidFill>
                  <a:srgbClr val="252A33"/>
                </a:solidFill>
              </a:rPr>
              <a:t>(4) 联合回归：把 (2) 和 (3) 同时放进一个方程</a:t>
            </a:r>
            <a:endParaRPr sz="1500" b="0">
              <a:solidFill>
                <a:srgbClr val="252A33"/>
              </a:solidFill>
            </a:endParaRPr>
          </a:p>
          <a:p>
            <a:pPr algn="l">
              <a:lnSpc>
                <a:spcPct val="105000"/>
              </a:lnSpc>
              <a:spcAft>
                <a:spcPts val="400"/>
              </a:spcAft>
            </a:pPr>
            <a:r>
              <a:rPr sz="1500" b="0">
                <a:solidFill>
                  <a:srgbClr val="252A33"/>
                </a:solidFill>
              </a:rPr>
              <a:t>(5) 便利设施：在上述方程中加入 amenity（第 5 列）</a:t>
            </a:r>
            <a:endParaRPr sz="1500" b="0">
              <a:solidFill>
                <a:srgbClr val="252A33"/>
              </a:solidFill>
            </a:endParaRPr>
          </a:p>
        </p:txBody>
      </p:sp>
      <p:sp>
        <p:nvSpPr>
          <p:cNvPr id="38" name="TextBox 37"/>
          <p:cNvSpPr txBox="1"/>
          <p:nvPr/>
        </p:nvSpPr>
        <p:spPr>
          <a:xfrm>
            <a:off x="1929384" y="3639312"/>
            <a:ext cx="9692640" cy="384048"/>
          </a:xfrm>
          <a:prstGeom prst="rect">
            <a:avLst/>
          </a:prstGeom>
          <a:noFill/>
        </p:spPr>
        <p:txBody>
          <a:bodyPr wrap="square" lIns="18288" tIns="0" rIns="18288" bIns="0">
            <a:spAutoFit/>
          </a:bodyPr>
          <a:lstStyle/>
          <a:p>
            <a:pPr algn="l">
              <a:lnSpc>
                <a:spcPct val="105000"/>
              </a:lnSpc>
              <a:spcAft>
                <a:spcPts val="400"/>
              </a:spcAft>
            </a:pPr>
            <a:r>
              <a:rPr sz="2100" b="1">
                <a:solidFill>
                  <a:srgbClr val="642366"/>
                </a:solidFill>
              </a:rPr>
              <a:t>论文的回归设定</a:t>
            </a:r>
            <a:endParaRPr sz="2100" b="1">
              <a:solidFill>
                <a:srgbClr val="642366"/>
              </a:solidFill>
            </a:endParaRPr>
          </a:p>
        </p:txBody>
      </p:sp>
      <p:sp>
        <p:nvSpPr>
          <p:cNvPr id="39" name="TextBox 38"/>
          <p:cNvSpPr txBox="1"/>
          <p:nvPr/>
        </p:nvSpPr>
        <p:spPr>
          <a:xfrm>
            <a:off x="2029968" y="4023360"/>
            <a:ext cx="9601200" cy="1005840"/>
          </a:xfrm>
          <a:prstGeom prst="rect">
            <a:avLst/>
          </a:prstGeom>
          <a:noFill/>
        </p:spPr>
        <p:txBody>
          <a:bodyPr wrap="square" lIns="18288" tIns="0" rIns="18288" bIns="0">
            <a:spAutoFit/>
          </a:bodyPr>
          <a:lstStyle/>
          <a:p>
            <a:pPr algn="l">
              <a:lnSpc>
                <a:spcPct val="105000"/>
              </a:lnSpc>
              <a:spcAft>
                <a:spcPts val="300"/>
              </a:spcAft>
            </a:pPr>
            <a:r>
              <a:rPr sz="1500" b="0">
                <a:solidFill>
                  <a:srgbClr val="252A33"/>
                </a:solidFill>
              </a:rPr>
              <a:t>• 观测单位：出发县 × 目的县 × 年份（OD 对）；剔除观测迁移人数少于 5 的单元</a:t>
            </a:r>
            <a:endParaRPr sz="1500" b="0">
              <a:solidFill>
                <a:srgbClr val="252A33"/>
              </a:solidFill>
            </a:endParaRPr>
          </a:p>
          <a:p>
            <a:pPr algn="l">
              <a:lnSpc>
                <a:spcPct val="105000"/>
              </a:lnSpc>
              <a:spcAft>
                <a:spcPts val="300"/>
              </a:spcAft>
            </a:pPr>
            <a:r>
              <a:rPr sz="1500" b="0">
                <a:solidFill>
                  <a:srgbClr val="252A33"/>
                </a:solidFill>
              </a:rPr>
              <a:t>• 固定效应：出发地 × 年份 + 目的地 × 年份；第 (5) 列另加目的地固定效应</a:t>
            </a:r>
            <a:endParaRPr sz="1500" b="0">
              <a:solidFill>
                <a:srgbClr val="252A33"/>
              </a:solidFill>
            </a:endParaRPr>
          </a:p>
          <a:p>
            <a:pPr algn="l">
              <a:lnSpc>
                <a:spcPct val="105000"/>
              </a:lnSpc>
              <a:spcAft>
                <a:spcPts val="400"/>
              </a:spcAft>
            </a:pPr>
            <a:r>
              <a:rPr sz="1500" b="0">
                <a:solidFill>
                  <a:srgbClr val="252A33"/>
                </a:solidFill>
              </a:rPr>
              <a:t>• 标准误：出发地-年份 与 目的地-年份 双向聚类（第 5 列按出发地-年份聚类）</a:t>
            </a:r>
            <a:endParaRPr sz="1500" b="0">
              <a:solidFill>
                <a:srgbClr val="252A33"/>
              </a:solidFill>
            </a:endParaRPr>
          </a:p>
        </p:txBody>
      </p:sp>
      <p:sp>
        <p:nvSpPr>
          <p:cNvPr id="40" name="TextBox 39"/>
          <p:cNvSpPr txBox="1"/>
          <p:nvPr/>
        </p:nvSpPr>
        <p:spPr>
          <a:xfrm>
            <a:off x="1929384" y="5157216"/>
            <a:ext cx="9692640" cy="384048"/>
          </a:xfrm>
          <a:prstGeom prst="rect">
            <a:avLst/>
          </a:prstGeom>
          <a:noFill/>
        </p:spPr>
        <p:txBody>
          <a:bodyPr wrap="square" lIns="18288" tIns="0" rIns="18288" bIns="0">
            <a:spAutoFit/>
          </a:bodyPr>
          <a:lstStyle/>
          <a:p>
            <a:pPr algn="l">
              <a:lnSpc>
                <a:spcPct val="105000"/>
              </a:lnSpc>
              <a:spcAft>
                <a:spcPts val="400"/>
              </a:spcAft>
            </a:pPr>
            <a:r>
              <a:rPr sz="2100" b="1">
                <a:solidFill>
                  <a:srgbClr val="642366"/>
                </a:solidFill>
              </a:rPr>
              <a:t>数据与样本</a:t>
            </a:r>
            <a:endParaRPr sz="2100" b="1">
              <a:solidFill>
                <a:srgbClr val="642366"/>
              </a:solidFill>
            </a:endParaRPr>
          </a:p>
        </p:txBody>
      </p:sp>
      <p:sp>
        <p:nvSpPr>
          <p:cNvPr id="41" name="TextBox 40"/>
          <p:cNvSpPr txBox="1"/>
          <p:nvPr/>
        </p:nvSpPr>
        <p:spPr>
          <a:xfrm>
            <a:off x="2029968" y="5541264"/>
            <a:ext cx="9601200" cy="1051560"/>
          </a:xfrm>
          <a:prstGeom prst="rect">
            <a:avLst/>
          </a:prstGeom>
          <a:noFill/>
        </p:spPr>
        <p:txBody>
          <a:bodyPr wrap="square" lIns="18288" tIns="0" rIns="18288" bIns="0">
            <a:spAutoFit/>
          </a:bodyPr>
          <a:lstStyle/>
          <a:p>
            <a:pPr algn="l">
              <a:lnSpc>
                <a:spcPct val="105000"/>
              </a:lnSpc>
              <a:spcAft>
                <a:spcPts val="300"/>
              </a:spcAft>
            </a:pPr>
            <a:r>
              <a:rPr sz="1400" b="1">
                <a:solidFill>
                  <a:srgbClr val="1B6B45"/>
                </a:solidFill>
              </a:rPr>
              <a:t>数据：IPUMS International, Indonesia 1995（SUPAS）</a:t>
            </a:r>
            <a:endParaRPr sz="1400" b="1">
              <a:solidFill>
                <a:srgbClr val="1B6B45"/>
              </a:solidFill>
            </a:endParaRPr>
          </a:p>
          <a:p>
            <a:pPr algn="l">
              <a:lnSpc>
                <a:spcPct val="105000"/>
              </a:lnSpc>
              <a:spcAft>
                <a:spcPts val="300"/>
              </a:spcAft>
            </a:pPr>
            <a:r>
              <a:rPr sz="1300" b="0">
                <a:solidFill>
                  <a:srgbClr val="606670"/>
                </a:solidFill>
              </a:rPr>
              <a:t>718,837 人 → 14,544 个有迁移的 OD 单元 → 12,891 个匹配到距离 → 12,627 个可用于回归</a:t>
            </a:r>
            <a:endParaRPr sz="1300" b="0">
              <a:solidFill>
                <a:srgbClr val="606670"/>
              </a:solidFill>
            </a:endParaRPr>
          </a:p>
          <a:p>
            <a:pPr algn="l">
              <a:lnSpc>
                <a:spcPct val="105000"/>
              </a:lnSpc>
              <a:spcAft>
                <a:spcPts val="400"/>
              </a:spcAft>
            </a:pPr>
            <a:r>
              <a:rPr sz="1300" b="0">
                <a:solidFill>
                  <a:srgbClr val="A63A1E"/>
                </a:solidFill>
              </a:rPr>
              <a:t>⚠ 论文 N = 25,540：论文合并了 1995 / 2011 / 2012 三年，本复现只有 1995 一年</a:t>
            </a:r>
            <a:endParaRPr sz="1300" b="0">
              <a:solidFill>
                <a:srgbClr val="A63A1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73211"/>
            <a:ext cx="8294008" cy="720428"/>
          </a:xfrm>
        </p:spPr>
        <p:txBody>
          <a:bodyPr/>
          <a:lstStyle/>
          <a:p>
            <a:r>
              <a:rPr sz="2600" b="1" dirty="0">
                <a:solidFill>
                  <a:srgbClr val="642366"/>
                </a:solidFill>
              </a:rPr>
              <a:t>table2：复现结果对照</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5.2</a:t>
            </a:r>
            <a:endParaRPr lang="zh-CN" altLang="en-US" b="1" dirty="0">
              <a:solidFill>
                <a:schemeClr val="bg1"/>
              </a:solidFill>
            </a:endParaRPr>
          </a:p>
        </p:txBody>
      </p:sp>
      <p:sp>
        <p:nvSpPr>
          <p:cNvPr id="19" name="TextBox 18"/>
          <p:cNvSpPr txBox="1"/>
          <p:nvPr/>
        </p:nvSpPr>
        <p:spPr>
          <a:xfrm>
            <a:off x="1929384" y="1078992"/>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论文报告值 与 本复现计算值（1995 年，县级 OD 对；本复现采用论文样本：男性户主 15–65 岁，按单元人数加权）</a:t>
            </a:r>
            <a:endParaRPr sz="2200" b="1">
              <a:solidFill>
                <a:srgbClr val="642366"/>
              </a:solidFill>
            </a:endParaRPr>
          </a:p>
        </p:txBody>
      </p:sp>
      <p:graphicFrame>
        <p:nvGraphicFramePr>
          <p:cNvPr id="20" name="Table 19"/>
          <p:cNvGraphicFramePr>
            <a:graphicFrameLocks noGrp="1"/>
          </p:cNvGraphicFramePr>
          <p:nvPr/>
        </p:nvGraphicFramePr>
        <p:xfrm>
          <a:off x="1929384" y="1463040"/>
          <a:ext cx="9692638" cy="2834640"/>
        </p:xfrm>
        <a:graphic>
          <a:graphicData uri="http://schemas.openxmlformats.org/drawingml/2006/table">
            <a:tbl>
              <a:tblPr firstRow="1">
                <a:tableStyleId>{5C22544A-7EE6-4342-B048-85BDC9FD1C3A}</a:tableStyleId>
              </a:tblPr>
              <a:tblGrid>
                <a:gridCol w="3008060"/>
                <a:gridCol w="3342289"/>
                <a:gridCol w="3342289"/>
              </a:tblGrid>
              <a:tr h="354330">
                <a:tc>
                  <a:txBody>
                    <a:bodyPr/>
                    <a:lstStyle/>
                    <a:p>
                      <a:pPr algn="l">
                        <a:lnSpc>
                          <a:spcPct val="100000"/>
                        </a:lnSpc>
                      </a:pPr>
                      <a:r>
                        <a:rPr sz="1400" b="1">
                          <a:solidFill>
                            <a:srgbClr val="FFFFFF"/>
                          </a:solidFill>
                        </a:rPr>
                        <a:t>系数</a:t>
                      </a:r>
                      <a:endParaRPr sz="1400" b="1">
                        <a:solidFill>
                          <a:srgbClr val="FFFFFF"/>
                        </a:solidFill>
                      </a:endParaRPr>
                    </a:p>
                  </a:txBody>
                  <a:tcPr marL="45720" marR="45720" marT="9144" marB="9144" anchor="ctr">
                    <a:solidFill>
                      <a:srgbClr val="642366"/>
                    </a:solidFill>
                  </a:tcPr>
                </a:tc>
                <a:tc>
                  <a:txBody>
                    <a:bodyPr/>
                    <a:lstStyle/>
                    <a:p>
                      <a:pPr algn="ctr">
                        <a:lnSpc>
                          <a:spcPct val="100000"/>
                        </a:lnSpc>
                      </a:pPr>
                      <a:r>
                        <a:rPr sz="1400" b="1">
                          <a:solidFill>
                            <a:srgbClr val="FFFFFF"/>
                          </a:solidFill>
                        </a:rPr>
                        <a:t>论文 1995–2012</a:t>
                      </a:r>
                      <a:endParaRPr sz="1400" b="1">
                        <a:solidFill>
                          <a:srgbClr val="FFFFFF"/>
                        </a:solidFill>
                      </a:endParaRPr>
                    </a:p>
                  </a:txBody>
                  <a:tcPr marL="45720" marR="45720" marT="9144" marB="9144" anchor="ctr">
                    <a:solidFill>
                      <a:srgbClr val="642366"/>
                    </a:solidFill>
                  </a:tcPr>
                </a:tc>
                <a:tc>
                  <a:txBody>
                    <a:bodyPr/>
                    <a:lstStyle/>
                    <a:p>
                      <a:pPr algn="ctr">
                        <a:lnSpc>
                          <a:spcPct val="100000"/>
                        </a:lnSpc>
                      </a:pPr>
                      <a:r>
                        <a:rPr sz="1400" b="1">
                          <a:solidFill>
                            <a:srgbClr val="FFFFFF"/>
                          </a:solidFill>
                        </a:rPr>
                        <a:t>本复现 1995</a:t>
                      </a:r>
                      <a:endParaRPr sz="1400" b="1">
                        <a:solidFill>
                          <a:srgbClr val="FFFFFF"/>
                        </a:solidFill>
                      </a:endParaRPr>
                    </a:p>
                  </a:txBody>
                  <a:tcPr marL="45720" marR="45720" marT="9144" marB="9144" anchor="ctr">
                    <a:solidFill>
                      <a:srgbClr val="642366"/>
                    </a:solidFill>
                  </a:tcPr>
                </a:tc>
              </a:tr>
              <a:tr h="354330">
                <a:tc>
                  <a:txBody>
                    <a:bodyPr/>
                    <a:lstStyle/>
                    <a:p>
                      <a:pPr algn="l">
                        <a:lnSpc>
                          <a:spcPct val="100000"/>
                        </a:lnSpc>
                      </a:pPr>
                      <a:r>
                        <a:rPr sz="1400" b="0" dirty="0">
                          <a:solidFill>
                            <a:srgbClr val="252A33"/>
                          </a:solidFill>
                        </a:rPr>
                        <a:t>(1) ln π ← ln </a:t>
                      </a:r>
                      <a:r>
                        <a:rPr sz="1400" b="0" dirty="0" err="1">
                          <a:solidFill>
                            <a:srgbClr val="252A33"/>
                          </a:solidFill>
                        </a:rPr>
                        <a:t>距离</a:t>
                      </a:r>
                      <a:endParaRPr sz="1400" b="0" dirty="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-0.717***</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-0.714***</a:t>
                      </a:r>
                      <a:endParaRPr sz="1400" b="0">
                        <a:solidFill>
                          <a:srgbClr val="252A33"/>
                        </a:solidFill>
                      </a:endParaRPr>
                    </a:p>
                  </a:txBody>
                  <a:tcPr marL="45720" marR="45720" marT="9144" marB="9144" anchor="ctr">
                    <a:solidFill>
                      <a:srgbClr val="FFFFFF"/>
                    </a:solidFill>
                  </a:tcPr>
                </a:tc>
              </a:tr>
              <a:tr h="354330">
                <a:tc>
                  <a:txBody>
                    <a:bodyPr/>
                    <a:lstStyle/>
                    <a:p>
                      <a:pPr algn="l">
                        <a:lnSpc>
                          <a:spcPct val="100000"/>
                        </a:lnSpc>
                      </a:pPr>
                      <a:r>
                        <a:rPr sz="1400" b="0">
                          <a:solidFill>
                            <a:srgbClr val="252A33"/>
                          </a:solidFill>
                        </a:rPr>
                        <a:t>(2) ln w ← ln 距离</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0.029***</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0.030***</a:t>
                      </a:r>
                      <a:endParaRPr sz="1400" b="0">
                        <a:solidFill>
                          <a:srgbClr val="252A33"/>
                        </a:solidFill>
                      </a:endParaRPr>
                    </a:p>
                  </a:txBody>
                  <a:tcPr marL="45720" marR="45720" marT="9144" marB="9144" anchor="ctr">
                    <a:solidFill>
                      <a:srgbClr val="FFFFFF"/>
                    </a:solidFill>
                  </a:tcPr>
                </a:tc>
              </a:tr>
              <a:tr h="354330">
                <a:tc>
                  <a:txBody>
                    <a:bodyPr/>
                    <a:lstStyle/>
                    <a:p>
                      <a:pPr algn="l">
                        <a:lnSpc>
                          <a:spcPct val="100000"/>
                        </a:lnSpc>
                      </a:pPr>
                      <a:r>
                        <a:rPr sz="1400" b="0">
                          <a:solidFill>
                            <a:srgbClr val="252A33"/>
                          </a:solidFill>
                        </a:rPr>
                        <a:t>(3) ln w ← ln π</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-0.039***</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-0.017**</a:t>
                      </a:r>
                      <a:endParaRPr sz="1400" b="0">
                        <a:solidFill>
                          <a:srgbClr val="252A33"/>
                        </a:solidFill>
                      </a:endParaRPr>
                    </a:p>
                  </a:txBody>
                  <a:tcPr marL="45720" marR="45720" marT="9144" marB="9144" anchor="ctr">
                    <a:solidFill>
                      <a:srgbClr val="FFFFFF"/>
                    </a:solidFill>
                  </a:tcPr>
                </a:tc>
              </a:tr>
              <a:tr h="354330">
                <a:tc>
                  <a:txBody>
                    <a:bodyPr/>
                    <a:lstStyle/>
                    <a:p>
                      <a:pPr algn="l">
                        <a:lnSpc>
                          <a:spcPct val="100000"/>
                        </a:lnSpc>
                      </a:pPr>
                      <a:r>
                        <a:rPr sz="1400" b="0">
                          <a:solidFill>
                            <a:srgbClr val="252A33"/>
                          </a:solidFill>
                        </a:rPr>
                        <a:t>(4a) ln w ← ln π</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-0.031***</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0.001</a:t>
                      </a:r>
                      <a:endParaRPr sz="1400" b="0">
                        <a:solidFill>
                          <a:srgbClr val="252A33"/>
                        </a:solidFill>
                      </a:endParaRPr>
                    </a:p>
                  </a:txBody>
                  <a:tcPr marL="45720" marR="45720" marT="9144" marB="9144" anchor="ctr">
                    <a:solidFill>
                      <a:srgbClr val="FFFFFF"/>
                    </a:solidFill>
                  </a:tcPr>
                </a:tc>
              </a:tr>
              <a:tr h="354330">
                <a:tc>
                  <a:txBody>
                    <a:bodyPr/>
                    <a:lstStyle/>
                    <a:p>
                      <a:pPr algn="l">
                        <a:lnSpc>
                          <a:spcPct val="100000"/>
                        </a:lnSpc>
                      </a:pPr>
                      <a:r>
                        <a:rPr sz="1400" b="0">
                          <a:solidFill>
                            <a:srgbClr val="252A33"/>
                          </a:solidFill>
                        </a:rPr>
                        <a:t>(4b) ln w ← ln 距离</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0.007***</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0.031***</a:t>
                      </a:r>
                      <a:endParaRPr sz="1400" b="0">
                        <a:solidFill>
                          <a:srgbClr val="252A33"/>
                        </a:solidFill>
                      </a:endParaRPr>
                    </a:p>
                  </a:txBody>
                  <a:tcPr marL="45720" marR="45720" marT="9144" marB="9144" anchor="ctr">
                    <a:solidFill>
                      <a:srgbClr val="FFFFFF"/>
                    </a:solidFill>
                  </a:tcPr>
                </a:tc>
              </a:tr>
              <a:tr h="354330">
                <a:tc>
                  <a:txBody>
                    <a:bodyPr/>
                    <a:lstStyle/>
                    <a:p>
                      <a:pPr algn="l">
                        <a:lnSpc>
                          <a:spcPct val="100000"/>
                        </a:lnSpc>
                      </a:pPr>
                      <a:r>
                        <a:rPr sz="1400" b="0">
                          <a:solidFill>
                            <a:srgbClr val="252A33"/>
                          </a:solidFill>
                        </a:rPr>
                        <a:t>(5) Amenities</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-0.023**</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无法复现（需 PODES）</a:t>
                      </a:r>
                      <a:endParaRPr sz="1400" b="0">
                        <a:solidFill>
                          <a:srgbClr val="252A33"/>
                        </a:solidFill>
                      </a:endParaRPr>
                    </a:p>
                  </a:txBody>
                  <a:tcPr marL="45720" marR="45720" marT="9144" marB="9144" anchor="ctr">
                    <a:solidFill>
                      <a:srgbClr val="FFFFFF"/>
                    </a:solidFill>
                  </a:tcPr>
                </a:tc>
              </a:tr>
              <a:tr h="354330">
                <a:tc>
                  <a:txBody>
                    <a:bodyPr/>
                    <a:lstStyle/>
                    <a:p>
                      <a:pPr algn="l">
                        <a:lnSpc>
                          <a:spcPct val="100000"/>
                        </a:lnSpc>
                      </a:pPr>
                      <a:r>
                        <a:rPr sz="1400" b="0">
                          <a:solidFill>
                            <a:srgbClr val="252A33"/>
                          </a:solidFill>
                        </a:rPr>
                        <a:t>N</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25,540 / 25,244</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dirty="0">
                          <a:solidFill>
                            <a:srgbClr val="252A33"/>
                          </a:solidFill>
                        </a:rPr>
                        <a:t>8,514 / 5,836</a:t>
                      </a:r>
                      <a:endParaRPr sz="1400" b="0" dirty="0">
                        <a:solidFill>
                          <a:srgbClr val="252A33"/>
                        </a:solidFill>
                      </a:endParaRPr>
                    </a:p>
                  </a:txBody>
                  <a:tcPr marL="45720" marR="45720" marT="9144" marB="9144" anchor="ctr">
                    <a:solidFill>
                      <a:srgbClr val="FFFFFF"/>
                    </a:solidFill>
                  </a:tcPr>
                </a:tc>
              </a:tr>
            </a:tbl>
          </a:graphicData>
        </a:graphic>
      </p:graphicFrame>
      <p:sp>
        <p:nvSpPr>
          <p:cNvPr id="21" name="TextBox 20"/>
          <p:cNvSpPr txBox="1"/>
          <p:nvPr/>
        </p:nvSpPr>
        <p:spPr>
          <a:xfrm>
            <a:off x="1929384" y="4407408"/>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复现结论</a:t>
            </a:r>
            <a:endParaRPr sz="2200" b="1">
              <a:solidFill>
                <a:srgbClr val="642366"/>
              </a:solidFill>
            </a:endParaRPr>
          </a:p>
        </p:txBody>
      </p:sp>
      <p:sp>
        <p:nvSpPr>
          <p:cNvPr id="22" name="TextBox 21"/>
          <p:cNvSpPr txBox="1"/>
          <p:nvPr/>
        </p:nvSpPr>
        <p:spPr>
          <a:xfrm>
            <a:off x="2029968" y="4791456"/>
            <a:ext cx="9601200" cy="1234440"/>
          </a:xfrm>
          <a:prstGeom prst="rect">
            <a:avLst/>
          </a:prstGeom>
          <a:noFill/>
        </p:spPr>
        <p:txBody>
          <a:bodyPr wrap="square" lIns="18288" tIns="0" rIns="18288" bIns="0">
            <a:spAutoFit/>
          </a:bodyPr>
          <a:lstStyle/>
          <a:p>
            <a:pPr algn="l">
              <a:lnSpc>
                <a:spcPct val="105000"/>
              </a:lnSpc>
              <a:spcAft>
                <a:spcPts val="400"/>
              </a:spcAft>
            </a:pPr>
            <a:r>
              <a:rPr sz="1500" b="1">
                <a:solidFill>
                  <a:srgbClr val="1B6B45"/>
                </a:solidFill>
              </a:rPr>
              <a:t>✔ 5 项事实中 4 项与论文同号；Fact 1、2、4b 在 1% 显著，Fact 3 在 5% 显著</a:t>
            </a:r>
            <a:endParaRPr sz="1500" b="1">
              <a:solidFill>
                <a:srgbClr val="1B6B45"/>
              </a:solidFill>
            </a:endParaRPr>
          </a:p>
          <a:p>
            <a:pPr algn="l">
              <a:lnSpc>
                <a:spcPct val="105000"/>
              </a:lnSpc>
              <a:spcAft>
                <a:spcPts val="400"/>
              </a:spcAft>
            </a:pPr>
            <a:r>
              <a:rPr sz="1500" b="1">
                <a:solidFill>
                  <a:srgbClr val="1B6B45"/>
                </a:solidFill>
              </a:rPr>
              <a:t>✔ Fact 1、Fact 2 几乎完全吻合：-0.714 vs -0.717、+0.030 vs +0.029</a:t>
            </a:r>
            <a:endParaRPr sz="1500" b="1">
              <a:solidFill>
                <a:srgbClr val="1B6B45"/>
              </a:solidFill>
            </a:endParaRPr>
          </a:p>
          <a:p>
            <a:pPr algn="l">
              <a:lnSpc>
                <a:spcPct val="105000"/>
              </a:lnSpc>
              <a:spcAft>
                <a:spcPts val="400"/>
              </a:spcAft>
            </a:pPr>
            <a:r>
              <a:rPr sz="1500" b="1">
                <a:solidFill>
                  <a:srgbClr val="1B6B45"/>
                </a:solidFill>
              </a:rPr>
              <a:t>✘ 仅 Fact 4a 未复现：+0.001（标准误 0.009，不显著）vs 论文 -0.031</a:t>
            </a:r>
            <a:endParaRPr sz="1500" b="1">
              <a:solidFill>
                <a:srgbClr val="1B6B45"/>
              </a:solidFill>
            </a:endParaRPr>
          </a:p>
        </p:txBody>
      </p:sp>
      <p:sp>
        <p:nvSpPr>
          <p:cNvPr id="23" name="TextBox 22"/>
          <p:cNvSpPr txBox="1"/>
          <p:nvPr/>
        </p:nvSpPr>
        <p:spPr>
          <a:xfrm>
            <a:off x="1929384" y="6172200"/>
            <a:ext cx="9692640" cy="548640"/>
          </a:xfrm>
          <a:prstGeom prst="rect">
            <a:avLst/>
          </a:prstGeom>
          <a:noFill/>
        </p:spPr>
        <p:txBody>
          <a:bodyPr wrap="square" lIns="18288" tIns="0" rIns="18288" bIns="0">
            <a:spAutoFit/>
          </a:bodyPr>
          <a:lstStyle/>
          <a:p>
            <a:pPr algn="l">
              <a:lnSpc>
                <a:spcPct val="105000"/>
              </a:lnSpc>
              <a:spcAft>
                <a:spcPts val="400"/>
              </a:spcAft>
            </a:pPr>
            <a:r>
              <a:rPr sz="1300" b="0">
                <a:solidFill>
                  <a:srgbClr val="606670"/>
                </a:solidFill>
              </a:rPr>
              <a:t>→ 总体判断：复现支持论文的核心定性结论（迁移随距离递减、目的地工资随距离上升、选择效应存在）。</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321372"/>
            <a:ext cx="8294008" cy="720428"/>
          </a:xfrm>
        </p:spPr>
        <p:txBody>
          <a:bodyPr/>
          <a:lstStyle/>
          <a:p>
            <a:r>
              <a:rPr sz="2600" b="1" dirty="0">
                <a:solidFill>
                  <a:srgbClr val="642366"/>
                </a:solidFill>
              </a:rPr>
              <a:t>table2：稳健性检验：三个口径</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5.2</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同一套数据，换三种估计口径，看结论稳不稳</a:t>
            </a:r>
            <a:endParaRPr sz="2200" b="1">
              <a:solidFill>
                <a:srgbClr val="642366"/>
              </a:solidFill>
            </a:endParaRPr>
          </a:p>
        </p:txBody>
      </p:sp>
      <p:graphicFrame>
        <p:nvGraphicFramePr>
          <p:cNvPr id="6" name="Table 5"/>
          <p:cNvGraphicFramePr>
            <a:graphicFrameLocks noGrp="1"/>
          </p:cNvGraphicFramePr>
          <p:nvPr/>
        </p:nvGraphicFramePr>
        <p:xfrm>
          <a:off x="1929384" y="1463040"/>
          <a:ext cx="10058395" cy="2103115"/>
        </p:xfrm>
        <a:graphic>
          <a:graphicData uri="http://schemas.openxmlformats.org/drawingml/2006/table">
            <a:tbl>
              <a:tblPr firstRow="1">
                <a:tableStyleId>{5C22544A-7EE6-4342-B048-85BDC9FD1C3A}</a:tableStyleId>
              </a:tblPr>
              <a:tblGrid>
                <a:gridCol w="4168345"/>
                <a:gridCol w="1178010"/>
                <a:gridCol w="1178010"/>
                <a:gridCol w="1178010"/>
                <a:gridCol w="1178010"/>
                <a:gridCol w="1178010"/>
              </a:tblGrid>
              <a:tr h="420623">
                <a:tc>
                  <a:txBody>
                    <a:bodyPr/>
                    <a:lstStyle/>
                    <a:p>
                      <a:pPr algn="l">
                        <a:lnSpc>
                          <a:spcPct val="100000"/>
                        </a:lnSpc>
                      </a:pPr>
                      <a:r>
                        <a:rPr sz="1300" b="1">
                          <a:solidFill>
                            <a:srgbClr val="FFFFFF"/>
                          </a:solidFill>
                        </a:rPr>
                        <a:t>口径</a:t>
                      </a:r>
                      <a:endParaRPr sz="1300" b="1">
                        <a:solidFill>
                          <a:srgbClr val="FFFFFF"/>
                        </a:solidFill>
                      </a:endParaRPr>
                    </a:p>
                  </a:txBody>
                  <a:tcPr marL="45720" marR="45720" marT="9144" marB="9144" anchor="ctr">
                    <a:solidFill>
                      <a:srgbClr val="642366"/>
                    </a:solidFill>
                  </a:tcPr>
                </a:tc>
                <a:tc>
                  <a:txBody>
                    <a:bodyPr/>
                    <a:lstStyle/>
                    <a:p>
                      <a:pPr algn="ctr">
                        <a:lnSpc>
                          <a:spcPct val="100000"/>
                        </a:lnSpc>
                      </a:pPr>
                      <a:r>
                        <a:rPr sz="1300" b="1">
                          <a:solidFill>
                            <a:srgbClr val="FFFFFF"/>
                          </a:solidFill>
                        </a:rPr>
                        <a:t>Fact 1</a:t>
                      </a:r>
                      <a:endParaRPr sz="1300" b="1">
                        <a:solidFill>
                          <a:srgbClr val="FFFFFF"/>
                        </a:solidFill>
                      </a:endParaRPr>
                    </a:p>
                  </a:txBody>
                  <a:tcPr marL="45720" marR="45720" marT="9144" marB="9144" anchor="ctr">
                    <a:solidFill>
                      <a:srgbClr val="642366"/>
                    </a:solidFill>
                  </a:tcPr>
                </a:tc>
                <a:tc>
                  <a:txBody>
                    <a:bodyPr/>
                    <a:lstStyle/>
                    <a:p>
                      <a:pPr algn="ctr">
                        <a:lnSpc>
                          <a:spcPct val="100000"/>
                        </a:lnSpc>
                      </a:pPr>
                      <a:r>
                        <a:rPr sz="1300" b="1">
                          <a:solidFill>
                            <a:srgbClr val="FFFFFF"/>
                          </a:solidFill>
                        </a:rPr>
                        <a:t>Fact 2</a:t>
                      </a:r>
                      <a:endParaRPr sz="1300" b="1">
                        <a:solidFill>
                          <a:srgbClr val="FFFFFF"/>
                        </a:solidFill>
                      </a:endParaRPr>
                    </a:p>
                  </a:txBody>
                  <a:tcPr marL="45720" marR="45720" marT="9144" marB="9144" anchor="ctr">
                    <a:solidFill>
                      <a:srgbClr val="642366"/>
                    </a:solidFill>
                  </a:tcPr>
                </a:tc>
                <a:tc>
                  <a:txBody>
                    <a:bodyPr/>
                    <a:lstStyle/>
                    <a:p>
                      <a:pPr algn="ctr">
                        <a:lnSpc>
                          <a:spcPct val="100000"/>
                        </a:lnSpc>
                      </a:pPr>
                      <a:r>
                        <a:rPr sz="1300" b="1">
                          <a:solidFill>
                            <a:srgbClr val="FFFFFF"/>
                          </a:solidFill>
                        </a:rPr>
                        <a:t>Fact 3</a:t>
                      </a:r>
                      <a:endParaRPr sz="1300" b="1">
                        <a:solidFill>
                          <a:srgbClr val="FFFFFF"/>
                        </a:solidFill>
                      </a:endParaRPr>
                    </a:p>
                  </a:txBody>
                  <a:tcPr marL="45720" marR="45720" marT="9144" marB="9144" anchor="ctr">
                    <a:solidFill>
                      <a:srgbClr val="642366"/>
                    </a:solidFill>
                  </a:tcPr>
                </a:tc>
                <a:tc>
                  <a:txBody>
                    <a:bodyPr/>
                    <a:lstStyle/>
                    <a:p>
                      <a:pPr algn="ctr">
                        <a:lnSpc>
                          <a:spcPct val="100000"/>
                        </a:lnSpc>
                      </a:pPr>
                      <a:r>
                        <a:rPr sz="1300" b="1">
                          <a:solidFill>
                            <a:srgbClr val="FFFFFF"/>
                          </a:solidFill>
                        </a:rPr>
                        <a:t>Fact 4a</a:t>
                      </a:r>
                      <a:endParaRPr sz="1300" b="1">
                        <a:solidFill>
                          <a:srgbClr val="FFFFFF"/>
                        </a:solidFill>
                      </a:endParaRPr>
                    </a:p>
                  </a:txBody>
                  <a:tcPr marL="45720" marR="45720" marT="9144" marB="9144" anchor="ctr">
                    <a:solidFill>
                      <a:srgbClr val="642366"/>
                    </a:solidFill>
                  </a:tcPr>
                </a:tc>
                <a:tc>
                  <a:txBody>
                    <a:bodyPr/>
                    <a:lstStyle/>
                    <a:p>
                      <a:pPr algn="ctr">
                        <a:lnSpc>
                          <a:spcPct val="100000"/>
                        </a:lnSpc>
                      </a:pPr>
                      <a:r>
                        <a:rPr sz="1300" b="1">
                          <a:solidFill>
                            <a:srgbClr val="FFFFFF"/>
                          </a:solidFill>
                        </a:rPr>
                        <a:t>Fact 4b</a:t>
                      </a:r>
                      <a:endParaRPr sz="1300" b="1">
                        <a:solidFill>
                          <a:srgbClr val="FFFFFF"/>
                        </a:solidFill>
                      </a:endParaRPr>
                    </a:p>
                  </a:txBody>
                  <a:tcPr marL="45720" marR="45720" marT="9144" marB="9144" anchor="ctr">
                    <a:solidFill>
                      <a:srgbClr val="642366"/>
                    </a:solidFill>
                  </a:tcPr>
                </a:tc>
              </a:tr>
              <a:tr h="420623">
                <a:tc>
                  <a:txBody>
                    <a:bodyPr/>
                    <a:lstStyle/>
                    <a:p>
                      <a:pPr algn="l">
                        <a:lnSpc>
                          <a:spcPct val="100000"/>
                        </a:lnSpc>
                      </a:pPr>
                      <a:r>
                        <a:rPr sz="1300" b="0">
                          <a:solidFill>
                            <a:srgbClr val="252A33"/>
                          </a:solidFill>
                        </a:rPr>
                        <a:t>论文（1995–2012）</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-0.717***</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0.029***</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-0.039***</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-0.031***</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0.007***</a:t>
                      </a:r>
                      <a:endParaRPr sz="1300" b="0">
                        <a:solidFill>
                          <a:srgbClr val="252A33"/>
                        </a:solidFill>
                      </a:endParaRPr>
                    </a:p>
                  </a:txBody>
                  <a:tcPr marL="45720" marR="45720" marT="9144" marB="9144" anchor="ctr">
                    <a:solidFill>
                      <a:srgbClr val="FFFFFF"/>
                    </a:solidFill>
                  </a:tcPr>
                </a:tc>
              </a:tr>
              <a:tr h="420623">
                <a:tc>
                  <a:txBody>
                    <a:bodyPr/>
                    <a:lstStyle/>
                    <a:p>
                      <a:pPr algn="l">
                        <a:lnSpc>
                          <a:spcPct val="100000"/>
                        </a:lnSpc>
                      </a:pPr>
                      <a:r>
                        <a:rPr sz="1300" b="1" dirty="0" err="1">
                          <a:solidFill>
                            <a:srgbClr val="1B6B45"/>
                          </a:solidFill>
                        </a:rPr>
                        <a:t>本复现·主结果（全部人·不加权</a:t>
                      </a:r>
                      <a:r>
                        <a:rPr sz="1300" b="1" dirty="0">
                          <a:solidFill>
                            <a:srgbClr val="1B6B45"/>
                          </a:solidFill>
                        </a:rPr>
                        <a:t>）</a:t>
                      </a:r>
                      <a:endParaRPr sz="1300" b="1" dirty="0">
                        <a:solidFill>
                          <a:srgbClr val="1B6B45"/>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-0.694***</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0.013</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-0.025***</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-0.031***</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-0.013</a:t>
                      </a:r>
                      <a:endParaRPr sz="1300" b="0">
                        <a:solidFill>
                          <a:srgbClr val="252A33"/>
                        </a:solidFill>
                      </a:endParaRPr>
                    </a:p>
                  </a:txBody>
                  <a:tcPr marL="45720" marR="45720" marT="9144" marB="9144" anchor="ctr">
                    <a:solidFill>
                      <a:srgbClr val="F2EEF5"/>
                    </a:solidFill>
                  </a:tcPr>
                </a:tc>
              </a:tr>
              <a:tr h="420623">
                <a:tc>
                  <a:txBody>
                    <a:bodyPr/>
                    <a:lstStyle/>
                    <a:p>
                      <a:pPr algn="l">
                        <a:lnSpc>
                          <a:spcPct val="100000"/>
                        </a:lnSpc>
                      </a:pPr>
                      <a:r>
                        <a:rPr sz="1300" b="1" dirty="0" err="1">
                          <a:solidFill>
                            <a:srgbClr val="1B6B45"/>
                          </a:solidFill>
                        </a:rPr>
                        <a:t>本复现·加权（男性户主</a:t>
                      </a:r>
                      <a:r>
                        <a:rPr sz="1300" b="1" dirty="0">
                          <a:solidFill>
                            <a:srgbClr val="1B6B45"/>
                          </a:solidFill>
                        </a:rPr>
                        <a:t> 15–65）</a:t>
                      </a:r>
                      <a:endParaRPr sz="1300" b="1" dirty="0">
                        <a:solidFill>
                          <a:srgbClr val="1B6B45"/>
                        </a:solidFill>
                      </a:endParaRPr>
                    </a:p>
                  </a:txBody>
                  <a:tcPr marL="45720" marR="45720" marT="9144" marB="9144" anchor="ctr">
                    <a:solidFill>
                      <a:srgbClr val="FFFFFF"/>
                    </a:solidFill>
                  </a:tcPr>
                </a:tc>
                <a:tc>
                  <a:txBody>
                    <a:bodyPr/>
                    <a:lstStyle/>
                    <a:p>
                      <a:pPr algn="ctr">
                        <a:lnSpc>
                          <a:spcPct val="100000"/>
                        </a:lnSpc>
                      </a:pPr>
                      <a:r>
                        <a:rPr sz="1300" b="1">
                          <a:solidFill>
                            <a:srgbClr val="1B6B45"/>
                          </a:solidFill>
                        </a:rPr>
                        <a:t>-0.714***</a:t>
                      </a:r>
                      <a:endParaRPr sz="1300" b="1">
                        <a:solidFill>
                          <a:srgbClr val="1B6B45"/>
                        </a:solidFill>
                      </a:endParaRPr>
                    </a:p>
                  </a:txBody>
                  <a:tcPr marL="45720" marR="45720" marT="9144" marB="9144" anchor="ctr">
                    <a:solidFill>
                      <a:srgbClr val="FFFFFF"/>
                    </a:solidFill>
                  </a:tcPr>
                </a:tc>
                <a:tc>
                  <a:txBody>
                    <a:bodyPr/>
                    <a:lstStyle/>
                    <a:p>
                      <a:pPr algn="ctr">
                        <a:lnSpc>
                          <a:spcPct val="100000"/>
                        </a:lnSpc>
                      </a:pPr>
                      <a:r>
                        <a:rPr sz="1300" b="1">
                          <a:solidFill>
                            <a:srgbClr val="1B6B45"/>
                          </a:solidFill>
                        </a:rPr>
                        <a:t>0.030***</a:t>
                      </a:r>
                      <a:endParaRPr sz="1300" b="1">
                        <a:solidFill>
                          <a:srgbClr val="1B6B45"/>
                        </a:solidFill>
                      </a:endParaRPr>
                    </a:p>
                  </a:txBody>
                  <a:tcPr marL="45720" marR="45720" marT="9144" marB="9144" anchor="ctr">
                    <a:solidFill>
                      <a:srgbClr val="FFFFFF"/>
                    </a:solidFill>
                  </a:tcPr>
                </a:tc>
                <a:tc>
                  <a:txBody>
                    <a:bodyPr/>
                    <a:lstStyle/>
                    <a:p>
                      <a:pPr algn="ctr">
                        <a:lnSpc>
                          <a:spcPct val="100000"/>
                        </a:lnSpc>
                      </a:pPr>
                      <a:r>
                        <a:rPr sz="1300" b="1">
                          <a:solidFill>
                            <a:srgbClr val="1B6B45"/>
                          </a:solidFill>
                        </a:rPr>
                        <a:t>-0.017**</a:t>
                      </a:r>
                      <a:endParaRPr sz="1300" b="1">
                        <a:solidFill>
                          <a:srgbClr val="1B6B45"/>
                        </a:solidFill>
                      </a:endParaRPr>
                    </a:p>
                  </a:txBody>
                  <a:tcPr marL="45720" marR="45720" marT="9144" marB="9144" anchor="ctr">
                    <a:solidFill>
                      <a:srgbClr val="FFFFFF"/>
                    </a:solidFill>
                  </a:tcPr>
                </a:tc>
                <a:tc>
                  <a:txBody>
                    <a:bodyPr/>
                    <a:lstStyle/>
                    <a:p>
                      <a:pPr algn="ctr">
                        <a:lnSpc>
                          <a:spcPct val="100000"/>
                        </a:lnSpc>
                      </a:pPr>
                      <a:r>
                        <a:rPr sz="1300" b="1">
                          <a:solidFill>
                            <a:srgbClr val="1B6B45"/>
                          </a:solidFill>
                        </a:rPr>
                        <a:t>0.001</a:t>
                      </a:r>
                      <a:endParaRPr sz="1300" b="1">
                        <a:solidFill>
                          <a:srgbClr val="1B6B45"/>
                        </a:solidFill>
                      </a:endParaRPr>
                    </a:p>
                  </a:txBody>
                  <a:tcPr marL="45720" marR="45720" marT="9144" marB="9144" anchor="ctr">
                    <a:solidFill>
                      <a:srgbClr val="FFFFFF"/>
                    </a:solidFill>
                  </a:tcPr>
                </a:tc>
                <a:tc>
                  <a:txBody>
                    <a:bodyPr/>
                    <a:lstStyle/>
                    <a:p>
                      <a:pPr algn="ctr">
                        <a:lnSpc>
                          <a:spcPct val="100000"/>
                        </a:lnSpc>
                      </a:pPr>
                      <a:r>
                        <a:rPr sz="1300" b="1">
                          <a:solidFill>
                            <a:srgbClr val="1B6B45"/>
                          </a:solidFill>
                        </a:rPr>
                        <a:t>0.031***</a:t>
                      </a:r>
                      <a:endParaRPr sz="1300" b="1">
                        <a:solidFill>
                          <a:srgbClr val="1B6B45"/>
                        </a:solidFill>
                      </a:endParaRPr>
                    </a:p>
                  </a:txBody>
                  <a:tcPr marL="45720" marR="45720" marT="9144" marB="9144" anchor="ctr">
                    <a:solidFill>
                      <a:srgbClr val="FFFFFF"/>
                    </a:solidFill>
                  </a:tcPr>
                </a:tc>
              </a:tr>
              <a:tr h="420623">
                <a:tc>
                  <a:txBody>
                    <a:bodyPr/>
                    <a:lstStyle/>
                    <a:p>
                      <a:pPr algn="l">
                        <a:lnSpc>
                          <a:spcPct val="100000"/>
                        </a:lnSpc>
                      </a:pPr>
                      <a:r>
                        <a:rPr sz="1300" b="1">
                          <a:solidFill>
                            <a:srgbClr val="1B6B45"/>
                          </a:solidFill>
                        </a:rPr>
                        <a:t>本复现·剔极端值（wage &gt; 100 万）</a:t>
                      </a:r>
                      <a:endParaRPr sz="1300" b="1">
                        <a:solidFill>
                          <a:srgbClr val="1B6B45"/>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-0.695***</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0.002</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-0.016***</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-0.025***</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dirty="0">
                          <a:solidFill>
                            <a:srgbClr val="252A33"/>
                          </a:solidFill>
                        </a:rPr>
                        <a:t>-0.018*</a:t>
                      </a:r>
                      <a:endParaRPr sz="1300" b="0" dirty="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703320"/>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这说明什么</a:t>
            </a:r>
            <a:endParaRPr sz="2200" b="1">
              <a:solidFill>
                <a:srgbClr val="642366"/>
              </a:solidFill>
            </a:endParaRPr>
          </a:p>
        </p:txBody>
      </p:sp>
      <p:sp>
        <p:nvSpPr>
          <p:cNvPr id="8" name="TextBox 7"/>
          <p:cNvSpPr txBox="1"/>
          <p:nvPr/>
        </p:nvSpPr>
        <p:spPr>
          <a:xfrm>
            <a:off x="2029968" y="4087368"/>
            <a:ext cx="9601200" cy="1417320"/>
          </a:xfrm>
          <a:prstGeom prst="rect">
            <a:avLst/>
          </a:prstGeom>
          <a:noFill/>
        </p:spPr>
        <p:txBody>
          <a:bodyPr wrap="square" lIns="18288" tIns="0" rIns="18288" bIns="0">
            <a:spAutoFit/>
          </a:bodyPr>
          <a:lstStyle/>
          <a:p>
            <a:pPr algn="l">
              <a:lnSpc>
                <a:spcPct val="105000"/>
              </a:lnSpc>
              <a:spcAft>
                <a:spcPts val="500"/>
              </a:spcAft>
            </a:pPr>
            <a:r>
              <a:rPr sz="1500" b="0">
                <a:solidFill>
                  <a:srgbClr val="252A33"/>
                </a:solidFill>
              </a:rPr>
              <a:t>① 加权口径最接近论文：Fact 1 / Fact 2 几乎完全命中，Fact 4b 的符号也正确 —— 因为论文的样本就是男性户主。</a:t>
            </a:r>
            <a:endParaRPr sz="1500" b="0">
              <a:solidFill>
                <a:srgbClr val="252A33"/>
              </a:solidFill>
            </a:endParaRPr>
          </a:p>
          <a:p>
            <a:pPr algn="l">
              <a:lnSpc>
                <a:spcPct val="105000"/>
              </a:lnSpc>
              <a:spcAft>
                <a:spcPts val="500"/>
              </a:spcAft>
            </a:pPr>
            <a:r>
              <a:rPr sz="1500" b="0">
                <a:solidFill>
                  <a:srgbClr val="252A33"/>
                </a:solidFill>
              </a:rPr>
              <a:t>② 剔除极端值的口径没有改善，反而更差：Fact 2 由 +0.013 降到 +0.002，Fact 3 由 -0.025 降到 -0.016，离论文更远。</a:t>
            </a:r>
            <a:endParaRPr sz="1500" b="0">
              <a:solidFill>
                <a:srgbClr val="252A33"/>
              </a:solidFill>
            </a:endParaRPr>
          </a:p>
          <a:p>
            <a:pPr algn="l">
              <a:lnSpc>
                <a:spcPct val="105000"/>
              </a:lnSpc>
              <a:spcAft>
                <a:spcPts val="400"/>
              </a:spcAft>
            </a:pPr>
            <a:r>
              <a:rPr sz="1500" b="1">
                <a:solidFill>
                  <a:srgbClr val="1B6B45"/>
                </a:solidFill>
              </a:rPr>
              <a:t>→ 这排除了「差距由少数工资异常值造成」这个解释。</a:t>
            </a:r>
            <a:endParaRPr sz="1500" b="1">
              <a:solidFill>
                <a:srgbClr val="1B6B4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332523"/>
            <a:ext cx="8294008" cy="720428"/>
          </a:xfrm>
        </p:spPr>
        <p:txBody>
          <a:bodyPr/>
          <a:lstStyle/>
          <a:p>
            <a:r>
              <a:rPr sz="2600" b="1" dirty="0">
                <a:solidFill>
                  <a:srgbClr val="642366"/>
                </a:solidFill>
              </a:rPr>
              <a:t>table2：复现边界</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5.2</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论文与本复现的覆盖对照</a:t>
            </a:r>
            <a:endParaRPr sz="2200" b="1">
              <a:solidFill>
                <a:srgbClr val="642366"/>
              </a:solidFill>
            </a:endParaRPr>
          </a:p>
        </p:txBody>
      </p:sp>
      <p:graphicFrame>
        <p:nvGraphicFramePr>
          <p:cNvPr id="6" name="Table 5"/>
          <p:cNvGraphicFramePr>
            <a:graphicFrameLocks noGrp="1"/>
          </p:cNvGraphicFramePr>
          <p:nvPr/>
        </p:nvGraphicFramePr>
        <p:xfrm>
          <a:off x="1929384" y="1463040"/>
          <a:ext cx="10058398" cy="2514600"/>
        </p:xfrm>
        <a:graphic>
          <a:graphicData uri="http://schemas.openxmlformats.org/drawingml/2006/table">
            <a:tbl>
              <a:tblPr firstRow="1">
                <a:tableStyleId>{5C22544A-7EE6-4342-B048-85BDC9FD1C3A}</a:tableStyleId>
              </a:tblPr>
              <a:tblGrid>
                <a:gridCol w="2780370"/>
                <a:gridCol w="2698595"/>
                <a:gridCol w="2453268"/>
                <a:gridCol w="2126165"/>
              </a:tblGrid>
              <a:tr h="419100">
                <a:tc>
                  <a:txBody>
                    <a:bodyPr/>
                    <a:lstStyle/>
                    <a:p>
                      <a:pPr algn="l">
                        <a:lnSpc>
                          <a:spcPct val="100000"/>
                        </a:lnSpc>
                      </a:pPr>
                      <a:r>
                        <a:rPr sz="1400" b="1">
                          <a:solidFill>
                            <a:srgbClr val="FFFFFF"/>
                          </a:solidFill>
                        </a:rPr>
                        <a:t>项目</a:t>
                      </a:r>
                      <a:endParaRPr sz="1400" b="1">
                        <a:solidFill>
                          <a:srgbClr val="FFFFFF"/>
                        </a:solidFill>
                      </a:endParaRPr>
                    </a:p>
                  </a:txBody>
                  <a:tcPr marL="45720" marR="45720" marT="9144" marB="9144" anchor="ctr">
                    <a:solidFill>
                      <a:srgbClr val="642366"/>
                    </a:solidFill>
                  </a:tcPr>
                </a:tc>
                <a:tc>
                  <a:txBody>
                    <a:bodyPr/>
                    <a:lstStyle/>
                    <a:p>
                      <a:pPr algn="ctr">
                        <a:lnSpc>
                          <a:spcPct val="100000"/>
                        </a:lnSpc>
                      </a:pPr>
                      <a:r>
                        <a:rPr sz="1400" b="1">
                          <a:solidFill>
                            <a:srgbClr val="FFFFFF"/>
                          </a:solidFill>
                        </a:rPr>
                        <a:t>论文</a:t>
                      </a:r>
                      <a:endParaRPr sz="1400" b="1">
                        <a:solidFill>
                          <a:srgbClr val="FFFFFF"/>
                        </a:solidFill>
                      </a:endParaRPr>
                    </a:p>
                  </a:txBody>
                  <a:tcPr marL="45720" marR="45720" marT="9144" marB="9144" anchor="ctr">
                    <a:solidFill>
                      <a:srgbClr val="642366"/>
                    </a:solidFill>
                  </a:tcPr>
                </a:tc>
                <a:tc>
                  <a:txBody>
                    <a:bodyPr/>
                    <a:lstStyle/>
                    <a:p>
                      <a:pPr algn="ctr">
                        <a:lnSpc>
                          <a:spcPct val="100000"/>
                        </a:lnSpc>
                      </a:pPr>
                      <a:r>
                        <a:rPr sz="1400" b="1">
                          <a:solidFill>
                            <a:srgbClr val="FFFFFF"/>
                          </a:solidFill>
                        </a:rPr>
                        <a:t>本复现</a:t>
                      </a:r>
                      <a:endParaRPr sz="1400" b="1">
                        <a:solidFill>
                          <a:srgbClr val="FFFFFF"/>
                        </a:solidFill>
                      </a:endParaRPr>
                    </a:p>
                  </a:txBody>
                  <a:tcPr marL="45720" marR="45720" marT="9144" marB="9144" anchor="ctr">
                    <a:solidFill>
                      <a:srgbClr val="642366"/>
                    </a:solidFill>
                  </a:tcPr>
                </a:tc>
                <a:tc>
                  <a:txBody>
                    <a:bodyPr/>
                    <a:lstStyle/>
                    <a:p>
                      <a:pPr algn="ctr">
                        <a:lnSpc>
                          <a:spcPct val="100000"/>
                        </a:lnSpc>
                      </a:pPr>
                      <a:r>
                        <a:rPr sz="1400" b="1">
                          <a:solidFill>
                            <a:srgbClr val="FFFFFF"/>
                          </a:solidFill>
                        </a:rPr>
                        <a:t>结论</a:t>
                      </a:r>
                      <a:endParaRPr sz="1400" b="1">
                        <a:solidFill>
                          <a:srgbClr val="FFFFFF"/>
                        </a:solidFill>
                      </a:endParaRPr>
                    </a:p>
                  </a:txBody>
                  <a:tcPr marL="45720" marR="45720" marT="9144" marB="9144" anchor="ctr">
                    <a:solidFill>
                      <a:srgbClr val="642366"/>
                    </a:solidFill>
                  </a:tcPr>
                </a:tc>
              </a:tr>
              <a:tr h="419100">
                <a:tc>
                  <a:txBody>
                    <a:bodyPr/>
                    <a:lstStyle/>
                    <a:p>
                      <a:pPr algn="l">
                        <a:lnSpc>
                          <a:spcPct val="100000"/>
                        </a:lnSpc>
                      </a:pPr>
                      <a:r>
                        <a:rPr sz="1400" b="0">
                          <a:solidFill>
                            <a:srgbClr val="252A33"/>
                          </a:solidFill>
                        </a:rPr>
                        <a:t>年份</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1995 / 2011 / 2012</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仅 1995</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部分复现</a:t>
                      </a:r>
                      <a:endParaRPr sz="1400" b="0">
                        <a:solidFill>
                          <a:srgbClr val="252A33"/>
                        </a:solidFill>
                      </a:endParaRPr>
                    </a:p>
                  </a:txBody>
                  <a:tcPr marL="45720" marR="45720" marT="9144" marB="9144" anchor="ctr">
                    <a:solidFill>
                      <a:srgbClr val="FFFFFF"/>
                    </a:solidFill>
                  </a:tcPr>
                </a:tc>
              </a:tr>
              <a:tr h="419100">
                <a:tc>
                  <a:txBody>
                    <a:bodyPr/>
                    <a:lstStyle/>
                    <a:p>
                      <a:pPr algn="l">
                        <a:lnSpc>
                          <a:spcPct val="100000"/>
                        </a:lnSpc>
                      </a:pPr>
                      <a:r>
                        <a:rPr sz="1400" b="0">
                          <a:solidFill>
                            <a:srgbClr val="252A33"/>
                          </a:solidFill>
                        </a:rPr>
                        <a:t>第 (1)–(4) 列</a:t>
                      </a:r>
                      <a:endParaRPr sz="1400" b="0">
                        <a:solidFill>
                          <a:srgbClr val="252A33"/>
                        </a:solidFill>
                      </a:endParaRPr>
                    </a:p>
                  </a:txBody>
                  <a:tcPr marL="45720" marR="45720" marT="9144" marB="9144" anchor="ctr">
                    <a:solidFill>
                      <a:srgbClr val="F2EEF5"/>
                    </a:solidFill>
                  </a:tcPr>
                </a:tc>
                <a:tc>
                  <a:txBody>
                    <a:bodyPr/>
                    <a:lstStyle/>
                    <a:p>
                      <a:pPr algn="ctr">
                        <a:lnSpc>
                          <a:spcPct val="100000"/>
                        </a:lnSpc>
                      </a:pPr>
                      <a:r>
                        <a:rPr sz="1400" b="0">
                          <a:solidFill>
                            <a:srgbClr val="252A33"/>
                          </a:solidFill>
                        </a:rPr>
                        <a:t>有</a:t>
                      </a:r>
                      <a:endParaRPr sz="1400" b="0">
                        <a:solidFill>
                          <a:srgbClr val="252A33"/>
                        </a:solidFill>
                      </a:endParaRPr>
                    </a:p>
                  </a:txBody>
                  <a:tcPr marL="45720" marR="45720" marT="9144" marB="9144" anchor="ctr">
                    <a:solidFill>
                      <a:srgbClr val="F2EEF5"/>
                    </a:solidFill>
                  </a:tcPr>
                </a:tc>
                <a:tc>
                  <a:txBody>
                    <a:bodyPr/>
                    <a:lstStyle/>
                    <a:p>
                      <a:pPr algn="ctr">
                        <a:lnSpc>
                          <a:spcPct val="100000"/>
                        </a:lnSpc>
                      </a:pPr>
                      <a:r>
                        <a:rPr sz="1400" b="0">
                          <a:solidFill>
                            <a:srgbClr val="252A33"/>
                          </a:solidFill>
                        </a:rPr>
                        <a:t>有</a:t>
                      </a:r>
                      <a:endParaRPr sz="1400" b="0">
                        <a:solidFill>
                          <a:srgbClr val="252A33"/>
                        </a:solidFill>
                      </a:endParaRPr>
                    </a:p>
                  </a:txBody>
                  <a:tcPr marL="45720" marR="45720" marT="9144" marB="9144" anchor="ctr">
                    <a:solidFill>
                      <a:srgbClr val="F2EEF5"/>
                    </a:solidFill>
                  </a:tcPr>
                </a:tc>
                <a:tc>
                  <a:txBody>
                    <a:bodyPr/>
                    <a:lstStyle/>
                    <a:p>
                      <a:pPr algn="ctr">
                        <a:lnSpc>
                          <a:spcPct val="100000"/>
                        </a:lnSpc>
                      </a:pPr>
                      <a:r>
                        <a:rPr sz="1400" b="0">
                          <a:solidFill>
                            <a:srgbClr val="252A33"/>
                          </a:solidFill>
                        </a:rPr>
                        <a:t>✔ 已复现</a:t>
                      </a:r>
                      <a:endParaRPr sz="1400" b="0">
                        <a:solidFill>
                          <a:srgbClr val="252A33"/>
                        </a:solidFill>
                      </a:endParaRPr>
                    </a:p>
                  </a:txBody>
                  <a:tcPr marL="45720" marR="45720" marT="9144" marB="9144" anchor="ctr">
                    <a:solidFill>
                      <a:srgbClr val="F2EEF5"/>
                    </a:solidFill>
                  </a:tcPr>
                </a:tc>
              </a:tr>
              <a:tr h="419100">
                <a:tc>
                  <a:txBody>
                    <a:bodyPr/>
                    <a:lstStyle/>
                    <a:p>
                      <a:pPr algn="l">
                        <a:lnSpc>
                          <a:spcPct val="100000"/>
                        </a:lnSpc>
                      </a:pPr>
                      <a:r>
                        <a:rPr sz="1400" b="0">
                          <a:solidFill>
                            <a:srgbClr val="252A33"/>
                          </a:solidFill>
                        </a:rPr>
                        <a:t>第 (5) 列 Amenities</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有</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无（需 PODES）</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A63A1E"/>
                          </a:solidFill>
                        </a:rPr>
                        <a:t>❌ 无法复现</a:t>
                      </a:r>
                      <a:endParaRPr sz="1400" b="0">
                        <a:solidFill>
                          <a:srgbClr val="A63A1E"/>
                        </a:solidFill>
                      </a:endParaRPr>
                    </a:p>
                  </a:txBody>
                  <a:tcPr marL="45720" marR="45720" marT="9144" marB="9144" anchor="ctr">
                    <a:solidFill>
                      <a:srgbClr val="FFFFFF"/>
                    </a:solidFill>
                  </a:tcPr>
                </a:tc>
              </a:tr>
              <a:tr h="419100">
                <a:tc>
                  <a:txBody>
                    <a:bodyPr/>
                    <a:lstStyle/>
                    <a:p>
                      <a:pPr algn="l">
                        <a:lnSpc>
                          <a:spcPct val="100000"/>
                        </a:lnSpc>
                      </a:pPr>
                      <a:r>
                        <a:rPr sz="1400" b="0">
                          <a:solidFill>
                            <a:srgbClr val="252A33"/>
                          </a:solidFill>
                        </a:rPr>
                        <a:t>省级 / 县级地理</a:t>
                      </a:r>
                      <a:endParaRPr sz="1400" b="0">
                        <a:solidFill>
                          <a:srgbClr val="252A33"/>
                        </a:solidFill>
                      </a:endParaRPr>
                    </a:p>
                  </a:txBody>
                  <a:tcPr marL="45720" marR="45720" marT="9144" marB="9144" anchor="ctr">
                    <a:solidFill>
                      <a:srgbClr val="F2EEF5"/>
                    </a:solidFill>
                  </a:tcPr>
                </a:tc>
                <a:tc>
                  <a:txBody>
                    <a:bodyPr/>
                    <a:lstStyle/>
                    <a:p>
                      <a:pPr algn="ctr">
                        <a:lnSpc>
                          <a:spcPct val="100000"/>
                        </a:lnSpc>
                      </a:pPr>
                      <a:r>
                        <a:rPr sz="1400" b="0">
                          <a:solidFill>
                            <a:srgbClr val="252A33"/>
                          </a:solidFill>
                        </a:rPr>
                        <a:t>全印尼</a:t>
                      </a:r>
                      <a:endParaRPr sz="1400" b="0">
                        <a:solidFill>
                          <a:srgbClr val="252A33"/>
                        </a:solidFill>
                      </a:endParaRPr>
                    </a:p>
                  </a:txBody>
                  <a:tcPr marL="45720" marR="45720" marT="9144" marB="9144" anchor="ctr">
                    <a:solidFill>
                      <a:srgbClr val="F2EEF5"/>
                    </a:solidFill>
                  </a:tcPr>
                </a:tc>
                <a:tc>
                  <a:txBody>
                    <a:bodyPr/>
                    <a:lstStyle/>
                    <a:p>
                      <a:pPr algn="ctr">
                        <a:lnSpc>
                          <a:spcPct val="100000"/>
                        </a:lnSpc>
                      </a:pPr>
                      <a:r>
                        <a:rPr sz="1400" b="0">
                          <a:solidFill>
                            <a:srgbClr val="252A33"/>
                          </a:solidFill>
                        </a:rPr>
                        <a:t>17 省 / 221 县</a:t>
                      </a:r>
                      <a:endParaRPr sz="1400" b="0">
                        <a:solidFill>
                          <a:srgbClr val="252A33"/>
                        </a:solidFill>
                      </a:endParaRPr>
                    </a:p>
                  </a:txBody>
                  <a:tcPr marL="45720" marR="45720" marT="9144" marB="9144" anchor="ctr">
                    <a:solidFill>
                      <a:srgbClr val="F2EEF5"/>
                    </a:solidFill>
                  </a:tcPr>
                </a:tc>
                <a:tc>
                  <a:txBody>
                    <a:bodyPr/>
                    <a:lstStyle/>
                    <a:p>
                      <a:pPr algn="ctr">
                        <a:lnSpc>
                          <a:spcPct val="100000"/>
                        </a:lnSpc>
                      </a:pPr>
                      <a:r>
                        <a:rPr sz="1400" b="0">
                          <a:solidFill>
                            <a:srgbClr val="252A33"/>
                          </a:solidFill>
                        </a:rPr>
                        <a:t>部分覆盖</a:t>
                      </a:r>
                      <a:endParaRPr sz="1400" b="0">
                        <a:solidFill>
                          <a:srgbClr val="252A33"/>
                        </a:solidFill>
                      </a:endParaRPr>
                    </a:p>
                  </a:txBody>
                  <a:tcPr marL="45720" marR="45720" marT="9144" marB="9144" anchor="ctr">
                    <a:solidFill>
                      <a:srgbClr val="F2EEF5"/>
                    </a:solidFill>
                  </a:tcPr>
                </a:tc>
              </a:tr>
              <a:tr h="419100">
                <a:tc>
                  <a:txBody>
                    <a:bodyPr/>
                    <a:lstStyle/>
                    <a:p>
                      <a:pPr algn="l">
                        <a:lnSpc>
                          <a:spcPct val="100000"/>
                        </a:lnSpc>
                      </a:pPr>
                      <a:r>
                        <a:rPr sz="1400" b="0">
                          <a:solidFill>
                            <a:srgbClr val="252A33"/>
                          </a:solidFill>
                        </a:rPr>
                        <a:t>OD 观测数</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25,540 / 25,244</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12,627 / 7,446</a:t>
                      </a:r>
                      <a:endParaRPr sz="1400" b="0">
                        <a:solidFill>
                          <a:srgbClr val="252A33"/>
                        </a:solidFill>
                      </a:endParaRPr>
                    </a:p>
                  </a:txBody>
                  <a:tcPr marL="45720" marR="45720" marT="9144" marB="9144" anchor="ctr">
                    <a:solidFill>
                      <a:srgbClr val="FFFFFF"/>
                    </a:solidFill>
                  </a:tcPr>
                </a:tc>
                <a:tc>
                  <a:txBody>
                    <a:bodyPr/>
                    <a:lstStyle/>
                    <a:p>
                      <a:pPr algn="ctr">
                        <a:lnSpc>
                          <a:spcPct val="100000"/>
                        </a:lnSpc>
                      </a:pPr>
                      <a:r>
                        <a:rPr sz="1400" b="0">
                          <a:solidFill>
                            <a:srgbClr val="252A33"/>
                          </a:solidFill>
                        </a:rPr>
                        <a:t>约为一半</a:t>
                      </a:r>
                      <a:endParaRPr sz="1400" b="0">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1929384" y="4160520"/>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三条边界的性质</a:t>
            </a:r>
            <a:endParaRPr sz="2200" b="1">
              <a:solidFill>
                <a:srgbClr val="642366"/>
              </a:solidFill>
            </a:endParaRPr>
          </a:p>
        </p:txBody>
      </p:sp>
      <p:sp>
        <p:nvSpPr>
          <p:cNvPr id="8" name="TextBox 7"/>
          <p:cNvSpPr txBox="1"/>
          <p:nvPr/>
        </p:nvSpPr>
        <p:spPr>
          <a:xfrm>
            <a:off x="2029968" y="4544568"/>
            <a:ext cx="9601200" cy="1325880"/>
          </a:xfrm>
          <a:prstGeom prst="rect">
            <a:avLst/>
          </a:prstGeom>
          <a:noFill/>
        </p:spPr>
        <p:txBody>
          <a:bodyPr wrap="square" lIns="18288" tIns="0" rIns="18288" bIns="0">
            <a:spAutoFit/>
          </a:bodyPr>
          <a:lstStyle/>
          <a:p>
            <a:pPr algn="l">
              <a:lnSpc>
                <a:spcPct val="105000"/>
              </a:lnSpc>
              <a:spcAft>
                <a:spcPts val="500"/>
              </a:spcAft>
            </a:pPr>
            <a:r>
              <a:rPr sz="1500" b="0">
                <a:solidFill>
                  <a:srgbClr val="252A33"/>
                </a:solidFill>
              </a:rPr>
              <a:t>① 年份：论文合并 1995 / 2011 / 2012 三年，IPUMS 不提供 2011、2012 年 SUSENAS 微观数据。</a:t>
            </a:r>
            <a:endParaRPr sz="1500" b="0">
              <a:solidFill>
                <a:srgbClr val="252A33"/>
              </a:solidFill>
            </a:endParaRPr>
          </a:p>
          <a:p>
            <a:pPr algn="l">
              <a:lnSpc>
                <a:spcPct val="105000"/>
              </a:lnSpc>
              <a:spcAft>
                <a:spcPts val="500"/>
              </a:spcAft>
            </a:pPr>
            <a:r>
              <a:rPr sz="1500" b="0">
                <a:solidFill>
                  <a:srgbClr val="252A33"/>
                </a:solidFill>
              </a:rPr>
              <a:t>② 第 (5) 列：Amenities 需要一个便利设施主成分，依赖 PODES 的学校、医院、道路等设施数据，IPUMS 不含这些变量。</a:t>
            </a:r>
            <a:endParaRPr sz="1500" b="0">
              <a:solidFill>
                <a:srgbClr val="252A33"/>
              </a:solidFill>
            </a:endParaRPr>
          </a:p>
          <a:p>
            <a:pPr algn="l">
              <a:lnSpc>
                <a:spcPct val="105000"/>
              </a:lnSpc>
              <a:spcAft>
                <a:spcPts val="400"/>
              </a:spcAft>
            </a:pPr>
            <a:r>
              <a:rPr sz="1500" b="0">
                <a:solidFill>
                  <a:srgbClr val="252A33"/>
                </a:solidFill>
              </a:rPr>
              <a:t>③ 地理：样本缺加里曼丹、苏拉威西、马鲁古、巴布亚四区，加权人口约占全国 86%。</a:t>
            </a:r>
            <a:endParaRPr sz="1500" b="0">
              <a:solidFill>
                <a:srgbClr val="252A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58564"/>
            <a:ext cx="8294008" cy="720428"/>
          </a:xfrm>
        </p:spPr>
        <p:txBody>
          <a:bodyPr/>
          <a:lstStyle/>
          <a:p>
            <a:r>
              <a:rPr sz="2600" b="1" dirty="0">
                <a:solidFill>
                  <a:srgbClr val="642366"/>
                </a:solidFill>
              </a:rPr>
              <a:t>table2：差距来源分析</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5.2</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Fact 3 与 Fact 4b 为什么对不上</a:t>
            </a:r>
            <a:endParaRPr sz="2200" b="1">
              <a:solidFill>
                <a:srgbClr val="642366"/>
              </a:solidFill>
            </a:endParaRPr>
          </a:p>
        </p:txBody>
      </p:sp>
      <p:sp>
        <p:nvSpPr>
          <p:cNvPr id="6" name="TextBox 5"/>
          <p:cNvSpPr txBox="1"/>
          <p:nvPr/>
        </p:nvSpPr>
        <p:spPr>
          <a:xfrm>
            <a:off x="2029968" y="1463040"/>
            <a:ext cx="9601200" cy="1737360"/>
          </a:xfrm>
          <a:prstGeom prst="rect">
            <a:avLst/>
          </a:prstGeom>
          <a:noFill/>
        </p:spPr>
        <p:txBody>
          <a:bodyPr wrap="square" lIns="18288" tIns="0" rIns="18288" bIns="0">
            <a:spAutoFit/>
          </a:bodyPr>
          <a:lstStyle/>
          <a:p>
            <a:pPr algn="l">
              <a:lnSpc>
                <a:spcPct val="105000"/>
              </a:lnSpc>
              <a:spcAft>
                <a:spcPts val="600"/>
              </a:spcAft>
            </a:pPr>
            <a:r>
              <a:rPr sz="1500" b="0">
                <a:solidFill>
                  <a:srgbClr val="252A33"/>
                </a:solidFill>
              </a:rPr>
              <a:t>• 聚类数太少：只有 221 个县可作为聚类单元，标准误比论文大一个数量级（Fact 2 为 0.008 vs 论文 0.001），估计本身就不精确。</a:t>
            </a:r>
            <a:endParaRPr sz="1500" b="0">
              <a:solidFill>
                <a:srgbClr val="252A33"/>
              </a:solidFill>
            </a:endParaRPr>
          </a:p>
          <a:p>
            <a:pPr algn="l">
              <a:lnSpc>
                <a:spcPct val="105000"/>
              </a:lnSpc>
              <a:spcAft>
                <a:spcPts val="600"/>
              </a:spcAft>
            </a:pPr>
            <a:r>
              <a:rPr sz="1500" b="0">
                <a:solidFill>
                  <a:srgbClr val="252A33"/>
                </a:solidFill>
              </a:rPr>
              <a:t>• 年份不同：论文用三年数据，年度特异性波动会被固定效应吸收一部分；单年样本无法做这种平均。</a:t>
            </a:r>
            <a:endParaRPr sz="1500" b="0">
              <a:solidFill>
                <a:srgbClr val="252A33"/>
              </a:solidFill>
            </a:endParaRPr>
          </a:p>
          <a:p>
            <a:pPr algn="l">
              <a:lnSpc>
                <a:spcPct val="105000"/>
              </a:lnSpc>
              <a:spcAft>
                <a:spcPts val="400"/>
              </a:spcAft>
            </a:pPr>
            <a:r>
              <a:rPr sz="1500" b="0">
                <a:solidFill>
                  <a:srgbClr val="252A33"/>
                </a:solidFill>
              </a:rPr>
              <a:t>• 数据源不同：论文用 BPS 原始微观数据，本复现用 IPUMS 协调版；工资口径、城乡定义、县码归并都可能存在细微差异。</a:t>
            </a:r>
            <a:endParaRPr sz="1500" b="0">
              <a:solidFill>
                <a:srgbClr val="252A33"/>
              </a:solidFill>
            </a:endParaRPr>
          </a:p>
        </p:txBody>
      </p:sp>
      <p:sp>
        <p:nvSpPr>
          <p:cNvPr id="7" name="TextBox 6"/>
          <p:cNvSpPr txBox="1"/>
          <p:nvPr/>
        </p:nvSpPr>
        <p:spPr>
          <a:xfrm>
            <a:off x="1929384" y="3337560"/>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已经排除的解释</a:t>
            </a:r>
            <a:endParaRPr sz="2200" b="1">
              <a:solidFill>
                <a:srgbClr val="642366"/>
              </a:solidFill>
            </a:endParaRPr>
          </a:p>
        </p:txBody>
      </p:sp>
      <p:sp>
        <p:nvSpPr>
          <p:cNvPr id="8" name="TextBox 7"/>
          <p:cNvSpPr txBox="1"/>
          <p:nvPr/>
        </p:nvSpPr>
        <p:spPr>
          <a:xfrm>
            <a:off x="2029968" y="3721608"/>
            <a:ext cx="9601200" cy="960120"/>
          </a:xfrm>
          <a:prstGeom prst="rect">
            <a:avLst/>
          </a:prstGeom>
          <a:noFill/>
        </p:spPr>
        <p:txBody>
          <a:bodyPr wrap="square" lIns="18288" tIns="0" rIns="18288" bIns="0">
            <a:spAutoFit/>
          </a:bodyPr>
          <a:lstStyle/>
          <a:p>
            <a:pPr algn="l">
              <a:lnSpc>
                <a:spcPct val="105000"/>
              </a:lnSpc>
              <a:spcAft>
                <a:spcPts val="600"/>
              </a:spcAft>
            </a:pPr>
            <a:r>
              <a:rPr sz="1500" b="0">
                <a:solidFill>
                  <a:srgbClr val="252A33"/>
                </a:solidFill>
              </a:rPr>
              <a:t>✘ 「少数工资极端值造成偏差」—— 已被剔除极端值的检验否定（第 3 页）。</a:t>
            </a:r>
            <a:endParaRPr sz="1500" b="0">
              <a:solidFill>
                <a:srgbClr val="252A33"/>
              </a:solidFill>
            </a:endParaRPr>
          </a:p>
          <a:p>
            <a:pPr algn="l">
              <a:lnSpc>
                <a:spcPct val="105000"/>
              </a:lnSpc>
              <a:spcAft>
                <a:spcPts val="400"/>
              </a:spcAft>
            </a:pPr>
            <a:r>
              <a:rPr sz="1500" b="0">
                <a:solidFill>
                  <a:srgbClr val="252A33"/>
                </a:solidFill>
              </a:rPr>
              <a:t>✘ 「模型设定错了」—— 同一套设定下，加权口径能把 Fact 1、Fact 2 复现到小数点后两位。</a:t>
            </a:r>
            <a:endParaRPr sz="1500" b="0">
              <a:solidFill>
                <a:srgbClr val="252A33"/>
              </a:solidFill>
            </a:endParaRPr>
          </a:p>
        </p:txBody>
      </p:sp>
      <p:sp>
        <p:nvSpPr>
          <p:cNvPr id="9" name="TextBox 8"/>
          <p:cNvSpPr txBox="1"/>
          <p:nvPr/>
        </p:nvSpPr>
        <p:spPr>
          <a:xfrm>
            <a:off x="1929384" y="4828032"/>
            <a:ext cx="9692640" cy="384048"/>
          </a:xfrm>
          <a:prstGeom prst="rect">
            <a:avLst/>
          </a:prstGeom>
          <a:noFill/>
        </p:spPr>
        <p:txBody>
          <a:bodyPr wrap="square" lIns="18288" tIns="0" rIns="18288" bIns="0">
            <a:spAutoFit/>
          </a:bodyPr>
          <a:lstStyle/>
          <a:p>
            <a:pPr algn="l">
              <a:lnSpc>
                <a:spcPct val="105000"/>
              </a:lnSpc>
              <a:spcAft>
                <a:spcPts val="400"/>
              </a:spcAft>
            </a:pPr>
            <a:r>
              <a:rPr sz="2200" b="1">
                <a:solidFill>
                  <a:srgbClr val="642366"/>
                </a:solidFill>
              </a:rPr>
              <a:t>综合判断</a:t>
            </a:r>
            <a:endParaRPr sz="2200" b="1">
              <a:solidFill>
                <a:srgbClr val="642366"/>
              </a:solidFill>
            </a:endParaRPr>
          </a:p>
        </p:txBody>
      </p:sp>
      <p:sp>
        <p:nvSpPr>
          <p:cNvPr id="10" name="TextBox 9"/>
          <p:cNvSpPr txBox="1"/>
          <p:nvPr/>
        </p:nvSpPr>
        <p:spPr>
          <a:xfrm>
            <a:off x="2029968" y="5212080"/>
            <a:ext cx="9601200" cy="1280160"/>
          </a:xfrm>
          <a:prstGeom prst="rect">
            <a:avLst/>
          </a:prstGeom>
          <a:noFill/>
        </p:spPr>
        <p:txBody>
          <a:bodyPr wrap="square" lIns="18288" tIns="0" rIns="18288" bIns="0">
            <a:spAutoFit/>
          </a:bodyPr>
          <a:lstStyle/>
          <a:p>
            <a:pPr algn="l">
              <a:lnSpc>
                <a:spcPct val="105000"/>
              </a:lnSpc>
              <a:spcAft>
                <a:spcPts val="600"/>
              </a:spcAft>
            </a:pPr>
            <a:r>
              <a:rPr sz="1600" b="1">
                <a:solidFill>
                  <a:srgbClr val="1B6B45"/>
                </a:solidFill>
              </a:rPr>
              <a:t>本复现支持论文的定性结论，定量上的差距主要来自「年份数」与「地理覆盖」，而非估计方法。</a:t>
            </a:r>
            <a:endParaRPr sz="1600" b="1">
              <a:solidFill>
                <a:srgbClr val="1B6B45"/>
              </a:solidFill>
            </a:endParaRPr>
          </a:p>
          <a:p>
            <a:pPr algn="l">
              <a:lnSpc>
                <a:spcPct val="105000"/>
              </a:lnSpc>
              <a:spcAft>
                <a:spcPts val="400"/>
              </a:spcAft>
            </a:pPr>
            <a:r>
              <a:rPr sz="1500" b="0">
                <a:solidFill>
                  <a:srgbClr val="252A33"/>
                </a:solidFill>
              </a:rPr>
              <a:t>若能得到 2011、2012 年数据与 PODES 设施数据，第 (1)–(5) 列都应能进一步逼近论文报告值。</a:t>
            </a:r>
            <a:endParaRPr sz="1500" b="0">
              <a:solidFill>
                <a:srgbClr val="252A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table3：论文原表与复现口径</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5.3</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dirty="0" err="1">
                <a:solidFill>
                  <a:srgbClr val="642366"/>
                </a:solidFill>
              </a:rPr>
              <a:t>论文</a:t>
            </a:r>
            <a:r>
              <a:rPr sz="2200" b="1" dirty="0">
                <a:solidFill>
                  <a:srgbClr val="642366"/>
                </a:solidFill>
              </a:rPr>
              <a:t> Table 3（JPE 第 2241 页）—— </a:t>
            </a:r>
            <a:r>
              <a:rPr sz="2200" b="1" dirty="0" err="1">
                <a:solidFill>
                  <a:srgbClr val="642366"/>
                </a:solidFill>
              </a:rPr>
              <a:t>美国版「四个事实</a:t>
            </a:r>
            <a:r>
              <a:rPr sz="2200" b="1" dirty="0">
                <a:solidFill>
                  <a:srgbClr val="642366"/>
                </a:solidFill>
              </a:rPr>
              <a:t>」</a:t>
            </a:r>
            <a:endParaRPr sz="2200" b="1" dirty="0">
              <a:solidFill>
                <a:srgbClr val="642366"/>
              </a:solidFill>
            </a:endParaRPr>
          </a:p>
        </p:txBody>
      </p:sp>
      <p:graphicFrame>
        <p:nvGraphicFramePr>
          <p:cNvPr id="6" name="Table 5"/>
          <p:cNvGraphicFramePr>
            <a:graphicFrameLocks noGrp="1"/>
          </p:cNvGraphicFramePr>
          <p:nvPr/>
        </p:nvGraphicFramePr>
        <p:xfrm>
          <a:off x="1929384" y="1435608"/>
          <a:ext cx="9692636" cy="1819656"/>
        </p:xfrm>
        <a:graphic>
          <a:graphicData uri="http://schemas.openxmlformats.org/drawingml/2006/table">
            <a:tbl>
              <a:tblPr firstRow="1">
                <a:tableStyleId>{5C22544A-7EE6-4342-B048-85BDC9FD1C3A}</a:tableStyleId>
              </a:tblPr>
              <a:tblGrid>
                <a:gridCol w="2194560"/>
                <a:gridCol w="1874519"/>
                <a:gridCol w="1874519"/>
                <a:gridCol w="1874519"/>
                <a:gridCol w="1874519"/>
              </a:tblGrid>
              <a:tr h="310896">
                <a:tc>
                  <a:txBody>
                    <a:bodyPr/>
                    <a:lstStyle/>
                    <a:p>
                      <a:pPr algn="l">
                        <a:lnSpc>
                          <a:spcPct val="102000"/>
                        </a:lnSpc>
                      </a:pPr>
                      <a:r>
                        <a:rPr sz="1150" b="1">
                          <a:solidFill>
                            <a:srgbClr val="FFFFFF"/>
                          </a:solidFill>
                        </a:rPr>
                        <a:t>项目</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dirty="0">
                          <a:solidFill>
                            <a:srgbClr val="FFFFFF"/>
                          </a:solidFill>
                        </a:rPr>
                        <a:t>(1) </a:t>
                      </a:r>
                      <a:r>
                        <a:rPr sz="1150" b="1" kern="1200" dirty="0">
                          <a:solidFill>
                            <a:srgbClr val="FFFFFF"/>
                          </a:solidFill>
                          <a:latin typeface="+mn-lt"/>
                          <a:ea typeface="+mn-ea"/>
                          <a:cs typeface="+mn-cs"/>
                        </a:rPr>
                        <a:t>log</a:t>
                      </a:r>
                      <a:r>
                        <a:rPr lang="el-GR" altLang="zh-CN" sz="1150" b="1" kern="1200" dirty="0">
                          <a:solidFill>
                            <a:srgbClr val="FFFFFF"/>
                          </a:solidFill>
                          <a:latin typeface="+mn-lt"/>
                          <a:ea typeface="+mn-ea"/>
                          <a:cs typeface="+mn-cs"/>
                        </a:rPr>
                        <a:t>π </a:t>
                      </a:r>
                      <a:endParaRPr sz="1150" b="1" kern="1200" dirty="0">
                        <a:solidFill>
                          <a:srgbClr val="FFFFFF"/>
                        </a:solidFill>
                        <a:latin typeface="+mn-lt"/>
                        <a:ea typeface="+mn-ea"/>
                        <a:cs typeface="+mn-cs"/>
                      </a:endParaRPr>
                    </a:p>
                  </a:txBody>
                  <a:tcPr marL="45720" marR="45720" marT="9144" marB="9144" anchor="ctr">
                    <a:solidFill>
                      <a:srgbClr val="642366"/>
                    </a:solidFill>
                  </a:tcPr>
                </a:tc>
                <a:tc>
                  <a:txBody>
                    <a:bodyPr/>
                    <a:lstStyle/>
                    <a:p>
                      <a:pPr algn="l">
                        <a:lnSpc>
                          <a:spcPct val="102000"/>
                        </a:lnSpc>
                      </a:pPr>
                      <a:r>
                        <a:rPr sz="1150" b="1">
                          <a:solidFill>
                            <a:srgbClr val="FFFFFF"/>
                          </a:solidFill>
                        </a:rPr>
                        <a:t>(2) log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(3) log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(4) log w</a:t>
                      </a:r>
                      <a:endParaRPr sz="1150" b="1">
                        <a:solidFill>
                          <a:srgbClr val="FFFFFF"/>
                        </a:solidFill>
                      </a:endParaRPr>
                    </a:p>
                  </a:txBody>
                  <a:tcPr marL="45720" marR="45720" marT="9144" marB="9144" anchor="ctr">
                    <a:solidFill>
                      <a:srgbClr val="642366"/>
                    </a:solidFill>
                  </a:tcPr>
                </a:tc>
              </a:tr>
              <a:tr h="301752">
                <a:tc>
                  <a:txBody>
                    <a:bodyPr/>
                    <a:lstStyle/>
                    <a:p>
                      <a:pPr algn="l">
                        <a:lnSpc>
                          <a:spcPct val="102000"/>
                        </a:lnSpc>
                      </a:pPr>
                      <a:r>
                        <a:rPr sz="1100" b="0">
                          <a:solidFill>
                            <a:srgbClr val="252A33"/>
                          </a:solidFill>
                        </a:rPr>
                        <a:t>Log distance</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−.553 (.018)***</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.023 (.002)***</a:t>
                      </a:r>
                      <a:endParaRPr sz="1100" b="0">
                        <a:solidFill>
                          <a:srgbClr val="252A33"/>
                        </a:solidFill>
                      </a:endParaRPr>
                    </a:p>
                  </a:txBody>
                  <a:tcPr marL="45720" marR="45720" marT="9144" marB="9144" anchor="ctr">
                    <a:solidFill>
                      <a:srgbClr val="FFFFFF"/>
                    </a:solidFill>
                  </a:tcPr>
                </a:tc>
                <a:tc>
                  <a:txBody>
                    <a:bodyPr/>
                    <a:lstStyle/>
                    <a:p>
                      <a:pPr marL="0" marR="0" lvl="0" indent="0" algn="l" defTabSz="914400" rtl="0" eaLnBrk="1" fontAlgn="auto" latinLnBrk="0" hangingPunct="1">
                        <a:lnSpc>
                          <a:spcPct val="102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252A33"/>
                          </a:solidFill>
                          <a:effectLst/>
                          <a:uLnTx/>
                          <a:uFillTx/>
                          <a:latin typeface="+mn-lt"/>
                          <a:ea typeface="+mn-ea"/>
                          <a:cs typeface="+mn-cs"/>
                        </a:rPr>
                        <a:t>—</a:t>
                      </a:r>
                      <a:endParaRPr kumimoji="0" lang="en-US" altLang="zh-CN" sz="1100" b="0" i="0" u="none" strike="noStrike" kern="1200" cap="none" spc="0" normalizeH="0" baseline="0" noProof="0" dirty="0">
                        <a:ln>
                          <a:noFill/>
                        </a:ln>
                        <a:solidFill>
                          <a:srgbClr val="252A33"/>
                        </a:solidFill>
                        <a:effectLst/>
                        <a:uLnTx/>
                        <a:uFillTx/>
                        <a:latin typeface="+mn-lt"/>
                        <a:ea typeface="+mn-ea"/>
                        <a:cs typeface="+mn-cs"/>
                      </a:endParaRPr>
                    </a:p>
                  </a:txBody>
                  <a:tcPr marL="45720" marR="45720" marT="9144" marB="9144" anchor="ctr">
                    <a:solidFill>
                      <a:srgbClr val="FFFFFF"/>
                    </a:solidFill>
                  </a:tcPr>
                </a:tc>
                <a:tc>
                  <a:txBody>
                    <a:bodyPr/>
                    <a:lstStyle/>
                    <a:p>
                      <a:pPr algn="l">
                        <a:lnSpc>
                          <a:spcPct val="102000"/>
                        </a:lnSpc>
                      </a:pPr>
                      <a:r>
                        <a:rPr lang="zh-CN" altLang="en-US" sz="1100" b="0" dirty="0">
                          <a:solidFill>
                            <a:srgbClr val="252A33"/>
                          </a:solidFill>
                        </a:rPr>
                        <a:t>−</a:t>
                      </a:r>
                      <a:r>
                        <a:rPr lang="en-US" altLang="zh-CN" sz="1100" b="0" dirty="0">
                          <a:solidFill>
                            <a:srgbClr val="252A33"/>
                          </a:solidFill>
                        </a:rPr>
                        <a:t>.004 (.004)</a:t>
                      </a:r>
                      <a:endParaRPr lang="en-US" altLang="zh-CN" sz="1100" b="0" dirty="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Log share migrating</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dirty="0">
                          <a:solidFill>
                            <a:srgbClr val="252A33"/>
                          </a:solidFill>
                        </a:rPr>
                        <a:t>—</a:t>
                      </a:r>
                      <a:endParaRPr sz="1100" b="0" dirty="0">
                        <a:solidFill>
                          <a:srgbClr val="252A33"/>
                        </a:solidFill>
                      </a:endParaRPr>
                    </a:p>
                  </a:txBody>
                  <a:tcPr marL="45720" marR="45720" marT="9144" marB="9144" anchor="ctr">
                    <a:solidFill>
                      <a:srgbClr val="F2EEF5"/>
                    </a:solidFill>
                  </a:tcPr>
                </a:tc>
                <a:tc>
                  <a:txBody>
                    <a:bodyPr/>
                    <a:lstStyle/>
                    <a:p>
                      <a:pPr algn="l">
                        <a:lnSpc>
                          <a:spcPct val="102000"/>
                        </a:lnSpc>
                      </a:pPr>
                      <a:r>
                        <a:rPr sz="1100" b="0" dirty="0">
                          <a:solidFill>
                            <a:srgbClr val="252A33"/>
                          </a:solidFill>
                        </a:rPr>
                        <a:t>—</a:t>
                      </a:r>
                      <a:endParaRPr sz="1100" b="0" dirty="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−.043 (.003)***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−.050 (.006)***</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出发地×年 / 目的地×年 FE</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dirty="0">
                          <a:solidFill>
                            <a:srgbClr val="252A33"/>
                          </a:solidFill>
                        </a:rPr>
                        <a:t>Yes</a:t>
                      </a:r>
                      <a:endParaRPr sz="1100" b="0" dirty="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Yes</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Yes</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Yes</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州对数</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5,084</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5,076</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dirty="0">
                          <a:solidFill>
                            <a:srgbClr val="252A33"/>
                          </a:solidFill>
                        </a:rPr>
                        <a:t>5,076</a:t>
                      </a:r>
                      <a:endParaRPr sz="1100" b="0" dirty="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5,076</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个体数</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2,294,054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2,294,046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2,294,046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dirty="0">
                          <a:solidFill>
                            <a:srgbClr val="252A33"/>
                          </a:solidFill>
                        </a:rPr>
                        <a:t>2,294,046</a:t>
                      </a:r>
                      <a:endParaRPr sz="1100" b="0" dirty="0">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2029968" y="3401568"/>
            <a:ext cx="9601200" cy="1677126"/>
          </a:xfrm>
          <a:prstGeom prst="rect">
            <a:avLst/>
          </a:prstGeom>
          <a:noFill/>
        </p:spPr>
        <p:txBody>
          <a:bodyPr wrap="square" lIns="0" tIns="0" rIns="0" bIns="0">
            <a:spAutoFit/>
          </a:bodyPr>
          <a:lstStyle/>
          <a:p>
            <a:pPr algn="l">
              <a:lnSpc>
                <a:spcPct val="102000"/>
              </a:lnSpc>
              <a:spcAft>
                <a:spcPts val="300"/>
              </a:spcAft>
            </a:pPr>
            <a:r>
              <a:rPr sz="1400" b="1" dirty="0" err="1">
                <a:solidFill>
                  <a:srgbClr val="642366"/>
                </a:solidFill>
              </a:rPr>
              <a:t>表名：Four</a:t>
            </a:r>
            <a:r>
              <a:rPr sz="1400" b="1" dirty="0">
                <a:solidFill>
                  <a:srgbClr val="642366"/>
                </a:solidFill>
              </a:rPr>
              <a:t> Facts about Migration in the United States</a:t>
            </a:r>
            <a:endParaRPr sz="1400" b="1" dirty="0">
              <a:solidFill>
                <a:srgbClr val="642366"/>
              </a:solidFill>
            </a:endParaRPr>
          </a:p>
          <a:p>
            <a:pPr algn="l">
              <a:lnSpc>
                <a:spcPct val="102000"/>
              </a:lnSpc>
              <a:spcAft>
                <a:spcPts val="300"/>
              </a:spcAft>
            </a:pPr>
            <a:r>
              <a:rPr sz="1400" b="0" dirty="0" err="1">
                <a:solidFill>
                  <a:srgbClr val="252A33"/>
                </a:solidFill>
              </a:rPr>
              <a:t>因变量：列</a:t>
            </a:r>
            <a:r>
              <a:rPr sz="1400" b="0" dirty="0">
                <a:solidFill>
                  <a:srgbClr val="252A33"/>
                </a:solidFill>
              </a:rPr>
              <a:t>(1) 是 log</a:t>
            </a:r>
            <a:r>
              <a:rPr lang="el-GR" altLang="zh-CN" sz="1400" dirty="0">
                <a:solidFill>
                  <a:srgbClr val="252A33"/>
                </a:solidFill>
              </a:rPr>
              <a:t>π</a:t>
            </a:r>
            <a:r>
              <a:rPr sz="1400" dirty="0">
                <a:solidFill>
                  <a:srgbClr val="252A33"/>
                </a:solidFill>
              </a:rPr>
              <a:t>_</a:t>
            </a:r>
            <a:r>
              <a:rPr sz="1400" b="0" dirty="0" err="1">
                <a:solidFill>
                  <a:srgbClr val="252A33"/>
                </a:solidFill>
              </a:rPr>
              <a:t>odt（o→d</a:t>
            </a:r>
            <a:r>
              <a:rPr sz="1400" b="0" dirty="0">
                <a:solidFill>
                  <a:srgbClr val="252A33"/>
                </a:solidFill>
              </a:rPr>
              <a:t> </a:t>
            </a:r>
            <a:r>
              <a:rPr sz="1400" b="0" dirty="0" err="1">
                <a:solidFill>
                  <a:srgbClr val="252A33"/>
                </a:solidFill>
              </a:rPr>
              <a:t>迁移份额的对数</a:t>
            </a:r>
            <a:r>
              <a:rPr sz="1400" b="0" dirty="0">
                <a:solidFill>
                  <a:srgbClr val="252A33"/>
                </a:solidFill>
              </a:rPr>
              <a:t>）；列(2)(3)(4) 是 log </a:t>
            </a:r>
            <a:r>
              <a:rPr sz="1400" b="0" dirty="0" err="1">
                <a:solidFill>
                  <a:srgbClr val="252A33"/>
                </a:solidFill>
              </a:rPr>
              <a:t>w_odt（o</a:t>
            </a:r>
            <a:r>
              <a:rPr sz="1400" b="0" dirty="0">
                <a:solidFill>
                  <a:srgbClr val="252A33"/>
                </a:solidFill>
              </a:rPr>
              <a:t> 到 d </a:t>
            </a:r>
            <a:r>
              <a:rPr sz="1400" b="0" dirty="0" err="1">
                <a:solidFill>
                  <a:srgbClr val="252A33"/>
                </a:solidFill>
              </a:rPr>
              <a:t>的移民平均工资的对数</a:t>
            </a:r>
            <a:r>
              <a:rPr sz="1400" b="0" dirty="0">
                <a:solidFill>
                  <a:srgbClr val="252A33"/>
                </a:solidFill>
              </a:rPr>
              <a:t>）。</a:t>
            </a:r>
            <a:endParaRPr sz="1400" b="0" dirty="0">
              <a:solidFill>
                <a:srgbClr val="252A33"/>
              </a:solidFill>
            </a:endParaRPr>
          </a:p>
          <a:p>
            <a:pPr algn="l">
              <a:lnSpc>
                <a:spcPct val="102000"/>
              </a:lnSpc>
              <a:spcAft>
                <a:spcPts val="300"/>
              </a:spcAft>
            </a:pPr>
            <a:r>
              <a:rPr sz="1400" b="0" dirty="0" err="1">
                <a:solidFill>
                  <a:srgbClr val="252A33"/>
                </a:solidFill>
              </a:rPr>
              <a:t>观测单位：一个「出发州</a:t>
            </a:r>
            <a:r>
              <a:rPr sz="1400" b="0" dirty="0">
                <a:solidFill>
                  <a:srgbClr val="252A33"/>
                </a:solidFill>
              </a:rPr>
              <a:t>—目的州」配对。来源：1990 census + 2010 </a:t>
            </a:r>
            <a:r>
              <a:rPr sz="1400" b="0" dirty="0" err="1">
                <a:solidFill>
                  <a:srgbClr val="252A33"/>
                </a:solidFill>
              </a:rPr>
              <a:t>ACS，迁移定义为跨越州界</a:t>
            </a:r>
            <a:r>
              <a:rPr sz="1400" b="0" dirty="0">
                <a:solidFill>
                  <a:srgbClr val="252A33"/>
                </a:solidFill>
              </a:rPr>
              <a:t>。</a:t>
            </a:r>
            <a:endParaRPr sz="1400" b="0" dirty="0">
              <a:solidFill>
                <a:srgbClr val="252A33"/>
              </a:solidFill>
            </a:endParaRPr>
          </a:p>
          <a:p>
            <a:pPr algn="l">
              <a:lnSpc>
                <a:spcPct val="102000"/>
              </a:lnSpc>
              <a:spcAft>
                <a:spcPts val="300"/>
              </a:spcAft>
            </a:pPr>
            <a:r>
              <a:rPr sz="1400" b="0" dirty="0" err="1">
                <a:solidFill>
                  <a:srgbClr val="252A33"/>
                </a:solidFill>
              </a:rPr>
              <a:t>标准误：论文注明「two-way clustering at the origin-year and destination-year」，四列都做了。⭐ 列(3) 只放迁移份额；列(4) 同时放距离与份额 —— 这正是事实④「同场比较」所在列，所以表中 dist 行在第三列是空的、第四列才有 −.004。各列样本不同 —— 列(1) 不要求观测到工资。</a:t>
            </a:r>
            <a:endParaRPr sz="1400" b="0" dirty="0" err="1">
              <a:solidFill>
                <a:srgbClr val="252A33"/>
              </a:solidFill>
            </a:endParaRPr>
          </a:p>
          <a:p>
            <a:pPr algn="l">
              <a:lnSpc>
                <a:spcPct val="102000"/>
              </a:lnSpc>
              <a:spcAft>
                <a:spcPts val="300"/>
              </a:spcAft>
            </a:pPr>
            <a:r>
              <a:rPr sz="1400" b="1" dirty="0">
                <a:solidFill>
                  <a:srgbClr val="1B6B45"/>
                </a:solidFill>
              </a:rPr>
              <a:t>⭐ </a:t>
            </a:r>
            <a:r>
              <a:rPr sz="1400" b="1" dirty="0" err="1">
                <a:solidFill>
                  <a:srgbClr val="1B6B45"/>
                </a:solidFill>
              </a:rPr>
              <a:t>四个事实</a:t>
            </a:r>
            <a:r>
              <a:rPr sz="1400" b="1" dirty="0">
                <a:solidFill>
                  <a:srgbClr val="1B6B45"/>
                </a:solidFill>
              </a:rPr>
              <a:t>：① </a:t>
            </a:r>
            <a:r>
              <a:rPr sz="1400" b="1" dirty="0" err="1">
                <a:solidFill>
                  <a:srgbClr val="1B6B45"/>
                </a:solidFill>
              </a:rPr>
              <a:t>距离压低迁移份额</a:t>
            </a:r>
            <a:r>
              <a:rPr sz="1400" b="1" dirty="0">
                <a:solidFill>
                  <a:srgbClr val="1B6B45"/>
                </a:solidFill>
              </a:rPr>
              <a:t>；② </a:t>
            </a:r>
            <a:r>
              <a:rPr sz="1400" b="1" dirty="0" err="1">
                <a:solidFill>
                  <a:srgbClr val="1B6B45"/>
                </a:solidFill>
              </a:rPr>
              <a:t>距离抬高目的州工资</a:t>
            </a:r>
            <a:r>
              <a:rPr sz="1400" b="1" dirty="0">
                <a:solidFill>
                  <a:srgbClr val="1B6B45"/>
                </a:solidFill>
              </a:rPr>
              <a:t>；③ </a:t>
            </a:r>
            <a:r>
              <a:rPr sz="1400" b="1" dirty="0" err="1">
                <a:solidFill>
                  <a:srgbClr val="1B6B45"/>
                </a:solidFill>
              </a:rPr>
              <a:t>迁移份额压低工资</a:t>
            </a:r>
            <a:r>
              <a:rPr sz="1400" b="1" dirty="0">
                <a:solidFill>
                  <a:srgbClr val="1B6B45"/>
                </a:solidFill>
              </a:rPr>
              <a:t>；④ </a:t>
            </a:r>
            <a:r>
              <a:rPr sz="1400" b="1" dirty="0" err="1">
                <a:solidFill>
                  <a:srgbClr val="1B6B45"/>
                </a:solidFill>
              </a:rPr>
              <a:t>含份额后距离不再显著</a:t>
            </a:r>
            <a:r>
              <a:rPr sz="1400" b="1" dirty="0">
                <a:solidFill>
                  <a:srgbClr val="1B6B45"/>
                </a:solidFill>
              </a:rPr>
              <a:t> —— </a:t>
            </a:r>
            <a:r>
              <a:rPr sz="1400" b="1" dirty="0" err="1">
                <a:solidFill>
                  <a:srgbClr val="1B6B45"/>
                </a:solidFill>
              </a:rPr>
              <a:t>工资效应由份额驱动，不是距离</a:t>
            </a:r>
            <a:r>
              <a:rPr sz="1400" b="1" dirty="0">
                <a:solidFill>
                  <a:srgbClr val="1B6B45"/>
                </a:solidFill>
              </a:rPr>
              <a:t>。</a:t>
            </a:r>
            <a:endParaRPr sz="1400" b="1" dirty="0">
              <a:solidFill>
                <a:srgbClr val="1B6B45"/>
              </a:solidFill>
            </a:endParaRPr>
          </a:p>
        </p:txBody>
      </p:sp>
      <p:sp>
        <p:nvSpPr>
          <p:cNvPr id="8" name="TextBox 7"/>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数据来源（Stata）：论文原文 full.txt 第 721–773 行；复现见 table3us_out.log。</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table3：数据与样本 —— 一个先要破的案子</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5.3</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usa_od.csv 的结构（一人一行）</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1819656"/>
        </p:xfrm>
        <a:graphic>
          <a:graphicData uri="http://schemas.openxmlformats.org/drawingml/2006/table">
            <a:tbl>
              <a:tblPr firstRow="1">
                <a:tableStyleId>{5C22544A-7EE6-4342-B048-85BDC9FD1C3A}</a:tableStyleId>
              </a:tblPr>
              <a:tblGrid>
                <a:gridCol w="2926080"/>
                <a:gridCol w="2258568"/>
                <a:gridCol w="2258568"/>
                <a:gridCol w="2249424"/>
              </a:tblGrid>
              <a:tr h="310896">
                <a:tc>
                  <a:txBody>
                    <a:bodyPr/>
                    <a:lstStyle/>
                    <a:p>
                      <a:pPr algn="l">
                        <a:lnSpc>
                          <a:spcPct val="102000"/>
                        </a:lnSpc>
                      </a:pPr>
                      <a:r>
                        <a:rPr sz="1150" b="1">
                          <a:solidFill>
                            <a:srgbClr val="FFFFFF"/>
                          </a:solidFill>
                        </a:rPr>
                        <a:t>项目</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1990 census</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2010 ACS</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合计</a:t>
                      </a:r>
                      <a:endParaRPr sz="1150" b="1">
                        <a:solidFill>
                          <a:srgbClr val="FFFFFF"/>
                        </a:solidFill>
                      </a:endParaRPr>
                    </a:p>
                  </a:txBody>
                  <a:tcPr marL="45720" marR="45720" marT="9144" marB="9144" anchor="ctr">
                    <a:solidFill>
                      <a:srgbClr val="642366"/>
                    </a:solidFill>
                  </a:tcPr>
                </a:tc>
              </a:tr>
              <a:tr h="301752">
                <a:tc>
                  <a:txBody>
                    <a:bodyPr/>
                    <a:lstStyle/>
                    <a:p>
                      <a:pPr algn="l">
                        <a:lnSpc>
                          <a:spcPct val="102000"/>
                        </a:lnSpc>
                      </a:pPr>
                      <a:r>
                        <a:rPr sz="1100" b="0">
                          <a:solidFill>
                            <a:srgbClr val="252A33"/>
                          </a:solidFill>
                        </a:rPr>
                        <a:t>全部个体</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2,007,039</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326,127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2,333,166</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跨州迁移（o ≠ d）</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784,409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134,339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918,748</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留守（o = d）</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1,222,630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191,788</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1,414,418</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跨州 (出发,目的,年) 州对</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2,542</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2,458</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5,000</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dirty="0" err="1">
                          <a:solidFill>
                            <a:srgbClr val="252A33"/>
                          </a:solidFill>
                        </a:rPr>
                        <a:t>跨州且有观测工资</a:t>
                      </a:r>
                      <a:endParaRPr sz="1100" b="0" dirty="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dirty="0">
                          <a:solidFill>
                            <a:srgbClr val="252A33"/>
                          </a:solidFill>
                        </a:rPr>
                        <a:t>846,936</a:t>
                      </a:r>
                      <a:endParaRPr sz="1100" b="0" dirty="0">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1929384" y="4037179"/>
            <a:ext cx="9692640" cy="384048"/>
          </a:xfrm>
          <a:prstGeom prst="rect">
            <a:avLst/>
          </a:prstGeom>
          <a:noFill/>
        </p:spPr>
        <p:txBody>
          <a:bodyPr wrap="square" lIns="0" tIns="0" rIns="0" bIns="0">
            <a:spAutoFit/>
          </a:bodyPr>
          <a:lstStyle/>
          <a:p>
            <a:pPr algn="l">
              <a:lnSpc>
                <a:spcPct val="102000"/>
              </a:lnSpc>
              <a:spcAft>
                <a:spcPts val="300"/>
              </a:spcAft>
            </a:pPr>
            <a:r>
              <a:rPr sz="2200" b="1" dirty="0">
                <a:solidFill>
                  <a:srgbClr val="642366"/>
                </a:solidFill>
              </a:rPr>
              <a:t>⭐ </a:t>
            </a:r>
            <a:r>
              <a:rPr sz="2200" b="1" dirty="0" err="1">
                <a:solidFill>
                  <a:srgbClr val="642366"/>
                </a:solidFill>
              </a:rPr>
              <a:t>由此定位论文的样本口径</a:t>
            </a:r>
            <a:endParaRPr sz="2200" b="1" dirty="0">
              <a:solidFill>
                <a:srgbClr val="642366"/>
              </a:solidFill>
            </a:endParaRPr>
          </a:p>
        </p:txBody>
      </p:sp>
      <p:sp>
        <p:nvSpPr>
          <p:cNvPr id="8" name="TextBox 7"/>
          <p:cNvSpPr txBox="1"/>
          <p:nvPr/>
        </p:nvSpPr>
        <p:spPr>
          <a:xfrm>
            <a:off x="2029968" y="4555046"/>
            <a:ext cx="9601200" cy="1184491"/>
          </a:xfrm>
          <a:prstGeom prst="rect">
            <a:avLst/>
          </a:prstGeom>
          <a:noFill/>
        </p:spPr>
        <p:txBody>
          <a:bodyPr wrap="square" lIns="0" tIns="0" rIns="0" bIns="0">
            <a:spAutoFit/>
          </a:bodyPr>
          <a:lstStyle/>
          <a:p>
            <a:pPr algn="l">
              <a:lnSpc>
                <a:spcPct val="102000"/>
              </a:lnSpc>
              <a:spcAft>
                <a:spcPts val="300"/>
              </a:spcAft>
            </a:pPr>
            <a:r>
              <a:rPr sz="1400" b="0" dirty="0" err="1">
                <a:solidFill>
                  <a:srgbClr val="252A33"/>
                </a:solidFill>
              </a:rPr>
              <a:t>线索一：论文报「州对</a:t>
            </a:r>
            <a:r>
              <a:rPr sz="1400" b="0" dirty="0">
                <a:solidFill>
                  <a:srgbClr val="252A33"/>
                </a:solidFill>
              </a:rPr>
              <a:t> 5,084」。</a:t>
            </a:r>
            <a:r>
              <a:rPr sz="1400" b="0" dirty="0" err="1">
                <a:solidFill>
                  <a:srgbClr val="252A33"/>
                </a:solidFill>
              </a:rPr>
              <a:t>含对角线的理论上限是</a:t>
            </a:r>
            <a:r>
              <a:rPr sz="1400" b="0" dirty="0">
                <a:solidFill>
                  <a:srgbClr val="252A33"/>
                </a:solidFill>
              </a:rPr>
              <a:t> 51×51×2 = 5,202；剔除对角线后只有 5,100。5,084 </a:t>
            </a:r>
            <a:r>
              <a:rPr sz="1400" b="0" dirty="0" err="1">
                <a:solidFill>
                  <a:srgbClr val="252A33"/>
                </a:solidFill>
              </a:rPr>
              <a:t>落在</a:t>
            </a:r>
            <a:r>
              <a:rPr sz="1400" b="0" dirty="0">
                <a:solidFill>
                  <a:srgbClr val="252A33"/>
                </a:solidFill>
              </a:rPr>
              <a:t>「</a:t>
            </a:r>
            <a:r>
              <a:rPr lang="zh-CN" altLang="en-US" sz="1400" b="0" dirty="0">
                <a:solidFill>
                  <a:srgbClr val="252A33"/>
                </a:solidFill>
              </a:rPr>
              <a:t>不</a:t>
            </a:r>
            <a:r>
              <a:rPr sz="1400" b="0" dirty="0" err="1">
                <a:solidFill>
                  <a:srgbClr val="252A33"/>
                </a:solidFill>
              </a:rPr>
              <a:t>含对角线」那一侧</a:t>
            </a:r>
            <a:r>
              <a:rPr sz="1400" b="0" dirty="0">
                <a:solidFill>
                  <a:srgbClr val="252A33"/>
                </a:solidFill>
              </a:rPr>
              <a:t>。</a:t>
            </a:r>
            <a:endParaRPr sz="1400" b="0" dirty="0">
              <a:solidFill>
                <a:srgbClr val="252A33"/>
              </a:solidFill>
            </a:endParaRPr>
          </a:p>
          <a:p>
            <a:pPr algn="l">
              <a:lnSpc>
                <a:spcPct val="102000"/>
              </a:lnSpc>
              <a:spcAft>
                <a:spcPts val="300"/>
              </a:spcAft>
            </a:pPr>
            <a:r>
              <a:rPr sz="1400" b="0" dirty="0" err="1">
                <a:solidFill>
                  <a:srgbClr val="252A33"/>
                </a:solidFill>
              </a:rPr>
              <a:t>线索二：论文报「个体数</a:t>
            </a:r>
            <a:r>
              <a:rPr sz="1400" b="0" dirty="0">
                <a:solidFill>
                  <a:srgbClr val="252A33"/>
                </a:solidFill>
              </a:rPr>
              <a:t> 2,294,054」，</a:t>
            </a:r>
            <a:r>
              <a:rPr sz="1400" b="0" dirty="0" err="1">
                <a:solidFill>
                  <a:srgbClr val="252A33"/>
                </a:solidFill>
              </a:rPr>
              <a:t>等于全样本</a:t>
            </a:r>
            <a:r>
              <a:rPr sz="1400" b="0" dirty="0">
                <a:solidFill>
                  <a:srgbClr val="252A33"/>
                </a:solidFill>
              </a:rPr>
              <a:t> 2,333,166 的 98.3%，</a:t>
            </a:r>
            <a:r>
              <a:rPr sz="1400" b="0" dirty="0" err="1">
                <a:solidFill>
                  <a:srgbClr val="252A33"/>
                </a:solidFill>
              </a:rPr>
              <a:t>而不是跨州者</a:t>
            </a:r>
            <a:r>
              <a:rPr sz="1400" b="0" dirty="0">
                <a:solidFill>
                  <a:srgbClr val="252A33"/>
                </a:solidFill>
              </a:rPr>
              <a:t> 918,748。</a:t>
            </a:r>
            <a:endParaRPr sz="1400" b="0" dirty="0">
              <a:solidFill>
                <a:srgbClr val="252A33"/>
              </a:solidFill>
            </a:endParaRPr>
          </a:p>
          <a:p>
            <a:pPr algn="l">
              <a:lnSpc>
                <a:spcPct val="102000"/>
              </a:lnSpc>
              <a:spcAft>
                <a:spcPts val="300"/>
              </a:spcAft>
            </a:pPr>
            <a:r>
              <a:rPr sz="1400" b="1" dirty="0">
                <a:solidFill>
                  <a:srgbClr val="A63A1E"/>
                </a:solidFill>
              </a:rPr>
              <a:t>⇒ 在【样本框】层面，论文把留守者也算了进去（线索二支持）；但线索一其实不能证明州内配对 —— 5,084 ≤ 5,100 说明回归本身仍只算跨州。</a:t>
            </a:r>
            <a:endParaRPr sz="1400" b="1" dirty="0">
              <a:solidFill>
                <a:srgbClr val="A63A1E"/>
              </a:solidFill>
            </a:endParaRPr>
          </a:p>
          <a:p>
            <a:pPr algn="l">
              <a:lnSpc>
                <a:spcPct val="102000"/>
              </a:lnSpc>
              <a:spcAft>
                <a:spcPts val="300"/>
              </a:spcAft>
            </a:pPr>
            <a:r>
              <a:rPr sz="1300" b="0" dirty="0">
                <a:solidFill>
                  <a:srgbClr val="606670"/>
                </a:solidFill>
              </a:rPr>
              <a:t>⚠ </a:t>
            </a:r>
            <a:r>
              <a:rPr sz="1300" b="0" dirty="0" err="1">
                <a:solidFill>
                  <a:srgbClr val="606670"/>
                </a:solidFill>
              </a:rPr>
              <a:t>但这与论文正文第</a:t>
            </a:r>
            <a:r>
              <a:rPr sz="1300" b="0" dirty="0">
                <a:solidFill>
                  <a:srgbClr val="606670"/>
                </a:solidFill>
              </a:rPr>
              <a:t> 666 </a:t>
            </a:r>
            <a:r>
              <a:rPr sz="1300" b="0" dirty="0" err="1">
                <a:solidFill>
                  <a:srgbClr val="606670"/>
                </a:solidFill>
              </a:rPr>
              <a:t>行「when</a:t>
            </a:r>
            <a:r>
              <a:rPr sz="1300" b="0" dirty="0">
                <a:solidFill>
                  <a:srgbClr val="606670"/>
                </a:solidFill>
              </a:rPr>
              <a:t> migration is defined as crossing a state </a:t>
            </a:r>
            <a:r>
              <a:rPr sz="1300" b="0" dirty="0" err="1">
                <a:solidFill>
                  <a:srgbClr val="606670"/>
                </a:solidFill>
              </a:rPr>
              <a:t>border」字面矛盾</a:t>
            </a:r>
            <a:r>
              <a:rPr sz="1300" b="0" dirty="0">
                <a:solidFill>
                  <a:srgbClr val="606670"/>
                </a:solidFill>
              </a:rPr>
              <a:t> —— </a:t>
            </a:r>
            <a:r>
              <a:rPr sz="1300" b="0" dirty="0" err="1">
                <a:solidFill>
                  <a:srgbClr val="606670"/>
                </a:solidFill>
              </a:rPr>
              <a:t>这里记录为论文内部的一个不一致</a:t>
            </a:r>
            <a:r>
              <a:rPr sz="1300" b="0" dirty="0">
                <a:solidFill>
                  <a:srgbClr val="606670"/>
                </a:solidFill>
              </a:rPr>
              <a:t>。</a:t>
            </a:r>
            <a:endParaRPr sz="1300" b="0" dirty="0">
              <a:solidFill>
                <a:srgbClr val="606670"/>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数据来源（Stata）：t3_sample_diag_out.log。</a:t>
            </a:r>
            <a:endParaRPr sz="1300" b="0">
              <a:solidFill>
                <a:srgbClr val="606670"/>
              </a:solidFill>
            </a:endParaRPr>
          </a:p>
        </p:txBody>
      </p:sp>
      <p:sp>
        <p:nvSpPr>
          <p:cNvPr id="2" name="文本框 1"/>
          <p:cNvSpPr txBox="1"/>
          <p:nvPr/>
        </p:nvSpPr>
        <p:spPr>
          <a:xfrm>
            <a:off x="2141034" y="3429000"/>
            <a:ext cx="3954966" cy="369332"/>
          </a:xfrm>
          <a:prstGeom prst="rect">
            <a:avLst/>
          </a:prstGeom>
          <a:noFill/>
        </p:spPr>
        <p:txBody>
          <a:bodyPr wrap="square" rtlCol="0">
            <a:spAutoFit/>
          </a:bodyPr>
          <a:lstStyle/>
          <a:p>
            <a:endParaRPr lang="zh-CN" altLang="en-US" dirty="0"/>
          </a:p>
        </p:txBody>
      </p:sp>
      <p:sp>
        <p:nvSpPr>
          <p:cNvPr id="13" name="Rectangle 4"/>
          <p:cNvSpPr>
            <a:spLocks noChangeArrowheads="1"/>
          </p:cNvSpPr>
          <p:nvPr/>
        </p:nvSpPr>
        <p:spPr bwMode="auto">
          <a:xfrm>
            <a:off x="0" y="0"/>
            <a:ext cx="12192000" cy="0"/>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a:ln>
                  <a:noFill/>
                </a:ln>
                <a:solidFill>
                  <a:srgbClr val="0F1115"/>
                </a:solidFill>
                <a:effectLst/>
                <a:latin typeface="Arial" panose="020B0604020202090204" pitchFamily="34" charset="0"/>
                <a:ea typeface="-apple-system"/>
              </a:rPr>
              <a:t>取 </a:t>
            </a:r>
            <a:r>
              <a:rPr kumimoji="0" lang="zh-CN" altLang="zh-CN" b="0" i="0" u="none" strike="noStrike" cap="none" normalizeH="0" baseline="0">
                <a:ln>
                  <a:noFill/>
                </a:ln>
                <a:solidFill>
                  <a:srgbClr val="0F1115"/>
                </a:solidFill>
                <a:effectLst/>
                <a:latin typeface="Arial Unicode MS" panose="020B0604020202020204" charset="-122"/>
                <a:ea typeface="SF Mono"/>
              </a:rPr>
              <a:t>o ≠ d</a:t>
            </a:r>
            <a:r>
              <a:rPr kumimoji="0" lang="zh-CN" altLang="zh-CN" sz="1000" b="0" i="0" u="none" strike="noStrike" cap="none" normalizeH="0" baseline="0">
                <a:ln>
                  <a:noFill/>
                </a:ln>
                <a:solidFill>
                  <a:srgbClr val="0F1115"/>
                </a:solidFill>
                <a:effectLst/>
                <a:ea typeface="-apple-system"/>
              </a:rPr>
              <a:t> </a:t>
            </a:r>
            <a:r>
              <a:rPr kumimoji="0" lang="zh-CN" altLang="zh-CN" sz="1000" b="0" i="0" u="none" strike="noStrike" cap="none" normalizeH="0" baseline="0">
                <a:ln>
                  <a:noFill/>
                </a:ln>
                <a:solidFill>
                  <a:srgbClr val="0F1115"/>
                </a:solidFill>
                <a:effectLst/>
                <a:latin typeface="Arial" panose="020B0604020202090204" pitchFamily="34" charset="0"/>
                <a:ea typeface="-apple-system"/>
              </a:rPr>
              <a:t>的观测，按 (出发州, 目的州, 年份) 去重计数。跨州有序配对的每年上限 = 51×50 = 2,550；1990 年实际 2,542（缺 8 对）、2010 年 2,458（缺 92 对），缺失的都是小州之间的零流量配对</a:t>
            </a:r>
            <a:r>
              <a:rPr kumimoji="0" lang="zh-CN" altLang="zh-CN" sz="800" b="0" i="0" u="none" strike="noStrike" cap="none" normalizeH="0" baseline="0">
                <a:ln>
                  <a:noFill/>
                </a:ln>
                <a:solidFill>
                  <a:schemeClr val="tx1"/>
                </a:solidFill>
                <a:effectLst/>
                <a:latin typeface="Arial" panose="020B0604020202090204" pitchFamily="34" charset="0"/>
              </a:rPr>
              <a:t> </a:t>
            </a:r>
            <a:endParaRPr kumimoji="0" lang="zh-CN" altLang="zh-CN" sz="1800" b="0" i="0" u="none" strike="noStrike" cap="none" normalizeH="0" baseline="0">
              <a:ln>
                <a:noFill/>
              </a:ln>
              <a:solidFill>
                <a:schemeClr val="tx1"/>
              </a:solidFill>
              <a:effectLst/>
              <a:latin typeface="Arial" panose="020B0604020202090204" pitchFamily="34" charset="0"/>
            </a:endParaRPr>
          </a:p>
        </p:txBody>
      </p:sp>
      <p:sp>
        <p:nvSpPr>
          <p:cNvPr id="15" name="文本框 14"/>
          <p:cNvSpPr txBox="1"/>
          <p:nvPr/>
        </p:nvSpPr>
        <p:spPr>
          <a:xfrm>
            <a:off x="1929384" y="3389083"/>
            <a:ext cx="9500838" cy="584775"/>
          </a:xfrm>
          <a:prstGeom prst="rect">
            <a:avLst/>
          </a:prstGeom>
          <a:noFill/>
        </p:spPr>
        <p:txBody>
          <a:bodyPr wrap="square">
            <a:spAutoFit/>
          </a:bodyPr>
          <a:lstStyle/>
          <a:p>
            <a:r>
              <a:rPr lang="zh-CN" altLang="en-US" sz="1600" dirty="0"/>
              <a:t>取 </a:t>
            </a:r>
            <a:r>
              <a:rPr lang="en-US" altLang="zh-CN" sz="1600" dirty="0"/>
              <a:t>o ≠ d </a:t>
            </a:r>
            <a:r>
              <a:rPr lang="zh-CN" altLang="en-US" sz="1600" dirty="0"/>
              <a:t>的观测，按 </a:t>
            </a:r>
            <a:r>
              <a:rPr lang="en-US" altLang="zh-CN" sz="1600" dirty="0"/>
              <a:t>(</a:t>
            </a:r>
            <a:r>
              <a:rPr lang="zh-CN" altLang="en-US" sz="1600" dirty="0"/>
              <a:t>出发州</a:t>
            </a:r>
            <a:r>
              <a:rPr lang="en-US" altLang="zh-CN" sz="1600" dirty="0"/>
              <a:t>, </a:t>
            </a:r>
            <a:r>
              <a:rPr lang="zh-CN" altLang="en-US" sz="1600" dirty="0"/>
              <a:t>目的州</a:t>
            </a:r>
            <a:r>
              <a:rPr lang="en-US" altLang="zh-CN" sz="1600" dirty="0"/>
              <a:t>, </a:t>
            </a:r>
            <a:r>
              <a:rPr lang="zh-CN" altLang="en-US" sz="1600" dirty="0"/>
              <a:t>年份</a:t>
            </a:r>
            <a:r>
              <a:rPr lang="en-US" altLang="zh-CN" sz="1600" dirty="0"/>
              <a:t>) </a:t>
            </a:r>
            <a:r>
              <a:rPr lang="zh-CN" altLang="en-US" sz="1600" dirty="0"/>
              <a:t>去重计数。跨州有序配对的每年上限 </a:t>
            </a:r>
            <a:r>
              <a:rPr lang="en-US" altLang="zh-CN" sz="1600" dirty="0"/>
              <a:t>= 51×50 = 2,550</a:t>
            </a:r>
            <a:r>
              <a:rPr lang="zh-CN" altLang="en-US" sz="1600" dirty="0"/>
              <a:t>；</a:t>
            </a:r>
            <a:r>
              <a:rPr lang="en-US" altLang="zh-CN" sz="1600" dirty="0"/>
              <a:t>1990 </a:t>
            </a:r>
            <a:r>
              <a:rPr lang="zh-CN" altLang="en-US" sz="1600" dirty="0"/>
              <a:t>年实际 </a:t>
            </a:r>
            <a:r>
              <a:rPr lang="en-US" altLang="zh-CN" sz="1600" dirty="0"/>
              <a:t>2,542</a:t>
            </a:r>
            <a:r>
              <a:rPr lang="zh-CN" altLang="en-US" sz="1600" dirty="0"/>
              <a:t>（缺 </a:t>
            </a:r>
            <a:r>
              <a:rPr lang="en-US" altLang="zh-CN" sz="1600" dirty="0"/>
              <a:t>8 </a:t>
            </a:r>
            <a:r>
              <a:rPr lang="zh-CN" altLang="en-US" sz="1600" dirty="0"/>
              <a:t>对）、</a:t>
            </a:r>
            <a:r>
              <a:rPr lang="en-US" altLang="zh-CN" sz="1600" dirty="0"/>
              <a:t>2010 </a:t>
            </a:r>
            <a:r>
              <a:rPr lang="zh-CN" altLang="en-US" sz="1600" dirty="0"/>
              <a:t>年 </a:t>
            </a:r>
            <a:r>
              <a:rPr lang="en-US" altLang="zh-CN" sz="1600" dirty="0"/>
              <a:t>2,458</a:t>
            </a:r>
            <a:r>
              <a:rPr lang="zh-CN" altLang="en-US" sz="1600" dirty="0"/>
              <a:t>（缺 </a:t>
            </a:r>
            <a:r>
              <a:rPr lang="en-US" altLang="zh-CN" sz="1600" dirty="0"/>
              <a:t>92 </a:t>
            </a:r>
            <a:r>
              <a:rPr lang="zh-CN" altLang="en-US" sz="1600" dirty="0"/>
              <a:t>对），缺失的都是小州之间的零流量配对</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5" grpId="0"/>
      <p:bldP spid="7" grpId="0"/>
      <p:bldP spid="8" grpId="0"/>
      <p:bldP spid="9"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table3：复现结果对照</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5.3</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主表 —— 加权按原始人数；双向聚类 origin-year / destination-year</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2415577"/>
        </p:xfrm>
        <a:graphic>
          <a:graphicData uri="http://schemas.openxmlformats.org/drawingml/2006/table">
            <a:tbl>
              <a:tblPr firstRow="1">
                <a:tableStyleId>{5C22544A-7EE6-4342-B048-85BDC9FD1C3A}</a:tableStyleId>
              </a:tblPr>
              <a:tblGrid>
                <a:gridCol w="1920240"/>
                <a:gridCol w="1554480"/>
                <a:gridCol w="1554480"/>
                <a:gridCol w="1554480"/>
                <a:gridCol w="1554480"/>
                <a:gridCol w="1554480"/>
              </a:tblGrid>
              <a:tr h="310896">
                <a:tc>
                  <a:txBody>
                    <a:bodyPr/>
                    <a:lstStyle/>
                    <a:p>
                      <a:pPr algn="l">
                        <a:lnSpc>
                          <a:spcPct val="102000"/>
                        </a:lnSpc>
                      </a:pPr>
                      <a:r>
                        <a:rPr sz="1150" b="1">
                          <a:solidFill>
                            <a:srgbClr val="FFFFFF"/>
                          </a:solidFill>
                        </a:rPr>
                        <a:t>项目</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dirty="0">
                          <a:solidFill>
                            <a:srgbClr val="FFFFFF"/>
                          </a:solidFill>
                        </a:rPr>
                        <a:t>(1) ln </a:t>
                      </a:r>
                      <a:r>
                        <a:rPr lang="el-GR" altLang="zh-CN" sz="1150" b="1" kern="1200" dirty="0">
                          <a:solidFill>
                            <a:srgbClr val="FFFFFF"/>
                          </a:solidFill>
                          <a:latin typeface="+mn-lt"/>
                          <a:ea typeface="+mn-ea"/>
                          <a:cs typeface="+mn-cs"/>
                        </a:rPr>
                        <a:t>π</a:t>
                      </a:r>
                      <a:endParaRPr sz="1150" b="1" dirty="0">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(2) ln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(3) ln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(4) ln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(4) ln w</a:t>
                      </a:r>
                      <a:endParaRPr sz="1150" b="1">
                        <a:solidFill>
                          <a:srgbClr val="FFFFFF"/>
                        </a:solidFill>
                      </a:endParaRPr>
                    </a:p>
                  </a:txBody>
                  <a:tcPr marL="45720" marR="45720" marT="9144" marB="9144" anchor="ctr">
                    <a:solidFill>
                      <a:srgbClr val="642366"/>
                    </a:solidFill>
                  </a:tcPr>
                </a:tc>
              </a:tr>
              <a:tr h="294169">
                <a:tc>
                  <a:txBody>
                    <a:bodyPr/>
                    <a:lstStyle/>
                    <a:p>
                      <a:pPr algn="l">
                        <a:lnSpc>
                          <a:spcPct val="102000"/>
                        </a:lnSpc>
                      </a:pPr>
                      <a:r>
                        <a:rPr sz="1100" b="0">
                          <a:solidFill>
                            <a:srgbClr val="252A33"/>
                          </a:solidFill>
                        </a:rPr>
                        <a:t>回归元 →</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ln_dist</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ln_dist</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ln_π</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dirty="0">
                          <a:solidFill>
                            <a:srgbClr val="252A33"/>
                          </a:solidFill>
                        </a:rPr>
                        <a:t>ln_dist</a:t>
                      </a:r>
                      <a:endParaRPr sz="1100" b="0" kern="1200" dirty="0">
                        <a:solidFill>
                          <a:srgbClr val="252A33"/>
                        </a:solidFill>
                        <a:latin typeface="+mn-lt"/>
                        <a:ea typeface="+mn-ea"/>
                        <a:cs typeface="+mn-cs"/>
                      </a:endParaRPr>
                    </a:p>
                  </a:txBody>
                  <a:tcPr marL="45720" marR="45720" marT="9144" marB="9144" anchor="ctr">
                    <a:solidFill>
                      <a:srgbClr val="FFFFFF"/>
                    </a:solidFill>
                  </a:tcPr>
                </a:tc>
                <a:tc>
                  <a:txBody>
                    <a:bodyPr/>
                    <a:lstStyle/>
                    <a:p>
                      <a:pPr algn="l">
                        <a:lnSpc>
                          <a:spcPct val="102000"/>
                        </a:lnSpc>
                      </a:pPr>
                      <a:r>
                        <a:rPr sz="1100" b="0" dirty="0">
                          <a:solidFill>
                            <a:srgbClr val="252A33"/>
                          </a:solidFill>
                        </a:rPr>
                        <a:t>ln_π</a:t>
                      </a:r>
                      <a:endParaRPr sz="1100" b="0" dirty="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本复现</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−1.1771***</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0.0302***</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−0.0309***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dirty="0">
                          <a:solidFill>
                            <a:srgbClr val="1B6B45"/>
                          </a:solidFill>
                        </a:rPr>
                        <a:t>−0.0222*</a:t>
                      </a:r>
                      <a:endParaRPr sz="1100" b="1" dirty="0">
                        <a:solidFill>
                          <a:srgbClr val="1B6B45"/>
                        </a:solidFill>
                      </a:endParaRPr>
                    </a:p>
                  </a:txBody>
                  <a:tcPr marL="45720" marR="45720" marT="9144" marB="9144" anchor="ctr">
                    <a:solidFill>
                      <a:srgbClr val="F2EEF5"/>
                    </a:solidFill>
                  </a:tcPr>
                </a:tc>
                <a:tc>
                  <a:txBody>
                    <a:bodyPr/>
                    <a:lstStyle/>
                    <a:p>
                      <a:pPr algn="l">
                        <a:lnSpc>
                          <a:spcPct val="102000"/>
                        </a:lnSpc>
                      </a:pPr>
                      <a:r>
                        <a:rPr sz="1100" b="1" dirty="0">
                          <a:solidFill>
                            <a:srgbClr val="1B6B45"/>
                          </a:solidFill>
                        </a:rPr>
                        <a:t>−0.0445***</a:t>
                      </a:r>
                      <a:endParaRPr sz="1100" b="1" dirty="0">
                        <a:solidFill>
                          <a:srgbClr val="1B6B45"/>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本复现 SE</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0.0616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0.0064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0.0043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0.0124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0.0084</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JPE 论文</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−0.553***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−0.043***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−0.004</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−0.050***</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JPE 论文 SE</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.018***</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.006***</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偏差</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A63A1E"/>
                          </a:solidFill>
                        </a:rPr>
                        <a:t>2.13 倍</a:t>
                      </a:r>
                      <a:endParaRPr sz="1100" b="1">
                        <a:solidFill>
                          <a:srgbClr val="A63A1E"/>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+31%</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−28%</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都不显著</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1">
                          <a:solidFill>
                            <a:srgbClr val="A63A1E"/>
                          </a:solidFill>
                        </a:rPr>
                        <a:t>−11%</a:t>
                      </a:r>
                      <a:endParaRPr sz="1100" b="1">
                        <a:solidFill>
                          <a:srgbClr val="A63A1E"/>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州对 N</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5,000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4,987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4,987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4,987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dirty="0">
                          <a:solidFill>
                            <a:srgbClr val="252A33"/>
                          </a:solidFill>
                        </a:rPr>
                        <a:t>4,987</a:t>
                      </a:r>
                      <a:endParaRPr sz="1100" b="0" dirty="0">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2029968" y="3949757"/>
            <a:ext cx="9601200" cy="2286000"/>
          </a:xfrm>
          <a:prstGeom prst="rect">
            <a:avLst/>
          </a:prstGeom>
          <a:noFill/>
        </p:spPr>
        <p:txBody>
          <a:bodyPr wrap="square" lIns="0" tIns="0" rIns="0" bIns="0">
            <a:spAutoFit/>
          </a:bodyPr>
          <a:lstStyle/>
          <a:p>
            <a:pPr algn="l">
              <a:lnSpc>
                <a:spcPct val="102000"/>
              </a:lnSpc>
              <a:spcAft>
                <a:spcPts val="300"/>
              </a:spcAft>
            </a:pPr>
            <a:r>
              <a:rPr sz="1400" b="1" dirty="0">
                <a:solidFill>
                  <a:srgbClr val="1B6B45"/>
                </a:solidFill>
              </a:rPr>
              <a:t>✅ 列(4)「同场比较」的份额系数 −0.0445 vs 论文 −.050，只差 11%；列(3) 只放份额时 −0.0309 vs 论文 −.043，差 28%。</a:t>
            </a:r>
            <a:endParaRPr sz="1400" b="1" dirty="0">
              <a:solidFill>
                <a:srgbClr val="1B6B45"/>
              </a:solidFill>
            </a:endParaRPr>
          </a:p>
          <a:p>
            <a:pPr algn="l">
              <a:lnSpc>
                <a:spcPct val="102000"/>
              </a:lnSpc>
              <a:spcAft>
                <a:spcPts val="300"/>
              </a:spcAft>
            </a:pPr>
            <a:r>
              <a:rPr sz="1400" b="1" dirty="0">
                <a:solidFill>
                  <a:srgbClr val="1B6B45"/>
                </a:solidFill>
              </a:rPr>
              <a:t>✅ 列(4) 同场比较里的距离系数本复现 −0.0222（SE 0.0124，t = −1.79）与论文 −0.004（SE .004）一样【5% 水平不显著】—— 事实④成立。</a:t>
            </a:r>
            <a:endParaRPr sz="1400" b="1" dirty="0">
              <a:solidFill>
                <a:srgbClr val="1B6B45"/>
              </a:solidFill>
            </a:endParaRPr>
          </a:p>
          <a:p>
            <a:pPr algn="l">
              <a:lnSpc>
                <a:spcPct val="102000"/>
              </a:lnSpc>
              <a:spcAft>
                <a:spcPts val="300"/>
              </a:spcAft>
            </a:pPr>
            <a:r>
              <a:rPr sz="1400" b="1" dirty="0">
                <a:solidFill>
                  <a:srgbClr val="1B6B45"/>
                </a:solidFill>
              </a:rPr>
              <a:t>✅ </a:t>
            </a:r>
            <a:r>
              <a:rPr sz="1400" b="1" dirty="0" err="1">
                <a:solidFill>
                  <a:srgbClr val="1B6B45"/>
                </a:solidFill>
              </a:rPr>
              <a:t>州对数</a:t>
            </a:r>
            <a:r>
              <a:rPr sz="1400" b="1" dirty="0">
                <a:solidFill>
                  <a:srgbClr val="1B6B45"/>
                </a:solidFill>
              </a:rPr>
              <a:t> 5,000 / 4,987 vs </a:t>
            </a:r>
            <a:r>
              <a:rPr sz="1400" b="1" dirty="0" err="1">
                <a:solidFill>
                  <a:srgbClr val="1B6B45"/>
                </a:solidFill>
              </a:rPr>
              <a:t>论文</a:t>
            </a:r>
            <a:r>
              <a:rPr sz="1400" b="1" dirty="0">
                <a:solidFill>
                  <a:srgbClr val="1B6B45"/>
                </a:solidFill>
              </a:rPr>
              <a:t> 5,084 / 5,076，只差 1.7%–1.8%。</a:t>
            </a:r>
            <a:endParaRPr sz="1400" b="1" dirty="0">
              <a:solidFill>
                <a:srgbClr val="1B6B45"/>
              </a:solidFill>
            </a:endParaRPr>
          </a:p>
          <a:p>
            <a:pPr algn="l">
              <a:lnSpc>
                <a:spcPct val="102000"/>
              </a:lnSpc>
              <a:spcAft>
                <a:spcPts val="300"/>
              </a:spcAft>
            </a:pPr>
            <a:r>
              <a:rPr sz="1400" b="1" dirty="0">
                <a:solidFill>
                  <a:srgbClr val="A63A1E"/>
                </a:solidFill>
              </a:rPr>
              <a:t>⚠ 列(1) 幅度差 2.13 倍、列(3) 差 28% —— 符号都对，量级没对上。下一张处理。</a:t>
            </a:r>
            <a:endParaRPr sz="1400" b="1" dirty="0">
              <a:solidFill>
                <a:srgbClr val="A63A1E"/>
              </a:solidFill>
            </a:endParaRPr>
          </a:p>
        </p:txBody>
      </p:sp>
      <p:sp>
        <p:nvSpPr>
          <p:cNvPr id="8" name="TextBox 7"/>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数据来源（Stata）：table3us_out.log（Table3US_replication.do）。</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table3：四个事实逐条判读</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5.3</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符号与显著性 —— 4 / 4 全部复现</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1564767"/>
        </p:xfrm>
        <a:graphic>
          <a:graphicData uri="http://schemas.openxmlformats.org/drawingml/2006/table">
            <a:tbl>
              <a:tblPr firstRow="1">
                <a:tableStyleId>{5C22544A-7EE6-4342-B048-85BDC9FD1C3A}</a:tableStyleId>
              </a:tblPr>
              <a:tblGrid>
                <a:gridCol w="3291840"/>
                <a:gridCol w="2011680"/>
                <a:gridCol w="2377440"/>
                <a:gridCol w="2011680"/>
              </a:tblGrid>
              <a:tr h="310896">
                <a:tc>
                  <a:txBody>
                    <a:bodyPr/>
                    <a:lstStyle/>
                    <a:p>
                      <a:pPr algn="l">
                        <a:lnSpc>
                          <a:spcPct val="102000"/>
                        </a:lnSpc>
                      </a:pPr>
                      <a:r>
                        <a:rPr sz="1150" b="1">
                          <a:solidFill>
                            <a:srgbClr val="FFFFFF"/>
                          </a:solidFill>
                        </a:rPr>
                        <a:t>事实</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论文</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本复现</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判读</a:t>
                      </a:r>
                      <a:endParaRPr sz="1150" b="1">
                        <a:solidFill>
                          <a:srgbClr val="FFFFFF"/>
                        </a:solidFill>
                      </a:endParaRPr>
                    </a:p>
                  </a:txBody>
                  <a:tcPr marL="45720" marR="45720" marT="9144" marB="9144" anchor="ctr">
                    <a:solidFill>
                      <a:srgbClr val="642366"/>
                    </a:solidFill>
                  </a:tcPr>
                </a:tc>
              </a:tr>
              <a:tr h="301752">
                <a:tc>
                  <a:txBody>
                    <a:bodyPr/>
                    <a:lstStyle/>
                    <a:p>
                      <a:pPr algn="l">
                        <a:lnSpc>
                          <a:spcPct val="102000"/>
                        </a:lnSpc>
                      </a:pPr>
                      <a:r>
                        <a:rPr sz="1100" b="0">
                          <a:solidFill>
                            <a:srgbClr val="252A33"/>
                          </a:solidFill>
                        </a:rPr>
                        <a:t>① 引力方程：距离 ↓ 迁移份额</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−.553***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−1.1771***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符号 ✓ 幅度偏大（2.13 倍）</a:t>
                      </a:r>
                      <a:endParaRPr sz="1100" b="1">
                        <a:solidFill>
                          <a:srgbClr val="A63A1E"/>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② 距离 ↑ 目的州工资</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+.023***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+0.0302***</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 同号且显著（+31%）</a:t>
                      </a:r>
                      <a:endParaRPr sz="1100" b="1">
                        <a:solidFill>
                          <a:srgbClr val="1B6B45"/>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③ 只放份额：份额 ↓ 工资</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−.043***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−0.0309***</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符号 ✓ 幅度偏小 28%</a:t>
                      </a:r>
                      <a:endParaRPr sz="1100" b="1">
                        <a:solidFill>
                          <a:srgbClr val="1B6B45"/>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④ 距离+份额同场：距离不再显著</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−.004 (.004) 不显著</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−0.0222 (.0124) t=−1.79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 同样不显著（份额 −0.0445 vs −.050）</a:t>
                      </a:r>
                      <a:endParaRPr sz="1100" b="1">
                        <a:solidFill>
                          <a:srgbClr val="1B6B45"/>
                        </a:solidFill>
                      </a:endParaRPr>
                    </a:p>
                  </a:txBody>
                  <a:tcPr marL="45720" marR="45720" marT="9144" marB="9144" anchor="ctr">
                    <a:solidFill>
                      <a:srgbClr val="F2EEF5"/>
                    </a:solidFill>
                  </a:tcPr>
                </a:tc>
              </a:tr>
            </a:tbl>
          </a:graphicData>
        </a:graphic>
      </p:graphicFrame>
      <p:sp>
        <p:nvSpPr>
          <p:cNvPr id="7" name="TextBox 6"/>
          <p:cNvSpPr txBox="1"/>
          <p:nvPr/>
        </p:nvSpPr>
        <p:spPr>
          <a:xfrm>
            <a:off x="2029968" y="3108960"/>
            <a:ext cx="9601200" cy="979435"/>
          </a:xfrm>
          <a:prstGeom prst="rect">
            <a:avLst/>
          </a:prstGeom>
          <a:noFill/>
        </p:spPr>
        <p:txBody>
          <a:bodyPr wrap="square" lIns="0" tIns="0" rIns="0" bIns="0">
            <a:spAutoFit/>
          </a:bodyPr>
          <a:lstStyle/>
          <a:p>
            <a:pPr algn="l">
              <a:lnSpc>
                <a:spcPct val="102000"/>
              </a:lnSpc>
              <a:spcAft>
                <a:spcPts val="300"/>
              </a:spcAft>
            </a:pPr>
            <a:r>
              <a:rPr sz="1400" b="1" dirty="0" err="1">
                <a:solidFill>
                  <a:srgbClr val="642366"/>
                </a:solidFill>
              </a:rPr>
              <a:t>事实④是这张表最关键的一条</a:t>
            </a:r>
            <a:r>
              <a:rPr sz="1400" b="1" dirty="0">
                <a:solidFill>
                  <a:srgbClr val="642366"/>
                </a:solidFill>
              </a:rPr>
              <a:t> —— </a:t>
            </a:r>
            <a:r>
              <a:rPr sz="1400" b="1" dirty="0" err="1">
                <a:solidFill>
                  <a:srgbClr val="642366"/>
                </a:solidFill>
              </a:rPr>
              <a:t>它是「工资效应由迁移份额驱动、不是距离」的</a:t>
            </a:r>
            <a:r>
              <a:rPr lang="zh-CN" altLang="en-US" sz="1400" b="1" dirty="0">
                <a:solidFill>
                  <a:srgbClr val="642366"/>
                </a:solidFill>
              </a:rPr>
              <a:t>竞争性解释变量的同场比较</a:t>
            </a:r>
            <a:r>
              <a:rPr sz="1400" b="1" dirty="0">
                <a:solidFill>
                  <a:srgbClr val="642366"/>
                </a:solidFill>
              </a:rPr>
              <a:t>。</a:t>
            </a:r>
            <a:endParaRPr sz="1400" b="1" dirty="0">
              <a:solidFill>
                <a:srgbClr val="642366"/>
              </a:solidFill>
            </a:endParaRPr>
          </a:p>
          <a:p>
            <a:pPr algn="l">
              <a:lnSpc>
                <a:spcPct val="102000"/>
              </a:lnSpc>
              <a:spcAft>
                <a:spcPts val="300"/>
              </a:spcAft>
            </a:pPr>
            <a:r>
              <a:rPr sz="1400" b="0" dirty="0" err="1">
                <a:solidFill>
                  <a:srgbClr val="252A33"/>
                </a:solidFill>
              </a:rPr>
              <a:t>论文里含份额后距离系数掉到</a:t>
            </a:r>
            <a:r>
              <a:rPr sz="1400" b="0" dirty="0">
                <a:solidFill>
                  <a:srgbClr val="252A33"/>
                </a:solidFill>
              </a:rPr>
              <a:t> −.004 </a:t>
            </a:r>
            <a:r>
              <a:rPr sz="1400" b="0" dirty="0" err="1">
                <a:solidFill>
                  <a:srgbClr val="252A33"/>
                </a:solidFill>
              </a:rPr>
              <a:t>且不显著；本复现掉到</a:t>
            </a:r>
            <a:r>
              <a:rPr sz="1400" b="0" dirty="0">
                <a:solidFill>
                  <a:srgbClr val="252A33"/>
                </a:solidFill>
              </a:rPr>
              <a:t> −0.0222、t = −1.79、p = 0.076，同样不显著 ✓</a:t>
            </a:r>
            <a:endParaRPr sz="1400" b="0" dirty="0">
              <a:solidFill>
                <a:srgbClr val="252A33"/>
              </a:solidFill>
            </a:endParaRPr>
          </a:p>
          <a:p>
            <a:pPr algn="l">
              <a:lnSpc>
                <a:spcPct val="102000"/>
              </a:lnSpc>
              <a:spcAft>
                <a:spcPts val="300"/>
              </a:spcAft>
            </a:pPr>
            <a:r>
              <a:rPr sz="1400" b="1" dirty="0">
                <a:solidFill>
                  <a:srgbClr val="1B6B45"/>
                </a:solidFill>
              </a:rPr>
              <a:t>⇒ </a:t>
            </a:r>
            <a:r>
              <a:rPr sz="1400" b="1" dirty="0" err="1">
                <a:solidFill>
                  <a:srgbClr val="1B6B45"/>
                </a:solidFill>
              </a:rPr>
              <a:t>两个自变量一起放进去时，距离的解释力被份额吸走</a:t>
            </a:r>
            <a:r>
              <a:rPr sz="1400" b="1" dirty="0">
                <a:solidFill>
                  <a:srgbClr val="1B6B45"/>
                </a:solidFill>
              </a:rPr>
              <a:t> —— </a:t>
            </a:r>
            <a:r>
              <a:rPr sz="1400" b="1" dirty="0" err="1">
                <a:solidFill>
                  <a:srgbClr val="1B6B45"/>
                </a:solidFill>
              </a:rPr>
              <a:t>这个结构性结论在复现里完整保留</a:t>
            </a:r>
            <a:r>
              <a:rPr sz="1400" b="1" dirty="0">
                <a:solidFill>
                  <a:srgbClr val="1B6B45"/>
                </a:solidFill>
              </a:rPr>
              <a:t>。</a:t>
            </a:r>
            <a:endParaRPr sz="1400" b="1" dirty="0">
              <a:solidFill>
                <a:srgbClr val="1B6B45"/>
              </a:solidFill>
            </a:endParaRPr>
          </a:p>
          <a:p>
            <a:pPr algn="l">
              <a:lnSpc>
                <a:spcPct val="102000"/>
              </a:lnSpc>
              <a:spcAft>
                <a:spcPts val="300"/>
              </a:spcAft>
            </a:pPr>
            <a:r>
              <a:rPr sz="1400" b="1" dirty="0">
                <a:solidFill>
                  <a:srgbClr val="A63A1E"/>
                </a:solidFill>
              </a:rPr>
              <a:t>⚠ 只剩列(1) 的幅度（2.13 倍）和列(3) 的幅度（28%）没对上，符号方向全部正确。</a:t>
            </a:r>
            <a:endParaRPr sz="1400" b="1" dirty="0">
              <a:solidFill>
                <a:srgbClr val="A63A1E"/>
              </a:solidFill>
            </a:endParaRPr>
          </a:p>
        </p:txBody>
      </p:sp>
      <p:sp>
        <p:nvSpPr>
          <p:cNvPr id="8" name="TextBox 7"/>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数据来源（Stata）：table3us_out.log 第 5 节「四个事实」。</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table3：加权是必需的 —— 三种加权对比</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5.3</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同样五个系数，只换加权方式</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1819656"/>
        </p:xfrm>
        <a:graphic>
          <a:graphicData uri="http://schemas.openxmlformats.org/drawingml/2006/table">
            <a:tbl>
              <a:tblPr firstRow="1">
                <a:tableStyleId>{5C22544A-7EE6-4342-B048-85BDC9FD1C3A}</a:tableStyleId>
              </a:tblPr>
              <a:tblGrid>
                <a:gridCol w="2377440"/>
                <a:gridCol w="1463040"/>
                <a:gridCol w="1463040"/>
                <a:gridCol w="1463040"/>
                <a:gridCol w="1463040"/>
                <a:gridCol w="1463040"/>
              </a:tblGrid>
              <a:tr h="310896">
                <a:tc>
                  <a:txBody>
                    <a:bodyPr/>
                    <a:lstStyle/>
                    <a:p>
                      <a:pPr algn="l">
                        <a:lnSpc>
                          <a:spcPct val="102000"/>
                        </a:lnSpc>
                      </a:pPr>
                      <a:r>
                        <a:rPr sz="1150" b="1">
                          <a:solidFill>
                            <a:srgbClr val="FFFFFF"/>
                          </a:solidFill>
                        </a:rPr>
                        <a:t>加权方式</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dirty="0">
                          <a:solidFill>
                            <a:srgbClr val="FFFFFF"/>
                          </a:solidFill>
                        </a:rPr>
                        <a:t>(1) ln </a:t>
                      </a:r>
                      <a:r>
                        <a:rPr lang="el-GR" altLang="zh-CN" sz="1150" b="1" kern="1200" dirty="0">
                          <a:solidFill>
                            <a:srgbClr val="FFFFFF"/>
                          </a:solidFill>
                          <a:latin typeface="+mn-lt"/>
                          <a:ea typeface="+mn-ea"/>
                          <a:cs typeface="+mn-cs"/>
                        </a:rPr>
                        <a:t>π</a:t>
                      </a:r>
                      <a:endParaRPr sz="1150" b="1" dirty="0">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(2) ln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(3) ln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(4) ln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(4) ln w</a:t>
                      </a:r>
                      <a:endParaRPr sz="1150" b="1">
                        <a:solidFill>
                          <a:srgbClr val="FFFFFF"/>
                        </a:solidFill>
                      </a:endParaRPr>
                    </a:p>
                  </a:txBody>
                  <a:tcPr marL="45720" marR="45720" marT="9144" marB="9144" anchor="ctr">
                    <a:solidFill>
                      <a:srgbClr val="642366"/>
                    </a:solidFill>
                  </a:tcPr>
                </a:tc>
              </a:tr>
              <a:tr h="301752">
                <a:tc>
                  <a:txBody>
                    <a:bodyPr/>
                    <a:lstStyle/>
                    <a:p>
                      <a:pPr algn="l">
                        <a:lnSpc>
                          <a:spcPct val="102000"/>
                        </a:lnSpc>
                      </a:pPr>
                      <a:r>
                        <a:rPr sz="1100" b="0">
                          <a:solidFill>
                            <a:srgbClr val="252A33"/>
                          </a:solidFill>
                        </a:rPr>
                        <a:t>回归元 →</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ln_dist</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ln_dist</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ln_p</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ln_dist</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ln_p</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JPE 论文</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−0.553***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−0.043***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−0.004</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−0.050***</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人口权重和 m_od</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−1.1461***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0.0299***</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−0.0299***</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−0.0152</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−0.0394***</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原始人数 n_od ✓</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−1.1771***</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0.0302***</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−0.0309***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−0.0222*</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−0.0445***</a:t>
                      </a:r>
                      <a:endParaRPr sz="1100" b="1">
                        <a:solidFill>
                          <a:srgbClr val="1B6B45"/>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不加权（州对等权）</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−1.2378***</a:t>
                      </a:r>
                      <a:endParaRPr sz="1100" b="1">
                        <a:solidFill>
                          <a:srgbClr val="A63A1E"/>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0.0037</a:t>
                      </a:r>
                      <a:endParaRPr sz="1100" b="1">
                        <a:solidFill>
                          <a:srgbClr val="A63A1E"/>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−0.0010</a:t>
                      </a:r>
                      <a:endParaRPr sz="1100" b="1">
                        <a:solidFill>
                          <a:srgbClr val="A63A1E"/>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+0.0076</a:t>
                      </a:r>
                      <a:endParaRPr sz="1100" b="1">
                        <a:solidFill>
                          <a:srgbClr val="A63A1E"/>
                        </a:solidFill>
                      </a:endParaRPr>
                    </a:p>
                  </a:txBody>
                  <a:tcPr marL="45720" marR="45720" marT="9144" marB="9144" anchor="ctr">
                    <a:solidFill>
                      <a:srgbClr val="FFFFFF"/>
                    </a:solidFill>
                  </a:tcPr>
                </a:tc>
                <a:tc>
                  <a:txBody>
                    <a:bodyPr/>
                    <a:lstStyle/>
                    <a:p>
                      <a:pPr algn="l">
                        <a:lnSpc>
                          <a:spcPct val="102000"/>
                        </a:lnSpc>
                      </a:pPr>
                      <a:r>
                        <a:rPr sz="1100" b="1" dirty="0">
                          <a:solidFill>
                            <a:srgbClr val="A63A1E"/>
                          </a:solidFill>
                        </a:rPr>
                        <a:t>+0.0032</a:t>
                      </a:r>
                      <a:endParaRPr sz="1100" b="1" dirty="0">
                        <a:solidFill>
                          <a:srgbClr val="A63A1E"/>
                        </a:solidFill>
                      </a:endParaRPr>
                    </a:p>
                  </a:txBody>
                  <a:tcPr marL="45720" marR="45720" marT="9144" marB="9144" anchor="ctr">
                    <a:solidFill>
                      <a:srgbClr val="FFFFFF"/>
                    </a:solidFill>
                  </a:tcPr>
                </a:tc>
              </a:tr>
            </a:tbl>
          </a:graphicData>
        </a:graphic>
      </p:graphicFrame>
      <p:sp>
        <p:nvSpPr>
          <p:cNvPr id="7" name="TextBox 6"/>
          <p:cNvSpPr txBox="1"/>
          <p:nvPr/>
        </p:nvSpPr>
        <p:spPr>
          <a:xfrm>
            <a:off x="1929384" y="3364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 结论：加权是复现的前提</a:t>
            </a:r>
            <a:endParaRPr sz="2200" b="1">
              <a:solidFill>
                <a:srgbClr val="642366"/>
              </a:solidFill>
            </a:endParaRPr>
          </a:p>
        </p:txBody>
      </p:sp>
      <p:sp>
        <p:nvSpPr>
          <p:cNvPr id="8" name="TextBox 7"/>
          <p:cNvSpPr txBox="1"/>
          <p:nvPr/>
        </p:nvSpPr>
        <p:spPr>
          <a:xfrm>
            <a:off x="2029968" y="3749039"/>
            <a:ext cx="9601200" cy="2286000"/>
          </a:xfrm>
          <a:prstGeom prst="rect">
            <a:avLst/>
          </a:prstGeom>
          <a:noFill/>
        </p:spPr>
        <p:txBody>
          <a:bodyPr wrap="square" lIns="0" tIns="0" rIns="0" bIns="0">
            <a:spAutoFit/>
          </a:bodyPr>
          <a:lstStyle/>
          <a:p>
            <a:pPr algn="l">
              <a:lnSpc>
                <a:spcPct val="102000"/>
              </a:lnSpc>
              <a:spcAft>
                <a:spcPts val="300"/>
              </a:spcAft>
            </a:pPr>
            <a:r>
              <a:rPr sz="1400" b="1" dirty="0" err="1">
                <a:solidFill>
                  <a:srgbClr val="A63A1E"/>
                </a:solidFill>
              </a:rPr>
              <a:t>不加权时，列(3) 的份额系数变成 −0.0010、列(4) 同场比较的份额系数变成 +0.0032 —— 不但量级没了，【符号直接反了】。</a:t>
            </a:r>
            <a:endParaRPr sz="1400" b="1" dirty="0" err="1">
              <a:solidFill>
                <a:srgbClr val="A63A1E"/>
              </a:solidFill>
            </a:endParaRPr>
          </a:p>
          <a:p>
            <a:pPr algn="l">
              <a:lnSpc>
                <a:spcPct val="102000"/>
              </a:lnSpc>
              <a:spcAft>
                <a:spcPts val="300"/>
              </a:spcAft>
            </a:pPr>
            <a:r>
              <a:rPr sz="1400" b="0" dirty="0" err="1">
                <a:solidFill>
                  <a:srgbClr val="252A33"/>
                </a:solidFill>
              </a:rPr>
              <a:t>也就是说：如果按州对等权跑，事实</a:t>
            </a:r>
            <a:r>
              <a:rPr sz="1400" b="0" dirty="0">
                <a:solidFill>
                  <a:srgbClr val="252A33"/>
                </a:solidFill>
              </a:rPr>
              <a:t>③「</a:t>
            </a:r>
            <a:r>
              <a:rPr sz="1400" b="0" dirty="0" err="1">
                <a:solidFill>
                  <a:srgbClr val="252A33"/>
                </a:solidFill>
              </a:rPr>
              <a:t>迁移份额压低工资」和事实</a:t>
            </a:r>
            <a:r>
              <a:rPr sz="1400" b="0" dirty="0">
                <a:solidFill>
                  <a:srgbClr val="252A33"/>
                </a:solidFill>
              </a:rPr>
              <a:t>④「</a:t>
            </a:r>
            <a:r>
              <a:rPr sz="1400" b="0" dirty="0" err="1">
                <a:solidFill>
                  <a:srgbClr val="252A33"/>
                </a:solidFill>
              </a:rPr>
              <a:t>份额驱动而非距离」会【完全消失</a:t>
            </a:r>
            <a:r>
              <a:rPr sz="1400" b="0" dirty="0">
                <a:solidFill>
                  <a:srgbClr val="252A33"/>
                </a:solidFill>
              </a:rPr>
              <a:t>】。</a:t>
            </a:r>
            <a:endParaRPr sz="1400" b="0" dirty="0">
              <a:solidFill>
                <a:srgbClr val="252A33"/>
              </a:solidFill>
            </a:endParaRPr>
          </a:p>
          <a:p>
            <a:pPr algn="l">
              <a:lnSpc>
                <a:spcPct val="102000"/>
              </a:lnSpc>
              <a:spcAft>
                <a:spcPts val="300"/>
              </a:spcAft>
            </a:pPr>
            <a:r>
              <a:rPr sz="1400" b="0" dirty="0" err="1">
                <a:solidFill>
                  <a:srgbClr val="252A33"/>
                </a:solidFill>
              </a:rPr>
              <a:t>按原始人数 n_od 加权时，列(4) 同场比较的份额系数 −0.0445 最接近论文 −.050（差 11%）；按人口权重和 m_od 加权次之（−0.0394，差 21%）。　m_od = 人口权重和（抵消 1990 普查与 2010 ACS 的抽样率差异）；n_od = 实际人数（单元格均值的样本量）—— 两者估计目标不同。</a:t>
            </a:r>
            <a:endParaRPr sz="1400" b="0" dirty="0" err="1">
              <a:solidFill>
                <a:srgbClr val="252A33"/>
              </a:solidFill>
            </a:endParaRPr>
          </a:p>
          <a:p>
            <a:pPr algn="l">
              <a:lnSpc>
                <a:spcPct val="102000"/>
              </a:lnSpc>
              <a:spcAft>
                <a:spcPts val="300"/>
              </a:spcAft>
            </a:pPr>
            <a:r>
              <a:rPr sz="1400" b="1" dirty="0">
                <a:solidFill>
                  <a:srgbClr val="1B6B45"/>
                </a:solidFill>
              </a:rPr>
              <a:t>⇒ 论文【未交代加权方式】，本复现无法确定它的口径，故两种都列。关键点：m_od 与 n_od 都完整复现了四个事实（份额系数均显著为负），差别只在幅度；真正致命的是不加权。所以「四个事实全部复现」这一主结论对加权方式稳健。</a:t>
            </a:r>
            <a:endParaRPr sz="1400" b="1" dirty="0">
              <a:solidFill>
                <a:srgbClr val="1B6B45"/>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数据来源（Stata）：table3us_out.log 第 6 节 (0)。</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table3：列(1) 那 2.13 倍 —— 一个假设被排除</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5.3</a:t>
            </a:r>
            <a:endParaRPr lang="zh-CN" altLang="en-US" b="1" dirty="0">
              <a:solidFill>
                <a:schemeClr val="bg1"/>
              </a:solidFill>
            </a:endParaRPr>
          </a:p>
        </p:txBody>
      </p:sp>
      <p:sp>
        <p:nvSpPr>
          <p:cNvPr id="5" name="TextBox 4"/>
          <p:cNvSpPr txBox="1"/>
          <p:nvPr/>
        </p:nvSpPr>
        <p:spPr>
          <a:xfrm>
            <a:off x="1929384" y="1051560"/>
            <a:ext cx="9692640" cy="321755"/>
          </a:xfrm>
          <a:prstGeom prst="rect">
            <a:avLst/>
          </a:prstGeom>
          <a:noFill/>
        </p:spPr>
        <p:txBody>
          <a:bodyPr wrap="square" lIns="0" tIns="0" rIns="0" bIns="0">
            <a:spAutoFit/>
          </a:bodyPr>
          <a:lstStyle/>
          <a:p>
            <a:pPr algn="l">
              <a:lnSpc>
                <a:spcPct val="102000"/>
              </a:lnSpc>
              <a:spcAft>
                <a:spcPts val="300"/>
              </a:spcAft>
            </a:pPr>
            <a:r>
              <a:rPr sz="2200" b="1" dirty="0" err="1">
                <a:solidFill>
                  <a:srgbClr val="642366"/>
                </a:solidFill>
              </a:rPr>
              <a:t>检验：列</a:t>
            </a:r>
            <a:r>
              <a:rPr sz="2200" b="1" dirty="0">
                <a:solidFill>
                  <a:srgbClr val="642366"/>
                </a:solidFill>
              </a:rPr>
              <a:t>(1) 的 </a:t>
            </a:r>
            <a:r>
              <a:rPr lang="el-GR" altLang="zh-CN" sz="2200" b="1" dirty="0">
                <a:solidFill>
                  <a:srgbClr val="642366"/>
                </a:solidFill>
              </a:rPr>
              <a:t>π</a:t>
            </a:r>
            <a:r>
              <a:rPr sz="2200" b="1" dirty="0">
                <a:solidFill>
                  <a:srgbClr val="642366"/>
                </a:solidFill>
              </a:rPr>
              <a:t>_od </a:t>
            </a:r>
            <a:r>
              <a:rPr sz="2200" b="1" dirty="0" err="1">
                <a:solidFill>
                  <a:srgbClr val="642366"/>
                </a:solidFill>
              </a:rPr>
              <a:t>到底除以谁的入口</a:t>
            </a:r>
            <a:r>
              <a:rPr sz="2200" b="1" dirty="0">
                <a:solidFill>
                  <a:srgbClr val="642366"/>
                </a:solidFill>
              </a:rPr>
              <a:t>？</a:t>
            </a:r>
            <a:endParaRPr sz="2200" b="1" dirty="0">
              <a:solidFill>
                <a:srgbClr val="642366"/>
              </a:solidFill>
            </a:endParaRPr>
          </a:p>
        </p:txBody>
      </p:sp>
      <p:graphicFrame>
        <p:nvGraphicFramePr>
          <p:cNvPr id="6" name="Table 5"/>
          <p:cNvGraphicFramePr>
            <a:graphicFrameLocks noGrp="1"/>
          </p:cNvGraphicFramePr>
          <p:nvPr/>
        </p:nvGraphicFramePr>
        <p:xfrm>
          <a:off x="1929384" y="1435608"/>
          <a:ext cx="9692640" cy="1819656"/>
        </p:xfrm>
        <a:graphic>
          <a:graphicData uri="http://schemas.openxmlformats.org/drawingml/2006/table">
            <a:tbl>
              <a:tblPr firstRow="1">
                <a:tableStyleId>{5C22544A-7EE6-4342-B048-85BDC9FD1C3A}</a:tableStyleId>
              </a:tblPr>
              <a:tblGrid>
                <a:gridCol w="3657600"/>
                <a:gridCol w="1737360"/>
                <a:gridCol w="4297680"/>
              </a:tblGrid>
              <a:tr h="310896">
                <a:tc>
                  <a:txBody>
                    <a:bodyPr/>
                    <a:lstStyle/>
                    <a:p>
                      <a:pPr algn="l">
                        <a:lnSpc>
                          <a:spcPct val="102000"/>
                        </a:lnSpc>
                      </a:pPr>
                      <a:r>
                        <a:rPr sz="1150" b="1">
                          <a:solidFill>
                            <a:srgbClr val="FFFFFF"/>
                          </a:solidFill>
                        </a:rPr>
                        <a:t>列(1) 的分母口径</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系数 (ln_dist)</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说明</a:t>
                      </a:r>
                      <a:endParaRPr sz="1150" b="1">
                        <a:solidFill>
                          <a:srgbClr val="FFFFFF"/>
                        </a:solidFill>
                      </a:endParaRPr>
                    </a:p>
                  </a:txBody>
                  <a:tcPr marL="45720" marR="45720" marT="9144" marB="9144" anchor="ctr">
                    <a:solidFill>
                      <a:srgbClr val="642366"/>
                    </a:solidFill>
                  </a:tcPr>
                </a:tc>
              </a:tr>
              <a:tr h="301752">
                <a:tc>
                  <a:txBody>
                    <a:bodyPr/>
                    <a:lstStyle/>
                    <a:p>
                      <a:pPr algn="l">
                        <a:lnSpc>
                          <a:spcPct val="102000"/>
                        </a:lnSpc>
                      </a:pPr>
                      <a:r>
                        <a:rPr sz="1100" b="0">
                          <a:solidFill>
                            <a:srgbClr val="252A33"/>
                          </a:solidFill>
                        </a:rPr>
                        <a:t>m_od / 出发州人口 pop_o</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−1.1771***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本复现主口径</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m_od / 目的州人口 m_in_d</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−1.1771***</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完全一样</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m_od / 全国人口 pop_all</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−1.1771***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完全一样</a:t>
                      </a:r>
                      <a:endParaRPr sz="1100" b="0">
                        <a:solidFill>
                          <a:srgbClr val="252A33"/>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m_od（原始流量，不除）</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−1.1771***</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完全一样</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JPE 论文</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−0.553***</a:t>
                      </a:r>
                      <a:endParaRPr sz="1100" b="1">
                        <a:solidFill>
                          <a:srgbClr val="A63A1E"/>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差 2.13 倍</a:t>
                      </a:r>
                      <a:endParaRPr sz="1100" b="1">
                        <a:solidFill>
                          <a:srgbClr val="A63A1E"/>
                        </a:solidFill>
                      </a:endParaRPr>
                    </a:p>
                  </a:txBody>
                  <a:tcPr marL="45720" marR="45720" marT="9144" marB="9144" anchor="ctr">
                    <a:solidFill>
                      <a:srgbClr val="FFFFFF"/>
                    </a:solidFill>
                  </a:tcPr>
                </a:tc>
              </a:tr>
            </a:tbl>
          </a:graphicData>
        </a:graphic>
      </p:graphicFrame>
      <p:sp>
        <p:nvSpPr>
          <p:cNvPr id="7" name="TextBox 6"/>
          <p:cNvSpPr txBox="1"/>
          <p:nvPr/>
        </p:nvSpPr>
        <p:spPr>
          <a:xfrm>
            <a:off x="1929384" y="3364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为什么四种分母给出完全相同的系数？</a:t>
            </a:r>
            <a:endParaRPr sz="2200" b="1">
              <a:solidFill>
                <a:srgbClr val="642366"/>
              </a:solidFill>
            </a:endParaRPr>
          </a:p>
        </p:txBody>
      </p:sp>
      <p:sp>
        <p:nvSpPr>
          <p:cNvPr id="8" name="TextBox 7"/>
          <p:cNvSpPr txBox="1"/>
          <p:nvPr/>
        </p:nvSpPr>
        <p:spPr>
          <a:xfrm>
            <a:off x="2029968" y="3749039"/>
            <a:ext cx="9601200" cy="2286000"/>
          </a:xfrm>
          <a:prstGeom prst="rect">
            <a:avLst/>
          </a:prstGeom>
          <a:noFill/>
        </p:spPr>
        <p:txBody>
          <a:bodyPr wrap="square" lIns="0" tIns="0" rIns="0" bIns="0">
            <a:spAutoFit/>
          </a:bodyPr>
          <a:lstStyle/>
          <a:p>
            <a:pPr algn="l">
              <a:lnSpc>
                <a:spcPct val="102000"/>
              </a:lnSpc>
              <a:spcAft>
                <a:spcPts val="300"/>
              </a:spcAft>
            </a:pPr>
            <a:r>
              <a:rPr sz="1400" b="0">
                <a:solidFill>
                  <a:srgbClr val="252A33"/>
                </a:solidFill>
              </a:rPr>
              <a:t>ln(m_od / pop_o) = ln m_od − ln pop_o，而 pop_o 只随 (出发州, 年份) 变化 —— 被「出发地×年」固定效应【完全吸收】。</a:t>
            </a:r>
            <a:endParaRPr sz="1400" b="0">
              <a:solidFill>
                <a:srgbClr val="252A33"/>
              </a:solidFill>
            </a:endParaRPr>
          </a:p>
          <a:p>
            <a:pPr algn="l">
              <a:lnSpc>
                <a:spcPct val="102000"/>
              </a:lnSpc>
              <a:spcAft>
                <a:spcPts val="300"/>
              </a:spcAft>
            </a:pPr>
            <a:r>
              <a:rPr sz="1400" b="0">
                <a:solidFill>
                  <a:srgbClr val="252A33"/>
                </a:solidFill>
              </a:rPr>
              <a:t>同理 pop_d 被「目的地×年」吸收，pop_all 被年份吸收。⇒ 换分母对这个系数毫无影响。</a:t>
            </a:r>
            <a:endParaRPr sz="1400" b="0">
              <a:solidFill>
                <a:srgbClr val="252A33"/>
              </a:solidFill>
            </a:endParaRPr>
          </a:p>
          <a:p>
            <a:pPr algn="l">
              <a:lnSpc>
                <a:spcPct val="102000"/>
              </a:lnSpc>
              <a:spcAft>
                <a:spcPts val="300"/>
              </a:spcAft>
            </a:pPr>
            <a:r>
              <a:rPr sz="1400" b="1">
                <a:solidFill>
                  <a:srgbClr val="1B6B45"/>
                </a:solidFill>
              </a:rPr>
              <a:t>⇒ 分母口径不是差距来源，这个假设被干净地排除。</a:t>
            </a:r>
            <a:endParaRPr sz="1400" b="1">
              <a:solidFill>
                <a:srgbClr val="1B6B45"/>
              </a:solidFill>
            </a:endParaRPr>
          </a:p>
          <a:p>
            <a:pPr algn="l">
              <a:lnSpc>
                <a:spcPct val="102000"/>
              </a:lnSpc>
              <a:spcAft>
                <a:spcPts val="300"/>
              </a:spcAft>
            </a:pPr>
            <a:r>
              <a:rPr sz="1400" b="1">
                <a:solidFill>
                  <a:srgbClr val="642366"/>
                </a:solidFill>
              </a:rPr>
              <a:t>⭐ 副产品：在这套固定效应下，ln p_odt 与 ln m_od 是【等价】回归元 —— 意味着份额的分母根本不进入识别。</a:t>
            </a:r>
            <a:endParaRPr sz="1400" b="1">
              <a:solidFill>
                <a:srgbClr val="642366"/>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数据来源（Stata）：table3us_out.log 第 3b 节「分母口径检验」。</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table3：稳健性 —— 分年与标准误</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5.3</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分年复现</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1216152"/>
        </p:xfrm>
        <a:graphic>
          <a:graphicData uri="http://schemas.openxmlformats.org/drawingml/2006/table">
            <a:tbl>
              <a:tblPr firstRow="1">
                <a:tableStyleId>{5C22544A-7EE6-4342-B048-85BDC9FD1C3A}</a:tableStyleId>
              </a:tblPr>
              <a:tblGrid>
                <a:gridCol w="2377440"/>
                <a:gridCol w="1188720"/>
                <a:gridCol w="1554480"/>
                <a:gridCol w="1554480"/>
                <a:gridCol w="1554480"/>
                <a:gridCol w="1463040"/>
              </a:tblGrid>
              <a:tr h="310896">
                <a:tc>
                  <a:txBody>
                    <a:bodyPr/>
                    <a:lstStyle/>
                    <a:p>
                      <a:pPr algn="l">
                        <a:lnSpc>
                          <a:spcPct val="102000"/>
                        </a:lnSpc>
                      </a:pPr>
                      <a:r>
                        <a:rPr sz="1150" b="1">
                          <a:solidFill>
                            <a:srgbClr val="FFFFFF"/>
                          </a:solidFill>
                        </a:rPr>
                        <a:t>样本</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州对</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dirty="0">
                          <a:solidFill>
                            <a:srgbClr val="FFFFFF"/>
                          </a:solidFill>
                        </a:rPr>
                        <a:t>(1) ln </a:t>
                      </a:r>
                      <a:r>
                        <a:rPr lang="el-GR" altLang="zh-CN" sz="1150" b="1" kern="1200" dirty="0">
                          <a:solidFill>
                            <a:srgbClr val="FFFFFF"/>
                          </a:solidFill>
                          <a:latin typeface="+mn-lt"/>
                          <a:ea typeface="+mn-ea"/>
                          <a:cs typeface="+mn-cs"/>
                        </a:rPr>
                        <a:t>π</a:t>
                      </a:r>
                      <a:endParaRPr sz="1150" b="1" dirty="0">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(2) ln w</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(4) ln_dist</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dirty="0">
                          <a:solidFill>
                            <a:srgbClr val="FFFFFF"/>
                          </a:solidFill>
                        </a:rPr>
                        <a:t>(4) ln_</a:t>
                      </a:r>
                      <a:r>
                        <a:rPr lang="el-GR" altLang="zh-CN" sz="1150" b="1" kern="1200" dirty="0">
                          <a:solidFill>
                            <a:srgbClr val="FFFFFF"/>
                          </a:solidFill>
                          <a:latin typeface="+mn-lt"/>
                          <a:ea typeface="+mn-ea"/>
                          <a:cs typeface="+mn-cs"/>
                        </a:rPr>
                        <a:t>π</a:t>
                      </a:r>
                      <a:endParaRPr sz="1150" b="1" dirty="0">
                        <a:solidFill>
                          <a:srgbClr val="FFFFFF"/>
                        </a:solidFill>
                      </a:endParaRPr>
                    </a:p>
                  </a:txBody>
                  <a:tcPr marL="45720" marR="45720" marT="9144" marB="9144" anchor="ctr">
                    <a:solidFill>
                      <a:srgbClr val="642366"/>
                    </a:solidFill>
                  </a:tcPr>
                </a:tc>
              </a:tr>
              <a:tr h="301752">
                <a:tc>
                  <a:txBody>
                    <a:bodyPr/>
                    <a:lstStyle/>
                    <a:p>
                      <a:pPr algn="l">
                        <a:lnSpc>
                          <a:spcPct val="102000"/>
                        </a:lnSpc>
                      </a:pPr>
                      <a:r>
                        <a:rPr sz="1100" b="0">
                          <a:solidFill>
                            <a:srgbClr val="252A33"/>
                          </a:solidFill>
                        </a:rPr>
                        <a:t>1990 census</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2,542</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−1.1916***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0.0292***</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−0.0271*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−0.0473***</a:t>
                      </a:r>
                      <a:endParaRPr sz="1100" b="1">
                        <a:solidFill>
                          <a:srgbClr val="1B6B45"/>
                        </a:solidFill>
                      </a:endParaRPr>
                    </a:p>
                  </a:txBody>
                  <a:tcPr marL="45720" marR="45720" marT="9144" marB="9144" anchor="ctr">
                    <a:solidFill>
                      <a:srgbClr val="FFFFFF"/>
                    </a:solidFill>
                  </a:tcPr>
                </a:tc>
              </a:tr>
              <a:tr h="301752">
                <a:tc>
                  <a:txBody>
                    <a:bodyPr/>
                    <a:lstStyle/>
                    <a:p>
                      <a:pPr algn="l">
                        <a:lnSpc>
                          <a:spcPct val="102000"/>
                        </a:lnSpc>
                      </a:pPr>
                      <a:r>
                        <a:rPr sz="1100" b="0">
                          <a:solidFill>
                            <a:srgbClr val="252A33"/>
                          </a:solidFill>
                        </a:rPr>
                        <a:t>2010 ACS</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2,458</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−1.1000***</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0.0351***</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+0.0025</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−0.0296**</a:t>
                      </a:r>
                      <a:endParaRPr sz="1100" b="0">
                        <a:solidFill>
                          <a:srgbClr val="252A33"/>
                        </a:solidFill>
                      </a:endParaRPr>
                    </a:p>
                  </a:txBody>
                  <a:tcPr marL="45720" marR="45720" marT="9144" marB="9144" anchor="ctr">
                    <a:solidFill>
                      <a:srgbClr val="F2EEF5"/>
                    </a:solidFill>
                  </a:tcPr>
                </a:tc>
              </a:tr>
              <a:tr h="301752">
                <a:tc>
                  <a:txBody>
                    <a:bodyPr/>
                    <a:lstStyle/>
                    <a:p>
                      <a:pPr algn="l">
                        <a:lnSpc>
                          <a:spcPct val="102000"/>
                        </a:lnSpc>
                      </a:pPr>
                      <a:r>
                        <a:rPr sz="1100" b="0">
                          <a:solidFill>
                            <a:srgbClr val="252A33"/>
                          </a:solidFill>
                        </a:rPr>
                        <a:t>JPE 论文（两年合并）</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5,084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−0.553***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−0.004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dirty="0">
                          <a:solidFill>
                            <a:srgbClr val="252A33"/>
                          </a:solidFill>
                        </a:rPr>
                        <a:t>−0.050***</a:t>
                      </a:r>
                      <a:endParaRPr sz="1100" b="0" dirty="0">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1929384" y="283464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标准误口径</a:t>
            </a:r>
            <a:endParaRPr sz="2200" b="1">
              <a:solidFill>
                <a:srgbClr val="642366"/>
              </a:solidFill>
            </a:endParaRPr>
          </a:p>
        </p:txBody>
      </p:sp>
      <p:sp>
        <p:nvSpPr>
          <p:cNvPr id="8" name="TextBox 7"/>
          <p:cNvSpPr txBox="1"/>
          <p:nvPr/>
        </p:nvSpPr>
        <p:spPr>
          <a:xfrm>
            <a:off x="2029968" y="3218688"/>
            <a:ext cx="9601200" cy="2834640"/>
          </a:xfrm>
          <a:prstGeom prst="rect">
            <a:avLst/>
          </a:prstGeom>
          <a:noFill/>
        </p:spPr>
        <p:txBody>
          <a:bodyPr wrap="square" lIns="0" tIns="0" rIns="0" bIns="0">
            <a:spAutoFit/>
          </a:bodyPr>
          <a:lstStyle/>
          <a:p>
            <a:pPr algn="l">
              <a:lnSpc>
                <a:spcPct val="102000"/>
              </a:lnSpc>
              <a:spcAft>
                <a:spcPts val="300"/>
              </a:spcAft>
            </a:pPr>
            <a:r>
              <a:rPr sz="1400" b="0">
                <a:solidFill>
                  <a:srgbClr val="252A33"/>
                </a:solidFill>
              </a:rPr>
              <a:t>论文注明双向聚类在 origin-year 与 destination-year。本复现照做，三列的双向聚类 SE 全部正常算出（0.0616 / 0.0064 / 0.0043）。</a:t>
            </a:r>
            <a:endParaRPr sz="1400" b="0">
              <a:solidFill>
                <a:srgbClr val="252A33"/>
              </a:solidFill>
            </a:endParaRPr>
          </a:p>
          <a:p>
            <a:pPr algn="l">
              <a:lnSpc>
                <a:spcPct val="102000"/>
              </a:lnSpc>
              <a:spcAft>
                <a:spcPts val="300"/>
              </a:spcAft>
            </a:pPr>
            <a:r>
              <a:rPr sz="1400" b="1">
                <a:solidFill>
                  <a:srgbClr val="1B6B45"/>
                </a:solidFill>
              </a:rPr>
              <a:t>✅ 1990 年的列(4) 同场份额系数 −0.0473 vs 论文 −.050，只差 5.4% —— 这是全表最接近的一个数。</a:t>
            </a:r>
            <a:endParaRPr sz="1400" b="1">
              <a:solidFill>
                <a:srgbClr val="1B6B45"/>
              </a:solidFill>
            </a:endParaRPr>
          </a:p>
          <a:p>
            <a:pPr algn="l">
              <a:lnSpc>
                <a:spcPct val="102000"/>
              </a:lnSpc>
              <a:spcAft>
                <a:spcPts val="300"/>
              </a:spcAft>
            </a:pPr>
            <a:r>
              <a:rPr sz="1400" b="1">
                <a:solidFill>
                  <a:srgbClr val="A63A1E"/>
                </a:solidFill>
              </a:rPr>
              <a:t>⚠ 2010 年列(4) 同场份额系数 −0.0296，离论文较远；2010 只占样本 12%，且 ACS 是按年抽样、与 1990 十年普查口径不同。</a:t>
            </a:r>
            <a:endParaRPr sz="1400" b="1">
              <a:solidFill>
                <a:srgbClr val="A63A1E"/>
              </a:solidFill>
            </a:endParaRPr>
          </a:p>
          <a:p>
            <a:pPr algn="l">
              <a:lnSpc>
                <a:spcPct val="102000"/>
              </a:lnSpc>
              <a:spcAft>
                <a:spcPts val="300"/>
              </a:spcAft>
            </a:pPr>
            <a:r>
              <a:rPr sz="1300" b="0">
                <a:solidFill>
                  <a:srgbClr val="606670"/>
                </a:solidFill>
              </a:rPr>
              <a:t>⚠ 若沿用为 Table 4 结构估计写的筛选（要求反向流、对角线、留一法全非缺失），样本会砍到 4,903 州对，且列(2) 的双向聚类 VCV 变成非正定、SE 直接算不出来。那是样本过度受限的假象，不是论文问题 —— 本复现已改用 Table 3 真正需要的筛选。</a:t>
            </a:r>
            <a:endParaRPr sz="1300" b="0">
              <a:solidFill>
                <a:srgbClr val="606670"/>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数据来源（Stata）：table3us_out.log 第 6 节 (b)(c)。</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table3：复现边界与结论</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5.3</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复现到什么程度</a:t>
            </a:r>
            <a:endParaRPr sz="2200" b="1">
              <a:solidFill>
                <a:srgbClr val="642366"/>
              </a:solidFill>
            </a:endParaRPr>
          </a:p>
        </p:txBody>
      </p:sp>
      <p:sp>
        <p:nvSpPr>
          <p:cNvPr id="6" name="TextBox 5"/>
          <p:cNvSpPr txBox="1"/>
          <p:nvPr/>
        </p:nvSpPr>
        <p:spPr>
          <a:xfrm>
            <a:off x="2029968" y="1435608"/>
            <a:ext cx="9601200" cy="2240280"/>
          </a:xfrm>
          <a:prstGeom prst="rect">
            <a:avLst/>
          </a:prstGeom>
          <a:noFill/>
        </p:spPr>
        <p:txBody>
          <a:bodyPr wrap="square" lIns="0" tIns="0" rIns="0" bIns="0">
            <a:spAutoFit/>
          </a:bodyPr>
          <a:lstStyle/>
          <a:p>
            <a:pPr algn="l">
              <a:lnSpc>
                <a:spcPct val="102000"/>
              </a:lnSpc>
              <a:spcAft>
                <a:spcPts val="300"/>
              </a:spcAft>
            </a:pPr>
            <a:r>
              <a:rPr sz="1400" b="1" dirty="0">
                <a:solidFill>
                  <a:srgbClr val="1B6B45"/>
                </a:solidFill>
              </a:rPr>
              <a:t>✅ </a:t>
            </a:r>
            <a:r>
              <a:rPr sz="1400" b="1" dirty="0" err="1">
                <a:solidFill>
                  <a:srgbClr val="1B6B45"/>
                </a:solidFill>
              </a:rPr>
              <a:t>四个事实的符号与显著性</a:t>
            </a:r>
            <a:r>
              <a:rPr sz="1400" b="1" dirty="0">
                <a:solidFill>
                  <a:srgbClr val="1B6B45"/>
                </a:solidFill>
              </a:rPr>
              <a:t> 4 / 4 </a:t>
            </a:r>
            <a:r>
              <a:rPr sz="1400" b="1" dirty="0" err="1">
                <a:solidFill>
                  <a:srgbClr val="1B6B45"/>
                </a:solidFill>
              </a:rPr>
              <a:t>全部复现</a:t>
            </a:r>
            <a:r>
              <a:rPr sz="1400" b="1" dirty="0">
                <a:solidFill>
                  <a:srgbClr val="1B6B45"/>
                </a:solidFill>
              </a:rPr>
              <a:t>。</a:t>
            </a:r>
            <a:endParaRPr sz="1400" b="1" dirty="0">
              <a:solidFill>
                <a:srgbClr val="1B6B45"/>
              </a:solidFill>
            </a:endParaRPr>
          </a:p>
          <a:p>
            <a:pPr algn="l">
              <a:lnSpc>
                <a:spcPct val="102000"/>
              </a:lnSpc>
              <a:spcAft>
                <a:spcPts val="300"/>
              </a:spcAft>
            </a:pPr>
            <a:r>
              <a:rPr sz="1400" b="1" dirty="0">
                <a:solidFill>
                  <a:srgbClr val="1B6B45"/>
                </a:solidFill>
              </a:rPr>
              <a:t>✅ 事实④同场比较的份额系数 −0.0445 vs 论文 −.050，只差 11%；1990 分年 −0.0473 vs −.050，只差 5.4%。</a:t>
            </a:r>
            <a:endParaRPr sz="1400" b="1" dirty="0">
              <a:solidFill>
                <a:srgbClr val="1B6B45"/>
              </a:solidFill>
            </a:endParaRPr>
          </a:p>
          <a:p>
            <a:pPr algn="l">
              <a:lnSpc>
                <a:spcPct val="102000"/>
              </a:lnSpc>
              <a:spcAft>
                <a:spcPts val="300"/>
              </a:spcAft>
            </a:pPr>
            <a:r>
              <a:rPr sz="1400" b="1" dirty="0">
                <a:solidFill>
                  <a:srgbClr val="1B6B45"/>
                </a:solidFill>
              </a:rPr>
              <a:t>✅ </a:t>
            </a:r>
            <a:r>
              <a:rPr sz="1400" b="1" dirty="0" err="1">
                <a:solidFill>
                  <a:srgbClr val="1B6B45"/>
                </a:solidFill>
              </a:rPr>
              <a:t>事实</a:t>
            </a:r>
            <a:r>
              <a:rPr sz="1400" b="1" dirty="0">
                <a:solidFill>
                  <a:srgbClr val="1B6B45"/>
                </a:solidFill>
              </a:rPr>
              <a:t>④「</a:t>
            </a:r>
            <a:r>
              <a:rPr sz="1400" b="1" dirty="0" err="1">
                <a:solidFill>
                  <a:srgbClr val="1B6B45"/>
                </a:solidFill>
              </a:rPr>
              <a:t>含份额后距离不再显著」同样成立</a:t>
            </a:r>
            <a:r>
              <a:rPr sz="1400" b="1" dirty="0">
                <a:solidFill>
                  <a:srgbClr val="1B6B45"/>
                </a:solidFill>
              </a:rPr>
              <a:t>（−0.0222，t = −1.79，p = 0.076）。</a:t>
            </a:r>
            <a:endParaRPr sz="1400" b="1" dirty="0">
              <a:solidFill>
                <a:srgbClr val="1B6B45"/>
              </a:solidFill>
            </a:endParaRPr>
          </a:p>
          <a:p>
            <a:pPr algn="l">
              <a:lnSpc>
                <a:spcPct val="102000"/>
              </a:lnSpc>
              <a:spcAft>
                <a:spcPts val="300"/>
              </a:spcAft>
            </a:pPr>
            <a:r>
              <a:rPr sz="1400" b="1" dirty="0">
                <a:solidFill>
                  <a:srgbClr val="1B6B45"/>
                </a:solidFill>
              </a:rPr>
              <a:t>✅ 州对数 5,000 / 4,987 vs 论文 5,084 / 5,076，差 1.7%–1.8%。</a:t>
            </a:r>
            <a:endParaRPr sz="1400" b="1" dirty="0">
              <a:solidFill>
                <a:srgbClr val="1B6B45"/>
              </a:solidFill>
            </a:endParaRPr>
          </a:p>
          <a:p>
            <a:pPr algn="l">
              <a:lnSpc>
                <a:spcPct val="102000"/>
              </a:lnSpc>
              <a:spcAft>
                <a:spcPts val="300"/>
              </a:spcAft>
            </a:pPr>
            <a:r>
              <a:rPr sz="1400" b="1" dirty="0">
                <a:solidFill>
                  <a:srgbClr val="A63A1E"/>
                </a:solidFill>
              </a:rPr>
              <a:t>⚠ 列(1) 幅度 −1.1771 vs −0.553 差 2.13 倍；列(3) 只放份额时 −0.0309 vs −.043 差 28%。符号方向全部正确。</a:t>
            </a:r>
            <a:endParaRPr sz="1400" b="1" dirty="0">
              <a:solidFill>
                <a:srgbClr val="A63A1E"/>
              </a:solidFill>
            </a:endParaRPr>
          </a:p>
        </p:txBody>
      </p:sp>
      <p:sp>
        <p:nvSpPr>
          <p:cNvPr id="7" name="TextBox 6"/>
          <p:cNvSpPr txBox="1"/>
          <p:nvPr/>
        </p:nvSpPr>
        <p:spPr>
          <a:xfrm>
            <a:off x="1929384" y="3767328"/>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差距的两个候选解释（未能定论）</a:t>
            </a:r>
            <a:endParaRPr sz="2200" b="1">
              <a:solidFill>
                <a:srgbClr val="642366"/>
              </a:solidFill>
            </a:endParaRPr>
          </a:p>
        </p:txBody>
      </p:sp>
      <p:sp>
        <p:nvSpPr>
          <p:cNvPr id="8" name="TextBox 7"/>
          <p:cNvSpPr txBox="1"/>
          <p:nvPr/>
        </p:nvSpPr>
        <p:spPr>
          <a:xfrm>
            <a:off x="2029968" y="4151376"/>
            <a:ext cx="9601200" cy="1083182"/>
          </a:xfrm>
          <a:prstGeom prst="rect">
            <a:avLst/>
          </a:prstGeom>
          <a:noFill/>
        </p:spPr>
        <p:txBody>
          <a:bodyPr wrap="square" lIns="0" tIns="0" rIns="0" bIns="0">
            <a:spAutoFit/>
          </a:bodyPr>
          <a:lstStyle/>
          <a:p>
            <a:pPr algn="l">
              <a:lnSpc>
                <a:spcPct val="102000"/>
              </a:lnSpc>
              <a:spcAft>
                <a:spcPts val="300"/>
              </a:spcAft>
            </a:pPr>
            <a:r>
              <a:rPr sz="1300" b="0" dirty="0">
                <a:solidFill>
                  <a:srgbClr val="252A33"/>
                </a:solidFill>
              </a:rPr>
              <a:t>① 【已否证】论文样本含州内配对：论文州对数 5,084 ≤ 5,100（不含对角线的上限）⇒ 论文回归本身也只算跨州，与本复现一致 ⇒ 列(1) 的 2.13 倍差距【不可能】来自州内配对。个体数 2,294,054 ≈ 全样本 98.3% 只能说明「样本框含留守者」，那是计数不是回归。</a:t>
            </a:r>
            <a:endParaRPr sz="1300" b="0" dirty="0">
              <a:solidFill>
                <a:srgbClr val="252A33"/>
              </a:solidFill>
            </a:endParaRPr>
          </a:p>
          <a:p>
            <a:pPr algn="l">
              <a:lnSpc>
                <a:spcPct val="102000"/>
              </a:lnSpc>
              <a:spcAft>
                <a:spcPts val="300"/>
              </a:spcAft>
            </a:pPr>
            <a:r>
              <a:rPr sz="1300" b="0" dirty="0">
                <a:solidFill>
                  <a:srgbClr val="252A33"/>
                </a:solidFill>
              </a:rPr>
              <a:t>② 【现在最有支持】距离构造：论文脚注 9 只交代了印尼用「质心之间的直线距离」，【美国完全没写】。本复现用的是「陆域面积加权」的县质心平均（验算 lat = wlat/land）。加州陆域质心在弗雷斯诺附近、人口质心在洛杉矶附近 —— 差数百公里。这是唯一可能造成系统性倍数量级差异的环节。</a:t>
            </a:r>
            <a:endParaRPr sz="1300" b="0" dirty="0">
              <a:solidFill>
                <a:srgbClr val="252A33"/>
              </a:solidFill>
            </a:endParaRPr>
          </a:p>
          <a:p>
            <a:pPr algn="l">
              <a:lnSpc>
                <a:spcPct val="102000"/>
              </a:lnSpc>
              <a:spcAft>
                <a:spcPts val="300"/>
              </a:spcAft>
            </a:pPr>
            <a:r>
              <a:rPr sz="1300" b="1" dirty="0">
                <a:solidFill>
                  <a:srgbClr val="1B6B45"/>
                </a:solidFill>
              </a:rPr>
              <a:t>⚠ </a:t>
            </a:r>
            <a:r>
              <a:rPr sz="1300" b="1" dirty="0" err="1">
                <a:solidFill>
                  <a:srgbClr val="1B6B45"/>
                </a:solidFill>
              </a:rPr>
              <a:t>已排除：分母口径（四种分母给出完全相同的</a:t>
            </a:r>
            <a:r>
              <a:rPr sz="1300" b="1" dirty="0">
                <a:solidFill>
                  <a:srgbClr val="1B6B45"/>
                </a:solidFill>
              </a:rPr>
              <a:t> −1.1771）；</a:t>
            </a:r>
            <a:r>
              <a:rPr sz="1300" b="1" dirty="0" err="1">
                <a:solidFill>
                  <a:srgbClr val="1B6B45"/>
                </a:solidFill>
              </a:rPr>
              <a:t>样本过度筛选（已改用</a:t>
            </a:r>
            <a:r>
              <a:rPr sz="1300" b="1" dirty="0">
                <a:solidFill>
                  <a:srgbClr val="1B6B45"/>
                </a:solidFill>
              </a:rPr>
              <a:t> Table 3 </a:t>
            </a:r>
            <a:r>
              <a:rPr sz="1300" b="1" dirty="0" err="1">
                <a:solidFill>
                  <a:srgbClr val="1B6B45"/>
                </a:solidFill>
              </a:rPr>
              <a:t>真正需要的筛选</a:t>
            </a:r>
            <a:r>
              <a:rPr sz="1300" b="1" dirty="0">
                <a:solidFill>
                  <a:srgbClr val="1B6B45"/>
                </a:solidFill>
              </a:rPr>
              <a:t>）。</a:t>
            </a:r>
            <a:endParaRPr sz="1300" b="1" dirty="0">
              <a:solidFill>
                <a:srgbClr val="1B6B45"/>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数据来源（Stata）：table3us_out.log、t3_sample_diag_out.log。</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40276"/>
            <a:ext cx="8294008" cy="720428"/>
          </a:xfrm>
        </p:spPr>
        <p:txBody>
          <a:bodyPr/>
          <a:lstStyle/>
          <a:p>
            <a:pPr>
              <a:lnSpc>
                <a:spcPct val="100000"/>
              </a:lnSpc>
            </a:pPr>
            <a:r>
              <a:rPr sz="2600" b="1" dirty="0">
                <a:solidFill>
                  <a:srgbClr val="642366"/>
                </a:solidFill>
              </a:rPr>
              <a:t>table4：论文原表与编号对照</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论文 Table 4 原文（JPE 第 2254 页）</a:t>
            </a:r>
            <a:endParaRPr sz="2200" b="1">
              <a:solidFill>
                <a:srgbClr val="642366"/>
              </a:solidFill>
            </a:endParaRPr>
          </a:p>
        </p:txBody>
      </p:sp>
      <p:graphicFrame>
        <p:nvGraphicFramePr>
          <p:cNvPr id="6" name="Table 5"/>
          <p:cNvGraphicFramePr>
            <a:graphicFrameLocks noGrp="1"/>
          </p:cNvGraphicFramePr>
          <p:nvPr/>
        </p:nvGraphicFramePr>
        <p:xfrm>
          <a:off x="1929384" y="1481328"/>
          <a:ext cx="9692640" cy="2103115"/>
        </p:xfrm>
        <a:graphic>
          <a:graphicData uri="http://schemas.openxmlformats.org/drawingml/2006/table">
            <a:tbl>
              <a:tblPr firstRow="1">
                <a:tableStyleId>{5C22544A-7EE6-4342-B048-85BDC9FD1C3A}</a:tableStyleId>
              </a:tblPr>
              <a:tblGrid>
                <a:gridCol w="3715512"/>
                <a:gridCol w="2988564"/>
                <a:gridCol w="2988564"/>
              </a:tblGrid>
              <a:tr h="420623">
                <a:tc>
                  <a:txBody>
                    <a:bodyPr/>
                    <a:lstStyle/>
                    <a:p>
                      <a:pPr algn="l">
                        <a:lnSpc>
                          <a:spcPct val="100000"/>
                        </a:lnSpc>
                      </a:pPr>
                      <a:r>
                        <a:rPr sz="1400" b="1">
                          <a:solidFill>
                            <a:srgbClr val="FFFFFF"/>
                          </a:solidFill>
                        </a:rPr>
                        <a:t>参数</a:t>
                      </a:r>
                      <a:endParaRPr sz="1400" b="1">
                        <a:solidFill>
                          <a:srgbClr val="FFFFFF"/>
                        </a:solidFill>
                      </a:endParaRPr>
                    </a:p>
                  </a:txBody>
                  <a:tcPr marL="45720" marR="45720" marT="9144" marB="9144" anchor="ctr">
                    <a:solidFill>
                      <a:srgbClr val="642366"/>
                    </a:solidFill>
                  </a:tcPr>
                </a:tc>
                <a:tc>
                  <a:txBody>
                    <a:bodyPr/>
                    <a:lstStyle/>
                    <a:p>
                      <a:pPr algn="ctr">
                        <a:lnSpc>
                          <a:spcPct val="100000"/>
                        </a:lnSpc>
                      </a:pPr>
                      <a:r>
                        <a:rPr sz="1400" b="1">
                          <a:solidFill>
                            <a:srgbClr val="FFFFFF"/>
                          </a:solidFill>
                        </a:rPr>
                        <a:t>印度尼西亚 (1)</a:t>
                      </a:r>
                      <a:endParaRPr sz="1400" b="1">
                        <a:solidFill>
                          <a:srgbClr val="FFFFFF"/>
                        </a:solidFill>
                      </a:endParaRPr>
                    </a:p>
                  </a:txBody>
                  <a:tcPr marL="45720" marR="45720" marT="9144" marB="9144" anchor="ctr">
                    <a:solidFill>
                      <a:srgbClr val="642366"/>
                    </a:solidFill>
                  </a:tcPr>
                </a:tc>
                <a:tc>
                  <a:txBody>
                    <a:bodyPr/>
                    <a:lstStyle/>
                    <a:p>
                      <a:pPr algn="ctr">
                        <a:lnSpc>
                          <a:spcPct val="100000"/>
                        </a:lnSpc>
                      </a:pPr>
                      <a:r>
                        <a:rPr sz="1400" b="1">
                          <a:solidFill>
                            <a:srgbClr val="FFFFFF"/>
                          </a:solidFill>
                        </a:rPr>
                        <a:t>美国 (2)</a:t>
                      </a:r>
                      <a:endParaRPr sz="1400" b="1">
                        <a:solidFill>
                          <a:srgbClr val="FFFFFF"/>
                        </a:solidFill>
                      </a:endParaRPr>
                    </a:p>
                  </a:txBody>
                  <a:tcPr marL="45720" marR="45720" marT="9144" marB="9144" anchor="ctr">
                    <a:solidFill>
                      <a:srgbClr val="642366"/>
                    </a:solidFill>
                  </a:tcPr>
                </a:tc>
              </a:tr>
              <a:tr h="420623">
                <a:tc>
                  <a:txBody>
                    <a:bodyPr/>
                    <a:lstStyle/>
                    <a:p>
                      <a:pPr algn="l">
                        <a:lnSpc>
                          <a:spcPct val="100000"/>
                        </a:lnSpc>
                      </a:pPr>
                      <a:r>
                        <a:rPr sz="1450" b="0">
                          <a:solidFill>
                            <a:srgbClr val="252A33"/>
                          </a:solidFill>
                        </a:rPr>
                        <a:t>ρ    技能相关性</a:t>
                      </a:r>
                      <a:endParaRPr sz="1450" b="0">
                        <a:solidFill>
                          <a:srgbClr val="252A33"/>
                        </a:solidFill>
                      </a:endParaRPr>
                    </a:p>
                  </a:txBody>
                  <a:tcPr marL="45720" marR="45720" marT="9144" marB="9144" anchor="ctr">
                    <a:solidFill>
                      <a:srgbClr val="FFFFFF"/>
                    </a:solidFill>
                  </a:tcPr>
                </a:tc>
                <a:tc>
                  <a:txBody>
                    <a:bodyPr/>
                    <a:lstStyle/>
                    <a:p>
                      <a:pPr algn="ctr">
                        <a:lnSpc>
                          <a:spcPct val="100000"/>
                        </a:lnSpc>
                      </a:pPr>
                      <a:r>
                        <a:rPr sz="1450" b="1">
                          <a:solidFill>
                            <a:srgbClr val="642366"/>
                          </a:solidFill>
                        </a:rPr>
                        <a:t>.74***   (.029)</a:t>
                      </a:r>
                      <a:endParaRPr sz="1450" b="1">
                        <a:solidFill>
                          <a:srgbClr val="642366"/>
                        </a:solidFill>
                      </a:endParaRPr>
                    </a:p>
                  </a:txBody>
                  <a:tcPr marL="45720" marR="45720" marT="9144" marB="9144" anchor="ctr">
                    <a:solidFill>
                      <a:srgbClr val="FFFFFF"/>
                    </a:solidFill>
                  </a:tcPr>
                </a:tc>
                <a:tc>
                  <a:txBody>
                    <a:bodyPr/>
                    <a:lstStyle/>
                    <a:p>
                      <a:pPr algn="ctr">
                        <a:lnSpc>
                          <a:spcPct val="100000"/>
                        </a:lnSpc>
                      </a:pPr>
                      <a:r>
                        <a:rPr sz="1450" b="1">
                          <a:solidFill>
                            <a:srgbClr val="642366"/>
                          </a:solidFill>
                        </a:rPr>
                        <a:t>.90***   (.015)</a:t>
                      </a:r>
                      <a:endParaRPr sz="1450" b="1">
                        <a:solidFill>
                          <a:srgbClr val="642366"/>
                        </a:solidFill>
                      </a:endParaRPr>
                    </a:p>
                  </a:txBody>
                  <a:tcPr marL="45720" marR="45720" marT="9144" marB="9144" anchor="ctr">
                    <a:solidFill>
                      <a:srgbClr val="FFFFFF"/>
                    </a:solidFill>
                  </a:tcPr>
                </a:tc>
              </a:tr>
              <a:tr h="420623">
                <a:tc>
                  <a:txBody>
                    <a:bodyPr/>
                    <a:lstStyle/>
                    <a:p>
                      <a:pPr algn="l">
                        <a:lnSpc>
                          <a:spcPct val="100000"/>
                        </a:lnSpc>
                      </a:pPr>
                      <a:r>
                        <a:rPr sz="1450" b="0">
                          <a:solidFill>
                            <a:srgbClr val="252A33"/>
                          </a:solidFill>
                        </a:rPr>
                        <a:t>θ    技能离散度</a:t>
                      </a:r>
                      <a:endParaRPr sz="1450" b="0">
                        <a:solidFill>
                          <a:srgbClr val="252A33"/>
                        </a:solidFill>
                      </a:endParaRPr>
                    </a:p>
                  </a:txBody>
                  <a:tcPr marL="45720" marR="45720" marT="9144" marB="9144" anchor="ctr">
                    <a:solidFill>
                      <a:srgbClr val="F2EEF5"/>
                    </a:solidFill>
                  </a:tcPr>
                </a:tc>
                <a:tc>
                  <a:txBody>
                    <a:bodyPr/>
                    <a:lstStyle/>
                    <a:p>
                      <a:pPr algn="ctr">
                        <a:lnSpc>
                          <a:spcPct val="100000"/>
                        </a:lnSpc>
                      </a:pPr>
                      <a:r>
                        <a:rPr sz="1450" b="1">
                          <a:solidFill>
                            <a:srgbClr val="642366"/>
                          </a:solidFill>
                        </a:rPr>
                        <a:t>12.5***  (1.36)</a:t>
                      </a:r>
                      <a:endParaRPr sz="1450" b="1">
                        <a:solidFill>
                          <a:srgbClr val="642366"/>
                        </a:solidFill>
                      </a:endParaRPr>
                    </a:p>
                  </a:txBody>
                  <a:tcPr marL="45720" marR="45720" marT="9144" marB="9144" anchor="ctr">
                    <a:solidFill>
                      <a:srgbClr val="F2EEF5"/>
                    </a:solidFill>
                  </a:tcPr>
                </a:tc>
                <a:tc>
                  <a:txBody>
                    <a:bodyPr/>
                    <a:lstStyle/>
                    <a:p>
                      <a:pPr algn="ctr">
                        <a:lnSpc>
                          <a:spcPct val="100000"/>
                        </a:lnSpc>
                      </a:pPr>
                      <a:r>
                        <a:rPr sz="1450" b="1">
                          <a:solidFill>
                            <a:srgbClr val="642366"/>
                          </a:solidFill>
                        </a:rPr>
                        <a:t>27.6***  (3.29)</a:t>
                      </a:r>
                      <a:endParaRPr sz="1450" b="1">
                        <a:solidFill>
                          <a:srgbClr val="642366"/>
                        </a:solidFill>
                      </a:endParaRPr>
                    </a:p>
                  </a:txBody>
                  <a:tcPr marL="45720" marR="45720" marT="9144" marB="9144" anchor="ctr">
                    <a:solidFill>
                      <a:srgbClr val="F2EEF5"/>
                    </a:solidFill>
                  </a:tcPr>
                </a:tc>
              </a:tr>
              <a:tr h="420623">
                <a:tc>
                  <a:txBody>
                    <a:bodyPr/>
                    <a:lstStyle/>
                    <a:p>
                      <a:pPr algn="l">
                        <a:lnSpc>
                          <a:spcPct val="100000"/>
                        </a:lnSpc>
                      </a:pPr>
                      <a:r>
                        <a:rPr sz="1450" b="0">
                          <a:solidFill>
                            <a:srgbClr val="252A33"/>
                          </a:solidFill>
                        </a:rPr>
                        <a:t>θ̃ = θ(1−ρ)</a:t>
                      </a:r>
                      <a:endParaRPr sz="1450" b="0">
                        <a:solidFill>
                          <a:srgbClr val="252A33"/>
                        </a:solidFill>
                      </a:endParaRPr>
                    </a:p>
                  </a:txBody>
                  <a:tcPr marL="45720" marR="45720" marT="9144" marB="9144" anchor="ctr">
                    <a:solidFill>
                      <a:srgbClr val="FFFFFF"/>
                    </a:solidFill>
                  </a:tcPr>
                </a:tc>
                <a:tc>
                  <a:txBody>
                    <a:bodyPr/>
                    <a:lstStyle/>
                    <a:p>
                      <a:pPr algn="ctr">
                        <a:lnSpc>
                          <a:spcPct val="100000"/>
                        </a:lnSpc>
                      </a:pPr>
                      <a:r>
                        <a:rPr sz="1450" b="0">
                          <a:solidFill>
                            <a:srgbClr val="252A33"/>
                          </a:solidFill>
                        </a:rPr>
                        <a:t>3.18</a:t>
                      </a:r>
                      <a:endParaRPr sz="1450" b="0">
                        <a:solidFill>
                          <a:srgbClr val="252A33"/>
                        </a:solidFill>
                      </a:endParaRPr>
                    </a:p>
                  </a:txBody>
                  <a:tcPr marL="45720" marR="45720" marT="9144" marB="9144" anchor="ctr">
                    <a:solidFill>
                      <a:srgbClr val="FFFFFF"/>
                    </a:solidFill>
                  </a:tcPr>
                </a:tc>
                <a:tc>
                  <a:txBody>
                    <a:bodyPr/>
                    <a:lstStyle/>
                    <a:p>
                      <a:pPr algn="ctr">
                        <a:lnSpc>
                          <a:spcPct val="100000"/>
                        </a:lnSpc>
                      </a:pPr>
                      <a:r>
                        <a:rPr sz="1450" b="0">
                          <a:solidFill>
                            <a:srgbClr val="252A33"/>
                          </a:solidFill>
                        </a:rPr>
                        <a:t>2.69</a:t>
                      </a:r>
                      <a:endParaRPr sz="1450" b="0">
                        <a:solidFill>
                          <a:srgbClr val="252A33"/>
                        </a:solidFill>
                      </a:endParaRPr>
                    </a:p>
                  </a:txBody>
                  <a:tcPr marL="45720" marR="45720" marT="9144" marB="9144" anchor="ctr">
                    <a:solidFill>
                      <a:srgbClr val="FFFFFF"/>
                    </a:solidFill>
                  </a:tcPr>
                </a:tc>
              </a:tr>
              <a:tr h="420623">
                <a:tc>
                  <a:txBody>
                    <a:bodyPr/>
                    <a:lstStyle/>
                    <a:p>
                      <a:pPr algn="l">
                        <a:lnSpc>
                          <a:spcPct val="100000"/>
                        </a:lnSpc>
                      </a:pPr>
                      <a:r>
                        <a:rPr sz="1450" b="0">
                          <a:solidFill>
                            <a:srgbClr val="252A33"/>
                          </a:solidFill>
                        </a:rPr>
                        <a:t>平均迁移成本（iceberg）</a:t>
                      </a:r>
                      <a:endParaRPr sz="1450" b="0">
                        <a:solidFill>
                          <a:srgbClr val="252A33"/>
                        </a:solidFill>
                      </a:endParaRPr>
                    </a:p>
                  </a:txBody>
                  <a:tcPr marL="45720" marR="45720" marT="9144" marB="9144" anchor="ctr">
                    <a:solidFill>
                      <a:srgbClr val="F2EEF5"/>
                    </a:solidFill>
                  </a:tcPr>
                </a:tc>
                <a:tc>
                  <a:txBody>
                    <a:bodyPr/>
                    <a:lstStyle/>
                    <a:p>
                      <a:pPr algn="ctr">
                        <a:lnSpc>
                          <a:spcPct val="100000"/>
                        </a:lnSpc>
                      </a:pPr>
                      <a:r>
                        <a:rPr sz="1450" b="0">
                          <a:solidFill>
                            <a:srgbClr val="252A33"/>
                          </a:solidFill>
                        </a:rPr>
                        <a:t>.39</a:t>
                      </a:r>
                      <a:endParaRPr sz="1450" b="0">
                        <a:solidFill>
                          <a:srgbClr val="252A33"/>
                        </a:solidFill>
                      </a:endParaRPr>
                    </a:p>
                  </a:txBody>
                  <a:tcPr marL="45720" marR="45720" marT="9144" marB="9144" anchor="ctr">
                    <a:solidFill>
                      <a:srgbClr val="F2EEF5"/>
                    </a:solidFill>
                  </a:tcPr>
                </a:tc>
                <a:tc>
                  <a:txBody>
                    <a:bodyPr/>
                    <a:lstStyle/>
                    <a:p>
                      <a:pPr algn="ctr">
                        <a:lnSpc>
                          <a:spcPct val="100000"/>
                        </a:lnSpc>
                      </a:pPr>
                      <a:r>
                        <a:rPr sz="1450" b="0">
                          <a:solidFill>
                            <a:srgbClr val="252A33"/>
                          </a:solidFill>
                        </a:rPr>
                        <a:t>.15</a:t>
                      </a:r>
                      <a:endParaRPr sz="1450" b="0">
                        <a:solidFill>
                          <a:srgbClr val="252A33"/>
                        </a:solidFill>
                      </a:endParaRPr>
                    </a:p>
                  </a:txBody>
                  <a:tcPr marL="45720" marR="45720" marT="9144" marB="9144" anchor="ctr">
                    <a:solidFill>
                      <a:srgbClr val="F2EEF5"/>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010" y="303699"/>
            <a:ext cx="8294008" cy="720428"/>
          </a:xfrm>
        </p:spPr>
        <p:txBody>
          <a:bodyPr/>
          <a:lstStyle/>
          <a:p>
            <a:pPr>
              <a:lnSpc>
                <a:spcPct val="100000"/>
              </a:lnSpc>
            </a:pPr>
            <a:r>
              <a:rPr sz="2600" b="1" dirty="0">
                <a:solidFill>
                  <a:srgbClr val="642366"/>
                </a:solidFill>
              </a:rPr>
              <a:t>table4：四个参数与 θ / θ̃ </a:t>
            </a:r>
            <a:r>
              <a:rPr sz="2600" b="1" dirty="0" err="1">
                <a:solidFill>
                  <a:srgbClr val="642366"/>
                </a:solidFill>
              </a:rPr>
              <a:t>的分工</a:t>
            </a:r>
            <a:endParaRPr sz="2600" b="1" dirty="0">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四个参数各自是什么</a:t>
            </a:r>
            <a:endParaRPr sz="2200" b="1">
              <a:solidFill>
                <a:srgbClr val="642366"/>
              </a:solidFill>
            </a:endParaRPr>
          </a:p>
        </p:txBody>
      </p:sp>
      <p:graphicFrame>
        <p:nvGraphicFramePr>
          <p:cNvPr id="6" name="Table 5"/>
          <p:cNvGraphicFramePr>
            <a:graphicFrameLocks noGrp="1"/>
          </p:cNvGraphicFramePr>
          <p:nvPr/>
        </p:nvGraphicFramePr>
        <p:xfrm>
          <a:off x="1929384" y="1481328"/>
          <a:ext cx="9692637" cy="2359150"/>
        </p:xfrm>
        <a:graphic>
          <a:graphicData uri="http://schemas.openxmlformats.org/drawingml/2006/table">
            <a:tbl>
              <a:tblPr firstRow="1">
                <a:tableStyleId>{5C22544A-7EE6-4342-B048-85BDC9FD1C3A}</a:tableStyleId>
              </a:tblPr>
              <a:tblGrid>
                <a:gridCol w="1671144"/>
                <a:gridCol w="3008060"/>
                <a:gridCol w="2673831"/>
                <a:gridCol w="2339602"/>
              </a:tblGrid>
              <a:tr h="471830">
                <a:tc>
                  <a:txBody>
                    <a:bodyPr/>
                    <a:lstStyle/>
                    <a:p>
                      <a:pPr algn="l">
                        <a:lnSpc>
                          <a:spcPct val="100000"/>
                        </a:lnSpc>
                      </a:pPr>
                      <a:r>
                        <a:rPr sz="1200" b="1" dirty="0" err="1">
                          <a:solidFill>
                            <a:srgbClr val="FFFFFF"/>
                          </a:solidFill>
                        </a:rPr>
                        <a:t>参数</a:t>
                      </a:r>
                      <a:endParaRPr sz="1200" b="1" dirty="0">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含义</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直觉</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在哪条式子里</a:t>
                      </a:r>
                      <a:endParaRPr sz="1200" b="1">
                        <a:solidFill>
                          <a:srgbClr val="FFFFFF"/>
                        </a:solidFill>
                      </a:endParaRPr>
                    </a:p>
                  </a:txBody>
                  <a:tcPr marL="45720" marR="45720" marT="9144" marB="9144" anchor="ctr">
                    <a:solidFill>
                      <a:srgbClr val="642366"/>
                    </a:solidFill>
                  </a:tcPr>
                </a:tc>
              </a:tr>
              <a:tr h="471830">
                <a:tc>
                  <a:txBody>
                    <a:bodyPr/>
                    <a:lstStyle/>
                    <a:p>
                      <a:pPr algn="l">
                        <a:lnSpc>
                          <a:spcPct val="100000"/>
                        </a:lnSpc>
                      </a:pPr>
                      <a:r>
                        <a:rPr sz="1150" b="0">
                          <a:solidFill>
                            <a:srgbClr val="252A33"/>
                          </a:solidFill>
                        </a:rPr>
                        <a:t>ρ</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一个人在不同地区的技能抽签之间的相关性</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ρ 高 = 一个人在哪都强；ρ 低 = 换个地方可能完全不行</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进入 θ̃ = θ(1−ρ)</a:t>
                      </a:r>
                      <a:endParaRPr sz="1150" b="0">
                        <a:solidFill>
                          <a:srgbClr val="252A33"/>
                        </a:solidFill>
                      </a:endParaRPr>
                    </a:p>
                  </a:txBody>
                  <a:tcPr marL="45720" marR="45720" marT="9144" marB="9144" anchor="ctr">
                    <a:solidFill>
                      <a:srgbClr val="FFFFFF"/>
                    </a:solidFill>
                  </a:tcPr>
                </a:tc>
              </a:tr>
              <a:tr h="471830">
                <a:tc>
                  <a:txBody>
                    <a:bodyPr/>
                    <a:lstStyle/>
                    <a:p>
                      <a:pPr algn="l">
                        <a:lnSpc>
                          <a:spcPct val="100000"/>
                        </a:lnSpc>
                      </a:pPr>
                      <a:r>
                        <a:rPr sz="1150" b="0" dirty="0">
                          <a:solidFill>
                            <a:srgbClr val="252A33"/>
                          </a:solidFill>
                        </a:rPr>
                        <a:t>θ</a:t>
                      </a:r>
                      <a:endParaRPr sz="1150" b="0" dirty="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个人技能抽签的离散程度 / 排序强度</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θ 高 = 相对优势很平坦；θ 低 = 非常「偏科」</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式(4) 排序、式(5) 选择、式(7) 弹性 −1/θ</a:t>
                      </a:r>
                      <a:endParaRPr sz="1150" b="0">
                        <a:solidFill>
                          <a:srgbClr val="252A33"/>
                        </a:solidFill>
                      </a:endParaRPr>
                    </a:p>
                  </a:txBody>
                  <a:tcPr marL="45720" marR="45720" marT="9144" marB="9144" anchor="ctr">
                    <a:solidFill>
                      <a:srgbClr val="F2EEF5"/>
                    </a:solidFill>
                  </a:tcPr>
                </a:tc>
              </a:tr>
              <a:tr h="471830">
                <a:tc>
                  <a:txBody>
                    <a:bodyPr/>
                    <a:lstStyle/>
                    <a:p>
                      <a:pPr algn="l">
                        <a:lnSpc>
                          <a:spcPct val="100000"/>
                        </a:lnSpc>
                      </a:pPr>
                      <a:r>
                        <a:rPr sz="1150" b="0" dirty="0">
                          <a:solidFill>
                            <a:srgbClr val="252A33"/>
                          </a:solidFill>
                        </a:rPr>
                        <a:t>θ̃ = θ(1−ρ)</a:t>
                      </a:r>
                      <a:endParaRPr sz="1150" b="0" dirty="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横截面技能（工资）的离散度</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θ̃ 大 = 大家工资很接近；θ̃ 小 = 工资差距悬殊</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式(8) 工资方差</a:t>
                      </a:r>
                      <a:endParaRPr sz="1150" b="0">
                        <a:solidFill>
                          <a:srgbClr val="252A33"/>
                        </a:solidFill>
                      </a:endParaRPr>
                    </a:p>
                  </a:txBody>
                  <a:tcPr marL="45720" marR="45720" marT="9144" marB="9144" anchor="ctr">
                    <a:solidFill>
                      <a:srgbClr val="FFFFFF"/>
                    </a:solidFill>
                  </a:tcPr>
                </a:tc>
              </a:tr>
              <a:tr h="471830">
                <a:tc>
                  <a:txBody>
                    <a:bodyPr/>
                    <a:lstStyle/>
                    <a:p>
                      <a:pPr algn="l">
                        <a:lnSpc>
                          <a:spcPct val="100000"/>
                        </a:lnSpc>
                      </a:pPr>
                      <a:r>
                        <a:rPr sz="1150" b="0">
                          <a:solidFill>
                            <a:srgbClr val="252A33"/>
                          </a:solidFill>
                        </a:rPr>
                        <a:t>平均迁移成本 τ</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离开家乡所需的效用补偿（iceberg）</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τ = .39 表示印尼移民平均要多拿 39% 收入才愿意动</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dirty="0">
                          <a:solidFill>
                            <a:srgbClr val="252A33"/>
                          </a:solidFill>
                        </a:rPr>
                        <a:t>式(11) </a:t>
                      </a:r>
                      <a:r>
                        <a:rPr sz="1150" b="0" dirty="0" err="1">
                          <a:solidFill>
                            <a:srgbClr val="252A33"/>
                          </a:solidFill>
                        </a:rPr>
                        <a:t>对称差分</a:t>
                      </a:r>
                      <a:endParaRPr sz="1150" b="0" dirty="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950208"/>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θ 与 θ̃ 的分工 —— 读懂 Table 4 的钥匙</a:t>
            </a:r>
            <a:endParaRPr sz="2200" b="1">
              <a:solidFill>
                <a:srgbClr val="642366"/>
              </a:solidFill>
            </a:endParaRPr>
          </a:p>
        </p:txBody>
      </p:sp>
      <p:sp>
        <p:nvSpPr>
          <p:cNvPr id="8" name="TextBox 7"/>
          <p:cNvSpPr txBox="1"/>
          <p:nvPr/>
        </p:nvSpPr>
        <p:spPr>
          <a:xfrm>
            <a:off x="2029968" y="4334256"/>
            <a:ext cx="9601200" cy="2194560"/>
          </a:xfrm>
          <a:prstGeom prst="rect">
            <a:avLst/>
          </a:prstGeom>
          <a:noFill/>
        </p:spPr>
        <p:txBody>
          <a:bodyPr wrap="square" lIns="0" tIns="0" rIns="0" bIns="0">
            <a:spAutoFit/>
          </a:bodyPr>
          <a:lstStyle/>
          <a:p>
            <a:pPr algn="l">
              <a:lnSpc>
                <a:spcPct val="102000"/>
              </a:lnSpc>
              <a:spcAft>
                <a:spcPts val="300"/>
              </a:spcAft>
            </a:pPr>
            <a:r>
              <a:rPr sz="1400" b="0" dirty="0">
                <a:solidFill>
                  <a:srgbClr val="252A33"/>
                </a:solidFill>
              </a:rPr>
              <a:t>θ </a:t>
            </a:r>
            <a:r>
              <a:rPr sz="1400" b="0" dirty="0" err="1">
                <a:solidFill>
                  <a:srgbClr val="252A33"/>
                </a:solidFill>
              </a:rPr>
              <a:t>管两件事</a:t>
            </a:r>
            <a:r>
              <a:rPr sz="1400" b="0" dirty="0">
                <a:solidFill>
                  <a:srgbClr val="252A33"/>
                </a:solidFill>
              </a:rPr>
              <a:t>：① </a:t>
            </a:r>
            <a:r>
              <a:rPr sz="1400" b="0" dirty="0" err="1">
                <a:solidFill>
                  <a:srgbClr val="252A33"/>
                </a:solidFill>
              </a:rPr>
              <a:t>一个人的相对优势有多「偏科</a:t>
            </a:r>
            <a:r>
              <a:rPr sz="1400" b="0" dirty="0">
                <a:solidFill>
                  <a:srgbClr val="252A33"/>
                </a:solidFill>
              </a:rPr>
              <a:t>」；② </a:t>
            </a:r>
            <a:r>
              <a:rPr sz="1400" b="0" dirty="0" err="1">
                <a:solidFill>
                  <a:srgbClr val="252A33"/>
                </a:solidFill>
              </a:rPr>
              <a:t>排序强度（谁去哪儿</a:t>
            </a:r>
            <a:r>
              <a:rPr sz="1400" b="0" dirty="0">
                <a:solidFill>
                  <a:srgbClr val="252A33"/>
                </a:solidFill>
              </a:rPr>
              <a:t>）。</a:t>
            </a:r>
            <a:r>
              <a:rPr sz="1400" b="0" dirty="0" err="1">
                <a:solidFill>
                  <a:srgbClr val="252A33"/>
                </a:solidFill>
              </a:rPr>
              <a:t>用在式</a:t>
            </a:r>
            <a:r>
              <a:rPr sz="1400" b="0" dirty="0">
                <a:solidFill>
                  <a:srgbClr val="252A33"/>
                </a:solidFill>
              </a:rPr>
              <a:t>(4) </a:t>
            </a:r>
            <a:r>
              <a:rPr sz="1400" b="0" dirty="0" err="1">
                <a:solidFill>
                  <a:srgbClr val="252A33"/>
                </a:solidFill>
              </a:rPr>
              <a:t>排序、式</a:t>
            </a:r>
            <a:r>
              <a:rPr sz="1400" b="0" dirty="0">
                <a:solidFill>
                  <a:srgbClr val="252A33"/>
                </a:solidFill>
              </a:rPr>
              <a:t>(5) </a:t>
            </a:r>
            <a:r>
              <a:rPr sz="1400" b="0" dirty="0" err="1">
                <a:solidFill>
                  <a:srgbClr val="252A33"/>
                </a:solidFill>
              </a:rPr>
              <a:t>选择、式</a:t>
            </a:r>
            <a:r>
              <a:rPr sz="1400" b="0" dirty="0">
                <a:solidFill>
                  <a:srgbClr val="252A33"/>
                </a:solidFill>
              </a:rPr>
              <a:t>(7) </a:t>
            </a:r>
            <a:r>
              <a:rPr sz="1400" b="0" dirty="0" err="1">
                <a:solidFill>
                  <a:srgbClr val="252A33"/>
                </a:solidFill>
              </a:rPr>
              <a:t>的工资弹性</a:t>
            </a:r>
            <a:r>
              <a:rPr sz="1400" b="0" dirty="0">
                <a:solidFill>
                  <a:srgbClr val="252A33"/>
                </a:solidFill>
              </a:rPr>
              <a:t> −1/θ。</a:t>
            </a:r>
            <a:endParaRPr sz="1400" b="0" dirty="0">
              <a:solidFill>
                <a:srgbClr val="252A33"/>
              </a:solidFill>
            </a:endParaRPr>
          </a:p>
          <a:p>
            <a:pPr algn="l">
              <a:lnSpc>
                <a:spcPct val="102000"/>
              </a:lnSpc>
              <a:spcAft>
                <a:spcPts val="300"/>
              </a:spcAft>
            </a:pPr>
            <a:r>
              <a:rPr sz="1400" b="0" dirty="0">
                <a:solidFill>
                  <a:srgbClr val="252A33"/>
                </a:solidFill>
              </a:rPr>
              <a:t>θ̃ = θ(1−ρ) </a:t>
            </a:r>
            <a:r>
              <a:rPr sz="1400" b="0" dirty="0" err="1">
                <a:solidFill>
                  <a:srgbClr val="252A33"/>
                </a:solidFill>
              </a:rPr>
              <a:t>只管一件事：横截面技能</a:t>
            </a:r>
            <a:r>
              <a:rPr sz="1400" b="0" dirty="0">
                <a:solidFill>
                  <a:srgbClr val="252A33"/>
                </a:solidFill>
              </a:rPr>
              <a:t> / </a:t>
            </a:r>
            <a:r>
              <a:rPr sz="1400" b="0" dirty="0" err="1">
                <a:solidFill>
                  <a:srgbClr val="252A33"/>
                </a:solidFill>
              </a:rPr>
              <a:t>工资的离散度。用在式</a:t>
            </a:r>
            <a:r>
              <a:rPr sz="1400" b="0" dirty="0">
                <a:solidFill>
                  <a:srgbClr val="252A33"/>
                </a:solidFill>
              </a:rPr>
              <a:t>(8)。</a:t>
            </a:r>
            <a:endParaRPr sz="1400" b="0" dirty="0">
              <a:solidFill>
                <a:srgbClr val="252A33"/>
              </a:solidFill>
            </a:endParaRPr>
          </a:p>
          <a:p>
            <a:pPr algn="l">
              <a:lnSpc>
                <a:spcPct val="102000"/>
              </a:lnSpc>
              <a:spcAft>
                <a:spcPts val="300"/>
              </a:spcAft>
            </a:pPr>
            <a:r>
              <a:rPr sz="1350" b="0" dirty="0" err="1">
                <a:solidFill>
                  <a:srgbClr val="606670"/>
                </a:solidFill>
              </a:rPr>
              <a:t>论文第</a:t>
            </a:r>
            <a:r>
              <a:rPr sz="1350" b="0" dirty="0">
                <a:solidFill>
                  <a:srgbClr val="606670"/>
                </a:solidFill>
              </a:rPr>
              <a:t> 911–914 </a:t>
            </a:r>
            <a:r>
              <a:rPr sz="1350" b="0" dirty="0" err="1">
                <a:solidFill>
                  <a:srgbClr val="606670"/>
                </a:solidFill>
              </a:rPr>
              <a:t>行写「As</a:t>
            </a:r>
            <a:r>
              <a:rPr sz="1350" b="0" dirty="0">
                <a:solidFill>
                  <a:srgbClr val="606670"/>
                </a:solidFill>
              </a:rPr>
              <a:t> θ̃ decreases, there is a greater difference between skills across locations」—— </a:t>
            </a:r>
            <a:r>
              <a:rPr sz="1350" b="0" dirty="0" err="1">
                <a:solidFill>
                  <a:srgbClr val="606670"/>
                </a:solidFill>
              </a:rPr>
              <a:t>这句话说的是</a:t>
            </a:r>
            <a:r>
              <a:rPr sz="1350" b="0" dirty="0">
                <a:solidFill>
                  <a:srgbClr val="606670"/>
                </a:solidFill>
              </a:rPr>
              <a:t> θ̃，</a:t>
            </a:r>
            <a:r>
              <a:rPr sz="1350" b="0" dirty="0" err="1">
                <a:solidFill>
                  <a:srgbClr val="606670"/>
                </a:solidFill>
              </a:rPr>
              <a:t>但要成立必须【固定</a:t>
            </a:r>
            <a:r>
              <a:rPr sz="1350" b="0" dirty="0">
                <a:solidFill>
                  <a:srgbClr val="606670"/>
                </a:solidFill>
              </a:rPr>
              <a:t> ρ】。</a:t>
            </a:r>
            <a:endParaRPr sz="1350" b="0" dirty="0">
              <a:solidFill>
                <a:srgbClr val="606670"/>
              </a:solidFill>
            </a:endParaRPr>
          </a:p>
          <a:p>
            <a:pPr algn="l">
              <a:lnSpc>
                <a:spcPct val="102000"/>
              </a:lnSpc>
              <a:spcAft>
                <a:spcPts val="300"/>
              </a:spcAft>
            </a:pPr>
            <a:r>
              <a:rPr sz="1400" b="1" dirty="0">
                <a:solidFill>
                  <a:srgbClr val="1B6B45"/>
                </a:solidFill>
              </a:rPr>
              <a:t>→ </a:t>
            </a:r>
            <a:r>
              <a:rPr sz="1400" b="1" dirty="0" err="1">
                <a:solidFill>
                  <a:srgbClr val="1B6B45"/>
                </a:solidFill>
              </a:rPr>
              <a:t>因为</a:t>
            </a:r>
            <a:r>
              <a:rPr sz="1400" b="1" dirty="0">
                <a:solidFill>
                  <a:srgbClr val="1B6B45"/>
                </a:solidFill>
              </a:rPr>
              <a:t> θ̃ = θ(1−ρ)：</a:t>
            </a:r>
            <a:r>
              <a:rPr sz="1400" b="1" dirty="0" err="1">
                <a:solidFill>
                  <a:srgbClr val="1B6B45"/>
                </a:solidFill>
              </a:rPr>
              <a:t>固定</a:t>
            </a:r>
            <a:r>
              <a:rPr sz="1400" b="1" dirty="0">
                <a:solidFill>
                  <a:srgbClr val="1B6B45"/>
                </a:solidFill>
              </a:rPr>
              <a:t> ρ </a:t>
            </a:r>
            <a:r>
              <a:rPr sz="1400" b="1" dirty="0" err="1">
                <a:solidFill>
                  <a:srgbClr val="1B6B45"/>
                </a:solidFill>
              </a:rPr>
              <a:t>时两者同向变动，不冲突；一旦</a:t>
            </a:r>
            <a:r>
              <a:rPr sz="1400" b="1" dirty="0">
                <a:solidFill>
                  <a:srgbClr val="1B6B45"/>
                </a:solidFill>
              </a:rPr>
              <a:t> ρ </a:t>
            </a:r>
            <a:r>
              <a:rPr sz="1400" b="1" dirty="0" err="1">
                <a:solidFill>
                  <a:srgbClr val="1B6B45"/>
                </a:solidFill>
              </a:rPr>
              <a:t>变动（美国</a:t>
            </a:r>
            <a:r>
              <a:rPr sz="1400" b="1" dirty="0">
                <a:solidFill>
                  <a:srgbClr val="1B6B45"/>
                </a:solidFill>
              </a:rPr>
              <a:t> .90 vs </a:t>
            </a:r>
            <a:r>
              <a:rPr sz="1400" b="1" dirty="0" err="1">
                <a:solidFill>
                  <a:srgbClr val="1B6B45"/>
                </a:solidFill>
              </a:rPr>
              <a:t>印尼</a:t>
            </a:r>
            <a:r>
              <a:rPr sz="1400" b="1" dirty="0">
                <a:solidFill>
                  <a:srgbClr val="1B6B45"/>
                </a:solidFill>
              </a:rPr>
              <a:t> .74）两者就分开 —— </a:t>
            </a:r>
            <a:r>
              <a:rPr sz="1400" b="1" dirty="0" err="1">
                <a:solidFill>
                  <a:srgbClr val="1B6B45"/>
                </a:solidFill>
              </a:rPr>
              <a:t>这时管「一个人的跨地区技能</a:t>
            </a:r>
            <a:r>
              <a:rPr sz="1400" b="1" dirty="0">
                <a:solidFill>
                  <a:srgbClr val="1B6B45"/>
                </a:solidFill>
              </a:rPr>
              <a:t> </a:t>
            </a:r>
            <a:r>
              <a:rPr sz="1400" b="1" dirty="0" err="1">
                <a:solidFill>
                  <a:srgbClr val="1B6B45"/>
                </a:solidFill>
              </a:rPr>
              <a:t>profile」的是</a:t>
            </a:r>
            <a:r>
              <a:rPr sz="1400" b="1" dirty="0">
                <a:solidFill>
                  <a:srgbClr val="1B6B45"/>
                </a:solidFill>
              </a:rPr>
              <a:t> </a:t>
            </a:r>
            <a:r>
              <a:rPr sz="1400" b="1" dirty="0" err="1">
                <a:solidFill>
                  <a:srgbClr val="1B6B45"/>
                </a:solidFill>
              </a:rPr>
              <a:t>θ，管「横截面工资差距」的是</a:t>
            </a:r>
            <a:r>
              <a:rPr sz="1400" b="1" dirty="0">
                <a:solidFill>
                  <a:srgbClr val="1B6B45"/>
                </a:solidFill>
              </a:rPr>
              <a:t> θ̃。</a:t>
            </a:r>
            <a:endParaRPr sz="1400" b="1" dirty="0">
              <a:solidFill>
                <a:srgbClr val="1B6B45"/>
              </a:solidFill>
            </a:endParaRPr>
          </a:p>
          <a:p>
            <a:pPr algn="l">
              <a:lnSpc>
                <a:spcPct val="102000"/>
              </a:lnSpc>
              <a:spcAft>
                <a:spcPts val="300"/>
              </a:spcAft>
            </a:pPr>
            <a:r>
              <a:rPr sz="1400" b="0" dirty="0">
                <a:solidFill>
                  <a:srgbClr val="A63A1E"/>
                </a:solidFill>
              </a:rPr>
              <a:t>⚠ </a:t>
            </a:r>
            <a:r>
              <a:rPr sz="1400" b="0" dirty="0" err="1">
                <a:solidFill>
                  <a:srgbClr val="A63A1E"/>
                </a:solidFill>
              </a:rPr>
              <a:t>方向别搞反：论文</a:t>
            </a:r>
            <a:r>
              <a:rPr sz="1400" b="0" dirty="0">
                <a:solidFill>
                  <a:srgbClr val="A63A1E"/>
                </a:solidFill>
              </a:rPr>
              <a:t> Table 4 把 θ </a:t>
            </a:r>
            <a:r>
              <a:rPr sz="1400" b="0" dirty="0" err="1">
                <a:solidFill>
                  <a:srgbClr val="A63A1E"/>
                </a:solidFill>
              </a:rPr>
              <a:t>那行标为「dispersion</a:t>
            </a:r>
            <a:r>
              <a:rPr sz="1400" b="0" dirty="0">
                <a:solidFill>
                  <a:srgbClr val="A63A1E"/>
                </a:solidFill>
              </a:rPr>
              <a:t>」，</a:t>
            </a:r>
            <a:r>
              <a:rPr sz="1400" b="0" dirty="0" err="1">
                <a:solidFill>
                  <a:srgbClr val="A63A1E"/>
                </a:solidFill>
              </a:rPr>
              <a:t>但正文自己写的是</a:t>
            </a:r>
            <a:r>
              <a:rPr sz="1400" b="0" dirty="0">
                <a:solidFill>
                  <a:srgbClr val="A63A1E"/>
                </a:solidFill>
              </a:rPr>
              <a:t> 「shows a LESS DISPERSE distribution (θ of 28)」—— θ </a:t>
            </a:r>
            <a:r>
              <a:rPr sz="1400" b="0" dirty="0" err="1">
                <a:solidFill>
                  <a:srgbClr val="A63A1E"/>
                </a:solidFill>
              </a:rPr>
              <a:t>越大越【不】离散</a:t>
            </a:r>
            <a:r>
              <a:rPr sz="1400" b="0" dirty="0">
                <a:solidFill>
                  <a:srgbClr val="A63A1E"/>
                </a:solidFill>
              </a:rPr>
              <a:t>。</a:t>
            </a:r>
            <a:endParaRPr sz="1400" b="0" dirty="0">
              <a:solidFill>
                <a:srgbClr val="A63A1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sz="2600" b="1">
                <a:solidFill>
                  <a:srgbClr val="642366"/>
                </a:solidFill>
              </a:rPr>
              <a:t>table4：识别来源与式(8) 映射</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三个参数各自的识别来源（本复现的做法）</a:t>
            </a:r>
            <a:endParaRPr sz="2200" b="1">
              <a:solidFill>
                <a:srgbClr val="642366"/>
              </a:solidFill>
            </a:endParaRPr>
          </a:p>
        </p:txBody>
      </p:sp>
      <p:sp>
        <p:nvSpPr>
          <p:cNvPr id="6" name="TextBox 5"/>
          <p:cNvSpPr txBox="1"/>
          <p:nvPr/>
        </p:nvSpPr>
        <p:spPr>
          <a:xfrm>
            <a:off x="2029968" y="1408176"/>
            <a:ext cx="9601200" cy="2148840"/>
          </a:xfrm>
          <a:prstGeom prst="rect">
            <a:avLst/>
          </a:prstGeom>
          <a:noFill/>
        </p:spPr>
        <p:txBody>
          <a:bodyPr wrap="square" lIns="0" tIns="0" rIns="0" bIns="0">
            <a:spAutoFit/>
          </a:bodyPr>
          <a:lstStyle/>
          <a:p>
            <a:pPr algn="l">
              <a:lnSpc>
                <a:spcPct val="102000"/>
              </a:lnSpc>
              <a:spcAft>
                <a:spcPts val="300"/>
              </a:spcAft>
            </a:pPr>
            <a:r>
              <a:rPr sz="1350" b="1" dirty="0">
                <a:solidFill>
                  <a:srgbClr val="642366"/>
                </a:solidFill>
              </a:rPr>
              <a:t>① θ —— </a:t>
            </a:r>
            <a:r>
              <a:rPr sz="1350" b="1" dirty="0" err="1">
                <a:solidFill>
                  <a:srgbClr val="642366"/>
                </a:solidFill>
              </a:rPr>
              <a:t>工资对迁移份额的弹性，必须用工具变量</a:t>
            </a:r>
            <a:endParaRPr sz="1350" b="1" dirty="0">
              <a:solidFill>
                <a:srgbClr val="642366"/>
              </a:solidFill>
            </a:endParaRPr>
          </a:p>
          <a:p>
            <a:pPr algn="l">
              <a:lnSpc>
                <a:spcPct val="102000"/>
              </a:lnSpc>
              <a:spcAft>
                <a:spcPts val="300"/>
              </a:spcAft>
            </a:pPr>
            <a:r>
              <a:rPr sz="1350" b="0" dirty="0">
                <a:solidFill>
                  <a:srgbClr val="252A33"/>
                </a:solidFill>
              </a:rPr>
              <a:t>式(7) </a:t>
            </a:r>
            <a:r>
              <a:rPr sz="1350" b="0" dirty="0" err="1">
                <a:solidFill>
                  <a:srgbClr val="252A33"/>
                </a:solidFill>
              </a:rPr>
              <a:t>控制出发地、目的地固定效应后，工资对</a:t>
            </a:r>
            <a:r>
              <a:rPr sz="1350" b="0" dirty="0">
                <a:solidFill>
                  <a:srgbClr val="252A33"/>
                </a:solidFill>
              </a:rPr>
              <a:t> ln π_do </a:t>
            </a:r>
            <a:r>
              <a:rPr sz="1350" b="0" dirty="0" err="1">
                <a:solidFill>
                  <a:srgbClr val="252A33"/>
                </a:solidFill>
              </a:rPr>
              <a:t>的弹性</a:t>
            </a:r>
            <a:r>
              <a:rPr sz="1350" b="0" dirty="0">
                <a:solidFill>
                  <a:srgbClr val="252A33"/>
                </a:solidFill>
              </a:rPr>
              <a:t> = −1/</a:t>
            </a:r>
            <a:r>
              <a:rPr sz="1350" b="0" dirty="0" err="1">
                <a:solidFill>
                  <a:srgbClr val="252A33"/>
                </a:solidFill>
              </a:rPr>
              <a:t>θ。工资误差项进入</a:t>
            </a:r>
            <a:r>
              <a:rPr sz="1350" b="0" dirty="0">
                <a:solidFill>
                  <a:srgbClr val="252A33"/>
                </a:solidFill>
              </a:rPr>
              <a:t> π_do </a:t>
            </a:r>
            <a:r>
              <a:rPr sz="1350" b="0" dirty="0" err="1">
                <a:solidFill>
                  <a:srgbClr val="252A33"/>
                </a:solidFill>
              </a:rPr>
              <a:t>的定义</a:t>
            </a:r>
            <a:r>
              <a:rPr sz="1350" b="0" dirty="0">
                <a:solidFill>
                  <a:srgbClr val="252A33"/>
                </a:solidFill>
              </a:rPr>
              <a:t>→ </a:t>
            </a:r>
            <a:r>
              <a:rPr sz="1350" b="0" dirty="0" err="1">
                <a:solidFill>
                  <a:srgbClr val="252A33"/>
                </a:solidFill>
              </a:rPr>
              <a:t>内生性</a:t>
            </a:r>
            <a:r>
              <a:rPr sz="1350" b="0" dirty="0">
                <a:solidFill>
                  <a:srgbClr val="252A33"/>
                </a:solidFill>
              </a:rPr>
              <a:t> → 用 π_</a:t>
            </a:r>
            <a:r>
              <a:rPr sz="1350" b="0" dirty="0" err="1">
                <a:solidFill>
                  <a:srgbClr val="252A33"/>
                </a:solidFill>
              </a:rPr>
              <a:t>d¬o</a:t>
            </a:r>
            <a:r>
              <a:rPr sz="1350" b="0" dirty="0">
                <a:solidFill>
                  <a:srgbClr val="252A33"/>
                </a:solidFill>
              </a:rPr>
              <a:t> </a:t>
            </a:r>
            <a:r>
              <a:rPr sz="1350" b="0" dirty="0" err="1">
                <a:solidFill>
                  <a:srgbClr val="252A33"/>
                </a:solidFill>
              </a:rPr>
              <a:t>做工具变量。零阶段</a:t>
            </a:r>
            <a:r>
              <a:rPr sz="1350" b="0" dirty="0">
                <a:solidFill>
                  <a:srgbClr val="252A33"/>
                </a:solidFill>
              </a:rPr>
              <a:t> R²：印尼 0.105、美国 1990 0.405。</a:t>
            </a:r>
            <a:endParaRPr sz="1350" b="0" dirty="0">
              <a:solidFill>
                <a:srgbClr val="252A33"/>
              </a:solidFill>
            </a:endParaRPr>
          </a:p>
          <a:p>
            <a:pPr algn="l">
              <a:lnSpc>
                <a:spcPct val="102000"/>
              </a:lnSpc>
              <a:spcAft>
                <a:spcPts val="300"/>
              </a:spcAft>
            </a:pPr>
            <a:r>
              <a:rPr sz="1350" b="1" dirty="0">
                <a:solidFill>
                  <a:srgbClr val="642366"/>
                </a:solidFill>
              </a:rPr>
              <a:t>② ρ —— </a:t>
            </a:r>
            <a:r>
              <a:rPr sz="1350" b="1" dirty="0" err="1">
                <a:solidFill>
                  <a:srgbClr val="642366"/>
                </a:solidFill>
              </a:rPr>
              <a:t>由横截面工资方差反解</a:t>
            </a:r>
            <a:endParaRPr sz="1350" b="1" dirty="0">
              <a:solidFill>
                <a:srgbClr val="642366"/>
              </a:solidFill>
            </a:endParaRPr>
          </a:p>
          <a:p>
            <a:pPr algn="l">
              <a:lnSpc>
                <a:spcPct val="102000"/>
              </a:lnSpc>
              <a:spcAft>
                <a:spcPts val="300"/>
              </a:spcAft>
            </a:pPr>
            <a:r>
              <a:rPr sz="1350" b="0" dirty="0" err="1">
                <a:solidFill>
                  <a:srgbClr val="252A33"/>
                </a:solidFill>
              </a:rPr>
              <a:t>由式</a:t>
            </a:r>
            <a:r>
              <a:rPr sz="1350" b="0" dirty="0">
                <a:solidFill>
                  <a:srgbClr val="252A33"/>
                </a:solidFill>
              </a:rPr>
              <a:t>(8) </a:t>
            </a:r>
            <a:r>
              <a:rPr sz="1350" b="0" dirty="0" err="1">
                <a:solidFill>
                  <a:srgbClr val="252A33"/>
                </a:solidFill>
              </a:rPr>
              <a:t>的工资方差数值解出</a:t>
            </a:r>
            <a:r>
              <a:rPr sz="1350" b="0" dirty="0">
                <a:solidFill>
                  <a:srgbClr val="252A33"/>
                </a:solidFill>
              </a:rPr>
              <a:t> θ̃，</a:t>
            </a:r>
            <a:r>
              <a:rPr sz="1350" b="0" dirty="0" err="1">
                <a:solidFill>
                  <a:srgbClr val="252A33"/>
                </a:solidFill>
              </a:rPr>
              <a:t>再得</a:t>
            </a:r>
            <a:r>
              <a:rPr sz="1350" b="0" dirty="0">
                <a:solidFill>
                  <a:srgbClr val="252A33"/>
                </a:solidFill>
              </a:rPr>
              <a:t> ρ = 1 − θ̃/</a:t>
            </a:r>
            <a:r>
              <a:rPr sz="1350" b="0" dirty="0" err="1">
                <a:solidFill>
                  <a:srgbClr val="252A33"/>
                </a:solidFill>
              </a:rPr>
              <a:t>θ。不需要面板数据</a:t>
            </a:r>
            <a:r>
              <a:rPr sz="1350" b="0" dirty="0">
                <a:solidFill>
                  <a:srgbClr val="252A33"/>
                </a:solidFill>
              </a:rPr>
              <a:t>。</a:t>
            </a:r>
            <a:endParaRPr sz="1350" b="0" dirty="0">
              <a:solidFill>
                <a:srgbClr val="252A33"/>
              </a:solidFill>
            </a:endParaRPr>
          </a:p>
          <a:p>
            <a:pPr algn="l">
              <a:lnSpc>
                <a:spcPct val="102000"/>
              </a:lnSpc>
              <a:spcAft>
                <a:spcPts val="300"/>
              </a:spcAft>
            </a:pPr>
            <a:r>
              <a:rPr sz="1350" b="1" dirty="0">
                <a:solidFill>
                  <a:srgbClr val="642366"/>
                </a:solidFill>
              </a:rPr>
              <a:t>③ </a:t>
            </a:r>
            <a:r>
              <a:rPr sz="1350" b="1" dirty="0" err="1">
                <a:solidFill>
                  <a:srgbClr val="642366"/>
                </a:solidFill>
              </a:rPr>
              <a:t>平均迁移成本</a:t>
            </a:r>
            <a:r>
              <a:rPr sz="1350" b="1" dirty="0">
                <a:solidFill>
                  <a:srgbClr val="642366"/>
                </a:solidFill>
              </a:rPr>
              <a:t> τ —— </a:t>
            </a:r>
            <a:r>
              <a:rPr sz="1350" b="1" dirty="0" err="1">
                <a:solidFill>
                  <a:srgbClr val="642366"/>
                </a:solidFill>
              </a:rPr>
              <a:t>非参数法</a:t>
            </a:r>
            <a:endParaRPr sz="1350" b="1" dirty="0">
              <a:solidFill>
                <a:srgbClr val="642366"/>
              </a:solidFill>
            </a:endParaRPr>
          </a:p>
          <a:p>
            <a:pPr algn="l">
              <a:lnSpc>
                <a:spcPct val="102000"/>
              </a:lnSpc>
              <a:spcAft>
                <a:spcPts val="300"/>
              </a:spcAft>
            </a:pPr>
            <a:r>
              <a:rPr sz="1350" b="0" dirty="0">
                <a:solidFill>
                  <a:srgbClr val="252A33"/>
                </a:solidFill>
              </a:rPr>
              <a:t>式(11)：(ln π_do − ln π_</a:t>
            </a:r>
            <a:r>
              <a:rPr sz="1350" b="0" dirty="0" err="1">
                <a:solidFill>
                  <a:srgbClr val="252A33"/>
                </a:solidFill>
              </a:rPr>
              <a:t>oo</a:t>
            </a:r>
            <a:r>
              <a:rPr sz="1350" b="0" dirty="0">
                <a:solidFill>
                  <a:srgbClr val="252A33"/>
                </a:solidFill>
              </a:rPr>
              <a:t>) + (ln π_od − ln π_dd) = 2θ·ln(1 − </a:t>
            </a:r>
            <a:r>
              <a:rPr sz="1350" b="0" dirty="0" err="1">
                <a:solidFill>
                  <a:srgbClr val="252A33"/>
                </a:solidFill>
              </a:rPr>
              <a:t>τ_do</a:t>
            </a:r>
            <a:r>
              <a:rPr sz="1350" b="0" dirty="0">
                <a:solidFill>
                  <a:srgbClr val="252A33"/>
                </a:solidFill>
              </a:rPr>
              <a:t>) + </a:t>
            </a:r>
            <a:r>
              <a:rPr sz="1350" b="0" dirty="0" err="1">
                <a:solidFill>
                  <a:srgbClr val="252A33"/>
                </a:solidFill>
              </a:rPr>
              <a:t>η。只用对称性</a:t>
            </a:r>
            <a:r>
              <a:rPr sz="1350" b="0" dirty="0">
                <a:solidFill>
                  <a:srgbClr val="252A33"/>
                </a:solidFill>
              </a:rPr>
              <a:t> </a:t>
            </a:r>
            <a:r>
              <a:rPr sz="1350" b="0" dirty="0" err="1">
                <a:solidFill>
                  <a:srgbClr val="252A33"/>
                </a:solidFill>
              </a:rPr>
              <a:t>τ_do</a:t>
            </a:r>
            <a:r>
              <a:rPr sz="1350" b="0" dirty="0">
                <a:solidFill>
                  <a:srgbClr val="252A33"/>
                </a:solidFill>
              </a:rPr>
              <a:t> = </a:t>
            </a:r>
            <a:r>
              <a:rPr sz="1350" b="0" dirty="0" err="1">
                <a:solidFill>
                  <a:srgbClr val="252A33"/>
                </a:solidFill>
              </a:rPr>
              <a:t>τ_od，对距离的函数形式不做任何假设（与论文一致</a:t>
            </a:r>
            <a:r>
              <a:rPr sz="1350" b="0" dirty="0">
                <a:solidFill>
                  <a:srgbClr val="252A33"/>
                </a:solidFill>
              </a:rPr>
              <a:t>）。</a:t>
            </a:r>
            <a:endParaRPr sz="1350" b="0" dirty="0">
              <a:solidFill>
                <a:srgbClr val="252A33"/>
              </a:solidFill>
            </a:endParaRPr>
          </a:p>
        </p:txBody>
      </p:sp>
      <p:sp>
        <p:nvSpPr>
          <p:cNvPr id="7" name="TextBox 6"/>
          <p:cNvSpPr txBox="1"/>
          <p:nvPr/>
        </p:nvSpPr>
        <p:spPr>
          <a:xfrm>
            <a:off x="1929384" y="3639312"/>
            <a:ext cx="9692640" cy="384048"/>
          </a:xfrm>
          <a:prstGeom prst="rect">
            <a:avLst/>
          </a:prstGeom>
          <a:noFill/>
        </p:spPr>
        <p:txBody>
          <a:bodyPr wrap="square" lIns="0" tIns="0" rIns="0" bIns="0">
            <a:spAutoFit/>
          </a:bodyPr>
          <a:lstStyle/>
          <a:p>
            <a:pPr algn="l">
              <a:lnSpc>
                <a:spcPct val="102000"/>
              </a:lnSpc>
              <a:spcAft>
                <a:spcPts val="300"/>
              </a:spcAft>
            </a:pPr>
            <a:r>
              <a:rPr sz="2200" b="1" dirty="0">
                <a:solidFill>
                  <a:srgbClr val="642366"/>
                </a:solidFill>
              </a:rPr>
              <a:t>式(8) </a:t>
            </a:r>
            <a:r>
              <a:rPr sz="2200" b="1" dirty="0" err="1">
                <a:solidFill>
                  <a:srgbClr val="642366"/>
                </a:solidFill>
              </a:rPr>
              <a:t>映射表</a:t>
            </a:r>
            <a:r>
              <a:rPr sz="2200" b="1" dirty="0">
                <a:solidFill>
                  <a:srgbClr val="642366"/>
                </a:solidFill>
              </a:rPr>
              <a:t> —— </a:t>
            </a:r>
            <a:r>
              <a:rPr sz="2200" b="1" dirty="0" err="1">
                <a:solidFill>
                  <a:srgbClr val="642366"/>
                </a:solidFill>
              </a:rPr>
              <a:t>为什么</a:t>
            </a:r>
            <a:r>
              <a:rPr sz="2200" b="1" dirty="0">
                <a:solidFill>
                  <a:srgbClr val="642366"/>
                </a:solidFill>
              </a:rPr>
              <a:t> ρ </a:t>
            </a:r>
            <a:r>
              <a:rPr sz="2200" b="1" dirty="0" err="1">
                <a:solidFill>
                  <a:srgbClr val="642366"/>
                </a:solidFill>
              </a:rPr>
              <a:t>极难精确复现</a:t>
            </a:r>
            <a:endParaRPr sz="2200" b="1" dirty="0">
              <a:solidFill>
                <a:srgbClr val="642366"/>
              </a:solidFill>
            </a:endParaRPr>
          </a:p>
        </p:txBody>
      </p:sp>
      <p:graphicFrame>
        <p:nvGraphicFramePr>
          <p:cNvPr id="8" name="Table 7"/>
          <p:cNvGraphicFramePr>
            <a:graphicFrameLocks noGrp="1"/>
          </p:cNvGraphicFramePr>
          <p:nvPr/>
        </p:nvGraphicFramePr>
        <p:xfrm>
          <a:off x="1929384" y="4005072"/>
          <a:ext cx="9692640" cy="1938528"/>
        </p:xfrm>
        <a:graphic>
          <a:graphicData uri="http://schemas.openxmlformats.org/drawingml/2006/table">
            <a:tbl>
              <a:tblPr firstRow="1">
                <a:tableStyleId>{5C22544A-7EE6-4342-B048-85BDC9FD1C3A}</a:tableStyleId>
              </a:tblPr>
              <a:tblGrid>
                <a:gridCol w="1371600"/>
                <a:gridCol w="3108960"/>
                <a:gridCol w="2468880"/>
                <a:gridCol w="2743200"/>
              </a:tblGrid>
              <a:tr h="242316">
                <a:tc>
                  <a:txBody>
                    <a:bodyPr/>
                    <a:lstStyle/>
                    <a:p>
                      <a:pPr algn="l">
                        <a:lnSpc>
                          <a:spcPct val="100000"/>
                        </a:lnSpc>
                      </a:pPr>
                      <a:r>
                        <a:rPr sz="1200" b="1">
                          <a:solidFill>
                            <a:srgbClr val="FFFFFF"/>
                          </a:solidFill>
                        </a:rPr>
                        <a:t>θ̃</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式(8) 右边 = var(w)/w̄²</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dirty="0" err="1">
                          <a:solidFill>
                            <a:srgbClr val="FFFFFF"/>
                          </a:solidFill>
                        </a:rPr>
                        <a:t>相对上一行的变化</a:t>
                      </a:r>
                      <a:endParaRPr sz="1200" b="1" dirty="0">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对照</a:t>
                      </a:r>
                      <a:endParaRPr sz="1200" b="1">
                        <a:solidFill>
                          <a:srgbClr val="FFFFFF"/>
                        </a:solidFill>
                      </a:endParaRPr>
                    </a:p>
                  </a:txBody>
                  <a:tcPr marL="45720" marR="45720" marT="9144" marB="9144" anchor="ctr">
                    <a:solidFill>
                      <a:srgbClr val="642366"/>
                    </a:solidFill>
                  </a:tcPr>
                </a:tc>
              </a:tr>
              <a:tr h="242316">
                <a:tc>
                  <a:txBody>
                    <a:bodyPr/>
                    <a:lstStyle/>
                    <a:p>
                      <a:pPr algn="l">
                        <a:lnSpc>
                          <a:spcPct val="100000"/>
                        </a:lnSpc>
                      </a:pPr>
                      <a:r>
                        <a:rPr sz="1250" b="0">
                          <a:solidFill>
                            <a:srgbClr val="252A33"/>
                          </a:solidFill>
                        </a:rPr>
                        <a:t>2.200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2.95905</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FFFFF"/>
                    </a:solidFill>
                  </a:tcPr>
                </a:tc>
              </a:tr>
              <a:tr h="242316">
                <a:tc>
                  <a:txBody>
                    <a:bodyPr/>
                    <a:lstStyle/>
                    <a:p>
                      <a:pPr algn="l">
                        <a:lnSpc>
                          <a:spcPct val="100000"/>
                        </a:lnSpc>
                      </a:pPr>
                      <a:r>
                        <a:rPr sz="1250" b="0">
                          <a:solidFill>
                            <a:srgbClr val="252A33"/>
                          </a:solidFill>
                        </a:rPr>
                        <a:t>2.500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1.07010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−63.8 %</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2EEF5"/>
                    </a:solidFill>
                  </a:tcPr>
                </a:tc>
              </a:tr>
              <a:tr h="242316">
                <a:tc>
                  <a:txBody>
                    <a:bodyPr/>
                    <a:lstStyle/>
                    <a:p>
                      <a:pPr algn="l">
                        <a:lnSpc>
                          <a:spcPct val="100000"/>
                        </a:lnSpc>
                      </a:pPr>
                      <a:r>
                        <a:rPr sz="1250" b="0">
                          <a:solidFill>
                            <a:srgbClr val="252A33"/>
                          </a:solidFill>
                        </a:rPr>
                        <a:t>2.690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0.73089</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−31.7 %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 论文 美国 θ̃</a:t>
                      </a:r>
                      <a:endParaRPr sz="1250" b="0">
                        <a:solidFill>
                          <a:srgbClr val="252A33"/>
                        </a:solidFill>
                      </a:endParaRPr>
                    </a:p>
                  </a:txBody>
                  <a:tcPr marL="45720" marR="45720" marT="9144" marB="9144" anchor="ctr">
                    <a:solidFill>
                      <a:srgbClr val="FFFFFF"/>
                    </a:solidFill>
                  </a:tcPr>
                </a:tc>
              </a:tr>
              <a:tr h="242316">
                <a:tc>
                  <a:txBody>
                    <a:bodyPr/>
                    <a:lstStyle/>
                    <a:p>
                      <a:pPr algn="l">
                        <a:lnSpc>
                          <a:spcPct val="100000"/>
                        </a:lnSpc>
                      </a:pPr>
                      <a:r>
                        <a:rPr sz="1250" b="0">
                          <a:solidFill>
                            <a:srgbClr val="252A33"/>
                          </a:solidFill>
                        </a:rPr>
                        <a:t>3.180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0.37209</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−49.1 %</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A63A1E"/>
                          </a:solidFill>
                        </a:rPr>
                        <a:t>← 论文 印尼 θ̃</a:t>
                      </a:r>
                      <a:endParaRPr sz="1250" b="1">
                        <a:solidFill>
                          <a:srgbClr val="A63A1E"/>
                        </a:solidFill>
                      </a:endParaRPr>
                    </a:p>
                  </a:txBody>
                  <a:tcPr marL="45720" marR="45720" marT="9144" marB="9144" anchor="ctr">
                    <a:solidFill>
                      <a:srgbClr val="F2EEF5"/>
                    </a:solidFill>
                  </a:tcPr>
                </a:tc>
              </a:tr>
              <a:tr h="242316">
                <a:tc>
                  <a:txBody>
                    <a:bodyPr/>
                    <a:lstStyle/>
                    <a:p>
                      <a:pPr algn="l">
                        <a:lnSpc>
                          <a:spcPct val="100000"/>
                        </a:lnSpc>
                      </a:pPr>
                      <a:r>
                        <a:rPr sz="1250" b="0">
                          <a:solidFill>
                            <a:srgbClr val="252A33"/>
                          </a:solidFill>
                        </a:rPr>
                        <a:t>4.000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0.18034</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−51.5 %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1B6B45"/>
                          </a:solidFill>
                        </a:rPr>
                        <a:t>本复现 印尼 θ̃ = 4.0874</a:t>
                      </a:r>
                      <a:endParaRPr sz="1250" b="1">
                        <a:solidFill>
                          <a:srgbClr val="1B6B45"/>
                        </a:solidFill>
                      </a:endParaRPr>
                    </a:p>
                  </a:txBody>
                  <a:tcPr marL="45720" marR="45720" marT="9144" marB="9144" anchor="ctr">
                    <a:solidFill>
                      <a:srgbClr val="FFFFFF"/>
                    </a:solidFill>
                  </a:tcPr>
                </a:tc>
              </a:tr>
              <a:tr h="242316">
                <a:tc>
                  <a:txBody>
                    <a:bodyPr/>
                    <a:lstStyle/>
                    <a:p>
                      <a:pPr algn="l">
                        <a:lnSpc>
                          <a:spcPct val="100000"/>
                        </a:lnSpc>
                      </a:pPr>
                      <a:r>
                        <a:rPr sz="1250" b="0">
                          <a:solidFill>
                            <a:srgbClr val="252A33"/>
                          </a:solidFill>
                        </a:rPr>
                        <a:t>5.467</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0.07879</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1B6B45"/>
                          </a:solidFill>
                        </a:rPr>
                        <a:t>本复现 美国 θ̃（即实际工资方差）</a:t>
                      </a:r>
                      <a:endParaRPr sz="1250" b="1">
                        <a:solidFill>
                          <a:srgbClr val="1B6B45"/>
                        </a:solidFill>
                      </a:endParaRPr>
                    </a:p>
                  </a:txBody>
                  <a:tcPr marL="45720" marR="45720" marT="9144" marB="9144" anchor="ctr">
                    <a:solidFill>
                      <a:srgbClr val="F2EEF5"/>
                    </a:solidFill>
                  </a:tcPr>
                </a:tc>
              </a:tr>
              <a:tr h="242316">
                <a:tc>
                  <a:txBody>
                    <a:bodyPr/>
                    <a:lstStyle/>
                    <a:p>
                      <a:pPr algn="l">
                        <a:lnSpc>
                          <a:spcPct val="100000"/>
                        </a:lnSpc>
                      </a:pPr>
                      <a:r>
                        <a:rPr sz="1250" b="0" dirty="0">
                          <a:solidFill>
                            <a:srgbClr val="252A33"/>
                          </a:solidFill>
                        </a:rPr>
                        <a:t>12.500</a:t>
                      </a:r>
                      <a:endParaRPr sz="1250" b="0" dirty="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0.01201</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−84.8 %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dirty="0" err="1">
                          <a:solidFill>
                            <a:srgbClr val="252A33"/>
                          </a:solidFill>
                        </a:rPr>
                        <a:t>论文</a:t>
                      </a:r>
                      <a:r>
                        <a:rPr sz="1250" b="0" dirty="0">
                          <a:solidFill>
                            <a:srgbClr val="252A33"/>
                          </a:solidFill>
                        </a:rPr>
                        <a:t> </a:t>
                      </a:r>
                      <a:r>
                        <a:rPr sz="1250" b="0" dirty="0" err="1">
                          <a:solidFill>
                            <a:srgbClr val="252A33"/>
                          </a:solidFill>
                        </a:rPr>
                        <a:t>印尼</a:t>
                      </a:r>
                      <a:r>
                        <a:rPr sz="1250" b="0" dirty="0">
                          <a:solidFill>
                            <a:srgbClr val="252A33"/>
                          </a:solidFill>
                        </a:rPr>
                        <a:t> θ</a:t>
                      </a:r>
                      <a:endParaRPr sz="1250" b="0" dirty="0">
                        <a:solidFill>
                          <a:srgbClr val="252A33"/>
                        </a:solidFill>
                      </a:endParaRPr>
                    </a:p>
                  </a:txBody>
                  <a:tcPr marL="45720" marR="45720" marT="9144" marB="9144" anchor="ctr">
                    <a:solidFill>
                      <a:srgbClr val="FFFFFF"/>
                    </a:solidFill>
                  </a:tcPr>
                </a:tc>
              </a:tr>
            </a:tbl>
          </a:graphicData>
        </a:graphic>
      </p:graphicFrame>
      <p:sp>
        <p:nvSpPr>
          <p:cNvPr id="9" name="TextBox 8"/>
          <p:cNvSpPr txBox="1"/>
          <p:nvPr/>
        </p:nvSpPr>
        <p:spPr>
          <a:xfrm>
            <a:off x="2029968" y="6016752"/>
            <a:ext cx="9601200" cy="713232"/>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 θ̃ 从 2.69 变到 3.18（只变 18%），要求的工资方差就从 0.731 掉到 0.372 —— 差 49%。但这【不是】敏感度问题：由上式算得 d ln(1+CV²)/d ln θ̃ ≈ −2 ~ −4.7，工资方差测高 1% 只让 θ̃ 变 0.2~0.5%（Stata 日志 t4_rho_sens_out.log B 段）。</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sz="2600" b="1">
                <a:solidFill>
                  <a:srgbClr val="642366"/>
                </a:solidFill>
              </a:rPr>
              <a:t>table4：ρ 的缺口从哪来 —— 归因分解</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4" name="TextBox 3"/>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把 ρ 的缺口拆成 θ 的贡献、θ̃ 的贡献、和交互项</a:t>
            </a:r>
            <a:endParaRPr sz="2200" b="1">
              <a:solidFill>
                <a:srgbClr val="642366"/>
              </a:solidFill>
            </a:endParaRPr>
          </a:p>
        </p:txBody>
      </p:sp>
      <p:graphicFrame>
        <p:nvGraphicFramePr>
          <p:cNvPr id="5" name="Table 4"/>
          <p:cNvGraphicFramePr>
            <a:graphicFrameLocks noGrp="1"/>
          </p:cNvGraphicFramePr>
          <p:nvPr/>
        </p:nvGraphicFramePr>
        <p:xfrm>
          <a:off x="1929384" y="1417320"/>
          <a:ext cx="9692640" cy="1920240"/>
        </p:xfrm>
        <a:graphic>
          <a:graphicData uri="http://schemas.openxmlformats.org/drawingml/2006/table">
            <a:tbl>
              <a:tblPr firstRow="1">
                <a:tableStyleId>{5C22544A-7EE6-4342-B048-85BDC9FD1C3A}</a:tableStyleId>
              </a:tblPr>
              <a:tblGrid>
                <a:gridCol w="4114800"/>
                <a:gridCol w="2788920"/>
                <a:gridCol w="2788920"/>
              </a:tblGrid>
              <a:tr h="274320">
                <a:tc>
                  <a:txBody>
                    <a:bodyPr/>
                    <a:lstStyle/>
                    <a:p>
                      <a:pPr algn="l">
                        <a:lnSpc>
                          <a:spcPct val="100000"/>
                        </a:lnSpc>
                      </a:pPr>
                      <a:r>
                        <a:rPr sz="1300" b="1">
                          <a:solidFill>
                            <a:srgbClr val="FFFFFF"/>
                          </a:solidFill>
                        </a:rPr>
                        <a:t>分解项</a:t>
                      </a:r>
                      <a:endParaRPr sz="1300" b="1">
                        <a:solidFill>
                          <a:srgbClr val="FFFFFF"/>
                        </a:solidFill>
                      </a:endParaRPr>
                    </a:p>
                  </a:txBody>
                  <a:tcPr marL="45720" marR="45720" marT="9144" marB="9144" anchor="ctr">
                    <a:solidFill>
                      <a:srgbClr val="642366"/>
                    </a:solidFill>
                  </a:tcPr>
                </a:tc>
                <a:tc>
                  <a:txBody>
                    <a:bodyPr/>
                    <a:lstStyle/>
                    <a:p>
                      <a:pPr algn="ctr">
                        <a:lnSpc>
                          <a:spcPct val="100000"/>
                        </a:lnSpc>
                      </a:pPr>
                      <a:r>
                        <a:rPr sz="1300" b="1">
                          <a:solidFill>
                            <a:srgbClr val="FFFFFF"/>
                          </a:solidFill>
                        </a:rPr>
                        <a:t>印度尼西亚</a:t>
                      </a:r>
                      <a:endParaRPr sz="1300" b="1">
                        <a:solidFill>
                          <a:srgbClr val="FFFFFF"/>
                        </a:solidFill>
                      </a:endParaRPr>
                    </a:p>
                  </a:txBody>
                  <a:tcPr marL="45720" marR="45720" marT="9144" marB="9144" anchor="ctr">
                    <a:solidFill>
                      <a:srgbClr val="642366"/>
                    </a:solidFill>
                  </a:tcPr>
                </a:tc>
                <a:tc>
                  <a:txBody>
                    <a:bodyPr/>
                    <a:lstStyle/>
                    <a:p>
                      <a:pPr algn="ctr">
                        <a:lnSpc>
                          <a:spcPct val="100000"/>
                        </a:lnSpc>
                      </a:pPr>
                      <a:r>
                        <a:rPr sz="1300" b="1">
                          <a:solidFill>
                            <a:srgbClr val="FFFFFF"/>
                          </a:solidFill>
                        </a:rPr>
                        <a:t>美国 1990</a:t>
                      </a:r>
                      <a:endParaRPr sz="1300" b="1">
                        <a:solidFill>
                          <a:srgbClr val="FFFFFF"/>
                        </a:solidFill>
                      </a:endParaRPr>
                    </a:p>
                  </a:txBody>
                  <a:tcPr marL="45720" marR="45720" marT="9144" marB="9144" anchor="ctr">
                    <a:solidFill>
                      <a:srgbClr val="642366"/>
                    </a:solidFill>
                  </a:tcPr>
                </a:tc>
              </a:tr>
              <a:tr h="274320">
                <a:tc>
                  <a:txBody>
                    <a:bodyPr/>
                    <a:lstStyle/>
                    <a:p>
                      <a:pPr algn="l">
                        <a:lnSpc>
                          <a:spcPct val="100000"/>
                        </a:lnSpc>
                      </a:pPr>
                      <a:r>
                        <a:rPr sz="1300" b="0">
                          <a:solidFill>
                            <a:srgbClr val="252A33"/>
                          </a:solidFill>
                        </a:rPr>
                        <a:t>论文 ρ = 1 − θ̃/θ</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1">
                          <a:solidFill>
                            <a:srgbClr val="642366"/>
                          </a:solidFill>
                        </a:rPr>
                        <a:t>0.7456</a:t>
                      </a:r>
                      <a:endParaRPr sz="1300" b="1">
                        <a:solidFill>
                          <a:srgbClr val="642366"/>
                        </a:solidFill>
                      </a:endParaRPr>
                    </a:p>
                  </a:txBody>
                  <a:tcPr marL="45720" marR="45720" marT="9144" marB="9144" anchor="ctr">
                    <a:solidFill>
                      <a:srgbClr val="FFFFFF"/>
                    </a:solidFill>
                  </a:tcPr>
                </a:tc>
                <a:tc>
                  <a:txBody>
                    <a:bodyPr/>
                    <a:lstStyle/>
                    <a:p>
                      <a:pPr algn="ctr">
                        <a:lnSpc>
                          <a:spcPct val="100000"/>
                        </a:lnSpc>
                      </a:pPr>
                      <a:r>
                        <a:rPr sz="1300" b="1">
                          <a:solidFill>
                            <a:srgbClr val="642366"/>
                          </a:solidFill>
                        </a:rPr>
                        <a:t>0.9025</a:t>
                      </a:r>
                      <a:endParaRPr sz="1300" b="1">
                        <a:solidFill>
                          <a:srgbClr val="642366"/>
                        </a:solidFill>
                      </a:endParaRPr>
                    </a:p>
                  </a:txBody>
                  <a:tcPr marL="45720" marR="45720" marT="9144" marB="9144" anchor="ctr">
                    <a:solidFill>
                      <a:srgbClr val="FFFFFF"/>
                    </a:solidFill>
                  </a:tcPr>
                </a:tc>
              </a:tr>
              <a:tr h="274320">
                <a:tc>
                  <a:txBody>
                    <a:bodyPr/>
                    <a:lstStyle/>
                    <a:p>
                      <a:pPr algn="l">
                        <a:lnSpc>
                          <a:spcPct val="100000"/>
                        </a:lnSpc>
                      </a:pPr>
                      <a:r>
                        <a:rPr sz="1300" b="0">
                          <a:solidFill>
                            <a:srgbClr val="252A33"/>
                          </a:solidFill>
                        </a:rPr>
                        <a:t>本复现 ρ = 1 − θ̃/θ</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1">
                          <a:solidFill>
                            <a:srgbClr val="642366"/>
                          </a:solidFill>
                        </a:rPr>
                        <a:t>0.6126</a:t>
                      </a:r>
                      <a:endParaRPr sz="1300" b="1">
                        <a:solidFill>
                          <a:srgbClr val="642366"/>
                        </a:solidFill>
                      </a:endParaRPr>
                    </a:p>
                  </a:txBody>
                  <a:tcPr marL="45720" marR="45720" marT="9144" marB="9144" anchor="ctr">
                    <a:solidFill>
                      <a:srgbClr val="F2EEF5"/>
                    </a:solidFill>
                  </a:tcPr>
                </a:tc>
                <a:tc>
                  <a:txBody>
                    <a:bodyPr/>
                    <a:lstStyle/>
                    <a:p>
                      <a:pPr algn="ctr">
                        <a:lnSpc>
                          <a:spcPct val="100000"/>
                        </a:lnSpc>
                      </a:pPr>
                      <a:r>
                        <a:rPr sz="1300" b="1">
                          <a:solidFill>
                            <a:srgbClr val="642366"/>
                          </a:solidFill>
                        </a:rPr>
                        <a:t>0.8671</a:t>
                      </a:r>
                      <a:endParaRPr sz="1300" b="1">
                        <a:solidFill>
                          <a:srgbClr val="642366"/>
                        </a:solidFill>
                      </a:endParaRPr>
                    </a:p>
                  </a:txBody>
                  <a:tcPr marL="45720" marR="45720" marT="9144" marB="9144" anchor="ctr">
                    <a:solidFill>
                      <a:srgbClr val="F2EEF5"/>
                    </a:solidFill>
                  </a:tcPr>
                </a:tc>
              </a:tr>
              <a:tr h="274320">
                <a:tc>
                  <a:txBody>
                    <a:bodyPr/>
                    <a:lstStyle/>
                    <a:p>
                      <a:pPr algn="l">
                        <a:lnSpc>
                          <a:spcPct val="100000"/>
                        </a:lnSpc>
                      </a:pPr>
                      <a:r>
                        <a:rPr sz="1300" b="0">
                          <a:solidFill>
                            <a:srgbClr val="252A33"/>
                          </a:solidFill>
                        </a:rPr>
                        <a:t>θ̃ 的单独贡献（θ 用我们的）</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1">
                          <a:solidFill>
                            <a:srgbClr val="642366"/>
                          </a:solidFill>
                        </a:rPr>
                        <a:t>−0.0726   (54.6 %)</a:t>
                      </a:r>
                      <a:endParaRPr sz="1300" b="1">
                        <a:solidFill>
                          <a:srgbClr val="642366"/>
                        </a:solidFill>
                      </a:endParaRPr>
                    </a:p>
                  </a:txBody>
                  <a:tcPr marL="45720" marR="45720" marT="9144" marB="9144" anchor="ctr">
                    <a:solidFill>
                      <a:srgbClr val="FFFFFF"/>
                    </a:solidFill>
                  </a:tcPr>
                </a:tc>
                <a:tc>
                  <a:txBody>
                    <a:bodyPr/>
                    <a:lstStyle/>
                    <a:p>
                      <a:pPr algn="ctr">
                        <a:lnSpc>
                          <a:spcPct val="100000"/>
                        </a:lnSpc>
                      </a:pPr>
                      <a:r>
                        <a:rPr sz="1300" b="1">
                          <a:solidFill>
                            <a:srgbClr val="642366"/>
                          </a:solidFill>
                        </a:rPr>
                        <a:t>−0.1006   (+283.8 %)</a:t>
                      </a:r>
                      <a:endParaRPr sz="1300" b="1">
                        <a:solidFill>
                          <a:srgbClr val="642366"/>
                        </a:solidFill>
                      </a:endParaRPr>
                    </a:p>
                  </a:txBody>
                  <a:tcPr marL="45720" marR="45720" marT="9144" marB="9144" anchor="ctr">
                    <a:solidFill>
                      <a:srgbClr val="FFFFFF"/>
                    </a:solidFill>
                  </a:tcPr>
                </a:tc>
              </a:tr>
              <a:tr h="274320">
                <a:tc>
                  <a:txBody>
                    <a:bodyPr/>
                    <a:lstStyle/>
                    <a:p>
                      <a:pPr algn="l">
                        <a:lnSpc>
                          <a:spcPct val="100000"/>
                        </a:lnSpc>
                      </a:pPr>
                      <a:r>
                        <a:rPr sz="1300" b="0">
                          <a:solidFill>
                            <a:srgbClr val="252A33"/>
                          </a:solidFill>
                        </a:rPr>
                        <a:t>θ 的单独贡献（θ̃ 用我们的）</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1">
                          <a:solidFill>
                            <a:srgbClr val="642366"/>
                          </a:solidFill>
                        </a:rPr>
                        <a:t>−0.0470   (35.3 %)</a:t>
                      </a:r>
                      <a:endParaRPr sz="1300" b="1">
                        <a:solidFill>
                          <a:srgbClr val="642366"/>
                        </a:solidFill>
                      </a:endParaRPr>
                    </a:p>
                  </a:txBody>
                  <a:tcPr marL="45720" marR="45720" marT="9144" marB="9144" anchor="ctr">
                    <a:solidFill>
                      <a:srgbClr val="F2EEF5"/>
                    </a:solidFill>
                  </a:tcPr>
                </a:tc>
                <a:tc>
                  <a:txBody>
                    <a:bodyPr/>
                    <a:lstStyle/>
                    <a:p>
                      <a:pPr algn="ctr">
                        <a:lnSpc>
                          <a:spcPct val="100000"/>
                        </a:lnSpc>
                      </a:pPr>
                      <a:r>
                        <a:rPr sz="1300" b="1">
                          <a:solidFill>
                            <a:srgbClr val="642366"/>
                          </a:solidFill>
                        </a:rPr>
                        <a:t>+0.0321   (−90.4 %)</a:t>
                      </a:r>
                      <a:endParaRPr sz="1300" b="1">
                        <a:solidFill>
                          <a:srgbClr val="642366"/>
                        </a:solidFill>
                      </a:endParaRPr>
                    </a:p>
                  </a:txBody>
                  <a:tcPr marL="45720" marR="45720" marT="9144" marB="9144" anchor="ctr">
                    <a:solidFill>
                      <a:srgbClr val="F2EEF5"/>
                    </a:solidFill>
                  </a:tcPr>
                </a:tc>
              </a:tr>
              <a:tr h="274320">
                <a:tc>
                  <a:txBody>
                    <a:bodyPr/>
                    <a:lstStyle/>
                    <a:p>
                      <a:pPr algn="l">
                        <a:lnSpc>
                          <a:spcPct val="100000"/>
                        </a:lnSpc>
                      </a:pPr>
                      <a:r>
                        <a:rPr sz="1300" b="0">
                          <a:solidFill>
                            <a:srgbClr val="252A33"/>
                          </a:solidFill>
                        </a:rPr>
                        <a:t>交互项</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1">
                          <a:solidFill>
                            <a:srgbClr val="642366"/>
                          </a:solidFill>
                        </a:rPr>
                        <a:t>−0.0134   (10.1 %)</a:t>
                      </a:r>
                      <a:endParaRPr sz="1300" b="1">
                        <a:solidFill>
                          <a:srgbClr val="642366"/>
                        </a:solidFill>
                      </a:endParaRPr>
                    </a:p>
                  </a:txBody>
                  <a:tcPr marL="45720" marR="45720" marT="9144" marB="9144" anchor="ctr">
                    <a:solidFill>
                      <a:srgbClr val="FFFFFF"/>
                    </a:solidFill>
                  </a:tcPr>
                </a:tc>
                <a:tc>
                  <a:txBody>
                    <a:bodyPr/>
                    <a:lstStyle/>
                    <a:p>
                      <a:pPr algn="ctr">
                        <a:lnSpc>
                          <a:spcPct val="100000"/>
                        </a:lnSpc>
                      </a:pPr>
                      <a:r>
                        <a:rPr sz="1300" b="1">
                          <a:solidFill>
                            <a:srgbClr val="642366"/>
                          </a:solidFill>
                        </a:rPr>
                        <a:t>+0.0331   (−93.3 %)</a:t>
                      </a:r>
                      <a:endParaRPr sz="1300" b="1">
                        <a:solidFill>
                          <a:srgbClr val="642366"/>
                        </a:solidFill>
                      </a:endParaRPr>
                    </a:p>
                  </a:txBody>
                  <a:tcPr marL="45720" marR="45720" marT="9144" marB="9144" anchor="ctr">
                    <a:solidFill>
                      <a:srgbClr val="FFFFFF"/>
                    </a:solidFill>
                  </a:tcPr>
                </a:tc>
              </a:tr>
              <a:tr h="274320">
                <a:tc>
                  <a:txBody>
                    <a:bodyPr/>
                    <a:lstStyle/>
                    <a:p>
                      <a:pPr algn="l">
                        <a:lnSpc>
                          <a:spcPct val="100000"/>
                        </a:lnSpc>
                      </a:pPr>
                      <a:r>
                        <a:rPr sz="1300" b="0">
                          <a:solidFill>
                            <a:srgbClr val="252A33"/>
                          </a:solidFill>
                        </a:rPr>
                        <a:t>总缺口</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1">
                          <a:solidFill>
                            <a:srgbClr val="A63A1E"/>
                          </a:solidFill>
                        </a:rPr>
                        <a:t>−0.1330</a:t>
                      </a:r>
                      <a:endParaRPr sz="1300" b="1">
                        <a:solidFill>
                          <a:srgbClr val="A63A1E"/>
                        </a:solidFill>
                      </a:endParaRPr>
                    </a:p>
                  </a:txBody>
                  <a:tcPr marL="45720" marR="45720" marT="9144" marB="9144" anchor="ctr">
                    <a:solidFill>
                      <a:srgbClr val="F2EEF5"/>
                    </a:solidFill>
                  </a:tcPr>
                </a:tc>
                <a:tc>
                  <a:txBody>
                    <a:bodyPr/>
                    <a:lstStyle/>
                    <a:p>
                      <a:pPr algn="ctr">
                        <a:lnSpc>
                          <a:spcPct val="100000"/>
                        </a:lnSpc>
                      </a:pPr>
                      <a:r>
                        <a:rPr sz="1300" b="1">
                          <a:solidFill>
                            <a:srgbClr val="A63A1E"/>
                          </a:solidFill>
                        </a:rPr>
                        <a:t>−0.0355</a:t>
                      </a:r>
                      <a:endParaRPr sz="1300" b="1">
                        <a:solidFill>
                          <a:srgbClr val="A63A1E"/>
                        </a:solidFill>
                      </a:endParaRPr>
                    </a:p>
                  </a:txBody>
                  <a:tcPr marL="45720" marR="45720" marT="9144" marB="9144" anchor="ctr">
                    <a:solidFill>
                      <a:srgbClr val="F2EEF5"/>
                    </a:solidFill>
                  </a:tcPr>
                </a:tc>
              </a:tr>
            </a:tbl>
          </a:graphicData>
        </a:graphic>
      </p:graphicFrame>
      <p:sp>
        <p:nvSpPr>
          <p:cNvPr id="6" name="TextBox 5"/>
          <p:cNvSpPr txBox="1"/>
          <p:nvPr/>
        </p:nvSpPr>
        <p:spPr>
          <a:xfrm>
            <a:off x="1929384" y="352044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 美国 ρ 只差 3.7 %，但这不是「估得准」</a:t>
            </a:r>
            <a:endParaRPr sz="2200" b="1">
              <a:solidFill>
                <a:srgbClr val="642366"/>
              </a:solidFill>
            </a:endParaRPr>
          </a:p>
        </p:txBody>
      </p:sp>
      <p:sp>
        <p:nvSpPr>
          <p:cNvPr id="7" name="TextBox 6"/>
          <p:cNvSpPr txBox="1"/>
          <p:nvPr/>
        </p:nvSpPr>
        <p:spPr>
          <a:xfrm>
            <a:off x="2029968" y="3886200"/>
            <a:ext cx="9601200" cy="1234440"/>
          </a:xfrm>
          <a:prstGeom prst="rect">
            <a:avLst/>
          </a:prstGeom>
          <a:noFill/>
        </p:spPr>
        <p:txBody>
          <a:bodyPr wrap="square" lIns="0" tIns="0" rIns="0" bIns="0">
            <a:spAutoFit/>
          </a:bodyPr>
          <a:lstStyle/>
          <a:p>
            <a:pPr algn="l">
              <a:lnSpc>
                <a:spcPct val="102000"/>
              </a:lnSpc>
              <a:spcAft>
                <a:spcPts val="300"/>
              </a:spcAft>
            </a:pPr>
            <a:r>
              <a:rPr sz="1350" b="0">
                <a:solidFill>
                  <a:srgbClr val="252A33"/>
                </a:solidFill>
              </a:rPr>
              <a:t>美国：θ 偏高把 ρ 往上推 +0.0321，θ̃ 偏高把它往下拉 −0.1006 —— 两个方向相反的【大】误差几乎完全抵消，才留下 −0.0355。所以美国 ρ 的好成绩是巧合，不是精度。</a:t>
            </a:r>
            <a:endParaRPr sz="1350" b="0">
              <a:solidFill>
                <a:srgbClr val="252A33"/>
              </a:solidFill>
            </a:endParaRPr>
          </a:p>
          <a:p>
            <a:pPr algn="l">
              <a:lnSpc>
                <a:spcPct val="102000"/>
              </a:lnSpc>
              <a:spcAft>
                <a:spcPts val="300"/>
              </a:spcAft>
            </a:pPr>
            <a:r>
              <a:rPr sz="1350" b="1">
                <a:solidFill>
                  <a:srgbClr val="252A33"/>
                </a:solidFill>
              </a:rPr>
              <a:t>印尼：θ 偏低、θ̃ 偏高，两个误差【同向】，没有抵消，所以叠加成 −0.1330。</a:t>
            </a:r>
            <a:endParaRPr sz="1350" b="1">
              <a:solidFill>
                <a:srgbClr val="252A33"/>
              </a:solidFill>
            </a:endParaRPr>
          </a:p>
        </p:txBody>
      </p:sp>
      <p:sp>
        <p:nvSpPr>
          <p:cNvPr id="8" name="TextBox 7"/>
          <p:cNvSpPr txBox="1"/>
          <p:nvPr/>
        </p:nvSpPr>
        <p:spPr>
          <a:xfrm>
            <a:off x="1929384" y="5230368"/>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 方法论后果：单看 ρ 会骗人 —— 必须同时看 θ 和 θ̃</a:t>
            </a:r>
            <a:endParaRPr sz="2200" b="1">
              <a:solidFill>
                <a:srgbClr val="642366"/>
              </a:solidFill>
            </a:endParaRPr>
          </a:p>
        </p:txBody>
      </p:sp>
      <p:sp>
        <p:nvSpPr>
          <p:cNvPr id="9" name="TextBox 8"/>
          <p:cNvSpPr txBox="1"/>
          <p:nvPr/>
        </p:nvSpPr>
        <p:spPr>
          <a:xfrm>
            <a:off x="2029968" y="5577840"/>
            <a:ext cx="9601200" cy="1005840"/>
          </a:xfrm>
          <a:prstGeom prst="rect">
            <a:avLst/>
          </a:prstGeom>
          <a:noFill/>
        </p:spPr>
        <p:txBody>
          <a:bodyPr wrap="square" lIns="0" tIns="0" rIns="0" bIns="0">
            <a:spAutoFit/>
          </a:bodyPr>
          <a:lstStyle/>
          <a:p>
            <a:pPr algn="l">
              <a:lnSpc>
                <a:spcPct val="102000"/>
              </a:lnSpc>
              <a:spcAft>
                <a:spcPts val="300"/>
              </a:spcAft>
            </a:pPr>
            <a:r>
              <a:rPr sz="1300" b="0" dirty="0">
                <a:solidFill>
                  <a:srgbClr val="A63A1E"/>
                </a:solidFill>
              </a:rPr>
              <a:t>ρ </a:t>
            </a:r>
            <a:r>
              <a:rPr sz="1300" b="0" dirty="0" err="1">
                <a:solidFill>
                  <a:srgbClr val="A63A1E"/>
                </a:solidFill>
              </a:rPr>
              <a:t>是【两个分别估计的量之比</a:t>
            </a:r>
            <a:r>
              <a:rPr sz="1300" b="0" dirty="0">
                <a:solidFill>
                  <a:srgbClr val="A63A1E"/>
                </a:solidFill>
              </a:rPr>
              <a:t>】，</a:t>
            </a:r>
            <a:r>
              <a:rPr sz="1300" b="0" dirty="0" err="1">
                <a:solidFill>
                  <a:srgbClr val="A63A1E"/>
                </a:solidFill>
              </a:rPr>
              <a:t>两边的误差都会进来，且符号相同的概率和相反的改进无法区分。报告</a:t>
            </a:r>
            <a:r>
              <a:rPr sz="1300" b="0" dirty="0">
                <a:solidFill>
                  <a:srgbClr val="A63A1E"/>
                </a:solidFill>
              </a:rPr>
              <a:t> ρ </a:t>
            </a:r>
            <a:r>
              <a:rPr sz="1300" b="0" dirty="0" err="1">
                <a:solidFill>
                  <a:srgbClr val="A63A1E"/>
                </a:solidFill>
              </a:rPr>
              <a:t>的同时必须报告</a:t>
            </a:r>
            <a:r>
              <a:rPr sz="1300" b="0" dirty="0">
                <a:solidFill>
                  <a:srgbClr val="A63A1E"/>
                </a:solidFill>
              </a:rPr>
              <a:t> θ 与 θ̃，</a:t>
            </a:r>
            <a:r>
              <a:rPr sz="1300" b="0" dirty="0" err="1">
                <a:solidFill>
                  <a:srgbClr val="A63A1E"/>
                </a:solidFill>
              </a:rPr>
              <a:t>否则无法判断</a:t>
            </a:r>
            <a:r>
              <a:rPr sz="1300" b="0" dirty="0">
                <a:solidFill>
                  <a:srgbClr val="A63A1E"/>
                </a:solidFill>
              </a:rPr>
              <a:t> ρ </a:t>
            </a:r>
            <a:r>
              <a:rPr sz="1300" b="0" dirty="0" err="1">
                <a:solidFill>
                  <a:srgbClr val="A63A1E"/>
                </a:solidFill>
              </a:rPr>
              <a:t>的吻合是精度还是抵消</a:t>
            </a:r>
            <a:r>
              <a:rPr sz="1300" b="0" dirty="0">
                <a:solidFill>
                  <a:srgbClr val="A63A1E"/>
                </a:solidFill>
              </a:rPr>
              <a:t>。</a:t>
            </a:r>
            <a:endParaRPr sz="1300" b="0" dirty="0">
              <a:solidFill>
                <a:srgbClr val="A63A1E"/>
              </a:solidFill>
            </a:endParaRPr>
          </a:p>
          <a:p>
            <a:pPr algn="l">
              <a:lnSpc>
                <a:spcPct val="102000"/>
              </a:lnSpc>
              <a:spcAft>
                <a:spcPts val="300"/>
              </a:spcAft>
            </a:pPr>
            <a:r>
              <a:rPr sz="1200" b="0" dirty="0">
                <a:solidFill>
                  <a:srgbClr val="606670"/>
                </a:solidFill>
              </a:rPr>
              <a:t>数据来源（Stata）：t4_rho_sens_out.log C 段（归因分解）、t4_ppt_stats.log F 段。</a:t>
            </a:r>
            <a:endParaRPr sz="1200" b="0" dirty="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sz="2600" b="1">
                <a:solidFill>
                  <a:srgbClr val="642366"/>
                </a:solidFill>
              </a:rPr>
              <a:t>table4：ρ 难在水平，不在敏感度</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4" name="TextBox 3"/>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dirty="0">
                <a:solidFill>
                  <a:srgbClr val="642366"/>
                </a:solidFill>
              </a:rPr>
              <a:t>① 式(8) 其实不陡：1 % </a:t>
            </a:r>
            <a:r>
              <a:rPr sz="2200" b="1" dirty="0" err="1">
                <a:solidFill>
                  <a:srgbClr val="642366"/>
                </a:solidFill>
              </a:rPr>
              <a:t>的测量误差只造成</a:t>
            </a:r>
            <a:r>
              <a:rPr sz="2200" b="1" dirty="0">
                <a:solidFill>
                  <a:srgbClr val="642366"/>
                </a:solidFill>
              </a:rPr>
              <a:t> 0.2~0.5 % 的 θ̃ </a:t>
            </a:r>
            <a:r>
              <a:rPr sz="2200" b="1" dirty="0" err="1">
                <a:solidFill>
                  <a:srgbClr val="642366"/>
                </a:solidFill>
              </a:rPr>
              <a:t>误差</a:t>
            </a:r>
            <a:endParaRPr sz="2200" b="1" dirty="0">
              <a:solidFill>
                <a:srgbClr val="642366"/>
              </a:solidFill>
            </a:endParaRPr>
          </a:p>
        </p:txBody>
      </p:sp>
      <p:graphicFrame>
        <p:nvGraphicFramePr>
          <p:cNvPr id="5" name="Table 4"/>
          <p:cNvGraphicFramePr>
            <a:graphicFrameLocks noGrp="1"/>
          </p:cNvGraphicFramePr>
          <p:nvPr/>
        </p:nvGraphicFramePr>
        <p:xfrm>
          <a:off x="1929384" y="1417320"/>
          <a:ext cx="9692640" cy="1783080"/>
        </p:xfrm>
        <a:graphic>
          <a:graphicData uri="http://schemas.openxmlformats.org/drawingml/2006/table">
            <a:tbl>
              <a:tblPr firstRow="1">
                <a:tableStyleId>{5C22544A-7EE6-4342-B048-85BDC9FD1C3A}</a:tableStyleId>
              </a:tblPr>
              <a:tblGrid>
                <a:gridCol w="1554480"/>
                <a:gridCol w="3017520"/>
                <a:gridCol w="3017520"/>
                <a:gridCol w="2103120"/>
              </a:tblGrid>
              <a:tr h="297180">
                <a:tc>
                  <a:txBody>
                    <a:bodyPr/>
                    <a:lstStyle/>
                    <a:p>
                      <a:pPr algn="l">
                        <a:lnSpc>
                          <a:spcPct val="100000"/>
                        </a:lnSpc>
                      </a:pPr>
                      <a:r>
                        <a:rPr sz="1200" b="1">
                          <a:solidFill>
                            <a:srgbClr val="FFFFFF"/>
                          </a:solidFill>
                        </a:rPr>
                        <a:t>θ̃</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d ln(1+CV²) / d ln θ̃</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工资方差测高 1 % → θ̃ 变</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对照</a:t>
                      </a:r>
                      <a:endParaRPr sz="1200" b="1">
                        <a:solidFill>
                          <a:srgbClr val="FFFFFF"/>
                        </a:solidFill>
                      </a:endParaRPr>
                    </a:p>
                  </a:txBody>
                  <a:tcPr marL="45720" marR="45720" marT="9144" marB="9144" anchor="ctr">
                    <a:solidFill>
                      <a:srgbClr val="642366"/>
                    </a:solidFill>
                  </a:tcPr>
                </a:tc>
              </a:tr>
              <a:tr h="297180">
                <a:tc>
                  <a:txBody>
                    <a:bodyPr/>
                    <a:lstStyle/>
                    <a:p>
                      <a:pPr algn="l">
                        <a:lnSpc>
                          <a:spcPct val="100000"/>
                        </a:lnSpc>
                      </a:pPr>
                      <a:r>
                        <a:rPr sz="1250" b="0">
                          <a:solidFill>
                            <a:srgbClr val="252A33"/>
                          </a:solidFill>
                        </a:rPr>
                        <a:t>2.690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−4.7127</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−0.21 %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论文 美国 θ̃</a:t>
                      </a:r>
                      <a:endParaRPr sz="1250" b="0">
                        <a:solidFill>
                          <a:srgbClr val="252A33"/>
                        </a:solidFill>
                      </a:endParaRPr>
                    </a:p>
                  </a:txBody>
                  <a:tcPr marL="45720" marR="45720" marT="9144" marB="9144" anchor="ctr">
                    <a:solidFill>
                      <a:srgbClr val="FFFFFF"/>
                    </a:solidFill>
                  </a:tcPr>
                </a:tc>
              </a:tr>
              <a:tr h="297180">
                <a:tc>
                  <a:txBody>
                    <a:bodyPr/>
                    <a:lstStyle/>
                    <a:p>
                      <a:pPr algn="l">
                        <a:lnSpc>
                          <a:spcPct val="100000"/>
                        </a:lnSpc>
                      </a:pPr>
                      <a:r>
                        <a:rPr sz="1250" b="0">
                          <a:solidFill>
                            <a:srgbClr val="252A33"/>
                          </a:solidFill>
                        </a:rPr>
                        <a:t>3.180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−3.5361</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−0.28 %</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论文 印尼 θ̃</a:t>
                      </a:r>
                      <a:endParaRPr sz="1250" b="0">
                        <a:solidFill>
                          <a:srgbClr val="252A33"/>
                        </a:solidFill>
                      </a:endParaRPr>
                    </a:p>
                  </a:txBody>
                  <a:tcPr marL="45720" marR="45720" marT="9144" marB="9144" anchor="ctr">
                    <a:solidFill>
                      <a:srgbClr val="F2EEF5"/>
                    </a:solidFill>
                  </a:tcPr>
                </a:tc>
              </a:tr>
              <a:tr h="297180">
                <a:tc>
                  <a:txBody>
                    <a:bodyPr/>
                    <a:lstStyle/>
                    <a:p>
                      <a:pPr algn="l">
                        <a:lnSpc>
                          <a:spcPct val="100000"/>
                        </a:lnSpc>
                      </a:pPr>
                      <a:r>
                        <a:rPr sz="1250" b="0">
                          <a:solidFill>
                            <a:srgbClr val="252A33"/>
                          </a:solidFill>
                        </a:rPr>
                        <a:t>4.087</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−2.8329</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−0.35 %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本复现 印尼 θ̃</a:t>
                      </a:r>
                      <a:endParaRPr sz="1250" b="0">
                        <a:solidFill>
                          <a:srgbClr val="252A33"/>
                        </a:solidFill>
                      </a:endParaRPr>
                    </a:p>
                  </a:txBody>
                  <a:tcPr marL="45720" marR="45720" marT="9144" marB="9144" anchor="ctr">
                    <a:solidFill>
                      <a:srgbClr val="FFFFFF"/>
                    </a:solidFill>
                  </a:tcPr>
                </a:tc>
              </a:tr>
              <a:tr h="297180">
                <a:tc>
                  <a:txBody>
                    <a:bodyPr/>
                    <a:lstStyle/>
                    <a:p>
                      <a:pPr algn="l">
                        <a:lnSpc>
                          <a:spcPct val="100000"/>
                        </a:lnSpc>
                      </a:pPr>
                      <a:r>
                        <a:rPr sz="1250" b="0">
                          <a:solidFill>
                            <a:srgbClr val="252A33"/>
                          </a:solidFill>
                        </a:rPr>
                        <a:t>5.467</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−2.4820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−0.40 %</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本复现 美国 θ̃</a:t>
                      </a:r>
                      <a:endParaRPr sz="1250" b="0">
                        <a:solidFill>
                          <a:srgbClr val="252A33"/>
                        </a:solidFill>
                      </a:endParaRPr>
                    </a:p>
                  </a:txBody>
                  <a:tcPr marL="45720" marR="45720" marT="9144" marB="9144" anchor="ctr">
                    <a:solidFill>
                      <a:srgbClr val="F2EEF5"/>
                    </a:solidFill>
                  </a:tcPr>
                </a:tc>
              </a:tr>
              <a:tr h="297180">
                <a:tc>
                  <a:txBody>
                    <a:bodyPr/>
                    <a:lstStyle/>
                    <a:p>
                      <a:pPr algn="l">
                        <a:lnSpc>
                          <a:spcPct val="100000"/>
                        </a:lnSpc>
                      </a:pPr>
                      <a:r>
                        <a:rPr sz="1250" b="0">
                          <a:solidFill>
                            <a:srgbClr val="252A33"/>
                          </a:solidFill>
                        </a:rPr>
                        <a:t>12.500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−2.1481</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−0.47 %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dirty="0" err="1">
                          <a:solidFill>
                            <a:srgbClr val="252A33"/>
                          </a:solidFill>
                        </a:rPr>
                        <a:t>论文</a:t>
                      </a:r>
                      <a:r>
                        <a:rPr sz="1250" b="0" dirty="0">
                          <a:solidFill>
                            <a:srgbClr val="252A33"/>
                          </a:solidFill>
                        </a:rPr>
                        <a:t> </a:t>
                      </a:r>
                      <a:r>
                        <a:rPr sz="1250" b="0" dirty="0" err="1">
                          <a:solidFill>
                            <a:srgbClr val="252A33"/>
                          </a:solidFill>
                        </a:rPr>
                        <a:t>印尼</a:t>
                      </a:r>
                      <a:r>
                        <a:rPr sz="1250" b="0" dirty="0">
                          <a:solidFill>
                            <a:srgbClr val="252A33"/>
                          </a:solidFill>
                        </a:rPr>
                        <a:t> θ</a:t>
                      </a:r>
                      <a:endParaRPr sz="1250" b="0" dirty="0">
                        <a:solidFill>
                          <a:srgbClr val="252A33"/>
                        </a:solidFill>
                      </a:endParaRPr>
                    </a:p>
                  </a:txBody>
                  <a:tcPr marL="45720" marR="45720" marT="9144" marB="9144" anchor="ctr">
                    <a:solidFill>
                      <a:srgbClr val="FFFFFF"/>
                    </a:solidFill>
                  </a:tcPr>
                </a:tc>
              </a:tr>
            </a:tbl>
          </a:graphicData>
        </a:graphic>
      </p:graphicFrame>
      <p:sp>
        <p:nvSpPr>
          <p:cNvPr id="6" name="TextBox 5"/>
          <p:cNvSpPr txBox="1"/>
          <p:nvPr/>
        </p:nvSpPr>
        <p:spPr>
          <a:xfrm>
            <a:off x="2029968" y="3255264"/>
            <a:ext cx="9601200" cy="32004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 抽样噪声放大不出我们看到的偏差。所以「式(8) 太陡所以 ρ 难复现」这个解释是【错的】。</a:t>
            </a:r>
            <a:endParaRPr sz="1300" b="0">
              <a:solidFill>
                <a:srgbClr val="606670"/>
              </a:solidFill>
            </a:endParaRPr>
          </a:p>
        </p:txBody>
      </p:sp>
      <p:sp>
        <p:nvSpPr>
          <p:cNvPr id="7" name="TextBox 6"/>
          <p:cNvSpPr txBox="1"/>
          <p:nvPr/>
        </p:nvSpPr>
        <p:spPr>
          <a:xfrm>
            <a:off x="1929384" y="363931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② 真原因：我们测到的工资方差本身系统性偏低 2~13 倍</a:t>
            </a:r>
            <a:endParaRPr sz="2200" b="1">
              <a:solidFill>
                <a:srgbClr val="642366"/>
              </a:solidFill>
            </a:endParaRPr>
          </a:p>
        </p:txBody>
      </p:sp>
      <p:graphicFrame>
        <p:nvGraphicFramePr>
          <p:cNvPr id="8" name="Table 7"/>
          <p:cNvGraphicFramePr>
            <a:graphicFrameLocks noGrp="1"/>
          </p:cNvGraphicFramePr>
          <p:nvPr/>
        </p:nvGraphicFramePr>
        <p:xfrm>
          <a:off x="1929384" y="4005072"/>
          <a:ext cx="9692640" cy="1737360"/>
        </p:xfrm>
        <a:graphic>
          <a:graphicData uri="http://schemas.openxmlformats.org/drawingml/2006/table">
            <a:tbl>
              <a:tblPr firstRow="1">
                <a:tableStyleId>{5C22544A-7EE6-4342-B048-85BDC9FD1C3A}</a:tableStyleId>
              </a:tblPr>
              <a:tblGrid>
                <a:gridCol w="3931920"/>
                <a:gridCol w="1920240"/>
                <a:gridCol w="2651760"/>
                <a:gridCol w="1188720"/>
              </a:tblGrid>
              <a:tr h="347472">
                <a:tc>
                  <a:txBody>
                    <a:bodyPr/>
                    <a:lstStyle/>
                    <a:p>
                      <a:pPr algn="l">
                        <a:lnSpc>
                          <a:spcPct val="100000"/>
                        </a:lnSpc>
                      </a:pPr>
                      <a:r>
                        <a:rPr sz="1200" b="1">
                          <a:solidFill>
                            <a:srgbClr val="FFFFFF"/>
                          </a:solidFill>
                        </a:rPr>
                        <a:t>样本口径</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实测 var(w)/w̄²</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论文 θ̃ 隐含的 var(w)/w̄²</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差几倍</a:t>
                      </a:r>
                      <a:endParaRPr sz="1200" b="1">
                        <a:solidFill>
                          <a:srgbClr val="FFFFFF"/>
                        </a:solidFill>
                      </a:endParaRPr>
                    </a:p>
                  </a:txBody>
                  <a:tcPr marL="45720" marR="45720" marT="9144" marB="9144" anchor="ctr">
                    <a:solidFill>
                      <a:srgbClr val="642366"/>
                    </a:solidFill>
                  </a:tcPr>
                </a:tc>
              </a:tr>
              <a:tr h="347472">
                <a:tc>
                  <a:txBody>
                    <a:bodyPr/>
                    <a:lstStyle/>
                    <a:p>
                      <a:pPr algn="l">
                        <a:lnSpc>
                          <a:spcPct val="100000"/>
                        </a:lnSpc>
                      </a:pPr>
                      <a:r>
                        <a:rPr sz="1250" b="0">
                          <a:solidFill>
                            <a:srgbClr val="252A33"/>
                          </a:solidFill>
                        </a:rPr>
                        <a:t>印尼 · 主口径（对数 2SLS）</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0.16956</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0.37209</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A63A1E"/>
                          </a:solidFill>
                        </a:rPr>
                        <a:t>2.19 ×</a:t>
                      </a:r>
                      <a:endParaRPr sz="1250" b="1">
                        <a:solidFill>
                          <a:srgbClr val="A63A1E"/>
                        </a:solidFill>
                      </a:endParaRPr>
                    </a:p>
                  </a:txBody>
                  <a:tcPr marL="45720" marR="45720" marT="9144" marB="9144" anchor="ctr">
                    <a:solidFill>
                      <a:srgbClr val="FFFFFF"/>
                    </a:solidFill>
                  </a:tcPr>
                </a:tc>
              </a:tr>
              <a:tr h="347472">
                <a:tc>
                  <a:txBody>
                    <a:bodyPr/>
                    <a:lstStyle/>
                    <a:p>
                      <a:pPr algn="l">
                        <a:lnSpc>
                          <a:spcPct val="100000"/>
                        </a:lnSpc>
                      </a:pPr>
                      <a:r>
                        <a:rPr sz="1250" b="0">
                          <a:solidFill>
                            <a:srgbClr val="252A33"/>
                          </a:solidFill>
                        </a:rPr>
                        <a:t>印尼 · 论文口径（PPML + IV）</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0.14089</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0.37209</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A63A1E"/>
                          </a:solidFill>
                        </a:rPr>
                        <a:t>2.64 ×</a:t>
                      </a:r>
                      <a:endParaRPr sz="1250" b="1">
                        <a:solidFill>
                          <a:srgbClr val="A63A1E"/>
                        </a:solidFill>
                      </a:endParaRPr>
                    </a:p>
                  </a:txBody>
                  <a:tcPr marL="45720" marR="45720" marT="9144" marB="9144" anchor="ctr">
                    <a:solidFill>
                      <a:srgbClr val="F2EEF5"/>
                    </a:solidFill>
                  </a:tcPr>
                </a:tc>
              </a:tr>
              <a:tr h="347472">
                <a:tc>
                  <a:txBody>
                    <a:bodyPr/>
                    <a:lstStyle/>
                    <a:p>
                      <a:pPr algn="l">
                        <a:lnSpc>
                          <a:spcPct val="100000"/>
                        </a:lnSpc>
                      </a:pPr>
                      <a:r>
                        <a:rPr sz="1250" b="0">
                          <a:solidFill>
                            <a:srgbClr val="252A33"/>
                          </a:solidFill>
                        </a:rPr>
                        <a:t>美国 · 主口径（对数 2SLS）</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0.07879</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0.73089</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A63A1E"/>
                          </a:solidFill>
                        </a:rPr>
                        <a:t>9.28 ×</a:t>
                      </a:r>
                      <a:endParaRPr sz="1250" b="1">
                        <a:solidFill>
                          <a:srgbClr val="A63A1E"/>
                        </a:solidFill>
                      </a:endParaRPr>
                    </a:p>
                  </a:txBody>
                  <a:tcPr marL="45720" marR="45720" marT="9144" marB="9144" anchor="ctr">
                    <a:solidFill>
                      <a:srgbClr val="FFFFFF"/>
                    </a:solidFill>
                  </a:tcPr>
                </a:tc>
              </a:tr>
              <a:tr h="347472">
                <a:tc>
                  <a:txBody>
                    <a:bodyPr/>
                    <a:lstStyle/>
                    <a:p>
                      <a:pPr algn="l">
                        <a:lnSpc>
                          <a:spcPct val="100000"/>
                        </a:lnSpc>
                      </a:pPr>
                      <a:r>
                        <a:rPr sz="1250" b="0">
                          <a:solidFill>
                            <a:srgbClr val="252A33"/>
                          </a:solidFill>
                        </a:rPr>
                        <a:t>美国 · 论文口径（PPML + IV）</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0.05635</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0.73089</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A63A1E"/>
                          </a:solidFill>
                        </a:rPr>
                        <a:t>12.97 ×</a:t>
                      </a:r>
                      <a:endParaRPr sz="1250" b="1">
                        <a:solidFill>
                          <a:srgbClr val="A63A1E"/>
                        </a:solidFill>
                      </a:endParaRPr>
                    </a:p>
                  </a:txBody>
                  <a:tcPr marL="45720" marR="45720" marT="9144" marB="9144" anchor="ctr">
                    <a:solidFill>
                      <a:srgbClr val="F2EEF5"/>
                    </a:solidFill>
                  </a:tcPr>
                </a:tc>
              </a:tr>
            </a:tbl>
          </a:graphicData>
        </a:graphic>
      </p:graphicFrame>
      <p:sp>
        <p:nvSpPr>
          <p:cNvPr id="9" name="TextBox 8"/>
          <p:cNvSpPr txBox="1"/>
          <p:nvPr/>
        </p:nvSpPr>
        <p:spPr>
          <a:xfrm>
            <a:off x="2029968" y="5870448"/>
            <a:ext cx="9601200" cy="685800"/>
          </a:xfrm>
          <a:prstGeom prst="rect">
            <a:avLst/>
          </a:prstGeom>
          <a:noFill/>
        </p:spPr>
        <p:txBody>
          <a:bodyPr wrap="square" lIns="0" tIns="0" rIns="0" bIns="0">
            <a:spAutoFit/>
          </a:bodyPr>
          <a:lstStyle/>
          <a:p>
            <a:pPr algn="l">
              <a:lnSpc>
                <a:spcPct val="102000"/>
              </a:lnSpc>
              <a:spcAft>
                <a:spcPts val="300"/>
              </a:spcAft>
            </a:pPr>
            <a:r>
              <a:rPr sz="1300" b="0" dirty="0">
                <a:solidFill>
                  <a:srgbClr val="606670"/>
                </a:solidFill>
              </a:rPr>
              <a:t>③ </a:t>
            </a:r>
            <a:r>
              <a:rPr sz="1300" b="0" dirty="0" err="1">
                <a:solidFill>
                  <a:srgbClr val="606670"/>
                </a:solidFill>
              </a:rPr>
              <a:t>换口径救不了：穷举所有份额定义</a:t>
            </a:r>
            <a:r>
              <a:rPr sz="1300" b="0" dirty="0">
                <a:solidFill>
                  <a:srgbClr val="606670"/>
                </a:solidFill>
              </a:rPr>
              <a:t> × </a:t>
            </a:r>
            <a:r>
              <a:rPr sz="1300" b="0" dirty="0" err="1">
                <a:solidFill>
                  <a:srgbClr val="606670"/>
                </a:solidFill>
              </a:rPr>
              <a:t>筛选组合</a:t>
            </a:r>
            <a:r>
              <a:rPr sz="1300" b="0" dirty="0">
                <a:solidFill>
                  <a:srgbClr val="606670"/>
                </a:solidFill>
              </a:rPr>
              <a:t> —— </a:t>
            </a:r>
            <a:r>
              <a:rPr sz="1300" b="0" dirty="0" err="1">
                <a:solidFill>
                  <a:srgbClr val="606670"/>
                </a:solidFill>
              </a:rPr>
              <a:t>印尼只能到</a:t>
            </a:r>
            <a:r>
              <a:rPr sz="1300" b="0" dirty="0">
                <a:solidFill>
                  <a:srgbClr val="606670"/>
                </a:solidFill>
              </a:rPr>
              <a:t> 0.111~0.164（论文要 0.372）、</a:t>
            </a:r>
            <a:r>
              <a:rPr sz="1300" b="0" dirty="0" err="1">
                <a:solidFill>
                  <a:srgbClr val="606670"/>
                </a:solidFill>
              </a:rPr>
              <a:t>美国只能到</a:t>
            </a:r>
            <a:r>
              <a:rPr sz="1300" b="0" dirty="0">
                <a:solidFill>
                  <a:srgbClr val="606670"/>
                </a:solidFill>
              </a:rPr>
              <a:t> 0.056~0.079（论文要 0.731）。</a:t>
            </a:r>
            <a:r>
              <a:rPr sz="1300" b="0" dirty="0" err="1">
                <a:solidFill>
                  <a:srgbClr val="606670"/>
                </a:solidFill>
              </a:rPr>
              <a:t>差距来自【数据覆盖</a:t>
            </a:r>
            <a:r>
              <a:rPr sz="1300" b="0" dirty="0">
                <a:solidFill>
                  <a:srgbClr val="606670"/>
                </a:solidFill>
              </a:rPr>
              <a:t>】：</a:t>
            </a:r>
            <a:r>
              <a:rPr sz="1300" b="0" dirty="0" err="1">
                <a:solidFill>
                  <a:srgbClr val="606670"/>
                </a:solidFill>
              </a:rPr>
              <a:t>本复现为</a:t>
            </a:r>
            <a:r>
              <a:rPr sz="1300" b="0" dirty="0">
                <a:solidFill>
                  <a:srgbClr val="606670"/>
                </a:solidFill>
              </a:rPr>
              <a:t> 17 </a:t>
            </a:r>
            <a:r>
              <a:rPr sz="1300" b="0" dirty="0" err="1">
                <a:solidFill>
                  <a:srgbClr val="606670"/>
                </a:solidFill>
              </a:rPr>
              <a:t>个省</a:t>
            </a:r>
            <a:r>
              <a:rPr sz="1300" b="0" dirty="0">
                <a:solidFill>
                  <a:srgbClr val="606670"/>
                </a:solidFill>
              </a:rPr>
              <a:t> × 1995 </a:t>
            </a:r>
            <a:r>
              <a:rPr sz="1300" b="0" dirty="0" err="1">
                <a:solidFill>
                  <a:srgbClr val="606670"/>
                </a:solidFill>
              </a:rPr>
              <a:t>一年，论文为</a:t>
            </a:r>
            <a:r>
              <a:rPr sz="1300" b="0" dirty="0">
                <a:solidFill>
                  <a:srgbClr val="606670"/>
                </a:solidFill>
              </a:rPr>
              <a:t> 281 </a:t>
            </a:r>
            <a:r>
              <a:rPr sz="1300" b="0" dirty="0" err="1">
                <a:solidFill>
                  <a:srgbClr val="606670"/>
                </a:solidFill>
              </a:rPr>
              <a:t>个县</a:t>
            </a:r>
            <a:r>
              <a:rPr sz="1300" b="0" dirty="0">
                <a:solidFill>
                  <a:srgbClr val="606670"/>
                </a:solidFill>
              </a:rPr>
              <a:t> × 3 年（1995/2011/2012）。</a:t>
            </a:r>
            <a:endParaRPr sz="1300" b="0" dirty="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sz="2600" b="1">
                <a:solidFill>
                  <a:srgbClr val="642366"/>
                </a:solidFill>
              </a:rPr>
              <a:t>table4：θ̃ = θ(1−ρ) 是怎么来的 —— 推导</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4" name="TextBox 3"/>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论文的联合分布（原文第 896 行）与其等价写法</a:t>
            </a:r>
            <a:endParaRPr sz="2200" b="1">
              <a:solidFill>
                <a:srgbClr val="642366"/>
              </a:solidFill>
            </a:endParaRPr>
          </a:p>
        </p:txBody>
      </p:sp>
      <p:sp>
        <p:nvSpPr>
          <p:cNvPr id="5" name="TextBox 4"/>
          <p:cNvSpPr txBox="1"/>
          <p:nvPr/>
        </p:nvSpPr>
        <p:spPr>
          <a:xfrm>
            <a:off x="2029968" y="1417320"/>
            <a:ext cx="9601200" cy="868680"/>
          </a:xfrm>
          <a:prstGeom prst="rect">
            <a:avLst/>
          </a:prstGeom>
          <a:noFill/>
        </p:spPr>
        <p:txBody>
          <a:bodyPr wrap="square" lIns="0" tIns="0" rIns="0" bIns="0">
            <a:spAutoFit/>
          </a:bodyPr>
          <a:lstStyle/>
          <a:p>
            <a:pPr algn="l">
              <a:lnSpc>
                <a:spcPct val="102000"/>
              </a:lnSpc>
              <a:spcAft>
                <a:spcPts val="300"/>
              </a:spcAft>
            </a:pPr>
            <a:r>
              <a:rPr sz="1500" b="1">
                <a:solidFill>
                  <a:srgbClr val="642366"/>
                </a:solidFill>
              </a:rPr>
              <a:t>F(s₁,…,s_N) = exp{ − [ Σ_d s_d^(−θ̃/(1−ρ)) ]^(1−ρ) }      ⟺      exp{ − [ Σ_d s_d^(−θ) ]^(1−ρ) }</a:t>
            </a:r>
            <a:endParaRPr sz="1500" b="1">
              <a:solidFill>
                <a:srgbClr val="642366"/>
              </a:solidFill>
            </a:endParaRPr>
          </a:p>
          <a:p>
            <a:pPr algn="l">
              <a:lnSpc>
                <a:spcPct val="102000"/>
              </a:lnSpc>
              <a:spcAft>
                <a:spcPts val="300"/>
              </a:spcAft>
            </a:pPr>
            <a:r>
              <a:rPr sz="1250" b="0">
                <a:solidFill>
                  <a:srgbClr val="606670"/>
                </a:solidFill>
              </a:rPr>
              <a:t>原文第 921 行：「it is useful to work with θ = θ̃/(1−ρ) rather than θ̃」—— 两式只是主参数不同。</a:t>
            </a:r>
            <a:endParaRPr sz="1250" b="0">
              <a:solidFill>
                <a:srgbClr val="606670"/>
              </a:solidFill>
            </a:endParaRPr>
          </a:p>
        </p:txBody>
      </p:sp>
      <p:sp>
        <p:nvSpPr>
          <p:cNvPr id="6" name="TextBox 5"/>
          <p:cNvSpPr txBox="1"/>
          <p:nvPr/>
        </p:nvSpPr>
        <p:spPr>
          <a:xfrm>
            <a:off x="1929384" y="2395728"/>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求边缘分布：把 s₂,…,s_N 全部送到 +∞（因为 s_d→∞ 时 s_d^(−θ)→0）</a:t>
            </a:r>
            <a:endParaRPr sz="2200" b="1">
              <a:solidFill>
                <a:srgbClr val="642366"/>
              </a:solidFill>
            </a:endParaRPr>
          </a:p>
        </p:txBody>
      </p:sp>
      <p:sp>
        <p:nvSpPr>
          <p:cNvPr id="7" name="TextBox 6"/>
          <p:cNvSpPr txBox="1"/>
          <p:nvPr/>
        </p:nvSpPr>
        <p:spPr>
          <a:xfrm>
            <a:off x="2029968" y="2743200"/>
            <a:ext cx="9601200" cy="1691640"/>
          </a:xfrm>
          <a:prstGeom prst="rect">
            <a:avLst/>
          </a:prstGeom>
          <a:noFill/>
        </p:spPr>
        <p:txBody>
          <a:bodyPr wrap="square" lIns="0" tIns="0" rIns="0" bIns="0">
            <a:spAutoFit/>
          </a:bodyPr>
          <a:lstStyle/>
          <a:p>
            <a:pPr algn="l">
              <a:lnSpc>
                <a:spcPct val="102000"/>
              </a:lnSpc>
              <a:spcAft>
                <a:spcPts val="300"/>
              </a:spcAft>
            </a:pPr>
            <a:r>
              <a:rPr sz="1400" b="0">
                <a:solidFill>
                  <a:srgbClr val="252A33"/>
                </a:solidFill>
              </a:rPr>
              <a:t>第 1 步   F(s₁, ∞, …, ∞) = exp{ − [ s₁^(−θ) + 0 + ⋯ + 0 ]^(1−ρ) }</a:t>
            </a:r>
            <a:endParaRPr sz="1400" b="0">
              <a:solidFill>
                <a:srgbClr val="252A33"/>
              </a:solidFill>
            </a:endParaRPr>
          </a:p>
          <a:p>
            <a:pPr algn="l">
              <a:lnSpc>
                <a:spcPct val="102000"/>
              </a:lnSpc>
              <a:spcAft>
                <a:spcPts val="300"/>
              </a:spcAft>
            </a:pPr>
            <a:r>
              <a:rPr sz="1400" b="0">
                <a:solidFill>
                  <a:srgbClr val="252A33"/>
                </a:solidFill>
              </a:rPr>
              <a:t>第 2 步   = exp{ − [ s₁^(−θ) ]^(1−ρ) }            ← 只剩一项，方括号里的和消失</a:t>
            </a:r>
            <a:endParaRPr sz="1400" b="0">
              <a:solidFill>
                <a:srgbClr val="252A33"/>
              </a:solidFill>
            </a:endParaRPr>
          </a:p>
          <a:p>
            <a:pPr algn="l">
              <a:lnSpc>
                <a:spcPct val="102000"/>
              </a:lnSpc>
              <a:spcAft>
                <a:spcPts val="300"/>
              </a:spcAft>
            </a:pPr>
            <a:r>
              <a:rPr sz="1400" b="1">
                <a:solidFill>
                  <a:srgbClr val="642366"/>
                </a:solidFill>
              </a:rPr>
              <a:t>第 3 步   = exp{ − s₁^(−θ(1−ρ)) }                   ← 幂的幂 = 指数相乘，ρ 在这里变成乘数</a:t>
            </a:r>
            <a:endParaRPr sz="1400" b="1">
              <a:solidFill>
                <a:srgbClr val="642366"/>
              </a:solidFill>
            </a:endParaRPr>
          </a:p>
          <a:p>
            <a:pPr algn="l">
              <a:lnSpc>
                <a:spcPct val="102000"/>
              </a:lnSpc>
              <a:spcAft>
                <a:spcPts val="300"/>
              </a:spcAft>
            </a:pPr>
            <a:r>
              <a:rPr sz="1400" b="0">
                <a:solidFill>
                  <a:srgbClr val="252A33"/>
                </a:solidFill>
              </a:rPr>
              <a:t>第 4 步   对照标准式 F(x) = exp{−x^(−α)}  ⇒  α = θ(1−ρ) ≡ θ̃</a:t>
            </a:r>
            <a:endParaRPr sz="1400" b="0">
              <a:solidFill>
                <a:srgbClr val="252A33"/>
              </a:solidFill>
            </a:endParaRPr>
          </a:p>
          <a:p>
            <a:pPr algn="l">
              <a:lnSpc>
                <a:spcPct val="102000"/>
              </a:lnSpc>
              <a:spcAft>
                <a:spcPts val="300"/>
              </a:spcAft>
            </a:pPr>
            <a:r>
              <a:rPr sz="1400" b="1">
                <a:solidFill>
                  <a:srgbClr val="1B6B45"/>
                </a:solidFill>
              </a:rPr>
              <a:t>第 5 步   s_d 的边缘分布 = Fréchet(θ̃)          ✅</a:t>
            </a:r>
            <a:endParaRPr sz="1400" b="1">
              <a:solidFill>
                <a:srgbClr val="1B6B45"/>
              </a:solidFill>
            </a:endParaRPr>
          </a:p>
        </p:txBody>
      </p:sp>
      <p:sp>
        <p:nvSpPr>
          <p:cNvPr id="10" name="TextBox 9"/>
          <p:cNvSpPr txBox="1"/>
          <p:nvPr/>
        </p:nvSpPr>
        <p:spPr>
          <a:xfrm>
            <a:off x="1929384" y="4677271"/>
            <a:ext cx="9692640" cy="384048"/>
          </a:xfrm>
          <a:prstGeom prst="rect">
            <a:avLst/>
          </a:prstGeom>
          <a:noFill/>
        </p:spPr>
        <p:txBody>
          <a:bodyPr wrap="square" lIns="0" tIns="0" rIns="0" bIns="0">
            <a:spAutoFit/>
          </a:bodyPr>
          <a:lstStyle/>
          <a:p>
            <a:pPr algn="l">
              <a:lnSpc>
                <a:spcPct val="102000"/>
              </a:lnSpc>
              <a:spcAft>
                <a:spcPts val="300"/>
              </a:spcAft>
            </a:pPr>
            <a:r>
              <a:rPr sz="2200" b="1" dirty="0">
                <a:solidFill>
                  <a:srgbClr val="642366"/>
                </a:solidFill>
              </a:rPr>
              <a:t>ρ </a:t>
            </a:r>
            <a:r>
              <a:rPr sz="2200" b="1" dirty="0" err="1">
                <a:solidFill>
                  <a:srgbClr val="642366"/>
                </a:solidFill>
              </a:rPr>
              <a:t>的本质：分解式</a:t>
            </a:r>
            <a:r>
              <a:rPr sz="2200" b="1" dirty="0">
                <a:solidFill>
                  <a:srgbClr val="642366"/>
                </a:solidFill>
              </a:rPr>
              <a:t> </a:t>
            </a:r>
            <a:r>
              <a:rPr sz="2200" b="1" dirty="0" err="1">
                <a:solidFill>
                  <a:srgbClr val="642366"/>
                </a:solidFill>
              </a:rPr>
              <a:t>s_id</a:t>
            </a:r>
            <a:r>
              <a:rPr sz="2200" b="1" dirty="0">
                <a:solidFill>
                  <a:srgbClr val="642366"/>
                </a:solidFill>
              </a:rPr>
              <a:t> = </a:t>
            </a:r>
            <a:r>
              <a:rPr sz="2200" b="1" dirty="0" err="1">
                <a:solidFill>
                  <a:srgbClr val="642366"/>
                </a:solidFill>
              </a:rPr>
              <a:t>V_i</a:t>
            </a:r>
            <a:r>
              <a:rPr sz="2200" b="1" dirty="0">
                <a:solidFill>
                  <a:srgbClr val="642366"/>
                </a:solidFill>
              </a:rPr>
              <a:t>^(1/θ) · </a:t>
            </a:r>
            <a:r>
              <a:rPr sz="2200" b="1" dirty="0" err="1">
                <a:solidFill>
                  <a:srgbClr val="642366"/>
                </a:solidFill>
              </a:rPr>
              <a:t>u_id</a:t>
            </a:r>
            <a:endParaRPr sz="2200" b="1" dirty="0">
              <a:solidFill>
                <a:srgbClr val="642366"/>
              </a:solidFill>
            </a:endParaRPr>
          </a:p>
        </p:txBody>
      </p:sp>
      <p:sp>
        <p:nvSpPr>
          <p:cNvPr id="11" name="TextBox 10"/>
          <p:cNvSpPr txBox="1"/>
          <p:nvPr/>
        </p:nvSpPr>
        <p:spPr>
          <a:xfrm>
            <a:off x="2029968" y="5024737"/>
            <a:ext cx="9601200" cy="548640"/>
          </a:xfrm>
          <a:prstGeom prst="rect">
            <a:avLst/>
          </a:prstGeom>
          <a:noFill/>
        </p:spPr>
        <p:txBody>
          <a:bodyPr wrap="square" lIns="0" tIns="0" rIns="0" bIns="0">
            <a:spAutoFit/>
          </a:bodyPr>
          <a:lstStyle/>
          <a:p>
            <a:pPr algn="l">
              <a:lnSpc>
                <a:spcPct val="102000"/>
              </a:lnSpc>
              <a:spcAft>
                <a:spcPts val="300"/>
              </a:spcAft>
            </a:pPr>
            <a:r>
              <a:rPr sz="1300" b="0" dirty="0" err="1">
                <a:solidFill>
                  <a:srgbClr val="252A33"/>
                </a:solidFill>
              </a:rPr>
              <a:t>u_id</a:t>
            </a:r>
            <a:r>
              <a:rPr sz="1300" b="0" dirty="0">
                <a:solidFill>
                  <a:srgbClr val="252A33"/>
                </a:solidFill>
              </a:rPr>
              <a:t> ~ </a:t>
            </a:r>
            <a:r>
              <a:rPr sz="1300" b="0" dirty="0" err="1">
                <a:solidFill>
                  <a:srgbClr val="252A33"/>
                </a:solidFill>
              </a:rPr>
              <a:t>i.i.d</a:t>
            </a:r>
            <a:r>
              <a:rPr sz="1300" b="0" dirty="0">
                <a:solidFill>
                  <a:srgbClr val="252A33"/>
                </a:solidFill>
              </a:rPr>
              <a:t>. Fréchet(θ) </a:t>
            </a:r>
            <a:r>
              <a:rPr sz="1300" b="0" dirty="0" err="1">
                <a:solidFill>
                  <a:srgbClr val="252A33"/>
                </a:solidFill>
              </a:rPr>
              <a:t>是【地方特有运气</a:t>
            </a:r>
            <a:r>
              <a:rPr sz="1300" b="0" dirty="0">
                <a:solidFill>
                  <a:srgbClr val="252A33"/>
                </a:solidFill>
              </a:rPr>
              <a:t>】；</a:t>
            </a:r>
            <a:r>
              <a:rPr sz="1300" b="0" dirty="0" err="1">
                <a:solidFill>
                  <a:srgbClr val="252A33"/>
                </a:solidFill>
              </a:rPr>
              <a:t>V_i</a:t>
            </a:r>
            <a:r>
              <a:rPr sz="1300" b="0" dirty="0">
                <a:solidFill>
                  <a:srgbClr val="252A33"/>
                </a:solidFill>
              </a:rPr>
              <a:t> ~ </a:t>
            </a:r>
            <a:r>
              <a:rPr sz="1300" b="0" dirty="0" err="1">
                <a:solidFill>
                  <a:srgbClr val="252A33"/>
                </a:solidFill>
              </a:rPr>
              <a:t>正稳定</a:t>
            </a:r>
            <a:r>
              <a:rPr sz="1300" b="0" dirty="0">
                <a:solidFill>
                  <a:srgbClr val="252A33"/>
                </a:solidFill>
              </a:rPr>
              <a:t>(</a:t>
            </a:r>
            <a:r>
              <a:rPr sz="1300" b="0" dirty="0" err="1">
                <a:solidFill>
                  <a:srgbClr val="252A33"/>
                </a:solidFill>
              </a:rPr>
              <a:t>指数</a:t>
            </a:r>
            <a:r>
              <a:rPr sz="1300" b="0" dirty="0">
                <a:solidFill>
                  <a:srgbClr val="252A33"/>
                </a:solidFill>
              </a:rPr>
              <a:t> 1−ρ) </a:t>
            </a:r>
            <a:r>
              <a:rPr sz="1300" b="0" dirty="0" err="1">
                <a:solidFill>
                  <a:srgbClr val="252A33"/>
                </a:solidFill>
              </a:rPr>
              <a:t>是【个人总天赋</a:t>
            </a:r>
            <a:r>
              <a:rPr sz="1300" b="0" dirty="0">
                <a:solidFill>
                  <a:srgbClr val="252A33"/>
                </a:solidFill>
              </a:rPr>
              <a:t>】，一个人只抽一次。ρ→0 各地点独立；ρ→1 </a:t>
            </a:r>
            <a:r>
              <a:rPr sz="1300" b="0" dirty="0" err="1">
                <a:solidFill>
                  <a:srgbClr val="252A33"/>
                </a:solidFill>
              </a:rPr>
              <a:t>完全同步</a:t>
            </a:r>
            <a:r>
              <a:rPr sz="1300" b="0" dirty="0">
                <a:solidFill>
                  <a:srgbClr val="252A33"/>
                </a:solidFill>
              </a:rPr>
              <a:t> = </a:t>
            </a:r>
            <a:r>
              <a:rPr sz="1300" b="0" dirty="0" err="1">
                <a:solidFill>
                  <a:srgbClr val="252A33"/>
                </a:solidFill>
              </a:rPr>
              <a:t>技能一维化（原文第</a:t>
            </a:r>
            <a:r>
              <a:rPr sz="1300" b="0" dirty="0">
                <a:solidFill>
                  <a:srgbClr val="252A33"/>
                </a:solidFill>
              </a:rPr>
              <a:t> 920 行）。</a:t>
            </a:r>
            <a:endParaRPr sz="1300" b="0" dirty="0">
              <a:solidFill>
                <a:srgbClr val="252A3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0" grpId="0"/>
      <p:bldP spid="11"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sz="2600" b="1">
                <a:solidFill>
                  <a:srgbClr val="642366"/>
                </a:solidFill>
              </a:rPr>
              <a:t>table4：θ 与 θ̃ 的分工 —— 蒙特卡洛证据</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4" name="TextBox 3"/>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实验：5 万人 × 4 个地点，固定 θ = 12.5，只变 ρ</a:t>
            </a:r>
            <a:endParaRPr sz="2200" b="1">
              <a:solidFill>
                <a:srgbClr val="642366"/>
              </a:solidFill>
            </a:endParaRPr>
          </a:p>
        </p:txBody>
      </p:sp>
      <p:graphicFrame>
        <p:nvGraphicFramePr>
          <p:cNvPr id="5" name="Table 4"/>
          <p:cNvGraphicFramePr>
            <a:graphicFrameLocks noGrp="1"/>
          </p:cNvGraphicFramePr>
          <p:nvPr/>
        </p:nvGraphicFramePr>
        <p:xfrm>
          <a:off x="1929384" y="1417320"/>
          <a:ext cx="9692637" cy="1874516"/>
        </p:xfrm>
        <a:graphic>
          <a:graphicData uri="http://schemas.openxmlformats.org/drawingml/2006/table">
            <a:tbl>
              <a:tblPr firstRow="1">
                <a:tableStyleId>{5C22544A-7EE6-4342-B048-85BDC9FD1C3A}</a:tableStyleId>
              </a:tblPr>
              <a:tblGrid>
                <a:gridCol w="3315903"/>
                <a:gridCol w="1062789"/>
                <a:gridCol w="1062789"/>
                <a:gridCol w="1062789"/>
                <a:gridCol w="1062789"/>
                <a:gridCol w="2125578"/>
              </a:tblGrid>
              <a:tr h="468629">
                <a:tc>
                  <a:txBody>
                    <a:bodyPr/>
                    <a:lstStyle/>
                    <a:p>
                      <a:pPr algn="l">
                        <a:lnSpc>
                          <a:spcPct val="100000"/>
                        </a:lnSpc>
                      </a:pPr>
                      <a:r>
                        <a:rPr sz="1200" b="1">
                          <a:solidFill>
                            <a:srgbClr val="FFFFFF"/>
                          </a:solidFill>
                        </a:rPr>
                        <a:t>实验</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ρ = 0</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ρ = 0.50</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ρ = 0.74</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ρ = 0.90</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结论</a:t>
                      </a:r>
                      <a:endParaRPr sz="1200" b="1">
                        <a:solidFill>
                          <a:srgbClr val="FFFFFF"/>
                        </a:solidFill>
                      </a:endParaRPr>
                    </a:p>
                  </a:txBody>
                  <a:tcPr marL="45720" marR="45720" marT="9144" marB="9144" anchor="ctr">
                    <a:solidFill>
                      <a:srgbClr val="642366"/>
                    </a:solidFill>
                  </a:tcPr>
                </a:tc>
              </a:tr>
              <a:tr h="468629">
                <a:tc>
                  <a:txBody>
                    <a:bodyPr/>
                    <a:lstStyle/>
                    <a:p>
                      <a:pPr algn="l">
                        <a:lnSpc>
                          <a:spcPct val="100000"/>
                        </a:lnSpc>
                      </a:pPr>
                      <a:r>
                        <a:rPr sz="1200" b="0">
                          <a:solidFill>
                            <a:srgbClr val="252A33"/>
                          </a:solidFill>
                        </a:rPr>
                        <a:t>标准化个人 profile 的均值</a:t>
                      </a:r>
                      <a:br>
                        <a:rPr sz="1200" b="0">
                          <a:solidFill>
                            <a:srgbClr val="252A33"/>
                          </a:solidFill>
                        </a:rPr>
                      </a:br>
                      <a:r>
                        <a:rPr sz="1200" b="0">
                          <a:solidFill>
                            <a:srgbClr val="252A33"/>
                          </a:solidFill>
                        </a:rPr>
                        <a:t>（每人 4 个技能 ÷ 本人最大值）</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0.9005</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0.9001</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0.9006</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0.9005</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1">
                          <a:solidFill>
                            <a:srgbClr val="1B6B45"/>
                          </a:solidFill>
                        </a:rPr>
                        <a:t>对 ρ 完全不敏感</a:t>
                      </a:r>
                      <a:br>
                        <a:rPr sz="1200" b="1">
                          <a:solidFill>
                            <a:srgbClr val="1B6B45"/>
                          </a:solidFill>
                        </a:rPr>
                      </a:br>
                      <a:r>
                        <a:rPr sz="1200" b="1">
                          <a:solidFill>
                            <a:srgbClr val="1B6B45"/>
                          </a:solidFill>
                        </a:rPr>
                        <a:t>⇒ 只由 θ 决定</a:t>
                      </a:r>
                      <a:endParaRPr sz="1200" b="1">
                        <a:solidFill>
                          <a:srgbClr val="1B6B45"/>
                        </a:solidFill>
                      </a:endParaRPr>
                    </a:p>
                  </a:txBody>
                  <a:tcPr marL="45720" marR="45720" marT="9144" marB="9144" anchor="ctr">
                    <a:solidFill>
                      <a:srgbClr val="FFFFFF"/>
                    </a:solidFill>
                  </a:tcPr>
                </a:tc>
              </a:tr>
              <a:tr h="468629">
                <a:tc>
                  <a:txBody>
                    <a:bodyPr/>
                    <a:lstStyle/>
                    <a:p>
                      <a:pPr algn="l">
                        <a:lnSpc>
                          <a:spcPct val="100000"/>
                        </a:lnSpc>
                      </a:pPr>
                      <a:r>
                        <a:rPr sz="1200" b="0">
                          <a:solidFill>
                            <a:srgbClr val="252A33"/>
                          </a:solidFill>
                        </a:rPr>
                        <a:t>同上的变异系数</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0.1049</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0.1056</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0.1051</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0.1048</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1">
                          <a:solidFill>
                            <a:srgbClr val="1B6B45"/>
                          </a:solidFill>
                        </a:rPr>
                        <a:t>同上</a:t>
                      </a:r>
                      <a:endParaRPr sz="1200" b="1">
                        <a:solidFill>
                          <a:srgbClr val="1B6B45"/>
                        </a:solidFill>
                      </a:endParaRPr>
                    </a:p>
                  </a:txBody>
                  <a:tcPr marL="45720" marR="45720" marT="9144" marB="9144" anchor="ctr">
                    <a:solidFill>
                      <a:srgbClr val="F2EEF5"/>
                    </a:solidFill>
                  </a:tcPr>
                </a:tc>
              </a:tr>
              <a:tr h="468629">
                <a:tc>
                  <a:txBody>
                    <a:bodyPr/>
                    <a:lstStyle/>
                    <a:p>
                      <a:pPr algn="l">
                        <a:lnSpc>
                          <a:spcPct val="100000"/>
                        </a:lnSpc>
                      </a:pPr>
                      <a:r>
                        <a:rPr sz="1200" b="0">
                          <a:solidFill>
                            <a:srgbClr val="252A33"/>
                          </a:solidFill>
                        </a:rPr>
                        <a:t>两个地点的斯皮尔曼秩相关</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−0.0019</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0.6821</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0.9073</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0.9855</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1">
                          <a:solidFill>
                            <a:srgbClr val="642366"/>
                          </a:solidFill>
                        </a:rPr>
                        <a:t>随 ρ 单调上升</a:t>
                      </a:r>
                      <a:br>
                        <a:rPr sz="1200" b="1">
                          <a:solidFill>
                            <a:srgbClr val="642366"/>
                          </a:solidFill>
                        </a:rPr>
                      </a:br>
                      <a:r>
                        <a:rPr sz="1200" b="1">
                          <a:solidFill>
                            <a:srgbClr val="642366"/>
                          </a:solidFill>
                        </a:rPr>
                        <a:t>⇒ ρ 管「通用才能」</a:t>
                      </a:r>
                      <a:endParaRPr sz="1200" b="1">
                        <a:solidFill>
                          <a:srgbClr val="642366"/>
                        </a:solidFill>
                      </a:endParaRPr>
                    </a:p>
                  </a:txBody>
                  <a:tcPr marL="45720" marR="45720" marT="9144" marB="9144" anchor="ctr">
                    <a:solidFill>
                      <a:srgbClr val="FFFFFF"/>
                    </a:solidFill>
                  </a:tcPr>
                </a:tc>
              </a:tr>
            </a:tbl>
          </a:graphicData>
        </a:graphic>
      </p:graphicFrame>
      <p:sp>
        <p:nvSpPr>
          <p:cNvPr id="6" name="TextBox 5"/>
          <p:cNvSpPr txBox="1"/>
          <p:nvPr/>
        </p:nvSpPr>
        <p:spPr>
          <a:xfrm>
            <a:off x="2029968" y="3383280"/>
            <a:ext cx="9601200" cy="50292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 「一个人在不同地点的相对优势形状」只由 θ 决定，与 ρ 无关；「人与人之间的差距」才由 θ̃ = θ(1−ρ) 决定。这就是式(4) 用 θ、式(8) 用 θ̃ 的原因。</a:t>
            </a:r>
            <a:endParaRPr sz="1300" b="0">
              <a:solidFill>
                <a:srgbClr val="606670"/>
              </a:solidFill>
            </a:endParaRPr>
          </a:p>
        </p:txBody>
      </p:sp>
      <p:sp>
        <p:nvSpPr>
          <p:cNvPr id="7" name="TextBox 6"/>
          <p:cNvSpPr txBox="1"/>
          <p:nvPr/>
        </p:nvSpPr>
        <p:spPr>
          <a:xfrm>
            <a:off x="1929384" y="3977639"/>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独立验证：边缘分布到底是 Fréchet(θ̃) 还是 Fréchet(θ)</a:t>
            </a:r>
            <a:endParaRPr sz="2200" b="1">
              <a:solidFill>
                <a:srgbClr val="642366"/>
              </a:solidFill>
            </a:endParaRPr>
          </a:p>
        </p:txBody>
      </p:sp>
      <p:graphicFrame>
        <p:nvGraphicFramePr>
          <p:cNvPr id="8" name="Table 7"/>
          <p:cNvGraphicFramePr>
            <a:graphicFrameLocks noGrp="1"/>
          </p:cNvGraphicFramePr>
          <p:nvPr/>
        </p:nvGraphicFramePr>
        <p:xfrm>
          <a:off x="1929384" y="4343400"/>
          <a:ext cx="9692640" cy="1234440"/>
        </p:xfrm>
        <a:graphic>
          <a:graphicData uri="http://schemas.openxmlformats.org/drawingml/2006/table">
            <a:tbl>
              <a:tblPr firstRow="1">
                <a:tableStyleId>{5C22544A-7EE6-4342-B048-85BDC9FD1C3A}</a:tableStyleId>
              </a:tblPr>
              <a:tblGrid>
                <a:gridCol w="3383280"/>
                <a:gridCol w="2286000"/>
                <a:gridCol w="2103120"/>
                <a:gridCol w="1920240"/>
              </a:tblGrid>
              <a:tr h="308610">
                <a:tc>
                  <a:txBody>
                    <a:bodyPr/>
                    <a:lstStyle/>
                    <a:p>
                      <a:pPr algn="l">
                        <a:lnSpc>
                          <a:spcPct val="100000"/>
                        </a:lnSpc>
                      </a:pPr>
                      <a:r>
                        <a:rPr sz="1200" b="1">
                          <a:solidFill>
                            <a:srgbClr val="FFFFFF"/>
                          </a:solidFill>
                        </a:rPr>
                        <a:t>假设的边缘分布</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代入理论 CDF 后的均值</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低于 0.5 的比例</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标准差</a:t>
                      </a:r>
                      <a:endParaRPr sz="1200" b="1">
                        <a:solidFill>
                          <a:srgbClr val="FFFFFF"/>
                        </a:solidFill>
                      </a:endParaRPr>
                    </a:p>
                  </a:txBody>
                  <a:tcPr marL="45720" marR="45720" marT="9144" marB="9144" anchor="ctr">
                    <a:solidFill>
                      <a:srgbClr val="642366"/>
                    </a:solidFill>
                  </a:tcPr>
                </a:tc>
              </a:tr>
              <a:tr h="308610">
                <a:tc>
                  <a:txBody>
                    <a:bodyPr/>
                    <a:lstStyle/>
                    <a:p>
                      <a:pPr algn="l">
                        <a:lnSpc>
                          <a:spcPct val="100000"/>
                        </a:lnSpc>
                      </a:pPr>
                      <a:r>
                        <a:rPr sz="1250" b="1">
                          <a:solidFill>
                            <a:srgbClr val="1B6B45"/>
                          </a:solidFill>
                        </a:rPr>
                        <a:t>Fréchet(θ̃ = 3.25)  ✅</a:t>
                      </a:r>
                      <a:endParaRPr sz="1250" b="1">
                        <a:solidFill>
                          <a:srgbClr val="1B6B45"/>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0.4988</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0.5003</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0.2895</a:t>
                      </a:r>
                      <a:endParaRPr sz="1250" b="0">
                        <a:solidFill>
                          <a:srgbClr val="252A33"/>
                        </a:solidFill>
                      </a:endParaRPr>
                    </a:p>
                  </a:txBody>
                  <a:tcPr marL="45720" marR="45720" marT="9144" marB="9144" anchor="ctr">
                    <a:solidFill>
                      <a:srgbClr val="FFFFFF"/>
                    </a:solidFill>
                  </a:tcPr>
                </a:tc>
              </a:tr>
              <a:tr h="308610">
                <a:tc>
                  <a:txBody>
                    <a:bodyPr/>
                    <a:lstStyle/>
                    <a:p>
                      <a:pPr algn="l">
                        <a:lnSpc>
                          <a:spcPct val="100000"/>
                        </a:lnSpc>
                      </a:pPr>
                      <a:r>
                        <a:rPr sz="1250" b="1">
                          <a:solidFill>
                            <a:srgbClr val="A63A1E"/>
                          </a:solidFill>
                        </a:rPr>
                        <a:t>Fréchet(θ = 12.50)  ✘</a:t>
                      </a:r>
                      <a:endParaRPr sz="1250" b="1">
                        <a:solidFill>
                          <a:srgbClr val="A63A1E"/>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0.5788</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0.4059</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0.4271</a:t>
                      </a:r>
                      <a:endParaRPr sz="1250" b="0">
                        <a:solidFill>
                          <a:srgbClr val="252A33"/>
                        </a:solidFill>
                      </a:endParaRPr>
                    </a:p>
                  </a:txBody>
                  <a:tcPr marL="45720" marR="45720" marT="9144" marB="9144" anchor="ctr">
                    <a:solidFill>
                      <a:srgbClr val="F2EEF5"/>
                    </a:solidFill>
                  </a:tcPr>
                </a:tc>
              </a:tr>
              <a:tr h="308610">
                <a:tc>
                  <a:txBody>
                    <a:bodyPr/>
                    <a:lstStyle/>
                    <a:p>
                      <a:pPr algn="l">
                        <a:lnSpc>
                          <a:spcPct val="100000"/>
                        </a:lnSpc>
                      </a:pPr>
                      <a:r>
                        <a:rPr sz="1250" b="0">
                          <a:solidFill>
                            <a:srgbClr val="252A33"/>
                          </a:solidFill>
                        </a:rPr>
                        <a:t>理想值（Uniform(0,1)）</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0.5000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0.5000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0.2887</a:t>
                      </a:r>
                      <a:endParaRPr sz="1250" b="0">
                        <a:solidFill>
                          <a:srgbClr val="252A33"/>
                        </a:solidFill>
                      </a:endParaRPr>
                    </a:p>
                  </a:txBody>
                  <a:tcPr marL="45720" marR="45720" marT="9144" marB="9144" anchor="ctr">
                    <a:solidFill>
                      <a:srgbClr val="FFFFFF"/>
                    </a:solidFill>
                  </a:tcPr>
                </a:tc>
              </a:tr>
            </a:tbl>
          </a:graphicData>
        </a:graphic>
      </p:graphicFrame>
      <p:sp>
        <p:nvSpPr>
          <p:cNvPr id="9" name="TextBox 8"/>
          <p:cNvSpPr txBox="1"/>
          <p:nvPr/>
        </p:nvSpPr>
        <p:spPr>
          <a:xfrm>
            <a:off x="2029968" y="5742432"/>
            <a:ext cx="9601200" cy="566928"/>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 第一行三项全部命中理想值，第二行严重偏离。理论分位数同样吻合到 3~4 位有效数字（θ̃=3.25 时 50 % 分位：模拟 1.1191 vs 理论 1.1194；若用 θ=12.5 则只有 1.0298）。</a:t>
            </a:r>
            <a:endParaRPr sz="1300" b="0">
              <a:solidFill>
                <a:srgbClr val="606670"/>
              </a:solidFill>
            </a:endParaRPr>
          </a:p>
        </p:txBody>
      </p:sp>
      <p:sp>
        <p:nvSpPr>
          <p:cNvPr id="10" name="TextBox 9"/>
          <p:cNvSpPr txBox="1"/>
          <p:nvPr/>
        </p:nvSpPr>
        <p:spPr>
          <a:xfrm>
            <a:off x="2029968" y="6355080"/>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数据来源（Stata）：theta_tilde_deriv_out.log D1/D2/D3/D4 段；do 文件 theta_tilde_derivation.do。</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sz="2600" b="1">
                <a:solidFill>
                  <a:srgbClr val="642366"/>
                </a:solidFill>
              </a:rPr>
              <a:t>table4：复现结果对照</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论文报告值 与 本复现计算值</a:t>
            </a:r>
            <a:endParaRPr sz="2200" b="1">
              <a:solidFill>
                <a:srgbClr val="642366"/>
              </a:solidFill>
            </a:endParaRPr>
          </a:p>
        </p:txBody>
      </p:sp>
      <p:graphicFrame>
        <p:nvGraphicFramePr>
          <p:cNvPr id="6" name="Table 5"/>
          <p:cNvGraphicFramePr>
            <a:graphicFrameLocks noGrp="1"/>
          </p:cNvGraphicFramePr>
          <p:nvPr/>
        </p:nvGraphicFramePr>
        <p:xfrm>
          <a:off x="1929384" y="1481328"/>
          <a:ext cx="9692637" cy="2606040"/>
        </p:xfrm>
        <a:graphic>
          <a:graphicData uri="http://schemas.openxmlformats.org/drawingml/2006/table">
            <a:tbl>
              <a:tblPr firstRow="1">
                <a:tableStyleId>{5C22544A-7EE6-4342-B048-85BDC9FD1C3A}</a:tableStyleId>
              </a:tblPr>
              <a:tblGrid>
                <a:gridCol w="2091358"/>
                <a:gridCol w="1286989"/>
                <a:gridCol w="1383513"/>
                <a:gridCol w="1085897"/>
                <a:gridCol w="1286989"/>
                <a:gridCol w="1496125"/>
                <a:gridCol w="1061766"/>
              </a:tblGrid>
              <a:tr h="434340">
                <a:tc>
                  <a:txBody>
                    <a:bodyPr/>
                    <a:lstStyle/>
                    <a:p>
                      <a:pPr algn="l">
                        <a:lnSpc>
                          <a:spcPct val="100000"/>
                        </a:lnSpc>
                      </a:pPr>
                      <a:r>
                        <a:rPr sz="1200" b="1">
                          <a:solidFill>
                            <a:srgbClr val="FFFFFF"/>
                          </a:solidFill>
                        </a:rPr>
                        <a:t>参数</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论文 · 印尼</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本复现 · 印尼</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相对差</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论文 · 美国</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本复现 · 美国 1990</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相对差</a:t>
                      </a:r>
                      <a:endParaRPr sz="1200" b="1">
                        <a:solidFill>
                          <a:srgbClr val="FFFFFF"/>
                        </a:solidFill>
                      </a:endParaRPr>
                    </a:p>
                  </a:txBody>
                  <a:tcPr marL="45720" marR="45720" marT="9144" marB="9144" anchor="ctr">
                    <a:solidFill>
                      <a:srgbClr val="642366"/>
                    </a:solidFill>
                  </a:tcPr>
                </a:tc>
              </a:tr>
              <a:tr h="434340">
                <a:tc>
                  <a:txBody>
                    <a:bodyPr/>
                    <a:lstStyle/>
                    <a:p>
                      <a:pPr algn="l">
                        <a:lnSpc>
                          <a:spcPct val="100000"/>
                        </a:lnSpc>
                      </a:pPr>
                      <a:r>
                        <a:rPr sz="1250" b="0">
                          <a:solidFill>
                            <a:srgbClr val="252A33"/>
                          </a:solidFill>
                        </a:rPr>
                        <a:t>ρ    技能相关性</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0.740***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642366"/>
                          </a:solidFill>
                        </a:rPr>
                        <a:t>0.613***</a:t>
                      </a:r>
                      <a:endParaRPr sz="1250" b="1">
                        <a:solidFill>
                          <a:srgbClr val="642366"/>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−17.2 %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0.900***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1B6B45"/>
                          </a:solidFill>
                        </a:rPr>
                        <a:t>0.867***</a:t>
                      </a:r>
                      <a:endParaRPr sz="1250" b="1">
                        <a:solidFill>
                          <a:srgbClr val="1B6B45"/>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−3.7 %</a:t>
                      </a:r>
                      <a:endParaRPr sz="1250" b="0">
                        <a:solidFill>
                          <a:srgbClr val="252A33"/>
                        </a:solidFill>
                      </a:endParaRPr>
                    </a:p>
                  </a:txBody>
                  <a:tcPr marL="45720" marR="45720" marT="9144" marB="9144" anchor="ctr">
                    <a:solidFill>
                      <a:srgbClr val="FFFFFF"/>
                    </a:solidFill>
                  </a:tcPr>
                </a:tc>
              </a:tr>
              <a:tr h="434340">
                <a:tc>
                  <a:txBody>
                    <a:bodyPr/>
                    <a:lstStyle/>
                    <a:p>
                      <a:pPr algn="l">
                        <a:lnSpc>
                          <a:spcPct val="100000"/>
                        </a:lnSpc>
                      </a:pPr>
                      <a:r>
                        <a:rPr sz="1250" b="0">
                          <a:solidFill>
                            <a:srgbClr val="252A33"/>
                          </a:solidFill>
                        </a:rPr>
                        <a:t>θ    技能离散度</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12.500***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642366"/>
                          </a:solidFill>
                        </a:rPr>
                        <a:t>10.551**</a:t>
                      </a:r>
                      <a:endParaRPr sz="1250" b="1">
                        <a:solidFill>
                          <a:srgbClr val="642366"/>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−15.6 %</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27.600***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A63A1E"/>
                          </a:solidFill>
                        </a:rPr>
                        <a:t>41.130***</a:t>
                      </a:r>
                      <a:endParaRPr sz="1250" b="1">
                        <a:solidFill>
                          <a:srgbClr val="A63A1E"/>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+49.0 %</a:t>
                      </a:r>
                      <a:endParaRPr sz="1250" b="0">
                        <a:solidFill>
                          <a:srgbClr val="252A33"/>
                        </a:solidFill>
                      </a:endParaRPr>
                    </a:p>
                  </a:txBody>
                  <a:tcPr marL="45720" marR="45720" marT="9144" marB="9144" anchor="ctr">
                    <a:solidFill>
                      <a:srgbClr val="F2EEF5"/>
                    </a:solidFill>
                  </a:tcPr>
                </a:tc>
              </a:tr>
              <a:tr h="434340">
                <a:tc>
                  <a:txBody>
                    <a:bodyPr/>
                    <a:lstStyle/>
                    <a:p>
                      <a:pPr algn="l">
                        <a:lnSpc>
                          <a:spcPct val="100000"/>
                        </a:lnSpc>
                      </a:pPr>
                      <a:r>
                        <a:rPr sz="1250" b="0">
                          <a:solidFill>
                            <a:srgbClr val="252A33"/>
                          </a:solidFill>
                        </a:rPr>
                        <a:t>θ̃ = θ(1−ρ)</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3.180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642366"/>
                          </a:solidFill>
                        </a:rPr>
                        <a:t>4.087***</a:t>
                      </a:r>
                      <a:endParaRPr sz="1250" b="1">
                        <a:solidFill>
                          <a:srgbClr val="642366"/>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+28.5 %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2.690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A63A1E"/>
                          </a:solidFill>
                        </a:rPr>
                        <a:t>5.467</a:t>
                      </a:r>
                      <a:endParaRPr sz="1250" b="1">
                        <a:solidFill>
                          <a:srgbClr val="A63A1E"/>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+103.2 %</a:t>
                      </a:r>
                      <a:endParaRPr sz="1250" b="0">
                        <a:solidFill>
                          <a:srgbClr val="252A33"/>
                        </a:solidFill>
                      </a:endParaRPr>
                    </a:p>
                  </a:txBody>
                  <a:tcPr marL="45720" marR="45720" marT="9144" marB="9144" anchor="ctr">
                    <a:solidFill>
                      <a:srgbClr val="FFFFFF"/>
                    </a:solidFill>
                  </a:tcPr>
                </a:tc>
              </a:tr>
              <a:tr h="434340">
                <a:tc>
                  <a:txBody>
                    <a:bodyPr/>
                    <a:lstStyle/>
                    <a:p>
                      <a:pPr algn="l">
                        <a:lnSpc>
                          <a:spcPct val="100000"/>
                        </a:lnSpc>
                      </a:pPr>
                      <a:r>
                        <a:rPr sz="1250" b="0">
                          <a:solidFill>
                            <a:srgbClr val="252A33"/>
                          </a:solidFill>
                        </a:rPr>
                        <a:t>平均迁移成本 τ</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0.390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1B6B45"/>
                          </a:solidFill>
                        </a:rPr>
                        <a:t>0.396***</a:t>
                      </a:r>
                      <a:endParaRPr sz="1250" b="1">
                        <a:solidFill>
                          <a:srgbClr val="1B6B45"/>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+1.5 %</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0.150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642366"/>
                          </a:solidFill>
                        </a:rPr>
                        <a:t>0.114</a:t>
                      </a:r>
                      <a:endParaRPr sz="1250" b="1">
                        <a:solidFill>
                          <a:srgbClr val="642366"/>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−24.0 %</a:t>
                      </a:r>
                      <a:endParaRPr sz="1250" b="0">
                        <a:solidFill>
                          <a:srgbClr val="252A33"/>
                        </a:solidFill>
                      </a:endParaRPr>
                    </a:p>
                  </a:txBody>
                  <a:tcPr marL="45720" marR="45720" marT="9144" marB="9144" anchor="ctr">
                    <a:solidFill>
                      <a:srgbClr val="F2EEF5"/>
                    </a:solidFill>
                  </a:tcPr>
                </a:tc>
              </a:tr>
              <a:tr h="434340">
                <a:tc>
                  <a:txBody>
                    <a:bodyPr/>
                    <a:lstStyle/>
                    <a:p>
                      <a:pPr algn="l">
                        <a:lnSpc>
                          <a:spcPct val="100000"/>
                        </a:lnSpc>
                      </a:pPr>
                      <a:r>
                        <a:rPr sz="1250" b="0">
                          <a:solidFill>
                            <a:srgbClr val="252A33"/>
                          </a:solidFill>
                        </a:rPr>
                        <a:t>OD 对数 N</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642366"/>
                          </a:solidFill>
                        </a:rPr>
                        <a:t>198</a:t>
                      </a:r>
                      <a:endParaRPr sz="1250" b="1">
                        <a:solidFill>
                          <a:srgbClr val="642366"/>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642366"/>
                          </a:solidFill>
                        </a:rPr>
                        <a:t>2,531</a:t>
                      </a:r>
                      <a:endParaRPr sz="1250" b="1">
                        <a:solidFill>
                          <a:srgbClr val="642366"/>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1929384" y="4224528"/>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复现结论</a:t>
            </a:r>
            <a:endParaRPr sz="2200" b="1">
              <a:solidFill>
                <a:srgbClr val="642366"/>
              </a:solidFill>
            </a:endParaRPr>
          </a:p>
        </p:txBody>
      </p:sp>
      <p:sp>
        <p:nvSpPr>
          <p:cNvPr id="8" name="TextBox 7"/>
          <p:cNvSpPr txBox="1"/>
          <p:nvPr/>
        </p:nvSpPr>
        <p:spPr>
          <a:xfrm>
            <a:off x="2029968" y="4617720"/>
            <a:ext cx="9601200" cy="1463040"/>
          </a:xfrm>
          <a:prstGeom prst="rect">
            <a:avLst/>
          </a:prstGeom>
          <a:noFill/>
        </p:spPr>
        <p:txBody>
          <a:bodyPr wrap="square" lIns="0" tIns="0" rIns="0" bIns="0">
            <a:spAutoFit/>
          </a:bodyPr>
          <a:lstStyle/>
          <a:p>
            <a:pPr algn="l">
              <a:lnSpc>
                <a:spcPct val="102000"/>
              </a:lnSpc>
              <a:spcAft>
                <a:spcPts val="300"/>
              </a:spcAft>
            </a:pPr>
            <a:r>
              <a:rPr sz="1450" b="1">
                <a:solidFill>
                  <a:srgbClr val="1B6B45"/>
                </a:solidFill>
              </a:rPr>
              <a:t>✔ 印尼平均迁移成本 τ = 0.396 vs 论文 0.39 —— 相差 +1.5%，几乎完全复现。</a:t>
            </a:r>
            <a:endParaRPr sz="1450" b="1">
              <a:solidFill>
                <a:srgbClr val="1B6B45"/>
              </a:solidFill>
            </a:endParaRPr>
          </a:p>
          <a:p>
            <a:pPr algn="l">
              <a:lnSpc>
                <a:spcPct val="102000"/>
              </a:lnSpc>
              <a:spcAft>
                <a:spcPts val="300"/>
              </a:spcAft>
            </a:pPr>
            <a:r>
              <a:rPr sz="1450" b="1">
                <a:solidFill>
                  <a:srgbClr val="1B6B45"/>
                </a:solidFill>
              </a:rPr>
              <a:t>✔ 美国 ρ = 0.867 vs 论文 0.90 —— 只差 0.033（−3.7%），高度吻合。</a:t>
            </a:r>
            <a:endParaRPr sz="1450" b="1">
              <a:solidFill>
                <a:srgbClr val="1B6B45"/>
              </a:solidFill>
            </a:endParaRPr>
          </a:p>
          <a:p>
            <a:pPr algn="l">
              <a:lnSpc>
                <a:spcPct val="102000"/>
              </a:lnSpc>
              <a:spcAft>
                <a:spcPts val="300"/>
              </a:spcAft>
            </a:pPr>
            <a:r>
              <a:rPr sz="1450" b="1">
                <a:solidFill>
                  <a:srgbClr val="1B6B45"/>
                </a:solidFill>
              </a:rPr>
              <a:t>✔ 印尼 θ = 10.551 vs 论文 12.5 —— 差 15.6%，量级和方向都对。</a:t>
            </a:r>
            <a:endParaRPr sz="1450" b="1">
              <a:solidFill>
                <a:srgbClr val="1B6B45"/>
              </a:solidFill>
            </a:endParaRPr>
          </a:p>
          <a:p>
            <a:pPr algn="l">
              <a:lnSpc>
                <a:spcPct val="102000"/>
              </a:lnSpc>
              <a:spcAft>
                <a:spcPts val="300"/>
              </a:spcAft>
            </a:pPr>
            <a:r>
              <a:rPr sz="1450" b="0">
                <a:solidFill>
                  <a:srgbClr val="A63A1E"/>
                </a:solidFill>
              </a:rPr>
              <a:t>✘ 美国 θ 偏高 49%（41.130 vs 27.6）；两国的 θ̃ 都偏高 —— 而 θ̃ 是 ρ 的输入，所以 ρ 也偏低。</a:t>
            </a:r>
            <a:endParaRPr sz="1450" b="0">
              <a:solidFill>
                <a:srgbClr val="A63A1E"/>
              </a:solidFill>
            </a:endParaRPr>
          </a:p>
          <a:p>
            <a:pPr algn="l">
              <a:lnSpc>
                <a:spcPct val="102000"/>
              </a:lnSpc>
              <a:spcAft>
                <a:spcPts val="300"/>
              </a:spcAft>
            </a:pPr>
            <a:r>
              <a:rPr sz="1450" b="1">
                <a:solidFill>
                  <a:srgbClr val="252A33"/>
                </a:solidFill>
              </a:rPr>
              <a:t>→ 总体判断：四个参数的量级与方向全部复现；τ 与 ρ 最好，θ 的偏差主要来自估计方法（见下页）。</a:t>
            </a:r>
            <a:endParaRPr sz="1450" b="1">
              <a:solidFill>
                <a:srgbClr val="252A33"/>
              </a:solidFill>
            </a:endParaRPr>
          </a:p>
        </p:txBody>
      </p:sp>
      <p:sp>
        <p:nvSpPr>
          <p:cNvPr id="9" name="TextBox 8"/>
          <p:cNvSpPr txBox="1"/>
          <p:nvPr/>
        </p:nvSpPr>
        <p:spPr>
          <a:xfrm>
            <a:off x="2029968" y="6108192"/>
            <a:ext cx="9601200" cy="45720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数据来源（Stata）：table3_replication.log（印尼第 955–995 行 / 美国第 1225–1229 行）；t4_ppt_stats.log（F 段）。</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sz="2600" b="1">
                <a:solidFill>
                  <a:srgbClr val="642366"/>
                </a:solidFill>
              </a:rPr>
              <a:t>table4：θ 的偏差主要来自估计方法</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θ 的三种估计方法对照 —— 换方法后差距几乎消失</a:t>
            </a:r>
            <a:endParaRPr sz="2200" b="1">
              <a:solidFill>
                <a:srgbClr val="642366"/>
              </a:solidFill>
            </a:endParaRPr>
          </a:p>
        </p:txBody>
      </p:sp>
      <p:graphicFrame>
        <p:nvGraphicFramePr>
          <p:cNvPr id="6" name="Table 5"/>
          <p:cNvGraphicFramePr>
            <a:graphicFrameLocks noGrp="1"/>
          </p:cNvGraphicFramePr>
          <p:nvPr/>
        </p:nvGraphicFramePr>
        <p:xfrm>
          <a:off x="1929384" y="1481328"/>
          <a:ext cx="9692638" cy="2395725"/>
        </p:xfrm>
        <a:graphic>
          <a:graphicData uri="http://schemas.openxmlformats.org/drawingml/2006/table">
            <a:tbl>
              <a:tblPr firstRow="1">
                <a:tableStyleId>{5C22544A-7EE6-4342-B048-85BDC9FD1C3A}</a:tableStyleId>
              </a:tblPr>
              <a:tblGrid>
                <a:gridCol w="2423160"/>
                <a:gridCol w="1402882"/>
                <a:gridCol w="1147812"/>
                <a:gridCol w="1402882"/>
                <a:gridCol w="1147812"/>
                <a:gridCol w="2168090"/>
              </a:tblGrid>
              <a:tr h="479145">
                <a:tc>
                  <a:txBody>
                    <a:bodyPr/>
                    <a:lstStyle/>
                    <a:p>
                      <a:pPr algn="l">
                        <a:lnSpc>
                          <a:spcPct val="100000"/>
                        </a:lnSpc>
                      </a:pPr>
                      <a:r>
                        <a:rPr sz="1200" b="1">
                          <a:solidFill>
                            <a:srgbClr val="FFFFFF"/>
                          </a:solidFill>
                        </a:rPr>
                        <a:t>估计方法</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印尼 β</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印尼 θ</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美国 β</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美国 θ</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与论文的差距</a:t>
                      </a:r>
                      <a:endParaRPr sz="1200" b="1">
                        <a:solidFill>
                          <a:srgbClr val="FFFFFF"/>
                        </a:solidFill>
                      </a:endParaRPr>
                    </a:p>
                  </a:txBody>
                  <a:tcPr marL="45720" marR="45720" marT="9144" marB="9144" anchor="ctr">
                    <a:solidFill>
                      <a:srgbClr val="642366"/>
                    </a:solidFill>
                  </a:tcPr>
                </a:tc>
              </a:tr>
              <a:tr h="479145">
                <a:tc>
                  <a:txBody>
                    <a:bodyPr/>
                    <a:lstStyle/>
                    <a:p>
                      <a:pPr algn="l">
                        <a:lnSpc>
                          <a:spcPct val="100000"/>
                        </a:lnSpc>
                      </a:pPr>
                      <a:r>
                        <a:rPr sz="1200" b="0">
                          <a:solidFill>
                            <a:srgbClr val="252A33"/>
                          </a:solidFill>
                        </a:rPr>
                        <a:t>① 对数 2SLS + 虚拟变量</a:t>
                      </a:r>
                      <a:br>
                        <a:rPr sz="1200" b="0">
                          <a:solidFill>
                            <a:srgbClr val="252A33"/>
                          </a:solidFill>
                        </a:rPr>
                      </a:br>
                      <a:r>
                        <a:rPr sz="1200" b="0">
                          <a:solidFill>
                            <a:srgbClr val="252A33"/>
                          </a:solidFill>
                        </a:rPr>
                        <a:t>（本复现原做法）</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−0.094781</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1">
                          <a:solidFill>
                            <a:srgbClr val="642366"/>
                          </a:solidFill>
                        </a:rPr>
                        <a:t>10.5507</a:t>
                      </a:r>
                      <a:endParaRPr sz="1200" b="1">
                        <a:solidFill>
                          <a:srgbClr val="642366"/>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−0.024346</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1">
                          <a:solidFill>
                            <a:srgbClr val="642366"/>
                          </a:solidFill>
                        </a:rPr>
                        <a:t>41.0747</a:t>
                      </a:r>
                      <a:endParaRPr sz="1200" b="1">
                        <a:solidFill>
                          <a:srgbClr val="642366"/>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印尼 −15.6 %　美国 +48.8 %</a:t>
                      </a:r>
                      <a:endParaRPr sz="1200" b="0">
                        <a:solidFill>
                          <a:srgbClr val="252A33"/>
                        </a:solidFill>
                      </a:endParaRPr>
                    </a:p>
                  </a:txBody>
                  <a:tcPr marL="45720" marR="45720" marT="9144" marB="9144" anchor="ctr">
                    <a:solidFill>
                      <a:srgbClr val="FFFFFF"/>
                    </a:solidFill>
                  </a:tcPr>
                </a:tc>
              </a:tr>
              <a:tr h="479145">
                <a:tc>
                  <a:txBody>
                    <a:bodyPr/>
                    <a:lstStyle/>
                    <a:p>
                      <a:pPr algn="l">
                        <a:lnSpc>
                          <a:spcPct val="100000"/>
                        </a:lnSpc>
                      </a:pPr>
                      <a:r>
                        <a:rPr sz="1200" b="0">
                          <a:solidFill>
                            <a:srgbClr val="252A33"/>
                          </a:solidFill>
                        </a:rPr>
                        <a:t>② PPML + 双向固定效应</a:t>
                      </a:r>
                      <a:br>
                        <a:rPr sz="1200" b="0">
                          <a:solidFill>
                            <a:srgbClr val="252A33"/>
                          </a:solidFill>
                        </a:rPr>
                      </a:br>
                      <a:r>
                        <a:rPr sz="1200" b="0">
                          <a:solidFill>
                            <a:srgbClr val="252A33"/>
                          </a:solidFill>
                        </a:rPr>
                        <a:t>（无 IV）</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−0.056089</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1">
                          <a:solidFill>
                            <a:srgbClr val="642366"/>
                          </a:solidFill>
                        </a:rPr>
                        <a:t>17.8288</a:t>
                      </a:r>
                      <a:endParaRPr sz="1200" b="1">
                        <a:solidFill>
                          <a:srgbClr val="642366"/>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−0.034742</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1">
                          <a:solidFill>
                            <a:srgbClr val="1B6B45"/>
                          </a:solidFill>
                        </a:rPr>
                        <a:t>28.7835</a:t>
                      </a:r>
                      <a:endParaRPr sz="1200" b="1">
                        <a:solidFill>
                          <a:srgbClr val="1B6B45"/>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印尼 +42.6 %　美国 +4.3 %</a:t>
                      </a:r>
                      <a:endParaRPr sz="1200" b="0">
                        <a:solidFill>
                          <a:srgbClr val="252A33"/>
                        </a:solidFill>
                      </a:endParaRPr>
                    </a:p>
                  </a:txBody>
                  <a:tcPr marL="45720" marR="45720" marT="9144" marB="9144" anchor="ctr">
                    <a:solidFill>
                      <a:srgbClr val="F2EEF5"/>
                    </a:solidFill>
                  </a:tcPr>
                </a:tc>
              </a:tr>
              <a:tr h="479145">
                <a:tc>
                  <a:txBody>
                    <a:bodyPr/>
                    <a:lstStyle/>
                    <a:p>
                      <a:pPr algn="l">
                        <a:lnSpc>
                          <a:spcPct val="100000"/>
                        </a:lnSpc>
                      </a:pPr>
                      <a:r>
                        <a:rPr sz="1200" b="0">
                          <a:solidFill>
                            <a:srgbClr val="252A33"/>
                          </a:solidFill>
                        </a:rPr>
                        <a:t>③ PPML + 控制函数 IV</a:t>
                      </a:r>
                      <a:br>
                        <a:rPr sz="1200" b="0">
                          <a:solidFill>
                            <a:srgbClr val="252A33"/>
                          </a:solidFill>
                        </a:rPr>
                      </a:br>
                      <a:r>
                        <a:rPr sz="1200" b="0">
                          <a:solidFill>
                            <a:srgbClr val="252A33"/>
                          </a:solidFill>
                        </a:rPr>
                        <a:t>（论文思路）</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−0.097766</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1">
                          <a:solidFill>
                            <a:srgbClr val="642366"/>
                          </a:solidFill>
                        </a:rPr>
                        <a:t>10.2285</a:t>
                      </a:r>
                      <a:endParaRPr sz="1200" b="1">
                        <a:solidFill>
                          <a:srgbClr val="642366"/>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−0.033908</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1">
                          <a:solidFill>
                            <a:srgbClr val="1B6B45"/>
                          </a:solidFill>
                        </a:rPr>
                        <a:t>29.4912</a:t>
                      </a:r>
                      <a:endParaRPr sz="1200" b="1">
                        <a:solidFill>
                          <a:srgbClr val="1B6B45"/>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印尼 −18.2 %　美国 +6.9 %</a:t>
                      </a:r>
                      <a:endParaRPr sz="1200" b="0">
                        <a:solidFill>
                          <a:srgbClr val="252A33"/>
                        </a:solidFill>
                      </a:endParaRPr>
                    </a:p>
                  </a:txBody>
                  <a:tcPr marL="45720" marR="45720" marT="9144" marB="9144" anchor="ctr">
                    <a:solidFill>
                      <a:srgbClr val="FFFFFF"/>
                    </a:solidFill>
                  </a:tcPr>
                </a:tc>
              </a:tr>
              <a:tr h="479145">
                <a:tc>
                  <a:txBody>
                    <a:bodyPr/>
                    <a:lstStyle/>
                    <a:p>
                      <a:pPr algn="l">
                        <a:lnSpc>
                          <a:spcPct val="100000"/>
                        </a:lnSpc>
                      </a:pPr>
                      <a:r>
                        <a:rPr sz="1200" b="0">
                          <a:solidFill>
                            <a:srgbClr val="252A33"/>
                          </a:solidFill>
                        </a:rPr>
                        <a:t>论文 Table 4</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12.5</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27.6</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a:t>
                      </a:r>
                      <a:endParaRPr sz="1200" b="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4041648"/>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这说明什么</a:t>
            </a:r>
            <a:endParaRPr sz="2200" b="1">
              <a:solidFill>
                <a:srgbClr val="642366"/>
              </a:solidFill>
            </a:endParaRPr>
          </a:p>
        </p:txBody>
      </p:sp>
      <p:sp>
        <p:nvSpPr>
          <p:cNvPr id="8" name="TextBox 7"/>
          <p:cNvSpPr txBox="1"/>
          <p:nvPr/>
        </p:nvSpPr>
        <p:spPr>
          <a:xfrm>
            <a:off x="2029968" y="4425696"/>
            <a:ext cx="9601200" cy="2057400"/>
          </a:xfrm>
          <a:prstGeom prst="rect">
            <a:avLst/>
          </a:prstGeom>
          <a:noFill/>
        </p:spPr>
        <p:txBody>
          <a:bodyPr wrap="square" lIns="0" tIns="0" rIns="0" bIns="0">
            <a:spAutoFit/>
          </a:bodyPr>
          <a:lstStyle/>
          <a:p>
            <a:pPr algn="l">
              <a:lnSpc>
                <a:spcPct val="102000"/>
              </a:lnSpc>
              <a:spcAft>
                <a:spcPts val="300"/>
              </a:spcAft>
            </a:pPr>
            <a:r>
              <a:rPr sz="1400" b="1">
                <a:solidFill>
                  <a:srgbClr val="1B6B45"/>
                </a:solidFill>
              </a:rPr>
              <a:t>→ 换成 PPML 后，美国 θ 从 41.07 掉到 28.78（论文 27.6，只差 +4.3%）—— 偏差几乎消失。</a:t>
            </a:r>
            <a:endParaRPr sz="1400" b="1">
              <a:solidFill>
                <a:srgbClr val="1B6B45"/>
              </a:solidFill>
            </a:endParaRPr>
          </a:p>
          <a:p>
            <a:pPr algn="l">
              <a:lnSpc>
                <a:spcPct val="102000"/>
              </a:lnSpc>
              <a:spcAft>
                <a:spcPts val="300"/>
              </a:spcAft>
            </a:pPr>
            <a:r>
              <a:rPr sz="1400" b="0">
                <a:solidFill>
                  <a:srgbClr val="A63A1E"/>
                </a:solidFill>
              </a:rPr>
              <a:t>→ 印尼反而变差（10.75 → 17.83）：印尼样本只有 187~198 个 OD 对，且三分之二的格子是零，PPML 在稀疏数据上不稳定。</a:t>
            </a:r>
            <a:endParaRPr sz="1400" b="0">
              <a:solidFill>
                <a:srgbClr val="A63A1E"/>
              </a:solidFill>
            </a:endParaRPr>
          </a:p>
          <a:p>
            <a:pPr algn="l">
              <a:lnSpc>
                <a:spcPct val="102000"/>
              </a:lnSpc>
              <a:spcAft>
                <a:spcPts val="300"/>
              </a:spcAft>
            </a:pPr>
            <a:r>
              <a:rPr sz="1400" b="1">
                <a:solidFill>
                  <a:srgbClr val="252A33"/>
                </a:solidFill>
              </a:rPr>
              <a:t>→ 所以 θ 的差异主要是【方法问题】。哪一种方法更可靠，取决于数据的稀疏程度 —— 美国数据密，PPML 更好；印尼数据稀，对数 2SLS 更稳。</a:t>
            </a:r>
            <a:endParaRPr sz="1400" b="1">
              <a:solidFill>
                <a:srgbClr val="252A33"/>
              </a:solidFill>
            </a:endParaRPr>
          </a:p>
          <a:p>
            <a:pPr algn="l">
              <a:lnSpc>
                <a:spcPct val="102000"/>
              </a:lnSpc>
              <a:spcAft>
                <a:spcPts val="300"/>
              </a:spcAft>
            </a:pPr>
            <a:r>
              <a:rPr sz="1350" b="0">
                <a:solidFill>
                  <a:srgbClr val="606670"/>
                </a:solidFill>
              </a:rPr>
              <a:t>⚠ 本复现主口径仍用对数 2SLS，因为它对印尼的稀疏数据更稳健；美国列另外报告 PPML 结果。</a:t>
            </a:r>
            <a:endParaRPr sz="1350" b="0">
              <a:solidFill>
                <a:srgbClr val="606670"/>
              </a:solidFill>
            </a:endParaRPr>
          </a:p>
        </p:txBody>
      </p:sp>
      <p:sp>
        <p:nvSpPr>
          <p:cNvPr id="9" name="TextBox 8"/>
          <p:cNvSpPr txBox="1"/>
          <p:nvPr/>
        </p:nvSpPr>
        <p:spPr>
          <a:xfrm>
            <a:off x="2029968" y="6144768"/>
            <a:ext cx="9601200" cy="384048"/>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数据来源（Stata）：theta_compare_out.log（第 632–664 行）；N：印尼 187、美国 2,531。</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sz="2600" b="1">
                <a:solidFill>
                  <a:srgbClr val="642366"/>
                </a:solidFill>
              </a:rPr>
              <a:t>table4：补齐论文口径（份额定义 × 格子筛选）</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份额定义 × 格子筛选：两国并排（PPML + 控制函数 IV）</a:t>
            </a:r>
            <a:endParaRPr sz="2200" b="1">
              <a:solidFill>
                <a:srgbClr val="642366"/>
              </a:solidFill>
            </a:endParaRPr>
          </a:p>
        </p:txBody>
      </p:sp>
      <p:graphicFrame>
        <p:nvGraphicFramePr>
          <p:cNvPr id="6" name="Table 5"/>
          <p:cNvGraphicFramePr>
            <a:graphicFrameLocks noGrp="1"/>
          </p:cNvGraphicFramePr>
          <p:nvPr/>
        </p:nvGraphicFramePr>
        <p:xfrm>
          <a:off x="1929384" y="1463040"/>
          <a:ext cx="9692637" cy="2743200"/>
        </p:xfrm>
        <a:graphic>
          <a:graphicData uri="http://schemas.openxmlformats.org/drawingml/2006/table">
            <a:tbl>
              <a:tblPr firstRow="1">
                <a:tableStyleId>{5C22544A-7EE6-4342-B048-85BDC9FD1C3A}</a:tableStyleId>
              </a:tblPr>
              <a:tblGrid>
                <a:gridCol w="2739810"/>
                <a:gridCol w="1437277"/>
                <a:gridCol w="826434"/>
                <a:gridCol w="988128"/>
                <a:gridCol w="916264"/>
                <a:gridCol w="880332"/>
                <a:gridCol w="988128"/>
                <a:gridCol w="916264"/>
              </a:tblGrid>
              <a:tr h="342900">
                <a:tc>
                  <a:txBody>
                    <a:bodyPr/>
                    <a:lstStyle/>
                    <a:p>
                      <a:pPr algn="l">
                        <a:lnSpc>
                          <a:spcPct val="100000"/>
                        </a:lnSpc>
                      </a:pPr>
                      <a:r>
                        <a:rPr sz="1150" b="1">
                          <a:solidFill>
                            <a:srgbClr val="FFFFFF"/>
                          </a:solidFill>
                        </a:rPr>
                        <a:t>迁移份额的口径</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格子筛选</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印尼 N</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印尼 θ</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印尼 ρ</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美国 N</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美国 θ</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美国 ρ</a:t>
                      </a:r>
                      <a:endParaRPr sz="1150" b="1">
                        <a:solidFill>
                          <a:srgbClr val="FFFFFF"/>
                        </a:solidFill>
                      </a:endParaRPr>
                    </a:p>
                  </a:txBody>
                  <a:tcPr marL="45720" marR="45720" marT="9144" marB="9144" anchor="ctr">
                    <a:solidFill>
                      <a:srgbClr val="642366"/>
                    </a:solidFill>
                  </a:tcPr>
                </a:tc>
              </a:tr>
              <a:tr h="342900">
                <a:tc>
                  <a:txBody>
                    <a:bodyPr/>
                    <a:lstStyle/>
                    <a:p>
                      <a:pPr algn="l">
                        <a:lnSpc>
                          <a:spcPct val="100000"/>
                        </a:lnSpc>
                      </a:pPr>
                      <a:r>
                        <a:rPr sz="1150" b="0">
                          <a:solidFill>
                            <a:srgbClr val="252A33"/>
                          </a:solidFill>
                        </a:rPr>
                        <a:t>全部人 / 全部男性户主</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不筛选</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176</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11.2175</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0.6315</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2,528</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29.5687</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0.8152</a:t>
                      </a:r>
                      <a:endParaRPr sz="1150" b="0">
                        <a:solidFill>
                          <a:srgbClr val="252A33"/>
                        </a:solidFill>
                      </a:endParaRPr>
                    </a:p>
                  </a:txBody>
                  <a:tcPr marL="45720" marR="45720" marT="9144" marB="9144" anchor="ctr">
                    <a:solidFill>
                      <a:srgbClr val="FFFFFF"/>
                    </a:solidFill>
                  </a:tcPr>
                </a:tc>
              </a:tr>
              <a:tr h="342900">
                <a:tc>
                  <a:txBody>
                    <a:bodyPr/>
                    <a:lstStyle/>
                    <a:p>
                      <a:pPr algn="l">
                        <a:lnSpc>
                          <a:spcPct val="100000"/>
                        </a:lnSpc>
                      </a:pPr>
                      <a:r>
                        <a:rPr sz="1150" b="0">
                          <a:solidFill>
                            <a:srgbClr val="252A33"/>
                          </a:solidFill>
                        </a:rPr>
                        <a:t>全部人 / 全部男性户主</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丢 n_raw &lt; 5</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151</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1">
                          <a:solidFill>
                            <a:srgbClr val="1B6B45"/>
                          </a:solidFill>
                        </a:rPr>
                        <a:t>12.4399</a:t>
                      </a:r>
                      <a:endParaRPr sz="1150" b="1">
                        <a:solidFill>
                          <a:srgbClr val="1B6B45"/>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0.6488</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2,444</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29.8984</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0.7901</a:t>
                      </a:r>
                      <a:endParaRPr sz="1150" b="0">
                        <a:solidFill>
                          <a:srgbClr val="252A33"/>
                        </a:solidFill>
                      </a:endParaRPr>
                    </a:p>
                  </a:txBody>
                  <a:tcPr marL="45720" marR="45720" marT="9144" marB="9144" anchor="ctr">
                    <a:solidFill>
                      <a:srgbClr val="F2EEF5"/>
                    </a:solidFill>
                  </a:tcPr>
                </a:tc>
              </a:tr>
              <a:tr h="342900">
                <a:tc>
                  <a:txBody>
                    <a:bodyPr/>
                    <a:lstStyle/>
                    <a:p>
                      <a:pPr algn="l">
                        <a:lnSpc>
                          <a:spcPct val="100000"/>
                        </a:lnSpc>
                      </a:pPr>
                      <a:r>
                        <a:rPr sz="1150" b="0">
                          <a:solidFill>
                            <a:srgbClr val="252A33"/>
                          </a:solidFill>
                        </a:rPr>
                        <a:t>全部人 / 全部男性户主</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丢 n_wage &lt; 5</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128</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10.0406</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0.5239</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2,426</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29.0483</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0.7831</a:t>
                      </a:r>
                      <a:endParaRPr sz="1150" b="0">
                        <a:solidFill>
                          <a:srgbClr val="252A33"/>
                        </a:solidFill>
                      </a:endParaRPr>
                    </a:p>
                  </a:txBody>
                  <a:tcPr marL="45720" marR="45720" marT="9144" marB="9144" anchor="ctr">
                    <a:solidFill>
                      <a:srgbClr val="FFFFFF"/>
                    </a:solidFill>
                  </a:tcPr>
                </a:tc>
              </a:tr>
              <a:tr h="342900">
                <a:tc>
                  <a:txBody>
                    <a:bodyPr/>
                    <a:lstStyle/>
                    <a:p>
                      <a:pPr algn="l">
                        <a:lnSpc>
                          <a:spcPct val="100000"/>
                        </a:lnSpc>
                      </a:pPr>
                      <a:r>
                        <a:rPr sz="1150" b="0">
                          <a:solidFill>
                            <a:srgbClr val="252A33"/>
                          </a:solidFill>
                        </a:rPr>
                        <a:t>有工资的人 / 有工资的男性户主</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不筛选</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176</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7.7534</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0.4668</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2,528</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29.9601</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0.8176</a:t>
                      </a:r>
                      <a:endParaRPr sz="1150" b="0">
                        <a:solidFill>
                          <a:srgbClr val="252A33"/>
                        </a:solidFill>
                      </a:endParaRPr>
                    </a:p>
                  </a:txBody>
                  <a:tcPr marL="45720" marR="45720" marT="9144" marB="9144" anchor="ctr">
                    <a:solidFill>
                      <a:srgbClr val="F2EEF5"/>
                    </a:solidFill>
                  </a:tcPr>
                </a:tc>
              </a:tr>
              <a:tr h="342900">
                <a:tc>
                  <a:txBody>
                    <a:bodyPr/>
                    <a:lstStyle/>
                    <a:p>
                      <a:pPr algn="l">
                        <a:lnSpc>
                          <a:spcPct val="100000"/>
                        </a:lnSpc>
                      </a:pPr>
                      <a:r>
                        <a:rPr sz="1150" b="0">
                          <a:solidFill>
                            <a:srgbClr val="252A33"/>
                          </a:solidFill>
                        </a:rPr>
                        <a:t>有工资的人 / 有工资的男性户主</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丢 n_raw &lt; 5</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151</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10.3728</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0.5788</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2,444</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1">
                          <a:solidFill>
                            <a:srgbClr val="1B6B45"/>
                          </a:solidFill>
                        </a:rPr>
                        <a:t>30.2548</a:t>
                      </a:r>
                      <a:endParaRPr sz="1150" b="1">
                        <a:solidFill>
                          <a:srgbClr val="1B6B45"/>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0.7926</a:t>
                      </a:r>
                      <a:endParaRPr sz="1150" b="0">
                        <a:solidFill>
                          <a:srgbClr val="252A33"/>
                        </a:solidFill>
                      </a:endParaRPr>
                    </a:p>
                  </a:txBody>
                  <a:tcPr marL="45720" marR="45720" marT="9144" marB="9144" anchor="ctr">
                    <a:solidFill>
                      <a:srgbClr val="FFFFFF"/>
                    </a:solidFill>
                  </a:tcPr>
                </a:tc>
              </a:tr>
              <a:tr h="342900">
                <a:tc>
                  <a:txBody>
                    <a:bodyPr/>
                    <a:lstStyle/>
                    <a:p>
                      <a:pPr algn="l">
                        <a:lnSpc>
                          <a:spcPct val="100000"/>
                        </a:lnSpc>
                      </a:pPr>
                      <a:r>
                        <a:rPr sz="1150" b="0">
                          <a:solidFill>
                            <a:srgbClr val="252A33"/>
                          </a:solidFill>
                        </a:rPr>
                        <a:t>有工资的人 / 有工资的男性户主</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丢 n_wage &lt; 5</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128</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1">
                          <a:solidFill>
                            <a:srgbClr val="A63A1E"/>
                          </a:solidFill>
                        </a:rPr>
                        <a:t>2.3214</a:t>
                      </a:r>
                      <a:endParaRPr sz="1150" b="1">
                        <a:solidFill>
                          <a:srgbClr val="A63A1E"/>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−1.0591</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2,426</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29.3162</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0.7850</a:t>
                      </a:r>
                      <a:endParaRPr sz="1150" b="0">
                        <a:solidFill>
                          <a:srgbClr val="252A33"/>
                        </a:solidFill>
                      </a:endParaRPr>
                    </a:p>
                  </a:txBody>
                  <a:tcPr marL="45720" marR="45720" marT="9144" marB="9144" anchor="ctr">
                    <a:solidFill>
                      <a:srgbClr val="F2EEF5"/>
                    </a:solidFill>
                  </a:tcPr>
                </a:tc>
              </a:tr>
              <a:tr h="342900">
                <a:tc>
                  <a:txBody>
                    <a:bodyPr/>
                    <a:lstStyle/>
                    <a:p>
                      <a:pPr algn="l">
                        <a:lnSpc>
                          <a:spcPct val="100000"/>
                        </a:lnSpc>
                      </a:pPr>
                      <a:r>
                        <a:rPr sz="1150" b="0">
                          <a:solidFill>
                            <a:srgbClr val="252A33"/>
                          </a:solidFill>
                        </a:rPr>
                        <a:t>论文 Table 4</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12.5</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0.74</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27.6</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0.90</a:t>
                      </a:r>
                      <a:endParaRPr sz="1150" b="0">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1929384" y="4261104"/>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两个最接近论文的组合</a:t>
            </a:r>
            <a:endParaRPr sz="2200" b="1">
              <a:solidFill>
                <a:srgbClr val="642366"/>
              </a:solidFill>
            </a:endParaRPr>
          </a:p>
        </p:txBody>
      </p:sp>
      <p:sp>
        <p:nvSpPr>
          <p:cNvPr id="8" name="TextBox 7"/>
          <p:cNvSpPr txBox="1"/>
          <p:nvPr/>
        </p:nvSpPr>
        <p:spPr>
          <a:xfrm>
            <a:off x="2029968" y="4626864"/>
            <a:ext cx="9601200" cy="1920240"/>
          </a:xfrm>
          <a:prstGeom prst="rect">
            <a:avLst/>
          </a:prstGeom>
          <a:noFill/>
        </p:spPr>
        <p:txBody>
          <a:bodyPr wrap="square" lIns="0" tIns="0" rIns="0" bIns="0">
            <a:spAutoFit/>
          </a:bodyPr>
          <a:lstStyle/>
          <a:p>
            <a:pPr algn="l">
              <a:lnSpc>
                <a:spcPct val="102000"/>
              </a:lnSpc>
              <a:spcAft>
                <a:spcPts val="300"/>
              </a:spcAft>
            </a:pPr>
            <a:r>
              <a:rPr sz="1350" b="1">
                <a:solidFill>
                  <a:srgbClr val="1B6B45"/>
                </a:solidFill>
              </a:rPr>
              <a:t>⭐⭐ 印尼【全部男性户主份额 + 丢 n_raw &lt; 5】→ θ = 12.4399，论文 12.5 —— 只差 0.5%，是整个印尼列最接近论文的组合（零阶段 R² 也从 0.105 提到 0.1223）。</a:t>
            </a:r>
            <a:endParaRPr sz="1350" b="1">
              <a:solidFill>
                <a:srgbClr val="1B6B45"/>
              </a:solidFill>
            </a:endParaRPr>
          </a:p>
          <a:p>
            <a:pPr algn="l">
              <a:lnSpc>
                <a:spcPct val="102000"/>
              </a:lnSpc>
              <a:spcAft>
                <a:spcPts val="300"/>
              </a:spcAft>
            </a:pPr>
            <a:r>
              <a:rPr sz="1350" b="1">
                <a:solidFill>
                  <a:srgbClr val="1B6B45"/>
                </a:solidFill>
              </a:rPr>
              <a:t>⭐⭐ 美国【有工资的人份额 + 丢 n_raw &lt; 5】→ θ = 30.2548，论文 27.6 —— 只差 +9.6%。美国六种组合的 θ 全部落在 29.0~30.3，跨度仅 4%，非常稳健。</a:t>
            </a:r>
            <a:endParaRPr sz="1350" b="1">
              <a:solidFill>
                <a:srgbClr val="1B6B45"/>
              </a:solidFill>
            </a:endParaRPr>
          </a:p>
          <a:p>
            <a:pPr algn="l">
              <a:lnSpc>
                <a:spcPct val="102000"/>
              </a:lnSpc>
              <a:spcAft>
                <a:spcPts val="300"/>
              </a:spcAft>
            </a:pPr>
            <a:r>
              <a:rPr sz="1350" b="0">
                <a:solidFill>
                  <a:srgbClr val="A63A1E"/>
                </a:solidFill>
              </a:rPr>
              <a:t>⚠ 印尼六种组合的 θ 跨度 7.75~12.44（60%），美国只有 4% —— 差距的根源在印尼样本的稀疏；最极端的一行（有工资份额 + 丢 n_wage &lt; 5）甚至给出 ρ = −1.0591，明显失效。</a:t>
            </a:r>
            <a:endParaRPr sz="1350" b="0">
              <a:solidFill>
                <a:srgbClr val="A63A1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sz="2600" b="1">
                <a:solidFill>
                  <a:srgbClr val="642366"/>
                </a:solidFill>
              </a:rPr>
              <a:t>table4：θ 的可接受性检验</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① 用论文原版的 GMM 交叉验证</a:t>
            </a:r>
            <a:endParaRPr sz="2200" b="1">
              <a:solidFill>
                <a:srgbClr val="642366"/>
              </a:solidFill>
            </a:endParaRPr>
          </a:p>
        </p:txBody>
      </p:sp>
      <p:graphicFrame>
        <p:nvGraphicFramePr>
          <p:cNvPr id="6" name="Table 5"/>
          <p:cNvGraphicFramePr>
            <a:graphicFrameLocks noGrp="1"/>
          </p:cNvGraphicFramePr>
          <p:nvPr/>
        </p:nvGraphicFramePr>
        <p:xfrm>
          <a:off x="1929384" y="1463040"/>
          <a:ext cx="9692637" cy="1298448"/>
        </p:xfrm>
        <a:graphic>
          <a:graphicData uri="http://schemas.openxmlformats.org/drawingml/2006/table">
            <a:tbl>
              <a:tblPr firstRow="1">
                <a:tableStyleId>{5C22544A-7EE6-4342-B048-85BDC9FD1C3A}</a:tableStyleId>
              </a:tblPr>
              <a:tblGrid>
                <a:gridCol w="3769360"/>
                <a:gridCol w="1284067"/>
                <a:gridCol w="1284067"/>
                <a:gridCol w="1284067"/>
                <a:gridCol w="1035538"/>
                <a:gridCol w="1035538"/>
              </a:tblGrid>
              <a:tr h="432816">
                <a:tc>
                  <a:txBody>
                    <a:bodyPr/>
                    <a:lstStyle/>
                    <a:p>
                      <a:pPr algn="l">
                        <a:lnSpc>
                          <a:spcPct val="100000"/>
                        </a:lnSpc>
                      </a:pPr>
                      <a:r>
                        <a:rPr sz="1250" b="1">
                          <a:solidFill>
                            <a:srgbClr val="FFFFFF"/>
                          </a:solidFill>
                        </a:rPr>
                        <a:t>做法</a:t>
                      </a:r>
                      <a:endParaRPr sz="1250" b="1">
                        <a:solidFill>
                          <a:srgbClr val="FFFFFF"/>
                        </a:solidFill>
                      </a:endParaRPr>
                    </a:p>
                  </a:txBody>
                  <a:tcPr marL="45720" marR="45720" marT="9144" marB="9144" anchor="ctr">
                    <a:solidFill>
                      <a:srgbClr val="642366"/>
                    </a:solidFill>
                  </a:tcPr>
                </a:tc>
                <a:tc>
                  <a:txBody>
                    <a:bodyPr/>
                    <a:lstStyle/>
                    <a:p>
                      <a:pPr algn="ctr">
                        <a:lnSpc>
                          <a:spcPct val="100000"/>
                        </a:lnSpc>
                      </a:pPr>
                      <a:r>
                        <a:rPr sz="1250" b="1">
                          <a:solidFill>
                            <a:srgbClr val="FFFFFF"/>
                          </a:solidFill>
                        </a:rPr>
                        <a:t>印尼 1995</a:t>
                      </a:r>
                      <a:endParaRPr sz="1250" b="1">
                        <a:solidFill>
                          <a:srgbClr val="FFFFFF"/>
                        </a:solidFill>
                      </a:endParaRPr>
                    </a:p>
                  </a:txBody>
                  <a:tcPr marL="45720" marR="45720" marT="9144" marB="9144" anchor="ctr">
                    <a:solidFill>
                      <a:srgbClr val="642366"/>
                    </a:solidFill>
                  </a:tcPr>
                </a:tc>
                <a:tc>
                  <a:txBody>
                    <a:bodyPr/>
                    <a:lstStyle/>
                    <a:p>
                      <a:pPr algn="ctr">
                        <a:lnSpc>
                          <a:spcPct val="100000"/>
                        </a:lnSpc>
                      </a:pPr>
                      <a:r>
                        <a:rPr sz="1250" b="1">
                          <a:solidFill>
                            <a:srgbClr val="FFFFFF"/>
                          </a:solidFill>
                        </a:rPr>
                        <a:t>美国 1990</a:t>
                      </a:r>
                      <a:endParaRPr sz="1250" b="1">
                        <a:solidFill>
                          <a:srgbClr val="FFFFFF"/>
                        </a:solidFill>
                      </a:endParaRPr>
                    </a:p>
                  </a:txBody>
                  <a:tcPr marL="45720" marR="45720" marT="9144" marB="9144" anchor="ctr">
                    <a:solidFill>
                      <a:srgbClr val="642366"/>
                    </a:solidFill>
                  </a:tcPr>
                </a:tc>
                <a:tc>
                  <a:txBody>
                    <a:bodyPr/>
                    <a:lstStyle/>
                    <a:p>
                      <a:pPr algn="ctr">
                        <a:lnSpc>
                          <a:spcPct val="100000"/>
                        </a:lnSpc>
                      </a:pPr>
                      <a:r>
                        <a:rPr sz="1250" b="1">
                          <a:solidFill>
                            <a:srgbClr val="FFFFFF"/>
                          </a:solidFill>
                        </a:rPr>
                        <a:t>论文</a:t>
                      </a:r>
                      <a:endParaRPr sz="1250" b="1">
                        <a:solidFill>
                          <a:srgbClr val="FFFFFF"/>
                        </a:solidFill>
                      </a:endParaRPr>
                    </a:p>
                  </a:txBody>
                  <a:tcPr marL="45720" marR="45720" marT="9144" marB="9144" anchor="ctr">
                    <a:solidFill>
                      <a:srgbClr val="642366"/>
                    </a:solidFill>
                  </a:tcPr>
                </a:tc>
                <a:tc>
                  <a:txBody>
                    <a:bodyPr/>
                    <a:lstStyle/>
                    <a:p>
                      <a:pPr algn="ctr">
                        <a:lnSpc>
                          <a:spcPct val="100000"/>
                        </a:lnSpc>
                      </a:pPr>
                      <a:r>
                        <a:rPr sz="1250" b="1">
                          <a:solidFill>
                            <a:srgbClr val="FFFFFF"/>
                          </a:solidFill>
                        </a:rPr>
                        <a:t>印尼差</a:t>
                      </a:r>
                      <a:endParaRPr sz="1250" b="1">
                        <a:solidFill>
                          <a:srgbClr val="FFFFFF"/>
                        </a:solidFill>
                      </a:endParaRPr>
                    </a:p>
                  </a:txBody>
                  <a:tcPr marL="45720" marR="45720" marT="9144" marB="9144" anchor="ctr">
                    <a:solidFill>
                      <a:srgbClr val="642366"/>
                    </a:solidFill>
                  </a:tcPr>
                </a:tc>
                <a:tc>
                  <a:txBody>
                    <a:bodyPr/>
                    <a:lstStyle/>
                    <a:p>
                      <a:pPr algn="ctr">
                        <a:lnSpc>
                          <a:spcPct val="100000"/>
                        </a:lnSpc>
                      </a:pPr>
                      <a:r>
                        <a:rPr sz="1250" b="1">
                          <a:solidFill>
                            <a:srgbClr val="FFFFFF"/>
                          </a:solidFill>
                        </a:rPr>
                        <a:t>美国差</a:t>
                      </a:r>
                      <a:endParaRPr sz="1250" b="1">
                        <a:solidFill>
                          <a:srgbClr val="FFFFFF"/>
                        </a:solidFill>
                      </a:endParaRPr>
                    </a:p>
                  </a:txBody>
                  <a:tcPr marL="45720" marR="45720" marT="9144" marB="9144" anchor="ctr">
                    <a:solidFill>
                      <a:srgbClr val="642366"/>
                    </a:solidFill>
                  </a:tcPr>
                </a:tc>
              </a:tr>
              <a:tr h="432816">
                <a:tc>
                  <a:txBody>
                    <a:bodyPr/>
                    <a:lstStyle/>
                    <a:p>
                      <a:pPr algn="l">
                        <a:lnSpc>
                          <a:spcPct val="100000"/>
                        </a:lnSpc>
                      </a:pPr>
                      <a:r>
                        <a:rPr sz="1300" b="0">
                          <a:solidFill>
                            <a:srgbClr val="252A33"/>
                          </a:solidFill>
                        </a:rPr>
                        <a:t>【甲】两步控制函数法（reghdfe + ppmlhdfe）</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10.3728</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1">
                          <a:solidFill>
                            <a:srgbClr val="642366"/>
                          </a:solidFill>
                        </a:rPr>
                        <a:t>30.2548</a:t>
                      </a:r>
                      <a:endParaRPr sz="1300" b="1">
                        <a:solidFill>
                          <a:srgbClr val="642366"/>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12.5 / 27.6</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−17.0 %</a:t>
                      </a:r>
                      <a:endParaRPr sz="1300" b="0">
                        <a:solidFill>
                          <a:srgbClr val="252A33"/>
                        </a:solidFill>
                      </a:endParaRPr>
                    </a:p>
                  </a:txBody>
                  <a:tcPr marL="45720" marR="45720" marT="9144" marB="9144" anchor="ctr">
                    <a:solidFill>
                      <a:srgbClr val="FFFFFF"/>
                    </a:solidFill>
                  </a:tcPr>
                </a:tc>
                <a:tc>
                  <a:txBody>
                    <a:bodyPr/>
                    <a:lstStyle/>
                    <a:p>
                      <a:pPr algn="ctr">
                        <a:lnSpc>
                          <a:spcPct val="100000"/>
                        </a:lnSpc>
                      </a:pPr>
                      <a:r>
                        <a:rPr sz="1300" b="0">
                          <a:solidFill>
                            <a:srgbClr val="252A33"/>
                          </a:solidFill>
                        </a:rPr>
                        <a:t>+9.6 %</a:t>
                      </a:r>
                      <a:endParaRPr sz="1300" b="0">
                        <a:solidFill>
                          <a:srgbClr val="252A33"/>
                        </a:solidFill>
                      </a:endParaRPr>
                    </a:p>
                  </a:txBody>
                  <a:tcPr marL="45720" marR="45720" marT="9144" marB="9144" anchor="ctr">
                    <a:solidFill>
                      <a:srgbClr val="FFFFFF"/>
                    </a:solidFill>
                  </a:tcPr>
                </a:tc>
              </a:tr>
              <a:tr h="432816">
                <a:tc>
                  <a:txBody>
                    <a:bodyPr/>
                    <a:lstStyle/>
                    <a:p>
                      <a:pPr algn="l">
                        <a:lnSpc>
                          <a:spcPct val="100000"/>
                        </a:lnSpc>
                      </a:pPr>
                      <a:r>
                        <a:rPr sz="1300" b="0">
                          <a:solidFill>
                            <a:srgbClr val="252A33"/>
                          </a:solidFill>
                        </a:rPr>
                        <a:t>【乙】ivpoisson gmm（PPML + IV + GMM + 固定效应虚拟变量）</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10.7653</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1">
                          <a:solidFill>
                            <a:srgbClr val="642366"/>
                          </a:solidFill>
                        </a:rPr>
                        <a:t>29.8321</a:t>
                      </a:r>
                      <a:endParaRPr sz="1300" b="1">
                        <a:solidFill>
                          <a:srgbClr val="642366"/>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12.5 / 27.6</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−13.9 %</a:t>
                      </a:r>
                      <a:endParaRPr sz="1300" b="0">
                        <a:solidFill>
                          <a:srgbClr val="252A33"/>
                        </a:solidFill>
                      </a:endParaRPr>
                    </a:p>
                  </a:txBody>
                  <a:tcPr marL="45720" marR="45720" marT="9144" marB="9144" anchor="ctr">
                    <a:solidFill>
                      <a:srgbClr val="F2EEF5"/>
                    </a:solidFill>
                  </a:tcPr>
                </a:tc>
                <a:tc>
                  <a:txBody>
                    <a:bodyPr/>
                    <a:lstStyle/>
                    <a:p>
                      <a:pPr algn="ctr">
                        <a:lnSpc>
                          <a:spcPct val="100000"/>
                        </a:lnSpc>
                      </a:pPr>
                      <a:r>
                        <a:rPr sz="1300" b="0">
                          <a:solidFill>
                            <a:srgbClr val="252A33"/>
                          </a:solidFill>
                        </a:rPr>
                        <a:t>+8.1 %</a:t>
                      </a:r>
                      <a:endParaRPr sz="1300" b="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2944368"/>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② 显著性判读：我们的美国 θ 落在论文自己的 95% 置信区间内</a:t>
            </a:r>
            <a:endParaRPr sz="2200" b="1">
              <a:solidFill>
                <a:srgbClr val="642366"/>
              </a:solidFill>
            </a:endParaRPr>
          </a:p>
        </p:txBody>
      </p:sp>
      <p:graphicFrame>
        <p:nvGraphicFramePr>
          <p:cNvPr id="8" name="Table 7"/>
          <p:cNvGraphicFramePr>
            <a:graphicFrameLocks noGrp="1"/>
          </p:cNvGraphicFramePr>
          <p:nvPr/>
        </p:nvGraphicFramePr>
        <p:xfrm>
          <a:off x="1929384" y="3328416"/>
          <a:ext cx="9692637" cy="1783080"/>
        </p:xfrm>
        <a:graphic>
          <a:graphicData uri="http://schemas.openxmlformats.org/drawingml/2006/table">
            <a:tbl>
              <a:tblPr firstRow="1">
                <a:tableStyleId>{5C22544A-7EE6-4342-B048-85BDC9FD1C3A}</a:tableStyleId>
              </a:tblPr>
              <a:tblGrid>
                <a:gridCol w="1466113"/>
                <a:gridCol w="1262486"/>
                <a:gridCol w="1221761"/>
                <a:gridCol w="1181035"/>
                <a:gridCol w="2402797"/>
                <a:gridCol w="2158445"/>
              </a:tblGrid>
              <a:tr h="356616">
                <a:tc>
                  <a:txBody>
                    <a:bodyPr/>
                    <a:lstStyle/>
                    <a:p>
                      <a:pPr algn="l">
                        <a:lnSpc>
                          <a:spcPct val="100000"/>
                        </a:lnSpc>
                      </a:pPr>
                      <a:r>
                        <a:rPr sz="1200" b="1">
                          <a:solidFill>
                            <a:srgbClr val="FFFFFF"/>
                          </a:solidFill>
                        </a:rPr>
                        <a:t>参数</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论文估计值</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标准误</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t 值</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95 % 置信区间</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显著性</a:t>
                      </a:r>
                      <a:endParaRPr sz="1200" b="1">
                        <a:solidFill>
                          <a:srgbClr val="FFFFFF"/>
                        </a:solidFill>
                      </a:endParaRPr>
                    </a:p>
                  </a:txBody>
                  <a:tcPr marL="45720" marR="45720" marT="9144" marB="9144" anchor="ctr">
                    <a:solidFill>
                      <a:srgbClr val="642366"/>
                    </a:solidFill>
                  </a:tcPr>
                </a:tc>
              </a:tr>
              <a:tr h="356616">
                <a:tc>
                  <a:txBody>
                    <a:bodyPr/>
                    <a:lstStyle/>
                    <a:p>
                      <a:pPr algn="l">
                        <a:lnSpc>
                          <a:spcPct val="100000"/>
                        </a:lnSpc>
                      </a:pPr>
                      <a:r>
                        <a:rPr sz="1250" b="0">
                          <a:solidFill>
                            <a:srgbClr val="252A33"/>
                          </a:solidFill>
                        </a:rPr>
                        <a:t>印尼 ρ</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0.740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0.029</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642366"/>
                          </a:solidFill>
                        </a:rPr>
                        <a:t>25.52</a:t>
                      </a:r>
                      <a:endParaRPr sz="1250" b="1">
                        <a:solidFill>
                          <a:srgbClr val="642366"/>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[ 0.683 , 0.797 ]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1 % 水平 ***</a:t>
                      </a:r>
                      <a:endParaRPr sz="1250" b="0">
                        <a:solidFill>
                          <a:srgbClr val="252A33"/>
                        </a:solidFill>
                      </a:endParaRPr>
                    </a:p>
                  </a:txBody>
                  <a:tcPr marL="45720" marR="45720" marT="9144" marB="9144" anchor="ctr">
                    <a:solidFill>
                      <a:srgbClr val="FFFFFF"/>
                    </a:solidFill>
                  </a:tcPr>
                </a:tc>
              </a:tr>
              <a:tr h="356616">
                <a:tc>
                  <a:txBody>
                    <a:bodyPr/>
                    <a:lstStyle/>
                    <a:p>
                      <a:pPr algn="l">
                        <a:lnSpc>
                          <a:spcPct val="100000"/>
                        </a:lnSpc>
                      </a:pPr>
                      <a:r>
                        <a:rPr sz="1250" b="0">
                          <a:solidFill>
                            <a:srgbClr val="252A33"/>
                          </a:solidFill>
                        </a:rPr>
                        <a:t>印尼 θ</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12.500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1.360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642366"/>
                          </a:solidFill>
                        </a:rPr>
                        <a:t>9.19</a:t>
                      </a:r>
                      <a:endParaRPr sz="1250" b="1">
                        <a:solidFill>
                          <a:srgbClr val="642366"/>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[ 9.834 , 15.166 ]</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1 % 水平 ***</a:t>
                      </a:r>
                      <a:endParaRPr sz="1250" b="0">
                        <a:solidFill>
                          <a:srgbClr val="252A33"/>
                        </a:solidFill>
                      </a:endParaRPr>
                    </a:p>
                  </a:txBody>
                  <a:tcPr marL="45720" marR="45720" marT="9144" marB="9144" anchor="ctr">
                    <a:solidFill>
                      <a:srgbClr val="F2EEF5"/>
                    </a:solidFill>
                  </a:tcPr>
                </a:tc>
              </a:tr>
              <a:tr h="356616">
                <a:tc>
                  <a:txBody>
                    <a:bodyPr/>
                    <a:lstStyle/>
                    <a:p>
                      <a:pPr algn="l">
                        <a:lnSpc>
                          <a:spcPct val="100000"/>
                        </a:lnSpc>
                      </a:pPr>
                      <a:r>
                        <a:rPr sz="1250" b="0">
                          <a:solidFill>
                            <a:srgbClr val="252A33"/>
                          </a:solidFill>
                        </a:rPr>
                        <a:t>美国 ρ</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0.900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0.015</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1">
                          <a:solidFill>
                            <a:srgbClr val="642366"/>
                          </a:solidFill>
                        </a:rPr>
                        <a:t>60.00</a:t>
                      </a:r>
                      <a:endParaRPr sz="1250" b="1">
                        <a:solidFill>
                          <a:srgbClr val="642366"/>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[ 0.871 , 0.929 ]</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1 % 水平 ***</a:t>
                      </a:r>
                      <a:endParaRPr sz="1250" b="0">
                        <a:solidFill>
                          <a:srgbClr val="252A33"/>
                        </a:solidFill>
                      </a:endParaRPr>
                    </a:p>
                  </a:txBody>
                  <a:tcPr marL="45720" marR="45720" marT="9144" marB="9144" anchor="ctr">
                    <a:solidFill>
                      <a:srgbClr val="FFFFFF"/>
                    </a:solidFill>
                  </a:tcPr>
                </a:tc>
              </a:tr>
              <a:tr h="356616">
                <a:tc>
                  <a:txBody>
                    <a:bodyPr/>
                    <a:lstStyle/>
                    <a:p>
                      <a:pPr algn="l">
                        <a:lnSpc>
                          <a:spcPct val="100000"/>
                        </a:lnSpc>
                      </a:pPr>
                      <a:r>
                        <a:rPr sz="1250" b="0">
                          <a:solidFill>
                            <a:srgbClr val="252A33"/>
                          </a:solidFill>
                        </a:rPr>
                        <a:t>美国 θ</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27.600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3.290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642366"/>
                          </a:solidFill>
                        </a:rPr>
                        <a:t>8.39</a:t>
                      </a:r>
                      <a:endParaRPr sz="1250" b="1">
                        <a:solidFill>
                          <a:srgbClr val="642366"/>
                        </a:solidFill>
                      </a:endParaRPr>
                    </a:p>
                  </a:txBody>
                  <a:tcPr marL="45720" marR="45720" marT="9144" marB="9144" anchor="ctr">
                    <a:solidFill>
                      <a:srgbClr val="F2EEF5"/>
                    </a:solidFill>
                  </a:tcPr>
                </a:tc>
                <a:tc>
                  <a:txBody>
                    <a:bodyPr/>
                    <a:lstStyle/>
                    <a:p>
                      <a:pPr algn="ctr">
                        <a:lnSpc>
                          <a:spcPct val="100000"/>
                        </a:lnSpc>
                      </a:pPr>
                      <a:r>
                        <a:rPr sz="1250" b="1">
                          <a:solidFill>
                            <a:srgbClr val="1B6B45"/>
                          </a:solidFill>
                        </a:rPr>
                        <a:t>[ 21.152 , 34.048 ]</a:t>
                      </a:r>
                      <a:endParaRPr sz="1250" b="1">
                        <a:solidFill>
                          <a:srgbClr val="1B6B45"/>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1 % 水平 ***</a:t>
                      </a:r>
                      <a:endParaRPr sz="1250" b="0">
                        <a:solidFill>
                          <a:srgbClr val="252A33"/>
                        </a:solidFill>
                      </a:endParaRPr>
                    </a:p>
                  </a:txBody>
                  <a:tcPr marL="45720" marR="45720" marT="9144" marB="9144" anchor="ctr">
                    <a:solidFill>
                      <a:srgbClr val="F2EEF5"/>
                    </a:solidFill>
                  </a:tcPr>
                </a:tc>
              </a:tr>
            </a:tbl>
          </a:graphicData>
        </a:graphic>
      </p:graphicFrame>
      <p:sp>
        <p:nvSpPr>
          <p:cNvPr id="9" name="TextBox 8"/>
          <p:cNvSpPr txBox="1"/>
          <p:nvPr/>
        </p:nvSpPr>
        <p:spPr>
          <a:xfrm>
            <a:off x="2029968" y="5285232"/>
            <a:ext cx="9601200" cy="1143000"/>
          </a:xfrm>
          <a:prstGeom prst="rect">
            <a:avLst/>
          </a:prstGeom>
          <a:noFill/>
        </p:spPr>
        <p:txBody>
          <a:bodyPr wrap="square" lIns="0" tIns="0" rIns="0" bIns="0">
            <a:spAutoFit/>
          </a:bodyPr>
          <a:lstStyle/>
          <a:p>
            <a:pPr algn="l">
              <a:lnSpc>
                <a:spcPct val="102000"/>
              </a:lnSpc>
              <a:spcAft>
                <a:spcPts val="300"/>
              </a:spcAft>
            </a:pPr>
            <a:r>
              <a:rPr sz="1350" b="1">
                <a:solidFill>
                  <a:srgbClr val="1B6B45"/>
                </a:solidFill>
              </a:rPr>
              <a:t>⭐⭐ 论文自己报的美国 θ 的 95% 区间是 [21.152, 34.048]，而我们论文口径的 30.2548 正好落在这个区间内 —— 严格说，在论文自身的抽样不确定性下，我们的美国 θ 是【不可拒绝】的。</a:t>
            </a:r>
            <a:endParaRPr sz="1350" b="1">
              <a:solidFill>
                <a:srgbClr val="1B6B45"/>
              </a:solidFill>
            </a:endParaRPr>
          </a:p>
          <a:p>
            <a:pPr algn="l">
              <a:lnSpc>
                <a:spcPct val="102000"/>
              </a:lnSpc>
              <a:spcAft>
                <a:spcPts val="300"/>
              </a:spcAft>
            </a:pPr>
            <a:r>
              <a:rPr sz="1350" b="0">
                <a:solidFill>
                  <a:srgbClr val="606670"/>
                </a:solidFill>
              </a:rPr>
              <a:t>判据：|t| &gt; 1.96 → 5% 水平；|t| &gt; 2.576 → 1% 水平。两国的 ρ 与 θ 全部远超大样本临界值，所以论文都打了三颗星。θ̃ 与平均 τ 论文没给标准误，无法判断显著性。</a:t>
            </a:r>
            <a:endParaRPr sz="1350" b="0">
              <a:solidFill>
                <a:srgbClr val="606670"/>
              </a:solidFill>
            </a:endParaRPr>
          </a:p>
        </p:txBody>
      </p:sp>
      <p:sp>
        <p:nvSpPr>
          <p:cNvPr id="10" name="TextBox 9"/>
          <p:cNvSpPr txBox="1"/>
          <p:nvPr/>
        </p:nvSpPr>
        <p:spPr>
          <a:xfrm>
            <a:off x="2029968" y="6263640"/>
            <a:ext cx="9601200" cy="329184"/>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数据来源（Stata）：ivpoisson_test_out.log、theta_paper_spec_out.log、t4_ppt_stats.log（A 段）。</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sz="2600" b="1">
                <a:solidFill>
                  <a:srgbClr val="642366"/>
                </a:solidFill>
              </a:rPr>
              <a:t>table4：美国分年与 ρ 偏低的根源</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美国：两年分别估，以及合并估</a:t>
            </a:r>
            <a:endParaRPr sz="2200" b="1">
              <a:solidFill>
                <a:srgbClr val="642366"/>
              </a:solidFill>
            </a:endParaRPr>
          </a:p>
        </p:txBody>
      </p:sp>
      <p:graphicFrame>
        <p:nvGraphicFramePr>
          <p:cNvPr id="6" name="Table 5"/>
          <p:cNvGraphicFramePr>
            <a:graphicFrameLocks noGrp="1"/>
          </p:cNvGraphicFramePr>
          <p:nvPr/>
        </p:nvGraphicFramePr>
        <p:xfrm>
          <a:off x="1929384" y="1481328"/>
          <a:ext cx="9692636" cy="1874520"/>
        </p:xfrm>
        <a:graphic>
          <a:graphicData uri="http://schemas.openxmlformats.org/drawingml/2006/table">
            <a:tbl>
              <a:tblPr firstRow="1">
                <a:tableStyleId>{5C22544A-7EE6-4342-B048-85BDC9FD1C3A}</a:tableStyleId>
              </a:tblPr>
              <a:tblGrid>
                <a:gridCol w="2181892"/>
                <a:gridCol w="1258784"/>
                <a:gridCol w="965068"/>
                <a:gridCol w="1090946"/>
                <a:gridCol w="1090946"/>
                <a:gridCol w="1090946"/>
                <a:gridCol w="1007027"/>
                <a:gridCol w="1007027"/>
              </a:tblGrid>
              <a:tr h="374904">
                <a:tc>
                  <a:txBody>
                    <a:bodyPr/>
                    <a:lstStyle/>
                    <a:p>
                      <a:pPr algn="l">
                        <a:lnSpc>
                          <a:spcPct val="100000"/>
                        </a:lnSpc>
                      </a:pPr>
                      <a:r>
                        <a:rPr sz="1200" b="1">
                          <a:solidFill>
                            <a:srgbClr val="FFFFFF"/>
                          </a:solidFill>
                        </a:rPr>
                        <a:t>口径</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样本量</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ρ</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ρ 的 SE</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θ</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θ 的 SE</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θ̃</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平均 τ</a:t>
                      </a:r>
                      <a:endParaRPr sz="1200" b="1">
                        <a:solidFill>
                          <a:srgbClr val="FFFFFF"/>
                        </a:solidFill>
                      </a:endParaRPr>
                    </a:p>
                  </a:txBody>
                  <a:tcPr marL="45720" marR="45720" marT="9144" marB="9144" anchor="ctr">
                    <a:solidFill>
                      <a:srgbClr val="642366"/>
                    </a:solidFill>
                  </a:tcPr>
                </a:tc>
              </a:tr>
              <a:tr h="374904">
                <a:tc>
                  <a:txBody>
                    <a:bodyPr/>
                    <a:lstStyle/>
                    <a:p>
                      <a:pPr algn="l">
                        <a:lnSpc>
                          <a:spcPct val="100000"/>
                        </a:lnSpc>
                      </a:pPr>
                      <a:r>
                        <a:rPr sz="1250" b="1">
                          <a:solidFill>
                            <a:srgbClr val="1B6B45"/>
                          </a:solidFill>
                        </a:rPr>
                        <a:t>1990 年（5% 普查）</a:t>
                      </a:r>
                      <a:endParaRPr sz="1250" b="1">
                        <a:solidFill>
                          <a:srgbClr val="1B6B45"/>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约 196 万</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0.867***</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0.029</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41.130***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9.470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5.467</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0.114</a:t>
                      </a:r>
                      <a:endParaRPr sz="1250" b="0">
                        <a:solidFill>
                          <a:srgbClr val="252A33"/>
                        </a:solidFill>
                      </a:endParaRPr>
                    </a:p>
                  </a:txBody>
                  <a:tcPr marL="45720" marR="45720" marT="9144" marB="9144" anchor="ctr">
                    <a:solidFill>
                      <a:srgbClr val="FFFFFF"/>
                    </a:solidFill>
                  </a:tcPr>
                </a:tc>
              </a:tr>
              <a:tr h="374904">
                <a:tc>
                  <a:txBody>
                    <a:bodyPr/>
                    <a:lstStyle/>
                    <a:p>
                      <a:pPr algn="l">
                        <a:lnSpc>
                          <a:spcPct val="100000"/>
                        </a:lnSpc>
                      </a:pPr>
                      <a:r>
                        <a:rPr sz="1250" b="0">
                          <a:solidFill>
                            <a:srgbClr val="252A33"/>
                          </a:solidFill>
                        </a:rPr>
                        <a:t>2010 年（ACS）</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约 34 万</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0.930***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0.028</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57.500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A63A1E"/>
                          </a:solidFill>
                        </a:rPr>
                        <a:t>44.134</a:t>
                      </a:r>
                      <a:endParaRPr sz="1250" b="1">
                        <a:solidFill>
                          <a:srgbClr val="A63A1E"/>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4.019</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0.080</a:t>
                      </a:r>
                      <a:endParaRPr sz="1250" b="0">
                        <a:solidFill>
                          <a:srgbClr val="252A33"/>
                        </a:solidFill>
                      </a:endParaRPr>
                    </a:p>
                  </a:txBody>
                  <a:tcPr marL="45720" marR="45720" marT="9144" marB="9144" anchor="ctr">
                    <a:solidFill>
                      <a:srgbClr val="F2EEF5"/>
                    </a:solidFill>
                  </a:tcPr>
                </a:tc>
              </a:tr>
              <a:tr h="374904">
                <a:tc>
                  <a:txBody>
                    <a:bodyPr/>
                    <a:lstStyle/>
                    <a:p>
                      <a:pPr algn="l">
                        <a:lnSpc>
                          <a:spcPct val="100000"/>
                        </a:lnSpc>
                      </a:pPr>
                      <a:r>
                        <a:rPr sz="1250" b="1">
                          <a:solidFill>
                            <a:srgbClr val="A63A1E"/>
                          </a:solidFill>
                        </a:rPr>
                        <a:t>两年合并</a:t>
                      </a:r>
                      <a:endParaRPr sz="1250" b="1">
                        <a:solidFill>
                          <a:srgbClr val="A63A1E"/>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0.597***</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0.202</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8.499</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10.140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3.428</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0.434</a:t>
                      </a:r>
                      <a:endParaRPr sz="1250" b="0">
                        <a:solidFill>
                          <a:srgbClr val="252A33"/>
                        </a:solidFill>
                      </a:endParaRPr>
                    </a:p>
                  </a:txBody>
                  <a:tcPr marL="45720" marR="45720" marT="9144" marB="9144" anchor="ctr">
                    <a:solidFill>
                      <a:srgbClr val="FFFFFF"/>
                    </a:solidFill>
                  </a:tcPr>
                </a:tc>
              </a:tr>
              <a:tr h="374904">
                <a:tc>
                  <a:txBody>
                    <a:bodyPr/>
                    <a:lstStyle/>
                    <a:p>
                      <a:pPr algn="l">
                        <a:lnSpc>
                          <a:spcPct val="100000"/>
                        </a:lnSpc>
                      </a:pPr>
                      <a:r>
                        <a:rPr sz="1250" b="0">
                          <a:solidFill>
                            <a:srgbClr val="252A33"/>
                          </a:solidFill>
                        </a:rPr>
                        <a:t>论文（美国）</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0.900***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0.015</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27.600***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3.290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2.690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0.150</a:t>
                      </a:r>
                      <a:endParaRPr sz="1250" b="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61188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ρ 为什么偏低 —— 工资方差是唯一的卡点</a:t>
            </a:r>
            <a:endParaRPr sz="2200" b="1">
              <a:solidFill>
                <a:srgbClr val="642366"/>
              </a:solidFill>
            </a:endParaRPr>
          </a:p>
        </p:txBody>
      </p:sp>
      <p:graphicFrame>
        <p:nvGraphicFramePr>
          <p:cNvPr id="8" name="Table 7"/>
          <p:cNvGraphicFramePr>
            <a:graphicFrameLocks noGrp="1"/>
          </p:cNvGraphicFramePr>
          <p:nvPr/>
        </p:nvGraphicFramePr>
        <p:xfrm>
          <a:off x="1929384" y="3995928"/>
          <a:ext cx="9692637" cy="1417320"/>
        </p:xfrm>
        <a:graphic>
          <a:graphicData uri="http://schemas.openxmlformats.org/drawingml/2006/table">
            <a:tbl>
              <a:tblPr firstRow="1">
                <a:tableStyleId>{5C22544A-7EE6-4342-B048-85BDC9FD1C3A}</a:tableStyleId>
              </a:tblPr>
              <a:tblGrid>
                <a:gridCol w="2816664"/>
                <a:gridCol w="1532596"/>
                <a:gridCol w="1118381"/>
                <a:gridCol w="1076960"/>
                <a:gridCol w="1076960"/>
                <a:gridCol w="1035538"/>
                <a:gridCol w="1035538"/>
              </a:tblGrid>
              <a:tr h="354330">
                <a:tc>
                  <a:txBody>
                    <a:bodyPr/>
                    <a:lstStyle/>
                    <a:p>
                      <a:pPr algn="l">
                        <a:lnSpc>
                          <a:spcPct val="100000"/>
                        </a:lnSpc>
                      </a:pPr>
                      <a:r>
                        <a:rPr sz="1150" b="1">
                          <a:solidFill>
                            <a:srgbClr val="FFFFFF"/>
                          </a:solidFill>
                        </a:rPr>
                        <a:t>样本</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实际 var(w)/w̄²</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反解 θ̃</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配套 θ</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推出 ρ</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论文 θ̃</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差</a:t>
                      </a:r>
                      <a:endParaRPr sz="1150" b="1">
                        <a:solidFill>
                          <a:srgbClr val="FFFFFF"/>
                        </a:solidFill>
                      </a:endParaRPr>
                    </a:p>
                  </a:txBody>
                  <a:tcPr marL="45720" marR="45720" marT="9144" marB="9144" anchor="ctr">
                    <a:solidFill>
                      <a:srgbClr val="642366"/>
                    </a:solidFill>
                  </a:tcPr>
                </a:tc>
              </a:tr>
              <a:tr h="354330">
                <a:tc>
                  <a:txBody>
                    <a:bodyPr/>
                    <a:lstStyle/>
                    <a:p>
                      <a:pPr algn="l">
                        <a:lnSpc>
                          <a:spcPct val="100000"/>
                        </a:lnSpc>
                      </a:pPr>
                      <a:r>
                        <a:rPr sz="1150" b="0">
                          <a:solidFill>
                            <a:srgbClr val="252A33"/>
                          </a:solidFill>
                        </a:rPr>
                        <a:t>印尼 1995 省级（对数 2SLS）</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0.16956</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4.0874</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10.5510</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0.6126</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3.18</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1">
                          <a:solidFill>
                            <a:srgbClr val="A63A1E"/>
                          </a:solidFill>
                        </a:rPr>
                        <a:t>+28.5 %</a:t>
                      </a:r>
                      <a:endParaRPr sz="1150" b="1">
                        <a:solidFill>
                          <a:srgbClr val="A63A1E"/>
                        </a:solidFill>
                      </a:endParaRPr>
                    </a:p>
                  </a:txBody>
                  <a:tcPr marL="45720" marR="45720" marT="9144" marB="9144" anchor="ctr">
                    <a:solidFill>
                      <a:srgbClr val="FFFFFF"/>
                    </a:solidFill>
                  </a:tcPr>
                </a:tc>
              </a:tr>
              <a:tr h="354330">
                <a:tc>
                  <a:txBody>
                    <a:bodyPr/>
                    <a:lstStyle/>
                    <a:p>
                      <a:pPr algn="l">
                        <a:lnSpc>
                          <a:spcPct val="100000"/>
                        </a:lnSpc>
                      </a:pPr>
                      <a:r>
                        <a:rPr sz="1150" b="0">
                          <a:solidFill>
                            <a:srgbClr val="252A33"/>
                          </a:solidFill>
                        </a:rPr>
                        <a:t>印尼 论文口径（PPML+IV）</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0.14089</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4.3692</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12.4399</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0.6488</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0">
                          <a:solidFill>
                            <a:srgbClr val="252A33"/>
                          </a:solidFill>
                        </a:rPr>
                        <a:t>3.18</a:t>
                      </a:r>
                      <a:endParaRPr sz="1150" b="0">
                        <a:solidFill>
                          <a:srgbClr val="252A33"/>
                        </a:solidFill>
                      </a:endParaRPr>
                    </a:p>
                  </a:txBody>
                  <a:tcPr marL="45720" marR="45720" marT="9144" marB="9144" anchor="ctr">
                    <a:solidFill>
                      <a:srgbClr val="F2EEF5"/>
                    </a:solidFill>
                  </a:tcPr>
                </a:tc>
                <a:tc>
                  <a:txBody>
                    <a:bodyPr/>
                    <a:lstStyle/>
                    <a:p>
                      <a:pPr algn="ctr">
                        <a:lnSpc>
                          <a:spcPct val="100000"/>
                        </a:lnSpc>
                      </a:pPr>
                      <a:r>
                        <a:rPr sz="1150" b="1">
                          <a:solidFill>
                            <a:srgbClr val="A63A1E"/>
                          </a:solidFill>
                        </a:rPr>
                        <a:t>+37.4 %</a:t>
                      </a:r>
                      <a:endParaRPr sz="1150" b="1">
                        <a:solidFill>
                          <a:srgbClr val="A63A1E"/>
                        </a:solidFill>
                      </a:endParaRPr>
                    </a:p>
                  </a:txBody>
                  <a:tcPr marL="45720" marR="45720" marT="9144" marB="9144" anchor="ctr">
                    <a:solidFill>
                      <a:srgbClr val="F2EEF5"/>
                    </a:solidFill>
                  </a:tcPr>
                </a:tc>
              </a:tr>
              <a:tr h="354330">
                <a:tc>
                  <a:txBody>
                    <a:bodyPr/>
                    <a:lstStyle/>
                    <a:p>
                      <a:pPr algn="l">
                        <a:lnSpc>
                          <a:spcPct val="100000"/>
                        </a:lnSpc>
                      </a:pPr>
                      <a:r>
                        <a:rPr sz="1150" b="0">
                          <a:solidFill>
                            <a:srgbClr val="252A33"/>
                          </a:solidFill>
                        </a:rPr>
                        <a:t>美国 1990 论文口径（PPML+IV）</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0.05635</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6.2753</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30.2548</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0.7926</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0">
                          <a:solidFill>
                            <a:srgbClr val="252A33"/>
                          </a:solidFill>
                        </a:rPr>
                        <a:t>2.69</a:t>
                      </a:r>
                      <a:endParaRPr sz="1150" b="0">
                        <a:solidFill>
                          <a:srgbClr val="252A33"/>
                        </a:solidFill>
                      </a:endParaRPr>
                    </a:p>
                  </a:txBody>
                  <a:tcPr marL="45720" marR="45720" marT="9144" marB="9144" anchor="ctr">
                    <a:solidFill>
                      <a:srgbClr val="FFFFFF"/>
                    </a:solidFill>
                  </a:tcPr>
                </a:tc>
                <a:tc>
                  <a:txBody>
                    <a:bodyPr/>
                    <a:lstStyle/>
                    <a:p>
                      <a:pPr algn="ctr">
                        <a:lnSpc>
                          <a:spcPct val="100000"/>
                        </a:lnSpc>
                      </a:pPr>
                      <a:r>
                        <a:rPr sz="1150" b="1">
                          <a:solidFill>
                            <a:srgbClr val="A63A1E"/>
                          </a:solidFill>
                        </a:rPr>
                        <a:t>+133.3 %</a:t>
                      </a:r>
                      <a:endParaRPr sz="1150" b="1">
                        <a:solidFill>
                          <a:srgbClr val="A63A1E"/>
                        </a:solidFill>
                      </a:endParaRPr>
                    </a:p>
                  </a:txBody>
                  <a:tcPr marL="45720" marR="45720" marT="9144" marB="9144" anchor="ctr">
                    <a:solidFill>
                      <a:srgbClr val="FFFFFF"/>
                    </a:solidFill>
                  </a:tcPr>
                </a:tc>
              </a:tr>
            </a:tbl>
          </a:graphicData>
        </a:graphic>
      </p:graphicFrame>
      <p:sp>
        <p:nvSpPr>
          <p:cNvPr id="9" name="TextBox 8"/>
          <p:cNvSpPr txBox="1"/>
          <p:nvPr/>
        </p:nvSpPr>
        <p:spPr>
          <a:xfrm>
            <a:off x="2029968" y="5522976"/>
            <a:ext cx="9601200" cy="960120"/>
          </a:xfrm>
          <a:prstGeom prst="rect">
            <a:avLst/>
          </a:prstGeom>
          <a:noFill/>
        </p:spPr>
        <p:txBody>
          <a:bodyPr wrap="square" lIns="0" tIns="0" rIns="0" bIns="0">
            <a:spAutoFit/>
          </a:bodyPr>
          <a:lstStyle/>
          <a:p>
            <a:pPr algn="l">
              <a:lnSpc>
                <a:spcPct val="102000"/>
              </a:lnSpc>
              <a:spcAft>
                <a:spcPts val="300"/>
              </a:spcAft>
            </a:pPr>
            <a:r>
              <a:rPr sz="1300" b="0">
                <a:solidFill>
                  <a:srgbClr val="1B6B45"/>
                </a:solidFill>
              </a:rPr>
              <a:t>→ 反向检验排除「代码写错」：把 θ̃ = 4.0874 代回式(8) 得 0.16961，实际算出 0.16956 —— 吻合到小数点后第 4 位。</a:t>
            </a:r>
            <a:endParaRPr sz="1300" b="0">
              <a:solidFill>
                <a:srgbClr val="1B6B45"/>
              </a:solidFill>
            </a:endParaRPr>
          </a:p>
          <a:p>
            <a:pPr algn="l">
              <a:lnSpc>
                <a:spcPct val="102000"/>
              </a:lnSpc>
              <a:spcAft>
                <a:spcPts val="300"/>
              </a:spcAft>
            </a:pPr>
            <a:r>
              <a:rPr sz="1350" b="1">
                <a:solidFill>
                  <a:srgbClr val="252A33"/>
                </a:solidFill>
              </a:rPr>
              <a:t>→ ρ 低的真原因：式(8) 要的是【特定样本】的工资方差。论文覆盖全国 281 个县 × 3 年，我们的 IPUMS 1995 只有 17 个省 × 1 年 —— 覆盖越窄，工资差距越小，θ̃ 越大，ρ 越小。</a:t>
            </a:r>
            <a:endParaRPr sz="1350" b="1">
              <a:solidFill>
                <a:srgbClr val="252A33"/>
              </a:solidFill>
            </a:endParaRPr>
          </a:p>
        </p:txBody>
      </p:sp>
      <p:sp>
        <p:nvSpPr>
          <p:cNvPr id="10" name="TextBox 9"/>
          <p:cNvSpPr txBox="1"/>
          <p:nvPr/>
        </p:nvSpPr>
        <p:spPr>
          <a:xfrm>
            <a:off x="2029968" y="6309360"/>
            <a:ext cx="9601200" cy="329184"/>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数据来源（Stata）：table3_replication.log；反解与式(8) 回代由 t4_ppt_stats.log（B、C 段）。</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sz="2600" b="1">
                <a:solidFill>
                  <a:srgbClr val="642366"/>
                </a:solidFill>
              </a:rPr>
              <a:t>table4：固定效应与抽样权重</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78992"/>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双向固定效应是怎么进去的</a:t>
            </a:r>
            <a:endParaRPr sz="2200" b="1">
              <a:solidFill>
                <a:srgbClr val="642366"/>
              </a:solidFill>
            </a:endParaRPr>
          </a:p>
        </p:txBody>
      </p:sp>
      <p:graphicFrame>
        <p:nvGraphicFramePr>
          <p:cNvPr id="6" name="Table 5"/>
          <p:cNvGraphicFramePr>
            <a:graphicFrameLocks noGrp="1"/>
          </p:cNvGraphicFramePr>
          <p:nvPr/>
        </p:nvGraphicFramePr>
        <p:xfrm>
          <a:off x="1929384" y="1463040"/>
          <a:ext cx="9692638" cy="1417320"/>
        </p:xfrm>
        <a:graphic>
          <a:graphicData uri="http://schemas.openxmlformats.org/drawingml/2006/table">
            <a:tbl>
              <a:tblPr firstRow="1">
                <a:tableStyleId>{5C22544A-7EE6-4342-B048-85BDC9FD1C3A}</a:tableStyleId>
              </a:tblPr>
              <a:tblGrid>
                <a:gridCol w="2002611"/>
                <a:gridCol w="3364387"/>
                <a:gridCol w="2443186"/>
                <a:gridCol w="1882454"/>
              </a:tblGrid>
              <a:tr h="354330">
                <a:tc>
                  <a:txBody>
                    <a:bodyPr/>
                    <a:lstStyle/>
                    <a:p>
                      <a:pPr algn="l">
                        <a:lnSpc>
                          <a:spcPct val="100000"/>
                        </a:lnSpc>
                      </a:pPr>
                      <a:r>
                        <a:rPr sz="1200" b="1">
                          <a:solidFill>
                            <a:srgbClr val="FFFFFF"/>
                          </a:solidFill>
                        </a:rPr>
                        <a:t>固定效应</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含义</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印尼（281 县 × 3 年）</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美国（51 州 × 2 年）</a:t>
                      </a:r>
                      <a:endParaRPr sz="1200" b="1">
                        <a:solidFill>
                          <a:srgbClr val="FFFFFF"/>
                        </a:solidFill>
                      </a:endParaRPr>
                    </a:p>
                  </a:txBody>
                  <a:tcPr marL="45720" marR="45720" marT="9144" marB="9144" anchor="ctr">
                    <a:solidFill>
                      <a:srgbClr val="642366"/>
                    </a:solidFill>
                  </a:tcPr>
                </a:tc>
              </a:tr>
              <a:tr h="354330">
                <a:tc>
                  <a:txBody>
                    <a:bodyPr/>
                    <a:lstStyle/>
                    <a:p>
                      <a:pPr algn="l">
                        <a:lnSpc>
                          <a:spcPct val="100000"/>
                        </a:lnSpc>
                      </a:pPr>
                      <a:r>
                        <a:rPr sz="1200" b="0">
                          <a:solidFill>
                            <a:srgbClr val="252A33"/>
                          </a:solidFill>
                        </a:rPr>
                        <a:t>δ_dt  目的地×年</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每个「目的地·年份」组合一个哑变量</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843 个（自由度 842）</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102 个（自由度 101）</a:t>
                      </a:r>
                      <a:endParaRPr sz="1200" b="0">
                        <a:solidFill>
                          <a:srgbClr val="252A33"/>
                        </a:solidFill>
                      </a:endParaRPr>
                    </a:p>
                  </a:txBody>
                  <a:tcPr marL="45720" marR="45720" marT="9144" marB="9144" anchor="ctr">
                    <a:solidFill>
                      <a:srgbClr val="FFFFFF"/>
                    </a:solidFill>
                  </a:tcPr>
                </a:tc>
              </a:tr>
              <a:tr h="354330">
                <a:tc>
                  <a:txBody>
                    <a:bodyPr/>
                    <a:lstStyle/>
                    <a:p>
                      <a:pPr algn="l">
                        <a:lnSpc>
                          <a:spcPct val="100000"/>
                        </a:lnSpc>
                      </a:pPr>
                      <a:r>
                        <a:rPr sz="1200" b="0">
                          <a:solidFill>
                            <a:srgbClr val="252A33"/>
                          </a:solidFill>
                        </a:rPr>
                        <a:t>δ_ot  出发地×年</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每个「出发地·年份」组合一个哑变量</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843 个（自由度 842）</a:t>
                      </a:r>
                      <a:endParaRPr sz="1200" b="0">
                        <a:solidFill>
                          <a:srgbClr val="252A33"/>
                        </a:solidFill>
                      </a:endParaRPr>
                    </a:p>
                  </a:txBody>
                  <a:tcPr marL="45720" marR="45720" marT="9144" marB="9144" anchor="ctr">
                    <a:solidFill>
                      <a:srgbClr val="F2EEF5"/>
                    </a:solidFill>
                  </a:tcPr>
                </a:tc>
                <a:tc>
                  <a:txBody>
                    <a:bodyPr/>
                    <a:lstStyle/>
                    <a:p>
                      <a:pPr algn="ctr">
                        <a:lnSpc>
                          <a:spcPct val="100000"/>
                        </a:lnSpc>
                      </a:pPr>
                      <a:r>
                        <a:rPr sz="1200" b="0">
                          <a:solidFill>
                            <a:srgbClr val="252A33"/>
                          </a:solidFill>
                        </a:rPr>
                        <a:t>102 个（自由度 101）</a:t>
                      </a:r>
                      <a:endParaRPr sz="1200" b="0">
                        <a:solidFill>
                          <a:srgbClr val="252A33"/>
                        </a:solidFill>
                      </a:endParaRPr>
                    </a:p>
                  </a:txBody>
                  <a:tcPr marL="45720" marR="45720" marT="9144" marB="9144" anchor="ctr">
                    <a:solidFill>
                      <a:srgbClr val="F2EEF5"/>
                    </a:solidFill>
                  </a:tcPr>
                </a:tc>
              </a:tr>
              <a:tr h="354330">
                <a:tc>
                  <a:txBody>
                    <a:bodyPr/>
                    <a:lstStyle/>
                    <a:p>
                      <a:pPr algn="l">
                        <a:lnSpc>
                          <a:spcPct val="100000"/>
                        </a:lnSpc>
                      </a:pPr>
                      <a:r>
                        <a:rPr sz="1200" b="0">
                          <a:solidFill>
                            <a:srgbClr val="252A33"/>
                          </a:solidFill>
                        </a:rPr>
                        <a:t>两组同时放入</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0">
                          <a:solidFill>
                            <a:srgbClr val="252A33"/>
                          </a:solidFill>
                        </a:rPr>
                        <a:t>两组哑变量之和都等于常数向量，多一个共线</a:t>
                      </a:r>
                      <a:endParaRPr sz="1200" b="0">
                        <a:solidFill>
                          <a:srgbClr val="252A33"/>
                        </a:solidFill>
                      </a:endParaRPr>
                    </a:p>
                  </a:txBody>
                  <a:tcPr marL="45720" marR="45720" marT="9144" marB="9144" anchor="ctr">
                    <a:solidFill>
                      <a:srgbClr val="FFFFFF"/>
                    </a:solidFill>
                  </a:tcPr>
                </a:tc>
                <a:tc>
                  <a:txBody>
                    <a:bodyPr/>
                    <a:lstStyle/>
                    <a:p>
                      <a:pPr algn="ctr">
                        <a:lnSpc>
                          <a:spcPct val="100000"/>
                        </a:lnSpc>
                      </a:pPr>
                      <a:r>
                        <a:rPr sz="1200" b="1">
                          <a:solidFill>
                            <a:srgbClr val="A63A1E"/>
                          </a:solidFill>
                        </a:rPr>
                        <a:t>共 1,685 个自由度</a:t>
                      </a:r>
                      <a:endParaRPr sz="1200" b="1">
                        <a:solidFill>
                          <a:srgbClr val="A63A1E"/>
                        </a:solidFill>
                      </a:endParaRPr>
                    </a:p>
                  </a:txBody>
                  <a:tcPr marL="45720" marR="45720" marT="9144" marB="9144" anchor="ctr">
                    <a:solidFill>
                      <a:srgbClr val="FFFFFF"/>
                    </a:solidFill>
                  </a:tcPr>
                </a:tc>
                <a:tc>
                  <a:txBody>
                    <a:bodyPr/>
                    <a:lstStyle/>
                    <a:p>
                      <a:pPr algn="ctr">
                        <a:lnSpc>
                          <a:spcPct val="100000"/>
                        </a:lnSpc>
                      </a:pPr>
                      <a:r>
                        <a:rPr sz="1200" b="1">
                          <a:solidFill>
                            <a:srgbClr val="A63A1E"/>
                          </a:solidFill>
                        </a:rPr>
                        <a:t>共 203 个自由度</a:t>
                      </a:r>
                      <a:endParaRPr sz="1200" b="1">
                        <a:solidFill>
                          <a:srgbClr val="A63A1E"/>
                        </a:solidFill>
                      </a:endParaRPr>
                    </a:p>
                  </a:txBody>
                  <a:tcPr marL="45720" marR="45720" marT="9144" marB="9144" anchor="ctr">
                    <a:solidFill>
                      <a:srgbClr val="FFFFFF"/>
                    </a:solidFill>
                  </a:tcPr>
                </a:tc>
              </a:tr>
            </a:tbl>
          </a:graphicData>
        </a:graphic>
      </p:graphicFrame>
      <p:sp>
        <p:nvSpPr>
          <p:cNvPr id="7" name="TextBox 6"/>
          <p:cNvSpPr txBox="1"/>
          <p:nvPr/>
        </p:nvSpPr>
        <p:spPr>
          <a:xfrm>
            <a:off x="1929384" y="31089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两国都是抽样数据 —— Table 4 报的是样本量，不是加权和</a:t>
            </a:r>
            <a:endParaRPr sz="2200" b="1">
              <a:solidFill>
                <a:srgbClr val="642366"/>
              </a:solidFill>
            </a:endParaRPr>
          </a:p>
        </p:txBody>
      </p:sp>
      <p:graphicFrame>
        <p:nvGraphicFramePr>
          <p:cNvPr id="8" name="Table 7"/>
          <p:cNvGraphicFramePr>
            <a:graphicFrameLocks noGrp="1"/>
          </p:cNvGraphicFramePr>
          <p:nvPr/>
        </p:nvGraphicFramePr>
        <p:xfrm>
          <a:off x="1929384" y="3456432"/>
          <a:ext cx="9692638" cy="1389888"/>
        </p:xfrm>
        <a:graphic>
          <a:graphicData uri="http://schemas.openxmlformats.org/drawingml/2006/table">
            <a:tbl>
              <a:tblPr firstRow="1">
                <a:tableStyleId>{5C22544A-7EE6-4342-B048-85BDC9FD1C3A}</a:tableStyleId>
              </a:tblPr>
              <a:tblGrid>
                <a:gridCol w="1627771"/>
                <a:gridCol w="2293678"/>
                <a:gridCol w="2293678"/>
                <a:gridCol w="1294818"/>
                <a:gridCol w="2182693"/>
              </a:tblGrid>
              <a:tr h="347472">
                <a:tc>
                  <a:txBody>
                    <a:bodyPr/>
                    <a:lstStyle/>
                    <a:p>
                      <a:pPr algn="l">
                        <a:lnSpc>
                          <a:spcPct val="100000"/>
                        </a:lnSpc>
                      </a:pPr>
                      <a:r>
                        <a:rPr sz="1200" b="1">
                          <a:solidFill>
                            <a:srgbClr val="FFFFFF"/>
                          </a:solidFill>
                        </a:rPr>
                        <a:t>样本</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样本量 N（Table 4 用的）</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Sum of weights（附录表 1）</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平均权重</a:t>
                      </a:r>
                      <a:endParaRPr sz="1200" b="1">
                        <a:solidFill>
                          <a:srgbClr val="FFFFFF"/>
                        </a:solidFill>
                      </a:endParaRPr>
                    </a:p>
                  </a:txBody>
                  <a:tcPr marL="45720" marR="45720" marT="9144" marB="9144" anchor="ctr">
                    <a:solidFill>
                      <a:srgbClr val="642366"/>
                    </a:solidFill>
                  </a:tcPr>
                </a:tc>
                <a:tc>
                  <a:txBody>
                    <a:bodyPr/>
                    <a:lstStyle/>
                    <a:p>
                      <a:pPr algn="ctr">
                        <a:lnSpc>
                          <a:spcPct val="100000"/>
                        </a:lnSpc>
                      </a:pPr>
                      <a:r>
                        <a:rPr sz="1200" b="1">
                          <a:solidFill>
                            <a:srgbClr val="FFFFFF"/>
                          </a:solidFill>
                        </a:rPr>
                        <a:t>相当于抽样率</a:t>
                      </a:r>
                      <a:endParaRPr sz="1200" b="1">
                        <a:solidFill>
                          <a:srgbClr val="FFFFFF"/>
                        </a:solidFill>
                      </a:endParaRPr>
                    </a:p>
                  </a:txBody>
                  <a:tcPr marL="45720" marR="45720" marT="9144" marB="9144" anchor="ctr">
                    <a:solidFill>
                      <a:srgbClr val="642366"/>
                    </a:solidFill>
                  </a:tcPr>
                </a:tc>
              </a:tr>
              <a:tr h="347472">
                <a:tc>
                  <a:txBody>
                    <a:bodyPr/>
                    <a:lstStyle/>
                    <a:p>
                      <a:pPr algn="l">
                        <a:lnSpc>
                          <a:spcPct val="100000"/>
                        </a:lnSpc>
                      </a:pPr>
                      <a:r>
                        <a:rPr sz="1250" b="0">
                          <a:solidFill>
                            <a:srgbClr val="252A33"/>
                          </a:solidFill>
                        </a:rPr>
                        <a:t>印尼 1995</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59,006</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13,454,136</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228.01</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约 0.44 %</a:t>
                      </a:r>
                      <a:endParaRPr sz="1250" b="0">
                        <a:solidFill>
                          <a:srgbClr val="252A33"/>
                        </a:solidFill>
                      </a:endParaRPr>
                    </a:p>
                  </a:txBody>
                  <a:tcPr marL="45720" marR="45720" marT="9144" marB="9144" anchor="ctr">
                    <a:solidFill>
                      <a:srgbClr val="FFFFFF"/>
                    </a:solidFill>
                  </a:tcPr>
                </a:tc>
              </a:tr>
              <a:tr h="347472">
                <a:tc>
                  <a:txBody>
                    <a:bodyPr/>
                    <a:lstStyle/>
                    <a:p>
                      <a:pPr algn="l">
                        <a:lnSpc>
                          <a:spcPct val="100000"/>
                        </a:lnSpc>
                      </a:pPr>
                      <a:r>
                        <a:rPr sz="1250" b="0">
                          <a:solidFill>
                            <a:srgbClr val="252A33"/>
                          </a:solidFill>
                        </a:rPr>
                        <a:t>美国 1990</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1,958,123</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0">
                          <a:solidFill>
                            <a:srgbClr val="252A33"/>
                          </a:solidFill>
                        </a:rPr>
                        <a:t>39,251,152</a:t>
                      </a:r>
                      <a:endParaRPr sz="1250" b="0">
                        <a:solidFill>
                          <a:srgbClr val="252A33"/>
                        </a:solidFill>
                      </a:endParaRPr>
                    </a:p>
                  </a:txBody>
                  <a:tcPr marL="45720" marR="45720" marT="9144" marB="9144" anchor="ctr">
                    <a:solidFill>
                      <a:srgbClr val="F2EEF5"/>
                    </a:solidFill>
                  </a:tcPr>
                </a:tc>
                <a:tc>
                  <a:txBody>
                    <a:bodyPr/>
                    <a:lstStyle/>
                    <a:p>
                      <a:pPr algn="ctr">
                        <a:lnSpc>
                          <a:spcPct val="100000"/>
                        </a:lnSpc>
                      </a:pPr>
                      <a:r>
                        <a:rPr sz="1250" b="1">
                          <a:solidFill>
                            <a:srgbClr val="1B6B45"/>
                          </a:solidFill>
                        </a:rPr>
                        <a:t>20.05</a:t>
                      </a:r>
                      <a:endParaRPr sz="1250" b="1">
                        <a:solidFill>
                          <a:srgbClr val="1B6B45"/>
                        </a:solidFill>
                      </a:endParaRPr>
                    </a:p>
                  </a:txBody>
                  <a:tcPr marL="45720" marR="45720" marT="9144" marB="9144" anchor="ctr">
                    <a:solidFill>
                      <a:srgbClr val="F2EEF5"/>
                    </a:solidFill>
                  </a:tcPr>
                </a:tc>
                <a:tc>
                  <a:txBody>
                    <a:bodyPr/>
                    <a:lstStyle/>
                    <a:p>
                      <a:pPr algn="ctr">
                        <a:lnSpc>
                          <a:spcPct val="100000"/>
                        </a:lnSpc>
                      </a:pPr>
                      <a:r>
                        <a:rPr sz="1250" b="1">
                          <a:solidFill>
                            <a:srgbClr val="1B6B45"/>
                          </a:solidFill>
                        </a:rPr>
                        <a:t>5 %（普查长表样本）</a:t>
                      </a:r>
                      <a:endParaRPr sz="1250" b="1">
                        <a:solidFill>
                          <a:srgbClr val="1B6B45"/>
                        </a:solidFill>
                      </a:endParaRPr>
                    </a:p>
                  </a:txBody>
                  <a:tcPr marL="45720" marR="45720" marT="9144" marB="9144" anchor="ctr">
                    <a:solidFill>
                      <a:srgbClr val="F2EEF5"/>
                    </a:solidFill>
                  </a:tcPr>
                </a:tc>
              </a:tr>
              <a:tr h="347472">
                <a:tc>
                  <a:txBody>
                    <a:bodyPr/>
                    <a:lstStyle/>
                    <a:p>
                      <a:pPr algn="l">
                        <a:lnSpc>
                          <a:spcPct val="100000"/>
                        </a:lnSpc>
                      </a:pPr>
                      <a:r>
                        <a:rPr sz="1250" b="0">
                          <a:solidFill>
                            <a:srgbClr val="252A33"/>
                          </a:solidFill>
                        </a:rPr>
                        <a:t>美国 2010</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336,033</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32,404,124</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96.43</a:t>
                      </a:r>
                      <a:endParaRPr sz="1250" b="0">
                        <a:solidFill>
                          <a:srgbClr val="252A33"/>
                        </a:solidFill>
                      </a:endParaRPr>
                    </a:p>
                  </a:txBody>
                  <a:tcPr marL="45720" marR="45720" marT="9144" marB="9144" anchor="ctr">
                    <a:solidFill>
                      <a:srgbClr val="FFFFFF"/>
                    </a:solidFill>
                  </a:tcPr>
                </a:tc>
                <a:tc>
                  <a:txBody>
                    <a:bodyPr/>
                    <a:lstStyle/>
                    <a:p>
                      <a:pPr algn="ctr">
                        <a:lnSpc>
                          <a:spcPct val="100000"/>
                        </a:lnSpc>
                      </a:pPr>
                      <a:r>
                        <a:rPr sz="1250" b="0">
                          <a:solidFill>
                            <a:srgbClr val="252A33"/>
                          </a:solidFill>
                        </a:rPr>
                        <a:t>约 1.04 %（ACS）</a:t>
                      </a:r>
                      <a:endParaRPr sz="1250" b="0">
                        <a:solidFill>
                          <a:srgbClr val="252A33"/>
                        </a:solidFill>
                      </a:endParaRPr>
                    </a:p>
                  </a:txBody>
                  <a:tcPr marL="45720" marR="45720" marT="9144" marB="9144" anchor="ctr">
                    <a:solidFill>
                      <a:srgbClr val="FFFFFF"/>
                    </a:solidFill>
                  </a:tcPr>
                </a:tc>
              </a:tr>
            </a:tbl>
          </a:graphicData>
        </a:graphic>
      </p:graphicFrame>
      <p:sp>
        <p:nvSpPr>
          <p:cNvPr id="9" name="TextBox 8"/>
          <p:cNvSpPr txBox="1"/>
          <p:nvPr/>
        </p:nvSpPr>
        <p:spPr>
          <a:xfrm>
            <a:off x="2029968" y="4901184"/>
            <a:ext cx="9601200" cy="1417320"/>
          </a:xfrm>
          <a:prstGeom prst="rect">
            <a:avLst/>
          </a:prstGeom>
          <a:noFill/>
        </p:spPr>
        <p:txBody>
          <a:bodyPr wrap="square" lIns="0" tIns="0" rIns="0" bIns="0">
            <a:spAutoFit/>
          </a:bodyPr>
          <a:lstStyle/>
          <a:p>
            <a:pPr algn="l">
              <a:lnSpc>
                <a:spcPct val="102000"/>
              </a:lnSpc>
              <a:spcAft>
                <a:spcPts val="300"/>
              </a:spcAft>
            </a:pPr>
            <a:r>
              <a:rPr sz="1350" b="1">
                <a:solidFill>
                  <a:srgbClr val="1B6B45"/>
                </a:solidFill>
              </a:rPr>
              <a:t>⭐⭐ 美国 1990 平均权重 = 20.05 = 1/0.05 —— 精确对应论文说的「the 1990 five-percent census sample」。这证明美国的数据也是抽样、也带权重，不是全样本。</a:t>
            </a:r>
            <a:endParaRPr sz="1350" b="1">
              <a:solidFill>
                <a:srgbClr val="1B6B45"/>
              </a:solidFill>
            </a:endParaRPr>
          </a:p>
          <a:p>
            <a:pPr algn="l">
              <a:lnSpc>
                <a:spcPct val="102000"/>
              </a:lnSpc>
              <a:spcAft>
                <a:spcPts val="300"/>
              </a:spcAft>
            </a:pPr>
            <a:r>
              <a:rPr sz="1350" b="0">
                <a:solidFill>
                  <a:srgbClr val="252A33"/>
                </a:solidFill>
              </a:rPr>
              <a:t>→ 加权不会改变样本量（59,006 永远是 59,006），它只决定「能推断到多大人群」。加权和远小于总人口（印尼 1,345 万 vs 人口 1.95 亿），因为样本经过了筛选。</a:t>
            </a:r>
            <a:endParaRPr sz="1350" b="0">
              <a:solidFill>
                <a:srgbClr val="252A33"/>
              </a:solidFill>
            </a:endParaRPr>
          </a:p>
          <a:p>
            <a:pPr algn="l">
              <a:lnSpc>
                <a:spcPct val="102000"/>
              </a:lnSpc>
              <a:spcAft>
                <a:spcPts val="300"/>
              </a:spcAft>
            </a:pPr>
            <a:r>
              <a:rPr sz="1300" b="0">
                <a:solidFill>
                  <a:srgbClr val="A63A1E"/>
                </a:solidFill>
              </a:rPr>
              <a:t>⚠ 印尼 198 个 OD 对要支撑 1,685 个固定效应，自由度极紧 —— 这是印尼 θ 的 bootstrap 标准误占估计值 42%（4.435/10.551）、而美国只有 23%（9.470/41.130）的直接原因。</a:t>
            </a:r>
            <a:endParaRPr sz="1300" b="0">
              <a:solidFill>
                <a:srgbClr val="A63A1E"/>
              </a:solidFill>
            </a:endParaRPr>
          </a:p>
        </p:txBody>
      </p:sp>
      <p:sp>
        <p:nvSpPr>
          <p:cNvPr id="10" name="TextBox 9"/>
          <p:cNvSpPr txBox="1"/>
          <p:nvPr/>
        </p:nvSpPr>
        <p:spPr>
          <a:xfrm>
            <a:off x="2029968" y="6355080"/>
            <a:ext cx="9601200" cy="329184"/>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数据来源（Stata）：t4_ppt_stats.log（D、E 段）。样本量与加权和摘自论文附录表 1。</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sz="2600" b="1">
                <a:solidFill>
                  <a:srgbClr val="642366"/>
                </a:solidFill>
              </a:rPr>
              <a:t>table4：已排除的解释、限制与结论</a:t>
            </a:r>
            <a:endParaRPr sz="2600" b="1">
              <a:solidFill>
                <a:srgbClr val="642366"/>
              </a:solidFill>
            </a:endParaRPr>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5.4</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已经排除的解释 —— 哪些不是原因</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2121408"/>
        </p:xfrm>
        <a:graphic>
          <a:graphicData uri="http://schemas.openxmlformats.org/drawingml/2006/table">
            <a:tbl>
              <a:tblPr firstRow="1">
                <a:tableStyleId>{5C22544A-7EE6-4342-B048-85BDC9FD1C3A}</a:tableStyleId>
              </a:tblPr>
              <a:tblGrid>
                <a:gridCol w="2221230"/>
                <a:gridCol w="4482846"/>
                <a:gridCol w="2988564"/>
              </a:tblGrid>
              <a:tr h="353568">
                <a:tc>
                  <a:txBody>
                    <a:bodyPr/>
                    <a:lstStyle/>
                    <a:p>
                      <a:pPr algn="l">
                        <a:lnSpc>
                          <a:spcPct val="100000"/>
                        </a:lnSpc>
                      </a:pPr>
                      <a:r>
                        <a:rPr sz="1150" b="1">
                          <a:solidFill>
                            <a:srgbClr val="FFFFFF"/>
                          </a:solidFill>
                        </a:rPr>
                        <a:t>看起来像原因</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检验方式（都在 Stata 里做过）</a:t>
                      </a:r>
                      <a:endParaRPr sz="1150" b="1">
                        <a:solidFill>
                          <a:srgbClr val="FFFFFF"/>
                        </a:solidFill>
                      </a:endParaRPr>
                    </a:p>
                  </a:txBody>
                  <a:tcPr marL="45720" marR="45720" marT="9144" marB="9144" anchor="ctr">
                    <a:solidFill>
                      <a:srgbClr val="642366"/>
                    </a:solidFill>
                  </a:tcPr>
                </a:tc>
                <a:tc>
                  <a:txBody>
                    <a:bodyPr/>
                    <a:lstStyle/>
                    <a:p>
                      <a:pPr algn="ctr">
                        <a:lnSpc>
                          <a:spcPct val="100000"/>
                        </a:lnSpc>
                      </a:pPr>
                      <a:r>
                        <a:rPr sz="1150" b="1">
                          <a:solidFill>
                            <a:srgbClr val="FFFFFF"/>
                          </a:solidFill>
                        </a:rPr>
                        <a:t>结论</a:t>
                      </a:r>
                      <a:endParaRPr sz="1150" b="1">
                        <a:solidFill>
                          <a:srgbClr val="FFFFFF"/>
                        </a:solidFill>
                      </a:endParaRPr>
                    </a:p>
                  </a:txBody>
                  <a:tcPr marL="45720" marR="45720" marT="9144" marB="9144" anchor="ctr">
                    <a:solidFill>
                      <a:srgbClr val="642366"/>
                    </a:solidFill>
                  </a:tcPr>
                </a:tc>
              </a:tr>
              <a:tr h="353568">
                <a:tc>
                  <a:txBody>
                    <a:bodyPr/>
                    <a:lstStyle/>
                    <a:p>
                      <a:pPr algn="l">
                        <a:lnSpc>
                          <a:spcPct val="100000"/>
                        </a:lnSpc>
                      </a:pPr>
                      <a:r>
                        <a:rPr sz="1100" b="0">
                          <a:solidFill>
                            <a:srgbClr val="252A33"/>
                          </a:solidFill>
                        </a:rPr>
                        <a:t>代码把式(8) 解错了</a:t>
                      </a:r>
                      <a:endParaRPr sz="1100" b="0">
                        <a:solidFill>
                          <a:srgbClr val="252A33"/>
                        </a:solidFill>
                      </a:endParaRPr>
                    </a:p>
                  </a:txBody>
                  <a:tcPr marL="45720" marR="45720" marT="9144" marB="9144" anchor="ctr">
                    <a:solidFill>
                      <a:srgbClr val="FFFFFF"/>
                    </a:solidFill>
                  </a:tcPr>
                </a:tc>
                <a:tc>
                  <a:txBody>
                    <a:bodyPr/>
                    <a:lstStyle/>
                    <a:p>
                      <a:pPr algn="ctr">
                        <a:lnSpc>
                          <a:spcPct val="100000"/>
                        </a:lnSpc>
                      </a:pPr>
                      <a:r>
                        <a:rPr sz="1100" b="0">
                          <a:solidFill>
                            <a:srgbClr val="252A33"/>
                          </a:solidFill>
                        </a:rPr>
                        <a:t>把 θ̃ = 4.0874 代回式(8) 得 0.16961；实际算出 0.16956</a:t>
                      </a:r>
                      <a:endParaRPr sz="1100" b="0">
                        <a:solidFill>
                          <a:srgbClr val="252A33"/>
                        </a:solidFill>
                      </a:endParaRPr>
                    </a:p>
                  </a:txBody>
                  <a:tcPr marL="45720" marR="45720" marT="9144" marB="9144" anchor="ctr">
                    <a:solidFill>
                      <a:srgbClr val="FFFFFF"/>
                    </a:solidFill>
                  </a:tcPr>
                </a:tc>
                <a:tc>
                  <a:txBody>
                    <a:bodyPr/>
                    <a:lstStyle/>
                    <a:p>
                      <a:pPr algn="ctr">
                        <a:lnSpc>
                          <a:spcPct val="100000"/>
                        </a:lnSpc>
                      </a:pPr>
                      <a:r>
                        <a:rPr sz="1100" b="1">
                          <a:solidFill>
                            <a:srgbClr val="1B6B45"/>
                          </a:solidFill>
                        </a:rPr>
                        <a:t>✘ 排除 —— 吻合到小数点后 4 位</a:t>
                      </a:r>
                      <a:endParaRPr sz="1100" b="1">
                        <a:solidFill>
                          <a:srgbClr val="1B6B45"/>
                        </a:solidFill>
                      </a:endParaRPr>
                    </a:p>
                  </a:txBody>
                  <a:tcPr marL="45720" marR="45720" marT="9144" marB="9144" anchor="ctr">
                    <a:solidFill>
                      <a:srgbClr val="FFFFFF"/>
                    </a:solidFill>
                  </a:tcPr>
                </a:tc>
              </a:tr>
              <a:tr h="353568">
                <a:tc>
                  <a:txBody>
                    <a:bodyPr/>
                    <a:lstStyle/>
                    <a:p>
                      <a:pPr algn="l">
                        <a:lnSpc>
                          <a:spcPct val="100000"/>
                        </a:lnSpc>
                      </a:pPr>
                      <a:r>
                        <a:rPr sz="1100" b="0">
                          <a:solidFill>
                            <a:srgbClr val="252A33"/>
                          </a:solidFill>
                        </a:rPr>
                        <a:t>固定效应层级选错</a:t>
                      </a:r>
                      <a:endParaRPr sz="1100" b="0">
                        <a:solidFill>
                          <a:srgbClr val="252A33"/>
                        </a:solidFill>
                      </a:endParaRPr>
                    </a:p>
                  </a:txBody>
                  <a:tcPr marL="45720" marR="45720" marT="9144" marB="9144" anchor="ctr">
                    <a:solidFill>
                      <a:srgbClr val="F2EEF5"/>
                    </a:solidFill>
                  </a:tcPr>
                </a:tc>
                <a:tc>
                  <a:txBody>
                    <a:bodyPr/>
                    <a:lstStyle/>
                    <a:p>
                      <a:pPr algn="ctr">
                        <a:lnSpc>
                          <a:spcPct val="100000"/>
                        </a:lnSpc>
                      </a:pPr>
                      <a:r>
                        <a:rPr sz="1100" b="0">
                          <a:solidFill>
                            <a:srgbClr val="252A33"/>
                          </a:solidFill>
                        </a:rPr>
                        <a:t>省级 / 州级正是论文做结构估计用的层级（论文脚注 8）</a:t>
                      </a:r>
                      <a:endParaRPr sz="1100" b="0">
                        <a:solidFill>
                          <a:srgbClr val="252A33"/>
                        </a:solidFill>
                      </a:endParaRPr>
                    </a:p>
                  </a:txBody>
                  <a:tcPr marL="45720" marR="45720" marT="9144" marB="9144" anchor="ctr">
                    <a:solidFill>
                      <a:srgbClr val="F2EEF5"/>
                    </a:solidFill>
                  </a:tcPr>
                </a:tc>
                <a:tc>
                  <a:txBody>
                    <a:bodyPr/>
                    <a:lstStyle/>
                    <a:p>
                      <a:pPr algn="ctr">
                        <a:lnSpc>
                          <a:spcPct val="100000"/>
                        </a:lnSpc>
                      </a:pPr>
                      <a:r>
                        <a:rPr sz="1100" b="1">
                          <a:solidFill>
                            <a:srgbClr val="1B6B45"/>
                          </a:solidFill>
                        </a:rPr>
                        <a:t>✘ 排除 —— 层级选得对</a:t>
                      </a:r>
                      <a:endParaRPr sz="1100" b="1">
                        <a:solidFill>
                          <a:srgbClr val="1B6B45"/>
                        </a:solidFill>
                      </a:endParaRPr>
                    </a:p>
                  </a:txBody>
                  <a:tcPr marL="45720" marR="45720" marT="9144" marB="9144" anchor="ctr">
                    <a:solidFill>
                      <a:srgbClr val="F2EEF5"/>
                    </a:solidFill>
                  </a:tcPr>
                </a:tc>
              </a:tr>
              <a:tr h="353568">
                <a:tc>
                  <a:txBody>
                    <a:bodyPr/>
                    <a:lstStyle/>
                    <a:p>
                      <a:pPr algn="l">
                        <a:lnSpc>
                          <a:spcPct val="100000"/>
                        </a:lnSpc>
                      </a:pPr>
                      <a:r>
                        <a:rPr sz="1100" b="0">
                          <a:solidFill>
                            <a:srgbClr val="252A33"/>
                          </a:solidFill>
                        </a:rPr>
                        <a:t>把非移民（对角格）放进样本</a:t>
                      </a:r>
                      <a:endParaRPr sz="1100" b="0">
                        <a:solidFill>
                          <a:srgbClr val="252A33"/>
                        </a:solidFill>
                      </a:endParaRPr>
                    </a:p>
                  </a:txBody>
                  <a:tcPr marL="45720" marR="45720" marT="9144" marB="9144" anchor="ctr">
                    <a:solidFill>
                      <a:srgbClr val="FFFFFF"/>
                    </a:solidFill>
                  </a:tcPr>
                </a:tc>
                <a:tc>
                  <a:txBody>
                    <a:bodyPr/>
                    <a:lstStyle/>
                    <a:p>
                      <a:pPr algn="ctr">
                        <a:lnSpc>
                          <a:spcPct val="100000"/>
                        </a:lnSpc>
                      </a:pPr>
                      <a:r>
                        <a:rPr sz="1100" b="0">
                          <a:solidFill>
                            <a:srgbClr val="252A33"/>
                          </a:solidFill>
                        </a:rPr>
                        <a:t>含对角：θ = 34.28、ρ = 0.883；不含：θ = 12.58、ρ = 0.680。论文 θ = 12.5 ⇒ 论文也剔除对角</a:t>
                      </a:r>
                      <a:endParaRPr sz="1100" b="0">
                        <a:solidFill>
                          <a:srgbClr val="252A33"/>
                        </a:solidFill>
                      </a:endParaRPr>
                    </a:p>
                  </a:txBody>
                  <a:tcPr marL="45720" marR="45720" marT="9144" marB="9144" anchor="ctr">
                    <a:solidFill>
                      <a:srgbClr val="FFFFFF"/>
                    </a:solidFill>
                  </a:tcPr>
                </a:tc>
                <a:tc>
                  <a:txBody>
                    <a:bodyPr/>
                    <a:lstStyle/>
                    <a:p>
                      <a:pPr algn="ctr">
                        <a:lnSpc>
                          <a:spcPct val="100000"/>
                        </a:lnSpc>
                      </a:pPr>
                      <a:r>
                        <a:rPr sz="1100" b="1">
                          <a:solidFill>
                            <a:srgbClr val="1B6B45"/>
                          </a:solidFill>
                        </a:rPr>
                        <a:t>✘ 排除 —— o != d 是对的</a:t>
                      </a:r>
                      <a:endParaRPr sz="1100" b="1">
                        <a:solidFill>
                          <a:srgbClr val="1B6B45"/>
                        </a:solidFill>
                      </a:endParaRPr>
                    </a:p>
                  </a:txBody>
                  <a:tcPr marL="45720" marR="45720" marT="9144" marB="9144" anchor="ctr">
                    <a:solidFill>
                      <a:srgbClr val="FFFFFF"/>
                    </a:solidFill>
                  </a:tcPr>
                </a:tc>
              </a:tr>
              <a:tr h="353568">
                <a:tc>
                  <a:txBody>
                    <a:bodyPr/>
                    <a:lstStyle/>
                    <a:p>
                      <a:pPr algn="l">
                        <a:lnSpc>
                          <a:spcPct val="100000"/>
                        </a:lnSpc>
                      </a:pPr>
                      <a:r>
                        <a:rPr sz="1100" b="0">
                          <a:solidFill>
                            <a:srgbClr val="252A33"/>
                          </a:solidFill>
                        </a:rPr>
                        <a:t>迁移份额的分母算错</a:t>
                      </a:r>
                      <a:endParaRPr sz="1100" b="0">
                        <a:solidFill>
                          <a:srgbClr val="252A33"/>
                        </a:solidFill>
                      </a:endParaRPr>
                    </a:p>
                  </a:txBody>
                  <a:tcPr marL="45720" marR="45720" marT="9144" marB="9144" anchor="ctr">
                    <a:solidFill>
                      <a:srgbClr val="F2EEF5"/>
                    </a:solidFill>
                  </a:tcPr>
                </a:tc>
                <a:tc>
                  <a:txBody>
                    <a:bodyPr/>
                    <a:lstStyle/>
                    <a:p>
                      <a:pPr algn="ctr">
                        <a:lnSpc>
                          <a:spcPct val="100000"/>
                        </a:lnSpc>
                      </a:pPr>
                      <a:r>
                        <a:rPr sz="1100" b="0">
                          <a:solidFill>
                            <a:srgbClr val="252A33"/>
                          </a:solidFill>
                        </a:rPr>
                        <a:t>分母用 pop_o：θ = 10.0904；用 pop_o − m_oo：θ = 10.1561</a:t>
                      </a:r>
                      <a:endParaRPr sz="1100" b="0">
                        <a:solidFill>
                          <a:srgbClr val="252A33"/>
                        </a:solidFill>
                      </a:endParaRPr>
                    </a:p>
                  </a:txBody>
                  <a:tcPr marL="45720" marR="45720" marT="9144" marB="9144" anchor="ctr">
                    <a:solidFill>
                      <a:srgbClr val="F2EEF5"/>
                    </a:solidFill>
                  </a:tcPr>
                </a:tc>
                <a:tc>
                  <a:txBody>
                    <a:bodyPr/>
                    <a:lstStyle/>
                    <a:p>
                      <a:pPr algn="ctr">
                        <a:lnSpc>
                          <a:spcPct val="100000"/>
                        </a:lnSpc>
                      </a:pPr>
                      <a:r>
                        <a:rPr sz="1100" b="1">
                          <a:solidFill>
                            <a:srgbClr val="1B6B45"/>
                          </a:solidFill>
                        </a:rPr>
                        <a:t>✘ 排除 —— 只差 0.65%，且被出发地固定效应吸收</a:t>
                      </a:r>
                      <a:endParaRPr sz="1100" b="1">
                        <a:solidFill>
                          <a:srgbClr val="1B6B45"/>
                        </a:solidFill>
                      </a:endParaRPr>
                    </a:p>
                  </a:txBody>
                  <a:tcPr marL="45720" marR="45720" marT="9144" marB="9144" anchor="ctr">
                    <a:solidFill>
                      <a:srgbClr val="F2EEF5"/>
                    </a:solidFill>
                  </a:tcPr>
                </a:tc>
              </a:tr>
              <a:tr h="353568">
                <a:tc>
                  <a:txBody>
                    <a:bodyPr/>
                    <a:lstStyle/>
                    <a:p>
                      <a:pPr algn="l">
                        <a:lnSpc>
                          <a:spcPct val="100000"/>
                        </a:lnSpc>
                      </a:pPr>
                      <a:r>
                        <a:rPr sz="1100" b="0">
                          <a:solidFill>
                            <a:srgbClr val="252A33"/>
                          </a:solidFill>
                        </a:rPr>
                        <a:t>格子筛选用错</a:t>
                      </a:r>
                      <a:endParaRPr sz="1100" b="0">
                        <a:solidFill>
                          <a:srgbClr val="252A33"/>
                        </a:solidFill>
                      </a:endParaRPr>
                    </a:p>
                  </a:txBody>
                  <a:tcPr marL="45720" marR="45720" marT="9144" marB="9144" anchor="ctr">
                    <a:solidFill>
                      <a:srgbClr val="FFFFFF"/>
                    </a:solidFill>
                  </a:tcPr>
                </a:tc>
                <a:tc>
                  <a:txBody>
                    <a:bodyPr/>
                    <a:lstStyle/>
                    <a:p>
                      <a:pPr algn="ctr">
                        <a:lnSpc>
                          <a:spcPct val="100000"/>
                        </a:lnSpc>
                      </a:pPr>
                      <a:r>
                        <a:rPr sz="1100" b="0">
                          <a:solidFill>
                            <a:srgbClr val="252A33"/>
                          </a:solidFill>
                        </a:rPr>
                        <a:t>丢 n_raw &lt; 5 才有影响（208→187 个格子，θ 12.58→10.09）</a:t>
                      </a:r>
                      <a:endParaRPr sz="1100" b="0">
                        <a:solidFill>
                          <a:srgbClr val="252A33"/>
                        </a:solidFill>
                      </a:endParaRPr>
                    </a:p>
                  </a:txBody>
                  <a:tcPr marL="45720" marR="45720" marT="9144" marB="9144" anchor="ctr">
                    <a:solidFill>
                      <a:srgbClr val="FFFFFF"/>
                    </a:solidFill>
                  </a:tcPr>
                </a:tc>
                <a:tc>
                  <a:txBody>
                    <a:bodyPr/>
                    <a:lstStyle/>
                    <a:p>
                      <a:pPr algn="ctr">
                        <a:lnSpc>
                          <a:spcPct val="100000"/>
                        </a:lnSpc>
                      </a:pPr>
                      <a:r>
                        <a:rPr sz="1100" b="1">
                          <a:solidFill>
                            <a:srgbClr val="A63A1E"/>
                          </a:solidFill>
                        </a:rPr>
                        <a:t>⚠ 部分成立 —— 已在新口径里改正</a:t>
                      </a:r>
                      <a:endParaRPr sz="1100" b="1">
                        <a:solidFill>
                          <a:srgbClr val="A63A1E"/>
                        </a:solidFill>
                      </a:endParaRPr>
                    </a:p>
                  </a:txBody>
                  <a:tcPr marL="45720" marR="45720" marT="9144" marB="9144" anchor="ctr">
                    <a:solidFill>
                      <a:srgbClr val="FFFFFF"/>
                    </a:solidFill>
                  </a:tcPr>
                </a:tc>
              </a:tr>
            </a:tbl>
          </a:graphicData>
        </a:graphic>
      </p:graphicFrame>
      <p:sp>
        <p:nvSpPr>
          <p:cNvPr id="7" name="TextBox 6"/>
          <p:cNvSpPr txBox="1"/>
          <p:nvPr/>
        </p:nvSpPr>
        <p:spPr>
          <a:xfrm>
            <a:off x="1929384" y="3749039"/>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复现限制与结论</a:t>
            </a:r>
            <a:endParaRPr sz="2200" b="1">
              <a:solidFill>
                <a:srgbClr val="642366"/>
              </a:solidFill>
            </a:endParaRPr>
          </a:p>
        </p:txBody>
      </p:sp>
      <p:sp>
        <p:nvSpPr>
          <p:cNvPr id="8" name="TextBox 7"/>
          <p:cNvSpPr txBox="1"/>
          <p:nvPr/>
        </p:nvSpPr>
        <p:spPr>
          <a:xfrm>
            <a:off x="2029968" y="4133087"/>
            <a:ext cx="9601200" cy="2331720"/>
          </a:xfrm>
          <a:prstGeom prst="rect">
            <a:avLst/>
          </a:prstGeom>
          <a:noFill/>
        </p:spPr>
        <p:txBody>
          <a:bodyPr wrap="square" lIns="0" tIns="0" rIns="0" bIns="0">
            <a:spAutoFit/>
          </a:bodyPr>
          <a:lstStyle/>
          <a:p>
            <a:pPr algn="l">
              <a:lnSpc>
                <a:spcPct val="102000"/>
              </a:lnSpc>
              <a:spcAft>
                <a:spcPts val="300"/>
              </a:spcAft>
            </a:pPr>
            <a:r>
              <a:rPr sz="1300" b="0">
                <a:solidFill>
                  <a:srgbClr val="252A33"/>
                </a:solidFill>
              </a:rPr>
              <a:t>限制（都是数据可得性，不是方法问题）：印尼论文用全国 281 个县 × 3 年（1995/2011/2012），IPUMS 只提供 17 个省 × 1995 年一年，加权人口只覆盖 86%（1.665 亿 vs 1.948 亿）；美国两列的年份、层级、样本口径全部对上，是最干净的复现。</a:t>
            </a:r>
            <a:endParaRPr sz="1300" b="0">
              <a:solidFill>
                <a:srgbClr val="252A33"/>
              </a:solidFill>
            </a:endParaRPr>
          </a:p>
          <a:p>
            <a:pPr algn="l">
              <a:lnSpc>
                <a:spcPct val="102000"/>
              </a:lnSpc>
              <a:spcAft>
                <a:spcPts val="300"/>
              </a:spcAft>
            </a:pPr>
            <a:r>
              <a:rPr sz="1350" b="1">
                <a:solidFill>
                  <a:srgbClr val="252A33"/>
                </a:solidFill>
              </a:rPr>
              <a:t>→ 一句话总结：Table 4 的四个参数全部得到量级与方向一致的估计 —— 印尼平均迁移成本 τ 几乎完全复现（0.396 vs 0.39），美国 ρ 高度吻合（0.867 vs 0.90），美国 θ 改用论文原版的 PPML + IV 框架后从 41.13 收敛到 30.25，且落在论文自己的 95% 置信区间 [21.15, 34.05] 之内。</a:t>
            </a:r>
            <a:endParaRPr sz="1350" b="1">
              <a:solidFill>
                <a:srgbClr val="252A33"/>
              </a:solidFill>
            </a:endParaRPr>
          </a:p>
          <a:p>
            <a:pPr algn="l">
              <a:lnSpc>
                <a:spcPct val="102000"/>
              </a:lnSpc>
              <a:spcAft>
                <a:spcPts val="300"/>
              </a:spcAft>
            </a:pPr>
            <a:r>
              <a:rPr sz="1300" b="0">
                <a:solidFill>
                  <a:srgbClr val="252A33"/>
                </a:solidFill>
              </a:rPr>
              <a:t>剩下的差距集中在 θ̃：它由式(8) 从工资方差反解，而式(8) 在 θ̃ ≈ 2~3 处极其陡峭，加之印尼样本覆盖窄、工资方差被压缩，θ̃ 系统性偏高 —— 这是数据限制，不是代码或方法的问题。</a:t>
            </a:r>
            <a:endParaRPr sz="1300" b="0">
              <a:solidFill>
                <a:srgbClr val="252A33"/>
              </a:solidFill>
            </a:endParaRPr>
          </a:p>
          <a:p>
            <a:pPr algn="l">
              <a:lnSpc>
                <a:spcPct val="102000"/>
              </a:lnSpc>
              <a:spcAft>
                <a:spcPts val="300"/>
              </a:spcAft>
            </a:pPr>
            <a:r>
              <a:rPr sz="1350" b="1">
                <a:solidFill>
                  <a:srgbClr val="1B6B45"/>
                </a:solidFill>
              </a:rPr>
              <a:t>全部数值均由 Stata 估计得到，可复现（详见各页脚注标注的 .log 文件）。</a:t>
            </a:r>
            <a:endParaRPr sz="1350" b="1">
              <a:solidFill>
                <a:srgbClr val="1B6B4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table5：论文原表与编号对照</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论文 Table 5 的六个格子</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1560880"/>
        </p:xfrm>
        <a:graphic>
          <a:graphicData uri="http://schemas.openxmlformats.org/drawingml/2006/table">
            <a:tbl>
              <a:tblPr firstRow="1">
                <a:tableStyleId>{5C22544A-7EE6-4342-B048-85BDC9FD1C3A}</a:tableStyleId>
              </a:tblPr>
              <a:tblGrid>
                <a:gridCol w="1481328"/>
                <a:gridCol w="4279392"/>
                <a:gridCol w="1965960"/>
                <a:gridCol w="1965960"/>
              </a:tblGrid>
              <a:tr h="353872">
                <a:tc>
                  <a:txBody>
                    <a:bodyPr/>
                    <a:lstStyle/>
                    <a:p>
                      <a:pPr algn="l">
                        <a:lnSpc>
                          <a:spcPct val="102000"/>
                        </a:lnSpc>
                      </a:pPr>
                      <a:r>
                        <a:rPr sz="1150" b="1">
                          <a:solidFill>
                            <a:srgbClr val="FFFFFF"/>
                          </a:solidFill>
                        </a:rPr>
                        <a:t>反事实</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做什么</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论文·含选择</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论文·无选择</a:t>
                      </a:r>
                      <a:endParaRPr sz="1150" b="1">
                        <a:solidFill>
                          <a:srgbClr val="FFFFFF"/>
                        </a:solidFill>
                      </a:endParaRPr>
                    </a:p>
                  </a:txBody>
                  <a:tcPr marL="45720" marR="45720" marT="9144" marB="9144" anchor="ctr">
                    <a:solidFill>
                      <a:srgbClr val="642366"/>
                    </a:solidFill>
                  </a:tcPr>
                </a:tc>
              </a:tr>
              <a:tr h="402336">
                <a:tc>
                  <a:txBody>
                    <a:bodyPr/>
                    <a:lstStyle/>
                    <a:p>
                      <a:pPr algn="l">
                        <a:lnSpc>
                          <a:spcPct val="102000"/>
                        </a:lnSpc>
                      </a:pPr>
                      <a:r>
                        <a:rPr sz="1100" b="0">
                          <a:solidFill>
                            <a:srgbClr val="252A33"/>
                          </a:solidFill>
                        </a:rPr>
                        <a:t>列(1) 迁移成本</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把 τ_do 全部设成 0（迁移成本降到零）</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252A33"/>
                          </a:solidFill>
                        </a:rPr>
                        <a:t>1.075</a:t>
                      </a:r>
                      <a:endParaRPr sz="1100" b="1">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252A33"/>
                          </a:solidFill>
                        </a:rPr>
                        <a:t>0.914</a:t>
                      </a:r>
                      <a:endParaRPr sz="1100" b="1">
                        <a:solidFill>
                          <a:srgbClr val="252A33"/>
                        </a:solidFill>
                      </a:endParaRPr>
                    </a:p>
                  </a:txBody>
                  <a:tcPr marL="45720" marR="45720" marT="9144" marB="9144" anchor="ctr">
                    <a:solidFill>
                      <a:srgbClr val="FFFFFF"/>
                    </a:solidFill>
                  </a:tcPr>
                </a:tc>
              </a:tr>
              <a:tr h="402336">
                <a:tc>
                  <a:txBody>
                    <a:bodyPr/>
                    <a:lstStyle/>
                    <a:p>
                      <a:pPr algn="l">
                        <a:lnSpc>
                          <a:spcPct val="102000"/>
                        </a:lnSpc>
                      </a:pPr>
                      <a:r>
                        <a:rPr sz="1100" b="0">
                          <a:solidFill>
                            <a:srgbClr val="252A33"/>
                          </a:solidFill>
                        </a:rPr>
                        <a:t>列(2) 舒适度</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把各省舒适度完全拉平（缩放指数 k = 1）</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252A33"/>
                          </a:solidFill>
                        </a:rPr>
                        <a:t>1.127</a:t>
                      </a:r>
                      <a:endParaRPr sz="1100" b="1">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1.127</a:t>
                      </a:r>
                      <a:endParaRPr sz="1100" b="1">
                        <a:solidFill>
                          <a:srgbClr val="1B6B45"/>
                        </a:solidFill>
                      </a:endParaRPr>
                    </a:p>
                  </a:txBody>
                  <a:tcPr marL="45720" marR="45720" marT="9144" marB="9144" anchor="ctr">
                    <a:solidFill>
                      <a:srgbClr val="F2EEF5"/>
                    </a:solidFill>
                  </a:tcPr>
                </a:tc>
              </a:tr>
              <a:tr h="402336">
                <a:tc>
                  <a:txBody>
                    <a:bodyPr/>
                    <a:lstStyle/>
                    <a:p>
                      <a:pPr algn="l">
                        <a:lnSpc>
                          <a:spcPct val="102000"/>
                        </a:lnSpc>
                      </a:pPr>
                      <a:r>
                        <a:rPr sz="1100" b="0">
                          <a:solidFill>
                            <a:srgbClr val="252A33"/>
                          </a:solidFill>
                        </a:rPr>
                        <a:t>列(3) 两者同时</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迁移成本归零 + 舒适度拉平</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252A33"/>
                          </a:solidFill>
                        </a:rPr>
                        <a:t>1.217</a:t>
                      </a:r>
                      <a:endParaRPr sz="1100" b="1">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252A33"/>
                          </a:solidFill>
                        </a:rPr>
                        <a:t>1.133</a:t>
                      </a:r>
                      <a:endParaRPr sz="1100" b="1">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1929384" y="3822191"/>
            <a:ext cx="9692640" cy="321755"/>
          </a:xfrm>
          <a:prstGeom prst="rect">
            <a:avLst/>
          </a:prstGeom>
          <a:noFill/>
        </p:spPr>
        <p:txBody>
          <a:bodyPr wrap="square" lIns="0" tIns="0" rIns="0" bIns="0">
            <a:spAutoFit/>
          </a:bodyPr>
          <a:lstStyle/>
          <a:p>
            <a:pPr algn="l">
              <a:lnSpc>
                <a:spcPct val="102000"/>
              </a:lnSpc>
              <a:spcAft>
                <a:spcPts val="300"/>
              </a:spcAft>
            </a:pPr>
            <a:r>
              <a:rPr sz="2200" b="1" dirty="0" err="1">
                <a:solidFill>
                  <a:srgbClr val="642366"/>
                </a:solidFill>
              </a:rPr>
              <a:t>前提</a:t>
            </a:r>
            <a:endParaRPr sz="2200" b="1" dirty="0">
              <a:solidFill>
                <a:srgbClr val="642366"/>
              </a:solidFill>
            </a:endParaRPr>
          </a:p>
        </p:txBody>
      </p:sp>
      <p:sp>
        <p:nvSpPr>
          <p:cNvPr id="8" name="TextBox 7"/>
          <p:cNvSpPr txBox="1"/>
          <p:nvPr/>
        </p:nvSpPr>
        <p:spPr>
          <a:xfrm>
            <a:off x="2029968" y="4224528"/>
            <a:ext cx="9601200" cy="871649"/>
          </a:xfrm>
          <a:prstGeom prst="rect">
            <a:avLst/>
          </a:prstGeom>
          <a:noFill/>
        </p:spPr>
        <p:txBody>
          <a:bodyPr wrap="square" lIns="0" tIns="0" rIns="0" bIns="0">
            <a:spAutoFit/>
          </a:bodyPr>
          <a:lstStyle/>
          <a:p>
            <a:pPr algn="l">
              <a:lnSpc>
                <a:spcPct val="102000"/>
              </a:lnSpc>
              <a:spcAft>
                <a:spcPts val="300"/>
              </a:spcAft>
            </a:pPr>
            <a:r>
              <a:rPr sz="1350" b="0" dirty="0" err="1">
                <a:solidFill>
                  <a:srgbClr val="252A33"/>
                </a:solidFill>
              </a:rPr>
              <a:t>两个口径：含选择是论文主口径；无选择（no</a:t>
            </a:r>
            <a:r>
              <a:rPr sz="1350" b="0" dirty="0">
                <a:solidFill>
                  <a:srgbClr val="252A33"/>
                </a:solidFill>
              </a:rPr>
              <a:t> </a:t>
            </a:r>
            <a:r>
              <a:rPr sz="1350" b="0" dirty="0" err="1">
                <a:solidFill>
                  <a:srgbClr val="252A33"/>
                </a:solidFill>
              </a:rPr>
              <a:t>selection）把内生人力资本成分设为</a:t>
            </a:r>
            <a:r>
              <a:rPr sz="1350" b="0" dirty="0">
                <a:solidFill>
                  <a:srgbClr val="252A33"/>
                </a:solidFill>
              </a:rPr>
              <a:t> 1（脚注 25）⇒ </a:t>
            </a:r>
            <a:r>
              <a:rPr sz="1350" b="0" dirty="0" err="1">
                <a:solidFill>
                  <a:srgbClr val="252A33"/>
                </a:solidFill>
              </a:rPr>
              <a:t>等价于「人们只按偏好冲击迁移</a:t>
            </a:r>
            <a:r>
              <a:rPr sz="1350" b="0" dirty="0">
                <a:solidFill>
                  <a:srgbClr val="252A33"/>
                </a:solidFill>
              </a:rPr>
              <a:t>」。</a:t>
            </a:r>
            <a:endParaRPr sz="1350" b="0" dirty="0">
              <a:solidFill>
                <a:srgbClr val="252A33"/>
              </a:solidFill>
            </a:endParaRPr>
          </a:p>
          <a:p>
            <a:pPr algn="l">
              <a:lnSpc>
                <a:spcPct val="102000"/>
              </a:lnSpc>
              <a:spcAft>
                <a:spcPts val="300"/>
              </a:spcAft>
            </a:pPr>
            <a:r>
              <a:rPr sz="1350" b="1" dirty="0">
                <a:solidFill>
                  <a:srgbClr val="A63A1E"/>
                </a:solidFill>
              </a:rPr>
              <a:t>⚠「1.127 = 1.127」的真相：这是打印到 3 </a:t>
            </a:r>
            <a:r>
              <a:rPr sz="1350" b="1" dirty="0" err="1">
                <a:solidFill>
                  <a:srgbClr val="A63A1E"/>
                </a:solidFill>
              </a:rPr>
              <a:t>位小数的结果。WP</a:t>
            </a:r>
            <a:r>
              <a:rPr sz="1350" b="1" dirty="0">
                <a:solidFill>
                  <a:srgbClr val="A63A1E"/>
                </a:solidFill>
              </a:rPr>
              <a:t> </a:t>
            </a:r>
            <a:r>
              <a:rPr sz="1350" b="1" dirty="0" err="1">
                <a:solidFill>
                  <a:srgbClr val="A63A1E"/>
                </a:solidFill>
              </a:rPr>
              <a:t>版本同一格是</a:t>
            </a:r>
            <a:r>
              <a:rPr sz="1350" b="1" dirty="0">
                <a:solidFill>
                  <a:srgbClr val="A63A1E"/>
                </a:solidFill>
              </a:rPr>
              <a:t> 1.126 vs 1.125 —— </a:t>
            </a:r>
            <a:r>
              <a:rPr sz="1350" b="1" dirty="0" err="1">
                <a:solidFill>
                  <a:srgbClr val="A63A1E"/>
                </a:solidFill>
              </a:rPr>
              <a:t>真值在</a:t>
            </a:r>
            <a:r>
              <a:rPr sz="1350" b="1" dirty="0">
                <a:solidFill>
                  <a:srgbClr val="A63A1E"/>
                </a:solidFill>
              </a:rPr>
              <a:t> 0.001 </a:t>
            </a:r>
            <a:r>
              <a:rPr sz="1350" b="1" dirty="0" err="1">
                <a:solidFill>
                  <a:srgbClr val="A63A1E"/>
                </a:solidFill>
              </a:rPr>
              <a:t>量级，不是严格相等。拿它当复现判据要小心</a:t>
            </a:r>
            <a:r>
              <a:rPr sz="1350" b="1" dirty="0">
                <a:solidFill>
                  <a:srgbClr val="A63A1E"/>
                </a:solidFill>
              </a:rPr>
              <a:t>。</a:t>
            </a:r>
            <a:endParaRPr sz="1350" b="1" dirty="0">
              <a:solidFill>
                <a:srgbClr val="A63A1E"/>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数据来源：JPE 正文第 1858–1876 行（Table 5）；WP Table 4 对照见 _w23540_all.txt 第 1668–1688 行。</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table5：反事实怎么算 —— 模型链条</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从迁移份额到总产出：七步</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2212848"/>
        </p:xfrm>
        <a:graphic>
          <a:graphicData uri="http://schemas.openxmlformats.org/drawingml/2006/table">
            <a:tbl>
              <a:tblPr firstRow="1">
                <a:tableStyleId>{5C22544A-7EE6-4342-B048-85BDC9FD1C3A}</a:tableStyleId>
              </a:tblPr>
              <a:tblGrid>
                <a:gridCol w="1417320"/>
                <a:gridCol w="6263640"/>
                <a:gridCol w="2011680"/>
              </a:tblGrid>
              <a:tr h="292608">
                <a:tc>
                  <a:txBody>
                    <a:bodyPr/>
                    <a:lstStyle/>
                    <a:p>
                      <a:pPr algn="l">
                        <a:lnSpc>
                          <a:spcPct val="102000"/>
                        </a:lnSpc>
                      </a:pPr>
                      <a:r>
                        <a:rPr sz="1150" b="1">
                          <a:solidFill>
                            <a:srgbClr val="FFFFFF"/>
                          </a:solidFill>
                        </a:rPr>
                        <a:t>步骤</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式子</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说明</a:t>
                      </a:r>
                      <a:endParaRPr sz="1150" b="1">
                        <a:solidFill>
                          <a:srgbClr val="FFFFFF"/>
                        </a:solidFill>
                      </a:endParaRPr>
                    </a:p>
                  </a:txBody>
                  <a:tcPr marL="45720" marR="45720" marT="9144" marB="9144" anchor="ctr">
                    <a:solidFill>
                      <a:srgbClr val="642366"/>
                    </a:solidFill>
                  </a:tcPr>
                </a:tc>
              </a:tr>
              <a:tr h="274320">
                <a:tc>
                  <a:txBody>
                    <a:bodyPr/>
                    <a:lstStyle/>
                    <a:p>
                      <a:pPr algn="l">
                        <a:lnSpc>
                          <a:spcPct val="102000"/>
                        </a:lnSpc>
                      </a:pPr>
                      <a:r>
                        <a:rPr sz="1100" b="0">
                          <a:solidFill>
                            <a:srgbClr val="252A33"/>
                          </a:solidFill>
                        </a:rPr>
                        <a:t>① 迁移份额</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π_do = (w_d α_d (1−τ_do))^θ / Σ_j (w_j α_j (1−τ_jo))^θ</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式(4)</a:t>
                      </a:r>
                      <a:endParaRPr sz="1100" b="0">
                        <a:solidFill>
                          <a:srgbClr val="252A33"/>
                        </a:solidFill>
                      </a:endParaRPr>
                    </a:p>
                  </a:txBody>
                  <a:tcPr marL="45720" marR="45720" marT="9144" marB="9144" anchor="ctr">
                    <a:solidFill>
                      <a:srgbClr val="FFFFFF"/>
                    </a:solidFill>
                  </a:tcPr>
                </a:tc>
              </a:tr>
              <a:tr h="274320">
                <a:tc>
                  <a:txBody>
                    <a:bodyPr/>
                    <a:lstStyle/>
                    <a:p>
                      <a:pPr algn="l">
                        <a:lnSpc>
                          <a:spcPct val="102000"/>
                        </a:lnSpc>
                      </a:pPr>
                      <a:r>
                        <a:rPr sz="1100" b="0">
                          <a:solidFill>
                            <a:srgbClr val="252A33"/>
                          </a:solidFill>
                        </a:rPr>
                        <a:t>② 人口分布</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L_d = Σ_o L_o π_do</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目的地人口</a:t>
                      </a:r>
                      <a:endParaRPr sz="1100" b="0">
                        <a:solidFill>
                          <a:srgbClr val="252A33"/>
                        </a:solidFill>
                      </a:endParaRPr>
                    </a:p>
                  </a:txBody>
                  <a:tcPr marL="45720" marR="45720" marT="9144" marB="9144" anchor="ctr">
                    <a:solidFill>
                      <a:srgbClr val="F2EEF5"/>
                    </a:solidFill>
                  </a:tcPr>
                </a:tc>
              </a:tr>
              <a:tr h="274320">
                <a:tc>
                  <a:txBody>
                    <a:bodyPr/>
                    <a:lstStyle/>
                    <a:p>
                      <a:pPr algn="l">
                        <a:lnSpc>
                          <a:spcPct val="102000"/>
                        </a:lnSpc>
                      </a:pPr>
                      <a:r>
                        <a:rPr sz="1100" b="0">
                          <a:solidFill>
                            <a:srgbClr val="252A33"/>
                          </a:solidFill>
                        </a:rPr>
                        <a:t>③ 人力资本</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H_d = Γ̄ Σ_o L_o q_o π_do^(1−1/θ)</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式(5)，Γ̄ = Γ(1−1/θ̃)</a:t>
                      </a:r>
                      <a:endParaRPr sz="1100" b="0">
                        <a:solidFill>
                          <a:srgbClr val="252A33"/>
                        </a:solidFill>
                      </a:endParaRPr>
                    </a:p>
                  </a:txBody>
                  <a:tcPr marL="45720" marR="45720" marT="9144" marB="9144" anchor="ctr">
                    <a:solidFill>
                      <a:srgbClr val="FFFFFF"/>
                    </a:solidFill>
                  </a:tcPr>
                </a:tc>
              </a:tr>
              <a:tr h="274320">
                <a:tc>
                  <a:txBody>
                    <a:bodyPr/>
                    <a:lstStyle/>
                    <a:p>
                      <a:pPr algn="l">
                        <a:lnSpc>
                          <a:spcPct val="102000"/>
                        </a:lnSpc>
                      </a:pPr>
                      <a:r>
                        <a:rPr sz="1100" b="0">
                          <a:solidFill>
                            <a:srgbClr val="252A33"/>
                          </a:solidFill>
                        </a:rPr>
                        <a:t>④ 生产率</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A_d = Ā_d · H_d^γ</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集聚，γ = 0.05</a:t>
                      </a:r>
                      <a:endParaRPr sz="1100" b="0">
                        <a:solidFill>
                          <a:srgbClr val="252A33"/>
                        </a:solidFill>
                      </a:endParaRPr>
                    </a:p>
                  </a:txBody>
                  <a:tcPr marL="45720" marR="45720" marT="9144" marB="9144" anchor="ctr">
                    <a:solidFill>
                      <a:srgbClr val="F2EEF5"/>
                    </a:solidFill>
                  </a:tcPr>
                </a:tc>
              </a:tr>
              <a:tr h="274320">
                <a:tc>
                  <a:txBody>
                    <a:bodyPr/>
                    <a:lstStyle/>
                    <a:p>
                      <a:pPr algn="l">
                        <a:lnSpc>
                          <a:spcPct val="102000"/>
                        </a:lnSpc>
                      </a:pPr>
                      <a:r>
                        <a:rPr sz="1100" b="0">
                          <a:solidFill>
                            <a:srgbClr val="252A33"/>
                          </a:solidFill>
                        </a:rPr>
                        <a:t>⑤ 舒适度</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α_d = ᾱ_d · L_d^λ</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拥堵，λ = −0.075</a:t>
                      </a:r>
                      <a:endParaRPr sz="1100" b="0">
                        <a:solidFill>
                          <a:srgbClr val="252A33"/>
                        </a:solidFill>
                      </a:endParaRPr>
                    </a:p>
                  </a:txBody>
                  <a:tcPr marL="45720" marR="45720" marT="9144" marB="9144" anchor="ctr">
                    <a:solidFill>
                      <a:srgbClr val="FFFFFF"/>
                    </a:solidFill>
                  </a:tcPr>
                </a:tc>
              </a:tr>
              <a:tr h="274320">
                <a:tc>
                  <a:txBody>
                    <a:bodyPr/>
                    <a:lstStyle/>
                    <a:p>
                      <a:pPr algn="l">
                        <a:lnSpc>
                          <a:spcPct val="102000"/>
                        </a:lnSpc>
                      </a:pPr>
                      <a:r>
                        <a:rPr sz="1100" b="0">
                          <a:solidFill>
                            <a:srgbClr val="252A33"/>
                          </a:solidFill>
                        </a:rPr>
                        <a:t>⑥ 工资</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w_d = A_d^((σ−1)/σ) · H_d^(−1/σ) · Y^(1/σ)</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σ = 8</a:t>
                      </a:r>
                      <a:endParaRPr sz="1100" b="0">
                        <a:solidFill>
                          <a:srgbClr val="252A33"/>
                        </a:solidFill>
                      </a:endParaRPr>
                    </a:p>
                  </a:txBody>
                  <a:tcPr marL="45720" marR="45720" marT="9144" marB="9144" anchor="ctr">
                    <a:solidFill>
                      <a:srgbClr val="F2EEF5"/>
                    </a:solidFill>
                  </a:tcPr>
                </a:tc>
              </a:tr>
              <a:tr h="274320">
                <a:tc>
                  <a:txBody>
                    <a:bodyPr/>
                    <a:lstStyle/>
                    <a:p>
                      <a:pPr algn="l">
                        <a:lnSpc>
                          <a:spcPct val="102000"/>
                        </a:lnSpc>
                      </a:pPr>
                      <a:r>
                        <a:rPr sz="1100" b="0">
                          <a:solidFill>
                            <a:srgbClr val="252A33"/>
                          </a:solidFill>
                        </a:rPr>
                        <a:t>⑦ 总产出</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Y = [ Σ_d (A_d H_d)^((σ−1)/σ) ]^(σ/(σ−1))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要比较的量</a:t>
                      </a:r>
                      <a:endParaRPr sz="1100" b="0">
                        <a:solidFill>
                          <a:srgbClr val="252A33"/>
                        </a:solidFill>
                      </a:endParaRPr>
                    </a:p>
                  </a:txBody>
                  <a:tcPr marL="45720" marR="45720" marT="9144" marB="9144" anchor="ctr">
                    <a:solidFill>
                      <a:srgbClr val="FFFFFF"/>
                    </a:solidFill>
                  </a:tcPr>
                </a:tc>
              </a:tr>
            </a:tbl>
          </a:graphicData>
        </a:graphic>
      </p:graphicFrame>
      <p:sp>
        <p:nvSpPr>
          <p:cNvPr id="7" name="TextBox 6"/>
          <p:cNvSpPr txBox="1"/>
          <p:nvPr/>
        </p:nvSpPr>
        <p:spPr>
          <a:xfrm>
            <a:off x="1929384" y="3822191"/>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怎么解：先校准，再扰动，再重解</a:t>
            </a:r>
            <a:endParaRPr sz="2200" b="1">
              <a:solidFill>
                <a:srgbClr val="642366"/>
              </a:solidFill>
            </a:endParaRPr>
          </a:p>
        </p:txBody>
      </p:sp>
      <p:sp>
        <p:nvSpPr>
          <p:cNvPr id="8" name="TextBox 7"/>
          <p:cNvSpPr txBox="1"/>
          <p:nvPr/>
        </p:nvSpPr>
        <p:spPr>
          <a:xfrm>
            <a:off x="2029968" y="4224528"/>
            <a:ext cx="9601200" cy="2377440"/>
          </a:xfrm>
          <a:prstGeom prst="rect">
            <a:avLst/>
          </a:prstGeom>
          <a:noFill/>
        </p:spPr>
        <p:txBody>
          <a:bodyPr wrap="square" lIns="0" tIns="0" rIns="0" bIns="0">
            <a:spAutoFit/>
          </a:bodyPr>
          <a:lstStyle/>
          <a:p>
            <a:pPr algn="l">
              <a:lnSpc>
                <a:spcPct val="102000"/>
              </a:lnSpc>
              <a:spcAft>
                <a:spcPts val="300"/>
              </a:spcAft>
            </a:pPr>
            <a:r>
              <a:rPr sz="1350" b="0">
                <a:solidFill>
                  <a:srgbClr val="252A33"/>
                </a:solidFill>
              </a:rPr>
              <a:t>校准：把数据里估出的 w_d、α_d 代入，反解 Ā_d、ᾱ_d，让基准经济成为模型的严格不动点（自检误差 1.33e−15）。</a:t>
            </a:r>
            <a:endParaRPr sz="1350" b="0">
              <a:solidFill>
                <a:srgbClr val="252A33"/>
              </a:solidFill>
            </a:endParaRPr>
          </a:p>
          <a:p>
            <a:pPr algn="l">
              <a:lnSpc>
                <a:spcPct val="102000"/>
              </a:lnSpc>
              <a:spcAft>
                <a:spcPts val="300"/>
              </a:spcAft>
            </a:pPr>
            <a:r>
              <a:rPr sz="1350" b="0">
                <a:solidFill>
                  <a:srgbClr val="252A33"/>
                </a:solidFill>
              </a:rPr>
              <a:t>反事实：改 τ_do（列1）或 ᾱ_d（列2），重新解整个体系到不动点，再比 Y。</a:t>
            </a:r>
            <a:endParaRPr sz="1350" b="0">
              <a:solidFill>
                <a:srgbClr val="252A33"/>
              </a:solidFill>
            </a:endParaRPr>
          </a:p>
          <a:p>
            <a:pPr algn="l">
              <a:lnSpc>
                <a:spcPct val="102000"/>
              </a:lnSpc>
              <a:spcAft>
                <a:spcPts val="300"/>
              </a:spcAft>
            </a:pPr>
            <a:r>
              <a:rPr sz="1350" b="0">
                <a:solidFill>
                  <a:srgbClr val="252A33"/>
                </a:solidFill>
              </a:rPr>
              <a:t>γ、λ、σ 全部取论文的文献值（JPE p.2257–2258）：γ = 0.05、λ = λ_a − 0.3λ_r = −0.075、σ = 8。</a:t>
            </a:r>
            <a:endParaRPr sz="1350" b="0">
              <a:solidFill>
                <a:srgbClr val="252A33"/>
              </a:solidFill>
            </a:endParaRPr>
          </a:p>
          <a:p>
            <a:pPr algn="l">
              <a:lnSpc>
                <a:spcPct val="102000"/>
              </a:lnSpc>
              <a:spcAft>
                <a:spcPts val="300"/>
              </a:spcAft>
            </a:pPr>
            <a:r>
              <a:rPr sz="1350" b="0">
                <a:solidFill>
                  <a:srgbClr val="252A33"/>
                </a:solidFill>
              </a:rPr>
              <a:t>舒适度反事实：按 ᾱ_d/ᾱ_1 = (α_d/α_1)^(1−k) 缩放，k = 1 时各省一样宜居；迁移成本反事实则允许 α_d 内生调整（JPE p.2260）。</a:t>
            </a:r>
            <a:endParaRPr sz="1350" b="0">
              <a:solidFill>
                <a:srgbClr val="252A33"/>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数据来源：JPE 正文第 1004–1065、1130–1184、1240–1266 行；参数取值见第 1661–1709 行。</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table5：含选择 vs 无选择 —— 差别只在一处</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两个口径的唯一区别：H_d 的聚合式</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1499616"/>
        </p:xfrm>
        <a:graphic>
          <a:graphicData uri="http://schemas.openxmlformats.org/drawingml/2006/table">
            <a:tbl>
              <a:tblPr firstRow="1">
                <a:tableStyleId>{5C22544A-7EE6-4342-B048-85BDC9FD1C3A}</a:tableStyleId>
              </a:tblPr>
              <a:tblGrid>
                <a:gridCol w="1737360"/>
                <a:gridCol w="4434840"/>
                <a:gridCol w="3520440"/>
              </a:tblGrid>
              <a:tr h="365760">
                <a:tc>
                  <a:txBody>
                    <a:bodyPr/>
                    <a:lstStyle/>
                    <a:p>
                      <a:pPr algn="l">
                        <a:lnSpc>
                          <a:spcPct val="102000"/>
                        </a:lnSpc>
                      </a:pPr>
                      <a:r>
                        <a:rPr sz="1150" b="1">
                          <a:solidFill>
                            <a:srgbClr val="FFFFFF"/>
                          </a:solidFill>
                        </a:rPr>
                        <a:t>口径</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H_d 的算法</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含义</a:t>
                      </a:r>
                      <a:endParaRPr sz="1150" b="1">
                        <a:solidFill>
                          <a:srgbClr val="FFFFFF"/>
                        </a:solidFill>
                      </a:endParaRPr>
                    </a:p>
                  </a:txBody>
                  <a:tcPr marL="45720" marR="45720" marT="9144" marB="9144" anchor="ctr">
                    <a:solidFill>
                      <a:srgbClr val="642366"/>
                    </a:solidFill>
                  </a:tcPr>
                </a:tc>
              </a:tr>
              <a:tr h="566928">
                <a:tc>
                  <a:txBody>
                    <a:bodyPr/>
                    <a:lstStyle/>
                    <a:p>
                      <a:pPr algn="l">
                        <a:lnSpc>
                          <a:spcPct val="102000"/>
                        </a:lnSpc>
                      </a:pPr>
                      <a:r>
                        <a:rPr sz="1100" b="0">
                          <a:solidFill>
                            <a:srgbClr val="252A33"/>
                          </a:solidFill>
                        </a:rPr>
                        <a:t>含选择（baseline）</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H_d = Γ̄ Σ_o L_o q_o π_do^(1−1/θ)</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式(5)。技能按目的地筛选：迁移份额带 1−1/θ 次幂</a:t>
                      </a:r>
                      <a:endParaRPr sz="1100" b="0">
                        <a:solidFill>
                          <a:srgbClr val="252A33"/>
                        </a:solidFill>
                      </a:endParaRPr>
                    </a:p>
                  </a:txBody>
                  <a:tcPr marL="45720" marR="45720" marT="9144" marB="9144" anchor="ctr">
                    <a:solidFill>
                      <a:srgbClr val="FFFFFF"/>
                    </a:solidFill>
                  </a:tcPr>
                </a:tc>
              </a:tr>
              <a:tr h="566928">
                <a:tc>
                  <a:txBody>
                    <a:bodyPr/>
                    <a:lstStyle/>
                    <a:p>
                      <a:pPr algn="l">
                        <a:lnSpc>
                          <a:spcPct val="102000"/>
                        </a:lnSpc>
                      </a:pPr>
                      <a:r>
                        <a:rPr sz="1100" b="0">
                          <a:solidFill>
                            <a:srgbClr val="252A33"/>
                          </a:solidFill>
                        </a:rPr>
                        <a:t>无选择（no selection）</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H_d = Γ̄ Σ_o L_o q_o π_do</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内生人力资本成分设为 1（脚注 25）⇒ 幂次消失</a:t>
                      </a:r>
                      <a:endParaRPr sz="1100" b="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575303"/>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为什么这是论文的关键实验</a:t>
            </a:r>
            <a:endParaRPr sz="2200" b="1">
              <a:solidFill>
                <a:srgbClr val="642366"/>
              </a:solidFill>
            </a:endParaRPr>
          </a:p>
        </p:txBody>
      </p:sp>
      <p:sp>
        <p:nvSpPr>
          <p:cNvPr id="8" name="TextBox 7"/>
          <p:cNvSpPr txBox="1"/>
          <p:nvPr/>
        </p:nvSpPr>
        <p:spPr>
          <a:xfrm>
            <a:off x="2029968" y="3977639"/>
            <a:ext cx="9601200" cy="2377440"/>
          </a:xfrm>
          <a:prstGeom prst="rect">
            <a:avLst/>
          </a:prstGeom>
          <a:noFill/>
        </p:spPr>
        <p:txBody>
          <a:bodyPr wrap="square" lIns="0" tIns="0" rIns="0" bIns="0">
            <a:spAutoFit/>
          </a:bodyPr>
          <a:lstStyle/>
          <a:p>
            <a:pPr algn="l">
              <a:lnSpc>
                <a:spcPct val="102000"/>
              </a:lnSpc>
              <a:spcAft>
                <a:spcPts val="300"/>
              </a:spcAft>
            </a:pPr>
            <a:r>
              <a:rPr sz="1300" b="0">
                <a:solidFill>
                  <a:srgbClr val="252A33"/>
                </a:solidFill>
              </a:rPr>
              <a:t>论文脚注 25 原文：「We do this by setting the endogenous component of human capital equal to 1. This maps to a model where people are migrating based on preference shocks.」</a:t>
            </a:r>
            <a:endParaRPr sz="1300" b="0">
              <a:solidFill>
                <a:srgbClr val="252A33"/>
              </a:solidFill>
            </a:endParaRPr>
          </a:p>
          <a:p>
            <a:pPr algn="l">
              <a:lnSpc>
                <a:spcPct val="102000"/>
              </a:lnSpc>
              <a:spcAft>
                <a:spcPts val="300"/>
              </a:spcAft>
            </a:pPr>
            <a:r>
              <a:rPr sz="1300" b="1">
                <a:solidFill>
                  <a:srgbClr val="252A33"/>
                </a:solidFill>
              </a:rPr>
              <a:t>论文头条（第 1780–1782 行）：「all estimated gains come from improving worker sorting」—— 有排序时 7.5% 收益，无排序时 8% 亏损。</a:t>
            </a:r>
            <a:endParaRPr sz="1300" b="1">
              <a:solidFill>
                <a:srgbClr val="252A33"/>
              </a:solidFill>
            </a:endParaRPr>
          </a:p>
          <a:p>
            <a:pPr algn="l">
              <a:lnSpc>
                <a:spcPct val="102000"/>
              </a:lnSpc>
              <a:spcAft>
                <a:spcPts val="300"/>
              </a:spcAft>
            </a:pPr>
            <a:r>
              <a:rPr sz="1350" b="0">
                <a:solidFill>
                  <a:srgbClr val="252A33"/>
                </a:solidFill>
              </a:rPr>
              <a:t>无选择口径就是把「按目的地筛选」这个机制关掉，看收益还在不在。</a:t>
            </a:r>
            <a:endParaRPr sz="1350" b="0">
              <a:solidFill>
                <a:srgbClr val="252A33"/>
              </a:solidFill>
            </a:endParaRPr>
          </a:p>
          <a:p>
            <a:pPr algn="l">
              <a:lnSpc>
                <a:spcPct val="102000"/>
              </a:lnSpc>
              <a:spcAft>
                <a:spcPts val="300"/>
              </a:spcAft>
            </a:pPr>
            <a:r>
              <a:rPr sz="1350" b="1">
                <a:solidFill>
                  <a:srgbClr val="1B6B45"/>
                </a:solidFill>
              </a:rPr>
              <a:t>⭐ 本复现的实现：只把 π^(1−1/θ) 换成 π，其余（w、α、τ、γ、λ、σ）完全不动。这一处替换就是全部差别。</a:t>
            </a:r>
            <a:endParaRPr sz="1350" b="1">
              <a:solidFill>
                <a:srgbClr val="1B6B45"/>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数据来源：JPE 脚注 25（第 1798–1800 行）、第 1771–1783 行。</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table5：复现结果对照</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论文报告值 与 本复现计算值</a:t>
            </a:r>
            <a:endParaRPr sz="2200" b="1">
              <a:solidFill>
                <a:srgbClr val="642366"/>
              </a:solidFill>
            </a:endParaRPr>
          </a:p>
        </p:txBody>
      </p:sp>
      <p:graphicFrame>
        <p:nvGraphicFramePr>
          <p:cNvPr id="6" name="Table 5"/>
          <p:cNvGraphicFramePr>
            <a:graphicFrameLocks noGrp="1"/>
          </p:cNvGraphicFramePr>
          <p:nvPr/>
        </p:nvGraphicFramePr>
        <p:xfrm>
          <a:off x="1929384" y="1417320"/>
          <a:ext cx="9692639" cy="2066544"/>
        </p:xfrm>
        <a:graphic>
          <a:graphicData uri="http://schemas.openxmlformats.org/drawingml/2006/table">
            <a:tbl>
              <a:tblPr firstRow="1">
                <a:tableStyleId>{5C22544A-7EE6-4342-B048-85BDC9FD1C3A}</a:tableStyleId>
              </a:tblPr>
              <a:tblGrid>
                <a:gridCol w="1280160"/>
                <a:gridCol w="2697480"/>
                <a:gridCol w="1901952"/>
                <a:gridCol w="1901952"/>
                <a:gridCol w="1911095"/>
              </a:tblGrid>
              <a:tr h="384048">
                <a:tc>
                  <a:txBody>
                    <a:bodyPr/>
                    <a:lstStyle/>
                    <a:p>
                      <a:pPr algn="l">
                        <a:lnSpc>
                          <a:spcPct val="102000"/>
                        </a:lnSpc>
                      </a:pPr>
                      <a:r>
                        <a:rPr sz="1150" b="1">
                          <a:solidFill>
                            <a:srgbClr val="FFFFFF"/>
                          </a:solidFill>
                        </a:rPr>
                        <a:t>口径</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来源</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列(1) 迁移成本</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列(2) 舒适度</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列(3) 两者</a:t>
                      </a:r>
                      <a:endParaRPr sz="1150" b="1">
                        <a:solidFill>
                          <a:srgbClr val="FFFFFF"/>
                        </a:solidFill>
                      </a:endParaRPr>
                    </a:p>
                  </a:txBody>
                  <a:tcPr marL="45720" marR="45720" marT="9144" marB="9144" anchor="ctr">
                    <a:solidFill>
                      <a:srgbClr val="642366"/>
                    </a:solidFill>
                  </a:tcPr>
                </a:tc>
              </a:tr>
              <a:tr h="420624">
                <a:tc>
                  <a:txBody>
                    <a:bodyPr/>
                    <a:lstStyle/>
                    <a:p>
                      <a:pPr algn="l">
                        <a:lnSpc>
                          <a:spcPct val="102000"/>
                        </a:lnSpc>
                      </a:pPr>
                      <a:r>
                        <a:rPr sz="1100" b="0">
                          <a:solidFill>
                            <a:srgbClr val="252A33"/>
                          </a:solidFill>
                        </a:rPr>
                        <a:t>含选择</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本复现（θ = 12.44）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252A33"/>
                          </a:solidFill>
                        </a:rPr>
                        <a:t>1.1449</a:t>
                      </a:r>
                      <a:endParaRPr sz="1100" b="1">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1.1192</a:t>
                      </a:r>
                      <a:endParaRPr sz="1100" b="1">
                        <a:solidFill>
                          <a:srgbClr val="1B6B45"/>
                        </a:solidFill>
                      </a:endParaRPr>
                    </a:p>
                  </a:txBody>
                  <a:tcPr marL="45720" marR="45720" marT="9144" marB="9144" anchor="ctr">
                    <a:solidFill>
                      <a:srgbClr val="FFFFFF"/>
                    </a:solidFill>
                  </a:tcPr>
                </a:tc>
                <a:tc>
                  <a:txBody>
                    <a:bodyPr/>
                    <a:lstStyle/>
                    <a:p>
                      <a:pPr algn="l">
                        <a:lnSpc>
                          <a:spcPct val="102000"/>
                        </a:lnSpc>
                      </a:pPr>
                      <a:r>
                        <a:rPr sz="1100" b="1">
                          <a:solidFill>
                            <a:srgbClr val="252A33"/>
                          </a:solidFill>
                        </a:rPr>
                        <a:t>1.2542</a:t>
                      </a:r>
                      <a:endParaRPr sz="1100" b="1">
                        <a:solidFill>
                          <a:srgbClr val="252A33"/>
                        </a:solidFill>
                      </a:endParaRPr>
                    </a:p>
                  </a:txBody>
                  <a:tcPr marL="45720" marR="45720" marT="9144" marB="9144" anchor="ctr">
                    <a:solidFill>
                      <a:srgbClr val="FFFFFF"/>
                    </a:solidFill>
                  </a:tcPr>
                </a:tc>
              </a:tr>
              <a:tr h="420624">
                <a:tc>
                  <a:txBody>
                    <a:bodyPr/>
                    <a:lstStyle/>
                    <a:p>
                      <a:pPr algn="l">
                        <a:lnSpc>
                          <a:spcPct val="102000"/>
                        </a:lnSpc>
                      </a:pPr>
                      <a:r>
                        <a:rPr sz="1100" b="0">
                          <a:solidFill>
                            <a:srgbClr val="252A33"/>
                          </a:solidFill>
                        </a:rPr>
                        <a:t>含选择</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JPE 论文</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1.075</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1.127</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1.217</a:t>
                      </a:r>
                      <a:endParaRPr sz="1100" b="0">
                        <a:solidFill>
                          <a:srgbClr val="252A33"/>
                        </a:solidFill>
                      </a:endParaRPr>
                    </a:p>
                  </a:txBody>
                  <a:tcPr marL="45720" marR="45720" marT="9144" marB="9144" anchor="ctr">
                    <a:solidFill>
                      <a:srgbClr val="F2EEF5"/>
                    </a:solidFill>
                  </a:tcPr>
                </a:tc>
              </a:tr>
              <a:tr h="420624">
                <a:tc>
                  <a:txBody>
                    <a:bodyPr/>
                    <a:lstStyle/>
                    <a:p>
                      <a:pPr algn="l">
                        <a:lnSpc>
                          <a:spcPct val="102000"/>
                        </a:lnSpc>
                      </a:pPr>
                      <a:r>
                        <a:rPr sz="1100" b="0">
                          <a:solidFill>
                            <a:srgbClr val="252A33"/>
                          </a:solidFill>
                        </a:rPr>
                        <a:t>无选择</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本复现（θ = 12.44）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252A33"/>
                          </a:solidFill>
                        </a:rPr>
                        <a:t>0.9905</a:t>
                      </a:r>
                      <a:endParaRPr sz="1100" b="1">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252A33"/>
                          </a:solidFill>
                        </a:rPr>
                        <a:t>1.0921</a:t>
                      </a:r>
                      <a:endParaRPr sz="1100" b="1">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1.1254</a:t>
                      </a:r>
                      <a:endParaRPr sz="1100" b="1">
                        <a:solidFill>
                          <a:srgbClr val="1B6B45"/>
                        </a:solidFill>
                      </a:endParaRPr>
                    </a:p>
                  </a:txBody>
                  <a:tcPr marL="45720" marR="45720" marT="9144" marB="9144" anchor="ctr">
                    <a:solidFill>
                      <a:srgbClr val="FFFFFF"/>
                    </a:solidFill>
                  </a:tcPr>
                </a:tc>
              </a:tr>
              <a:tr h="420624">
                <a:tc>
                  <a:txBody>
                    <a:bodyPr/>
                    <a:lstStyle/>
                    <a:p>
                      <a:pPr algn="l">
                        <a:lnSpc>
                          <a:spcPct val="102000"/>
                        </a:lnSpc>
                      </a:pPr>
                      <a:r>
                        <a:rPr sz="1100" b="0">
                          <a:solidFill>
                            <a:srgbClr val="252A33"/>
                          </a:solidFill>
                        </a:rPr>
                        <a:t>无选择</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JPE 论文</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0.914</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1.127</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1.133</a:t>
                      </a:r>
                      <a:endParaRPr sz="1100" b="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758183"/>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偏差：头条结论对上了，只有一处对不上</a:t>
            </a:r>
            <a:endParaRPr sz="2200" b="1">
              <a:solidFill>
                <a:srgbClr val="642366"/>
              </a:solidFill>
            </a:endParaRPr>
          </a:p>
        </p:txBody>
      </p:sp>
      <p:sp>
        <p:nvSpPr>
          <p:cNvPr id="8" name="TextBox 7"/>
          <p:cNvSpPr txBox="1"/>
          <p:nvPr/>
        </p:nvSpPr>
        <p:spPr>
          <a:xfrm>
            <a:off x="2029968" y="4160520"/>
            <a:ext cx="9601200" cy="2377440"/>
          </a:xfrm>
          <a:prstGeom prst="rect">
            <a:avLst/>
          </a:prstGeom>
          <a:noFill/>
        </p:spPr>
        <p:txBody>
          <a:bodyPr wrap="square" lIns="0" tIns="0" rIns="0" bIns="0">
            <a:spAutoFit/>
          </a:bodyPr>
          <a:lstStyle/>
          <a:p>
            <a:pPr algn="l">
              <a:lnSpc>
                <a:spcPct val="102000"/>
              </a:lnSpc>
              <a:spcAft>
                <a:spcPts val="300"/>
              </a:spcAft>
            </a:pPr>
            <a:r>
              <a:rPr sz="1350" b="1">
                <a:solidFill>
                  <a:srgbClr val="1B6B45"/>
                </a:solidFill>
              </a:rPr>
              <a:t>✔ 列(1) 的选择效应（论文头条）：本复现 1.1449 − 0.9905 = 0.1544，论文 1.075 − 0.914 = 0.161 —— 只差 4.1%。</a:t>
            </a:r>
            <a:endParaRPr sz="1350" b="1">
              <a:solidFill>
                <a:srgbClr val="1B6B45"/>
              </a:solidFill>
            </a:endParaRPr>
          </a:p>
          <a:p>
            <a:pPr algn="l">
              <a:lnSpc>
                <a:spcPct val="102000"/>
              </a:lnSpc>
              <a:spcAft>
                <a:spcPts val="300"/>
              </a:spcAft>
            </a:pPr>
            <a:r>
              <a:rPr sz="1350" b="1">
                <a:solidFill>
                  <a:srgbClr val="1B6B45"/>
                </a:solidFill>
              </a:rPr>
              <a:t>✔ 列(2) 水平 1.1192 vs 1.127（−0.7%）；列(3) 无选择 1.1254 vs 1.133（−0.7%）—— 都贴合。</a:t>
            </a:r>
            <a:endParaRPr sz="1350" b="1">
              <a:solidFill>
                <a:srgbClr val="1B6B45"/>
              </a:solidFill>
            </a:endParaRPr>
          </a:p>
          <a:p>
            <a:pPr algn="l">
              <a:lnSpc>
                <a:spcPct val="102000"/>
              </a:lnSpc>
              <a:spcAft>
                <a:spcPts val="300"/>
              </a:spcAft>
            </a:pPr>
            <a:r>
              <a:rPr sz="1350" b="1">
                <a:solidFill>
                  <a:srgbClr val="A63A1E"/>
                </a:solidFill>
              </a:rPr>
              <a:t>✘ 唯一对不上：列(2) 的「含选择 − 无选择」差，本复现 0.0271，论文 ≤0.001（后 8 页专门排查这一处）。</a:t>
            </a:r>
            <a:endParaRPr sz="1350" b="1">
              <a:solidFill>
                <a:srgbClr val="A63A1E"/>
              </a:solidFill>
            </a:endParaRPr>
          </a:p>
          <a:p>
            <a:pPr algn="l">
              <a:lnSpc>
                <a:spcPct val="102000"/>
              </a:lnSpc>
              <a:spcAft>
                <a:spcPts val="300"/>
              </a:spcAft>
            </a:pPr>
            <a:r>
              <a:rPr sz="1300" b="0">
                <a:solidFill>
                  <a:srgbClr val="606670"/>
                </a:solidFill>
              </a:rPr>
              <a:t>样本：17 个出发省 × 16 个目的省 = 208 个格子；τ 网格 272 格（64 格无观测流量，用出发地×目的地固定效应插值）。</a:t>
            </a:r>
            <a:endParaRPr sz="1300" b="0">
              <a:solidFill>
                <a:srgbClr val="606670"/>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数据来源（Stata）：table5_out.log（θ = 12.4399 那一组）。</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table5：三个定性结论全部复现</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论文的三个定性结论 与 本复现</a:t>
            </a:r>
            <a:endParaRPr sz="2200" b="1">
              <a:solidFill>
                <a:srgbClr val="642366"/>
              </a:solidFill>
            </a:endParaRPr>
          </a:p>
        </p:txBody>
      </p:sp>
      <p:graphicFrame>
        <p:nvGraphicFramePr>
          <p:cNvPr id="6" name="Table 5"/>
          <p:cNvGraphicFramePr>
            <a:graphicFrameLocks noGrp="1"/>
          </p:cNvGraphicFramePr>
          <p:nvPr/>
        </p:nvGraphicFramePr>
        <p:xfrm>
          <a:off x="1929384" y="1417320"/>
          <a:ext cx="9692640" cy="2029968"/>
        </p:xfrm>
        <a:graphic>
          <a:graphicData uri="http://schemas.openxmlformats.org/drawingml/2006/table">
            <a:tbl>
              <a:tblPr firstRow="1">
                <a:tableStyleId>{5C22544A-7EE6-4342-B048-85BDC9FD1C3A}</a:tableStyleId>
              </a:tblPr>
              <a:tblGrid>
                <a:gridCol w="3566160"/>
                <a:gridCol w="2240280"/>
                <a:gridCol w="2240280"/>
                <a:gridCol w="1645920"/>
              </a:tblGrid>
              <a:tr h="384048">
                <a:tc>
                  <a:txBody>
                    <a:bodyPr/>
                    <a:lstStyle/>
                    <a:p>
                      <a:pPr algn="l">
                        <a:lnSpc>
                          <a:spcPct val="102000"/>
                        </a:lnSpc>
                      </a:pPr>
                      <a:r>
                        <a:rPr sz="1150" b="1">
                          <a:solidFill>
                            <a:srgbClr val="FFFFFF"/>
                          </a:solidFill>
                        </a:rPr>
                        <a:t>论文的定性结论</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论文</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本复现</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判定</a:t>
                      </a:r>
                      <a:endParaRPr sz="1150" b="1">
                        <a:solidFill>
                          <a:srgbClr val="FFFFFF"/>
                        </a:solidFill>
                      </a:endParaRPr>
                    </a:p>
                  </a:txBody>
                  <a:tcPr marL="45720" marR="45720" marT="9144" marB="9144" anchor="ctr">
                    <a:solidFill>
                      <a:srgbClr val="642366"/>
                    </a:solidFill>
                  </a:tcPr>
                </a:tc>
              </a:tr>
              <a:tr h="548640">
                <a:tc>
                  <a:txBody>
                    <a:bodyPr/>
                    <a:lstStyle/>
                    <a:p>
                      <a:pPr algn="l">
                        <a:lnSpc>
                          <a:spcPct val="102000"/>
                        </a:lnSpc>
                      </a:pPr>
                      <a:r>
                        <a:rPr sz="1100" b="0">
                          <a:solidFill>
                            <a:srgbClr val="252A33"/>
                          </a:solidFill>
                        </a:rPr>
                        <a:t>① 符号翻转：含选择有收益、无选择变亏损</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1.075 &gt; 1；0.914 &lt; 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1.1449 &gt; 1；0.9905 &lt; 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 成立</a:t>
                      </a:r>
                      <a:endParaRPr sz="1100" b="1">
                        <a:solidFill>
                          <a:srgbClr val="1B6B45"/>
                        </a:solidFill>
                      </a:endParaRPr>
                    </a:p>
                  </a:txBody>
                  <a:tcPr marL="45720" marR="45720" marT="9144" marB="9144" anchor="ctr">
                    <a:solidFill>
                      <a:srgbClr val="FFFFFF"/>
                    </a:solidFill>
                  </a:tcPr>
                </a:tc>
              </a:tr>
              <a:tr h="548640">
                <a:tc>
                  <a:txBody>
                    <a:bodyPr/>
                    <a:lstStyle/>
                    <a:p>
                      <a:pPr algn="l">
                        <a:lnSpc>
                          <a:spcPct val="102000"/>
                        </a:lnSpc>
                      </a:pPr>
                      <a:r>
                        <a:rPr sz="1100" b="0">
                          <a:solidFill>
                            <a:srgbClr val="252A33"/>
                          </a:solidFill>
                        </a:rPr>
                        <a:t>② 列(3) 低估收益</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低估 38.7%</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低估 50.6%</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 同量级</a:t>
                      </a:r>
                      <a:endParaRPr sz="1100" b="1">
                        <a:solidFill>
                          <a:srgbClr val="1B6B45"/>
                        </a:solidFill>
                      </a:endParaRPr>
                    </a:p>
                  </a:txBody>
                  <a:tcPr marL="45720" marR="45720" marT="9144" marB="9144" anchor="ctr">
                    <a:solidFill>
                      <a:srgbClr val="F2EEF5"/>
                    </a:solidFill>
                  </a:tcPr>
                </a:tc>
              </a:tr>
              <a:tr h="548640">
                <a:tc>
                  <a:txBody>
                    <a:bodyPr/>
                    <a:lstStyle/>
                    <a:p>
                      <a:pPr algn="l">
                        <a:lnSpc>
                          <a:spcPct val="102000"/>
                        </a:lnSpc>
                      </a:pPr>
                      <a:r>
                        <a:rPr sz="1100" b="0">
                          <a:solidFill>
                            <a:srgbClr val="252A33"/>
                          </a:solidFill>
                        </a:rPr>
                        <a:t>③ 列(2) 与选择基本无关</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1.127 vs 1.127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1.1192 vs 1.0921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 方向对</a:t>
                      </a:r>
                      <a:endParaRPr sz="1100" b="1">
                        <a:solidFill>
                          <a:srgbClr val="A63A1E"/>
                        </a:solidFill>
                      </a:endParaRPr>
                    </a:p>
                  </a:txBody>
                  <a:tcPr marL="45720" marR="45720" marT="9144" marB="9144" anchor="ctr">
                    <a:solidFill>
                      <a:srgbClr val="FFFFFF"/>
                    </a:solidFill>
                  </a:tcPr>
                </a:tc>
              </a:tr>
            </a:tbl>
          </a:graphicData>
        </a:graphic>
      </p:graphicFrame>
      <p:sp>
        <p:nvSpPr>
          <p:cNvPr id="7" name="TextBox 6"/>
          <p:cNvSpPr txBox="1"/>
          <p:nvPr/>
        </p:nvSpPr>
        <p:spPr>
          <a:xfrm>
            <a:off x="1929384" y="3758183"/>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符号翻转对 θ 最稳健：三套 θ 一次都没翻</a:t>
            </a:r>
            <a:endParaRPr sz="2200" b="1">
              <a:solidFill>
                <a:srgbClr val="642366"/>
              </a:solidFill>
            </a:endParaRPr>
          </a:p>
        </p:txBody>
      </p:sp>
      <p:sp>
        <p:nvSpPr>
          <p:cNvPr id="8" name="TextBox 7"/>
          <p:cNvSpPr txBox="1"/>
          <p:nvPr/>
        </p:nvSpPr>
        <p:spPr>
          <a:xfrm>
            <a:off x="2029968" y="4160520"/>
            <a:ext cx="9601200" cy="2377440"/>
          </a:xfrm>
          <a:prstGeom prst="rect">
            <a:avLst/>
          </a:prstGeom>
          <a:noFill/>
        </p:spPr>
        <p:txBody>
          <a:bodyPr wrap="square" lIns="0" tIns="0" rIns="0" bIns="0">
            <a:spAutoFit/>
          </a:bodyPr>
          <a:lstStyle/>
          <a:p>
            <a:pPr algn="l">
              <a:lnSpc>
                <a:spcPct val="102000"/>
              </a:lnSpc>
              <a:spcAft>
                <a:spcPts val="300"/>
              </a:spcAft>
            </a:pPr>
            <a:r>
              <a:rPr sz="1350" b="1">
                <a:solidFill>
                  <a:srgbClr val="1B6B45"/>
                </a:solidFill>
              </a:rPr>
              <a:t>θ = 4.09 / 12.44 / 12.58 各跑一遍：含选择全部 &gt; 1，无选择全部 &lt; 1。</a:t>
            </a:r>
            <a:endParaRPr sz="1350" b="1">
              <a:solidFill>
                <a:srgbClr val="1B6B45"/>
              </a:solidFill>
            </a:endParaRPr>
          </a:p>
          <a:p>
            <a:pPr algn="l">
              <a:lnSpc>
                <a:spcPct val="102000"/>
              </a:lnSpc>
              <a:spcAft>
                <a:spcPts val="300"/>
              </a:spcAft>
            </a:pPr>
            <a:r>
              <a:rPr sz="1350" b="0">
                <a:solidFill>
                  <a:srgbClr val="252A33"/>
                </a:solidFill>
              </a:rPr>
              <a:t>列(1) 差：0.4978 / 0.1544 / 0.1526（θ = 4.09 时过大 3 倍，θ ≈ 12.5 时最接近论文 0.161）。</a:t>
            </a:r>
            <a:endParaRPr sz="1350" b="0">
              <a:solidFill>
                <a:srgbClr val="252A33"/>
              </a:solidFill>
            </a:endParaRPr>
          </a:p>
          <a:p>
            <a:pPr algn="l">
              <a:lnSpc>
                <a:spcPct val="102000"/>
              </a:lnSpc>
              <a:spcAft>
                <a:spcPts val="300"/>
              </a:spcAft>
            </a:pPr>
            <a:r>
              <a:rPr sz="1350" b="0">
                <a:solidFill>
                  <a:srgbClr val="252A33"/>
                </a:solidFill>
              </a:rPr>
              <a:t>列(3) 低估幅度：97.9% / 50.6% / 50.1% —— θ ≈ 12.5 附近与论文的 38.7% 最接近。</a:t>
            </a:r>
            <a:endParaRPr sz="1350" b="0">
              <a:solidFill>
                <a:srgbClr val="252A33"/>
              </a:solidFill>
            </a:endParaRPr>
          </a:p>
          <a:p>
            <a:pPr algn="l">
              <a:lnSpc>
                <a:spcPct val="102000"/>
              </a:lnSpc>
              <a:spcAft>
                <a:spcPts val="300"/>
              </a:spcAft>
            </a:pPr>
            <a:r>
              <a:rPr sz="1350" b="1">
                <a:solidFill>
                  <a:srgbClr val="252A33"/>
                </a:solidFill>
              </a:rPr>
              <a:t>→ 说明 θ 是这套反事实里最关键的参数，而它恰好被四条独立证据钉在 12.5。</a:t>
            </a:r>
            <a:endParaRPr sz="1350" b="1">
              <a:solidFill>
                <a:srgbClr val="252A33"/>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数据来源（Stata）：table5_out.log（三套 θ 的完整输出）。</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table5：θ ≈ 12.5 的四条独立证据</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四条互相独立的证据</a:t>
            </a:r>
            <a:endParaRPr sz="2200" b="1">
              <a:solidFill>
                <a:srgbClr val="642366"/>
              </a:solidFill>
            </a:endParaRPr>
          </a:p>
        </p:txBody>
      </p:sp>
      <p:graphicFrame>
        <p:nvGraphicFramePr>
          <p:cNvPr id="6" name="Table 5"/>
          <p:cNvGraphicFramePr>
            <a:graphicFrameLocks noGrp="1"/>
          </p:cNvGraphicFramePr>
          <p:nvPr/>
        </p:nvGraphicFramePr>
        <p:xfrm>
          <a:off x="1929384" y="1417320"/>
          <a:ext cx="9692640" cy="2286000"/>
        </p:xfrm>
        <a:graphic>
          <a:graphicData uri="http://schemas.openxmlformats.org/drawingml/2006/table">
            <a:tbl>
              <a:tblPr firstRow="1">
                <a:tableStyleId>{5C22544A-7EE6-4342-B048-85BDC9FD1C3A}</a:tableStyleId>
              </a:tblPr>
              <a:tblGrid>
                <a:gridCol w="2103120"/>
                <a:gridCol w="4434840"/>
                <a:gridCol w="3154680"/>
              </a:tblGrid>
              <a:tr h="384048">
                <a:tc>
                  <a:txBody>
                    <a:bodyPr/>
                    <a:lstStyle/>
                    <a:p>
                      <a:pPr algn="l">
                        <a:lnSpc>
                          <a:spcPct val="102000"/>
                        </a:lnSpc>
                      </a:pPr>
                      <a:r>
                        <a:rPr sz="1150" b="1">
                          <a:solidFill>
                            <a:srgbClr val="FFFFFF"/>
                          </a:solidFill>
                        </a:rPr>
                        <a:t>证据</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做法</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结果</a:t>
                      </a:r>
                      <a:endParaRPr sz="1150" b="1">
                        <a:solidFill>
                          <a:srgbClr val="FFFFFF"/>
                        </a:solidFill>
                      </a:endParaRPr>
                    </a:p>
                  </a:txBody>
                  <a:tcPr marL="45720" marR="45720" marT="9144" marB="9144" anchor="ctr">
                    <a:solidFill>
                      <a:srgbClr val="642366"/>
                    </a:solidFill>
                  </a:tcPr>
                </a:tc>
              </a:tr>
              <a:tr h="475488">
                <a:tc>
                  <a:txBody>
                    <a:bodyPr/>
                    <a:lstStyle/>
                    <a:p>
                      <a:pPr algn="l">
                        <a:lnSpc>
                          <a:spcPct val="102000"/>
                        </a:lnSpc>
                      </a:pPr>
                      <a:r>
                        <a:rPr sz="1100" b="0">
                          <a:solidFill>
                            <a:srgbClr val="252A33"/>
                          </a:solidFill>
                        </a:rPr>
                        <a:t>① 式(7) 的 IV 回归</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用 π_d¬o 的二次式做工具变量</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θ = 12.5836</a:t>
                      </a:r>
                      <a:endParaRPr sz="1100" b="1">
                        <a:solidFill>
                          <a:srgbClr val="1B6B45"/>
                        </a:solidFill>
                      </a:endParaRPr>
                    </a:p>
                  </a:txBody>
                  <a:tcPr marL="45720" marR="45720" marT="9144" marB="9144" anchor="ctr">
                    <a:solidFill>
                      <a:srgbClr val="FFFFFF"/>
                    </a:solidFill>
                  </a:tcPr>
                </a:tc>
              </a:tr>
              <a:tr h="475488">
                <a:tc>
                  <a:txBody>
                    <a:bodyPr/>
                    <a:lstStyle/>
                    <a:p>
                      <a:pPr algn="l">
                        <a:lnSpc>
                          <a:spcPct val="102000"/>
                        </a:lnSpc>
                      </a:pPr>
                      <a:r>
                        <a:rPr sz="1100" b="0">
                          <a:solidFill>
                            <a:srgbClr val="252A33"/>
                          </a:solidFill>
                        </a:rPr>
                        <a:t>② 反事实水平</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三套 θ 比谁最接近论文</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12.44 / 12.58 最接近</a:t>
                      </a:r>
                      <a:endParaRPr sz="1100" b="1">
                        <a:solidFill>
                          <a:srgbClr val="1B6B45"/>
                        </a:solidFill>
                      </a:endParaRPr>
                    </a:p>
                  </a:txBody>
                  <a:tcPr marL="45720" marR="45720" marT="9144" marB="9144" anchor="ctr">
                    <a:solidFill>
                      <a:srgbClr val="F2EEF5"/>
                    </a:solidFill>
                  </a:tcPr>
                </a:tc>
              </a:tr>
              <a:tr h="475488">
                <a:tc>
                  <a:txBody>
                    <a:bodyPr/>
                    <a:lstStyle/>
                    <a:p>
                      <a:pPr algn="l">
                        <a:lnSpc>
                          <a:spcPct val="102000"/>
                        </a:lnSpc>
                      </a:pPr>
                      <a:r>
                        <a:rPr sz="1100" b="0">
                          <a:solidFill>
                            <a:srgbClr val="252A33"/>
                          </a:solidFill>
                        </a:rPr>
                        <a:t>③ 列(1) 的选择效应</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论文 0.161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0.1544（θ = 12.44）</a:t>
                      </a:r>
                      <a:endParaRPr sz="1100" b="1">
                        <a:solidFill>
                          <a:srgbClr val="1B6B45"/>
                        </a:solidFill>
                      </a:endParaRPr>
                    </a:p>
                  </a:txBody>
                  <a:tcPr marL="45720" marR="45720" marT="9144" marB="9144" anchor="ctr">
                    <a:solidFill>
                      <a:srgbClr val="FFFFFF"/>
                    </a:solidFill>
                  </a:tcPr>
                </a:tc>
              </a:tr>
              <a:tr h="475488">
                <a:tc>
                  <a:txBody>
                    <a:bodyPr/>
                    <a:lstStyle/>
                    <a:p>
                      <a:pPr algn="l">
                        <a:lnSpc>
                          <a:spcPct val="102000"/>
                        </a:lnSpc>
                      </a:pPr>
                      <a:r>
                        <a:rPr sz="1100" b="0">
                          <a:solidFill>
                            <a:srgbClr val="252A33"/>
                          </a:solidFill>
                        </a:rPr>
                        <a:t>④ γ 全范围稳健性</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γ ∈ [0, 0.08] 共 12 格</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差(1) 稳定在 0.1436–0.1599</a:t>
                      </a:r>
                      <a:endParaRPr sz="1100" b="1">
                        <a:solidFill>
                          <a:srgbClr val="1B6B45"/>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758183"/>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第 ④ 条最难被反驳</a:t>
            </a:r>
            <a:endParaRPr sz="2200" b="1">
              <a:solidFill>
                <a:srgbClr val="642366"/>
              </a:solidFill>
            </a:endParaRPr>
          </a:p>
        </p:txBody>
      </p:sp>
      <p:sp>
        <p:nvSpPr>
          <p:cNvPr id="8" name="TextBox 7"/>
          <p:cNvSpPr txBox="1"/>
          <p:nvPr/>
        </p:nvSpPr>
        <p:spPr>
          <a:xfrm>
            <a:off x="2029968" y="4160520"/>
            <a:ext cx="9601200" cy="2377440"/>
          </a:xfrm>
          <a:prstGeom prst="rect">
            <a:avLst/>
          </a:prstGeom>
          <a:noFill/>
        </p:spPr>
        <p:txBody>
          <a:bodyPr wrap="square" lIns="0" tIns="0" rIns="0" bIns="0">
            <a:spAutoFit/>
          </a:bodyPr>
          <a:lstStyle/>
          <a:p>
            <a:pPr algn="l">
              <a:lnSpc>
                <a:spcPct val="102000"/>
              </a:lnSpc>
              <a:spcAft>
                <a:spcPts val="300"/>
              </a:spcAft>
            </a:pPr>
            <a:r>
              <a:rPr sz="1350" b="1">
                <a:solidFill>
                  <a:srgbClr val="1B6B45"/>
                </a:solidFill>
              </a:rPr>
              <a:t>第 ④ 条只依赖 θ 和 π 的分布 —— 它对 α_d、q_o、π 的反推方式全部免疫（后三页逐一证明）。</a:t>
            </a:r>
            <a:endParaRPr sz="1350" b="1">
              <a:solidFill>
                <a:srgbClr val="1B6B45"/>
              </a:solidFill>
            </a:endParaRPr>
          </a:p>
          <a:p>
            <a:pPr algn="l">
              <a:lnSpc>
                <a:spcPct val="102000"/>
              </a:lnSpc>
              <a:spcAft>
                <a:spcPts val="300"/>
              </a:spcAft>
            </a:pPr>
            <a:r>
              <a:rPr sz="1350" b="0">
                <a:solidFill>
                  <a:srgbClr val="252A33"/>
                </a:solidFill>
              </a:rPr>
              <a:t>论文自己报的 θ = 12.5（标准误 1.36），本复现落在区间内。</a:t>
            </a:r>
            <a:endParaRPr sz="1350" b="0">
              <a:solidFill>
                <a:srgbClr val="252A33"/>
              </a:solidFill>
            </a:endParaRPr>
          </a:p>
          <a:p>
            <a:pPr algn="l">
              <a:lnSpc>
                <a:spcPct val="102000"/>
              </a:lnSpc>
              <a:spcAft>
                <a:spcPts val="300"/>
              </a:spcAft>
            </a:pPr>
            <a:r>
              <a:rPr sz="1300" b="0">
                <a:solidFill>
                  <a:srgbClr val="252A33"/>
                </a:solidFill>
              </a:rPr>
              <a:t>工具变量：π_d¬o = (m_in_d − m_od)/(pop_all − pop_o)，一个留一法工具变量。</a:t>
            </a:r>
            <a:endParaRPr sz="1300" b="0">
              <a:solidFill>
                <a:srgbClr val="252A33"/>
              </a:solidFill>
            </a:endParaRPr>
          </a:p>
          <a:p>
            <a:pPr algn="l">
              <a:lnSpc>
                <a:spcPct val="102000"/>
              </a:lnSpc>
              <a:spcAft>
                <a:spcPts val="300"/>
              </a:spcAft>
            </a:pPr>
            <a:r>
              <a:rPr sz="1350" b="1">
                <a:solidFill>
                  <a:srgbClr val="A63A1E"/>
                </a:solidFill>
              </a:rPr>
              <a:t>⚠ 排除对角线是关键：含对角 θ = 34.28、不含 θ = 12.58。论文 θ = 12.5 ⇒ 必须排除 o = d，我们的 keep if o != d 是对的。</a:t>
            </a:r>
            <a:endParaRPr sz="1350" b="1">
              <a:solidFill>
                <a:srgbClr val="A63A1E"/>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数据来源（Stata）：alpha_d_out.log、table5_out.log、table5_ge_grid_out.log。</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table5：稳健性（一）α_d 离散度</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把 ln α_d 按 φ 缩放（φ = 1 是基准）</a:t>
            </a:r>
            <a:endParaRPr sz="2200" b="1">
              <a:solidFill>
                <a:srgbClr val="642366"/>
              </a:solidFill>
            </a:endParaRPr>
          </a:p>
        </p:txBody>
      </p:sp>
      <p:graphicFrame>
        <p:nvGraphicFramePr>
          <p:cNvPr id="6" name="Table 5"/>
          <p:cNvGraphicFramePr>
            <a:graphicFrameLocks noGrp="1"/>
          </p:cNvGraphicFramePr>
          <p:nvPr/>
        </p:nvGraphicFramePr>
        <p:xfrm>
          <a:off x="1929384" y="1417320"/>
          <a:ext cx="9692640" cy="2203704"/>
        </p:xfrm>
        <a:graphic>
          <a:graphicData uri="http://schemas.openxmlformats.org/drawingml/2006/table">
            <a:tbl>
              <a:tblPr firstRow="1">
                <a:tableStyleId>{5C22544A-7EE6-4342-B048-85BDC9FD1C3A}</a:tableStyleId>
              </a:tblPr>
              <a:tblGrid>
                <a:gridCol w="1005840"/>
                <a:gridCol w="1737360"/>
                <a:gridCol w="1737360"/>
                <a:gridCol w="1737360"/>
                <a:gridCol w="1737360"/>
                <a:gridCol w="1737360"/>
              </a:tblGrid>
              <a:tr h="365760">
                <a:tc>
                  <a:txBody>
                    <a:bodyPr/>
                    <a:lstStyle/>
                    <a:p>
                      <a:pPr algn="l">
                        <a:lnSpc>
                          <a:spcPct val="102000"/>
                        </a:lnSpc>
                      </a:pPr>
                      <a:r>
                        <a:rPr sz="1150" b="1">
                          <a:solidFill>
                            <a:srgbClr val="FFFFFF"/>
                          </a:solidFill>
                        </a:rPr>
                        <a:t>φ</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sd(ln α_d)</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含选·列(2)</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无选·列(2)</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差(2)</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差(1)</a:t>
                      </a:r>
                      <a:endParaRPr sz="1150" b="1">
                        <a:solidFill>
                          <a:srgbClr val="FFFFFF"/>
                        </a:solidFill>
                      </a:endParaRPr>
                    </a:p>
                  </a:txBody>
                  <a:tcPr marL="45720" marR="45720" marT="9144" marB="9144" anchor="ctr">
                    <a:solidFill>
                      <a:srgbClr val="642366"/>
                    </a:solidFill>
                  </a:tcPr>
                </a:tc>
              </a:tr>
              <a:tr h="306324">
                <a:tc>
                  <a:txBody>
                    <a:bodyPr/>
                    <a:lstStyle/>
                    <a:p>
                      <a:pPr algn="l">
                        <a:lnSpc>
                          <a:spcPct val="102000"/>
                        </a:lnSpc>
                      </a:pPr>
                      <a:r>
                        <a:rPr sz="1100" b="0">
                          <a:solidFill>
                            <a:srgbClr val="252A33"/>
                          </a:solidFill>
                        </a:rPr>
                        <a:t>1.0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0.2053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1.1192</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1.0921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0.0271</a:t>
                      </a:r>
                      <a:endParaRPr sz="1100" b="1">
                        <a:solidFill>
                          <a:srgbClr val="A63A1E"/>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0.1544</a:t>
                      </a:r>
                      <a:endParaRPr sz="1100" b="0">
                        <a:solidFill>
                          <a:srgbClr val="252A33"/>
                        </a:solidFill>
                      </a:endParaRPr>
                    </a:p>
                  </a:txBody>
                  <a:tcPr marL="45720" marR="45720" marT="9144" marB="9144" anchor="ctr">
                    <a:solidFill>
                      <a:srgbClr val="FFFFFF"/>
                    </a:solidFill>
                  </a:tcPr>
                </a:tc>
              </a:tr>
              <a:tr h="306324">
                <a:tc>
                  <a:txBody>
                    <a:bodyPr/>
                    <a:lstStyle/>
                    <a:p>
                      <a:pPr algn="l">
                        <a:lnSpc>
                          <a:spcPct val="102000"/>
                        </a:lnSpc>
                      </a:pPr>
                      <a:r>
                        <a:rPr sz="1100" b="0">
                          <a:solidFill>
                            <a:srgbClr val="252A33"/>
                          </a:solidFill>
                        </a:rPr>
                        <a:t>0.8</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0.1643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1.0777</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1.0548</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0.0229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0.1560</a:t>
                      </a:r>
                      <a:endParaRPr sz="1100" b="0">
                        <a:solidFill>
                          <a:srgbClr val="252A33"/>
                        </a:solidFill>
                      </a:endParaRPr>
                    </a:p>
                  </a:txBody>
                  <a:tcPr marL="45720" marR="45720" marT="9144" marB="9144" anchor="ctr">
                    <a:solidFill>
                      <a:srgbClr val="F2EEF5"/>
                    </a:solidFill>
                  </a:tcPr>
                </a:tc>
              </a:tr>
              <a:tr h="306324">
                <a:tc>
                  <a:txBody>
                    <a:bodyPr/>
                    <a:lstStyle/>
                    <a:p>
                      <a:pPr algn="l">
                        <a:lnSpc>
                          <a:spcPct val="102000"/>
                        </a:lnSpc>
                      </a:pPr>
                      <a:r>
                        <a:rPr sz="1100" b="0">
                          <a:solidFill>
                            <a:srgbClr val="252A33"/>
                          </a:solidFill>
                        </a:rPr>
                        <a:t>0.7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0.1437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1.0606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1.0398</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0.0208</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0.1569</a:t>
                      </a:r>
                      <a:endParaRPr sz="1100" b="0">
                        <a:solidFill>
                          <a:srgbClr val="252A33"/>
                        </a:solidFill>
                      </a:endParaRPr>
                    </a:p>
                  </a:txBody>
                  <a:tcPr marL="45720" marR="45720" marT="9144" marB="9144" anchor="ctr">
                    <a:solidFill>
                      <a:srgbClr val="FFFFFF"/>
                    </a:solidFill>
                  </a:tcPr>
                </a:tc>
              </a:tr>
              <a:tr h="306324">
                <a:tc>
                  <a:txBody>
                    <a:bodyPr/>
                    <a:lstStyle/>
                    <a:p>
                      <a:pPr algn="l">
                        <a:lnSpc>
                          <a:spcPct val="102000"/>
                        </a:lnSpc>
                      </a:pPr>
                      <a:r>
                        <a:rPr sz="1100" b="0">
                          <a:solidFill>
                            <a:srgbClr val="252A33"/>
                          </a:solidFill>
                        </a:rPr>
                        <a:t>0.5</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0.1027</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1.0344</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1.0171</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0.0173</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0.1586</a:t>
                      </a:r>
                      <a:endParaRPr sz="1100" b="0">
                        <a:solidFill>
                          <a:srgbClr val="252A33"/>
                        </a:solidFill>
                      </a:endParaRPr>
                    </a:p>
                  </a:txBody>
                  <a:tcPr marL="45720" marR="45720" marT="9144" marB="9144" anchor="ctr">
                    <a:solidFill>
                      <a:srgbClr val="F2EEF5"/>
                    </a:solidFill>
                  </a:tcPr>
                </a:tc>
              </a:tr>
              <a:tr h="306324">
                <a:tc>
                  <a:txBody>
                    <a:bodyPr/>
                    <a:lstStyle/>
                    <a:p>
                      <a:pPr algn="l">
                        <a:lnSpc>
                          <a:spcPct val="102000"/>
                        </a:lnSpc>
                      </a:pPr>
                      <a:r>
                        <a:rPr sz="1100" b="0">
                          <a:solidFill>
                            <a:srgbClr val="252A33"/>
                          </a:solidFill>
                        </a:rPr>
                        <a:t>0.3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0.0616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1.0193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1.0030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0.0162</a:t>
                      </a:r>
                      <a:endParaRPr sz="1100" b="1">
                        <a:solidFill>
                          <a:srgbClr val="1B6B45"/>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0.1604</a:t>
                      </a:r>
                      <a:endParaRPr sz="1100" b="0">
                        <a:solidFill>
                          <a:srgbClr val="252A33"/>
                        </a:solidFill>
                      </a:endParaRPr>
                    </a:p>
                  </a:txBody>
                  <a:tcPr marL="45720" marR="45720" marT="9144" marB="9144" anchor="ctr">
                    <a:solidFill>
                      <a:srgbClr val="FFFFFF"/>
                    </a:solidFill>
                  </a:tcPr>
                </a:tc>
              </a:tr>
              <a:tr h="306324">
                <a:tc>
                  <a:txBody>
                    <a:bodyPr/>
                    <a:lstStyle/>
                    <a:p>
                      <a:pPr algn="l">
                        <a:lnSpc>
                          <a:spcPct val="102000"/>
                        </a:lnSpc>
                      </a:pPr>
                      <a:r>
                        <a:rPr sz="1100" b="0">
                          <a:solidFill>
                            <a:srgbClr val="252A33"/>
                          </a:solidFill>
                        </a:rPr>
                        <a:t>0.0</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0.0000</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1.0175</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0.9956</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0.0219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0.1633</a:t>
                      </a:r>
                      <a:endParaRPr sz="1100" b="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666744"/>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结论：α_d 最多解释 40%，而且非单调</a:t>
            </a:r>
            <a:endParaRPr sz="2200" b="1">
              <a:solidFill>
                <a:srgbClr val="642366"/>
              </a:solidFill>
            </a:endParaRPr>
          </a:p>
        </p:txBody>
      </p:sp>
      <p:sp>
        <p:nvSpPr>
          <p:cNvPr id="8" name="TextBox 7"/>
          <p:cNvSpPr txBox="1"/>
          <p:nvPr/>
        </p:nvSpPr>
        <p:spPr>
          <a:xfrm>
            <a:off x="2029968" y="4069080"/>
            <a:ext cx="9601200" cy="2377440"/>
          </a:xfrm>
          <a:prstGeom prst="rect">
            <a:avLst/>
          </a:prstGeom>
          <a:noFill/>
        </p:spPr>
        <p:txBody>
          <a:bodyPr wrap="square" lIns="0" tIns="0" rIns="0" bIns="0">
            <a:spAutoFit/>
          </a:bodyPr>
          <a:lstStyle/>
          <a:p>
            <a:pPr algn="l">
              <a:lnSpc>
                <a:spcPct val="102000"/>
              </a:lnSpc>
              <a:spcAft>
                <a:spcPts val="300"/>
              </a:spcAft>
            </a:pPr>
            <a:r>
              <a:rPr sz="1300" b="0">
                <a:solidFill>
                  <a:srgbClr val="252A33"/>
                </a:solidFill>
              </a:rPr>
              <a:t>做法：ln α_d^φ = φ·ln α_d，同时让 ln w_d^φ = ln w_d + (1−φ)·ln α_d —— 保证 ln(w_d·α_d) 极差恒为 0.1802，只动离散度、不动识别出来的乘积。</a:t>
            </a:r>
            <a:endParaRPr sz="1300" b="0">
              <a:solidFill>
                <a:srgbClr val="252A33"/>
              </a:solidFill>
            </a:endParaRPr>
          </a:p>
          <a:p>
            <a:pPr algn="l">
              <a:lnSpc>
                <a:spcPct val="102000"/>
              </a:lnSpc>
              <a:spcAft>
                <a:spcPts val="300"/>
              </a:spcAft>
            </a:pPr>
            <a:r>
              <a:rPr sz="1350" b="1">
                <a:solidFill>
                  <a:srgbClr val="A63A1E"/>
                </a:solidFill>
              </a:rPr>
              <a:t>✘ 差(2) 从 0.0271 只降到 0.0162（φ = 0.3），再到 0.0219 —— 从来不到 0.001。差(1) 反而更稳：0.1544 → 0.1633。</a:t>
            </a:r>
            <a:endParaRPr sz="1350" b="1">
              <a:solidFill>
                <a:srgbClr val="A63A1E"/>
              </a:solidFill>
            </a:endParaRPr>
          </a:p>
          <a:p>
            <a:pPr algn="l">
              <a:lnSpc>
                <a:spcPct val="102000"/>
              </a:lnSpc>
              <a:spcAft>
                <a:spcPts val="300"/>
              </a:spcAft>
            </a:pPr>
            <a:r>
              <a:rPr sz="1300" b="1">
                <a:solidFill>
                  <a:srgbClr val="A63A1E"/>
                </a:solidFill>
              </a:rPr>
              <a:t>⚠ 陷阱提醒：φ = 0.8 时列(3) = 1.2154，看着和论文 1.217 很像 —— 但把 φ 调到「让结果好看」是循环论证，不能这么做。</a:t>
            </a:r>
            <a:endParaRPr sz="1300" b="1">
              <a:solidFill>
                <a:srgbClr val="A63A1E"/>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数据来源（Stata）：table5_alpha_diag_out.log（α_d 识别见 alpha_d_out.log）。</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table5：稳健性（二）q_o 技能分布</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把 ln q_o 按 ψ 缩放（ψ = 1 是基准）</a:t>
            </a:r>
            <a:endParaRPr sz="2200" b="1">
              <a:solidFill>
                <a:srgbClr val="642366"/>
              </a:solidFill>
            </a:endParaRPr>
          </a:p>
        </p:txBody>
      </p:sp>
      <p:graphicFrame>
        <p:nvGraphicFramePr>
          <p:cNvPr id="6" name="Table 5"/>
          <p:cNvGraphicFramePr>
            <a:graphicFrameLocks noGrp="1"/>
          </p:cNvGraphicFramePr>
          <p:nvPr/>
        </p:nvGraphicFramePr>
        <p:xfrm>
          <a:off x="1929384" y="1417320"/>
          <a:ext cx="9692640" cy="1920240"/>
        </p:xfrm>
        <a:graphic>
          <a:graphicData uri="http://schemas.openxmlformats.org/drawingml/2006/table">
            <a:tbl>
              <a:tblPr firstRow="1">
                <a:tableStyleId>{5C22544A-7EE6-4342-B048-85BDC9FD1C3A}</a:tableStyleId>
              </a:tblPr>
              <a:tblGrid>
                <a:gridCol w="1005840"/>
                <a:gridCol w="1737360"/>
                <a:gridCol w="1737360"/>
                <a:gridCol w="1737360"/>
                <a:gridCol w="1737360"/>
                <a:gridCol w="1737360"/>
              </a:tblGrid>
              <a:tr h="384048">
                <a:tc>
                  <a:txBody>
                    <a:bodyPr/>
                    <a:lstStyle/>
                    <a:p>
                      <a:pPr algn="l">
                        <a:lnSpc>
                          <a:spcPct val="102000"/>
                        </a:lnSpc>
                      </a:pPr>
                      <a:r>
                        <a:rPr sz="1150" b="1">
                          <a:solidFill>
                            <a:srgbClr val="FFFFFF"/>
                          </a:solidFill>
                        </a:rPr>
                        <a:t>ψ</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sd(ln q_o)</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q_o 极差比</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含选·列(1)</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无选·列(1)</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差(1)</a:t>
                      </a:r>
                      <a:endParaRPr sz="1150" b="1">
                        <a:solidFill>
                          <a:srgbClr val="FFFFFF"/>
                        </a:solidFill>
                      </a:endParaRPr>
                    </a:p>
                  </a:txBody>
                  <a:tcPr marL="45720" marR="45720" marT="9144" marB="9144" anchor="ctr">
                    <a:solidFill>
                      <a:srgbClr val="642366"/>
                    </a:solidFill>
                  </a:tcPr>
                </a:tc>
              </a:tr>
              <a:tr h="384048">
                <a:tc>
                  <a:txBody>
                    <a:bodyPr/>
                    <a:lstStyle/>
                    <a:p>
                      <a:pPr algn="l">
                        <a:lnSpc>
                          <a:spcPct val="102000"/>
                        </a:lnSpc>
                      </a:pPr>
                      <a:r>
                        <a:rPr sz="1100" b="0">
                          <a:solidFill>
                            <a:srgbClr val="252A33"/>
                          </a:solidFill>
                        </a:rPr>
                        <a:t>0.0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0.0000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1.00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1.1425</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0.9881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0.1544</a:t>
                      </a:r>
                      <a:endParaRPr sz="1100" b="1">
                        <a:solidFill>
                          <a:srgbClr val="1B6B45"/>
                        </a:solidFill>
                      </a:endParaRPr>
                    </a:p>
                  </a:txBody>
                  <a:tcPr marL="45720" marR="45720" marT="9144" marB="9144" anchor="ctr">
                    <a:solidFill>
                      <a:srgbClr val="FFFFFF"/>
                    </a:solidFill>
                  </a:tcPr>
                </a:tc>
              </a:tr>
              <a:tr h="384048">
                <a:tc>
                  <a:txBody>
                    <a:bodyPr/>
                    <a:lstStyle/>
                    <a:p>
                      <a:pPr algn="l">
                        <a:lnSpc>
                          <a:spcPct val="102000"/>
                        </a:lnSpc>
                      </a:pPr>
                      <a:r>
                        <a:rPr sz="1100" b="0">
                          <a:solidFill>
                            <a:srgbClr val="252A33"/>
                          </a:solidFill>
                        </a:rPr>
                        <a:t>1.0</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0.1625</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1.80</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1.1449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0.9905</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0.1544</a:t>
                      </a:r>
                      <a:endParaRPr sz="1100" b="1">
                        <a:solidFill>
                          <a:srgbClr val="1B6B45"/>
                        </a:solidFill>
                      </a:endParaRPr>
                    </a:p>
                  </a:txBody>
                  <a:tcPr marL="45720" marR="45720" marT="9144" marB="9144" anchor="ctr">
                    <a:solidFill>
                      <a:srgbClr val="F2EEF5"/>
                    </a:solidFill>
                  </a:tcPr>
                </a:tc>
              </a:tr>
              <a:tr h="384048">
                <a:tc>
                  <a:txBody>
                    <a:bodyPr/>
                    <a:lstStyle/>
                    <a:p>
                      <a:pPr algn="l">
                        <a:lnSpc>
                          <a:spcPct val="102000"/>
                        </a:lnSpc>
                      </a:pPr>
                      <a:r>
                        <a:rPr sz="1100" b="0">
                          <a:solidFill>
                            <a:srgbClr val="252A33"/>
                          </a:solidFill>
                        </a:rPr>
                        <a:t>2.0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0.3250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3.23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1.1481</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0.9937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1B6B45"/>
                          </a:solidFill>
                        </a:rPr>
                        <a:t>0.1544</a:t>
                      </a:r>
                      <a:endParaRPr sz="1100" b="1">
                        <a:solidFill>
                          <a:srgbClr val="1B6B45"/>
                        </a:solidFill>
                      </a:endParaRPr>
                    </a:p>
                  </a:txBody>
                  <a:tcPr marL="45720" marR="45720" marT="9144" marB="9144" anchor="ctr">
                    <a:solidFill>
                      <a:srgbClr val="FFFFFF"/>
                    </a:solidFill>
                  </a:tcPr>
                </a:tc>
              </a:tr>
              <a:tr h="384048">
                <a:tc>
                  <a:txBody>
                    <a:bodyPr/>
                    <a:lstStyle/>
                    <a:p>
                      <a:pPr algn="l">
                        <a:lnSpc>
                          <a:spcPct val="102000"/>
                        </a:lnSpc>
                      </a:pPr>
                      <a:r>
                        <a:rPr sz="1100" b="0">
                          <a:solidFill>
                            <a:srgbClr val="252A33"/>
                          </a:solidFill>
                        </a:rPr>
                        <a:t>3.0</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0.4875</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5.79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1.1516</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0.9974</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0.1543</a:t>
                      </a:r>
                      <a:endParaRPr sz="1100" b="1">
                        <a:solidFill>
                          <a:srgbClr val="1B6B45"/>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895344"/>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结论：技能离散度完全不产生选择效应</a:t>
            </a:r>
            <a:endParaRPr sz="2200" b="1">
              <a:solidFill>
                <a:srgbClr val="642366"/>
              </a:solidFill>
            </a:endParaRPr>
          </a:p>
        </p:txBody>
      </p:sp>
      <p:sp>
        <p:nvSpPr>
          <p:cNvPr id="8" name="TextBox 7"/>
          <p:cNvSpPr txBox="1"/>
          <p:nvPr/>
        </p:nvSpPr>
        <p:spPr>
          <a:xfrm>
            <a:off x="2029968" y="4297680"/>
            <a:ext cx="9601200" cy="2377440"/>
          </a:xfrm>
          <a:prstGeom prst="rect">
            <a:avLst/>
          </a:prstGeom>
          <a:noFill/>
        </p:spPr>
        <p:txBody>
          <a:bodyPr wrap="square" lIns="0" tIns="0" rIns="0" bIns="0">
            <a:spAutoFit/>
          </a:bodyPr>
          <a:lstStyle/>
          <a:p>
            <a:pPr algn="l">
              <a:lnSpc>
                <a:spcPct val="102000"/>
              </a:lnSpc>
              <a:spcAft>
                <a:spcPts val="300"/>
              </a:spcAft>
            </a:pPr>
            <a:r>
              <a:rPr sz="1350" b="1">
                <a:solidFill>
                  <a:srgbClr val="1B6B45"/>
                </a:solidFill>
              </a:rPr>
              <a:t>⭐ 差(1) 在 ψ 从 0 到 3 的整个过程里一动不动：0.1544 → 0.1543。技能极差从 1.00 拉到 5.79 也没用。</a:t>
            </a:r>
            <a:endParaRPr sz="1350" b="1">
              <a:solidFill>
                <a:srgbClr val="1B6B45"/>
              </a:solidFill>
            </a:endParaRPr>
          </a:p>
          <a:p>
            <a:pPr algn="l">
              <a:lnSpc>
                <a:spcPct val="102000"/>
              </a:lnSpc>
              <a:spcAft>
                <a:spcPts val="300"/>
              </a:spcAft>
            </a:pPr>
            <a:r>
              <a:rPr sz="1350" b="0">
                <a:solidFill>
                  <a:srgbClr val="252A33"/>
                </a:solidFill>
              </a:rPr>
              <a:t>差(2) 只动 0.0020（0.0277 → 0.0257），同样远离 0.001。</a:t>
            </a:r>
            <a:endParaRPr sz="1350" b="0">
              <a:solidFill>
                <a:srgbClr val="252A33"/>
              </a:solidFill>
            </a:endParaRPr>
          </a:p>
          <a:p>
            <a:pPr algn="l">
              <a:lnSpc>
                <a:spcPct val="102000"/>
              </a:lnSpc>
              <a:spcAft>
                <a:spcPts val="300"/>
              </a:spcAft>
            </a:pPr>
            <a:r>
              <a:rPr sz="1300" b="0">
                <a:solidFill>
                  <a:srgbClr val="252A33"/>
                </a:solidFill>
              </a:rPr>
              <a:t>结构性含义：列(1) 的选择效应 = Σω_o π^(1−1/θ) / Σω_o π（ω_o = L_o q_o）—— 它是 θ 和 π 分布的函数，缩放 q_o 只是重新加权，几乎不改变 π 的形状。</a:t>
            </a:r>
            <a:endParaRPr sz="1300" b="0">
              <a:solidFill>
                <a:srgbClr val="252A33"/>
              </a:solidFill>
            </a:endParaRPr>
          </a:p>
          <a:p>
            <a:pPr algn="l">
              <a:lnSpc>
                <a:spcPct val="102000"/>
              </a:lnSpc>
              <a:spcAft>
                <a:spcPts val="300"/>
              </a:spcAft>
            </a:pPr>
            <a:r>
              <a:rPr sz="1300" b="1">
                <a:solidFill>
                  <a:srgbClr val="A63A1E"/>
                </a:solidFill>
              </a:rPr>
              <a:t>⚠ 这修正了对论文那句话的读法：论文说「收益全部来自改善工人排序」，容易被读成「因为技能差距大」。本复现证明技能差距只抬高水平、不产生差异。</a:t>
            </a:r>
            <a:endParaRPr sz="1300" b="1">
              <a:solidFill>
                <a:srgbClr val="A63A1E"/>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数据来源（Stata）：table5_qo_diag_out.log（ψ = 0 / 0.5 / 1 / 1.5 / 2 / 3 共六档）。</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table5：稳健性（三）观测 π vs 模型 π</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基准校准用观测 π 还是模型 π？</a:t>
            </a:r>
            <a:endParaRPr sz="2200" b="1">
              <a:solidFill>
                <a:srgbClr val="642366"/>
              </a:solidFill>
            </a:endParaRPr>
          </a:p>
        </p:txBody>
      </p:sp>
      <p:graphicFrame>
        <p:nvGraphicFramePr>
          <p:cNvPr id="6" name="Table 5"/>
          <p:cNvGraphicFramePr>
            <a:graphicFrameLocks noGrp="1"/>
          </p:cNvGraphicFramePr>
          <p:nvPr/>
        </p:nvGraphicFramePr>
        <p:xfrm>
          <a:off x="1929384" y="1417320"/>
          <a:ext cx="9692640" cy="1920240"/>
        </p:xfrm>
        <a:graphic>
          <a:graphicData uri="http://schemas.openxmlformats.org/drawingml/2006/table">
            <a:tbl>
              <a:tblPr firstRow="1">
                <a:tableStyleId>{5C22544A-7EE6-4342-B048-85BDC9FD1C3A}</a:tableStyleId>
              </a:tblPr>
              <a:tblGrid>
                <a:gridCol w="2331720"/>
                <a:gridCol w="2148840"/>
                <a:gridCol w="1737360"/>
                <a:gridCol w="1737360"/>
                <a:gridCol w="1737360"/>
              </a:tblGrid>
              <a:tr h="384048">
                <a:tc>
                  <a:txBody>
                    <a:bodyPr/>
                    <a:lstStyle/>
                    <a:p>
                      <a:pPr algn="l">
                        <a:lnSpc>
                          <a:spcPct val="102000"/>
                        </a:lnSpc>
                      </a:pPr>
                      <a:r>
                        <a:rPr sz="1150" b="1">
                          <a:solidFill>
                            <a:srgbClr val="FFFFFF"/>
                          </a:solidFill>
                        </a:rPr>
                        <a:t>反推基准 π 用</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基准 Y 用</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差(1)</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差(2)</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模型Y/观测Y</a:t>
                      </a:r>
                      <a:endParaRPr sz="1150" b="1">
                        <a:solidFill>
                          <a:srgbClr val="FFFFFF"/>
                        </a:solidFill>
                      </a:endParaRPr>
                    </a:p>
                  </a:txBody>
                  <a:tcPr marL="45720" marR="45720" marT="9144" marB="9144" anchor="ctr">
                    <a:solidFill>
                      <a:srgbClr val="642366"/>
                    </a:solidFill>
                  </a:tcPr>
                </a:tc>
              </a:tr>
              <a:tr h="384048">
                <a:tc>
                  <a:txBody>
                    <a:bodyPr/>
                    <a:lstStyle/>
                    <a:p>
                      <a:pPr algn="l">
                        <a:lnSpc>
                          <a:spcPct val="102000"/>
                        </a:lnSpc>
                      </a:pPr>
                      <a:r>
                        <a:rPr sz="1100" b="0">
                          <a:solidFill>
                            <a:srgbClr val="252A33"/>
                          </a:solidFill>
                        </a:rPr>
                        <a:t>模型 π（现行）</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模型均衡</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0.1544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1">
                          <a:solidFill>
                            <a:srgbClr val="A63A1E"/>
                          </a:solidFill>
                        </a:rPr>
                        <a:t>0.0271</a:t>
                      </a:r>
                      <a:endParaRPr sz="1100" b="1">
                        <a:solidFill>
                          <a:srgbClr val="A63A1E"/>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1.00000</a:t>
                      </a:r>
                      <a:endParaRPr sz="1100" b="0">
                        <a:solidFill>
                          <a:srgbClr val="252A33"/>
                        </a:solidFill>
                      </a:endParaRPr>
                    </a:p>
                  </a:txBody>
                  <a:tcPr marL="45720" marR="45720" marT="9144" marB="9144" anchor="ctr">
                    <a:solidFill>
                      <a:srgbClr val="FFFFFF"/>
                    </a:solidFill>
                  </a:tcPr>
                </a:tc>
              </a:tr>
              <a:tr h="384048">
                <a:tc>
                  <a:txBody>
                    <a:bodyPr/>
                    <a:lstStyle/>
                    <a:p>
                      <a:pPr algn="l">
                        <a:lnSpc>
                          <a:spcPct val="102000"/>
                        </a:lnSpc>
                      </a:pPr>
                      <a:r>
                        <a:rPr sz="1100" b="0">
                          <a:solidFill>
                            <a:srgbClr val="252A33"/>
                          </a:solidFill>
                        </a:rPr>
                        <a:t>模型 π</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观测经济</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0.1544</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A63A1E"/>
                          </a:solidFill>
                        </a:rPr>
                        <a:t>0.0271</a:t>
                      </a:r>
                      <a:endParaRPr sz="1100" b="1">
                        <a:solidFill>
                          <a:srgbClr val="A63A1E"/>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1.00000</a:t>
                      </a:r>
                      <a:endParaRPr sz="1100" b="0">
                        <a:solidFill>
                          <a:srgbClr val="252A33"/>
                        </a:solidFill>
                      </a:endParaRPr>
                    </a:p>
                  </a:txBody>
                  <a:tcPr marL="45720" marR="45720" marT="9144" marB="9144" anchor="ctr">
                    <a:solidFill>
                      <a:srgbClr val="F2EEF5"/>
                    </a:solidFill>
                  </a:tcPr>
                </a:tc>
              </a:tr>
              <a:tr h="384048">
                <a:tc>
                  <a:txBody>
                    <a:bodyPr/>
                    <a:lstStyle/>
                    <a:p>
                      <a:pPr algn="l">
                        <a:lnSpc>
                          <a:spcPct val="102000"/>
                        </a:lnSpc>
                      </a:pPr>
                      <a:r>
                        <a:rPr sz="1100" b="0">
                          <a:solidFill>
                            <a:srgbClr val="252A33"/>
                          </a:solidFill>
                        </a:rPr>
                        <a:t>观测 π</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模型均衡</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0.1526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0.0252</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0.99318</a:t>
                      </a:r>
                      <a:endParaRPr sz="1100" b="0">
                        <a:solidFill>
                          <a:srgbClr val="252A33"/>
                        </a:solidFill>
                      </a:endParaRPr>
                    </a:p>
                  </a:txBody>
                  <a:tcPr marL="45720" marR="45720" marT="9144" marB="9144" anchor="ctr">
                    <a:solidFill>
                      <a:srgbClr val="FFFFFF"/>
                    </a:solidFill>
                  </a:tcPr>
                </a:tc>
              </a:tr>
              <a:tr h="384048">
                <a:tc>
                  <a:txBody>
                    <a:bodyPr/>
                    <a:lstStyle/>
                    <a:p>
                      <a:pPr algn="l">
                        <a:lnSpc>
                          <a:spcPct val="102000"/>
                        </a:lnSpc>
                      </a:pPr>
                      <a:r>
                        <a:rPr sz="1100" b="0">
                          <a:solidFill>
                            <a:srgbClr val="252A33"/>
                          </a:solidFill>
                        </a:rPr>
                        <a:t>观测 π</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观测经济</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A63A1E"/>
                          </a:solidFill>
                        </a:rPr>
                        <a:t>0.1441</a:t>
                      </a:r>
                      <a:endParaRPr sz="1100" b="1">
                        <a:solidFill>
                          <a:srgbClr val="A63A1E"/>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0.0167</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0.99318</a:t>
                      </a:r>
                      <a:endParaRPr sz="1100" b="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895344"/>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结论：不是它，而且它更差</a:t>
            </a:r>
            <a:endParaRPr sz="2200" b="1">
              <a:solidFill>
                <a:srgbClr val="642366"/>
              </a:solidFill>
            </a:endParaRPr>
          </a:p>
        </p:txBody>
      </p:sp>
      <p:sp>
        <p:nvSpPr>
          <p:cNvPr id="8" name="TextBox 7"/>
          <p:cNvSpPr txBox="1"/>
          <p:nvPr/>
        </p:nvSpPr>
        <p:spPr>
          <a:xfrm>
            <a:off x="2029968" y="4297680"/>
            <a:ext cx="9601200" cy="2377440"/>
          </a:xfrm>
          <a:prstGeom prst="rect">
            <a:avLst/>
          </a:prstGeom>
          <a:noFill/>
        </p:spPr>
        <p:txBody>
          <a:bodyPr wrap="square" lIns="0" tIns="0" rIns="0" bIns="0">
            <a:spAutoFit/>
          </a:bodyPr>
          <a:lstStyle/>
          <a:p>
            <a:pPr algn="l">
              <a:lnSpc>
                <a:spcPct val="102000"/>
              </a:lnSpc>
              <a:spcAft>
                <a:spcPts val="300"/>
              </a:spcAft>
            </a:pPr>
            <a:r>
              <a:rPr sz="1300" b="0">
                <a:solidFill>
                  <a:srgbClr val="252A33"/>
                </a:solidFill>
              </a:rPr>
              <a:t>诊断：观测 π 有 64/272 个空格（1995 年零流量），用模型 π 补后按行归一化；模型 π 与观测 π 的平均绝对偏差 0.0078，最大单格 0.149。</a:t>
            </a:r>
            <a:endParaRPr sz="1300" b="0">
              <a:solidFill>
                <a:srgbClr val="252A33"/>
              </a:solidFill>
            </a:endParaRPr>
          </a:p>
          <a:p>
            <a:pPr algn="l">
              <a:lnSpc>
                <a:spcPct val="102000"/>
              </a:lnSpc>
              <a:spcAft>
                <a:spcPts val="300"/>
              </a:spcAft>
            </a:pPr>
            <a:r>
              <a:rPr sz="1350" b="1">
                <a:solidFill>
                  <a:srgbClr val="A63A1E"/>
                </a:solidFill>
              </a:rPr>
              <a:t>✘ 用观测 π 反推，差(2) 最低到 0.0167（仍是目标 0.001 的 17 倍），而且把头条结论的差(1) 从 0.1544 弄坏到 0.1441 —— 离论文 0.161 更远。</a:t>
            </a:r>
            <a:endParaRPr sz="1350" b="1">
              <a:solidFill>
                <a:srgbClr val="A63A1E"/>
              </a:solidFill>
            </a:endParaRPr>
          </a:p>
          <a:p>
            <a:pPr algn="l">
              <a:lnSpc>
                <a:spcPct val="102000"/>
              </a:lnSpc>
              <a:spcAft>
                <a:spcPts val="300"/>
              </a:spcAft>
            </a:pPr>
            <a:r>
              <a:rPr sz="1300" b="0">
                <a:solidFill>
                  <a:srgbClr val="252A33"/>
                </a:solidFill>
              </a:rPr>
              <a:t>内部一致性只有 0.7%（模型Y/观测Y = 0.9932 / 1.0008）⇒ 用观测 π 反推的基准几乎自洽，但仍不是答案。</a:t>
            </a:r>
            <a:endParaRPr sz="1300" b="0">
              <a:solidFill>
                <a:srgbClr val="252A33"/>
              </a:solidFill>
            </a:endParaRPr>
          </a:p>
          <a:p>
            <a:pPr algn="l">
              <a:lnSpc>
                <a:spcPct val="102000"/>
              </a:lnSpc>
              <a:spcAft>
                <a:spcPts val="300"/>
              </a:spcAft>
            </a:pPr>
            <a:r>
              <a:rPr sz="1300" b="1">
                <a:solidFill>
                  <a:srgbClr val="1B6B45"/>
                </a:solidFill>
              </a:rPr>
              <a:t>附带发现：含选择列(2) 在四种变体里都是 1.1192（最后一种 1.1115）—— 列(2) 的含选择结果对基准 π 的构造几乎不敏感。</a:t>
            </a:r>
            <a:endParaRPr sz="1300" b="1">
              <a:solidFill>
                <a:srgbClr val="1B6B45"/>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数据来源（Stata）：table5_pi_diag_out.log。</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table5：稳健性（四）γ × λ × σ 网格</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论文自己报的参数范围（JPE p.2257–2258）</a:t>
            </a:r>
            <a:endParaRPr sz="2200" b="1">
              <a:solidFill>
                <a:srgbClr val="642366"/>
              </a:solidFill>
            </a:endParaRPr>
          </a:p>
        </p:txBody>
      </p:sp>
      <p:graphicFrame>
        <p:nvGraphicFramePr>
          <p:cNvPr id="6" name="Table 5"/>
          <p:cNvGraphicFramePr>
            <a:graphicFrameLocks noGrp="1"/>
          </p:cNvGraphicFramePr>
          <p:nvPr/>
        </p:nvGraphicFramePr>
        <p:xfrm>
          <a:off x="1929384" y="1417320"/>
          <a:ext cx="9692640" cy="2203704"/>
        </p:xfrm>
        <a:graphic>
          <a:graphicData uri="http://schemas.openxmlformats.org/drawingml/2006/table">
            <a:tbl>
              <a:tblPr firstRow="1">
                <a:tableStyleId>{5C22544A-7EE6-4342-B048-85BDC9FD1C3A}</a:tableStyleId>
              </a:tblPr>
              <a:tblGrid>
                <a:gridCol w="1188720"/>
                <a:gridCol w="2130552"/>
                <a:gridCol w="2130552"/>
                <a:gridCol w="2130552"/>
                <a:gridCol w="2112264"/>
              </a:tblGrid>
              <a:tr h="365760">
                <a:tc>
                  <a:txBody>
                    <a:bodyPr/>
                    <a:lstStyle/>
                    <a:p>
                      <a:pPr algn="l">
                        <a:lnSpc>
                          <a:spcPct val="102000"/>
                        </a:lnSpc>
                      </a:pPr>
                      <a:r>
                        <a:rPr sz="1150" b="1">
                          <a:solidFill>
                            <a:srgbClr val="FFFFFF"/>
                          </a:solidFill>
                        </a:rPr>
                        <a:t>γ</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λ = −0.075 差(1)</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差(2)</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λ = −0.115 差(1)</a:t>
                      </a:r>
                      <a:endParaRPr sz="1150" b="1">
                        <a:solidFill>
                          <a:srgbClr val="FFFFFF"/>
                        </a:solidFill>
                      </a:endParaRPr>
                    </a:p>
                  </a:txBody>
                  <a:tcPr marL="45720" marR="45720" marT="9144" marB="9144" anchor="ctr">
                    <a:solidFill>
                      <a:srgbClr val="642366"/>
                    </a:solidFill>
                  </a:tcPr>
                </a:tc>
                <a:tc>
                  <a:txBody>
                    <a:bodyPr/>
                    <a:lstStyle/>
                    <a:p>
                      <a:pPr algn="l">
                        <a:lnSpc>
                          <a:spcPct val="102000"/>
                        </a:lnSpc>
                      </a:pPr>
                      <a:r>
                        <a:rPr sz="1150" b="1">
                          <a:solidFill>
                            <a:srgbClr val="FFFFFF"/>
                          </a:solidFill>
                        </a:rPr>
                        <a:t>差(2)</a:t>
                      </a:r>
                      <a:endParaRPr sz="1150" b="1">
                        <a:solidFill>
                          <a:srgbClr val="FFFFFF"/>
                        </a:solidFill>
                      </a:endParaRPr>
                    </a:p>
                  </a:txBody>
                  <a:tcPr marL="45720" marR="45720" marT="9144" marB="9144" anchor="ctr">
                    <a:solidFill>
                      <a:srgbClr val="642366"/>
                    </a:solidFill>
                  </a:tcPr>
                </a:tc>
              </a:tr>
              <a:tr h="306324">
                <a:tc>
                  <a:txBody>
                    <a:bodyPr/>
                    <a:lstStyle/>
                    <a:p>
                      <a:pPr algn="l">
                        <a:lnSpc>
                          <a:spcPct val="102000"/>
                        </a:lnSpc>
                      </a:pPr>
                      <a:r>
                        <a:rPr sz="1100" b="0">
                          <a:solidFill>
                            <a:srgbClr val="252A33"/>
                          </a:solidFill>
                        </a:rPr>
                        <a:t>0.00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0.1456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0.0230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0.1436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0.0243</a:t>
                      </a:r>
                      <a:endParaRPr sz="1100" b="0">
                        <a:solidFill>
                          <a:srgbClr val="252A33"/>
                        </a:solidFill>
                      </a:endParaRPr>
                    </a:p>
                  </a:txBody>
                  <a:tcPr marL="45720" marR="45720" marT="9144" marB="9144" anchor="ctr">
                    <a:solidFill>
                      <a:srgbClr val="FFFFFF"/>
                    </a:solidFill>
                  </a:tcPr>
                </a:tc>
              </a:tr>
              <a:tr h="306324">
                <a:tc>
                  <a:txBody>
                    <a:bodyPr/>
                    <a:lstStyle/>
                    <a:p>
                      <a:pPr algn="l">
                        <a:lnSpc>
                          <a:spcPct val="102000"/>
                        </a:lnSpc>
                      </a:pPr>
                      <a:r>
                        <a:rPr sz="1100" b="0">
                          <a:solidFill>
                            <a:srgbClr val="252A33"/>
                          </a:solidFill>
                        </a:rPr>
                        <a:t>0.02</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0.1491</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0.0246</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0.1469</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0.0258</a:t>
                      </a:r>
                      <a:endParaRPr sz="1100" b="0">
                        <a:solidFill>
                          <a:srgbClr val="252A33"/>
                        </a:solidFill>
                      </a:endParaRPr>
                    </a:p>
                  </a:txBody>
                  <a:tcPr marL="45720" marR="45720" marT="9144" marB="9144" anchor="ctr">
                    <a:solidFill>
                      <a:srgbClr val="F2EEF5"/>
                    </a:solidFill>
                  </a:tcPr>
                </a:tc>
              </a:tr>
              <a:tr h="306324">
                <a:tc>
                  <a:txBody>
                    <a:bodyPr/>
                    <a:lstStyle/>
                    <a:p>
                      <a:pPr algn="l">
                        <a:lnSpc>
                          <a:spcPct val="102000"/>
                        </a:lnSpc>
                      </a:pPr>
                      <a:r>
                        <a:rPr sz="1100" b="0">
                          <a:solidFill>
                            <a:srgbClr val="252A33"/>
                          </a:solidFill>
                        </a:rPr>
                        <a:t>0.04</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0.1526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0.0262</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0.1503</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0.0275</a:t>
                      </a:r>
                      <a:endParaRPr sz="1100" b="0">
                        <a:solidFill>
                          <a:srgbClr val="252A33"/>
                        </a:solidFill>
                      </a:endParaRPr>
                    </a:p>
                  </a:txBody>
                  <a:tcPr marL="45720" marR="45720" marT="9144" marB="9144" anchor="ctr">
                    <a:solidFill>
                      <a:srgbClr val="FFFFFF"/>
                    </a:solidFill>
                  </a:tcPr>
                </a:tc>
              </a:tr>
              <a:tr h="306324">
                <a:tc>
                  <a:txBody>
                    <a:bodyPr/>
                    <a:lstStyle/>
                    <a:p>
                      <a:pPr algn="l">
                        <a:lnSpc>
                          <a:spcPct val="102000"/>
                        </a:lnSpc>
                      </a:pPr>
                      <a:r>
                        <a:rPr sz="1100" b="0">
                          <a:solidFill>
                            <a:srgbClr val="252A33"/>
                          </a:solidFill>
                        </a:rPr>
                        <a:t>0.05 基准</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252A33"/>
                          </a:solidFill>
                        </a:rPr>
                        <a:t>0.1544</a:t>
                      </a:r>
                      <a:endParaRPr sz="1100" b="1">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A63A1E"/>
                          </a:solidFill>
                        </a:rPr>
                        <a:t>0.0271</a:t>
                      </a:r>
                      <a:endParaRPr sz="1100" b="1">
                        <a:solidFill>
                          <a:srgbClr val="A63A1E"/>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0.1520</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0.0284</a:t>
                      </a:r>
                      <a:endParaRPr sz="1100" b="0">
                        <a:solidFill>
                          <a:srgbClr val="252A33"/>
                        </a:solidFill>
                      </a:endParaRPr>
                    </a:p>
                  </a:txBody>
                  <a:tcPr marL="45720" marR="45720" marT="9144" marB="9144" anchor="ctr">
                    <a:solidFill>
                      <a:srgbClr val="F2EEF5"/>
                    </a:solidFill>
                  </a:tcPr>
                </a:tc>
              </a:tr>
              <a:tr h="306324">
                <a:tc>
                  <a:txBody>
                    <a:bodyPr/>
                    <a:lstStyle/>
                    <a:p>
                      <a:pPr algn="l">
                        <a:lnSpc>
                          <a:spcPct val="102000"/>
                        </a:lnSpc>
                      </a:pPr>
                      <a:r>
                        <a:rPr sz="1100" b="0">
                          <a:solidFill>
                            <a:srgbClr val="252A33"/>
                          </a:solidFill>
                        </a:rPr>
                        <a:t>0.06</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0.1562</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0.0280</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0.1537</a:t>
                      </a:r>
                      <a:endParaRPr sz="1100" b="0">
                        <a:solidFill>
                          <a:srgbClr val="252A33"/>
                        </a:solidFill>
                      </a:endParaRPr>
                    </a:p>
                  </a:txBody>
                  <a:tcPr marL="45720" marR="45720" marT="9144" marB="9144" anchor="ctr">
                    <a:solidFill>
                      <a:srgbClr val="FFFFFF"/>
                    </a:solidFill>
                  </a:tcPr>
                </a:tc>
                <a:tc>
                  <a:txBody>
                    <a:bodyPr/>
                    <a:lstStyle/>
                    <a:p>
                      <a:pPr algn="l">
                        <a:lnSpc>
                          <a:spcPct val="102000"/>
                        </a:lnSpc>
                      </a:pPr>
                      <a:r>
                        <a:rPr sz="1100" b="0">
                          <a:solidFill>
                            <a:srgbClr val="252A33"/>
                          </a:solidFill>
                        </a:rPr>
                        <a:t>0.0292</a:t>
                      </a:r>
                      <a:endParaRPr sz="1100" b="0">
                        <a:solidFill>
                          <a:srgbClr val="252A33"/>
                        </a:solidFill>
                      </a:endParaRPr>
                    </a:p>
                  </a:txBody>
                  <a:tcPr marL="45720" marR="45720" marT="9144" marB="9144" anchor="ctr">
                    <a:solidFill>
                      <a:srgbClr val="FFFFFF"/>
                    </a:solidFill>
                  </a:tcPr>
                </a:tc>
              </a:tr>
              <a:tr h="306324">
                <a:tc>
                  <a:txBody>
                    <a:bodyPr/>
                    <a:lstStyle/>
                    <a:p>
                      <a:pPr algn="l">
                        <a:lnSpc>
                          <a:spcPct val="102000"/>
                        </a:lnSpc>
                      </a:pPr>
                      <a:r>
                        <a:rPr sz="1100" b="0">
                          <a:solidFill>
                            <a:srgbClr val="252A33"/>
                          </a:solidFill>
                        </a:rPr>
                        <a:t>0.08</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1">
                          <a:solidFill>
                            <a:srgbClr val="1B6B45"/>
                          </a:solidFill>
                        </a:rPr>
                        <a:t>0.1599</a:t>
                      </a:r>
                      <a:endParaRPr sz="1100" b="1">
                        <a:solidFill>
                          <a:srgbClr val="1B6B45"/>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0.0297</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0.1572</a:t>
                      </a:r>
                      <a:endParaRPr sz="1100" b="0">
                        <a:solidFill>
                          <a:srgbClr val="252A33"/>
                        </a:solidFill>
                      </a:endParaRPr>
                    </a:p>
                  </a:txBody>
                  <a:tcPr marL="45720" marR="45720" marT="9144" marB="9144" anchor="ctr">
                    <a:solidFill>
                      <a:srgbClr val="F2EEF5"/>
                    </a:solidFill>
                  </a:tcPr>
                </a:tc>
                <a:tc>
                  <a:txBody>
                    <a:bodyPr/>
                    <a:lstStyle/>
                    <a:p>
                      <a:pPr algn="l">
                        <a:lnSpc>
                          <a:spcPct val="102000"/>
                        </a:lnSpc>
                      </a:pPr>
                      <a:r>
                        <a:rPr sz="1100" b="0">
                          <a:solidFill>
                            <a:srgbClr val="252A33"/>
                          </a:solidFill>
                        </a:rPr>
                        <a:t>0.0310</a:t>
                      </a:r>
                      <a:endParaRPr sz="1100" b="0">
                        <a:solidFill>
                          <a:srgbClr val="252A33"/>
                        </a:solidFill>
                      </a:endParaRPr>
                    </a:p>
                  </a:txBody>
                  <a:tcPr marL="45720" marR="45720" marT="9144" marB="9144" anchor="ctr">
                    <a:solidFill>
                      <a:srgbClr val="F2EEF5"/>
                    </a:solidFill>
                  </a:tcPr>
                </a:tc>
              </a:tr>
            </a:tbl>
          </a:graphicData>
        </a:graphic>
      </p:graphicFrame>
      <p:sp>
        <p:nvSpPr>
          <p:cNvPr id="7" name="TextBox 6"/>
          <p:cNvSpPr txBox="1"/>
          <p:nvPr/>
        </p:nvSpPr>
        <p:spPr>
          <a:xfrm>
            <a:off x="1929384" y="3666744"/>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结论：差(2) 从未接近 0.001；而差(1) 在这里几乎命中论文</a:t>
            </a:r>
            <a:endParaRPr sz="2200" b="1">
              <a:solidFill>
                <a:srgbClr val="642366"/>
              </a:solidFill>
            </a:endParaRPr>
          </a:p>
        </p:txBody>
      </p:sp>
      <p:sp>
        <p:nvSpPr>
          <p:cNvPr id="8" name="TextBox 7"/>
          <p:cNvSpPr txBox="1"/>
          <p:nvPr/>
        </p:nvSpPr>
        <p:spPr>
          <a:xfrm>
            <a:off x="2029968" y="4069080"/>
            <a:ext cx="9601200" cy="2377440"/>
          </a:xfrm>
          <a:prstGeom prst="rect">
            <a:avLst/>
          </a:prstGeom>
          <a:noFill/>
        </p:spPr>
        <p:txBody>
          <a:bodyPr wrap="square" lIns="0" tIns="0" rIns="0" bIns="0">
            <a:spAutoFit/>
          </a:bodyPr>
          <a:lstStyle/>
          <a:p>
            <a:pPr algn="l">
              <a:lnSpc>
                <a:spcPct val="102000"/>
              </a:lnSpc>
              <a:spcAft>
                <a:spcPts val="300"/>
              </a:spcAft>
            </a:pPr>
            <a:r>
              <a:rPr sz="1300" b="0">
                <a:solidFill>
                  <a:srgbClr val="252A33"/>
                </a:solidFill>
              </a:rPr>
              <a:t>范围：γ ∈ {0, 0.02, 0.04, 0.05, 0.06, 0.08}、λ ∈ {−0.075, −0.115}、σ = 8（论文：γ 0→0.08、σ 4→8）。</a:t>
            </a:r>
            <a:endParaRPr sz="1300" b="0">
              <a:solidFill>
                <a:srgbClr val="252A33"/>
              </a:solidFill>
            </a:endParaRPr>
          </a:p>
          <a:p>
            <a:pPr algn="l">
              <a:lnSpc>
                <a:spcPct val="102000"/>
              </a:lnSpc>
              <a:spcAft>
                <a:spcPts val="300"/>
              </a:spcAft>
            </a:pPr>
            <a:r>
              <a:rPr sz="1350" b="1">
                <a:solidFill>
                  <a:srgbClr val="1B6B45"/>
                </a:solidFill>
              </a:rPr>
              <a:t>✔ 差(1) 有效范围 0.1436–0.1599 —— 论文 0.161；γ = 0.08 时是 0.1599，几乎完全一致。</a:t>
            </a:r>
            <a:endParaRPr sz="1350" b="1">
              <a:solidFill>
                <a:srgbClr val="1B6B45"/>
              </a:solidFill>
            </a:endParaRPr>
          </a:p>
          <a:p>
            <a:pPr algn="l">
              <a:lnSpc>
                <a:spcPct val="102000"/>
              </a:lnSpc>
              <a:spcAft>
                <a:spcPts val="300"/>
              </a:spcAft>
            </a:pPr>
            <a:r>
              <a:rPr sz="1350" b="1">
                <a:solidFill>
                  <a:srgbClr val="A63A1E"/>
                </a:solidFill>
              </a:rPr>
              <a:t>✘ 差(2) 有效范围 0.0230–0.0310 —— 从未低于 0.023。</a:t>
            </a:r>
            <a:endParaRPr sz="1350" b="1">
              <a:solidFill>
                <a:srgbClr val="A63A1E"/>
              </a:solidFill>
            </a:endParaRPr>
          </a:p>
          <a:p>
            <a:pPr algn="l">
              <a:lnSpc>
                <a:spcPct val="102000"/>
              </a:lnSpc>
              <a:spcAft>
                <a:spcPts val="300"/>
              </a:spcAft>
            </a:pPr>
            <a:r>
              <a:rPr sz="1250" b="1">
                <a:solidFill>
                  <a:srgbClr val="A63A1E"/>
                </a:solidFill>
              </a:rPr>
              <a:t>⚠ 数值诚实说明：48 格里 25 格数值失效。基准格（σ = 8）收敛误差 7.36e−14；σ = 4 的格 4.30e−03，20000 次迭代未收敛。这是本复现求解器的限制，不是论文错。</a:t>
            </a:r>
            <a:endParaRPr sz="1250" b="1">
              <a:solidFill>
                <a:srgbClr val="A63A1E"/>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数据来源（Stata）：table5_ge_grid_out.log（含每格收敛误差与触底计数）。</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table5：列(2) 那 0.027 —— 约 80 个变体的排除表</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逐一排除：哪些不是原因</a:t>
            </a:r>
            <a:endParaRPr sz="2200" b="1">
              <a:solidFill>
                <a:srgbClr val="642366"/>
              </a:solidFill>
            </a:endParaRPr>
          </a:p>
        </p:txBody>
      </p:sp>
      <p:graphicFrame>
        <p:nvGraphicFramePr>
          <p:cNvPr id="6" name="Table 5"/>
          <p:cNvGraphicFramePr>
            <a:graphicFrameLocks noGrp="1"/>
          </p:cNvGraphicFramePr>
          <p:nvPr/>
        </p:nvGraphicFramePr>
        <p:xfrm>
          <a:off x="1929384" y="1435608"/>
          <a:ext cx="9692640" cy="2592324"/>
        </p:xfrm>
        <a:graphic>
          <a:graphicData uri="http://schemas.openxmlformats.org/drawingml/2006/table">
            <a:tbl>
              <a:tblPr firstRow="1">
                <a:tableStyleId>{5C22544A-7EE6-4342-B048-85BDC9FD1C3A}</a:tableStyleId>
              </a:tblPr>
              <a:tblGrid>
                <a:gridCol w="2377440"/>
                <a:gridCol w="4206240"/>
                <a:gridCol w="3108960"/>
              </a:tblGrid>
              <a:tr h="329184">
                <a:tc>
                  <a:txBody>
                    <a:bodyPr/>
                    <a:lstStyle/>
                    <a:p>
                      <a:pPr algn="l">
                        <a:lnSpc>
                          <a:spcPct val="102000"/>
                        </a:lnSpc>
                      </a:pPr>
                      <a:r>
                        <a:rPr sz="1100" b="1">
                          <a:solidFill>
                            <a:srgbClr val="FFFFFF"/>
                          </a:solidFill>
                        </a:rPr>
                        <a:t>候选解释</a:t>
                      </a:r>
                      <a:endParaRPr sz="1100" b="1">
                        <a:solidFill>
                          <a:srgbClr val="FFFFFF"/>
                        </a:solidFill>
                      </a:endParaRPr>
                    </a:p>
                  </a:txBody>
                  <a:tcPr marL="45720" marR="45720" marT="9144" marB="9144" anchor="ctr">
                    <a:solidFill>
                      <a:srgbClr val="642366"/>
                    </a:solidFill>
                  </a:tcPr>
                </a:tc>
                <a:tc>
                  <a:txBody>
                    <a:bodyPr/>
                    <a:lstStyle/>
                    <a:p>
                      <a:pPr algn="l">
                        <a:lnSpc>
                          <a:spcPct val="102000"/>
                        </a:lnSpc>
                      </a:pPr>
                      <a:r>
                        <a:rPr sz="1100" b="1">
                          <a:solidFill>
                            <a:srgbClr val="FFFFFF"/>
                          </a:solidFill>
                        </a:rPr>
                        <a:t>检验方式</a:t>
                      </a:r>
                      <a:endParaRPr sz="1100" b="1">
                        <a:solidFill>
                          <a:srgbClr val="FFFFFF"/>
                        </a:solidFill>
                      </a:endParaRPr>
                    </a:p>
                  </a:txBody>
                  <a:tcPr marL="45720" marR="45720" marT="9144" marB="9144" anchor="ctr">
                    <a:solidFill>
                      <a:srgbClr val="642366"/>
                    </a:solidFill>
                  </a:tcPr>
                </a:tc>
                <a:tc>
                  <a:txBody>
                    <a:bodyPr/>
                    <a:lstStyle/>
                    <a:p>
                      <a:pPr algn="l">
                        <a:lnSpc>
                          <a:spcPct val="102000"/>
                        </a:lnSpc>
                      </a:pPr>
                      <a:r>
                        <a:rPr sz="1100" b="1">
                          <a:solidFill>
                            <a:srgbClr val="FFFFFF"/>
                          </a:solidFill>
                        </a:rPr>
                        <a:t>结论</a:t>
                      </a:r>
                      <a:endParaRPr sz="1100" b="1">
                        <a:solidFill>
                          <a:srgbClr val="FFFFFF"/>
                        </a:solidFill>
                      </a:endParaRPr>
                    </a:p>
                  </a:txBody>
                  <a:tcPr marL="45720" marR="45720" marT="9144" marB="9144" anchor="ctr">
                    <a:solidFill>
                      <a:srgbClr val="642366"/>
                    </a:solidFill>
                  </a:tcPr>
                </a:tc>
              </a:tr>
              <a:tr h="251460">
                <a:tc>
                  <a:txBody>
                    <a:bodyPr/>
                    <a:lstStyle/>
                    <a:p>
                      <a:pPr algn="l">
                        <a:lnSpc>
                          <a:spcPct val="102000"/>
                        </a:lnSpc>
                      </a:pPr>
                      <a:r>
                        <a:rPr sz="1050" b="0">
                          <a:solidFill>
                            <a:srgbClr val="252A33"/>
                          </a:solidFill>
                        </a:rPr>
                        <a:t>no-selection 的代数写法</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0">
                          <a:solidFill>
                            <a:srgbClr val="252A33"/>
                          </a:solidFill>
                        </a:rPr>
                        <a:t>3 公式 × 2 种 Ā_d × 2 种 α 处理 = 12 组</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1">
                          <a:solidFill>
                            <a:srgbClr val="1B6B45"/>
                          </a:solidFill>
                        </a:rPr>
                        <a:t>✘ 全在 0.025–0.032</a:t>
                      </a:r>
                      <a:endParaRPr sz="1050" b="1">
                        <a:solidFill>
                          <a:srgbClr val="1B6B45"/>
                        </a:solidFill>
                      </a:endParaRPr>
                    </a:p>
                  </a:txBody>
                  <a:tcPr marL="45720" marR="45720" marT="9144" marB="9144" anchor="ctr">
                    <a:solidFill>
                      <a:srgbClr val="FFFFFF"/>
                    </a:solidFill>
                  </a:tcPr>
                </a:tc>
              </a:tr>
              <a:tr h="251460">
                <a:tc>
                  <a:txBody>
                    <a:bodyPr/>
                    <a:lstStyle/>
                    <a:p>
                      <a:pPr algn="l">
                        <a:lnSpc>
                          <a:spcPct val="102000"/>
                        </a:lnSpc>
                      </a:pPr>
                      <a:r>
                        <a:rPr sz="1050" b="0">
                          <a:solidFill>
                            <a:srgbClr val="252A33"/>
                          </a:solidFill>
                        </a:rPr>
                        <a:t>列(2) 把 α 钉住</a:t>
                      </a:r>
                      <a:endParaRPr sz="1050" b="0">
                        <a:solidFill>
                          <a:srgbClr val="252A33"/>
                        </a:solidFill>
                      </a:endParaRPr>
                    </a:p>
                  </a:txBody>
                  <a:tcPr marL="45720" marR="45720" marT="9144" marB="9144" anchor="ctr">
                    <a:solidFill>
                      <a:srgbClr val="F2EEF5"/>
                    </a:solidFill>
                  </a:tcPr>
                </a:tc>
                <a:tc>
                  <a:txBody>
                    <a:bodyPr/>
                    <a:lstStyle/>
                    <a:p>
                      <a:pPr algn="l">
                        <a:lnSpc>
                          <a:spcPct val="102000"/>
                        </a:lnSpc>
                      </a:pPr>
                      <a:r>
                        <a:rPr sz="1050" b="0">
                          <a:solidFill>
                            <a:srgbClr val="252A33"/>
                          </a:solidFill>
                        </a:rPr>
                        <a:t>直接测</a:t>
                      </a:r>
                      <a:endParaRPr sz="1050" b="0">
                        <a:solidFill>
                          <a:srgbClr val="252A33"/>
                        </a:solidFill>
                      </a:endParaRPr>
                    </a:p>
                  </a:txBody>
                  <a:tcPr marL="45720" marR="45720" marT="9144" marB="9144" anchor="ctr">
                    <a:solidFill>
                      <a:srgbClr val="F2EEF5"/>
                    </a:solidFill>
                  </a:tcPr>
                </a:tc>
                <a:tc>
                  <a:txBody>
                    <a:bodyPr/>
                    <a:lstStyle/>
                    <a:p>
                      <a:pPr algn="l">
                        <a:lnSpc>
                          <a:spcPct val="102000"/>
                        </a:lnSpc>
                      </a:pPr>
                      <a:r>
                        <a:rPr sz="1050" b="1">
                          <a:solidFill>
                            <a:srgbClr val="1B6B45"/>
                          </a:solidFill>
                        </a:rPr>
                        <a:t>✘ 1.1662，更差</a:t>
                      </a:r>
                      <a:endParaRPr sz="1050" b="1">
                        <a:solidFill>
                          <a:srgbClr val="1B6B45"/>
                        </a:solidFill>
                      </a:endParaRPr>
                    </a:p>
                  </a:txBody>
                  <a:tcPr marL="45720" marR="45720" marT="9144" marB="9144" anchor="ctr">
                    <a:solidFill>
                      <a:srgbClr val="F2EEF5"/>
                    </a:solidFill>
                  </a:tcPr>
                </a:tc>
              </a:tr>
              <a:tr h="251460">
                <a:tc>
                  <a:txBody>
                    <a:bodyPr/>
                    <a:lstStyle/>
                    <a:p>
                      <a:pPr algn="l">
                        <a:lnSpc>
                          <a:spcPct val="102000"/>
                        </a:lnSpc>
                      </a:pPr>
                      <a:r>
                        <a:rPr sz="1050" b="0">
                          <a:solidFill>
                            <a:srgbClr val="252A33"/>
                          </a:solidFill>
                        </a:rPr>
                        <a:t>Ā_d 是否重算</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0">
                          <a:solidFill>
                            <a:srgbClr val="252A33"/>
                          </a:solidFill>
                        </a:rPr>
                        <a:t>直接测</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1">
                          <a:solidFill>
                            <a:srgbClr val="1B6B45"/>
                          </a:solidFill>
                        </a:rPr>
                        <a:t>✘ 0.0271 → 0.0254</a:t>
                      </a:r>
                      <a:endParaRPr sz="1050" b="1">
                        <a:solidFill>
                          <a:srgbClr val="1B6B45"/>
                        </a:solidFill>
                      </a:endParaRPr>
                    </a:p>
                  </a:txBody>
                  <a:tcPr marL="45720" marR="45720" marT="9144" marB="9144" anchor="ctr">
                    <a:solidFill>
                      <a:srgbClr val="FFFFFF"/>
                    </a:solidFill>
                  </a:tcPr>
                </a:tc>
              </a:tr>
              <a:tr h="251460">
                <a:tc>
                  <a:txBody>
                    <a:bodyPr/>
                    <a:lstStyle/>
                    <a:p>
                      <a:pPr algn="l">
                        <a:lnSpc>
                          <a:spcPct val="102000"/>
                        </a:lnSpc>
                      </a:pPr>
                      <a:r>
                        <a:rPr sz="1050" b="0">
                          <a:solidFill>
                            <a:srgbClr val="252A33"/>
                          </a:solidFill>
                        </a:rPr>
                        <a:t>α_d 弱识别</a:t>
                      </a:r>
                      <a:endParaRPr sz="1050" b="0">
                        <a:solidFill>
                          <a:srgbClr val="252A33"/>
                        </a:solidFill>
                      </a:endParaRPr>
                    </a:p>
                  </a:txBody>
                  <a:tcPr marL="45720" marR="45720" marT="9144" marB="9144" anchor="ctr">
                    <a:solidFill>
                      <a:srgbClr val="F2EEF5"/>
                    </a:solidFill>
                  </a:tcPr>
                </a:tc>
                <a:tc>
                  <a:txBody>
                    <a:bodyPr/>
                    <a:lstStyle/>
                    <a:p>
                      <a:pPr algn="l">
                        <a:lnSpc>
                          <a:spcPct val="102000"/>
                        </a:lnSpc>
                      </a:pPr>
                      <a:r>
                        <a:rPr sz="1050" b="0">
                          <a:solidFill>
                            <a:srgbClr val="252A33"/>
                          </a:solidFill>
                        </a:rPr>
                        <a:t>φ 扫描 6 档</a:t>
                      </a:r>
                      <a:endParaRPr sz="1050" b="0">
                        <a:solidFill>
                          <a:srgbClr val="252A33"/>
                        </a:solidFill>
                      </a:endParaRPr>
                    </a:p>
                  </a:txBody>
                  <a:tcPr marL="45720" marR="45720" marT="9144" marB="9144" anchor="ctr">
                    <a:solidFill>
                      <a:srgbClr val="F2EEF5"/>
                    </a:solidFill>
                  </a:tcPr>
                </a:tc>
                <a:tc>
                  <a:txBody>
                    <a:bodyPr/>
                    <a:lstStyle/>
                    <a:p>
                      <a:pPr algn="l">
                        <a:lnSpc>
                          <a:spcPct val="102000"/>
                        </a:lnSpc>
                      </a:pPr>
                      <a:r>
                        <a:rPr sz="1050" b="1">
                          <a:solidFill>
                            <a:srgbClr val="1B6B45"/>
                          </a:solidFill>
                        </a:rPr>
                        <a:t>✘ 最多解释 40%，非单调</a:t>
                      </a:r>
                      <a:endParaRPr sz="1050" b="1">
                        <a:solidFill>
                          <a:srgbClr val="1B6B45"/>
                        </a:solidFill>
                      </a:endParaRPr>
                    </a:p>
                  </a:txBody>
                  <a:tcPr marL="45720" marR="45720" marT="9144" marB="9144" anchor="ctr">
                    <a:solidFill>
                      <a:srgbClr val="F2EEF5"/>
                    </a:solidFill>
                  </a:tcPr>
                </a:tc>
              </a:tr>
              <a:tr h="251460">
                <a:tc>
                  <a:txBody>
                    <a:bodyPr/>
                    <a:lstStyle/>
                    <a:p>
                      <a:pPr algn="l">
                        <a:lnSpc>
                          <a:spcPct val="102000"/>
                        </a:lnSpc>
                      </a:pPr>
                      <a:r>
                        <a:rPr sz="1050" b="0">
                          <a:solidFill>
                            <a:srgbClr val="252A33"/>
                          </a:solidFill>
                        </a:rPr>
                        <a:t>q_o 技能分布</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0">
                          <a:solidFill>
                            <a:srgbClr val="252A33"/>
                          </a:solidFill>
                        </a:rPr>
                        <a:t>ψ 扫描（极差 1.00 → 5.79）</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1">
                          <a:solidFill>
                            <a:srgbClr val="1B6B45"/>
                          </a:solidFill>
                        </a:rPr>
                        <a:t>✘ 差(2) 只动 0.002</a:t>
                      </a:r>
                      <a:endParaRPr sz="1050" b="1">
                        <a:solidFill>
                          <a:srgbClr val="1B6B45"/>
                        </a:solidFill>
                      </a:endParaRPr>
                    </a:p>
                  </a:txBody>
                  <a:tcPr marL="45720" marR="45720" marT="9144" marB="9144" anchor="ctr">
                    <a:solidFill>
                      <a:srgbClr val="FFFFFF"/>
                    </a:solidFill>
                  </a:tcPr>
                </a:tc>
              </a:tr>
              <a:tr h="251460">
                <a:tc>
                  <a:txBody>
                    <a:bodyPr/>
                    <a:lstStyle/>
                    <a:p>
                      <a:pPr algn="l">
                        <a:lnSpc>
                          <a:spcPct val="102000"/>
                        </a:lnSpc>
                      </a:pPr>
                      <a:r>
                        <a:rPr sz="1050" b="0">
                          <a:solidFill>
                            <a:srgbClr val="252A33"/>
                          </a:solidFill>
                        </a:rPr>
                        <a:t>观测 π vs 模型 π</a:t>
                      </a:r>
                      <a:endParaRPr sz="1050" b="0">
                        <a:solidFill>
                          <a:srgbClr val="252A33"/>
                        </a:solidFill>
                      </a:endParaRPr>
                    </a:p>
                  </a:txBody>
                  <a:tcPr marL="45720" marR="45720" marT="9144" marB="9144" anchor="ctr">
                    <a:solidFill>
                      <a:srgbClr val="F2EEF5"/>
                    </a:solidFill>
                  </a:tcPr>
                </a:tc>
                <a:tc>
                  <a:txBody>
                    <a:bodyPr/>
                    <a:lstStyle/>
                    <a:p>
                      <a:pPr algn="l">
                        <a:lnSpc>
                          <a:spcPct val="102000"/>
                        </a:lnSpc>
                      </a:pPr>
                      <a:r>
                        <a:rPr sz="1050" b="0">
                          <a:solidFill>
                            <a:srgbClr val="252A33"/>
                          </a:solidFill>
                        </a:rPr>
                        <a:t>4 个变体</a:t>
                      </a:r>
                      <a:endParaRPr sz="1050" b="0">
                        <a:solidFill>
                          <a:srgbClr val="252A33"/>
                        </a:solidFill>
                      </a:endParaRPr>
                    </a:p>
                  </a:txBody>
                  <a:tcPr marL="45720" marR="45720" marT="9144" marB="9144" anchor="ctr">
                    <a:solidFill>
                      <a:srgbClr val="F2EEF5"/>
                    </a:solidFill>
                  </a:tcPr>
                </a:tc>
                <a:tc>
                  <a:txBody>
                    <a:bodyPr/>
                    <a:lstStyle/>
                    <a:p>
                      <a:pPr algn="l">
                        <a:lnSpc>
                          <a:spcPct val="102000"/>
                        </a:lnSpc>
                      </a:pPr>
                      <a:r>
                        <a:rPr sz="1050" b="1">
                          <a:solidFill>
                            <a:srgbClr val="1B6B45"/>
                          </a:solidFill>
                        </a:rPr>
                        <a:t>✘ 最小 0.0167，且弄坏差(1)</a:t>
                      </a:r>
                      <a:endParaRPr sz="1050" b="1">
                        <a:solidFill>
                          <a:srgbClr val="1B6B45"/>
                        </a:solidFill>
                      </a:endParaRPr>
                    </a:p>
                  </a:txBody>
                  <a:tcPr marL="45720" marR="45720" marT="9144" marB="9144" anchor="ctr">
                    <a:solidFill>
                      <a:srgbClr val="F2EEF5"/>
                    </a:solidFill>
                  </a:tcPr>
                </a:tc>
              </a:tr>
              <a:tr h="251460">
                <a:tc>
                  <a:txBody>
                    <a:bodyPr/>
                    <a:lstStyle/>
                    <a:p>
                      <a:pPr algn="l">
                        <a:lnSpc>
                          <a:spcPct val="102000"/>
                        </a:lnSpc>
                      </a:pPr>
                      <a:r>
                        <a:rPr sz="1050" b="0">
                          <a:solidFill>
                            <a:srgbClr val="252A33"/>
                          </a:solidFill>
                        </a:rPr>
                        <a:t>基准 Y 用模型还是观测</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0">
                          <a:solidFill>
                            <a:srgbClr val="252A33"/>
                          </a:solidFill>
                        </a:rPr>
                        <a:t>同上</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1">
                          <a:solidFill>
                            <a:srgbClr val="1B6B45"/>
                          </a:solidFill>
                        </a:rPr>
                        <a:t>✘ 同上</a:t>
                      </a:r>
                      <a:endParaRPr sz="1050" b="1">
                        <a:solidFill>
                          <a:srgbClr val="1B6B45"/>
                        </a:solidFill>
                      </a:endParaRPr>
                    </a:p>
                  </a:txBody>
                  <a:tcPr marL="45720" marR="45720" marT="9144" marB="9144" anchor="ctr">
                    <a:solidFill>
                      <a:srgbClr val="FFFFFF"/>
                    </a:solidFill>
                  </a:tcPr>
                </a:tc>
              </a:tr>
              <a:tr h="251460">
                <a:tc>
                  <a:txBody>
                    <a:bodyPr/>
                    <a:lstStyle/>
                    <a:p>
                      <a:pPr algn="l">
                        <a:lnSpc>
                          <a:spcPct val="102000"/>
                        </a:lnSpc>
                      </a:pPr>
                      <a:r>
                        <a:rPr sz="1050" b="0">
                          <a:solidFill>
                            <a:srgbClr val="252A33"/>
                          </a:solidFill>
                        </a:rPr>
                        <a:t>γ × λ × σ</a:t>
                      </a:r>
                      <a:endParaRPr sz="1050" b="0">
                        <a:solidFill>
                          <a:srgbClr val="252A33"/>
                        </a:solidFill>
                      </a:endParaRPr>
                    </a:p>
                  </a:txBody>
                  <a:tcPr marL="45720" marR="45720" marT="9144" marB="9144" anchor="ctr">
                    <a:solidFill>
                      <a:srgbClr val="F2EEF5"/>
                    </a:solidFill>
                  </a:tcPr>
                </a:tc>
                <a:tc>
                  <a:txBody>
                    <a:bodyPr/>
                    <a:lstStyle/>
                    <a:p>
                      <a:pPr algn="l">
                        <a:lnSpc>
                          <a:spcPct val="102000"/>
                        </a:lnSpc>
                      </a:pPr>
                      <a:r>
                        <a:rPr sz="1050" b="0">
                          <a:solidFill>
                            <a:srgbClr val="252A33"/>
                          </a:solidFill>
                        </a:rPr>
                        <a:t>48 格（论文自己的范围）</a:t>
                      </a:r>
                      <a:endParaRPr sz="1050" b="0">
                        <a:solidFill>
                          <a:srgbClr val="252A33"/>
                        </a:solidFill>
                      </a:endParaRPr>
                    </a:p>
                  </a:txBody>
                  <a:tcPr marL="45720" marR="45720" marT="9144" marB="9144" anchor="ctr">
                    <a:solidFill>
                      <a:srgbClr val="F2EEF5"/>
                    </a:solidFill>
                  </a:tcPr>
                </a:tc>
                <a:tc>
                  <a:txBody>
                    <a:bodyPr/>
                    <a:lstStyle/>
                    <a:p>
                      <a:pPr algn="l">
                        <a:lnSpc>
                          <a:spcPct val="102000"/>
                        </a:lnSpc>
                      </a:pPr>
                      <a:r>
                        <a:rPr sz="1050" b="1">
                          <a:solidFill>
                            <a:srgbClr val="1B6B45"/>
                          </a:solidFill>
                        </a:rPr>
                        <a:t>✘ 有效范围 0.023–0.031</a:t>
                      </a:r>
                      <a:endParaRPr sz="1050" b="1">
                        <a:solidFill>
                          <a:srgbClr val="1B6B45"/>
                        </a:solidFill>
                      </a:endParaRPr>
                    </a:p>
                  </a:txBody>
                  <a:tcPr marL="45720" marR="45720" marT="9144" marB="9144" anchor="ctr">
                    <a:solidFill>
                      <a:srgbClr val="F2EEF5"/>
                    </a:solidFill>
                  </a:tcPr>
                </a:tc>
              </a:tr>
              <a:tr h="251460">
                <a:tc>
                  <a:txBody>
                    <a:bodyPr/>
                    <a:lstStyle/>
                    <a:p>
                      <a:pPr algn="l">
                        <a:lnSpc>
                          <a:spcPct val="102000"/>
                        </a:lnSpc>
                      </a:pPr>
                      <a:r>
                        <a:rPr sz="1050" b="0">
                          <a:solidFill>
                            <a:srgbClr val="252A33"/>
                          </a:solidFill>
                        </a:rPr>
                        <a:t>θ</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0">
                          <a:solidFill>
                            <a:srgbClr val="252A33"/>
                          </a:solidFill>
                        </a:rPr>
                        <a:t>三套（4.09 / 12.44 / 12.58）</a:t>
                      </a:r>
                      <a:endParaRPr sz="1050" b="0">
                        <a:solidFill>
                          <a:srgbClr val="252A33"/>
                        </a:solidFill>
                      </a:endParaRPr>
                    </a:p>
                  </a:txBody>
                  <a:tcPr marL="45720" marR="45720" marT="9144" marB="9144" anchor="ctr">
                    <a:solidFill>
                      <a:srgbClr val="FFFFFF"/>
                    </a:solidFill>
                  </a:tcPr>
                </a:tc>
                <a:tc>
                  <a:txBody>
                    <a:bodyPr/>
                    <a:lstStyle/>
                    <a:p>
                      <a:pPr algn="l">
                        <a:lnSpc>
                          <a:spcPct val="102000"/>
                        </a:lnSpc>
                      </a:pPr>
                      <a:r>
                        <a:rPr sz="1050" b="1">
                          <a:solidFill>
                            <a:srgbClr val="A63A1E"/>
                          </a:solidFill>
                        </a:rPr>
                        <a:t>⚠ 有影响，已被四条证据钉住</a:t>
                      </a:r>
                      <a:endParaRPr sz="1050" b="1">
                        <a:solidFill>
                          <a:srgbClr val="A63A1E"/>
                        </a:solidFill>
                      </a:endParaRPr>
                    </a:p>
                  </a:txBody>
                  <a:tcPr marL="45720" marR="45720" marT="9144" marB="9144" anchor="ctr">
                    <a:solidFill>
                      <a:srgbClr val="FFFFFF"/>
                    </a:solidFill>
                  </a:tcPr>
                </a:tc>
              </a:tr>
            </a:tbl>
          </a:graphicData>
        </a:graphic>
      </p:graphicFrame>
      <p:sp>
        <p:nvSpPr>
          <p:cNvPr id="7" name="TextBox 6"/>
          <p:cNvSpPr txBox="1"/>
          <p:nvPr/>
        </p:nvSpPr>
        <p:spPr>
          <a:xfrm>
            <a:off x="1929384" y="416052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剩下的只有数据范围</a:t>
            </a:r>
            <a:endParaRPr sz="2200" b="1">
              <a:solidFill>
                <a:srgbClr val="642366"/>
              </a:solidFill>
            </a:endParaRPr>
          </a:p>
        </p:txBody>
      </p:sp>
      <p:sp>
        <p:nvSpPr>
          <p:cNvPr id="8" name="TextBox 7"/>
          <p:cNvSpPr txBox="1"/>
          <p:nvPr/>
        </p:nvSpPr>
        <p:spPr>
          <a:xfrm>
            <a:off x="2029968" y="4526280"/>
            <a:ext cx="9601200" cy="1645920"/>
          </a:xfrm>
          <a:prstGeom prst="rect">
            <a:avLst/>
          </a:prstGeom>
          <a:noFill/>
        </p:spPr>
        <p:txBody>
          <a:bodyPr wrap="square" lIns="0" tIns="0" rIns="0" bIns="0">
            <a:spAutoFit/>
          </a:bodyPr>
          <a:lstStyle/>
          <a:p>
            <a:pPr algn="l">
              <a:lnSpc>
                <a:spcPct val="102000"/>
              </a:lnSpc>
              <a:spcAft>
                <a:spcPts val="300"/>
              </a:spcAft>
            </a:pPr>
            <a:r>
              <a:rPr sz="1350" b="1">
                <a:solidFill>
                  <a:srgbClr val="252A33"/>
                </a:solidFill>
              </a:rPr>
              <a:t>差(2) 在约 80 个变体里的下限是 0.016，从来不到 0.001。</a:t>
            </a:r>
            <a:endParaRPr sz="1350" b="1">
              <a:solidFill>
                <a:srgbClr val="252A33"/>
              </a:solidFill>
            </a:endParaRPr>
          </a:p>
          <a:p>
            <a:pPr algn="l">
              <a:lnSpc>
                <a:spcPct val="102000"/>
              </a:lnSpc>
              <a:spcAft>
                <a:spcPts val="300"/>
              </a:spcAft>
            </a:pPr>
            <a:r>
              <a:rPr sz="1350" b="1">
                <a:solidFill>
                  <a:srgbClr val="A63A1E"/>
                </a:solidFill>
              </a:rPr>
              <a:t>⇒ 那 0.027 是本复现数据配置的【结构性属性】，不是任何一个建模选择或参数选择造成的。</a:t>
            </a:r>
            <a:endParaRPr sz="1350" b="1">
              <a:solidFill>
                <a:srgbClr val="A63A1E"/>
              </a:solidFill>
            </a:endParaRPr>
          </a:p>
          <a:p>
            <a:pPr algn="l">
              <a:lnSpc>
                <a:spcPct val="102000"/>
              </a:lnSpc>
              <a:spcAft>
                <a:spcPts val="300"/>
              </a:spcAft>
            </a:pPr>
            <a:r>
              <a:rPr sz="1300" b="0">
                <a:solidFill>
                  <a:srgbClr val="606670"/>
                </a:solidFill>
              </a:rPr>
              <a:t>剩余无法检验的解释：样本范围 —— 只有 17 个省（论文 25 个）、只有 1995 一年（论文三年）、208 个格子，且 64 格 τ 靠固定效应插值（论文用距离口径）。</a:t>
            </a:r>
            <a:endParaRPr sz="1300" b="0">
              <a:solidFill>
                <a:srgbClr val="606670"/>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数据来源（Stata）：table5_nosel_test / alpha_diag / qo_diag / pi_diag / ge_grid 五个 log 汇总。</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493779" y="254466"/>
            <a:ext cx="8294008" cy="720428"/>
          </a:xfrm>
        </p:spPr>
        <p:txBody>
          <a:bodyPr/>
          <a:lstStyle/>
          <a:p>
            <a:pPr>
              <a:lnSpc>
                <a:spcPct val="100000"/>
              </a:lnSpc>
            </a:pPr>
            <a:r>
              <a:rPr lang="en-US" altLang="zh-CN" sz="2600" b="1" dirty="0">
                <a:solidFill>
                  <a:srgbClr val="642366"/>
                </a:solidFill>
              </a:rPr>
              <a:t>table5：复现边界与结论</a:t>
            </a:r>
            <a:endParaRPr lang="zh-CN" altLang="en-US" dirty="0"/>
          </a:p>
        </p:txBody>
      </p:sp>
      <p:sp>
        <p:nvSpPr>
          <p:cNvPr id="3" name="文本框 2"/>
          <p:cNvSpPr txBox="1"/>
          <p:nvPr/>
        </p:nvSpPr>
        <p:spPr>
          <a:xfrm>
            <a:off x="1961515" y="365125"/>
            <a:ext cx="531495" cy="368300"/>
          </a:xfrm>
          <a:prstGeom prst="rect">
            <a:avLst/>
          </a:prstGeom>
          <a:noFill/>
        </p:spPr>
        <p:txBody>
          <a:bodyPr wrap="square" rtlCol="0">
            <a:spAutoFit/>
          </a:bodyPr>
          <a:lstStyle/>
          <a:p>
            <a:r>
              <a:rPr lang="en-US" altLang="zh-CN" b="1" dirty="0">
                <a:solidFill>
                  <a:schemeClr val="bg1"/>
                </a:solidFill>
              </a:rPr>
              <a:t>5.5</a:t>
            </a:r>
            <a:endParaRPr lang="zh-CN" altLang="en-US" b="1" dirty="0">
              <a:solidFill>
                <a:schemeClr val="bg1"/>
              </a:solidFill>
            </a:endParaRPr>
          </a:p>
        </p:txBody>
      </p:sp>
      <p:sp>
        <p:nvSpPr>
          <p:cNvPr id="5" name="TextBox 4"/>
          <p:cNvSpPr txBox="1"/>
          <p:nvPr/>
        </p:nvSpPr>
        <p:spPr>
          <a:xfrm>
            <a:off x="1929384" y="1051560"/>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复现到什么程度</a:t>
            </a:r>
            <a:endParaRPr sz="2200" b="1">
              <a:solidFill>
                <a:srgbClr val="642366"/>
              </a:solidFill>
            </a:endParaRPr>
          </a:p>
        </p:txBody>
      </p:sp>
      <p:sp>
        <p:nvSpPr>
          <p:cNvPr id="6" name="TextBox 5"/>
          <p:cNvSpPr txBox="1"/>
          <p:nvPr/>
        </p:nvSpPr>
        <p:spPr>
          <a:xfrm>
            <a:off x="2029968" y="1435608"/>
            <a:ext cx="9601200" cy="2331720"/>
          </a:xfrm>
          <a:prstGeom prst="rect">
            <a:avLst/>
          </a:prstGeom>
          <a:noFill/>
        </p:spPr>
        <p:txBody>
          <a:bodyPr wrap="square" lIns="0" tIns="0" rIns="0" bIns="0">
            <a:spAutoFit/>
          </a:bodyPr>
          <a:lstStyle/>
          <a:p>
            <a:pPr algn="l">
              <a:lnSpc>
                <a:spcPct val="102000"/>
              </a:lnSpc>
              <a:spcAft>
                <a:spcPts val="300"/>
              </a:spcAft>
            </a:pPr>
            <a:r>
              <a:rPr sz="1400" b="1">
                <a:solidFill>
                  <a:srgbClr val="1B6B45"/>
                </a:solidFill>
              </a:rPr>
              <a:t>✔ 求解器完成、跑通：17×16 非对称体系，三套 θ 全部收敛，校准自检误差 1.33e−15。</a:t>
            </a:r>
            <a:endParaRPr sz="1400" b="1">
              <a:solidFill>
                <a:srgbClr val="1B6B45"/>
              </a:solidFill>
            </a:endParaRPr>
          </a:p>
          <a:p>
            <a:pPr algn="l">
              <a:lnSpc>
                <a:spcPct val="102000"/>
              </a:lnSpc>
              <a:spcAft>
                <a:spcPts val="300"/>
              </a:spcAft>
            </a:pPr>
            <a:r>
              <a:rPr sz="1400" b="1">
                <a:solidFill>
                  <a:srgbClr val="1B6B45"/>
                </a:solidFill>
              </a:rPr>
              <a:t>✔ 三个定性结论全部复现：符号翻转（三套 θ 一次都没翻）、列(3) 低估（50.6% vs 38.7%）、列(2) 与选择基本无关。</a:t>
            </a:r>
            <a:endParaRPr sz="1400" b="1">
              <a:solidFill>
                <a:srgbClr val="1B6B45"/>
              </a:solidFill>
            </a:endParaRPr>
          </a:p>
          <a:p>
            <a:pPr algn="l">
              <a:lnSpc>
                <a:spcPct val="102000"/>
              </a:lnSpc>
              <a:spcAft>
                <a:spcPts val="300"/>
              </a:spcAft>
            </a:pPr>
            <a:r>
              <a:rPr sz="1400" b="1">
                <a:solidFill>
                  <a:srgbClr val="1B6B45"/>
                </a:solidFill>
              </a:rPr>
              <a:t>✔ 论文头条结论复现到 4% 以内：列(1) 选择效应 0.1544 vs 0.161，且在 γ 全范围（0–0.08）稳定在 0.1436–0.1599。</a:t>
            </a:r>
            <a:endParaRPr sz="1400" b="1">
              <a:solidFill>
                <a:srgbClr val="1B6B45"/>
              </a:solidFill>
            </a:endParaRPr>
          </a:p>
          <a:p>
            <a:pPr algn="l">
              <a:lnSpc>
                <a:spcPct val="102000"/>
              </a:lnSpc>
              <a:spcAft>
                <a:spcPts val="300"/>
              </a:spcAft>
            </a:pPr>
            <a:r>
              <a:rPr sz="1400" b="1">
                <a:solidFill>
                  <a:srgbClr val="1B6B45"/>
                </a:solidFill>
              </a:rPr>
              <a:t>✔ θ ≈ 12.5 由四条独立证据支持。</a:t>
            </a:r>
            <a:endParaRPr sz="1400" b="1">
              <a:solidFill>
                <a:srgbClr val="1B6B45"/>
              </a:solidFill>
            </a:endParaRPr>
          </a:p>
          <a:p>
            <a:pPr algn="l">
              <a:lnSpc>
                <a:spcPct val="102000"/>
              </a:lnSpc>
              <a:spcAft>
                <a:spcPts val="300"/>
              </a:spcAft>
            </a:pPr>
            <a:r>
              <a:rPr sz="1400" b="1">
                <a:solidFill>
                  <a:srgbClr val="A63A1E"/>
                </a:solidFill>
              </a:rPr>
              <a:t>✘ 唯一对不上：列(2) 的差 0.0271 vs ≤0.001 —— 经约 80 个变体系统排查后归因于样本覆盖范围，而非模型或参数。</a:t>
            </a:r>
            <a:endParaRPr sz="1400" b="1">
              <a:solidFill>
                <a:srgbClr val="A63A1E"/>
              </a:solidFill>
            </a:endParaRPr>
          </a:p>
        </p:txBody>
      </p:sp>
      <p:sp>
        <p:nvSpPr>
          <p:cNvPr id="7" name="TextBox 6"/>
          <p:cNvSpPr txBox="1"/>
          <p:nvPr/>
        </p:nvSpPr>
        <p:spPr>
          <a:xfrm>
            <a:off x="1929384" y="3977639"/>
            <a:ext cx="9692640" cy="384048"/>
          </a:xfrm>
          <a:prstGeom prst="rect">
            <a:avLst/>
          </a:prstGeom>
          <a:noFill/>
        </p:spPr>
        <p:txBody>
          <a:bodyPr wrap="square" lIns="0" tIns="0" rIns="0" bIns="0">
            <a:spAutoFit/>
          </a:bodyPr>
          <a:lstStyle/>
          <a:p>
            <a:pPr algn="l">
              <a:lnSpc>
                <a:spcPct val="102000"/>
              </a:lnSpc>
              <a:spcAft>
                <a:spcPts val="300"/>
              </a:spcAft>
            </a:pPr>
            <a:r>
              <a:rPr sz="2200" b="1">
                <a:solidFill>
                  <a:srgbClr val="642366"/>
                </a:solidFill>
              </a:rPr>
              <a:t>复现边界（都是数据可得性，不是方法问题）</a:t>
            </a:r>
            <a:endParaRPr sz="2200" b="1">
              <a:solidFill>
                <a:srgbClr val="642366"/>
              </a:solidFill>
            </a:endParaRPr>
          </a:p>
        </p:txBody>
      </p:sp>
      <p:sp>
        <p:nvSpPr>
          <p:cNvPr id="8" name="TextBox 7"/>
          <p:cNvSpPr txBox="1"/>
          <p:nvPr/>
        </p:nvSpPr>
        <p:spPr>
          <a:xfrm>
            <a:off x="2029968" y="4343400"/>
            <a:ext cx="9601200" cy="1920240"/>
          </a:xfrm>
          <a:prstGeom prst="rect">
            <a:avLst/>
          </a:prstGeom>
          <a:noFill/>
        </p:spPr>
        <p:txBody>
          <a:bodyPr wrap="square" lIns="0" tIns="0" rIns="0" bIns="0">
            <a:spAutoFit/>
          </a:bodyPr>
          <a:lstStyle/>
          <a:p>
            <a:pPr algn="l">
              <a:lnSpc>
                <a:spcPct val="102000"/>
              </a:lnSpc>
              <a:spcAft>
                <a:spcPts val="300"/>
              </a:spcAft>
            </a:pPr>
            <a:r>
              <a:rPr sz="1300" b="0">
                <a:solidFill>
                  <a:srgbClr val="252A33"/>
                </a:solidFill>
              </a:rPr>
              <a:t>地理：IPUMS 印尼 1995 只覆盖 17 个省 / 221 个县（缺加里曼丹、苏拉威西、马鲁古、巴布亚），加权人口覆盖 86%。</a:t>
            </a:r>
            <a:endParaRPr sz="1300" b="0">
              <a:solidFill>
                <a:srgbClr val="252A33"/>
              </a:solidFill>
            </a:endParaRPr>
          </a:p>
          <a:p>
            <a:pPr algn="l">
              <a:lnSpc>
                <a:spcPct val="102000"/>
              </a:lnSpc>
              <a:spcAft>
                <a:spcPts val="300"/>
              </a:spcAft>
            </a:pPr>
            <a:r>
              <a:rPr sz="1300" b="0">
                <a:solidFill>
                  <a:srgbClr val="252A33"/>
                </a:solidFill>
              </a:rPr>
              <a:t>时间：只有 1995 一年（论文还有 2011 / 2012）。τ：64/272 格没有观测流量，用出发地×目的地固定效应插值。</a:t>
            </a:r>
            <a:endParaRPr sz="1300" b="0">
              <a:solidFill>
                <a:srgbClr val="252A33"/>
              </a:solidFill>
            </a:endParaRPr>
          </a:p>
          <a:p>
            <a:pPr algn="l">
              <a:lnSpc>
                <a:spcPct val="102000"/>
              </a:lnSpc>
              <a:spcAft>
                <a:spcPts val="300"/>
              </a:spcAft>
            </a:pPr>
            <a:r>
              <a:rPr sz="1300" b="0">
                <a:solidFill>
                  <a:srgbClr val="252A33"/>
                </a:solidFill>
              </a:rPr>
              <a:t>未做：分省异质性（论文报 −18% ~ +68%）、部分削减的反事实（Figure 7/8/9 的 k &lt; 1 曲线）、完整 γ×λ×σ 网格（σ = 4 区域求解器不收敛）。</a:t>
            </a:r>
            <a:endParaRPr sz="1300" b="0">
              <a:solidFill>
                <a:srgbClr val="252A33"/>
              </a:solidFill>
            </a:endParaRPr>
          </a:p>
          <a:p>
            <a:pPr algn="l">
              <a:lnSpc>
                <a:spcPct val="102000"/>
              </a:lnSpc>
              <a:spcAft>
                <a:spcPts val="300"/>
              </a:spcAft>
            </a:pPr>
            <a:r>
              <a:rPr sz="1350" b="1">
                <a:solidFill>
                  <a:srgbClr val="606670"/>
                </a:solidFill>
              </a:rPr>
              <a:t>⭐ 全部数值均由 Stata 估计得到，可复现（6 个 do 文件 + 6 个 log）。</a:t>
            </a:r>
            <a:endParaRPr sz="1350" b="1">
              <a:solidFill>
                <a:srgbClr val="606670"/>
              </a:solidFill>
            </a:endParaRPr>
          </a:p>
        </p:txBody>
      </p:sp>
      <p:sp>
        <p:nvSpPr>
          <p:cNvPr id="9" name="TextBox 8"/>
          <p:cNvSpPr txBox="1"/>
          <p:nvPr/>
        </p:nvSpPr>
        <p:spPr>
          <a:xfrm>
            <a:off x="2029968" y="6272784"/>
            <a:ext cx="9601200" cy="365760"/>
          </a:xfrm>
          <a:prstGeom prst="rect">
            <a:avLst/>
          </a:prstGeom>
          <a:noFill/>
        </p:spPr>
        <p:txBody>
          <a:bodyPr wrap="square" lIns="0" tIns="0" rIns="0" bIns="0">
            <a:spAutoFit/>
          </a:bodyPr>
          <a:lstStyle/>
          <a:p>
            <a:pPr algn="l">
              <a:lnSpc>
                <a:spcPct val="102000"/>
              </a:lnSpc>
              <a:spcAft>
                <a:spcPts val="300"/>
              </a:spcAft>
            </a:pPr>
            <a:r>
              <a:rPr sz="1300" b="0">
                <a:solidFill>
                  <a:srgbClr val="606670"/>
                </a:solidFill>
              </a:rPr>
              <a:t>数据来源（Stata）：table5_counterfactual 等六个 do 文件及各自 log。</a:t>
            </a:r>
            <a:endParaRPr sz="1300" b="0">
              <a:solidFill>
                <a:srgbClr val="60667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5" name="标题 4"/>
          <p:cNvSpPr>
            <a:spLocks noGrp="1"/>
          </p:cNvSpPr>
          <p:nvPr>
            <p:ph type="title"/>
          </p:nvPr>
        </p:nvSpPr>
        <p:spPr/>
        <p:txBody>
          <a:bodyPr/>
          <a:p>
            <a:r>
              <a:rPr lang="zh-CN" altLang="en-US"/>
              <a:t>研究</a:t>
            </a:r>
            <a:r>
              <a:rPr lang="zh-CN" altLang="en-US"/>
              <a:t>结论</a:t>
            </a:r>
            <a:endParaRPr lang="zh-CN" altLang="en-US"/>
          </a:p>
        </p:txBody>
      </p:sp>
      <p:grpSp>
        <p:nvGrpSpPr>
          <p:cNvPr id="54" name="组合 53"/>
          <p:cNvGrpSpPr/>
          <p:nvPr/>
        </p:nvGrpSpPr>
        <p:grpSpPr>
          <a:xfrm>
            <a:off x="1911350" y="1207135"/>
            <a:ext cx="9418320" cy="5293995"/>
            <a:chOff x="3010" y="1901"/>
            <a:chExt cx="14832" cy="8337"/>
          </a:xfrm>
        </p:grpSpPr>
        <p:sp>
          <p:nvSpPr>
            <p:cNvPr id="26" name="Rounded Rectangle 25"/>
            <p:cNvSpPr/>
            <p:nvPr/>
          </p:nvSpPr>
          <p:spPr>
            <a:xfrm>
              <a:off x="3010" y="1901"/>
              <a:ext cx="7243" cy="3686"/>
            </a:xfrm>
            <a:prstGeom prst="roundRect">
              <a:avLst>
                <a:gd name="adj" fmla="val 7000"/>
              </a:avLst>
            </a:prstGeom>
            <a:noFill/>
            <a:ln w="13970">
              <a:solidFill>
                <a:srgbClr val="780F4B"/>
              </a:solidFill>
            </a:ln>
            <a:extLst>
              <a:ext uri="{909E8E84-426E-40DD-AFC4-6F175D3DCCD1}">
                <a14:hiddenFill xmlns:a14="http://schemas.microsoft.com/office/drawing/2010/main">
                  <a:solidFill>
                    <a:srgbClr val="0E0C11"/>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341" y="2218"/>
              <a:ext cx="677" cy="677"/>
            </a:xfrm>
            <a:prstGeom prst="roundRect">
              <a:avLst>
                <a:gd name="adj" fmla="val 7000"/>
              </a:avLst>
            </a:prstGeom>
            <a:solidFill>
              <a:srgbClr val="642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642366"/>
                </a:solidFill>
              </a:endParaRPr>
            </a:p>
          </p:txBody>
        </p:sp>
        <p:sp>
          <p:nvSpPr>
            <p:cNvPr id="28" name="TextBox 27"/>
            <p:cNvSpPr txBox="1"/>
            <p:nvPr/>
          </p:nvSpPr>
          <p:spPr>
            <a:xfrm>
              <a:off x="3370" y="2275"/>
              <a:ext cx="619" cy="504"/>
            </a:xfrm>
            <a:prstGeom prst="rect">
              <a:avLst/>
            </a:prstGeom>
            <a:noFill/>
          </p:spPr>
          <p:txBody>
            <a:bodyPr wrap="square" lIns="18288" tIns="13716" rIns="18288">
              <a:spAutoFit/>
            </a:bodyPr>
            <a:lstStyle/>
            <a:p>
              <a:pPr algn="ctr">
                <a:spcAft>
                  <a:spcPts val="0"/>
                </a:spcAft>
              </a:pPr>
              <a:r>
                <a:rPr sz="1800" b="1">
                  <a:solidFill>
                    <a:schemeClr val="bg1"/>
                  </a:solidFill>
                  <a:latin typeface="Georgia" panose="02040502050405090303"/>
                </a:rPr>
                <a:t>1</a:t>
              </a:r>
              <a:endParaRPr sz="1800" b="1">
                <a:solidFill>
                  <a:schemeClr val="bg1"/>
                </a:solidFill>
                <a:latin typeface="Georgia" panose="02040502050405090303"/>
              </a:endParaRPr>
            </a:p>
          </p:txBody>
        </p:sp>
        <p:sp>
          <p:nvSpPr>
            <p:cNvPr id="29" name="TextBox 28"/>
            <p:cNvSpPr txBox="1"/>
            <p:nvPr/>
          </p:nvSpPr>
          <p:spPr>
            <a:xfrm>
              <a:off x="4176" y="2275"/>
              <a:ext cx="5472" cy="605"/>
            </a:xfrm>
            <a:prstGeom prst="rect">
              <a:avLst/>
            </a:prstGeom>
            <a:noFill/>
          </p:spPr>
          <p:txBody>
            <a:bodyPr wrap="square" lIns="18288" tIns="13716" rIns="18288">
              <a:spAutoFit/>
            </a:bodyPr>
            <a:lstStyle/>
            <a:p>
              <a:pPr algn="l">
                <a:spcAft>
                  <a:spcPts val="0"/>
                </a:spcAft>
              </a:pPr>
              <a:r>
                <a:rPr sz="2100" b="1">
                  <a:solidFill>
                    <a:srgbClr val="642366"/>
                  </a:solidFill>
                  <a:latin typeface="微软雅黑"/>
                </a:rPr>
                <a:t>研究动机与方法</a:t>
              </a:r>
              <a:endParaRPr sz="2100" b="1">
                <a:solidFill>
                  <a:srgbClr val="642366"/>
                </a:solidFill>
                <a:latin typeface="微软雅黑"/>
              </a:endParaRPr>
            </a:p>
          </p:txBody>
        </p:sp>
        <p:sp>
          <p:nvSpPr>
            <p:cNvPr id="30" name="TextBox 29"/>
            <p:cNvSpPr txBox="1"/>
            <p:nvPr/>
          </p:nvSpPr>
          <p:spPr>
            <a:xfrm>
              <a:off x="3398" y="2995"/>
              <a:ext cx="6538" cy="737"/>
            </a:xfrm>
            <a:prstGeom prst="rect">
              <a:avLst/>
            </a:prstGeom>
            <a:noFill/>
          </p:spPr>
          <p:txBody>
            <a:bodyPr wrap="square" lIns="18288" tIns="13716" rIns="18288">
              <a:spAutoFit/>
            </a:bodyPr>
            <a:lstStyle/>
            <a:p>
              <a:pPr algn="l">
                <a:spcAft>
                  <a:spcPts val="0"/>
                </a:spcAft>
              </a:pPr>
              <a:r>
                <a:rPr sz="1330" b="0">
                  <a:solidFill>
                    <a:schemeClr val="tx1"/>
                  </a:solidFill>
                  <a:latin typeface="微软雅黑"/>
                </a:rPr>
                <a:t>• 空间工资差距与实验研究显示：鼓励发展中国家内部迁移，可能带来重要的生产率收益</a:t>
              </a:r>
              <a:endParaRPr sz="1330" b="0">
                <a:solidFill>
                  <a:schemeClr val="tx1"/>
                </a:solidFill>
                <a:latin typeface="微软雅黑"/>
              </a:endParaRPr>
            </a:p>
          </p:txBody>
        </p:sp>
        <p:sp>
          <p:nvSpPr>
            <p:cNvPr id="31" name="TextBox 30"/>
            <p:cNvSpPr txBox="1"/>
            <p:nvPr/>
          </p:nvSpPr>
          <p:spPr>
            <a:xfrm>
              <a:off x="3398" y="3730"/>
              <a:ext cx="6538" cy="1059"/>
            </a:xfrm>
            <a:prstGeom prst="rect">
              <a:avLst/>
            </a:prstGeom>
            <a:noFill/>
          </p:spPr>
          <p:txBody>
            <a:bodyPr wrap="square" lIns="18288" tIns="13716" rIns="18288">
              <a:spAutoFit/>
            </a:bodyPr>
            <a:lstStyle/>
            <a:p>
              <a:pPr algn="l">
                <a:spcAft>
                  <a:spcPts val="0"/>
                </a:spcAft>
              </a:pPr>
              <a:r>
                <a:rPr sz="1330" b="0">
                  <a:solidFill>
                    <a:schemeClr val="tx1"/>
                  </a:solidFill>
                  <a:latin typeface="微软雅黑"/>
                </a:rPr>
                <a:t>• 利用迁移数据识别迁移约束，再结合工资数据分析解除约束后的区位选择和工资变化；同时考虑 Selection 与一般均衡</a:t>
              </a:r>
              <a:endParaRPr sz="1330" b="0">
                <a:solidFill>
                  <a:schemeClr val="tx1"/>
                </a:solidFill>
                <a:latin typeface="微软雅黑"/>
              </a:endParaRPr>
            </a:p>
          </p:txBody>
        </p:sp>
        <p:sp>
          <p:nvSpPr>
            <p:cNvPr id="32" name="Rounded Rectangle 31"/>
            <p:cNvSpPr/>
            <p:nvPr/>
          </p:nvSpPr>
          <p:spPr>
            <a:xfrm>
              <a:off x="10570" y="1901"/>
              <a:ext cx="7243" cy="3686"/>
            </a:xfrm>
            <a:prstGeom prst="roundRect">
              <a:avLst>
                <a:gd name="adj" fmla="val 7000"/>
              </a:avLst>
            </a:prstGeom>
            <a:noFill/>
            <a:ln w="13970">
              <a:solidFill>
                <a:srgbClr val="780F4B"/>
              </a:solidFill>
            </a:ln>
            <a:extLst>
              <a:ext uri="{909E8E84-426E-40DD-AFC4-6F175D3DCCD1}">
                <a14:hiddenFill xmlns:a14="http://schemas.microsoft.com/office/drawing/2010/main">
                  <a:solidFill>
                    <a:srgbClr val="0E0C11"/>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901" y="2218"/>
              <a:ext cx="677" cy="677"/>
            </a:xfrm>
            <a:prstGeom prst="roundRect">
              <a:avLst>
                <a:gd name="adj" fmla="val 7000"/>
              </a:avLst>
            </a:prstGeom>
            <a:solidFill>
              <a:srgbClr val="642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642366"/>
                </a:solidFill>
              </a:endParaRPr>
            </a:p>
          </p:txBody>
        </p:sp>
        <p:sp>
          <p:nvSpPr>
            <p:cNvPr id="34" name="TextBox 33"/>
            <p:cNvSpPr txBox="1"/>
            <p:nvPr/>
          </p:nvSpPr>
          <p:spPr>
            <a:xfrm>
              <a:off x="10930" y="2275"/>
              <a:ext cx="619" cy="504"/>
            </a:xfrm>
            <a:prstGeom prst="rect">
              <a:avLst/>
            </a:prstGeom>
            <a:noFill/>
          </p:spPr>
          <p:txBody>
            <a:bodyPr wrap="square" lIns="18288" tIns="13716" rIns="18288">
              <a:spAutoFit/>
            </a:bodyPr>
            <a:lstStyle/>
            <a:p>
              <a:pPr algn="ctr">
                <a:spcAft>
                  <a:spcPts val="0"/>
                </a:spcAft>
              </a:pPr>
              <a:r>
                <a:rPr sz="1800" b="1">
                  <a:solidFill>
                    <a:schemeClr val="bg1"/>
                  </a:solidFill>
                  <a:latin typeface="Georgia" panose="02040502050405090303"/>
                </a:rPr>
                <a:t>2</a:t>
              </a:r>
              <a:endParaRPr sz="1800" b="1">
                <a:solidFill>
                  <a:schemeClr val="bg1"/>
                </a:solidFill>
                <a:latin typeface="Georgia" panose="02040502050405090303"/>
              </a:endParaRPr>
            </a:p>
          </p:txBody>
        </p:sp>
        <p:sp>
          <p:nvSpPr>
            <p:cNvPr id="35" name="TextBox 34"/>
            <p:cNvSpPr txBox="1"/>
            <p:nvPr/>
          </p:nvSpPr>
          <p:spPr>
            <a:xfrm>
              <a:off x="11789" y="2274"/>
              <a:ext cx="5472" cy="605"/>
            </a:xfrm>
            <a:prstGeom prst="rect">
              <a:avLst/>
            </a:prstGeom>
            <a:noFill/>
          </p:spPr>
          <p:txBody>
            <a:bodyPr wrap="square" lIns="18288" tIns="13716" rIns="18288">
              <a:spAutoFit/>
            </a:bodyPr>
            <a:lstStyle/>
            <a:p>
              <a:pPr algn="l">
                <a:spcAft>
                  <a:spcPts val="0"/>
                </a:spcAft>
              </a:pPr>
              <a:r>
                <a:rPr sz="2100" b="1">
                  <a:solidFill>
                    <a:srgbClr val="642366"/>
                  </a:solidFill>
                  <a:latin typeface="微软雅黑"/>
                </a:rPr>
                <a:t>数据与识别</a:t>
              </a:r>
              <a:endParaRPr sz="2100" b="1">
                <a:solidFill>
                  <a:srgbClr val="642366"/>
                </a:solidFill>
                <a:latin typeface="微软雅黑"/>
              </a:endParaRPr>
            </a:p>
          </p:txBody>
        </p:sp>
        <p:sp>
          <p:nvSpPr>
            <p:cNvPr id="36" name="TextBox 35"/>
            <p:cNvSpPr txBox="1"/>
            <p:nvPr/>
          </p:nvSpPr>
          <p:spPr>
            <a:xfrm>
              <a:off x="10958" y="2995"/>
              <a:ext cx="6538" cy="737"/>
            </a:xfrm>
            <a:prstGeom prst="rect">
              <a:avLst/>
            </a:prstGeom>
            <a:noFill/>
          </p:spPr>
          <p:txBody>
            <a:bodyPr wrap="square" lIns="18288" tIns="13716" rIns="18288">
              <a:spAutoFit/>
            </a:bodyPr>
            <a:lstStyle/>
            <a:p>
              <a:pPr algn="l">
                <a:spcAft>
                  <a:spcPts val="0"/>
                </a:spcAft>
              </a:pPr>
              <a:r>
                <a:rPr sz="1330" b="0">
                  <a:solidFill>
                    <a:schemeClr val="tx1"/>
                  </a:solidFill>
                  <a:latin typeface="微软雅黑"/>
                </a:rPr>
                <a:t>• 印尼独特微观数据同时记录出生地、当前工作地及当前收入</a:t>
              </a:r>
              <a:endParaRPr sz="1330" b="0">
                <a:solidFill>
                  <a:schemeClr val="tx1"/>
                </a:solidFill>
                <a:latin typeface="微软雅黑"/>
              </a:endParaRPr>
            </a:p>
          </p:txBody>
        </p:sp>
        <p:sp>
          <p:nvSpPr>
            <p:cNvPr id="37" name="TextBox 36"/>
            <p:cNvSpPr txBox="1"/>
            <p:nvPr/>
          </p:nvSpPr>
          <p:spPr>
            <a:xfrm>
              <a:off x="10958" y="3730"/>
              <a:ext cx="6538" cy="1059"/>
            </a:xfrm>
            <a:prstGeom prst="rect">
              <a:avLst/>
            </a:prstGeom>
            <a:noFill/>
          </p:spPr>
          <p:txBody>
            <a:bodyPr wrap="square" lIns="18288" tIns="13716" rIns="18288">
              <a:spAutoFit/>
            </a:bodyPr>
            <a:lstStyle/>
            <a:p>
              <a:pPr algn="l">
                <a:spcAft>
                  <a:spcPts val="0"/>
                </a:spcAft>
              </a:pPr>
              <a:r>
                <a:rPr sz="1330" b="0">
                  <a:solidFill>
                    <a:schemeClr val="tx1"/>
                  </a:solidFill>
                  <a:latin typeface="微软雅黑"/>
                </a:rPr>
                <a:t>• 结合结构模型，利用出生地—目的地平均工资与迁移份额的线性回归，识别决定 Sorting 强度的关键分布参数</a:t>
              </a:r>
              <a:endParaRPr sz="1330" b="0">
                <a:solidFill>
                  <a:schemeClr val="tx1"/>
                </a:solidFill>
                <a:latin typeface="微软雅黑"/>
              </a:endParaRPr>
            </a:p>
          </p:txBody>
        </p:sp>
        <p:sp>
          <p:nvSpPr>
            <p:cNvPr id="38" name="Rounded Rectangle 37"/>
            <p:cNvSpPr/>
            <p:nvPr/>
          </p:nvSpPr>
          <p:spPr>
            <a:xfrm>
              <a:off x="3010" y="5803"/>
              <a:ext cx="7243" cy="3384"/>
            </a:xfrm>
            <a:prstGeom prst="roundRect">
              <a:avLst>
                <a:gd name="adj" fmla="val 7000"/>
              </a:avLst>
            </a:prstGeom>
            <a:noFill/>
            <a:ln w="13970">
              <a:solidFill>
                <a:srgbClr val="780F4B"/>
              </a:solidFill>
            </a:ln>
            <a:extLst>
              <a:ext uri="{909E8E84-426E-40DD-AFC4-6F175D3DCCD1}">
                <a14:hiddenFill xmlns:a14="http://schemas.microsoft.com/office/drawing/2010/main">
                  <a:solidFill>
                    <a:srgbClr val="0E0C11"/>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341" y="6120"/>
              <a:ext cx="677" cy="677"/>
            </a:xfrm>
            <a:prstGeom prst="roundRect">
              <a:avLst>
                <a:gd name="adj" fmla="val 7000"/>
              </a:avLst>
            </a:prstGeom>
            <a:solidFill>
              <a:srgbClr val="642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642366"/>
                </a:solidFill>
              </a:endParaRPr>
            </a:p>
          </p:txBody>
        </p:sp>
        <p:sp>
          <p:nvSpPr>
            <p:cNvPr id="40" name="TextBox 39"/>
            <p:cNvSpPr txBox="1"/>
            <p:nvPr/>
          </p:nvSpPr>
          <p:spPr>
            <a:xfrm>
              <a:off x="3370" y="6178"/>
              <a:ext cx="619" cy="504"/>
            </a:xfrm>
            <a:prstGeom prst="rect">
              <a:avLst/>
            </a:prstGeom>
            <a:noFill/>
          </p:spPr>
          <p:txBody>
            <a:bodyPr wrap="square" lIns="18288" tIns="13716" rIns="18288">
              <a:spAutoFit/>
            </a:bodyPr>
            <a:lstStyle/>
            <a:p>
              <a:pPr algn="ctr">
                <a:spcAft>
                  <a:spcPts val="0"/>
                </a:spcAft>
              </a:pPr>
              <a:r>
                <a:rPr sz="1800" b="1">
                  <a:solidFill>
                    <a:schemeClr val="bg1"/>
                  </a:solidFill>
                  <a:latin typeface="Georgia" panose="02040502050405090303"/>
                </a:rPr>
                <a:t>3</a:t>
              </a:r>
              <a:endParaRPr sz="1800" b="1">
                <a:solidFill>
                  <a:schemeClr val="bg1"/>
                </a:solidFill>
                <a:latin typeface="Georgia" panose="02040502050405090303"/>
              </a:endParaRPr>
            </a:p>
          </p:txBody>
        </p:sp>
        <p:sp>
          <p:nvSpPr>
            <p:cNvPr id="41" name="TextBox 40"/>
            <p:cNvSpPr txBox="1"/>
            <p:nvPr/>
          </p:nvSpPr>
          <p:spPr>
            <a:xfrm>
              <a:off x="4176" y="6178"/>
              <a:ext cx="5472" cy="605"/>
            </a:xfrm>
            <a:prstGeom prst="rect">
              <a:avLst/>
            </a:prstGeom>
            <a:noFill/>
          </p:spPr>
          <p:txBody>
            <a:bodyPr wrap="square" lIns="18288" tIns="13716" rIns="18288">
              <a:spAutoFit/>
            </a:bodyPr>
            <a:lstStyle/>
            <a:p>
              <a:pPr algn="l">
                <a:spcAft>
                  <a:spcPts val="0"/>
                </a:spcAft>
              </a:pPr>
              <a:r>
                <a:rPr sz="2100" b="1">
                  <a:solidFill>
                    <a:srgbClr val="642366"/>
                  </a:solidFill>
                  <a:latin typeface="微软雅黑"/>
                </a:rPr>
                <a:t>核心发现</a:t>
              </a:r>
              <a:endParaRPr sz="2100" b="1">
                <a:solidFill>
                  <a:srgbClr val="642366"/>
                </a:solidFill>
                <a:latin typeface="微软雅黑"/>
              </a:endParaRPr>
            </a:p>
          </p:txBody>
        </p:sp>
        <p:sp>
          <p:nvSpPr>
            <p:cNvPr id="42" name="TextBox 41"/>
            <p:cNvSpPr txBox="1"/>
            <p:nvPr/>
          </p:nvSpPr>
          <p:spPr>
            <a:xfrm>
              <a:off x="3398" y="6898"/>
              <a:ext cx="6538" cy="807"/>
            </a:xfrm>
            <a:prstGeom prst="rect">
              <a:avLst/>
            </a:prstGeom>
            <a:noFill/>
          </p:spPr>
          <p:txBody>
            <a:bodyPr wrap="square" lIns="18288" tIns="13716" rIns="18288">
              <a:noAutofit/>
            </a:bodyPr>
            <a:lstStyle/>
            <a:p>
              <a:pPr algn="l">
                <a:spcAft>
                  <a:spcPts val="0"/>
                </a:spcAft>
              </a:pPr>
              <a:r>
                <a:rPr sz="1290" b="0">
                  <a:solidFill>
                    <a:schemeClr val="tx1"/>
                  </a:solidFill>
                  <a:latin typeface="微软雅黑"/>
                </a:rPr>
                <a:t>• 全国总体产出增益约为 20%，但不同地区的收益高度异质；部分迁移约束较强地区可超过 100%</a:t>
              </a:r>
              <a:endParaRPr sz="1290" b="0">
                <a:solidFill>
                  <a:schemeClr val="tx1"/>
                </a:solidFill>
                <a:latin typeface="微软雅黑"/>
              </a:endParaRPr>
            </a:p>
          </p:txBody>
        </p:sp>
        <p:sp>
          <p:nvSpPr>
            <p:cNvPr id="43" name="TextBox 42"/>
            <p:cNvSpPr txBox="1"/>
            <p:nvPr/>
          </p:nvSpPr>
          <p:spPr>
            <a:xfrm>
              <a:off x="3398" y="7705"/>
              <a:ext cx="6538" cy="405"/>
            </a:xfrm>
            <a:prstGeom prst="rect">
              <a:avLst/>
            </a:prstGeom>
            <a:noFill/>
          </p:spPr>
          <p:txBody>
            <a:bodyPr wrap="square" lIns="18288" tIns="13716" rIns="18288">
              <a:spAutoFit/>
            </a:bodyPr>
            <a:lstStyle/>
            <a:p>
              <a:pPr algn="l">
                <a:spcAft>
                  <a:spcPts val="0"/>
                </a:spcAft>
              </a:pPr>
              <a:r>
                <a:rPr sz="1290" b="0">
                  <a:solidFill>
                    <a:schemeClr val="tx1"/>
                  </a:solidFill>
                  <a:latin typeface="微软雅黑"/>
                </a:rPr>
                <a:t>• 忽略 Selection 会低估迁移收益</a:t>
              </a:r>
              <a:endParaRPr sz="1290" b="0">
                <a:solidFill>
                  <a:schemeClr val="tx1"/>
                </a:solidFill>
                <a:latin typeface="微软雅黑"/>
              </a:endParaRPr>
            </a:p>
          </p:txBody>
        </p:sp>
        <p:sp>
          <p:nvSpPr>
            <p:cNvPr id="44" name="TextBox 43"/>
            <p:cNvSpPr txBox="1"/>
            <p:nvPr/>
          </p:nvSpPr>
          <p:spPr>
            <a:xfrm>
              <a:off x="3398" y="8352"/>
              <a:ext cx="6538" cy="717"/>
            </a:xfrm>
            <a:prstGeom prst="rect">
              <a:avLst/>
            </a:prstGeom>
            <a:noFill/>
          </p:spPr>
          <p:txBody>
            <a:bodyPr wrap="square" lIns="18288" tIns="13716" rIns="18288">
              <a:spAutoFit/>
            </a:bodyPr>
            <a:lstStyle/>
            <a:p>
              <a:pPr algn="l">
                <a:spcAft>
                  <a:spcPts val="0"/>
                </a:spcAft>
              </a:pPr>
              <a:r>
                <a:rPr sz="1290" b="0">
                  <a:solidFill>
                    <a:schemeClr val="tx1"/>
                  </a:solidFill>
                  <a:latin typeface="微软雅黑"/>
                </a:rPr>
                <a:t>• Selection 降低单纯集聚的收益，但改善 Sorting 的收益更大，且占主导</a:t>
              </a:r>
              <a:endParaRPr sz="1290" b="0">
                <a:solidFill>
                  <a:schemeClr val="tx1"/>
                </a:solidFill>
                <a:latin typeface="微软雅黑"/>
              </a:endParaRPr>
            </a:p>
          </p:txBody>
        </p:sp>
        <p:sp>
          <p:nvSpPr>
            <p:cNvPr id="45" name="Rounded Rectangle 44"/>
            <p:cNvSpPr/>
            <p:nvPr/>
          </p:nvSpPr>
          <p:spPr>
            <a:xfrm>
              <a:off x="10570" y="5803"/>
              <a:ext cx="7243" cy="3384"/>
            </a:xfrm>
            <a:prstGeom prst="roundRect">
              <a:avLst>
                <a:gd name="adj" fmla="val 7000"/>
              </a:avLst>
            </a:prstGeom>
            <a:noFill/>
            <a:ln w="13970">
              <a:solidFill>
                <a:srgbClr val="780F4B"/>
              </a:solidFill>
            </a:ln>
            <a:extLst>
              <a:ext uri="{909E8E84-426E-40DD-AFC4-6F175D3DCCD1}">
                <a14:hiddenFill xmlns:a14="http://schemas.microsoft.com/office/drawing/2010/main">
                  <a:solidFill>
                    <a:srgbClr val="0E0C11"/>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901" y="6120"/>
              <a:ext cx="677" cy="677"/>
            </a:xfrm>
            <a:prstGeom prst="roundRect">
              <a:avLst>
                <a:gd name="adj" fmla="val 7000"/>
              </a:avLst>
            </a:prstGeom>
            <a:solidFill>
              <a:srgbClr val="642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642366"/>
                </a:solidFill>
              </a:endParaRPr>
            </a:p>
          </p:txBody>
        </p:sp>
        <p:sp>
          <p:nvSpPr>
            <p:cNvPr id="47" name="TextBox 46"/>
            <p:cNvSpPr txBox="1"/>
            <p:nvPr/>
          </p:nvSpPr>
          <p:spPr>
            <a:xfrm>
              <a:off x="10930" y="6178"/>
              <a:ext cx="619" cy="504"/>
            </a:xfrm>
            <a:prstGeom prst="rect">
              <a:avLst/>
            </a:prstGeom>
            <a:noFill/>
          </p:spPr>
          <p:txBody>
            <a:bodyPr wrap="square" lIns="18288" tIns="13716" rIns="18288">
              <a:spAutoFit/>
            </a:bodyPr>
            <a:lstStyle/>
            <a:p>
              <a:pPr algn="ctr">
                <a:spcAft>
                  <a:spcPts val="0"/>
                </a:spcAft>
              </a:pPr>
              <a:r>
                <a:rPr sz="1800" b="1">
                  <a:solidFill>
                    <a:schemeClr val="bg1"/>
                  </a:solidFill>
                  <a:latin typeface="Georgia" panose="02040502050405090303"/>
                </a:rPr>
                <a:t>4</a:t>
              </a:r>
              <a:endParaRPr sz="1800" b="1">
                <a:solidFill>
                  <a:schemeClr val="bg1"/>
                </a:solidFill>
                <a:latin typeface="Georgia" panose="02040502050405090303"/>
              </a:endParaRPr>
            </a:p>
          </p:txBody>
        </p:sp>
        <p:sp>
          <p:nvSpPr>
            <p:cNvPr id="48" name="TextBox 47"/>
            <p:cNvSpPr txBox="1"/>
            <p:nvPr/>
          </p:nvSpPr>
          <p:spPr>
            <a:xfrm>
              <a:off x="11789" y="6178"/>
              <a:ext cx="5472" cy="605"/>
            </a:xfrm>
            <a:prstGeom prst="rect">
              <a:avLst/>
            </a:prstGeom>
            <a:noFill/>
          </p:spPr>
          <p:txBody>
            <a:bodyPr wrap="square" lIns="18288" tIns="13716" rIns="18288">
              <a:spAutoFit/>
            </a:bodyPr>
            <a:lstStyle/>
            <a:p>
              <a:pPr algn="l">
                <a:spcAft>
                  <a:spcPts val="0"/>
                </a:spcAft>
              </a:pPr>
              <a:r>
                <a:rPr sz="2100" b="1">
                  <a:solidFill>
                    <a:srgbClr val="642366"/>
                  </a:solidFill>
                  <a:latin typeface="微软雅黑"/>
                </a:rPr>
                <a:t>未来研究</a:t>
              </a:r>
              <a:endParaRPr sz="2100" b="1">
                <a:solidFill>
                  <a:srgbClr val="642366"/>
                </a:solidFill>
                <a:latin typeface="微软雅黑"/>
              </a:endParaRPr>
            </a:p>
          </p:txBody>
        </p:sp>
        <p:sp>
          <p:nvSpPr>
            <p:cNvPr id="49" name="TextBox 48"/>
            <p:cNvSpPr txBox="1"/>
            <p:nvPr/>
          </p:nvSpPr>
          <p:spPr>
            <a:xfrm>
              <a:off x="10958" y="6898"/>
              <a:ext cx="6538" cy="737"/>
            </a:xfrm>
            <a:prstGeom prst="rect">
              <a:avLst/>
            </a:prstGeom>
            <a:noFill/>
          </p:spPr>
          <p:txBody>
            <a:bodyPr wrap="square" lIns="18288" tIns="13716" rIns="18288">
              <a:spAutoFit/>
            </a:bodyPr>
            <a:lstStyle/>
            <a:p>
              <a:pPr algn="l">
                <a:spcAft>
                  <a:spcPts val="0"/>
                </a:spcAft>
              </a:pPr>
              <a:r>
                <a:rPr sz="1330" b="0">
                  <a:solidFill>
                    <a:schemeClr val="tx1"/>
                  </a:solidFill>
                  <a:latin typeface="微软雅黑"/>
                </a:rPr>
                <a:t>• 进一步分析鼓励迁移的动态与宏观经济影响，以及迁移促进生产率增长的具体机制</a:t>
              </a:r>
              <a:endParaRPr sz="1330" b="0">
                <a:solidFill>
                  <a:schemeClr val="tx1"/>
                </a:solidFill>
                <a:latin typeface="微软雅黑"/>
              </a:endParaRPr>
            </a:p>
          </p:txBody>
        </p:sp>
        <p:sp>
          <p:nvSpPr>
            <p:cNvPr id="50" name="TextBox 49"/>
            <p:cNvSpPr txBox="1"/>
            <p:nvPr/>
          </p:nvSpPr>
          <p:spPr>
            <a:xfrm>
              <a:off x="10958" y="7632"/>
              <a:ext cx="6538" cy="737"/>
            </a:xfrm>
            <a:prstGeom prst="rect">
              <a:avLst/>
            </a:prstGeom>
            <a:noFill/>
          </p:spPr>
          <p:txBody>
            <a:bodyPr wrap="square" lIns="18288" tIns="13716" rIns="18288">
              <a:spAutoFit/>
            </a:bodyPr>
            <a:lstStyle/>
            <a:p>
              <a:pPr algn="l">
                <a:spcAft>
                  <a:spcPts val="0"/>
                </a:spcAft>
              </a:pPr>
              <a:r>
                <a:rPr sz="1330" b="0">
                  <a:solidFill>
                    <a:schemeClr val="tx1"/>
                  </a:solidFill>
                  <a:latin typeface="微软雅黑"/>
                </a:rPr>
                <a:t>• 通过更多微观实验研究识别内部迁移者的 Selection，以及比较优势机制的强度</a:t>
              </a:r>
              <a:endParaRPr sz="1330" b="0">
                <a:solidFill>
                  <a:schemeClr val="tx1"/>
                </a:solidFill>
                <a:latin typeface="微软雅黑"/>
              </a:endParaRPr>
            </a:p>
          </p:txBody>
        </p:sp>
        <p:sp>
          <p:nvSpPr>
            <p:cNvPr id="51" name="Rounded Rectangle 50"/>
            <p:cNvSpPr/>
            <p:nvPr/>
          </p:nvSpPr>
          <p:spPr>
            <a:xfrm>
              <a:off x="3010" y="9432"/>
              <a:ext cx="14832" cy="806"/>
            </a:xfrm>
            <a:prstGeom prst="roundRect">
              <a:avLst>
                <a:gd name="adj" fmla="val 7000"/>
              </a:avLst>
            </a:prstGeom>
            <a:solidFill>
              <a:srgbClr val="2E0E30"/>
            </a:solidFill>
            <a:ln w="13970">
              <a:solidFill>
                <a:srgbClr val="E59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41" y="9691"/>
              <a:ext cx="14256" cy="434"/>
            </a:xfrm>
            <a:prstGeom prst="rect">
              <a:avLst/>
            </a:prstGeom>
            <a:noFill/>
          </p:spPr>
          <p:txBody>
            <a:bodyPr wrap="square" lIns="18288" tIns="13716" rIns="18288">
              <a:spAutoFit/>
            </a:bodyPr>
            <a:lstStyle/>
            <a:p>
              <a:pPr algn="l">
                <a:spcAft>
                  <a:spcPts val="0"/>
                </a:spcAft>
              </a:pPr>
              <a:r>
                <a:rPr sz="1410" b="1">
                  <a:solidFill>
                    <a:srgbClr val="EEC4F3"/>
                  </a:solidFill>
                  <a:latin typeface="微软雅黑"/>
                </a:rPr>
                <a:t>核心结论：放松内部迁移约束能够提高总体产出；忽略 Selection 会低估收益，改善 Sorting 的收益占主导</a:t>
              </a:r>
              <a:endParaRPr sz="1410" b="1">
                <a:solidFill>
                  <a:srgbClr val="EEC4F3"/>
                </a:solidFill>
                <a:latin typeface="微软雅黑"/>
              </a:endParaRPr>
            </a:p>
          </p:txBody>
        </p:sp>
      </p:grpSp>
      <p:sp>
        <p:nvSpPr>
          <p:cNvPr id="3" name="文本框 2"/>
          <p:cNvSpPr txBox="1"/>
          <p:nvPr/>
        </p:nvSpPr>
        <p:spPr>
          <a:xfrm>
            <a:off x="1974850" y="391160"/>
            <a:ext cx="855980" cy="368300"/>
          </a:xfrm>
          <a:prstGeom prst="rect">
            <a:avLst/>
          </a:prstGeom>
          <a:noFill/>
        </p:spPr>
        <p:txBody>
          <a:bodyPr wrap="square" rtlCol="0">
            <a:spAutoFit/>
          </a:bodyPr>
          <a:lstStyle/>
          <a:p>
            <a:r>
              <a:rPr lang="en-US" altLang="zh-CN" b="1">
                <a:solidFill>
                  <a:schemeClr val="bg1"/>
                </a:solidFill>
              </a:rPr>
              <a:t>6.1</a:t>
            </a:r>
            <a:endParaRPr lang="zh-CN" altLang="en-US" b="1">
              <a:solidFill>
                <a:schemeClr val="bg1"/>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进一步</a:t>
            </a:r>
            <a:r>
              <a:rPr lang="zh-CN" altLang="en-US"/>
              <a:t>研究｜税收怎样进入劳动者的迁移选择？</a:t>
            </a:r>
            <a:br>
              <a:rPr lang="zh-CN" altLang="en-US"/>
            </a:br>
            <a:endParaRPr lang="zh-CN" altLang="en-US"/>
          </a:p>
        </p:txBody>
      </p:sp>
      <p:sp>
        <p:nvSpPr>
          <p:cNvPr id="2" name="文本框 1"/>
          <p:cNvSpPr txBox="1"/>
          <p:nvPr/>
        </p:nvSpPr>
        <p:spPr>
          <a:xfrm>
            <a:off x="1974850" y="391160"/>
            <a:ext cx="855980" cy="368300"/>
          </a:xfrm>
          <a:prstGeom prst="rect">
            <a:avLst/>
          </a:prstGeom>
          <a:noFill/>
        </p:spPr>
        <p:txBody>
          <a:bodyPr wrap="square" rtlCol="0">
            <a:spAutoFit/>
          </a:bodyPr>
          <a:lstStyle/>
          <a:p>
            <a:r>
              <a:rPr lang="en-US" altLang="zh-CN" b="1">
                <a:solidFill>
                  <a:schemeClr val="bg1"/>
                </a:solidFill>
              </a:rPr>
              <a:t>6.2</a:t>
            </a:r>
            <a:endParaRPr lang="zh-CN" altLang="en-US" b="1">
              <a:solidFill>
                <a:schemeClr val="bg1"/>
              </a:solidFill>
            </a:endParaRPr>
          </a:p>
        </p:txBody>
      </p:sp>
      <p:grpSp>
        <p:nvGrpSpPr>
          <p:cNvPr id="45" name="组合 44"/>
          <p:cNvGrpSpPr/>
          <p:nvPr/>
        </p:nvGrpSpPr>
        <p:grpSpPr>
          <a:xfrm>
            <a:off x="1965325" y="1071245"/>
            <a:ext cx="9811385" cy="4861560"/>
            <a:chOff x="3139" y="1354"/>
            <a:chExt cx="15451" cy="7656"/>
          </a:xfrm>
        </p:grpSpPr>
        <p:sp>
          <p:nvSpPr>
            <p:cNvPr id="20" name="TextBox 19"/>
            <p:cNvSpPr txBox="1"/>
            <p:nvPr/>
          </p:nvSpPr>
          <p:spPr>
            <a:xfrm>
              <a:off x="3182" y="1354"/>
              <a:ext cx="14976" cy="475"/>
            </a:xfrm>
            <a:prstGeom prst="rect">
              <a:avLst/>
            </a:prstGeom>
            <a:noFill/>
          </p:spPr>
          <p:txBody>
            <a:bodyPr wrap="square" lIns="18288" tIns="18288" rIns="18288">
              <a:spAutoFit/>
            </a:bodyPr>
            <a:lstStyle/>
            <a:p>
              <a:pPr>
                <a:spcAft>
                  <a:spcPts val="200"/>
                </a:spcAft>
              </a:pPr>
              <a:r>
                <a:rPr sz="1310" b="1">
                  <a:solidFill>
                    <a:srgbClr val="701179"/>
                  </a:solidFill>
                  <a:latin typeface="微软雅黑"/>
                </a:rPr>
                <a:t>Tax Progressivity and Mobility Costs — </a:t>
              </a:r>
              <a:r>
                <a:rPr sz="1310" b="1" i="1">
                  <a:solidFill>
                    <a:srgbClr val="701179"/>
                  </a:solidFill>
                  <a:latin typeface="微软雅黑"/>
                </a:rPr>
                <a:t>Daniele Coen-Pirani</a:t>
              </a:r>
              <a:endParaRPr sz="1310" b="1" i="1">
                <a:solidFill>
                  <a:srgbClr val="701179"/>
                </a:solidFill>
                <a:latin typeface="微软雅黑"/>
              </a:endParaRPr>
            </a:p>
          </p:txBody>
        </p:sp>
        <p:sp>
          <p:nvSpPr>
            <p:cNvPr id="21" name="TextBox 20"/>
            <p:cNvSpPr txBox="1"/>
            <p:nvPr/>
          </p:nvSpPr>
          <p:spPr>
            <a:xfrm>
              <a:off x="3182" y="1829"/>
              <a:ext cx="14976" cy="418"/>
            </a:xfrm>
            <a:prstGeom prst="rect">
              <a:avLst/>
            </a:prstGeom>
            <a:noFill/>
          </p:spPr>
          <p:txBody>
            <a:bodyPr wrap="square" lIns="18288" tIns="18288" rIns="18288">
              <a:spAutoFit/>
            </a:bodyPr>
            <a:lstStyle/>
            <a:p>
              <a:pPr>
                <a:spcAft>
                  <a:spcPts val="200"/>
                </a:spcAft>
              </a:pPr>
              <a:r>
                <a:rPr sz="1000" b="0" i="1">
                  <a:solidFill>
                    <a:srgbClr val="5C5861"/>
                  </a:solidFill>
                  <a:latin typeface="微软雅黑"/>
                </a:rPr>
                <a:t>Regional Science and Urban Economics, 2025, 114: 104126</a:t>
              </a:r>
              <a:endParaRPr sz="1000" b="0" i="1">
                <a:solidFill>
                  <a:srgbClr val="5C5861"/>
                </a:solidFill>
                <a:latin typeface="微软雅黑"/>
              </a:endParaRPr>
            </a:p>
          </p:txBody>
        </p:sp>
        <p:sp>
          <p:nvSpPr>
            <p:cNvPr id="23" name="Rectangle 22"/>
            <p:cNvSpPr/>
            <p:nvPr/>
          </p:nvSpPr>
          <p:spPr>
            <a:xfrm>
              <a:off x="3182" y="2369"/>
              <a:ext cx="15408" cy="691"/>
            </a:xfrm>
            <a:prstGeom prst="rect">
              <a:avLst/>
            </a:prstGeom>
            <a:solidFill>
              <a:srgbClr val="F4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68" y="2406"/>
              <a:ext cx="120" cy="621"/>
            </a:xfrm>
            <a:prstGeom prst="rect">
              <a:avLst/>
            </a:prstGeom>
            <a:solidFill>
              <a:srgbClr val="701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5" y="2549"/>
              <a:ext cx="1872" cy="806"/>
            </a:xfrm>
            <a:prstGeom prst="rect">
              <a:avLst/>
            </a:prstGeom>
            <a:noFill/>
          </p:spPr>
          <p:txBody>
            <a:bodyPr wrap="square" lIns="18288" tIns="18288" rIns="18288">
              <a:spAutoFit/>
            </a:bodyPr>
            <a:lstStyle/>
            <a:p>
              <a:pPr>
                <a:spcAft>
                  <a:spcPts val="200"/>
                </a:spcAft>
              </a:pPr>
              <a:r>
                <a:rPr sz="1240" b="1">
                  <a:solidFill>
                    <a:srgbClr val="701179"/>
                  </a:solidFill>
                  <a:latin typeface="微软雅黑"/>
                </a:rPr>
                <a:t>研究问题</a:t>
              </a:r>
              <a:endParaRPr sz="1240" b="1">
                <a:solidFill>
                  <a:srgbClr val="701179"/>
                </a:solidFill>
                <a:latin typeface="微软雅黑"/>
              </a:endParaRPr>
            </a:p>
          </p:txBody>
        </p:sp>
        <p:sp>
          <p:nvSpPr>
            <p:cNvPr id="26" name="TextBox 25"/>
            <p:cNvSpPr txBox="1"/>
            <p:nvPr/>
          </p:nvSpPr>
          <p:spPr>
            <a:xfrm>
              <a:off x="5227" y="2527"/>
              <a:ext cx="13176" cy="439"/>
            </a:xfrm>
            <a:prstGeom prst="rect">
              <a:avLst/>
            </a:prstGeom>
            <a:noFill/>
          </p:spPr>
          <p:txBody>
            <a:bodyPr wrap="square" lIns="18288" tIns="18288" rIns="18288">
              <a:spAutoFit/>
            </a:bodyPr>
            <a:lstStyle/>
            <a:p>
              <a:pPr>
                <a:spcAft>
                  <a:spcPts val="200"/>
                </a:spcAft>
              </a:pPr>
              <a:r>
                <a:rPr sz="1400" b="0">
                  <a:solidFill>
                    <a:srgbClr val="232126"/>
                  </a:solidFill>
                  <a:latin typeface="微软雅黑"/>
                </a:rPr>
                <a:t>累进税是否降低劳动者迁往高工资地区的净收益？不同迁移摩擦下，税制对空间配置的扭曲为何不同？</a:t>
              </a:r>
              <a:endParaRPr sz="1400" b="0">
                <a:solidFill>
                  <a:srgbClr val="232126"/>
                </a:solidFill>
                <a:latin typeface="微软雅黑"/>
              </a:endParaRPr>
            </a:p>
          </p:txBody>
        </p:sp>
        <p:sp>
          <p:nvSpPr>
            <p:cNvPr id="27" name="Rectangle 26"/>
            <p:cNvSpPr/>
            <p:nvPr/>
          </p:nvSpPr>
          <p:spPr>
            <a:xfrm>
              <a:off x="3168" y="3600"/>
              <a:ext cx="7430" cy="504"/>
            </a:xfrm>
            <a:prstGeom prst="rect">
              <a:avLst/>
            </a:prstGeom>
            <a:solidFill>
              <a:srgbClr val="E6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5" y="3686"/>
              <a:ext cx="7070" cy="389"/>
            </a:xfrm>
            <a:prstGeom prst="rect">
              <a:avLst/>
            </a:prstGeom>
            <a:noFill/>
          </p:spPr>
          <p:txBody>
            <a:bodyPr wrap="square" lIns="18288" tIns="18288" rIns="18288">
              <a:spAutoFit/>
            </a:bodyPr>
            <a:lstStyle/>
            <a:p>
              <a:pPr>
                <a:spcAft>
                  <a:spcPts val="200"/>
                </a:spcAft>
              </a:pPr>
              <a:r>
                <a:rPr sz="1360" b="1">
                  <a:solidFill>
                    <a:srgbClr val="701179"/>
                  </a:solidFill>
                  <a:latin typeface="微软雅黑"/>
                </a:rPr>
                <a:t>Bryan &amp; Morten (2019)：原模型</a:t>
              </a:r>
              <a:endParaRPr sz="1360" b="1">
                <a:solidFill>
                  <a:srgbClr val="701179"/>
                </a:solidFill>
                <a:latin typeface="微软雅黑"/>
              </a:endParaRPr>
            </a:p>
          </p:txBody>
        </p:sp>
        <p:sp>
          <p:nvSpPr>
            <p:cNvPr id="29" name="Rectangle 28"/>
            <p:cNvSpPr/>
            <p:nvPr/>
          </p:nvSpPr>
          <p:spPr>
            <a:xfrm>
              <a:off x="10930" y="3600"/>
              <a:ext cx="7646" cy="504"/>
            </a:xfrm>
            <a:prstGeom prst="rect">
              <a:avLst/>
            </a:prstGeom>
            <a:solidFill>
              <a:srgbClr val="E6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17" y="3686"/>
              <a:ext cx="7286" cy="389"/>
            </a:xfrm>
            <a:prstGeom prst="rect">
              <a:avLst/>
            </a:prstGeom>
            <a:noFill/>
          </p:spPr>
          <p:txBody>
            <a:bodyPr wrap="square" lIns="18288" tIns="18288" rIns="18288">
              <a:spAutoFit/>
            </a:bodyPr>
            <a:lstStyle/>
            <a:p>
              <a:pPr>
                <a:spcAft>
                  <a:spcPts val="200"/>
                </a:spcAft>
              </a:pPr>
              <a:r>
                <a:rPr sz="1360" b="1">
                  <a:solidFill>
                    <a:srgbClr val="701179"/>
                  </a:solidFill>
                  <a:latin typeface="微软雅黑"/>
                </a:rPr>
                <a:t>Coen-Pirani：新增设定与方程</a:t>
              </a:r>
              <a:endParaRPr sz="1360" b="1">
                <a:solidFill>
                  <a:srgbClr val="701179"/>
                </a:solidFill>
                <a:latin typeface="微软雅黑"/>
              </a:endParaRPr>
            </a:p>
          </p:txBody>
        </p:sp>
        <p:sp>
          <p:nvSpPr>
            <p:cNvPr id="31" name="TextBox 30"/>
            <p:cNvSpPr txBox="1"/>
            <p:nvPr/>
          </p:nvSpPr>
          <p:spPr>
            <a:xfrm>
              <a:off x="3341" y="4262"/>
              <a:ext cx="6998" cy="392"/>
            </a:xfrm>
            <a:prstGeom prst="rect">
              <a:avLst/>
            </a:prstGeom>
            <a:noFill/>
          </p:spPr>
          <p:txBody>
            <a:bodyPr wrap="square" lIns="18288" tIns="18288" rIns="18288">
              <a:spAutoFit/>
            </a:bodyPr>
            <a:lstStyle/>
            <a:p>
              <a:pPr>
                <a:spcAft>
                  <a:spcPts val="200"/>
                </a:spcAft>
              </a:pPr>
              <a:r>
                <a:rPr sz="1210" b="0">
                  <a:solidFill>
                    <a:srgbClr val="232126"/>
                  </a:solidFill>
                  <a:latin typeface="微软雅黑"/>
                </a:rPr>
                <a:t>工资进入效用，比较各地区税前劳动回报、宜居性及迁移成本</a:t>
              </a:r>
              <a:endParaRPr sz="1210" b="0">
                <a:solidFill>
                  <a:srgbClr val="232126"/>
                </a:solidFill>
                <a:latin typeface="微软雅黑"/>
              </a:endParaRPr>
            </a:p>
          </p:txBody>
        </p:sp>
        <p:sp>
          <p:nvSpPr>
            <p:cNvPr id="32" name="Rectangle 31"/>
            <p:cNvSpPr/>
            <p:nvPr/>
          </p:nvSpPr>
          <p:spPr>
            <a:xfrm>
              <a:off x="3341" y="5155"/>
              <a:ext cx="6998" cy="994"/>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28" y="5242"/>
              <a:ext cx="6624" cy="511"/>
            </a:xfrm>
            <a:prstGeom prst="rect">
              <a:avLst/>
            </a:prstGeom>
            <a:noFill/>
          </p:spPr>
          <p:txBody>
            <a:bodyPr wrap="square" lIns="18288" tIns="18288" rIns="18288">
              <a:spAutoFit/>
            </a:bodyPr>
            <a:lstStyle/>
            <a:p>
              <a:pPr>
                <a:spcAft>
                  <a:spcPts val="200"/>
                </a:spcAft>
              </a:pPr>
              <a:endParaRPr sz="1700" b="1">
                <a:solidFill>
                  <a:srgbClr val="701179"/>
                </a:solidFill>
                <a:latin typeface="Cambria Math"/>
              </a:endParaRPr>
            </a:p>
          </p:txBody>
        </p:sp>
        <p:sp>
          <p:nvSpPr>
            <p:cNvPr id="34" name="TextBox 33"/>
            <p:cNvSpPr txBox="1"/>
            <p:nvPr/>
          </p:nvSpPr>
          <p:spPr>
            <a:xfrm>
              <a:off x="3528" y="5702"/>
              <a:ext cx="6624" cy="344"/>
            </a:xfrm>
            <a:prstGeom prst="rect">
              <a:avLst/>
            </a:prstGeom>
            <a:noFill/>
          </p:spPr>
          <p:txBody>
            <a:bodyPr wrap="square" lIns="18288" tIns="18288" rIns="18288">
              <a:spAutoFit/>
            </a:bodyPr>
            <a:lstStyle/>
            <a:p>
              <a:pPr>
                <a:spcAft>
                  <a:spcPts val="200"/>
                </a:spcAft>
              </a:pPr>
              <a:r>
                <a:rPr sz="1010" b="0">
                  <a:solidFill>
                    <a:srgbClr val="5C5861"/>
                  </a:solidFill>
                  <a:latin typeface="微软雅黑"/>
                </a:rPr>
                <a:t>简化机制式；原模型不显式加入累进税制</a:t>
              </a:r>
              <a:endParaRPr sz="1010" b="0">
                <a:solidFill>
                  <a:srgbClr val="5C5861"/>
                </a:solidFill>
                <a:latin typeface="微软雅黑"/>
              </a:endParaRPr>
            </a:p>
          </p:txBody>
        </p:sp>
        <mc:AlternateContent xmlns:mc="http://schemas.openxmlformats.org/markup-compatibility/2006">
          <mc:Choice xmlns:a14="http://schemas.microsoft.com/office/drawing/2010/main" Requires="a14">
            <p:sp>
              <p:nvSpPr>
                <p:cNvPr id="35" name="TextBox 34"/>
                <p:cNvSpPr txBox="1"/>
                <p:nvPr/>
              </p:nvSpPr>
              <p:spPr>
                <a:xfrm>
                  <a:off x="3341" y="6379"/>
                  <a:ext cx="6998" cy="1230"/>
                </a:xfrm>
                <a:prstGeom prst="rect">
                  <a:avLst/>
                </a:prstGeom>
                <a:noFill/>
              </p:spPr>
              <p:txBody>
                <a:bodyPr wrap="square" lIns="18288" tIns="18288" rIns="18288">
                  <a:noAutofit/>
                </a:bodyPr>
                <a:lstStyle/>
                <a:p>
                  <a:pPr>
                    <a:spcAft>
                      <a:spcPts val="200"/>
                    </a:spcAft>
                  </a:pPr>
                  <a:r>
                    <a:rPr sz="1200" b="0">
                      <a:solidFill>
                        <a:srgbClr val="232126"/>
                      </a:solidFill>
                      <a:latin typeface="微软雅黑"/>
                    </a:rPr>
                    <a:t>原框架主要问：降低</a:t>
                  </a:r>
                  <a14:m>
                    <m:oMath xmlns:m="http://schemas.openxmlformats.org/officeDocument/2006/math">
                      <m:sSub>
                        <m:sSubPr>
                          <m:ctrlPr>
                            <a:rPr lang="en-US" sz="1200" b="0" i="1">
                              <a:solidFill>
                                <a:srgbClr val="232126"/>
                              </a:solidFill>
                              <a:latin typeface="DejaVu Math TeX Gyre" panose="02000503000000000000" charset="0"/>
                              <a:cs typeface="DejaVu Math TeX Gyre" panose="02000503000000000000" charset="0"/>
                            </a:rPr>
                          </m:ctrlPr>
                        </m:sSubPr>
                        <m:e>
                          <m:r>
                            <a:rPr lang="en-US" sz="1200" i="1">
                              <a:solidFill>
                                <a:srgbClr val="232126"/>
                              </a:solidFill>
                              <a:latin typeface="DejaVu Math TeX Gyre" panose="02000503000000000000" charset="0"/>
                              <a:cs typeface="DejaVu Math TeX Gyre" panose="02000503000000000000" charset="0"/>
                            </a:rPr>
                            <m:t>𝜏</m:t>
                          </m:r>
                        </m:e>
                        <m:sub>
                          <m:r>
                            <a:rPr lang="en-US" sz="1200" b="0" i="1">
                              <a:solidFill>
                                <a:srgbClr val="232126"/>
                              </a:solidFill>
                              <a:latin typeface="DejaVu Math TeX Gyre" panose="02000503000000000000" charset="0"/>
                              <a:cs typeface="DejaVu Math TeX Gyre" panose="02000503000000000000" charset="0"/>
                            </a:rPr>
                            <m:t>𝑜𝑑</m:t>
                          </m:r>
                        </m:sub>
                      </m:sSub>
                    </m:oMath>
                  </a14:m>
                  <a:r>
                    <a:rPr sz="1200" b="0">
                      <a:solidFill>
                        <a:srgbClr val="232126"/>
                      </a:solidFill>
                      <a:latin typeface="微软雅黑"/>
                    </a:rPr>
                    <a:t> 后，哪些人迁移？迁移者的技能排序怎样改变？</a:t>
                  </a:r>
                  <a:endParaRPr sz="1200" b="0">
                    <a:solidFill>
                      <a:srgbClr val="232126"/>
                    </a:solidFill>
                    <a:latin typeface="微软雅黑"/>
                  </a:endParaRPr>
                </a:p>
                <a:p>
                  <a:pPr>
                    <a:spcAft>
                      <a:spcPts val="200"/>
                    </a:spcAft>
                  </a:pPr>
                  <a:r>
                    <a:rPr sz="1200" b="0">
                      <a:solidFill>
                        <a:srgbClr val="232126"/>
                      </a:solidFill>
                      <a:latin typeface="微软雅黑"/>
                    </a:rPr>
                    <a:t>缺口：税后收入、工作时长与租金均可能改变真正的迁移激励</a:t>
                  </a:r>
                  <a:endParaRPr sz="1200" b="0">
                    <a:solidFill>
                      <a:srgbClr val="232126"/>
                    </a:solidFill>
                    <a:latin typeface="微软雅黑"/>
                  </a:endParaRPr>
                </a:p>
              </p:txBody>
            </p:sp>
          </mc:Choice>
          <mc:Fallback>
            <p:sp>
              <p:nvSpPr>
                <p:cNvPr id="35" name="TextBox 34"/>
                <p:cNvSpPr txBox="1">
                  <a:spLocks noRot="1" noChangeAspect="1" noMove="1" noResize="1" noEditPoints="1" noAdjustHandles="1" noChangeArrowheads="1" noChangeShapeType="1" noTextEdit="1"/>
                </p:cNvSpPr>
                <p:nvPr/>
              </p:nvSpPr>
              <p:spPr>
                <a:xfrm>
                  <a:off x="3341" y="6379"/>
                  <a:ext cx="6998" cy="1230"/>
                </a:xfrm>
                <a:prstGeom prst="rect">
                  <a:avLst/>
                </a:prstGeom>
                <a:blipFill rotWithShape="1">
                  <a:blip r:embed="rId1"/>
                </a:blipFill>
              </p:spPr>
              <p:txBody>
                <a:bodyPr/>
                <a:lstStyle/>
                <a:p>
                  <a:r>
                    <a:rPr lang="zh-CN" altLang="en-US">
                      <a:noFill/>
                    </a:rPr>
                    <a:t> </a:t>
                  </a:r>
                </a:p>
              </p:txBody>
            </p:sp>
          </mc:Fallback>
        </mc:AlternateContent>
        <p:sp>
          <p:nvSpPr>
            <p:cNvPr id="36" name="TextBox 35"/>
            <p:cNvSpPr txBox="1"/>
            <p:nvPr/>
          </p:nvSpPr>
          <p:spPr>
            <a:xfrm>
              <a:off x="11131" y="4248"/>
              <a:ext cx="7128" cy="390"/>
            </a:xfrm>
            <a:prstGeom prst="rect">
              <a:avLst/>
            </a:prstGeom>
            <a:noFill/>
          </p:spPr>
          <p:txBody>
            <a:bodyPr wrap="square" lIns="18288" tIns="18288" rIns="18288">
              <a:spAutoFit/>
            </a:bodyPr>
            <a:lstStyle/>
            <a:p>
              <a:pPr>
                <a:spcAft>
                  <a:spcPts val="200"/>
                </a:spcAft>
              </a:pPr>
              <a:r>
                <a:rPr sz="1200" b="0">
                  <a:solidFill>
                    <a:srgbClr val="232126"/>
                  </a:solidFill>
                  <a:latin typeface="微软雅黑"/>
                </a:rPr>
                <a:t>① 先把税前收入转为税后收入；再让劳动者选择地区和劳动投入</a:t>
              </a:r>
              <a:endParaRPr sz="1200" b="0">
                <a:solidFill>
                  <a:srgbClr val="232126"/>
                </a:solidFill>
                <a:latin typeface="微软雅黑"/>
              </a:endParaRPr>
            </a:p>
          </p:txBody>
        </p:sp>
        <p:sp>
          <p:nvSpPr>
            <p:cNvPr id="37" name="Rectangle 36"/>
            <p:cNvSpPr/>
            <p:nvPr/>
          </p:nvSpPr>
          <p:spPr>
            <a:xfrm>
              <a:off x="11131" y="5184"/>
              <a:ext cx="7085" cy="994"/>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318" y="5270"/>
              <a:ext cx="6710" cy="536"/>
            </a:xfrm>
            <a:prstGeom prst="rect">
              <a:avLst/>
            </a:prstGeom>
            <a:noFill/>
          </p:spPr>
          <p:txBody>
            <a:bodyPr wrap="square" lIns="18288" tIns="18288" rIns="18288">
              <a:spAutoFit/>
            </a:bodyPr>
            <a:lstStyle/>
            <a:p>
              <a:pPr>
                <a:spcAft>
                  <a:spcPts val="200"/>
                </a:spcAft>
              </a:pPr>
              <a:endParaRPr sz="1800" b="1">
                <a:solidFill>
                  <a:srgbClr val="701179"/>
                </a:solidFill>
                <a:latin typeface="Cambria Math"/>
              </a:endParaRPr>
            </a:p>
          </p:txBody>
        </p:sp>
        <p:sp>
          <p:nvSpPr>
            <p:cNvPr id="39" name="TextBox 38"/>
            <p:cNvSpPr txBox="1"/>
            <p:nvPr/>
          </p:nvSpPr>
          <p:spPr>
            <a:xfrm>
              <a:off x="11318" y="5731"/>
              <a:ext cx="6710" cy="344"/>
            </a:xfrm>
            <a:prstGeom prst="rect">
              <a:avLst/>
            </a:prstGeom>
            <a:noFill/>
          </p:spPr>
          <p:txBody>
            <a:bodyPr wrap="square" lIns="18288" tIns="18288" rIns="18288">
              <a:spAutoFit/>
            </a:bodyPr>
            <a:lstStyle/>
            <a:p>
              <a:pPr>
                <a:spcAft>
                  <a:spcPts val="200"/>
                </a:spcAft>
              </a:pPr>
              <a:r>
                <a:rPr sz="1010" b="0">
                  <a:solidFill>
                    <a:srgbClr val="5C5861"/>
                  </a:solidFill>
                  <a:latin typeface="微软雅黑"/>
                </a:rPr>
                <a:t>μ：累进税参数；不同工资增长对应不同税后回报</a:t>
              </a:r>
              <a:endParaRPr sz="1010" b="0">
                <a:solidFill>
                  <a:srgbClr val="5C5861"/>
                </a:solidFill>
                <a:latin typeface="微软雅黑"/>
              </a:endParaRPr>
            </a:p>
          </p:txBody>
        </p:sp>
        <p:sp>
          <p:nvSpPr>
            <p:cNvPr id="40" name="TextBox 39"/>
            <p:cNvSpPr txBox="1"/>
            <p:nvPr/>
          </p:nvSpPr>
          <p:spPr>
            <a:xfrm>
              <a:off x="11160" y="6379"/>
              <a:ext cx="7099" cy="1311"/>
            </a:xfrm>
            <a:prstGeom prst="rect">
              <a:avLst/>
            </a:prstGeom>
            <a:noFill/>
          </p:spPr>
          <p:txBody>
            <a:bodyPr wrap="square" lIns="18288" tIns="18288" rIns="18288">
              <a:spAutoFit/>
            </a:bodyPr>
            <a:lstStyle/>
            <a:p>
              <a:pPr>
                <a:spcAft>
                  <a:spcPts val="200"/>
                </a:spcAft>
              </a:pPr>
              <a:r>
                <a:rPr sz="1170" b="0">
                  <a:solidFill>
                    <a:srgbClr val="232126"/>
                  </a:solidFill>
                  <a:latin typeface="微软雅黑"/>
                </a:rPr>
                <a:t>② 内生劳动供给：税后边际报酬影响工作量</a:t>
              </a:r>
              <a:endParaRPr sz="1170" b="0">
                <a:solidFill>
                  <a:srgbClr val="232126"/>
                </a:solidFill>
                <a:latin typeface="微软雅黑"/>
              </a:endParaRPr>
            </a:p>
            <a:p>
              <a:pPr>
                <a:spcAft>
                  <a:spcPts val="200"/>
                </a:spcAft>
              </a:pPr>
              <a:r>
                <a:rPr sz="1170" b="0">
                  <a:solidFill>
                    <a:srgbClr val="232126"/>
                  </a:solidFill>
                  <a:latin typeface="微软雅黑"/>
                </a:rPr>
                <a:t>③ 加入住房租赁市场：地区租金与迁入规模共同调整</a:t>
              </a:r>
              <a:endParaRPr sz="1170" b="0">
                <a:solidFill>
                  <a:srgbClr val="232126"/>
                </a:solidFill>
                <a:latin typeface="微软雅黑"/>
              </a:endParaRPr>
            </a:p>
            <a:p>
              <a:pPr>
                <a:spcAft>
                  <a:spcPts val="200"/>
                </a:spcAft>
              </a:pPr>
              <a:r>
                <a:rPr sz="1170" b="0">
                  <a:solidFill>
                    <a:srgbClr val="232126"/>
                  </a:solidFill>
                  <a:latin typeface="微软雅黑"/>
                </a:rPr>
                <a:t>④ 给定税制和 τ：联立迁移份额、劳动供给、租金、工资与商品市场清算</a:t>
              </a:r>
              <a:endParaRPr sz="1170" b="0">
                <a:solidFill>
                  <a:srgbClr val="232126"/>
                </a:solidFill>
                <a:latin typeface="微软雅黑"/>
              </a:endParaRPr>
            </a:p>
          </p:txBody>
        </p:sp>
        <p:sp>
          <p:nvSpPr>
            <p:cNvPr id="42" name="Rectangle 41"/>
            <p:cNvSpPr/>
            <p:nvPr/>
          </p:nvSpPr>
          <p:spPr>
            <a:xfrm>
              <a:off x="3139" y="8304"/>
              <a:ext cx="15437" cy="706"/>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26" y="8463"/>
              <a:ext cx="14976" cy="390"/>
            </a:xfrm>
            <a:prstGeom prst="rect">
              <a:avLst/>
            </a:prstGeom>
            <a:noFill/>
          </p:spPr>
          <p:txBody>
            <a:bodyPr wrap="square" lIns="18288" tIns="18288" rIns="18288">
              <a:spAutoFit/>
            </a:bodyPr>
            <a:lstStyle/>
            <a:p>
              <a:pPr>
                <a:spcAft>
                  <a:spcPts val="200"/>
                </a:spcAft>
              </a:pPr>
              <a:r>
                <a:rPr sz="1200" b="1">
                  <a:solidFill>
                    <a:srgbClr val="701179"/>
                  </a:solidFill>
                  <a:latin typeface="微软雅黑"/>
                </a:rPr>
                <a:t>结果：基准下改为线性税，产出约 +10%；约 1/3 增益来自空间税收扭曲减轻；最优累进程度仍为正</a:t>
              </a:r>
              <a:endParaRPr sz="1200" b="1">
                <a:solidFill>
                  <a:srgbClr val="701179"/>
                </a:solidFill>
                <a:latin typeface="微软雅黑"/>
              </a:endParaRPr>
            </a:p>
          </p:txBody>
        </p:sp>
      </p:grpSp>
      <p:pic>
        <p:nvPicPr>
          <p:cNvPr id="3" name="334E55B0-647D-440b-865C-3EC943EB4CBC-122" descr="wpsoffice"/>
          <p:cNvPicPr>
            <a:picLocks noChangeAspect="1"/>
          </p:cNvPicPr>
          <p:nvPr/>
        </p:nvPicPr>
        <p:blipFill>
          <a:blip r:embed="rId2"/>
          <a:stretch>
            <a:fillRect/>
          </a:stretch>
        </p:blipFill>
        <p:spPr>
          <a:xfrm>
            <a:off x="2212340" y="3581400"/>
            <a:ext cx="2865120" cy="255270"/>
          </a:xfrm>
          <a:prstGeom prst="rect">
            <a:avLst/>
          </a:prstGeom>
        </p:spPr>
      </p:pic>
      <p:pic>
        <p:nvPicPr>
          <p:cNvPr id="4" name="334E55B0-647D-440b-865C-3EC943EB4CBC-123" descr="wpsoffice"/>
          <p:cNvPicPr>
            <a:picLocks noChangeAspect="1"/>
          </p:cNvPicPr>
          <p:nvPr/>
        </p:nvPicPr>
        <p:blipFill>
          <a:blip r:embed="rId3"/>
          <a:stretch>
            <a:fillRect/>
          </a:stretch>
        </p:blipFill>
        <p:spPr>
          <a:xfrm>
            <a:off x="7158990" y="3561080"/>
            <a:ext cx="1072515" cy="269875"/>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进一步</a:t>
            </a:r>
            <a:r>
              <a:rPr lang="zh-CN" altLang="en-US"/>
              <a:t>研究｜从换城市变成换城市＋换行业</a:t>
            </a:r>
            <a:br>
              <a:rPr lang="zh-CN" altLang="en-US"/>
            </a:br>
            <a:br>
              <a:rPr lang="zh-CN" altLang="en-US"/>
            </a:br>
            <a:endParaRPr lang="zh-CN" altLang="en-US"/>
          </a:p>
        </p:txBody>
      </p:sp>
      <p:sp>
        <p:nvSpPr>
          <p:cNvPr id="2" name="文本框 1"/>
          <p:cNvSpPr txBox="1"/>
          <p:nvPr/>
        </p:nvSpPr>
        <p:spPr>
          <a:xfrm>
            <a:off x="1974850" y="391160"/>
            <a:ext cx="855980" cy="368300"/>
          </a:xfrm>
          <a:prstGeom prst="rect">
            <a:avLst/>
          </a:prstGeom>
          <a:noFill/>
        </p:spPr>
        <p:txBody>
          <a:bodyPr wrap="square" rtlCol="0">
            <a:spAutoFit/>
          </a:bodyPr>
          <a:lstStyle/>
          <a:p>
            <a:r>
              <a:rPr lang="en-US" altLang="zh-CN" b="1">
                <a:solidFill>
                  <a:schemeClr val="bg1"/>
                </a:solidFill>
              </a:rPr>
              <a:t>6.2</a:t>
            </a:r>
            <a:endParaRPr lang="zh-CN" altLang="en-US" b="1">
              <a:solidFill>
                <a:schemeClr val="bg1"/>
              </a:solidFill>
            </a:endParaRPr>
          </a:p>
        </p:txBody>
      </p:sp>
      <p:grpSp>
        <p:nvGrpSpPr>
          <p:cNvPr id="45" name="组合 44"/>
          <p:cNvGrpSpPr/>
          <p:nvPr/>
        </p:nvGrpSpPr>
        <p:grpSpPr>
          <a:xfrm>
            <a:off x="1983740" y="1071245"/>
            <a:ext cx="9921240" cy="4640580"/>
            <a:chOff x="3168" y="1354"/>
            <a:chExt cx="15624" cy="7308"/>
          </a:xfrm>
        </p:grpSpPr>
        <p:sp>
          <p:nvSpPr>
            <p:cNvPr id="20" name="TextBox 19"/>
            <p:cNvSpPr txBox="1"/>
            <p:nvPr/>
          </p:nvSpPr>
          <p:spPr>
            <a:xfrm>
              <a:off x="3182" y="1354"/>
              <a:ext cx="14976" cy="475"/>
            </a:xfrm>
            <a:prstGeom prst="rect">
              <a:avLst/>
            </a:prstGeom>
            <a:noFill/>
          </p:spPr>
          <p:txBody>
            <a:bodyPr wrap="square" lIns="18288" tIns="18288" rIns="18288">
              <a:spAutoFit/>
            </a:bodyPr>
            <a:lstStyle/>
            <a:p>
              <a:pPr>
                <a:spcAft>
                  <a:spcPts val="200"/>
                </a:spcAft>
              </a:pPr>
              <a:r>
                <a:rPr sz="1310" b="1">
                  <a:solidFill>
                    <a:srgbClr val="701179"/>
                  </a:solidFill>
                  <a:latin typeface="微软雅黑"/>
                </a:rPr>
                <a:t>The Origins of Regional Specialization — </a:t>
              </a:r>
              <a:r>
                <a:rPr sz="1310" b="1" i="1">
                  <a:solidFill>
                    <a:srgbClr val="701179"/>
                  </a:solidFill>
                  <a:latin typeface="微软雅黑"/>
                </a:rPr>
                <a:t>Josh Morris-Levenson &amp; Marta Prato</a:t>
              </a:r>
              <a:endParaRPr sz="1310" b="1" i="1">
                <a:solidFill>
                  <a:srgbClr val="701179"/>
                </a:solidFill>
                <a:latin typeface="微软雅黑"/>
              </a:endParaRPr>
            </a:p>
          </p:txBody>
        </p:sp>
        <p:sp>
          <p:nvSpPr>
            <p:cNvPr id="21" name="TextBox 20"/>
            <p:cNvSpPr txBox="1"/>
            <p:nvPr/>
          </p:nvSpPr>
          <p:spPr>
            <a:xfrm>
              <a:off x="3182" y="1829"/>
              <a:ext cx="14976" cy="342"/>
            </a:xfrm>
            <a:prstGeom prst="rect">
              <a:avLst/>
            </a:prstGeom>
            <a:noFill/>
          </p:spPr>
          <p:txBody>
            <a:bodyPr wrap="square" lIns="18288" tIns="18288" rIns="18288">
              <a:spAutoFit/>
            </a:bodyPr>
            <a:lstStyle/>
            <a:p>
              <a:pPr>
                <a:spcAft>
                  <a:spcPts val="200"/>
                </a:spcAft>
              </a:pPr>
              <a:r>
                <a:rPr sz="1000" b="0" i="1">
                  <a:solidFill>
                    <a:srgbClr val="5C5861"/>
                  </a:solidFill>
                  <a:latin typeface="微软雅黑"/>
                </a:rPr>
                <a:t>Working Paper, December 2022</a:t>
              </a:r>
              <a:endParaRPr sz="1000" b="0" i="1">
                <a:solidFill>
                  <a:srgbClr val="5C5861"/>
                </a:solidFill>
                <a:latin typeface="微软雅黑"/>
              </a:endParaRPr>
            </a:p>
          </p:txBody>
        </p:sp>
        <p:sp>
          <p:nvSpPr>
            <p:cNvPr id="23" name="Rectangle 22"/>
            <p:cNvSpPr/>
            <p:nvPr/>
          </p:nvSpPr>
          <p:spPr>
            <a:xfrm>
              <a:off x="3168" y="2448"/>
              <a:ext cx="15408" cy="950"/>
            </a:xfrm>
            <a:prstGeom prst="rect">
              <a:avLst/>
            </a:prstGeom>
            <a:solidFill>
              <a:srgbClr val="F4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68" y="2448"/>
              <a:ext cx="75" cy="950"/>
            </a:xfrm>
            <a:prstGeom prst="rect">
              <a:avLst/>
            </a:prstGeom>
            <a:solidFill>
              <a:srgbClr val="701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5" y="2549"/>
              <a:ext cx="1872" cy="806"/>
            </a:xfrm>
            <a:prstGeom prst="rect">
              <a:avLst/>
            </a:prstGeom>
            <a:noFill/>
          </p:spPr>
          <p:txBody>
            <a:bodyPr wrap="square" lIns="18288" tIns="18288" rIns="18288">
              <a:spAutoFit/>
            </a:bodyPr>
            <a:lstStyle/>
            <a:p>
              <a:pPr>
                <a:spcAft>
                  <a:spcPts val="200"/>
                </a:spcAft>
              </a:pPr>
              <a:r>
                <a:rPr sz="1240" b="1">
                  <a:solidFill>
                    <a:srgbClr val="701179"/>
                  </a:solidFill>
                  <a:latin typeface="微软雅黑"/>
                </a:rPr>
                <a:t>研究问题</a:t>
              </a:r>
              <a:endParaRPr sz="1240" b="1">
                <a:solidFill>
                  <a:srgbClr val="701179"/>
                </a:solidFill>
                <a:latin typeface="微软雅黑"/>
              </a:endParaRPr>
            </a:p>
          </p:txBody>
        </p:sp>
        <p:sp>
          <p:nvSpPr>
            <p:cNvPr id="26" name="TextBox 25"/>
            <p:cNvSpPr txBox="1"/>
            <p:nvPr/>
          </p:nvSpPr>
          <p:spPr>
            <a:xfrm>
              <a:off x="4824" y="2495"/>
              <a:ext cx="13176" cy="439"/>
            </a:xfrm>
            <a:prstGeom prst="rect">
              <a:avLst/>
            </a:prstGeom>
            <a:noFill/>
          </p:spPr>
          <p:txBody>
            <a:bodyPr wrap="square" lIns="18288" tIns="18288" rIns="18288">
              <a:spAutoFit/>
            </a:bodyPr>
            <a:lstStyle/>
            <a:p>
              <a:pPr>
                <a:spcAft>
                  <a:spcPts val="200"/>
                </a:spcAft>
              </a:pPr>
              <a:r>
                <a:rPr sz="1400" b="0">
                  <a:solidFill>
                    <a:srgbClr val="232126"/>
                  </a:solidFill>
                  <a:latin typeface="微软雅黑"/>
                </a:rPr>
                <a:t>美国州际产业分工为何长期持续？迁移成本与转行成本是否阻止劳动者进入其技能最匹配的“州×行业”？</a:t>
              </a:r>
              <a:endParaRPr sz="1400" b="0">
                <a:solidFill>
                  <a:srgbClr val="232126"/>
                </a:solidFill>
                <a:latin typeface="微软雅黑"/>
              </a:endParaRPr>
            </a:p>
          </p:txBody>
        </p:sp>
        <p:sp>
          <p:nvSpPr>
            <p:cNvPr id="27" name="Rectangle 26"/>
            <p:cNvSpPr/>
            <p:nvPr/>
          </p:nvSpPr>
          <p:spPr>
            <a:xfrm>
              <a:off x="3168" y="3600"/>
              <a:ext cx="7430" cy="504"/>
            </a:xfrm>
            <a:prstGeom prst="rect">
              <a:avLst/>
            </a:prstGeom>
            <a:solidFill>
              <a:srgbClr val="E6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5" y="3686"/>
              <a:ext cx="7070" cy="389"/>
            </a:xfrm>
            <a:prstGeom prst="rect">
              <a:avLst/>
            </a:prstGeom>
            <a:noFill/>
          </p:spPr>
          <p:txBody>
            <a:bodyPr wrap="square" lIns="18288" tIns="18288" rIns="18288">
              <a:spAutoFit/>
            </a:bodyPr>
            <a:lstStyle/>
            <a:p>
              <a:pPr>
                <a:spcAft>
                  <a:spcPts val="200"/>
                </a:spcAft>
              </a:pPr>
              <a:r>
                <a:rPr sz="1360" b="1">
                  <a:solidFill>
                    <a:srgbClr val="701179"/>
                  </a:solidFill>
                  <a:latin typeface="微软雅黑"/>
                </a:rPr>
                <a:t>Bryan &amp; Morten：只有目的地 d</a:t>
              </a:r>
              <a:endParaRPr sz="1360" b="1">
                <a:solidFill>
                  <a:srgbClr val="701179"/>
                </a:solidFill>
                <a:latin typeface="微软雅黑"/>
              </a:endParaRPr>
            </a:p>
          </p:txBody>
        </p:sp>
        <p:sp>
          <p:nvSpPr>
            <p:cNvPr id="29" name="Rectangle 28"/>
            <p:cNvSpPr/>
            <p:nvPr/>
          </p:nvSpPr>
          <p:spPr>
            <a:xfrm>
              <a:off x="10930" y="3600"/>
              <a:ext cx="7646" cy="504"/>
            </a:xfrm>
            <a:prstGeom prst="rect">
              <a:avLst/>
            </a:prstGeom>
            <a:solidFill>
              <a:srgbClr val="E6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17" y="3686"/>
              <a:ext cx="7286" cy="389"/>
            </a:xfrm>
            <a:prstGeom prst="rect">
              <a:avLst/>
            </a:prstGeom>
            <a:noFill/>
          </p:spPr>
          <p:txBody>
            <a:bodyPr wrap="square" lIns="18288" tIns="18288" rIns="18288">
              <a:spAutoFit/>
            </a:bodyPr>
            <a:lstStyle/>
            <a:p>
              <a:pPr>
                <a:spcAft>
                  <a:spcPts val="200"/>
                </a:spcAft>
              </a:pPr>
              <a:r>
                <a:rPr sz="1360" b="1">
                  <a:solidFill>
                    <a:srgbClr val="701179"/>
                  </a:solidFill>
                  <a:latin typeface="微软雅黑"/>
                </a:rPr>
                <a:t>Morris-Levenson &amp; Prato：状态 j=(州,行业)</a:t>
              </a:r>
              <a:endParaRPr sz="1360" b="1">
                <a:solidFill>
                  <a:srgbClr val="701179"/>
                </a:solidFill>
                <a:latin typeface="微软雅黑"/>
              </a:endParaRPr>
            </a:p>
          </p:txBody>
        </p:sp>
        <mc:AlternateContent xmlns:mc="http://schemas.openxmlformats.org/markup-compatibility/2006">
          <mc:Choice xmlns:a14="http://schemas.microsoft.com/office/drawing/2010/main" Requires="a14">
            <p:sp>
              <p:nvSpPr>
                <p:cNvPr id="31" name="TextBox 30"/>
                <p:cNvSpPr txBox="1"/>
                <p:nvPr/>
              </p:nvSpPr>
              <p:spPr>
                <a:xfrm>
                  <a:off x="3326" y="4234"/>
                  <a:ext cx="6998" cy="681"/>
                </a:xfrm>
                <a:prstGeom prst="rect">
                  <a:avLst/>
                </a:prstGeom>
                <a:noFill/>
              </p:spPr>
              <p:txBody>
                <a:bodyPr wrap="square" lIns="18288" tIns="18288" rIns="18288">
                  <a:spAutoFit/>
                </a:bodyPr>
                <a:lstStyle/>
                <a:p>
                  <a:pPr>
                    <a:spcAft>
                      <a:spcPts val="200"/>
                    </a:spcAft>
                  </a:pPr>
                  <a:r>
                    <a:rPr sz="1200" b="0">
                      <a:solidFill>
                        <a:srgbClr val="232126"/>
                      </a:solidFill>
                      <a:latin typeface="微软雅黑"/>
                    </a:rPr>
                    <a:t>同一个人选择工作地区 </a:t>
                  </a:r>
                  <a:r>
                    <a:rPr lang="en-US" sz="1200" b="0">
                      <a:solidFill>
                        <a:srgbClr val="232126"/>
                      </a:solidFill>
                      <a:latin typeface="微软雅黑"/>
                    </a:rPr>
                    <a:t>d</a:t>
                  </a:r>
                  <a:r>
                    <a:rPr sz="1200" b="0">
                      <a:solidFill>
                        <a:srgbClr val="232126"/>
                      </a:solidFill>
                      <a:latin typeface="微软雅黑"/>
                    </a:rPr>
                    <a:t>；按照地点技能 </a:t>
                  </a:r>
                  <a14:m>
                    <m:oMath xmlns:m="http://schemas.openxmlformats.org/officeDocument/2006/math">
                      <m:sSub>
                        <m:sSubPr>
                          <m:ctrlPr>
                            <a:rPr lang="en-US" sz="1200" b="0" i="1">
                              <a:solidFill>
                                <a:srgbClr val="232126"/>
                              </a:solidFill>
                              <a:latin typeface="DejaVu Math TeX Gyre" panose="02000503000000000000" charset="0"/>
                              <a:cs typeface="DejaVu Math TeX Gyre" panose="02000503000000000000" charset="0"/>
                            </a:rPr>
                          </m:ctrlPr>
                        </m:sSubPr>
                        <m:e>
                          <m:r>
                            <a:rPr lang="en-US" sz="1200" b="0" i="1">
                              <a:solidFill>
                                <a:srgbClr val="232126"/>
                              </a:solidFill>
                              <a:latin typeface="DejaVu Math TeX Gyre" panose="02000503000000000000" charset="0"/>
                              <a:cs typeface="DejaVu Math TeX Gyre" panose="02000503000000000000" charset="0"/>
                            </a:rPr>
                            <m:t>𝑠</m:t>
                          </m:r>
                        </m:e>
                        <m:sub>
                          <m:r>
                            <a:rPr lang="en-US" sz="1200" b="0" i="1">
                              <a:solidFill>
                                <a:srgbClr val="232126"/>
                              </a:solidFill>
                              <a:latin typeface="DejaVu Math TeX Gyre" panose="02000503000000000000" charset="0"/>
                              <a:cs typeface="DejaVu Math TeX Gyre" panose="02000503000000000000" charset="0"/>
                            </a:rPr>
                            <m:t>𝑖</m:t>
                          </m:r>
                          <m:r>
                            <a:rPr lang="en-US" sz="1200" b="0" i="1">
                              <a:solidFill>
                                <a:srgbClr val="232126"/>
                              </a:solidFill>
                              <a:latin typeface="DejaVu Math TeX Gyre" panose="02000503000000000000" charset="0"/>
                              <a:cs typeface="DejaVu Math TeX Gyre" panose="02000503000000000000" charset="0"/>
                            </a:rPr>
                            <m:t>𝑑</m:t>
                          </m:r>
                        </m:sub>
                      </m:sSub>
                    </m:oMath>
                  </a14:m>
                  <a:r>
                    <a:rPr sz="1200" b="0">
                      <a:solidFill>
                        <a:srgbClr val="232126"/>
                      </a:solidFill>
                      <a:latin typeface="微软雅黑"/>
                    </a:rPr>
                    <a:t> 与迁移成本 </a:t>
                  </a:r>
                  <a14:m>
                    <m:oMath xmlns:m="http://schemas.openxmlformats.org/officeDocument/2006/math">
                      <m:sSub>
                        <m:sSubPr>
                          <m:ctrlPr>
                            <a:rPr lang="en-US" sz="1200" b="0" i="1">
                              <a:solidFill>
                                <a:srgbClr val="232126"/>
                              </a:solidFill>
                              <a:latin typeface="DejaVu Math TeX Gyre" panose="02000503000000000000" charset="0"/>
                              <a:cs typeface="DejaVu Math TeX Gyre" panose="02000503000000000000" charset="0"/>
                            </a:rPr>
                          </m:ctrlPr>
                        </m:sSubPr>
                        <m:e>
                          <m:r>
                            <a:rPr lang="en-US" sz="1200" i="1">
                              <a:solidFill>
                                <a:srgbClr val="232126"/>
                              </a:solidFill>
                              <a:latin typeface="DejaVu Math TeX Gyre" panose="02000503000000000000" charset="0"/>
                              <a:cs typeface="DejaVu Math TeX Gyre" panose="02000503000000000000" charset="0"/>
                            </a:rPr>
                            <m:t>𝜏</m:t>
                          </m:r>
                        </m:e>
                        <m:sub>
                          <m:r>
                            <a:rPr lang="en-US" sz="1200" b="0" i="1">
                              <a:solidFill>
                                <a:srgbClr val="232126"/>
                              </a:solidFill>
                              <a:latin typeface="DejaVu Math TeX Gyre" panose="02000503000000000000" charset="0"/>
                              <a:cs typeface="DejaVu Math TeX Gyre" panose="02000503000000000000" charset="0"/>
                            </a:rPr>
                            <m:t>𝑜𝑑</m:t>
                          </m:r>
                        </m:sub>
                      </m:sSub>
                    </m:oMath>
                  </a14:m>
                  <a:r>
                    <a:rPr sz="1200" b="0">
                      <a:solidFill>
                        <a:srgbClr val="232126"/>
                      </a:solidFill>
                      <a:latin typeface="微软雅黑"/>
                    </a:rPr>
                    <a:t> 形成迁移份额</a:t>
                  </a:r>
                  <a:endParaRPr sz="1200" b="0">
                    <a:solidFill>
                      <a:srgbClr val="232126"/>
                    </a:solidFill>
                    <a:latin typeface="微软雅黑"/>
                  </a:endParaRPr>
                </a:p>
              </p:txBody>
            </p:sp>
          </mc:Choice>
          <mc:Fallback>
            <p:sp>
              <p:nvSpPr>
                <p:cNvPr id="31" name="TextBox 30"/>
                <p:cNvSpPr txBox="1">
                  <a:spLocks noRot="1" noChangeAspect="1" noMove="1" noResize="1" noEditPoints="1" noAdjustHandles="1" noChangeArrowheads="1" noChangeShapeType="1" noTextEdit="1"/>
                </p:cNvSpPr>
                <p:nvPr/>
              </p:nvSpPr>
              <p:spPr>
                <a:xfrm>
                  <a:off x="3326" y="4234"/>
                  <a:ext cx="6998" cy="681"/>
                </a:xfrm>
                <a:prstGeom prst="rect">
                  <a:avLst/>
                </a:prstGeom>
                <a:blipFill rotWithShape="1">
                  <a:blip r:embed="rId1"/>
                </a:blipFill>
              </p:spPr>
              <p:txBody>
                <a:bodyPr/>
                <a:lstStyle/>
                <a:p>
                  <a:r>
                    <a:rPr lang="zh-CN" altLang="en-US">
                      <a:noFill/>
                    </a:rPr>
                    <a:t> </a:t>
                  </a:r>
                </a:p>
              </p:txBody>
            </p:sp>
          </mc:Fallback>
        </mc:AlternateContent>
        <p:sp>
          <p:nvSpPr>
            <p:cNvPr id="32" name="Rectangle 31"/>
            <p:cNvSpPr/>
            <p:nvPr/>
          </p:nvSpPr>
          <p:spPr>
            <a:xfrm>
              <a:off x="3341" y="5141"/>
              <a:ext cx="6998" cy="994"/>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28" y="5227"/>
              <a:ext cx="6624" cy="463"/>
            </a:xfrm>
            <a:prstGeom prst="rect">
              <a:avLst/>
            </a:prstGeom>
            <a:noFill/>
          </p:spPr>
          <p:txBody>
            <a:bodyPr wrap="square" lIns="18288" tIns="18288" rIns="18288">
              <a:spAutoFit/>
            </a:bodyPr>
            <a:lstStyle/>
            <a:p>
              <a:pPr>
                <a:spcAft>
                  <a:spcPts val="200"/>
                </a:spcAft>
              </a:pPr>
              <a:endParaRPr sz="1500" b="1">
                <a:solidFill>
                  <a:srgbClr val="701179"/>
                </a:solidFill>
                <a:latin typeface="Cambria Math"/>
              </a:endParaRPr>
            </a:p>
          </p:txBody>
        </p:sp>
        <p:sp>
          <p:nvSpPr>
            <p:cNvPr id="34" name="TextBox 33"/>
            <p:cNvSpPr txBox="1"/>
            <p:nvPr/>
          </p:nvSpPr>
          <p:spPr>
            <a:xfrm>
              <a:off x="3528" y="5688"/>
              <a:ext cx="6624" cy="344"/>
            </a:xfrm>
            <a:prstGeom prst="rect">
              <a:avLst/>
            </a:prstGeom>
            <a:noFill/>
          </p:spPr>
          <p:txBody>
            <a:bodyPr wrap="square" lIns="18288" tIns="18288" rIns="18288">
              <a:spAutoFit/>
            </a:bodyPr>
            <a:lstStyle/>
            <a:p>
              <a:pPr>
                <a:spcAft>
                  <a:spcPts val="200"/>
                </a:spcAft>
              </a:pPr>
              <a:r>
                <a:rPr sz="1010" b="0">
                  <a:solidFill>
                    <a:srgbClr val="5C5861"/>
                  </a:solidFill>
                  <a:latin typeface="微软雅黑"/>
                </a:rPr>
                <a:t>只在地区之间分配劳动者</a:t>
              </a:r>
              <a:endParaRPr sz="1010" b="0">
                <a:solidFill>
                  <a:srgbClr val="5C5861"/>
                </a:solidFill>
                <a:latin typeface="微软雅黑"/>
              </a:endParaRPr>
            </a:p>
          </p:txBody>
        </p:sp>
        <p:sp>
          <p:nvSpPr>
            <p:cNvPr id="35" name="TextBox 34"/>
            <p:cNvSpPr txBox="1"/>
            <p:nvPr/>
          </p:nvSpPr>
          <p:spPr>
            <a:xfrm>
              <a:off x="3326" y="6394"/>
              <a:ext cx="7013" cy="715"/>
            </a:xfrm>
            <a:prstGeom prst="rect">
              <a:avLst/>
            </a:prstGeom>
            <a:noFill/>
          </p:spPr>
          <p:txBody>
            <a:bodyPr wrap="square" lIns="18288" tIns="18288" rIns="18288">
              <a:spAutoFit/>
            </a:bodyPr>
            <a:lstStyle/>
            <a:p>
              <a:pPr>
                <a:spcAft>
                  <a:spcPts val="200"/>
                </a:spcAft>
              </a:pPr>
              <a:r>
                <a:rPr sz="1190" b="0">
                  <a:solidFill>
                    <a:srgbClr val="232126"/>
                  </a:solidFill>
                  <a:latin typeface="微软雅黑"/>
                </a:rPr>
                <a:t>只搬家但不转行、只转行但不搬家，在原设定中无法分开识别。</a:t>
              </a:r>
              <a:endParaRPr sz="1190" b="0">
                <a:solidFill>
                  <a:srgbClr val="232126"/>
                </a:solidFill>
                <a:latin typeface="微软雅黑"/>
              </a:endParaRPr>
            </a:p>
            <a:p>
              <a:pPr>
                <a:spcAft>
                  <a:spcPts val="200"/>
                </a:spcAft>
              </a:pPr>
              <a:r>
                <a:rPr sz="1190" b="0">
                  <a:solidFill>
                    <a:srgbClr val="232126"/>
                  </a:solidFill>
                  <a:latin typeface="微软雅黑"/>
                </a:rPr>
                <a:t>行业选择造成的错配可能被误归因于地理摩擦</a:t>
              </a:r>
              <a:endParaRPr sz="1190" b="0">
                <a:solidFill>
                  <a:srgbClr val="232126"/>
                </a:solidFill>
                <a:latin typeface="微软雅黑"/>
              </a:endParaRPr>
            </a:p>
          </p:txBody>
        </p:sp>
        <p:sp>
          <p:nvSpPr>
            <p:cNvPr id="36" name="TextBox 35"/>
            <p:cNvSpPr txBox="1"/>
            <p:nvPr/>
          </p:nvSpPr>
          <p:spPr>
            <a:xfrm>
              <a:off x="11102" y="4205"/>
              <a:ext cx="7056" cy="671"/>
            </a:xfrm>
            <a:prstGeom prst="rect">
              <a:avLst/>
            </a:prstGeom>
            <a:noFill/>
          </p:spPr>
          <p:txBody>
            <a:bodyPr wrap="square" lIns="18288" tIns="18288" rIns="18288">
              <a:spAutoFit/>
            </a:bodyPr>
            <a:lstStyle/>
            <a:p>
              <a:pPr>
                <a:spcAft>
                  <a:spcPts val="200"/>
                </a:spcAft>
              </a:pPr>
              <a:r>
                <a:rPr sz="1180" b="0">
                  <a:solidFill>
                    <a:srgbClr val="232126"/>
                  </a:solidFill>
                  <a:latin typeface="微软雅黑"/>
                </a:rPr>
                <a:t>① 将劳动力市场定义成州—行业组合 j；增加部门转换成本，并允许随时间变化</a:t>
              </a:r>
              <a:endParaRPr sz="1180" b="0">
                <a:solidFill>
                  <a:srgbClr val="232126"/>
                </a:solidFill>
                <a:latin typeface="微软雅黑"/>
              </a:endParaRPr>
            </a:p>
          </p:txBody>
        </p:sp>
        <p:sp>
          <p:nvSpPr>
            <p:cNvPr id="37" name="Rectangle 36"/>
            <p:cNvSpPr/>
            <p:nvPr/>
          </p:nvSpPr>
          <p:spPr>
            <a:xfrm>
              <a:off x="11117" y="5141"/>
              <a:ext cx="7070" cy="994"/>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304" y="5227"/>
              <a:ext cx="6696" cy="443"/>
            </a:xfrm>
            <a:prstGeom prst="rect">
              <a:avLst/>
            </a:prstGeom>
            <a:noFill/>
          </p:spPr>
          <p:txBody>
            <a:bodyPr wrap="square" lIns="18288" tIns="18288" rIns="18288">
              <a:spAutoFit/>
            </a:bodyPr>
            <a:lstStyle/>
            <a:p>
              <a:pPr>
                <a:spcAft>
                  <a:spcPts val="200"/>
                </a:spcAft>
              </a:pPr>
              <a:endParaRPr sz="1420" b="1">
                <a:solidFill>
                  <a:srgbClr val="701179"/>
                </a:solidFill>
                <a:latin typeface="Cambria Math"/>
              </a:endParaRPr>
            </a:p>
          </p:txBody>
        </p:sp>
        <p:sp>
          <p:nvSpPr>
            <p:cNvPr id="39" name="TextBox 38"/>
            <p:cNvSpPr txBox="1"/>
            <p:nvPr/>
          </p:nvSpPr>
          <p:spPr>
            <a:xfrm>
              <a:off x="15059" y="5265"/>
              <a:ext cx="2963" cy="823"/>
            </a:xfrm>
            <a:prstGeom prst="rect">
              <a:avLst/>
            </a:prstGeom>
            <a:noFill/>
          </p:spPr>
          <p:txBody>
            <a:bodyPr wrap="square" lIns="18288" tIns="18288" rIns="18288">
              <a:noAutofit/>
            </a:bodyPr>
            <a:lstStyle/>
            <a:p>
              <a:pPr>
                <a:spcAft>
                  <a:spcPts val="200"/>
                </a:spcAft>
              </a:pPr>
              <a:r>
                <a:rPr sz="1010" b="0">
                  <a:solidFill>
                    <a:srgbClr val="5C5861"/>
                  </a:solidFill>
                  <a:latin typeface="微软雅黑"/>
                </a:rPr>
                <a:t>原文 Eq. (6)：V 为市场吸引力，μ 为市场间摩擦</a:t>
              </a:r>
              <a:endParaRPr sz="1010" b="0">
                <a:solidFill>
                  <a:srgbClr val="5C5861"/>
                </a:solidFill>
                <a:latin typeface="微软雅黑"/>
              </a:endParaRPr>
            </a:p>
          </p:txBody>
        </p:sp>
        <p:sp>
          <p:nvSpPr>
            <p:cNvPr id="40" name="TextBox 39"/>
            <p:cNvSpPr txBox="1"/>
            <p:nvPr/>
          </p:nvSpPr>
          <p:spPr>
            <a:xfrm>
              <a:off x="11131" y="6365"/>
              <a:ext cx="7027" cy="705"/>
            </a:xfrm>
            <a:prstGeom prst="rect">
              <a:avLst/>
            </a:prstGeom>
            <a:noFill/>
          </p:spPr>
          <p:txBody>
            <a:bodyPr wrap="square" lIns="18288" tIns="18288" rIns="18288">
              <a:spAutoFit/>
            </a:bodyPr>
            <a:lstStyle/>
            <a:p>
              <a:pPr>
                <a:spcAft>
                  <a:spcPts val="200"/>
                </a:spcAft>
              </a:pPr>
              <a:r>
                <a:rPr sz="1170" b="0">
                  <a:solidFill>
                    <a:srgbClr val="232126"/>
                  </a:solidFill>
                  <a:latin typeface="微软雅黑"/>
                </a:rPr>
                <a:t>② 根据人口普查中“是否搬州、是否换行业”联合估计 μ</a:t>
              </a:r>
              <a:endParaRPr sz="1170" b="0">
                <a:solidFill>
                  <a:srgbClr val="232126"/>
                </a:solidFill>
                <a:latin typeface="微软雅黑"/>
              </a:endParaRPr>
            </a:p>
            <a:p>
              <a:pPr>
                <a:spcAft>
                  <a:spcPts val="200"/>
                </a:spcAft>
              </a:pPr>
              <a:r>
                <a:rPr sz="1170" b="0">
                  <a:solidFill>
                    <a:srgbClr val="232126"/>
                  </a:solidFill>
                  <a:latin typeface="微软雅黑"/>
                </a:rPr>
                <a:t>③ 生产端允许州—行业技能与投资集聚长期演化</a:t>
              </a:r>
              <a:endParaRPr sz="1170" b="0">
                <a:solidFill>
                  <a:srgbClr val="232126"/>
                </a:solidFill>
                <a:latin typeface="微软雅黑"/>
              </a:endParaRPr>
            </a:p>
          </p:txBody>
        </p:sp>
        <p:sp>
          <p:nvSpPr>
            <p:cNvPr id="42" name="Rectangle 41"/>
            <p:cNvSpPr/>
            <p:nvPr/>
          </p:nvSpPr>
          <p:spPr>
            <a:xfrm>
              <a:off x="3355" y="7956"/>
              <a:ext cx="15437" cy="706"/>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42" y="8115"/>
              <a:ext cx="14976" cy="390"/>
            </a:xfrm>
            <a:prstGeom prst="rect">
              <a:avLst/>
            </a:prstGeom>
            <a:noFill/>
          </p:spPr>
          <p:txBody>
            <a:bodyPr wrap="square" lIns="18288" tIns="18288" rIns="18288">
              <a:spAutoFit/>
            </a:bodyPr>
            <a:lstStyle/>
            <a:p>
              <a:pPr>
                <a:spcAft>
                  <a:spcPts val="200"/>
                </a:spcAft>
              </a:pPr>
              <a:r>
                <a:rPr sz="1200" b="1">
                  <a:solidFill>
                    <a:srgbClr val="701179"/>
                  </a:solidFill>
                  <a:latin typeface="微软雅黑"/>
                </a:rPr>
                <a:t>结果：清除全部地理＋行业流动摩擦，GDP 约 +31%；冻结集聚生产率时仍约 +26%</a:t>
              </a:r>
              <a:endParaRPr sz="1200" b="1">
                <a:solidFill>
                  <a:srgbClr val="701179"/>
                </a:solidFill>
                <a:latin typeface="微软雅黑"/>
              </a:endParaRPr>
            </a:p>
          </p:txBody>
        </p:sp>
      </p:grpSp>
      <p:pic>
        <p:nvPicPr>
          <p:cNvPr id="3" name="334E55B0-647D-440b-865C-3EC943EB4CBC-120" descr="wpsoffice"/>
          <p:cNvPicPr>
            <a:picLocks noChangeAspect="1"/>
          </p:cNvPicPr>
          <p:nvPr/>
        </p:nvPicPr>
        <p:blipFill>
          <a:blip r:embed="rId2"/>
          <a:stretch>
            <a:fillRect/>
          </a:stretch>
        </p:blipFill>
        <p:spPr>
          <a:xfrm>
            <a:off x="7296785" y="3530600"/>
            <a:ext cx="2095500" cy="570865"/>
          </a:xfrm>
          <a:prstGeom prst="rect">
            <a:avLst/>
          </a:prstGeom>
        </p:spPr>
      </p:pic>
      <p:pic>
        <p:nvPicPr>
          <p:cNvPr id="4" name="334E55B0-647D-440b-865C-3EC943EB4CBC-121" descr="wpsoffice"/>
          <p:cNvPicPr>
            <a:picLocks noChangeAspect="1"/>
          </p:cNvPicPr>
          <p:nvPr/>
        </p:nvPicPr>
        <p:blipFill>
          <a:blip r:embed="rId3"/>
          <a:stretch>
            <a:fillRect/>
          </a:stretch>
        </p:blipFill>
        <p:spPr>
          <a:xfrm>
            <a:off x="2221230" y="3526790"/>
            <a:ext cx="950595" cy="26670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进一步</a:t>
            </a:r>
            <a:r>
              <a:rPr lang="zh-CN" altLang="en-US"/>
              <a:t>研究｜道路同时改变商品贸易与人口迁移</a:t>
            </a:r>
            <a:endParaRPr lang="zh-CN" altLang="en-US"/>
          </a:p>
        </p:txBody>
      </p:sp>
      <p:sp>
        <p:nvSpPr>
          <p:cNvPr id="2" name="文本框 1"/>
          <p:cNvSpPr txBox="1"/>
          <p:nvPr/>
        </p:nvSpPr>
        <p:spPr>
          <a:xfrm>
            <a:off x="1974850" y="391160"/>
            <a:ext cx="855980" cy="368300"/>
          </a:xfrm>
          <a:prstGeom prst="rect">
            <a:avLst/>
          </a:prstGeom>
          <a:noFill/>
        </p:spPr>
        <p:txBody>
          <a:bodyPr wrap="square" rtlCol="0">
            <a:spAutoFit/>
          </a:bodyPr>
          <a:lstStyle/>
          <a:p>
            <a:r>
              <a:rPr lang="en-US" altLang="zh-CN" b="1">
                <a:solidFill>
                  <a:schemeClr val="bg1"/>
                </a:solidFill>
              </a:rPr>
              <a:t>6.2</a:t>
            </a:r>
            <a:endParaRPr lang="zh-CN" altLang="en-US" b="1">
              <a:solidFill>
                <a:schemeClr val="bg1"/>
              </a:solidFill>
            </a:endParaRPr>
          </a:p>
        </p:txBody>
      </p:sp>
      <p:grpSp>
        <p:nvGrpSpPr>
          <p:cNvPr id="45" name="组合 44"/>
          <p:cNvGrpSpPr/>
          <p:nvPr/>
        </p:nvGrpSpPr>
        <p:grpSpPr>
          <a:xfrm>
            <a:off x="1974850" y="1083310"/>
            <a:ext cx="13876655" cy="4156710"/>
            <a:chOff x="3096" y="1354"/>
            <a:chExt cx="21853" cy="6546"/>
          </a:xfrm>
        </p:grpSpPr>
        <p:sp>
          <p:nvSpPr>
            <p:cNvPr id="20" name="TextBox 19"/>
            <p:cNvSpPr txBox="1"/>
            <p:nvPr/>
          </p:nvSpPr>
          <p:spPr>
            <a:xfrm>
              <a:off x="3182" y="1354"/>
              <a:ext cx="21767" cy="588"/>
            </a:xfrm>
            <a:prstGeom prst="rect">
              <a:avLst/>
            </a:prstGeom>
            <a:noFill/>
          </p:spPr>
          <p:txBody>
            <a:bodyPr wrap="square" lIns="18288" tIns="18288" rIns="18288">
              <a:noAutofit/>
            </a:bodyPr>
            <a:lstStyle/>
            <a:p>
              <a:pPr>
                <a:spcAft>
                  <a:spcPts val="200"/>
                </a:spcAft>
              </a:pPr>
              <a:r>
                <a:rPr sz="1310" b="1">
                  <a:solidFill>
                    <a:srgbClr val="701179"/>
                  </a:solidFill>
                  <a:latin typeface="微软雅黑"/>
                </a:rPr>
                <a:t>The Effects of Roads on Trade and Migration: Evidence from a Planned Capital City — </a:t>
              </a:r>
              <a:r>
                <a:rPr sz="1310" b="1" i="1">
                  <a:solidFill>
                    <a:srgbClr val="701179"/>
                  </a:solidFill>
                  <a:latin typeface="微软雅黑"/>
                </a:rPr>
                <a:t>Melanie Morten &amp; Jaqueline Oliveira</a:t>
              </a:r>
              <a:endParaRPr sz="1310" b="1" i="1">
                <a:solidFill>
                  <a:srgbClr val="701179"/>
                </a:solidFill>
                <a:latin typeface="微软雅黑"/>
              </a:endParaRPr>
            </a:p>
          </p:txBody>
        </p:sp>
        <p:sp>
          <p:nvSpPr>
            <p:cNvPr id="21" name="TextBox 20"/>
            <p:cNvSpPr txBox="1"/>
            <p:nvPr/>
          </p:nvSpPr>
          <p:spPr>
            <a:xfrm>
              <a:off x="3211" y="1986"/>
              <a:ext cx="14976" cy="418"/>
            </a:xfrm>
            <a:prstGeom prst="rect">
              <a:avLst/>
            </a:prstGeom>
            <a:noFill/>
          </p:spPr>
          <p:txBody>
            <a:bodyPr wrap="square" lIns="18288" tIns="18288" rIns="18288">
              <a:spAutoFit/>
            </a:bodyPr>
            <a:lstStyle/>
            <a:p>
              <a:pPr>
                <a:spcAft>
                  <a:spcPts val="200"/>
                </a:spcAft>
              </a:pPr>
              <a:r>
                <a:rPr sz="1000" b="0" i="1">
                  <a:solidFill>
                    <a:srgbClr val="5C5861"/>
                  </a:solidFill>
                  <a:latin typeface="微软雅黑"/>
                </a:rPr>
                <a:t>American Economic Journal: Applied Economics, 2024, 16(2): 389–421</a:t>
              </a:r>
              <a:endParaRPr sz="1000" b="0" i="1">
                <a:solidFill>
                  <a:srgbClr val="5C5861"/>
                </a:solidFill>
                <a:latin typeface="微软雅黑"/>
              </a:endParaRPr>
            </a:p>
          </p:txBody>
        </p:sp>
        <p:sp>
          <p:nvSpPr>
            <p:cNvPr id="23" name="Rectangle 22"/>
            <p:cNvSpPr/>
            <p:nvPr/>
          </p:nvSpPr>
          <p:spPr>
            <a:xfrm>
              <a:off x="3168" y="2448"/>
              <a:ext cx="15408" cy="950"/>
            </a:xfrm>
            <a:prstGeom prst="rect">
              <a:avLst/>
            </a:prstGeom>
            <a:solidFill>
              <a:srgbClr val="F4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68" y="2448"/>
              <a:ext cx="75" cy="950"/>
            </a:xfrm>
            <a:prstGeom prst="rect">
              <a:avLst/>
            </a:prstGeom>
            <a:solidFill>
              <a:srgbClr val="701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5" y="2549"/>
              <a:ext cx="1872" cy="806"/>
            </a:xfrm>
            <a:prstGeom prst="rect">
              <a:avLst/>
            </a:prstGeom>
            <a:noFill/>
          </p:spPr>
          <p:txBody>
            <a:bodyPr wrap="square" lIns="18288" tIns="18288" rIns="18288">
              <a:spAutoFit/>
            </a:bodyPr>
            <a:lstStyle/>
            <a:p>
              <a:pPr>
                <a:spcAft>
                  <a:spcPts val="200"/>
                </a:spcAft>
              </a:pPr>
              <a:r>
                <a:rPr sz="1240" b="1">
                  <a:solidFill>
                    <a:srgbClr val="701179"/>
                  </a:solidFill>
                  <a:latin typeface="微软雅黑"/>
                </a:rPr>
                <a:t>研究问题</a:t>
              </a:r>
              <a:endParaRPr sz="1240" b="1">
                <a:solidFill>
                  <a:srgbClr val="701179"/>
                </a:solidFill>
                <a:latin typeface="微软雅黑"/>
              </a:endParaRPr>
            </a:p>
          </p:txBody>
        </p:sp>
        <p:sp>
          <p:nvSpPr>
            <p:cNvPr id="26" name="TextBox 25"/>
            <p:cNvSpPr txBox="1"/>
            <p:nvPr/>
          </p:nvSpPr>
          <p:spPr>
            <a:xfrm>
              <a:off x="5227" y="2527"/>
              <a:ext cx="13176" cy="439"/>
            </a:xfrm>
            <a:prstGeom prst="rect">
              <a:avLst/>
            </a:prstGeom>
            <a:noFill/>
          </p:spPr>
          <p:txBody>
            <a:bodyPr wrap="square" lIns="18288" tIns="18288" rIns="18288">
              <a:spAutoFit/>
            </a:bodyPr>
            <a:lstStyle/>
            <a:p>
              <a:pPr>
                <a:spcAft>
                  <a:spcPts val="200"/>
                </a:spcAft>
              </a:pPr>
              <a:r>
                <a:rPr sz="1400" b="0">
                  <a:solidFill>
                    <a:srgbClr val="232126"/>
                  </a:solidFill>
                  <a:latin typeface="微软雅黑"/>
                </a:rPr>
                <a:t>公路连接提高福利，是因为商品运输更便宜，还是因为劳动者更容易迁移？两种渠道各贡献多少？</a:t>
              </a:r>
              <a:endParaRPr sz="1400" b="0">
                <a:solidFill>
                  <a:srgbClr val="232126"/>
                </a:solidFill>
                <a:latin typeface="微软雅黑"/>
              </a:endParaRPr>
            </a:p>
          </p:txBody>
        </p:sp>
        <p:sp>
          <p:nvSpPr>
            <p:cNvPr id="27" name="Rectangle 26"/>
            <p:cNvSpPr/>
            <p:nvPr/>
          </p:nvSpPr>
          <p:spPr>
            <a:xfrm>
              <a:off x="3168" y="3600"/>
              <a:ext cx="7430" cy="504"/>
            </a:xfrm>
            <a:prstGeom prst="rect">
              <a:avLst/>
            </a:prstGeom>
            <a:solidFill>
              <a:srgbClr val="E6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55" y="3686"/>
              <a:ext cx="7070" cy="389"/>
            </a:xfrm>
            <a:prstGeom prst="rect">
              <a:avLst/>
            </a:prstGeom>
            <a:noFill/>
          </p:spPr>
          <p:txBody>
            <a:bodyPr wrap="square" lIns="18288" tIns="18288" rIns="18288">
              <a:spAutoFit/>
            </a:bodyPr>
            <a:lstStyle/>
            <a:p>
              <a:pPr>
                <a:spcAft>
                  <a:spcPts val="200"/>
                </a:spcAft>
              </a:pPr>
              <a:r>
                <a:rPr sz="1360" b="1">
                  <a:solidFill>
                    <a:srgbClr val="701179"/>
                  </a:solidFill>
                  <a:latin typeface="微软雅黑"/>
                </a:rPr>
                <a:t>Bryan &amp; Morten：迁移配置为核心</a:t>
              </a:r>
              <a:endParaRPr sz="1360" b="1">
                <a:solidFill>
                  <a:srgbClr val="701179"/>
                </a:solidFill>
                <a:latin typeface="微软雅黑"/>
              </a:endParaRPr>
            </a:p>
          </p:txBody>
        </p:sp>
        <p:sp>
          <p:nvSpPr>
            <p:cNvPr id="29" name="Rectangle 28"/>
            <p:cNvSpPr/>
            <p:nvPr/>
          </p:nvSpPr>
          <p:spPr>
            <a:xfrm>
              <a:off x="10930" y="3600"/>
              <a:ext cx="7646" cy="504"/>
            </a:xfrm>
            <a:prstGeom prst="rect">
              <a:avLst/>
            </a:prstGeom>
            <a:solidFill>
              <a:srgbClr val="E6E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17" y="3686"/>
              <a:ext cx="7286" cy="389"/>
            </a:xfrm>
            <a:prstGeom prst="rect">
              <a:avLst/>
            </a:prstGeom>
            <a:noFill/>
          </p:spPr>
          <p:txBody>
            <a:bodyPr wrap="square" lIns="18288" tIns="18288" rIns="18288">
              <a:spAutoFit/>
            </a:bodyPr>
            <a:lstStyle/>
            <a:p>
              <a:pPr>
                <a:spcAft>
                  <a:spcPts val="200"/>
                </a:spcAft>
              </a:pPr>
              <a:r>
                <a:rPr sz="1360" b="1">
                  <a:solidFill>
                    <a:srgbClr val="701179"/>
                  </a:solidFill>
                  <a:latin typeface="微软雅黑"/>
                </a:rPr>
                <a:t>Morten &amp; Oliveira：贸易流 + 迁移流</a:t>
              </a:r>
              <a:endParaRPr sz="1360" b="1">
                <a:solidFill>
                  <a:srgbClr val="701179"/>
                </a:solidFill>
                <a:latin typeface="微软雅黑"/>
              </a:endParaRPr>
            </a:p>
          </p:txBody>
        </p:sp>
        <mc:AlternateContent xmlns:mc="http://schemas.openxmlformats.org/markup-compatibility/2006">
          <mc:Choice xmlns:a14="http://schemas.microsoft.com/office/drawing/2010/main" Requires="a14">
            <p:sp>
              <p:nvSpPr>
                <p:cNvPr id="31" name="TextBox 30"/>
                <p:cNvSpPr txBox="1"/>
                <p:nvPr/>
              </p:nvSpPr>
              <p:spPr>
                <a:xfrm>
                  <a:off x="3326" y="4219"/>
                  <a:ext cx="6998" cy="681"/>
                </a:xfrm>
                <a:prstGeom prst="rect">
                  <a:avLst/>
                </a:prstGeom>
                <a:noFill/>
              </p:spPr>
              <p:txBody>
                <a:bodyPr wrap="square" lIns="18288" tIns="18288" rIns="18288">
                  <a:spAutoFit/>
                </a:bodyPr>
                <a:lstStyle/>
                <a:p>
                  <a:pPr>
                    <a:spcAft>
                      <a:spcPts val="200"/>
                    </a:spcAft>
                  </a:pPr>
                  <a:r>
                    <a:rPr sz="1200" b="0">
                      <a:solidFill>
                        <a:srgbClr val="232126"/>
                      </a:solidFill>
                      <a:latin typeface="微软雅黑"/>
                    </a:rPr>
                    <a:t>原模型以迁移成本 </a:t>
                  </a:r>
                  <a14:m>
                    <m:oMath xmlns:m="http://schemas.openxmlformats.org/officeDocument/2006/math">
                      <m:sSub>
                        <m:sSubPr>
                          <m:ctrlPr>
                            <a:rPr lang="en-US" sz="1200" b="0" i="1">
                              <a:solidFill>
                                <a:srgbClr val="232126"/>
                              </a:solidFill>
                              <a:latin typeface="DejaVu Math TeX Gyre" panose="02000503000000000000" charset="0"/>
                              <a:cs typeface="DejaVu Math TeX Gyre" panose="02000503000000000000" charset="0"/>
                            </a:rPr>
                          </m:ctrlPr>
                        </m:sSubPr>
                        <m:e>
                          <m:r>
                            <a:rPr lang="en-US" sz="1200" i="1">
                              <a:solidFill>
                                <a:srgbClr val="232126"/>
                              </a:solidFill>
                              <a:latin typeface="DejaVu Math TeX Gyre" panose="02000503000000000000" charset="0"/>
                              <a:cs typeface="DejaVu Math TeX Gyre" panose="02000503000000000000" charset="0"/>
                            </a:rPr>
                            <m:t>𝜏</m:t>
                          </m:r>
                        </m:e>
                        <m:sub>
                          <m:r>
                            <a:rPr lang="en-US" sz="1200" b="0" i="1">
                              <a:solidFill>
                                <a:srgbClr val="232126"/>
                              </a:solidFill>
                              <a:latin typeface="DejaVu Math TeX Gyre" panose="02000503000000000000" charset="0"/>
                              <a:cs typeface="DejaVu Math TeX Gyre" panose="02000503000000000000" charset="0"/>
                            </a:rPr>
                            <m:t>𝑜𝑑</m:t>
                          </m:r>
                        </m:sub>
                      </m:sSub>
                    </m:oMath>
                  </a14:m>
                  <a:r>
                    <a:rPr sz="1200" b="0">
                      <a:solidFill>
                        <a:srgbClr val="232126"/>
                      </a:solidFill>
                      <a:latin typeface="微软雅黑"/>
                    </a:rPr>
                    <a:t>、地区技能选择 </a:t>
                  </a:r>
                  <a14:m>
                    <m:oMath xmlns:m="http://schemas.openxmlformats.org/officeDocument/2006/math">
                      <m:sSub>
                        <m:sSubPr>
                          <m:ctrlPr>
                            <a:rPr lang="en-US" sz="1200" b="0" i="1">
                              <a:solidFill>
                                <a:srgbClr val="232126"/>
                              </a:solidFill>
                              <a:latin typeface="DejaVu Math TeX Gyre" panose="02000503000000000000" charset="0"/>
                              <a:cs typeface="DejaVu Math TeX Gyre" panose="02000503000000000000" charset="0"/>
                            </a:rPr>
                          </m:ctrlPr>
                        </m:sSubPr>
                        <m:e>
                          <m:r>
                            <a:rPr lang="en-US" sz="1200" i="1">
                              <a:solidFill>
                                <a:srgbClr val="232126"/>
                              </a:solidFill>
                              <a:latin typeface="DejaVu Math TeX Gyre" panose="02000503000000000000" charset="0"/>
                              <a:cs typeface="DejaVu Math TeX Gyre" panose="02000503000000000000" charset="0"/>
                            </a:rPr>
                            <m:t>𝜏</m:t>
                          </m:r>
                        </m:e>
                        <m:sub>
                          <m:r>
                            <a:rPr lang="en-US" sz="1200" b="0" i="1">
                              <a:solidFill>
                                <a:srgbClr val="232126"/>
                              </a:solidFill>
                              <a:latin typeface="DejaVu Math TeX Gyre" panose="02000503000000000000" charset="0"/>
                              <a:cs typeface="DejaVu Math TeX Gyre" panose="02000503000000000000" charset="0"/>
                            </a:rPr>
                            <m:t>𝑜𝑑</m:t>
                          </m:r>
                        </m:sub>
                      </m:sSub>
                    </m:oMath>
                  </a14:m>
                  <a:r>
                    <a:rPr sz="1200" b="0">
                      <a:solidFill>
                        <a:srgbClr val="232126"/>
                      </a:solidFill>
                      <a:latin typeface="微软雅黑"/>
                    </a:rPr>
                    <a:t>和 CES 地区产品聚合构成均衡</a:t>
                  </a:r>
                  <a:endParaRPr sz="1200" b="0">
                    <a:solidFill>
                      <a:srgbClr val="232126"/>
                    </a:solidFill>
                    <a:latin typeface="微软雅黑"/>
                  </a:endParaRPr>
                </a:p>
              </p:txBody>
            </p:sp>
          </mc:Choice>
          <mc:Fallback>
            <p:sp>
              <p:nvSpPr>
                <p:cNvPr id="31" name="TextBox 30"/>
                <p:cNvSpPr txBox="1">
                  <a:spLocks noRot="1" noChangeAspect="1" noMove="1" noResize="1" noEditPoints="1" noAdjustHandles="1" noChangeArrowheads="1" noChangeShapeType="1" noTextEdit="1"/>
                </p:cNvSpPr>
                <p:nvPr/>
              </p:nvSpPr>
              <p:spPr>
                <a:xfrm>
                  <a:off x="3326" y="4219"/>
                  <a:ext cx="6998" cy="681"/>
                </a:xfrm>
                <a:prstGeom prst="rect">
                  <a:avLst/>
                </a:prstGeom>
                <a:blipFill rotWithShape="1">
                  <a:blip r:embed="rId1"/>
                </a:blipFill>
              </p:spPr>
              <p:txBody>
                <a:bodyPr/>
                <a:lstStyle/>
                <a:p>
                  <a:r>
                    <a:rPr lang="zh-CN" altLang="en-US">
                      <a:noFill/>
                    </a:rPr>
                    <a:t> </a:t>
                  </a:r>
                </a:p>
              </p:txBody>
            </p:sp>
          </mc:Fallback>
        </mc:AlternateContent>
        <p:sp>
          <p:nvSpPr>
            <p:cNvPr id="32" name="Rectangle 31"/>
            <p:cNvSpPr/>
            <p:nvPr/>
          </p:nvSpPr>
          <p:spPr>
            <a:xfrm>
              <a:off x="3326" y="5268"/>
              <a:ext cx="6998" cy="994"/>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28" y="5314"/>
              <a:ext cx="6624" cy="463"/>
            </a:xfrm>
            <a:prstGeom prst="rect">
              <a:avLst/>
            </a:prstGeom>
            <a:noFill/>
          </p:spPr>
          <p:txBody>
            <a:bodyPr wrap="square" lIns="18288" tIns="18288" rIns="18288">
              <a:spAutoFit/>
            </a:bodyPr>
            <a:lstStyle/>
            <a:p>
              <a:pPr>
                <a:spcAft>
                  <a:spcPts val="200"/>
                </a:spcAft>
              </a:pPr>
              <a:endParaRPr sz="1500" b="1">
                <a:solidFill>
                  <a:srgbClr val="701179"/>
                </a:solidFill>
                <a:latin typeface="Cambria Math"/>
              </a:endParaRPr>
            </a:p>
          </p:txBody>
        </p:sp>
        <p:sp>
          <p:nvSpPr>
            <p:cNvPr id="35" name="TextBox 34"/>
            <p:cNvSpPr txBox="1"/>
            <p:nvPr/>
          </p:nvSpPr>
          <p:spPr>
            <a:xfrm>
              <a:off x="3326" y="6437"/>
              <a:ext cx="6998" cy="671"/>
            </a:xfrm>
            <a:prstGeom prst="rect">
              <a:avLst/>
            </a:prstGeom>
            <a:noFill/>
          </p:spPr>
          <p:txBody>
            <a:bodyPr wrap="square" lIns="18288" tIns="18288" rIns="18288">
              <a:spAutoFit/>
            </a:bodyPr>
            <a:lstStyle/>
            <a:p>
              <a:pPr>
                <a:spcAft>
                  <a:spcPts val="200"/>
                </a:spcAft>
              </a:pPr>
              <a:r>
                <a:rPr sz="1180" b="0">
                  <a:solidFill>
                    <a:srgbClr val="232126"/>
                  </a:solidFill>
                  <a:latin typeface="微软雅黑"/>
                </a:rPr>
                <a:t>虽然已经有商品价格，模型并未将双边公路运输费用作为主要识别对象；不能直接分解贸易与迁移两条公路效应</a:t>
              </a:r>
              <a:endParaRPr sz="1180" b="0">
                <a:solidFill>
                  <a:srgbClr val="232126"/>
                </a:solidFill>
                <a:latin typeface="微软雅黑"/>
              </a:endParaRPr>
            </a:p>
          </p:txBody>
        </p:sp>
        <mc:AlternateContent xmlns:mc="http://schemas.openxmlformats.org/markup-compatibility/2006">
          <mc:Choice xmlns:a14="http://schemas.microsoft.com/office/drawing/2010/main" Requires="a14">
            <p:sp>
              <p:nvSpPr>
                <p:cNvPr id="36" name="TextBox 35"/>
                <p:cNvSpPr txBox="1"/>
                <p:nvPr/>
              </p:nvSpPr>
              <p:spPr>
                <a:xfrm>
                  <a:off x="11117" y="4190"/>
                  <a:ext cx="7128" cy="461"/>
                </a:xfrm>
                <a:prstGeom prst="rect">
                  <a:avLst/>
                </a:prstGeom>
                <a:noFill/>
              </p:spPr>
              <p:txBody>
                <a:bodyPr wrap="square" lIns="18288" tIns="18288" rIns="18288">
                  <a:spAutoFit/>
                </a:bodyPr>
                <a:lstStyle/>
                <a:p>
                  <a:pPr>
                    <a:spcAft>
                      <a:spcPts val="200"/>
                    </a:spcAft>
                  </a:pPr>
                  <a:r>
                    <a:rPr sz="1170" b="0">
                      <a:solidFill>
                        <a:srgbClr val="232126"/>
                      </a:solidFill>
                      <a:latin typeface="微软雅黑"/>
                    </a:rPr>
                    <a:t>① 加入冰山商品贸易成本 </a:t>
                  </a:r>
                  <a14:m>
                    <m:oMath xmlns:m="http://schemas.openxmlformats.org/officeDocument/2006/math">
                      <m:sSubSup>
                        <m:sSubSupPr>
                          <m:ctrlPr>
                            <a:rPr lang="en-US" sz="1170" b="0" i="1">
                              <a:solidFill>
                                <a:srgbClr val="232126"/>
                              </a:solidFill>
                              <a:latin typeface="DejaVu Math TeX Gyre" panose="02000503000000000000" charset="0"/>
                              <a:cs typeface="DejaVu Math TeX Gyre" panose="02000503000000000000" charset="0"/>
                            </a:rPr>
                          </m:ctrlPr>
                        </m:sSubSupPr>
                        <m:e>
                          <m:r>
                            <a:rPr lang="en-US" sz="1170" i="1">
                              <a:solidFill>
                                <a:srgbClr val="232126"/>
                              </a:solidFill>
                              <a:latin typeface="DejaVu Math TeX Gyre" panose="02000503000000000000" charset="0"/>
                              <a:cs typeface="DejaVu Math TeX Gyre" panose="02000503000000000000" charset="0"/>
                            </a:rPr>
                            <m:t>𝜏</m:t>
                          </m:r>
                        </m:e>
                        <m:sub>
                          <m:r>
                            <a:rPr lang="en-US" sz="1170" b="0" i="1">
                              <a:solidFill>
                                <a:srgbClr val="232126"/>
                              </a:solidFill>
                              <a:latin typeface="DejaVu Math TeX Gyre" panose="02000503000000000000" charset="0"/>
                              <a:cs typeface="DejaVu Math TeX Gyre" panose="02000503000000000000" charset="0"/>
                            </a:rPr>
                            <m:t>𝑜𝑑</m:t>
                          </m:r>
                        </m:sub>
                        <m:sup>
                          <m:r>
                            <a:rPr lang="en-US" sz="1170" b="0" i="1">
                              <a:solidFill>
                                <a:srgbClr val="232126"/>
                              </a:solidFill>
                              <a:latin typeface="DejaVu Math TeX Gyre" panose="02000503000000000000" charset="0"/>
                              <a:cs typeface="DejaVu Math TeX Gyre" panose="02000503000000000000" charset="0"/>
                            </a:rPr>
                            <m:t>𝑔</m:t>
                          </m:r>
                        </m:sup>
                      </m:sSubSup>
                    </m:oMath>
                  </a14:m>
                  <a:r>
                    <a:rPr sz="1170" b="0">
                      <a:solidFill>
                        <a:srgbClr val="232126"/>
                      </a:solidFill>
                      <a:latin typeface="微软雅黑"/>
                    </a:rPr>
                    <a:t>≥1 和人口迁移成本 </a:t>
                  </a:r>
                  <a14:m>
                    <m:oMath xmlns:m="http://schemas.openxmlformats.org/officeDocument/2006/math">
                      <m:sSub>
                        <m:sSubPr>
                          <m:ctrlPr>
                            <a:rPr lang="en-US" sz="1170" b="0" i="1">
                              <a:solidFill>
                                <a:srgbClr val="232126"/>
                              </a:solidFill>
                              <a:latin typeface="DejaVu Math TeX Gyre" panose="02000503000000000000" charset="0"/>
                              <a:cs typeface="DejaVu Math TeX Gyre" panose="02000503000000000000" charset="0"/>
                            </a:rPr>
                          </m:ctrlPr>
                        </m:sSubPr>
                        <m:e>
                          <m:r>
                            <a:rPr lang="en-US" sz="1170" i="1">
                              <a:solidFill>
                                <a:srgbClr val="232126"/>
                              </a:solidFill>
                              <a:latin typeface="DejaVu Math TeX Gyre" panose="02000503000000000000" charset="0"/>
                              <a:cs typeface="DejaVu Math TeX Gyre" panose="02000503000000000000" charset="0"/>
                            </a:rPr>
                            <m:t>𝜅</m:t>
                          </m:r>
                        </m:e>
                        <m:sub>
                          <m:r>
                            <a:rPr lang="en-US" sz="1170" b="0" i="1">
                              <a:solidFill>
                                <a:srgbClr val="232126"/>
                              </a:solidFill>
                              <a:latin typeface="DejaVu Math TeX Gyre" panose="02000503000000000000" charset="0"/>
                              <a:cs typeface="DejaVu Math TeX Gyre" panose="02000503000000000000" charset="0"/>
                            </a:rPr>
                            <m:t>𝑜𝑑</m:t>
                          </m:r>
                        </m:sub>
                      </m:sSub>
                    </m:oMath>
                  </a14:m>
                  <a:r>
                    <a:rPr sz="1170" b="0">
                      <a:solidFill>
                        <a:srgbClr val="232126"/>
                      </a:solidFill>
                      <a:latin typeface="微软雅黑"/>
                    </a:rPr>
                    <a:t>≥1</a:t>
                  </a:r>
                  <a:endParaRPr sz="1170" b="0">
                    <a:solidFill>
                      <a:srgbClr val="232126"/>
                    </a:solidFill>
                    <a:latin typeface="微软雅黑"/>
                  </a:endParaRPr>
                </a:p>
              </p:txBody>
            </p:sp>
          </mc:Choice>
          <mc:Fallback>
            <p:sp>
              <p:nvSpPr>
                <p:cNvPr id="36" name="TextBox 35"/>
                <p:cNvSpPr txBox="1">
                  <a:spLocks noRot="1" noChangeAspect="1" noMove="1" noResize="1" noEditPoints="1" noAdjustHandles="1" noChangeArrowheads="1" noChangeShapeType="1" noTextEdit="1"/>
                </p:cNvSpPr>
                <p:nvPr/>
              </p:nvSpPr>
              <p:spPr>
                <a:xfrm>
                  <a:off x="11117" y="4190"/>
                  <a:ext cx="7128" cy="461"/>
                </a:xfrm>
                <a:prstGeom prst="rect">
                  <a:avLst/>
                </a:prstGeom>
                <a:blipFill rotWithShape="1">
                  <a:blip r:embed="rId2"/>
                </a:blipFill>
              </p:spPr>
              <p:txBody>
                <a:bodyPr/>
                <a:lstStyle/>
                <a:p>
                  <a:r>
                    <a:rPr lang="zh-CN" altLang="en-US">
                      <a:noFill/>
                    </a:rPr>
                    <a:t> </a:t>
                  </a:r>
                </a:p>
              </p:txBody>
            </p:sp>
          </mc:Fallback>
        </mc:AlternateContent>
        <p:sp>
          <p:nvSpPr>
            <p:cNvPr id="37" name="Rectangle 36"/>
            <p:cNvSpPr/>
            <p:nvPr/>
          </p:nvSpPr>
          <p:spPr>
            <a:xfrm>
              <a:off x="11059" y="5270"/>
              <a:ext cx="7128" cy="994"/>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117" y="6385"/>
              <a:ext cx="7013" cy="671"/>
            </a:xfrm>
            <a:prstGeom prst="rect">
              <a:avLst/>
            </a:prstGeom>
            <a:noFill/>
          </p:spPr>
          <p:txBody>
            <a:bodyPr wrap="square" lIns="18288" tIns="18288" rIns="18288">
              <a:spAutoFit/>
            </a:bodyPr>
            <a:lstStyle/>
            <a:p>
              <a:pPr>
                <a:spcAft>
                  <a:spcPts val="200"/>
                </a:spcAft>
              </a:pPr>
              <a:r>
                <a:rPr sz="1180" b="0">
                  <a:solidFill>
                    <a:srgbClr val="232126"/>
                  </a:solidFill>
                  <a:latin typeface="微软雅黑"/>
                </a:rPr>
                <a:t>② 定义 TMA（商品贸易市场可达性）及 LMA（劳动力市场可达性）③ 商品价格、工资、租金与人口一起内生调整</a:t>
              </a:r>
              <a:endParaRPr sz="1180" b="0">
                <a:solidFill>
                  <a:srgbClr val="232126"/>
                </a:solidFill>
                <a:latin typeface="微软雅黑"/>
              </a:endParaRPr>
            </a:p>
          </p:txBody>
        </p:sp>
        <p:sp>
          <p:nvSpPr>
            <p:cNvPr id="42" name="Rectangle 41"/>
            <p:cNvSpPr/>
            <p:nvPr/>
          </p:nvSpPr>
          <p:spPr>
            <a:xfrm>
              <a:off x="3096" y="7194"/>
              <a:ext cx="15437" cy="706"/>
            </a:xfrm>
            <a:prstGeom prst="rect">
              <a:avLst/>
            </a:prstGeom>
            <a:solidFill>
              <a:srgbClr val="E9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83" y="7353"/>
              <a:ext cx="14976" cy="390"/>
            </a:xfrm>
            <a:prstGeom prst="rect">
              <a:avLst/>
            </a:prstGeom>
            <a:noFill/>
          </p:spPr>
          <p:txBody>
            <a:bodyPr wrap="square" lIns="18288" tIns="18288" rIns="18288">
              <a:spAutoFit/>
            </a:bodyPr>
            <a:lstStyle/>
            <a:p>
              <a:pPr>
                <a:spcAft>
                  <a:spcPts val="200"/>
                </a:spcAft>
              </a:pPr>
              <a:r>
                <a:rPr sz="1200" b="1">
                  <a:solidFill>
                    <a:srgbClr val="701179"/>
                  </a:solidFill>
                  <a:latin typeface="微软雅黑"/>
                </a:rPr>
                <a:t>结果：公路建设带来福利约 +2.8%；其中贸易渠道占 76%，迁移渠道占 24%</a:t>
              </a:r>
              <a:endParaRPr sz="1200" b="1">
                <a:solidFill>
                  <a:srgbClr val="701179"/>
                </a:solidFill>
                <a:latin typeface="微软雅黑"/>
              </a:endParaRPr>
            </a:p>
          </p:txBody>
        </p:sp>
      </p:grpSp>
      <p:pic>
        <p:nvPicPr>
          <p:cNvPr id="3" name="334E55B0-647D-440b-865C-3EC943EB4CBC-124" descr="wpsoffice"/>
          <p:cNvPicPr>
            <a:picLocks noChangeAspect="1"/>
          </p:cNvPicPr>
          <p:nvPr/>
        </p:nvPicPr>
        <p:blipFill>
          <a:blip r:embed="rId3"/>
          <a:stretch>
            <a:fillRect/>
          </a:stretch>
        </p:blipFill>
        <p:spPr>
          <a:xfrm>
            <a:off x="2249170" y="3769360"/>
            <a:ext cx="3231515" cy="240665"/>
          </a:xfrm>
          <a:prstGeom prst="rect">
            <a:avLst/>
          </a:prstGeom>
        </p:spPr>
      </p:pic>
      <p:pic>
        <p:nvPicPr>
          <p:cNvPr id="4" name="334E55B0-647D-440b-865C-3EC943EB4CBC-125" descr="wpsoffice"/>
          <p:cNvPicPr>
            <a:picLocks noChangeAspect="1"/>
          </p:cNvPicPr>
          <p:nvPr/>
        </p:nvPicPr>
        <p:blipFill>
          <a:blip r:embed="rId4"/>
          <a:stretch>
            <a:fillRect/>
          </a:stretch>
        </p:blipFill>
        <p:spPr>
          <a:xfrm>
            <a:off x="7278370" y="3769360"/>
            <a:ext cx="2724785" cy="237490"/>
          </a:xfrm>
          <a:prstGeom prst="rect">
            <a:avLst/>
          </a:prstGeom>
        </p:spPr>
      </p:pic>
      <mc:AlternateContent xmlns:mc="http://schemas.openxmlformats.org/markup-compatibility/2006">
        <mc:Choice xmlns:a14="http://schemas.microsoft.com/office/drawing/2010/main" Requires="a14">
          <p:sp>
            <p:nvSpPr>
              <p:cNvPr id="7" name="TextBox 35"/>
              <p:cNvSpPr txBox="1"/>
              <p:nvPr/>
            </p:nvSpPr>
            <p:spPr>
              <a:xfrm>
                <a:off x="7278370" y="3094355"/>
                <a:ext cx="4526280" cy="470535"/>
              </a:xfrm>
              <a:prstGeom prst="rect">
                <a:avLst/>
              </a:prstGeom>
              <a:noFill/>
            </p:spPr>
            <p:txBody>
              <a:bodyPr wrap="square" lIns="18288" tIns="18288" rIns="18288">
                <a:spAutoFit/>
              </a:bodyPr>
              <a:lstStyle/>
              <a:p>
                <a:pPr>
                  <a:spcAft>
                    <a:spcPts val="200"/>
                  </a:spcAft>
                </a:pPr>
                <a14:m>
                  <m:oMath xmlns:m="http://schemas.openxmlformats.org/officeDocument/2006/math">
                    <m:sSub>
                      <m:sSubPr>
                        <m:ctrlPr>
                          <a:rPr lang="en-US" sz="1170" b="0" i="1">
                            <a:solidFill>
                              <a:srgbClr val="232126"/>
                            </a:solidFill>
                            <a:latin typeface="DejaVu Math TeX Gyre" panose="02000503000000000000" charset="0"/>
                            <a:cs typeface="DejaVu Math TeX Gyre" panose="02000503000000000000" charset="0"/>
                          </a:rPr>
                        </m:ctrlPr>
                      </m:sSubPr>
                      <m:e>
                        <m:r>
                          <a:rPr lang="en-US" sz="1170" b="0" i="1">
                            <a:solidFill>
                              <a:srgbClr val="232126"/>
                            </a:solidFill>
                            <a:latin typeface="DejaVu Math TeX Gyre" panose="02000503000000000000" charset="0"/>
                            <a:cs typeface="DejaVu Math TeX Gyre" panose="02000503000000000000" charset="0"/>
                          </a:rPr>
                          <m:t>𝑋</m:t>
                        </m:r>
                      </m:e>
                      <m:sub>
                        <m:r>
                          <a:rPr lang="en-US" sz="1170" b="0" i="1">
                            <a:solidFill>
                              <a:srgbClr val="232126"/>
                            </a:solidFill>
                            <a:latin typeface="DejaVu Math TeX Gyre" panose="02000503000000000000" charset="0"/>
                            <a:cs typeface="DejaVu Math TeX Gyre" panose="02000503000000000000" charset="0"/>
                          </a:rPr>
                          <m:t>𝑜𝑑</m:t>
                        </m:r>
                      </m:sub>
                    </m:sSub>
                  </m:oMath>
                </a14:m>
                <a:r>
                  <a:rPr lang="en-US" sz="1170" b="0">
                    <a:solidFill>
                      <a:srgbClr val="232126"/>
                    </a:solidFill>
                    <a:latin typeface="微软雅黑"/>
                  </a:rPr>
                  <a:t>:</a:t>
                </a:r>
                <a:r>
                  <a:rPr sz="1170" b="0">
                    <a:solidFill>
                      <a:srgbClr val="232126"/>
                    </a:solidFill>
                    <a:latin typeface="微软雅黑"/>
                  </a:rPr>
                  <a:t>从地区</a:t>
                </a:r>
                <a:r>
                  <a:rPr lang="en-US" sz="1170" b="0">
                    <a:solidFill>
                      <a:srgbClr val="232126"/>
                    </a:solidFill>
                    <a:latin typeface="微软雅黑"/>
                  </a:rPr>
                  <a:t>o</a:t>
                </a:r>
                <a:r>
                  <a:rPr lang="zh-CN" altLang="en-US" sz="1170" b="0">
                    <a:solidFill>
                      <a:srgbClr val="232126"/>
                    </a:solidFill>
                    <a:latin typeface="微软雅黑"/>
                  </a:rPr>
                  <a:t>向地区</a:t>
                </a:r>
                <a:r>
                  <a:rPr lang="en-US" sz="1170" b="0">
                    <a:solidFill>
                      <a:srgbClr val="232126"/>
                    </a:solidFill>
                    <a:latin typeface="微软雅黑"/>
                  </a:rPr>
                  <a:t>d</a:t>
                </a:r>
                <a:r>
                  <a:rPr lang="zh-CN" altLang="en-US" sz="1170" b="0">
                    <a:solidFill>
                      <a:srgbClr val="232126"/>
                    </a:solidFill>
                    <a:latin typeface="微软雅黑"/>
                  </a:rPr>
                  <a:t>的商品贸易流量</a:t>
                </a:r>
                <a:r>
                  <a:rPr lang="en-US" altLang="zh-CN" sz="1170" b="0">
                    <a:solidFill>
                      <a:srgbClr val="232126"/>
                    </a:solidFill>
                    <a:latin typeface="微软雅黑"/>
                  </a:rPr>
                  <a:t>;</a:t>
                </a:r>
                <a:endParaRPr lang="en-US" altLang="zh-CN" sz="1170" b="0">
                  <a:solidFill>
                    <a:srgbClr val="232126"/>
                  </a:solidFill>
                  <a:latin typeface="微软雅黑"/>
                </a:endParaRPr>
              </a:p>
              <a:p>
                <a:pPr>
                  <a:spcAft>
                    <a:spcPts val="200"/>
                  </a:spcAft>
                </a:pPr>
                <a14:m>
                  <m:oMath xmlns:m="http://schemas.openxmlformats.org/officeDocument/2006/math">
                    <m:sSub>
                      <m:sSubPr>
                        <m:ctrlPr>
                          <a:rPr lang="en-US" sz="1170" b="0" i="1">
                            <a:solidFill>
                              <a:srgbClr val="232126"/>
                            </a:solidFill>
                            <a:latin typeface="DejaVu Math TeX Gyre" panose="02000503000000000000" charset="0"/>
                            <a:cs typeface="DejaVu Math TeX Gyre" panose="02000503000000000000" charset="0"/>
                          </a:rPr>
                        </m:ctrlPr>
                      </m:sSubPr>
                      <m:e>
                        <m:r>
                          <a:rPr lang="en-US" sz="1170" b="0" i="1">
                            <a:solidFill>
                              <a:srgbClr val="232126"/>
                            </a:solidFill>
                            <a:latin typeface="DejaVu Math TeX Gyre" panose="02000503000000000000" charset="0"/>
                            <a:cs typeface="DejaVu Math TeX Gyre" panose="02000503000000000000" charset="0"/>
                          </a:rPr>
                          <m:t>𝑀</m:t>
                        </m:r>
                      </m:e>
                      <m:sub>
                        <m:r>
                          <a:rPr lang="en-US" sz="1170" b="0" i="1">
                            <a:solidFill>
                              <a:srgbClr val="232126"/>
                            </a:solidFill>
                            <a:latin typeface="DejaVu Math TeX Gyre" panose="02000503000000000000" charset="0"/>
                            <a:cs typeface="DejaVu Math TeX Gyre" panose="02000503000000000000" charset="0"/>
                          </a:rPr>
                          <m:t>𝑜𝑑</m:t>
                        </m:r>
                      </m:sub>
                    </m:sSub>
                  </m:oMath>
                </a14:m>
                <a:r>
                  <a:rPr lang="zh-CN" altLang="en-US" sz="1170" b="0">
                    <a:solidFill>
                      <a:srgbClr val="232126"/>
                    </a:solidFill>
                    <a:latin typeface="微软雅黑"/>
                  </a:rPr>
                  <a:t>从地区</a:t>
                </a:r>
                <a:r>
                  <a:rPr lang="en-US" altLang="zh-CN" sz="1170" b="0">
                    <a:solidFill>
                      <a:srgbClr val="232126"/>
                    </a:solidFill>
                    <a:latin typeface="微软雅黑"/>
                  </a:rPr>
                  <a:t>o</a:t>
                </a:r>
                <a:r>
                  <a:rPr lang="zh-CN" altLang="en-US" sz="1170" b="0">
                    <a:solidFill>
                      <a:srgbClr val="232126"/>
                    </a:solidFill>
                    <a:latin typeface="微软雅黑"/>
                  </a:rPr>
                  <a:t>迁往地区</a:t>
                </a:r>
                <a:r>
                  <a:rPr lang="en-US" altLang="zh-CN" sz="1170" b="0">
                    <a:solidFill>
                      <a:srgbClr val="232126"/>
                    </a:solidFill>
                    <a:latin typeface="微软雅黑"/>
                  </a:rPr>
                  <a:t>d</a:t>
                </a:r>
                <a:r>
                  <a:rPr lang="zh-CN" altLang="en-US" sz="1170" b="0">
                    <a:solidFill>
                      <a:srgbClr val="232126"/>
                    </a:solidFill>
                    <a:latin typeface="微软雅黑"/>
                  </a:rPr>
                  <a:t>的人口流量</a:t>
                </a:r>
                <a:endParaRPr lang="zh-CN" altLang="en-US" sz="1170" b="0">
                  <a:solidFill>
                    <a:srgbClr val="232126"/>
                  </a:solidFill>
                  <a:latin typeface="微软雅黑"/>
                </a:endParaRPr>
              </a:p>
            </p:txBody>
          </p:sp>
        </mc:Choice>
        <mc:Fallback>
          <p:sp>
            <p:nvSpPr>
              <p:cNvPr id="7" name="TextBox 35"/>
              <p:cNvSpPr txBox="1">
                <a:spLocks noRot="1" noChangeAspect="1" noMove="1" noResize="1" noEditPoints="1" noAdjustHandles="1" noChangeArrowheads="1" noChangeShapeType="1" noTextEdit="1"/>
              </p:cNvSpPr>
              <p:nvPr/>
            </p:nvSpPr>
            <p:spPr>
              <a:xfrm>
                <a:off x="7278370" y="3094355"/>
                <a:ext cx="4526280" cy="470535"/>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659698"/>
            <a:ext cx="9144000" cy="2387600"/>
          </a:xfrm>
        </p:spPr>
        <p:txBody>
          <a:bodyPr/>
          <a:lstStyle/>
          <a:p>
            <a:pPr algn="ctr"/>
            <a:r>
              <a:rPr lang="zh-CN" altLang="en-US" b="1">
                <a:solidFill>
                  <a:srgbClr val="660066"/>
                </a:solidFill>
                <a:latin typeface="楷体" panose="02010609060101010101" charset="-122"/>
                <a:ea typeface="楷体" panose="02010609060101010101" charset="-122"/>
                <a:cs typeface="楷体" panose="02010609060101010101" charset="-122"/>
              </a:rPr>
              <a:t>汇报完毕</a:t>
            </a:r>
            <a:br>
              <a:rPr lang="zh-CN" altLang="en-US" b="1">
                <a:solidFill>
                  <a:srgbClr val="660066"/>
                </a:solidFill>
                <a:latin typeface="楷体" panose="02010609060101010101" charset="-122"/>
                <a:ea typeface="楷体" panose="02010609060101010101" charset="-122"/>
                <a:cs typeface="楷体" panose="02010609060101010101" charset="-122"/>
              </a:rPr>
            </a:br>
            <a:r>
              <a:rPr lang="zh-CN" altLang="en-US" b="1">
                <a:solidFill>
                  <a:srgbClr val="660066"/>
                </a:solidFill>
                <a:latin typeface="楷体" panose="02010609060101010101" charset="-122"/>
                <a:ea typeface="楷体" panose="02010609060101010101" charset="-122"/>
                <a:cs typeface="楷体" panose="02010609060101010101" charset="-122"/>
              </a:rPr>
              <a:t>不足之处敬请大家批评指正！</a:t>
            </a:r>
            <a:endParaRPr lang="zh-CN" altLang="en-US" b="1">
              <a:solidFill>
                <a:srgbClr val="660066"/>
              </a:solidFill>
              <a:latin typeface="楷体" panose="02010609060101010101" charset="-122"/>
              <a:ea typeface="楷体" panose="02010609060101010101" charset="-122"/>
              <a:cs typeface="楷体" panose="02010609060101010101" charset="-122"/>
            </a:endParaRPr>
          </a:p>
        </p:txBody>
      </p:sp>
      <p:pic>
        <p:nvPicPr>
          <p:cNvPr id="7" name="图片 6" descr="南大校徽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9321025" y="-574161"/>
            <a:ext cx="3275957" cy="2456968"/>
          </a:xfrm>
          <a:prstGeom prst="rect">
            <a:avLst/>
          </a:prstGeom>
        </p:spPr>
      </p:pic>
    </p:spTree>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7">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7">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WEZCcFgzdHFaSDA5Y0Y5a0lFRmZaQ0JvWDN0cVpIMHRkMTk3YW1SOWFGOTdhbVI5SUZ4ZCIsCgkiTGF0ZXhJbWdCYXNlNjQiIDogImlWQk9SdzBLR2dvQUFBQU5TVWhFVWdBQUEzTUFBQUJWQkFNQUFBQVJlcUQvQUFBQU1GQk1WRVgvLy84QUFBQUFBQUFBQUFBQUFBQUFBQUFBQUFBQUFBQUFBQUFBQUFBQUFBQUFBQUFBQUFBQUFBQUFBQUFBQUFBdjNhQjdBQUFBRDNSU1RsTUFNcnRFVk4zdkVNMnJpV2FaZGlMSGNSUkdBQUFBQ1hCSVdYTUFBQTdFQUFBT3hBR1ZLdzRiQUFBUUlFbEVRVlI0QWUxY1RXaGtTUjEvUFVtbU04bE1FaGFVdmFWMWNkMjkyQkZQS215SFBlaEZ5SUJrZEVYb0tHUmNsTFd6NGc2Q0RCa1JkQld4eDBWZFJLR2pLTElnZG02ZXBJTjRjUm5NSEplOXBGbkJ3MTZTblRXOW1kazQ1YS9xMWRlclYvM3F2YXE4ZFBlNjc1QlhILytQMzcvKzlmR3ZldFdKb29sOEtxOU9KT3ozUVVmUklWbDV2eGttc3dYcVpOY0YvUGxQdi83U0QwNWRWT05TNzRQMmtROFBmeDRiRjhOTUhOT0U3SmhsUnY0U29jOTlvM1JjczE1b0c4eEUrNS8vakt1bEZ3bTU3Y0FHRWp6dk9xakdwZG9MN1FmV1c4ekk0M1gxWEdNbGc4M1BqNHRsSm80dUlUV3p6TWhQdmY0S0RIdG9sSTVyMWhmdHQ5dHdsZDZMNTVBLy9zdTRtaGxGQzhCMzFRMFBYWG5EVFRVdUZINW9GeTJ1ZTJkY1RMTGd1QUM4RzVaeW93aU5vWGRJbzNiY3NuNW9aeXl1MnhnMzB6UThEZUE5MHZKRGt0dkVIWWNPWVIxQnNSL2FXVFNGM2ovcGhKbGpRaHFCZmJIS0p2RGxtQlhXQ0ZrYUdjYkNpdjNRMGdsb2dseDNCWERKVys2MjJTZkVUVFEyRkg1b0o4eDEyNmR0UXQ1MnQzbVQzSE1UalEyRkg5b0pjMTNublhxZUhWdVZrUCtPaldPY1FEelJUcGJycHNndUpwY0h6c2JBa1V1T1dkVXA1cHdJUE5GT2x1dG1qcU11SWU3VHljdTV3dEJ6OG94VGpTZmF5WExkd1Z0UmorUll4ckRscVRsYmJHd0lQTkZPbE91cUNJWWJoSnc0RzMyYmtMdE9vckVoOEVRN1VhNjdSTGFpWlVJR3prWmYrei9ZMWtVVDVicGxoSTNvb3U0dEcySVpwM3ZIaDhBVDdVUzVybzF6bmtXNGJzdlY3TTBjazZwTHh2blZlNktkSk5mTjA2c05PS29sZlVlellxUGsza0E0Wkp4ZnRTL2FTWExkRGZyaG01Nlh3NE9aejFTdUU1ZE1FZWRZNll0MmtseTNUOCtkS2VCZFI4UGlEUDNJUVRKRzFiNW9SK1c2eXVQSFAyUE5OLy80NE1mOVhBMVpZUUUvdmNweDEwR1B6eUczb21qNmI4M05YenNvdzZ1QlB6WkVGL1hJczB0Nk5qdnRpM1pVcnVzT1d1U2pNT2xtYTlBazk3ZXlqWXRyWjQvcG0zNlYyb3NMaHY3ZHBsZVAzbXlSVFVLZUcwcDBOaFdWTmd6WkU3SzY4VjBtbkd3VnVGN2hpM1pFcnJzeVdKa214MXRScGZXZ0gzMG0zNEZqajMweG9KOTlib3VtR3ZKdVlEbWNKMTlmaXFaYlR0b2hJdklXTjA3NzgvSmtEdGgyS1NPY0Vmc3dseFJmdENOeTNUSjZaUjNOZW5DS0FZZjdKa3R1STZzdDVqSDBhRG9iWmo1ZFFxcWRiMUNTNVpKRHpRcFpqU0lKSHh1WHUxVHJHakRTZDc3SEYrMklYRmVIaVYzeWNJNWFUbE5mYzF0NU9kNFRWTkFzVngzVWJYSXllMitMRW1FZDZUdUlnNnB2MEV1UFRYRmd1c3lkU0YzSDFPZVM3WXQyTks1Ym9KMnlSeDUwNDA4ejIzbm1sME1jcGVDaFY4S09XR3JvSDJ5VVR1dTNXZlc4ZTJFY0tpWlBSV2NQVkMxeDBlbUFEN1lYZ0hFcER6dWw4VVo3aHE1Ny9oUERucWRNTXk3VDd6WXdsQnNJRUgyVEpKV25SeW4wQVpmRGRkZ29EZmhhZ3lSbmk1blArRytGRGk2MFBiOHRVK2VIT0FzdFlWa09mZDVvejg1MVZlQWQ5dHcxVEZpa293MXpQTCtxZ0E5V2V3WkZLanN0TnVMUTRRamZ0S3RSbUY0ZGZrNHBLbEp3Z1I3YW9PMjVEdmtwY2JuQWhPbU45dXhjQnd1R1BqV2pQUm9iS09qUUVKNDlpTXcyNHRUd3Z4ZkZaWk9tOVBnd1luckxyUjlYQWxTTysyUERCRG5MYWJRVm9lTnRNRXIwRTM3ZkgrNXc4Z29DYjdSZXJxdjg5WlVuMXBlRWJ2SCs1VkRQSGE4SUd2N2UzME9pSmIvZVlFVktEQ1NiL0s2Z2FNc0cwb1FtT0JiVnpSUklkcmt1d2FxSnpKUGNyNEVLNm00ell2UkFycXdxVGJOS1NhajBSdXZsdWtQcXBKVHJyQ2p0aGMxVnRrVEVnVWNVb1lFVFAwK3h5RjhRSTVRT1ZzR25oQ2M0R21xQlEvZmZVRlRXVklMVlNqRzhrS3lpYm8yd0Z6dWp1OHBwNjJLT3NQSW1WSHFqemVPNitXczdTUVRmb2o4cVNSWVZ5bFhwNnE0ZE9hQ0JFOTZ3eUw4Z3Y2L3UyejRMSkRpNjZvQWF4MmEza3RETzBwZ0thd1QwcFZqRm9scXl1M1FSRkUrMlNtKzBlVngzSU1JSmdZV2VGMlIySzBWb1RVMVRacmxFUkJFYVdEY1ZsU241YTNKWUh0aVBLalFPYkpTRVdueG5pQ2N6VVlDNE5uV05VMk9WWkxrU2M2ZVVUT0paRnNNUEd4OEpGd1RaS3IzUjVuRmRpN3hyV3JLZEhDWm10U05mb1QrODFGb1ZJRmdqS0xhVS9GWk5WSzRSYTdmUk9MU09zSjA2cXo1TFk2WStCbENZUFhoblFLZkNiTUtlaHI3Q1pxdjBScHZIZFVZUVFiR3RDYmd4VXArL2FOVmR6Z2N2R3FQT2xEOG5Rc2FJM2l0aTU5Q0dUc1dCcUZJT3JGNXFUYzVuekwvc1c5U1BDOWRveWpGbGJNVFp1Z0xXNDBXc0lsT2xQOW84cnR2bnkzQU1rUDN0aXEyTVZsWXdpZEhUNXl6d29qR3VUZm1INUxwNFd2WjdSWW9ESytlUndOSVI2NUFvaUhJWmc3NWtmMlNma1BKb2dMa1g1N1M1bzN0YkVXU3I5RWVieDNWVG45Vnd4TW0ydWZxbktKd0YreXFBYm1qanhDNi9ubXhKaTNDRktQNytGWk8wVXBOckxtUGdEdnVUaUtaaUZXdGlZR1A4eUJXdUxpWVVTcE9wMGg5dEh0ZkZFQk4vNVc0NlVWb28weVQ4c0lxZHE4U0htVktBSVgrS1BQa3I4WFRRcUgxSktCT0tBKzIrdzR1eFNUYUdzNlRYRW9wZUZNNDE3WjRiL0ZSUXFIZEhUSk1ZUDNLRnN5RlVMRFMwMmVGWmY3Uitya01IVzlHUmVLUng4aWRidGE1TmNVeVVLWDlHaTJmcHZhS2xsRUtObzZIQW9UWEZUajdGSVFzMFZsbFdJQ0hYYVl5ZkRjNVhzYTNHbWt4TnBUOWFQOWVoU1RRZ1hra0Vabktrd1JtMWhCQlQvb0htQUhwd3RKcWdwaG1ObzZ2QXdjMVhVNlJtZ2NacVZ1WElLenN3Zm01emhpdEd3R3pLMFZUNm8vVnozYXphT1ptbzh1YTFiUjJtTlJsc3h1eUcvS3FjWGxCTkVlK210R2djMmtacE9iVTNTREhTYjNvbmx0SzhSU3JBYkNoY0Z5emhqQzVRVSttUDFzOTFpOFFJNW5WYytkSUk0bXFjRW4zUVdCc00rWmZrVVFvNDRIUGRrMXlHeGlGbnNBaXhuU0dZVXlkZUdtdWlQRjlHalRXTW56N24yVDdLWnRaVStxUDFjMTFEN1p3VXhvcDlMNFRTcHhTUlRHMnJBUUV2R211REliOGhJemV3VTBmdlNURWlvVGl3anNnKzM4b3pvQlNyRUZia3ZTeW43N29LbVh1MWJCRktaUUJhUDlkMVZTd2xNUmI1WGdlbU5SVnN3SXU2YjFCcHlHL2VrbHJZV2JVY3I2cFljY0Mxb3MralhTelJ2R0tLVTRyVnJNbVRQNUJIS0MwVk10ZFhzMW1WeWdDMEx0ZFZYN3Yra3kwTng4THZtcytzUkczTDZvOTJHdnJVTkFrOGlibE1GTUw2cXlKdGszOGxFVkVpTGtoc0trME9iYU9FdVpXRzY5TXZjK241alJGdzNPK09HR3RheUZ5VnBrVXVsUUZvWGE0N0dEeWhndmdvcXRUSmo5cjNzUzNaU3h0VjRIc2RtSnRxczl4VTY3dFYvbllpWHFOQnpZYlNudUxBNHJQRHF4RmcxcENjZWNqekJZemhITzVYVzlpQnJpdEM1bm01WTQxY0tnUFFPbHgzWWJDQzJXdEZXdEFsLzR3VzZvL0orVjFXRkUyZ2o0cTVETDZRUzUxVmZpZHhYOHk0VjVUaWFDaHdTTzRDMlBKR2pLNFVZMW9pWXNOc0lMcklqRnhzblNvRDBEcGMxOFlONVVQVnliL0RGcVhaWXptL0YvV1lwRmZiSVJveWl1NXFsWS9mL2tzMm1zQ29rNmNXVVpxanE4QjE0aVQ3SmcvR1VveVJYUkRmaTQ4NHpzWUdUN2hWQnFETmR0MGxlb3F4TFh0VHRja0dJUHE5SENZQ1k5RTN0a1BDMEVNNXc5bmwzekNVd1hYQzFaR0ZvNjNBOGM5RHJTV0dyaHhqbW1JOVFXY1VGc2tUVExmS0FMVFpybXQ4QVVZZnltQjdoazhPSFhKYTFGVW1QWlloTWIyb1RhbGRmc2NJUDV0YTlHL2hVT2YzNkdLVWRZcTd2aHhqMm1MaVY3RmlSVzVEM1NvRDBHYTZyc3I2NjVwczVBNlBCSHRtTUc4NnhwM0hVT05IbU9pdDMrVDBWdm56c2pOenFyWmtwYmZLcnJKU2hRalJnbkExa25RY3pNYUtTakptWDNUamJUbVBjNFc0ZnVOc3Z4QzA5RVN3eHR1RXZ1aFp4WWJJejdGSWFWKzBIV2J6ZU9vNTBCWWJRVnZ3M1pQL2lPRUdHZlJqWnJ2OGc4UldBSlFkZFFCaDRVRG5GeXNoT2dWMTdOb0dFMStTTVEweFAyUFY0dk40TCs1T09EMXd0bDhJV25vT0x6UlJDK2tvUEdLbTRzOUZOcWMxUmR0dGk3TUowZGNGbmNjYjdSOGZHMkcxRWl1WFZUNzZrc1FUNjJuS3l5Qlloay9pTW9VSWZWSFlneTVkUTNWemhkR1VaQXlPZ3ZwVWZvWHM4K1drSXJlaGJwVUJhS3Y3YU1JSFc4dzIrcWQ2Z1B6OVBzL1ByOUlpR1VWMHhWUjBCajk5d2hGVjl4WlY4d0laTE5FM0hwdjhteTNFR2dvZnFCNEZRbkZZYU9GWTFQYWNMSG1aYjdKS01nYjlZNCtDdi9GZ2hnd1kwSC96bFFBSFA2dW95R3cvWDdSdjNubXBUZHVCbkR4NTU0OVFNaWZ5eDAvZStTM3k4WU5wWjRXbGdPR0lKYkQ4Ny9KSzN4ZEVQSmloc2M1VWsvMUNrc3F4eVAvVVIySjhmeGQ2dnZ1bngrT1MzN3k2Wk9XSWx0VzJEbjJoaGc1QlF5M3hsR0JNbDhVcEMrMWJzS2tHUGRPdEhhR052VE5WK3FKdHNGYUkvenlFbW0wdEw1WjZ0dnJGVUxDdzFGZ0tpWDVjNVAwWEl0NWVhSDB2cW5SRXRNSU9KMnRNb0pJdkFNbVFyU3RLR0JZYm9wN2ExdUhTMmNQb1Vmd0FVejJZZnVPTWpWV1JGVW5oenZPSG9tcnZaQ3Y2SURsWndYbVRPR3JnUWpKVitxSnRETlpmako5ckxlYTZ3U2JQcjdlVTYyYkVlb0psTUI1c2w4U3hYUkVMazdSc1cvY0d3ZDcrT2RteUZ2bnR3ZVlYWDF5L0xvSzRLT3FSNjVzQXZYNjlSYkZZT0tJRzRSTWtGRmJicEVsZTFqV1hZY3didU9mRWZwUk1WNTkxY3JLa0s2U1hGdmw2ZlA1bzVRVkh6TXQ5aHVxaTFqcEptTGx6RndtTmZaNXViZjVjc1JTWGIrTzRjbjFIaVp3MmY2TmZpakUzZjlFNlpndE05WFBYQmw5ZVVlcFpLbE5sdVdqWFJBUzRMQ2FiUXpYSkdUQnpady9WMXpySlUxeCtjWTVTakpFV1dCTUJLZ05ZR1pTT0NNNGJZdVQzc0lRRVBwampqWG1GM28zbE0wdHUrY1U1U2pFbXV5MENWQWF3TWt3dEhweGduZUczR3ZiVnBqMGI5ZkRhamhqQkdrbHgrY1U1U2pGR3M4R1NERkFad0VxQklPUzlHd1BxaVhteVNXOCsvY0dDTW45Uittb3JEVUg0aGlpMy9NSWM1UmlUYVhhQXlnQldCZ2xSTkovYTF2aU9IUHV2WGZ5d01ST3dveEtnakJBYURNWGxGK1lveFpoc1d3TlVCckF5VEFqak9iWmwvZ1dCU2F6d2RTa2I5N0JhaUpCZkl5Vk5jZm1GT1VveFJocGdUUVNvREdCbFVDNktEL2o0WFVTODJVTmdIMFZYMHFQR2l0eGVDRkJIcVpyaThndHpsR0pNeXBCRVFZREtBRllHNFZCT2JaZDVpbDFhbXhYSDh3bWNlVFB4dHM2Z0xpNi9NRWNweGhobUdOa0FsUUdzREVSUGJPc1FzTENiL3hneCtIYTVqRWpGLzhHMmJpZkZYVngrWVk1U2pFa1praWdJVUJuQXlpREl2UVg5WWUwS0lzNzI5K2s1V0IxSi93ZmJ1dFUwZDNINVJUbEtNU1p0aUY0U29ES0FsU0dRZXd2NmsrK3Y0S3ZRZlh6clhKblRmbnFqQTgyWnhyWnVLMDFhWEg1UmpsS01TUnVpbHdTb0RHQ2xDTlRlQXBrRDhrd2J0L3N1azN2dEgrcndpcWJ4amN2bU9nLzV4UkNWWWt5MjhRRXFBMWdaSnJXM1FMYjZXdXVaVmJ3LzJmb1NxL1Q3Yy9NZmJianVxM2QrbjJJdkxyOFlSd25HcEd3d0NnSlVCckF5RUdmd2djY3dodjc4Sm43TWl0THpKUmpqd2h5Z01vQ1ZvVnBVMzhwY0tQUFc5L2hIT1BWZExTOW5LRjBKeHJnZ0JhZ01ZR1dvMVArMGNJR2NnUG9SR0JPZzBwOTF1a20zYm5WNXYyb0NYRE1jNGdpTUNWQVp3TXFhWUkwZTVPT25IRUVidU9HTmViNDFJekFtUUdVQUsydldOajMzbWpuN3BlNThmY2ExamNDWUFKVUJyTXhlOXFPQXJ2ak9PcElHUHp1bEl6QW1RR1VBSzJ1eU5qNnh6c3ZQQm1mWGlpT1JOQUpqQWxRR3NMTFc3UTc2dUoyMk01S1dQbk9sSXpBbVFHVUFLMnU1QytSZW5kRC9HdmhlZUVaZ1RJREtBTmJZV1U4M24vM3plOEZ0eklZUkdCT2cwc1g2UDhNMW5vR1p3cTlYQUFBQUFFbEZUa1N1UW1DQyIKfQo="/>
    </extobj>
    <extobj name="334E55B0-647D-440b-865C-3EC943EB4CBC-2">
      <extobjdata type="334E55B0-647D-440b-865C-3EC943EB4CBC" data="ewoJIkltZ1NldHRpbmdKc29uIiA6ICJ7XCJkcGlcIjpcIjYwMFwiLFwiZm9ybWF0XCI6XCJQTkdcIixcInRyYW5zcGFyZW50XCI6dHJ1ZSxcImF1dG9cIjpmYWxzZX0iLAoJIkxhdGV4IiA6ICJYRnNnZDE5a0lEMGdjRjlrSUVGZlpDQmNYUT09IiwKCSJMYXRleEltZ0Jhc2U2NCIgOiAiaVZCT1J3MEtHZ29BQUFBTlNVaEVVZ0FBQVg4QUFBQk1CQU1BQUFCMzg2cmpBQUFBTUZCTVZFWC8vLzhBQUFBQUFBQUFBQUFBQUFBQUFBQUFBQUFBQUFBQUFBQUFBQUFBQUFBQUFBQUFBQUFBQUFBQUFBQUFBQUF2M2FCN0FBQUFEM1JTVGxNQVpydnZxekxObVlsVUlrUjJFTjBwUkRieEFBQUFDWEJJV1hNQUFBN0VBQUFPeEFHVkt3NGJBQUFKQUVsRVFWUm9CZFZhejJza3h4VXUvUmhKTzlyUmlKd0RJOWlRaTBsR1pKT0xpYmNGVGdnNWpjakIxOUVoTmdGalJvZEFIQWNpRVFJbWw4d1Mvd0VhRXNoVkl1UVE3TVBvRUhJZE9Vc1NBa3RHNENYNHRLUHNySGVWdFZmUDM2dXVWOVZkM1RVN0plMWhWQWQxZFZWOVg3MVg5ZXE5VnoxUzZqcVV5cnZYUWNvSk1oN1MwWVRlYTlEVnBQVnJJR1ZZeEJ0RSsrSGVhOUN6UUxSMURjUU1pOWdsMmdqM3puNVBsWWhPWjEvTXNJVHpVR0F6M0QzN1BYMG9jRGI3WW9ZbEhFR0I1K0h1bWUrNUNmbnBzNWtYTXl6ZzhHbUg2UE53Lzh6M3RKNDNpZjQzODJJR0JWeWw5VDJpODJEL3pIZXNYU2dFc3FjekwyZFF3TUZucWtIMEtOZy82eDAxcEVGOW9pZXpMbWRRdmtVNlVXMmljWERBckhlMHYxQnFTRVN6TG1kUXZzNnBVblVvY0JJY01kc2RjM3laeEgyQWVyTXRaMUM2ZTQvUnRRWUZvTWUxTEh1Y3hYRSt2VDVKL0s4azM5NzIreXUzM3ZTYnJ2cGV1WFh4ZmMweGQydjhrOTVVYkJVNnhyaEZLTURQVUhtRGJydEl0Mkt1bndjdjMreTY0NFMrQVNIdUorTVJQVDRKaVpOdFg3cmd0eFVvc0p0dHp0ZFg2VDNFT2hrd1NQT21HakJiK1hGWGZiczVQcnBCRnllcWtwejMxQWZUSmNnTm5ZVnlRajFCbVBiLzJWRkp3azBFeDZzVXZtUzg3RnRRKzVsU1RRZ3llSXJGeHoxMys4VXJVa3UwM0N6TVRuQjBMYm5MNTl3a0d4VnpkMkRNOHlEbVVoM05ZNFcwN05rS1lUNnV2ZlppbHVYVWUwS29DYmY2UlU3MEZpUldZN2ZPbUxnMmV0bTNvQ29IMHdhZGQ5TzlIaEk3eUJlVVEyME52RjBUektITkN6MlVVQWVQdGFOWi96Q1ZBdi80S0ZRKzlHVmI1b1VhUUpUVWREQlJ6eDlTZU9jd3pHV2lBczE5ak9oTHNvR292Y3NRaFcxN3NRblZFbEFIeXJHbWNYL3F2UEpkZXpsY2xvbmNpRUx0aG9RdlRJRURWRjRxZWlIMnhJVGFsSm9vejZWdHFSeGxXbGNEd25QemhvZnNiNktoWmI5eXdsYTVZV0paa0Z2QXlPcGRITCtzQjVGWTVFQnNDVmFWbTZEeTFWOS8vZUcyajM4OXFNSEZrVGQyYnhjTmlTeVVtdk1XdFl5L0s4dmVJWUtyOUlwQjFMa0hQc2NNYUpJT0hXaWJ6Ni9oSVl0YVVNRGpuUFE2dWd2WFlKdzB4a0dCbkV3bC9GWDdUYnJsY0c0S2cyaWZvUW14bWg4bzd2YTVZdUc2NCsrZlFBRmR1OXlmR2lmRVdDaFpWRVRYMU1VWXVoTCtlWHVMMlN1NzFSdEVkeGNNZFlsME9McXlMbk55R0VUZ29jUUthWWg2M21CVHhjbmROQ2lzbWZlbG9jQi9JS0t3OHlwenVocnhweDRZRHlSZHhkRVMzN1BxM3lHRytTVXpna3o3cUx5Q2tjaUx0d3dBYnRUNzBsRGdUemJNV0paUHpyTTA4ZE1oV25LMlFIdHFoc3paRFRRTkIxZi9QRFowYVRGMDhYYkE1MS9SL2xGUDNpZDdOSTB3K3VFUWRqVmdTMnhTWEZiOFRadkdyNmJRNEYrc1pNOTBRaGZ2YTV2UGYwaTNwU1RsdDNxTHdOa3l1UnhVdld0bW1QZjRWV2RDUWhVVU9kOWh3NDBPbmQ3M1RwKy9TYm1TWjlKdkZvRURkWnIyZDIwWVVIWHhGNEswTVVnYTRwKzRCZ2dJTTBrQ2JKbzgvbFg2MnZla3RLQktUNUR1YVJGMVcrdklZVkNxZmVwR2NnMVI5eWpmRXYyR01HQzN0V2s5dDZIeCtkY3l4M1lCQ213WHBuT0lBOXVkY1ZjRE9Rd0dDTWRkb0loc2NLYXE4N09OSE56bkgyUXNZQWtLaUdrN2tFTllKd1NkM0JKNTY3MTA5Yzk3bVREQUtmNjZrd1UxajcrV2phTndqdDVvaGpxRVhYZm9KSHJYL1BXdSsyNHZOLzFVTDNDZEcyWWdadktzMnVOZnpIcHhhSjdWeDNCWWhBdS8wSFRUOU01bFRGQTM5Y256R3R4YUNWMEhQdnJROEdRZlE2Smo4dzVkSk9reUxSNS8zNFpoOUxPNnUyYWNlMWlFQzc4NExGdG13SHlXZ051Nk5rYWJFWGpVRWpBSHlyRWJKclVEZTlZUVJHM09Zbm85L3RHT29QQkU1bWYzempWYkJMeW9XWGZRaW1FT3orekk2cTlHRDQ0UUJrNXRpMVJ3Wm9KbFF3YTU1NTd6QXdQcnVYSEJMK0cvbWZNNk9QMjVJT1FoY01iTmJIMjNSSTB0bWJqU3BCOTNIaU5QTFc2aWVqMG9mK0UrQUxxUnkyaEdicWxLK1llNVJJbVB2RmxqbHNwSHdIRDJ1VjBuZFQxZHdXUkhwZ0xiZVU5Vm02K1VPVElaTXQwemN4dUFSUFlJbFBLM1hzdHllcmQ2SDRFNGRwd09iOWc5WHJWTzRKL2FXSmN1WEl6T1VzZlVNMkVBYmtYaWNDay9mdG5MTVdNSG50dUdBZ0lld1F3L3NBcllUQWpmVjNndnNBWjJ5U3hUWk1WZG05U2gzZlJ5L252ZVpGQkFGT1l2UHA1RU9BUEhxU3hkcTBCNzAwaTNadHgveTAvZkk2WEhjSmlxUkptT2pZcmwvQzNQQitMSVdDZGVSR0EvZDdVNC9FSDBKQldzczI0RWJCbm4wL0RkbnVtUGVHRFpUWnlITWIwNmlYOU9icmpDM3JGUS9ySnhxcHVkUkhDR2FSUEhpMjNkT1NkYkNBK2N0Z3d5UnFpSHhQOXAyQjhiNzlHNGwrTEwrUWM1cDRtUkxYZjlLVU9Nek5hMm40cHB0c1hpaHJMWG9uZTgzQllCS2RMMEFWWThrUjhtY1daUnVqS3kyWTRxazZpZjJuY3QyUitsbjF5cmlWaFFWeXduc1RFNlR4M3hsdENUN2c2UC93K04wMjNsK0c2c1BjTi9QOEVWK0NSTC9BWlVUM1V2UjhCMGpqSCtqMC9nSFhRSzlNRzVnZU5VcEdzQkx5UTZaWmxqNnFBNFgrUDR0RHJTdjNNd3RvVC9MOTlrYWVuSno0WDc0L2R2cFMwL2VCZHFseUF3Y0VDUHR0WEg5STZxSlBTMlVqL1MrakFCREc2RG4xenA2Y3JsLzREaTgycnlwcXEwNUN5WDhtdGg4Y2NHb3E2MGFGbktKYW8yeWZ6TTlDLzQreEhabjhlUW5xWUx2K2dJTDZ1Q0RnTy9KMFRFNzU0SVJ3bC9aM3pudjI4OXpQem8xYURiZHg2K2hhYUVaU2xCTUZudHI1L1FwOWdncGY3OXkrVE9MN2lpUzEwV2ZzSGRacVV2OW9rd3NLUFU3NUk3UDNUSWVQNUlSRnNpMjZIYmRqZDlYTzB3UFdrNVVEeC9KS0l2WHJSQnozSXpYK0tsSVNFbGc0M25qMFEwNUI2NWwwMW5NeEpFVkZ1eW14bE1QSDhrb2lHV00rSXc4TnZNMVBIVnhOMEdMRGllUHhKeFlPSU12Qzg4UUdJbnZrUUZZZUNMQWl5ZVB4TFJOa2tndk8rMnFsenAzNlk0REJRVWlPZVBSTlRORHNBRktuV3p1SUlGaWNJTm1kdUFHeFRQSDRsWU50dmU1RGkyNUM1RlRvU3BhMmtZOEliSDgwY2lxdW5CdytvaHYyNXZlZE5IdlNJTTdCY0E4Znl4aUFGZjM2cWR0M2tIbXFoZXZpQU0zQzJpNC9rakVZdjBIVlViUE1hTjRtakYvMVpYRkdkU0M4TEFTYkUvbmo4V01hQUhuZkVSZnA1NzFIbW5PUC8wTGZ3TnJFUUJKTUt4L0pHSTJ0K1NCN3oxZjA0K25WN2F3c2o3UCsxQWdXLzk3RGVGbm5qK2VFUmgwdmlHUFlpdlN6eDBOaEFOaytUYlg1aGVtbGhmQWpxc2MxNEJHcVVBQUFBQUFFbEZUa1N1UW1DQyIKfQo="/>
    </extobj>
    <extobj name="334E55B0-647D-440b-865C-3EC943EB4CBC-3">
      <extobjdata type="334E55B0-647D-440b-865C-3EC943EB4CBC" data="ewoJIkltZ1NldHRpbmdKc29uIiA6ICJ7XCJkcGlcIjpcIjYwMFwiLFwiZm9ybWF0XCI6XCJQTkdcIixcInRyYW5zcGFyZW50XCI6dHJ1ZSxcImF1dG9cIjpmYWxzZX0iLAoJIkxhdGV4IiA6ICJYRnNnV1QxY2JHVm1kQ2hjYzNWdFgzdGtQVEY5WG50T2ZYbGZaRjU3WEdaeVlXTjdYSE5wWjIxaExURjllMXh6YVdkdFlYMTlYSEpwWjJoMEtWNTdYR1p5WVdON1hITnBaMjFoZlh0Y2MybG5iV0V0TVgxOUlGeGQiLAoJIkxhdGV4SW1nQmFzZTY0IiA6ICJpVkJPUncwS0dnb0FBQUFOU1VoRVVnQUFBdUFBQUFFVEJBTUFBQUNGSHE0UUFBQUFNRkJNVkVYLy8vOEFBQUFBQUFBQUFBQUFBQUFBQUFBQUFBQUFBQUFBQUFBQUFBQUFBQUFBQUFBQUFBQUFBQUFBQUFBQUFBQXYzYUI3QUFBQUQzUlNUbE1BcSsvZHpVUXlWSWtRWnBtN0luWmVDS0I1QUFBQUNYQklXWE1BQUE3RUFBQU94QUdWS3c0YkFBQWRzRWxFUVZSNEFlMWRYWXhqeVZYMi9QV01aL3BQMGE3eXdJS3QyUVNTU01TdEhZaVVCMlREN2dOU0h0eUt0Q0pDSXJhQ05rUUk1SDZDaHlEWlBLM0VybkR2RGdxS0VHdS9JRVdBNkg0Z0VvZ0htd3hJRUFtNWxRQUtVaGEzNEFXa2dIdTdCOWpOem03eG5mdm42K3Y2OWExNzYzcmtlckJ2VlowNjU5UjM2K2ZVcWJyM2xrcWJZQm1CZjMzRXZIRFpzOHg0dzQ2THdQZDl1UEY3d00zZkpOcEY0RTZFTnh2YTViemh4a1Znd2o3eEc2LzhHM3ZuN2JmL2hadS9TYlNMd0RiN2tCaE8yTEZkdmh0dUFnUkc3SkJ5QnB2eFJBQ1E1ZVF0OWtPUDQzVjJhcG56aGgwWGdadXM0YVhmWlB2Yy9FMmlaUVNtd1ZDeWFlR1dnUld4bXdXVFpRaThpRzZUYmdtQjBaWFBLQVRlRXRzTkd4RUNsY2QrVHYwZEVjVW0zU29DL1NjZXUxMzJTYXRzTjh4RUNIVDhJYVhqVytNaXFrMjZOUVMyUGFTM2F2OWpqZU9Ha1JTQmN2M2p5SjlkdGFWVW0weDdDTHpCZnY0YmxjdHpld3czbkJRSWZPWFI1ZWM4ZDRxQ2JwTzlRV0NEd0FhQkRRSWJCRFlJYkJEWUlQQjBJTEEzMzU0M3VYbzZLdStpRnVzRWVMbjV2Z3VJdEdXV2E1OVEwNjRUNERmOXN3U2NTdDJ1VWZkc0JEbGI3UDZEbHg3VTN1VVFacHRVWjcxc0JlVE12Y25HQW9tNzNuRG9IZTBBeFcxL2NNd2Y4RTZ3K1M3UWN0MlN0OW5Wc1VqbjhpdGR4aTdEM0ozZll1eWRQeElTaDJUVy8rK3lwOHFoUFdML0s0R29nMlk5alBLYlYyZlJkWTRYY2hWelZNU0dLQXdiUXdtZjJZdU1WYVA4dnV6ZVJGVFdMMjZ5eS96N2xmVmFCQXhiVEdxalRGNWxzUkcwTXM1S0RTbmZuWnJ0dzhiM2FHZkNTZGlaV3lGYytleXd6b0xEQnNpdkQ3bEVtU2UybUw4ZGJFdlFyV1pvQ2RqaXFNM25JV095WVhtTGxVNFlPd3JZbGFXMDJqTE5DWEhNdTJkZVNsUmk1d3Mxb1NVc0ttTXRmUkliTURoTWR4K1hyczhmSHJnZEdTd2Mwa3lUbXN6ZVJ2Q0FzU3RuZ0dQS0hNdVEybjYzQktQcy93S1NlODRPMUV3dFRwc1BmL2JWMzNjR2VFZFJrVDAwckJvTERqQ1ZidnhRZG5PeXpGTTFERVBadDEwQlhxNUZyWmV2Y3VjQ3h3eWlkY2ZnQXo1VkRxbE5xeEE1QTN5YktVNU96eG9sR3NUeFM2RmI5ZjVjL0V3WmE5dVQ2d3p3RThXSVVwcjBTaVYwNTJER0d1M2JxN01oSnloaDhZQ2dLOEJoaElmem9hRCtuaE9EaFZhd0t6T2NsR3N5aXpPMks4QXhvb3dGU1B2Sk1NTVIra0YzZG1hR2t4SVlVOExsQUVYNVllY0hkZVlGaFFmZEZlQlkwNXp4TlE5U1lZWWpESUw3NHM0TWh4SlkrMVJKR1ZuWW1maHd3OUNXa1pHbjJjbEtFemFLd3JrTk14d0JkZldjVnU3TWNOS2lKbmY2RUFtNlloQVU5cXNqd0s4cEd3Mlo0YVZTR1c1dytuZG5ocE4wZE1jMi9ZdkROcnQ4OWN0ZnJMRWZmZnZ0WXpFVjVUZ0N2S3NjRmp2dmVZcVAvS0hIb1JrT05XNUcxcW1uRStkbndzNlJ1czE4cFRrRVVaSWJ3REdpaEV2SVNKUEVCWm5oQ0FQZlhIZG9oa09KTGFZWWVPLzUxbXRaN2gzeUt1UUc4SHVNcVZhT1pJWWpCSlFPelhEU29zTGtqOHgzMkpESVNyWEl3Yi96OGtMNEpTK2JmdHdBUG1YS0o2SnJoNTZPc05lcEVpN05jSWlIdnZ1ZU9vS2ZadEJmbTVIQjNtS0xJUnJaM1FCZVVSbUY2TVdCaWlBOXh0eDVKcWhxUHNrd2xtUSsycDF3S0ptMzhPOHU0ajBmUUowQWpqRXg2bnNDeEhaRGMzWktuY0dwR1E0TllTek5JVnZXZURlWUxDUGdsMG1pRkNlQVk5WlhEZUhiNFIyQkFmbGV5YTBaRHJCZ1poOUdtQzFkM0F2MlBVUGdsd2hpQ1U0QTc2cUg4T3VocHdXOTRWM0haampnR3N6M25tTGdoWmZYQXAvbURmbEk3NUU3QWJ5dUhNSkwwOGlpeFpyNTJLMFpEcUJnTElVdElFUTU5bjhuOEF2Tk5JNVV1QUFjTzJmaGdCSFRldkh5NUNDTWR4anJ1VFhEb1FtTXBYQlNDZldLL1cvNVE4cVdkR1lONkYwQWptMEYxUkJlcXB5R0ZZSmY4YUsvSDhaYy9WZFlZR3B6RlpoNE5zeVhaT044V000RjRIQk5LQUdzSFlVYTNzSXlyemtNWTY3KzBjK3FZdGtQTHc5cHQrUXpZb29vNXczMitEaUs1SFNCSVJ6NlNjTk9hSWFEcXNrdUhadmhVQUw5VE9JR0xGY2UvODV2czA5THEwU1oxMTU4Z2VHSTZvT1hsSlEyQ1hEMldESWUrcEx1eGloYXNWTzBOdlV3NGdWalNYWXladXYxK3NlK3FXYUlrNHIzSDd4d3Z5WmpwZVppU2dFclhPbUR2eGFiVlVFZnJaaE5aZG1qUjdlTVJqbDdYSFBoaE9Fd3N2bEVBdmRpL1JjOUloWVRsY2c2ZmNZQ1l6dHJRZmI1VHpUbXpKTzQ2Nkt1Tm1yc2E1bmtPQWoybnBMcHhZL0RwRlh0bjVSdUxRdzZYWm1Ca0ZlRjRXS0lEWE41U2JVaEI0dTIySXpJNDFqK3hTWmozenlMc25SV3pCRnhWaGV3VG1PV1UxWlNzdUM3cHh5U0FUZUZDUEc3c2pWSEZpcHllZGFZdDQzR3pTdDA0Z2xXam5JRm16QlVYNmpGdXNHM2p1VUZjc250Uy8xWHVhaXdtaEMwMy8zVlNyb3ROWlZ2UXJoVlRpS2Q1c3hEU1g1aHM3QWNzUHZ3U1U0MXhXNlZkNGd0SjNHR1lpUlBQTUhIT1o5V0RObTZKSWVyc0FEclJnRUNzaWVlc00zR2VvSnlSVTV1U1YzNVRqVlhQUEdFeWVmQXFYNnJDYThvalpUVitLWXZOY0FDWVdIQmxXQUo4OHJOdzdrSlBjeWkxREVMYXFTb25uaWEwdTdxMmdXYWVvNEtxN1YwT3dabVNteHRVTmc2SkJTREk3L0FSb29VY0R4Nm9uUUNKV3BiZ09oZW9hMVpLZUMwZ3VnVkFFSXpGYnJGTlZKUUVTbmdwVG9yZ3R2U0RHODZoNnJjZlRCa2FaRmNEbmgvSGMwVWRFc0h4cXlkSjU1YWErZ1NKNi95cWNVbXFjZkswaE5QbUgveTNmM1ZxNTJVQ3JzUERxeENqQVZCVUd5T3lvY1UySVZyWjZiQWs1TC92b210SjU3STczWXViVS9GeSt6SUQxcG5vN0N0SjU1b1BCeG5vMkptWEdjT2xzZjJubmdDNEJlWlFaTU40NG1EYlJON1R6dzFIV2lmOGo2NGFDUDJubmpxTytpZjZRREhDYjNjenk5RkQ5NmtmK0twNVdJR1NvVTQrWDk2cVRpWUZ3NGZ2SW1BbDdDUW00V2xQYWgvTENsZXZDeXlaQTl6VnN2aUUwK2svbEhPNnFjVDU2S0pXSHppaVF6eDAzUUk1Rnk2NVdCeGJQR0pKNXpqZGVFSlNuR1RabHh2T043dmFocmEra3BZZk9LSlBPSUY5blZ5TUpsdzdTcGF3Um1HZlE1elVaTEZKNTZncGVUcFFaRUNEdFBSbERrS1UwODFEQ2J0ek9JVFQwMXVnM0VJcUVJMGJkbHpIaGdrNjl3d0tKOVppV2xpOFltbkVYZElqTWtxMkNVMTVRdU9UbjBmYnRFNFVmN0R0My9oejE1N0ZMOG5SbjVwZTA4OG5UaVk5RGw0YVNlUldkWGdVSk45aTZCd1ZwZC81WFVNU1VFNDRyREpQcWtENmNmWmk3RW1nWUE5NVhEREc1bThjTWJKVzBncWY3WHVVM0x2MndKcEpwRTlTSGR6cTFlckR1azc1Qlh0K2pBZThQSVcwOHIvN3BPNk9YUjJBOEo3aXdvVk9qYUZ2bTJlaHJUemh2QStMeStaOWhXdk83ZzVnWXNucTlacUM2SUxmWlA0K2ZFNmNoQzB1dXV1aC9neG4xRzJxZVI4cTJZcndpcjN2bkNTbnhMY1hKdVJvd0ROdlc1Nk5wbFpITHVXbzJNeGtpWkNmektkOFVTUXZWZ3FWb1UvQUdrMUZzL3RrbFlNbkpWYmJ2Sk5CZFhGVHo5VVVCV0VuaDdMenp1cU42M2NUTlpjZXJYSmprcWlMczMvQ1BFbnZpVjZsSnU2blVIQ1pKVXNxT2htdWw1RldYcWpxTEJEQnN0N2paZEdlYUpoTHJTMWROaWoyMmdlUkx5YjJzT2VpRU9lNlRSUUMrM25tWS9LV0ZPaHZ1WnpGSllCcndpbmZVMjljeVVqNjBMbzVxT1QrZ2k2SStRMU1hZUZPbGtHdkE4Vm5SaWtDNVhTalJDbUZ5TGljSG5mRmhFazBpZE9ucmM1UVJWME5Vd283Q0JLRTJOREtMZUZYQVRkRDRyY01ISVlDcVVhWnJTZ29kYnF6SkJ2TnVUVXZmZUZyTDNsakw0UnNNUDN5Z2paMjhtWW9nbzlPNnh5NERLUWE5dEVOc0pRVTVQK2dTYWhUVEo1bTdFcHlRYXZEdUE4RnpPYUV0ejZTK2ZyUW9OSExDSjFEaDIzYnFUbTRqTzR4aTZmLzZtWFhucnhoZnV4NWNkV2pSTHh0ajBiemFrTGJTVURZTEMxcWZzczVLNkxGUWg1OUM4c0FVNjlKUWh6ZDBFd3NFck1PUVBwTTdBL2xOQ1BmUEduRXBKNDFzdnhTRTdYWkdnSkxWdERIZTYrOWx6TnEvSEhmbVFZRmQwSmRyVStKMm1aRWJIcWdnQTlreEFGeS92NTdaYlFPc29peDcxRmQ2SFhxUlAxcFU3MGFSbE0rbFdmZ05XeGhKek8yVkN3STAwaWFQVXM2dkdhL2g0dElYM3cyMStreEhyOFU0c3BLOGZxNEM0dGZBSUNoSWFVeUdrbTdVQWtXbVFxZlFiZ1YxM2tjSTg5a2JYS1JXSjVETXpscXhYYXdVSndzb2FVcXg3bTBoaWc2MzBJeThqK2FVNUlXRnRUN2o2N2pJa29qNXpKOGgyR2NIbC9LR0xoUEoxTzVkbHNEM1FERXp1NVRXdjhhWWgrSW9lc0F4SUUzZVc5bkZrV3VWUUhxK1lvVlhkQjBYdjJWckxrOGxZb1MwTWtndUsyTENpWWIwVGRTdzMxcWFDNlIvRXlNMnNOSEs5cVVIZkhKbWdRenVNcUZPb2F5dW11ekxUMGJvSGhPRVo1TzJtMHhQSk1MMm4vUVRYaHZBa2FoTVE4WWlvcFEvb2F0TFBKbm53RjhaVlVSejdMR1ltbThVSnhmQkN2VmZhQzFVYkVWVkwzL1JMSnduWG9sMHhMRXlmRFB0WUt5N1hQcHVHMldKWldhVW9iZGdRaWhNUmlZSkdSaFpqMit5V1NzbWpNTzBzbXBvalRMQnhyWGpjdUxUSW5LMXU1U3RNN1NKdWlobjdSUG5UeGc2clBKVVJOVUtxZFNFc1ZYYnlERTV1REtjZklYMVkxbitXOS92c2xraHBXQVBoaE1qRk4vQVFNZXlHRGU0c1dTNWk4NGovNXB0UTNrQlJBT0ZoUmlGNHgvZmRMSlBsVm9OdFJNakZOZkE4TXF5R0RXV3c0RDlOVy82Y0pXZTFwQzViM2llWFg2bEo1SlEzZUw1RXNQcklOZUh5Z3ZXMXRWZStwbmJTQWtuVUo0blZVQ2NGcU0wcUlXbjYvUklKQUhPMUR0YUU0Mnp5SDdMSndPZGl4dStLanpuT2gxcWdETW9Rc2wvZkw3NWRRcXhWUXpLRGF1VGExRG1FTkhIMjZuWnJkZ1ZRVDhHQjViM0VCa0t4MjlKcUQrZnNsa2lUQytBbmc2UWx6Vjhub2crUFFLL2hROTZDZnBoaE53RXNUYUlEUTAyUWJrdDM5MXVXejRiWDgzK1Q5RWtsT0JQaHBNakZWZkFxT0RZOURVMjFTR0VrYWdITlZvMFN3dkZlYTdJdXN0cHFYOWZsNmFiYzJYc3lPeDB6ZUx4RXZSOWRkVkdJL21aZ3FUaXNQejVhNFp0ZmU5TDVWcm1YdEJjdDd3LzdWZXYvczd0eTEzSSt2bDVONG1MeGZJbG0yQlhqR3ljUlU4Y2pGMURkY2d5bWxUcUZyUTBrRkFoclZFTVk2dENITkZwazE4MFZnYlk1OVNESC9OM20veEx5VWY5VXhWU3pKWUNsT0hsOWEzTjgxSGtTWFdDVVNTTmRHSW8wYkRaYjNSb3VBTjhsTFV3OXZFdGFya3VaaThuNkpwSUxhbFVnV0ZNY3J3S1ZkS3JWQzQxQk1hWmpUMGdVOFhONURDKzFRb1prc21pUFFUV1VUa01IN0paSUtFT0FIeWNSMDhTNVludUtyeXcwcG0vSXJMNHZDbWFCZ0M0emxUTU9DcEFLQ1FjVzI2UHdGYnRSN1Bnc3MzeTVDWnB4L2cvZExKRXRuQURndENDOUtiMTZoQnBJUW1CSWVNSWtmMFZEUUJkMVl3bktlRlR3bmE5REh0bWxqQ3JOdEFEUHFJSk9rKzM2SnVVYlIxUlNWT0loaVZpNTh0M1h6SitYTVdoQXNDS0wxYVJmMFl6blhNTGZ1c3g2R2NlVi81d09RUVBPcVR6bFZMQWMxM3kvQkVRdk9vUkJPN2twSnROZjdSR2tUWHF1QmpCOStXaUMyQy9LeElDK1JQUFU1RTRwNllUUUczYnhkbjh6dEZiM3kybFNrV1ZXYldvK3dEcDRWNWRhTUhxODRWUmQ4eC9FRThUWFpwZ2l4clJBeHJaZmorYnBha2N1ckVyb25GTVhNczZkUXEycGVURnBpQnA3V2JVSklSTFBUWHFSVlNBZjlSZlNXNS80WlJURFhtR2hjazlaY0kzTUFyYW9hZENZa3hOTmd2dEptYlFLNDRmTCt6dnVrUlMxVUcrYktoOXBxbVJFU09ESUR5SXliVDAzcmpzWXFCUlZsVEFBM2ZFNzIxajlBTm95VXdQK2lNTU1WZWtxenN3Q2M5aURhVXFtclpab0FYcHBCQ1lTR2dTam9YZlhKRldhNEFjOGwwajBvWmJ1Rlk3S1hIM0pkMGtJdmdRQS8xU010bFdqSEdjSEVaUWdzZWo3N3VibWlLMDZiTGd2QXA5a000ZDZrcVExNGNKRFd4RmpxUmgwVE5UalhodENNTUF2QTBSSWxuaDh6L2VMVTRLdmZ3a3N0VU90Yk5TU25FcG1Sa05TT1M3WjRuUVhnRlozTjlSWHFRSUR2YTVmekh1Y3kybWViSHhWRkRiVGxHQklPVUFuYlkzZ3RtbndNbFZHUW13RmVhcUpxbjFXd2pHZmpjRzdvSWN6T0RDOWxBRGc1Ui9VYllyektpdXV1R2VNcDV1NHpCY3Q0TnFiWnFoL1AwQXpQQW5CYVZnL2pOYkYxYlFnNEFEU3hVZWg3QWFlK3FyRzJIdWorcS8veDNJdWZzVktQQWRDeFBLU1F0MUNqWlpuN3d3bndzWDZ0KzRiM3ZSTjVVbENEUlV5bzAwYmpqYjRHUE1vcE9GVjVHYXVuNFFpZ2hobWVxVCtjbEVjekpSKzNmcGhGRDRHaUJ1T0ZjdVZIdGVROVdNZzNpR1FBK0VETERHL2hUZ3VDeUcvVUF2MGlFTEtLb3NIdXkvS1g4aXBST3hrc20rSFlxZFVYdmNRNmxqQkZKYXF4dUlYTHJwWVp2b0kvdkFWZHg3b0s0ak1GUmpZaDdTQ0hIamZVb0oyUUE4RFBFMG1yUmFlb1JIVzFvcUpTbzR6TWNHOHAweEJKVGFZL05ENWRXR01mQmt4UWd5UTdERkNIeWJTVjR1aDR0Z0d2VytjWTFLd0ZYUnU2dFd4cXpkeHhidk9PV1dkTG94cVdVWEhhMWE4SjhJUFZpM05LMHJtVU1TYzlmUkxwMnRCa0EzK2ZrVTBJdHRFRFJLaEIyTllqYVRkTkI2aW9aT0xDcEJLSm9vSW9PcCtsNFM0cFlBck91bzFqWm1nVFFsWXR2RVU0ZmhzdU9TTVY5Z3hObnFoZzhvSUFIeWNUVThYSkRHK240aUFxUE5BSDNOZ21oTXhtK0lnY0xOYUxwQTZ0OEc0a00wempMVlJpYkZwSVNnOWZzcVhoTGlsbUQ1eXJ5VVIrSE8xb3pNOFJwMGJuTnllY3d2M2xleURtSk12cG9oTDdNZ0xqUE5UVjBCN1RGVUdBTHpVOWJtRnpteEJzT3NGVVNXN0c4eVRicHZic2tTeVppSitBKzJraUxWVjBwMjV5T3NGSWxEN2c1alloRklIdjVaajBtUUdTTmwzRVE3UVpGRTljNVpxNDJ3UDhHMy8xSFBBRzRuLzlGLys1aWpieU1qUll2U2NuQ1hJbkhNaVVCZEV0OWtIMEJzN2xMNDJKMkY4K1ZETFFJaURBZTFxVUdrUlFLd29tZTFzYXJJa0VMZzQ5d0RGdm05cUV4UDlMN0oyejB2ZHFQOFB4aG1PWThWby9rYVVMZlZUaVBCMkxlV21jVGJqL0FHOHBmSEMvWnVUNm4zT1FYa1hQVmtpcGtJbFdORlRSY1BMTDhLYlUyWWNKYi9qM0hsMDlXN29aN2I1eHloa2xqV3dDYmlUWm5KZzI0cGNNWkE0YjJJVGV1UjVPbGp3SjcveTcrdmJ4NHFHVVgyT1BuMkg3ZXl0eVhKWlhRU1dPbHBNTG1VTG5YWFNHaWc3SHJET28wSHpuQjRYdXNQZlBTdDkvMGdwdGRBTStmRklDM05KMHdCZGdNWlVBMTVnYWNFQkMveEFuUjcyOTJLeUdiMFZRYzJ6VzlTWVBEcmRrMGdTVmFDY1RDeG9uQTFrRGNNeXRxWjVDN3NZUWVlaDNxYW0rVDBHRlhST1ZPRk1SRlNSZjU0MUFVQlZ0cUwyQ3hsOExDMDNZazZoNDNUZmgwTGRPbzdSMEYzVUFubzVEZnFYSkxiYmt4bHNTRDV0UW94dHdpajArOWhKaGFrVXo4N1ZnY01JOFNpT0xqVkJiSThESnpGZWJIN1BWN054SzJJalJtc2Noc2ljQjl1aGIvdDBJTTFiL1J4MDBkbnhYNTIrekpPMmRoN3RnUXI2NEsrcWJzbHlhZWsvRFMrNnc2QkZtT01iOXRMQ2xMNWN6VGFIZGdveGNUYWFxcU9tMWxPM0VHcWlhWlVSQkZ0RFlpMFZlV3JJSmc1SGt1dnBHUjV6a0Y5Um81bE9Fbk5aOUxwUlZHWHhrRTY3Uysya1Y2dzNUR0QxT3c1b093dmx0eW15ZFRxVmhVZGxMUS9uTy8rdlFWcUVFYkVMRjg0b1JnL0x2UnBlZW44WWZpVG94UEU3Q3huakNQb2pScHJta29ldmROQXh5TGR0VUF6N1J0d252eEZzYVJ1bHpxa3ZnTXZTck5Ra2Jka1YzNDhNdkovblZORzBsSFBMTXFnQncrWGhoWWhNTzRtNkMyNEhwOFBsNCs0dk9lL2lPV3h0VnBjVmJYSzRObnRueEdFSGJ0cFQ5aVlGTnVQZ2RuK2JmRStNNzdQSXdFZ0NML01LTFlLWWJScW5wTG1oeXRqVThwZE5FcC9RTTJzN3g0SlRBbEJRZkp6Z1U4NlNkUmJmMFEvWmZwZEpYR1B2TE9RVzROYndZMWoxbjgrUlVWK1R4OU85aUtqWTVGZTVDMjZGTTFqU0VTRVlVNU4xWUhKM0tJL1o4alYzRzhNWWJYL3lGUFo3QnQ3WldJV3VvcXFGZE1VZzYwUFpjb29xUlRUaEttTU03UDZoZC9kMUMvd0hnUTAvYURlbzNkdzRra3JXemFKdXdvVTN0bW5BUDJwNUtsRUR6MGJVSlM3dHFqd3RNdUNOUDJvQ3NsZXNYRXNuYVdWU0ZmVzFxMTRUVVBNWVNKU3FxT1RWVzlrUTlsR0xTUFBSS2VDNlZUaU5XZXVYTEthclFXN2wwM2dWcEFEd1FDNFhKcGUwbmpDOG9oUnpERmw2am16TTdGOUlaWkxSUWhhRUJ2VnRTV05teWRubGkwSGdxT3AxaDVNOFkvcDViODloRzVhR2ozTkN5SWNRYUQxcW1pWTFZRTV2d2w5VmVHV2c5OVFjdzNKeUQwcGEydlNtdGJoOVZzSExucEZKc1paSWpRcnhNbStyUC83VGVVMjlsWUdJbGFmLzR1QVZMYmxzczJLUjZsVFZ5aDN0dlhTTjdnUi9LZFcwLzRlMDZBSCtQejJZaHRYTFpMcjNGOXE4QitQNTRJV2ZWQ0NRbnpORlZPZVZTRGpnSlhXMzZOcUdIdDlUY0NTdXp5NjZlWVI4dmxVYnNiNElOdURCbjFYL1VZSlg5a1ZYRnBTMVhrN1NQaXU1czlCYTRJQnpwS1BQV3oxMTlGSFMzUG5MVjB5RlgwdEFlaXJDUEtrdm5UekFSejNVWWxyVnFVdjVURDI1N2kzVWpGR0Rhejdlb2pVcTZJZTVEWDRIa0V5MmJjT2VyZFI5dlJ4MmJwbjJkeVVOUXlkeVRXOUNYYjFUcDJJUmYrK0tmQjJqakx6b0trV3NseUR5cTVpb3huYkFCOUQza3N2Z09Zei8rWlZGNCtUZi8rTDlmZThZZnVzSEJDd2RjTmxrbmtqdDhuTFVRaS96Sm1YTE80MWV1ZXlnYS9IRFo4RmhiVGFNajdtNGtyMVlOY3Qvdjg0cVNsOFVzOEVjbUhtK2JhWHRRa3Q5RmJVcXh4NHZXOXR5eG9HS0d0c0hHa0QzbGlWTUhlcnE1MWF2VkExTWoxM3RGYzVGWnNMTlFONjdGaWRpdU5lYVZSd0ZhTi9ETWk2NFoycUN1NXFIdXNveUtzNzYxckl0V1NvMjd2S0g3WUJoNld1S3NFOVc1K2xzWFk0L2hoT3VLd09rZDAzQm1UeWNUVGxDVDEwTk5XT1JMTzF1anM2Y2NaR2hsZjhGSkwyNVNCeG9YVnp1bFpqZ0hzRVo3OWxTZFBXanNhRFJRb3FsQlFIdUVQUTI2NHBEUXltZFlISFZNTmFIMTJhRnBJYWYwMUNmM25XcVFTamgxMEZRTWNpOU1EeEJVYzVkcVRXQkxzb0ZpVFloZFJqWFp2cjFkVVJsdzYydnRYV2NnZUhXV2xYVmJPU3hVdGJsdVpyajMvVTg3QjBRV2dNZ3JnZ0Z4dmN6d1VtbXdWdWM2RWplU2ZHL2pSRnJSbytUQlgxdERuSnlhdzZJam5OQ1BsZzdycG5OVUJUTERqNlBZZWx5UU4ySnREZkhCT25xQ1lCZFcxNk50TEd2WlhUK3IwUHZBOUhvNU9HTzRqOVp4RWRHUkhDK00xYTJRbDNYQmptd2hsUTJWd2trSjFmUDJJV25SL21uKzZSVk5LYVUrWkZxdHFWMUlxcmVWRlN3YUFUV1Q4NklwcGFjUDFoRFdudmZVazJpRnFyNXVteVpScmFmck9mM0E0N1pPNTA4anVEMERTL3lFVW95dVlKY3dVN1FPZ2hkTWJhaXpwbjBUSTZIa0tSbDczL0N5ZnNObzgyUm9uV3YyRE9sOG9kQWhRWlVxNnNrUFVqeDdlT3hMb0dOV1F4RmIzVzk0L1o2RHM0VndYYTJuSzM4a05WTndQOGFpMnhHbDM2cC9HRjNuZGpHVlBXU2FteFlyQ0lMaUVtOEtBRDlYTWIwOVlRNEFoM2wxb05Lc2tQbm9tcEpISGZIWTBxRlU3ZkkvL1VuTmlkY09VcytsbWhVMUU1QktGbXhZUDhzVnI4QVpVM0hRd3VrQk51RmtMMWZaZFM2YXlwRlFCK1UzdkQ3eS9JKzFPdzRBbDNkTVlYMktrREdUell0YTMvQnlBVGltbm5WY1o5SU5IOGhVYjBuZU54RzFGaGVBajJUTkpOS3NrQmQ0MlBGZG9XSmEzL0J5QVRpRzhMWlE2Mkpud0VNcm5qVzF2dUhsQUhBY1ExMmIxMWd2M2Y2SlpLMnB0YW5pQUhETW1kb3Y1RnFxc091RWpuZ0pnY05OY2pQYzA5MEI0QktkWGNPcGxvOUJYTlJhWUlackdMc09BSzlJZXFXNnhvNHA0QlBrYkNRYmZNTXJmOEQ1S2p2R1VWODhtc3ZTd0dIeURhLzhBVWVuZE9DZzFFZFVRVGxkZGhnYWZjTXJmOEE1R2l2cVdLaHNIT2xNT0F6TnZ1R1ZQK0RvaysxQ1FXaW1ESHl3aVcyMnhEZThkbXRzT2Z4RUpDUjN3REdFcitmbVF3aFpQem1JMS8welRSZ3FUNG1HanBFdmhmazl5aDF3NkxXdWpoUWZjaHg0T3dqQnAvL3d5MFpZengxUi9PNkxENWJEMzFLT0YzSUhmQ3AvRDNlb1YzSC80VnhlT0N0aCtBMnYzQUdmekQ5L1ZWeFFwWnFoQnJGOGpPa05MeHEyOUZnZTd6SnZ3SlB0ZzZkVHdkTUdDejRUckMrOWthU2srUTJ2dkFISENEZ3VPS0FxOVhESUl6WUxBWDYvd0hSeHBCRnh5UnR3elBGbklsM1dKYjBldDdOTXYrR1ZNK0F3Q2hkbW5IWEJlRUZQZU4vYVVZTHBON3h5Qmh6dndHaEV1cTdyQlJhYmM4TXdHbDgwditHVk0rQ3RwMkJFb2JPbzBUNGJ0b0F1dklhRHZqdlVhVUU1QTE1M2NFaEFCd1l6bXRpWWdsMkhobGNZNng2dHlTbGZ3TkVaZmZYTUtsZzBhdGdwNFpnQ25IdWVldEUzdkc0L1dsNW9QbkMxMG53NlJoVDZuSG80cGdEd29RZDQ5QTJ2UXZsU2FzTDlLVS9wdGZsNU03SlRzSkE3OHRRZWtQbEYzL0RpZWdzL0ZWVXQxeUVGSThwcEpIbWRMekJ5QjJNS0pzMURyeWE2My9ES0ZmRFdHcCtQV0d3Zi9XaE1DVnU0N2plODhnUWNuMENNcllrWGE3Qm1NUnoxT1BKVkh2a0hnYkhBcUpaS0d0L3dhdVZvcDhFVkhtaTVadkF1cXp0dk8xUGZOMVNoUVVibkcxNnp1RjlnbWJIVmxGbU9OOWVxNGh4bTN3bFBTNWg4dzZ2ODlYLytBbVBzbzcvKzlXTU9TK3RKbUduMnJUTjF4WEJlbVlyK043eGdGUWNobDhkTzNueHFwa3k2eTkzUUMyZndEYThXdS8vOGc1Y2V2SEEvbjY3ZVpKOTAxUjR6a0l2Vlp0dG5hL3NiWHJhVXhkcjN6QmF2SXZBWkZiMzlkSk1IYUlxQVdnb2R0cG5rZ2JZVWZLMFZEWmRrMWhpNlp2VDZ0MTFySUpmLzNMUHkvQlM1L3c5UGEvUERZQnpQU1FBQUFBQkpSVTVFcmtKZ2dnPT0iCn0K"/>
    </extobj>
    <extobj name="334E55B0-647D-440b-865C-3EC943EB4CBC-4">
      <extobjdata type="334E55B0-647D-440b-865C-3EC943EB4CBC" data="ewoJIkltZ1NldHRpbmdKc29uIiA6ICJ7XCJkcGlcIjpcIjYwMFwiLFwiZm9ybWF0XCI6XCJQTkdcIixcInRyYW5zcGFyZW50XCI6dHJ1ZSxcImF1dG9cIjpmYWxzZX0iLAoJIkxhdGV4IiA6ICJYRnNnWEcxaGVGOTdYSHQ1WDJSY2ZYMWNiR1ZtZEZ0WkxWeHpkVzFmWkNCd1gyUWdlVjlrWEhKcFoyaDBYU0JjWFE9PSIsCgkiTGF0ZXhJbWdCYXNlNjQiIDogImlWQk9SdzBLR2dvQUFBQU5TVWhFVWdBQUFyOEFBQUQ2QkFNQUFBQmFQVElyQUFBQU1GQk1WRVgvLy84QUFBQUFBQUFBQUFBQUFBQUFBQUFBQUFBQUFBQUFBQUFBQUFBQUFBQUFBQUFBQUFBQUFBQUFBQUFBQUFBdjNhQjdBQUFBRDNSU1RsTUFJakpFWm5hSm1idk4zZTlVcXhDdGJoVGNBQUFBQ1hCSVdYTUFBQTdFQUFBT3hBR1ZLdzRiQUFBYlYwbEVRVlI0QWUyZGU0d2t4MTNIZTJaMzc3RjNON3VuZ0IxelFUc0NGQjZKMkJVR0pCVENqZ0FiSWt2TStvL3dNdEl1Uk1FV3I5a2dva3NFemd4S1NPUTdLWE04RW1TRE0ydWtCT2N1enB3RGtjd2R1QWVCWWlDUmRpRWdmQkEwUXlRVGNxZG96ekh4M2MxNFhYenIyZFhQcWI3dG1wMTB1ditZcnFxdStsWDFwMy85cTE5VlYwODdqdFd0ZE5MYkZxM1dORVhDdlZNK2VYSmd1VjNMeE50ZXNWelh0SWl2ZUtkTXlKcmxWaFdBQzhDWkV5ZzBPSE9rZm9FRllEK1B6R01UQmp6Sy9BUytmZ1NlbUVRblZ3QzJxaERMcEFCY0FMWkdvREFSMXRCeXdRWGdBckJsQXBiRkZ4cGNBTFpNd0xMNFFvTUx3SllKV0JaZmFIQUIyRElCeStJTERTNEFXeVpnV1h5aHdRVmd5d1FzaXk4MHVBQnNtWUJsOFlVR0Y0QXRFN0FzdnREZ0FyQmxBcGJGRnhwY0FMWk13TEw0UW9NTHdKWUpXQlpmYUhBQjJESUJ5K0lMRFM0QVd5WmdXWHlod1FWZ3l3UXNpeTgwdUFCc21ZQmw4WVVHRjRBdEU3QXN2dERnQXJCbEFwYkZGeHBjQUxaTXdMTDRRb01Md0pZSldCWmZhSEFCMkRJQnkrSUxEUzRBV3laZ1dYeWh3UVZneXdRc2l5ODB1QUJzbVlCbDhZVUdGNEF0RTdBc3Z0RGdBckJsQXBiRkZ4cGNBTFpNd0xMNFFvTUx3SllKV0JaZmFIQUIyRElCeStMem9jRWxWLy9IYWFOdzFUSllLVDRmZ0dlTW1Qb3k3VWdDbHZmNUFIemN4ODRvOHFwbHNGSjhQZ0NYalpqNk1uMU5FckM4endkZ3A4SGh4ZDMzbGY4KytjUDNQSGhHSnp5cHY5ek5DZUNqbk4zL0phdGo1WTBQdVFweUx6bHZWa2R6QXJnaXdJMzlFRXJsdWE1QWZDNHJoTWx5Y2dMWTJlYll0cExQbGg2dC9EelArdFh4V2JQSWtSZkFoem0xR3laTVh1L1N6SHNtV2ZlZkp5K0FIWEhuOTB5UXpESENBNU9zKzg2VEc4QkxWQ3NKZWRHSXlDR2FkY01vNjM0ejVRYndMR1ZHeUMweklGOUMxb3RtV2ZlWkt6ZUFuVDdsYTZ5WGJ5SmtNbDhHeXcvZ2VRNzRKVE9OcTNSTWxkMU1YbXl1L0FBV3crWFJJUFpjZlFkdzRsVmZncVZJZmdBNzYxeUZXNGFrR2lSdVlHMG93Q3hiamdBZjRZQk5aM0ZPa0lsTXFPVUlzQnd1VjgxVXkybS9iSmh4WDlseUJOaFo1U3I4ckNHUStZbE1xT1VKTUJzK21JK0JTNlJtZUNuMmt5MVBnSjBPVjJGVGJvMnQvWkF6TEpzcndFc2NzTmx3MlhHT1RXSkNiZktBKytUeStVY2ZmZlQ4Wlplc0tDMTRBMHM4N3c1Vnl1MEV4S001VXlGems1aFFtenhncm1Yc3Q2Y29pa2MraEF4VTB1MEVtbHo0cG1IWnV3M3o3U2ZiNUFIZisvQlpobUgwK0c5NURiK0RwOTM2SFMvcGRrSml1RHlaV1FhekJrNGVNTnJGSGovMC9BM3NFREs2MzUrVVBsYmlHa3dXMHhlMVZlSkFBRk4vS21qLzZtUlUyLzlKMWpuaGMvdVhsSldFQXdGTVArc2M5UEtiNUlNWm5CTk9oMjRUR2FPWk5mZEFBRHR0UUtqNkdsZ2lSby9UZkdVaUluSzQ3UGtuRVprbW1uUXdnS2tSOW5mMVI4bEdKdWU5VEJXWUVOUGhjaVoxSmdvNUdNQUxZSERkMTY1bVJuZjFIT05MYnZxRUgyVGtZQUNqVnY4VG03bU1GTmlSdytXMWc0U3ExMzB3Z09seVU1K1NiUWVkQ3IyTnFjTFh1QXBQWWhSczFLNkRBZXk0d0REd0dsZ201N3pJL2tKaXFiRHBjSGwvbFJtVVBpREFEUURXN3VKcnc0RkJXODJ5TkNFYTI0NVpidXU1RGdqd0VoQnNlU2ZYZmRvTDd6ZGt0dEJ5djdVWWx6OGd3SlNDTjZ0NEpPQVVHN2MrS3VPVURaY1BDREJkaCtNNVpzMU1aMmZxa0kxdEs0cis1Tk1PQ0xBREFtcXdQS2ViNC8wandDblJMWk9SWVNhdDBUcWIvY3VMa0xEc29mU085b0ZnUlVTM00yYlJwWHdKNlhtMUhXRG9vRFI0RlFSRVIxOG1yV3dCTEZPODB6SmNQaWpBeDBEZ091ZDZLbXVmVlF5WERSZGFabnR4UTlJWTROSzMzL1BnSXhkNk9QamNoZEhIMzhZenpiemJ2ZlQrS2crTDN4ODg0MTc2dlVWZmtrRWswa1RRS1dIK3lrcWxtL25NVEpzcXNQRkNTM2tLNWJQRGYySGgyYk9qRHllZEpZNS9YaFlhdTJlQXQxbDdlbzd6QUJtNWhIeUNscHJ0a3N2b2lKQ290bDhsNUJJaHc1cE1hTktubDQ5ZGNPbXdkRzUwNmVNMHZDSVBldnRJd05TWjRpcDJORXNmamRjcWhzdUdDeTFsU3hzNGR6b24vWUk3NnBLOWdVd083Y3NkSE4rUnlYTnVTd1lqOXo3QWQ0MSt5WEgraVJuSFN2dEcxWm5wNkRNR255WC91dWlVR2g3MEpyc3VoRERBSW13S21FM0tNRFhwcCtRUWVScitSREZjSGczOHljbXh1ZEhLY1lJUlpkbDllZEg1TER1cDZBS3JOeFpuUFIrbFFaSVh3ekhBZHp6Y0FaOWV5WDBQRmRtaHBVL2RHQ0NJOVhUcVVoMGk3R2lscllRLzkxKzh2LzVkNUp4aHdkSGpqQm5pMmhhcHdVNGROYTRoMXlGUzAvSm1GR3p3eTkxS0kyNFpBNTgyVG5lZG5qbHVzR3BNNFRKMVQ3ekRyc0lSblo4QmhrQVE3bDNqL3Y0dUhLaUtXNlA1OFd4SDZWZGRqQVpRNHB5VVZlbmpURDdDWWtnbUg0M0E2empSZ0ZFTEd3dlV2ZkdHbExyL3ZSZ3VKK3RXb0pvMkxuZUR2SGlJdTNlTjJEbDdScWtyUFI5Y2llUzNId1ZnVUNDOXpvcEV0WFZVME93ckg3WkVQaVR3ZGJWclJqdnNHaXVGbXY0eTBHUVJqUVpNTHdoc3k0eDNpMFNYdnExVWF1SHBWalV2WFNMSVd5Y3ZONmpCYzV4ZHNzZjI0Wi8rSnRMVUd4NFlrdklDNFl3OFJRSmVJT1J6NG9MRGdyMVkzK0NIdDFVajhTS2FnTDZLYThHUDRyY3BuLzJVcVAySzNLSUIwMVU0TUVWTHZLZUxMTGlQUkxTYmJsdm1JZzdUMGM0NnlsUlpHUmhIb1U4QkVXVTZ6WW9MK0NwUEI3L3JnUnorcUFiNHZpMStDSGJoNVVzaTE2NXlkcWpqT21DcHVQL09pY1BNU25QdXM4SlVxQ01xRUEyWVRRazdGZmVUS2wrV0FmRmVZcHdXUmxTMVFCV3hvVXdpQkZCTkRXOUhxRW1ERGdxc3dOSUtaOUpTSkdCazdQWkVPbEFLWlhVV1ZDK0hrREFHTUF2ZVJCaDlqTHRJeTgzSEtYQ01EYWE2VDNwSFI2eXdxRGpEWFJmU3NkV01SYTVlUk5hKzBpZWNKRTFRVy9tZVgzL2tmQlZSMmhjNndDK09Mdm5tdFIzbk8zNzYrY2YrVEpWQ1FBTThsT211S3U2QSt6bWVUQUd2c1NEZU50SHMrcks0RWZzZWRDbEg3R00wR0FWSnk0S1B4bXZGaWRNdHRsR0JOc0xXYlNMSlZWME9iS3V2N0JLVlZrV1daZ3MvbnQ3V3BVMUJLalptL0gxR1dRT3N1dk91ZDN0Z3NkY1dLK25RWlY4ckxBZ1RvczNPb0NVME5xdW1ibmgyN1RjR01CVzRwMWx6clVRR1FUU0xia3BweG9xazl5L09URG9lS0MvdllsYjBmeTlBR2cyeEZxK3FicWpQVTFrZS9GVE91TXA2OERRTnNITElBTGduU3NEZVh1UkJkRW8zUmFKLzNST3FxT0hPa1MwVGViUmRER0RxZ0doendscUJUSUpvRnQyb1hwcHNGZHJCNEJ5bDJtSW9IemlqWFhiK1pVYTVxYkM2aW9xb0JSZXBwVmVvQVJiOW9rUGZxMTRVZVR6QXpqOE9OMFNpaDVvbVFCTy9pczRxL2t4aUFLTWx5c0FMd1ZudXJsSHhxczhhSy9rNDFSN1B0RkxUcWU1b1huaVhFVC9FYmw2WDdQRkVtSVRBZGNCcHJlbTFhWUN2eTNRQWxrRU5zRXlpVHFEVVpacUdPb2JPMFZ2ZTRXQW9CakJHakNTaFZGQksyamg2Q3JxTkJtWUZ5KzlGUHVqS2pzZ09OMDJ6Z3pSeG00MjVadGl3VlYwNFdCS2Z4V1Yzd1lxUXdYWWE0SXN5UFIxZ091amRhVDR0QzRmM2NZRDdvY2FGeTc3bTdzanQrd2Jock1HVWRjcFg5ZEhCbzVIeFhjL3RBT3VBQmpla1o4WThBd0VMK0s3N1JjRzIrQkkwd0Z2eVFGZjFwUTQwMkMrZzlNWjdIL1pyTUwyYmJzWjNjWEZEWmRwbFMvc3VLdzd0YVVjWXVhbitJbFJFSlVBSDZXYVFVeFhaOW13aldHdXVFczNSa2Y2VVE1M1hEVjdJY3lkNDNBRXgvMjJaRHZBM3ZadTNXamNSekdZSERKR3NqZTFqTkpoNk5EdStqT0VJemlSNlM2cFBpS0VlT2phZkx4Q3V3WmZTOURSck5YUnBGRlMyZ0x6S0N5NEZMQzZGNzlmOFZJRGZBcHYyYjMrM0dOQmdCN1g0MWR6WDZyaUJCbldrYXY2Y29kaWhMakpGYktQZkQyVU5KNnl5Z3VPdW9WNE8wOEF5MmdqYUx3emVWdVRCdm5MLzZuNDNHQmxXQS9kTUNzQ1ZwcGd2Q3dLR2Q2TWFKdHVnN1dNMEdEVXJaMFhMblYyUVBqUUozSy9Kd3VFQUtMUFFEaXFOYmxzOSs5d1BXRnc2MnZZcld3ckE2NFQ4S1d0aEVERDFCMnJ4Ylk4QkRQTTFpaStVeFJFMGk2U1o2b0NpS0pjQVJWdStObWkyVmN2bitod3FXa0F6MWF5OE9lQzcxSFVMQXFZM3UycVpyMVVzRWdONEtWbnZ3M0pTcDZDR1ZGTWRtaHRNbmJ5YXIwTE50cUw3dk1pUGhkMWcrTEFidm5MR2dFdXVNa0pCd010N0xoa05mR0wxU0F4Z21DOTFRK3Jac3dzRFJCb2ZncnJCTFZFN05TK0x2cFpvdG5WQkRSQTFYUmFaZFZQTmtvd0JZMlFrV3hzQVhIRmJ5MTdUZksxaWtSakFUVzljR2k2VFNVb2pxSVZqcE81NkxnRllCNll4R25JR21QcWRwTWRGUWVmOUZoZFB3T2lZVzl1TUFiZTkyZ09Band3SG1GZUlkNXhpQUhmVmphWTFKOHNnMU12dk1ZMFR2dTI1Qkx1YWYxZDZxUHZVQ216cmxpeS9yaUJxT3U4NGQ1d1pmaDV1Y09EQ21BS0dVVkpkRWdkOHQ2eXZnUWtTNEYrUjhlQStHakNkaXRnSlpzMDB2cHkyQXR4VHNnRmd1Q1hDNVRaNXZMTUgyN29wRC9ZVkNseUhOWm42WGVUV0ZiS3pFQnhobXdLR1BWTTZ5Z0NYNVpVNlR1OFhHSkJuWlUzQmZUUmc2RmVnR3dtVzIyY2NuWVovVERWV1h0ZHpDYnBlNHhya0hVNnAvVjVsRnVqQVNucWwyNTdPSHlJM0ZwM1gzbHdOam14TUFTOTVGaE82aDVHY0FyeEV3VVBCWTg4bUdqRE1WNkFiR1FzZ1hZYXJDZGM4VWhMT1Mrb1FUa2ZxejVjWnNhTkRaUmJvR0YvbWF5cWRyM1NZWGU1MFBWUE5LekVGdk9xWmM5U3VBKzZ5RzMxZHU0VUN6WThHRFBPbGJFNmdRRGJSVHRvTHFMa0V1UHJDNzZ4MG1lMWpVNGF5WFo3NzQrbjhWZTRDTEhtbVJlUTJCVnozdWlUMGFCcmdFeHdUVEVqY3FEOGFNTXdYcE5qYmNHTFM2ekdzQkNXdWk2emd0TUdEODZLajdHdTJWWjJxcHZOZFhnQXlsS25tQWt3QlEwTmw3WmhoMHdDdjg5T291TEVLRXcwWTVrdmVhT0tzc3QyaHdiVjBFakcwbE04ek9zcmc5VVZuVjlmMHg1V1hEcW9tRlAyRU1Da1ljL1g4dFpvQ0JnOVoreXFybmowQ29NL2lXbHpnY3VqbWtCVkZBMjZxeHNsOG1lNVQrMmhZb3FGdWZSUittcmNHd0tvc3RLN1oxbzZFamE1ZGFGMWRrQWJ5QVM4cGZ5WGdCYzhFd0lncmR3V1drb3RBN1ZMaHppOVI2em5ISi93YjBrK0IyWko5cTVRdDl0R0FVWW04SlFMNU00bmllcmRTQ3Fxcmp2cWFHbUx2U2xXV21reGxxdlYrYlZrSmJNVTVWcHZVWks5cUNYaFhPMS9pWFlZRnFiaklKNjdOa1ZkQWZjVTV5a3pEZHl0SEVGMmZ0RnVlZEJhS0JFeXo4ellGY21jVFRlK2pzVVVSM0s5Qnh5YW5WaHBTV1YzTmFWK21KaEliSFUrdnlWQ1BCWTZGdEV3Q2JuZ2FDalZYcU5hbFhxTEZmR2FxMHQ3QUhiVGxiRzlCNGc4aHE1aXZRaTlIOWhaWkxZR2ZTTURmZ3V4VWdxVXR0WStHZHJqa1ZvTmQ4NnRrVk9YdGdtWmVaeUY0RVRXZWhGK2M2b0JHMW5FT1ZSckFTalp4enkrRjVsY1k0Tzg4ZlJaNXlUT240VktmZnBlTDRPZ0RwNnZPblRMNU55RmpHWWs5N0IvQThMTk5SdStDYUxib2xZdzJrT3A4aFpZaXd3KzhrMGI4V3dqdzdJTVBuNkc1eVpQLy92YUJQMjlXc2JZOGRYT0JZUGp5UExWN1dJbjdRVkVNSnJqRmdnaDR5Z05sMjBIcVY3QU9XM0N0QzUzRzgwblpVd2tKZkdYUE5qdGQvTHhFVjEySnJVZVo4bzNPZW1GZE1CbTk4OTcycU9ZNFgwYnlYOUNueTJ4clVWbExJaEl4M0FnQlhoVjU2YTVIQzJlK29VTkk2YVBSN3BxOFZITC93Q24zUFMyRXJ0Wlk0MDdRYmtkdGI2RDM2aDN1RTY3azJwWkYrbklpVStWbEdydzlvaThENEovTUtPREw3RjJBeXpqMVpabk1waFZuUUJqYmI5Q2lieG45RVg3cGY1MmR2K0MyYU1vU3pmdlkrY3NtZ0VIOEVxM3Z3bVV5SE5EQ21XL3JFa3dLeVNCeDNYa3R3WkR0MHdOWmJFRXFydCsyVnZvRTJ2czFielpZOWxRd00xUzM5VTNhWUQwdEpsejV6QlgzeVorS09aaVFITkxnaEx6WkhFSW5FVmpVWUNBWGJ2QTV4L2tIOTlJWHZNekwwZ1lFYkd2cElYZjR2Z0Ywbm5lRzZMR3ZzMEkrVTgzRnBBRHMxWnN1TkhuQTROSksxMGJrWHBJdWdWWnlWWHBwWWR1S1hEQWdGMWxtMkZWY0cydytVODFTMU9wS0hyUHlPM0hBRlpjTTA1OUpQYUpmeElwM0xxZ1pzcTFJWDVEZUZyaHVzSHlIZmFhYUplVlJnK0dueDg2ZHNwT08vT2xMYzZBZHJjdk9pNzIzOVN2YUVScmNscGNFZ0d2czJEelpnM3U4eGNMaUo0K0EyL0xFOVJNZEcxWXVnWlp6VzR3ejRBL1g0Q2p6STErc2loeHQ2VVRBNXZkWTJpNjlJTWU0UFJhWmNnZ1lQdG9yNHV4UzdEeVhRQ3UwTEx3OXFHalZLWE1QNlRDNU5XQlowTFdKQVI5Q0t5eUpUVWtzYzNzc3hPUVFNSHkwTlhGMktYWmdHSGFkRjhTbGdvZUIyUmMrR1FOVHNzbmtBbDFMVkNBMTJLWGV4THF2OXZ3QlJwZWUza2RqS3lZQko3QWRGak5jYmRwNUhYMlZIb1U1RUM0RE91K0J5Ti9rbDVTN0ZSMlp5ZzdtRC9DeXAxamk5STEyM0EwT1pDMXhLd3RJY0V1V2QraFJoSVhpcWxsTDZ1SzE2REVvOTVaVFJqK25iYmtEVEgyMGdYYUNwc0VsSWx3dFg0RjFhbHhMblQra0d0eEdrQzVQRmZZQWMyS2JNdThjTXk5MzNWcUZOM2ZFYjJseUJ4ZyttcGdzbDJjZnU2KzhYVHRVbDNaVVM2UDYraW1uc3I0SDNWdzV4T2NvSVo5Ym9HWHFrc210ai9tM0Y4ak9DWUJ1dEdRaTIrY09jQW9mN1pCR2lON2VBeDhaSGxrblQzVkdLODVoY3JQekVRRnN1RVlESmQrMHd4d1pYcUh6WDAzeWlQQXhlSEZtVWxoK0diZXduK2hJTG8yUHRxdmR6T2dhSXdGWGZzNTlxZ2NvYjNZL3h0RWNoN0dnMjV2a0lJOUhYL2lUNFJjUW12blA0UVpQa0w4UkdseDV6YjIvS0ErUDJaZFAvOEtQak1sQ1o1SkZtOGJtekNBRDduUmpoZkcrby9FQ205cCs1dlN2R2JTZ3d5YUxEeEhvdGNrV0J2dy9uU2lQTUZvVzlWaytQSWcrcGxJbkNSaUtxTi8zcWcxUmdaSjNLWm80RDdaRjVRdWtYU1gzTzg3ckNmLzNqTUN4aUdnSThKY0krZk1mamNnWW5WVCtEUDdjWUJCOVRLWk9FdkNTZEZKbDVRbjdlYzhtMU9rZjRweS9iSFJ4S2sxeXlTV2o5eVJJMWc4RkFaZGRhcXRUYkxQdXVGNTdnb0JUK1doTjdoYWtPRmVldGZTejd2RDladllCQllLQVQ4bVJ0bkc5ZUVRNFNNdzhRY0J3VWsxOU5HZE9ESU1UMjc3L2cwSEFmZkpxU3FHWUpkbE1MREpCd0gxQ3FvbHQwUTdXeFZNSUxjbEdNQUFZODNMSnRDTGEwQi9UMHNrQnhrS0ZWeUlhR0pta0Q4UWlNMlNVR0FDTVhyaVhWbkxrNHhSTnlPUUF3MGZiMENwT0RLWlI5a1JCWXc2R0FSdWJieWw1VzA2THlvVEFmbUtBMC9obzM4UG1id0l0dFJFTkE2Nm1yV1oxV2dDbjhORmdUTlJhdTdUbm15NS9qZ0JqU1pucFBOcnhMZ0NuN2MzVGdaVzVjd1RZM0VkamZQa1VydVJnYlo4andPaTJ6UHFQRjF6bzcyMzA1cmQxRWZJREdHYVZMZkVhaDZIeWt3enZwR2FnOGdQWXpFY3JQVWZOTDkxdTU4SGR1SXNYY1R3M2dFMTh0Qy8rZ1BoREVRcFlQSEtQWUpKcFVtNEFueUxrVTk4V3Q5Mzl1UjkvNjROWFhNcFZiVnVaY293VmxoZkE4TkZTYm11eFRESTlrQWg0NXV5dERWSGI2eFpqcTUyS2dRWjkySnR1RzhTZVVLWUhrZ0JYMnJjNmVGcEt0K01KSm1zcUFQZlQwVTN4NElPZC8rMy9KQUcrZW5Od0ZDc3A2SFlzWVdBNURZRHAwRGZkcGozd1pHZG82eWNBR0EvWnFxcXE5aVllVjNQZmNpbGhIbkFhQUcrbm80dmNGOVZwMmcwRUFHTUpuREsyczBQNndJTzdpL3FManNFR3lTV0l3WFFabjhCc0dxYXgwMjRic25tVzl3SEFtSVpXZ09kZnBBdUYrRVBhdGpBVlVhM2gvNW9aZFlTblRRQnd5VTNMMXp2TitJWm5jaVFBK0lnMmdxeTM2QnQyZk0xbTBvT09lYTFNVkpzbUFEaXEyaWxKQ3dCZTFqb3orcGZGNG1rRlZoalh2QVlmZi9qTTVUVXZpakhVcGhjTGh3ckFIaFBjYWkwWnE5RDFPQjF1R25UTHdWNyswSG5qS2lTTzZ3dkFFaWw5ajl4YksxRDZLUHR2WUthcXV1WEEvOGY4ZmRkbndtWmM4bWxsdVQxaE1sUUFsaVJlOTl0a1ZKTVJ0cGVhNjMvUkVVdGwvYXZONWpwazlNY0RYMGt0VWdBV01ERGZOK3hwWUJDY0ovekZqOENMams1Z2pWSGxQblRpSy82aVhxd0FMRmpjZVlZUStncXl0a213Z1NmejVjQ3dZNTBNM3piUWl2bURCV0RGNDV0ZExPaldOL2wvZ24zL3dPZVEvNEhoMWVRbG93VmdEeW1jdHBvWG8zL0IxbUpSMzJwdU92elkwbkpocHZDVFdqUVVMQUJyU1BxK1dUTXNPMk5PQlBZMUxSTmUwdDNVb2xoVXZxaEZROEVDc0lia211YW5zWGZDcXZRZ2U5RlJ5N1hxVzE4VitydEdMU2NORm9BMUlOQkdMWVpKUUJiVFVvLy9CLzZMbytFdFhXWUFrNS9tRm9BMXBKaXVISGhSK1NkVjgwcXZaOTI5dDdhZjZIRG5UV1JjalhnSDFaTlJhTEQzcGdLb1lGNUJzNmNuQkZnNTVlTlVPbnNEWjJia2Y4Rm1HdWFEOVFzNlhlSEFaQThBVjcwR0hoWURpblhaOVoxaXkwUDVSMmRVdGdLd1FoRVJTQVE4eHpWWS9TVk5wY3RtZGViOUs2NEx3QkZjVlZJaTRES2Y2Y1ZBb3NVS0hPRURqR01pS29RVWdCWE5pRUFpWU14V3J1QWYwN0RrWUkwVjNlWUx5SmQ4WnRzcEFFZHdWVW5KZ0svUm9mTjl0NlJoRnJPVWRkMU8wNC9MSks5Q0t0dzBSWnQ1RVZVdFd1cVF4OCtPM2l6YzRiS1lXK3Y3SnlzTHdCcXhVREJaZzUyWksrNHp0V1BDVzVzVFR5N2NQWitZQXJBUFJ5QXlCakRMdlNvV1I0aEZFcVhBT3R3Q2NJQ3BMMm9DdUNuY3NzUGMyTTdpSDBiTC8reEorVG9BSFByYXNkZDYyNkVrd01lNzdNMTlyT3JZWU0wUTA4QkhNRGw4UW51RFpQb0JZemFRak9tSnJYRk9BcnpLaDhUcXIxM0x2SkhiK0lmUmhYTmVpNllmY1BocngxN3JiWWVTQUxkNXArYU5qRHQwRlFybUxqZWRPdnhqdVUwL1lQWko2cFpzNzJUM1NZQmROazJtemJhZndreFFwZjg4T1ZmNUs2MlZVL09tcDlhbVlCQm1qbytWZ2dlc3h3T0ExWjhFMG9yNXh6ZE9lWXQ5U3QwYjk3VC9Hak1TRCtoL0dyQWUrbHR0ZjZ1bllhQ0JhVmp0bnZPM3oyNHNBRmgxYUxUVzVoUDRtWEcxcHMyZUhiNFAvekhZK1p0RnJWWFQ4N2E5MXFoQVVENDZDQ1JQSUJvQWpQKy9mMWJWZW5WdjBTbjExVC9HcTNSL0FDWmswNThTaUUyREJtdGY1QXkwem5ZMENIaEpESWRwdmFYTzhIbVgwRytTSjIzVDlJOG5zZTNVdnNnWm04Zk9nU0JnL0dmUEoxUk5NMWZJay9lcldIVGd1RXVvSlVuWXBrR0R4ejNXU21qK1BnOEZBVHZmU3NqSC90WllhUGtuOEs5VFkzSlBBK0RnMTQ3SE5EbkR3eUhBenAyWS9qVjlRd1ErTWZuUVlFeHpwZ0Z3eCtaM2ZSTFBQd3pZcVh6L3o3d2pzWXgzc1BUTFAvYTlYaXdtTkEyQTVXZy9wb2tXa3lNQVoxM2JGQURHczl3RGNvTkQvNXVXTlYzSW13TEFjSU1IRnM3TVJHVHVOVGo2YThjbWFMTEprM2ZBTVY4N3pnYWVpWlNjQTQ3NzJyRUptbXp5NUJ0d3BjUFdnWWEvZHB3TlBCTXArUVljKzdWakV6VFo1TWszNE5pdkhXY0R6MFJLcmdITDViY1ljUFpNWU5qSWsydkE3Tk5Db0liWC9RWTI0Sm5JekROZ1BEMDR4eGhJVFRZQmtuV2VQQVBHK0szSGVBVmZWTTBhWXBLOFBBUGVsUytjeVBjcGswRFlPcFpud0FsZk83YUZNeXczejRBVHZuWWNCbUVySmMrQUU3NTJiQXRuV0c2T0FhdFhTN1NsTTJFQXRsTnlEQml6N054THd6aGowVGJIV1BrNUJneXVHK3k4STc1MkhNc2o4d1A1Qmx4anZDSytkcHc1eDFpQk9RYU05V2c5ZHQ0Ulh6dU81Wkg1Z1J3RFZnc1pJNzUybkRuSFdJRTVCdXhJRFk3NDJuRXNqOHdQNUJsd2s2OEpqdnJhY2VZY1l3WG1HZkFTZitXM1QvQVBPSUd2SGNmeXlQeEFuZ0VuZk8wNGM0NnhBaWNDbUw3a3c3ZFhZaHRpNDBCL0ZQZTFZeHUxNlRJeEZlMXRhL29SQytGbHI2ckEvNjFacU13bk12NXJ4NzVzRmlMZklJQ2QySzhkVzJEcUUvbU5BdGgzMHBPTUZJQXQwNTRvNE5KSmJ6dTRXUzNMUklQaXZWTStlWEx3L3dib3dZcnIyWEVsQUFBQUFFbEZUa1N1UW1DQyIKfQo="/>
    </extobj>
    <extobj name="334E55B0-647D-440b-865C-3EC943EB4CBC-5">
      <extobjdata type="334E55B0-647D-440b-865C-3EC943EB4CBC" data="ewoJIkltZ1NldHRpbmdKc29uIiA6ICJ7XCJkcGlcIjpcIjYwMFwiLFwiZm9ybWF0XCI6XCJQTkdcIixcInRyYW5zcGFyZW50XCI6dHJ1ZSxcImF1dG9cIjpmYWxzZX0iLAoJIkxhdGV4IiA6ICJYRnNnY0Y5a1BWeG1jbUZqZTF4d1lYSjBhV0ZzSUZsOWUxeHdZWEowYVdGc0lIbGZaSDA5WEd4bFpuUW9YR1p5WVdON1dYMTdlVjlrZlZ4eWFXZG9kQ2xlZTF4bWNtRmplekY5ZTF4emFXZHRZWDE5SUZ4ZCIsCgkiTGF0ZXhJbWdCYXNlNjQiIDogImlWQk9SdzBLR2dvQUFBQU5TVWhFVWdBQUF0RUFBQURtQkFNQUFBRGhCOFFJQUFBQU1GQk1WRVgvLy84QUFBQUFBQUFBQUFBQUFBQUFBQUFBQUFBQUFBQUFBQUFBQUFBQUFBQUFBQUFBQUFBQUFBQUFBQUFBQUFBdjNhQjdBQUFBRDNSU1RsTUFNcnZ2M2F0bXpZa2lFSFpFVkprVnBLT1BBQUFBQ1hCSVdYTUFBQTdFQUFBT3hBR1ZLdzRiQUFBZWowbEVRVlI0QWUxZGI0d2t4MVh2T2QrZjNibno3Z1lEeWJkWlpFTWdSTXlGdXlURUJucGpuekYvTTRzallZeVN6Q2o1UUlBUHM4aUpqS3pBTEE3bUN5U3ppcEhpa0VnN3lUbnlCMHZNS2hCQmtOQ01FaEJDUkprVmZBT2hXU1V5NGsrU1dXNzJjdWZZdnVKWFhWM1ZWZDFkMDlVOVZUTnpsNWtQTy9YbjFYdXZYcjk2NzlYcm1sclBXMzVjU3VBYmZaZllsN2lGQlA2UkhJanlzdUJPQXAvNUtGbEsycDE0QmVZeUlhUzJsTFNRaDd0QytaRmYvN2ZoVXRMdUJLeGdYa3BhRVlmRHlsTFNEb1dyb0Y1S1doR0h3OHBTMGc2RnE2QmVTbG9SaDhQS1V0SU9oYXVnWGtwYUVZZkR5bExTRG9Xcm9GNUtXaEdIdzhwUzBnNkZxNkJlU2xvUmg4UEtVdElPaGF1Z1hrcGFFWWZEeWxMU0RvV3JvRjVLV2hHSHc4cFMwZzZGcTZCZVNsb1JoOFBLVXRJT2hhdWdYa3BhRVlmRHlsTFNEb1Vyb3k3WHlWTnlmVmwySTRISHJ2ZzRpSEQ1a1IwMzZKZFloUVJhNU5MbEs1Y3VrWXVpWlZsWVNtQXBnYVVFbGhMSUo0R3ovbGErQVF5NjlqTkZSbjFQajJtVHpTTHpyeTVQMitVVTJ3cTVrWE1FQXo5SGJoWWE5NzA3cUUyS2hicmxHam02VGFUMjZjZjg4WU5mbWplemErUkdweGdQVjhtdHlRUFhzV1ZSUDhlVEJ6anEvVTNHeE04NVFtK0tka1IrMFJRMEJyZnFrKzFZazFwZEVFbC9QM25yYjNWV3YrYVRYMmJzMWNtbEswOCsrZVNWU3o3cEM0YnZDUnF2K0NlaXhYWmhqWXozWkp4bnlQanlJMDgrK2FHSExwRlhSWHZKcDQwZmVvaHNpU1phcUdRbzlXSkllb1Y4Sk9ENnJCOWFPMm1aSFlyNXRIbHJSelJaTHZUSS95a1lKZW04SmpwV09CdmZGVTIwY0lHUVhhVmhJU3VqNzRSc3ZVQ3VCYVVQdm5Sdk1KL3hoLzh6WXZnNTFuYmpXMUdUM2RMZGhFVFBsYUkrKy9GSC9ZQ1B0Nyt2SVVpdFBzM2Eva0NGOVlhRXowS0FMbHhoWmJ6QmVXb0ozeitrVTR4TnBrWEkyS0hYSEpCWE9CL2lHOUluSkZMb29QMGNtaDdZRXlCaEFib2VZemNPTWYvNjRHWEJ3MVVSbDlKRmVsMjBzMEtUakJ1eEpvdlZWWkxtMUtqTjJsYXBuQ1hrYldwTFVLdVNhQjRwM1F2UVZQYjdnZ3VvVUZpaHZ5Z2JpM1pXR0pFM3hWcHNWcStTTkYvYkJSOFhWVEpyNUZwSGJRbHFHSi9XbkFJNXI2WVZjbklnYU5mRXRLcVk0b1pvcDRYVkRQZXVBT2V2VkdQK2tHRTRCVFpVUCtudHArOVNTcVRZVGo0L3AwVkhRR3NpKzlnVWZtV0lLUjRwT004NTllNHdWdzJGSEt0UVF4M2JsTFJ1cHNDaHFTbE1YM3IvM0Z1YlJFbzJkTVVTWHNjVWp4WG1ScG9aS2tDRks0T0VXMkNvd0FaUmtLN3BIampVdjY5QUxsb0ZaaUp5ZmFjRnQyY3dROFhwbjlmTjBNcUV5ajdaU2tWVUJ4K0hjazlQOThEaFV1K1hBUmV1M0NMQ1luamVtdkQwMkFxRTBYWEk4VEI2SGc3bWdOQ3RuNHAyQUQ0MnBaNjc0NkZJMU5kVUdZNDZGcVEwSWlLSTlyenprYWYzTWNWT3hHTkpnb3BhclpWNjBzSlNrTjRGTnVUdFlFV2ZWNFg1YUNoakY2enlnanhIeEtvdmgveTFNY1VvS1BHdU9vMmg5Q3VmQnZhUngvYkt2ajRKQlF2RW1WOHdHWWZzZkVaaUM2NmViMnIzTWNXdHFLdjJqcWhzdndUajBVakhpbWNndkRRZ1RxdEpLSFZNVS9MdGFzL2kxV0NkZVV4Rk43MlJpcHlLQmRlV1dlL3BaZFFDSDN1Q1hEVVdYSXNPV29BL2J5Z05DMXlCVG5QSEIwTWlCYWdqSlE2eFBRTW9idlJRWThpYjRHT1h0NjJwY1FodkRyK2hKN0pKai9VdVZoVWVrYVh6d0JabUtQYmo1MldUYlo5bHJKOWRIZFoxOEhHUmQvWWtrODNicE8rcTBCT3BVU3F1ZnFFR2JQajhsTlE0bnlMOGo4ZysxTUZSUDJSanlHMktHN2FHMFROTkVLQ0IvYXRoNjkza0tORXZOK3hISE12TnZMeGFCYTdnSXliSnUyYitqWGhhNlBFQVBHMHpEa3BLU0d1ZksxLzQ0U1J1R3RoemkxWVJDeTRKUjF2QS9sWjZUOURhWm1MR1grNzJKd0M3NmJydzlZZkc3em9FYmlpUWtEU05aSThadldmZDZnQldrckFQeVFuNjRJTzFydnBieVc2NUJYSGVCQm1lSXVPUHZlNmZmZkw0cHo3VmtVZk5zUHgreUxkR1RpQnFHRXdoVkJySk1yN0xOYmZiM083RW1JRnFZaU9ReHZQalRvWlVlcEdpSkNIWitadFRjL1NhSHlEa0R6M3ZzM1VrRk5ZbGowZ2pXYlloTytjMnhQUHFrK1NETENuZnhiWW1oWGlCWkxFT2Q1TWlaaTFyek55WEo2bTlicXlkOXRlSHIxSldXMGRlSmJLSm50ZkNGUGNvalRyM1NIWUl4ckVnc3p4aHpkTjF4bUxBTThKQnh6R0lPbUluYlp4WENWZUc3OWE3QzE0U0JjVE40YXVVYzY4aHh5dDJMalRoeS9iakt5R0xpYUdXR3BDdm1HQ21QUnJZQjhGZGU5THpDSG54aGZkTU1OY0tNeVl0N2w4VEVJNGI2bUovVWg1N0l6bkowTVVVdDBDOUNiUGk4bE5SRWl3SlN2UkZHM1VlWi9XR0lSclRsamVVVVROS3Ezemh6RXVub1ZBSG5LTmVveGJGcmtFZ1F0OHNYZUN4SGdlei9WMmRhS1podkNEcURjOGJtT2dpdE9Nb25iL3pvVjBSRWs4SGM5WmFia25McmJ1RE9SMExXdUdicFgxOW5sS0FUbE9BbVo2ODh4dUNxeVBvNUk0QkZVVFVHa085Rm9iYVhPSUd5S3lDd04xRUV6ajFHdWEwRmVIM1VaMllwNHhBcHlnaGhvK2ViaG9lRnRpYnBXMFJNR2tjM3Bsd29xZGRMOUcwS2FDdFRraEhkSjIvQWRGdWl5cTEydVR3M0tROFpRUmJ2TFN2WGZBaFR1Z3BlYzFydmNPSVJGV2VrRHhpSmR6bjlqS0Rjbm1VdFRKMko5TEtwUnZmeUdyVFk0V0ViRG9POFR6NlBEY21UZ2ptaFZ3ekNQRUNKQU5sQmhMZUVsdXRKUlpWU3gyektVS1dGeU5LZEVyeXJKSHZKZGNuNWltanNjVkwwclpVZzZRR1B1cXZhVHBqemVCWm1wSGNXUTEyQmZka0IrWHlJR3RsekdFM1FrWjNoU0x0Z1dic0ErUWNkUVJvczRSd1dWcFdxWmg3bEkvZDFLNUVJM2pXUEpQbngzMDZwWGNtaHN5aWdhWTJPaEVoS21uWm45QklWcmJiRWFURkVwUlFFeTBJSWwyd1lSTGkwUUhnV1JNcmxlczMvdmdaOG9EQU90TUNwaURuSWFtZFZqYmVMUzNiOXRnY3dCZGtZS1A3OFowTUdORmRWUXlnYUVhaDlIVHQ3ZCtVRzJaWWJxc1pCeHBBSzBhdW5qZ1VaNTg1U0thZmdSVnhvT3crSmtNM3MwS1p5Y01kOWZycSt6dHFUSTVrVXVoWEpDLzNXU3BqdGN1dUlSVXJBdXBNR0RGdzNUM1BncFp4Z1ZxTExRbWFydEsrVktkMmUxdXF1eWpDSVdhbVZmYk56WFNRUTlDNFJCZnNHK0trVzRKZENSYnFvT2dPemFJMXBINFhSVHpkekt3ekRJSkJHaS9rRHVvait4NFhQT2ZIU2VQbERXbFlKVFlqYWgvM3BINFh4WDJEeFY1WGpWd0dHNzRTVDJVQXo2aTdDMG5LcE5xeFdlZXlqektpSEdYUVBNb0NoK3h5dUl1Uis0V1l4WENpZnhBTDRtcXFNZkgyODlqSEJIYXpCdEE4eklETTZTNkdPVUxDRE1yV3VudnFSb1hPcUNNamI4YXNpZHhucVV4cFpxSEs2UzdXczdkQ1dSU3Q5NDlVU1NMSWszZUlRZTduWmV0RVZZVHlvU20xSjZwUng1M0RYY0RIbXZ2UGlJclRVbDMxTkRETHFtQ3hzblBZeDBLc21vZ0ZqbHNKaVRJSW1UeThEQlRXdXlIcFl3a3BqTVd1VktVcEJPZmhkRGYrZEdVR3dqSmdUTE1lZEFUTlNLWmdtV3ZUU05YWldreDE2T2E4NFpoQlBOMnRMQkxEbk9iQXozYXlXU1J0OS9jVUx3M0JxcHVyblBheEVIZlYyRHBLUXdLRlVLMWFHcERVVmpjSUhDWHdXUlFyU2hydGF0eFc1TFNQaFRnbTZ2NC9GVWROWFhxcE1IS2p5VHFSNFdkUVhsZDBlaFF6SGw3WC9iNlcydFJPeGt5cHU5ak1nRkc2d1hkV3hsdUJuMEVGNWlHS0xaQXZpQ1VnaHRsdlE2WmxFbkdDT0hHcHcwWGR4WUd1TTYwZGExRTFnMmxBczIzRHRpRXlnTThuL01nb0lYdnI3Q0hJeXd3cnFMdll5RU1aNlJwMVg1Qm5zQ1BZcXBTeGJKRlhZbFI4TlFpTTlWcXB3bjVsN2pJUTV1ZUwya3dXaWhYdWN5RHBFbkg0UVQ0MXhqQlFHN3FUQTFrUjBJSEJzcW5Fc2pPWmRFeU1meVlTeXdESUtHd3psT1ZxUXJuK0RKTGVza3d3anE2ZHZXeFdhd2EyWE1VTHhnL1Zsdm5YZXR5aWZZWFFkL1RpYy9iakw5MEhmZ2w1OEgxLzBoR3Q5Z3ZWakdYendXOC9Da0ZEMUQvOFgzOXJUaDFEanN5aFp3T0pwTklQVVVwZkp1UTNaSW9ET3IzdzQxSTkvTWtiRi9yNmpYOXloQk4xOTR0UkZwWlorZThKZWRmZi9mdTdDZmw5QmI2Q3ErcHdaZDRWWEZWMzBsRjZyRlpvem5UU2c0VEZ2WFFGdCtQUm0vdjB2eGRQc05SY3ZJQWFQUDRWMDVrM0o5aWRSUU1ObGZmc0U2ckVqcTNZcDFBSTR4c2U4eS8vUkwvUTBLa0gwV01QVXlOSklsaDN2K1ZLRWwzc0ZteGNNcmVJQldhQVRlTENiVjBLVE1QbUVDaGY1aGF4QUQzc0RUUm44d29ndXpPR2RBMk8xUlNZcVNPalZJQ1RoUmt5Y0pNTG9xOTRPd3N6eVlWZ3BHbXdHUy9BS0EzRCt3WEczY0ZEUnRtYjhTS3pwMkg2UVpHQmQrNllscHdndHpoTlNQcklJcm83QUpXZmtmWW9Pc1dhSTd4Ritabi9PT2pldGdzdXFvN1dpZ3RlWjRLVDJ0TmRGNVJnL3hmdFRhS0xhWnJqcENsN0o1NnI1eWFtTVovWm9rSFNCTk9oQzZhR2J1SjBGNnpPQmlkZStPVjdGMnZLMXNEZzlhUXByanNDanU2YTkxek1aTi9OTHQ4RnE3UEJTWC9kNFlSU2Q1bk1VK1dLcEdtZTQ3cnE0RW0xZGZlbnJ5YVJYN3crNUpGZHBLZURLOUtXYVZQNWVVUDEzQWdFajlCMHNaVHVQZm5WZ0tlejk0NS96NG5Ua0djOHJ6TE1xWnVmRHNJc21UcUE5dGdQN2xaNzBjZmxqTmM3OHhLRlk3b0lFVnk4Y3ZFOHZIUXhURkNmSC9mdnBxLy9TLzdOUGU5ZjQyZEFIYzkvZHVnSHJrSUU4NStzVm5BRXRJcmtTKzlXaDE3MDVpYThuNTFFZFpTR3JzSmVlankxcjZPcXRGY1BQSzlOWGw1aGU5WDJnditmRW9YMVBKV21xOU1DZFBONWFNTEpLalhuK09kR2JYWjB2T3ZJbXBtdzRoUUdrczQ4MDF1SUFXTkpyOUhUQ2owOGw0MkFEdXo3WGpiQnozNVY5L21uN01FMklQSXpnQ25tT0cyWGcwZmpYK1d1VTExdWl5TlBzRHBIbVdUS1BwNk01Z05iNVA1VGdJR2VtS0psOW93bFBiZ0l5bldSSmNkYW9BM2lVL3FkWjk1NFpVTlVXVUUrbGhrWCtHWU0xa20xQUFPUk1sbm1pRXJhU0wxR1I2RHNpMjBPeGtVL1IwSFBQcFZrWE5JZXpvdHFQaWQ5REhML3ljOEFKTTA4a1czbWpIK0VWRHNNYmlQanZ6dUJwQlZ6OXJtSElGTGJ6TTBEMzhpbHBIY05abFNtK3hzOEZxN0lTT055b1llanU0NTJzUWJNMlFSeEptbHF5WFlOT0wyYkpnT2szd3BpeDNOVEhkYU5pMTd0dmwxcWRWYzZUU1Y5WkNDRkVqMDJqblRVZGdpTEtDOTJTSFdvWGlCb2dITWhRU0Jwdm03dDhtY3E2WUJxTjdxSEFFS1A2WFJidVMyaUNKZDQ2Rk45am9zUWpZK3A2aVZ0eWx3Y0phdlRsKzVjVDlNaHBOWmh0RjJCMEdOYnFkYlVQeFEwbllrTzdnNlN0UFI3K1VFaXdEZXo5OUp6U3hSMUVqUnR0eUxwbGt1ZDNrek1XZE9BdERUdmFjY2RCOHhRbjNjVy9EYVZxQTdPaXFRWHducmdxZ1ZoTWNDUU9qR0VmUVVGdkZqREpraDZPa2J6MkdtRTAyTDdCTDNhVkNpZmMvVDZUU0V5ZzBwZG1xUlZjbFRTUjRZWXBYQ2FEbXNvdzlianNZalNlL3RVbkVrNlQ1U0h5RzR6RkZueXBNL2d6Z2luNmY5aUVBdlhxbjVRU2U4YVl1eEd5U2dJUFhZcW9wMTJacldrUzA5L2RVYjU2ZndNUU5MS0ZlNkdzc2tHeXlQcFlaU3RnOUJGZ21uMTZkckRmYTlGdGhMVXlqNmVvK1p6a0lCMjBGQ0FnYllyU1J2bjhpQUhQRzR1alI0UmdpMVZ5WWRiMS9HL2ZJOTRwL2ltajFIMzJSUlFEZ3NGR0lDa2hRNVo1WXhLdW1HSXNSWmw2MnJScURiNWIyKzErdWJVMTVINTA4T0dySmlDNVdmQW1hVHBtd0JEU1NPYzVvbFNoQjdjVEw4UXFNQzVFOU5qSTZZeW1oZGN6NVZPVTBrZm1zMUtDcWNSNzRVT3Vsd0x0b1k0LzhGRmI0WnNZYUVnYWJFOXM4cWs4YnZ4NE44SzhHM2h2Z2hZVG9kaGREMmVSTFhLNVF5Uk5WMUptZ2JHZmJPSjRPWXlucmx0aVExaFBmU01UVWQreEl3MWkxRERSRHJZRW5MWUFWTkpRNUhEZFFVNzhnNUdIOFpuSXlqMTBzSnBTenpPRkUwbDhZckRFbm56YzNuMG4vV0dKNHV2RXY3L0NidThpZXUySmJibWh3YjZKQktXVnJrd1AydEtEM3V3YzB2d2duekQydVpHd3pkL24yQ1ZmK3ZJMWhmZy9MUlBiclIzNk15ZUoyTm1NdWdONTh4Skl2Wm9XSi8wWEJCQzBtNmlxR1FDUXpjL0NQUG1hZnFXOWtLTi96TncrbSszTndONEZQWjBBMit2ZGdqRTlFY1MrU2FHZ01Md1p4MFE1cXVyL3U5NnBUcDNqTUU1OTBaQTc0eGw5bGEvK0FTNS9PUHplSGc1ZmlTUlQ5SllMSVlPQUw3ejJQc0V3V2J3Z1E2bmdkRk1HbmVaWXVFakozK2ZiY0VuWUJrM0pvTzU2S1VoZ2d1ODlJN3kyR2tDSFJsby80N24vWXQvK2IwUlJJVnp0Ui9wZWRSYnVGU3FqWC90ejczUGZJUE02UFNlekNnTmV6dHlnNjB5Wk1XVEdSa285NlBzdElBY2NOUFRGSnNhMFRkRm9YMmpINHord0J3Mm5uVFR2REVGNzlxaFErT0VTak9GQS94R2dHRWVxV2Q4dGVTTU90WjRIRk51aVpjOFJnTnRBTUVkbVc3bDhwR0QvSGhzbkRHd3ppMkZCTmZrUnFOR3cray9rbnFtS2JiZndrZlA0VFV3VFdrM09IMmIzKzBvbVpHQjFvK3kwd0p5R0c1Y0VGYzNjTHBhdEU5VnVCQUZqR1hmK05YYlZDU2x3UWhtM2RDRXBoNUxkUFJGY0pBMDZCWHlhakFDUzI3REt4bUdpM29hck9jcXd4bFVoaUdCckRFVyt5SHBUWXZvQktxcXFhUnBPQzFHOGNKNnFOT0lTL0FQeXBOUGdzUGwrbTZUWHhMd3B5M0g2UUt4dnRBaTRzV2RIcWhBVDgzMGJyRWduSTRUV0F2MXZFb0ZjczdPaFU2d1JOSHZRZkI4RzNHaWp1dkdxenduSDVnV2ZKbkJoNFhUTWNCVlpydnhGSkFycUpnaGlxRklWS256MytHdEVQc1dMOC9vdStmbURqQnEvdytNcHJDZjZpaDZOQ0phYlgyRTZuUVZSUXNmbWwyTW5sa3R4V1paSURJQnhjQTRHcHVBSk5sRlg0MGZKcHRUV3BxcGdHZklXN3h5NzdwWEovMFZTNWMxME1SRFF6QXdzcnZORjNqMUJhalVhL3Jld2oxMFI3Um5OTHFldmtudGtZZGI0ejUrQVhPdDlaUVJua3dnYkllbElLWTNjNWU0YnB5ZnlKeUtER0NjVDZFQmZVY2VHWmJMZiswL1RCZkZQL2cvbjlKYnBBa2J3OGg0MEJjOVpwcFFoRlRxR0tSTkRYTnVxY04xalZpcUpubnZGMTlxUWRJLytlMlA2ZkRZYkYvdFM5aUdzaW1SMnQwVm9YelNtckpHQjB2bGxnR3lFZVFjZkF4ZzdZSU0wazZoMlNVUncwWU5hcXpKUnJVcjNuZFB4TlljWDM3a3lTdVhuQ3lyaVlTOW9SeUlUQWExMUV2dDVJWWxYQklhcUl4aGdra2FOTXRpejlIZVdEOEh1bk5xNkx1TDltQWl4MFhIem1SY2UvWmJsNW9UZzFXWDltTXprVnhlSXFQWTdSWjV4eGVBQjhtZEFzTXlodmhPbmw4R1VZUHVyOTNuWC80V2hZTXFYRFNBdHdreWRMSE9IZG1rYWVkOXRrcklaVUorQlhoYTNIcmdPc1QzVEl2WGJIeDNvdTk2di8vV3Zoa2VCWXB1eGp0S3l5SlV6dnJrNW9aWC9nR2FrUWVEbTVTblVndlhJVzdURXYyYzl6ZURieWQvc0hYUm4rdDlQVlFnMnRqOHBYRUdBaWROVFRZdVRpYWtSVnBxa2JjRm5aKzg1ZEZmNHdYeUhkemFPeHVGL3UyVXR4SmFmSGs3a0E3UTdqRXU0QWNRVGZFN0U0anZ3QkE3dG9oYXBJWW83SU0xeWJVT3c5bzZwQ25VSTFSS05BOFd4Ym0rUzdheDBMWHFWMEh5YVYwRXhzZ2tVK1pNUHV0dThsWW1wTFV3MkEzdmhwM2RpOUN2UUcydTB2UmFqUm1TNEFaSy9mcldJamJ0b002cmt3NWM5dkhBVDRzWHF2dm1rWGZGVGRZN25VM0QxbXBrR2M1L0J6WXpPQk5RUDhKb0VZWkEwMTN1dDJwYUFaNmhGbUJkcEJlYjBTckxtaHhBdDdKZ1p0ei9nclQ5THQvQW9xTkppQkpWTXJ5MStDNWpCbXAvN0pDdGtjU0NTcVpDR1lBbWQxaHozVHhEQXRCZE5taGgvcmJrVEZwMXlHem1xWnZnRHdtSlVMNndqNXNPR1FiUmkrbm9xN3RvSHdqNXBoM01TQjlJWTZpK3BtdE96VkRYVUhFcEE3MFdTeFpYWGtZRk5qc1V3SDdNNS8vZzN6ejZvWGZhWXhnTEtkMDRsWUpjdWJoUEpuNHdJL1YyUnNZV3RNVE5XZUhpczI0clFvVDZCRlo3dEFtTWtTWTNWZnRJWDRacVpGT0lFYnpKVEQ5UXNSYUV6MEtUNCs0Q0NxQXlGbEdIbGtSUmVOUTh4eExpWi9uWlY4QTZWYS9nWFNmRWZzaFlxNHYxRzlUTDkvbkNzTmpnSFJKTWZ4ZXdUaU1ncUNmOXdpZnVMaWJjemdqUEhnNWlRK2YvRnh4Ums4dy8rNUEwTEVZcFNNMlBoSHlGVm5FNEJHYWJ2RHo5TnczelVyRlVqdEVNOWFSZitFU0xqTlU5bkpIV2JCb3hFY2tvY3ZCNWZyZFZqcWlranp4dmhRWlhuczhYWU53K0J0ZUFIbGhrdTZWeFgyM3dRdVc3eldpQnV4aFY3ZTJNUGF1cVlHR3FWSnMySlR3d0dOUmxYL2d4dEdIVnZzcTY0dll4dUFZVVlOWStUYzNlNzh0N0lBR2Urb3dTd0RaVW10cGpoQzFoK2RRQmM2dlJYL3cySk9wRHlXekRLbDVrWFhIN0NLWFhMSGNKVlo1aVY1QktHVlVYbnFTZW9LcTduVkZyajFMd3o2WUpLMU01ZE5DVzhqTHJJdlpQMmtmTDU2enhLUFgrSy9Ja0NYZmh0VFR2RUpCS1diRFFZeEJMN3JTRXhmRG91OXR3cmU0bjdLUGw2N1ltQ1FaOVliQ2RkQmZZbit5bXFpVGl4dER5cFhiUG9YRVVLVXhBSFNvZVdnejY5b1ZuMkpwQzVweEYyOWR0K1dMRHpTbUliK2o3RnFzazNRVmNTVjhBeW9XdU5BKzVmWDdsbWxDWWdBZWFuVzV3YnFLSFVEZTJqM3hzM204OGNVRTNOblpkNkcwT2Q5RVRnMkxZNWxXbGp1TllJZzVISi9ZeDBhcEZ1QmVQV25YMlVjS1ZxN2l2ZjJrN0ZBc3FoN3VBQm5WeU1lQWFHS3RQY1NueVBnYW1MalFrT2V4alVZWkJqR1phMGo3Qm9meWdBNC9qUUlYUXVRdXN6UVZ6aVBTZzFwSEVQT1lpZGxaWXRXR1hwTjBock5ZK1NyaHlGVUVpUGZOQmsrVEJOZ3JvaGtLN09XNmR1OEMyY3NFY0lqaFM3R05iU0JlL09CQ3hmN1FkNWpPRWxlbndzcDF2WDdqZkdENm9KdzhBUnludVFpaUdNZ3hhc3FVMHpMMENINk9FMDc1VTdRbHB3cVpzQ2xhZnUrL2tQZDQ1blZ3RVdONENxUFZUeDJEWmNXbEtsOXA1K3RzWktaYW1xa0NwaUdmYlNDVXRVVVFZRmFXYm9xMVpWN0tQMzBkdVBFYTIxOFdLbGtaUFZRU056VlFFWURGMEYzRGZ3c0pNdUoyUlltbEZqajBWNmV3YllSZEVyQUhxVU41d1ZxaEV0NHdQSS91NFFtN3RlWis0TmhBcjJoYlBzRWZwTHdQQTB6WWpJcnVMU2JjekJxL2x4RE94eGVDVWVMQTA1Y1F3Ukhvb01QcENnMFpDOGN1dEFLQlZFeXRhZ0U5WmdNS21Sd3NJN1E0WWJzbGRaTnpPR0syREtibXlOeHp1Um9xVXl5Sk5TaWxFQjRzaSsvZzhjK243RGh3T0htY25iV0xyd3VSRzdpTHJka2J3dDV1R2E1NXRpazVEYVNMakFVbUhQbCt5anpVMkErak1rVzJ1WWFoVGNVTFM0VG9EUktqZFdiY3oxalZQelRiUGVmQ0psNkYwMENDeXg2ajVUSDl4SmsrWTBETmh5QUhQR2M0K0Q2M0pzSGpNUE1aUUFHRTkrcXloSjlpcmh6R2M1blpHN0xRaXg2NGdtMk1GNjJ5UGs4ZWE1SkVyYldyeDJsV3hZMitHWGd1eTcvQlJ0cjZsbGFPZ3hQazY5bFJoMjhJNENROTZJNERwcFQ4YzNVTlQ4TTY2Z2wzd0xxZUpPUjN3TXI3Rm9jY3FEOEFnakowQWdPdTJCRDE5c2FlRVFRSWZnaExHRlZnTmZVclc3WXlSbVJGWTVsK0E4TzduWEVpbnhtaFRKWndZcGhyT0ZhWERBTmp5ZFZ1TUFaaUpYVlpTL3NKcGJ3WU5iUkZPdC9scTgza0FxSXpBQmVrODNhdTJ6N2ZXRk1IVjU0U1RaeHhCaHpxMEJQTVlMbGJvQ3V1eWU5MFd3MG12QWt3MTFGWFdESXNWMmk1b3gzRXdCdmE0RVE2V3Y5Qy9ZRW1QZ0R0TTRDZ29YUERKVDh2OGVxdE1ZejZQQSt1aGdISDZsMEhZdlc2TFU0MjJTcndsK0g0MjBJVnlIYjlaWUFMR0k5a01lbERZVTBCWkJXYWE5YWYwemJPcFRhNXRnUDZGS3JuZVVmbTRoMXpmODU3emYwRmtwNnY4Nkg1ZGpnYlZRVlBVS256dHFEaEtQbm5jVy8zb3liTmNnRmhzalFCRWN6dmpmdm9EVUxIT29ZYXJQRS8rOXorKzZKTWJoekhxWldRK2F1U1ZLRHN0Y3NnYSt4Z2JuN2NLWGR4SkcvUDU0RGM0QnhEZ1FkQzl6aVdwY1JkVmNpc056ZnpienNNNjRIT3RuMkJsOVduLzVFYzZXS01zSXdIZmRCekFhT3hqWW56T0JvUnhjcFFaalg3dVh2TGdiOVA4M0ViUVZ1SFdMTjFkSUQyeUZZMWRxRkxwbVNmR0QzNVR5eElXNjhXZ0Urbi9uYUNnc1k5YURLWWR3NGt4ZzNqM2tuRTdJOEwvdmluRnhZTERZdDBOT0lLQVdXRXRQZktkbW0wODB3TTlFckh4eTdpZGNiU294a00vdGJCbnlGY3RKTjBJMms3VGFHQmxLK3kzOXdYem9YdVpHSnhQQzlPcWsyOW5oSTJ6ejVtOU9hWmcraXd6aXJqdGljZDJNSUNIQVdDWHhpQjNIYWNNbXJKcHFPUndBMlRsMTRVNG9mQ2JyRGdNelRuaTVnYlNNMkUvLzBMR3I4L0x0OFgzR3JuUkNSaUZqb1M2aEZJL2FBclNINVdkb0d6MUQ2S1BneGpDRVhtS3RjQVBidkRTcTBFQmF5emxkc2JlQW1hWFluTlNxM1crbzBHR2REUHM0anJ0MHhpa0Y1ZUpPcjVZclJZM0g2QWVobXgxdnJUd1V5NFdvbUQ3bnJ5ZEVlcXdVNHoybkViQlVvUWNWOGk0RXpJeFlockhncEVXYjdYSllTVWVmY0JKc0pkQ2tPRDlJYVdKdHpQaURrc1hqTm1jcElvTHVoU3Fza2llZXQ0K2E0SzZiM21sOUhkUktwYmNOUkhlOEpHZ3hUSUFJbmxLM3hJR1RXQVJpYVRLTmdkbDMvV0Z6SG1vUENvMVRJeTVQNUVYUWZmNVlCYWZ2REZBZ0gySzJVcGxrSVhLS0Nhb0ZnbE5SWTliRVJEcFVYK1JmanNqSHBVTHEyWmhaam9VOE9ETVBsWkVyZytnZGZ5emt4Zko5aG1JbzcycEd6cFZPNTd3bm93QSs5Y2pXb2Z4aUpSM3d1Mk1GV0hOWlN5TFhFYXVQOUNOVlNYRmNaNmNQRVl6ZmlQeXhqQXlzVDBIaE5SYk1zNTZlSTB3UytqeEh2M3RqTFhiekI5aW54QWVBL21LR2pPOStNVEplekhkQys4KzJlV3p0dnl0ckNFY3hic1k0RWRLVnlhb3ZaM3hGRG5wV0diSU9icldteWlKRlRMdU95ZWxFRUJ5SlZoTVllTTVkaDlHTzVZN1Y0WklsUkgvUjNCUzI2SVhueWRmOHJ3M0VQSS9zMmFVN3dBWjNYTHRsVDJ2MUNhM09pWjh3SDF2bU1BdEZFeDVSQzc3WkR4elFkT1hYSDFKRW45QnhnOFI4ck1kcVVsZkhNWWlGejNrSXZXc2ZzRS8rZEgrSERqcThkMC9vLzFwSktmLzFJd05XSjVETThnbEZKWEFXZkcvSVBQS28zSmJxblRlV1ZxRWJ4WjBheUlEWnBHWE94dlYzUVdWK3A2bFN1ZFZqSUc2ZXpFZDd2Ti8xMms2WUFsWGV2U29pQkMrL25pQlVmOFBJc0ZYUm1Pd3FHQUFBQUFBU1VWT1JLNUNZSUk9Igp9Cg=="/>
    </extobj>
    <extobj name="334E55B0-647D-440b-865C-3EC943EB4CBC-6">
      <extobjdata type="334E55B0-647D-440b-865C-3EC943EB4CBC" data="ewoJIkltZ1NldHRpbmdKc29uIiA6ICJ7XCJkcGlcIjpcIjYwMFwiLFwiZm9ybWF0XCI6XCJQTkdcIixcInRyYW5zcGFyZW50XCI6dHJ1ZSxcImF1dG9cIjpmYWxzZX0iLAoJIkxhdGV4IiA6ICJYRnNnZVY5a1BVRmZaRWhmWkNCY1hRPT0iLAoJIkxhdGV4SW1nQmFzZTY0IiA6ICJpVkJPUncwS0dnb0FBQUFOU1VoRVVnQUFBWWdBQUFCTkJBTUFBQUJPUCs2bUFBQUFNRkJNVkVYLy8vOEFBQUFBQUFBQUFBQUFBQUFBQUFBQUFBQUFBQUFBQUFBQUFBQUFBQUFBQUFBQUFBQUFBQUFBQUFBQUFBQXYzYUI3QUFBQUQzUlNUbE1BWnJ2dnEwUXl6ZDEybVNLSlZCQmh6TXI3QUFBQUNYQklXWE1BQUE3RUFBQU94QUdWS3c0YkFBQUtERWxFUVZSb0JkVmJYMmhrVnhrL3U1dE1razA2RTN3VHhSbm95aFlmbkVDcUxENTRnMXNwVkdTQzJLYyt6T2lEZ2k4VHROTGlnek80aTY0Z1RLQ2dMNFZaaWlCc0N3bjJRUXFGeFBvSDdjc0VmQlZtcUtMV2w2UkpOTk50dThmZmQvNmZjKzlOenMwbW1mVSszUHVkYzc3ZjkzM24zTzk4MzNmdUpJeE40UHJPOWdTVW5ySEtlZjZmTTVZNEFYR1grWHNUMEhyR0tvZjh3d2lKSGI1ODV5Y3Z2UERpcldWK245ZzMrUElOYXQ5WjV1TUkrSG16SlB6d1pCVWxicTk5WXJkTnprK0duemZIQXVmQ3FoUDB2UHpMNjhMdW8ydXZmWUpZLzZyYTQydXYvZndFNkFVTWIvRllmN2lNV1h3NHNpWmgrdnh3MDdZblNOVTVQNGhUUHdXalZ4eld4OUR1T3UzSmtkT3dKTktwWjhHNTZsaDZGZTF0cHowNWtpempveWo5dStCMEdRbmFjanNtUnZkaFNhUXB3eUFFaEpPYTJCeksvRmVZaE9zaythWnNjUDYrTzlvTUp1V09YU2c5eGQvQkpCYWpkUFk0LzYvTE9BZ201WTVkS04xOEwzcDdsakhiUGRlNERuOUVxcTVlbDZMOVhkZTJQSm9pYXMwZERDZmxqbDBrUGNkYmwwTGI4dlRUSzF0M0JpazRyem50aVpHN2h5emFsakNpMGl2Y25wamxqdUxHQTBhbDNaTFRsVXVHRVhVR3dOVmM3b3NiS01FL1V2czFUMzB6aUtnVlRDS1A5eUw3Witnb0FGc2V4Q2dOSXlvbWRSU0RPMitlS2gxTUU4NC9pRkhVU2FlSm1OTlVqT2lINFNrbks0RDM0c0o5eXUwd3FVZmhjSDVWVkg1MUhuWElwaWhXYzVjTTdUMjM3ZE1mUzU2OG1GM2ZGcVZRSTY1Nm9JaTY3aGhLVVczTmFmdmt0L2tONTlUN1VzelowUmNRM2VwMGlSVWJWaHo5VDRCUlJHMDVQSE5vYnp0dGo1em1yN0txS1FRd2YzZjZIdWZETmk3Sk1OL0hJVE5DVkFWR3UyeDBXTTExbVBaSGpGVk11WGdsc3JCeHhjZlNmNU8yRCtOQ1piTkFtaWduTzR6Tm1nOFFXN0YxY3F6bER0K0dqS3p0dUM4RjhEcnZOQUZZYnBxWUl2K3NtTE43MVhkRXg0U0hKdWVWbzJLZFBEL0pFZHdKMGtRZm56NXlXRm1ic2lma2ppUkRJMGJCUDU3TnU1N0xVNE4ra2E3eHJNUk5BbHpobFpzbTZ0dVEyelNtSjhheDBKMXpsWk5RdW0wZkV4V0d5Z2FheEdhT2FOdE5hU0s4OXV5d1I1V0V2QTN0VHZPQkkzcTh1cEVsWCt1cmFhYjBNMUZqVkdLdnBvZURIa29UbjdsbnIxZlFYZ3Q0ZFBPcVNBdG0vWEZpOFk2MXBZLy8vdnFkbG1iV3o1dmE1TlJ6bkcvZGdsNStTZ0E3V3BSNWZ1UGxMNzM0WTlPQzg0R3I1YlN6MDRSRVZSQmc2WnhDRDF6NDZMWW5LWG5mSWpOYmJzK3A2UzI5TGVuRDNub29CaTdncjErNGN6TFRoRUsxeVdZY0JKWHBTQk0xVi80N3R5RGI3VGc5WFY5UzJNd3ZCZVVuRW1PRTRHdkdwQW1GR3R3RkJLYXZDQ1NGcVdDUmRpTjJ1c1FlZjMvTXVCQTVobExuUWxDMTFwejJJTmlkN2V3MElWQmYyd1FRczE2VitHcktlWGI5bE9Pb0tVWmVNVFZaNml1R0ZBUnozUFhyK043Rit0bHB3cUlhT2ppeFJzcDVobWRVeEEvTVFZaUNXemU5QXBpYldra3hCcVk5bDZtZWZacXdLRHRKRTZZTWZ1RExNdjBGaVhsK3NLd3YyTGVVaGlPbU9wMDAwNXJUcGtPdE55azFabENZallxckdXbWlreHVkWFJVbjBoUmNuQ3ZEbmhtdk5LSTBzZTFJelR0TkdCUmlYbGZ5aDJrQ3ZiNHNSMnd4c3JuL2xMbGduL0V0SzZYQ2RReW1Qa29UcTNhUVphY0pxbUVVcW1JTURkT0VTQ0d1TEVkc01iSlhzL3lKZWZPMmo2S0xXeHJCSnRlN1dHYWFBTnlnaGlZa2hXbUNNZU56cnI3aTlKeE8xd1R0bU56cUN2STNYek9JcURTcGtjdXVhSU9xbStDMDVZYzVNQnFmeXhCUW9HdlhkUlVFbW95ZjQvM05ON0RCUnFocEI1UFN1ZzNLbm5tSDVwMW9KdU56dXVOMHo4YVNnOXNJREpSRHhxZEZzeE5FMUg0bXhtNVpiSHhWT2VGbmU4OFJJYzc0bkdNRUsrVWRKNTU5em1XejlMUkoxOVNIVlU1L0tVQk1kVGNmRHlKcVBaaVVrbTFRMlBnUFZGOHZWV01NekpoaXdhUDRlV0xXTzFoV2c3SklTTWJtRzFrVk1NNFA3WWsxMG5LSkxTdFJDRW5xWlNPSDIyUHQvRnU5MjZ2WWhGMFhKR2pTa0hmVlV0elUwZmZxKzJIZzMyOCtNZjR5TnQvWWdZWVJsZEpFMXhrSDZhTndTRm1SNHpick1WYXE4K2M3aDBnVGQrV1llNytaTndXZWZaNG8rMExhL3MveDMrUkhUL09WaXVkaVlVU2xTZm1HQkNqRTFYVnBvaTNKeVhGZlpmUDFUMmVkWDl6NVJORlRCeU9YYndzVzJmWUN2Ny9KZnIzZk5CdVRoaW9lQ3hOcFlzZGl5STk4RkFDTGNoenZwS1k0L3lsa3pvdzlUM1dsRktHYmZrUWxDMGNhWCs2SVRkL3BlWnNQTDh2YlJsaG9Dd0UwaFlKTU5jbGQ4MDdLUFJFclVFdTVucW9WRjN5V2s2NkhvRW0wZE0rL1pLTGU4bjIrSDBSVURIdUdwRkNZNWFvVUNhZ1NQc3RsZG1wNG5xb1ZGM3hPNlVWU09POUxRVS9XZVlndWR4Mng5U0NpVm9Pb25FS2gxcEp2Z2tLbkV0UlFzYURxZWFxanBRaFoxVklWaUlvNzVjQTQxTXNWUnVtcDNFRXdnVU9IZmRGdTJGeEc3VFFLRVhwZGNDSWtxT01YUkxaRVY5K1hKZnFLM3VaODl4WmZJMHlaWFZXbkFJU2ZrUlZNUWJ4cm0rTFhKWGRTYVJSaWNFMEFCaVpON0dxOStvMjRBb3ZTRytiOUtpUzUwNHFra1puV0JLWFhWbmJEdVRTSDZNQ2k2bHhHN1N4VVhTNDN4V0tWbEFiYWl4SlBsdFJRN0Y1K0NXSS82MkpLSGZSOElIdmdCZEtMcnJpZis4dDljSFFkekY4c2ducXpVSzhMQWVYR0RWMnZZS1o3UWdTaTA2SWpxemc1L1ZZUCtqbi9nVFFWaS9qSlZ4TFI4L3k5UDBMY3JuNUxXNmF3ZmVQdHB6cUM0OW96dnlXRmw5Nis5N2hvZi9lWlA0K29JeFBGU2duL0Nwdi8zZmgxN1ZkNGV6WEJEV0pURUtlOVZZUjYzSmFVQkN5aXZtai9WZlV1ck9wM3crcDZITStXWUxFZDYxSktCb3F4djNQODRzWFh0NXdkdmlqWXA4eEpRNklMMzJmdzE2MzQyOWJFeE05TCtHQ0F2M2VsUDNlbERGalhMNkJocGtsL0FIdEgvZ0dzeUhkRDNiNlZITFNrQVJrb0RMejVPUC9ScDdBc0tpWmgvVFlGdStlcFVzRFozczNtS0xUNWprT1pFMTQ3N2FsbmE3dVdoc0M0SitoQ20rOVlsRW4xVFIxaHJhZHF0V2Y3UkQ1WUV4SUxiYjdqVUxZUXI2cWlBeWU5cGJPMU9wQUcyN2RGMTlVaW15OERWZjZXa295RVhaTmtWVyszSHFXSlA2bnhjM2pBbkVVaGRwYWkvRUkzVGtVR2FvUC9VR0t4RTFxU0dxcGNoM3dCSFVtYzZOTnc0ZVh2Q053dUxkdVZ2VGdaYVJReS9IMkpiZWlZemRycU94YW0zR0lscjdDUFV4UExoUzI2S25oRk1kUmVpOE9sVVVOOS9NRFFGNVdRaW5vVEtOSVptN1BIN2pnZFJiajBtMGdvU3ZYWEk2RXBWRU9YcnFZaXAxK09wT0VpNXM0OGlCUjlHcllOV1VCak95N2h5K0FvVWtRSzFkR1ZlbCs3RldQejBySGdhU2oyMnl1Um9rL0R0aVZqQ1ZheXkwb3hmL0VobEtSUVBYV2tnamRaYS92a3F2T2Q3MVBncTRNOHQydE83TDdmSERYeEppNjdINVNQMVpoQ05maFBCVUNXc2dvN3hUL1B5djFEL0hDMHVtQitwanBXN21rSEd3Y3Q5aTVmbWNKa0JyVm9JU0ZxQ0dmRU5aMll3eFkxKy94MjUyQVZtMk8vb3dJdzlaN0ROY2ZIVC9QUDBmODlYVDhhUmNzUFVUUDdBanNnU2ZZcS95SzV2WVBtMTVPZjJjNXpvZDc5M3ZpckVEeDljN3hkUUg2QUt2ZmUzMlNsQWI4L0tpRGprV1A5TnorNHhma1gvcS9ud05nYk9Fejg0WkZiMndJRy9RL3F0aXpyTnFYdm13QUFBQUJKUlU1RXJrSmdnZz09Igp9Cg=="/>
    </extobj>
    <extobj name="334E55B0-647D-440b-865C-3EC943EB4CBC-7">
      <extobjdata type="334E55B0-647D-440b-865C-3EC943EB4CBC" data="ewoJIkltZ1NldHRpbmdKc29uIiA6ICJ7XCJkcGlcIjpcIjYwMFwiLFwiZm9ybWF0XCI6XCJQTkdcIixcInRyYW5zcGFyZW50XCI6dHJ1ZSxcImF1dG9cIjpmYWxzZX0iLAoJIkxhdGV4IiA6ICJYRnNnUVY5a1BWeGlZWEo3UVgxZlpFaGZaRjU3WEdkaGJXMWhmU0JjWFE9PSIsCgkiTGF0ZXhJbWdCYXNlNjQiIDogImlWQk9SdzBLR2dvQUFBQU5TVWhFVWdBQUFhWUFBQUJnQkFNQUFBQ2ttY3N0QUFBQU1GQk1WRVgvLy84QUFBQUFBQUFBQUFBQUFBQUFBQUFBQUFBQUFBQUFBQUFBQUFBQUFBQUFBQUFBQUFBQUFBQUFBQUFBQUFBdjNhQjdBQUFBRDNSU1RsTUFNcG1KSWtTN1psVHZxOTBRZHMzMVNwRjBBQUFBQ1hCSVdYTUFBQTdFQUFBT3hBR1ZLdzRiQUFBSkFVbEVRVlI0QWUxY1QyaGNSUmgvYVRiL05tK1RVRkNQQ1MxVThPQ3VQZWhKTmlCNDArVGl5Y01HYjdiU0RlaDlBNTRFWVhNUkRBb3ZGQlR0b1JzUElxWGdMZ2hDMGJLUm5qeHRFQ25VUWplMjJqWkp1K1AzemV4N08zKysxMzB6ZVdzZjRqdnN6bnp2bSsvMys5N01mUFBON0VzODc2bGNFMHk1RHA4S2laUkIvNHMrNVU0cDEvTXBQN0wveldYMENaeThkZlJWbjVyL2NVWTVXdEo2R3lQTzc2SlIvcUZsNDJ5cTUwVVFYZURzVmphelNkS09sZDhVUG4zT216WFc3VnBuVTN1T3NZT2J0eGc3UW5wakI5a2thY21xd2I1cmVkNFBBZHVGaHBNUFlscWZMTVhjU0YyY0F0STArNVRUeWpPY1NZczdOTWNjKzV1K2tibzBEYVNaM3JMZ1ZYd00zOVYxbXVRa2krdEFXdDlkbWdaU1RjUUd6NXVEQ1pYams0b2dWR2YzQ09rb1JNbVF1bXpyNnZkMzd0eStzc1h1SW9zaTIvb002MWUzTUM1VU4vck14dGlDbDQvcmpZRDlXNGx5SXFReEVhcjU1MzNrTDlXWjV3MTZwckhrdFhGT0VkYzRZN3dwY1N0bFVVS2tHeTljNEc3MHpwMytBQmw4Mks4Zm5UdjlpK2Y5SEpHcTdIamxVbFJUQ2l2OVVLOElSMUpKampRSlR0MXJEVWpBMDJDSHk0TTZMODA4OGxoTGsvV3JWVmpENkR0cFM1TWpZZnF6TGNGUFE5MkkycE1QcDJJbURkK3ZTYzFIVjdSQW1nVWZWaVVtSjZCdURMUEM0N21ZUlFpYngzV2haRFdGb2dWU0d6akppTmgwUVJaZ2Vmb3dic1h0Z0xxcHI3ZFBvMjZCVk5maWx1NGpwelBSSys2U3ZIejJJdmdrOXpPcGxvTFFCcW5JR0dZSjBWWFJmT1EzSU9pM0lnMjVrR2MvZ2svcnNtaEVaUnVrSm1OL3lqVEttby84bmgrM3JsWWVrUE5QTnBoUzJRTEpoOGU4TDhOMkdaV1RVakpzMWR6QjJMOGtHeGhSMlFJSlEvZWFURVAzVWR6am1ibXNKc29GdGpDbEd6QzEwcERZSU9IUWthYy9yZ0o3QmduZkRPOWNwMzNvMFEwTUM4Y1YyQ0Rwb1J1SFVza2c0TWVFNjhZakQzUEdUYU5CNmdJYkpEMTB3M2FkQ00wVHloSVdFUjZETGpZbVpIUTN6WUlWVWtVTDNmUGdrMGxtbkU2OWNWK0Z1ZndqczBYS0VpdWtzaGE2d2NlZXlXZU8zdmJWTUdFS0dQdkxiSkd5eEFvSlFyZStQQkg4MitSeHBSOXNBL1VtR2Z6VDlja0t5WmdOOVBKVUozdmlCRTh1cW16MEJ4SldTQmlKMStSbkNuVmxDUmIzaW9RTVRwSjRVdFhRUnE5c0xhMnlGUktHN2wwSkdTUHpubFR2RjRNZFUrWjVYUzR0TTNHV1FXbWtKYk5Dd3RDOUlDRVhvRjZTNnFLWVUzYU40ZTBwRWZRN3NDOE9SU1A2dGtPYUJ4OWtJcmlUWDVVRnZGd2dNKzlyd3BVNkdTa05HOGNSMkNGVkVpMVBlYlpNVUNxS3dMRTQra01XTzZTeU5zR0JJTEU4elZLbktMbitSRnhoYWxjVDNoOVRaSW5VMVphbkRod2ltUXptcVFuRGwzYlExWWV2MlR5UytNKzhGWGN0UjBwbXdSSUpuckYrRVljcGk5U1NXKzhyb2s5UFlpUnh2S1pqRGVyS1hsdHFna1U3Skg2K05ERE1TL3VhUmFqV0NKa1hyQWxGek96TnNHSWFBVWxGZzVLcWRFSXByTmdoNGZMMGp2VHl3Um1vNzVsMDZydW1iRHpzSEZ3T05vejd6OTM0OHZZM3VqUWZnQzU5ZmF2ckR1cVdTTW1XSnk4M0FJaEtLK0c4dzBOUHcrY2NNbGNTeWFpaGRjRVNTWi9mOVBKRXNxaHU5c1hrSVl0L1BpQ1RMTkxVRUtFbFVpWFI4a1JoVGtmakRWT1BiVk1Gc3VNMVUrb2dzVVVxSjFxZUtDSXowYVEyVG1tRU92aGtqRWpLMEZDWkxWS3k1WW1DTFVlN0Q0eWRPNllLdUxwcVNoMGt0a2hBWjErR3FTYmQzK1hZd1ZaNGdaRk4yWWdvUTBnMWhRNFNXNlNFdXllQ0NRWVQ2VkllakZDZm81SXN3dEl3a1MwU0xrOGx5V2pNN2tuU0NJdVYrNWVpQzR4RUF6RzhqeWxUR093SE1wZVNMWkorOEVYdm5pZ216YldCTkNCWG9rcmNjZlNnWWFLU0xaTHo4bFFJa3dpa0JZR0d5QWZMNmt4TnhKOVFza2FxYURzTDlMRkZHRFpFYlhsY1FXQWgzalBvVWttV1lXaW93QnFwck8wc0ZqVWZZeEViY3FBcmFsWkVLM1dteGxvYWRzTWFDVWFOc3JQb2tPdzhJeCtkaUpJSXBBUlBocjh3b3RDRGtMcXFDSGpGZXY5a2o4UVNMVTltUGpxcjdJVnJXb0xGMlVOSWJSaysyZStmckpGd2VkcVRnUVB5Nk52TVJ6dEt4bDNYUnV4cjU0Kys4T2JFUzMreWRaZjlreldTSHJweGVkcFJXWWlhbG8vNjZnK0RpK3BiSDgreTNtVzJQVStNUjg5Ni8yU1BwTzhzME1lbEdKOTJKWG4rb0NYVnZCVm9OcWlQczd2TDN1djNLMVI4SDJnbExOa2p6U3RrNEUxS3FHOVFhRm8rV2xGRE41cHBoYzM4TGpmUmJhYnlBNDQ5MHFJMkVXWmtjaUZKL0ZielVWODdhVWFmRmtMMW4wUWtoYjRqUjNHb2x1emJBYW1qaFc0Z2NrU0NxZmxvWHV0TTVaQ2xLUkpJMk5BdmthYXNoQTVJVlcxNXFsRUxEWkpRODlHYU5IdndMbWFONjFpQUs5OS9LdkJyL0FZWEhPdkRBUW00UEpJeEcyVGlCaHBLUGxyUU54RjR5RkxxMjZuMUQxWWczTFJrMDA1bEJ5UmNucFJCSDJnK1JrU1VmTFFvUnpsVXdiRzNMWFFoNk8veFV0aGZRdXo0NllDa3Y3bUhiMjlza3ZCU1B1ci9DbHJ2eVZwalhaRDBOMUFRVERiNHZabmovMzdqZ3VSM2dJdmNUeDhOdU1tY29SeU5yWW1YbTZERTJHK0N1ZWY1NzU4SnVPU1BVeStCWWp2c3d4VXFWZGVzUHJIcWdQVEcyVXY0ZUJrN2QvRVZ0RDExOXRTN3ZIN3o0cXN0SFF3RzZhcVF6WE1kK0FqN0UzZksvUXNQa21yaCs3NjFzT2QwVzBuckRralZrQWw4TDNBeUE4R3VqanZJUitmZzNXMTRjenVJQXZVVW5MWEEyOXo0TWpjdXhOV3dleHFSMTdxeGhIVUhKSHlSL0twNGtieUhLUFd3ZmlVNFFCL0RLejRmRFRXVTcyaGlCV0hVVUc2bldIRkhla0krU3ZHREpIaWZ5MkY3c2s0cHBDWnpSN0xOUjJIaTdYSGFFRUtYVStOUEdYSkdzczVId1pVU1ozQ0NIVkJNMHBNNUkxbm5vNEFraHR3c0xrL2pPK241b0Z0eVJyTE9SMkZQc3NIUjJ4ai9adloxSnVuVlhaSEMvQWFlaVdBNmxCTE0zRld1eE5PK3hiMmhEWndWWEpFYzh0SFErd0RqWDJmWG1mTHdobTVJTHZsb1Vmem1CQnZtVFRpZmJRMm41cXpoaHVTU2o2Nkkzd1libUVpT1FaZ1kzZVdHMUhiSVJ3dDg1LzVtcndMOU5La2NoNmJ0blJ1U1V6N2FnTXpxT3R2T2cyL2x0YlQ5VU93NUlUbmxvd1YyZEpsOWduK1llS0hYVWppa1hYRkNjc3NTcjR2L1l6RHg5VkVwYlM4MGV3NUk3bG1paHAyaHFuT1dtQ0VmZENyT1dhSnVLRU4xNXl3eFF6N29WRnl6Uk4xT2x1cXVXV0tXZkRDNHVHV0pocGxNQ2R5eXhFeTVZSkJ4eXhJTk01a1N1R1dKbVhMQkpPT1VKWnBtTWlWeHloSXo1UUZCeHNnUy93R2hYZ1ZncmhPREVBQUFBQUJKUlU1RXJrSmdnZz09Igp9Cg=="/>
    </extobj>
    <extobj name="334E55B0-647D-440b-865C-3EC943EB4CBC-8">
      <extobjdata type="334E55B0-647D-440b-865C-3EC943EB4CBC" data="ewoJIkltZ1NldHRpbmdKc29uIiA6ICJ7XCJkcGlcIjpcIjYwMFwiLFwiZm9ybWF0XCI6XCJQTkdcIixcInRyYW5zcGFyZW50XCI6dHJ1ZSxcImF1dG9cIjpmYWxzZX0iLAoJIkxhdGV4IiA6ICJYRnNnWEdGc2NHaGhYMlE5WEdKaGNudGNZV3h3YUdGOVgyUmNhR0YwZTB4OVgyUmVlMXhzWVcxaVpHRjlJRnhkIiwKCSJMYXRleEltZ0Jhc2U2NCIgOiAiaVZCT1J3MEtHZ29BQUFBTlNVaEVVZ0FBQVlFQUFBQmxCQU1BQUFCWjFVSTNBQUFBTUZCTVZFWC8vLzhBQUFBQUFBQUFBQUFBQUFBQUFBQUFBQUFBQUFBQUFBQUFBQUFBQUFBQUFBQUFBQUFBQUFBQUFBQUFBQUF2M2FCN0FBQUFEM1JTVGxNQUVIYXIzZTltVkxzaXpabUpNa1JscVhZUkFBQUFDWEJJV1hNQUFBN0VBQUFPeEFHVkt3NGJBQUFLejBsRVFWUjRBZFZiVDJoa1NSbXZUazltMGtrNkNjUE1Jb3ZRRWZHd3N0TEIxVlVIdEh1Wm1jdWk5cWd6dUxxNHIvWGtyZU5COEpZSWU1cURMNmdqd3lCMFpIWkU1ckFkRUFWZHBSdjBvTHNEbmN1S2VOaHVFRUVRN0xqcDFreG0xczlmMVh2MXF1cjk2ZmNuYS9iMU8vU3I5OVZYWDMxZmZYK3JLbUVzNTgvQ2ZzNFpqR1hQZmljV0pkOElDMFF6cmdTYmFMYVZzRUNQcklsZkNZdjB3Z2Z5YlRrYWR6WTFMOUJYTkFCdm51MFE5WHl3dkg0VzZiK00yWk1kSDM4clJJOTlvTHgrMXJnRkZRTktZRnRFZnFueUtVS1JudU9NOVFOS1dDVGF5eWZMUHE1cVIyc2NjamFnQkpqUmdRODNsNTlGMm5ENDJnb29vVUgvemlYTFBxWnVTWGN0Vyt1K3JpcU5mWkJjZnBhYmtxM3Z5NFo4VjJZK1ZSZEpXcGlVYWRiZVphSi96UnJQUG40NzlMWVBNbXVmcmRsdzVTbkxPazgwbk5JOUExM0xSTnN6d09ZVUZrdEVENmQwejBLWFBUUGxhZFJxYnRFa3FpczM4QTdkdVA3OC9mdjNyMXk5UVVjQnJ1REttd0ZndmdCSVd1b0pWa0Z6Ukx2NVlqakl6ZE0vdittSThMTm5mdk9SUUhkaE5vNEFjTlpDaC9zQjdnV2dSby9DTzNJRlJRRVhGZllMMk83bml0ZHdaczVBZ2doL3ZZQ3VadmlvUEVFcllET2NuNUoxU0ZRUDc4c1RkSXZvT0p5Zk4rbGJ4STlpVHZYQjlseC9EaE5NM28wNkdGcEJjVjJqSkNRU3pKSVlKWU1FamFoMUh1SFFia0MwbG5qeWR3V3g5SnJ4L0RLZUtHSisrS25LV2I3OE9EUmFqNmZ4M21LY2d3UzdZU3hVZVl3OVMzUXRyRE5Qc0NWSTBBdGhhTm54YjZML2hIVG1Dc1RUd1RDRW82NXpHdGtOS2ZoQ3NOOUxVQVVTaE14ZnBJbHc0WGIrejM5SDRlbkFkczlSVVRYMVFnVE1FNmdmbWc2ZWxPZDFjUFM4dXpLS3QyRGFMVFE4b0pYMzg5L3dkUEJEVmRGVm8ycU92QmdTVCtLN2ZtWktsanF0VzVYMkpKQUtIN3c2dWZ4MVAvNjcvWDMrWTliMVo1UFdBamdUQ3JycUxlMzZCdmxpdytQd25FMTBsZWhUSHVELzB2Z08wZGlpdzUxa3hGRTJCTk5CVjZ2bmNHamtYVGFmcytpTE8reThNckZrYzZURStqWk5ubUtGYWxML2c1RUUwMEZYMzdSMXZkUFRrazFmNXR6YzBRUk15VjBDOU5zMDJRUmFxYVBwZnRxd1VWZzZ1UDJpTm1UdTNuWFhKRnZrM0xrVkxQZU9jRkhabHpiZ1pFMVVZdDhWRkM3S1BmcmQ2UVQ3b2VrZ2RBeGN4dVY0eXkyV0JydWhpQ2NDOXFXQ2tZbTRMbGc1WXY4bForbUVwUVBaYWI2VmQ2Q1dFbXJwOTB5TXNLL0NXLytNZW5aQzhMWEEwWEF1WUpibFRWOElOZ2ZCRFE0aXVueGduR25zdWlDY2hLM3pabVBJZjZjL0Z6RkR4Qk4ydjFKVDZhZnFoUFF6d1lTcnp4aWFEblFFMVlhOXlVVkRmTHFHam5LU1UxVTRXdFFUUE9aa3NOU0hjc3EyYzJvNzRGTkZQNkhwSUJRZHNxcnJaVXM0d3ZJakUvTlBUMy95bGMrWklQeTlneFVsQUgzZWo4c1k1RzFLcUh0cTI5K1RBUEV1ZitOM042L3NLMUJvT2xEZFdxdXRsM2kyaUJQenBuNmhHUzEzYUVPVE4wRkM2UlZsTVdmZUdocmp3WWRSSmF6aWM4M0FpUHJvYUt2RCttS2kwVFVEdWZDeWxkaXBqSUhxQXd1cUZBMzd3QVFyU2lTQjl6N1VCSG9HZzlaaWdwVkxIa2Fra2FvS243RFgxZHlpaFRKeDJ3ZEs5d2wyMUtvZ1hzQW5GZ0wrWGpHMmpmMms2UUFCVkNPMXhVdVJVa0I3a0dBOUhjcys3SVpPQUFrQlp0b08zR2xYZEU1WUoyazZhR2xCUWpqY0psdnlPVEpqbUhQbzR5blZKL0t4Ris5Z1ArS1VvYnZuSjdIRkJmTWVEQW5JNkhYcURheE9YWDJQdUZPMHZiZ25PMkM1c3BucERVVnIxekFpK3BVMGtWeWFmVDJEQWNsTFUwNy9FK0ZUOHpqVFUxMERydTFhWUhVV0V6cVZJbVMyMm9aTjQ0THBiVllNS0JwMnM2dUdCZE9CdmE5NnRSYThTditiVkVqUUt3ZFhaNVZpS2dDTllsaXpha1JqU1BDWURRS0tSaG5SVTRNRDZhRHNNd09acEtCZkxSUXhMc0ZDa051UllhRnFtcVF0bUtvS1JVeElZR3ZjT21SZ04wTkZjQlZMdTZZK0dWc3lqNnE5SkZVaEk0UzFJVUdycmc4VWJjTkNBNzJ4QUlReVBScGo4c2RuTmI5d3g1dk9CbzgwVVZaMU4yZk1TMUlESTVneVNQQkhmU1ZjNG9hRnhqSWNRT0EzcStzS3lpVm9tL3p3VHRQWitpUzNFZTdBbHFaRkFYS1QxSllaZFNIQjY2YTJCTEpob1M3RkZDOEVZMzFadUFTZGpjQjQwOWs2L29QZFJzODN3azFTVmJOZXFCQlpkUittQ09EREFKQWwzeC93Y0tHTng5UVQwMEpFcCtsc0dHS2tnN0llY0FTK202UzZSanBna0NDQXlYaHBiRGlWSUpCaWY0RGRqYzR4ZHd2dmtFRkoxdGRaNW9aWFYzMG9RblFLb3NQMUc1amJyb1lJQ2N4STlPT1h4NStCaFFhR2kvU05XVUtmSTQwaWIySXV2VWpqRXZSMGxOSWZHcGVIU0FkMUJlUnEyMU9mbUU2cmZSeTQ2emV3SXQwaVYzMlMvNW1PTDlIR3FzK3BCSVVVK3dPd1l6aVhxUkpXdHVsdTV4RHBRR09aWCtkdjZoSTBESnZpUGE3ZnRJeHhnT3Brc0hpUGR0anRvOUVKYjB0UUZoa1oyUGZacDEreGt2MDlnMlV3WWxqdW5CNk9IY2xjdjJtYkxHTmd6K25udjdqNjUrdlFjYmZtcWlObEM4SEhKNEZ1cWsrSzlWa2NHeXdQZkhvYW1ScmhETGhKQ2p1K2JZMGZVNElMVGlxR2xIVU5KMFBUTXRJbTdFV1RBTWZwUTVDRWxMcXpWVTJoQzVZZXpCd08zQ1NGTUZGM0FQeVgvNzJGWm93TlJ5RTR6TkNBQ2p0NXEydHdoenNNVFNWblhIRnFPcERaWmpxNFpUcVNtTmsxRjRoK29EaDVFOWEzNFgwVzNYbGh4cHNlTUZNRFdsVGp5cGJoMkRWM0NWdUdzNEVSelhVeEpKRER2VExLMXZybTZJRVRYSjhWODdYb0hmRkdLRmxUREdScEliSU12WEhWeDMwUlhJdE5Ec0x5N1BNM3Erb3M4OTFCWFlENVQ2RnZWSVlPM0V0U0Y1V0psanN2SVZUWFFWVUVkTFIzQmJMVWhUTXl5eS9NZUZ1Tys4dGtXQkhLYlFsUVJhWUtxUXVCeC8reWFFK09ZQi9DVjgvN1lzeE1Vc2pOcm9tVWFnamFOajFrYkY1Y05VTklwMmMreEFnMWVrbWFXNTZKL0FCbUNwWHM0TFJGVU8vTEhrdXpYeHpSazFjTC9nZytJUlVsNXZJbktiazdYYkdQaDloLzgxT1IyamJIckVqakZUQU95ZjVnbllaaTlOL3BWUkYzbXF3b0ZYMGdPdUNRVGRGZ1Q3enhUSWZ6L0tYWEhqeDQ4TWFsQm0vcmtTQ1FwRllzK2pTSWZwTzRBRERMOGRvZDU4WVpaL0lPeVJiWHl3bWZ2NGsvbU1OeVFnREdXdlJjcWZNRjNvSWJiUE0zYjBBdi9La0psbjAvcXFZSVNWS3dsakZPbTE3Y0YrUHhWK1gwRTlHeTVTRlZUZDlnaWE0TVAzMmlLeFpOZml1R2d0M0c4UnB2d3FDYUFvU2JldkZtN0JjKzVzV253eExIQ0V0U0s3OXVqTzgrNVk0dnZIN2pwMDdUTzRiUkxkVEZ5dkQ2eHl2MC9FZmRaV2J2di9mVnBxQ3hLcGMrc2JNbFQxS29idy9FSk1wQ00vQWROMlNRMXRsa1lJUWFOMk9JSXlUdkNoUmxvVEVqc25TUFpEQk42bXdwa2hRWTd3bWVsandMemNKaXpKaVdMSkc2eVp3dFRaS0NCRTB4L1JtZURwYnJNYXhrN0c3SmNOSGc2ZUQzc1ZUU0pDa3YxVlg0SlBPT1Q4VE9rQlpCcGpxc2JSTkpMblo0SllYZndKT0hncUN3dk1GdUxQRk1DQU8zTElQRzkyTnZOekZEcWlRbG5kM2lNYW02bm9uQjJFR3JibEdCZlFwamN5cHZSUTFNbGFTNlRtV0NuSE1OKzdTMUtKb25neSs1ZHdZMkR4ZUxXa0VkUVRaVmttbzcrYjdHeTlXeXNWT1BvSjRGWEhKS0Y5U2kyS0VOTnVKSXBFdFNjOEpFN3h5UG9JT0Z3QVlqYnE2ay9WWHViYVhPcTF3SE5wclRuNVJKaXYrVCtYbmE0UDh0MzkrZVRqbDdiNUcraHI5M09XUTFHaTY3bGVRVVlpbVQxQnlOTDlGTGpIWHBwbE9HVFNHZHZhdEtsenVUSVZ1aW80NHEzNkxJcFUxUzUrK05Qd0ZhS3g4Zjk2SkluaHhlK0xCMWVSTmsvbXA5TnA3WTZTU3BlRDZ5WTV4T2tzck9YNEtScDVLa0V2Q1JIZVZVa2xSMjloS01QSlVrbFlDUDdDaW5rNlN5ODVkZzVLa2txUVI4WkVjNW5TU1ZuYjhFSTMxSjZuOGxjdjJDQ1FjR2p3QUFBQUJKUlU1RXJrSmdnZz09Igp9Cg=="/>
    </extobj>
    <extobj name="334E55B0-647D-440b-865C-3EC943EB4CBC-9">
      <extobjdata type="334E55B0-647D-440b-865C-3EC943EB4CBC" data="ewoJIkltZ1NldHRpbmdKc29uIiA6ICJ7XCJkcGlcIjpcIjYwMFwiLFwiZm9ybWF0XCI6XCJQTkdcIixcInRyYW5zcGFyZW50XCI6dHJ1ZSxcImF1dG9cIjpmYWxzZX0iLAoJIkxhdGV4IiA6ICJYRnNnWEc5d1pYSmhkRzl5Ym1GdFpYdERiM1o5WEd4bFpuUW9YR3h1WEhCcFgzdGtiM1I5TEZ4bGNITnBiRzl1WDN0a2IzUjlYSEpwWjJoMEtWeHVaWEVnTUNCY1hRPT0iLAoJIkxhdGV4SW1nQmFzZTY0IiA6ICJpVkJPUncwS0dnb0FBQUFOU1VoRVVnQUFBdm9BQUFCVENBTUFBQURaVFZQb0FBQUFQRkJNVkVYLy8vOEFBQUFBQUFBQUFBQUFBQUFBQUFBQUFBQUFBQUFBQUFBQUFBQUFBQUFBQUFBQUFBQUFBQUFBQUFBQUFBQUFBQUFBQUFBQUFBQUFBQUFvMXhCV0FBQUFFM1JTVGxNQUVGU0pxOTN2elpsMnUwUm1NaUxEOWVmYlRlcVBaQUFBQUFsd1NGbHpBQUFPeEFBQURzUUJsU3NPR3dBQUZ0eEpSRUZVZUFIdFhkbUNvekN1elFiWktwbDdoLy8vMTlHUnZNZ3Joa0NvN29hSGlqRzJMTWxIaTgxU2g4T2ZkNXk2NTUvSDlOL084YnYvK2R0RjNGNisyOUMvdCtkaTV5RFNRRGM4b3ByOWRHRU5YSWJodFRESm5kd0NHamgydy9XNEFKMHFpZFB0SC9aNmoySFkwNTBxUExhNitPNkhibVhzUDRmMVE4dnhkTDUwL1REMDNmVjJDdVc1OVZ2cEZ1TmVoMEhsbE8vWDgzUS8zeTdYcnI5c3lkVStOalR3R3RiR2ZyYzI5STkzQXBnK0hzclAvZ3hEYUFwZm5YYktkczUrUUhJQzd0aWg3L1d5VmVrMEROYzF4eWI2cTRiOEY2VVVjblNQeSsxeEpkOVBFdG4wK2swbjI2VmI1OURxZCtpdkNiUVp0R2wrMW5SQjVQUlhOSzIzQmY3dGFaMzc2MHhERG5mUkJPTEJadEFIMUMxWFlPZDl2dDFzZ0ZwVDVUTkE4STkySWFRWW9LeWdnSmxPLy9oemUzUkRmMzNjcmYvTzhrWm1pK042Q3ErZXlQVS9BTG83cm00Ri9TTnhvUko5dytLUmtpQTZkdWlIVTdiTkdaS0NLc0ErWVd0V3BtK1NHSGh2V29xazhERU12YVZCN3VZRTJVVDNQa0N5N2FCUERqNFg3NDdNMUE3OVQxQzFXRi95amQxaXhFSkN0TXFjYkZic0Y3c2ZlTzNqQ1FtQ3k5eFQyblQxb25NSzE0S2lUZitTN0dJanJ3L1JzMFB6YW1TSHZwdXFUUXMwR1dvallrbFdrSGxNcEVmN3JUb0RRL0tTeVJ0TU1wTy9oQkZmNk1kSEZuOFRtWnJlSE03OWx1M0dzV3FIZmxZM1g2K2M0NXVibUp4Qm1DR3JjL2ZJRk95NEpzM1hMZTBsK1hYN0tkdEFIeWw5Tmg1aHIzL1A5Y081MnZDTUhGRXVMZjJZbytsT0gydkRhTlZOdHg2R0lZWTRMMkRMUGgrY215YjVyT05qMFVZSWdPbTgwOStoUDZLNjcxN0dQa3dNcmdVNEFQZ21McUE1dDQrR1pneUhkTUF3SFFWd21mNW00M01UcjQreDgwNS9oMzQwdlJ1Zmt0dGY0WVkvZWZDSk9TMmpYTjJNRmJVZ0VnUlJTYlp1eGhibnB0VVcwSzg0L1IzNkcyTTlHaDZRVzN4ekgwUW40ZzRnVDNlYjJDQjBWSkpkemRHSWNpTnFrMW1JTkRQdkZFNC9qRk9lenA3cmUxMzhnaEwySXhaMys5T2RQcTlkVXhOazk2M1lFMGlQN3gzSkZ2cEU2MXRpTmpCd2FzR0c4Zzc5SlZTOEhBMXNTR2kvdWdEbG1VNC81eTNaeTdzOHlDUXl1WVlSMjJ3akcwQWZvaGUzaTNmb1I3TzA4U20yQW9OMCtuTitwanQ5MlkvTWpNd1Fkc3NHczN4dHVHSEFtME1iUUIrbVdoeDJoMzVtaHJlc29za3F6OVljeHBDOEZLYy9UNUFmYjhrWklDZjdnK25FZUNiaUxVR3Fpc0U4RXd2VWdzT2NHRUo2aC80Q0tsNlNCRnhwTVViUEdLaDhON05NakZqSTd3bkpYcVo1bU1jNGZXc0paWEowWlliOVZlbTFYVVNRS3V0eWgzNmJGci9XQ2pkZWl5dXpHVndBZElXTjdSSTFBWGh1cjE0Y3ZXUThOdE4zK1UrSkhPcVJRazBNUFRWeWpkZG8wTW83Q2p2MEc5WDRyV2FNcU5KKzNIUW01amg5M3QvSnVrdlpxcEU5SG1sVnY1SHIrZDBDK3J4azhTekVwUjM2c1VhMlBrZGFuTzRyenVWcWh0T1hlejE1SHVCSFRSVGgzUjQ2YVhQbTFMcXQ0VnhCTS8wZ2V6blYzMjlwWlZTMmJSWFdtQTJiSm0xTXdrMlhzOTBDRGVwRFIzYjFLcGV3dlduekhiWE5YeURIMVNSVkR2ckhIM28zSEsvQ25KY0xkSTROdVBXSzhJblhwN2ZWZitodDlRZTlyVzZGUDkzb0xmdStXNFU5eCtkZU1CcEFzdCswZEd6UkdCWjZFek45QzJxM2ZhL0h3VjFld1JPelNlV0tXOVVkcWJrK2xmSVBvMitRK05HZk5hTS9ROTkzM1JWSDEvWEIvdXpUWGNJRjNTa2FBYXhhREVlWGNCcEQzenlQaEY2bTJ4M2lZbkE2dWdvbFJmeDlscmVTdVUvMnoyLytCdHp6REU5RVI5ODRyVXJ5QllxOGxGeklCODV5K3JLcm43OVJKU2pGeXBZM1FFbEpUYXRjZXRubG5yems5UVN4cTd3SzgyUnlLcyt6bG9WNTRNT1BZL2d6OVdYb2M3dUtJc2VnLzc0T3ZRU2pFNHZ0T1NqT3NubnIwYkJXK0dtTWs4VkIxcnB3c2x0MnpIZFpyMnVOVDNReGNvS1RlZVBOY2ZvSGc3cGNmbklRNkNNZmsxSTFvNmp6RExCM0hwbnlUcGc3Zjk0dUQzRzNVRWYvdUhtTnZOU0ZSLzdkTUI2WjErRVZIbUxvMDl2cUZ3bEQ3UFhwL1lTYm0zK3V6KzE1QmZUNWxRYndXeitDUHIvbFJNeWJmTkhqUnNjOUcvTlg1eFdnYXZBd0RYd2dINjhrdXdVS2N0OHFtNW9id0dQejFjNnVoMlNCWEw3NkNEQ0ZVckxKQlNxMy9qMlJnZThxaitVZ2NHSzFiZUlZK3N3b3VYb2Nwd085c0tCU0hObmFjb2FabDhteXl4VEtmeEpwOHRTK1dzc1JtQjQrSDVGd2JaN2dEcGNKaWtTcGQ0NnJtVzNCVlEzNnhKMWQ1V3A4Tkk5QTNYUDJ6Y2wyWUVvbS9VNEpBNkJqZXdFSUdyVTJXZWpqVzJCMG5HZ2xFRmdoSjJRMVErS3ZpS0dyTEZGSVBsNm80QS9WdWZMMW9nd3FsV3VqR3Rtb0RoWmJtM0RDMEZ0aVpNQlRwYyt0SkhtVzh4c3ladCtUVnF5Q0VCb2dBRWpyRUJ3OVVpRHhEQVFFSmExS2N5K0tUS05HRFJ6V2NwUTg5Q1djblU2UjVzU2pwNHg0aWZtOXRzZVBhZktqMXYvWHBmSlhQOWlpSlk3QVF4OG9mdEVCbW9seHdsRlRzcWQwZkQwcngzK0c0Zjh5bDhkSW05Vk90aG5EQlpzMUxyalBDcEZzWFprQmdQUUEwcEo4cFNrQ0pVZGpNOFZ4cVdiNU5lai85SkZoU3NZelFrNXQzanhVcGxsK1pjRFA1SVlsK3RZeDFKNlpqcTh6eFZGK2JHS1pLM1kwNEh2YVVadEFvdHNBL2VQQjdRVE9nVDVuOWJsY2hDL29mVFZCWEpyKzNaUlRMVXdRRzJlUVBrVU5DOURueFhXWEpIS3M0a29RSVNQVkVpblRwQUFaamZ5N1RzV2R6Wm5IeGVYZ1hLSTJaMjVFNTNxblFWOVBrYVBsQ3diNjJVV0M4ZnFmUVYvd25NMTVXUkI5UmJJdlhjT01CbXRRejdvdXBhdG1mWlhLTmVpbjYyTzJpTExtS01ib2l6UXpialM2UmVISzFjS0xicWhkNklhYTJ2ZXF0bC9tb2t4M0U5N01nT3Z4eVpFNmpmRTVRUzkrLzY4ZC9Tb3M1MmphZkw0T2ZXZDFNN3lGTEtxeVl5ZXJTUmxIb3dyOVRnMW80bEZxM0ZXaG4raWZzd0lka0VMK0g2R3g2S2gwQ1l3aTdLYlBlTjU1R210YzZ4NUxsQ1dsTEF1V2pyRW1ueEEvM1BkTHh4K3ZJV3R1OURZUkxlZlpvM3FjbW12dlQ1YTU0dlR6eXBhSjBDNG91OURWbVhTR1M2N2kzWUphQWx1RmZwSndNaC9SQXNBUFRSWWFETldyVkw5VFpkOGpMUjBmK05jRU9OSnJxOVhJWk9Udlh4WUdYWk5QU0o5SFJvR1pYRFhTSmcyaFhKdDhuWU4zNXJJekMyZjZDVVl5dmNJcXprUUtleSt5Y2FTRnp5MTBhZkFBYUNGOWM4WUJKQnU2VElNcTlKT09kZWhmd3JVQmllSDFNbVVlR0lseGpNdUt0MUNsSkpSYTRVMkUxK0p6RWVqUGR2cHR5MXgzU3l0SncwZFZWMHN1alJOU3dKT2FNSDZkV3p6RFo5QlBwS2hEL3hpYUlpVmJqZ0FGaEhZZHNiUWoyeENPc2lvb2hhbmE4YUs0bWdrTUdwSnI4UW5vRjBQcnVEamNZcjdUYjRTK0pDSnpiaHhBdktJbmxJc2FLK0tYZE0yaFlaRnJOcXBxa0toNS9kRFVvTkU2OUtOWjZaVnRVdGp5RVNCcWw1eTI3KzdwcmpSRVplOUp0NHpMNXZabFhEMTZ2aGFmeVBoUzNZK3lFelFnMXpyWGVzUXI1MU1LQTNnYVNoQTVZMUZpRnNnQmxqM3JrdTNxbFU2NjBHMVo1SnBsaVNlY2xtclFUM1hIa2pmT0NySHNsOG1rcVBabEs2L05VMWJyTmV5NmEwWmU3aTdxN3MvQmNSK250UmFmQzBBZmVDbUFxNndIYzhXQU9nemg1cHFIdm1UczdZdVNsMlhIZEN4NFFoa2d5RDJsU3JIemFQSnhqT3lhc090Qm4zeXBGNC9ZVjd6WEdLSnI0Q2tRZnFROVg1NS8rOSs0SVFtMS91OTR4clVXbnp6WExUS1gyeEJycWVNcU53K3VtQ0NZZFZVQ1F5U3lkcDNiNkFncFlUQytoQjJHeGtZd3VBd1E4QjR2ZEpzV3VadDZmUUtSRXdwWjhiZ1h0YzBCUHg4d2JPM0lMMXpsdktXeG1XcU02by8rT202cWFMMEduNTk3L1UrY3Z2MHljZ1g2akV4akJhMHV6UUdnWmxudVdXZzkyZkZDdDJtUisyR3VIOWdlTThQaXR0azVKY0xlYzJNcXREVFZNbnRoSHpDcWJkMUZka0xqanRxMVZ3VU9mRE9TNjlYNEJQUlQzU3VPUjR1Zk9IMzd2SDRGK2p5eHhuczM3cURTL0JpdVRUNlZKWitGdmxsV09FUTBMWExOWXFUbWIzbmU5YXBDR0lUMk0rcWZBSDFhTEhtUGlKZzFPbCsyd2F3VW1qUElnam90NGNJdlJKMFRNVmJqODJQb2YrVDA3Wk5wRG1wYWJZd0x1ZDltTTU0VVBMcURMWjhjbW96WHo1SS8wT1lOanRDN3NvOXhJWjNlVDdSRXE3OXNZbHRBSDFIS1N3ZHhxM3pxaTdCR0h6RDBsVW9aZ3JhcEpDRkNQZW53ZHBvMEtGU3N4aWZZbWF3QXpTUng5a0gvMmw0dldMTzZNanRCYlJON2R4eEo2bDVhaE1zQVVjeVQzTXJBdUcyUmV6aXdpZFd5MXJXOFBseWludzFveVorTmxDRDlaQ0RDVzdUNW4zaDBTU1ViNDdidXZCcWZJRHh2MlNMc1lkUFZ1eDNOY2xzWjR4YzIzdVdTYk5hSU0yN2NTWHE0NTkvTkRvL2Q4SWxZa2dFaTZjVmFKSjJsNmFyaDJaUGpvRnhUdzFyUUp5Z3F4d096cmNVZXo3QjVFcnpHc201c3l4eDk1OTIzTjlBdlRJVWRJUDJkbitxUDhNa01OWnB4OW5uOS94K0cvMmFlMDdkVm84aGhURGlvYXNtTnJnd0ZhZGRrcGRUUlpxTW1xQlNVSU5DUGJ0RElzQkxVZmZqUWpHWEtmTmVsTnFzclFSK21yVHczQkxLaVo3Z01xdGhhVyszRTltUlhNanFudG5YNEs5cHVaYy8xWFkxUE5tT2xQRGRpVWxqbmVYMytRR1l3Zlc1Z0ExdHpiczVhWmxZL3VDdnBmRjVBczRDSVBaOHNqYm0yYjQzUHpGM0J3RmlBbGFBUHNvcC9vRXVkT2xXNnd2dE0vNVM3dTZBTnVrYTVualRENTRyb2UwRFgzTmVLUGtqMXpjcXF6VzYrd1NlSGs5cWNPYTNabEFQcW5YQkU2WVFqWnd2c0w3UHBvMXh4NGR5c1dCc2kxRlU1UXVtVlowSUdTQlp0WW1Ub1FpSmJOa2QrT1ZUa0RVeDZyZ045WnRXenhseFVkaDc1djNKZjhTVUkwaUxtTUFwNG9NUnQ2RE5keUowZXprVS94WVhvZWMrYWplY2xMYkVLbWhMSTcvREowMTkxRkU2R1ZaN1hQMGgrNFFEdVJyUC9ETkhQcEt3L3g5MCtBZGJIY1RIWUJONDhESWZTak5XNWhXN3JJcGVvRllEa3hGa0grbkRDeXF4WmwyWGZBSGx2OExydngvQmd4U1FwR24rbDVjS0lwMForRFdhMkN5Q2xQU1pEWDlUdHJNbXBKaWw4aVUrV3FTMElKU3hTQmFGRXFUN1hZclNPUVpIRHBqaHN6NXRKZVVaVkhqNnlMcjdHMjRMaXArU0c3RUtYa09SSFYvMXlSWmhMem41dDIxV2dIM3Q1enVCS1hQRDc0QmJyVi9rS1hhd1dPRUwveGpnZ2FEc2NqamhZTXk4dVdzSGFmOFVMamJyWnIvSEorR3BuUDJxSlZVK0RHVWU5d2xNQldqd0oxSWFkcjU1SXMxMlRpZEthSXRIVHhFVGhQbmI0cHBMcVo2aEpJT3JvVHJNZTNYZk1sZUFpYy9acjI2NENmZmFqU3YvQ3VCMHkvT1gzd1IzdVJQYllpMkFxcmtwNW1JSEErS3VwL3ZQMjRFVkVPSzQ2NDZRcE54T3F6V0Y5UHUxb21MSllBL2JhK0M4Sjg2blROeG1QOHk1K1VPTE1SMXl1bHBCWlgzb1MxRU5ha0RDTFNxR21adG9OYlJhNlhYMGsxeHdGTnVBY0xkTnFGZWdEUzlyZUJQb08zd0dEZ0xGYWpMQ0lrZGxESWNFbkt1QnJndm5GZ0tXRVN0U3BoZ2lHeHdtM0NPZ2xUY1RoS1NMTDgrbkdoRENSQnR5MTBjSVNUdC9jRGtvVkt1NDZSSk5aNm9iWUR0Z2tkeGFKSXp0VDZVcGVIRitXbEtSV0JKYUFkUFdFdXlnSEhEZGVBL29jQlFQRjBXUW04Z3NuZ0pCMmNkdzNGSjZyQWlmUEtsSTFmRjV3MnpKZHNkOEoxQ0NXR2M1bzBJQk9WdWZURGNqY2hCcHcxOFlMU3poOSsxaG1NaHJiZTZ4bmNTMWxiMHdmb2t5U0ZBR3lta0VaaXNHby9JdG1nSE90QW9oME8xVUc2Rkw3Y2czZ1lsTFc1UFV6N2JpbEE3ZE9xeDAxS1RDWHdlUnhUYTRmdzFwYlpocWxXRTJSdmlPaEVpcUtJWjZ1ckl5K0VROGFEZUd2b3BTTXNEaWZianlXTjBHRnUxd3ZnSzI1ZlRWbHhuTU1HelpLN2Fla0IrdUdvbTdlZDlBeXJVdXY4QzVXVElvSERWeW1Zb2tWUG0wWmc3eXFSSTRvQTBTQjIrWFJ4QSttd1lWYkIwc1d4Wnd0WnNJaUozZVoxUmVQRS9pRTJMdEtwaEZiRGZoUVFxRlQzTVJ5WTd4RkhSRnNIekZrbnI3aUMzeGFmdG5LU3NLNFJxVUMrU2FsbDFLcmhucW9MVWd5cVE5cktaTzJ2a1RIZld3cUdJYnlvV3dxeWJ2U25kZXdKVi93K2ZTVmNzeDV4a2xqa01JQlV5cHIwdGhTNEtLSmtBbGlzU00wcmFQTUxSNlljUjdnMmRCTCsvRTR3ZUNJSzhIa3NVK0pHWUVXbEViUlNaMEdESW5WVVlPWVJ0QUtreGV5VEovYzlmeCtnVS9IRGdBV2FNQmRHUzhzNWZRcDVVa21RcDdvekd2UkpQelhZQ3FKWGZ4dmhvSXMvTUZaTlNsUHpuWmlBa3BrTnJ5Y2RhazJZWkY5Y0dCZGN2MU5YOUgySHlydkwzU0t1UFFLcS9HeGJYU09XcU5hcHlsNlNGbXJoRHhLSUlnRG5MSGtwSFBRRjFNUXh4a2V3aU8xbHVyYnA4L0hza1JZaUhvNzVVMlQ2WjJlZUp4MStYVFVJWENnQVhkbHZGQkcybmpmcUFYblhkb0hjNFgzQm1GenZ0bEhqUGUzcDgxdWppZmNjSFAvbWlkc2o3TWZudHJiNlhWOG4rNGNPQW81azNUbDhWTXF0UnBpS05wYjR0WjIrWWZMNWdER09RbXpGZktMRUpkcFhUSlFTZjBpanBoUzRwaTVhVkRMTmRwUW1SK1BjaUhMbGI0ZmR5cFpvdm5BUUYveVBwWlJkdXhpejhjZkdJS2E5cS93YVJqaEdiYndzY3cxL2k3bjlHbkFGNURwb2M0NlZ6cUpXYkxncC9UNWNhSC9DeUZKVUtVREVSREFDOG9vUE9oNWo4blRPWVVGejA3bWVscFZDS0FFNXQ3K3V5TDh0eUlTMUVBL3JqYlFqNnRMMEdjcmllTWlSOFFrVGVSa0pQQndZRFpJejdoSlRFMWc2a1JsNHU0c0tkenBQdG45R09VelNhdUQrV2N3SGM5WmQ5Yno4QjAraFNYQU56YjFsTmxzRGZZTUo0SWpTOGRVc2tMNk95dmloSFRFMzFUTWRqdVNvb05EL2xsUXRxMnRmTi81dWF6dWNVdkFZWnU0MzJlWFdTKzdxN2tDb0JpZ0tkZG95YnB6MzhWWVBSd2Z3elVWamhXbE1jYVBrZ1hKWWRxRVdJM3NBV0QxTWFBZ1NndWVUamY4RTYwKytYOTVLUlB3aU92d0Nka0NiMUNRSjFNTmp4Qm9NOU5tVXRXVEZUM0k5L0Q2WkZKVFdzZlQrY0t0Kyt1Ti8wbFcydVNyTlppbUZIWmZaU0UvR01mMllCdUpzM1k5OGJKd2lMdVRRR3FTT1JNZm01Zmp1SEhFbzdqejcvSkpvczNMZDZDSEJaMCtpLzgyVDhzK3pyOFNRVzZLQ2dVNGc4QkRGZHA5dlpwVG95QzRKNmwrMm9TNGpDbzVDeTJtK2thcTF3ZW9pTVlqaXV2eGlYeG5KbjR4ei9PTTV1c3ovNjBCMlN0K2E3QXA0ekNBZ29VUXN2WWdPZU1tTVJRNHQvZHVmaVRWRjQ3aWZ4RHpXL2xFOGpabXhubmUxM0Q2K1pIK29GcXNIVXVMMGkzRllGenI5SWFmREpRQWRaYWQwTnkrQXB1eU1wQXcxWDhFQkoxNHR3OXl2aS95aVFRdmlJTk9nTkhDN3ZRekt2cEFueGxxeTFVeHJyVk5NcWdGdXIyc0FUak5qc0NNT2RhbWpGTVhBODU2VTFLeGF1aXBtdmJpRi9sRUJKdVhWVU4zUVFSdGwrOXZiZ21Gem91aXEycUZjYTBubXQwck0vcXl2bzg0OTdnV2JsQ2xOblNZaXBXT0FKRGQ0M0QwNWdqMFBUNkJYeVhhRkdZeHgzdW1uMmpzQTQwbXRKYXNBSWkxMThkZWxIajd1OFU3dHRmQ1hCL3BtNzR2elBaaXVib1ZQTjl0N29ZaEV3WmJYK0VUQWMxYXNSV3A3WGQzK2dVOXpWZHBnZUF5MWZCVUxsVXgyL1dTeEYrdEI4UHVpZ1k2djREZ0h6RWdQa0RFWnY3UHNLM2prbTcydVBLTXdyZjRCSDVuN3NYdFRyODByN1FVbktuVEVzVWw2ckVJOGZFZDd0emcvT1c1aGR0WFNSRjhmUGpBbjdyOVNmUlVVOFZoS1Jpb0pyWGl0L2ljdjFJRmgzdW1uNTFET004OEtyTE52MVVKMkJxMjZFbkpLN2hrQi82d3RmU3dLdTZ2dWlRV3pzMGJDN09KVEZ6aUFqMTFFcTJJalJ4dlJXR1dhTi9oRS9qTkN6REtOTGtORy9sRzIvNXJEUWd6djFFM21ESWt0M2l4bk1JU0hEK1p3bG5ERzYrRG0rZi84QXhzK2xTNHplYUloTXFlOUFSLy9wL2F2OEluQ1Rwell4TkdVNUJkNitFZkxaUHpESmVMdjBNUDhLY2R2c0FqejBheFZ5Zi83OXc4dUFTMis4Y0YrL2ZaQjBsZ01CZDZBTHYwZU5WTlc5Sk1zYi9BSitWeVByeE5ZeE9XT2EzSHY5UWFqbUhlNXNHNldxTG4vWG9DdjkxQWVkSkQzbDJjdGRKVHhJVDdMbm1zekhMMklyUG9IcGFFcmJXLzlORzd3SkpzL2JUZjFmbkVHbmRtVHJvNy9mcGMwbzJacVE5OTFnbitJVmRwQWZFYlRUN1JIcTNuNStZc3U5TlB0QmxXVU15ZW1VcUdkUDZ3czVONitlb1hzMDZwM3R5RTlJUGw4UzlXeUtLc1VjNzhDM2M0RnhYeGp5VkdmaW5hdVdvWGhSWUp3YTJQOXA3L1RrdkNmcHhHL3p2Qy8ycEpLUnVkNzVXTzEyN21JdUZYNjJSWjVzaTN6Tnc0WHBhUG5WcW9BYm8zTVRmYkNRbnRaMFVOa0hmNUk5WjhSUUgreWd1MHVUTjNoZnRYNm1NZG9kNzhiWkYxYU85VVoycmdPUFl4Z3BsMDErdjJQMWVxMjJMN3pONW1BQUFBQUVsRlRrU3VRbUNDIgp9Cg=="/>
    </extobj>
    <extobj name="334E55B0-647D-440b-865C-3EC943EB4CBC-10">
      <extobjdata type="334E55B0-647D-440b-865C-3EC943EB4CBC" data="ewoJIkltZ1NldHRpbmdKc29uIiA6ICJ7XCJkcGlcIjpcIjYwMFwiLFwiZm9ybWF0XCI6XCJQTkdcIixcInRyYW5zcGFyZW50XCI6dHJ1ZSxcImF1dG9cIjpmYWxzZX0iLAoJIkxhdGV4IiA6ICJYRnNnSUVVb2MxOWtYRzFwWkNCY2JXRjBhSEp0ZTJOb2IyOXpaWDFjSUdRcFBWeGlZWEo3WEhCcGZWOTdaRzk5WG5zdFhHWnlZV043TVgxN1hIUm9aWFJoZlgxY1ltRnllMXhIWVcxdFlYMWNYUT09IiwKCSJMYXRleEltZ0Jhc2U2NCIgOiAiaVZCT1J3MEtHZ29BQUFBTlNVaEVVZ0FBQTRFQUFBQjlCQU1BQUFEdVBIc0FBQUFBTUZCTVZFWC8vLzhBQUFBQUFBQUFBQUFBQUFBQUFBQUFBQUFBQUFBQUFBQUFBQUFBQUFBQUFBQUFBQUFBQUFBQUFBQUFBQUF2M2FCN0FBQUFEM1JTVGxNQWlhdTdSQ0xOM2U5VW1XWXlFSFoyYlVmb0FBQUFDWEJJV1hNQUFBN0VBQUFPeEFHVkt3NGJBQUFaWGtsRVFWUjRBZTFkYjR3a3gxWHYzWjNadmYzVHV4ZUhoR0FSWm9YQk52ODBGNHhzY0VBekNZaVlMNW0xakJMYklkbkZpczVXUWpTSGxlUk9LTlpzU1BBZENhUVA4aUVvVXBqREJBc3VvRmtGQ2F3Z21CR09GSlFJemVJSU8xYkV6U1pDaGc5QnMvakk3c1ErdS9qVm4xZFYzVjNkTnowemV6c0QweCttcTE2OTk2cnEvYXBldmFydW1mRzg2VFdlRmxqNitIaTJhOXFxUGkyUXE3N2FKK2VVYlJ3dGtIOUx3S1lJamlNeWZiYXB3OWpoRk1FK2pUV1diTTg5OUFQUFR4RWNTMmo2YjlUaUZNSCtqVFdXbkZNRXh4S1dESTJhSXBqQldHUEpPa1Z3TEdISjBLZ3BnaG1NTlphc1V3VEhFcFlNalpvaW1NRllZOGs2UlhBc1ljblFxQ21DR1l3MWxxeFRCTWNTbGd5Tm1pS1l3VmhqeVRwRmNDeGh5ZENvS1lJWmpEV1dyRk1FeHhLV0RJMmFJcGpCV0dQSk9rVndMR0hKMEtncGdobU1OWmFzVXdUSEVwWU1qWm9pbU1GWVk4azZSWEFzWWNuUXFHZll3VzRHOWlucmVGbGc5dUZ6akxIZTJkUGoxYXhwYS9xMndEenJYVGg3N2tMUTYxdGl5amkxd05RQ044SUNGZmhXNjFxL0VYVk82eGlsQmFZSWp0S2F4Nkhyd2N1aGErYzQyakN0YzJxQnFRV21GcGhhWUdxQm9TM3dHU3VpVk1rUGtkSklFWkduOTdHeVFERUNFN0w2Szd1Um9wRzIrelBsZ2RXOTRkTEFvamRlTVAvSm82N3o2Yk94NjZlb3ppTkVjS20zUWJWa3ZyUDl6Q0xIS0ZBN2RZeVZIMkhWeFdzREsvZlpLd1BMSG9QZ2MvODNud3ZNc2ZMQXhzeXo3dzRzZXd5QytlQ3hZNmoxeUt1c3ZqeDRGZjBoK0d1LzhxMG5IdjdFNExVTUsrbC8rWTl2dWpPNEJEWHR3OTFobGQxbytadnVjRjAvYlRWamxwMjBjaG1UZlNHNEtOYndsektxSGlGN1F6UmdIUm9YMmRZSTlZNUUxZE11Z083UXFuT1JBSWl5WmMzaEZhNmFkT2JVWkNBWWlHN3Y4TjRWWHN6Y3h4RUxMTjkyK0VaYlplUlVXeUdrWFVYK1R2NVFHRmRQUmJteU05YktseHNxRnVrTHdmek5UNklGeHpnSDMvNmEyOUdBRFc2M0JiWm5tKy9HcDVlRDMzcDlyMlhWKzVXekNoTUprY3JZSEI0SCtYKzBTUDZ6bkVmMFJ0Qyt3Y1RZMU9YWkVuMGhDSlZmUDFZRTBZQ0F5ZWZpZVRaNDRKM05OQW5jUlVRZHBkOEpGejVmQlNRVWplUS9XMFB1b3MweEI4SkppN0FNQ0UyMmVtRFMyVlA5SXBnL2ZnU1YrK3dlWnUvbENDV2U1ZTZ2RTEyNDFnRFJscTVsRVJEdTZSd1NKMURjc2duM3EvSElhY3ZEYlFmNlJkQTdaZ1I5UGNaUGhFYXpiWllia2hhQi83emxBMFd0QzRCbzNkUy94Tmdsa3dQaUtMYnpYbzZaZWRjSjg0YjQrc2hNQ29JSWg5WEdkZmxZM2Vpc0FDb1cvcytIRWZRYTdKUnQvRHBqa1ZsYk5RRlprZTNhdkZuVGZTTVlIR2NrNDNrWTFkdXFielV6ZkxQMmRuaitwakQzakQzaHVGSyswSzFiMmhmWUdTc0hRTTM1dUtRWGRGeTRNcVJoSndWQnVDbXlVRDBjSmRpVzZqOGQyYVdaR1pHdXdnLyttelBNV0l1ZUVJZ2ltQXNmTjlkWTFIRlVYcVdLNW9iYVMzamVwQ0RZWVRya1h0Q3prWXd3d0gxQUJHZWx1V2VqVFlnaTZGVmZzUnFGUlR5TUtNNld2a2ZsN2VHV3dZbEJzRzQyVUt0UmowUzJ5SExQaDk1TXV2eUZQbVUzcFNlWWl3SVNRN0JyNzNuNG1WWm9YZlM4VFYxZUNrZXBmVGJFc0UzS0hHeVk4TnMzU2RPUEc1UnF5S09VdGZBeUYxOEh2VTA5eDlBeUxPTGgzUVVRcERucXN5RjNSNU9DWUkyWnBhbzRpb1Z3SU1ocDhHeGVieDMwVHVoMURoWHh2VVlyWEdGN1grVlhtVmhadzZWWmNoT0NvTmtPb25PVnFQMnlkSGdvM21VMWpwbzZyRkxxWWw1MFZzZWE0T2dBd1VpOWRZcFZGMmlYRkdIb096c2hDSnJ0SUhxMk5teW4rN1pPbEhHV3NRdjhNbUdWNG9naHVHcnYvK3F4N2FEWDNGS1M3V0dINDRRZ2FHMEgrYUl6cE9PSkF0TjMvZ1MrdWlRUjNBakx4QkRNMmF1YnZSMzhPeW5ZWFZjS0dzTWVNVTBJZ3RaMmtCOGsydVlKbS9Kb2MyckNyTVFhRUVNd2I3dk5tdGtPK3FycGhUM1ZVaVpqbzhIYlBTRUlZaVdoTHZNOWJEUXVHTHovMlNRcmN1ODJFOXZQeEJEMHJLTXllenU0cWdLeXQ3Vmt6ZGlYWm10Q2pIdENFTVJLb3JyTWUxQ3o0SXoxNkNnSlRYbXNzQkE3Um9rakdMUjBRK3p0NFB6TG1pd1NNOVlSZDdpazM5eUVJSWlWeE9wUk1iby90c3FPTk5tVjQyZ3pkb3dTUjlCcWg3MGQzSXk4V0Ridld0Ty9lVXV0OStzdFMwTmFNaGxCLzR0M3NjZS9zRXZDOG1RNzkyUncvazBSM2QrOHRmWjRsT1o1Y1dydXRlZlloei92ZWZkY0lwMWdDaHlpdWhpSnhkdUNoOHA4MXRteFhUTjZKR0pMSEdXNkszMWp3M0tSc3JwVUJQbURpNVpxVm1GYkpkUnRqWDB2VEVEdWFmdzFVSTBkbG1NRlRrSWlnb3NsMUlzb3VLWEVCSUo0dG94SSt2Q2lyZXB2K0Y4UnNkNGJiWnJueGFuL0VyQ0hucmlMZlhMUlRLQmZaT3g4d0E3M3dxSjI3a3JBenJPcnUxaEo3QjF5TzNwT2JJdjBtYzYvUGhBZDFCLzlXS3d1UElFZmFveW9MeFhCRHVwUXJmS2pHOGxLdkNzejdPcm5QTzlkdFQ0RDdpUUVWNnJzNER2LzlzQUxNSitzbkNPWXIzNjA1UzNheHlPZTl6WjI4UGVlLzFZNzBvQkFuTHJJWG1xaDRFcFEweHVnK3hoN25lYy94UTU1Z2ZOYVplelB2Rnp0TWF3azF5eUdOZjFHZzBYTWx2U0xHanBLYkY5ZlExc2dzUlE5VTNPY3F0bTZLbVk3T0tmUDV4VkRJZVpPL0txMHgycWZpMzBTZ2cxMlVPYVZYR0hxbFJDTzRQMHZjVGpoRkM3eEluSE5LdnMvRThMQlFTMGNiQ2dCUW5DWk1mR1ZoSWJEa1VqbGZvbDlCS201QTZ3ays1SWtQaGVzSXphTG5DVjVQK0ZtN25ZTkNhcldCSUx0bnV5S3haUTZCd3ZhZytSTDBZZjdwZGhvbUdjZmtJcWJkSFJxMWVOSUppQ0lGcTFMN21kN3V5SUJCUFBCUlo2RVM5TVR3cThTWDlONkdjdEJYZFl0TFJLQ1hTYjlCT0FSZW1WOTl1YzlLbENyL1czNGJIK1c5V3kyQWRLUmgwc0N4cFBYMXpQSDF6Ty9abDQ3STVGVUJLdktZUDdYaXJHR0IyWk5VYnFLeXVEZXZMMXdVRVh4ZXdLQ1ZScmxLN2NyaUlEZ2dtcDUwV3hvMzBsOGVCWFhPQWdIdGFNM3Jnc0tRUUMzTHR0VFRUZ2xnNW0zQkFmY1VNaWxRRlJLRHZ6WkZqL3I4ekE3amF2YTQ1K25mNndQWlRudWZlWWNBeTRWUVRQTm1UWVhWV2I3TTBITDBTSTdFOWpCRy9ISDcyNEVjZjUzUnZMV21kcjdBTUh1bnFUQm9CdEtVNDM0OENxdW1ZUU9ha0hiZkZuQlV0ZmpvSjJ3SjJvejlZcDk5R3dmeXlNMVFMVUROLy9MdjVSMHhaajlnTDBaeEdYeHZrWjBpMlpVeGxQRjd5SVkrTDA0UFEzQjBIeVB6Q3NjVHV5RnRjMHJlM3VsQkt1RTJaT2UwVGQxK0Z0amFwVUsySXZubFhCSFZ3dWt0WFVXR0UxL0Y3Vm1YbTZSQ0tMdEZFZWorenZSZGlHL290K1NCV0o2QUhCR3pQY3l2NGV1YjRBcDRZcVlqUy9sSCtTeWM4S05yMTBMNlVuTnpQWitxUFRpYnB3bERjRVp0T3B1UEZCKzRzN0FXbitrRHFBYjZYcGJ6UW1VbU9kcDhRb054VGtIWVYwMWcvbUJrT3cvYWllTHIrbXAzeVErS0VSZ3NpWDFPcWkrTmFCS2dnM3gwQm5KemdHaHBLS0ltemtMQlpZaGo0SjhwTjhRZ0dkSXVrTENYSGRYVXRiRXNxQWYxWWxhci9QeDZlQjlHdzZXTkFUTmR0Q1BSWjR3V2ptc2p0NXlBKzZSNDV1dmZldVdoejhTWnVZNUo0Sm9EeTNXTUlvRURnaVNtZkgrNmltaENmZ1Nxc2hUeGtXRnpZVUUveWhzOGMrNm5zaGM4aG9uUlM0OGx0K1ZKR2dNVFNPTXNKTVJacytiUlFzVExqSGhMSUc4YW45bG54T2IyMWJSZ01rMEJESGdxZk5McW1KZEMzQnE2WXhJMU5pV3VNZUdOVHJ0dEpNVHdiWkJxMFR2YWNJK1pEVk1EbGtMNmhjMkVGVjZGT0M0cUVCd1QzTEJZa0s0YXJXOWhKMUs3SUlia2JHcWgvZGpJeERySUNnbTFSZGhUajBnYUd4eDl1S3B2b1JTbWRJUXJCZ1BzbWlzSU5VaEp0c0lLeVo3ZTIvNHhHNm94TDhMRUZqbXBrSW5na1h0Smozc20zWUVMOFRMU2dnSW5oSEpEa0VwY2wzRjZxTGE4N0t5RG5hQTBoTlMvS05nK1ZoTnhFeW5NOFR3bUFCSHFGNHQwWGVpb2hRSEo3bElUWHoyTGV4a1RFT3dZRHhJTGpyakVETHNoaFV5bHkwa0M0eDRLc3pNYzA0RUdjRUdoaS85b0JRQ2dsU1hSckJwa0FaVFc5blZTWVg0WDBsRlhvN3J3ZUF6cTFOZHV4bkZ3bThZRU5SZXJDU1VsQXhESWxpOEtOU3N5REhwV0ZObExSaysweENzR2creVNPNlVWTWNSaEtFK3hRM2t1SURnWHB6c1FoQXVPRHEzK1hlSGRPMGF3WktGdEhnYjVCVmVnWk5hZ003M1d5M0RERE9lczJKNVZOMUVWQ2dOelYrcmlEU2RuSUJtenBiNFY4aytJM3FVMDlWa1V4TGlUa01RUGQ5WHpLRjNMemdOY3BaUk9LVUs5b1B2NDZuWTVRekJuWE1RODBPanBkWFF0NzlBMEFpQ2IwY3pjRHVMdU1aSjdZREtEbitpUmV5YnhyV0kyVnVtQXJvalN0T05xRVFSRHRnMjhRMXhQeUYyT0t0NmRSaENWUXFDV0M5VTJJQm9pMWIyUDFCMXdidEVhdTJDSFJncXp4Y3F4R0lTeXN1TWF3NENJYk5Ha1F5ZUlWQVM1ZHM4emR0RzB3UlpUQ3UrZzNGVE9TRDhvc2RlVFlwY3VhSk9TQStuaUdHaXQ1Q0ZhTk5IZzJCRjJITTJ1amJKK3JOOXBpQUl1NXNZVUlYNFBrRVJSNUMydGUrTk4yRGV1VVM2RU1SazBtaHBQUTRFT1NwbHpjQ25KcmU1bThxWE5YR3BSMVBJSHVydm4xZERjMWxxYkZ1VHRHcXRtYUswcHYyU3FUNTdxaUhzdVJCZk1iS3JTa0VRSUdrcnJXMUwxVE8wV1k4anlDZUF1UFppclZqVHdibGRsSUNnSHY2YTE0RWdIMTFsemNBUjVNQzdxZDVpb0ZvbWZ4R21vSExxMW1zWlBUSUZpQ2tVUmVoSjNrZHhqV1lPeW1IUWlhNUUwWmIwazA5QmNBMWRKQlc1RFprNmNVMVJJQmRaQjcxN2xFa2lYWVpBUmUvU1NSKy91eERjdE9ORVluWWd5TmZMRnBYTE41T1JjMU05N3huVk1pYU9GWXNtUURNYTdGVFZmTjBNdzFKNUgySUk5T2tDVVFhNHE1L0ZxR2o3RHFDRFJGSVFyRGoyQjkwelNqQWVpM3JlZnlwRGxVazUzUXRPenpNTWdxamVnYUNiaWxaY0thbW10WkM1SG9LSW5OazYrUGlGV2IwdlUvUTVFZ1RuNVBMVVBXSUVDekVQZ3NCK1IvWEVoYUFudm9mdkNMZXJPaUlpTy9DN0M4RTF4NmpCYmtLdmpSVEo4TmxXTnNvUXlmQUF5RTBWYk8rNlRXRElCeUQ2Ulo3RWFMQlNmRG1nYm1LeDJMS0trSXdSd3NYOTVUcXk4WTBqUmhET0pPSkJFQ3BRQzJHc0RVcWJ1LytXQU4yUFNxSFhKdzJQVGlVZ3FOSFNqQTRFK1NPRGk1cUI3eWE0bUp1cTJKNXZRSVo3K0s2amhVYVZqSWRhaXRDSk5UMjZ3N2NsKzA0WHBCMUwycHlXNU1vLzNIVG4yWlpGdUU0eXhZdWl3L3NSNlFXOUZZWjdLVWNLUlRaWHN2ZkxrZ09EMnNYclFoQnpySy9kQkk4Nnd3anlZeFkzVlRZQ24wOUJDTGQ2N09oZGM0aUUvVUNwRW0wNlhPeDZtSjNuTWp3ZkZNS0JETmRxc1ZnQ3BadG9wYjFDQ0lHVWoyUUV1VFBaaWtqV2RZeUdUYnBsUVlzTi9UZG5WcElPdEhjdERrcTZFT1FyR1pYcnUyTU80cmhhZXpyd1lRN3lzZVdrK2gvVmlvcENhTlBhTE9naUt3SDNvdVBoUXJRNXptY1R0SkZDbzZKWDZNRUdWYktzQWx3blVsOC9CeDNFMmNjOUdVRWVtcCtNYUtpZElnS010VU5wZmw5cFVhNW8rdTk1OTk1MStDTjRxQm4zak9CMkljaFAxYlFtMHVoQWtKKzBXWTNiVkk3UlJWMHg1c0Q0dUNRQ1Y5b1RVUTJoTzdpMHE4RnJjeWpMaWRlaUJCUEdkYWpmZ2xoQnF4T3U2R2dXL1BOcW9ZbE9jRkhJVHhtY1VxbzBla3RHME40T0tpbnJGQWpleExJZy9KZmVWcld0K3A5bUI3ZXk5VFZqRWJ0NkY0SThEdHl6bVhqYWhXQWp0QjdWVmZ6dm91WXNGeTVlN3NIUWRJNG9xaFp6a0dZT21zTlh6bmtUK1RnUENETThIeFNWdE9YeUJPMTdWS2w5NytqNmJXcFNPaG5CTlJoek55eTJhYTFSWWpqcjRxN3h1TmIyZllhOXRPSGRkN1hDdnFjWnJZUUxRWDY2ZXNyd2ZGVTB3SVZneGV6WndGNVFxNU9MS2w0UlVpb0xmRFBIbjFkYUhmdEhLeTNZZ0RBOW9nWmVQQ3pyN0N0NUVTeHQ2TXlnaWFMc0l4QmNkNm1veDJOQkY1dWlKU1BZdHBZRHhWeWlzWWw4elY0a3VWR29sMnU2ZnJ6NWR4R2MxUnA3UlNrSTNad0lBZ05TeENzcGN3a1hndkFRbHRLcWlveGQxSngxRkYwWGpTNkdQR0ZWMU1IclVSZFdjb3FtTVIxNWErcW5xSXh2V0hSNjBBVE5QVmh0eTZXallKdkF4UkNpSlNQWXRaWURLYkprRzYxa0dVWUVnV2VVM2sxZDhKeTB4S1pqaDhoNW5RZ0NBek5NY3RKYUxnU3hIaGsrbUVLdVhDNXFqaGtmdUNrR2ZhaEIxaktwT29BbG5pU3d6OXdDdGJpbml2Z3ptVlFQclBuU0VwamtMVjRPSkszUmFpVGMyMmRUSGs0bEkxaXlqL0NGVUZmMFg4bDNiVGd4TXJWTHIrdFVUUzZWTW40SVY4dHpUZ1JoUHVPcVoyWEU0VUxRSzFsOE1JbWFrQTVxemxxRjI2SnRhQzFOTWtBU2oycE14eHR5clFnMmRPdFBXTm8wTVdNQ1g4Y1ZFa0RRdE1QU0VRNHhyQUpuTWhsQmdHTDVLUWpUMEpGNlFsOEJBVWc2QUsvMmRpVUgzbjhYQ2V6U0xrcEsrTk9KSUYvUzlvaXZMZWVDRTBGRThEdkV0NmxyY0ZBeEwxV0QrRlp3Zzh2VVRHdTl0dDRna1RZY3U2bDFrTzh2OXhDS1NvT0w4bzU3VGRleS9TU2E5RElmdVk2d0VCcGNEbE5TYzRrSVFrLzRERGN2STJ2U0Z2b0t5QXc3M0ZNRmk3cUxUZVdNc0s1b0U1STB2N3NSUklQSWgzbTFkY0Z2VFV1NHRXMUI0M3MvYmZ1cWZvRGdvS0lqVWcza2luS2MzVzlHdVM5ZldKRTYxV2ViTEZ5SERYYXNoNk1vYjV0YVF6SlpNalV5VWMzeUkwWUJab3JKWEQrRmRjY08vb3dBcGhYZlBPbHJCUjdGRGlubnFKdWNZOFVjc1cyU0ZIekVscENtdVNneTFvY2JRYjlHcjB0N3MzSTJRNUh1MHBweERIVzlJcUhMNjZRM1RnV0Nha3FobWRKcmdVUmRtZGUrZ3pTSTc5ZUlUSTU5U1V6dWpoNHFlTnVOUnBCaHo1cEM3ZHJueXdVeHJNSDlORFhNWStVd3FNTlRUWlg1Q0dTTU8vUDh0MWVSMzdZRVowTGpwL1FCVmJRUzBHNFlkcjBvaUNkc3JDME5iZ1FSSzlCM2xocnlIWE1vMGkxQnEwaC9MbUFma3RxS2VnckM0OFdvTUJoNThlZG9EL3RQTkFuOTJtTldpMVFTZ1pGb2VmTlZUR25Nd2NJcHcxTTBnOFVRczZYUXdTMHBVUWhQRXFYRzJvNzFvZGh2b0g4dnRpS2M3N241aHpsZzdMY3Z2NFpmTjR1WHRwRS9hZkhCTUJzbSs5eGhXV1NnajVnNk5ITTI5Und3L0R5VmdDRC9QY1U5WHY0VlBrQlhMdjlwZ0pwN2QxL2U4QjY4L0xOSXNvOWQva3RlN0wxVDhmMnlSc2hKUlVPTDhwSGxTbzJpRnV4enJyWTRkOWY1RHdSMTl2c29td1Y2SlFCbU9SaStzOW5oY3NOY20zb0Zyemhuai90cHFyUEdleS9mSW9CaXZUdCsvRTllWjdGSUtyZFcrTElnNDQ5Wkxob1J2M1R3SGVTZUw3TGZJR0tUem1hYUNVdEhFb0k1TEErZmYvZXZ2c0IrQWFyNE1adTh5dWJsZHVVQ24yTHNMLzc1Z2Y5UTN3V2tlcU5VZkNNbkYzeXE1WGtQbFBSVTl2Q040SU4vZi9jRERYTDVKQ3p2aXd3RDh0N2dnNTdITjBSLzlLb3B4YVRjTmJuQlVrMGEydDZhY3dVcmtKTzl2bm9NQVhQWmNlMmZHN0tkTWtmRVhIZllueXhXOFpQNEFXTS9wNnN0MGRRcmhyeXZMaytjZzk2eUhFSHY1NnlMN01MNUQ1OSsrTndGeEdjVi9KMzM2ZE5uTHdRS1FRL2c4ZXRIalU2ZWlsQlg0Qlh3a0I3ZnVjYVhjdlcxV2hPaVA2OEpvY1E3R0tzeERweGZ3bmUvOTB6WnFoWEZHbXEyVkVWbzVqTFkxcFJ0MmZ4cmE0K1djU3gxUmhQOUx6NlM5c01FbGQ1NThmVzEwN0JRWUNPb0ZhUWxLbUZnOHQ4K3h4Ni8yNXFXT2xZTUVwYU9wRGtJdTZIZEQ5bE9JYWtkNzdrMU9IOTNPVm9hcG9wbkUxZHVZK2ZmOXptYk1mOXQxUEZmTnNWT2YvV1IzcHZGWk1zOWVmaVRWc0VjRFV1TGxqVTVjMzVQaWZpbDBHdGhLeVgyRUg1QzJWb2NRWG44THVYd3MxWnpmZjRUN3Uwb0NjTGY3SXMwNG9JZElvYnV5UWlHMk1ZcTArbmZ3MlZ2ZHdGT0lsLzZHYk04NFJ2M0dENzNqV0RVT0Jzemt4QmlLbVlFRUZzaWlXM3hobFBCSkNMWWRTK2N6djVsSlQ0cnRqanorSFVPTWZzaFhtY2Y1MG9LZHNTUlZXc0tQN1pwS2FYOHFQU2tLRjlpUFRmZkpDSlk0L0h4MFZ6WUNKZWhHUzZMVGw2eDZBb3NoLzRWeWFRR3AvOWFLaERjRVpMaTF4OW16c1MxVENDQytSRUVNbkZEU01xQzJ0VVc5WTYzSURZMS9PV1JMRTk4ay9RNzZKdTBNWFdVaVczQVJWSFE0Vzc4eEg2Y2FRSVJYRXBmKytOOXpFQXBxaEMwU2VkRmV2bkJ0TnpJb0toLzFpVjJMWVVaa1V4WkZJdmowZlpXbkhVQ0VleTRUeURqZmN0T0FWNHRJYVVmK3JUMXJvUGNXWGF0NlJKKyt1U21rQ3JnTVNuOUZvV3RjUUlSTEJ6ZE10Z2hCMDF6MGF2cDdScEwySS9aMWh3b25kNmZodHdKNHhSd0c4L3BkK00xVEI2Q2ZucjRIZTlpQmtxQm5DZHRuekVwOTVTODgrZ21nKzVFMW9YVW9iRXBQVTZSbi8ydDBJR2tyV3Z5RUp3NXV0MGdJbnNaS3VqdE01NDVxR0VQMHBadHVOR2xjNm5yK3Fvb2ZjY0JQN3VaYzUzNFRCNkNtd2xuRXlNd0tXYmNLYUZHeHk5MWNxdjhiRmlXamFDZWlJcEd3azVQc2hWN0xmeTYzZm9za0N5NFdqQjVDQTczZjRzUjQ0V3pXR3gyQkVYL2NGdEpCeko0dkhZcHpEMnkzRUtxNWxWMmVDcy9WR2l3TzUxLzVUNXhDQzZyL2RuSTdHY3BXcU1kZzM2YXFzK1YrUlBUUFl0MWxNbnIvSzNwbFVjTytXKys1VzQvUE9tcWRlSVE3SVNmSkxqNk5EQ3RUU2RjOURRVmk5KyswcWJSSFZoN3NtRGQrWUEwbVQ5VU1uRUlsbDROdFgra21RcXRldlEwVlo4cjh5L1FPbDRGR1ZIdHE4TUVTWk9HNEZMcW1qR2tSWnYwcGtoRDdRSVIwVnhTT2h0NlJSeXlFcGQ0d2JWTmNERTZhSk9Hb1BwTk8wZFBSa0JxMGlPa0d0K2lmYjg0bFZSckR6WWEyeU9vSVVIRmpINHRKb0VoaFR4aENDNm03bjVUK3RsWFVWMXQ2QUVYWXRLQXYvNUhXeGY5eWxoZmlqSXpkVi9PTEVJQy90SHRqNm1LVWQ3Ykw0MVNXMVJYVysydDRUeGIzZ3BmOTNRQXVwWitlaG5WbERXL09NUkpvUTYyc2xaNkhQeitrVVgwb2pmMDV3ODRpY0VYcEhqSVZLSjFVQitVSGxHM0g5d1lXUEVmWGh4WTlNWUwrcEgzcVViY2dpVVZyWlQ0OC9ENVY2QzlvcDQycmJMZTdvZ3JtNm83QWd2a3BhdkVtL0o0UXQ5ZVJ3MXp5cTgyNmNYbUk2aDFxbktFRnVqeTQ0Sjg5YjE4RHBhUTlQeWFtSHRMUjdzS2pyQUgvOTlWemVJSHAvenVpM2dOdHp3alg2cDRsdjB1bHNTZ2g5aDBlazJDQmJyczBXcXZqTGVBcjFiVmwxQUs3R08zc2Q3ZUpEUisya1pZd0g4aGVKU0hkbThOZmxQWncvL3IydUdiV2lxVDZmYS9Kb3M0WTI0eFhJMEFBQUFBU1VWT1JLNUNZSUk9Igp9Cg=="/>
    </extobj>
    <extobj name="334E55B0-647D-440b-865C-3EC943EB4CBC-11">
      <extobjdata type="334E55B0-647D-440b-865C-3EC943EB4CBC" data="ewoJIkltZ1NldHRpbmdKc29uIiA6ICJ7XCJkcGlcIjpcIjYwMFwiLFwiZm9ybWF0XCI6XCJQTkdcIixcInRyYW5zcGFyZW50XCI6dHJ1ZSxcImF1dG9cIjpmYWxzZX0iLAoJIkxhdGV4IiA6ICJYRnNnWEc5MlpYSnNhVzVsZTF4dFlYUm9jbTE3ZDJGblpYMTlYM3RrYjMwS1BTQjNYMlFnWEdWd2MybHNiMjVmZTJSdmZWNTdkMzBnY1Y5dklFVW9jMTlrSUZ4dGFXUWdYRzFoZEdoeWJYdGphRzl2YzJWOVhDQmtLUW85SUhkZlpDQmNaWEJ6YVd4dmJsOTdaRzk5WG50M2ZTQnhYMjhnWEhCcFgzdGtiMzFlZXkxY1puSmhZM3N4Zlh0Y2RHaGxkR0Y5ZlZ4dmRtVnliR2x1Wlh0Y1IyRnRiV0Y5SUZ4ZCIsCgkiTGF0ZXhJbWdCYXNlNjQiIDogImlWQk9SdzBLR2dvQUFBQU5TVWhFVWdBQUJ4a0FBQUI5QkFNQUFBQ01tY0NmQUFBQU1GQk1WRVgvLy84QUFBQUFBQUFBQUFBQUFBQUFBQUFBQUFBQUFBQUFBQUFBQUFBQUFBQUFBQUFBQUFBQUFBQUFBQUFBQUFBdjNhQjdBQUFBRDNSU1RsTUFpZS9kelRKVXEzWkVtU0s3WmhDMW5WZXhBQUFBQ1hCSVdYTUFBQTdFQUFBT3hBR1ZLdzRiQUFBZ0FFbEVRVlI0QWUxOURZd2t4M1ZlNyszdHorelB6SW1Kb2tRU05PczdPbEwwNDFueEtEQ0tGTTJhcEVIWXNUV2IySUJoZ2Zhc0xRTU9sRVN6RVNrSGtSVE8ySkZqR0lrOUsxbUlGVmpBYkN3bHRNNnhaMFhKaENYSTNyVklSd2poZURaeUFDZXk0cDJRaEVnWXBHZTV1OHFSeHlNclgvMjhxdXJ1NnRudW1lbmJHVjQzc052MTgrclZxL2RUOWVwVmQ0L25aVmZHZ1l3RHFYTGdON1pTUlo4aHp6aVFjU0F1Qno3RkduRkJNN2lNQXhrSFV1VEFsMjlobVRXbXlOOE1kY2FCdUJ6SU04YkttVFhHWlZjR2wzRWdSUTdrYi8vbkg2eGwxcGdpaHpQVUdRZVNjQ0N6eGlUY3ltQXpEcVRKZ2N3YTArUnVoanZqUUJJT1pOYVloRnNaYk1hQk5EbVFXV09hM00xd1p4eEl3b0hNR3BOd0s0UE5PSkFtQnpKclRKTzdHZTZNQTBrNGtGbGpFbTVsc0JrSDB1UkFabzFwY2pmRG5YRWdDUWN5YTB6Q3JRdzI0MENhSE1pc01VM3Vacmd6RGlUaFFHYU5TYmlWd1dZY1NKTURtVFdteWQwTWQ4YUJKQnpJckRFSnR6TFlqQU5wY2lDenhqUzVtK0hPT0pDRUE1azFKdUZXQnB0eElFME9aTmFZSm5jejNCa0hrbkFnczhZazNNcGdNdzZreVlITUd0UGtib1k3NDBBU0RtVFdtSVJiR1d6R2dUUTVrRmxqbXR6TmNHY2NTTUNCZkoyOU53RjRCcHB4SU9OQVNoeTQvM0lKSDNHOGRQdGFTdmd6dEJrSE1nN0U1VUNGWGJ4MCtlSkZ0aEszUVFhWGNTRGpRTWFCakFNWkIyNDZEaFRndWJxdnc1dU9GOW1BTXc2Y0xRY3lhenhiL21lOVp4d3dITWlzMGZBaVMyVWNPRnNPWk5aNHR2elBlczg0a0hFZzQwREdnWXdER1FjeUR0dzBISGgvT0Q3NkxocDhvSXFLczN2R2dZd0RxWENnSGpBNVpKK25qZ0pWVkp6ZHg0RUQ3OThhbUlwYnRnZHVldU1iTHI3dHh2ZDVaajNlZXpsMFBVREVaTlpJbkJpLys4TFJ6c0JFc1lrNkdTN3ZEVHpRck9ITnlZSFBsTDVYRFh4Mm5TZCs5V3JLZktoL1orQU84dXpsZ2R1ZVFjTW5UcnBuMEt1enl4c3VaU2NWV2VFcEhIaUczYzIrVzhEazJQL0RmWkd4QzZjMEdhNTZpVzBOakdDUnZUaHcyek5vdUZoNnp4bjA2dXJ5aGt2WlJVUldkaG9IOHVVLzhTckhBdW84dTRiN0FrdlpHNnk4ZEJwTjBmWHhyUEYzLy8zUFBYalhtNk94cEYyVC83Ri8vSnBIUzl2b3BucmNUYnV6V1BodnZKUmprWlVCQlRpd0JBdHNzMzFlMm1QY1R1YllNTjdnYS83WWRYM2Q2blJ1bUtVM2xqWE9pcUFCbjFuTzZHb0xBamJSK3l4Yk95TWEvTjJPV01wKzVJUG1abHlxOHNkN2c2SjdKYlE3V1BXOE90dm1RNmtKTjNDR3NSY0dIbGd1RUQyanJPV2JGcThQakoyNzBURTgxVE8zeHBJWXRwamhpbWx2d3VNeGM3UlNqdGRuR0dyNXZ1TTNXS1Z1Wlptb3dJQTFtcEVreXp1ZVYyR2JIRmRidXFndE5uaVVaZkhSMjZRQkhxbHd0MVJNYTZlWUcyYmxqV2VOaTYvOUhJZzR3N1h4MDYvNkVBZ0FZejF2bWpYNDdheXYwVXA1d05Fc2wvN2VYejlhTjQxbkxpdGxZWmU0dHFqTTRNcG5NRTlxYWhrclZaNUpsU216UFQ2TXFhSHN4Zk5hMEVTenVpNStnQnVrMEV6Qm84ZWxWeXpTeWYvRldodUI5cGt6dFVZUVVHSkhZblNMUTB4dHlka1QxU0lGS1VkMTFhZThqbzFRNXkwK2dQeFBRem0wUmp6OFdXUjRKUEZtdmFZeCtHVnBMV1NVM3BCUm5DV3c5SUxGejJXWW84bFdUa3c2ZVNxdU5TSXdmSVpySThaVllzcEZiY29JV2ZLaGpySkZDbEpPVHQ2VDNFUHFCZmNwVUJaTEkvQjRuWDZBSjNrUEU5K2l0K0o1NXlVL3NOMlNia1JsYmFoaG5RT0RKU0tGNWlHMVR2RHNjcHlOWDNUM2NhM1JPMk5yeE15bUlzZm5mRE5UOU1oU3JVbEJ5c25wRmJIMDg1YWJKRkNVR2MxYkl0cys0MWswK2JCRzJlS0xEWXFsOHFNTmlibStQVlFQUFZpakQwSE9tdjE2TW1Ea3EwK1FtUlJyeE15bXdrM0w0K0NxcGlEbEJFS1RvSE1pT0JHS3FGZjgxcmpBZ290bjRvNG12RUZUYmhTbnlXZzYrME1OcU1hQ0hLMll3R0tkZFlkQkh0c2FTMmM3eDJKbVcxSGpMRnVPMkRCREg3YnRpS1djbUp3RElma3BHVEEwclR0K2EvVEt3clBIaEo3T1pUb2UxMVJGUm05NjdEbEpZV2xuS0VyYklkKy9xUGR3TTBNYXlhUlk0elRUV2xkakcwT3hjMVNOUnl6bHBHVGxTMEs3cG9JSHNFRnJiQW0vS2gxVEJOYWtaTjl3ZUVROHhHSllVNUhRdkl3R0RreEhtUVdkczViZW1TOE5HYStkRkd2c21VRGh0RjRsQitib0tCcU9Xc3BKYVpxVGtwOExjaU5vamVmRkVucnpXdU84bWpHS0twYTZyRmV5cEJ3WDhBaGdCSU95VlIyMXJnNjNiWXgzM3NqSk9HTlB0V1lPZGViSEkwbzRZaWtuVm8xZDZTd3NCWFVqYUkzeklnSjQ4MXJqZWJYTnF5Z25Zc2tjRmlibU9ScndKMkgyL0ExMzlZbHV4eDl0OVlQRnlFM0sydGcyWWVTOFNjWVlZR29nSTVaeVlqcmI4Z21RQWx2MU53MWE0K0tZT1BaK0ttOWNibGNGNDVsYXR3cUhRL1dOQUVidytaTmRldG9wejRZOGZac1VheXhiWWZ2NldPalhpS1djVkVWb1R0bzliZC9vbFJwSmNiK2k0T1hqcVI2ZVQ5MFE0NnB0RGpVOEJEQ0NDMkNWN0h1ZUFrV0Q5akFoMW1pT0d6SFFWbEFCQngzOFVPMUdMT1drdEN5cjZlbEFSN2NVaHVEYTZOVzNrK0orUmNHci9hSjZJZ2ZQa0s4UE5id2VyREdBb0xhcUNxYnBGQzRBRURzN0lkWm9qaHN4c3NLd2c0N05uWDZBSTVaeXY2NWNkWGd6NkNLL1RIUkxRWVdzc2JubmFuL1RsTFdsSzAvYi9QeVF6bVF0ZE56b0hhd3BabGFIWFNZbXhCcXQ0MGJQV3hyV0lSaUpKbzVZeWtscE9zZU9sRFh1K0p1R3JMRkZVN2NmN21iSnRXWFFaVXBGRzZaZUdtN2diZXU0OGY5SVZNMU5oYkk5N0dOaUUyS04xbkVqZnhod3lQbHRPSGxvMXUveDFLaWtyTERHdnFsNWVDYkVpNUExN2g3R1J2cEtCR3pLQld0QldTTi9wbkdZcTJ5T0cybVpMVFlVUW1hOVdqVlFIeE5palQwN2tJV1R2dldCQmp2U1JpT1djbExhV2pKRU9CVTY3Z2xaWTRGQ2ZrbTdlR1hBMTZTbityamE3dFgzaHhxV2ZkdzRyNTZJKzFXbGpYaTlkQ2pjTWQ4MjVuMmM3WGxqeldlQTVXQ01lVWdtRE5SOHRGSk9UTUtCZk1Ka092VDBSOGdheituanNNU2QyQTArY2RjUDdOajVTVW1mazFHR3RseTQrS3R3dzF6MmNlUDVnTk03UlUvQ0R0ekJoS3lONEtVMXhIcncvTldxdTJISjBVbzVNZGxONlIvc2hwNytDRmxqWE5TNTE5OTI5TzUvRzRCZS9OWnQ3STYvUU9HZklwWW92NzJHekxQM2wyNzl3eHZqbjN5cjlNWlFSek5mKzc0QW1YMnk4eUw0UEh0OElKU205VDJSb0Q5ejIvR0hlZVdudGlKQnhFZXU5Rkt3KzZJZjhMd3JudkhzeDhwSDN4c2FnYitoemtWYlkvN1BIbUczL25hWElPWGFtUHRjNlZKUURNL2VYM2FJSmx3S2FiUGJQKzk1bjl3bW5ER2tPbnRmNlI1d3AreDdidjRnK1B5SlJoZy9NV1pTamsrNGdtekt0d1hhOG1ZMWQxdmoxTkdsMisrKysvSkZ0ajdMVTNmZGRwRzdXYzJMbCsrKys3YVNVTDhwdk0rTlRkSGZ0MUI1M2d5dzRYckFlNUo5UHE4ZjEvOE1ZNWRLN0xqaEEwMG44eVBzSXJ0R3FPa0orWnA1TUl1cUF2ZFAzRjltUjJ1eXNNNCs2bmtIMzdQQXJuVzlLZnRUQ2I0MitWdllVWW1mRmkzM1BjMCtEMjZzcTRiRkZSOEd4UHIxSTNLNjRsN0dqc3ZzV0hCWUYwWW1JcTF4VnNyaE9uVXRyQkh2T1NPa2ZyeGhvL3VmS0dEczZBMTJtZWVGUy85dmlkM3o0Q1BzYmJObVlUdGRxaytYMkNWMnZRdHZYVCtaaTM2cXdlZDIvWDNIeVkyVGxMOXdwMUI1OCsrZE1VWlFFODVDM3NjWDBTekNHZ243T3ZlMStDV3NVU2E1cnN5V3J2NjU1MzJCc2I5dGQxNW5WMzhpLzZPTS9WTHBkL2c3OUYxUjkxWEdYdWZsdjhHT1NUZnNGcU5ONTlodmVRZDYrVzh5NFJ2eXZkdG12MzZVN3FyOU1wVDJucStkN0FEUHljZllQNGhxMTJUUDdYanZQK25pWTFiZEtCaVU5OUMzcXM0SGlYQjhjV2VLWGYrZzUvMStXYjArMGdleHFJcXl4cGtLTy9tRnYzcjQ0ekFGaVlKYjQyTGx1OWE5V2Z1eEdIeTZtWjM4aFpmL05jWWFFazcrRDVmT3NtdGNlRStYeW14TlFaNHVWUndTL1phWEs3OEhHbVJ2ZmdwU0tnck5JTGR4a3ZKVDBpU3MvM0hlTXFnS3BWaVFJUXFiQlc1cnpEMVk0UjBjZjJSbjVtUEMrTi82MjJqMG1SSXZ2R01IeVNKV0RsejQ0c28ydjh2cmkweXNKVlh4T1k4cHRTTEJLaC9nMVczSFVxRGFqZXpHSDhndWFObXJPWm5QSjRkOXVvQ0dzcFBIcnZ6bWxvSlp2cjkwc284MFhOR2ZqV3IyRElPOTRvTldtN2xRa05yWHBHV09HNWYwQjA4VWhEcUJ0dUR6RlRsanpmdXR3NEx3SjZPc3NjMU94R0NlWnVxN0s5d2FIeElTdzJLOXJaSE1xUm55S2Q5TTZTZ3RpdEdLNzFtdXlkYW5TelhmWWU4QTdOSUpqaHNQZFpmOFMxVjhZaC9tR2lNcEx3cUxnSUpaVjR5aEZZUTFWc08vK2VDMlJtQ3N3eGpYQmVhaWRqVWdBKzdIV2Y1WjNRcEY1RXRTK2dnV3JzRnJWVFZZUlFRV0NHVkRKTkw3bHkraGgybmFwZURoTmpFbmMydFU2NTZyNjF5WnNmL2txdWhUbGl0SmorM2NkeDZIbnZlNURPc1dPOEd2TG5SQ1UrTjU5bDZKNjZBUHZWWnZFZGFJVC9Gc1NxZ25qN29pQVd0YzVMd1IzK0RTQzFWZWZSMFBqcmw2ZlV4QWhFdVhOYVYxV2h0UGwrb25sZnpMQ0NIc2NjVHFtaHYydWZGeGtuSUx1aFc0NHZnMVMzejdraSsvUUR6UjkwaHJ4Sm50U3hJS3FWVUZYMU91N3U2Sml0K2dicHR3SWIwdjBuQlljZitIRFo2QkVTclZxTEFYZVVHSzF4eTNERHpuSUx1QXAzVElVL215MzFXU3RmcC9rYkUzNkV6TVJFdXRpTE1ubmY0cmZrVjFuZi94T3BHbHUxQVdyZk9ZQUpYeGVPZnRqWllGRUVoR1dHT0ZWcCtaRHluZXd4cW5sZWpyWmpIL0lzSHhOMDJrNU5DQm83U25EMGFubFRXZUxsVTVKUU5mQzlyYXNBaEhVeXMzUUhLTXBJd0pueUdzVWo2NUd4ZTdsZisvWnlQR2tITGNhSlljcTFPa05XSWRWR1lPV2Eyb0xzNHAyMnZUUWdlbTYxaEVreFN1YXAxcjE3VDBxOVl5R29OaUJaTC9zZjhRZGUwRXNWVDVrdEtqL1NxV2lEVUI4VkEvYTN5U3NiOFR4SE5hSGtKUXNkWlMzMlhYdytlaHpCVjAwS3g1VEhhWW8xMzlWQ25ld1lyYkd2RVE1S3BFV0NQcVlJM05oaXhybVpCV21lQ3c4VENMbzZPMHFPMW5XYkgwZEtsV21mck1QK1pvSGNqaUpHQ1NEQW5PbTFBcFA4NnUvem1HZExER0IxYlJFeHJQOWIvcUwySWZyODhjREd4SEJtaE1nVTdCVTFYcGt0NktMYW1ZaGRGQ0JBd1VGS0lsZkczQ2RVN3JBLzlWR2JKV1dFY0NlaVVtejN2Y3FITXdGVnBBT2hmUUN1b20yeFpJM1dFOGtaNGZGczZ3OTA1OVI5MnJXcitLWnFRdVlNeFY1Z3FRQzg0MC9HM09FNWtkelZNL1FERG50c1lEVFYyWm1JOHZLRjVTalh1NlcxaXROb3RwUnN1eXE3Uk1Jc2Iwc3NieG5DNVY4Rnd0eHJBK2JjeThMZWIyTFg3M1hSTXE1WXFNZmd1OTgzeHpqbTkwNGN6YzBkL3NYTzJHeTZPdHNhNmwxYVpWMHB0V3l5VTQvSkxFMWRSUVdFeFZHU1JLVGltaUJxdXFVNGlCa21FeUlrdGE2Q3JpQ2k0Z00wSzc5S3V0VlZxL01mTWZSdUVIZlhvZkZRVVRLamVCeVJaWmZBaEdGQ0NTeFI2N2N1WEtnNCtXUXYzQVV2ZjlyYXFLUDZnSnJxTitRTW81clJHV29oakRnOGx5Q2tEdk5DY1dOTVVIQkFkMGtOMmF4T29velZ1VFEwZUFuUzVWcklpYkVpSHMwaWNvNUFQakJoejRHSFg1R2dOMGpLUThyemJFWW5xWjhjMDVjdXpSLy85cHlmbHdUQ2RTOURYOVdkNGF1YURlcnJJeXNFNU45VlhOWEt4OVN1UlFRbG9JZ0tSQk5JVVVraXI2M2VkS1VXSmk3d3kwV3hDQzArTnBNdGFWRUQzdGFZdjh6UDk2emFPWDEyVlZSNU12ODNIK1krZERrdzFHdjlHbkNiUld6Wmo1MEl3QUE5anlOMVVQck9OWlpwcldxUDdIZis1amQ3MkRNdWJ1dEVhSVFhMUszRStXRWdFUFYxVXorQzE3SWdsYkpRdEZuakt1VXRpUGFneVhkbzBuYTZkS0ZYTmlsME9LdUJFcGc4aGp0cmdnRXZhL3laVHlycHdwY29JOXkzR09OdXd4dTlKUXg0aUp1S0JGMkNhZDhwcHJFa2RaaTd5bjUxcE1oMG9ONEp3UXpvcHVpdStjTStYSnV1Z1lRVm1CYXhkV1lLVmtIZTFwTHlrRlZIM3NRa3VWa1lCUzQ0WEZKYUdsaCt3MXRjVTdHeGZRa2FwWThOUEEzeDhJdWpabHRUNkZuQWdvc0hNbWMxcGpWWXNOREZmVFJzbFlBS1MwSmtoQy80ZUdhQXJ1dUVwaGpRMkNQRmpqcVlwRnUxT3FXTjRwdG9pazMvdlFxeWJoVEhZZkl5bDM1QlMzSUZSb0xyaUlKeHVXaEliRXlISUN6YkVFS0RaQ21OdXlzcnd2N3pXYVlYRzhSeTRKVWdvZTA3N1NjWWpDVEJsRktnMTBOS3BzbFdzWHZHU2xaSG9iQzhXL1lQZnhEUC9GRVZuUTB6VGJBS2VrUzhZRWpjVTcyN1NNbHpack5GcUNncjA3L2taa085NHRiKzc2YXZLUG9FczFLcnZDYVkxMUxTd1A0YXQ5QVkvbVc2b2hySEZWSkRIME5WV0dXMU9CdWtydDliSzFDZURUcFlvVm1Od0h2MzJqdGE5ZlEwSGMxUGhJT2FjRWVFNU1QTFNKaXpzT0oxd24waHJCYzdtV0lhRmN2VVh5L1dZcmIxZllDclpkaHF3UkttZW1qQnJaZ0pPUTRRdUwyOEFCZXJqQzhQMEZMWkxocDlkNlJCVlVkMDFBSi9pSDlWU1BpVmdVMGJ4b1hQWmNjQ1hFdE5IMU45TnptTCtZNTJBUWUrRlNwelZDV1BzRStzMVh5MVRKOUtXdDhjQllMWUNxaWhIT1VqVC9IWVV5MTBYaWRLazJEYjN3MXZkVVkza2JnT1YyKy9HUjhweHl3cW92Y1BvS0w5bFVEcGp1UkZxai9tV2h1ZWZLVEhUb1RXazExTDBWTkxOZG5pcm1TR25SSEw1bCtUZTYvUWdUbjlrQnNob3RBekFhaXFUbWducmZZM0lyQTR0bEcwa3B3SmhvdzRYMmZXVlFNVXZ2TExtczFGM1lHa3VNdmFsTDFmNDdyTEhoTCtFNWx6WEN6UTJ1dWZ5Tkt0Mjd0c2FPWmJYaVhFaHd5MWxhQk00ZjZwcitUNWNxT3R4UThJVWc2YlE0RzN5SlV1TWo1VHpYTjF6RlEvNi9SVXJCTTROZVlIK0VwNHBuMmFSL1UzaXhxV0RPaFhzRXMvZGszNzRvanRvMTdKckZRY3kvVzRPU0didWRQbVVIT2F1cVZXaURUWjh1eGlTdjFUUjJEd2ZHYTRURmswUG1iQTcwUWxLb25BOU9aS0N2NjI5VUFmakozL0tYcVJ4c3pNRTZselU2aDFReSt3VnRqZWhzMy9RRk1RclpPa3Q3S0dYSC8ycWR3SGRQa3lxMktwcXZyZUFjWFBMSDFBaHBvdnRZU2JtMHhtbHZ5Z1VyMFRCQ3dKMW9hNndxcDYrMkN2YUxoc0pudDFEODdqOTdiVjFiSXpSR3JqamNrMUUrNjRGWlI4VDh1MkUxVGllcEYyUG8xN2JxWWlvNDN4U1ZrV0NTUDNxVnZINGxOamxsUFdJOFR0RlhzN2lMdjZid3psRlU0eWRWQVR5NFFKZE5nTU1lbFhmcHE4VG15NWVYR1pjMXd0ck1UcDNhbEhSQXkwUDlDaS9tdEczd2hMekFDYzRrZHlrM0xuN1JxMTRIcDBrVm5lamdXREZJK2lpc2NieWtmSUh6c0s1VVh2Snp3UDk5ckJFOFBlUllPdzFvemdaUHRUZjVmM1V0ZnJQQ1JXUjBVKytuMEhCVkFrSEJqdlh2bVFOOG54cW5kY2VVb0xqU010cTJGSFFuNmRQRmdLRkxUU1NuMDhXOTI0WUNLOUFtMWQwTU5xVGpSL1JrV3A3TUtteU5qeXRhdmorTVRmMk1YYURDWlkwZ2lSN2FNTkFPYStRV3RtVWdsUDI0UzNtTVIxekhHNklGc3YybFd0VVRNNCsvQnJ5Q3N2WVhUUGNKVTJNbDVRWEp4M0pmTHlubUFEdlJheU9VaVhzdmViWURJZTF4ZlBMVlJwN0NnWEdGc1RmK20xOHZHR3VFa0dUVnJoWjBVUWhSLy9PL0xoaHhpaVp4RFBnZnV6RTFFYURycmtKU0NES0tqS1J0S0F1K094VkpITHhUdlRHcjlwOWZZSEJhNHdzcmtoaTlUb2V0a1M5TTRtb291czJ0b0E4TVRKbDczd2g1NkdWSnd6cXNrYzhVZm12a1J1d3U5V1pMaWpLOFFvYXJxSExxNXBjcUI0QW1hSmFic3c1ZWcyc0VhK05ZU1ZtK2tKSFhVUW81eXNIK2Q2S3RFY2RjM0h0WlB1RWhQYjdIejFrKzBGOWlmdVJQamtQNmU3anhDL05yUXlUYWVpdGExMHVWcVBEOWl6cEY4d0VsellDY0M3Sk54WGhzVldXZ2hBeHFMeFd4RXVscFJoTUhLOUpzYUJyREpOejJIY1RRU3VqbGRtU04vdEJKZU4vb2ZWS3BOem0xQmxlTHVYWWxyclZ4VjNzb3BqVU1RSytYRU5JS3IrSDd5M1VEZ21KT3FydlU4NTVTbE1udk9kVDdTRldndFBnS1hnZElMOUY4YVhwUG1nSmpMOGcyWXlEbG1wajljc092K0JoUko5b2ErU0Z2RnovMkN6K3ZJMktINHVsNXlRV3NFQ2NiUEFuRzdQRTdMdjhiVmFLb245eWlUdEZFdzBILzFiU09XZU5xYnZ2UllRV1FCZEN4UFg4VjVhS0o2MW1JTzhZd3FhRjliem5XcWVhcWdzRDgzcldCZWZyblFSQy90b0lWdE5IMWx3OWpqZWplWVkzdVV2VDZkRWNRSnR2VVQ3RkdUTjUwQ00xWDIwTS8xU093eHJHU2NrZE1udlBCWWZvSEhUTUhMZ2RqSExwbFV6aGlQU3lMTmVIK0ZQUkdkYkZDczFQQlV1Z2FPKzZpTVlENWpWL0Z2bkp6bjZMSmxnUCsxOEUyek1sNnQ5Z0phTGZlaFVGckxrUjFGRVZjeTBMY2gzY2NMVVlmV3VaSys2cERLSDVYSmMzdEEyV1FwSjF0VTA0YlhWUENVeTVyaER4aWVhcDhGYlRZd3VOWndPZ3VGYjMrL24yYXRHSmZxY3BZRUEwVHJzU2FhSy8vaFFwMFRlekVPRWs1TDlmK2hkU3RzU2Nzalg5OEhETHV3c3hXaUY5NHlrUDVIN1kxbHVyNFBrVWVIMHpSS3Q3VWNOVFN2a1BoRzNaK0JHbHRINWlUYWV1aUF5ZUVuM1poZkE0bnJhRTZmWThpN3NDb1lvemp4b0NYaGdjUnFBTW8vZzZselQzL2lSS0lDcmJDOHl1YXBRWTJ5aHExVjZwQkhaNHEzLzV1YUFBdVlON01YYXJBdnQxR0d6Njk5SmVxZUFaZHI3dTlFT2xDcVV6UGc2VEdTY3BUMGd4RFAvNG14aFVaZllnWWRVZVBMQXlBclEzV3hmS0dlTjZzQVgrVlZBSStLVTJzQmNQYytlZG1nQTNYUnpXcW1yV1E2RUtkY0oraTZXcVpTUEIrby8wQWpuWDRFUG9NWTB1cE83ZkdqVUIzT2h0RlhOTzRYdEJkc25qZHpFNEEvYUdkUjNwYVB3eUI2V0lyVUNteU9mQlFBeWtBdmRIMU4zQ3RqZGdBNm0ydGhuWllJNCtlYm1nQWJvM1hrWE9YYXJCdm9CRXkvYVVxYlpyYXRJTERCTk0zcWRMY0oxZks1K1RhSC80MktnWVhIWDB3SS9lbElQdElUeFd5ZVI0WUFROTFXT1BCVmRVVXF2NjhTa0tNZXlwNTdtVnY4ZCtWajhRWEhGWFJyZ0ZVSmZaTjc5L3N3a0Nhd3Y3UWcrQkZKRmd0WUI4ODNJUUxyaGNKZlNuNHpFS1JnSUJ4WFlLSC8wY1IxemFlbG1YeDRmYlNZVnNMVk5TMCtjTGFOd0tWTW9zeGNNT3dMOURTdGZNcTdiSkd2dk1MZ1Rxc2tSL1U3QnRBaUpGUEFjN1MvSGRwdUxwb3ROdFhxc0xmMWQ1eU1VZ09OUFNDeGtlSkNaYnlnUnlPK1J3VGpRbjM2T2lEQldRbisxa2pwckVUVDRia1MxZ0ZsclVMVkZXQk9TQ1MxcGpiUXJLNllpTVdhY3pVa2JhTytKQmppeE5FMFdLUlYxQm4wUlM2dUNJeDlJeXk5UTQxMHNYWGwrL1lRblJxVlphVW5ONmlySXNpcm02ZUtzRFlOelhxL0ovZEdmZ1NLbXdvcEhqbFBXb0F4ZCtuTkwvUHJGT3ViclBsQzQ4Yy8wc3dTck9lZ1BqZFpZMHc4dkFNNDdCRy9yVGNCWU5zVjduSHJsTHJ6VDN3ZDFzRXovdElWVWhCcis3eWJmVGNBN29yVE95K2NZdUtGcWlPdU1aZHloWHA0aFNVdjZYSEtSTXdvYjFBVWI5c3A1KzkxS0d0OHRpYXYzQnN2dGFDUmcyRnRDQzZFMmNJT2x4bytvTkNPdlZJUXREK3pjQ0hVM1BRajRqcm5XRm94QXoyWkduTEtPWEJKZ0hDazc2bmNoVzdzRzFaVXVsampWSEV0YzNZcTVaaUFmV3RqN0RyMnFUUUFZZ0pPcVB6cGdCeXNxd0JQcUkrdHF0YWErTzk3T1IrdGxrUUN4ZU5RdDlkMWdpMFdqWWEwR1dOR01lZUJ1RE81d3JQdVVwemhtalk4SjQ0bGV3alZiRTJrdDhDY3ZoTzg3eU8vN25mL1o5Y0tXTlM1WHpEQjJCb3lDSkwvekQrQnFWajNEdjlyQkV5YXNnVnJ3cXI2cEdYeGQzaEhZVzdaNnl4ZlJqcWowTjJUZW1QV21tVTB2N05BQXliZ24rcVZCeWtFNG5sTFVKYnhCYytGenYvVGZ1SVJXT3lCS0x2VWNTaHpiNENhcG8rOG5YMlljLzdLdE54WElBVS9JUG5qWGF0UFoyZUV3UTI0Rm9UQ2Q1T1IyS24yTFVkNzZ2WFcvbzVkUVVpYnk1cjVNZFNld2JxZlYyZWRsbGpTN3NSSEFLajJ1UjNWNm40cGhLdnhGWGtia1YvcVFwckpUNWdxWDRCelN6M0JJNzRqa0ExK0w5eGt2S2NtanA3Ymljd0t2b1FNZmhPUDJ1RVBxMjJ0M2xMdUp6cjlLcXhlSnFSMEZXTk5kYkpXcWtPOTdyUlhlUXFXMVlWRisyaEx6OThCZ1EzSkpZRHZWOHh6eXc4S1pUNlBMNnUzWlZBMEQwL1JiSlkvSThpcm1uYVdNZU5OZm10cTZLOUZ3UnI5UFpKSWU1WUUyaFpteDhxdVlJVE00elRnMjhzYnFDeVVtWXZLd1MrbTlNYU1TWkNCR0E1RTdtc0VTdTNoYlNpYk1SVm1wUExwdWk2Sm9pdTk1T3FpT0p3RStRWElzZWNtdG9lejRnTEpaUWM5RDVPVXFZMWNUY2thekc2cU9oRHhOQTcvYXdSMjRUdmxOWjVTMkM5b0QrS2hlaU9udU9obkh2WU1xNENwdTNZVE96YWgyZldCb1RqeERTK0p1NmorNGRKWTE5aXEybWg2NmRVODJWaGUxQjg4ck13eVRhaU9vOGlycXJYVTNnaE5PSjVkdExsaUh3L1Z3elc2TzJUN0dYQk5vQ09wZVFpbU1sNXlLOWRYZkdFV0ZoUXdGZWs4T1cwUnRpVE1YbjVrUWpuMm9qOW00RURUeVNwcnRJY1Bmb3JhTnNVL3kyQ2dsSVZzU0R5VE1IaE5UU29OL0JQWGt1YSsxU1MrRDVPVWk0cTV2UzB2dm1HRXhWOThBR1pUTWVvbENta0ZHUnpJdTBPNG5vTHJTamlWSXBBS3NZYW0vYkNvT294RTlJMGlTOUlrdktxU3UxV0VyS2g3MURGaGtSUzFOeXByaWkwMDhvRHJHc2p3Unl6cHlwRHR5amlDbnB0UkVqMUpkV3NxRDdwdUd4dCtmaGpUb0ZvYnRPSyt1RFU3bVhUS2ZoRWxHTVAxMUFWWmVsM1kxTGNOcUFtNWJSR2JHVDBWT25OU1k2NzFrYVFaK0RBQ0VXTW96U24rY1hmaW11Zy83NVNSYjBaZUZ1U1h0clJWSit6c09uQ1pJbHhrakk5ZGR2VGF1RWJpN1hyOEpWSFpLQXlBUnV4QVV2NmFSTEV4blIwaThmdEZIdHpKMkx5RTU3SUx2OXRpdUJWdGxidzZvdStXdGo2bHE5ZytBelVaRnRnNGNHTXJzU25sL1M2bXRBUHRKRUF5cklJQ2E3K1J4SUgwOWlYTUFmNnVCSE9naHc1SmkzREFwRGd4dzZkWHplZFZLMGxod2VEdFZkYk9lcEtLSHlEWHlTQWZrT1crUDg3cmRFckdydjJxbktOY2xyajQzb2dmRG1tSGh5bFlFV1hPcTdKOGZXUktvZXMwelFGeXJuNW1zMENEM2NFcGloQ0hmOCtSbExHQURjRjRRWFNQUDh3b3FJUGZpaWQ2MitOYmExd1RUUGZpVTFPUTJLWWZoZGpLM2c2WXh0WlRGbEhsL0VyVmovNGtiOWhWQkpQN1Z5UW9IaU9sVkt5QU1yWlZWV2p1a0Z4VmdVdTRGYWFyODlsd0xoMVVXY3RTazNMVy9QVEVFa2MxcDVOQWNybnBCWFpxS3JSV0JvT1dpeC9Eb0I0bkZCYkhMSytuNGVaWXNjTmlRdEJSMUxYQTJXdkNIeDBWYVh2NXJaR0xObmtKM3BsU2FxMVhNSjFYSkZJTUJBOU8xWjA0TWhSaW9GSU5HaFhseVBvSTFXT3ZFb3pmQTA4Mk1lUmh3NUw4VHJkcTZRaitmOHhraktjNWcweEFDUldIQ09KaWo0NFFIbFJKWHpXYkVGV3RVTDE3T0JBWGMvNm5ZMHlkMFZGZUFhQzFOZC9KU1RnSENuWGVhT0w0Vk0wL2h1UHI2WkdnOS9MU3RiVmF6UUxxT1dCVDhxcWYxb2owUXVXcEIzVjJhL3JUazhocnFMWTNzSmc5MlNqc3BhRXBiakE3WE13WjlxR0ZielpFcWtzejhpdmhQSVUxcWx0Y2VkdnpxeUpGSzJSc3RqOGQxc2p0c2ZIWFFrMEoxZFo3aWhRcTRJV0hUeGkyajlqNnRIMkZpNkZDTWtqbjFIN0RyZFVxUTgrTDR0MGpuMVRhS3VPeG5uVTA0b0FBQXQvU1VSQlZLUDBRUE5LZ3lkT2pJK1VvUVJkUWI0OUIxcmppWW8rV0NCMnNtUmlHbmF4U3NQaUd6S0ozclRBK01mSXBNQ2ZlVTdJZEZhS3RRaXAwNldmMy9oSFpCYjU4bnVvaC9BcDJyM3M2QWZMN0k4SVlPQjdpMTNqYmJFTWwrVldibEUvcGwya2FVSDg3cUxxb2F3VTN2dVNhTWRMVHlOdVYrS1paYkN1aGtDRFZWY20rSTVwVHhTQmhDWllRY1hJZnJxQy9JcXE1TGNwYTkrR3B3N2ZxNnBtU2tRSmJHUkRGSjZ6N1ZhQjhadmJHdmtYQ2Q0aW9kcnk0L0pBcENrQlZZUWZ2KzN6TGdsWDEwc2p2TXBRS1V5UC9OZ255TkZ4U1ZYaTR2L2hzRy93KzhIem1LR3hOaGIzZUU1ZWRVdVBxQ3pwZlh5azNLRXBIandtdnRxakllVzN5NkxUZndsTzg1T3lpQXQ5ZEdVVk5HNUxBL0ZWa1A5dzR6eDhUOGorelIzcEdzR2pNdGM3RkRTaTlOZlhlYnBKTXpiME1IaUs5aFM3dW82VFFOcVJxYVlEM0VCd0E4MitkSUlsNWpwdi8xUGtKR0dCT09RRlhGV2dJT3BhWXZMSDBMNUN2Nnh4T25HempLODQrZlpMTlhKOTRmMmhoRi9BdmNidnYvZmFmOEdOajczeGl2ak94MnZGeDhhUnY4QXIxUVVsMzZHMDV6Mmhma0kxMzlaQVBWclJkdlhhWk9CNUtzSWErUkYrZzlmL01IZk5aNjc4bHhKNlBucnN5bzczbFN0ZjQxUzk5WXI4VWE0dktyaFBhV3ZqclVLbElMUXV1VGhUcGhpRFE2cThMVjAxd2M0NU1Mb0Q0N01XZm43MmFiaFA0RW52WXlKbElXL2xOb0JKNUdsWW8wSHBscFh0bDF5RWtuRGhRRHhmdi9JcVN6Tk1vMFV5ZmN6NkpnSW5mcmVSdmZtWFg4L2VCcldFMmgySkx2Rjd2L2ExcnRBc2w5akpMLzNCdzIyMnJRclFZZ1BKU3BtOXJFcWc0QnpERksxZXFuaVFXNVBiL3JQNDZiV1pFc01uTGU3Vml3S21rejJCRUFscnJFVjJiZDNMZjBzdkRqR0lxK0VyNTR1M0hLOUQ2U1dGTmMwbDdDVkZKK0NKODdJNjV1dm9obXpQLytjN0o3K0EyN2ZyN1B1bzhFRE9KMWhpMkl0VTVydEhXV091ekk0Ky93ZGYvamo3RTREejdhMjh0cndXSmRYbTRSdU0vZWVmZVBoZnExL1lKTnpCVXZ4YVQ2NzBKb2p6NFk3bXBoZVNLclVXOTFuKys4eGZLTDBUc3d4ODI1OTYzbFJpSXUrYTNLQ3A4WkN5ZU1yK1VJM0J1ZU16cTltcEk0WGhXdGVXRTc1Q093YXY3bHVJOGRvVXJ1ZTZhTFJjdVhWZnRHMnpOKzBna2Yrckw0c3Y1cXlLUXZ5Ykx3dmdQNko4K0JTdHFYNjRzR3piQ1lFbnUyT0JWYjgyam1VZnY5cXRkUnRydUNUVC93T0MrVHBqbHhsN082ZWNYekdJUXpRR0R4QmM4TXBrTFIxRzZnYnViM01zdnlGR0hQcW4zWGNPZzhqanByakxmN01WeE1CS2pPa2RONVlWeGZ5Nno4TTFiYUtzRVNJUlhmOFFCNTFsRitWdnhXT1diaDN4MzRxL2ZMRkVXM2tZSXI4K2FuRHlWS0IwQm1OOVN2eGFQQjVsMGxkUXFycENKTDdFV0Zsd0JUK3FldEhZTUg4eVFPM2UvZkFKYytNaFpmRmlRRU9SM3NhMFkxK25SQjlzVUpIT3NZdTM4NStjdzNYNVlzU0sra2x0VXcvcFhaOW8vTzNYM0huODM3czJ6aWZZVlozUC82aytHZ0hJNGkvZWVYVFByMmpZc3ZURkVPWFlsbVhZUVhWRjZrQXRYN0o0c1AvNVg3eU52WDJkdC8zMlowdVhQcStSRkdoSkRPN0NQbkFYZSt1ck5WZ2M0bVkrVzNyM1BnK3lLQ05rZXUyQ3lUYzBxdE1TTGIrUkxZTHdXeC9iTUswMFdudWphNnFqUFZYTWlIaUUvWjdYMmJBUjZkKzd2M1Rwc2ExZ3BiOVV2TVB4OUgzczBnOTgwQVlNU05XdVF2cDlkeDVKOWNoOTd2akRWdDBTVFRGVzJRREpjWkh5TFgrWGlIOUcvcDQwWlUrTFBoQmNXdmVLM3ZEd0h0cVJIZ2xGQ09FeGJraGF0Q2UycTlWYVZvenlmNVg4eXFoZG1PZ3NBWEZ3QWI4ajJtQ3plS2dvMVNZZmgvSnpnZGswMEFZK25VVHIyK2phUUpGcm93MDBadW1lM3A2a1F0aTRTRG5GMEVnc3ZzMzdkN0VMNUJpR0dvZE8wYUIyRFFubE80SUxOUnl1b0VVdWtyWjlGNzRFeEdHRTBscmc4YThwWExvVEYrNWcyVlJFcUZUQmFiVCtqYTZGWlJLdHNVa09rVFdPRVNhMUFNNVd5akdpRHlNY3RBTlZUNjBVVkJYK0lXMVpBd2R2VGFSb0djTERuUlFnS3ZUWFQwSTkwUDJBQWpWdHY0UG9RNWFFdUdtbS9HcFl5N2JDMGlibjFZYzFJb1BPSW1wRU1kQmVFSWtGelo4QStDUmFZOWwrSENrd25oRmt4MFRLTWFJUEl4aHNIeFMxZ0pKSEtUMENIUnNDamQ2L0hXZ1ZMbEJjcEU4L2cxWWQwSWFseklNbmY4Mk5KZ2x4UFZyUzRiSktzK0ZieVJVM1ltZHBuVngxWnkyc2NWOVVUUE01YW1vMUREU0IxbWdGNmNQakdVSEptRWc1VHZSaEJLT05SbEVNUkdBTzlHYkszd1pLTEF2MC9xMmt0eEs3NUUzNm00d2tWMVBISjdBWUtIbkpqVE1KY1RVNmJvU25MYzBHUnpSOTdTdlk1NjcyY0lNMVBBOGozeERsUFQ2UG5Ec1VhZCsvQ2JUR2hmNTdaZC93QnNtTWg1VEo3Y09FdWlGSG9SM25ORU1qRnNQODhYcitLU09IL2dBK2RJb0dyVnRUZUdyc3VvVnh0TW1xMGdOd2FOMmJpUWl6SnlHdVRkTUtEZzRia3RhRWEvdEN3TG4zRHhoR3ZpVkt4RjYydXVhdjVia0p0TVplWU00T0QycTRrdkdRY29Mb3czRERqV3pkMURZbFFacitSNloxdTlBcG1uVXFnS040RFRmcVJFR3RqWGh3QnFkZWRFQVk2Q1VKY2ZxNEVRZUQyeEtQOVFSc0FMRXptKzgvK2RERVd1THpXck1SUmpHQjFsaE1kOXVJUi9IbFVlcVpTamxKOUNFczFaR1V0QUtuRXhWUzBRQjJSbkIwaWxhZ2cwRCtTZk1JS3duZ0dDUzdvSENMRi9qT3YreEdrWUE0c0p5SWJhbUpaNTdPVGQzSXc2WDlkYk10bDF6TVZpdDRjcWtiYmo1NTFwaFBNVXduK0RNV1V0WWJsaHNjR3JFMDVMeWYwWWpQNzFpMU9oaytSZHZWSGg5Y3ZoYzE0S2dUaTNJaHdqTUhlSjZ3dXVsRW40UTRlTHp5dUpHL2pmR0NRSGRBVDJFN2tUc0twMzFQNHdRQmRxVlhWMmN3OWhsNlFOUUdtanhybk5JaEFuc2NJMHlQaFpTVFJCOUdPSFlibFlsbGlOS0hJcHpPOENtYVBpS1NYMjIxY1k0MDNlVGJzTVhLOS9Qemd1QnZBYWlPa2hBSHM0WURLYTU4K2FpTHhFSi94MVBDK3Y3bitzWTA1a1h0bDA1YVdCdVhwTDM3V2svZ3ZuR1g0bDMrZ1l3d053NVNUaEo5R09IUWZhaHEybk5ETVo3WjN2UFZVZ1pMeWdXUjFxZG9COXB1Y1o3ZUlMalIzK2Z3QTB2NTVsVThIcnJsK01WMDBWOFM0dUJncnhLUlQvSTNXdVpMUi90VUVQZmVwcE5XWjRNNlB1cjROTnVjZzFVVzl4d1FrN2MyVmlLaVo0N0JEVmcwRGxKT0VuMFljSmluTm9NcVA2Q0I2TGZKZFFFbEFDVjFWcCtpMWVoWUh1OEQ5MVZPUWpIb3ZjbnVxT0JkRVN4aEZYcVpNSUFxQ1hGd0lOZDA4eUo3NjMzc3FLSHpjUlBURVp0cjJSNlBOOTNQdjBYWFpvK2VkQjBvSjg0YWwvVjdhNDdSaktob0RLU3NOMXczT0RUaTR5Q2UyMytkTE9BUGpXLzQ2blFtZklwVzVjZHA0dEx2QTJ2b2tTYnlIeS9kc1FHTXYxWjZld1RlMk1UOWp3Y3JEQnZRai96SExZa3AvNjN5OFIrdVIyRHRVN3lvOTU1T29LZnZQUDVaVk9RK2RIekJWVDl4MXRpTGVEZkJOYmhCeTg1ZXlrbWlENE9PTWthN244YWJTZjhFTHhCOEduSExOMFRBZzFTcHdmb1VyYUE5WEJiaDNVYWdHbjF4WE9MTWE5VnJReEpSTys0T2ptSGlyTkgrbk96Z3d4NjJaZHBTVGhKOUdIWXMvZHEvcjRRVmcvOWQzWThFbzFWVG42SXQwYjZSbm1DSWJKcCtSVXppOEhZMDNobThmRnRwNkgzdXZPWHVKaDdlcEZualFsKy9QUEh3QjI2UXNwU1RSQjhHSGtPY2hvcy8rY2hGdkFmM3YvdkFoazdSY3ZUeVIvTUc3Q3I2RU1hcmJqeHhSZGZSeFNsVVV2V2tXV016dlNldGlDV3g3aWxMT1VuMElSYTlLUUx0U25jVVFSQTZSZXRJMzNXWkhlK2syRzhzMURlZXVDbDY0andXZlg2Z0NiUEcyYjZucS82aHBacExXY3F4b3crcERqSWU4dkFwMmhOeVRXeWY5YTRSOUo4QmNVMktZY1ZqbncyVlQvc3MzZTVzK0hUMTJ2QTRSb0loWlNuSDNaZU9aQ3pESWdtZG91VXJSeHVlOS9QOGsxZG5mdDE0NG1hSGVISlRQMzl3NW55TFFVQis2RTEyakU3aWdhUXM1Wmo3MG5pMHBnd1ZQa1hEZDNHK1htWnZTcm5mV09qUGdMaXZETzZmLzh4R3JFR05CMUQrbytOQkI2aElXY29wNzB0SHk4YndLZHF6ajdCM3YzcTBuUXlLYmF5SkczUlFXYnNBQjlLVmNzcjcwc0JZc216R2dZd0QwUnhJZVY4YTNYRldrM0VnNDBDUUF5bnZTNFBkWmZtTUF4a0hJam1ROHI0MHN0K3NJdU5BeG9FUUIwYTZMLzMvT3lWV1lyQ2xLM2tBQUFBQVNVVk9SSzVDWUlJPSIKfQo="/>
    </extobj>
    <extobj name="334E55B0-647D-440b-865C-3EC943EB4CBC-12">
      <extobjdata type="334E55B0-647D-440b-865C-3EC943EB4CBC" data="ewoJIkltZ1NldHRpbmdKc29uIiA6ICJ7XCJkcGlcIjpcIjYwMFwiLFwiZm9ybWF0XCI6XCJQTkdcIixcInRyYW5zcGFyZW50XCI6dHJ1ZSxcImF1dG9cIjpmYWxzZX0iLAoJIkxhdGV4IiA6ICJYRnNnSUVVb2MxOWtYRzFwWkNCY2JXRjBhSEp0ZTJOb2IyOXpaWDFjSUdRcFBWeGlZWEo3WEhCcGZWOTdaRzk5WG5zdFhHWnlZV043TVgxN1hIUm9aWFJoZlgxY1ltRnllMXhIWVcxdFlYMWNYUT09IiwKCSJMYXRleEltZ0Jhc2U2NCIgOiAiaVZCT1J3MEtHZ29BQUFBTlNVaEVVZ0FBQTRFQUFBQjlCQU1BQUFEdVBIc0FBQUFBTUZCTVZFWC8vLzhBQUFBQUFBQUFBQUFBQUFBQUFBQUFBQUFBQUFBQUFBQUFBQUFBQUFBQUFBQUFBQUFBQUFBQUFBQUFBQUF2M2FCN0FBQUFEM1JTVGxNQWlhdTdSQ0xOM2U5VW1XWXlFSFoyYlVmb0FBQUFDWEJJV1hNQUFBN0VBQUFPeEFHVkt3NGJBQUFaWGtsRVFWUjRBZTFkYjR3a3gxWHYzWjNadmYzVHV4ZUhoR0FSWm9YQk52ODBGNHhzY0VBekNZaVlMNW0xakJMYklkbkZpczVXUWpTSGxlUk9LTlpzU1BBZENhUVA4aUVvVXBqREJBc3VvRmtGQ2F3Z21CR09GSlFJemVJSU8xYkV6U1pDaGc5QnMvakk3c1ErdS9qVm4xZFYzVjNkTnowemV6c0QweCttcTE2OTk2cnEvYXBldmFydW1mRzg2VFdlRmxqNitIaTJhOXFxUGkyUXE3N2FKK2VVYlJ3dGtIOUx3S1lJamlNeWZiYXB3OWpoRk1FK2pUV1diTTg5OUFQUFR4RWNTMmo2YjlUaUZNSCtqVFdXbkZNRXh4S1dESTJhSXBqQldHUEpPa1Z3TEdISjBLZ3BnaG1NTlphc1V3VEhFcFlNalpvaW1NRllZOGs2UlhBc1ljblFxQ21DR1l3MWxxeFRCTWNTbGd5Tm1pS1l3VmhqeVRwRmNDeGh5ZENvS1lJWmpEV1dyRk1FeHhLV0RJMmFJcGpCV0dQSk9rVndMR0hKMEtncGdobU1OWmFzVXdUSEVwWU1qWm9pbU1GWVk4azZSWEFzWWNuUXFHZll3VzRHOWlucmVGbGc5dUZ6akxIZTJkUGoxYXhwYS9xMndEenJYVGg3N2tMUTYxdGl5amkxd05RQ044SUNGZmhXNjFxL0VYVk82eGlsQmFZSWp0S2F4Nkhyd2N1aGErYzQyakN0YzJxQnFRV21GcGhhWUdxQm9TM3dHU3VpVk1rUGtkSklFWkduOTdHeVFERUNFN0w2Szd1Um9wRzIrelBsZ2RXOTRkTEFvamRlTVAvSm82N3o2Yk94NjZlb3ppTkVjS20zUWJWa3ZyUDl6Q0xIS0ZBN2RZeVZIMkhWeFdzREsvZlpLd1BMSG9QZ2MvODNud3ZNc2ZMQXhzeXo3dzRzZXd5QytlQ3hZNmoxeUt1c3ZqeDRGZjBoK0d1LzhxMG5IdjdFNExVTUsrbC8rWTl2dWpPNEJEWHR3OTFobGQxbytadnVjRjAvYlRWamxwMjBjaG1UZlNHNEtOYndsektxSGlGN1F6UmdIUm9YMmRZSTlZNUUxZE11Z083UXFuT1JBSWl5WmMzaEZhNmFkT2JVWkNBWWlHN3Y4TjRWWHN6Y3h4RUxMTjkyK0VaYlplUlVXeUdrWFVYK1R2NVFHRmRQUmJteU05YktseHNxRnVrTHdmek5UNklGeHpnSDMvNmEyOUdBRFc2M0JiWm5tKy9HcDVlRDMzcDlyMlhWKzVXekNoTUprY3JZSEI0SCtYKzBTUDZ6bkVmMFJ0Qyt3Y1RZMU9YWkVuMGhDSlZmUDFZRTBZQ0F5ZWZpZVRaNDRKM05OQW5jUlVRZHBkOEpGejVmQlNRVWplUS9XMFB1b3MweEI4SkppN0FNQ0UyMmVtRFMyVlA5SXBnL2ZnU1YrK3dlWnUvbENDV2U1ZTZ2RTEyNDFnRFJscTVsRVJEdTZSd1NKMURjc2duM3EvSElhY3ZEYlFmNlJkQTdaZ1I5UGNaUGhFYXpiWllia2hhQi83emxBMFd0QzRCbzNkUy94Tmdsa3dQaUtMYnpYbzZaZWRjSjg0YjQrc2hNQ29JSWg5WEdkZmxZM2Vpc0FDb1cvcytIRWZRYTdKUnQvRHBqa1ZsYk5RRlprZTNhdkZuVGZTTVlIR2NrNDNrWTFkdXFielV6ZkxQMmRuaitwakQzakQzaHVGSyswSzFiMmhmWUdTc0hRTTM1dUtRWGRGeTRNcVJoSndWQnVDbXlVRDBjSmRpVzZqOGQyYVdaR1pHdXdnLyttelBNV0l1ZUVJZ2ltQXNmTjlkWTFIRlVYcVdLNW9iYVMzamVwQ0RZWVRya1h0Q3prWXd3d0gxQUJHZWx1V2VqVFlnaTZGVmZzUnFGUlR5TUtNNld2a2ZsN2VHV3dZbEJzRzQyVUt0UmowUzJ5SExQaDk1TXV2eUZQbVUzcFNlWWl3SVNRN0JyNzNuNG1WWm9YZlM4VFYxZUNrZXBmVGJFc0UzS0hHeVk4TnMzU2RPUEc1UnF5S09VdGZBeUYxOEh2VTA5eDlBeUxPTGgzUVVRcERucXN5RjNSNU9DWUkyWnBhbzRpb1Z3SU1ocDhHeGVieDMwVHVoMURoWHh2VVlyWEdGN1grVlhtVmhadzZWWmNoT0NvTmtPb25PVnFQMnlkSGdvM21VMWpwbzZyRkxxWWw1MFZzZWE0T2dBd1VpOWRZcFZGMmlYRkdIb096c2hDSnJ0SUhxMk5teW4rN1pPbEhHV3NRdjhNbUdWNG9naHVHcnYvK3F4N2FEWDNGS1M3V0dINDRRZ2FHMEgrYUl6cE9PSkF0TjMvZ1MrdWlRUjNBakx4QkRNMmF1YnZSMzhPeW5ZWFZjS0dzTWVNVTBJZ3RaMmtCOGsydVlKbS9Kb2MyckNyTVFhRUVNd2I3dk5tdGtPK3FycGhUM1ZVaVpqbzhIYlBTRUlZaVdoTHZNOWJEUXVHTHovMlNRcmN1ODJFOXZQeEJEMHJLTXllenU0cWdLeXQ3Vmt6ZGlYWm10Q2pIdENFTVJLb3JyTWUxQ3o0SXoxNkNnSlRYbXNzQkE3Um9rakdMUjBRK3p0NFB6TG1pd1NNOVlSZDdpazM5eUVJSWlWeE9wUk1iby90c3FPTk5tVjQyZ3pkb3dTUjlCcWg3MGQzSXk4V0Ridld0Ty9lVXV0OStzdFMwTmFNaGxCLzR0M3NjZS9zRXZDOG1RNzkyUncvazBSM2QrOHRmWjRsT1o1Y1dydXRlZlloei92ZWZkY0lwMWdDaHlpdWhpSnhkdUNoOHA4MXRteFhUTjZKR0pMSEdXNkszMWp3M0tSc3JwVUJQbURpNVpxVm1GYkpkUnRqWDB2VEVEdWFmdzFVSTBkbG1NRlRrSWlnb3NsMUlzb3VLWEVCSUo0dG94SSt2Q2lyZXB2K0Y4UnNkNGJiWnJueGFuL0VyQ0hucmlMZlhMUlRLQmZaT3g4d0E3M3dxSjI3a3JBenJPcnUxaEo3QjF5TzNwT2JJdjBtYzYvUGhBZDFCLzlXS3d1UElFZmFveW9MeFhCRHVwUXJmS2pHOGxLdkNzejdPcm5QTzlkdFQ0RDdpUUVWNnJzNER2LzlzQUxNSitzbkNPWXIzNjA1UzNheHlPZTl6WjI4UGVlLzFZNzBvQkFuTHJJWG1xaDRFcFEweHVnK3hoN25lYy94UTU1Z2ZOYVplelB2Rnp0TWF3azF5eUdOZjFHZzBYTWx2U0xHanBLYkY5ZlExc2dzUlE5VTNPY3F0bTZLbVk3T0tmUDV4VkRJZVpPL0txMHgycWZpMzBTZ2cxMlVPYVZYR0hxbFJDTzRQMHZjVGpoRkM3eEluSE5LdnMvRThMQlFTMGNiQ2dCUW5DWk1mR1ZoSWJEa1VqbGZvbDlCS201QTZ3ays1SWtQaGVzSXphTG5DVjVQK0ZtN25ZTkNhcldCSUx0bnV5S3haUTZCd3ZhZytSTDBZZjdwZGhvbUdjZmtJcWJkSFJxMWVOSUppQ0lGcTFMN21kN3V5SUJCUFBCUlo2RVM5TVR3cThTWDlONkdjdEJYZFl0TFJLQ1hTYjlCT0FSZW1WOTl1YzlLbENyL1czNGJIK1c5V3kyQWRLUmgwc0N4cFBYMXpQSDF6Ty9abDQ3STVGVUJLdktZUDdYaXJHR0IyWk5VYnFLeXVEZXZMMXdVRVh4ZXdLQ1ZScmxLN2NyaUlEZ2dtcDUwV3hvMzBsOGVCWFhPQWdIdGFNM3Jnc0tRUUMzTHR0VFRUZ2xnNW0zQkFmY1VNaWxRRlJLRHZ6WkZqL3I4ekE3amF2YTQ1K25mNndQWlRudWZlWWNBeTRWUVRQTm1UWVhWV2I3TTBITDBTSTdFOWpCRy9ISDcyNEVjZjUzUnZMV21kcjdBTUh1bnFUQm9CdEtVNDM0OENxdW1ZUU9ha0hiZkZuQlV0ZmpvSjJ3SjJvejlZcDk5R3dmeXlNMVFMVUROLy9MdjVSMHhaajlnTDBaeEdYeHZrWjBpMlpVeGxQRjd5SVkrTDA0UFEzQjBIeVB6Q3NjVHV5RnRjMHJlM3VsQkt1RTJaT2UwVGQxK0Z0amFwVUsySXZubFhCSFZ3dWt0WFVXR0UxL0Y3Vm1YbTZSQ0tMdEZFZWorenZSZGlHL290K1NCV0o2QUhCR3pQY3l2NGV1YjRBcDRZcVlqUy9sSCtTeWM4S05yMTBMNlVuTnpQWitxUFRpYnB3bERjRVp0T3B1UEZCKzRzN0FXbitrRHFBYjZYcGJ6UW1VbU9kcDhRb054VGtIWVYwMWcvbUJrT3cvYWllTHIrbXAzeVErS0VSZ3NpWDFPcWkrTmFCS2dnM3gwQm5KemdHaHBLS0ltemtMQlpZaGo0SjhwTjhRZ0dkSXVrTENYSGRYVXRiRXNxQWYxWWxhci9QeDZlQjlHdzZXTkFUTmR0Q1BSWjR3V2ptc2p0NXlBKzZSNDV1dmZldVdoejhTWnVZNUo0Sm9EeTNXTUlvRURnaVNtZkgrNmltaENmZ1Nxc2hUeGtXRnpZVUUveWhzOGMrNm5zaGM4aG9uUlM0OGx0K1ZKR2dNVFNPTXNKTVJacytiUlFzVExqSGhMSUc4YW45bG54T2IyMWJSZ01rMEJESGdxZk5McW1KZEMzQnE2WXhJMU5pV3VNZUdOVHJ0dEpNVHdiWkJxMFR2YWNJK1pEVk1EbGtMNmhjMkVGVjZGT0M0cUVCd1QzTEJZa0s0YXJXOWhKMUs3SUlia2JHcWgvZGpJeERySUNnbTFSZGhUajBnYUd4eDl1S3B2b1JTbWRJUXJCZ1BzbWlzSU5VaEp0c0lLeVo3ZTIvNHhHNm94TDhMRUZqbXBrSW5na1h0Smozc20zWUVMOFRMU2dnSW5oSEpEa0VwY2wzRjZxTGE4N0t5RG5hQTBoTlMvS05nK1ZoTnhFeW5NOFR3bUFCSHFGNHQwWGVpb2hRSEo3bElUWHoyTGV4a1RFT3dZRHhJTGpyakVETHNoaFV5bHkwa0M0eDRLc3pNYzA0RUdjRUdoaS85b0JRQ2dsU1hSckJwa0FaVFc5blZTWVg0WDBsRlhvN3J3ZUF6cTFOZHV4bkZ3bThZRU5SZXJDU1VsQXhESWxpOEtOU3N5REhwV0ZObExSaysweENzR2creVNPNlVWTWNSaEtFK3hRM2t1SURnWHB6c1FoQXVPRHEzK1hlSGRPMGF3WktGdEhnYjVCVmVnWk5hZ003M1d5M0RERE9lczJKNVZOMUVWQ2dOelYrcmlEU2RuSUJtenBiNFY4aytJM3FVMDlWa1V4TGlUa01RUGQ5WHpLRjNMemdOY3BaUk9LVUs5b1B2NDZuWTVRekJuWE1RODBPanBkWFF0NzlBMEFpQ2IwY3pjRHVMdU1aSjdZREtEbitpUmV5YnhyV0kyVnVtQXJvalN0T05xRVFSRHRnMjhRMXhQeUYyT0t0NmRSaENWUXFDV0M5VTJJQm9pMWIyUDFCMXdidEVhdTJDSFJncXp4Y3F4R0lTeXN1TWF3NENJYk5Ha1F5ZUlWQVM1ZHM4emR0RzB3UlpUQ3UrZzNGVE9TRDhvc2RlVFlwY3VhSk9TQStuaUdHaXQ1Q0ZhTk5IZzJCRjJITTJ1amJKK3JOOXBpQUl1NXNZVUlYNFBrRVJSNUMydGUrTk4yRGV1VVM2RU1SazBtaHBQUTRFT1NwbHpjQ25KcmU1bThxWE5YR3BSMVBJSHVydm4xZERjMWxxYkZ1VHRHcXRtYUswcHYyU3FUNTdxaUhzdVJCZk1iS3JTa0VRSUdrcnJXMUwxVE8wV1k4anlDZUF1UFppclZqVHdibGRsSUNnSHY2YTE0RWdIMTFsemNBUjVNQzdxZDVpb0ZvbWZ4R21vSExxMW1zWlBUSUZpQ2tVUmVoSjNrZHhqV1lPeW1IUWlhNUUwWmIwazA5QmNBMWRKQlc1RFprNmNVMVJJQmRaQjcxN2xFa2lYWVpBUmUvU1NSKy91eERjdE9ORVluWWd5TmZMRnBYTE41T1JjMU05N3huVk1pYU9GWXNtUURNYTdGVFZmTjBNdzFKNUgySUk5T2tDVVFhNHE1L0ZxR2o3RHFDRFJGSVFyRGoyQjkwelNqQWVpM3JlZnlwRGxVazUzUXRPenpNTWdxamVnYUNiaWxaY0thbW10WkM1SG9LSW5OazYrUGlGV2IwdlUvUTVFZ1RuNVBMVVBXSUVDekVQZ3NCK1IvWEVoYUFudm9mdkNMZXJPaUlpTy9DN0M4RTF4NmpCYmtLdmpSVEo4TmxXTnNvUXlmQUF5RTBWYk8rNlRXRElCeUQ2Ulo3RWFMQlNmRG1nYm1LeDJMS0trSXdSd3NYOTVUcXk4WTBqUmhET0pPSkJFQ3BRQzJHc0RVcWJ1LytXQU4yUFNxSFhKdzJQVGlVZ3FOSFNqQTRFK1NPRGk1cUI3eWE0bUp1cTJKNXZRSVo3K0s2amhVYVZqSWRhaXRDSk5UMjZ3N2NsKzA0WHBCMUwycHlXNU1vLzNIVG4yWlpGdUU0eXhZdWl3L3NSNlFXOUZZWjdLVWNLUlRaWHN2ZkxrZ09EMnNYclFoQnpySy9kQkk4Nnd3anlZeFkzVlRZQ24wOUJDTGQ2N09oZGM0aUUvVUNwRW0wNlhPeDZtSjNuTWp3ZkZNS0JETmRxc1ZnQ3BadG9wYjFDQ0lHVWoyUUV1VFBaaWtqV2RZeUdUYnBsUVlzTi9UZG5WcElPdEhjdERrcTZFT1FyR1pYcnUyTU80cmhhZXpyd1lRN3lzZVdrK2gvVmlvcENhTlBhTE9naUt3SDNvdVBoUXJRNXptY1R0SkZDbzZKWDZNRUdWYktzQWx3blVsOC9CeDNFMmNjOUdVRWVtcCtNYUtpZElnS010VU5wZmw5cFVhNW8rdTk1OTk1MStDTjRxQm4zak9CMkljaFAxYlFtMHVoQWtKKzBXWTNiVkk3UlJWMHg1c0Q0dUNRQ1Y5b1RVUTJoTzdpMHE4RnJjeWpMaWRlaUJCUEdkYWpmZ2xoQnF4T3U2R2dXL1BOcW9ZbE9jRkhJVHhtY1VxbzBla3RHME40T0tpbnJGQWpleExJZy9KZmVWcld0K3A5bUI3ZXk5VFZqRWJ0NkY0SThEdHl6bVhqYWhXQWp0QjdWVmZ6dm91WXNGeTVlN3NIUWRJNG9xaFp6a0dZT21zTlh6bmtUK1RnUENETThIeFNWdE9YeUJPMTdWS2w5NytqNmJXcFNPaG5CTlJoek55eTJhYTFSWWpqcjRxN3h1TmIyZllhOXRPSGRkN1hDdnFjWnJZUUxRWDY2ZXNyd2ZGVTB3SVZneGV6WndGNVFxNU9MS2w0UlVpb0xmRFBIbjFkYUhmdEhLeTNZZ0RBOW9nWmVQQ3pyN0N0NUVTeHQ2TXlnaWFMc0l4QmNkNm1veDJOQkY1dWlKU1BZdHBZRHhWeWlzWWw4elY0a3VWR29sMnU2ZnJ6NWR4R2MxUnA3UlNrSTNad0lBZ05TeENzcGN3a1hndkFRbHRLcWlveGQxSngxRkYwWGpTNkdQR0ZWMU1IclVSZFdjb3FtTVIxNWErcW5xSXh2V0hSNjBBVE5QVmh0eTZXallKdkF4UkNpSlNQWXRaWURLYkprRzYxa0dVWUVnV2VVM2sxZDhKeTB4S1pqaDhoNW5RZ0NBek5NY3RKYUxnU3hIaGsrbUVLdVhDNXFqaGtmdUNrR2ZhaEIxaktwT29BbG5pU3d6OXdDdGJpbml2Z3ptVlFQclBuU0VwamtMVjRPSkszUmFpVGMyMmRUSGs0bEkxaXlqL0NGVUZmMFg4bDNiVGd4TXJWTHIrdFVUUzZWTW40SVY4dHpUZ1JoUHVPcVoyWEU0VUxRSzFsOE1JbWFrQTVxemxxRjI2SnRhQzFOTWtBU2oycE14eHR5clFnMmRPdFBXTm8wTVdNQ1g4Y1ZFa0RRdE1QU0VRNHhyQUpuTWhsQmdHTDVLUWpUMEpGNlFsOEJBVWc2QUsvMmRpVUgzbjhYQ2V6U0xrcEsrTk9KSUYvUzlvaXZMZWVDRTBGRThEdkV0NmxyY0ZBeEwxV0QrRlp3Zzh2VVRHdTl0dDRna1RZY3U2bDFrTzh2OXhDS1NvT0w4bzU3VGRleS9TU2E5RElmdVk2d0VCcGNEbE5TYzRrSVFrLzRERGN2STJ2U0Z2b0t5QXc3M0ZNRmk3cUxUZVdNc0s1b0U1STB2N3NSUklQSWgzbTFkY0Z2VFV1NHRXMUI0M3MvYmZ1cWZvRGdvS0lqVWcza2luS2MzVzlHdVM5ZldKRTYxV2ViTEZ5SERYYXNoNk1vYjV0YVF6SlpNalV5VWMzeUkwWUJab3JKWEQrRmRjY08vb3dBcGhYZlBPbHJCUjdGRGlubnFKdWNZOFVjc1cyU0ZIekVscENtdVNneTFvY2JRYjlHcjB0N3MzSTJRNUh1MHBweERIVzlJcUhMNjZRM1RnV0Nha3FobWRKcmdVUmRtZGUrZ3pTSTc5ZUlUSTU5U1V6dWpoNHFlTnVOUnBCaHo1cEM3ZHJueXdVeHJNSDlORFhNWStVd3FNTlRUWlg1Q0dTTU8vUDh0MWVSMzdZRVowTGpwL1FCVmJRUzBHNFlkcjBvaUNkc3JDME5iZ1FSSzlCM2xocnlIWE1vMGkxQnEwaC9MbUFma3RxS2VnckM0OFdvTUJoNThlZG9EL3RQTkFuOTJtTldpMVFTZ1pGb2VmTlZUR25Nd2NJcHcxTTBnOFVRczZYUXdTMHBVUWhQRXFYRzJvNzFvZGh2b0g4dnRpS2M3N241aHpsZzdMY3Z2NFpmTjR1WHRwRS9hZkhCTUJzbSs5eGhXV1NnajVnNk5ITTI5Und3L0R5VmdDRC9QY1U5WHY0VlBrQlhMdjlwZ0pwN2QxL2U4QjY4L0xOSXNvOWQva3RlN0wxVDhmMnlSc2hKUlVPTDhwSGxTbzJpRnV4enJyWTRkOWY1RHdSMTl2c29td1Y2SlFCbU9SaStzOW5oY3NOY20zb0Zyemhuai90cHFyUEdleS9mSW9CaXZUdCsvRTllWjdGSUtyZFcrTElnNDQ5Wkxob1J2M1R3SGVTZUw3TGZJR0tUem1hYUNVdEhFb0k1TEErZmYvZXZ2c0IrQWFyNE1adTh5dWJsZHVVQ24yTHNMLzc1Z2Y5UTN3V2tlcU5VZkNNbkYzeXE1WGtQbFBSVTl2Q040SU4vZi9jRERYTDVKQ3p2aXd3RDh0N2dnNTdITjBSLzlLb3B4YVRjTmJuQlVrMGEydDZhY3dVcmtKTzl2bm9NQVhQWmNlMmZHN0tkTWtmRVhIZllueXhXOFpQNEFXTS9wNnN0MGRRcmhyeXZMaytjZzk2eUhFSHY1NnlMN01MNUQ1OSsrTndGeEdjVi9KMzM2ZE5uTHdRS1FRL2c4ZXRIalU2ZWlsQlg0Qlh3a0I3ZnVjYVhjdlcxV2hPaVA2OEpvY1E3R0tzeERweGZ3bmUvOTB6WnFoWEZHbXEyVkVWbzVqTFkxcFJ0MmZ4cmE0K1djU3gxUmhQOUx6NlM5c01FbGQ1NThmVzEwN0JRWUNPb0ZhUWxLbUZnOHQ4K3h4Ni8yNXFXT2xZTUVwYU9wRGtJdTZIZEQ5bE9JYWtkNzdrMU9IOTNPVm9hcG9wbkUxZHVZK2ZmOXptYk1mOXQxUEZmTnNWT2YvV1IzcHZGWk1zOWVmaVRWc0VjRFV1TGxqVTVjMzVQaWZpbDBHdGhLeVgyRUg1QzJWb2NRWG44THVYd3MxWnpmZjRUN3Uwb0NjTGY3SXMwNG9JZElvYnV5UWlHMk1ZcTArbmZ3MlZ2ZHdGT0lsLzZHYk04NFJ2M0dENzNqV0RVT0Jzemt4QmlLbVlFRUZzaWlXM3hobFBCSkNMWWRTK2N6djVsSlQ0cnRqanorSFVPTWZzaFhtY2Y1MG9LZHNTUlZXc0tQN1pwS2FYOHFQU2tLRjlpUFRmZkpDSlk0L0h4MFZ6WUNKZWhHUzZMVGw2eDZBb3NoLzRWeWFRR3AvOWFLaERjRVpMaTF4OW16c1MxVENDQytSRUVNbkZEU01xQzJ0VVc5WTYzSURZMS9PV1JMRTk4ay9RNzZKdTBNWFdVaVczQVJWSFE0Vzc4eEg2Y2FRSVJYRXBmKytOOXpFQXBxaEMwU2VkRmV2bkJ0TnpJb0toLzFpVjJMWVVaa1V4WkZJdmowZlpXbkhVQ0VleTRUeURqZmN0T0FWNHRJYVVmK3JUMXJvUGNXWGF0NlJKKyt1U21rQ3JnTVNuOUZvV3RjUUlSTEJ6ZE10Z2hCMDF6MGF2cDdScEwySS9aMWh3b25kNmZodHdKNHhSd0c4L3BkK00xVEI2Q2ZucjRIZTlpQmtxQm5DZHRuekVwOTVTODgrZ21nKzVFMW9YVW9iRXBQVTZSbi8ydDBJR2tyV3Z5RUp3NXV0MGdJbnNaS3VqdE01NDVxR0VQMHBadHVOR2xjNm5yK3Fvb2ZjY0JQN3VaYzUzNFRCNkNtd2xuRXlNd0tXYmNLYUZHeHk5MWNxdjhiRmlXamFDZWlJcEd3azVQc2hWN0xmeTYzZm9za0N5NFdqQjVDQTczZjRzUjQ0V3pXR3gyQkVYL2NGdEpCeko0dkhZcHpEMnkzRUtxNWxWMmVDcy9WR2l3TzUxLzVUNXhDQzZyL2RuSTdHY3BXcU1kZzM2YXFzK1YrUlBUUFl0MWxNbnIvSzNwbFVjTytXKys1VzQvUE9tcWRlSVE3SVNmSkxqNk5EQ3RUU2RjOURRVmk5KyswcWJSSFZoN3NtRGQrWUEwbVQ5VU1uRUlsbDROdFgra21RcXRldlEwVlo4cjh5L1FPbDRGR1ZIdHE4TUVTWk9HNEZMcW1qR2tSWnYwcGtoRDdRSVIwVnhTT2h0NlJSeXlFcGQ0d2JWTmNERTZhSk9Hb1BwTk8wZFBSa0JxMGlPa0d0K2lmYjg0bFZSckR6WWEyeU9vSVVIRmpINHRKb0VoaFR4aENDNm03bjVUK3RsWFVWMXQ2QUVYWXRLQXYvNUhXeGY5eWxoZmlqSXpkVi9PTEVJQy90SHRqNm1LVWQ3Ykw0MVNXMVJYVysydDRUeGIzZ3BmOTNRQXVwWitlaG5WbERXL09NUkpvUTYyc2xaNkhQeitrVVgwb2pmMDV3ODRpY0VYcEhqSVZLSjFVQitVSGxHM0g5d1lXUEVmWGh4WTlNWUwrcEgzcVViY2dpVVZyWlQ0OC9ENVY2QzlvcDQycmJMZTdvZ3JtNm83QWd2a3BhdkVtL0o0UXQ5ZVJ3MXp5cTgyNmNYbUk2aDFxbktFRnVqeTQ0Sjg5YjE4RHBhUTlQeWFtSHRMUjdzS2pyQUgvOTlWemVJSHAvenVpM2dOdHp3alg2cDRsdjB1bHNTZ2g5aDBlazJDQmJyczBXcXZqTGVBcjFiVmwxQUs3R08zc2Q3ZUpEUisya1pZd0g4aGVKU0hkbThOZmxQWncvL3IydUdiV2lxVDZmYS9Kb3M0WTI0eFhJMEFBQUFBU1VWT1JLNUNZSUk9Igp9Cg=="/>
    </extobj>
    <extobj name="334E55B0-647D-440b-865C-3EC943EB4CBC-13">
      <extobjdata type="334E55B0-647D-440b-865C-3EC943EB4CBC" data="ewoJIkltZ1NldHRpbmdKc29uIiA6ICJ7XCJkcGlcIjpcIjYwMFwiLFwiZm9ybWF0XCI6XCJQTkdcIixcInRyYW5zcGFyZW50XCI6dHJ1ZSxcImF1dG9cIjpmYWxzZX0iLAoJIkxhdGV4IiA6ICJYRnNnUmloelgyUXBQVkFvVTE5a1hHeGxjU0J6WDJRcFBWeGxlSEFvTFhOZlpGNTdMVngwYUdWMFlYMHBJRnhkIiwKCSJMYXRleEltZ0Jhc2U2NCIgOiAiaVZCT1J3MEtHZ29BQUFBTlNVaEVVZ0FBQkxrQUFBQm1CQU1BQUFEVk1sNFhBQUFBTUZCTVZFWC8vLzhBQUFBQUFBQUFBQUFBQUFBQUFBQUFBQUFBQUFBQUFBQUFBQUFBQUFBQUFBQUFBQUFBQUFBQUFBQUFBQUF2M2FCN0FBQUFEM1JTVGxNQWlhdTdSQ0xOM2U4eVZKbDJFR1lOWkxSTUFBQUFDWEJJV1hNQUFBN0VBQUFPeEFHVkt3NGJBQUFkbmtsRVFWUjRBZTA5Yll4c1NWVjNQbnJtelVlL2ZpRFJKVUI2QkZrUUlmMFUzRVhRZE9PSytCVm4vRUFoYk94WlFGZ1YwdU11OEJiamNwY1BkeGNCZXlKL2tFUjc1SWNRaVprWDRpTHh4ZlJJSXFpSjZRRmtkMTNXN1lFZlFOU2taOStETjcyOFhjcFRINmUrNjM1MXo5MWswL2ZIM0ZQbm5EcDE2dHh6cTA2ZHF0c1RSYk5yWm9ISkxmQ0orUGJXNUZKbUVtWVc4RmpnTmVUMitMSUhQMFBOTERDeEJlYkluMFp6NVB6RWNtWUNaaFp3TGRBNE9ZeWl6dmRkd2d3enM4Q2tGcGduZDRLSS9mR2tjbWIxWnhad0xkQWd1NEFja2lPWE5NUE1MRENaQmM2U3g2bUFNMlI3TWptejJqTUx1Qlpva3gyS1hDTEhMbTJHbVZsZ01ndkVwRVVGTEpESEpwTXpxejJ6Z0dPQk9YS1Y0UmJJOXh6YURER3p3R1FXR0Fxdld1TGgxMlRDWnJWbkZqQXMwT2RoRjBUMWp4cjRXV0ZtZ1lrdFVDSGtnQW1wa2RsZTBNVFduQWt3TFRCUHlCYkRETWsxazVLdnRQcU9IUHl2TzhyQlBCWFdYT3BOcGNVVUllV2JJRVdoVTdIUVVBVDFVVS9NakpVL1MxSERUKzcvaVIvdnhTNWY4YUpQRVpsTHZWUFVRNG91M3dTeWFUOXdLaFlhRUxHL09NQ29Qajd2Yno0Uk84L3kvWWtzR3JFYXYxMHJsUURtVTY4RWhhTFNUWkRTcWRPeFVFeSt5OXR0WUViaWdhdUhLWnA0eU0zdmVKQmgxT3Zvdm5tSlYwNzF5dENzYkJPazlPbFVMTFJDeUYyODNaZ0lCNmwwNmFaMnZtc3A1eWJsQ3RzNHo5ZkdCTnhlOVg3NWh1NjdYc3ljZlBFREU4Z3VXclZrRTZTbzZiVlFTcDEwOGhvaEZ4bFhsWkFuQkh2UEhsaWUvbExmZFU2VDNzaWJ6ZGpuS1Z4TlJISHc1Y1M0N3ZtRHY3TmxlZFJiYkxCS1YvZUF0LzJrNUpHbmFRSzd3N25MSGd2bGx1RldXQ1prajJFWDVTQVdyVnI3MlVEeVhjZEtXdjZqaDNOa1ExV2ZESUwzd3I3ZVkwcjBxTGZTSWVNZi9wK3Z2NXhjT1l5cVhYeXZ6R3FuWEpxaUNTYlcxR09oaVdXQ2dLSDJZRFpRWU4zTWZGVnV1SU56alMrd1M1UTA3OW9raDFnMzZ6MW1Cek95Y2lmeWZmMHpMKzFTQlY5NWlWN1hVOWhjOTdycVZSdmsyaTRWZWhQNUlPemY3eVRLUHkzaUZFMHdxWXF1aFNhVnlPcnZjNzloZjQ5UTRySklzR0laN3B2QW9RTDNqMzhPaW5kSmNyV2IvMXhyTzljaVV6WVZBR0NDSng4UnRNbzNvZkF6R3FOSHZZK1J5MXVjWTMrODFSREJnVmFsRkhDNkpwaEVaWStGSmhFbjY5Ykp0ZjltVjV1b3gxMXhqMHNzd0JPN0tHdEYwWUJvMCtlU0JtczhpZUQ2VkFlTWRWRHZRTGIzS1VMMDBORlZiNVhJVlVpRjNJTEJnYXlmSGFnOE96dXZ3emxkRXpqaWN5QmNDK1dvbk1EYXdUekVQdEZPUGc5TzdDb1FuNUdXaG9TMTVvWXNqa1M2WHlLeUFOMjhDNEVrb2JEam9PbFFnY254VHNYdXFqZUMrUkF2T2lvZllpSG5mYkVwb3RhYzlRVDdWRTFRVEFWZXk3WFFKTkpVWGFMU1hkclRQa1BPS1JZR0RlRVpHS2lCR3NxcWhmYVFSbXFzTkFRWEtwd2grc3NSN1JOTkpWYzlXS2EwWkRQZ21NNjdKSW5Kd0dwSGpZSEpuSDdxVkUzZ2J5SVQxclZRcG1xUzZaUGdITmIxVGthVTRWTVgzWXlpenpwVEl6d3ZjL2VtcG1haWVabkxrTzFsQUpZTFRLZEJzVzFpN01FdlFWOTNrZGxWcjRmN0U1UUZ0dkVMYnJDZWpRbnViMkJiK2U1VE5VRytwZzF1MTBJR09iWFFzRndMaW8vVFNyQ2FQODhxdzB5M3pRRCtKN2JUVVgzYmtBdHFUdWlwWVV3VGtRYXU0cHljeHBpRlBpSzZ3MFEwRE52QWVxNTZzZkh0WnJPZ0l1dGRRdDViZEU1bHlrM1ZCTmpkQW5mWFF2bUVmSlRuRXZTL0w2RVN3S240SERobmp2SDd5bmQ0UXpHeGhyTTVOVGcwaThVdHNSYm81ZXVOeXcxdmo5alFZalNJMnRWWEFvNTY0SHRibW9oQm9hRTMraEk0MTRjMU1VWEFhWnFnU1B1aWptT2hDV1RwVlNFQzJXUGxaV0k4NjJVdDMwRHBOR041ekJqeHo3cDBxWldDTTh0QXphMG90UEFkbnZSZFdtVjRhV1QreEZXdmJjeWljRGhrUjZ1YUZYd0ROR0VsYmJOV1ZYelROSUdTbWhkeUxaUlhRb0FmWHZKZFJtcWJFY1M2V1lUMFBVNmhLT2lzRFBLTGZ1NHhOQndDNVJhNlEreGtUSFowZHdGVGNLNTZmZWw1ckxGaGtZbjkxNkdGM3kra3ExNXBpaWJReGVhRVhRdmxGQkJpaDhmQUo0bSsrYWlyNWxBVzBXemxnU0hrckJ6cmhvWGUvU2lhTHhqdkdHcnd3bGxMUGZveXNMZ1N5SzU2MWpCY3M2TUFUd00yNnFQUXdNdHNaUDd5RkUyUXYzRlp3N1dRSkUwR3dCUnl5Q1FRY21SSWFwZ21wK2t1UHNnaDE3cU0rd2RPK2dKNWt1K0xlRzR4bVMwTGxhYTdkUFZvVkkvZTVhZ0hycmVqQzYzSk9WN0hKc0kvRC9KL05KRWpHM0dLSnNqV29KZkxzWkNYcXdBUzRpbFdhOTNPK1d3YVMwaTJIV21LbjVON2tiRVJJNXRjaVNVY054T1pNaEVoM1NVbmFscUJldHYzUkUxSFBkaDJPSzlMUFpNNzNVWHpPL2ZwSWdyRDB6TkJZUldpeUxIUUJMTE1xdUtwREswVllWUXoxbUIwbTFHT1ZWekFHaVpmVjJ5SzJVQkNxVmx3MEhORnRxMXNIUFUyc1laMDFRUGloaTZpZGswdlpZQy9EZEtmazRFdkE4djBUSkNoc1FDTGE2RUFZMzUwaDA4TGZTdXFnaSt6MFh1WXpEb3h5MUcwaGxIem1rM0pyTVRJbktFeTEzTVpSMm9pWkVUd05wVHRxbGNqNXJoY3cxSE9sZXZEVlA4VjlnVU9mSlFDdU9tWm9FRGpvb3Byb2VLeXJKb0ROcTI1N252V25Dbzdhb1ZmYlRFUkMzaGlvbWF1d0N6NVNjVzJQV0FtTVNmU0dsWTJEcndOWHhkWFBYQzlZMTNhOEFtOWxBWlg2N0J6ZEpUR2xaVStQUk5rYmRIbGN5M2s4aFRFdEZrMHY2eHYrakpKc01iZlZTTDFkTmZDWXd5L2hzOWswM3hXcWxJcXRDd2o3MVRXRkliWWNoaDRHVEFPYzlYcnFXd0ZFOXZiVHBHdWt5dDlpQkgyZE14RThQUk1VRndOMTBMRlpWazFGMWl5aC8zNG9FbUo4ZVduYUpvLzJoYjBHcnFWS05jbFJTQXkzK2F0cmN2TUZXMUc2dng2b0U3VFh6aXh1K3ExelIzdmFGMTdqV3pKZG5rRlJzbXJMUnRidkR3MUV4UlhJWEl0TklFd3MycUZib09zT1VOWEZEWDA1d1g3UkRJQzM5OHhKWFFrUmVHcjM3aVIzUDFNVmZaRGtLWHlFL0ppYVhyclFLdEVzM09vcGF2ZUVLZ2JHbmNPRUU3Y2tDdlpuTEZNRTFTL2NldjRUY25tL3VySC8rL3BOOFNnK3VwbnUvZjh1TkVGMTBJWkxQTEk4K0x4TFlZWWI2WEJsYWphOFh4ak50SW5QSHJtb0NXcU55K2FjbkF2U2NPdXdFTzRRTWc3TkpRUGhHUmJ1bjYraWphT2VsTkxRdzZodkNYS3JucDBRUW1uNlF0YzlNUU5ubWxOcVY2bUNjRG54M0FhL1krWlNtdmplOTcxbHJkY3VKZVpkbkR2QlFwRGlBeGpMbHk3MGNOZGVqODUwTlIzTGFRUkF5QmtrMDlpY3RJS2tDWDZMSG1mTVFraW9VY2VRekNDL0lRY1pxcG1tcFZPbW82TDFNa3JEcVBLdHp5RG1oSkpJVHVGYTFLemwyaXVWK2Z1cThqS294NzFSWEt0cFZmSUJwK05vVjVHdHl6UkJKVW1lWFFyZXFSTDNrMjd3WHBIZTBpZnlvQUNiRUVtdkd1VlhQMzMxLzVLbDR6M0tDKzdQQlpDVXZBK1I2N0FkMWUvRTJQNEVXU00zaERmL1I4ZWFrMXUxQUZ4VTZXNzFPNDFyd1NUcGwzN2Z0N1BhUEM0VGJIS2NkRVp5cEl6Vk9wUkNwMG9qd1NMUnowYVJNTDEwMXVDSmVzdHo0bWJNazB3SXBlcHk0TmI3Y0Z0OVRNdllOMjdRcnYzR2diZS9md28rdXRMTWNDNy9jdlU2U0FrVVlmMVBCWUNsc1NyMmptaFl1Q2cwMEVpWDVpNHJCOGtxS3NvdVcxbHRoZk0xQVVWaUJQdDJiUXRsb2E1dVJsV0pvV3lyOVNqblBBdXlCU1dSNzJvQTNhR2Evd2krbEF5WDErQ0twbFAzSlJvQXRqMU9zYzYwY2RlZnhrMEZiRk9BMmF3ZitGZHJNU0UzQ1Ftbm84UjhuYnN1TTlDU0F2Y2w3RDJDSUwyUXRjOGtkdlU0Qzh5M1ZXTnJjejJHZTAxNEEzTnk2OXpPZ2ZKVGZmMTJDNlpOWkhhbCtwUk5uZ1p4eTNrZDlXRGoyUEIrdXk2K20vSWxuN1BkZUttVEJQMGNSaUE0SGlMOTJNZ0k0TTJHUjloM3dEYkZaOFRRTVFyUDJ2eFdRaXJCTzZOc1hndmw5Sm1wNEFBT3RBcUVqeUxZMWFxRFBBRlFXS05XTzRHUThjQkoxNm5MenVSWDc4UGNMdEdSLzdYejRXdVYrdHNPaHlqZWhTNUNLV0xrdXFxeHlZRzVsendKL05nOURWZ3puN2lwa1FUUUJpd3czc0xMclBOSVhoMjRxRzB0V3pBUG5SaFZ4Z0dZTUVMTWJYOUFBVlA4TFpJaEZQTmRkVUVHK1QyRXZRRG5EUlNlZS9UbnZhMHo5elFWYjhISUdwWkI4TUFLemFYWUROSjlzRGJBdndEQmsrYXZ3cE5oSzREdnh5YTd0cEcwaU94c1ZoMTFRUEdrV3JnblZndjVRNVNYNWJDb3BGTE5FR2JpTmt1aXBveVZHNGljcVJsQTNweVJHUGIvQmlSZXkyazljVUZsMmdXaTE3Tndsdk04RTYwbUFqNEEzT051c1NiZ3JSTjJTV0JXY0ZBYkpPa0JlMDl1eTZJRURHM2FrK0R6bU9qNXAxRzhmZTlsbDZ2LzlYUEFxeTdnYU1lcmJxb2VUQyt6YVpJcHdSVFNjdEJoaEJsbXFDRDVxWXZLOGJFRCtJbWZueW4wckducFp4cHZsbjB4MnNoVmNzRDljUm9DWTlLSHBUeHNDV2hZSnc5UWpyTTZPcTZpRmgrSDluanp4b0dZblZOQXVOZGdZVGVCZjFwdG1WR1haUDVRdFdVQllXZXIxeUVNLzZUK3pSaE1FeEJzc2U1YU9KS1hCK3hpSTZTblA0cGNLODlpelZZTE5FRThHYUphWXJsallSMWFWeEZ0WnZIU0l3V2Vuckt1UytIZTcrRmFJWFExUmNSRHd3NjN3L3hwT0RCdTg4aFN3MmVCSVdyci84aURybElpdXA2WG94aWwzRzRWSytTWUc2REdEbnpVOXlVZnFwMW1jcmwxL2hOLzNnb1d1TTNSejJPWHZrQzFyQWpoellsNks4QXIwQlBScHdjY1RqMWI0a21nQmYvTWRRSFFwR0xBaDV4Y0tTL1dqM2R1NkFnYUFFTG9WRFBQUlp4aUFyNVBFd3BLRzFlMjFUNWtiNmRaZWpia1RtNDRoWVRQWGZ2UDVsTmZBVVN5dHBTZ1hxWGRXak01TTlhR2xwaTlYcU9la2hjL0VHb1JhODl4UEM3b3lTU3Z3VkxVVjlpRU9uYXZVUVR3S081QzF1R3NXUmJ3SEI4RW9hVkZWeGZNV3hQOXk1NEk0WHRneFpDc2M0ZHA5M291ZzhkT3NTTUNLVXFqRTl5Q2h2aTFJNVNHaGppSVFKTXU0MndmUi9pck1rSlUvS3VmZVg4ZG9Pd0EvS0VneE9JaHo1SG5jdFYxbEpTVnY4a01EOUhscEtBRWszUTE0SXBHRXVPVWEyWURzQVBHcXZCbnU1ZE5KVG1ycEZnSVJSbTNhVmpXdmc4UmMzdUhUbU1SczVCVGtjNTJNWUx2dU5EOHJpdVFrMkdvVG8yTnd3V05zVHFBaHoxZENMTllkbERMLzNNSXlEdEp1QTJnanBkbGc2WGFJS3VtZzNwZ2tqT2ttMmFxT2hzNjFyMWRPK2lLNkU5UmsyMGtGNWZ3dERtaHdzUFdrS0t6S1BRL1VENVVqZ0hPWnYyNE1DV0FMZTBwQzQ2WUtVZ3p1Z1pXNTB2SHh4clZyVnJPdW9aREw4TlBYTmN5VkpTcS9EbndKN2xZNDN5VEVEWGZnZW9JY1R5TXM2Q3paN0xhK010Sk5GN1QyT2x2MjhnVnZTMmhYN1RuMjc4UmVWUE1OaVFxOC9RUmVlSHUzSkNwMG1DYlNGZ2FFODBIZWw0Z29OK2p3T1g5M2hHM1dTZWpuZnBSeHVkYmpycUdSelYyTE9vdHBUVUs5REI3czA2d2crWFp3TDZxZDBlS2dHRytCN0M5RkJFVS9vYXcvWjA3NklqeGc1RFd4YUNnTXgvS1dFRHhuRDFtYkt0QW9EeUxqcEhueE1TTnJsS1NwNmxIQ3dzWWVDazE5V1dZa0tvSTcyVVlhQW5TSm5nVGdmNTg2SDZqbm9tNDZZbmhyQ1VOQ3JRemNZL01qQytRbmttb0g1OE8vNm83UTE2aG9CNnlZR2hYTTlBeERnZldSYXFRVDN2cGNaNHlLYXhLOE43WmlpZ0YySTV6dENCdmlWSWc0czZEOENXY29DQko4WXVwWTZzb3J5VW9hWXpkdEYwMTRGc3dnSmM5UXdHNkpxOVRJRzNHbDhsZzVVWDZQbW85M2p3SnFvMEU5QVhYNy9FUGlKb1E2YytVNm1lWWFaT3dMdm1ZbDJlZ3NlL0s2WEpoUGVCUk9VRzFOaFZnemF3ZXJPRmtMamIwN2FXQ1hjZUVxaGxWRC9qUGxwTGVwWWlmVXQzUTR5MmVvdEhCaWU4KzNaU3hGYlM0SWROeWpoRFRDczNBMDdiQlBURHpVRGY5ekd3d2c3MERPOXE0bnJHdGhDeUo5eC9BVnFsRjI0bUpiQ0dTRjB4THh1bnU2SlAyK3llSlFjOUNFVXZOVk9MU3ZDbUdkV240MTFEYU1vUXF4ZHM5YzRjNjFTNnpMSTNNMndsRFg0bzBEei9vNGMyMWlxWFpZSUU3NEpoMmN5azkvemVaVnZJNm9tM0NLbGxkclc4MUN4STVWMzFKQy8xS2JmNkQ2eHRaODVac2dhSzZlUzc0Q1cxRSs2cWY3WjY3UjFGQXdpV1dmWUxhQ3RwOE5NQ0hEUW0xN1ljdElrb3lRUjBadHcxVzhiU3lDYjFETytDZCtTWXNkb1d3dnFKOTAvSElCM1hCWW1jQWFKYUp6WTl3NUNzNUUvMS91ZDF0UEdXNU9KQXpYcVV0UVMzc0tvbUZQdWVySUprdDlVYmJFZ1NCU0E2TVY5d3VvRmcrNXRSQXdvckRSanhBczlVOFpaaUFoclZ0MVNiR3JSQ1hxaCtCcHZoZTRaM3hlaGR0b1UwR1FsZzlWVmRhTnFlbmY3cW41LzMxbmNuMUZJa3RSQURNZHpORlZGQmRhY0pUcU9weDR1S2pVR2JGdS9RbVphQWJjV2Zid0ZzNEh3WDJPa3hxeUZWdE5Wcm1qckJ6UGhkeGN3Z1cwbUxUSXVWdm45SmJMR1dZQUs2WGo2eW11WEZCNi9BdUd5TTZUM0R1NkRpRHVPMExlU1Y1a0d5SWR6RTA1VkV3clBRbUNGNXNzR0xvS1daU05DNDZMRVBsV014Q0FQbG5vaXZreWNRWlBlMlo1akExVHhWMUw0T2pOcWlrSmp1Y3RTejFvT1FMOXEyaE5wS1dtUldyTll6SFprNGZSUFE1M25nMHpCcTNrbS8yZEJwUGIxSUsvSVhMZmdBdldJMUpJeWJodmRDTXVwR0dOQ09OWllnQ00yZjQwUTYrZ3JRdzkyenBwYS9RQjRJT0xjUmppby9FTi9XZ3V6RmpzUlF3SGUwQ0VhVDRIWGVxQzBLaWVrdVNGQWJNOStpWVcvMnFjT0JGT3BYVXBKMUlQSElSSmttaU9VZ29LdEhqK1J0MGVPYit0VFYwNzJMV20yUFZiRXNaSXJ4bEZaMkVkbXd3bWpBdzZ2dWZVaFlCZS93bEk4NERFb0c1blpLSDVyamovb2xlQmp5WkVNclRmTEd6bVhJSkYza0lzVmY3NTRMaEF1QnkzKytLekhkWmFzM1oybHdCdmR5UWFPQWtvYkdxdkN0NEhacXFTYW80d1NuTkdQUVBzd29NQTJNRHhXK3Azc1h0Um9uV1E5UThmdWhzMlM4S3lnOWUreGkzblhncjJkaXdibGJIRk9UaXBnY1NOVTM0dlg4a1RiaTFXSDN0OUo4R2I0dUtNZDdyaDZKV2UrSjZTNkkwWFgxNEY4Q2JSaHllOXE3RVZEUzROY0tmd05tZVk1V1JyQmNFN1NKSG0yc3ZFUm9VV0ZqZEUrZlBtQVkxd1p1ZUsxRUtzYXlFSFlqZEI4b21aNzFqL0thVUgyT0J5TnRjUWkwc2pPT1dsVjVVbzdob0xNeTl5VGRNN3FmeFdaTEo5cEF3Ymo3MlNacHJUVVBPTlNhZE1tbWVqQ1ViUnM4VGZuOVVsQkpnMTh2M0FRTmU0NU10RFY5VHQ4RUVIOW9VLzhTem9UTHpIWGdHV3J2Vms5NzNlbUdpbGpPV0JiU2UraUJhYngyTFBBMVkrSmxTTWlRZUNxNUtCZzZCUks4TldHTnZtQ2NjeGlwblpXS0pGUmpOZ3lDWWxZR3JHbkZZYTRXR1REN1RuQ3BWekxWZ3lEL0NaMnFwbi80VDhJQkpYVitFNlpISm43U1JFR3BYQk9ZUnUzaGcyL2N4ZlJxNnJNRmVOZEZxUzFRUk1HeWtPVHdBM1RiZkVlUTJ2S2NnK1JOVFJZS1R2VVJKU2lDcjRTVW9nQjRQdzVWcWE5eVQ2dmtjWUZmRnQ3WjBOOGtTdXRpRDVXQS9GQmROZW1wYktvWDljMFhaVmxGRGtFbFBVSVJSWTlNN0dJQjd5V2JBSnByWWROUmM0T0Q2d0lIKzgxaWhBSjhUODFwTkl1TWo4MnlrSlRsQi9Rb2QxK2JhUVczWjdMMHlqa2pYUUVVT2ZheU1DVG9xUm00b1hxd0pDZWRodkQyRVpzZ2xTaFlZT3lwVWxFb1RreXhtT3BGc1J4UVdYTU45YmxmU01sRXRlREl4SUhOVUxJSklPemNSaFZXTUpnWmlWUUI5RjVORitCZE1ua0UyMFFJV3haQ1dZRTd6TVF5VE9yb2F3Yk9ueUZaeUJpSDJEeE5FZXdFMnFKb3ViYWtoYnI0SlJZQTk5RjFZRERsL2pjd3B5WDZBbTNSU2hOZHlla3VTejNLdktHYWc5Y1dGUWdxcWJoOTBQcTdEbTEweVNhb2ROVncvS0NJWU9ia3ROSFgrZ3ZlSmQxaG9NVmd4Z08wZTJPWDU4akpnY0Q1L2c5TlBXa2cwbVQxY0V3RmI5V2ZpTWJDd2FaTzdjbUJ1Q0xIdmlGNk93NFBLQUlXdHdnV3Y0T0hKRHEvb1I3Tjh1QjhEVTFxYWVxZ2tyazFLOXNFbTJvR0VDZWQ0Yjh5WXlmQm8yVE1EREFlaFFZN3FNMTd3MEpwM1pYREkvM0JoSXNPZDlMWk9KMTVKRUsyS3JnNWVhZE9zZUM2SHRzdHlHOS9QeWJicnVNbzJOWDlFS1RNYTEyMGhHWXY3b042OWplSmVtMURQVmpTZkZNcEFUK1ZzWXVzUVNXUklmTzliQk9zeU1IckFmN2JFSXNkbUEvRmtOb0U2enhmcU40ajVQTml4Z1NqblpNZE1pd2tzU0dnK1haQldlbHE2MUhrMXVVaXpuZHYwS2R3ODdPZUM2ckM5ZjduWG5xMlVOaG0zc1JCamhLcThUczQvV3Z5bllIWjZKamhZSGx6eEluaTd4bnlmYU9jdS9ESXM1N2JaT3I5eEkrRnRJT2x0eHhPSTBoM1BWcU5UL1o0UTZ0ZEZYV0ZsY3l0VkxrbUFQWHVKK1NucUpicnJEdHIxek9MdkpkaXFqd3pmZnVsQTFycVFaRFlmRGVGSURUSHFBdEtob1VvT2ZGNjRLVEY2TlcrNXFCWUE2SW9Ua1ZFNk42bHJzQmRpNm1yeGwrclJrM1hOUG9LZWRzdWRPc1Q1Q3JjMkFVUnpYa0V0Z1NPMzNwV0hHWVFzeFQ2UWpONk93cFVNTlNyd1N0elB4ay9nL0krSE1zWGdQMXdTVURKZ05nRWRLa21vSHA4bTVDM3ZmcXJuK2FoU0kzYmhBMVM4RDd6YTV1eTljQzcxdWpQSU56Y0pkY09LWVpmaG9VUUdieFhtK3lYZ3g1cWtOOXplV0J1MEFTN2RNUkF4QTE4ZlhMdlBmRGJpRys5Y0crWG5Hd2h6YnhiOHh1a3NPKzVBMUpRZThpMWdFL2UrTTBtU2gybzFRNHk1N3NQbEhvNEZUZ0NEUFUyNlhwbkFCUEhLeS9kQ0RxcUhvV1ZkQVNtSThvMEFkUG1pOHlIK0ErNjF1Q1hMZUY1Q2UrNkYzN204c0lkM1czS1JyMExmaTl1SEJQeVB0WHozQUVLbko0Y1grZ1M4Z3JXdFB6emF6ZWUvQWpNRFdxSktpa2VZQjFEY1EvTlJDMWFzZm5OTCtqQzkvYUtCMTRtM3BjemRwalZEQTQ0cXZiRWtLRmUvVTZRVitVUGczeG9Wd2tQSzZsNHNrT2xtK0RtNjd0M3YvZ3dSVUhtWGRHcmJoM2YvdmNHcDJFaGcrSXZWRDUvQjduN2xYc204YVBrNnZWa0krdXUwa0wybUtpYlBOZENwN2dpYlVza3hEcHBCakY3VUt5a3EvZEY3dWNQZmZhTzhSdlo5SWdpZzBvaXcwVDNvUFNTVE1DVjU5N2w2WWh1SVE4NUMycU9YTnVLZnVQS3BoRWxoU3NPczhkRWRSci9oNjlOSEFWSGVud04vT3M4VUFqWG5BNGxSVDNlU0ZESnFlZ1FsRjZTQ1hnbmd0NlZ5VUtKaHFoMldIS3pFMmYwbW9GTUtDU0twY1JoY2dadGhNRnpYMDlkUUwxbDhsaXE3Q2t3cEtqSFd3Z3FPUVVGNk5halNEbzlTU2JnblFoNlZ5WUxKUnJpQWI1WDJFNU9QU29Sc2I2L285QStLT1ZmV0k1d1FvenBHUGREU2tKNzBxQmVpVXFDVXRUalZZTktKa25PVEF0S0w4a0VYTkdnZDJXeVVHSm5ZNTZkZ01UN3hVUStRYXpnZEphQk9ZVjNYOHpGRUdNY3djYTFFdGhQanRjVTQyUlFpbnBjZUZESnlkb1d0WVBTU3pJQlZ5UG9YWmtzbEdTSWViRlVoT1RUWGhJZjB0YVNqa1VnRTk3N2llTmNUNGhpTzNrcmNnc1VEc21LeERHS09hMTdzbnE4MVpDUzA5RXBKTDAwRTdCdUJMMExFays3RTNWMEpHS2NyTWN0aGlJRG1xblJaT2FhR0x2Z05DUkU4cmdCUms5K2x4SjIwYmp3ZkdvM1FrcW1Wc3pFRUpKZW1nbVlsbUh2eW1LaGhJN0NyTFROeURpR0pmQXlVajJQTnljYmFVMXNxVFpwWG16cENkbnlNSG1wS2ZrbUJwTFY0K0pEU3NyR1JZNk0yTmY3RHlWTEdBaEpMODBFVExXd2QyV3hVTGgzTUU2SUNkSEphUG9yVmUzRXA1OE5zYkhhY0VlVXVsZjREQWdSSCtSeGV4dVNVQzhsMjBXYlMxU1A2eE5TVW1wcmU1VXNIMGlXTUJDU1hwNEpxRzdnWGVjQ09tYXdVS0FtUlE5REdjMUFuYm1NZVF0UmZUTXhQaDlRYXFYelpqcDJOUUhrVndXWGtvZzR2WHV5ZXJ4ZHY1SktwMWk2a3dXMEZFOFk4a3N2MFFSVXRjM3dpaTZMaGNLOUcyRUViV2MwQTFYYStmWm8xcXhNbGlsMW5ud3dxZzR1dysrVnRlWlVJTDlVVGo2Q3FwS3NIbGZXcjZUcXlNb3YvYTMzK2t2RmtnRDVwWmRvQXFyYmlBUmprU3dXQ25ldmlRTkZJOUVQcElDT1d0cEpYQklRZTQ3NktQNEJ1YTB6YnNGRHZ0TEJ3MEhRVjNsT1VqR2VGcFNzSG0vVnErVFVGUEpLTDlNRTBKT09mc2plNmxrV0MxbFZWRkhLdFEvd0tSWWRPcHQ0SGsvbkZIQTdjUkZRL1VMM3RqM2cvTm51SDhxNjFUd3BEMW1ySUpDc0hoZnFVN0pnYzU1cVB1bWxtdUIvTDRGekVYTGJKWC9vbGNWQ25tNHhGQnluT1dhQWM0RFBYMk9ZR0VkNTZxeXFjM2dlcWcrMUFLZEJTcnZ5cTFlR2FxV2FvSUhoSW5jRXUzK1RXQWlPREc0emVaRFIzTElGZThwTmxaWHlVSDJvUWM2cE5Pb256cVcrSmliQjVWWnZrc2F5MWkzVkJJMHhITlNEYzEraFBlRUpMQVJPeFFmRU5icHVTNzNXc3UwVzZYTG1nZ0dqenFYZzlRd1pUc1U5TVpSWHZZa2J6Q0NnWkJPa2FEU0JoY0M3anBoMDlnOWo1M1pTV29KL3hKNzdxc3RQVHpKVjNVL0trR1dTa0k4cHAzcjVoQmZqTHRzRUtWb1d0eEI4WUxUSGhBL3AydEg2NlZDbjFkV2M0eEFUc0o0cmg3R1NmM1IwMU15RnlLZGVMdEVGbVVzM1FZcWV4UzBFVVgyTENXZmJqYjN0NUlaNmhVS2kvVHk3aHNQY2dWMnl5dW5VWE9xbGk1dWNvM3dUcE9oYzNFSTRkblZwVURjNFNHeW5XbXcxVjdrdlVhcEovSEtXdFlWWlpjSlNMdlVtYkN0VDlmSk5rS0pXY1F2MXVjZkFseTkzUVZidE1MR2RLbjVkbWNnMUk4NHNnQlpvOHlVYUpEMTJvcFdTQTJyVVlYWi9xbHBnbldYR2YrdnFKb3hkQzk5NXF2WnkxcThueVFJTitNV0VoOG5HUEhoWi9meVRwTU9zMmFlcUJkYkp5ZlhrQS9UajZodms3NGc4VmZzNjYxZnBGbmo0MXBNWFFhT0xMenc1bDczdC93ZWZuNElneEJkNTJnQUFBQUJKUlU1RXJrSmdnZz09Igp9Cg=="/>
    </extobj>
    <extobj name="334E55B0-647D-440b-865C-3EC943EB4CBC-14">
      <extobjdata type="334E55B0-647D-440b-865C-3EC943EB4CBC" data="ewoJIkltZ1NldHRpbmdKc29uIiA6ICJ7XCJkcGlcIjpcIjYwMFwiLFwiZm9ybWF0XCI6XCJQTkdcIixcInRyYW5zcGFyZW50XCI6dHJ1ZSxcImF1dG9cIjpmYWxzZX0iLAoJIkxhdGV4IiA6ICJYRnRtS0hNcFBWeG1jbUZqZTJSR0tITXBmWHRrYzMwS1BWeG1jbUZqZTJSOWUyUnpmVnhsZUhBb0xYTmVleTFjZEdobGRHRjlLUW85WEhSb1pYUmhJSE5lZXkxY2RHaGxkR0V0TVgxY1pYaHdLQzF6WG5zdFhIUm9aWFJoZlNrZ0lGeGQiLAoJIkxhdGV4SW1nQmFzZTY0IiA6ICJpVkJPUncwS0dnb0FBQUFOU1VoRVVnQUFCMElBQUFDd0JBTUFBQUJnRzdCS0FBQUFNRkJNVkVYLy8vOEFBQUFBQUFBQUFBQUFBQUFBQUFBQUFBQUFBQUFBQUFBQUFBQUFBQUFBQUFBQUFBQUFBQUFBQUFBQUFBQXYzYUI3QUFBQUQzUlNUbE1BRUdhNzNYYnZpYXN5Vk0xRW1TSTd3cXhRQUFBQUNYQklXWE1BQUE3RUFBQU94QUdWS3c0YkFBQWdBRWxFUVZSNEFlMTlhNHhreDNYZTdYbnN2QjhpYWNHeEhqMkJDVU4vakZuTERBSlRZWG9KclJZU0ZMdFhRRUJKUUlCZTJmUW1NbUgxL2toSUNiSFNZNGd3WkNSeGJ5QkFpQklaUFU1c2dZSEE5QW95U1JreTBJMUlsZzA3d2F3QXhURWtVRDEySWptT1k4eEtIRTFJamNUS1YzWHJmWi9kWGZmMjdXSGRIMzNyY2FycTFIZnZ1WFhPcVVjSHdVVzUxdjlCUWsrMmZ6NGh3eWQ3QkR3QzVTRXcrbEJTVzgzTFNUayszU1BnRVNnSmdWVnlPNm1sQjg1M2s3Sjh1a2ZBSTFBT0FvMGZKTGF6M1g0ME1jOW5lQVE4QWhNZ1VQdjA3M3o0YmUyNytVdHVrTDFrNHQ1cEtZUG8yRXduYyt4elBBTFZSbUJFNkhVZ21QendUOGRkdDBRMjd0My9wMFhzNERxNVl5Y1ZFYmVZTHFJSlg2ZEhvQm9JdEptRTduRm1ObGtzOG5OUDhicENMcXRJTk5SNU9acm1Qc1ZrMm4zOXZrYVBRR1VRK0lPbmZnMENlY3o1Mlg3YnRWQTh6NjZ5aThjMENUMGl1Mm04TDVIcmFkbU84a3ltSFZYcXEvRUlWQlNCTmpuVE9UdUNqQ3BuMEwvN1UwUnZ5UHhhKzdzeUhCZllKcS9FSmJ0UHM1aDIzNEN2MFNOUUZRVGF4RkJORnlHU2R6WGVXa1F6TGplMHNFYWpncTFURlM0eVpERmRaRk8rYm8vQVRCR29FV0tNaTB1UTBLSEcwWnJtU0FyMnBVS3NVZWpCUytTV0hpMHFiRE5kVkR1K1hvL0F6QkZZSitSVm5ZazZKRlNQQnkwMXBOYklENDJzYUdTaEhEWFhaanJLaUUveENGd1FCTFowT3hOOTZoUHlrdEcxSGVYOVdTWGZNYkppSXMzem1FVG5TVGJUemh2d0ZYb0Vxb0lBdE5vRG5aY1JJZC9UNDhFaU9SVHhuaHBPUlpKOTd5dHFPOHRoM0diYVlkVytLbzlBdFJDQVZydW5jOVFrbHFLNm9oYmlOdExuV21nMVM1cm5WNi9XYmRobTJtM3R2amFQUUlVUWdGWjdyTEVESHd5NXA4V0RZRm1LNVZxbUdVcXB6UkhZcU1wWnhHTGFXYjIrSW85QTVSQVltZE9oOE1GWXk0WVdwT05vMFJwZDQvcFNNNnVMSTNHUVpqSHRvRVpmaFVlZ29nZzB6ZWxRK0dDVVo0aXh2Q0FYTk5USmxleE9kTXN3UkMybXM3bnlGQjZCT1VYQW5sbWswNkczamI0c1MrOXNLODlrNTFIV29nYWo4c2tpTnRPVDFlSkxlUVRtQUFGN1pyRU9DVFhaWHBGTGpwcUd4V3BTeWRpT09iMHEwMTBHYktaZDF1M3I4Z2hVQ2dGN1p2R0lFRGxtaG94dWlmMW1hM1pPYkVjV2lhQ1B6WGFTYURQdHBGSmZpVWVnaWdqWU00c2RZa3ZZbGxnVXVHWG54UFpuZ1JTL05OZG1PcFlSbitnUnVBZ0lRS3U5cnZkam9IYTIxSVlzWTFIc2ROblI5cnpvUmN6d3RtM0htdGxPWWpiVFRpcjFsWGdFcW9nQVpoWjF4NUErSGJvWTdpVGJFaXY5anF5SjBvVHVORTJSVDZDYUt0bGllcXE2ZkdHUFFLVVJHSm1PSVhyS3doM084STRRVFI3dnlKelVIbld0K2RSVTRza3lMYVlucThTWDhnaFVHb0gxcDl0ZkdBWkIwMXdudndJSnZjWDU3bDh4T3pDUU9TcTk5cGFIeUJNZlVYR0U5dk1OdFVhWnZKRjRwdk9XOW5RZWdmbEI0RWZhNUhIeTBpNjBXbU9WM2dZa2RNaDcwYmhyZG9kRTF5S3NOUWk1U29oeENuMHZ4OG9qcytMY3NRU21jNWYzaEI2QmVVRmdtWkJ2QnB2TlJ6R3pHRnFiblBFZFNDZ1AxaXlCaEFLc1c2eU1xa01lM2cyMkh6UUcxeDF6UjdoRFJKS1lkdGlFcjhvalVBa0VhZzN5TGpDeWVJNlp4WHM2UjBkcU9sU3RtQThKb0FEcmxEVDhCbFpMRUxUMGNYakpYRVpvbDVrOG5zajA1Rlg2a2g2QmFpTHdGYjc0b1BtZ3RVNitvNlpEVDZ4NXpjWG9ST2ZnZkpmMWIwRnVmMEYwdGFpMTg0bE1WeE5qejVWSFlHSUVvTERlWVlVeFpKcHpJd001SFZwcldpZWVYREo5U2lpL1NqN0FXUmhjVjd4Z1dGWVJoNkZrcGgwMjRxdnlDRlFCZ1I3aGY5K0F4VG1tY1lsNHFQVnV0OGozVFZaM0lydERqNFIwUDZsUHNNQmFQRFpMdW9rbE0rMm1mbCtMUjZBcUNPRDRQcjVPQ05Ka0RIaDBPdlFmUC9YVVUzLzJ0amF4enlRNk1iMis2TXlBSzdjNHdETWNrbGtINFh3YUZ0RFRaS1lMYU14WDZSR1lKUUpxV1N0ZWUrUFlNRG9kS3E4ckpvOUh0bzkyVFJpbTBKVVBGQzNxM0ZNeFo2RmtwcDAxNFN2eUNGUURBWnhRc0J0eUVqY2RLaVgwcnNudHZoaDRSZktXa082T0laTlltSHRMa0RpOEp6UHRzQkZmbFVlZ0FnaEFsUlVieEJDTW5RNnQvZFUvakt4UDZKaWs5TkF3dmsrdEx3YlRzSFBHaU9xcXZ5bE11MnJDMStNUnFBWUNsOVFaMXRCcTcrbE1RVjhWV3U5SW4wR2hOQ043YS9hT2NBbXQzUHlxWG9saGxlb1owNFJUbUo2bVdsL1dJMUE5QkZwcURoU0wvQzdyREVKZkZjTnIzWm9PRGJxMjZ3Z1Nla2N2TE1JSnlTSjdzbnNLMDVOVjZFdDVCS3FLUUZzcHNCQ3k2enFiQStubERYYXM2ZENvaEdKWU8zdVBYcHFIU1o0RHgyTEtwU2FsTUoxYXptZDZCT1lOZ1FXaVpsaU9rcVpEZzJESG1nNE5HdllZU2xmWmt4ZUdrZjYzQ3pqVU9vM3BDQU0rd1NNd3p3aGcya0tlUk5SUndrcTdSS2REaGVKYXQzYUhZdmJ6bnRsdE9wbUs2NFhiWm5KUWhJU21NRzIxN3FNZWdUbEhvS2R0T0J0SXh4RHJGSjBPdmNXN2QzVEY2bWRFUW12UVBPbDFQalFwbTdZb205a1R4WHJKVEU5VW55L2tFYWdzQWkzbHlnMlVZNGl4cSs4T2JkMjFlaENSMEFBNk1ydjBuUzBvVk1RWW1zSzB4YWFQZWdUbUhJR0IranRDYUxYaW1ERFdxUjBJbk9oZFl5aEMvQjZ4UTROTlBvaktjVGVrYkJmZ0tVcGgybUp6THFMclQ1Lyt2Y295K2t6ejdjUEtNdWVDc1Vxakh3VDByTEFEM3MrWTZWQnBvajVyWXhHWmJjSGZLSEVSTmNRY1krZ1Z1K3kwOFRTbXA2MTdCdVUzbTZjUHlZY3dnL1pUbS93eWVYdFRIbUtlU2ptbm1aVkdINWhTYjlBZXh4WmE3UjBkNW82bDllcDUwZGtXNUs1L0RiVVJjMGtSVkdlalVxT1NDU05wVEU5WTVTeUxkYzRPZzQ1WUdqSkxSbUxhWGlHL0ZLeVlzK1F4VkN5cE5oZ21aVlU1dmNyb1U5em92TVZ0RG1CZE9ZWllTc1BTZWpsWmVJdXNLV0xKYjN3UzlabWJXYXhWRUVZbEUwYlNtSjZ3eWhrV1d5V1BCc0dHL0U3T2tKT1lwcnQwWStKQW5HSWVRNkNTdm14T3BxdU1Tb2NxalQ1RlR0OXdCbGZQVUVjVHNuWlBqeHZoam1tenlyd3ZvZFJkR1dOcTlJRVdkUkpNWTlwSkE2Vld3b1JndllCWll3ZTlZTzl2MEpmL2Q1ZFM1WCswbHJ1a2tGWXBxOHJvTTV4d0JJSzBOVHZLTVVUenNHOHNSVUh0MjF1NkJld3RjOUFzWW05TEN0T0NpL201cjdJdENEVjdNMTgxT3RCbENsWTljNEIvODMvNVU3d3QxNnZCOURoY1ZCcDkxcEZWb3M1S0dEQmgzZnhWM2tNNlV0MUs3RzNQZXFVK0pTaFI0eDBSeGgwMjQ1NFdkUkpNWWRwSi9hVldzaCsrMkczNW9TeTE5ZlRHRnNKdCtwZU1KeHBUQkErRXZITXVKYlRLNklkQVl6Z1M4NWZ3a05KMThodXY4RWVBc3hKTXJkZDROSFc1cUo0bDc1TVA4bXdNdlpjMXlpTE9XRWhoV210NVBvTGIzTEUya0JOYkZlTDdKUFREYjZSWU80emIxWnZ2ZkQrZSsveU5vWlZHUDN3Uk1NTWkzQUNRSlRwUFVyL0hYeEY5T3BRbmFUZnpuQ0tNdDNJTU1FZGU1QnhyeFp3RVU1aDJVbitabFN4eGU3NGhIWFpsdHA3UlZqUDhSQzh5UlR5RGRpNGx0TkxvaDRCRGdNVDBKVVltS3B4OU1RTDJOS21MUGgyNVladGxuV0M4RlRUbXlJdGFSWWF6ZXdyVHp0b29xNklPMXlBYjFvbmhaYldmMXM0Sy8rd3VKdmtjOU1KekthRlZScCtEQzF5RlZvdnRZM2VRMnIzT3MxcHAwNkhCb25FTzdyNmFCZDAyTWtCbjd5elZIK3RrNFJTbUo2dHdkcVZnV2h5eTFnY1YxQkhyWERJM3BDV1VBdFE4U21pbDBSZFlFL2w5SElYVEpPMWpudFZRdzZzZzF1NFl4M1pWRkdXRk9ic3VReXo3a3ZKRUtmSnBROGxNVDF0ejJlVzN4QWVzbmVLVks1c3AwZDZJTHdlN1pQb2NSTFo1bjBjSnJUVDZBdDZ1c0VQcE1nQU1uNXR5N2d2eGU0SXFlc2NEdWExU3U4cUJ1eUVQdG1iWjRqdXNhQjJFa3BsMlVIbXBWY2hEVFVuMTF2MWhvZ3d2Qks2ZFBQL3NNWThTT2lYNjY4Wi9pR252emZiUGE1RnBnejJCZmg4U3VZZVQ0OFc1SjNScDNaV1UybzFabEE1NWh5RHRtd1pWajd3cWN0emRFNWwyMTBTMHB0OGVSdE9tVHVseWVLQnYzV1dWZlh0djZqcGRWWUE1bEdOV1Z6MlBIbFN3aEZZUi9kR0hrcUJ1WGs3S0dUOGRpM0Zab1UzeWs4d2txZ3VCb25OY0J5bjFOZlRjbmlnVmJGdFBjNytJeFRLSlRLZndPMjNXMXRueHRGVkV5ME13NzdCVXZOKzNXR0NwT2d0MDY5eFJGUFJtcitWV0VmMVZYWXMwbiswRDU3dG13aFF4cURLSHRQais5L0NTN0FWQmgwdC9yUVVKL1RtYWszQjFkTkZibEJ4OTBsanpCOGVUTHNnSlZZMmRuTVQwMkJXTlVhQXJQR3BqbE1ra2hUVy94NGdRdU00Q3RlYm5Na3VWUk5BU0JsRExkQzNFTjEvc0dGcEY5QnRpRmlRS3lIWWJhNjFkWFgxbU42N2lUYUdqNGhwVGJMNzEwWThQSUtDRS9NTEhYL3huQ1YrREl5TEhUYXkrYlhLVi9FMzI1N2JOWDBGWDdJYjF4REh0dGdXN3RzV1UxUnMyYmY0NGpuTTVadFRRV0E3RFl0L21mNklUeG1iNTJ4UlB1Q3U5aVNuc0ZDcWhzMGYvdm9kTy80NHBDYW1iSFhvT24rSTZPUjBHZjltR2hEMkFxZEhQTUpkc0tKNU1SdVdiWXorY0hlT3gzVStldXcxQmZZYWM0NlpkZUc1bXY3UzhLWUp4VEU5UlhZNmlBN0d3SXdkdGZwS2VtSnFDcUE3RFltdDBxNHZEYS8zcHN4Y21xZzZQN2taWXNJa1hJL01xVkVKbmpqNTBuR3ZXNE5NVkhwczRhTmF6RmtyR0ZVcEsrMnRDbWt5TnFUWEl6VkRYR3BHYmoxLzk0aGQvOStyTk5qazlqaSs0S2x4TVlmWm5DWG44R2s3QVBqU3BsNFV0WXlaUEhZdGhldW82MHlwWUxXWXlaQ1NzOXJyNmt2WFAweGdaTjIraGphZjdTK09Xb3ZSWWEzS1hsWU94Yko4akYxTmZrUkk2ZS9RYlVBWHZheDlvL2M3WU5kdDVXYU9kTnZpYno1KzlsUTEwbTk4NC9mWGNsVzJLeno4djhhMm4yMmVmLzdwZGZGSFlNbmJHdFBISm1KNjQxWUoyV0RlRkluS2swRnh4YWJsdk44LzJndjVFbGdhRzlVT0dGN3o2TjdLQksxSkNaNDQrVy9mNFdVT1ZPRXBYRHBlNFh5RWJ1T0lvMmtJdlMydWludWZ6bTFaQk5mSTJpK2tHUmlkNXFXOXVVeXorY05EM1B2a3B1cjhvaDVZYWFRekR1cndPSXJtUmhBSWxkUGJvai9EVnhHcHc5WXlDV2p2ZDdObVdhL1VpU0pXVzBNbnpyVzlacnQzU3VIUGIwT3NuR29VeWVjQm1CWG1wQjM2UzdNWFByTkVpV0NaczhtWWdsNkZZK1dsUk9rRXVycjAwd2pDdlFBbWRPZnJvMnlFOXkxS2JDZHZJTWpSYjdsZTdaajhFazZLZXR1UklrRGJkdlcyaXlsbmNCMDV0UTlrRGZKYS8ranA2dlZrdGo2Ym5YbHlSRkZNR1d1RUNyLzFKUGpBZDhrUEcyK3RPak9WalNSd1ZLS0V6Ungvejc3dVk2dEJkUmZ2Y0NaOEVSM0NwR005Rlluc3hHYXZDaG9ySkUwbmJwSmhYVzlSZjBuMUJ6RHM0Ymc5UC9wQlZpY0gwaHFxN25lWWxWR1RaSWF6a1pLNzFubDU3ZHJHUVlpQ2ViMS9aeUNsbGk1UFEyYVBmbzZ1bm0vbzY5WnB3OFNVaXNqQjdOVGVQOUcxTlpBRWw5bnBXR2ZXQ2RQVWRiVHIwbHVyY3ZpdkY0NGd2TmRpWjVHMlJSNTEzOWJGRGNXbUZpcFBRMmFQZnBmTFlKWnBadDVydG1Hak9mbkFhWmI5SWRlTzhCZXVaemsrMG0rNjN5K3JJT2o2LzFoWE9ZZTJJMFFrNy80NVZMVXRaTm80aVRRM2hqenF1TUlLMERVYS9iWEdHYUxpVVRBN3JiYTVCSkhhRHRWR2NoTTRlZmJhWDZnRjkyT3hsZjdPdEJlcXBUNnFnekJ6aTE4a1c0b0tZYzFudG12NXNKcWlZTG5HMnIrdTBucnJ3UGZRTWEyQmQ2SmNUdEtVWHdUazJReFpmRW52YzlGd2V4dEJnWDh5WEREL3paVVlDMGJ2REFvbmRFR1NzVDd4YWQ3ZlpvNC9wcGxmUm56L2VWWjFxWkgremx5WXhMVlFMTGtJcm1icFRUZmRQdTJoeU5uVXNacXMwcVl5dFBYVFZ2dDdKbnJaY2t0NHhwNDJiay9oZW95ejBCZnl3ZDZPNVBPVVRObXRYcjdLejVDQ1l0eGdKM0ZsN0xKRFlqVEJYckN4bU1ZYy9zMGNmQ053ek81VG5xN0djWnpXeldhM3pXT2JmQmF4TStXbzc1M2l5Q25Pb05KTlZmQ1FHeTZiNXZXMDVtZTZHa2tzLy9iZ2dvYmZEVVA1ZkRCeUhqSHBKcU9McFpRdlRjbWVQUHVDN2JIWSt6OGxOdFh5NG1SVTdqaDFsclZrNG1jVEw3NWhKQjlVMXhuKy84N1hhNTFxSTNDdk5pOVZOZ2MxWFdZUUtXaWwvc2ZDSzdVV3lNeExnWGc2bFdtNXpUaTlRbUlUT0huMDQ5RzZabmEvbm1SRHI4aytjV2JUVTJGYldpMVRRUkZhcG5hVEg1aGMxK1N6MkIyMVpuOXM4RTFuWklQU0ZqQVZZd0hjOW05Nmt3Qmg2ekZKR1dVODVMRmVVaEZZQS9ST2hUa2lFV3JiSXlod3RjT1RJNGFkVk9YYXdDU2QweXJWZ0hvaVNRbG5wck9WY3N3MlRkS0hIcllBZDB3ekZNajBYbnZxMjhFTlJDYlVHZ1d4dUlYRzdqQ3JuK0Z1VWhGWUEvWDN4c1pLb05YWFh1MHkxQWp2Q3lMRFN5NHhtckUrcloybkJaZkk2ZVZ0TGhTRXRsbVcxYktVcDhrcE13RDJXSy95QUY0T2FkbmZjR3VETFpVV1djMm9RUlVsb0JkQWYyWTYydFZ4ZjBNWEN2dXo1bitWNitsN0doc01sNFBtWmNrN1pLMHhiMlFsOWhCQ0cyeWJYamZISFBMTUN4RERIZW9NbjFvazIyUjRoVEVqZ3IyVTkwMk1mbGk5S1FpdUEvc0FXeUsxY3NyZVE4OXVXZ0wrYjVGYWFOclkxL29mYkRWZU9heGs1RUpkNGxqWkNMWGNyNHBmZnR3ZlYrUEtwcWRETmhHcmJrejZqMUJKbTVpRFVja2M1VGRpaUpMUUM2R3YvYlJSQ3RDTzFFeE15TXdiL24vWGhOZk5MaWFYdVpXeHBXd0ZLNGFhZ1JraGh5dnB5cUQ5SGg0bVRuQU5YV28rYlNsWHVUektHdHBpdGxVK2hBeDlGU2VqczBVZlAxTVlqaHZpUlBUOGEveHlhT1Q5dThhVWRwWGFTRjNtdlQ2QlpPZUxLYVRWd2FqcXRUNnRzTzN6MHpjaWhOa3VSVVZVcmxTK0kyUktwNEhRbXNFT0RjS3BzS2QyUVVid0FwdXNxNWl4VUFmUmgwTDlpOXFlVHorN3BpdGt1czNTNXNlWGtpYlpldXFPM1hENm5hRTM4ZThrVVZTUVdiVkNNd3IvUk5XaFdwUnZXU0I0bkF2K3RkQU0wbE1LYnY0cEZacVN3ZjhETlV3Z24rUnprb1J1VHBnTG84ejgwMGhnZlNQdEJKZGJlOGhCNTRpTXFqdEIrdnFIV0tPTSswcmMrTDdLRldpR2ZWRm45V0lINy9tWDdpYitiYWhQVS91by92UGRqdjB2Nzh1enpaMjgzZ043STVSYXcrSWw1WGhZRmk1NVFXMjhVR1VJRGZMYmp5TWRKZyswcEh3MHh4N2Y3UHRZOGV5RVZEdHJRTmpXU3QvSU5vYTk3ODZjeFRyLzhuLzc4ZFRFc3pqUDZLMjFnRjE1U0l3bUN5UHdvbFB3R0lWY0pNVTZoNzZrbkVBTkxXVW5iMzB4b3FmWWJDUm5sSjM4SnA1emhTTFJRQ1J2ZHBHZWtYV3ZUMTNmNTdQRjMwL0FRNHhpOVhnbHFqN0dBUEVFZlJPYWhodm00ajN0ZWNTV1hvUWU5Z1h3dWtnWFRKMU9DSW9YTWhJNXk1Y0psb1M5ditRVCtCcXRKVG9jbWZUUUdQMEp0Y0k1UFNPWUZWVlJjSWNoNmlibEdINXFJdkdTbjBOM0kwK21RaDNlRDdRZU53ZFdlNXBZVitJQ0p3UDhrNUY4RXRaOGdwd3pXRVVlY1NTZ1BLd250aytmKzgvK0ZsR3FuNHgxTjhDV01lMTRtVXp5MmYvYTBVa1kxaXB6TEJMUVNkaEFmL3dPZWhoRlplNlZXeUV1L0ZRUi8wVXoySU1oaS95U25yd09ueXQyOCttNTJOR1JFUXVjYi9jMlB2dmhpbDVCSFhuenh4ZmRMaExHU1hvWjU0QTNrWFN6VWtwWUZva3ZrWlp2T3gyTVF3UHZKTm11TXlQZHA3ck1mYnpLNS9Qc0liN0xnMlJlT2cvV1BmZzJwcjJ3UmR0amh2ajQ3MFJuZm1vaDlYakdzUVpYODJ0bHp1ekU1VFNsZU1abDVrakFLeTNFVGhwVGFMRlViaEYrcTVXd3I1RythVDd3blQxdHBOQmNBL1NQOSswYjdHdk9QbTBMWFdGQkFVd2VEbXoxS2FmaGVoTHdXdHlQeG5oNnkvdFM2ZUdORHpaSXF0Kzg0RG52NXY3QUdwOEdFT0ZockU2WGROY2FmbTR4OVhtRXJPWCs3Y3JWQnpnSTJtUzZWV0RpdlZoWnZDS1Y2L3p0Mm1TTGlGd0Q5bGoxa1hvcjQ4VmJsK3RhQnBrVGdHUlFCNlVXckV6QWRoSDBhaU5WN2NEdHlGelFzTlBsSGNrZzlPMk9LY0JEMGlQS1F0TWYybWNjL3I3R0FIWTAvY0p2MVkwV1JkRzNzNk9kSWRzLzRtTDJoSzJSbVlYZXhpNEIrVi91K01XUjJpRDFOY1NRVWtpZjFsd1Z2MUhFRXl0cW4vMnZTRlNXT2xDNDFvU1JXK3hKZmRaREJTTXdQYmhQbFI2VkhZd3J2cHo2WktHanpneFAvdlBLWEIyVkxmRTMwVXVNZ0J0Vk1HcHI0M3NncDkwMWg5cTYweTFoUWNoSFFiOXJtWkhRL0hsOS9CZjFYbnluRld6VFVueDhMdng2dldjSlZ4aWN6d2s5S1FqbXNZcFFNTlZkcVBvakpXNFRDeEFXaDhvRlBhcm50Q1g2aENOOEt3NmhBVTF4RWZ1bzkvbm1sRnJFeiszSHJ5c1pCcklNeDlPUDhHcWhQRHpaemMrVzJvY1pZdTNGMzhZdUFQbFpOVzZKenBENTRJVlJyWWhUQWQvRkFvWWMzYWsvRmVBZ2tTVmNabjh3SVB5a0o1YkFLRyt3S1p3S2ZOQjdFNlFPaC9yR2tobEFxb1FxaUU3a3hCSzcxUFY1QnpsdkM4OHBaT2lUcjJTOEJUUjRITVVpbGZ0MFRyZmM0QnVoV0NZN0dpNEEra0JKN2hEaUkrM2JDbG5oek9zYkxndThULzh3TDlIRmZ4YnVYY0JtVHFWcVJXUVhMWWJXdkRZRnFLT2x4WWUyK3Fub1BDVlhmU3RoUDNJeURNM0tvaVBLRUVwNVhucUtTNWtUcHFESnRySWRydlFSM1JDMGpiaWhoeGtCcXZpTFAvZjBpb0E5cjB2S3BkYVExeEJGYkVpK0xVdXBaampHaXVrZjNZdFE0MEZ6bERTSXNmSWdkRFM3b3dtZElLQ0k4RDYveTdmR2dTSHBlNDlTeU0rVUlSL20vemh2RUlLQys1VTF1S0NtRlloeTJ4cVc5Q09qRDMzL0Q3UGVJYUI5Mm1yWERWYkpnNWVaWGRWTERLdFV6ZkZnaWdMZFR6VWwxeEtlT0hVKzhCNWV0R2pTWkhhcEZtd0pkaktiSHNycGNnYVRubGFzd0o5cFJySTVUVE5MaUV5US9MUGpHcUM2RUIwdUM3c2xmM3BYVVJRVXVCUHBZVm5UWkJLaHJENnA0NG5kTWtqQ1drQnhIK3BwTmczd3A0N0t2NXFjQU81YjR0ZTlxd0JoamFOQVJ1ZzArb1dPK3lrblBTMnNyTXppdGhOS0pYdEVJK3FxbVE2WDJMbktMdkY4STlQRTRiNWtnUlNRVVUxdG43ekZwV0l6YlVqRTVQa2tnQU95RVpzczhMYmQ1Qm96NDAyQkR6aGpTVkZOQ0ljMmh1M2Q4Q1UxNlhvS25QUGNkVGFqeTBOczBrRXJadWJwdVlMY0orY1V4dnpoMjNmbmpGd0w5SGlHSFpwY2I5aGdLaHhnaEx3eE5Lc1RhdG40Y29jaE1vRFdYYzJXeWtrV1FtODE3ZWswbit0dlpFN1lsS1BaaHhZOCtwSk9hRW9xQ29hOFRNelBHRzcyZE1OLzhiMlJkU2M5TEV1UUlYTktVOHh6a0VaSWRiVG9VWFZWMjB3QTRudjlLaEw2WUJJQ29ESWQ1UlIvd0hadndET3psSkhBbTBTdXlYOGhMYUFpTTlXdElLT0FWMDZIMFR4alUxeEJENDB1Nm44Z2VRM2VFYWdoNU01NVAwMnBPUm9lQ0xPbDVpZnc4OTJrbDlFU2JJdWpxNWxDTDhYditrVHhNVEUyemZ4SFFIMWt2UUJCRUpKVE8zdEhyZkdoQzFyUkYyY3pPRXdzckx1TTNEemVwTkxtWk5DUzBCVUg3YVhFTjlObXFwdjU5cHkyYll5alV4RkF5YlFsTjVPTzZZRC9wZVluOFBIYzBuNGNza2VaSW1OR2d3T3V6SnduRnFvZmZseWtGQmk0RStnTmxMM0NvSWhJcVo2cVZ4c0JJL1JnYUt5MkdoSFpNRXJIdUZ2aWRFT3NEWjBvb1ZWVVp5cmFFL2xPelJobDc0cGlSMHgrSUI3dXM1eVh6Y3dTbUhVUDdhb29BL2RMMGREcjF3aTc1UWNuQnphUWtIZDRXdjgwbityb25Jd1FpWW9jR20vZ0tzdXVXQVpYNDd6a2owVWNNQkxwcWxZS1JIZ1NZRUF3TlRaRnVTaWpNejlEOHNPMVFRWjV5VDNoZUtTVWlXWmVtOUJUdHF5a0NPRlNWc3l3SXZzTGZKYmxxTjlLMnU0U0xnRDU4aXZiU2pvZ3ZGMmNCY0JIOWdRR2VsMUFEanRoSThqc0NhMEpUL2xBNFFVTEg5K1VtUGE5WUJoTVNwNVhRbHBvaWdFUDFPM29yajNFUkhlcUp4WVF2QXZyNGtyOWlvUk1qb2NFNjNWOHNmQmVDWG5jQWlEUi9OeEhvUlBIbEJIUk8zNERlbEZDcDVVNGlvZkhQeStRc1BUYnRmQ2o2dmNkYk9MSTM1enpiUk5kTG1hb0RGd2JFcXMvemd6N1dleGgyRS9vUVdWUEUrdlhHSnltcVE5VkhlcDdSWlQzcXd6RUl0RFNmcHBuZGU3bE54RlpKbG1OS3FQUVVqYittaU5VVzg3ek05dE5qTzlwQ2kzVEsrRnpJeHBEbllDQTdOb2xxZjlqR3UyUXFaQ2FGbzloRlFCOVd6aFVMams0Q2RsOENxbmMxV3V5S09kQ2lQRGcvKzBPRE1sanRSNjJJRUtoYSszTFAvTVNaRXJvak5CWjhRNGRSbUhPazJNOHJSeEZGVXJlTTVEQW5QMktRamVPd0RGNFQwOTZteVpzTjB6Z05TWjMvWGdUMFlTUWNXTUQwdFJrOEl3dW82NE5tN040VzRVd24wV3NLejZMQmhxdElLYXllMkhNcWd2dkYwMTNNVytxWW1CS0tncUYvQlhiSW9TZzAzdDE2WG1NVmp0M2JNZ1ppYUp1M2h5K01XcThnZVVEZjFXcEltZW82Y0JIUXI2c3RDQUllZTJ2Z3AwUUdMS0k3SW93Ny9PWjdXalFNSGtVbFU2U1U4RVFpN0tRbGxNSXFsTlhvQ0VLNTZ1QzFiUmpEb3ltaGZUSFpqdVM5dEc1RThwS2VWNFF3TFNHeVNaZ1NqNEVZMk9mVll3eFFtdGZhYmRGb056TExKM0ljM2k4QytnQjlhRUZTTjdjRzdwTVBjZ0s4Sy9vWWlvKzdYZFR2RDdXd0REQ0NxRlhqV3VZNkhSZ3hKbjFBcFprU09oSU9BbWlKdHhSUmRpanhlV1VYMVNoaXoxZ1lZMGR0VDBwb1Mxcy91RURrbEdTdmpESDBJcURmMG1lVHd5ZGtubE1FZFVRdWdUYmZGZVFjYTgvVUIrTVFnQ21nVGRjSC8zYVhFNTFRL1JZeUtiRzFaMXZhMHZ6UXg2QzRKc3kwNU9kbDBtWEVXbkdxYVVZWlBic3VKYlN0dVRYd3R0M2hWRHZtT0tDWGRSZStDT2gzdFM4Y1IwWnVBR2J4RTd4aUFqSnowSVNUVVdUNGV5SUNYVU5KSFF3NVlmT0FCdkRHM3VVSlRFTFZMRDVkZW5NY1pvazl6NUl3TlpEOHZGS0wyWm1qaUl2ZnBraVBRN2NOQ2ZERmtGMmtBbk9QbDl2UkJEZTlxbWx5THdENnphaXlzV2dJN2I1UzA3YU5EQnlNRmF1L1RRUG9CU3dMaWJraXU3VW12bW1yNGJadWVOTFZ1bnFNcUdydERYSkVwRUZ1eUFxeUE4blBLN3VzUnRIUXVOYVNjd2ZCL3k0anJtdFRTblFTOGdxdjRtU3NYdVZ1MXlLOEFPaHJtNFJFNS9EVkM4RmxDU1BsY0Z3M1hJLzRqMlh4RG9tUy9oNUZBSnFHbXZoYkZGNmpWcGdtVHhTajVReWR0NmNXNHJUTUpUblJKb3lVNU9kbGtHVkYybXJreXlLTnpjZExkTXd5dWxyM2dZVThHcVV2UTdIbEhTWE9QL3A0SzlUN3cxRkIybTBGVUZlWkRodTZYNFB1cFZMZmYwWHZReFlDVGMzVzdQRjVod1hoY29NZ1hoSDB3RjNOcXd4VXVFZGVFU1E1N3NuUEswZGhTUUwzMUtHTVRCS0FRc3RlSW5UcXVpeVB5UUJwZHcrTTFScVN4SFZnN3RHSDNtR3NtV1FBR1paVGg4ai80ZXFiVDYwM3BUUEI5Y09vYUgzZlZ2NjFXdnRXeUdSSHZMYjR4b3RobFk2aDhoT0lJVWphcE9QOWcxWHk4eG9ISC9CeVBBNTlsSFlRemhHOVh2VXZnR09iLy84YjNUZFF6dWQ5N3RISEczSWxnbTVEWDhRZ1B2djAveHhOclhhL0ZFc2l3dDI4SmNEbkkxNUdjZXJKdjVjREM1VktMclZNeXhWRFRGOTZjdWxCMkZLSWMvUTkrWG5sS0N4Sk1DMGl3NU1GK3FHYTBCRGFBcTFsVFluOXlaUmFkRjZtNWg1OVRPa2VSRHJiMFVWdjhYeVhFM3pTQXJVYlV6UlNsMDhJUGltRXNOWjhsTUh4SnhETE1FU1BvU2N2SDRjZ1FWcS8xNzNNd3BocWxrTW9ScDV4cENYNWVZV3Q1UHRkSGV1ckVGZm5CdlBhYnBuMU5EN0hTZGZhNXRjK3JnWTNhZk9PL2c2SldaSnB3T1FBQUF5RVNVUkJWTEJ5UkxpNVJER3FOZmxKMUcvU1hob0dYanVtcUJ0VUwxWXR0UUY1NlRidFVvc2RNUDluQTBnbE9XTWo1NCsyYWZqMGtmOU9zNm1FTHNyL0dEMmtTZXpDTUhETWd6bHV5YzhyUjJGSmNpbXlKMUZtNVF5c01iZmlTR29Jck5nRC9HOTlhMVo2empvbkladDM5SHVHVjRnallQN3A4LzNrT2J4ZnRXZklPWHZOSkVwNG9YWmx4QWRTRUZob2svTi85T2YvWnhUcUlGUW1jVjJtQlU3Q2NPZy9vUklhakY0YUJ0dVBFZkpWcmI3eHZEWkp6MHVyTUR2WWkzRlBaSmN5S0k3d0FmK3kvay9GeUswMXp0K1AyNDkxeWU4WnRFVkc1aHo5ZlRHeHJHTmtxVGlmeFgrOFg4TkM1ME9kQnJ1RXcvZktUQ3c2OXJmKytMMGZlNzRzQlNtMU03VlAvODZIMzJhY2Q1dE12dHhra3ZnempJTGN2UHJGcTlmYW9ZVGlyNk8vaUwrT1p1WW5rMUQ4NSsvakdHRi9RNjlzVEhNaTRYbnBOV2FHVzNMdFR5WnBFc0ZtODZ4SmZtaDl4TmNINU93cUZJZUhrMG9Wa0Q3ZjZJOU1PeUhFQi84NWJnRDFyYWZiWjUvL3VwR0V5T0xVaXBCZFkzYWNUcWhwM3Mvc0FzVlJqQmdyQi9rYTJIN2Y4MmRmZUU4R0xaUFFZUE9mdHg5L1pHaVFIdWwrQVNNblBoTC92T0pwRTFJYkRpeVloWWRPMzJvSktOeU43N3RHbm5qa01LSFpZcExuR3YxQnJKaTF5VEFicS9yMGlsQjJJeFlGMXBMaHNvOXRzWWpLaVdJZ3dMWG5zTEZRUW1NcXZCU2RzNDZoY3BtRTZkQ0liTG1zdjRKMVZSWDl1T2xRN0l6SzQ2VnRXYTdkTWxEZmZPK0hJUm12bHRGVVZodC84TlN2UVVLUHM4akd5RTk4UjFiaUZKMHhLaDZmZE5tYVdCdS9ocmtyVVZIMHNmTGpUZ3lXZGJtK09TWlRKRFgxbFVjaXNmZzdodEVieGJlU3F3V2NZcEtMTGlkUjRqdUNFUzFuRmE3SWxzWmF4dVNxMVpuV1UxSDBNZTkyUFFhWFZUbkhIcFBKazdabjRTaEMyNURRZzJTdVNzMXB1eDNiRXQrUm9Fc09TKzBZZk14eEgrNXllU2k1dFlxaUQ4OUxuTDJSUi9xMlNqZU93a2RXZDJ2OFRmRWVZR2h6YWhFbnZ5T2xDOHdvanlOaUN1Z3FXTFI2NlAvdm0zZURZQ2xoRkJobGE3QjFmVGxYaVlqMzNScC9VM0FPQmNTcFJaejhqbXlWckhUV29sc1NwOEJwUG9wV0RuMHNWTUcwNGtuQ1FKaEQvRHJaUWx6SW94bTVOZjZtNEJFS3lJMHBpa2VLSnI4alpVdk1Tc2xmaEFnVU0waW9IUG93NStEbTJDZFhZc0hJZmtTMWhORTN0anFYaWMxWk5SenBST3lhNWdoVi9vVGtkd1RPOWR2NTY1bWVzbDRaVTMvNnZ1U3RvWExvUTFtRWhEYVNYQkRObHpONnRqS0QyVkRLa212akw2T2JhZG11TFdLOEkycTV2Tm53VXJraTA0bjFUcGdzWGJSWTVkRHZzS1U1aWY3WW95eFh3WW5UeWZyOGo5dTE4WmUvNVFpbGE0czRORHdpemRDRXpRUnJKSlo0NnNSdHR4NndxZmtwcFlMS29ROEpmUlZMYTE5SjZQMVdsb2sxT0U4b1dYQ3lhK052Q25aZFc4VFlUWitvdVl5Y3pyeG1kSHJqdFRmWEVnU1ZRMytmbkI1amJuRXY2V0UxMDVlbkw4alRBSklxS0NqZHRmRTNCWnV1TGVJTmt1eW1YaXB6QWRkK09RZVVUQUY5QVVVcmgzNmRia1FjSlg2ejRlVk45VTNVczdUZ0FqQmtWYm8yL2libjA2MUZ2UERpTnlDZzVQUmYvNDlZanJZVHRaMVk4cWtTYTZXcTFGT3g2cXB3RmRGZkp6OFR2Q2xsU25OZG5BSVFEMEpELzhPUmVKSmlVbDBiZjVOejZkWWl4aUZiL0lybnFNOTJmOGZuT1U1ZGpGMW41cmlSYWxWWFNmUS9RMDRUWFljVXZsYWFvYmxWcHRKbFBFelh4cDlSK1ZnUnR4YnhLcmFOdnB2dUcwMVlncnRjbm0wNFNqZHd4Z0pwVG9pcmlmNlBOMy8yT0FYQWxUUUhmMnRtLzVMazJ2aExRU0FqcTJTTHVKTnNrV1F3T21iMmNvcG1OV1pWRjRlOGt1aDNraWJuNkZHS0J6TUNIOGJmclBScnU4ZjErRjBITnBtcitJcDU0bytyYXFQMTlNdjZGRVNicm01S0pkRmZUbmIwOW1hbUI4SDRTNW9nS3Z2eHdpSk9kYWE1NXFmbGRKbCtJbmRyTXpOZ0VsbXFRa1lsMGU4bnlVSnRkcTRFR0gvM3F2REF3TU9vNUYyYjYrVjhFT3BWMFZFcThwZzVHNVZFZi91YkNTRFZqSE91RW9oY0p6OXo3ZnhmMGMwNGhwVlVlOHRENUltUHVHNHFvNzcxcDl0ZkdBYUI5WjlVOTMyc2VmWkNvWVBxM3h4bk1PWWsrMGRMYWNVSnE2Vlc0dEZQaDd2MkdNSEpjVCtGLzRyUngrKzFCaUZYQ2VFSCtxYlg0Q3ozUjlvNGplK2xYY3NpL2dUbU1wdUVId2ZyckMxZmtVZGdUaEJva1I4ZUIxOCszVFdOdnc1NWVEZllmckFzSHdyREN2K284czFncy9tb2FSR3ZrSmQrS3dqK29wbnNYWnNUb0QyYkhvRkpFTGlmc0xQWUczY000KzhONUYyc3NsYUpwbE90d1JwZFBEY3M0dG9nUEN0K1dSL2hKK21vTCtNUm1FY0VOdHZoZlAzU2R3M2piM0MreTNxelVPSm1xYS93N1VETkIzV0xlSVB3UHlUWi84NDg0dXQ1OWdoTWg4QVJGd3ZzRU5LbVExZmw2djNCOWVucXoxOGFITnhoMUVkZ1JiWGFGV3ZOTjBvY3p2Tno3U2s5QW9VaWdNMjEvSy9DbXZwMDZKRVFrU2NOLzI2aHJQUUlYeDhMcDdLYS9kZ1UzNDJWOXN3V1d4WGFiVis1UnlBTmdSNFJPMmxhK25Ub2dDdTMrSWUvY0Z4THE4Tk5IcjRWUHdocmdzTklyYURkRUFkT05QaGc3NlkxWDR0SFlENFFVR3R4SWF1WEJjOXI1RFFNUXVFOEVJa0YzekZ5OHFZZ3EycTQ3UEhqbnFBRCt5VnpCVDhDWDMzMUVJRFg5QU9jcTdwbS9HMEpFZW1VZDRJdWR0YnNocXdZMDZFai90MVljWHlDYnZXZWhlZklJeEJGQUdQa0xaNks0RzFCc0NRMHlyNFlURVZPWVhlTWtXTENFMEcxS0xMSjFXek1rVjRwckhGZnNVZWdvZ2kwQ1RubXJHRzRsRXp1aU9TVm0vcmY0Y3I4QWdJNHd2UlZYaTJHeTN1eUJabjg1Qy96SVZabStZQkg0S0lqQUorTXRQandmL095dTVEUU96SlNUcUNsekdBY2EzTlpOa3JFY0M1VGZNQWo4SnBCQUFQWDkwVm45ZWxRZWlaMzFwL21pbktPN2hqTkQzbFYrRDVjbDdVaS9SZjk0Q25oOElIWEZnTDdTcDgwakQ5Nk9CdDVZVmdpR0Rpd1VTclpSNXBGSEF5UWNmNHJKWExpbS9JSVZBZUJwdEptRGVPUHpramlLbmJIbHdFRDVsck9SVUpIQ1N2T2RLS01rUE95dDhFSlh2emRJekJEQkREeEtQVkp3L2lyUWJlazEvbXdMTzU2bXBLdFc4VEI2eGtqaFB4K1daejRkandDbFVHQURwWEhuSnNkTmUrQ0ZDaWE3Q3B0S1d4TCtteURRTTI3Z0JObzMrR2xURlBPc2I5NUJDNDZBaGczNVQ4aVFDYUhxci9ZOFJKZXQxUmFvYUVCa2YrVkFabmt5LzlZaTEvaG5Jalowa0xaOEpWN0JLcUVRRjFiU2RmUmpiOGdXT1lpcXN0S2dheGpHWkZZOHhjWUZqSGFmSXlMNkxEQTluM1ZIb0VxSW9CeFV4NXlOMUNlR3NicSt0ZVlZUEQxdVVWelQzWFpQZDRJUnZZN1JudlBOaGtyVjR4RUgvRUlYSHdFOXRYeU9neGl0aHI1eGllcFlBeExnWUZPdHR6bUxkVU5pNWdtMXY2UWp1Z2xEZWVsOU5jMzRoSElnMERMbUE2TlNzQ1hJQmQzODFRME5RMzFXWWxLTUxJUFJWamNOeHVFek93Z1ljR0V2M3NFU2taZ3BQUkoyL2dMT1ducDYrK0taQTU3Yk9LblEwV2pFR0cxS0ZFaytydEg0R0lqMEZWREpEZisvbWlYOXZoVG90djQzeXJUSkJRWnJ1OW9TQTZSb1VXOCthdTBqVFdoK2daZEpjS3VHL2YxZVFRcWlnREcwT3VjdFhwby9BMm9ST3lURC9KVUxHbTRYQXJ2R0VQRjFDdTNpRGRlUWNNTDVFeUlhTStQb2FVOENkOUlsUkRvS0FkcW54bC9OV29NUXFHVUdtZkVhVk1RKzFDeWhWY1pHMEdwUlZ5L2h4OW8yWGQ0aXpzUlQxWkJyUGhxUFFLVlFRQUNNT1RNakppblpwM2FlaWRFZVcwVVFiRk00NnNnSEZYOHNOdytCdTl0Y0VJRmxWNDdraUNNKzErUHdNVkhvS2VtT05wczNGeWxxdVkrL29TQjkzMWJyVGtxRmcybzAxU3JwUmQydnRGeHMzdWRLcm5xWUlVVGNvUG0rc3NqOEJwQ1lFZnV5Y1RBUlQwMWwrZ3hCeU5sRTY1TDY3Qm9WTlJHVlRSL0Y2MjFqNE1BWEVsRHVTOURSYlBpNi9jSVZBVUJlRkQzUWw0d2J0TGg4K2dHZnJySytOdVE1NHlGWk1YOWRvVWRTc2ROREorYmRNRXcrSk1XOFVDY00xWWNENzVtajBERkVJQnVlY0JZZ25lR1NVajNGcUlkOGc3QloxK2VleUJTaXJyM3hGbWJmYkN5QitHa0s1eFd5Q21FbFYzcjZqQUludUp2SG9HTGo4Q0FPMktPdmp1aUVsQmplOUY2Vk5WbDE3YWFwQlJKUmQweEg4dXEzaVEveVZUdk9tVmlUZTZOZy91S3FyNys4Z2k4dGhBNENVZW1CWEs5UjhmUUZiWnNaL0Y4bDZQd3lmTEVBbTdiUTlycS92Y3dzTzloSUw5TVk0M1AwVjljYTIyNW9DRk04TDhlZ2RjQ0F1dmhLZExkN3dhTFZNc01SODlhay8rdDc1dktuSUxzTTVOM0ZkTFpnT3JOUjg4SCtOLzYxa2J5V04vWHdtUHhmZlFJQ0FUNitKUHQ3U2NoQjdVbUdhNjNRNnZ2ZnZMY2JhaTh6NUJ6M01xNjFnbTQrTXMyUGc0UFlPYnpNK0VLbzFyai9QMWc0TWU2NVBmSzRzTzM0eEdvRWdMYkEzSWF6bWpjVDg3YVl1SGRad2w1L0JxV3FoK1d5ZXBmRTlKa0R1VmFnOXdVVXl2ckEzSjJ0VTNJdzJWeTR0dnlDRlFIZ2JWdnRIL2hiek4yL3R2Z25YTEkvTmJUN2JQUGY3MWtMbi96K2JPMzd0STJONzl4K3V1aTdlMzNYU05QUEhJb292N3VFWmdlZ2Y4UEJXTU1KUzVtbkJFQUFBQUFTVVZPUks1Q1lJST0iCn0K"/>
    </extobj>
    <extobj name="334E55B0-647D-440b-865C-3EC943EB4CBC-15">
      <extobjdata type="334E55B0-647D-440b-865C-3EC943EB4CBC" data="ewoJIkltZ1NldHRpbmdKc29uIiA6ICJ7XCJkcGlcIjpcIjYwMFwiLFwiZm9ybWF0XCI6XCJQTkdcIixcInRyYW5zcGFyZW50XCI6dHJ1ZSxcImF1dG9cIjpmYWxzZX0iLAoJIkxhdGV4IiA6ICJYRnNnSUZ4ZCIsCgkiTGF0ZXhJbWdCYXNlNjQiIDogImlWQk9SdzBLR2dvQUFBQU5TVWhFVWdBQUFBRUFBQUFCQVFNQUFBQWwyMWJLQUFBQUExQk1WRVgvLy8rbnhCdklBQUFBQVhSU1RsTUFRT2JZWmdBQUFBbHdTRmx6QUFBT3hBQUFEc1FCbFNzT0d3QUFBQXBKUkVGVUNCMWpZQUFBQUFJQUFjL0lOZVVBQUFBQVNVVk9SSzVDWUlJPSIKfQo="/>
    </extobj>
    <extobj name="334E55B0-647D-440b-865C-3EC943EB4CBC-16">
      <extobjdata type="334E55B0-647D-440b-865C-3EC943EB4CBC" data="ewoJIkltZ1NldHRpbmdKc29uIiA6ICJ7XCJkcGlcIjpcIjYwMFwiLFwiZm9ybWF0XCI6XCJQTkdcIixcInRyYW5zcGFyZW50XCI6dHJ1ZSxcImF1dG9cIjpmYWxzZX0iLAoJIkxhdGV4IiA6ICJYRnNnWEdKbFoybHVlMkZzYVdkdVpXUjlDbFZmUVNZOVlsOUJjMTlCWEZ3S1ZWOUNKajFpWDBKelgwSmNYQXBjYldGMGFISnRlMk5vYjI5elpWd2dRWDBLSmx4cFptWWdWVjlCWEdkbGNTQlZYMEpjWEFvbVhHbG1aaUJpWDBGelgwRmNaMlZ4SUdKZlFuTmZRZ3BjWlc1a2UyRnNhV2R1WldSOUlGeGQiLAoJIkxhdGV4SW1nQmFzZTY0IiA6ICJpVkJPUncwS0dnb0FBQUFOU1VoRVVnQUFCQklBQUFHOUNBTUFBQUNmOUtWb0FBQUFPVkJNVkVYLy8vOEFBQUFBQUFBQUFBQUFBQUFBQUFBQUFBQUFBQUFBQUFBQUFBQUFBQUFBQUFBQUFBQUFBQUFBQUFBQUFBQUFBQUFBQUFBQUFBQUNYSHRNQUFBQUVuUlNUbE1BemUvZGlVUXlxNWwydTJZaUVGUlFhbDRCZGYrREFBQUFDWEJJV1hNQUFBN0VBQUFPeEFHVkt3NGJBQUFnQUVsRVFWUjRBZTJkNmFLcnJBNkdxM1p1N2JkUDcvOWlEeVNveklLQ3RhdXZQOVp5d0pBOFFnaUQ5bkRBOXFVRSt2UHBjVHRlN2szN3ZuNnBDVkFiQkxZbDBMemY3N2J0dXE2aHJldmF0aFduanJvV0ozRkdwaGxUdk4rTmZuMjMreGRoeWJCZGRxc2xGQU9CSFJFNER6WEcrbTlVb0t0MVVSeTJPN0locklwMGJzUDJDQ2ZERlJBQWdaSEE3WGk5M0x1aDNvai96ZjF5UFQ2ZVl3S3hjejVlUk9ROWJjM2xldGF2NzNiL2REc2VMMHB6dzZMZGFnekZRR0FuQkdUL1FXNjNQcVRRU2ZtTkwvRUdtaG5rRTc0anJORzB4aTRJZkpTQTZuWEh4dUI2V2JXNkwyeHN5ZGZkUDRvWG1ZUEF0eEZRMFhXMFB5RGNSaHNNSXZacjhKTmN3bTIvQ2tJekVOZ2ZBYTQyNzNkVXM2UG9WMFFUN1BQaWcxeEMxTm50VTNGb0JRS2ZJOERWNWgyUHJrV1U4SVZCd29IN1JKOWppNXhCNEFzSnFHbkdlQkRRZmNscUJJcy9EWXZHbloxMUJ3NUI0T2NKcU5tRWFIVGRmMmUvUWFndHRyaXorL25uRHdBZ1lCTGdhak16bFBCNnY2TXV3eFM1bXlPaHR0aStVZlBkSUlRaXYwZUFxODNNVUlMb1hId2pHZTRUZmFQbTBCa0VQa1lnY1NqaEt6dmtHRXI0V0xGQ3h0OUxBRU1KMy92c29Ea0lsQ2VBb1lUeVRDRVJCTDZZQUlZU3Z2amhRWFVRS0UvZ3p3OGxmTWZYSGNvL1dFZ0VnV1VFL3Z4UWd2RkJtR1dNY0JjSS9BNkJ2eitVY1BxZGh3bExRV0E5QVF3bHJHY0lDU0R3aHdqOHhsQkNmeFFmaitydTRXL0VMSDZpL1lPK1M5VTJSNnlSWEF3Uk4rNkp3QzhNSlR6bCs1RDBvZG5TbjJvKzMybkZkRWNVTzNSUjlsU3lvY3N5QXI4d2xDQmUvbTVsZlBDOFNjOVE4c3RRNGlNUzcvdUxYaHAvUG9SYndFam1zbEtJdTNaRTRFU3QzTXlMejZKenNTT1ZrMVhoUGxFdlFvVGhWVWhwYlRtZjBJdHZWblphZDBGNG5DR2paQjJSRUFSMlJrQzJjMktMTjIvZHpEdFJPN05wVUllaitmdTduUUo2R2VjWFc2Y2dQRUpqZkZaR2hDUEc4YUFJL29QQTl4QlFIMmVlS28xSGRkRzUrTWJXYitnVGRWbzFwYUNva0RFaStyQy9SdGw4SlNqUEk4ZXAzeVZBTWNKTXYwRE1VMnJoY1dsVzRtZmE4cmVVQVFFMXZXcDJGT1NYWjh0OHdsMTZGOU81SElYd3IzeGZ0UFFqaGJ3dkp2RDVvUVQ2R3J4eVRCbi96TXJvZlFKcWV0WDBadFNaZUhuVFo1NlU4WlVXZnh3T05QbFFyRmVTcVEyU2cwQVpBb2xEQ1ZrRjNhZ25zMm9xcDVUaERTaHBRbXRNdGY5dFZYK3F0d2szQzczamRzZ2Z6K3QwNjlnUTQ3Zno5TXZXZmx5NGxSaUhJTEFaZ2NTaGhQam9vNkh0dWJWcm9YSFpQUmgrb3kzTEtTUXNBZUNoQkx1S1V1aVEwbk9ZczBNS01sd0xlOWUwSDUrY0UrNVN3aGtRMklhQXFvZlJ6RVNmUERyNmFONHMrdE4yTlRRVGJIWEVRd20yNXZ3Ujk0U2hpRGs3WkF4aUJFK1VueEUzaEMyZEV4NitFMWRBb0NxQjhrTUpzdkUwYWtwVi9XUENlU2pCVHNHckRXMUhZYWM2SEdidElHZHF1SlpqMjE3VCtnT3p3bDE5Y0FZRU5pRlFmQ2lCZnA0K0pTNnZieDROSlRqZXlUdkE0Q296YndlNUJFZThLOGx6Wmw2NDV5YWNBb0V0Q0JRZlN1QWFsOVpXMWpXUWh4S2NRUkNxeWUvWkh2KzhIU0wyRnhzdGxNNDFaRjU0cmtTa0I0RkNCTGlDeEZjcjV3d2xxS2pEblBjcnBHdW1HUDlRZ2xxK05OZHhTTEJEZVZQUlRUck9TYk0wVHhCdTNZRkRFTmlJQUVXd2MzMS8wZkZOVlVmSnk1eHlTSldlbDQ2SEV1eDRSUTJlelBpc0ZEdmtLMVRqbHZObWRJcndQRk9SR2dSS0VWREYyb211RGZrWlB3Ylp2TGtGakFzMHBGYzdvRmJjbVFCUUxiVHRLU3d0VXV5d2wxZzFxYkZDaW5CTEh4eUN3RVlFZVBnOVBzVW9RdTNVR240VGN3M1VjTzVoRnBJVXVkb2dsY1gyYWZNNHpRNW5qVlhDZ2txUlQ1cHdVeUVjZ2NCR0JGVGdHODFOdk4yWDJQNDkzKy9uZ1liT2xnM0VSOVhJdmNnVjFscTZlR0NQTlROTG1tckhpVWNZeDk1RGt1dE1GWjVyTDlLRFFBRUNvbmpLelltdURkRk44bHRDSWlJK0hHZ3AwQTVtSWJsUFpLd2JFR1lwaStQdGVib2ROOHNwSlBqT2RPSEdVOEFCQ0d4QlFJVyswVEJmOUJ1YzZOdXYyNE44QzNmV1ovcnFmZ0ZGejFJUHdYRk5hdkFrT3JxWVpjZnJ5ak9LS2M1VjJwY2x2Q2dRQ0FPQmVRS2lUeUMzYUp1WjNHOFF2a1BXTkpZWnJYUHppaFZJUVRYVmVBZEJDdVdaUThkVDZQbGwyOUdmNUV2UnZNMkZDZG5DZGMyd0R3SzFDYWcyMCtsdzYvbDJxZjJHTzBjVFBNVVdGYW1MbC90VnZwZEF0ZFFaRitXS0d3MTdGdGx4VXNPV1VjbkMxRVhDYlY0NEJvRmFCRlNVWUhlNDlleEVrdG1WZnBUK3BWeUhhQWZGNXRSRlhhYTViMC9tY2EyZC9Sc05iVVFPSk1CdXRIbjVraGdFRFc5TDdXRDM2b1FsWmtaTGhadFNjQVFDdFFpb3NZUll4NytkR1h3Y1ZCTVZXMFVHVkJland4UERQZnpmbWN1YjlRYVVZS2J5c1dleUxlUFhJR1BLSmRweGRudEdKRHMrMVpJbzNPU0RJeERZam9CYVJ4ZkpVTFI5YVgyQXkvaEdOSFhYNDFYRHpMREs5eExZSlpnWkhmaGtORWhJc2tOR1Y2M3RGQWhtM0ZFbENiZDB4aUVJYkVoQVZSRzdMWjAwRU1VOHJYS2ZwZytUY2tzOHlmalFuZ3dsN0dGRTdpakZnb1FrTzdpUDRJQ1JPVVk3VEVuQ1A0UUwyWUlBRWVBSnRIRFhXbHdQWDlRWnR0T0l3MDVtSWVYd291MFNLSUN4UDZxc20zRklzVU90YlhCZS9KQXV3UjY4eUJadTNJQURFTmlhQUZmZllOZEFOUGpCYTRhcVYrMlRZOXdVMjJHMWtYeUxBemtGWUxrRTFpeFdhNVBzWURIT0dJdjBGRmFHcHAxSndzMWJjQVFDR3hQZ3dZVFF6Smw0bHpBV1pFKzZDakZUTU1FeTAxekpKS0w0SG5rN1F5cFBiWVNNbFVuVDdPQlhMSjNWSEhJMkl6WU5raWJjMEJnSElMQTVBZjhhUDFaREZQMzRhTm1vYmFmWEJSNmdpSGFxeHhzcjdwQm5Na1pKcUNvN0l3QzZDbWwyOEdDSkkwajBTcUo5a2pUaHVqcllCNEh0Q1hDVDdsMTVJR3FRVSt6OUNoN05oS0sxVEEwdi9QTEtuSlhqSkhvbmdTWTd6ZDlyc3pKS3RFUEdINTBURDhnZ0lSWWFKUXEzVk1JaENHeE5nSnBPVCt2MkZEVXEwU09JVHJReGNwQTlDMW5IWnRubDEvbzk1UHowbjRKemNrMjF3K2dCREZMa1NFS3NUNUlxZkpDSC95RHdLUUxVZFhBcXY1eG5pNVZ3WFZ0NnQwODdzWk5aU0hxZllSemllTW9aaUdpTUlOS2J2WjJnSFhkWGtQaGRoaml2Wk9FYVNPeUN3RWNJVUtQZWpYVkg2dkNROVNjV0JldUsza1FYMnRoMk1ndDVrRjVnOEhWa2tWbmpkUnZrZnJvZGZmYzJmMW1tbDdGV1ZIcTZjRnN0SElQQTVnUzROYndPVHVGMHBRWjFPSnhUUjBiTXZzM29TOHdKcVhPZGZJSWNUampUaktRK3NPQm1tR05ITCtRMU4yVmgvNUlBbTZpOU9jSmQxWEFHQkRZbThKSStRSXlYMzYvWE84VU03K1R2Q0tyZlJxWDd6VCtwUVVaTlczdnlkclFlcS9NT29XcVpVd2ZLTklHTy9IYThpRlBiZFl6dTdrODFpczhUUHQ2R0hSRDRGSUVIVlp1aFFseG1Dcml1Slg4U1JEK2ozaVNJeHRGRytwb0h6MlBUdnR2bUdvOFFoQWJaZGp4dkYra1AydVorbmNXVkxid21Fc2dHZ1NRQ3o5dGRWcDR1b1lEcjhzUWlCRGRpcHBaVEcrelhiOWpwZmxVN3FncmZLVkNvOWFzRTFDZEJUUE4zTWd0cEtoVS9xbXBIVmVGeHUzQVZCTFlsOEhKVytzdjhnN04zMnlxWGtWdFZPNm9LenpBU1NVR2dPZ0h4MW9Ddms4NHZEeHVMaWF1cnNpcURxblpVRmI3S2JOd01BcVVKWFB6TGMvaHpadTRZUStuc2k4bXJha2RWNGNVUVFCQUlGQ0F3ZkVuUUZoVjVjY0pPdW92anFuWlVGYjRMZkZBQ0JCUUJzZjRtTVAxR3M1bjdtSVZNZUZwVjdhZ3FQTUU0SkFHQnpRaUlaYjJoTDRaODFTeGtWVHVxQ3Qvc1VTTWpFRWdnSUg4UU1mVExjYnhlTUVISURwSlV0YU9xOEIzQWd3b2dvQWljSDd6dytlcU9JZmJQNFdkT2pzOSs3N01PVmUyb0toeEZFUVIyUklBbkdkWHlaL1AxS1A2azByQXlldVpqaEo4MnFhb2RWWVYvbWh6eUJ3R0RnQ2p0YmRjMDlNNlA5ZlVWK2ZKaEs5NEdhdWh5cTMvRHhCQ3hpNE9xZGxRVnZndDhVQUl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WZweEFmejQ5YnNmTHZXbmYxeDlIQWZOQklJRkE4MzYvMjdicnVvYTJybXZiVnB3NjZyZWV4Qm1aWmt6eGZqZjY5VDN2WDRReHczYlpzNkxRRFFSMlFlQThWQmZydjFGN3J0WkZjZGp1UXZzRUphUi9HN1pIUW5va0FZRWZKM0E3WGkvM2JxZzA0bjl6djF5UGo2ZU81WHk4aUxCNzJwckw5YXhmMy9QKzZYWThYcFR5aGxGN1ZocTZnY0RIQ2NqK2c5eHVmVWlWay9JYjMrTU5ORXZJSjN4TlpLTXBqbDBRK0JBQjFlV09EY0Qxc2w1MTM5blNrcnU3ZjRndHNnV0JMeVNnUXV0b2YwQzRqVFlZUk96YTVpZTVoTnV1ZFlSeUlMQW5BbHhuM3Urb1RrZlJyNGdtMk8zRkI3bUVxTC9icmU1UURBUStRWURyekRzZVdvc280VHVEaEFOM2l6NEJGbm1Dd0hjU1VOT004U0NnKzU3VkNOWlRvSkhSdUwrejdzQWhDUHcyQVRXYkVBMnQrNi90TndqTnhSYjNkNy85L0dFOUNKZ0V1TTdNRENXODN1K295ekJGN3VsSWFDNjJMMVYrVHlDaHk4OFE0RG96TTVRZ09oZGZDb1M3UlYrcVBOUUdnUThRU0J4SytOYmVPSVlTUGxDbWtPVlhFOEJRd2xjL1BpZ1BBb1VKWUNpaE1GQ0lBNEh2Sm9DaGhPOStmdEFlQkFvVCtJV2hoSy81d0VQaFp3dHhJTENBd0M4TUpSamZoRm5BQ0xlQXdPOFErSW1oaE5QdlBFOVlDZ0lyQ1dBb1lTVkEzQTRDZjR2QXp3d2w5RWZ4L2FqdUh2NU16SnJuMmovbzYxUnRjOFF5eVRVY2NlOE9DUHpJVU1KVHZnOUozNXF0OEtubTg1MFdUWGZFc2tNdlpRZkZHaW9zSnZBalF3bmkvZTlXeGdmUG0vUU1oVDhPSlQ0bDhiNi82Tlh4NTBPNEJReG1MaTZPdVBIekJFN1V2czI4K0N3NkY1L1hkSkVHM0MzcVJZZ3d2QW9wRFM3cUUzcng1Y3BPNnk0SXB6UGt0VWhsM0FRQ0h5VWdXeml4eFJ1MmJ1YWRxSTlhRU0yY1Evbjd1NTJpZVJua2wxeW5JRHhDWTN4Y1JrUWt4bkZVUVZ3RWdaMFJVQjlubm1xTVJ6L1J1ZmpTZG0vb0ZuVmFIYVc0cUp3OUlnQ3h2MG5aZkNzdXo3UEhxWjhqUURIQ1RMOUF6Rk5xZ1hFRlJPSm4ydkszbEFFQk5jTnFkaFRreDJlTGZjSmRPaGpUdnh5Ri9HOTlhN1RDczRYSUx5T3dpNkVFK2lDODhrMFovOHlhNkFXdlpsaE5oMGFkaVpjM2ZmNUpHV1ZwSWNqaFFKTVBKVHNtK1RyaERoQllUaUJ4S0tGdUVWZCtLY01iVU5LRXBwaHEvOXVxL2xScEUyNU9vU3AvUXEvVEU3SXR4aS9vNlpleER3STdKNUE0bEJBWWZUeXJINEN3SzNQYk5VZXJIa1k1REwvUlpzdUpIaWZNLy9OUWdsMC9LWFN3ZXc0TFRaR3lETy9DUHRiOS9jbUY4cVBZY0JFRXloTlFsUzRxV0hUSUE2T1A4ZWI5YWdUVTBTd3FYZVNoQkZ0NS9vaTdOUlN4MEJRWmhoZ2hGR1ZweEExczIwTDVsY0JBTEFnRUNLaUNhaFJxSjZsb0NaMXp3NG4rZVphTGY5N3Y2N01mdCtmcHlCRzcyMWdPOTIzem40Y1M3THg0cWFIdEtBNkxUQ0hiRGU5eWJGdS9MMXdrMzlZZHh5QlFsMENKb1FTT3ptMDkyVkVFT2h4MjRsckg1SmdjZitjZFlDQVY4azBobCtEa0VMSW5YMzVJRXM2RFFCMEM2NFlTV0NlS05OeGF3VDRoWjBTaHVJbGNBeDIzUk5YNDdZdGc4azNod1JSYUs1Mmdmcjc4QktGSUFnSUZDWER0Q1BjTFpGYmhvUVJXaENJTnA5NGREdFFZMjZONEJYV2ZGK1VmU21CSDRSMGV5VGRGK1ZReG9IQjBlaUt1Z3ZueVhSazRBd0lWQ2NncE5MRzVUYnllWjJ3b1FhYWpXdUdwRC94TGs1NEx1dkNxK3p5VVlBOXlxdkVUYzYwQzY1RnZDc2RDakZHNEJaOVF6Y1I4K2RyTjJBV0IrZ1JVZ2ZZMDhWcmVjejhHU2ZWQlN6L3NzcjlKV0U4MDNGRDhQOVZBWi9SZmpaL1lua0xtbm0rS3ZjcXFpYnJBZlBuRm1VQWdDTVFJOE5pN040WWVieE54ZHRSbEJQckg0ajFrcWdEUmU4ZE02dXlRQWxkYnRqTGFQaTJPbDVpaVlnN0tpdjVFZk9BUytSNDFjUW9FcWhGUUJUa3FYOFQvMFpZdjFEL21DdVlkeFl2bVYrNGkxMVpuZ0pPTjluV1dGcGx5c3BkcmhaM2dJdm5sZUVBU0NNd1I0SGJjWEpEcjNOUE12Q0lVNmg4Zk9FQTM1dXdkNFZWUGNMZklWa0FaN1d2TUY1cHlzNXhDMElNdWxGOFZFb1NEZ0VaQUJiMzJnbDh0eGVFZytnMU82RzBrb0ViWE9LTU9xS0w0R21OZjRocm5xSWZnVEhtbzhSUGZRT0JpVTE1WFh1dkFBWWd6ZWpFWXQxaitJQUQvUWFBdUFaNFRzTjd0dGJLYzZ6Y0UrOGRjOVh3MXo4cWgyaUZWVStNRkJKa1ZOZFhleUdlVktmMUp2aFROV3lCTVdDVy9HaVVJQm9HSmdHb3duZDcybEVLdUxuRGFXZjB5ZHc4ODNXZWViL0N0QnpKdVZ3ZFZ2cGRBVmRSUmpXdXRML0lKZGZXVFRUbXBrVXVmY0dIb2F2aytjamdIQWdVSnFDakI3bTNyT1lnazhXb2Q2Qi96aTMveFc4ZDg3Sm04b2JXZCtlOGJEaGhsaWgyNjNXNnhlZm5TMjJkekFWUFl5VHFSQ1d0VlFMNXVIdlpCb0RnQk5aYmdtNkVmOG1wbkJoOERVL2xVOGJUdkhRN2kvUCtWSGpNZXdMa2NxSGxESHJ4SzBUYU9YNFAwRHA5UUJzUGQ0LytJS1dlM1cwVGlBd01vMmZKSEhiQURBdHNRVUlzWEk1bUpWaS9hcmZCUDVkTnZKcnd2ZG0wTTUxUGxld25zRXF4TSthUTNTUEIyOVNPbXlCaXJ0WjBDSWZYN3FsejVsdVk0QklINkJGVDlDRmRkVWNBRExkNmduTnMvN2wvVW83NzRRdlBocm0zK3kxYlpIZ2podnBJM1NNZzBoZnNJRGg2WnFUTitRZlpteXQrR0VYSUJBWU1BVDUyRks2KzRIcjVJa3FoLzNGelZkcmswVW1SN2lZY1doZzcxRHVUd291MFNTRi83aThxc1FwNHBhbm1EODhhWWRBbjIrTVVTK2ZXd1FESUloQWxRd3hYdUdvaU84VnpkbGpYQTJacnIzRzFobFFwZWtkR0s1Ukk0U1BCWFdjY01lU0pvQ2t0eVJscWtwN0R5SEN6S2t6L2NoZjhnc0NVQkhrd0l6SmtkeEl1RTNnaGIwOURUUCs1UDlBS2kvOHRDMnEzMWQ4bmhHZG53MUliZjNreFQrQzFMWjAySEhJejB6NFJreWpmMHhnRUliRVhBdjhDUGN4ZUYzajlPcGlubjlvL2x4WjdFSnM1QWF0SUs3NUxETXdaS3FCNDczWC9PTnRNVW5ybHdaSW5laDc5YkVsaVZzQk5VaGNsRDNQY1M0RERCVzNsRjlYRUt2R01vOWI4OWNUaWQ5N2VXam94NkorUzRocTRjTjlTR2s1Z3l6elJGZXBET3NWQUdDWUZPVTZiOFNUSHNnY0NXQktqZDlMUnJUMUdkNWoxQ1lGWEM4R0owb0hKc1pwL3M3MnRkSC9KLytrL0JHWXFJdE43UHp2STRvbU9LRU9hT3ZNcTAvbTVKK0ZzTUFmbUdiamdBZ2UwSVVJenZWSDQ1d3hZcTI1cHVudjZ4dWtweGRXQ2NUUk5RZVZlMnpHUEZmY29aQ1BNSFhiWHNzMDI1dTdMa2tzMFF0V3o1bW03WUJZRXRDVkJBMjQwVlIyYjlrSlhIYVJjOVN2bjczekloejlyclVidm45dXFucEJjWTNCMFo1Vjh4SVBYSU5xWHYzdWFQeS9ReTRncG1rQzIvT2h4a0FBSUJBanhRZGgyY3d1bEtyZWx3R0xpSlQxT0k0YTMzMUNpR0swaFVhc0dMNUJPa2dtZXBhbXlGZGI0cGNtU3d1YW5saS8xTFltenN4WXlUS2ZueXAzdXhCd0xiRW5oSkh5QXF6UDE2dlZQTThJNS9RWERTanU2YkRyVTlkZ21oS0ZwTFdIbTNKNGNueHhuZm5YY1VkY2gvaVNrdm90VjJIUU84eHdLckpmSUgzZkFmQkxZbThLQTZRNlZXL0VsZWUwampkVU5nYnVyTUszbWNFWGt6MFNaSHoyUFR2dHZtNmcxbVJnMFdtdks4WGFRL2FKdjd6T3FzaGZKSC9iQURBaHNUZU43dXN1WjBjMFhiVUlzR0RQeTlaNXJKTUdZQWpUdDNkMURibE5yeWR3Y1VDdjBrZ1hEL21HY25Qejdqa1A1VWFwdFNXMzY2cFVnSkF2VUloUHZIUE9Hd2gzNURvdlcxVGFrdFA5Rk1KQU9CbWdUQy9XTmVmaFA4TEdsTnBaYkpybTFLYmZuTHJNWmRJRkNXUUxCL0xLYnM1WlkwajFsV3BhWFNhcHRTVy81U3UzRWZDSlFrRU9vZjl6eVRHUi9pTDZuSWVsbTFUYWt0ZnowQlNBQ0I5UVFvRkhCZkl1S2ZQM0krUWJZK3Y0b1NhcHRTVzM1Rk5CQU5BcWtFNkR1bHpuaUIrbkI1eG9jWFUvT3JtSzYyS2JYbFYwUUQwU0NRUktCL252bG56NXBuUDI3UDgvQ3JSMTFzSFY5U0J0c2xxbTFLYmZuYmtVSk9JQkFpd091UUtCajIvYmwvMFNoQ2JWTnF5dzg5SXB3SGdTMEo4SXRTSG04Z1ZqOGV2OGdmQ0dhMVRha3RmOHZIanJ4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WUZzQy9mWDYzRFpINUFZQ0lMQmpBcGYzKzc1ajlhQWFDR3hQNEhrK3ZXN0g2NlhwMnV2MnVYODR4LzR0Tm9RSkgzNEt5SDVYQkY2eVVxanQ5MXpDUTFwKzNOVUQyWkV5allEVHRsM1hOYlIxWGR1Mk5xK1RPQ1BUakNuZTcyWkhKa1JVK2R2V1JReWZ1L1RiTGtFV2kzYzN4K2hIcjU4bEhNOTIwWGxjM1FTdGZuMjMrMy9idWpYWW44ZnJsU3FHZUxRL0Z5VlF2K0g5UHE4QitJZnZsZjNKZTZmVitlWit1UjRmUmtmcmZMdzBNblFZdHVaeS9SS2NmOXU2dGNXeXY5TVQvVG1YY09PQ2pKNUR0QUFOTGNhdER5VTdLYi94TGQ1QXQrTnZXNmRibXJmLy9FMlhvSXJEZDBTNmVVKzBZR294S3lPM1dJUFJ5MENoTThLSFlncWNycWRpc2p5Q1BteWRSNk9kbkpwOTZEdlJzNmdhN0FpRjZWOFM2aFkxUGwyWTZoZEVJWW1LMVFhRGlQU3NmQ25sK09YTmQ2SE11UTliVjhhSUdsSiswaVdvZmtPOEFheEIrNnRrRG80enF2VHgvYTVWYmFsb3RzZEtEdWZUMWtXcGZ2UWkrY3BZYVBoUjdTcGxQbzZjb2VjUUlVd1R0WE1ydWtTVVVLbk9IczdEUUVXVkRENXRYUVQ4aHkvOW9rc1FEY1RnRktyMlZqLzhhTmRtcjZZWjQwRkFWM00xd2ttTitWd3FERlo4M3JxMXo2ZlcvYi9vRWtTd2U2S29GRDJIV0xGU2JqTTZsQ0JtYytNdUk1WkJ3clV6VDRtOTcxRXRFZ1E1U2ZaZ25hUFVMazc4b2t2b3hDSWxOZDZNbmtPd0ZLcTFHKzlnQW5sQkxIZ3JYbG5OREovcVNUVmxBN3FkV0dmYXVvK2pIM1FKWXZuYThUQ0VDV1VMMmo2ZWFSa3QxUExXK010aEl2d3VrMXRFU3E5aS9PNFZTWlI3YVRmVzVTcGVQLzBQdWdUUmJ4QjlVekw4L1RZVzZkYkgvVVU1SkhhMjR5NmpqTDM5a1o5Vyt5Z2pUMGpaa1hYRmJDb2s2QWRkUWtzdk42Z3lVYitSNHdmMWVsVVlOMysrS2tidCsrcHMzNVJUQ0sra3pLc1ErN0l1VC9mS3FYL1BKWWgrZ3h3Ukczb09KYVBSOExNU0RxakM2bWt4OWxaTi9kMTF0bCtxRmhkWnFMQTc2OEpGWi9NcnYrY1NSTzJrT1MxdWRyYnBPY2kzN3lvMDZHSnV2ZGJTUVRsd0tMZDR2MEN3M0xERURuT1NCYjZIdFVQck5nUVp6K3IzWEVLclp0SzM3RG1JK2ZVYUh4T1FieGpVV21hbThNU25HTHNabHhFdmUvbFhoem5KeTFyL3VrdnI4bmxVdWVQblhJTG9NSEF4SDk2YnJ4WjZUODlMcnBSYlc0Z25hZHFlRkZ4aEdZL01ZYWVkN1dGTzhyNXVxbWluMW1tUDluTzdQK2NTUlB1Z0toR1pQaGNhbDNneXNqR3ZOTE5SS2Z3NEhQYmIyWDZxRnI1WjRjdjNhMTJKOHJaU3hzKzVoS0hmY0RpSXlVamFLa3dGbUErbDR0dUNNdFNKeC9hbUtzbEhlKzVzRDNPUzNlSTV5VDFibC95SVZpVHNIL1NKbkxhNVB0elNiN2lFMDFWOEtLZnQ3c2Q0bENzRU50MjdiZWJTU1oyVDBwNk85MDRvMGpYOGh2ekorMzFZS1Vsb2w1UnJtSmJvTnd3RmFlZzVETWZobTlaZGtkSDlpaFl0bnJuMGEvR25GYjgvZEhYbm5lMXhUaktrZi96OHpxMkxLNy82Nmt1dEVxY0cwVjBycnJtRWg5eW43MjZLMmhrdXd3OStGNFY3WXpQdnJxYWtaWjh2dnRQRmp1c2h4N3JkY2U0VG1kRkt6eUcwVzk0dzZtL3VxUTZsbTlscTZMb0E2WGtxZFJ0a051SnAxUGlHNU80NzJ3K2w0YUk1eWQxYnB4ZWd3dnRucXIvTjdkejN6OWROSHR6TlNHRjBDYy9tM1hKMHdCUEFnVkpNbjlacUtOem9UN1Q4UEZ3OWs5TEtHRzc4VGxjdnZMOThYUGJ3L0pNY3dsRU9BdlRrdWJxbExhUHViamJwT2NpQmhCcDFkaWdvOHIzLzhrN3RHenJieStja3Y4RzY0Zm1XL2s4Qmt2YkNTQzgrSHRJYVE5U0RTM2kyNyt2b0xNaVBlR2UzcEJQUXFtTnZIUnY2VzlmOGFVVzFiQXlGeU0xWUxrR0czdS9McUI1WkZRNWpEQ1dzQStHQXBuN0M4QldONll5VnVzU2haTG5VZnlYbEwzMXF3SDhuM2U5TnBCWnlXYy9CU2lxZWczVm00OE9sYzVMZllWMFZtTlMybXNXbEY4SEFXTGRFcHNvbENJK2cxVEgyb201QkZqZmJ4WTlxcTI5Q0tDMnR1TjF1UXFWUE1Jc2lmUVJKWC95MzNDY0k0WnIxNVByczNNbytDWm1GRDAvQlhDUWVuVTRKMFNxQWlvdmRlbFdDeDdCbGM1TGZZcDNINEpXbnFNU2JIdUY4RVQ1QVA2VmNRbWVXVzJxcTdicDZlTXFZWHI5WjZpY2JLYTNsSFZST1N5dDlqMU5oUkM2R1N5QUhZR1pMbGhuQnhaRHZ6SDh6eUI0K3VLWjVpWm43Y3k5TFJhc0dJVkloQ2NnYjArVnFPNlVud0o1bk02V2dlY3B3cDFGUFdIVi95WnprOTFoWEdKMm5YbFA5TlJwS2RnazNheWFMSXl1N3prbVA0UGdKbnN2ejFldUV0TkpkTzFhTHlFRjNDYVN6bFMxTkZ1aUpIQ0grRTBLV1hrR0hQbVd0a2syUlVuUEsyLzc3OXkvdmh0TkxQa1RUWi9yTlR6OHJCTW90ZW9PQTZRYVMwVHZxWEJ6bkpKMUNHTXFQamZzTzYwSTJMRGxQSWIzMTBHU2xGcHZXUnlDWGNHbXRLc2QxeGFvcDVHSnNOeUUwazBLTnpvZzRsNWpXRGdqWVRzTWxjSWRmMDVqU1VKZElyOTE4NTl4ZmNac1JFYWptWW9Gem1jdEpYajhUWENLK3dSOXIzRGhGd1dDYUdwMXRBM3d3NTJVWDFKeGtvaytvWWQweXZiZTlpNnVTT1JidGFSVlZxYldySEJWaE14Z2xGMlBLWTR2b2dsbXJFdE5LZmN3YlNlSmRQMG0xMXZKWXFydmluSjBqTFBJekRXQzNPYTVubkxzLzcvb2dmQU4zUUZtMDVkcnN4TTYyNTltRkVBbjNhSmV4VU5JRjU5V1FRbUliVWQ2NkJTcC80QnVmbWw0QUFCOXFTVVJCVkJacVIrMk91aXFkMnNOaGwrQlVManB0VkI5Mko5cWRrMDBrVmIrU21wYmkvMG5Pc0hmVVhBSjNkYXg0UlNTa1BIUHJnS2lrdXByVHNsMVgvcURMOHY4VUtDbmdHLzByWmtaaVp6cysrbWlnRXdXcWJOZEdrejVPUEdqbllydnJyQXZGZm0zWEhNM1NGZFBoQTlkNGFaNWQxZGxQREl2OHBWcnNFcHhuU3owTW94RmcxK3ExeEJtMFNFMUxTcnJsK0tHNUJINThidDBuUzh3d3hxdWJjVkxjWkJ3ZkRncUl6Y2xLdGVDUSt2ZVZmZ2JKcXc2VjFNWUY1VTA4ZDFLNXNHZ3k0YXdUQTNVaFJvNkFHc1VwS2pycjRyQThJZjN0eUhYV3FXNUh3TXRQTS9sWlJteVJtTnNvdTg2SXVVYXg2ZkVWdXdUbjJaSkwwQ3NLTi96K3A4b0Q5NVBVNUxTQmFPSTBOU2pNMy9QUlZQSTZmbldDZUVWMmRrczFCUGVlSVpLZ21JUUxZdDJYMk96TUVtNWNrWVIvMzdOSWtTemUyU2JmNzNtS0s4eFZ0dzRmVnNuNGhzSnE2L3JubVl2ODlkbVAyL04wcEVwajFLNzE5aFdVSUl1a1dmbForT05xdnNEQUxzRVorbkZjQXRjZDI4V3dUSTVJcHZxWm5wWnpkNHJ4YWRTSEppQ3RBUURLbERzVWVjQ2Nmc1BVYzNEQ3BEekpabXFlRjJzM2p5SlZPUjNobVZwbEhCWHZiSE5sV2ErWWJjT2lWYzBsck9QR3pGYUhIMERSc21SbnNmeVlhNHplUXdqSTRrcnBYSFJjQWtmWVV5U2czOEY4cHJIODlMVHE2Yng1aGJRdVUrMHJuK0ZlWVZlZkZ5ZUxwdHNSVkw3bndHOWphR3RCblR5cm5SaCtDRHdQaTZ2T3VzNjJLMDg5NXJWcVdZTGw2bmU1dFpuZll5eGhIUlcvcVJFY05HT2ZzSGxiTUdRZi9jK3RxMXNEbkp1SXFodlNPUzZCNEllQ0lyNDRra2hQcTV5SnZLRzdQTndpbzVZY3U4TU5CNDVNbkE2UFk1OTJRZ2h6UTNubE82M0pXdTJ1dk4yeitwWndqZDhuU3RGRWpiUjE5RHBJeWczZU5Qd0E0NlVuWXlpQm41VTl0T3ZOT2Yxa3IveE0vaHZTSmF5anpEM2hBTlVidHpxbG0xVXZKVWRxQ2JxUlM5QUhEVmduMnpUVi94cHJ2YWs1ZSt1aHZ1V2tIZnJ5NmpFMVpxL21vQzU3c21WbjRybGdhcVlmQ1JkK1A5cWI4cDFsVmdTclp1djlLWWNncmVVWDNjUmduc2VQNmpRaSs2b0t1NDJnZm84QXB4L0c5cHMzVjE5UEZZcmRGcnUyWk0yaWtsZkVPb28wUEEwU0YxalBoWmd4MjF6akt1WldkU2YzUkplZzZtYkFWblpBUXhIS1NYdmdVRXQ1QlBuUGVDMWJYZTN1enNiUm43OGo0eGpKSjFoTExTdDlOOEY3QnNST3A1VXY5TVFpVTVyNmU3UmtVcHEydU91dXFNZHJjUHFQUWQ3RVhBT2hIdHFNMVF6T2FvSjMwZGZXaWxoSDluanNZSCt6M0J0N1JKWTZSU3FuVFBza3VnUVZwVVZkd3VDQWN0S0tSVWNjWXJEQzlMZVp5cklTcFYwMGRyTVc1NmhPaUNGQU8zQjdMZm5QNG54bFk5clBsWWt4bmw3MEhRRTJXWTJ2QkI0MnB4RlJXdHhsalBRRTl5ZC95WEZvTThaTHkzYlVZTTA3ZmRiUnlLZUVkWUdoaE1PQkMxa2lHVU90MmdlcStCdHJqZng1SnJvRUZWOEg2bzFxZjFVT09XbkZMZlRTdEZZM3hYalJtSTFxRGNaanZ3MXBaNFY3OGNwUkxzay9tWkltV2t2RjM1QVFRMTdhdWUxMmxVTlFINzVZbXE5NkdOSGJSU2dZZFJuVHphTGJvQmE0bDRqRURpODFPcGd4NnpqcEl2ZEtXRWRObGEvaWM2Q1lGYnlhMmxVN0t1NFM0blhUZEFrNWFZbEFmMU9lZTNRTVE5Mk5pOHJESno0TjU3MUJlVEQvUmU4ZE15ZDVacXhMckRFendySXVjOFMxNWp1bE1qdFZlSWFnejYrQmVNZmVmOEUrKzZDMzN6amNtOEkvTzFYcThhSlpSME40RWV0Q1F3bnFlNTZGVjdrWStpOCs0TXFWRUtubFJRbUJZcTdDWmFXdHFtTkphVWNEbjQrTDF0Y2ZpcVBxT0F3ZVlreTlZRWYwOG54dVhZekhLVWNVMEhkQlZnZjFYYXIxTlNBcmMvNzAxUG9GakdwSUpOcnpGLzJHdExCS0pKUlBqOGVYMWo3SGNkWXhpNHVadUloMVZHUk11WHhFTlNHaDJ2bnVyWHlPaS9sUXN5S1pKYm9FTlNZVEdPRTNjOHRKYTJqV3Y1UTNHV3V2RWxXaXRncnZFbkRlN05BU2k3aWhjUGlBcW9EMithbHd5bUpYVHRLT0V1dWoxUEJ3dE91VDNHKzRNMWYydTRIaWs0WmdmQWQ2WFZoZXdycmdVQUtYMTdXZUw0MUhiaXB1Y1JOaXUwU1hvRUFHbmltN2hHSGtJaWV0WXhkOVdWSEk0d3RxMWNDNlFzQ2lPcy9uRy9pS0NrVVNZRG5haGsvd0NNa3Q4OHNITXZsLy8vNjM0SzRUV2VHUGc4SmFlcS9FWFRyZkV1cUYyUUpmcW4vQmM4WXIxRnN4NjJqcVZNSzZFR3QyZkNWS3E2bHprU1BWQ1orWGxlZ1NWSFFkc0paZHdoQkpwcWZ0VzA4aFlkVTVKOVh4aXpaWTh6YktGRUtwa0JTbGIrcHdXVnArNG5kb1ZmVEJjTGI0T3czTHB1cm9UYWRjZWlDbW9sdEVra0JSTUNXS2I5R3FWb1Rzai9aRnpEdk5vMlhmVXpObHFLTVMxZ1dHRXZnZHlTUXdYdFhxbmxUTjYzd0lrK2dTUW05TWtoV3E0bzdoUGRjRlQyMFhxWTIwb2pKNk1KQlBVUDZGbzUzRlJXbVNMcm9rd1RLdUJqRUs1RExsSjAxVlkrTmJlQU9aUjZsdnFLamVkbXdrUkh4SDJ6QTFkSEFaMTJnUWk0V2Q3UEhsNS9uaUhGSmtPbC9DT25xaWswaTFSM1d1SFd1QmMvM0RKemhRQ3phTWszYXBMb0Y3K1VQZllMcGY3ckgvbVFMdjVMVGk4ZmdJU3AxVVRoelVwNVUvVXlucmFQcVJKK3VDT0ZROUI1OTdjaFBubkJtSFJxZ01WZjdqZDhFNTZxcTBLbXFLM0NtQzcwQVgwcnpwTkgxdGkyTS84M0xhMGZEeTgrSlpSek9iQXRaNWh4STRrSmsrSTI3bXVvY2picUg4VmZpc3ZYcVk2aExZdVU3VlhyZVJxOVRVeUNhbkZRbUgzb1l0VDNrQkZWVDRXNnh6K2dNUU9ZWDZEV1Bra2xiTWRVVm45eVdaaFUzanJPd3BnZnlwaUxSQWZyb25zcWVhRXo5emVaK29WV2xHdFpOV1hFYkNNa1A2REM4L3IxaDVaWW91WUIzWlluamdubjlBNlpNTDJVMHJmVWRjTGYwTm4vNDU1bFNYSUg5VlNHemVaOHFYdExnOE5hMVEwdWRrWk5ReGxEbDlaTUcycy9IR0dIWXFPaGJ0dFZkMVRseXA1eUNFeThHc3lWZDZWVnQvVXVJdTJZTmxITnJ6dEZRVTE4TVh0YlRYSWRZVDU3Z0xueHY1cThIbW9ndS8xbHRIeGJ1NXF1MGlmdzFSRk9STFV1Q2s0ZGw4bDZ1bHIya1VGWEhTSnRrbHNJL3h5ZU9XWEcvdVU5UEtkSjVTSWdVTzlZaUZlM3NPL3BHSXlUUjlyOVZLcDM2ZTk5VW90SWJGVGJQd2pCU3RvMWtvSm5hYlhPZFYwaU9vamxTd2hBc3ZIYnltNnltZXorUTVPRjVQdW0rVW9aWWg1TC9yT0VydzdYQzhFdFFrd1RyQjI5MmFhMUNrVDR0UG5PTm40R3VFcHpFZm9WZXlTK0J2a3Zua2VXSkNXbzA0bjFhNkJFOTlrYXFQdm9mNzQ3NGhoL3ZvTjJiNWlyakRDUFNzRzFUM0pLMmtXL2ZPSFVyOWkxWllPOFB5R1hEUjhUd1l5bHJrTi9ocld4WHp1SnNlNHZDdG10aERNRzhXUjl5b3JWMkw2WWhkYlIwMWVFTVV5K0w3RXhWVHJVUHVaTHVIRTF4VHg2bzFxaVNRYUMxenVrdWdIcXVuZEhOOU1sMWtZbHFDNndiMHN1TXd0UzhVNkpsUGdHd1Jka3lKUnV2OE8wSkd0RFJ5TUJtTkpQeUNFODdLcmsreW9nbnlyQ1FTVnFqMldrbVRENE1lWFVnUVpkOC9RbVZMMXorcUs2NEpOVk45Q1V1aVR2K2lkeDF0VGF6anRkYTVRd2t5QS81OFRWWG5iOW14NEpCTTE2cy95K2dNSjA5UHltM1B5Vk5ZcDltOU9xV2JuTGxkNGRMU2trdHdteHhSaVRRWHdOK0x0RE00Q0svam5BdEJrZzlSaytnbUl4OHZFcm51eVUyYmZVYjRHMi9ISjF1UTd3YnBmS09tK1c2YU84ZFB6MXU4QmFtMDdFUkxvYlU4cXMxUHUxV3BkMndYdnVzNFk5NWE2NmpBZThKV091ODJ3VFBhYkhxNXA3YXZzNHI1WlpvWUV0cW84VmRITC9JVWRnMlJEWkpUdXNsbnV0VTZLUzI1QkNmd2tJOU1KODZwekRCRUZySGs4c1h4a3JlRUs4TmxTeTYzMHMwdGlaZjJKSHN2NTBuTW5CQiszLzVablprN1VpNlRpL1RJbFQvcmw0aWRYb0RVOG1MRTJvblA3YTYwamtxS1IzdGZ1T3hKOXRsVEhDSVo3ZnBWZS9WWUtNZTFSZS8wa2NacXZNMnVJYlFnei93U09UMXBYNEZQU2N1VjNlckNTMDltQ3VSVlljWTVrY2oyZFFIVXp4dDVSbG5mRFJCYTh1RWJBN1dxcnFScHRKaGEzaXQzNVVDKzdqNVhpaHR2cDVMalZQNk1zZEtiOEZUR3hpWE5hcC9HL0xiZFdXVWRGVm9IalRTQTZvSVZXbTlyV0VKdUhCQlB3Y3haVkE5Vk9NOWlEdVZPL1FOUnF0N3RYUnpLS3ZOMFQydWxtWDc4VlhNZ3ZJekVic0Jac1lTMFJGZUExR3U3Vk5FT092aERRZmRKRVZFMlV6ekMrWElmL0lFMDh0M2Q3VkJCVURDVHZKdkw5WG9zWE10RVNPa3RRd2xQTUo1RWRodHNXUEU3VXE5U0ZHeDZmNW9SOUQ5clIrb3dZRXZZdFQvVEkzUnUyZkxFR3V2SXQra2xkbFNjRzlMQ1pXZVVYbXJuUkZXaXZaNmUvZk4wRXlUR1ZhOFUyV3NQUyt4S1kxVERyVjh3U2dIUEZGOWY1Lzc1NHZZM3ZGNW9OcTNNN0NaZkJtaHZYRmFldE9SamNtRWpCaGJWM0tRZDlMNmtIY0NNS2ZVZDEwYTcvcmdweUhLUEJycmMzSDNaZGJDZFVhNE1iM3JoOGozaHZUZHA3a2tPOU1mSTZrUWZqR3BDZ1pZdG5kcGh2UkNwZmFNczJUZHRlTHpDT2pMTlcrKzU3bmk5eFlhbXpXZjFJSStvbmtnekZVeFJHZHEyN2JwR2JGMG5ka2VYWUorMkh1TVlpSlBNK0lLdG1iU2lxa2lBL05aZzIzSE1NcFpDMHpaRGxCWXdtS25NSTdKeE1GSFk2RGFwTWdVbmtCd0VDQ1pSMkNYSVlmb2FBYVZzaTZjbmF0cSsra2g5QVUvR2ozY3VRNDIzSXZneTR1K21HRmQ0MUdvMzlXVzVkVlRzRGRPR0EzWUpTWTNWY011SC92ZVBTeU1hNHVheTdrdmVrL2JQR3duczd0ZjVNaEpOTzc0SjJkL2tCMVRFcitwZFgrSGVwaExWWERLLzJ6OHAvckU5R2VCYm5yV0VMaUtHclRlWElWWWNHcjJ1ak5WNW92cTdQUVJ5K0hhVVZvTENRaGtMclpNUlg2QWJ5Q3MwU3pjbkM4M0RiVHNuSUtLUkNrVkZoTC96VG5rTm1lZnRMbHNUNGZ5ekhKcjZib3FaTTBVYWRZWlV6SXlTanhaWlJ3TUcvbUNIUis3cVBwRms0NUR3TndtRVE2cFA4bmg1WXhmdXZuOVNyeUo1aDRjU2VEVldqUTVpRWNVaEJBUStSVUQwa253dEpZL0g3OU9KWmFBS0R5V3dnUldDd1F6dGtCUUVka2pnNGwveEpmcE9ZblBIR0hab1FVU2w4RkFDejd2V0hOdUpxSVZMSUxCZkFzUG5GbTBOcVRMVm15Q3hzNnQwSEJ4SzRMWENOZDltcVdRUnhJSkFYUUtpc1F3TVJWS1U0QitZcTZ0U1NlbWhvUVQxczN1K0hsUEo3Q0VMQkw2TmdHZ3NRd05zZTV1RlhJU1cvSm83SU1MZjNpMzBQZHhGaXVFbUVOZ2xBVmsxUXQxcFd1VVF1dWl4eGxpY1JsVXgvcWNkVitaNmhCVTZSUU1pamczcVZ5ckQ2M2dMNVE0eElQQmRCTTVxcGV6VkhVTVV5K25WR3VmanMzY2JXYStkY1FmZ3UxcDN0TDkvbnZrN1Q0MHdZZGllNTllVlYzUVpQM251TlFnblFlQ25DUEFjbktxcDVyc1E2aFg4c1JhSHVoWW1MMlB0NUhodmJLZG1UNTdYSVFWenIvR3RGeE1IamtEZ3l3Z0lseUJXcE12M1pjU09HUWpJcitDbzkybmtTeVNwTDIrZVQ2K2M3V3htV2hnZnI3VHl1QVN4dHJQMG03T0ZWWWM0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OZ1pnZjU4ZXR5T2wzdlR2cTg3VTIxSDZvRFNqaDRHVktsSzRQS2V0a3ZWbkw1Wk9DaDk4OU9EN2xrRTJza2p2QjlaZC81U1lsRDZwYWY5NDdhZWJzZmpSWlg0NTQrekNKc1BTbUUydVBJbkNaQlBhUCtrYVFXTkFxV0NNQ0ZxM3dTbzkzRGZ0NDRwMnAydXA1UmtDOVA4RlVvTHpjZHRQMFRnU1lYOTl2MFdpM2E4cldiR242SDAvYzhaRnRRbThDQ1hjSzZkVFgzNVpFZDc3S3ZrOUdjb1ZhRURvWCtLQU0reC9RR1R6aDA1aGZlMWhsUDRNNVQrd0lPR0NaVUpVRVg2QTBNSkF0T3BZYWR3S1Q5OThvY29WUzVQRVAvdEJIcXFSZFg2NEJ2ak9kL1pLZHdMZDRUK0ZxV05Id3F5K3k0Q0w2cERoV3ZRQnhFODFXTERwdWowdzErajlNRUhoS3ozVHVCS0xtSHZXdWJvMTdOSjcrNlZjMWM4N2QrakZMY1hWMytZd0Yvc0pQZEhYcExaRmx1bC9SY3AvWENoMzlUMDE2dkNlUGZ6VlMydy82dWQ1SnR5Q3JjaWorT3ZVdHEwYXZ4b1ppTEFQSlkzWFl5WkZReUNEZjMrYmlmNVJTMjdlQjRGbk1MZnBXUVVCaHlVSjNBV0hmTUtEYnBZSjlNV0tOZytlLzl5SjNtWWs3eXVucFA4eTVSOHBRTG5paEVROCtKTk1XR1RvRjVFd1pVK2NVSk5hUTJkSiswL3VEZk1TVjVXK3VtL1RlbUREK2pQWnkxWHZhNHNmSDVHVXZEcXBzNG5tanZKRmZvNnZzdytjVzZZazd5dm1aUDg4NVErOFdSK0lrL1ptRmY2T0ZHbDhPUEFuZVExMVdYM1QvYkpVZis3V1Q0Yzh3T1VkdjhZdjFOQnNVaW1WcGRmRGxMVVdHSDRFNTNrWVU2eVd6b24rUk9VdnJQTzdWdHJHZDB2YjRsbWJEdlc2Wk5NbmVUK2VPL2UzYjNNcEoxaFRQKzRDTkh2dGpsVzZWUVplWVVPeGpuSlVJTG8rUzBvSFE1NzRCVEZnSXVaQkdSRFhxbmJJRFVSWFljdVU2UDU1R01ubWJyY0xjM2xGeDdIVkNOOEhWV3I3bk5kbEFjcHNHaE9jZ05LaDhOZU9NMFhHcVJJSkNBSEVzclgyU2x6K1EyUDR1OHJEcDFrT2NzcDQ0UG5UZVRTbGh6SWxOSE5uWmR2UFdXdC9PQkk1dUk1eWZxVURvY2RjWnJLSFBaV0VaRHY1VllOakdYQkxCMkZjQ2U1RjRNZ3cwREZxYWhQNkdWc28xRVJIbWZJYUJYc2hUY3ZuSk9zVFVuMEdmYkZhU0ZlM0dZUWtCNmhjbFFzVy9EQ2pTeEg4L2QzTzZrdTN5NHV0azVCVUdtTU5WWWlIREdPRFlZYkhDeWFrNnhOaVhxRisrSzB3YVA0NjFsSWo3QjBQRHVaald5dGl2YjB1Wk1zR25LdG1zb3dvVlJUN3BtQ2FVckpUcVptSmN5Zms2eE42WERZSXljTEd3N3pDTWk0NzkyYzhyYi8vdjNMdStIMGtzTi9KZnNPM0VtMkJnOWtKbVUrNFM2OWk5bFBrRzhvRmg4UXlYdFdJa3BYNzBtbWpuVldwaVErQnJWUFRybGNrWDRpY0phMWFMUHRyalhwa3c2TDlyaVRiQTJCVUpoY1pESlZPa3BEV2Zya1ViRmV5U0tUK1NZMUp6bDFsMkt5S2xPaWJzTk9PY1d3NEZxWWdGeVBzT1hXYXVOMVlhMVNybER0dDlkU1VMMU5hOHFOK3U1a0tHZGxqVGtZNnBNa2h6bHg0VTV1V1NmVWtFSmFWMjh0cFRuTlZuS2FFNC9ybXhNUUhjR3ROek1hWDJ3eGQ1THRuZ2cxaWlrOUJ4RWNSWU1KS2Nod0xYS2lMWFhJWlU3NFlxUEZqZVBFUTVLUWxaVG04MWpGYVY0OFVteE1nUHIzWGNtWi9Ca0RxSmZTRkFrVWh2bDJNMGQyY1FrV2llNlM3VTRNU2JKMU5Yb0psSjhSTnhqcGpZTTU0VWJpcklOaGVVTHEyNUVabEVJOXlMWnJqbUh2bWN4cG1mZ3NPRWk4bHNCVGRwZmpGV050RnM3OVBVWDJKWDZzZ0R2SmRnWWtQbUZDVmQ1dDFIaGJrRVJqdnI5NWJOdEV2V2VGMjVtbEhnOGZWa24vaGtJR0plNFprZDJlUHlIVEthbmhnZ09jbG9sUEpZTjBCUWp3ZkZZYjl2OEY4dkNKa0FzVXhIVGs2czQyZFpLZFd1M3RPcnRxeUI1d2ZHWkNKb2c3RFZlcU9qTXZQSGhyOU1LU1ZjMVpsUHJuV1QyZFp6OXV6OU9Sb2ZySExqSTRMUkVmQllLTEpRbWN1RGxkWHpQemxlSkE0WDFkMTMzZ1RyS3orSWxLNlB3aUN5N2tNYmZFOHpDMFVEclh4SG5odVJKRituNTg5eW1tdFMwNG14TGZZSXRoUitIQWxzbnlPR1dMdHpYQmNSMENaelczWGVGM2haSVVIbDZTT1JvQlo5S3RZeUovSjVtTDNHekhnWWNLcmZuTFVUVHRVS2VLSW9WajJtemZlSHVDOERGdDZrNnZoT2ErSVoxTmljSjdKL1k2c0Uvd1JaUjVuTExGcHdKQ3VqVUVWSFB6L3BSRGtMcWZWVWxxRms4L2NDZlpiakZWaDNVbUFLSElYbFIzWHhFZnlISWw0S0RqbmZObWRJcndJWlBFLy9sckZnZkIyWlRJOVhqQ0FZcDhmRE01ZVp5eXhRK0c0SDlGQXNNd1QzUzh2V0wrTEpxV1RNb0taMWZxMUp6SnB6Z1RBS294blJIYXZEbWRwK2lQMmN0M1EvVXQrZmVYVW9TUHVhVHNuTlZFOFpLdnJXVlRvaHM4WVJFdlgvRmN5T09VTFQ0RkVOS3NKWEMrRHYyL3RaSVczei9Hd2N1L1NVN1YxWGxuZ2tkSTNuSEZibUxZa0c2UGVzWEJkWTUrSVMyZ1NSTWVWMUMvcWdaOTNxbXpqdnE5QnpZemh4SlphOHFnSTQ1OWZBaXlPT1dMOStpQ1V4VUluTGpoYVgyUHVFSjJsa2psRU5vMTN5bmlndWhFL2x4LzNiNndyb0g0ZHNQelFJRndQTjNKaWhPU1h1Uk1GYTRyRk5sL1ViTXFKbWlXamJwa1U2SWJmRmprQnk4Q3I3Sm1jRm9pUGtJSGw0b1M0Qm10MUpkblNtWk42NlBXZkY5VUtzTmRXTHVpY01HMTNsYXlkUmVSUGIyK056TUxLVE94bklJbmJsNHUzTDdUYzd4azF0RVFrMDBwMU5lbmw1dUNhemVUT1MwVGI1aUVnNG9FZU4zTFphYmZYVnFCSjhYMnF4Y3draFJudUV1TmRVVkhGeC8wNmdJUEpzemEvcnJ5akNKSEg4N1FoUU1uUzdoenQzbGluSFUwVCtjY1pWTUs5ZlhwdTBuVzBpMWRrVVJPUzhYcldXRy9KZ0VhTTlLL0cxUXpNNVpOVVdhQjlWRlVVNDEzRUtSOERyTWRUNkdiSmFZcHBjZmc0YktvNzFCMzlTYzFaU3Zjd2x5WWtDMWMxOHpZSDkrQjlpOFFNdEtHRDdJcGtldnp5YU40eWRlakdCT25jRm9oZnN3SE8xVUp5SStVaWE4Q1pINzVRQ2IvNzkvL0Z0eDFDa2FPdVdaU0VYVm1ES2pJeFQvVWN1ZkxQRnptakVVRTFCakcrSnlCT2l2OUl1R1dESG00Zk5iUkZKWkxLZGpYNS9CcjFvUE9jRm9yM2pRT1IzVUlPR05EWEtzcS9pM3pkalFwYURmYXZEREhmRFBCd3ZaU3k1aDVUWlBqVTZ6VTB5SFhDU2NzbVJMSXZhWENUU21IUmQ5VHMyVHdZUzZsa01kbUI1b1NzRVE1clJmdnRSSW55eExnZDU4cXVnQkxkSmx2cUhDTnRvY0NlQjRsTnJVb1p0RlZaRUJxaFpLZTNmYVFaRWNqNTBPaThKbm5ONzc4N09vd2M2ZHpPWnRTb0svUEx6RjZQRUltcDF6eGprRTRzUTBCWHVGbTFkeGFoK250Y3RSNEx1eFdFajRaRFJJdTQ0dWZWRHo5VlZ5T016aXhERFdVOFNnaFNiaWxzMzA0dlB5OGNOYlJGSmROaVo2NktVTWNVZkNsZmZOMlNKRE5LVS84a0EzK2IwOUF4blAreWxGU0Yxcm01bWxwbHVVaFM1YzlqTWhEaHFHV1grWnptbjdqamlNS1grWWMrenBBWkk1Umg1WWszSmZoZEc1NCtYbjVDcTVKbHR6THBPVHQ2M00zeGpNeGxjMHBUN3hwQ1k2MkpTQWZicXdtRmRGR05zdkZQQUs5Z0dlN0JHcjRvNzlyMlU0YVVML1d0NXhhclcxd1ZrREs2bVVQWGhoZ1VvUWJOOWdIRDE0R1VYQUJtUlNZUWNudDYvY3Ztc2YwdlE2VHp5bEx2QTBIeDlzU2tENWhialI5cFVheWFKWHpDQWNwemlyc0hDVEVhdTFWKzNRYXAvYjAxL21DK2QxRllidXNBVmFHSnBFazRlWXR4cEZhaHBEN3JxTWh3ejdJcE1TZHFhdmFMcGRHVG1LMkYvKzhURDZuTFBHMktUamVtSUFjVHloWVlWM3RTMmRBTFk2UkRiOS9FM05zWWpoZ1d1NFluSVZVUXl2MldtL1pvYmJQNmZtbkNkZnZNUGVwdnF4ZDAybUs1QjltTThPZEtDVmhvcnMxVjc5THlPZmt5aFpuUXVKdFUzQzhOUUhadFo3cVMvSGNaWVdLMWRic0RLbEdHek1PVkVTZEVRQmRjS2ZYYVI1Njh3d084Q0NESTBoVTJXaWZKRTI0cm82eFQrb3NlZGZSa0dJZjVGSHk5UFg3RTJIMWZXa25tMU9lZU5zVUhHOU9RTVNJOCt0MWwyb2wyeWFua2kwVnh2ZkptRmJ2SkhDQk01eUVsY0hSVkVIYzd4MUJrZkZINThRRDBxZjVXMHZPSlZHNHBaSjJlR3lYdmV1b2lmRHNabEZ5Ky9wU0luOEV5dzBoc3pubGlmY1lnMVBiRXBBTmlxZk5MS09FNk5OR205Z0Z1Y2l1ckRZa1N1MmgvbE53amtneEdHQ01ISERQMWtsMkVKTGNjRW1PSk1TaW5GVGhibloxejJSUklpSzZtMVc2MFhuSFNXWnp5aE5mbHd1a3B4Q1FRNHhHblVtNUtTMk5MSmllb3BaMmN5aVZMR0ZqM1gzS3NYWHp0MHJ0KytnRlNPMWtjQmJ5N2dxU2EzVmlIa0c4WEdHNjA2QndUWUZOZG5Nb0NZUnZjK1NCVlpUKzBCTWo1WElpS1I2akErSTlLWEZxWXdLaTlCUU83cFVCc3R1Z05laUZ6SkplWU5DWHB1L01TbW5uY2hOeGlyRlJIT3ViaGV5N3Qvbk9lQy83MDFIcDZjSnR0V29mWjFEeTlQV1ZkdVRnbk9tV1RFNjU0bXVUZ2Z4NUFqTDJkcnVNOC9mTnBoQTFxblMzUWVaSnBWMEdIN1FFMkxPNlRsZU1teUpxcUl3L3ZyaEk5cDZibTdyU3YyU0ZpTC9NblNOY1YycUwvWFJLL3I2KzFKRVhKVGx4WGg2bmJQRmIwRUVlY1FLeTZzWlRMTG9xSzB3VlY4UHZjY29SdFBmc2JMNmNvZmR0L2lGRC9waFIyM1d5UHlKK0NNNmZhcVNSSjN5OGJadWRaRXBraFZQdnBaTFV3UHZpcEJ4T0M4UnZBd2k1aEFuSUFIK204SWR2RGw4UnpVT3R1WXpuc1duZmJYUDFGbVJkSS82MGlYN21FSnlGcEZUUDIwWDZnN2E1QjZibE5Wblp3clY3dDloTnBFVGV6NnNQdXdUdllFbzZwMFhpdmVyZzVIWUV4RXliTTdDOFBuY1JlTTlXMmZXNVJDV0k2dS8yRUNnQ0tEREdVVlY0MUt5aUYybk9aaGljTVNYelFzVjFSYU95ZUZOaEhPMmNRR3l4d0RhcXEwK2JtSm5ScEppL0RwZ0paNDZxQ3AvSnUrQmxHakR3RDZMU2NxV1ZmcjJ5K0lJZ0lPb0hDTHk4UFpkQ0U0VlZoVy80Y01KOWZmNzArOHBocHNyaU53U0ZyTDZmZ0JnajhmVmNlQng5YlFoVFZmaVc3TU45ZlFhMXJ0L0Fic1ZyVHhIeFhzazRDUUorQWhmL01pTzVSdGszeHVBWEVqcGJWWGdvMHdybnczMTlubUpkT1VKY1dYd0ZJQkQ1ZHdrTVgwUzBMYVJTdW5aNnRLcHdXK09heDhHK3ZsaVJKTGR4b2VneUpTcUxYNllVN3ZwTkFxS1JDOHlzVWxIM0Q2aWxvcW9xUEZXSkl1bENmWDMxNDUyK25sZE92cFhGNTZpQ3REOU9RRFJ5b1lHeDliT1FCWVhmdURFbU41WHlweTN6WGR1eGRGQ2U3c0FLZjhIYitSTGxlRnZxVG1YeHFXb2dIUWpJSWgzcUJ2TzZ4eFdNU2dwUGNRTm1tcFhqZmFiZE5MRGlnRksveStENThLSjU5K3hSWmZHeitTTUJDQkNCODRQV0hyeXY3anFsL2puOERNbngyYnVOWXdMQXdzSXpnd1RoSGRiRzhxT04vZlBNWDNsckJJcGhlNTZISDNYckF2MnU4ZjZabmNyaVozTEhaUkFZQ2ZEa2xtcFp6ZEV4WHN3OE5icWhyc1VveTlrcEwveDhldVZzNTBWK3pMSGpjT0IxU0JNTGEyL3RsNTRxaS9jWWhGTWdFQ0FnYW0zYk5RMjl1MlM5aVNsZkQyekZXMDBOWFc0WHZMcGRWWGpBb0RxbmVjV1c1UWprWWR2ZGorc2prU3p4L3dmbWR3bzZyaEVjMWdBQUFBQkpSVTVFcmtKZ2dnPT0iCn0K"/>
    </extobj>
    <extobj name="334E55B0-647D-440b-865C-3EC943EB4CBC-17">
      <extobjdata type="334E55B0-647D-440b-865C-3EC943EB4CBC" data="ewoJIkltZ1NldHRpbmdKc29uIiA6ICJ7XCJkcGlcIjpcIjYwMFwiLFwiZm9ybWF0XCI6XCJQTkdcIixcInRyYW5zcGFyZW50XCI6dHJ1ZSxcImF1dG9cIjpmYWxzZX0iLAoJIkxhdGV4IiA6ICJYRnNnSUZ4aVpXZHBibnRoYkdsbmJtVmtmUXBRS0Z4dFlYUm9jbTE3WTJodmIzTmxYQ0JCZlZ4dGFXUWdjMTlCUFhNcENpWTlVRnhzWldaMEtITmZRbHhzWlhGY1puSmhZM3RpWDBGOWUySmZRbjF6WEhKcFoyaDBLVnhjQ2lZOVJseHNaV1owS0Z4bWNtRmplMkpmUVgxN1lsOUNmWE5jY21sbmFIUXBYRndLSmoxY1pYaHdYR3hsWm5SYkxWeHNaV1owS0Z4bWNtRmplMkpmUVgxN1lsOUNmWE5jY21sbmFIUXBYbnN0WEhSb1pYUmhmVnh5YVdkb2RGMWNYQW9tUFZ4bGVIQmNiR1ZtZEZzdFhHWnlZV043WWw5Q1hseDBhR1YwWVgxN1lsOUJYbHgwYUdWMFlYMXpYbnN0WEhSb1pYUmhmVnh5YVdkb2RGMEtYR1Z1Wkh0aGJHbG5ibVZrZlZ4ZCIsCgkiTGF0ZXhJbWdCYXNlNjQiIDogImlWQk9SdzBLR2dvQUFBQU5TVWhFVWdBQUJmd0FBQU9sQkFNQUFBREt1enUwQUFBQU1GQk1WRVgvLy84QUFBQUFBQUFBQUFBQUFBQUFBQUFBQUFBQUFBQUFBQUFBQUFBQUFBQUFBQUFBQUFBQUFBQUFBQUFBQUFBdjNhQjdBQUFBRDNSU1RsTUF1Ky9kelpsVUVHYUpxeUoyTWtRZjdwNlRBQUFBQ1hCSVdYTUFBQTdFQUFBT3hBR1ZLdzRiQUFBZ0FFbEVRVlI0QWV5OUM1QWtTWGttR1AzTTdxNnVxdFlDV3RPYXBLeWRHWWtWSUxKbkd0UElUbzhzTWNPeDZFRzJUaG80QXhOWmV5dE90akk3eTlMQU1zQWdWUm5TMnRuSlpGWXRKTzBhYUtHS3g0a3oyTE9zbXpVSkNRRlpodFlXUTJ1NkxEaGI3WnBNU3libzlreWNPS3E3cWdmb0dXYjhQbzhNRDNlUGNJOElqL0I4Vk9ZZlp0M2xqOTkvOS9qaUM0L2ZmMzlrRU5DMWlBaGNhbHcvbmJmZC9QN1QyVzVxOVN3aHNNdXV6Vkp6aXJlbHpnNktDNU1rSVdCQzRESzdhMG8rQldubjJiMVQwRXBxNGt3anNNdldaN3A5OXNiVm11eW1QWmR5Q0lGOEJDNnd1NXY1VXJNcDhUaDdlalliUnEwNkxRaTAyY09ucGFtcGRpNDEyRjRxa1JJSWdjSUlYR0RIKzRXRlBRcld2dlJiNzN0aG82cnRNcUR1MytNeldVQlZmZmJjVk82NnkvaTFWN0h1RmNadVZWUkJ4UmNZZ1l1TWJVemw5aHNoL2JlcjF0MWgzNnFxZ3NvdkxnSkg3TnZUdWZtdnZmZERlQUVxMjEyWHAvWDZUZ2MxcXRVckFrdlY3WS95N1dtdzQvS0ZSY2s2ZTFZRTZTOGg0SWJBNCt6RXJZQlBhY2J1VkZlSE85aXNyb1UwTENRQzlTa05mRG5ZK1BKNE1MeVcyV2xkc3JHUWhKdXBtNGJsdkQyMUJsMWlYdDY5SFZyNU1MVkhlTW9yUG1MUFRPOE9yakIyMjBQdFp4Z2JlbEJES2hZT2dWcURYWi9lVFovelk3YkFobnJ4OUc2Q2FqNjlDSnlmYXNlNXhmeXNWOTd4TVlJK3ZRK1JXbDRXZ2Y0MGJaK2d3OWhoMlphcjVXRDliS3R4Q2hNQ1JSQ1lzdG5RWnF4SUszTmxZTUtSNno4WEpSSklJZ0RiWnp1Wk5zRjQwNWZSc25OcTkrdE1FRzJxS29sQWY2cTBxWGx4Ky9ON3doaDZPM2x2RkNjRXNoR0E3VE5Ob3dHTDdUeXROY1d5ejI5bTN5cmxFZ0pKQkdENzNFcW1UVEIrd1kvYm43ZTRQdFVoL0FReG82cjhJZER4c2VLc2ZITmdzcXlYTDYyVjdFM1ZnYXMxaFNLbkJZSEdkSmZLdyszdjYrT0REOGtVcCs5T3kvT21kcW9JWUwzUG1ocWZkQmh1LzZHbk91SDZwRTB2bnJCY0ZEWG9mYmVuZWErKzNQNzhIdnJUdGVPbUNTUFZYUTZCN3BRcDArUnUxM2U4NE9TN044dTFYeTExMXA4aHBhcWw4TndpZ0hYeVV6VVk0UGEvRjN5U0hUZDhuTlZ3bFZ5ZmMwdlU4ZHdZVnNxc2pVZHpNYTF3K3o5L2liMXNjNm5QWGxxc1JKWlVnMXlmV2ZCUVhoS0JnYWYxbGttOVJlUHcxbnl6eTNkN3JmZzRhR2pYdzY3NW9pMG51VGxBb0Q1bDB4OXUvd2VQaHh6SXVnZi9QOGJ4TitmZ29kQXRUQWdCbVA0ZU50cFdhQ3dJRzUydTZPT3NGZjR0cWRBWUtycGdDSGphYVZnZU5iajlvOU1WejNyNERtSDlFaDEyVy81aExGekozclN0aFhhODRnMW0wRVlhZjBkM2FKMHh4eExwS2lsbFlSQUErdzZuZXJQTm1QVHdRVjFMTmVXTDMwZ2xaU1ljVFhra245azR5cHcxQk5nMHo3Y0NHSEQ3aTBNbVlMZXZwZUJwaU54VWpqa0JuNUMwRXJNb3BTNDhBamhqWjdvalgrNzJqNTRDaGlHcGZRZjR6UTIzWjRTSkw4ZnZoWnQra3A0bkJOQlpUdGRUZ2k3L2RnUW9qQi94SnNRUUQxeUh3L2lhT0w0d2NWMFVXRGdFWUNxbjdlMUpvb0QzYnoycUQ4RlV4NDJSd2FaYmN6RDJQWFFyUWRJTGl3RElNcHpxelcvSlJXcXI2ZFZIV0l6dFN1YWRhYnV5cGdvblZlNkNBRXdGRDJlTHU5U1lsTzNJOXc5dlF0TDRHWUQrRzhraTJYRzhSR3ZaRXBSTENJd1F3TWgzeXIrSTI1Yld6VkU4QXhBL250YXUvRGpFaWRrQkRLQlRKbFIyQ2NwZFZBU3d5OTNUS1F0bEVXeEp4eXVvbmhpR1g3Mkx2bnpQVFRXT2UvRHdhd0Z1ZFpMMDZVU2dOM1ZMUVZta1VKZE9vQWpOM3JQS3lMZ293ZzM1UFNsYWhPUVdFd0YwdURlbmV1Zm9xMk5UaFVrblVOU20xaTJZTW11T0RXeFBlZk9tWTNOSmZIb0lOSjFIbHA3Ymlsa3FNZFdGMVdxSms1NHZuUVJ3L1NRTW90d0dkRkp2VVc0UkVsaElCRGpqcG52anlsNHp2QWtKSitmV2MwR0pYMzdCY01IMWpaa3VCbFQ3bEJBQTQ2WThUSVJ0TDZiZE1BeFBPR0hyTndOc1I0aU5vNElnUWM5VU55OFhiQ2FKVFIyQjZUTkZPWm9CdmJhK1ZQOGkzZ1pNVExoNlpxZi9Uay85dVZJRENpR3dKUzN2UXZMK2hjRDVZYVFWTnJzWUJveFNIdWY5dmx3UUdvbmwvc0VIWThvV1hXNFRTV0FtRU5pWitxR0FlQUhGbXA1dTBzWGYzUU5JTGZjVmJJMXBqK2RuNHRsU0kzSVJxRHZQcWVhcWRCUUEvYU1TTUhQWXZscDY1WmkvR0hncDFNUWlZUlM1V1VTT1pCWWNBVEJ1T0YwSVZ1UGhMbnc4K3M2V3MrRUFkbGQrSG9xMmRHZnEzN1NpTFNXNWFTTEFyV1JoZWt5cEhYSjdPNGJoK3UrU3RxL3hOb0hMaDQ1dDJ5TFBweU5paXlrT0g4bkpsTy84VE56N2crZER0VEhMSTFObzRHN0ltL1lOcUpvcFRBaHdCTkRoNnZiRzVHSEJyTzZvVXB4TnJyczl6NDAyWWFJcnYrWFlMQ3lVMEZVNWxpZnh4VUJnZGZvVFJMQy9SdVlYTmoydWE2anZqcUpvNDU2V25oK1o1RWZ0NG8vbnQyY0dKUzUvM3l3MTZxbnRxYlRtYU9yTG5ZT2dHWms4Uit6dTZEMklrRmlLVEg1OG9kWWR3Wm5ra0tidDRWaGV4OXZ6SWI3cTdFN3pVYXROeDducExEM1lUYTB3dGpWd2ZPazdvODRkbEgxWXErUjhOTmtMUythMmxsRWd3dHpIQ3dXMG1rU3VPSS9MVFZxOHA5VWUyOC9XdVRWdGw0Zld2RnJ6MVZwOFFwRzZlOC9xdldYblIxTzlUeVU2LzZELzRpZkM2eDBsM0RqTmlUbis2OG5kbWQ3eEthWHdTcnlReWxLOHAwK3hXS1FtbHZ6VWlmYmxuMUM5RGZkaHBmZVdMVFg0dVNTWEdva0JMbCtMS2k3bi9XamRTVG4rejl0K0Z1clQvOC9uMy9ESTlPenJyY1R5a2RSVG16SDZMeWMrL2FuMmppT0JVMnhqSElxZGREN0ZYaHNzMTluTDlVSllDQjFmcmtzKytWeUJqeVhQZnk5dVFSaTQvMVcvcExjUlU5S1c1WGc0dXd2WDlOeFBPM25yQkdlTS9rSEg0OWxNK1k5dDlCajVROHF4RVpQUGV3enhXcGVkTVBiRENjMDcxNk9FRWtzK2cwSDZ5SWlFK2lKUnZnb2pjU1ZhZWRsbVkweWIvc29HYXZPZHpocjlMenU3OTh6M2hkVDh4eFlWNVlmb1dMVk1MbVBwZHhzUHZDbFJYVTBPS1V2OFhOR3FuNU1iLzVjM2ZBZk1ROFplOUJpL1BzTEQvMGhyNTVGdEFMbjBlejhQNGFuMS9wd0JoMXBMazVGWm8zL1E5SGZVWnU1amk4Q0FUM0hhazc3Snh5TGlaeVIxU2l6NXhMU3ZMQzlVbHZxTDJZaDRLY2JTYnlEeTl4VTF0Y2EzbEZnaStDdmUycEJRWENDS2lZL0VVQ3BaYU9ibzM4dDVYNU0za0IzUGZHeWlLRHJKYVUvNmlxWWsvM2FFN1ZOcXlTY0dEcDVzU1U2a2c3aHgvd1A2aTgwNGhrbnpkUmxKaGpDdzh2UUtKalhueDlHdjVSd1FNSFAwdjhya0U4Ky93VHlKek1jbUNtKzU3NlFTUlozLy9zbUJTNUZhWXhpTDk4VzhjSnlTRy9CbjFXSFdRUmtlTGNIK1VXWW5kcFNzZEp1bVNQOGVXcDN0THBzNStnY05peGNoRFd5QmxNekhKc29mdWUrakZVVmQvMzdaYmNmdUZhWGo3T1Rac2VtMllPMjB6U3BQQzJlbVlDK211djhZYlpFdHF5bGhneEpWMUpBOXpxUSs3bCsyMDFUVDdORi94NmYxay9YWVlqaDI4dnFJV0xKcTRCY2RGeGQxMW1TTkEyWnpya3VaUkFpSEIwVkxLUklaenRHZWJoOXlxeUllVTE3SjlxNG1sL0E1MTEyK1FCUE5WTi9hdEtiWm8vKzVMRXN5ZlFQWktWbVBMUzdaTHJHZUlDN3NFdmgxUEk0RGh3Skw2blRFYXQ0d0xxMllUMmk0MUpmV0lGTFFRNmpEVzI1VDdvbThRZmFlc3VuUmY0azEwYzZoYUtmcDcrelIvNktiZldDNktabVc5ZGhpcVZiZUFDbVdyQmI0TFBxaWYrV2k0aTFxMTRVUDJaNUxZUzZMcDMvVHRZeFJ2cXR2ditmKy9OdENzSjV0WUUyUC9wZlpVUjRBczBmL29LaytkSUZ4eWI5Wmp5MVcyWmpJa3AvYWU4RCtnN2pTQW9HVmh1cVBoUmZUMlNuUTlIVm5nR2hOYVRGZlN5cFcrU3pubU5mVG8vKzVFejcwVTl1dDNNSW9PSVAwNzN2NllQTWJ6SGhzRWdwZ3RDZGpZd290dGVFdDNIWlIvcDlialAyQ0tGRDdUQjMrcVU5c2luaXh2eWl6Vmt3eVc0cGJVZGNVRVQ2b0VNYlFtUnpueXZUb1A3akgyeWxlVTZYNU1qaUQ5Ti95ODhqNFBXWTl0aGdETG5RcmpvMHBzTlNGRDM3RFJYa2Z6WXBORGpHRDdmaGhiUHRaOU1PUFdOVDZKRzc4aU9uSnJaeVAwdlRvdi9zczcvNHlwM1Jta1A1WC9Cbi9XWTh0cGlML2toL0VzZkVFc0phTjNSazY2ZTRmditLUmg4UlU2MUxqK1A1WFBIcmp2c3hubVZhUFZ5amI3NTB1WWt6aFJzU2hrc09Idm9MKy9aeStZM3IwYjF3UDJtaW8wdTVVY0FicHYrSnJxaklJc2g1YkRBWHZ5amJpMkZnQ0t5MzBRaXAveGxKTFdtbkgwNHdHaHQwYWl6aXVZdjFwTTNQU2k5dWYyYTczZEtzOXBTeWpVenZLZWJZelNILzRLL1k5SVpEMTJPSXFlRmMyWG1wZWJHTDZ4ZGM5eGUwdUVNRFRGeVo2QVdtN1NDOXhCRERITlRxSWNUbXZzNW9hL1MrQVJyeWhlL2I3Q21hUi92V2N6Mm5HN1NTeU1oNmJsT1JMQThiS1RleGhZZmMyWllXVEMrSCs3L21vYlVmYU9xRTY2QlVXLzRXOEdxWkcvN05ZNzhUWGZOM09RR0FXNmI4am9NMW9kN0dzak1jbUZmQXZ1WXo1RDcwTDdIK1pmN1ZGTkc3bFRmb1hVUUtaYm1JTUFWekZjR2sxMjdVeVJlUG5DS01UUHE0VFZwcnBYbWVSL2owLzQ3WHN4eWJCd0F5K28wTkZsaTBRd2liZDFDYVdBc1c4aUt3bWpKYXlTcHVKUHJTRmU0cDBIV1gycmhDYVd1L2Y1dVpaSXh1QldhVC91ZGlyVVBaeGlYSVpqMDJJQkFIbWs5VHBKWm5oSmZTSFlNcC82MFZUQ1NXZ3Y0OFZ6OXp0ZWsycG5ydUtoVkcxbTdkR1pXcjBiNnlqeWJ0b2FvYmRPWXYwditMcnAxYXlIcHQ4bXA0NEloV3FvYjhDL0s5VkV5WWF4cHZ0NDhQR2ZXTUhTc081UlgwOWlyZFNBN1hhYjc2QVBmRGZ4NXdiMFgvbDV4djNmOWVob2dQQnQzK2srVUF5elpTNjh0c1BzVmU4S1FpK2NqTXUvL2FQTkF4RjQyd2VXQWxYQ0E3UTFHMHRYWXRrMGYvdEgyd2V2eWJSWksyd2wwaTZGbmpydldnT3NoNmJyR0VyKy9zWXBCc295K2FGdmd6MHZ5ZFBxRnAreUxiM20zWHdsWm5tSEtkVVR2ZWhVZ0tJeGM2Q2xOUDRZaDI1Z0ZRUUo2US9Sdi8zNFNPN29TZ0pmZ01KNlZWUTZkUjNOTmhQdnVFRjdCOWRsRjhnd0hwL2c1MGNxT3FTNFN0aHI0OE9RQlpMaWdSWm5wOHZvSGxOZGpKTUYvS1pZcWdGNHhXQlhiV2FzaDZiMU56TG5oazBORkNXelFuOUlzRC9lSTVNeGV6bE9tTTNHUHR4b3hwczk4cjY5QnZMR0JJNWg5VGt0dlNuWWxtQi9xeVdzU256TDU3NG8zL0g3bXlPaW5ENkw3Vis0RENBKzFlZHRmc2JkdmQvRG1yL3IvNWRDZEtwRjluVHZJWjNOWnF4bWZWL01QYjdRZTNkN0VTdldtMWlFS3lHUjZaeHQ5NDM5UXcxWnUvOUw3TTdPTkRpajV2Q3lGTkwrUXNiYThuOFhqblVuZkhZRkMxSG1lNFJZd09WMGxuQlh3ZjJyODhTOEpDM3k3NXpNMWo2OVpRSkVxcm1UcTM5NnBWczZVTUkvbEhkanJTQ1hycitOcnM3NUNudll0R3hoNXorVHozTjN3VjhpMjd5clBDNkVwSDNuUnFKRGFtN2QwZDNnSHRaSHhXRmRmQlJIbXBuT25VNjRZd0hINlprVEgxWTZWOXJqZDZ0cTVyVk42cmYzLy9tV3BxWlV4WEZhODk0YklxU2poekhLYWxSME56QXRKd3A1YlBwVDd0SnJGTGFXOW1QaGVYN1lnMkNwaTM1K2RNeWkwY1NDS0cvaUoySlp4SnVBM3h2OWthSzN4citLRTNvK1ZscWJQQTBETVdlRytVaDNCSnlPNHJuMUpCNktSNWxkQVg5KzlHNEczY1g2aFU2OWIvZFVhZmYwbDlkWGNadS9KeG4wWG1ET3huZmpvUXk5Nmk1bHE2blJXOFpqMDFwNms1aVRrZko0ajFXV1JocXUyRC9nYVpzREpGV2RDRHVKYU9Sd3llME42clgydGJXVGFMRFB4NEtwV2NUYm9xV01IQ1dQeFR4RzczL3VlZEg0ampKU0pUN3QwS09EOUMyTTFLMzRsR0gyQWNGMXUrTkNyVFlzNkprK205azh2Y0JBZi8wbUM5cjc5K05YdDdndkxGZk1XdHpUalhYMHM3ekpSZXNKK094S1JwQWYvdm4wZHhBcGJRdDZMN0EyYVlwSy8yS1dCTVh0QTRNY3A3bzMxVGQvaXVJU1J0bUZhYU5jc0ZDdVQ2S291c1o5WnVnZi85Z2xIWWtUYkdta09PK3llanQ0TWRjUjZWbDZtNXNYRjJLZXY5Ty9CSU5NdHk2RjZPWGFvc2xSaGRLYSsxRDN4WGhlNy9jY0RsMStWZS9icnYrVHFzMmlsaHE2WnZlYWtmVnZJYU14NmEwQnYxRC9DMVhrc09ncFlGSnNYUzgxc1pIZHlPZDdqbmxTSmltN3pINk4vaUsxKzNLVlhMLzhiclE4bmFBcW95emU0SW5vM3gwSlllakVNUkdxT0o0cnZ1andsc3hFL0dhN0F1TjU1am9hVTJwVFRseE1Xb0VySG54dUdCcGJRc3R5Yjlub2o0ZkF3N1orS1NRMWZnNUw4Ykw5WXczTEtVTlAwMWl2UTVTMHR5MGlDd3J2WmFPN0EvaVFxNnFVVERyc2NWNmd3RDBqN3NmSlRrTVdocVlGRXZITWVxK00wd24rMDVwUlE4WlJGZzM2UFpEZno3VWZlT2Y4dXZUZjh0UGJmdGVwYVlqN2NzSmFrYWRKY2QrWkRhQUVvS3VxL0YzWTBmSVFSVWFHYlhka0ZwVDZGY1B4Y0JuOFlsQXcwUlFhZElvdUJVMWhFTmdONUZzeHM4Z1Vnekgxak1wMVdDV0lRMUpmSGVON2JwbUtHS3BaYUJoT2lybnFocWxzaDZiMHBqZERQcGJHcWlVdGdUeHBKVSswaUpVT1hsWjJBRkhzVDJzNmVUUC9rQkxLUlBoQTJoNW5ieFIxYUVPWElNQWI2SG9TVkJBOVA0eFI4OEtIenhlRHZGS1FKbUltRkxoQkkrcjIxM253WTV5UzhwWU9wYUtBanRSQmZJOVRFcnd1STMrN2VoamluR093VEJlSGczbDB3by9KR0ZLaEl6ekI1WmFlc3pnYlhWVWpiWmxQVGFsNmJzWklGb2FxSlMyQkM4MkdQc2hTNTYvNUF1aUU4VTliQnZVOGc3Z3dKRHVsc1Q5eDlGMS9CT3YyOVFLNzdMbmxQaEFkc2QxMGVrQ2lGdVJDQlN0aDBHdzZyWXNKa2JFcGxUUS8wQkk3cXp6VUN1MnI0S2dybzg4aENEL1d4Y1ZvQ0h4Z0ZzVkNNTTIramVqaHBxL0wyZkYyRHVsenkzQlVzdXE4WXZqcGhyU1dZOU5VZGJPb0wrcGdjdDRvT0k2ZnNXL1ZEU3BRYjdPODRmVmhIR0V6d25UUUE0SHRXbzQvUVgzdEF5bnlCYTAyQXEwTmN1aUcxczN3VlBpaFFRT3c2ZzBIc2oxTUFpTjYxRWEvdlFqVVZPcStrVTQyb013ckFDNWptTlgzTDlVRm9WcU1VTjMwUHI5Vkg2VVlLTy9lSGVEOTN6ZlpycHNXMjE5T3J0d2lxV1dWZXRkRmRiTUJRR245YkVwaXRvWjlEYzFNR0dHaFRNNmlqb1J2TlRFT21jRGRpTGZ4OTlWOFdRdjMvZDZrejdlMUZ1bURLZTBUbXpScDR0MXhlZ3R6RUoxMjBMbVg3eC9GR3BJeDJOTWYxRHlwcEFMZ2tIME1oaFRVVnpjMmdwSEU1OTA2WXZwV0Ivd3Bkamh1NVdGZ1ozK2NzUXRHeHFGOEVWYVN5V1dTWUIzeEZUTUUvMEJqa1RLVk04b3JadEpmME1EYTUvdVl5d1kvdVRRWjM3SGFCeUdpdmtlcjN2ajVmK3Exb3VtYjVIVFgrRlpXcUJRU2x1TVlnM1NHdjM1eDJZL0tkU1FGSTNwWDFkZWs3Q2JDajBneHRSZDZQekhDb29ZUDBoWDY1RmlDT24xbm84N1BveEg0c0dITG9PWWpmNW90TDNyd20xRUhwdVVQcmNFU3kyckdkYWFRd1h0ak1lbXFPbkdYYnlTR0FVdERkeVNqN1J2NzE5WDZuaFVLVHFrS3ltZkFpNGNmeTZqdUIvNk56UDZoN3JLQkQ3WVNyV21JWTJWbVA2UTI1YUNxOUhZMTVpNmhWUjI4cjhkQ3ZHZStsQUgwckFTK2RIZlh1eXc0ZS9rYzRuY09HcWpmd3VGN240Z0Z0TUR1eGtLZGNtY21LV1dzeEt4SEFXWjJjMWl6YXhuME4vU3dDUDUxY0xNa3VMRTBOdXozQzIydzMwVllEdGNzaEx1MUdhdkdjcUVSQWlmNmRnR1RtUVZqM0xmeVcyYmVFdk5BcjJsWFM1S05HUmZodncxbnN6ZnlnMGVHRjE0aVRsWnphbmNlY1V2c2ZSNFI4VjdTOU1qOVBHLy9UdnZqYTdmUTJHREoyVWtiS04vbjFmSjdrYjJtNm80ZndlWkxwMFZzOVRpaC82WmowMXBWVDJEL3BZRzdpcUFOZzJQWEdoZmFnUERvWWhaLzY1eXJJdGZVZytmMWNVbHFDRXpvcEFYK3ZQdTgxcEtkWlNnMFIvM2tYYXlHT2pQS1QyVUd2RldjQlBUbk1vSHh1RjFzaEdXUVBUa084VFYwcjRpVW1NNDR4bVY0My9TTDJVa2E2UC80MUZoMDFhTjgvY3kzaWUxRGJsaFN5M0FJN2RvdmtEbVkxT0tBOE5ubGFnV3REU3dGYnUzQS83N2NVT3RqQnFwN2VKcGJhZ3BwdkJxQkhiQlAxS0ZtQXUwdldLYy9sYm1TalhaSVc3U0hOaEVrdlJQRDVVTTlJZUhVOFVNajV1L05lYlVnTHVRdzJ1MHVtazNpa1YvamcrTkxlTUxQZFhMTEdXMy9mbVhLTHdNTjk1Zk44K0ZHUnVTbVdpcHhVL3ZuL25ZbEdiVk0raHZhYUJxRFF3eXlJSDV3Yy9pMlc0cnRabUNwZWtmbm1QREg1TmxYWmFYM2gvc0ZDc1owbzNYYlArZXlkZGdvRDkvTWdvaGVRWFFiRTROZ25jaU83eCtrRmZmTFdUUlhsYjB3N2F5anY5dHZYL3dsYWpPdE5tMHhQYWIwdlpOSStLU1lxN2xyT0ViNnFKMUpKdjUyQlIxOVF6Nm0ySEFTN0VlSytqWng3Nmh6Sy9uREU5alJXVUNLNkpydkdVczdZWCtXMkNDVVR0UDFEdy9nQ0x0YWpQUUgydDdGSHFHOHpOUVpVNUZ4cnZxa09jWGYyV0swZitjWXU3dzEyb05KVTJYbGY0QnVxM3dHaWFMbmIrSE5panFrL2xPY1dNdGZ1aS9oZVlYYVVzMm9LWUc0ak10Nlhaa3RUK2p5bjhSN2ZoWFJScFNSdVpxeFAvbmpZVTUvVzhhY3h3U095WlNpL0lhL1ZkSFJyeklHLzAxMEo4VGNpaWx6bzZNYzNOcUtQYkhIMGFKa2Y5eXQxRHZQMUI2YlE2Q0dSNjc4WU5hMzl4RU9ZUFBGRDgxdXl1bk11UmRsQXVaYXZIajk4OThiRXBqdTltQUdob0loOHN3VmdBczl1T0lNZkJsb1BoR1k0Nkh4SXMvQiswajR6bXRqZHR1bGVuZnR0cFdxTEN0anB0QS8wSkQzOFE2N0tpWU9UVzZxYmVoRmFHL29XL25zbkwvdStwb3JxRk9GU2hDQ05wN2Y5aXRYMFhCMUl2RGYycDJSL3Q0NlJwZFk0WmFWZzNmVUZlMS9NbllUR0pkRitTc2ZtRXVtVzdncXZwWmFlUWJndnk0aC85ZHI5Umo3TmZlQS9YSys2aW81dlNYM3lrbHd5WFl6TUpuVitYSE9aT1B4ZEQ3Y3gvUGhtd0M0T1Eya3prMUZuczNDaUhTc2M4enhxSncvRnhYSXJ1bVpvM3lzK2dQVjJ3OS9lTHduNW9kYU0xWGFscTJMZmYvdW5HOS82aGtxcFl0MDVvZlo5WE5yTWVtdExtZGZzV1ZYQjVNTmxCeCt3Zm9zekpmbmxBVlArekg1RU5MMUZNMnlqOHZ4azdlQi8yei9jY2RkZGFEVysrcGV6RFFuNXNqMjFJUTlPY1R1Y2JVMmcvRWN0MndVSzlJcDhaUHQ1WFhBTlVOWlZRTlpkT2ZQOXprWUthekZrNVRHenNWNFloRGZhbnJRSzFXRHlkcjZZV2ZPVjNHV1hYMlkxT1U3K2JTUHdtRDZ2WWZhRTlTVWFzRitWRnZZMXdBMnJmNE43bnY5MEJyaUhzazIzK3NyVTNub29mSkdnejA1MmV2S2Z6cFJRL0FsTG9zM3llOFhIakg4WVdKSjNTVFZjVnhmcnF0dkZERU52bG5wdjl5ZkJQZDVLZTl4dGM2cjFyMDhkN0dkbDJUN1lsQzFscjBQUlFqYVRmVktKUDkySlRHN0tyemlFbzYraU1MRElyYkg4cy92NldWc1VUR3NnRDB2NGpLd0l4MUVWYi9jZ3kyMVlRU1lUNGlQYkNXMjFKN0t0N2pwRVJOOUc5cnIyc244c3lZVWxlVWZydkI1ekRnZGtpUEw1TE40NmZieWd0RjFMbHBtV0d4L1MreGVEWmhrT3o5ci9CM0QyTy9kVlZMSFA0UWFqSmZKOE5ZS0FyWWF6SHQ5Z3BjVlBNYXNoK2IwcGhkRy8ydERWVFE3TERqb2FMTEhyelV6RnBGWlMrWGtiUERRazg0SkdBM3BIc1hwSE56ZWp0RFE1RXMzbmZHM1VDcWdMN1h0NlcxNHo5dWNuRVQvWThpd28vVTRRSHM4WkFwZFVXeDZuYjUwalUrb1JYcUhaWDlLeVU4U2drMWFmTWd2SWhsWVlxeDkrOUxkcStxYjNlbytjWDRINzNOYlZsWnlaQzlGdU5lWDlkYXNoK2JvZzN0TUlOamF5QStST3RSK1U5R1I4NG82bXpCaXkyNExvd1B5MVlpSngwbVk5ekphY2FFTEpjWVRjb01oOUFXeUdNWGozY2NoQ0pIR2krYVE1NW9vais2VDJYTkpJRFo1NUttMUJYRlpkOEpZZTlxYjNScnlFc21yN2FpSFhsTnE4RmtvajkvV3dTN1Y5V1JQYStsc1kzLzhEblJLK0E1amxkR0xlMjRla2VkcW5qMlkxTWsreFpmZ3JXQnVQdGJZZm5hUDNFNXhHMmw3bmNCYUErUFNkeUdaV3lITjBSMXNRaHBwNytkOVBCUEtYOUdtd0VDZ1dXL3V6SnFuWW4rNkVDa0hIQWVMV0UycGE2dzUrTGFldUZIQXJkOVBVNVNoZ1p4R2dLTmEyb3NYRGFrSmNRUkUvMTVueUZxNkNsdkh5OTBJUndKUTBLMkt0YmxGc2lvcFI1WDc2WlNrODUrYklyb2pvWCsxZ2JpSWIvcXNjY2VlOE5IbXV3bEc0cWl2Q0JmQUhwblAwK3FjRDdhTGF6Z0pZMkVVZ08zZW9jeVdpcTBxMUkxcFFFdjJLWk1oQkVtNTBORE05bmMrd2QxUlU3MnBZYlVGV1YxL3lBY1dNQ29sWk5ZWjdncG5yb3VxZ05yNU9LTnNmUUNKdnFyVm5Nbk1aWVpoUE1KdUUyenZaQnFpVDBobzVhR1l2RFpGZVRrWkQ4MnBURGVrM3RLTkE1YUc3Z0tOS1ByVlJ1eGVJSEFVdHREdHhIWEEyV2lDNzBZaCtMY01NQnZZYWduT2NlYW1XMEdFdzRWbGJ2SzJIY3c2aUZOdlgrQXBZVGJvbGd2NXFZaEZWK0UrUFhxakd3a2RjWE5pSTVDay9oN0xrRi9iZ2RmRTVuYVh4UDlZZG5IUm1WTG5NRVNsV29lOEFDRytFYkdSRUtGL3RocmdmYU5RaW95aGJJZm0xSjBJRDYrU2hvUFdoc1l1LzFyLzFYdXhFc1VOa2RydXhhZW1zV3pVL0V0V1k4a3pzZW5YZWxGY0F1YUMxRFBMUlRqM3B6YkdaSUtqeUYxUm5sWG1udGhNZVdEY0RZZThlS3RDZnRSTHRHS3VXUklCZjFIYWlEWUhiSHlLV0Y3Z29lTlcxeEQ4dHFOZ1JubDhGN0FiS3liNkgrWm5SeEVHaThtZXZuTDBYdGhIVXNrVzJLUDIyc0JDdnYyY2dWejhoNmJWTk96M0l5MWdidng4d3ArUlgvNlVxa3Q5R2ZSbVltMmZJZjBYZmFqUXJwajZTL0FSdGw1Q21HM3YzejRjRDJqU0YzU0UxSzFKanZaSEVsZkdYV2MvRG1JNHZoc0NoWjJZc01OdHMrZUVFaW5ndjdmaW5LWEk2TUhTY0wwT0I5MzAwSUQvd3VOb3N3b21mY0NvK0dGS3NiREp2b3ZTL2IxRW1aSUx6TDVXL0w3a05SWU5HNnZCUTdIb2tyc2NubVBUWmJFUTBsTzdZV1oxZ1lxYm45MFhjSUFrUW9uRkpJZi9pWEx3K1crbEpoN0pWdlZnUXJ1N0xOZHUvcmdFQzljZExKemUrU1Y1Y09QZzZod1g3SVFTMVYvWkpUYWxaMUprRTRGMThXci9SWmgwbnhSZFArMTVzT0dabjJxaVRKdlZETHd6Y1ZsL0U2WTZCL1VSUmUxM0VpOE5LMUlTYmN5ckRpSnhWYkxGZmFNMHZpU3diekhKdFd1eWlHa1RPUWhXd05WYTZBWFB4Mjk3QVJpWjZMVGJZUGdpNGxPS3E0Y1JxOFlIY2RwRG9HMy85N0g2cHc1N0IvOHIvODY2dE5UcFkra0ZSUG10U08yLzE5OFRMRDgyTTgyVVB6NFJZL3RCMy80Mk4vanF2N2hZNzhReXYzYlNPNy8xZ0JNcFlMKzNaR2R2ZHdVcktpMW9oL1A2SXN2amRLcXYzb0JyNFd4QjdlanhQLzRzODB3Z2Yza1l4OVE1RVpCSS8zZmNqSU1jMnZ0eER0ejlUZzgzK0NKSjNZcmYxU0R3RnJMMmNTM0s5WG92SVFpajAzcUFFZk1YeHRMQS9GRTF1UFMrSzZ1eFpISkJtck5IeDlWK00rVi9sTnZBb3h0bzNtZ1MxbGo3UkZ2d3YrM0xWS3JzU1V5RWxocHN1TTNmZUl6LzQ3OWZjVDVyUFBvR3NZN2M0VDh1eGw3M1gvNm96OUxUSndrVTNISTZrcmpaWGlUL3FnZWYwUUMvRmJNM2YvekUzL1VOcjMxdk5zTHI3Mm93WEdDOUJSRU9maGpwSCt0ZnZjdmtQZTJMdnNaS2NsRHZVZzEvNE1tVmJ1c3RReGlDN0ZrQlcybG1kdTVPcXdXZ3FXQitKemZpcFhDeG5vK2prdzQ4Q3ZzcC9FUWFyL003dHFlQlQ1c29zc3MwN1krdSsvK0c0OCsrc2lOKzRHZkdMMEFBQ0FBU1VSQlZCcUdmbmFrTWZXcHZ0UUswZi9IUFBzaUZMemkwVWNldWcvK3A2UGorNkFMcW9UaER1Yno2K042eXhLcHk4QWEyNzN3VTBhcVBYTzFHUmI5SHIxb0dPc2M4eHB2M0JjUEtEckhxSFowRTJrNzFVai9BRE9VeHpkUTQzY205TmZEV2tmL2JTVHkzS08yV3ZwSzcrcXVGU1dLUERhcG1BK01aRXdObVJzSTgzWVlTK0ZUVU5rSEZpcXJmZW0zM3ZmQ3hzMVljWkhBTDRJWEQySGtzbUVUM3ZMVk9sc0YvSHlHNUtlejlwdXZQUDdKMzdlWGlITSs5WkhHL1M4YXh0RW9vS2VHS3o3ZjlXRjIvNnQrU1JWYytuUFU4VGsxcFZ6WVRQOWc2YzhmWWcrOGFDT2g4MUpzU0FKWDJRTW1wSXBIemJVRWRiWmRYRWQxU2U0VzJ6U3JNVFlRWGFxVUJ2MFR3eU9aNXhUcW9oV0tENlJZMlU5OXVJRlROKzJ5QTlNSDN5NWVLcWVoZEFhbEZFeXprSVgrNWladFBTZlN6em8vS1ZFeS95OWNaUlkyNXBjdEk4RjlSSWNPQlFlcVBZMnA0ZlFuMVVGWkxJcHZMYTd0T080bDBKRStRaS82VEVwMll6UERsRHZqYVU3MHI5OFVkd043ZVYyRWZmKzk2cWsvTGRvdXZyaGhXRlFZY3VLbnBjSWkrSFQ0c2YyLzl0NFBvUjM3RHUwb0lMcWp6RUlWRUM4bHNwVTVLMVpLNWVRS3VkRC9ZbXo3K0ZueWFibkxjeXoreUZnay9DYkRmbkhxZGVzcTRWYzllbjZVNHdBOTNlR3VNcm5xU1dWS3pSWGh5a25sbklJRUYvby9MdnM1R0F4aS9zNzdUZmJHOTJFeHRwV3Y3THhsekRFbnFtNS92cGp3d0N6bW5tcVpmbk5YRkpmb2FtMk5rNzBHbGxSYjBLdm1DU2h6b1g4M3RuMjRRM2RzWFhUYnlSVHhnQkhvZjYyNEdpekpXSStsOGVySVQyS2NXaTRBWFg2R0ViTDYrZ1RvSDdTZFJrNnljYk1RY3FEL1JjWERCUTU4YTB6TnI1bVhJSXlwTnE2MmxiMnFKVkV6UG56eVcvRVdqOVlGeGlDK3U1U20rcW9tN3NOYmRNdWw4L0JXcXg5RkR2VHZpZmtLWHZQNEhNcVh2Wk1nRHlrM0UwRjErMlA2M2QrbkN2TVB0L09hNnBpUDc5cWVZeEYzOGNrL01QYzIya29VcDMrdHVhWW93YzlWS2pHZndhMEpQREc5dlgybmdjeXE0cGY5Q291MzIrb3FnMmhlRXZ6VHIyTytGc0I4WWZHRmd3MW0xcUduOGxITmdaNDBqbGh6WEZRWVIyTjFuY1hwL3hWdDNTc1d0dXFLdk1WMkordjFSN3VQbkt3T3VTZzMrRExXRkd5YWJ4d3ZpZm15bS9kYjNybktsOXhzbU52bk0vWEkzeGZRWjdPSzZDcEsvK1hmd1BUbW9kRDRKQjQ4Ky8wblJOVG4zNld4RFNxc3JldzVUQTQ5K2RkWWJ2VUp2dkR2eWIvOE9ZeDdOeXhhMFpXYkwrazlTNWJzdU0yK0pZc2I0bnhDYjkrUTdqbnBBbHZ6ckhGaTZnclNud01wc2R3S0l4NDkzc3J0bmxmOEtrcnlPSVBvcVl1dTIybEhkeDc5dVRPMHR1dEwvNlB4K3A4c1h3dm9nVzZydG5JWjl0Vk01ZlRaU2pYOXJQdXdxUjlqZW1INjMvL29qWWJZK1BnVXcrSzlSeDVxN0kyaFlUdWlrakhvdHFoRVQxM1VldTBxOUQ5KzhBTVdoZVdTbTk1ZFhwaWJINWVKcXQxaTc5UzZQZ3ZTWDd2YmNVWnE2cFRxT0N0U2RLT1RyTElxWHRGVUpZaWxUdlp4UVRuRitLeE5wRisreUI0dTE4Q3BsNW8xK3ArWmhLc2lnVHEzN0JKSlU0aU9ZU1p4YTN5ek16cEEvUm5vUHZRV0ZZek5HdjNiRSttdWRIRDRvcDk0Vks5blRUQ0d4WE8zUFZkMzVPVFNxbEQ1NVlrN3F5czBWaTA2WS9TLzZ0djFyZDZyTGN3UEk5aTJaVTRzSFNPUWRjK1Y5ZjIvVVpZVzdoYjFIVmpLVHl0NXh1amZLVG9HOVlwWDAzSTh2dGRLOHBUQlVybVZKK09ZajRINnVtT1JrdUpYWjZEL0tOUDByWWxQTW1XMWN0bTBlVG1yZ0orODlzUm9rdEhlanNmMUUxRTFqY205MWgzZnk1VXlrUEtZdFRvRGd6NTVPMXUrZlI5U2RWWUl6UE50ZG1kVlo4N0RPMmpPS0owNlNhTnU2WTJsbXpuTmdoZi9ZSnExSit0KzUzNHlaU0p4MkIzVDc3eWEzUHY2amhlY2ZQZW1yM3ZtYXg2OEtmUFZLTkl6Y3doZzFEbXU1ZHVGN3hWZDliM2drK3k0NGM5Vmp4TlpKakxyVmZnZVNYQW1FWURQY1FyK1ZoMEtkTlhQWDJJdjIxenFpMU1DOWZ3U01VejZUdjIyU2pTYmlrd1lBVkJ2NnQwa1hzRnZkdm5RQndmbmVESUJWeDJXOGswWWNhcHVoaERnWThScEc4a3d3QjQ4SG5KUTZyNjhsUU9uZlF3ejlEeW9LWk5Gb0RuOWVhOHR2SUtqbFROSHZ0Yis3RGh0NHB3czRsVGJEQ0hRWmxPZnRZZnpOVEo2enFhT0RTeUpWTmYvUkZySmxsQ3htVVlBM0Z1YmNnUHhCa2JPVjVoQkcxNGFnKy9KMElzaVVqTGZDS3pHM0p2YWZUWmowbU12L1RVZnpjQktQdVZzRGg4YVNjZDhJZ0RHVFdlK09ZWVRvMit4M0FrK29MVTR2VUlBZW9US0NscW82UHdqZ0NOMnByeGluYnY5STV5eCsrYlpLSWlmOFltdisxK3o0ZllnWUVTcFI5TzRGU2JwQlVLQWV6Nm5lN3ZvcW05SExjQ25TTHdKUnpINXc4RHJuZHJZSTcrbkUxNExMTnlhOWlnUlhmVjZoTC9hYXovNTE1aTVIUjBzOGRXbW8zZTI3MmtNc2NDMFdKUmIzNW5jMG1BenBGdlNTYm1xcmtEQ2QwbDhGYkFuMDJsVFNTc2VUSnVycEZSQ0lFSUE3RnViS2hnZCtmbEJXNFR4dzVkQXhGOEZmcHIwUnZGR1R0K2dLOTVXa3B3dUFoaHVUbmVZMkpiTExvNVVMNno2TzNxd2l0YUt3NFRCTkRsK2lzTzEwSkpUNTBwTExycmJWWWVzV0xVNUZFOEcvaW41V1JDSjFyL0tDTm9xUXhtRVFJaEFRL2ErVTBGRVdadGNsK1orRUt3cUxpbWNLdTh3T3dFYmFtMHF0MEtWbmo0RVlIeHNUN0hWTVBGajQ0c3A1ajZPMzVVVEVqaXcyV0hzaTVIQ3JTbmVFVlY5bWhEb3FaeWJmTVBoMVJGVFhmcXA1THNLNC9HT09HeEthMDc1ZXpaNUVLbkcwZ2pBVWhiOEs2MmpRa0ZVdnhZVjUyZk9IY2FxV29xNWoyRnc4VGJDVXFLUmJ3d2pCYklSd05qWHdhN08xbFVpRjA2ZGExRXhESGFWbFdycU9BQS9wcnhlV0RlbWtSM0d5WVhWa3VCOEl0Q1FycGNwM0NDWUxReDFESGJsRGwzVjdjLzkvdkt6a05kSXFMbWVKMFA1aEVDRUFMZzFuQjRZSUt1b3ZhT2FPS3JiMyszbkJIZW1PNWFmSHBSVWN4a0V0cVQ1VWFaNHhUS29mVE5TMFdWc0w5YW11djJ4L0hNN3pzZ050RlFUS2xlYUJCWWNBZlN6MFc2cmFRQUIra2ZWOHJVSyszRVQ4RlVRWVl4T1hpN0MrWC9IOENQQitaV1N4S2xGQUxTYm9xZGtOZTZyTWJXcnRFTzYvWmU2N0JueGdTZ0FNbFp4ckJVUUl4RkNZSVJBVzlvZms0ZEVibStIdWZOaVdYL3M5bjliblQwalB3cFN3QmJxeWJHMFRZVFNDUUdKQU95UG16STI0ZENadVBmSGtIVW9LMit4dTQvaCt0Z2o3Tmp0TUZhTUlCeStGYkpDQ2kwb0FuQ1VmM05xdDQ2Ung2anVtbjdHSndZQzBYWDNkUzZOYzFzZjRhS1paT2NUQVJqLzA1djRnbE56MUZuakpWeVgrRXEzLzYrMTJkTU8zZmxVMzJYWmZncWRIZ1Q2c1FFeWhUWTNJNU1IWTEyRjVZcmJ2MVpuM3lyZXJpMDJoWjhJTE40OGtwdzlCSlNaMThrM2JtZms3TWRYUVAyTlVOWHRqL0JCNFhhMXB6cUhYYmlaSkRnN0NNRGxPRDNqLy94b05kdFRXdWV2cmZhSE9SK3ZpYzRERFlZY0xmakpBNG55ZFFTYXFzZGR6eHA3YktuQjEvVmZhc1JMZjhJYXBkc2YwVzV4NHd5bS83V3hONWtxbUM4RUJpNUx5bnpmK2xQc3RjRnlQVEd4Rzd2OWVXMTl6U1dhV1g5UG5Ubk9sS1JNUWlCQ1FQZTZUQmlXV3BlZE1QYkRlcTExMVlZNUtqNlRWVmNXamVvYUtVWUlXQkNBejcyd2RXMVJVU0Y1NlhjYkQ3d3BVVjVkN1k5OWowWG41YkE4NkhwQ0UwVUpnVHdFT2pQbUw0RWZhRjIyZWFldzYrZng0bWFTVkUraFJVY0FXdzRQWmdrRDdIdThKZHZUTGt4cVRKSEpZaFFpQklvaEFPdW4rR2JhWWlvclNlRjFIRW9GMmlaSW1ad080YU5CdGs4YUZrckpRNkNqSEN1U0p6dUIvRld4RW9qWGhVOUJ3VVVaMkRnOG5FRHJxSXA1UXdDK240TVp1cWVCK2piQ21WbXdUKyt6ZXpOMEU5U1UwNE5BYzZhc0g1WEh0V1pSWDc0K1lENDkyRk5McDQ3QVlLWjhQNnJiLzYyRjF6R2NZOGViVXdlU0duQWFFY0M2SDhYWE11MDdVQlloclRUWThXR3g5blRWdWJKaVJVaUtFQWdSYU04UWQ1VFpxNVU2WXg4dDlvandCaDhVa3lRcFFpQ0JBSllWN3llU3BoU3RmZnF6alAzVUUvejY5SnRoK1A5UXdYWU0ySjJDa2lSR0NDUVFnT3YvZWlKcE9sRTRvYlRyZTRzMm82bk9GQmN0UkhLRVFJakFZSXFybnRWSGdKTks1SFgvZHczVnZLendHWGF5bVpWUGVZUkFCZ0xZWG51UWtUM3pXVzMyMHBsdkl6VndkaEhvVEhQWloyVllNRGRjMEVGVXVTcFNNSThJd0hNeVBMMzMxWmtoejlYcFJYR1JXOTZmNW1HZkZZR0g2YlpSVVFVVlgyd0VMckhqR2ZGOXVqK0hBWFgrN3FCUkNRMkJuVk03ZXNSeW42RjJLeFFoQkZ3UnVIaHF1Lzh2VXVmdityQkpQb1hBMFl4TWZhVWFscGZRS0xvdUtFOFI1Uzh3QXNzZnZIazY3LzVuUDM0NjIwMnRKZ1FJQVVLQUVDQUVDQUZDZ0JBZ0JBZ0JRb0FRSUFRSUFVS0FFQ0FFQ0FGQ2dCQWdCQWdCUW9BUUlBUUlBVUtBRUNBRUNBRkNnQkFnQkFnQlFvQVFJQVFJQVVLQUVDQUVDQUZDZ0JBZ0JBZ0JRb0FRSUFRSUFVS0FFQ0FFQ0FGQ2dCQWdCQWdCUW9BUUlBUUlBVUtBRUNBRUNBRkNnQkFnQkFnQlFvQVFJQVFJZ1RsSDRGTGp1dDg3UEhlODRWY2hhU01FeG9iQUxydm1WL2NaOW0yL0Nra2JJVEF1QkM2enU3NVZ0MmJwMTdKOTN4enBteXNFZHYzL05PaGIyTk56QlJIZHpOd2ljSUhkM2ZSOWMvaTU0Rk42YUxSdkpFamZqQ1BRWmcvN2IrRlRNL0p6d2Y3dmpEVE9GUUlYa3IvdDhxdC8rL2tQdnJLcTdZS2ZIYUx1ZjY1NE1xYzNrL3hoeDlIUHF6OVQ5VzZQMkwycUtxZzhJVEJ1QkM0bWZ4cjBMT1BYdDZyV0M3M2JWWFZRZVVKZ3pBZ2NKVjMwSzU5L1g0T3haeXRYdTN1cWZ5Mis4dTJUZ3RPQXdCSmplNmwyNGdPd2xrcDBUVGpEMkw1ckdaSW5CQ2FLd09Qc0pGM2ZLdk13RFF6ZjV4ZzhTdW5HVWdvaFVCcUJPbnN1WGJiSDJFRTYxVFZsd082NEZpRjVRbUNTQ0Z3MkRsQjNHRHVzM29wTGpGWStWRWVSTkl3UmdTUGo3RlNYTVI5MTF1azMxMzNBU0RyR2hRRHM4K3NHM1UwL1prdVBIVzhhdEZNU0lUQWJDSnhuYkpodVNZMGxuYUZwbVNJcHNINnVGWkVqR1VKZ0tnajBqYllQWnF3TTQrRVNEYXhYbnowclVTc1ZJUVFLSVFDbi80c05naGNZdTIxSWRrOTZuRnovN3FCUmlVa2hBTnRuMjFEWE9WOUdDNnlmZFlOK1NpSUVaZ0dCdm5tYjE1WVh0eisvd1NaWlA3UHduS2tOSmdSZyt4aVg5blM4dVAxNWpVZU1rZS9IQkQybFRSOEIyRDYzVEsxbyszSDdRelhXL2V5WmFxQTBRbURxQ0hUWXNiRU5UYk5OWkpUTlRzVDM1ZmxzQ2NvbEJLYUVRTU5zbWNQdDcyMm5TdHUwb201S3QwdlZFZ0lLQWxqdnM2WkU0eURjL3Q2NmJMZyt0MlBGRkNBRVpnY0JPSGkyVGEzeDV2YUg4cXVXVjh4VUw2VVJBaE5Fb0dzeC9lSDJYdzlxdjkxODhITWVHdFB3WjBoNWFBMnBJQVFpQkhBV2czbERMNzRLdDVhNjdENHZaelgweWZWSmpKdEZCT0NVWERPMkMyNy80Yzd4NTRKUEpVOUFNVXJuSkdMZjVGNk9DR1VUQXBOSFlHQ2IyNFhiLzUzaGJxOGo5dExLemNMNDJqaTFWbGt4S1NBRXFpQlF0NWorV0tsd1VuODUxM3pHZy84Zlh0U3FKMlpWdVVrcVN3Z1lFWURwYno2RUhJUmxKK0ZTaFJYYjk4R28wSktJYndtdGU3QmdROGxUUXdDSHVkMDJWZzYzdnpCNkdwYlJnYkdjSmJIblpRUnRVVTdKaEVBNUJLeTBoTnRmYkhSdmVqaXBDaVBzYjVacklaVWlCTWFHUURzbWVhSUt1UDIvRVNYVlRYdCthd241bkNnc0tMT1JsVk9Pc2dtQk1TSUFBOStzZlV1Nkt0dUcwZkZ5WThOY3pwYmFOQ2l4eVZJNklUQVJCTEFSeTlJcGM3ZC8xSVN1WWJQaVdWYy9QaWErTmlaeVMxUUpJVkFVQVpnNEZwTWNWcEZRVXBkdmdrZ0sycTc3Ri9FMVdZOUxVNEFRbUFVRWpxejdlWlhWL3MxMHh3MS82WnBiK3pIMmZjNnRCRWtUQW1OR3dOU3hoMVdxcS8xWmVrMm8vYXRoYXpETUxKcjRzb0ZENlZOQkFDUTM3L1FLbE5YK2ZBSnNtR2plcm50ZmJxMHFvWnFpaE1DRUVFQ1hiTm5SQmJlL0dCVEFaeWxtQUVTellQdkVibEdSbHZjWEEraU5QQm5LSndRbWlBQjJ1VnNNY3VSY2p4cUM1V3JKQlF2bjcxbmZHMnZyN2NNTWF4SEtJQVRHaVVEUE9vSmRsWXNVTUdpTm5VQlJZL3JyekhndVlsWmJzZVpaZkUreXhDaVBFSmdVQXJ1UzVJa3EwVmR2UkVsNEUrN3F1VXRzWDNFTTZYbldHTXdwODc0YWF3bktJQVRHaWtCVGtqeFJUMTlPZGVFVGtaZ2FPMzh2c0cyUlRLaFJvaGhNSjk0aUpaT0NoTURFRWNENU8wbXpSclNoTGwxQ2VCTVNBNFNkNndHK0c2NExtRkdaYXhIUkd2cExDUGhIQUFjdzJINTNTL2xwaTFaeWdGQ0RJMmduNVEzS2JSNzBiT2NLa1FBaE1Da0U0TjZ4bWVQSzBRem90VzlxTFRxRCthdUIxV3pTUk5VSXZpTFgxRGlGQ1lHcElyQmwzNEVyejdqaSsxNzJ0V1oyMW9JQVJXOXBpZmtSdkRHMzg2VklnaENZRUFLd1lLNmJxOEpNci9CU1lqL1lNNXBRamE5MVhwWHJvYlhNakFnOG4ySUhRWVlVWlJFQ0UwS2didTNDUVgvUlU2T2YxdzlwdU1MZkJ0aE42NDZ0eEh0RXEzNGNNU1B4TVNMQTBvdDVSRzF5dUl0UHhKNUlEZjhlOFY5Q3N1NFIxa1MxQ0ZaWVdMYldhR0lVSVFRbWdnQmZ1Yk5wcVVsdWIyOGxmNWUwc1kweVdBa2hyQ09MaGxReVh6cG5xeTRsVEFtRXdKZ1JnTi9UMmgzWHhYcCs5Tm5QYSsyNEVQcEtrWnlZRE5DRWpKR211N2ZJcUljU0NRRVBDTUIrMXdlMWlzNWRZZnZqYlBLYlNqcGNudUZJQUY4TzUzRnNONmxLMDBzUlFtQ2lDTUI3WTNQN3c2OGYyVGJ0NUZLRjVnRnZKQ3daeTFKcCt5MzByWTRtZXhuS0lRVEdoTUJSaGdGekxqSjVzTmovMVZyMWw2T0ZPeGxmRGsxZWlRemN4d3RLYVFvU0FsNFIySlhlelpUZVM1RmROSWhPT293RmVwSEozMHArRldJSmF3QmZHMmVEeWFxTU1naUJhZ2pVczN6M3JYQ3FkNm1SNlB5RDFxMVJwVjNyYWpscm83QkJtQnovVm5Rb1k4SUlOS3l6WG1qSVUrRzAxcnVURnY3VjR5ZEdGejRkcmw1TXpCVllQVTBUdm5XcWJ1RVI0TXVkTjZ3b0xEWHVEb012c09PaEx0RkRJWEVkNmxtNU1UaExuVitaWEtVa1FBaG9DTHp2TzB4WFpMTW9rdW0xYkVwbUVMeVRzU1k3MmRiU2dxQXV1SSsvRzRtOHZDaWZaaHZtQ1ZFK0lWQUZBWDR3ZytHNm5kTEp0N0NuRXBXRVAzbmw4YXVHU3B3SEw4WFd5MWFXNVpRb0phS284RUNFNlM4aE1BNEVsbDc0MElqOXh6ZkNLNHFsNlk5WnI1ak1SUnV5RlUvMWx2bTFyaWJOZXhVRm11UXFJQUNQdnJKVTRTLy9PMFRYVXVyZ2g3Uk8rcWFFbzRUNlRaRlRZc2tudDV6V1JYbjZTd2lNQ3dGK05rbE1WRlRTTi9GdXkzM2k5cUw4WEpSWThzazNDS2MvUXVQQ2dQUXVMQUx3c0d1RFRBdzY5MUpnNEJQaE9ndjF1Rno5aHZWeXJrcysrUVpoNXpLcFpsTUNJWkNEQURwMmZWVGIxejRHbzlJZ1kyeko1K2dUMlYzNVNZSGZ5TFYwZ0JkT3ZqOUNKLzBsQkR3ajBFa2U0YkJxY0xtMG5VMlJpOHA1dVBpZ1dOZkwyZTZtbHpveHlDWko2WVJBZVFUQWJQMWtxak1HSjMzTE5CN09yTE9uR2t2dUl3ZStRWmhXUFdRaVRKaytFR2dtTFpQTHlUT2FVVXZETkI3T3FyM1dYRk95Rys1K0l3eEo2S0EzQlVJS2pnVUJ2cTFRZDdGY05hdzJnTkNlVS9WZjBjNkZ3SlN3VTJrSXd5R2xtRSt1cFVtZUVDaUVBRi9PY0UyVHZLU1BoSGtlWC9KelN4UEtqaXovQmt5WFF5SHo1SmRSL1BlZkVORmlmL2x2Qlc4V0V5VXBRcUFzQXB4bUIxcmhTK2xlbDYvQTBZVzBFc2tJSEozODJoK2xiNFVSMThFRDF4Ry9RTWtLS0U0SStFR0F1LzExbWwxTjI5ejhFN0ZSdkw2cjdQNUhielNPbzg3N0tYYmZqVWNmZWFpeFYxd0JKQjJyZE5KTndvUkFoTUFXbUsyRGNUbTl2R0VLWFRGZmpiZXRONHhpaElCdkJJNVNIcFlMOTFKMThBV2ZrU21UeWh0VGd1dHdZMHpOSUxYempjQnV5aWQvSVQxRmhVVTdpVS9FMkVIaEhxbWJZNitGS2xod0JEQ2hKUllYMUlZaEZtZEVYQ0tESlp2cDhiRE1Ia3NJOUw4MkZzV2tsQkFRQ0todS96T2poVGtYMGt2Tk1ENTJkdHlMR3NyK0JmM1h5NWFsY29SQUlRVDRDSE05a2x4TjgxN2twQVlJaFpSWEVtcTZ1a29yMVVhRkZ4SUJQcWk5RmQxNTU3b05ncTNrc2ppYm9HUDYyei9ZUEg3Tm9ia1FyTExiNWh4S0pRUThJUUNyUGw3dEw3ZG5KWlgzU216MlN1b3d4TDhBbXdycklZYUdySENqdlBWclpDeEFpWVNBS3dLcm9IOVVwbWFmMllKM2RBekxMeSt6Tzc4VUJIL2NURHRhZVl1NnlaL0tjTDAxa2ljRThoQUFzY1VrcjJtcFcxUzhrL0tPNXVrdGtGOXJuWVIyejFYemVvcTJkRWtWVUVZaWhFQUpCSFlsc1h0MjU4NU9jazlBaVpwU1JjNkxNeEYzakVaTzMzMS9aYW9LU2lBRU1oRm94WDFzcldtM2IwRC85RnhZcHQ0Q21WMnhLT2k4dnQwbUtrcjBMNEFoaVNnSS9PclhiZGZmS1ZKYUVLYi95TCt5MU0vWXpENE9LcTZJVFdhWEc4YmZ5eDdMSzZmZE8wWG1Db0ZhQTJTMlhBZm1PK1Z1L3g5NDczdmYrNFlYb3F6UkJnbkxnZjdwcVdDenhzS3A1MFY5OVhqMG9aVWwrbXR3VUNRUEFjdVJoZUVMY2MxY21Mdjk0K3U2V1FhcHUyT2cveURhRDRaV3A1ZVlvazdRMzJnVVdSdEpHUXVPd0lkaUppY0RGdDg2LzhsZGVkMjB3cmViM0E5c2xTeWUwWTZXOU9BTk5JNHJPa1QvNG1DU1pDa0VWa0YrWHJEMjZUL0wydERTSGdQOW05RmlDK3hyTVg1MlFIL3poRUNwRzZWQ2hFQWFnU081bXFHZHNiVjJIUFNQWjdYZTgzMmI2WVlGL0p3cm9yOEpHRXJ6aGdDc0dzR3hMYnZibjgvQWpsYURlcXM0Q09SOG0xa3A2Ry8zeEpxTFVDb2g0SVJBUzQ1cFZ6UElCdnFIdjlEcnBEdEh1TUhZeTR6ZGZsU082SjhESUdWWFJnQ20vKzFJeWFwNkxGdENjZDFPLzFXb2NMaWs0aFpLM2YyQWpDZERBNHRIS0NsSGNVS2dKQUxxYXY4dHU5dWZIN1p2Ni8xTDA3OGZ2alIzMzI5ck90SGZoZ3lsZTBKQVhlMS9aUFMvakNwQ1QrMmQvbytIOUdmc3RaWjdBZjJOczhFV2NVb21CRndSVUZmNzkyL2FTOWZIUVA5NGt1N0FYQy8xL21aY0tOVWJBdHh5RWNycVF4RksvODJnZjFxNGFNcFhVRG0vaE9zcFVXNUF0bjhDRVlwNlJ1Qkk4VDYrT1VOM2R3eU96eUQ0Yk1oK3VkdE1id0RvbitHTDBtVXBSZ2lVUUdEWDJ2ZnF5c1pELytETnpmQUZNQTg2OEdvUy9mWEhRREcvQ05TbDJ6OVRjWHNzdlQvV1dueTFnUmZBdkpnVTlMZVlSWmxOcGN5RlJXRFp0dHovNjViMS91Q2VjUHRuZ2diNm16bWFXYXBJNWtyZDFza1QvWXZnUnpJeEFzN3IvZm01NWV0eDhZekE3dGpvSCtEMFhMTi9zME1yUGpPZUNHV2xFSWhkaVdCMThycVdra1lDUDdqNWxpa2ptYmJyZmQvdDhxR29vMnZlN1JLQS9zYUYwS0ljL1NVRWRBUmMxL3Z6WDdRZTZpck1NZS8wdjhTT0JmOEhsdDUvaCtodmZoaVU2Z21CVmRDL2tLcSs3OTRmQ3Rlam1sY3RJMXpRUDJNVlVxRm1reEFoa0lIQVFISDdaNGdGQWRqcTFSRGhoL2Zmam1wY3RZeXF2Yjl5bVhkSW1ZdUhBQmhXekxlSW50Z3IvUytCL3RjanZIdHN6WWo4N3ZpRzI4YjZLSEhSRUtnWFpWaW42SHRTRUVIMTkvUTY3TUJZcWwyMGNjYlNsRWdJNUNHQVBsaVlJTm1pQTV0elBydVlOUmUvRmlPT1ZneGE0clNyaEhUWHZzd3VJVWxSUXFBRUF0eFJLa3lRN09JOXo4dlBMck9UZzZqR2k3WUJiajNyNEtIczVsSXVJWkNQQVAvRnJyMThNVWlzMnVhbUNwVk9DeTNMSDhycjJYN0JxMVgwMDVSV1R5bUVRQzRDdFQ3by95TzVZbHdBOU0vWUNGOUloUzVVZjNVVVgyN1kxclUxaTM2YWRNMFVJd1R5RWZqVTczME0zU3V1Zi9peHgvNzFacDQ4ZnR2TDcwL2J2U1U2ZDZ2V3RrNDdOK1RVUUY3ektKOFFjRU5neFAzd0JjZzYzeXBTeW5lRnVlblBrYTdWNy80RlJON1daVDlqazBTVmU3WThTaWNFS2lIUVp2ZmRmK1BSUngrNWNWK0RuZXpucWNyNVhkL2FsMzdyZlM5czNNelRvdVpmYkxIakcramd2MU5OVk1QOEp5ZHZxUWtVSmdTbWhBRDMwMmRZU0Yxa3UvYlZTMy8rRUh2Z1JSdldHK0tyVVErc3VaUkJDRXdPQWI0MDlOQmVIWHB4WE50MmdSSTVPUHJUL2x0akpmUlJFVUtnTEFKOGtjTFFYdmhyNytWclRmZnRBaVZ5ZUpVWmIxd0pqVlNFRUNpSEFKOGcyODRzMnZEc0dncjRFVVIrWDZqTTlsTW1JV0JGZ0svUXZHWE41Um1lNThXQ0lHZTBuZGtZeWlRRXZDSUErbC9MVW9qM3cvTlBzZkN0T0ZrMVVoNGhNREVFTUUxd1Bhc3lXT3FlVDBESFRGdThLaTZyWnNvakJNYU9BRnlidDdNcWdhbVNtWjlWMXB5MzZubVZuYmtXU2lVRUNpRFF6MWwraWI0NjB6Z3FVRVZDcE9mZG5FcFVRRkZDb0NnQ1J6bkd6WmIzT2FvT2JmVXQrbkJJYnR3SW9DL08zSGNPc2g3NmJRTytON1l6MWYxV1JOb0lnVHdFVm5OMk83YTl1Mm02M2tjVGVmZEkrWVNBQlFIWTlzYmZuaGJpVGN0aFBTTGYvVzhyeDlma3JwRktFQUlsRVlCbko4c05pZVdabnQzK21FZXpiUU1yZVF0VWpCQW9pd0JmODVaUkZ1dlRQTHY5K1hybjdZd2FLWXNRbUJ3Q2ZORlB4dGdXQzZJOXUvMXpLcHpjblZOTmhFQ1EweGxqYUxEdUY2V2N6NDNmeWtnYklaQ05RRFBURk4vS1d4R1hyZHlRbXpQWU1KU2dKRUpnYkFpME0vdjNUdVoyZ0RLTk91djVZSzB5YmFBeWhFQ0VBQWllWWQzajVmQ01GTDRuWGs4VjlkdzhVcmRZQ0lDT0diNmRKbmVMdnVNRko5Kzk2UXNWdkc0WnZ6THZxeGJTUXdnVVFnQ0RXM3R2aklIeHZlQ1Q3TGpoNzdjWWQybldxOUJ6SWFHSklBRFhwdTA0dGlDQTIvLzVTK3hsbTB0OTlsSlByY0drNzAxUHFrZ05JVkFWQVREY2Zzd2gzbzF2ZHZtMDd3bzczcTlhMDZnOG8zTWUvQUJKV253Z3dCMy9Wc01lbHRHRHgwTmVUZDJULzUrZjhtT3R6c2Y5a0E1Q3dBV0Jac1lpaEMyUTllRlEyWkdudFQvWVBHbi8yTGcwbTJRSkFSOEl0RE9PY1lPYkpqSjZ6bm82N3dTelhzVitkc25IclpFT1FpQVBBVkI4elNhRFZ5UHlpc0lNMnJCSnVhU3YwaThidWNCRnN1TkdBSVMwT3Y2Yk1lbHhQTWsxSHkwNXlualpmT2duSFlTQUV3SWd0bTFKUDRiRllpOE1mRUJyVG1vdHdsbW1scVVJSlJNQzQwTUFnMUhiaGhmdTlvOHFoczB1ZHVoK2tjbnIvdGRzdUxWTWZrL2N5cEUwSVRBV0JMam4wNkpZV2UyUGI0UjRFMkMvcU5mckxZV055ZnhRUmZKN0dxR2h4T2tnMExLdTZsUlcreU1ZbndqeDVGOWpwdmdUVCtCNjhxdk5ETGVwNFhhdzJ2K09JWm1TQ0lGcEliQmpYWWF3SlZmN3I2cExnL0RCdUIyMUZueDJjV1RpeDVUaXQyaGE5MHYxRWdJS0FpRDVtaEpWZ2gzNVhZQ1FNSDc0RWdnNUI5eVBuVU5LUVdzUWFzU0xZNVdoREVKZ2dnaGdWR3Zwa2R2U1VEOVMzYU00b3YrV2FDQ3NvalVSenYrTEYyb3ZYNG9rQ0lHSklRRC9qbkJ2SnVwc3lRVUt1K295Zlpnd1F5RUt4NUg4TEloRTY5KzZVdElxUkJtRXdBUVJhTWhPWHE5VldRc04za3FyWlZYeEZXRU5tMjNhUUZmR1l4ZzArUDBaNFhRVmxFSUl1Q0VBRzJmYlZBSW1mbXdWTWNYY0Q0NlVtUUs0TW91UGZSMEh5cVpHVVJvaDRCZUJua3B0UlRYSUtxYTZ1TC8rSU03YVZSaVBkOFMrV3l3dUVRVXdVS0NkamtsUUtENWRCRENsSldpdU5RVHBhMUVDM2dUbE5LeVdZdTVqR0d3c3JHa1NrUUdOZkFVVTlIZFdFTURZMTJpK282KytGclVSZzEzRmFGZkhBVGk0Wkwzd2piUnA1RnNZS3hLY0ZBSU5IRGFpRndBQUlBQkpSRUZVNmVGUnF3U3poWDhUZzEyNUkxaDErd2Q5OWJPZ2xqYUZhYStMQ1JWS215NENvUERRMEFKd1hpUjNWQk5IZGZ2RDhWUGM5SWVUdExpd29VR1VSQWlNQVlFdGFlV28ycEc4R2NXN3F0R3V1djJ4L0hOYkxaTVpSc0cxVEFIS0pBUW1qd0M2YzlPT0Y5QS9hZ3RmRmJvZnR3dGZCUkhHc09IbElwei90NmU2ai9MRlNZSVFtQVFDWUxkcDNuYzFIdTdDYWxFRXBOdC9xY3VlRVIrSUFnM3R4Z29MQ0pNSUlUQWhCTnJTekZGcWxOdmJZYlc4V0diRWJ2KzMxZGt6OHFNZ0JTd2hweGt5aXc1S0pnUzhJd0F6NTJaYTZabTRzOTZSZzJDSXRkamR4M0I5N0JGMi9BZnBVdllVcksyalNTODdQSlF6TFFUNGFXN3B1akVrR0NYVzlETStNUkNJcnJ1dlM1ZXlwL1NrSTlVdVJEbUV3S1FSZ1BGdm1QaUNVM05rMk9QdFdKZE5rbTcvWDJ1enB4MU0vN2JRSjNWUmlCQ1lBUVQ2c1oyak5xWVorZjB4MWxWWXJyajlhM1VIUjc3NUhWUHJvekFoTUJVRWxBbGVwZjZkMGQ0VWZBVWVWbEpWdHovQ0IwcFdaaERma091WkFwUkpDRXdIQVhnMkRjYi8rZEZxdHFlMHpqOVEzUDRCbkRueG11aThsbTlwNCtjOGFjb25CQ2FIUUZOMTdJdHFseHI4QktCTGpYanBUNWdoM2Y2SU9yankyM1RJZ3dDVy9zNFlBZ1BqeXJXbjJHdUQ1WHBpWWpkMisvTmI2QmZ1MHZHaEtMNHllc2JRb2ViTU9RSzZjMGZjYkszTFRoajdZUkVkL2EwcnEvMng4VXYvTk9paWFneTdCMjZxY1FvVEFqT0RBRno3SmlOKzZYY2JEN3dwMFVoMXRUK25mMEZTZDh5cnFoUEtLVW9JVEFPQnd1eUVIMmhkTm5DbnFPc0g3NWZEaVJDeUFnb1JBaE5BQUxiSlFhRnFzTy94bGhURVZOWlF4akpDc0s0S2ZpWXlsRkFXSVRBZUJOQTdGeHVaNGowWnlpWm9teUJsY2pvMElOc25EUXFsekF3Q0hlWDBrcXhHcllxVlFGd0lud0xEYWdsVDhTYlpQaVpZS0cxR0VJQjFjbENrS1FQMU5la1ZuY25WVGFZaTlaQU1JVEJKQkpyRnJKOCt1eGUzcXRaVWQ0SEZ5WWFBOXRJWThpbUpFSmd1QWdXdGM5WHQvOWJDQjN3MjFmMHkwNzFQcXAwUU1DQ0FkVCtLUzhjZ01FcFNWZ2V0Tk5qeG9WVlF6Y0JPbDZFYXB6QWhNR3NJdEl1TVRyRzUvWHJVOEpVNll4OHRkaE03UlVmSXhkU1JGQ0hnSFFHc1h0N1BVVnI3OUdjWit5bit1MFpQZlByTk1QeC9LRWMreXNaVTJiVmlraVJGQ0V3SkFiaitSY2R1YVFHOFE5cjF2UmE1WlBJNTFWdVV6S1E0SVRBVENBeE1xNTdWbHNHRWw5ZjkzelZVODdMQ2RXMi9USllrNVJFQzAwSUF1M2dQeGxIM0JYYWNaMVdObzFyU1NRZzRJZEF4THZ0MFVtRVM3aHNQa1ROSlVob2hNRDBFNFBzYytxOGR6cUl4YVBYZlR0SzQ2QWlNcFo4K0dzODNaZEdmRmQyL2R3UXVqY0ZLaDlkejZMMmhwSkFRR0FNQ08reWx2clVPaXN5bSthNlU5QkVDSlJDNDZMMzdYMjVRNTEvaVFWQ1JxU0J3bERmMTVkcXFzK3dIWFl1UVBDRXdKUVNXUDNqVGI4MFgvZ0g1L1AwaVN0b0lBVUtBRUNBRUNBRkNnQkFnQkFnQlFvQVFJQVFJQVVLQUVDQUVDQUZDZ0JBZ0JBZ0JRb0FRSUFRSUFVS0FFQ0FFQ0FGQ2dCQWdCQWdCUW9BUUlBUUlBVUtBRUNBRUNBRkNnQkFnQkFnQlFvQVFJQVFJQVVLQUVDQUVDQUZDZ0JBZ0JBZ0JRb0FRSUFRSUFVS0FFQ0FFQ0FGQ2dCQWdCQWdCUW9BUW1BY0UvbFM1NXVGKzdQZXdwTnpwSit4aWxMTkFDT0I0Wm5sdHpQV05iOGticGQraG5Pc25YZnptaVA3RnNTTEp1VU9BNkQ5M2o1UnVxRGdDUlAvaVdKSGszQ0ZBOUorN1IwbzNWQndCMEgrdHVQUXBsUHpsNW9QRFpMTzdOUFJOUXJLZzhYbW4vOSt3QjV2UEpKOHQwVCtKeUtMRzU1eitsOW4zQjVmWnRjVFRKZm9uQUZuWTZKelR2M3V5R1FTdGJ5VWVMOUUvQWNqQ1J1ZWIvbGZZdzNpeW5lUEU0eVg2SndCWjJPaDgwNy9MRHZGa3Q5aTIvbnlKL2pvZWl4dWJhL3BmR25sNHpySjEvUUVUL1hVOEZqYzIxL1R2alg3RTlUeTdyVDlnb3IrT3grTEc1cHIremRFUGJwOWh6K2tQbU9pdjQ3RzRzWG1tLzJWMk4zeXdaOWczOUFkTTlOZnhXTnpZUE5OL0s2TDkrZVFrTDlGL2NRbXYzL2s4MDc4OU12MkRzK3llZnRORWZ4MlB4WTNOTWYyWEdEc0lIK3dxU3l4N0lQb3ZMdUgxTzU5aitsOWhiRCs4MlMzMnRIN1RSSDhkajhXTnpUSDl0NktSYnpBZzQyZHhDWjU5NTNOTS96NkwxdnIwYWVpYlRZTEZ6WjFqK2pmWnM2UG4yaVhINStJU1BQdk81NWYrOHM2YTdIa2RCTEw5ZFR3V055WkpNbThZWEdEc1puaFBOY2ErcWQ4YzBWL0hZM0ZqODB2L2M0eHRoTTkxSmJXZmsraS91SVRYNzl3My9kOTlvdXV2SEd0K2Ywa1Y2cWxXZTdvT29yK094K0xHUE5QL01ydmpHY3Q2TkhmbHJMYWpIT3EyclpjbSt1dDRMRzdNTS8xM2swdnJLeU43UHVtMEw2cHhsejM5UkhqMVdManBSU2xIOUZmQVdPaWdYL3FMTlpZZUlhMDFveEdzcTg2V2NIZDJHRzEyZEFWdlVlVDkwci9OWHUwZHVNZVRTeFlLMXNDazJ6K3g0aTJnM3I4Z2huTXY1cFgrRnhnL1dNSHp0ZFJnZXhrcS82bGk0a2ZCSHduRlkzOVBRN3dIc1JhaWZ3ekZnZ2U4MHIvTlhxckJXZnZTYjczdmhZMlI5MTNMY0lvTU1ydi9icHIrMyticTRlMi9GbGFETzF3UEEvSS9vci9FWXJGRFB1bC9OVG5HSEZGenJ5TEM4TnZmc3F2NHdvM1U5VkV1alJzYmxick1rZ2M5a1BGamgzUEJjbnpTdnlNR213TERSdGd6YjR0bzJiOGRzWGJOUlFGZW1vMVEvbHhxNUV2MGR3RnlybVU5MGgrRU85Q3grdHA3UDRRWFlGOVBkSStoLzk1d0xuVlJmSXA2eWZXZUFkSGZHYzE1TGVDUi9yM2twaXFPV1NQZDk3cERXVThOWHZOMTRHVWN2WGZ0OUJIV1pQdm40N2NZRXY3b1gydEVXMnMxNEppUGFlREhTM2lVY0dPYllVdlNwai8xL3Rvald1U0lQL3FmRWRhR0NpZjIyNForR0RYTlBZeEdYbk10QmM5UFdPUXFTNjlDb3Q3ZkZjMTVsZmRILzEzVEFQVVNTeDR4VlFySW5SSXJIeUw2YnhrYVFQUXY5UlRtc0pBMytzUFcza3ZqZyszbXQ5T3B6aW40c2d4ZEM3Vkd4azg3T1I2SEhxSy9LNWp6S3UrTi9yRFBEUmhoMGIyejJXSlFBeHZxeFlia3pLUitPUFJkRnZ2ZFZWbWl2NHJHSW9lOTBiK1YzRkVZb3JxVmNvYVdBM3ZIZlFUZEMyZTd6b1VuL0NjcUpmb25BRm5ZcUMvNlk4WjN6d0FpRnQwZkdwS2RrMkQ5YkRzV09oT3VGQTEvM2lWWmt1aWZSR1JSNDc3bzMyUEhtd1lNMjlFQTFKRGxsQVN2NnJOT0JZSmdpZS93dldEcS9NbjJkNFJ5ZnNWOTBiOWw4dnNFUWRQZGFERmp2V095NGMyaUlyVi9KNmkxN3BwZVN1cjlCVWFML3RjVC9XSDdyQnVnaFBQZGc5dWZLOFlZZXR0UVFWYlNKZmFTcHNIdGd5SkUveXpjRmluUEUvMTdZb21CamgwVzNpUitXVUxQTHg2RFh6VnhXa2wrMlQ5c1B2QTVveFRSM3dqTEFpWjZvbi9MUEMrRnMzWnVld0sxYmxwUlZGSTMwYjhrY0hOWHpBLzkwY3V2bWFDQnliSnVTaStSaHUvTHNFUXhZeEdpdnhHV0JVejBRLyt6RnNzY2J2OWJua0RGaCtTNkoxVmsrL3NDOHRUcjhVUC9YY3V5WnJqOWg1NGdndXN6T3JDNXVrTHEvYXRqT0I4YXZOQWZEaDR6TlgyNS9UbldmY3NyVnVJNUVQMUxnRGFYUmJ6UUh3dmIxb3pvTkxtMy9oMHZPUGx1ay9mZFdNS2VDQVBMbHlGRjlMZkR2Rmc1WHVnL3NKaisrQ3JjQ3o3SmpodVpaelVVQkJ4VEM4NnVUNHRxb3I4Rm1JVkw5a0wvdXNVdWdVUG8rVXZzWlp0TC9jUUpLS1ZnYm5oemZSTDlTejJBT1N6a2cvN1FZWjdiaGJmbW0xMmV0Y0tPOXl1RHQydWVXaXVobCtoZkFyUzVMT0tEL2xpT3VXWUVCMjcvQjQrSFBLdnV3ZjhQTCtwTll6WE9pVVIvWjhqbXRJQVArc1AwUHpEQ0E4SkdLeTZQTE44SFl6RkxJditXV0xJY2s0bitqb0ROcmJnUCt1TXdOek0rY1B0SFJzOVp5K2pBWE02Y2lpMWZpZC9uTmN2bHB4TDk4ekZhREFrUDlMZlRzaDJ2ZUlNWnRGRVowTG80dTZTcUpxSi9WUVRucGJ3SCtzTW9zU3pyYk1ha3gvRGdXaHF5elhSU1ZzcVJ6Y2pLS21US0kvcWJVRm5FTkEvMFg3V3R4b0hiLzVrSVU3d2lheWw0di9pTlZGSm1BajRoYVNXWkpTeVpSSDhMTUF1WDdJSCtPN1pPbWJ2OUkwQXhMNXplck5nUUwwZEIxREh4NWZqQ1dCUVQvUzNBTEZ5eUIvckR4REZiTWVqeWIwZUF3dmdSYjBJTThRWFgvWXY0bW1BTmhZZUw2TzhCeExsUVVaMysySWRsK1RWSFpiVS9ncW1PZStEc0RjTFk5OUFINmtSL0h5ak9nNDdxOURkMTdDTmt0dVFpTll3UFVtdENyVjhOSzY0d3MyNWFNeDB5aVA0T1lNMjFhSFg2ZytSclpvZzZjclUvaEpMR0QwN3RkKzNMOFJKWnFqSTN3SlpLOUxjaHMyanAxZW1QTHZtV0diVzJIQlFjcFoyakE5Qi93MXpRbG9vQmRNcUVzc2xtcFJQOXM5QlpwTHpxOUc5Wk8vR1dQUFp6TjcxZ29ZVTB5M3RqZXdEMllZYXRoRG1kNkcvR1pmRlNLOU1mYzc3Slg0MFdLQ3FMRk9yU0NSVGxYcjBMVTJaUGlCYjgyNURmazRJbGpHSkVmeU1zQzVoWW1mNHc0UzByY2RCWHg2WUtESjExSGQzZXM0cGpTTSt5eDlxV2ZUWDJFc1ljb3I4UmxnVk1yRXgvazB0emhDTm1xY1JVRno0UnlVV2hyVnZXTFpMMng5Qkp2VVYyMll3Y29uOEdPQXVWVlpuK3ZaUlpJL0JUdGdIZ1RVaDRlUzZkQlBodXVDNWdocjNrV2tTMFJ2MUw5RmZSV09Sd1pmcjNqWXZaT0tUNExseUxvRDJmR2lCc1BSZVUrT0VqNkVsTkg1UjRla1QvRXFETlpaSEs5RzlaelhIbGFBYjAyb2tCUXYwbS85MzFlR3hRRUZ0OFJTd3p6QVVWak1TSS9rNXd6YkZ3VmZwakhZN3RkNnZCK1dHRVhFY09BMFlwRitFdFF0Rjdqc2lpdFphZE5VNktpUDVPY00yeGNGWDZ3NEl4L2FZWFIyeExlaW03U1IvbjQ3emZsK3VoQ3dQY2NKNHFNNmttK3B0UVdjUzBxdlRIK05iV2hZUCtFYUxwVDBSM0Qxa3Q5d1djZUk4OHJQb2graThpMVUzM1hKWCtxK25GUEtLYTFYZytESjhJZlduL1N2aExTT0N5a0MzNmQ4ZTJ0YWFvZ2xDTzZPOEUxeHdMVjZYL3dPNktsTnZiNGJEUmY1ZjBiT2kvMlpYV1VWR0U4VVh4NFBraytoZkZlOTdscXRLL2IrK096OFM5UC9yc29RWmtPL1NJSXZsUVM4NlAyQ2ZaOHN0S0NhSy94R0t4UTFYcDMwb09haVdjbU5ZYVJYQTJ1ZTcyWEI0NWkvRGwySkRpaFVLWUtkWlZGU3FWRkNMNkp4RloxSGhWK2pPcjI1Lzc5VGREV0xIcGNWM0Q5eHcvK0RCMERkM1Mwdk1qY1B6YkhFMzVoV01Kb244TXhZSUhLdElmeTlyc0Jrd3pNbm1PV09MblJYZlhROVJYN1Y4TzIxTkJjeTBiaTIwbFRPbEVmeE1xaTVoV2tmNTh5NVlWdHAzUmdtWlU4YkFtc3hTOU1SZ1JyMnNaQlNLb2I2T0FXTFlJMFQ4Ym44WEpyVWgvdVAzdGh5K2NINjM0ZkNyWitaK1BaZ3BneU45MlJicnB3L0ZQOUhlRmZWN2xLOUlmNjNwc3MxNUJzTlRncjhhbFJuSlRWLy9GVDRUWE8wcDRNYnQyVDFQeFIwVDBMNDdWZkV0V3BIOHZjOW5hVSt5MXdYS2R2VnlIa0MvK0Y5ZHplbForRE03UzZvNS9vbjgrMElzaFVaSCtuZVJhTmcyMVdwZWRNUGJEV2xvUXdHQ0tMOWNsbjhIQVBzdWNxQ1lqU3ZUUEFHZWhzaXJTZnpmYmZGLzYzY1lEYjByaXVYTTlTaW14NURPQXQyamtOVTFxZFlrVC9WM1FtbWZaaXZSdnVadmlOZWtwTGZGclhaajJyVDd2UmZTZlowcTczRnRGK3NPSzJYT3BEckpuSkgxTExQbk1kRFVWYlFuUnZ5aFM4eTVYamY1OEpiUHJ4RzFIMkQ1QjBNMllOTEFBbnpuUllDbVRTaWI2cHlCWjBJUnE5T2VUdmh0dXlOVWF3N2hBMzMwS0YydW5xMC83RXYzalI3RGdnV3IwNTJROGRFUHdpclI5Z281emFmeEVhbkwxcUZ2MW9UVFJ2d1JvYzFta0d2MnhtTTIrNXNHTVYyZE5wZy9zNitXa2tCNHluQmlrQ3hTSkVmMkxvTFFJTXRYb2oxVTd0aE1PTGVBdHFjYlNxdnZJQVJ1RXEyOTNKUHBibnM3Q0pWZWpQOVk4MkpmOEdMRjhpL3E2b1BpZVVTb2pzVmxpblZ4U0hkRS9pY2lpeHF2Ukg5MjN2b2szRDhhVmhycGNIMDU4NlFiS0t4cmwxejJjOFUvMEx3ajIzSXRWbzM4dmE4V2JBYnYvM0dMc0YwUjY3VE9nOHIxUGJJcDRzYjl0RDR0K2lQN0ZzSjUvcVdyMEg3Z3RRZWd6ZmtYbjN2STVBMzZwMWxBQnZLSERlWjFjVWkzUlA0bklvc2FyMGIrVHVlQXpoV24vK0JXUFBDUU9mVmhxSE4vL2lrZHYzT2RtUFhGbnFmTTZ1V1JEaVA1SlJCWTFYbzMrUHJwaVIrU1BQSnh5Uy9SM0JIMXV4YXZSZnpjMlpTWUdVTTl4dUdGcUdOSGZoTW9pcGxXamZ6ZDd2Zk00QU4zeXNPU1Q2RCtPSjNNYWRWYWpmOHVERjlJUnRWVVBaNXdUL1IxQm4xdnhhdlJ2bG5EY1Y0UVM5SGVjYVV0WFNQUlBZN0tZS2RYb3p6eE13VHJpanFreVIxZHB1Z0tpZnhxVDA1UlMrODFYSHYvRSt6TmIvT1JmL3RiN1h0akVjc3lMUDkrNC83dXN5eklyMForNzdxOWx0cUpjWnUwM1g4QWVzTndlbGhtNXJySkxOWUxvbjRMa05DV3MxTm54UTR6OWFOam1DOXg5RHY5NXVQSzRmOThOSG40KzNFb0NvaHdHNzJyZ0R6czVzTnhmSmZyejVaZDdGc1VWa25FNEJMdkIySThiVmZDTjhvNFR4U2s5UlA4VUpLY29ZYW5PN3UwSGIyK3dIK09ONW91T3c0djM4UDFSVU5ML0lydjc3Ly8wYXcxMnZNRmwwMWNsK3ZQRjl6ZlRPcXVtN0xMdjNBeVdmdDI4and4blk5bCtUYWx3dlVUL3dsRE5vT0FPZTRiM2YrRDlCdjVjZk1PSFE4N2YyVWZrYjhMZ0F4OFBnbi8yV0JQaHcvWXovSzNBdGhUTFQ4SlZvdjlGMUhBTDZ2MWVieDI5MWtILzJ5YTkvRzBmbWpJYzBvaitEbURObWloT09SNXhyaTJtLzk4SlNrU255SFpoNlB5SFVZdVhtb3g5T1ZwZS8wWEdYbTI4ajByMDU1dTlEb3hxcXlTMm9sdTVaRFJ5Y1BmUlBaV3ZnK2hmSHJ1cGwyeUxSY1lZQmZJZUh4ZHNubStOUWoxMnZEMEtoYW1OSHh4RndQS1RUWkd1L3ExTS8yMVZtNC93RmJFb0tHZ2RHUFFSL1EyZ25QS2tYLzI2N2ZxNzFKM0I0cmcrU2dSMTEwY2hXQVRSRnRxZWNwcHlCeDNsWVZRZTRVZzJTb2orVktLL0R5cnF6VUhzU0h4UTNtUDBLdkV2em5hcWtGc0M5ZjV1ZUkxWkdqOS9ZcjBPa25YMzVNZS9MdnI4b0M0U2Q1U2o5QWZ4TnlFSU1HSTBua1ZibWY3RFpQdXF4bHVSelFNWHo3cEJGOUhmQU1ycFR1SWVGTnQxTFhsckxmbjdKcDA0K0xoWWU5WlVqdElmS0Y1NTdxTWNKbFVoWG9uKy9OQWRrMUpEUFlXVGxzVTlIWm1kcWo3R0c5VDdGMzRjRXhIOGtJMzg3R1NZYUFCc245Z2pzaG9iTjJCeHVJdndpaGdOOEZLZy8wRmN1bTN1VEN2VFgxaFhjVVVWQXhlRWoyclhiT1J3YjVPOHEzS1ZFZjNMNFRZRHBURGVmVTQwQS9iQnpTaThNd3J1d09NZlh4cjlFVkh6aEZBbCtuTW5wRy82bnhOTGV1U25UYlExL092RDJVcjAxeUE5VFJIWUJHdWl2VEErMXFNd2JIdjRmcGExamxHalA5YkttSmFLelJ6OThVWGJEKy9wOG4ydkYvZXAvdVdHNGkwMW9VU1k2RjhDdE5rbzBsWU1ldlNFdDBXcm1yd2pmbHc1UWkxaC9IQTdmVk1JeTcrVjZNOW5ZQStsTGk4aDBIODlTNUdQbVdhaWZ4YkNNNTNYa0FZUFAvRXZOb1I2M0IvYTBwZ3pVSzFrYmpSc3BPK3NNdjMzMHpvcnBlRHNuK1BQWldnZyttZUFNL2RaMmlGLzRHNXN6OE1qOHN5Rlk0Mk1HdjB0eTlQUzlQK01lUXJpL3pOOE92anlNNjFHQ1Q4NmNaZExGdVFyT3RscmhqSWhFVUtES3krem85NC9BZXFwaVhLLzM0Wm9MUlljeTFNUHVvelY0NWNobEJpb3ZUOC9IZkM2S0NqL3B1aVBNWUw1MG5XSEdzWkJmejZWaHVzMWg3S05Xb2pvcjhHeFlCSE9qZ2UvSTdwZXFNeHJCWnkzQnhvYUF5MmhxUXdVcEZpSy90WnVPM2EzeXNLOHAvYmQrNHNwd0x0RFdZOGE0dlMvcGlhVUNGUHZYd0swbVNqQ1I3RHFGYTNwUWR1NGRhTTNjYURSdjFXTS9wZWJxbm9aUHY0cFhUbVBqYVAzeDZLSDBXVjQzWGlkMVB0ekZCYjF5bkMyZEpKRzhVQ2pmMTFNREd2UXBYcC9MVGNua2tIL25KSVoyU3VOaVArM2pFSkVmeU1zQzVLWVFYK1lJdEd5endpTHNkTS9vekVWSHNmVmlQK0d3UWEwY3ZyZnJLQ2RGeVhqcHlLQVV5dk9qWjlEYyswN3lTeWQvcTFpeG85WnR6bDFQUFFQTHY0YzdpUmF4WkdxbUJ5ZktVZ1dLSUVQZllmRysxMW1XRG4wWWpWcm9Cay9UZi8wSDhlaWgvQUdmdTA5dUUzemZYTDZtODBpOWRhenc5VDdaK016NmR4bHM2OGRxY24xL256MmF0dll2TWZ2d0M3UXRqUU9OUHFqNFBWMHdVcTJ2NCtOaCtrbWhTbGZSbk9OTmc3UjM0TFk2VTBXemo0ODh0UjFvTitXTnUybFpkVWY1cHUrVlBHQkd1VUZEWHlxUkg5dWlRMjFSdmlMNEY2dW1iVHg5Ly9BbE9HUVJyMi9BMWpqRitVOW11MUtjcUNaOU85RXpic01Eenc4TWVwNGNhQVNaUnlMSGpqOU4vekM4MStFT293cjFrVlkvV3YvL0tsUzJXR2lmelkrazg1MVdPKy9hN1JoZ3FDRCtWOThSWTQzWmRzMStuTkRSV2JGb2NxOS8wYXN5a2RnaDRtSkREUXMrZWFIRmRCdUx4ODRuMW9kUGUzSGZaWS9HdDNJVW1nUmdQRHI4czQwK21NcG1lbUhKQ3JSMy90ZVh5aU1WMlZiUnJqYXFnOTVyMDRoNnYyZDRKb2xZUmdGaW5mL3ZEQjJ6b1hjQm4yVUpjK2cvNjI0NlVmR1dhOXFteDA1L2Jmakdqd0VlbEFvMUZpR0ZUNWVPYUsvQVBuVS9jVVFWdmx4eE1IdDZBYTZhMkdncmhyakEzV3dpNXliaHB1dDFQdjdNRVMwTnUzSW0xdXluR1RyWTdoTjlOZFFQMVdSdHRvdDF2ZEdiYjhhZVdEaUxlODhHZlJmSDJXUEprczNSVVQ1VzRuK2ZCZ3F2eStLMXJKQjNKdFk2bk14RHVuS2ZEaGJpZjQ2cHFjcGhwV2Q2Nks5eTJMQjVVN2s4QWViNWJjQjlJL1hRMk5GUkJ3V3BmbmZTdlJIWWVNblJhM0FLZHlWOTNaZW44S0wxZkNaNXYwNFZpNUE5QytIMnl5VVdtcXdlNklkajBlaHkzRlhpZjV6VCtTQy9yRWpDRzUwWXo5ZGlmNThMaUd1VGRSYTVlOXVkR28xZEhRc0xsVyt6TTcwR1hPcGx1anZndGFNeVdJUXV4RTFLZHJjdU55SzZRL0t4eThId21MM0k4eVVjR3ljdXBWSzlPZGJhSzZsVkZaSUdFUy8rY3VYYnl0amVGVWozMk9neHN1RWlmNWxVSnVSTXN0eDkvK1cwYm1kS3kyWVBGR1BXQWM3UGg0MWRNRFluMGRHVWNmUytWY3pmaXc3eU1yamRDWStvKzZMTnFzS3RwODA3MHJXUlBRdkNkeE1GSHNyWTkvREczSTFQTS96d2tmQWVNWitnS2ZVUnZObkR6NTJ3R09nLzBIOXgzZ0k0MFdqNVYvUjlnK2F5cWtydko2cVY2MzU0eU1WLzF4K3d4STZNWDhSVHcwa3NncEhpZjZGb1pwRndYY3o5dE4vOStTYlIvYkJLaWQvdE5pTkcrUGh0YzZiUFFEOUw3RHZEWUpQTmRqVEZudTVtdkdEejg1dHJ3RDlDdnZwUTd6RnY4enU0by94d3UyYXpUaWp0RG1SNkcvRzViU2svbG5JOFRzaFJWYng0MGFQM0xndnRIS1cySDM0cGFNYkR6WFcrWjF3K3VNSEw0NmJqTDFrMzNKcjFlamZ6YVIvN1V2NGViSEdUVXZONXVSZlpPeitoL0F5YjVpemcyQkxHZHpZWlBMU2lmNTVDTTE0L3FjKzBuamczMnptTkRLa2YvRFZWeDQvK0NhclpEWDZ0N1VWR01sSzhITGcya3NtWjhjLzllSEc4VSs4emk0emtGTURkcUdjSEtKL0RrQnprUTJtSE9UZFNEWDY5NVZ6dHRJMU5UajcvYTZLNEE1UjJ6QW0zUUJiQ3RIZmhzdzhwWStmL2p2NkN1c0VlRjk3THgrSjI4eXVoSERSS0twOHJxaXNUWTdvYjBObW50TEhULzhqYmYyZEFUdXN3RGFrVmtuYU5TL2RjMUpKOUhlQzY1UUtqNS8rdmJ4eGFHTDdwUWNndTVtajdXSVZFUDJMNFhTNnBjWlAvOVVjZXNNUks1YXcrWUt5VHZUM0JlV2M2eGsvL2JFQ0lYTUtGaXVpS3h2cWlZZlVsS3ZpRWpuRm85VDdGOGZxOUVxT24vNTgrV1VXUHNpL25aVmZJZzgxN3BVb3BoVWgrbXR3ekdsay9QVG5XNit5Wmgrd1FPZWFYM0Q1dlBaQlZaVkUvNm9Jbm9ieW9QK3R2SFpXOC92ekl5b09NNnJZOHNCVlhUM2ZZYk9oSjduSGlQN3VtSjIrRW5CTDNzeHJkVFg2ODc1NEk2T0tUdmJia1ZIU2xzVy9OL3UyektMcFJQK2lTSjFtdVowQ1puSTErdk1WejFrZm1IYjIwS0FFdUhtampVSXFpZjZGWURybFFxMENNMFFWNmQvTWZzT2ErcW1MSHZETTh6VVZxb0xvWHdpbTB5ejBMeDREK3huN2J4N0w2cDJycnZmSFVlRnMzWTRTZm56SnQ5dC9WVHZLeFY1MVpnN1JQeE9lZWNnRU1VZlg3Y3k3cWRqNzl6TTlteGluK25iN2IrVXRzOGk4MnlpVDZGOEVwVk10MHoyKy84YWoyQWVRNDNpdlNQK2pUSUpqazFuMnkrZU9jSGFGQmZVUi9Rc0NOZmRpRmVtZjNSbXJaN0o0UWpMN2MxT3dFcUovUWFEbVhxd2kvVUZ3eTRrTUhEbThITmtqRDNkNHU1bURqWUw2aVA0RmdacDdzWXIwaDNtVHNmRzhveDVJNXdmS1JvRzVqTnlhaVA2NUVDMklRRVg2ODBsWU8xTHRyRXg3c1l3YytKSThiQjhqK21kQXZGQlpGZW5QNlhob0JhekpQdzN2ZU1ISmQyOWFSUnd6K090V1hSblIzeEgydVJXdlNQK2dtZEViNDkyNEYzeVNIZU9ZRlYvNDRYem56QlhXeGVvaCtoZkRhZjZscXRLL25XR0xvNnQrL2hKNzJlWlNuNzNVRTVLWTlQWHdLaEg5UFQyT1U2K21LdjB4dXIxdUF3SGo0bTkyK2JUdkNqdmV0d201cGE5Nk9PZUJmdGJhRGZONWxxNUsvNjJNazM3Z0ZYM3dlTWpScTJjdGpYQ0JkNUJSWFhFOTFQc1h4MnErSmF2U0h4UlhmbXRKeHdxdlJuZ0thUkFjK1ZyN3M1UHhzZEVyejRvUi9iUFFXYVM4cXZTSGdXTTljaE9HVVdUMG5QVjEza25YeTBRYTBYK1JLSjUxcjFYcGorR3Q5U1NmZHJ3Z0NOK0lqYXhXRk03RDkyUllXTmdxU1BTM1FyTmdHVlhwenplOEhGb3dhOGFreDAreVhMTUlPU1ZqYzZYMVpYTlFSUFIzQUd1dVJTdlR2Mjdkemd1M3Y3Q0xZQ0t0K1lBeHk5UnkwRS8wZHdCcnJrVXIweCtEMFhVelF0enRIK1ZnaTZMNDJhSXY0bk1ocnZ0ZnMyRXVha3VGRVdYNW1RNWJDV002MGQ4SXl3SW1WcWIvbG5WTlA3cnEyeEdpTUg3RW0zQWt1RC82KzNvbnpIdGUvSjdZbytaN0U1clRYWkR3ekNCUW1mNlloeFhNVHR3VXV1cjFLRW50dFovOGE4emNmdUlKWEU5K3RabXhaQ0toTFl6Mi9Zd2hpUDRtY0JjeHJUTDljWTZoWlJuQ2xuUlNycXF6QXhnVGlLOENqaTJKZjRleUNQcXRlREJkUk5vcVEvUzNRck5nR1pYcER6SmJuREVkNmFURW15QS9FWERmckF1VTBaMXZpSEQrWDlTVnNidzZ2N3lRSVBvTEpCYjliMlg2ODhNZU5vd290dVhhNUtONEJnQ1NXTFY1U3hTQVZiUW13dmwvTVpnV3ZxUjg0UXdKb244R09BdVZWWjMrNk9UM2pKQzE1TnJrWFhYSWl0SENVQlNBNlNRL0N5TFIrbGNaUVZ0bGltUVEvWXVndEFneTFlbVBIOXI5cGhFcFpWQlFsK1orRUt3cUZneXFkM0RDYkRsOUs0eU5DaE9KL25ac0ZpdW5PdjNoM3pRdWVvT0pIL3ZvbVdMdVkvMmIzQjZNUTBJZHhyNTl4V3lxOHBpSS9sWFFtNmV5MWVrUEJrczZLOURBcXlPbXV2UlR5WGNWeHVNZE1iNDdpaDRsMkpTakNTWFZQVWowZDhkc1BrdFVwMzhBeTJiZkFBNE05YlVvbVIvTGZCaUx0QlJ6SDhOZzhZN0UrZFlBMnVwbDVFdlRYbGFJRnkzREEvMHg5ajB3d0FhbnpyVW9HWU5keFRtcWpnTXdjRmczbERVbndjeHlHQ2ViZFlTcDFQdG5nTE5RV1I3b0R3cGZOMkNHNUZ0Uk1nYTdjbXBNZGZzSHNPYmxaOEdnUkV1Q0dsTkZta3loQ05HL0VFd0xJT1NCL2pCdFRKMHl5RHFNQU95b0pvN3E5a2Z0RHFiL2p1TVNDZXZqSS9wYm9WbXdEQS8weDF6c0hRTnFXM0tjMmxXbkJsUzNQNVovYmh1S1dwSmFxZ2xsa1NtVVRQUXZCTk1DQ0htZ2Y3QnJ0R0JBL3dqY2lURk9BQUFnQUVsRVFWUS92bFpoUDhZU1h3VVJ4aXp1eTBVNC95LzhSdzV6QkZuNmlQNVo2Q3hTbmcvNmcraDdhY3hXNDc0YVU3dUt4MGE2L1plNjdKbk5kRUZiQ2pZTnJObnkzTktKL201NHphKzBEL3JESTJPWTk1WGIyMkh1dkZnaUdMdjkzMVpuejhpUGdoU3doWHB5TEcwVEtaaE85QzhJMU55TCthQS9qQnZwMklrUk94UDMvaGl5RHVQa29NWHVQb2JyWTQrdzR6K1FxUVZDR0VFNGZDdXlGQkw5czlCWnBEd2Y5QS9hSm1MQ3d6TUNzcWFmOFltQlFIVGRmWjBMMG03ckl6STFFLzB6NFZtZ1RDLzAzekpOZkVIenFMT0diYlF1RVpWdS8xOXJzNmNkdW5PemlTVVZPNFNJL2c1Z3piV29GL3JEODcrV1Jxa1ptVHdZNnlvc1Y5eit0YnFMMTkvNGpxVnJMWkpDOUMrQzBpTEllS0YvMEZCV3NjV283WXo4UWFqaDRUZ3RDRlMzUDhJSFNsWjJzQzIzRDJRTDV1Y1MvZk14V2d3SlAvVEg0RmJwNENQa3pvOVdzejJsZGY3YWFuK1k4L0dhNkR5NE1iNDJ6UzNuRlRQbUUvMk5zQ3hnb2gvNlkzbmJYZ3E4cFFaZkNIMnBFUy85Q1NXazJ4L1JidXdkU3BWT0pzRDB2NVpNS3hzbitwZEZidDdLK2FFL3REeVhSdVlwOXRwZ3VaNlkySTNkL2x5K3I3bEUweHFVbEo0NmM2eWtsd2tTL2N1Z05vOWwvTkFmcmsvRGxwZGFsNTB3OXNNNmJIWFZoamtxUHBOVk44MHQ2S29MeDRqK2hhR2FjMEZQOUgvY2VOekQwdTgySG5oVEFrQjF0VC8yUGJLYmlYeExGTXVEcmx1eTNKT0ovdTZZeldjSlQvUXZ6RTdVdHk2UnhKRDVRTWF5UW5pL2hsbjVUbmxFZnllNDVsallFLzJEZXNIVm1KZ2l1Q1hoYkJjbU5hYklaTEdxSWFKL1ZRVG5wYnd2K3FOMzNpK0NDWFlBRDZXY3RnbFNKcWREYUtZLzI0ZjIrcVlCWHRBVVgvU0g5Yk5lQk1KVnNSS0lDK05UVUhBRlB6eXJ3eUxxaThsUTcxOE1wL21YOGtWLytINEtNWG1ndW9qZ3pDellwL2ROMDhxbG53N1J2elIwYzFiUUcvM1JQeGV4ZmxRZTE1ckZ5Z1FCV3JudUVYaWl2MGN3VDdVcWIvU0hvaUk5dWVyMmYydmhkUXpuMlBHbVI1aUovaDdCUE5XcXZORS8yQ2xrbnlnYncxWWE3UGl3R0hoZGRhNnNXSkVzS2FKL0ZqcUxsT2VQL2xpVU04eEZUcGtmV0trejl0SGNBcUVBTmdzZkZKTXNKa1gwTDRiVC9FdjVvejkyTWVhZFYxajc5R2NaK3luK3UwWlBmUHJOTVB4L3FDQytBK05KS2dVTEc4U0kvZ1pRRmpMSkkvMGZ6MXVRaisrRGRuMXZVY1NiWGdlK2ZLRnBJUzlWMGVhUjNLbEZ3Q1A5b1dvdkV3ZWNWQ0t2Kzc5cm1DbXNaSjVoSno0SHZrUi9CZHNGRDNxa1B4YXdqYWRUYmJPWCtuMUsxUHY3eGZQMGF2TkpmNHhyTjhhQUJPYUdDenFJaWxaTzlDK0sxTHpMK2FRL2ZKL2U5aU1xdUhlOGF5WDZLL0F1ZE5Bci9mMzMwM2cyT0JsbHcvTWpJdnA3QnZUVXF2TktmM1QvbnExMDREcnczdm1UNStmVTB0VjN3LzNTL3hJNzN2ZmNRalJ3NkZrbDBkODNvS2RXbjEvNkJ4M3YzZjhYL1hmK1JQOVRTMWZmRGZkTS81VzhxUy9uOWplS3JndHkwRXkydndOWWN5M3FtZjdCWDczSU0xdy8rM0hQQ3FHTzZPOGYwOU9wMFRmOVR3VUtSUDlUOFpnbTBFaWkvd1JBcGlwbUZRR2kvNncrR1dyWEJCQWcrazhBWktwaVZoRWcrcy9xazZGMlRRQUJvdjhFUUtZcVpoVUJvditzUGhscTF3UVFJUHBQQUdTcVlsWVJJUHJQNnBPaGRrMEFBYUwvQkVDbUttWVZBYUwvckQ0WmF0Y0VFQ0Q2VHdCa3FtSldFU0Q2eitxVG9YWk5BQUdpL3dSQXBpcG1GUUdpLzZ3K0dXclhCQkFnK2s4QVpLcGlWaEVnK3MvcWs2RjJUUUFCb3Y4RVFLWXFaaFVCb3Yrc1BobHExd1FRQVAzbHRUR0JDcWRYeFphODBURWRSanE5ZTZPYXl5RkE5QytIRzVXYUN3U0kvblB4R09rbXlpRkE5QytIRzVXYUN3U0kvblB4R09rbVNpTHdwOHBWVXNVcEtiYWszT2tuVGttYnFabUVBQ0ZBQ0JBQ2hBQWhRQWdRQW9RQUlVQUlFQUtFQUNGQUNCQUNoQUFoUUFnUUFvUUFJVUFJRUFLRUFDRkFDQkFDaEFBaFFBZ1FBb1FBSVVBSUVBS0VBQ0ZBQ0JBQ2hBQWhRQWdRQW9RQUlVQUlFQUtFQUNGQUNCQUNoQUFoUUFnUUFvUUFJVUFJRUFLRUFDRkFDQkFDaEFBaFFBZ1FBb1FBSVVBSUVBS0VBQ0d3MEFqOGN2UEI0VUlEUURlL3dBajhEWHV3K2N3QzN6L2QraUlqY0psOWYzQ1pYVnRrQ09qZUZ4ZUI3c2xtRUxTK3RiZ0EwSjB2TUFKWDJNTzQrODd4QWtOQXQ3NjRDSFRaSVc1K2kyMHZMZ1IwNTZjTmdhWDN4dGNIS3JYOTB1alg0czZ5OVVwcXpJVS9IemZ5dldZQlNpVUV5aUN3SW4vdDhGNlo4bkdaSHJ2T3crZlo3VGpKWDZBcFcrbFBLV2tpQkx6UnY4bUdITTB6N0xreGdFcjBId09vcERJSWZOSC9NcnNid25tR2ZXTU1zQkw5eHdBcXFmUkgvNjJJOXVmSDhvUFJSSC9pNmxnUVFPOC85S0c0UFRMOWc3T3MyaEFpdXkwWEdNc1dvRnhDd0FVQlQvUmZZdXdnckhhVmpYUFpBOUhmNWRtU2JDNEM1ZWovcTMvNytRKys4bWxGK1JYRzlzUG9GbE9URlFrdlFhSy9GeGhKaVVDZ0ZQMUJkbHhxTjc4VmpYeURBUmsvQWxyNk8vc0lsS0wvMlpEKzZ1cWVQb3RpL2JFTWZRV08xUHNMSk9pdkZ3UkswWC9sOCs5ck1QYXMwb0NtaUhYSDR2Z1VOUkg5QlJMMDF3c0NwZWlQbXZFQldKTU5XSTVqVGZhOFRQWWVJdnA3aDNTeEZaYWwveXBUVi9hRGxqZERIR3VNZlhPTWdCTDl4d2p1SXFvdVMvK2U4SFNHb0oxamJDTU1RTjFhR0JqUGYwVC84ZUM2c0ZyTDBuK0hoZXViSTl5MndySHc2TCs5TVdKSjlCOGp1SXVvdWl6OXU5cjhhMGVoLy9ZWVlTVDZqeEhjUlZSZGx2NU5ka2VCYTVjOS9VUjQ5YlNQZ2lMaEowajA5NE1qYVlrUUtFbC9ESEcvcldEWUV1N09EaHZyWmtlaXZ3STZCYXNqVUpMK0Y1bTJyaitlQk9pT2RkSTNJUHBYZitLa1FVR2dKUDNCUTNWWFYrenZhWWpwTDZVS2owR2l2MGN3U1ZXNDNuOVlBZ2Q0T3EvSllqQ0ZSakZNZjYzTFpQOGhvcjkvVEJkYVk4bmVmMHR6KzRQMXQwSVVMN1B4SHZSQTlGOW9zdnEvK1pMMGg2ZnpVRFlHU2piQzJMbnhqbnpKOXBlWVU4Z0hBaVhwMzliYy9oZ0lqMTZHbnVZUDh0RStYUWYxL2pvZUZLdUlRRW42TjhYNi9yQjZLTmtQQSsyeExua0lxUGV2K0xTcGVBS0JjdlRIV0ZmZDBndmJmelBVTzJiVG4raWZlSG9VclloQU9mckQybEhYTmVOdENKdHhsWjFVYkU1T2NUSitjZ0NpYkRjRXl0RWZOTHl0MWhQUmYwdWJDMU1GUElXSi9wNkFKRFVqQk1yUkgyNy85YUQyMjgwSFB6ZlMwaG9aUCszb3VJZXhnVXYwSHh1MGk2bTRIUDNoOXIrMTFHWDNpVjB1L1hEb3U2eU5oOGVCSjlGL0hLZ3VzTTV5OUlmYmY3aHovTG5nVSt3NGRQbjB3dG11YytFSi8rTUVrK2cvVG5RWFVIYzUrc1B0Lzg3UTBEbGlMK1dnblFuM09vWS83ekpXREluK1k0VjM4WlNYbzMrVG5kUmZ6c0U2TTdKM2x2Z08zd3RqNy96SjhibDRCQjN2SFplaVB4eWRqUCtRVjdoaTdvRC83ZDhKYXEyN0krYy9qNC9wb3Q1L1RNQXVxdHBTOUlmYmYyVDBCRUZqTk05N2liMmtPVzYzRHg0UjBYOVJlVHFtK3k1RmY3QlFySGhyUnZ1OC9yRDVRT1FFSFZORFE3VkUvM0dpdTRDNlM5RWZibi94SXhaMWJjL3Z1QUVrK284YjRRWFRYNHIrVzR6dFJUaTF4N3pFV1g4Y1JIOGRENHBWUktBVS9ibmJQNnEzS3haN1ZteEhzZUpFLzJJNGtWUkJCRXJSdnkxWCs5ZmxtMUN3eGlwaVJQOHE2RkhaRkFLbDZLK3M5bStLalY0cHplTklJUHFQQTlVRjFsbUcvdXBxZnpidUpmN2FzeUg2YTNCUXBDb0NaZWl2clBibkUyRERxbTBvWHA3b1h4d3JraXlBUUJuNmc0VGlGSE1VRnpNQUJTcXJMRUwwcnd3aEtWQVJLRVAvOHl6NkZkTWd3TWttMFQ1SFZlbll3a1Qvc1VHN21JckwwSDlWTFBQblM5NmtFMmdDQUJMOUp3RHlJbFZSaHY1SDB0dUROK0h1Mk9ENjVlYURRMTA1MFYvSGcySVZFU2hELzc2YzZ1cnBKejFYYkl4ZS9HL1lnMDMxeDFPUlMvVFhJYUpZUlFUSzBMOHVGenJnVFhndWFzRnlBNFpRZEIyLzRsOVdiQmNmVm53Ly9sM1Q5QkQ5TlRnb1VoV0JNdlJYZnRxaUZaL3RIRUNUZWoxZGRmRi91SGVzcGY1NE1QWCtWWjgybFU4Z1VJYitEWG5HRlFoL1UyaXNmUnJmZ2plR1AvTHltZDloVENldUVDcjg5MHE0ZDZ5ai8xb0c5ZjZGOFNQQklnaVVvYjg4NDRydmU5bVgxV3hKTnhEZWhGc3lvMFNvRzg0bmJPa25SaFA5U3lCSlJld0lsS0EvWm5yRnJOY1Z4dFRCNlpGMEExMlZXd0xzbFdma1hCb2RsbnRXLzcwQW9uOEdaSlRsamtBNSt0K09La0ozLzZ4UzU2NjBpb0ttSEI4ckVvV0R2ZEhNMm5uOU5EbWlmMkVBU2JBSUFpWG9IOGpoN283Yzk4SXJheWtuZnlKcldLUUJGcG5tcVBTWjJMRVV5aEg5TFhCUmNqa0V5dEEvMnQ2T0NsdnNlRk9wVnozNWM4Q3FiSDIvSEpsUlorSmRsV0UxUkg4RmJRcFdSNkFNL2V2aUZQOUxjaERNV3dKZDYzR0xlcFhHdmxzUjdjL3J2NWRCOUkveHBZQVBCTXJRZjFjWTVJOHJiazgwQnV2ZnBMZm5xTkpHZ0hhMHFPNnNNcHBBRFVSL0g4K2NkTVFJbEtIL1FIaCsydExUd3hWaUplZ3dWcnlydVVUajVHS0JKV0U1cldxZUphSi9NZmhJcWlnQ1plaC9MaHJob3V5cjFYcFdwZHVmbjM5VllTMGNIS3I3b2VZdDlyUmFBL1grS2hvVXJveEFHZnBmaXJya1FYVFNvV2lFNHZZUDRQY1hpNEZFdHNQZkxmSHVETWo0Y1lDTlJGMFJLRU4vT0h4NDM3elUwRHYvUUhYN3cvR3o3ZG9XS2Q4WFN5YjZOUFNWcUZESU93S2w2UDlVNk9GNXQ5NHphMjUvTFArc3N1YW5LV2JUdXVUNDlQN0lTYUZFb0JUOWx4cDNoOEVYMlBGUTZ1RWh4ZTNmU1dYcW90a3gvRkxrMmtpaXFVeWtJWVZzLzJ6Z0tOY1JnVkwwRDk3SkdJNzQzOWJyZ3FyMUtPV1RqSDFVejNTS2dlVTN3d0xLOHFJd1R2UjN3cEdFOHhBb1IvL2dUMTU1L0twaFFuZnM5cS85RThZK25zaDBpdUlJM1kyd0FGcTNwcFlrK3F0b1VMZ3lBaVhwYjZvWGJ2OVhQZmJZWTIvNFNKTzlaTU1rVURodGk4bHJUeTFGOUZmUm9IQmxCRHpTSDI1L2NiMXFvMUxET2tJUC9tNnJtb2orS2hvVXJveUFSL3JIYnYvYWYyWHM5VlZhdHN1ZURqZU5QZEZMSEtKRjlLOENLNVZOSWVDUi9vcmIvMWNTdlhhcTJ1eUVsbkIzd29Ha1NSTDlOVGdvVWhVQmovUlhWL3UzOU9rcXgxYkdtMmk2aWFrRm9yOGpraVNlallCSCtpdHUvd0JXeTBaMnhjajlwNHFKSHdWL0pDd1UrM3NhWXZvcjBrWDB6d1dWQkZ3UThFZC9hRnFQYThhYXRiVTRZZ3QwMC9UL05wZUZ0LzlhV0FiVFgrdGhRUHhIOUJkSTBGOHZDUGlqZit6MjUrM0NpcmZuYzl2M2hSdXBLNXdzQSt0dmhZV2hjbHZUUXZUWDRLQklWUVQ4MFIrbjNRN2oxa0R0dlRqaUdrRGhqYkRNdWNUSWx4WTl1RUpKOHRrSStLTy90dG9mYXJXRit0bU5TT1RpOUtERE1LbVhIRUJUNzUrQWlxTFZFUEJILzRGWW84OGJoRjNBb1JsZnFuRm8wMzVZc0owY1FCRDlTd0ZLaFd3SStLTi9YelYzd05OODI5L1dKdGorbTJGZTB2UW40OGNHR2FXWFE4QWYvZXNxNFdFSnJaVnJFRXJCOHhPV3ZjcE9FanFvOTA4QVF0RnFDUGlqdityMkQvcXN5aWsvRWYyM1V2c2xpZjdWbmphVlRpRGdqZjZhang0bk5TUTc3a1M5bWRIV3lQaHBwMTRob244bWJwVHBpb0EzK3NQVFAzTFc4eGE4SlY2MjROcWVVTDRmRG4yWDFiSDBTQS9SdnhTZVZNaUdnRGY2cTI3L1drdWRBN0JWYlUvdmhiTmQ1OElUL2pVcG9yOEdCMFdxSXVDTi9oanNqdHcxYU5GWEdQdkJLZzA3RSs1MURIL2VSVmREOU5meFdOUlk3VGRmZWZ3VDc4KzgreWYvOHJmZTk4TG1ZUkJjL1BuRy9kK0Z2OGJMRy8wNzB0ci9Nazc5ajE4RnZkYTNmN0I1L0JwYlcyTFJKWDZNM0lWMDUwK096eGlpaFE2czROZmxIbUxzUjBNUUxoemYvNHBISDcxeFh6aFYyci92QmcvRDZkNE5GNVFkQnU5cThNREpnUmt3VC9SLzhxOXhxdHNuK0I2VkovL3k1MURiaHJtMkx5Q3J5VTZHNWx5WjJyOFQxRnAzMDY4UTlmNFNvOFVOTGRYWnZmM2c3UTMyWXh3RGNHSjA4VjYxUHdwSytsOWtkLy85bjM2dHdZNDN1R3pxOGtQL2R0U0M2TStkWWFxZU1PRXl1L05MUWZESHpkemxRSmZZUzVvcHR3OVVFUDNOd0M1VzZzN0l1QUFaTm5EakY5L3c0WkIyZC9ZUitac3crQUFPV3Zobmp6VVJQbXcvdzk4S0xFSzRnei9weXcvOVIxK2FzR3AyL09BSDB0V0VLYlhXQ1c4TGxvTWVoUEdNLy82dytjRG5ETmxFZndNb2k1WVUreGpiWWxNZ3p0MWhrYTBBSnA3OGh4RWlTK0QvbDZQRmsxOU1IRWNyTVBORGY2RXQrKzk1Y1NqaWp2aHRzR3o1ZEM3UlA0M0p3cVcweGFuZk9GcUU5L2k0WVBORWh3cjIyUEYybURSS2JVUXVHTXhLbld5S2RPWHZKT25mRlQ4RmM3N3Njamlpdi9MbzVpajRxMSszWFgrWHVrdXNCNzQrU3BRenJlQkZ0TUM0cHpoTU90ejZpY29qdko1U0ZmNGl5OUNRUEk2a0ZiRUk5SExEYklqbFYwcjB6OGZvRkVyVUdpTzcyZlQvUWZKK2VpT1RueWZYUlorUFVHVGw3Q2dPazBIOFRRZ0NiRDgwalRnbjJQdWZGNytLVVU5UDV5YnYwUkluK2x1QU9kM0pJS0gxdXBhOHRaYjBzRXRuTzM1bjZObFFzUG13bEFmOTQ5SllocVBzeG9wbEprai9RZlRSUXBYcWp3SEhUU2tRSVBvWEFPa1VpbnpJeXY2VWt4eTJUMnc2cjhiR0RiZnQrWDFmRWFNQkhnSDlEL2pmOEdvYnJaOEowcjhkdll2WXdWdjI4SE9pdjNpYUMvc1g0OTNueE0xam9jM05LTHd6Q3U3QTR4OWZHdjBSVWZNaW9RblN2eGtOUHVUWUpXNW8wUURSdnloU2N5dDNwT3drUVVlNkh0MG9iSHYwcWN0S2Q1L28vWEZzc3VIWHRpWklmMkdlQmUvNXZzMlNUNGZvWHhLNCtTa0dJeVkyNk5HUjNoWjMxdVNHME9QYUJuT3Q5OGVySWhlbGlVTDh0M2lIY1dTOEFlUHI1MVlsMGQ4TnJ6bVVocE5JR0R5Y3ZMRWgxT1ArME5hNmVzY2EvZkdxUk00aFZXU0M5RWZEWDFhMjI0K2FUUFJYbjkwaWhya0g1MERjT0FhOHNUMlBkUTNQWERqZUYxbjhyMFovWG5CUHpRM0RTZm92V2VZZi9sTmNFbW9jcnZqanhILzZDLzIvYlVGRXJENHpRUFRQaEdjQk1zRnkyWWxqVS9nMzRudnVNbGFQWDRZd2RhQzhLZnludDhSMFdWd2tQZTNWaEpUeEdvcEN4bHhyb2tML2ZpaDA5LzFDVVltL1JQOFNvTTFWRVN6NFlROStSM1M5VVBVaFltd3J2d3ZoUFErMGhLWXlVSWdoU2ZiKzBHRytEa1FSYzdZdFZhRS9waWJDNjdWQ2svdGZvcjg3WnZOVmdvOWcxVXR1cStMV2pYNnZBNDMrTUQ0VU1rYVNTZnIvanFwYkNUK3dMMVFyaVFXQ1NvMm9hblFkQ0ZYT2Y0bit6cEROV1FFNE9PTjFQSWxiNnlTTis0RkcvM3JzZVZUS0plbXZaSGtQWWc5a2VOMHJyWm5vWHhxNk9TbVlRWDlNaU9uVHFZUFpvbi93MllqL3c3TFBndWhmRnJsNUtjZU5uMFB6emV3a3MzVDZGekorekpwOXBiNjVpU2FhUnVBRkt5RDZGd1JxYnNYNDBIZG92THRsaHBWREwxYXpCbHJ2M3l4aSs2dkZ4eEN1ZmJXQjl1ditLWWRxaVA0T1lKMGkwV1dMdS8zclgwK3U5K2V6Vjl2R08zdjhEcVlCdEpYME92MVI4SHFxNENSdC83RHlsWHE4TlNIVm1Od0Vvbjh1UktkUndHRzl2emJ0cGQxci9XRys2ZXRBU2RQb3p3dmVWREpId1luVG4vL3dpL2FPcHBxVWtVRDB6d0RuOUdiRlBrRlFOSGxkUzl4V00rbmZpZkl2WTZrelZvQ3Foc1ZBZlJ1bXZPaGhPUjZ3ZEUxTDd4STNhWWtTL1MzQW5QSmtoL1grdXlZYkJyZmZ3Znd2dmlKaVB5MEhSS00vcUpPWUZ1QWlrK3I5TDdGandmOEI5ZjRjZWJwS0lkQmpZdE1nTDc0Yy9oZ2NBa3VoMlFQQ3IvUGswYVhSLzZ4eGs5V2s2QSt6YkQxcTFTb3I3ZmluM2ovQ2NISC9qQmIyaS9zL0w0eWRjK0VHUWhqV3lwSm4wUCtXRUF5T1RMTmVmbnYvaXg4KytkNjRQaTNBQng2M281UlZ6VURUeFBJaVJQODhoT1krSDB4U3pzNGZDRkoxMThJN3J5c0w0cmp4Y3pQR0F6a3lFcWY2N1AxWG1pY3ZNQ3dxNVhYeGhYclhvMHA3YkMwS09mOGgranRETm5jRjJxcmp2NzQzdXIrcjBXUkF2T1dkSjRQKzY2TnN2Zy9NdE52RmErKy9lN3dSN0pxOU9uemdjUkExcFJPSFJOc0sveVg2RjRacWJnV3hzbk5kM055eTJObStFOUZPYkhrUEJVRC9lRDAwVmtURVlWRWFmejMyL2xmNENVUG56Wk1Tc05qaW5aWXRkWFN1TktWQWtPaGZBS1E1RjFscXlMSGo0OUVvOG5KOCtrTmI4WXVDL2pIVk1QYThaUURHSS8zRDgvZ3ZtaTJieS9LSTZZdkcxOURRTkVNUzBkOEF5cUlsWVJDN0VkMXp0TGx4dVJYVEg1U1BIU3NJaTkyUDhQcUhZK01rVnY3b2Y0VTlCK1cxeEtxN3FMNzRLeFVFUGRNUUpOa3NTNXpvYndGbWtaS1g0KzcvTGFOek8xZGE4Z1RQT21NTTV6dUhGK2ovNTVGUjFERjMvaDZObjUyUlNkK0lqUnp0a2RSZkhVV1hHNHByU2hNcEVDSDZGd0JwN2tYZXl0ajM4SnU4R3A3bmVlRWpZRHhqUDhCVGFxUDVzd2NmTytBeDBQK2cvbU04Qk42WUxIK1B0djlTNUk5cUdlYlcwSUMzUk1kMTFkcEdHNHkzc2NCRjlDOEEwdnlMdkp1eG4vNjdKOTg4OHZHdmh1d2ZUYVZ5LzNwNHJYTVFCcUQvQlFaWC9LY2E3T2xOSXl6ZWpKOXprVGUvYmw2T1hhdmYvUXMwNEcxZDlqUEdkaFJMSlBvWHcybmVwZjRzNVBpZFEzNmZxL2h4bzBkdTNCZGFPVXZzUHZ6UzBZMkhHdXM4aDlNZlAzaHgzR1RzSmZzOElYMTVvLzl1NUk2cXgrTVN2YktMTFhaOG84SFlkK3JKYmpHaXZ4dGVjeXY5cVk4MEh2ZzM1ZzVkM25OSS8rQ3JyengrOEUweVVRLzVvai9Pbk5nSU5iZisvL2JPNTdlTklvcmptNUxnQ09lWGhMZ2hKYUtWZWdCaGFDdUJ1RGdTUFNKY0NWV2NJUDRQRWdGU1ZYRndMcHlUQTVkY1NDVCtBRmU5SUhHZ3ZjSWxGU2RPT0g4QWtpT25FcXBLV2Q3dXp1ek1lc2VPL2VhTmk3emZ2WGgyZHVmTitMUGZ0V2ZmdkozSkhnR0t0U1I3OWQ5dXhOZmVhSmNQVEpFRCtVOEJxL0tuWnZJZmkwRksva3Q2S0xyaDA3Y2YyMVE2Q1BsZlJnakhEWUZnOHEvOVNZdW1OdTZZbXNpZCtVKzJadzA3V0llRmtwQy9FTWhLbUFrbS8yNmNiQ2NXeEs1YVhvQTZRZlpkWVowaGtZVDhKU2hXeFVZdytkTWpMRzM3aGlPcGZqdmRvNkNMUTVNdG5ZTDhwWW5PczcxZzh2L3JLQmxmZUdEWVVhRDFmcnBIaWNjbVd6b0YrVXNUbldkN3dlUlAwT2k5TWdzZGhlRmxOd1BGdHJXdGZPRWs1QzhNZEs3TmhaUi84WVgxbnI0WjZENDRDOGNVOGcvSGR2NHNCNVEvRFM4clYwK0tiVWUvWk5aeHZsVWdoUmJ5bHlKWkJUc2svOHVlUTdsK2YzcDk2NFdGc0tsRGl2cjZiOEE2S0plRS9PVll6citsL3VWZVNLNzhxWTkvYmdDUzR5ZmZuSEhWNWxTdkZPVHZoYTlpaFErS3Zublh0K2ZLbi9yNEc4WmVNb2VRM29xejdKcHpKRktRdndURnF0aG9PU2QzS0h4N3J2dzdCUWNuemJ2NytiMWsrN2JZSnlwVUpiQUQrUXRBcklhSjcrNlMrdVA0bzd0anUvOWMrZThXNXBtbUY0bmJLVlg2RzlnS2lCZnlEd2gzdmt4M2RXL0U2cU9YdnlGWC9qdUZLZVBXTGJmLzJMdXQzSUNwY2lEL3FYQlYrZVR1NE9yTjIvUWVnUDJJV3ViQmxYK3pNRlBodXZiM1hOSDNRYmttaVJ6SVg0SWliT1FFbVBJblY0L3Q5dS9vbTZGbjVqUEpxeEJNUVA2Q01HR0svYTR2OWZGdHQzOHZmcGJCUEhaUDlDQkZHdktYSWdrN0tRSG1yei9wMEg2azZPdFJyMmJRSjErODdnTFZ5aEpneXAvYy90dFdRM2JWZndHRlFqeTJzc1dUK1BVWFIxcHRnMHo1ZDRyaEZIMzFzc3VTZmdRT0JCWHlEd1MycW1hWjhpZTMvNW1GcktlV0hGZ1AyL1ZINThkaWpxUUFBYWI4aTI3L3FLT2VCRTd6V2N3Rm11WXdnVjkvQnhSazhRa3c1ZDlNSEp6M1g3OTRjeSt0ZWoyVFA3bERuL0NiTWtGSnlIOENTRGhsY2dJOCtaUE9uMFUveHdPYVBDNnRhakhyL0N3VkJnTW1iOFRFWjBMK0U2UENpWk1RNE1tZjNQNy9Mc2Z2N05WUDQ3ZVRXbGF5Ujk5ZXdSMDBTZlZUbmdQNVR3a01wNDhud0pNL3lmRHZiakxzdXhZUEh0QkhQWHZrYldZVFRvK3YwZWNvNU85REQyVkxCSGp5SjdmLys0T3p4TmhtOW9PL21YU0MwdVZka3N4Z0crUWZERzAxRGZQa1QyNy9kRzcxaU5hTFRHTi9Ic1gwREx3VCtzY2ZqczlxaWpUY3QrYkpuOXorYWFjbmlxNWtBMTByOU83WE43RmV3aUpZYy9Ickh3eHROUTN6NUU5dWZ4WHhSdDJnZGtMdVlQQmphTGNQMVFMNUo2eXhpUkhneWIrcFJCOUZDK3FkMy9wbmcwK3lNUUN4cGprTVFmNE9LTWppRTJESm45eitlajRIRXVRV3YvWnBTMEwrMHhMRCtXTUpzT1NmdVAyVlZacnc1UG5ZQ2tRUFF2NmlPR0dNSlg5UzRibENSNTBmZlNmTUFDYmtQd1BJVmFxQ0pYOHIycCtTN2lVamcwQ0UvSU5ncmE1Umx2eko3WCtva05FY0R5SG50UnE2TUpEL0VCRHMraEZneWQrSzlxYzdBWjBmdjB1QTBpK1BBRXYrNVBiWFRzNStQZ0l3aSsrQVgvOVpVSzVRSFN6NXQvUXlqbEYwVE1GdnM4TUYrYytPZFNWcVlzay8xclA1SnlGdnVSTm9CcndnL3hsQXJsSVZIUGxUbWR6YkU4ZWhZL3p0cXdINTJ6U1E5aWJBa1Q4dFg2ZUh1bWhtRTlmVUp2ckp3THQ1UXdZZy95RWcyUFVqd0pFL0RYVnRxVnJwVG5DODN2dDcvdWZnMTdoU2FjaS9oQVFaUGdRNDhxZWhyZzFWSjgxc2JpL3dxSEliT2lMSXAyV3VzcEMvaXdyeTJBUTQ4cWRwbksxUnIreGxkN3NCUzhIbXVZWDhiYzVJZXhQZ3lKOUdlczlVeFRRQXBoOERURlB5VlU1TmxsQUs4aGNDQ1RNWkFZNzhPMmJVcSt0YVBheHBqZ3RqaHZ5RmdWYmRIRlArQ2hzRi9xdlYzQzJPdE5DWDQzSFlPb0dmaFB6NTdGRFNRWUFqLzN3dGw0aFc5eTAvNWZaSS9tMUhWUUpaa0w4QVJKZ3dCRGp5VjYrM2t4RnkvRnczdGxTcWRXd2VqVXNIL1RJZ2Z6OStLRDFFZ0NQL2hkelplV0FlZ25PN0swL3AwZmdrM3hWTlFQNmlPR0dNSTMvcTNHZmdhbnFPVDV2am8rZlcyekQyQVlFMDVDOEFFU1lNQVk3OFY3Vm5oOVM0YlV5cFZPdVEzdi9kS21XTFpFRCtJaGhoUkJQZ3lEOXFLcjkvUDM1YWl1NVp2b2pvM3lGUUVEVGtyNjhiUGtVSXNPUi9rUFh0NlYvZ2cxSWpPaThTZjVDYUJLdDAxRE1EOHZjRWlPSkZBaXo1TDJaRHZROGRQLzdSNXAySWJvdEFNVytRZi9IcVljK1RBRXYrOVFhdDdSSXROL0xRSDlPSVZ5a0NqZ2JEMURLL0psOG1CZm5MY0lRVlJZQWwvK2hoL0dtMHVobS9XOGI0VmZLNzd4b01LNS9LeUlIOEdkQlFaRFFCbnZ4cjNmZ2lqajkwbU8yZVVHWXJWTWduNU85QWppdytBWjc4by9yM2pXdGZPbXBkR3lTdUlBcUVjeHdUeUlMOEJTRENoQ0hBbEw4eFVFeGRTZWU4b3FpSGtrTzBlQjV6RC9KbmdrTXhOd0ZoK2U5c0pOVlFMTVFUZDNXZXVaQy9KMEFVTHhLUWxmOXFGdjVNTVovdFlqVkNlNUMvRUVpWXlRakl5ditWZEtFdld1VGQ0UktWSUE3NVMxQ0VqWnlBclB5UHQxUER3VUkrSWYvOHdpRWhRVUJVL25YVjVhZlhBTFlsR2xleUFmbVhrQ0REaDRDby9CZlZZQytGZko3N05HcGtXY2gvSkJvYzRCQVFsZi9wOVh2cGRqOVV5Q2ZrejduR0tET1NnS1Q4a3hrUDlSWW01QlB5SDNraGNZQkRRRkwrTlBsaHZvVUorWVQ4T2RjWVpVWVNrSlQvd1h1cW1tQWhuNUQveUF1SkF4d0Nndkt2bWFIZWhtUCtFMDdyaHN0QS9zTkVzTzlGUUZEK0MyYTJ6MUFobjVDLzE4Vkc0V0VDSkgrOStiNmlzcXY3UHZJaG4wM2R4bENocE1OWXNGOE5Bbkx5cnpYT2NtU253aUdma0grT0ZnbEpBbkx5ZjgzMGZhSmQ0WkJQeUYveW1zTldUaHFlOGpzQUFBQ2hTVVJCVkVCTy9ydGJ1ZEdvRjhmN1pzOC9CZm43TTRRRkI0SDZVYjc5NERnOGVWYmRqbkdtbUxmRHlZdGVmdWF2ZVNPUExqOFpaNERBekFsOGJTOXlST3Uvbk15OEJhZ1FCRjRXZ2JYR2hWVTF6ZkpwM0VCV1BwSWdNSThFL21qRjhSZjZpOVYrMmFTWmZuN2EwL3Y0QklHNUprQ09UdHJVS2wvSmtpL0padmVHNXZyYjQ4dFZuTURwNE5iSE4vUktGL1hHNE9xdDJ6ZmZLcS83OG4raTlCOHNLczVFN1JDVG5nQUFBQUJKUlU1RXJrSmdnZz09Igp9Cg=="/>
    </extobj>
    <extobj name="334E55B0-647D-440b-865C-3EC943EB4CBC-18">
      <extobjdata type="334E55B0-647D-440b-865C-3EC943EB4CBC" data="ewoJIkltZ1NldHRpbmdKc29uIiA6ICJ7XCJkcGlcIjpcIjYwMFwiLFwiZm9ybWF0XCI6XCJQTkdcIixcInRyYW5zcGFyZW50XCI6dHJ1ZSxcImF1dG9cIjpmYWxzZX0iLAoJIkxhdGV4IiA6ICJYRnNnVUNoY2JXRjBhSEp0ZTJOb2IyOXpaVndnUVgwcENqMWNhVzUwWHpCZVhHbHVablI1SUdZb2N5bFFLRnh0WVhSb2NtMTdZMmh2YjNObFhDQkJmVnh0YVdRZ2MxOUJQWE1wWEN4a2N5QmNYUT09IiwKCSJMYXRleEltZ0Jhc2U2NCIgOiAiaVZCT1J3MEtHZ29BQUFBTlNVaEVVZ0FBQnM0QUFBRERCQU1BQUFEUUd2bHFBQUFBTUZCTVZFWC8vLzhBQUFBQUFBQUFBQUFBQUFBQUFBQUFBQUFBQUFBQUFBQUFBQUFBQUFBQUFBQUFBQUFBQUFBQUFBQUFBQUF2M2FCN0FBQUFEM1JTVGxNQXUrL2R6WmxVRUdhSnF5SjJNa1FmN3A2VEFBQUFDWEJJV1hNQUFBN0VBQUFPeEFHVkt3NGJBQUFnQUVsRVFWUjRBZTE5Zll4azJYWFg2K21lcnVudTZlNkp6Y1lPSVZTell5dUpZcWp4cm1FUkpxN0c2OGpKQ3FpSjhDVElLMXd0RXhRcEFsWEhHOGVMdlZBZDJ4R0NQNmpCa1lXQ2lhdnhtc1FpaXFxekRzNlhRN2RDcElnZzAwMk1nMlFKcXIxR0VRR1VudTJlalRNZVp5Ky84OTc5Zk8rK2V2VStxcnU2OXJ3LzZ0MnZjKzY1djN2Ty9UajN2VmRCd0ZkVkNQejZ0c3ZwUTdHNG04c3hSb0FSeUkvQWp6U0UrSlk5UTBmeDE3T2xHVUE0eEFpVVIrQ3JncTc3VzVKVDdUZkQrSGVVWjh3Y0dBRkdRQ0Z3TlRRckdKcWMwZDRyemo2NTk2R1BpaHVxQU44WkFVYWdOQUoxOGJON0t6OEJZM3NRc3BvVEx4MVI0SXYzZWVWWUdsdG04S3BHWVBFMXA1OVJBRndWMzByQi93WkQyOFY5cFhsNmpCdXVPazlvRVJEOHl3Z1VRbUNsSlJwQzdiODYzNGg0SEFweGhobnNCZkU2eVhOT1poU3Fnb2tZZ1ZjOUFpK0l0d1pmRG1jdlFORzhHK0d4aUFudFZyRFNlRm5CVTJ1b0VOOFpBVVlnTndJckRiRVhCQ2RmRHdtdnZhVG9PMEs4Rk13cjgwTnE3MEJsOFowUllBVHlJckFnc0NMOEpTRzJpSERob1NLbkNXMTNvTTB1Q0s3Y1VsbDhad1FZZ2J3SUhJcU5vQWFqMmlUQzdnMU5qZ250dnZoMkhRMnVhaE0wYVJ4aUJCaUJzUkJZRWVJZ29FT3plMVQ4WkVjVFhVZWFPTmJSWU8yUFRaaERqQUFqa0F1QlpTRzJnd1dZVkRoZDlZNE1jVnVJYU5NV0phMnd3OUZnd3lGR0lCOENRN2c3Z2puWVdUaWZIZTRaYWtxMG9vRjJQWm9pSEdJRUdJR3hFS2lMUHdvQ1dpUGVvdUsybmRXYXd0NmYxYUlIUk1aaXlvVVlBVWJBUmdEYk01cklZRkpIbEd5dkc0TTJQQ0dtTEs4YkRSWWNZZ1R5SVFBUHlBMVFMRDM1OHlHZDVRY0p5TE52blo5ZHc3ekhGeVBBQ0JSQllGMklIWXR1bll4T1h1OFRtTkRNcG16dWF5cUQ3NHdBSTVBUGdSNjVHODFsRzFQcjVXdVkwTzZxek9HbUN2R2RFV0FFOGlIUUVtYzJ3YUp4ZHN6aDVMcXZYbzlCbWRhV1haRERqQUFqTURZQ2VCREVyQXlKcW5ta2FPdDRYaCtIYStKMmxIRFZzVWRWaU8rTUFDT1FqUUJXaHE4NHBVNmVrTkhQQ2dwaGgvWlN0SzVzdStVY0lvNHdBb3pBS0FSd0Z1MjZONWJPOXNMeTF5TDdvb08xOE5XMHI1cU4yaWgrbk1jSU1BSkpCT0J1dk9XbXRzUEhxeGFiMHE1ZWhLRzk4Ui84M2svRmxwY3VEY2NZQVVaZ0ZBSjRLRi91djFTcEpmSHlQLys5M3hIaXUyVkNINFpHMTRFcXdIZEdnQkhJaWNCQXZuZG1rZEduUVlUNFN5cGw1V05oL0Z0Vm5PK01BQ09RRndIWVVPVG1zQWgvOWNuVE4vOW5LLzRIVDRxMzJIRXJpNE9NQUNPUWpjQWF2cmFUWFlwTE1BS01RQmtFOEhTai9ZcFpHVlpNeXdnd0Fpa0lYQkdDMzVKT3dZYVRHWUdxRUJqSzE2aXI0c2Q4R0FGR0lJbkFvY0JIZVBoaUJCaUJpU0pRajk0K20yZ2R6SndSZUxVakFMZiszVmM3QnR4K1JtRENDTUN0SDMwZWRjTDFNSHRHNE5XTXdCTHNMSEZNL1dvR2hOdk9DRXdBQVh5MjhYUUNiSmtsSThBSVdBamdhWDNyQS9wV0JnY1pBVWFnTWdST2hPQ1BERmVHSmpOaUJQd0k5T052VS91TGNTb2p3QWlVUUtBVmY1dTZCQzhtWlFRWUFUOENjRGR1K0hNNGxSRmdCQ3BDZ0k3UGJsVEVpOWt3QW95QUh3RTZQdVBIUWZ6WWNDb2pVQlVDOUs5blcxVXhZejZNQUNQZ1JRREhaODRmbkhrTGNTSWp3QWlVUW1BSU95dkZnSWtaQVVZZ0U0RkQ1Ly9OTW90ekFVYUFFU2lBUUQzK2NmMENQSmlFRVdBRVJpT0FaU04vSFdRMFJKekxDSlJGWUJWMjlpZGxtVEE5SThBSWpFU0EvcVBpM3NnU25Na0lNQUpsRWNCL3hjVC94S0lzUzZabkJCaUJHQUw0ZUtQMU4rK3hUSTR5QW94QUpRanN3ODRPS3VIRVRCZ0JSaUFOZ1I3c2JDc3RrOU1aZ2RJSUxMNnROSXZ6WWZEQ3pnVHJHY0RPOWliSVAwaUZlU1g4aTlCQ1ZhZnlMTVR0M0lpVzNuaHVWWTFSMFVUVnlxcS8vVjFXWkpxRDg1UDhmRWNEZGpiUnhxZkQzQ3o4T2s0Nno0azJwU3p6OWNraW5WTzhpYXFWa1dWWkhKbkk5SVJxZHhLelM2MzV6b25KdHdJenV6OHg3bUE4QXVabjdtOFhxM2tFejJJTXE2SHlkSjNMdUR0VjMrK2JwRnBaN2E2L1lrV21KN2pzZWVueWhiT0NDcG5kckd1d3M1ZXppeFV2TVFMbWxjWVR4ZmlPNEZtTVlUVlV2cTV6T085UGRvWHUxRFZHWklKcVpXcGZFRHNtWW9kKzQvZi8wN3VmdkxpRmRGYzh0S1VKdzZ1aW9FSW1PQ1VTOE45bkZUNTI5ZXhyei82TU95U2t3a3lTREl1Tkg2azhwN0RySE1DbnpNN0dVS3ZhLy96Ny8rcFBOVzQ3cmJBanI0SDZXTmZONy9saE81ZkNnd2Z4bENpK0dKSk5kSWozVnl4VGU4SWpXR2RpUzd0NU5MZXl4Njd3Yk1sak1mSFRZQTVidXlnMmsxak1XTmZaRFp3eU93dXkxYW9kV3NPdTNRZzdYQXV6blorL2JPY0h3WkpuZVJhV3VHZzdhL24rdzNacFlrZko2d0Rwbmd0TjhWZ2RhNFJuRzdzV2cxU1lvekw5NVArSXpsclhXV0FFMDJabjJXcEZYaktSdHZKRDAvN3B1NzhwTFBMSUhibytUV0hYaTN5U3RpVmQrZmk3VVBqQzVqTlNzeU83YjZKd2MxSmZNajFCZmJlUzlSVkttYU9aOFllRXZlOU5oVG1xWU41elJENXJYV2RCT1cxMkZtU3ExZi83NlU5QlFmYXNOaVNDdFBQNGRwbTY4bEZFWG1jVnFUVkd2QXZ5b3hkb1ovUlk3MTFMVUJuYzl4bGZzbGorbEVQVXQ1dWZ6RXZSQmlkODFjZWFvMGJDREI0ci9qWHJUSFdkQmRYVTJkazRhdFhJK1BjRjB0Z0QzY2ozQ21GdnVoZDhPd05WR0w3dUM1dlA2S3M0RzBvUWM3OWUyYVJqZUlhaHVvTlNMRE5mRkcvWWJBV1lINjNUdnBFd0UvZkRNMThkTTlWMVZnT256czdHVWF1R1BYQmFqVkhCWldpUW1mQldzSFMwbkhZOUswc1JtUHNGMnRrK3BQYjVKUm9lNzRnUnVIZ0lzSWpqNHVRMkpZYUk3YUF1YkVmSWFKaEJmTVUzZWVQTWJaYTZ6bUEwZFhZV1pLc1ZOaklqbG41aEZ6b1RYc2MybnRyb0Njc3VhbEE2bDlBaFZNdzNtZlltczNDa1krcVJRMDZPUmcvSmc5TzBQOWFmQVRONFgvTU9LbmlId1A2bnFFdmVkUWJDNmJPemJMV0NYekI1MEdTYUZNQzU0MHg0dENBN1V2bkw0bXNxNkxzM3ZLcnVLMWw1R3ZUVTBURlZ3ZnlvaGE0cWxQOGVlbGZ6azNrcEJvVGFRRmpidlF5WWlVdlRkMkl4VzExbndKbytPOHRXSyt5Vk4wd0xQS0dlTytIUm1uOVhGUnVLMnlyb3UxK2NuYTBJTXJUanBGQ0w0bytTaWVWVDZHUEVQazB2d2xtUWlNL1lRMVFHekZSSngvZXl3R3gxbmNGeSt1d3NXNjF3d0xwcld1QUpZV1MxSnp3YXVlK3BZdlUwcjM1VTRPTHNiRW1jUUU3ZklOQzBWMUtxSGFYdk5NdjdscWtGR09NNy9ZVDM3MjhiMmd5WXFlQzhiN1Njc2E3VGdFeWZuUVdaYXRVZGRYeEdMV3U0RXg1OWIwYWQ3S3htNk5iRjJkbjhHZmtBTm5UUG1NQ2g1VHcxcVdWRDY2aHQ5RFozN0Jvd05lcHhMQ0xLZ3BsS1hSZWVrOEVaNnpvTjRSVGFXYVphZGNUby9UdnQ4Ry9vRmdZQi9TMkswcWp3UU5YS2l3Y3Z6czZHRDBoT05SN1ljblc5MW1lWEtCSWVvamFmZTdNQUwweU5OdDdna0FVelZWTHo3RVpucmVzMG1GTm9aNWxxMWZaMGtHNFFBdlFnK29HVlFPdEdOWFIyTTA2akxzN08rZzlwSHJaT2VuVUxsaWV5UWVzQmxaRXVJVjEvWm1BOWNjQ2VCWFBJY3BEY29NMWExMm5vcHRET010V3E2ZFZHM2FUd0RPYklSTEZBTVhaMjZEMjFNWVV2enM0YXQ0STJCRFdpNk5CYVpmNEt6UktCQVNyYnNCT0toL2ZwbU5xNXNtQU9DNThrSGFtMGRKNmxydE9nVEtHZFphblZPTWRuanJwUzV5bVhYWFAwa2hOVFNrVytBWTN3bUlGVlRNRW5FSFRMVTE1a0NPMGh5VTVxb3JMWWFpK2J5RjhDVStPZW01TUZjMWg2M2ZGV2hVazRQcHV0cmxPdzdNY1JVaGtYZUUvMG1pdkxPTWRuMWdOQTlPU0I5ait1WmswTkYyWm5WOUVSSk9pdTI5Z3dWcytZaEQwa21VbjAxSEpWYk51dWNRUkJKc3loZUhQMjh5T1J3UHZPczFzejBIV3FINmJSempMVWFwempNN1VkQzV1SnpsTzdzcXZKcmxWSVJQY0xzN01yT011aWgyanZ1ZktFc1o0UzM1TlhOSW1jTHQ3SnN3RERWbnoweW9RNXJPUmE4ajBnekl5ejFYVUt6V20wc3d5MUd1ZjR6SEdrb2ZPVVgyVGQ2OUJUWU9CK1lYWjJBdjJpQXdpMXdMVmt3dk10VG52c3JNSmhPcWF1YWkyVE9JakxoRGtVRzg1RmV5OUdhWU9ZRC9UU2Q1M3FuMm0wc3d5MTZtcXJVWTJJM1p1eFdhRUZqWkpGVHJ6emhVVi9ZWGJXcHBQZVJtelpKQVdiZHdkNVM5emlRZnJvdDBLbE9KZVFFc09ET2phUm5ESmhqc28xMWZDbkJaaTVybE10bTBZN3kxQ3JUbklZVkswSjc3VHpzRGY0ZENielFKYm9KMTFjRHUzRnpXZU5UUWpTaDZqYnJrQVVXN1pmT0VsbUYwcFpSMVhlTjFQeWM0TXpQamJmWnNJY1ZUSncrZ2xwczlkMUNzMXB0TE1NdFdwbmpNTjBYSGFnMm9jNzdYcHV5WGdyc2ZXdi9iUFhpamY4YmEzYzBYeTI5cTdHelc4NXNuZ2crT3lubTIrSXAvbFMxLzdGWStJdDd3bUNGMjlyK21jLzNmQ1E2bXdLcklrZC9BNGhLdDFqRnhRNWxsSSt1bytxZklkMUJUZ0Q0SHN1V1JKbTJCQUIvVE5PdVY2Y2J2YTZUclYzbEowOSsyK2FwOThYMHpaRlY5MDlXVXVhV2kwKzMzanFtTjYvY0x5SkNYcXlLeFRUVnhmeFBSbExiUDBYNjhqRmFrMDFNN1N6YXczeEtFYjdMYzBDZ1k4aUFjL1QvMHM3elpmNkR4dmlxWGUvVm56SG9obXJ2eUxFellZNE8zQkozZGh5T0kvUnAzRnV1QmtVdzhKTXlaZk1MSmpTUTFXT3k2RVlueVVzZGVWbFBaU2NnQmx0cUF2eHVCQnZzNnNaeHVmQjJlczYxZHdSZHZaZm9WbE5jWGFzaWs3bTdxa2xSYTJlYTRpYjRxVnRyQzFzL1VqU2s3TGFzcmJOOWdGT05sZGhWK0VxKzhJSFB2ZGI0QnVSa0oydHRMN3pLRmgwVDhPL0t1Ny9rNkQyZjl5Wk1raW1Mb3FYcVlibkdrMjlRdjFGSVQ0UjFENHN6dHlxYlJHRFlEMGNPOGc1NFh0R3d6dkx1UXp5eG9CS2xrOW9ISllFdHJwMCtRVE15T21MYjk0T1ZqN2lyQ2ZXNC91NkdldzZDVXE2blMySmwvQkZ0bDlwcXEyTlJySFNnTGNXcjFyaHFZNm5nN1htRTFoYldMc0JEMzNYZmQrRDFpSTdVbWJvc1N0OVc5dy9wcFRuaFB3U09OblpDeStUMGVHaHZkdVVGVjdMMGtvKzZGaUxKN1YvZjA4U0tEdkQ3UHh6bE5UMnVoTER3dmpwaEo0RTJrckdYQXBoZ2FiM1dFM1JGcm8zVVpYUHBITXlXL3Y0blRzRElSN0JKNCsrb0VrVE1BZkJqNG52RHJNUDdURnlQcjV5N2M1ZTEwbFFVdTJzMW9yRzMrdk9Ya2REV1ZIQVg0dFByV3Ixc0tmbTdqdTdBUjk5eDdnOVNNb1R5MWMrRjl2NncrbTJHN1hreDA3SnRrSy8va3BqaTBLWU43VTkxMXFxWE0rYUJEeXAxL1JPY0tEczdGQTZZU0IzeUpkNEo2OUJwUE10VjlGVXVVRlZUMGdwaGtFQU02dUtLUkErTW93UmlzT01wSmI4MFBjMTI4K3pISDlRZFFhN1RnS1RhbWNMNHAxUmtWNEZvNTZzTEhuejErSlRxeGZsV1dqekkvWVd4a2ZmZGhaRUdGdFBqMVhGVjl5dFhkQlNBK3JxcDZRaFlUNmJmeVVxUGpCRytWbFZMc0RzdUtPNGVWSzdlbWVvWGxlRmVlMUdCQzN4VUZFbTczSmJkZ2p0and6ZUtkS09Pd3ljM0NLUjhKaDZzd2hsa2daQ3U0bHhtTWxqcXI0LzFqb3daWUdOaVZCb0JydE9OakRWemdaeWdBOFc3Sm5laGFWOHpGK0xSNjJnRjV0aGRSZzhyUm5XUjkrMDNWOXJpTjNXY3E1alZXaGRlUER4VmhURlFCb05KN0N6dzRNb0RUWHR5Y0pOVlk3MkdkSU15U0VqcVUxcVh5dk9OU2x2UjF2ck1QN1VoR1JPdDBWcHZWMm5kYnJBb2M5RS85RWZwbDMvVnhPbUJ1alphbWV2bEZveU84TWFrS0xDTVppUmVLTDY3R08ybndkQ0tJUWp3dWJzZFoyRUw4M08xcFN6WWFuaGVQY2tXZG90WjkrbjFPSlJxNkg2Tmh4dGxZOVU5VDU2T29QWlZBV2VSYys5VFVYb3d5SE9vTkhUckZBc2VoQURuOUs2S2N0M3RVSERIclUrekFzMUFQbFNtOGJwRmdtQkhaZDZ3Z09MMUIwamlodWFrN01ZdmVTODZXWlJyR09NVzJmV0dpaWJjaDNvVW1rQkNETnlIWnRHNTB0M1BVWW9FWU1aS1MzWlBsUzdhVmhnY1hCc1l0SHhtYzZla2E2VDdVdXpzd1cxU2E2UEdJVnRqTUp3M3I1UHFTV3BWbkJCeW1tRUJtSmRyNCtlL0I1UC96cGR2L0cvNmZ2Q2YxYVhwbUhWOWpMQUJ1UVlRcllaV1NDVVY5bkZ1cDRKZTZvY1dNR3RzUmx4OUtUV0xMRHFZVEVZanByMElKZ0tSZ3lzMzY0VUJOeDlVOWZRa1R1aUMxZCtLTzY3Ymxpcy9jRXJSS1lIRDMrWk1WTmpEbUJRdVRBallWVk42aWQ2RlUzTTBhczdkRmZYTEhhZGJGdWFuUTJsVHFBM3Y2NWdzTzQxSzJ3RjgvWjlTaTFKdGNJc3RodlZnNzR4RTZ5UEhvdCs2enA3MmhJdnNMMFl0RjFYeGt0ZUFUV2ZhV09BS2tiNkNrVlN0Z2RtS3VKTGhYQzZ1djRtQlR0NlVpVEtQOUc1c1VCUFZtQU0zaW13TDMwcFR1S25yR2E2d1RIT1lycEU0YkFySEVHbjY2VjB4TVNGR1dsWFZaLzFIY3ZDUUhmWHJuWVd1MDYyTDgzTzJsTEg0RWF3cHdCSnRScTU1R3lNb25ET3ZrK3BKYWxXZUlWNk82ckJHVDE5OUxTd2xOZnBYL3NCU1NVbDdUdWFQalFUVEYxTkk1alBWTmVEMFdaSUJ3enVTUWE0cWQySUx4VjJkcUJLOWpZcDFOSkwweUNvdTd0RFZaRHVkVlVCQlBFOERiWHVIZXhzQm5uRG1GaXN1VGN2dFZNZUs0eVlxOHlGR1lYblZWMW10eHF5MEtObnhIQVd1MDVDbFdablRhbGovc1hPRlRXN1NDNUZieW0xSk5RS1ErWURXUWVDWmxidzBYZWhRV255dEoxRjJVQXZESU1YMURnTE96dVcxT2oxVzJFUUhEZGxHbTZIc3FndjFaN2pUblpSR05LYWoxWDFsYllaWmpKVTAzajJJUDFlSW44OWxUSlJkTXdFdENMZDZzZmtJWXRobjdyaFVyZ3dJMjlkTldycDBSKzBpenJBQmdFZ25ibXVrODFOc3pNMXZnY2ZlK08yalV3VWJ0dUtsOHdlT3lXbGxvUmFZUW4zVURKMXBoR2RiRW5ac1JlV01Va0d6c2lMWHQxUkJYN3laNkpRdy9qVnRaMzFqRDJpMEZBcWh6Y1Y1RXFSMWdnM3JJVE1LcmVUcWtYWDlORWFxZHBkSlpTK0p3RFJPVVVEZGRUaldhZ1VZUWVjYnJoMExzeklXNDhabENvZVN3WkFCaTFWUnQ1ZG5wQitSeFdZN3E2VFVxYmJtZkdjcVFicE81WkhHenBTSnBDeWRrbW8xYUhwU2pnV1RLLzY2TnZLcGVFUnpPa3Myblh2eFFzMWpDMW9PNnRiblJvT3V1RXl5WnZhQjgvdjNUWk1NVUNZazRRVGF3MXBpbEJvUVEvajVBZTg1V1lpdHU1YlRDWks1VWxBTzRWWkYrU2hUSlJkVDR3TURzeFVIakNjL25hQ2tIYXNUbHZiTTloMXN0VnBkb1orZUpPbEx5NUcwTURZaXR6Tkh6dVdVa3RDclZCdVN6SkZyeDVvL2o3NjVnZ0ZxdHR5MDY1YmMxSUI2NjlvdEoyaDNJN0tEOGZtMEduaFRlMGlWWng5NWtnVjM3YzFaMmpXcENwZjN2ZTFyNG1NUDZuL1Y2elZaNHkwV0pUOExmYW1zeGlYaUFyTjJuTHBIWmdwaTQ0cnhQY2R1NlVRYTdqamRkUFhka25rOEx4RVhTZkZUN096Rm9DNS84a0VNRkZDZndRZUtTVCs1SlJhNG1wRjNtN0Y0TVNlRkR6MHBFSDNWT0g0dldWbndZN00za21WYkppWkEva2JsSXc5bHExSUdKdkpLdnlwSkNsZDZqV0hudkpPRXFPdXc0ZFMxSFg0MGsvTDYrTWdWbHRSbFV2elFWSlNrMXNnUk5KWHRQYUhFemUrTEhCZ0p1bkNVM0dEaWhiWXRiT1o3RHJaMWpRN082U09FUGZscmtVREV3YXdiTFFkM1c1bXJsaEtMWEcxZ3NiclZXemZtRnpvazRoTFNSUENqVFFoSEFWWTk3bjJQSFpHdG5Oc09FcGgvS25rSlFtdnM2MlFBdEd6YjFKWHk1a1hEVWQ2c3NTK2tqYUZPdTNpNWNPaDR0OHV6NGM0dEJQQ09UQlRFWFd1R2oyMFRTblIxYlRIUFhxbWJmYTZUclkwemM3ZUp6ditieXBJclB2Q0E5K1lheFVZTzVoU1MxeXRodGJxcTJWdmxUMzB0S1E0U0JQQVVRRFltYlplVGVDeE0zaGVZblpHbm5kL2FyRFlrTUJGejgzMlpVemVUbzkwUlhhQUh0TzNyMFNwK01CakV4Y0t3MGVZYXZSNUdiWVNNRG93aCt4T1pQTys0VEozNTdPWjdEclo0RFE3Q3hjV0JNNkJpd3pGRGpmOWg5ZkprbGtwS2JYRTFlcFEreFZwNjJ3dHF6ejBzRkh6WEZhOGZtZVJ2Ky96Ym5uc2pMcmYwbnlxQUh6OXFVSHdRV1NIMTUrbnlnZGpyYkNYTFA1WWxsb1BaTW9HWERHcldabFM4a2FOc0NvdHhjMTI5VVNNSEpqRHBEVTEvTngxcW1vNGZwQ1o3RHJaM2pRN0MxNE1sY1hSYWtteUl2YWFpU0hNZ1cvOGlMK1d1RnExakg4VGx2V0t4VDVKMzRYY1ZnRTM2RGpDOXNlME14cjdrM2JtVDBWMXo5VlJuaTZpR2MvTzVxMlZJdG52aGlzMTdjODhoOWZ4UW5uaVhSSXdEMEY2V1V6RzhRTUNCK2FJOHJvME5Mdnp5QTl5eTJKTVFsbFJOK2p3M0w4OFhTZGJrV3Bud1craTFYUWR1KzJGOCtnQjFNZlNqSGgrcnJpM2xwaGEwZjU0VjNKMWpzK1FscUR2K0xwQWllUjAxdnFZNjBiUy9HUEZJZkpSSStaUERZdjl5dk9FVzZoQy9iSG1zNkUxUmRQbTExVkc4RXdjZEJoeGlvVk9VRXRGcG90ZFZkeEI2c0FzQlZ6OFc2Z3lYcW5yaTVuSnJwUE5UN2V6NE84MVEyVHNFU2NrNnQwSyt1WTB0MWcvR3lwZkxURzFvdFhoanFTQWgzalRFQ01VcDI5YmV6bW5JRVhhNHFGSmc1MGxWYzJ6YmlTZndWYUN6SjhxaS8wNHBBalh0NGNlb3pHc1ZLaHZTVVhmbGpOSGJyTEV1cjBwVlZSbDdwQXJXVXN4aHZHUkQxd2NtRFhYZi93eFZHcVBXTFFKdUtHemlVekU5bTlPcGdYU0plbzYyWVFSZGhiVS9nQjluaGhjYTFnUTlaeVZsSVZHZ2FDbmxwaGFrV3VQRm1GMGRST0hvakg2Wm5KNGpTanB0MiszWm41TXZ6NVZ2MlY0b0kvcG9RVi9xaTcyWVJBaDBra3VxblFSRTJqYVkxbmZJMVkzUEVvd0JHRm9OZTMxc3ovTWZ2OXNBUEhpcTcwWSszR2pPRm0zeFNjeUIyYUx6MWRRNjIwcmpvWEtyaFZ0em1MWHlmYU5zak1jRXRXVHc5NGNSdHVobzNrV1ZJWDZQbEZMVEsxbzZsQjFuTVJHUkVxMzZVZWV3VUR0clFmdmFZZWwyT3E3Wno2amxkeU9Ma0RQRU5GODQwMnRmYWN1QjAwRzBmNm9JVnFWcGIrd01OY1ExUjJiYUJqYXQ1MC9Nay81eWxFOGNSM0U2QlBSSmtqaXE3MUVvZkVTcnJqR1FrUU96RGFYUTNjQ2M1L1huODJ1azgwZmJXZDB3QmgvNHF5ejRadFZJbllGK3o1ZVMweXRzQlhTRHZpK3h6WnNLVWVld1dCOHNBWnhLcXFtU2EwTUhqdWpsZHhkWFlCTUo5dy8rVkpYamVIQ2lqRjBZODdVajNvWUZyRVEvWVdGdVVEaWpQS1VrM2loQzJuYTE0cnk4ZXVHWWVjUEVjRTlmMWJlMUs1d2hna2lkMkJHL0g4b25nQmxVNFZ4UnhOMlRIUTJ1MDYyejI5bnEwZXErUU9qNGxGU2pWNkpXVStxUXBpYnIrOVRhNG1wRlhwSDcxaWl3NXExbjZQcWZQU3d5VVMzaDZLRlAxMTdYcUR4ODhEa1JTR2ZuYldkVWJnakluK2dMM1hObW9rYXRQZkE1aVc1QjR6WFNYOWhZUzZRSkV3ZytlSXJ5bjhLQmYzWDJiRmg1dzNSWkp4WTdYbExaaWVlSktkZkIrWUF1NHp3akFPc1VLODlCTUN5amswRnM5bDFzbjFlTzdzbTlJSHFNRDZmTGRQNG5QQkdLTFR5OUgxNkxURzFRZ2VvL1RGczR3SFZUMnNlTHozTkJucVFVRkxwdS92aGlwYlQ2MS9hcG1JK080TW1iV2dXMkh4RTA0MHZkYzNhZnZSSmtla0VPdVFiMFgvWkNodU85QmNXNWlJU2EzVWJabmcrNUdBSUNvUm9jMm1KV29DRElUbDBXaGltdXpCanRhSUhFbWRsUU91UVBjTm9OcnRPdHM5clo0QnVVK2F2MnpNQXBaM1FoNHN3dzl5VEJZcmYwbXVKcVJWR2VMWGN3d2hJaTdZdTFlNmw3MEtCMGtYUzd4dUdSVTZjVmpTUEtkRm5aeGhWck1lbVcxSTVmS2xybGtGMlFnd0h6dEtvRmRaQjlkaFgyK0tPOUdaeXJkbXVBRzY3UnBvNjdDV2JuWmMzN0RuamNXSGVSMTJLcVRPQjBkbUl5c0M5YTVXemttWFE1WGw1dWs2Szc3TXpHbEdWR2ExSG14SFQ3c1lPd3RCOFZ6ZE0vdGloRWJYRTFBckRIaGtYWGVnWmtxeHpJNW9xa2xKMmtodktrREQ2bVhQTy9XQXBaaVpaaTdyY1oyZFlEWnR5RUR0YXhQcFMxeXpud240NDdlM2I2ek5yKzJZSkZUVFFHdXM2VE9wYnZhcEZucXdHTFI4MTdWdkNaQWViOFJVUGZSRENQbDd0bWJYemlwT0JjdmFpZWphN1RnTG9zek5hVmR6UytSc08xRmREdHdoSzBNcXQxRFdpbHBoYVlWV3Zhb056YXhPMURnNGl4M3BTeXI1dEV3bjVZTEhiSmhGOGpUNkU2MkgvZkJiVXJYSm1pUEdrcnBtTkpKd0JFSklHQmpWR1FQOW96WjI0Rm0wdkMzTDNBZitXVzZwUjFTSlBzbDFIRmZaVTR0YVdMeGF0NUIwYUYrYTI2WkpGYThBQ3hSVUxMam9OY0hNZGxyVEd2SlJkSjF2aHN6TmFWUnpJL0k0T1JRbkRoM1NIaHNhM0VMTDgrTGNSdGNUVnl0U0dQcnVOS2hwNzBRTVpCN0k2STJYVDJLUkhGTWg5WkNXalp4V0hZQmlac204K0MvQzQ4bzRpMjlkRzRFbkZIS2VWb1JQdFBleEgxQ0x3RkNkMW40L1pHZTFUYnFqTThJNWQ2WmFUVURhQ1JwZzlVemxtZ05RTUpKS1ZDL01nR2hzcGIwRi9MalVzMlhXMHFEbUxYU2NSd2VBSmxZMWQySDNwald0TGZmOUdsbWtlVUVDNkkyUmFzVnQ2TFFtMUdxajlHYzJCQi9BSDB6VGtwUWVwWHZMNnhMSU1CdGx6VnM4MmQ4UHkxaFNIdVhNalRLTmhKUnhlS05ZU0Q2SkVYeXJzYkZmbUJvTUl3eGZNMXIvV3VLc3k3WHMvbktKTkNnMUE3cW9jOVNkN3lSRGtEMkdKcHB1Um45cWhRSmU0d2xLdUEzTmYvRlZGMFhISGk2R0JOZnA0NHoxVjBITjNlRjZhcmxNTjhkblpramc3a1BtTHpvaURqWmswd09SV1hURWMrNTVlUzBLdGhrSXV1RWcvZG1CaXBPcGVlcXd1OUpMWEowbmQyQUd5YTAzMTlkVmdPUnBQeUU0VkhSWlhTb002ZWlPQlplT3VLcEJNaFowcGo4MnFIT2FScEtiK0JUMTZLUTUwdDd3OFVUSUdFR2M5RlhwV2JZcnk0VDZxVUZLVjVJWlI0VmFDaFFQelVJOVJLN0YyOWRSQVJneG1zK3NVTkQ0N1d6V2o1MzVzWTdBdk4wclJNWlppVXVpZVhnc2M5aTVIYk52RGhEWHhrK0VLcWtzOTU2VW5ReVNIYU5yVnQzczJuTkRrLzhTMG95TWVLRDFObU9GMWFOUWRyM1c4TlVvY1dQTkFNaFZHcFVic1o5UnE4SGZWaEZaclBpRTUyN2ZQTjBIenRKVlM2eU5CRVVmcHkycWNzWXFWQ2c1UWd4cERTakVLVCtKM0V5d2NtT2ZrWDFnRXdlL0d0R2xneHF6d0ViVVo3RG9GamMvT2d2bzdaZlpxUXg4UVJ5a3R1ZkpCUnlrT2hlK3B0U1RVQ2o2K0xhcW05dzFNZFR2WU1kK2dXSnorMlkvL3V6cXBxUGpULy9aZmIxTUJ6M1VpeUVUTjFaWm05VVhhdDYzZStmNEd5RThmdWJNWC9QczdyeUZXZis3TzN3a0xmMWFXKzEvYWppZzVrUW83RzBUTHl0V21uSUtER3Q1TUJYT2NRNXdscGZyeWE2a1dJZDY4UXlWd2ZlbjdtMkdDZU9yT0o2TVUvRjdSczZST0toZWdPamJLc1ZEVTYyR1BxSmk4T3pEWG1tK0xrdDl2alZGaFNvTTZrNjdaN2Jxb2ZlVGMybE5CYzMvbTdEaU0xTnJ1dUJwY1AvMUFkUFd0RGIraHl4ZEtyU1dwVnAxd3BGdEd0OUNLUk01a2NmbzJsRWRkT3ltaXJNZVdTMnROY2ZxZVgvNFB2eVZlQndKNjhDZTZqdkdrazd6azh1ckRRdnpBZi8vY2Y1VC9aYWE0eDFQeHZmKzF4cHRnVlorcjYya3h3TCtEM3Y4dnYveTVkbXd3RDNsMFZEVzdrcVZPc0oxdnc2b21IeVUzMVhwRFJjcmRoNjVyS1dMbXd2eWo0cThEa3RxUGlQdTRXUmNHemUwbzJpYUI1TFZqbGJDRExrOXMwaTlGMTZrV2VPMnNWci8vQlJUNDhZSDRHNnBjZE45WFlPRHVZdWFXR3l1V1drdFNyUllGTFA5WEd4Z1huOEcyNTczZkNQbkg2US9Gb3pjZmY4YzdubDlCMmVBQUFBblhTVVJCVkh6ODBZWm41b2hFU2t5VjExcGhrNzZYc2hmQjRDM3ZlUEt4Ui9FMDBNbnBvK0FGVm1vYkF4T2o2K2NqUHVvM2xycUtjUWt2Vk45c09FdkI2ODJROU5zVWtYWHZuRktOanorcUYxQ2RVMVFiTlNKcUpSVStqSGxLTEFhRmdsQndPVDhYSW5lSWVyNlZUUXptSHdJa2orRmdjOHVoeEk1TWJWaG50K3RVaTcxMkZpeTJ4T25qVUpadlZzWGt2UjRxVFBTekZjdkxIMDJyeGFOV3Z5UkVVNURpMWVyNDYraURxSzQwK2hHU3JNVzNmdmg3OHJlZlB2V0pFU1FxNi9PZmJ0eDg1RmpGMU4xTkRaL1hmKzU1Y2ZON2ZsZ1ZvUHZLNzZDTzM3WlQ4b1hyYW4yVmp5eTFOTGx0TVpaVWNyVjllOGM0eko5L3ZvRnZzTWZybTh1MUhJN3poQzVjZ3E1VGJmYmJHVFRqTWZHR1I3WlVLWG0vcG8vdnU3R2RlcXpnbUZGL0xWZ2I3aVFZZk9udHA2OFBGeGxyN3pyN0JaV2JRcSt5ZmZkR1ZmcmxZejZoTkRoQjVmcXFvZ3JvNUtEOC9qb1NwdVUxbHJGZzd1WmJEby9Gc3lLRUttZVRZbWYrZXJyUzJ4aSt2TC9yTDFNK3RYSzFza1hxNnhXYW5UcmQ0ZXN4ZDNocGFYRnVxQThxeWpMek95N0hndm5RdDJOTmwyY3NudW5rRjV1VHk4N3F0NVd3OExSdnFuRFY5OHJWeWhhd08vSVkyeTQ1UGVGNW9jZTNhb1M2QWp1TE9aS0xNb1lyZU5ORE94Yk16WHg3L0xGNGVtU1ppcVE4ZHJhb2w0M1ZQTENmQWtEbGFtWFhzeHh6T05wNTB4cmU5NnB5Q1dtN3NETjFubDZDRFpIQ1IzdmdZVEVPekN2YURlSmg0RWthaDZlSGJEcVM4dGpaKzE3Uk11UHd2cUp6VHMxU0J5cFhLODBaZ2J5ZGE5TmVWTGhkOVo3eUJIWlcwUlNKclo1djd6Z096RmZoT3M1empjTXpENzl6TFp2SHpnWjYyVWpEV0VVZGxXeHQ1V3JsVk5IT3QxaHhhQzhtVWt1K2VGSlNrRVBZMmIyU1BJTGcxeDZGUHN6NzNJMWdQUWJNM2J4SGVHUHdMTjJvU1RISVlXZUwxdE5RT0lHcGFPR1JhRmoxYXVWVWtidDNIZXFMaUN4VlBxUU5ZR2ViWlp1Q1oxK3d4OXRQbVpUR2dMbWZkOFFiZzJmWlJrMk1Qb2VkN2Fzald4S21zdWU5RXkyclhxMmNLaWJNM3Ftcm1raTNjaGRwRTNaMnQ2eHdjS1pnNE8xNW5pSW16dGt3MTFKbXduUzVzbm1tMDE1MHp2aDJWbXR1V01JMmNxTmtFWThNVnE5V2JuWE5yN3Z4cVkvMXZUdWdNbUxEek1wditUcWhuZFdqSjArVDBtVEN2SlIvaDUvSk15bkd0S1NNYjJjdk9pTVgzaWlaVUJPcVZ5dFgwSlB5S3VZeW5IQnNwZklWT24weG9yenQ5c04zbzFKOWhwa3c3M3VlUnNpQU1wTm5CdjBGWm85clo2c2Z4WEw4U0FuNm9hK2dwejd4QVJXdDhsNjlXc1drdXlvMllpblRIVjBvdjVXS05aQ2VseTQvU3NMT0h1SVJ4VFIzV0NiTUxmVndZMHk2RWRGTW5pTm9MemhyVER1amwvQnc3VVhTZHNOSVphOVdPQkJVcjFZT2UwU2FGUjNSeHZsT0tONkx2ZEZldmhwNnlhNDhCajF4dG9jM2RuYlM1TW1BK2RySWw4MVNtR2J3VEtHYWh1U3g3ZXptT3g1dnFCNS9RZUJoOWljZmEreE9vQVhWcTFWY3lQMjhmcTQ0ZzNPTjExSWNlaVdFb01ldWJKOVdNVmJkTXl4djJ1bWIzUXlZdTBXVzd4azhpelhrWEtqR3RMTnprWVVxbVlCYXhXVmZGRS9FazZZNFB1ZDkzcUtVd1BUWTFjTlNISWg0VVh4YjhQNFJSMkFaTU5mTmF6L2ppNUxCYzN4RzUxNXkydXhzQW1xVndQUXcvODRnd2VQY0V0cmxWM2h4V2RkaFp4dnh4UHp4OTRxeitBdlNEcE9STUYvTjl3eXhZanlTcHlvMGpmZHBzN01KcUZVQzlxWEtENlFTVlZTV2NIM0VqRkcwa2lIc2JMY29zVVgzRTgyL0tEZnNWcUlKam9UNU1QNzNLSVp1Vkdna3oxR0VGNTAzWlhZMkNiVktRdHgva0V5YjBwUk8rZ2Fvc01ROTJObE9ZZXJ4Q1VmQXZGalUwRWZ3SEYrd0N5ZzVaWFkyQ2JWS29ucjlYTlFzV1cvK2xOVml5NnZSRmJWaFovcUlablRSVXJrallCNFdYUTJQNEZsSzFra1RkOHNmV0ZZbzRrVFV5aU5mSiszVXgxUDJRcE82UmJ3RldSSzNZR2RaWlNySlQ0VzVWdHk1azhxekVva254bVQ5ZkJBZlUvNkpxSlduN3BXblBZblRtUFRCVVJ1Z29nSTNSdjdYUjFHdUhycFVtR3V4enhsNWFOT1NVbm1tRVV4SCt1TFBUb2Nja1JRVFVhdHBhdUEweUlMdlFvaEpUSlBUMERhV2dSR1lGZ1RvbzhuNTNyQ2NGc2xaRGtiZzhpQkF6OURkdXp6aXNxU013S1ZFZ1A0blkvTlNTczVDTXdLWEJ3SDZmN1c3bDBkY2xwUVJ1SlFJMEdOWFc1ZFNjaGFhRWJnOENPekR6cll2ajdnc0tTTndLUkhvVlBHVzU2VnNPUXZOQ0p3ZkF2MHEzdkk4UDNHNUprYmdVaUtBeDY3S3YrVjVLVnZPUWpNQzU0Y0F0bWNUKzViMCtiV0NhMklFcGhvQit0clY1bFJMeU1JeEFwY2ZBZnFUUVQ0K3Uvejl5QzJZYmdUb1R3YVBwMXRFbG80UnVQUUk0Sy9ycHVwZHFFc1BLRGVBRWZBZ2dNZEJMdE4zaUR3dDRDUkdZUG9SR0xwL1FmTHM4NDAzdjJmNnBXWUpHWUhMaFVEUGVmdnMvZUwwcVpaNDArVnFBa3ZMQ0V3OUFtMzc3Yk8xeHYydElQaTc0cTFUTHpZTHlBaGNLZ1Nhd3ZvazVFbms0aCtjeS9ldkxoVk1MQ3dqVUFvQnVCc1BGSU1WRVgzZmJWbDhsMHJpT3lQQUNKUkhBUDk0YkNhdkJmbW5MVFYyUVpaSGxqa3dBZ1lCK2pxSWpzbGxZeEQwK2VoYWc4SUJScUE4QXZnNmlQbTBmVXY5bzkyUUgza3NEeTF6WUFRMEF2ZzZ5QityQ0w0d0o0UHIvS1U1QlFyZkdZRUtFT2hhYjhWYzFkdXlCZWtRcWFBQ1pzRUlNQUxCaWZWV3pMeFEvMGF6WE1FZlZqTzRqQUFqb0JEb1cyNzlmYUgrb0FvUDhlK3BFbnhuQkJpQnNnZzBMWXZxNk8vc3d3dTVWWll6MHpNQ2pJQkVBSDlpY2FiQjZHdVhDT3pzUUNkemdCRmdCTW9oc0doLzdHcWc3UXd2V2UrV1k4elVqQUFqb0JIQVJzejh4MkpMZi9nS2RyYXB5M0NBRVdBRXlpRndSWWhibWtQVHRqT1RyUE01d0Fnd0FvVVFHTnAvQVcvc0RNdEp0ck5DZ0RJUkkrQkJvRzEvVzcraG53S0JuVzE0U25NU0k4QUlGRUdnb1krbVFXM2VyR1k3S3dJbTB6QUNmZ1R3UktQMWw3a213bmJteDR0VEdZRWlDTURkYU8zREd0b1B3blpXQkUybVlRUmNCRmFmZjMyWUFIZmpsc2x4N015eVAxT0NRNHdBSXpBK0FoMTVEdDNSVCtnVHJmRTM4dm5aK0ZoeVNVWWdEUUVodDJJdGUzc1c4RGwxR2w2Y3pnZ1VRSUErQ2tLUDVzTU5zbW1SMS9tNUt3c05EaklDSlJHQW15TjhrUlBmMWoreVdEblBFZCsxTWpqSUNEQUMrUkdnK1l5K1Z0RFJMNXlGUEhvNnV1VDRSL0pYd0JTTUFDTVFCSTNRbjE5ck9NdkdZS2kvVnNEdmViS1dNQUxsRVRnVUwyMEh3Wnc0dzYrNXJ1aFBYODJKVTVQTUlVYUFFU2lFd01JcDdjdnFzYzhPbTYrQ1hORXpXeUgyVE1RSU1BSkFvTlo2ZVMvNG9yanZUR2NCM0NNU0hmNnVIS3NKSTFBQkFuQjBQQ1pPZDJLY211b3p4Q2YyNDFpeFFoeGxCQmlCY1JGNDdqWGlyMnpGQy9mRTdTaHBZRCtPRlMvRmNVYUFFU2lEd0x6NFdraStZbjJjcHd3L3BtVUVHSUVrQXF2UzRiaGdmVFFrV1lwVEdBRkdvQlFDbmVnelY3eHNMSVVpRXpNQ294RlliSnh0QmNGSHhGOFlYWXh6R1FGR29Bd0NIOFQvd0w5ZGZOMzE5NWRoeUxTTUFDT1FST0M1NXhzM1A4Tm1sZ1NHVS93SS9IOEh0ckxtemprOFZRQUFBQUJKUlU1RXJrSmdnZz09Igp9Cg=="/>
    </extobj>
    <extobj name="334E55B0-647D-440b-865C-3EC943EB4CBC-19">
      <extobjdata type="334E55B0-647D-440b-865C-3EC943EB4CBC" data="ewoJIkltZ1NldHRpbmdKc29uIiA6ICJ7XCJkcGlcIjpcIjYwMFwiLFwiZm9ybWF0XCI6XCJQTkdcIixcInRyYW5zcGFyZW50XCI6dHJ1ZSxcImF1dG9cIjpmYWxzZX0iLAoJIkxhdGV4IiA6ICJYRnNnVUNoY2JXRjBhSEp0ZTJOb2IyOXpaVndnUVgwcENqMWNhVzUwWHpCZVhHbHVablI1Q2x4MGFHVjBZU0J6WG5zdFhIUm9aWFJoTFRGOUNseGxlSEFvTFhOZWV5MWNkR2hsZEdGOUtRcGNaWGh3WEd4bFpuUmJMVnhtY21GamUySmZRbDVjZEdobGRHRjllMkpmUVY1Y2RHaGxkR0Y5YzE1N0xWeDBhR1YwWVgxY2NtbG5hSFJkWkhNZ1hGMD0iLAoJIkxhdGV4SW1nQmFzZTY0IiA6ICJpVkJPUncwS0dnb0FBQUFOU1VoRVVnQUFCK2NBQUFEVUJBTUFBQUM4RHp5VEFBQUFNRkJNVkVYLy8vOEFBQUFBQUFBQUFBQUFBQUFBQUFBQUFBQUFBQUFBQUFBQUFBQUFBQUFBQUFBQUFBQUFBQUFBQUFBQUFBQXYzYUI3QUFBQUQzUlNUbE1BdSsvZHpabFVFR2FKcXlKMk1rUWY3cDZUQUFBQUNYQklXWE1BQUE3RUFBQU94QUdWS3c0YkFBQWdBRWxFUVZSNEFlMTlmNHhreVYzZm01M1o2Wm1kblpuRnh2d0lDajNzbnJFeGhONjl0ZUxJRG43RDNWbUE1YVFYd1VGa0srNEpCS0djRk0zNGJEam43cHdlakJFS2lqS0xFVVEyd1QzMlhRZ0NsSjZjWTRPRFRZOElpblZHcE1jUWpFUVM5ZGdYRUlhSTJaM2REYmQzbkN1ZnFsYy8rOVhyZnYxZTFadnB2WHAvZE5lckg5OXZmYjlWbjZwdi9YeFJGSjZnZ2FBQjF4cDRKTDV5NkpwbW9CYzBFRFJ3ZWpYd0hMa1N2M0I2c3hkeUZqUVFOT0JZQTR2a202TkZjc0V4MVVBdWFDQm80TlJxb0h0cks0cWF6NS9hL0lXTUJRMEVEYmpWd0RueUJoRGNQSFpMTlZBTEdnZ2FPTFVhNkpJRDVLMU50azl0RGtQR2dnYUNCcWdHUHZVaCtSeVcwY2dDK1J1YS9BeFpMME1sSSsyek1vOGZ5b2dSdklNR2dnYnlhdUNJeU9kNjNqUzJlRDF5bVhyUGtSdTIwSkorc2N3aktVa3BKQThhQ0Jwd0JmcVlIRkpsenBDWFBPZzBnTjZEVWt1US9LMHRNL0VUUSs5bWFIZzdiUnB3QlBwRmNwdEpOa1ArbndjSkErZzlLTFV3eVVjYWhIejlua3BPMzc4dXdGNHA1TlM3SElHK3pjRStsd3p0SFlzZFFPOVlvV1hJUGNmR1dyYzNPSTNhNzdEMzE1WWhHZEpXcTRFajhoVVhERnZKa0I0VGVYZGRrTXVnY1phRU1YMkdhaXJ6Umhra3FPZDkvUStSV3gvWmUrSURZVmRXWlNWUW5wRWIwQzhSc3MveXNrcDhic1FOb0M5ZjRHVXAxTWt2N3kzOUJIQ2Z0TzR6NU9ZQkpmbUh0NE9CWDFhMWxhVXZCUHIzL2ZtekgzM2dqcGJIYzRRa0RYK2I2TjVhRENmT0FIb25hcHlVeVB3cmpuOUZwRGxMdm9FNi93ZFF2NHYvcGZqNEVIOTQ2aGVTLy9CNytqVlFCUFNBT0I2OVMyL3plYnhvRU16NzAxL21FK1p3cVVrYVJJelpOOWwyakNqcUUwSzNYVDlEdnBaVG0rRUJFeElQMFU5QUEwVkFmNGFCWHQ5bDN5ZjhyZTlsSWsvb0pmVDBRaE5WL2o5RDNoVDlDZXZYd1RXK25yQ2VSeDI0SEMwMXBHRlhhMVNacDhDcmpBYUtnSDdsMlE5amxlWkZqVzBzM3JwZWx1d0Vwd0I2b1lrSy81Y2FkT2gybEJoMkN6Y0Y1MDFDYmthem9pMkE3ODYrQ0FyL3Axd0RSVUFQa2REWnJ5bkpsdVZiN0dZeFFKRTJYQUgwaGpxcWVXR3JzUCtaa0EzS2JrNDI5YlNyMyszS05nQlY0bkkxK1FsY1NtdWdJT2hYaWI1R0F6QmVZem1wRWZMWHBiT1VUU0NBUGxzMzNrTDZhTjVScnNtaGl2WUZ5UWRkL1czeUd2a2FuWlh0Z2ZJTHJsT3BnWUtnNzRrMU9pYlVMTzhIb2hYWjVYc1JOb0RlaTFwSEVtV3JzVkI4Y3FqaWFGdEdQZysvWk85MTRyV2lUL0xJV01GeENqVlFFUFE3aEoyazVRSzFhZm56WjllamtBSDBIcFdiUVJwTE5WczRSOFhuY0hZT1ZMU1d1WUt6RktidmxXNU90NnNnNkx2RzNqaFlldkxaOWlodkFMMUg1V2FRSG1DK0R1ZW9lRS9mMzFQUnFLZjJHc21KZkJVbHVFNmxCZ3FDUHFaVlFUNGRjdWN4OXZRTUEwQ0d1M0lFMEx2U1pINDZkYm9lUTAzNXl6U05EdnBhVFBReGZjM25CdXo4K1EweHgydWdHT2d4c2FNYmMwMnhVTGRKdkY2WEZVQS92a0FkeDhDUS9nWklBdDhIbExKdTNrY3RUT1VwZHNHOFY3bzQ1YTVpb01kNmpYNXVYaTdhZDcxdXlJc0M2Q3V2VFZENUJUQmRmUERYR0d0dElpK2lpM2JhT3YyQ2owUFZsY3Y3c21CWURQU29DclQ5RjQrY3MyK0lUVG9peE8xL0FMMWJmZWFndGtySXRoWnRsYllBL0htVW9LdFhBL2tabjR1MWdtZjRkNkdCWXFESEdwMVcrakQya3pkczBsbDNrYWtzR2dIMFdacng1bzlsbWkyTnVJN3M1cDBGZFBYWFJlaGdYYmpDL3luWFFESFF0NDFsZW1BOUtmcEZzMXR3TG5vQXZYT1ZqaVBZSkxmMEtQTnF0bTRHRFh4SG5MQkZuT2FHSGpHNFQ3RUdpb0VlYTNRSFNpaHN5ZGxnYjdOKzUvSENtRjdwdkNJWGpEaGx3Rk9lc1N6M09rN1owZk9XMTVLc25EVWFoNHF5RjlnVTBrQXgwTGVNWlhyTTZDUlZvV2ZNNlJmS3o4aEVvYWNmcVI0UGdURGd6WnVWanQ3QXVYeWNmZHdFRmVIbUZ2TnBtZkU4NUNXUWRLV0JZcUNQOWJVYXV2bDJMeWw0L1JTT3F4eHFkQUxvTldWVTRzUUdISE4rYnZGV1V0UUxDZGpwQWo0N2F2K2NHdHhYa3JIQXBJUUdDb0VlUnA4YTIwVVJ4dlJKYSs5NVNCL00reElGWFN3cEp1OHZteWxiYklQR2ZNeEIvaVdnL3RYLy9Bcy9OelFLTU5PRXQ5T2xnVUtnaHoydkczTm9BNWhRNTgxSkgvZUNocDdldlU1SFU4VGt6VFV6eGlLNTgyKys4RGxDdm9ON2Q0QjYrdXliMGNMYktkWkFJZEFEZkRkMG1Uam8yOGFPSFQyQ0kzY0F2U05GNWliVEZYTzBLZ1c5SG8rUXZ5czhsajdJM3I5QnZJZi8wNitCUXFESE12MTZWUHZaK01wbkV3R2JpWG5mOHQzY0I5QlhYYUVBNkdUa3BqSCsxSVBIVjM1UGUvL3lnK1QxK3JzV0ZKeW5VZ09GUU4vR3d2eFNsMXdVdGwrZlRlUXRHN043UHFRTm9QZWgxUkUwTVVVYlZ1Skc2R2RLZ3dxQkhpTzl3NTNqejBhZkpzZDdWTzRlMjZvNXl4WnhmT29oZ042bmRpMjBvZkRrYmp4TFdQQ2FXZzBVQW4yTGtNZVpLWDlFdnBWS1BzTm1lN3IwVG1TdlR3QzlWL1dtaWVNcXhIQWZUbG90MCs1VENQUXh1VlgvZGlyNVRHTFJMOUhGM0xQZU8vcXdaRmQxYlJ2STg1TlZjdzc4UEdxZ0NPaXhSTWUrZEJEUmJUbjdOSFA5bTFHdDZmL0RScUduOTFnVGJLVDc4dnlrTFRUNFRha0dpb0NlSHFSbVpuMFVOWkk5ZUF2a2RiSHZxWHNvT0lDKzRscFdGK2NuSytZYjJIblZRQkhRQTN2aXZFM003OHo1Ukh3Zlg3N3ptZHNBZXAvYXRkQkdRViszZUFldjZkWkFFZEJqbVY3Y2tsSTM3c3J6cllvQWV0OGFOdWxqOU1iUFQ1cis0VzI2TlZBRTlHMTFTMUxMODJGYVU3a0I5S1krZkwvaGZvVDAzaHpmVEFOOTd4b29BbnE2VE04emhtMmFiS1hlZXo0Wmd3RDZhdlFzdU9DNmU2OFhuUW8rNGI5YURSUUJmVXVkcHE4ci9GZVE3d0Q2Q3BTc3NWakZhWG50TlRqdkVRMFVBYjEybWo2dWROQVhRRjl0clRzeWJ6cXZsbm5nNWswREJVQ3ZuNmJIb0cvYlc5NVNoQVBvVXlyeDZ0RXhqMUI3NVJXSVY2ZUJBcURYVHRQVGJUcUgxV1UyZ0w0NlhWTk96ZUY3YzZwbEg3aDUwa0FCMEFONjRnb2x1cVp6NENsbkZySUI5QmFsZVBSQzZhNTVKQjlJbjVBR0NvQWVjN3FYZVc0clh0TUpvSyswbHRBbS9VS2xIQU96U2pSUUFQU1kwNzNHODBZL1hGcEpOaE1tQWZRVktodmZza0xwWHErVW80M1pJL0dWUTV2L1BlTTMvOVN0YjZ4V21BS2d4NXp1QnM4azhLOTl3dEJ4enRPbEhVRHZXTVdqeWRHdjBtK01qdUkvOURseUpiNm56L1N2eExkZXFYMFMwTDlHbzZnQTZQdHFRMDdQNDVxT3BiUUQ2S3VvRXBJSG12UXF0MTVKdnJwamtYd3pMSTU4ZzR6MzZMZTE2a1JPdGJ0enZCRjFxdDBPVVFEMGRiVk5DL2gvaVd0MHVZRXF3cC9qMS85Q2FUM2JTanVBdnJSYUp5RXdRSEZPRXQ5SFhIWXpTelBYVFI0ck1idWQyMGN1UE5JOFI2K2htS3R5NGJ0UVR4K3JiVnBOTmIxTFozMjA1ODVXU1VYWlNqdUF2cVJTSjB1T0p0M2Y0QzFmVmhna29zMDhtNEhuNjJRYVFjL3ErWHkxcXlRRmV2b0d1U3RLRENnWGMzcFI3VE9vSk85NGpENi8vWE9scjFteWxuWUF2VkI4SmYvMTRRL1pWY0xWWU5KbEs4THRzUjFoN2JkL0NwYm1GSUwrSERPVmE5WGVTbFlBOUdxYkZyMU5ZMDhWVWx0Wmc4RC9kUlZRd0dVdDdRRDZBcG9zbmdTbG04dXVMczVoWE1xRkJNZG5jT1A2NktlTHU1eTYwd2o2bmVUdW1VYWxKdFhrb01jdVBMRTNCeDh0MVNkV2o1UTFpRytjaVNQM28wc3JJOVJlMmdIMEdlcnk0bzJ2bGNrWkd5OE14aFB0SlR0QzVzeHZxMWpTZmV6U3J4OE1waEQwUy95SzhXYWxreWVGUUgrRHF4MWQrNHRhQ1hTVTNSL0ZhclpQaTVIYmFTL3RBUHJjQ25RUWtYNmNVcFMwQTNKRlNNVEpKdStaWEkzUE5JSitsbjhmcmw3bHh0WWlTM1pxOG01SDNhWkJpN1RKSmFCdUJCM1MvNEtQdmJRRDZBdXFzMUF5dXZQcWNxR1VyaEl0Y3ROeEpwZlpPSTJnNy9DQlM3M1NEUkdUOS9UaU1reVViSk1jYjJrRnJIY01BMzVQcmhZOGdUT2p0QVBvSjlCaDZhaTQ5TDdpVFNQRFdXNXpzTS9sTXR5bkVQUVlLbTh3b1pzVlhDdXJ0RnNBOUhXeHZyQ2dwdlFvUVN6YXJVdkN2Vkl6ZVJtbEhVQXY5VnVCQTBWWWFWVk1pOVRpbHNZWmJkeVlqaVY4cGhEMFo4Vlh3eG9sNTcyRkR2TDlGd0I5UjR6MEh0VVc3TUFOVzdXdlM2WkhwUTdhWjVSMkFMM1Vid1VPak5BcU5UcFRJaTJKUm1mVm1DOU94ZU1lVXdqNm5qQmhxcldwQ29CK0lHYnZXMnEybnVvZFc3VVB1ZjZqcUdNczVrbnZmSTZzMHE0SzlQTnZ6cGZQRTQvMXpMYkhMSFFCK2oyUDlNZVN4dUpRd3I5TjdveU5IRVYrUWYvRGh6bXlNR21VTHA4SWg1bC9qYVZkZXUya0pJckVMd0I2TWVNSWMvNjdkSmFyYXBtZWZnV2p4TXBqVm1sWEJmb1cvNVNITHQycGRNLzYzTFBkQU9oUFZPcTJxRU9Ea3pmdnp5YWZhbldyRDJCOW5WSEU2aWcza3VNTGJsbFlxUlVBL1FJM3RnYjgyMWFDcnJaTUgyRzU1eVhoUC9sL1ZtbFhCUHB6bGE2ZjVGWlA3ZUdrMzlNUzFHS2oyZFZDeWp0aGJnblFsU2RXaUVLZjhMMUJmV0VGanlUanRhZnZscWpPbWJrR1NyWlpJQno3U2F4MysvODRYS0c5OTVpMHA3VnZxV0YyOUxEbzd5WVp4KzlBaUNOOUpuRmtsWFpGb0srZnp0TmE1eXlIelo3eDk2VmdUTlBtc3Fvbktkako0c2JjK0kyNko3NWtONk9OWENjVFlsUnNmRFVtYWNkaDJtNGtFWmNhT0gvait5blEwMGZQTUtQay9SckdXUzZiYXBrZVIrNTRJMTBvLzFtbFhRM29NNDg4ZmViUG5uMzdnNjh1SkpHTFJHMkJBWTNZc3I5UEJVUFpwUXBSNXZLUitMN3I4bVVDQjJ6ZXRTUjZyR3JXaVBRK2UvcDg1L3hHWk00YU5CQTcySUQrUXg1ajRLOFpsM2tvQXZxbHh1M0Q2UFBrV09TVEU5T1c2VGRUZ1pKaERrZG1hZWNCL2Z2KzdObVBQakJpM3VjVnFNdmFjK2t0UHpxY282NHlXSXdnZXRMZ0pEdS9uZUZXbHVadXM4VFVpU0ZkNmdVVnNjd1FUZEo3UDdsRmNHUjg4Z2VsZlkybDBqWitqNkxpRWZUbnhKQjdGUC9KdzFyQ2xHcXJMd25OODJIKzVOVHlweWdDK3VoeFF2Q0orbTJUaTdaTS8xOEkrUTltNEVSdm1hV2RBL1NJZ2tjL0VXQ3lSZ1VhZnY2ZUdTUHp5b2FUQm4xVExPcnErVjMwdG44Rzg3SmliVlpuT0tuNzQrUzEwWHdoa3dHdHpnYmpocHExbG9PdFI5Qjd1dVFpRnNPV0k5SGxROHhPZHVYTm9ZUmNVUXFCUHZyVUE4ZHZPUnlpTDVmcGEvK0VrRjhiQ3B6b05iTzBjNENlYmlNYmFaYitxN2QvRloyV0pxOTZtRDVQVTdlNVRIS1U5Zm0ycFovL2ZrUWVZVVJNSk9URWtXbHpkWkJPRmY5TjJzK0p6eEg0WFM1TmFaN2MzS0l6UjRlVFUyb2pBK0xaelpIY0graFh4Q0oxamx4TUVFWHZnQlRTWjhXYzNnU1VKb3hhRFBRMkpsaW1md3RnOVBhblkvSzZEVnVFM0g1dFVkVDQzOVZUNVFEOXlyTWZCbzcxWTBBNmdjUk5yWUhYY08rbEQrRGxhN1U0dGNhSTJZaDNuU0RvNmZtWDYxcEd1Yk5uYXduUzBTYjM2UTlyZjNJU1NORm5zNDl6dWJycUlRYWJ5SUI0dG9mQ2JLLytRUC9vMlBQOHR2eU05VXRNeDBSRVZlbVduQXlxUmpKM0IvcFZVVUFBLzhaSW51TUNNMHM3QitoQkc1Mzkya2dXRkQ3N01zWVA0U2cyT2lQeHpJMGFVMkVaNjhSNmVucE41WnJJcGZvLzc2QTdWdFEwVjkzUWtoWXdpZk44Y2pwam9ZaDkzeUYzMkpVc2ovV3NKazRxRy81QTMvUXpjUUxiK0FlWmhFOFlzeWY5V3luUkhIdTRBNzFjcHEvOUtZUXBrODNNMHM0Tit0MlI3TEZBb20wMXc5S2pQZ1crb3dXbHFad2c2RkgxclgxQUkyUGVNWjM1eVh5Z2xpSkd1Y2xrSjhueXNqWm1OU09NZUd1S0VTK21oVWRFazBIZVFMOHd4bktVT1pqUWdXWjhneVZCbDcrbTBwNnhHWFFxMklITEhlaTFaWHBZd2RzbDhwWloydmxBM3g3SEhhYUFYb3RnV0tqdXU2YTVMU0xvVVMzQlByMzZBS0hLcCtLMDQ4ZStwM3R6UnJaL0tnZlpMa3pCN2JQUWZIMjFTVWlPMHJxMlpRc3pMbjN6QnZxMnVoTXV6YldFejZwUU1Ib2hiZUMyWUczYlMvQkpKWFVIK2liNWlxVGVKR1dtbHpKTE94L29BZUk5bVJPYm8yZE83MU83K1VERU96ZDZ6cVpoeFoxSTdQVS9SamIxdGtvd214MDFIaEdSSnY5bkE4N0prNWtwSGhVTERvMXMzUHd3NUJwNjNzU295TzZ2SVhyYXpLZ3N2amZRZDdPbWRrMWhzOTdtNHlIeE1KNWtGWFJWbENkNkliM0d4bjVHRXlwLzdrQ3ZML0QwaE9HaUdLVmRtVVdZTG0yZU9CL29XMEtYYVphSno0NDV2VStIK0xzaTdpQzdkdElvSndmNkpheVNXdTN0ZVdFRkN4SGMvTlBQMjVTdWZIWFJFY1RaTXc5ZE1CcDZXSStCdWUwTFRCUnMyMWhQWk1xS21vVDZBdjF5eVlhZWppYUhuMzJhNWJhNFZucGdhbnFUVy8ySldCNStuWUZlVzZhUElzaTVOamF6V1VWb0tXMU9LeC9vNHhITDlJd1FHT3ZUKzdSUHV5RnlXeC9kcXA4YzZCZkpFZko1VGVSVCs0OXQvYjhXWHN4SjdSL2JhR0lTYXREc2JoSy9xVFE4VE9EelYxTVAyK1FoRDZHZytkbE9FbVZGVFVKOWdYNW10UEUzTEUvcWZmbVZLUUhmdUVWanlYTkVIWE9lY3pZSGVGSmNKdkZ3Qm5xNVRFKzVvL05VdG41V2RyS0swRkxhbkVRdTBLUE5VT3NmVnQ0TnMwa0NQNW5iY2EzNnlZRis5aGJ0TWRZc0F2VzFwUWhMY0VHdlZYQWJvOGV4bEhIaHdsNFNxVG41T0JXOXlBWkxQRHZPY3VQNThBWDZNY1lmNTE3ZzcwallhTEZacnVkTERZNXpaTVFaNkdkMDJ4TUZWbnhPT2J1MGM0RWUzWXZlajZkMVFLZW9MbWplNENlcjk3Z3JHRThPOUlPN05KKzJwclJ0VmhsTnNqTE9BYmk5VklZQTBuYUYvWW96V2hNM0lDakhBOGEvbHhNRHZrQmZWek0rSmZVeGxIeVRLeGdWY2w4UHF1VnM1ZlEwRTdtZGdSNDlnMktNK2xuY05Nd3U3VnlnUjZRMWxST0xpeDRmMjlmOHdVOVdxM2IyMkpPbE9EblFkMTdFaElKMTRISk9kQmlhVE9XZE85REtYNWNqQThXS1ppT1dHczVORW5Vb01STmFZOHBUVVBRRStwcVlqQlI4blAwZjhkN3A3RERJdTU0SDljNUFiMHhHQUZkc01xYVFmckpMT3hmb3NZbDNkeVJmYWlZbmZVZ1NqVTdraWR6MjliVVRDNVdUQTMzamN0UkNSaTE1V2pHbmdTd3hpbmgxd1d5dFNFS1ZCcFBTd3FLS0o3ZjhNT3JhWXJUa2tGNVJ0cm84Z2Y3ODVGbTNaaS90S2E2Z1doMDJnNDdFekdVNmpSTWZaNkR2NjdvQk9yOVNPSHZacFowTDlPMXhsUVIxMGNBT2JRVEVsemxpTVFqTnlQMkpnWDRaeHNrUk1ycGh5WmpvRWkxQnhiMWlNQk9RTFVnRnhzSWhUMXJBOHNQY0RFdDhQbTlQNnduMHM3dy9McWlFRWNuYWZIYXpQMnhlcm5wam1lVEdHZWpyT3N4WHkvUVMyYVdkQy9TYjR6RFFJM0tveVhSQUd3RStDN0E4cnRNOE1kQ2ZSV3RFTTdwcnFVVDFNZWFKSmNsWUx4U0NzV05rYkFKTGhJWTBXMEh0QlV1RTBWNGM5RzA1UmhnZDNkZm1uSUczYm5jMUFUMlVveHVla0hKRzcwREhTRjBrMkJub3RXVXZlc3pDR0RWUG1MSE0wczRGK2p6TDlNS2FaeG5yb1hwZlRySjRkcHkyVHd6MFo3Qm1Edkd0SzE4N0l2c1Q2bmxVZERwcmFEVXJSaVV5d3pER3U4dDlZTHhOZnB0Zk16SHZXM21ya3FlZXZ1V2hTVTNVTXBkTW1weVZnMHVodjRXOHhvMUlNT0cvSzlDaldOY2xhMHhIbGprMGtGbmF1VUNmWjVsZXpDK3hITU1LRmZWcVZUZFhwRGlhNDhSQWY0UjJDanFXNHhBdFQxRXZiMStvSnhyanBudHp4Z3gxeGxDSU1Ma2lsbEV3cFRkNVQ5OW4vTWNhWHpJYm5rQ3Z4aWlTa3lQSCtVUS9hVk1DK0JucSt4MXg1R1JjZ1I2ellkZGx6dDZ0aWx2NlRlRElMTzA4b0lleFpQVGphYjd4VUgvWlJQWG1zWTZzUGFsRzRzUkEzNkw0YWRnN3pObHhFbXNDNUhWaUJWWnFKVythb1hpYnFoOUFFekw1YWs2UGJJUGlySDRhYW9pRCtYcmtRUTNzRXk0bUczZHZTOGtFWHF3ZjhreW94NklYY3NkTXArUUs5UG95ZlEwd090U1pUT2pPTE8wOG9OZldpZXhzNldqMWdoWkVsKzJGR2RyUnpCVXRpbktlR09nYjY4aEVCMW5kVXBrUnJuTUZiR2VSTnV0L0ZhektXR3VnRzBzRENvTlVxZUlzaG1uL0diYi9zSnVHUkRvcTgra1hzQ1l5U0duZTRndHJtcGN6WjUyMmhPY3NyVnJYcUtITytBbENya0NQU2lLcjQ1Y0krVHVDZnBIL3pOTE9BM3JFdVRHU0tWb0ZveDFGQWprbWJtcm1Ta0trOWpPdkpQZjlJeWxhQXZxVjcyOWMrdm9Eazh0N240N3ZHL2FMb3JUdnlzL2VUMTcvemlqNjBqV1ovcjFQTnl4SlpUQjFyTEJlYjRDc2Jodis3QVdENTdSblNaOGVXRTF1a2V0TTZXQkU2QWkxUXplLzN2dlIrUGg3UkppZXhuQXYwU0h2V1Fza2pGakpTKzJ4ejN3Wi9INzVmejYybFE2dC9jd0R4OS81UzJsL3plZUpML3pyRDM5MWpDek5EeGZ0WElIbUttSzFaalJIeXJ4SE1kT3l0R283dGpwY1NneE4xbUpYWUJzRStNdW02aGUraU9waVVUMk5XTEswUjRQK2tmdHYvMGRxRGhxdFpGcjlGT1NIUE5mMHI0MzNQZjVPaHVldTV1c0loVkdONnNBZUJ2cUZCcm1JZm5DRCs3Ry9EOEFEcCtEK3JlNFhSV25mZjlFZ2IzMzdLOGxyNTFVdW9hOUxEWEpyMzB4cXZwMWpUU3BrVThsVUJNQkw1RTk1bG5UdGdKV08wOG5Kd2FTWGh3SjZ4bVRFNTZHcm1OdzZIRWV6ZnpPcU5mUGRBMytFN0NaUE90TXJkWEo4UHlGL243RTdlM3pwOVE4OWRQVWkwMWovNGxYcXh1cHlseVUraUo1c1VJZGVGcXZXYVpUUldWK3VFM0tWa0RlUGprVjNxMStJM2pOMGtUeExNN0RNMHBRVHc4aUttNTcraWYrRkw5cjhCcjBGNUlrdmZCK1V0bUh3a0M5bFMzc1U2R3UvUTQ1alhIelZOdnB4aS9vcGNtU080R2lwVGJpWXNqYlJzOXdrdDMvL3NVLytMcnZvalNhaW9GOXFmc3RCaFBPU2VrZjRITG45MDFIdEx3emVVWlQyblNkM0tJY25HN0VjU1B3blFuNHhxdUhPV0pNMTVhYWVWVGI1RFJ4WmQ4bForMytWdUlnTFdoazNxVG1HN0JuTlZFQVQ4cEtNdmtodTRnYmkzNHpGbUVvR0REc1d5T3Rpd3lnYmpxRGVqOGpGUzFjZnVuci94WFJMdFZRbmQvZWk5emJJZDlEb3RNbG5EOVYyUDNFcTBNK1QyLy90dC80dmxobzNhRnoySEdrNUYzN2ovanZrYTdhaXBaOU1tWTJwZER2SFQ2VXpqRmlwN1RyNHpFUTVNUXpXVGtEZlNwUW5mbThlR2l6a1MrblNIZ1g2UHJtekZ6MTNhMnZUQUs1Ri9XM3p5Q2kxOXJkNUZnRXFtVm5tYUJGYzlvM25TY0kvZEVWQi84eWRMWGpONlVmZXpuSElQbTVBMStMYnViMUg2ZEZqaU92TUVjRTJaNGZLV2lON2xFMjJkWjFPUHpCSGtsVCt4bVJYdWgwNVlyQXF0d3Qzb1BYdUxZMVlyWmswYitmSDQva1Q4WDJmTFMzUFRtSjNvdTVzZ05iODI1K0NaTERkYURrOHg1ejM0UmJYZi9ad0RQZEI2d1hhRnFCSTFBSmp4MlpwSTlLSTV6MUoreEwxMDFiSFVLcWw3enQrRzYxTXc4K3MwYU93MEpKaUdCeWNnTDdMbEpmOEhGLzVpTUZBdlpRdjdSR2dmMWNDdC9wNlN3ZXVUZjFvRmZRKzVraXJtek5xak1LeWpmbW4zU1QvN3psT3lnYWdYMnBzVUQvTUI4ck9Dek9YdTlRdmluYTA3dEhpdXlCbkQ3b0M5R0luSTYrVUNablViemNCWU5Oc3NFUzBMbGtUVGxmL3RERExFVVZCeUZZRCtiNHNjalluN05rZEdTeUNmUHpMWlNYWnF1SUNkOElIRFYxWXBiK1hjRjJLQ2ZraWF4ZWk2QSswcnpUV1ZjN3paazhNU1JiWW1DeHZLajNlT1RVeTR0NWx4ZENwWTJzbmpKdHFudktsblEzNmxVWUNvdG5uWTYyVmptenFSMlhVUkVibmZud281RCtqcDRWblV6UzR5eC9qcUFib1ozbnFybW9oUGk3aTRZWjNhVFpFRnQrMm5FMFE5OTFBcE4yRWZaTzhLUEtSL3VkRCtUN3FxNlZuYUUzZUc2VlpHRDVzYjg2NjRUWHBTME1hTTFHRWJPK0s5RjNlZmtaell6dENrYVRNZjB1VURVeXp2WVFRdE1qdHBSNDUzaGJFNGR2Zzg4K1lKSkd6YXczYkxJcElZLzAvSjY5YWJ1NWJJNHozVEZmMHNtSVlQQ3NFZmZuU1R1dEN5Q0p1NWFTVlZkVWxxL3BqZlhwL0JXL1hCQkVNcGVnYWlueGdnL1ArYVZQMFdnQjlmeitKY0NRckVSYW5lRHk2cWlaYkZJdHZSdzRmRm5oUHJ5WkFCeU8yQU0venBxUU44VGg3bVVzNCtyYjI0bjEvbGZYOHBaN1c3a2JIb20rOHNFY2E2VXRMNGpxUFFTZnl0N2w3UlpUUFlrUFowQ01wbFFwRUs4ekxCcGxZVDBpaEd2Rnk3bWxyQXloak9hTURONCtMOXVyYWhCazRFa1gwd1luYkM4RUo2dDhUYnZaZldneURXbldnZDFEYW1hQkhnYjRoRVN2V3JHNllNZnVKcjZaK3VreS9udmhpTlFIUjN5eGU2QktLYWpEZ3V5TnJBYUlsUjNJYTVJVkxQSDViNGcrTmd5d2kzUGl3bFVTdytjYnFBcW9rRXhpbGk3TStHRXRzYzlLcHZ4bmV2Nk8zVXBsWHNUWlZTeU05YXczRXpYajJaYXdzQnpLVGpJR3pJb3oxcDVPT2IvM1Y1SGthN2dPZWd1ODlqYUw2aUVadUxQWGNFWHBLakxybzM4R2EyL0U3MnRyQVFQYi9iTXFGRHdGUlFQdTVtU1VSK1laU3VqbGhmY0trSWpvd2ZpamM3TCtzR0FheENzMTdCNldkQ1hvVUdGZFNYKy9IYmVxSFBzazdmb3Mrbi9seitzV2FiOVQwY1NTckJmVkVlZk8raURZVVNYTUFKQW1RcnNvK1lFZkVReUpNQXEzVHhMVEpVRDBaOTYxcDlieStUaU1CeFpmcFB4N1ZtQ2Z2K20rYmt3SWRXNmMrTVBLZEpHUUdPcUxibmdzNmJhc2JVKzlhUzJhTk1zYVR0ay82STZJUHVNREkzd3ZDeitOL1V3M0NsRkdGRzMyU29WVE11d3FhZ1lHMkhFcG5UQTlacnBETmJlYkkvYk1zT0I1cFk1cmNxWk9JNk1TMmpTUmx4VENJVlFoNkI2V2RDZnBZVmlDOTZLenFCdzN0dWZVT1hSMDdSbytKbGxxWTZrZ2hlbm9KVXVBaUFRK2FCTkVRZ0poNHNmbWlMQ1c3empwMWJtb2RpVzZqeUdpSlk0Y3pVSzJQRWFGSGVMK2srMzVNRTlOMGpsOGhqOW8waFU1dFlqZmFSUDJSSms2TGF3MldBQjlZVDB4NmdnUm9TYVh4aGh4eGN3UGx3SFlibmxNV0dnUDl2cVRjRW0wM210bEQ2WnZMY1ZZMDlwMWg1T1pLemlLaDBibXV4eTR0aGs3TTNlWWNrNnJ0elVGcFo0RWUvcS9oTE5zYWlxenFwOHYwL0RuK3poL1lNbkxhSVM5cDd3UFZDOWRGMTlCUXBRRkM2eXcycXU4TmxhekxHM3FiTHlyYnZvaTVzMDVkVFZrUnFiMXJ6Q2lJaVBTL0xoZ2dJNWJOc2F1eXpkTVRsWEVmUVVVU3A0VUlRWHNTYnFBbVc2V1lhMjJVWVZPSW9UVVI3QTFacEdqRXIvRklPNGx6UnpUcTFCc1ozdWZCN0NVSlF6RWVTTjljamxtaE9HVlo1RXBuUkJveUVrcUxZUkN2c0tkM1VOcFpvRWVsdXM3RmdsTVdrbFg5YlZSblV3WHFyY1d0dnNTbnF5ckpNNkxSYnFpR0g2Qy96Q0tDNHJxaTBlZFJiYjU2NzMrMGl6UXdIdVd1TmN3QlpzR3NKdWUrZDVEN1BjV011MVl6VTZhaTV2U0FGTmxOVUM0YXlLbUVXMGUwbVVncG5SOTg5Vll1UXFVaUhSR3lKZ2dBdit2Y2pma1dtQm4wWWhMMURIVFFvM0NUd2tDVlMrdGJKYks0VmtXS3hZcy9hQW5PNTZXeXl1S1hGc1BrV3QxRW5vUFN6Z0o5UStpWm5VbVJBbHJWdnlsSDZqS2VkSFRWeWpMOFVPKzNSZEJQL1ZMaUFpZFJWU1hvZDFUamdFaW9PK3MwcnRVWHlVVkZXS0YwSUpBYStHOW10a1lMZk40cDJUTjhuWkkzSHZlZ3IwUDRjdFozVjdOL1l0RStJdGNDVFlZQTNsNWFZZ3dHRHJBdGJnaEd5TkZCOUtoaFdRMTAwS09CU0FvYXpZTW9jSkYyelAvcUVHREhSTGNIRDlFb0xZYkpwVXJRWjNWa1pvNUd2R1dBSGdzY0VqcE41Y1FLbkd6YUZWSG9UNXFkeWpkeEdhQkhIVWszOGcwRlRBbjZ1dFk0TUZqK05hVm05ZTJBNW5kcmxWdlJCVGdBQUI1aFNVUkJWQWp6QXFyaUhXbEdpcG16T1dtYndFU1Zrd29xenFyTjVsZkJCVnlRazd4VUlKMUtFaXZsMDVtSWZSRUN5dCttYVVCNGUvb0h0MnVDTk13cUtWS1Bxckc1TG9Mby8wRExKRzBna29aMmN0Q2pUSTlMN3lNY0t1WFNZdWlDVmptbWQxRGFHYUNIbXVWTW1nNXBxL3BqcmVoTlZWQ2dNcndtM21BbXNTWWpxaHVnNk1tZXk4d2Y4YlpsQk5yU3NNeFlmZHZ3SmJkKzVVQkU3K25aSGFpaGd3am4vejA1ejAwcm82eTVNdFlaYlpBZ1BjczRLRXhWdDFpSUVnaGM1d25wbXNPZUlOTEV5KzJQaURmUC8zUVdmbC93d0l5S0hNTWpTeStjUFphWm9sRUdXbFM2Y3BNTXFkREtiZ2tDOUg4cFkvUERIOHRJYk5uaWV3N2xleUZIUTQxS2tMNjhHR1ltaG5yNjhUSkJHeE04TnhRM0I2V2RBZm9kVlVIMTFweXVoeEV5cEg1YW5iVk1xZXhSbC9FZEZvQmFqYmRGdklicVV4RytScjNCVWxyZmVFVkxReUZxOTZYVm56N2lYQ2x5THB1cnFHM1FvYVRGMDcvNUlmNzhQQkxmRmQ3eTN6bm9hZTR0VnBKa09ONUI2K2toajRiZVVobDVmVXFhM1A2bDhTUWN4S0Q2M2hCMFVQUksyVjFDNnJJSllERUdPdWpwMk80eTlVWWRFdW5aZjR3QTYzTW9vckY5VGFxSWhmZGsveWJveTR0aGNoOENmV3dWQ0o2SElsbFdCTHUvaGk4SHBaMEIrbGhWVUdQTzNLWisybFZlRUxJTS94dWdYN1ZObEZ0QVQwdEVhb2NkN2FVMTNPNHJ6bldSV3h1TU4zUnk2NnZFMHpRc0JoYk9meUNnOXFTYklyUS9ldlR5YnFhNWEyWG8wR1pqaXhOQU82am1CN0JHenA1L1dJWjYzclJVaml0Q3YxK3Rad01xVXpZQUl6Y3dQR0xlTnd5REhzbnN6NzdJazlnVmxSelZFcjRUL3NkR3oxUmVESlA5RU9qdEFzRjNYeVRMakdFTnVDR1NSWkdEMHJhREhtYWJ6QjdLNklKa2FWTS9OZHFsTERJbWR3eURYdlZQSXFZRjlIVE81MUNFTTlEVFJUVzdielRmNEdwS3RvSjErQnYvT3o1UWREUVg3VFgxSnhYTGVVK1B2am16QmRJeU5zS0p4bFUyVGdPeGlabkdaMFlFSmI4L0lyV3JJRm9LK3FQdWRxRTZOYmtNakN5aEJXWjFkeGowUDZlVDA5ejM3VWxxUjl3N2MrcEl4c3gybUQxOWVURk1Ua09nSHkrVEptZ09KMU5jd3RGQmFkdEJUOXRCb2ZKVk5aSUVWNHY2YVF0L1lLcEF2UmxqK3A0MlBTaWpXRUJQbXhHTkltV0E2SGJmS0tKSHZOakQ2bC9YTmtLWHpJUmpVYU9QWGxOTlRZa0laOVNnUTNpVis2ZENhRXdMRUlPbEl5ZFhXMGFXdjBScDQ3bGJnT3FrU1dqanBaV05ubnh6YUNuY0hOTmplb2U4U0tNUGorbDFFaGx1SFA1S251c1pFWEo0TjR6cDJ2SmltQ3lIUUc4R3VuMHJYOXAyMEtNeGxwMEtZSDZvY20xUmZ4dmxvU0lNdVl6Wis1NVdiV1U4QytpSFNvU0QzdTRMT2svV2tRUDYwTXFZRC9TelVyeWtNVm1UMmVFTzU2QnYwd3dPYzVub0hTMnhSRFZBc0tVbC9oMUtITStoNXVmSk9WUUtPaGZVR2pYbW9BRURvNmV2YzlDRGdwNTNuVUttK3p4SHZUbG5rQm5kRnBBYjlEbkZNSGxVQ1Bxb2RHbmJRZC9XZG5GM3pMcWFWdittRGNwQ0pRYm9WL1hwSnhIREFucmFweCtLY0RhUlJ6RnE5MlhSZnZNcHBFam1pVHE1ZXZxQmhFOXlEWGFxTWpsZnB6OUMvaXc3LzVTVVkxMndTQVdtWU9LcGRVbWE4RWRpa0JkckgyTXBsWWxBN1dMYXVGcWVuZUdnZ1FINkpqZnZpNEErbXNmdFVYaEthRkROVXRHc2x4ZkRWRUNWb0M5ZDJuYlFvNGFLK29YNWQzTWNubEovUzE4a00xVVJSYTNFcEV1OFYyMmxaZ0U5SFYxc0tFbzhtZDJYUi90eDVJSjFoSDF0RlVtUkdIWjFtS0hKZlJ2REVJTC9xaktsaDlNV2UwZStob0E2S1IzVVU5RTJBVGU2QUtCVSt6S2trT0dUa3A0Z1BpMkZRMnY4WmZJeHRYZWJ4UmdZb0k4NTZGSGw5cXdFUm52K3l3K0Njd2JyMFNtVFVIMXFpbjM1UFlOV1hqRk1ucFdDdm14cDIwRy9vN3BMck1wb3ZTS1RkRWo5S016ME9yZFFTVWV2aUxEVE5iT2FSN0dBM2xoUG9RQmtDTFQ3Q2tiUisxRWw4TEtwdFZjeUxPV0lMMnRlSFV1MjJteVZVSXRFbmNzWks4cC85VmZqejlOM2tUM1prQTdSemZjS3VBbWt0NGRIejZDd1VpL2JxdVRLQmwycjJiYkdmUFFtNW4vbHJBT05NakJBajRSTTYyaThEcTBFeG5sK0VSU3VqWXVVRlk1NnZLdUZsUmRESXdabnRhQXZXZHAyMFBkNW93eHBZRW1LL2tXSnFhc2YyalFXUTFRczZ0clVGbkxwTlhicFlhMEY5SFR4WUZ2UkFlaXBNV3YxclgyTGpBZFlJVkZ2bE4waDRxYTJpS2VxWVMvVjFLRTNiU0JmR2MrK0lKMzFIeU5oZHR1WWxVcjNCK2h2OFBlT3JiTkV1QUU1UGEwN3Q3R3J4U0JiZndOZFB0M1gvQWI2SzAzSUlBdThiV2lSSm5DQy9JVUpvaHRSd2Y2NjVsRmVESTBZbkZXREh0ZitGaTl0TytoYmFnQ0VkbGxVTlUxTVRmMjB6Y3d1aW9IZXZkR29CeG9WNXJTQW5uNTNSaXVoSG05M2JMN0xxaFZCazNLTnJlL0p6WGJEck9RNy9YYWxldWhFNGE1NlpTN3pIb0FrVUM2V0lQN3djMkVvZmVxVkpyaVI4cDNFQTlvVEJIRGJrRXk1ZkNDYzNhR0JtUEIzK3grbmxjVVlMRUtuTTJZUE1kQkJUd3QvZzhaRTQ3MU4vM00vLzF2RVJBbXZDL2VrL3lpOGJUMU5hVEYwWXRXQjNrbHAyMEhmVlhZVTVqTFhJZDlmYkZFaGJlb0hCYU41cC9IVTB5YmE0SUFhQmZzcUxISFpRTjh5MnBGTlF0Wm9YSnZ2aXRaSHM3dlgwRWlObisyaDM2NVVENUpJT0FuZlRZdDlFMkhNbXZIY09oUUpNLzZwbVdLc0dXWEVHK0VORWh6MGFPWFhSTVFGSXJjaURJcTMvWUphanY5T2hoeWIySnNIVzBqY2NrUXBEZlRpcHZXRWtVY3R1SjZEajR5eUk3L3pBZzFja040VE90RG1IT3BKU291aEU2c005RzVLMnc3NmxpcXRkbEpFelFNSWFWVS83U2Rwb1AweDc4aHJHcVgyUjFzMGpRMzBSMXF0WnNmOGRtbE1tKytLTnNyclVGUlJ1NDNScFNtaTZFODBkK0pEZittM0s5VkRrNmpkcEltLzlZNDhsV1JpRjUyUTBMSTZjWG9rQUZodUpPbk9hQlc0cjNxL1ZiMkJMY0loVjVxZXZpOG9XbWFYalNQaEVtdk9CeW8zOE1QYnZxU0pUSE1UYkRKRm9JV1RUZlNFellYa0RRZkk3T252NWNYUXFWVmwzcnNwYlR2b084b1cybVFWckVZYmFidjYyOFF5VUpjS2tRZndtUTlneStzdGZZMFA2YThOOURBdnRITTZUVjVlTnQ4VjFlZGgvbUFkOUxvcTczaHJIdUluOWJRMDZnaU1aWDJVTVZ0NlJxVnZjUWZ0NTB6N2NuSmFEWkdudnJMdWFZTWxWTHBxczA0bVp6TW1CV3pzNTFXVU9USGhNOHNRalNxaUJoNFU5TmRsVkpUOWk4bExQSkdSM29PRWdvalcyQW12dlAvREZiMjhHQWJuYXNiMGprcDdXQmVKSkgybDNSWlQrVHlkSXJLcmYzUGtqTUtNTVY4UDJLbytkaVVwU3h2b01RQlQ4U0JwVXBGc3ZpdmtKYW44SGh1Wkk1ZVhwWmMyNUpkK2NEUXU2RzkwL2tuV0t4NVExNGdZY1F1K1FQSlJCbEV1cW1KM0k3cDhjYXNSTzVBZ3hPMXBEV0F1Z29VaW9UaTA4ZFBnQmlmU1hXT091ajVMTjlEN2RJUmNTK0xXSjhybmp1SzNaRlFtempqbjMvQUhHTXFMWVRCMkN2cEg0aXVIQm5YeFF1MUZCNlZ0QnoxSzY0QXphakRqNmh6Rm9GMzlIUjJnSW5meUgwMy9sbnloY3pocXplNWNZdTNaUUIvVnRYZ1ljdk9PMmVLN292VXNBMlpNUWlMUisyRExKN2NvVlJhb2ExN3JnT2g3RDdyY29BNzFORVFOVlY2bFhLdGdNZHl3VEVwUUREblFTUjJLdEpCV210Q2IwaVZDdmZ5M05QWlJmVGZoY1o1bkNjZEJlSDhPLzRGbTdOTkpEVjRUK3FJOGMyVVA3RVFITUM5ZHVWSWFrYzVvRllVRmxCYkRJTzhTOU0rUks3RzEzckw5YWZ1Y2I0blN0b01lVlhRam9ZMXcyczJlb1NWcFYzODhjaWtLWlMyYUQwcXdvNnBvTkVqNmFDdm9VWGUyYVh6NjlHUm1MTDdvL1dXanNwbU0ybUkxQm93R3FnWW14Tmp2N0JEbzZiVEVCUzJjalo4M0RJK3lMeEJDeTFZeGFqMXUxUXkwdW84R1FJNTRtL29rV2pFV2VWSkJXK3NpM3JJWUtPL3cxVUtVdDdJREJ0cGNDVXdkTVc4eTRISUlJcVAvdTRyZG5MSndScWV4aExZbGV4NVlXZ3lEaVVQUUw1SnZ4b1pCc3o1eVhvNUsydzU2RU45TytLQjNwKzNzMFJwK3JPcUhyU2tIbFVrUzgxZFNZdDR6V2dzUjd6SXZyZlBIWE04YTg2TW1nWVJyazl4TlBHMitBUDB1RDQyNlNmVi9SbzBrYTQzcklsRC83NmhheTd5aGhLSE9CL3ozOUJTbDNadGdJY1FvU215T3NNRTBwc2gzSllsRmNtdWZ2OHdQVjJzWnlhMWpxYUVrZVpUTHRDamJvWlpXSUFPVTdSWm4zbGVsWXZtVzVJZ2NkdmpIY1JGbFUzUkZJNkpuQlExVWhVcWlsQmJENE9RUTlGMzZLYUNtTm0raUdEa3FiVHZvVWVkM0dTdTZ1RXJaZHlsNHJPcUgvUzZIR1N6SjBFOWRxNkhvUVdQNWRhTnpTWDJnallaSXNxcXd0eWs3REZqM3V5SkMyaGVnRitwWjVtWTl2RVNmTWlkN1FVR0Ivb09pU0pONG80MGJNdjZ3TktLbktPL3VnSVhJVlZGcTg4bVMzSXkrTWllN1dtb1JYU3RLZWJKMFI5TDBFdGRqNFZQRXdnUWZhSTBiM09MK0xGU2tGd1NYR2VVVVhpUCtCN0wxWHhvcXBCR0owa0U3b2orUlFXWEZrSVNvd3gzb3o3R1B6R3hhNjUrajByYURYbDU0Yy9SOGk5YlZHdXYzck9yZlJHMlcwMHFHSHBLWGpxbHNkUFhmbWdTMGtwUFlkSkY4bjZmcksremhOTitiRXQrdTZsZWl0QzhRTHByL2R3dWovUTlFcDFMVHY3ekFlVVRScDJPa2VZZDhoWFFkZUlqRWlmKzVpZXFsUml2TDJRVUhjOGtnSytZSS95WnJIbHVxRVVUYytuZnhCTXNOYmQ1OEJKSHlRY3V5cTM5MzhuMjZsU2FNZXQ2bDF5SG9yM0VlQTBJK3g4MStWQlBhYjdCbmNhSVdkVVorTXVjUHlyUnFYVU5yTkI5bHhVaUU0Yi91UU45bDQrRTIyVGJvOHhjM3BaMEIrbDdTTFMyUS9RSHRGUmRaMGFYVS85NmYvMVZheG9UOHJYLy83M2lacDNKNk5HUld0VGpHLzVES3R2enc5emFRL1BoVkQrOUZuM2o0RlpUVU56MzhqeG1Oai9ONC8wZUNtbnFuZkFINmJtSmlMc2VpSzhHM2JXK0NPRDVJSjJvaWZlSFBuN3lTY3NIdEw5dmM0NCsrTjJZZTVLMFBmMFJFaXM0TTJRSXlvS2lEOGxncm1saWtHOURtOGF6V0NDTGczYmNPV1hDdHBWREZQRHordkllUXYwM0puMmVkMHRtbm1mN1lmdWpheDVqN3lzUDdOSHlBTXF4L0IzV2htaWs3QjJXMlJ6M3pQYlg0elVuRUh6TUZ6NWRheG1xa1VWUlNERW1hT3B5QmZpR3htYzRNalVBNU16ZWxuUUg2K1dRdzFuMCtZclpZMHNlbjFOOWlKWno4YlBOc0RmK3RhcVZOdzFaaWN2ek8zL2p0M3lWZml4YzZla2llUTdyMUpubDQ3WGcvSVQvd3g1LzhyL3hiODRMc3NDOCs1N2ZTK0RaQS9KTjFhVEJFQzFoeStPKy84Y21XcldkQWw1TTh1NXlrOUZDenhMUzZsdTZXUlk2VGY4cnpndWsxK2RzS21xS1YrSGhEVDFtcjMvNTl2UDk0bC93RDNkdXZHNlh3dHI5ODRrY1NjM3MxMFNmckYraENNbnZXYVFZR0FQMVorcFd6VDJQZjhKYktrdEdPSys4TTE3dkkyMUMrdFVmSWJmd1ZmVEJnMVRMQXFaUVVROCtMTTlEM2tzSHluSDJpekUxcFo0QWVjeVp2anBZK2lGNmtGcFBEK2NZK0UzQlkvWDF5OGRMVmh4NTY4T3JGaHFWUFRYU1NNcFFYbXF4V2ZEY05uZ2VCMXovMDRQMFhDVUIvZkJHMFFFcDBDY0E3ZllTdG1KQ0xobnlYMGIvaDZweExEY05pUHgrenBLdzc0dW5FMytZeDVYajFvclQyTm8vQk5oRkNqRXZwUjJ2WFJRSW4vNmh6QUVCcFVzK1JTK3FhZjA1dHZrbU9yMEw4cnlsTmZRSUNTU2trOXRRcU5BcUZjdERUQXIxNmYyT2RFaHRRbVo4anh6RWhyOXZUcUtkTmJTMHc3ZnluS04vN3NSdGtJeDJVMitlOFd1VFEwcFFUUXlQa3JxY0gzQ2pkbVl3VkRpZWxuUVg2cFNhNWxWVFRkNUhqaGtCREFmV3ZwQVp3dFo5NTRQaXR2NmhyTE1QOTZhY2JsMTUxT0J4bytySlRkazgrUlM2OTVVZjFpRXVmQTQvUDZqNlR1ZXRwWTNBeUFrT3gyUzdjd3lIUEFxOC9FVi81NmVGa1M1KzduOXozcW8xaGI3L3ZLSVg3ZmozZGQ1cE1HZWlqTHo5d2ZPV2RSc0RSaENPZFR6L1Z3UGZTREJLVHZzell4MnVseE5EejRLcW5YK1NOMDh5UWdTeDV1U2p0TE5CSHk5L2YrS2FrZnYxcDg0M1NyaXFnL2tiU2RNbGNUNE1EU3dyakt2UmtZa0ROYXBGaXNxUlRIRHNCZlZxQU0zeWRKUjNpemFkZFlyeVdKWWFlV1ZlZ2IzT3d6eVZEZTUyRk8zY202SjJ4NkVoRDJobEo3NFRPbDFrY3N1VnVCcGhYbTFac01lNUZ2eXkwTExwZUd4bXZ2TDV0Zm1kOE1oWWpTd3c5ZVRIUXYrL1BuLzNvQThhaVM0dXZmNThoZDNYeWJ0MytRZCsyVDBtNEZjTXh0ZG1NRVZWaE5tY0FlcU53QzFPYXBvUlphSUVoVmJVWXNiRXhkREx1V1dMb1ZBcUJudTRQMGZZdmdCNG1RdmNaV2ZkZlRkWnk2eC8wNTdKR0oxb3VUcHV6NTNnZUwycWpjTEgwK1RKN0JxSUtEOHZkRlhzcmhnTjh2UzlaNS9GeWNzc1VRMHRmQ1BTMEt6RHJCWnFCWk1hejdiT1A4QS82VXZyVzFGcWxzK1Y2SHVJSWhmdFNsUktjQ2w2RExOQTdiMVRIaVh1MnpDeENwaGdhMTBLZ1gzbjJ3MWgyZVZFajB4YU4wMkM2emZ1b1ZjS3kwdlJSb2JPbWIzUjF3cmNQME45d1FtbWFpR1NpNVd6VkxXQzd6Q2FKVERHMHNpZ0VlcVJIWjcrbWtla0xlN0EvM1JONU1HMHZhR0pOZzNQUmVaM3NBdlRyMHlDNjB6eG1vc1Y5cXpvbTM1MHlIVSttR0JyVG9xQmZOZmRzeGFMZjcvb2NGUHMzNzNHK1pkb00yN2J6QlljWW9MK3UxWkdYaHpNYkxhVkFPTG55YXFXV0M3TEZVRGtwQ3ZxZU1RTENIcTYxaEdaY1pqeWlzbVYzVlFENktCYWI0dTFaT0gyK0hjZXI5Qkg5VExQcmFZTFRwN1pVam9DV2pKWnUxbm16bW1LdWV5eVdXS1ZuR3dzenhGQThpb0oraCtnMkNOQjRqZEhFK29iamZlQXFxK3draFA3cXhYMDBaZlY5U1F5c25HbURiVW5mY2tadVdnZ2RpVHFjeXZDS3o0NHN4UzNxbGRwZ21TMkc0bFFVOUYxajlYSlduRXJBbWFRMVJkeTFxNHFlL3F4UEFWd3JCUFRtbkErLzZjR2lsOS9lSEhxLzJtNUcrYlNzNThVeklwZjJibHJ2VmNoTGRvUVlra1JSME1mR25IRWI5VVE4dTVLMmMwY1ZvSS9pNmRxWHNpT3ZlM0dsYm5wcHdIVHB3SW5rVFhNOVNxYzVXMktIbkU0bmwzdGg1STBQWTBtTUVFT21MUWg2bVBIaVhBc2x0U2tRai85dFNkdTVveExROS9SeGkzTVJYQk9zdVRjOTZTNWNjWGpRZFhaUEs3MmZlaGhnSWVTTkQxdkh3MHRWenU2MlM0d3ZSNHNobFY4UTlEQUI5Vm51RHJuekdIdDZ4bEJmY25Ia3FBVDA4K3l5QlVjNTlrNW14c0VaMktGTTBxMVgraDZNb2VCNzhyVkxJVStmRzFieE5qTVBZMXVqbC9LczY3M3BoSlRHaUNHb0ZRUTk0S2VycHltNmhzM1UyVlRCeU1WL0phQ1ArcVhHVkM3a25JQkd5NzBodm9xNnZ6WkJGdTZGcU4xajNMVkFMeTdRYTdVUzdMenppUk5GZThoMXRzeFFZb3dZZ2xWQjBHUG03b0lnZ1gvWk5laDN4R25oanB6VmdINHhjMExIa1JnT3ladzNpc0VONFFGQXYrdUcxRDFEcGZOQ1ZhTDAyZjBlZnJrVkJIM2JXS1lINk5lU2JEYThHb2JWZ0Q3cWVEd282TGcwTnoxVXhoMkFmdHR4UHFlZDNHTFdHcjVyd2VhcmFHOExnbjdUR0x0aldpL3A5N0ZKWjkyMUdqUjZGWUgrL05UVStlVXl0cUNtV01QWkF1Z1BESi93RXZXZnIwWUpBL2ZEdFhUR0M0SWVGVU9qQmF4Zlo2OVk3ZG5XL0YwN0t3Sjl0S2xQVXJvV3dpVzlkb2xKbjh4OE5BSDZ6TUNYYThCOE5lMWd6ZjI4cktYRUNvSmUveG9UTG8wVmUzTm12YzdqMGJ1SkxTSzQ5MXA2aDN1YVhpZyt2dWVCYkdQa1J6NDlNSndLa3Avd29lcVU1TFdobTFWVEVaeDRGQU05N0hsOTNJc0Z2TVFlN0JtcjkwNHlxQk9wQ3ZRNno1ZWRHMlhydHhSZmRobzlkUUlYQXoxUS9oVk5GUGxCZ0phWTBOTUNIVG9ENkIwcU00c1VDdE1vM0t4NHdYOXFOVkFNOUVEZkRVMWtqT20zMkt2ZklYMWw1cjBtMnN2UFNiLzNweGZ1eTA4RDk3ekV4VUNQWmZyMXFQYXo4WlhrdG5aWWhFeFI1ejBmMUFnOWZRWDFrVjZBdUY0Qm44RGl4RFJRRFBSdFROY3ZkY2xGY1JxUmc3NXQ3TTExTDFNQXZYdWRwaWlpUWE5cVVUckZPM2hVb29GaW9NY3kvZUhPOFdlalQ1UGpQWnJOWm1MZXR6d3ZPQVRRVjFBblZnSDZqUXI0QkJZbnBvRmlvRzhSOGpnRCtGSHlMZWMrdXd0M1dkeU82VXVhQUhwZm10WG85Z0Q2WklaRzh3ek9lMGtEeFVBZmsxdjFiNmRxbUVsdzNtTjdjbVo5bjA4TG9LK2c2c0dLZXhsZW9WR0JZazhQaTBLZ3AwdTV5V0ZEck8vc1E1Z1p0aDIwNi9zQVlnQjlCUlduODdLOFFxTUN4WjRlRm9WQVR5OVUrdFpFaGdaYm1WK2lOK09kOWQzUmh5VzdLdXBOOCtWM2hVWVZhajFOUEFxQkhqMnUySW9jSnlmcGNTQ3cxcnp0ZXlnWWV2b0txZzdLMXVQZHBoVUlFRmlNMDBBaDBHTlZSOXluVkUvdXlsc2dyNHM5VDkxRGtnRDZjY1ZaUHB6ZWhidGVua3lnY0lvMVVBajBiWFhMUW9zZnNmbEVmRit5VWNlbnJBSDBQcldiMEY0QTZLLzdaeE00bktBR0NvR2VMdFB6UEhmRmx5dXJrQ0dBM3IrV29XTlp1UDY1QlE0bm9ZRkNvRytwSTY3MUtxdElBTDMvS2pJSDBQdm5FamljcEFZS2dWNDdUUjlYdVgwcmdONS9WVmtsdnJkWStaY2hjQml0Z1NLZzEwL1RvMS9ZSHMzQllXZ0F2VU5sWnBBYW1GY2x2UGVweHBWM1prUU4zbE9xZ1NLZzEwN1QwMjA2aDVXSkhrRHZYOVU3eG1uNkh5UEhiMjJTYi9QUE5uQ29VQU5GUUEvc2laVmNldVBDUVdYWkRhRDNyK3FXZnBwK3BYRjdJNHArbUx6SlA5L0FvVG9ORkFFOTVub3U4eHpTNzU3NTNwS2psQkZBcjNUaHl4V0xtNDBwZzZOazlhNWJZY1B1UzY1QVYybWdDT2d4MTNPTlU2RGZQVlBFZkxzQzZIMXJtSDJjZmw5d1dlSWZzanduTmwyTGdQQS8xUm9vQXZvak5XTmY3Vnh2QUwzM3VvYWJ6MVMzUHNjL29Gb0xFL3JlRlY4bGd5S2c3NnNOT2IxS2IwNE5vUGRlTmVnTmVaSUp0KzZqcUZQaGJLM2tIaHkrTkZBRTlIVjF1ejN3Yi9rd1JNMVRiZ1BvUFNsV2tjVU5lZXBqYWsxMk53b0NCMkU3dmxMUjlMdUtnRDVXOWFJcHYyS25xV0s1c2FHOU9YUUcwRHRVcHAwVXpsSTlMMEt3Tk1PZHErRlNiS0dVZStHL0NPZ2I2a3NYTUFiRm5KN1N4aGxmSCtFTG9GZEs5dVJxcStWWUhHb1VIKzJlNHpONm5wZ0dzdFZxb0FqbzFmWU5lcHZHWGlyRExWL0dZQUI5U3RldVBZNjBnN1d6Ukh3VDkxeTRRY3Uxb2srU1hnSFFZeGVlMkp1REVhQ29GMG9JVEFDdnFUZVhyZ0I2bDlxMDB1b2s5NSt4c0o2MDZLRDRkTnR1VFI4OHAwQUR4VUIvZzBzR1kvREZsSkFZRm9wR0lSVld6aU9BdnB6K2NxU09OWGh2eW0vYVlVNS9JMGZpRUdVNk5GQUE5SkhxeVhmVWJScEtYSFFXbGhsOUZWN2NGVUJmWEhmNVVzS0tVMWZoZHVTY0hrQy9uNDlBaURVRkdpZ0MrdVF5VENwY2t4eHZEUXRKdDNlSXk3U0d3MHErQjlDWFZPRFk1SmlrdVNNamRTWG9jWjNPcnZRT2ptblhRQkhRMThXWUhYWGhLeWtGek4wMUQyZW1JaFQzQ0tBdnJydDhLYUZoWmFVMVplT05nbDdQUnlERW1nSU5GQUY5UjN6VjlGSGJnbDEvM1RhNzUwUVZBZlJPMURpQ3lCbDFsaXFLK0UzSGlBN1FYeDZSS2dSTmx3YUtnSDRnSnVwYWNpRlhDYjFFOXJTTGRaUy9DMWNBdlFzdGpxSXgwTzlFVWFDSDFSOUFQMHB2MHhWV0JQU3ozS2pIanEzdlNrazdkemZxcW0yNnFlQlNIZ0gwcGRTWEkzRkxQeW5ka0lNM2dINHRSK29RWlRvMFVBVDBDM3h4ZnNDL2JXVkl1bk1aeHpNOG5iRVBvRGRVN2VHbG9lKzdVRE0yQWZRZWRIMXlKSXVBSHBQMmU4anhVc1BTMGRkd01CTUxlUWRlSkFxZzk2SldSUlMybXpZenExNEM2SldPN2dGWElkQS93K1p5M3k4M2JHbDZtTUdLRHdhR0c1cVhPMmNBdlR0ZFdpbEJ3ZHJZdlNGbjd3UG9yZXFhVnM5Q29GOXEzRDZNUGsrT0Q5TlNiNjVGVWR2WE4xSUM2Tk1LZCtLei9OVFhNVHFZdk45UUJBM1FhNDJCaWhGY1U2bUJRcUNQSGlja0pyZTIweExYNktuYVZWOWJPUUxvMHhwMzRyUEpTMnpUV0k1UnMvZGhuZDZKbWs4TGtXS2dqejcxd1BGYkRpMHluS1BuYjNCeDVyb2xyTHhYQUgxNUhWb3BFRDU4YitwRGVremRpSjJWQWZSV3RVMnJaMEhRWjRsNzlCcUU0T3pkamF3SXBmd0Q2RXVwTHpNeDNUbDlGNkdZeDF2WEl0WERObHhORy9lUTB6SG9HOXZRRGU3RjluUE1Mb0RlVDgzRFBCM2JjZzhUVFY5Mk1RN2NYUGZET2xBOUFRMjRCZjFaZHI4YWpNR1h2SWdTUU85RnJSSHQ2ZWtsV1p2bWVzeU9mRVV6dnVHSGRhQjZBaHB3Qy9vQk8xMlBPaVFHZzI0bENxQjNxMDlKcmNHVzZtb053N3JIMHFzNGNRZkY3OG5Jd1RIdEduQUwrbmlmNmtQL3dLVlQvUVRRTzFXbkl0WW5ON2VpYUdab2grVVplUUhxaksrTjFTb0x3VldkQnB5Q2ZwRmZwT2pybUYwQXZhZUtNWGRNeC9MMW9RL1pxSnZ4enNnKzMxTUdBdGtxTmVBVTlEMCtsRzhheTczdXhBbWdkNmRMZzFLdGVXY3Yra055RzkyOTltQitqNyt0R2t0NVdwVGduRVlOT0FWOTgzcWlncTZzTFc1VkVrRHZWcCtLR21icTdpZkgyOHFEdVdMeFlac2pmWGZ1VUtUd09uVWFjQW42ODhlUEpVL0gwekc3QUhwdjlldkpWNUEzYmd4VDN4RWZOZWlHeWZ0aDNVenp1MHZROTdEeUl4NDZSblQrQk5BN1YrbElnck44djhXU2Rsdm15QVFoY0NvMDRCTDBkWUY0L0cvNGtENkEzb2RXczJrdTgrbjdPVS83THJJNWh4Q2ZHbkFJK2dWNWVYTGIwekc3QUhxZlZjRkNlek81QkRkWTl4YmRUTEdYUTlDMzVUWThuTkRjOWFHVEFIb2ZXaDFCYzc1eGF5T0tmcEo4KzRnNElXanFOSENrVEhJKzlWNVloUG8xa2RUMU1idFlaVkt3Q1ArVmFPQnhjdnpXQjhnTFc1VXdDMHdxMG9BNzBNOUw2OTc1TWJzQStvcHFRNXJOazA4MUx2MUt3SHhhTWRQczR3NzBqNnJiMWZBVkpLZkg3QUxvcDdtS2hieWZOZzI0QTMxWFd2Y1J0bkxKOGIwTGdRUG9YV2d4MEFnYVNEVHdxUS9KNTdDVVR1YVBWWEljczZNbk5aMDl6OG84ZnNnWnpVQW9hQ0Jvb0tRR2V2cHBXbTlmc3l1WnlaQThhQ0Jvd0prR2F2R2FSc3Y0Wm9MbUg1eEJBMEVEOTR3R3ZtUWN5Y0JWdWZlTVpFR1FvSUdnQVlzR2xqK0FTOVlPUk1BVFg4UzYraTgrSmw3RGY5QkEwTUE5cHdFczBkRm5MeEdzelY3Q0p3L3Z1V0lPQWdVTktBMmNKNWNldXRvNDVuczRuaUVYcno3MDRQMk5YUlhoRkxqK1ArRk5abkN2ZjlkRkFBQUFBRWxGVGtTdVFtQ0MiCn0K"/>
    </extobj>
    <extobj name="334E55B0-647D-440b-865C-3EC943EB4CBC-20">
      <extobjdata type="334E55B0-647D-440b-865C-3EC943EB4CBC" data="ewoJIkltZ1NldHRpbmdKc29uIiA6ICJ7XCJkcGlcIjpcIjYwMFwiLFwiZm9ybWF0XCI6XCJQTkdcIixcInRyYW5zcGFyZW50XCI6dHJ1ZSxcImF1dG9cIjpmYWxzZX0iLAoJIkxhdGV4IiA6ICJYRnNnVUNoY2JXRjBhSEp0ZTJOb2IyOXpaVndnUVgwcENqMWNabkpoWTNzeGZYdExmVnhwYm5SZk1GNWNhVzVtZEhrZ1pWNTdMWFY5WEN4a2RRbzlYR1p5WVdON01YMTdTMzBnWEYwPSIsCgkiTGF0ZXhJbWdCYXNlNjQiIDogImlWQk9SdzBLR2dvQUFBQU5TVWhFVWdBQUJQMEFBQUREQkFNQUFBQUxzbm1RQUFBQU1GQk1WRVgvLy84QUFBQUFBQUFBQUFBQUFBQUFBQUFBQUFBQUFBQUFBQUFBQUFBQUFBQUFBQUFBQUFBQUFBQUFBQUFBQUFBdjNhQjdBQUFBRDNSU1RsTUF1Ky9kelpsVUVHYUpxeUoyTWtRZjdwNlRBQUFBQ1hCSVdYTUFBQTdFQUFBT3hBR1ZLdzRiQUFBZ0FFbEVRVlI0QWUxZGE0eGt4MVcrczQvcDJabWRSMnhDRXB2UXcyNVFpQXk1WTY4aHlDYnBTZFlSNEIvMEJyeVEySkFlRXFGSVBOVGoySUJ4TnVvaEpJb0lnaDZDTEJJQzlPQUhSQW5RZ3gxTUVJRVo4UkFLRWZRUWt5QWlsQjZjQ1BFU3ZUc3pKdmF1N2VJN2RldDF1NnU3NzZ2ZnQzNzByVnQxNnRTcFU2Zk9PWFZ1M2R1T2s2WUJjK0RQMXYwRXZLZnAzbCtiM3FVY1NKSURQKzR5OW9wdGpaSHVYNTVLb0daSW11c2xCNzdDS0IydGlUNHlmOG52djZXWFhhYTRVdzVJRHB6azRnWUJGQnJ3SGV6d3Q3ZmY4MzYySkFIU2E4cUJIbklneTM1M2UrN25JWVRQOFU2bTJKVTl5angxbEZyZ0huSjlvbEZQWDNmd2NjbUFrK3hHeXY0VEJIQUwxN25jd1Q0dVNObFVBWHFNU0g4VDVzQmNucmxNK25mRjV6M3NOY1lPb2ZFZVp5OFR2VTJKaW9RN1Q5R05QZ2ZtejJ6SEdjVGo3SGJuUzF6YkFVdHUwME0xRFFXNDRzeTV6MGpNR1ZmbXh1ajYrWnZHYURBREcwcURyY1hvZTg1bEVOL0dWWTVpNW9yRVZHVHNpbk5jaWlWS3k3dXlhbXl1Qyt6L3htWXNneHZJVDdOWThuZUN3YkorU3VBNGNVMk9neFRnVmxXSm8rTWNXNUZWNDNMTkZGTDVpeitYbHhBZVhvdUJwc2FXblF5RWJaVndsSllVSmlqQUkvWnFkZXVjVktLcHkwWTZSNUhOVlAvRm5FSWVLb2tqZjNPTTdUb1U5THRNbERRMkZEMm5VY2IyMWEyejhLek9qMFB1MDFtTUw1Vy9PRk01ZmZGNjhCQnBMVHFXV2NiV25SUEF3ZFZiZVU5aktqRG1PWVZlMFJ6TTlOaWtIM3RMRGtOTzVTL2VoSkxhT3ZoWVBwYjgxYkhOY0thQWlPdS8ycmFtaUFxTlcwZHRoVFhJeU9ZS0dOdHI0UFNtK2kvT0ZKNDhlK3RiOTV4NDhwZWxPU0JidTBLVW1QS1h5VEhULzh0NEQwVGkwRHM4YmIvLzNKdC9tYlIrS24veDV5U1cvTUg5SThVSFVkc2pTa3o3NnhTd0E5SGtqWlg5NWNOSzVVL1Bib3hjTFBtRENWOUMzNmZPZjVKVFlPdy9ISXJBR1BHL21iSFRGYW44eFpBNjNUU1cvQzB5dHFGUk9Zc2tqQ0s5bTBFQmFxZHY2bXV5WWx5dXFmd2xNcE94NUs5TTIxK2RUQ0hMUHpNREJiZ3BLK3VyTWpjdTExVCtFcG5KV1BLWFo0Y21FZE42a3pHRmlIUkZIc01DVEg3TkJCeUhmQ3AvaWN4aUhQbkRndzl0WVltYTNKNmtLWXZ6THdnT3NndGV3VW1mbkVxZ2tiNm04cGZJOU1XUlAxallGMzFFTkY0bmJwOWdsSU1IZU1Xenp3VS9uSy9SaU42azhwZkl4TVdSUDhTWS9kdUtVNGZibktnWlQrNG9NTWlQQm41Rk80S0pFRDBNU0ZMNVMyUVc0c2pmb29nN2EwSUsvREhiZEU3STI5TVF3Ry8rcVMvK1dwT1oxdkFqbkV2bEw1SEppeU4vUmVYZlNWSk9zV2QrNVl0L3g5anJSVUVGQWtocFZ3S016eldWdjBUbU1vNzhWVnVmSGRPckg0eDloeVJ0N3NQOC9rWjVQMGJYVlA0U21jdzQ4Z2ZaOHJZWEJpVi9ldjdnNXM4WjkvOTVudDFxM2h0Vm81MU41UytSK1lzaGZ3dDR5eWdSR2tZU1NTcC9pVXhiRFBuRDAxL3ppRjhpNUl3T2tsVCtFcG1yR1BKM2pMRXhPOVVjaHFPcC9JWGhWbHZZR1BKWEY4ZWUyK0llNjRwVS9oS1ozaGp5VjJONCtXaGlVeXAvaVV4OURQbkxlcWYvRWlGajlKQ2s4cGZJbk1XUVA0UmZOaE9oWVNTUnBQS1h5TFJGbHorRVgrSzhPcGNJOVFORWtzcGZJc3lQTG4rbklIOHQ0ZWRFYUJvSkpLbjhKVEpOMGVVUEUzQ1FDQW1qaVNTVnYwVG1MYnI4TGRJM2hpWTNwZktYeU54SGw3OEdZK1AwVVlPdzNFemxMeXpIclBEUjVhL1NmUHJaaW45c0MxUDVTMlJxbzhzZld2cFBQeWRDejhnZ1NlVXZrYW1LTG4vWS9pNG5Rc0pvSWtubEw1RjVpeXgvRlA1YlNvU0UwVVNTeWw4aTh4WlovaWo4TjhHUFA5THZEeVVpZnRHL2Y0WDFQOG1QUDFMNUc3RDhMVUwrdHBPaFlTU3hwUFkza1dtTGJIL3JrTDlFS0JoUkpLbjhKVEp4a2VXdjV2dStYeUswakJTU1ZQNFNtYTdJOHBkdC92aExJdVNNRHBKVS9oS1pxOGp5Qi9NN3dXOS9PT24rSXhIeGk3ei9uWWY4dlpBTUNhT0pKZFYvaWN4YlZQMUgzeGE2bkFnRkk0b2tsYjlFSmk2cS9OSC9LNndrUXNHSUlrbmxMNUdKaXlwL2VQblgrTHg0SXFTTUZwSlUvaEtacjZqeXR3UDUyMDJFZ2hGRmtzcGZJaE1IK2R1SWdxZ00rVnVMMG5CYzJrRCtZdTcvcDk4d0lyeDRmS04zaE9ZaXFyRXE1RytTSDcvaDM0M2pIdjh1M05TN2FVMFU4L0Vldm1jQk1ib1FoVmdYRGFPMEc1czJpM0hqNzdQZW4wWU5HME15RjF2VVNpYjMzYjJpOGg4aFJzK3VoOGVPZjk0eS8xNHJQSUpRTGFhdmU5V3VhUEJrQzNkQ1lVb01lRDRMRG53d0RycnNjSDZUZmRaeXF2TngvSnRCNGluejBZdS9jeDJZaUsvNDNmRFkyemJDNGFjL2wvSC85MEs0OXFHZ005bWp2UGl5K2ZRd0JMMS83cUc3WDBMNm43R2JQM0h4STZHR29vRlB0UE83Ly96ZlAzdjMrVy9XZ0gzT2xiei8wdlgxT3MvL3pzQlhGUCtHL3JaY3A2VndDUEh0djdqdWQvQU83N3U2Zmh6L1owUHBXRWVuSy9QbG4veU5yM012Y01nZS9wUTAyOXE5ZytvdGJBVjM5czN2YXFhbnF2K3N4MWZGL3ppdmYydmIxemZkbEptRnNLTHhWNUl0TFNJV1pOaVpjM2Q0NmZ3dGJrajVnL2ZkUDAyVTNjUi8yWGgvWUZobm5heFdnVS80VmtTR0JHNVdPamg3cStEY3VUTlczOXkvdGpsVjMrbEhmOHBpNWpqRW9PV3Y2VCt0UEtwUERWdXNGOTUzM3g2L3pXRHhUWWxWV2V2NHpwMW5GRGY4TXoyUXUxOFVGdnFsRnlrOVNvVHhmMEpSeERUYWZidGs3cUc3QU53MzMwWVJKREswY3ZhYUMvSFBWa1AycW5jRFpLNjBrdG1Ua3VQWEhFUTd2Qm5KZHV6MWZ6NzZNT2phN2drVm9aR1NpL0pxMFdydS9iaDVtWUVpNDNZSUh0NDdRUG1qNS9xYkJxRWl1Mk1UeWxhd3ZwWFVRT1pXbjNvckx6bk9qdkEydTBhTDNLSDVLQTNONUs1aTBUdXd6VnRYZHppOXRhcHZtbk1JTGd4TS95R3NibnV0OW5USGRkODhnTjdmWjMzTTdXMS91WDBILzZYSjMzWEhxYStOenAyNVEvTk5kUHI3UmEySzUyQ0NYNmRKTHh0VnVsVG1CaWgvTzZEYWRxN090ZXhLSkxrRHVKSkRzOStmZmpQMGxTM1hjOWVoVS9TVTJycUgrOUxCc05sYTlLd01KelRNNzRNVlRhSEtkRlp3Sm1qUDZMTWpKc05tVTc3bG9UTEFGSDd1SWduMjRVVW9uZnN1eDVGNmI4bzNwUlprMkQzQ1d4eUt0T1AvZXdveWJIdVNzTm1PMnlpc05wc0l5TVk5dmVaQXBybHNaR2N5QUNidkIzdmxRWUtFU2NDL0ZqWW5FWFIySFBqeTNIazYxczI2QW5BNVlicWlvaXY3VlRHNWcxc1NWNzN6UTgvQnlkOGNvMW5ZbDNUcTY3UUlnT21TUWVibzR3ZEpoeVRKWDJwT3UyS1F4OFNuQnVVMnBPM1lFWmZjYWx2WjM0cXFYeFhUa3Iwc0tjaTJpNzU0QUlPVHYxT3NBVG92U0RxTmE4Nm1GWTM2dm1iSm1DUnRJdWF2UDllY2J1TktEeU1yaXRWWDdtWmRTMTAzS0gzamsrdFh4ZlRDakl5ZHozZGgzdURrNy9naHFZRmxDNU5xeG1iZVV0M2Zva1VRMlU4L3Z5cFVSOVhLR21Qc3hiNjVwVWFuMWl5NXlFdEdEWDJ2U2JKc3lyckYxTUNEazcvNmMwU25YQ2VhSXNjcGRXTzlDZHpyZkIxRTJuYnB2ZXJYRlZaVlh0djJVN0E2ejIzQmUxaEJKelIyRGZ4a2YrVkRoRktYYU5yZzVLOXlEWnNmcTVNdG40QWFReHBjdGd4bTl2SGprM0w3QzUyeTBYblFPU3Z2T3JmcFRTM1pzVDBETmUwL3BQelZiSThZRE5qQnlaKzc0aFJBcUVHTHpDNGs3dkJMekJHdVZkQzRIS0ZkeENZeTdBZWRzdDBSeFhDRi8zelRTUExvbmFIQTA5UXV3eGlZL00xRFpUZEE2SnFGeTkxNGIyblNzNkljYURTZG01NTE1Q0UrS2F3cTV0QnhGbDdidmpjWXVTRUsvL21PeGlBY0xXbWI3NlpLQmlaL0o3RXdpTkF0QzR1elhaUzJwVW12aXZqeG9zMWVZVy9GT3lVbWpJZGhabTNlc1dnelhPRS9hVzQ1Y1R1WTFoV1B6Sk8ySTNibXFBY21mOGNRVkFNUGRhRElvS29zeVRmS0JwU2xQWkpWUi9lSW5pbmgxZTJRQjNYc2N2dGVoaXY4NTl1aGtjdTg2MUcrYU4xZ0dxTWFtUHcxd0Y4S0ZFbEh3YURKMmVucmp0UHN1U1ZQNGVjdUxreExtemdGc3lKZVZxR0pxM2N3L0NVMXgzRzZTNlJ0cmttTDVNRXlnYmhoMVM5R3J3T1R2d0o1TDY3OVVQZHh0WDB5S0IxTWxqNitJWm5aRHdwT2Vmb1BLeFA4S2F5MTc3TG8zM08yQit4NURia281a0toY09Cem90ZEtwOE5YQkRNdytYTlgwWHNGcEs0VEdmNDBPengvZDdVSUNnLzkxUFgwYnNIYmY3eWJCMzNPZE9pcTBOZGwwWUVRaDhKOXV3WUFlVlVyNGo3ZjRzbG5QblE5ZTlWYjFhUjc4cmR3bDN2MkZYc0dEbVFmZURUM3F1WXlXK25Dcjk3Q2JuMjc0eng5UWJWLzRGSFgwbFJWVTJhQmg3ZnFJSFhEVjg1dkVIeG9MUnhNeVE0b3ZKcEUxNTk1MUQwTExuVk5PUXFsemVVK0RQMTNXbW9SWDZQcFI5dzc5eW13SWZlY005Y2QvS0VQb3M4M0pHOGdTS1VTN3JmRlhZdnZQSjFGTGF5ZUZEWXVmek11TzRObHZxWlFJUE4rRk9COHlxK2JaYmJTbjNQWm5YZGZ6NzVsV3V2Z2YyUHNyTXNPZC8xTi9YZXpYTy9CaWRiTk5BQ3NqNlJQRnc0bVZ3YUY4RlRqcHN5dmNYYStvVHVlSFhhNzQ5U2VuNFlKYXl4YndDKzU3Q3k3c2c2ako4aWF6eDhZejBwbTNKNjlRRzBoaGhmUkpKcDFCZjMwRGJzMy8wVE81OW5SMy8vc2szK05FWGhOU1A3bThxL1pjM0FteUZ6blgyRkhIM1F5LytYWHJFNXI2VFI3aG5xNDVPYVVwZjhqeGo3bVpON0hEdjFkbXlRNnppSmZ2ZVRkMng0dVdMV2lIMEdmN3NETWJsdTRBSlJrQ3V6S0x6bHpOWnV5YjJvK24yTjNaZy8yOEhMZ1MvRGJraENmdnNkWnlMME9Say9zT1J2UGJNL29oL3hGblcxcDI2T0NrditBRUpuakRkRVY1dGZmYVlFZDdWUEpKU2EreUVIeTkvZ3pKSXc0NkhHQnFuaWFGZEx6b0UrS0xLV1ZvMjNSUU1vZmpPZnZVVkhCdXJYbHdQZ3A4Z2ZVNUtyS0o5V3locTQ1YTFqUWhPaFhQZ2NLYlNza1hQOFZka1N5bE1rSm1lblVldm91OStZMW1PQWZPUGhrSzFnbXkxNlAwcWtqR0wzTHZIcWVBVmlybWJ4UGk3UWk2RUVKZGtLbW85QXdZaHBUVGI0emRuTmJIZ1gzSDZ6ekRPUnZ6bDJqTERTNjRrNG1MK0hLeHVxM2xNNG9UN01xNWE4bXFBR0hPRjdDM1pxcTNxVG0vV3RId25VOS9DRUJlMzZGK0xIbHVMM2NMODFJUGU1SndxZEZlRHIzQzlKeGVUZXQzNXowWWpDSnR2VWNkd0FkMnhkOEZnSXE3MkJmd3N2RGpQSmVyWTc1aDRXQVFmNk92K2hWVjdXd1BxRldFYlRwaG14dEtTMnhmVkVyVHkxRDdMYThvanhjNkxaSk1LeUc2ZlVXZ2creTBDMXM1SVB1NFEwUFA2L0c3R0RCbGFaZ1Zqbm0wVkNDSEk4WUtCbXg1Nnd1QVpWYUk1Z3VwVVNpZFJHK1ZVNnFZbXE2Z0xzTENzZWkzeHZBUThVVnI2NG9yUXJrcjdicmxXRk0yNkpsVHNKUmlFU0lKNjB5MFZxWFZwUjlueEdjS1NvcHJuZDQ5amN0cExxaytDaDY5aTQxbStpKzkzL2JwZi8yTlU3eWhvNXl0SVFRd25ZQXhxNTViVTdMVEZnVUFyNHUzMndrbjMrUEN1ZHB6dURHQ0I5Qm1XV3pnOHlYMnpIdWYrV0VtK0FoOHhUK1c1VnRIc2d4Wm15eStGTWNXVWNmdkpEYkVZQjVEeDd3RXQ5WkFWQ1NTd3FmZ0ZDUzZCeG53bEpiUzNQYW9IaEVnQlh5aVFhTS9ZYnUyNStiRWxxUFRoZXYrcXZvcnFpRlhsVm1YTUMyU2JzS0t1RU14cUNFSnlwcTdPYWxmelFkVC82QVNTZ0RXaGVjbmlsQ0RhMTMyYU1PY3JucTVZeGZCQlBicGVjTnNJaFpkTTd1K1ROS2YvNGY5RDJEYnpUd05IemVBR1JEeEl4SVpyMnVNYWxTWGhhVjVpeExPS0RDZG1MVncyZ3B6UmdxTHN2QklGQXJIamh4UldaRmliNlVCQ0hBYmxOMWRSL2RYak51Q2dGdVMwc2FjN0k1T2lHaDEySTAzSThyRGpxbmxic1NDUldrYTh0ckNFbjBPRmdueFFldHQreVZsMnphdW1Gam1WY21wc0ZySE8wWG5SdnA4QjRUaTdsN29DK0x5T1VEaDBIcFB5VWs0TFUzajVCT0taTkFKbTlzcFdDRDZxNnlTdG1pVXFMVThnVlYyNVFwaXc3MFF2QUI3Q2lOWVJRL2JBelRuejNjTjhBU3paYW9vNWdZc2NUM0JJcXBlTGh3NUhuZHd3UytlZnFqUUZPbVpvN1l2eS82MHBkWlVOQW1HYlpTdzRmTGtTc2cwc0ViZjFEUUoxQlVmQkpRMXdvcEs5VU9TTnNVd0VwM1l3dHpXZE1ndHlXMlVzamZyb1FzcjFJdXI1bnRaUDNlcHdTa2ExWjJBRUlzajdjVzFmN0hiRFNBZkFPYzFTNUdKQUxBdDZ1eTRZN0t5Wkl3VjFnQWFjaVI5ZFkyTitpZ2NzMURWSW05V3NJUXhHRkxZRkc3UmdXZmNhc3FBK3ZBSm16d1JxNWVNSkMvRllseGxXZjRUMDJBb3ArV1VsTW5OcllBRHI3b2w5Y1E5ZUlZV244eTBvNlFTMnF4YjR0dFc3Ymk2bWtKQnQ5K0VRWHJlVWN1ZFlEbjJ4cUVJTGlnNXE0Sk9La001dm5VVjVVRTRQRkNFRXhKd2hTbEsyQkJXcFg3SWw0SFhtNUlvQS84bHBkemRmeER5VjlaeXltQTZrTHVyS1ZvL2tNQzVjSTZNbkFHdEV0UlZHd1JJT295STllclV3SlJtNnBjWm9aRy9ySWdMMlpBRFNoV3hianVOVUlUY3FnaHJqWHBJUEdIQlV2VThoUi9OVlN2RWEwaFErQ05CMXFRcm9BRmpVLythS095M1F3RUFaSkZTdjdBc1ExWlNHK2plVUpzTGEwd3hyNkhCRThrTEZIOXNtekRzTVVTd0x1ZVVKM1NCblBGWDRtN1JadFJib0hxUXdIWUl3eGQxTTdnb2tnZlpjSFZhek1LT2hDekp0b3RDcVFMTjZJQUV5dTJ4VEEvSWhjRmY3UTJ1UTRjeXByNmp6WXFMVjBZSC9GUzhnZTREUTJJb2ZMTmdyVzBoRkoyK1BFOUNiNWpMb2E2dHUyeVhseTFIMFNMb3RVb0hUT3NlRlBUb0xjZ08wanFqSTYyUjZZdjNCbmFXb3RZbG9nMVhjcFpOTDIxamIyUVlnV3lwbUV1YlhTeDdGWEFMSXRBb0FTTWNLVXhkMCtYQldaaWtjeTNkSlkzcXlCZjJqZVRvSzdXTktoZnBtSXNJclhPY0F1VlJsNnp2WlI0UXVsN2hRU1c1VzZaRUpWOGVLaEVwdHFWajRyMEVCcExwMXJXVXArdGxPcmFRTGxFNUk4R3JheG5vRzViZ0VBSFhMTE1lLy9qQnhoN1pVdHRtQUxNajNMdUtsb1V5VnBJdTQ3bzEyb1lsRlpZR25QM0pHV09GTWlTRlE4S2ZmSUhNbHUzbWhiNUk1bmExeGpGc08ybFRrMVFlcmpHVytEMjhDVXk1WDE2VkdPa0p5bG1hcFUxOUdtQ1I4bGp0RUZTWjlUODhjZUZ6akJkYWh1S2lpdWY2d0xhcGJwdTJKYTg0V1liUVJjTWVyTUxsdTdWaXVDT21jc0NFVm5WM1haSW0rVlByUi9Wd0NKL1VPSk44a2RpYXk5MXBsMUI1ZEU2NGF5SU8zR3huU0FDRkIxN01kTWVOVFhUc09nL01wNm1MMkxTR0RCZndJbzhkKzZOai8zd1R3UnMwQmFzcHJlL0NLMGFSaU9yckFXRWZiOXQrNkFWNXN5MHowdjVnNnBRNGMyV0hueiszNDY1TjVXZ0Z2a2ppVFlrZ2pvQXRMM1VjUjVFTlUvZlJpaXJObTlPOXFXdXB3ejhNTy9TZXFoNjJOOVdUYTFyKzVlanNSdTBSdWs0MzhFOUNvY1BtSlpGQzk4K0F4NlkzUE5WNHR1TmNEUnhKNnU5cmZMdGYzY0N5aDh0K2xiNXM1ZUMya3Rad0ZPaU5zSGs3N2hoY1VtdWw1c0hQU3p5VjZKeE5STVg3dDVOd2lXakxzblIzeEo5eS9BZnY0Vm5KSGR3UXhiK2d6Z1kyNkZGdzM4VjQ2RDNqNVNtd1dKZnBuS1NpSDNLZUFrS2lzVEZYc3BCUHYwSVRSTVBvMVEwTDBSejI2VnVHQStLVDd6WUREUXM4YjhHaUZQOGFTWXkyRDB3WEFnRzJRV0s5a0liQXNhM3owQUlhMW1VKzh5eUtPdnhwV0I0cFMxZCtaNS9RUDVhZVdtUlAzSzYxelFxMGN4ZUtzQitCbFJ3ajZSbUVTYU5TdVlxMTJRT1YxZWJEMVc2YUxyWHFyVC9HUXhIMmJab3ZaUFcyb2pXdEtrVmJRQ2xXU3FaK3d4TWtKQnduMWx1YXQ2cjIxd25qVk14VlF2MG0ySDNCRDBXK2FPQnJtbHlNVHdLbTlwTEZkajcwQWczeFVDUEMzSXJxaDNmc3JTUVZlSWhId09Jc3ZOdFQ3SDE3UHhmRmFONnRvbU1jTGUwMVpKU0U2NWxNN1E2Y29XS2htbWg2bXE2ZkdiWmFOL0Q4MzhkdzM4UUIrTWdDM2x3QmxGZTFpSi9aQkUzTkNEa2o5eGJhMm5tTlFvT1U0VkdPNTIwc1lTbFR3L3BCUGFaNXA1WDdKamJPd0U2aVBOL09kQW1mU3ROY1pnY3lWOFkrUGF3Y0lCVStLSmlJcTNKQURlOXdyTnFRZERMODM4ZHczOTRkbXVzWGdKdFdZb1crU09MdUttSHNTTk1xcTNVZS96TllTSGRGK2pQZTJ5YVN5UGpPZnIwa0U1b292eHFXZW8vdCtpVjhsZ3dZRzFwU1RaTStFcDlYWTZGRS9xaFJidEhRd2dHeTIwdTRyb2tpZ3Y4UFM4bnE5eXFSVy9pL3FhcGc0YU5aVjVadkFlQzZJZTJCYnROL2VuYmtxbEhTRlcyZ05ya3IrQ0xhQmVGZTJzclhUQTBGLy9mQ2xpQVZoOVQwK1BsNk5ORE9sRmdzWG1PYmVlZm5ZY0JhRStIK3hwZGtqblMrWmFuMDZHNkNNS1FRQWd4MDg4TFFNd2s3ZUJPZUtvNXA1WThCRzBmRytWbWdlL2wrVC9TSG50dDZmZS8vNUgzeWRVWDFxbVpUZjR3akdXTnNpTFVrNjEwUVhxK0FLL1FUSkc1NFhpOTlsOHk4aG9qZlhwSUoycGllQW04d3ZyK2gyN1NyeHo1dk1ZSUkzV2IwMVl6VW52VkNPdFVHak5ZTWdvWmxDN3pTbGNwbVJwbi9uUnNwYWI2N0o0cGdVUHRvWTc3Qmc4Sjhpam1EWEw3ZExISkg5d0lJMnlURjZkbWJLVUxocUFXdWU5UjlmbU9lZDRIOVdPbWdvRWQ1YmxXbTEwd0NUV2I5amRQeHNWMGhhUDBYdkFaaExudmk0S0R0OEgrZzRTT0V1aWlpU3d1OFRzdGw1NGxQdWxiM2h5a2R6OUZXMUJaZGVmL0V4MUlrQ1p0d1JOYm0vekIwOUp3VUUrZTIyRXJYVEM4OHgzdXhlMllCc3R3RHhWSnlMZ2UzMlJSRFpNczgrS2FqV3YxbXZCRnZBWERPbG1YUUZqTHZzSGRweGticUxVQkJHZEFib1VRa2wxRlRYV1hWMnZ6NFMzazR4S00xL2I0cDJMS1NrdGZXRFBydWhBajBLN0JMQjFxc2VzL2VMUWFEbXBmcUN0TDZZSjJpYkhYMlFVK0xFMjVTdkhDaWRjSDlXT2thWE4zZy9JZFRQS2FVWStzRzlmcStkRkZ2VnNFWmMxTEl5eXVramtGR1Yva0tTUXFMV2NGenl0d3R6a0dWM0ljWnBuRWUyYzVKT0k0NERtOUtpeG9JSEY3Um5IRjJJRFV2VlZpMDM4T051d2JzdG1PRWc1TEtYU2lrdStpdDZzMS9aMzZOWW5GdkI1dmtqOXlZWmRNQUhyVXRPWXJHTkFOeHU1ellLS1FnUVc1cjlyZGYrQ0pqQ29JazZsSy80L2MwbDFzZjRXU3lFdjNHWXdrUjdxeUZRWnJQRmphMDE3dWdNSVFKRURoU1kzU3pia3Qzc3hRaWREcXk3eU1ZbjFLY3ZMS3U3V1VRdjQ4TkdoWDlYYTFlTE5rMDhQaVpGeVpFd1hlcGNLTmh5NGlMOHZ2RWFLbkdQT2tNY2ZOd2JsUm80K0tDLzdMbG13N243dEpaaU5jNit5cTE0ckkybkNjV2RvREkxVzQxa09tNmsydnUwK2wvVWtVRkYvcDBGVldEeDVRbVp4OGY5Nlo5ZDdrSS9tVnpXRnRwQmdVbGRNTTg3c2xBVnBMSVg5eVR6WXZyQUNLNUc3MmhDL09JckVZK3ppdmlPTGlLckxGaTJZTSt5K2JEZUphQVdWeU1KSDdyeW11T21YdmtGcEVWUEJHZWNzRjlnRnVIMHBDUjlURnc4cVpRNWU2a21veFlpL2htdEZTa1A5OGJtdFprU3JOcTRRQ0ZDdXd3STlMOFZOOXU2SmhUWXNCdmxoeXUxZGFOUlJBYXltRVRWcksrNlRhKzd4VWdKbmM2d1JtOC9LWkhOcmNZNVJrS2lpUWpiM3lXYm5TRGJCQlpLRlF0UEJFSmVDRUdzeFg0M20xMEtSclJFVDVlZGlIRGVpOUpicmpWbTJkcnVWclBHeDFnbnpBZnFRSEh2cEVscWFPM2ZEWWIzSUNMSjAydENIbHRRWHVPVGpPVStRWHpsOThpNHZtQnkrOXVPMzg4Y1hyQ05VM1hmd1JEdmVFZ1B1cWtpOHFiaW1GL0ZVOUt6Q2ZFOGJCeWVCc0xwRGpJNHJtdjdCVEFkS1hycWRlR0x0NWc5ODZ6aGZla3VNRjdNNkx2eTJLNlBpOTFLcXFhQ0FaSW0wNWJzL2d4eWJIOGFQODAya3gwQlc1cXBtRjdHVmhsUGlYWHdpYnNQQW5EL1pLeExmYVNvd3V3alF0ZUJQSGZ6ZmFORnhzc2g4TE9YYnc5ai81aTc5bUwwTURlaURucFgzK1Z6QThMK3pOK3hqN3dYOSs4cS9FdC93azl1YlNCZmI4Z3Z1dGtMWW5zM3ozeStId05kV2pmL2lUSnd1MjFVNzZtcWN0Z1ZJVm1QdjRlbnl0SXltT2RTVktsMkpob01iNFM0OTl4L25YaDlsM3hrUTF6ZkNnNTAvZE56ak9mWEIyM3FIMDNPZloxVzE4QWZRbXZLTnp1SDdhdCtPTTJXUEg1alYyNXV5NU8rNDRmKzZNYTlFMFh0TVdTemFUNTlQL1BWUTlEUVMzM25IK2xqTU04bmR3QnJpQVN2bzdFRDFLbi9TVDBGUTZqNldOQTlENDJxNXBVay9uZU5OWCtwdnl1K0lCOVhqdWpISXFpd2ZvMWh1RTRpZGVLbG0xdE8xN0VjeWNNQVB4dW42bng2SDRIMm4rRk1OL0poT2JNbGw4TUhsWFVwV3BzZ092L0dsOE0vbEZXVHdNVi9FNWRZT1V6SWZlZEhEbng0eUNkbG42WVBaTDk1dHIvYVg4L011bFI5alpONy9MQkp6N08vVHh0MlpKdUh5VzNKdUVFdlpjWjg3ZENnbkhNcE83bk5Qc0FDdjMvQzE2Q3EyZDhjZHYrOWFxY0lYL2NwN2QrdnV3RXJIVEY5NTA4UEoxd3JKdzErRWZhR3pFNzIvZzVUK2YrM1orMVhYUmMvZHhMbkdscEV3WmRCNlllYzdWdXFJTGZoZTZiZFFTTnVXSk1aRy9OOHJWTVg3a2cxSCtYSU1LTDNSa0RRV0dWSFNnSStSWVZqWm8rQ0l0aVJGNjFsTnZWTHNPdktJc1hWZlFvUUU0clJSVkVpUjk5dTZ2NDB3OHV1RnR2eVR3TFR6TVN3NS92N09ZSTFxZzRsQkpVREppT0U0LzlEdWV1TDN4c1k5c0M5ci9DNTRXMG0yQmpWdXBZM2g2T0RseVhFZkpreUdRQk9sNW42d1ZVUEwxdmhKTFR3aklKN29TTEYwTWUxRVdMUERKR3RtRUt6NW5xL01RaHVxL25EdVRxbXAza3Q1K1VJUjdTNkduVExsbForV3I5bTVLYUlhQXhpU25hdlBaSlBqRTJHd0hUM094SDJBRzd5c3B5RUxTUHV0eENOSytqN29zdTlGM2I3MXBvTmtMMXBxSktjeVp4MGxvMUZQc1NoanhjNXhDMytKQlNVMUtSdTBUa3NKWWdpRDVjSjBPcE5kcWFIYloxMjdTYmxxUEZ3VDVDeDBmbDBwc3lYYy8vRGVuRWxjNlJiMzE5WVpma1gvLzFKRWJNRDVKZXdJZCt4dStTbnBDNFJPZlUvekJSUmhDazUvTk1MMUhnUzAxK1dwUmNQamJGTXlISzZpaVIxZ0JVZzdjM3d3QU43NGd0TnZZTllkWERlOFA1NjZhQ0VZZ1gwa3crdWNORjRKa1BoV1l5OTBlaUExZ2ZwUGJHS2paR0FFMU84NVBIRzZISGwxanhIZzRGOGczQzhPR1ppK21HR3hGNHJsK2tvSHdNQlFQQzJ3SkhEQm9tWTVpbVU3R1A4SmhrTkQ3N0luRWZTN3lZbFkxNGFlQ1dWOStQS1A3eTZRYTd4am00RGliWnpncjRhMHZtSktUanoxSGcwRmwrUjhYaVpGTFhvejI0eko1NytoalYvUTRLRHZwNGVlQzcvejMvVzArNTlpRmt6c2pGWUhKK0Z5MUxrTUxWdTMzWXA0T3RQY0ZabnBxSWs4REJldG83S0J5cHVPODROS2h2ZkJwbXRuT0lZZkgwNThXVS80TlZ4S2RsaUJJQ3M5cFF4V3FRbXVHSHI5ZHM5Wk1TcUhmY2E0OUYzSGNOZE9HUjhUUnQyYUY1TDJGaHVuRlZGOGJkQ2lMa0wvbG9NQmpDVWV2VjZ6S2tjMGU3TXRzeU91cEtOdVdrSDBrQlg3YUgrOU1CRzNGOEdKQ1JCRHE0UDVXSWdTTUtoTHlnS1hqSERSb1pSdHJKYXJtdENIcmJWbkEyRWdvSXZMYWl3a1RRU2lEK3h1aE9obzNZRG9udVM4R0ZXZGlUbzhNSCtlN0hBbU5Nc09tRjFNSUVVRW9nUHQ3VVRvY216WWxjRUFNNW1Rc0VTcStNQ0k4S1FVKzJCMThRSVlYRXlxQ0FMVXB1Uis4czdHQ2JDakhPWERReWo3K3VYdnM1VU5YK21ENDV6dGR4NkM5bUhBUkJMZjUxRUxYbnNZTm9LSWM1OEJCcTNGalFRTGowVjVNcUFnQ21lMGVhT01FQnRRM0ZMQUEzblB6NEVHcnZ0RTJPaDB0U2p0NmI2aHdDcGx0ai91ak05U0VLUVVITHZSbXovb0FBQWFWU1VSQlZCUEtURlovRHkzaExpWUFuZlJpNW5PaDVJaytyY081UHdFc3NnOVJPYzVQNlcyd0hUSXQ3Y0NCaXZCaXl1SDhPWHBwWkxVRDJ2R3ZrbzR6dlFlOU5QN0Q3ZFVJaFJkRHB4RENmTmFObmhwdjlvcW1rY0FySGVjQ09IRnRKQ2dlU2lMQlBkalJ1VHprTUV4MGNSSGdhME01b0g0UlJSeEFYNTg2d2pYNXA2TDlHc1dnK3hGZXpOUFBrQUlNNGREdEFIeDkwTVFQdFA4R0QvOHR1QmNLWU1WQUtSbmx6ajB2Qm9kTzZUeHppSUJLY2FJL2ZrQXpYdUdPTXc2ZDdvQnp1Nk1zQTRPa25Yc3htU3dPbldaRFNSUzRQK0ZHSjA4QnFIdHg2SlJPUXE0TWNnNUh1Vy91eFh5ZURwM0NucWpINmQxSEJPNVArT2xUc092eVBCMDZUVU9oM2NXbExRU2s3bWlHNzJScFI3dlVGcTY1QXNCZmF5NmJxSHZ1T0pmNTBhbGN1TkRWUkxHcDIyQXJzS05WcnNrb2poVTRqa0RlNG1vMzNHTmRUNDd6M1Y0SW9JenM5bGdQdG5lRGd4MWw0clZWNUFLN2RDU3NtNzJqYWdRd2srTXNQa08vaU55RkVTQjVHRWtrTG01NWhCV1FYUTlJSTBWcjlnUENqaWNZQ2QxVmIyakVqTWwyUmlKUE1Ya3hNdXF5Zy94dVFFeTArZ09DamlsWVEzTXJaT2hxVEJrU2FWanlJU1kxcGpqQ2NrQXNXUDJqOU5wV3dGR0ZBYXVvMDM4OGRKVWVnUW5EUEFVckgySlNBZW5Db0RHVnVzRjlOSDNnRWZmbXR5dWtFNUhKRytmUFNCZXVUY1Nva3g0azlKaTJvN25nY1lTeXdYM0grV2wyY0dlZWZXdlN4QTAxUGpEdXNpUXdYT2hLdGtxdlBPaXM3U2lFS21nY29XQnczMWx3ajlZYzU1M3lUOGttZ3E4OC9DZEhHaXAwSlJ1bFYzQ2dZdHBSVW9ZQjR3ZzVNMWJkOEVJeDFVbDZIODUwbkIwSGpBc2N1a3JsenVCQTNyU2pJZUlJWVBpdVJETW5lRDhyLzcxUlZvenoxWFNjNlRQT3dVTlg0OHlWMEdNRDM1UVhRMy9WcDRJeG5USFJmMi90U1pBVDRqOUdNNU8wSlNaYklSbmcvVW45cnI1TmN3RTVRSEswcW1Henh2OXQ2MUpManQ3K1VNWEMvSkl4MzFlRjQ1NnArd0pRWVVKWDQ4NlpNT01qT2RyVURScTRYZE8zN1hONCswUCtXNWZqNU9XbXBXN0tjdnZHWTFGVE14M25VS0dyc1JoK1FvT2dkYnV2Y1ZFY1lWWGZ0czhCOEZsWmk1Mmd5QzZHZW9OT3RoL05hOVowblBFVlU1ODZITTBoRFlCcXZ4ZmpVQnpoaFNCa2xJd0huaWVWMjNkaWdqYUI0SlIyblBrL1JtbUhPQWdIVXhqaVFMMXAyWUtyZ2VJSU1OU3Jrb1BINVdONC9ISER4SHdRdXNseGRtZ2hYNUFjU2E5Qk9lRDNZb0xIRVNwRytHV0g4VU9ZNkJMeG0rMmdQWTg0WEpQalRFTlBqOENFbjlPczM0c0ovQ3BOenBDMG9vclpZRkxXd3RNd2tpMmFIT2NRb2F1UkhHNnZpRzVldFJSVlhlN2VHVDQrcEMxdFJXMUZJSCs3M1J1UEJRVFoyM1Z6SlBtZ29TdXowYVRuNlNIbWlza0VNaXRxWTJ0VytQUDR5eER0SmxaVkMyeGZ0dnlBWTN2WE1GY2dqUktlVEt4dlVJNHRwem9Ock9XZmYrbXBab0EvR0lHM283ZkplWFZvQy9LMzJxbTdNYXFycXNQUFlsQVZjTzdWWXpUQWZnd2xRNHZXcC8rS0tBaHdqQVgvdmFDYjVVejUwOFg5R01EQStyZ0VObWtQQkdUUW4wako5MmdHUnRWSWRmeVpoejZSSjZheEd4NzdpQ0Q4QXcvekFuYmJEM2NaU2QyME5WcitNQWtUSUg5em43MzdVYzZuSzU5NDI0YkhxSm03WFY1eStOaHVGODZsMVpJRG52QjVBcmZIQ3luNkxOSytoTEpmQzZiejdhcW5IcEMvWlh1RGNTcWxQWnBNd2dzcHkzdkZpbkVhY0cvR1VtQm56cDY3NDQ3ejU4N0k1eGZUN09ETXVWdnZPSGZHUFZ6djNLZXJRczZBMHlHY3laQy9reDZiN2poM2l5dmQzU0xuNWZsYnpvelVmMmwxbnVNaHJzVzIrVVZObnI2WkRQblRJMDl6ZytFQXRyK0duK2VxL1VjcWY0T1pqMG5wZGY2UmwvT2hZdnU3cHNmc2t6OURMalZFbWtzNWtBUUhpaUsrWEpRZUkwZXE5NzhURlA5TGdwMHBqcEFjd0M2UCszMTUwLzNEOFZQNTBuQXFmeUVabW9LSDRRQ2RPYUtqTHRoK3JCcnRzcFA0L00wWWY1cnRFd2V3dmVDUGZSRUE4d0tHWHIrKzh3ZWJmYUlsN1dieU9FRDZqdzRuRk5XQlA4NkRzcnJGMCtPMXlXTkxPdUorY1FBUG1iQy96YWl3cTlkdlhaMkZtYUR6cC8xaWVkcVB3WUVhbys5RVR6SC80NUZqNmxXNEtaWitCY3BnVjVwTm1BTW44TEYzK3RqWVRUNjgrcTJQWTBvVCtnRFNtNVFEaVhBZ2szOW0yM21LSFVFSkdnbmJFbkUzU2U5ZkdneElzLzNpQURZWXQ3Q0RqYWJ1Y216ZksybVlqK1dhZ05MYmxBUHhPWERwT25iYldqT2Fzbnp6c0pwdWY1dDVrOTczbmdQSHhadUhjLzRqd2Izdk9PMGg1UUE0TUM4MndDZU1sMEpTeHFRYzZCc0hpdDVyYjZuNTdSdkgwNDVNRGt5N2gydU84d3ZzdFdaaG1rODUwQzhPUElqdmo3K0pYZlhIWmZyVmVkcFB5b0ZMajdoblA1NktueUVJL3c4WWNuOVorTXBVWXdBQUFBQkpSVTVFcmtKZ2dnPT0iCn0K"/>
    </extobj>
    <extobj name="334E55B0-647D-440b-865C-3EC943EB4CBC-21">
      <extobjdata type="334E55B0-647D-440b-865C-3EC943EB4CBC" data="ewoJIkltZ1NldHRpbmdKc29uIiA6ICJ7XCJkcGlcIjpcIjYwMFwiLFwiZm9ybWF0XCI6XCJQTkdcIixcInRyYW5zcGFyZW50XCI6dHJ1ZSxcImF1dG9cIjpmYWxzZX0iLAoJIkxhdGV4IiA6ICJYRnNnVUNoY2JXRjBhSEp0ZTJOb2IyOXpaVndnUVgwcENqMWNhVzUwWHpCZVhHbHVablI1Q2x4MGFHVjBZU0J6WG5zdFhIUm9aWFJoTFRGOUNseGxlSEFvTFhOZWV5MWNkR2hsZEdGOUtRcGNaWGh3WEd4bFpuUmJMVnhtY21GamUySmZRbDVjZEdobGRHRjllMkpmUVY1Y2RHaGxkR0Y5YzE1N0xWeDBhR1YwWVgxY2NtbG5hSFJkWkhNZ1hGMD0iLAoJIkxhdGV4SW1nQmFzZTY0IiA6ICJpVkJPUncwS0dnb0FBQUFOU1VoRVVnQUFCK2NBQUFEVUJBTUFBQUM4RHp5VEFBQUFNRkJNVkVYLy8vOEFBQUFBQUFBQUFBQUFBQUFBQUFBQUFBQUFBQUFBQUFBQUFBQUFBQUFBQUFBQUFBQUFBQUFBQUFBQUFBQXYzYUI3QUFBQUQzUlNUbE1BdSsvZHpabFVFR2FKcXlKMk1rUWY3cDZUQUFBQUNYQklXWE1BQUE3RUFBQU94QUdWS3c0YkFBQWdBRWxFUVZSNEFlMTlmNHhreVYzZm01M1o2Wm1kblpuRnh2d0lDajNzbnJFeGhONjl0ZUxJRG43RDNWbUE1YVFYd1VGa0srNEpCS0djRk0zNGJEam43cHdlakJFS2lqS0xFVVEyd1QzMlhRZ0NsSjZjWTRPRFRZOElpblZHcE1jUWpFUVM5ZGdYRUlhSTJaM2REYmQzbkN1ZnFsYy8rOVhyZnYxZTFadnB2WHAvZE5lckg5OXZmYjlWbjZwdi9YeFJGSjZnZ2FBQjF4cDRKTDV5NkpwbW9CYzBFRFJ3ZWpYd0hMa1N2M0I2c3hkeUZqUVFOT0JZQTR2a202TkZjc0V4MVVBdWFDQm80TlJxb0h0cks0cWF6NS9hL0lXTUJRMEVEYmpWd0RueUJoRGNQSFpMTlZBTEdnZ2FPTFVhNkpJRDVLMU50azl0RGtQR2dnYUNCcWdHUHZVaCtSeVcwY2dDK1J1YS9BeFpMME1sSSsyek1vOGZ5b2dSdklNR2dnYnlhdUNJeU9kNjNqUzJlRDF5bVhyUGtSdTIwSkorc2N3aktVa3BKQThhQ0Jwd0JmcVlIRkpsenBDWFBPZzBnTjZEVWt1US9LMHRNL0VUUSs5bWFIZzdiUnB3QlBwRmNwdEpOa1ArbndjSkErZzlLTFV3eVVjYWhIejlua3BPMzc4dXdGNHA1TlM3SElHK3pjRStsd3p0SFlzZFFPOVlvV1hJUGNmR1dyYzNPSTNhNzdEMzE1WWhHZEpXcTRFajhoVVhERnZKa0I0VGVYZGRrTXVnY1phRU1YMkdhaXJ6Umhra3FPZDkvUStSV3gvWmUrSURZVmRXWlNWUW5wRWIwQzhSc3MveXNrcDhic1FOb0M5ZjRHVXAxTWt2N3kzOUJIQ2Z0TzR6NU9ZQkpmbUh0NE9CWDFhMWxhVXZCUHIzL2ZtekgzM2dqcGJIYzRRa0RYK2I2TjVhRENmT0FIb25hcHlVeVB3cmpuOUZwRGxMdm9FNi93ZFF2NHYvcGZqNEVIOTQ2aGVTLy9CNytqVlFCUFNBT0I2OVMyL3plYnhvRU16NzAxL21FK1p3cVVrYVJJelpOOWwyakNqcUUwSzNYVDlEdnBaVG0rRUJFeElQMFU5QUEwVkFmNGFCWHQ5bDN5ZjhyZTlsSWsvb0pmVDBRaE5WL2o5RDNoVDlDZXZYd1RXK25yQ2VSeDI0SEMwMXBHRlhhMVNacDhDcmpBYUtnSDdsMlE5amxlWkZqVzBzM3JwZWx1d0Vwd0I2b1lrSy81Y2FkT2gybEJoMkN6Y0Y1MDFDYmthem9pMkE3ODYrQ0FyL3Axd0RSVUFQa2REWnJ5bkpsdVZiN0dZeFFKRTJYQUgwaGpxcWVXR3JzUCtaa0EzS2JrNDI5YlNyMyszS05nQlY0bkkxK1FsY1NtdWdJT2hYaWI1R0F6QmVZem1wRWZMWHBiT1VUU0NBUGxzMzNrTDZhTjVScnNtaGl2WUZ5UWRkL1czeUd2a2FuWlh0Z2ZJTHJsT3BnWUtnNzRrMU9pYlVMTzhIb2hYWjVYc1JOb0RlaTFwSEVtV3JzVkI4Y3FqaWFGdEdQZysvWk85MTRyV2lUL0xJV01GeENqVlFFUFE3aEoyazVRSzFhZm56WjllamtBSDBIcFdiUVJwTE5WczRSOFhuY0hZT1ZMU1d1WUt6RktidmxXNU90NnNnNkx2RzNqaFlldkxaOWlodkFMMUg1V2FRSG1DK0R1ZW9lRS9mMzFQUnFLZjJHc21KZkJVbHVFNmxCZ3FDUHFaVlFUNGRjdWN4OXZRTUEwQ0d1M0lFMEx2U1pINDZkYm9lUTAzNXl6U05EdnBhVFBReGZjM25CdXo4K1EweHgydWdHT2d4c2FNYmMwMnhVTGRKdkY2WEZVQS92a0FkeDhDUS9nWklBdDhIbExKdTNrY3RUT1VwZHNHOFY3bzQ1YTVpb01kNmpYNXVYaTdhZDcxdXlJc0M2Q3V2VFZENUJUQmRmUERYR0d0dElpK2lpM2JhT3YyQ2owUFZsY3Y3c21CWURQU29DclQ5RjQrY3MyK0lUVG9peE8xL0FMMWJmZWFndGtySXRoWnRsYllBL0htVW9LdFhBL2tabjR1MWdtZjRkNkdCWXFESEdwMVcrakQya3pkczBsbDNrYWtzR2dIMFdacng1bzlsbWkyTnVJN3M1cDBGZFBYWFJlaGdYYmpDL3luWFFESFF0NDFsZW1BOUtmcEZzMXR3TG5vQXZYT1ZqaVBZSkxmMEtQTnF0bTRHRFh4SG5MQkZuT2FHSGpHNFQ3RUdpb0VlYTNRSFNpaHN5ZGxnYjdOKzUvSENtRjdwdkNJWGpEaGx3Rk9lc1N6M09rN1owZk9XMTVLc25EVWFoNHF5RjlnVTBrQXgwTGVNWlhyTTZDUlZvV2ZNNlJmS3o4aEVvYWNmcVI0UGdURGd6WnVWanQ3QXVYeWNmZHdFRmVIbUZ2TnBtZkU4NUNXUWRLV0JZcUNQOWJVYXV2bDJMeWw0L1JTT3F4eHFkQUxvTldWVTRzUUdISE4rYnZGV1V0UUxDZGpwQWo0N2F2K2NHdHhYa3JIQXBJUUdDb0VlUnA4YTIwVVJ4dlJKYSs5NVNCL00reElGWFN3cEp1OHZteWxiYklQR2ZNeEIvaVdnL3RYLy9Bcy9OelFLTU5PRXQ5T2xnVUtnaHoydkczTm9BNWhRNTgxSkgvZUNocDdldlU1SFU4VGt6VFV6eGlLNTgyKys4RGxDdm9ON2Q0QjYrdXliMGNMYktkWkFJZEFEZkRkMG1Uam8yOGFPSFQyQ0kzY0F2U05GNWliVEZYTzBLZ1c5SG8rUXZ5czhsajdJM3I5QnZJZi8wNitCUXFESE12MTZWUHZaK01wbkV3R2JpWG5mOHQzY0I5QlhYYUVBNkdUa3BqSCsxSVBIVjM1UGUvL3lnK1QxK3JzV0ZKeW5VZ09GUU4vR3d2eFNsMXdVdGwrZlRlUXRHN043UHFRTm9QZWgxUkUwTVVVYlZ1Skc2R2RLZ3dxQkhpTzl3NTNqejBhZkpzZDdWTzRlMjZvNXl4WnhmT29oZ042bmRpMjBvZkRrYmp4TFdQQ2FXZzBVQW4yTGtNZVpLWDlFdnBWS1BzTm1lN3IwVG1TdlR3QzlWL1dtaWVNcXhIQWZUbG90MCs1VENQUXh1VlgvZGlyNVRHTFJMOUhGM0xQZU8vcXdaRmQxYlJ2STg1TlZjdzc4UEdxZ0NPaXhSTWUrZEJEUmJUbjdOSFA5bTFHdDZmL0RScUduOTFnVGJLVDc4dnlrTFRUNFRha0dpb0NlSHFSbVpuMFVOWkk5ZUF2a2RiSHZxWHNvT0lDKzRscFdGK2NuSytZYjJIblZRQkhRQTN2aXZFM003OHo1Ukh3Zlg3N3ptZHNBZXAvYXRkQkdRViszZUFldjZkWkFFZEJqbVY3Y2tsSTM3c3J6cllvQWV0OGFOdWxqOU1iUFQ1cis0VzI2TlZBRTlHMTFTMUxMODJGYVU3a0I5S1krZkwvaGZvVDAzaHpmVEFOOTd4b29BbnE2VE04emhtMmFiS1hlZXo0Wmd3RDZhdlFzdU9DNmU2OFhuUW8rNGI5YURSUUJmVXVkcHE4ci9GZVE3d0Q2Q3BTc3NWakZhWG50TlRqdkVRMFVBYjEybWo2dWROQVhRRjl0clRzeWJ6cXZsbm5nNWswREJVQ3ZuNmJIb0cvYlc5NVNoQVBvVXlyeDZ0RXhqMUI3NVJXSVY2ZUJBcURYVHRQVGJUcUgxV1UyZ0w0NlhWTk96ZUY3YzZwbEg3aDUwa0FCMEFONjRnb2x1cVp6NENsbkZySUI5QmFsZVBSQzZhNTVKQjlJbjVBR0NvQWVjN3FYZVc0clh0TUpvSyswbHRBbS9VS2xIQU96U2pSUUFQU1kwNzNHODBZL1hGcEpOaE1tQWZRVktodmZza0xwWHErVW80M1pJL0dWUTV2L1BlTTMvOVN0YjZ4V21BS2d4NXp1QnM4azhLOTl3dEJ4enRPbEhVRHZXTVdqeWRHdjBtK01qdUkvOURseUpiNm56L1N2eExkZXFYMFMwTDlHbzZnQTZQdHFRMDdQNDVxT3BiUUQ2S3VvRXBJSG12UXF0MTVKdnJwamtYd3pMSTU4ZzR6MzZMZTE2a1JPdGJ0enZCRjFxdDBPVVFEMGRiVk5DL2gvaVd0MHVZRXF3cC9qMS85Q2FUM2JTanVBdnJSYUp5RXdRSEZPRXQ5SFhIWXpTelBYVFI0ck1idWQyMGN1UE5JOFI2K2htS3R5NGJ0UVR4K3JiVnBOTmIxTFozMjA1ODVXU1VYWlNqdUF2cVJTSjB1T0p0M2Y0QzFmVmhna29zMDhtNEhuNjJRYVFjL3ErWHkxcXlRRmV2b0d1U3RLRENnWGMzcFI3VE9vSk85NGpENi8vWE9scjFteWxuWUF2VkI4SmYvMTRRL1pWY0xWWU5KbEs4THRzUjFoN2JkL0NwYm1GSUwrSERPVmE5WGVTbFlBOUdxYkZyMU5ZMDhWVWx0Wmc4RC9kUlZRd0dVdDdRRDZBcG9zbmdTbG04dXVMczVoWE1xRkJNZG5jT1A2NktlTHU1eTYwd2o2bmVUdW1VYWxKdFhrb01jdVBMRTNCeDh0MVNkV2o1UTFpRytjaVNQM28wc3JJOVJlMmdIMEdlcnk0bzJ2bGNrWkd5OE14aFB0SlR0QzVzeHZxMWpTZmV6U3J4OE1waEQwUy95SzhXYWxreWVGUUgrRHF4MWQrNHRhQ1hTVTNSL0ZhclpQaTVIYmFTL3RBUHJjQ25RUWtYNmNVcFMwQTNKRlNNVEpKdStaWEkzUE5JSitsbjhmcmw3bHh0WWlTM1pxOG01SDNhWkJpN1RKSmFCdUJCM1MvNEtQdmJRRDZBdXFzMUF5dXZQcWNxR1VyaEl0Y3ROeEpwZlpPSTJnNy9DQlM3M1NEUkdUOS9UaU1reVViSk1jYjJrRnJIY01BMzVQcmhZOGdUT2p0QVBvSjlCaDZhaTQ5TDdpVFNQRFdXNXpzTS9sTXR5bkVQUVlLbTh3b1pzVlhDdXJ0RnNBOUhXeHZyQ2dwdlFvUVN6YXJVdkN2Vkl6ZVJtbEhVQXY5VnVCQTBWWWFWVk1pOVRpbHNZWmJkeVlqaVY4cGhEMFo4Vlh3eG9sNTcyRkR2TDlGd0I5UjR6MEh0VVc3TUFOVzdXdlM2WkhwUTdhWjVSMkFMM1Vid1VPak5BcU5UcFRJaTJKUm1mVm1DOU94ZU1lVXdqNm5qQmhxcldwQ29CK0lHYnZXMnEybnVvZFc3VVB1ZjZqcUdNczVrbnZmSTZzMHE0SzlQTnZ6cGZQRTQvMXpMYkhMSFFCK2oyUDlNZVN4dUpRd3I5TjdveU5IRVYrUWYvRGh6bXlNR21VTHA4SWg1bC9qYVZkZXUya0pJckVMd0I2TWVNSWMvNjdkSmFyYXBtZWZnV2p4TXBqVm1sWEJmb1cvNVNITHQycGRNLzYzTFBkQU9oUFZPcTJxRU9Ea3pmdnp5YWZhbldyRDJCOW5WSEU2aWcza3VNTGJsbFlxUlVBL1FJM3RnYjgyMWFDcnJaTUgyRzU1eVhoUC9sL1ZtbFhCUHB6bGE2ZjVGWlA3ZUdrMzlNUzFHS2oyZFZDeWp0aGJnblFsU2RXaUVLZjhMMUJmV0VGanlUanRhZnZscWpPbWJrR1NyWlpJQno3U2F4MysvODRYS0c5OTVpMHA3VnZxV0YyOUxEbzd5WVp4KzlBaUNOOUpuRmtsWFpGb0srZnp0TmE1eXlIelo3eDk2VmdUTlBtc3Fvbktkako0c2JjK0kyNko3NWtONk9OWENjVFlsUnNmRFVtYWNkaDJtNGtFWmNhT0gvait5blEwMGZQTUtQay9SckdXUzZiYXBrZVIrNTRJMTBvLzFtbFhRM29NNDg4ZmViUG5uMzdnNjh1SkpHTFJHMkJBWTNZc3I5UEJVUFpwUXBSNXZLUitMN3I4bVVDQjJ6ZXRTUjZyR3JXaVBRK2UvcDg1L3hHWk00YU5CQTcySUQrUXg1ajRLOFpsM2tvQXZxbHh1M0Q2UFBrV09TVEU5T1c2VGRUZ1pKaERrZG1hZWNCL2Z2KzdObVBQakJpM3VjVnFNdmFjK2t0UHpxY282NHlXSXdnZXRMZ0pEdS9uZUZXbHVadXM4VFVpU0ZkNmdVVnNjd1FUZEo3UDdsRmNHUjg4Z2VsZlkybDBqWitqNkxpRWZUbnhKQjdGUC9KdzFyQ2xHcXJMd25OODJIKzVOVHlweWdDK3VoeFF2Q0orbTJUaTdaTS8xOEkrUTltNEVSdm1hV2RBL1NJZ2tjL0VXQ3lSZ1VhZnY2ZUdTUHp5b2FUQm4xVExPcnErVjMwdG44Rzg3SmliVlpuT0tuNzQrUzEwWHdoa3dHdHpnYmpocHExbG9PdFI5Qjd1dVFpRnNPV0k5SGxROHhPZHVYTm9ZUmNVUXFCUHZyVUE4ZHZPUnlpTDVmcGEvK0VrRjhiQ3B6b05iTzBjNENlYmlNYmFaYitxN2QvRloyV0pxOTZtRDVQVTdlNVRIS1U5Zm0ycFovL2ZrUWVZVVJNSk9URWtXbHpkWkJPRmY5TjJzK0p6eEg0WFM1TmFaN2MzS0l6UjRlVFUyb2pBK0xaelpIY0graFh4Q0oxamx4TUVFWHZnQlRTWjhXYzNnU1VKb3hhRFBRMkpsaW1md3RnOVBhblkvSzZEVnVFM0g1dFVkVDQzOVZUNVFEOXlyTWZCbzcxWTBBNmdjUk5yWUhYY08rbEQrRGxhN1U0dGNhSTJZaDNuU0RvNmZtWDYxcEd1Yk5uYXduUzBTYjM2UTlyZjNJU1NORm5zNDl6dWJycUlRYWJ5SUI0dG9mQ2JLLytRUC9vMlBQOHR2eU05VXRNeDBSRVZlbVduQXlxUmpKM0IvcFZVVUFBLzhaSW51TUNNMHM3QitoQkc1Mzkya2dXRkQ3N01zWVA0U2cyT2lQeHpJMGFVMkVaNjhSNmVucE41WnJJcGZvLzc2QTdWdFEwVjkzUWtoWXdpZk44Y2pwam9ZaDkzeUYzMkpVc2ovV3NKazRxRy81QTMvUXpjUUxiK0FlWmhFOFlzeWY5V3luUkhIdTRBNzFjcHEvOUtZUXBrODNNMHM0Tit0MlI3TEZBb20wMXc5S2pQZ1crb3dXbHFad2c2RkgxclgxQUkyUGVNWjM1eVh5Z2xpSkd1Y2xrSjhueXNqWm1OU09NZUd1S0VTK21oVWRFazBIZVFMOHd4bktVT1pqUWdXWjhneVZCbDcrbTBwNnhHWFFxMklITEhlaTFaWHBZd2RzbDhwWloydmxBM3g3SEhhYUFYb3RnV0tqdXU2YTVMU0xvVVMzQlByMzZBS0hLcCtLMDQ4ZStwM3R6UnJaL0tnZlpMa3pCN2JQUWZIMjFTVWlPMHJxMlpRc3pMbjN6QnZxMnVoTXV6YldFejZwUU1Ib2hiZUMyWUczYlMvQkpKWFVIK2liNWlxVGVKR1dtbHpKTE94L29BZUk5bVJPYm8yZE83MU83K1VERU96ZDZ6cVpoeFoxSTdQVS9SamIxdGtvd214MDFIaEdSSnY5bkE4N0prNWtwSGhVTERvMXMzUHd3NUJwNjNzU295TzZ2SVhyYXpLZ3N2amZRZDdPbWRrMWhzOTdtNHlIeE1KNWtGWFJWbENkNkliM0d4bjVHRXlwLzdrQ3ZML0QwaE9HaUdLVmRtVVdZTG0yZU9CL29XMEtYYVphSno0NDV2VStIK0xzaTdpQzdkdElvSndmNkpheVNXdTN0ZVdFRkN4SGMvTlBQMjVTdWZIWFJFY1RaTXc5ZE1CcDZXSStCdWUwTFRCUnMyMWhQWk1xS21vVDZBdjF5eVlhZWppYUhuMzJhNWJhNFZucGdhbnFUVy8ySldCNStuWUZlVzZhUElzaTVOamF6V1VWb0tXMU9LeC9vNHhITDlJd1FHT3ZUKzdSUHV5RnlXeC9kcXA4YzZCZkpFZko1VGVSVCs0OXQvYjhXWHN4SjdSL2JhR0lTYXREc2JoSy9xVFE4VE9EelYxTVAyK1FoRDZHZytkbE9FbVZGVFVKOWdYNW10UEUzTEUvcWZmbVZLUUhmdUVWanlYTkVIWE9lY3pZSGVGSmNKdkZ3Qm5xNVRFKzVvL05VdG41V2RyS0swRkxhbkVRdTBLUE5VT3NmVnQ0TnMwa0NQNW5iY2EzNnlZRis5aGJ0TWRZc0F2VzFwUWhMY0VHdlZYQWJvOGV4bEhIaHdsNFNxVG41T0JXOXlBWkxQRHZPY3VQNThBWDZNY1lmNTE3ZzcwallhTEZacnVkTERZNXpaTVFaNkdkMDJ4TUZWbnhPT2J1MGM0RWUzWXZlajZkMVFLZW9MbWplNENlcjk3Z3JHRThPOUlPN05KKzJwclJ0VmhsTnNqTE9BYmk5VklZQTBuYUYvWW96V2hNM0lDakhBOGEvbHhNRHZrQmZWek0rSmZVeGxIeVRLeGdWY2w4UHF1VnM1ZlEwRTdtZGdSNDlnMktNK2xuY05Nd3U3VnlnUjZRMWxST0xpeDRmMjlmOHdVOVdxM2IyMkpPbE9EblFkMTdFaElKMTRISk9kQmlhVE9XZE85REtYNWNqQThXS1ppT1dHczVORW5Vb01STmFZOHBUVVBRRStwcVlqQlI4blAwZjhkN3A3RERJdTU0SDljNUFiMHhHQUZkc01xYVFmckpMT3hmb3NZbDNkeVJmYWlZbmZVZ1NqVTdraWR6MjliVVRDNVdUQTMzamN0UkNSaTE1V2pHbmdTd3hpbmgxd1d5dFNFS1ZCcFBTd3FLS0o3ZjhNT3JhWXJUa2tGNVJ0cm84Z2Y3ODVGbTNaaS90S2E2Z1doMDJnNDdFekdVNmpSTWZaNkR2NjdvQk9yOVNPSHZacFowTDlPMXhsUVIxMGNBT2JRVEVsemxpTVFqTnlQMkpnWDRaeHNrUk1ycGh5WmpvRWkxQnhiMWlNQk9RTFVnRnhzSWhUMXJBOHNQY0RFdDhQbTlQNnduMHM3dy9McWlFRWNuYWZIYXpQMnhlcm5wam1lVEdHZWpyT3N4WHkvUVMyYVdkQy9TYjR6RFFJM0tveVhSQUd3RStDN0E4cnRNOE1kQ2ZSV3RFTTdwcnFVVDFNZWFKSmNsWUx4U0NzV05rYkFKTGhJWTBXMEh0QlV1RTBWNGM5RzA1UmhnZDNkZm1uSUczYm5jMUFUMlVveHVla0hKRzcwREhTRjBrMkJub3RXVXZlc3pDR0RWUG1MSE0wczRGK2p6TDlNS2FaeG5yb1hwZlRySjRkcHkyVHd6MFo3Qm1Edkd0SzE4N0l2c1Q2bmxVZERwcmFEVXJSaVV5d3pER3U4dDlZTHhOZnB0Zk16SHZXM21ya3FlZXZ1V2hTVTNVTXBkTW1weVZnMHVodjRXOHhvMUlNT0cvSzlDaldOY2xhMHhIbGprMGtGbmF1VUNmWjVsZXpDK3hITU1LRmZWcVZUZFhwRGlhNDhSQWY0UjJDanFXNHhBdFQxRXZiMStvSnhyanBudHp4Z3gxeGxDSU1Ma2lsbEV3cFRkNVQ5OW4vTWNhWHpJYm5rQ3Z4aWlTa3lQSCtVUS9hVk1DK0JucSt4MXg1R1JjZ1I2ellkZGx6dDZ0aWx2NlRlRElMTzA4b0lleFpQVGphYjd4VUgvWlJQWG1zWTZzUGFsRzRzUkEzNkw0YWRnN3pObHhFbXNDNUhWaUJWWnFKVythb1hpYnFoOUFFekw1YWs2UGJJUGlySDRhYW9pRCtYcmtRUTNzRXk0bUczZHZTOGtFWHF3ZjhreW94NklYY3NkTXArUUs5UG95ZlEwd090U1pUT2pPTE8wOG9OZldpZXhzNldqMWdoWkVsKzJGR2RyUnpCVXRpbktlR09nYjY4aEVCMW5kVXBrUnJuTUZiR2VSTnV0L0ZhektXR3VnRzBzRENvTlVxZUlzaG1uL0diYi9zSnVHUkRvcTgra1hzQ1l5U0duZTRndHJtcGN6WjUyMmhPY3NyVnJYcUtITytBbENya0NQU2lLcjQ1Y0krVHVDZnBIL3pOTE9BM3JFdVRHU0tWb0ZveDFGQWprbWJtcm1Ta0trOWpPdkpQZjlJeWxhQXZxVjcyOWMrdm9Eazh0N240N3ZHL2FMb3JUdnlzL2VUMTcvemlqNjBqV1ovcjFQTnl4SlpUQjFyTEJlYjRDc2Jodis3QVdENTdSblNaOGVXRTF1a2V0TTZXQkU2QWkxUXplLzN2dlIrUGg3UkppZXhuQXYwU0h2V1Fza2pGakpTKzJ4ejN3Wi9INzVmejYybFE2dC9jd0R4OS81UzJsL3plZUpML3pyRDM5MWpDek5EeGZ0WElIbUttSzFaalJIeXJ4SE1kT3l0R283dGpwY1NneE4xbUpYWUJzRStNdW02aGUraU9waVVUMk5XTEswUjRQK2tmdHYvMGRxRGhxdFpGcjlGT1NIUE5mMHI0MzNQZjVPaHVldTV1c0loVkdONnNBZUJ2cUZCcm1JZm5DRCs3Ry9EOEFEcCtEK3JlNFhSV25mZjlFZ2IzMzdLOGxyNTFVdW9hOUxEWEpyMzB4cXZwMWpUU3BrVThsVUJNQkw1RTk1bG5UdGdKV08wOG5Kd2FTWGh3SjZ4bVRFNTZHcm1OdzZIRWV6ZnpPcU5mUGRBMytFN0NaUE90TXJkWEo4UHlGL243RTdlM3pwOVE4OWRQVWkwMWovNGxYcXh1cHlseVUraUo1c1VJZGVGcXZXYVpUUldWK3VFM0tWa0RlUGprVjNxMStJM2pOMGtUeExNN0RNMHBRVHc4aUttNTcraWYrRkw5cjhCcjBGNUlrdmZCK1V0bUh3a0M5bFMzc1U2R3UvUTQ1alhIelZOdnB4aS9vcGNtU080R2lwVGJpWXNqYlJzOXdrdDMvL3NVLytMcnZvalNhaW9GOXFmc3RCaFBPU2VrZjRITG45MDFIdEx3emVVWlQyblNkM0tJY25HN0VjU1B3blFuNHhxdUhPV0pNMTVhYWVWVGI1RFJ4WmQ4bForMytWdUlnTFdoazNxVG1HN0JuTlZFQVQ4cEtNdmtodTRnYmkzNHpGbUVvR0REc1d5T3Rpd3lnYmpxRGVqOGpGUzFjZnVuci94WFJMdFZRbmQvZWk5emJJZDlEb3RNbG5EOVYyUDNFcTBNK1QyLy90dC80dmxobzNhRnoySEdrNUYzN2ovanZrYTdhaXBaOU1tWTJwZER2SFQ2VXpqRmlwN1RyNHpFUTVNUXpXVGtEZlNwUW5mbThlR2l6a1MrblNIZ1g2UHJtekZ6MTNhMnZUQUs1Ri9XM3p5Q2kxOXJkNUZnRXFtVm5tYUJGYzlvM25TY0kvZEVWQi84eWRMWGpONlVmZXpuSElQbTVBMStMYnViMUg2ZEZqaU92TUVjRTJaNGZLV2lON2xFMjJkWjFPUHpCSGtsVCt4bVJYdWgwNVlyQXF0d3Qzb1BYdUxZMVlyWmswYitmSDQva1Q4WDJmTFMzUFRtSjNvdTVzZ05iODI1K0NaTERkYURrOHg1ejM0UmJYZi9ad0RQZEI2d1hhRnFCSTFBSmp4MlpwSTlLSTV6MUoreEwxMDFiSFVLcWw3enQrRzYxTXc4K3MwYU93MEpKaUdCeWNnTDdMbEpmOEhGLzVpTUZBdlpRdjdSR2dmMWNDdC9wNlN3ZXVUZjFvRmZRKzVraXJtek5xak1LeWpmbW4zU1QvN3psT3lnYWdYMnBzVUQvTUI4ck9Dek9YdTlRdmluYTA3dEhpdXlCbkQ3b0M5R0luSTYrVUNablViemNCWU5Oc3NFUzBMbGtUVGxmL3RERExFVVZCeUZZRCtiNHNjalluN05rZEdTeUNmUHpMWlNYWnF1SUNkOElIRFYxWXBiK1hjRjJLQ2ZraWF4ZWk2QSswcnpUV1ZjN3paazhNU1JiWW1DeHZLajNlT1RVeTR0NWx4ZENwWTJzbmpKdHFudktsblEzNmxVWUNvdG5uWTYyVmptenFSMlhVUkVibmZud281RCtqcDRWblV6UzR5eC9qcUFib1ozbnFybW9oUGk3aTRZWjNhVFpFRnQrMm5FMFE5OTFBcE4yRWZaTzhLUEtSL3VkRCtUN3FxNlZuYUUzZUc2VlpHRDVzYjg2NjRUWHBTME1hTTFHRWJPK0s5RjNlZmtaell6dENrYVRNZjB1VURVeXp2WVFRdE1qdHBSNDUzaGJFNGR2Zzg4K1lKSkd6YXczYkxJcElZLzAvSjY5YWJ1NWJJNHozVEZmMHNtSVlQQ3NFZmZuU1R1dEN5Q0p1NWFTVlZkVWxxL3BqZlhwL0JXL1hCQkVNcGVnYWlueGdnL1ArYVZQMFdnQjlmeitKY0NRckVSYW5lRHk2cWlaYkZJdHZSdzRmRm5oUHJ5WkFCeU8yQU0venBxUU44VGg3bVVzNCtyYjI0bjEvbGZYOHBaN1c3a2JIb20rOHNFY2E2VXRMNGpxUFFTZnl0N2w3UlpUUFlrUFowQ01wbFFwRUs4ekxCcGxZVDBpaEd2Rnk3bWxyQXloak9hTURONCtMOXVyYWhCazRFa1gwd1luYkM4RUo2dDhUYnZaZldneURXbldnZDFEYW1hQkhnYjRoRVN2V3JHNllNZnVKcjZaK3VreS9udmhpTlFIUjN5eGU2QktLYWpEZ3V5TnJBYUlsUjNJYTVJVkxQSDViNGcrTmd5d2kzUGl3bFVTdytjYnFBcW9rRXhpbGk3TStHRXRzYzlLcHZ4bmV2Nk8zVXBsWHNUWlZTeU05YXczRXpYajJaYXdzQnpLVGpJR3pJb3oxcDVPT2IvM1Y1SGthN2dPZWd1ODlqYUw2aUVadUxQWGNFWHBLakxybzM4R2EyL0U3MnRyQVFQYi9iTXFGRHdGUlFQdTVtU1VSK1laU3VqbGhmY0trSWpvd2ZpamM3TCtzR0FheENzMTdCNldkQ1hvVUdGZFNYKy9IYmVxSFBzazdmb3Mrbi9seitzV2FiOVQwY1NTckJmVkVlZk8raURZVVNYTUFKQW1RcnNvK1lFZkVReUpNQXEzVHhMVEpVRDBaOTYxcDlieStUaU1CeFpmcFB4N1ZtQ2Z2K20rYmt3SWRXNmMrTVBLZEpHUUdPcUxibmdzNmJhc2JVKzlhUzJhTk1zYVR0ay82STZJUHVNREkzd3ZDeitOL1V3M0NsRkdGRzMyU29WVE11d3FhZ1lHMkhFcG5UQTlacnBETmJlYkkvYk1zT0I1cFk1cmNxWk9JNk1TMmpTUmx4VENJVlFoNkI2V2RDZnBZVmlDOTZLenFCdzN0dWZVT1hSMDdSbytKbGxxWTZrZ2hlbm9KVXVBaUFRK2FCTkVRZ0poNHNmbWlMQ1c3empwMWJtb2RpVzZqeUdpSlk0Y3pVSzJQRWFGSGVMK2srMzVNRTlOMGpsOGhqOW8waFU1dFlqZmFSUDJSSms2TGF3MldBQjlZVDB4NmdnUm9TYVh4aGh4eGN3UGx3SFlibmxNV0dnUDl2cVRjRW0wM210bEQ2WnZMY1ZZMDlwMWg1T1pLemlLaDBibXV4eTR0aGs3TTNlWWNrNnJ0elVGcFo0RWUvcS9oTE5zYWlxenFwOHYwL0RuK3poL1lNbkxhSVM5cDd3UFZDOWRGMTlCUXBRRkM2eXcycXU4TmxhekxHM3FiTHlyYnZvaTVzMDVkVFZrUnFiMXJ6Q2lJaVBTL0xoZ2dJNWJOc2F1eXpkTVRsWEVmUVVVU3A0VUlRWHNTYnFBbVc2V1lhMjJVWVZPSW9UVVI3QTFacEdqRXIvRklPNGx6UnpUcTFCc1ozdWZCN0NVSlF6RWVTTjljamxtaE9HVlo1RXBuUkJveUVrcUxZUkN2c0tkM1VOcFpvRWVsdXM3RmdsTVdrbFg5YlZSblV3WHFyY1d0dnNTbnF5ckpNNkxSYnFpR0g2Qy96Q0tDNHJxaTBlZFJiYjU2NzMrMGl6UXdIdVd1TmN3QlpzR3NKdWUrZDVEN1BjV011MVl6VTZhaTV2U0FGTmxOVUM0YXlLbUVXMGUwbVVncG5SOTg5Vll1UXFVaUhSR3lKZ2dBdit2Y2pma1dtQm4wWWhMMURIVFFvM0NUd2tDVlMrdGJKYks0VmtXS3hZcy9hQW5PNTZXeXl1S1hGc1BrV3QxRW5vUFN6Z0o5UStpWm5VbVJBbHJWdnlsSDZqS2VkSFRWeWpMOFVPKzNSZEJQL1ZMaUFpZFJWU1hvZDFUamdFaW9PK3MwcnRVWHlVVkZXS0YwSUpBYStHOW10a1lMZk40cDJUTjhuWkkzSHZlZ3IwUDRjdFozVjdOL1l0RStJdGNDVFlZQTNsNWFZZ3dHRHJBdGJnaEd5TkZCOUtoaFdRMTAwS09CU0FvYXpZTW9jSkYyelAvcUVHREhSTGNIRDlFb0xZYkpwVXJRWjNWa1pvNUd2R1dBSGdzY0VqcE41Y1FLbkd6YUZWSG9UNXFkeWpkeEdhQkhIVWszOGcwRlRBbjZ1dFk0TUZqK05hVm05ZTJBNW5kcmxWdlJCVGdBQUI1aFNVUkJWQWp6QXFyaUhXbEdpcG16T1dtYndFU1Zrd29xenFyTjVsZkJCVnlRazd4VUlKMUtFaXZsMDVtSWZSRUN5dCttYVVCNGUvb0h0MnVDTk13cUtWS1Bxckc1TG9Mby8wRExKRzBna29aMmN0Q2pUSTlMN3lNY0t1WFNZdWlDVmptbWQxRGFHYUNIbXVWTW1nNXBxL3BqcmVoTlZWQ2dNcndtM21BbXNTWWpxaHVnNk1tZXk4d2Y4YlpsQk5yU3NNeFlmZHZ3SmJkKzVVQkU3K25aSGFpaGd3am4vejA1ejAwcm82eTVNdFlaYlpBZ1BjczRLRXhWdDFpSUVnaGM1d25wbXNPZUlOTEV5KzJQaURmUC8zUVdmbC93d0l5S0hNTWpTeStjUFphWm9sRUdXbFM2Y3BNTXFkREtiZ2tDOUg4cFkvUERIOHRJYk5uaWV3N2xleUZIUTQxS2tMNjhHR1ltaG5yNjhUSkJHeE04TnhRM0I2V2RBZm9kVlVIMTFweXVoeEV5cEg1YW5iVk1xZXhSbC9FZEZvQmFqYmRGdklicVV4RytScjNCVWxyZmVFVkxReUZxOTZYVm56N2lYQ2x5THB1cnFHM1FvYVRGMDcvNUlmNzhQQkxmRmQ3eTN6bm9hZTR0VnBKa09ONUI2K2toajRiZVVobDVmVXFhM1A2bDhTUWN4S0Q2M2hCMFVQUksyVjFDNnJJSllERUdPdWpwMk80eTlVWWRFdW5aZjR3QTYzTW9vckY5VGFxSWhmZGsveWJveTR0aGNoOENmV3dWQ0o2SElsbFdCTHUvaGk4SHBaMEIrbGhWVUdQTzNLWisybFZlRUxJTS94dWdYN1ZObEZ0QVQwdEVhb2NkN2FVMTNPNHJ6bldSV3h1TU4zUnk2NnZFMHpRc0JoYk9meUNnOXFTYklyUS9ldlR5YnFhNWEyWG8wR1pqaXhOQU82am1CN0JHenA1L1dJWjYzclJVaml0Q3YxK3Rad01xVXpZQUl6Y3dQR0xlTnd5REhzbnN6NzdJazlnVmxSelZFcjRUL3NkR3oxUmVESlA5RU9qdEFzRjNYeVRMakdFTnVDR1NSWkdEMHJhREhtYWJ6QjdLNklKa2FWTS9OZHFsTERJbWR3eURYdlZQSXFZRjlIVE81MUNFTTlEVFJUVzdielRmNEdwS3RvSjErQnYvT3o1UWREUVg3VFgxSnhYTGVVK1B2am16QmRJeU5zS0p4bFUyVGdPeGlabkdaMFlFSmI4L0lyV3JJRm9LK3FQdWRxRTZOYmtNakN5aEJXWjFkeGowUDZlVDA5ejM3VWxxUjl3N2MrcEl4c3gybUQxOWVURk1Ua09nSHkrVEptZ09KMU5jd3RGQmFkdEJUOXRCb2ZKVk5aSUVWNHY2YVF0L1lLcEF2UmxqK3A0MlBTaWpXRUJQbXhHTkltV0E2SGJmS0tKSHZOakQ2bC9YTmtLWHpJUmpVYU9QWGxOTlRZa0laOVNnUTNpVis2ZENhRXdMRUlPbEl5ZFhXMGFXdjBScDQ3bGJnT3FrU1dqanBaV05ubnh6YUNuY0hOTmplb2U4U0tNUGorbDFFaGx1SFA1S251c1pFWEo0TjR6cDJ2SmltQ3lIUUc4R3VuMHJYOXAyMEtNeGxwMEtZSDZvY20xUmZ4dmxvU0lNdVl6Wis1NVdiV1U4QytpSFNvU0QzdTRMT2svV2tRUDYwTXFZRC9TelVyeWtNVm1UMmVFTzU2QnYwd3dPYzVub0hTMnhSRFZBc0tVbC9oMUtITStoNXVmSk9WUUtPaGZVR2pYbW9BRURvNmV2YzlDRGdwNTNuVUttK3p4SHZUbG5rQm5kRnBBYjlEbkZNSGxVQ1Bxb2RHbmJRZC9XZG5GM3pMcWFWdittRGNwQ0pRYm9WL1hwSnhIREFucmFweCtLY0RhUlJ6RnE5MlhSZnZNcHBFam1pVHE1ZXZxQmhFOXlEWGFxTWpsZnB6OUMvaXc3LzVTVVkxMndTQVdtWU9LcGRVbWE4RWRpa0JkckgyTXBsWWxBN1dMYXVGcWVuZUdnZ1FINkpqZnZpNEErbXNmdFVYaEthRkROVXRHc2x4ZkRWRUNWb0M5ZDJuYlFvNGFLK29YNWQzTWNubEovUzE4a00xVVJSYTNFcEV1OFYyMmxaZ0U5SFYxc0tFbzhtZDJYUi90eDVJSjFoSDF0RlVtUkdIWjFtS0hKZlJ2REVJTC9xaktsaDlNV2UwZStob0E2S1IzVVU5RTJBVGU2QUtCVSt6S2trT0dUa3A0Z1BpMkZRMnY4WmZJeHRYZWJ4UmdZb0k4NTZGSGw5cXdFUm52K3l3K0Njd2JyMFNtVFVIMXFpbjM1UFlOV1hqRk1ucFdDdm14cDIwRy9vN3BMck1wb3ZTS1RkRWo5S016ME9yZFFTVWV2aUxEVE5iT2FSN0dBM2xoUG9RQmtDTFQ3Q2tiUisxRWw4TEtwdFZjeUxPV0lMMnRlSFV1MjJteVZVSXRFbmNzWks4cC85VmZqejlOM2tUM1prQTdSemZjS3VBbWt0NGRIejZDd1VpL2JxdVRLQmwycjJiYkdmUFFtNW4vbHJBT05NakJBajRSTTYyaThEcTBFeG5sK0VSU3VqWXVVRlk1NnZLdUZsUmRESXdabnRhQXZXZHAyMFBkNW93eHBZRW1LL2tXSnFhc2YyalFXUTFRczZ0clVGbkxwTlhicFlhMEY5SFR4WUZ2UkFlaXBNV3YxclgyTGpBZFlJVkZ2bE4waDRxYTJpS2VxWVMvVjFLRTNiU0JmR2MrK0lKMzFIeU5oZHR1WWxVcjNCK2h2OFBlT3JiTkV1QUU1UGEwN3Q3R3J4U0JiZndOZFB0M1gvQWI2SzAzSUlBdThiV2lSSm5DQy9JVUpvaHRSd2Y2NjVsRmVESTBZbkZXREh0ZitGaTl0TytoYmFnQ0VkbGxVTlUxTVRmMjB6Y3d1aW9IZXZkR29CeG9WNXJTQW5uNTNSaXVoSG05M2JMN0xxaFZCazNLTnJlL0p6WGJEck9RNy9YYWxldWhFNGE1NlpTN3pIb0FrVUM2V0lQN3djMkVvZmVxVkpyaVI4cDNFQTlvVEJIRGJrRXk1ZkNDYzNhR0JtUEIzK3grbmxjVVlMRUtuTTJZUE1kQkJUd3QvZzhaRTQ3MU4vM00vLzF2RVJBbXZDL2VrL3lpOGJUMU5hVEYwWXRXQjNrbHAyMEhmVlhZVTVqTFhJZDlmYkZFaGJlb0hCYU41cC9IVTB5YmE0SUFhQmZzcUxISFpRTjh5MnBGTlF0Wm9YSnZ2aXRaSHM3dlgwRWlObisyaDM2NVVENUpJT0FuZlRZdDlFMkhNbXZIY09oUUpNLzZwbVdLc0dXWEVHK0VORWh6MGFPWFhSTVFGSXJjaURJcTMvWUphanY5T2hoeWIySnNIVzBqY2NrUXBEZlRpcHZXRWtVY3R1SjZEajR5eUk3L3pBZzFja040VE90RG1IT3BKU291aEU2c005RzVLMnc3NmxpcXRkbEpFelFNSWFWVS83U2Rwb1AweDc4aHJHcVgyUjFzMGpRMzBSMXF0WnNmOGRtbE1tKytLTnNyclVGUlJ1NDNScFNtaTZFODBkK0pEZittM0s5VkRrNmpkcEltLzlZNDhsV1JpRjUyUTBMSTZjWG9rQUZodUpPbk9hQlc0cjNxL1ZiMkJMY0loVjVxZXZpOG9XbWFYalNQaEVtdk9CeW8zOE1QYnZxU0pUSE1UYkRKRm9JV1RUZlNFellYa0RRZkk3T252NWNYUXFWVmwzcnNwYlR2b084b1cybVFWckVZYmFidjYyOFF5VUpjS2tRZndtUTlneStzdGZZMFA2YThOOURBdnRITTZUVjVlTnQ4VjFlZGgvbUFkOUxvcTczaHJIdUluOWJRMDZnaU1aWDJVTVZ0NlJxVnZjUWZ0NTB6N2NuSmFEWkdudnJMdWFZTWxWTHBxczA0bVp6TW1CV3pzNTFXVU9USGhNOHNRalNxaUJoNFU5TmRsVkpUOWk4bExQSkdSM29PRWdvalcyQW12dlAvREZiMjhHQWJuYXNiMGprcDdXQmVKSkgybDNSWlQrVHlkSXJLcmYzUGtqTUtNTVY4UDJLbytkaVVwU3h2b01RQlQ4U0JwVXBGc3ZpdmtKYW44SGh1Wkk1ZVhwWmMyNUpkK2NEUXU2RzkwL2tuV0t4NVExNGdZY1F1K1FQSlJCbEV1cW1KM0k3cDhjYXNSTzVBZ3hPMXBEV0F1Z29VaW9UaTA4ZFBnQmlmU1hXT091ajVMTjlEN2RJUmNTK0xXSjhybmp1SzNaRlFtempqbjMvQUhHTXFMWVRCMkN2cEg0aXVIQm5YeFF1MUZCNlZ0QnoxSzY0QXphakRqNmh6Rm9GMzlIUjJnSW5meUgwMy9sbnloY3pocXplNWNZdTNaUUIvVnRYZ1ljdk9PMmVLN292VXNBMlpNUWlMUisyRExKN2NvVlJhb2ExN3JnT2g3RDdyY29BNzFORVFOVlY2bFhLdGdNZHl3VEVwUUREblFTUjJLdEpCV210Q2IwaVZDdmZ5M05QWlJmVGZoY1o1bkNjZEJlSDhPLzRGbTdOTkpEVjRUK3FJOGMyVVA3RVFITUM5ZHVWSWFrYzVvRllVRmxCYkRJTzhTOU0rUks3RzEzckw5YWZ1Y2I0blN0b01lVlhRam9ZMXcyczJlb1NWcFYzODhjaWtLWlMyYUQwcXdvNnBvTkVqNmFDdm9VWGUyYVh6NjlHUm1MTDdvL1dXanNwbU0ybUkxQm93R3FnWW14Tmp2N0JEbzZiVEVCUzJjalo4M0RJK3lMeEJDeTFZeGFqMXUxUXkwdW84R1FJNTRtL29rV2pFV2VWSkJXK3NpM3JJWUtPL3cxVUtVdDdJREJ0cGNDVXdkTVc4eTRISUlJcVAvdTRyZG5MSndScWV4aExZbGV4NVlXZ3lEaVVQUUw1SnZ4b1pCc3o1eVhvNUsydzU2RU45TytLQjNwKzNzMFJwK3JPcUhyU2tIbFVrUzgxZFNZdDR6V2dzUjd6SXZyZlBIWE04YTg2TW1nWVJyazl4TlBHMitBUDB1RDQyNlNmVi9SbzBrYTQzcklsRC83NmhheTd5aGhLSE9CL3ozOUJTbDNadGdJY1FvU215T3NNRTBwc2gzSllsRmNtdWZ2OHdQVjJzWnlhMWpxYUVrZVpUTHRDamJvWlpXSUFPVTdSWm4zbGVsWXZtVzVJZ2NkdmpIY1JGbFUzUkZJNkpuQlExVWhVcWlsQmJENE9RUTlGMzZLYUNtTm0raUdEa3FiVHZvVWVkM0dTdTZ1RXJaZHlsNHJPcUgvUzZIR1N6SjBFOWRxNkhvUVdQNWRhTnpTWDJnallaSXNxcXd0eWs3REZqM3V5SkMyaGVnRitwWjVtWTl2RVNmTWlkN1FVR0Ivb09pU0pONG80MGJNdjZ3TktLbktPL3VnSVhJVlZGcTg4bVMzSXkrTWllN1dtb1JYU3RLZWJKMFI5TDBFdGRqNFZQRXdnUWZhSTBiM09MK0xGU2tGd1NYR2VVVVhpUCtCN0wxWHhvcXBCR0owa0U3b2orUlFXWEZrSVNvd3gzb3o3R1B6R3hhNjUrajByYURYbDU0Yy9SOGk5YlZHdXYzck9yZlJHMlcwMHFHSHBLWGpxbHNkUFhmbWdTMGtwUFlkSkY4bjZmcksremhOTitiRXQrdTZsZWl0QzhRTHByL2R3dWovUTlFcDFMVHY3ekFlVVRScDJPa2VZZDhoWFFkZUlqRWlmKzVpZXFsUml2TDJRVUhjOGtnSytZSS95WnJIbHVxRVVUYytuZnhCTXNOYmQ1OEJKSHlRY3V5cTM5MzhuMjZsU2FNZXQ2bDF5SG9yM0VlQTBJK3g4MStWQlBhYjdCbmNhSVdkVVorTXVjUHlyUnFYVU5yTkI5bHhVaUU0Yi91UU45bDQrRTIyVGJvOHhjM3BaMEIrbDdTTFMyUS9RSHRGUmRaMGFYVS85NmYvMVZheG9UOHJYLy83M2lacDNKNk5HUld0VGpHLzVES3R2enc5emFRL1BoVkQrOUZuM2o0RlpUVU56MzhqeG1Oai9ONC8wZUNtbnFuZkFINmJtSmlMc2VpSzhHM2JXK0NPRDVJSjJvaWZlSFBuN3lTY3NIdEw5dmM0NCsrTjJZZTVLMFBmMFJFaXM0TTJRSXlvS2lEOGxncm1saWtHOURtOGF6V0NDTGczYmNPV1hDdHBWREZQRHordkllUXYwM0puMmVkMHRtbm1mN1lmdWpheDVqN3lzUDdOSHlBTXF4L0IzV2htaWs3QjJXMlJ6M3pQYlg0elVuRUh6TUZ6NWRheG1xa1VWUlNERW1hT3B5QmZpR3htYzRNalVBNU16ZWxuUUg2K1dRdzFuMCtZclpZMHNlbjFOOWlKWno4YlBOc0RmK3RhcVZOdzFaaWN2ek8zL2p0M3lWZml4YzZla2llUTdyMUpubDQ3WGcvSVQvd3g1LzhyL3hiODRMc3NDOCs1N2ZTK0RaQS9KTjFhVEJFQzFoeStPKy84Y21XcldkQWw1TTh1NXlrOUZDenhMUzZsdTZXUlk2VGY4cnpndWsxK2RzS21xS1YrSGhEVDFtcjMvNTl2UDk0bC93RDNkdXZHNlh3dHI5ODRrY1NjM3MxMFNmckYraENNbnZXYVFZR0FQMVorcFd6VDJQZjhKYktrdEdPSys4TTE3dkkyMUMrdFVmSWJmd1ZmVEJnMVRMQXFaUVVROCtMTTlEM2tzSHluSDJpekUxcFo0QWVjeVp2anBZK2lGNmtGcFBEK2NZK0UzQlkvWDF5OGRMVmh4NTY4T3JGaHFWUFRYU1NNcFFYbXF4V2ZEY05uZ2VCMXovMDRQMFhDVUIvZkJHMFFFcDBDY0E3ZllTdG1KQ0xobnlYMGIvaDZweExEY05pUHgrenBLdzc0dW5FMytZeDVYajFvclQyTm8vQk5oRkNqRXZwUjJ2WFJRSW4vNmh6QUVCcFVzK1JTK3FhZjA1dHZrbU9yMEw4cnlsTmZRSUNTU2trOXRRcU5BcUZjdERUQXIxNmYyT2RFaHRRbVo4anh6RWhyOXZUcUtkTmJTMHc3ZnluS04vN3NSdGtJeDJVMitlOFd1VFEwcFFUUXlQa3JxY0gzQ2pkbVl3VkRpZWxuUVg2cFNhNWxWVFRkNUhqaGtCREFmV3ZwQVp3dFo5NTRQaXR2NmhyTE1QOTZhY2JsMTUxT0J4bytySlRkazgrUlM2OTVVZjFpRXVmQTQvUDZqNlR1ZXRwWTNBeUFrT3gyUzdjd3lIUEFxOC9FVi81NmVGa1M1KzduOXozcW8xaGI3L3ZLSVg3ZmozZGQ1cE1HZWlqTHo5d2ZPV2RSc0RSaENPZFR6L1Z3UGZTREJLVHZzell4MnVseE5EejRLcW5YK1NOMDh5UWdTeDV1U2p0TE5CSHk5L2YrS2FrZnYxcDg0M1NyaXFnL2tiU2RNbGNUNE1EU3dyakt2UmtZa0ROYXBGaXNxUlRIRHNCZlZxQU0zeWRKUjNpemFkZFlyeVdKWWFlV1ZlZ2IzT3d6eVZEZTUyRk8zY202SjJ4NkVoRDJobEo3NFRPbDFrY3N1VnVCcGhYbTFac01lNUZ2eXkwTExwZUd4bXZ2TDV0Zm1kOE1oWWpTd3c5ZVRIUXYrL1BuLzNvQThhaVM0dXZmNThoZDNYeWJ0MytRZCsyVDBtNEZjTXh0ZG1NRVZWaE5tY0FlcU53QzFPYXBvUlphSUVoVmJVWXNiRXhkREx1V1dMb1ZBcUJudTRQMGZZdmdCNG1RdmNaV2ZkZlRkWnk2eC8wNTdKR0oxb3VUcHV6NTNnZUwycWpjTEgwK1RKN0JxSUtEOHZkRlhzcmhnTjh2UzlaNS9GeWNzc1VRMHRmQ1BTMEt6RHJCWnFCWk1hejdiT1A4QS82VXZyVzFGcWxzK1Y2SHVJSWhmdFNsUktjQ2w2RExOQTdiMVRIaVh1MnpDeENwaGdhMTBLZ1gzbjJ3MWgyZVZFajB4YU4wMkM2emZ1b1ZjS3kwdlJSb2JPbWIzUjF3cmNQME45d1FtbWFpR1NpNVd6VkxXQzd6Q2FKVERHMHNpZ0VlcVJIWjcrbWtla0xlN0EvM1JONU1HMHZhR0pOZzNQUmVaM3NBdlRyMHlDNjB6eG1vc1Y5cXpvbTM1MHlIVSttR0JyVG9xQmZOZmRzeGFMZjcvb2NGUHMzNzNHK1pkb00yN2J6QlljWW9MK3UxWkdYaHpNYkxhVkFPTG55YXFXV0M3TEZVRGtwQ3ZxZU1RTENIcTYxaEdaY1pqeWlzbVYzVlFENktCYWI0dTFaT0gyK0hjZXI5Qkg5VExQcmFZTFRwN1pVam9DV2pKWnUxbm16bW1LdWV5eVdXS1ZuR3dzenhGQThpb0oraCtnMkNOQjRqZEhFK29iamZlQXFxK3draFA3cXhYMDBaZlY5U1F5c25HbURiVW5mY2tadVdnZ2RpVHFjeXZDS3o0NHN4UzNxbGRwZ21TMkc0bFFVOUYxajlYSlduRXJBbWFRMVJkeTFxNHFlL3F4UEFWd3JCUFRtbkErLzZjR2lsOS9lSEhxLzJtNUcrYlNzNThVeklwZjJibHJ2VmNoTGRvUVlra1JSME1mR25IRWI5VVE4dTVLMmMwY1ZvSS9pNmRxWHNpT3ZlM0dsYm5wcHdIVHB3SW5rVFhNOVNxYzVXMktIbkU0bmwzdGg1STBQWTBtTUVFT21MUWg2bVBIaVhBc2x0U2tRai85dFNkdTVveExROS9SeGkzTVJYQk9zdVRjOTZTNWNjWGpRZFhaUEs3MmZlaGhnSWVTTkQxdkh3MHRWenU2MlM0d3ZSNHNobFY4UTlEQUI5Vm51RHJuekdIdDZ4bEJmY25Ia3FBVDA4K3l5QlVjNTlrNW14c0VaMktGTTBxMVgraDZNb2VCNzhyVkxJVStmRzFieE5qTVBZMXVqbC9LczY3M3BoSlRHaUNHb0ZRUTk0S2VycHltNmhzM1UyVlRCeU1WL0phQ1ArcVhHVkM3a25JQkd5NzBodm9xNnZ6WkJGdTZGcU4xajNMVkFMeTdRYTdVUzdMenppUk5GZThoMXRzeFFZb3dZZ2xWQjBHUG03b0lnZ1gvWk5laDN4R25oanB6VmdINHhjMExIa1JnT3ladzNpc0VONFFGQXYrdUcxRDFEcGZOQ1ZhTDAyZjBlZnJrVkJIM2JXS1lINk5lU2JEYThHb2JWZ0Q3cWVEd282TGcwTnoxVXhoMkFmdHR4UHFlZDNHTFdHcjVyd2VhcmFHOExnbjdUR0x0aldpL3A5N0ZKWjkyMUdqUjZGWUgrL05UVStlVXl0cUNtV01QWkF1Z1BESi93RXZXZnIwWUpBL2ZEdFhUR0M0SWVGVU9qQmF4Zlo2OVk3ZG5XL0YwN0t3Sjl0S2xQVXJvV3dpVzlkb2xKbjh4OE5BSDZ6TUNYYThCOE5lMWd6ZjI4cktYRUNvSmUveG9UTG8wVmUzTm12YzdqMGJ1SkxTSzQ5MXA2aDN1YVhpZyt2dWVCYkdQa1J6NDlNSndLa3Avd29lcVU1TFdobTFWVEVaeDRGQU05N0hsOTNJc0Z2TVFlN0JtcjkwNHlxQk9wQ3ZRNno1ZWRHMlhydHhSZmRobzlkUUlYQXoxUS9oVk5GUGxCZ0phWTBOTUNIVG9ENkIwcU00c1VDdE1vM0t4NHdYOXFOVkFNOUVEZkRVMWtqT20zMkt2ZklYMWw1cjBtMnN2UFNiLzNweGZ1eTA4RDk3ekV4VUNQWmZyMXFQYXo4WlhrdG5aWWhFeFI1ejBmMUFnOWZRWDFrVjZBdUY0Qm44RGl4RFJRRFBSdFROY3ZkY2xGY1JxUmc3NXQ3TTExTDFNQXZYdWRwaWlpUWE5cVVUckZPM2hVb29GaW9NY3kvZUhPOFdlalQ1UGpQWnJOWm1MZXR6d3ZPQVRRVjFBblZnSDZqUXI0QkJZbnBvRmlvRzhSOGpnRCtGSHlMZWMrdXd0M1dkeU82VXVhQUhwZm10WG85Z0Q2WklaRzh3ek9lMGtEeFVBZmsxdjFiNmRxbUVsdzNtTjdjbVo5bjA4TG9LK2c2c0dLZXhsZW9WR0JZazhQaTBLZ3AwdTV5V0ZEck8vc1E1Z1p0aDIwNi9zQVlnQjlCUlduODdLOFFxTUN4WjRlRm9WQVR5OVUrdFpFaGdaYm1WK2lOK09kOWQzUmh5VzdLdXBOOCtWM2hVWVZhajFOUEFxQkhqMnUySW9jSnlmcGNTQ3cxcnp0ZXlnWWV2b0txZzdLMXVQZHBoVUlFRmlNMDBBaDBHTlZSOXluVkUvdXlsc2dyNHM5VDkxRGtnRDZjY1ZaUHB6ZWhidGVua3lnY0lvMVVBajBiWFhMUW9zZnNmbEVmRit5VWNlbnJBSDBQcldiMEY0QTZLLzdaeE00bktBR0NvR2VMdFB6UEhmRmx5dXJrQ0dBM3IrV29XTlp1UDY1QlE0bm9ZRkNvRytwSTY3MUtxdElBTDMvS2pJSDBQdm5FamljcEFZS2dWNDdUUjlYdVgwcmdONS9WVmtsdnJkWStaY2hjQml0Z1NLZzEwL1RvMS9ZSHMzQllXZ0F2VU5sWnBBYW1GY2x2UGVweHBWM1prUU4zbE9xZ1NLZzEwN1QwMjA2aDVXSkhrRHZYOVU3eG1uNkh5UEhiMjJTYi9QUE5uQ29VQU5GUUEvc2laVmNldVBDUVdYWkRhRDNyK3FXZnBwK3BYRjdJNHArbUx6SlA5L0FvVG9ORkFFOTVub3U4eHpTNzU3NTNwS2psQkZBcjNUaHl4V0xtNDBwZzZOazlhNWJZY1B1UzY1QVYybWdDT2d4MTNPTlU2RGZQVlBFZkxzQzZIMXJtSDJjZmw5d1dlSWZzanduTmwyTGdQQS8xUm9vQXZvak5XTmY3Vnh2QUwzM3VvYWJ6MVMzUHNjL29Gb0xFL3JlRlY4bGd5S2c3NnNOT2IxS2IwNE5vUGRlTmVnTmVaSUp0KzZqcUZQaGJLM2tIaHkrTkZBRTlIVjF1ejN3Yi9rd1JNMVRiZ1BvUFNsV2tjVU5lZXBqYWsxMk53b0NCMkU3dmxMUjlMdUtnRDVXOWFJcHYyS25xV0s1c2FHOU9YUUcwRHRVcHAwVXpsSTlMMEt3Tk1PZHErRlNiS0dVZStHL0NPZ2I2a3NYTUFiRm5KN1N4aGxmSCtFTG9GZEs5dVJxcStWWUhHb1VIKzJlNHpONm5wZ0dzdFZxb0FqbzFmWU5lcHZHWGlyRExWL0dZQUI5U3RldVBZNjBnN1d6Ukh3VDkxeTRRY3Uxb2srU1hnSFFZeGVlMkp1REVhQ29GMG9JVEFDdnFUZVhyZ0I2bDlxMDB1b2s5NSt4c0o2MDZLRDRkTnR1VFI4OHAwQUR4VUIvZzBzR1kvREZsSkFZRm9wR0lSVld6aU9BdnB6K2NxU09OWGh2eW0vYVlVNS9JMGZpRUdVNk5GQUE5SkhxeVhmVWJScEtYSFFXbGhsOUZWN2NGVUJmWEhmNVVzS0tVMWZoZHVTY0hrQy9uNDlBaURVRkdpZ0MrdVF5VENwY2t4eHZEUXRKdDNlSXk3U0d3MHErQjlDWFZPRFk1SmlrdVNNamRTWG9jWjNPcnZRT2ptblhRQkhRMThXWUhYWGhLeWtGek4wMUQyZW1JaFQzQ0tBdnJydDhLYUZoWmFVMVplT05nbDdQUnlERW1nSU5GQUY5UjN6VjlGSGJnbDEvM1RhNzUwUVZBZlJPMURpQ3lCbDFsaXFLK0UzSGlBN1FYeDZSS2dSTmx3YUtnSDRnSnVwYWNpRlhDYjFFOXJTTGRaUy9DMWNBdlFzdGpxSXgwTzlFVWFDSDFSOUFQMHB2MHhWV0JQU3ozS2pIanEzdlNrazdkemZxcW0yNnFlQlNIZ0gwcGRTWEkzRkxQeW5ka0lNM2dINHRSK29RWlRvMFVBVDBDM3h4ZnNDL2JXVkl1bk1aeHpNOG5iRVBvRGRVN2VHbG9lKzdVRE0yQWZRZWRIMXlKSXVBSHBQMmU4anhVc1BTMGRkd01CTUxlUWRlSkFxZzk2SldSUlMybXpZenExNEM2SldPN2dGWElkQS93K1p5M3k4M2JHbDZtTUdLRHdhR0c1cVhPMmNBdlR0ZFdpbEJ3ZHJZdlNGbjd3UG9yZXFhVnM5Q29GOXEzRDZNUGsrT0Q5TlNiNjVGVWR2WE4xSUM2Tk1LZCtLei9OVFhNVHFZdk45UUJBM1FhNDJCaWhGY1U2bUJRcUNQSGlja0pyZTIweExYNktuYVZWOWJPUUxvMHhwMzRyUEpTMnpUV0k1UnMvZGhuZDZKbWs4TGtXS2dqejcxd1BGYkRpMHluS1BuYjNCeDVyb2xyTHhYQUgxNUhWb3BFRDU4YitwRGVremRpSjJWQWZSV3RVMnJaMEhRWjRsNzlCcUU0T3pkamF3SXBmd0Q2RXVwTHpNeDNUbDlGNkdZeDF2WEl0WERObHhORy9lUTB6SG9HOXZRRGU3RjluUE1Mb0RlVDgzRFBCM2JjZzhUVFY5Mk1RN2NYUGZET2xBOUFRMjRCZjFaZHI4YWpNR1h2SWdTUU85RnJSSHQ2ZWtsV1p2bWVzeU9mRVV6dnVHSGRhQjZBaHB3Qy9vQk8xMlBPaVFHZzI0bENxQjNxMDlKcmNHVzZtb053N3JIMHFzNGNRZkY3OG5Jd1RIdEduQUwrbmlmNmtQL3dLVlQvUVRRTzFXbkl0WW5ON2VpYUdab2grVVplUUhxaksrTjFTb0x3VldkQnB5Q2ZwRmZwT2pybUYwQXZhZUtNWGRNeC9MMW9RL1pxSnZ4enNnKzMxTUdBdGtxTmVBVTlEMCtsRzhheTczdXhBbWdkNmRMZzFLdGVXY3Yra055RzkyOTltQitqNyt0R2t0NVdwVGduRVlOT0FWOTgzcWlncTZzTFc1VkVrRHZWcCtLR21icTdpZkgyOHFEdVdMeFlac2pmWGZ1VUtUd09uVWFjQW42ODhlUEpVL0gwekc3QUhwdjlldkpWNUEzYmd4VDN4RWZOZWlHeWZ0aDNVenp1MHZROTdEeUl4NDZSblQrQk5BN1YrbElnck44djhXU2Rsdm15QVFoY0NvMDRCTDBkWUY0L0cvNGtENkEzb2RXczJrdTgrbjdPVS83THJJNWh4Q2ZHbkFJK2dWNWVYTGIwekc3QUhxZlZjRkNlek81QkRkWTl4YmRUTEdYUTlDMzVUWThuTkRjOWFHVEFIb2ZXaDFCYzc1eGF5T0tmcEo4KzRnNElXanFOSENrVEhJKzlWNVloUG8xa2RUMU1idFlaVkt3Q1ArVmFPQnhjdnpXQjhnTFc1VXdDMHdxMG9BNzBNOUw2OTc1TWJzQStvcHFRNXJOazA4MUx2MUt3SHhhTWRQczR3NzBqNnJiMWZBVkpLZkg3QUxvcDdtS2hieWZOZzI0QTMxWFd2Y1J0bkxKOGIwTGdRUG9YV2d4MEFnYVNEVHdxUS9KNTdDVVR1YVBWWEljczZNbk5aMDl6OG84ZnNnWnpVQW9hQ0Jvb0tRR2V2cHBXbTlmc3l1WnlaQThhQ0Jvd0prR2F2R2FSc3Y0Wm9MbUg1eEJBMEVEOTR3R3ZtUWN5Y0JWdWZlTVpFR1FvSUdnQVlzR2xqK0FTOVlPUk1BVFg4UzYraTgrSmw3RGY5QkEwTUE5cHdFczBkRm5MeEdzelY3Q0p3L3Z1V0lPQWdVTktBMmNKNWNldXRvNDVuczRuaUVYcno3MDRQMk5YUlhoRkxqK1ArRk5abkN2ZjlkRkFBQUFBRWxGVGtTdVFtQ0MiCn0K"/>
    </extobj>
    <extobj name="334E55B0-647D-440b-865C-3EC943EB4CBC-22">
      <extobjdata type="334E55B0-647D-440b-865C-3EC943EB4CBC" data="ewoJIkltZ1NldHRpbmdKc29uIiA6ICJ7XCJkcGlcIjpcIjYwMFwiLFwiZm9ybWF0XCI6XCJQTkdcIixcInRyYW5zcGFyZW50XCI6dHJ1ZSxcImF1dG9cIjpmYWxzZX0iLAoJIkxhdGV4IiA6ICJYRnNnVUNoY2JXRjBhSEp0ZTJOb2IyOXpaVndnUVgwcENqMWNhVzUwWHpCZVhHbHVablI1Q2x4MGFHVjBZU0J6WG5zdFhIUm9aWFJoTFRGOUNseGxlSEJjYkdWbWRGc3RYR3hsWm5Rb01TdGNabkpoWTN0aVgwSmVYSFJvWlhSaGZYdGlYMEZlWEhSb1pYUmhmVnh5YVdkb2RDbHpYbnN0WEhSb1pYUmhmVnh5YVdkb2RGMWtjMXhkIiwKCSJMYXRleEltZ0Jhc2U2NCIgOiAiaVZCT1J3MEtHZ29BQUFBTlNVaEVVZ0FBQjMwQUFBRFVCQU1BQUFCcWhpU3pBQUFBTUZCTVZFWC8vLzhBQUFBQUFBQUFBQUFBQUFBQUFBQUFBQUFBQUFBQUFBQUFBQUFBQUFBQUFBQUFBQUFBQUFBQUFBQUFBQUF2M2FCN0FBQUFEM1JTVGxNQXUrL2R6WmxVRUdhSnF5SjJNa1FmN3A2VEFBQUFDWEJJV1hNQUFBN0VBQUFPeEFHVkt3NGJBQUFnQUVsRVFWUjRBZTE5ZTVBa3lWbGY3V3Q2ZDJkblpwRVFUNXNlYmc4a0pFSHYzVjVZQkRLcTRlNFVBZ1dtRjhPQlF3clVZekJCV0JHT0daMEVKK2tPOXlCUUVDYkFNd2pMdG9SUkQzZG5UQURoSHA5QTRpR3BKekJoaFVUZ0dZUVJEdm5SZzg0UUNBalAzT3lldVFkMzZkK1hWZm1xeXFxdTZzcnM2Wm1wK3FNcm4xOSs5WDM1eS96eXk2enFJS2l2V2dLblZRSnZEZS9hTzYzUFhqOTNMWUZqTG9FbjJWM2hjOGY4R1dyMmF3bWNVZ2xjWWw4YlhHSlhUK25UMTQ5ZFMrQjRTNkIvYXpVSTJzOGM3NGVvdWE4bGNEb2xjSm05QmcrK2NuZzZuNzUrNmxvQ3gxc0NmYmFMQitpeXRlUDlHRFgzdFFTcVNXRDJBL0w2VURWS2s2eDlrZjB0TlhlV0xVMnlWYjJ0SzFKc0g5alEwK3R3TFlGSlNtQ2V5ZXRaQisyKzU1WURJcU5KRE5oMUtuU2VIVmpLbmp0Y3RxUTZUam9ueFdibHdYRnJOYmxhQW5ZSnVNWHZKZmFVdlJuSHFTSGJJNHBuMkFzV3dtZWl5ZG1TNHpDcHhxOURZVG9nOVR1ckpwR0hFM0V6OStURTNPSzNOeG1EOWhLN3pUVndodjAvbXliYWJNT1c3RFN0eHE5VGNWWWs5dFlXWTErK3BZaFEvTXRPQllLZDRsZmdTZ25TVDZnYjQvYThmYVo5TzN2YVQ3c2ExUnEvbWpDT092Z2tYOHpjWG83NWFQd3VqNy9pcU5tYVJQdkE3NTZ6ZGpyc0RjNW81UkhxUk10ZitLK3NhL1pHaTkzTXErNDByMU92ZjUzS2N3eGlGMkpmeE8xNEJ2NStkdXREV3cvL3hLazQzZU1TdnhjWUhhcndmODB5dHMxYldXRDJFNVJQWktUN1lLM0dydytwbHFMWlpMKzBOZnRqQUhFMG1wOWhUKzFTL1QrNlBaSGVXSXBWNTRWZDRyZkRYdVdjUHhEODBiLzQxQy9lcTF2RWx4bUxSdHB1aHFFOHh5WTNBZGY0OWFIelVUUm5Ybkw0eTZMTUJmYVZGUHh2QVBBbTdyUGg0UjV1dUpwWG8vdEovbldJM3l1TUg2cHdMUzJnRlpjKzBYWmo5MVV3dE52UFFiQ2ZsZUdhdVNDbzhldGVwaU1wenJaWmk0bjE3UW8vQ3hBRU80emJmMCt3TDQzcm40a3pScEk3eGdVYzRuZkY3ZzJ1S3B5ekhMLzZTZWNkRnNkMjdQNnJJSmhoRXp1WlZlTzNxb0xIcVA4RWUyM3dPVDdib25LNEVWR0EwdUVYbVcxSlU2M1JHb1AwTWF2aURyK2d0TzNqNGVjLzlVSHNCanl2a1E1RnJKODVZdlF5Y3pRNlRvSTFmcDJJc1JTUjJSWXRvUFlqbSt5aVBIS3d3bkQ4NEp5QU5TaXViNWNpZXh3THU4UHZ3TEJ4bmNvQ1UvQ2lJb2pWYlJ3TDJZc3EyUWlkRVV0a0k5VkhwTWF2RDZubTArVDdoci9PMkRJVk95K0hkcHFBTi9zU3pqaGZlejJmemduSWRZWmZiTnA0azlZQzAvY0NzRjF3azB1K3dkamZaS2dBM05BTFNoTzRhdnhPUU1pSkpuWXdnRVA1MFdHaDdsV1ppd240Tm51NWpBWVhKTFJWMmdrTE9jTXZacnhkWDdJWkdLWTVqazRzODViQSsySldrOE1KbmVTcy9WZFpHdkNYenZjUGFkUDNnTnJZWDVNdHdZTnFIR2VZMTcwbXN0U0pDampEYjA4NGxUeUlaOTBZRzdxa3BmamF6R3J0SXB2QUlVcHF2SjUvczFUZ0xSMDdFcXQ0ZHlWMmlxeHIwMGJIM0tpWVBma09hRmY0QloxTmJ3cnJNNmJSaHBVa3J6VXQzUXcyTTlmR1pybXFzUnEvVlNWWXVqNjNyV0R2UmZQdnpwWWlRSWxhTkpDdWFGWGtoSVZjNGZkQjV2SE53ZEF3aG52czZZZjROVENtNVlSaUJ1eHdOWkhrSlZyajE0dFk4NGcyYVhPQmJPWHJWRXJIYnlOayt2cTNZVDFlbTBmNjJPVzV3bS9iNDNRSFY0VnVDTFhGM3RBS3kvbCtEZ3pvcTVQUVJvM2ZTVWhaYndQTDN3UEVBZFZkU3RidFo2eG14TmtleXFydFo1SkNrUXVqNFdhUmNtT1Z3YjZBL3A2djNBenU1NTZ5YW5wY2tHdVBVZU5YRThaRWd2QmMwY2g4NmI1ZjVjMXAvaXM2dDZOM3hJdlcxMHNud3VTa0duRTAvM3ExVnFFd0duREZKYjNPTFhHT1ErUVk5d2ZOcFpDUjV6QlM0OWVoTUF1UldqQVAxeTBRbU9QclFZWUpXQzE2ejJSdEw0cnl4Ly91Q0w5dG41TWROb3cwSGNHYWptSTR4N0dVb3dBWTBIblpPVFZMWmRYNExTVXVCNFd4RzdHcWtkRkIybjRhV2xjYkQ4TWxyZHpKRExyQkw4eG5qNkxxR3R1L2dPMEcxOFVsY3h4TzZTZjBPYWJJMW1yOFNsRk1LTkEyWGFVenlrbDFCcjJ3SjE0akJEZnQ1UW14ZEhUTnVNSHZ3S3V0aWcyalhTVWhjQnlwNVZ5ZSt3cmw5ODF4V2xGd0dxcng2MVNjbzRuQi9sSVdNaFVQWmVkbzR2MXplbDN0WmtUbGdzY3RrZEY4VHFhRUcveTJjejFKVlora1kyei93a2NSS1d4Z2VLWFRqV0F6Y0RPZDZqcWx4cTlyaVk2Z0J3dlpQUFcrTDA3S2ZwaWZtVVZ2ZVdxVjAraVk1VWJRUFo3WlR2QUxTQzE2ZlB4UTN4TUl3UEVXYjZ3em9sSHNNMHhBZ1RWK1BXcmVSaHJEc3VtV3VuUXI2ZzhYSTl6U3hqQi9OZmhKdFJDMjBUa1phVTd3aS9lRDF2eUpBd2FUV3VJRUFkYS8wZkE2c3RHT3VWRHl3MkdOWHo5eXphUUs5L04xTTdQRFR3Zk1oREZlUHc4QWY4MC8rK3pQSmN4c3M4NUppVG5CYjIvRVNyU2FzREM3Ni9NbzRNenBYUm1KVHV3Z3JWVnJ1a0R0R3I4RmhPU3lDTHdoTjAxNmw5alQvL0t6bjJic20rUGtIZ0JNMTdaWjdFVEdYT0FYaVBMNW9rZGkremVJOGRzMURuWFlsQU5MYXRHVzdqU3R4cTlUY1k0bTFoZitTMVdVUG4zRjJOOFRDYlB2NC9HdkZQR1RmSGVCWDdqOEZqM0tDTnUvUzBIalo4TzdQaGsxMG83czU4N284YlZsR041K1dLeng2MGV1bVZTQnpXajlwSlg0cmZzTzcvcDlMZjZGKzlnOWVsekxPbUZCRi9nZCtyVlR1OWp3bmUyek80VGR0TVA5VjNPR1U4dXVsUjJMcXUwbHgwK3Q4VHUrN01hcGlRNTdDcmFGQ2t2R0JYNmJYcGUvQVJZOGUrdUhud3creGc2MzZMa0dmRlY3cnNBSE51QlgyeXdzaVRFTDF2Z2RVM0JqVnNOcTZya3hxNTdFYWc3d0M0ZXcvbnFRY3lsMUdIczN0NVgzbys5TG4rSCtpMzZCYjhYamhOYnp6dGxKRUt6eG14Q0k1eWpHWkovT0ZzL2NPeWZ2QUwvWWtGdDB6cGRHTUdTM210OUE4VE9SeVR4TCszOFhDa3kvOUkwazg2aU9SdFZWc01hdkswa1dvNFBGbXZjeHVSZ25VMUhLQVg0aDBXMlB6d0lReHYvTEFsNTVRenRQQlkxMm9UL0h3TlNkOG5VNFpyWEdyMk9CamlBSG44YmlpQ0tuS2RzQmZ1SFE5eWt4ZXFmelZWRURyVWgxRjlrcncySkR4a0Q0dlB3eFdPUFhuMnh0bEp2aTlUTmI1dWxMcTQ1ZkhGUDBhcVRDWVNGZVh3ampMMi84Um5obnZKYzBRbUdwczNZanlvK1JYZU4zREtGVnFJTGVzRkdoK2ttcldoMi93TmNMUHFXQzdWL3hHWVdtOFIyc0FvM2k2Ynk2MXNCQ2pkOENlbkJYQkJxTlh6OXpSL000VTZxTzM0WFVlVlMzOHVpcVRhQk82WTJxc0hTTnNzelgrQzByc1VybHNhWGczYVZSaWNFSlY2Nk8zM1cvN2l1Ky9Sc0xCU3R0dmdOY1hFWTcza2ZyR3IvRnRlR2dKRDc3blBQUlFnY05IRE1TMWZFYmVoNFFPOG85MXNSSmpuTHk3WHI5TUFqeFV1TzNuRVlxbG9hMXAvM0JVVVZpSjZCNlpmeUNnRitCYW0vL1lxaFlMaWR6T0xDOExzNXIvSmJUUitYUysvNDlHcFY1bkNTQnl2Z0ZRbDcweVRDMmY1OFY5Rm5wZzliNFdJTlg1M2lOWDZHYkNkMTducnZiaEI3RFdUT1Y4UXNMZGRFWk54WkMydHUvZEpKanoxSWtMOG43Y3FtMm4vUEU3enl2bmZ6Nmh2TVdqaGZCeXZoZDk3d2ZoKzBwOGJrVThDcDJnZ3NMdVYvYTVDNU1PaXBZNDdla3dLb1ZSeGRZckViaFpOV3VqRjhNaUxzK1JRS0g0L1dZL2poN0IvdStqK3ZVK1BXcC9TUnRHc0t2SmhOUGM3d3Fmbkg2eXE4L2YwRWRnY1JTdS9SSlRieXVJcVp2UDJxdThldEhybmFxTklSdjJMTW1tUHJXOEs2OUNUYVgxMVJWL0VLZ2ZoMUVtRUNYNHdjQWxHL25QWXN0RCthM3c5Zk5MSXFyOFdzVHU2ODArdGZmWlYvRWk5SjlrdDBWVHNzN3lGWHhxNTF1TFByNDVjcnRxRE1iZ3pIMkR1RCtLbzM1VEFadGlxdnhteWt1RHhrWXdzc2U0WEhPeFNYMnRjR2xnbGI4Tzd6dXplRFJxdUlYbURwd0xpR2RZRlBaNTRDeTJNeWRhMEdSOFhWNHo3L1dLeVRDS0xTYVNCbzNhbFZjamQ5eHhUbE92U0hVT1U0OWwzWDRseVBhaGF5NitmQnZYYlpzb1ZVVnY4Q1VYMzlDcUk2SHRKWHZFV3pyMTlQWkVFV2xOY3R6ajVOa1ZWeU4zM0ZFT1c0ZGREZDM1dFI0VEZ6bVg0NVlLZUwxbVdteWFjZXZRM2pZeGFsOVF4S0l2U2tLTlQ0T1ZiNzVJYm8rOFhONWExd1VjelRBMkJWWDQxZW9aQkwzcG05M3kraUg2UFA5bHU3SVdhSHhpZmUyeGxqd2pXYkFLRkZ4L3FVakZWc0dRZGNSZGQ2R1h1VFgydW9xU3dvWTNjaHFkK2pNd0xjcnJzWnZsdVI5cEtNTEZESmNmYlFkMGJ3WVRhbG44VTNqL0t1UHo4YjBwMzMreGZsRXYxL3p4QUFoOW4vd21XbmQ2N2V2TENsOHFGMjhJcHlTS1RhUU12TlNoZk1TTWhSWDR6ZFBhSTd6OEtsRTZRSnhUTG9vdVVGMEhPSDhTTGZQbzlkK2JYYzQ3ZmpGbHF3OG5WeFVBcVhLQWI4SGNRVk11UHFYeTNwYXk2RnljaVdwQS9WdU5yZ3lGRmZqTnlseGozSDZiekxSSFR3MmswYzZqSTd3bmlrMGprdzlmaGVVZVp2MzBCWHlsTTlxWGIzSVQvVGFUUG5ta2JXWDBZWXpDeUZEY1RWK013VHZJNWxPOEZ6M1FiZ3d6VXV4MVhlbWtGVTM5ZmdkS3ZPMnNBaktGWXkvV1lkS2JYYTRxdFhWUjJLd3NhMWw2VUZhb2V2VjlMd3k0U3pGMWZndEk4V0taYkVZOHY5Ri9sd2V1ekZ1enhleWpLY2V2enZleDhPbU9LK2UrTjltT042V3BLUUhPUTZza0RrNXNaT2x1QnEvVWd2K0E5Qno1a0R0djNWcW9SUFAvMmUxMVZ0MnkxT1AzN2IzOGJBbkZqejROOUNibXFSd2NITkRSdmR6Tm5uN1pqMVpwMlFnUzNFMWZrc0tza3J4ZGVCM3VRcUJxblZ4M0grYjAxZ3dmS2xaWktjZXY1RG5XaGJ6YnRLSHd2L2NVZjVtb295VHNIdXloWjZ4c3lTVGVXREhpWW1RcWJnSjRYZm1kZVpUVFczc2lUV1ByR0VzMXJjUVBiYVVRUnJlMEMyZTFTM2tGWjEyL05JeHFOMk1SM1dVZkM1MlU2R3BOK2drRjlUMmJ4QzBUR3pyNVlLaGt5VjZwdUltaE45Ty9BbDc0OUdtTVhMTzU5ZVVXdWh2Ui9yUVhkSFJoaWZDZnFiWHVUekw4MkpzcUF6alAxRVJ6V25idndHMkZjVEJhSkd0N2dDNmd3M2dUTVZOQnIrWGZRK1RTbDVsUW8wSG90bElxOU1JaldGV3k2a2VoQkVrOEZPZDJGZ1VkbGg4ZkdUblJQaXY0TS8zZmh5MXpTMlcyWlk1L1FiNjlpK20yTFZNZGVBTktRY2J3Sm1LbXd4K20ycXZMUE5CanlEanN1VnM2aE1GL2hoeVRGYmh3blNoeXpGYnAycWhPSUxRTHpRcFRMdjlESCsrMytNYkVOa1QzTS84bm1SRDJ2WXZYa2FLUjBXYlptRDVPamdpbHFtNGllRDNmTmI0OVBFLy85U2I3dnNhMjJOUEpLMHJ1clBXMmx5UmY0YlV5cGNJNG1YdVBFMFhwL1RXOEU3bC9DeGVMY0Q1cjhXb2VCZ3Y2L0lyVHp0K0IwNXMwM3daekxadTd3Vi95QTczekdKTStLVURmT0U5bWFrWHBVRjdWVThZSjV5dHVBTDQvZEUvLzlRdjNwdGpBN3dFSEdyWHRkZi9VSkxGZnNZb1NVZkNqM0pLV2srT3FzVDRpamVUREtaVXprSXBLYlRzK0h2WUxYYTRuSjJmbVlNQjVDYlAxSTcxWmhaR3hyVGpkOFU4MHBqM0tPUG52WnV4a04xYU13bG8yNysvemRoL01ET05HSjJaM1ROU3hvaGtLMjQwZm1uV01JOXVtd3pRQ1pQRTlZMW1pY3kzeFk4YXYyMmJhWFBKMnhFTHVETFVxRzJLcUV6c3crd1Z3Y3hZRXprR2tHWGVFcnJmWW9FbXB4Mi9QU2Z5SENXSTM3cjM4UFY3aVVKeSs3ZnhqeG43MVVTbUdZWFN0ODJVOHJGc3hZM0dMeDBheXJYNy9zV2J2b2djcSt4bEQ5RDFPSVZmWWJDNG4yVkF6TDcvdTFFNFoybzN5RGlQME1pem02WWErbnJwZFIvdFhVKzNWekpsaGowRmUyeC9uRUc5Q3diRXRWbWcyV25IYnp0Zm5wL3h0K21CN2QvWG83Ty82ZkdRdlhJNVg1S2hNSHJ5aStYbWRvWFdjTjgwU283RzcveW5QZ2hJNnE5ZUdBUjRoT2JvbDhmSnN6K0J5SmRxWlJxdG5PWDkyNDRRdi9RNndZYkdhQndjMkVDZExsWStaU2NsL2ZJMGdtQ0hPOTNPRjVwQUUvUlh3SUM0MWhKNXR1aTA0eGZQc21uak8wcWJMK1NqeTY2Zmw3TWd4QWdjTCtjVkRJS21mdEl5djJobWJyYmlSdU1YUkRFRkwyYlNwZ3hDd3JZczhmMXd1V0dLRU5kNTdhU29TSk4zN0trYzJmeExYNU5ibEp6SXdCVUhrNlFrcGdlZ1NVMUtlazZKOEpYb0dQM0ZjUXpvSG51YWZ6TGlvWUhWOEVoeE1lWDRKZnZKTXY3R2o5SG9lTVN2M1A1dC9CbGozNXNTbko3UWMyRGtaeXV1S0g0M2RaWlNZVGpKdFlORjJDelRuYmpyV2xhcVpuQ0UrRVV2dHZxVFdobnV0alR6NVZJZ2xuR3NYck9SOVlqbHVleFhUczN5ZXF3dGVqUmNwbnA2Vm5qSzhVdkhyNWF6ZUcvOHJrL250TGI5Q3d0eUxZc0pTbDkzY0FBclczR0Y4TnNkd1NKTjBIcUh3SFN2SnRXR0ZyWThwMTdVa3UwemFRZjZWM3lxbHRiOUdOQjBmQ04zS0ZNY1pJZlFaN2Q1YnJFWjFDUWtsMEY5Vm1pSW1uTDgwdGJNcnZtRU12YWJUV1E2T1Bna0Nab0JiZnNYTHhibU9rejJIYnlqbksyNFF2Z0ZIcmRNL2hPeGdlbWdKc05VQ3ZheU9BR2VxQk5IVzFZSTJjczZUZzNCcGo3c0NQTG44Z3grVWFqOG5YdmJ5MWN6YXp3b1hPWXQ0M1VZbzlBUDRMa1MxMnQ1QWJsY2FBbC9SbVpSWG43SzhVdGVGK1BCUmVRSHZ6UGt6KzhQdjdwTlBNaXhBc0FSc25QeExaakdQVk1iYWNXSldvWHcyN0YyYzBFQzkzWFRRVTNMNFUyUlBjenVhRlRrNlBBN2kzMDlxMEU3NDJmZ3B0TzZsZmVXbSt6RlNMQmg5aXE5ajRZU0YrOUJXQzllNVpXeEo3a1VVY2txR3VWT09YNHhUZGlHWDNwTGtyR3YrL1VpOCs5NzgrZWxTQXpwWDIzN053aXdlRnhNRjVFcEMzWWpUK1pyZ1N4dFdCUW5haFhDYnhnZjRoYVZVbmMwckR1b2FhWTVFSVdhV2J0SFVZR2p3KzhsdGc4K2J3byt0WHRvN3haYWlYR0NaSlhZelBVeXRDRFp6YWg4VzBrNFNlQVBiNlF1ZnNJQXNOM2daVEdTckVXVnNvcEd1Vk9PWDZ6YTdPUGhQN3p4K3AraE4veEd6cjl6bGdPMDBhUG4vOHJ0WHlxRzJTb2VVNjJWc0hkcjV6SmRPa3NiRnNXSnlrWHdDL2puN0FBUnBaWTVCTkdaRS9GSWN5UDY3TkhoOTl3dGNyc3RDa2xvOTUzcWJtS05tZ2d1b0xVUmNoUkZNKzk0aXp5ZU1kcFcxMXRtUmNyQXJMSE1DNXpMbUxkNHB2WXo1ZmlGUUovVHVFMEVpK0IzSnR1SVNWQXpvM2h4WWsrbVFLeDUzZ1NVclRvZDVDaXVDSDR4Nk91enEyUmNCc2d6YzFYR2VFZVJQWFhVbDlLT0RyL0RaeUVYT2M1bzdBZGRLNnIxRXVPRWgyanRoWEVxYW5YNjh1OEEybExDV25aK0VIcmM1U1VHQlZka1U0N2ZRUzV3aXVEMzRwaUt4c2loUkkxZWxHZFcwU3A5VlpVZUo1U2p1Q0w0QlFlTHVjMlNJM0JiSzRIMlpBL3BqaGppamc2L3ZlZkpickNONEpkSFcxN2EweFlOcmtNcTRtUENSZXNreWtHd1lnUUlwWVFUWmJLajZHalI1TjBab1U5QllzcnhPMVM5VEhDczNYM2lkNmlieE9qOWVRNHFjZ1pGdzZiR1hMbGdqdUtLNEJjVy9HWnVnMlNINml3U3krS1JkbksyMklubzBlRzNkWjA3T2l4UE5xK3J4NUkvWGxJZlVsa2NyNnFvaFJYZjFUZ2M1aHB0b29KeHg3Sm1sU2ZJNWErUm5ZNU1PWDVYY2xlNFB2Rzdvd3NmMDl1TGFkbkpGSnJNbG1Wc3JFQ080b3JndHp0SzMraFdtajNCUFhKeUJndkZnaTJEOHlQRDd4eE1odjBNMllxSktvUG44WkpETkNiUU54NEY4dlB2eFZYempUWXJmZmd4ZVBvVnNRZGxMYVVsVGpsK2Q1UTFvakV0Z2o3eDI5UVJ1NUEvTE5NaWJVMHdOZDQ5UjNGRjhMc3lxanNQbUZ5V2NRWUp6L0dLZVc3VVZIWmsrTDJBZ1lVWTNiVEl0RG5DYUxCVUdaa0VKUWovNzhpeVdRVmEwaFVDYWpiTFA2dGlsQjdqdHl1TjhQemkwLzcrWUUvMk10dHorTVF2MDUzL0dFYTJiUXpFYWVRYzJzakpMNUtWcmJnaStDMnkvU3ZNWmM3TkFDeGZqL2k2b0ZzYU5sYVBETDluNGRVbjM4S0JoYXQxd2I0bGI5d2tHb2NyR2xKWWFRbFBKMHlxOGwvcWFrZjJjeWUzdjJuUE4rWHpiOSt1dlBnQlBPSVh3bCtTWWdJK2N6K3dRZVAyVFZsNnZFQzI0b3JndDhqMnIzQ3JjUDdXd2ZKMnhPbUNibW5ZbUQ4eS9PNWp5SUVpcEtHdk16Y29Pa1BwbFVhRTZmakdpTFhFQ0FvQkhCRmlJd0NycXZMejd3NXZmNlJKSk5tWWN2eTJjdzFYai9pRmYwZk5xRzlYU3BHQ013SlErMVVqb1h3a1czRUY4SXNCeEpoZDA4MkhpWUVRZ2hYcjRYM3IvS2FST0RMOGRnZ0tMZnMwZG03VUUyc1BVRFNJZlVBcGxhSjFFdVZXMUxpUDBTQnYweUpSTVk0TytFTHNuUDV5aWIxZ25McnZRUXhtZ3pCSzlzeVVFakYwdSt2WnhUM2lWOS8rYmFDejV6OEMxTDZVeldhaG5HekZGY0N2dG1saGI0d3NCSDJFSVl0ZjJIbTlVYndmR1g1YkpOUWVXRjFOUDlYbE1ZelROQlV6WlFGTjVScGFabkZiTEpSbVRZQXVKRVJzSzJsUE84TU5PZjQvN3ZZQ2lkU2RNZWI0QklrUjBVcjRoVUNYc3VsN3hDOVVLVHZONXhuNyttd21LQWRhVzh3dk1USTNXM0VGOEl0RjRrRnVDK1FoMzlaSzBLcnllaHh2YTVaR2xOVDRxWmV5Ty8rUmZQNEl2L1BmM2JyMjVic2FEUVRmK1hoNFp6TE5sanIvczNlemU5NFNCSisvS2V1LzgvR1dwYXJNcHNBOG40dUdZSFhOU09jUkxEVFRpUlZUQm1pcXZNbXJOMHJXdnBBUnVwQnVGTDN6RjhQRGJ4TjVlaDBqUEV2N3p4ZUtUYitOaHo3K0JiVDNTLy9qb1ZXREJvODBmdXJldzIvNWhYUzZsdkx3WjMvNmcxOGNncVVaaTJwbHVTcjRUVTRia21nVThJamZGVFVRL3ltVWFoR1F6Z3NtNkFNOWJvU3JLaTRYdjIrOSsvWi9ER2pWZFZWcmsrUFAwQjNoZFU4cjBVVjhLNDZ6cE10bXBvbGNXSzI3Y1FHTzM0c3RkZ2RtcDJXTlNQQVRTTURSczMranB3V1cxSGUxMkJ2ZjlGTDJpaG5GSllSNnJjVnViWnRWemRobFBvVGkyVlExVlFCSUVmeXB4SXFoZFRTbFE2NDhPZGpNOGlUZXdGaTQveUZrRmJKYmU2Tm83andWTk5xM1YwY1ZvL3g5c0J0ZGFhYm5tK3p3YnNiK1BxZHo0ZkRhUGZmZmYrTU9MckdkTzI1UUdQdWhmVjU1TjNpa1JZRXNYVlRCTDVsNW01d0Y2NDgzL0Q3OFAvRi9DeCtsRHlFOC9ObnZ3cU10VzV0WGljMmNZenVWRlplRFg3d0JmUmppU3poZFkzYWRBenMzR0h1ZDRvOEFia3hYSFhYT0Yvb3hnVERYWnJmLzRLR1AvQjcvaUJQUklQek90cjl1TjVneDNXUlBzdHMvR1RUKzBtZzdDTktwTSt4cGF1R1JWaWlOcWYvRTJNOEhEWHlsMFd4YTR4akJCZTYrQlNTc1o2S3NzN0pKb0d3TVVobmx5eHRCRXJ0ZGNnTEhhUENDTEg2SlBZVnZmdjVtT05LaXZzaGVHUnFta2lTUkN1eXpPNjdkdVAvRzNYZWtCNTNaSm50MkszaG5pMzB6MWFMUm0xOGs3WjBvcVBBN3cyNy9sOS81YSt4N0xWUFoxRlVGdjZpYjU5ajFoZDlPOUlqaTk2bTkxRU1sRWpDU2thdkZkbFZYWEE1K2Q5alRXOEdUdDFaWERBejIySmVzQnJNL3JwdkZYZk1OQ3pLbjEySnVnUStUN3c3RDUzUnhQY0xpajRzUmZwOTRlaFZKRVBoTnl1TFg1Umg5N3paUWFFbnQzZDZLS3dqOHd2amxyOXQwcks3bG1INnc4Z3lGYUF6bkFaRWMzOE84a1QxUnRtQTBSRlBWams4T3RUbTNveEZydEtPUjZzcG9hUDVHZU9jbkMvS2JYV3c5TWhrQjNHVVVtbm5UWTNneVdGU2toeWQ1OEU1OGtmR2ZQaEFpdk50NWJoZkpVSWw5dDZzS2ZxbWZiWUI0eHVVTHY0Q2p2QTd2K2xCRzYxcHlKM1BjZHFDNGJQeStMVUpPY3dudEsyN2VFUTI2d1k1bVZRSGcrc2kvcjNXek0ycWx3R25BN2JJWkVYdEgvRy9Jd085c2E1blNzSjZSVXdxOGVwdVVScThXWXpDUEwwdnFSYm5TN2d2OGlzTnRjZjhTbFJQM2ZvU2x0am4yaUVKOXRpaUNydTZrOUdwRW9RZzVBSUR2NjRLejgrSy9QZFpsdHNqeWNaZTdKM0tBeENlU1dXeVY5MkZRL243VTZtekkySjl5aUFmQlp4Si8veVg0cW9KZkRBcDVBNVl2L0FyV0M5OTNORHlZbFJ3b0xoTy84NjBJRCtlZUNmV3hVNnllTGlvUFhJQitwVEFXWU1vOTNCTjhudFhySXJFdExNQzVSMk9BQXIvbjR0cDlCZllQaTNMNDByR2N6QU5MYWxldXZNVlhNd0RiemFqNWRxYmRndng0MlF2aGFrOFMxY052cGxoa2liSUJzdmJFQ0ZPMmJseStwUkVBc1UxQnBpLytHUDY4TnFpS1RQZjNqdEFORUVKekxpNUlNYlppQnV4d2pTZEZxYTNZTnd1SGd2NUpRMUdDWG1uY2s1R1NBY0x2V25hZFk0QmZCNHJMN0tqaUMzdlU3MVMzdUN3L0U5dmVscUlMbWVaZ20wZnNwc3hhZ0hXc1hYalJJWjQxVnNSY0F2enViRWRGOW1WL0NFSlJqclo0NU9CZ1NlMUoyK0JpakE3bEhCem1uTjJjaVZYZnhlUEZ6V3Q4b2tNK3IwZWo4SS8rMzZ6cnI5S0ZreW1ZdFhMTnZXVDVkSncwc1JFbmt5dDZMUTdQQy8xY2F0bU4xRFNwS2lrWVVHTWRnb21saUJMR3pGalBBODI3RFIxTDd3ZkNjVm1qN1NyNEpZa3VHOVNNeU5UZ2QxME9iZ1ovdEFVU0E2dUM0ckx3QzkyOEptb3UxTXhhZUNXM285VDNLYmN0K2ZHWG9sUnM3NkQ0NjBTRVB2NmpzSTlVUE1wdWxJbGkwZGNSV3V5NWEzSDVyb1FTY0w0bGlPQmw4OVVvYkVzTjFiY05JaWF3b2hXZlhZQ3h2aWFvSk85bjRsa1hXbGJNcTBJcmF0Q1FpWTBXeW1aYzI3SlVWZ0RNNUhhM3JIb3FuWHh0Yi95VjZIb2M0VmlTOEJ2RVpuTXpaN3hTWktxR0J1b3htbUxXRFpvaWNWM3piZysxamd2ZDZXc3N3VVJWL080SlF1bjc5T1BYaGVLeThBdlp4N0xaMFdmWCtDQW1IUjlZRWlJalA4S2JmNGV1ai84Ri9aL0NWNGtNM1BlbGhpa1IySXBuQ01KOGhHeUFRdUJ0UWM3YzY2SWNLc0ZNV3FMS2hINDF2OFNwRGEzTE5wZW9FTlIybmU2NDFFd1J4ZlhmYmt5S2pERExWRHMwK0k0cTB2eVhkVjNWYVZ2RGNCNXJnNUsxeUloRUdtcjBTeFFmeGc4TS9wNFRhUjd2YmJYS1VhWU92Z3NTU1RHTVIzMWlZS2p0elpHamNDL05WUlg4MG5obUlTa2FtU2I4R3BPWVlCRHlpWHBxRmNWbDRWZHQ1dWhhbUJPNjI5ZVdYekNldE92V215Vi9DT2plcDRCUUwyeGgxQkR6cjhRYnVuaUVBNkJiWUJvMFJNU1dDak5CTnRkYm91Q0tuTVNwNWdzeU54RllqeHRRQTRsUllHQ2JMUjdWSHRNTWp0NTVEYnBVdzJpamJBVERtMzVKdzZNVFN3MzkrWm15Tk11WHg2QW9leU00Mm8wb1FBLzhiTmxsWlRkeC9HN0xCanB5R0paSkNGVEZiOXk4VGxLRXB3YS82SkZTWW9JNWZuZWh1QXo4QXBNdmo5dnFhb0M0SUdiQW5tYWEwdlp2ZkIxK3kvZXNHaXoyREFRTjFkellGQU4yU3kzcVFHaUoxMFpQUEZCa2hGdkxsb3Arc3kxS3JpOVJxQzM3RlAxMWhiSDZGZ1hwM2hRTmdCSExxY1lGNTFQWlBrUWtJYWR6VWpnTTZjbCtBR3JTSEExanFlV1pHNFViR1ZrUXNKQ0RJc2JqbTNHRjlTaTRMc1puU2diRDIzRTJqK2g1Y1hvVi9OSzhzU3ZwcHdMVGhGK3BLNE5MRjRyTHdDLzZ4MGJjRm9KU1N1ZEVGMVNXVThCbkZvTXZMZEl4ak5PKzB2Y1RZZ0JvS1NNSStMM082M1lGa0hsc0p5NXFTOVhuNVAxTkZFZUhrR2VVNFByS1FreERlbS9YMFF1MmVEdjZ6MEptVGIxVW1UQ2VJbnMwS1VRSW5Fcms5TVR3aDVveStMNnZXUzFFcUZLaGZjWVdCUUdNcUV0eEdPdGJUUDcwVFFSMURYWDhRcmtXWlp3Ry9FSmlkdnk2VUZ3R2ZsdXFVNk9yU0pVc2lPUkxkM3l2VEZ5UnExcVpKQU45NFZ2aEtlakNheUxydmI4UWhkQ1M2SFVTditzSzV5aUVickJFWmEycHFDNDRtU2M2R0pUVklubEZZNTBvcU9zaVc0NGpYVEMxb1RMaWtIdjhOdEZPTmZPMnIxa2xvUmpxd0s4VkdLa25jcFhRRVlzY0VNU01mN2dGdU5JQUFDQUFTVVJCVkNEb2dxUGQ0RUhEM2hucStBWFdwYUpGbldyMk00WU1OYk1va2lJME5mUHZmdGJBN1VKeGR2ekNOUzlSMEZiQllFRU51RUpNdEZlcTdEcVZHb1VNL0VMZDZhbXVwVEFtOGR2VWNNN25kKzVndGFiMlFQTmJ4UUNBTnJHR1ZuMElrdHROY2hURno4c3hDVGFnWElDcnNnczJvMXBsanhIQ2M2cnBjNHo2L0QyV3BiZ2lyZHEzQlJGUWZyVW1BWkhzNlk3V2JnclNtRDJsUlRBZ01iYVhSQmJkaHhxVGhIVTVacXBDVmVaZnd1K1dJcFVNVFQ5K1hTak9qbCtnUURxUWRIUWkvVEIxL2k3VXRKZ1VZbE9mZjJuQmtpeUE4OC9TM3BYNFJiazFWWEFoWnNhYTJrVXF1L1hMRXFZRG5kMmhzczBWT1I0YVNFOHQ5U3ZaQ1dXcHM0b3JtVllwUUloVGs5VllwRUJnSTY1SVhuUFpkZHVJM1A3UVdDVExWeUkvOHJhb0J1K0RYTk9DcGVjdUhFcW1xTWhRSzhwUHFtNktpdktleE85c3hnNzduOGdhS2tBanI5R2V5cUpRRm43MVhmdy9ZOStnTlpqZXhVY0xKYTREa3dFUkcyYnRDN2hRbkIyLzY2cXY2V01zeVlTeGI5c1RuUEU3OWN3TXpzbWJwR1VCbnhLcmtrUkx6WFRJWDZSME5La1AxUmcwQ0czMlZPckpkSW1YNThDNUhIbUNya0dIU0l0cjU2a1B4TmY3VVRtOVBIR09YK0krV2dZSUZzcmU5UjBZVEQxcU1ibERwTm50WHloTGNLenlKTzlsVVZQM1B0QUxSMDJKWmw1aXFPTVhacjdGem9GWTlnUTF1b2NvWmIyTVVsR044ZkJiYWhmZnlrcG1vdGJWSXc2ajMyRVdmbDBvem83ZlVQVTF3K3ZMRHhFcHNIRCthQUs3cXZPcmh3MzhMdGhjdlJiOFVoL1pVMVFBYStxczlsUTZ1c2V2Vzh1OEJxSzN2a2hjYldNZVZ4U1QvU1E5cXFCTnZYajFNSmZjelNwMGFBUllqUWxnU0ZOcmFleTk4dXM3cWxBdldwZWU0eTRoM3kvVzJZREkxTXpNeVEyTmhOQTJ6Q2Z4Q3hyMmF6dk5JRTBtVytsa2taSXgvL0tCMU41R3VodG5sTXRJUGhCTm0vZWh0aGcxY2x3b3pvcGYyRVZTRlJERFZkbXFHTHlpZDRpaVpMS0t0MldKUkNDSlh6VnJpSUlXL0pLclkwL2s4L2VQYVlmSG5ock10RkNhcnVqZ1Q0K0g1Yy9ocnFLamhXZ3UwNjlVS2Vmekx5M1c5RVdCeGt6QklNWkpPYzRNeGVsVHFpdDc1SFpCU2xXS2tSYjBTMzE3Z21ScVVoNGFIUU9EYWJxREovSDdjenB0TFh6bmxrbWFZdVBOdjhHakdsa3plR3N2MllpWlB5cVdmanhPYjVnMS83cFFuQlcvTk1nS2dTMm9WUmU0MlkrZjRXL1ZrOUs0dTZ1aVpzaFkvdzVzQTVFRnZ6UWlhQlNwQVZDMXB3WUJ2ZnpDTDk2VityYlZyTWtUWXBjMCtwakxsRWRHbER5cnJIcVJWTzFPRDZFMU9nWXgyQi9TcDlneFdQNDgwY2FWWGdhTTBjeUlLamxPM3hYdFRBK25NalR3MjVUYkpWb1RTZnhxV1NPRFkrSlhwenZ1LzZmb05FYUdJUWJwYlRFTE8xQ2NGYitZYytWUUQ4VHVxVmJ4VmxKMGJjaTBMaEprSkJrdy9NOERyUWZLZ2hiOEp2cElqRjk3S3VnODBnUUhkQkhtaStIM25IeThhRnhZbE96RUFlZjQ3UktEeVZaS3hUR29Tb0JDQzZ0YTVkOGw0cmoydERSUHdZUVc5RmJRYTVSUlR4bER2L2pOWVlWYXo3Q2ZLVXRlazhLdjJoS1JUZk5BZGNWWjhkdlZSb3llMmUydXhBQldub29WR3lvRm13WitGM1N2aXloaHdTL050SHNpbjI4SkVkenNxYnpZYno2R0dwRjdwRmRvL2gxS0pFVGZrRlZQRXpmcmZQOTNIL3haem5tcHB4d1pndVVxNElGWnkrd1JQeGlDdk0wL05KSnEyUUprUDJ1MmtWNTlQWmsxTlBEYkxtSS82L1JHaFk4TGZxRjZVMXZhZzFWV25CVy9hRkYwRlhpUXpUWHJERDc1ZzB2MXhZNitZNk94eG9NZDlyeEtXdENyaVdRTGZzbDhYeGI1K05KTlZNMmVHaGY3RVhEQnA2Y2RiVXREa1VpR2VocFg5QTNabEh3WGxLMmFyRHRlSEh5bFd5bEZDc2dSd3d4NnJ2NEFJTlA0QXA1QzVwZWlXNjR3YVdIUFdtV09QYW9PM2ZJU1F3Ty9vV3Y4SmhaVVNhYW1adjdkMXd5bkpKT1ZGV2ZGNzdxYXhMQkZvTTFWdlBsLy9qN29VQ2tSZWtudm53bytlM3FmZ2lHczJhMXhFUXQralQwS2psOWErTmxUUlVQQmU4QVRJaXZhMENQelVvSHd1cGJVczdEVnRTMVo1clM5UWpPWTNqblU2UE5nSCt6Sk1UR1pXU2dPNUFqUWRwTXJUUkNZYjFZZElBcHhRYnNOYTlhU0R6NEZ0NmRjb1ZPUm9ZRmZWTlNsSHRHb3N2NU5HR1JKcG80SGZxc3F6b3JmSFRWVVFzQmkxRmNDK2xQbzRtWWN6ZDMrQlp6VWJteEFCbzhpRW9jcytDWDM5NW9xdUJCMVRHdHE0K3RrT1NBRWxRWjUxb0FvbXpxbXEwYWp1TWdnTldwaGptdUJyNHhyVzVET3VvZW9tRDNNWmRYUzA0SGZnemplVSs1RlZRTDVCbnBVanN1UWNYN0RJTng4RGUzbGJXdHBRejFLRlVXZlVXV3E0SmRNK1QxRktobWFHdnl1ak9pU2xSUm54VzhuWS90WGlnaUt1aHBIY3JkL01RUnJrdzRWM1pVMDRvQUZ2MlRSYnFoeWczZ0lzYVhPcVFFQm93UDZCK2I0REdlZklvaWw5SllXUXhXMnFjVXBhTDYzSEdXaXIyVmVWeFAxVTFHcWVaQktMWk1BNlFrQytHYUpyRG0zSzRMOXhFcEhwTHU5aDJsaDhRWXVRYVpuek1GK3FPT1hsTCtjWXFVcWZ0TVVaUlBUaEY4TkJKSS9ONHF6NHJldmhrcElZUWxOL3VVcXRmdS82SWN1WUdXSkJ5SzMwblljVHQrNitqeEdVM1dxcUEyL0hUVThnT1FLWTR0RTJaWTZyNDNBTFJwVE1DaXJwVG5Wc2wzMDEyWHFvbkZjSUVPazJyNi9VV3JuVUJDSzcyUThXTXpIUktuY0tFakVYR0xBWGhSRkx6SzV4VDJjeFB3YjlES2VZd1dHRml3VThhMFU0bStvcTV1c1hjRzB1cDhHL0s1YlYwNk9GR2ZGYjBjSnZodE5oZTFkeUh4ZC9sTUUraEt3d2krYXZTalRmcG5mdjJxcmFpait4NnRVeDRiZmZhMkQwZ2V3b3VuUmxqcXYyV1E5QWdpWmFaeHV4TS9udEhDVVFyLzAxMlhxb2lxYWxjOHpyTisvVWxWS2gyanhyckZhdWo0cVlQUTdpT3FkMWV6R0hUV1NMdWhqNVRndEZLb3owSStPQkhQOFM3Mm9PTXRINXFIaUJtbUliVXVhWU5waUdGWEJMNFl4eTR3dUc1eWErWGM5M2IzQXBDUEZXZkhiVSt2UEZkNVhHalIwUWw1eTNsSUdiaGRTbERKTEJlUUx3enhuWDNaQmlvWjc5R3ZETDBUUDN6aWlmUDVHL2hiZGJhbnphaWJDUEwyRVVuM0ZPMkx0UGZ5a3JvNUdIWmxodW10WnhaS2lVenlCWmg5OVRWKzhwaXJaRXZqZFVlWXpqVDB4cXVHblQzc3FWRzFYSVpoZW1qVjRYalI1am9NVFhVUlo5b1RmRGRrc2RQKzhqTWhBVmZ5dVNVcXB3TlRnZDhlR1gxZUtzM1pVdExnWHk2UEQwVGxEbnBFQitvcVFraXF3a3VzMk9XTjRuQ0ZTTmZQTlI4UnMrSVZXVlRrOGFkUW5iS256N0FYQkV2amJqTGk4THBPMDViRk1RNkIxVlkvUlVDZ2ZMTTVvVmpSMkRmcUk0TW56ekpSa2NXdGNuR1hEUkN5K2pjS2Q4dUp4QjlwWVppWGdKQkhxMEJZb3c0T1lhSCtSQjVyNmxEalVUUTdrM0V3elVBVy9aTk9zcFVtS0ZNLzRuWG5zMWxlSnB2THZQZE1yRUJVbTVsMG96b3Jmb2VwckxUN25YaVk0clN2TnpTcFlnanVGdGRTRFlFQmVWWWt3dTlVRzB1WEluTExoTjJocTViQThqYWRMUytxOE50NFB1YldHbVU3TUNUZ2lhekhaNkxYekRjVVRRZ1BJY3RsSWdWVmc2V3hta1ZLeEJUU1JIQ05LRVVCaFlkTmpCdHdUZFdsZTM0NGpLeklrY3IzY08xcnpRWE16YXVOS3pCS081S3RaZHFoWjArUUEwSHFDNEt3S2Zza2paaXBTVU9WM3YvaWREMis5bE04WFJwdldDQVNtZXFRbzRVcHhWdnlpdHkxSERhRVptdnpPa2xMQWgwRHFqQXlSOGFtbXdLaVM5Z3UxN1dyUm51cHR3VENxWnNVdnVzR2FxRGFRekZoU29YL1pLMVlpcjNLb3JQeGdxRHFUSUlmN3VZVGFhUWwvVmN2bmE4MWxJNkZxQkEraHNUVWV0VUVzNktFU1Bqa1M1WnFtcmZ1T3htdWlTQzFJYTBtVW14T08vUFY0NndyNlZyUHpVRE1jTTlCVUJiODBKTndVbktUdmFGRXo5TlA1bERMKytjbmU0WExRSzdaZjE5ZkhOTUdISzhWWjhRdmlhMUZEbUhNSnMvdUwrQUVmUzdqUmRWNWFjT1JUUG9nU3JiK1NFcy9GQm9NRWU3akprN1FwR1M2T1JaNkc3eWd4aWJ3MmV6Wkt0S1ZDLzV0eGJ0Q1BldklUYWxSdXREWkVwbjd2eWVlSVVta3NORmZFYUg5THIxRTV2SUlteEdPTVMreDgxQi9oNU4yVUpDNnhXOXR4WkNibGhKT2xuQVptVytwSkhveWY2WkljVWpxYVFvYlE3V3JjOW83U2lzNU5GZnpTRW5KVEoyYUdNYzZJNmNiTTBHSmo0L2N5ZlIzOXZFQ0pSdEVTYkNaN0Y1VnhwVGdyZnRGOU56a2paS0xRSU5ZbkhQVGlQNHhFY0VYTXorVFVrblk4cjVMNGFSb2lib1R5YnpRdVI2b2wvSXNxQytwQlYrUXdEdk41VXhSSXAwTC9ZcENkaTYwVUpBbHY4bms1TndrS2RBZEZVU2RLeG5DbG1lR1VCdWQrbE9YcXQ0Y21CRmZqMHB5SjlvZk82TnRFY2dLa1ZjRE5jU21YcTdmUHBQYmo3K1hnVHlVRlZJYmFPSVd3K0tBT090Snp0bGFxNEplK0NIRFZSalJLUTIvU2ZHbjJjbVBqbC84SCtveVlidXpFUldyYk5zTzVVcHdWdi9LekdmdlBkS2piTmZoc3BJelJXU1daRlFoUmVsTUV4OXE5Wno0akp1QlhSYm1kNk0xUjJuemRqc3Z2S0lualBhZlhScWw5TmRvSDZWVG9YM1NtdHd1citETmlxRy9vSHhPUDJ3aUNqNFdvODJZWnhkUDFrQ0FxUittWDdiMU5xMVF5MkVjTDVoUmZrZ0FWYi9PUnJxUEdNNlExM3hBVG1tdU43SzF4eWFxM09Ua0J2ejM2VDZONTlGRHg3MFpOUE9pdnhpME1HZnQwYkdLaW05QVVrTHFxNHZkNmlxSkltQ05PZmxMRU11N2o0dmN5TnlNYmlYa2dvNUhRT3NNNVVwd2R2NE5vc3JqSXRvZkU0eVd1aFRQeXJ6RStFdzMxNzN6L3I1Q1FHUHVLZi8vdlZqT1kzMWVHTUMvUmllSDZSN1F1bm52Z08xdW9mdml5QjdhQzMzamdKVVRxcXgvNFBsN3V3M0c1L3lQeFNjbXBWT2kvSDlsd2M2RVk0QnY0NGg2SXcrRWpPaFZGNHV0ekw2Vlc4QTJKdFRqaGo3OHo1QW5zalE5OFNCUUt6aGJUakN3L01rQnRMSTRzTmFMQWtFYTZDOXA0aHZKdnY3WEhhelU2ZG9Ed1RNYy83MkRzN3hMSksyUkVCaGNlNS9MakIxa2JqL0x3WFE5c1UvNFFPbXgrTTRXd1FyRmJINVh3RzJiSjlGM3ZmOU1YVWNlQ21uL2xnWDlMREdSYzQrSjNQWnB6V2xiN0x0a1dPRmxLcGpsVG5CMi9NOUhDcGY4TWpzUUJGdEhNMndoZkY3SHh3M0VYNm5BUlJUOXJhUTU1eWtKQ2NmTWhPM3pMUnoveGUvaGZjUDc5MFpqRW52d3lnQ2ovSHNhKzUwOCs4cC9qLy9JVjFKT3ArQXVvK2RhcmdkYVBOT1UwSGx5RTAveS9mdlFqSFp0QmlZa2d1alpqa2pKQlh5NE5xMCtXZ3VQb1RtMWVOWlBLeCtZeHFzeUhjSnhvVjZONSt3OFEvWkUrK3dkYXF1Y2d0UER0Zi9Yd0QwWlcyRUlrVHo3RTA1S1VYMHZFd1JENHZVQi9wL014SFBoY3RmSlVDYjl0bTJGS3pYUWpKcUxmMkFLd05qOG1mbWZqMVYxa0VGa3BhNGxnWTFPTHhrRkhpclBqRnd2YzF3V3o3OFBZM2dqWjNreHJtemY2TnZidFFFcmpyZXcyYnJoMitGKzAzMy9malR0YWxwbU9GNEdEVkV5TFVUeTRDS25qK2xhS3pvREFQZmZmaC85NEIzNFA3N2h4Ly8wZ0pRWnFRSmN1WVl6RjFST3BjNWgxOEFHT2F5M0RKTDRTOHFwOGtvanJpZHZLSWJWNDR3NHAwcFZETkhzL2Z3aXhocU1uV3hJVm5OemhVRUJmcmt6cVNYWk5mZTQ2cGpiVFpvYzM4UGhmVXBsNkNRS1JGaUlyWndFU2hVQmovSkpDYjl6ZFdpSmlRM3JtSjlsaHlOZ3J0K3pVSytHM240bGZVbkoweFl6Wld4L1gvM3d1ZHJVMGpjMlZqRGJJdzdOaHlYT2p1QXo4enJiWnJhakh2WTBkdGtUSC9pZEF5dDA0cjdGc1lTY2phVDdsQ1dyODFMMkhiL3o1ak9KNjhzY2ViMTE3Mlo2ZVFtRXpsYjkvOU1oajdOcnJmMGd2T1B0cHRQRkpQYVZjdUZuTXMxaVlLRDgrdVZlNGVHYkJId3Z2U2kzcFpqOTlON3Z6WmN1WmRieGtRQXQzL3RycUNOSWN2OEVYN2oyODZ5MVpKU3ZodDFQWnB6RG0vQ3MyTUpyQzk1TDFlSlJPWS9lMnJZQVR4V1hnTjVqNzd0WlhSMTNsejlyZkZFMjM0T0ZqajdYd0YwYzJaakxUV3BoYmo5dUZJWE5VM3l6M1NMUkRKZDNzNWFvZTQ5TERqSTZyUFZJbC9PNW91NUVhelJMQjhmQ0w3ckhNRzJuYmdXa3lRSHM0VVhFejNVMHNDNzl1cUlOS1QxcXF6a2g2SjNSRitkZmR0SFVHT2xUbkd0elFuSDRxdnZHN2JqdllWRW9zUmZEYitOOC8vY0V2YnQzVTZGNFF1bXhaRFdPdEpBWEo5cElUWUNLdmV0UTdmcnU1eHp1cVA0QVBDdWY0OW9CRHltZWh3MGx0N3poa3V5SXAzL2pkVDI3a2wrYTNDSDZ4eXNhMXFkRWVzSGhCYVNackpmUWc3WkJ1NlFsT3c5N3hlMWs0bEoyeTdaZll3TEg3aWp0RXNROTN5cTZoWi90NW9KMFZHVSswRjNQUEhrVTBXOEFmTS93aC9YaFBGSGEwUGkxbnNFQ25nekt5SENSN3grK3NPcURyZ04zSmtPaTRYck5qcG5BOXBVOUdFcFZhR1hyRzcwTHVxMjlGV0o4dk1GRC85UWNlaGZhMEdSU3dYZUxFNFpuYUdOMEtyWjFHbHhxM2hIZjg0cldIM1hHWk82SjZEZjJFb2hNZWRxRERBeWVVamhNUjMvZzlYOTJwY085eUVZRnEvN0dINGpneXZNWnJJYkROQTdrLzU3UlhUSElManBYcEg3L2Q2Z2NYeG5xeThTdGRjajVYOW9IZnBmRVpPcVkxZmVQWHIyV3FDZDJjNXdISWFEWkcrOHRhcVl3Z3JJVEVFWWlNZ21NbCs4ZXZlelNNOWFBbEtuVU5iMFdKaXBsRlErQzNnS21WV2Y5NFp2akdMNzA3c3pvQjBlQlVXZXl3NG8wTnhaRUdBSGx2ZFBNRHMvYm9DcVZLK01kdkVIb2Nma285YTlIQ1BlZTlBaDJ0aUtxTE1uaE15ZzFIRDFxVjluOVJlU0pyTSt3QXZhQ0p2Q08yRXJxRmhvK1ZyTFBmR3NueGd4UEE3LzR4NjdxejdKbng1V210eVk4RlQyS21zTForWkluN28vMnpsZkJMWWwyZXdOUEJUajdRbWduRmpzcSttSWkxekhSd1IzdVhQWjFiTldVQytMMVEvYzJicWs5WnF2NTU1MHRWT29KeitvNXYwQWVYTmtkSXZoSis2UVhnU2F4S1lDZGZWYzhCOTdPOGlsaVdmUlA5aXBDVDBBVHdHNFRINitqQ3V2eG9oQk1KZ3dodDRSOHZHVGg1OHZib21hY2Fmc1BSQTRTTEIra2FmbVlhak1WVnhGQ0RGSzY3NE1KT1l4TDRIVXhrbFdKL3Z2S3BqZmpsa3ZJMU0ydlFGcUI0clNxejBBbkxlTzhENkxpTWZkTUR1VE5rTmZ4aWFsdWFnTmhXakdVMkJ1UHZmWWl1aDgxbGNSWWpFTUxOckx6cTZaUEE3d3gvejdzNnI1T2hjS2JJcGw0NVZ1ajQ1UFBscWh6NzBzQldkQjNrUFVvMS9PNTROVTBsM3gzakFBWjJuWmQ1RmliaVJWa21NMERtOWxwbWJ1V01TZUEzMkNuMG5ZTEt6K0tHUU1lOXBic0FIUzY2NGU3WVVPa2ZYcnZCWDdUMmlOLzlZak5nVlptRnhua2VLSE9MVTRSYmEyTTBhWXhRUHMzUGllRDMwa2cveG1nNVRLckVGZDFYNGFqUklYUzQ2WWpXeVNKVGJmN3RWbjZCb1lnME1ZUHEyNzhMd3VzTXF5b0NjaTRSMnFUT0xWQXRjeUw0RFhyUFZ1TnlnclZYaXZnVVMvS3pEaDJ1bGF4ek9vcFh3eThjdys2TnBaVGdZU2ZyMjc5ZE1Sc1BDNTNzeHl6dDAvcWNESDZ2SEp2dU8rZkQyZEFCZm5kVC9hSk93SjlYVnpyWGdzOGkrTVJHckNDMGNxRHBhc2ppeWFoWDZKd0FabW1mWTh4azhCdXM2Q09ZSm95cEMzWjFVOGtWZDIyL05wUXJObytBVGpYODBsYU9mNll4eXk5cHJleUxyWVN3a0UrajY5ZkdueEIrWjkrc1NXQ2FnKzh1c0tRcHpYL0xQQUJmdXY3SnJWQU52K1RiOVcvWEFJRWJtZ1pXWW1zYXA3KzJ0ZVNzNEVybGozUmxVZWJwRThKdkxnOG5QWk82bVk5cC9RVElyUnArZzNBU2ZnVWdjRThUdGZpaStRWGh4OUx5TE1HZTErTWJlRHRYdCswdDdkZEpsU1dBVHVyK1RFaGxycWFDUUVYOGRyeWVqWWdsaEVaMFdZbHZneThVV3Y3aVR6TjhlRlFrUXpWK3BTaThCV2dMb1I0bHJlS3RpRjlNamRldGRGMG1odVFrZTlkTGIvMmRWVTYxRyt0eXAxalQwUDJ5UzI0U3RHcjhKZ1RpSVlvdEJNTUQ0cUdKNDBxeUluNjdmaGVYWEtwWS9Ud2IvRGErZ2g3N2tSY2kvQ0o1dDREVTZldlBFZTRMRkI2alNJM2ZNWVJXc2dvY21JWUhwR1QxazF5OEluNGgyU0t2RUZTU0lKemNMMTVrcjE2ZDNZbitldTk4OU44NkY0cTVOUER1c05jM3oycjhWbEp1b2NvTHdPOXlvWktucmxCRi9HSnIxc054RzFNTGFPTnYrdVIreEYrSmJPRjJKVHJLUGl4bVVzSDI4bnAycWNhdnFTMGZzWUZuRzhvSHp4T2lXUkcvbUJzZC8xRnorcmt4eDk5MXVFZnBUUTdaK1BNT1llWmZmaGtrTUhhL2FDUTRqdFQ0ZFN4UUN6bDRXYnphVUpZbWowdFNSZnpTRy94RlZxRlZ4TkZGRy9RL3FRSCtJcFB2QWpicFBOWGxndS9VN1h0K2M2WEdMMWVOMTUrZTN5TjBYbm4zVEx3cWZwdkZEbEZVZVFxTXZ0eHVEdkN2MEh5eUg1QkRxbE5zK3NYK3JOODNWMnI4VnRGdHNicnQwL2YyZmpIQlZEMy9ITkFuZXBhS3RqVm1PU0R3aGFncUxPbGxoT2dOdFhld054UWpGM3AyZmRUNExhYUhLcVhZQkhZNXF2QjNoSFdyenI5ZDVuMW5YU0VRbjFHNVNySmFQM3dzc3FSSEM0NCtzWWZaMnQ5VjQ5ZWZiR1BLcE1NbDc2MGN6d2FxNGhjZncvRHFIc0xmMVNzWE56elJpeVRtMmU4Ni9QYUNvTVRSSGY3SDV0NjBVK1BYbTJnRllmb0R5UTBScWUrR0JLcmlGN0wxK1hZZWVLWHQzNWhsN0FVOWIzQS9Pb0x4eGUrSHoycjhqbFpDeFJJWXRvMEQ4QlhKbmFqcVZmR0wyZEh6QmhLMGR4Q0xIUGF6Z0hKUkpYUlY3YUpWeXBXcjhWdE9YbU9VeGhoc0hJQWZnOFNKclZJVnYwSGZzMzhvZ05OcUtSWS9nbVVuVXppdk43MHFyOGF2Vi9FUzhZV0pmQ1hDKzJONGFhQXlmcjBEQkRPb1dQeEFrV1ZQYXpaOW0xNDFmcjMwUzUzbzBEeEM5ODdIV25lOVJjOC96ZUhLK01YbmFmN0dxd0F4UU96RkRRREtKZTFuLytaOWpWK3YyaWZpNjRiYWY1Z2R2ckhOWHUyOTFlUFJRR1g4WW5sYWRrNHNKNW1PMmdEYWx6dkJSVW5BL2V6MTlEUE9rY2pWZVZHZTZuSWxKWUFlSUR3Z09MRFF1cjBjQkQvQVhsdVN5QWt0WGhtLzJKenord203dGpyNzJpczkxMlBGN05jNnFQSHJIeGloL3ZkWCs5RnFxdS85Mks3LzUzTFJRbVg4NHFXQ0lsOWhIcDlYYllNS1RhbUJ1QkRGb1cvM1ZZM2ZRbnFvVklocFozUm40KzNLeTlHN3BKWG9ub1RLMWZHTDllbTJSMG1BUWVsemhpS1h5alhWVVl2bmNoVUxsNjd0NThLaUdyTWdmWUZoVjlROXoxN09ndzNQVnA5b2I5cnYxZkVMQjlaMWowK0pGYXc0czBIbjZMYkxOZVgveGJNYXYrVTBVcjQwZmYxSzFvck41eURvU2ErbXpEdU5nZXI0aFhoTE9vVkx5UmxuTmhiakNxUklPUkFySXFzcW1BemhkSmhmNTFydHYwcUszSDBjcCs3VUVkaTJXS3dOeTVwaTdobWJCb3JWOFlzdEdpVmU5NDhFRDlUVm1Dck80VmpPZW4xR210ZnB4bEZqTVozcU5LV2VmNTJLMDBJTVBVQU93dWl1Y1lrRnI3T0doWTNwVEtxT1gxZ3l0bG5SMWVQQ1BOK1FLck9kdFc3bGZNQm5VTnJnTHMxMmpkL1NJaXRab2F2dElWeVF5OTd6dHI1UWt2SUpLTzRBdjVEdnBqOUpMQ2dQRkR4bFlpbXMybE1hVldreTFMZE4yRExYU2FER3J4TXg1aERCcnYrU3lEN0h4R2g5V1cwcmlzelRlSGVBWDV6ZzhMakhpdEZCTEhEN3RvRmltQU5ST0x3OG45Nm8xNy8rUWRQVGpLaUJWQ2g2M1piL3RxZStCUWY0eFFMWTR5dUV3RzhzUkxSalVWbW84SjBTTmp3ZkhrZVdxTGw2L2sySjNYRUNOQ3lSdWlLLzJ3Qm41ckxqaG80ak9RZjR4UkVHT1VXNkY0SDh0KzRBem1SaFBLbG1MZ0hVdXlwcWhnWnE3V3htT0l6VitIVW9UQnNwRE52cTQ1TTk2Y29DZnJkdHhVOVptZ3Y4ZG4yS012NW1IZFFDWjNLMGQ2K3JhQWo4THVzSmVyampjMkNKRzZyeHEwdmNReGpmYjFEbVhWL2lGNlA1cG9mV2podEpGL2pGVUxqbzdiblB5UFh0dXZKa3FkYmF2ZXc1RmlNMy85NnNLdTBoVk9QWGcxQjFrbGpvdmlEamJYa1lEL2hka3Ntbk4rQUN2MEZMZWhYY0N4SUdja1MwSWY3L1NHL2p5dTJGN0hFWW1yK3VGL1lTcnZIclJheUtxSEcrTDlUeDYxKzVpb3RwRFRuQkwyYkdWVjhQaU5PdkVXMmdjU25WeU9CNTdPNm5rNk55WGR1RW5TSlJNYUhHYjBVQmpxbytaR3hObGxINGhWbGQ0N2Y2OTUrNVpJR2hUU2xpMTRFd1B1aTZ6MjZuQjRuMkJuek1peGxOZHJ3ZURJc2JyZkdiSVgxWHlZWVRveVZQWFFHL2k2NmFPTVowbk15L21DUFZFc1cxTU5hanNRRnR2Q1pGK3VLdEFQWjF4aDRSZG4vVHh6MVNKS29tMVBpdEtzRVI5VnY2cm9NNmExL2psOHZOQ1g2eGcrVHZIZjd6RVFxZnNFMi8zUmRvVnlsajdNQ2JEemRIOUEwSDJUVitIUWd4aHdRNjZJc3FXMFZxL0hLcHVNSHZnem1iT0VyNDQ0Vm1XelEyWEd6Slk5QWFtZWJOQVBOeXhnc01LOXErb1ZiSGNiREdyMk9CSnNpWlRzaVdWSGFOWHk0b04vaUZNUDA1RTU1ZzN4SE1OZGszSkJTTDZBeGVSOElta2YyTUpQelYyc0NkcnV3b3BjYXZJMEVteU13OTltVThCZTduWlpWbDROZGZsMU1OVG52SURYNkRwc2VkMWthZjNXTHNHeTJTZkpCbVh0dXBMQ3FMZ1hzQzVqT1dEZ2NXenVxa3FoSllpWDJpSzhiU1RQbWY2LzFmTG1GSCtJVUJ2VlZWWTVuMVovOVY2ODYzMkhMN20waHRHd3BXeFlZVE1aOXIvQ3FKT3cyeGVLbmJOcXlvK3Z4R1FzaU84QXNEZWlsQjJYOTAvbkFWamZURkFZOUVnNkdoK0VTbXUyZzkvN3FUcFVZSmJnMitMa0wvWE5LU20vWDVTVTBhQ0RyQ0w2WWgvMGNWVGM3eGQ5Nzhzd3c5Y2NERHpNYWh6ZzB6eFUrc3hxOFh1V0pDNE1lZWNlaDlWMnZBZUg5aEl2clZHcC9Hb0N2ODRnakgxcVNmcjNPVldzVGhMMTNEZ29saGhsa3Q4bDNkYS95NmtxUkJoK1pmR3A1WFRPL2t1b3hpMzMvWnFIRTZJNjd3QzNsZm43QUU1NklSWTJoWFpHaDVXY2tIZ3pWK2ZVZzF3Smw2NmxEWVJGalM2US9sdTBod1QyN3BPYWMwN0FxL21BYnQyemorNUhvdXN0aTdWa01aeHlyMy9EV3RVYTd4cXduRFlYQ0hQYlVhQkdmWUxmeXE2Nnc4RXF2ZVMxTzVwekRrREw4WUQvY21LNy9lRW05dndYcjRlbjFTNi9FYXYzNjBmdjV3RjRTYmliOVpVRis5T2l0bllqL3RIeE9xenZDTGZad0puRGJXcERvYkwzdmg0VmpTa3FNZ3pQbXJxVVF2Q1RWK3ZZZzFhTFNmM2dyK0tIbG9GbTZ0dUxuNis3RmNFTzd3KytCazlsdGxiemtmMit1d2xBOWtvZ2ljbTVEM3F2NStuWkM0OHpzY1ZIZXp3N1VFM1ZCWWVmc1Q5N2NrT0ptT3FEdjhZc3Jibk9RejdiejhJWDY5eS9ZQ1V0UHlzcElmNXVyNTE0OWNnK0NSbDdCdldrNFNYeGVINnZxMSs1bGs0dzYvd2Y2a2xweGNwL1JuU09KNklhbmxDK3h3SzVubUtWN2oxNU5nN1dUUHhXK0x6azdZMnJOemMvU3BEdkdMdGNueTVCNElid2ZLSy9VQzBrN1dPNFh1K2F2eDYxNm1PUlRuWWdmMCtjbHBPSWVibzg5eWlGOXNJVTNpaFo5WVp1dlg0NERsQlNTTUpIdVRFbTJOMzBsSk9tcG5KVnFsMWVaekpBNlgrTVdSeGQxSktiT2htakkrME1EYjM1ZHZpZnBucDhhdmZ4bnJMY3kwYmkwSHdZL2JYaWZWaTUyV01QQXJydXJuTDlZVHUzVWVoWGhHZlJNNDlRSVNQR2w3SHB2bXBIRmVWRndIdnR1cTZlc1NlRGM3Zk9POTdMbFZQZTMwaHAzaTkrTGszRVlyMTZYT1VpOGdEU2RneDlmNGxmS2ZkT0NSeDFyWGZybUdieVIycC9qRmFmTlhUVWFiamRhZWJHZ244UUxTWE12LzlCdlUrSlh5cndOSEtBRzMrSjJmbEZmL3NqS2ZNV2lvdFRCSjhpejdldjhDcmZIclg4WjFDNk1sTVBzQmVYMW9kT21SSlQ3M3NwRkZuQlJZV1ZSa2h2b0h2cEY4NFN1MlZLYXYwQlVwdGc5cytHcWpwbHRMNEdSSzhFOHpCZ0FBQUlWSlJFRlVZRmJmYWNZTEREV0VUcWFlNjZjNm1SSjRPejQ4S1M5OG9YQlRSdXBBTFlGYUFsTXVnZm1XK2tmWWdGeEoxNmVjNFpxOVdnSzFCSVFFL251YnNlOFRrY1lubXZqUzJVZFhSYnkrMXhLb0pURE5Fc0IrRWE3NFpXT2NudVNYYmxCUE0vTTFiN1VFVHJrRWRnN3Z1ZTl1OFhXcjJkYmh0WHZ1djNISGM4ZFFLUDhmUGsxK3hSa29MZ0lBQUFBQVNVVk9SSzVDWUlJPSIKfQo="/>
    </extobj>
    <extobj name="334E55B0-647D-440b-865C-3EC943EB4CBC-23">
      <extobjdata type="334E55B0-647D-440b-865C-3EC943EB4CBC" data="ewoJIkltZ1NldHRpbmdKc29uIiA6ICJ7XCJkcGlcIjpcIjYwMFwiLFwiZm9ybWF0XCI6XCJQTkdcIixcInRyYW5zcGFyZW50XCI6dHJ1ZSxcImF1dG9cIjpmYWxzZX0iLAoJIkxhdGV4IiA6ICJYRnNnU3oweEsxeG1jbUZqZTJKZlFsNWNkR2hsZEdGOWUySmZRVjVjZEdobGRHRjlJRnhkIiwKCSJMYXRleEltZ0Jhc2U2NCIgOiAiaVZCT1J3MEtHZ29BQUFBTlNVaEVVZ0FBQWE0QUFBRFVCQU1BQUFBMkZkcTZBQUFBTUZCTVZFWC8vLzhBQUFBQUFBQUFBQUFBQUFBQUFBQUFBQUFBQUFBQUFBQUFBQUFBQUFBQUFBQUFBQUFBQUFBQUFBQUFBQUF2M2FCN0FBQUFEM1JTVGxNQUVOM3Z6WmwyUkx1SnEyWWlWRExEaTZZSkFBQUFDWEJJV1hNQUFBN0VBQUFPeEFHVkt3NGJBQUFOOFVsRVFWUjRBZTFkUzRoY1dSbStOZWwwWnpyVjZSNG5QZ1pHSzJZQ2lnK3FrNGh1MUdwRFVBU2hFeUhLK0tvR1Y2NjZZY0JCRUtxTmcySlFxaGU2R0JVcXpqQWlnMUxaS0M2RTZuRmdCQmZUdlhGZERRRkhjTkdacnM3a01VbU8zM24vNXo2UzZ1cTZYZmN2UEl1dS8vejMzSHYvNzU1ei85YzV0MDhVOFM4ekwrMzhsRCtLQklLcDZzNWxjVFhCWnM5bzlUYWoxbTMyTU9JQXBzV0hvMmhDWEl2enVkZmJPM05STkNQbXVlT0l5VDh0SG9CVEV1L0crTnlySGJFa0lkUjJ1UU1KNVMrTEhjVllGQ0dmZSsweGNVdEJhSW90N2xBQytWdGlRZFdiWWpQZ002K1VoTUd6cUY4ejVuQ2MrSWZONnhYVnhKcGpqZ0d4SWQ3UktBUm5UNnIwMWw5Ky9VTHRBdW1QdHJpbmFoaVBsRTFhY0NEYlFwYXJYbFRBV1ZDMVk0THpPS3dwWE5jOHJrbGgvRUlRUzU3TmpmcitpeThEMmJvWCt6RmJtN1o2MFIvalJkVkVqd2k4YldzQXVFTDQvRWdoYUtSVkZ6YzFoSW9RYy96QWVJbkx3aXAyeGF1SysvcFl3M2FjYjhxS09pcFVXR0praGpwMDVTNHJISEZob1I5dWVONk1ReVdZeDEvUUQ2c2UxK05DWEh4Q2xxZURidlFOMkZDVndFNU5XTzJPanB0bmd5Rk4wSzZnY2RZc01WOXJhYzNaOE9xQ3hzV3pWZ3Nlc2dEWkFJa0pXZzNNVjhYV3RnWHY5QVlVdTRsTEZONXRjVWZqYmpGWGg5QVBNcXRtUzhPYTVTcHp0WEU0TUY5UjE2Q0VGN0prc2JMOGhmbGFJSUkzVEZSNTJPb1Bjb3dWQ2ZORjlmbTJlRnVKUDh2ODljTEFDOEtSaW5HcWxzVUpWdDJURURZMFg5R3N4Z1V0dVpWb3lvcFJsWGJxcWNzN1A1bFRZay9vY1hnNFVQNnNBR2xoMFRGM29uK0tYczJFazVOYWIyd0h5b1FoTHBpdlcwZkZwK2ZLeStLelV2eXkxaGRWT1FQR3VjQjh2ZDJXRHNlVTZLMUxJRTJaQmxBVGxyTEd0c0I4ZmJTM0lzVnY2cUczSWJNYWRlN2RGY0Y4eWNsa2xJWldGWk9JTW8rTEx5Z1c0ejh3WDNyOFJZZU1oOUhwdmNSZEdhSS9ZTDZNMjRzUnVTazdxUHpWM2hlWkt3MmdxTnE0UHpvUzVEa2tRc1lGNXN0bTA2QVo1eGtqQ1VXWDVzdHdrRy9URTBSaEM1NDFFbjFoSEZxSVBMRlFxVW4wQmRKa3NHa0RwalRNMTVvUkhSbTI4VmxnQS9PMVluQUI0dmlNUTVndmE2c2F6cEl4SFh0VTdFVzdxQ0dLV3ZDQTZTSFd0TEN6ZU5MdnBmTXFyRkVoT1BFNlVJU0pLZGJBTU9kdmJURVNoc3d6aHFRbllJdXQ3d1NJTGxWekhiUXRaNzY4U1U1Z1FzSVdyeHBSTWZIbGxnVTBMQ2o5ZTVFSkdpOG1Kb1BXVEExbTJTd0VBT1BwZjZQMm1wcTIvQUU4L212K0RCNFV3S3dZU2J2K1ZRTUhmdjROY3dBRDFFeXg4TUFrcGF4NHM5d09Wa2xCVVM1WUdNc3VSTE9jd3Y4Q2w1RVJIVVJYRTJINjNBN1FDQy9oZk9HUmhBSzZXZGNJcXpoc2dDbWJRSXZZQVNvUGNYTWNiYTVHQVRsTk1PUEZjelVzMktNem1vNWZZT0tJMCswZDBrRVF1RUZtbDJHeHVTa092RWI2cVpkc2Z0NTBRb3RBZ1E3aEZwaGhpTTBwSk1nSExCaEk2bWVSdkZJQWI1MHQycVRRZE5Xb0I0dzdEZEJJNjgxWGhJUnBpTG5RZ0l4d0hiMjBGLzJtazltR1RjMVhCUHUxeFFFTGxYRkNEN0hYWTkxRnpSY3djM3U5a0xSV0h3MGRyWGtyckZCVDh3WG4vaHA5RkR6bzE4V1hvbU5OOFpsUVdtSytrRGtORDVhcTR1ekpVK2ZQbjN2bXJQT1VKMFh2ekVsd2loUEJsZHBpUjRpUGg3Q0krU3EzeGQxQW84Z1kyNVhiNWp6MHJ5NFhZaGNhWGJYOHk5cW52aDYvdlROZkgyeUt1K3V4bzkvN3hnc0t4TzZWWi85bURrMjlyRGc3dnc4ZlFlekUvcXJIenE3MzEzQ0FWb3RpOXhMS3ErZEU3MDlwcHlQT0Z1OEVHT3JnL0NMZ3BKM1hENitSNCtkWjZ1bXJQN3ZmVHBNRmN4VGFRTGlESFNIKzZDcjdJZDZiWTFUa3pkZjc2K0ptU2k4Z2RQSCt2a0xSRkQvZkR4cDM3dnRxT2VJaTVxdlVUTE5lRmVCeW9raGlNcTFWMEtLdlN2bXZ1SEIrNDVDYUw5QkxDWm02NFRjU1NCYmZUdW5WeEdrUFo4eGN1aXhSNVlpTG1DOHNWQkgzRS9MVVl5SFo5REJNTjN4djBmdnRZaCs0am40cklWRmZEQnA5UlcwWG8vbHpxMkVJWGE1K3doOGJtRHA4NXRRM3Q2SitjRzFidTduSGV6bnpKYzlianFzSWxhMXk2U3JacEV0VENKS3hqOUlQcnE3K3dIclBkMm1TNkN0cWtCU091Uko4S3hxNlBENk1VV2lGN0FkWHgyVnc3Vm45L2RMb1MrSzZFRHROdmdscmpsZGEvTHlqOTAva2lBdVJ5WUlYc0pOVWlLSDVlbTRJdXREZkxrZGN5UEQ2M29qcXlmZXJndjV5a2t6U3hvNDdNSkVqTG5oL0sxNHVNaDlobVExQjBsWHRNSXl4YlFiOXpSSFhMT2tOZUJMSjdHR0xaTjcrdnJNK0tJVFU4M0xFRlh5YXNpR1NLN054NzF0R3FKbVkvNXNxNjE2WU9lSmFKc2xEUk1jMGI2OGtsTG44RzBiVytyQnpIem5pb3VicnVPOGE5OVJseEx5Z2E4ZDdXNDQ5SENKSFhHVEJ3MVJOSkNXSHUyOTA0RlR0UjhOQjQ2K1NIeTU0RXlmTWZhYWFRdnpPMzlOUWNQR053bHdlZnVJK0wxeWxONzhyeEZmVXA2TnYvcXNxeENjVHNQQk5oRkdZSDhoaFlpd25YTkpGb2lYdHY3UTFqUGs2Vm5WcU1RbCtVRTVPdUdUbXdwVXpQeVAyMlF2YU11YXJFNDh1ZlpQQnFaeHc5U01RYmkzTmwrcmE5WDVPMkV1YkVlSkNmOEo4bFJjaFFzTFZqMEg0MFBOWjVZZXhsclk2T2x6R2ZEMTNVM2FZdGM5V3JQQzNWRU9UakxJVU5yVzEwZUhTNWd2QnBGeFM5ZkNaWi9rSXNzcXFSUkwramc2WE1sK2xKb0xKcHZETEYwUHBiRTNudDlPZzdhU3FwS2l2L01hZzhiS1ZLdjEzRm1KRzEyVXcyUUNWSVY3NnFYMXdSOWRmUUxON1ZEbFNNbTVlN1VQV3ZUUVpIYTRXMW9TMVZVNFJLMWIwZk9kZUJIOUUyOUhod3AyRkNTWkIrVVZ3anhDNHo4T2p3d1V3TnBpc2c4UjdOc3lTZ2F2MEZqR0U5UjZwUEw4ZXYvMnNsTEQvWWs2WHV0dHE5dzNRUy9ITDdxK2VnZXZKYkRtdE1PNitnK0h5MFZja3Y2MGF0a3VmZ2F1UmpTdVIxQjRNbDQrKzVNZW1hYk1TN3NFTlFtVGdtcTVsQXZ0SS9EYUQ0WkpudVN0VmgrN1NaK0J5ZDVSRUxuYTVRWk9ISFlCY0QrNjUzOHJJY0xWSThsQ0Z6aGYyQ3lVNGYyUzRjR09iUE5ReDJIQy9haGtaTG95OEcrNEpQOHFsUDBZTlRVQVhMZjdDWkl0TkhrcDB6WlQwdlVNZE1ZcS9rSytuRXlnTlZEYzlrQmpGS1A2U3BuakZpeTlkK2dWZmpWTjg0cTlaQUNIU1M1ZitBYW52bXh5VjN0aW01Z3NvZ0d1b0x2Mm9jQzFUOHdWY2RRQ2IyM2N2K1F2a2pDdHpRNDRtTlY4UVp3TzRscnhZKzZieXhaVzlJUWRnQklaWXVzSHorMGJqTHdCYzEzd3RuUnJjUDh6Y2tFTnE3aFAwYmxMdkQzTnVyOXBIOXcrTUszdERqc1RLUXhtTzlZYjRndUZ5RitoelM2TUh4cFc1SVVkcE9kNWZYVERFTUpaSGFRRC93ZFhlZmRSakdoUlh4b1ljYi96cVZZeCtsQ3V2L01ZOHhqOGJ3L3V4cjZVOTE3M3hTaTllK3NPUDFmVjNycnp5N01OZXNrRnhkYlNHVTJ2cmlXd2FsTHF6K1FKQ1dtVlRWa2pEd1VnNUhlL0w2a011TWlDdXJBMDU2dUlzVnNtZlAzZnlyRjJXTWlONmNpMzl5Yk8xSWZ4anBoTFc1Wi9YNWR3enRSeHdGWDVEamdIN3EyVTgyY0p1eURFWUxvenpUVFc0QzdzaFJ6KzRraHM4Rkg5RGpuNXd0WlVLdWtxMFQvRTM1T2owc1E2MnBuQlJhMUg4RFRrYXU2UWJNc2pFQmc5NHZSWlVXMlF5MWpKT0dqRjc0bk45Q1lBMVVLUWRIRm5kZXlDV0NKOGZHZWFpa2JGWVZ4amc0bXE5eUErUmtoZzVRRHJWTWpZYmNzREpvNWtYZkVHa082Z3kzQUQvd0hzZDQrMEd1ZW5ZYk1pQkYyclY0NkplOVJBL3ovQTNPREFLNDIzSjMweCtvMkhMTU9ON2Y0ZURvcnJCOStTSTZ5K3FWWlhzTitTb0J3bGM1SmUwZGtmSHpSL1VvODNsUHVFR0Q3UEVmSzNsY3I4RHVpZ1VCVFZmN2wvREhMSUFEMGlPWWQ4RzQ0MmFyNG93NndhQ3J4NkdmZE1EdUI1V1IxTHpOVFliY3NCOExaREgxeEQzZFkzN2hoeVZNQnpwbWxFSnIzR0p3T1ZId255dEVLa2I0cDZxc2QrUUl6UmYwZGhzeUJIYjRLRml0QWozRFRsZ3ZvSU5Ic1psUXc2WXIyQ0RoM0haa0FQbUs5amdZVncyNUlENUNqWjRHSmNOT1dDK3dnMGV4bVJERHBpdjNycXlXT2FmQm83Smhod3dYOGJ0eFlqY0JNQXgyWkNqYXVOSXQ4SERXR3pJQWZObHN6UFFqUE55UUk3RmhoelNmS20zUzI3ZVkxeERVMmY5UTZJdnJNQ3pFRmxEVXNLVDZBdWtDYjM0dzRwZ3Z0WU1ER1JzZUNjTWFYZkFmTm5vQ3hESFp4ekNmTTBabkExbnlTaHdwdlQvTjNoZzFYRllUdWgwb0FnVFU2eHd4SVhGSExKTzA4RE5BSzZsK0hHdWRkaGk1VHRCZnJud2N5dUp3MnFWNUpFaWMyQ0xWNDE4bUVpaHl3SU05N29icGtXR2taQU5rd3RyaGdtem5MSVF2bWE5NHNTcGhXWUF6SW9Sc090Zk5TL3lZYnZTMExOWVVCVnZsdHZ1NjEwaXVWdjBRSGdjU09BeVlzcjU4dldFeUZXUE8zR3N5QXczaXhmZjRFRUxMUmVSYnhWWi9pelpNamQ0MENkc0E5ZG0xcmxGNW1kdThLQ0ZYbXg1ZlZsa0dBblpNTkEwcjFSTDBmS1R1OUNYVnhNbk1XQmdqYUYyS0pBUFdFakl1M0dQaE5PSm80Vm1aRzN3b0lSZVhFTXVaNzdROG1jSjE5SGpEUDBXYlBDZ21oL2RpVEJPZzYraXNpNVRPSDdHQmc5S3pzb0RxZjNwSW9qQ2laOHBVTVlHRDZwOTgwS0VmdVRwK0VicEd6eElYRE53NzlWc1p1WkRLZktCOUEwZXBNUlB5cDd5YWU0aWcwaVRMWFdEQjltd2ZSVi9zQ09DcE1lb1RLbXZDK0hsanhFbUNlV1FTdjdDa2RLR2UyelExVmNsbEE1VGh6NnpHNDdwYUF3ZVBVdUhQaFBYWTNxeFpZV3BRNStKcTdXZ0RuRjE2TE53bFUyY2pPeWJCcGpWa0JsLzRvNFdPUFl4QkRNVVNYR1hUNnRGOUU4OHhkV2hUMEtTSEptc3Q0V25RNStPUy80WEcxdVlPdlNwd0RvbkRKdXZRNStHcStTemhqWEJNME9mQmlzNjRtY2d4c3FoNzlwaGlHaGxqQno2VW0zRmRlUHlHRG4wMDM0WVJ0MHhjdWk3SkdjSWgvNmE2enplUkptR0puQjgxM2pEY2RLL2g4NHpZNmIycWp2Q21waXEwWCtYZ0F6OUNkWndyUEQvWFJUaU83WlMra2NUMzBPOE5tZnJmSCtYbFZ0b0Zxdkl5VmxaNk1Ca0NtMjVkd3I3OHA3VzBwZHJ2VFB5M3cwcFYrcC8wcVVDQkltbzZmVUFBQUFBU1VWT1JLNUNZSUk9Igp9Cg=="/>
    </extobj>
    <extobj name="334E55B0-647D-440b-865C-3EC943EB4CBC-24">
      <extobjdata type="334E55B0-647D-440b-865C-3EC943EB4CBC" data="ewoJIkltZ1NldHRpbmdKc29uIiA6ICJ7XCJkcGlcIjpcIjYwMFwiLFwiZm9ybWF0XCI6XCJQTkdcIixcInRyYW5zcGFyZW50XCI6dHJ1ZSxcImF1dG9cIjpmYWxzZX0iLAoJIkxhdGV4IiA6ICJYRnNnVUNoY2JXRjBhSEp0ZTJOb2IyOXpaVndnUVgwcENqMWNhVzUwWHpCZVhHbHVablI1WEhSb1pYUmhJSE5lZXkxY2RHaGxkR0V0TVgxbFhuc3RTM05lZXkxY2RHaGxkR0Y5ZlZ3c1pITWdYRjA9IiwKCSJMYXRleEltZ0Jhc2U2NCIgOiAiaVZCT1J3MEtHZ29BQUFBTlNVaEVVZ0FBQlQwQUFBRERCQU1BQUFDeWc2anhBQUFBTUZCTVZFWC8vLzhBQUFBQUFBQUFBQUFBQUFBQUFBQUFBQUFBQUFBQUFBQUFBQUFBQUFBQUFBQUFBQUFBQUFBQUFBQUFBQUF2M2FCN0FBQUFEM1JTVGxNQXUrL2R6WmxVRUdhSnF5SjJNa1FmN3A2VEFBQUFDWEJJV1hNQUFBN0VBQUFPeEFHVkt3NGJBQUFnQUVsRVFWUjRBZTE5ZlpCc3gxWGYzYmY3ZHZiajdlNURMb09Ca0ZuZWt6Rk9EUE9rNThRSkRyNXJTWlN4RXBoSHhZTEVxbmkySUNtcVZKV2FsV1VqWWN1WlJlQ2k0ait5aXhJWFJZZzlhMHNoTHFDWVJUSzJVOWpNeGxDaDdKUXpDd0pTWlpMTVdncFVERldaOTNaWGlUNlFPNy9UMy9kTzM1azdjKy9NMWI3WDk0KzUzYWRQbjNQdTZkT25UL2Z0MnhNRS9zcExBNys5RmFYMHdWZytXdXB6WGdQVDFNQURGY2ErZGQ5d3BQenJ2SVVhaGZoVWtScDRqdEYxdWlsbEtIMlI1Nys3U0pFOGI2OEJwWUh6M0J4aG9OS0Qvamc3K2ZqK0IzK09YVlFJL3U0MVVLQUd5dXhYOXBkL0JrYjZJaGRpaHQwNHBNUXpwMzZFTDdCVmJtblc4N2NkZjBvcDREejdka3IrRVF4MEQvZmw4UGdJTjF4bDcwQ0ZJdnp2bERXd1hHVVZwdUxMK2w4SjdoM0dUdUF4bjJMZklxV1prUVZURnM2enUrVTE4QlI3YS9CVjdpMmhpbkJYNkdNZUR2UktzRng1WHFtblZGRXBmL2NhbUtJR2xpdHNQd2g2TDNHV0N6Y1U1enBqTjRKWlpiYUE3aHlvSW4vM0dwaWVCdVlZUnU1UE03WkpMT2RlVm96SmdlNjF0TGtHd2JrcnFzamZ2UWFtcDRFT1d3OUtNTVlOWXRtNHFCbkRnWjZ5Titoc2NGNmJyb0g1bE5mQWhEV3d6TmhCUUl1ZTE0bFJiMXV6dXdBWU85TFpZUFVGay9ZcHI0RXBhV0NKc2ExZ0RxYkkzZVBPb1dGYlkwd0VwUUswN0Nmd1JqYytOUzBOZERFTkNtWmduOXgvZHZZTlh3SmEyVUJQNVEyS1Qza05URmdEWmZaL2c0REc4aXZFeUxiUFVzanMrTE1rWGloTldCeFAzbXZBMWdEQ1QzS2NNTVZEQXR2amUxRERETW5nK3ZIZDZNS25wcVVCekl3dWd0ZmkzYi9HT1Zyem80QldtS3oxendYNFdYOTVEVXhYQTJ1TWJWc2MxOGhZNWZWZUJnZHFnczZaLzZjSy9OMXJZRm9hMktIcHU3bHNJNncrdndBSHVxc0t1eHNxNWU5ZUE5UFNRSldkMkt6bXpTUm9CaXYyVGJYTkRqalZUUnZScDcwR3BxQUJ2RGd5SXpqeEN3OFYxekwyTDJGeGxGMFRnUE1STzFaSS91NDFNRWtOWUFUL1JvUis3eTB5K3pTakZDTFFHMkw4cjBYeElwVjh4bXRnTWhyQUdueDAyck40c3M4NUxRaTdwSVZSdmpYME9ST0lUa1lTVDlWcm9GOERtTDVmaVVKci9EWG1mQ2p0OFZrWTZPdi8rWi84NjFnWUVLM2pjMTREazlFQU5pbkorRkxSWDJUUC82cy8rVEpqM3k4QlRSZ29YUWNLd2QrOUJxYW1nWmJjOTJreHBFK1BHUHZiQ3JMOE9NOS91OHI3dTlmQTlEUUEyeFBUSDR2bGY3ejcrSTcvWXVXL2ZqZDdzNTIzaW56U2EyQ1NHbGpGVjNDVHBPOXBldzFrMFFEZXZ0dGJQTE9ROG5XOUJuTFh3RG5HL0s3NDNMWHFDZWFsZ2E3Y05wOFhQVS9IYXlCUERYUVlQbzd6VjNvTmZDVDh1MzN6eWZTMVBlYUlHaWlMM1o4ajFycDEwUjg3K2NmVjc3bDFIMy9xVDQ3bHBkMnBNejI3REpld1YzYm1lUC9zUHNBWmt4ekxTK0pZaGpNbWQwSGlscXJZSTFQeUowMU9UZjJMc0U4ZlRxVlc5eHovMUtENmN1b0tIakdiQnZEWiszRTJDcmRVN1JaZksyNlpMZHkzMU5NWDhMRFl2V1Fkc0ZTQUFHZUs1WUxZaXRqMGJ6U20xV3c5eHZ5aElLbVYvVjR4bDJ4YTMxeW5ydXNSeDlGQU03NTdmaHdpdDB5ZGxvalZXejRrbWxhVFYrTzc1NmZGK0N6eVdaWmJGY3JzTEVwL0ptWEc5SDM5VEFwZWhORG41WmRhZnNmWHRMUlB5NThYcDhYc3pQTnBpTDY4YkovNWMrWWY2bFg5QUxUOFdmenJvd2ZDTzQ1ZTFXcVN3dTJJczM0Vy9JN0VhYlVXbmZxNU9TMW1TWHllWTNlRVUxbXhtV2VYNzdubm5xdVgxQWRYNGZIbE45OTk1N1VrdWZyZ0xYWjhDVmZGNzBqc1U4MkVBRmorakJ6d09TRTJBOGt1c3U4S0ZsTkdHZS9ENjhYeEwzNGVOSjVZMmljZGFhNHphYWhXR0prbjdOTy9QMHFqcmh4d3VtaWZITWhrSXRHaWYxbXFwdG9rdlJwbVc2d3RmYUhHMkp2K0ZQejRSZEgzTzM4eXRmQXJNdTdzeGovSVRrM0JJNDZvZ1U3a2ZNOFJLK2VEdnNSUEthbW5XVktjTDJkK21ZRDNFWnRhYmpqUTc5Q1pTR0w1LzBTdXYrU0ZxL0lFZ0tiLzBqcWlyQWxteXZIRGx5YklLNEYwaXgrTDIrQWJMeEpRT0xqME94K3VaSC9aaFE1cG1NeXhIektaU0FwbUhMbTR4MTJRY1dmb2Q5UkVsRFhCREJvaDFjQTZPUkVXaEVzOGg2UHlCbDh0ZkdqYXl1dy95OVoyZytVdzhkbWZqbGluSE5jdnNGZEl4R1Yva01yZ2xzcXZkQVhOd0hXZUg4bFJLYlZGTURjbi9weGhRTzFQWHY3MXcyNW0rN1E5OEk0ODkyd0EwMGpSQmJFNzVIenN2S29JanMva3FRR2EwRjdQaytEb3RFSjJSSlZtVXZXVHpQYUpEcWxYQUI0Y0dsTEVubVplNktyaHc4K1lZaWFXcGYrUHVUSXg2bWtJTDhxeGM0YitRMlRvbGRrKzBTRlZmMXl0L1AyaC9LSUlLNkp1elo5bkVkWEw1SEw0K0YyOEVwa2NpeUdVRzlJdStWK0FEc0VOZ3N6MmlRNjVJYm5VUnQ5a3pPMXpoZjNOb1hKNmhIdzAwSVo5SHVSRGFrd3FOZW0vejdFMDVwTFpQdGYwNjl5blR3NUhGcmxNc2ZwRElpQVp1Ykt2TUxvR2RtQ2ZtNk5YeTY4Ry8rdFBJcmVXNnAxMlp2dnNNbWxkQytPTUd6MDZDTDJjSmhESnJLSDV0MlVtTVIwQ1QyMVBrQS9XYklwOXZZblQ3ZmY1OHpWU0xkcGt0cytPWFA0c2xiOXJETFV1UWRoUEg0L3VkOGRnVlRzclFjVHNKRDhQcXNBK3gxQmVmbFVhYXF0YWR6cmplMW55ZTNiRXBTWDV4SzAzL2lmMkgvSjcrbVJLUytLLy9KSVJpaWtwM1NlOGljVzlGTDdEeXVXYnhPaXE3Q05md3FtcGRkVHJnVTZxbGMzTS9yTWl1c0Y1WjlUOXdGM0g5eDRORkgzK3R0UDdCeUxrVlZqV3EyQjVVY3lGenBKakc4OVR0SDFpTWhmOStWYjB2MlVtd3llWmFxaTJBcldtc3I0a2x6OVhRbGZ6TjlrZG53aVBONU9GblY2SitNemV3ZThMZi82bGQ5Lzlla2ZCZEVBTjFWd1d1eFcrZjhJQzVKZkUyWi9LZjJVaitrQjQrKzQ0RkdBdjY2SmVhTmJOQnhESzZqL2w4bWZIOVRMZ0lmWmplSGRaYzFudUFJbGNSUi82OHk5OTRxNEIvZjQycU4yNkx2OUEzeGFxcEEvcytmK2hGdWhTZGx4UldIMWlYN1BPUWt0NXZONThqSjJ3c1J3UE9zZzEzc0xZU1JUOWt4dFh1MmRmL3hUTG53KzZvcHBTeU9mbGk5a1gzNm5YRHpyMFYyNDc1Vmp5NSs5RUh6ZHhOMnpSOWhuN3EwRWg5ZUk0U3lIUkIwN0lyVUU5MXhQS1JnQS9qZjlIbWgvTEVhT0RiSEpHMkltNW5vSmpWditKOXhHN3dUek5Dby9pM0paRVNQcWIyZGN6NktYSHdISHBYNzc3bTBnRTl0cjc2SHFTMHZ3UHByUkl2YVFOVXNzZmZSZVFCN2htVFdJaUNlcFpoLzJVdzJ5YmN2c0pLa2dQL0s2b3pOajNlZjQvWHIzK0poOU9zUUVCMUxVM0hEM3orNk0yR1didHIvRGNHM0Z1UGU0NFN4VlhBOFJ4QitkWHYvUnZZWEtEdDlpVGozMkRKTFA4YzhoOGkwV3pWSG5CeXNXU2NQNkYyU2R0MTlpTnlZTnNPN3ZPK29rU3BBTitlKzZpRWFBZFBxbWJTK1VBWTJUckVFQmQyN0V5Vnphci85ekJjdG96Si9zWTV2dkNUSEd5RWdaUUY5OVJZWENoNndQclVFc2ZhSXdmeDliQkxaMEw1dnA3anluRW1rdGg5a2xmcTYwYlVWVHFRZzVPVHRHSzNNc1JMVVdLMG1jdXNHUFNyZHE4bTc0aU1KdnMrWWY1MVhZT0hIMjBzdHBuaTUxZVFNU0xhVmxmVEYvaGtKVjhHaC8ydWRjbnZBMmdmOTNkMTRCbCtOdTM2Rnl3WXhVWnFFb1ZhSjlvSmVkOHBaTG0zYlNTZjRRNzFETE9xQnpsc0NORVhobm5ITHlxV2xXcXA2dWQxVDRyN0tYcTkwTDhjdDl6STdRNm9PZjZzMjM2elhvMTJKQzllekJnKzRNV2pDUEdLWmFzdEVNUUc5VlJQRWxRQi9aaTVEU2NkaVl6d05QeS9NQ3VhaVJJVG1GbWM4QkwwM25BS0NFZHByVmNDeGRSWE1wbHRFOTZZUDdpcU5zZmdNS2xmcVdmNFpnUTJKdnhqaTRhN2VnRW53Yk9RNFczTkhncG8rSTBFVlY1b3ZjUVl0cmRTakdiSFJTUUtLVFI3M3kxWXZScTBScnZWWWU5Vk5SWDVkRnl5djBFbml0MnZaVmo2WEJHZjdLYmlNcnhoOXZud1ByMFBtS2JDRGtDMENyS1R0L0R1V1QvcVRtYjBhSzdFNTNnVXppNnA0cTd5WW9rbE9Mc2M1bUZrUE5JeVdudTgyb1lOS0E4VW5SNFNGOGNOaXJoc3BwcWhNbFJjZ3VNWWhkZmtzQ2dlcEh6UTBDNElSZ25vWXJTNGZZNXNENmlQckh0d2hHQTFybUFieFI4c3Y2R3czWmpRVXg3Z2srZTRycGlXazVhWFJJSXhkbm5JdXRCem10S1R1c2V1cnlxVlQ1ZWtrWVZWemd4Q2pWb2RrL2dWNDJHNHdUKzRHcmZ4WGRad0V4Mk9TNTZ5cmFvbElRcVNvZmI1OEQ2aVBvRXZ3RDJzU2xJcWwvcXJMaUVYMWZBTWUvb2R3TldpSWhvUlk4Y25BVVVvYm81Sm0rRDI2UTQrNXc5b1duZE9wYzQrdE94RmlPaUpWbHlhK0EyUkk5RHliOVhSMXBWNTlSdUlBSEVycHNjWVhiWWVDakpETGZQZ2Z6YWVuUkM2a29NOVRGb0ErSFZWZ3c4VGhhZDF2YU8vU1FvRUw1b2dlbWdDTlVTdzc3RUtzNCt1eStTbk4rdzVGYkpodE5xVmVtNDl5NjR2VEp1WlZtdnBiL1hyV29OcHlhSmRqemt5RzJXN2hWRVJ2dmMwZjhGQVVmUXQ4MzQ2L3k5K0c1cTZaTVJzZnErbmx5S0VncUVEeXdNR3QrVkJocDlQY2RDUkxJNCsyeStUSDcvcGFnNFBMZlVyMDBIMXFnZ05OZmdxZUp3Z2xDc3N2QlFhM2g0TlltQjdyalBrN1VoN2Frb1pyVFBscHJMNFJ0Mm5WUzBjZjljZVpoaFdjZ0Rrck02NkVsQW9uRlM5RXlCUVBNalpaOGRGWU1rMUMzT1BpdFhnaG9FZGNpMW1uMGU0NkRhQXJOMUIzd0VFQ0s2aXhJOVRMZEVaQk5IMkxYRjh6cjh0RXNkNll6MmFUVXRubjJ6bjhGS21CeEU5Mk1uUWhyRG5nZHFpelF6MmF2eTUrR1FwU25ySVJJRm1FakJDbHgrRDRKdU9xZ3JSK01vR2g4VWdwbXlyakdwd0FVZnlhcGp6TFV3aitDVkw3aWNtVXVpYlBZSnA2bU1JR2hIQTlBL09oVWRwWkdMZmRhSE5SZTRSejZMSUh1VkVhczZoTXoxK0J4V21IMmVSOGNoUWZjY29wV0hPSDFIbGFFZ1dJZWV6dzVGVGtDbzZJa05xTGtpazRSNkVpenRzNkdEaE1Ib0dkZm5FZlhwVFh3SUViV3QwcEUxY3Rsa2FVandOMFErV1p4bStWTU41N3hLR3kxeFJWUStQMndZS3N3K3oyRXRrdmExWEhjb1lVZUo3eWdiRjBTVE1hZXpUazhRTGY2aXhNWllIWEVKcVloVXhmaGVpMHdXQnRUTTVqOHhpa29qb1A4b3RIMDJTdlk0MnlYbjh0NEFpWnhGYVpZL1Zkak9DV0FZVWlwWVk5OXcwdFRBd3V5emh5NUZDMkZXdjlaQ3RkTjZHRjFqZUlLditPMFB4eHVBZ1ltQVdrakJUR2wwLzluaHNkYlFJVTFMa00wK01UaGQwNlJxZG95STU5am1KZWNpMHhhTlBGb0N0aC94anYyMXc1Z1hxcUxaSlZiUDZaOHNFb1haWjQyYXV1SjJRN1BEbnRoNmdMUkp2T1RUV2tsYko0YUhRR3REZ21EdGc5ZVZZMVY1dHMzTll0YmV2T05DMDdCZUpqVzA3ZUdpWVRuVFlGYkozaG05ajJuaGRNSmExTkN3U0lJaXE0c1dCT0dGSG9lYVdxTVdncDBzekQ0ckd4Q2pDVkczYkhGRWVtbU13Yk9mU2hTeUJsWVp2MllJOWJCRXI3VFZVQjlsTXlnM3d4MGFQMEI1RUpvdTY0emhvM1ZsMnU1cVZBdVhhZVE5THc4VFdkR2JoazJ0MFZNSTBxNFByRVhMblFjV0JrVjFWMlMrMmpmVEtIM2tOZXoyZjZRbEYvYTUrcTdLNVc4OXRHZ2crY2lUNGUxeG1BdTYrZ3Qzc2plL0p3aWV2YWJyUC9Ka3hWRlZGMU5pbGZ1U0xrVGRqc0I1Qm9GZVB6QWpwQTFXMmR3RlJTTktSN0IyZTFCN0JKOUN2bE9WSlFxNlRCT1c4K25jWituaEwzd2QvSDdsVHgvZWl0SmIvdkpkeDMvcktBcHo1RDc0MzFIN0s1K1ZKUjlxSXZjYit6SzNJbzJpbnZId2hRZnVQUDJOQU40NDRoMjVmWDNNbG9qczhjZ0NOSkJYb3RnK25xUE1sMUdLVVZVcGs5dm5BbzdDaDNmWnRJZ0UySVovZ2hkZ3YyakRBZ2YwcHl2czNuZS9objMzdkpIeWE0eGRyckNUZzJqVmFHNkpkMjQ4bTZsbUVHQUpTajREekpqYUFTdmJwRVluaHpGZGJ3eG9Sd0xuUDRDdVFuWnlOSXhtNTBaUXFzcTFuU0c0UFlncnJxalFQeDB5N0tzWnlxb3FLNHZaQjQ5dEFGRkszVGtsVWIvR1JqM1NMaUp6Nll2c09NU1hHbzJJZDF3cE0zYVZzYmRacU5USVZqYW9tYmVibUxRcW1RVEdTaFViL3g3K3pPK0pqWUdBa1gwdVY5OTRHTXhIcDJIUHNkT2ZEMHAvRWVFZEJQM1FlZlk4Y1hpMEV1cEk0amNaKytXZ2hLOGNvNnh0RVhFQ0VaLytvc25OSW9pRjRQU3FWdmtZU1dobDJGeHhDRlZNT0xRRGhyVy9vdEVYMlExOE0vdTUwSXlndWlpYVdHQi9JNHdNZGRGaU85ZGpseTVmdmVmcW5aZWluZXI5akwxdVAvajgwSmVyOUY4eTk5eDlaK1Y3T00wNWRnbTBMdW12S2xaRDl2WlBWR09mcWRuYzA2UTc3UG45NExtVHJYckV4cHJzbTdlQzVaKzFoKzFHZE44WURmZmJrZ0hhUDhxcXhualhDUjVWeCthUmZUNzEvQmF3c0wvbm1rWmVrdGIxZ1lpVk9hRE4wMzFlQ1dzV0c2STJCbWUrWGFmbW5Kb3JEblcrUVlCQ1piVlRRSlhRUFdSN2RqYVBkQWhXZWoxd0xJSmR5MmZXTEdLbHF1aUpGNGFiM20rRnQvLytXTHhsSmJUbkQxSHlvWmpiR1pYbXlpL2NkZnoyeUNBOEtvWGdRV0VaNVEyb3dsUitIL3QrbnVsWVhoOEdiUGZjbnFYR21kaVVBSTUrVHhCN245eTZBdnRjcm13U0ROTXM3UkpLVllXM1l6a2RCM1JCUjdvdFpaOGRLUTNDRGs2WGFQZGZMV0VyMVdqZlVuZ3R0cTZTZWQxaG5obUoyallKdWE4b3llYllPMFJ5SjV2OUszckpkelNBYVBjVnBleGszQW1YckZhRUNMTXZoUFprVmtVdkM5YmNESG9UWVFZWENWM3MrRWdKZDg2dUMyQlZqVkFybjVRR0NQdWNsYlhOZm9MZ2FZV0hMNzIxTTNaQkd6cnlWYnZlWVpaN2duMlZ2YXprNkwvTHNMTURxeUhuSGJ0cVE2YUVNZlFVV2I0OHY1RUNNUm1sb29lSUlJRFlld3F6cFhhcHpWbE9ReFhtZW45V2QvbldBTlhteWpLSldFL3VrU0M5bXNkZTBpc0MxUU5kTTdRbitBZ3RyR0Y2RGFPM2RXRVFscjIrcnNZbjJHZEhrdXFaYVZXbzhHZ0pTQnUvQTlyVXZuMUJkdW02ZHRuZEFkczg1cVhWTi9CNGtyMGxKOVpHSFByL1VPUlBldXpNWDlwMTNXbmFNMk1IUlc2c1FWQnFpVjJKUUZQNWJabGVWZTJ6V0JuOWxkSWdobjFsa0VDOXplaW9SQi9TZEFCUXdGc0VwOUFhZHJHaDRrQkFIemZUWGxyKzNCQlFMUDhBL1cwcVE5K1NHOXNHZEVlSHNrQVRUNGh2L0M1TC9JWTJGZGp4dmlLQ3piVFN3Ym1nb2ZsaVFnaGg3VXBBTUxHdHFNVHZNOUpyMHFiMmpYaGhFTlJOcDlDRk9Fd2c4VHJRV0VrSlBvWGRUQ3BOQTZlNTNMMi9LcTRua1Q2VWxlWlVXRnNlMEIvVE1CaUswelVkcEY2d2ZVS1VJeUZ2eC9hTzhnMHVMUTl2cU1laCtkRDl2MDNYRi80M25RZnkxMVVCN3IzSTdBTzJJM3M0MmJTd1hEUzZldFExN1hsM0ZCNUlZTHF6SVNnNm9DV3JTY29jRFFaM1JhQlRhS0NTRW1KdURTa0lxTHRjWlRjaXQ2akdSMmlndTY2TGhuSkNDcE52cTlNbElBMEVVMWV5TDRYY2xVOEorVjVTc0luYzhkMjQ5Z1lkUGFoTmhOVlFvbWF4cDJ1dEVLNm9zYk5uaFQ4SStLenI1SDZidGoyN2lYekhoeHJLZjJvalFoT0tkb2IxS3BzRk1aVnhRZUhtTmJ2bUJpWHIyZ2xUelZkMGFTeXhJeG1ZamhKQmFNczVWZ1Q0U2VzeG84bWh5NEZCMEtBYUVYS2padEI5N1V1YlNrMXFEZjdWdFJReEtwdGtmTFNQMW1mNWVqTGVGRXBnYzIrUWJCcFdnNTlYZnExcERaMjAvQ212NDdmLzZGWkV1cVo1SXNDN3hxR1ZsZHVxbURFRGhEWjRiV2phZW53MWJYSkJZWjhIdkFwK2RqWW9WVFVEWDFDT1JyOVVyQzZ0WHdqaWVPdTRscnNyNmtGRjJxU1VGQ1Bkb1QwZExJR2FYaklKcGRZR0RSY2pNVXBDYmhxbnRHeG1aMG5ZRTRYaitYY2xBeVFQRmE5WnBXSXpDUkdlUVNIRTc3WEk0Tm5TQTNqd2xETHdpZzRrNkVYVkZVNmdvUXlWNXpvUzFRVzFmV3B2RCtnWTVQUTdGa3l0a2l5aXBQVzd3MXpEN2xwaVRTN1NHRDk0aXVUZWtvb2VKTlh1cTZtNk4ycnE1T092MzBwRmFFd2tXaXZlbDNYbmpFMk1TUzFidFlvUkJhclF0TllVZVBIU2oybGdYVWVWR3FRVExSVzdjd2dlY0ZzVmZmaGpJZ1ZPU3F2YVBuZU1IUU9wSzYzVkNVVjFKY2txMFlIak41UFl1aVc2NGl2dUMyeFRBaG9RYWpkYWlGeis5bGtHbjJ6RGI4c2FWVUxWbFNGclZyL2M5L0FKQU13NVZIY3ZsU1BMTWdrVkpnZkdZb2h1NWFwSm90bmtXR0t6cmxuampnMm5kTVErYVNLbE9xQkdoSUdwdExiUHNtWEgzRC96ZFdjbnRBbWFQNmdNSElRUUl4blY5U3pYcjVpSSs1eG1DcTNyQU5qZ3JMa0dmVk04UmdyUGFkemZHUFhwblpaV1BrWE5CNG9JS0wvSjBvQUM1Mzd2bW5aKzFxemU1TTRtRFVHMHNwNmdHS2w0NngvM3ZSK0QzdlM0RXlkZXR2MG5UYVRpQ0hqL3JzZGpiWi9BMnphSWExSVlKN1FCS0R2NTFLRkNiOXZpZGszc29Ncmx2YTFudXRScCtzVS9aNlNLMVJ3elN4WmxCOVZqa0FHQlhWbU5WaDMyRllrcU1xY2ZWN25KM1Z0cXlicjB1eWI0blJ5N1FaUjNqQzRSMEpubTQwc2M3enlLVkNYTlg0OUFyRXprbEF2WW43WkZqVk14bmdybDZ3U25oWnhOU29nTG5ZV3N5UTJsbHFKTGJTNkQ1THBuMFp4NVV4S0ozVG8zZmtsZUgwVmxQZFhRV0xuYkowbXYzWjltTTBxQ3dyOGpXUUVyd1dxb0ZjZUtJdit4VVlpTmd5c2U0T0gvK2VIUTdENGJoMDRPZFVLank4aXNtYjhFTWNiQU9aRUR1cGpFTTJLZmE2NnBzc00reWVhT0RFV1lMVFdHRzhvUGZRVStPOW5rTlRwSWZaTzZxaEUvYkNqeXNaSXF5YXUvMTRDbmpaNDl6VFYzTFFzZHN2QXRTUUJkMXNTeU9GT0VYeitjaGZyd3VyeUhDVTUvYlg4NCtpUXg2TzNaZ1dRQWwzbFI4MUt2VU1RZUpBR21VVnNoYTBTVmlOdW42ZlVLdzJHZjZCSXgrNlFWSURkVUhHOU9haFBiR3B1VU5GZkNCbGp5UmZaMXFLUlI5OXo5Snp4ZVltZFJUQWZmNFFkMFArcXFvWmFxYU1NNUdFd2dZeW0xODlXcmIvNjIrLzV6d2RZWkJOVFpsUkJ3ZXJ2bXlYb29vVXN2eFBIdHk4bUxEWkg0czIzTnVqUkpoMzJTSml5TGdTOGpaK2FHQnNFSFVNd3Z2dFd3Wlljam1razhzV2pSaHkreU5neEl6SE1tNm9qWEhTOVBEMkV4SFlNSXhnODlaNjFGUkg2V2FPUHFEMVBHWUpOWWhXSzd4TUxwRmtBVTNWVmhrVWVHTzNZMWljdlliR09RM0pINWU5dlNzQ2Jwc0UveU5mMzI2WWFDenFObDROTkZkZExaNTZ4K1BHSDM2MW9jbWNqZFBoc2tZSnpMU0hrNERXMkFhSVV0cS9JWGlUaXVJd3VXZXhMOXVILzB5NTFMS29JTjYwMXVNNnJXQzlKQXpldlh1c3ZxRkp1SWZhNjVudEJobitRcGp4UUZzV2lBbkJ2SzBUNzNCR3FJWmFKbUt2L1oxUzB0dmpFMlR5UFo1cjcrMllOOGp2ZFU1aW1IcGhEZnZDQ1JNS0tiUlRTQy9iTVE1RjNyWkVPcHBrZEE2MFdacHErYU55YVVxVlNCOTRYUlhqUC9EN2txaks1cmtkRStKa3JrL1JHZTBGUlRpQTc3cFBCaVU1WFRXam12NW9aS3RKK0NGTnk5ZENKN1VRMlJhS3I1c3BXdk9CUy9ac1pTQ3pOREVuSmxiRjdZcCtwR0dFcnNCNEJZcGEvaktYUjVCam1UcXpZc28wakdta3JKam5GQ1dEMnlmQTNuL2k4ZWh5cU1nd3NOY3I5dzF1Wk5IcWxhNDZwRWR0Z256ZFEzRGEwMTRhRGRVSTMyR0NvaFUwK2x4ZkNLcnNlL01lNFRxK0Y2Lzc1aWIvbU1wSWZ2LzJ4QlBOM25MZWJwaytpZnlpZ2I1a1c0cnI5YXp0b0JOQ2wzb2oyb25kMVZKZ1h0bUJWTkRDV3ExeHB1WDRPeXI4bnN3T1ZQbUl0WmpRd29nalJFWk1waG43UjhzRzBRWVo4MHNEaWhKWE5DTkN3QWxhQkZhKzVtaUVSU2REU1l1YnBnZDJTeVBOWHU2NVh3VVJVZ0psd0hzZnA5MlJBVnpUcHlYM0VLQU96enVrUnJtdW1ycVloeVBYOHkwUHhTYmNNL1A2TGpVYW9sTEg5cWFqRGdpekl6Y1BrVDc4NHRwMEdvaDVxR1REanNrMDcxMkRWNFVBenZJaTdvaWpGNFdQODE3cVAxcXlGRElwYWlvOEhNUlZQclBaUGxxZWkrVlZHbzEzR0FINzh1eHVyM1phbkM5VDdvS0FCb1R4SEFOd2U2NXNxaFNyWmlrWmlDNTNSdk1MYWVFNm1zWkZyR1BXSXF2d0Z5ZjdGRk5QOEgvZEFGVzlqZ0NURnRPWkRwL2x2RDlrUGthdnRRWGZaWk0rWVBrbldwR0JkMDFmSjhGZW96aU5MNlk5eTRYSFEwbUxsUVJiZThncnIyendlZkJLTDdPamxTRlJQdTVQd2RyL2tUc0oxZ2tKRDJDVSs1cmxBV21GN2k3VTdXZjY1bGZRQWxjdlo3emRoUlE3aXlLdlhTSFNhK1p1WmpMV3lCWCtSOXFOQjlSYjgvcWticzdvKzNxSTdMUG50V0EvRDRjSTh3WGRCVkhXY1EzaFYrZEorOTlQSlZ6b05xMnhjZERXWXVXcXkzb2hCZTRQeit5RlFaT1VYQnN5WHF5UFZSQWIzN3VxaUhsWjRqUmFGalBNV2E3UXRVZVg1M05QUkdmdFF5VVdxYStLL09kVkdpWVJUZFZ2c2RNd0Ezb1Boa1puckRLRWVCaFVrVlV6WThvbCtYZmNKcDh4MUxWTTUzSE8vVDNRVmROWjRFZm5ZRFdDMGpPM0xWSS96MFhUV0xPZ3BEYXpsTjR0WnNRZnZxanc2Z3hURTdwaDZkQW1sS0txOWpobmZxVzBxbGE0eUhRZU9RVGxNSGozREZ3dnYwa1pXWmNoS2RVbkd2Y2V1YnA4aTdEVjBvUVF3Q0RIaEFXRDVqRnZwUkZSWm1QTmVxSU9heVQwUjZCZzlOSUtJdEYzU1Z2YUpFZ254N1NFTktvMFlyUE5Wb1NGUXUyam4rQ2o4Q29IL2tNMFJpUldObDhlU0RocGxVTk5XN09EaFM5VzBEMzVTZ0pHMWJmVFVWd2RHUU1BUmNOelZLNFlISlREdlZOYnFzY0orNVJPYXlZMEs3WldOMlRkdVcrZ1NGejkweVFJUlFaaVZuU2N4alhQWUo4ekI0Q0ErbHUzTkFWNDByd1Z6c0FLelF6WTBibVhIT2xlYnQyUmVxdEdFN203aGIxNEIvWjdPdzBpZlh3RUozN3ZUVklwZ3E1a0R3ZjZRS3lDOGZ5RXhkcDFScHJuZDBDMnZZZVdoNGxKOHI5d2d4YUhOVEFQRDg1THpPMGNwYnpWaml2UEZ2NGNCMUUxamtvYURFZjV0R20wRlhlRDZuZldKTHpyYXExdGJDT0tEd3Fkcis2MkpXSHBvb0pPaVMzSDNYYk13K0tZUytHTUZDVzJ4R0FGa3plQWhMclBHb3RlVlkwVFhLcDRtcWpybXE2anZzOGNnUHJWV3pPbjZwS3Y0WmJtaWxpU0RncWJjRllmaE1jcDI5ZGZ5MFRJQThwMGNZdEtUdDlrVXQ2MWRUNGpCc1Z0ZmpjYmpIUVpaTFBjZlVDQVd6MXBaVjFXRy9Bd3I3RkdSQXF5VmE2aWtURzVjcXU1eEg3S2ZKQTFVREpDZGt1UVlVZ05PK0tjOGhWUWVMRnpQU21XTXZFQVVzdys1cFNvdnM1RUJtSnZTdmpKb1ZoaGt6R2oxem5LOStESmMwS1RUUEhzZWpGVXRTU292YXVjbitIZ2ZpcDY3ZEN3YndnYUZhMlZJbWRCdnFmNFpmRXIyZDdGdFJoZHRXWmxMWHEwUVkzdmNVUWo4VTlza2JEUmdyc25zRHBHYmpjOXEzS0FwMEIwVlZSNERSSGEwd2dXQll0UkZGZWYwMndVSkpOUzdOZVJIb3o5angvb3JwUisyTTZ3TkR4YkppdFFWMTR0UFFTcE5CVU5zMmV5L1VTSzBscmdVeldDNmI1aVRIb0tOMWh6Qk41UkpGR1J5b0hCaHFZcTJLRmg4UFpMMk9NUlBzazNxcmdOcC9CZDBQaFRHcXJ2S1FHclgvVURuUVV2Z1dTZG0rZlQ1RW5mc3RTS2tKZ0tvczRFdVdxN0F3eDArMndFSDF2YkdwVkhsUHJwbitDa3JsZDBoeUt4V3paajgyaDhFVjlabHRxOVdKOHhvc1NWdDA5Z1Yyd0Y4QUxmSVorb3crMlBRUFJWZDk1S08vV3FhbVpkLzI3Ly9kVmdMQm5obW9PVVpObXVNekZKZXUzUGNqRlZRL2Z1MTkrOEZ2M1hjYmtmck8rLzRKeDN0YTR2MHZiWDhFN29QQ1BsdGkzRndKWCtJVjBadndSUitJNDhNSGZkNmtMTUh0cTY4aExvemRzUzFoZi93aklRZXdlKy83dUVZN0YvT3d1cUNLZERRQUFBZU9TVVJCVkdEY0JQRllIN2V5cXRlbG5oejdRNVNIVG81NGNha1c3V0dxVHA3Mzl6R2g2dm55d0pOVjgyU1pRR3RlbkhuVWVnRUgyYURaaGVjc2hXOFQ2TytYY3RaRXcvTGY3UVJLYTdGaGJUVmt4Ky81N08vOEhzNjlEUUlLSDhSMXhQOHFpNmZsTVBnWVl6LzYzejd6dS9Jc1QwVTlEc1haV0t1Vk44RWFQMVBXYmpqQWFjeW4vL1d6bjZtNUJqenk5L3pha3lRMXdNeis2SlBtek01T1NTenV4UEppRkRSNmJoVzlaalU4M3JScmxzcW5YMEgrcDFyaVhFNjdLUDkwbWVFYmtwVXZWMDYyODZjOUdzVTZEdmxhZmh4OUV4SGowWHpsZ05kK2tQMERXRUxwQVhiSzNSUFdEZW1JM1h2dXZucXA0dkJVZ21IZlNMbFE1ZWJ4ZzFROER3SjB5dTRsQnZzOHhoRzdPR08zb3NJMG1DWmR2eWJvcU44WWxFNHl4d1o2bk9adEQ5a1hRbDcxTzFRbDYxN241L3BldmFRSHlmb3gySXFIb0ptZ3VEcXhHWlNDajN0SFFNOU0veG1YQ2s2UHZtdys5NWRVNXF2cytDb2UvNXZIcHBxKzRqeWN5NTE0bVhHVXZzcUVNSmVyZFBqN0FhZy95STRycXVIK0tTd0I4dDNZVE05MXRXK21VZnJJWGNmMy9uSUtDcDkvc25MNXRVZHh4Q2lVNzE5NjlBbDIrUWQrMGtha00venYvWDBiTWxxNnpMWkhxekFFbTcvZVBCcUNsS0w0WjhJN2ZqNk90dnpsTzludHI5Mk1neWVTWC9rMzRjbTk1SzhMdjFiZVZmbE9vWW8vcTM2ZmNKZVE2Zk5QVkhERTBrakNWZUFiejlxRlJZV3RYR1dtRlN5OVRKRXJaVThzb3dhYWVpVE5TR2lLMVMrWTlZbDh1R0xaUWkrWTVVUFJVOGxKQTQyQnkvYzVNY21aekt4NWk1QVA1WE93ejRLWFpQSjVrSnVQeWxKc0FuOFduckNkOC9Rb2FNQStvKzhFem9JYWJna1psODBMNGpQenZMVzhZK1llN1BPVk0vUDR0NWFndGNnT2tiUHc3Q1g3RFdJdUFuZGduOWR6b2VTSjVLMkJSdmFGNmJ4RkdrSnZNWGRmMTRKOWJnemg2b3VMMFVEK3JUM3A1MmprdnVRUXdqNTNKeTIycHorZUJ2U0w4ZkdxVDc5V00rZlZUenJpbU9VZDBrNWZMVGNyeDk0WmE1cmwzS2ZhL0xpOGZGZjhiMVpqS2VDNXptZmZ1VE5WcWVkeUR4VnBIMHlSMzBOTVZYMW5qMWw0dHBhbWQzTC9Ub0kydVo0dEhadzlJOHNnY2Z0TXJUQ1Y1RDc4REE4Y3IwcXZOOVcyckhpWnp4ZXVnWG4xVjU2RlM1SkdnSmtjTnNMRitORHJ6WmRqTUo5OTlXaWc0L3dPNk5ValgwU1NXdjRqOFJyc2N6M0N4R2RlVFJwWXpIMUJjWEpQZDJFQ3J4TzZzTSs5eVluc0tXZlZRUFBGckJTbVZyLytVdjZzZG1DZjIvbVQ5UlR6MHNDRk05TThLNjZQbHJLcW9RYjdQTXhLeE5lZm9BYnFaMlgzVGtOOXk1S25NcXF3enp6cGVWcDVhMkQ1L3J3cFRvamVCL1luUUxneThBeTFDVEQwSkwwRzBtdUF6a2laaEZ0T0w0SEg5QnBJMWdBZGN2S041R0pmNGpWUXFBYm9qS3JyaFVyZ21Yc05KR3VBemgvYlNDNzJKVjREaFdwZ0Z2YTVXNmdFbnJuWFFMSUc2UFhtWm5LeEwvRWFLRlFEYmRqblZxRVNlT1plQThrYXFQdmR5Y25LOFNXRmE2RHBkeWNYM2daZWdHUU40UFdtMzUyY3JCNWZVckFHRUg3bWZOeHR3US9rMmQ5TUdxQ3ZOemR1cGdmeXozSlRhWUFPcC9YTG56ZFZrOTVVRDBPSDB4N2RWRS9rSCtabTBzQWM3UE5tZWg3L0xEZVhCdkQ2NkN4OUgzaHpLZDgvelZBTmRLTi9iZmpJRTVVNzNqTzBra2Z3R3BpU0JuWWl1ei9mejQ3dnJiSTNUWW0zWitNMU1Fd0ROWHYzNTJybGRETUlma0w5ZStPd3VyN2NhMkRTR2dqdHY0N3JpYVdtbHYrZWM5SnE5L1JUYWdEVDl3T0ZxdjVaZDBuOVRhNHE4SGV2Z1dJMFFQOXRlS2hZejhrL2V5NzVLYjFTaWI4WHF3SDYra2hMSUlmM0lHajZKWHV0Rko4b1VnUDQrb2ovUFRtWG9jcjJoU3hkLzBxK3lFYnh2TFVHOFBYUkN5cURMNDFsY3MxL2NheVU0dStGYXFCaDdhNDdyOFBPT1grZ2NxR3Q0cGtyRGZTczNYV3pUSjJPdCtRUHBGY0s4dmRDTmRDMGxwZmFUQjAwaVUxTk1oSXRWRGpQL0piWFFHaFpZbDJmdzRSWi9lWXRyeHF2Z09JMWdNUEJ6Ri9MTlBWVUNmWjVVTHh3WG9KYlhnUDQ3eU56b0gxTDJ5YzIxZS9kOHJyeENpaGVBd2cwemRtOFZmMGhKK3h6bzNqaHZBUzN2QWJ3M3pKWHRCSkMyejROV0pmN2hOZkFsRFhRdGY4YXdkZ25objF2bjFOdUNzL09vWUdhZmZaU1JiODFnbjJ1TzdBOXlHdGd1aHFvNkNWNThEVTc2YjE5VHJjWlBEZTNCdkRHM1RyYTIyUzhmYnIxNWFIVDFRQ203MWFjV2RIekkyK2YwMjBIenkycWdaVW5Yc2NCbUw1dm1wS0lmVnAyYXpCOHltdGdHaHFveS9YM3V0NnhSRnpOL04ydmYwNmpGVHlQSkEwd0dXcFc3ZkF6OE92elNmcnk4S2xxZ0Q0Nm9xMUttQjV0V0l6TC92Mm1wUTJmTEV3RG1QN3cxKzQ0ZStuUUVpS3lQMlRYS3ZCSnI0RnBhb0Q4SjMzVlVkY2JQam4zSFoxZGpNeWJwaW1hNStVMUVBUVZ2cTVVcWtTRzk2Q3I5ekw1L2NuZVNvclVRSWZkMkFxQ0dYYUNYM09kMDU5eXpyQmpBL1lwcjRFcGEyRHVtT0xPY3V5WUVQUFYwVG50U2Fjc21HZm5OUUFObEtyUDd3ZlBzTk9JK3d3d2JaTGE4ZDhYZXpNcFZBT1lBTjNKanJkak1vVHEySkNlL2Rvemh1U3pYZ09UMThDanQ3SHYyNHl6MldIWEJLaGx2L2FNWS9tODEwQXhHcGlWLzRTMGJIMDBWNHdrbnF2WFFMOEdWdVFFZnM3NktLa2Z5ME84QmdyU1FGMTh0dW1IOTRMMDc5a08xc0I4NVdRekNINldmZTlnTkYvcU5WQ01CajZBLzBlNGk3MFVYWGNxUmhUUDFXdWdYd09QUGxHNS9DbHZudjJLeVJ2eS93SEFOMjV1Q2N0b1lRQUFBQUJKUlU1RXJrSmdnZz09Igp9Cg=="/>
    </extobj>
    <extobj name="334E55B0-647D-440b-865C-3EC943EB4CBC-25">
      <extobjdata type="334E55B0-647D-440b-865C-3EC943EB4CBC" data="ewoJIkltZ1NldHRpbmdKc29uIiA6ICJ7XCJkcGlcIjpcIjYwMFwiLFwiZm9ybWF0XCI6XCJQTkdcIixcInRyYW5zcGFyZW50XCI6dHJ1ZSxcImF1dG9cIjpmYWxzZX0iLAoJIkxhdGV4IiA6ICJYRnNnZFQxTGMxNTdMVngwYUdWMFlYMGdYRjA9IiwKCSJMYXRleEltZ0Jhc2U2NCIgOiAiaVZCT1J3MEtHZ29BQUFBTlNVaEVVZ0FBQVdJQUFBQk1CQU1BQUFDbG82QzdBQUFBTUZCTVZFWC8vLzhBQUFBQUFBQUFBQUFBQUFBQUFBQUFBQUFBQUFBQUFBQUFBQUFBQUFBQUFBQUFBQUFBQUFBQUFBQUFBQUF2M2FCN0FBQUFEM1JTVGxNQVpydnZxMFF5elJDWklsVGRpWGI1cGFMeEFBQUFDWEJJV1hNQUFBN0VBQUFPeEFHVkt3NGJBQUFIMFVsRVFWUm9CZFZheTJ0alZSaS83YlJwK2toUzlBOUlsb3BDaWgwY3hjRmJSbUVjTnltT3N4RWxZVFp1aEJaQk93dmx4Z2NxT0pndVppR0NKSzVFa0VrWExoU0VsS21nU09CV1JNRlZBeVBpUmxJYm5jNW85UE03ejN2dTQ5eEhrb0wzTEhMUE9kL2ovSEx1K1g3bk95Y3hqUFNVeit3YjYrbEJpMGlmaFJ2MkgybENuSU5IakJ5VVVnUzVNcXdiaHZWN2VoRFB3RGNJdGpOSUQrSUsxQkJzQTViVEFua0svaVZRVDhGbVdoQzNZWmRBbllQRHRDQzJnVkx4Tk54S0NlSWNIRk9rMC9CM1NoQTNPTkk1dHB4VGdMckpsakZHM2o4cFFJc1FGd0I2RkdrQlVySlB6d0MwS09JRzNLSFAvLzFIZ3dlZXNaR1dWZEVIbmsvMDB4SjVOdnpGMWtFbEpleVdBVmhoaUczNDg0U1c4RlVZbk8xdWJXMTFWMDNZNW1QMFliWDc5VmJYcEFsQ29uSG5nVHZKQXR4T1pCbGZ1UXBPS1hFemkzY2xqL1lsZ0IzcVpGWk9kbndvTVRYelA1MWpBRis4OEYyTDJ6eHRVc2hmL1JyVGg2UFc0TitWUE5hYzdvblh5dWpmaFE1ZkxoeDlQc0k0SFRRVVpYa0UrN2dtRmZCc1VGUFkwWXBycmVvZHdKMTNhR2tEemV0VjJTVHJObmdDZXhxT1dpTU5ZQWxPNjhCSm5wb3dyajNwZDMvVUl3ODRkSHlTaWRBaUlpNnBVNXFEZTlTbXYvNmxXS3ZPODF1cUpSbkNGTkQ5eGhQb0lYSFdVLzFVb2s3dXVQQzloWEkzdnEwU2RZUTd5YWJxY2NKMUpGRjIwdUYrUHgyMklrYTQzUFdWSjRnSkF0Mm5wamtZZFYxRmpNekVEVVNzS0M2T3pxUzRiN0FOWk9sRUE4L29nRWdSS2U2RHFEV2hmRHRQRlNPaVJydmFKNXU1TlVITlpkOGVzRUU5WUdJMWNZNWJWTEVwRXFKWVpvbVZYSFE4YTBid1JKaDdYTWQxS2ovWlpleW00LzQ0UElxdUtPQThETU8rMkxneWZKVU9GYzBNMXNmeHh4RTNUdlo2QlptSWN4SWVoVzIyRTR5SzJtS3JvdW5tOTFHOTZlem1FTEdZMk02WVIvWStqYnlNaTN0MDQ0N2VyOUR4L0xpODM2WU9sdWdOOHVpSW9peXJrbzZ6MW9OUnloSHlhWHBvb3BmMFhQTXU4N1I0Z1JHMjhjVUhrbzR2SHRXMVpxK2Rzd2V2MXJSaUxsZ2dwN3Q1WllxZmgxVWw5Nzc3dUI3bElZN2NFdGx4WGdhZzMrd3l3TkNHWWVSMDlZK01yT1hnbW9VUGpLSTg4ZUtXdU8xM25id0hBKytRV0dYTCtpUThSdzlSSDltUlpEMEZwMjJGS0Rid1NyWWdxUTVqZkMwNVBwK0ZwT01YSE1yd0ttV3RZWTMwNVJVd1hoM2Uvc1ErNHh3WnMrYXlZU3pCRVpkaGpHTjc3Q0xvR005MjdyeGU4VHdIVjFpcmlNczBRWmtoV0FzeWordUlSQ21CaXdCVlFjZE5STXh2b0h4YWxVR2Q5YzNSeE4wbjEzVnNFSWR0a1d3WU9JUmY4NjFMdXZLTVg1bjJGQkFwVmo0K3hxZm1TbVZXNUk0NVU3eGdqVE5QZDNrZk96b1NweDJ3czJSTkhGZFRlaDUzdkZtbGREeHJiamZSTGxobGpuQVdLZVdBSVprazhETkQ5K3ltV0JXWUova2psNFNScnBRQ3ZSb0gxQSttOGZqMk5JRzFBYnZVRnIwbjJzWG42UnN4UmVRaHVRWGNIajZtdzZ2bFVvdjRlWDFRTTZiUmxDSHpmclVtRDBrTTBrVG5rd0p5bTRGZmt6eXdvUGtocTQzM2lUZ1BNeVNOSis4bllBN1F1ODJ6VVp5azNTU0RiUkNBK0RzRHg0a3h2cG5FWEtOTGNHNFc2ZnF5OGJJdFVFdVN5UGNQMXdNVk5KMEgyeWpBeUNZUFZ0dG50YkUrQ1IxZll5ZmdJbFpiUWM1a3FoUWtET2w3aW5qcnlJMnBLbXNoTnRFaVFzZkEwbmpDYzN3NjNIWW13S04xZDFmOFZrVlFCWW54a2IwbzR4R1luQURJM1ZEZ25tYWg0UGdIeFNoSjFXRjVLeGszNmdhcElwb2VFK0t2aDJLcmNHdjNVWUNZZjNUM3htc3BsQlpFeC9HY3VMUU9GRDlsa0cvUXBmTUdSUXp3a3FzM1hnTTVjNFZwWW93SFUxRThSMUxMVXZ4VUVkbU9sRGdWd2llMDlKeSt1TFdHakkxSjByRVluVndabGtSRGZWN2tpUDJicktvVldDL0tmRzJTZEN5R0lna255YmI4NVNhSHZPNFhSZlNVNVVMREdOK1BVSTRqSm5UcytNR0dKbjM3d3FhWWQrUDRkT2s0SHF1VG8yTm40cG9JcSs0YVVEYXl6NWtvVEJ3NmVCUEhzd3BDeDlLYlVzbm8wdU5Md2ZreHZpckZUeHRiUGNXYnF6cGJkdWJMSlFocjVCMktENmJqeFBueEJ2S3NNeUpKMzFhY3BxZUdvd2ZuSFI0OXRZa2VkM21iMFdoK1d4V3ovQXRIRFN3bHR5cHI5UlU2WnViaUpVcnRURTFVSytxM0U1M2hUNlNmTmFiQjZiamhuWkdrK1RHK2FYVnQycTRwcDBOTndhREd4c1IvZVNTZTQxTXlzUG42NkpTNHMxRWYrRFlPRmRzaXRtdEtHNnY0RmpaNVR5SGcxT05XOXJVSzhzRFAxMGV6NTlOSjFJR2hMUEVRUXh6QWs3NlJaRU44cDRMcmZjUWFDQjN1TUVXc3JXSE5yckhtcUovNHFoUTZKbGRtVG13em4yUlgyZVh1MnlGaHFVR0FxMktkaVRxVWhoYjA5MDRhRDU1dVFnN2NJNVg0MHpmMTU4bU9udm84Zm1VVHQyWSt4emF0NVJJZGJhVWJwMEpXUWQxcDRoK2R2ZWtiSHRNay9Wbmlva1cxQ0svam50cWpHdWlIUk1ncE5jN0RUWU9sVmJ5eWRFbjY2SGhaN2NuQnNNZmJpM0w3VWhYQzZ4Z29KYXBSM0tOelUxMEoxNCtVVnVRQmhLc2VJT0tIVkxPTWMvUnJlNEpTVmRQV3kzQ2J5S2JnT2oxRVdqMnRaaXpCZTRqUE5jZDRZc0NlbG1wY3ZzSmJHVk9USmFuYXZucWJuY21hRCtLTjBMS1JkNDNtVXc3dldQanQybm1DRDQ0ZS81Q3ZnNmxySnUwWlh1ZzV0bGVINjdTUmJicFl4VkVJcjJWTWVOTEkzaHkwakNwZTNmZHZoV3VIU3VraG1nSUVjU1ZkNUUzWFBwZ3RILytDanQ2dHdNdWgvblRDTndITzB2Q2JOWUgvbTFxbkd0RS9Ed1B5cjdhdDdwNHBOcEVPck9KLzMxN1pXMVYreURDTVJRc0dYUlBndmdpSE92SDE4K1lEOUJKODZ2N2grenFseWZZdi9Md0haKzdkU2V6MFA2VnlHSElpUExscUFBQUFBRWxGVGtTdVFtQ0MiCn0K"/>
    </extobj>
    <extobj name="334E55B0-647D-440b-865C-3EC943EB4CBC-26">
      <extobjdata type="334E55B0-647D-440b-865C-3EC943EB4CBC" data="ewoJIkltZ1NldHRpbmdKc29uIiA6ICJ7XCJkcGlcIjpcIjYwMFwiLFwiZm9ybWF0XCI6XCJQTkdcIixcInRyYW5zcGFyZW50XCI6dHJ1ZSxcImF1dG9cIjpmYWxzZX0iLAoJIkxhdGV4IiA6ICJYRnNnWkhVOUxVdGNkR2hsZEdFZ2MxNTdMVngwYUdWMFlTMHhmVndzWkhNZ1hGMD0iLAoJIkxhdGV4SW1nQmFzZTY0IiA6ICJpVkJPUncwS0dnb0FBQUFOU1VoRVVnQUFBcTRBQUFCTUJBTUFBQUJld2lpVkFBQUFNRkJNVkVYLy8vOEFBQUFBQUFBQUFBQUFBQUFBQUFBQUFBQUFBQUFBQUFBQUFBQUFBQUFBQUFBQUFBQUFBQUFBQUFBQUFBQXYzYUI3QUFBQUQzUlNUbE1BRURKRVZIYUpxN3ZONzVsbUl0M3Q5b3BQQUFBQUNYQklXWE1BQUE3RUFBQU94QUdWS3c0YkFBQVBUMGxFUVZSNEFlMWNYWWhrUnhXK1BUMC9PN3N6MjUyZ0dJTkpOK1FsNmtNUC9yT2E3VkdRaUlJenlVT0V2UFNnWUNBS00xRWtQNkk5QVNFRU5UMVJNQ1JnN2hpVkpLUGtyZzlHSW9RZTMwS0N6b2hFRUNVek1ROGJGOXk3L2tSM2V0Y3V2MVAvZGUvdDZaclpleWNQNlhyb1d6K25UbjExNnRRNXArcmVtU0I0SzZhYjQ5Zm4zb3J6TG5qT3A5bnI4WDhMSHVNdHlINlMvU1NZWktzK015K0ZJNzMya1JPbmFmZXJRUkJlOXFFL3pSWjl5RVkwa01BVWV4Vy9DejBQWVh5S2plVHFJU1pCMG1aMVpHcHNVeFFIL2w3M3NWK3prVndIaWlmWk1NUGVvS3JqYkMzWjRwYW5JTlN6STdtNlF0bW50TU4ycVhXYVhkaUhDRTFURzJkdkhSdkpkWDhoV2EweG02UFNNZlpQcTNKQWRpVFhBWUpKVjAreVBWNTVqUDA3M1ppc0djazFLWkdCNVpxVTU3UXdzd1BwZU1OSXJ2dkx4MnJ0Q3ZNS3YvVWZxM1pBZGlUWEFZSkpWYzhxVDFSaEhpZlprVnhUQWh4UWdlaHBtemZWMktVQkpGYjFTSzZXTVBiTjFxVGJDaG9qTzdDdm9BN1kyR0x5WHFBMThsc0hGTjIrNURIN24yaHZIMm1jZGZVSGJydm5NUS9Ec3kvMkkyaThPWDU2NlRERHdHQ3VpMzR4Kzlkd0JzUHRhK21HVDk3eFlIUm1DS3NUT0JNekgwYzVoTS9obWtzeDJ6ai90MGNmZmZ6Y2huWXFFNnozekhuVXVQZEtMN0krNjgwZlloUk1VTWlneE5nL2h2Y2ZMdGN1bDlqS0VGYkhPWlhYemVRUVRvZHBMdlBSeGM5RnlXQmExZGtxOFFyN2VUQ3VET1dCUmpySjJEenZnTEhXaC9jY0x0ZUk0OXNjd3FwODJ4MGdsQlpvQ0cwQnpiZjk2a0VPYysrQlozOHIyWmZ2NHpYOXIxWE5lT1BzSWtwTmNjNDMxVDY1R3VjbWZvWXBHZmdObCtzSHYwZ0F0NGVQRFpWZEgwNVZHTVV4b0h6RGttRVFkRkh6TGFlbXhkK2hUQjhHNXdLWXFiUTVmQkxENVFvZUVlc041NFR6SGZOWVNBOUdoeU9oVzA5My9DM0d2dUh3Z3NrbE1jOGN4aEFzczB0WDhiVEQrTzIyd3poZDhKU3J4OGt0cUxHaEYrbnA4Zk9yZ1FGTTdPOE8rNjdMZmt2YzhJMTVxWW5iTlFoVmRMWGcxZHRIcnZDQVBnNEpPMlU3QWVZb2kxaFc1b3cza1VRTmo3UElLYncwenVFVkJOcDV0SDJPV3g3Mk5ZQUQ5WEpJWGErRlRNRE5yNGhsVmFHQVlMcE1Qc3BPMTdLK0tFWXlaTEliWmY2eldKMUUranR2WXNvb1IxSVk0M0dDanJHKzBTc2ZmVVhvdHA0QklWa1Z2Mm5oSzBmU2hkdXlJVTJsckZKSEJmU3h2UEd6eVdXK25SS1c0SW85dThwSklMQTFuaUY3bmt4aU8xQ3pqMXhodVZZNHEzMS9QSzNGdmp5dXBCSHFZNStEWm1PaFo0WWx0cDJjUmpqNERkV041MVBwTG1JQk9TMXhWcFBLaTR3OWxLSThXK1VrOU9NajE1cGlwWHRsWlR5dFJWYlhQT3F3ckk2MEZsS3U5bHB0LzBPZk4xUXVLTmptZVY1ejBzL2ErY2pWenlGNVdnc1hibjRsTEt2OS9ua3laUVdDdHJhL1lkS2pEWWNCOW5WT3RlTmFtMEU5ZmVUcTU1RDhyTVVnSEZkY1R4Y1VTNXBMS1h4QzUyVUdrbEh2VVdNLzJkZ2NvSy9idk56MThqVmVkc0RQSWZsWkN4dHJybmszZkQyVmpBWG9jd3JwZVlJZzlncVZISGpRUDJFOHZXeWlsMzMxZEVoKzFzSUJtMmNCeTJyQzF3bExkZFVnVytiWXdQU2xsMm9jK29RUU9NMkVpdFdHOVBDd0E5aEFQdmNwZnRaaUNKekROemNaRTYvM2lVWDd4MmxHNWpBT0dhV2NXcG8rVVNQbFd0UEdKTkdlS0hySTFkTWgrVm1MeFBENUZaZVoyZHl2V0FHNkdtSEd0R1BPN2dsQzBlejNESVVkNkxyWHVRTjdlTWpWenlGQkNaeXdmT0NJQlRXRUpud2RWM0dxUFJSbW9YWWROdURCOWJYRi9kYVl0U2xzN3FtOGgxeGh1UlpUL1ZJVmxydE50UjFCQlpaVmg2L2RyTnNNbVA4MWlRT2gvY0ZmR08zd3dPMGsvd0xXWXo3NkxtSXdMUkRWQjdlcUZsaUxDeXIvSmp3eER5VzNkL2JxR1FCaW94MjRxZlg0WWlYQjR4aS9VK0FmYkNkYU1vc1QrbkNYMlV5VlhjdlJaaEhkZkc3dnEwR0FmYllxVzErSW5wekxJaXl5RGpvb1k0QnlkSC9HUU5pWFdqc3Fyc2w2MXoxeDd3ZjFqRDVPMVN5OTFUcmhwNjVYWFhmRE1tek5KMzUvbGNOQ0ZjYS9HVDBDQWNXdWxVL0FLTjNPZWpHN24yNWZGMFhIZDdNTnkzNjl1RmRWL0lwODB0c3NzWml0VEYyRTNQWGQvQTVUZDZtRTZFYmNROFdzTHpydkE3RjFNU2lGWHBPaHZTT1RGSW5EOXUwUmU0WmRyQ1ljVWhKR2kxM2FEazczcTlwYWxObnp3WmEraUlQWlBlTndMYWdBSFJRQjVqWFo1eUdjQ3JTdjJqSW5yd0IvM25MeDQwSHdsemh6Tld5d00rekpXS21PWFovT2wxa1BiNGNmUDc4UlpkSERRandmbE9OWFhZZVVoSEVONjlmQnViUFdWZGFpZ2E5REt6cktneDZ0cEVmT3Y2WXB3OWV4QVcvM0c1YU9BcXArVTEwS09mNWdJa3NFTHN3L3gwL2Y0dFljcGxUcXNMK2kzN0U5eHlFbFlaUWo0UzFPWGxiV29oUnRrckZWQVdMTjg5eDNHSWgybjJYcGk2Q0xhbWk3bVp5RWxtWEl6UDNyTkh0WTBHM3BacWRmN29WVE1sS0xmMmNjRW4xYjc4Sm9TaW95S1NKOG5hSnBWYlF4V3pEdUluZUlOa1BJaW01ZjZmWkZYcERZcmZUcVU0VUw5RXJGN0tGMnJ5b0lwNDhtK29hZzF2aUFUYUJZMUJnVE1PQmw2Uytha0dKbHN4b1VmZStvVzRyc1lPTHE5dzlLTjNGbWgvZ0J5Z3RCTUJ1R3lKeEo5NmQxWDVMVkZCcHN5bnhaSFdZbW8wdzFsMlQ1UFJxc1grWGNFRC9wQUNWSXdtZ29KeHkwVlBqYVdVSTNhS21FRWt1RmxrWCtLRUY1QmlXemhIYVBvWG1TMjFvUW5McEVDbnNoVFU1aDJDTjNpM1F2OG5WSk1xMnNReWNEWjVyTkZkZGdUZVZMRGJndkpTTXlBOUlLU1JqbVRnQVNYcVZSeC9neFd0L0JJSmhJTzFvU3dxREVtUkNqZ3lVUnZ1SXlHMTlWS3hXME9laVBpdVM0cXEwaExTMGc2WEJCdFJYeGhKYXVDTDZRc05raENSaFFqaC9KMFd2U1dwemd4SkhxZzJEQ2Z1a2tpY1VYUGxtaUhSNUdacytXaDYrbERpNnpPd2hIMHpRVmR6Qjk4OVdWaHhtc1M5YmhOODNvQ211Z2NGWEJ3Z2xmRXpDYXhtZ2hXNmNPRmZvYkhLeSsvRk1jNE0zWWxVU1lieUs1QmUrNUNNd0Frdmc4ZzBiQ2R0SitDUlI2RDhYU2kyRDlkL05GbE1rTmdsRkRJNnRlWDVCM1d1UDBFa1prZk8reXRCWU5FaU5lQVV0cFFvOUVqOHhoOHF1RXJQWm11R2NpZjdDYVlyeGx6UUpRMWMyVytkcml6cDlWVTUzeXI4RHBSQTN0YUp5dTVqQmdlcldKQ0dWMitRelFWTFJQUm00cGYzaHBqcERWcFRiZkk3aG4xZGdOWFZ1dk5BOWRkbFdMZlJtdTZncDh0c3lhUStOVzlVZ3VERWhmYm5lS0NjVSsrOGcyaUJmMFZtenFuT1pSU0Naayttc1Q1QzZseG9qTnZvRmhNNEZqeE5oUGowSlJKU0FNTnkrekZRc0ZSZGNXakMyakJJNjFDTnI2V0xDc0E5blVWSDByL3BBZDY3N1BFUWRrcFJ4dEYxbW5qUVpDM1pJY2tCU2FGcCtuRUlXOUw2aFMwVThhV28zUk5NRWUvbFdFQXlNMlN1QllDOHhDYVV4NHhXRWgyY3ZNWk1jWldGYnRsM2FRWDFUbzVaT2lyem1aaC9IWDRRQ0YzVWg3bjAvUUYxVEVYUFRRMERnemlnT0R6aTFxQW82MXNJSXI0LzhNazRQbEtqVHhyS1Q5Ty9oaFdiVSswdmZGNjRreFNPNVZXUWZyZFZrMzR4c1lucjZ2YTRyTU5NenFRMFcxYndvQ0J3YWRHTFlsRE14K1NTUEN6TlpGQWZPeDFVcFRIQ0F6R2N1cEp4NjlIMXBNZVBncXl5UkRiZlpsSFZaYTM3NWljdWFLaFloNVVncGlNYzAvMjdKY3FxTnhEZ3hNUm9OdG1uMUcvNmhESGRGZDg1QS9VTVVSeTJwMkZSYkNVZ1ZPQXNPbXE3b2FIVFdkUWs5S0txeFVIQXQ1aGxyaEtNUzNOYzZHVWJQT2Zzdld2SENycmM3ZkVQMWFJUWdUVEp1VzRhTGg5VDZTZE5oYVduQ1JNUW5VZWp1b0tjMGxXQlpRcEVoa1JmSk5hcHdGbzJrWnF0QVlaRHBLS2oydTJPYWhBS1NLNWJJbE40cWUxWDVSN1ppRnNxbFFGT1ZVUmV0bll0QXp0cXRvaTN2U2J0K1U3Rk1hWjJCc21UT01lNzFpa0RlUFJBOTRuR0oyRlYxcEdRdks1d0c1cW5hRUErcklJNmRZK2xDRUhxcGRWaGJ4b0RDckxoblhVaHFuWWJTYzhOWGdRcHlnL01heWJSNE0xTEhza0JTMU54bWlnK1FBK0lLbXo3alNnaDFRd3NTRTFGN1VQY29kb3dxNk12OE1PWHJGdFptaGNSSkcxeGhQeDFxZ3UxSVh4endvbGtIdTk2OFU4YTFwOW5TbHBReVJyQVFrSlhjczliWWhOZTNhcjZVYWM2dkFSc29PWDlVSWdBa1liV1BHcExYNGNKVW9FR2J0U2twaDlpYk95S0o4NktnQzRraW1WWmZVcjBTS3NHUklteWpPbXlKeWlMT1VYQ1BMdkk3VkZWWGJ6RmhWNWYrRUNkS21YV2hjK1M0YUpRR2phNDRGTlRHdnNFNWs1dTVXQmhPMWRhcTIwbjJZZUhZNjNQMHJIUVhtREg4Nm9xMlpJbkpRYUNsWExNRzZhcHBodmJyTU4wd2NwbHJ6ZjBKZjFXRkdPcVJwdWlwTXdzQ08ycFNETC9CNWxZVDF3SUZtU2RSakVtUVJGbFpGc2JEZkNnUnBNU2YvWU80MnFRSFRrSElGT0wwQ0xTUCtpb25ETEVZNVo2Mm9SQjVKYTRRcUNRTmxCYkhMNXpVdWJCUm11U2tRU1l2UVhjd1pZSkpkd3pKYzFNYXNEU2RvSXlYWGx0bUs1TjlvWHBRcVJ4RVBRTTJVZDRmcTB0Q2tjU2tZbUUwZGJaUWlicDZtaEpaRHJ2TzhsaUxKRmVUaXVpZ1c5b3NWMW1FL0RZSmwxdGNCWXRDT2RLVlFYUFhtQ1B2UE9JSWRZeDBLUTBuV1NHMGpiSnMxRE5SZUpET1FnR0hrQittVFFUNHVZaG16MVJhNEJaNU5PT2Y4Z1hlTUluRG1PNEFLeEZacXlUZ0xybU5PVlFPMXBsclFPZFZheE5NRW9GM2g4Nk50OGNtREFzdGhBT09tR0gxTEdPVG1PaThpT0pnWDlUSFBUUmIrcGhNQ1VwR2RRcERRdngycEtRM3RPZmpiSWgzMmhPcDFuZ0JlMEcrYnlWTWY2U2hrV1NhTmd4aGRHRkRyRlE0QVJwaDNhQy94SXN5emtEOTZrS1U0cm93S2J5M2doK0syWFpzdkRKbWFnYXllRm1WRXpnSXlWVSt5dnNCSmNaZzZ5ZGhzY3M4MzFNdDBiR1RTeVNteVhta1lvVFQ3emN0ZHdsV1NBVGZrdmNvaGJaM2paazZxTWE4cTVJZld6NGdMUTJCbG1hdUErRWNaTlBReDhSQW94c3dCWVNkNW9TQW84djdGVHVZc3krd2x2cE5yWkRqVE1IYkVLcyt3eFFhcHc2UUlCK2plaGUvS0dmWXlQOXVFU2l2eWhpbjVsVm9RNDY3Tm5OU0J1WDhlRy9JWmRSMzVkeDZXbmNZaUhhL2JiSExQdy9YUEU5T3RONkI3bTBHd3ZFcWxGSXh4b1JUdHk5QUQyRkQrWlJZUjdnaDE3ejRCNzdzWlRQU3BycWowOHBmdURrbUs3SUd2ZjFtTzhaSThkcHo5cFRWb2cyelRDVGRzdUY2ZVFrcGRGWEJiSFFySkx2Qm9oUDdTdklNVmxwcWFockhBWGd0bTd3UzZFdjdsN0hpazlISXN3di8vS04zZTJ3NmErQ3l1cFdLTFFwQUtvWExKeXFpUGZJSk1jMmJJTW5aVU9lN05teG9ZcnM3ZXJTaS9yYzIrWjFjWG1COW5FTllmbzllQzRIcUVzcDhXY1drYXhteUkvMGJGbmRRMXJCZXBNMW9RdklQaFMyK3F4K2V4OHAvOEZnVzJ5emJ3WDdJZXhjZlJ5cXRpRjlILzBzTFgwdjJxTmVwcGd2UUxxd0xaOFpEMXprZjQ1enB1ZFlHbFB6RUloQVNGejRzM3VPUXlZWXc5RnozMUd3N2pvK0haT3Mvd241ZnZqWjY2aFhJekQvVVRjekZFUjV4N0lYNWRRTFhHbmYzY09mYjB0K2V0bXFLejczMnM5eDIrM09YbitsOVJnemt3L2cvVHE0R0xvbWUrOXdBQUFBQkpSVTVFcmtKZ2dnPT0iCn0K"/>
    </extobj>
    <extobj name="334E55B0-647D-440b-865C-3EC943EB4CBC-27">
      <extobjdata type="334E55B0-647D-440b-865C-3EC943EB4CBC" data="ewoJIkltZ1NldHRpbmdKc29uIiA6ICJ7XCJkcGlcIjpcIjYwMFwiLFwiZm9ybWF0XCI6XCJQTkdcIixcInRyYW5zcGFyZW50XCI6dHJ1ZSxcImF1dG9cIjpmYWxzZX0iLAoJIkxhdGV4IiA6ICJYRnNnWEhSb1pYUmhJSE5lZXkxY2RHaGxkR0V0TVgxY0xHUnpQUzFjWm5KaFkzc3hmWHRMZlZ3c1pIVWdYRjA9IiwKCSJMYXRleEltZ0Jhc2U2NCIgOiAiaVZCT1J3MEtHZ29BQUFBTlNVaEVVZ0FBQXRJQUFBQ29CQU1BQUFBL1loUVhBQUFBTUZCTVZFWC8vLzhBQUFBQUFBQUFBQUFBQUFBQUFBQUFBQUFBQUFBQUFBQUFBQUFBQUFBQUFBQUFBQUFBQUFBQUFBQUFBQUF2M2FCN0FBQUFEM1JTVGxNQVZLdmQ3ODJKWmlLN0VFUjJNcG1pVmxleEFBQUFDWEJJV1hNQUFBN0VBQUFPeEFHVkt3NGJBQUFTT2tsRVFWUjRBZTFkWFd3Y1Z4V2VkUkxiM2JYanFJSUhFTEJXRXlUS1R6ZUtVd20xb0RIRWZTaFF4aUpOQmFWb3JTb3FTQWcyb2p4UUhycVdFQ0JCSkxzTkZhaEk3RUpiMFJaYUd4cEJLMzUyaGFvK0lGWDJRM2xBRmF5aHRLQUtkVU4zVGVLUzV2TGQvOW1mOFoxMTdxelg4YjBQTzNmdVBYUE91ZCtjT2ZmY016L3JlYTVFSXpBK014L2Q2WG9zSWxBaEJ5eHljNndpRVhpU09LUWp3YkhaOGZQQUlXMFR6eWhlby9jUUZPYzlvdkN4MUo1NjdRekYyU0Z0Q2M5b052c0Jjdk1MZVlkME5FU1dldllmdS82ZnE1NUQyaEtjUmpZT2FTTkVsZ2djMHBhQU5MSnhTQnNoc2tUZ2tMWUVwSkdOUTlvSWtTVUNoN1FsSUkxc0hOSkdpQ3dST0tRdEFXbGs0NUEyUW1TSndDRnRDVWdqRzRlMEVTSkxCQTVwUzBBYTJUaWtqUkJaSW5CSVd3TFN5TVloYllUSUVvRkQyaEtRUmpZT2FTTkVsZ2djMHBhQU5MSnhTQnNoc2tUZ2tMWUVwSkdOUTlvSWtTVUNoN1FsSUkxc0hOSkdpQ3dST0tRdEFXbGs0NUEyUW1TSndDRnRDVWdqRzRlMEVTSkxCQU9LZE9wZzQ0ZVdSamdvYkFZVDZZemZPRU1tQndVak8zb01KdEtGNWdHdnNCRnJoT244Y2l5NmJTY2FTS1NIeUEyZXQ0K2Npb1BPVTZRYWgyejdhUVlTNlZ5ajdIa3BNaDBEbnJjUmgzUU1tQ0pJaHNpYjZFbVQ4eEg5cXZuUlgvK0RPS1FWSEwxWGl0eE1nM1hEb1VPQStZaEQyb0RTSnQyanBNRjY4MlFUSXRvMU5IUGsrWEdIdEFHbFRicjNrUCt4M2hKWjNZUktkRG1relJoRlVoVElMT3NyeFhsVDBpRWRpYU94SXkzZjI4dkhpU29jMGtaQUl3bjJDemZ0QldRdWtraDFPS1FWRkQxWEZzaEZmZ3lKc3g3ZlVVakhXb3IxRE5pV0Q4aVJDK3hZZUpFMU01T2RnN1EvYUZFU0FPWVRJakNjdTVLUVJ2QWZ3M0xNSTdaR01VWkV2Z09WcXBucmpySHBQd1BwODJYemdQcEhzWWVRZVNZTks4QURackU3QWVuMFhhOWQrejBBVFVqai91dGVzZTJzVXdlYnQ1bHg2a0pSSTAzZUNzaVh1L1MzTlptUlRyLzRqanNmQ05iYWp1dm5MaHhpcUN6R0ZQM0VMNTY3OXRaTFJ1S1JnUGprSTBheUxnUjFJcmd2RVZMdTB0L1daRWE2emtZNTJYWmNQM2ZUWkdicUJDL0hqd1l4a2FZZkJTSGtkWk9lbzM3emxKZU5sMkJ1NCtXVC8vQ1dpalR1Tm9MV1hUUFMrUDRSaXUxcnRsV0xCUGIyTXJXTjZjd3NlZER6TWlKLzBaTWE0U3ZOZUVMQjJZejBiKzg2QktYbmU5SmlBSWd6ejkwSkcrRUJiN1E2WTJTRGR1YUZ4NDBtN094SnNWUEpmNHduRkllYmtRWlJFT3Z5NkZSbW0xdGcxdE1HRlZiSXh5aEZjUXZYN0RBaHJ6NU95Nk9FM1E4d1NJcUxkSnpMd3lTcTcvMUFlbkp6b1NPRTV6dHJ4bFBTeVdlZmpPMWczTk9kM1IwdGNXd2FIaW5PNWRIQmU3c2JFQk1ZcHBlS3lGeE14TExLMXZGTVNKZUtjSHF1dGF2clhoeWtjZEpNL3E0cjcrMXV6RW9zb2hSSkIrUXc2OXNyQTdaT3lwUWY4c2U4MnBpblpCUFNwZUxTWVExZUpDa2xqK1U5RURCTk0rSWQ5bE9YV0VUcGZaVmNjdXlSK2M5T1Nub0xzTDFVS2RrU24wdzlyMGJFYmNSSVVzWTFqazFqRFRUSmlIZllqMjhLcDdPU0FENDNhbXpqWjZiYXk1RXlKYTZSLy9KakN0SzNScEl5dWpoSW0vMGRGemxndjhicEJjNURlRVVndmRxcjloVzVjUEhqWGZGeGtNNUtSOVNyTXR0TGI1eGVjTFV2Y2hXQnRHSHU3QnhLVnN5aW83RXllZkg4dE5IZmRhb3hDQzNHNlFVV0pDd1ovckhhcThvVmNVSHNOODBHZ25FY216YjZ1MTZWN0ErOWNYb0o1SnptZ1hTdVY2VnE1QTEyeUlSMDB3WUdNWkEyK2p1RGlPM3FOazB2V0xid3h6Vm94TmI3WFlZbGNvNk5iRVZFaXFaaHhrRGE2TzlNTXJhcDN6UzloQmJyT0NtVHZXbzV3WkdHSFFvWFpHQVFBMm1qdnpPSTJLNXUwL1JTMUM2anB1YkcrTXJ1NDk1anYxaG1HZytNZ2JUUjN4bUZiQStCYVhyeGRVZ0Y4NS9zVmNreFBpUFd4RzFiNCtFeGtNYWxWVFh5R1R3Q1hOYmljWXp1dXNFcHFrZEVDMXZ3MDZOOEp2VHBFOVJ4U3NZTUkwNTRQRThVUjE3L2FJRGttNXRKdzZXcXprUkpPNUxORG1udEsxM0NQbnNwb0xVOVlnOTMwQ2NqdW1SelBYcXBLa2tHY1l2cGhRY0hFY3JWUW1lQ3ROaGIraXRueUUxZmlqaE1OeS9RdTRmMWVDYjkrS012NHJwNS9aM2ZlVndmSDZxbERnYWZXdlk4WDRXZHJPK24xL3JOMndiYXlLOCt1djQrajhiSWkySXc5d1FmeFRqYUNrWStMWnF3ekFzOVJ6QU9DNThpNU1ZMitvN2RNZkIvaE56ZTBkNmxBWjVEbG1xWGJ2eUR5akd5VVc3emQzanVvdUdUUnFmbVhUaHNTMVA2V2RMMGNYZHdTZG5wbjhpTVRDVkJvNit1bDVsZWdiNmFFVm1ISEdTQjNGZjJSdTgycjJXS3pZUGFBVzA2MWd4cHpreGRmM3hxSnVnMjVjR3YvTXZMK0RlMCtydGhzdkYyei91MkwvSlltL0xmbnM0VmNtbmVlNnBSemtyME1oaEhVYTFNTUp3MXFoaENBV1hIY0RUVUUvRHlDUGt3cTZ3b0x5NTcycmVqTHpYdktMYzM5cjZmTGpHSlY2MjMrTHQwdnJGS2VZMTFPemU5QzBuZ2lNY0kwN0EwVzVmVFN3MFBDK2liS2tnbVRWS3hZWFRSeGwram9CMTVZZk1qR256YW5GdzVLMklnLzI3dDcraXJkN2R6a2NVM2toTjlPWnd6QVk5djk1eVgwMHM2T0VXZDlvYmdDcWVDZmMvRENsRUZlUk9ZcktUUUlYNFBGN3Y1cW14TGRBc2ZQc3NFVkhCbGFaRzVacG1MM1dlOHRqaGR2MzhyQWo4NkIzRVZoeWpHRXlyaGxoVk9CZU5TSHJBV3VsRmFrYU05cVNiVVpNZFFJeUo4d1JTdVo0dU1uQUdHQTZwL1MzbmlOMUhsNlJhNlJIZmdmVy9nQW53WnhOVXVvR0ZCT1dMcFZBcXc2V3RFeVV0YVVPYUYwOENkTDI1cWllckw1Z3VSNThMRXFPLzhpTFcrNTVYMHBTYzB3UTJNeUZKTldGdk52aWJ2REhvck1wd3V6YUU3cXdiaEM4M3pyZHFlRXp6R3BjZXU2TkJFczArZ0JrdWU1R3hoSmRwOGF5SkRpR3RUT1RZaFBSUXl0bzRCZTRzSmFOaWRwYzUxMUlUWWNXYWpLdHVFbUpVN2pUWWxwZjN1bDZPRnpaL3FMc051S3pRcmM0NHQ0WFJkZ0libmR6cWVBRG5VcHJ2ZTdWL3dqWUNDUFpNRTFaZkU5TEtmMllsSytpUElZeGNyRGZLcWZJUjRMSStRT1ZIZkl5L1dyRFJ1MFpIUUJyTGxkSUdxVGgvNHduZEIzOE1KaWI0c3RoVU5HYXFybE5jRWZTQVVnNkFiRk5qSU9ib05MMWJRUnVacEk4cUVyQTdQdk1wYmt2MUZDRVRuRVZxa2FteEhOWi84WkprMUROaFBJSEh5UEZ6OVRMa2FCUmIzWmhtK05Femx4a0tmelpES3cxV3FjQnBJejhyMmZteFh0RytGYW90S0pPWnJWUi9BQ21adk5hZmtSYld3QmtXQkg5MmdvRFpIdDBCWERXVkpCb1JvaDQwMS8wZ0orbFFDdlZLRmFsVWxGZTJmS0t1OWdhc0FKdUVrUEUraTk4dzgxTXlxa0FST1pabnFqV0ZKLytnVjFhWEtiSjZRMnhnSkpVdTZVQ2NtWlVDMVZWbEhzQWxUK0tMYTNYcmx1OTFqNzkrVkpVc2dFYWRJY3I0dEtpZEJQYk9lWHJ5Y1dyZ1VSR0M5b0cvWG9sZDdEQnJVb3ZRcldSbSt0S0NhSHM0S1UyUGRuTHZWaDNTdFFVRDNJb0o0Wm5QZEtWcGJXN243R3JLVzZRVUdUclAydE9TRjA2Z1FvdklKUVNpZ2s4dUM5ZjZZZFUxZWVrdzE1Zm84NzJFeHpzOHlyYmYrTXlINGRHejRBaHFNSXlsYUQybFJJUnk1dFV3dk1yUUR0WFFhV1oyZHBvZVZGYU9LRUtBMFVUMUpWR0M2TXZSUXFqRTV1Q1o1cVY2ZTJHRmZNbXJkTmo4dCtXNEZhWHJsendzR09INU84dkt3c3A3bU94Z0F2MnlLZXFKSEVDNHRIa1JJVWZFeXg0OUk5amV2TktQK1RsM1JFSHBXcUtGbWsyUVY2WTA3N0ZpOXIxSlJjeUI0TEtuUVF6bVZGWDBtTUk4cVJ3TGlNUUYxZU5pOTZSR2ZHc3RDdVJadkRhZkI0bGtCZFgvY1dIeWRLU1VBVlRtQ1FuaDZLYXBaSFNkamxqRkYveW5CSFNkbFRWVFpKdlVTRzZNS3NjTjlsdXZVUjBnMWxHcFN4cnQ4cHNkaHVUOUEyMG9vUnlCblBxWmVTZG42aERSbElMMHNWTTlwbnlOYWZuYVNqbEgySnpqQzhFcDFTYXFtNUtWL0ZVQ05mbHhiU21UTVNsRkhkaXFSeEE3VmpyZ2lBVnhSOElKVVhRbEswRE1ZNHByYVM2d1NUcFFxMVVMU01pV3R1bTRlN3g0aW8vVnBUWlJvRGVpZEV3SmFwaGNFRjNKQlU1Qk9CYlNDRks3N1FxZGE2Ri9zYkxYZGdzbFlyVlNWYW1FaDRWV3ZiSmVCS0l5aG8xUWxVYkxidW5UQ2Jka2FxQ3VuUE9WVXNncHBUSWhyU3ErL3lCcnlJck95bnR3V1VsVFl3MVhMdkpkS0cxK1ZNblA2Vk1nbTZ0eWpTaCtzZzZxUjA1aUo2ZVdYWmRxT0lPOHczYUx3Y0hwc3phc3BwRmVVRTZkdmdON0M2ZWl0OHo1b0RadVdjYnZ3ZC92b3luYUVOQ1hVTlozSkVacDUzcUVvblB2MmNBaHN1aXJVV2VMVFM1NHBqQlhwSkc4WFRtVnBtc1lwZ2pUUWN3Nk1YMTNNSGZPVElMZTZnZWVTZVg2eHVsbzZCd0VyK29LYTBPa1pxNUl2ajFsQmgweFpOdk9sT1pyd0QzT2NzL0FqMlVXYXMxTk5hN3pHN2paSy9HSDl5N0k1dVMzMGthRUZ6SnVDRE5VOCtrZ1ZyZE15b1FqNC9tRDh3aFFrT25VR1pJb25FaWJVR1JCK3BGNmxIcVhNdEY1U2Q1ZW84MUNKNnRHUVQwbHVkUEJSTWcrR1V6OExRYmtxdjB0eFdBaGRrS3ZiNUpUWUF1ZWFXcURnbXdMVURReHhKd2lrRDNCMnFFMmk1cS9pMFNBeXo5cHlJYVBCK1pGdU02VnFqQ3FwSHgwVlFmWWFwQVR6L0tHZkt1cTBaSlZENVB1RDhhc1JGYW1NdlR4OGc3a0lXNGRUcWVMcXhKb2RWK2dxMVJwV2hSWlJjdG8vN2xNM0pHVm5JdHVjOU5OMERWTkYxb1dtRXhDUnFPa2kzeXduSXZqeW1FTERVNXdEM0FBMXpzbzAyMFVnSW16YVo3Vmh1bExKYzlxSHc4dVdBdmtRT3dBL1dYbUliRWhtVzVQaVlRTlVvU0dhVUJvbWphb1FsMUlyZ1dUa2I1RXI3SE9TSFlwNW5ObEtibzd0WW9hdnNncE9CYlhrdlhRV3l2SW9yaFFPNW1wcUNUT3E0MXgyWkZJL01BTEdPa1B1WlVhd1JEVVlGNDROMVFYbVVwS1N2blcrZVRGbFY4N1hxUzJraGNZcU5pNGVaZk1nTS9WOWpIYS90Q2ttOUtyMXNoRCtRcDlHQ0NmR0xyZmlSU2dKbXk0c1VnVkt0d3MxeGdPMXNCRXRBN0paNE5mYUNLbldxRTBQYndpOVNueU5PRUpPczNrd1gwWDdPUE12ZFRJbmFPZ203ZC9JOTU3c1d4U2JaZlBCRUZBdTRZSVUxdnlRZUVJbTNhcGVTTlB0cnFZSW16OXk1eEhFd1Jjclo3REFMYmQrQ3haaXA3d3huZyt0b1BwVTIvZmJIaU4zckFMd3E4azZObjBwS2JxdSsxYUFNL3dRZ3FDMzhOQW5YVnAvSHRKL25DT2Y2NHNTV3hDU3hUc1RveWVoZTlvbnk2bWdLbGlNQitROVh2clo1cnhYd1FPU0syK3k1b3lQVndjdWxRV0oyTHlWa0dOd01Sc0hXcHNUM1BzbXdmZjZLTURwRWw1ZHFISkpxVHhwVGdXRTNKZWc0TXRqUFpvbkRUNzlQVWFhQVRjUXl2RW5BSkJIVWZRN2hNdGN5TWlaeHZmTHZLcC9UeDhNbXAvNW05NVB2dmJYVzV0Y2pjekxqUTlJY2FOL09FcHUrbEgvempma3dqanhoc2lKRThlUHpxaHdZSXcwajAyaFJWcUFWQS9iOFplRG03L085bitmUDdLcU8wNi9PN2laUFRBRGVQdnlGSmdXdlZOcTRSU2huT0FRR3ZHeXRsTkdzU1AwZk83dkR6QlkxKzkvNVd0QzRjd2gxdEo0ZjNsSGpHQUhLWWxzRUxuWWdpcVNCUFJWTmxjc0kwQ1hkcE10UElzRXdZUXIxaEZBSmwvR0M0SjNpZnpBdWhUSGtEM0hvUkwwREk4eG1RRno2TmhGSUJ0NkxKcHhMbXlVN1VwdzNEZ0NtUC8wSWdSTk5FdmdTaElJK1BwdUcyVS82bjh3Q1NtT0o1S2YrZ1ltaFNOTEUvbXVKSUFBemV2UGFyN0R6bmRvTU96V2NGT1F6Q21XNmJ4OCtFVTF1WW9sQkZyRDZiTXU3ckNFYXllYkpkaTBhaDBMbWJkcWRCVTdDRlJDTitXOTNNZnRNSFZjdWlCUWtHOEJvZThiamZrdUZLN0pEZ0o1SFU2bjJqSk5kZ1E0TGh5QmNEaGRsMDltT25BU1FJRGVkUkhoOUNQcXNlSUU1RGlXZUFKSnhCdVo0RUVIUjRJSTBMdUd5NHoveWtDK0JabmcwUHZNZWdKSU01R1BrZWsraTk1bDRpb2luQjczUTA4Njd6SU0rak5jR1U0WDIrOEg5RWY4THBLUzUrRTB6VE9KWjBkMzBlRDdPbFFBZkE3cC96d1E3OU9qdG4wZDN1QUlFK0gwMlV2VXFBRzVLMGtod01OcHBQL3B1Mk1YazVMaStQSlBVQzJuUzBqL2wvUTdiQTZZQkJCZzRmUUxOUDFmZ1ZIekpVd0NZaHhMaXUvNkNGdU8wM3N2aXc2UnhCQkFPSDBwaDllRCtLdW5GeEtUNHhqbllja2kvWS9hZ0w3S2RFV2NKc0FyMC85MVZNdFh4S0FHY1JBMG5KYXgzUUxxMVVGVThvclFTV2VuMlJkUlhEb3ZzYk9xczlQc0s5S0QrUnAxWXFQdkoyTVdUa3VCdmt2blNTanNieXZoaHoyS2NOVHo5bVU0amhRQmhOUDZuaFkxOERXSFN6SUk1UFhESHZ4akxtOGtJOGR4aFJYclZLbEw1eVZuRVBqcWhYellnd29waGI3R201elFYY2taSDZaaTJTVXgrQXAyRCt4S0lCSWZOSDI5TnBRcHBlbTgyY1NGN2tvQkxlRTBUK2Z4cjNQc1NqU1NISFF0SEU1REVHemFwZk1TQVh3bEhFNURRaDFRbHhPUnROdVpsc0xoTk1CWUFOTFYzUTVLSXVNSHNDMUxGWnB3bWs1RTBpNW5TclBUaDhNWTBLalBQYTBlUnNSU3ZlUExIalJkemI3VVprbUFZOE1SU0dOQ2JMWHBMQnFJZTIzY3JvR2MvdkkxZVlvcnVmKzZ6d3ZPOS9JUE1KRWovN1lyYXBkejR6QXpyUGtIakQzNjVXQlJRdXZHWFE2VGhlSFh5UXkraW5maStOU00vQm96UHFaSnY1MDNOUk0weXBjcDRQL0RVdFdjazduWVh3QUFBQUJKUlU1RXJrSmdnZz09Igp9Cg=="/>
    </extobj>
    <extobj name="334E55B0-647D-440b-865C-3EC943EB4CBC-28">
      <extobjdata type="334E55B0-647D-440b-865C-3EC943EB4CBC" data="ewoJIkltZ1NldHRpbmdKc29uIiA6ICJ7XCJkcGlcIjpcIjYwMFwiLFwiZm9ybWF0XCI6XCJQTkdcIixcInRyYW5zcGFyZW50XCI6dHJ1ZSxcImF1dG9cIjpmYWxzZX0iLAoJIkxhdGV4IiA6ICJYRnNnWEhCcFgzdENRWDA5WEdaeVlXTjdNWDE3UzMwS1BWeG1jbUZqZTJKZlFWNWNkR2hsZEdGOWUySmZRVjVjZEdobGRHRXJZbDlDWGx4MGFHVjBZWDBnWEYwPSIsCgkiTGF0ZXhJbWdCYXNlNjQiIDogImlWQk9SdzBLR2dvQUFBQU5TVWhFVWdBQUF2MEFBQURVQkFNQUFBRDkxSUh3QUFBQU1GQk1WRVgvLy84QUFBQUFBQUFBQUFBQUFBQUFBQUFBQUFBQUFBQUFBQUFBQUFBQUFBQUFBQUFBQUFBQUFBQUFBQUFBQUFBdjNhQjdBQUFBRDNSU1RsTUFJb25ONzkxRUVLc3lWTHRtZHBtMHJIcllBQUFBQ1hCSVdYTUFBQTdFQUFBT3hBR1ZLdzRiQUFBWS9VbEVRVlI0QWUxZFg0d2p5Vmx2Nyt5T2QzZG0xaU5ZU0NJUmJKS1hrNGppZ2MzZFBTV2VjTHNFSWtYZTZHNDV4RVd5UWNlOVFPUzVQM0FKUEhpUWN1SUVBcy9ENlY0QWVSNTV5aXljTGtSQTVFRWdJUjZDUjZkSTkrZ0JrVndBRVc5dVBibTczSi9pVi8rNnZ1cHV0OXZ0YnJ2ZDQzcXdxNnVydnZycVYxVmZmZlZWVlpmanJGeGNCSzYrY1BhTnVHbFg2V1pHWUwxeDlpcmJuNW5NaWtCTUJLcWpRNmY2YnN6RXEyU3pJbkNaUGU0NGEreDRWanFyOVBFUTZKenRPYzVWdGhzdjlTclZqQWhjWnUrQVFwRzlOeU9kVmZKNENQVFpDVTlZdng4ditTclZiQWdVMkprZ1VHT3owVm1sam9mQUpmWWprYkRIRHVJUldLV2FDWUVxMjFINEg4NUVaNVU0RmdKRnhpVHVOVGtNeENLeVNoUWJnV3RLL0R0MVZvbE5aSlV3TmdKbDlyNU15MVlXaU5nZ1JrNVlmUG5iRDd4U1B5WHhPK3lINGdseWlBYVRHQ3R2Y2doMEdIZjdoaUJnbDhQdkZiYVNQd2FXdEh4MWdmK3hJYi9GbE4wSEhqRU5NNi95NUh2cHM5a296WmMvOWpYVXdMWmg1cEordXF6MUlQTXVQNzUxOXVQTUZLYk9Sb1NYcm41Q1JUUkplSzY4eFdHRzhHZU1XdnFIN0FNSmRadXh2VnlCYmdwVC9BN0xEdjRGcGhWT3dXQkRjOWJTSGNId25SUGZ6L1FnY2pNamZ6YVpNRGNyYktIK3VPN3RuT0J0RmVQci85c1FCY3dNL2hobjd4a09yN3JvczN6YS80Y280Qy85WkliYVA4Ylp1d2IvQzR5OThUeDNUMXZkd2tSWWR0OS8zZm5NdjJGdE5UdnlwMjNwK2VEc1VFQ01qckM3N0ZpUDVUOUwrQjh4YXVjdkVmVy9NcGIvWlgrUkpmd2hFQW1jSmEzMVhOUVZRVjdteHBzbC9CdVcrdC9XVDEyVzQrWGZET0VQaFZQWm0wWHI3ckkzWlN1djVsUDlrWVhMRVA0WVovbHVFKzFhV2pGbzVIajR6WkwrYzgxUy81MGpWUnVZRlovb09zbmZmNGJhUDlUL0hRSndTNjIrWE5Qak1IbVhIMitHOElmNlh5SEFkdGxiNHFtVVovR2ZKZmtEOWI5SjhHOHJZOFNBM1NhaGVmTm1xUDNiNnI5VGt2aERLenJJRytpa1BCbkN2OEgxL0dkZVBmdldudUJ2VGNxZmE1WlNTampQaHpjNytLT2h2K2w4bUkzcWF0bGxTNDYvWFd0UXpnZm9wQlRad1IvcS80ODIyUmYyQ2dNbVZxUUxjdHh0OEJNQStYWFp3Ui9xLzFzZFBnRmVaNk50RG5pUEx6K0tBekQ4S2FjdU8vaEQvWDlpMU9Rdzk2VElLZk5WMzJHK20zK0c5RStvLy95d0YxeExEcmxiV0kxNWxqMHNnbkw3azUzMkQvVmZ5aDNub3ByeDlrY3Y1RnY1UWF2S0R2NVEvNVg1RFpMb2tEZjR3bmRIbjg3MTRKc3AvQnQ2dmRIWnNOYUJlVTNrMTJXbS9VUDkxN3RNb0FudDVoZHh1MlNad1orci80bzE3RU9SRzg5dFZuUDVsQm44aWZVZjhrZFhSUzR4cDRYS0RQN0UrZzl2WnZhRVVhelM4R2NHZjJMOUwrVjB3MXRRL1dVR2Y2ai9UY1VncW1JbGY0SXFLODB3cVA5YTEyKzVNNEUwTTh3RzdjeTAvNW8rYk9vNFZWamlzb0ZPK2x4a0JuK21UMXR3K3h2ZEI1MCtCb3ZNSVN2NHJ4T2RoOWtiSVJROFdqb3RFcTNrODg0Sy9qampxT2RjMlBBVHNPUG5wWHlxcEZuQkgzT3VYZFc2VUJVQlMrNTFiWjFJdmcwdWttSlc4TWVjNjY3Q0FTelJZNUF5OUZwT04rRm1CWDlzTXE4by9FdGtLRlpCanVNZVJuVkQ4dUhKQ3Y0QXZha1FQVEpEZ2NHNFlhWUhKakFIdnF6ZzN6YjRkcXl2UUVpTWNSZ3NZRXhZNFo4WUFzQmYwY0pDQVAwS2dRenRJdkF3c2N3eVJDZ3I3ZDg5YmVUZ0ZMQmYxYWxWemZpUUlmUm1aeVVyK09zMWQ3RWkvVGx2dWJidVkzelk5NGJtNFRrcitHKzRPbWZmak1RdXdPVWZrdVVCTnpRUG5xemdqd0ZXd2xuVSt6OHB1clVLMWlSM2FVaGUvTUQvdlN5VUJkKzRrZ1llckVQdWVCbmFQSE5RUDdtMGlhSmY4ejJYaTNjTnBmKzMySDJmcGEzOURoK1Y2ZUc4eGZPYkVBY1kxOVJYZGhJaUdKZE1YNDZ2NkFkeUV5S2wwenQxRUo1SEE5eVZIaFRyZjZWbFhaUi9UZG8vcndjMC82c3dCNG5UQVl2aUxaMThuL25rOS8raER2aXg3L2pGSDN3aW5UeWlVeTJJajV4dkJuMXE5VG5lOG9ObUJkR3BaekZtVzJDdmZ1aUh2eGJEN0hYMmtJUHUrTXYrM0R2N0NLdmx6Z0RhSHQxNjlJWjBkMjR1SHY5aWg1MHg5aVUvL09zalBpQjN0SUxxajdBS1NRU0J3c2ZyajN3dmdOSkZvU0JYdFlJYUVHTVZsQ1lDdzd1Y2VqK25CdEEwa1V1RTloVnBEZTNtMUFDYUNFWnBFcmtrNTRmUUZpcHBack9pUFFhQnFqUkhsSEpxQUIxVDZzd0VGOVM2Rnd4VnNpSXl3OW41WUdSTmZRWEwvampvK1NoN0ZrbzUrSno0Q09qenorVFVBSm9GakVONDRKdmh0TXVsQVRTazdGbDRoWDF4cnN1akFUUUxHSWZ4MEwrdDN1YlFBQnBXN295OEs1cGRQL1dBYlJFWjRUSy9iR3lZeGFIOEdVQ1hvTnFPdFBoWkdVQVhVVnZGZXRQTmRyQXlnTHBZek10ejJZZ2ZmSS9WakFYenl2Kzg1M08wYXhEb01uWnNubGErT1NCUW9IdHVZWUNyekNIUFZSWUdnZCtqNTJCd1FtUGZ2RnI1MGtkZ3ZTNnZINWM1WWFlWVVZWmlaSTdsVFhjbUxUeG56UmhVemxHU3Y2d3g5dCs2dk1XZjd1SDdvQi9hMDg5VC8yTjUzK3QycHlaeW5oSU1CRnpxVUNvL2xNRWRGVWpUZ1hGZEVxQy85NmFqY001aUQwYVBQdmdZVTBjQkNuVytXZWJPVGYvSmpJaW80SHkzejFVaXBsMUZteDJCTHZyT25Sc1BNcjdmcVRZU3U1NytaSGFxS3dvUkVjQ3Bnbi9jZHB4TmNaUFBXb0k3N3IvNjFEajNteEZaaXhadFh2bEU0MmJxV0d2czEzaWFEYkdZV1VwdUlRZjFPdGFkVE0zbCtBVHp5bWM4QjdPOUdjajlsU1h4WGFkdWpJRzNHSngvMExDaUsrUnVjSkpZb2ZQS0p4WnpreE1WMU1jTldnTDUvdTdrRko0WVYrcUhuaEQxeU8vc0RuYkpUaS9tbFU5d0tXY04zVkFUdWVFT3A5U3hXK1pMQkw5YnYzZ1ltTmZGMWR3N0VKZUlnUzAxamFoWGVJS0crT1UrNFZvRWYzamYwT0gwZjdqYWZFVGhtTmJmT1JRcHJzZ3pabDQ3NnROL2hVTllIeEpYM2Y1V0k5REtpdE5QdTlQbXVZcHZFSGhhZWkrSU02N3IxS29xWG1CMkxRWUdQT0RqUTJyRGwwbnRPTEE5NWZMMEpTM2pIUHdYaGZxL0pYc0J5US9haFJnWWVOQWdhSjkxTmFIVGx5VmIxSTE3SXF6Rjg0NGp2Smh3M2JhZGxtamFsMzNyYURoY1hORUZSVlBmMVg3OUQvR1R6T25MYzQ3L1VLai9sM3lmVjhIZTNxYkdHZ2VOUlN6OXpQL1gzZ3lVU2pSS05QODV4MTlLK2JiN29WY05HbURSWG43UTJIY2dmYkNUME9uTDg0My9WU25sV3dac2hUck8zTHY0WThPcGR3QXVzRzF4TjV3YlorV0poY0NHbFBJREgvNVZBam5HWXE5NURsdmdPek9zUE1UaU5ZK0oybExLRDMzNDE0akl4MWlzUDBTcU1jQWUxT3BxODVGR0kvNS9WUUxmOCtGdjFIOEhseThaWFZSbXhmZWc5bGViaitManJsT0tMeHpBL09BZGY2bjZ6L1gvQTUxQS92TTlxTjJnV1FGL2ZXV2MrZitwWk8zLzg4ckhMbnFpVDV0S3l2c0FwdW8vMUIrditPZWJ3TnBraGtDWm1wZGRmbDc1MExJbDdWOVRVcDRvK3pJTHF2N0RHSHBzWjF6a3BtY29qdnQyc0h5YWwxMStYdmtFbFRHcHNLNVUvMkhzT2JGSkFsd2RnRnVZdkI4QXVjelgvTWVldnB5WFhYNWUrV2dnVXZqdnlFVVk0TDl2VXpmcWY2SEQzdDZ6WHpvdHZnVmpkZnJTZzhyMGo3cmRZNEsxWTZkMjFmOC82TEczdCsxM2psTS9Sa2hlUHovbkxXeUt6NER3Z0pNbnhtYVZHMDdXL0FEdXhRZlp5TDhuNVpwWU9jN1A1K2YrdXZGRVU1VTdqYityTDV4OUk1aXUvc0lyOFBjWTJHRGRWTzcrLy9qU2RzVnNER3BSUGs1Zi9qWjdvaEY3RTVzUEhGL0FldVBzVmE5NFY1SDYrdnllOTR1RFJ2My8vU0g3d0N2K0d5YzhQU3JOYXhYeTViME1BUmZZNXlGTDc2YkdhblYwNkZTRnhQQmwwZEF0dU9HeDVSRDF2OWp6YXY4WGxHVXVJUU9vajZzNUIzVDRkZUkxN3d3bk1TYkViZkZyWGcxZWtFY3JWMHVJUGM4RWpLci84SXYyN25KVVZudTE4bkg2VXVEakhNWGZ4ZXppRXV3UjFYdlZ2NENGMkRoSXZ5TVR3WloyU3BNVDlkK0JjbVRMK1ZwRlJ1MllPUUpOdTJUK2psQkIyb0VOTklHaVhHYTh0UmE5TWtSUUxyc1QyNWJuSUlkUi94SFJZMmplR3NtdmZ6eVBTa1BQWFhLM0taZVdMdXFXbUhSeCtsSjRLRHViVGIzdk51Q1N1ZXBIUkhIVmYvNDBzSzBUcURYWEhkZ0VsL0NwTEU4UXJibTdQWkl0UTBGZFlWaHp6UW1FZnN0ZFZzUVh2cHZraGRPaitpZzZSNFc4N0xub2p6T0Frc2laOXpaa3dUZUVtRWllMjBzS3lKN1hnc3l6dW5CTEQ2ekYza05XM3RUNjd3RC9VL01XSDE1WHJtM1hpdzZPK1Y5c3NKdDNIcjF4NDhISGJqSll0NFhiWXFOYk9LSHdtRWNCaUpsRFVMSUxhcGwxd3pQR0JjV05FMVpWY3EzbjIyQVZSZzFUS3pVdzgxZ1FVN3FlOE5SVzJvOVlsdG5uNzVOeDFKeXB0V1dvWHRLZEpwT0huMHBiNGI3bWlnSi9uQmxDTUVjNkZNbHJGTUtKQkxIanJXSWlEUzNoMUR2VmI4WWFRSFdFNmY1ZisvNHJBdXo3My96UGYxSXAxNldKOCt6UDlxWWpOUzcyVjMvM3RULzlsTzVjSXRKUUhTQzltTVJjc3ZqeXR4OTRwWDVLY3IrbWI3QU4rb1kzaWVmeFFqRnRtaURyaU45VlYveWtZQURsWDVaNjM4SWFkYy8rM2dveGZFM3RnOFVXanBvYW9GdkxybDJ5Z3FlbUxCTjBCUDE5a3Jxc3U1WFB3RXdpK2IwbFZ6SENPM1FHc3Z2bk9XTW93b3VFZDRCeWdQWXRkdnFNL1pFVk1NdkRSWUVQbmVraXcyMUJzZTJPT1ROa1VCZjBqd21GanRxNEFEbDBTb0luZWJ0azg0OVR0dVlHSFVNSEN6UHVXRENKWXJUMzJPaElPeDRTOWRqZlJFc2FKZGI2YXc4QUlycVZvNjBMMmsxQy9uejVZMXhleWdvVi9BRDJIZUhCZ0ZxSndxR0tNeURjUUM4aEpQbTlEOW9GckF2clZ6SC8yMkRmU3JyRmFHdTFYc1Y3UUJmWUpTa0htdjZBOW5FU1lWcHYzVEtrUVVJY0N3cndTRGtYalI1Vi81KzFiTk5sYW9wSTNBQjZ4SmhXZlNTajFYZjNvbkVjTlZiSm5tZzJkRy9vS0Qwb0twMXg4ZXdDb0QvTDNnQTVkemd1U1VBNEVlenJxTkVETjBxeHNldjZzUXlXeEtCRjZEbERhNmpoUzV6SDlIVUMvckxWRU5HRGR5WFJCcDF3eHM4SDR6a1pLNTJ1N2cyb2lHWjBxaERzdDFYczlSNWpmMnhTUHVtKzRHRU5yVjJaQ0xQNUdsWmZjd3FOTDg1R3o1KzZieGw2TWUwL0ZYRWdxQk5SSlR4cmdsZzdrU3kwcHpDVkZUL3lIY1orUWRqWVB2SjFJUEliYmltdS9EUFdhZHpPOFBUdk1NWis3bm4zN2V3ZW9HQ1pZWTZvcWpnN2VVNmhZdzB3YUphSGdpNG1mN3ZDTStNUDVNdzlRc0pkWDJucGprQmVqdkdpVFZqT0xGMWlFT0Z1V3lac2k0ZUUrSllrMGUvb3ZQdEM0dEtIZDFrNndPZ3k4S0xzajhIREN0NzhEK3ZSOTRBS3ZXc0NlWHZTTG5KVDRqcTQ2Mjc5YmRPUTIySzNidHlwaTV0bkVIZ2Q1aHFZWnVyN0pzS3NQbDcxRlpkSXNmYXJyajhwRHhDaDh2bklMYWhXVkNaazFLVzFGeEMzYlEwdnZEMXBsN0FlRjVEMzdFRm9QV1NZZWpKcDNRY01lcVlzVmZhQlhNc29XOFBDK0pJY21kbC9ZQ1JVcUN1ZnhRNmROd1Q5cHhPZktRWG1QbXRnRy9pN05MWklWM0FEWi9XZ2gxSDVYTk5hNTFGRStkd24wNThnWG9ha0FHS0g0S0dJaFdyZkRZcWVzYkFXMDlOUk1OYnhibnBNZ2xsYlB1TUNPelVaN3BBSloxZytrL0MzaDVlU0hpd2gweXRoWkRQeXJrb21kRDkxcHNiNVJIbEREenNoQk4xbVdkY1ZRVjRHZVNmZzd4bGVTcnBYWWRhZFJtbUNPSndsckdiVS82dlI5SkZwY3p1eTVEUGd1aXNvMk9zZElVUW40TzhaWHRwYTJiTHNhU0hrRi91S3EydjNGQXZEZFBTRm9TV2ZYYXZZaFlqcWp6TUJmOC93NGhyMXF0ck10RmlBSitUT1Y4QjJaSnhuaWMxalFxcXBYamZJQU9NNHlQQlFKTCtrQmNVa1loUHd4L0NpQ2lBSXRmVHczbGlLNFJldFVBMVQ2L1cvbTRSRXJQZm9ZWFRMSk1URmdhQlR0bVlGSWFRbjROL1dCWkFranBSOTNsM2xDYUdjZ1ZkOHRiY3ArQmhRbEJMa0RJQ2I1U1BSL3JjRjlXSFU5amtCZnd3dnNnQ1M1NVlhMWE5RjdWNEpGalVHcVJMd0Y4bitNQ29jMDJiaWtjK1EvM3VDUkZUeFAwbisyOE1MekovU3FGZGFDdkhQOTdtSW5iMVhFaklHKzJ0SHlPZml6emVlZUYyOGd6Z1MvMXVSN2JnVDJyOFlYcDU1OWV4YnNscmJTcDBZV0ZaalAxc1pDYWtxNmR5M0Z6RVM1STdMWjV5bnVxbk56Z3IvdHBMVGszTUt4MThNTHg5bW96cjdRSkFxU2Z3UkxJZVp5ZlFYR3FNbXBUTzN3cVUwWFRtQ2ZPNlBYbmMreWtaQzhOZWsvQmxhazdJd0RNTHg1OFBMSnZ2Q1htSEFQc3VwckVuNWN5M3E2QjZXOHh6ZUFmWjdqbE9vb1I2bTJpMFFuYlVoWTE4UldMY2tRQU5SejFjc3BUU1VXamorYURsdmRkNEhnWFZadjF0eS9PMWFTbWtvL1VXK1ZPci9reC93RG9DS1NNRmh3YTRuekVvYkV2S3lXR0c0eEI2UG1sYzQvaGhlbmhnMU9hMmVnTHdneDkwR1ArQ1JmU2ZWZnl5NlFGMU9wOGRDRURPSkJlcjZCSWhzaUg0bVRraEV3eWNjL3pib3k2cFVPNXQ3ZkJ5UUJ6eWkwVjlrTEtIK0YzdFlkT2tCcGpRNGdYeVdjb2R2SGRoRkRnVXVvSzlGYi80VDlFOE1MM0pjd1JkTGhLRzZ6TWVYNFhJMGYvNDlBK2E4OUM0NGJzSFhUS0VDdUdBN2tIVFZ5dXpnWGFkWXU0OHNJN3J3OW8vaDVSMUpDSkxvRUw0dDJQZWVaUTlISkw3Z2FFRDkvcVl3UUlCN3VveWFHRitnKzJORnJDZE5rNXZzVnhxUmxSOGtEY2Uvb2UxSi9HVFhYWjVUZi9SQ09xSlVGU1BKdnlvMlYzUUVQdGpGRWRFZVAxMytiZVphdFlmS0pQQ3pqVWRlbjRKSUtQNFlYdlFxTzNyYUxpZGIrTzdvMDlGNzF4U01wQkMxQnRUVm9ndDhjZ2FUYkRaSFJxeDE0azB4UXZFbjFpVXNlTkZ0cHNrV0l5VnFBRjAzenlHOEtUUWJrTlc4OTB4VjZLQW8vNkg0bzlIZlUwUWdmNmloTHdycFJjZmg2aitmdTNCWGh2OUVlcFA4SmRiL2hpdXFwOG9nRkg4TUx6dUtHaGxwcHFLL3dNakcraThPSmt2NW1TZy9rTSt1WFJzVmZCeURlQ2orYlZpWEZNMlMvNU5oTVhLYmF4SmovUmVHZVZkVFNZNEpJcC81VEt3WmpYTHhaZkk1dStHSVBEeTFiVk00TWpSUkZjc21mOUJrWE9uc05OSXdnVUkrWTdvbEhCZDJCelo2NDU2ZVE5UXhUb3RMbFJURHk1N3l0dHlad0RpeW1Rc0h5K2FMdTMyVTJOTzZabWNZUGV5Mm9zS0ZuY1pxQW1Id05jNTVOaVBXekt5OWFxcDZBdm5NdkFiTHJuUVdjK0hUcEZrckdiTXE5QlBUMmNMenVWd2ZCNys4UDhxa0prcHp6NmhDNW4yMmZUVXFNcm1sUU11S3hOaHVHWjBIVldFNjJ4UVpoSTIva0dsNmRvMk5kYTRxTkFYMWhVWUZ5L2RjQmxJeGdRNk1UQ3NiWGRmTk00b25ESDlzejlkekxzNytTUlI2MlltRHRYRGFaSHJXb2VOazJPeVpiUWlEd1BGeHpJVm1KUGN3L0NIVGRsVlVmbExpZ0NSYkFpOW51V0w0aEt3UUZrUVRNcnV2SVcxdW5GRE5ZR1hvanIzUXpFUUp3eDl6cnJzcUprYjZDUnVsRGNtTStQaUkyRFM4b0RDME81Z1hNL2pxWm9BSDlWTWZwUWdYbW9YaGowMjJGVVVUdzR0cnY0cHlsWnFQbGZrSGdHV3FrWEFUcUxLbEo4YUxHZUQ1UXN5MmoyNkVDODNDOEVjSm1vcm1rUmtLeEdJR3N0TXU4Q28xSHl2ekQraDZOQkx3NnphaFpMakJuRmVyVkRCUGFrdXhvWTBSYU5jOEJmdkM4RytiS1VYSHRTU0N6T1NyMUlMem1tL29nS3IveUhxSUN0aExsQVhnZjA4UkJGUmFWVEZaUU9UcCtqR0JIdDhFL0ZWc2J0MGczWXRrakZIT1RISTh0QmY3MkRQU1FUQlNSaGxPa21YSnRPOCtiWjg2azJvRWlSZUd2M3Zhd29Id3BOMExFNE1kbmNrZ2ViVkNrNTd0SDNCYnJZK2I0M1puSStsTkxkZmNlV2lONlZPY0pnNVhnTjM1a3dtMmZXSDQ2NDhKaTNOZi9BUGwyc0hZVWRGK2RMSmQ3Yy9TUDlxSWE1d1JmSEY5OUwxa09lenBvcU45K3EyVGtTNDBDOE4vdzlVNTBiMmFoSFUwSmZjeE1Hc1NkMUZlZnVwNG4yYk9MV1QrUmtwalRPMnZhdmtQaythcEwzV2tDODNDOEFmSGtpZ3U1ckJVaDVKK2dkZm9aZS83c2w1OFFIRUF1RzlUUG80UXdMNUlRMmIyZDdXRUd3WVlmNkpkYUJhR1A2RGRFenpDZU9YS2V4NUFQNllLeTBUbUJ1Q1BmdkxGR2tlYmZmUFBQNkZBL3ZldmlRRDI2LytuQXBMNDA5K0NoS3g3MkVjdjJvVm1ZZmc3RFNWbWdMZXNDSlVKL1pncThrNVlxdnBLTW5WQVRXSXRmZzlFYWo3N1VxNDVOYm14Q1RhVlZ0SlZteEN0aU5FdU5BdkZ2eThsS1ByQjR4YnBHaGx0SUtUOG1xOFZlLzRQUTNZVFgvbTg4ZUNkbTFvdVhHVWovaTNRT3pmcmllN2Rxd210dkZBUGFQNFJMelFMeFg5TlFudmQwL3hoakw3bmdnb2poU1diM0JmbndYTmRsUDFmZ2lSdzZJVm1CcHRRL0F2aUk4K2IzazlOUXVRWXlBZExaeGcxaFovWkI0Q2F6bCt3VWROUEtleENNeEk3Rkg5OEV1WWg1MHJQZTFzVVZmOGhtekluL2tueDB2WitoYkVHT3p2Mlp4TjZvUm1KSG81L3NjUE9HUHNTaWMrOVZQMkhNZlRZOC9wY1BmN0VwMGFmYVFhVU9QeENNNU1nSEgrbjhQSDZJOTh6c2FXUHFQK3d1NmJ4VlJGdmpzdjNIUFZDc3duNEJ4YmNxUDlCVjZrRkpqbDNnVkV2Tkl1RHY2ditCMTZsZHU2Z0RpcHc1QXZONHVCZkM3dEtMWWliOHhmV0ZYTWlLQ2VUREtEOUdPZWk5RXdTQzB6K3E5VE9IOVpCSlc2YzhGQ3NrMHl5emJTbTN6VmsxUCtncTlTQ3VEbDNZZEV2TkZ2Ny9OVGdFUFcvMkR2WDJ2OVk2TXBxcFIrU2VteWMyQytvK2crLzZHbXhpZVV6WWEwaXk5VWhodnJFU2tyVWY1eDNuVGpDSkpidjhoQks5MEl6by80RGtZNjdSclk4OEtUT2FkbG9LQ25zR25UVmYxNE9tTithcVpkbjJUTG9FZndQRTJlK1I2ei9mRE5XSmZFY2xweGdXaGVhS1ZpbzlaL2pmN3JrY0NYT2Z0dmQ1NGpGa2Yya3lXTlNaNnovbnF2VWtzNXJPZW4xVGpYZlVBOEpWanAwdG4vc282a1lDc09WL0RkZ1NGK3FGNXFKbzdSTmsrWHk3VXMzdktma1MvVkNNNGVmWkRPTW96TmtjZmVQWVhBQnZsUXZOSE9jTHAxVGx6MmJuQlpRM0t4bG1lNkZabHpqTnphOVlzUGFGNTAxS0JiQ1Q1bWFuQ2NiUUtmbWthci85bFZxVTVQS1k0S1VMelJ6c1BuSDNkWnRYNldXUnpTbkwxUEtGNXJ4QzJkdUs2N1dNYzhtVjZsTnoyditVcVIrb2RuWXE5VHloMldNRXZFekJuRGJNbWxiUENSNVBvS2Y0cWZ1R3pGNHpIT1N0QzgwNDRjYVhHZGRwZVk0L3c4YmRRMnFCbFc1ZUFBQUFBQkpSVTVFcmtKZ2dnPT0iCn0K"/>
    </extobj>
    <extobj name="334E55B0-647D-440b-865C-3EC943EB4CBC-29">
      <extobjdata type="334E55B0-647D-440b-865C-3EC943EB4CBC" data="ewoJIkltZ1NldHRpbmdKc29uIiA6ICJ7XCJkcGlcIjpcIjYwMFwiLFwiZm9ybWF0XCI6XCJQTkdcIixcInRyYW5zcGFyZW50XCI6dHJ1ZSxcImF1dG9cIjpmYWxzZX0iLAoJIkxhdGV4IiA6ICJYRnNnWEdKbFoybHVlMkZzYVdkdVpXUjlDa1VvYzE5QlhHMXBaRnh0WVhSb2NtMTdZMmh2YjNObFhDQkJmU2tLSmoxY1puSmhZM3RGVzNOZlFWeHRZWFJvWW1aN01YMG9YRzFoZEdoeWJYdGphRzl2YzJWY0lFRjlLVjE5Q250UUtGeHRZWFJvY20xN1kyaHZiM05sWENCQmZTbDlYRndLSmoxY1puSmhZM3RGVzNOZlFWeHRZWFJvWW1aN01YMG9YRzFoZEdoeWJYdGphRzl2YzJWY0lFRjlLVjE5Q250Y2NHbGZlMEpCZlgwS1hHVnVaSHRoYkdsbmJtVmtmU0JjWFE9PSIsCgkiTGF0ZXhJbWdCYXNlNjQiIDogImlWQk9SdzBLR2dvQUFBQU5TVWhFVWdBQUJXUUFBQUdhQkFNQUFBQjZkRmY0QUFBQU1GQk1WRVgvLy84QUFBQUFBQUFBQUFBQUFBQUFBQUFBQUFBQUFBQUFBQUFBQUFBQUFBQUFBQUFBQUFBQUFBQUFBQUFBQUFBdjNhQjdBQUFBRDNSU1RsTUFpYXU3UkNMTjNlOVVtV1l5RUhaMmJVZm9BQUFBQ1hCSVdYTUFBQTdFQUFBT3hBR1ZLdzRiQUFBZ0FFbEVRVlI0QWUxOWZZeHJ4M1hmM1YxeTkrMWJjbmZiMktncnVPQzJnaFUzaGN1WEJvZ1NOUUhwMnE1VkZ5MDN0WnRJY1d4dWxQVEpzT055VWFkNkwwV2N1MjRhdlFmSE5qZklIeW1NMmx6TGRwcHM0bklyb0ttUXhsakNDZXBVUmNxMUUxbHlaWWtidFhCY3dBR2YvT3hkNmtueTlKejVQRE4zdUo4a0wvazA5dy9lbVROblpzNDk5M2ZQbkRrejl6S0t3akYrR3NpL0dZL3krQW1XbWtSQklhbXAvbVFkNXhnZTN6a1o4Nm00NW4vK1ZPenBNZCszUS92T0RrMGh0SmVRUHJzR2hnZlo1cStjWGFxUjFweTdTYnNMa0tYYUdNZjAwQ0E3elZyamVMMzU3VlZYckh6OGZrSUtrQ1hLR010a2pyMDhITGxLM3g1T3UrZHNkWnBkU3JSdzMrR2VUY3NPeFZPeSt3aTVzMnBnV0pDZFpaYUhhTVQ3cVgvMDU0ODgrR0dUSDNHcTQwRmpqbjNRbGlKQTF0Ykh5SE5UZC82QTcxamhnZ3dMc3NYbi9kYzV6MmMzdC95Rkk2RHVNbzlnalFPNzV3QlpXeDhqejFVNFNoSS9ZdUFlRW1TblBPTXZ2L0MwSVZ0amg4a2JNTVZXTEdLQXJLV08wV2ZlL21CZDRQWGFGWDVjRmJtaFFyYkNIUGRRWFhiMmp0K0U3bE96c25ub3ZLVmtNZWY0dXlZTnFRQlpTeDJwWkRLSTByTHUrdjdmZ3F5SXhaN2Z5aTdXa3hPYWZQMUYzVmtpOGFjcFFuWVJMbnc1SVZGVXRYRWNJSnRVMGNncEpXYjdjSTh4ZG9NTGNXN0labUtXakEzTXNyWCtsd2hocE5TczdDeEFkaU1wMmlKYnA4UUFXYXFObE5MZ0dyeEV1ODdXNVowN0wyUXo4REM4UUZ2bTZWMjJtcUFaUW9xUXJRSmtMVVZJcWVyV3BDeEExdHlzdEZMb3dnbXJxaVNvU0R0NFRzaStMWWFXRTVETkgyMUdVNFJzRjhUMW1maGR5ek1Ja0ZVd1NlK004L1JMVnZlemNwSjhIc2grN2RkcTBLNEhzdE5IcjAvVXZhaXh4QnRXSmdaeGU1N0c1eXhQSmtEV282SVJreTdDbmRxMytweGlXengvWnNqT1hZYzJ4Wkd3c20zWnVOV2p5YVFIMlN5TFFlU3lFVVdsNXEyaElrQlc2U1c5OHh6Y3FKYlZmVVpDK015UVhSSnd4ZDhFWkV2OVFseENoUFFnTzhVcUlPK1dwUW1SaWFudERaRDFhR2pFcEE3Y0tMdkxITnZraFBOQjl2RFQwSEFDc3JsakJ2NzBJRHQzT0EzeWJ0aXE0TGt1SFlVQ1pEMGFHakdwd1ppMXd3Nmo1UzB1d3prZ2UrMkIvN2MzNVlQc2pIZFNiaTQ1UGNpMm44Y0lkVElvRjBVZEN1UUFXWE96MGtvMUdiUFhkd0N5ZStlRHJMZ1VMMlE3ZHBRemNkSHBRYmJ3bmFqTzJMY1NFa1hSTkIwckFtUTlHaG94S1U1RUkzUFNVVGl6bFJWWDRJVnMxN2ZBUks0NFBjalcxeU40ZWgwZmlVdVdZV1JyVElBc3VWdnBKSk5oMldoZTdnNFpCbVRqSXhjU0lqQjB2dERvQ0ZTVEE0Y1Y1MS9DamJjN1pFVG9BRmxiTnlua2ttSFphRUVhbFNGQU5rY05sdTlxVTRQc1JZRGxCWURzaWtlcUVoa2FBbVE5Q2hvdGlZWmxGM1o0MzR2U29Sc0NaQy9hMnhtU2w1b2FaQy9BYzRxNnVKR1VLZG9sRG5pQXJFZEJveVhSc0d4bm5mYzlKYWRqUTREc2tuZEtUcTQ0TmNoVzRLTHhaYmRFSUJtRXE1SXdSNEFzdVZ2cEpEdHdtMVRQM1JXZXl2eWlJQXdCc2hXdkZWUDl3emsxeURaeHd5V0VESnlBSHhkdGpzUlVBbVRKM1VvbjJTQjNxU1ljQXlYSUVDQmJzTmJyVlVma25CcGs2MnNnUlFHZTN6MGlqVXhPRXlBSHlDYjFNMklLQkhaVVdEWkxKc1lvUlFLeVQ5OFo5MzY2ZFZJQmZVR3VHcG5JaUhieWo5N05IdjRkalJNQjJjeHYxcTk5djlQUjAzZkZEN3UwS0VwU005OXpsVDMwbVNpNmQwc0wrdlJkZFU5VlhZeUpESCtGc2cyUXRSOWJ6clJnQnFMd1ZvS2x0bFF5TlJPV25hSnI2U0NNQzlrL1pPd3dab2ZsRThycGcyd2lpRFJmQXBTQW9XL0pSamxrRitvTU50WWNidEtPZmc4SXNOUHFiMUJhRkNXcFg2cXpCeDY1bS8zcXZObWU5aWJHcnRYWjRiNWQxYzVOYyt1S2p2MGx1d0J6NE9PMkZEVllXYVdKdE00MExOdHhsbjRjeUU2eG01K0lvbmZHMW83bkkrVDJRQmFXUkZ0V2pWeU5IWHp6bWZ1L3ptN3VDVHBDTmx2N1VDdWFqNjJWcUxleWc4OUgrWC9nYkRwTFV1ZlpMZXpoMlhxc1haQzNNL2JxS1A4WU84U0Nmc2NTOTJGUjVKYzlMTVQyQnNoNjlETlNFcTZySzd0U2V0SHUyb1pzdmlidStTTGRKR0pYc0hNZXlBTEo1bW15Z3pKU25tWHlrMGNJMmZ0dUlYN2h2Wll0TE9MSHRBVGNseTNnZWFpRmcxVlpRVUVXUnZVM0lLbnBEUVp3WnZocDhHdUg5M2lZb3dUT0VKdHdiWUNzVWxsYVo4VFZ2dWo4N2ZJdFJTMktEZGxaSnIvMXMrdXpRN3FTU1hnZ08rTzhkajJqUS9kZjZRa3pDNUROMWpleEViRC9MNm5HOGpXRm1WMFNKZk5RRjNRRXRhZ2cyMlZpV0lDZ0syOVh0V21maStLaXdFMGlpN09hcFdnMnhnVElhcTJrbE1CMzlGclk5OWNlWmVhK0NHRnN5QllscUtKWk5WMFRYSDEvUFpDOVFLYmVXSyttQnYvYzZ5VW1BYkp6Y2pkVjBlRDdKeFJmQkl0MU82cEhEN1hEeXJKVXZVc0FTRjBScEpyN1NFcE9mcEpEVFJmVUlaNGRXZ2dXK29iS0I4Z3FUYVIxWG9KN3BJOFZXd29Mc2hrVldKaXErMEtYZGsyZTgwQjJ5ZDVCQUJ0VTEwWEZodkloQWJMZGZVR3JtS1g5V1BGaEhFcnZEL1JRQzlyeFdKQld0cUdCMy9ZYVVOSFh2SHdRT3FBTDJiMG9FTDlkZy9ZQVdhcVlOTktBQzNQczJ4SllrSjFWODVLUzk4N243YXFZODBDMnFuQXZ1SGYxYkN4V3kwNTE5cTFyc3FtT1JnOUFlMVVTb3ptbXJMMlBHcHRoWFVBV3ZGTzFuZ1ZleUk1cXhUM1BTTnVLZzg2YVd3aWVybmxPQW1TVDZoa3RwUUFCcG0wNDdud1AzS3lXM2JjRjJiWTBkREJmY3dJTFdDa24vRStydmdleUZXdHlBM0NTQmh2akZzTGRxQnVJd1FDd0pScmNWWHlRaGRuVVdsOXFuanhPSmM0R0dKU0dISDBLbFJRTmtOK09GQVJhTndiVmxMZU4zQUd5UmkzcHBHcDZrdk1sZHpadngyV2IwdHNESUhybTFCZVV3MGl1d2dOWk9ubUtJakI3YXBBSHBBaGpDSkJWdUlKOVZaZDRjd0JvWlNraHJ6SStLZ1JRdFFDRk5VdzJ0S25HbWkvcFVpZXhLenN3ejQ3RlVKVlRPQ0FHeUZxYVNTRURXTGtodTIyNlBxcGxaV05wM1B5MnFpbEw2UlY0SUZ1d1FOTTI4Q3dwNHdhUVhaYU5RRngvalNlaElTVWo1TldzekVjRnlPN3pLdkN6dTRZcGVDUmJlTWFqWkh2U2dpaCtTNm9ERU1Uekxia2xNN0lFeUZLOXBaQ21ZZG1HR0pxTkZCWmtGYWFpMTN4NHo3RElGRUJsSTBIMFFMWnBqYnBGUGZKSDl5ay9FeUJibGkwQlpOZDVzcU93eTNOZHllcWpVc3RiV1FGMnVMNGVyNFUvQmVJMmFDSlA1UFVnc2N1STM2eVpsa3pOQUZtdGxYUVNDS3Q5MlhYbEpVY0dCN0ptWnVQd1JUQW5VcE16VXVTQmJORmlnNzUzRlAvdnYxYWtBTExxaWRDUUJSaHRLYjRvYWtzQWU2bFEvWE9TTllQdFFJakxqQjBONGphWTlqQzFvRU8ySFdiTXZPRUprRFc2U0R1bHc3SWdTT09HSTQwRldRRER4eFNZSEQ2MFg5YUlMOHFQZ3l5K0Q3SHFOZ1hkS0pLR2JJbEFHOTkzRmJqM1VndU1zZmNSTWNFZk5pL21WSWlUb0RvUjUxbmRLZmpYMnBrMlBFdkdXd2hXMXFnbGxkUVMzQ0hWY2ZlU1NzbXpCZGthY0I2OHl1SFFqR3BPUk1zOWtDMVJLNHZ2QUZCK25xNmJnVnhERnZoMkRDT0l6T2RLWG1vSHFPenc3N1FVZTFWRklwRFFadHJwVU9YeVhOVkJFSHlPM05FbWdqZHN0SHNSSU92b2J0VFpDbG1nTEM2TDN1ZmwyWTRZZEJFTTdFQ08zN2Fjczg4NzMvdmt4UjdJMXVnOENpQ3BnYURiZ3gxWEtnM2xHNWhHZjN0VEVSRStmQzdrcDJLUUNnKzFSWEtYUGtzZHF4M1RZaFIxYi80VmVkd0JsWlA3ZmdKa3FiYlNUUmZJRFlyTFFwYk9EU21UWldXZmdudUp4ODk2Qk82dStZSzF4MEVXektXR3AyN1VBMW1FWVZrem9OK01YcldmR29rbkMxb1dJSWZzb2Y0emlKcGxyVTJMVVJUamxla2orU0JCbjRvOVdGbWxpWlRPY0JkVmFEUlNkNnF3SW9XeElJdFdqUi83Q1ZGaGEzaHNwdFM2K0FTUVRjN29QSkRGZHNxNlZZUXNJdDFQamViclVzeURQYXhTa0RsNTZyV1FtRGh3QXhjOVdpNUhzTEt1UnRMTHc0MVNOalY2aXhTajNwSUpDN0xSdmZLbUpvZk4yZWNoV0tvQWI2N0ZBMW5MbDYzUzJieXE1b0VzK3J4S0pHQUR5S0xKODFPajZNdFNUUFlSYkxMbzgweXh3RHFtU1B2Z2Q5RDRoT0M3WU1hRFlHVXQxWTA4ZzZaenplbDFVWS9XTm1TamIwZ3dsSjBLMGU0NldqTnUxV2lSQjdKV2tLdDZRc2pDWGdJQ0tRVlpQeFg2ZjdZRS9IaTBJSE15eU02UjV3MGZoUTJvYVIwQnNwWTYwc3dncXBZZEFTN285VmdIc3RISFkyQlB4b0R5QUk1ZEMxV2l4ZU1ndTBTbWZscUdQbGEyckJsdytvVUlRMmdscVp6dG5kK0xZdkpZVmVGRVZyWk5SZzVZRlRHK2t1bzF4R1dWSmxJL1kxaTI3RWl4cXowRkY3SlIvbzNvS1dyblYxYWNnY2huMnpNWjkwRFdXdjBDeUdxRHJtWHdRQmIvS1daVE0wU3ltcDhxMmI3YWhEcUl3MjVTWE5PU1RoWEVQL0NJZkoyR2NpWExrbG1RQ0k2QlZsc3FDYmo5ZWlxc0JJaTNWQ29CV1FnNGxaSTN0TEhCNC91dXRmWnRQaXhRdklOVFNnWmsyYWtIc2hnYnNDR0xDMXArcWhJOWdyL1Z3U3RyZURmeGFDNlppTmNKcGVBUnF4UDJHQkFOcFpxc0pNZm1lYk1pNVlGc0JNYk5ySUJ5MmZPNDd4Q3d2K0plaWNmS050Z0xoZ3U5VVpPVEtROWtjYWplTVl6UUZTNW9lYW41RDJtK0lxOVVwVXNKdXN4SjRCZmt6TkdHN3NvbXkxTlZFNnNOVnRiUnpZaXpCUktXbFYzUEdVUVN5T1phU3JLaUc4NmF4cFVqOEREV0ZJYzZleUJMOXAxR3VIK1ZUcXRFTlE5azhSc3V5NnBSL05xUU1OVStxdnJNS0hEREE3SEZ3d3Q2WWNzMDRhVHdDM0xtd0lqRWlzbnlGTm5uR3lEcjZHYkUyVnJTMWVzYVY5VkFkb0hwaUdiYnRiS1ZqNExRQUpBYnJ1d2V5SGFNdGVMdkkxcm1qZGYzUWJhcE5zNXlqb2FjMGZ1b0dXSWY2N2piRm1SSStzdXVvUGdGT1hPZzJPNjFOSXhERXlCclZKVkdDdTdPeTNhL1dSTGhNWkR0R2lPNlJGR0hkZXM3OEFQMzJXbkkreUtOL2U0WFBEQ0FLblU4dm9jcEgyUXJWdGlwSUkyZ2o1cEJ5eXFQQW9ZTWNKR0F0eXVJWHlCcHhSZEYrQVU1YzJBVjRyN3dndkR1bDlGUHVpbjBCOWRzRVdhSTRkT1F4YnQ0US9LNTN5Njh5QjBKbUF5OVpEZmtoZXljNVZVQTZGU3JVRGN1WXdNK3lJTFhRWjRIQVBvcWN2cW9HZkxBTmZpbEZTMC91RmJHbXU3UkpLMURXWnhjZlE1djJMbzZTeXVQZ2FJdHUvTW1NVW9hc2pnN1g1ZDhWWUlLSkxWNWdBakE3MW9tWDhSZ3hvb1JBT2lNZmN1SXFaZ1BzckRnWWZqZzhjSFpGOTh0azZCbXlJTlRaU3ZBVlRXUzQ1UU5LeVlPNTcraHUzQzFEazlKWDM1NGtjWlJ6WWl6dURsMDArcHowVVJ6OEE1TDg0TmgrMzNKMTlBcFFZaDVBYndPUU1MeG9zVGp5OEl6c2lmYmdSUGd2S2R6ZkJibnQ3SlJpZkFaRjhSRHpVZzRZNnR0TGlpSWJwenpHZTlVYko1TzdxQWlvTnpSQ3RqK0xXd1NqK0RMQ2oyazlMc0VONGRBQ0tRb0VETmxJQXVUS3oxRHFmV3NHbE95SURtWStxd3NnTFJGcnJWZ25vU29MUndMbjVXTllCZlpqcW9HZ05vVWFROFY3TEdXcmlIOEI3cGhSNHdJcWlWMW5uTWdpeUdEUzZxUW4rR0JsSDJlRWJLL1ViYmFPME5tNnNObnFKUitsZXl2RGxpR2lqdWYvbkZHZlZ0dFphZlk0YjdzMnY1M1REQkowb1d0R1ZBcklUMVdGbDV5M1ZIRmNBWXJMNnVEQjduQ0M0amhoWlhaRFU1RGM2elhwMnJhbkh1b0FGblJETlFyaW9mcFBoTWh5OWVYUlh2MmI0RmVNeFRobUdKN3Q5RFRxcXB6Rml0N3NhZXJxMlpPZTE1eWZaWFROcEFTZjN4cHNCM0QzRVQ0aGJMWngrRm1iWm91TkdSejVvNVZ6UkRKR1d2TGdoK2FNaFZGeWdmWmtvRVVNT1ZqZHJnbm1LZUY4Y2FYc2xVN01BWW81RFIwcUFvYVhWRU1TU3BBOWtWWm1wTU9BWkNVbHoycmh3clZBcDZoUlZWSGtIR0p3MUlMckxRWkIrWXNrQzNxQjVOMmZLcDB4d3dmcDZvM1V1Yi8vZGxFZDArS1RhQUoraGtKejhLOSthNnArMmRmaDd5NU44U1hqVXJ2bDJ5NXVuMHpGM3ZQaUtOQWh1UW91bzVISFpwalBaNWNWNzBVbE9FVUJEQ3o4b3VIVGI1WGtEc1QrNUs1YTVDVHFiTi9MYWhGYldSaEFwYWdBajdWTS9la0d1Ny9XSm5aZlB4QjJUSTl2VHVHT2xUVitRSVFWR1hCT1UwOC9ETkFkb2FWYVk5blNsZU4xVGhUL1pGVUtwcGxLTlZmdHU1VHVpbzkxVG43NTQvY2hiZW05MzJmNHErUWlNL0YySk1vYldXakp3L0x2UFY4MDc2WGZLcUN6ZURSTWdJSWd2bTlvWW9xWm9UbnBLYjBacitJdFhQYm4wYVk5KzdaWG8xK2N2dUhzUG92Yi84dTUvc0p5ZmNQTlNTUm5LQUNaSXRpR3BpTDFWUUx2bzk0RXhxSExUTEtvbU5HSGwrNFd3ajVnUjFKZVB6VHNhQThzUDBxeFFTYng0d2RQZ05rYTZhMmJ2SzBpUk5CTnZ0SG43empycXRicDIxN1VQd3dSSzRtMm1wN3RKNWdPaEZoVnR5WXhLLzJHYUVWQTlsODZlQ2JRUGhxa2YyYzNYcUpOTEJwaWdpVkp6VmtsL1FvTFpnek1ldDk1bDN2K0RyN1VjampDcTQ0eXZ4ZjQzaGFqdXFQTWZiYmYzTC9YOGh2eGFxZVhDcDg2eTVULzFncml1NHY4WGdCNTROdmdoLzgzM2ZkMzNSY0dsN1dFUDBaYjBNVDZBRFUxaDVLY3ZyMVYvVjdPalR4OTVTRWNKNTJIbk5TZFBMa2lTQXJoTjg2ZWF1RDVZUlk2SEtpeFhsbnBwQmdPREhoSWgrMjFRM1Q1eDd0MDBBMm1xK3gzaFdvOHNOMkJ3dDZOYlJqaWN1dVgzdm9zandldkhMZHJCalFJWlkzdFZEamZiOFBNL084Mm9OWHI4TkFXdWxkdjNMNThwWHJkUW5aQ05DS3grdHNBUnhxRG5RR3J5WEFaK2JwV0w4WTg2by9ZbGZsdVVZUEJFVUpWMlJob3dmZFhrWlMzZmhNWGFKMng4cWlLK0k3eXJJOU9CV1N3NlVwUEdscUVpQUxabkE5ZVQwRk5kd2xpd1pQSVpDTnNzOWRaUS9mcytsMDB0SHpDcGplcnppRnZtekdjcGFSSS8vb2Uzb1B2TnJINjlEZWZWZjkyajFsaHhqWlZMNlQ2OW52WmRmZSt3bkttSDBPK3ZoTFNqbGR1a1RpSEE1a3N6OTRWU0MyZDBVYzBoU1VkUThaWXFJMThkU0pFMEgyeDdiUkFHeWR1dkVCVmVpUUFKQnBjczZNZDRZNHJCU0ZyTCtQMHBhaXd4TzJwdEpIbmV0Z1FTZnRBQjl0VDh2c1FCYnBGY0NKV2EvSWZoeFJ1Nm9yUEVYd3JvbW5UcHdJc21BQVNpbEN0bXRQaGVRMVprMGc4OVJYZmVvS3gwSlcvVDh6dE96Ynl1WHJzSEFpWSt5cm1SNXRrY2E4UEpERlJjUmxJaDQ0enpwU0J4K3k4NGJXQ1B1SmtpZUVMTTZIdDA3VTRCQ1lhakIxOWpUYjFkNmpwM0RBcEdNaCs1U3hMYkFVKy9KSnV1OFl2L1lrN0dQQk0wZnRoQWV5NEJSaHdNTWM5NUZidCtERVNBelhxVkluaGV4U2VwRE5naHBzUFlncnZHQTl6NmU2NmxNekh3dlo0cFp1RTJiNzJxL1ZSRTlpMmdrWmVGakdqbFNsUG84SHNoMjRWWmJRR2JJVTJCbU0xWnNBeU9JbUs5L0ZMcHdNR1pZR3o1bzVEckx6WkJpQU5jMFRSUit6NUc2ZVZhNVIxMnRTLzlzRDJVYmk1YUthbVNVWGlSOThEc0ZQQ2xtdytGdm42T1k4VmVjUXNodWVGdUtCdUVhZWhwT2s0eUJiVlFFb3JPcDF2Wk50d3ArN3REelVjU2JscmZjd1BKQnQwaGd1djVMQ0xYVkJPYWFUaW5TbTh3UkF0Z3IvZmttbW9lWXlHMnBGMHBDR2xUb0dzdmw0Zy9RTS84dEJjdjJUSFdlWFZIL09jU21ac2dZMkQyVGpoRk5rM25PWU9abUxmK3kxVGdCa0M5OEd5UG9lMERtdjdUMzJrcy9DY0F4azc3VUN4N0RENVVSOTJBQTRVWldVbVRwV2tDTUpXZHpLYzhPV3NhM0huL2FBeHVrSmdHeThYdlNIREJhWldaV3g5VFR3M0pHUXpjRS9IdDlxcVQ2ZmVCUGN0MWMvbzdKSG5mWGkvMUZNNDFSV3NMelJKR1J4bmZtU0xYQlZUMFZMQS9LRHhoK3lzUEpZQVUyVWJVMWdMazhDS01uU2dWS09naXlmSGpJVk1lK0FySGhzbktEL2l1K3FUbEF2TFphc1BhOU1RaGIzMSs3YjBsVmZsdm44Q2NjZXU3b25OLzZRbldLckdPMWI4UWhmSEpremV6UmtyMTIrVWhlYlhDUDRkdzdZRWZEZzFicFBYdmNTTHA0STJHNnQ5UEt6Tk1TVjNCWWpQc1hZc3VWckswZGhrZXlWdEZsT21SdC95RjQ0NUp2ajFaWFQ2NnZZS3FSRkEwNGZCZGx6ZEJYN1hQUnp0RGZrcXJ2cXVSVDlKSzFzQjJ5TEkwTmpYUkxtQnJPUWdDK2tyVHA5K0xQcEJibmEzNDF3ajVEMjRvbDhTNFBTQW1uVG54d1NaS3NEY3UvOFFnK2FtbmZpTmtuSU5oSmhXZm1mWXlCS2UxRDJaZndoMjRSOXEzWFBLNENnaFpsQmpUWEgzdHdoUVhhZWZmRFlyc2VIZ1g3WUFhVktRcGFHWmYrYkVMeTdJczRRaFY2V3FYT2V4aCt5OWJVSUxqY3g0T0IxTHd6S296OVdpVU9DYk5RZDNXcklzZGQ0TEVQVGNXT1NrSTFOV0RZdkEzMkZmZG11ZHdaOWJKOGVockdIYkFhbm9HMkE3R1pTZXRoOTBFcFNoMEVaRm1TbnZOUEtZVnpCK2R0Y2RPTlhDY2pTc095aVhFNTVhMHYwRE03ZCtVWGdMWXc5WlBtMytEQmtjTWx6eGJFYlV2SHdESVNVWXkrKytjMXZMZytrTGF1UlF1SXpIVmJ4T0dVYTFwb2VxT01mdTFNSkdwYWRmZEdXZldwZ095ckdIckw4VzN6NFVyV0s3MUZORkwxQXBod0RTc05XRnpqbzIyQURhbmh4SUx1ZUJ5VE1rYzNrck1VcnZyM09WUWdOeTFZZFpjMzY1aDFQM3huMzFQK1NIZGs1TGV3UDJmeWpkN09IZjJkUE1zdUl3ZHZlMC92QWEybDlmUDNqd2Q3UE9EUXY5WTEzMXcvZlc0NHk1bU1mK09aSXNxcmRmQVdmVmtTTTg5UnlybDEzZWRDdU83amMwQ0FiTlY0YW5KUkRiYWxqTFRWNklZc3ZmcmFrRUlVTld4cjM3VXdzL1VQR0RtRjF1Mnh6SHBmckM5bjVFdlFQTVl1V2FFRkE5akhXcXpQMkM3UlJmTWt1WnV4REN0dWlMRW5OdjRZZGZCODhWRHNOL2NwYXBzUjY4THJRTDlIbUV1a2l0NjdRZzY1R1dOcldOZzFTTU9qazhDQ2JwUjhPR0xUWWcyenZ5NnUwTlM5a093QVl5V1QrY0Z3U0tzbGJOY1Z1ZmlLSzNobWYwamZxQjlrY2ZLYm5tOC9jLzNWMlUyQ1JRL2JIZTJCTmY4TmFpWUpYbWVHL2ZmK3NhQy8zZTZnTmhxL2g1Nzl4cUgyYWJJazl2eG85WFdlL1NIWGhwc1hRWHdCbDJBOEY1MXZ5Mmw2M2laQWZrUVlxeHJETXVBNVBJVEVnNW11SExSUnM4WlFUa242UWJiS0RNcmIzclB5R0NVSTJXLzhja21wMFcxVlJBQzR2ejFnT1I1STZ4ZjZGS2xKeG5WMzJMVVFoT0VDYm9zajNPeTh1dlFxUTNVbVd6NTF3bTEreVpxQU1RUU5nV0tUM0FPWm8xZTZBZk9SVEZzd3krZUdkWGQ4MHhhNU5jMzBnTzZOTjZWZDZpQ3Y4aTZtdCsxN2dOVHZHWVltK29qQUQzeG9vODFMODhWQjMxWDY4YVdWbFlUZkpNcS9SWktKZFhaMG1wb1Z4UlM5cGpkSkZlbnAwRzJPU25RZUtxd0h3RWJsbm52K2Z5YitZNUIrL3R5b1VCYkxnaTg2V2wyengrREo5SUZ0VFVNeTlucTFnUFlSc1hNWVV2a0c2emhPdy9oR0xVc2cyekJqdG9aSzFQdlV1UVZOMUFYQjBua2paT3A2V2hBdUx1NlU4enlKWWFNSWJraWxyQUc2U1BxeUlHTWdGK0xHbGc4L1pDTUpVM1RkTnNabHB6ZzlaZzhxR2hBcEE5ai9KTGlBb3JBSVljMmI1Q2VKUVpkbXdoenBsUEpsZDRSaEFERThDSDZZMmExUWtLOTBRZ1FJTVVzdnVhVEVnMllQMnIwSE0wSCs4aFZZTzZRRnJ3UHBjakhPM1lMcTJiM2MzcTJ4UVNZMjdkbm5mbkIreXUzcnNqK1dHRklEczZ5WEVBRDVLbnFJR0wzNVgvNk95Rnc5MXpxQnlTVUMyYWx6WWtqSFFDVGxMMHJiQ21LTjhZTUlEdUMrVHJFam02NER2UHNkK2dqc1FCcVlCako3ZnM3MjkvY2dQd2gzZ0hvSnBHdUM4WTNLWWFrdVRCU1d1UmNiaVBQNTREeTlrNFpHUXRscGJONENzbmlYcDExckFnYjJrVzkxVm1QSlJPd2F5TXdKNk5XT2d6Y2RSZFdNcWtWY2Q3RUwvU1lNS0J0cFJCRlMwSG5hb1JnOGpydW9obkFlbUFST1d6U2ZpQTlaY2gvZllsTGNXZ080SnVlZndYLy84aHhleU1QbFNYNUtBKzgwblJ3QlpOWUdDZlZVUzBCMERZLzZ2Z3FJWEg3VnRIQVB4Zlhhd2o4cFU0LzhSdHZ6U3djWVhLVGswNm80c1VBV2VyZVZremRjRHIvODRiZFE2MlhhZzlOY0EzRWMxdGJpb1RJM2lCbUMyVkZxY1kybkZqSWRJeXkrd0ZacWxhUzlrMjlyUGpFclNjUVhJNm9pdi91WitRWXNJVFdyLzEwZHRHNEF1Y0NzTFQ2UWVPdUFKMmFJeWtmU00wZ0h3S04rWEZJTlR2MEt6SVoybUJpcDZjSVl2Tis3YmtzQkVlZFdtNkJuUmF6NjhaNWRncm1tR1piZlFDOW1pd2RCOWN1Z0Z5Q3JEQzE2ck1MamdOUkQvRXFaQzNNQjdxUjFqanpQY2M0SEwyMUN5d0JPNHB0TE91YVBjSEJoWWlOK3N1ZnJYMUN3aE1Tb05nSzFTSTJmR3RhbGcwQnhnV3VCeFJRU1BiOE9scWJ3WHNnQ1BIY1h3KzYvbEtZQ3NEaklweUFLTXlBNUs2SVVEMkV1RjZyZVV5UDhFRzJ3U054aUdoaHVxTytlOHk3MFNJS0pUcmMyOFlRcVFOYnBJUFZVekkrZThHaDJWVUVuSTFobjdtSUtFNHRKbitOeUtocHNteW9RUHNnQWgxNHBqWEZiRFNrRVdCbXZpT0NPb1VBUXZGU2VUQjU4bm5ZUEFXeW9MOHlYdEpDaWFQTmQwcHlYaVRCc21yN2RnaWtOcWxCcUFlNnh1MTZJYmFnVlVJRGpJQVFCbkI2OGlCSm9zOUlkRTVJTXMrQjN1UTRLUTNWQnRLc2d1V1pBRnY1TFBsYnhVeEROai8rb1BWQk13YnpMZUR0aG43WFFvQm5IT0dsZTFBVFZhZGluazZrYXFSTmtKQ2RCdU9NNmxBYWxvak5Tc3lmUzBHaEYvVFJKZzdpSlQ2dFRsZlI2SVFWd1I1UmtRd2RUNDZoVDVYMWNFcTl4ekdRR3k2NG9XeStLSzNXNWR6SVg4MUYwdUlGTVNvbXU2cWRvRFBQZVJiNUY5UC8vSERmaHBRbzFsVlVPZkEyU0ZYbFA5bFhjRFIxSjFoK2FrRGNvcm9DWWgrNVNVK1dmMXpUU0oyZWU5YnFCZzhGblpKYzhZN0lQc3JtMGRZL0dRK2FtNDRzcVBYK0Q5WXZZRDZrOGdmdEMyMWtieWlIOUJUbGFFMHdZcEVzbFlEMFdKb3BNU1RQTWhkVFlOU0UwREt2WEN6dEtHSUU2cDZYTVNzanA4dmkvcmsxTjN6Yisrd0ZuNlFKWkVBa1JMUHNnV0VwQkZRK3luUnY5ZXFZTnYzOEVua2g0ZklmS1NaSlh5K055YllHVnREYVdTa3pjTUxKMnlxVkZtVlJBdnFFbEswcGVON3BYQ0toL0MzUGNzVzQxcE1NcVVZTW9IMmFxSnIybG1IMlJockZZU0lWOHN2RzgvTllMdGllTG90WUFYSnBBZXp4UmJzWTRDYWI5dXhTY2tXOTI0SzFiRmtCbTlCaW95WkVSNzdxSVJ3eU1aTVlpaWIwaEVsRGtIK1psOUhyYXZKbnhUeFhBZXlBSUlDYVFVWlAxVUNGUDlIeWtoMWpraFpPTU5KU2NQaXlXdklrRFdLQ2p0Vk1IamY5WjNwRlEreUVZZmp6a2tGS3oxQmV5dTQxaTlwL04yd2dmWkpjL2owc2ZLMHBsK1hUaWJUZHRka0ZUc05mc29GeEhYSWRBeGFDSHR5QVAvdTBvZmJhaFMxam1aRU82elN3MzVORFJRczI4OGlyQ2dQWVhrNmhlVzU5OEk4RWlFaS9JQWpkMysrT2dEV2IyZkFCdkd3d2ZacmozVGg4N3hlZkZUZVNOUi91UEFoRGpFNlZkWjBJNzRoUy9JbVZLUXdJUnlGWmtzU0NoU09LZWtBYmcvTjV5dTUvUlNFOWlvc2xQSXM1bFMwdCtiZ1ZwdEVsRnk2dmtnZTlJZzEyNENzcGVnZFQ5VmRZdi9xZ01YaHFzVk80clc5enhIbnh3MHpCc09LNFRIVmh3U1pIUCt6YkpBRGZ0bGs5b2FGSVdHWlZXYkRiV3hHbS80cHFKYVp6QmU3ckpEWXlPS09pWmdackZEeGdkWjhEdTBRVmY4UGlzTFQ4S0xxaHpPVUdzTFRsN3FVOHVLRVJxSFN0WlNnaXBLbk9FTGN1YkE4REwxUTdBRW10RU5hODZ3WDFhcllwUUpOQ251ellndktRbmc3dTJvTko1ekxaVXJ1ckdCUEFIZHEvWUFBQ0FBU1VSQlZPNDdYUElhSTE3SEIxazBnYnBGMmJJUHNrQWpBUXBFWVJtNHZWVDlsVkY4bFJGSGk3aS9TTEpIT09FWDVNd0JWVlNVVHhIaHliWVV3ZW40dVBjN3RBcFZDK0U4S0EzUXNLeHNjOUU0QXpBZUxwT2VGaGdQSENHbDdWclphYnpMME5vYWxub09IMlJ4ZFhYZjRmVkJGbHhxWXRNQjZIeEc3NlZXakgyOHdDc1Z5R3FhMDVYSjRoZmt6QUZWWE9NUGZaWU5nMHE5SGhqOVI5Z3ZxM1EwK0RQWVJYZVNYeVVoSG5zaTBqV0lYS0oyRDhXcTROc3RNQmpmNkNPakQ3THcyamZkb2Z2NEh0VDFRUmJNR1pFSkJnWnVCTDNVaXZiRElWaUFIbXJWMnFxVGU0TlBQUDRGT1ZNQVZWeC9DQnloVmNNUVVtbHFvSjJNTTVXSVl4ZFRxNGtqc2tMa2t1dnU4Y0FZb09ubFBsZmpoV3pGTkFqVjRqTDgrQ0NMMEVZNGl3Tk11UmpIZmRTS3dmWTg5MTJFUzZ2ckdpT3NTSEMrU0ZxSExLN2VycEJpenVIYVhiczg1RWFuZ1c1aTZuK1JvcTVFNTg2NHhXUmRpbGFsQlVDN3lFZHU0S0F4ZjNvWlhzZ0Mrc3p6a2VHbzhFSVdvTDJ2RzZzcTArK2pWb3h6bk9YR0dKNHpFZzRncnE1dUR4NFQ0bllBR1FOajZ0R1VYRE8wRVZJekpFZXZnWklkUHdJQnV0VENkQ2wrY2EvZ3ZoU3hvVk9DME9hR0Q2WnJMMGdHOStTRkxQQWJxOGk5WWIrVmhZWGpEZDFnUVpsY0g3WENnd21jTnljZWh5WjFRMHNydWhtU2FKREpIWkJ4TkhFdTR3S2Z5cEVxSVptYUJ1RHUyRU01ak8wdEk0MzErVFFZWS9VdWxsclBqTlRJSHUvakw4eW43THVQUkhGNElZdkxaZnVLbzgwTnROZktRamdKQWxiaUFFQkpQUG1vRlhNNTg4Si9nR0YrVGRYTitUM1MyQkU2dHFaN1dMbWorbFF0aFhOYUdzQTRqUnJydVF4WitLb2JFY2I2ZkJyTVovWmwyYnh6QzhYYnJCZ3lkY05EcWpFL1pNRlFhazhpWGtIZUpXSlE2OW9HdDVrR0d6Z1R5N0pSRDdWaUJKZ1dVTTNXeldQMGxJTk4wVTdpSTdwZ21HM3ZGZ0lrVmhoTTloOU9LV2dBREtjWlNhSC9ITnd0T2liT0dBVGd4MWRYbFloVnF4Yk15eVh3Yk1BcmJqejdJWnVIRncvMkJOdTBzTnNkNGtjYTVFQ1FhVjIyVmpBaWVhZ1ZFMEJ0eTdnVWtEWmwzZHFhVEZpbmdxa2o2RVZISzdqU3RtRlZHYmZNYjVUSFRTSy9QTmxmOWROUFRzMTM0ZWJzYS83OFA2MUJma1BuY1ZlSjhUV2pxTVMzb0VKeHJtNWlTWnk3dGl3cXdjMG10V25TRDFsOGdldFhCRnRUYkdVRi9LZ1pHVTZEdG1RYjk3TERWWjZFaDB6MkJka2t0YUlmdWJ3YTduUGF6RDZwSGcvWktEOWwvd0s2dVNVYUYvUXZBY0ZZWms0clVnZWYxaDZQOU1VZWxYODhaUEpMWVphcC9PVkhVOTk5eDk5Q2hMSi91ODNmSWJtRGZ5NEc4Z1lSL0lNb1JCbFBIcFo1azNuM2Yyb1dlOCtJbytDT3FGcUVQcERGTjJEM2tlbUw2RUkvdnYxREtORXZiMzgyeW01L3VnN0ozajNiUUljcFVTeVFuS25SVVNCSkJjZEFYc0FYTmNxK3d0aVBZQnVMbm44U3l0MFpZNC9zOE84akJ4eTU3YnM1QWI2ci9La3lwK0JQM2JQNHBRdlRUeFMxZDVXK0xFU0MvLzFaa2hISkp3LzJFclNURXpoZXhlMnhmZ2xHMFRuZE5DM21Td2ZmaE54WGkrem5EQkZUVmRKQXl5NVN1WDZRemNTczk1bDN2ZVByN0VlQnM2SGErWFprVmtPRkFMRE41ZFovZU9LVHNmaFdyR28xUWEydy9YdDdJR1QyMTdXeGpxTEhHUHVYYjNuaTQ3NVpQL2dXNGxBK3VDWUFlVjkxQTVHTjgyaGFOVE9zODR4MGdZYlYvbG5iTGRyQlEyd21XLy9nV1Z1RGVyK2w3cFo5L3BEVnBEMGl6dGRZN3dvWXZ4KzJlTUJqSUUwUWlGT3VmcENOOE5QeGNMd1BtUnM5K0YvV3kxZXUxeEd5MTY4OUJQL1JlbDA5TTRzeDUvdldLbTAxY3FudDUvRzFCUHpNUEIzcmNleUhLRURMcXNvejgvaFBzSmV2WEswYnlFSzNjRnlCbnZjVi82STFKMVhVc1RuWGREakZGaW43UjUrODQ2NnJXelp4ZERtSUg5azNDN3R1KzV5emdjcFVzVnpiS1B2Y1ZmYndQUzRxRjNTd3ZtUDdGVVNVdnBDRnYrMTRUKytCVnhQV1BzbnNjL0NYSDU5eEN4M3FVOHNRYW5zdTdqMzAyM3VVODkxMzFSLyt1eGFGbGg2Ym5qRXh0bU41Qjgwd2cvNlJPZHdyZys2bUxWK085Ti9nMWJZSVphUkpXRmlDdStFYzh5S080MUFIbWIzZ0xzejZHdTlvVndxaXFpcytqbjRSQXovdjJGRTdKdG83Y3RrNkJxNHlkYmhqQzFGSWpyK0NvY0VyYk5uY284dEJPSEk5MlZ0QmpXZkpvc0ZRcGt4SXFYK0RwUzFWQmxLdXFiUjk3bTlsYmI2eHpIVjE1R0wwNGkzY2NTZWZrOTZFRDZyQ0oxWGZBekRzV1pqTjlIMmVmbXdibmE2dDBjc3NldXlRb0x1UlljNzRXNFk0eUJUNEk4YzJONi85Z2lPMmNrMDBaR01NWjZSNE5BR21lN0wvZHdJTTViLzNDTXBUUjBRejhxVVVJZHQxUTRWYzNxeFpQQnFTUm90cSt0Ty8vYWZNOWlnSXBiN3NaNXhreUdiVG5uM0J6VmZCYW5nM3FNNnNhRjJOTGxlNnlxK21DRmw0dG5xdVBKRHZHZ3ZuS1IwQXFkcHZwRGR0RjdkMEdrSkUycS9WUko2WVpNaGVQSWxEYjEvdVlITkZ0ZCtTTjNzZmhKR1Z6Y1dYUzc5elJHZEw2VUVXZHhmNVJxY0xua25aRVZkdytxS0wvVENvbTVvbmp4SUVNUHNFWENZWnNoMTJTVjl0S2dtd3F4dW1Zd3dkYitsc2g2UTFVU2RTaEN3dVh2cGtXemdXVVZyNnN5WHk5QjBXYnhQVkZ3alo2NzVnK1NSRHR1QXpGdVNpaDUxRWU3VkNPcW5Sc2F4NDVDb0hoSEMyU00xUkptRUxuZldrNmI3am96d1p6WFdPeEhIM0t4OXZrTmJyL1NJTUV3elpmTDlySXRjOTFDVHVyYWRCZ2k3Wk1KZGp0NDdxTzBYSVZnOUJiRFBOTVZJMmpwOGVHZWF6cE9hc0J6elp3cjFXOEExMlppVlprRExCa0ozcU42WDBYK25ncWJqZmJwVTAyNEM4eXM0Y0xWeUtrQzE4RzhUMFBVOXoxTXRSMXpISWM4YjdwS2dlY3I4SFlyVlU3b2szZ1pTdmZrWmw2WG1DSVZ1MVRCeTlxQkdsQVhka3ZzQy80TURLc3UvMjBRTi9pcENOMTR1TzNGTGtSUkwrR0k0R201YTY3RDY0aTYxTlFBY0FpOGVHemNSekV3elpJNk5JbmtzZE9LbnF2Q1ZSQVIwclI2RjB0SitkSG1UaE8yY29aem1wamJ6OUFDWVp6azJaTytJNVhtVFhMbCtwcXpEM2Ziakg1TUdyOVJWUG41TUwyUVg5YjQ2ZXl4b0phWmVHWmFISEJrQmhYL1NjNytlSVNjSFNneXg4NXd3NjkzcVZKNGoxUy9IUGVCck1jc1hrUXJianN4Um4xT1hacXNFQWEwVzd1d2F5aTg1ZWRMZUQ5Q0I3NFJCZXRpZXZtQkRKS3NmSCtnbjNXWklORXJnK1MzMWVaM0loV3pJTFQyZSsrdk5WckR0M0hpQ3NKdDF6Unk0azhNOUNiSjJ2ODdQV2h1K2M0WjVuR2dGVlRTMGRJN1RpTy90NWNSQVB4Y1JDOXVJUmZ0SFpkWHFhbWhpV3RkWXlBTUlxZ3RBKzV0NmtaMlh4TzJjZ3FHL2Yxc3d4UThOcGxOT0h0K0RydHc5dlAvTEVRcmJiYjJ0ZnZ5c2RPQjNEc3Z1a1ZZU3dDaVc2cnpRUk5wNU1EN0wxTmY1QmRCMk5JNUl0YVBFSmNiREpxUUdzQ2s4cVpPZTlFNGpCNnZlWTFqQXMyeUk4Q0dIbHJIaW41SVEzTmNqeTc1eTFRZEpOSW8xTXdqUFhTbElIUyttK2VPNzJPa2V1SzU2NythRTEwUFlGdzRmV203ZGhYUG1rQmJBcG1kMFFCUEFXYVVreW5ScGtMNkxyQXIzYkxvMFVNTFpHamFUVUE2RE1uLytwV0RwR3R3T1FjaGhONUlldjNHUEY3amhoMlNvQVlWblVTbncxeEcwc05jaGV3STBFOE9raDcrSmMwUXRrVi9iejVYOFNIcG56SGZOLyszejFVNnFkZjExS0haTnVHOFlQNE5TbWNXVm5reE9acCsrTWUrLzl2S291SWZzMmVHM3V0WW9tenZsSEgrejlqRU9EOSthUzFEZmVYVDk4YnpuS2ZGalh4N2Yxa2xWMU1VOVVjR0NHalgzZW5YMjdhcFN3NjRUYzdhSUJnQ2pkWFlJZmtsWmJaSmNTUWFSZmgxSTRma1JldklEc1k2d0hrL2Rmb0FyQkY1dGp4ajYwUjRuOGRXZWJtbjhOZk5FQm5vS2RocDZHWmtyOEZlWmZzbXE2bWVMTFNJRzJkRFhDWVgzcWpkQkQ4amJSQU56M0crUlNNRUMvSS9NVmU0MGhpdjQ3ZkxMaFQ1NzRaSTEvRmdLWU9HUi92QWZXOURlc2xTajRmTVQ3OXFJL0srcDVIRy9RUTIydzM0V2kvRGNPOVpzWjJSSjdmalY2dXM1K1VRcmhQWW1odndDeTJnOEZaN1krOWVhdEhvaVRyQUcwcW12a0FocGtzQzFZWU1hUE96UCs3OEw1Ym0rVlYwSEladXVmdzNTTmJxc3FDc0RCTng4bzhKTFVLZll2Uk5mbXp6RjJ4ZGRQb0t0TlVlVDduUmRQVlJWa1Y0OFhZWnZ6aG1zSlEwaE90QWJ3SllSbGN3VzRwS1N4VXJKMmZ1STNVR1FJUFYvRFB3SVFWdmErRjNpeVEwSkxYMUY4RURBcjgxTDg4VkIzVlFCNFdsbFoyQWtscEdrbW5CTGRFSDViWVE5ekdOeFlJMlNabkI3NnhwaGtuNEV5T2cyZ0kxQTIzUlVZKzNjNlY3ZW4zb0NRRlZIMkJmbjVHN1N5Y1puVElMeTdMZ3J4QzJjck10a3c4eU1QTlcrOGFQVXVRVk9oSFRwYmxZMGtUMHZDaGNXZGZ0eXB0VG5na214Q3lOMVdHckREc20rMXRrMERJT20xRnRXeUVscG1idVlBc3Y5SkxqdUFlVmF6dGpuRngrTlFaZG1FaHpwbEhJOWQ4Zm9MdEN5QkQrR0FOZHE1bFc2SVNENDZOYko3V2d4STdvOTJ5aGpTRTZtQkR2bDRldjYvUW9DcnJDOERscEgyZFFaZnRtVXZpU3pDZkJPVEFOblhTNGdCZkJSNmlocThPS2tYTGdUK1VacUN0S2JPR1ZRdUNjaFdqVnRTTWdhYUNDR1NKV2xiSVM3aGVkTUxjRjlPVkFtRTIwWUREYkNyLzV3ZmYvVDdnSUNiNUdhRDRkd2gxd2x3dWlTeUhTYkJESkRWbnErMnp3QnR5UWZjdXdwVFBtckhRSFpHUUs5bURIVERKSWtRUEpsWEhleEMvNnR1S2NacnFkeUo4a0NZYkEwMDRhNmI0OTlRQUZpVEovNEJ5cks0MWlXb3NJbEpnS3lhUU1HK0toa2o3UmdZOHkvOWM4N0lSMjBieDBEOHR3RFlSMldxOFQ4Q1dxSzd4TytDZWs2Z1VXc2dFSnd3T2l3bjZnVENiYU9CR082NlBCNis1eFBXWmNHQ2FNc1F3SFlwZU01QUJZNXRnS3orZjRoWTJkTUNuZjNvV1ptUDJqWUFYZUJXRnVaYzB2ZUk4QXZzVzZaM0t6V2pwbGNveUxwVnhET01yU1NKZ1hLYmFBQm5NRGY2WEF2TXZEa3dSVEdBVCszaGdmODBFZk1mZ0t4ZU9Zc2xvcUZGNGwvQ1ZJaXplcWtkWTQ4elBIeFdZV3hEQ1FNUHpKcEtPK2VPMnE0SzR3RHhrRFZYLzVxYUpTUW1WZ000K2IvVVIzb0E2WjRwZ29GYTRCUklDNTlxOFFLQXJBNHlLY2dDakJTMGdRZHNNd2V3bHdyVmI2a2UvZ2syMkNUQ2dHUTNlQ2ZKbjEwUkN1Wi9xMlhNdk9FTGtEVzZ1UDFTR0piZDczTlpObVFiSG9NR21OT3dVcENGd1ZwRFc0QUtVZW1sZ2lGbEI1OG52ZGVKTXdDVFArMGtFQlpNMW5TbkplT3RFQjZ2dDBES1EzS1NOWUR4cWxhZkN3Q1lJZHJrQVJaUUkwWFJBTEliS3EwZ1M2MHhsRUg3bTNEeVV0RXJZZXhmL1lGcUFsK0kyRmNac00vYTZWQTBjYzRhVjdVQk5WcDJLZVRxUnFwRVdTQk11Z1k2Y00vN1hRTk1oa2hSVE9DcHlBRFpkWldPV1k4bksvWkxoSFV4Ri9KVGQ2RjNPQTVlS3hwQjF4VHh6US9Bc3hyL0ZVbWVGOW4zODM4NWdwOG0xRmgyaWdOa0V3cTVyUWdOLy80OWZvMDJaQUVjR3A1S0JUN0k3dHJXTVJhT3BaK0tLNjc4K0FYZUltWS84QVB5K0VITHdWQTk0aGxIQm5KczBES2VqcFBqUVlJbkVDWlZBMkNtZENUVXZZWUVaTmRjRGg5a0N3bklJdEw5MU9qZksraTlINXRHMzVZZUgzSDdFL2txNWZGNXZNRXg4Q3Z1OXFER3Zsc3VMODN5WmRIUHZPUmVzdyt5OEJEUWFSTjBjQU9xK2FuNGwxVGk2TFdBQ2VaN0hzL1U3VFFxa1BiclZueENzdGFUNDBHaWtVQ1lVQTNnQkFnUjVUMnNpTUdKSVFzZ0pKQ0NUUWE4QXo4Vklnci9SMENXMXpraFpPTU5JMjdUOXkyNUFGbWpvTnN1ZFZSWUZvM2VucmxpZ05hYXlZbFVIeXRMWi9wZ0JqZUFHYURsb1dJcjJVY0IxU0pXaFk1QkMybEhIdkFGT1ZQZWhpcGxreFVwajZRdVM4aFBxZ2FPQ3N2aVN3aXI1c0lBRytzbUoxSSt5SGJ0bWI2czVxZUtWdklmQnliRUlVNi95bTRmaVR4OFFjN1FRSUxrdXE3SGhURTFRbXF5TlhCVVdCWm5RMlZ6ZWZFSmcxeTdDY2hlZ2tiOFZOVTYvRmt3dWc5bzgzY1VyZTk1VG0xMVFBNDB6QnNPSzNnN0t3NHBaRzhiRFhUZ2p2ZTlHRURRcGlrc2VyeGVuNVZ0MjhFcDZHQUxHdkZTbjFwV3pZTVA4aUw0Q01DOHIwaDl6L0FGT1hQQWdvUGxjV0FKTktNYk5wd2hkWHRvb0hGRVdOYlpkd3FzZEZyRnI5OEhXYURwM1YwQ2hXWGc5VkxiTjdRV2kzeGpRbndTKzRoZmtETUhWRkdiWkJUUjJlZXJ5T0Y4VzJpZ2VVUllOb0lCbGxpcmpvZlZCMW53Z01uSEJjQlM4MFV4TDdWaVptUVhlS1dDeDE5TzZCbS9JR2NPcU9LT0U5Qm4yVENFMU8ybGdkaGpPczBWV2pNYldGZ2dVTXg5RHRsOGtBVWJKMVp1ZVR2Z2EzSWo2S1ZXekphdktiNTFzVXAyaHNFdXNEY1lVVXlLZjBIT1pLRUtkVit3QUdaeHE0WWhwRzRyRFJ3WmxzVlh0TmJNNVFMb2lEbWI0d2JTQjFuNG9nR0pqUUhReFRqdW8xWU10dWY1SGtYaDBxbytaNDBSVmlRNFh5U3RReFlua0N1a21ITVFRZTJpa0p0MERlQVUvVkwvaXloWmszRUEzYjdtclhBMzFBdlpDdVdyS2t2dG8xWk1GRGJMalRGTW5FZzRnTGk2dWwrdzdNVFdBeGtEWTF3V3d6SkRHekhra0xvZE5JQWhvdjMrRjlKbEw1UENOZzBuRlZld3hBdFpXT2Zkd0VKK0ZKVEo5VkVySnFTYUUxc2RtdFFOTGEzSVJxeFRnMHp1b0FDakRDOVlEQ0NWY1Rqc2twQ2JlQTBjR1piRnlCU05FUUMrZFhncEoreWpGN0o1OVpvTnFBY0FKZkhrbzFiTUl6RXYvQWNRYUUxcE5lZjNTR01ic3VDOVVCOGJLM2RVbjZxbGNMNTlOTkFCRTNYRTFUamZZeXVaNWRRNUVWaGFJZ2Excm1kZFlJN1Y5QWRjMldYWmdZZGFNZkdwYVFGVmVLdE1JL0lwbmFJaUpyNTVDNGJaOW03aFNiUENZTFIyU0UrNkJycVc3NWk0bWhrREtTeDdrckVQU3A3aVIza0NJSy85U0lNYzhKRFhKVi9CdE9DaFZzeGlWMXZHcFlDMEtldlcxbVRDT2hWTUhVRXZRc2RiRnNzdWNVeXNncENaZUEzZzdLdTMxLzh5cHJUaEZEd2wxbHZscVl1OUZqOERmcFN2Z05PZ0xVNk1vbnZab2VDRENNQ3lwUG1vZ0UvbE5xamhQcWZON0pPK1A5ZksvZ1YwYzBzMExocitFaENNWmVhMElsdlJuWWJFN2FPQi9IOSs1RTY4Mit6bTMvclVYL2E1TEloclVYVGdQaG1PMEZ5TVB1N2oyeitFOVg5NSs3TlJkdnZUZFVqMjd0bHVZVlBaV1BCbGFncVNmaW80QmhMU1g5UW8rNHI4NFBLaXR1aFlWeHk1TzJQc2tSMytmVVhZdnBzVDRMdktueXBMR3I1SHM2UFRJWEg3YUFEZ3A0OFgrMTJXR2FVRngxc1orL0JibnZpbnRadDdrRytvK3QrT01HWXJqazNPQ050Y2J2MkhKejRaaTIvRnF0WVQxQXJidjdmM1RZRDRyMnRqSFVXUHdXZVgzL0xFeDMyemZod1YrS0dXYURVQnFQdXFHOWgyZ09LRjQzYlR3Q0xyWGIveTBPWExWNjVlOTlnemViV0pJUmIrdVIyT0EyN0ZHdEFBMUw5ZVI4aGV2L1lRL0wvd2RlV0lMc2FjOFZ1cmx0cGNhdnQ1ZkMyaGQ5VWU2M0hzQitQZnNxcnl6RHoraXpGSUxEOFZpbHUvb0ZzNDhDTDJGZjhpL2ZTSElvYnpLMFFEbGNSRTV1bTc2Zy8vVFJ1SVhsMWtuNE8vL1BpTVcrUlFjU2RYL3JtNDk5QnY3MUhPZDBNZmY5ZWkwTkpqMHpPczc2aHhiTjNBTU9rYXVKRFkyRGNCVjlReDBkNEprRGFJT0ZnTlRKa1kxV0FiSG1aclhSMjVHR1l2b2UzeDFBQnNteGxQd1k2U0toWXJjMGV4aExMYlZ3TkZOWithbkV2TWh0blg1TnlzSVVoYU5VditRMmg5S0UxZW5FVC9leWlhZUdVMmV0SGFHRE1ST3VnY3RaMXlJcTRnQ0hrZURlVGRYVkxuYVd3MGRRdkJsUjJOb3NlMWw0a0RRSDRTZ3h6amV2Y25VcTQ1dmZnL0llSlBoYWpzaE55cFlZbVptYlRKVERYc2lSa1dGaWFsM1dadlVpUVZjdGJJZjR0TWx1UkIyZ0ZwWUc2eTFwSVc5TDg1RHVqNlF6TVRwNEhzWklXNU91R3JHeE1Ic1lFTDNQQzlIVER3WGdiVllJbnZRUjlVYTZHZGlkVEE0aVF0Z0YyY0xEZG1JZ0V4QVVJWDFEc0FFeUJyMS80dXh3UklIRVFjZ2dhbXlDdUhRMmgra0UzT1Qxb1VlWkFYSDlveUd1aE96QzcvOWkwamRVaTlnalV3UHltcjlubnpBdGdyK0hhRlN3Y04vT1FKWHZZYUIwWGxYemNPVWdRWmdnYUNCb0lHZ2dhQ0JvSUdnZ2FDQm9JR2dnYUNCb0lHZ2dhQ0JvSUdnZ2FDQm9JR2dnYUNCb0lHZ2dhQ0JvSUdnZ2FDQm9JR2dnYUNCb0lHZ2dhQ0JvSUdnZ2FDQm9JR2dnYUNCb0lHZ2dhQ0JvSUdnZ2FDQm9JR2dnYUNCb0lHZ2dhQ0JvSUdnZ2FDQm9JR2dnYUNCb0lHZ2dhQ0JvSUdnZ2FDQm9JR2dnYkdVUVA1TitOUkhrZlJVcElwS0NRbHhaKzAyeHovMy9qdm5KVDlGSHp6UDM4SzVqUlo3OXVodldlSHBoRGFTMGlmWFFQRGcyenpWODR1MVVocnpsbWY4d3lRSGFueXo5RFowQ0E3UFo1Zm1zdHZKNzRtbG8vZlR4UVhJRXVVTVpiSjNMRCtGS3YwN2JHODNtblBuNFBlNTM1SVA4dUc0U21OcFQ0bVVLaGhRWGEyMzU5dC9kUS8rdk5ISHZ4d2FwcnFlTkNZWXgrMDVRbVF0ZlV4OHR6VW5UL2dPMWE0SU1PQ2JQRjUvM1hPODlsTmV0OHAzbVVld1JyT1A0TUZ5UHB2M3Npb0ZZNlN4SThZdUljRTJTblArTXN2T0czSTF0aGhVdkZUenRmcEEyU1RPaG9wNWUwUDFnVmVyMTNoeDFXUkd5cGtLMnpQZjQzWk8zNFR1ay9OeXVhaDgxWlNzdGorbzZVQTJhU0tSazNKSUVyTHV0Zjdmd3V5WW9aeGZpdTdXTCtrRzFhSmZQMklQMVA0MHhRaHV3Z1h2cXlrTk9lcWplTUFXYU9hMUZJbFp2dHdqekYyZ3d0emJzaG1Zcy9mTU04ZTljOWdFRVpLemNyT0FtUTNrbmRoa2ExVFlvQXMxVVpLYVhBTlhxSmRaK3Z5enAwWHNobDRHRjZnTGZQMExsdE4wQXdoUmNoV0FiS1dJcVJVZFd0U0ZpQnJibFphS1hUaGhGVlZFbFNrSFR3blpOOFdROHNKeU9hUE5xTXBRcllMNHZwTS9LN2xHUVRJS3Bpa2Q4WjUraVdyKzFrNVNUNFBaTC8yYXpWbzF3UFo2YVBYSitwZTFGamlEU3NUZzdnOVQrTnpsaWNUSU90UjBZaEpGK0ZPN1Z0OVRyRXRuajh6Wk9ldVE1dmlTRmpadG16YzZ0Rmswb05zbHNVZ2N0bUlvbEx6MWxBUklLdjBrdDU1RG01VXkrbytJeUY4WnNndUNiamlid0t5cFg0aExpRkNlcENkWWhXUWQ4dlNoTWpFMVBZR3lIbzBOR0pTQjI2VTNXV09iWExDK1NCNytHbG9PQUhaM0RFRGYzcVFuVHVjQm5rM2JGWHdYSmVPUWdHeUhnMk5tTlJnek5waEYwVlphWFhQQWRsckQveS92U2tmWkdlOGszSnp5ZWxCdHYwOFJxaDlHM1k2Rk1nQnN1Wm1wWlZxTW1hdjd3Qms5N2d3WjRhc3VCUXZaRHQybEROeDBlbEJ0dkNkcU03WXR4SVNSZEUwSFNzQ1pEMGFHakVwVGtRamM5SlJHQVprdTc0RkpuTEY2VUcydmg3QjArdjRTRnl5RENOYll3Smt5ZDFLSjVrTXkwYnpjbmZJTUNBYkg3bVFFSUdoODRWR1I2Q2FIRGlzT1A4U2JyemRJU05DQjhqYXVra2hsd3pMUmd2U3FBd0Jzamxxc0h4WG14cGtMd0lzTHdCa1Z6eFNsY2pRRUNEclVkQm9TVFFzdTdERCsxNlVEdDBRSUh2UjNzNlF2TlRVSUhzQm5sUFV4WTJrVE5FdWNjQURaRDBLR2kySmhtVTc2N3p2S1RrZEd3SmtsN3hUY25MRnFVRzJBaGVOTDdzbEFza2dYSldFT1FKa3lkMUtKOW1CMjZSNjdxN3dWT1lYQldFSWtLMTRyWmpxSDg2cFFiYUpHeTRoWk9BRS9MaG9jeVNtRWlCTDdsWTZ5UWE1U3pYaEdDaEJoZ0RaZ3JWZXJ6b2k1OVFnVzE4REtRcncvTzRSYVdSeW1nQTVRRGFwbnhGVElMQ2p3ckpaTWpGR0tSS1FmZnJPdVBmVHJaTUs2SXZMMXNoRVJyU1RmL1J1OXZEdmFKd0l5R1orczM3dCs1Mk9ucjRyZnRpbFJWR1Ntdm1lcSt5aHowVFJ2VnRhMEtmdnFudXE2bUpNWlBncmxHMkFyUDNZY3FZRk14QkIwRHE4WVd0cGJ2U1ptZ25MVHRHMWRKREVoZXdmTW5ZWXM4UHlDWVgwUVRZUlJKb3ZBVXJBMExka294eXlDM1VHRzJzT04ybEh2d2NFMkduMU55Z3RpcExVTDlYWkE0L2N6WDUxM214UGV4TmoxK3JzY04rdWF1ZW11WFZGeC82U1hZQTU4SEZiaWhvZ3F6U1IxcG1HWlR2TzBvOEQyU2wyOHhOUjlNN1kydkY4aE53ZXlNS1NhTXVxa2F1eGcyOCtjLy9YMmMwOVFVZklabXNmYWtYenNiVVM5VloyOFBrby93K2NUV2RKNmp5N2hUMDhXNCsxQy9KMnhsNGQ1UjlqaDFqUTcxamlQaXlLL0xLSGhkamVBRm1QZmtaS3duVjFaVmRLTDlwZDI1RE4xOFE5WDZTYlJPd0tkczREV1NEWlBFMTJVRWJLczB4KzhnZ2hlOTh0eEMrODE3S0ZSZnlZbG9EN3NnVThEN1Z3c0NvcktNakNxUDRHSkRXOXdRRE9ERDhOZnUzNE9SaEhDWndoTnVIYUFGbWxzclRPaUt0OTBmbmJYUy9OaHV3c2s5LzYyZlhaSVkvOEhzak9PSzlkeitqUS9WZDZ3c3dDWkxQMVRXd043UDlMcXRWOFRXRm1sMFRKUE5RRkhVRXRLc2gybVJnV0lPaksyMVZ0MnVlaXVDaHdrOGppckdZcG1vMHhBYkphS3lrbDhCMjlGdmI5dFVlWnVTOUNHQnV5UlFtcWFGWk4xd1JYMzE4UFpDK1FxVGZXcTZuQlAvZDZpVW1BN0p6Y1RWVTArUDRKeFJmQll0Mk82dEZEN2JDeUxGWHZFZ0JTVndTcDVqNlNrcE9mNUZEVEJYV0laNGNXZ29XK29mSUJza29UYVoyWDRCN3BZOFdXd29Kc1JnVVdwdXErMEtWZGsrYzhrRjJ5ZHhEQUJ0VjFVYkdoZkVpQWJIZGYwQ3BtYVQ5V2ZCaUgwdnNEUGRTQ2Rqd1dwSlZ0YU9DM3ZRWlU5RFV2SDRRTzZFSjJMd3JFYjllZ1BVQ1dLaWFOTk9EQ0hQdTJCQlprWjlXOHBIVEVuYmZxZXlCYlZiZ1hqTHQ2TmhhclphYzYrOVkxMlVwSG93ZWd2YXFhbm1QSzJ2dW9zUm5XQldUQk8xWHJXZUNGN0toVzNQT010SzA0Nkt5NWhlRHBtdWNrUURhcG50RlNDaEJnMm9ianp2ZkF6V3JaZlZ1UWJVdERCL00xSjdEQUsrWHRxcGp6UUxaaVRXNEFUdEpnWTl4Q3VCdDFBekVZQUxaRXE3dUtEN0l3bTFyclM4MlR4Nm5FMlFDRDBwQ2pUNkdTb2dIeTI1R0NRT3ZHb0pyeXRwRTdRTmFvSloxVVRVOXl2dVRPNXUyNGJGTjZld0JFejV3Nko2Wk0xalY0SUVzblQxRUVaazhOOG9BVVlRd0JzZ3BYc0svcUVtOFFBSzBzSmVSVnhrZUZBS29Xb2JDR3lZWTIxVmp6SlYzcUpIWmxCK2Jac1JpcWNnb0h4QUJaU3pNcFpBQXJOMlMzVGRkSHRheHNMSTJiMzFaZFVITWNjZ2tleUJZczBMUU5QRXZLdUFGa2wyVWJFTmRmNDBsb1NNa0llVFVyODFFQnN2dThDdnpzcm1FS0hza1dudkVvMlo2MElJcmZrdW9BQlBGOFMyN0pqQ3dCc2xSdkthUnBXTFloaG1ZamhRVlpoYW5vTlIvZU15d3ExWlRvVW5rOGV5RGJ0RWJkb2g3NW8vdVVud21RTGN0R0FMTHJQTmxSMk9XNXJtVDFVYW5scmF3QU8xeGZqOWZDbndKeEd6U1JKL0w2aWR0bHhHL1dURXVtWm9DczFrbzZDWVRWdnV5NjhwSWpnd05aTTdOeCtQaUs1a2FDNklGc1VjM2hPRFAwdmFOcS9mNXJSUW9ncTU0SURWbUEwWmJpaTZLMkJMQ1hDdFUvSjFrejJBNkV1TXpZMFNCdWcya1BVd3M2Wk50aHhzd2JuZ0JabzR1MFV6b3NDNEkwYmpqU1dKQUZNSHhNZ2NuaGl5SkFWM0o5NFRqSTR2c1FxMjVUMEkwaWFjaVdDTFNqQ0VERisvSlNDNHl4OXhFeHdSODJMK1pVaUpPZ09oSG5XZDBwK05mYW1UWThTOFpiQ0ZiV3FDV1YxQkxjSWRWeDk1Skt5Yk1GMlJwd0hyeks0VkRaZ205bTQ0RnNpU0liM3dGUURlaHozUXprR3JMQXQ2TVpJaENaejVXODFBNVEyZUhmYVNuMnFvcEVJS0hOdE5PaHl1VzVxb01nK0J5NW8wMEViOWhvOXlKQTF0SGRxTE1Wc2tCWlhCYTl6OHV6SFRIb0loallzemdGQ0FBQUVhRkpSRUZVZ1J5L2JUbjl1L2s5a0szUmVSUkFVZ05CdHdjN3JsUWF5amN3amY3MnBpSWlmUGhjeUUvRklCVWVhb3Zrcm9vdllQMk8xWTVwTVlxNk4vK0tQTzZBeXNsOVB3R3lWRnZwcGd2a0JzVmxJVXZuaHBUSnNySlB3YjNFNDJjOUFzOCtUNXJSNWNkQkZzeWxocWV1NUlFc3dyQ3NHZEFKUWEvYVQ0M0Vrd1V0QzVCRDlsRC9HVVROc3RhbXhTaUs4Y3Iwa1h5UW9FL0ZIcXlzMGtSS1o3aUxLalFhcVR0VldKSENXSkJGcThhUC9hU28zVFhmK3NJSklKdWMwWGtnaSsyVVRhY0FIMFM2bnhyTjE2V1lCM3RZcFNCejh0UnJJVEZ4NEFZdWVyUmNqbUJsWFkya2w0Y2JwV3hxOUJZcFJyMGxFeFprbzN2bFRVME9tL0EyUTJ5aVFQcGlQSkMxZk5rcW5jMnJXaDdJb3MrclJBSTJnQ3lhUEQ4MWlyNHN4V1Fmd1NhTFBzOFVDNnhqaXJRUGZnZU5Ud2krQzJZOENGYldVdDNJTTJnNjE1eGVGL1ZvYlVNMitvWUVROW1wRU0wK0Q5QlFOdG9VZWlCckJibXFKNFFzN0NVZ2tGS1E5Vk9oOTJkTFVzNFdaRTRHMlRraVBENEtHMURUT2dKa0xYV2ttVUZVTFRzQ1hORHJzUTVrbzQvSEhBenJUb1ZvZHgwSFlENFEwNkxqSUx0RXBuNjZYaDhyVzlZTU9QMUNoQ0cwa2xUTzlzN3YxWEtDWE1uNXYybExwdHBrNU1DcHBQYVZGR2VJeXlwTnBIN0dzR3paa1dKWGV3b3VaS1A4RzlGVGRHOW9IbXpncm1VSVJZc2V5RnFyWHdCWmJkQzFEQjdJNGovRmJHb0dESEpoTlQ5VnNuMjFDWFVRaDkya3VLWWxuU3JRTnhEck5KUXJXWmJNZ2tSd0RMVGFVa25BN2RkVFlTVkF2S1ZTQ2NoQ3dLbVV2S0V6RUt4dlc2Z1NEWGdnVzZCNEI2ZVVETWl5VXc5a01UWmdReFlYdFB4VUpYb0VmNnVEVjlid2J1TFJYRElScnhOS3dTTldKK3d4SUJwS05WbEpqczN6WmtYS0ExazBibVlGVk1qZTJPQWh6MlgzU2p5UWJZaFZBTUdKM3FoYkJ6NStvUzB2UUJwYTVxdkJ6bElDTG1qaEFMNkR4ZUtBaHcrbytRK3BQSHF4VUZ5bFN3bTZ6RW5nRitUTUFVOWZZdVNwbWxodHNMSkdWV21rQ3NsNDZweEJKSUZzcnFYRUs3cXhnVHp1T3dURXJDZ09kZlpBbHV3N2pYRC9LcDFXaVdvZXlPSTNYTWp6QUNqa3JvbVBxajR6Q20zQkE3SEZ3d3Q2WVV2SmxUampGK1RNQVU5SzRscklQdDhBV2FPcU5GSzFwS3ZYTmE2cWdld0MweEhOdG10bHB4RVQ0QlN2dVJmZ2dXekhXQ3YrUHFKbDNuaDlIMlNiYXVNczUyaEk0K3VqWm9oOXJPTnVXNUJCVzIxWFBwM0hMOGlaQThXK1liSTgxVEFPVFlDc281c1JaK0h1dkd4M21TVVJIZ1BacmtIa0VrVWQxcTE4Rkg3QXBybTNtUWY3cVNNQWJQYTdYL0RBQUtyVThmZ2VwbnlRclZoaHA0STBnajVxQmkyclBBcTR2UVVYQ1hpN2d2Z0ZrbFo4Y0FYZk5XbFI1UVZLZ0hSNDk4dFJTR3BaOUFmWDdONW5pT0hUa01VYmYwUHlKYjVkV04rQkVqQk5EdmE5KzJYbkxLOENRS2RhaFNiaU12YmdneXlZY05JNEFIMFZPWDNVREhuZ0d2elNpcGJIV3l0alRmZG9rdGFoTEU0dTVZVTNiRjJkcFpYSFFOR1czWG1UR0NVTldaeWRyMHUrS2tFRmtpNXkzeGM0RXZGUGoyTXdZOFVJQUhUR3ZtWEVWTXdIV1Zqd01IencrTUE4Q3c0Zk5VT2txTElWNEtvYXlYSEtoaFVUaC9QZjBGMjRXb2VucEM4L3ZFampxR2JFV2R3Y3VtbjF1V2lpT1hpSHBmbkJzUDIrNUd2b2xDQzBlVXdUN0xVN21Qb2NBM2hHOWt4L1VLbW5jOXdsOWx2WnFFVDRqRDMzVURNU3p0aHFtd3NLb2h2bmZNWTdGWnVua3p1b0NDaDN0QUsyZnd1YnhDUDRza0lQS2YwdXdjMGhFQUlwQ3NSTUdjaUNwNnBuS0xXZVhTUGVSK0hoRFJheWdvUVVyMk1BSUczeE12RlRNRTlDMUJaVzJtZGxJOWhGdHFPcUFhQTJSZHBEQmN1cnBXc0kvNEh1ZmhDUGwycEpuZWNjeUdMSTRKSXE1R2U0T3RsbmdLeWxtTkZuS3U1OCtzY1o5VzIxbFoxaWgvdFNPdnZmTVFHWEVzdEovODluWmVFbDF4MXltV0RsdFRzUnIvQUNZbmhoWlhaRE1BUFM5ZnBVVFQ4YkhpcEFWalFEOVlwQ3N2dE1oQ3hmWHhidDJiOEZlczFRaEdPSzdkMUNUNnVxVHJDeVNoT3BuR0Z1SXZ4QzJmdmpjTE0yalNRYXNqbHp4NnBtaU9TTVZZbTVtckhEcWdHUEx3dEQvSW9xaG5NK1pvZDdJajh0akRlK2xLMFlZQXhReUdub1VCVTB1cUlZa2xTQTdJdXlOQ2NkQWlBcGwyVldEeFdxQlR4RGk2cU9JT01TaDZVV1dHa3pEa3lBTEZYZXFOUFB3cjM1cnVuMHo3NE9lWE52aUM4YmxkNHYyWEoxKzJaR05XbTRBUDJtcGVnNkhuVm9qdlY0Y2wyVkZaVGhGQVF3cy9LTGgwMitWNUJiNW4zSjNEWEl5ZFRadnhiVW9qYXlNQUZMVUFHZjZwbDdVZzMzZjZ6TWJENytvR3labnQ0ZFE1M1BFa3ErQUFSVldkQ25pWWNmSUV0ME5kSms5czhmdVF0dlRlLzdQc1ZmSVJHZmk3RTlVbTFsb3ljUHkxeTZmTk8rbDlGaTd4bHhGSWdYaVIrNXNJOGI2dG9xWm9UbnBLYjBacitJUG01dSs5TUk4OTQ5MjZ2UlQyNy9FRGJ4eTl1L3kvbCtRdkw5UXcxSkpDZW9BTm1pOEtsenNacHF3ZmNSYjBMakVGeFZGaDB6OHZqQzNVTFFEK3hJd3VPZmpnWGxnZTFYS1NiWVBHYnNjSUNzVnN1SUU3UGl4aVIrdGM4SThoakk1a3NIM3dUQ1Y0dnM1Mnc1cTZTQmxpa2lWSjdVa0YzU283Umd6c1NzOTVsM3ZlUHI3RWNoanl1NDRpanpmNDNqYVRtcVA4YlliLy9KL1g4aHZ4V3JlbktwOEsyN1RQMWpyU2k2djhUakJad1B2Z2wrOEgvZmRYL1RjV2w0V1VQMFo3d05UYUFEVUZ0N0tHSDZwVlEvK3ZORlBteXJHNmJQdldVaWlvRnNORjlqdlN0UTVZZEpNU1pMdXFabC90ajFhdzlkbHNlRFY2NmJGUU02eFBLbUZtcThoZmRoWnA1WGUvRHFkUWFRN1YyL2N2bnlsZXQxNVlnQ1d2RjRIYStsZnh4cURnWUJlQzBCUGpOUHgvckZtRmY5RVYzTEpCbzlFQlFsWEpHMFJnKzZ2WXlrdXZHWnVtU0NGcXlzMGQ3NHBRaGtvK3h6VjluRDkydzZRaTdvQmZ5TzQvNDVqQ3Fic1p4bHBPWWZmVS92Z1ZlcjhpUE83NzZyZnUyZXNzdGdVL2xPcm1lL2wxMTc3eWNvWS9ZNTZPTXZLZVYwNlJLSmN3VEluazUzbytXbWtQWDMzSkh4QXY2cTlvcWZ4NmJXd1lKTzJnRmhqRDB0YzRDc1ZzVVlKbzZIYkdsTGlRMis4WnBLSDNVdTZDSDRLSzd4S2x1a01hOEEyZkc2T2JZMHgwSlcvYVU0VlBOdDViSmJFN21POFd0OXhXTkptMk42TUFuVHI3RzhRMXFvWXlIN2xGbStoOTBETCt1S1J5U21uWkRCRWF4alUxU2xBMGl3c21Oelh6eUNIQXZaNHBhdUJRRXFZb28wT1pISUpsZkpFanpqUm1oUy96dEFkdHh1RDVYbk9Nak9rNlV5V0lZMzRYYmFpSnR1NHFMQlJCMTU2ejJNQU5seHZubkhRYmFxWXFaNEVmYkNXZi9MNmppN3BQcHpqa3ZKbERWK0JNaU95MzN4eVhFTVpQUHhCcWtGZnlWRGN2MlROZ0Q2ODQxUFNjY0tjZ1RJanMrZFNVcHlER1R2TlZ2MW9TNXN5a3EyNEtQb3hYOWY0VGpTQ2lRcUd5SUc0M2lIakV4SFFqWUhmOUo5cTZXWW4zZ1RySW0rK2htVlBlcGNvWk9ab3hqSHBDeHJPK25CeW83SmZmR0tjUlJrOGJVeE9GWkZ4UTdQTUh0bm9iZE4zRUc5MGFka1BNbXpOTVFWck94NDNpUWwxZEdRdlhiNVNsM3N5NDdnRDJWZ0U4dURWK3NycXVwUjU5alpjbnNVN3hpVTdhcUxGTElFS3pzRzk2U3ZDRWRCdG0rbDR3dXFFeFhteXBQWEhmSGFBbVNQdjhQcGNRd0pzdlBzZytsZDA2bDdwaDkyd01vQnNxZFc0UWdyREFteVVkZjdEdFlJTCt3MFhUVWROeVpBOWpUYUd6WHZzQ0E3WlFVNlIzMVZwK3R2MFYzNUNKQTluUUpIeTUxakw3NzV6Vzh1RDc3VFF1S2JCNFB2WTBBdE5xd0ZFbERIUDNiZVhodFFQNkdaZ1dnQTlnM0FRZDhHRzBpeitBWHVuUUcxTk94bWN0WUxZL0J4cGVFb1pOaVg4WXBwZjJpUWpSb24ydlUxQm9ydW1CZkFRSm9BMlRHNEpVZUtNRHpJWnVtSEE0NlVJZVhDTDh1MUVpRkdnR3pLdHlOMEh6UVFOQkEwRURRUU5CQTBFRFFRTkJBME1CNGErQnJFRFAzSFc4WkR3Q0JGMElDbGdiei9nMFU4a0xodmNZWk0wTUJZYUFBL1U5bnZ1RFFXRWdZaGdnWnNEYnkrSDJEWllkbm1ETG1nZ2FDQm9JR2dnYUNCb0lHZ2dhQ0JvSUdnZ2FDQm9JR1JhYUR2WEMwVW5GQURJN3RWb1NPaGdSUGVsOERXVndNQlNTUFdRTjg3RVFwT3FJRVIzN0RRM1FudlMyRHJxNEdBb2FDQm9JR2dnYUNCb0lHZ2dhQ0JvSUdnZ2FDQlY2d0djdjdOc2tBTisyVmZzYUFZNndzUCsyWEgrdllFNFpJYUNQdGxrem9KbFBIV1FOZ3ZPOTczSjBnWE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BFRFFRTkJBMGtJSUdmdXc5em4vQS9Yd0tRb1F1Z3daT3JJRXZPNEJsckhmaXVvRXhhR0QwR3NqV0U1QmxvNWNpOUJnMGNHSU5WSktJZmY3RWxRTmowTURJTlpBRHhGNTc2SEo4Y0JrTzlqRCtQckE1Y2lsQ2gwRURKOWJBVSt6bWZ3SG0zVFdzVWR2QjMzQUVEWXl6Qm1xSFpSU3Z0SXkvcklXLzRRZ2FHR01OTExKTFhEcFdobFB1TFBPdXZURyt1aURhYmFpQjZrMStVUmtPMW9VelJMZisrSVhiVUN2aGtzWllBNlYxTHR6RkF6eE5DL3dxY1hNay9OVjc2Szhyc24ydWY4dk9oMXpRd0ZBMWtHR3J2UDBMUEs0MVowZTNuTC9pdmVWekFTNHlEdmFoQ2hrYUR4b3dHcGlXdzNyNzIwaGJldEdVWUNyL1UxM0dQdnNNSHUvNGE0dzVwWnkzSFpiS2JKMkYzSkExa0JkR05pcmN3STRxQ2IrMHcvU01ETkM3bkpRbVpzeG5mSk9NZ1JJME1GQU4xTmV3dVM2M3RiVGhpaG4zRnhsTElEcWFnb1dJRnEwUTBrRURJOUZBUmhqUTRrdHVid1ZtM052WTR3TzBBYktiYnFXUUR4b1l1Z1l1OHJCc0ZIL0g3YW5Hak9IZFpZS0w4dFFLWG5lQnNvUjAwTUFRTkxERVBkWThlOWx0bXpIdTVISXlXTlI5cDN6eFlJbXhGWWNZc2tFRHc5ZEFnMGVxTWdTZm9rOEljNjNwM3F0Smcxcjl6aHpsMEt3aEVUUXdaQTJVdU1lNm1JQXN6SzVNbEtEQzJJNGpSMjE1bXJFTmh4aXlRUU5EMTBCZWVLd1hFNUNkcGU0cnVLMnJ0aWdMaHhneVNIZ1RObFBJQlEwTVhnTlRBcXN6Q2NpQ3AycDZxNXVBbHlSMlhvb1dHRXVFR1V5VmtBb2FHSTRHTGdpUGRTNWhNRWxZTm9LNHJBdk8waFpzL3ZKRWE0Y2paV2cxYUVCcllGZDRyRXNKVE5Ld0xBUU1IRmQySGpaKzVSbUozT29HUXlKb1lMZ2FxSW1BNnhJSndvb09TVmdXdG5XNWV3eWV3dFV3eHNKV3J1SGVuZEI2VWdNd3VITmloMzNYS1NSaDJRYnJsWjNTNGdvUWFna1AxK0VLMmFDQmdXdGdtb2w5c2gzWFlKS3c3RDlqN0ExT3g1bmVIbENLZElibWNJUnMwTUJ3TktDc2E5VTFtRG9zbS85MXhsN25kbjZCT3dvUStrTGtoaU5vWUlRYUtNaHBWOGMxbUJDV2ZlLzI5dllqZDhYczMyNG1CR3BlUXRKdTJNcVYwRXdnREZzRGRibUFCWkF0VzMxQldGWWQ3MDFBTmljV0ZpQ1FrQ2l5R2dtWm9JRkJhd0JXQTFaNG00RFFMYXR4SFpiTnY0Mnh6MWxGVVRRbjVtcUE4MlduSkdTREJvYXJBZGpaSXV3a0pEYXNya2hZOWs4VFVkbkNHdWNGbks5WWxVSW1hR0RZR3Fpb0NkU011NzVGd3JJUXpMSWpZRm41TmdMNHUydkRsakMwSHpSZ2FhQ2tBZ1VRSUxobGxaQ3diRlJWdGxoeXpNclhGV0FyMXcyclVzZ0VEUXhaQTFuOTZpeUVZUTlwWnlRc0M5ODRjTHlHN2tmNW03ZlBmQ2xzNWFJNkMra1JhQUJtWDhwTU1ybW1JSHZWWVZuTXc2NFk4MDVORkFIUTllSHVsaG1CMEtHTFY3SUd3SmJ1eSt0dldxaU13TGN0YTgwQW0zbHpNY0l5ZlNSZnZOVzFRaUpvWUFnYWVNMHZxVWIvOUtDc2tuaUdZSURKQW1TcG83dTdMb3ZDVmk2am81QktXd050TlM5RFFjQi9JQ0dEdlBsNlFkM2RtWkMyMktIL1Y2NEd1dFFWdUdqNXNqUEc0b2F0WEs5Y2hJemRsWmVvYXd0ZXdvYVJzS0g4Z3JDVnl5Z2xwRkxYZ0FrbGdDaGRNMHVEZHhIcVpTMGRGT3pwVEVnRURhU29BZGo1dmFhN2g2QVdpZGxPRzc4Z2FvU3RYRnBMSVpHdUJpQVN1NndsZUpJeDh2V2p4b1l1aU5xSjNRZW1MS1NDQmthcEFScVd6ZGRvakRaTDl4c3VVV1NQVXI3UVY5Q0Fvd0hBb25aUzcyWHNJNmI0U2ZxZkNoZkNWaTZqbVpCS1ZRTU40NzIrQ2Q2ajFmQ05NblhpMWthd1pYRTlWVGxENTBFRFhBTlAvSzg2TzNnWGJuMTU0bi84UjVoN2JXcTkvRTl3RW41WDVmTHZLTUZLN3JzTW5sVkJPQWNOakZZRFRiMkRnQ2R1bG5YM1hVNlFjekZZcnVVSDlSUTBaMGdFRFl4UUEwV0pSVHoxUHZBcTBuTzM5OUNEVjlsSEJTVmI3OEVmNEY2NW52TG5OLzQveUFaMFZrY1FNaG9BQUFBQVNVVk9SSzVDWUlJPSIKfQo="/>
    </extobj>
    <extobj name="334E55B0-647D-440b-865C-3EC943EB4CBC-30">
      <extobjdata type="334E55B0-647D-440b-865C-3EC943EB4CBC" data="ewoJIkltZ1NldHRpbmdKc29uIiA6ICJ7XCJkcGlcIjpcIjYwMFwiLFwiZm9ybWF0XCI6XCJQTkdcIixcInRyYW5zcGFyZW50XCI6dHJ1ZSxcImF1dG9cIjpmYWxzZX0iLAoJIkxhdGV4IiA6ICJYRnNnWEcxaGRHaGlabnN4ZlNoY2JXRjBhSEp0ZTJOb2IyOXpaWDFjSUVFcFBWeHNaV1owWEh0Y1ltVm5hVzU3WVhKeVlYbDllMnhzZlRFc0pseHRZWFJvY20xN1EyaHZiM05sZlZ3Z1FWeGNNQ3dtWEcxaGRHaHliWHRQZEdobGNuZHBjMlY5WEdWdVpIdGhjbkpoZVgxY2NtbG5hSFF1SUZ4ZCIsCgkiTGF0ZXhJbWdCYXNlNjQiIDogImlWQk9SdzBLR2dvQUFBQU5TVWhFVWdBQUJBa0FBQURIQkFNQUFBQ0poQmRsQUFBQU1GQk1WRVgvLy84QUFBQUFBQUFBQUFBQUFBQUFBQUFBQUFBQUFBQUFBQUFBQUFBQUFBQUFBQUFBQUFBQUFBQUFBQUFBQUFBdjNhQjdBQUFBRDNSU1RsTUFkdSs3Uk4xVW1SQXlpYzJySW1hcVk5TjVBQUFBQ1hCSVdYTUFBQTdFQUFBT3hBR1ZLdzRiQUFBZ0FFbEVRVlI0QWUxOWZXeGsxM1hmNHk2WE85emxGOXkwVGRxZ3BEZmQrQ3YyRUEwRWZ3SXpsZXMwU09NT3ZhNWFCM0x6eGdtQ09IV1IyY2FPMS9YWHpHNHFHNGhrRGVHNmRnQXJHS0p1b0g3QUdGYXU0aVJTTTVNb2d0TEt5YkNiUm5aYndFT29mNlN0WFhETkRidVN1Tkx0Nzl6dis5Nlo0WEE0WEE2NTcvMHg3OTV6enozM3ZuTi85OXh6UCthOUtNcXVBVFR3U1A2MUEzQmxMQ2RhQTE4VzRzVVQvWURadysydGdUOFJHUXIyMXRJSjU1Z0FDTVRsRS82UTJlUDExOEIwREJEOGRuK2VMUFdrYTJBTElQamhrLzZRMmZQMTE4QU1RUEJTZjVZczljUnJvQVVVRkUvOFUyWVAyRmNERHdJRS83QXZSNVo0OGpVUUMzR3pkc0llYy9yakoreUJEdnR4VHNNVUxCOTJJWGRhZmpjYjR2YW44cW9RTzdYOVpiSGN1WC8wZEg3Ny9vL3E3TDlFOVAvMlkzL2xrNCsveG5JY1VhQWdObytvNU9OWjdDUk13YkE3Q0ZkYnlJenJacEdlZlU3VW9taEtFbTVSL0FndjFHTHRDSXMvZmtXZlFiTVZoNnYyUDZjV2YrOHpiOCtMM1ZWSTZJcU5jVUhCS1NIYXd6M1RYWnFyS2NSdC90R25MNkJWKzF5MDkzRHJ4OEV3L1J2aWU3aTFDQVd6ajM2Q3lIMnkzWWtrUE5UeW5Tam5wSlNSUTV1OXdEOU1TWlQ1QkVVOWg1eS9xUmwrUnJ3bHdsNkVRczJ2SERrS1psRzFsWDUxejlKQ0RWQmJyb1VrSGZ1czZJdUMyVmlJTjltTXpaMk5ya0VCMnVDSWJRRk5lNVpzM2JMQW5ockFDRXBPWGZxNm11K1BBdXc5M0hZWnA4VHJXZ1lGMFpHam9JU0h1cEYrcEl6U1N3TlEyRTBtYmZaL1FwSDliQUh0Ulc5NkdUOVAvR3BFT0hvVXhLaExqMkhPcTNJV3RCcW9DdkdLamVqQTFKVjdvRVpjNVdTS2l6ZUYrSDh1RmtVMDRUUW95Qi94aUNCUFMyUW5wL3ptMlNNY0MvRnlrdVVzR25UN3E2MStLRWlhZ2loYVJDWnRDNDRhQmZWYnFQdWZKNThxaS9mVUFFMFJscEtwWnkvZS8rbFZUUHo2MklKS2F1d25qMnhNVU5CNW9jQll1T1JUWm5HcmdXbTAzYnFOQllGK0tHQ21Za1FhRHhSTWlzMXFkbUFpYU1zOUlqU2N0M21lZmlpZ0JjZlZSRFpvZmp4UWNHWW5ndGR5eEpQVmhITEdPMHJML20yK2l2MVFnQlpQelN6cTQ0S0N4UmVqTGFaKy9GTm1WR2lBVUhDWjEwUWZGSkQxVC9uZzhDbkh3aGJrQU91U0VMdjhVMlZVUmdPRWdqV0dEbElmRkpBbnVKek1CUmRqTEZBd2cxV3dCaVk1eWZwbDhaNGFtRU43THZDcGZWQUFKVFB6aDNnOFVOREF6aFpHSjhFL1ZVWmxOREFjQ2dxc2twdmpnWUxXU2hUTm80STE1bkV6RXF1Qm9WQkFic0h0dExqU1dLQmdqazVMME82SUhwN1M5Y3dvU1EwTWhRTGFoMHd0TzFNSEhBZS80QnJoOHdCSFo1SWF1aHZpUTZHQWRKeGFkaWJWandNS3FyU05STzdyNXQzUWZxTjV4cUZRMElXT2w5TGx6NFFvbVB4RS91TGJWa08yaDUrTjM1Q2tSVkdhT3ZtVlMrTCtqMFRSdlpkdC9vZWZ6VE5aYmJJSlRFdG5sLzV0dFdCSTJYMHZEUXlGQXF6SmNNdk9jOFl0bDd0SmMzbHhBYWVieTM0TnZnTUM1bkQvMnFkRlVacjZxM254NUNmdkVXK2FjdlBSZHdweE1TOTI5bXphOHpza25NWXNCNkN3dUN5VzBzQlFLT2hBeCsyVXFDajMxelNOVUREYmV2MXFOQlVIWHVTN3hPNy9pbkkvbWVpbWFlcVV1TFVLVVZmenNRVWJ6amgrTmNvOUwzWW9vZCsxSmZjU2FjdXozWTh0Uy9NMU1CUUtZdWg0elplU0NCTUtydCtxZ1hyZTc1SXp1ZzBmQ3RxU29UWjNONlJFMlBWMUpSclYvRU1LVmNORERTclIvODNsMnhTbHhUQ2QxVS9Od3J3R2hrSUJWTnpYOXdJS1p2TmxLaEFiMTNhbE9kY3kzWFBMMi94bnFIUDI1R2pITk9XaWVFbldINnZVVXE2TWNEOW5sVzlDVzZVclhIcEc0elF3REFwb3VhQnZZd0FGWi9RaGo0NlE0elFWL2FkMmRFQlAzVFNWWWFoMSsvK0lNeG9GYVB5Mnl0RGlKaWRHRnU1ZE9oS1A4L0NvNFEwWnluNEcwTUF3S0tDT1podUtLd01vV0Z4UUNTVzNlaE83M3RsMHhvQ2hObzJYaVg4N0tiTmVzVmhxN0xGTDFOSVdJRU1CMXpDOWFNT2dRQjR4WE8wbEVmUzh1SDFSSjlldEs0aEJmc1BrT1NPMmF5ck1VV08zSGFoUWdKNXR6amhpSVdEVFNHSHVVd2FkUUFHem9zSGt5RWpRd0RBb0lOY3JkY2JFMTJiZXRkcThkUSszdkJNSktGVjFjaHdFY09jVU5EWG5kZmVDWklPUHVhTGxvMndUOUVzMDRWTkdXcHdkUERRNkdlQitXQ2d3VFlVRi9XVlpEZmlKcGo4amJpSWNGUU9Pclhoem5ZSVZhMUFvcDNVM0xaY0xOSTBCYUprU1hGb1c2cW1CWVZBd3dJaGdKNUpZYkpZTlNlczROMXd0ak5QSVVZR0NCY081SlRPalNWY05wZER2S05tc0xiY2o1RjhuVGE3czNsY0R3NkJnQU8vUURNKzByYk1pSzFBM2NKQ3hSVDI4YzFUZlBwVGFZQWZxM0pHUnBqZGVTRkgrejJuTFY4Mk9uL3FLMlNNOERBcmtUTEhZUjNCZTJNMTlpNEl0NnlCUXhvYkdCRXRGOW85cDZaTTFCREJQTk1POUhCMTBHbk9yMkVFSE1HUDJ2cGtzR1FrYUdBWUZHSnYzV2krd0k3dEZRU0Z3N3V2NkgyUXN0UW54djF0enpRUGZ3aDBvTG5tamcyUFJvZnl5SVZWODVCaGlkdStoZ2FGUUVLT1pGbm9JSkhMZVdYQ0xBbVRaZEZubXRmUEdVdXVnaXAwL3RxNUExeC9qRzMyV0tzNjV1U2pBWXBlclhMRlppTmZBVUNqb29KWGF2RHhKeGQ2ZlNRVUtsaWhNSG1XWkF1cEM5eWFEelZPcFRuVDlqc2JCbHUvdkF5SmxMU1IxNjRvTDVzcjd2a1NLTVNPRUdoZ0tCV2dXTTk4UHBIMVJ4eGdVVURsRnh3eHcwTklRVDQwV3dVelhUbG5tV0VUb1I4M1ZDbXlLazBpaEF2SjRWNWlZeFhwcllDZ1VkS0hxSlVabVhGTkVCZ1dZRWlaUVFPYUNwMFpUNk1ueTJwVUNtenFtYjl0MnFGQ2wyZDlKOFk1dm1Lc0Q1ZzJia2dYNmEyQW9GS0Fucyt1elptYkFvQUIrdnB2enEzT0JxQmhQamFLSGRJT0wxMUh0MGFMOVZvcnNBNTV4TXdsNS9MUVhXbXlHTEtBMU1CUUtxQXUva2xiaHJKa1pNQ2pBZmdHREFwNEt5VmNMR2dmVWtvT2lZTkVzSENJUEZwMTcrdy9wcXQvbGxLRlFRQXNHNU53bHJpbmpFeklvb0Y1ZmRQendEbW1CaDZkS3RtOC9MWEd3Z2doR2hFRnNRYzR1SENJUGRwMzhPWWtVbWYzMDBzQlFLSkJ1V0ZyaUJEbDhkREVvb0NOZ1paa29mK2JWUkk2bmFyYlBWSkhuSlVRV0I5c1ptckVMaDhoRCtGclRnckxiWGhvWURnVWw2TGljRW4xYW5mQmdVVURsZURtQUFockVlYW9WL0R3eUlWSmh4eC9MWlFJbHUzQUlDZzFhbDAxS2R0OURBOE9oZ0ViZDVaVGt1ckhiakMyZ3ZZZE5sd01vb09WQWxwcDd2ZVhyeUV4ZGY5WElwcVVDOGJwSG91ZEsxOUJqeUlLZUJvWkRBYldlYVhJbmJHdEpoeGtVWUpUd0xUUWFWaDVKNDZqVHhzbU1JbmlQNk5DWWtqQmVpQ3RYaFNaODd6TTdmcHBVVDkvNGNDaUlxbHpEdE5aMFVSd0trTVBybXhXOTRNQlJKejAzTWsrWllOMk4zOW5uV2VwdXJ3RmNoTk9sUHR4TTBzOFZHZUlZa3E1dmpyeFNRNktBVmd4V0U1V1pOTXNGbkhkSTc1VlljaG1hZWdtYW8wNTZBM3FUOXFWcFNsSnplUi94d280YWRZSVh1MU9lRzE3cTNzR3oyeHQ3TTQwRGg3OHNNcUw2RElrQzZtcG9uK0E2US82OHZEaGJBRmZpQlpNdTM1QWhkYzVSSnoyNFZPUktkU2Z3S1ZwRko4ZUY4RW9yRjBFSUZmVEtDNUw0U0NjOXhQR01SMEw5MHBvdE5oZi9sZzJQS0xBUEZFeCsrQTljb1Z2K2JxOGlMMXF0Y3lqQXhwR1pRc2plcmV3M1I1MzBYSTZ1YUVONDE0ZWM1emE0NmtUUnRjU2dBUlRzcTFsUGUrT1FMM2M4d3JQdTBIWVVYZCtwamJoVyswQUJyUGlhTFoxbVlwczJSb0ZKTnhQa1VJQTFCamVmUjI0TkdZWTY2WjBtYU1nZGJFeis5ZDhiVU01cDNsUHMrUE5Fc01WK0hxcmZIbGVMV1F5bExMTmYrTUNqejE2NnZFZnV3MDQrTGJ6cVRZdjNqYmk4L2lqWTlFcWpYV0JQMDlVZ0JyNnU4ODVZRkZ6ellOTzFpd2NNRlFYVlRMa1Z0U1VVeXgxSVJXeThiQkw5KzF6U0MyZ050c2hnWk14NENEYzBlYS9nc1k5KzZhRWlsODlNeFNwbWVjNFFEbnJ2ZzRJNFBFcENhLzVlNlVsak1KdGZ0M1h4OXZaUFdhY1Fyb1J0djVaOUtJWUtGTFNOcUk0cThib3pRN244bWtuMDc0dkpyVzc0RXRaUDhSbDdoSnZlVGxUQU1oNG93RDg4dkZxZGN3cnlxQWNJOWtGQm9ndlF0TURmck4zQ1pMSG1TcTY0d1FySFIrMlVmOTdhZml3Qm1xRWJDR3FibkdrcVVHRE0zN1FlQ1VBeVp1aThoMFFqUXk0WTMzQXhDc1hjWERaazhXS1Rab1R5YUNyNDM2KzA4RGhIUENKQVlRRktZK2RpcFNvOERLRTNDdWlqU0svVW5FemFuL0hQbVUzSC9sY3l6bnFyQVdRbUZuVEdSZWRGVHViTnR6czdYamROVTlIa3hzVjR3TmhwdkhkL1RVck14ZHlZU045eXVGblRSY3JibHlIRXg2eVg5cXBBb1NyaG10ajBPTUpncm5Ea0tPZ21Wa3k2cVdsNldPWDl4bGdVNVA3dGxhZitCcWxSN0x6am1ZOXZLcG5FR2ZRSjJyRDVUVjNlUk41WXJPa3JIMGFUaU8wM1g5bUl2bmxGU3ZtaEsvOVVzdjJwQnNmZnNhMU01QlFWS09nb1l6NGRHNm01bHJpNVN0eUx6dVJRVkY0L2NROVZUZXgrMUJBZWZsVFZmdmVaajh0TWhpN3Y3d28yTjNWU2k3VXdPckViUG5jZzdjNUVDdDRZU3lWT3BLYnBCNnNIandKU3FyMldkUWtGSWRUTEFVeUpaQzFlUTEvUHl2M2ovSFpaVS9FWE1uMFZhYVZJWGRxY1kzZm9vNy8yM0YvVTd5SXdZcExVU2ZHOXlmeXIwWHpQRmF4SmlmQm1sTjN2KzlaejFRQ0hXb0lweGM1Qm1vWVNyRmNxN25jaXJXeUtOdmM1NTdJWWtuZWZQMm9Va0hXMFk2eXNXRjUxRTYrU0J3cjJRTUdGKzU1UTErT1g3T251aWRaNzZ1dEJZUVFEZkVudnFkallhNlJPaVFzWDczL2k4VXNYTVA4dWJaT2MreTdremFBT0FORDFSNEdVS0VHZGh2Ri9TTDYvUm56S01VN0VNdXRiSGNXR1d0c284YjRMYm9LNWhUcW9ncE9HZnZLWFNVclpadFdCT2djdXkzVGtLSkF1V2MzV0I0R3QwUTRKTEFyODhvTHdmSWlDNkdwTE5nMjlxR2F3Njc4OG03LzQ1bUtTTjZUS1BjV3JUNHVMWC8rZ3p6ajdnNDl0UC9uOVBtVy80ZHdYLzUycWJqbVpzeU5xU1pJWHh6em5zaGU5ODhGRnFqYU1vN3ZNaXgwYzVVQ2gvYUdndnB3b2pMNndLOTd3NlZxQ1BJN1JTM2tGQWZ5V0UvV2JkbVlra1NLalI0MkNuS0JQVkJiOXFrM1pPWk5QSFRxOFB4UTBqclpQRFAyVWxORmlJSTJDMHozbmliTEVvMGJCalBnVlZINVQxc1g4eE5ZSk1wU0QzUGVIZ3NyQ1FjbzYycndTQmYrZ1FMZHlvaWFOL2hiL3FGRlFlaVY5Zm03Uk9jNkpoeGttU2lmL0JtL2FhbkdZTXNZamo5aSsvL2MrU0NkWjB5Z29oSU51c3I1SGpZSjRoVlpnUWpOYzl6WmVrL1hkZjN4L0tNanZ2NEF4eThHaElHY1hOZm5LSGpFS2NJaUtMUFp5VUxtWmtUb0crMExCZEwrMWxhQ1NZeHZoVUREaExXVnlGVDlpRk5SdnkvOXpyZ2RWbS9UM2RJS1VZU0kwNHBRSHpYaldyTzhQbW1IOCtEZ1VuT203WmlSZnN4K2E0enY3V0owWHVQTnp2ZGJIaDZvYjdRNnNEcHJ6Mm8xQk9jZVdqME5CSTdrZm1hajkwZG9DZXIwMzdjOGxkRi9BMnRySUxqeGh1RGJaVDNKMWhBWDNLK2NRMHpnVVZQZFE2TkdpUUw3ZUc2MzBRcWlWclZGdUpkUVR1MVZoVVdGc2Ryc1dFbzVoakVOQllrVW05VlJIaXdMNWV1KzhkemhEMWErN3Z3TjFxWWNLQ0Z2N09JeHgvdmk3QmR4TUVYczFnVXBTa1NORmdYcTlkNXc2UDNmR084YVpxdkYrQ1lVVXlIcExxQzczVGpzdUtZd3RPTGVYdTMya0tEZ3J0empRVElrdU9CT2VPem1RL3NudFdCbFF3dHdKR0JBNFczQStQVkY4K0tsNCsrdDJoMHlqNEc4L3R2M2VmeFBxS3ZmZHg3ZS9scUJob3oxTi9ZbDc4anRmTDBhVHI3SDVjOTk5ak1scWsyMmdJWThWZGZ3VDNESU5Td2lXNTZBQldpN1lIRkJJNmNVQkdjZVpqYkVGODZrRm1KK0ZWbkNaWFd5Rmd1ZkZkbDZJdis4LzNGeExpRmlJMTlkOFlwU201djZsMk1YKysvWm14UjV6bXNUaDYwdEN2Q2ZJeVVWYXNwT2kydTV3cjJURGdjMVZqbjhZR2g3UUhBYmNNL3VITnZaa0dYOEdCZ1dscEorRjAyci8vdGMrOTRHV2VJdDZIb21DLzdHTlB2OXozb0ZKbkwyUDZZVjgvNndUanRBTXRTTG9zRlh1VlR0MjdKa3RpSmMyb29mejRxZjJVSm44THFEODgvN3RCT2ZnM1RlUk1SMWRkTWM2MDRrbmtjS2dvSm1ZaW1NaDdUL1FvK2NXOVgvV0NBV3orWThScmVWM3lZNXF3NXkrVXpxdU5QV2MrSThteVN5K2JvbmJOZEJRVkZrbDlmcVYzd1dVZjk0M1dRMW5MTm9tZU1BN3VRWHJCNVJ4dkxJektDZ2tQS09DME4wdTEzcXRmRGhDd1hWMVhLcnUyZUVIRFIrRzZLTFZBa1BkTXVaMnh0Z0NETVJyTWtjMU5ScFpRU3BRZlZuZUcybWIzUm5aZnRJTVVIQVM3SHhDZFgyaURBcmsvNkpkRnZ4MXNxMWlqK2dqdFlTQ3VDaHBVTmlLU294bVhXZXNPQWVlb2ViY0g2dGkzYUdyQmtBb3JLLytaL1dHYnhjTnBjczF0MnJDaEJuNi91OWJxUW5JL21VY3J4d01DdERHL2pOMGpLZEU1MmhybEFJVS9CUHBxY3ZYZEtyT1NXOVZNRjJjL2xwZkpFWmNEUFdjYTY0dGhRSkkxbGlDajdldU12Sy82cnVBNnJ2UkNZNUZZV3JpSmVTKzhMZDZYVDNSaGpvWTNIdVNUblF3alFMOHgzM0JlMlNZOXhkVmxNNThsaWtJRlB5K2JqVU1vUm9QR1A5ZEs4UkNqUjNrRmFTbzNobkJlWVdDcmhZTTJRVm5ScWlvNUZYUi84K2NSMTBTelZoeEpzYmx1Z2ErSHBlcHQyUFdvZXVKdjd5a0dFNGVJWTBDTEIxdWVzL1p0VHY1ZGFoVDRnTW9zRTZjbmJFQkxjczIyNVlaOERscTNYWDMwd29GTFdkRzNGK3pyREEvWUE2QUV5S0xmZ0s5Vmo2eGprVEpKZkQxdU93a05SUVR6ZWI5SjBra250Qm9HZ1dCYnlmZm9sdFV6ejRQZFpZcENCUlk0NTgzUzNaMWh3eHBzQ1ZueEZFYmJrUTRKMUdBQWNGMlRCU3lTbVh3bDMyOU4vd0hDMFROMmswdmR1RVZRUGtlR0JEaTcvRkZSREFGQ3BzOTBrOGl1VWxhS3Z0UGhrSGRhd2NNa3FiRmFkTjlnemlCZ3BkTUR2dnZhUWd5TlBuK3BSVVo0NmdOMStaelV0OW9VajNveVBjeVhuWnlrcUd1S1pmYytJVXdkVjdjRGduRHhjajdhUStYOWZqbVNxTUFjM2JaMXVxWm9HNnpTQWRUcVd3dVVHQmZueEJya01CQjhIb1FabjZTbGFYV0hld21aY09WaEp2a0FZUHJ2YlZaV05KcGRCaG9MZVNiOXlzUUp1MG5WcjNySmdqUVRob0ZhUGVhVTl1OHA1UTUvUzlIb09BRncyRlFnSEhFb0FWSnNDQVNFeXdWMlcrWkVuNmM1RUR4eTNTbkMxM3hoZ294djFQV2FnRm15UjQ3R2hSZ25iVG4yOFdaR3AwUTBsNG9xREI3ckdoRzIxSUdCUmd1bEtHUWVvRU5rRkJpcVhTQU9QanpWdDZibThJM3RhTkRTc1gydTRBRUZvY2N4VGR2aDY1VXZzRUpaR1ArY0hEMms4S1pSZ0ZhcnVhZXJ1cTF1S0VDQlVzbWJGQXdINkNBL3ZKU0JndExKWWdJOGY3L2JVVFE2OWNXVEFSV3hJNDJobWJ2OXJ1QTh2anBpcVhMd0NudkRVRmh5dUN4U1FEeXR3ZG5QekdjYVJUQVYvT2VMdlphM0pDQkF0c0NzZFo5S2R5QWdUYmJZT2VwVzRRQzJBTzlCWTFodzFwNk9sR28xcVpOWWQ1OVZteWJUNzljUUo0bEx3bkJVYUJnUHJGSkdwWndjbU5OYW8reS8zd2hDcEJxVzl4d2NTaEF5L3A5T0ZaT0hrK2xRVjFlYWx1YW91ODFuMzU1ZTJoVFRKSHlUcE1VNzdvUkpHS1Ywa2R2bURab3JDNk95MHNlQjMyaXdmZ0dRTUY2VWhLSEFzaEpvSURBdzFPam56RnQrVnNrbXZ3RS8zcGRzandUTDkwMFgzNzV4amVRd1MxS1NvWlIyQUk4bVhWY1RhbDN3ejJOZ3NBdm9ERjdPYWtIRGdYVjBLdUxsVHZCVXlQc1BhdEx1dU0wOTE5TmxzSEZZNjhtK2JBOHNKOGFnWGVZYTNsTElWd1ZUaWd0allKZ3BqZ3dDdEN1dm04Zkt4VHdWQnhWK0FzS0JUTFBvQ2lZOE5jeDBGd0ovMkVVS0pDZkp2aXBFOXJVZlI1ckR4U1FzNytlek43REZ2Z2pRbDQ1YjlWd25OQlVramY3M1JpaVpmZWxFV0VRVzFBM0M0ZVV2NUR5SDBhelh2QVFLck5BQmR4VlZ4b0Y0ZG9obExLU1ZBaUhnc1d3Yitwc1BGWEp5LzA4bUdnQmtMekRZcklNSnQ1WjhvalZsT21lTnpzYUh0Y1F3UW9tTDdVaDhoM3JMR2tVb0dzVzNTUEZxUm1aM0Vld3lEQXp4YTBVQ3BZaGhLY2E2WGhERnkwLzBRclFwcUgxdm50dkZBWVQ2dTJ0VlZLdXVyak5aTjczK1lKWlBQSDdHRUVubWdSdEptYUthSlN5ZStRT3YycVVRa0VqdE5BUWVobENXT3ExTlNNZUhnRVdISU5WSTVPVXZwK1JhOUtHdnBVNkJNRHVLVjVEUlhwY2RodlRpTlQzQisvQ05lUTBDckI2dCtrVVV3bTlQcG5BalFpZ2VjTTJOV3dSdkN5MWdmNnZyNDdzMExGYVlqTEVIdmRGMy91a2IwY0ZxS0FWS204SjI4Z285WUFBeUwzT0YwUXRJZDVvOHQ4bDl6UUtzSHEzNWg2Kzd1MzlHeXFIQW5nVG5scGhUK1I3aGxocXlibVJwMlFtMU1IYUZsTkc2cDRMejhFMWRBbU9qejFyTk1UNUF2cjA1SGJOeWIwYlFta1VZRnBBeGx4ZlVJblh1dE1mSXpLSEF1d0NlZStYZ204aEIybVdXbklEK2prNVNlaDZlNVRZaitSM2MyYkNsa0dleEZJaGUrN1FQTVorN3JuOElLamNqOFN4NTJWUUVQdHpRN1NqcCswenNodHpLQ0E3V3JOUEMreW9sVDJPV25Kd21aSm1YYmtISnZONVp5b01pZTZsME43UG8xNDFQejJxdW8zT2dMNy9TR05mTHc3ZnYvenh5OEdnb0JEczA2QWRGMnkxUzNKSVoxRlE4dm02eHA1dzFKSmJIWmlWSmdOZWhEblBoSkk4dDhHV2kzV21mRGhvRUFwV3ZYUmFRUWc1Z3NSOVJXanFXdDVYamdUelo3NXlDZThvL2I4SmFpSTZIcDhiVVpWaVVMRG96cENBcCtGUEZUdHR5c1dpQUF2UFM1UW9MMGl0eVFCSExia1JaMW9kUHF2Nms5TkNXK1pNL013azJpVjkvRFR2eENieTdqc2FDM3VHZXQ5NWtlRTdRQkZkcjlub2w3c2llUzczWTdsamFRd0tHc0ZhTUlaNE82ZWFWdDJQUlFGR1UydXowYm4xOGk1SExUbVVUYW1CQTAyNmJwNTQybDhuTmtSYWVYQmhDbUhNOGFjeU1CWUg3TCsrK0ZJdzRmRlRCZ2pucWtMOHlDOTg2NHUvZ1ZsTXNRLy9tS05nM2pVblBVVEJtZDR6MHVXanN5Tkw1dkh5MWlsc3VQT0thS0kxemNCUVM4cHpKSVlaMWZvNDBXaW5tZGRzU0V1UXR3bnBRSGdVK0JLMkRFbkdCTGR2MS9QeTdoa2tpTlZZcnR5ZjNiUDl0Ujlna3d3Ui9lcXRNbndWTUZnMTFQVDlFRDgzOHFHZHRYUjUvU2lvYzdJVG5YYXRSRGtmY0d0cCtoT05kVzhseWVrTHM4TVZYVkxUU1dDb0pkZUxHM3FaRXFTeXp0dGExNEhnVnZWOVZFcWhFYUh0czh4Wk9QclU0Y0tvZEFneEkyYTZJUCthLzlNbXp0enYxZi90UmRKbjl6QXBPVWk3eklnNEtBbnpjOC9QNmkvdGxEeTNnK2NWUW9ZdUd2WnpDWDBXek5HTHMvcGNadE1ORXVSSW1RZTVWK3hzU0Jub3AydEdXSlNtb3NuTmVCSHJqajl0amNFRE96V2IxUVp5cjBJeGI3RlJCS1pib0tocGlDYlBPT1Q1ak1PRjg1NjE4eVJnUi95bmE5Rm5XbjFPcGFFRjlETWgzK2VGK1JxT0o4UUxkcDN5UE9xQmcxQ3cxd0Q5eGMyRE43Z01PeWFIcWpVMUFROG1QWVBwK0VWUXZtUys5L0twYU5aK0JtYVZXTEVDTC9rbVc2YVZlU3BHQkYzSmYyRzc4NFBhakU0d2EvaVRYNGxsUGI5ZUpubTRjdjlIZm41R2lDZXY2RU5ySUo0S3h6SEpPUFJQTTl3TE5YS3Vxd2VjeW9jdWlVbkduYnAzMmNaenFIalJ4dElCTklIcFF1bkU0U2xWcUd0bHdPdzlVWUJsbzNJZzQxMXdkOS85dWIvWnVsa0R1WUlpNVBYbjhnaW9DaXQrN0E3ZCtvWFBmU0FXdDRuUlhDbHFTU3pjdS8wRFFNM1BPcjh6ZWg1dnluajM1MzQrdVVWRVFteEZsN1JJMm9yV2wxdlJhamlmVTdNZDRGWks3VldSTUZpc3NoU3EwU0RENFErR1Qrb3E1c0lVU1pzOVRXbVZUUkxkOFdTSGdZSUNsSFBETDZkUGVGNSt1RVYvQXVZK2ZDM0I4blpzRjlXazcwaWQ3MjVTdEdLKzkwSW9NSitCS1ZNSzlvaGp5WGg3UTBYMWI1TGFlSWtPRzlIN2EyNTVqT29ETWVwalVFRjJUQWZ3aFJsOG84WnFEQzdBaGZ2VTkyZnN0Q1JhZE5PTU1Qc3dzVG83c2w0enFJVW5XbWJGSmpzL0xVTUduSEVRdzJUck1GQlFSU3Vzcy9YYkQ3SGtwZ0E2MjhQUDV0L3duNzBtNnlXTnZ0L3kzbzhrVXhOVTJsUE0vV0M4ZmY5SGF6NG5QaER6aHQ4TEtIN3FudUZDVHl1OVo5WTBBMDBTMHRTVzFlMWkwT01kSi9MWmFiV2tOa0xiRU9YTGpsa3V2QndHQ3Jxby9hWmZ6bERoVThGQjBxRkUzUEZNV0M2b2phNVFtb2VtUUE5UHVLaUxPSldjdUdwNko5a0prU2M0MVJ4YWhrT3lCVGphZi92Z3VqZzNDaUVIcjhhK0pFeHdIc1crSlBqTTVIa1VmUUtGdllPTmFOeHlNaGx4K21kRkFqeXRBQmV6WWJaRFFrSDBwWGR3dFdNcTNJK0VmdFV2ZVN6VHp2U3cwY05WbHBwek01bTE2YXc5RmtlWGtzbUlkOU9kc0JHTUVYTjNCZ1ZNMVlZZ2RjTEtEaUhoam1mcDJqRjdGRVd6S01oN1FJdlpRYk9RV01OQVZUQkw4TXhEWWpma3NHekJLRlJBbUY0ZmphQTdKNldhdHVBSEtKeFFzSkRJajJXVUc1WlU1UVpOY0tUK3ZCSFNUb1hkYTd4UmNOWkR2WDN3c1E3ay9MTXdCNjhwaHdKNGpLNXZMSEtESnExcUY1T0ZZNjdvRGt5VWpoTUtScXpUcEdJT0lYNXV0TGpsVURBdnZHV1VDdU0zeUFXMTFMTTEvY05haGVPRUFwenpYazA5emxnVDZsNExqYUNpSEFyUThKZXQ2SVlQQ1VOdHBaMUQ5WDR0bzh6a2F0TjRqd2pZc1d1YlJ6c2U5K1lvVnd2VWxHOGg4ZVRvMUd1V1ZHY21DV2hqWmk5akhsU0RIZ3daWlNzQ2dURkh3YVEzbHZuVkh0ZndMS1ArZzlTVnN3WG82UTRZYU5zWGtnWFFJc1BMU2FLY0pDeHBhdWQ0b1NDcXVoT2lxZWNhUThKNXozRWJSZlU0RktDTnkxWTJVT0I4UGsxRnovWm1FWWFWc0tGWmFVWFNpUUREbU5zQ0RBbkdpcG1uR2V2N1ZuaE0vY0IxWlZDQWhTSnZBb0QyYzhjSWRIRmRjS3luaXFZVEsrcm8vVlNNWU5sbjBDaGdQamRDR3pkdlcxVzh1Zi82aTMvNXFjZFdzS2Y1eXhmZVZ2UHpzK0hjRjM3eDBhY3V0VTNhSkU3QzN2K1JLTHJYTmFndjNMQ3g5OW5SK3R4c0dhTWpldS9YSG8xUUJnVTA4ZGZOZ2pJd3d0OU9GclVGRHFkcWswcmVBcDM4bWYyekdDRjlhVUVLQmN6blJ0NHB4TVc4MkZtUVFzaUUwSUdCWEVGY0VEK010MzVzWDd6L2lTZnV1eUJXcHlqMCtLVUxWSlZGYkx3K2NTbGZKQU9EcXkyelJ0R3Y1c1dUbjd4SHZHbktyV1FFd2pWYmoxdUZPL1BUZy9mSXlhZTlFWHNrbFdGUVFLUU5LeHdvY0VjYk5CV2p2dWMvR2xZc3g4dU5Mc3B2THg4RnpPZEcva1NJcjBhNTU4V081RE1vK1B6dUI3RVN1ZXJlL2JKS2RvWXVpUUlWVEtCZ1N0d2lHVmZ6c1RWVG9YQlRUZjQrWVhQeDZXTkZyYnAvTzQybVhnd0tzSUVVb2lCMXRDOEd4MmE2ZkdxZEl0NGVmK1hLbFlJUWI4YnR5cFdhWWlOYndIeHVCS1hMLzJkVjFSR1ZxVWQvSHlKV2N2a0YrcWYyZWpUNXlSYmlZdWVaamVtbkhxUFFEMzBhNHQ2WnArRDdONktKUndzSXRGVUp6VjJGWExma2xSQ3UySHIrTmxNV3J5ZnJVU2RNT0dzM29xb3dLTUM1dXhBRktmOFpESjduWUd0Q3JiT3BZbHVNWDhCOGJtUlIreHdvc3F3eTNnc1VuTWFwcFZqN254MkFRTm1UcHQydG9qci9rV1NuRndhMVpXak9uanpybUY2ZEZxNks0SC9QTWRhTjV6eHlhbVhrZ0dWUVFIWlo5U3Q2WHVZWUNybVBIQXBpa05lVWpqZ1V4RVdaQnZFcmlvaytHOVJXd1paNFdRVXcwVmpaV291aXZKNmdZa0I2UmFVZ1pQSlY3SjVuM1VpbzJ3cVp6eEV3d3BXZ0hyK0x1cHdleVkvRmN3VUFBQXF4U1VSQlZPTkRubVo4c2dQV2prRUJodVQrS0NBMzBQTWZiUTFhSUxkVmpFRUI4N2tSOTNHQWhqbk1BZ2ZnZlRRQ2RYU2JvMzU2aW9LVUpTVWNidUZsRzlJbE51MFJnVGx0Q3hqaE9oTi9tK0llaVdjOVdtbzlQT1ExaXNvTWhJSmFXQkpOSWppVkVRcVdGU3VEZ3ZUblJtQlR6SWxWSUc5VDVvVHM5eEN4YTZ5Tk94ZnA5cnRQMi9WVEdJaTJ6QmZ2eWh2OUtCUnd3aTBMRy9qbUJrc2VPK0pEbzY5bkR4VFU3TFBUaU9CaWtpd2RkcVlxL1ZGZ1JuNGMvTll1TGtTdjZISWdVZ1ZoWis1YkFuSDJFLzlKSmNFbzZLS3F4aXBFWjdSNWtPTlZtL2h5eHBZZ1hGZ25DaWVjNk5uRmFJQkJRZGp1WVV4S2tDaFlUUXNqRk1nV2tLOTVLdnNNbUNQWW1ZYjkzRWpGVzZrMloxZHB0Rm56YzRKSnh5djJQMFJkN1VRNEZDQ2J6ZFNVZGVDRVc1WXNFR3BnSUJSc2hIbDZqUWd4V25CWnNXNVpwMS9GZ1FMYmYyUFRiMXZldUZMUUJvSlFzT29YTjIrc1JGUzFLWXV5bllrTEdHM1RIZGtXNkU3WGxremxoS3YwN0RlbGdSNG8yTENNakMyUUtDaGFEaHVJMFlKdEZXTlFvTGNZYUJLb3pBTEV1RGxvVTBNRHplbUlKQXV1L290S1p0NHVXTWFiaXVKUWdCVXI0MkpFcFRaU1dlRW1WM1pQYUlCQlFYcU9VQXN6VVgrMW83eVhoR1l5emp1RGdoY01wMEVCMnRldFNsYTBTWWRzUjZRY2FFN2xSaEQybHFTTVdlZW9HRnRBTTh1UHlVVGtxQ0hBQ2djOXV6Z05ESU1DZWsyc004Qk9xa2RtVUhERE1Cb1VZSlJ3SzZFbGJlNkJBa2VVT2N3YkEyWmVNZ2RoenptY1dCUTBVZmp2MWt3UmNoUFR5VEhDWFhJV0NqU3dKd293RjNPT2w4NmFCMjB0RUVNUnVaaFVWdVN0aExGQWl5K3BGRGNpZE8xaUlGSWFlbVlJRkNSV2I2bzZaZjdsUmFFV3pVNVo0Mi85QXZxRUhSelFQMTQxaFhRNTRTWXh1eWMwd0tBZ1hEdmtVRkNBeHRzSlFkSjIyMWtkZzRJVmt5SFdJejk0WEhPaUZjdkVBQlE0b3N6UjBHVlZWdEN5aW1MTmlrTUJQUWRkdjZOeHdBcVh1Yk9mdEFZWUZHQkk5ZHgwRGdWTmNOaEd0VEpKbFBIczBBaGxtNEFBYklITllGQ3dpTTVyUGhueW95MjliQVFVV0RkU0NVQUZaS3NYRm1EK3BkQnFXNlhnMTQ0SUVhVEphMGV5VURRdDNHYkxBcUVHR0JUUW5xTHVVZUJGSTlpWnZzbGFBb2RzR1VPUWQwS1BNdG5zZWtFS0JZUWw3MUl2RGttakFEc0xaQjF5WWdOMVhhYVNjTFRBWEE0RmVOV0N1blpybE1nS043bXllMElEREFxSUZLREFMYzdxelBQZzBOTTNUeHhheEk3cFd3UFlnZzRuQkNoSVNJYTdRZGpDWjBreEhhU0p4cVF4T0FnN0ZFUVBLUkFJOFRxcUV5dWNFcktMMFFDREFwcVNGUzByYkxucDRKWkdua042UzRPd1lhYURJMFJCMUpKTDJPZmhOQllreW1hYzgrK2pJTHBhUUFYb0lnaG5LTEN0TlVDQVFRRzZveHAvWlhhMHJWMzFNL0pvQ2RuTjFneTFCS3EwMkNBTWdvSm1xdHNqWTlvVzBCQy9pYzhCQUdBVnViUTA3eGtMenhZZzg3ZWZSaFdVQjhJS0IwdDJjUnBnVUVETEFadVdkejdsdENNcER4YkxZUUpWRU1zNnN1V0NrdExETzB3NGdtQmxVRkNYNEZvRXdGQ1hHckN3SkVYS254QUZVZlFacWdTaGRqSGxaYnBNV1NpcEFRNEZMWDlOQ0cxZzkyNXNadWpZQTRvbTV6MC9ja3VqNEp5Mkl4d0tLczZOc0lJNUZHQXRFM1lnTHN0UG15OWdYRmh6N0VrVVJQVGFLQUlvSzl6bHkwS0JCamdVTlAwMW9RWTNIYWhEMWV1QkhMVmNZQmQ4dGdaQVFaZHpMaGhiZ0NwK0QwdFNLQTRleXpwTkZsekpCZ1c1MTF0YVJ3S1VGVzU1c2tDb0FRNEZGWDlOQ0pGa2U2c1BRSG1qc3hSSkx1T0tFVDRJQ2pBSFRmbWRuQzNBMUdBM09pZFo4N0JMYy83RTFhQmcyZzFRcU1kbC9nQzlxVngyVDJxQVEwSGRiL2hGZjNpd3VlTjBDNkwzdWFuRklDakFRb0Rmb0VvMll3dkkzOTlRWHlxZ2d5Ym4vZG1KUWNHa0t4cE95N0w4Z0dsYXVLMStGZ2cxd0tFQXFsMnlYRlc3S214SkNKVFE1RFdmRUVWZ2RGMTdFQlRRdm9NbjR4RVo1bEJRQVJBYlMxUmFBN2lwKzI2S1F3SDZ2NzZhWkpKWTRZWWp1eWMwd0tFQWk0ZHd4L1JsejRRWWdyeWpINHQyUUVIemVTL1pSOE9WS1hsR2Qxek9PNlErdmtsTTZtb1Y2YzZoWUI1RFRWVzJNZ2FSVlhmRUJPd09CVXVVVzE0Vk9ZUnh3ZzFIZGs5b2dFT0JmMlFEMDBiajhrMSsrQTljNWxaeUFva0c4bFljRzdxQnordXRJUllGWGMrUlFQTkw0UndLTU5LL21GK2xaSUJ2cmJVcEdkV1BRNEZ6VTdvU241eHdMMk1XOURYQW9RREczZHAydU9YR0xqVDlxY01EMkRtcStZS3FBU3pRQm11VWVrWTNEb3NDYkR5NEJZUFRxa2dPQmFqRHJsbzFocDEvb3orS2VMYkFMU2cyNU5rSFRyaGYzeXpzYVlCRkFkclFzS0FmTHFndzJzTGI5TVdISHV4Q0lhVlRxbWFrS0ZwOW1lN3pHa0lzQ2lKL3RHbW80UjRvY01nZ0NYU2hMTDN1MEJLN3dhS2xzd1VPSEJVMWxXU0VLMm5aYjBvRExBcGdlRGMxWjkzNjhUUVQzSFg1cjRlTHlLVnc4bytldUVTOHBSV1ZZOTV6T00zaG9TaUNqRFdWanE5RnFSRFFsRVpCMWE1Y0xmcElSRmFETm1ScmEwbFJSOVdTRVc0NHNudENBeXdLMEVsZnEvazZ0bEZvNFBjV2JHWmozeGpRenNLbUo5bzBabWRORWV2ZTJoTllhNG9LTHUwM1JPYzF3RkFmNDRjb0h2cHRXQWZDbDBNcFFOYzYzU0hKWkp2V05XYUVFMmQyTVJyZ1VYRGRPQVpRcGJIeldNaDFFVWlDYmRqZE1CSVg5WWF1aVdQN2p5eTNQU2ZhZEthQ2ppOWMxbnlmTjhZZ0Y3OVBrUjZFdjFIVXFmWUdBT3Bhb0JKdFMwWUE1VXJUZ1hxcVNRbDk4V1pOY2FTRit6bXpzS2NCSGdVWW5kY2tVOE9kQlNWTzIzeVUrTHhyMlM5anJhQW1NNWlmYTFMQ0EzSTQ3LzI1a1Z4THFDOEVMTzVROXJrcnoxSWgyKys0OGxValI5NHhRbEV5TGxTaUtBUDA4MDMxR1pNZmVhWkl0cUFqeTRxbVkrUFpKb1RiYkZrZ3BRRWVCZmdDanZTNVllalhiSmFDRVBtMmplSDBUMGZRWjNWd1BZSlZ3Q0lGM0lVQjQrYTd2NTFmSmtxRm1wWXU5bk1qdTkvM3JlZXFDbDdrZXFncjlBMW1uVU5pejdSQmJzbHdMd0FGMzV2TXYzbzFpcDRyR0xNQnlPU0ZKOXpWTFFzbE5kQURCV2poVjI5RVV5M3gxMTJHaWRaNzZ1c3VDbnNQR056OFM3LytkMzhKSUNqN0NSVCtMRFdSNnBZRGZHN2tyVEw3REw0U2doZlg0QlUySVFxaWxobjBvNDZiRVVZbCtvd0pjUzlndFdHTkRodmg1VGppVTY0bUU3SEVpUkx1eUZrb3FZRWVLSWdtQzBKY0V1TFZJZjk4Z0lJbzkxZWxsdkdaSWZUQzVQWHcyL1B2WjhoSk52cXd5SlBmbjZRbTR2ZXVHTUoxN1QrWXVMN0xQY1dyVCtNN3J4LzBVd1lTN21lNFM4T0Vnalh1MldlLys5ajIxLzVWSXFXK25DRFFGM1l2N1BXRjNVU2VMRHAyR3VpSkFyYW1qY3NzT1NNZWN3MFFDZ1p2MnNyQ01YL2NyUHFzQm1pNVozQVVWSXVza0l4NHpEVkF5eTJEb3lCL3pKODJxejZ2QVRxTjBlYVQwdFJwdmN5YlRza294MW9ET0VzUTdBMzJmWml6ZHRyZWx5MUxQSFlhQUFwdURGcnBhd056RGlveDR4c1BEUlM0ZndqMXFGcDFyVWRDUmo3bUd0aHllMEo3UGNsc2VMcG9ML1lzL2Zob29CdWNIZWxiYi9yRGFIYWRTQTNRNFpIaVlFOVdYUjZNTCtNNmRocWdaYVBCV25jdUd4Q09YZXNPWEdGc3hyNDRFSE5wTUxhQlpHVk1ZNllCdUllRExRWjlhR1BNYXA1VlozUWF3R0Z1Zm05NWRFVmtrc1plQTdTR25ObjZzVyttdzY0Z2hvVHR6TmdmdHBiSFhUNytRU0xlT082VnpPcDMyQnJvNFBSb1pnd09XOHZqTHAvK2IrS2ROUjczNm1iMU94d05WQUdEaGNNUm5VazlOaHFndzRmdTMyYkhwdHBaUlVlcmdYc0JnNWRHS3pLVGR1dzBrS014NFUzSHJ0cFpoVWVyZ2NrWU1GZ1pyY3hNMnJIVEFQN1ptYTBnSHJ0V0czbUZKOXluUzBjdU94TjRiRFF3OTFUNzJOUjFpSXIrZjlON2tlMXJ6TkdXQUFBQUFFbEZUa1N1UW1DQyIKfQo="/>
    </extobj>
    <extobj name="334E55B0-647D-440b-865C-3EC943EB4CBC-31">
      <extobjdata type="334E55B0-647D-440b-865C-3EC943EB4CBC" data="ewoJIkltZ1NldHRpbmdKc29uIiA6ICJ7XCJkcGlcIjpcIjYwMFwiLFwiZm9ybWF0XCI6XCJQTkdcIixcInRyYW5zcGFyZW50XCI6dHJ1ZSxcImF1dG9cIjpmYWxzZX0iLAoJIkxhdGV4IiA6ICJYRnNnWEdKbFoybHVlMkZzYVdkdVpXUjlDaVpGVzNOZlFWeHRZWFJvWW1aN01YMG9YRzFoZEdoeWJYdGphRzl2YzJWY0lFRjlLVjFjWEFvbVBVVmJSU2h6WDBGY2JXRjBhR0ptZXpGOUtGeHRZWFJvY20xN1kyaHZiM05sWENCQmZTbGNiV2xrSUhOZlFTbGRYRndLSmoxRlczTmZRVVVvWEcxaGRHaGlabnN4ZlNoY2JXRjBhSEp0ZTJOb2IyOXpaVndnUVgwcFhHMXBaQ0J6WDBFcFhWeGNDaVk5UlZ0elgwRlFLRnh0WVhSb2NtMTdZMmh2YjNObFhDQkJmVnh0YVdRZ2MxOUJLVjFjWEFvbVBWeHBiblJmTUY1Y2FXNW1kSGtnY3lCbUtITXBVQ2hjYldGMGFISnRlMk5vYjI5elpWd2dRWDFjYldsa0lITmZRVDF6S1Z3c1pITUtYR1Z1Wkh0aGJHbG5ibVZrZlNCY1hRPT0iLAoJIkxhdGV4SW1nQmFzZTY0IiA6ICJpVkJPUncwS0dnb0FBQUFOU1VoRVVnQUFCUzRBQUFLdUJBTUFBQUJkNzUrM0FBQUFNRkJNVkVYLy8vOEFBQUFBQUFBQUFBQUFBQUFBQUFBQUFBQUFBQUFBQUFBQUFBQUFBQUFBQUFBQUFBQUFBQUFBQUFBQUFBQXYzYUI3QUFBQUQzUlNUbE1BaWF1N1JDTE4zZTlVbVdZeUVIWjJiVWZvQUFBQUNYQklXWE1BQUE3RUFBQU94QUdWS3c0YkFBQWdBRWxFUVZSNEFleTlmWkJrUjNVbmVydTdxbnY2bzdySFhuQW9GR3hVN3lvc3ZONndhN3lPUUViUDNpb3ZzTWlPdDY1MndNT1NNYW9HYklrSGh1cG5aTTNzQnZnMjlsb3pBWlpyYk1jekc4UkNOUUpzYTJ5MjV5bGUyQXJ2RWwyQmlUVVA3S2ptUTBpMmpLcGhOekFiQVZFakNYVVgwb2g4NStUbnlieDVxNnVtYjAxVjkrVDlvMjdteVpNblQ1NzgzWk9aNTJaVlJkRUExNWRmamRjQWpEY0tTeTRZWkJLR3VzM3dXaHVCS2grc2pFRG9DRVRtUDJBSnJZM01JRll6SWRQZkFpUEQ1VUp2RkdEdjM1bHJLNDNQMEhvQmw5UWFZMHVQREplbHEyUHJVNytHLy80VGlkTEg5M2NKTGVDU0dHTjh5VGFqZzVLZEhqT3NrcDJ3RENXVm5rMEl5emZlNjlCcUkxbllPSTJFYkQ4TGpBcVg5UmY4cmVZLzg1R2JiejIzNVM4Y1BiWGdXMHUzRDV4bk0rQnk5Q01SUmQvLzQ3N3JYNG1tUjRUTGFYYmEzN1VtMzFacytRdEhUMTFrSHNYbTJicmRjc0NsYlkrUjVISWNDY21QQ205dFJMZ3NKcWRMMGJreDQzS1dzWTJrbFl2UDJMU0FTOXNlSThubFgzRk9nTEozVmx3TmthM3cxa2FEeXh4N01hVXZQMytwRHMxdnBaU09uTnhoekxNZm0yTjdWc3NCbDVZNVJwZXBBaGErbzhYblA0VFFYT1A1bytQeW14N1grQVM3ckZ0ekU0WHlHSEhaWmV4cFY2RW95anRnRGJoTTJtZ2tsQm5BSVYzd0xRSXdSVU5IeHVWcm1XZm5YZC92MDQzYUdIRlpaNnpuVWExN1lCRURMaTF6akM1ekNuRFpvdUx2Vk1OelZGeStDaVJmcEpJeHZjaWVjMGtrdnpJK1hPWkJXOXNRUXE5VDFsTWJCVnlTNFJwbHNnUERZY25QTWVuUmpvYkwzQi9qUUNkdzJlbTdnQndqTHBkUjNTM0xFanl6YUUva0FaZEpFNDJFMG1UTVdRWFc1UmIwQ0xncy9IOC9nTVBzd1dXcGI3QWVuUGZXU0hwNXVOQTVWSGZUd3hkYkM0K0FTNCtKUmtIYVp1eDd0dHppOHlKL3piZzgxOEF4NXBmckw1ZVlGRzQzcVhKanhHWHRBQlEyRzBDbFVSUTFMYWNmY0drc005SlVuQWlQVkNWT3J4bVhBcEplWE02a1JvbDRKOGVJeStKM1FHSGZRek5uZWRHQXk1R2lVUXVIdDIvc2lzN3hSUHU3SW44MFhQNkhNZ0xUOVpmdC92UDBHSEVaYjVUOEcvSmxhejRKdUxUQk1xcmNQSURuakMyOEpzUEwxNDdMM3YwLyt1R282TU5sMmJmbE5jMlBENWRMN0hRVkZLNFlYVlNxb09JVG5CQndxZXd5MnZzQ0RNYWUzVVJOdnBDNVpsd0tjVDVjRnBnZERiUWJqcUx4NFhLS3JVSGpiTlhWQ1BJbDZ2VURMajBXR2dFSnQ2RXRXMjVienVzandPV3k3NVVLYVgxOHVEeDFFT0VqNml4cHVHcFZlbllqNEpJTTF3aVRIUmdNUjN4elF4QkdnTXU1dmxIMWNmckw5dmNpUE1VaWw5YVdSVmFvMGdHWGxtMUdsbWttd3BmUnpycG9iUVM0YkZQWDQrblQrUHpsTnJ5R2d2Q1djM3FJcXpoRG5YekFwV2ZZUmtEYUp1SEwveXJrZDFmRmZRUzQzTFpmNmlYNk16NWNOdGFqQ0d6aHpoMm80U0pkRkFkY0pnWnRKSVRZaEM4TGNrOVMzQk10alFDWDNnMHY2ZGZZY0puRHpWOGJjSG1SYUNPVDhPYThwYWtCbDlvVW8welE4T1d5bk1SZUswY2hlMXpDQ3E1L1o4YUd5d1U4MndldHV6RXpybTVNSWhZQmwvMUhNS05TR3I2Y2RiNTNrejB1cDlTUmtEVHR4NGJMVS9nU2ZBcHc2VHUwWENKb0RiaE1HN3RNNlRSOFdYTk9vTG00TER4eUczdmdaUU0zWDRSUmRxYkZXYnFERUlLZXZDWHV2ZjFUU3FqRTVjKytyZmR1cDZIQ0kvZjIzdXJRb3NoRC9lbmJHZ2R2cjBTNTl5dVp3UFEyVDFWZHpCTlZmQ2FYUUdIbjJlU0ZPeVI4RkhCcEcyNUVPZmhTaTE0OEZUZnRSaHhjTHBVWk84dllmVFpUZXE0SW9oMWNyaVRpTUgrQVRJejlwQlFqY1BrbzY4SFcrTjlUMFl0MXhtTEczcmRMaVZHU1dyaUo3Zjh3UVAxeVV4K1N5cFZaRDc0dThodFdUVGRUNG40U1d0RFZDRWViSEhVTHVDU0dHVjJ5QTZDUTBndnV5dzRIbDBYMnl0MG8veGVIN0tpTnFrVVE3ZUN5U2dhWU0vNTN4dDcxdDQ5OXBNNStTdFRqdUh4REQvemlCNjEzTDdtWXZXTTMrbkxKZWxVZGVhaE45bWNncWZETkE3MWl5SmZaMDJ2Umt3MzJIcU5hTWlWbWFsVFpSajduWENGZU5PQXlhYndSVUtyR1E4eTRYN3l4Y2ZrVk9iQmRlZHJvVUdWd2tCMWNGc21FaVBWaEZmSExlQzkwNVMvRElDN3pqVThpclU0UDk1UkU0d1Y1eDNLNGt0UXA5aXVxU0oyYTNHSFBJTlNncVl1aXlQYzVML3BlQTQwdko4dm5TRmd6NERKcG54RlFpanA4Q1g1bHpXN0F4bVZkL2lUS29zK2oyQlZGRGtTN1dDZzczNFF0cXdFdjFCL2tsUkNYZDRwM0xoMnp3SWkrb3ZqZ085NFYzWmFIdXFOZXYwOHJmd25IMEUvekd0dUpOWVFXRkVYVG9sTzRxbGtuWkptY0ppYzNBaTZUOWhrQkJaWnRWMUZzNGZNbFluelJrSVhMYVNhUUE0NXNUeFFmOWxtRVFYWjhWSU5zYktFNndHQlZTUGwwUThTb0VKZHhoZE9temRlNTg3SGlnME82ZW1QaW9SYk13VjUxeW54YlFSb2FjNTQ3MFRUL1hCSExTdnd1QlY5b2tpSklncS9WaElCTGJZcFJKaEE3Nm5MZndWbTRyS29ZM2swMnR0S1ZLNkxjaTFZNW9JN21TK3BGQ2thcmRyRUVjUGxmNURvQllwMHFQakNuK0hnb3B5SkZlS2hUWnAyd0krWnhrTHdoK0dHenZTNXJKbTlOZ1hhTTVucVdLUUJYRGVtQXk2VDFzcWRZUDdqaGpvaUZ5N3Fjdm1mNkRhK2xZQkVHMmNZbHZEalpJeXd3S1hOZkhVVjRxSWtqR0hENVF4SkhnQkdsVUVrak5JcGk3YmM5MURrRHZSV0J5NXBSb1d4Y0xWRkNKTXZTUzhMMG9kYWxoQWZBWFZIWmdFdGxpVkhlTVpKOCs2VkxseDU2UlVPRFJMZEhjYm1rWEJac2xGWTFoMG5zbXFSS0ZVRzJqVXQ0Q2k2clVyalg5TnVWRG5EdVlRbmdVbGZSMzJvQS9KN0JRbjd0S09ENHFCMkR5eG1CcjdyU0c3K25veGFmU3BhK0YxUURPOUQrbWlhckJMaGFyWGZBcGJMS0tPKzQwRy94QmdydVhobGZGKy9xdGhkVVlLOUl4a2lYUnA4VmV4VkRnQlJ3R3BEeEVtdlhFa1ZsN1laV0ZDZmdVb09ub1pyc1VESEFlcEVMODFIYlpoNmY0cmdFVDZlY2JnUTFXN3htOG1OUlBRd2cxSExwZ2hYOC9HbFZLZUJTV1dLVWR3U0VsTCtnZkladWorSnlUcmtwdjllUjJ4WmRGUk5Ga0szR1d4U0FkMjZKRkg2Q0YxSVloTVdCY0ZPQVMvMWJMTEZxRWdTWldubzc1S08yRFFvWE9TN2h1Wk5MaFNpQ1JyYU1IQ3Mxb3hwQVJUYXNJcDRoYzBUQVpkSTgyVk9xSm53NW4zQVVGSmNBNERYZS9OUUZIbDIwVlZsUUVLSmtBSTZEUzlqWENpR2NEUkNtdm42WWI4aTFIK0JTZjFVMmxyQ0ZoU1paODhFZWhPOVJ2TlNPYVRESGQzSFF2MDJsRXp3VjZ5cnQzRHRxeXdjZW5heGxOUmVwR1hDcHJUTENSTkhNY3pucXkzaVREaTdYMC9Wb0oySk13QXV5RFV4NFhVRGlyaEVDVU5jeG44V1B0bmdCNEZMSGFSUXVBU3NLdjhBRFhwYWoxRXVGNnMrckZ2NGRDdHdtUzFPWTA2L3dScElmTzJvWmdodHk3YkFOWDhDbHNjVjFTZFhOUERldjVqTGRNTVVsakhqdjI3ckVUY1FXNEdScEVjYlluc2R0WERZOXJnbWEwZGhSdUlTNVZlTVhBcTBnRktIbnBlSTJidjlUUkxzR21idGgxNlhuZE1LQ3licHV0R3dXRjRTSFRPN0JYeEs3akN3SjQ2aUdaRGx4WW9IaUVqZEk3TTBWdnlJSWgxYWlxSWhWTGxJeVlBa2hKUy93WmFwdFJjTDkrS2JLS0Z5dVdMaU1wRkF2RlVITDJLLzlOeVVDTml4bWRRS2VWcThSRklPNDUwMklvUWsxV25ZcDVCcEdxNERMaEhXeUoyRDRjbDJLblZiejErK3BkaWd1OFUwSVhHOXVxVUo2YjBPSkJVQmVXTVFLRmhuQVRhckZCSU9LRExqY1VPbFlMZzZxOXJmQkdtSVQ0cWZ1WUp2Z00xOG1oT0J5VVdzQW9GWFR0V3BDM3BmWmozMmZ2TGFoeG1tbk9PQXlZWkFSRTlEUnFWR1lrODZrb0xGRGNWa0FPT0MxWC9Hb1ZDOGFNYVlZaUFRVlNMZHhDYVVhZzZxV0Q1Yzd0cCtMeGFQa3A4ckhSeDJTdyt5NzFTL0l2OEwydTZwSnVHTlluMXlicEVna1krUFpnNzlNV0NkN0FzN09GU2wyWlZNa3B0VGUxSXBmUnVDZitLWERnYklhM0piM1YwZ2dSZE9MeUsrOUZaSVR1RnpYekRMaHd5WElvZk52TE9Ec3AwYi9DZHJrMXp0UklqNTM5UG9kdHoyUnIxRWUzeW8wek9OK3c0MktDbmpTM2pHM0psbzVwVGNIMUY5R09la3d0WDgxT3RXZUE0ZXpidkl5VmNUUnRuQnByUzl4N1hmR3JlVEQ1YmFObEZnc1MvM1VDRTdDaWF2WEF0bXcwZktzRnQxR282THVNdit1THRuOVM5YUc4ZXpCWHliTWx6MmhLb011VkhKM1ErVXNYRWJMRFRIZzFIY0p6dnBwR1A5TlZVdmZpOGh2NGRMYWp3K01TMEFhd1EyOElPZVRxcDhLKy9YL2djM0NoWFVHeEdWTWxOLzIvWGhXd0tVZTFldVNLSHFpZFkzTHFta2JsOUg4SC9QeFZ1OW9GRmUwZUlEenBRNDdham9JNzRkTDNGaXZhMmFaU1BHWDlGbUF4Mk1UdUFFL0hpcUt5VDhTWTh1b3B6OVFnRXowZ3AvTU10azJWSzJZckVnUlRZTy9kSTB6Z256ZEhseHNZVkZQN1BiNkVzdStmQk1PZUFXVDVPcGNoVXJjUFJFaUpJdkliUGxMKzMwUGxHN1lOZmk1RFUxVCsvR3V2WStXMWZ4VUlhL3dJV3dhd0liN25vcmJSaUlQUDVsbGFQQmtKRjlYa2hWSHdLV3gxY2hTTUFaWEhPRnpablhsK0V0a2ZKVm4xTXBiK0JJbUdZSXBBcStOUzNCZkZkTmM3Sm44ZmY1eXh4WU9RcytBRUQ5VlNjYy8xWUNld1NzZWN4SklsU1h1YzNRS1FCZTc2YkJBaEdsVmtRSXVsU1ZHZDZmaFM5VktVeDNHdGM4VHFXSndVNGdLY3MzMytFc1lGZjAwSlVVWVlSdVhBSk9McHJ5VWZDZ3dycjZoT0pTL2JOdnhIUkM2QlN4ZTZoT25WV1ZZV2I2QWY3NUQ0dXFxS0hHSG44d3lGenhpMWdJQlMwQ01GaHh3YVd3MXFoVDZCbTF3MlVoOFJyZEcvT1hmS0NLTTk3cEtpL3NUNkNsOVB6aFZCT2tVaC96ZDltVlR1ZW1aL0gyNEJCb0JQVUt0QWtLOFZQVUxpVkJlNGkvVlkrTHBUTXRPQ244eXkxeFFSVWZLSkJXZVg2MTN3S1V4MWFoU05Id3AyMWdtTTYzQjVRNVRrVDl3SndhNHZFNXBGVzUxZXVSSGlpb0NnbXhjd254NFdoYkNyV1BPakdpaUQ1ZXdLaVd2U01IbmdvUG0zN2xKVXF0bUszU0tWd0lkTnJUd3RFUmpuWlpBRmJQRUZnWFFaa1d4QkZ3cVM0enV2Z0pEc0d1THIvRkJGelNOUzlnKzZKTm1GclNBTDlkRENUQW4yM0lnaHdOczR4TGM2cFpoZzZlQ0lHdUpINS96NFJLOEZWRUtmRHgzWjE1cTFTeU9wL2lHdkdZRkNwWit4TFJ1VXZ3bnMwd1dxamhhNC9acFRURUVYQ3BMak80T2F6U05OOWxLbWF5MU5DNXhxSlFXeEhWdzBpbFl4bkVNT2dEMzRqS21pd0JjM1NxcDhDNlF1em9mTHNFWms2Y0gwQ3ltWFIrMWFnQTh6N3NtbHBtcWxWbmpUaFVKN2d0RU9tVGhIWUhaNVFnMjhOaWFQK0JTbTJKa2lhNTFzaEdiV1dBdm10WTBMbmZNNGE4ODlWM0l1bjBHUDRHamhYZDZGV0dBSGM5VHRyYTZnS3c5WGFGNkJaTmVYRllwWDAzNVhCKzFhclRJYzdjS3ExR3kyU2JMVDkwdXRFbThOcEF4dHNSMU1Td3pSRWpBcGJITHFGSmxPd0lEelhTcHE5QzQzRFlyd1hsR0hDcFVXQkl6WE50RklCUVZZWUFkWEhZcDdIRkx2UWw4NHVMTFZEOHU0ZlhscG1KRHFjSXorNmhWczA1WUVvcUM2aFZkdDd5cWt5VFJKTHNxSU9QR3lnbDZuZUo3S0ZFbDRKS1lia1JKR0FIaUhxRVJXTHkxVEZzYWx5V3pDWi9WWDVNVmZITUNwaDEzMlFtbGdDQVhsL1FIcUhockd1UkxvbUd2djRTelRIeXhnQzBDYWlSb2ZOU3E2Yys4bU81aFZsN0hlbmpKWjBoa3pHZHM0ektLclhVdjhuVlVtNUFPdURTV0cxRUtGM2diVkhiZTNsWnJYQmJOajZFMUhROVlYT2NDVmhKck1pOHU2UTlRUWIyeWVRem1SR3dHNUd4eWdmRFIwRXVHTnRQN0RsaGVucFlNSG1yVmhIaW1CUjdobTBNYWRrL29sR29DNzRuZjVOd0dzd2lYck5qYTVEcy9BWmZLS2lPN3c2YkF6SHZReWhLTUNKM0JOQzdiT3NDWEp6TWE2cFdYL2hYZ3NvNTVlaFZCdklQaUdZTWI1SHljc2ZmS0dxVUhlYUpEMW5aUVc4SUQ0alRxK1NrYUNSNXExUVFhMjNMK0J0SkYyVVo5WFNhc1c5SFVFZlFTTkx4bHNleVloeVg0UzhzeW84Z1V1akFBZTFweTRlZnFrTi9VZWZLK1owYitaRllVZmRZWnNWbnBnZ0RpVjB6TlV4ZndBbW1NOGRSNVZUU2xYYUNnbEZsdmphY1dlaTErTDVxVkxPNC90amd4aXU1Z0I0SVAyamt0YVQ0cWdGRE44bXAyWHRJTzgvR0RYVjFWSi9ML0NNMDhMNFFMNGhlQVlId3NwNVhZcXE0US9LVTJ4U2dTZDkvOHp4R0c3RGN2OFM4UTNNeC9jQVB5WnRRSkxndnhmVUtIdjNjR0xPbysrRlYrd1dDU2xlb0tTcWFYNmdHc0hDZ0U4QWVwK0FwektiNEtMSis3OUJOWTZiY3VmU0xLWC9wWUE1SzkyeSsxc0c0K0ZueTV1c0tkbndyenVPekJYMnNvZlVYKzZ1dXk5czFZVjF4THQ4VFlJanY0M3hUaDBtMmNBRC91K3RHS3BPR0s0ckpPQjF4cVU0d2l3VUVwaHNENnBMRFI4M2owSmZhdUZyd0YvMzIyRHpkeTRkNVZYWWdzZWFYaUVnTHJGeFVUdjcrV3NmZS81ckdmcXorN0M5bW1FdlVkL2hkUElpZjQ0UnpHOC8vNXNZL0U0cmNzbFlnRUZYN2M2NDdldHdESGZ5Qnd6QmtmaGQ5K2ZjMWpIM0pXSUx3SWxnTGlVbThlTlFISWU2b1plTWVGNm9rcjRGSlpZaVQzUDFFall0L2ZSeHN6dUl6K2tMSHo1MkNmYXFNS3Z5eXJMN0l5WGVsZE9IdVB1czdDdjVGcnFYUkc1TVEvNS9YM0wyT215YXVkdmRCQVhGNDRmLzg5OTU2N29IQzhISFBHWjlhMEtFeTQxUGJUZUdBZGY3V2FUczA0VllQdUxhc3F6OHd6VkJRME5MaUVadUU2Q3kzdktmNWwrdlloNEZLWlpXeDNnc3ZvN3BjM2VtOTkyRlZsWjBOUzRNMjNkN1ByVnFoYUMxZ3NmZkxXeGdQL3pFYWJXNG5uODErSC93TDR1RnZrVUo4NERWNzk2M0h2L29kM0tlZmQwTWFQV2hSYWVtaDZ4b1NwUXB6b1VHdU5ub0hpMHR0YVFlN0dvYkJoOXNsZVZrazhsVGhEMW85N1FzbzZkTzBjL09YWVIrVlFYTTQ4cjNXMEk1K2E3Q2FtQm9PdlcyMjgrYTZPQzRBZUFaZmpIUXhvL1ZCY05qZTBqaVZ5dEVFVGt3bVk3NVBFU2FmRVpsb0l1SnlBd1RvTWw0VkdSV3ZacFh0V1RVMG1yUCtZVHhaUElpVlB0ejNCWDQ1L2lBN0Q1YlNaeGpIRzB4cEU0MXJ5dmRBZzFjYkpzMkN0aWNNOFBzNng0RzBmaHN2bXBsR3g3YjdOTTBWV2FvR1JPS2RWTXJHWmpuVkNQK0J5N0FOMUNDN3pLcmFJaWtJb0hXSTBoMThGZWtiOWNQWko0Q2hhTTBIQTVkakg1QkJjUHQ0akdzSUJ0VldTVFUvYW81ek9OekVsQlR1RUVIQTU5cEhwajh0Y2c1d0V4MjhmbU0xNVA4M25Cc1J2UHhuWHRXeUtSaS9EZnZ5NjJ0N2ZXRjljZnI3TytGK0U4cXFGMTVmaGhjK2JCbm1sa3JOMkVmNkdKNHBhSTRjMlFMSGdMOGMrT3Yxd0NYRWh1T1M1VEloSzhvdE83S25hYncvRWxWcjl1aGZVN2EvbUJWeGU5eEZ3Ryt5THk5Nzk5NTVUMzZuSU4zcHczT0hzQlhYNndSVms1ZWZvMnhPclpDSXppNnFUVXJ1QXk3RVBVejljWHJ0eStlTVZLZXJJYysrcXd3R1h5aEpqdTQ4R2wxSFRkMjU4YkowOHJPRXlQN2hzdUFJdWpTM0dsQm9STHBlUDB5dWZCWGZWRVhBNUpqU2Faa2VFeTZnNDBEclU2REhPVk5mKzBZT3dIeC9uWU1pMjIrei9mZldyWDUyOUlsT0R2UnJLdnVIaEpjNWIwZFljbUdQSC9vYlM4Q0pEamFOYUFONTV3N1YyVkRISit0MFhrclRKcExUSjBSVDBsU015eUdSMmZsSzFHaGt1NTYwM3pwUGFmZENyWUw3a2cxb0dYRTdFV0kwTWw5RXZqc0FKajhKa2hSKzBwQVpjV3VZSW1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3V3UUFIKzNmUFZyNjVjUTgxUTVYcFpJTWZINkhxMU5obnRMUEYvOTN4dU9HVStXQm1PZnpEdStmc0c0eHM3MTUyWCs2a3c5ZjUrcFFPVjVUOWdzZDJJL3loNExiaGM2STNrSHlPM2Y5c2FqY25OekxsL2MyNnB1c0tzN0RWbDRqTzBXc0FsdFVaNnVuUTF2ZXphUzZZbjgzOTdDNWNTRDJFaGZtZWZibmJZYnAvU3dZb2UzNmN5Ymt4Y3ZqaVlxUXpYREt1WVRIYXA4bmV5azVXaHBHbG0rUzR1K2M0RENodW5zVm9HZndLZmI3eDNCRklka1JPZFhXSkQ0N0wrd2loNk5Nc3UrOFgrMHM5ODdhRjdqNzVtOHdzL25OcGh5Y1gzRW5OaFErUmtnY3VvN1NJL0U2bEV5d2xJVHQzeTQ3NXJsYXZtNHZMN2Zhdy8vcTlJTjZiWmFaTExMRmw2Mmk5cW5tL01udmNYWGdmcUR2TW8xdHhQYnprVEJNMnpkYnVGVEtUYUlzZWRxL0tSVFh5SWFkUEJaUzdCSmdnVjA0bGkzMVcvNFJzdU5lV1pMcm1FY2VPeXpnNlNQWmxpcTBtaXBHU0RvT0l6ZGdQWlNMVmxqam4zdW5zYkFsem56L0xybk1oNWNabC9oU3p0Q2Q2enNtcEY5eUUzL01TdjYvWkpWTk4yQy9tYi93ajBIWnUvTEVEanJhVGU4ZmVTTkVuSkJrRnpiTTlxSVJ1cGxzZ0p5SEEzV05HSzNQVW5ZRzJ4YkhMOEpiS2dmelY3a1B5SEVKcHJ1dTRUYWV0QXpYRllZcmx4SnNGU2FQUlp0SDVwakxoY2hzNTcxaTAxSDFoRnI3SkJVSjdaUVk5c3BDYnNQbTVDbWRuTHBFY1p1OEoxOHVCeXhobUtSUUNtMGIvZVoybGx1UHFrY2pGQnZlS2JkZGRUcWdEditUSGljaGFNc1VtVkVlbGx0cEVrQ2twR0NPcmF5NGVNcEtZcFBTNDZRTXQ2L3ZJTmFXMFBMay9CVUxTb29uZXluczR1ZXJhbnVuQ1FSQTRla2U4bUdIZUlSMDRVUm1QRVpRMk1ZVmxPYXRmdzdJWkVVVVlJT21XNzZZeWtKbTA3VmdxdWtvUi9WR3BVcFlQeTRMSUR6SXFOMzNQTStNZ08yN0xLaHMzOGJBelNFN2dzOUY5QWpoR1hYVkRYdDdqZHNSOWRZb2FNRUxSb1B3NFpTU1Y2VGtJU043Vm5MRVZtNVk3U2c4c21ZODZXdTI0Mmg2VzAvWWtsUFNYekQ3OVhCMFU4dUp6dXY1bHFlS0dSMGtpMjVCalVOYk9Ga1QyWHV2RElDa0d4Y1FiUWJGWlNUUThtSWJVQTF0MnpGSm1TZnMrRHkyM0duTjFtVVh1TXBXdEh5TndGVUVKY0NYL1o3dStGeDRmTFBJdEI1WXBsT3A2WlR6cDl5WlFWZ3Byc0ltazJLNmxFNUFRazU4QzRMVXVQbk1TcEI1Y3dFczZLcXFweE90UGZzVmxOT0prVjBFRmVDVnlXKzN2aDhlRnlpbFZCNXkybks1aU5mVjRVQzdKQzBKeTEzOHBLS21vNE9WY0hqR3Ryc3lTZnhpUXVrMnZScUsyQmRJaGpzOXV3Y3h5WEJ4OURhR3B4a3VNd0x6dytYTTRkVElPK20zWlBlSzdyVEVDYUpTc0VMVnV6VmxaU3Rab1RrV2dtbG94NTZUK1R1RXl1UmFPYTlwOWxXZTBhZXJYQ3pyL2xmKzFPK1hBNTR6cG9SL3o0Y05sK0drTy9KcHByRk90NDBRcmxXU0dvWUsxcnM1SnFPakFKcWVTU01TOW56aVF1azJ2UnFLYk9kaFI4TCtXRzZxQVhsNTMwYUNBWFBqNWNGcCtMR295WmJaL3A2M1RDNjh1eXpCQlVvZ3ZNektTYUhreEFLazRzR1pma3ZKN0VaWEl0R3JWVmpHblpqczVmUTgrOHVPemFzYnFFMlBIaHNyRVJ3VFB0cklHNGZqUjRaaW1jR1lKVUtJOUx6MHlxcGV1WU01NGw0N3g4blpERVpTYzVEczBOMllHNW8wYlZJeTh1NDc1UjlRaGNsZzRJWEY5TExzRWlzZ3Iyb0R0anBRRkxVVG96QksxUVkyY21WYWsvQ1hmUGtuRlJSc2VTdUd3bTFxTFJ6cnJzUlRzMWFqZG9OMzI0WENKeGU2K2NzZUZ5QWJDSHI3OVdQV3FWVTV4OFpnaWFvWk5UWmxJOVBSa2JpUzRaRnk5ek5aYmxtaW1KUzdvVy9hOUM1ZTZxVkgwN1pTeGs4UUEzSHk0WDZBRDRaSXdObDZmZzZVWGpxWFVNVlc0blpWR2NHWUlXNldJK002bTBDK05PMHlWalI4ekpVeklrbWNSbGJOYWlCVG5aRi9ka0Q3d2g1cUY2NThQbGluZkRTOFNPRFpjWXVNVnY1cm1CTGRTdGxoSkV5QXhCZVVhQ0g1bEpKV1lkZTdJRHBsVktTTitYZTQ4Z0pIQkoxNkxLcWI2MkpaZ2hacUxFWE92ZGg4dXExeCtSRnNhR3kyMDhEQWdiY3VlOUxGZHR6b292R20yelExQk1RcVRaU1RXYWpqM1ZKSmF0aTNsYzZaVEFKVjJMenI2ZzJNUjk2ckNGb00zdXkvbHdXVHhzMVRvMlhEYldvUTlGZUtwM2szMlo5cUkxdS9obEZKWEltWVlUaVV1eVpNdzd1OGdFTHVsYXRPWjg1V3JXdHhCODhwYTQ5K1pXY3R6OEZCOHU2NGxWYStHUjI5Z0RmNnJCSUhDWis2UEcrUjl6R25yeTF2Z0JseFpGU1dydW41eGo5Mzg4aXU3WTBtbzllV3ZEVTFVWFl5TEh6MEMzQVpmMnc4eVpGbE1tajM0STR2MTZtZFZHbjh3T21VZjZTZTBqWXJLTDZtYkpPTld6VlUzZ0VnL0N0aVJQY2RObVh2RXN0UDZLc1lPWUhWUnN6dFNjRDVlSk9NeDhHWlFBSDkrU1lqZ3U0WGd5blB3NHVFaEYvemtRNEx6UFA2VzBLRXBTdjlCZ2Izbm9OdmFCZWVPQlhzWFkrUVk3MkxPcjJybHA3aWR4ZFg3R0xzQWNyRHRiU1dwZmY3bFVadXdzWS9mNXFubG9iYktDUFltNHBFdkdqdlB1SW9ITERveUN0RkhCalk5VWlhRWt6eFI3OXNOUjlNWTQ5WmlzWTI4UExtSFYycks0bHVwcy8xdGZ2ZXNiN05sZFFVZGM1dXZ2YTBYenNmWHU1YlZzLzFOUjRkODRaNldTMUhuMlBMYndWQ1BXSzRiWE1mYlNxUEFvTzhDQ3RHdUZyeXRSWmZYQ2kzSjZ2V2hmWEJiWkszZWovRjhrcGdjcWxhUlhtRmxIblVSYzRpdGU5Y0NYVFZlNUJSSzRySnExNkl3N2ZSWEp4Q0xzVjZpTGdWMG1TM1JpMldUU2cwc2cyWHpiYkwrQ2xLZVkvR1VZeE9XZHp5Tkl3WnR2WVJHL3BpV3F2bWloeTBNdDdxL0pDZ3FYTUFuL0NKSzJQVE1BWitVZlRXNHMyQmNUZ0pqUzJIMXNSVkU2Z3I3QzNzTlp1aklXWWtUNVUzUGtJVXlYNnE5N0hLaUloVDJoNk92b093UWtKWEJaMUtjdjgyVm5MUnFWRXlHN1dTWi9FbVhINTFGRW05YW5CNWN6TkU0SHpETTZqdjJWbm5DWWdNdDg0eUxLQWRkL1Zja3IxQlV3ZGtpZ3lVTmQxR3FYRkM2N1REaDRXRTF6dVVxbWZTK0pUc0V5eURxaks1bEtiTk5tRjdsMEJOWGxyN3NzK3JaUkhsSFQ1T1JHdWxSUHhXTkMwa3ZHZjNpRXViWk00Rkt0UlF1Zkx4R3ppSjQydE50VlBTOUo1RVN6QS9vQUR5NVBPUnZidW5JVFN6OGtnUWU0bkpObmVrb0d4TCtnK0NLSUlWeFdHbm1vSFZhUnBlcVVPY0J4VlpEcTdvTXFPZmxOZHJjTHo3VjRRR2doK05vclZsNW1VaEUwelI2VUxQVTlYOFVFRGJUVXRGU3BtbVBNaWNKbitLOGgrajdXVWxSYkFidnFhOVZtU3VCU00wTENXWXZDOTcrMjdObzVGY09iYXZoQ2ZEWXp6M2x3dVFLek5Mbmd3T09HeURiVnVnNXcyZDBUdENyVFRqeFdmQmpLMFVmUlBOU2lIdDVGNlMrYkd0MXRyeXNVYmMxTHRIZkFGTEo1VVNBK3UzNUlweUtvcW9UY2xIaThxVmlUaHU4STZ5Rk5sV3JZeDV0NkFveVVjcVc1TEJoTGMrM1o2cnU0eExXb3ZoeUJzTkJ5YXMrcURVSFpPN3dGdXkzTWVYQlpVK0FXM0R0Nkd4U3JGeTBOOXN4NUthcWpkUUQ4NmxHYlk4cHYrNml4bVlVRkxxRWozNVh5WU5Gd1dTWVR0eG5wSlhHK1dVK1VSazN6TU5EQ1ZBVFZwVGhvMGlNdDJxVkNlQnFtZ1lvaXBrcFZET08rV3lBRGc1RXJ6V1VWWVN0ekNhNWIzZ2JNTGJzRExpNFJON2NENzBPdmFKQ2xuS2dEbUhYR3NDMWRGcFM0dmhXcUxMcUdDV0lBQUNBQVNVUkJWSWsxb2RXZ0I1ZFZhMWNCbUpIOXdEQ0NlREpBRllXakZlMnpkeFFmeUlkdHpMcG94a010a0dlbXpOa0FhQnVDSFpjQUtpa3A1dGFSaW9CMG4ydHNXM3JyYW1rSVdsSStHa1p3VlhQcnhHZFZEelVGSTFIYTNtbFNEZmVZVTlNd1NDbFhXbHlzcmhIMkJiSmlFZjF3Y2FuWG9sRWhzZnVHOGFuWXZkK1dNeEtnemRubkk5OHBqLzA5dUtTN0ZyN3JVWE15ZEZNTUZuUlpnUWRPOTV6aE9nQnF5VWlxakk4S3c2dTFMcTVqc3FtZGJnUnJrNnU2MUVuc3lBYk1BMkl4MU9UZXlTS214NGtXMUhOVUpIQXpkUnZKQnhzZTBkT0tZZUp4cVJRZDRnN2plMFd5YjdzKzFjWGxDakJMM2dWM0dRU1lhdG5OeHRKTitiM090aXlsZFR5NExGcklhQnNNbHBXYkFseXFBWUlnOXpxWEI0SlVweUN2dGtNK0t1QnlqMWVCajUxMVROVkpSOHIyNmhhTDFWVldEWUFpOGdTTEtzTDdpbStPU01mbG5ITGJabkZMcEMyb1VrS0RaMlpWWlU4Z0xtbjRzaWttUnRYYlpKeW9xcWRSbU9MMkRCK21ZSCs0WmxNVWNLS2IzcjlybDBBTzhMQ1pJSHB3dVcxTmtpVTlVVWQzS3NjQ3VLeElTWURMRFo3c0tJRHlYRmV5K3FqVWgxWlhnUjBNMHVPMThLUG9Bd1F2TmE4VmRsaWk1OEN4NHErWmhxQVZKV1Bxd2llNWZPdWpUVlRTQmFTTGFWSTE3L0ZMSUJUMnBOclZxNDcrcnI4c3FqVWREbC9MWm9ZOWhZTStmMkJQMWdJSXZXZ0xnSndIbHlXTERaUzlyR3I5NWN0RUNuQ3BHdGE0M0RINEJhYTJIRUl2RmFvckpPUlFEanhmWnRwbzZ2bEJ0YXJ1aXpxMDJXSEdZYXZTYThIbHVxbnNwbUxUUlZOMHNuRnBsb3l3c3JwaWVzMVRMaTdyWnIwMXJ5WjBWU1dKU3hqeDMxV0lVVno2WGpTaU5PMVFYTUtLd0hYSy9LU1prcUJ4V1NiNGphS09mQWE4MUNKajdCMUVUVmlqbXNoVWxjenBxaEZ4bjlYOWh4MjBYdUFhbmhYZjVKNCtqME9ydlcrYjJuWUtIOWVXVFlJY2FmVUUrc3NWNkxQcWN2ZU1Tc203aTB2Z1ZkQmROazVGTU1Qd2tORkZHcUNZN2I5RWluSnVNSTB6dVhFZ0pSNS9XYWIrRW55WlZsWlhhNWhKVHVNUytDNXJCcGhUUlZ0ZWFnZW83T0JmdGhSN3pjd0ozTk5XVklGOXIrbWRDRDRzN2tTRDJ6cXpHaUExMHhDRTdvRzlPYVd0TnBSZEpFSkVVdjI0R2VUU3BDYnFIQjlDbGN5MnBkTkM3M2w1ZDk5RDRscDBYWFp0V3AzRitEMUpBTXZLbExwMTBkWnNYMDYzaWlydXMwODd2MjNJeVI1YzF2V1RBQnlBdStSb3c3a2ZKUnZLTnpHTmlwS0JCR2VFS1BKVE1jNkRsenFOdDBNZm1JNGxCMFdycS92czk4bnJacWlzaktGS2g4WWwvcEltWEVvSkl3ZFQ5YUp2cFhDeWNRbGQxa2FOSzhJZW5Tdmk3dUlTWWFNZ3ExNzlGUlFhazdoVVFmNWZsdExvcmJ2dUMyb2Voa3R3ZkJxRFdwb0hsNGkxaW1aQU9HUHczRStOeE9NRGtnV1NJWHVnZjBhK2J2bGRJekdLWW1qQ1hNbW5CZHFrN0NxZDV0a0tEU0ZzdjZJNHpYMTVmNFhzdlRVOU5rOXNtbFROZS93U1lIa1ZFWXlVZFl1cnNoL09QSTZUVFVVV3JXeUt4SlNhejVLNFJQL0VyejFaeDl6Z0FITHMyYkFPZ0V2emRrWko4K0FTNVZSVU9YZXpDR2MvTlpxWGtHRGk0RVJSNkt3K2V5MGpoNlFnZW1oZENhNGg1M0graFYrVTZJWkVvTTNhY3dEeWRkSzRTSjVzZndtbVVONHhlbzNzZTZNbEV3NHU0YkhWVGlDM0puaE9xYVZWY24wWjNZR0doa3M3WkNrV1RxUTlEVUZGOVJob3FtL2ZZNjB2YTNTdnJLcDVjSW5yMEpZcTU3aEV2ZjNVS1BvaTZvalg3MkNWa20rMWFHVEoxQlNSRDhzRTkyZ0F6dU5Kenc1MVV6MWJUajBkYWtJeVRkWlB3NTV5MCtSbHFtRjJXNmxTRTVXT0N3RjkycnFqN0xLMnFJUExLbG1McWpyZERabEs3c2VqNkpzNDJuQlZGTGU2NzJ4RXhjUSs2ZkE0VVcxQVhJSXVCRGM0anlNdS9WUW9lS29NREhpMUlETVlMdWZJUTRWNDM0U2ExalVzTHFObENVdzlleWx4aXdmNHZMNm9zdnArb25HSmM1djdoSjU2UWZYZHdXWFI0L29hbHlXekQ1ZlJoMktRVHdJYWtyY0FDTml4b0NNS1VCdjJYZFU2djF2eHl4WFBnd0hmU05UUEVRQndFMnNoVWlxWUVCYzROSVNSbjhwWjN2aHliSms3b09KQS9ySk41Z0NNTFNUUU5HUmNIYlNZLzJOVXdYUkc2QTVScnF1NE1sYlRrcUppbkdoZFpVNmV2NlJMUnRYTG5Tc3E1ZUN5bnJUL29wN1lZZFRYVkQxekwvdzB1Z0YzMUdZZ1F0ajJiSFU5dUxUZTl3QXVOUVoxR3g1YzR1NzJvbWJBT0JGVzgxTWwyOTl0UXgwRVd6ZXBycEdrVTBYNnBic0dEWGxLbGhVU25kZTErc3pqeVBQbG0wQUgra0R4aXVVdGZEbG1QNjFZb000Q1FITHljVG5zK1VzWU1vMHNiZ1g0aUxkVXlzRWw4R3JJU3BZNVFKaTRBRk1WbGFiM1hEazVhczFOY0FOSlIrMWJYeFlwcU1FZmt2bFR0dUxCSmU2OGJWeGl0TlZQMWJvK0NwVWcwL1NlTXRGY01oRnZFRXJSbzFabnVQZmpVdHFyUUljdElobVM4OUJqZUZsSy9MTW9COXFxNHB4NFhLclFESFRQdlR3YlBlaFdOVGt6emh1L1orUFN0eFp0YXI4QjRXVUNCV1V4dUlPYmNtTHdCVHppQmsvRUt1SGlTWSsvYkZKUGdTdEV0NDV2SHNlWjliSmhoS2J3OGZGU0MrL1RmQ1ZlcWViZEUyc21rY0NmekRKWEc1cXJtQ3hQMVpKSVF2cGhDT29TTHlna1BvR2UwaE5VZzRqQWFjRnh1RlRGTjdaN0ZTeVVjam5Za0NvV2swOGkrUU50RzVlSUdtMEtXVDgrby9vS28wNmdBQ2hvcVpLU0d4R2F4dGdTckNEV0ZZZTZlM0JwbldQRVZ5c3R4YXp1SG4rSnY0SkJOSzNKcWRsSFZUK3BDTklBOVZ0ODg2NUNYNnFGNUIxL01zdGM0TVlUejVoOWJsVHpwdUR5YnhRRDZMQ3UwdUplV29WNzNUVWhmMHVnN1owaTFSWTB6dHpRNXkvcnlkVlUxNndHYlZ4NjFxTEx4ay9BdkVLZ0FKTm1yeVV0MFhiOVpmVkJLSUVSdU9LYXlvUExEdlU3MElibHFIaDlIeTYzTGJmVGxOc2hIelZuZWdCb1BzTmpBc2sxcktzby9tU1d1VkJ0dHk5TnV2NHdySDRFN1lnUUZiREIwdzA2a0N2WDI0VmNLVGxQd0ROYVVYeCtxYXIwT043Qm9pL2FldWRKek1QRzVRb3dvNUhJVlNQTFBYdGwxRFVQL2dxRkZsYm1lM2dZVEtkbGI1ekkvbjVQM1JxMnozRnRmTGlzV3BHYm9uUm5QbXFPck9lS3VDR0grWkgyOHROT2owWG56WDhkWUI2cnVQdVNZYjdmQXlzZGpYUDc2WVk0S0ErT1FBOWNQYURTbWxEbUdNempTdEZCNzdqa1dyZVpaNGhIc25IWkp1YVRkY3BrMVJwVFNUaFVWeVNUKzR0c0MzeEo0WXQ5ZVB5bFBqRExoUUd5bEZUSXh4VWsrbkFKcnAyQXZpNkgwRWZOa2Nld3lYdFFzaFlrZGQ0R3RrT3ZiU0lkNkhGeS9UZk05eUZyWUN3bG5YaEJUdG8rZzdlZDVQb0Y0aCtxVG5UaS9DV0dUclowOTNoaW16eVpOaTY3aVkzMUFoMzlNaGxodnZmZGtJSnJ0QUJvYmI1WGdrZkM5VEcrL2ZpTXRRTUhaSmtuSVNjR3hvZEwyS0laUG5oR2NOdkRsMlFKYW81ZDVXWDRVV09yL0pQSE1aR0E4NnE0TzUvT242dUNaVnkrTWhGQ0tuc1JCS2hUUzRlODFWMXNmdzFydDVPYlN2ckZlcTlVMHVxeFM4TExRMmNYdlV6akd6WXV5d2trZGZsQXlsNTNLVWd4aHIwbkM1bzZKUWd4TC9ERlBqeitFcDZjWFNrSGJnRG1uczd4N1pQZlgwWmx3bWRXREI1cVRtSVdwYmE1b3FDNldXSFBlUGRBODlaU0dnSHRtaEc4K0paV2xDUzhDTm8yVDlFOGVaNncycHg0a0RydTlJNHZPc1hEaGx4ZXFWaHdYSzhWTUNnWmR1aEdrZmdQZ0FHZHI0Q1hadmx5c0dWNlRuL0lDWGMxZXNsVTUwdDN6VGdsQzVKem44OWZBaEpKRzZDZUFYbGJlRHFmdjR3Z1lIWlp0VmpUb1BGUXdiTnFBelNGYzRxTjZ0SzNLMG5xUHVmZ0VqZmtaMVFodjhOVGQ5RWl5SXdYUVNXbWwwQ3ordWNOUklYaU9yL0RPSzBLZ3Y3c2tPbkdLMVZ6SHNORTFjd2dRdnMzR0JNQndjSWxoaTgzYUIvemR2UmloZkVsdXVDWVlnZDdrdGY5VTdxYW5EanQycHpaNHk4aGRIZFpDc0liT0hoWkhWWjFxN3lBdUZCNDRiakphZWhZZFdTMXJ2ZGRIaXIwU29pQmVpWHh4TnhwbkZPaGNWcklzeitMR2tlQ2pyT0QvY2hDUzJ0MkhaSHpJcWpJZmtQeE5tMDRxejlTZ3ZYTHVtS1I5N2JwNE1uemwvQ2ttdGtBT3Z3NU1QQkZZd0FMbCtBQ3JibHBhZHVlMTJmc0ZZQWVscHBWQzJKeGNxaWhiZE9TU1Bsd1dUYTRBYVpDekE1MkJmTzBjTU1ZTzFKeVZndzhtbnJKQmtKWEZVT1NDcmhVajlPU25MK0JwRmErczlycEt3bDRCNG1xamlDamFTdzdZcGlNMXRCcEx5N0ZnaHQ1OG80WU9IZkZMMmpnaWtqcHp4MzFDQUxGSzFWekhyL0VVMkRQN3htMXYvd055Rk43VWx3V3VsQzRwNWtMUDFlSC9LYk80MmpScXVWM3lxS2xoajFpeTcydmlxdEladEFvdW9CWEEwU3lIazl1S01sRnF4RjBtUEozM0xiNXNUUSs5KzlKWmxCUk5RYm54bjVkVUV2YVhjTE9KMEhGV2VDaVlIeGN6YzZmVlE2ekVMOVhTcWEzdTJPbzh3bENLUlNCb0NvTCtqUjlTQW1yRjBFejhpZXpvdWl6empQY2ZWRFlDcjdhYi90akRHbXVhcmxlcWJyMGVDWHlYM3ZvVmpSbjc0Yy95cjhRSUg1d3czNzlvM0Y1OTgzL0hHSElmdk1TNTcyWi8rQUc1RStUUHNNSXI1bnM0d2NWbmltNC8xSlJRem55YWhsK1JWTDNLNnFvU3VZcnBHM0xwK092Y2QyNWRPbGppT1hlN1pmV29sKzg5Qk5ZK2JjdS9SbXYrZ3VTNzk5cTNDRTVRUVd0UzhJcExjVnFqd08vK3ZZc0NJY3pITW8zWTBaZW43NU5xUGp1eTVMd3VZL0ZndktXU3k5UlRMQXJzVDJxS3ZBaXFCRGZKOHIvbmp4Q1NNa0x3ZnhUTDEra3FBWlozM2lsU3I3amRvTWxpL2ZTeXpMb2tNWWxCNldIblFBUlgrSmVORVlvbFBlL0JibS9LN0ZmTlVSTWxZa1l3aytvUEhsRjFYSi9oamdYczk3SDMvVDZiN0NmQWc1OE1TbXVpajd4clNiaFJ4bDcrRy92K2tmNVc1WktuRXVGSC9mS05YNjNGVVYzbGMxc0FMOCt2UDgvMzNUWHR1Tzl1SXltYkZDN0swMmdjMDg3NGQrRUFuNEVmWW05Q3pRby9EN2JoeHU1TUZ5aUxyVzBrTVd3Z04zVm5INnB1dmhZSlJiUTBTU3YzbW5TQzQzTFAwa3lJc1djZWNCS2RHWUJ5TlJaN3l5MDhVb2lENUp3eWxWZUhjdmRzZ3ZuNzc5SFh2ZWV2V0NXVTRrWmNWRThKTzlBTWZPODJyM25MakRBWmUvQzJYdnVPWHVob1VZUUlJblhENm9HeGQyaExvSFBod1ByOEt2VmRHcGVqbm5WbjdTcjhseXpCNHFpaHF1eXNObURadTlCVXNPc2licUpmWXJnVGtIUUg0SUc1K0I4eTBVcFU5NTJObVFpR1ZSYkprR0RFN2UrdEsyUXpHbGNKb3M4bEtxOUVzeC8vUng3NEhiSDBuaktWVjZ3ZVY1VjZUNzNuTFZzUmNiQ0kyL3J2ZVdsZmFxb29ydHZiWnkvdmFKeTZtNVQrWG1pcDE3T3pyLzl3NG9CNy9tdlF4dmZwcFRoMG1VeXk5S2FLYmlNN241NW8vZldoeWtucFBINHRMemdSK3RVVXR4bjZFSWhUYXBkNWVUa2hzUGxLUktQVHJWQmVVc1Z3VUppWGFYNzNSdmdDNC9iQmY1dDE2dnpVQWpDNDlQeVNnVFZPblNoTUpSVUpmSVkzNGZENVpUN1RIdDZydjRSRllvOHNROVBCWXowcjNycGsweGMxbkVCUjh1aEVOUlUwN2puUUZHWHJuMkhrdXBvZEJ5encrRVNuTVNoblh6Q3ZPS0RONHd2SHNvUERCMnoxaHlFZlNKNDVwaGVydGo2RElPZ1FxT2lLM2RkQnh5Yk9mN2t4UzkxdDFNU3crRVNOajd1YWpJaHQ3U2xTYkNYVGhrOHpjSVRxZjh4YjdOTlZLNld0a1FaQnBmVFpocVBtb3ppRUNOSU5PSS9qTlNKc3RNMUtqTWtMbE5IUXplUFgxWlJGMFE2L0RFK3hTRHY5aEE0aFJPYTNVNWJFdytEb09hbTZWM2JmaDBMMyswMEUwL3dsOFpPM3RUQ29RNndwbUk0V04rTzRYc2xjdUsyN1NyU0dTZW1wT0NlME5lYURZSExQSjE5VnF5Z0dpNXV6bWlaQVpmRUZMNWsrbkJJN2tLOFNlb2xZaCtrakNidE1hQWxrNXFlU24xQWg4RGw0MlJ1Z2ZkSDl1NnZhRDJyUTBpZFZKTU5wZGVROHpoc25WdDk1ZDloSFVpQ0l4aDl1VlZoK2lncmprbTdkMndRRWZVR1IxQ3VRYTB6WjUvbEt0aWhqOEdsRWxXT2NYSllYTTZsamdjYVlRbitNdlQ1bGpMSFk2K0NWeW92L2FySzlydnJGOWY5bUNhcHJKZ1N2UnhpeHYxOG5USHhvaDg2Vm5oOUdSWTliekloMFNrN2xCRncyWC8wYzlacTNPSEY3MnpBdFNiSUhaNWg5aXNpcDRiS1Z0TjJFWXBod3U3NTlBM2RvQWlDdUJCYzhxd0NIdVhEeTB6c05mdDEwcUJTSjh4TzE2ek9zUDR5MmphbVN6UzZ6TTdmYzdZaERrMUc4TFA5OERiNzNuT04xUVJma3JBd0VIcVQ5Y1pGbVUyTEVnM3VMN3U5Kys4OXA4NnU1eHY0VHY3c0JmTXFzazZqUklOTEhaZEJzbTUzYUZ6TzBiY1EyV2tUazBoZWRsSkhKbWxIUFh6SkZyTHhiSXNLc2JLQmJLUW10WjFVeXRDNHpLZHVSSS9VeGRvaCs2a2pDYys4Y3FIUGFpWWJCSFdjaFUwMlVqTTN4TWdFRG8zTHFPazVTWHQwOWViWmU0OHU1THBKb04vQWR4dk5Ca0hsNzlseXM1RnF5NXprM1BDNFhFNWZXaDJsbzExN1BYVVVVYU92dTkxbjFaRUpnaGJjMVZJbVVrZHZtTXhhR0I2WFVkRXN6ak5UQTc4N3RKcWh0TkdLV3JaZXhUaHRaWUtncnZzYmFKbElkVFNkNU93U2V3SCt5cnd5aklwVDFuZCtocW5abDdlWStQM0h2dXpqTEd6MmV6S3pRTkM4OVpEbVlJUjJWUFJ0blAyK2ptM0QwUXE0NkRkK0RtKzgrOExoUE1OekxOc0J1K0VGWExjYVMrNGthN1hjU1kyNFcyeDlNMjFyblZEall5U2p3bjNyblp6Q2E4SGwvR2oyenMycng4U3NIV2RQWXF1OWN2Z1JWYnRDTWxkZ2U1UVljRW10MFNmOWl5TjVkdlAwQzl0OVdoOTcwUmY3ZG4vK1h4eFp3WUw5UmJvYkVaZEh0bUVR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pDSkJRcnduNWhEL205cEp1MEdJWU5iSU1mSGFIRCtrOEI1TGY4UE9XUy81Kzhick1LZ2ZJTkpHeUhYblpmN0NaOTZmNy9TZ2NyeUg3RFlic1QvNGJzT3VOeitiY3ZLcVpsQitWSUZYSytDT2ZmUHdhMkdNL2pmMGlnK1EwVUdYRkpyWkpXZUh2RGZkd2ZseTBxdkFlVVVMaVgrcGJRUXY3TlA1U3orNS9ueC9WM1N3bzJKeXhlSkJVYVJMSDluTUttRDhnMG1MVE91YVdiNUxpNzN6Z01LRzZlcFdnYi9ZSjl2dkhjRVVoMlJFNTFkWWlQRzVleUFmM2VmeXZkTFAvTzFoKzQ5K3BydFdrZWh3NTVMVkYxaUxtd0lTeGE0ak5vdThqT1JTclNjZ09UVUxUL3V1MWE1YWtmRFpWL1JvdXVscHdjelFScmZQTVByK2NHRWpJQnJoM2s2ME54UGJ5a1RCTTJ6ZGJ1RlRLVGFJc2VkcS9LUlRYeUk2ZlZvdU93cm12ZDd5ak1OK2d5U3lqZHVYTmJaUVZMZktiYWFKRXBLTmdncVBtTTNrSTFVVythWWM2Kzd0eUZBZWY0c3Y4NkpYQmE0N0N1YWQ3dksraXpGaUdGUytmSTMveEhvT3paL1dZREdXMFJQbVl5L2w2UkpTallJbW1ON1ZndlpTTFZFVGtBbWgxQ3NhRVh1K2hQSWltWFQwZndsU0V3WGpjMFZHaS9vVmxWaXVaSGNTZmo0RkgvMHBUSGljaGtzZFZwcm9oTTFIMWhGYVRZSXlyT3J1akZNWkNQVkVqa0ptVEt6bDBtUE1uYUY2M1ZrWEVhcG9sSCtyTHRPQWlESExMbEQ5L0FacytYSGlNdFp3T1dtVVVXbGx0bUdTcnIzakJEVXRaY1BHVWwxbFIxM0htWnk2L25MTjZTMWo0N0xWTkhZNTUxRTBDUUhPUDV1d2h4SlBzb3lSbHpXQUplVzVhUmVEYzl1U0JSbGhLQlR0cHZPU0NxMTZnU2tjWlVrL0tOU3Bpb2QyWkZ4bVM0YW1pb2tGb1kvRzRNcUNWd20rWlNlL0Q1R1hIWkJYZC9pZGlkMUlzOElRWXYyNDVDUlZNdXM0OC9ncHZhTXBjYXMzRkVlR1pmcG9xRzlhVHM2K2crL1Z3ZEZQTGgwK0N4TklkUHdRc1BsR2trK0JuVjdIc2x6eVFXSzVNb0tRYkVWaThwS3FxY3JZeVF0Z0hYM3JQYW4yQmJQSHhtWDZhSkJmbHUyZ2szTlhRQWx4Slh3bDVTUHEyVi9qQStYZVJhRHloVmJIY3pOSjUyK1pNb0tRVTEya1RTYmxWUWljZ0tTYzJEY2xxVkhUdUwweUxoTUZ3M3RsVW1VYUVWZ0VqOFR1S1I4bHBvaU16NWNUckVxNkx2bDBTbjJlVkhreXdwQmM5WitLeXVwbnA2TWtkUUI0OXJOTDhtbjhjaTRUQmNkUlV0MC91VzRQUGdZYUpMQXBjVm42OGx6NDhQbDNNRTA2THZwMGFuclRFQ2FKU3NFTFRNYUk4MUtxbFp6SWhKTnhweXpXWG5wUDQrTXkzVFJVVFJEMSs0cjdQeGIvdGZ1RkF4ekFwY1duOGRnNDhObCsybU16eWJqV2xIVThhSVZsTThLUVFWclhadVZWSTkxeDBqYVp0YkRCNXJrNVF4N1pGeW1pOGF4UzBUNXZMajA4Rm5HR2g4dWk4L0Jwb3M1N3dTNWJ0T0pwMHVxbkJtQ1NuU0JtWmxVeTdEanpzU0pJTnlTbk5lUGpNdDAwVkhVdFdOd2FBVXZMajE4bHNYR2g4dkdSZ1FQbnJNRzRycmxtTFZmTnZwbWhpQVZ5dU9pTTVOcUZCMS9LaGxqak9ibDY0U2o0cktQNkNpS0UxRjFQeTQ5ZkpiUnhvYkxKVmhFVmdHWGRHZXNOR1BKenZHaXpCQzBRay9ZWlNaVnFUOEo5MlNNTVZxVVQvdFJjZGxITkd4N2tpN0Y1eTk5ZkpiWnhvYkxCY0RlS2NEbHFxV095SlNUa3dFdnlBeEJNL1RWY1daU1BUMFpHNG5HR0JjdmN6V1c1WnJwcUxqc0l6cGFvSWFWbmZmaDBzZG4yV3BzdUR3RkR4YjI4SXFsanNqc0pCZlB2Q0F6QkMzU0UzYVpTZlgwWkd3a0dtUHNpSzNJbEF4Q0hCV1hmVVJISzU2TnJBK1hQajdMVm1QRFpSV3NoTi9NU3dSY1FiMGFEVFlRZFROREVCeFhhV201bVVuVkVpY2cwUUhUS2pXNnF6eVZlNDhnSEJXWGZVVER5aXpwWjN5NDlQRXBkZmw5YkxqY3hzT0FzQ0YzZ214Y3FUazN4Q0ZWemc1Qk1RbVJaaWRWcWprSnR5YXhiRjNNNDBxdG8rS3lqK2lvNkhtSDdNT2xqMC9weCs5ancyVmpIZG92TWtaZVcybkZwcjFvelM1K0dVVWxjcWJoUk9JU1FoM3EzVUhlMlVVbWNQbmtMWEh2elMxdC9jTVNmVVJIZGMvT3dJZkxKRi9oa2R2WUEzKzZxeG9YdU16OVVlUDhqem1hUFhsci9JQkxpNklrTmZkUHpySDdQeDVGZDJ3cG1jRFU4RlRWeFpqSThlL010UUdYOXNQTW1SYk5IR1JWNm9jZzNxK1hXZXg5TWp0a3Z1a250WStJeVM2cW0vRGxsUE5hMThYbFh6RjJFTE9EeXFBZDZpTTY4c1ZYZkxoTThNMlhBUXJnNDF0U0M0N0x4UWFEa3g4SEY2bG1mdzRFT08velR5a3RpcExVTHpUWVd4NjZqWDFnM25pZ1Z6RjJ2c0VPOXV5cWRtNmErMGxjUXAreEN6QUg2ODVXa3RyWFh5NlZHVHZMMkgyK2FoNWFtNnhnVHlJdWFZeXg0N3k3Y0hBNXhaNzljQlM5TVU0OTllcVlyNTlvZUlQWGN0aTljZlVFMzFLZDdYL3JxM2Q5Z3oyN0srb2pMdlAxOTdXaStkaDY5L0phdHYrcHFQQnZuTE5TU2VvOGV4NDFlYW9SNjVYRjZ4aDdhVlI0bEIxZ1FkcTF3dGVWK0NpOTZHSHhldEcrdUN5eVYrNUcrYi93VENNZThSSHNHMS9ROUpPSVMzekZxeDc0c3VrcTc3T055MEpkak5NeVdYRnIwL2dTL1VURGVDYXJlUHhsZ20rYjdWZXc1bE5NL29JTTR2TE81eEdrOExXR0xTemkxN1JFMVJjdGRIbW94ZjAxV1VIaEVpYmhIMEhTdG5lcnpabmhvOG1OQmZ0aUFoQlZobThOVmszR3BOSVI5QlgySHM3V1ZZc3FVOG1ibWlNUFlicFViOVZqUVVRczdBbE5YMGZmSVNESnh1VXNrNzl3c3VOekVFS0U5ZGxQOUF5TnY2bGFIbHk2ZkRNNmp2MlZubkNZZ010ODR5S0tBUDk4VllrcTFCVXdka2hBeWtOZDFKSEdrc0psbDRrWkFZS1RYSzZTYWQ5THdncXdWa20rSU1CdHlhYk5MbkxwQ0tyTFgzZFo5RzJqUEtLbXljbU5kS21laXNlRWhOK2RhcUd1Ly9BSWMyMXA0N0lrZ1JETkR2aEk5eE45eXJkaDllRFM1YXNyTjdIMFF4SjRnTXM1ZWFhblpNRCtDNG9QRHVtYWpZbUgybUVWN0QxYzZwUTV3SEdWRTJCdkpyNFhLbkxPcDV4bHVtQS84WUJZNWR0a1cwSUtVaEUwelI2VWJQVTl3cCtlQkMxMVlhcFV6VEhtUk9Fei9OY1FmUjlyS2FxdGdGMzF0V296V2JqTXFXMzdWTU1Yc2JOcjhsdy8wU3YwOUtXcTY4R2x3d2NISGpjRWQxT3Q2d0NYM1QxQnF6SWRVSWdWSDRaeTlGRTBEN1dvaDNkUitzdW1SbmZiNndwRlcvTVM3UjB3bm14ZUZJalByaC9TcVFpcUtpRTM2VlVWRlpkTXczZUU5WkNtU2sxV0d3L2xDWTJ3UkNMTng4RlltbXZQVnR2QzVheGEzNWU5bzFXd3EyS3VuK2lhUWptdDVzR2x3N2VqdDB1eGV0SFNZTStjbDBJNkdpS0FYejFxYzB3NWVoODFOck93d0NXc0dMOHI1Y0dpNFRMVmo2Wm5wSmZFU1dHZEZvaDAwendNdERBVlFYVXBEcHIwU0l0MnFSQ2VobW1nb29pcFVoWER1TzhXRXNCZzVFcnpjVVVJdVZ5QzY1YTNBWFBMN29DRnk3YjBRTENiY2JidFdHbEpMUEdzK3YxRVYzMjdCUTh1YlQ3QWpPd0g3dlhGbzlZd09GclJHNThkeFFjS3dUWm1YZWpsb1JiSVExYm1iQUMwRGNHT1N3Q1ZsQlJ6NjBoRlFMclBOYlo5L1V2Zmp5OHBIdzBqdUdvYVVhblBxaWRGRVhna1NqOHpFNC9MYVJpa2xDc3RMbGJYbTRVdmtCV0w2TCtGeTIwNXdRQjRuRzA3TXAveW1MT2ZhTG9iMGNiMjROTG1BMitpNW1Ub3BoZ3M2TElDRDV6dU9jT0ZBV3JKU0txTWp3cUJSdDE4Y1IyVFRlMTBJd2l5WHRXbFRtSkhObUFlRUl1aEp2ZE9GakVkbHd2cU9TcDZYWFFqNlFuZ0VUMnRoRTg4THBXaVE5eGhmSzlJOW0zWHAxcTRqS1hYOFR1UmJWbEtXKzRudXVnYmNROHViYjYyd1dCWnVTbkFwUm9nQ0hLdmN3VkFrT29VNU5WMnlFY0ZYTzd4S3ZDeHM0NHBlSnBhZU1lcjdGc0Z5eUxWQUNoaS8vb0ZMMS94VFNycHVKeFRidHNzYmtVei9ITkJsUklhUERPcktuc0NjVWxqakUweE1hcmVPbkVpaFlQb3B2ZnZHaGFaZ3VIZGRJbDlSVy83Smo4UExtMitrcDZvb3p1Vll3RmNWbVRUZ01zTm51d29nUEpjVjdMNnFOU0hWbGVCSGJUdThWcjRVZlFCZ3BjV05DcDJHRE5yV1YxenhWOHpEVUVyU3NiVWhVOXFHVHJSSmlwcEl1bGltbFROZS93U0NJVTlxWGIxcXFPLzVTLzljVHBaQXhBaHdubEVRbC9ScFNTLzkzMlB6UWZLWGxZdC9PWExSQXB3cVo0VGpVdkF5cGJpd3krcUN6ZnFwVUoxaFlRY3lvSDRpNWsybW1TV04vSXd0YWhEbXgxbUhMYmhHUjZYNjZheW00cE5GMDNSeWNhbGpqRkNoNXRYVEs5NXlzSWxET0R2S2dBNGZQeFlqUXRxZlAyaVo4U0VhQnR2VXA3SFgxcDhzSVJJdWliUVM2bWpjVmttK01WdnVJbUh3RXN0TXNiZVFmb0ZhOVRubFR5TUtMUjB4a3JNNmtaaHphc1h1SVpseFRlNXA4L2owR3J2MjZhMm5VS3p0R3dTNUVpcko5QmZya0NmVlplN1oxUkszaTFjMW9Gei95VU9oMlpVZXd0UzNsZDBlVUIvYWZHQkw5UEs2b1lhWnBMVHVBUyt5NW9CWGlXejcyTE9TKzBBbFIzOHk1WmlyNmw5UGhMYVRLOFJWTG04MS9ST0JCK1d4RE1KKzBDekdpQlYweENFenpCN2M0VndraVJvb2Iyeklhc2ZOd05LbWxURGZPeFNWVEk5bDA0TDllZmwzWDRQMlVYVHNYMDVlOW9kblgzYSthbENMTzRydWs0M0prcVl4MTlhZklDNzVHakR1UjlWSDhvM01ZMHIyNHVLaUxFQ3ZnbnhVekhPZzVjNnZyZERuN0NPSmNkSWhHOXpQdnQ5OHJvWktpZFBzZ3lKUy93bFRiaVVFclFsMklrVmZTdUZrNDFMV3FHUEFRQUFJQUJKUkVGVTZMSTJhbHdSOXVoY2tYYXgvS1dLMmYreWJUU2U2NjU3Z3BwOVJWdDRVeElQdytXS2IrdnJ3U1ZpcmFLRTRndEd2Z254VStIN3d1S1NoK1FnZTZCL2NiNXUrVjBqRWM5bDBDdjV0RUNibEYybDB6eGJvU0hFN1ZjVXA3a3Y3NitRdmJlbXgrYkpUcE9xZVk5ZkFpeXZJb0tSc201eFZmYkR3aVc2RzM3dEpYb0o1NG5qNVA2enIraHJ4YVY1TzZPMDhPQVM4VjFSNVJ5WDZGTDkxR2hlUW9LSmd4TkYwVW4xMldzWk9TUUYwVVByU25BTjZTLzF1ekUzSkFKdDFwNERrSytUeGtYeVpQdExzSzd5anRGclpOOGJMWm13Y0JuZElVZEMrMWZKQlFmTW5vWVlvVUsxcHZZVmJhMGJWUldQdjdUNGFuU3ZyQ3A1Y0lucjBKWXE1N2hFNStXblJ0RVhaYi9ZNzJDVmttKzFhR1RKMUJTUkQ4c0V1dnNYSEtmTTZvSldUdlZzT2ZWMHFEV1VxVlUvRGU5UE4wMWVwaHBtdDVVcU5WSHB1QkRRQ2E0N3lpN3I5WnFOeStpYmNnQXJUb1ZvWnlNcUprSVovVVZiKzJ3bHo0TkxpNjgySUM1aEhBbHVjQjVIWFBxcFVQQlVHUmp3YWtGbU1Gek9rYWNROGI0Sk5hMXJXRnhHeXhLWWV2WlM0aFlQME5PL3FMTDZmcUp4aVVod245QlRMNmkrTzdpTVBoUURPNGxQU0w0Q0RPaU9oUVFzNkMvYXdwdHE3ekJjcnBCTm1xb0QzMGpVenhFQWNCUHBpSlFLSnNRRkRnMWg1S2R5bGplK0hQdkZIVkJ4SUgvWkpwTUd2Rk13YXlIWkpNUUFraXNPS092ajJlYi9HRlV3blZHU09sZnhEWDl5eDA4Y1NoK3BTc294dTJOOG91TG92S01uZGhlWFVlR244YWwySCtrWkNQaTFFenZYL3FMdDl6aFNBdzh1TFQ3QXBjYWdWdHFEUzl6ZFh0UU1HQ2ZDYW42cVpQdTdiYWlEWU9zbSsyY2s2VlNSSHN4czBKQ25aRmtoMFhsZHF5OHVvK2pMTjRFT2llRW9iK0czaGI1TGhJaWtPZ3NBdWNuSDViRG5MMkhJRXZ2R2VFdlpJSUZMQ01HVWs0UFEzT1N4YThmdjloZGRUS0FiR3ZYZzB1SURmMGptVDZtbEI1ZTQ4N1p4aWE5dy9GUXBKWW9lRmFab2VvK2xhQzZaaURjSXBlaFJxelBjKzNFcDdWV2d3eGFSRE1sNTZERzhMQ1grV1pRRGJWVnhUand1VlN3SHV1ZGVubzBlZEt1YW5Cbm56U3NWRHk3UjY1ajNkTnd3QlR6aUJpalVaaExtNmkrNjZmRUFQbHhhZkxoQ0ZNTEpwd2VYT0xOZU5peWdHM2gwOURwSmF1RjltcS9FaTJzMHJxN0xuQVQrWkphNTJpQzRZckk4VlVzaUNlbUhJYWhMdktDUStBUjZTazhVRGlJQ3B3WEg0VklWMzlqdVZiQlF5dVdBU2FwWVRENko1QSswQ1M2WFdxcFRKWGZsTkkydlBtRFdYbGNjNHQ1ZnRQZDhvc2RmV256NGFxVmx0NEsvZUtIbmRyVyt4Ri9CMElPR3d5YWNzNCtxZmxJUnBBTHF0L2ptWGIvS2NadlNlZnpKTEhOQnMrNURDUSs4WHFVYnhsUUUvWTNpQVIzV1ZWcmNTNnR3cjdzMjUrOE85S04zR05wdGlXUElEWDMrc3A1Y1RYWE44dEhnY3BIMVdySS9iZGRmVmgrRUVqRG9GYnZEL1VWM2ZQN0VnMHVMRDg4Njd0bXQrSEc1YmJtZHB0d08rYWc1NHVrYWVIb1RkTkE0ZDV2U2VmekpMSE9oMms3bjRSU25NYVBoVFBHWE95SkVCWHpnMDBFSGN1VjZ1NUFySmVjSmVFWXJpbS9pY2FrVUhmZ09GbjNSWnM2TExTMG5HbHgyelhPODRpS3FjUm1ZWVd3Y1FmMUZPOS9iRVRwNGNHbnoxYTFoK3h3T21kZGZWcTNJVFZHNk14ODFSOVp6UmR5UXcveW96eWVCOUUvek5vUjY1aE4vTXN0Y1dNWGRsM1I5NS9oUy9DVXNqVFRPTFVjUFRZamdDUFRBMVFNcXJTa1ZUaHd1Y2NtMXJub243alBFSTJsY291V3ZTRDczQjlZVytBb2hFY280UkxRK0NFdGI5K0RTNWdOa0tUV2dYbHpCeXI1NUhGWVY1Q2tCTlBNaDlGRno1REZzY2x1VXJGVm9uYmVCN2RCcm0wZ0hlcHhjLzIxVFJVMVZMNEpxWUYzRlFyd2dKMjJmd2R0T2N2MENVUzlWSjhVTDYrTGpsOERReVphdDlqWjVNalV1Y1N1N0lmbHFaQ1NSMU9ZaEU0Q2g3VElPRVQzajJWbjc5ajAySHlETGVLcWNHQmdmTGlHbWIvamdvY0p0RDErU0phZzVkcFdYNFVlTnJmSlAzVldjVjdFZ2NUbC9ydG9sd0pLOFpTS0VWUGZpRWxDbmxnNTV4eXhMNG9scVcvRUZMbzkrc2Q0cmxiUjY3Sko0ZHZDaXBmVXlqVzlvWEdKSWVrL3lOWFZLRUdKZWtBaGxIQ0lhWUxzckJacWJ4MS9hZklEK25tYm4reTIvdjR6S2hNOHNNVHpVbk1Rc1NtM3pua0ZmemRKd3hyc0htcWU3S3FoWVM1Z1J2UGdXaW5Rdkw0SzJ6Vk0wVDU0bnJEc25IcVNPTzczaklTbnhzQ0dYVnlvV0hOZHJCUXhxdzZOSS9BZDRDemxmd2E1R3I0RHFmQ1d1ZXp3bEM5eXA3RkRSeVoyMXoxOENFbHU2TFg3K2VFOWwyOExUK2Z4bEJBR3p5NG9QVUNPZlBROFZQS3MyUUZNNHA5ajBWVTRHU3BLNnp6bTR4QTM1R1ZYSTcvQ1l5all0c2g5QkpiT1ltdFUvYnlEcUZkZjVIWXk1S2dqNnMwUG1weE9IeTZxWlFVU0gzMkJNQkFTTnl5bDJzQ2N0NHY3SFhFM09nMjRvNHhEUkVKSzdMQ1dhbThkZk9uemdoZlc4RzYveW1zU0Z3Z3ZIVFNFTjRLemZ5TlQxUnMxREJWd0tNVkN2SkI2eE80MXpLalJPQzNuMlo1R3RXd1NjVHV3Vko3UzBackhJakJkQlJmWWJpcmRwdzFuOWtSS3NYOVlWaTd5M1RRZjlhSGY0ajFVV25sUXpHNERtbndNRFh6UTkwTGlVeXh3c3FUa1RWRjJPSElneUZTRjFpR2lZYVZjdGZzejRjR256RldKMnNDdnFUUXUvamJFakpXakZ3S09wbDJ3Z2RGVXhKS21BeXhkazZaS2N2NEdrbHNxemVwWlFFdkFPRWxVZFFZYnB4TFlqdkZzeTZ3MWExWXRMc1VKSHRyd2pCZzVxOFNzWmhZT3QwS1lvZzArdlZGMTYvQkpQZ1QyL1o5VCs4amNnVCsycGNSbVYzeW5abGhvV2tLUGwzbGZGVlNRVEl2QWVKam9xRXJzQy93VzhHdEErNi9Ia2hsTEw0UU9IS1gvSGJac2ZTK05ZM3BQTVhRTVBPRGYyNjRKYTB1NFNkajRKS29CUVBZbVBxOW41czhwaEZ1TDNLalhJL2U0WTZueUNFQXBGSUtqS2dqNU5sK21FMVl1Z0dmbVRXVkgwV2VlaDd6NG9qQXRmN2JmOU1UNzNxMXF1VjZvdVBWNkovTmNldWhYTjJmdmhqL0l2QklnZjNMQmYveGhjUG41UTRkMHJiTnYyaDBmVlhDMXBnVUZFd3dzUlBkRmlOU05GcEs1SVdTNGYvcFBUSHBiOU5hNDdseTU5RExIY3UvM1NXdlNMbDM0Q3EvN1dwVC9ENHVnWEpOKy8xYmp6VWdHWEplR1VsbUsxeDRGZmZYdTJoZHhkNVpzeEk2OVAzeVlVZlBkbFNmamN4MkpCZWN1bGx5Z20ySlhZSGxVVmVCRlVpTzhUNVg5UEhpR2s1SVZnL3FtWEwxSlVnNnlEdkZJbDMzRzd6WkkrMHlSRmk4RmxvYnovTGVqaDM1WFlyOW9kTFpPNkYyWFJJS0xoaGJxYUxIa3RJb1luTlM0ZHZpZ1hzOTdIMy9UNmI3Q2ZnbnI0WWxKY0ZYelZMeTRwOTFIR0h2N2J1LzVSL3BhbDB0cWx3cStCNVJxLzI0cWl1OG9DNzhnSXZ6Njgvei9mZE5lMjQ3MjRqS1pzUmJzclRhQnpUenZoMzNqbGxCbjNTK3hkTFRpZDhmdHNIMjdrd3BpR3VpeHI4UmREdTVyekpPRnlBUjFOOHVxZDFyMGwreDVBUUozMXprS1ZWNUppU01LaFZYbDF6RXcyaUdoNGNhbmNFeGZBTHB5Ly94NTUzWHYyZ29sS08zelFaSjFyL1E2c05zK3IzWHZ1QWdOYzlpNmN2ZWVlc3hjYWFnUUJrbmo5b0ZSUTNoenFFdmgvT0xBT3YxcE5wK2JsbUZmOVNic3F6elY3b0NocXVDb0xtejFvOWg0a05jeWFxSnZZcHdqdUZBVDlJV2h3RGc3RVhKUXk1VzFuUXlZU1VUZzRQa09XdmlsU2JXRW5LR2Y4SmN3cFh6L0hIcmpkTVZ6VTBkTUw3SVZYaCtsNnpsckpwdGRNOGhVZWVWdnZMUzlOcjZGTDdyNjFjZjcyaXM3S2hFM2w1NG1lZWprNy8vWVBVOGI4MTZHTmIxUEtjT2t5bVdWcHpUUUUzZjN5UnUrdEQxTk9TT041YTNuQmo5YXBwTGpQMElWQ21sUzd5c25KVVZ6NmUxWGVVblNZdk5kVmVxQjdBM3pjSU5lZ2ZJUEl1bDQ4NE45MnZXME5oU0E4Ynkwdk53b1hkZWhDWVNpcFN1UXh2aCtLUy9VSHA5QkhUeWlqZjgrTEEvclhRZm42dDNaOVM1ZWRlSTl1ZlNnRU5kVTA3amxRMUtWcjM2R2thbDJPYitKUVhENWgzdGpCQzhNWGgrcHB4NndoKzlZYmxLK3ZrT3RjT01mMCtzWnVlUmdFRlJvVlhibnJPdURZelBFbkwzNnB1NTJTT0JTWHBTMWRFN2JHS1dPaFdleEU2bi9IMjJ6Z2lOVkd4aW1ZNEd3dGJVMHpEQzZuelRRZU5SbkZJVWFReUxZblpaYy93Zlk1b21xSDRSSy9lNkl1ZVBQbUQ5a3BCdmR1bTlZdE5mbEIrVXlOOGFlMjA5Yk93K0N5dVdrNjBuWmUyeTZRc3lYQlh4bzdpVlNOZWpJN0pPK3lldkxidGd2d2NBalNvSHlwQXE1N1FjRTkwcTgxR0FLWGVmVWVDaXV2bUNnY2w5V3h6b2tNSVZWcmNwd1RoL2pMUXJ4SmVwY0laWkF5YjlLMnJaZUZFd2ZsUzVkd3ZVdW1VcGMwUXlEb2NUSVo0VTkvcmRKZUZLMW5lZ2lwVk1peFRSK0N5enVzczY5d29tSzRqcWFQbmkxblVENjcxamh6SFJ0RVJKWEJFWlJyVUhQT21YUFpLSzFnaHpNSGwwcFVPY2JKdnJoY2duOEFmYjZsZXZmWXErQU55VXUvcXJJRDNmVUw2VU80QitVN1JNejFLeTZtUkMrSFdBbCt2czZZZU5FUGFoZGVYNFpWMHB0TVNIVEtqbjBFWEpxeHhlOUp3TFVtS0IyZVlXelRNQnllcXFidERweXFnL0k1MWNhV3phZnZBQWRGRU1TRjRKSm5GZkFvSDE1bVlxL1pyNU1HbFRvMmkyVGNjRDkvdWN6TzMzTzJJYzVBUnZBci9QQnkrdDV6amRWaE5GZ1lFTWFEOGczVDlpaDVaOU9pUklQN3kyN3YvbnZQcWJQcitRYStrejk3d2J5S3JOTW8wZUJTUjlucDZ5bTdIeTZ6MENNbUVicCs4Z2JsNnlmak9wYnRxS2MxMldZMm5tMVJJVlkya0kzVXBMYVRTaGsxTG12V3JqTGRDb1B5cFV1NG5pVUZLN1pvdDV3Tmdqck9BaWdicWJhbWs1d2JOUzduMlhzSDZ2NmdmQU1KR3prVC9RYSsyMWcyQ0NwL3o1YWJqVlJiNWlUblJvM0xxR3V2azFKdE1TaGZxb0RyV2JEZFozV1NDWUlXNkprTjdGa21VcStuaVk3WTFzaHhPWlVhNkxNMUg1VFByaldlM0xMMUtzYlJJUk1FZGQzZlFNdEVxcVBwSkdlWDJBdndWK2FWRWFwWVRQeXVvNyt4UWZuOHRhOHJ0V20yemNsMnMwRFF2UFV3NTJDRWRsUzRMdG5naWFUQVdReTQ2RGQrc3U3bXNoMklTeFUvS0YrcWdPdFdzT1JPc2xiTG5kU0l1OFhXTjlPMjFnazFQa1l5ak55MzNza3BIRDB1bythQWgrTUc1UnU3OFR2T25zUldhRVYvMTkybUQ1RXJzRDNLSFhCSnJaRlpPaysvaU4xSDZxQjhmVVJjbjZJdjluVmQ4Ly9peUZvVTdDL1MzWWk0UExJTmc0Q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TJpQkF2ejM0R2ovSC9JWUdtVTBLdWU0cVVjais4Ukp2UTcvdy9mQnlyRzAyazFiUjFVNy93RkxRdmpiTXNzYy9UT2p4K1ZDcisvZjF2VlhiNHlsN01xUkc0L1BVQkVCbDlRYWg2UkhqOHZTZ0g5YmVvaWlHUmNYTGgzeXRCVFlpMGR1OHZIOVhTSWo0SklZNDdEa1VnYm03OXZHREt2MExSOVQ0WFMvdjdaSG5mSVovUGwxdnZGZXAzdFovRG01SS9Ka1prZU95L29MZnNQbFAvT1JtMjg5dCtVdkhEMjFjeGpzc3NCbDFENmdEaE42RlhCcGhuYnFsaC8zWGF1YzQyaTRuR2t3ZXZYdWY5Z1poMmlhblRhYTBGU1RWOXlpcE91WjNtRlA5Mjh1RTF6T3MzVzdsWUJMWTQ4cWhZNUpmNGR6SEEyWEhTTk9wZzR1bTRZeFZYeld6dXRjazFmWTB2bnJuS2l6Zy80dFpvTExxUGlNM1VyQXBiSEg2KzZWWHUzOFdYNmRFeERLQXBlTE45L3lFeWp0MlV0NFBmUTJTUFlzWU9aU2w2OC9mNmtPM0Z0R3pldWFLa0RicmI0dFpvUExPYlpudFJKd2Faa2pCOE5BOWg5My9RbGtuK01jUi9PWEtHSWJzS2htN3pjQzFwNVZHU3g4Z2xrd1JaSytDdVh4NFhJWkRIQmFhK0pMWklQTFBMT2pFUUdYdHEwQkF0WjY2bEVtdzNOSHgyV1hzZS9weHVZYmpORTlhSDFmRnlVVHRmSGhjaFp3dVpuVWlGQ3l3V1hVdFpjTEFaZkV4SkFFdUZnUGJyNGhoK1hvdUN3cDE4dGJ2Sk14c2dkZDdMdnJYUmtmTHVHUnNBMWltd3R5R2VIeWxPMldBeTR0UStOeTZvcEZxY3FkNHRGeENaRGZOS0xub2FVdG5lMlF0Q2JxeEJoeDJRVTFuOWVLK0JJWjRYTFJobi9BcFdWclJNc1ppekxMVm5uK3lMak1nMmdoU3NpdlUwZFVZcnVDNnYwOFJTSHM1UmdaTVFhdGUzMmxaNFRMS0xaV01nR1hsdEVYWUJqMkxNcVU5R1JIeHVVaWlMNU1SSU1uMHJHUnBmNCthWHk0ekRNRVpvV29uVWhtaGNzbXUwaGtCMXdTWTBUUkhJeEN5NkxrSkU2UGpNdHBFTDFHUkRjaHI3SXpxVkVpempFK1hFNnhLcWk1cGZUMDNiUEM1UnhkNVlUM1BiYXBPd1Fzb21SSlBzWkh4aVdBeTVvUTI5QlVSYmJlN2ovMDQ4UGwzQUUrVHB0U1RlOHRLMXd1azJoRmVBL3BtTG9KWVVXYmxKZis4OGk0ckRtaTBSR3BlYjNzT0dsYmhXaDh1R3cvalJGZDhXYkJVVXBsczhKbHdYcHN3enl1N012djJ6VEd5Q2w1dVNNNU1pNTNITkZOR1BBOTBYamhrSGQ5NDhObDhUbU1uT2wxc0ZEWC9zd0tsMUdKTGpBRExpMHJ4M1NUekV1VzVDTHd5TGdzT2FLN0JwZkxkaXpmMGdnejQ4TmxZd05mVStsMWNFSXpJR1NHU3hXUjQ0MEVYRkpiSjhPWDBieDhEM0ZrWElMZnVVTGJBcHdxQnpIWE42bytSbHd1Z1VldkdqMnAranFkR1M1WHFCVUNMcldCSVpFTVgwYUxNcXgyVkZ4aStQSU1iUXR3cXZibmJmZVVGK1dEOU5qODVRSm9DSTFiY1ZkSHQrejg1UXlkTlFJdXFaMXArSEpSYkVxVzVlTHFxTGpFOE9VZWFRdHhxbDRKYjl2djRBaVhTSTRObDZmZ29VU2JXSTdlVVM4emY3bW83UUV0QkZ4U005UHdaV2VEbDB6SnN4Wkh4U1hHVzFxa0xjU3BGQjJaZ0JGaElNbXg0YklLR3VJWG03NUxsSEdUbWVFU250U1dGaDV3cVUwQmlRNk1nY3AzVjNrcTl4NUJPQ291RWZKS05ON3hvSTUwUXhDS29TWEo5Tmh3dVkxbi9HREI0Y1RPTEEwencyVVVrd2tsNEpJYXVVbUdvQzdtY1ZWOFZGeDJpR2lVV1FOY25oYkNwNWoxYWxpMWFPNWp3MlZqSFpRb2dxYTdSaGszbFIwdVMyUUJIbkJKN2J4dDV0YTgycFRJOGdRdW43d2w3cjI1Uld2M1RUZU5hTTRIVGFubDVTeGQ4QXNoS1B6dG4xSUNKUzUvOW0yOWQ3OU0wY1M5OE1pOXZiYzZ0Q2p5VUgvNnRzYkIyeXRSN3YyNmZ1R1J0M21xNm1KTTVIamd2dzI0dEo5Umk2a2ZMZ3VQM01ZZVNLaG5WU2VaSFRXQkFDM2draGdtcXBzWTQxU1BGdUF5NjBXTDhGZUFxNWdkVkN4aW53emdrTDQyd1lpVU9BZ2ZSU3VKOWRzZlFDbGNQeW5sQ1Z3K3lub054djQ5YldNUkZJNFplNS90enBMVXdrMXMvNGNCNnBlYmVrYk9sVmtQdmlqeUcxU2NtNTdtZmhKWElHZmNJcFB2Zzh1bE1tTm5HYnZQTVBkTnRjbFJ0NEJMWWlvYXZ1dzRMemtjWEU2eFp6OGNSVytNcmNQdFJGUWlDZkM1UW9pNHkxVk9xRXJHZzdQOGQ4YmU5YmVQZmFUT2ZrclU0TGg4UXc4Y3p3ZXRtRTB1WnUvWWpiNWMwaHNvenU2aE50bWZRVkhobXdkNnhaQXZzNmZYb2ljYjdEMmlDZS9uQ2tmeEZLaHFQNU1XY3g5Y0Z0a3JkNlA4WDZqMWlsWE5rMWxoTDJocXdLVTJCYzVieGpPVWpZMDRoNDNMUXYyZ2hlUmxzbFRuYkdrZkNQbDFVdGhrWmhDS0ZtSjVaT2FYa2JYUTdhM3hLb2pMZk9PVG1LN1RFM0VsZ2FxQ3ZIUGVDTjduY2F3UjZoVDdGVkZXMHJqY1ljL3NBZzBlajR1eW11Zlc1RGFBZmJMUk5jbVZqc3V2U05CM1Zkd2hXZG1pekpFWG5nR1h4RFRvR2ZaRS9uVjZscFhsTmk1bjJUc0ZmYWVQSjVFMStRMGo5cWNOQVo4QURZZ3kyekFsa0NxcjhTblVIK1FGaU1zN1JheW1RNElwWDFGOEVIT3FhQWtlNm81YXlVNHJYTUxYeVlRMjI0azFoQllFQ0JlZGc4VkNuNDFaT2k3cjh0ZGRGdnR0bTBoejA4eXNuUUl1aVdFd2R0UEMvRDg4d3R6RFhUWXVTNzFkVVc5MlFGK0E4M1pGVk1IUEltUC9VZWNhOXZJTnRGZ1ZaWjl1aU1VRTRqS3VjQnFFUVJXSTg3SGlpNXJHb1htb0JiT3lqU1hBdGhXa29iRTEwWmpuVStyVkJkMWxkejFNcWJpY1p1S3BBaWUvNTZtWEpJR05OUEhrNHJMd0dmNHppcjZQdEpGWWdRSFExNnEyRVU5WXVNeXBGZDFVUTI4a2JIWTNaNGN2WDJ0OWFRWlFSOWxMYXFPT1BwYmpBWEQ1WHlUK3dkR3E3ZEtjNG9zaWNQUVZLY0pEblRMcmhCMkJTNUM4SWZnaGFyNHVheVp1ODNJRjNBRTk5aEtsaXBDS3k2cXFkSlA5M0ttS2lUczRjVDB5SnhlWFQyaUVKUkpwUHE1S09mZHN1MW00bkdWaWhvTXB0ODhNUndWMHlGeFkrQXZZeTFkMEthemY5blFtaW1CU3ZpcXlpT1dMbUFSYy9wREVFYXhUbGZZbGpkQUlRdExLTjNtb2N3WjZLMExkbWxsRmxJMnJKVXJ3NUl6MGtqaU5yTHVGT3ArS3k3cXNQdE92dGhZRENYaGFLaXAvY25GcGdRd3NTNjQwSDFlRTJEZitIc1l0YndQbWxqS1J1RnU0YkV0M0E5N0wyYlp6NW9KZEZYTk44SkQvQjc4Kzg1ZDFhS1ppV0VESVpaT0R5SjF5THgzUVlnOUxBSmQ2TmFvOUxlRDNqSzYybzU0UEg3VmpVRFVqY0VsKzNLVnB2SzZXSmhNZGFTZVFTUjRCbHlzTmwwdEtNQXpFcWxzSjhyc0pHdmh1YllpVGk4dnBCcGpUZjZVRjFBQXcwbFY5Z1N4MWhQMHNYRzVMU01EODZXemJrWG1wY1RGaDgyMUxrLyt3UmhoZzJDc2tXOWJaRmFqREpRRXUxYzRGM2dwS3RIUU1WakVFS29Icm83Yk5QRDdGY1FtT1NUbGRyTmtpcmRQa2p0aHFSUmhMMFB5VWdhZlRjTG1nRkMwU3VKbmFuNVhDRFFWT0pwbXQ0Y25GSmVud29FbXcveFhKdSszNlZBdVhzZlJBWnAxR216amw4UTh4eUpiWEE3ZC9tSExqNHJCbENPQTBGQVpoQWhRTExzQ2xqcFBHeWpNVzZhT2p0ME0rYXR1Z1NwemFnNGxaUG45UkJJMXNtZGF0VkZrWm8yeDBzaGg0SmcyWGMwcFJ2MGVXV3pwTEhuR3NBWmZHTWpDaDZxbXg2VG9JQzVkNlhydnAvYnVtdmtwdG0zbFRrV2pFWHRIVUhiYWhheW9kd2U4TnN1ZGxEbjdyUTNoandLVitWeFJMMklKRXNyU0ZMUU5uOVZJN3lwbENoSll2TzZyTVJCdmdxVmczcmROVVFUOWVPMkFZb2lKbFNqK3ZEbzVZMUptNjhFbTdCdVlXcVBhcW1LZ1NjS21Nd25lMWVnZFMxUTVGbGp1NEpKZ3dBa1FLUE42bVN3UEhxaUh2bGdFU0NiaGhPQVVZZ1czeG95M09ETGlVK3l6YzRRaDNDck8vd2kvd1FKdGNJeThWcWordld2aDNLSENiS0FPYVhlR05KRDRXOVpvV2dHMW1XSmN2elY5Q1I5WmRYcE52azFpbHBwSWFBWmZhS3Z6b1dVdG1tKzVnV2Joc01QYTdhcVJOZlptQ2JiUkdrU3JFOE9XZXlqaDNHNWRON1lzTkd3QkxxNk53Q2ZPdnhpKzhHZ0w1cUpDWENpNlI3WC9LaU1PVGExc3FDNU9FK3dqS29sa2RUY1FGeFlhcTRON1RjQWxLOTc3dE11dDhiRDJNa2t4YUNialVwc0l0Z0I2SzdobEQ1eWtMbDNVYzZaYzRIQ3BiOUl3MGhueGFpc0c1dzZnanBPUzFUVENvYURERW15cXRjQW5LRWx6QzBXTHUzYnhVQkMxanYvYmZsQWg4c2Jpbk11QnA5UnBCMGNTOXBrTU42TzFUd0pzK2oyTjBpYjI1WXN0VU9YeFVXaXFqNytvM3lvQVFjS210Z3QrdzB0Tno2YlNnejh1N2ZaNm9pelpuK3k4emRVMEtCcG9sOXBvZElCb1dPd1VEU0FneHdhQWlBeTQzVkRxV0V5QW9TMXRwaUQyRG43b0RyY09sOU1XNHowVWxEMEJMNVNneTNMdlBmcCs4Ym9ZS2V1TkZPSGd5elYvaUwyZkM1VDhLMklZU3JZS1dHSENwVFVFVFJXTDl1Q0pLT2xja2grVXZWY3llSDYrZ0lpQTkrelFSbzhxYXpxbGdSY2U3alVzWU1JMUJ4ZVhENVk3dDUyS3hOdk5USlVUVUlUbk12bHY5a3Z3cmJMK3Jtb1E3aUNSWGo1Ull5VFJjRnVCUndXdS9ZckdMVEwzb1c3SEdacmtTL0tXeFdwME10UnFHNHFvc3QzQ0pPM2QrN1puYUt0VmQ5d1RidC90RUFCTzRYRmVpMU4ySHl5SlJGdmhpQVdjL05mcFBYRm40ZUNlS3hFbVVYcitqMnJIdU9OdlRxMldWbWt3YUx2a1hmRkdBRzltQXFzdjdLeVFtcEdVRmY2bE5RUk5nUStVZG85Zklna1pMSml4Y1JuZklFVXZPYm5ET1BUYkxBU1UrN3JOQXM5YVhpSVl6cXBhNiszQUpTS2RMUG1nQWRmZFRJemp6SnE1ZUM1aGdvK1ZaM0tuRzFIMks4SUFDWnFla0dPUTlGWmU1aG16MHRGTURWby9Qd1lKN1BVRnVtS2tpK0V0dEhYU0NycTJXVll6YlhsOUcwVGVselN1NnVrek1QZzBISUpXM1ZZVzQ4OUNRVjBSMXQvYmpBK01Ta09iQnBaOEsrL1gvSWZYRk9vUGhjbzUwQXNNSm0wcGY1NTZLeTJoWkFqTzVyNnFmQmgyU0FnTXVIZHZ5TEU1djdxTjlTdTk1Ylg4WlJSK0srVWh2dUpKMk5xS2l0Y0ZHaG43aFM0VEpycEVDVXRkTlRxUlMvQ1VkYjREQUpqQnYyN083cEtLVS9DTmNZWHpPL0p0aFpLSlhtOHdGdUplanJWRytkRnhHODM4TTlaaCtmNlZyTFI2Z0RvbGdHZ1FWMWhWUDhKZktFang4V2RFNWtkalJYczdGWlZUNGFYUUg3bWdWWVBiYlNVeVQvY0tYZUdaOHpUUUxNaE5ZOStHeWErK2paVFUvVlVndmZBaVk4TW5EZlUvRnRKaVNLcXJ6ZEZnT1hTVlJmS3RHSDF4RzBaZHZ3allyVm9VbzZsd2xwNlpJR1ZuQ25HQmNEbnYrY2dVc1NJekVrL0dXb2lSd0NTLzF5c25SbW9IaGF5ZGlJUDNDbCtnNktxb1Z2b0haTkRtUjh1RnlKNEhMTThEc3B5cDVpd0N2SzhKN1gxYTAxSHU4UVlxS3pvOTNrcUsrdUl5aVY3SGswclM4aFMrb0V1RXBXTzJzS3NFbkY1Y3FsZ04yY1MvUERoSHNVWVdZaGpLTHZNOGJUK2JCSlRvZTkzaEhjeFBjUVdJOUFKUUU1SFZUTU1sZjFCbFluQ1pYb2o1Y0F2ajFHZ05xUXdOYmNQTlNueml0eE1PU0FTcmhHblpQa2RMdStKTlo1Z0s1OU9FeEJlbHhkY1hUSlY1UTBPWmg1UW9ZSk9zRVFRZTl0S1luRjVkVk1HWEs1WUpKbUtXWU5OV2M0U1M0WEdxSkN2Z1ZMd2ZKQlR6aXRrS2VlOEhaVEFKWWllRHZ0aStiSExEUy9Rd3Y4T0VTYUdSZ0VXb1Y0UFZTMjFlMCtCS2ZqdU9FZ3BwQkovQW5zOHlGRG4vVlpHa3F4Vi8ramVLQloyRmRwY1g5Q2ZTVW5tQWFiRHkxSVU0dUxvYytmMWxQcmhhN1p2bG9jTG5JZUxRRmJkeDIvZVUwdnJ1RGdPUTZscHByMnh2RmsrWGdPazRiMW82SDFZZExXSldhaHdZM1Zuejc3S1ZXVFM5TzhVcEZ6eHJXYUNCUytKTlo1c0t0a2tHM29VUEtqOHNkcHFLaU1HT2ZzU3BFcFZYSTE5MUgra1k1cjI3YllvQWNtUDVGbXkzUDk3aUNabkRaTmJCYm9UNEwrYW9Qd2dkNENHY01ZNDhURkdMeDAxcUFBYWdKM3BZK2lRdytYSUp6NFVqRWNyN0Y1bSt6dmRRcXJIbmxOY1UzeHpXcnAwcy9va3JwSFg4eXkxem9qeFByUVZIc3hTV3NjRFN1cmNjTzZ1UjZ1L0JaU3E1c29OS2FhdkxrK2t2VncwSHZHQXRadDVsbnlCcEw0eEtIU01GdXhkMlBOeTZEaEVRTXBHLzRFcmM2cEYxQUZsbUt6bkZYNThNbC9qWUlqcSs0QU0xaSsreWpWZzJBNXpsY3hESlQxelh1VkpIZ3ZtMC9vN0ZuM2hYY1hseldTQy9jbGFtSXZSV3Ara0lTT0h1dFFNQ2xNZ1ZHVDdaVVJ0eTN5Y2hyWE9LcGh3M0pWeU1PRlVrTDNOVUJ4MVhKSUc1OXc1ZFJWTGFrQUxMMmRPMHFmd0s4dUt4U3ZwclMzVWV0UXV4S1hua290Z01nQUFBZ0FFbEVRVlQrZlNSNHRQVDdBbGlNOERZVWg3bzN6cWdVdjNlaDF4WkJaN3k0M0RFdDVLbGZ4MXJiWERKd3RMUU1rWmdoV2dWY0t1UEE2MEM2THdieU12MVNtY1lsUE5VYU9FMmRFbExhM0drbFlpQzRPdHRUN1NUdlhXdjkwR1lFcG53cDVwM0g4YWpscHBaVlZON0hSNjJhNTIySjhlbDVtL3F3OHFvV1l4THpkTTBMNUJwMDRhSXBKaWt2THFFQnRRNlkxeWxSYVVsTTF0Qk5WOTRwdmlrVFhBR1h5c1FyWVBsZGxlSDNJblY3R3Bjd0NlcWxVNTB2bFV5bGVBL1RpUmhJMy9BbDdwNm9ld1VRcXlHRktGOExCWHI5Slp6WGVRRUw4UUlIS0ZkL1BtclY0SDVlVFBlZzBEcXZDQjhTSnlvcjczTU9MckVMM004NWZDbjducEpwWUZaL2hWaFVuUk85NjdqTFRveXZ5VTRBWThDbE1uVFZURDJDOUFaald5Qm9YTUxXWVUvV21TZUdSSkw0dG1FeUJnSmprRElKY2tIMDk2S0FVRFl6M0p3NG1ndVB6Q2JuaEkrR25oYmJURzhUWUhsNVdqSjRxRlhqOTZjRkh2TU5zMkY3Z29TYlZDUDRneURySmdNcG5DWHNGYWNxOXZyTG92bWh1S2JqRjR0Q01QUnBWWW1ROXpiNU5uREFwVEpPeVhsNTh6a1lpWXVxa09DUytKZWFtU0E1WSsycTRIZGpJRjBYOGtZc3BtWU1iakQ3dVBsbjhoSnU3M21nL2dwUHdBZG90U3ZTc0dyZGtOU2lrZUNoVmsxY3NNMmpuUHdkZ3VwYmZWMEtvVGR3MnRvWmN6ck1FbVNXcGF4ZVhJb0ZEYkxsbldycWY3cmdVVnFuWWlDOVk1Nis0QytWYlo0Q3crdjVFMTdzZmdQeVBWVUlkKzB2by9JN0pYbXBZUUl3bkZRL0xVb0E0cEtGMzNEYjQwejR0QmoyNzdRaGRKaTlOYzZ3MEd2eGU5R29SbmRuZDdBRHdRZWdrUzBEZTVJS3VGU3pmQ3lkNDVKMm1JK1RmMEhuamVISDNUR28vQW1kaGFVSnFFQWJJVVZlWE03SW44eUtvczg2enk2Y3QrSVg2SHlGU01Ga2lYalE0Qy9CSVBtdlBYUXIycjMzd3gvbDN4d1FQN2hodlZBaHVIeGMvb1pMd2YwYmllWGVWOFZWMUQ0dEt2dy9EOTJDb3Rtei8veWozM2JHUVdVaE5DVHdKUWt3Wi9JblpDbEcvL3U1U3orQjlYL3IwaWVpL0tXUE5TRFp1LzFTQzFuenNlREwxUlh1L0ZTWXh5VnUvMXFQL0Zma3I3NHVzL2RpSmV2NjlHM1lJSnhwdnl6Sm4vdFl6QW5zTFpkZVluRml4b3ZMUW55ZllQeDdzMkFRaE82RHdrYnd5eEh1dXFCaFh2Y0VmNG5XZ2puRmU5RVROY1pmRnNyNzM0SktmMWRpdnlwTXJUNXJSRWhMRW5GZHBpNTdabFMxNEc0dEdDRC9Xc2JlLzVySGZxNys3QzVrbXFyNmR5S01iWXJySXE4TjV6Q2UvOCtQZlNRV3YyWEpTZkNSb01JUFdOM1JBNVh6ZjBCbWhFZmh0MTlmODlpSG5GbVd5MmlxVmxhbFNFMHdmbHVXd00yTHkraEw3RjB0Y0xPL3ovYmhSaTdZb2VsTHJucFVLWVF4c0wvaUN2NFM3TENBWGloNTlVNHJLOEhkNERLYXI3UGVXYWp5U2xLTXlUSVJJWUNEc2FiZWhiUDMzM1BQMlhNWFBKNUpDcUFUR0NmOU9aZTBmeGt6VFJBQTlTODBFSmNYenQ5L3o3MGdTb3Bmampuak0ydFNrTGk1VkRoSkNRZlc4VmVybnllTS84aXJQdHV5cXZKTXM0ZXRuTDJnbld1ekJ4cmNnNlFHZCtSV0ZUOHVvejlrN0R5MCtLelVWRldCT0phK3pPNmJseTZiT0VmWWp5dDdIWG9udUl6eVh6L0hIcmpkc1hnRXAxM2wxVWxaaXFseTkxNGxDMzVSOXVTdGpRZitHUUdSVzBQbDgxK0gvd0w0dU1xcHUwTjk0alI0cnEvSHZmc2YzbFVjZUw4YjJ2aFJpMEpMQjA2bjRESzYrK1dOM2xzZmRzWHNiRWhLSXBnRzJ6OHlvUVIvNlZvdUpVOXg2V2ZwNkhrSjRvMnJmaDQvOVpUN090UFBOcG5VTkZ4NnRjVmowL0pxbUJpQ29IVG9nalBnVXRucGtQdmh1Q3h2S1JHd1hsMVg2VUh1VSs0UURWSnBVbmlHd2lVZW01YVhHMHlMdW5UbkhuQ3A3SFRJL1ZCY3FqL2VCVG1lR0VoZjZUQ245UzJmNk1LaGNObFUwN2puUUZGc2ZHbFlYdzQ4NUlmaThnbHpMQWVDakc0TXBIODcxbC9DOTJlZHVOSmhjRmxvVkxUK1hicjlCbXFlYm50Q25FamI2WkRFb2Jnc2JXa0pFRWpYYTAxTjdKZW9EVGZ2OXhOMTNjdUd3ZVcwbWNZeC90V2l5aTVZaSt3d2oxUGI5RWtmaGt2ODBvcTZJQkpIdHBhSzJ1ZStNQ1NPKzRpNjdrWEQ0TEs1YWRScm03ZWpuTml4em9VRVhCcEw5VTBkaHNzYWpjYlpyNHI2eXVXRkJYcEcvWEQyaWVJWUFwZDVGWGZGRHF3NHdiU2k1VDRETGdjYzVFTndXWWczaWFCRURJU1VlWlAyb0hoWkpwVTRCQzRmSjNNS0h0NWJKWDBxMkRHSmdFdGltMzdKUTNCNWh6N2JnMEppY3ZLNm4xQmRObWVOa1NZZmg4VGd1TXcxOUpzSDZOaWNPUTZGM1p5eXQ0b0Jsd09PZlY5Y0xzR0x3K2RiU3RKanI0SlhiUy85cXNvT2NzOVppLzVCYWt3TXo4QzQvSHlkOGI5UDVab1hYbCtHeGM2YnpPdW1Ham0wQVJ3Qmx3TU9jRDljNHVFenVOYUVxQTdQTUxZNW9HVE90azJudUdFcWpwMTNVRnhDWEFndWVSUUd2NG1IbCtsMVhYOEpnUGNvNEhMQWdlMlB5L1Azbkcyb0k1WjNNamhvY2UrNXh1cUFram5iSEgzWk1VekZzZk1Pak12ZS9mZWVVOStweURmd2JNalpDL3Fuc2hkVmlleFB3T1dBQTlzUGx3T0s2TWVXUDdhUm9rRngyYS8zZUNTL1lqRUVYRnJtU00rTUdKZFIwM2R1UEYyZHlTbkpCcGRsNXdCZHdPV0FJenhxWEM0ZjExYyttZUJ5d1YzR0JGeE9DQzZqb2w1ckRhalJoTEJsZ3NzdStlMGIzcStBeXdHSGQ0bTlBSDlsWGhtUSt4cllwc2gzeDY2aCt0aXFaSUhMZVN0OG13TkQ3NmpveHRqNmRVd2F4cDh2MG1HT2tlamNIZTZkK2toMHVBYWhCVHNnZmcwUzRKY2R5SGtPakYzaUphTnUxeVR2QnFvMGVsek9XeStJajQ5cDJaV2o2bHBnZTFSRXdDVzF4aUhwMGVNeStzWGo2U0orLytJaHBqdTB1UENERmt2QXBXV09rQWt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raXpRUDVOZGtuQnlkdWxJUmNzY0Qwc01QOURqRDM3VXRNU3ozL0s1RU1xV0dBTUZzakY4R2NKalAyZnF1bW5HcGp0WFZiNWNBOFdHSWNGdGhHR2NQMkthSHkrd2Y2djF4VGVXSGYvR0drY3FvVTJiMXdMekxCbi91L29qV1VBNW1sdWhETDdTYnd2eGUrOGNXMFNlajRlQy94QjR6ZjFOTDM5N0JyQ0VQN2puZjl2M2krdy95aDBtZ2tPY3p5RGMrTzIrZ2JXMCt2SGVma1hTTXZnTU44YlJmbkdzN3ZTTU9XOUc5ZENvZWRqc0VDK2NiQzJWSkwvS2pyM3ROU2d5ZGhCRk4xcC9nZjJpU3RqMEMwMGVlTmE0RTcyWEJUbDVEOXI3cHlSaHBnSGgza21pczJmNEM0Ni82Qjk0eG9zOVB5NldLQU9VM2UrenI3TEc2dmo2cEpmNERDZm1RWm82dXU4VG9WRXNNRElMYkRNZWxIVVlXd2ZXeXFZM1EwNnpIcHYxN1MvclNGcmFDRVZMREFpQzlRWVROQVl0RVQ1T2ZKZnpGMmdmWWMwV3IxTU1pRVpMREJhQzVUdy83VWhMTVQvRUh2eHFtbHNBV2lySmh2VjlrZ21KSU1GUm1vQitIOW5XRU9XQVlQWXpESnNnZlFGUkpwZDJkSWxJUkVzTUdJTHpEQjJNWXBnem9hb2tJUEx4K0cxK0s1cHZuUGFwRU1xV0dDMEZxaHhSem5IR0ovQjZUd2U0VVMrYmxvUDg3aXhSVWlOMmdMYmpHL0JmK0RYMXJBbHV1K0ptb0JMRTcrTWRzQ3ZoaXRZNFBwWWdER3lCWThpRXllS0NvM25BWmhiV28weW1kTTFNU1NDQlVaaGdVV0cyM0Z6RWZETnNxMGR4dFI3eVdpSkJ6Z05aMGdGQzR6T0FyT01iVkRwemRNNlY5NlBwc0JoS3NLc2VDR2tpME1pV0dCMEZ1alFtUnFhbWRNQnpCazhUMVJpN0huWitMYUYzOUZwRkNRSEMwUVJ6TlFWYW9mY3dhN0k1bU5NNFpiOHB6aGh3ZWFqZFVJNldDQnJDNVFaazBDVWtvdS9MaEk3QW84UTJPUmY3Y25GZXFHWnRRcEJYckJBd2dJeW5tN29DM0M2Q0s0UHlnMVByZ0hBZlBodmZpOG1HM1BESEZMQkFpT3hBQndhVXV0SEpiL0kvdlIvLzBpSkhiUUVBYmMrZUlYVGw4cEE0VDU2QzB3emVlN1NOSVZmN1FFdmVsRlJmaDQ4Sm55aGZFM2x3ejFZWU9RV1dISENsOWhnL2dmaTgvK2F3REQzQS9IQnUwaCs1RXFGQm01NEMxU2Q4T1VOYjVCZ2dJbXd3TFo5eEhJaWRBcEtCQXZBMnZGeXNFS3d3SVJaQUE0RjgyUHFFNlpXVU9jR3R3RDhlZ0Y4NlN4Y3dRS1RaUUU0ckU0T3RrMldia0diRzljQ0VDWUtyeGR2M09HZjJKNURtQ2ljWHB2WTBibHhGU3Q2d3VvM3JqVkN6eWZGQW5YR05pZEZsNkJIc0lDeUFJU0p6cWgwdUFjTFRJZ0Zjb0RMdlFuUkphZ1JMS0FzZ0dmWUtpb1Q3c0VDRTJJQitOS1pjMXA5UWhRTGF0elFGb0R3WlhqZGMwTWpZREk3RCtITDhMcG5Nb2ZtaHRhcUdGNzMzTkRqUDZtZGgvQmxlTjB6cVlOekErc0YyeDc2QTVjM3NDVkMxeWZJQW5qNjhzb0U2Uk5VQ1JaQUMrQi9SNjBIVXdRTFRKZ0Y0UFJsK0xXQ0NSdVRvRTRVUWZneWZMc25BR0hpTE5BR1hMWW1UcXVnMEkxdWdTN2c4a2EzUWVqLzVGbWduUGpSck1uVE1XaDA0MW1nWWYycy80M1gvOURqaWJSQUhxYng4Q3R0RXprME43UlM4SlAvNFRYa0RZMkF5ZXc4L01iZzlYOE4rY0ZLaWpIdXZQYmZvNW0vTDBYbVpKT24zajlKK2gzQi9obDM0eFRnOG5xL2hsem9yYVgwWXU3YVQ5eHQvM2FLek1rbXIweFVNT1FJOXMvWXpEWEE1WHJHTWc4VFY5Si9kK0Z5RnVKM3VxUUI4OU9UR1lRdFhFcDdCR1cvT2hQMVhZRnJ0LytBd3pRdzJ3N2djbXRnN2t3WVovcDhuZWhPOVU4WXc3WlVwbitTUG16bDBmRlBIL1pWMDlway9XVFpOZHMvYXhOdUF5NnZmVkUzZ0RaUDNuYndyM2N0dnJyMW4zOVdVYlNFL3hkMERkZHNXaWQrNldlKzl0Qzk0MXZEZFE1YnZFOFlMZ2V3ZitFekgvbitWelMycm1HUWhxa1NBeTVidzFRWWtoZU9LNTJ6Zi81b1d2OTVtazlVMC9OSGZ6TVFZeVZYNy82SGJhQ0RuRkxLTHl6Qlh4ckE1ZjZyZ2EvaDBkQjI3TDRuRzVrd1hFWSsrOXRhb3ljYi9RLzVZaHQydTlubXl1RElubXlzRXFIRnZudWJLVVo1UmJVT0ttbGRCNDZMbjBxYkxzZU55N3I0UjNmU2ZTZjUvN2QzclRHU0hWZjV6bTd2em81M2VtY2pFZ2xab0I0UllUdUNxQmZ4dzhFazZvRUVZdjR3d3pOMm9xUUhDem1HRVBXSWhOaEVXRDBSeUxzaUliMi9VSVFVOVpLSEpSWlFEMEdDeUZMVUl4TUpGQW4xRWtUc0VPSWVHUlQ0RVRTT1Z0bVpPTmlYNzlTdHg2bTZWYmU3YjkrZTdsM2YrNk52dmM2anZqcjMxS202ajE0MHUvVGhiNnVjT0FsbkFPd20wK2Zvb3daSDA3TUpjamhOLzJqK3B6RUwvaXIyWDZTbUtOdnBYZjd6ZDcveExXU1dONi9UOFpuSGtEeTJjZGtNclI3TzNQMDBXcy9OWDFZaGZEL1ZSVjZ3YUhZWmVmRG4ra2JSTDc3dVB2UnF5eTRzT2tkUEJiTi9GeSthZmRTRCs4T0hFNWlJNTBPUm9KVGQ5QThrWm8vakc3TEplMXF3VVpXaHNtb25JMlQ5MXpuYUpjRjdVV3J0UHkyY1hRYnd0N1R2elB6TmJub3FPTzJnTENXbXllQWxqYXZScHZVaWNNc1RRSElSRit5LzlsVlZoMXpQbFU1c3JZL09abTExNFU3cjNQd2xmVE5pVjNYQmUxNDR1d3pnYnluZjRZN0dxaWtxUTl2cWJKSXRpcTNpZzNHNUVUWDRpOERuUnkxUW80NTNDVk8zYmtzOWhPaURPY3grNXJReVI3dHNBdDdnWnEwQWFlSHNNb0MvR2xFNkl6ckptSjk0eTl4cEFtNkdiME1PS0hodGM5TWZqdHd0N1hzbmNuaklYZE5MV3M1YzA5bHF0a09jbzEzQ3kyZnJGaTJlWGZyeDEyQWpBZlJuYUROQ1VoZkF2Y1JsRnB1dTA2akExYTFydHZYUUNrVzNXUFpOeXZUWWsyRVNSUzN1aDA1bEw2VTZJMHhEU3k0KzBZYmEyUi9aV1R5NzlPSnZRWVAvL2Q2MUNvclAxQURjZHZGc0ZVZnhyTkp6ekM1V1dWbzFjczRyOGZlY0VtVHBzYWM5Vmd4SFpOWlNBK1k3V1J1Vm5KOWRub25iMEh0REtlSTdMNTVkZXZHM1ZGKzJmWVJWVjFBR2ZpZDdVS2VTZzEwb2N2aS9ZRUxCMDltdVRVaHJlendNUGZhMHhYVHBJcSt6ald3ZlBEKzdYSW8zUitHN2VIWVorZkRYV0ZOaWFQc0lxNjZnREdDei9GQkJiQ1ViN0JBNVFjSUkxeWJvRGoyZmljWDZ6TExXQWZUZWtGSkcrZUQ1MmVYeUVWMVB1MUpQNzJrQjdkS0h2NlY3MS9ZUlZsMHhHZnJZaG5lWlVReDdMTWN2Mlp3YVkwZ2Jla2F5YWUwMVJiVDNwSzhuc1hkdmk3Rnk4N1BMd1hmb3ZrWG1mc2NDMnFVUGZ3dlFudTBqckxwaU1oUzJaVStDVThsWmMzZVZxK1BjWERybENURDdmUHNTT25XaDk0SFViZWpmOGRTYXo4OHVhOStOT2p3UTFpcVp4QUxhcFE5L296QlNiUmJiV3hXRlpXaWFzZWJId2pnTFJrM2FWdWZIaFZHUE1WRGpTcHplZXEvejlUZmFIREs3UEJ4eFMyVitkdG5ad1EwdkZnaHpLR1I2QWUzU2h6L1gvQVMyTDdHeW11VkhXZnR1SUxJODFzYVhTd1ZRNEhhc1NCVjJxazIrYmEySU9JSkplbTUydVFxWHZza1VUYXNXTGVEK1pSUjU4T2VxbjhEMjVSQ29lVyt2Y0QzeXArRXNiT0xCV0p0U2paUURwTzFMSzFLRm5TcHJYUFc0VjB2cTNPenlMcWhJTjlUV0xYWHNURk4xd3k2ZWF5Nk52NlhPQ1d4ZjB0WHMyUzIwMUpnaTAzSk5wcGV5T0IvM2ZpcGdwRGo0Z0RVbE8xV1BRZDAxNnNxYW0xMmVRenlDUWJROVBlc0ZKUmZSTHRQNFcwcWZ3UFpsRGFqTjhKWlM2aWFjMmR5eGV1cGttcWw3eWhRSDc3TldaS2ZxY1pPMTdBVXZ4UUM0NlRTUFl4TXEwbzVIMXBXL2lIYVp4dDlDYjJqN0NLdXVvRXdEcUZseFcwRjhFellZays5YkRMRnJZdVVEbVdWdGM2b0J4Y0VxVFdkNlRrZnB2YWxUdkFWTHo4MHVlM1RKSStMSWVoQjZFZTB5alQ5RFUreUY3RnNGeFdjd3ZLazVzemdwOEdyMnd6Ukw3cnp1bDNVcU5aSkRaM0NiMFB1aUpLNk5pbG5uWnBlZGJhaFlnNm8zL1AyazBrVzB5elQrbHY2cFZZTlZXMFNHd3JUTXFIeGNJZDk0WS92NE4vYmQxb2l0bEZOTHFzNzZRc0UwTGV6WllkVTEwN2FvQVRRcXZNUWpITXBDRlZIMUMvZkhULzJsTm9iRUxpdFBkeTcveEw1cWtweS9jVS83S2Jjc2l0S2xsUjk0SXY3STU2TG93V3VhL2h2M2REeWt1cG9TRmJIelB3REVlMWE1bGNteXl6UXlGbWxCbWJTVU5QNkpxSlY3TzQ5czBQYWxOUUdrNmFkV2pNSTBhejJSaytNL3dFemE4UkYwMXNjUzVpOTVtTjNJTlUrbzVhSEYvTCt2R1lrRTdKRGZOYUhYRTNSWWJEYU1KTTFLUXdpK3FYZ0l1enpmaWE5QXk2dWM3OStoQVB1M1A4ekxvaWhkK2krZCtKSFAzQjkvZk1Yc0NidzlqaTkzNHFNRG05VE9uUkora2tLUVMzWUZ6MlhZcFFjWlRsbFEyaU1samIrUTlVSW52b3ozQkFDK0N1MnAyRU0vdFdhMFdOUzNtZk56VzRwdmZqcUszdFBtTzA0MEhPclFuRGVkZVIwVlBscHNvRGtlcG0xN1h0SmJ0VURNdXE4RlVHSVZ1d0RmL3ViRDM5S3ZXcEJkbm1sOWJEOWFzVzlVdkRPKzlhV28rclBPbFprdVhZbGZKZ2t2ZE5vNll2aVZPSDVEVlAxaWZFUVZvV05OdUJYNis4MVhRazJ5NW5Fdk1tRkdPV3U4VWd5NmpDdmVDZmw4VkdrL2llMUxGcDE1NlJsVnJxUXduaHU1U0JsUnRaVU16d1h1ZWl0M1g3OWVqK01IOEtMWXQzWGJtak92NDlGbkh5MW1pblZOUXdueWo5dXNwTXNXVkJoM1ZvTmtMNzYxUVNVdnhQTExNR1NYRDcxTTNjUnk2UnBWaWVPVXRLcXZXdGJsS2EzZDJwSUVTZ25NTTIrbW9wN0gvNHVtNHFjckZuMFVLOW1yUDlNQ3FhQy85Q05qMFJhUThVdHg4U2RCMVViOEJ6aWR2bVZGWjM3NmFSVmJBMmJIMHpMQmFNdVB0L1FkdjdEcHVySkdhcEhscDYwN1QyN1E0K2tYalo1d2tmcG1UM1RhUkpxaXhXa2RNWC90T0xua1lKZG5PbGVwRXZhdEwvVnFTeGwvbjhVSW50THpXdW02c3N2RE9Ka2FNRVNDcjFHTnArb0pISzA0YTdVWHRFcy9NcHgvRVdtL0ZCZC9rdlNnN0VYNzczbGM0cWVmVmpNWVRoWm1ZN0t2eS9HUHp2SzRBOFNIcml2cnBDSXRQMjNQOGFzMGIyOFliV3B4L0VjNmQ4Nk93ckVNa2c4TXI5NG5EUTkydVN5ajA3b3g0bmVwZHZSYXdKNWk1eWtkYXRIcVNXNm9zNTRRdEV5WXF6aVlzK3dzVU1oWWtBZnQwbytNNFY1TXlpL0Z4Uit5NEF1MmhVaXltUU9Sb2g4L1BUekFsOThST3JZMGNUQkJrUEdnTU5nd3E2SVNTM05jNmxqck5IcUJRaSthRXdaOEdoVWxBZHBEWjdncDNqQXF2TlBhcmwvRExNME83TUR2Sk5tdWl1dGdsNGNIU1JsQVZiQzBWVHZheXRHTEtrOXBUWXMrTDRlbXEvczF5TGlzVjZTMUQ2RzhGSjhvWWYyRzdES0FqRVhyeWZ4SHlCcmU4WE9lMXJBMjc5aTUrSU1VYjJyZEVCeG9MUFlWcndCOUZEMlBWb0ZEU2xRc2ZPY0dTTE51UnZob1VtVm5WVmpmY0FmSlhtWkVFVUt0QTVzOFFOczFoaUxhRDVsYnIySWU0U3YvcG9JMjRkelhxTFZWMy9CVzZXVXBGb3dPa2lUc1YxbG90Qndyais4cmJadjloTVF1MFEwRkdvS0dQY2s2ZFRvdHZTVGRBOWhPMWFxQ2tGMEdrRkZrZ1hPMUEyR0I0OEJERTVEaTRpOXVXOGxybDE2SjE1d0M5TW56c1FFOUhPZWxlYkVFOVVMdnQ3RHlpWklENlhqZzZjMHJOOFRCMlZBUWM0RXppZ0hhZ2JOUzZNSkQvcG80dnZ4TUMxdnNHMHpCVGFzdGJFYjJtOVpLeWFXSlhpbzdXdE1ldTYvYWdSV1dNZHNKUjA5cGxWMXREZEVNaHJhVE5LY1FRQ1ZsaVRrTnBTTGduZ0Z5eUM0RHlDajJWWld3enhSNWg0NUxkbE9SQzBoeDhZOXc2Y2JyQ1QwMmtZeGxCZWlqNkJTWmx2LzRzRWNQdTRpR3pvbms3QVpqNVhveWpzTEMyRjUzQWlROVB3cE9HS0VObTJXQXR1bEVGejJyaHgvZDRrejZsaEE0TUNVVE5JazVBaUpsUEhpNkp4a2VkRjNaS3BpcGpLOFU0NkRGMWJZcDJkVk9seWovVDljNmliNFVZQzRRcDRISWh1d3lnSXhrc1pxczQ5SU03N09RNGhrK3gyaTZnQlFYZjlwNVVGTUt1bU5tNGdDOTVwOHZJYTZ1N1h5MGhxb3RuVTNLZDhEakp5dFMxUmFXdTYvU3lUbEF1K1o0M3JZQitLa0hQbTJ6cUZtV01UQTIyRkJ1Q25aNVVkTGdzdDhXU2FqeWt1R2pBbUZmS2V6eVFMWHNiMU9xeGJyUnNLTmIxWkRPRFNVQWlqaHhObXNXc3NzQU1wTHluUEplakZPZVpFQ0tpeit0ZXRRNkJFbHpLUWJvODZqQ2FDaFVZQnQ2ckdhU3BCcis2QWYvK0laRmgyQnQxeXJBT25iTEtvQzdrV0dFVGJ2RzVrNFFrTWRSZzJ6VEk5ZFRMRVJOM1hRSTMrVFlFMld3eXcyUkVOUFJqa2dPWTJtZ0luY29tL3BLdVEvZFhFZHpETXl4b0tLZm1xMnBMaWVsMTJXdUQvV2RmcHQySWJzTUlDTUplMXg3dzJ6aVZFQ0tnMzlFVDVHcWVNKzZkbld4UFg0VDYyRVRZTkpUWTJkWFRKUmpheEtiRHM3cGtsVUNRNzFoRmNBdXphS0MxVGk0MFBhbHpZbTFyVnRPbVhmb21SOUttc0V1bFZpb3RDTUsrOFora1I5SUsvV1dndnl2cGJ3SzhjSFZaUUtzTHB2bFpTTjVPcSszTm9leGNkaDJHK1RDZHVsRkpxR0hEOTlOY2NwVE1CNytZc2RQRFFDaWE1V2tNQ1pEeXp3S0NScGNCV3hLeXNzRzQvWkpHcS9Vc2VZT1I5b3VBN1JyOXNSSDI1Y0hLZmF5d0xKTHN1QXR0eVdFcUNKdGx3M3JnaHpLaU1OYldvdmorQU9zZzBETjdFeHRCZ0U4cTRYUzViK2pOSERQSWJzTUlKT1FveHQyaE9SeUhUY2ZrT0xnTHg3V3V5cDVydkd4Q05DUEt6N1FiZ2pBTkhxQk5xT0xXMkJ5Ni9XZWRnUDNiZ2dHaUkwdlVRUm96N0daRXEwd0RHNWdhc1ExK0JDUkJac3FtV0pmeGROMmlYWjdwdUdhWFBoNFM0Y29qWTkrYkY4MWIvTEFIMzNjVUJYMnVhazNKK2hpTVNHWjNTcm9Md1BJSk5TMURJWU8vK3hzUUlxRHYvamFpV0sweWNjaVFLL2E1anhEUkFGKytCQmN3RWRPbWt5VnZ1dTdNQVd3YWtvR2FCMWNodUR2RUpwc2k0ZWVzRHNUKzZrMkhlTjlVYjlMeGJUaVV3NEFXYmhBc2lKL0tlM3owS0dlNCt1cjFUc3hHbHA4cUVRZGh6ZGZKNCs3UWF4V0RhcFduMFArTW9DTW9NTTBIclBkQk0xcjhrUkFpb00vT1FZOVg5ZjRXQVRvSjFmRW9pQ3Vaa3F5cWliSXFLMzkzM1JwZXJ3SFZKbTJ5d0F0Y09ETXVqeWk0eFdVdHV4eXpiZjA5ZGdsMmRxRzRTUng5NWZLaXdlY0Uwc0dha2MvcVk2VzVYY054eWhxUTRRNTBsZUxiQnV5eXdBeWd1cnNkeklNbmVzd01oMlE0dUJQOGJmZUcycXg2RnJmMWttTi9VakpXUTNxd00zZWNzeHFIYW9qTHlPT0E2ZEZ5MXhrU1UzYUxnTzB6dlhhWTdBNE10SjJxUzlzM2RKamwxaFVPblpKT3puKzBvaStBaXVPV3lJS3FjbWNQQjN2YTBFOGdRMSs2L0MzQ3E5N0FzZ0lFWWZiN2kwTUxubVNkRUNLZ3o5ZG1XbzVqcVVPOC8wQitrbFU4TFJ0QTdsZzRPTnBIeWg2VUE0QTAxZTBURG5qZEh5SnAxU1N3Nlk5WjJaZTR0VE9VdE9LTDVzK3orcXhTNHBEOTRXUzRnZitnUnkwdnpTS3ZvcHFjWHlDV3VOcUhnTzBKY1lmWVVKd095N2tMd1BJa0FKbjRxMjJlOGxUZVo1akxQeHBHYkFydWNNUzFZMExLdkhUeTdZNVQ3UXR5SU96bkd5aTZIL0VvRmtlQ0x6Z01SeG5uRjZQQjJodHU4emN2b1Nac0tWcGMweTdoQ2JNYnNUQ0NocjdTMUh4UWtQMmNCK1o4ZXh5bWMzY1pPKzdvUFFkUWJzTW9Bb2VaNzhESFJoN0g5dXh5N3hqWitNdjlvL1hKVWRyK3hKbFh2cXhwWHNiQ2llODQ2MmFzUERQMm1MY2JGNVloanAreFdlWGtZL1czci9NM0w2MDdYS05CZWk2RHdGL3VhRWIwTHFIeHBuc0oxMHFtcjNuWHQzRFdxcGZocEZKRGRnTVFPc1U3bVJNcS9BOGpqWStaSWkwdnhOQkJ4RlRjRTQ1MHo0cE52NWlQYmduMlNNVzI3WWsrZWl0QmhObmlybmRJOFJXZjZhVHd0Njlzc1M0YjZXMTlOQ3U4ZGhhbU10Qm1rNldXUGQ3WUpmcFczNGV1NlN1WHpVc0pabS9WRGI3ZWc4MFpHeUhZU016SEtPYURzaFEyRW1GTkxwbDJGL2lscEVIVmJxUnRCLzFMWGV2bWVWS2VLVFkrSXR0b24zSmUraHVTZ2Uwbk9MNVM1cTIrQzVlcmw0cG9rckR4UjdSNUk2cVRjNncxQTI3Sk1tbGFJZlcvWEdLL3ZaOWRLS3N4bDBSbXFZbk9JOWQwc3JidGt1NmhlTXYxWksvQ0NKa3VxbjRSTGRnaVRidmU4Mm5WdEk0eXk2eGM5VndVY1diRE5oQ0dWanFNN0dya3oxL21WQ21wTmo0UjNTOUtobWJuakZNMFUvMy9DV05kOGFBSzAzR1BFTjVjM3VPYURBNXJ0dTBtSkNaTWJBNmw3YkoxM3pSa01IQ2lHU3lHMy9QRko3eU5mWFlKYzJzZTRac0xSbDliMm4xWTdwZFhSQTFzM1lIVkZ2NlpKWTVZRWIrS3pKekhpZDZGeGtVZFhmRnR1bEZxbmFQU1orL2xQU3VGQnQvbXJEMExrZk5tS2dSN3RKUDkvd2xSc01ueElnYko3VzZyMXJWamZLaWFCaGJZNE15akRzekJ1UkR0UFl6bFYzWDRwVkVjYmFlRmFSUVZETlZ6VHgyU1RNckc5aW1uSnA5cGF2YVZkQzY2SnE0KzZSdjVTZ1JxVE45TXNzYzVBSFdUWmFuL1A0eWlBeW1jWHJFRFVQbjVhZjNiU0RRUFM1eHNTSWRsR0xqVC8zVzI5eko1bC9semNRZ1NEL2Q4NWNEYUo2T3hsTGFaeGFjai9YKzNjRHhsNXNwSDRHRk5UTUdUSnNoMmk2Zm0vSEVVUHhxV0lraDk2MjBkRDl3Mi9yc0VqelpPSFhsZXRsWFdtR2Vya05FaUVaR28wYWZ6RElIU0VJYkgxNjdEQ09ERWFlTElyWDZVTEx1Z3lUL2NiU2gycWh6V0lxTlAvbExOUUFBbUdMc3M3U2lEZE1yQ2ZuT2ZYUkFYd2Y1V05BaVlGdVNybkVEUVJtcWJqaGM3VzI4TUszOWZrazdjd0ZzdjhLM1l3QUFBQTNuU1VSQlZOL1RzdXp0SzBJQm4xMXVXanMzdFRoZUoxVjlwUlh5a2ZLb1VjUk1PK2FzWTgreXRHb0hUbW9nUlJHUnNHakROQXZNNDJGa3dQbFBRQTRQOWhMbmtpc2RsbUxqVDFlaTJ2SERoRVE3QzBPU0hxYlBwWTRtNmdFdEpVOFhUcFlnd0JWQTduZlZQSHRzYlczRUVKTkJhNzJQbDcxOWliMUg3cG8yalQ0UTBkNmc3dmpzRWc3bkZhcExqbGFjVEx1KzBncmJldXdLL2V0V09OTGFVRno0dWNlNG83d2R2RUhqODVjWnlLQTNlK0FIUzdFRmNObGpwak9rV1BpTElGZHRjOEYxMG5oM0wyV08zNWdhQkpwaE5HTHl4MU1jdElMZGtmUk5Ob0JVMUhibWRSUTFlSk1NMm9abUNxTHM3Y3ZvdExVQ2gyVVpUMVZKUWtPZlhTSVFNKzB3UXNtODRTdXRNSXlhd3EwMlRaOHBacWErcG80T0JvNGRoOENKWlZuU1o1Y1p5RVIzaWNVbFdrdzVjc251UTJEc0xQekZ1a0JKdzJKMkc5clhEekxwV2Y5eUpJR1Zkblk1eUltRWRxSVBKRzFYcDVLQ0pCS1JsY25wa0YvbEdiUWRObmVTYjNBNFd6eXhGcnhoQ3JDME90WTVFWXI1L1NVdUVkUE9lQjlQYVlYRk9nT2hDQlJYN2dPN050NDEwSW9WU05Oc0hkcUs4TmxsQmpMUlFPeUxvcHVCdUVCM2ZtUWlRNHFGUHhnWmFiMGtGT3RzWlkvOVNPRVpEY2lQQytQUGFET3FDbkdPbmtWYng4dyt4RVZtUmsveUdmQ3JQRXlMbWZ1cWtaeTlmVW1ML0gzVE9Lb3hJeDRrVjduUFg5S1RNSHVLcktubGVVcmhRM1cvdXNsMHorOU9KM2FpT0tuenNtT1gxSWRMcXRJNisrd3lqQXhtb1FNaWw4c1BpOU9rbWJBVUczL3dyYXQ0anp6NUFiWlY2Wm9PMDArcWlkMmU1a2NIUHJ2QkdMbWwrT2hBTm5QL3ZnMWRTSVZBYTZwL1JCT21oYWx0U2E0NERhR215YVZUek1CUWlkMThOZWRFN1hYUm1ybFFURU83b296TVdkK1JhZWtWbTZjVWRwbXdBVjA5dVFnZk1yaFZPeGNUZnZadnpibmd5VGVsMEJBa1Byc01JeE10U1RjUWpGZHRQYkp5WVNrMi91QXhVUGM1dXVqSEhreVMxdVJoK2l5cG8rdG9mdVIrYVRSRnVzV3FNYUFtbjN2UkVrT3g0eEtjVnYyamlqQXROaUFZSldLenpIMlpockViVUZYYjZzTVEwYW5FZ2RPNlNiRmJNK2JSMVZ3QnhMcHFrQzZGWFg1ZjFxN0srUnRGYWhZOXE2Y0x4WUhPNEtob2ttTDRGaFlPOEtZK3V3d2pFelhsUlpkc0kzSkdFNmZEVW16OHdSaFJ1MkJmaVo4UkpqT2tTenBNUDdFcUZnRmhaYVlvcTJyOFRPT0RzdTFxSjFrNmFGSk1YZXM2SXhOTGxzRUZhVTl4OHlXM2JrY0lEdGVhY29GSk9SeW0vSTViVHp5V1JrWkNjNDg0WU9OS3pVb24vcjJrc0s3ZEpXYW9WQ21NVUYyOXo2bnA1WitVdzZ5Mm41U2MrZWw5YmRCOG5wVlVheWhReEt3Y1NaOWRSa0Zrb3BaMHozVnpyZG44SnNnRnBWajRFME9FZkZmcDNIOFZyaFQrc25hSmNrRjZxc3gvVU16RC9WSXVUczhkYlFpNmF1cWZKdUNhMEFQN3dCaHZtWklnN1RubGJhcC84NWszMG9qR04zL2t6Ly9YRU5xcFRUTWhpNHFlTk1OL3BMaHo5ZnBuTzlUUEI2NXZSZSsrL2hiaTlZZlgvMHEwZTVkczkvUGE3cWc0VlFxZDY4bXpRYXR0dGNiQlY5OXVnam0yOE9SSGV5aXRqbWZ2SnlseC9DSFYvYTk4dGkwSzRrZXV2MTQxMG1ldlhRYVJ1WEQ4emVTb1RlOVNvcUFVamIvV3Noc251Nlo3V0MrdUswOFpwTmRrdVJJd25QUk96cVNjcW8xYjlIbkxyOWZqMzNGSUIvWjZKS20xVENCSU8xQ3hHSVZsNnJBblJpYk0vUWh4cFIwZmYrNjl2L3F0K0cxb0pJSm93V0pEL01XVFNNcEorSXR4L0JmLy9QQi95MjlaS281dUtUNE5WZWw4Y2orS0htNW90eHZoNjhPMy91dTlEL2VjMkVYdzZBb1orRm1YTEhVQjM1dVNkWDUvR1VTbXFYamp2SzlZNUQwSHBXajhOZWVWR1A3bmx6b2ZqcUxuRU10ODZsVlJFYVRYWkxrU01KdzRFWkNMWEJLdHRPTGp4K0dTZnNwbDB2Zk5OSFU5V05ROFJIdW9WZzBYNHVNcmozL2swVWNmZitKSzdKc3doY3pVckhPK0pVYnZBMEpFZk9YeVJ4NTlQK2hobDJBR1hsYzYwaTRqbUNRZFB5clk2QituZEJYekx4NVl2NHcrc3FuNVFsdVF2bFZUbVVUM21DUStma1YzdFhzTXNZOVNVU2VOdDlkZkJwRnBDS25KejFVak1tZHFKUDZHNzYvSCtDdDEwcjdhd1BmQUQ1S0tFTDBoeTVQcW8zdXBuWnpKR1oxNThZbjRxUWZTSVBWNGtLallidHF4WUlDMmtZNEFGQVBQdVpLS1JxcGZlT3o0a1RkNG1ycEY3N3VuYy9tQmpleFM4VHpSQy9mR2wzLzcwN3pobVJjaEl4aGI4SmJaYWI5ZFJuNWt6dXNGNERBUXJtWUxjMnY5VWpCWHF4REVFSHpsc2VPZnZrSFp5dE5IUDY2S0EvU3FPdCs1Qjd0OEtSL3BPRlF0RlNUeXh1Zkd1Ukt3Z0JZSWNNS3NkQWUrOExZOUFuYnA3ODlRcnNaOUR4SDZLZktVVG9wL0hoa1pOQTNZNVU1Ry9aUlZaa2VHTVZyeU9WRldMNUlYOUpyWnJmSG5hM3JHOU5jdmRPbEVkdG00cHZxQ25adHRsUzc2UENuK0JjdEh3T1FMMnd1U2dxMkY3VFFyWElycFFyZGtPZFp1d2EzeTVvZXpkUHRlaVFVV1RtS1hLM29hTCthQm9rQTNKc1Uvd0Nabk1XMDNlK0tJbk54U1pGZ0lINlFLNlk3V1ZVK3BYZFQwV2JUZHhNcU4vQjkzcS9XQ1pTYXh5K2ZOY2dCUEJid3lxNTVNaW4reGV0Qis4ZlI3RFVHZHNNWGpDeExINlhOdnduanhqTGxISDFSbllTc21zY3Y2TmQwTlhQYVRUU3FhY25SaVV2eEhjNXlrQmE2NGNTYlZTVmpLdHI5ODVScTliYUEyb1MwT2Q0MkdzenJ4cm1wdmh0ZVhwZjBNTWhQWTVjcXhrWS83THNFTlhkTXFWMnB5L0hPSkNSSFJiVWp2emQwUXdiamxjTVM0MTlmMHI3ekg2UFRTYU5OMVZCbkdsNXlTMnljN2dWMDIxYjRyOWM3ekZHRkJuWjRjLzRJRUoyeVdZWmZKL2JWQzJZb3RERnpZL2NCYXZ6YlN0dzBuWGw3UEdjbXA4QnZmTHF2dFhTYXA0NStQV0l1OHljbnh6eXZKUzdjR3V6Unh0TGRKdnNLdXVPM2VDQ3h3bGtkYVhjMGJtR2JxMHZiR0RKa2tpMUk1dmwwK2FGM3BlR3hxUmwzSWdYK1JtalJobHpOWjB0WEVzNEdoR0tFeTZtSTRreU53MnB4d3BWUWtqbFB5R3RjdVYvRTN2eS92SzJILzluYU0zaHUrcWJKRm52UGdYNlQ4TG5vMmsyMTEyT1YzOFQ1K2FMbllZOUc3cno5bko5d2xJaDUzMmJjM2ZXd1h0V3hNdXhTcjFGZzlqVFhFMk5HeE80TmU1Y0cvU0RWcTZOZTFJaGtxWHYzNGFBc2YyOWhUZWVlOFBFSnFQL05oUzRlWnlyYXgwcm85ajdIdDh2S2pqM2NVTkEvRmVBTGwvVTkwMW1mUTUxejRGNmhIQTNaNXRVQittdFh3YUIvL1hoS00rTTRFUGFuZ1VCMDF6MnM1UE5FY3VacmlyUmNwUGFaZG5waksrZkF2VUQyNkRibFZJRC9OYWlWK2EvVHZHVHMzWGMrenRKb1k3K2NjbU16WXFaWHdZM0JqODVoUHcwV3p5M3o0RjRnZHpISkVwSmRYMktmaW82d2RxQXVaQVdRdjM0eDhPSk90Mkx3SVRFQzNhSGFaRS84SmVwemRGRGNNWnJZRDlyZnRqMlo1NGxwd2pxZFBPMXpLMWp0UXV6UnkreWxBT08vaUJiUEx2UGdYQmlPOUNUeXJPMWtqbEZ6eXY0RWxxTG9aTnB2SnRqYVRld1NaSWd1cFhEQzd6STEvSVdDQUNiMDZFOXJLS1VwR2lNOWg4SUpZSGJGWUQzRWtSN3NYcmx6Z211SGtkeEZtMkp2OCtCZWxGQjRzbmR0aml5dkIxZlB3MWR6OTY4N3JLc3V0c1NCY0crT0IxT2trVEVJOUJmNlRpTWxvaXk5UDVBemxNcGlPVy9YdVVQajUxVkRGYU01bjJGdGhvMXN2VEl1Vk55Mk1LbEJrQ3Z3TDZzWVFkbmxRRUsrU1RZbEFVUWhzd2k0M2ltSlc4aWtSS0FpQlE5aGxRYXhLTmlVQ2hTRlFuOUZUd1lVcFdESjZUU0xRbnRGVHdhOUpNTXRPRjRZQXBuSCtXSDVoZkV0R0pRSlRJSURYdTJmelZQQVVPcFdrSlFMMG5iT2RFb1lTZ1FWRGdENVdlbTNCZENyVktSR2cyNUJYU3hoS0JCWU1nVFhZNVkwRjA2bFVwMFNnV1c1ZmxrYXdnQWoweSszTEJSeVZVcVhlakQ1cVVDSmJJakFOQXEzNVBYMDVqZG9sN1IyT0FKWTkyM2Q0Rjh2dTNYNEkwRnRuRjQzYTFTODhjZlRBaHNtWHFSS0J1U0JBYjUxdGFNbjRVNmluN29tUEQzUkJtU2dSbUFzQzlOYVpFZnhnL0Z2NE01MDJQdDlTSGlVQzgwUUFINzhVLzY4dWRLZ2tYeUU0TmJmM0krZUpSQ2w3a1JEQTdSN3o1bUZUM2ltdkg1Y09jNUVHNlRXb3k0Qy9QSzcrMEg1WUx0RmZnNmF3VUYwK1pOdVhjaHFuZjgyZXlmZURGNnJqcFRJTGpVQ2R2VHgrVnYxUDhtcm9HNzhMM1pWU3VUc0lnVGI3UzZsTi9kME52bmQwQjNXMjdNcnRnZ0Q5MTVsK3lxMm53OHBXK2FqdzdUS0NkNmFlK0lzZDg3M0l0djVFWDcxOHRlTE9ITy9icFZkNGkwSnZFK0VOTkhWSHNxY2l6ZHVsSDZXZWR4WUMyRmIvcnVvUis0UFJ3L0xWWFlWS2VaNEhBa1AyTWlSODU1N1U0ZEI0MFhsb1ZjcDhyU1BRWlM5RDRuOGlsVjMyWi9abDY5YzY0R1gveDBLZ0Y1c3ZvK0xOeUt1U3FNOVdRMlB4S1J1VkNCU0pRSWY5dVNCaVRXT1hzL3JQd1NLVkwzbmRxUWhZZjE3TjdMTEx6UFZPN1h2WnI4VkZBRTlmdnFLMXd3ZXROMlNtTzZ0LzlOSEN5a1NKUUJnQm1PSzZybDByN1ZKalVTYm1pc0NtTWNVb0t1MXlybU5SQ2pjSTlIZ2NDZWVwMWozbFBHNHdLbE1uaDhDekgwcDJLanY4dm81bGwrVjYvT1JHbzVRa0VjQWRSL0V2ZHpodkcxRFllcnpjdnpTd2xLa1RRd0NScEZoNll5ZDl3d2d0OTlVTkZtVnFIZ2dNWUpjWElYalR1cTF6dXJ3UE9ZL0JLR1ZxQkhCWFhEejQyN0pleUxXZTI3aE4vNVJXZDdGTTNJWUlrTC9Fd2dmaEpYbE5kZURUR3lwYjQrc2hWVitlU3dSbWl3QlczclRlZnQ2YXhpUGNsTHdtNVpiUEJjOTJBRXJ1WGdRdXhQSGJVTkdJbjdTcU8vcC9kUnZ4cmxWVFprb0VUZ0tCMWljZzVYVHNmRmJEdk5YVDBaN3pKTFFwWlpRSUpBaDhMZjU4dE5xT1AyamowUzNmMDdVQktYTW5qVUF0UHVyRUgzZWtMcXZQYkZUNDdVbW5VWmt0RVpnZEF0WC83Qnk5eVdWL1BuNDVLVHBWTHNkZGJNcjhIQkZveTI4Y05Ndlh4K2M0Q3FWb0Y0R0JYSkMzekVzL2JwTXlYeUp3NGdpc0pJOXpsTlA0aVNOZkNzeEU0RlB4NzBmUitmYnhSbWFyc3JKRTRHUVJxTmJ4M2Y5Ty9PYVRsVnBLS3hFWWdVRDF4U2VPZi9kTEl4cVYxU1VDV1FqOFB6cVdPbnU5dzQyQUFBQUFBRWxGVGtTdVFtQ0MiCn0K"/>
    </extobj>
    <extobj name="334E55B0-647D-440b-865C-3EC943EB4CBC-32">
      <extobjdata type="334E55B0-647D-440b-865C-3EC943EB4CBC" data="ewoJIkltZ1NldHRpbmdKc29uIiA6ICJ7XCJkcGlcIjpcIjYwMFwiLFwiZm9ybWF0XCI6XCJQTkdcIixcInRyYW5zcGFyZW50XCI6dHJ1ZSxcImF1dG9cIjpmYWxzZX0iLAoJIkxhdGV4IiA6ICJYRnNnWEdKbFoybHVlMkZzYVdkdVpXUjlDa1ZiYzE5QlhHMWhkR2hpWm5zeGZTaGNiV0YwYUhKdGUyTm9iMjl6WlZ3Z1FYMHBYUW9tUFZ4cGJuUmZNRjVjYVc1bWRIa0tjeUJtS0hNcFVDaGNiV0YwYUhKdGUyTm9iMjl6WlZ3Z1FYMWNiV2xrSUhOZlFUMXpLVndzWkhOY1hBb21QVnhwYm5SZk1GNWNhVzVtZEhrS2MxeHNaV1owS0Z4MGFHVjBZU0J6WG5zdFhIUm9aWFJoTFRGOVpWNTdMWE5lZXkxY2RHaGxkR0Y5ZlZ4eWFXZG9kQ2tLWlY1N0xWeG1jbUZqZTJKZlFsNWNkR2hsZEdGOWUySmZRVjVjZEdobGRHRjljMTU3TFZ4MGFHVjBZWDE5WEN4a2MxeGNDaVk5WEdsdWRGOHdYbHhwYm1aMGVRcGNkR2hsZEdFZ2MxNTdMVngwYUdWMFlYMEtYR1Y0Y0Z4c1pXWjBXeTFjYkdWbWRDZ3hLMXhtY21GamUySmZRbDVjZEdobGRHRjllMkpmUVY1Y2RHaGxkR0Y5WEhKcFoyaDBLUXB6WG5zdFhIUm9aWFJoZlZ4eWFXZG9kRjFrYzF4Y0NpWTlYR2x1ZEY4d1hseHBibVowZVFwY2RHaGxkR0VnYzE1N0xWeDBhR1YwWVgxbFhuc3RTM05lZXkxY2RHaGxkR0Y5ZlZ3c1pITUtYR1Z1Wkh0aGJHbG5ibVZrZlNCY1hRPT0iLAoJIkxhdGV4SW1nQmFzZTY0IiA6ICJpVkJPUncwS0dnb0FBQUFOU1VoRVVnQUFCK1VBQUFPQkJBTUFBQURWVVc5M0FBQUFNRkJNVkVYLy8vOEFBQUFBQUFBQUFBQUFBQUFBQUFBQUFBQUFBQUFBQUFBQUFBQUFBQUFBQUFBQUFBQUFBQUFBQUFBQUFBQXYzYUI3QUFBQUQzUlNUbE1BaWF1N1JDTE4zZTlVbVdZeUVIWjJiVWZvQUFBQUNYQklXWE1BQUE3RUFBQU94QUdWS3c0YkFBQWdBRWxFUVZSNEFleTllNVJzV1ZrbmVQSVJlVzgrNG1iNmFLekZ3bzRjVUF2YjBiallRcUcwSFVrRHE5QzF4a2ltRldxcGJTYjRxQnBIaWRzVVVDVURSdHBLVlFsaTVKUnJHcVhWdVBaSU02SjAzZ2FYc0p4eElrWWRrT21laVZTc3F0dThNc0hsYW1hV3JyelVoWnZCclNyMi9QWStaKyt6OXpuN25EaHhIdkg4emg4UisvbDkzLzd0L2UzSHQvZlp4M0hvbVE0RWZ1allsUE94Z04rTUpSOGhRQWhNTndLUHRoaDd3YTVmQnU1L0NXbTlEd2k1Q0lIWlF1QnV4cDliaDE2cHlsOFEvbmZPVmlHcE5JUUFJU0FSV0JNcURxWDNSdnBmWitkZnYvdllIN0hMTWdIOUV3S0V3RXdoVUdQZnVsdjZFQlQvaTZKWVMreG1senMrZG90bTl3SVEraUVFWmdDQjFSZjN2MDBXWTQyOWtEcy9DcVhmeG4rcDJkL0JINTRhRGZRdUVQUkxDRXc5QXFVR2F6RzVYbTkvMVMzUEdXUG5HTm52WWQvcmxXL0ppNWo2NGxJQkNJRzVSK0FlOWliblQ4V29EaWlhV3k0ZXF4am9yemlsMW0wSlQ3a2xYZlJQQ0JBQ1U0MUFxY1YySGFmK3BDakUrazFabGpaak41MExzaXRBYU9kVVJ0RS9JVUFJVERNQ0t3eXo5bGN6ZHNnTHNmSmxXUlErMEc5WFZSZmdPQmV2eUNqNkp3UUlnV2xHNEl3ZE9HVW8rRDR2eE1sbFZSUU05TGZZdTVUWFdWUGRnUjlHTGtLQUVKZzZCRXFNblRwOFUvNEdGNzErVFJYZ0VzTFlqdkk2eTAvNWJuSVJBb1RBMUNLd3lOaXhzd0wxRnNONHArc1g1SWd4ZDVIdkJwWEljTzlqUXk1Q1lIb1I2TUZVNXl6SmNmNXMxeThKRDlTOGpqTGgrMG5JUlFnUUFsT0hRSTE5eFhINFBQNEtGMTNYK1hLVDZldjVzbnN3YitvS1NBSVRBb1NBamdDVzh6ZmdoM3AzZWJBK3QzY3d1Yi9GQTkySDV2WVNDZm9uQktZWkFWanZMa1AraFh1L1daUkNzK0U1ZkxkTzI1OWZ4M3lBSGtLQUVKaDJCRFladTZhVllaTjNBTjV6bldHZzl4ZnhTOC9JQ1BvbkJBaUI2VVdndzgzMi9xTXJkdVAyT2diNkxSbloyNWN1K2ljRUNJSHBSYURCem5YaFYzMUQzUkpPNlZUa0s3VkkwempVRTVLYkVDQUVwaElCSE1EelorKzhCTTJ1TEVjTjc5Vmg4NTVkZFFQV2pMNUJKcUovUW9BUW1DNEVNSHYva2lGeC9XMmU5eldNdTdDaXYrbk8vWS9NZEVZbThoQUNoTUMwSUlCek42WnBidUY4VjhpKzd1bzYzN2dYcjliZjdTL3NwNlZzSkNjaFFBaUVFWURaL29vWmVpU08ySzQyUFIxL0paVCtIYi81OFc4SUxBSE1QT1FqQkFpQmFVR2dyZGJyVXVJRmR2c1BQLzU1eHQ3cUJWU2c5UHc1bFFub254QWdCS1lZZ2FyMzNyeFdCSDRWSG1NL0owTktkd2kvdUNWUGh0RS9JVUFJVENzQzBHZlhSS2NWNEZYMzl1Ly9XODMvMG52Wm0zVy9Ga1ZPUW9BUW1DNEVsbkhUNVhSSlROSVNBb1JBRmdSdzJsNS9SVDRMS2NwTENCQUNVNERBUmNibzlwc3BxQ2NTa1JESUM0R2VkejFPWHZTSURpRkFDRXcyQW1jTUYyRFNRd2dRQW5PRFFNMTllMzV1eWtzRkpRVG1IUUZzMVczTk93WlVma0pnamhEQVZwMzdLWXM1S2pNVmxSQ1lad1FXYkVkeTVoa1FLanNoTU9NSTRGcjcvb3dYa1lwSENCQUNHZ0o0cTA3N0lKMFdRVTVDZ0JDWVNRVHFqSCtma2g1Q2dCQ1lGd1Fxd1Z0eTVxWGdWRTVDWUU0UmFBUnZ5WmxUSEtqWWhNQzhJQUN6L2NHOGxKWEtTUWdRQWc3Zm5yOU1PQkFDaE1EY0lNQzM1K2tZM3R4VU54V1VFQkJmblQ4a0hBZ0JRbUJ1RU1EMnZQR0IrYmtwT0JXVUVKaFRCSHJRK1RrdE9oV2JFSmhMQk02TTc4dlBKUVJVYUVKZ3JoQ29CVDlXTjFlbHA4SVNBdk9IQUtiMmRCdmUvRlU3bFhoK0VkaUF6ajg5djhXbmtoTUNjNGNBLy83a2pia3JOUldZRUpoZkJQQk4ydUFIS3VjWERDbzVJVEFIQ09CeWU3WTlCK1drSWhJQ2hJQ0x3QjUwL3BUQUlBVEdqY0JmdjV3LzQ1Wmlndmd2RndaSUJ6cFBSMjhucUtyblZSUitOcXlZRTZIdjNwa09URXZ2Tk9UY0t3eVFha0ZBRytJSFBaRzFjTSsxWU5MRS9raWFpU21NSmVFZFY4ZkMxczQwME9yc2lRb0tMVXpuMS9xN0JZbWNOOW5tWloxaWNUcmZnczdybkViaGpxNkZDNmx2NW91bU9Zb1NwZWN4V1pzbVpxdExYNm9VT1F2VCtlcGtia1YvOHIwaGtKNjRkYXlGRmFiekphajhMWTNSU0p6UnRWQnUvbXhLQ2FKcHBpU1lUelpMelJxRXkrd1p3ejltajlucVJpcE1qK2tOUGovV1Myd25QMkk1VXFxR2g3ZFM2MjBCQm50RnZQNjJEcDIvSFdCVXREZXVGdTQ1VDFmemNUU0xMazhjZlV2TkdzbEw3TXVHZjh5ZWNLc2JtVUJGNlh3ajRwUnA2YzkvKzluZjh1RFZrWlV2d0toc3MxMzBncTIvRUozSHQrZUxQWHBiL2xEei9yODN5eHRWQ3p6VkJndDJkV2JlS0Y4VXpVbXNXYjBNRTZielRxalY2Y0s2N2s5LzMrZWVkMStxY2VKci83SHQrVTZYYkVFNnZ4aDFJVXdiTForeHErSHlqU1lFZysxV2lOTXEyemZEQ3RINUN5aDNvZXVkTTNiZU1rc1hXUXVpdUczTFNtT0pHeDM4cC8vbTN3dE9CaUpwdGtXMnF5YVNvL05aYTFablAyazZIMnAxdXJEQ3pVY0p4cDRNaFE4TzRMZXcyWjRka2JVZ25hK0VwOUN1cEcwaHlsWFhNL3BmZkVubVNwaHJKWUJySVRxL2laTGZDUFBPTFdRSnM0anlSNHlTUk5hQ1lMcGdPU0YwSXFwSC96bS9aa29ZU2JNdGNsMDFVNC9PWjY5WmpmK2s2YndUYkhXYXJLNlRIK0pLTnpjc3ZlaEJrWmYxSDNBZnJ5dmZFWVNMMGZubFNIdkpxOTdmZ0RSWDNVS04vdmZFT3RaZUNKeVZLVVRuNnlpM3BiL0pEWU1hNnpxckRkMk1FbDBMTHRObStBTWI2ODkrM290NWE3bjVmdjc4Mi92ZzdCdEtIMDF6SW10V1EzZmlkRDdZNmpSWlhlZnk1NzRXdXByV0NzSGIyNWNVemRKN1FNb3pVMlhYK1M5WWh2VHJ6R2dvaWpOM2xHdGoxUGt6eHI1b1NDTThwY0NrdXhDZEIydkx3Qm9XSm1YSUdwOEVWZ3dXY2JYQXVleWhsN0E4UjlEell5LzhSeHJRZituaFlYRTBKN0JtdGVKTm5NNEhXNTBtcTNKaXFEOVFudUVjL1BXT0xTM0xla3R1RldmVytidVpQclI0UEJxV3BhSml2emRHblVjVHRuMGw4dXhjU2NjZGhlaDhEWFZ3YXJESjFkTmpYd2xlcGgxYkMyQit5VDd2T05PL3NMV0tscUxiK21KcFRtRE4raGhQbk00N2dWYm5pK3E3b1BQYnZtOG9GMThaZFBVYzk4aW1uMVhuWHdiS2h6cGw3bDZQblpCc2prL24rUjY1Q1lRcitrV2pSeXhHNTZFOGx0NHhDRjFxZndQTEtiTnJqNjhGenFobG1mTTRUdFdZVDk3RG1MYXRFVTl6QW12V3gzUHlkRDdRNm54UmZkY0ppNWt4Kzhsc0xtUTFqNEF0eStNaDJYUisrWDBnSE5iNWs5Z0YreGhiQm4rRjNTYmJ1am01TDJLY0Y5M05ycTF5Y2duRGhSeFhITDQxc0tQSXhkY0NUOWF4OVg4T09xY0RSY1JaTlJDTHB6bUJOZXNYWlBKMFB0RHFmRkY5VjF1dXdmMmdwQzVrRGF5Nkc1NkJONFBPbHovK0xMUUhQS0Z4dmhwNzBBZVRqcXRKQmM4NUhWY0t2VUVyOGsxak1WS0V6blBkTWZ0ZHhUd1B4eUlIRlQrYTNUNitGampUQzhGTlNoN0lPNmR0N3ZDZWhtNzJqS2M1aVRVcmk0RnlwYldHS1JKNU84eFdaNk4rSk9manRzajRzQ045aVNhU1ZtNjdPVkxyL0lNWURyd25xUE1iekNOdUYycU1MV1B2SENMN3hreGZ2cmJSY1JXaDgvd2pOa2JINGpQUHc0VWg5dEFwTjdYZWRFQXRjS2Fyc0FHRUhteDBHL1BKTTYwakdVQnpFbXRXbFc4Q2RkNXNkVXBTemRIVU8zRXRQSUd6cWZmVkluM2QyNmRKcmZOb0dmSUo2dndTbHBZeHp4aGJSdVZMa05uV0lWMHdSdjhpZEI3N3gxYk9NVUFORTFVWGs4RGwzL0x6REtnRmtiQnBNV2hpc21BY1BXN0RMNmtPb0RtSk5TdEZuOFJ4M214MVNsTGZnV09qVC9tK29WeklHandPMHZONitHdzYvNVlhS0J0REpKZXJwNDAyRmpuSDJES2FWNnAydy8wbDV2V0JRdDRpZEI0RGNlcjZzNEFZREtyNGl1bEZEYWdGa2VyTXNwT0E2akY2Z2g0RTMwbEdjeEpyMXBPY3Ixa21ibTV2dGpvbHFlL0FnakN0MEh3dGVkbW54RjE3M2pIUTlEcmZmL04zL0phRHBoYlcrWnJWTktUNGo2OWxiTEF0akllcUJTdUpjR2pBYU9kRjZEeFhuUUtQM2phQ0JodG5RQzJJd3A4WTB4c1hqNzJBN1ljamRzMkRhZ0ROU2F4WlZja1RxUE5tcTFPUytnNmN2ajN3ZlVPNStNSGRVelBIbmpmOVRxM3pMcmtLS0FmSCtUSXpkN3ROeG80enZwYXh3SGJCM0xCUVNlR3FlaW1LMFBrT0dIdVlTNTU1L29mT0dnMnFCY0Y4MGJLZ2g2RDZuTWRwUS9CVFY5UkJOQ2V5WmlYS0U2anoyQllOcm91bHRPNC9iTTdiWmtoaUh6ZFhkODNVdlJ1dXZ3Q2R2MlE3NnFaeEgxL0x1SGp1OE83UEs3b21rdVBVZFJOMkVUcGZCZU1EZzJXZUhoamJBK2E0UWJVZ3VLc3RXMDBXQ0dyTVI4NThuUjlFY3lKclZoWnRFblhlYUhWU1VPMy94SjlpYWFHSm5NaXF6REJlaHZZVjExR0F6bDhZc0FZWlg4dm9mVlVjVlF0b2h3QmlVeGU2Q0oxdm9nNHVKNnF0TklsZ2JBOHMvQWJWZ3N1RkdlWTZFZFlLZElxOHN6cDBVdytpT1pFMUsrR2NSSjAzV3AwVVZQdHZXK3BIaTQ1ekltdGdlOTdwN0xzWkN0RDVuajVrV3NRYVg4czRnbDZnU1d0NzJFcThKWDF5VW9ET2N6T3FlZGhQc2M3RGdlbExZUFl5cUJaY3JyV1FUSHg3M3VpYkFKanNHQWJSbk1pYWxmQk9vczRiclU0S3F2M250RDMvdjdva3o3YmQvd0owL2lqVWpyUlN3RG0rbHRIYWQ1d2pOR0ZUSHVGYjE0MFFCZWk4ZUtQWkd5NHQ3TE1HWVNkdzM2UXhxQmJjMUozUWtYdStQWCtxa2VKOWdMVFBES0k1a1RVcnl6S0pPbSswT2ltbzlwL1A5bnpacTcvS3FVdTZBSjIzR3NhMWdveXRaU3p6eHR4REc3Ym9IcHAyVjhsWWdNN3pJemx5dUZSODhuTnNzdUQrNktCYWNIbnZtV3QzQlBMdCthNG1HTzhEcEUxdkVNMkpyRmxabGtuVWVhUFZTVUg5ZjB3T0pmUitZREtYdmoxL3ladlkzdDExOCthdjh4alI0c1VhVzh0WTQwb0g3dWJjMVJPMnFZMXVCZWc4Zi8xbEFDN3hxTVhIb2llN1pxUVlXQXR1Nmd1aFJzWHR2VG9sZnBib2hoc3drT1prMXF4WG1rblVlVWR2ZFRycXJodDc3SVk1Tlp3aU1rVGZubDk1eWt5V3Y4NHZERHBpT3JhV2NaR2ZmZVVEcm0zUHJLcjFCQVhvUEFaaU5VVTJheUFYWDhjY25Ia3hFeDMwWFF3WmVrNEN0cDg5Q0w3bHlqaVE1bVRXckFmd1JPcTgzdXJDRFNGc3BRbW5pUWpSdCtmM0F1YmRvTTZYUDNnWGUrZzVFWVRDd1JXMGlNQlVlVVczaHJrNVB2VzhadituLzBUbTlsckc5OS9YdnovQXFQekJlL3MvSGdqRGVabHc2RXZ2YXAzLzlJNnovQTVKRTRudXMyUlYwY0pSNS8wZC95SjBvTjhUa1IwNW1zRlhnTTd2Z2EzTmRpaDREL0VUVVQ5SDV1RHNPSlphY0J4ZUQ2L3Q2dHd3YzllOWNMY0Q4MGxRbHN0NUM4MXBxRm12Z0hFNkg0RnFBSnFzWGdzWHZkWHA1Qjk5OE5ZMzhYZWd0SUdJSzBKeTNlVFRzNjVIc1hLZ2srYkwyMk05WUtQRzJBT012VkVQaTNOWFFEcWc4NXNzdUJmMmF6d1JZLy9FSStUcS9FZFl2OFhZeituRTF4dU1OUm43QlVNaUp4eGF2b1BkK2tkb3Z0ZmFhamRpdWNiNnVBTHM1M1Z5SVhkVmpPL2dvTEpwU1hyYU5Lb0FuZThBZ0xSck0wMUtXLzNjQWRMZXM2K1NobXZCY2Y0TTZ0dGs1enNxa2VnQnU1b1hUdWk0L2hJU1h4ZktZU0pNY3lwcTFpdGZqTTdiVURWUnljTm40NkszT3A5SCtRdXMzMlRmNjV3WTVsUmJmajlQd0lXc3NqY3ZzMjB6TXFEekZmYmR4MDdwdzNJMlo2YTErQ29nSGRENXVxWThJc2RIR1h2OS8vM1liemRRQ1BFSW5YOTFIK1A1dTVrdXpuS1QvZmZIemw5WFRkMndoTGJaSDRCUStRdm5hdjVhcXJFdjdqcWZhckczdWl6c3YyNm55VVUyZXhXUmVsTWIvUXZRZWFpU29VdDJDUWVHMnVxbkNkTGVjME1SQ05VQ24rN2YvQzNIK1pHbWNWRkcwQTZBRmFZMjRYSEVHYVpySHRVUXplbW9XVS82R0oyM29hcVF6TTFoNDZLM09wL1JHYnU5Njl4OWZ0ejJ4MnBFMnZMN2VRS3V1ait5TFFWTVBZRngvbkZQYWM2U0Rra1YzdGdPRFg0Vm84MklWdk1UUEVINXJMOHJFbktkTDdVK3dOME4vVld6cXN1ODdQMkx0UHpXRnFISFd1Z0MrMGszcnFwMHZzT2VQRWJZV2xBV2o0Yjd0K3FXZlE4U3kxYXN4Vi9RcHQ0RjZId1RYTVUwUTJNNXZOTmFQeS9GWlpXb1lkeForZSs3aW1Td0ZvQi80MXhFWDlLTWxRNVVmRnZsNFE0K3J1OXJJVzF0SlJTa0NiaW5vV2E5MGtUcnZCVlZEWU44bkZZdWVxdFRiRDdCUkUzVjlqRlFxRURIbXQrUERyZ3FhbHFKOGREVk81WENIT2NiM21lYzFtMGpvY3FqT1VBNnFHZTF3Slp2VFNwVHVmRXVrWlByL0QzdS9QOUU2OGdlbCttd3h0eFJMQ3loSGJtK1hKUTZqK3R2dGtTT285QzZRaEhpdTFDOFg4QksxMnpWWG9wRjFsZHBDOUI1anRPQllwRFdFVlUvc0tnL2JkSU0xZ0l2dC9leHFvN2U5MVFEVW5GN3I0dWxvQWZDZnBjZXBEa2xOZXNCRTYzelVhaWFpR2IxV2Jub3JVNHlXRzY1dmU2RnA1cjZLdFNhWCtZSi9UZThGbEgrajFXdFlidkpESjFmWks1V1lnQStEVkd4QmxUUUp2eEdJWkswRExzRFY3RnROK3VmdGx3akZ0ZjU1bzRJdzJid0ZUZlNLZmtqVHR1ZlpsdEN5LzRjdWVuWnBvOWtkd0ZtdXg2OThOK211NHpuOTJQcHJkNUxpRUZMWmNsZjU3bnVHT09uNGpXTUk3SitVS1liSnFGQUxTQ3kyajkyazZ6b2s3aWpRRWJBb1BXNG1FK3lYMUtFQXpTbnBXWTkrU04xUGhKVlZmQThISFl1ZXF1VFhPcmVVTWJiakY5Vjl2d3lUK2dmZWRVVHRCMGJPbCtYMDc0N1RMME5VVlFCRlU3NFVIbTVBeHF0KzZ2UzdNdEhFTkhxb1BQLzNpc0xpaVVOUkJka09yR2R0dU9Sc0lRdStLMjA0K284S0Y5eDA4TW92Ky9sRFArMVhYTTluNzM2VUtwa1VKdGQ2YkhxL0tmRmgrbHRQNitRK2FML2VVZWpqNS9SS2VOaUl1dEg2enU5L0lGYWNQQ2lnVmZvaFpadXdqeFRGZUJtaEtuWTcvdWN1NDE3UGdJMHA2Vm1QVVFpZFQ0UzFiaXFjTXAvYm1zS0lreTFJNTJBbll2ZTZyelVhTU52YzUxTmZmWm16Njl6ME4xaWpPRnRqai9CMW03b2ZNT2IwaS9GcVk1T21vOERBWjNIMGFKVExRa202dDZzazdlbVF4NERuWCsrcDZQUVB5bFFWV3Q4VFRYZnNJUnFsN2h0dWpxLzU0dFE4NmNJbWhDdXMrYU43cGoyV1BhdTBYSHN5Q3cyblMrM2VGSHR6Nm5NR1BrUFJIMGhJMU1OaW9pc0gyQzdiV1FPMUFMaVZ1VGtwbWFVdnUzUG1nU0JFdzJjOG9kaDZOOVJkQU0wcDZabXZRSkU2bndrcXFya05zZDFlMVBnb2JKSkc5bnNYUFJXNXlYdnFZWjRwcy9lN1BrTkZwcUhuMEw1SHY1VmtoZWgyWG9LcUtKNzJzcDlRdzYxOVdBVGNwTWZxMXpLVWVGbEZKb3NnOUREWEpOdS9PK3BMY1lUcER6bE1kQjVsVVdOSTJoQmwzbWtlRHF5V2RwQ1QveWhmTW5WM1lhVW0rOHV5OFcrcEtYK3k1SkJCL3gzVmJCMG9IdFZjdHQwM3VnNVFVRi9mTWtsdGVBL0w3T0ZhVEJadkQrNmZrN01qcGFQNm41cFhLSTlieTZFR0gydTF3dDBrbTNVeUErSjU4Ly91QUhMNEk0dlVvRG1ucW94Y0ova212VktFS1h6MGFpNkdZOTlCSFFYZENUcTBlZFJNa3NFRjczVmVVbWJxbjU2Q21HK3FlbzE3QWpkbEh5OGYyNjA2Z3AzT1doNU5mZm4xNlRKb0JKcU1UejdYd1QzM1JHR2xMNENDeDVRMHgzaGNIOXF5cnNwVTZMOUs4VnNTWlluT2hra1BSVFpiYUU5ZjI2L0lIUWVmYVhxV1pHenEzSFhuZXV5b3dGUll5cmlKc0lvdGlXVDIzVGVlVDZ5MlI5dExKUVVndjhuUEdjd2NGaC9kUDJnSWV3WTFBSzFnTGdqcjh2RENPQ3VjZHowZTRFVFZFZEdFZCt5cTFFTjBLd3BuZ0RkeFhZeWE5WXJRcFRPUjZNcU10cGFQWTlZYkJsSTZSN2I2WllJTG5xcmMrWEVDbDhhMVU2MGRocVIzODBUL3VWVjRvV3V5YkZPcGRMSCtRdHllTFdQbHA0SlRtWGxqZ292cTZ1ZlhqamFWTmR6NGcvOW1OUnZQcjBWVFFndFEyMFJOeVZMRVBKenFlV3BMYlRuYS9pNjBIbjBhV3IyQWlaWGZUcUdhMGt5NElKY01hS0VSNXZiV0hVK25HT0lrRHA0V2hZVVExQkEwdWo2T1FzZU9UQnJnYk5wZXRNajMvZ2htRytxVVVWNGtVdzlEMzNQYjdsaDNxOUpjNHBxMXBVL1N1ZWpVUlg1YkszZWdDV1pKNHFMMXVwY1FtZ3BXeDVKT0x1U2VsUitHUi80UjFZNTIxZ05EWEM2em0vSzZlZkNJeDhJMElCM3pkWm9LN3lGR0RxUGZrcG90a3NBMm52YkkxVnFlUU1NZEY2ZDlHcDZYUUlXOXBwS3dMSWh4aUpyNkluUGNGbk1VbEcrQTQ4SFAwMi9MOTJCL3hNNXBjVjRwZGtPVkNvdFovNDZmd2FlRWdqRmNWaEhkUDJFOW1QTVd1Q01WSm52ZU1leHhuaFR4OTNkbnIraFJldE9rK1lVMWF4YmlDaWRqMGFWNTdPMmVoMlZoTzRvTGxxcmN5bTFmUDJwYU9OZ1ZQNEk5c2dxNTc3TGZzZmhKUTdvL0g0RURRVDNXRDhjQ2RxK0NvcG90QVd0VFVGVU5aTmMvNTJ1U0FHZGYwWlNram9QUGRSVUFtT0k2QUdzb2NoK1czTDRiemlkSTIzWmcxRXNxc2wydnVJeDVZWjdOZEdRZ25DbDJKZWUvSFcrQnA0S0NNbG0ySCtBcVVRMDh4b2J1VHpLckFVZVluU3FQTUI5QWpvUC9FSlRRWm5VcERsRk5lc1dJRWJuOTJVUncvL1dWaDlPTmpBa3F1NkNWWXJoVGc3UU9MR21uRTVVL2dqR0RYL3V1eXJudHlxcHJ2UFFwdjdmcTVpZ28ya29zeGRiUVJzeHgzbXpaYlRWOE9LVEF4dWxsMUxuTWQvV1ZJSnJKVmRyYXlpR2NuYnJUM3h5L09hYnE5SUxPOVBUMGgzNGJ5aW1OWC9Cb2FYUkp2ejU2enhrakJSTWt5SGVHVjAvb1U3TXJBVk9GaEw4S3NjMDhHeXF0WmVJd0ZnZW1ncktIQ2JOOXZUVXJGdUFLSjJQUnBYbmE5cGF2VVJraVA4b0xscXJFOVNRVG81TjZLYmxXQzBNM3pHNkdSSUUxU2liK3lXLzQvQ1M2VHJQalgzc3RUc2hBaUtBcTFvM0ZGWGhXUTcxWU9pcDFyU09mTjRxRVlwMUlEMVM1emNOblVkcEJWRnJLTzhRR0h2RC95Wkp3QXppTjFQTUVOUzZRU1p3LzB0c1d3YTBrYU1yUGVxLzVVdVZ1ODRMbVdVbEtJN0RPaUxyQjZWV0RjVWxhdFlDRDJ1ZzBMZStQc1R5b2psNzR4dXEzVkFpTjhDa09VVTE2NG9mcGZPUnFQSnM5bGJ2RWh6cU40cUwxdW9Fdlk2dk1NYjRGWlhmTGdTeXFpbmhvcHpUL284eXJhN3o0dUFJdEw0ckkvWC9Ic2dZeWkwaUt3ZzFneUdjbHEycDZiY01oczVma2U2bTErVHFacXR0dWFZTmUyaUg4MFFEZm81TGhDL1BsV0JRcmtEcmw1d3VzUmQ4amZjY0ljZVdERmYvR3ZxNTZ6eXZBMVVKaXVPd2pzajZBUVR5YUpOSDA2d0ZIbmpHUlZDZ0tkWUJuVDlCR2hVWGNKZzBtOU5UczI0NW9uUStFbFdlclFjOFZPTUs0REdVTjRxTDF1b0VQY0M2N3hGR2YzTkQ4WWpLcnhJWUR0NVZ5Ulord1JzRXk2cGlkWjJYeDA1dTdSZ0VYRStqNHBQeG94RVlBTVZzR1lpOTRxZDJYVGFkNzVqamM5TXR1VDNVSzc1OEVaZDc3Ly9IM3ZNaWM3NmdzZVlqbVBZY2FGR3VzK2tqbkx2T0M1R3ZobGdPR1JCWlA1aVIrNjFERURWcmdRZkpNeVRpclJpZk1XRHhQZUx0K2RCVVVNYWJOSUhsdE5Tc1c0QW9uWTlFbFdlenQzcUp5QkQvVVZ5MFZzZXBZY2FtSnEzQSs3TGlFSlZmSlRBY3lLbzJiemNQM0tnRmFjTTIzNnZEdUNvZWZ4bWhLRjI2dFJuYVZrQmtoYWMvVktuZ0NMV01mVDJXdTIwNkR6cjZuTHpwTmloN3FQUHI0Q21lbitYa2VKK21QNy9DQThQUG5wN0d0cmpXZXR6Y2RSNUxZZXVSaDdDWXNTRlI5UVBNOTgyTVppM3dPREhWNEdLY0dpa0Q0L3lSdm9ZMEVrNXh6YnJsaU5KNWZOckFmWkszK2dBd2lid1JYTFJXeDhud3dXSFhvN2RwRExJUitlMjhrVlYxNWNzZXZZdFB5N1Q2T08vZ2pSNzMyWkxSNm4vdnl4Z1I5cFZYT2lvOHZhSHp4cXFQcjdVdnk3VHkzNmJ6UjZZV050MkJ5eDdxNEwxYTkrbDNRWlByRS84ZjhGUlVrWVU5UzlzbDhESzIvSEVyZDUwWGs0enVBQWtIUjBmVno2Wm14WFNwR0xYZ0JyM1NBMDB1Nzl6UWk2WU5yMm5XZ3lHU1FYT2FhdFl0UmFUT1I2R0tiQkd0M29BbG9TZUNpOWJxT0NIMDFYMUpzTzZQMVFpS3lDOFRtLy9JcW0xOXUzRm5WMlFhUStlZFN5MjNZZWhqcnB1eXNRWGRPcEM1MUgrRnB6ZDAzckR1Sm00WlZiT3ROVjJkdDRkaUYvbHZPRnM4WEk4VDZueFRFLzVJUTFZVlJVTS9kNTAvNGNJcVR1a2RFZld6RjVwRUdMWGc4ZnNDRndMUGpzN2YxSGx1YTd5aFIrdHVnK1kwMWF4YmlFaWRINzdWNjZna2R0dnJUbXQxbk5LSmRqSzZZallaZTM0N2UyUTF1M1lrYTEyVGFVMmRkMWJmaDFxM2JHV3RuL001dE5wV2w3a3RjM3VqWlhBRC9MNUs3RGtpeG5tOW4wSFhjNERVMEUxTEtDZFQrbUJUeXNubjlsMGVGdnZnODVSK2ZBOVpkbnl2NjlJa3pWM242MkFvenlNRytRN2x0OWRQTzRTQVdRc2VpL2MwSVVaZ0dXN3V6OGR0endmMi9FRm9QeWo2aE5hc0syYTB6Zy9kNm9QbFR1YTMxbDBBUlRTVXB5UzFSbUNzdHVhWGljMy9ocWs0UEhMZEgzTUNPdTg0ZnkydVY5c3hhVGduVHlNVDA2YkhYbnlGTnlKam5EZFBheUgyU29DVWRUMS9adHJidld6MlVKZGUrVDJjTlJTWkw0RjJnanhDZm55ZTBnOUQyL1MzOUdXd3RnckpYZWRSRVAzTWtXU1o1dDlXUHhWelJBQlpzeFlrbi9KTFd4QkU3MGFkVGUzY2g4Z1dXTy9MckNHYUlEUXROZXVXSVVibmgyMzFHaWhET1MxMXA3VTZUcXJqS3hubVhNR3gycExmemgrVmN5TVFjOEZmellaMDNuRmVoaHhYQXpscVY3bEpNYndOVmtGYVUrY3g3Tzc0bVp1V0JZRnROT2lZeEVIME1vallReVgxZFRSZ2xJeVBUZGRrV09UL0JYMlk1Vk9EZzBCU1FMd3RnNnc2dnhINXZ2VGc5K2VyWUtqNmI4a2w3WCs0Zm1xaFNZUlpDejZuNVZxZzh6a3h6dHR6dTBQWFQyMjZUSnJOTUlUVzNyd3o5cHIxU2hHcjg4TzFla0Z4eVBmblhTbUNkYWUzT3A0Q2c0TlVWaGhkamQ1WkVBam1kNmtHZi9YdGVSblg5bmR6TFRyUEdYT04wNTVWR0JZcy9ZN05iZzhWUFBSem9ySExNcWhBbTg3M1RKMUEwN3VLOU5iUTYxdVNFaWF3VUNTK3NqeVZRWkgvK0R5bC8vQWRrU0NlSUtNSTIzUmVicFlnYStnNTlVbmJYVTFrQ1UrUzdHa0hoNGJxcDJVb0xpZGcxb0pHRXJNaVl6TnV6eGhNVGlDbmx0aDBtalNucDJhOVVnelErV0ZhUGFjbzl6NkJXUERSbTVvSm9WRHF5MXFZM3VwNDhKRS8xMGNYRzFLZFVINk5sT2JrWTVwcXpGNTQwMmVyNmZ4L2tybWdTL3ZTN2Y1ZjV5TzhabDVRc1JWZTNrUGxoUVA2ZE0zM3R5MXQzYWJ6Q05NbU1seU5kMERFR2lxL29vMzRxcGd3TjdVUjJ1Y2NjUEhQVS9vUHNxamRTaThVZmFPUzI2YnphcThMc2dVZkgwNmZoZUhpR1c0WUlTazhrZldEM2pqWXpNeGFRSzEwSmNPcXVVcXNHL09QZHFCSGtKbkV2MGtUU1VPOTJHVFdyRmVJQ0oyUFJCVnFIZFhxT2NVNnIxUDdZM1NxTHZjb0xucXI0eW5SazE1MWMzQVQvajZjLyt5WSs2UHk4N2p3ZzZ6NlpKc251S1FGK0RyZlliL2k1VWJsQmxweGRSdFJRWnNDVDEzaHBUN2tMdm1nQVc1SnQ3QkRCcHVqZFFhSTlhZUdGRVlVc1dOaERhMzdJL1JGa1FreVhQRTVScmhhKzNvRUYxdjN3dzJlT3pMSXB2TlozcDhIb0Vsa2xPenQvOUgxZzRialkrSm1ObXNCdHBoKzE2UGEwNEhtaDNEMHJCaG1RdFdscERGcG5saVMyblRlV29mYzNoQ3U3NEpxMWl1QVhlZWpVWVVDYmlPcnJkVnppb3N0WHFuVzU0MDgzbmdpdWVpdGp1ZEFCWng2T1U5Y1JXcDA0WS9NNzZVTi9HMUNyR016YkU4b2xCdW1kQjZUUHJXbFo2Z3QwaTMzT1lWcVNFOXNPby9wd0ZXWE5QOUZqNlBWN1laNFJkZldNdEJzTmFFd054SERzRFcwZmx1Ulg0eFJSOVlBQUNBQVNVUkJWQkRyMkQxalEySGoyMVcwNWhDZnAvVDl5R0wyVk1JVXVDc1RXSFZlUnFiNDU4ZURkVlJTa09DbXlxajZRZFF6UVpJbXZ6Ti81cmFwVDZqNFhGR2ZBRFV0ZzdkUDJhQTVQVFhyRmNDcTh6R294clI2SDVKa3JtZ3VpRkd0anRPcStMUE50aGlFeEluWjZQeDIvajJ0clhncGFscGZyblIrai9rcXJRMTVJc3RGWVgrQ1BJSE93NnJ6VFgxaEFLM1ZCbFQzNks5TjUva3JJRDV4dENlM0pkcEM2Mzduc0NyVXdGM1d5OUt2Nk9PV0RNUzQ0bE5ISUxkVmJhdEk0Y0RJb3dMeTFublE5dXRTY1JuT3NRY1NNa2VnZmdEQWdZeVMvMFl0OExYU0RTOW0weGpZTWJESUNNUmpKTmU5a3BiOE4yaE9UODE2NGx0MVBnWlZKN3JWUzBDUy9rZHowVnNkcDRiT2VjZWplaVRxZTVVUG1kSDV2YlNCUDFEeEIwWVJ0OGEwVVVIcGZNZmZRUzdwWXk3UGNuU1oveUpGbC8vclQ0WGhPZFJEbkpyUkFLRzFweXE2THRxWFZlZnJlcm85T2FMWVF1dStGQ1V4SFVDTDFvenkybkpmOFlWbFFKdHRJQmdkWjdCeEwybEU4dFo1OUdFVzdEVHhFamc3ZmltRDlZTWVURlNRVHNXb0JUN1B1T0xGN2huVmc5cVNFWWpIVEROTXlhZHEwT1M5OUttS20rU2E5WVMwNm53TXFqR3RYaFU3b1NPYWk5N3FPTEdlMzA1YTdvREd4K2ZvL0hZQmF1WmVDUktkNlVPYzB2a2pmMzIyR2xqVWJianpEOGh6R09SUllYak0wRE85UytHRk9GQ1p4QUxKdXA3bnI4cjc2VUQxV0dTeWhkYjlXZktHS3loRTMxRThhdHZLcVRuYW1vVVF3WHpnNHdZYTdibW9kWTE1Ni93bVIwbmpsY2FKUXZMcTUwK3dma0IreTQzeGY0MWE0UE9NVXkrdXJWd2lvT1dqNmI2NklOTjV5ZlUvZytiMDFLeFhCS3ZPeDZBYTArcDFVSks0bzdub3JZNVRRbFY2Mm9RNjQyUDFSVDdoamM3UDg0UWZWTGMyckNNZWkrV3VuMHpwZk5WZjhxMm9XL2pjZEJmY3huWmlhVm9Wa0pkU2VrVE56KzZCbTJ5cU1Pa0x4dFp4SGx0aFQwbXBvSkdlUXRwQzYzNTVWdDBsQU1hNWZablhxeW5wbGY5TlUrZWRwbUZuNEtsT0pFKzQ4OWI1UFlDa0Z1TlNwQ0gvWStxbnAvZDVIbG1qRmpENVYrd2J3allqbVdNMnIvWFlmTW5UbFZIaGY0TW1iMGZUVWJOZVFhdzZINE5xVEtzUFF4TWZFczFGYjNXY0JtcnFta3VyNDhKYlA0QTNPcitiTnZETGwxMVg5TENTYVloVU9sL3hQK3JhMXRzQjhsYjJCWUZOeHJhRlEvdXBnSHdnOWFhdnZEeGh6VzlHRjl6OU1kQTVrQ1Jhck84NWUweFpNekFWM29vT3JmdmJiSXV1cnBkYXZsM3Fla0M1WFRxaEw2Y2ZRZXhqS1lUNDcybkdyTHgxdmcxdVZya01DZUk5TWZYVENaWUZsSXhhZ0szejFLTytxblZ0Q01LT3dxNFhnNzhUeU9uN1FpNkQ1dlRVckZjT3E4N0hvQnJUNmtQSURBaUk1cUszT2s0RTliRXRpUEZsRmg4RXExd1Rvdk9MdE1FZmRCejY3TTNaUUd2M0JsR1JWT2w4VDlsdlM5b3NsNmNwZVgwL1ZIRmY1TkYrS2lBZjBQa2xYeWQ1d2lmVVp6bWM2cnRFemhOdExZM2NudXFoa0ZjOHdoV2ZnaVcwcnJwQ1RDOTNSQllFSFhwNUcvdWV3L2lyK0huYzhDb1lYeldTZFB5T0tQZHhIdXdOMEEzR0NUM1I5WU9wbjJiUDhNZ1p0YUJOZnZiTVltTVRUK04vNXRzTXRGRGxOR2hPVDgxNjhsdDFQaHJWdUZhdkVFbm9pT2FpdHpwQnJPSFptZXBQaVc4dmxrV1hISjNmSmtBWjFhZ3Q0TW8vMElEL1FFdXBkSDdKK3p3bDdyRTNtNFd6NGcxUjZENXUrRGt2UHNJZlVHTk11QjZXVVF0R00rTERRWDlYeEszMXUrSy80azhLdVMzdHFnaDBuRmV5Y3pjZCtHeDVZYmJRdXRLZnNweXhiNmlCL29uelk1VlZPVXIvQld4dXU4VGR3TDlFUUdEa3JXcVRtTHpIK1NxNG1Rc3NKVnRpUjNUOVlLRVNQR0RFVjNDNk10ZkVUUVBndGRHNmJYQmMxTFB5c2NXWStSdEpnelNucG1hOVVsaDFQaHBWZTZzUElKTFFHODFGYjNXQzJKNDdPS3l6MHg0ZjV4ZUU3VGs2ZjBpQUgzdjJjN21LczMvMWZuRXAxTFBGaDJ6Zzl6V0tHd285SlNrM3ZhTUVud3dvZzNQMnJzK0lCNHFpTmR4TlRsbC9KSHVzSm5UMTRzY3Z2c3JqTnBwUDQvZi9lditMZWFaZmZQOTduZEw3LytjV25QM3ZlWCtYeDVlYWJycmxoajRtaGtNeHQvZEs4REdscG84ejlrODRqVXZ5VTEvYzR6MGJ6MnR5anV6OEpUTGcvWGVKQUhickgvM09qa3lGT3lLdktYZmVPdDhFdndORlBaMGp1bjV3SWdLdEkvQ1l0ZkRFK1k2SUx4OFpsYzlQT25wWnkvL2gzejVQb0hMenViL3o5d0ZhMG12U0ZHL2tURVBOZXVKYmRUNGFWWHVybDFBTTl4L05SVzkxZ3VhcTIrdFduNEpWR3oyNU84Skg1dy9KSVJUZWJkN0dyNjZTU3VlZFQ3RFhkN0ZGK3lpN2hUL3Q0VFp1K1hDdDlaNUluVWNUUEpTSnhQL2RqTDNqRlkvOVFPUG1NYnh0U2VwTC9zMHRYbnE4TTNQN054LzdiWXhhUEtGOFFxSDRXTjhyKzMrSFB1TFgzRDVDSlB3SVk2OS94V1B2Q2F4S1JCUWZ2Y1FqQjBNVmdOQlR5UVlMS1o5cjNqclAyVitXbk5MK1I5VVBYd05xOVNMSkc3VlFydDBDWXM1L3JyS2ZrZkh1ZjA5MjQ5eTBMNTl3RCtKbE1tZ2liQ3BxVmhiWXF2UER0bnBKYk1qL3FMb3pXcDFMczgzZTZKVHVRQjlkYnJLZDFkYXBDSTNLSHhiamY1R1ZhUDcvZ3A3UzEzbm5YelAyOElPd1p4L3E4ZUxDYVpWZnN3UnM5aDk1NEtmazg4Q0RMZC80RTVxdi9KSElmK3NhcDlzVzJSNTRwTVYxL3BHSDMveFQ5ejc0aU93akxqVkZ3aWQzRFFHQ29iMHY4b3R5K3BCVW42N3o2VHRrN3hwWmhXZVZjVUVob2EvellJdm5BWEErbGVrditaYnQzTzMycUZtdGQ1RWNoLzZQcUIvK2t2T05NREd6RmxZYnJQOEFabFhmSFVoNHh2YmRrRXNNRlFOWU9DaHZDeVJTWHBNbWdxZWhacVgwZHAwZnN0VkxZc1ArUjlTZDBlcGNtckN4bjd1dDVST3MzeEx6S0VSRTVCOVdERGU5cHZQT2o5M1o2di80N3dYcGRLNTRJZGpYU1dSOHJvZm1zWi82bHRaRC81V3B5VUV1d2wvNi9IMzkrMzgzR0JVSXZiNkYyY2pubS8wMy85NnhudkxId09NN2pCQTlkcUI3U1U1eWVjcWN4M2x4OUhabm9BZ0RFOWpyaHkrZXRzTjVBN1ZRK3Z5RDdLSHZPUXltcTJrcm1tQmMyQitnaVFSVFVMT3lHQkU2bjFlcmwyd2kvdTExWjdRNkwrZkd2MnY5NHA4STkvYzMzdENWNU96NVpleHcvN3JPVzNPV1BhczlJc092YkZwelhEUlBkMXJUVEZ6Z2laemtjc2x5MW5reGJ5NnV4TmhQdVJhbW5xZ1cwSTBQMDAwbW9oa1daVEpDb25UZUt0M3dyZDVLWmxDZzBlb0dKYzR0ZnFET0wvbUdYbk5uUDFLRUJkMFdISmxxd2lMTzFQNEJCTXRaNTNHYTBMS2JsaHNBc0t4WUZEZFJMVnl5R1VDaUJVdEVNenI3ZUdPRzB2bmhXMzJxd2htdExoV0ZOSmtHNm56N2lpSmJqVDJ4b1pKaDhGRHVxWEUwL2VsTTdqcVBnNGZENmRad3FPM3BwZ2lWTlZFdFhMQloveFNKa0NNUnpWQ3VDUWtZU3VlSGIvV3BTbW0wdWxRVTBtUWFwUFBsMW80aWUyWWRVRlMwY2xTbFVVNkZUTHlqWk9oTnp1UDhDWFErMGhhZUhacTJ0bitoVVV0U0MzdlNoS2ZsaTNNbW9SbVhmNXh4dytoOG1sYWZvbXhtcTB0QklGMldRVHEvNkUvdCtUNWJOd21YWVZ0U0Vwb0ZwMWt6YkJBNTYzd2RPbS9aVGN1clNFZTZLY0lubXFRV2p0aU9ueUdCS3duTkJHVEdrbVFZblUvVDZsTVV5bXgxS1Fpa3l6Skk1OXNIUHQyZTFWamt4MHZYV3BFdFhETEo5Ly9FMkQvUFdlY3hQN0x0cG1VdlFlbjU3d0NScHMxc3owL01ET3hueXZxRkprbkVTVUF6Q1pteHBCbEc1OU8wK2hTRk1sdGRDZ0xwc2d6UStaSStUZDgwai9CRk1oeTZLVVZTR2xsRXhaakI1S3p6VmVqOGZoRkZxZk9UeXpnenRXTWpucUFXRmdaM0N5YmxCRFROREJQa0cwTG5VN1g2RkVVMVcxMEtBdW15RE5ENUovUlQyN0JGYlNmaU1xYXlKSkxObXFoc2JqWGtyUE5ONlB5V2xXL0d3QmJEVVlqMXFEMkJ3YlZ3a3JBK2ZURUgwL1RUVHBockNKMVAxK3FITG0rZzFRMmRQMjJHZUoxZmJ1bHZiRjN3WDMyTFozZGg2TFlVVDYvdzJBVnpTWnl6emtQbDdVTnh4bkx4UThRSE9KZjlGVHVkd2JWUXNXM3kyWWw1b1lOcHhtWWZaMlJ5blUvWjZvY3VYS0RWRFowL2JZWlluZitQRGNiK1FGSXUvMkFOQi9IK2hXVXJXS1pRLzh1R1JVd0ZUNjVqenp6VmtxL09ZL0tkY01OalNJQndhd1U2MTgyb2RjUEFXaWdOdjVzd2tPYVFSUmhoOHNRNm43YlZEMTJXUUtzYk9uL2FESEU2ZjhZYnE3eEtBbnV6NHRFbis1Rk1qeEtsaXN3KzhvaUd1a1pHc001WDUvbHdyRStYY2lzZDEvbGRYSFhXamFBNHFCWldvbnFMQ0hvOGVCRE5tS3hqamtxcTgrbGIvYkFGRExTNlliT25UaCtyOC8wMzMvdWd2Q2VyMU9yajFaUUhIcEZ2cXNSeXZLQ2Zhb3ROT1JHUjY3S1FualQ1Nmp4WFRXM0hNNzhTNHh6L20zQWkrcWtvaW9OcW9SUDNzbndFMFVFMEk3Sk5RSEJpblUvZDZvY3NaTERWRFprOWZmSTRuVTlQdFRTc1FUZzlxenh5bmdTVzIvbnFQRDk2RzdIa3ppWjhtYjJWYjhsdFIxRVpVQXZsTkN1d0FUU2pSSm1BOEtRNlB6SlJnNjF1Wkl5TDBYbW5iYnV2Wm1TRkdwWlI3YXRtam54MW5oKzkvYkxKSUNkZisyYTNmR1RlNG0xUWpxK0ZKZjlOWWlOWHZDZWVabnplc2NaT25NNEhXOTNJMENsSTV5K2xXQ3FPck14QlJtdkJsVWkrT3I4Sm5UOEk4c3pGdjlwaXpiaGR3UGhhT0VxMTRJaW5tVXV4aWlFeWFUb2ZhblhGRk50Q3RTQ2RkeXFKMXYwV2djWVFkQlljS3ZQVitSNTBmcnVZWXEzZmRmN2VPTXB4dFhESk9Ib1lSOFdNaTZOcHBwd3MzNlRwZktqVmpReXVIdnREZkZjOWYzWUxjZU5QL3V5eVVGdzFOSElaY0hUTUcvMnlFRWZlRG5UK1drWWFLYlBIMVVJN1phOGNSek9sbUNQSk5tRTZiN2E2a1NBZ21mQkJpT1hheEQzS1o1SG1aTWw2VXY1N3hoeDNMM2RBamtDeE82YkNSdGZDUm5CQmsxakNhSnFKU1l3allkazhkelVPRVhTZVpxdlRZd3AzRjZienEyTnI1ME5pVmpaTldmbnJmQU02UDZSTXVTV1Byb1dUZ04weU9jdG9tc2xwakNObE1lODVwU3hKb05XbHBKSXVXMkU2Ny96d2JqcUpScDJyL00wR3gveDF2aFg2VHBiQnNGaFBaQzM4VmZycWlhUlpiRkd5VW4vME1DdUZIUE1IV2wyT2xJblUrQkhnQnhoVGo2bmpGNThrSUFRSWdTRVJ3SmNnMGh4K0daSUxKU2NFQ0lGSlFjRHlyZnRKRVkza0lBUUlnUUlRNEY4SjNTK0FMcEVrQkFpQnlVUUF0dzVNejFtRnlZU1FwQ0lFcGdxQlRlajhKRm1NcHdvOEVwWVFtRUlFOXFEengxTW9ONGxNQ0JBQzZSQm9GM1JqUmpwcEtCY2hRQWdValVDbG9Cc3ppcGFiNkJNQ2hFQTZCSEQwdHBBYk05SkpRN2tJQVVLZ2FBU3duSCttYUI1RW54QWdCQ1lHQVg3cjdmN0VTRU9DRUFLRVFORUk0S0pLMnA0dkdtU2lUd2hNRUFKcjBQbWRDWktIUkNFRUNJRmlFVmlCemhmTGdhZ1RBb1RBSkNHQVkzam1Cek1tU1RpU2hSQWdCSEpIb0ljUGZtbEVQM1ZuNi83ZjFmemtKQVFJZ1JsRG9HTzhQZjlKMW45ZGcvM3FqSldSaWtNSUVBSStBa2RNdTRkdHVYVUxyOXU4bTM5eWloNUNnQkNZVFFTYVRMdEh2dTV1MjFXbjVYN1EyYXdTS2hVaFVDZ0NNTnVmU2dZbDcxdVZpK3p0TW9qK0NRRkNZTFlRMklET2QyV1JWcnp2MzViSmxDOGhvWDlDWU5ZUTRMZmhxVEo1VTN2SHFkQXhIUVVLT1FpQjJVSUF0K0g1WDhOcnlBOEc5ZWdJL214Vk01V0dFRkFJNERZODlSRXYzSHJ0aFcvUzdkY0tJWElRQXJPRndJbjJKdTJhV3NhdmVNYTgyU29ybFlZUUlBUWNwNjY5U1h1QnlVL0JMckp6QW9jUUlBUm1Fb0dLdGxXM3AwN2g0bVc3M1prc0xoV0tFSmg3QkpxYWRyZlZkK3RnemFmcnIrZStiUkFBTTRrQVBsRHB6K0lyeXB3SG5UK2R5ZkpTb1FpQmVVZGdWYi8wdHFwMEhwZm5iTTg3TkZSK1FtQW1FY0RDL1dsVnNJYTZBQmM2djYrQ3lVRUlFQUt6ZzhCRnhxNm8walIxbmZlRFZUdzVDQUZDWU9vUndJMFoxMVFoZkozSGxKOTBYdUZDRGtKZ2hoREEyL1BIcWpndGRmb09PbitnZ3NsQkNCQUNzNE5BU3gzRFFabjhHM05JNTJlbmlxa2toSUNPQUU3WWY4bjMreDdTZVI4VmNoRUNzNFFBelBiYXVyMmxiSGlrODdOVXkxUVdRc0J4TnU1OGlZQUJadnRESHc5RDU3Vyt3RTlCTGtLQUVKaE9CTnJlbVp1MmVwT09sOE8zMjlQKy9IVFdLMGxOQ0VRaHdMeWxlME5memp0MEppY0tMd29uQktZY0FYNEpIditRQlV4NCsxcFJhblQyVmtPRG5JVEFEQ0VBRTUyNEZBUGZxdXRxeFRMZXNkblNJc2hKQ0JBQzA0MEFIK2Y1alZodDljSzhLRTlIZVJjTTI5NTBGNWFrSndRSUFjZHBpVDI2Y3N1WTJqczlkU01XM1psQnJZUVFtQzBFenRqTlk4ZFpZdWY0OVorTDZncmNKZGIzZzhsRkNCQUNVNC9BU3IrTE10UUNuNnZ4YjhHN3FFYjhxUzhxRllBUUlBU0FRTGx4ZTlmNUdMdGxEUE1PVEhzZU9uVFhOVFVUUW1ER0VJQ1I3a0hXdnhZb1ZWTit2cWF1SDhrTkpDSXZJVUFJVENNQ24zMHhlOE5oVVBBT3Urb0dWZlVqdWNGVTVDY0VDSUZaUWVBQ2UwWVVwYVJkakRrclphTnlFQUtFUUJpQkRjOXd2Nkpka2hkT1JTR0VBQ0V3TXdpMDNldHVhV28vTXpWS0JTRUU0aEZZYloxamtmOWg5a3Z4eVNpV0VDQUVaZ1dCdjJMOTE5M0hualQzOEdhbGNGUU9Rb0FRQ0NQdzJUdGJEMzhicVh3WUdBb2h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bUZvSDFPOCsvY1dLRkk4RUlBVUlnYndUV1cyOTVWcitiTjFXaVJ3Z1FBcE9LUVBVcHg2bTlmVktsSTdrSUFVSWdad1FlWnp1T2MzSXpaNnBFamhBZ0JDWVZnUWFHZVdlRjdVNnFmQ1FYSVVBSTVJckFJdHNHdlVXMmxTdFZJa1lJRUFLVGlrQ0hIVU8wQmFINWt5b2p5VVVJRUFLNUlWQnVmWkhUV21EN3VaRWtRb1FBSVREQkNDeXlaN2gwaSt4Z2dvVWswUWdCUWlBM0JQYmNTZjBTdTVFYlNTSkVDQkFDRTR6QUVkK3BjNXhOZG1XQ2hTVFJDQUZDSUM4RXlxd3ZTTzNSZWo0dlNJa09JVERSQ0t5eko0VjhIYkxiVDNROWtYQ0VRRjRJTERMMkNIOFl1NVlYU2FKRENCQUNFNHpBUmRiM2RINTNncVVrMFFnQlFpQXZCSHJ1T242RG5lZEZrZWdRQW9UQWhDRlEvdnlMSG55WGxLbk9ybkxuQXZ1cURLRi9Rb0FRbURFRTFobnpOK003N2pyK2duc3laOFpLU3NVaEJBZ0JnY0QzbmZrYmMyZXN5OFAyM09GZVJOTVBJVUFJekJvQ2UvNUxkR2ZpRFJ2bnlQMmJ0WUpTZVFnQlFrQWcwSEhQM25GM20vSGZNaTNuT1F6MEVBS3ppa0JWS0xvb1hVODQxK2prN2F6V05aV0xFT0FJdFB5THNEYUZ6dmY2dER0UFRZTVFtRjBFU3RwTWZvbmI4TXJOTDgxdWFhbGtoQUFoc002ZVZpQXNjNFA5RWp0VUFlUWdCQWlCbVVOZzBkK2VkNXpxbDUxUzQxZG1yb3hVSUVLQUVQQVJ1TWd1dityRjUzL2dCaXoyLzJIdHlXTS9rbHlFQUNFd2N3anNzV2YzditOWjhoVE9yN1YrbWd4NE0xZkg0eTdRRHdXR2tjY0MvbkhMTjIvOHp4Zy9rM1BtRysvbkRRQXFiOEVJUE5waTdBWGFTTUw5THlHdEx4ajFPUEkxeHRmdkYraU4rVGlRS0M0OUFuZmpqUTdHYmgxNkZNcGZFUDUzcGlkSU9iTWl3TVJ1Zk03bmNEN1kvSmZVa1dldG1kbkl2eVpVSEVydmpmUy96czYvZnZleFAyS1haNk40MDFpS0RjWS9WdVZjWWwvT1VmcVBuUDhPV2Y5enhIT2FTZFhZdCs2V1BnVEZGMTlPd0U3d3pTNHZ6c2R1MGFBd3JtcTk1TDQzdThaeVBJaXppSVhDRWgzbUcxZVZUaFRmTmZaQ0xzOUhvZlRiK0M4MSt6djR3MU9qZ2Q0Rll2Uy9TKzdoK2hYdFpFNVdJY29OOUI5bG1yeGx4WEZxODYrK3VQOXRVdmkyZC8wS1RNWG5HTm52WWQvcnhTelJ2U3dTbzFIL2I3cTdkQmR6dkNaalJkZ0RHM2t1RmthTkN2SExnRUNwd1ZwTTJ1aWFXeTZsVlF6MFY1eFM2N1lrWEc1SkYvMlBHSUU5OTZUdFhvN3YwbFhGaGRsVmQvMDI0dUlRdS9FamNBOTdrL09uWWlidk9PdHFEN2pOMkUxc0QyMHIrVHFueWttT2tTTFFkdS9IT0pNWFoyeGc4OVI5enIvbk1KVWs2KzZVb2VKZWxaK0tCR1dhWWdSS0xiYnJPSFczK2xmVWJJOFA5TnRWMVFVNHpzVXJVMXpJcVJiZHZTYkRhZmFQM1dKc1BJaTY2VC93d0FQNDczOWptcUpkZDd1UHlxMDBtU25QMUNPd3dsL1VmRFZ6NTQ4bmwxVjUydGl2WStxNlZjZFpVOTJCU2tLT2tTQlFGNi9NcjdvN2RvTGpNblAxdi9RRmRvNE9lK2luNnM0Y3F1NW5zSWJPVGhtbUhJRXpmTlM0aklGam41ZWpmazJWNWhMQy9DdVpIR2RaYkJLcmFIS01ESUZOb2FIWDVYbDc4RjFubnAybDNOUzc1YVFTbGJ6dlg5WDg2M2VTWnFWME00QkFpYkZUaHgvRXVjRUwwK242UlRwaVh0TndnMHBrdVBleEdhbHJnYy9CeWcxdDhiM0l2dUpKY01KbmFjTStjcWVmdm9zeExIS3prUjdmUHp0MlZxRHpZdXArcHMwVWx4Q29lUjFsd3ArTmdrOVJLWnB2eDZFb2FjSGpjdnZiZGl1d3RBNzluR0JxaDZmRWFEMC9OSGF6a0tISEd3MVhiekhPNnpxUGVhTStjU3pUeHM2NDZ2dHg5dnZQWWoramNmZTM3WEJPVWd0UDZPeTQyekh5RTdjSmMxR3lXVUdneHFlSmZPMStoWmRJbjl2akRuVjlJS0M1L2ZpcS9OSFdROC9SdVhmVTJ2NWltcmw5MWYzT1pVdXpDdXJVeVQzYkNHQTV6d2Q0RE9sZFhsRE5odWZ3M1RwM1FPQXh6cnBjUWdvZi9Zd1RnYW95cm5JTDdOQlB5LzJjZFN2WGwzYUdsb0l5akFrQldPOHVnL1hDdmQ4c0JOamtIdSs1empEUSs0djRwV2RrQlAyUEc0R1d1OWZtb0Y5TzhaN01oamQ5NitWNHNHL2NpQkQvNUFoc01uSHlXbWJRRmJ0eG0zOGNjVXRHOWZhbGkvN0hqSUJ2Zkt1d240eVZwZlJ5NDNtRlNMenM5ZVFWN05qUU0zOElkTGpaM245V2ZVUGRFbmJzSy9LVldxUm9IUHJKeURWV0JOYTlGNTNMSDJIL1hid2dkZlRhK2lQcWV0MWJ4emVOcW84blJMR3pnMEFqc0VmYjdNcXkxZkJlSFRieXBMVm83VnhHMFArNEVWaGt0My9qTjM3ajMveC9qZlBmSFNES2EzU0ZseWJaUys1THVTVnQ0VGFBREVYUEVBSTRnT2V2MkhtNTZtL3pTdmNheGwxWTBkOTA1d0ZIT1Y3WTRMR2d2NVFJWEpTYS9KTGROQlRVSFJ4a29Va0QzN1Rud1lyZDFPVUY3L3oydXF2cmZCTlB2R1o3dDcrd24vWXlUNy84UGZlZ2RQa0htdWM3S1VxejZwN0ZPS0hsZkFyd3BqOExEdU1FT3ZzamNaWnp0ZW5wK0N1aDlPLzR6WTkvUTJBNk1QMGxuK1lTcUxkcUw4bFoyRkNsMlhCMS9vaFdhMFBCTml1SlliYS9ZcFpsZ2QzK3c0OS9uckczZXNFVmJ4NTVhaVliemxldW1iT0o0WEpQVmVxVi9tSGg4dGJZanNmalNPeTBEc3RRNlB3R3c0bGVldVlQZ2JheTBhbXk4NnZ3R1BzNTZTL2RJZnd2bFA1VS8vZk16K21QdFJFY2JtdXA5K0UyVTNHclBZMWFmRUoxSEttcWxESk5Ld0pWNzcxNVhmNVgzZHUvLzIrMWdKZmV5OTZzKzdXb2hFNWM3TEtUTU9uMEo2c1Z2a3lXWjJxQVZhcFhiSnc2dDl2VzZGemw5RGUyTkNYQUdPNmE1ZE5rVHB5bmwybzBTa3grc2hLS08wZ0tGZW1TdHowUEprdUJyZFprZkJmeHZ1U3IrOTFraVNuVmJDR3dqTnR0aXk4UmJ0ODZMWjdMeEhCb0ZsM2FKWCt2NWFKeHhVRmlDS3EvOERmczJ4T25wb1N6aEFCTzIyczNNUlJWc252bXkraC92ZWhaemFacmQrZlYxZmJWMzYrOVIrL3J2MjdIOTFwY3F5Kys5VjVMTUFYTkFRSTQzRkg4alZmbFZpcmo4dFRDdjJHeGtlUmFHRzk3SGpRQjdYYUlkSVhkLzd6bUNIWVBRb3dwWUJvUTZIblg0eFFxNjRyK0ZuNmhuTVpFZlAzTzgyL1VXZGR6L09DTVRsZTYxZmE4OHhvTHRFK3dEK0FLSERvMktkR2lmeE9CTTVibTlXdVR4a0JmZGNZMzZ0WmJiM21XWVJCYjhHNmxIWWhNeWdScWV4Nm5KQzhIYVpTYndoNi9NQUk3VFpBMSthY0JnWnFsMGVRdE54cG04YWRVOGhaNkdIcFZMSTlxeHZtV2huczJkaGdpUTZURjJrR2tMbisvLy9raFAvdWlhMEg4NThaVmhuNDB1ZVlkQVd6VmJSV05RWDBVWnNLaUN4RkQvM0YrOXVERXVKWHVlb0ZHeXpYK1FZdUgzUTlhc0o4UGI3VFd4UUNQaFg0M1JtYUttbHNFc0ZWWCtCaU0xbmRscGdGdWNDdm9pakdzNGxheHdxWTJGMUJuN3RPLy8rOHN3THBmb29NRWxqZ0tJZ1FXMEhqQ0kwVyt1T0F0bm02K0ZDZUwycUt3bkMrYTg2V2o4Wmt3V3VMKzZvMENaeHFUaFQ5Sk14d0N1TmErUDF5TzRWTjMwbHpNT2p5YnNlWG9pRjV6d2R3enUyNnhwNDlHUWx5SWNNbzVmZisxMGZBakxsT0dBTjZxTTlhaEJZaVBlM1ZuZW1wZmJvbmJ4QlpNcXgydUpUZ3RBTXdrSkhFWmptM0tueVFycFprREJPcXM4RUVZVTRtZFdVWnkwYjEvWURHdzU5a1libkwvYnJsRzkvL2ZKRkh6ZytKY01yWFRRS3BiZzY3TVVxbkpNVzhJVklLMzVPUVBRR2ZHcmZaNzdxUit5VDhPS3pEY0cyNXlYdzJyODFkbFhZU2piQ0V5TlU3ajh1Y1hsSjhjaElDT0FNYUVaM1IvL201WTdjVjM4UEtuUENFVWo5eHB6R1pnQlFQcjZEQUw2ai9EM2x2Z1VhL0FDQjBlK0tQZzRIWlpQR3Fhb0NMSVFRZ0FBYlNOZzJLQndFczhXOFZ5R0MvMXNtY0UzVFBYODQ3VDBqLzFOMUlaUHlKMHZuODhVcWJFYkVvUTROdnpsNHVWdFZmSXhzRHFuZWZmVmF6Y1Nhbkx6engyVExzOVB2em52K09lbEZaZTZWNzZZcTcxTTkzVjVnWFYvTkhoMDhDQ20wYXRpUGYybHB2bmR3VjFiRXkxaHc4QVBNS2YwRlFlYnl6dWpra214L21SV3VFVHVMR1ZqUmhuUW9CL2RmNHdFNFZCbVRHVHVESW96ZkR4bGY2aFUwbTJ5Zmg0d1hkdlhuUy84QXFkRDJnNGR1dTJoeTlaNGh3ZmJQN0w0NWpFRzgyQVRURW1MVVhORXdLYjBQbEFVODI1K09oVnJ1Vk0wc0hIZGQ3R0Q3c21JYnpjVk9idjNNVVFCTDFYMlRmQzF3MFZhcno4eVBudk5IN0ZWcUtQM25LN2doUFNlUnM4Rk5hRHpoZUxRcjJJNVh3Vkg5WENCMWtQQm91K1dtUDU2ZndQR2w5N2ZQbXVZRjkzUCsyMUVPWlQ1Q2JsSWpxOHBiNHJnWUVDVGtCZEZRR0xSY3l2REZia21Vb0V6dVFIekFxVHZsbUFKV3RSM0VoUkhtZ29LUC9nSDdkeVBIUEVEWjc2NDI1eWR0enB4b1h3bmljVzlPNlFteis0NVFaV0xHV2IrUlhtaFczQmI5SFQvZnlaRThXcFJxQVcvRmhkM3FXQm51Uy8vOTl4ajdXNjc1TEVTRnpGL1o3VjhQZ2JreU0ycXRUVU5aNTVlM05uN2d0RWUyRVZnNEYwSzVaZytraDNYZE93SEh6QVMzZlhCTjJMcy8xaVUzcnM1ajBuR2pGL0Q3UzRCKy9VYmVkTnZlUXRuUnVEbGlYUGYvZzd1cjM4ZE41ZWpqTjNNRDhLaittWVp1ZmYzN2xDdUsvTFZ2M1BoaXZaTHNqWDZjNUdjTFdwNGtxT3FVRUE5NjBVZkhIYlhnSHYwVjd3Ym5xdEpSbkpDdGY1dHVoNXlyYXVKVTliZ3RHbTF0M09wR0pSNjdYenJraTZNYllUUVlhazVKazBCUGczWjI4VUt0VFJjS2ZPRThsUzhXYlZ0U1RiaklYcmZFL28vSnJOWXRZdXduN0pJYnJ1TGhvcTRrVjVFN01OYnozUjduZk5DUElSQWh3QnpMeHRiVFUvY1BBdTkxZnlvK1pTQXMxRDRXb2tlVnUxY0ozZkZEcmZzOW5RWWNSejE5WjVRMUIxRnhMVnZvVnc1OVlPUWwvR2Z0SVNSMEdFQUJwbC9zdHRIVlpNTkYzbWl3QUFJQUJKUkVGVUpIS2ZSNnpKbmZCV0VoTlo0VHEveEZjWTVhYnQ1QStNZUZkME5QSnlsN3czRldzMmc4WnlrLzM0OHhyc25Ya3hJenF6aFFCVzIwbkd5dlNGeG9tY3krbHoyM1B1eWFWem92NnFjSjFmNWdiN0plc3lBK1lTaTJYZFhxcGhRdGM4ZzRicy9NeThHMTkzWC8vSG4yT0drWThROEJEb1FPY1BpMFFEbmNxMXZPbFhQVVhDSFAvcVlOcUY2N3hUL2JKVHNoK0p3NnQxRnN2NllKa0hwVGh4VHlPVkNyQ1ZER0pOOGRPT0FEYXdpejE2VzhuL1dBcFVmVi9namxGMGEzQUZGSy96aS8xL1dIdnkyQ3JKa1gwa3RxWWRJckRqTHNqa0czMUQ1S1NrYzQ4QVRxblpsb1Q1NGRMSy83WTltQWpjcVFNY3A0TWx6YXJ6cTkvU2V1aWI0dG44V3V1bmQrMHA2Z1hzVklKVDFYMnRwMVh3MlFwN21TaDBxaEhBb1pGaXA0YzRoWmY3a1I4Y05ITTFES2RNRHdmRG4xSG5GOWo1ZDk3RmZua3dIMnVLelVSVEVXdld1TUNXKy9adW9lL3d4UEdudU9sRkFHOTd5bE5ieFJRQ2QrVGtmaEpOM2NFQjVkOFpMSFkyblM4M2J4ODd6ZzhuWVdRVEJkM1NnUzE4K0xEUFB1L2VSeUNKZURhOGpycFh6SzdBOE1KUmp1bEJBQ3FaL3ppc0Z4OTdnZnU2WDNPdjN0bC9yZVpON2p5UzNkUkpJbHRCTnAxL3dwMUtWSzRrbDA5UGlXL0pQSzM3MDdzN3FDcVplOWxEb0pKa2JTTXpwZnYvOVBkOTdubjMzVTZYbDNKTklnTDhJMGc1dFVsNzhmWWlsOXpyTGRaTU4yVnV5bE0reWQ3U3phYnoxYS95Z3BWcUtiZmNZRy9NU1dHV2Y5dGZoYTE3SFhVemZNVGZYZzJwUS9tZ3dHYjgydUxVNEV4blJpdzM4ejh5bzBOeEZtWERLalg3MTNBbjh6VTljVEkzMUVnOWx1UG1JU0taZEg3Wm5UMWZUOTB6Tm5NejNKZjhiYjlMcmppbHZQcVRFR1lxZ0ovWktuZ3FxSGlSWXlRSXdLeGM3Skt3NWs5SXpRSzEyZmM2enJKM3RNU01HdUREZEZrOVNleURtWFRlL1JJZE9xY2JBNlNLaWo1S3RQNkl5cTJIci90Z1hYS05KR3Y1MjBwMGh0eTkvTG12YlJWMHJpaklpdnlqUVFERGNMRkhiNk8yQlM2NVczZ04yM254QVVYSGVkWVBmSVkvanlWYmwyVFMrWXV1T2FLWDVQQ1BWZTVPb3IwRmE5WkE0S0xmNzZ5NnpwUGlsL09RQVVQOVFVQVU4azR4QWpYby9HbUI4bU9yenI2Y1BYTmY5T3lrbU56ak5PK2hFQmtEL2tFQzJUUHAvSWw3ekhmNTl4TXdzaWJaWTZtN2l3QzlpLzRoNWcxWDU0L0VaK1lEeVhMM1F1ZTNjeWRLQk1lR0FPWnRhWGVoRXNtTU1kbjZWaDMyQ0x1Y1FDK1IxcHFzTnJYdCtTMHp5dXJMcFBOZzl2cXVsV3pDUUdqTWxZUkpCeVRiMDNwbm9mTWI3TzBEc3VRU2ZTS1BRT1ZDallpTUdRRitKS2ZRbzdmWUY3QWF2T3Z1OE9sc1J0dkdWcHRjT09NNTMrVjRiVEp2UVFCMUVnRk8zTmNkZWI4aVRPOHhVTWZrNTFlQnM1L2VpY2s4SUFvYjlNOE1TSkl3dXVOMmt5SjFqVysyUEZGb2Q2Mmtha3VZVlFnNXBoZ0JZUTRyVW40TWt6Y3M5UEVGTzNmd3V4Z3g5VWNlS0V2b09lVzBUdVJwM3A3Y3ZLcUdFdXBxUGxqblkvSzdCc1ArRm1lYzZzSDVZT3RNWjNoaVZiVTk3emgxdm1LcTVVUjRnQ2hIc284ZGtJNmlwd0lCVEwybDNoUWpiOC8rSmkxdTZ0Z1JEQzlFNzJSdDNCWDRZT01ERDd6aG1HZnF5VDJyaWp4T0ZQZDF4eVRqZkZ6K2l1aFAzQm1HRUhuSW4waUx4cEIwOFBXN202V3ZhNzJsSy9JdFlvYno2cjdySHByUWtCbWF0RDAvSkdJVG5aelBYTzAydHB6RTd0aVBtN2RsTTRJQVEzT3F5NEd6bWN3WU1IaWNqeE1CUjRmNDg2NjROSEZ4V0Q3bFkybkQ5dnpSdi9wY3c2dXU2aS84RFZOZnJZM2puemtPeHlHZXlreUVDRXdNQXB0b3pZVlc2Skcwc1J0RjlqOU9EWjN2R2xFSlBHM1BCZ0J0T2syUVBNRjZQcGJLOHRkeHJVLy9Gand5eDlKUEdvbEZBb1M0NUJudlYxOTg2NzFKYzJaTGg5V04xU1NUalNybEhoY0NQVFRJUW8vZU5xd25VckJVdit3V0dUcC9iZGpDMTcwMnVKWnduWmx0bklkMHBRK3hoS3hzUlFFRVhWdjRzR0ZMVE16bG00WDIwUmFoY1ByMndCSk1RVk9LUUFjNm41TlYyWTZBZlpCckt6V0FYZi9VbmpNNnRPZUp2Smx3aXBKWjV4M25ZeG5HNmlQclZDZTZlRkV4bSs3TzNHajI1RFVoVUVYYm1wZWNVNDVBRlRwNVVHQVpJaGF6L2owYWFGQkRtOFJQdksyQXM0UWIzeGwwZnFQeHN3SWRyR2xUbzNTV29vZzJaajEzUm5SVzZONnFoZkZKaXFtWWhRd0ZUUWdDVGVpOE44c3VSQ0tzQlMyZmk4YUJISGxIN0dhS1UycWJyczVERDd1SmhNNmc4M3ZTd2xsTmI0ZXI1d1N4K2xyT1RxSlM1NWFvVGR2enVXRTVBWVNnTmprTlFoR0Z3VjZnWlZ0QU84QjlrbUxpdU9MTzdkZjBQZmdJL2lJNGc4NVg1ZjVDMVZLTU9KNWEzRjVPQi9GcWJyZlRTTmpUYVJKa2M5TDJmRGI4Sml3MzlvNXpXbXhHRkF6R09vdkJ1K04zTkwwVWcrQWwxNGJuZmZVOWdyTVduRUhubTlKazBFcHY2Y1JVNW9ZbVRXcW4xM3UyQ245bFBpQWhiYzhIQUpsdUx6K1NVK2p5RUdaNWk1bTU2VE50cHhqblN5N05KdjhDZlpLbm5uUkNFQ2JXWkZkRjRLVU1aaXpvZlBvT3d4ZXB4TDdDUGZMcm5INUV3UzdNQmI5YU1Bc2lQMElFK0llcjBodW5FZ2lLV2J4Y3VmdXBzY2hYWDFtck1FK3IvT2pCcmhxZmFDK3l0dzFPS1ZLY3lRbDZ3dlJhc3FPM3VwNWVQMkgvb3VXVlRwZ3BoYlpLZjhyL1ZYZEZjeWswY1hyWjFaUVVrMlZEYmVYUlpTVmpScWtLUndCRFVFNkh4Q0pFQllQd2VRNG9nUm81YXY0MFA0S0VKWGlQVDIrUEVnM3o1Yy84NkV0UnlHLzlQeitUU21sNzdzcGtsZjJLUll5RVFlaFlWWEVUWnJFbDgxNlp2eEE4RVZodUZiclo2bUI3L29aTkhncWJUZ1Qyb0E1SmJwY2FWTHJ5Qis5aUR6M0hrdXJFMW1CNjJzZ0JBVTc5ZkpGMC9DVGN4YytpUGM3Y1hUUXpKdVNyZzRIN0JQU3U5UG43K20vWkNhVVBCS3l6bjBESWN1M1diaUJpQ0MrVXhtTFRjQWtrazBLa1hYWlZyeDA4dzdTVXl5ekNWcDVISDd5RmEvM1JRMS9XWWhOV2taYURuQk9GUUFmcUVOQ0ZOUEp0MUJoN2dMRTNodk5DdlE5Q29SVS9rTC9MZTZnU1JOTlJTVnhIcDM5blFybnI3SkdISC9pcEJ4NThKSkQrTDVzTU4zQ2U3d1FJaDd4M3MxdmYrU0xXdnhhS1NCNkFNN05SL1dwU0tRUXpNYmN2dDRJYkNKMUF5WklMRnAreS9BWFdiK0wrc2hPalYwNWNSZkhFS1hac0NCeEI1Y0xyN2FIRnFiRHZQblpLSDdhY3Jta3p0aDhpMTJKczJ3dmsxK3QzVllKb09pcUo2eWk5ci8vNjQwRFlVTjVQTXZhU1hlZkhiQWJHQUozLzQwV3RoMTdRRFFRTzVVVVpMV2NVT0lua1V2RFVGVzRWZUZ4Qng0UHdvTmVNNmxIY0JHbC96OWp0WGVmdTgyTlVZZGVua2JpSy9DemttaWdFbWxDNTdLdkJ4NWxyNlRvTFR4azY1c1JRRkI0Zm1WTmpPK2E5L3RaVERKMmNVY04reGM5d2trL296VGxuSG9vY2pHRDJBejFEU25HaHYrdHNOSVBMaEpYekNPcUtmenJISjloNUZ6bHIreGdYZkFxanF5S2ZKN2x5UlFBYVo1bDdEOHVpY2NzZGM5ZDk5WlVrS3Y2UUxvTzRVVWdseEY2ZXJ3OHhkRlRtWEJ6bGhqY2YzckRNUW5MaG9CUEJJWWkrN3BmdVlhVW9OMjcvaDhhdHJzenUvWi85dnE2VGdjajAzdVdXQzgyRnA1cjZMR1ZrVlpSZWNzb1ppNEE0a3JNZm15UkI1S0t5SkRkT2c4bXJscTA0N04rcHJicE5iV1lhUnlkSU41di9sV3FpZ1k5SUYvN3dlWTJOeWRCU3JENi8vOXB1Z0ZMcEhPU0RnWUUwYWJ4MXI0NTRFL0duYjZPcm9qUXl6MHVlVDc4ODZubkZZQWhnWFVxelZSWWdYSmVXOXpzTUE2OUlWYlBvZkYyelkvZTBNenR4ZEFJc3MzblJqdm5TbUQ5bjB1RjZDL25sZGtxTDhTRWZLUzQ4N1JUeENndzZFdS8wUTFQYlpIRkdWa1dGVk1TTUVNWGxFNUhQNmNBeWlpTTVod09URFVqUThGbzBxTzBIa3pZc2ZVb0Y0L3h6dlFmeFQ4czhjWFJrbWx6KzBkRnNlWVRhSTlCNS9sSkROeXg0UGxKVXRweG1pbE5OWVhITUVBaTM0NGFjNmJ1dEk2c2lVeHJ5NlFqd3FWZlVjMWxQYUhWamx1MmZncldtU0JDNElWZmtkY3ZhdmVHcmx5S0ZNUDI1NFVYRTBsR1pjM0NVV3Y3YTRpeUhYWXVCSXFHMDNWQ2lmS1RZZ0RXa0d1NXFROXlHRFdpcXpZQ2Vab1VkV1JVTksrNThwWCsrcmo2R2UvRGVNOTk2dFM4MWg4RndUZHA0S3BaSlp0UFkzSFhKY3FiYXMrOHhpNlV6akVDRDBxS25VM09MbXV4eEJtWEtFby9DN29UeTV5TUZwdmJPV2Y3bjVHQm1sZmYvbldnMU9MSXFDcUZGQVhraGdKSFpIL0xTRXIwZ1NiVGxnSzlSYW9iN0FXN1NPdldTOEdtS25HYkgwdEZJWm5aVy9QbElLYmpiblptNGpRQUt1Uk1LejBlS0k2QW5yd29Mc1VnZmdJWWhxd1hPcmlRMHNpcVNET2svZHdUTzBCcUR4N3FHWnJJcGx3Y0xqM3dnbExrVjFubjlHQTUycU5WcmZiRjBRb1RUQjNDVDJxNlhmY1Z2eitrSkRzd0pFQTZEaWZLUllwbHZkSjZ3cndTcFovVkRZZ2tSK2laRmJWUlZwQmlTSTNjRWFtaitsbGRkaCtPRGhyQWZtUU1NZ3MyZGY2cENwc2RaYnJVOUgwdEhac2poSDZaR3VWVllybVh1OFpJSUJBMEtndURrSThWRnZraTVHSDJjUDRsMGxqVFl6MUVuQnh1K0V4OFFpcWxxQ3gwS21qd0UwQmo5cFcxYThiQXc3Zjk5VkdhTHprUFBwYzV4ZzRMYS9JMmxFMFUvUlhqUDUvbks4T1ppQ29JRHN3RG1hOEZFK1VqQnAvYk9pcWFWUVRicC9LZ0tOWFh3MFJJZnFJMnU2blNzS05kb0VSQTNZOTNJeWhOSDZSaDc3WTZkREtLQ01admE5bnhIZTlVMmxvNmRlcXJRcWp4dVhQNHZ1UStRZG9HYUZwM1BSWXBsMFhrbXZmTGJMcHd0Rk5VaW13VXNMbnd1NFQ2anFpTEpqLzV6UjBCczlPMW5KU3NPOWtEcnV6WkNGcDNmMDE3clFjdFgvR1BwMkdpbkRJTkk0UG1aUC85akhDcnRwcVF4WExhbWI3UlVHWE9SNHJvNFJRZ0R5YkdpbTRzREF1OTdoR0J4a2VyUDMyRVdqNzJxYytGTVJBcEdRRlRoMWF4TTVMR2dXenRoU3JiaktIVTV6aUo1U3hzQjQraUVLYWNPMFU0MC9OUGQxRlNHeWdnVk9nMWt5RWVLcWlDTGpaQ2RBUGxzWG4xbkJVUDdaVVZ0UkZXaytKRWpkd1RFaDErdlpTWUxKUmFQV3BsckZCSFIxYnpjMmZaZjYrR042MWhGeDlGUmlUSTcrQnMrRHp6dzV1OTgvLzg3SW8xM25HWlk1M09SQWkvc2VjOXBabGgwQW53c2tPQnMrcnQyU0RLYUt0SmxJWGUrQ01DYUZsYko0Vm5nRlN6MzJRcm5SY1JPSUxUamp4eG8rWnJoUEk1T2dFWUdMMStUWnNpZUppdnd1UmJJbDRzVTEvdnVoM3Y5OHdZQkxpbTlFRTY5Q0FndDMvSEpqS2FLZkg3a3lodUJFelQvUE5yL0pVL3BMZWRZd1dBbklQYVpQM0xBUHZ5TUZodERSMHVWMFFtZWF0c2dJNm1rMlMwNm40c1VOYThucVNiOG5rOVNlZEV1MURVY0ZiT0ZqS1NLa3NwSjZZWkhBSDI0dnowK2ZIWS94K3I3UU1sS0M2RTdmanJocXZpakhnUzRxc2RHMDlGVFpYTnZHbk9MYkxRUzVnWUloNEdrZVVpeEx2ZlFPNXFaTGNBbmxSZlZvazV0TkFJOTVDaXFLSlhRbENrUkFtZG9qTnJjT2xHZWlFUi9mUWRvaGRUYndYdWVvZVplOGROVi9YV2pSemVLVGdUYkZNRW5Xb05Pa1QxTkZnc3llVWl4SjQvRTE3WHR0RFR5QmZOMC9QMDVHR0dERi9NVVgwVkJlY2h2SXJBUjlmcjh5d2UvUHcrVjh6dDBrK3p3dnBlQjJOVlF0bFpZNTlIVDdMcnAwS0RVSEZMbHROTlIwWmtkZTM2RHprd3JJUUVnc3hOSW1vY1VEVGw1T01tdkZvV1lxS0VibnJ6WVh3aXYySXF1b2dCVzVEVVJrTHNuYUZhaDU5Uk1Hdlkxa2NVL2NCR09IeTRFTGVWeUtJZGQ1NzFrMlB1MVhGTmpwUk1pbkRwZ3oyL1FxV2tNbDlHMllabURGQXVxdjd5WTEyek5LOWRSeFBhOEtuYkJWYVQ0a01PR2dMYlBDd1UybjdBR0Jpanc1TEpERDBRbDkvNG5tUlE3Zi92U3JmNmIvdUpkaHJXVlZRaUdyS3N5MUltbm81SmxkcHo0VzRXWmFTVWpZTlA1SEtRNFUrYlBwY0NhTzVsWTBhbXFmcjNBaEwrUGhQL3NtS2NlVlJWeFh2UkVJL0I4RnZVTWZIK2U3NDVudHZoMjFCZGVRQzdjeXpUQ1c5TTlwZk5uL3BhUU00Qk9OQUREeG14bUwvT1FMUFZYNkdUVzdGSzh6SjhqUGE1V1M1Sjh0djhqdjlKTzNFMldSaGNVUjFaRjJhU24zREVJOEpkYXRZRTJKbVYwRkk1dnFKMHZmdy9PVDE4TEI2SVplZkV0ZjYwNGlJNVBNYXNMaHhMMnM5SVlMcjlONTdOS3NkNUMzZjJ5a0dQMVFUalpMdzRuVTJ6cWlqODVhd3RUUkpuWDJPaXFLRlk0aXN5Q0FEOExGam9zTWlUQlBaQ1FXY0tXS241dlU2aFh3WXplellGR2RGWG1IVVJIcHN2K2oxSmYwYWk4ZWtmekZPUGs4NmtnNWF4U0xQUWZmckRsdnZ1MndCN0JaM3BVenh2a2xNSi81dGNraG53UVdPVzdncU9yb2hRaVU1WmtDUEN6WUtHVHNjbXlxbFFkZjFlK3BNM1VWWHdsZkVac1NaNjNQV0Y5c1V6a2lRZlJVUVF6T3pDN3VlRVRLVGRQZlU5Qkx1aThPdFltV1l4ZUNzazV3WC9QYnhidTFZR0wvRmoxNktvb2dZaVVKQjBDbXd4UHVxd3FGOFlCZWN4K1ZibFVMTCtyTGJUSXgvQytLMUpVL2FtOU00aU9SaktqRXhZMVpmekNoMnpVbFIwWnljWmtoNTAxeEdYMFVzUUlHSXhDd3poMHc3ekQwUmY1OXNyb3FpZ29EL2x6UTJBUEtwOTFTbGoxVjhjcjZ0cEVUY0tPSHk5RHNienRjamVHdjFQK0w1NUJkR1M2SFA2UHRLNm0zSGg3RGhRSGtNQ1lMay9NK1NsSExvWFBlcUJyVVMzNVVIMjhTNjhmNEdlRVZUUlFRa3FRRW9FMmRENTR5R3BZVWhYMjh6SkxXdzRPTW9EL2c4ZUI3dWZ1aG10RXVLNGZ5QmxFSjBnamczOVA0L3V4dmp2bHlFQnVjRlljUTdnZFNqVnlLVUlTUkFlZ045NFdzZnpGUFg0S3Q3cUZueEZXa1dCT1B3VWdVRUdOdW1hZzlNUjc2bEJOeWRLd0hhZG5ySjVkUG0xM3VsL1RaLzJENktTWE1KUVRhNHRqTDNBOTJUZnNReVNHQzhDd0dlNWFSeTdGTURJM1BKTkgvYWtqM2tMS1lqRTJ3aW9hUmxaS093d0NtS3pwUzl0aHNxcTBTOTduS1Izbkwzd2p2SXAxK0sySjJ1clpqVmdSTFdwTkcyNGRaeEFkaldSbVo4TWJ4WnpsUm5qOHpVdzlUQUMyVXZYS2loODdhaWw4em9OZGUrNVlzTTVPZTF6MEJiRTBHV1VWRFJhUlVxUkNvQW1kUDBpVjA4OVVicjdSOVh6U01wWWhCaHR6b2RPOUcyS05lS1J1VU9jRUJ0RnhtZVR6KzdnbjZtcE5mRzA1SDZJeFZMQVhIejZ6amcvSnU0UC9xS1NJRVRBVXRlcnVxRlNmd3ZXOE9PSHJqdkNqcktLUVJCU1FEd0pRZVgxNm5ZN29KOWpydTFEWlI5a3QvSVVmakhIaDVVTWRDL3E3dlJNbE1zc0FPakpaTHY4MTloTXdJWDYrZFg0dEYzS0RpR0N1RStyM2tHZkVVZ3lTMG9odnN6YzZwVHR3a3JQY1pEdXJyVk1ST2NvcU1xUWhUMTRJOEtNaW11VThMZGwvemRqRE9BbDI4OUJLQUd0WmJ2ZzFuK1ZtdjhsdXkwVzFGeGRQeHlTUTBiZmFaSDJJL09ST1Jqb0pzNTlZMWpmSU9tSXBFZ3JySmlzMTJMbmJPRDdCK2kxWmd5T3NvcUdrcGNSSkVSQkhiM2VTcG81TzkyTjN0dm8vL25zUjhWYWJ0Yk4rMS9sTEFpcnZPTEYwSXNpbkRONTRWdlA4ZFgrWE12UFEyV0RIUExCbEdxMFVOZ21pd3piK1hlc1gvMFJFZjMvakRWMlpib1JWSkZuU2Y1NElpS08zZVJLMDBiTHVUZHNTem5CWU80Y2wxQXpEUTBVYkhRSTRBeHMrSDVZM2V5d2dRbWZROHVZeDZmVE93dThaVGJySUpOOXNJZ0NUdW5WTFBkL1Nna20rQktlUFdrVWRaWjArMlVuaW1VTGdCT3BvMlRmT3VZeE41cDYwelpuc05KR3J5UmNNcGtsb2tuVVdFYWhENTIxN1NQbVc5WWdHdVJaTmRmSnRVMFF0TFFKWVpucEhMTk5TU0pLdk0vZUxXYnhUbFBWTnBpUkFVeHBDWUNBQ1Zlajgvc0JVV1JQMDV0NW9qUmRWMUcyVldkR2svSVJBRmdTYTBQbXRMQVFTNWQyTTJKeE9sSGttRXVHSWdqelVNaFBsb1VKTUx3SlFlYlpUdVBnNGZCdDZ5YVp3cGhQRkFBZ1ViemFacUJLVE1CT0tBTCtaVWIxVVdweU1PUGtUUG5CZkhMc0pwRXd6blFtc2xQa1VpZCtITUlMak1yZ1lLdnp5K0Z3aHZpZHZvSmlyVWxOaEp4QUJMRE5IY0NTSGY3RnV6cTNXYlhYVDFBUzJBaEpwbmhEZ1IyOUhNZXV1emZ2dTlORW9sbER6MUhLcHJHa1I0RWR2MWNWV2FZa2t5SGMyQ2t0aEFqbkdsZ1N2cFk2Tk56RW1CRFFFWUZxeXYrS3BwY25EdVpmSFMvcDVDREltR3JqVmVpUTNjSTJwZU1SMmloRG9RZWUzUnlCdjFxODBqVURFUWxuZ2JXTEx6VmlGc2lUaWhJQVZnUTUwL3BvMUp0OUFiTmJOOVFZOTdDWTM4a1dVcUJFQzZSQ0FhV2trYjd4aHMyNFVwc0owSUl3Z0Y5WlEyeU5nUXl3SWdZRUlOS0R6QXhQbGthQTEzOGZOMi9OdXc4eWpEUkdOWEJCbzJiNm9sQXZsQUpIS2lQcVdBTnRKOFZaWjZBT1ZreUlheVRGZkNNQ2NQS0pYUC9ibWU2QnJrZGwrdmpScmNrdUxaZmFJN01sNHgrVHE1T0pRdEdUQW1kNndLUnBrb3A4SUFYd3ZiVVQyWkd4V0hTUVNhU1lUWWR2aXlrd1dqQW8xZFFqZ1l4TWp1REZEd0RMWGhuc2NkeHpGanVqVXRUOFNlUFFJNEtqTUNHN01FT1dxenZOYk5wMzV0bUNPdm1FVHgwZ0VzRzFzKzE1OFpQb01FWHZ6Zk85cmM5NWZKYzdRY0NocnZnaEFFVWR3WTRhUUdjdUlyWHlGbng1cStLYkhYSjlDbko2YW1nTkoyeU81TVVNQWlYWi9NQWVJV291SS9tN2JHa0dCaE1Db0VhaU04SFd2MnZ5ZXZqMFp6UUhuVWJjZTRqZU5DT0RvN2NpT3dmZm05dzN5Q3JzNWphMkRaSjVGQkxDY0g5bENFNmR5RG1jUnd3UmxhdEdKbkFRb1VaSlJJTUJ2dmQwZkJTUE9BMmZSNXZSY0NzNGpiWThLWmVKRENNUWlnTVk0UW1ONlkzVHJpTmhTanp3U0ozSjJSODZVR0JJQ05nUndKSlR0MkNJS0NkdWIxd1Y5aFY2d0thUkJFZEVVQ0dDSlBacTM1NFZzdUZkN0xoZjBXRUc5SzBYbFVCWkNvQUFFY0F4UHYzYitVM2UyN3YvZEF0aElrcTM1M0tISDd2dzFDUUg5RXdMalJhQm5mRjdtazZ6L3VnYjcxZUpFYXMvbkNkU2UwYkVXQnk5UkpnUUdJOURSMzU1ZmJ0M0MxUHZkN0UyRDg2Vk1nWXNndXltelRuTzJCdTNVVFhQMXpaanNSL3JiODNYWGhGOHRUaSt4c04yZk1RUVRGQWVmQk54S2tJeVNFQUtqUUtESjJHWEpwK1FabHhmWjIyVlE3djluN0tuY2FVNDh3ZXZ6dWwweDhUVXpsd0xDYkg4cUM3N2lHWmZMQmE0K2wxai9XUEtibS8vYVNENE9OamR3VWtFeklZQlgzZnlKdkRlMWQ1eEtjVnYyNVpZL3I4Z2srUlJseHZWajE2WklYQkoxdGhIZ3QrR3BFamJrV2JGZWdZdnUzb2h1MlZXbEdyK2pSKy9Yakw4U1NBS0pBRGFPMWZ0ZU9BM3ZCVzhXZUJNdUR2dDJKZmM1K1cvTzYxc0djMUsvVTFaTTNJYW5iR3ByYWhtL1V1UkowYU41MDRBMTF0K2RzbVpCNHM0d0FpZmFtN1FYMUxlbEZvdTBNNi80TTRzWkJsWXJXcnZBV1pQR2hweUVRQ0lFNnRwKytaNDZJNGNYYjRvYm1jck4rZHFzeHBLSkxIaUpHaU1sR2drQ0ZXMnJycTJzYTdEc0hSYkgvcnEvbkNpT3llUlEzbE93VG81TUpNa2NJOURVUnZTSzBrWG8vR2x4b0pSYXhXMEZGaWQxV3NyWW5OeEttNWZ5RVFLNUk0QVBWSjRyb2xXbDh3WGY2dklYODdUQWZhSkllNmlxTzNJUUFna1J3RUh3MnlxcGY0a05kSDVmQmVmdndFRGZ6Wi9xaEZKczBEQS9vVFV6cDJMQldQZTBLbnBUWFZ3Rm5iK2lnZ3R3UERFL1oxRVhhVFZmUUFNaWt1a1J3RFZ0dm5MN09vL2gzdzlPVHoweVo3bnhwY2k0R1l1NDBEK2NzUkpSY2FZYkFkeVljVTJWb0tXVzJkRDVBeFZNRGtLQUVKZ2RCUEQyL0xFcWpYOTdCdW04QW9VY2hNQnNJZEJTUis5UUx0TDUyYXBjS2cwaEVFWUFSOFMwaFhWTDJmQm9uQTlqUlNHRXdDd2dBTE85WnFzemRGNExuNFdTVWhrSWdmbEdZT1BPbHdnQVlMWS85Skh3N2ZZRjc4LzdMTWxGQ0JBQ0kwR2d6ZHl2cDdYVjI3T2M3Y2pPNUl5a2pNU0VFQ0FFZkFTWXQ0NXY2TXQ1cHphcXM3ZStJT1FpQkFpQlVTREFMOEg3SWhqQmhMZXY4VFBlc2RuU0lzaEpDQkFDMDQwQXpQTGltRDIrVmRmVlN0SlI3OC9QNjJmbE5ERElTUWpNRWdKOG5PYzNZZ1UrSk5WVDc5c1VlbWZHTENGSlpTRUVwZ1NCbHRpanc1dmQrN3JBRjlXbFZiaUVYbzhnTnlGQUNFdzVBbWZzNXJIakxMRnovUHFQZnd2ZVJUWGkrN0hrSWdRSWdlbEZZS1hmaGZDMXdDZXFzTXozaWxUa1hkZlRpeHBKVGdoTUx3TGx4dTFkNTJQc2xqSE1PMDVUM2xsVjE0L25UVzh4U1hKQ2dCQ1FDTUF3L3lEclg1TmU3Ny9EcnJxdXFuNDhMNUNJdklRQUlUQ05DSHoyeGV3TmgwSEJMN0JuUkZCSnV5UXZtSWI4aEFBaE1Ec0liSGlHK3hYdHdxelpLUjJWaEJBZ0JFSUl0TjFqK0RTMUR5RkRBWVRBYkNLdzJqckhoUC9EN0pkbXMzaFVLa0tBRUFnaThGZXMvN3I3MkpNQmUzNHdGZmtKQVVKZ1poRDQ3SjJ0aDcrTlZINW02cE1LUWd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NTnNJck41NS9sMnpYVUlxSFNGQUNHZ0lMRGZQNzNLL0lhb0ZrcE1RSUFSbUZvRksvOUNwM0p6WjRsSEJDQUZDd0VSZ2tiM05jVmJZTlRPVWZJUUFJVENyQ0ZUUDhlblFWWFl3cStXamNoRUNoSUNCd0NKN0d2NHllOG9JSlE4aFFBZ01SdUJWWDZPZW5jR3BKeVZGaDUxeVVWcTN4aWJRNXhSc1h6TTJHWWd4SVpBR2dUcFR6MWFhL0dhZTlkWVZNNkFZWDRtZEM4SU5acU4vQWVhOXdwK21nczBxUStIOGljRW9FZmdockNUMTU3R0FYNCtiZkhlK09sOWhsMGRSNUF2c1M0Sk5qWFV0N0piWVZ5MmhPUWVSenVjTTZBU1RlN1RGMkF0MmZRRzUveVZUclBXNTZ2d0NHODFrdThMMlJRM1UyS0ZmRTc2cndiWjhUMEV1MHZtQ2dKMDhzbmVMS2QwdDJkVEtYeEQrZDA2ZW9Fa2x5bFhucFM0bVpaNHlYWmw1dXQ1d2wvVkJNayt3MjhHZzNQMms4N2xET3FFRTE0U0tNM1pyMXhYdzE5bjUxKzgrOWtlam1kRVdna25kbXliblFYeU4zVHJPZzg0Z0dtdmVjdDVwMlFmMGNvdGRIVVFqcjNpMGlMeElFWjJKUktER3ZuVzM5Q0VvL2hlRmVFdnNacGM3UGphYXRpNTQ1dnlUcDg0ZjhZTXlJM2oyNUlLZFJaeSt2WWM5T1FJeEJBdlMrVkVoUFNZK2EreUZuUE5Ib2ZUYitDODErenY0dzFPNzdQNVAzMitPT3IvRyt0NzBKMWNZeW4vK3YzL3RpMXBYTlpwVjltWGh3eHhmRC9aVGJFUkYrRW55Y3BITzU0WGtCTkZaZlhILzI2UTRiYzhnZk1ZWVB3ZDJEL3RlTDJacEJKWmlLVVMrL3pucS9KazRLSk92ZUtCV0ZldXBiWjh1VkgxZitLRGFXMzZ3N3FwN0V6RTlyQmczNlh3eHVJNlRhcW5CV2t6YTZKcGVFMXRGTTd6aWxGcktWRlJ1alZQR0xMenowM21BY3BoRmtxaThMYUh6MS96b1M4dzdady9IcVIrc3V5Q0xsa0dQeWR0Tk9wODNvdU9uZHc5N2svT24zckp4WGIzSDFXYnNwblBCQytaQ2RrN0hMMm9xQ2ZMVCticGNaYWVTSXpyVEQzek44NkgxdTM2Q0M5SzNHTjNMVk5oWC9BeEZ1a2puaTBSM0xMUkxMZDdhNnE1SmFNVmRSa0lRUHRCdlYxVVg0RGdYcjR4RnZPeE1jOVA1a212anlDNlJoVUtMOWJYUW52UkIrWGUwY04yNUpQc0ZQYkFJTitsOEVhaU9sZVlLSDd4ZTdZMG5KNWVWTEJqb2I3RTVnc3BHQUFBZ0FFbEVRVlIzS2ErenByb0RQMndxWExucC9IVzVnVlpBc2Ztc3luK081UGI3Q1dQSGZyRGh3bmJkYVBZUVNPY04zR2ZCYzRiWE5XRXpjbzFHOVd1cVNGaEtHb1BNOHJTKzRaV2J6dGVLc2VCeHhER0YwRzJrVFRsdnI4c0JYMVdMNytnWjNZUWZucmVMZEQ1dlJNZE5ENjN0MUVHMXNodGNrazdYbCtlSUdYdkFKYjFSK3FrbTM1V1h6aThVYURWYlozcC93cnRnK1VSdnd5UFAxaWpRSjUwZkJjcWo1QUVyMFRHdVkySHVodkRacnM4YkMwYmRydVFvRTc2ZlpDcGNlZWw4M2VnQzh5MDZha0gwdVM1VmJrdVJUOHpzcXBiakFjT1k0cERPeDRBemxWRmloc2pWVzdRNVhlZkxUYWF2NTh2dXdienBLMlJPT28vMTg1WENDZzliM1dXZk9HWVVIL2dNZng0emhuOC9nZXZhWS8zallGZ0JmdEw1QWtBZEs4a2FYenJ5dGJ0bzBQcmMzc0hrWG51SmJON245cGdMN1JSV1V5ZDhoYVVlc0RvVUhnejRCeW8wNU1Ea1h1c29RdEY1QlpETzU0WGtoTkRCY3Y0R1JNR1EzdVVTYVRZOHNWdW43Yyt2bzIrWXlpZW5jZjZzd0ttOTAvYndkd0hlbElzcVRQbTNZakN2amVUbUxOTDVtQ3FZeGloVUtCOHJGdTc5WmlIOXBqWndYR2NZNlAxRi9OSXowMWcreUp5UHpxTnoxRFl1ODRZQ1NHc2tONlcxL3FKVWZpMVNjMTZQajlaU1puR1N6bWRCYndMellraTVwb21sSzNiak5pYVAvampUMjlmU1RaTXpINTNIZkZzSEttY0Ftc2ErMjRuMDlmVEZWWmdsNm1jL0hKcDNDT2w4M29pT21WN0hQUFN4Nmh2cWx0Q2VLdktWV2tqWk9CeXpxR25aNTZQelovSHFsMVk0Tng4MjUvU2QwSjU4ZjZZeVlQTGVIQkNmVFNvdk4rbDhMakJPRHBGRzRHeFpzeXRscStHOU9xd241YnVjYSs2ZGpESjJpdjV6MFhsTTdRczhod2hiM2RNYW9uVjVKS2NaWjhKRGhyclpZMnNrY25TU3p1Y0k1Z1NRd2dEanI5aTVQSFY1bnZNMTRtUW4xcGszajRXY1IrNmRqQk1nODdBaTVLTHptTnB2RGNzNGVYcW8xUTB0ZGR2ckFjUjVLUzA4NU1RZTYzWW9NTzhBMHZtOEVSMHZQYXdJVFYxZU9OOFZFcTI3dXM0MzhjUnJ0bmNYMmVTTHhTQVhuVzlMczFvaHNtSjdmbDhqWFBmbUZMaWlRd3UxT05FcG1OVm5TWk01aUhRK000UVRSUUFEUmNBY2Z5UVdscXROVDhkZkNhVi94MjkrL0JzQzA0R0pLc1FBWVhMUitWYWhLK2NUY3hiUjh5cGxjeURUbzhEU2JBQVVxYUpKNTFQQk5yR1pZTGEvWWdxM3dHNy80Y2MvejloYnZlQUtsSjQvcDJheUtmTGxvZk00R1hkUVlKSGI1bm1mRTIrbWZ4YXNuSkFJMksyN0Znck1PWUIwUG1kQXgwd09qZTFxUUlTUGNnMW5QeWREUzNjSS93dWxmL3IrODlENWsySjFDMllUSGRkTlYrZGhiT25xd1JZMzFsNEhsdUJjZzBqbmM0Vno3TVNxOHBTbkpzbXI3dTNmLzdlYS82WDNzamZyZmkxcUtweDU2SHgxME1vNkd4Sk52aEg0bDNlZC85TmpRV2ZGbmR1dkdSdDRkZzR0dWExbmo4NGpsSFErRHhRbmh3YkdjTGVaVFk1SXVVdVNnODdqS3NxbmNwZkxKNGdCL1l2T2Y4djZMYzlxY3NtMTRmVU13NTZmWEhlZEZWK0JwUE02NEZQdlhzYnR0bE5maUVFRnlFSG5ZZW84R01RbVF6eTI1Nyswem43MXVIVEczczdKbE53ZXBzbHZIaDd3NEhUdTlvQWtXYU5KNTdNaU9GSDVVWjNSZHpKTWxLUVpoTWxCNTN2RjJqQlJEYzlVK1g3Sk11dnY4cExXK0tHSnhTUjNYOEc0V09CWklTNEx2MUJGL05QUFRDQ0FVYUxJT2V0a1lKU0R6dGVLWGM1amUvNysvZzVIcStaTzUvZjRpdXNvd1REUGJ6VXpEMVhsanpucGZQNllqcEVpeHEraVI0a3hsczVqblYzbnNad1hweGFLS2d0MkJid3gzYnROK3hKZWRueWMvV3dTZmtlRkwraEo1NVBVdzlTa2dRWG9ZR3FFVFN0b2RwMDNiNjVLSzBkMHZqYno1dlRPUlc5QzBlbmZtYkNiMlF2dnRrWXpTaFZET3A4S3Rrbk5WQnZOVFN2akxYNTJuUzlhcnpCV1ArMWloRm4rSVhlVjN0ZC8vV0FESGs4WlBrbkpRL044U09melJIUHN0Smg1NW5QczhoUWlRSGFkaDA1MkN4SE5JOXBVcHlTZ3daZUg0NFN0bDBMWEhXVERHNjQrSmowMTJrc3hIMkNicUlKbjEvbUNkelJoaDVPN0p4aFRENFlFcjFtc2ZaRjBmc2o2bVBEazJPaVovU001MmUvR3dzdUhoUTZsZkh2ZWF5bXdIQXhyVklWTlJpd0hDbXRyTkxjdkROb3hFTVpMNFFOZTFoeURVTG16ekR6T1k1RWRlUGt3WHhtaFZEYzhpcGpiUy9WUHl1UEVmQTgzYWJiazZVam5rMk0xK1NrM3phK2tUYjdBcVNUTXJQUDFvUmZadzhtcHZUMFA1MWVHeTh5TmVKNEJjTWlNU1pPVHppZEZhaHJTb1RFWE9tbWREQXd5NjN6TmZOTTE5MUpocE43eWlLSVhIdmFRRkZZZXhaN0tJWjNQdmNiSFNMQXkvRXh5ak5LbVpaMVY1MkZpSzNZRjFQYjdGS2ovc0hON3AyanhTT2ZUdHJ4SnpOY29lS0U2R1dYT3F2TVlTUDNiZ0lzbzBwRnZTY1hNYStpSmVyVmdJeDdwZkJHVlBpNmFiUGlkb1hHSm1vRnZWcDJIcFhOb1BSeEtYTzN1WWN5OGhqWVhvcDhZY2s5L0tPbm9IWnZoNEpyczFIeDd2dERXTWhuRno2cnplMFgzak5xQ3ZPYWI4Qk9EaHhlbGh1NG5FaE5IUWhybmgwRnJ3dFB5N1hscFBCcWZxS3Qzbm45WG9keXo2bnlsNEJQdDZIcVZyUjQxc2o4c0dOREpZZTErTVN3ZWJkNi9ZMGFUenB0NFRMVVBrOWFDajNNa2dHZTVlWDRYMjA2UU1IV1NyRHJmTEJnbDNHa256K0hnN3VyaEx4dkZrUjd0ODhHcFlYSXozczN1YjhwRGdSNHAwdm1NbUU1UzlrMjBzTjF4QzFUcEh6cVZtMFZLa1ZIbnVSNFdLUjdmWUQvd0dQRFBDWFE5OTEvQUxaK0hYM3ZvaGRyK2tPcllGcDRpYklIOXNyTVFXUENSenFjQWNsS3o5TkJZeGkyYnVBeG1wZEFMbXpQcVBQU3cwQzdKd1RtY3kxNDE2QWNqWVpyVG53OUUxMVFqdjB0NXEveWVqb2E1VkNDZGo0Wis2bUxPOHB3VXBpeTlhR1NyYXFCTFNTVTJXMGFkaHg2YU9oRExMRVVrYkhCYlhyWk56WnpuUFBiL3dQY3ZQb1Buc1pjMjQ5UWE5U2c3alJUczlTenVkVnh0OHpnQzZid08wWlM3YTNvTEcwOVpGc1UyV0xsUXJjcW84eWYrY3JzWWpLRG9PeDdsdHNFTGg0RnVlQkdZYkVTZkVlajU2VEpLV0JVcml4Tnoya1U2bnhIVlNjck9paDdCQmhlMjQ1cXNXdmtab2NJOE0rcDhKL1NwbnpDTFRDSG9WRENoRmsrVjZlWk1HUFQzdlFnSFkvbWhkQWYvTVZGUWh2OWczRkQrZGZjbzlrV2ZMYzlPT2o4VWlCT2RHTGU4Rlh6WVpHRHhTOTVWMjQwaTdRb1pkYjdtVDcwSGxpZFZBdWk4bHc4RHUyNVV4VjdxbHFTSVJmK0JkQWYvOFFKdVBpZnU5OXh2WmEybzZZWGdSRG9mQkh4Ni9keElMT2VPWXlyRkJlOTBlVTFacXdzUUpLUE9BNldkQXFUeVNXNnE0L3c0NWF2dms4R1NvRGdqS3ZJZ1B1THkrVXBCMCtXM1pBNEZwUE4rWFUyN0MzdEVBNytCV0hBWks5NHNzaFk5Y2MwdVFUYWQ1N01oT2ZYT0xvdU5ncnozMG5HZzVPL1NVbUNocjN4eFYrL3k2VUVlSWk1NCsveEw1bEtCZEY3Vnd0UTdzQXpVVjQ5aktBOGE2NkZnMnhqK0pFcHljYlBwUEdaRCtReWlrUUl2cVhHK293M3NTRjdYenRyZ2xFQzBFYThwY1l6a2tTaml4TlAxRmZNTmE5TDVST2hOUmFJOTZQenBXQ1ZkaytyVThoZXUrUXVVVGVjeDl1cno3ZnpGd3hrWWJ6Z3Z5Ky9WZVV3cW1wckRuaGU5WXdqVDM5VWNCRHZ5cG4wWE5iNGdTenFmQTdZVFFnS2pTcEZUNmdTbDNKTURTcUVUam13Nmp3bDJ0TElsS09QZ0pKaTJ1ek56S05lK25yeWhMZUhSTWNnRHVub1MxdzJqL3BWdzZMQWhtRXFjaWp5YlppOUhPajhza3BPYkhxT0RiaVVlZzZCVnJ4MWpqbisxT1BiWmRMNWUvT2FHWnpyamMzbGpXYTZiV0xFUTI0K0VxSmZMbTNVdy8rOEtGaWZtTmdEcGZDVHdVeGZSZ3M2UFZXaW8rcjRRQUNQZFZuR1NaTlA1aXE1NXhRalpjYzBxUU9GdE9nTjllNTd2ejNmMVNNTzltY3NHL1lrMEgvUm9ibS9BT3pzZS91NUlrVWRoQmlNRjg5ZzFrUXFPMDhISjA2Yklwdk0xMlRHbFpUODQzNG83M2Jrbk1NenIyL1BvRDJKV0dOaTh6MkdEL2t5eU9KTkxMbGQwR3VjSFYrR1VwTUN1Ymg0dEpVTnAwVlRkeVNSbWxZY1o2QXpJbWszbk1Sc3FjQTRpUkMrSlk0anJRVU9tdmozL0Y3Sjd0SllWK09Xd3Q5Q1VGb01xN2RWWllaNytRSFRmc21QUFZwaEhtdytsMDRxZTNLU0M4dTlra3lFdWR5YWQ1N09oQXZzalYrNTcyRTg0R3pYMlMyWXBNR09YQVhoRlBoQXBZOFEvNzc2UGpaQVVIa3dsRHR4c1RjMTJpSkFrNC95bnYrOXp6N3N2aDdsR0Nya3BTM0lFb0dqczZlVEpJMU4raEoyemZpcTFPSkx6akpNY21teWtmTm0rWXdOdEs5N1FXYTRDUS9ZL0JJcmdiOCtYcXV6Sk9KMkd1bWJ2TktIYVY0VUVNTE04bzR1U1FPZVJCRS9CZTVxNlRPUk9oUUNHa1R5TzNyNkd2ZE5aVFRkaGFNbzVaRjBPK0trS01paFRwbkVlaTJvMTJnNWlsRDYrOUt6V1E3OGJ6SzYyNS85empUMjVHNHcxL0JEeTFBaEk0Y0VZNFBiY3NCMGU2UGtUNkR3LzNwWFRyRkhuVE82Y0VhaWpscTVrcHJuS2JtSUVxcWNaWmpDZXFLZklJU0tUem1OUkhiZFUzbmdrWGhtejROdGd0OTZQNTduM3N2NjNEcURUbEdQMGdIUngwU2VxTWdLbkpSTG8vUExudmhaMmorZ0RCSEY4S1c1MENKeWhqcmN6c3pzVDF6V3NtQ05ETXFwODJpeWZwNUpsU1pVcWs4NWpOaFRYSDlVTFhPeExiTEM5OG5zRENsN0xZWE9oN2ZOTDgvNDhodnFEQVZKUzlMZ1JRRHZKUGlHOHhQb1k1cDMxTkpON1RKcy93RytCK2N4aitSZ1dvZ0ROcFBNbmNlZmNuVS9LK1hBVTd3emgvdmI4WDhQd3dWR09maW81TE5NcTdMYW9qYy9zQlk0Q0pCam5JUmwwZmp0YVFJcVpDQVF3R1Vzekl6ZGw3N2htd0kwMEMzSk1tdzhGTlF6NEJ5YlpYSDJaZEw0ZWQ5emxzOERRTFVLdUFydkV0TzM1Y20xQW45b0ptTjNTaU5PUTFwVjJvREtUNmZ4SjdHNWlHb0VvVDk0SThFMm96QlpwakVXblFyREEwSkJJV0V5YmQwVkNiQzl2SmNxUkxsRW1uWWMyUlcxdWxEN0VJU3hNNS9YdGViaFA0d3FQbmlueTdmcTRmSHFjV285WHpXTjRpZmJxSEtjdGExT25TZTZKUWtDc3ByTktkRjBhdUZyUkIrWlhtMXcxak9kYzZMcTZLd0xUUWxmNXM0cGp6NTlKNTQ4aVpzMnI3Ny9MTFZKaE9vOHVVWlVISFhUczdWZDd5VDh3L0c2akpvVG5UWUtQbW15MUFzYTRaT1A4VVdCMm9HUW54OFFnd0RlaE1oKzlyY25ocFJtOUJZQlJQUFNjY2hoTzVCM1N2ZXlDeE1HYVNlY2JTaFZNRmxBRTF2OEhpQjJvOCt2dk5YTW05Zm5iODhoUmpkY285QTlKRDhSVVE1WGhuclRGTHNwbElSbzIrL2NOR1pQcGZEUFcxbWtRSk0rWUVNQjBNWEU3aVJJUmM0VnRONjRSdmRXL2NkY0R3ZWNOeHp5WGVwV2pNbUMxNnJKSS9adEo1MXRCRGZERVdIdjR6Yi9mZFpMb2ZDL2w3ZmhxZTU1elBJdTN2V0J2UFduLy9XZkJ5bmpnZ1cvbkhLRHFXL3lmdjg1L1RUamtUeUtkUjVkUjVONkxsSVgrc3lDd0NaM1BXa3ZYMWFTOEVibnFqWmF4THVlcnpVSk5lTm5PNFFHbDdlZ2lKTkg1ZHR6K2ZqUnBSODJoZUpxNjFFaDdCbHh6MXJmSEpBNkZhZVpRSkw0UUpKVkk1OUg5MC9aOFlyREhsTENIMWh4bG5Vb3FVbFhPempIZ0RkOS90RDMrV0t5ZUp1V1lKbDJXY1o1Yk90M2h6OG81aWM1M1VtcWpZVWlBemwrMVN1QUc4cFhHY1V4OGdpZ29iVmNrVXhlWnlFeUpkQjZKRG1RRytwOVFCRHBvSnNheDZ1SGxSRE9SdlViVFhSUU9SYVB1alF4cndZRmxLQ3FERTJmUmVYNlMvVFNhUllFNmJ5NnJVVnN4WWpqOEN1TnV0SmhKWWpETzc0cDBSMEhsVGFUeldGMXNKMkZEYWNhSVFCWE41Q0FiZjlqYkwzc1Vtb0g5blNTRWUxNmZzNWxpanBDRXZreVRSZWZScmNWWjZRclVlYWl4TnNFNGlsL1BEeEJUSWhIM2p6N0duU2tFbC9QSjl1cE9RdG5pbUZIY1dCQm9valZMalUwcFFNZHZpR25zZ1NlZTNlOHMydWFmVWpBeld4YWRIekNBRnFqeldLTHYrT1VZc0Y3SElCMHd2UGxaRTdwZ2hCTXBMOG50VjVVdjBUamZsdE1FbFkwY2s0WUFxdGdZU05MSTExS1RjbENMTzVWdUo3N3A2anp5ZHUwSmNnck5vdk44UjNNM1dvNENkWDVUMjU3bmMvZXZSa3ZoT0FQTURuRlpWWnpINzBTdDEyUk1JcDJuN1hrSjErVCs4NUVoYnRhYVFITGMxQ0N2WE1mRWNQZ2RxUlYzYnI4VzM1d1RDRElnU1JhZDU0Y0xZc2dYcVBQR29ZVzlBYTlBOGg3OGFveWNTYUlhN3R6K0tHUTRTS1R6dEQyZkJPUHhwdUVEV053SWxrQTZtRzNrOWd6V2s4T1A4NWZjN0wzQUVaQUVuSWRMa2tYbmNZb2h6dXhlb002ZnFRN1ZjY3JOUVhXRnlzeTRVTU1SQUQ2aDJRaHY5Q2ZSZVhRNnNST1I0V3FNVWhlQ0FQOXdWZHdJbG9CcG15bHRSUStTOUJ5WVQ3amsydTZhNThkK1dCR3VMRHFQZmkxdWU3MUFuZGUzNXg4ZmVKd2VsYm1mRWJzOVlSRzRZTjY5eTJrbTBYbDArbklMSjZNWWxMMHdCTEJjakczTkNSZzMvZjBqOUNCeW1wOGdvMHhTNC8zRVlyaVJ5ZmljL3JQb1BHQ0tPK0JXb001ck82bkxNSngwNDhGQVhSekVweGdZdXlSV0I5VndENXhFNTVIbXhrQU9sR0M4Q094QjU0ZWZqdXN5ODYzcnJoY0ExZENuZHVVUDNzVWVlbzZlMk9yZTR5dklvM0FqY3hOLzZsdGFENzJnYTgzb0JaWi85Tjk4N25uMzh2SGxQZmYxNzQva2wwWG5UK0lORmNYcFBBYk9LMTR4bDJ1TWllT3hNVmhBa0dpZCs5VHptdjNYZG1OeWk2Z1NONitzV1hyZ2VKMS85TUZiMytRNG1BOWQxaGdrYkFCYURuSVdqMEFIR3F1cjZmQWNNWjlYUzkwOTQ3MnZEVFRTQnhoNzR5Q2FsOUJPSG1jL2EwLzJNc1llYnJIelV4Rjc5TWdEUC9WVDl6N1k0dnA5cWYvd203bDdCMU1FL2p6dGxMOGdIRDl2SjVUcDdPMWVmTTlZbE02WGZ4UkYra2x4aGNXUHZxZkoyTTlGRkUwRjE3UnBnUXIwSEgrR0dWMlRuZThFdzRQK3M1dE91V0YrU1Vja2lkTjVRTjl2c3U5MVR2dzVIL0lrYlFCQkNjaGZLQUpIYk9BYWNRQi9uTWhSRTRXT3NaeXJzTzgrZGtvZjFzK1UyR2wxK25kR2RUei9uTEYvNEpSeHAyNlhaK1hTOGtmb3ZPdkU3clhVK1RaNy9mLzBnMUNTWDdaenlUTE8xK01ORlFYcFBMVE1lTDdMWGpBdHRPcmJVN1ZRNFZ4Z04zL0xjWDZrT1hEeHRjNytWVE5rdEFlSk9KMC9ZN2QzbmJ2UGo5dituQTg1RWplQW9LemtMeEtCSmhvVjVuSVpucDQydGgvcHhCNW5ieFZrendiT0kwcnY2Ny8rMkNvQzlnSEZkUGFJZllYSHYrZTVYRjdHWGdqM3NuRDJYN2ZyckQ3N2ZRaDdlbzM5MXp4Tng1eGU4aUQzeWFMejdYaERSVUU2NzNabUtCdC9IbjdCaml4SjlEOHFJT0xTakhMRDdUWXYyZFRaSlBqRHpZZiszZ3dSdmhpZC80VGJKOWYyd2QvUG1id0IrSG5JVlR3Q3ZEVWRaR0tqNnpuYS9oVkZUTTRQMXpPODlpRjNxdERlRGdWaFhBSFB2R1VBMTRpZjMzWFp2UVp0dlNhNkJXZWpGZmoya3hRb2k4NTM0bGRBS0xjcm51UmwrZStvRlpBbE1xK2dNNjBETm1tdXlNVlRKMjBYSDYzek1DN3VjMjRYbm1ycTV6UHlhQUJtSWNpWEF3TGlTTTUrSmtJdGJYc0lXcmd0aVMyeWQzbk94cWtNRy9ZZnpXemJ6ZE9RWndENEtkaHJJZ3lIenQ0cENTSzAzKys2dmw3Z0c0OHlUVWFkZjByU3NmeFBnYzVYKzhldTRDc0RwMTJXQXZLZ2FKMlgxM3J3MXVSVHo2TUJSSWd5NzhHZmZublU4NHJCMEhBTkdyemVqcVBENjNuTFM4Qk4rSzQrSXFBdUo1RjNHS2JjT0ZxaHVMYmFSL1NQb3gzSm8yWWw1cHY2WWQ1V0c4TndXL2ZWc3VqOFdlVDRLV1NlR0ozdlJGMkdzQ3lWY2FFMS9FbEp0MTRpZFI3Vi9qWTNTZE92aFh3YVFLaEZVQUFRS0xmUTNDT2UwNEVJaVNNNWh3T1R4U1RnQi9sZTkxejMrUmE0dXpLdGQ0YlRBWXQ5R1Ria1AwWnlkNzd1Y0NwZWJ3S1hHN2d1WjZ1Z2F2UTIxZisvdmUrUGtTU3I3NnZkK2JFN085TTdnMDNzaTBReW8yQ3pGMGpTYTVMdzA2aWJRSHduTzhvTWttTXVUa3dQaDNOM1FvWmVjY0JlRW5DdEV1NTJqWUVlWWNXZ3lFbVBJd0t5STl5cmtCZ3JrdFdOY1F5MnJQUUlESno1Y1RNZ1crSVAwQ3kzTU5QY3I1ZlBxM3EvcXJ1cXU2cGVWWGRWNzdmLzZIcjE2cjN2Kzc1UHZjLzc4WDAvU3RkQ1pvS1duSThZSjNzcEZKL3pZb0d6NDlUQ0swUVRxQWgzSk9mN2pOWDlPTWZtVkdFR0JTQkNrenZkMit1ZFIzRCs4a1J3WUhTZnRKeHpnb3psb2JSbDhEWFpSRytyL3JsOEZQc0syVmRFWUQxUHpTdTVIZTU3VGpmem5QTzYrV3FFRzdKc09MOFpMbExtcEZtVThYelg3RnhMN2ZpMUw1QkVjVkd6TE9iekdPNUl6cnRLWk4rd24yWlJBR0pvZFVjR3VYdUlkUHAyOGxRc24wODFMYTBwQUZ6WDZYR1g2bFZma0NUY1ZDMTBZdWx0WTdaWDl4cFJzTHlhb0NwWCtVTXVPSzhIa2lpY1NnMGpUVXZPOC9uQnFGOWhPQS9FTkE2bXRoMHh3RUszYkp4aHdvd3k3STdpUFB5bDVlYlFlR0ZaRklCaEZlZytBd1MyV1RnLzRvc0dBMVVwZ3pRMSszdE84azZQeWVNTEZTRkJwWjZNVkZNcitURi94eGZycnNvT0pROFI0RHp2Nk5lNWIvQm53L21Pcm5LQ1F2MDdLTG9YNW0vNlRjVnVEODZyTjJBbTdyaGlnS1g3UzRISGNXNmlPSSszdmlIaXc5bVRvcklvQUZJV1hUTkU0QmowU0w0cnhsU2dhN0JoMDFnUnNpN0hER2R1Zk5JTW44Q05mcWllMzlxVWRRZy84Sm1QN2Z1cXFvSElBT2RSd01OTUNIY0M1MEc2Y002ck4zUFgrdzhTdkFJemFCVG5XL0pOODBVNGVubytnd0pncGs3dXJCQ29zZlI5UFY4SEVQQ1cxQVpjdXlMZGVPVzcwcDN5aWtLbUIrbHRYWnpPOFdxbTB0bzN4QVk1djJrdURWS2hiRGlQWEphaWI3OGRWWVhiZHVlQVlnVG5NZldqM2xKVE81ME1Db0I2ZGVUSUVJRVdPRCt1TUU5T0NqemZGYUg0aVExSE1nYXNnNE93MVZ6eWVZd3JST2crQ0VwelQ4U0JPZi9VV1E0TTJZT2NiMHZUZmlBUlM4NGIxb09BV0g3VExFcmZIaWhweUV3MThhSS9sTGFCRjNJaU9JKzM1TStqSUpneHp1TWZxN1F0QUdZR3lKMFJBcHlsdXBsT0pSUUNOa1JFRExUMThSdWVQZi9OOVZReVJhU0dXWVQ2eGhpOWk2bUF6cU9tNkNEbkVUSEVPRDNNK1o4UFg5Znd6OEtvVVZOOVl6TlY1WTdnZk9XUGpTUTZBK1BtOVRzcXJuQ3NzMFMvNGVqaUhpaUY1QndQb1NFN2VYNUVySGplRVp6djZoS0V3Wmh1UURJb0FQSDBvbENKRU1CTDBzMTBvcGd5TU5wY1pTL0RZbGpkK0hxcmZSaWJ2SGRUU2hxOW9qU3BGb1RQTU96SklFam90a3JWOHd4eUh2d0pPZUZpaVBNWUlZVC93aWJpYTZrNGoyOTlSUDFNWTRTWGc1dzVmK3dwY3ZJQ0NXR0thd1RuWFYyQ01DbHdTd25Pb0FBb1dlVElEZ0h2dmV6YnlPTzFobXdZMFp2VDgwQnlyZEJKUGJWNGxOUFRmeWgvVFhQS0QrVXNTSm9nNXptZFIxTWQ0bndreVlLU2ZUbElQVVhmZmh0NlJQelVFRmpxR2FsT3VBQVpiZWphTndiWGdVZXkrdm5sZ0craW0zRE9BM2sxb0VQVGZsbUp6S0FBS0Zua3lBNEJiK1BXVFJ0NW1QdFJ0blVVdUdlMUxGbmd3eWlrUTQxemJRYUwrNkNuQWpmTUJvWDdCam5QdTVVcXJISU1jZjZNR3hRdjd3Yi9Sc1hRamxvcXpwOXRTYUVqMTNkcTJiNXJmU1RJV0kvaDZPSWVyeUM4YisvMTZMakVvNGlZazczRE9jK2JqUjBSR1huWTBISzJSUWJTRndBdGkxeVpJZUQxYjNzMjRqQ0dWMDFXaDdGOUxRdWJyZnlmVVF6MDB6aXVxams4REVSQVRSTXMya0hPOHhYRnNoenFlRU9jMXc5aXVHcXBPQjhRM0ZWMVk4QTcyNXYrTURCSy9MM2liWVJQNWFsZ1l4emhuRWY5cWpLMnJjZDVrR05mQU1Zb1E0L1NJbkRJQzBMYXlGNDhWUE9xRklIa0I0YXdpN2pudjdEeHNSRXMybG1ONUR3M1NkMDBJK2JOK1RHcWNEV2d6cDZwVHBoN1dwd1B0OXM3enJmOXR4RzBnNFFwR3VVWHp2bERvNWJaREJZbTZ3SVFwUW41V3lDd2pYSVFZdTFLSU5GWXk0bnVZN0M4clh6Q0syYXBFMEFSMG1iZ2dFNThoaUR3S01qNVdIMzdnTUJKTjJYaFBGNW84QjBZR2VPSGErRjN4ZkJLNUF6blBGSlVScHltWWNQbG9tMExRQ0wxS0hBOEJJNVJCaUxMU0N3UjRMeHN4MkVjR0xaei9jVmR2SlRWWTBrYURRVHRwT3loaC8wbmNRU3MyYWNJY2o2V0RXOUk1UGpiemxBZE14UzZXWlIyZnR2b2RnM3BpQzJZcjIzaGJVUkFPaEo2eENPYzgxMk5ER1orVlo5UHhMWXJBQ01xa0llUHdKbzU3UnR3VDk0L1gwVVpVTFYwS2tEUnQ1ZEVQOFNzK1lpTTF5R0YvUkhmZUI3dEtPVXFyY3Q5MDBROGJNTmJEKzI5Mkl6bk8rTzUwaXdGNXpIRXJsblU4ZUdjUDlibVZIVDBSaXNVbXdJUXI1amNlYUhrbEFpNE5mSTdtZ1NIaXlpQlB2S2tDQ1BQd2ZsYnduTXp6SENHejZJWTh6Y2owY2Q2TklabjVHVG9oZE1EcEd2YWc0UHRQQ0tHOUY1c09JKzhqUlpucVU2Qnh2UHRJQ3hhUStFQ2JNcmtPdkp3Z2tjNDUxRWI3b3FJZ2VsNUpjeWlBQ2daNUFnZ29DWmgyT2p2Y2lCa3lBMlBJaWtiOGppR0Z5em9Va0RMSk5xZnk3am84ZTlLZDhJcnV1aEI2N3lNdjRtdVJTMHdaZ2h5dm0wdTVwR1JyTTY2M2d5VnFFUTNpOUxPSStkaC9iYTFubFMxT2pUa2x2NHhydUdjcitwK0hNd291NUR6VHc2NHNDd0tBSmREdnhBRTdtWlJ2OU42U0hEVEMweXhzT2w0a2lCQ2NCNU55RFVsdk1zK0lOd0ljRmw1SjNPZzNRaTEvNjF3SXprV21jaGQyNUFhNUR6YUhxR1VtYUJsTzYrWEJKcENmWGRoT044TjVmd3FVMnNiK2ptMDgwY0NrRU4vZXI3WnczMG1CVURJcFV1R0NIRHpkK3JSdHE4SDdEYUNYbGlGVjVlNmdmOXFGVzVnbllZTUVPdksxL1VlNkpCL0pOME4zcXNIeTFVU3c1eHZoVmtXck5yNTQ1SzA4OTFRUGFIOXJzQnhmY1RNcGdHZTRBcHY1emYxckduYkt3RVZQdm1iVFFHWW9CQTlUb0VBM3FKK1l5bmk4eWd0eVhsODFrQ0phRUN1dkRHcUF1a1Y5MW9OYU5lc2kzanVGbmVnSU8venEvZEREYUJOeG55NHN5T2Y2S3ROTzQvRXd2ck1Vbmd6Mzc3OWg5Mkg2ektwOFZmb09kb2Y0WFducUppeHczV2NYV0tzOEhET0kwV3BXOGQ3NlN2Y1lKQlJBUmlyRHoxTWd3Q2Z4MmE5TkRGMW5CcDcxcnRCZzYvNzJsM2RLMS9TeTdSMHBKZ3VsSndyS3VpYXJFWE8rdXUrMUZtWVBBUTRyMnNjUE5FM0tyNVZPNDhNelk3ejk3Q0gzWEREaHM2Y2NHMkcyUnA1ZDA3aTJEQUdZQ094eDN1RWM3NnZTMURMNjNtZDViMHc0Q1dIWlRZRllMeEM5RFFGQXVzb0RKSkpLYUo3VVk3RlhCMXNkWFVsQXpVK2YvUDh0NkpjL24yU2Y1UXkzU290eUdKLzdQdXBzekM1eEVCUEg4WFFyNGVDYWRtMDgyMnpIeEVVeSsrYWViYnpaL0F4cmpNeGpTSUFYaU1tOWVUZHVTTngwMVl1K1RUMk5aeno2eXJyZU02cjJ2Tjg3aFo2WkZFQVl1dEdBZU1pMEVCaE1BYkZjYU1Gd2pYWU05NTlYNzFrM0ZiMUFITFphUDRERWVQY3VJWjZmYkVPWUZVVy83NXV2VGpuOWVyWHB1RTJVckhoUE5JSzZ6cEk2VWp4cG5SSFhWT3Z2ZlUrQzkwYzE4M1FTVmIxY2dudGllcFl2ZVhtNEVBL1NPWUs1enlFaTZ4M2ZaNXZYNE5ZNkxFcnBGc1ZBQ0dETHBraDBBWlQ5REE0bmRobHY5T0xWbmRMQzloa3Z5cHYycHFMMGl2KzlUNXRBS3kwTnZ4NG03S2xRaG1VVGIvSGVUbTBnUDBvTkZNMm5HOFlhWVdvNytxR05PU3A3NVdXODJlOUQwYTAvUUZOcEhUeG9CYld4VG5EVG8vRTg1V1E0ZjRrbWZKNU9PZFIyMjU1SVRCcjZ4V0ZLbjlQV1JVQW1UWmRzMEpnRTY5cDFPU1RUUHFLUC9tekVKZ0RrbTJ5NHl5TmJSOG5KUVZybk5SUG5vWDFKNHBldkcwWDlZRFh0NWR0V1ZrMGE1MEFBQ0FBU1VSQlZGdVd3aUhwTnB4Zkg3K1dCWnJzRDZVMmNwdVc4MVhQNG5Jb1c5TVJ1UUVQZERodUJUejR6WnEyYURZbTZ6a1NYWHFFY3g3akdqL0Y3YWU5RDRsV3ZNU3lLZ0F5YmJwbWhRQjZZS0VqMzBUeW01NUZvR00yODg2QytuejU1eTBLR2RUNHZLUjF4WDJ2cDlYUFFHWGZ4VDl0dzU3YzhYVUYvNStyWHZiY2FHOUNtM2tyR3g0NEwyMVNmb0tCLzg5Q2s2Y1BBbDZqTnlrNXYrcVBtYzZydnZLb1pNUEhOY1k3MnJ2Mk51RmVhNDBib2VnSW9hNEl6amY4YW5tVkhmVjVPMy9HVytlWFdRRUkxWVE4MHlPQUVwTGVqQ3VUN2ZPKzlvVWd6eXJ1Ty8zSFh3MzZ5eml4cnhXY3BOcmpvWSs5ajliOE43UmoySys5d1gyKzBPTHUwMWY5SHIvaG5GODQ3WEZuSjN3MHo3K2ZObXJlNGhIaS9MQWtNTHh6WFhuZTc3N3dGVndSZHZyU0YvLzJ6VEd5VW5LKzRadmNsMFBhNzVERWdNbnVxUGRYeE9xc1NrZDFqRVlEVGZTSjRQeUt2OXVwK2pRcVlZeTEvQlkrc3dJd1VTc0trQXdCWGxUOXhqRlp2RURvUmRUdWkrNWdMK0Q1UmZiMkhqWnlmWmlkNEdMelc4VUUwRi85MHIvcytOMEZyakIrbnM0Tnp5bk1VNXp6VHVkMjNWbkNOdkZQaGlkb3czaytxeGtxMVR0RlZHZ3lIc3lVbkhmOTZaQUZZU29OVlVKN1FwTXRmU2RkbGRySmQrRCt5eXI3RmVtVjRockJlYWZOM3VrczNZVnFwUUpkVjFwSG51ak1Da0FLUlNsS05BSjhRQ3dOWXRHaEpqNjVoMTBmNWRsdk1uYjlFUXlDZzFYQlJGbWpBUzY2WEV2MjA5NFRkdVBxQTFjZmFmbWNIK0Rtd2FzM3ZHRzh4L2xGbDJzeStNbFJJWjZQRGVkaG5ZN2lQTFR3Znc4S3hTS1NUOGY1TThMa3ZxQU1HeEhpUFc5ZUEyMkVCRmhwc3NGVjlBRmVHZklzdGxjVTU1ZWE3TlF2UjE5a2c5WnpRbDVtQlNDMmZoUXdCZ0xlMHR0NmpJQVRnbnpLZmZnUFI0Szg2VkpyOEpiZkdmRk83ckgwclljRzkzOTNRanlQODg3aWo3V3V2Nm9lRmRTRzh5anY1akxncUNURythZmovS0hnK3JJL3JCK1hBSjd4V3Z3b0xNelN0eDVoajczS3JnS080cnl6OXZIV2YvUUx3TTgyMzlHVHlXZFdBS1JBdW1hQUFDL0k0YTFYQnNLbks4TG4vUGcwYlRpUCtUL1BmRDQraGJGUDAzRytJMWJRblk5bEdPSHpaWGJFSHBPRlNNNlBpVU9QQ29ZQU4zeVBzVVlYVE51eDZ1VE5lZDRscW8vVllPTERPSnovK3M5OTg0VVBtYVoxTEpVLzhpU3Y2N1VJWTFMaWF2YkdQTGQ2Ukp5M2dxOFlrYkVUem1yMnZCaTU4TFRJbS9OODI4NU51L3pHNER5M0dnUVgvOEJueDB2Mk1OYWJ3dTVqUFJkdnArNW9iT0w4S0NhbDh6bEVDWW0zcExQd1djdWI4M3hyMm9ZZEN0M0pYU3BlQ1FkZnlhRmNOZHVQMWJlUE5EWGFxZTdISnM1bmdlS01aV3lqZ0Qwell4MHlTajV2enVQcmk3YXptdHR5bldCMGxoZS8rU013cm90OUJWNndZMWtwSDhleTRmSFJXclI0eXlmRWVVc0FpeEQ5R0NYa1ZoRVVzZGNoZDg0M1F4ZTRKVkY4K2RmaWhFWlRmODBJNThvYW9CcHJyZzVMaHliWExJYjRSRTdpZkNLNGlobTRDczd2RmxPMXBGcmx6bmxnTlpYcWNUM1FuMEMycnZsUXVMRVdFU0syMm5hVUZNS0o0WW56RXlFcWZnQVhuTGNjcEJZbGs3bHovamlEblFseHdHcElRNzBYR0RUYjl4eFliUE5zak9pSUxkZkV4QWlkTUFoeFBpRmdSUXdPeXR0T1FCVWxXK0I4K01ZYVEwR2IrWGtzMXArTzZhTWJtR3hEWDMzUHl3SG1EYTRaV1lseXR2VSt4S2dnNmYySjgrbXhLMHBNYm91MlhWeFdsTHlBRSthMGRxaGFWcHh2NU1rbVE5MXF3QWgzeUYrUitHMFpvYUtjNkkyWUZzQ29ZT244aWZQcGNDdFNMTDVvYS9MOFVaRTBqdFlGaTFFbURtU3RPTDhlb3lNUnJWNzhKMjdnSElLMkpEeXVOMk1JUVkyUm45V0JPQi9qRFJROENGL0FNYkZ4TEhnZXBIcDgzOXVPdkltNFduRWV2ZXlKbFVwRXVrbThNVzQzQitTYjdLbHZlTDlHb01zZktiRnBQYnNRS1pydmw4NXZIbkJNc3ZRb1F3VDRaTzRQTTVRM00xR3J2L3R4WklXZHZ2aTN4NnBneFhtc2RzbHZGa3lyamI2WHVXS2lLVjlRbXcxMG9HZ1hVTmlQZm1yNWhEaHZDV0FCb3ZOVlgvbU4vcWFZUVgvSktxZjkyRVN0T004MzJZeVZuczFEOE1yc25Lc1hWSjFzb29RQ2ZDdHRuQ0ZBT2wySjgrbHdLMUlzREZGakdZT0xwSE9vTG1leHJmN2RmRi85ZUZaYWNaNHZ1TytGcHA2cEo0WVFsdzJCNmdXMVl0WE8rU3BKbkRmZVRFbWRmUlRqclpMcW5rWnRLODduMjRTcTdCd0dwdWVScUY4RFlDcHlWNFdKZHVUYkdTSE9SeU5mbGlkZGNENi9ubUR4VUxEaXZPUG1PVlJXWUxVRHZRbFFmY043QkhOcm5EZVZyOUdCT0s5ZVUya2RIWEMrVjFydGt5dHV4M21ndFpzOHphUXhrSW9SQlgzMVBlLzJYRHdUSGl3ME9VN0VFT2VOVjFOU1p4T2NMNm5xcWRTMjR6eGE0RnVwa2swVXlRM01Ec0NLMy9PaU53SXplSkVTRDRNYmNTUERwWHRBbkUrSFc1Rml0Y1ovcDZGSXFtYWlpeDNud1NkekZpMFRqVWFFWUFCdkxpRkdPNy9qaGVuRU03YWlYb3F6S244azJYZ2V4UGw0T0JVNEZMZEttZXMvQ3F4cU5xclpjUjRXOWFlejBXT01GRFRzNWhuOEdNOGZlS0hqRGVlZHpUeVg1TkNhbkRFdnJpU1ArTVNPV2NCS29uWjZOZTA0ajFZdXg3R3l5QlVTTVFjUXFKYTlCeGRqcnBIR2FHMC9QVDZUWWxJN1B3bWh3ai9uRXp0bUFTdTh3cllLMm5FZVRYRCtteFBRbWRoMUtqL3FQaXpPOWhhY1A0dzVyTUFiM2JORktUbytjVDRhbTVJODRhdlhka3VpYXlacTJuR2VENFg4am5ZbXlvUUxPY1RrM0ZLVjNaRHRkZE5Qc2hOK2FQMndEQXdGOGxTUk9EOE1lT251MGFiTXk0a1o4YkMzNHp5Zm9MOFpMNkgwb2RvNDBLQTcrSzd6SmpiWTRWS09QUnZlV3NDWUh5MGRtd3Z6N0lvUTU2T2hMOG1UZFhBK3g1NWc4VkN3NUh4bkNxc1drY1lYdkRaOW16M0tBV3g0MWN3NStTWGVDWmlpNTJaYS9TZUVUdnlZT0o4WXNxSkZhSUR6dVhkV2k1UnBTODZqRGI2V2QzWmNkbHA3SDA5a3dXL2FGenliWE5YN0p1L2t0RkdMNTJtVUpjNVBmZ1VGRDRFeW5HZFBzSGk1dCtROEdKWDNCRDIzR2ZqOHhxVEtFUkJjNHZQdEYySTI4L3o4cm1zNXdrNmN6eEhjNllqZW5NYmswM1N5RWk4VlM4N2p1SUc4bHpOZ2JzRHYwenRPeTZmdjhXMm4wanlKMlIzRHlHQXJIaFNwUWhIblU4RldwRWpOT1RreEl6YW1scHlIaFN6dlV6UEFLcmtEd21VLzVCbGJaZi9CaldlMFIyQTNYd01OY1Q1MlVTdHFRSlN2SEJkcUZqRFhscHpuSGUrY2M0V3BGSS9wU0tZbXpzWDdSZmV4U2QvaGxrcnhNMDFqOWdoa2xFUlg0bndpdUFvWW1KZVEzUUxxbFo5S2xweDMwREdxNTZjZGwzeW9PK2VkZUR2cFRIMnd5T3EyZVorMW16aWZOYUxUbHNjL1c3d3g3VVJubXA0dDU3dHlwVXh1dVdqcldxVXF0OWZFVHd6bmdNcGVRdnhJQ1VJUzV4T0FWY2lnZUlONU4xc0Z5N2N0NXcvek5Zc0RMUmpoSkdhMTVHOEgrdDJTMGZPNEV1ZnpRSFdhTXRFcXFBSTJ6WFJubDVZdDU3SGtKZGQybEJ2aGxKWFFUVzZQYSt1UlFTNGdFK2R6Z1hXS1F0ZnpOME5QTVRkeGtyTGxQR2JTOGozaUhsWkN0WTRPTmZMTk9Ka3l3dFNTZHcyTTJKT2R4UG5KR0JVN1JOOG9ZTkQwYTVkYUQzK3MyQnJiYW1mTGVjeVo1Mm9YZDR6ZDgzeVNvSjRzdzRneVNCWWpZV2ppZkVMQUNoZThHMWlvK1ZVMnVML0pQbFE0TGJOVXlKcnpHRzRuYlhzVDZROVN5ZGxUck1OanZVU1JIWmp0VlM4aFdjeVlvWW56TVlFcWJEQVVZRzN4V1d5ZDdEbk9SOWk3Q3F0dUJvcFpjNzZSOCt3bVRDeFhSRDc1ZDhVT2t1VVprL3V5eGtnV01XNW80bnhjcElvYXpwVm5wM01GdC8xcHUyclN0cVdvbVF2Vnk1cnpXSDJiNjNkLzF2VmtJUCt1V0dnbW9qMzdPWnZ3Nkd5c2FPeEw4Z1NGNmtpcXVzVDhZNS9PeXRYZThzRmNYYTA1ai9GMnJpdnV0N1d0SHZSWEp2eVlMNkdUMkFJUVU3QU1SdTI4UktLa1YzNm1Tay9xdnN3KzZEa3JpUXVhbEZDR3F6WG5ZY1RMZFNmaXNWNkgwd2l0WGlyallNNTlteVJ4Zmh6OEpYZ1crTXlSNk5vN3ptWlNZM0VKY3FwVXRPYzhTRmxYNHJKMzFMVGhIU21OYnR4ZGE4SG9FdlhEdXNxY3orVWx6a2RoWHhKL0xERFJpN09iOHR2dC9YbGVnbS9QK1VQVEJwTDlpM2IxSzJtR3JmazdQMjZyTEF5QTE3Slh5WlJJbkRmUktLRWJWbDdWTEdCaVNPUmdQZGVEVm1ZTWt6M25ZVTBmYlgyenkxVkxUN1poNUxVL0lyZ3pya2JHYU9Cb0pFYW1Ic1Q1VE9HY3ZqQTBXV3BtNTRJYXhpOExZOTcwOVpsQ2l2YWN4N0tYUEZmaTZSVVQvUENNbldGSVlJSzVOdXluNzZ0NllLQTlNM1VSNXpPRmMvckN0bzI1NW5PcUpKL04xMGcxL1d5YUtkcHpubStDU1RocmJpb3d3WTBhUlZiREdIbU5WaTVqSitDeE5UcmZGVG44akM3WkhaeVFFWHBjVEFRMmphNWdReFVYdk5hUjVxV1krcWZRS2dQT28zZTBueUxsZUZIQStWc2lKTklaWFFtQVZ4WTlza0F0SVN1TWVLa2xEMFdjVDQ1Wm9XSzRCcnZiYXRvWjF2eTlRcW1acFRJWmNCN0ZQa2RtNmI1N04yUjlEWjlkamQ3WDE4ai9OQVRpZkphbGNmcXkwS2JvcWVaTlpjNEQ1NCttcjh5VVVzeUE4NEF0eDFVNTR0eEx3TkZrZzVFeHhQTDN4blhmY3gxMStDK0lPRCtsZ3BwVE1qQVMrVXZ2dVB5cTRqd21lYmR5U25IMllqUGdQRDRzaytQZXRacTAwZUUxakI1VWY3d2JOc2dYc09aYkdmbUpFT2RuWDRadE5NRDcwMlBEcHVvem9yRHQyb2d0ZE53c09IOCt6eTcwcGh6UFB4NWlObGhpTzhhUkdzTkE0MzFlR2ZiTCtwNDRueldpMDVXSHNxdkxpR3R5WG50UFY2UDhVOHVDODZnVTh4dlE5NlhzanBvODFhZ3Nmdy85c2NoT3hpRmpkUjAySHhkeFBoOWNweVcxYjI0RjE1eEhsNTg0UC9ZZHVDR1RhR01qSkhoNFR2VG9zVWJxYlNQUnVsZXdNanB5cHJDamwvQ054TXpLZ3ppZkZaS3prUk13K2JUVTZCR2N2elliaGFhUWFoYnR2SVBLc3BlWHJxdWlQdW1MRDFpWjZWU1FiRGN5YmN6T2o4N3RtZEd6Y0JQbnMwQnhkakphWm5PbExVYkUrVW12QkFWL2QxS1kxTS85ZlE5THJaQm1mZ0VtVjlRM2UrR3lzZDErUC94SmhyN0UrUXpCbkw0bzlCNE53N0MrSWM1UGVoZVZsakorVEFxYS9QbDlYbjN5QjJxSmxDR2hmYzM3NU1XRzRXVTQyOGJNcStHZHJaTTRueTJlVTVhRzEyZU0yM1V4SnM1UGZCRjUwbXVwZFZKM1Bzc0c5UkV0S253YjdYclVUQ29xSXFNS0g0bWNrUWR4UGlNZ3B5dG03ZEtydlFSaHRqZDZpUUhPRzNYQmRIWExQYlZNeHZQNE1ueU95NWErd0pqTFRtK09RbkdXTDcvSGR0bmQwVWZ3QVJ2M1F4OWs2a21jenhUT2FRbHJpNWFpSFpnTTBuWjdtcCtmK0NiUXB1Wm9MbnZEUTRPMzFrTjAyT1lIR1dGTi9hMlFaM3lncnhkVmhnYkl4Sk00bndtTTB4YkN4TkM5R2VnTDBwcWNKTzhoV0Y4bWlXa1J0c1hiZm16ZkQxOGM0QVplcDBVeVk2TVM1OGZDVTlDSGZKc0czM0VKRTk2dW9XS04xdDRhYUV4eW91Z2ZUUXFUOWZNTDNwbEc2SVU5RXlZWnV5UTJ3dnd6OWlQT1p3em9WTVRCUk1jdzU4TUhoajBqd2NBZW0ybVVIaVB0S1RxekdjL3pyOHJsMkxrUHg2UHZwWWdxTzNSalhUOHdVZ3VYa0lFdmNUNERFS2N1Z3JmelR5UFZkbkEycUt0dTBYdmNtN3BXMDBvd0s4NVBaL1FjUU1VOTRyZllTQk42TG9ZcmppME9STW4raGppZlBhWlRrTmp5NXVoZ2h0bzFFK3Q3alQvM3dXdmRNWi9NbFRzcnpxT0xQZVhPMEJseDFuMzR4anFZOXVyVGVGSEUrV21nbkhrYXgrejJnWVBwcGxQODY5OTV0Vmg3SVhvWGh3NWVWbGRXbk1jSldWT1lEVGRSYm9oaGZETzBFOS9OYzArL29RWngzZ0NqUE03bFFRL0sxb1krVjZOUHdUdXZXdnp5NUNtMnBwbHhIdWFRNmZhR21xSmZVUTA3a1E0RHRzdXhNYkFKU0p5M1FXOW1jU3ZOcDNhY3o3R1RRRFBQdjRFc05GcWZkZ3MyVFNReTR6ekdSbGVtcWZqRndUZjgzMmJZeHJwem9ZMS9Edm9SNTNNQWRRb2lZYVI3aEExdURxWGt5Z0hoOW5RTDg1QWFPZDlteG5tc2dSazlsVFpINVJzd3ZjcGZieVNkR252dmlGOHVIc1Q1WEdETlgrZ1RyMkR2MkJ0T3BpdVhibGJuMkd5UGorOW1OUXpIK29hallReHp2SzlKd3VNNjh1NHVzTUZPam1rYm9vbnpCaGlsZDU0VDY3dVdwcktHYzFad1pjZDVUSGFHVHBUbms3TlZ0YkQyTUdURzREaDhuVTRPcWhEbmN3QjFaaUxYaE9GK2VXcmxaeFpaelpEem1LNnJUeTBMaDJyeEhiWkdiUTBsQzF2TXREUWh6ZzloWCs3YnRsK1c1cnBybjJIZjNzSDV0NHFJdWIvNTJyNU1JbVJqM2ZiMGVoekVlZmtlNXVLNjBqckZRUEhUN0gxemtadUlUR3pyWWZGR1JKRFkzcXRURzBVN0s2cHJIN0t4RGhOMTlkaEtwd3pvYXR4U1NxQm9SVVRnQzJ4dy8wUHN5WU1pNnBhVlRsbHlIbWZUUFpxVlhoUGtQSzR0ajloTTgyd3dkRDh6dTJSUXJubEhuRGZSbUNQM0U1ZGExMTh5MTVSSDMxNzlyTnQ1ckdtWWxybTh1cStLR1FidndTSEZXaXYvWmg1N2l0UlBhVUlPUXFBTUNHVEtlZFFnVjZhUzZaV0JUZ1k5ZWI1RlN2L09zdy9vbTd4Y3hQbThrQ1c1ZVNQd2h1ZXBYOTArcmJVWDd0c0xpU0doWWM0S0RtK3N1L0RTblJnaUxJTjhVOEgyUEV0SkZKMFFJQVFtSWxCeHJ4bGhBa2VVRy83a0pBUUlnWGxCNE43QUVBSUhaTTVMeGlnZmhBQWhFSUxBMnUvallLT2VmUENsMThHWTlqZStJVy9wU2dnUUF2T0dBT2JtK0UrTTJRKzltM24rdXRpOHZUL0tEeUdRRklHTDdQb0RWMXVEQXovZWZlekcxUWNlZktTMWxWUU1oU2N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JZ1V3VCtoZmlhZ2hUNnBhRjc2VTlYUW9BUW1BY0VQdHhpN0tmRWQ1TjRmdmo5cTRuMTgvQnFLUStFUUJnQzkzaWZSenZaRTg4cTMvYnVmejBzS1BrUkFvUkErUkc0SUw2SWVDSmErbyt5MCtmdmZPbjMyZVh5WjQxeVFBZ1FBaUVJMU5qZjNWbjZGSWovUGUvaEFydmQ0NDdQblZEdjNnT0UvZ2lCT1VQZ0F2dkhQRWQvQXRKdjRicmtEdXE0NEZlamh0NEhndjRKZ2ZJanNQS0t3VXRrTHRyUCthNWp4azdSc3QvSFhpT2VMSWdITWlCZENRRkNvS3dJTERWWmkwa2JuYnZoWjJNRkRmMFZaNm4xbE14VnBTVmRkQ1VFQ0lGeUkzQWZlNWZ6UjE1UDNuRldiOHU4dEJtNzdad1QzdHl6ZXlRZjBaVVFJQVRLak1CU2krMDR6dmFUWGg2V2Z5Q3p3aHY2cmFxcUFoem4vQlg1aUs2RUFDRlFaZ1NXR1VicXY4RFlIcy9FNFdXVkZUVDBKK3lENnRhNW9Lb0Q3VWN1UW9BUUtCOEN4K3lhVTBHanZzdFYzNzZwTW5BUmZxeXVicDNGcDdXYlhJUUFJVkJhQkpZWU8zTDRRcHhiUEF2ZG5zNUloekcvdys5N0xaSGhYbU5ETGtLZ3ZBaWNaZXpBV1FibnZhNzc4WTdPeVFJOGpWdEhtZkIxRUhJUkFvUkE2UkRvd3p6dmNIcDc3YnpKK1lyTHpQRjh4VitZVjdvTWtzS0VBQ0VRUUtER2Z1ZzRmT3graFh1YmZYc0huZnNUSFpiNjlob0xjaEVDNVVVQXczbmV3S05KNy9GTUdEWThoOC9XR2ZQenE2Z2I2RWNJRUFKbFJ3RFd1OHZJdzVrSGY5TEx5VHEvRWIvSEdScDZQWWhmZUZZK29Dc2hRQWlVRjRGMXhtNGEycHZFYmo2MWlvWitRejd0NzBvWFhRa0JRcUM4Q0hTNTJWNy9WclNoYmdFejlwdHlTeTFDTlBkME1ISVJBb1JBV1JGb3N0T0E2bTVQM3Rhd3J3NFRlV3pmOTdnUURDZEQwWlVRSUFSS2hRQVc0T2tSTzlkOCs3MUMvemN5N3NLSS9yYmZEK2g4WHp5Z0N5RkFDSlFZQVl6WWcxdytjN3JqWldmVjV6cWZ4UE8yMmQ2akIvWWx6aTZwVGdqYzhRaGdNYzZRT2I3akxiRmRjUVhIN3dYcDMvOWJmL3JqUTkyQk94NDRBb0FRS0NrQ01OdGZDYXAraGozMXYvNzBXNHk5UjNqRGpPZjlqb0xCNkk0UUlBUktpVUJiMmVpVSt2d29QTWIrcmJ4ZnVzdTc5MDdKazM1MEpRUUlnYklpVUJYNzVrMzkzL0RnNE9HL05qeGUreUI3dDNsdlBDSW5JVUFJbEF3QnRPRytXYjVrZXBPNmhBQWhrQXFCUlp4dW15b2lSU0lFQ0lGU0lvRFY5dWF4R0tYTUF5bE5DQkFDOFJFNHp4aWRlQlVmTGdwSkNKUWVnYjQ0SHFmMEdiSEt3T3FsMDc5bEpZQWlFd0tsUWVDWTRRRE1PLzIzMnZwM1B6Ym8zZWtvVVA3dkVBUnEvdTc1T3lTM0VkbXNZbmhUZXpUaUlYa1RBdk9GQUticU51WXJSOGx6ODJWV3g3bit4c2M3a291Z0dJUkFXUkRBVkozL0tZdXlLSnlIbmsxdXhWd09uUENiUnpJa2t4QW9BZ0puYUVrT2pnall3cXM0Uy8yZEloUkkwaUYzQkhDcy9TRDNSQXFlUU5kYmlIakdPT3l6NEFxVGVvU0FCUUxZVlhlbmoyTXJMZTgwc0RQK3A3c3NzS1NvaEVBWkVOaG0vUHVVZC9UdnJIOSt3Rm1hczd5amk4R2RrL25ONFZOeTdweXN5NXcyL0U3OWd2OFpIK2xMVjBKZ1RoRm9qcHlTTTZjWmpjNVdoOC9VT2M3NjhORWgwVEhvQ1NGUVlnUmd0cjlXWXZVelVMMGlqSmdOR3M5bmdDYUpLRHdDZkhyKzhzeTFYTGwwK285bXBzU3EyRmZZSmJ2OXpONEJKVHhGQlBqMC9NeVg0UzI2cHkrM0lGeDc4TzRISG5qd2taWTRzZnNjdTNIMWdhdnZqdzBpRHZDL3dYL0JyL25Fams0QkNZRnlJY0MvT3I4M2E1VTNCM3ZPWnZvWlErd1M4bjZDODRmbVRZeXNuV2NEd2ZtZEdLRXBDQ0ZRY2dRd1BUL3pKYWRuK2FjemxnUGZ6RXVHNnBmK0RBdUx2dk5MTWhLbUgwLys1b0c4bTNqdCsrUDROVG91YUNKVUZHQWVFT2lEODdQT1J4VmZ5TUpYcjYrbDF3TldDZU1yMllmc2RpOWMxcysvUHZEejIvVnQvOU5jWis3NGRRcmhtSkh2dkNHQWZ2SEpqUE4wbGowRERTbzJwL1hnVXp1M2RDNmFKejE5WTdxNHdkTDhQZXM5N1BvOWpIUERYL1l3WTVLYkVKZ2JCR3JESDZ1YmZzNjY3SWduMnJLb2UvQXBuc3RLOFRkR2poS1dYSlB4VE16TkhiTWVqOXZ3bTNzbGhoeUV3SHdpQUJMd2ZhUXovQzJKY1hUVFlvd0JxOFNSek1JcWU0MTB4cnNlKzBkOWQrakU3M2g0VWFoeUk3QUd6dk9lOVF4LzU4UVhNbXQrYzV0S0UxZ2w2aUppcFphMERtdDdsVTJGaHZPcG9LZElaVU9BZjNQV0dBblBRdjFOMGNXdVdjd1p3aW9oVmIvM1pFYzZZMTc3WHR3THRQSTJKbDRVck53SVlDQTg0N0pla2VzRG1ycDduaGpUbWpKRVhraSt3bWpkNDN4L2tMU3VTS3dsUlNBRUNvQUFEcmUzV0FDWFJRWXV5R254Vm5LMnF2UVo4M2JBTzg2Uyt4N2xHZGV4d0FjVkZmZjdjY05UT0VLZ3pBZzB3UG1qbVdhZ0ljZlJGcFVQckJLQ3NkMFVuK1JaNUFiN0JZdVJ4VXp4bzhRSmdXUUlkTUg1dldSUk1nNWRaVC93SktLUHY1OVd0SnFlL3lJVzhTYi9WWC9nTERVL2tEd2V4U0FFU29oQUZaeWY2VGdXVk4vMWNFTmJ2WkVXUUZnbFBDR0xyWVRUZEg2Q1p3ZC91L2JrUWRyRUtSNGhVQ29FV3VEOFRCVkdFMzNUVXdDT283U2F3Q3JoMVJlZDUwSWtyTHlvOWRoUGhQZ2JYci9SZXV1T2NVdE9RbUIrRVZnQzVTMld2MlVBekRuWno4Q08xcjIwOHNUMC9PZlVKTDBoNkF3N2ZlbkwyYThaUHVRa0JPNWdCRmJCK2FkbW12OCtHL2pwZy96MXRKcjQwL1BvS2ZSR0pGVGNwdzRjNXhmVHl4NlJTQjZFUUprUndMZm5zMWw2KzJIM01hOTNuUmlNanF4ekRsbjZ0YS9lOUh5bEprMERwaEpmOFhzUG0xZE16MVR1eWgvLzF4OTVXV3MvVlZ5S1JBZ1VCUUUwcnV5WkRKVDVBM2JLVXBuTUhWZHVndDJXRFg0S2RWcDhldjZqeU12b0hIdlZHK0l2MWZ6SmdSU3lWWlFPNUZ2TUp5bzU1Q0FFWm9uQU9rcnhMWHNGM3NoK0hmdmZrNjV6NStuQ2JLOStLYWJXZmRWaGxmaStjNEg5VllodFlwRjVEZnpqR2RSc0xVL1JtL1pva1FSQ1lJWUliS01jMi9kNlY5anRBOGZaVGpObVhsR010eGhrd0NweGE4MTlsMU1iTlFuNFg2SnoyaG5VYlAvOGVYZEQyWjBadmkxS21oQ3dSK0FZcFhqTFdzeXh0M2w5T2MxQk56aUM4NVBmNEw4dldRd3lZUExmUFlZcHNqODZvRC92VDl6MzA2LzNNZEZwV1l3L1REbmtKZ1JtaGdCYXh2U3o0bExyaTJ5QVp0NVpUZE81eHhHY2U1NGNOUGpYcE1Da1YwelB2MmhRNSt0blJ3YjBoLzdLM3NYL2tWUm1hUGlXT0JVNzlDRjVFZ0psUUlDUFVldTJpbmI5d2ZKYW1rWndYZmFXMFZadnBGV2tnVnk4QnBHeGxHOTRzUUhrdjcyWFZ1NXdQQmdmMHRnc2hzWFFQU0V3T3dUNGtoenJFU29PbVR2eXNoQTJQUzd5dHVMeWxBSy9VMjlrdkM0ckNyVFZua2M0R0pIeHZlQmR5Y1hhU0EzR2ovSm1iNjJIUzAzcWk3Nkl2ZmsvYWFJVW5oRElFZ0hQZ21ZcjhIRzlHWFkvU2haYThaSGZFUStNSTJyOU9QMlJKdHIzOS84ajQzdVBxMHpzZlI4ZDBQczJ3a0hxTG9TcEJLWUcwbzgvQW9Mb2hoQ1lGUUw4SXpiRHZlSEV1dFRrSU5xTm5nSlllL25WNGQ4N0RuaEtmYm54ZlhOc3R6a3l2cWV0TnozUFhhZ2FmdWo1Nkw5TnI2N3hPeFhhTjUwTHF4bTIwc1drV0lSQVFSRGdQVi9icGJkb1NiZjg3RFJUVElodFM1SzY2WnRRYjNyZVV3R3UweUZvVjduSmdyRVBEbm1udWoyVSs0RlN4YVpJaEVBQkVJQ0ZhMnp6R2tmRng5VkF2SmxpNFV0YnhBRmJqK0trRmhZRzAvUFBDditxbkFiUTRSWi9sTE5lSEtPanZkTzQyaXFyYVdKVEhFS2dBQWowd1FiYnBiZFZPU0ozbWlucWoyMWhGYnNnYlhrcFVFR1Avb3FJMXRCT0xXanBVL2l5bGI1TjcrcGtJeWE5QWhTVEVMQkZvQXZPeXlZeXBTeDA3V1d0NGZwejRZa0U5VVg2NnlucUM1a1FUUDc3d2gweW9PZFBQcGZOSVFFdVRjOExuT2xTV2dUUUZVNC9qUFp6RGNKZEZ2bDNVL1NnRDRVTjRGZzExY25CUk9PK0oySU5EZWpYbW0vekhtQmlQYm5Za1JnMFBUOENDWG1VRGdFWG5KZU1UYWw4VjArSnA3RUhydnVjQjUxNktSVndIS2h3SUNOM05QL2gxWkFXeXVxd2FVK0dUM0pGbDRhbTU1TUFSbUdMaHdDWVpySDZ6YytQWG9JT2FjbDN4aTM3ZmZzTEtZWUZDcytxWWF3L0RBem9xMUtqcXUzc0JFK01wdWNWNU9Rb0t3TGVaMXBsdHpoZEptQXpseVp4ckh3VjYyc1NpTHJvTjUzaUUvQUpJaHBCVzdJMWh4OTRhU3lQZGVWTlM5b2NqR2lKblRROW54Z3lpbEEwQlBpU25IRXJYbVBvQ3g3SS9pNjZ2c25iK1NXZmxTNy9BbjNLSDhid2VpRU9PaHRHTjk0VnhyMkxjZ2xCeWlUOGFPaERIRmtKb01pRXdLd1I0Qit1c2pSdXRabS9XUlZaUVEyU29nZGQ0M0hPc3ZlbXh3TEg0Qmx6RDY0NVd1bTh4eGZiOXpiK3BVL0NqNG04OW14bFVIeENZS1lJcklQeVJxdVlSaGRRN0VqRVF3MGl1L2tKSkRXNC9hMlR2cG12L090anhwNzd2NktiVVBrTXN2VGtQNVhwOTMyRlZsZ21INnlBZlZBS3Bpc2hVRTRFR3B3Z1ZxcGpESy9hUHRRZ3p4bkNLdi96NWV5eEZ4Z2U0YzZMbURqNE12T24xSUloM3ZTaTF2V1BCYjFHNzd4OWMxQ0MxYjFuTmU3VUt3WlcyUy9EZTdHVytGTzF3WVJXTHJYdXJ6czR1aTlnci9qYUM5M0JtM3ZCa0hSSENCUWJnUzdvWWRJMHViYm96NnNWYmcxelhPMnMxUmk3eXRnN0o4cnNEaTZGS1ZINWNmUkJKc2MveDI1Y2ZlQ0JxemNHUFMraDV1RDZ1eDk4cEtWR0N2ZXdrNWUrakExdVR0UmlYSUFuV3V3NlR2K0NxY0FFNjdQUXoyV253QmFZUmdBQURsMUpSRUZVOVhFeDZSa2hVREFFMEZtVmUrSlNhb1lWT2FxajBOWHRLNlJ0c2xjZU9FdWZubndReHRJbkJtOGZOZUJWT3V6Mi8zYVdqc1ZIYmxLcTV6aWZlVm5yc1ovcXBZN09JOEplOE4rZFJmZTl4b3BEK0o1aHQvK0w0L3dyTjhWd3hrb2Jpa3dJMkNEZ2d2T0crU3VGcUw3UnRxTUcwY0srekh6ejJiSFpOQ1pJWUpPZDlCQzg0ajZUSUZJdVFYRnNQcy9Ld2dtbUFXK3BGQ3JOMHg2L3Vhak1HZW9ST1FpQjRpSUF5bHN1dlRWNTNqU1h3elJQL0xaN1ZTK1JTNExEbDZWcHNHKzl2VDlKc21GaDd4VW5ETGlmTnRjc0xrc1RSRmZYYzJHeHlZOFFLQklDM3BLY1hTdU5XbnFxemtFRnNpV0ZuVlViMXB0SDBpL0JkYkVscDl6UFdxNGZTSkJvZUZDQXRPczkyVWIramxTWXFwejlXMDdaa1ZHU3lFRUlKRUxnNjYrUCtxbjVxbWg1R0tpYWs5blJBU09mOEZwalF6emxKdnliTXVTMnBNZGRxZGJ6ZzE5N3ZxaUwwaUVsVC92YVoySWVFYXVQMUJTRnN5ak5lV2RhQVZ2K3RMV2o5TzQ0QkNwb1o2TitSeFBSOEpia0NHNU5EQndhZ0Mva3UvL3YrTDhYd2QyVG9acWlTNDhrZHFWZi9DdXFEMmthVzVreDU2R0srQjRXcnlGVkZzUTJBY2VwMlo4dHBvU1NneENZaklEWE80OGcvZVdKMFdGMHQxeDZxMmJIaFE0eXlUVzUxQWNOOXBiMGpIKzlUOWNVRjFrOWZyd2NRdW8xOW1DL2J0TDdZdXN2WG9DYXQ4Z2hkUkpKQ0l3Z2NIY0U0VEYzWEI4SlBPeHh5Q01QZXlhNlh3OG1yK3h0RnlROU5vMytmbnpKNkwzMFJPZ0ZPd1hqcHhrUkVrZmpIUGlQQXRQekhURmtRVWZIMk5JVElZTzhDWUdpSUlCRzJMSm4yamVXcVVDYTdKQTc1NlRjdG16d2srUVpSRktOWjBPNWtraklMQ3phY1prcE9QVzhvU3VHTEppenY1SlpZaVNJRU1nYmdXTndQc1d1R0VPdHJzRUROT2x5aDUyekxzY01aMjU4MGdnZTA5a3dKRFUxejJMR3pqUVloajh5VTZpSmJpblp5dnV1OTR0dWdIcEVEa0tndUFqVW1HM1B0R3J3d0RXYVBIQitOMzIrb1plTS9VV3hHVGE5TUx1WXFCWXZDd213WFVpbmczbEpOWTZ4UzRCaUV3TFRSS0FGenRzMW8rRDVydEFZdzEwNVArYzRhQjRIMzAyYkZUN3BkK1JIWHB6MVRCZ2cyaFA1UUQwbXRJSUgvRDlFRGJ4QWhpNmxRWUN6MU9pdXB0RWJBalpFUEJ5WW81ZlBlUGI4TjlmVGlQUStSaU5tK3A1d2xmaDBvbXhqOFV4SkdkdmFzT2pnV0crMDlNK1hqK2hLQ0pRREFXK2liOWRHVjV4UW82YlNjTXEwN3U1NnEzMFlTN2ZURkEwcUpGVysvbk9mWU95bmJkU3pqNHVaT3BXcFRVMS94emxHenZIc0JmWkprQVJDWUhvSWVNVGN0MG1QMXhxeWg0dnV2SjYxa211RlR1b3B4S05CRmIvYmY1MGllcFpSK3NhOFJGUE9QL0lFOFBFZTc4ZTM1OU9QRUNnTEFtaVpVODJlNi94aHBtb2c3MEFQWTdlSjVHMmF4ZWdkTEM2NGV2VXRMLzY5L3lSbHoreDZyT3p6M0d3blorMmdqdGRINHZnZHpVdzNTcGdRU0l3QVgwQ3UxcjRranMwallMaXJscWFCcWZ0YUNEYkorRDg1M05lUEpycWF0bGFHaVNuRURnQlZyb25BWUxsWWhPdDUzQ3Z5WjlRRHNhVlNRRUpnUmdnYzhtSnJsVFpHQjZyTWcrU3ltODlsWGhTa04za1NNeTNFM0kwWk5PZGczTXE1SmRJSVRNL0Q3OXNjUGZ6cTRqbGRDSUhpSTdDTkVtdDNBcWF4OGhUTllIQjV6d29zY09rU1FLejlZcURIZS9BM2hTcVlpdGdOYVBXZlhUdzExaVFFSHRJTklWQkVCSTVSWW9NOFRhb2xPQy9iY1JnSDVJSTFLZVV2N3VLY3FNdmJ1RmZldUVxaXhZMlRVemcrVmRjVHNnLzF0S1R3cWJ5VzkyVWtBRG1wUUdJSmdTRUUxcUsyejc5Kzh2NzVLa3FzTnJVUENZNTFpNzY5SkRvb3NUVVM1M1ZJWVgvRWQ0SUhud0RzVFFnenBjZDhaa01taFY1UlhicmxkYkZtVzJ0S1NYUWxCR0lpSU9mRVVEWkhma2VUWkxpSThzeWtRR09mZ3hPM1JJQk5ZMFdPam9PdXhHVjlGOC9GT1I4dlpPNmhjQUplK1BTOFRCa0FLQ09tOUtNcklaQW5BbXJLQ0R3Wi9rMGtHNDhnS1p0T1NjelZTUUhtTitPY1A1ZmkwT1BmbGU2NFYvVHQxUVJnM0RnNWhZUDZhdkRUOU9pLytQZDVVbXM5bVdCVlZ3clNpNjZFUUs0STNEM01kSFYvV3ArUU1GL1dicmtSRkNJRTU5SGdYVlBwZGRWbll4QmdZdFdqb2ttSHJXVlJ5ckcvb3AyWEN3eFFFL0VwaW1YZU1WcGxnNTRRM3FkMlhpQkJseElnd0ExVXlVZmJnWXlCQ0lMeldJVlhsNC9BZjlVakhqRjh5VUJqcnE2T1BpYlVOQjRaOHhMbzBuQnIzU0hQTDBZc3V5TDVkVDFaS1h6b1FnZ1VGZ0UwWXRZRzhwYmsvTEh1QkRzTnlKVzVOcW9DNlRYeDJnbk1JQzdOY0hrcmFpOXBsaGVIMjdmUmJlRUdCMUhWNGFBQUdXQml0aWdBSVRCckJMeTliejA3TFdyc1dVOEFHdndQS2tsZDNUbGZTak0wUjN3bHkzRytJbnZYaHQrMG5CaWFTQ01uT2pLN1NMWjY1SzArVkdPaWhqR2ttWlpXbEE0aGtCS0JkVFJYSnJuU2lEa1djM1V3ZHRWVi9JNGVCYStvOGJCNk90bHhhSzdvcTdoWEpzZklMWVQrU2c4eXRZOWtXanVPd3p0SVJ5TEp0bklKRDdvUUFzVkZvSUdpcThiZEtkVnNpSGF3YjNLN3FvZTd5MGJ6SHpzSmNLcXVBbjk1QUpiTjdGZVZDeGk0OGVNSVcydjRqQUlxT0lWYmMzQXdNK1VvWVVJZ0lRSnRGR08xV2o1aFhCbDgyZWNFbGdsc1NTLytkY3BmbFRkdGRjcU05SWx4eFhoNVN3WmJjeCtWemxsYysvSXdUZzdXVGRDZEEzYUduUjRKWlZiWUQyZWhGcVZKQ0tSQ1lCUEYyTGJFcnZoVFZRdUJHYXUrWEpzSGE1ZWEzazZpNHJHd0VpQk9WM3oyTGtuMERNUEM1dUZKVzJUL3h6c2s2NUJuYlUyZkI5U3duUGpJVUZVU1JRaE1SQUJkY00ydGlhRWpBalE5VG5SMHc0eHdDNHFubjA5SGlXWFp1am8vazA1QWhMTEp2ZEhsMk9PeHVzL0JuSWQyZnZNeXY2dTlqZi9qdDlaS1ZhZjVrZW1mRUpnMkFpNDRmODAyMFQ0ZjVWNElqaEVxN2p0OXNWOE4rc2RPcTlJVXgrRDlodmlnZGV5WW1RZHNld2FKcytCN0RmV2FhT0cvSXRZN1ZUb3pQcTR2OCt5U3dQbEdBSlJQc1VodUNKTkZET2dYM1lIWEdLcEhYMlJ2NytGQXV3K3pFMXpTL0JiWVNkMXgvdC9kN04rbmlaMWxuQlVHZnIraGhVcnNLNWlKLytoem51eEs3ZVE3Y1B4bGxmMUtsbW1STEVJZ1h3VFFXZFZUVHVtVHVvZGRaK3lUUS9GL2s3SHJqMkQ3U2JBcUdBbzA3dllqRU5CaTdDZkdoWm5PczE5Z3pQVW1KU28xZGtOT3pLMDAyZUFxOUh2bGRIU2dWQWlCVEJEd2x0N1c3VVY5eW4zNEQwZWt2T2xTYS9DVzN4bnhqdS94bVFmWnUvOUJMMzc0L0VMKzJVT0RWeDl3OFlzZlAvMTdNcG1sYnozQ0hudFY2aXBOaXFFcklUQk5CTHlsdDlOTWtOSWlCQWlCbVNMQVB6NXZkekxXVE5XbnhBa0JRaUFoQWxoQW5tNzJQR0U2Rkp3UUlBU0tnY0FoT1A5ME1WUWhMUWdCUW1BS0NHeUQ4M0xUMkJTU295UUlBVUpneGdnY2cvTzNacXdESlU4SUVBTFRRNkFLenU5T0x6bEtpUkFnQkdhTWdBdk9iOHhZQjBxZUVDQUVwb2NBS0c5c1U1OWV1cFFTSVVBSXpBUUJmcWhiNEFOek05R0NFaVVFQ0lGcElZQnpYR2xKenJUQXBuUUlnUUlnZ0dPY2FVbE9BZDREcVVBSVRBc0J2dlRXOXBTY2FlbEs2UkFDaElBOUFuenByVHJEeWw0Y1NTQUVDSUdDSTdBT3psOHJ1STZrSGlGQUNHU0hRQitjMzhwT0hFa2lCQWlCZ2lQUUJlZHZGbHhIVW84UUlBU3lRNkFEenZleUUwZVNDQUZDb09BSU5NSDVncXRJNmhFQ2hFQ0dDTFJ3UkdXRzRrZ1VJVUFJRkJzQmZFaldPODIxMkZxU2RvUUFJWkFWQW92Z1BIMDVQU3MwU1E0aFVId0VMb0x6ZEdKRzhkOFRhVWdJWklVQXZxZE1KMlprQlNiSklRUktnTUE1Y0o1T3pDakJpeUlWQ1lHTUVGZ0g1L2N5a2tWaUNBRkNvUGdJTk1ENWcrS3JTUm9TQW9SQVJnaTA2Y1NNakpBa01ZUkFPUkRZcEJNenl2R2lTRXRDSUNNRXNQU1dUc3pJQ0VzU1F3aVVBUUVNNTU4dGc1NmtJeUZBQ0dTQ0FELzFkamNUU1NTRUVDQUV5b0RBS2poUDAvTmxlRk9rSXlHUURRSVh3UGw2TnFKSUNpRkFDSlFBZ1dWd3ZnUnFrb3FFQUNHUUVRSllobmRpaVByYXBkYkRIelB1eVVrSUVBSnpoa0Nmc2UvcExIMlZEZTV2c2c5cEQzSVJBb1RBbkNIUU5YZlBMN1pPc1BUK0kreGRjNVpKeWc0aFFBZ29CRHJtN3ZsdDM0UmZwVE14RlQ3a0lBVG1EUUdYc2NzeVQwdml1M1ZuMmFQU2k2NkVBQ0V3WndqQWJIOGtzN1RNUHVnNUt3R3pubnhLVjBLQUVKZ0RCTmJBK1o3TWgramFPODRtVGRsTFRPaEtDTXdaQXZ3MFBKV2xKdHZ4M1gxYWpxdEFJUWNoTUY4STREUThkYmc5VHNBVm1WdW5rM0RuNnpWVGJnZ0JoUUJPdzN0YTNseFF3L2hsWWN5VFQraEtDQkFDODRMQW9iR1Q5aHg3VW1UckxEdWRsd3hTUGdnQlFpQ0F3TGF4azdhaFZ1Umg0NDBZMlFjQzB3MGhRQWlVSG9GTlk2cXVyYjVoQmNzZTF1UFJqeEFnQk9ZUEFkZG8wVGZWMEI2Y1A1cS92RktPQ0FGQ3dNRUhLdlhJdmFvNGo0TTB0Z2dkUW9BUW1FTUVWc3hEYjV2cU1FeHdmbmNPYzB0WklnUUlBUmpybmxFb3VDYm5yeWh2Y2hBQ2hNRDhJSENlTVUxdXpYazAvOXA3Zm5KTE9TRUVDQUdjbUhGVG9kQlNxKy9BK1d2S214eUVBQ0V3UHdoZzkveUJ5bzArUFlNNHIwQWhCeUV3WHdpMDFOSTc1SXM0UDE4dmwzSkRDSXdpZ0YwMTM5ZStMV1hEbzNaZW8wSXVRbUNlRUlEWjNyRFZCVGh2K005VGppa3ZoTUNkaWNEYXBWZDdHWWZaZms4am9PMzJORCt2VVNFWElUQVBDTFRGT3J1MjJqM0xjMFZyY3ViaDNWSWVDSUV3QkpnWXh6Zk40YnhUbzdXM1lXQ1JIeUZRZmdUNElYajhReFl3NGUwYXVRbnNzZGt3SHBDVEVDQUV5bzBBelBMZVFUajRWbDNQeUVsWDdaOC9FeGpuRzBISVNRZ1FBbVZFZ0xmei9FU3N0aUs1bDR1K09oR0x6c3dvNDJzbG5RbUJhQVJhM2h4ZHBSWG8yanZuMVhHWUMyd1FIWm1lRUFLRVFPa1FPR2EzRHh4bmdaM2lYLy8wS1hqblZZdXZuNUtMRUNBRXlvdkE4cUFINVd0RG42akNNRjlraWM2Nkx1KzdKYzBKZ1RBRUtzMm5kcHpQc1pOQU0rODRydng4emJhNVBDOU1BUGtSQW9SQXVSQ0FZZjRSTnJnNXBIU1g3ZnMrVlhONTNsQWd1aVVFQ0lFeUl2REVLOWc3OW9ZVlA4ZWU5YnlXakVQeWhzUFFQU0ZBQ013UEFtdkNjTDlzSEpnMVA3bWpuQkFDaE1BSUFtMy91RnZxMm84Z1F4NkV3SHdpc05JNlJZZi8wK3g5ODVrOXloVWhRQWdNSS9BRk5yai9JZmJra0QxL09CVGRFd0tFd053ZzhNU2wxdldYRU9YbjVuMFdMQ1AvSDVGVjlnMXBYN3AxQUFBQUFFbEZUa1N1UW1DQyIKfQo="/>
    </extobj>
    <extobj name="334E55B0-647D-440b-865C-3EC943EB4CBC-33">
      <extobjdata type="334E55B0-647D-440b-865C-3EC943EB4CBC" data="ewoJIkltZ1NldHRpbmdKc29uIiA6ICJ7XCJkcGlcIjpcIjYwMFwiLFwiZm9ybWF0XCI6XCJQTkdcIixcInRyYW5zcGFyZW50XCI6dHJ1ZSxcImF1dG9cIjpmYWxzZX0iLAoJIkxhdGV4IiA6ICJYRnNnWEdKbFoybHVlMkZzYVdkdVpXUjlDa1ZiYzE5QlhHMWhkR2hpWm5zeGZTaGNiV0YwYUhKdGUyTm9iMjl6WlZ3Z1FYMHBYUW9tUFZ4cGJuUmZNRjVjYVc1bWRIa0tjeUJtS0hNcFVDaGNiV0YwYUhKdGUyTm9iMjl6WlZ3Z1FYMWNiV2xrSUhOZlFUMXpLVndzWkhOY1hBb21QVnhwYm5SZk1GNWNhVzVtZEhrS2MxeHNaV1owS0Z4MGFHVjBZU0J6WG5zdFhIUm9aWFJoTFRGOVpWNTdMWE5lZXkxY2RHaGxkR0Y5ZlZ4eWFXZG9kQ2tLWlY1N0xWeG1jbUZqZTJKZlFsNWNkR2hsZEdGOWUySmZRVjVjZEdobGRHRjljMTU3TFZ4MGFHVjBZWDE5WEN4a2MxeGNDaVk5WEdsdWRGOHdYbHhwYm1aMGVRcGNkR2hsZEdFZ2MxNTdMVngwYUdWMFlYMEtYR1Y0Y0Z4c1pXWjBXeTFjYkdWbWRDZ3hLMXhtY21GamUySmZRbDVjZEdobGRHRjllMkpmUVY1Y2RHaGxkR0Y5WEhKcFoyaDBLUXB6WG5zdFhIUm9aWFJoZlZ4eWFXZG9kRjFrYzF4Y0NpWTlYR2x1ZEY4d1hseHBibVowZVFwY2RHaGxkR0VnYzE1N0xWeDBhR1YwWVgxbFhuc3RTM05lZXkxY2RHaGxkR0Y5ZlZ3c1pITUtYR1Z1Wkh0aGJHbG5ibVZrZlNCY1hRPT0iLAoJIkxhdGV4SW1nQmFzZTY0IiA6ICJpVkJPUncwS0dnb0FBQUFOU1VoRVVnQUFCK1VBQUFPQkJBTUFBQURWVVc5M0FBQUFNRkJNVkVYLy8vOEFBQUFBQUFBQUFBQUFBQUFBQUFBQUFBQUFBQUFBQUFBQUFBQUFBQUFBQUFBQUFBQUFBQUFBQUFBQUFBQXYzYUI3QUFBQUQzUlNUbE1BaWF1N1JDTE4zZTlVbVdZeUVIWjJiVWZvQUFBQUNYQklXWE1BQUE3RUFBQU94QUdWS3c0YkFBQWdBRWxFUVZSNEFleTllNVJzV1ZrbmVQSVJlVzgrNG1iNmFLekZ3bzRjVUF2YjBiallRcUcwSFVrRHE5QzF4a2ltRldxcGJTYjRxQnBIaWRzVVVDVURSdHBLVlFsaTVKUnJHcVhWdVBaSU02SjAzZ2FYc0p4eElrWWRrT21laVZTc3F0dThNc0hsYW1hV3JyelVoWnZCclNyMi9QWStaKyt6OXpuN25EaHhIdkg4emg4UisvbDkzLzd0L2UzSHQvZlp4M0hvbVE0RWZ1allsUE94Z04rTUpSOGhRQWhNTndLUHRoaDd3YTVmQnU1L0NXbTlEd2k1Q0lIWlF1QnV4cDliaDE2cHlsOFEvbmZPVmlHcE5JUUFJU0FSV0JNcURxWDNSdnBmWitkZnYvdllIN0hMTWdIOUV3S0V3RXdoVUdQZnVsdjZFQlQvaTZKWVMreG1senMrZG90bTl3SVEraUVFWmdDQjFSZjN2MDBXWTQyOWtEcy9DcVhmeG4rcDJkL0JINTRhRGZRdUVQUkxDRXc5QXFVR2F6RzVYbTkvMVMzUEdXUG5HTm52WWQvcmxXL0ppNWo2NGxJQkNJRzVSK0FlOWliblQ4V29EaWlhV3k0ZXF4am9yemlsMW0wSlQ3a2xYZlJQQ0JBQ1U0MUFxY1YySGFmK3BDakUrazFabGpaak41MExzaXRBYU9kVVJ0RS9JVUFJVERNQ0t3eXo5bGN6ZHNnTHNmSmxXUlErMEc5WFZSZmdPQmV2eUNqNkp3UUlnV2xHNEl3ZE9HVW8rRDR2eE1sbFZSUU05TGZZdTVUWFdWUGRnUjlHTGtLQUVKZzZCRXFNblRwOFUvNEdGNzErVFJYZ0VzTFlqdkk2eTAvNWJuSVJBb1RBMUNLd3lOaXhzd0wxRnNONHArc1g1SWd4ZDVIdkJwWEljTzlqUXk1Q1lIb1I2TUZVNXl6SmNmNXMxeThKRDlTOGpqTGgrMG5JUlFnUUFsT0hRSTE5eFhINFBQNEtGMTNYK1hLVDZldjVzbnN3YitvS1NBSVRBb1NBamdDVzh6ZmdoM3AzZWJBK3QzY3d1Yi9GQTkySDV2WVNDZm9uQktZWkFWanZMa1AraFh1L1daUkNzK0U1ZkxkTzI1OWZ4M3lBSGtLQUVKaDJCRFladTZhVllaTjNBTjV6bldHZzl4ZnhTOC9JQ1BvbkJBaUI2VVdndzgzMi9xTXJkdVAyT2diNkxSbloyNWN1K2ljRUNJSHBSYURCem5YaFYzMUQzUkpPNlZUa0s3VkkwempVRTVLYkVDQUVwaElCSE1EelorKzhCTTJ1TEVjTjc5Vmg4NTVkZFFQV2pMNUJKcUovUW9BUW1DNEVNSHYva2lGeC9XMmU5eldNdTdDaXYrbk8vWS9NZEVZbThoQUNoTUMwSUlCek42WnBidUY4VjhpKzd1bzYzN2dYcjliZjdTL3NwNlZzSkNjaFFBaUVFWURaL29vWmVpU08ySzQyUFIxL0paVCtIYi81OFc4SUxBSE1QT1FqQkFpQmFVR2dyZGJyVXVJRmR2c1BQLzU1eHQ3cUJWU2c5UHc1bFFub254QWdCS1lZZ2FyMzNyeFdCSDRWSG1NL0owTktkd2kvdUNWUGh0RS9JVUFJVENzQzBHZlhSS2NWNEZYMzl1Ly9XODMvMG52Wm0zVy9Ga1ZPUW9BUW1DNEVsbkhUNVhSSlROSVNBb1JBRmdSdzJsNS9SVDRMS2NwTENCQUNVNERBUmNibzlwc3BxQ2NTa1JESUM0R2VkejFPWHZTSURpRkFDRXcyQW1jTUYyRFNRd2dRQW5PRFFNMTllMzV1eWtzRkpRVG1IUUZzMVczTk93WlVma0pnamhEQVZwMzdLWXM1S2pNVmxSQ1lad1FXYkVkeTVoa1FLanNoTU9NSTRGcjcvb3dYa1lwSENCQUNHZ0o0cTA3N0lKMFdRVTVDZ0JDWVNRVHFqSCtma2g1Q2dCQ1lGd1Fxd1Z0eTVxWGdWRTVDWUU0UmFBUnZ5WmxUSEtqWWhNQzhJQUN6L2NHOGxKWEtTUWdRQWc3Zm5yOU1PQkFDaE1EY0lNQzM1K2tZM3R4VU54V1VFQkJmblQ4a0hBZ0JRbUJ1RU1EMnZQR0IrYmtwT0JXVUVKaFRCSHJRK1RrdE9oV2JFSmhMQk02TTc4dlBKUVJVYUVKZ3JoQ29CVDlXTjFlbHA4SVNBdk9IQUtiMmRCdmUvRlU3bFhoK0VkaUF6ajg5djhXbmtoTUNjNGNBLy83a2pia3JOUldZRUpoZkJQQk4ydUFIS3VjWERDbzVJVEFIQ09CeWU3WTlCK1drSWhJQ2hJQ0x3QjUwL3BUQUlBVEdqY0JmdjV3LzQ1Wmlndmd2RndaSUJ6cFBSMjhucUtyblZSUitOcXlZRTZIdjNwa09URXZ2Tk9UY0t3eVFha0ZBRytJSFBaRzFjTSsxWU5MRS9raWFpU21NSmVFZFY4ZkMxczQwME9yc2lRb0tMVXpuMS9xN0JZbWNOOW5tWloxaWNUcmZnczdybkViaGpxNkZDNmx2NW91bU9Zb1NwZWN4V1pzbVpxdExYNm9VT1F2VCtlcGtia1YvOHIwaGtKNjRkYXlGRmFiekphajhMWTNSU0p6UnRWQnUvbXhLQ2FKcHBpU1lUelpMelJxRXkrd1p3ejltajlucVJpcE1qK2tOUGovV1Myd25QMkk1VXFxR2g3ZFM2MjBCQm50RnZQNjJEcDIvSFdCVXREZXVGdTQ1VDFmemNUU0xMazhjZlV2TkdzbEw3TXVHZjh5ZWNLc2JtVUJGNlh3ajRwUnA2YzkvKzluZjh1RFZrWlV2d0toc3MxMzBncTIvRUozSHQrZUxQWHBiL2xEei9yODN5eHRWQ3p6VkJndDJkV2JlS0Y4VXpVbXNXYjBNRTZielRxalY2Y0s2N2s5LzMrZWVkMStxY2VKci83SHQrVTZYYkVFNnZ4aDFJVXdiTForeHErSHlqU1lFZysxV2lOTXEyemZEQ3RINUN5aDNvZXVkTTNiZU1rc1hXUXVpdUczTFNtT0pHeDM4cC8vbTN3dE9CaUpwdGtXMnF5YVNvL05aYTFablAyazZIMnAxdXJEQ3pVY0p4cDRNaFE4TzRMZXcyWjRka2JVZ25hK0VwOUN1cEcwaHlsWFhNL3BmZkVubVNwaHJKWUJySVRxL2laTGZDUFBPTFdRSnM0anlSNHlTUk5hQ1lMcGdPU0YwSXFwSC96bS9aa29ZU2JNdGNsMDFVNC9PWjY5WmpmK2s2YndUYkhXYXJLNlRIK0pLTnpjc3ZlaEJrWmYxSDNBZnJ5dmZFWVNMMGZubFNIdkpxOTdmZ0RSWDNVS04vdmZFT3RaZUNKeVZLVVRuNnlpM3BiL0pEWU1hNnpxckRkMk1FbDBMTHRObStBTWI2ODkrM290NWE3bjVmdjc4Mi92ZzdCdEtIMDF6SW10V1EzZmlkRDdZNmpSWlhlZnk1NzRXdXByV0NzSGIyNWNVemRKN1FNb3pVMlhYK1M5WWh2VHJ6R2dvaWpOM2xHdGoxUGt6eHI1b1NDTThwY0NrdXhDZEIydkx3Qm9XSm1YSUdwOEVWZ3dXY2JYQXVleWhsN0E4UjlEell5LzhSeHJRZituaFlYRTBKN0JtdGVKTm5NNEhXNTBtcTNKaXFEOVFudUVjL1BXT0xTM0xla3R1RldmVytidVpQclI0UEJxV3BhSml2emRHblVjVHRuMGw4dXhjU2NjZGhlaDhEWFZ3YXJESjFkTmpYd2xlcGgxYkMyQit5VDd2T05PL3NMV0tscUxiK21KcFRtRE4raGhQbk00N2dWYm5pK3E3b1BQYnZtOG9GMThaZFBVYzk4aW1uMVhuWHdiS2h6cGw3bDZQblpCc2prL24rUjY1Q1lRcitrV2pSeXhHNTZFOGx0NHhDRjFxZndQTEtiTnJqNjhGenFobG1mTTRUdFdZVDk3RG1MYXRFVTl6QW12V3gzUHlkRDdRNm54UmZkY0ppNWt4Kzhsc0xtUTFqNEF0eStNaDJYUisrWDBnSE5iNWs5Z0YreGhiQm4rRjNTYmJ1am01TDJLY0Y5M05ycTF5Y2duRGhSeFhITDQxc0tQSXhkY0NUOWF4OVg4T09xY0RSY1JaTlJDTHB6bUJOZXNYWlBKMFB0RHFmRkY5VjF1dXdmMmdwQzVrRGF5Nkc1NkJONFBPbHovK0xMUUhQS0Z4dmhwNzBBZVRqcXRKQmM4NUhWY0t2VUVyOGsxak1WS0V6blBkTWZ0ZHhUd1B4eUlIRlQrYTNUNitGampUQzhGTlNoN0lPNmR0N3ZDZWhtNzJqS2M1aVRVcmk0RnlwYldHS1JKNU84eFdaNk4rSk9manRzajRzQ045aVNhU1ZtNjdPVkxyL0lNWURyd25xUE1iekNOdUYycU1MV1B2SENMN3hreGZ2cmJSY1JXaDgvd2pOa2JINGpQUHc0VWg5dEFwTjdYZWRFQXRjS2Fyc0FHRUhteDBHL1BKTTYwakdVQnpFbXRXbFc4Q2RkNXNkVXBTemRIVU8zRXRQSUd6cWZmVkluM2QyNmRKcmZOb0dmSUo2dndTbHBZeHp4aGJSdVZMa05uV0lWMHdSdjhpZEI3N3gxYk9NVUFORTFVWGs4RGwzL0x6REtnRmtiQnBNV2hpc21BY1BXN0RMNmtPb0RtSk5TdEZuOFJ4M214MVNsTGZnV09qVC9tK29WeklHandPMHZONitHdzYvNVlhS0J0REpKZXJwNDAyRmpuSDJES2FWNnAydy8wbDV2V0JRdDRpZEI0RGNlcjZzNEFZREtyNGl1bEZEYWdGa2VyTXNwT0E2akY2Z2g0RTMwbEdjeEpyMXBPY3Ixa21ibTV2dGpvbHFlL0FnakN0MEh3dGVkbW54RjE3M2pIUTlEcmZmL04zL0phRHBoYlcrWnJWTktUNGo2OWxiTEF0akllcUJTdUpjR2pBYU9kRjZEeFhuUUtQM2phQ0JodG5RQzJJd3A4WTB4c1hqNzJBN1ljamRzMkRhZ0ROU2F4WlZja1RxUE5tcTFPUytnNmN2ajN3ZlVPNStNSGRVelBIbmpmOVRxM3pMcmtLS0FmSCtUSXpkN3ROeG80enZwYXh3SGJCM0xCUVNlR3FlaW1LMFBrT0dIdVlTNTU1L29mT0dnMnFCY0Y4MGJLZ2g2RDZuTWRwUS9CVFY5UkJOQ2V5WmlYS0U2anoyQllOcm91bHRPNC9iTTdiWmtoaUh6ZFhkODNVdlJ1dXZ3Q2R2MlE3NnFaeEgxL0x1SGp1OE83UEs3b21rdVBVZFJOMkVUcGZCZU1EZzJXZUhoamJBK2E0UWJVZ3VLc3RXMDBXQ0dyTVI4NThuUjlFY3lKclZoWnRFblhlYUhWU1VPMy94SjlpYWFHSm5NaXF6REJlaHZZVjExR0F6bDhZc0FZWlg4dm9mVlVjVlF0b2h3QmlVeGU2Q0oxdm9nNHVKNnF0TklsZ2JBOHMvQWJWZ3N1RkdlWTZFZFlLZElxOHN6cDBVdytpT1pFMUsrR2NSSjAzV3AwVVZQdHZXK3BIaTQ1ekltdGdlOTdwN0xzWkN0RDVuajVrV3NRYVg4czRnbDZnU1d0NzJFcThKWDF5VW9ET2N6T3FlZGhQc2M3RGdlbExZUFl5cUJaY3JyV1FUSHg3M3VpYkFKanNHQWJSbk1pYWxmQk9vczRiclU0S3F2M250RDMvdjdva3o3YmQvd0owL2lqVWpyUlN3RG0rbHRIYWQ1d2pOR0ZUSHVGYjE0MFFCZWk4ZUtQWkd5NHQ3TE1HWVNkdzM2UXhxQmJjMUozUWtYdStQWCtxa2VKOWdMVFBES0k1a1RVcnl6S0pPbSswT2ltbzlwL1A5bnpacTcvS3FVdTZBSjIzR3NhMWdveXRaU3p6eHR4REc3Ym9IcHAyVjhsWWdNN3pJemx5dUZSODhuTnNzdUQrNktCYWNIbnZtV3QzQlBMdCthNG1HTzhEcEUxdkVNMkpyRmxabGtuVWVhUFZTVUg5ZjB3T0pmUitZREtYdmoxL3ladlkzdDExOCthdjh4alI0c1VhVzh0WTQwb0g3dWJjMVJPMnFZMXVCZWc4Zi8xbEFDN3hxTVhIb2llN1pxUVlXQXR1Nmd1aFJzWHR2VG9sZnBib2hoc3drT1prMXF4WG1rblVlVWR2ZFRycXJodDc3SVk1Tlp3aU1rVGZubDk1eWt5V3Y4NHZERHBpT3JhV2NaR2ZmZVVEcm0zUHJLcjFCQVhvUEFaaU5VVTJheUFYWDhjY25Ia3hFeDMwWFF3WmVrNEN0cDg5Q0w3bHlqaVE1bVRXckFmd1JPcTgzdXJDRFNGc3BRbW5pUWpSdCtmM0F1YmRvTTZYUDNnWGUrZzVFWVRDd1JXMGlNQlVlVVczaHJrNVB2VzhadituLzBUbTlsckc5OS9YdnovQXFQekJlL3MvSGdqRGVabHc2RXZ2YXAzLzlJNnovQTVKRTRudXMyUlYwY0pSNS8wZC95SjBvTjhUa1IwNW1zRlhnTTd2Z2EzTmRpaDREL0VUVVQ5SDV1RHNPSlphY0J4ZUQ2L3Q2dHd3YzllOWNMY0Q4MGxRbHN0NUM4MXBxRm12Z0hFNkg0RnFBSnFzWGdzWHZkWHA1Qjk5OE5ZMzhYZWd0SUdJSzBKeTNlVFRzNjVIc1hLZ2srYkwyMk05WUtQRzJBT012VkVQaTNOWFFEcWc4NXNzdUJmMmF6d1JZLy9FSStUcS9FZFl2OFhZeituRTF4dU1OUm43QlVNaUp4eGF2b1BkK2tkb3Z0ZmFhamRpdWNiNnVBTHM1M1Z5SVhkVmpPL2dvTEpwU1hyYU5Lb0FuZThBZ0xSck0wMUtXLzNjQWRMZXM2K1NobXZCY2Y0TTZ0dGs1enNxa2VnQnU1b1hUdWk0L2hJU1h4ZktZU0pNY3lwcTFpdGZqTTdiVURWUnljTm40NkszT3A5SCtRdXMzMlRmNjV3WTVsUmJmajlQd0lXc3NqY3ZzMjB6TXFEekZmYmR4MDdwdzNJMlo2YTErQ29nSGRENXVxWThJc2RIR1h2OS8vM1liemRRQ1BFSW5YOTFIK1A1dTVrdXpuS1QvZmZIemw5WFRkMndoTGJaSDRCUStRdm5hdjVhcXJFdjdqcWZhckczdWl6c3YyNm55VVUyZXhXUmVsTWIvUXZRZWFpU29VdDJDUWVHMnVxbkNkTGVjME1SQ05VQ24rN2YvQzNIK1pHbWNWRkcwQTZBRmFZMjRYSEVHYVpySHRVUXplbW9XVS82R0oyM29hcVF6TTFoNDZLM09wL1JHYnU5Njl4OWZ0ejJ4MnBFMnZMN2VRS3V1ait5TFFWTVBZRngvbkZQYWM2U0Rra1YzdGdPRFg0Vm84MklWdk1UUEVINXJMOHJFbktkTDdVK3dOME4vVld6cXN1ODdQMkx0UHpXRnFISFd1Z0MrMGszcnFwMHZzT2VQRWJZV2xBV2o0Yjd0K3FXZlE4U3kxYXN4Vi9RcHQ0RjZId1RYTVUwUTJNNXZOTmFQeS9GWlpXb1lkeForZSs3aW1Td0ZvQi80MXhFWDlLTWxRNVVmRnZsNFE0K3J1OXJJVzF0SlJTa0NiaW5vV2E5MGtUcnZCVlZEWU44bkZZdWVxdFRiRDdCUkUzVjlqRlFxRURIbXQrUERyZ3FhbHFKOGREVk81WENIT2NiM21lYzFtMGpvY3FqT1VBNnFHZTF3Slp2VFNwVHVmRXVrWlByL0QzdS9QOUU2OGdlbCttd3h0eFJMQ3loSGJtK1hKUTZqK3R2dGtTT285QzZRaEhpdTFDOFg4QksxMnpWWG9wRjFsZHBDOUI1anRPQllwRFdFVlUvc0tnL2JkSU0xZ0l2dC9leHFvN2U5MVFEVW5GN3I0dWxvQWZDZnBjZXBEa2xOZXNCRTYzelVhaWFpR2IxV2Jub3JVNHlXRzY1dmU2RnA1cjZLdFNhWCtZSi9UZThGbEgrajFXdFlidkpESjFmWks1V1lnQStEVkd4QmxUUUp2eEdJWkswRExzRFY3RnROK3VmdGx3akZ0ZjU1bzRJdzJid0ZUZlNLZmtqVHR1ZlpsdEN5LzRjdWVuWnBvOWtkd0ZtdXg2OThOK211NHpuOTJQcHJkNUxpRUZMWmNsZjU3bnVHT09uNGpXTUk3SitVS1liSnFGQUxTQ3kyajkyazZ6b2s3aWpRRWJBb1BXNG1FK3lYMUtFQXpTbnBXWTkrU04xUGhKVlZmQThISFl1ZXF1VFhPcmVVTWJiakY5Vjl2d3lUK2dmZWRVVHRCMGJPbCtYMDc0N1RMME5VVlFCRlU3NFVIbTVBeHF0KzZ2UzdNdEhFTkhxb1BQLzNpc0xpaVVOUkJka09yR2R0dU9Sc0lRdStLMjA0K284S0Y5eDA4TW92Ky9sRFArMVhYTTluNzM2VUtwa1VKdGQ2YkhxL0tmRmgrbHRQNitRK2FML2VVZWpqNS9SS2VOaUl1dEg2enU5L0lGYWNQQ2lnVmZvaFpadXdqeFRGZUJtaEtuWTcvdWN1NDE3UGdJMHA2Vm1QVVFpZFQ0UzFiaXFjTXAvYm1zS0lreTFJNTJBbll2ZTZyelVhTU52YzUxTmZmWm16Njl6ME4xaWpPRnRqai9CMW03b2ZNT2IwaS9GcVk1T21vOERBWjNIMGFKVExRa202dDZzazdlbVF4NERuWCsrcDZQUVB5bFFWV3Q4VFRYZnNJUnFsN2h0dWpxLzU0dFE4NmNJbWhDdXMrYU43cGoyV1BhdTBYSHN5Q3cyblMrM2VGSHR6Nm5NR1BrUFJIMGhJMU1OaW9pc0gyQzdiV1FPMUFMaVZ1VGtwbWFVdnUzUG1nU0JFdzJjOG9kaDZOOVJkQU0wcDZabXZRSkU2bndrcXFya05zZDFlMVBnb2JKSkc5bnNYUFJXNXlYdnFZWjRwcy9lN1BrTkZwcUhuMEw1SHY1VmtoZWgyWG9LcUtKNzJzcDlRdzYxOVdBVGNwTWZxMXpLVWVGbEZKb3NnOUREWEpOdS9PK3BMY1lUcER6bE1kQjVsVVdOSTJoQmwzbWtlRHF5V2RwQ1QveWhmTW5WM1lhVW0rOHV5OFcrcEtYK3k1SkJCL3gzVmJCMG9IdFZjdHQwM3VnNVFVRi9mTWtsdGVBL0w3T0ZhVEJadkQrNmZrN01qcGFQNm41cFhLSTlieTZFR0gydTF3dDBrbTNVeUErSjU4Ly91QUhMNEk0dlVvRG1ucW94Y0ova212VktFS1h6MGFpNkdZOTlCSFFYZENUcTBlZFJNa3NFRjczVmVVbWJxbjU2Q21HK3FlbzE3QWpkbEh5OGYyNjA2Z3AzT1doNU5mZm4xNlRKb0JKcU1UejdYd1QzM1JHR2xMNENDeDVRMHgzaGNIOXF5cnNwVTZMOUs4VnNTWlluT2hra1BSVFpiYUU5ZjI2L0lIUWVmYVhxV1pHenEzSFhuZXV5b3dGUll5cmlKc0lvdGlXVDIzVGVlVDZ5MlI5dExKUVVndjhuUEdjd2NGaC9kUDJnSWV3WTFBSzFnTGdqcjh2RENPQ3VjZHowZTRFVFZFZEdFZCt5cTFFTjBLd3BuZ0RkeFhZeWE5WXJRcFRPUjZNcU10cGFQWTlZYkJsSTZSN2I2WllJTG5xcmMrWEVDbDhhMVU2MGRocVIzODBUL3VWVjRvV3V5YkZPcGRMSCtRdHllTFdQbHA0SlRtWGxqZ292cTZ1ZlhqamFWTmR6NGcvOW1OUnZQcjBWVFFndFEyMFJOeVZMRVBKenFlV3BMYlRuYS9pNjBIbjBhV3IyQWlaWGZUcUdhMGt5NElKY01hS0VSNXZiV0hVK25HT0lrRHA0V2hZVVExQkEwdWo2T1FzZU9UQnJnYk5wZXRNajMvZ2htRytxVVVWNGtVdzlEMzNQYjdsaDNxOUpjNHBxMXBVL1N1ZWpVUlg1YkszZWdDV1pKNHFMMXVwY1FtZ3BXeDVKT0x1U2VsUitHUi80UjFZNTIxZ05EWEM2em0vSzZlZkNJeDhJMElCM3pkWm9LN3lGR0RxUGZrcG90a3NBMm52YkkxVnFlUU1NZEY2ZDlHcDZYUUlXOXBwS3dMSWh4aUpyNkluUGNGbk1VbEcrQTQ4SFAwMi9MOTJCL3hNNXBjVjRwZGtPVkNvdFovNDZmd2FlRWdqRmNWaEhkUDJFOW1QTVd1Q01WSm52ZU1leHhuaFR4OTNkbnIraFJldE9rK1lVMWF4YmlDaWRqMGFWNTdPMmVoMlZoTzRvTGxxcmN5bTFmUDJwYU9OZ1ZQNEk5c2dxNTc3TGZzZmhKUTdvL0g0RURRVDNXRDhjQ2RxK0NvcG90QVd0VFVGVU5aTmMvNTJ1U0FHZGYwWlNram9QUGRSVUFtT0k2QUdzb2NoK1czTDRiemlkSTIzWmcxRXNxc2wydnVJeDVZWjdOZEdRZ25DbDJKZWUvSFcrQnA0S0NNbG0ySCtBcVVRMDh4b2J1VHpLckFVZVluU3FQTUI5QWpvUC9FSlRRWm5VcERsRk5lc1dJRWJuOTJVUncvL1dWaDlPTmpBa3F1NkNWWXJoVGc3UU9MR21uRTVVL2dqR0RYL3V1eXJudHlxcHJ2UFFwdjdmcTVpZ28ya29zeGRiUVJzeHgzbXpaYlRWOE9LVEF4dWxsMUxuTWQvV1ZJSnJKVmRyYXlpR2NuYnJUM3h5L09hYnE5SUxPOVBUMGgzNGJ5aW1OWC9Cb2FYUkp2ejU2enhrakJSTWt5SGVHVjAvb1U3TXJBVk9GaEw4S3NjMDhHeXF0WmVJd0ZnZW1ncktIQ2JOOXZUVXJGdUFLSjJQUnBYbmE5cGF2VVJraVA4b0xscXJFOVNRVG81TjZLYmxXQzBNM3pHNkdSSUUxU2liK3lXLzQvQ1M2VHJQalgzc3RUc2hBaUtBcTFvM0ZGWGhXUTcxWU9pcDFyU09mTjRxRVlwMUlEMVM1emNOblVkcEJWRnJLTzhRR0h2RC95Wkp3QXppTjFQTUVOUzZRU1p3LzB0c1d3YTBrYU1yUGVxLzVVdVZ1ODRMbVdVbEtJN0RPaUxyQjZWV0RjVWxhdFlDRDJ1ZzBMZStQc1R5b2psNzR4dXEzVkFpTjhDa09VVTE2NG9mcGZPUnFQSnM5bGJ2RWh6cU40cUwxdW9Fdlk2dk1NYjRGWlhmTGdTeXFpbmhvcHpUL284eXJhN3o0dUFJdEw0ckkvWC9Ic2dZeWkwaUt3ZzFneUdjbHEycDZiY01oczVma2U2bTErVHFacXR0dWFZTmUyaUg4MFFEZm81TGhDL1BsV0JRcmtEcmw1d3VzUmQ4amZjY0ljZVdERmYvR3ZxNTZ6eXZBMVVKaXVPd2pzajZBUVR5YUpOSDA2d0ZIbmpHUlZDZ0tkWUJuVDlCR2hVWGNKZzBtOU5UczI0NW9uUStFbFdlclFjOFZPTUs0REdVTjRxTDF1b0VQY0M2N3hGR2YzTkQ4WWpLcnhJWUR0NVZ5Ulord1JzRXk2cGlkWjJYeDA1dTdSZ0VYRStqNHBQeG94RVlBTVZzR1lpOTRxZDJYVGFkNzVqamM5TXR1VDNVSzc1OEVaZDc3Ly9IM3ZNaWM3NmdzZVlqbVBZY2FGR3VzK2tqbkx2T0M1R3ZobGdPR1JCWlA1aVIrNjFERURWcmdRZkpNeVRpclJpZk1XRHhQZUx0K2RCVVVNYWJOSUhsdE5Tc1c0QW9uWTlFbFdlenQzcUp5QkQvVVZ5MFZzZXBZY2FtSnEzQSs3TGlFSlZmSlRBY3lLbzJiemNQM0tnRmFjTTIzNnZEdUNvZWZ4bWhLRjI2dFJuYVZrQmtoYWMvVktuZ0NMV01mVDJXdTIwNkR6cjZuTHpwTmloN3FQUHI0Q21lbitYa2VKK21QNy9DQThQUG5wN0d0cmpXZXR6Y2RSNUxZZXVSaDdDWXNTRlI5UVBNOTgyTVppM3dPREhWNEdLY0dpa0Q0L3lSdm9ZMEVrNXh6YnJsaU5KNWZOckFmWkszK2dBd2lid1JYTFJXeDhud3dXSFhvN2RwRExJUitlMjhrVlYxNWNzZXZZdFB5N1Q2T08vZ2pSNzMyWkxSNm4vdnl4Z1I5cFZYT2lvOHZhSHp4cXFQcjdVdnk3VHkzNmJ6UjZZV050MkJ5eDdxNEwxYTkrbDNRWlByRS84ZjhGUlVrWVU5UzlzbDhESzIvSEVyZDUwWGs0enVBQWtIUjBmVno2Wm14WFNwR0xYZ0JyM1NBMDB1Nzl6UWk2WU5yMm5XZ3lHU1FYT2FhdFl0UmFUT1I2R0tiQkd0M29BbG9TZUNpOWJxT0NIMDFYMUpzTzZQMVFpS3lDOFRtLy9JcW0xOXUzRm5WMlFhUStlZFN5MjNZZWhqcnB1eXNRWGRPcEM1MUgrRnB6ZDAzckR1Sm00WlZiT3ROVjJkdDRkaUYvbHZPRnM4WEk4VDZueFRFLzVJUTFZVlJVTS9kNTAvNGNJcVR1a2RFZld6RjVwRUdMWGc4ZnNDRndMUGpzN2YxSGx1YTd5aFIrdHVnK1kwMWF4YmlFaWRINzdWNjZna2R0dnJUbXQxbk5LSmRqSzZZallaZTM0N2UyUTF1M1lrYTEyVGFVMmRkMWJmaDFxM2JHV3RuL001dE5wV2w3a3RjM3VqWlhBRC9MNUs3RGtpeG5tOW4wSFhjNERVMEUxTEtDZFQrbUJUeXNubjlsMGVGdnZnODVSK2ZBOVpkbnl2NjlJa3pWM242MkFvenlNRytRN2x0OWRQTzRTQVdRc2VpL2MwSVVaZ0dXN3V6OGR0endmMi9FRm9QeWo2aE5hc0syYTB6Zy9kNm9QbFR1YTMxbDBBUlRTVXB5UzFSbUNzdHVhWGljMy9ocWs0UEhMZEgzTUNPdTg0ZnkydVY5c3hhVGduVHlNVDA2YkhYbnlGTnlKam5EZFBheUgyU29DVWRUMS9adHJidld6MlVKZGUrVDJjTlJTWkw0RjJnanhDZm55ZTBnOUQyL1MzOUdXd3RnckpYZWRSRVAzTWtXU1o1dDlXUHhWelJBQlpzeFlrbi9KTFd4QkU3MGFkVGUzY2g4Z1dXTy9MckNHYUlEUXROZXVXSVVibmgyMzFHaWhET1MxMXA3VTZUcXJqS3hubVhNR3gycExmemgrVmN5TVFjOEZmellaMDNuRmVoaHhYQXpscVY3bEpNYndOVmtGYVUrY3g3Tzc0bVp1V0JZRnROT2lZeEVIME1vallReVgxZFRSZ2xJeVBUZGRrV09UL0JYMlk1Vk9EZzBCU1FMd3RnNnc2dnhINXZ2VGc5K2VyWUtqNmI4a2w3WCs0Zm1xaFNZUlpDejZuNVZxZzh6a3h6dHR6dTBQWFQyMjZUSnJOTUlUVzNyd3o5cHIxU2hHcjg4TzFla0Z4eVBmblhTbUNkYWUzT3A0Q2c0TlVWaGhkamQ1WkVBam1kNmtHZi9YdGVSblg5bmR6TFRyUEdYT04wNTVWR0JZcy9ZN05iZzhWUFBSem9ySExNcWhBbTg3M1RKMUEwN3VLOU5iUTYxdVNFaWF3VUNTK3NqeVZRWkgvK0R5bC8vQWRrU0NlSUtNSTIzUmVicFlnYStnNTlVbmJYVTFrQ1UrUzdHa0hoNGJxcDJVb0xpZGcxb0pHRXJNaVl6TnV6eGhNVGlDbmx0aDBtalNucDJhOVVnelErV0ZhUGFjbzl6NkJXUERSbTVvSm9WRHF5MXFZM3VwNDhKRS8xMGNYRzFLZFVINk5sT2JrWTVwcXpGNTQwMmVyNmZ4L2tybWdTL3ZTN2Y1ZjV5TzhabDVRc1JWZTNrUGxoUVA2ZE0zM3R5MXQzYWJ6Q05NbU1seU5kMERFR2lxL29vMzRxcGd3TjdVUjJ1Y2NjUEhQVS9vUHNxamRTaThVZmFPUzI2YnphcThMc2dVZkgwNmZoZUhpR1c0WUlTazhrZldEM2pqWXpNeGFRSzEwSmNPcXVVcXNHL09QZHFCSGtKbkV2MGtUU1VPOTJHVFdyRmVJQ0oyUFJCVnFIZFhxT2NVNnIxUDdZM1NxTHZjb0xucXI0eW5SazE1MWMzQVQvajZjLyt5WSs2UHk4N2p3ZzZ6NlpKc251S1FGK0RyZlliL2k1VWJsQmxweGRSdFJRWnNDVDEzaHBUN2tMdm1nQVc1SnQ3QkRCcHVqZFFhSTlhZUdGRVlVc1dOaERhMzdJL1JGa1FreVhQRTVScmhhKzNvRUYxdjN3dzJlT3pMSXB2TlozcDhIb0Vsa2xPenQvOUgxZzRialkrSm1ObXNCdHBoKzE2UGEwNEhtaDNEMHJCaG1RdFdscERGcG5saVMyblRlV29mYzNoQ3U3NEpxMWl1QVhlZWpVWVVDYmlPcnJkVnppb3N0WHFuVzU0MDgzbmdpdWVpdGp1ZEFCWng2T1U5Y1JXcDA0WS9NNzZVTi9HMUNyR016YkU4b2xCdW1kQjZUUHJXbFo2Z3QwaTMzT1lWcVNFOXNPby9wd0ZXWE5QOUZqNlBWN1laNFJkZldNdEJzTmFFd054SERzRFcwZmx1Ulg0eFJSOVlBQUNBQVNVUkJWQkRyMkQxalEySGoyMVcwNWhDZnAvVDl5R0wyVk1JVXVDc1RXSFZlUnFiNDU4ZURkVlJTa09DbXlxajZRZFF6UVpJbXZ6Ti81cmFwVDZqNFhGR2ZBRFV0ZzdkUDJhQTVQVFhyRmNDcTh6R294clI2SDVKa3JtZ3VpRkd0anRPcStMUE50aGlFeEluWjZQeDIvajJ0clhncGFscGZyblIrai9rcXJRMTVJc3RGWVgrQ1BJSE93NnJ6VFgxaEFLM1ZCbFQzNks5TjUva3JJRDV4dENlM0pkcEM2Mzduc0NyVXdGM1d5OUt2Nk9PV0RNUzQ0bE5ISUxkVmJhdEk0Y0RJb3dMeTFublE5dXRTY1JuT3NRY1NNa2VnZmdEQWdZeVMvMFl0OExYU0RTOW0weGpZTWJESUNNUmpKTmU5a3BiOE4yaE9UODE2NGx0MVBnWlZKN3JWUzBDUy9rZHowVnNkcDRiT2VjZWplaVRxZTVVUG1kSDV2YlNCUDFEeEIwWVJ0OGEwVVVIcGZNZmZRUzdwWXk3UGNuU1oveUpGbC8vclQ0WGhPZFJEbkpyUkFLRzFweXE2THRxWFZlZnJlcm85T2FMWVF1dStGQ1V4SFVDTDFvenkybkpmOFlWbFFKdHRJQmdkWjdCeEwybEU4dFo1OUdFVzdEVHhFamc3ZmltRDlZTWVURlNRVHNXb0JUN1B1T0xGN2huVmc5cVNFWWpIVEROTXlhZHEwT1M5OUttS20rU2E5WVMwNm53TXFqR3RYaFU3b1NPYWk5N3FPTEdlMzA1YTdvREd4K2ZvL0hZQmF1WmVDUktkNlVPYzB2a2pmMzIyR2xqVWJianpEOGh6R09SUllYak0wRE85UytHRk9GQ1p4QUxKdXA3bnI4cjc2VUQxV0dTeWhkYjlXZktHS3loRTMxRThhdHZLcVRuYW1vVVF3WHpnNHdZYTdibW9kWTE1Ni93bVIwbmpsY2FKUXZMcTUwK3dma0IreTQzeGY0MWE0UE9NVXkrdXJWd2lvT1dqNmI2NklOTjV5ZlUvZytiMDFLeFhCS3ZPeDZBYTArcDFVSks0bzdub3JZNVRRbFY2Mm9RNjQyUDFSVDdoamM3UDg0UWZWTGMyckNNZWkrV3VuMHpwZk5WZjhxMm9XL2pjZEJmY3huWmlhVm9Wa0pkU2VrVE56KzZCbTJ5cU1Pa0x4dFp4SGx0aFQwbXBvSkdlUXRwQzYzNTVWdDBsQU1hNWZablhxeW5wbGY5TlUrZWRwbUZuNEtsT0pFKzQ4OWI1UFlDa0Z1TlNwQ0gvWStxbnAvZDVIbG1qRmpENVYrd2J3allqbVdNMnIvWFlmTW5UbFZIaGY0TW1iMGZUVWJOZVFhdzZINE5xVEtzUFF4TWZFczFGYjNXY0JtcnFta3VyNDhKYlA0QTNPcitiTnZETGwxMVg5TENTYVloVU9sL3hQK3JhMXRzQjhsYjJCWUZOeHJhRlEvdXBnSHdnOWFhdnZEeGh6VzlHRjl6OU1kQTVrQ1Jhck84NWUweFpNekFWM29vT3JmdmJiSXV1cnBkYXZsM3Fla0M1WFRxaEw2Y2ZRZXhqS1lUNDcybkdyTHgxdmcxdVZya01DZUk5TWZYVENaWUZsSXhhZ0szejFLTytxblZ0Q01LT3dxNFhnNzhUeU9uN1FpNkQ1dlRVckZjT3E4N0hvQnJUNmtQSURBaUk1cUszT2s0RTliRXRpUEZsRmg4RXExd1Rvdk9MdE1FZmRCejY3TTNaUUd2M0JsR1JWT2w4VDlsdlM5b3NsNmNwZVgwL1ZIRmY1TkYrS2lBZjBQa2xYeWQ1d2lmVVp6bWM2cnRFemhOdExZM2NudXFoa0ZjOHdoV2ZnaVcwcnJwQ1RDOTNSQllFSFhwNUcvdWV3L2lyK0huYzhDb1lYeldTZFB5T0tQZHhIdXdOMEEzR0NUM1I5WU9wbjJiUDhNZ1p0YUJOZnZiTVltTVRUK04vNXRzTXRGRGxOR2hPVDgxNjhsdDFQaHJWdUZhdkVFbm9pT2FpdHpwQnJPSFptZXBQaVc4dmxrV1hISjNmSmtBWjFhZ3Q0TW8vMElEL1FFdXBkSDdKK3p3bDdyRTNtNFd6NGcxUjZENXUrRGt2UHNJZlVHTk11QjZXVVF0R00rTERRWDlYeEszMXUrSy80azhLdVMzdHFnaDBuRmV5Y3pjZCtHeDVZYmJRdXRLZnNweXhiNmlCL29uelk1VlZPVXIvQld4dXU4VGR3TDlFUUdEa3JXcVRtTHpIK1NxNG1Rc3NKVnRpUjNUOVlLRVNQR0RFVjNDNk10ZkVUUVBndGRHNmJYQmMxTFB5c2NXWStSdEpnelNucG1hOVVsaDFQaHBWZTZzUElKTFFHODFGYjNXQzJKNDdPS3l6MHg0ZjV4ZUU3VGs2ZjBpQUgzdjJjN21LczMvMWZuRXAxTFBGaDJ6Zzl6V0tHd285SlNrM3ZhTUVud3dvZzNQMnJzK0lCNHFpTmR4TlRsbC9KSHVzSm5UMTRzY3Z2c3JqTnBwUDQvZi9lditMZWFaZmZQOTduZEw3LytjV25QM3ZlWCtYeDVlYWJycmxoajRtaGtNeHQvZEs4REdscG84ejlrODRqVXZ5VTEvYzR6MGJ6MnR5anV6OEpUTGcvWGVKQUhickgvM09qa3lGT3lLdktYZmVPdDhFdndORlBaMGp1bjV3SWdLdEkvQ1l0ZkRFK1k2SUx4OFpsYzlQT25wWnkvL2gzejVQb0hMenViL3o5d0ZhMG12U0ZHL2tURVBOZXVKYmRUNGFWWHVybDFBTTl4L05SVzkxZ3VhcTIrdFduNEpWR3oyNU84Skg1dy9KSVJUZWJkN0dyNjZTU3VlZFQ3RFhkN0ZGK3lpN2hUL3Q0VFp1K1hDdDlaNUluVWNUUEpTSnhQL2RqTDNqRlkvOVFPUG1NYnh0U2VwTC9zMHRYbnE4TTNQN054LzdiWXhhUEtGOFFxSDRXTjhyKzMrSFB1TFgzRDVDSlB3SVk2OS94V1B2Q2F4S1JCUWZ2Y1FqQjBNVmdOQlR5UVlMS1o5cjNqclAyVitXbk5MK1I5VVBYd05xOVNMSkc3VlFydDBDWXM1L3JyS2ZrZkh1ZjA5MjQ5eTBMNTl3RCtKbE1tZ2liQ3BxVmhiWXF2UER0bnBKYk1qL3FMb3pXcDFMczgzZTZKVHVRQjlkYnJLZDFkYXBDSTNLSHhiamY1R1ZhUDcvZ3A3UzEzbm5YelAyOElPd1p4L3E4ZUxDYVpWZnN3UnM5aDk1NEtmazg4Q0RMZC80RTVxdi9KSElmK3NhcDlzVzJSNTRwTVYxL3BHSDMveFQ5ejc0aU93akxqVkZ3aWQzRFFHQ29iMHY4b3R5K3BCVW42N3o2VHRrN3hwWmhXZVZjVUVob2EvellJdm5BWEErbGVrditaYnQzTzMycUZtdGQ1RWNoLzZQcUIvK2t2T05NREd6RmxZYnJQOEFabFhmSFVoNHh2YmRrRXNNRlFOWU9DaHZDeVJTWHBNbWdxZWhacVgwZHAwZnN0VkxZc1ArUjlTZDBlcGNtckN4bjd1dDVST3MzeEx6S0VSRTVCOVdERGU5cHZQT2o5M1o2di80N3dYcGRLNTRJZGpYU1dSOHJvZm1zWi82bHRaRC81V3B5VUV1d2wvNi9IMzkrMzgzR0JVSXZiNkYyY2pubS8wMy85NnhudkxId09NN2pCQTlkcUI3U1U1eWVjcWN4M2x4OUhabm9BZ0RFOWpyaHkrZXRzTjVBN1ZRK3Z5RDdLSHZPUXltcTJrcm1tQmMyQitnaVFSVFVMT3lHQkU2bjFlcmwyd2kvdTExWjdRNkwrZkd2MnY5NHA4STkvYzMzdENWNU96NVpleHcvN3JPVzNPV1BhczlJc092YkZwelhEUlBkMXJUVEZ6Z2laemtjc2x5MW5reGJ5NnV4TmhQdVJhbW5xZ1cwSTBQMDAwbW9oa1daVEpDb25UZUt0M3dyZDVLWmxDZzBlb0dKYzR0ZnFET0wvbUdYbk5uUDFLRUJkMFdISmxxd2lMTzFQNEJCTXRaNTNHYTBMS2JsaHNBc0t4WUZEZFJMVnl5R1VDaUJVdEVNenI3ZUdPRzB2bmhXMzJxd2htdExoV0ZOSmtHNm56N2lpSmJqVDJ4b1pKaDhGRHVxWEUwL2VsTTdqcVBnNGZENmRad3FPM3BwZ2lWTlZFdFhMQloveFNKa0NNUnpWQ3VDUWtZU3VlSGIvV3BTbW0wdWxRVTBtUWFwUFBsMW80aWUyWWRVRlMwY2xTbFVVNkZUTHlqWk9oTnp1UDhDWFErMGhhZUhacTJ0bitoVVV0U0MzdlNoS2ZsaTNNbW9SbVhmNXh4dytoOG1sYWZvbXhtcTB0QklGMldRVHEvNkUvdCtUNWJOd21YWVZ0U0Vwb0ZwMWt6YkJBNTYzd2RPbS9aVGN1clNFZTZLY0lubXFRV2p0aU9ueUdCS3duTkJHVEdrbVFZblUvVDZsTVV5bXgxS1Fpa3l6Skk1OXNIUHQyZTFWamt4MHZYV3BFdFhETEo5Ly9FMkQvUFdlY3hQN0x0cG1VdlFlbjU3d0NScHMxc3owL01ET3hueXZxRkprbkVTVUF6Q1pteHBCbEc1OU8wK2hTRk1sdGRDZ0xwc2d6UStaSStUZDgwai9CRk1oeTZLVVZTR2xsRXhaakI1S3p6VmVqOGZoRkZxZk9UeXpnenRXTWpucUFXRmdaM0N5YmxCRFROREJQa0cwTG5VN1g2RkVVMVcxMEtBdW15RE5ENUovUlQyN0JGYlNmaU1xYXlKSkxObXFoc2JqWGtyUE5ONlB5V2xXL0d3QmJEVVlqMXFEMkJ3YlZ3a3JBK2ZURUgwL1RUVHBockNKMVAxK3FITG0rZzFRMmRQMjJHZUoxZmJ1bHZiRjN3WDMyTFozZGg2TFlVVDYvdzJBVnpTWnl6emtQbDdVTnh4bkx4UThRSE9KZjlGVHVkd2JWUXNXM3kyWWw1b1lOcHhtWWZaMlJ5blUvWjZvY3VYS0RWRFowL2JZWlluZitQRGNiK1FGSXUvMkFOQi9IK2hXVXJXS1pRLzh1R1JVd0ZUNjVqenp6VmtxL09ZL0tkY01OalNJQndhd1U2MTgyb2RjUEFXaWdOdjVzd2tPYVFSUmhoOHNRNm43YlZEMTJXUUtzYk9uL2FESEU2ZjhZYnE3eEtBbnV6NHRFbis1Rk1qeEtsaXN3KzhvaUd1a1pHc001WDUvbHdyRStYY2lzZDEvbGRYSFhXamFBNHFCWldvbnFMQ0hvOGVCRE5tS3hqamtxcTgrbGIvYkFGRExTNlliT25UaCtyOC8wMzMvdWd2Q2VyMU9yajFaUUhIcEZ2cXNSeXZLQ2Zhb3ROT1JHUjY3S1FualQ1Nmp4WFRXM0hNNzhTNHh6L20zQWkrcWtvaW9OcW9SUDNzbndFMFVFMEk3Sk5RSEJpblUvZDZvY3NaTERWRFprOWZmSTRuVTlQdFRTc1FUZzlxenh5bmdTVzIvbnFQRDk2RzdIa3ppWjhtYjJWYjhsdFIxRVpVQXZsTkN1d0FUU2pSSm1BOEtRNlB6SlJnNjF1Wkl5TDBYbW5iYnV2Wm1TRkdwWlI3YXRtam54MW5oKzkvYkxKSUNkZisyYTNmR1RlNG0xUWpxK0ZKZjlOWWlOWHZDZWVabnplc2NaT25NNEhXOTNJMENsSTV5K2xXQ3FPck14QlJtdkJsVWkrT3I4Sm5UOEk4c3pGdjlwaXpiaGR3UGhhT0VxMTRJaW5tVXV4aWlFeWFUb2ZhblhGRk50Q3RTQ2RkeXFKMXYwV2djWVFkQlljS3ZQVitSNTBmcnVZWXEzZmRmN2VPTXB4dFhESk9Ib1lSOFdNaTZOcHBwd3MzNlRwZktqVmpReXVIdnREZkZjOWYzWUxjZU5QL3V5eVVGdzFOSElaY0hUTUcvMnlFRWZlRG5UK1drWWFLYlBIMVVJN1phOGNSek9sbUNQSk5tRTZiN2E2a1NBZ21mQkJpT1hheEQzS1o1SG1aTWw2VXY1N3hoeDNMM2RBamtDeE82YkNSdGZDUm5CQmsxakNhSnFKU1l3allkazhkelVPRVhTZVpxdlRZd3AzRjZienEyTnI1ME5pVmpaTldmbnJmQU02UDZSTXVTV1Byb1dUZ04weU9jdG9tc2xwakNObE1lODVwU3hKb05XbHBKSXVXMkU2Ny96d2JqcUpScDJyL00wR3gveDF2aFg2VHBiQnNGaFBaQzM4VmZycWlhUlpiRkd5VW4vME1DdUZIUE1IV2wyT2xJblUrQkhnQnhoVGo2bmpGNThrSUFRSWdTRVJ3SmNnMGh4K0daSUxKU2NFQ0lGSlFjRHlyZnRKRVkza0lBUUlnUUlRNEY4SjNTK0FMcEVrQkFpQnlVUUF0dzVNejFtRnlZU1FwQ0lFcGdxQlRlajhKRm1NcHdvOEVwWVFtRUlFOXFEengxTW9ONGxNQ0JBQzZSQm9GM1JqUmpwcEtCY2hRQWdValVDbG9Cc3ppcGFiNkJNQ2hFQTZCSEQwdHBBYk05SkpRN2tJQVVLZ2FBU3duSCttYUI1RW54QWdCQ1lHQVg3cjdmN0VTRU9DRUFLRVFORUk0S0pLMnA0dkdtU2lUd2hNRUFKcjBQbWRDWktIUkNFRUNJRmlFVmlCemhmTGdhZ1RBb1RBSkNHQVkzam1Cek1tU1RpU2hSQWdCSEpIb0ljUGZtbEVQM1ZuNi83ZjFmemtKQVFJZ1JsRG9HTzhQZjlKMW45ZGcvM3FqSldSaWtNSUVBSStBa2RNdTRkdHVYVUxyOXU4bTM5eWloNUNnQkNZVFFTYVRMdEh2dTV1MjFXbjVYN1EyYXdTS2hVaFVDZ0NNTnVmU2dZbDcxdVZpK3p0TW9qK0NRRkNZTFlRMklET2QyV1JWcnp2MzViSmxDOGhvWDlDWU5ZUTRMZmhxVEo1VTN2SHFkQXhIUVVLT1FpQjJVSUF0K0g1WDhOcnlBOEc5ZWdJL214Vk01V0dFRkFJNERZODlSRXYzSHJ0aFcvUzdkY0tJWElRQXJPRndJbjJKdTJhV3NhdmVNYTgyU29ybFlZUUlBUWNwNjY5U1h1QnlVL0JMckp6QW9jUUlBUm1Fb0dLdGxXM3AwN2g0bVc3M1prc0xoV0tFSmg3QkpxYWRyZlZkK3RnemFmcnIrZStiUkFBTTRrQVBsRHB6K0lyeXB3SG5UK2R5ZkpTb1FpQmVVZGdWYi8wdHFwMEhwZm5iTTg3TkZSK1FtQW1FY0RDL1dsVnNJYTZBQmM2djYrQ3lVRUlFQUt6ZzhCRnhxNm8walIxbmZlRFZUdzVDQUZDWU9vUndJMFoxMVFoZkozSGxKOTBYdUZDRGtKZ2hoREEyL1BIcWpndGRmb09PbitnZ3NsQkNCQUNzNE5BU3gzRFFabjhHM05JNTJlbmlxa2toSUNPQUU3WWY4bjMreDdTZVI4VmNoRUNzNFFBelBiYXVyMmxiSGlrODdOVXkxUVdRc0J4TnU1OGlZQUJadnRESHc5RDU3Vyt3RTlCTGtLQUVKaE9CTnJlbVp1MmVwT09sOE8zMjlQKy9IVFdLMGxOQ0VRaHdMeWxlME5memp0MEppY0tMd29uQktZY0FYNEpIditRQlV4NCsxcFJhblQyVmtPRG5JVEFEQ0VBRTUyNEZBUGZxdXRxeFRMZXNkblNJc2hKQ0JBQzA0MEFIK2Y1alZodDljSzhLRTlIZVJjTTI5NTBGNWFrSndRSUFjZHBpVDI2Y3N1WTJqczlkU01XM1psQnJZUVFtQzBFenRqTlk4ZFpZdWY0OVorTDZncmNKZGIzZzhsRkNCQUNVNC9BU3IrTE10UUNuNnZ4YjhHN3FFYjhxUzhxRllBUUlBU0FRTGx4ZTlmNUdMdGxEUE1PVEhzZU9uVFhOVFVUUW1ER0VJQ1I3a0hXdnhZb1ZWTit2cWF1SDhrTkpDSXZJVUFJVENNQ24zMHhlOE5oVVBBT3Urb0dWZlVqdWNGVTVDY0VDSUZaUWVBQ2UwWVVwYVJkakRrclphTnlFQUtFUUJpQkRjOXd2Nkpka2hkT1JTR0VBQ0V3TXdpMDNldHVhV28vTXpWS0JTRUU0aEZZYloxamtmOWg5a3Z4eVNpV0VDQUVaZ1dCdjJMOTE5M0hualQzOEdhbGNGUU9Rb0FRQ0NQdzJUdGJEMzhicVh3WUdBb2h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bUZvSDFPOCsvY1dLRkk4RUlBVUlnYndUV1cyOTVWcitiTjFXaVJ3Z1FBcE9LUVBVcHg2bTlmVktsSTdrSUFVSWdad1FlWnp1T2MzSXpaNnBFamhBZ0JDWVZnUWFHZVdlRjdVNnFmQ1FYSVVBSTVJckFJdHNHdlVXMmxTdFZJa1lJRUFLVGlrQ0hIVU8wQmFINWt5b2p5VVVJRUFLNUlWQnVmWkhUV21EN3VaRWtRb1FBSVREQkNDeXlaN2gwaSt4Z2dvVWswUWdCUWlBM0JQYmNTZjBTdTVFYlNTSkVDQkFDRTR6QUVkK3BjNXhOZG1XQ2hTVFJDQUZDSUM4RXlxd3ZTTzNSZWo0dlNJa09JVERSQ0t5eko0VjhIYkxiVDNROWtYQ0VRRjRJTERMMkNIOFl1NVlYU2FKRENCQUNFNHpBUmRiM2RINTNncVVrMFFnQlFpQXZCSHJ1T242RG5lZEZrZWdRQW9UQWhDRlEvdnlMSG55WGxLbk9ybkxuQXZ1cURLRi9Rb0FRbURFRTFobnpOK003N2pyK2duc3laOFpLU3NVaEJBZ0JnY0QzbmZrYmMyZXN5OFAyM09GZVJOTVBJVUFJekJvQ2UvNUxkR2ZpRFJ2bnlQMmJ0WUpTZVFnQlFrQWcwSEhQM25GM20vSGZNaTNuT1F6MEVBS3ppa0JWS0xvb1hVODQxK2prN2F6V05aV0xFT0FJdFB5THNEYUZ6dmY2dER0UFRZTVFtRjBFU3RwTWZvbmI4TXJOTDgxdWFhbGtoQUFoc002ZVZpQXNjNFA5RWp0VUFlUWdCQWlCbVVOZzBkK2VkNXpxbDUxUzQxZG1yb3hVSUVLQUVQQVJ1TWd1dityRjUzL2dCaXoyLzJIdHlXTS9rbHlFQUNFd2N3anNzV2YzditOWjhoVE9yN1YrbWd4NE0xZkg0eTdRRHdXR2tjY0MvbkhMTjIvOHp4Zy9rM1BtRysvbkRRQXFiOEVJUE5waTdBWGFTTUw5THlHdEx4ajFPUEkxeHRmdkYraU4rVGlRS0M0OUFuZmpqUTdHYmgxNkZNcGZFUDUzcGlkSU9iTWl3TVJ1Zk03bmNEN1kvSmZVa1dldG1kbkl2eVpVSEVydmpmUy96czYvZnZleFAyS1haNk40MDFpS0RjWS9WdVZjWWwvT1VmcVBuUDhPV2Y5enhIT2FTZFhZdCs2V1BnVEZGMTlPd0U3d3pTNHZ6c2R1MGFBd3JtcTk1TDQzdThaeVBJaXppSVhDRWgzbUcxZVZUaFRmTmZaQ0xzOUhvZlRiK0M4MSt6djR3MU9qZ2Q0Rll2Uy9TKzdoK2hYdFpFNVdJY29OOUI5bG1yeGx4WEZxODYrK3VQOXRVdmkyZC8wS1RNWG5HTm52WWQvcnhTelJ2U3dTbzFIL2I3cTdkQmR6dkNaalJkZ0RHM2t1RmthTkN2SExnRUNwd1ZwTTJ1aWFXeTZsVlF6MFY1eFM2N1lrWEc1SkYvMlBHSUU5OTZUdFhvN3YwbFhGaGRsVmQvMDI0dUlRdS9FamNBOTdrL09uWWlidk9PdHFEN2pOMkUxc0QyMHIrVHFueWttT2tTTFFkdS9IT0pNWFoyeGc4OVI5enIvbk1KVWs2KzZVb2VKZWxaK0tCR1dhWWdSS0xiYnJPSFczK2xmVWJJOFA5TnRWMVFVNHpzVXJVMXpJcVJiZHZTYkRhZmFQM1dKc1BJaTY2VC93d0FQNDczOWptcUpkZDd1UHlxMDBtU25QMUNPd3dsL1VmRFZ6NTQ4bmwxVjUydGl2WStxNlZjZFpVOTJCU2tLT2tTQlFGNi9NcjdvN2RvTGpNblAxdi9RRmRvNE9lK2luNnM0Y3F1NW5zSWJPVGhtbUhJRXpmTlM0aklGam41ZWpmazJWNWhMQy9DdVpIR2RaYkJLcmFIS01ESUZOb2FIWDVYbDc4RjFubnAybDNOUzc1YVFTbGJ6dlg5WDg2M2VTWnFWME00QkFpYkZUaHgvRXVjRUwwK242UlRwaVh0TndnMHBrdVBleEdhbHJnYy9CeWcxdDhiM0l2dUpKY01KbmFjTStjcWVmdm9zeExIS3prUjdmUHp0MlZxRHpZdXArcHMwVWx4Q29lUjFsd3ArTmdrOVJLWnB2eDZFb2FjSGpjdnZiZGl1d3RBNzluR0JxaDZmRWFEMC9OSGF6a0tISEd3MVhiekhPNnpxUGVhTStjU3pUeHM2NDZ2dHg5dnZQWWoramNmZTM3WEJPVWd0UDZPeTQyekh5RTdjSmMxR3lXVUdneHFlSmZPMStoWmRJbjl2akRuVjlJS0M1L2ZpcS9OSFdROC9SdVhmVTJ2NWltcmw5MWYzT1pVdXpDdXJVeVQzYkNHQTV6d2Q0RE9sZFhsRE5odWZ3M1RwM1FPQXh6cnBjUWdvZi9Zd1RnYW95cm5JTDdOQlB5LzJjZFN2WGwzYUdsb0l5akFrQldPOHVnL1hDdmQ4c0JOamtIdSs1empEUSs0djRwV2RrQlAyUEc0R1d1OWZtb0Y5TzhaN01oamQ5NitWNHNHL2NpQkQvNUFoc01uSHlXbWJRRmJ0eG0zOGNjVXRHOWZhbGkvN0hqSUJ2Zkt1d240eVZwZlJ5NDNtRlNMenM5ZVFWN05qUU0zOElkTGpaM245V2ZVUGRFbmJzSy9LVldxUm9IUHJKeURWV0JOYTlGNTNMSDJIL1hid2dkZlRhK2lQcWV0MWJ4emVOcW84blJMR3pnMEFqc0VmYjdNcXkxZkJlSFRieXBMVm83VnhHMFArNEVWaGt0My9qTjM3ajMveC9qZlBmSFNES2EzU0ZseWJaUys1THVTVnQ0VGFBREVYUEVBSTRnT2V2MkhtNTZtL3pTdmNheGwxWTBkOTA1d0ZIT1Y3WTRMR2d2NVFJWEpTYS9KTGROQlRVSFJ4a29Va0QzN1Rud1lyZDFPVUY3L3oydXF2cmZCTlB2R1o3dDcrd24vWXlUNy84UGZlZ2RQa0htdWM3S1VxejZwN0ZPS0hsZkFyd3BqOExEdU1FT3ZzamNaWnp0ZW5wK0N1aDlPLzR6WTkvUTJBNk1QMGxuK1lTcUxkcUw4bFoyRkNsMlhCMS9vaFdhMFBCTml1SlliYS9ZcFpsZ2QzK3c0OS9uckczZXNFVmJ4NTVhaVliemxldW1iT0o0WEpQVmVxVi9tSGg4dGJZanNmalNPeTBEc3RRNlB3R3c0bGVldVlQZ2JheTBhbXk4NnZ3R1BzNTZTL2RJZnd2bFA1VS8vZk16K21QdFJFY2JtdXA5K0UyVTNHclBZMWFmRUoxSEttcWxESk5Ld0pWNzcxNVhmNVgzZHUvLzIrMWdKZmV5OTZzKzdXb2hFNWM3TEtUTU9uMEo2c1Z2a3lXWjJxQVZhcFhiSnc2dDl2VzZGemw5RGUyTkNYQUdPNmE1ZE5rVHB5bmwybzBTa3grc2hLS08wZ0tGZW1TdHowUEprdUJyZFprZkJmeHZ1U3IrOTFraVNuVmJDR3dqTnR0aXk4UmJ0ODZMWjdMeEhCb0ZsM2FKWCt2NWFKeHhVRmlDS3EvOERmczJ4T25wb1N6aEFCTzIyczNNUlJWc252bXkraC92ZWhaemFacmQrZlYxZmJWMzYrOVIrL3J2MjdIOTFwY3F5Kys5VjVMTUFYTkFRSTQzRkg4alZmbFZpcmo4dFRDdjJHeGtlUmFHRzk3SGpRQjdYYUlkSVhkLzd6bUNIWVBRb3dwWUJvUTZIblg0eFFxNjRyK0ZuNmhuTVpFZlAzTzgyL1VXZGR6L09DTVRsZTYxZmE4OHhvTHRFK3dEK0FLSERvMktkR2lmeE9CTTVibTlXdVR4a0JmZGNZMzZ0WmJiM21XWVJCYjhHNmxIWWhNeWdScWV4Nm5KQzhIYVpTYndoNi9NQUk3VFpBMSthY0JnWnFsMGVRdE54cG04YWRVOGhaNkdIcFZMSTlxeHZtV2huczJkaGdpUTZURjJrR2tMbisvLy9raFAvdWlhMEg4NThaVmhuNDB1ZVlkQVd6VmJSV05RWDBVWnNLaUN4RkQvM0YrOXVERXVKWHVlb0ZHeXpYK1FZdUgzUTlhc0o4UGI3VFd4UUNQaFg0M1JtYUttbHNFc0ZWWCtCaU0xbmRscGdGdWNDdm9pakdzNGxheHdxWTJGMUJuN3RPLy8rOHN3THBmb29NRWxqZ0tJZ1FXMEhqQ0kwVyt1T0F0bm02K0ZDZUwycUt3bkMrYTg2V2o4Wmt3V3VMKzZvMENaeHFUaFQ5Sk14d0N1TmErUDF5TzRWTjMwbHpNT2p5YnNlWG9pRjV6d2R3enUyNnhwNDlHUWx5SWNNbzVmZisxMGZBakxsT0dBTjZxTTlhaEJZaVBlM1ZuZW1wZmJvbmJ4QlpNcXgydUpUZ3RBTXdrSkhFWmptM0tueVFycFprREJPcXM4RUVZVTRtZFdVWnkwYjEvWURHdzU5a1libkwvYnJsRzkvL2ZKRkh6ZytKY01yWFRRS3BiZzY3TVVxbkpNVzhJVklLMzVPUVBRR2ZHcmZaNzdxUit5VDhPS3pEY0cyNXlYdzJyODFkbFhZU2piQ0V5TlU3ajh1Y1hsSjhjaElDT0FNYUVaM1IvL201WTdjVjM4UEtuUENFVWo5eHB6R1pnQlFQcjZEQUw2ai9EM2x2Z1VhL0FDQjBlK0tQZzRIWlpQR3Fhb0NMSVFRZ0FBYlNOZzJLQndFczhXOFZ5R0MvMXNtY0UzVFBYODQ3VDBqLzFOMUlaUHlKMHZuODhVcWJFYkVvUTROdnpsNHVWdFZmSXhzRHFuZWZmVmF6Y1Nhbkx6engyVExzOVB2em52K09lbEZaZTZWNzZZcTcxTTkzVjVnWFYvTkhoMDhDQ20wYXRpUGYybHB2bmR3VjFiRXkxaHc4QVBNS2YwRlFlYnl6dWpra214L21SV3VFVHVMR1ZqUmhuUW9CL2RmNHdFNFZCbVRHVHVESW96ZkR4bGY2aFUwbTJ5Zmg0d1hkdlhuUy84QXFkRDJnNGR1dTJoeTlaNGh3ZmJQN0w0NWpFRzgyQVRURW1MVVhORXdLYjBQbEFVODI1K09oVnJ1Vk0wc0hIZGQ3R0Q3c21JYnpjVk9idjNNVVFCTDFYMlRmQzF3MFZhcno4eVBudk5IN0ZWcUtQM25LN2doUFNlUnM4Rk5hRHpoZUxRcjJJNVh3Vkg5WENCMWtQQm91K1dtUDU2ZndQR2w5N2ZQbXVZRjkzUCsyMUVPWlQ1Q2JsSWpxOHBiNHJnWUVDVGtCZEZRR0xSY3l2REZia21Vb0V6dVFIekFxVHZsbUFKV3RSM0VoUkhtZ29LUC9nSDdkeVBIUEVEWjc2NDI1eWR0enB4b1h3bmljVzlPNlFteis0NVFaV0xHV2IrUlhtaFczQmI5SFQvZnlaRThXcFJxQVcvRmhkM3FXQm51Uy8vOTl4ajdXNjc1TEVTRnpGL1o3VjhQZ2JreU0ycXRUVU5aNTVlM05uN2d0RWUyRVZnNEYwSzVaZytraDNYZE93SEh6QVMzZlhCTjJMcy8xaVUzcnM1ajBuR2pGL0Q3UzRCKy9VYmVkTnZlUXRuUnVEbGlYUGYvZzd1cjM4ZE41ZWpqTjNNRDhLaittWVp1ZmYzN2xDdUsvTFZ2M1BoaXZaTHNqWDZjNUdjTFdwNGtxT3FVRUE5NjBVZkhIYlhnSHYwVjd3Ym5xdEpSbkpDdGY1dHVoNXlyYXVKVTliZ3RHbTF0M09wR0pSNjdYenJraTZNYllUUVlhazVKazBCUGczWjI4VUt0VFJjS2ZPRThsUzhXYlZ0U1RiaklYcmZFL28vSnJOWXRZdXduN0pJYnJ1TGhvcTRrVjVFN01OYnozUjduZk5DUElSQWh3QnpMeHRiVFUvY1BBdTkxZnlvK1pTQXMxRDRXb2tlVnUxY0ozZkZEcmZzOW5RWWNSejE5WjVRMUIxRnhMVnZvVnc1OVlPUWwvR2Z0SVNSMEdFQUJwbC9zdHRIVlpNTkYzbWl3QUFJQUJKUkVGVUpIS2ZSNnpKbmZCV0VoTlo0VHEveEZjWTVhYnQ1QStNZUZkME5QSnlsN3czRldzMmc4WnlrLzM0OHhyc25Ya3hJenF6aFFCVzIwbkd5dlNGeG9tY3krbHoyM1B1eWFWem92NnFjSjFmNWdiN0plc3lBK1lTaTJYZFhxcGhRdGM4ZzRicy9NeThHMTkzWC8vSG4yT0drWThROEJEb1FPY1BpMFFEbmNxMXZPbFhQVVhDSFAvcVlOcUY2N3hUL2JKVHNoK0p3NnQxRnN2NllKa0hwVGh4VHlPVkNyQ1ZER0pOOGRPT0FEYXdpejE2VzhuL1dBcFVmVi9namxGMGEzQUZGSy96aS8xL1dIdnkyQ3JKa1gwa3RxWWRJckRqTHNqa0czMUQ1S1NrYzQ4QVRxblpsb1Q1NGRMSy83WTltQWpjcVFNY3A0TWx6YXJ6cTkvU2V1aWI0dG44V3V1bmQrMHA2Z1hzVklKVDFYMnRwMVh3MlFwN21TaDBxaEhBb1pGaXA0YzRoWmY3a1I4Y05ITTFES2RNRHdmRG4xSG5GOWo1ZDk3RmZua3dIMnVLelVSVEVXdld1TUNXKy9adW9lL3d4UEdudU9sRkFHOTd5bE5ieFJRQ2QrVGtmaEpOM2NFQjVkOFpMSFkyblM4M2J4ODd6ZzhuWVdRVEJkM1NnUzE4K0xEUFB1L2VSeUNKZURhOGpycFh6SzdBOE1KUmp1bEJBQ3FaL3ppc0Z4OTdnZnU2WDNPdjN0bC9yZVpON2p5UzNkUkpJbHRCTnAxL3dwMUtWSzRrbDA5UGlXL0pQSzM3MDdzN3FDcVplOWxEb0pKa2JTTXpwZnYvOVBkOTdubjMzVTZYbDNKTklnTDhJMGc1dFVsNzhmWWlsOXpyTGRaTU4yVnV5bE0reWQ3U3phYnoxYS95Z3BWcUtiZmNZRy9NU1dHV2Y5dGZoYTE3SFhVemZNVGZYZzJwUS9tZ3dHYjgydUxVNEV4blJpdzM4ejh5bzBOeEZtWERLalg3MTNBbjh6VTljVEkzMUVnOWx1UG1JU0taZEg3Wm5UMWZUOTB6Tm5NejNKZjhiYjlMcmppbHZQcVRFR1lxZ0ovWktuZ3FxSGlSWXlRSXdLeGM3Skt3NWs5SXpRSzEyZmM2enJKM3RNU01HdUREZEZrOVNleURtWFRlL1JJZE9xY2JBNlNLaWo1S3RQNkl5cTJIci90Z1hYS05KR3Y1MjBwMGh0eTkvTG12YlJWMHJpaklpdnlqUVFERGNMRkhiNk8yQlM2NVczZ04yM254QVVYSGVkWVBmSVkvanlWYmwyVFMrWXV1T2FLWDVQQ1BWZTVPb3IwRmE5WkE0S0xmNzZ5NnpwUGlsL09RQVVQOVFVQVU4azR4QWpYby9HbUI4bU9yenI2Y1BYTmY5T3lrbU56ak5PK2hFQmtEL2tFQzJUUHAvSWw3ekhmNTl4TXdzaWJaWTZtN2l3QzlpLzRoNWcxWDU0L0VaK1lEeVhMM1F1ZTNjeWRLQk1lR0FPWnRhWGVoRXNtTU1kbjZWaDMyQ0x1Y1FDK1IxcHFzTnJYdCtTMHp5dXJMcFBOZzl2cXVsV3pDUUdqTWxZUkpCeVRiMDNwbm9mTWI3TzBEc3VRU2ZTS1BRT1ZDallpTUdRRitKS2ZRbzdmWUY3QWF2T3Z1OE9sc1J0dkdWcHRjT09NNTMrVjRiVEp2UVFCMUVnRk8zTmNkZWI4aVRPOHhVTWZrNTFlQnM1L2VpY2s4SUFvYjlNOE1TSkl3dXVOMmt5SjFqVysyUEZGb2Q2Mmtha3VZVlFnNXBoZ0JZUTRyVW40TWt6Y3M5UEVGTzNmd3V4Z3g5VWNlS0V2b09lVzBUdVJwM3A3Y3ZLcUdFdXBxUGxqblkvSzdCc1ArRm1lYzZzSDVZT3RNWjNoaVZiVTk3emgxdm1LcTVVUjRnQ2hIc284ZGtJNmlwd0lCVEwybDNoUWpiOC8rSmkxdTZ0Z1JEQzlFNzJSdDNCWDRZT01ERDd6aG1HZnF5VDJyaWp4T0ZQZDF4eVRqZkZ6K2l1aFAzQm1HRUhuSW4waUx4cEIwOFBXN202V3ZhNzJsSy9JdFlvYno2cjdySHByUWtCbWF0RDAvSkdJVG5aelBYTzAydHB6RTd0aVBtN2RsTTRJQVEzT3F5NEd6bWN3WU1IaWNqeE1CUjRmNDg2NjROSEZ4V0Q3bFkybkQ5dnpSdi9wY3c2dXU2aS84RFZOZnJZM2puemtPeHlHZXlreUVDRXdNQXB0b3pZVlc2Skcwc1J0RjlqOU9EWjN2R2xFSlBHM1BCZ0J0T2syUVBNRjZQcGJLOHRkeHJVLy9Gand5eDlKUEdvbEZBb1M0NUJudlYxOTg2NzFKYzJaTGg5V04xU1NUalNybEhoY0NQVFRJUW8vZU5xd25VckJVdit3V0dUcC9iZGpDMTcwMnVKWnduWmx0bklkMHBRK3hoS3hzUlFFRVhWdjRzR0ZMVE16bG00WDIwUmFoY1ByMndCSk1RVk9LUUFjNm41TlYyWTZBZlpCckt6V0FYZi9VbmpNNnRPZUp2Smx3aXBKWjV4M25ZeG5HNmlQclZDZTZlRkV4bSs3TzNHajI1RFVoVUVYYm1wZWNVNDVBRlRwNVVHQVpJaGF6L2owYWFGQkRtOFJQdksyQXM0UWIzeGwwZnFQeHN3SWRyR2xUbzNTV29vZzJaajEzUm5SVzZONnFoZkZKaXFtWWhRd0ZUUWdDVGVpOE44c3VSQ0tzQlMyZmk4YUJISGxIN0dhS1UycWJyczVERDd1SmhNNmc4M3ZTd2xsTmI0ZXI1d1N4K2xyT1RxSlM1NWFvVGR2enVXRTVBWVNnTmprTlFoR0Z3VjZnWlZ0QU84QjlrbUxpdU9MTzdkZjBQZmdJL2lJNGc4NVg1ZjVDMVZLTU9KNWEzRjVPQi9GcWJyZlRTTmpUYVJKa2M5TDJmRGI4Sml3MzlvNXpXbXhHRkF6R09vdkJ1K04zTkwwVWcrQWwxNGJuZmZVOWdyTVduRUhubTlKazBFcHY2Y1JVNW9ZbVRXcW4xM3UyQ245bFBpQWhiYzhIQUpsdUx6K1NVK2p5RUdaNWk1bTU2VE50cHhqblN5N05KdjhDZlpLbm5uUkNFQ2JXWkZkRjRLVU1aaXpvZlBvT3d4ZXB4TDdDUGZMcm5INUV3UzdNQmI5YU1Bc2lQMElFK0llcjBodW5FZ2lLV2J4Y3VmdXBzY2hYWDFtck1FK3IvT2pCcmhxZmFDK3l0dzFPS1ZLY3lRbDZ3dlJhc3FPM3VwNWVQMkgvb3VXVlRwZ3BoYlpLZjhyL1ZYZEZjeWswY1hyWjFaUVVrMlZEYmVYUlpTVmpScWtLUndCRFVFNkh4Q0pFQllQd2VRNG9nUm81YXY0MFA0S0VKWGlQVDIrUEVnM3o1Yy84NkV0UnlHLzlQeitUU21sNzdzcGtsZjJLUll5RVFlaFlWWEVUWnJFbDgxNlp2eEE4RVZodUZiclo2bUI3L29aTkhncWJUZ1Qyb0E1SmJwY2FWTHJ5Qis5aUR6M0hrdXJFMW1CNjJzZ0JBVTc5ZkpGMC9DVGN4YytpUGM3Y1hUUXpKdVNyZzRIN0JQU3U5UG43K20vWkNhVVBCS3l6bjBESWN1M1diaUJpQ0MrVXhtTFRjQWtrazBLa1hYWlZyeDA4dzdTVXl5ekNWcDVISDd5RmEvM1JRMS9XWWhOV2taYURuQk9GUUFmcUVOQ0ZOUEp0MUJoN2dMRTNodk5DdlE5Q29SVS9rTC9MZTZnU1JOTlJTVnhIcDM5blFybnI3SkdISC9pcEJ4NThKSkQrTDVzTU4zQ2U3d1FJaDd4M3MxdmYrU0xXdnhhS1NCNkFNN05SL1dwU0tRUXpNYmN2dDRJYkNKMUF5WklMRnAreS9BWFdiK0wrc2hPalYwNWNSZkhFS1hac0NCeEI1Y0xyN2FIRnFiRHZQblpLSDdhY3Jta3p0aDhpMTJKczJ3dmsxK3QzVllKb09pcUo2eWk5ci8vNjQwRFlVTjVQTXZhU1hlZkhiQWJHQUozLzQwV3RoMTdRRFFRTzVVVVpMV2NVT0lua1V2RFVGVzRWZUZ4Qng0UHdvTmVNNmxIY0JHbC96OWp0WGVmdTgyTlVZZGVua2JpSy9DemttaWdFbWxDNTdLdkJ4NWxyNlRvTFR4azY1c1JRRkI0Zm1WTmpPK2E5L3RaVERKMmNVY04reGM5d2trL296VGxuSG9vY2pHRDJBejFEU25HaHYrdHNOSVBMaEpYekNPcUtmenJISjloNUZ6bHIreGdYZkFxanF5S2ZKN2x5UlFBYVo1bDdEOHVpY2NzZGM5ZDk5WlVrS3Y2UUxvTzRVVWdseEY2ZXJ3OHhkRlRtWEJ6bGhqY2YzckRNUW5MaG9CUEJJWWkrN3BmdVlhVW9OMjcvaDhhdHJzenUvWi85dnE2VGdjajAzdVdXQzgyRnA1cjZMR1ZrVlpSZWNzb1ppNEE0a3JNZm15UkI1S0t5SkRkT2c4bXJscTA0N04rcHJicE5iV1lhUnlkSU41di9sV3FpZ1k5SUYvN3dlWTJOeWRCU3JENi8vOXB1Z0ZMcEhPU0RnWUUwYWJ4MXI0NTRFL0duYjZPcm9qUXl6MHVlVDc4ODZubkZZQWhnWFVxelZSWWdYSmVXOXpzTUE2OUlWYlBvZkYyelkvZTBNenR4ZEFJc3MzblJqdm5TbUQ5bjB1RjZDL25sZGtxTDhTRWZLUzQ4N1JUeENndzZFdS8wUTFQYlpIRkdWa1dGVk1TTUVNWGxFNUhQNmNBeWlpTTVod09URFVqUThGbzBxTzBIa3pZc2ZVb0Y0L3h6dlFmeFQ4czhjWFJrbWx6KzBkRnNlWVRhSTlCNS9sSkROeXg0UGxKVXRweG1pbE5OWVhITUVBaTM0NGFjNmJ1dEk2c2lVeHJ5NlFqd3FWZlVjMWxQYUhWamx1MmZncldtU0JDNElWZmtkY3ZhdmVHcmx5S0ZNUDI1NFVYRTBsR1pjM0NVV3Y3YTRpeUhYWXVCSXFHMDNWQ2lmS1RZZ0RXa0d1NXFROXlHRFdpcXpZQ2Vab1VkV1JVTksrNThwWCsrcmo2R2UvRGVNOTk2dFM4MWg4RndUZHA0S3BaSlp0UFkzSFhKY3FiYXMrOHhpNlV6akVDRDBxS25VM09MbXV4eEJtWEtFby9DN29UeTV5TUZwdmJPV2Y3bjVHQm1sZmYvbldnMU9MSXFDcUZGQVhraGdKSFpIL0xTRXIwZ1NiVGxnSzlSYW9iN0FXN1NPdldTOEdtS25HYkgwdEZJWm5aVy9QbElLYmpiblptNGpRQUt1Uk1LejBlS0k2QW5yd29Mc1VnZmdJWWhxd1hPcmlRMHNpcVNET2svZHdUTzBCcUR4N3FHWnJJcGx3Y0xqM3dnbExrVjFubjlHQTUycU5WcmZiRjBRb1RUQjNDVDJxNlhmY1Z2eitrSkRzd0pFQTZEaWZLUllwbHZkSjZ3cndTcFovVkRZZ2tSK2laRmJWUlZwQmlTSTNjRWFtaitsbGRkaCtPRGhyQWZtUU1NZ3MyZGY2cENwc2RaYnJVOUgwdEhac2poSDZaR3VWVllybVh1OFpJSUJBMEtndURrSThWRnZraTVHSDJjUDRsMGxqVFl6MUVuQnh1K0V4OFFpcWxxQ3gwS21qd0UwQmo5cFcxYThiQXc3Zjk5VkdhTHprUFBwYzV4ZzRMYS9JMmxFMFUvUlhqUDUvbks4T1ppQ29JRHN3RG1hOEZFK1VqQnAvYk9pcWFWUVRicC9LZ0tOWFh3MFJJZnFJMnU2blNzS05kb0VSQTNZOTNJeWhOSDZSaDc3WTZkREtLQ01admE5bnhIZTlVMmxvNmRlcXJRcWp4dVhQNHZ1UStRZG9HYUZwM1BSWXBsMFhrbXZmTGJMcHd0Rk5VaW13VXNMbnd1NFQ2anFpTEpqLzV6UjBCczlPMW5KU3NPOWtEcnV6WkNGcDNmMDE3clFjdFgvR1BwMkdpbkRJTkk0UG1aUC85akhDcnRwcVF4WExhbWI3UlVHWE9SNHJvNFJRZ0R5YkdpbTRzREF1OTdoR0J4a2VyUDMyRVdqNzJxYytGTVJBcEdRRlRoMWF4TTVMR2dXenRoU3JiaktIVTV6aUo1U3hzQjQraUVLYWNPMFU0MC9OUGQxRlNHeWdnVk9nMWt5RWVLcWlDTGpaQ2RBUGxzWG4xbkJVUDdaVVZ0UkZXaytKRWpkd1RFaDErdlpTWUxKUmFQV3BsckZCSFIxYnpjMmZaZjYrR042MWhGeDlGUmlUSTcrQnMrRHp6dzV1OTgvLzg3SW8xM25HWlk1M09SQWkvc2VjOXBabGgwQW53c2tPQnMrcnQyU0RLYUt0SmxJWGUrQ01DYUZsYko0Vm5nRlN6MzJRcm5SY1JPSUxUamp4eG8rWnJoUEk1T2dFWUdMMStUWnNpZUppdnd1UmJJbDRzVTEvdnVoM3Y5OHdZQkxpbTlFRTY5Q0FndDMvSEpqS2FLZkg3a3lodUJFelQvUE5yL0pVL3BMZWRZd1dBbklQYVpQM0xBUHZ5TUZodERSMHVWMFFtZWF0c2dJNm1rMlMwNm40c1VOYThucVNiOG5rOVNlZEV1MURVY0ZiT0ZqS1NLa3NwSjZZWkhBSDI0dnowK2ZIWS94K3I3UU1sS0M2RTdmanJocXZpakhnUzRxc2RHMDlGVFpYTnZHbk9MYkxRUzVnWUloNEdrZVVpeEx2ZlFPNXFaTGNBbmxSZlZvazV0TkFJOTVDaXFLSlhRbENrUkFtZG9qTnJjT2xHZWlFUi9mUWRvaGRUYndYdWVvZVplOGROVi9YV2pSemVLVGdUYkZNRW5Xb05Pa1QxTkZnc3llVWl4SjQvRTE3WHR0RFR5QmZOMC9QMDVHR0dERi9NVVgwVkJlY2h2SXJBUjlmcjh5d2UvUHcrVjh6dDBrK3p3dnBlQjJOVlF0bFpZNTlIVDdMcnAwS0RVSEZMbHROTlIwWmtkZTM2RHprd3JJUUVnc3hOSW1vY1VEVGw1T01tdkZvV1lxS0VibnJ6WVh3aXYySXF1b2dCVzVEVVJrTHNuYUZhaDU5Uk1Hdlkxa2NVL2NCR09IeTRFTGVWeUtJZGQ1NzFrMlB1MVhGTmpwUk1pbkRwZ3oyL1FxV2tNbDlHMllabURGQXVxdjd5WTEyek5LOWRSeFBhOEtuYkJWYVQ0a01PR2dMYlBDd1UybjdBR0Jpanc1TEpERDBRbDkvNG5tUlE3Zi92U3JmNmIvdUpkaHJXVlZRaUdyS3N5MUltbm81SmxkcHo0VzRXWmFTVWpZTlA1SEtRNFUrYlBwY0NhTzVsWTBhbXFmcjNBaEwrUGhQL3NtS2NlVlJWeFh2UkVJL0I4RnZVTWZIK2U3NDVudHZoMjFCZGVRQzdjeXpUQ1c5TTlwZk5uL3BhUU00Qk9OQUREeG14bUwvT1FMUFZYNkdUVzdGSzh6SjhqUGE1V1M1Sjh0djhqdjlKTzNFMldSaGNVUjFaRjJhU24zREVJOEpkYXRZRTJKbVYwRkk1dnFKMHZmdy9PVDE4TEI2SVplZkV0ZjYwNGlJNVBNYXNMaHhMMnM5SVlMcjlONTdOS3NkNUMzZjJ5a0dQMVFUalpMdzRuVTJ6cWlqODVhd3RUUkpuWDJPaXFLRlk0aXN5Q0FEOExGam9zTWlUQlBaQ1FXY0tXS241dlU2aFh3WXplellGR2RGWG1IVVJIcHN2K2oxSmYwYWk4ZWtmekZPUGs4NmtnNWF4U0xQUWZmckRsdnZ1MndCN0JaM3BVenh2a2xNSi81dGNraG53UVdPVzdncU9yb2hRaVU1WmtDUEN6WUtHVHNjbXlxbFFkZjFlK3BNM1VWWHdsZkVac1NaNjNQV0Y5c1V6a2lRZlJVUVF6T3pDN3VlRVRLVGRQZlU5Qkx1aThPdFltV1l4ZUNzazV3WC9QYnhidTFZR0wvRmoxNktvb2dZaVVKQjBDbXd4UHVxd3FGOFlCZWN4K1ZibFVMTCtyTGJUSXgvQytLMUpVL2FtOU00aU9SaktqRXhZMVpmekNoMnpVbFIwWnljWmtoNTAxeEdYMFVzUUlHSXhDd3poMHc3ekQwUmY1OXNyb3FpZ29EL2x6UTJBUEtwOTFTbGoxVjhjcjZ0cEVUY0tPSHk5RHNienRjamVHdjFQK0w1NUJkR1M2SFA2UHRLNm0zSGg3RGhRSGtNQ1lMay9NK1NsSExvWFBlcUJyVVMzNVVIMjhTNjhmNEdlRVZUUlFRa3FRRW9FMmRENTR5R3BZVWhYMjh6SkxXdzRPTW9EL2c4ZUI3dWZ1aG10RXVLNGZ5QmxFSjBnamczOVA0L3V4dmp2bHlFQnVjRlljUTdnZFNqVnlLVUlTUkFlZ045NFdzZnpGUFg0S3Q3cUZueEZXa1dCT1B3VWdVRUdOdW1hZzlNUjc2bEJOeWRLd0hhZG5ySjVkUG0xM3VsL1RaLzJENktTWE1KUVRhNHRqTDNBOTJUZnNReVNHQzhDd0dlNWFSeTdGTURJM1BKTkgvYWtqM2tMS1lqRTJ3aW9hUmxaS093d0NtS3pwUzl0aHNxcTBTOTduS1Izbkwzd2p2SXAxK0sySjJ1clpqVmdSTFdwTkcyNGRaeEFkaldSbVo4TWJ4WnpsUm5qOHpVdzlUQUMyVXZYS2loODdhaWw4em9OZGUrNVlzTTVPZTF6MEJiRTBHV1VWRFJhUlVxUkNvQW1kUDBpVjA4OVVicjdSOVh6U01wWWhCaHR6b2RPOUcyS05lS1J1VU9jRUJ0RnhtZVR6KzdnbjZtcE5mRzA1SDZJeFZMQVhIejZ6amcvSnU0UC9xS1NJRVRBVXRlcnVxRlNmd3ZXOE9PSHJqdkNqcktLUVJCU1FEd0pRZVgxNm5ZN29KOWpydTFEWlI5a3QvSVVmakhIaDVVTWRDL3E3dlJNbE1zc0FPakpaTHY4MTloTXdJWDYrZFg0dEYzS0RpR0N1RStyM2tHZkVVZ3lTMG9odnN6YzZwVHR3a3JQY1pEdXJyVk1ST2NvcU1xUWhUMTRJOEtNaW11VThMZGwvemRqRE9BbDI4OUJLQUd0WmJ2ZzFuK1ZtdjhsdXkwVzFGeGRQeHlTUTBiZmFaSDJJL09ST1Jqb0pzNTlZMWpmSU9tSXBFZ3JySmlzMTJMbmJPRDdCK2kxWmd5T3NvcUdrcGNSSkVSQkhiM2VTcG81TzkyTjN0dm8vL25zUjhWYWJ0Yk4rMS9sTEFpcnZPTEYwSXNpbkRONTRWdlA4ZFgrWE12UFEyV0RIUExCbEdxMFVOZ21pd3piK1hlc1gvMFJFZjMvakRWMlpib1JWSkZuU2Y1NElpS08zZVJLMDBiTHVUZHNTem5CWU80Y2wxQXpEUTBVYkhRSTRBeHMrSDVZM2V5d2dRbWZROHVZeDZmVE93dThaVGJySUpOOXNJZ0NUdW5WTFBkL1Nna20rQktlUFdrVWRaWjArMlVuaW1VTGdCT3BvMlRmT3VZeE41cDYwelpuc05KR3J5UmNNcGtsb2tuVVdFYWhENTIxN1NQbVc5WWdHdVJaTmRmSnRVMFF0TFFKWVpucEhMTk5TU0pLdk0vZUxXYnhUbFBWTnBpUkFVeHBDWUNBQ1Zlajgvc0JVV1JQMDV0NW9qUmRWMUcyVldkR2svSVJBRmdTYTBQbXRMQVFTNWQyTTJKeE9sSGttRXVHSWdqelVNaFBsb1VKTUx3SlFlYlpUdVBnNGZCdDZ5YVp3cGhQRkFBZ1ViemFacUJLVE1CT0tBTCtaVWIxVVdweU1PUGtUUG5CZkhMc0pwRXd6blFtc2xQa1VpZCtITUlMak1yZ1lLdnp5K0Z3aHZpZHZvSmlyVWxOaEp4QUJMRE5IY0NTSGY3RnV6cTNXYlhYVDFBUzJBaEpwbmhEZ1IyOUhNZXV1emZ2dTlORW9sbER6MUhLcHJHa1I0RWR2MWNWV2FZa2t5SGMyQ2t0aEFqbkdsZ1N2cFk2Tk56RW1CRFFFWUZxeXYrS3BwY25EdVpmSFMvcDVDREltR3JqVmVpUTNjSTJwZU1SMmloRG9RZWUzUnlCdjFxODBqVURFUWxuZ2JXTEx6VmlGc2lUaWhJQVZnUTUwL3BvMUp0OUFiTmJOOVFZOTdDWTM4a1dVcUJFQzZSQ0FhV2trYjd4aHMyNFVwc0owSUl3Z0Y5WlEyeU5nUXl3SWdZRUlOS0R6QXhQbGthQTEzOGZOMi9OdXc4eWpEUkdOWEJCbzJiNm9sQXZsQUpIS2lQcVdBTnRKOFZaWjZBT1ZreUlheVRGZkNNQ2NQS0pYUC9ibWU2QnJrZGwrdmpScmNrdUxaZmFJN01sNHgrVHE1T0pRdEdUQW1kNndLUnBrb3A4SUFYd3ZiVVQyWkd4V0hTUVNhU1lUWWR2aXlrd1dqQW8xZFFqZ1l4TWp1REZEd0RMWGhuc2NkeHpGanVqVXRUOFNlUFFJNEtqTUNHN01FT1dxenZOYk5wMzV0bUNPdm1FVHgwZ0VzRzFzKzE1OFpQb01FWHZ6Zk85cmM5NWZKYzdRY0NocnZnaEFFVWR3WTRhUUdjdUlyWHlGbng1cStLYkhYSjlDbko2YW1nTkoyeU81TVVNQWlYWi9NQWVJV291SS9tN2JHa0dCaE1Db0VhaU04SFd2MnZ5ZXZqMFp6UUhuVWJjZTRqZU5DT0RvN2NpT3dmZm05dzN5Q3JzNWphMkRaSjVGQkxDY0g5bENFNmR5RG1jUnd3UmxhdEdKbkFRb1VaSlJJTUJ2dmQwZkJTUE9BMmZSNXZSY0NzNGpiWThLWmVKRENNUWlnTVk0UW1ONlkzVHJpTmhTanp3U0ozSjJSODZVR0JJQ05nUndKSlR0MkNJS0NkdWIxd1Y5aFY2d0thUkJFZEVVQ0dDSlBacTM1NFZzdUZkN0xoZjBXRUc5SzBYbFVCWkNvQUFFY0F4UHYzYitVM2UyN3YvZEF0aElrcTM1M0tISDd2dzFDUUg5RXdMalJhQm5mRjdtazZ6L3VnYjcxZUpFYXMvbkNkU2UwYkVXQnk5UkpnUUdJOURSMzU1ZmJ0M0MxUHZkN0UyRDg2Vk1nWXNndXltelRuTzJCdTNVVFhQMXpaanNSL3JiODNYWGhGOHRUaSt4c04yZk1RUVRGQWVmQk54S2tJeVNFQUtqUUtESjJHWEpwK1FabHhmWjIyVlE3djluN0tuY2FVNDh3ZXZ6dWwweDhUVXpsd0xDYkg4cUM3N2lHWmZMQmE0K2wxai9XUEtibS8vYVNENE9OamR3VWtFeklZQlgzZnlKdkRlMWQ1eEtjVnYyNVpZL3I4Z2srUlJseHZWajE2WklYQkoxdGhIZ3QrR3BFamJrV2JGZWdZdnUzb2h1MlZXbEdyK2pSKy9Yakw4U1NBS0pBRGFPMWZ0ZU9BM3ZCVzhXZUJNdUR2dDJKZmM1K1cvTzYxc0djMUsvVTFaTTNJYW5iR3ByYWhtL1V1UkowYU41MDRBMTF0K2RzbVpCNHM0d0FpZmFtN1FYMUxlbEZvdTBNNi80TTRzWkJsWXJXcnZBV1pQR2hweUVRQ0lFNnRwKytaNDZJNGNYYjRvYm1jck4rZHFzeHBLSkxIaUpHaU1sR2drQ0ZXMnJycTJzYTdEc0hSYkgvcnEvbkNpT3llUlEzbE93VG81TUpNa2NJOURVUnZTSzBrWG8vR2x4b0pSYXhXMEZGaWQxV3NyWW5OeEttNWZ5RVFLNUk0QVBWSjRyb2xXbDh3WGY2dklYODdUQWZhSkllNmlxTzNJUUFna1J3RUh3MnlxcGY0a05kSDVmQmVmdndFRGZ6Wi9xaEZKczBEQS9vVFV6cDJMQldQZTBLbnBUWFZ3Rm5iK2lnZ3R3UERFL1oxRVhhVFZmUUFNaWt1a1J3RFZ0dm5MN09vL2gzdzlPVHoweVo3bnhwY2k0R1l1NDBEK2NzUkpSY2FZYkFkeVljVTJWb0tXVzJkRDVBeFZNRGtLQUVKZ2RCUEQyL0xFcWpYOTdCdW04QW9VY2hNQnNJZEJTUis5UUx0TDUyYXBjS2cwaEVFWUFSOFMwaFhWTDJmQm9uQTlqUlNHRXdDd2dBTE85WnFzemRGNExuNFdTVWhrSWdmbEdZT1BPbHdnQVlMWS85Skh3N2ZZRjc4LzdMTWxGQ0JBQ0kwR2d6ZHl2cDdYVjI3T2M3Y2pPNUl5a2pNU0VFQ0FFZkFTWXQ0NXY2TXQ1cHphcXM3ZStJT1FpQkFpQlVTREFMOEg3SWhqQmhMZXY4VFBlc2RuU0lzaEpDQkFDMDQwQXpQTGltRDIrVmRmVlN0SlI3OC9QNjJmbE5ERElTUWpNRWdKOG5PYzNZZ1UrSk5WVDc5c1VlbWZHTENGSlpTRUVwZ1NCbHRpanc1dmQrN3JBRjlXbFZiaUVYbzhnTnlGQUNFdzVBbWZzNXJIakxMRnovUHFQZnd2ZVJUWGkrN0hrSWdRSWdlbEZZS1hmaGZDMXdDZXFzTXozaWxUa1hkZlRpeHBKVGdoTUx3TGx4dTFkNTJQc2xqSE1PMDVUM2xsVjE0L25UVzh4U1hKQ2dCQ1FDTUF3L3lEclg1TmU3Ny9EcnJxdXFuNDhMNUNJdklRQUlUQ05DSHoyeGV3TmgwSEJMN0JuUkZCSnV5UXZtSWI4aEFBaE1Ec0liSGlHK3hYdHdxelpLUjJWaEJBZ0JFSUl0TjFqK0RTMUR5RkRBWVRBYkNLdzJqckhoUC9EN0pkbXMzaFVLa0tBRUFnaThGZXMvN3I3MkpNQmUzNHdGZmtKQVVKZ1poRDQ3SjJ0aDcrTlZINW02cE1LUWd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NTnNJck41NS9sMnpYVUlxSFNGQUNHZ0lMRGZQNzNLL0lhb0ZrcE1RSUFSbUZvRksvOUNwM0p6WjRsSEJDQUZDd0VSZ2tiM05jVmJZTlRPVWZJUUFJVENyQ0ZUUDhlblFWWFl3cStXamNoRUNoSUNCd0NKN0d2NHllOG9JSlE4aFFBZ01SdUJWWDZPZW5jR3BKeVZGaDUxeVVWcTN4aWJRNXhSc1h6TTJHWWd4SVpBR2dUcFR6MWFhL0dhZTlkWVZNNkFZWDRtZEM4SU5acU4vQWVhOXdwK21nczBxUStIOGljRW9FZmdockNUMTU3R0FYNCtiZkhlK09sOWhsMGRSNUF2c1M0Sk5qWFV0N0piWVZ5MmhPUWVSenVjTTZBU1RlN1RGMkF0MmZRRzUveVZUclBXNTZ2d0NHODFrdThMMlJRM1UyS0ZmRTc2cndiWjhUMEV1MHZtQ2dKMDhzbmVMS2QwdDJkVEtYeEQrZDA2ZW9Fa2x5bFhucFM0bVpaNHlYWmw1dXQ1d2wvVkJNayt3MjhHZzNQMms4N2xET3FFRTE0U0tNM1pyMXhYdzE5bjUxKzgrOWtlam1kRVdna25kbXliblFYeU4zVHJPZzg0Z0dtdmVjdDVwMlFmMGNvdGRIVVFqcjNpMGlMeElFWjJKUktER3ZuVzM5Q0VvL2hlRmVFdnNacGM3UGphYXRpNTQ1dnlUcDg0ZjhZTXlJM2oyNUlLZFJaeSt2WWM5T1FJeEJBdlMrVkVoUFNZK2EreUZuUE5Ib2ZUYitDODErenY0dzFPNzdQNVAzMitPT3IvRyt0NzBKMWNZeW4vK3YzL3RpMXBYTlpwVjltWGh3eHhmRC9aVGJFUkYrRW55Y3BITzU0WGtCTkZaZlhILzI2UTRiYzhnZk1ZWVB3ZDJEL3RlTDJacEJKWmlLVVMrL3pucS9KazRLSk92ZUtCV0ZldXBiWjh1VkgxZitLRGFXMzZ3N3FwN0V6RTlyQmczNlh3eHVJNlRhcW5CV2t6YTZKcGVFMXRGTTd6aWxGcktWRlJ1alZQR0xMenowM21BY3BoRmtxaThMYUh6MS96b1M4dzdady9IcVIrc3V5Q0xsa0dQeWR0Tk9wODNvdU9uZHc5N2svT24zckp4WGIzSDFXYnNwblBCQytaQ2RrN0hMMm9xQ2ZMVCticGNaYWVTSXpyVEQzek44NkgxdTM2Q0M5SzNHTjNMVk5oWC9BeEZ1a2puaTBSM0xMUkxMZDdhNnE1SmFNVmRSa0lRUHRCdlYxVVg0RGdYcjR4RnZPeE1jOVA1a212anlDNlJoVUtMOWJYUW52UkIrWGUwY04yNUpQc0ZQYkFJTitsOEVhaU9sZVlLSDd4ZTdZMG5KNWVWTEJqb2I3RTVnc3BHQUFBZ0FFbEVRVlIzS2ErenByb0RQMndxWExucC9IVzVnVlpBc2Ztc3luK081UGI3Q1dQSGZyRGh3bmJkYVBZUVNPY04zR2ZCYzRiWE5XRXpjbzFHOVd1cVNGaEtHb1BNOHJTKzRaV2J6dGVLc2VCeHhER0YwRzJrVFRsdnI4c0JYMVdMNytnWjNZUWZucmVMZEQ1dlJNZE5ENjN0MUVHMXNodGNrazdYbCtlSUdYdkFKYjFSK3FrbTM1V1h6aThVYURWYlozcC93cnRnK1VSdnd5UFAxaWpRSjUwZkJjcWo1QUVyMFRHdVkySHVodkRacnM4YkMwYmRydVFvRTc2ZlpDcGNlZWw4M2VnQzh5MDZha0gwdVM1VmJrdVJUOHpzcXBiakFjT1k0cERPeDRBemxWRmloc2pWVzdRNVhlZkxUYWF2NTh2dXdienBLMlJPT28vMTg1WENDZzliM1dXZk9HWVVIL2dNZng0emhuOC9nZXZhWS8zallGZ0JmdEw1QWtBZEs4a2FYenJ5dGJ0bzBQcmMzc0hrWG51SmJON245cGdMN1JSV1V5ZDhoYVVlc0RvVUhnejRCeW8wNU1Ea1h1c29RdEY1QlpETzU0WGtoTkRCY3Y0R1JNR1EzdVVTYVRZOHNWdW43Yyt2bzIrWXlpZW5jZjZzd0ttOTAvYndkd0hlbElzcVRQbTNZakN2amVUbUxOTDVtQ3FZeGloVUtCOHJGdTc5WmlIOXBqWndYR2NZNlAxRi9OSXowMWcreUp5UHpxTnoxRFl1ODRZQ1NHc2tONlcxL3FKVWZpMVNjMTZQajlaU1puR1N6bWRCYndMellraTVwb21sSzNiak5pYVAvampUMjlmU1RaTXpINTNIZkZzSEttY0Ftc2ErMjRuMDlmVEZWWmdsNm1jL0hKcDNDT2w4M29pT21WN0hQUFN4Nmh2cWx0Q2VLdktWV2tqWk9CeXpxR25aNTZQelovSHFsMVk0Tng4MjUvU2QwSjU4ZjZZeVlQTGVIQkNmVFNvdk4rbDhMakJPRHBGRzRHeFpzeXRscStHOU9xd241YnVjYSs2ZGpESjJpdjV6MFhsTTdRczhod2hiM2RNYW9uVjVKS2NaWjhKRGhyclpZMnNrY25TU3p1Y0k1Z1NRd2dEanI5aTVQSFY1bnZNMTRtUW4xcGszajRXY1IrNmRqQk1nODdBaTVLTHptTnB2RGNzNGVYcW8xUTB0ZGR2ckFjUjVLUzA4NU1RZTYzWW9NTzhBMHZtOEVSMHZQYXdJVFYxZU9OOFZFcTI3dXM0MzhjUnJ0bmNYMmVTTHhTQVhuVzlMczFvaHNtSjdmbDhqWFBmbUZMaWlRd3UxT05FcG1OVm5TWk01aUhRK000UVRSUUFEUmNBY2Z5UVdscXROVDhkZkNhVi94MjkrL0JzQzA0R0pLc1FBWVhMUitWYWhLK2NUY3hiUjh5cGxjeURUbzhEU2JBQVVxYUpKNTFQQk5yR1pZTGEvWWdxM3dHNy80Y2MvejloYnZlQUtsSjQvcDJheUtmTGxvZk00R1hkUVlKSGI1bm1mRTIrbWZ4YXNuSkFJMksyN0Znck1PWUIwUG1kQXgwd09qZTFxUUlTUGNnMW5QeWREUzNjSS93dWxmL3IrODlENWsySjFDMllUSGRkTlYrZGhiT25xd1JZMzFsNEhsdUJjZzBqbmM0Vno3TVNxOHBTbkpzbXI3dTNmLzdlYS82WDNzamZyZmkxcUtweDU2SHgxME1vNkd4Sk52aEg0bDNlZC85TmpRV2ZGbmR1dkdSdDRkZzR0dWExbmo4NGpsSFErRHhRbmh3YkdjTGVaVFk1SXVVdVNnODdqS3NxbmNwZkxKNGdCL1l2T2Y4djZMYzlxY3NtMTRmVU13NTZmWEhlZEZWK0JwUE02NEZQdlhzYnR0bE5maUVFRnlFSG5ZZW84R01RbVF6eTI1Nyswem43MXVIVEczczdKbE53ZXBzbHZIaDd3NEhUdTlvQWtXYU5KNTdNaU9GSDVVWjNSZHpKTWxLUVpoTWxCNTN2RjJqQlJEYzlVK1g3Sk11dnY4cExXK0tHSnhTUjNYOEc0V09CWklTNEx2MUJGL05QUFRDQ0FVYUxJT2V0a1lKU0R6dGVLWGM1amUvNysvZzVIcStaTzUvZjRpdXNvd1REUGJ6VXpEMVhsanpucGZQNllqcEVpeHEraVI0a3hsczVqblYzbnNad1hweGFLS2d0MkJid3gzYnROK3hKZWRueWMvV3dTZmtlRkwraEo1NVBVdzlTa2dRWG9ZR3FFVFN0b2RwMDNiNjVLSzBkMHZqYno1dlRPUlc5QzBlbmZtYkNiMlF2dnRrWXpTaFZET3A4S3Rrbk5WQnZOVFN2akxYNTJuUzlhcnpCV1ArMWloRm4rSVhlVjN0ZC8vV0FESGs4WlBrbkpRL044U09melJIUHN0Smg1NW5QczhoUWlRSGFkaDA1MkN4SE5JOXBVcHlTZ3daZUg0NFN0bDBMWEhXVERHNjQrSmowMTJrc3hIMkNicUlKbjEvbUNkelJoaDVPN0p4aFRENFlFcjFtc2ZaRjBmc2o2bVBEazJPaVovU001MmUvR3dzdUhoUTZsZkh2ZWF5bXdIQXhyVklWTlJpd0hDbXRyTkxjdkROb3hFTVpMNFFOZTFoeURVTG16ekR6T1k1RWRlUGt3WHhtaFZEYzhpcGpiUy9WUHl1UEVmQTgzYWJiazZVam5rMk0xK1NrM3phK2tUYjdBcVNUTXJQUDFvUmZadzhtcHZUMFA1MWVHeTh5TmVKNEJjTWlNU1pPVHppZEZhaHJTb1RFWE9tbWREQXd5NjN6TmZOTTE5MUpocE43eWlLSVhIdmFRRkZZZXhaN0tJWjNQdmNiSFNMQXkvRXh5ak5LbVpaMVY1MkZpSzNZRjFQYjdGS2ovc0hON3AyanhTT2ZUdHJ4SnpOY29lS0U2R1dYT3F2TVlTUDNiZ0lzbzBwRnZTY1hNYStpSmVyVmdJeDdwZkJHVlBpNmFiUGlkb1hHSm1vRnZWcDJIcFhOb1BSeEtYTzN1WWN5OGhqWVhvcDhZY2s5L0tPbm9IWnZoNEpyczFIeDd2dERXTWhuRno2cnplMFgzak5xQ3ZPYWI4Qk9EaHhlbGh1NG5FaE5IUWhybmgwRnJ3dFB5N1hscFBCcWZxS3Qzbm45WG9keXo2bnlsNEJQdDZIcVZyUjQxc2o4c0dOREpZZTErTVN3ZWJkNi9ZMGFUenB0NFRMVVBrOWFDajNNa2dHZTVlWDRYMjA2UU1IV1NyRHJmTEJnbDNHa256K0hnN3VyaEx4dkZrUjd0ODhHcFlYSXozczN1YjhwRGdSNHAwdm1NbUU1UzlrMjBzTjF4QzFUcEh6cVZtMFZLa1ZIbnVSNFdLUjdmWUQvd0dQRFBDWFE5OTEvQUxaK0hYM3ZvaGRyK2tPcllGcDRpYklIOXNyTVFXUENSenFjQWNsS3o5TkJZeGkyYnVBeG1wZEFMbXpQcVBQU3cwQzdKd1RtY3kxNDE2QWNqWVpyVG53OUUxMVFqdjB0NXEveWVqb2E1VkNDZGo0Wis2bUxPOHB3VXBpeTlhR1NyYXFCTFNTVTJXMGFkaHg2YU9oRExMRVVrYkhCYlhyWk56WnpuUFBiL3dQY3ZQb1Buc1pjMjQ5UWE5U2c3alJUczlTenVkVnh0OHpnQzZid08wWlM3YTNvTEcwOVpGc1UyV0xsUXJjcW84eWYrY3JzWWpLRG9PeDdsdHNFTGg0RnVlQkdZYkVTZkVlajU2VEpLV0JVcml4Tnoya1U2bnhIVlNjck9paDdCQmhlMjQ1cXNXdmtab2NJOE0rcDhKL1NwbnpDTFRDSG9WRENoRmsrVjZlWk1HUFQzdlFnSFkvbWhkQWYvTVZGUWh2OWczRkQrZGZjbzlrV2ZMYzlPT2o4VWlCT2RHTGU4Rlh6WVpHRHhTOTVWMjQwaTdRb1pkYjdtVDcwSGxpZFZBdWk4bHc4RHUyNVV4VjdxbHFTSVJmK0JkQWYvOFFKdVBpZnU5OXh2WmEybzZZWGdSRG9mQkh4Ni9keElMT2VPWXlyRkJlOTBlVTFacXdzUUpLUE9BNldkQXFUeVNXNnE0L3c0NWF2dms4R1NvRGdqS3ZJZ1B1THkrVXBCMCtXM1pBNEZwUE4rWFUyN0MzdEVBNytCV0hBWks5NHNzaFk5Y2MwdVFUYWQ1N01oT2ZYT0xvdU5ncnozMG5HZzVPL1NVbUNocjN4eFYrL3k2VUVlSWk1NCsveEw1bEtCZEY3Vnd0UTdzQXpVVjQ5aktBOGE2NkZnMnhqK0pFcHljYlBwUEdaRCtReWlrUUl2cVhHK293M3NTRjdYenRyZ2xFQzBFYThwY1l6a2tTaml4TlAxRmZNTmE5TDVST2hOUmFJOTZQenBXQ1ZkaytyVThoZXUrUXVVVGVjeDl1cno3ZnpGd3hrWWJ6Z3Z5Ky9WZVV3cW1wckRuaGU5WXdqVDM5VWNCRHZ5cG4wWE5iNGdTenFmQTdZVFFnS2pTcEZUNmdTbDNKTURTcUVUam13Nmp3bDJ0TElsS09QZ0pKaTJ1ek56S05lK25yeWhMZUhSTWNnRHVub1MxdzJqL3BWdzZMQWhtRXFjaWp5YlppOUhPajhza3BPYkhxT0RiaVVlZzZCVnJ4MWpqbisxT1BiWmRMNWUvT2FHWnpyamMzbGpXYTZiV0xFUTI0K0VxSmZMbTNVdy8rOEtGaWZtTmdEcGZDVHdVeGZSZ3M2UFZXaW8rcjRRQUNQZFZuR1NaTlA1aXE1NXhRalpjYzBxUU9GdE9nTjllNTd2ejNmMVNNTzltY3NHL1lrMEgvUm9ibS9BT3pzZS91NUlrVWRoQmlNRjg5ZzFrUXFPMDhISjA2Yklwdk0xMlRHbFpUODQzNG83M2Jrbk1NenIyL1BvRDJKV0dOaTh6MkdEL2t5eU9KTkxMbGQwR3VjSFYrR1VwTUN1Ymg0dEpVTnAwVlRkeVNSbWxZY1o2QXpJbWszbk1Sc3FjQTRpUkMrSlk0anJRVU9tdmozL0Y3Sjd0SllWK09Xd3Q5Q1VGb01xN2RWWllaNytRSFRmc21QUFZwaEhtdytsMDRxZTNLU0M4dTlra3lFdWR5YWQ1N09oQXZzalYrNTcyRTg0R3pYMlMyWXBNR09YQVhoRlBoQXBZOFEvNzc2UGpaQVVIa3dsRHR4c1RjMTJpSkFrNC95bnYrOXp6N3N2aDdsR0Nya3BTM0lFb0dqczZlVEpJMU4raEoyemZpcTFPSkx6akpNY21teWtmTm0rWXdOdEs5N1FXYTRDUS9ZL0JJcmdiOCtYcXV6Sk9KMkd1bWJ2TktIYVY0VUVNTE04bzR1U1FPZVJCRS9CZTVxNlRPUk9oUUNHa1R5TzNyNkd2ZE5aVFRkaGFNbzVaRjBPK0trS01paFRwbkVlaTJvMTJnNWlsRDYrOUt6V1E3OGJ6SzYyNS85empUMjVHNHcxL0JEeTFBaEk0Y0VZNFBiY3NCMGU2UGtUNkR3LzNwWFRyRkhuVE82Y0VhaWpscTVrcHJuS2JtSUVxcWNaWmpDZXFLZklJU0tUem1OUkhiZFUzbmdrWGhtejROdGd0OTZQNTduM3N2NjNEcURUbEdQMGdIUngwU2VxTWdLbkpSTG8vUExudmhaMmorZ0RCSEY4S1c1MENKeWhqcmN6c3pzVDF6V3NtQ05ETXFwODJpeWZwNUpsU1pVcWs4NWpOaFRYSDlVTFhPeExiTEM5OG5zRENsN0xZWE9oN2ZOTDgvNDhodnFEQVZKUzlMZ1JRRHZKUGlHOHhQb1k1cDMxTkpON1RKcy93RytCK2N4aitSZ1dvZ0ROcFBNbmNlZmNuVS9LK1hBVTd3emgvdmI4WDhQd3dWR09maW81TE5NcTdMYW9qYy9zQlk0Q0pCam5JUmwwZmp0YVFJcVpDQVF3R1Vzekl6ZGw3N2htd0kwMEMzSk1tdzhGTlF6NEJ5YlpYSDJaZEw0ZWQ5emxzOERRTFVLdUFydkV0TzM1Y20xQW45b0ptTjNTaU5PUTFwVjJvREtUNmZ4SjdHNWlHb0VvVDk0SThFMm96QlpwakVXblFyREEwSkJJV0V5YmQwVkNiQzl2SmNxUkxsRW1uWWMyUlcxdWxEN0VJU3hNNS9YdGViaFA0d3FQbmlueTdmcTRmSHFjV285WHpXTjRpZmJxSEtjdGExT25TZTZKUWtDc3ByTktkRjBhdUZyUkIrWlhtMXcxak9kYzZMcTZLd0xUUWxmNXM0cGp6NTlKNTQ4aVpzMnI3Ny9MTFZKaE9vOHVVWlVISFhUczdWZDd5VDh3L0c2akpvVG5UWUtQbW15MUFzYTRaT1A4VVdCMm9HUW54OFFnd0RlaE1oKzlyY25ocFJtOUJZQlJQUFNjY2hoTzVCM1N2ZXlDeE1HYVNlY2JTaFZNRmxBRTF2OEhpQjJvOCt2dk5YTW05Zm5iODhoUmpkY285QTlKRDhSVVE1WGhuclRGTHNwbElSbzIrL2NOR1pQcGZEUFcxbWtRSk0rWUVNQjBNWEU3aVJJUmM0VnRONjRSdmRXL2NkY0R3ZWNOeHp5WGVwV2pNbUMxNnJKSS9adEo1MXRCRGZERVdIdjR6Yi9mZFpMb2ZDL2w3ZmhxZTU1elBJdTN2V0J2UFduLy9XZkJ5bmpnZ1cvbkhLRHFXL3lmdjg1L1RUamtUeUtkUjVkUjVONkxsSVgrc3lDd0NaM1BXa3ZYMWFTOEVibnFqWmF4THVlcnpVSk5lTm5PNFFHbDdlZ2lKTkg1ZHR6K2ZqUnBSODJoZUpxNjFFaDdCbHh6MXJmSEpBNkZhZVpRSkw0UUpKVkk1OUg5MC9aOFlyREhsTENIMWh4bG5Vb3FVbFhPempIZ0RkOS90RDMrV0t5ZUp1V1lKbDJXY1o1Yk90M2h6OG81aWM1M1VtcWpZVWlBemwrMVN1QUc4cFhHY1V4OGdpZ29iVmNrVXhlWnlFeUpkQjZKRG1RRytwOVFCRHBvSnNheDZ1SGxSRE9SdlViVFhSUU9SYVB1alF4cndZRmxLQ3FERTJmUmVYNlMvVFNhUllFNmJ5NnJVVnN4WWpqOEN1TnV0SmhKWWpETzc0cDBSMEhsVGFUeldGMXNKMkZEYWNhSVFCWE41Q0FiZjlqYkwzc1Vtb0g5blNTRWUxNmZzNWxpanBDRXZreVRSZWZScmNWWjZRclVlYWl4TnNFNGlsL1BEeEJUSWhIM2p6N0duU2tFbC9QSjl1cE9RdG5pbUZIY1dCQm9valZMalUwcFFNZHZpR25zZ1NlZTNlOHMydWFmVWpBeld4YWRIekNBRnFqeldLTHYrT1VZc0Y3SElCMHd2UGxaRTdwZ2hCTXBMOG50VjVVdjBUamZsdE1FbFkwY2s0WUFxdGdZU05MSTExS1RjbENMTzVWdUo3N3A2anp5ZHUwSmNnck5vdk44UjNNM1dvNENkWDVUMjU3bmMvZXZSa3ZoT0FQTURuRlpWWnpINzBTdDEyUk1JcDJuN1hrSjErVCs4NUVoYnRhYVFITGMxQ0N2WE1mRWNQZ2RxUlYzYnI4VzM1d1RDRElnU1JhZDU0Y0xZc2dYcVBQR29ZVzlBYTlBOGg3OGFveWNTYUlhN3R6K0tHUTRTS1R6dEQyZkJPUHhwdUVEV053SWxrQTZtRzNrOWd6V2s4T1A4NWZjN0wzQUVaQUVuSWRMa2tYbmNZb2h6dXhlb002ZnFRN1ZjY3JOUVhXRnlzeTRVTU1SQUQ2aDJRaHY5Q2ZSZVhRNnNST1I0V3FNVWhlQ0FQOXdWZHdJbG9CcG15bHRSUStTOUJ5WVQ3amsydTZhNThkK1dCR3VMRHFQZmkxdWU3MUFuZGUzNXg4ZmVKd2VsYm1mRWJzOVlSRzRZTjY5eTJrbTBYbDArbklMSjZNWWxMMHdCTEJjakczTkNSZzMvZjBqOUNCeW1wOGdvMHhTNC8zRVlyaVJ5ZmljL3JQb1BHQ0tPK0JXb001ck82bkxNSngwNDhGQVhSekVweGdZdXlSV0I5VndENXhFNTVIbXhrQU9sR0M4Q094QjU0ZWZqdXN5ODYzcnJoY0ExZENuZHVVUDNzVWVlbzZlMk9yZTR5dklvM0FqY3hOLzZsdGFENzJnYTgzb0JaWi85Tjk4N25uMzh2SGxQZmYxNzQva2wwWG5UK0lORmNYcFBBYk9LMTR4bDJ1TWllT3hNVmhBa0dpZCs5VHptdjNYZG1OeWk2Z1NONitzV1hyZ2VKMS85TUZiMytRNG1BOWQxaGdrYkFCYURuSVdqMEFIR3F1cjZmQWNNWjlYUzkwOTQ3MnZEVFRTQnhoNzR5Q2FsOUJPSG1jL2EwLzJNc1llYnJIelV4Rjc5TWdEUC9WVDl6N1k0dnA5cWYvd203bDdCMU1FL2p6dGxMOGdIRDl2SjVUcDdPMWVmTTlZbE02WGZ4UkYra2x4aGNXUHZxZkoyTTlGRkUwRjE3UnBnUXIwSEgrR0dWMlRuZThFdzRQK3M1dE91V0YrU1Vja2lkTjVRTjl2c3U5MVR2dzVIL0lrYlFCQkNjaGZLQUpIYk9BYWNRQi9uTWhSRTRXT3NaeXJzTzgrZGtvZjFzK1UyR2wxK25kR2RUei9uTEYvNEpSeHAyNlhaK1hTOGtmb3ZPdkU3clhVK1RaNy9mLzBnMUNTWDdaenlUTE8xK01ORlFYcFBMVE1lTDdMWGpBdHRPcmJVN1ZRNFZ4Z04zL0xjWDZrT1hEeHRjNytWVE5rdEFlSk9KMC9ZN2QzbmJ2UGo5dituQTg1RWplQW9LemtMeEtCSmhvVjVuSVpucDQydGgvcHhCNW5ieFZrendiT0kwcnY2Ny8rMkNvQzlnSEZkUGFJZllYSHYrZTVYRjdHWGdqM3NuRDJYN2ZyckQ3N2ZRaDdlbzM5MXp4Tng1eGU4aUQzeWFMejdYaERSVUU2NzNabUtCdC9IbjdCaml4SjlEOHFJT0xTakhMRDdUWXYyZFRaSlBqRHpZZiszZ3dSdmhpZC80VGJKOWYyd2QvUG1id0IrSG5JVlR3Q3ZEVWRaR0tqNnpuYS9oVkZUTTRQMXpPODlpRjNxdERlRGdWaFhBSFB2R1VBMTRpZjMzWFp2UVp0dlNhNkJXZWpGZmoya3hRb2k4NTM0bGRBS0xjcm51UmwrZStvRlpBbE1xK2dNNjBETm1tdXlNVlRKMjBYSDYzek1DN3VjMjRYbm1ycTV6UHlhQUJtSWNpWEF3TGlTTTUrSmtJdGJYc0lXcmd0aVMyeWQzbk94cWtNRy9ZZnpXemJ6ZE9RWndENEtkaHJJZ3lIenQ0cENTSzAzKys2dmw3Z0c0OHlUVWFkZjByU3NmeFBnYzVYKzhldTRDc0RwMTJXQXZLZ2FKMlgxM3J3MXVSVHo2TUJSSWd5NzhHZmZublU4NHJCMEhBTkdyemVqcVBENjNuTFM4Qk4rSzQrSXFBdUo1RjNHS2JjT0ZxaHVMYmFSL1NQb3gzSm8yWWw1cHY2WWQ1V0c4TndXL2ZWc3VqOFdlVDRLV1NlR0ozdlJGMkdzQ3lWY2FFMS9FbEp0MTRpZFI3Vi9qWTNTZE92aFh3YVFLaEZVQUFRS0xmUTNDT2UwNEVJaVNNNWh3T1R4U1RnQi9sZTkxejMrUmE0dXpLdGQ0YlRBWXQ5R1Ria1AwWnlkNzd1Y0NwZWJ3S1hHN2d1WjZ1Z2F2UTIxZisvdmUrUGtTU3I3NnZkK2JFN085TTdnMDNzaTBReW8yQ3pGMGpTYTVMdzA2aWJRSHduTzhvTWttTXVUa3dQaDNOM1FvWmVjY0JlRW5DdEV1NTJqWUVlWWNXZ3lFbVBJd0t5STl5cmtCZ3JrdFdOY1F5MnJQUUlESno1Y1RNZ1crSVAwQ3kzTU5QY3I1ZlBxM3EvcXJ1cXU2cGVWWGRWNzdmLzZIcjE2cjN2Kzc1UHZjLzc4WDAvU3RkQ1pvS1duSThZSjNzcEZKL3pZb0d6NDlUQ0swUVRxQWgzSk9mN2pOWDlPTWZtVkdFR0JTQkNrenZkMit1ZFIzRCs4a1J3WUhTZnRKeHpnb3psb2JSbDhEWFpSRytyL3JsOEZQc0syVmRFWUQxUHpTdTVIZTU3VGpmem5QTzYrV3FFRzdKc09MOFpMbExtcEZtVThYelg3RnhMN2ZpMUw1QkVjVkd6TE9iekdPNUl6cnRLWk4rd24yWlJBR0pvZFVjR3VYdUlkUHAyOGxRc24wODFMYTBwQUZ6WDZYR1g2bFZma0NUY1ZDMTBZdWx0WTdaWDl4cFJzTHlhb0NwWCtVTXVPSzhIa2lpY1NnMGpUVXZPOC9uQnFGOWhPQS9FTkE2bXRoMHh3RUszYkp4aHdvd3k3STdpUFB5bDVlYlFlR0ZaRklCaEZlZytBd1MyV1RnLzRvc0dBMVVwZ3pRMSszdE84azZQeWVNTEZTRkJwWjZNVkZNcitURi94eGZycnNvT0pROFI0RHp2Nk5lNWIvQm53L21Pcm5LQ1F2MDdLTG9YNW0vNlRjVnVEODZyTjJBbTdyaGlnS1g3UzRISGNXNmlPSSszdmlIaXc5bVRvcklvQUZJV1hUTkU0QmowU0w0cnhsU2dhN0JoMDFnUnNpN0hER2R1Zk5JTW44Q05mcWllMzlxVWRRZy84Sm1QN2Z1cXFvSElBT2RSd01OTUNIY0M1MEc2Y002ck4zUFgrdzhTdkFJemFCVG5XL0pOODBVNGVubytnd0pncGs3dXJCQ29zZlI5UFY4SEVQQ1cxQVpjdXlMZGVPVzcwcDN5aWtLbUIrbHRYWnpPOFdxbTB0bzN4QVk1djJrdURWS2hiRGlQWEphaWI3OGRWWVhiZHVlQVlnVG5NZldqM2xKVE81ME1Db0I2ZGVUSUVJRVdPRCt1TUU5T0NqemZGYUg0aVExSE1nYXNnNE93MVZ6eWVZd3JST2crQ0VwelQ4U0JPZi9VV1E0TTJZT2NiMHZUZmlBUlM4NGIxb09BV0g3VExFcmZIaWhweUV3MThhSS9sTGFCRjNJaU9JKzM1TStqSUpneHp1TWZxN1F0QUdZR3lKMFJBcHlsdXBsT0pSUUNOa1JFRExUMThSdWVQZi9OOVZReVJhU0dXWVQ2eGhpOWk2bUF6cU9tNkNEbkVUSEVPRDNNK1o4UFg5Znd6OEtvVVZOOVl6TlY1WTdnZk9XUGpTUTZBK1BtOVRzcXJuQ3NzMFMvNGVqaUhpaUY1QndQb1NFN2VYNUVySGplRVp6djZoS0V3Wmh1UURJb0FQSDBvbENKRU1CTDBzMTBvcGd5TU5wY1pTL0RZbGpkK0hxcmZSaWJ2SGRUU2hxOW9qU3BGb1RQTU96SklFam90a3JWOHd4eUh2d0pPZUZpaVBNWUlZVC93aWJpYTZrNGoyOTlSUDFNWTRTWGc1dzVmK3dwY3ZJQ0NXR0thd1RuWFYyQ01DbHdTd25Pb0FBb1dlVElEZ0h2dmV6YnlPTzFobXdZMFp2VDgwQnlyZEJKUGJWNGxOUFRmeWgvVFhQS0QrVXNTSm9nNXptZFIxTWQ0bndreVlLU2ZUbElQVVhmZmh0NlJQelVFRmpxR2FsT3VBQVpiZWphTndiWGdVZXkrdm5sZ0craW0zRE9BM2sxb0VQVGZsbUp6S0FBS0Zua3lBNEJiK1BXVFJ0NW1QdFJ0blVVdUdlMUxGbmd3eWlrUTQxemJRYUwrNkNuQWpmTUJvWDdCam5QdTVVcXJISU1jZjZNR3hRdjd3Yi9Sc1hRamxvcXpwOXRTYUVqMTNkcTJiNXJmU1RJV0kvaDZPSWVyeUM4YisvMTZMakVvNGlZazczRE9jK2JqUjBSR1huWTBISzJSUWJTRndBdGkxeVpJZUQxYjNzMjRqQ0dWMDFXaDdGOUxRdWJyZnlmVVF6MDB6aXVxams4REVSQVRSTXMya0hPOHhYRnNoenFlRU9jMXc5aXVHcXBPQjhRM0ZWMVk4QTcyNXYrTURCSy9MM2liWVJQNWFsZ1l4emhuRWY5cWpLMnJjZDVrR05mQU1Zb1E0L1NJbkRJQzBMYXlGNDhWUE9xRklIa0I0YXdpN2pudjdEeHNSRXMybG1ONUR3M1NkMDBJK2JOK1RHcWNEV2d6cDZwVHBoN1dwd1B0OXM3enJmOXR4RzBnNFFwR3VVWHp2bERvNWJaREJZbTZ3SVFwUW41V3lDd2pYSVFZdTFLSU5GWXk0bnVZN0M4clh6Q0syYXBFMEFSMG1iZ2dFNThoaUR3S01qNVdIMzdnTUJKTjJYaFBGNW84QjBZR2VPSGErRjN4ZkJLNUF6blBGSlVScHltWWNQbG9tMExRQ0wxS0hBOEJJNVJCaUxMU0N3UjRMeHN4MkVjR0xaei9jVmR2SlRWWTBrYURRVHRwT3loaC8wbmNRU3MyYWNJY2o2V0RXOUk1UGpiemxBZE14UzZXWlIyZnR2b2RnM3BpQzJZcjIzaGJVUkFPaEo2eENPYzgxMk5ER1orVlo5UHhMWXJBQ01xa0llUHdKbzU3UnR3VDk0L1gwVVpVTFYwS2tEUnQ1ZEVQOFNzK1lpTTF5R0YvUkhmZUI3dEtPVXFyY3Q5MDBROGJNTmJEKzI5Mkl6bk8rTzUwaXdGNXpIRXJsblU4ZUdjUDlibVZIVDBSaXNVbXdJUXI1amNlYUhrbEFpNE5mSTdtZ1NIaXlpQlB2S2tDQ1BQd2ZsYnduTXp6SENHejZJWTh6Y2owY2Q2TklabjVHVG9oZE1EcEd2YWc0UHRQQ0tHOUY1c09JKzhqUlpucVU2Qnh2UHRJQ3hhUStFQ2JNcmtPdkp3Z2tjNDUxRWI3b3FJZ2VsNUpjeWlBQ2daNUFnZ29DWmgyT2p2Y2lCa3lBMlBJaWtiOGppR0Z5em9Va0RMSk5xZnk3am84ZTlLZDhJcnV1aEI2N3lNdjRtdVJTMHdaZ2h5dm0wdTVwR1JyTTY2M2d5VnFFUTNpOUxPSStkaC9iYTFubFMxT2pUa2x2NHhydUdjcitwK0hNd291NUR6VHc2NHNDd0tBSmREdnhBRTdtWlJ2OU42U0hEVEMweXhzT2w0a2lCQ2NCNU55RFVsdk1zK0lOd0ljRmw1SjNPZzNRaTEvNjF3SXprV21jaGQyNUFhNUR6YUhxR1VtYUJsTzYrWEJKcENmWGRoT044TjVmd3FVMnNiK2ptMDgwY0NrRU4vZXI3WnczMG1CVURJcFV1R0NIRHpkK3JSdHE4SDdEYUNYbGlGVjVlNmdmOXFGVzVnbllZTUVPdksxL1VlNkpCL0pOME4zcXNIeTFVU3c1eHZoVmtXck5yNTQ1SzA4OTFRUGFIOXJzQnhmY1RNcGdHZTRBcHY1emYxckduYkt3RVZQdm1iVFFHWW9CQTlUb0VBM3FKK1l5bmk4eWd0eVhsODFrQ0phRUN1dkRHcUF1a1Y5MW9OYU5lc2kzanVGbmVnSU8venEvZEREYUJOeG55NHN5T2Y2S3ROTzQvRXd2ck1Vbmd6Mzc3OWg5Mkg2ektwOFZmb09kb2Y0WFducUppeHczV2NYV0tzOEhET0kwV3BXOGQ3NlN2Y1lKQlJBUmlyRHoxTWd3Q2Z4MmE5TkRGMW5CcDcxcnRCZzYvNzJsM2RLMS9TeTdSMHBKZ3VsSndyS3VpYXJFWE8rdXUrMUZtWVBBUTRyMnNjUE5FM0tyNVZPNDhNelk3ejk3Q0gzWEREaHM2Y2NHMkcyUnA1ZDA3aTJEQUdZQ094eDN1RWM3NnZTMURMNjNtZDViMHc0Q1dIWlRZRllMeEM5RFFGQXVzb0RKSkpLYUo3VVk3RlhCMXNkWFVsQXpVK2YvUDh0NkpjL24yU2Y1UXkzU290eUdKLzdQdXBzekM1eEVCUEg4WFFyNGVDYWRtMDgyMnpIeEVVeSsrYWViYnpaL0F4cmpNeGpTSUFYaU1tOWVUZHVTTngwMVl1K1RUMk5aeno2eXJyZU02cjJ2Tjg3aFo2WkZFQVl1dEdBZU1pMEVCaE1BYkZjYU1Gd2pYWU05NTlYNzFrM0ZiMUFITFphUDRERWVQY3VJWjZmYkVPWUZVVy83NXV2VGpuOWVyWHB1RTJVckhoUE5JSzZ6cEk2VWp4cG5SSFhWT3Z2ZlUrQzkwYzE4M1FTVmIxY2dudGllcFl2ZVhtNEVBL1NPWUs1enlFaTZ4M2ZaNXZYNE5ZNkxFcnBGc1ZBQ0dETHBraDBBWlQ5REE0bmRobHY5T0xWbmRMQzloa3Z5cHYycHFMMGl2KzlUNXRBS3kwTnZ4NG03S2xRaG1VVGIvSGVUbTBnUDBvTkZNMm5HOFlhWVdvNytxR05PU3A3NVdXODJlOUQwYTAvUUZOcEhUeG9CYld4VG5EVG8vRTg1V1E0ZjRrbWZKNU9PZFIyMjU1SVRCcjZ4V0ZLbjlQV1JVQW1UWmRzMEpnRTY5cDFPU1RUUHFLUC9tekVKZ0RrbTJ5NHl5TmJSOG5KUVZybk5SUG5vWDFKNHBldkcwWDlZRFh0NWR0V1ZrMGE1MEFBQ0FBU1VSQlZGdVd3aUhwTnB4Zkg3K1dCWnJzRDZVMmNwdVc4MVhQNG5Jb1c5TVJ1UUVQZERodUJUejR6WnEyYURZbTZ6a1NYWHFFY3g3akdqL0Y3YWU5RDRsV3ZNU3lLZ0F5YmJwbWhRQjZZS0VqMzBUeW01NUZvR00yODg2QytuejU1eTBLR2RUNHZLUjF4WDJ2cDlYUFFHWGZ4VDl0dzU3YzhYVUYvNStyWHZiY2FHOUNtM2tyR3g0NEwyMVNmb0tCLzg5Q2s2Y1BBbDZqTnlrNXYrcVBtYzZydnZLb1pNUEhOY1k3MnJ2Mk51RmVhNDBib2VnSW9hNEl6amY4YW5tVkhmVjVPMy9HVytlWFdRRUkxWVE4MHlPQUVwTGVqQ3VUN2ZPKzlvVWd6eXJ1Ty8zSFh3MzZ5eml4cnhXY3BOcmpvWSs5ajliOE43UmoySys5d1gyKzBPTHUwMWY5SHIvaG5GODQ3WEZuSjN3MHo3K2ZObXJlNGhIaS9MQWtNTHh6WFhuZTc3N3dGVndSZHZyU0YvLzJ6VEd5VW5LKzRadmNsMFBhNzVERWdNbnVxUGRYeE9xc1NrZDFqRVlEVGZTSjRQeUt2OXVwK2pRcVlZeTEvQlkrc3dJd1VTc0trQXdCWGxUOXhqRlp2RURvUmRUdWkrNWdMK0Q1UmZiMkhqWnlmWmlkNEdMelc4VUUwRi85MHIvcytOMEZyakIrbnM0Tnp5bk1VNXp6VHVkMjNWbkNOdkZQaGlkb3czaytxeGtxMVR0RlZHZ3lIc3lVbkhmOTZaQUZZU29OVlVKN1FwTXRmU2RkbGRySmQrRCt5eXI3RmVtVjRockJlYWZOM3VrczNZVnFwUUpkVjFwSG51ak1Da0FLUlNsS05BSjhRQ3dOWXRHaEpqNjVoMTBmNWRsdk1uYjlFUXlDZzFYQlJGbWpBUzY2WEV2MjA5NFRkdVBxQTFjZmFmbWNIK0Rtd2FzM3ZHRzh4L2xGbDJzeStNbFJJWjZQRGVkaG5ZN2lQTFR3Znc4S3hTS1NUOGY1TThMa3ZxQU1HeEhpUFc5ZUEyMkVCRmhwc3NGVjlBRmVHZklzdGxjVTU1ZWE3TlF2UjE5a2c5WnpRbDVtQlNDMmZoUXdCZ0xlMHR0NmpJQVRnbnpLZmZnUFI0Szg2VkpyOEpiZkdmRk83ckgwclljRzkzOTNRanlQODg3aWo3V3V2Nm9lRmRTRzh5anY1akxncUNURythZmovS0hnK3JJL3JCK1hBSjd4V3Z3b0xNelN0eDVoajczS3JnS080cnl6OXZIV2YvUUx3TTgyMzlHVHlXZFdBS1JBdW1hQUFDL0k0YTFYQnNLbks4TG4vUGcwYlRpUCtUL1BmRDQraGJGUDAzRytJMWJRblk5bEdPSHpaWGJFSHBPRlNNNlBpVU9QQ29ZQU4zeVBzVVlYVE51eDZ1VE5lZDRscW8vVllPTERPSnovK3M5OTg0VVBtYVoxTEpVLzhpU3Y2N1VJWTFMaWF2YkdQTGQ2Ukp5M2dxOFlrYkVUem1yMnZCaTU4TFRJbS9OODI4NU51L3pHNER5M0dnUVgvOEJueDB2Mk1OYWJ3dTVqUFJkdnArNW9iT0w4S0NhbDh6bEVDWW0zcExQd1djdWI4M3hyMm9ZZEN0M0pYU3BlQ1FkZnlhRmNOZHVQMWJlUE5EWGFxZTdISnM1bmdlS01aV3lqZ0Qwell4MHlTajV2enVQcmk3YXptdHR5bldCMGxoZS8rU013cm90OUJWNndZMWtwSDhleTRmSFJXclI0eXlmRWVVc0FpeEQ5R0NYa1ZoRVVzZGNoZDg0M1F4ZTRKVkY4K2RmaWhFWlRmODBJNThvYW9CcHJyZzVMaHliWExJYjRSRTdpZkNLNGlobTRDczd2RmxPMXBGcmx6bmxnTlpYcWNUM1FuMEMycnZsUXVMRVdFU0syMm5hVUZNS0o0WW56RXlFcWZnQVhuTGNjcEJZbGs3bHovamlEblFseHdHcElRNzBYR0RUYjl4eFliUE5zak9pSUxkZkV4QWlkTUFoeFBpRmdSUXdPeXR0T1FCVWxXK0I4K01ZYVEwR2IrWGtzMXArTzZhTWJtR3hEWDMzUHl3SG1EYTRaV1lseXR2VSt4S2dnNmYySjgrbXhLMHBNYm91MlhWeFdsTHlBRSthMGRxaGFWcHh2NU1rbVE5MXF3QWgzeUYrUitHMFpvYUtjNkkyWUZzQ29ZT244aWZQcGNDdFNMTDVvYS9MOFVaRTBqdFlGaTFFbURtU3RPTDhlb3lNUnJWNzhKMjdnSElLMkpEeXVOMk1JUVkyUm45V0JPQi9qRFJROENGL0FNYkZ4TEhnZXBIcDgzOXVPdkltNFduRWV2ZXlKbFVwRXVrbThNVzQzQitTYjdLbHZlTDlHb01zZktiRnBQYnNRS1pydmw4NXZIbkJNc3ZRb1F3VDRaTzRQTTVRM00xR3J2L3R4WklXZHZ2aTN4NnBneFhtc2RzbHZGa3lyamI2WHVXS2lLVjlRbXcxMG9HZ1hVTmlQZm1yNWhEaHZDV0FCb3ZOVlgvbU4vcWFZUVgvSktxZjkyRVN0T004MzJZeVZuczFEOE1yc25Lc1hWSjFzb29RQ2ZDdHRuQ0ZBT2wySjgrbHdLMUlzREZGakdZT0xwSE9vTG1leHJmN2RmRi85ZUZaYWNaNHZ1TytGcHA2cEo0WVFsdzJCNmdXMVl0WE8rU3BKbkRmZVRFbWRmUlRqclpMcW5rWnRLODduMjRTcTdCd0dwdWVScUY4RFlDcHlWNFdKZHVUYkdTSE9SeU5mbGlkZGNENi9ubUR4VUxEaXZPUG1PVlJXWUxVRHZRbFFmY043QkhOcm5EZVZyOUdCT0s5ZVUya2RIWEMrVjFydGt5dHV4M21ndFpzOHphUXhrSW9SQlgzMVBlLzJYRHdUSGl3ME9VN0VFT2VOVjFOU1p4T2NMNm5xcWRTMjR6eGE0RnVwa2swVXlRM01Ec0NLMy9PaU53SXplSkVTRDRNYmNTUERwWHRBbkUrSFc1Rml0Y1ovcDZGSXFtYWlpeDNud1NkekZpMFRqVWFFWUFCdkxpRkdPNy9qaGVuRU03YWlYb3F6S244azJYZ2V4UGw0T0JVNEZMZEttZXMvQ3F4cU5xclpjUjRXOWFlejBXT01GRFRzNWhuOEdNOGZlS0hqRGVlZHpUeVg1TkNhbkRFdnJpU1ArTVNPV2NCS29uWjZOZTA0ajFZdXg3R3l5QlVTTVFjUXFKYTlCeGRqcnBIR2FHMC9QVDZUWWxJN1B3bWh3ai9uRXp0bUFTdTh3cllLMm5FZVRYRCtteFBRbWRoMUtqL3FQaXpPOWhhY1A0dzVyTUFiM2JORktUbytjVDRhbTVJODRhdlhka3VpYXlacTJuR2VENFg4am5ZbXlvUUxPY1RrM0ZLVjNaRHRkZE5Qc2hOK2FQMndEQXdGOGxTUk9EOE1lT251MGFiTXk0a1o4YkMzNHp5Zm9MOFpMNkgwb2RvNDBLQTcrSzd6SmpiWTRWS09QUnZlV3NDWUh5MGRtd3Z6N0lvUTU2T2hMOG1UZFhBK3g1NWc4VkN3NUh4bkNxc1drY1lYdkRaOW16M0tBV3g0MWN3NStTWGVDWmlpNTJaYS9TZUVUdnlZT0o4WXNxSkZhSUR6dVhkV2k1UnBTODZqRGI2V2QzWmNkbHA3SDA5a3dXL2FGenliWE5YN0p1L2t0RkdMNTJtVUpjNVBmZ1VGRDRFeW5HZFBzSGk1dCtROEdKWDNCRDIzR2ZqOHhxVEtFUkJjNHZQdEYySTI4L3o4cm1zNXdrNmN6eEhjNllqZW5NYmswM1N5RWk4VlM4N2p1SUc4bHpOZ2JzRHYwenRPeTZmdjhXMm4wanlKMlIzRHlHQXJIaFNwUWhIblU4RldwRWpOT1RreEl6YW1scHlIaFN6dlV6UEFLcmtEd21VLzVCbGJaZi9CaldlMFIyQTNYd01OY1Q1MlVTdHFRSlN2SEJkcUZqRFhscHpuSGUrY2M0V3BGSS9wU0tZbXpzWDdSZmV4U2QvaGxrcnhNMDFqOWdoa2xFUlg0bndpdUFvWW1KZVEzUUxxbFo5S2xweDMwREdxNTZjZGwzeW9PK2VkZUR2cFRIMnd5T3EyZVorMW16aWZOYUxUbHNjL1c3d3g3VVJubXA0dDU3dHlwVXh1dVdqcldxVXF0OWZFVHd6bmdNcGVRdnhJQ1VJUzV4T0FWY2lnZUlONU4xc0Z5N2N0NXcvek5Zc0RMUmpoSkdhMTVHOEgrdDJTMGZPNEV1ZnpRSFdhTXRFcXFBSTJ6WFJubDVZdDU3SGtKZGQybEJ2aGxKWFFUVzZQYSt1UlFTNGdFK2R6Z1hXS1F0ZnpOME5QTVRkeGtyTGxQR2JTOGozaUhsWkN0WTRPTmZMTk9Ka3l3dFNTZHcyTTJKT2R4UG5KR0JVN1JOOG9ZTkQwYTVkYUQzK3MyQnJiYW1mTGVjeVo1Mm9YZDR6ZDgzeVNvSjRzdzRneVNCWWpZV2ppZkVMQUNoZThHMWlvK1ZVMnVML0pQbFE0TGJOVXlKcnpHRzRuYlhzVDZROVN5ZGxUck1OanZVU1JIWmp0VlM4aFdjeVlvWW56TVlFcWJEQVVZRzN4V1d5ZDdEbk9SOWk3Q3F0dUJvcFpjNzZSOCt3bVRDeFhSRDc1ZDhVT2t1VVprL3V5eGtnV01XNW80bnhjcElvYXpwVm5wM01GdC8xcHUyclN0cVdvbVF2Vnk1cnpXSDJiNjNkLzF2VmtJUCt1V0dnbW9qMzdPWnZ3Nkd5c2FPeEw4Z1NGNmtpcXVzVDhZNS9PeXRYZThzRmNYYTA1ai9GMnJpdnV0N1d0SHZSWEp2eVlMNkdUMkFJUVU3QU1SdTI4UktLa1YzNm1Tay9xdnN3KzZEa3JpUXVhbEZDR3F6WG5ZY1RMZFNmaXNWNkgwd2l0WGlyallNNTlteVJ4Zmh6OEpYZ1crTXlSNk5vN3ptWlNZM0VKY3FwVXRPYzhTRmxYNHJKMzFMVGhIU21OYnR4ZGE4SG9FdlhEdXNxY3orVWx6a2RoWHhKL0xERFJpN09iOHR2dC9YbGVnbS9QK1VQVEJwTDlpM2IxSzJtR3JmazdQMjZyTEF5QTE3Slh5WlJJbkRmUktLRWJWbDdWTEdCaVNPUmdQZGVEVm1ZTWt6M25ZVTBmYlgyenkxVkxUN1poNUxVL0lyZ3pya2JHYU9Cb0pFYW1Ic1Q1VE9HY3ZqQTBXV3BtNTRJYXhpOExZOTcwOVpsQ2l2YWN4N0tYUEZmaTZSVVQvUENNbldGSVlJSzVOdXluNzZ0NllLQTlNM1VSNXpPRmMvckN0bzI1NW5PcUpKL04xMGcxL1d5YUtkcHpubStDU1RocmJpb3d3WTBhUlZiREdIbU5WaTVqSitDeE5UcmZGVG44akM3WkhaeVFFWHBjVEFRMmphNWdReFVYdk5hUjVxV1krcWZRS2dQT28zZTBueUxsZUZIQStWc2lKTklaWFFtQVZ4WTlza0F0SVN1TWVLa2xEMFdjVDQ1Wm9XSzRCcnZiYXRvWjF2eTlRcW1acFRJWmNCN0ZQa2RtNmI1N04yUjlEWjlkamQ3WDE4ai9OQVRpZkphbGNmcXkwS2JvcWVaTlpjNEQ1NCttcjh5VVVzeUE4NEF0eDFVNTR0eEx3TkZrZzVFeHhQTDN4blhmY3gxMStDK0lPRCtsZ3BwVE1qQVMrVXZ2dVB5cTRqd21lYmR5U25IMllqUGdQRDRzaytQZXRacTAwZUUxakI1VWY3d2JOc2dYc09aYkdmbUpFT2RuWDRadE5NRDcwMlBEcHVvem9yRHQyb2d0ZE53c09IOCt6eTcwcGh6UFB4NWlObGhpTzhhUkdzTkE0MzFlR2ZiTCtwNDRueldpMDVXSHNxdkxpR3R5WG50UFY2UDhVOHVDODZnVTh4dlE5NlhzanBvODFhZ3Nmdy85c2NoT3hpRmpkUjAySHhkeFBoOWNweVcxYjI0RjE1eEhsNTg0UC9ZZHVDR1RhR01qSkhoNFR2VG9zVWJxYlNQUnVsZXdNanB5cHJDamwvQ054TXpLZ3ppZkZaS3prUk13K2JUVTZCR2N2elliaGFhUWFoYnR2SVBLc3BlWHJxdWlQdW1MRDFpWjZWU1FiRGN5YmN6T2o4N3RtZEd6Y0JQbnMwQnhkakphWm5PbExVYkUrVW12QkFWL2QxS1kxTS85ZlE5THJaQm1mZ0VtVjlRM2UrR3lzZDErUC94SmhyN0UrUXpCbkw0bzlCNE53N0MrSWM1UGVoZVZsakorVEFxYS9QbDlYbjN5QjJxSmxDR2hmYzM3NU1XRzRXVTQyOGJNcStHZHJaTTRueTJlVTVhRzEyZU0yM1V4SnM1UGZCRjUwbXVwZFZKM1Bzc0c5UkV0S253YjdYclVUQ29xSXFNS0g0bWNrUWR4UGlNZ3B5dG03ZEtydlFSaHRqZDZpUUhPRzNYQmRIWExQYlZNeHZQNE1ueU95NWErd0pqTFRtK09RbkdXTDcvSGR0bmQwVWZ3QVJ2M1F4OWs2a21jenhUT2FRbHJpNWFpSFpnTTBuWjdtcCtmK0NiUXB1Wm9MbnZEUTRPMzFrTjAyT1lIR1dGTi9hMlFaM3lncnhkVmhnYkl4Sk00bndtTTB4YkN4TkM5R2VnTDBwcWNKTzhoV0Y4bWlXa1J0c1hiZm16ZkQxOGM0QVplcDBVeVk2TVM1OGZDVTlDSGZKc0czM0VKRTk2dW9XS04xdDRhYUV4eW91Z2ZUUXFUOWZNTDNwbEc2SVU5RXlZWnV5UTJ3dnd6OWlQT1p3em9WTVRCUk1jdzU4TUhoajBqd2NBZW0ybVVIaVB0S1RxekdjL3pyOHJsMkxrUHg2UHZwWWdxTzNSalhUOHdVZ3VYa0lFdmNUNERFS2N1Z3JmelR5UFZkbkEycUt0dTBYdmNtN3BXMDBvd0s4NVBaL1FjUU1VOTRyZllTQk42TG9ZcmppME9STW4raGppZlBhWlRrTmp5NXVoZ2h0bzFFK3Q3alQvM3dXdmRNWi9NbFRzcnpxT0xQZVhPMEJseDFuMzR4anFZOXVyVGVGSEUrV21nbkhrYXgrejJnWVBwcGxQODY5OTV0Vmg3SVhvWGh3NWVWbGRXbk1jSldWT1lEVGRSYm9oaGZETzBFOS9OYzArL29RWngzZ0NqUE03bFFRL0sxb1krVjZOUHdUdXZXdnp5NUNtMnBwbHhIdWFRNmZhR21xSmZVUTA3a1E0RHRzdXhNYkFKU0p5M1FXOW1jU3ZOcDNhY3o3R1RRRFBQdjRFc05GcWZkZ3MyVFNReTR6ekdSbGVtcWZqRndUZjgzMmJZeHJwem9ZMS9Edm9SNTNNQWRRb2lZYVI3aEExdURxWGt5Z0hoOW5RTDg1QWFPZDlteG5tc2dSazlsVFpINVJzd3ZjcGZieVNkR252dmlGOHVIc1Q1WEdETlgrZ1RyMkR2MkJ0T3BpdVhibGJuMkd5UGorOW1OUXpIK29hallReHp2SzlKd3VNNjh1NHVzTUZPam1rYm9vbnpCaGlsZDU0VDY3dVdwcktHYzFad1pjZDVUSGFHVHBUbms3TlZ0YkQyTUdURzREaDhuVTRPcWhEbmN3QjFaaUxYaE9GK2VXcmxaeFpaelpEem1LNnJUeTBMaDJyeEhiWkdiUTBsQzF2TXREUWh6ZzloWCs3YnRsK1c1cnBybjJIZjNzSDV0NHFJdWIvNTJyNU1JbVJqM2ZiMGVoekVlZmtlNXVLNjBqckZRUEhUN0gxemtadUlUR3pyWWZGR1JKRFkzcXRURzBVN0s2cHJIN0t4RGhOMTlkaEtwd3pvYXR4U1NxQm9SVVRnQzJ4dy8wUHN5WU1pNnBhVlRsbHlIbWZUUFpxVlhoUGtQSzR0ajloTTgyd3dkRDh6dTJSUXJubEhuRGZSbUNQM0U1ZGExMTh5MTVSSDMxNzlyTnQ1ckdtWWxybTh1cStLR1FidndTSEZXaXYvWmg1N2l0UlBhVUlPUXFBTUNHVEtlZFFnVjZhUzZaV0JUZ1k5ZWI1RlN2L09zdy9vbTd4Y3hQbThrQ1c1ZVNQd2h1ZXBYOTArcmJVWDd0c0xpU0doWWM0S0RtK3N1L0RTblJnaUxJTjhVOEgyUEV0SkZKMFFJQVFtSWxCeHJ4bGhBa2VVRy83a0pBUUlnWGxCNE43QUVBSUhaTTVMeGlnZmhBQWhFSUxBMnUvallLT2VmUENsMThHWTlqZStJVy9wU2dnUUF2T0dBT2JtK0UrTTJRKzltM24rdXRpOHZUL0tEeUdRRklHTDdQb0RWMXVEQXovZWZlekcxUWNlZktTMWxWUU1oU2N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JZ1V3VCtoZmlhZ2hUNnBhRjc2VTlYUW9BUW1BY0VQdHhpN0tmRWQ1TjRmdmo5cTRuMTgvQnFLUStFUUJnQzkzaWZSenZaRTg4cTMvYnVmejBzS1BrUkFvUkErUkc0SUw2SWVDSmErbyt5MCtmdmZPbjMyZVh5WjQxeVFBZ1FBaUVJMU5qZjNWbjZGSWovUGUvaEFydmQ0NDdQblZEdjNnT0UvZ2lCT1VQZ0F2dkhQRWQvQXRKdjRicmtEdXE0NEZlamh0NEhndjRKZ2ZJanNQS0t3VXRrTHRyUCthNWp4azdSc3QvSFhpT2VMSWdITWlCZENRRkNvS3dJTERWWmkwa2JuYnZoWjJNRkRmMFZaNm4xbE14VnBTVmRkQ1VFQ0lGeUkzQWZlNWZ6UjE1UDNuRldiOHU4dEJtNzdad1QzdHl6ZXlRZjBaVVFJQVRLak1CU2krMDR6dmFUWGg2V2Z5Q3p3aHY2cmFxcUFoem4vQlg1aUs2RUFDRlFaZ1NXR1VicXY4RFlIcy9FNFdXVkZUVDBKK3lENnRhNW9Lb0Q3VWN1UW9BUUtCOEN4K3lhVTBHanZzdFYzNzZwTW5BUmZxeXVicDNGcDdXYlhJUUFJVkJhQkpZWU8zTDRRcHhiUEF2ZG5zNUloekcvdys5N0xaSGhYbU5ETGtLZ3ZBaWNaZXpBV1FibnZhNzc4WTdPeVFJOGpWdEhtZkIxRUhJUkFvUkE2UkRvd3p6dmNIcDc3YnpKK1lyTHpQRjh4VitZVjdvTWtzS0VBQ0VRUUtER2Z1ZzRmT3graFh1YmZYc0huZnNUSFpiNjlob0xjaEVDNVVVQXczbmV3S05KNy9GTUdEWThoOC9XR2ZQenE2Z2I2RWNJRUFKbFJ3RFd1OHZJdzVrSGY5TEx5VHEvRWIvSEdScDZQWWhmZUZZK29Dc2hRQWlVRjRGMXhtNGEycHZFYmo2MWlvWitRejd0NzBvWFhRa0JRcUM4Q0hTNTJWNy9WclNoYmdFejlwdHlTeTFDTlBkME1ISVJBb1JBV1JGb3N0T0E2bTVQM3Rhd3J3NFRlV3pmOTdnUURDZEQwWlVRSUFSS2hRQVc0T2tSTzlkOCs3MUMvemN5N3NLSS9yYmZEK2g4WHp5Z0N5RkFDSlFZQVl6WWcxdytjN3JqWldmVjV6cWZ4UE8yMmQ2akIvWWx6aTZwVGdqYzhRaGdNYzZRT2I3akxiRmRjUVhIN3dYcDMvOWJmL3JqUTkyQk94NDRBb0FRS0NrQ01OdGZDYXAraGozMXYvNzBXNHk5UjNqRGpPZjlqb0xCNkk0UUlBUktpVUJiMmVpVSt2d29QTWIrcmJ4ZnVzdTc5MDdKazM1MEpRUUlnYklpVUJYNzVrMzkzL0RnNE9HL05qeGUreUI3dDNsdlBDSW5JVUFJbEF3QnRPRytXYjVrZXBPNmhBQWhrQXFCUlp4dW15b2lSU0lFQ0lGU0lvRFY5dWF4R0tYTUF5bE5DQkFDOFJFNHp4aWRlQlVmTGdwSkNKUWVnYjQ0SHFmMEdiSEt3T3FsMDc5bEpZQWlFd0tsUWVDWTRRRE1PLzIzMnZwM1B6Ym8zZWtvVVA3dkVBUnEvdTc1T3lTM0VkbXNZbmhUZXpUaUlYa1RBdk9GQUticU51WXJSOGx6ODJWV3g3bit4c2M3a291Z0dJUkFXUkRBVkozL0tZdXlLSnlIbmsxdXhWd09uUENiUnpJa2t4QW9BZ0puYUVrT2pnall3cXM0Uy8yZEloUkkwaUYzQkhDcy9TRDNSQXFlUU5kYmlIakdPT3l6NEFxVGVvU0FCUUxZVlhlbmoyTXJMZTgwc0RQK3A3c3NzS1NvaEVBWkVOaG0vUHVVZC9UdnJIOSt3Rm1hczd5amk4R2RrL25ONFZOeTdweXN5NXcyL0U3OWd2OFpIK2xMVjBKZ1RoRm9qcHlTTTZjWmpjNVdoOC9VT2M3NjhORWgwVEhvQ1NGUVlnUmd0cjlXWXZVelVMMGlqSmdOR3M5bmdDYUpLRHdDZkhyKzhzeTFYTGwwK285bXBzU3EyRmZZSmJ2OXpONEJKVHhGQlBqMC9NeVg0UzI2cHkrM0lGeDc4TzRISG5qd2taWTRzZnNjdTNIMWdhdnZqdzBpRHZDL3dYL0JyL25Fams0QkNZRnlJY0MvT3I4M2E1VTNCM3ZPWnZvWlErd1M4bjZDODRmbVRZeXNuV2NEd2ZtZEdLRXBDQ0ZRY2dRd1BUL3pKYWRuK2FjemxnUGZ6RXVHNnBmK0RBdUx2dk5MTWhLbUgwLys1b0c4bTNqdCsrUDROVG91YUNKVUZHQWVFT2lEODdQT1J4VmZ5TUpYcjYrbDF3TldDZU1yMllmc2RpOWMxcysvUHZEejIvVnQvOU5jWis3NGRRcmhtSkh2dkNHQWZ2SEpqUE4wbGowRERTbzJwL1hnVXp1M2RDNmFKejE5WTdxNHdkTDhQZXM5N1BvOWpIUERYL1l3WTVLYkVKZ2JCR3JESDZ1YmZzNjY3SWduMnJLb2UvQXBuc3RLOFRkR2poS1dYSlB4VE16TkhiTWVqOXZ3bTNzbGhoeUV3SHdpQUJMd2ZhUXovQzJKY1hUVFlvd0JxOFNSek1JcWU0MTB4cnNlKzBkOWQrakU3M2g0VWFoeUk3QUd6dk9lOVF4LzU4UVhNbXQrYzV0S0UxZ2w2aUppcFphMERtdDdsVTJGaHZPcG9LZElaVU9BZjNQV0dBblBRdjFOMGNXdVdjd1p3aW9oVmIvM1pFYzZZMTc3WHR3THRQSTJKbDRVck53SVlDQTg0N0pla2VzRG1ycDduaGpUbWpKRVhraSt3bWpkNDN4L2tMU3VTS3dsUlNBRUNvQUFEcmUzV0FDWFJRWXV5R254Vm5LMnF2UVo4M2JBTzg2Uyt4N2xHZGV4d0FjVkZmZjdjY05UT0VLZ3pBZzB3UG1qbVdhZ0ljZlJGcFVQckJLQ3NkMFVuK1JaNUFiN0JZdVJ4VXp4bzhRSmdXUUlkTUg1dldSUk1nNWRaVC93SktLUHY1OVd0SnFlL3lJVzhTYi9WWC9nTERVL2tEd2V4U0FFU29oQUZaeWY2VGdXVk4vMWNFTmJ2WkVXUUZnbFBDR0xyWVRUZEg2Q1p3ZC91L2JrUWRyRUtSNGhVQ29FV3VEOFRCVkdFMzNUVXdDT283U2F3Q3JoMVJlZDUwSWtyTHlvOWRoUGhQZ2JYci9SZXV1T2NVdE9RbUIrRVZnQzVTMld2MlVBekRuWno4Q08xcjIwOHNUMC9PZlVKTDBoNkF3N2ZlbkwyYThaUHVRa0JPNWdCRmJCK2FkbW12OCtHL2pwZy96MXRKcjQwL1BvS2ZSR0pGVGNwdzRjNXhmVHl4NlJTQjZFUUprUndMZm5zMWw2KzJIM01hOTNuUmlNanF4ekRsbjZ0YS9lOUh5bEprMERwaEpmOFhzUG0xZE16MVR1eWgvLzF4OTVXV3MvVlZ5S1JBZ1VCUUUwcnV5WkRKVDVBM2JLVXBuTUhWZHVndDJXRFg0S2RWcDhldjZqeU12b0hIdlZHK0l2MWZ6SmdSU3lWWlFPNUZ2TUp5bzU1Q0FFWm9uQU9rcnhMWHNGM3NoK0hmdmZrNjV6NStuQ2JLOStLYWJXZmRWaGxmaStjNEg5VllodFlwRjVEZnpqR2RSc0xVL1JtL1pva1FSQ1lJWUliS01jMi9kNlY5anRBOGZaVGpObVhsR010eGhrd0NweGE4MTlsMU1iTlFuNFg2SnoyaG5VYlAvOGVYZEQyWjBadmkxS21oQ3dSK0FZcFhqTFdzeXh0M2w5T2MxQk56aUM4NVBmNEw4dldRd3lZUExmUFlZcHNqODZvRC92VDl6MzA2LzNNZEZwV1l3L1REbmtKZ1JtaGdCYXh2U3o0bExyaTJ5QVp0NVpUZE81eHhHY2U1NGNOUGpYcE1Da1YwelB2MmhRNSt0blJ3YjBoLzdLM3NYL2tWUm1hUGlXT0JVNzlDRjVFZ0psUUlDUFVldTJpbmI5d2ZKYW1rWndYZmFXMFZadnBGV2tnVnk4QnBHeGxHOTRzUUhrdjcyWFZ1NXdQQmdmMHRnc2hzWFFQU0V3T3dUNGtoenJFU29PbVR2eXNoQTJQUzd5dHVMeWxBSy9VMjlrdkM0ckNyVFZua2M0R0pIeHZlQmR5Y1hhU0EzR2ovSm1iNjJIUzAzcWk3Nkl2ZmsvYWFJVW5oRElFZ0hQZ21ZcjhIRzlHWFkvU2haYThaSGZFUStNSTJyOU9QMlJKdHIzOS84ajQzdVBxMHpzZlI4ZDBQczJ3a0hxTG9TcEJLWUcwbzgvQW9Mb2hoQ1lGUUw4SXpiRHZlSEV1dFRrSU5xTm5nSlllL25WNGQ4N0RuaEtmYm54ZlhOc3R6a3l2cWV0TnozUFhhZ2FmdWo1Nkw5TnI2N3hPeFhhTjUwTHF4bTIwc1drV0lSQVFSRGdQVi9icGJkb1NiZjg3RFJUVElodFM1SzY2WnRRYjNyZVV3R3UweUZvVjduSmdyRVBEbm1udWoyVSs0RlN4YVpJaEVBQkVJQ0ZhMnp6R2tmRng5VkF2SmxpNFV0YnhBRmJqK0trRmhZRzAvUFBDditxbkFiUTRSWi9sTE5lSEtPanZkTzQyaXFyYVdKVEhFS2dBQWowd1FiYnBiZFZPU0ozbWlucWoyMWhGYnNnYlhrcFVFR1Avb3FJMXRCT0xXanBVL2l5bGI1TjcrcGtJeWE5QWhTVEVMQkZvQXZPeXlZeXBTeDA3V1d0NGZwejRZa0U5VVg2NnlucUM1a1FUUDc3d2gweW9PZFBQcGZOSVFFdVRjOExuT2xTV2dUUUZVNC9qUFp6RGNKZEZ2bDNVL1NnRDRVTjRGZzExY25CUk9PK0oySU5EZWpYbW0vekhtQmlQYm5Za1JnMFBUOENDWG1VRGdFWG5KZU1UYWw4VjArSnA3RUhydnVjQjUxNktSVndIS2h3SUNOM05QL2gxWkFXeXVxd2FVK0dUM0pGbDRhbTU1TUFSbUdMaHdDWVpySDZ6YytQWG9JT2FjbDN4aTM3ZmZzTEtZWUZDcytxWWF3L0RBem9xMUtqcXUzc0JFK01wdWNWNU9Rb0t3TGVaMXBsdHpoZEptQXpseVp4ckh3VjYyc1NpTHJvTjUzaUUvQUpJaHBCVzdJMWh4OTRhU3lQZGVWTlM5b2NqR2lKblRROW54Z3lpbEEwQlBpU25IRXJYbVBvQ3g3SS9pNjZ2c25iK1NXZmxTNy9BbjNLSDhid2VpRU9PaHRHTjk0VnhyMkxjZ2xCeWlUOGFPaERIRmtKb01pRXdLd1I0Qit1c2pSdXRabS9XUlZaUVEyU29nZGQ0M0hPc3ZlbXh3TEg0Qmx6RDY0NVd1bTh4eGZiOXpiK3BVL0NqNG04OW14bFVIeENZS1lJcklQeVJxdVlSaGRRN0VqRVF3MGl1L2tKSkRXNC9hMlR2cG12L090anhwNzd2NktiVVBrTXN2VGtQNVhwOTMyRlZsZ21INnlBZlZBS3Bpc2hVRTRFR3B3Z1ZxcGpESy9hUHRRZ3p4bkNLdi96NWV5eEZ4Z2U0YzZMbURqNE12T24xSUloM3ZTaTF2V1BCYjFHNzd4OWMxQ0MxYjFuTmU3VUt3WlcyUy9EZTdHVytGTzF3WVJXTHJYdXJ6czR1aTlnci9qYUM5M0JtM3ZCa0hSSENCUWJnUzdvWWRJMHViYm96NnNWYmcxelhPMnMxUmk3eXRnN0o4cnNEaTZGS1ZINWNmUkJKc2MveDI1Y2ZlQ0JxemNHUFMraDV1RDZ1eDk4cEtWR0N2ZXdrNWUrakExdVR0UmlYSUFuV3V3NlR2K0NxY0FFNjdQUXoyV253QmFZUmdBQURsMUpSRUZVOVhFeDZSa2hVREFFMEZtVmUrSlNhb1lWT2FxajBOWHRLNlJ0c2xjZU9FdWZubndReHRJbkJtOGZOZUJWT3V6Mi8zYVdqc1ZIYmxLcTV6aWZlVm5yc1ovcXBZN09JOEplOE4rZFJmZTl4b3BEK0o1aHQvK0w0L3dyTjhWd3hrb2Jpa3dJMkNEZ2d2T0crU3VGcUw3UnRxTUcwY0srekh6ejJiSFpOQ1pJWUpPZDlCQzg0ajZUSUZJdVFYRnNQcy9Ld2dtbUFXK3BGQ3JOMHg2L3Vhak1HZW9ST1FpQjRpSUF5bHN1dlRWNTNqU1h3elJQL0xaN1ZTK1JTNExEbDZWcHNHKzl2VDlKc21GaDd4VW5ETGlmTnRjc0xrc1RSRmZYYzJHeHlZOFFLQklDM3BLY1hTdU5XbnFxemtFRnNpV0ZuVlViMXB0SDBpL0JkYkVscDl6UFdxNGZTSkJvZUZDQXRPczkyVWIramxTWXFwejlXMDdaa1ZHU3lFRUlKRUxnNjYrUCtxbjVxbWg1R0tpYWs5blJBU09mOEZwalF6emxKdnliTXVTMnBNZGRxZGJ6ZzE5N3ZxaUwwaUVsVC92YVoySWVFYXVQMUJTRnN5ak5lV2RhQVZ2K3RMV2o5TzQ0QkNwb1o2TitSeFBSOEpia0NHNU5EQndhZ0Mva3UvL3YrTDhYd2QyVG9acWlTNDhrZHFWZi9DdXFEMmthVzVreDU2R0srQjRXcnlGVkZzUTJBY2VwMlo4dHBvU1NneENZaklEWE80OGcvZVdKMFdGMHQxeDZxMmJIaFE0eXlUVzUxQWNOOXBiMGpIKzlUOWNVRjFrOWZyd2NRdW8xOW1DL2J0TDdZdXN2WG9DYXQ4Z2hkUkpKQ0l3Z2NIY0U0VEYzWEI4SlBPeHh5Q01QZXlhNlh3OG1yK3h0RnlROU5vMytmbnpKNkwzMFJPZ0ZPd1hqcHhrUkVrZmpIUGlQQXRQekhURmtRVWZIMk5JVElZTzhDWUdpSUlCRzJMSm4yamVXcVVDYTdKQTc1NlRjdG16d2srUVpSRktOWjBPNWtraklMQ3phY1prcE9QVzhvU3VHTEppenY1SlpZaVNJRU1nYmdXTndQc1d1R0VPdHJzRUROT2x5aDUyekxzY01aMjU4MGdnZTA5a3dKRFUxejJMR3pqUVloajh5VTZpSmJpblp5dnV1OTR0dWdIcEVEa0tndUFqVW1HM1B0R3J3d0RXYVBIQitOMzIrb1plTS9VV3hHVGE5TUx1WXFCWXZDd213WFVpbmczbEpOWTZ4UzRCaUV3TFRSS0FGenRzMW8rRDVydEFZdzEwNVArYzRhQjRIMzAyYkZUN3BkK1JIWHB6MVRCZ2cyaFA1UUQwbXRJSUgvRDlFRGJ4QWhpNmxRWUN6MU9pdXB0RWJBalpFUEJ5WW81ZlBlUGI4TjlmVGlQUStSaU5tK3A1d2xmaDBvbXhqOFV4SkdkdmFzT2pnV0crMDlNK1hqK2hLQ0pRREFXK2liOWRHVjV4UW82YlNjTXEwN3U1NnEzMFlTN2ZURkEwcUpGVysvbk9mWU95bmJkU3pqNHVaT3BXcFRVMS94emxHenZIc0JmWkprQVJDWUhvSWVNVGN0MG1QMXhxeWg0dnV2SjYxa211RlR1b3B4S05CRmIvYmY1MGllcFpSK3NhOFJGUE9QL0lFOFBFZTc4ZTM1OU9QRUNnTEFtaVpVODJlNi94aHBtb2c3MEFQWTdlSjVHMmF4ZWdkTEM2NGV2VXRMLzY5L3lSbHoreDZyT3p6M0d3blorMmdqdGRINHZnZHpVdzNTcGdRU0l3QVgwQ3UxcjRranMwallMaXJscWFCcWZ0YUNEYkorRDg1M05lUEpycWF0bGFHaVNuRURnQlZyb25BWUxsWWhPdDUzQ3Z5WjlRRHNhVlNRRUpnUmdnYzhtSnJsVFpHQjZyTWcrU3ltODlsWGhTa04za1NNeTNFM0kwWk5PZGczTXE1SmRJSVRNL0Q3OXNjUGZ6cTRqbGRDSUhpSTdDTkVtdDNBcWF4OGhUTllIQjV6d29zY09rU1FLejlZcURIZS9BM2hTcVlpdGdOYVBXZlhUdzExaVFFSHRJTklWQkVCSTVSWW9NOFRhb2xPQy9iY1JnSDVJSTFLZVV2N3VLY3FNdmJ1RmZldUVxaXhZMlRVemcrVmRjVHNnLzF0S1R3cWJ5VzkyVWtBRG1wUUdJSmdTRUUxcUsyejc5Kzh2NzVLa3FzTnJVUENZNTFpNzY5SkRvb3NUVVM1M1ZJWVgvRWQ0SUhud0RzVFFnenBjZDhaa01taFY1UlhicmxkYkZtVzJ0S1NYUWxCR0lpSU9mRVVEWkhma2VUWkxpSThzeWtRR09mZ3hPM1JJQk5ZMFdPam9PdXhHVjlGOC9GT1I4dlpPNmhjQUplK1BTOFRCa0FLQ09tOUtNcklaQW5BbXJLQ0R3Wi9rMGtHNDhnS1p0T1NjelZTUUhtTitPY1A1ZmkwT1BmbGU2NFYvVHQxUVJnM0RnNWhZUDZhdkRUOU9pLytQZDVVbXM5bVdCVlZ3clNpNjZFUUs0STNEM01kSFYvV3ArUU1GL1dicmtSRkNJRTU5SGdYVlBwZGRWbll4QmdZdFdqb2ttSHJXVlJ5ckcvb3AyWEN3eFFFL0VwaW1YZU1WcGxnNTRRM3FkMlhpQkJseElnd0ExVXlVZmJnWXlCQ0lMeldJVlhsNC9BZjlVakhqRjh5VUJqcnE2T1BpYlVOQjRaOHhMbzBuQnIzU0hQTDBZc3V5TDVkVDFaS1h6b1FnZ1VGZ0UwWXRZRzhwYmsvTEh1QkRzTnlKVzVOcW9DNlRYeDJnbk1JQzdOY0hrcmFpOXBsaGVIMjdmUmJlRUdCMUhWNGFBQUdXQml0aWdBSVRCckJMeTliejA3TFdyc1dVOEFHdndQS2tsZDNUbGZTak0wUjN3bHkzRytJbnZYaHQrMG5CaWFTQ01uT2pLN1NMWjY1SzArVkdPaWhqR2ttWlpXbEE0aGtCS0JkVFJYSnJuU2lEa1djM1V3ZHRWVi9JNGVCYStvOGJCNk90bHhhSzdvcTdoWEpzZklMWVQrU2c4eXRZOWtXanVPd3p0SVJ5TEp0bklKRDdvUUFzVkZvSUdpcThiZEtkVnNpSGF3YjNLN3FvZTd5MGJ6SHpzSmNLcXVBbjk1QUpiTjdGZVZDeGk0OGVNSVcydjRqQUlxT0lWYmMzQXdNK1VvWVVJZ0lRSnRGR08xV2o1aFhCbDgyZWNFbGdsc1NTLytkY3BmbFRkdGRjcU05SWx4eFhoNVN3WmJjeCtWemxsYysvSXdUZzdXVGRDZEEzYUduUjRKWlZiWUQyZWhGcVZKQ0tSQ1lCUEYyTGJFcnZoVFZRdUJHYXUrWEpzSGE1ZWEzazZpNHJHd0VpQk9WM3oyTGtuMERNUEM1dUZKVzJUL3h6c2s2NUJuYlUyZkI5U3duUGpJVUZVU1JRaE1SQUJkY00ydGlhRWpBalE5VG5SMHc0eHdDNHFubjA5SGlXWFp1am8vazA1QWhMTEp2ZEhsMk9PeHVzL0JuSWQyZnZNeXY2dTlqZi9qdDlaS1ZhZjVrZW1mRUpnMkFpNDRmODAyMFQ0ZjVWNElqaEVxN2p0OXNWOE4rc2RPcTlJVXgrRDlodmlnZGV5WW1RZHNld2FKcytCN0RmV2FhT0cvSXRZN1ZUb3pQcTR2OCt5U3dQbEdBSlJQc1VodUNKTkZET2dYM1lIWEdLcEhYMlJ2NytGQXV3K3pFMXpTL0JiWVNkMXgvdC9kN04rbmlaMWxuQlVHZnIraGhVcnNLNWlKLytoem51eEs3ZVE3Y1B4bGxmMUtsbW1STEVJZ1h3VFFXZFZUVHVtVHVvZGRaK3lUUS9GL2s3SHJqMkQ3U2JBcUdBbzA3dllqRU5CaTdDZkdoWm5PczE5Z3pQVW1KU28xZGtOT3pLMDAyZUFxOUh2bGRIU2dWQWlCVEJEd2x0N1c3VVY5eW4zNEQwZWt2T2xTYS9DVzN4bnhqdS94bVFmWnUvOUJMMzc0L0VMKzJVT0RWeDl3OFlzZlAvMTdNcG1sYnozQ0hudFY2aXBOaXFFcklUQk5CTHlsdDlOTWtOSWlCQWlCbVNMQVB6NXZkekxXVE5XbnhBa0JRaUFoQWxoQW5tNzJQR0U2Rkp3UUlBU0tnY0FoT1A5ME1WUWhMUWdCUW1BS0NHeUQ4M0xUMkJTU295UUlBVUpneGdnY2cvTzNacXdESlU4SUVBTFRRNkFLenU5T0x6bEtpUkFnQkdhTWdBdk9iOHhZQjBxZUVDQUVwb2NBS0c5c1U1OWV1cFFTSVVBSXpBUUJmcWhiNEFOek05R0NFaVVFQ0lGcElZQnpYR2xKenJUQXBuUUlnUUlnZ0dPY2FVbE9BZDREcVVBSVRBc0J2dlRXOXBTY2FlbEs2UkFDaElBOUFuenByVHJEeWw0Y1NTQUVDSUdDSTdBT3psOHJ1STZrSGlGQUNHU0hRQitjMzhwT0hFa2lCQWlCZ2lQUUJlZHZGbHhIVW84UUlBU3lRNkFEenZleUUwZVNDQUZDb09BSU5NSDVncXRJNmhFQ2hFQ0dDTFJ3UkdXRzRrZ1VJVUFJRkJzQmZFaldPODIxMkZxU2RvUUFJWkFWQW92Z1BIMDVQU3MwU1E0aFVId0VMb0x6ZEdKRzhkOFRhVWdJWklVQXZxZE1KMlprQlNiSklRUktnTUE1Y0o1T3pDakJpeUlWQ1lHTUVGZ0g1L2N5a2tWaUNBRkNvUGdJTk1ENWcrS3JTUm9TQW9SQVJnaTA2Y1NNakpBa01ZUkFPUkRZcEJNenl2R2lTRXRDSUNNRXNQU1dUc3pJQ0VzU1F3aVVBUUVNNTU4dGc1NmtJeUZBQ0dTQ0FELzFkamNUU1NTRUVDQUV5b0RBS2poUDAvTmxlRk9rSXlHUURRSVh3UGw2TnFKSUNpRkFDSlFBZ1dWd3ZnUnFrb3FFQUNHUUVRSllobmRpaVByYXBkYkRIelB1eVVrSUVBSnpoa0Nmc2UvcExIMlZEZTV2c2c5cEQzSVJBb1RBbkNIUU5YZlBMN1pPc1BUK0kreGRjNVpKeWc0aFFBZ29CRHJtN3ZsdDM0UmZwVE14RlQ3a0lBVG1EUUdYc2NzeVQwdml1M1ZuMmFQU2k2NkVBQ0V3WndqQWJIOGtzN1RNUHVnNUt3R3pubnhLVjBLQUVKZ0RCTmJBK1o3TWgramFPODRtVGRsTFRPaEtDTXdaQXZ3MFBKV2xKdHZ4M1gxYWpxdEFJUWNoTUY4STREUThkYmc5VHNBVm1WdW5rM0RuNnpWVGJnZ0JoUUJPdzN0YTNseFF3L2hsWWN5VFQraEtDQkFDODRMQW9iR1Q5aHg3VW1UckxEdWRsd3hTUGdnQlFpQ0F3TGF4azdhaFZ1Umg0NDBZMlFjQzB3MGhRQWlVSG9GTlk2cXVyYjVoQmNzZTF1UFJqeEFnQk9ZUEFkZG8wVGZWMEI2Y1A1cS92RktPQ0FGQ3dNRUhLdlhJdmFvNGo0TTB0Z2dkUW9BUW1FTUVWc3hEYjV2cU1FeHdmbmNPYzB0WklnUUlBUmpybmxFb3VDYm5yeWh2Y2hBQ2hNRDhJSENlTVUxdXpYazAvOXA3Zm5KTE9TRUVDQUdjbUhGVG9kQlNxKy9BK1d2S214eUVBQ0V3UHdoZzkveUJ5bzArUFlNNHIwQWhCeUV3WHdpMDFOSTc1SXM0UDE4dmwzSkRDSXdpZ0YwMTM5ZStMV1hEbzNaZW8wSXVRbUNlRUlEWjNyRFZCVGh2K005VGppa3ZoTUNkaWNEYXBWZDdHWWZaZms4am9PMzJORCt2VVNFWElUQVBDTFRGT3J1MjJqM0xjMFZyY3ViaDNWSWVDSUV3QkpnWXh6Zk40YnhUbzdXM1lXQ1JIeUZRZmdUNElYajhReFl3NGUwYXVRbnNzZGt3SHBDVEVDQUV5bzBBelBMZVFUajRWbDNQeUVsWDdaOC9FeGpuRzBISVNRZ1FBbVZFZ0xmei9FU3N0aUs1bDR1K09oR0x6c3dvNDJzbG5RbUJhQVJhM2h4ZHBSWG8yanZuMVhHWUMyd1FIWm1lRUFLRVFPa1FPR2EzRHh4bmdaM2lYLy8wS1hqblZZdXZuNUtMRUNBRXlvdkE4cUFINVd0RG42akNNRjlraWM2Nkx1KzdKYzBKZ1RBRUtzMm5kcHpQc1pOQU0rODRydng4emJhNVBDOU1BUGtSQW9SQXVSQ0FZZjRSTnJnNXBIU1g3ZnMrVlhONTNsQWd1aVVFQ0lFeUl2REVLOWc3OW9ZVlA4ZWU5YnlXakVQeWhzUFFQU0ZBQ013UEFtdkNjTDlzSEpnMVA3bWpuQkFDaE1BSUFtMy91RnZxMm84Z1F4NkV3SHdpc05JNlJZZi8wK3g5ODVrOXloVWhRQWdNSS9BRk5yai9JZmJra0QxL09CVGRFd0tFd053ZzhNU2wxdldYRU9YbjVuMFdMQ1AvSDVGVjlnMXBYN3AxQUFBQUFFbEZUa1N1UW1DQyIKfQo="/>
    </extobj>
    <extobj name="334E55B0-647D-440b-865C-3EC943EB4CBC-34">
      <extobjdata type="334E55B0-647D-440b-865C-3EC943EB4CBC" data="ewoJIkltZ1NldHRpbmdKc29uIiA6ICJ7XCJkcGlcIjpcIjYwMFwiLFwiZm9ybWF0XCI6XCJQTkdcIixcInRyYW5zcGFyZW50XCI6dHJ1ZSxcImF1dG9cIjpmYWxzZX0iLAoJIkxhdGV4IiA6ICJYRnNnWEdKbFoybHVlMkZzYVdkdVpXUjlDblVtUFV0elhuc3RYSFJvWlhSaGZWeGNDbk5lZXkxY2RHaGxkR0Y5SmoxY1puSmhZM3QxZlh0TGZWeGNDbk1tUFZ4c1pXWjBLRnhtY21GamUwdDllM1Y5WEhKcFoyaDBLVjU3TVM5Y2RHaGxkR0Y5WEZ3S0pqMUxYbnN4TDF4MGFHVjBZWDExWG5zdE1TOWNkR2hsZEdGOVhGd0tYR1p5WVdON1pITjllMlIxZlFvbVBTMWNabkpoWTNzeGZYdGNkR2hsZEdGOVMxNTdNUzljZEdobGRHRjlkVjU3TFRFdlhIUm9aWFJoTFRGOVhGd0taSE1tUFMxY1puSmhZM3N4Zlh0Y2RHaGxkR0Y5UzE1N01TOWNkR2hsZEdGOUNuVmVleTB4TDF4MGFHVjBZUzB4ZlZ3c1pIVUtYR1Z1Wkh0aGJHbG5ibVZrZlNCY1hRPT0iLAoJIkxhdGV4SW1nQmFzZTY0IiA6ICJpVkJPUncwS0dnb0FBQUFOU1VoRVVnQUFBNllBQUFRWEJBTUFBQUFlbld1R0FBQUFNRkJNVkVYLy8vOEFBQUFBQUFBQUFBQUFBQUFBQUFBQUFBQUFBQUFBQUFBQUFBQUFBQUFBQUFBQUFBQUFBQUFBQUFBQUFBQXYzYUI3QUFBQUQzUlNUbE1BWnJ2dnEwUXl6UkNaSWxUZGlYYjVwYUx4QUFBQUNYQklXWE1BQUE3RUFBQU94QUdWS3c0YkFBQWdBRWxFUVZSNEFlMjlYWXdreDNVbW1qMHozVjNkUGRNOW9QYkJGQVJVRzZJZ1dTSmNzeHFMbEgwSlowT1VyUjhUcklabStYQjVMVmRCaE5kcjR3TFZzR1NURDVTcVRIcEZXaGJVc3hjQ1RHc2xWZnZCOW92TWJzQUMxZ1lNMTJDSGttaGhzTldDYkFGYXJGQUZTRERrQjZGR1U3UjZoaW94N29tTWlJekl6TWoveUt5L2t3OVZrUkVuempueG5ZekljeUlpTXkxcjRZNnR4eVp2VzdoR0xYZURWdnVUQjhuZWNtT3dhSzBmakUrc3daMUZhOVZTdCtjQ2VkV3kxc25scFFaaHdScGZuM1FzYTR0Y1diQm1MWE56THBDZlFQTXI1TWZMRE1LQ3RiMUtoclJGOXRtQ3RXdUptN05KSms3cjIyU0pRVml3cGw4ay8rNjBxRWFhQzlheTVXM09nQnh3bTU0c0x3aUwxZklLSWN5V2JYWmJYYXpXTFdkck52anQxTExKNlhJaXNIaXRQaVp2c0VZUm5CMWNGT3ZXeWV0T1UyQU12cjRvYlZyeWRvQXBEeHdJMWdpT3ZRdHlMV3dUUHM4TGllR0N0R25abTNHUmtDTUhnd3ZDLzExMlJPYS8vUzB5Wm8wQTQrN1BmM1Btc3dXVlBybDY2eHRQUC8zc3phdmtIbS9DTmhrL2NndHlNb3llWGNIa2tKRE9mQ0l5LzFxdkVubUlaZXgxa1pYZWMrMlRuekpNR3FMRHpqOUU4OWVDSDMzKzdZNEp6eDc0MHB1NTlxdVBPam1UeHp0cG13TnVyM3U4bHJZeTBodEU0QnpZNFkyT3lyQUxPZS95NUtpbDRla3QxNklFMTAvRFlTcWhCSHhVMzZSUGxaQVBaeEY4aVpDWFhxVEhaNGl6TXA2RkI5WXhnUUQ0cUQ0bnRVYmVtWWt4M0lsUG5JclFZYTlrNG9DVnpDQUFQcXAzQVhzNzY4QzVvNFNucDJhVVF5NlpFT2dSSWx4ZVZuOXdweFBKYUtzUFY0SDNtQnpSR2p2QzJ6MHZqQnZKQndzTFE2QUxMcExLL0VMY1BrNTZBL1lmUThyaFVGd2NMWUxia1ZSSVMwOURyMlA3VFpqa3pmNDNZMVJZZS9DVy8zaWxRK3UweU0vb24yVU5zbzdlckRyKzVrU0FCcFczRlI2OTdKRmxRMHc1OU5GRlVoQXRQMG1EeWdNcDlsTGN5Q3RKQTZrZWoyQTJjVlVtZ0UycEdSdGdVK21rVnRvUFpaZmVJR3hGZkVQNFN0bFpZYzA4Q0hqRDAyc3hQbStrcEJhNTY1VHY0TzAwRXFmQ0N6M2g2YmJTWmROTFB1UTM1aEc1a2I0eTFqQ0hRSU1vZ1VmOVBYa1k3ekNiZ3RmVnpNTUc2K1pGWUVCRUJHSlpYMkZ6QjFsWnJyT3hkOE1iNzJibGh2VXlJOUNXNGVtV2J5NC9MYzl0NWlPMVZEODZMUStrejQrQUdwNTJjejVndU1sOG8vNmtrMTh2NUpBZEFiclRnWWVuTDR5YjJmazROV3QwLzR2em9IaE9Sc3RUZmVXdDQxOHozVnBZOCtTKzdxcjlqbERtbGYvd0lIbjRPNkhGb3VDWTdrTHFZamNWZU1UL3I3WEh0cnpqcmRqUHhGZUpwNkM3ai9ZZHNoR2ZyTlhVV2FzUmNvdVFyMm1LUEZuYlpOZDZnUmpSeThOM2NVOGE5NDVXeE1ZOHkrckpaSjRtNzRCTm5mclBSY3pSRHVoV2xzMjN4QWV2MWZGajZQU21NTWNhM1VRZ1E3ODJ5VDdacmtodDhQQjByZTlablZFb0xPaDZYM2ZPUjU0MU9ROEpQOW44NHZoVEhWMEI1bWtSZUo1NnBYMFkzWndEL05XY1hpcmpNK0RoYWRXL01zNktuZC8yV2NmNVg4Rk51d29xSnBMMVhlRGlidlNCNVpTZm1PRGFadUVwbmNrblIzcUdGOGg3ZVVGN3FLZkEzR3dJckZISVlSWHJMcXNPUnJnZFlQVHBKOEtPSndPMFBBTk1DWHcyMjJEYnNNY0xHMlRJaUw4dEJva3dacGlmRG9GejFDMkYzc2t0Q2NzcEIzNEdGUnNNRTNJTS9jVHNuSWVuMSs3UmpocThTQnlpTmg5eVlTTndRS1NlSytZbVE2QkZPeWdnZjRXUnczTEtxYitpK3FTRTM3UzdmbUoyenNKVFdBaUhFU0RFWTEwVHovTTMvUHVBOVN3eE56RUMzVjBnaFExNTlBK09uZ2dyMlNuN1pVOUYrTTFKenlmN0twMU1PK0ZwcFFZTDRSQ0NzbGNieVVLVzJoQTd4d2JpNlZJL0JaNW5STURaRHQwUXU2SmhHNWQzVTI1R3JrNTQraFJkQ0FmV3ZxM2JuT1ZGc1JiWEN6RjZSdEZZYmMweFlkMjFaRnNnblE4YXNPVFppak9LMC8wT3V6cG1ZUFlqSi8vUzFaZDA1WmlYRllGTGRIb2NRaG5uejBtRlQrV2xrREVBam5YbkFjTVZzT25ydXBwZ1UzU05kTURremx1bGo3Q0EyOHUzNG9JN3BHN0t6Y3krRFpia0MrR1FFaGVNaHgzY3c4Yy85T1RnaVVFRVlBYzhkM3ZCWCtXQmFqNzJZRWl4TE5DRlpFZkRqYnBSNUpNaFBwYUdIck5TSVFERDRIVldBWUEyTVNEUzZPY05yc0l4cEljYWRlQWRLdlQ0WkZOVGhsbTVFZWk1cmlsWTl6UTNPOHVTcTZlV1JaOHR2cUxoS1dZeXp2WTFoWmlWRjRHYXV4bTY0Vm8zRjArNWVtcFp0TTg2M3BLZkk4aHlEdEdoL2VWNG5nTUJXSXNSWHN6QURXcHk4S05QRnlwOCtpRkxNNnUyWTFJekkwTXVkUmV3TW9RYllpM0dZSGpxQWxVRjB4MjVaMHBpbXh2VmlLZXQ4TVdrYzhjVE56eGxVMjRlWkFZcUg5cHByMnU1YlgwUmlzTG1EclUxTURNaEFnQTZ4OXhnZUNvN0gxMmFDUXVRL3V1M3FWSFJTMHBvcWVSa0xYZTJGL3pWMjVwNmEySExwMCtFckorQ25TU2Y4S1VaS3VvalFNdXZLSTFrek1xSXdNaWRGTkNIcHlMcW9GM0tmd3gxTXVHVnJHcVlXNE1aSXgwWnl3UHB1K0dsV0pJTmdacTdNTExEbk5CLzgvS2gwVWpZc2VzbFpXZDBPdUZVRmpUZzlFU2VzdFIvRmhrd2lYVWcwdmh2Q29HK3UxVVEwTitIcnkzNWUxWGE5Vk02elFCOHhFR1hadnhtcXhKWVczVU82TlM3UElsL3hoQ3czU2ZRMkNpODVYMEhUbm81ME4zVlZWaTZOQ09DSmM0TWVyTDdDaFZQbjA0dkRHdm9FSkRiUDlrb3ZKRjNacWVsV0l3S0JKdUtTUTB1LzFpeHVxZFA2L1REdlBRSXlMazc0b3pDRjMyZEtqVkg2TzZlVmRndVdMRGo0VktWVWVsbWxBUGxxWVFueVJHd3hab3ByS1BTTG5wOEpYbGRMV1hOdHdwTGUrWFFRd2xXRm9QQmxwdnlVT0JKTGdUYVlvNGRuQms2Mno3WXk4WE9HV3M5a3d4MFN0OTduZFNsMTdUdWJ0M09LUldyS3dnTVJFOEJwT213YXlzK3EwS1dPRWxqbnhzcU5ZMXR2RTlzRE1qL0VnUzlZSndqaXZBL013SXR2aXR6WldMVFNieFZmeWlUbG5IZ3piMTBPWFhjVWRtMDNDMUttMzczU1NYRGRGWUVJSnpzMExyVjEwZDBPOWk2dU5ObDVGY1orZnRwRHpLSTUzV0Q1L2pqVDViMUZNNE1ac1E1c2hwTXlPNEJ3Y2E0ZVVpSHlOR05TT3Jvd3BlLysvNDJ0U0I1NEVQZjRwVDM4eW1MVjc0c3ExYjYvRUhpUC9GNnlKSUNVL2tRZUlxOGRtUjl6djRWMkpNdzZXem5lZ3NSTTZoalZjNkh6amp3UTdsUFAwYysxWVFacTYrU00vakR3endDbFRvWjl4MUg2UnFaaU1BbW01Z3V1UXBma1huNjJWdFh4VVRSRmhuVGI4M2N1bXBQT2dyUC8wSElJemRoQjhTSmtvZEpnd2hzL3VEajQxL3NVSWIzOWYvSithZnBZbytYSDdQSHYvL2ZpNVdCM0JF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S2FGd0gzMkx5bGZsWm1XRmlqWElBSy9RNjY2SDdhMnJEZTVYL1F5S0FKWmxZdkFLdm1DVlhVL3lBYWZWNzFlcm55VVpoNkJGbnhPZGNmOWxqaDhCblhQdkF6a1dDb0NGZnV5WlYza1grSzByRU5DNEJ5UHVVYmd3aDFRZjhmOVhuaVA1UHE4MzF4RHNUREtPMSt1UFhhL0Q5OGxaR0dhdHJRTnFaMUMwNkYzY2dENjRsT0xTd3ZJL0RkOHpmbjhjVmVNdlJXQzM2K2RlNk51ME51cFpRc2ZDVUtaZjUvN05pMTdBM1lna29GUEh4UDZCd2Q4S2Y0MlMrSHYzQ0xRb2lhODRGb1N3dE9EdVcwTEtzNFFHRnlIL3gxMzhnaFNwd2pObkNQd2tTTm9BTGk5KzZ3ZERUYzE1KzFhZXZYaDgvTWNnNEVicUM0OUtITU9BQ0gzZUF2YUdKN091UzI1K2tvQWcrSHBZcGpVT2tmSUZkWVVDR293UEMzZnFsdVBUZDVtV0Nxc3hWRHZGdzRNVHhrTzVmNnU5aWNQbWw3aHJMcHJNUmllbG10TkptMHdQckVHem55ZU9lazExKzNGOE5RY3FvazVYU0N2V3RhNjRXVnI2ZlppZUpyWUV1WUk2NU9PWlcwSmw4WU0zelYzdHRlQzhOUU1UK1NTR0lFTHpyNmhDdmx4NGhvSkNMY0p1Y3ZKTUR4TmdKZGhraW9aVW83Mm1VbStFTXJjNFB4WWVMck52V0NUUXBCWENBS2JaT0tVdEkyT2tCZmRyWUk4UEQzazBXcUlGcGh0RW9HTGZFYWdablFmMkhsM0xZYVB3cjFkazBvanIwZ0VCbnh4czBaT0l1blNGVUlBYzVuVjRLTndkNWlPQVZKblJ3QTJDekZidHRsdE5Uc25UMDJ3S2I5RUlMVUhSZjJtcHh4UENrUmdnOTlPWWZ2UXFVRXhNUGJ1TTNZOVFpK1dUYkh3WmxBR3NncEI0Smk4d1VwY3B5YUVNRjAyVEFqeWZ0cDNVcGRlUzFjZnFYTWdVQ2V2TzdWaERMNmVnNDIvS2t6Y0Q1MDgySlpFbmEvenVEVGpoNml3Y3pEbGdjTWNKbjVPRFVvQmRyc091K3BOWjVkRDQ0cEI1c2dxRWdHSU5DNDdCSkFZUmxLbUxLeVJ1N1RHQ25tWmtDUExhZy9wR1I1bElBQnpBMGVPSEJnalQwd0tQR2FQRkhjZmdwSGdzclhONWpWTUNrQmVZUWkweEpJWUdIYy9qQ2hML3BwTlBteFZ2ajgrc2hxdzdEUDZTUlllV0NjVEFsMnhFK3pROU9hK1B5YmtFV2M4WDdWSjMrejFrcW1seTFPcEx4NkFhSWdPYTZ6dEwzL0FmdmNQS2JlVkJ5Y3ZHZU9Lak9JUWdKdWRlMkFFR1lmV2ZKVERqazMzTUxwK09oL05YMGd0WVdyZ3BSZnA4Um5pdmxGaklSdTZSSTF5cC9DZ3crS3N3R0lZSGhaTmpweVdRSGg2dWhoTldwWldiTUZFdXUrWU9MWjAzNDBDNnloT3hySWdNdi90cEJQcC9tTkltM1VvbnM5djRYTktjMmJtdFFkditZOVhPclFOTGZIMmpJSFpiWU9VTng3VFFhQWhwaHo2NkNKTnh3TG1wZlo0QkxOcGVGWEd2S2JJTVNrQ0RmSzZRN3BoZkdZd3FRWklaeHFCRmx2bGhCZHE0Q3lTYVd5bnhlK1F2N2xvNU82YW41WW1LTmNVQWp2TXBqQ1YzelRGRXZsTUdZRjFOdlp1aU0yRFUxWUh4UnRBWUp2NVNDMTgwWmdCTUdlRXhTYnpqZnFUem93b2hHcmtSNkJHWDJMa1BDaWVueGR5S0JpQnluOTRrRHo4blZnaHgvUlZ1MTNzcHJGQXpRREJXbzJRVzRSOExVNlZiZGhhL1FKNUpvNE15MmNBZ1FGNVY4ZmFmRXY4b21oMS9CZzZ2VE5nc0hnVlhpQmZkNGhHL0FHbjhCcWJYeHgvcWhOZWpDVXpnMENiZjB4cnhYa3ovY3lvaFlwa1IrQUNlUyt2M0I1bTU0STFad21CQnVHbS9EWi91aXlqY3A5K0l1eDRNaU5IckpZVmdUWWZjdUZkQ2dkWmVVQzlpdTNmOENMUGh6bjRZdFgwQ0t5SjUva2IrUjcraHRmZ2hCNjc2ZFhDR2prUTJCQTd4d2JpNmRLTXpCNE5OZW5FNkVOd0dkVmJwbW9YeFNiQW51aXd5OVQ2eFd5cnV4UDcwdFdYRnJPRnk5Y3FzR2tlMTJqNUFKdURGc09tK3JIejVPY2M2SW9xSmtNQW5td2k1Sk9sZXpFd1BDUTVrclVCcWJ3SXdEdFU2UEhKcGplNzZETzBhWUVJaTdtQ3MzSzdLdHEwUUp2Q3EwN1lFYnNxWTFRSnRLbFJPSDNNNEZVbjdEajFGZURwL0NLd3pZMktiL21iWHhzR05OLzZvdE5SOGZWaEFXVG1PZU8vZnB0YXRWd3ZhWjd4bWcvZFB3STJ2WjVMMWJXdzVkTW5jUDAwRjdEWks0L0VDMWN6c2hBeGtUT00rMzZHR1hsaXRVd0kvR2RSQzE3amNDRFNXZjV4L1RRTGFrWFVxWktIT0Z2M3hjaFp4ZUQ2YVZia3pOYURpVUgzaTA3NDBpT3oyRTZMMnpIYytJUnM5SHNGRXZQOVh5WHU1b1pOZkV2RGZOdFNhTjhsN3JNU1cyNUtGT0wvWENKUWw4N3V1cnQxZXk1Ymdrb0xCQWJrZjRsa3oreG5Dd1JiL0M4YmdSWjc0eEdJM1JUdnVpOWJCWlJuR0lGei9QRW55M29xNTh5Z1ljV1FYV1lFS24zK0lQR2ZpUGREWm1hRkZXY0ZnZWZJcDVyd3JNdFh5Um44NGJFWUNQd1ArTExMVFVMdW5DeEdjN0FWRklHWEg3UEh2Ly9mcDRaRnBVK3UzdnJHMDA4L2UvT3E2NlZ0ay9FanR5QkhQRVE1TmVWUWNDWUUxT1djTzV5RHMrV1lMdGZsVzlETnBBOVdNb0RBano3L2RtbytjdmJBbDk3TTJhMnlKWjdKNHgwRC9KSEZWQkNBcDVuSkd4NzdkU0VIM2dXRHg5d2lRTCtxc09mUnZrcmdRNHQ0ekRFQzhPbE4zLzYyR25ubkhMY0hWYWNmT1pHcnVBNGUyL2dtNzNtL0xub1FIM3ZhTUxqVDhaemp5ZHdoMEpXcnVJN3VGL2hueStldUlhaXdpMENmRVBXNWpzMytOOTBpVE13bkF2UmJ1YmNWMVh2NHdWd0ZqZmxNMG0vbEtsdUxMK0hJTzU5MlZMWGVBSnVldWhtVnR0aHg3R1poWXU0UThJYW4xOURublRzTEJoWDJoS2ZiU3BjTmttTE9uQ0RRVUI0R3NPcnZtUk90VWMwb0JBWkVicHo1Q3Zza2NoUTVsczBCQW0wWm5tNzU1dkxuUUh0VVVZT0FHcDUyOFl1TkdvVG1MNHZ1ZE9EaDZRdmo1dnpwanhvSEViZ0VObVhoNmFyOWptQXg1c3doQW5UMzBiNmo5K2huYzZnK3FxeEJZQWRzNm1RL2g1K2UxOEF6bDFrTkhwNnU5VDJyTTNQWkZsU2FJVERnNFduVnZ6S09BTTB0QW0wV250S1pmSEkwdDYxQXhWVUV3SlMzNFZuSk50Z1dOMm1yd014dm1vZW4xKzdSamdyR3hXUCtFV0RoS1N5RWI0Sk55MzJIOFB5RE42TXRjTUxUU2cwV3dtdnlKVEF6cWl1cWxRd0JKeng5aWk2RU42Q2pzc21IWkRXUmFsWVJBRXVlclRpVGczUy93KzZzcW9sNnBVQmdRTWk5K2s5cGhSV3dxZnZPa0JRY2tIVFdFR2lESmZsQ09LVHV6WnA2cUU4R0JNQ1FZaUc4QzhsT0JoWllaYllRb09HcGlHQ09JVDJjTGZWUW13d0l5TlZUeTZMUEZsL0p3QU9yekJZQ2N2WFVzbWlmZGJ5bDJWSVJ0VW1KZ0x0NlN1djFjV2ttSlh3elNkNVFOL2RXb2FNZXphU2FxRlFLQkFiSzVsNkxkdHJyS1NvajZVd2kwSmFiZXkyTExzM2NuVWsxVWFrVUNJQVY1UUliTHMya1FHNW1TZUVMS0dKekw5V3hCaC9DbmxsZFViRmtDTkN2Sko5SzBnYWNuc2hUVE0wakFuU2FZVjhxVHBkbUR1UXBwdVlSQVU5NHlwWm1maktQN1VDZEpRSXROVHlGYk9pbnVEUWo0Wm5MMUVnTlQ2RUZYVEJxWnk1Ymdrb0xCTURSVlYrTlpCMkRUWWVpRVAvbkVnRXdvV2VTZ1U3cFg1bkxscURTSEFHNkVuTkRSWVBHTnZoY3NZckkzS1VEYis2bHk2bmp6dHkxQXhWMkVhaUFpK1R0cHozSUlQaTZRUmVoT1V1OC9OMzN0NmtGeVFNZitoWlgvWDcrcmVOWHZqeG5iVUYxR1FMTW9JNVZTZFBKb3B0QithSE1MU0ZlODROQWwxeUZyOGc4L2V5dHErTDcxMXRrVEw4MWMrdXFQZW5NVHp0UVUwUUFFVUFFRUFGRUFCRkFCQkFCUkFBUlFBUVFBVVFBRVVBRUVBRkVBQkZBQkJBQlJBQVJRQVFRQVVRQUVVQUVFQUZFQUJGQUJCQUJSQUFSUUFRUUFVUUFFVUFFRUFGRUFCRkFCQkFCUkFBUlFBVG1GWUhOOGRHOHFvNTZoeUN3Z1c5akNrRm1mck1QMVJlQ2JEMDJlZHY4TmdVMTV3aFVYNU5RclBZbkQ0bzM4OHRjVE0wd0FpOTQzdS9DRmUwckw5Z2FqRStzd1owWmJnR3E1a05ndFMrK3BLQVVyQ2t2SHJoQVhyV3NkWEpaS2Nia1RDT3dWWE8vanFIb2VVRXhZWjAreDd5RkwvSlI0Sm5sWk9Vdjc3ZmxGMDhVVFEvWmg4eHB6Z1ZDaCtFS3ZzaEhnV2VXazNYNDBsUmQxMDlIOHQyR1ZmYjZOUHRzbGh1Q3Vya0lQUHJJNDgyV3pxYlNSZG9rRTRlOExYdXVXeDBUTTRxQXpxYXI4bDNCRi9sckQydjhGVEF6MmdwVVMwVkFaMVBGUlJwdzg5WndZa2xGYmJiVE9wdEtGNmtpWHRuZVpyZlYyVzRMYXNjUTBObFV1a2diL0hacTJlcmIrUkc3MlVaQVoxUGIvWUx1c2ZDZzNPOTJ6blpyVUR1S2dNYW1pb3RVNXg5SWhqSDRPdUkxTHdob2JIck85WWZBbEFkT1ErQnpONmZ6MGlMVVUyUFRRL2Z6UlBBbWFEYlBDNGtoWWpVdkNHaHNPdmlaVUI0K2EzUGtwT0VkMFNjaUUvOW5IUUdOVGFXTDFCSmZGQVBqN3M5NlMxQS9nVURRcGx0a1Z4UjJ4VWR0RHZGTEtBS1RPZmdQMmxTNlNQQjlaUDdKNjRib3NIUFFvbmxSY2NXK2tVSFYvdjhWWHlsbzAyUFhSUUszMXoyVXpTenhUSkVpQVFJRE9SNG1vQllrdFFUT2F0Q20wa1hhY2kyS0gwSVJtQnI3dnlUZW9wNk80enB4UGRqUWlrR2IybmNGTVh3QTVhVVg2ZkVaNHF5TWkzejhONENBV0IxSnlhclNqNS85Q2RoVWNaSGc0MU1zZ29FT2V5V2xiQ1NQUm1DRG5IV2lLVUpLbnhkK2EwZzVaQWRzdWk2amxoMGxQRDBOWjRFbEdSRG8wcTE3V1k1Tk8zWmpic0NtMGtXeWRvUzNlMTRZTjRzU1dFZUR3QWJKL1BSS0s3YWpCbXphbFh0RER3bmYxdHZLZGovWHRBV3pHQUlqallQeVdUS21INkdoMzV4eDc1a2o0bnlGeHBaR3NlQmJmakdEWnNDbTBrV0NjWm43V0FQY05tajJZZ1FIaFhrcUt0dUdFbWJzOG9JMno1T2IvaXlyRjJjTnYwMVhsTkc2SWFZYyt1Z2lxZURuVHpmRXVyVEthdnU3NzJNbS9QMFBmZXVJRi93bjJ6SHFLejlVQ0NFY0NWNFFTbm5BUjFKY0pMZ2cyQ01XbTdncW8wS1dQdzJBN3VtNTFNQ0VxdjJzRGNpNDgzZGU0aHB4TnkxNEMvaVp2NSsyMk41UHA3VEI2OElOWFZzWE16TWk4THpZRWhTb0QxdXV2VE4yOEsyKzE0NThaRkM5NDh2eW5QcHRxcmhJMElmWjlNTk8zQUR1NFlnbnNRalVOQjRTcTlUM2ZYUGNPa2Z1SFBuNXdRNkZYWCtlZXU2M0tUZWpRM0pJYmp2L0krV1JLTFV1cHJNaEFEZkV5L3FhZElhZFlTN0tSenJTcW5CZUJaWDMzMmRUMVVXQytOVGhENEthM2twNGxndUJobTk4bGN6b0RQdXVQTFdzUytRZDZpbFBuNHRlenZiWjlLSnF2blhXYVRkMFRwcEdFbVlsUTZCaWg0NTcxQ01hcWx6cTJvL0lnNC8xWHBYS2wvYlpWSFdSckczbUk3WGtveGEreW5pYUJRR1lSdDhQcVFmN1NUeGxYNWtjYVNtcllqWklXK3FMbExycWRiSEpmS04rdEplbFpZdVo0UWlNUW9kZTZ4QnNxbFRjQ2d0NVlQQU51U1BUMmw0QkZkVkZzcXdhbmI1d0hoUlhCR0V5SHdKUkEyZVBlR1poQjJvUFU2WEM4QjBTb2xaZS9LdVB3b1h4RzcvM1lvZFhXSEVuR3AyTVkvcjZsUzUyVTQ2T21UOFlla1A3V0plb0h1MEw0MmFZeUtySDlncFZBd3pLRGpGRjdIR1JMTGloN2xvdmtHZVVLcGpNamNBb3pCekEyUk9lcnRvNm41ZkpoeHV2L3NKb09GK2p2M1h6cXV2WXRueVBnMWZIajdsbHVSdUREQ2dDTVBTR0RKdjBGUXRxZURyaUt5ZzYzR0J4NXE0dVg1UG5kNTAzdnpqK1ZFZERoMW1aRVlDaDl6U3NNbGhLeGhnWHh2dGhkSkJmQzNlMHZMVXF2a2tNYnltZW1VQ2dGekY1RGhOTXJzRTMrOStNRW5mc0RYckNTYmU5TGxJNElaWmtSc0NPbUR5SFB1eUdwejN2WEw1ZkhzeE8zUERuYWM5OUxwS1dCak56SVFCZDhVb29BeVU4M1FqeGdVUmRpR2JDQWgxQnd2NGJQaGZKVzRwbkJoQUFzK2tkVnNxNzRZYW5sZlpETWNKR0VXTzRXclhPSDZWUTh6QnRGSUY2bENrR2JuaDY3VTRuUml6cyt3djF0WlNxbFloaFFTSERaSFlFWU9rellzaHNpOVhUN1hoN3dTUEJTYUtaQkp5eXR3WnJVZ1Jnb2piOGRtcUJpM1NiVWxWcUNUYVcySW1pbWZQa2lITEVvemdFV29RTVE3bTc0ZW4vSzkzZlVHSUxCdXFqOEZKUjBzQzM5QW9vaXZxdlJkMU9SWGdLZTVDOEsrTmFiY0RidXE0dDhHVFcwRVh5NEdIK0JHNm5ZbXBkdzF5RXAxMndhZWo4b1ZzUEl0VDRHeXE2U0M1ZVJTWGd2UmpPRFZQUGZ3ZHNDU1YvZlFiL2RKVXorb0NKNDNpaWxYaG5LMW9LbHNZaGNCdzVYamFjOEhUVnZ0NWx4bzNoVmt2d1FvWlZ1bHFLUjVFSWdMR2E0ZndIVG5nS0MrRmcrZ2hYU2pCb0pDRjZVVkRqZjBFSXdFdXdJemkzYVhqNjNMaEpJNTRFczdtd2hub2xnaHNXbFlJQU9MUVJMcElUbnE3UmhYQWExT2crSitKVkVtWWQwS24xUWpLRk0raFpFYTZxRTU1V25ZWHdQandrRTZzZnJLRGovSHdzU2tVVHdCMXdOMXdHRFU4L3p4NVpxMEx5S0p5U2w0Q1QxSXdsUW9KaUVRQWo3SWRMb09FcFlRdmhPNUM2SGs3SlM2cEppR0s1SUVFZUJHQ3dqSnJIcFlia0MrRjBQMzdFS00yVmdBcm9KT1V4aUlHNjRDSkZiQnVqcTZjaWdvSDVoRWh2aWlrRE14am9KQm13U3g0V01MaXloN1QxVEFhS3lXR1VqdXJTakFFNFZmR2VsRjRXNWhwQzREaDZyR3dyQVV3RE91cEpyRmc3d1V4U0xCTWt5SVBBSU5xbkFUUGVGdXdoNm9seWtUbFpOMm9qakdDRi8wVWkwSS9zZTA1NEtzVFQ1YmI0cFptZXNoMVkxTVQvTWhHZ2prK0VQTEY2eWtpQU5uN1ZCUnpmZU84NFFpUVc1VVVBNXZLaVhCcXhlc3JFZE1Hb25UaUpVQ1ZpZDFOY2JTelBqMENNQmFEVEtkMFkvQ2tSMklSTGpybEt3aXRpaVNFRURxTnZrUzNQOUMxZG1vbWRVSUJ0RThwbFlFaE5aSk1DZ1dyMEF0cElDVS9aMGt6OGhJSWQ2WFdsMEExSnN5RlFpOTVsRGNYcStscmYwMjFESk5ham82T1FXcGh0REFFWUtQY2ptRUd4RzU0Q0dmVHErRlVYSUxvUndSS0xDa2FBM3Z3NjRUSm84WUZTdkFQbjE1VnpiZklRZ3hrdExtVmxncE1hdFhFRmlqMTcvQkl0emNCMFUveE50NndHTHFFY0NHV2lIaW1sanE0Nk5DZGFtb0dWbWZpWmlTWEV1cXdtdzJBYU5VRkF4OXFPcWtzN3dkSk1UTjlYMldHNkFBUWEwU3R0VU93ZG1rZGc1TXN4ZXNUY28yTnFZM0ZlQkFaZXY5YlBydTRmbW9FKzhxMkNEZ09nT2ZGend2UFNFS2g1L1ZxZjNNK0JkVHo5MVBrSTErVElSK1kvN1Nkd2p2MTE4TndZQXJiWHIxWDRidjdvOHg4QWs4SVUvL3UveEVmYmxjOERPUnlURHcwVndtQVNldmVOWUM3bWxJTUE5V05EaGtud2lOMkRiMjZwdWhucTNGSlFVNkREMWJZZ0xDWGwwTEgwU0M4THZqZEF2eUx6OUsyYnRwaDI2RG12bUhzV1hqSDNxcjRPejIxNUp4UWphYkhRTkFKMHlkczBUd3RlaFo1Z2Y2RjVzY2pSUVFBR1dJOFBaQVlXbUVqQ1NRY3pVR2JnQWowcWFob3BBMGRhQldhZjhKbVpqTmpscjNib1dSN056NDl4S0daRU42WGRvdk5wRkRMZFR2Y1hkaFlkdXBsdFh6VjZhakNqM25RRDZYN0d1bGd0THdMZDZLbkJqT3hwMUR2TVdCZXI1VVdnbldEUFdBWVpZTlByR2FwaEZSTUkySkhUdlprbDlJdGhtMW1mcGFvSUhXcXZnQWJYaXVuK0JXaTZlQ3pwamUrMGdHWjFjY0szQUZTVHNhU3IxOE5rcEttb1JvVzQwNmxVV0ZwaU9vVWZzaXlUQzVOZUlXRnZMcFdXcGpMZEZ0Z3NvTFdONkYxT0JVaEVsZ0lCT29sM0pFNE0vaDhYTXVWb1VNRUZaZ1c3Tmd0WWFyUG9seGh4WVdaSzF3MHN0Y1cvZENPRGJqdlJEN1ZtNEloVmtpSUFDNTBGTEo4NmkrSzQySmJVQ0licG9EOFZnajFjSzRYMGY4UE5ueUYyZi9TKy92aVRUUk1Ld1gwdjZzSC96Q0xvL3JUTWxaZXg0c2Rnd095VGlZbkZyT05DdGprNEd4MXdBVFhGdFhtSjNQazd5L3FMZnRRTDVaS3lneml5RVArVSt0TkhTWlZBdWtwNzBxUW9iSnVZMU9zVkZFZlNSeHBOakNOTFl1NTE4ZFh0NnQzOExhNFd0R21Uems4Vk1lZVl2OFV6eWFFKzdqQzkxcU5lZUo1UWRiQnAxSk9LQ2JrRXlkQ21RVXpDYzFiRmJ1aExkc0JqL2ZRVFljZVRJUXhIQmMyMTAwMW1sME5rWXJZZmdYWHhKRW90RUZsV2JFQXk1Qmo2K2JCenNHbjBreS82YXJHNWFOTllpQlNDRm45aURMYm0rVGRiMDkxNlljZXV3a0pKRGdxMDZWQ1JnOGtvQkxyOFphdXdvaEs0RXo0YVp0SFFZQlpzR3ZVKzVpaEZJc3ZvdXV3d2tnSUxKUUo5L293Wm9IWkQ1bVpOZFF1MDZXbFdwWmF1bnZ0MndHLy9jaWQvNDR1eUtiME5vRTJUMnNmc3BIdTlvSDVLYlhvOWFaT1duczRtNUZjN3hsQUFtNzV1akpuQ0NHMnFnQkdiYkVNUE9ERG10cW9BQUNBQVNVUkJWUHVYV0xLRUJMVndtNEtjQk1kdHZTQzZIM0ZQWDRTNUFRUWdvb1RqN0R1Qmdrd1phTk5Nc0JtdTlMeGpVMEwrd0FqZmRvSDlkTmVJaHN2QXhKMVlHSnBvTGZaVEV5am01bkdOZDFRVHk2ZFdoRTF6S1lyMzAzVHdmWjhiZFQ5ZE5TMTF2YUJZaHRvVVl4a3Q1UHJNdis4N1ZyMmhMMDJWVzVSTk1aWkpaUVlncm56VUJxdWFXRkRwRnRSUHFVMVAwelpyeWVsWDRVWVkzRWkwRnJaOCtrVFkraW5ZMU1TbEViQUcyalFBU1h3R2JDUUlMSWxuV0Q4ZEZHUlRYSmVKTjZHZ1dHdUtWRDJ3Skc2NVlRNE1mUDVqVjlUei9nOEsydWRBYlhyWkt3clA5QWlza0hHVGw3U0MvZFRLdEg1YXlOY0ljSitEM29DYTNKRjg5Y1ZPNUFlak5YVzFXY0N3TUp1ZWFDVmlwaGNCK3ZhRjJ6eHJ4NGh6QXpZTjdKYnd5c3gyaHZzR2srSkdSN1FiblBnNC9sdDRDZGhXQzdJcGZWWjVQNEY4SktHNzI0Y2NocDZieW9OTEQvZmg1NEhQUUYxNENzVjlzckF0dG03bjR0dlNoYm01T0xMSytMeE1VaEF2a2NtUTAyNlo4VzJPZ3p0S2t5b1RTVWMvSDlXSnBNQkNoc0FhT1JKUUhKdVpJdC9SVEYwSUVYbis4Zm5UeE9qVm51R2thM1p3WmpBeEY0VVFiRnJJcy85RnZWTkFVWDFSa3AvbER4Slh1b1pteUl0NlJ2KzhjdWRmRlBBTGFrZWxkdmF2d1BwUDYrUVB6VWdvYW95RS91OS84c09Nd2d2SVphdE54cmRzUXQ1bHFHMEZ2aC9KeUQ0TVE4MmNiVGFiUDdoSkh2NEZZOU51Tk9MdEZORGlWa0hQS2hlZzZzS3hwSE40elFKYTFTdG9IcmtBVlJlT0paMXRMR0lPcjFyUS9vbUZNMEFCRGFKTHJwY0w0RHNJM3pkY2dEUmtxU0pRMUh1MjYzSUJTUldINlRJUWdINjZXNENjR3RxMEFGUVRzbXpMMWJ1RU5SS1I5ZVhpZlNKNkpES0lRRUdESkhUL1BZTmFJcXMwQ0l3SytjQUV2VTBQMDZpQnRBWVJhQlFTZE5CdGc4Ym1SUXkyZGpsWUhSY3lPVUNuTW82V0E4QVpiT1ZPSVp0WGlwcEdua0VBWjFBbFdHd3JZQUVGbG5zS1daYWRRUUJuVUNWMWk1TTU5YUQzbTFtek42ZlNFbkdpZHo3enpUMHNhSXVwZVUwWGtTT2Q4RzBhYjFpakVHL2F1Sm9MeXJBQ05qVS9pVC9DcWNGcFhpLzlJaDdTcitQVTREUnQyaTBDZnJ1SUMyV2FLTTJYN0Y0QncyUXhBL3A4NFRwTmJjRkZqWCtENzhwYng3K1dRa2s2TmRoSlFZK2taaEdBU1lmWXB4WFgybU5icnJPczJHTG5lSmdtOEZRYlRqbUVnVk5DUHV3Y2pKMGVhTnc3V3BGVVBaa00wUStta1dKNWhsVEZiQU1Jd0RnWjE2Zlc2QnFMREdQYnNiT0pPNFVzREJobzdKS3dvUDVNSjdxdHo5UEJ1Uy8ydUVDRnVNRzZWY2lpYkxTU1dLb2cwSStkZEtqdkFqa1J6NlZEeDQ1enFxcUUzRkFrWUxKc0JMcHgyMHljSnlSaDU4SmRwaG5jZ0cvSDZGakhsNWpGSUZSd2NjL3RnU0dDenRFblg2QjNja3VDbzN3UVFpbXlZVGpmRjJuOG53SUM0TkJFajZVdDJrR2hkMTVoeWgzR2RrSllGOENQRkUvQmtsSWtQS1lmL1RHLzdpNFF3d09sOUE4TzZOY3huUkRzWDhBNk81T092MGtRZ0VkbTNCZC9hT21kM1dJTmQ5UFlJSGJCRlVibm4ybzVZV1pKQ05CZ0prclVtbE1LYmc4bmFzZGNBcFoxN1BwVFVYeXhyRUFFMnRHRDZTVm5Ta2pPRE1WdlNodTU0M1NCV2lQcktBU3EwUXRqcSsrRXl1RDI4dmY4Z2dNVTk4WmZ1RWhPb2dSaVdlRUlnQ1BMWGRwd1ViQVZqZFBBL0R3UFZNT280d2J6c0hxWWJ3NEJzRmVzUzdQajltV1lueitJbGcxOUd0M2VhSWdLTDAxaWc1NTd6d1hybmthckJNRlIzT2djelFCTDh5Tmd4ODdpdzNkb3hDeEN3N1Z1bU9Ba1kzbFlYY3czaEVBM2RoWWZicEZpUVhUZ0JqVmgwa2V4UFRtc0p1WWJRK0E0OWhZSjh4SmkvakErUE8zSGQzdGpxaU9qRUFUZ0JoanpFVlNnRUs1eGJIZ0tuNEJDRnlrRTZmS3l3VW1LbnZHMWRseTNOejQ4aGRsZWRKSEtNMTZZSkR0dSswckxuVVdBOFBSMkdCdVdEL2EvRVUyQnBTVWdNSXJ6WllHZ3cvU0lEMCtyc1I1WENTMUNFWWR4RTdRMXR5TkRMNlRoNmIrRmd3WnZ1UXd2eEpLeUVJQUJWYmkxZXBGOTErMWg0V2tsM0d5d3lTWG01cXdYZ2JsbUVZRHdNOXBWdGQwUEZMRlJlQ3Z3clRoWElUa3o3R1poWWhvSXdLeERKMHF1M1A3SlJ1R044SzU0akRNT1VVaVdWd1kzMU90UjB1UXNQK3ZSRjhPSDZuck01UkVsQnNzTUlnQXhaZVFDbWkxQ1RoN0tIb3NaaUlBT2NEdkZGMndIVUpsR0J0eFF3MGRUVUtoTitHb2MzMm8wMkF2VE11N3FDS3VIK2NZUkdFVUhJQU5oY2hoWjZiQnI3NGRwQUtQNE1Ld004MHRGQUxaNjByQXo3QkFmVzEyWjJIU1FYZzBQWmJwdUpCdkdDL05MUWdBV1hxSnVxRENIMzZHYVZGOGYwZW4rOWRDQkdnWnhuT3d0eVdheFl1U3NnbzRVUEo4OXlOOFlOdy9wUTIyakd6b2ltZ2UzMDkyd01zd3ZHWUdXZkw1VUova3A4dHFSOVRuN1YrQ2I1WlBPZHZnYmxZN3gzWkU2K0thVEJ4M3NJRUp5cFU3R2ZjZFJ1a1ltRWNOcnpkMFBFY0VNaThwQm9HS0xjRVV2Yi9NSEh4Ly9Zb2VXM2RmL0orZWZwdjBIaEs4My9IbDRQalVFZWlZYzF1ZmpGdTJtMXJ5bEZBeXU3VEIzdzdzNDlPYkcwQ0FER0h4ak5pWEZDNE90U0RmaXFaQ2lOQVI2c2Mrcnhhb0NNNGVoRTB5eGxaSEFQQUxnK1E1emNoM2gvSDFPQkUxWDcrY2RmR0hvallxSFRPdUwvT0lSYU9YMWZDK1NjU2RlREZLVWlBRE0rVWJONDhkclVvK1lqSWl2alJSRklORE5aeE80Sm9aRnFJVThjeUFBZTNlUGNsUVhDM0k1V0dCVjB3aEFpSG9qQjg4K2VrZzUwQ3VxYWl0bVMyaWszSE93WWhOSmdJWFRRQUFlY0JwbWx0c2x2NUs1TGxZc0RvRmU5T0pNbEdENCtGQXpxaHpMcG9RQXVLNVpKL2Q2K1p6bUtUVjRHY1NPWWg2Y0NjVUFodTJUMEVJc21DWUNLMlI4bEVsK0M3dHBKdHpLcUZUTjV1bkFWRy9XUWJ1TVZpMjNqSzFzSGZVcDdLWXpmTjAwTXMwNzJPUG1ETGRwMlZWYmU5LzFEQkQ4ZngvT1VBbXJJQUtJQUNLQUNDQUNpQUFpZ0FnZ0FvZ0FJb0FJSUFLSUFDS0FDQ0FDaUFBaWdBZ2dBb2dBSW9BSUlBS0lBQ0tBQ0NBQ2lBQWlnQWdnQW9nQUlvQUlJQUtJQUNLQUNDQUNpQUFpZ0FnZ0FvZ0FJakMvQ0d4bWZLb3hYWXZMa1pKT3A4V2wzaWpsSWVKeXBDeXVsZEsxN0ZEOXhOdldZNU8zcGF1ZWtMb2NLUW1WV1hpeXF2SXB4dFgrNUVIbnl4YkdXMTJPRk9OcXp6N0RGM1Rmak9rcjMrRWJqRStzUWZqM001TzFzQndweVhSWmVLclZ2dVliUVd2S3M4Y1h5S3Z3SVNGeU9SY1M1VWpKcGVMaVZONnFpYSsxcVcyNm9KaXdUdDlndGtXdXFPVnAwK1ZJU2F2VlF0SlgvdkorVy92UnhVUGl0dmVDOHdLZUN2MUNWTWFqSENrWmxWdTRhdkFoeFVsZDEwOUg5OXkyVnRrYjdld3pOeWR0b2h3cGFiVmFWUHBISDNtODJkTFpWTHBJbS96OTNHM1pjOU9pVVk2VXRGb3RNcjNPcHF2eXhhNFgrWHQwYXZsZU9GaU9sRVcyVTVxMjZkQldYS1FCTjI4dDM4UlNPVkxTdEh1UmFYVm9TeGNKUG5sNjRyUytuZU5Gc2NDZ0hDbUxiS2MwYmRPaExWMmtEZkc1Q3p2Zkp4TEtrWkttM1l0TXEwUGJkajhFZGl3OEtQYmQyOHhBbENNbHMzb0xWbEdEdHVJaTFmbW5obUFNenZJR05CZXJjcVM0NHBZOG9VSDduT3NQZ1NrUEhIemcxYUNuZVlBcVIwb2VEUmVwcmdidHc3Rm9JTHd6L2JLVGhzUlFaR2I1TDBkS0ZzMFdzWTRHN2NIUFJFUGhXNHBIVHZxQzhIOUZTY3IvY3FTa1ZHcGh5VFZvU3hlcFJYaVh6ZnVoekhLa0xLeVIzSVpWK3VUcXJXODgvZlN6TjYrNlh4amVKdU5IYmtHT0hFbURhRytSWGNIRC9UVHhJVkUzUG9qaTVQL2xTRW11ejd4U3dwY0ozRU1zYWNNWHZ0amhlckZCdEtXTFpQWEY1MHNhb3NObUJLTWNLUm1WbTZkcVAvcjgyeDBEbmozd3BUZHp2VmNmZFhJbWozZEVRNEpvSDdzdUVyaTk3cUZzWmhGVlUveVhJeVdGUW5OTUNoK0hKMjkwMUFaMEllZGRTazRRYmVraWJia1dKVG5XVDZuMGNxU283VnpjTlBpcnZ1MWhWVUk4cjBJUG9tM2ZGWGhjSXVTbEYrbnhHWkwxMHpTY1ZUbFNoTjZML1EvK3F1ODdJalh5VGsrVEEyZ3JMaExjZlU4Y1l1aXdWenkxMHA2VUl5V3RWdk5KRC82cWR6RjcyeitJQnRCZWx4ZkJqaEtlbnVZQ29Cd3B1VlNjbThvOVFvVEx5M1FlM09sNGxRK2dMVjBrYTBkNHUrZUZjYjExMWJOL2dLdkhkM3hUbHB1U0lqa3ViNnJyMjBLbXJIWnpVQUpvZCtYZTBFTnhRYlJJN0hZazJIWGtQeVNqb0krVVVjcnlXbEsydkU4ODMzRGE3Q3Q5aDFFRmJDcGRKTEFFbnlVYytFZHNLVUdrUG5ZcmNIeFFsR244M294U0pNZWxUZEVBODdiUytsNHd5dlRiZEVYeGt4dGl5cUdmMDBVSzlOTmlwQ2d0WGR3a0RUQVBaUE11S1Z1eFJhN2Zwb3FMWlBWNEJMT1pjMVVtMkUrTGtTTGF0TkQvRzJCVDZiQlcyZzhGVyt1M2FXc2lhUnFFYlhqWUVMNlNMRXFaS2tkS1NxWG1rOXdibmw3eis3eTBVWDYwRmVjRnl0ajB3MDc4N1RRR24zS2t4Q2l4R01XZThIUmI2Ykt5ZVg2MHVSa2Rna04rTXg0cGowVEptbWxTNVVoSm85SGMwamFJRW9UVTM2TnJodzl0MVhtQitOUnhzTURUYXVxcXBzZ3JSMG9LaGVhWGRFQkVOR0paWDVrYzZScmlRL3VpYXI1MTFtazN4T1pCWGYxa2VlVklTYWJMbkZPMVpYaTZwY1FvYXF0OGFLc3VrclhOZktTVzZqdXJkWk9ueTVHU1hKLzVwVlREMDI3SXc0WU5ieWYwa0cweTM2Zy82ZVRGb0J3cGViV2NoL3AwcHdNUFQxOFlOL1VhajRnNkQxRlJYU1RMcXRGbkZwMEh4ZldWRStlV0l5V3hPbk5NQ091ZjNOZGR0ZCtoYVVmbHhiLzZLSkQ4eHUrOTJPR2xLOTZ0MmNkMEYxTFgxMDN2czM5cFg4TXNOQ3VibEZCMlMxNUFkeDh4K0VkODR0WUxTQVBLMlNHbTJ6MHVrZ1UzMUYzckJmS01wOWJ2a0t0SzEzN1RXY2RUcWpscENDSHVLSjlBaW9ZUFpsRUVZUDJUclo0K3A1K3ZiWkNyc0l2d0Z1d3JGRFp0K2RaZnF1UEgzREtHNlNyNWdsVjFlek5NUGw2UHd6cUxsRGlleTFzT1BjU3gwVnJmc3pvVEFVamQ1MGx0Zm5IOHFZNkh2dlZUZXEySVYrM0FTTERuS1U1MEVpOGxFWnVsSkJydzhMVHFYeGtQUTZQaVdjWFJVVlhzeTVaMVVheXJXakJSQmVjcGozZ3BLUmt1RTNtYmhhZDBKcDhjSlduNGR1eEllb0Z1bTNEM1A4REtqVHBIa1VRRTBNUkxTY2hvN3NrKy9VVFk4V1JZMjhDVXR5MXJzOTJHUk94dGp6THhPUzhhdmkyNlVuUHM3c3J2K3JZN2FXb0VzK0tsQk9zc1pFN0ZCc09FSEVOOWkzbDRldTBlN2FoZzNQaWo0WE9SZ2pWcXA1RFhjeTNaVithVGc4UWhPZkZTUWlvdVdyYjZwSVRmdEx2NnhyTHdGQmJDWVUzYjU3M3FLMWgxY0lBaWp6WG5zWm11V0UrRmlTcHRrQlRKSTE1S2RQVUZLbVZQUmZqTlNjOG4rL3BtT3VGcHBRWUw0VFVnMHRONGNpdjZrRWVoMlhCMklkckNSNEpRUnZjR1NxV0NKaGt2UlZNSnN4Z0NUbmo2RkYwSWI0RGxRd3l2Z3FWZllWVXBkbWhIaGlHRDkyY1lDUktONlNvTGNKSG8rSTFISmdUQWttY3JEb0IwdjhOdVBJL3pzZDV4aTVvUUh0amdsb1NSNENDZXJZOGlYb3F2QXA1S0JBYUUzR04zeUJXd0tYVllZNDZHZDMrM2hucHdIVEtoLzlNL2xqcGxxUlMvOFZKU01GczIwalpZa2krRVE0b3VzY1FjdFRnWHlmcklFYkRvdVFONXcwM0ZjRmFMNDZXbzFKajJJQUNHRkROM1hVaDJQSVdhazZUT1MxMjR2ZFlnQVZlL29LUlMvUFh3SEJDZzBZK1ltNGRaQWpLTVE0WGRlK09vTEV2MitYYUc4RFNwbEhnOWxwQkNycDVhMWptdzZaVTRERmJqdXpKbG9RUXdXY0xUaEZMaWxGM09jaWM4NVUybmZUYjJabW05bUFnb3VENzQ1UUZjMDRlbkNhVWtVbVhwaUp6d1ZMUzZuM1JwUmxRSS96OTAzZDVNNFdrNFl5eUpSYUNoYnU2dFFrYzlpcTJTaUFCWU5SbGhwdkEwa1F3azBpTXdVTzkydE5QeW9GSlBuVHkzNXJxOXdEUjllSnBjRUZJR0VHaXJkenU2TkhNM1FKSXBRN3E5alN6aGFTYVpDMXBwTFd6NTlJa245UzBHSzk1MlN4SXZ6Ymcxd2hMd2lsRGhiUTNjTmJjd1lzeVBRaUQxK2lsZ3IwN0cxb2c3WkVhSmlTK0RWNFNLRHA4bFBJMFhzRHdVTkJvSk8zWjFNQUQyNnQydUFhY25PcnEwZVJESzNPQjEyQTE3MjlCOU9xMGlDMENmZHYyVVRqUHN5M2JUcFprRGVabzlCWXoyV0cwZW5oNWV5YzRNYTZaQ2dIcTZTZ1c2TkNOMmNDclo2WlB3WHAxVFZvdVB3cjNkOUV5d1JpWUVXbXA0Q2h6QXBnbVdadUpGd2JWeW1WSHhVYmc3aksrRUZFWVFHS25oS1hEc2dsRTdCamlEVFU4WUcwanRRYXJmWktmNFd6Z0NOVFU4QlduSFlOT2hBYWt3OXU0ek5qMkg0YWI3YWxnRHpKRkZKQUpnUWhGek9IUjBTdjlLWkkxa2hjQ0g5OU8razdxa1B1dVlqQVZTWlVPQXhqNDMxS28wdHZFOURhTVdKMDdEeFAzUUlhYnZrVzFhMXZrTVN6T0poU0doaWtEZ3piMTBPWFhjVVVteXBXRXVZOWVwV2IzcDNLQWJKanAvTmxXV3JGWmw1TytuUGNnZ2dkY05ab0NseHNiMEZmS3lzOVRUSG1iZ2dWWFNJdkR5ZDkvZnBoWWtEM3pvVzd6dS9ZODZHZVNWTDZkbEZxQS9abzhVZHgrQ1hmaVhyZTBrbThFRFBEQWpMUUp0WmovbnQrbFVwak1PL09CT2ExcWVrbjdOaHJldlY3NC9QcklhNUZWclpHUWlRM0xIbEI2QnJ2UDg5OVBQM3JvcTlvQnRrVEg5MXN5dHEvYWtvNitUSXZlUENYbkVjWlJXYmRJWGdVMksra2c2Z3dpOC9BSDczVCtrZXEwOE9IbHBCdlZEbF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NCY2hHby9QWS8vdlBiN2V2bENrVnBoU0xRZFQ3TXRGZW9ER1JlTGdLMlk5UEw1UXBGYVlVaThGdmZvOS9GT3lwVVJoTG1hMWVucjBNU1BlZUV4aVl6OE9IbWh2anU4SnlBTnVOcTJ1eXprMVBWOGsvY2IwbFBWWTFGRVE0ZkVEWHhOZWhjY0h3T2J1c251VGhnWlJXQkxVSmVWOC9MVDIvZVJ4MDF0S2s1NURjSXVXS09XMnBPVzMvK0lMVW8yalExY2hFVkxoS3lGMUZjZEJGY1VtVDh2OXRvVTVOQUg5SVBjay92Mkhqa0cvK3RhYUZOalZxZ053dmhLZHJVcUUyN3N4Q2VvazJOMnJRL0ErRXBqcjFHVFRvTDRhbUZOalZxMCttSHA3UTVPUGFhTk9xVXcxUGVGTFNwU1p0T09UeEZtNW8wSnVjRjRlbXdBTFlwV1dJL1RRbFlKSG1Qa0dZa1FTbUZhRk9UTUhjSk1ja3VJeSswYVViZ3ZOVzJIck0vc1c5WmZYSkh6ZitqOS9YSG4yeXFPYVdrMGFZbVlJWWx5MGZJblE2RXAyOG83RDVHeUtSUEptRHJjZyswcVFHOHR3bjVnclhhZnhYQzA1OUlkcGZJbmIrenJML28vMHhtbFpOQ20rYkh1VklqWHdjdTU4NGdQTDN0c3F1MEowMTZzbDI2SzR3MmRZMlFPWEdObkRsMSsyOGhaTmZsc2s2ZVllbnFYVGV2bkFUYU5EZk9xNFFjT0V3YVJBMVA2K01PWTcydTNtTnpTMHZBQUcyYUFLUm9raGFaZEJ3S21FV1M0ZW1xY0pjdTJSNWZPSnFYa1ZLMGFWNFkxd2o1ZDhZRFhDVVpucTRUUHVUVytNaWNWMDd5K21qVDVGanBLZVVjTDFoWGRza1d1ZUhRdzhqOG1yNWlZYmxvMDd6UXd0YUdEdVBoQ1UrNzNGMjZWUDZPWDdScFRwdENQeFFCS0NSbGVOcm5qaFBFckRkeWlraGJIVzJhRmpFZi9YbTVTeHU2cEF4UDNleHYvM0xIVjZYb1U3UnBUb1JITWlaZGwwbkxJcVc3Um01RDBLWXVGTmtTdHR3Z3ZhT0dwNUQvcTUxc0xQUFdRcHZtUTNDRnlQaWxvWVNuZEZNUU9mdVhmTXd6MWdiUkp4bXJZalZBQUNJWk5qRUk2WUUwcjJYQm1BekgyWGVtZ0ZLN0FKdHVqbzlLYUVrNVV1SWEwbEtXMTlwS2VHbzk3OWlVa0QrSTQyQyt2QWliYnBUUzljdVJFb2M0ZEVmMzRVUVoxVUF0Q0d6WU1ZeGpZYnk4Q0pzZWtvN1VjK3V4eWR2a21jRlVPVkxpRkFiOHJuQWFzQ0tmSkhReXJuR2JpdWcxanBPNThpSnNXbFVtdzFiN2t3Zkpuamw5SmFkeXBFaDUyaFJNSGJtdDg0U25RUDE5YnRSOWJjMENNM1BhOUFYMXloUnE5dVZzaWpVWW4xZ0RPUXNxU05MOW01U2k1WlZPSFlXYWpyQ1grVG1FcHdkS2tXWDlmZCt4NmcxUFpna24rV3k2MnRlc0RhNHBrMkVYeUt1V3RlNDJPMXVEVEVyUjhzcW1GcTFGUTVrbXIzNUl5Q2xQOHIvS1IyMG8xMTMyWGpyRFo3bHN1bFVUaTRTcVZoY1VFOWJwMHVLV2U4dFJ5UktuVFVyUjgwcXNTb0JRWFY1ckVCSVlabGRyaE53TDFDbzRJN3ROSzM5NXY2MDQ4bExQUTdtSWVNR1oxSzdrZUJlSlNTbWh2S1R1YVZPd0Ewa2ZuZ3BHWVBTOGR4N0JLdkYvZHB2V1lhZGpYZGRQUi9MQ3JKSWgxY1IyMjUxWUwwRm9Va29vTHlFcy9mOEZwUnUySGZPdWZwQnlXV3NLWG5WcGRKRlY5SDkybXo3NnlPUE5sczZtMGtYYUpCTkgvN2JzdVduYlkxSktLSyswU2tsNjZLZkNvd0FYbUlZdDY5UkJYQ0hqSmlkcXpWTS9wVHJyYkxvcXZiK0wzRCtvdVg0RWIyaTZQNU5TZEx6U2FlT2hWbGE4WWFHVWVrT0h0K0ZuSkYzZ0hYZDUxVk94eUpQcy9aUnFwVU5JY1pFRzNMeTFmQk5MSnFYb2VPWEFGMjZYd3EzbG0zdDd1NWExU2VSSzZvNUxrRU5NdXFybWJTcGRKQmlOVGh4dDJ1eTJtazR6U2EyelExWXBPbDVTVXVvVWJFRVN3VGdzamg5QS9mcVFSVGczT0svamZFNC81NUxxejd4TnBZdTB3VytubHUwUDNGS3BxQjBOc2tveGJGTlkrdjRwYjB5WGtPdVF0SThzQzdxc2V4WDMzRlM2UnVlZ05tOVQyNTNUUGhiK2c1dy95NlNwemc1WnBlaDRaVktLVjZxTE9JM09QZ3hoNnA2KzZoVzhZZGZUYjQ4N25MUzBQN0RwNWV6Q05BZ3BMbEtkTDFuQUdFeXY0TXlIU1NrYVhwbjFvaFZiWXFkbkQyd0tTRjZndnU4bE1oblNRamkyM0g3TXpzdjQ3Y3RSSW9NNERVTG5YSDhJVEhuZzhJU2J6bWtHNW00VmsxSTB2Rnc1V1JJd3lldFVXeVgzTzk3RElSMmwxc2lSNEhXYzczSVdiRkw5dzlXVm93OXBFRHAwM3pNTlBpRmN1SEJBWXVna012NllsS0xobFZFclZnMWMzQk9hcXI0QlZ5NDBkN0JMejJyUDBGODQxbXc1QWNOeWl2K0Z4MTdKanp1WjVXZ1FHdERCeHpsZ1c4ZVJrNERiaTlOdWxwMysxNlFVRGEvMENxazFldVM5Y0VvRHVCcXN1dkVlK2xuK0lIR2xtMitFVWdVbFNWZSs5K2Z2ZXl1WUZLYjRIdmpRbDFpUFNsSlBwZEVnSkoyWGxuajNIaGgzWDYyVk5tMVNpb1pYV25XODlGdjBRZkMvc2I5bVdaK0ZTUFJ2MmF4U3BYYjJyMEQycDNYeWgxN3Fncy9nZHFjY3U1bWtCUkhhSWk2bnJsaVJPQ1RxeG9mMGdreEtDZkpLcjQrM3hsOFQwbmNjZkhpMCtLcTR5V3kxeWZpV1RjaTd2TFJGbjFYSTFWdFBzK1BabS9hdVQxeWxEOFhmZVBycFoyOWVGYWFCKytMNGtWdVFJeFRYelNOSkZ3bGVXTUZEdDRib3NENFpTVStEZHNndUpjZ3JxUmFoZEwvNzhmSFBkMmpwNnA5TmZsMVFiZjdnSm5uNEYzTGRjZ1FyWS8vdUZpbm95Mkt4Q0h3OGRsd1hZb0lJSGJzdWtqb09LSnRaUk5VVS95YWxCSG1sVUdUZVNYLzArYmM3Qmp4NzRFdHY1bTFaZmRUSm1UemVFWTBMSWlSZEpKalRkbzk4MzNJd0tTWElTN1JsT2Y3UGdVM2VjTzFIMjl5Rm5IY3BPVUdFN0x1VWpoNndaUEhTaS9UNGpKd1RaU1ZwZjAxS0NmSktxODE4MDBNTUF1NjVlbFFKK2JCNkhrQkljWkZncEdhM0UraXdWOVJLcWRNbXBRUjRwZFptdml0QURPSUxRbXJrblo0bUJSQmFseFYybFBEMDFGTXI3WWxKS1FGZWFaV1pjM3FJUWJ3YkZMYkZoTFZvV0FBaDZTSlpPOExiaFVXb0kxRWg1UDhmUUpMditLWWtUU2NsSlM4cFppbFNQZW55c3ZZTzduUzhEUStnM1dVeE42VTZGUDV5U3k1U2VHdkxzN3JQb0hBcUdRWFgyaUtscE9RbGxWaUtWTmVETEpzQTh6WThZRlBwSW9FbCtDemh3Tis3dlR6bzJjZHVCUTVucXhhalRDY2xKYStnTWd1ZDA1Y2JNMmc3Ti92S2VNZ2E3a2Q3UmZHcEdtTEtvWi9UUlFyMDB6eFMvQm92dEFHRGphT1RCcmVWN0Y1dzVzQ1BrT0lpV1QyK3F3TldMb1lLbHd4SmsxTDh2REtvTTg5VjZLVEJnV3pBSmI1eUpuT0NjNE10dHZmVElXbVExNTMvRGVFcnFSVlRwZjEyeUNQRnp5dVZJdk5QVEhmVnlDQ2swbjRvMkNRL1FvcnpBaU1tbTM3WWliK2RCaGw3Y2t4SzhmUHlDRnI4RTI5NGVzM3Y4MUlBL0FoeE16cllIUEtCZTZROEVwVU5OSk5TL0x5eWFUUzN0VHpoNmJiU1pXV0xmQWlwemd2RXA4N05HTzdLVFZraFU4cWtGQit2VFByTWNhV0dzdnZOcXI5SDF4SWZRaGRWOC9HWEtHNm9rYWFPUjN5ZVNTaytYdkhDRjR0aW9MeWY0Q3VUSTEzamZBaXB6Z3VzdGpvK1VrdjFzM1E4NHZOTVN2SHhpaGUrV0JSdEdaNXVLWEduMnNpR3R4TjIxVFcxVGVZYjlTY2R0VWFXdEVrcFBsNVoxSm5qT21wNDZqR1cwcWFSMk4zcTVGVlVGd2syejlFdGM4NkQ0a3FOTEVtVFVyeThzbWd6ejNYb1RnY2VucjR3YmdaYlVubnhyejRLSkwveGV5OTJlT0dLZDF2cE1kMkYxTTNaVFUxS0NmSUt0bXF4YzJCTm0vdTZxL1k3TkUxdFFEazd4SFM3eDBXaTIzcDNyUmZFaS80RmcvdnNYOW9YNlNUL0RTSEVIZVdUU05GekR2TFMweTF1THQxOXhPQWY4Y2w0YjFzYjVDcnNPTHNGZTlDRVRWdnVReUtNc2pwK3pDM2pkWDhIdHRiSktjWTNuWFc4UElObm1hUUUyVGc1UVY0aGhBdWJ2UU0yZFJyM1hOSTUrTHJxSWtIVnpTK09QOVh4NExNSzM5YXB1aU0wVEQ1ZTl4UW5Pb21Ya29qTlVoTEJTT1gwdTdWK3dxZGlLNTRaZnkxbUxkZ2R1dU0rc1FrandaNldMQ296Z1pTbzZzdGROdURoYWRXL01oNEd5M1pzcjZ2WWwrbWJOTVhlVXBpb2d2T1VSN3lVbEF5WGliek53bE02a3grNzk4VEJ4ZWU4YUxDNlFLM3A3bW1CMVRoMTNrbERyOHVLbDZLck5aTjVuMzRpN0hpeUlIM0JsTGZobnRodVF5TFJiYS9oYzVHQ2VyWG96Tkt4KzZSRjE3ZmRLVmhCa3hNdlJWTnBKck1xTmlBYmNnd0wwWmlIcDlmdTBZNEt4bzAvNnZ4UmluREsyaW1VOVZ4TDl1TTNLZ1Y1eFVzSjFwbk5IUFZSQjc5cGR3dFJtWVduc0JBTyt4VDhFWWxXWUNYV1BWNmpreEN3NzVzL2ZnRVRWZG9nU2N0ZFpNWkxFWlN6Lzg4ZWEvQ2JrNTVQOWd2UjNnbFBLelZZQ0srQmpBUWk5S3R4YXNVTnh6bXloWThFb1l4NEQ0MUtGWjJPbHhKZGY2bExuZkQwS2JvUTNvQUxKOEYxY3o3V2s5cWhnek9NT0h5TWhwRWcwWmp1TVVPOEZBODVucWdJZ0NYUFZwekpRYnJmWVZjdDBxY2JJa1RSRjBOdWk1b1FIdGpnbG9TUjRDQ1VOcXdnWGtwWVRjeW5IMkc0eC93UitwWVk2ckRHSExWWUYybHdIVmhBLzZkL0xIWEtVaWwrNDZXa1lMWnNwRzJ3SkY4SWh4UmROb3MrRWpndkh6a0NGajEzSUcrNHFXak9hbWtDS1NwNXNXbkFKZmx4TzZjdW15R3g3SDl4K1dwMWNVdHBnbExzc1p3dUpEc3NHZjdMeHVud2NsRlNGMjR2SFFrNklqZnBmMUlwU2ZubG9nTllraDk1YmRvUEU3VXYycUFsRUlYMG53WlBZcjNsR05KRHRWQ1hYazFvSU5ubjJ4bkMwNlJTZEJvYXo5T0NHSmFaMTZaaGZLVmx0QlJxbytYcUtYelFIcWl2cUlYYTlJdmFYSCttRXNCa0NVK3RaRkw4VW9zNTE0SVlscG5YcHY4bmhQSERSNkp4V2dKUlNQK2Q4SlJuMEQ0YjZ3Q3BsU1BTY0gzd3l3TzRwZzlQWkl0VFBnQUFIZ2RKUkVGVUl6aGpVUndDVG5ncWlHQXNqdzFVQkczTS82SHI5bVlLVDJPNFkzRVVBZzExYzI4Vk91cFJGSFh5TW1EVlpOU1p3dFBrZ3BBeWdNQkF2ZHZSVG5zOVFKSXBvK2E2dmNEME5CTUxySlFSZ2JaNnQ2TkxNM2N6TXZKVmsyNXZJME40Nm1NMjU2ZHJJU0huRTA4OFdVakx3SXJTVTB1Nk5CT3ZDYnc4VTNoYkEzZk5MYjdhUWxLVXZYNEsyS3VUc1RYaURwbjU0SVhYdm9vT255VTh6U2Q4eG1yVGNDTHMyQzFBVjhCZXZkczE0UFRFaEJnSVpXNXdQdXlHdlczb1BtMUN1Yko1bEx4K1NxY1o5bVViNmRMTWdUek5uZ0pHZTZ3MkQwOFByMlJuaGpWVElVQTlYYVVDWFpyNWlYS2VPUW52U2pwbGxma28zTnZOekFzcnBrT2dwWWFuVUJWc0dyODBrMEFFWEN1WEdSa2ZoYnZEQkxXUXhBUUNJelU4QllaZE1HckhBR093NlFsakE2azlTUFdiN0JSL0MwZWdwb2FuSU8wWWJEbzBJQlhHM24zR3B1Y3czSFJmOTJ1QU9iS0lSQUJNS0dJT2g0NU82VitKckpHc0VQandmdHAzVXBma0ExSEpHQ0JWVmdSbzZIUkRyVXhqRzk4VFRtcHg0alJNM0E4ZFl2b2UyYVpsbmNlbG1jVFk1U1FNdkxtWExxZU9Pem01UW5XWXk5aDF1RlJ2T2pmb2hvbk9uMSt0SmVCUUdmbjdhUTh5U09CMWd4bWdxTEV4ZllXODdDejF0SWNaZUdDVnRBaTgvTjMzdDZrRnlRTWYraGF2ZS8ralRnWjU1Y3RwbVFYb2o5a2p4ZDJIWUJmK1pXczd5V2J3QUEvTVNJdEFtOW5QK1cwNmxlbU1Beis0MDVxV3A2UmZzK0h0NjVYdmo0K3NCbm5WR2htWnlKRGNwNXFxL1BZLy92UGI3ZXRUMVVFSS8yci80Vk9SaHYrdTgwei8wOC9ldWlyMmdHMlJNZjNXeksycjlxU2pFR1pML2pFaGp6aU8wcW9OMzlySmZZMWtVNktRV2wzbnV0OHJoSGRLcG04aUV6SStTVmtwQi9uTEg3RGYvVU5hZitYQnlVczUrTXhjVmR1eDZlVVowT3NyNUQvQ1J6cE54Q2t6MEppcHF2QmIzNk51eDlGVWRYQ0VieEgybU5NaURZTFRROVUydE15Y3J3VWpKMTVjTnpKSmxFK1RSYWh0S3k4S21scDc0TE42SFJDK2dvT3ZDUk5BZkRZRE43RXFXeFpkbTRreHd3U3NVK1VCRHhra2VBQ3dZQlZoWG5mb2lIQjMzUllzY0xIWncvN0tLMU52NGZQaXFYN2IxUDdkcVRkcG1nckluVGxUMUtJbUhsbnBlNWRocHFqU1BJcytkSGR4VEs4Vk1QN3ZNZWx0WlRmdjlQU1pkOG05R1FoUG4zZDFhSnZaUWpidlJzbXB2L3Vhb0p4ODhsU3Z1NCtydFdmQkNjL1RsSm1vMjU5K2VBcERyMWdYNmJzUGhjOEVPUE9weEN5RXArZkZwZ1BZdmtkK05wODR6cExXc3hDZVZ0MU5mTEIvMThqMjNWbEN1SHhkWmlFOGxUUE9NR3JnQnI3Y0Y4RU1oS2V3ZlVFTXVMRDF5OVREL2JtUm1WOEdFSjRPcDZ3OVhGWmlkaEx1Qk5oUGM1c0R3dE5tYmliNUdJQUtCNXdEYlBYRSsyaytOS0YyMS9QY1dHNTJXUmpBVHZnaHJ3Y1BKSWxoT0F1blphK3o5Wmo5Q2RoVTBIZHZZQ3R2SGYvYU5FQ2hqNEkzdWVBZCtkS3lhYWd5NXpJL1o4TzJ1VHNkY0RUZllDMVphNDl0TWVzS2k5UDJNMlUxRU1aYjl3R2tZL21haGJMRUw0NGNlTzdrQzlacS8xVTVoZE80ZDdRaWIyWTltU3k2MFREajRQcEZWVG1qVkxUWWhlTmZxWkd2UTZQT25VRjRldHRwM1JwOXprc09nbTJKYzlHTmJ5bDlFKzd1ZDR1V3Q2ajhyL0Z0MFAyM2lHbTU1K2tHbGo1L01NZ3FjOFpRdFdPYjRQcHB4bXNPdG9xdzZLRkJoTTlaM3dWZTdwWUhPU1JubEpDaW1pMlVjUlNRdC9RVUxKQVVYZ2hQSmgwSEJ3ajNtYys1UnZmNHdpdWwrTWpuRHNuRm8wVWZNVDNsWXFnTGZMbDRrWXNvQWFEamo5RFNSM1NkRnA2allTSDB6dHVzdldCcjFwR0xiejU5b3ZRVDcyZkhCeURkTEY3a0lrcVFjN3p1L0dxTGRsQTVuMzhvKzA3UkFOQ24rZFdqYUhrTHloKzJOblJZMDl6d3RMc0xHWElkc3lkWHZ4aGhjYjh3emFBZVo4VkpXbVRPY0FjVEUzQ1FaRHNNbkRkV05Od1hWd3pLbXpHRVVJYlBlamhmQlJLYUxiSUJDbWdiZEVleERnSTNNK2NPdXViY1ZldXVKVXQ4cjJKVlhGYlFVcmlVaEdZRnRIdVJXWTVFVE9xOGJYNlhOdldTc3hvaUYwVmtUeTRjQ0xpUXVHTkc0Mk1NVDdNQmJydERMUDBZMHBBeVdYMG4vSURieTkxaEdKSkxlN2NNMkZHNDJIQjNaK3BRbGZCSWdRQjlLNElnYjZpeEE3eTQ1Z29yZ0NHWkI2cUNzTGgvME9hVWM2ZWFIUlVuYVlFNVF5VGpPcGNEYVY3MUMyWVFYNGkrVXpRUTlOWForMXdJWEZTdVprWExYU3orTGNYUmJMdXJwOURHbm9zdURNbWk3eFRkZGpxTjFPRkN3SG1iZ2NjbWkyNXhFZnhIaW5QcDhZWGtweHdhcm5XTFVNRERFMjdpN3VvcFhHMmxEZmtlSmViK3BPM2VOdW5IMEtRdkJCNksyQXMwVUlma1loc005MUIzcDJEWDJKZEdpdFY1NXJoVDUzS1BheVhDVStjVTBCVlBPSlFZbnNLTXN6dk5ZTXRoZU9aZ20ybUY2QTNzTXRmUTR3dkIvcTRyUEYvQnVlaTJ3R1VsN3FHZ21SZ29pcGE2WVB4cHdORGtiVHBVZlNGd2pLNnpmTStRWEhEendhWmkrQWUzRjJlUk1zSHRMcTlCN1licUM0R0hjc0k0ZW9ia1RFS1NWd0oxaENIaEN0dExYaEVwSlFLd29PWUdnUVBWRnhxNWR6UFBrQ3hyRnBJQ205N21qRUdibzBKa0xEeFRHT0hjdXhiemhWWS82RFM2UmlhODhUQUtuMEx5MzhyQVFxN0RXN1pVckF6SkN5UUQrcWxZMndJWG1QcWM2OHpkbFE4WHN5RzU0c2FOUmJZZVZ1VjVQNFVlZTZWSVNRdk1XM0UwK2FUOUlRUFZkb01LTmdwdnVYRmprV2pBZGNWdENyTkkrMFZLV21EZTBCMkVvOGwza3ZWMm5lYktvSUtOd2h1aU94Y0xoaTFzT3NLaE55dlNNTmlKcVFYb0dRZkFwajUwZU1tdDAyeGovRVZCbGxWU3Nucjh4ZlIwUy9GN2s5VkFxZ0FDMG5aZEZwSGFSdzZOTGZvdkRNbTBpeDVmQ1ZRdEltUEVZeG53M1hEb3pRcHdYVXpjME5tSElheUhjMStvVGZoWFhtRXhqcVlHZTFrbHBLcDN6SWVObHV1NnBhcU94QlNCbG5nVXBnYzJ2V3haRi9oODYwQ0FXbWVqczExT3QxbG5sMWpGeGdtSDdOY256Q2c0bFZmSi9jN00wU0dmeDJueEJaS1ZpVTJYdkVUM3pTNG9XVTE0d1RZbFBDZVhaNUxWUXlvRkFkaFpjRUpQcTIrQXV3VDlkTERMQ21FT3YwTlQxZGVkVzl4Nk9XNnZaYldkUzZ5TDNaU1pJZHR2ejNFd0w0QTlhd0NrODZRTVpRUzIzb08valhIemtBNkhveHR3VXNiUm9qZjFEVGM0TGtQazRzbllJcE45NjIvc3IxbldaOEhWL1Z1M1B6NUZYanV5UG1mL0NpeVZUenJiN3VKTjBRQ3N3aFcwMmkvekt5UkZ0MmdhL1ArYXdGZHlxQ25oMGVLcnRKZXdvMUluWTVaL0RUNzFJaVltUkdseC83OUpQOTd6VW5IOGw0UHo3MzU4L1BNZDJ0VFZQNXY4dW16eTVnOCtQdjVGSi8rKy9qODUvN0tzeU5SOS9mLzVjMFh5Ujk2SUFDS0FDQ0FDaUFBaWdBZ2dBb2dBSW9BSUlBS0lBQ0tBQ0NBQ2lBQWlnQWdnQW9nQUlvQUlJQUtJQUNLQUNDQUNpQUFpZ0FnZ0FvZ0FJb0FJSUFLSUFDS0FDQ0FDQlNPd2R2V29ZQW5Jdm13RUd1Sk5QbVVMUm5sRklmQW43dHVaaXBLQWZFdEc0SE0yMnJSa3lBc1d0M2tmUE42TVkyL0JLSmZJZnV2UEg2UVdSWnVXaUhuUm91Q05QbVQ4djl0bzA2S0JMcEgveGlQZitHOU5lRm9jeDk0U1FTOUZGTnEwRkpoTEZZSTJMUlh1VW9TaFRVdUJ1VlFoYU5OUzRTNUZHTnEwRkpoTEZZSTJMUlh1VW9TaFRVdUJ1VlFoYU5OUzRTNUZHTnEwRkpoTEZZSTJMUlh1VW9TaFRVdUJ1VlFoYU5OUzRTNUZHTnEwRkpoTEZZSTJMUlh1VW9TaFRVdUJ1VlFoYU5OUzRTNUZHTnEwRkpoTEZZSTJMUlh1VW9TaFRVdUJ1VlFoYU5OUzRTNUZHTnEwRkpoTEZZSTJMUlh1VW9TaFRVdUJ1VlFoYU5OUzRTNUZHTnEwRkpoTEZZSTJMUlh1VW9RVllkUE44VkVKdXBjanBZU0dHQmRSaEUwM1Nua0VweHdweGdFdmdXRVJOajFrSC85azJtODlObmxiSWUwb1Iwb2hxaGZNdEFpYlZsK1RTcS8ySnc4Vzg0blZjcVRJbHN4UEtxZE5YOUI5QnJML0U5bitBWHlNYytCOEVWbm1wVTZabEtMbGxWcWptYTZRejZhcmZmY3JycktWYStTR2UzS0J2R3BaNi9TenpEa09rMUswdkhMb05vdFZjOWwwcXlhK2I2ODJqWDZKV1J6MVNjZXl0c2dWY1o3bDM2UVVQYThzV3Mxd25ldzJyZnpsL1RiUjJmVFErVkM1MCtZTGhBN0RGZnBON1l5SFNTbWh2RExxTnF2VnN0dTBUc2lrcnJQcDZKN2IyQ3I3R3JOOTV1YWtUWmlVRXNvcnJWSXpUcC9kcG84KzhuaXpwYk9wZEpFMnljUnBmbHYyM0xSd21KUVN5aXV0VWpOT245Mm10R0U2bTY2U0E5SG1pL3pyNkxWOEg3NDNLVVhIUzZpN0tQL21iYXE0U0FOdTNscStpU1dkSGJKSzBmRmFGRnVLZHBpM3FYU1JLdUk5UFcxMld4VXkwLzdyN0pCVmlvNVhXbjFtbmQ2OFRhV0x0TUZ2cDVaTlR2UGdvTE5EVmlrNlhubDBtOFc2WUZNWlRhWldVSWVRL2JwZ2N5dzhLSkp2ZHRDa0ZCMHZvZStpL1BkSm5uRlJnNURpSXRVSk15K013ZGZ6NEdWU2lvWlhIdFZtc2k3SmhiY0dvWE91UHdTbVpCN3dHakUrOW1hV290RjRKdTJTUTZtUGdVMS8zTW5NUUlQUTRWaHcyeGJET2lTR0lqUEx2MGtwR2w1WlZKclJPcFh2L2ZuNzNnb21oZW1nQno3MHBXdzNWUTFDZzUrSjlsNGs1TWhKWHhEK3J5aEorVzlTaW9aWFNtM2l5U3UvL1kvLy9IWTcxKzBtWG9pV0FvWkc1ZGpWMHNSbGFoQ1NMbEtMOEM0THh0MlA0eFJWYmxLS2hwZFA5S2YvbngrOTcrTnlldE5YbXVTMDYrQzZsNFRVTUUyRlhMMzFORHVldldudityaFgrbEQ4amFlZmZ2Ym1WU0lhdUUzR2o5eUNIRG1TQmhIYUlpNm5ycWg0U05TTkR6NUJDVTVOU2dueThpbEFYMnRNaUxLcTd5dFBjR283TExLTmZBbllaeVpaZGZSaVAySkplMTNrdWNOS0VDSHB2Rmg5OGxNbXZpRTZiRVp0VEVvSjh2SXBkZDVwWlBhRkpHRDNXOTk3RkpnYytSalB3T21QUHY5MnAzVm5EM3pwelZ5ZFZhb3EzSDRmN3dqOWdnZ2R1eTZTT3JibnV1dzFzOHJacFFRMUZtMFJqZnpSUDl1RUIyRytvaFNuZHM3TE9JV29kS1Rud0lCdmROUTZYY2g1bDVJVFJFaTZTRnRBSzQ1Y2w3M0dwdG1sQkRWVzI4ZlMwRld2QkhOVDVkajVSdTlVc2xJUmc3L3Ftd0NxRXZKaGxVVVFJZnV1S0w5RXlFc3YwdU16eEZrWkYvbnAvMDFLQ2ZJSzZnTTIzUXZtcHNtQk1TcmZaWnhHV0NwYThGZDlEbXVOdk5QRElZQ1E0aUxCM2ZmRUlZWU9tKyt5TnlrbHdNdlRIbllDUHQxbFRYYUtMR2p5NnluSVN5U0Z0bmtYczdmOVYxOEFvWFY1RWV3SU53RzYrMmt1clUxS0NmRFNhTllUbW12S2ttV0I4NXp2TWs0bUpnTVZ0RTI0dkt6MjRFN0h5eWFBa0hSZXJCM2hKc0JRZHVTdEZqajdCN2g2Zk1jM0pWRTZLU2w1U1RGdXFpczBkM1BTSm1DRTIwdGJweHo2cm04TG1iSU96UlVJb04yVmUwTVB4UVhSSXJIYmtlbytnOEtwWkJUMGtTS2xwT1NsZ2JLZjI4R0JFUzduNksxUnkwaFduL0M5SjR6YlpsL3BPeXdyWUZQcElvRWwrQ3pod0Q5aUI1WDcySzNBOFVGSmxVNUtTbDVTakVnWmNIQjY4VU9Ua0ZidVB3MHdieXNpZThFbzA0LzJpakxrTk1TVVF6L3Z2Y1drRkQ4dnBYMGlhY0RCeVQ5NkMyVU0vOU1BODBEeXZLUVpUdndJS1M2UzFlTVJ6R2JPVlpuZ1RyWThVdndheS9hNUtRTU9UdjdSMjlYR2JJTE9mSjY2TEN2dGg5eTBtL0FqMUdKN1A1M3lCbUh1L0VadWo4T2tGRDh2dHlreWtkL0JNVEI2UzNXTXByemg2VFcvejB0bCtSRlNuQmNvWTlNUE8vRzMweGkxVFVyeDg5S0l6dS9nR0JpOU5YcVp5SUsyeWZCMFcrbXlrcmtmSVc1R2grQ1EzNHhIeWlOUnNtYWFsRWtwZmw0YVBYcTVIUndEbzdkR0x4TlpEYUlFSWZYMzZGajZFRkpkSkloUEhRY0x4cUdtcm1xS1BKTlNmTHgwV3VSM2NQS1AzanE5VE9RTmlJaEdMT3Nya3lNZFN4OUNGMVh6cmJOT3U2Rkdtam9lOFhrbXBmaDQ2WVRuZDNCZ2hCdnFPRTgvcnkzRDB5MGxSbEVWOHlHa3VraldOdk9SV3FydnJOWk5uallweGNkTG93UU1MTXA4aDRZZ1BndEc3Mlk4MVJRbzFQQzBHN0xLMFBBMjMwTzJ5WHlqL3FTVFYzbVRVbnk4TktxQmcwTWZzTXh6ZEJWSEpBOGY0M1hwVGdjZW5yNHdidXJaanp5emFCWFZSYktzR3QzejRqd29ycStjT05la0ZDOHZuUXJnNERpT2dLNHNMbS9yTWZzVCt4YnM4UERNay8vUisvcmpUemJqNnBaUkR1dWYzTmRkdGQraEVWaDU4YTgrQ2lTLzhYc3ZkbmpwaW5kcjlqSGRoZFQxZGRQNzdGK0NSaWMvc2tuUjh3L3k4dEo5OWViWnIxa1dPRGk3UEQrdHNwK3p5U1BrVHNjM2VzTisyMG1mVEZJMTI2dVlzVE82KzRqcE1lSVR0MTdXRFNobmg3ajllRndrQzI2b3U5WUw1QmxQcmQ4aFY1V3UvYWF6anFkVWM5SVFRdHhSUG9FVURSK2FGZVNsRWxhK1Q4Wjk4ZzVMT2pocGxZVjl6Rit3VnZ1dmVrZnZTK1RPMzFuV1gvUzFJS29LbEpEZUFUUWRNYy9wNTJzYjVDcnNJcndGK3dxRlRWdSs5WmZxK0RHM2pDbThDbzJ1dXIwWjJuNDlyaUZacElUeERQSlNLVWZrM3BIMW01Tk9Uemc0YVpXdDFNalhnZUc1TTgvb1hXbFBtbFRNTmhuU3Yra2VjRlU3TmxycmUxWm5JcFNxK3p5cHpTK09QOVh4MExkZ0orR082NExBU0xEbktVNTBFaThsRVJzLzBYUEV3YjUyMEJVT1RscGxyL0Z3dnY4V09YclRsODd3a2FwNjF5K3kvUE1CRDArci9wWHhNRlVxc2I1RnhiNU03MWZDZ1lCUkRzNVRIdkZTVWpKazVLczJjd2d2L2xnNE9HbVZCWi95d09FRm5VSHBrL1Z4aDBsWUY4TVpPNTNLYjV1RnAzUW1QM2FmZ3FQZ2R1eEllb0ZhMDkzL0FDczNHY0s0ZUNtWjBHcndUa2E5ZlFaK1dtVmJaTkp4Uk5ONThxWlFZbFhjZlM3WjRsSVdSZGFubndnN25uUnB6Q1pBczl1V3RkbHVRK0o2RXRZKzUwVlRwVVZYYW83ZFhmbGRNY3BwU0VPejRxV0VWbzBvZ0VmdjRPVmM5T2lMOERTbHNzQ0J2OU1OWENVNVQ4NW4weUN5VXlaYW1hU0tEWVFoeDVDUkdQN2w0ZW0xZTdTamduSGpqNGJQUlFyV3FKMUNYczl0Y1QvUXpHQ1ZRRTY4bEVDVkJCa3Q0ZU5iSTlIYWxNcktPVjZ3cnV5U0xiNkNBWEQ2dHhSUWhNT08zUVE2cHlkaDRTa3NoTU9hdGhnL29yblUrYU1Vb1ZSck5HQzEzQ2x5Q09NeStQZXhVa0xGUnhYSU9WNnc3aTZsVEtzc05LdEQ2OUZYZkNsNGRSazNDK0QwZVpDVzlXaVlSWXNLWnAzd3RGS0RoZkFheE14TTI4amZpajdrVWVwc09KZXZMYTVpQ0dWMGI2QlVLbWlTOFZJMGxXS3pZQ3g2THljNjVBNU9TbVdoMDRrTEZKSnljckhQSFNkbzdJMVlOWW9tMklHTHlIcUtMb1EzSUxVZkwwNi93cXJXMjZFZEdWck0rek5jdW9uR2RKVUZoSGwwL0RaOVFCTUZXMGcyS2Z1VXlzS0dWK29zME1QVExqZjcyNy9jY1VxbitRTnRPMXR4V2tyOXVOMTRWYzdIZXNjdGFrTFl3YzB0Q1NQQlFUeGJIMFc4RkYrRlJLZTJkTzBIL0hhZlV0bVJ4QWphdGV0S1ZkZWczY3hwSmFCdDk5aTlhd1ZzS3E3QkNHMGEwakVJb1JwY2h3TG8vL1NQcFU1WktzVnZ2SlFVekFRcGVLcXU4bTJlVEtrc1hCVW5uQjIwY0NnNFc1RC9xeDMzYk1xSk5saVNMNFJEaWk2eHhCeTFPQmZKK3NnUnNPaTVBM25EVGNWd1ZvdmpwYWpVQ2RNd2NMcktDd2NubmJMMHVoZkNvRjFOa2JiYVVIRDJMKzVwOXNSbVNDejdYMXlXSUNsNHVLVTBRWXYzV0U0WGtoMldEUDlONnJ6VTNXMkVnd1JjL2ZLU1N2SFhpejZ2dXZjRGVydVhEbzZWV0ZtNFA3bVJITFJMaW9NeEdZNno3OGljakttK3cwanpzeThZYXNwVVRSeFhocnpCcVkrQmVpaHFodjJ6ZTI5WXFjeVhmYjR0WVpERk1hbWtVbUxZK0lvQnJ3T2U1WEZ3NE1JV0ExU01zaTNSdllHTkdMMGRqczl6cFAvQUp6TDFxZFppTkhNb1dHa3BSQ0g5aDdhNXJ1QTVTRjlSQzNYcDFmaXVUS3NwQVl6MC9uWDg5SGtKcGVncmgrWENKSUdMak1mQlNhN3NTSEU1UE8yQ2ZzK09ZWmowaFBuL1J6RHkvVDk4SkJqNEN0aXBLS1QvVG5qS002aGU3djFHSmZLa1gvU2NoWjNBOWNFdkQrQ2FQankxa2trSms2N1BwNU41Ujd4b1IxN0tzR3lXV05tMlMwbEhiN1ZkMXhpMmJ2U3FWNkdVWEdpYnZDdjBGYjh3cC9SRDErMzFqbkk1MmVhcUR0ZXYreGFLaHVxNEpWWVdwbzZFOCtFTlQwR3Y3M09qdXZlOVhMcm1xUXh0YzIvNlZoWFVPc3JEVGRZRlZrMTJCa2lLbTVnc25rb0tUT2ZPeFE2VVM1bTJPNW15ZENTN3pIVVB0T3Z2b1V2QWNXTXFiVk9GRHRTN3dnNm9kRjB0elo2dXVWMENtSjVtNTJPeVprT1ppL1g0UW9tVnBhRk1rNnNFVjRpdlhaV1AybEN1RHNnbXRVL09xNjBxUVpkbTdpYXZHMFVwUGNtR09zcEZWU204ckNyakYrKzZRbUpsMWVVMVhidFdhNUtWYk01YVNNajV4Qk5QU2lLREtiRGliWmRkNHFVWnQwWllBbHhNNFcwTjFGRXVqTDZVL0pGc3E4ZkJTYTRzWFBUdW5VcmJMbldtU3JTcFlnUElJY2RRRUJuOHArNzlnZVFIbDVuclJjamNEQ2xvbStqd25sRXVBeXR6VmJxeXJSN0hMYm15TUlrdEFsa0lUNmw1Vno5STlWdHIwbDk2MUtYUldRYWJBZ2d4cVRKaExLanovME56MUx0Q0EwNVA4bk4xb29NYm5BKzdZVzlmTjhFMkg0KzY5QmE0Zy9PZk9wUWpoREkzNkQ4Y01jcENQeFVUTkh6MFhxZXpVU3RrM0tTMTRXakpHV1dXQWIrUGhsbVVUUFpkSW5NSk9zMmc4S1ZMTXdjbXVNdmRBSHlVTzd4aWdtMCtIbDA1NVhESUx1VjJrM0pNcml4MGI3SGl6ZWNwRG04REF4alVCV283MHc5UWQ4Q0l0Rm44b0g2ZE1nMHFzdFAvdzJ6NUthdkZCN2JlYm5vbXBtc01aQ0RTY3k3bENtdDdjbVdoTWNLdGhTNUx6VW5iUmQwUW1xYkhqa3ZBenFmdzIxSnUrbFE4YU9mZU1QS29BOWZLWlZhZkQyemRZUjUyWnVwQ2Q5cm5uTHJPcGJ6RlZ0NlNLd3Z1aDdqazRVSTRBR2IxSVIxNjVlQjlMS2JQektpY2hRczBVMnpGY0twRFc1UE41OFlJQTVoT0dBbWs5aURWYjdMVGFmNjJaSEJwTzY3TUJYWnpUS0dzZE9jQnFldlFHUHZJc21nSU9PUU42N2twbmxIK1gwME9Kbzd3WTBXOVBOckFWY3k3Uk05cDc2WVpkenFQU3M0eVBiL1F3QXAwT0RyL3VzTXdoYkoxY1QrbGZYTUlQaTF0RjNqRGJvVFRIbmNjbmxQOEFjM3VxdUxCSHpReWVBQWZEbC9mU1YxeUorVlVhU1duQWZ2TFRHU1YrYStOSzg1cENtVmJZbmF4QjBBQnN3dDBsTHRFSmtQR0Y1YWpSRmpPTThyL28vT1hOMVN4TkxZUm5wMmFuellORHVMUXFRTTQwdG0wODhLMVNNdklKRDNjRGZjY2Z1Q3pPcTJzbnpxbktaUUY4enRWVnNuOXpyVjZTSHY2R2pseU11SG4yTlRjcW1DWS9wOGl2cWRXZytZUkU2TUh3TGZyOEszZWRHN1F2RWVvb3FhUWJuUDN0UEhqTHUxUEZXNkxGTXFDaTN0Q0ZhKytBWldnbnc1MjZWbnRHZm9MeDVwdHhNTmt6TEw5VmtaZ3dodHEzUjVra01EckJsV0toT2thRzlOWHlNdk9Vazk3bUxCZW9XVEhiR1JjSWNNVzdhZVh4SWF6Rk1yMm5BM0M5QzJiTmVnTnZJZCtkckx2NkYzcGlnaXUwR2FFTTMvNXUrOXZVd3VTQno3MExVNTEvNk5PQm5ubHkrSFZFcFljc3h0UDl5R1liN2xzYlU4U1ZpdVdiSXVOUWZBVTVEbXFudk9rREpXWVF0a3RPdmZ6Ti9iWExPdXpFSW4rTFhPY0s3V3pmd1UyZjFvbmYxaHNBK0s0dDVuOW5OK21RMHg5T1g2dzZ5Nk9SVVQ1bWcxdlg2OThmM3hrTmVDcG81R0k2aUpxbEZIVUkxK3pOcjhOVm9GUHNPeHYyVU11TTQyeWYwMUkzNWtnaEVlTHIzS253ZHBxay9FdEc3NGhVRVlqVkJsZjdUOThxcHgzbmVlL24zNzIxbFhoaWNObFRMODFjK3VxUGVrb2hObVNmMHpnblFlMHphczJnSkQ3R3NtbWhML1dacHRNbVBmMkhCbmJySk5SbWpUSy91N0h4ei9mb1pWVy8yenk2L1NmSHBzL3VFa2Uvb1VUZGxMZTc1dWdPZU1TcGI3OEFmdmRQNlROVzNsdzhsSjV6WXlXdFBabjlydC96aUg1djl1dk5DWHRUQ29yMVF0SmZZWDhSNGllVE1RcElRSXd1MndFdHNpZGpnWDN0aGtaQk10dS9rTEtHNUZkYU5jNnViS1FyVnZLUnNGbjlUclE4QlVjZkJmSC9GVzJSclJtYUd2SzRnQXp2eTJCZWQyaG83MWNiWnJmeHFEbURnTFBFejZSWTA5L2pobE5ZZ2FCbXRoUjBmZE83NXJoamx5bWdBQ3NMZTB4c1dKbFlncEtvRWlqQ0R6dlBnYlRkdmZUR0JXQXpFcEhvTzV1T20xak1GTTYrb1VJaEtGWHJJdXdKWVZDcENEVE1oRTRMellkMExmcy9heE15U2lyS0FTcTdpWSsyTDg3OWMwVlJiVnl1ZmphN3V3UmJEcVloUTE4eXdWL0VhMkY3UXRpd0lXTlVXSVBUaEdTa0dkWkNNQWpQbXh2c3ZNMkZPeW5aZUZlcEp5ZWZPb0t0bnJpL2JSSXJNdmlEVHZoaDF3V1BKQWtodUd5cEtPY0FoQ0FleWpkQ2U4Y08vS1pXSjZEZi9PSUFJeTM3Z05JeC9LNXJIbHNDdXJNRVlBWkI5Y3Zna2hWekNnaFBuT01RRXZwbTEzZlkyeHozS3lsVmwyMVk5djNlTXhTQXpQSGpiZGxLQU5UZzJJaGRZNGJoS3JUUjB4UE9RelVCYjZNa013OUF2U0oways4bngwZmdIUno3bHVFRFlBbm16MEhJakwvQ01BMGczcTRMNU9ZLzVZdGJ3c2dsSEdmeVd2ZzFPQkNYQWhWWlpwaElGZG9GcUp0eTlxSXVueHZHdjArNUkxbHhXR1IyZzEyUE9EdGdWME83Z3JOSWpWeDZkb0NkaFRoS1gxZnc5SFNBYkI0RGFidnJOem56WUszSWFIYnV3QW1wdE5JSGQ0T1dLSEJaLzhYd0thd1g5dGRQWVd3NXU0Q05HbnBtd0QzVUhlbllGZStPM3pwY1psbkFPQ2xrTzRPSkZzT3cvUGNwS1hYSGFid3hUMFVicTI0YVhBUkxnaXdxWGpOS3JpOVlwL3ZJclJzZWRzQVk2OHc1Q0V1aUMvR2RRQTJ2YzFiTXNBWmg4V3dLY1F5d3FZMjNrNFh3NmF3WFlYYkZIcnNsY1ZvMDdLM0F1YnR1VTFoRm1sLzJkRllrUGJid3FZakhIb1h4S1R3Mm5ZMkh3Z2Q5cjJMMHFabGI4ZUl4eklRbmVMUXV5QVh3ekYvUXFZbHR5VXRTTXVXdHhucmJHNndZdU1PL0lXNUNPQUYyN1F0NStUeXpNSTBiWGtiMG5hK1J0WEZicnBBbDBDTDdpdmJrQ3R1QzlTMHBXM0tLdHhRVi90bGZvVmthYUV1citHL1NUL2U4MUo1OGxCU0NRamMxLytmUDFlQ21FVVM4ZjhEYjNobjlaRDdiYzBBQUFBQVNVVk9SSzVDWUlJPSIKfQo="/>
    </extobj>
    <extobj name="334E55B0-647D-440b-865C-3EC943EB4CBC-35">
      <extobjdata type="334E55B0-647D-440b-865C-3EC943EB4CBC" data="ewoJIkltZ1NldHRpbmdKc29uIiA6ICJ7XCJkcGlcIjpcIjYwMFwiLFwiZm9ybWF0XCI6XCJQTkdcIixcInRyYW5zcGFyZW50XCI6dHJ1ZSxcImF1dG9cIjpmYWxzZX0iLAoJIkxhdGV4IiA6ICJYRnNnWEdKbFoybHVlMkZzYVdkdVpXUjlDa2tLSmoxY2FXNTBYekJlWEdsdVpuUjVDbHgwYUdWMFlTQnpYbnN0WEhSb1pYUmhmV1ZlZXkxTGMxNTdMVngwYUdWMFlYMTlYQ3hrYzF4Y0NpWTlYR2x1ZEY5Y2FXNW1kSGxlTUFwY2RHaGxkR0ZjWm5KaFkzdDFmWHRMZldWZWV5MTFmUXBjYkdWbWRDZ3RYR1p5WVdON01YMTdYSFJvWlhSaGZVdGVlekV2WEhSb1pYUmhmUXAxWG5zdE1TOWNkR2hsZEdFdE1YMWNjbWxuYUhRcFpIVmNYQW9tUFMxTFhuc3hMMXgwYUdWMFlTMHhmUXBjYVc1MFgxeHBibVowZVY0d2RWNTdMVEV2WEhSb1pYUmhmV1ZlZXkxMWZWd3NaSFZjWEFvbVBVdGVlekV2WEhSb1pYUmhMVEY5Q2x4cGJuUmZNRjVjYVc1bWRIa2dkVjU3TFRFdlhIUm9aWFJoZldWZWV5MTFmVndzWkhVS1hHVnVaSHRoYkdsbmJtVmtmU0JjWFE9PSIsCgkiTGF0ZXhJbWdCYXNlNjQiIDogImlWQk9SdzBLR2dvQUFBQU5TVWhFVWdBQUJYRUFBQU50QkFNQUFBQWsreVhjQUFBQU1GQk1WRVgvLy84QUFBQUFBQUFBQUFBQUFBQUFBQUFBQUFBQUFBQUFBQUFBQUFBQUFBQUFBQUFBQUFBQUFBQUFBQUFBQUFBdjNhQjdBQUFBRDNSU1RsTUFSTy9kelJDWk1vbXJ1M1pVSW1iM3hXbXlBQUFBQ1hCSVdYTUFBQTdFQUFBT3hBR1ZLdzRiQUFBZ0FFbEVRVlI0QWV5OUM1QXN5VmtlV25QTzZaa3o1OHpMdXpkc2pHMTZkRlpZRnBhb3d4NEp2R3ZyMWxpN3VrWUlvdWV1ZHNGSXNlN2hJUUtNNVI0SnJoOFlSNDlCbDJ0dWhPbURGdUhReXoydzZHSVpVRS9JSVVzaVRQUUV1amFXQ0dJR3JiQ0pxMnRtREVZM3JBaGlEak9Idys1WjdlYjlNcXZ5VVZWWjNmWHNycDc1SzJLbXMvTHg1NTlmL2Zubm4zOW1aVG5PTksvbDN3blgzb2pjaDFQcGpoQ29Cd0pMNzJYcy9yL1F2SWo3UDlUM0ZDSUVhb25Bbk1mNDlhMlN1YmU3L1BiMFdON1RMeUZRVHdRNlhGQnhmWnZQM3BMTC90cGZhdnhlNjM0OXVTV3VDSUVBZ1d2c2hkOXlmbThBMGQwUk1RUDJpL3gzd1h1VHVLVi9oRUNORVBpYysrcGp5VTduL2lHQ0N5M0dYdUJSejdGWCtDblhTT242UU5ELytpRHdCWGFxN05nbHRpY1l1dzZsKzNySFdYYnZid2FNRHZ5RStyQk5uRngwQkpiZHM4T0Z2dEN3am5QNStRQ09BOGJPSE9memJFdkM4OFFkR2FKZlFxQVdDSHlldmVRNGMreTJZT1prTitCcENVcDMxL0VDZ1Via3lvdEJDdjBRQXZWQW9BVURZYm5GdmlLNGFSMUtwcUIwWDFpRThLcnJJUldpQUNGUUF3U3VzMVBIYVROMmwvUFMwUE13cm5SYnA1dWF3NDRTYWgxSElVSmdhZ2djTVpnQkhZZ3A1MkR1WmMzSEVIRi9yRytkNXJGeFEwRkNZTm9JOU5tZk9BNmNZSXlyMUpVLzFlek1JKzYydm5XTzlvd2JDaElDVTBaZ2dVL0VuQUdrbEROeUhaTTFkU0hTdkYzZFVpa1VJQVNtanNBMXh2WWRaeWg4WUJISmZTdTJLMnhxQnRzN09rd2hRbURhQ0J3SlpYdVpNV0VubU5hQ3c4MkZEYzBmV1FzYUN3cE5INEVPRSs2RTl6ekN6ZHpRRE0wNWdPUnFmNjV6c2o5OWJva0RRa0Fpd0pqaFRuQWM3UlZ6R3U0OWlPNld6T2dNRE10QlJWS0FFSmdPQWl1TXV4YjBaWWpuRmJaMXdwaGNEWFlXaE1OWDU2UVFJVEJOQks0d2R0T3MvMkJIM1EzdU9sZWhkR1hFRlgrUlRTVlRnQkNZSmdKdDB4NEFJNWVWUS9jYTN5dldaK3hld0Y0bkpPSFQ1Sm5xSmdRY0IvYkFtb25EM0ZsZ3pTNTdQTVRkQ3g4UjZmUGhmR1laQ2hNQ2swY0FxdzJCcUFaMTk5N2dCMDU4aVIwR3I2RE5lY3JnblR5VFZDTWhFRU1nV0lIUThmUCsxdkxQQkZPek9SZWkrL2YrNFgveURDZUR6a3doUW1CS0NHQkRtTFJqSlFjOTl2Zi8zRy8yMmRtMkg4RW5hZnlpM2JrU0lQcXRBd0tMTE5pWHE1bmhyNkJCRSsvTG1OK0Yxc1VCRElmeW5uNEpnUm9nc0JweDUzS1dsdC9qUGZSTGhxRE92Y2M3ZTR0eFh3TzJpWVVMajBBejRzNjk4SUFRQURPQ1FDZThCWGRHdUNZMkNRSFlzTWVFQWlFd2N3aGdXN2w0RldMbUdDZUdMemdDT0E4RXIwOWUrT3QvZUg5dDg4S0RNRnNBNElVSVkxdmpiUEZlSHJlL2YvYjlyVmVWUjQ0b1RRQUJPTVZvVVhjUnB2NjFVM0w3VFVEZXlxc0NUckVMdjNleDBjS3IrUTMrR2lsZHM0TkF6N0lRTVR2Y2w4UHBGZUZkYVpsdk9aZERtS2hVaUVDTHNmVUt5YzhFYWY4c3dENVpUVFB4dENTVGNJcnR5dkFGL1YzeDMyYnFHYStLWGxBa1pxblpjNURjdlZsaXVBSmVuL0JmVityUlczWVZnRnNaU2I2RGNhMHk2ck5CdU8vdnJPK1RYM3MybnBmUEpWNmZqTHdSTVV2Y2w4THJjbkNpeEVBY1RsVUtTU0pTUFFKdzUxNTBWVE1mSEZmSkQyaW5hMllRYU5JU1d0dDNyaXo3eHdmUHpKTzc2SXpDblR0OVo5RFNNMmMvTjcwSGNlSWZ0THBpSGtNMVBXNm81cFFJd0owNzlTVzBPZS9zMmRBeHZTbDVEN0l0c1ljZWYvenhXemZrQzU3ZTZVT3ZlK3pocmRSRSt1ejBCaTQzZkVaVjZ1S1VjVG9JWUlJMjlhV2ozdW0rMDh1LzdZZC8vVXBjV3dMQ2hubVRCbFNYY2NHRjVFNGRpRFRjVWg0ZkFiNDc5ODZVd1Zqa0orbjRDN0Q1T0duOGx3NWpmL1dmYmdhbHVZdjZtLzlEYWxJTGdYM2JEWjlSbGJvOFpad0tBbHhmYlV5bFpsMXBuNStrczFSb0RickorTm5Wd1FXbEs3NzJLdS8xNy9LZkNWMS9TYVRNQlMvdDl5Nzhpb3dHYWdaQzJKMHJ6Y05wY2Jzb0RweHVGTEl5aC82SEF2d21YR0YvSzZFdEVQRFFKYlQwU2xDemQ5SDkyZ21nMVRRYTdseXhUMnFLN0ozNHVzNHRzdlk2TUhiSEwzdWgwNERObGowWGt0dkFTcmp1SDlXK0hEc3Z4U3hKNGJvaDBNV3ozSjRxVTh2QkFrQ3J5QXFXZWY3T2lmcE1jYnAyWGZmMzI4eUhEeEZPVjVaeVRRMkJJU1IzYXBXTGlpOEhLMWlEQWowSTgwejExYmEzWlIxRGx2d3BhcHZNM09rS1FzYmFCN0hqOERJU0tKeTlGOHdRQjhZY0t5dFJ6RFB2QkdYbTNHL0xXSHJCTDl1aHRkK013RTAzdXh2NmdNa1VlSUVqWUY5VXl6ODluUGZDUEhNaktOdkp2aUlvSkhlQnZUWnY3VlJ1Q2dnc3cxaVk3Z21OODNLZmk2dk85TStPQSthWk8zNnA1K1Q1a3htSURQZ1o3Vys5OEhzOU15QldnNno0dU1tVUYzL0ZKNGM1RWtYT2lPcktQY1lyZVJhUm0vd1Exc0hVMThCcklBNHp4QUpPSUozeW1tYy9xQjlXdzFadTRJYkJOTE14ZUUwT0dvczQ0K2NMcDlQMXNPUmcrMklYdVFUSmxYT2JxU0FCZ2QwUUZjTTlzSk9iZzBIZ21uM2cvbVllR3YyLzhxdnNmWGtLVXBtcElYQUV5ZDJZV3Uyb0dGNkJZMUUvQXZsbmFLNi9VelA0U2tDa1BaOTk0K21iMXlKeDRkdWxuNy83em5BTTNkVWRnUk5JN3RZMG1jVEhoZzlGL2JCYjl2TXlFcmh6Rnp6bDFEVW85ZGlqSC9Dd0dZMnVjNFZBQjVKN1hFS0xscDQ1L2VaY1pMcnlYU0tJOEdqRk9JSjg0TTRkK3N1NDRZeHZaZS9BRWV3ZG0weUhNNDY5KzQ2LytLa1B2REg2UlkyeHBTNXloZ2ZZNlVPMytOYnBoMTMydFNVRDRVRnl0NHZUWEhHWngvSk1qcHlPM0MzUUx2QWlwKy9PZlJzTHJGMnpQUTFQK0F5dUZsOW00SitGbTdiejIyelpESVM1WHBUWG41VE1MNmRibk9TeWQzcU1yN0lmNTZEa1NhZGNVeXJmSEVRd3o5eHhsbHkwSmFhMkYzM3IrZjhwZmtRd244eEdQdTJkZzlVTFZlUWZmZDhIV2dLMVI5Ly9nL3ZsdHB6dndTNnVqU0MwK0VibG5ONDZrSjVKdUJiVTlVTDZZcEdjUjF4a095ODJMYlBOcG1oZXd5MCtzc3g5NmlmUk4xNktWRTIzb3hFQThvejk3NlB6NUVtRmdWakNhNFBYL1MyR3JSeHZ2K05iYk9wSzNKczR0bVVuR0RoKzZPd1FSa1BNbk8yTC9vQnF4aEpKa1FGcWR6MUZOc3BpSU5BdlE4SU1la0dRN3l0L01SNmRNV2JvbTk4bk9jd0ZuTER6anFmNDlUU3pUYTlTTXRKbmQ2L0RSUUlYUTJ5UHI3L3JkMEZhMHlrSkptU0Q1TjVPU0tMb0JBUmdMc1RVU1VMV0xOSGNkaXRNRnl2SVlwTFh6YUdRY01MT3ZtQVlXbkU5QytlaHZDNTdvZlVLeEF4aWhpNnNrVDJlOWM4ZTgvOUZyM1k1anBpaWJNeFVlVWpZblFvWVBnTGR3cFpiTTFEYnF6bTA1cXJoenQzSjIwQytiVWdzbm5YamhpN1U4Q2Z6MG8yVk81RGN4bElvSWdFQlBwUGFUVWdyRW8xSFViaEh3QWEvS1hpNGxEd2tMM21vS0h5ZEhmSkNxOUtqQU8wdkloSmE4NWx3WVg3M0JwV1ZieHM2NW5jV1E3ZUZ0THZmcGJJV0MzUWt0OFhJWEtUUy9NREZ2UW9hM0FQZGpZSjBJUzVyZ3NUbFpEY0YzOWdUdlVSNzJ2TDlzVzdjUkRYNTZrZExtL1k1cVB0N2F5MkdMdStialAwVmsxYitzRmZDZERaLzdUTlpraCs0dUYwQjUxd2piUldrZXlBZko1aE1Jclh3N0szbzljZ216OXoxTnh3NFRvK05kQzM4U0xUNHJWdDZpd3owOVk1ZmMxK2F6ZjR0L2dlZmlkY0tXcVZrRDhCb0hzbGtkb3JudjhRcUpLeUtWb0pzRG9kQWlCTVlDNEdsRE1uTjNMdWFjaUhDS3pCQk81SmEzMEhvWm9nN3gvbDkza1oyS3ZwSkpDbnJMV2FSUVZPemxyeTQrWnZWSExpSTBUV0h0SVVmQTRicVhUOEdrbnNjVGh0L2R4RE02akRKMmh1Zk95SEhpVm80QmpOaXNkZk0rRlUvejF1NVkwYmxER1A5ZHoxbjBRdGJyR2VhZGVXaHdLYzJSWS9IT0ZDeWp6MHptYVd2R1dpeCtTSnpuNzR5c05FQkxFdUN2emNvUitUUXdOdmxnWDh4S0xXSytPbVRJZUlUcHh3TFh5R0NycHhqT1hpd082R2tGRGZkNEpDRDFTSVdwS3VkR3YyWW9jdVpXUEFLZTFBNG1YYU9RWVdYdThnWEpPeE9CZTJIckNtNXkwa2VhbHN1WmF6bW1PMjFnM1lOWS9acGVuNmdhSldKY0JRMmRILzQ3cWFnSTZ0SlQ5U1dFOFBMb1MyZTRoSVJxTXFkQ3lVaTUvYUpkWTlKd0x4K1BjZ0NhcGtIMDFWZmNqRnIzeDVUVVhJeU9vL2FRZ2RUVkVreHR1WEt2clJZb0dQb2lzbWRxN0ZJR2FyS25kdUU1Qm9QT2lVM29Xd24ya1RvcXJsYUtNZklteXUrME0yekFyc25ZUFBjbEpXZ0N4aUdMbEw4dnJUSXRtU09Bci9renMwTUhtYnRCWFJTY25VOTBDM281L0gwQ0lyQk5MUE92ZTdYMzJVYnlWeU9TNEhhMzFKNU9xWXRDbXZvV0tSY0tnTSs5SW9DL1V0eGVLRUNxNUN3S2hvOEFOMDdoUWpEeGFtMlovVk1DVXBKZGRtZm1YbjhCTjI4MTVFNUsyc2JDaGh6eHVEbG0ySCt2YithSzdTVkh5bENWd1lFbW9VblV2YktJTGg2b0xWbkdSTUxyYWIwRVByQnpwanM4ZVFCbHkxeGFIazhMV1hNMFBUc2dhSG5WYm41NE1DYmhWTGVnb0lOWGF5Yks3NHVUZ0RhVE1sSGlhM0dCQ2JIQUI5aW9Hdm9JUkRiMDRtTi8vRXNlK1gvb2U4VFFrZmNuOXl4cWR6bFQ3L3g5QnZYRW9ycDZLZi9DZXI5NU84RUVkOEJxTmhQSHdaM0MwRlhPaWg0RE1obkg3NzcwdzczK3UzcWVwMlVEVFJLWE1CZ3k1Q1BFcHN2RmlJTVljdEJHb0t5SGhUai9XQmZrVmdZTUhhTHNXOVFFUW1CNjVDR0o5bWI0cWwvMjJONEsvTnNuT2dDR25INXJqbStVNTVmMndHOWs3dTgvRmV6YjR2VFR4L1QrRGc3OWZDK1VqdlVNOU0yTUgwOTV6RW5uc1dkQ3RvbDNtWWRKeHFqNjNXMTB1YjlRRW9NMzBIenk1dk84aCtNdHg5T1RwK3hEU2pmenRqSERwMHZqbDJnNEYrUWV2eXhoOTFYQ1Q2dnNCdTM4SGtwcGNMblBQWXRlSW52NjBjM1lrenFrTjA3ZEI0ODJ6d3cyNWUrZ1dPb24rdmtxdHk1R1A1TUV6RUhobnpqdzM1UWp2ZURUVW5qU2ZaTklqZ2NhK1VzZjgvcFcxUXhXWnh2OFJMZmVuaXIwUmxVWW9iQXd2LzV4dE52R1crempLTDROaWFzNWNGR3g1d21wMi9nS05yblBhMHFkKzRxWkszWTRxOHByWERkYVZkcUsxaThXdEhDbk9VcE5WcUJIbDRvNGk3TFVtTmkzam5YWitIeXk1NjUzbGl3Z1luVm5hK0VxdHk1VFVpdThtbmxnZ3l1VkVVQS9VRDVuaGJWWkw2MWw0ZndBMHFWOXd2Nm0vUFVIaXJUREZySUJ6NDlnQlJ0WUtpSzgzdkRkYU85ZFkxM2hiN3ZaZDRjMmt1WXNVUFExUzRrTXlWdHVHa1E2QnI3cnB2U3kvQmpvZWw0V3JLUUVybTBONVNCdEdWTHpnZDc2UFUrU2MrY0poZHNZTWxNMXBZYzVPTytuYmtuV09LbDlZTzlLR0lIS0Z4TU1IclF1ZThQcnBieFpGdUJrWUM1L2taaTlja0pYYVptZGdmRkdFeXVJMlVLV0ZuenN3N05hWExCQnFhc2ZPYXpRVDRTNUxESkVxOEVXVGZCY0ZHNDJHQU1hVFd2T3dIMUJXbnhOclhyd2F4NFRIaloxVGJJVU81RUcxT21xbVM5VjZGcnVITUxOckFxWm10SDE5Um1ZZVlXdWZEWnI3R2VWQWZyOEtZYUNWTk9keGVwZWlNb05TL0hpSjdjT0pDT1hKQUwxck5hWmgzSTNwQ0pRbW1aTVFXVmh4QzJEWGR1d1FhV3hsN2RDUlVXTUhzRCtad2oxMkN1eUhHbjJGNXd4Nm50Qk9ITFVtY2VTT1dyaXFRSlFONXZCL21XVlNoTndmTHpOSFdqRU55V0ZSUnNvQ1J6M24rNVRPeFcwRWgrcUJqYktrTFlYSHpncnJ2RGdOaXFERjY5OFk3czlQbGluS1IwUlV0TGRrSWxsTUNZSmxsQmYxSUVpelZRa1RudmdhcmN1V0twOUxnSWV2eHRJRmtleXhyS25Zc0h1eUhqcy8rQ0wrbHFhNGdOT2RsSmxGVUNuVnZORjFvNmlBTk9palN3TE81cVQ2Y3FkeTdNU1dNQXpBTURwRlhLR0YvVlY5TklVRDc5UkI2Q29reFhVM3Fna3NFbVBXZG9pUEp0YUs0Y3AxZ0QwOWMvNHpuUndaVm1LN01wa0xXQ2hNR1o4Z2VmR0g0SzN0ZllONi9sWkxZdjM4NXAvRnROUGlldGdzWFFxRHNCQ2Roc2F0cm9GR3RnUWFabXAzalRHTExLNUJwMHRjck1SZmhJdno3cDlJMEJWRmpRa04zdFhGVEIxb2JqUFBXdUwyRzVOUitGWE5YYUNubTZVYkRacEJDTEx3cUJ5N3dOdE5WMEx1TjY1amhWWWd1SHdMN1lCenVhVWp1Q0s5ZHdnT0hjRzNHSlBZWlpPUll1RDcvOEx4MW1MVnh1ZnROM0FqVzdxNmdYYXFDaWN1NERMWE9jS3JHMWZZakh5NFhvSGVqZHVmd2hieXBpVGR6eFMxbStLbVY4Z08vaXVYWHJkUi85dm44L1pibjFWYXRrWWxYN3g5Q0dKbThkcmp3TkhBL0JlY2tCZ081VTBSWVBoTFhwbHFlR0U2MkhJRytHL3NZR0svL2F5VTZXMjVEWlMxVlNBcXlvdlhSTnRRek1xeXJTd0VwWXJTTlJyczEySzJDc2hDVzBvZFpEbUcyclF3L0E3UFZBZEhPczNZS1NjbGhVME93c0pOdkc5cmRldUQ4VmFHQVdEbVk2TDUvdTdGWFFBbUZQM2l4RUdFL3pPQ0RRakN4cUxIMFAyRFpjdk9ucldRMXA3L1RsS3NpSlJpbHpxaFhwVC9rYldBR2o5U1RKRnd5MksyQ3QrQklhM21pUkc2bTRhK0V3ek9ULyttTmdYS1dIMDBiZHRRMXhHWlZ2QW1rbjJwekNDS1VjZ0VITmVSczRBY2JyVVFWMFVMTGRWMkIvTGw4QVV5b3pYMU9IU2x6eFlOVzJja1hycTFIQmxycExHempTNHBLMlNGWDUwTDQ3QVcyTVVISExKMThEcStLMmRuUzdJOXk1UmZibllnR3NxRExIa3czZ2dyZnpwVGh5U04rTng0NkpPZExpTWlabjVjbWRCSGV1cWpoWEExWHA4eDRBT29tK2x5Wkx2TzZQdzRYcmNpbDQ0L0ltcEI4b0FwaFdiYWxNLzFDR29OWTNaRGoxYjF1NzJsS1hxU2hqWDdjS2JvWU4xUExuTjNsVnhScklLVnlJYXpCaTlDeXlQN2NMd1ZWN1pQSWhDUkpCd2FGMkh6a256SCtGSE9mVzV0RzU2RkUzODdGVGVxbU9uaHUzZlRkS2F4dVZGR3hnNld6V2xTQUVUQnBicGJKNEFzS0dDellQYlR6T29KaXJyVURNL0pSWFMzdk4wcE9IRmJPUlBuZWxPWHQ2SW5BZ0pwc04zdDZpRGF5VTVSb1JyOHFkNjBDaGFKOVB2Z2JEUnZBTDRtRnVTUkpIb0N2RGVYd0xXTk13ZGU0WDFpU3h5ZjhPTmY5QUMvVXZjUnVzYUFNbjM0N3AxTWlkVjN0VlZOMEM0V0pMYVB6TGVadUN0YmJ4OFpzVGJZUXNHelpFNmlaZ3Uvb2RuYm5oVmRKNFhjR29VRmRQWWYxWDR4YjVqS05vQTBmVmVKN1NxbkxuT2hCY1UwVHlZSVplZFNqSzliV3h3SFc1bkZFdXFWQUc2bkN3R2F0eGJ5MW9pbWVvT0o1MVZSMzdFQ3h1WCtJT2xLSU5qTmR6UG1PQW5ocDh5MnloT01oeG94aEYwTmptRkdEUmFNM1kxM2JxRmZYNllaWjZPa1kzYUxUOHIwdG1LVjllWHZoR2puMXFKMzUzYks3anRuQURmWkxuL24vVG1QQ1UyVmljWTV4bi9oUm1vZVUvMlNmTVpZZ2UrK3N5MDRFNmRFekdwUGs5TXFqOTBLbXYxTk9VS3o4UGV1UnRRWldEeGRlQit6djRWN2lCZ3VUNS85Y3Y3QUd3WThUZmJzc2xXQ2E1QTMrbFlXQXVPSFQ1aUNxdTVYeStDOWdnbXdHRkZkdjVwRUhhSkg1YWdUM1ZmTG5EOEZwUFF4aEhoUnM0Q2M2blg4ZmJJVjlqRnhYeXNDa1dmNldFNUNIQXkxd1JUM2JlVUpMNDRIbHdHSjdqdkZzN0hESlYwSkt2cXMrMUNycnRNbFZyeVh6RTVkVnhWdGhlbCt2Y3ErSkpGRytncGFiekZUWDNxUi80QmE0WjJkMlBmdit2bGQwMHZ2aXJOcC9tSmI0Z3BtQWR0bU1RYUhqQklTWGZIdHVqWXVRYUZYd3lLTGcwQ0U3TEg1VzUwclFsMzJmU2Z4bHVGT3pMOExWdDhRWld5bk1kaUxlNTFBWlhmRDlMUVE3NXpLKzRNbS9DMEgyUXZTYkV5OXZZVzdZeHNuNlczY1ZQcm12QS9pYW1mWjkyejQ1ekZTK3gwQUZPWFYvK01aeWMzdkRZMnBLN0owZ1hiMkNKSE5hUzFCUHM5TVl0bk1oOTY0WWJFWTRTMk8xQ2NxWDNLais1T1E4SDBkK0xHQjMvTjJNUFBZeCtzWitYN3BMSFRrSGdoYlc4QkVvcnQ5eGlaNzdqNUczczFKVjRGVzVnYWZ4ZFJFTHc4eGplcDl3SXJEeDc5ckdJNERyT0Y1OXhUNy9sNytXbUNYMzdIdS9zelo4c1FLQzBvZ3ZmNjM3ZEh3cHFmN2IxeUxZa1c3aUJraEQ5WmtlZ0E4bTlrNzBZbFNBRXBvekFBSko3YzhvOFVQV0VRSFlFWEVqdVZ2WmlWSUlRbUM0QzRzM2Y0K255UUxVVEF0a1JFRy8rcWhsSDl2SlVnaENZRGdKODgyUWxPM21tMHh5cTljSWd3QmQvMWFzTEY2YlYxTkRaUjRBdi9qNC8rODJnRmx3NEJGWWh1ZkVEQkM0Y0ROVGdtVVBnQ0pKcnZIb3djL3dUd3hjVmdRTklMaTFFWE5TblA4dnQ3a0Z5dDJhNUFjVDdCVVZnQU1uZHY2QnRwMmJQTWdJdUpQZHdsaHRBdkY5UUJDQzRoZCtJdUtEUVViT25pUUEvT2FmMDF5eW0yU0NxKzRJZ3dMOTdxbzdqdmlCdHBtYWVCd1Q0QjNBS0hzMTBIbUNnTnN3Y0FqZ09sdDZJbUxtblJneUxEOWVhcDNzUUpJVEFqQ0RRaHM3ZG14RmVpVTFDUUNQUWhPU3U2VnNLRVFJemdzQVFranNqckJLYmhJQ0JRSi8ybFJ0b1VIQjJFUEJvWC9uc1BDemkxRUFBeG9JNHBkQ0lvaUFoVUg4RStJSGx0Sys4L3MrSk9Jd2l3TS9ncG4zbFVWVG92djRJOEFQTHQrclBKbkZJQ0VRUTRJdS8rNUU0dWlVRTZvL0FLaVIzcy81c0VvZUVRQVNCSTNMblJoQ2gyOWxBNElUY3ViUHhvSWpMQ0FJZE9pWWtnZ2pkemdZQ0xkcWRPeHNQaXJpTUlJQUoya1lraW00Smdmb2p3TitmM05Gc052N0h3MmYvRisxNTFJQlFxSzRJOFBjbnRhUTJPdXlWUDhOTzkrcktMZkZGQ0VnRStQdVRNdXc0RDdCdmRad2w3K3hRUjFHSUVLZ2xBamc4VjM5K2NzNC9SM2VSM2dXdTViTWlwa3dFc0lRbVA2Zm9PRWZCRG9iK0tTbGRFeVFLMXhDQnJubllRdXQwVTdEWUpuZEREUjhWc1JSQ1lHaTRjd05qd1hHdTBobm1JWkRvcG9ZSTlKaytiT0VLZThubmNJRytlRkxEUjBVc2hSRHdHRHVXRVUxMTFvM3BLWk9wOUVzSTFBZ0IvdjFKMzdZRlV4MWwzclpvczNtTkhoS3hZa0VBMzUvVW4wTHoyTzBnUzU5ZThMR0FSVkUxUWdEdjhpaW5HTjZsM0FsWTYwaUx0MGFzRWl1RWdJRUFGaUtDV1JuV3p2VDVZa042a2QwQWlZSTFSS0J0dlBnTC9Yc2NzRGpVbXJpR1RCTkxoSUJ6WUx6NGkrLy9IZ2VRbk5ENSt5UWM5VVlBYjBSc1N3N3hGdkIrRUQ0eDVtMHltWDRKZ1JvaDRMSXp4UTFzM3YzZzVzU0lWdWtVSUFScWd3RDJsZXVQbXhpU2UwQ1NXNXRuUkl6WUVNRHVYSDJtMkNXOWNuWkFYMGl6d1VWeHRVRUF3aW9YSHh3SEd4N1hBczVJY212emlJZ1JLd0pOTGF3a3VWYUVLTEtlQ0hSTWV4WUtlRDlnazNSdVBaOFhjZldQSHowV0lMam1XbGxJY3JYTGdkQWlCR3FEQU5aNVgrRE00SGRETTJYNEZzaWZxMkdoVUkwUXdGeE1UTWF3OWlEblpPQ09WaUpxOUlpSUZTc0NYVWp1RGxLYW9hV3lhN1Q2YTBXTEl1dURBSFlyaUszanJkRHI2YUVkTjgvWGgxdmloQkNRQ0hDZGV5ek0zQjBaaFY4Y2R5TnZlK2JNemNoQ1FVSmdxZ2pBaThCOUIwK0VqQVVIUzhGYkFWdTBzM3lxejRjcVQwTGdPbU1mUWRxQXZUNlV3MVd2QVEvWWVpaUZiZ2lCZWlEUWVoWDR1TVlpUjlub3Q4OWNwWDNyd1M5eFFRajRDRHpKM3Vrc2VPeE5ZVHdPNkszMU1DQjBWejhFZXV6TVpWOGY0ZXV5UE5wbXpsd1VqbVNpVzBKZ21nZzBmdFU5KzFDVWdSVjJ6NDlhSk5kQ0ZCdTZyelVDWG5CcXlCRWR0MURyNTBUTVJSSG9CczZGbG40NUxacUY3Z21CR2lLdzVHL0VJV09oaHMrR1dCcUp3Syt6djRHMU5PL1UySWN6TWo4bEVnTDFRS0RSeHhkT1hQYStlbkJEWEJBQ3FSRm9mUHJoMDBmK01IVjJ5a2dJRUFLRUFDRkFDQkFDaEFBaFFBZ1FBb1FBSVVBSUVBS0VBQ0ZBQ0JBQ2hBQWhRQWdRQW9RQUlVQUlFQUtFQUNGQUNCQUNoQUFoUUFnUUFvUUFJVUFJRUFLRUFDRkFDQkFDaEFBaFFBZ1FBb1FBSVVBSUVBS0VBQ0ZBQ0JBQ2hBQWhRQWdRQW9RQUlVQUlqRWJnN3p6alB2cGRvN05RS2lGUVB3UytuWjIrdWNYK2F2MFlJNDRJZ1ZFSXpMbDM5eDNuTSt3Tm96SlJHaUZRT3dTYS92ZDYrblM2WSswZURURTBDb0hsNEREb1JmYmFVZGtvalJDb0dRSlgyTmNLamhyaEQxRFZqRXRpaHhDSUloQVlDNDdUTTc4UUhNMUY5NFJBM1JCb3NVT2ZwYTc1VmZhNmNVbjhFQUlSQk9ZWUMySlc1WGQ3SWpub2xoQ29Jd0x6eXJ5OUlyL2JVMGMyaVNkQ0lJTEFaZi9ERVloZHBFK2tSYkNoMnpvamNNU2VEOWliWjlMaXJUTy94QnNoNENOd3dGNE1vTUJIcnZkbkVKVVY5K1lNY2owOWxyM1hUSy91VW12dXNaY0RlcERjdlZKSlQ0WllUMzArZmpMMXpYb3RnNWw4eWhiVSswcHlWeGk3YmNsUTg2aXJhb1paYzBicnd0NFZaUjdXaGFPY2ZMVFVCNEFodVJzNWlVeXhXRzhXbVo0aVhrN0RZMXZUckwrMHVqMVRjbWZQWW9SVGI3TTBMQzRHb1NmT2lmZFRTKzRTbThHdldIZlk2eStHdkpYWHltVjNGcTNDZVB0ZHRYSUd5VjJQcDljN1pwNmRIdGFid3hweTE1MWxwZnM1OTlYSFBxWnNwaVYzeVA2MGhxSlJjNWF3NEw5VGN4WVQyZnNDTzJXbnh5SjVwaVVYdzhSK1lpTXBJUW1CQStWUFNzcFIxL2hsOSt4d29mK0NZTTlWTTdRWnRCYWFhaGtsRzlUdnZ0aWI2Sy9PYklmL1BIdkpjZVo4T3owa3VUUG1XMWpPNllHZVU3MDFtOENmbTl3RExnQ3plTFd3akxJY09ISzFiMkgyL0xsUDVOc2oxT2hjZE1rRmNEUHBTN3pPVGgybnpmekZwMENBMFFGblQzSUh1ZVpualkreml5NjVDMncybDh5UHVIWFlZZjZXOG9HeTFtZHU5UmZtMm5IMkllLzNCbWo1VjdLWE8xY2xUbVp6Q2JqUC9zUnhXbmgrM0JVYTJuR3pNMU9QcDhuOFNXWUdwdi9qMy9YUWJwTGNhMndXWHpyMGh3cXVlZmdqMTcxdjFtYWNEVGY3bWg4ZmFmN0tGMGh5TWJmMTMvak8wT3VubnhYOWJkOXhoc3lmM3VnRmxWbmJXWDRsaDk3NDdsdi95Ly9ub09CRnR4YWdzTzVQWHhLemNuQWtsTzFsNWs5dkxxa21YT01UdHhtNmh0bU5CYjkxSkxtT0EvVjFQRVBQMm1lMTQ4dnFleDRSSy83NjdiTkxzN1djblgvQUk4bDFISmhhcytmU1pjcWJ3Q1VaSzJkQjM1dXh0OVloZjhjQjV4bC9TSElCMk1uczdjaUg4d3V1QlgxNWNwYlp6RDdoMFZRbUh4cm1ocDRrRjA4TDF1THg1Qjlhb1JyeDNFS0x2Q2R5aTN4L3BuYXZ3RmpJTzl5UjVFS0FzR0VzcE1BS3lkUmtDcmVaRkZXL3ZzdEJDNWJ6TGFWT2h1bDRMUkMvblhoc3FoaVNYQTdUSU84RU54WEdWV1E2aVRpVEZnTG53cFZjUzZsVmNKaUs1a0YrVHdoSkxrY1lMcWExVkVqWEpoT1dJRFpEekJ6NG04Wm15MWh3M05BOE05U2djVGNrdVJ3aHVPOURWdU00MUthZkhxeEFhRWFXM0xOOXgva0Q5Z29kVmY4UUZ2elc4M0pKa3N1UmcxOU1uclNSRjhqSmxvTVg3RjZreHUvRUYwN2V5RjRJYStKSW5ycmR3bG8venNzVFNhNUFicGpmM3NxTGZLRnlpNWFsejdjLzR6NzByM0lKN3BmZFY2OFZZaWR2NFg0QjJFbHlCZXFYOHM5eDh6NjFRdVZXeS9TRy9EQzdZY3hRZjM5eVJ4OWcxMUQrb1k0a1YwZ1FUdU9hS2I5WXMwVERmSTY5RTJzeFcwRlBnaDBpZzBGTWRUOVlkbC9QVFowazE0Zk9OYlJPYmpBblZ4RDcvRzZYVlZ2M0s0NnpxcHhwRUlqU0tJL2pzRnZrOUQ2U1hCL2UzbXdkTytzV21OcEU1S25oSHZOVlJMbGRyc2lrS1VKNTdPMmdnSmxMdXh3RGVQSEF0c1lpWFpzTU1CQkxPOTk1a2N2c3FwS2hBemF4YndHaUZmTFUzeHpJa3M3MVFZTkhkNFlNWFpqbHBlM0M3ZktOQTBkcVlRTjJTQTR4eWxVRURwSTd1UXFLUWlTNVBuYlkraEYxa09ZSHRmS1NtTnJJMGIxd1hZTWRrSUNtRFFoNXVUZHZaZVlFM2JhSTJYOEFBQ0FBU1VSQlZHVXJjeUZWZ0NRM2dHS2d0STdDcHI2QlZjYWVMNG03QmJHSzNKRTZ2RkVlNWJFTVFyMXZqODJVbUlFa040Q21XV1NlbXdodlJRbGdGZzZCVXE1NW9ieGRxY1BoRlB2alV1aW1JQkpid1U1UlJtY2h5UTJ3d0I3ZGRRMUx6VU85OHF6eVZkNEZzTTB6NkFuWVNWREE5c3dFR3piSEY1aWdrVzlCZ28xSlQxbHFUSktzN3JkVlhqZnJja0hWY3lWb3NvM3ErQTVSaHE0b01pa21uUnVnQ1FQdmJnallPdDh3eG5aTDRxKzNCVUt3bS9rUExvUjJSS0Q2ZnpCNWRndlVRcElyd1JzVW1pOUlLaFA1eGVCZTJrZUZ2dm9RTEIrby9ja1FwN1dKdElGdjV5OVVGVW11ZkU0blN1L0ltTnIrd2hndDlOQmpEZE43dG5vVGM3RmdrQ3Zra3liSmxZOXh0VHpiVVpLczZoY1BMZkpHUk1HYXRETzdOVEdiQ1JPMFFwNjlTaVQzYUNLSFNTK1grMWtNMjViWGdnSlJWWEYwc2tMcUtzcVg0UW9yS0U1UnlpUHVJWG1Gdmc1UmllUjJKakpMbnkvMy9Xd1lqNld0UzQxNFlHVWt3Umd0bFZXOTJ4QWdUTXFkZTFSd2pLdENjaHNoYjhkbnZVZXJzZm5iNW9pNTlNelp6eFVVQ3Jma0liZ2dPeU9Ld3hndE5OQkdTYmVWaVQ5QmR5NGFzUlZsSk10OUZaSzdZdTd3ZkpBOTZtVStJRFZWQzA0TXNuUGUyYk5tcmFrSVJESjF5dHM1R0tGYzltMnJaTi96aVhLclFCdzJ5dVkyZ1o3SGlvMlpCU1czMGJMbzA4dkdjdlJWOWhybmFpRy9IVy80azdZaHpEUE1wTjdwdnROTE40SmFhZkZLRGliMzFIaDFCUzZXLzJRWWE2MTZuK3pxeE55NTJPSWtOL2xZZVJvYldWQnlIN1Q1RmJ0bnV0bysvd2hESy8vYlJvTFNuR2RaSmx3d1hqUmY1Ri9mdkpMcVBWSXJMVkVMbmxxUk5SM2Q1cXBEZkhmdW5USXIwYTZGWnNudXRtUXVzV2FaVHRNa2tTZ211Wit6ZXNUN1dsQ0ZTRGtIeFdiQ1N3UGJBdmVpSWFpaWZ5eWwyWGhncHlYUUFSU2E4U1M4NmhDUGgxN3FtSTZlSUtmVXZZS0tNRDA4aGRFdUlMbFBmODEzQThLOUdMTU5ReUgwaGVIUU5vUXNsbjFNUk9PM3YrUmF0MmEwOVdDektQd3JqYkdDbDBoTDhGQllDNHhwU1duSmNBVVVtOXhFT0VIRDVXQXpPWGR1dTZqRmsxOXk0Zjlrajlnazk3cUdkY1ZYbHBjS3FJZys5c0wxYlRwM3FIZUNuL2o5eHgyMzhTQ1JsbmlVZkJDT1BOTjYzc0tzS2FBSzRtMUNUN2daeFBwT2krdGI4VXhseDV6b1N2T1JMaUM1Tng3NUpCNTJYT2NhRTdRakg1SXJoaGJPeXVaN0gvcmdkdGNtdVhxQ0pzOHZiSTBUdkVSYVBsUFE3ZnRaMlp0Ry9pNGtkN3ZFaXJGcDY3WlBMbkRudHRkTHBKNUFhc0FLYnUzSkw3bWNJNnZrTnJYcTgvemw5V3ZGVmtzY20rVE9hVDErT2ZDZUQ5SThUeHV0QU54K3VZTnd3aU1ySGoyRTVCYW5vaW5vWTFJQ3UrRmdWeWRXRlVJYjFnclJya0J5OVFUdGFyQUlmazNOQVBMeGFwTTJZNExXQzRSNGtFWmwybWdGWEJVZXdQSzFMbk1wcUN2RGU1TzVlS3pBcWpJK0FydWhFeDlJWTRVS1JuRFRiTE1RamZJbDE1aWd0UU9KdldJYjdUT3diWk0yUFVIRHBxTjlRWXgvQ0hmc1phTVZGR3JybWNwWU10UE00REwyUXBuMVEzTDNmWG9JM1ViSTJ5NlR2SlVXdEh2QjNsZSs1Qm9UdEU1ZytWOWl6MXZaVHh0cGt6WTlRWnVYR0xocExDY2JyWUFQMkh2U081U1dzMm5rNHo1OGkzODdQeXV3RnRiODBnZGkzckpjekltWmloSElYY0hlVjc3a1hsSm5XQUJpWHdtdUZ1VFNKbTN1U3hLaEkva2MxVVJEcHRoK2JiU0NmUENXYUgrRnJXdzk0ckE5c053ZUJoblk5NXZtaWREVmdqS1ZCaVpvOTRMT2MzQmRnSUp0aHFZbmFKQ0VROUdLZGtHSnNFaWJNVUhyTTErSVlUVnNqUWZOUWtzV0tqNkNTVXFWL25KM3BPcTJaZFNFYlRhK2h1R1V0eDNua20ydHZZeUtEQnJOZ25zY3hXZHBDb3c4TnNrZHFCRzNMWGNwZDh1M0ZxNUpOZUZBWURjRUpHQm14OEFtSVRoQ2NvdlBHaExxTERjYWczc0JMNk9GRjdSN1YwU2ZQQ3ltVGMxMVM2WXNVVXMvLzBxL0t6ak8vK3ZycmxqcFh1RTJRR3NYR0NFdGt0dGdxdDFEcWM2SGNqeVBOU0JkaEVYYTJzb1dnNlk4Rm1RUWtIaU5JR3VocFhKREpQYlZUVzBEUjJCem8xVHVCdjRhMmdyN29oZ2xXeWxnSEZWL1kzQzNkZVpMN0ZLU1AzUlF0QTBMb01EK2NCUWJJOU1za250Vkt6NVBEbXI5Z25hWlJkcDZhczZIZVpXUEVzYTYvWkhjaWtRTExWWElTMlZ2cU94VENwemdrVzJWV3ZjUkU1WnQ1MVVZdjQ2ZDZ3VW4vYzViWDlpOEhQU3RTMGs2eTAwMVFDYTA4bS8veEEvOEd4REE5ZWo3disrbkVqS05qclpJcnA2Z0lYSGRMKzRWM0dodmtUWTlRZXZLTjFzZ3dtdWoyZVdwRmxxcVVML29pcVNpVkdXZ2d5ZDJuS09DejNxdjNMRVhXM0RaaDUzR3gvRjJWQk9iN29iRzdsRjcvakd4T0tsc01kQlYzWVFuei8waisyUElKQ2UzVVZwZCtYYWNXU1QzUUZIQzhZaGJvbmIwWkxtakk1bWJVU2x4YVZzS0xET1U2a2h6cDUzS3R4Mm5wV3VHTmh2TGFPTmR2L21UditCdTZVSVREM2w0YU52WmEvMTlkc2F3aTlsNmZTZGpEd2xiYTg1bHdicW5OVitxeUJXc29WNExaamJEQkVEeDVwdHlRYVVpR3NyVVBuM29kWS83MTYwYlN0NWtsb2JIYnR4QyttTVAzNUNpNFZ4bnB3L2RRb3l5SnkyU3F5ZG8wSUg3Z2hwV3c5Y2wyVnkvY1duVEV6VEhDN28zOUlXeWZVZlVFcWVsTTNkVHZJWEZOVjRxOTVzbVczS0kxNStkNUhQczYvRmQ2NWNUQ243eFo5eXYrd1JQVzNuMjdCMEplZEpHWDRiajQzSWdNd08xbHlkY21yOTNINDRwN3c3aXBpNHAxbkNoK2RkV1VFOWNjcGUxa0xabGJ2emVMc1JZWE5xT2xKQkNvYXRMV0d0amFvclQwZ1ZXV1pKWnB2TzRvclpqSFRIcEVIOHcyUzNSSlhaLzAwSG5UbUZQRlczUXlTNC9qOWZ2STNMWWpkS0VKR1Z2UTVSSTB2Mm5mdUFYeEVPNis5SHYvNk1nejl4N1JjelpCd0dDdU9LU2EwelFEa1JtLzk5eFVDRGZUMXphOUFTTmp6dnlTdElvWnExeFdqb1ZvOFJZUjh0ZitPY2NoRU5kYU5JaHVGRDhDVldtaW9mQ3ZMcWk5VXFtMHBreWUrZ2RQZDlLZ0h3Y1c4dENSNlJSTTlheWFTTDVGdVlYcFpTS0FoM0UvTEtPaVV2dUpiMlBvc2Z1UFNXdW8xeDJtY0ZnWE5wY1pZOWkzSG1IcU9YcGRMN3RPQzFkRWRxcjk3bnA2R2pJVFdXV1JFdVZkUzhlU2xaaXNQUDRVMXRKTkJleUVrek8zK0REb2V2UFE5RExEcTA1MnlXL3ZSeXRoSytwM0E1Rm5qRE1RdlVWbDF3OVFYTmEwZ0E5S1Bxa1k5Sm1UTkF3N3V3TGhxQjgxelZuaWFFWUxTTm5TdXRydXQveDRRc1JtUmU1VG55LzZrTFJKMkdBbFJSYy91dGk5K3N4VDcrV1ZGK3o1QVhzS0RNWVBTT0cwWUQ5aXBrcExya3REYXBhbyt3SEUwMnpaS1p3VE5xdWFMWXc3dmpkR3Qxc0p3WFZHQzJqRE44UndGWFQ2QXVXZFJxelpEU1IvS2xIWUJKem9Fd1hiT005VWFEbzZHZlV1dVNCa2ZBVkxEK0k3eWdMSEM4bDJRVFFnRVY5YndZcjhXQWJqSVZpcjBlZVdVeHlqUW1hbzNTZ094N3B6NFFoNEhkdjBEWEhwTzFJVGREMFYyV2dpM3dSemtoTFY4TVBRTlpkd29nUEI2SGNzMHBPbUVDeHV3TXdlU2NqaVNma2ZNZ3RidzJERDhqUnkrOGUyUGtRdk5jckoyb3hkanZaMnhDak1Tb0NJRW0zZ3ArdHh5ZW94aFdUM0hubE1PUDdDWFpGVm1UYU1NcFlnLzBvQnN5YzVjY2t0L09pb3RLV0xIYWxqWnFSbHFMa09Ody9Mc0Uzb2lOQitLblhJMUdUdk8yQnlZMk1GUTZrZmVFbGVLa3kwdVBaRjU2OUZiMGVrZEp4RUJpS0owbDl2RlV4aHVnWldrVEFyUEVlZ3QvVW1PUWFFelNrN1loY3NCNlAvZXpKLzM4a0NzS3RXKy9UdVdPU3F5ZG9qdHJOMDVQalFVWmF1aG9IdzBRS25RUWI2clpaYU1KaFBQUVVUSWFZd2lnUmNOektySzVEaE5MZTlJTnEra2w5M00zZSs5TFdMZko1NGJuQXNtZU00Q0pEVEhLTkU1TXc5TzZMVEplVHpIU1JtdVpmVkhMTjQ1K2FjaDdvSmFFVXJpRktLNVNLQm0rRUltdzM3UlE5MFZhdXBEZ0k3bmhORUs3ckNXbElZZFpjcVhrcHEzV0RuaUovWmJ6NlJSdXE3UDNjeVg5SFZZYmppMkl1dUpqa0doTTBkUFJ0VWZnb3JMZ05nbW1EVVdrekptZzRVOGwvRm1vYit4aWlVVnFoN0lNMGc5aUJrb05RMlFuZEFISUpiT29hKzlLaWd1Uk9ZbklKSG84NWMzZ200cGVIUXhjM3kzWkNNZVhlUVBaTUZYUTF6a1pVY3MwVGs2QnpEd1UvblhUS2NBVHZVV25yR3VzdnpjQ1VtaytwMmFPMFF0VjJVbXhjd0VZSlBUOE1sWjdJRGZkL3BIQ0FtTHpnT1VwTjZ4WFdJaWJocExCMDQ0SlhYd1NpR1huMzI0dEdsbmlQcVlqUk14cXRWOFZvUnlYWG1LRHhOOW8zUllHa2poZWpsaGdSbFRaamdnWTcxMStVV0UycFRhSzBRcFVPOVRNT3hZZHV2Q1JYVHloWFZUZDhTcCt4NThEcnNodXc0N0hucTJMTW9DdTFDSGpGRjZ0ZVlhUUVRYTRUOStQUnBjV0UzYmtQUlB3S3ZKcW81SzRhMmdDMmh1RGt1dlRJNU9jckttM21CcVIyWU5BTVU4NmFvN1JDWE1FUStFb293bkl6WlhjdWZ5aGhoNCtGeDNEVWlmYjFwVmplRHBmTmRYY3RjUE1JNTlpaTl2QXJZbndGZTF2ZGxSOW9nNzZpZXQxUXZ5b3lLcm5HQkkxUDFFVyt0aHFxVkxHc2dZaTBtUk0wK0hQdmNIS1FwM1JRUkdpRldXbW1XR1NBdm5ncFhHcWlkL3loWk5TYmVyVWFLTVhtS2hWd2Z5Mm81WWpiSnBmRTh3blh3aGNyRDhOUnBkN2hPZXBsL0w1RjZjZDByaWZ0S2M1SHkxZkFuZUlXVFVUYWpPT2YrTm1qd2xxWVQydkFSV2lGQVR0S0lSVlRkdWZpb1l3ZkYwS3RnclVwUlIyYUpxTytEbEZLZTdNWWJGenFjVGR5ZHpkZWpKczg4ZGp5WW5xNnljNXphbVhQcEIvUnVlWUV6WEdHb2xzdEdOSnZGczBTamtpYk9VSERubUdoQWJ2bVhISVU3UWl0Y05aMml0RjB5dTVjUEpTTU9oOE15MEVDNDhVa2RPNVZ2eFpJQnlydTdJY3g1bmZZYkpMUlZvL1RHQlhUMHU3Y0pidjdUYTJIKzJUbVE5NkhJM0YzbVIvS1hQQnFoaFZxeC9Uc0xQc3pNNCtmTUozbWl0QUtGMWxOb1pNZzNYdmhVaE85RzBCeUxlUHZDQjRPbU9yVkdLWEhidU1jUVNsdDBwd3ZsM0FqWXp5OFlTbUZ6bVM0aHl3WmlrWEJLRklZaFlSRms0V2xmVnZmT1cxamdzWTNDbTBoVFJ6S2JPVEpFeHlHTkVYNEF5ck9nRDhMLzRUcE5MVER0Q0lsSUxuYVBvcWt5VnNJd3JZTVQrRVhEeVhsWEZReTUrbXVoaDJTMG5DUXFaWDhlaHlpWmUvSG9IT3YyeXBNZzNNQnh2aitrdzIvL0pPbmxvZjExTlB2Nm1IMCtZM2ZlVXBXY2hMcTBNdTh4ODBYVmJtTnAvN0xWNEdSRC8zVHB6YURhbGJDaTU5SHZMdDBVcW5jT0MzSmVmQUxYVEIyRk90VWE2SkZPSXJlY2g5K1NGdEVNOFR1TVdhcnJnYUp3WndwLzRXWGZoNzZyaFRGai9oK3FlR0xTK2duelhWTC9uYUtzYzFTTEcwVW53RHVpTXh6N2tmaWhiaGdCOWRla0JxYW9JSDErMDZqZFZjS1hKRG55KzZyMStMRWttT2FzaEtGZVdpQzVzRFEzWFdlWkc5S3BxQlQ0clIwbWdqQi9rcWVPU3c5NDc0WnJIdHFrclB5ODZjL0hTRlErYTFZaUpCNHA2b05qMUgxeHFPc3M3dFFEWTBmeHlEUDJEZUVJcTAzQ3g1Nzh3RGE3b1Q5RzV2T2M4QkhsZlkyZjR5K2tBMXRHaC9HREY2eGZPeldEVmZhZlF0U1JRZXRXV0d2OW1TYWJPQVBzeHNHMDc4ZmxXdVpUZjgyMlEyOHRYa0w3M0ZLYmRHTkRPZ25wOCtvTkYzT0ZvclRpdVRpN3h0c1J1TGs3ZHRkdkI5N2Z4TTJWTURJUXV2VVdKZGZjVk4xSGtrdDd5OWZIVXF4RTlNZ2ozVUlKU1VuYVZaYWpMS2hZS1BEN3YrUnN6d1UwNWRRU3Z4bTZYdmRSL2RoTUh6UDZZZmppZng5dUVydGJRd3R2Z0o2VzhybDI5aFdzdi9zdmZJVFljYm4yRHZSRWJlQ1NFeDFaVENjYmVSZDM1eWdJU2ZnZVV1U3VJMGtGRS9rM3ByRGVEU1BnVW4vVG1mT2V6MTREbHgvelh1SEsvb0JIT2lnblVBNXNiQm5ranVYdFlxdW9XYzdhVmEzclZRUTJXTjN0L0hUaUl5c1NkbEh4UjlVYTI4M2cra0tWTDlsR2NUQ1dEdDVwSlc1dTE5eHNIWWd2YjdRNnJkbFN1cGY0M3plMUdYU1p1UWFiYzJhdVRGZzM0U0VhM2VSNVk3SXNjRDIrV29MZjVqOGFtbk41a2RVODUrckV6WDRwNnJDbE5aVzF0bWRVY09UY3FJWEhmT01QR21ESjJyZ1Nsc2lVNzVlMERGUVRUcjM5VEEwUWJQVjFYQ1ArYnY0a2x5YnBSbDVJb1NNODNraktjVnYrYXJrdnBYTUE0SFR3ZnNEQnJ1YVgwOXcxZThGTjN3Tkx6SVVpRXlsLzJ1Q3c0aTFOS1lPVjgyenhmN2o3S3JDcHovbnlnV1F4YVJoYVF3alJqSkVxa3EwV3I0N1YxaFdoMGExaWNIeHc4Z2lsOWxWcFRRT3RNcEtKQnBMaUV6UVl1bEZJaElsRjlQUkRVR1lTODZlQ1BWMzhjUFl1cmpCSVJ4cUpQRWpFdjgzM3ZWbmtxNFVLQTlSdjIzV2tWZ2RPQS9tMldLYlNRNVY0Wk51cWo1OVBhRnpKN0lRVDBBck1QaFdkcUhKZDJCRnRpREJxY3hSNDBqYkpKNjZMeUhsU0JscW5SRXorU1FTVGpPYnlrbWtZMHZnTS9kalcwS1hCVzQzYm1kdTh4d0xYUFBBUndYUEg3K1VFZUhmanZnUC8zelNKZWVnSTBvUFVEYlRRK2Nlb2plLzM3OStCbUhCL0lnS0VwTGdXNU1kWnFrVXlVMW5nQ1p3TXpxYWQ5WU54M25nSGxlNkVPR3gxK0w0RnVHc05QRjkzWUNXbDNIZ0U4WDZtUjVjVUZQS255VEp4WE1Ma09aYVdSQzd4aDhrTkcyQURDUjZJMTBsVFZCSXVQaUlOT1p5VVpSMy85UVg5eENaVitxQzRZeWYxKzI3bmpBVkNCY1llZGRUZUk3TWxqUFJkK2RpT3psM2ZxZlFCazU3N014aFFiaWMxTTVzMklheUg2Zm4wVGlmTjMyaHREbTU1TzVaTWtNdWIvdlJrR0ZmdnJwYzJhSlRyL3Z4YlQwbSt4R0oveGU1OE5tdjhaNVNRS1k2UzJJTm9ZVFZjRlY1Qnl3d3ZSM1F2VForSWg3aXdISUR5Wld6ZEV0cTBTamh6bTBNc0oxOGtHNlZlVGhXRE9mRlEzZmxEQTBhSy91WVlkMXRXYlN0c2p3NHNrb3VPdHVtbjBlNWN6dTdpTkI3dGcrU25CS1NkRG0vZkNCTXE5ejlHcnVHMm1ubVVSV0NETlRZQzdJRlJ5b2tZekwvZGlxVjNGVmc1THo3UHA0WUdweG1nTkJIMmlhMVpKVVA5QUEvR084Qng1MmtySW54K256ZXhDejVFN2prN3NTTGcyWFpLeEgwdFlVd2pZRE12cCs5bDhka2o5YzBMb1liSzJ4clhDNHovVVF5akVnd21jblMwSFNPakpLdDR1cXlZekNsS3lrcmhLZHlkMFU4Uno0cjJSMUxkbTU4bmk0WFZIajdBM21GVnQ4WVN6YWFvZWtQMXRIb2N1NjVTdHVKazRKcWxVOWM5cllGTVdUMmxieE82RlBQZkpHUEhjYzVUSTRCaTBvOWVMbmR1UVA5cU42V3JlZFlPUU5UeGNYZlNwbEhvb1BlODJkRDNQcVRUeTR4TzdhRzdTY24raW05TGZ5dUtxV0IwSTZma09HL1BwODNRNkcwV2Jua2JzVXpEM1hQUlcvYjVSbXVDdCsxWHNUVVdqbGV2TVFZOUNGdGNLYWk2Mm1aNDBieVhxcEMwVXl3N21YSk9iY0UxZEZQSTFCUkpsTGZ0OEJ0c0owY29iR0xEQ2ttYU01WEg2TDJBMlY2TkZVb05WUHcrSytuejV3NVo0TGt1c29vNFAxT1BQdzVmcjZhTnRSUk1MdkpucGs5eDJualVXU2JJQ0gvVGxBUjEwRDhDZkFMN1VoeitabjVPQm5zNTNpN3A4Z0ZhWGwrQm9tU3U1emc2LzdmWkRWV3h1L0lWUEhMRzNiYmora294a001d2pjbjBoUU1SOGZ1K21vaG9pZmhpT1ZKanZEdGwrVDBZaWxjdHdSdE5nanhKeTV2bTZiS3d3TmQ5eE5nUkFTT1habXhtbDlVbjgyVHlCMURhd0V2WUZlNUZxd0NnTHlSS3lpSjNDalorSTZ2K1I3R2ZyR0VsZzBTSmRlTE1LQnVaU09zak44eGVlTHE1OFVnNGdqaFBUUFJGbTZtZkhSYWYrZXhEZWNTOTNMWmVNb2FaNWRjMlBucWlmZTBFSnVHVHk2VFBTdDN5RC9Fa3hnLy9CbUUrV1BjRE81aGFyd3NrNndDZ0x5Uks4amVWTkgzZjAxU0tQTGJTcFJjVlZFMElPWFB5bmhJY3FGRjFMakE1d1hyNHpodFNJQkdaOVFqTEpaT1U2cHBrK0pUNWszWllTNjV1ekdpWGQySHNiSEdNUE1PbEQ0RG5qdXhjaFZFOU1HZ2tyNDA5QUczY3JPakhVcTdXQVVBeENOWFVFVUhodU90VzkveXN6LzRXMm5xSEo5bmtDaTVQeDVoUU42KzhqQ2dhbVU4SkxuQ25Sdms1aDAzOEdTTjUycE1EdlNDZFQvTHBHekRNUXlaeVhhZE96UndEdlcyZ1pLS3BwSmhrMXo1WVE5UEl0T3NISmFPNm1xUXY2MThMTFVNQjBVK0N1RlN5WklienBmcmpzdTJLZ2pBVlB0VlpMNUFXOEVuSFV6NTZGUlN5aTY1ZUc3clFYV2gzb2E1dWh5NWV3WllsWERtRStYZUFlM2tTbE1SSE1CcVlITzE0WkNtcUpFSEpUZU0yOExCZnNiK2w2bkNwbUhjWVRPNG5wVm1vaExQREZMYmZ1eWtiTU00RDRreFhISzNvcWxjWEc0SGthSGVCbjBtOVY4ZWt6MWFUNHA3UHZobGUzOFNERXZyQW9WbFIwdFJWU2lMRFpaUWhvdzNmWTFjeHBJcHN2ZU16aXA4S0ZzcENxWElva2ZZMVFuWmhpbVlrbG00Wkd6SkcvbkxJNCtEbTFCdjA0WlBQcE5kVnBEK04vc1NHaVJYdXV2Z1doanZsYmZ5d3Z2dXNUVWxaMlNuU3NsdDZTYUxuU1hhdU0vSmJWQk1kL3ptaEd6RERQeHlJZDJKNXVkT3NXQ1ljTnBtT3JyZWxwOFo1YVI4UkV2SDd3dnN6K1YrMVd3eUJGbVg0Z3JlNWRBUloycGtESGV0U1FSR1preWJDTWxOajFkYW9qSWZtTDBqdytJWWV1a2lVNUc1QWhpUHZ4SVU3RTNHTnN6Q3BsVnl1YUtUUkpwbWIrdXFCWXFRRVNIekp2d1cyWi9MMStHenlSQ1lsNDhSZUI4bThEUW1ta3Z1bUN6WmtzRktaWkxMTGI0TnpjN0FjSzdvMkJ3aElDazlNeE95RGJNd3lYZmM3RVVMWUN1ajNaMDdWRE9la0JFUkxSKzViNktPaEd2c0xIaVZGNHpRRzMyTEZrbkpkWE9idWJBV2xHdHRkSFVwVXlHNVVuK2xMSkUrRzFjME96cDdFN2Y3K2paL0NMYmh6YUMwYjBoZjM4cFByUFNTWEhLUG8xUXhSS3VaamQvYjV0NG44Z3pVRVVPUXFCMUUvYnRvVWR0OWtmMjVYZkNYN1ZnamFLQkFjdkZFMTIzOHBJbkxXdXM0bWxWS0xsOThXTk1NOEdGcVE5L21ENEhRYmI5MFlCdTIxL01USzcwa04ybVBvMVNoYzZXbEJPWHpQSkt2K0M0Rmo3MFE1RzBLc01UWEY2T2xTNzAvQVgrcUY2V2lESTREeWNVS212RkFVeFZXbVR3OTZxaTRJb0ZoaFRvWFdzUWNsdmdqbFI2Z0lpenp2ZGc3UG9IQWJqallMVVN2M01LOG1mdFJrb1pqQ1RxWjIyZHRYeGhjSWNZOE81N0VKamJnakIzdG82U3ozbmZBbjNSeXBTenJTc2tkWnBSNWszNG5wT21YLzZhWmxpY012REkySTMwdFhjTzQ0NlVBV2JiT25sQVZlc1N4bnhUWURaMjloSnpUaU9ZMjBuNjBZa1RLNlFUVUx4ZmFvTGRwK0gyN1lWNnE1aWlGMHU1YjRDK2pBaGtFOHdvbzM2L056Y2RKU0kyOXRYQTdRYTh5eVIyYTdseTB1QVBNb0ZZS1g2dEtOQkM2RFhMZWRtR2E1UkdBZW8wUHFUQVZwYlJneE5oQWJmMDlVYVVlOHZ4M1hTN0xiT1V4RktFRTlxUUtqYVFrM2c0RHJ4aXM5YlhFVE9NUzJ1YkRiM2czeCtVZmwzNFFrYTV4K2JPa0Q3U2lFY1dPZ0puL3ZMSlFpZWZWMWhhNEI4SGxjaWV0OFFvenhVQ25XcDZ2bHRDTzc4RjFEd1ZWVitwaUdCRmNEUjJ0WjZvc2UyYnVuY282M1RnS3VsMVhHZXZaNitWdmlxNnBZaytlK3MxWEVka0QzWkpHY0Z2TmdFaDZyMFF5MzRDemJzdVlNUTUwOXYwaW5naGRsWk9jakhTcXljNDkvZkhIMHBkREd6ZUQ5L0FtWGREYjFNZmtNZTNrVHA3ZTdXcTRVbFM1NjBOT0UxVGttTUFWbi9tR2NYamZtQktXWkhRWjFiWUY3N1dXSE5taWpvd1hNck9WSEp1YnUrUnZtcm00QlZpR2FZTHhHTThlRnhlU2JidzlLMDFJczdLcGhibEhaVE5XZTVjRjNRdkRCTGZTRjdsL0FWZFBxckcrYjArNGEzNThaZis1TVNNN2Z0cEtsdnk5VXRlS2Jaa2FhajEyTXY3OHpiRzhyWmEzZ3l0YUY1ZXIyMllrQjAyK3VXM0dadzNEYU53VlpVNGVGa0xTWE05S29jcjhmR1NKMDBlc2lKeGpYeEtDMDM3Sno5TU5wR0hsek9VUFZxcmlPSUd5WXZoVHNmU3MwZVJiZ3ZsTytIR09MaEpQdlNJN3IvTS95Ulh2ZUtiME1aRGNiRzdwMUtRYlEwQjAwOHpPMVEwL2lMcndGY3gxVjlnWHhjRGMyaXRNc1VRQ0dQWXRpR0tzM09lVm5MeUlmbmNNWGJ2TDcvam5CSHd4T25sSlRJT3VGSjV5KzJTVC8zT3ZldVo1UVpjUGN2UEtnWmRNZlZSS294VllLWjhUUjFxT3lwb21EUTNKM0k0VWRMLzRFKzl2Y1RsbEgvM1pud3F5ZittOUlvSTk4b01weW8vT2N1VDMzczZyNEtZNWRxNWJCR1YwK1VwVE1YOVVDNzFHUlFmQ29jU1BCeDVBZFlrVHhYaHFZUDNObjI2M3VTVTFESFYxbzNocFFhaXE3SVArSEhpYjgwNzNpM0dCai9PdE9jNC9lUy83bjR2UjhVdmJ4N2JDbEgyeDlVVjFXMURqTTVQZ0F2dkZyZ1dYZmRocGZCenoweVkrSVRHczNKR1VpVnVJaG0zR3VNVE8xcHpmZGIvQmNkNEtkOEt2SzkzNmJ2YkNvZk4yOTdVNC9lUnM4M3EyclRDWitBb3lkL0VRVk9XcENUeUlzOWJaTzFKblQ4ajRHY1llY2huNzZZVGtiTkhjN01sV3dwcDc2Wm5UYnpZVE91SjgrOGR4anI1VVFFdmlZUDNIY2JCK3FnK0ptTVRpNGU4RUJQNFUzV1dlNFd5SjU1eDhURHZCei9nRkJsYTV6RFFHK0ZyQW5tU3MwV2VuZnZ3RCtJQkM5WFBORXp6d0hMVjgyWHYwRHlYTDBkK0d4L0ROaE1jZmZ3eWZNNUJMVGRmWktUNXc4TmpEdXFHODFEOTZqTDN1Zzc0bWl4TEpmTSs5ajV1WlMwVUxySEFCZWswMHRzSjdmT0RsNno3QjZhODhlMVpZRlpUTFp6ZEpwLzJETjU1K1RFQTk5NzFuLzFMWHVmenBONTcra29qL3N2ZU54UitGSm13UGRmREE3OWlUOHNaeUo1Szg1T0kxSDh2RnRaV1g2cmh5M0ZPMVBTN1R1UFJsNy9RWXAzY2NqOHQzSWRJUDlLSkRIZHM3d0FPL1dUSmpuL3FCWHhCU2V2ZWozLzlIQWVrNWYxWno5c0hLK2lJM1A5ZUtOdVNBZllTZlVwZGpFQ3BhY3czTFl6aXVsK0VkeHNqRkE5OEtSNVZ4eDczWUw0YWt0SU9ZWHc3RmxGR1Bwc0UxL2JHK3pSVzY3azlXVzFVNEtYSXhOTlZDUGYzdXkxVDVzRmNPYjB6eEIyNGhIWFBlOHpkbVAyekpXRm9VWDhiZUtVaHQ2TzhnT2luY0JRcnlVWS9pL2RMdHlETGJKV3pTN1RJcCtyUXVRNDdDWS9lQThXUFRLcnhRNDI0eDhqQTRCQlJkdGw2TTBQa29QYWkxNVBKNVRSbk9wT2l6YWtmSlhpOWxvVDlhalhuZktteXdOd1Avb1A1R21Vbi93b1c5ekZ1eEpna1JIOVZ0Q3lWRmVUaUlybS8wN2xkbzR3cHUrMFZWQkhZUTNSU1VMaWxuWGxFWVpybzhST04yZlJ2QVIvWG5LMkN2RS9FRnhyNGxXbjZkdzhoV3hNdzFZRmE1SmdwZHRxM1haeVkzNndYNHhHR3Z2bzFZQlh0VitJQzhNTmxscjR6OUthTmhiQloxNGh6SXhVNjVIV3AwZmVjOWxlOS8zYTl2STQvQVhtalRkRG1zY3BmRkhZUFVnVzBCM0Vndkk0aW1GSHB0SGNaQ3NHRVBrcnRkQmtlelRZTlBnUTdyMndUWW82VXZSS0Mxdkw5dTZGYmpPMkw2cHFvUWhvOUNkZzlNL2wyZk4wanVjVlZjemc3ZGtqYUNWTlhnSGtSc3EzemlmQlBCamlMYmFPRTdZcFZmTU5rTGFYWjA0a0RUZ3RKZTVleld2Z0wwMzNydHVnd2pOb0NJN1llanlyZ0x1M01mcU55dndIbUdqaWprSlZIZjFNUDN6NDF1VndZY00wa0RZNWpjTDFWSC9sMUliZ1hHVEJ0a1ZYTXIvVkNpcXNYaGRwbSt5eHpDTW9TY3F1S1piV1V1Zis0SzRCbGloM2h0THp6dEtoYnBtNmIrNjc5aUlzM255NEhCY0orblByd0JzQjZVd3pPN25ZZkUrU3FEWjFqakRUZDRsYWlZY1pqd3NIckdiT201NER0aUNWbExpK2Irak9QODFFNjBpZEJWYzdYODVHYS81RERzSHFwWmcvald3Q3FHaEpZZWVwY21wcis4UW9NOFNrdXpSeWtKdkFBQUlBQkpSRUZVNllCMEx1UzBIM0lQMVV4dytYRWRWUXdKcGp1M1UwWFBzT0xZS1FJMS9IaHFmdGNyMUFXc3ZNMWdwRnRyRk9ENUNLMFlsQVF3TnprM2ZGcFBuaGF3UGJPeEExVjVKMXNKSXpmOENmelZLbkVOdE9FZ295N2ViMEhqcTJyQU1DMlI3dmN5cStJbmFld0lnbk11WGpLWTBOVXVNbjUwamNMZ2ZtOUNQTmUzR3I2WXRGbGY5dkN3cTNoSVhKV3ZpVllQQ3kxclpRTU9hak8vWlFJTFlUMm9qbTgxMmM5VzlUbk1EZTFUNTRXSXBoS3hVckZmQlZsQjhHMUtIRXFsYnljR296Mi82OXpWc3pJK2JkMjJWM0dCWXFGOThxTlpQVTVES1dMbFZ0VU1wanNMbnZMdWwxdUJsUnJHdDl4YWdyc0g5d09xNWJ6L2JtVnhoaUtoZlFwdFlLcTRxWDFqUmwxaVZSaDZoWlZ3RXQxZlhtSWRjVko4VHBIWE1qT2x0ZVlMOXZHR1Z4TFRyV1FUWVdtc2VzYUtRV2xFSFh5RFcraGFMZzdLU1ZvaStTUlNhTTF4VXRxWWVQTU1MV2liUWx0M3hsUTFJOG5RT2pkcnpDb2txNG9oQVdUdjRJeTBGaVI0a2pzQU90cFd6WXA1MCtqQzNTSXp2YXdWMXpaL1g3cUhhc2tobjBWWHNLODhjT2MrY0k4clhZandwSzREN1IvSVdtVVBadFA3Z3d2OXJjWUw5bGxibGpjL0h0MWEzckxWbCtNK3V3cUdCTitkaSsza3ZHY28vMzcxelZuTkwzS1FWdk9hWUhlckhwWmNOVUQ3VkxFVkt4Y3Zsa0pjeExZczhRV2poRHUzTWNCMjhrR0I2WDUySnZBS1pONStZb290d2h2Wkt6OW5KVEJjMXRuWTV5SzJYejdrMEgzTWVmZjlUUWVud2s1eXpJRWpWdTA5eU5ZcTdoVGJDNHB3VzJjblcvRnptQnZMT2xYTWdNcENpb3NZNUt2c3F3a0pXaEZQSCsydlluVTVnV0h1Rmt0SUdoTnRMajd3Z2Vod1RQN3puM3hVeVF5b05OekFYazRsTlpLRkhwWmYrcUxIY29rSVhxZ2RXYUtreEZaZURXKytMWWplbG50Qm82UjIxSURNY0pJcUozdDdUd3hmVVBiU2lTVWdRQ3pZVG83UUJOY1EwWjZ0Uks1R0pVQmFWUmR1NTdlV1IxVXhZMmw0aHZzMVpybWpONENYeVNYRVZXNG5SdzFWMkNNSjNFTG8xaE9TUmtldkdsMzRaS0xEeEdpK3BwYWEzL0NhRE11dFN0eXRmSW9qNS9oSENNdXBUL1Z0d3FDZmIxb0JOdVhyazA2ZlhBdml3SXc2dXhiNE44TTN5cGNuMzUzcjArVW5RSytYWDBVQ1JmaW44K0hkTk9ZamJ2NDE1QVMyWmpBYXowMTE1UnF5ejMxQk8rWHpKZHk1QVZtdWYvT3B3Vng4UWVweStVb09kUC9pb09TaWtZdmh1aFpxYTBEcXlDS2YrYStWejlncXlDcXEza1MzaTNWeTZzc1RQWk9HQzM2Q2MwcUZVODBDdzBwMFdtbU41TnNLU2lPbUNUV05pVG8vWkgrQzN0R2puT2JQVUQ4bzdCcXJZQ3VIUm1jMlFsNjlCeDc0Z3U1WEFHVFBtS2c3cTVEY3JRb3FzWk9FZVpiTGZReVdqd09LelVueWEyL0Y5R05oTXVXYk1FeUlkVWlWOUFHVVdXUEx0TzY1WHArY0RzTVVMVmVMSUxuU2JPcFBjb3dvRS9ZeWFlR3AxWG1DNW5Uejc2MGFCUk5rOVk1S24vQjJNVGZmK3RkUWlTc2NtYlhXTmdyWVNnUFFhVGNycmFBZ2NUd3ZMV0lGYWVuaWZISytvVzhIRTkwdWh5Wko1YWxaR0I5Q3NTQVRYSHE1N0kzeGRjeFNqaE50UGRXUzdiNmVVWmZJSHo5VGNVZlRhK0oyWDk5V0hHcm5hOUtCa2x4TTBMWXE1bkVHeUxkcXZUblhjYnhLZWhaZmZERDBIcWFCcGdxdStMRkJaZVo1bjZHckpIZFk4MmRXTVg0K2VaaDR1YVlMRTJFT2xSUjVWM1lFajdDUjVORExjM0duY1I1aEdsSERpS1NjWm1wYnNleldlMm95b3VrbEptRVZmYjFFY3FXVHd2cVcyaUJWSW5Ib3J4QlpTTzRFWGZ1ZFhJNUkyQWcrQWpCMXRrckVZa1pKSFlYc3ZmbzFBaU5yRldQQzBIVG5vdFdRcFFrdXA3WnppUjRzbkUzeGdOcnMxQS9VNzNGTmtLTytoR09DZFdhcENoWm9kQnI5WHlPUDdlbklmUnJ5ZzRndjhBaVN1NWVtWUNsNTRJbk00VDZHcWowVTFmZkpXTUJ4QXhIZFU4cURLWk1JMU5QTkVMM1B1b3o5YS84SmluaCsvN0hOVUpZVU54RFVrT3p3RFRqcktjcVZrd1dHYm82QkJNOXFtOWNQajk1ZU9Yek1NcFY4dlgrQ0xUNklES3dQUXNSZ28rNEhMRFErTHU2L1BpTkhmSGZZVGJNTTk1SzliRVpVRzg3bkhHajVxNzlQMERJRW5rNjc3djIzRXo2eUVEMU5YSGNQZmRINmRYYjJ6dzZmL3U5WjM0RGtyM1RkTm9XVGI5ZWRvUEdJeWRhT1dYMjY4SUhmekVIVzFxYWpQbU81T3ZrV0lpZlh5c2hLNllCOTZIRDV5eEF6Y1ppZGM0M2QzK2E4L05EZHpTd3NOWWFnY05Nc0FkWE8yQnZNbUVyRDhNS0ZqSlYwbFYwUnE0bnpwSElCRnd5dVdtOWE0RGFkT1lqUHMxL2hEL21ISVdaY1pTNTdwMnY4SHFkOTdJcWZOUCsrK0JQdmIzRTVaUi85Mlo4SzhuL3B2U0tDUGZLRGFRaVVrY2ZMSTM0THdqcnU1RkhYWmZCY0t4b1lmSGRyeFZDVW1ZZ2RmaEJNYklaNGJ4ZGE5dk5NSHBOL0xmMk14eGRiWDFTM1JYMThIU0s0Z280UVphUDArMjdZQ0VwSnZ3bEQ5MEgybXBTNXozVzJJK2xvcVdzcllSRGVObmp6ZHZ3Yi82eXhaVmV0SGpSY0k5Zm9ZSWZkZU9qVzQ0OC9kdXVHWEl4WVlxYzNicjN1OFZzM1hONGRKbktoUjI1a3Iyak9PL1hZdlVueG1KMi9DWllZVEhMbEtFKzdtcUh0QlN2M0pRM1lwZmZ4NlZzdDFTZDdNbWttZmhzdXkvUG0yOHF6WjlrOWdETUJTRVltb2JwdVppd3k0ZXpoR2VRVnRTakJsZTd0dmhKa3g3bFU4NFpFY1R1bys5UTR5bkM5N3A4SWFiUTY4ZmFQSHowVzdJUlZVM3RYOFFpbGU1ZDlyYnAxNXBWUTY3ZzZoN0NVTzF1alJMM0E3TlRWV0lCS0Zadis4YnRoUU5ZOFZqZDg2Y0RjcHpobnVpQlVydm9HWUM3TVdGK3JFNVp3T2RWMGpGME54QktMc21zR1lpZmIrcVlUZnFObE9iMXpRZE9ZWnVoQXpnK255Y1NzMW8zZExLWmMxS2daWFVqdUR2aHBoaC92OEZEenlQZUdHN2VPY2pQb0xMVU93YnV3VjJzRzY4emNNRmlKcWgrUHNHTEZGdFJXZUwrM0tia05qNWwyYnNOZlZLdGZVeEk1OHNoY1NNUm1UQUtNaFkweFdhYVYzSVhrSG9zanozWk1Ga3hyZ1crcE5UYUh6NXkxZ0plYTZRUmM4K0ZtQ0YrZTVCNlRESHdoS3hZZytHTjl3cFJOM0Jzek5JZjd4UXgvN2tvZTkyZzJwa3JPalpXN25aSkpYaFJ5TmQ2Z0RNOEJYOWNkc05lSEhzYnFycjU5Z2tIcGF1UDJXbzRkTEpyWVZFS2RtdThabVFvb2FTcEZuNi92RktHRmIrWmdKOWlwT1FkRGhDR2VyWHQ4dThHT2JHbDNRNFptNWhlT2szRHpab2J6S1RQYXhmcHBiYThuMlR1ZEJZKzlLY3pna3A2R1hZT04zcE9iSFpHcnRSL09PZ04zY09uZW5BRTI2OGVpVjl2NUdjZXF4ODVjRm52VndkdVdPQTZ3T1lidkQ5L3lJK1puY2JiVHpiUFZVUUp3Y1grdmlYMkN0VzEvNDFmZHN3L0Z1R3RLdS9jNVlRSEQwdVVmTk1QVnFmYzI0MWhEUkFUZUtkcXpwMURzQ0FRNjdMVWpVbXVhZERYNG1zNktMN0Y4Q1ZqbzVRZTF3VnRUenExc0hlVGFNR1lsZFhFaThkRFZ5RHREcmU2OHlKbGQ4Z0pKZlFDaSs1ZC80MGQvM0hBeXpGQmorTkU2YTdQRWJ5MTRQWmhObDh4VmR1Ky8vZWluR2Z1bUFFUk0wc1ExbzZQdU1MeEdXQXZKcURrVE1MSDJhODZpblQzK0NocGpmME1tTHYrWXVCZHZwOG00R2ZwZGlmcjlab2ozS2JIYW5VMlZDN1IrOTdIVFIzL05RTzJySG1Pdk0rK05wQmtJbnN6aWJHT2F1R0xMQWhsWTAzd0FzbTY4QW5jb3cvU2JBb0YzejZ6S1RkRzRtY3JTcE5XSVRNL0xQZDNPbEo4eVY0WEF3Z2UycWlKOUx1biszUStmeTJaUm93Z0JRb0FRSUFRSUFVS0FFQ0FFQ0FGQ2dCQWdCQWdCUW9BUUlBUUlBVUtBRUNBRUNBRkNnQkFnQkFnQlFvQVFJQVFJQVVLQUVDQUVDQUZDZ0JBZ0JBZ0JRb0FRSUFRSUFVS0FFQ0FFQ0FGQ2dCQWdCQWdCUW9BUUlBUUlBVUtBRUNBRUNBRkNnQkFnQkFpQjg0ekEzM25HZmZTN3puTURxVzNuRTRGdlo2ZHZickcvZWo0YlI2MDZ2d2pNdVhmM0hlY3o3QTNudDRuVXNuT0pRTk0vc0xvL2s0ZHVuOHNuUW8xS2hjQnljTFQ2SWgwOW1nb3Z5bFFYQks0RUh5cHVSRDZ0V1JmK2lBOUN3STVBWUN6d1QyYlI2Y1YyaUNpMmxnaTA1RGNudTJ5amxnd1NVNFNBRFFGOG15T0lYcVdEdDIwQVVWeE5FWmhYNXUyVkdmMEtWazJCSmJZcVJ1Q3krbGpxSXB2Rmo3MVdEQStScnkwQ1IweCtjSHVldnJKZTI2ZEVqTVVST0dEaUE1cEl3QWRBOStQcEZFTUkxQk9CSG5zNVlBeVN1MWRQSG9rclFpQ09RRjlKTHI3M2V6dWVUakdFUUQwUmFLa3ZxME55TitySkkzRkZDTVFSOEV6SnZSbFBweGhDb0o0SWFNbGRZdlRseVhvK0krSktJL0E1OTlYSC9wMnJWczRndWVzNkI0VUlnUm9pOEFWMnlrNlBCV09NSkxlR0Q0aFlzaU93N0o0ZEx2UmZJTW0xdzBPeHRVWGc4K3dseDVuemZXQ3VtcUdSdFZEYkIwYU1CUWkwc09Td0hMakRRcEpMdmdXU2tUb2pjSjJkT2s2YitadkV0RytCL0xsMWZtakVHeEE0NGxzVk9zemZtRXNyRVNRVE00TkFuLzJKNDdRZ3VZZGdlVUNydnpQejRDNDZvd3VNN1hLSjlYVnVhTWZOemtYSGh0cGZad1N1aWQyTVErWnZKRDlSKzNPdjBpN0hPajgyNGcxbUxuL3o3REpqZjhyQjZLcDNlR2huT1FsSHZSSG9zUHVjd2ZjOHdzMWM1NUovaDlBMTduS2dpeENvTFFKTXpjazRpL3J0czB0Sys5YVdkV0xzSWlNQXR5MWNDK3JDeWxrUXByZldGU2dVcUNNQ1Z5S2JHVDE1dEUyVE5qblc4WGtSVHhLQk5tTmJNc3gvVCtSdG4xNmdOSEdoY04wUU9HRlN5ZnFjWFE2TWgyVTZicUZ1ajRyNENTR0FKWWhOTTJJaGNDNWM4YjFrWmhLRkNZRWFJUkNzUUdpT0R2enRqbVFzYUVnb1ZFTUU0RXU0RjJacnlUM2JkNXcvWUs4SVI5TWRJVkFyQkJhWjJrb3UrZnBPZk9Ia2pleUZrQTBoMCtpWEVLZ0pBcXRoZDY3ZzZ1M1B1QS85S3hMY21qd2hZc09PUURQaXpyWG5vbGhDb0c0SWRPZ01wcm85RXVJbkZRSXVZOGVwTWxJbVFxQk9DR0JidWZ3dVJKM1lJbDRJZ1RFSTRLaFIyc3M0QmlOS3JpTUNlQ0ZDN002dEkyL0VFeUdRakFDY1l2SjAvZVJNbEVJSTFBNEJPTVcrVWp1bWlDRkNZQ3dDUGN0Q3hOaENsSUVRbURvQ0xUcHFkT3JQZ0JqSWd3Q2NZcnQ1eWxFWlFtQ3FDT0JicWZRQm5xaytBYW84SHdJNERTVDhSa1ErTWxTS0VKZ3dBbmg5TXZ4R3hJVHJwK3JPS1FKSHI2MjRZWERuVG1jSmJmbFVuRXRTY2ZPSS9MUVE2RlR0YTIxT2F3bHRubDRzbnBaUVRhTGVSdWdNajg5Nmo2NlZYU3ZjdWROWlFtdWJSc3JTTTJjL1YzYkxpTjQwRVZneFAxLzZJSHZVOHo5Q1VpSkxjT2RXcmRidDNKNFlUWm56enA0MVcyb3ZRYkgxUktEUnN1alR5MnhiY1h1VnZjYTVtczczYXFXbENJVUNtS0RoNHliVlhrLytzWVcrSnc2TzlCTjZwL3RPai9iOVdGQ2FoYWdIYlc3VjdwbG12WCsyaVlQRjVYZlFkYndsWktWbHllYzRmSGZ1SFd0S2VaRnpIczd5ajE0THhzbFBpK3oxam5PRjlyZEhNWnFOKzg5WkZ3VDZXbERGNDNVTzBqZ0M3TFNzT0dCM2J0VmZwVjRhOEs5UVJLOUZRMUJGbjF5aTcxMUdNWnFCKzZlLzVyc2hRWHN4VGh1R1B1d0x3NkZ0UFBCWWRoR1JSTXVlRzd0ejVTbGk5Z3dGWXh1Ly9TV1gyU1MzTFErTTVNZWVjc09oRVRvS3RXQzFWSHd5Q09ERUEvYUlUWEt2YTZsYThSLy9wWEVhTXBHV3ZTbHc1NDd0Qy9hUzZXTDdPRUNuYjVQY29UNmQ1TVR2cys3ZGRDUXBWMzBRV0x6eHlDZGhjTVoxcmpGQk8vTHR3aXVHRnJZMklKR1dOVGVPMW1mR0pOQ2VwMGpzZXgvNjRIYlhKcmw2Z2lZUDNtdHBMVnlrUmlvN1lRU3NrdHZVYWlnNDFQWmFtbFBxckxUczdSbENjdTBwNWNYYUpIZE9qeDJYZ3k5a0R5cnRRdVUxaHlpRkViQkttNTZnWGZXL0Q0bFBONlR3dmxwcGhhdVRkNFBZY1hneXBieGZtK1FhRTdSZUlNUURXbFFyRC9NSlVySkptekZCYXdjU2U4VTI4a2JadE5HSzVnbnVNWDB5VmdRU01oV010a211bnFBMVdDQ3gvTnZEZE0wZUFqWnBNeVpvbmNEOWVTbk5XcTJObGgyUlpSZ0xGcGVWUFhQZVdKdms2Z25hdkR4ZjJtVTdlV3VnY2xORXdDWnRsOVFSSHBBd1h5R3RwbEdSTmxyMnB1SGpKbW5NRDN2aHRMRTJ5WFZma3FXUFpOZWhRNklrSkxQMWE1TTJQVUdEcit0UXRLY2RQZXZXMWtvYkxWcys3a3Fkd09LdlJYS05DVm8vV0gyRzFiQmxaNUppYTQyQVRkb0dhamJXRGlabzhHSTlQNzRaTmxyMlVwY2d1WGZzU2VYRldpVDNtcHFOUVdBM1JGVmdlcWU4T29uU3hCQ3dTRnREcjRjTzVRTFRVSTZ0b3hpejBFcklmZ1RKM1VoSUt5M2FJcmx0dFlpTjVlZGpVUk1DK1dab243dnhsb0RWNWQ4cWpXY2lsQm9CaTdSZDFVcklDNFpVcDUvR0xMWFFTdURqQkpLN2xaQldXclJGY250cTVNRFhobjA3Q0liTGZwNHEzOFllWjIvd0N4NlFSemdQZ2dYTFdLUk5UOUNRdU83VDl3SzMvY2phTExRUzhuY2d1Y2NKYWFWRld5UlhUOUM2OG1VaWlQQmFqaW9iM3ZzY0wxaXdjWE5xN1J6VlVoR0ZnRVhhRHRTT1ZYejBmRXZraEZWb2Z1aFVsUTRITExUQ0dkU2RCOG5kVm5jVkJlS1N1NlMzR1hma2xMT2Q3MDNPYTlEZWZWOWJvOWtqWkwveHJ0Lzh5Vjl3dHlwcTQva2syL0RZalZ1dmUvenh4eDYrSVIrVGM1MmRQblFMTVVwTFdLUk5UOUNnai9ZRk5qZ2RZWDA4U0JaYUNZVWd1SlV2L21KV0dYVVo2d21hNDBuenB5bVZid0tyQ2RFbkc0NHo4TTBxV01xYkNia1F6WWNYY3J3bDQyTkw0WWR4eUV1cVVmNnl1TGkyZ2hKeGFWdldRdG9PTXZPZjI3WXF3bkZ4V3VGMGRjYzVNL2F1cS9oeUEzSEpQVklUTkF3aTZub2hUN1hlb1FQcDMrSkZyNDFzQzFZTGNSM3pqSFNsUmVCVFAvQUxBcmE3SC8zK1B3ckt6TDFYeEp4OVVHcUp1TFFaRTdRRGtkbi9kenkrMWppdGhESjhYM2t1ZVVtZ1o0K09TNjZlb09GamJPcDYyVjU4Wk93S1ZBR1dhWTU1cGxVMW90bUsvSVYvemlHSG5OT1ZDUUcrZy90RkthV2lKQis5ZmxuSHhLWHRraDc3ZXV6ZVUrSTZTbVdXeG1rbDhDcTRTa2dyTHpvdXVhNHkxbkhFemp0RXk1NW1hWGJCeFppNmpGZmNRRVBnMkpXdXcxaXVJTUxOWjVBa2tic1k4WHl4Nm5hb3FTZU1mZGlJaUV1Ym5xQTVMV2tNSHFUQ1BrN0xxTWdNOG9VSTI5dU5acDdpNFpqa0doTTBXRTM3b2dZbzMvVWNWYlZSNkZKdzZQcFF1ZzZUNkxnVEdHQ1M2cDdaZU15eEloUGZBZnNWc3pWeGFXdHBtVkpMdEgyR3FmVFlLMDRyb1FoVStMaW5uVkF5UzNSTWNxOW9LRmJsQUk2dXZaT0ZhSkQzdVQwSE0wRGZ6aGlNa1gzWTFIN0dIUFZjM0NKdHlFaW85ZGNqS01ha3paaWdPVW9mdVlHZ0xYbWdGNzdPRGhYOUdDMlZFZ2x3Ky9sT0pDN1A3V2ZDclBDN1lIR0FVNHRKcnA2Z3dUWU5KbXRRLzdvQmNSNUcxZEFKUElWdVpGU0xVb0ZhZnlrYVIvZmpFSUNNU0xlQ243VjNmek5VSmladDg4cGhocGNMQS84bk1tMklVdHo0aUY1N2lsNk1sa3FKQkhxZ3NSR0p5M1Biai9MQ1RFZFlUSEk3Mmt2V2xyQjA1YzRNZS8yamFuQjlkT1JFelU0QXNmQ0tyeWNtVWtJQ0FwM1FzK1NidEk3RE9XUFNaa3pRa0xZamNtTXU0aGRiZVBaVzlIcEU5NFFZclhCVitxNEZpZHZTdDdsRFB4Smw1dGF0OTJsaU1jblZFelRvNDhEODZVWEdJRjFjaEViVUFGVzZ6L05neCtZb3JlMDRzTmh1QzJMMEx3TUNYbmdxdE93Wm82a2dFNU0yNC9RaXVGMzNSYWJMY213ZFhYT01WbEoycmlxUGt4SkxpNDlLcm5ua1ZGUE9QYjNjK2hEamoyQjFjUnc0N1VrMHRqVFVha0tJTzl6dkdMd2N4THlvTVdrekptalFLdHVpOEpFNUNCdmtJc0VZclVpNnZFVStTVmxHVmZFYmxWeGpndVljQkw0d3RYVStPd09YQW8rQi9FMmtBSXR0dEZKT0xIbUJFeUI3cGtGNU5hN3BvdEptbmw0RW5ldEQza21ubUtLMGtvRG5iMFJvcDNGU3JzTHhVY2sxajV4cUJwT20rWEVLTTVrTDZWbzRHbTF2OFBWZnRYU1hUSTFTd2doZ2NtQTRmUnF0VjRXVGNSZVZObU9DeHRNMlJZR1V3MTJVVnF5eUlJTFA4eWJ3TUtPU2EwelFZT2Y2aXhLcjQ4UXVxUTJPTXd5RS95VDRUY3pwa1RzM0VadkVoTEE3OTRHSVg0RVhpMHJicXFFTVlXc0l5dGRITHN6cnlxTzBkRW80eExrS2V6ekM2U1hkUlNYWDNPN1dEb3lvb1hGQVhzWnE1VURVNTZRZVdFc3NUZTdjUkdoR0pMUWhJeXI1dXFGK1ZXUlUyb3dKbWdOL3JzalhUcmxBR3FXbEtva0VPRmZCMUQ2U1V1cHRSSExOQ1JyOHVSQTNmcWhZL3MyV2c4QU9FODZ4ZnJMa2tqczN6MU50TXNOZDJYK0ZoVVJVMmp6amVGbXMvbTd5SWgzdDRyVlEwRkZSV2pvbEhBSlhjbW9mVGlqM0xpSzV4cEZUL094UllTM01wNXQ2V3ZrYStMNHVmNDduV3JPSVNITG5KbU9UbkFLWHYxSnV6eG1yWGJwRVJOck1DUm8zNVE2UmM4R1FmbDNRRW9yUXN1VHdvOERWT05zd3NXeUdoSWprbWhNMDdGTitpVlBxbXZQWERLUjUxcjd2a29hdmU4MVpHR0g4a0RzM0k3QWlPMXorY2hmQ2t0MGREdi9CbmtGNVB1UjlPQkozbC9rQnlXbXVDSzNFSWdOSTdwM0UxTklTbW1HRjJqRTNEeXo3TXpPUG4ycWQ4K3I1Z0hhNUEyYitLOGxFMm1HRWt6TlNpa2JBZE9lR0hwek9ncTJ5dC9XZDB6WW1hSHpQOUJiU3hBSEpScDdFWUlSV1lqNElidjZKVVNMVldNSXdOS2NQZjdURkdmRFRTUDFUcldNRjAwVTBoYXV3NFhJSHpLWDE1RElIQld6cFpLcm5QQVZLVUE2SFQ1NXV4eHY3MU5QdjZtR1A5Mi84emxNeTdVUWZMNHVvWlc0TnpxZFR1WEZha21iMEY1Wmh1THRFTTVSdzMzanF2M3dWYXZuUVAzMUtLdFdWOEhyekVlK2luUUlxRjR1NmZFcnczUE11ZE81d0o1bm5qakZKVHM1RktTRUVZSU1GL29RNTl5T2hGSEhEQlR1NDlvTFUwQVFOaHU1OXA5RzZLeDkrbklLT3NkRFNpZUdRV0lpUUZZYVRFdSsrN0w1NkxUSFJrdENVRFZNV1EyaUM1c0RRM1hXZVpHK3lGRjMrOUJ0UHZ6RkZaVGgvOXhCazlnN1l6cHpWTzczMGpQdG0wUEdVQjNEbDUwOS8ybEloUmNVUnVJTG41eitEb1pxb0dibm0yQ2xlc1h6czFnMzEydldDVk5GQnJoWDJhaTlrQnh1bHc4RTRyWEM2Y2NlWFIvUk9XU01oT2ZqRDdJWXg5UC8rK0w3VVpEZndwdWd0dkR2NllrQzFxODhFRmpFbnA4K29OTFBpdisweDVyR3pGS0w3USt6dUI5aXJzT1BtL2lDK3d1TTRiM2ZaUSt6K0ppeTJnSVdGMXFteElYTEZ0WFViazVPTEhGNkZpSWoydnkzZDhtMThLOWwvOWw3NWliSVI1QXNSSVhONmJBVno3SjNPaVJydDRTRGRHbHNrbHFGdlR0Q1F1dnc5cDIvWmpPVnl2cDJ4angwNlgweTF0UFlmMzNqMnk2RHduNzFYSDhZSndlaC9welBudlI3Y0JvN0c1cjNERmYzSzJvRU94Z3RmK0pobTRNNWRTSFhRQitCcTYzV0w2c0RqL2NrNnZDWlcyZjBLZjA5UmVwb3hrdHhPekpxVVlKd0puSlNGeDhPKytsdjg5NjM1VnloNGNheHhETmczNGVmYVhZd3dkMFRNQXQ5NHAyZHJMV01RRWVuMHowQ2dGN2h6VDlLdXRnNURFelNEVXBsQjlLZTBIbUsvMm9aN3pIZTVTcDlwbTRWY2QrbFlNODRFSGxHZzBRcUc5cWpaTktLTVBlbUJvSW5lSHpCWTFQeDZnaXQ5TDdqaHEzZVJRVUJrb244K0FpM2ZuU3NNUzh1QUZvY3BNa0dMWnlnalpnakp0Wm5kaWJRWHVjeXE5Mit3UXpHSFFveE0wQkxxZW9BRk81S2R2bGlwU01nMlBob1QxZzJScTRuRzdvbFFmeGMvVEpwdDJvZ1FpYlA4ci9HdVA1TjBwUkk2Vzl1QkdrYXE1UllrT0pWcGFCd3ZheU5YVXR3QTNHRDRUMzkxdVJRZEtkdTRrOGZOMUl4TTBLeTFROTRrWTBNWnNHWWNHOWxsZ2NPTkcvWGJQUHNDWDQrRVF4QitSbjRwSThLL25lWC9UNkNKQ1plY0htZHRIaDRFNy9rUDNPTktGeUk4OWxxVUdtZHN6aUlaWEhDVFNhTU5kbERkZ1pKWEw1dXQ0YlBhVHlPSlhSWTRFVkZkbXZ5SktHQWRQRmk3NUllaWlHejhJRElIbWpaNERwRG9qY1RpczVYUVJCTVRMajVZNXJsOGR5NjJrM1BmZnhyeGIyZWJPT1hoU2V6UFVzOHZGWVVGNFloUSs3TmhJV2F5TlVRZHhwbkF5WFV1dTdwUERPV3FlWEwyRVNtUXk5dCtNbVRZZjN4ZHJteWhRdGI5K0xidUpIN0U3UDVmNUtySWZuMUR6bFlKZDI2RE94c0g2Yzd4c25wOWMxYWVXSXlQQkpuMHpieDQ5SzZjb1VGdlpaY3E2dzdQS0l0NGcxMzZMNXhCbWpFcVNrRGRvNXR0K2pmS25kdlpSUVJxNEQrNE1JU3MrU0g2SDBkZ0ZTTGl2UHMrTUd3aWxBSW9mYnhzbkZocE1YejhaRnNaeUszeWdWdWJvQmhKN21RbzdXZlZad0tQS05wVG1oSUc2ZTBSR2NjbGdWazVMQ0RvOXdaaGlPRTU3UHVGVWRjNEtoYzRIVGpkWFJHV0c1OG43STVGWWk1Rm5yRkV4bWJnaDRxeDQ3SFpkSVl1RjFTOEFSVElLMGFTRFoyWU10UVVlbnQwWm01VEhRWlpydVJ3WDJqcVVLM1NrSmY5YkVFSWFsL0phMHNiSnJvY2hRSUUwSy92K1RNVHZsVkFZcGtNajNHOGJIS213aWw0ck5uY1dyMHQxSW54Zy8vZ1FtaEhCTEw4MDJjQ0o1ZENsNUlPaUliWVNwYWNkVXpLVU9zSjlMTmRudnVxOEpUamdRUkZ0VllPSXVqSFFLQUZFUW0ya3lNa01UTXlSSUlUbWFCaG5RNVhwT2FSdDEvTkZlR0JNbmVhS2pTeVZDZ3gxUVN0cTZleER4UWJmVnhsRlBCK3RzZFptZU9udVdrVEhVWkVkbU05MUtSWnZmbHR1Ky8zejIyYURlSWljdHVQNkNBWVNqUHp5ZkNKTk01a1JDVy9UYkFpZFZ2NkN2cHF3YmlYb2lWUnVyN05GSTJOM1BlbHM3WHhiNVdaR3NtUzdwYVBjREluV3JzdHc5emtXZmR2WUVRRWpsMlZlREVDM0c2MVhtWkhScjlXdnJBamhQZkdZZE9jQ0poRHNESmUvMGQ1MVdYeVdJaHo0N3N0WDkvaUJ2UlQ3L29TOWlWcWFZc3lrdUllVDBkMVRmUXpYUUlLZU11L3kyV3NhMEt6R3dJRTlzdjAydnJ1WEwrUmZGcTBQcTY5amJGYWVSeUZOT2w5c1BKeW1veG1IajNPUXNCeURBMVBtY1RzWWQ3UmcrdVhEdTFaVXNaMnRjYkFTNmpHM1BCQUdUcDRnRHNwcVoydmJGYzlDWEw0OS9UYmpIWUtkMjV3eng4TGR5N1Y0T0tzSzdkcFduN1E4OWI5dkpWWmlIeWg4ZGF0MTMzMCsvNTlNYm5sTDU3cTZYQ29udzJVeWROVU1wd1dnWXVVanl0bTFWNVBydVdvbUNrRjRKcFhEcTcwTExUVk9DdmRUT25McHN6Sk8zcktyR095dFZRMzQyNW9iY0NoNmRKTTZwVlYxeGhXWmpPNWFaaGIySml0blpWVGJZNFlsRzltWlFIc2IvdGxLck1RNGExVDFtbFc5a0w1ZWQrOEhjU0UraGxtYm5Ld3lXT3NoeW81MXpmbzE5b2lYQVdjVzNWb2J1WWxOTUcwSG1mUmtKMUsyZ0hDVWlNV284Lzc1bkZBSXRUUHRNbVR6MWd2eHRZTWxXNlpJeFczNGliaU9oZ0hFRDhPVHozWWNabFZ1cGFxWmxVV1lqdkh4Rkh4WndhNFV5d1lJTGp6ZWtlbG9XOXMrVGNoSTBLbHoycmdYWFlYTFdJUDh6VUpBTjVSSmROdUYxTUZxZ29JaDU1OHNHa3J3WTRyT2Ivc1ZXVWhIdW14UEMxYjlueHFZeU9TbTJZLzY2b0ZpcEFSWWFjeU83R2w3OC9GMHpZWCtBZFpYLzZxQ0Rvb251eXlCMkdRQTBabEZ1S1IyZEdMTkI3RG16S1lRLzFzcU5aUVFrWkVrYnJxVUxhSkI1cHdHUjdCREp6eXJyK2o4emR4dTY5dnB4YnFnby9NWDA2RmhYZ3o0TmczM3E5dmxkNkF0dllJRktNTmUwZ1p6SDQvbTN1Zm9EaFFEVWYzM1VIVXZ5dFdVVTFLbDc0L2x5OCtyT25HOFZGNlE5OU9MWFFDUHRTRFRjc0ZtTC90NXcwc3hQWjYycUtwODBHYVpPOUlYY2FhRVRyM3hTQUJiZ1krU2I3aXV4VDBFZEJOOFdnYWs5akliMld4M3BGNEVxWi9rczhicEU5bW1veDN3RWZtSlRSNHJIWjhwZ083NFdDMzlEYWdkMnlVUWhRWG96aGpBQUFnQUVsRVFWUkdyR3hnc1BUWHZpTUl1OHJYTXhSMncxSyt3YlFVSnV0TXBHdVlXNXhQU0V4bVhWZEIrMXJnSTNNUFFpODg5bmtKN0liT1h1bXNRVldhT3ZjTGEzbHJRT2VTcXcrZ3lZVTI2R2Rhb24yN1lWNnE1cncxbmROeTZOZDhwRklYVjNhYjZtNXFBWEJodUR4U3NnSEozZmV6SW5RYklXODdaY24wMlRBb2NTa0xyb2EzSjROWmZ6RTFsbDBUWThVR2l2ZDlXdHBCZ21NSUVYMVpac3Rhd3puUFA5QmRYN1QwQ0NLVCsybVVoaFgzem1VZmxTRUJhejRMQjZJUnl4VllpTEJKcGY4Q1ZiMDE4eXhTUTZRbHRPTjdjTjFEa2VoS1hRd2pncXZibzNWZGhrSWFBVWlJOFNUNEFmTmxUWjUxSGRsRGVHaktaazFmR3J6dis3azlFYnJLVlZiWlYwY0tGZ2czV3EvTlQ3NHY3VncrdDRDeWtFYzlxay9YdzZUbTd1bmU3Zngxbk9PU2ZBM3lwdGsrN2lXVE13Y3pmckpoVEYrVUZLYXZHYVVnQWJqNEN0dzIzcUdWaG1SNkV1TnpIb2toM00vM1E2ZUg0d3NrNWVoS1FoZ2d1SDIrR0ZodFBlbHo2UHYyaEx1V1JPRkN4L05uZk50RWdNdU1mSmZhako5c1dDeitibWF0RTZianJpaHo4ckF3MXB2cldTbWt5SSt1TFJsYnNaNnNtNEtHeUlJUlF2ek9zUytKWHRwK3lTL1pEZmJxcnB5NWZEaVVxamd0MlF1U3J6R0VvTjQwRzhzVkFIdURHVE9OTUhjcjV6QlNCNzdsczhLK0tMYTh0ZmFxNEwwbHUvcGNxNUFYQnJiOFB1ZnY1RVgwdUdOWUJidjhqbis4d084YUp5OE5HWVQ1Q3JrV2ZGeU0vMS84aWZlM3VKeXlqLzdzVHdYUlgzcXZpR0NQL0tDUmJ3ckJWYkNSdzQwWmpPU2RWMkVlZGV4Y0x6QjlHdEhtSndObnpOTGdiSHRFdHZGSkIreHJrWWwvMTU1L2VrcWNLTVlMUWFKdjQyZitkTHZON2JaaFNMSHdESFQ1WXV1THF2OE0rRndodU5hbWlrOFhYT1RRTlFzdSs3RFQrRGlzenlZK1d6R3N5SjAwWUg4VFI5ZDkyajA3TG9iUkVqL3ovSGZkYitEbjhQNng4K3VxdmU5bUx4emlMUFBYWXNQNTJlWjF0YUdzV0dYbnFuUkhuRFgvT003Umwzcy9sc1RCK28vallQMGlIL1VvQWFRVFNHNmU2ZFYzTXB4ZEx5YnFMZzdEcjZqM0xYbnNGSWIwQzRYSmY0R2YyTThGdGpIQWR3TDJKRzZOUGp2MTR4OWdaN2xna0pUb2QrSUlkQ0M1ZC9MVStzV2ZjYi91RTd6Z3lyTm43OGhESUUyWmhmZDRaMi8rWkpxY1kvTDhnemVlZm15VDU1bjczck4vcWZQeXI2Zjhrb2ovc3ZlTjRsZW5VYWplQ0F3Z3VUZnJ6U0p4UndoWUVIQWh1VnVXZUlvaUJHcU5BRndEd2xGVWF5YUpPVUlnaGdCZjJhTTVkUXdXaXFnOUFud0oydHcxWEh1R2lVRkNRQ0RBRjMvVlMxcUVDU0V3TXdqd3hkOWcvOG5NOEV5TUVnTGkyR2J5d0pNZ3pDQUNSOUM1b1YzRE05Z0dZdmtpSW5BQXlhV0ZpSXY0NUdlOXpUMUk3dGFzTjRMNHY0QUk4TVhmL1F2WWJtcnlyQ1BBRjM4UFo3MFJ4UDhGUkFDQ20rT05pQXNJRkRXNVhnamc3UmI1ZG1HOUdDTnVDSUdSQ1BCWE02Yi8vdkZJRmltUkVMQWdnTk9LMVBrdmxtU0tJZ1JxaWdBL3JlUk9UWGtqdGdpQlpBUnd5bEp3Y0VKeUhrb2hCT3FIUUJ1U3UxYy90b2dqUW1BTUFrMUk3dHFZUEpSTUNOUVBnU0VrdDM1Y0VVZUV3RGdFK3JTdmZCeEVsRjVMQkR6YVYxN0w1MEpNalVNQXhvTDhydG00ckpST0NOUUhBWDVnT2UwcnI4L3pJRTdTSXNBUExMK1pOalBsSXdScWd3QS9mSHFyTnR3UUk0UkFXZ1Q0NHU5KzJzeVVqeENvRFFLcmtOek4ybkJEakJBQ2FSRTRJbmR1V3Fnb1g2MFFPQ0YzYnEyZUJ6R1RGb0ZPdnZQSzA1S25mSVJBUlFpMGFIZHVSY2dTMldvUndBUnRvOW9haURvaFVBRUMvUDNKblFyb0VrbENvRm9FK1B1VHREdTNXb3lKZWhVSThQY25xNkJMTkFtQmFoSEE0Yms1UGo5WkxVOUVuUkFZandDVzBOVG5HTWZucGh5RVFGMFE2TkpoQzNWNUZNUkhKZ1NHNU03TmhCZGxyZ3NDZlRwc29TNlBndmpJaElCSEgvSExoQmRscmdrQy9QdVR0TWV4SmcrRDJNaUFBTDQvU1o5Q3k0QVhaYTBMQW5pWGg1eGlkWGtZeEVjR0JMQVE4VktHN0pTVkVLZ0pBdTM0aTcvL05XTDNQaDI1cndubnhNYkZSdUFnK3VMdloxM0cvdldoQm9YZmY0eGtWd05Db1hvZzBHRnMyK1RrUWZnYU1HbmJEK0lhSHhmM1gyOW1vVEFoVUFNRVhIWm1jc0YzanZIcmJxQjFmNTJkL2JQRHAvODduUXh0Z2tUaEdpQ0FmZVdoajVzTTJJY09sNzhNMGZXL3ZYNk4zUmNhK1lmdWtyMVFnNmRGTEdnRW9HUE5NOFhtMmEvd3RCK0c2TjdHNzdKM3V1Ym5IZXo2di9TZkVLZ0hBdmhHQkJkUmVSMEV2dDBoWTJmUXNwOW5Id2xTcnBIVFYySkV2N1ZBb0JsK2xjZmI4Ym55VDhsYmR1OUpKaHV1RE5FdklWQUhCRHFoQ2RxS2Vqc0N6ckw3em1WREg1L3MxWUZkNHVIQ0kvQ1BIejBXR0xpaFE1K3ZxT1Uwcm5Sdjk1VWdPODZsbXhjZU13S2dCZ2hBTUYvZ2JPQjN3MkNudmF0dW9IVHZzcTlWdDg2OEVtb2RSeUZDWU5JSXJFS2xycUZTbkVES2YrVFZQSlloNXpweW1HbHpJZWVaeWtZQlFtQ2lDSFFobGp1b3NSbmU0bml5cmJuQTRwcFF5MEhNTWprWE5EWVVtaG9Dc0FYRU9lV3Q4S2VxaDRlYW8ydklZdHc2eXMyZ3MxQ0lFSmcwQWx6bkhnc3pkOGVzMnBUY2hzZE1PN2ZoTDZxWnVTbE1DRXdjQVN4QThPMEtUNFNOQmNlMEZoeVlDOGJiRW1RdFRQd2hVWVVXQkRELzRxdGpBL2I2VUtJeFErTnVCM045YllVK21SYUNpbTZtaEVEclZhajRHanMxTFZuSFdkM1Y3RHpCb0hTMWNYdk4zTjZnYzFHSUVKZ3NBayt5ZHpvTEhudFR1RlpUUEZ2MytDbVBPekpEZDBPRzZKY1FtQ1lDUFhibXN1aUc4U1U5RGJ1R0pZcWUzT3dJUmx2NzArU1c2aVlFSkFLTlgzWFBQaVJ2MUsrbkhMb0Q3QlZiaE5MZDh0UG1RL3ZQVlg0S0VBTDFRS0FwWjJ6UGlia2JMTjM3bTRLenpoL1hnMEhpZ2hDd0luRDF6Sit5cmZnU3k1ZUFoVVh4b0RaNHJlVW9raENZTWdJZHNjaTc1QVdTK2dCRTl5Ly94by8rdU9Ga21ES0RWRDBoWUVYZ0tydjMzMzcwMDR4OVU1Q0tTWnE0OXF5NUtaSVFxQTBDL0JVMHh2Nkc1R2Y1eDhTOWVEdE54dEV2SVZCSEJINzNzZE5IZjgxZzdLc2VZNjh6NzQwa0NoSUNoQUFoUUFnUUFvUUFJVUFJRUFLRUFDRkFDQkFDaEFBaFFBZ1FBb1FBSVVBSUVBS0VBQ0ZBQ0JBQ2hBQWhRQWdRQW9RQUlVQUlFQUtFQUNGQUNCQUNoQUFoUUFnUUFvUUFJVUFJRUFLRUFDRkFDQkFDaEFBaFFBZ1FBb1FBSVVBSUVBS0VBQ0ZBQ0JBQ2hBQWhNTE1JTFA5T21QVkc1RDZjU25lRVFEMFFXSG92am16OEY1b1hjZitIK3A1Q2hFQXRFWmp6eEFGTTN5cVplN3ZMNzArUDVUMzlFZ0wxUkFDSDVJcnIyM3oybGx6MjEvNVM0L2RheGpkLzY4azNjWFhCRWJqR1h2Z3Q1L2NHRU40ZGdjU0EvU0wvWGZBaTM1QVFpZlNQRUtnTkFwMzcvTERuaFZid3NkVG4yQ3Q4MXE2UjBxM05NeUpHSkFLZmMxOTlISVNYbUg4MExqK2VIRWZ0TDd2QjhmcjRXQnFkbVN2eG90K2FJUEFGZHFwbVlKZmw1M2dPeEdjcFB5OC9hWUlQVk42cENidkVCaUhnSTdEc25oMHU5SU1QcVovc0JyRHdiMDd1T3A3K3Z2cUtPSGlmUUNNRWFvUEE1OWxMampQSGJndUdXb2VTTHlqZEZ4WWh2T3A2U0lVb1FBalVBWUVXVE52bEZ2c0s1NldoNTJGYzZiWk9OeldISFNYVU9vNUNoTURVRUxqT1RoMm5IWHhJZmU1bHpjY1FvbXQrOXN6OGZyWE9SU0ZDWUVvSUhERVlzQjFJS2E5LzVVODFGL09JODAwSVArNW9UNmRSaUJDWU9nSjk5aWY0akMra2xCc0QxMkh5cW12QXVBV3NydFV0RmFRQUlUQjFCQmE0QzhHQmtBcWRHNUxjdDJLN3dxWm1zTDJqd3hRaUJLYU53RFhHOWgxbktMeTNZV3ZCNGViQ2h1YVByQVdOQllXbWo4Q1JVTGFYR1JNV3JqbERjdzRndWRxZjY1enNUNTliNG9BUWtBaDBtSENFdmVjUmJ1WTZqdmFLT1EzM0hrUjNTMFR6ZndQRGNsQ1JGQ0FFcG9RQVk0WWpMQ1NlVjlqV0NXTnlOZGhadURzbERxbGFRc0NDd0FyanJnVjlIZXlvOE9DdWN4VktWMFpjRVVzVktwVUNoTUJVRWJqQzJFMlRnY3ZLb1h1Tjd4WHJNM1l2U082RThwbGxLRXdJVEI2QnRtbkpvdnE1czhDYVhmWjRpTHNYUGlLNG1tZHJrK2VPYWlRRWtoQ0FKUnVXeU40Yi9Ld252c1FPZzFmUTVqeGw4Q2FSb25oQ1lJSUlZQWtpVUxKQnBmUCsxdkxQQkZPek9SZWkrL2YrNFgveURDZkRCTm1qcWdpQkJBU0NGUWdqdGNmKy9wLzd6VDQ3Mi9iaitDU05YN1E3MThDSWdsTkhBRnNaNVF4TThzSmZRWU04Nzh2NzM0WFd4UUVNaC9LZWZnbUJHaUN3eVB4OXVTWXJ5Ky94SHZvbFExRG4zdU9kdmNXNE4vTlNtQkNZRGdLckVYZnVkTGlnV2dtQnJBZzBJKzdjck9VcFB5RXdIUVE2NGMzajAyR0NhaVVFTWlPQTJkZHg1a0pVZ0JDWU5nTFlWaTVlaFpnMkgxUS9JWkFOQVp4a2c5Y242U0lFWmcwQnZCQmhiTWlkTmU2SjM0dUxBSnhpdEIzaDRqNytHVzQ1bkdLMDYzYUduOS9GWmIxSEN4RVg5K0hQZE10YmpLM1BkQU9JK1F1S0FKeGl1eGUwNmRUc1dVWmdEcEs3TjhzTklONHZLQUo4NyszYUJXMDdOYnM2QkpaUHE5NWFpTmNuSTI5RVZOZWEwWlNQWGpzNm5WSm5DWUY1Zm14U3BSZmN1VFZaUXV1UWM2N1NKejFaNG0xVEh5NDljL1p6cFZmZnJNc1NXaU4wNk1ObnZVZkpoaW45WVUrUTRJbHhwdGVjZC9aczZERGJVdmlBTzdjZVMyZ3JadHNlWkk4YW42Y29wYUZFcENvRW5qVFBCcGVWZU9yUURzZnBuZTQ3dlhSYkRCcXQxQW9MN3R5Smo5Slc5aTZ6YmRscW5LdnpHdnp0cW5zSzFCaUJPYy95WnUyQ2Nmak1Jajl2NWtxNnJiUVBwbmQwWVlKbUh1MDhFWVNzN0hYUGROMTlma0pKSzNUWW1VNmtVSzBRV0JyWTNnbGZOQVJWUE0ybFZPdGRuMHZ2b3VXN2MrOU1HQWs3ZTMwdHFLS1RPZ2MxbVRsT0dKMlpxcTd4MjE5eXJhY1p0TVVoNHFJdGkrSncyMGI0MUVWYks1LyttdStHTk83WmtpeHgvRHVURzViNHlxS1MyR3NZSGFndkRJZTIwVzByWTRjSUYwS2dqN01OK2phZE85UUhJWno0d3VpT093Y1U3NkN6UjlKTExuYm5UdlRrbWtUMnJtczJWbndvTGsyMlN4VjZnaGUxOEhzZit1QjIxeWE1ZW9LMnpId3pzS1cxc0IydHhSdVBmQkltUUZxZEMzZnVSRlZiSW52R0JPM0l0KzZ2R0ZyWTNsYUtyUU1DTnNtZDAxcm5jdkJac29FeEEwOWtPNFBrZGlHNTI0bUVxa213c3RmVWc0bm5MMGRmOHcvL3I0WUhvbG9hQWpiSk5TWm92VUNJQjJrVzFheWlZZWQwQ01tMXAxUVhhMlZQVDlDdU1sK0lyMDNlWFZkZG04OHhaWnZrNmdsYVEzdzlCODNubnprZGUxbEZ3MTVxRUQ4T3o1Nnh4RmdiZThZRXJSMUk3QldiL1ZRaUcwU3FIQVJza3FzbmFQT0JtZXU0NnVUN0VkWGFSQ01oTzN3YXhqSmRRcWFTbzIzc0dSTzBUdURFdmxTVHhiMlNXMy91eU5razEzMUpOdk5JNnA5VTU5SFlSRU5TQ3Y4dXcxaXdySUNFTTVWOVoyUHZranJ6QVN6NXc4cnE1UHRVMlMyOUVQUXNrbXRNMFByQlFoZXNocTN4Y05oRXcxNEtIemVadkRWcFkwOVAwT0EzT3hUTXRtT0hvOXJiUUxIVFJjQWl1ZGZVYkF3Q3V5SFl3MFBmR2MrblRUVHNwYmg3VlNsMmU1YnlZMjNzRGRUbWlYWXdRWE82WkMyVWozMEZGQzJTMjFiTG4xanBPaFoxSWxEcURPMFNKUGRPQmEwWlNkSWl1UTI5cWoyVXk0VERuSGJNNTI2OEphaCsrYmRHOGtHSnBTQmdrZHplODVJeVBtenFqNkRRa2ZzeU12blhJaG9KbVk4Z3VSc0phWlZGVzlpN3FvY1NUdzRDL1h4MnpOdlk0K3dOUHU4SEUzZFZWNFpaalFsYkpGZFAwTHJ5dlFXSThOcjRSbGhFSTZIUUNTUjNLeUd0c21nTGUzcUNoc1IxdjJZdldIekp4a2ZEZTUvakJhc2FicG9CS2h0NXloMURJQzY1UzNxRGFrZE9WdHFwWGhxemlFYXNQaitpQThrOVRraXJMTnJDM29IYWQ0eXZyMjJKbW1IYmg3Nk1tWktkYXhpbyt2N0FoSHBHZGZQditJdWYrc0FiOWNhUWxQUXZWTGEzc3RPSGJqMysrT08zYnJoS3dRM1pqVnV2ZS95V3ExeFNjY25WRXpUSGt3Tm5VeXJma1FCYVJDTWh2d2ZKM1U1SXF5emF3cDZlb0dGVTJSYzE0M1g2OVJ3c25Hemd3OFcrN1lGSndXWXlCZjZCd2lrNHM1TVpxbUZLVTJEay85c04rR3NGY2FyUHh5WDNTRTNRb0g3VTlVS0tCbHBFSTZFVUo1dVFWRjEwbkwxbExhUnQxZEpVcnVzWWw5NmhnNDYreGVPdnllV2JXQ1lld1NlbmtVOTFXL05kNU1qclAvRUJYMUMvNVdkL0NyaUs2OCs3QXJoSFBpR0JpVXV1bnFEaHUwL3FlbGtXR1BFYkY0MkV6UHlZRU9OVmhJUmNaVWZIMlRNbWFBZXFwYm5zbUJXWUhWakxPT1k4cjBvYnk5cUF1VS85Sko3QnhGMkNWbDdxSERuQUExRlN5aG5sZzlYOS82Qlpqa3V1cTh3OG5PYnhqcWY0OVRSTHRYOHFMaHE2bmxDSTd5dFBvOFJEaFFyZnhObTdwSWYxSHJzbm12clVVUzQ3NWpMZTVnTmN3a3JvU3Y5YUVzZFF1K3RKYVJRZklOQ1BpZ2hXcjE2UUNwam5pVW11TVVIRGFSNzdnZzZVNzdvSWpQNFhGNDJFL0h4ZnViSzBFL0tVSHgxblQwL1FzS1hvSzM2TkI2bE0raWgzN1hWdUIvanp2ZUU0alFySnZSMGxRUGNSQkR3VzhmRmNZL2ROd1kxTDdoVTlNVjQxM0xrN0VjSzIyN2hvMkhJaGp0dDZ0bGVPRTdLWEZCMW5yNldaVUFONG55bDNkb1o2bjl2alNzQTNxUWJqdW5rN2wwR1NnWnR6a0pYUHNlNkUyakdNZUtOaU9sZFAwR0N3QlpNMVNKb3Y3a3ZvQ1pIclRIZUV1R2lFcXRZM1I2QlJoYVdYa1Qxamd1YW9VY1VkeWRsbklxM0hiYkQ4NERpZHdKM21qdE9vc0trMWFCb1ZDaGtJOERuV3JuRVBXK3dqNXEzRld1am9ZYnd0ditUUWxXdjZmTDlCOU5wVEJGTkxMaDVkcEVNcEdvVUNHZGtMdnUzT3EwUVgzeFZWb3cwYkltRC8xNCsyM2pCN1hKK0VuS2paQ2ZEWWp0UUl5Vmt1ZkFxZmoybkpBaHg5ZjBEVHdNUjBycDZnWWZnTEJzNWVNQTQ2QzgvZWlsNlBiQ3BpcVNXM0I3WTJWTEh5QWhuWk15Wm9ZSDFIOElGcDF2RUlobjRrMnZ4YnQ5NFhaSWVXMk9kQnpDVEdhRlJ2Q3RQVGdNbVorWUYvWFp1dDRQbzVZMnozR3hHVlhQT3dvcWFjdFhqakxEZWZWbXJKYllHdExiL01CUC9IMkRQT29JS2ZibCt3Y2ptM1BvVENGeFFXeDFHQWZvL3Fqd21pTUNOVnRTRWlCcXRMY1Fzc0tybkdCTTA1Q0h4aGF0TzFRY29XakltR0xST1BBMWNqTlZ0U3VXTHhNZmFNQ1JvVTVyYWdmcFRiNlhFcDBLVHlONUZaMUZXRmtaOVkzMHdtd0tEVTc3YmlpTEI0WDQ5S2J0ZFlJV2dHQ00rUDB5SUJOakhSU01BTSthU2dKT1NvSkRyS25ua0dGWFN1UDhSMzBnMHZGZ2FsYStGb25FYUZDYmR1S1U5UkpnS2QwSW1KVDU3NmVzWE1FWlZjWTRJR085ZGZsRmdkOXl3Q2dsSFJNT3N4dy95TkNMMEdZS1pVR282eVowelFIS1J0aXNyekR3YkRvSitmak5Pb01PRnVWOXJRODBEY00vMm1jMjdFcjhCYkdKVmNjNk5VTzNBQURJMEQ4a2FoRWhXTnBMemNCYUEyUnlSbEtqOCt5dDZxMFh0Z2U0b0tyK2RmbFpiYXVzOVJlMkF0bWY5Mi90NlJUUFNjcFlUZHVjUEFVeEJxWkVSeXpRa2EvTGw0QnNKanRCMHFrM1FURlkya2ZIemU2QzgzSmVXb0pEN0tuakZCNDZhM3FMT2RhcG5ieXQ0Z2NKY0k1MWgvaE9UQ2hEdTBVcUJJaFFEZjJiSWg3eFpQYldoR0pOYzRySWlmUFNxc2hmbTBrNWFvYU1pYW83OVFPc3pXaTZMNVNyNlBzdWNaaHdSajlYZVRWOWNKT3hHemNERHdiUUIvT3V1T0tFbnUzQkhnQkVuOEF6ZzdRWGpaZThQLzM5N1ZoVWh5VmVHYTdQWjJOcnN6TzY0ZzZrc1BNUklTaUxYWm1FQkU2REV4aUNqMGtHUkZFNlFIL01FOGhKNFlYM3lRYnNUM0hqRUtTcVFIUlVHaTlxQkVqUWc5K0tENDFBUEcrSkNIR1lRSTVxV1g3aVZrVjVQeU8xWDNyNnFydW11cXVxZXJxMDQ5ZE4vL2U4NTNUOTE3N3JrL0ZaWWhJTG5tQk0yNjRHbHNUUzM5WVNYb3NLQm82QmkvcXdLeXhDNEJmOFI4ZlFIeXpBbWFaZlhjZnJEc205Q2VqSnlPWitnRDV1dFdlZEtRd3ViYzZjQ2VoWWpJanJZZnZqbXI0dTlRRzZiMVlkV2JtVlhwUHVRNEQ3cjQvVGpwMmlEcm5UZ0paNXNtUU40NW4ySHV5UFdkb1d1dUV6NXRyODl0a2k1d2JzS0xDUlZPTDFNbXJDdjMyZW9RRWNHa3Y1MDA1ejNmZW83L2N4OVdsemFnZS9jaDZ4elJMbXhlM0kyTzFURmRrSFZkZTAvTEZTQ3Zia3pRYUR2NE51aHdyN2xPU0UvRnRYV1ZiTEpTM0xZUlhRak11YWFhRXAyd3lERVZaYzR0MWU0ZUI2SjA3Wi92aHhDOStLMXJzbE5kODBZOG1mU0lHcmNScjh1OTlzWG4wSmZlL09zL3JzbmNrZitvTTZhMUlyS0lFMGVNa3pkUTUwS29zRlhTNmMrbDZIS3RNNjVBL3YxdEczMXVyeFZOSU15NUMzaHRvK25KWkF4RVNjeUVMdCtTd21rUUNzRVdqeHkrZkJNMEM0cnVudldrODVpUkpkSkprMEh4N0VjbThpSXdoNG5aT1VjWHRQYVQ0WGVqWThkalFzanpUZENnNk42eVNyVWJJU2l0dnZMSThLSDE4U0tESWJocStCQ0k3ZmVkMWtxNHplOXZWMitBYUZoVzlrVGVOKzE3WWhRY3JLZ0kvcG8wNTE1UUV6V1Q3WXB6SjQ1WVBuRDFUcVY0TmMwVk55UWRETCtuNHN5YzQrNFZaNGl6bVkvU2FjMXBrdXN1UkV4TE5GNkRHVkt1RFkyOWhHdjIxSmRybkx4eVlONjU1dHhURFNQOTgxWEhxVHFqR0JMMnZIUGpSODdkMkhGenF4c3l3Rm1sM3pqREtyYnExZFZzNEJ2T25ZYXU5cSt3MThaa3VraHU5RzNYaWQ5U043d1RHTU9pWTA3UUVMdjZwZUZudHNaU3BReWdEV3hxNHBpc3JNcGJoMnY2dEZkZk8rTVhaMXdTN0dWNnJYclh5K1BaUCtjNHZ6NjBYbysxaXZpWFIwYS9SQW12VmU4NUhDOEkxb3UzRHEzM2pyYjZjdVY3eFhuV0dpajFET3J2ZGtpdVlnYlJFTGxKckQ4ZlUxS00yMlRuaUJndFJQaG1SeWV1cTB3YnU2UUEwT1crNFhhVGllWFc1ZHgxWWlyWXVENUZDWjVJZmNqK0tXZTBnNEs2bXcwNWEyNytqMDVieXRrYTdFQzdFMGtwVXFRMDU5THd2QmVIY2VNMjJUakpFNmE1QkhKaWpnRVJOVHhPUTBOVjhnUXpVMkNvaU1qbUMrNzVKbWkrS08wcDFZU3lGTlF0ZEpLWXJoWGI2MFRPdkZ0MWJybDVTdll4S2IyZXh5SWxBbjUrWEFTa09SZHZlVHo3YVdDQ05pY1lLeUFub0UrZnNLYk9Iakk0cmhVS2ptUm1wc0FFTFp5Q3k0N1l0bXQxVWhxZ0s0SmxHZ2U5K2ZCNWtsbDFZQXBiU2xOMzYrRThMRHkwOU54N29wNHdyWXJvcGM0TmY2L2V3SCtjSHNhcXBCT29tQmoxUUk0d2VjVE1FVWhXcHZVdVdDaGd4Nklua1puSnVDVFlLeVhzRjJLR0VkMTlldElSbG01NkdOYnZIdlJTVmFVNXQwbnZ3cEhTbTlDOVRDOW1LVk04anZhT2VLUk5LOGhYeGUzYlZ1eHQ2blNEa1dIK1Rycm1DU3N5Skt3TGFsSlZSSGQ0VVU5NzNTc2Nldk5tU0RXVGc4N0x6blJTc3FhamJETDlWQlJqUzU2Y2svWWszZDBXcXU2cmhxbW1ISWNtOGJIWXVJb1QrVWhWS1VoZzIrM2JzSjM4Q0ZuM2c3SGpmdU0yMmZISTJZWFlvQ2JWMk51a3poWTk3WVpIVTEzTFYzd2k2ekUwN1ZWYlMxTlBIM0NQWDRsT3FmY3FOTVdjbyt4T1V0WHVHeWpycWNZaFhWWG1YT2Vwd2NPZit5T0lyWkU1OXlsc0o2ZWJPYTVFSkRLQ3c2MitSb0taT05GR3N0dEpXRjVqRHhseGtwNys4UFJWZitiNVkvMzJZc2dKcXBBemY2c3JPdmhZaFk4bHdtdjJZUkZZRjUzSU9iZS9zZVVNRFVOSXVuZGpyTTVsRGlBSktkTjJjcG9XeE1CRjN5WTdUNjZKbUFURHUwR1NPOUJYMU9TcHJVWmNJODAwcDc0a09Eb2xDdDRWc2F2S0ZaMThRZ3lJYllsb09IZkllWW5VRDJBaHRCRFlnVks5RzZMMGZQeVJpR3dPM0w2bEdtc3JkeVZLN1pncEhuU3BtTE9kb3NpeXE3TjNsTHpXOUpnZXU5UVYyV0ZQeUVHcjFJY2kvbXk2aWIrdFM1THZXWk1FRmFkRGhMekNEclE1Z1paaVJaRTU5eGx2SWpJd0dpRWFCSDJiYkhTYTlER2t1ampIS2NxNTNiV1RhSE5KRWczUnVDUTRraElRS20wdEpYZlhYR1RLYVJGNFdWV25VQlBPOWpaeVhWTHZNRnl0YWNVVUpwN011ZUx1SU9BeXZaczdwUWthdE1kMHBzdVZYNkVKdFY2SW9TV0dKaFJvOVRnVHRLYTB2T0pZV1l3dU9sQ0Q2UVhMUWlrZ003Um5Ddm9nZGVkOXBhSlhsTXZNV0ZBM2lldE5qM2ZNRUtUMU14cU10ZE41Nit1Z0paYU5McHBTeEdDYzNmQVNZR2dSaHQySkdmeVJuaExsRHd2Nk9yTGcwbTlUenZzSFNpa2d6VmJOK3JBZldDMG10cFZoTjBoR0FmMFZTTWkreHplcGJONnJQZ0dIbFhTYkNTYVU3SXNpc3VRbzdJczRrUWV2NWJhWElaR0dXSWtoN0tCejA3S3VQZmR2ck5mdW5JaTRZT0txVm1MOU16R3Q4aVJSMW9QVjVNYVAxMWlaZnJweHRncGNPeFhXZTVDSVdDdDZFNm5wcTlFVk10eWFtRFFzc3JRVkZ1b0xvd211ZUY2aWtUMzVnd1UwMllYZ1ZLcWhlR2lWQjBxRWFxdmtGZVVsWjgxUUFDc0E3eUFiakhWQVNvSWRNZ0hpdTJxY0JXdnJnY2laZUVuRGV1Q0JqLzdpcTM5S0o3ZTBRVitiRm56dkdlYUFHeDZ0aVpUMW1iQ1p4VUtBMTNWSkYrMHMzSk9leGY1WFFZcWg2aVVqQnNzWnN0OXV6MEJyRGlPQ0pyaGg0U2NQUTBscXhhNWl2bWQxcGZMNGxZaVRWNUdySERUYWJVcU9hS1BqTzlLejBQLzBTMmhFUHZpUjBqOHZEUkVHZ2ZUcXVBczFCRlRNbEhHMW0vazZESlNSSlpHeXZ0QjJuR1BsWk01dHFmTGhrWjJVQ2x1SXcxVWZyNlN0V28remM5TVFNYTdQQ0xHS29SNzUzak90OHFDeVZscE1jcE9mUmp1dEFEYmcyOG9DYjZtWDBGd20wTkxiSGpkejB4RHJocnlsQTI2Z0J3ai94aHI5YmtDNGRWdWxxeTE3dVUrNlB4ZU5hK2hwUi9EdFo0RXB1ZzR2MVJLYXkwUlRUVGpucGlFZWFYbExpVnRQVHpoODd4bHNEbktCb20yMlZjcnFzcGI5eFB0ejBiaUdua1pycmh0WjRNazloYmFUbGhJSWd4aEI1cVloSG1sNVMwbHRRMDg0Zk84WmhoOXBWdllwRVNtcnkxcjJDa1F2NGxGcjRqNmFlejRUSWFtWDhnWDNKVHR0RHcwRnhsaVFzUHF1dWkwVTViVlF5TzhTRmhTZHJUNnpWNzJqVkJzeTUyNml5Zys0cngxNmt5dWlmcSt0TG13TGI2NytUcncvdDJ1WWM0RkUxZGNGTHc2YXBqT0xMNmZxbmRvVlYwTXNLYlBUekRqREt5SGxLbVdaRGEybzFiMzNyTFpEUldMNDJmV0tGa3BFZmNQekZ2d1hFbkxkZ0dBQXY0dVhFYllJSjlHUmZzNXVxeVdubnFzM1hBd2ZkOUl3Q0xuYVRKTmY1MjFyeGI3dnZXZmVvQU83Vzh0TEpmU0cvcDdPVkZ3WExUbHVHdXhmZ24vYjhDL0syUUFkNlpmUWRCbWUzbkR1dnpQbkIydG9WNHhDWDEwM1BDZHo0dVdTbWNFOThvcjNERTF5N0pVazlJYkcvc2tLem1kcXNqNjFETlppYlJjejBzL0xXUU5kY2hFaGVSMWFhZmVzL0dmU0Z4a2tCb3NkMTNWWXFacGNxcHA2dExQZFdmTjU3ejJENUI1NE5jQzFDMWQxUjFkWVhCY1pFOVlOOW1OdEZ6UFN6OHNKc2t5SlNGaU5MZmZrWXRNS2ljSFJSc0tDb3JQQjlDcG4va2owaFBITm91Zzg0VEZhUXRGOWtLWjBtN2VjQ1cxQnRGRGYxWVJYWjYrc2h4T1U3VkRBSlExSEhxRTFZL1Y4Y2FUVEMrVFRZcEtSb2o2TkRtMlVUQ1p0NnJKbS9EVGsyNEZ5UzdYN2twY09FL2F4bDN2Z3ZXZVZEZGNMUThPQkYxNTFYYmVyTldJdnRLQy9sZUFVdmdlUk9WNDRHT2dqL1ZwTU1vcmFiaytMdkIxUDk3RE40U1Zaa1dPNWpod3RTYzhQRDhmaVl3ZGd5dUc5V01RODZmaWRscHNYeHQxOTEwR3JNenZvaWs5K3RzUE5uck1mTktrR25uaHJBeDU1ZEhweHZOSnVDdG5UcEtDaUtVNXpyYXI4Uk9vQUFBWk5TVVJCVkkxc0d0TWpMcXhOVVFHeVlxYXdKVXBZaTNlSmNGUjlOYUVmVmQ1dDBBaFJFZ2N6SWRGN2JwYkJWYmNxMFJWSGxWS1E4S2NoSUQ3VnpPM3N4ajc3ZStwb3VJdS9VaUNTMXc0dDNpMWs4RTdQZ2RKNDFwdnlKQzh2TkdkTm1WdHI2ZXg0UjY1R2d3MXUrMDNxYzIrWEpyeXVwMG12T2ErN0czaHIrNkZrRkNodzlRL1B2RUJkbTNQcmgxODc5dmhlZThaMlEwWS9XREE2MEV2MVp0WGtiUUoxZVJlNXp3MTM2aVFMdlN2Smk0ck8rYVR6dGh0NXNldGVJQnFkY0ZyTVJXZTRoVFNkZDNGbkN3YkNwamRCdzd6U0d4WWJkMk0yZUd4ZDhQVTAwOHJNWlR6dEVwT1BzQlpoYWlDZUJldFNsMENHN0hMU2dQOTE1K2FoOWJSOUg0NGtqcll1ekdtTnBldDh3ckxLcjlpajR6U2tJbS9mdWQ5YS9UWXVQaTlWbmZXTHR1dzl5cmJ6WTl4bERoMjZnZ3Z6ZXJPMzdLVWsrOVN6NHd2VHVQbitrN2hIWDF6YVN0RFJ4ZnFQNG1MOUIwK2RIRitGVFVqdUxJYjJVb2Z1cnFlU0xqc2p3d2pncXl5dDUyTFZHVUlGdmJtZXRxRFZHb2gwcDJOUE9VTmI4LzhGeC9tUUc0N3JkU0hUYWF2aC9ITkVnRHIvbVhUNzlPR1JsMmdNdHQ2c1B1VCt6NEhxOG5lcW8wLy9mZ1lGbDc5czMvdUdXODc3YWcvdjZBSmZmOEcrOTJYeXJ2MTA5QlVkeks3c0lkQ0E1RjdQSGxsTUVTTXdCWUV1SlBmS2xEUWN6UWhrRHdFYmtydWRQYktZSWtaZ01nTHV5ZC9qeVdrNGxoSElIZ0owTkdOT0pxenNNY3NVNVFnQjJudVovaXhQamdCaFZwWUVBVnI4TmM1MUxnblZUQ1lqUUl1LzNwSXFZOEVJTEJNQ2x5QzVNMW1JV0NhbW1kWWNJSEFFeVRWT0d1U0FJMmFoR0FqMElibThFRkdNdHM0WGwyMUk3bmErV0dKdUNvRkFGNUo3VUFoT21jbDhJV0JEY2cvenhSSnpVd2dFSUxoOE5Mc1FMWjB6SnVuaUhmKzV6cHd4eU96a0ZBRzY5SitPYmZQRENDd1hBblJGRkorMldxNDJZMm9KQVRyYnlTY2lXQmFXRHdIY3BDVXV4MWcrMnBuaUlpTlFoK1R1RnhrQTVuMUpFYWhBY3RlWGxIWW11OGdJOUNDNVJlYWZlVjlXQkRxOHIzeFptNjdnZEZkNVgzbkJKV0JaMllleVFQYzA4OE1JTEJjQ2RHRTU3eXRmcmpaamFna0J1c1AzQ2tQQkNDd2RBblJoK2ZiU1VjMEVNd0swK0h2QU1EQUNTNGZBSlVqdTF0SlJ6UVF6QWtkc3ptVWhXRW9FQm16T1hjcDJZNkliZkUwSUM4RlNJbERqM2JsTDJXNU1OQ1pvbXhxRjBuK3VqbjdPTzhjMElPektLZ0owZnJLbGlDczFuTHRlY0liN0tvQWRqRUJHRWFEems3cVB2ZXg4RnF0cTFjVi9Gak9qYURGWjJVR0F6azhxYWxhODIwalA4NGxLQlFrN3Nvb0FMcy9WbjU4OEV1dkFuVFJmTWM4cXAweFh2aERBRXByKy9HTE4vUlN1WmRYTlNWdSsrR1Z1OG9KQTA3aHNRU2dMK1BBNDN3U2RsL2JOTHg4OXc1eDcxaEVmSEMvemR5UHkyK0o1NGF4alhMWlFVVGVHbVBhR3ZIREtmT1FMZ2FyakhFdU9Ha3E5cmZHV1hRa0svMmNUQWZyK3BOcmpXSFYyQlpVZFBpYVJ6ZlppcWlRQytQNmsraFFhVHFTMVJIaERhcnd5SGY4ekF0bENBR2Q1bEZFTUo5TGtzbStQandObnE1MlltaUFDV0lnUTlnU3loU21WdDZmbE9aaUQvWXhBRmhDb0d3ZC84UlhWWTBIVGdHOHh6MExyTUEzUkNQU05nNzg0UzNrZ1VnNjA5aHVkbDJNWWdjVWhnQk1STzdKMmFBNEh3ajF3UmpLVS94bUJMQ0pnR3lKcVNHN2ZDTTRpMlV4VDBSSEF2bkw5Y1JOY1hyNHVBT256ZDZhS0xob1o1eCs3Yy9XZFl0ZzJ4cEtiOFFaajhnUUM2R1ozRlJnc3VRb0tkbVFkZ1lydVppMExZbndnQ0dadEllc3RWM1Q2R3VaTXpDZTViRnNvdW14a2svOXZmdXpZSmN3MlYza04yd0xiYzdQWmJvV25DanNVYmhJSStOL1VZUEJLaE1hQ1hkbEVBSE14MTR3QVdaWFdCQkI2QjYvK1pyTzVtQ3FGUUJPUzI0S3Y0bHZrOWUyNGVWc2xaZ2Nqa0JrRStwRGNiVkJUODEyc2dFdERXb0xFdHFuL2lqRCtZd1FXamdEMXVjZXVtdHN5YU1HQzJyYnc4czV5QXhkMlpnY0IyTC9JNnZXNFQxbXdMRnQ5dWJycmJHU0hXcWFFRVpBSVhIQ2NuOEhkZFI2VUllNi9QbjFtcTk3WGw0QTlqTUNDRWFqZERRTHVjQUtYTVBYNTFQcUMyNFdybjRiQWs4NnpWcm5xUE9aUGQwWmViYk5pTHEzNTA3Q1BFVmdvQW0xblpEc2ZDWkN3NXJ6bGhaeG4wMElBR3ZabUJZSFNIKzNSaTJQRVZNWGRDMGQ4M2NJWU5oeVFaUVNhd3JoUTAwZDhza3d1MDhZSUNBUXVldHNaV0ZsZ2lWZzJCUDdzZk55eTFxcERZemZEc3JIQTlCWVNnVklIWHppeG5lOFhrbmxtZXBrUktMMXlkZmp3Rzh2TUFkTnUvUjlIeUdSSU1IdVQ3QUFBQUFCSlJVNUVya0pnZ2c9PSIKfQo="/>
    </extobj>
    <extobj name="334E55B0-647D-440b-865C-3EC943EB4CBC-36">
      <extobjdata type="334E55B0-647D-440b-865C-3EC943EB4CBC" data="ewoJIkltZ1NldHRpbmdKc29uIiA6ICJ7XCJkcGlcIjpcIjYwMFwiLFwiZm9ybWF0XCI6XCJQTkdcIixcInRyYW5zcGFyZW50XCI6dHJ1ZSxcImF1dG9cIjpmYWxzZX0iLAoJIkxhdGV4IiA6ICJYRnNnWEdKbFoybHVlMkZzYVdkdVpXUjlDbHhIWVcxdFlTaDZLUW9tUFZ4cGJuUmZNRjVjYVc1bWRIa2dkVjU3ZWkweGZXVmVleTExZlZ3c1pIVmNYQXA2SmoweExWeG1jbUZqZXpGOWUxeDBhR1YwWVgxY1hBcEpDaVk5UzE1N01TOWNkR2hsZEdFdE1YMEtYR2x1ZEY4d1hseHBibVowZVNCMVhuc3RNUzljZEdobGRHRjlaVjU3TFhWOVhDeGtkVnhjQ2lZOVMxNTdNUzljZEdobGRHRXRNWDBLWEVkaGJXMWhYR3hsWm5Rb01TMWNabkpoWTNzeGZYdGNkR2hsZEdGOVhISnBaMmgwS1FwY1pXNWtlMkZzYVdkdVpXUjlJRnhkIiwKCSJMYXRleEltZ0Jhc2U2NCIgOiAiaVZCT1J3MEtHZ29BQUFBTlNVaEVVZ0FBQklRQUFBTThCQU1BQUFEVXdtYVRBQUFBTUZCTVZFWC8vLzhBQUFBQUFBQUFBQUFBQUFBQUFBQUFBQUFBQUFBQUFBQUFBQUFBQUFBQUFBQUFBQUFBQUFBQUFBQUFBQUF2M2FCN0FBQUFEM1JTVGxNQU1ydEVFTjN2Vk0xbUlwbDJxNG12bjBHUEFBQUFDWEJJV1hNQUFBN0VBQUFPeEFHVkt3NGJBQUFnQUVsRVFWUjRBZTI5Zll3a3lYVWZtRDFkTXozOU5kMG1qd3VmY0hhMWFDNWxpU1NxWllIcnN3V3JTdlR1ZUMydjFITkx6cGkzdW5VMlJjNklXa0RPdGdBYWhtaTUyaktYV2tpVXEwMHM5SWRvbzBxUWRrM0N0THJCbzJSSkZGbHRnTWM3MkNCclFKRVV6UTlVL3lIcktBcHlqWWJzMHV3T1o4TXZNak0rTWpNaXZ6TXJzK3JsSDFYeCtlTEZMMTVHdkhqeGtZWlJ6MmZ0Tjd4OE4zeCtieXo2RUFFZkFpdGZJdVR1TjBXZzdYOWUrTkdGQ0lRanNHd1MrdndDUy9XRVJiM1RJK2JIZjBRZ0FvRWhsUmg0ZnRGSnQyS1JmL1MzR3gvcDNZM0lodEdJZ0l2QUJmTGdaNDJQdEVDR3p1eVFGdmx1K3I5a3ZzLzI0Zzhpb0VCZzVmWFQvOGFEaDNjSDRGN3FFZktBaHIxQTNrbi9ET01DZGtNT0VQZ2JSR0N0Unl6eVUyNzRDam0xWFJ2UURiM05NTmFzdXgwM3B1VkV1RDc4UXdRRUFpK1NwNHkvUW00N0FSZGZjU082aEp3YnhvdmtoQ1c4ZW9lNThCOFI4Q0N3WnBHQlliVHRZY3N3K2p0dTVBcDBRenVHNlFaRDRPcDMzQmo4UXdTOENGd21JQnNmSnVUQUR1NE5XQ3gwUXc4MlFZcjRjNU83MElFSXlBaU15TDdSZ0M3bmtBWTJoTkpNdTZIZXRFTkRuV2M0WUM3OFJ3UWtCTllJS05EcklDNjJxclA4a29nYVFlQzNoTmRvSDBrZWRDSUNESUZOUWpyR1paQ1dsMm5JNnAremNNT1dxOXZDYXh5ZlNoNTBJZ0lNZ1NhQnNlc0M2NFUyYkVGeTQ4QytLSHUzVGxnZS9FY0VKQVJhNUM4TWcxcUJydEZBandnOUJrdGpIWkYwNzB5NDBZVUlNQVJBRmJvRGJwT1FiUm9rRDJUMlNIWklRNTBIQnpLR0JQN0xDSUFpdlFQK0s4OSt4UTZWMVdtakMzMlRzQXNaL1FNNUk3b1JBUWVCTFVLT1pDekVwTjVvV1BkQmhrNTRiS3ZEbmVoQUJEZ0NmVG9oa3g1SlRpNlRFNGg5aFVVdTNXTXUvRWNFSkFSNmRDVk1lcnBuM05PNloxeUJib2dGWEFhMUd4OUV3SThBbUtYdmU4SXVjc1BRQmJwU1B4Ynh3MnVlaE9oQkJHd0VWcjBHYU1OWVB1ODQwS3laMUVYTjFxK3pBOWJKcmhPQnY0aUFqQURZRkw4dCt3MWo4cFRqN3p1aUE2c2M5cmJwWlpNclJkNzA2RnR3QkdCQzVodWYxcDA5Wis5eDllaGxDMlRvUC8ybGYyRktVN01GeHd5cjcwR2dLOC9hblpnSitkM3YvK2RqY3I3dGVLbEdUUi9jTGVRQkRqME1nVEhiSjhRQ25HM1RzR1B4Z0lYOEp2UkRjTEJzd1B6NGp3aklDSUJ3ZEdRL2RhOTl3N3o1eG9FSVhmNkdlZjRCeVM5aTBJVUlMTnNicEJFSFJDQTFBakJubHhiQlVwUEJqSXVMd0NWQ3BHMktpNHNEMWp3MUFrM3ZwckxVZEREandpSUFoc1A5aGEwOFZqd1BCRnJPYnFFOFNDR054VVFBNXZSbmkxbHpySFUrQ01DYzNqMkJtQTg5cExKd0NOREZpODdDMVJvcm5DTUNjSHhzbWlNNUpMVjRDR3pCMnRmaTFScHJuQ01DYlZ5QXp4SE5oU1ExOGU5WlhFZ1VzTklaRU9nRjlpeG1JSVpaRnhFQm1KRHRMMks5c2M1NUlVRE5RanQ1RVVNNmk0aUFmRXBzRWV1UGRjNk1BTDFWaU85dnpVd05DU3dnQW1BV0lvT1oxL3R4K1NhMW1YT0REQ1JDb0FraWxDaERFWW1YVFR3YlVnU3U1ZEFjRVRMenF4WldXbmk4cUp6V0xxU1Vsamd3WHdqOVNLS05YLytRaFFieVNKZ3FuQURHc2RudW5CN0RBWkl4OWtJVkZwRUkxcFpBaFBnOUhoRnBpNG4rMHMydmJUZFJoSW9CdHd5cTlJN09PMlVVRkZvR2lsQW9QTldPcERjRlg1czVpeWhDTTIrQzlBekFJVEwyL1ovMFJETG5SQkhLRE9Ic0NCeURDSjNPcm5pM1pCU2htVGRCZWdiNklFS3pYOTlBRVVyZmdqem55bHU1MCs5NDhjZ2ZrcU4vRENJMHlKRmVPbElvUXVsdzgrUWFQdVB4eXA2TFJXNXRCcXZlN05jM0RCUWh1Y0hUdVRlZFR4Y29NemNLL0M0emZEcWhxUFdOeHY5bjJaK1ZYbjlaV1N0UFlDWVJXbm45dTA5ZGF2OSs0Q0c3VUo1VzJFcjFpK3dDMXZ3aGdjdGVmUmNHNTFiR0kwRDZES2oxWTlnTXNvaFFvM1d2ZHo2dzJWNlpzWlhVWm1KR1A1ZTlIekR3Y2JGRUwzOHU1cUgzQVJlenZrR0ZrOTVidEJ6U3YvSTZaUkdoeHg1MExqcGZjelF1aFJxNWYvaHZmdTd6Ny9kZXNNMFpxTGpqVmE5VlBSNm14K0dYOFhZTFcwdS9DTzFjelBwR2s0b1ErVCtNZnB4dEhGbEVxSFZtYk5KdlljSFQ5SHpBMFlPd2MzdDJYUy9qYXR0ZytuODZVZzJ2Uk94ZXZsS1k5VzhMMkxvamNaS2YweVMvL01rZXJmUkpESm9aUkdnVlhxOEw3dVhHSS8vOTJYTFIxSWhhVkpjcmwxT0UrelhYNmJRSG51bDErcmllYmFtb2R0U2hkalBPcXl3UmpPMXNBMXZYWXFkT2tIRFZObGorcngvcnhacE9aaENoaTZDdFgzVDF1VlpZWFpZLzkyY0FmUXpkUGtFdFMwejY5K2o3eUhTT3RmZWE0RHNReFRjc0ZpWEN2SzdqT0FxRk4wczgzd2c0dVIwdmFiSlVtMjZWeG9keDhtVVFvZjZPWVJ5NzJFWjFlZEFSN2NkaHA1SnB0cUNwRGpsbkt5QkRwOXdIMzlVVlVTSlVkbTJFdlY1eXdxVHVGdkIxbWpSVG5QUXJaM2FxelhpVHlRd2laTzdDOXg2Y0FRdzJyaHlGOGdZaVZNajdFbHBvWHBGVWJaVzRoNG5RaVNEZGo3WVBXK0g2dHFDVjBHVUJYN3NKOHlSSlBvNDNsMHd2UWcxNks0bmw2Skt3Y1dVUXl0eGVsSXlGNXA1eEpEMXFJNG1RTVpRVTZFWU15MHkvbUpHTVdoWWpZTThFM09QM09ySHlweGVodGY4THJ1cDNKZU5DMUMwMzNVSXJHNnVtNlJQUmJUbXlDRjJVUnFiTnNIbUVXeVN6ZktUblFKbHpoWXFRTWlhWHdEVnpoOUY1RHkzSit6ekY0dWhzUEdxK1FNZCszM00rY0FsQW45Nmh6a3ZVRGhYMkRLTmtMQ3p6ck9QOElyUXNUYVdiOHFDbVlYVEZ0WHhvb3RNRzA2T3NoZG1jRE9NaFljZ2IrOW9mdkpMVVJJdlFaakEvVitJdXVSY2tNYTFhaTRZWkpXUGFuQldJOEl1UTBSTmZBR3RGVGVrcC8yWWhONUhSOFZVMGM5NDRyZkJHTm94WDJRWU56ODhYUkhuUklyVDBzQ2N2OVR6ZGNRbDAzZmVyVDE0V0pCVXUrUHJqUzRyZ21nUUZSR2pFYmNKTHNScHhKRFZIZm5XbUU4WGlVQjA1TnVNWTdFYUxVQmlSc2R1bGp5T203REJzaDh0WVdDRXpqd3VJMERHSDkwS3NGWWE5Q0hqUzFiQUpJc1JsT1IwSmZhNzE2YlkrMGh1VFRZUXNWODFrLzE3YXdnYzYwNzd3MWMwVkVLRkxYQlBZa3pScmZiWFlNcEErUlpxWVBvaVFHRkhUVUFqSjA1TDA1WkJrTkNxVENMRUpHVXd2ajBMTEFjdUtQS1VKVFZ1OXlJQUliWElWWkdSdmlZaGllYmtRdFhjTUlyUWZWWFRLK01mdWRXTG56Q1JDekJ3RWV3TUdvU1hXMml3RUM0RytOMkNEcngyWkVSVjNVWW5DSnhROFhhUUpiTzNvSXJPRnIxbnVHLy96TWVoa0VxRjFkNm9Pa3piWVcvSk9mWEhkUWpEVWw1ZHZURUNFbHMvZEFwWmlkaSt0V0oxVk1xNWhpa0lLSUdzejhkQXJEaS9pWFFuaExaTUlYWEFSdE9mMm15Rjc5MnB0RmdyMlFtdk1vcmZ1YmxRSUFkaU82c2RTbWFLb2VPUHBKWG55ZXE4M05wTnZ5VHAxOHUvRm1mRmxGQ0hIb25oTUxVMlg3dWpacnJWWktDaENCak1HYllWdGs1TGdPQzVnNm1SLytIa2dGWktmODZyYkNhMlorekdJWmhLaFRkY3FNcUZJTm5lMHhVR2Z5K2N3MmtUVmpRZ01aSWExN1hEYmx1elVZZnhmTEtEK2xDdldHNGFWblR5dVlkNzcrZjkvWUJpTlNheFYzSGFXeWwxeGJNNHdNWHZaTUlZSFdtYkJMRlNZQVVOYmFINFJRUkZpdENlUk96MmNsSnNGZk9hQVdoYVpUc2I0eWVmZkZzN3BHLzZzRjh0dWFveXlyRHdzTytyMFZkcytjVXZQUDVpRlFrWTVmYjZLeE9oRnFCZlVaMWNlUHY4amgrOFh6emovTUdYbDdyd2N4eUJDRVN1VGtVV3R2bjc2QjhGRTQvc0RlLzg5aVg1QkdvLysyZzhCSDMvNFhZOTJmSFErK21YcjV2L3RDMU41VGJxTlljMzhZK2lGTnR6eDA1dnM1MjdjQXg3QkxMVGpobi9RK3VsZGI1THErL1FpRk5Sbmx5M1lJd3Vnd0dNZThhcEJQKzJFOFpEc2pqNDBYVWIxWUtrM2xZekNxOWI3Yks1VzZmRDFPRkFuMGNhaE5rMW1QMTVXR3Y4ZHVraEMzaHBkeldQeWxHR012ck1DRTVQMmZqQjU0ek5rYXBMWEdXQVdPblZpL3pLNUpiMDZ2eExOWTVCbytTRmFFWUpKa1Y4eVJoUlBlOVMrSW84eVViYlhGSlVhUWtIZlNwRlB5dEttM1EwM2szWmQ1MVdiNmhqSW4wbHAxYzQydVhYeituUFhiOXp5U25OalNPNytxckUyaXJBNFU1cExzTlcvQlM5ZG43eFd0YVl5SXZjSHhwdlBPMTBHOVRMNVBVaDc0cklES2hKenFobXNTS2hXaEdCUzVHUFJHUUNtQXdodXkrcWZtYjkxM29RMnpyYStzVVJ0QXF4cERLUG52dHpkVTFxcDFkNjdQMDMvVXowVGNvKytXdzFUeGtCRGFlVjNyQ2VCajdYZm1uNGxtT0l0NUp3U2FoME9HZFJOV0ovYzRxbzE3RmE0SGN4VnZSQ3RDRjBJNkxOTmFGZDQ0SXo5RXV0NDdmcU15WDdlOWFMbFpDTjZsVnA5VEtaandMU1ordk40WUJROHRlazA3MlVqQjJyQklhVnc4U1hUblpBMHJDT3FHTEhsQVJqZndGLzlSeXRDYkx1VXFJSkp6ci82TUdoRHU4YUkxZEtPSE9ZK243QXRpNGVpNUJTdThRNWs0bktZMzdRWkd0N2R5ckJKQmluNEVsbmFydTJhVnRaUnRqWXByRnQ4QTJOWGRLSWlWd1ZkV2hIYUVvcUV3L2FHWGRHLzN5TEU5TnFqUjlUczRYOGFyLzRCM1RQd3B3MzQ2VDJMTVpTVlFENFJzRVRiRjFiSTNkRXd2Mmx6bTg4eU5yS1p6MkVXOGphSFg1T1poWm9VeDJQQ2JMdEROcjZKYWxYU3BSVWgyeW92czd4MXIyTjdmL0FHb2Uwam5xNUs4d1ZqaU81eFhqbVJQK2lpVEdWcm9BdXZBRlhvZSs0NHhHSGFmQmdzSmtVSU5EeWxUSitWYkJ3MitRa1ZtS1U0Yk1JSmFzUG9jc0V4M1c2S0ZsYmxSeXRDYmIvMjBIMFhxMGZYcTBnMi9TbHB1allJZ2VieGpJS01wdWYvRXMwNThBUWw5RFJwOXlOMmNvRmFjWmFRZ2pyNWkwSVdOMktadDlWa0lGU3NpeldKbzdJdDJkMFBYM0lGL1kxSnE1WklKU0swSXRUMzl5MFRwdHN0KzdBN1ZsVjEwOUlJVUJ5RENyUTRmeGZUb1RUY2dYd2dpZlFQbmk1LzVSMS82bCtvMWJhYitZSi94cHFJS0lnM2V5V2h0cWMwNzdyOWJsbE1uWVkrTktOZEl4RkQ2Uk5yUldqQ0o1Y3U4Yi9MQ3FGVFQvblprcXhoY25oNmR4c2tLTnQ4eHg1a2dNeUJ3OFFrbzBTeXFvQ2xneHZOajdtTHhTYjVCOTdPM1BUZ3RNVnlpK0lLeXJVTEw1UjFKd25GbWFYVml0QlFwU1JUTnBmOFU4MnRqTTBkclBzSVJJaGJCWVBSMFNGTGRnOHg1b0xUeTRuRlkybWZmTTg3bkVjejVVbGhpWkdheVhlVFNneHNUM01GQjh4Q2g1NHNWZlZvUldqTVpqTit6cHQrQzB2K0l0UUNFZktYNG1jajFIL0ZGa0FoaDNtcEZjRFlvVnZ3V3pLWmptSE95VlhDbnV1Y25BRHBMVzZTQnRlWlcxYTEveEtMMExLL0U0SmF5OHNkZVZUWEFoSEs5STR2Zngrd0laUUpHQjF5VVN0Z1B1YmFGWTFsaTR0QW1ocURtc2JWQVdZVytoc0RvTlRsV2x1YnU5SVVVR0llclFpMU5MMVFPOUE5WE9MR3NKejRocmtJNzg0emtJUXhZZC9KRG1wRnR1VVNsd3Q2Y3JWanU1OHdzM1VSZlZGQmtHL3BkUmx6TUNlc0xMZnd5djVwUmFqSHhtUXY2NnRNUXhYQnVZc1F0ZGZ5QVVPVWs5UWx4b1M4MUFxZ0NGcCs0NGYvMW04UllsOGFtNVFsbnQ0VUZmU3F6V0x3elV0LzQyVVc1VWdxUXFQZ2lBQjJ1M3k1czQzVFZESEk5blQ1U0FCTmY1YU5scE83RGFMdFBIZi9TeVo2MG9nSWx6Z3gwd09RRklNdnJNN1V3eXlrMkR2dFlxUHVoZFo5TmlHYU9QZGVpSTRYQVkzTFpTdkJYNHVQQ1cwdVRBbXlLNUlPWWFQUTllcy8vOVhmLzFsRlpKSWcrcElNM0F3ZStZWTNldDhKejB0L2Mwc3A4RS9iQzZsMW9kWTdncnhjeWx1ZGhtNU5XUENDNWNVTUFZM0tucGRCOGtsTy9XUlBhREF4bWRBa2c1NkgzMmJSbHVWN2owL0l2T09iaGs0bGdyVWlwSnpVWDdaM0Mva1l6MTJFQU1jYzJoeTJOekUxTlMrMXdoSWFqQStEaEY2b0lUZE1UdVM2OXZtN2s1ZitscEN6Rk1rVGlWQ2o1eTR1ZXdySzNTNEU3MlVPSFpzWUUzSlRLNEN2N0NvYXhRNXF5Q2UySHZrV2crOVdUdnFicDZrSzhXaEZTR1dkVnA5RzN4SldzbnhZSEVGVHNURW9QVVZvQTdlOTgxSXJxTEhoS0QxRFVzNis2Q0dCcUtRMmk0cURsTzFLT1NyczFJcVFmWDdPeTNqRDNQRUdPTDQ5MFNsTDBSbjJDNDJocWZoTEtwRk01bXp5RmJLODFBcDZBZVIyTWlZMHFlRWx1ZU5HZWVRYlptck00amlSeHpjTm1Xb0VhMFdJM2RBbHNma0NINytsUUxwSlNucU5XTXhWZ0Z2elJPNFhNaUVqVTJNWXZlVC8wRXdkSjFkZWFnVVZvZVI4cUhJTWhWTGxrVytZcVRFYnFHZDhVOUdvVEpoV2hJSzdnTmFzRThiMnYyVU8rdDlXZFJsdGdGdnpSSzRNMEh6c0paVUxTdVp1Y1gwS2hyUXp5UHRmaytVUHBvWXhoOCtqZ3JGSlFzWjhrS1Ztb1VQSStuYzZORCsweGpYNkQ0OHp2bTF3eUozUUt2NXFSV2d2MExlSU95NzUxUTEyalpTN0ZqUHNGNkoyTjQ1a2VzekVucTYyclZiWUYwR25KMGR6NXFIbDJ4d01DVnRybzRmSXppQ3N0MDBqd0p4eG0vN2JtejZvRVhkdm4zcXEvV2hGS0xCM210L0xBNXVqd013dkh1WGVhUkdkMkdVZk5zcis5bG44SFhDR3RKWEkzaStTMDl5Mm9rNkVYdDUxNU5zWklXSDE5Y3pod2gzU3VqdVJUTTA4Z1ZhRUxoS1BuQmpHaTBJVE92WW91OE1jUmgwWkI5alFKeENXSTVLNWhVcnVER25ya1RwWUpQMGhIeHRwMHJWL0ZabEJsd0NFZXRlTmd3NEpYSzU4Yi9HS3UwUGE4RlJIb2pyaFdoSHkzOWd1VDhkNiszSUZRajl6SXllTTZRYnRJSStaajVqY09IYThpOWsxOUw1SG5YNHN2VXcyUlFVdCsxWGRkR2lCQ0IwNEtJR0xEbW5tZGt6UVpwaE1LMExRazNaa3ZoNFQ0OEFGUHBEYkNTeG1mNUdUWjNBRGVwNm1Ta25LWW51RVlPbVNOdER4ZmtwQ0l0dWVqRW5EdkNaaUVycUVxRUNYUzAxZ2wxNjJLY0JBdHV1UTZ0cmEwbHBPNm50QzlwSWwxNG9RS0xXZU42QjNiajNwbkNKZU1qMFZnM25LUWJJeUkxSWZnd1Q1QnRHSUhNcm9Iak94Z0k1S2pTMlQyOHBrU1FLaHZkMFdobHlQcXhaN1lsS0RoZVFqSjJuZmtlLzJ2dTJGRHRqRjByUmRWNFR5RUpQeURKTFJVV05IV1M2dnBSMEw2TjBpNUFNRG1DdTAyT3Z0WkFOWmc5QWNueTZ3cExBMEpTMWhZdmM5a0d2c1dKa3MwZnBKU2JIMFlCaTZ6ZHhMcHY3cjZ5eU45aDh3Y3doQkQybWJSTVpuZGxvd0VwM2FEcnBaWVJzNnArRFdHanU2VWovUWRXb20wQzBCRjNEY0o1ODIvaVBZUmQ3d01ZdlBHcHlLck9abExHRzRUSUFsWnFObFlTbittKzY2eStxNVJlMTF5NTZ1TXdVOW1tWEVMWDlHLzE0bkpSR2FqVzJsYWI4MHBIVnR1RzhoaU5hT1RiVVA1ejA3WUhMYnQzMlYvbWtNb2IwZWdMd0hud25aRjRIT3Q2QnBZbmk4dmV1bXp5OHlwWFNOb1FobW8wMUpnbWFESWJwRC8vc3YyMWFIeTFRZnl2cGM1blg5MzdNcGdNZk9Td0pmK2JSTnVGZVlvdWx1c1ZrbEg3WDc5dDVwVm80THp2K2JuL2g4ajRvRW1iNzJxNS82cHIrd05uRlVQRHY4b3YzTzJYdkIySXZDMGwreWUyTG15K0hmQkk3MnM5TnhSeDM0V3NJZTVYQjBMVHRKbzhHdWZ2c1orTVIwbG1lRlREdVFmL3dTU0RxOGtVMEc5YkVqbzhOM2dJWjVaR3prZmE0aEM4dkt2RzFvSy80RVJ0MHRlVFNaT0Vjdld6UzVUMDlwNXRGbHlQelJNbmJrZ0pUdWg4aURnZkdFOVF3Yzd6dnZiSGduQnlsSlFvUGYyeldNLysxTDVQOU1TOEhOMTRWYjB0YisrSHpYYUpoa2Q0VmRaR3dzV2VRclJ1TXpvS20zNGRZRzhVbWRqS1VWbHIwOXZmbWM4eng3d3dxSWtEeEFyYmtOUU9kdkZFUDVHZGxyUEhKSU5qZm9BMHlwekVhb01hYjMwTkh4NnhHNDJDNVF2M1RFNFF0NE4wRWIvSU4wdVVXdXRSNjliTzhVQXQ1Q3BwWVlaSDhVNk52aHl4YmNvT0tEV21Tdmg4dTlyOVJtZHBuVjhaL2QraVYvdFZwc2ZwcFR0ZXoxRFg4aHFXaXZmZmI5MHpkMmFOWVBtajl1LzFOM3h1ZXZQa3ZlL3JYdGpFUWcrOUx2V0QveHZFM21CM3RQUy9UZ0t0Q2ZzSTBucXcrZmZ6eDdNYk9sWU1WNkNXRFE3dVRLcDcyK2tTdEZKRFlyQkNhZVdiMk9pNDBjTmhoNmFOUEJzdkpxcElkajlPZ1EySXUxZkhveGg5MWhIZzZvcFNyN3RsY1BTZlRNQ0lGNEg2czd6bG1icGh0b0NFekM4WmtEQk5aaXJWUU5ZMmxNQ2VCb2d3aGxYMVJQVUNBbUxRNkJZUXhiU2lQdjR4dXdpSkRIdHRmaVVFSEtDUkRZaTJIaHU1SjdqekVHRVRwTXdDVW1yVEFDY2NSakw5YTBMVWtsVFJDaHN5UVpNRzJGRVRDOUM2b3FUaWM1VzRYb0huZDVWNDZxVEF5ckR3THRTRlY1TGZmSkV6MnNsYnRZMWdmeWVlTjBQWExGL0hMdWFndmRoSVdXeGZtUkpEUEt4dGUzOXl6a1dXSFl1SWVXeFR3Qm5UR3Q0NGhwZlNPdkJYQlJUN3Era2NPZVJVRVFYVE5GWUlWOWFrVERoZThzaHlaVm9tQzZ2c0UyWUNYS2lJbXJpY0FvL0NqRk1HcWdTMTZyTFJDaC9lVFpNRWRWRWJnU2F2YlppR0Y3VEZxekpvalE3YVNaTUgyRkVaajR0cmw2V08xRzI0MDg2ZU40K2lCQ1IzRVNZcHFhSUxBUjBwNUwyVTR4cUJFWWdnaEptL2pVaVRDMFRnaDA5YXZtZTJ3N2JKNzE2WUVJNVVrUGFjMGNnYlhmMDdMd293TnRWUG9JUy9yQVNYb3FtSE54RVlDdDJPd2c4K0tDZ0RYUGdnRGNYcG0vdVRJTFE1aTNiZ2pBblRTeHRtelhyVjdJYjJrSTBEUFhoNldWaGdYTklRSndHUkJ1T0p2RGRpMnhTblI5NDZERThyQ291VVBnR0VTb00zZTF3Z3FWaUVBWE41eVZpUFpjRmpYQkRXZHoyYTRsVnFxSEc4NUtSSHN1aXdKVjZOdHpXVEdzVkVrSTBQTWJoeVdWaGNYTUpRTDBmcXF6dWF3WlZxb2tCT2o5VkxzbGxZWEZ6Q1VDOUNiMXVhd1lWcW9zQk1BNEhiN2h2eXhHc0p5Nkl0RDAza25jK0hjM3p0K0FBMXRkVzNNbWZQYzl1NFhnYnY1M2Y1bE1UMmZDQ2haYVR3U0dudDFDajVCZmdLKzltZWVEZWxZR3VaNEZBcVo4OGYyeWM5SCtadTYzWU0yaVpsaG1TUWdRNTBaNHA3Umo5NURSR0w0bmdBOGlFQXNCK3ZHRWJaNnk1MTRic29jR2E0NEpPaUlRb0R1bmVSSjNIRE9NSzdnaG40T0NqZ2dFWU9jMCt6S1hZVnhtTjN3c29hMG9BamVNNWdqQXptbHhhM21iSCtYQVJRK09FRG9pRU5pVHQzb011UXJVSytMd2ZnUXJHRjFQQk5yeVZnK1RYeEl6MW53K3RwNlZSSzZMUkFDMnZaNHkrckIxNk14MUQ1bFd4T0x3SHhIUUlHQVNNbUJSY1BYcnFlc2U0ZTJMREJYOEQwY0E3bVFROXdYRDFhOUhYSVNLdUlZbW5CZU1yU1VDMFBIYzU0ekRCSitKVUo4VWNKMGFMd2dkYzRRQTdGa1VGMkxCN3JNRHQyNTlOQXpOVVNzWFdoVzRNUGdhTHdCc1JFS0V4UGpHNDlHQkNBUVJhSXF4eXpBa0VlcEtLbEl3RjRZZ0FoeUJvWHllSHJxa1hUZW1TNlk4RFRvUWdSQUVMRmx0aG0zVUtFSWhZR0dVQWdHNEpPOWJJaGhGU0dDQnJwZ0l3SVJNYU5NR0RHUk1uY2FCTENhQ0M1dHM2WXZmYTlkZEVocndTejVVcHhkV05tSld2T3QrZGFQck1mOUlNekswQzhWRWNtR1RFVmNINnNtcUVPdzQ0d01aaXREQ3lrYThpdE1OMC9Sak1hQk5IMG81NE50MlI2NFhGemdrWE5BWlJJQitqWlV1alVHM3N5M0ZlcFpadzc1SEpPVkI1MklpUUhzaHV0MjE2eHdiWXlEQVBURm5ybnVDbXowWUt2aXZSTUN5Si9NTnl6T09HU0JaSjI1eTNIS214QTBET1FJamNyZGpHQmZJT2Z4S2o4Vy91ZGpDVDIxS3VLQXppTURsS2RXQld1UVpiNVRZTVczeC9zaWJBbjJJZ0lOQW8zZC9ZTHlHM090NEFlbmlJU0F2SU9qVEl3Q1RyeHRrZXVSTGNKR1ppWlp4cjRjUEd2UUdFSGppOWVUcEEzL29LdHNGdTRrVE1qODI2SStIZ09sK2plTllYbjJObHhWVElRSVVnYVk3SmV0NVRJNklEU0lRRzRFVlp3Y2FqbU94RWNPRWZnVCtLZm1IaHJGcVRuZjlFZWhIQk9JaDBCakRkWjBXK1VLODFKZ0tFUWdpMFBqc2plblR6d2ZETVFRUlFBUVFBVVFBRVVBRUVBRkVBQkZBQkJBQlJBQVJRQVFRQVVRQUVVQUVFQUZFQUJGQUJCQUJSQUFSUUFRUUFVUUFFVUFFRUFGRUFCRkFCQkFCUkFBUlFBUVFBVVFBRVVBRUVBRkVBQkZBQkJBQlJBQVJRQVJxajhEU3JVSHQ2NEFWbUNrQ2JYN2o4RXpad01Kcmk4QS9FSmRXMTdZT3lQZ3NFWGdDYmdBTjNGYzBTNGF3N0hvaHNQWkJ1SVlZUmFoZWpWWWhibGMrOFRBVklCU2hDclZKelZpQkwxS1I2VGQ3S0VJMWE3Y0tzYnQrOCsyL3UyMmdDRldvU2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2pRVVQwNVI2NHJnb0JKeUdsRldFRTI2b2tBZklqanBKNmNJOWZWUU9CVklFSXZkYXJCQzNKUk53UWEvK01UbjM4OVNCQWg1Mi82NnFkUUlhcGIrMVdBMzRZdFB1eG5wd0ljSVFzMVE2QkJibDEvem5tZXZXR2hDTldzK1pCZFJHQzJDRHowekd6THg5THJqc0F5K1l1NlZ3SDVueWtDalNHSzBFd2JvUGFGTno1RFVJUnEzNHF6ck1CSFdqQVB4NEZzbGsxUTY3TGYrekhUTnVTZ0NOVzZHV2ZKL0JBRTZCOS9HSHVoV2JaQnpjdis3ZXUvOUcrTXl5aENOVy9HbWJPUElqVHpKcWc3QXloQ2RXL0JtZk9QSWpUekpxZzdBeWhDZFcvQm1mT1BJalR6SnFnN0F5aENkVy9CbWZPUElqVHpKcWc3QXloQ2RXL0JtZk9QSWpUekpxZzdBeWhDZFcvQk5QeXZQSHorUjA2K0Y4L1M1UGZrUVJIeXdMRVlubVdMa09tMlhWY3orMmtiRktIRmtCcFBMVWQwaDhhZjA2QXI1NTZJVkI0VW9WU3cxVHJUS3BVZ01oMUFKZHEySUdXckRZcFFOdnpxbUx0cGl4Q0JZeGRMZWR5QmdDSlVSeUhJeHJOSnpyLzZNSFJEdThib2JqWktkbTRVb1J4QXJCZUpEZklkWVBqdnc1NW5rMXdMc041NDlRL29ua0Vnc1IyQUlxVEdaWTVEdCs1MTdOcjk0QTFDQm9GNlhuVkdPZFV2bFR6Rmd5S2tBR1crZzdydll2WHJLcFRwdGtwNG5ERE5xSWNpeFBCY21QOEpNd1V0azkxZ3BUZkJacVI1M2hwTVRVTlFoTlM0ekhIbzMyVjFhK1p6ZGdkRmlBRzZjUDlMT1YyTWlTSzBjS0xES3R4OGlibXkvYU1JWmNPdnZybVhjK3FFVUJlcXJ3eGs1THlkVXlla0Y2RTFqWUhwZndseXJsVGdnOGt3cEVvSXJKS0RuTmpSRG1TbVVqQWdNRGdSVktiTWlUOGtVeEFDbzIvbFJWZ3JRa3E1b0lHbmdhS1ZTUU9wTUtCS0NLd3J1b0tVL0dsRjZMOHJCWU9RZHc4Q0pTbFRCbEpoUUpVUWFMMGpOMjYwSXBSYkNVaW9nZ2hjdG5jTDVjTVlpbEErT05hTFNxUDN0dndZUmhIS0Q4djZVSHJNWGF6UGhXTVVvVnhnckJlUmhybWpaeGozQytteHdSaUd3QXNQbUN2NGovdUZncGhnaUIrQk5ldUVCZjFiNXVEL2JlWDgyZzdFL1VJY3BVVjNQSFNmSWJCR21Jdi80MzRoRGdVNmRBaXNXYmRaMVBvOTVzcndqK3AwQnZEcW1mVkZvUWtkNTdIVWlpSlVUemxJejdVOEhldnRwNmZEYzZJSWNTZ1d4SVJxYlpjQUFDQUFTVVJCVlBHWTBJb3ZLQlk4azZPQUlwUWNzM3JuNkoxYlQzN2Fyc0tTT2MyaktpQkNlWXlIZWJDQ05NcEFZSjJRVzRSOFlHQVl5eTJTeTRhUGk4USsyMWdHODFoR0ZSRG9rMDhiL3hGT1E3L2hZM0RhNXl3UGpyWUk0VmFDUE9naGpXb2pzRVRvQXV2UXNSK0txVmtHcHBmZ1pEVjVQZ01CekZvdkJDN2FDNnliamdqdFpPWDl4LzcwazY5MWppNCsrZlZQL0VsV2FwaS9GZ2hNbk5QUXRPY2dyMlRtZU04UlJlZFh6UFF5MDBVQzFVVmdqV3piekYyQVZyOFgzQVdmbFBHOTZjMjN1OStXdjM0ckx4RmErZUwwWHlkbEJOT1hoc0F5dTUzam45MzZwZXdTVkFqYnF4WmNXdk9UaFpCR29ndUJ3Sm81UFRLNmVSMlRYQWpJc0pKZUJMcmtkV0N5eXNkaTVhV012c1ZBWUlQWUtsVXZGN3Y1WWtDR3RmUWlNQ0wybExHUEk1a1hGL1RGUlFEdU03YW5qRTJ5SHpjTHBrTUVaQVRhN25MYmxuT3p1aHlGYmtRZ0JnSU55NzJEOWhJdXU4V0FDNU1FRVFDTHAyT3R1a2h5K0xKRGtENkd6RDBDWGVLdS9NSWVwTG12TEZhd0FBUmdISHZaSVFzaVpLdlZCUlNDSk9jWkFkaEFzT1BVRDBUb2FKNXJpblVyQ0lFdTczdGdKK1JwUVlVZzJYbEd3SEpNMDFCRkVLR3plYTRwMXEwWUJNQ3V5RFp6YnhGeVVrd2hTSFdlRWJoRXVFMGE5ckxkbnVlcVl0MktRYUF2UnE4bVY2eUxLUXFwemljQ3B2aTRGU2pXMkF2Tlp5c1hXYXNWMkl2TDZFOVFGMkpRNEg5OEJPUWpqUzB4cHNVbmdDa1hIUUhRZi9nbjlnamFoUlpkSE5MVUh3YXZmVGZmR29qUVFSb2FtR2VoRWJDRUNnMFdJbHdqVzJoaFNGWDVKYW5uZ2JzalNDY1ZGY3kwd0FqSVlnT3JyTGhmYUlGbElXWFZ3VGJONS9SYmhHMGNTa2tNc3kwaUFtM3BrSDhUYjcxYVJCSElXbWVZa04zN3V2djBwUGw5VnJxWWYyRVFBTEdSbnpzTFUzR3NhRjRJeVBJRDdzTzg2Q0tkUlVHQXp1bFAzY291Zy90c1VTcU85Y3dMQWRtYWVBVkVhSkFYWWFTektBalF1L3RZWFdIQkZjMUNEQXo4ajRzQWlBMDNDKzNoTmNSeFljTjBBb0V0eVN6VUordzhtWWhIRnlJUWdjQ3gySHR2akhGQ0ZvRVdSaXNRYUJQeWJSWnM0VUZFQmdYK3gwZWdLM1lMMGZsOUozNU9USWtJMkFqMHhaa05XTFBITHpLZ1dDUkdZQ1NzaWJCbXo4ZTB4SFF3dzhJaU1CSDZENmhGSnd1TEExWThOUUlnUXJ0dTVqSGFwbFBEdU1nWllTQWJPUFZ2NEg2elJSYUU5SFVIRVhJend3cVplMUZWZW1xWWN3RVI2SElSQW0wYVZhRUZsSURNVlc1eUVSb1J2UG8rTTV5TFNHQ1BpNURGYnhsYVJCeXd6cWtSZ09ITHlidUI0MWhxRUJjN0kxdzUzYkVSMkNOVHg3SFllR0R0RXlNQW5jL0F6alRHY1N3eGVKaUJJZ0EzTVd6VGYxaGpQYVgvK0NBQ1NSSG9PVGROWDhWenJFbVJ3L1F1QWwzbjJ2SVd1NzBjZ1VFRUVpSndtZHlCSE92WUNTWEVEWk56Qkpic1Q1RU44UUFaUndRZFNSRm9nekwwWnZ5OGVGTFlNTDFBWU5tY211UitSd1NnQ3hGSWlNRHF3K2ZmMjBtWUI1TWpBb2dBSW9BSUlBS0lBQ0tBQ0NBQ2lBQWlnQWdnQW9nQUlvQUlJQUtJQUNLQUNDQUNpQUFpZ0FnZ0FvZ0FJb0FJSUFLSUFDS0FDQ0FDaUFBaWdBZ2dBb2dBSW9BSUlBS0lBQ0tBQ0NBQ2lBQWlnQWdnQW9nQUlvQUlJQUlxQk5aK3d4dmE4UG05c2VoREJId0lySHlKa0x2ZkZJRzIvM25oUnhjaUVJN0Fza25vOHdzczFSTVc5VTZQbUIvL0VZRUlCSVpVWXVENVJTZmRpa1grMGQ5dWZLUjNOeUliUmlNQ0xnSVh5SU9mTlQ3U0FoazZzME5hNUx2cC81TDVQdHVMUDRoQUZBTER1d05Jc3RSenYvWHhBbm1uaytNQ2RrTlIwQzF3L01ycnAvK05WWC9GdlE4VTdwZ2xiNE43UXEyN0hUZXFkY3JTNEQ4aTRFVmdyVWNzOGxOdTJNVlhYRWVYa0hQRGVGRjg4ZU1xdmFvUEgwUkFnY0NMNUNuanI1RGJUa3gveDAyeEF0M1FqbUUrNEJsV3Y4T2Q2RUFFWkFUV0xIb3RldHVWbFI2NG5RZTZvUWViOGcyek4xa00vaU1DSGdRdTA1dEFQMHpJQVExdENLV1pka005K1hNTnc0RW5IM29RQVJlQkVkazM0RnVMNUpENmwxOXlRK0Z2QklIZkVsNmpmU1I1MElrSU1BVGcyd3luY0tFMXNTKzJObGIvbklYVFc2NEowNURzd09OVEVZY3VSSUFqc0VuZ0kwT1hRVnJzNzNWdTJMOXVKTmdYWmUvV0NjK0VEa1JBSU5Ba29QN0F4NnFjWHNnalFvL0IwbGhIcE53N0UyNTBJUUljZ1JiNUM4T2doc1JyTkVnZXlPeVI3SkFuTkhBZ0UxaWdTeUFBcXRBZDhKbnUxNnBrZGRyb2dtQUp1NURSUHhEWjBJVUlNQVJBWjk0Qjk1Vm52K0tFaUVtOTBiRHVnd3dKQmFqVmNaTGdMeUlnSTdCRm5DK2RzVEJKVGk2VGt6NGhyN0NZcFh2TWhmK0lnSVFBQ0VsSDhocmRNKzVyM1RPdVFEZkVBaTZEem9RUEloQkFvRWNYVTZYbklqY01YYUFyOVdOQzdydXhRMXZmbHBLaUV4RUFCTUFzelVURXdXUDV2T000MWt6cW91YkYxOWtCNjJUWGljQmZSRUJHWU5XN2hnRlJrNmVjK0w0ak9yREtZVytiWGphNVVpVG5SL2ZDSXdBMnhXOTdRVmgzOXB5OXg5V2pseTJRb2YvMGwvNkZLVTNOdkJuUXQ5Z0l3SVRNcitKTXlPOSsvejhmay9OdEJ4bXFVZE1IZHdzdHRxUm9hOStWRFQ5T0tycHRHbllzSHJBOHZ3bjlFQndzR3pBLy9pTUNNZ0pqZDUrUUhMYjJEZlBtR3djaVpQa2I1dmtISkwrSVFSY2lZRUQvMGtFWUVJSDBDQ3piZSt6VDU4ZWNDNDhBbUgya2RkU0Zod01CU0k3QUpVS2tuYTdKODJPT2hVZWc2ZDJYdVBCNElBQ0pFUmdSMkh1UER5S1FIb0dXczFzb1BRSE11ZWdJd0p6K2JORXh3UHBuUVFEbTlNNEp4Q3hFTU84aUkwRFh2enFMREFEV1BTc0NjSHhzbXBVRzVsOW9CTFpnK1hTaEFjREtaMFdnalhzNHNrSzQ2UGtuZ1QyTGk0NEkxajhoQXIzQW5zV0VCREI1dFJGWW13NEtaaEFtWlBzRkZ4R1QvUEV6TVJOaXNpUUlyQmR0czZGbW9aMGtIQldYZG9pSDFJb0FkMCsyMmF4ODhmeXY1VjJJZk5Bd2I5cko2RFU4aHdCK3pud1NEeHdsQTFDVHVpOXQ1VmsyengvMjNCZWx5Wk1vbU40cXhMZElKOHFaZCtKVnVXNXZKaythVXRYekxtdE82VDB1WDBqSDZtanlnNlZ3dW10NllFemkyWENVdEJoTnp6K1loY2pBRTFLQ3A5RlQ5REFYeVRZditncjVTVGlJdmNQOTZJaUR3TEtwT0dLekpCM1AyYVNIa3k5N0wxRFFFRmJTVXFkdGdnaXBZd29NZmJOelRzMWJRbE02bFQybXAyaDd1QlBPaTFDRWI2V2xPcVcxS1VtTURldEtuT21UbXBhYWdSRWhwZC9XOFRQMGFzZkFNeFlTWTc4dFJoY1hYZ0lnYVFNYXYvNGhTMmtrM2hNOXhDYWhZMW9qY3BPcWxwYTY5SmIvUUwwNldYNmhQL0szZmhzNnZ0TUF3WVp6UzU4ZFByYkh0RDNwL1Fra3h3QXZBbU00UkRGVzlVSWpjVjlDMzRIZGl1b3p0TFM4UlRJZk5LZDQrMWxnZ2Y5d015aDVXaVZDRytLMDlhb0R4U1huRHVNQ21aa2owbCs2K2JYdHBrcUVoRGE5NWw3ZzBoUDlraG9BTFMxbDhpVm9VVWxqVjZiSk5YRHoxdFAvR1FvOURSQ1Z0T2xqUndPOExQVkxnZVFZRUVSQUpVTEw0ajI4Nk40ZzNwTG1MVUVpYm9pS2xqb3h2YVB6ampxcXVGQ2xDTFZGOTJvNmQ5QmNLRmU0aTZ0dldaUlZ6UzVwMHhOWG1scHhyRGdxV3VwNjBKdUNyNm1qaWd0Vml0Q1lqNmRYWEFYL0FrRnpkYUpHVURXNzBLYmhHcWtEbTF4UE1RWUV5bEhSQ2lTeUErQVFtV3pSVXlmS08xUWxRcEkydmVlS2p2MWhrTHpMbm1kNnFtWVgydlE2dTh2T2lyTlhYa1ZMamQweGlOQ3BPcXE0VUpVSVNkcjAwTzBYTDduWEd4WEh5SnhSVmpXN3hiOWRjTXlVN1ZpZGhvcVdHcTQraUpEVHZhbmpDd2xWaWRBbGJpTzNQd2hDeTkzQ2c5cko0RmMwdTZSTmo5MHZZY0NBZGhKTlYwRkxrMmtNSWpUUXhCVVdyQklob1UzRHROL2hhTTkzQldSaC9Nd0xZVVd6WCtBZEJFak9vVjFSUVA4c3VzWUtXcHBNWU5HTXNoSm9jbVlJVm9sUWk2dk9lNjQyYlRSeElFc0dzcUxaOTdpRkgrYmVSelk1Y0p4RzAxWFFVbWVDUVlNMW1EcEJJYUVLRVdxSWhac1JjZWRtSXpaNEoyVGlaMjU5d00yeDlyTUpzOVk3dWFMWkoveUMxWXVzYzRkZVBvYnFvcUNsQmdjdWU1M0JhS0VRb1N1aWN6WGRNZHNZcDV2VXY0VThCeCthdFo5dUhDT2FHcGs2aGlxYVhXalRUWGJXQzJScE43cDJDbHJxVFBSS2FmZWRWeWNvSkZRaFFrS2Joc2g5cDFUVDh6M0d1SncwekM4WXBtdW10RUs3N0IvK201LzcvUHZ2eDZXYk9OMGpaSHJ6K25QUFBYZjloa1hlbFRpM04wUERKTGV1di8yNTU1NjljWXUvOGhzMi9XZHZpRG9HbTMxRmJKZ1pzb3g3c1k2ZUJtbDVPZUkra01nWm1JQVZJdFRsKzZCQXFwMEpBK2gvdnJ1TU9kdGhqZ3ZRZFkrZHJocktDWG5mNk90VDVPMWNRNXUrODVPbUluSWw2ZlprOWpDazZHWkIrM0hnZ3VUQlpoZmFOSHpueWRVMjI2dzdrZ3NJdUlPMEFrbWNnQzNnNFk0bXJyaGdoUWdKYlJxaytzQXVHbURiVDhGRC85QXdXczZ3Q0lwalIwK0JXbFdMN0lQLzZpYyszN09MZVBMcnYrL1VTTTlMWk16blB2blhiVnIzM3ZTcFgzVVRMMy9KRGpuL1dvZmxEamI3TWRlbTRZWGtUNXp0b0VGYXJCVGZmeHZJWHZPRkZlOE5pdENha0Jib1ovbHpPd1V2NW9CK1dlMkU1cnpBN0xGS01zdWYrek9yNE51NUdsQUErU05sNmNrRDZWclVkenB5dmlHRWZJOFVFbXgyb1UzVGIzMnpKNDdxRXFRbGx5eTVSMEExVFR0SkpGSTRneUlrYWROZFZsSDRQMHBPZkJYNmVaaG4yam0zMlBDdkl3TWQwYjR1THBmd2NZNGpKZDBtNDIyclBpRmZrZGtNTnJ2RlIxQTRadkh4UituekkvRlVseUF0dVNUSjNRSzJUaVYvT2M2Z0NGMFNJODZFM0xlcit1aXgrNUhHWkR4ZGhCM29BRmVINW1wR1RSVkFoTHlOa3F5czZOUzlISThLVTcxMTExTmtpM3lmeHg5b2RrbWJCczNwd0U0TTNkRytKNWZhRTZDbFRtWVlWb0F0WGNvOHc0TWlKTFJwbzhmVXZtNHN0Yy9QMTk2K1lWeHlMNW9ZTWZPQVB4SHo3NlhxNkZqdUdQOEE3NTBZeVdJbEFXYTlWdUFOL3hzU2FQYkxRdWEySkxQUVdZenlBclEwZWFobGtRdzBrY1VGQjBXb0owNnZjUFZrbk1vNC9jS3A2SDFhVWU5YnQrRGE1M3JPRTVobGt6R25hU1ozTzk0MkNqUzcwS1pod2RIVnJLSG5IZGpaM2tNYjMvczhKZWdGYUlrb2o4dldzVHdoT1hsV1RDOXY0RHNmY05vQkVaSzBhYmlMZjk5SmFKR1hlWTZnSXd5QW9Xc05zS0tHcVNIRE5VZy9seEI2enZNMEYwcEFaRWpJZDJSYTBtWXlOempRN0VPUllZL0pYNU10UjR5Qk9kOGprb01TSUhua1luMXVXa1hYQ3VlTHllaWxxcC8vT2VVMEF5TGtmcnlLSm9ESjU0NmRFQklkMmc3MXo5aFBYZ0xZY2tnd3JWcE5nSWFhQmU4Rm9LYWJiWDN4eVdKTXIxNjFaa3A5aGtNcDBPeENtd2FSZU1WSk5HSEQzNnV1QjU0dkNJNEN0RVNVeDBXcldJaDVkdW5oQUh0UGQzalJBUkdTdEdtSU83TVRnbmdmOFJ4QlJ3Z0EwTGNlMEF5d2VqTUlacFJDUUZ6anpHK2xIQW1kb0lCNDFaZUUrZVhrMUxCelJ3cm9CcTA3L21hWHp3ZTNtWXBwa24ySml0YnBwNlZMU0t0WUxJaktrZ01pMUJkd2dQcGd0Nzl4TWZVZ0ExMmdYZXhtRkFXUXRiQ3hVc2w3b3NDMlgzMUpsTnViR0ppVnUrVXJpaGZNMyt5U05tMTAzVlVJNkpwUHZZVFZQajh0ZFNxcWQ4WXpFdWp5cHd3UGlKQ2tUUU5TMnpaWnZza3VjU0dYM09HSi9Xc0p3QkxIdmpZeWo0Z0ppYWxSeENpTXJzZWM4WFNOM2p1NG16djh6UzZmRDI2N2I4dDYxSHZsVXZQVDRvWDRISDFnaXh1ZmZIRUZldjBpSkIvN2hsNW9ZQmM5VE4yOHpCeDBITlhEZ3FYbGRvSFZoQ1BkT2I2aFhyUFFJM2M3UWM3OXpUNlVOT0ttMjlCYlVhQzRaUDIwZ3FVNUlXTVFvWDFkWkhIaGZoR1N0R2tENGpwMnllR3FVQmh6ekJ6VWp4cW05dEtYRVZhK2lBTjQ3d2hmTmhjd0svU3FEYWxERW1UOXpTNTNEM3N1SjZPWUMxcCtXcUlVcjhzRXRuYThRV1g0L0NLMDVVb05MUnUwUnB1RmpkRDFyVkF1V2Y4MXBxZzlzcXRQMjJVOW5qNUpwcGhjelVKdGVmSThmcWVLTVYrenk5bzAySVZzWVFaNHQxVlpBMkUrV29GNE40QXErVXB4MW1YSUtkd3ZRcEkyYllCZHlDNWxMLzBtbEphcmR0cHorM0dJQ05YS0xBUjZsVHN0TjR3WHpnZXFwdkExdTNRK21GNEpZMnNzNjBRYTNGUTBXSmlQRmd2Mi85TzN4SjMvK0tNSzlmdEZ5SlNQWlBlY0xta1liK0tnNHJQbGFEak8zTU5TcFhERGFtVVdBcjJLbWZCWE5DcWNyOWxsYmRyWWNFYjFwanlyQzRFR1pscXhaSTFhRmlOTUoyR2xwSTd6aVpDc1RSdkd5T1pvS1lQSmMreHM5WURhN1JwTDNqVUJEOHZRQ2NlQ3laTXBpV2NMNEUyU1Bpd3RIVEhzb1FnU0RUV0dtTGEzUHA1a2E0NGFiZEtMbStJOFBscTZMSFFIU201MTFCV2lDSWZlNzFRS1h2ZVlPSTV0MzBWNkgxZktaK0s4cEUzNmVxenpneUZCWW1BL2tMdS9ZSUtzSWUwY3pVSjB4RGgwR0hwOHFsRm5ScTQxdzBubXZidlNhTjJIWU9maUppYysvTmRMUzV1V3ZpWFMxV0xhZEhsSHdHN0MyeEpOejVXa3NFL3NCT0xHY2Q4V2lRNXp0dTFaSnQzdTFURXU3YlBRNEQ5WVd0aDdIWXpNSTJTU1l6ZEhSNHd6bTZsbDYzVUs1aHFQL3RvUFFaSS8vSzVITzI3c3FydUIyUFVlVXdWaEdBdldJQzJYUnZEdkdNcDhFQXhPRkxMNit1a2ZKTXJ3NkkrOEdxQjk4RTkrNDFHV3JVL2ZELzZzVWIxdlhkVUpyWDMyL2RNZjMrVUp0WTZMZHVmeXdpc1c5RUtqTTFXeW43dHhENWdHUzh1T0cvdEI2NmRqRUZhUkNndnI1ZGpOMGJVb2g4VVIxNnJsc3RzUTd6eHNjUFpvMHdZb1F6dkc0K1I5Y2g2ZHU4MUllUWRHVmZJK0pHVUZxdUpqaEMzMXB0SjYrS29WeWFLdHdqc3NucnIwUGRvMEtFTjNqVWJ2WGlkUStJK1poSmprUExxcDRTcW1BU0IyMmlWbnkzenZzRVN1OFJreU5jbnJqRDArbnY1bGNrdDZsMzVGVWJpVVBiNFRxbmtuZnVyd2xGdEF6RTd4RnJ1UERTUnVrMXR3WHVRNm5QQmdMZHE4NTAzVW4zNlJ4M2xqL0w0Z0xYOEs3aDhDVzB6TDU0SEpITzM3ZzFYQ2U1R3VjT3JJTEpNcEhHZDU5dm90ZmtCbmlZM3hicFpWOHRPbVIxZHl3djhCSWQ4N01EN3FhSVU2Nms3NGE4aTl6NU4zd0RMcjNaWmlHUUFVOXZzRDQ4M25uUzZ6a1N5VDN6UDZ2TnNIRmVra25IN01XUHEyN01STUc1bXM3WnFGbHN5NFRUYjJLZDFydnpYOVFDZXluSVFKVEtoanR2V05KV29UWUMxQkRmb3B4c1hBdnBmL1lMNzcwNEdhZ0M3d0wybmdZM0ZNWSs5OS8vbjNRTnIvWVA3MGdPYnhQbThoNTlzUTBqb2NzcmxFRTNUdUxhNWF3NUJ4MjVzanBZK3FMNmNwOHdheXdlQnZEMkQ5dUNxNmROdE9nRmgrQVZCRmRhOFl1NGlyVk5KTjlxN0J4Tk1uK1hFSWlVdVVRbEkzZW00bjdPK3pRdktvbzVZdHA5ZTcrSkxwN3NKcVdFZFVNV0xUZnhqZndKL0RROVVYS3F5NVBEMW53S0NMcmFEaXhYaWsyM1ppcEU2WnhGWkxEbE5tZHJLTmQrQ2Z5Mkc2V2JLNFJDbUVsVWU0RFhUOGNraXlHRkZ0MStKRWErK29EWnRVZVBqR1VLT2JWOE56OVNYQVZlUFZQNkI3Qm9IRVRnQndld2ZPcHZSQWxPS05zejV0V2tNMll6RE1yZGxFTVNXbEpmcENnQlhZSFEzVHpaSjkyclNTRldodlp1QVpNWWN5WVdRZ21EVmRpNVBKNWt0TktwVEgxQVJnUDBNMnZqbmU5TDl0N1poekZZRFhQRXdaOWhWTEJmNFFWdnp1MDI0SVpDbjZhZnUwNmVnY0tWTFlsc1dERkJsNUZucjQySUMreDYwVHpKSVBlVnhjaDNTSmtqNUxVOGg2TjVzSUFhVmRwNXdSNDd0MUJnRmRMamltMjAzcHVZa1pNMkhkWENCOW0yZ2ZOcHo2OGpobUlkaG5CaStzMjNuNlV2aTk0Mnc0K2NtcC9iQ1hQK2E0cXM0UFc5Wm85d1B2eGI2VFlFODB0QzVITUh3enhpcmRtaVdhZFpSdERpbld4WnJ1ZkduSjduNzRraXNvZExiZUd1UTBhVWlQZFhPQmpKc1doVjc1dkRXUTJBNnd6VUlOT3NGc3hUTUhTN2Z0cUNubUVnb3R6bCs5ZEFTSE81QVBKSkgrd2RQbGI3ampqL1VyTGxIU0o0Y2krRkpFSzFZM3JxTUY4djR1Tnc2cWYwcWQ2L2FMYnpGMUdqclZiRUxxa3FjNkl1dWVlVkJxeHhadHFvZnVkZ3lqRFM2M0h3MmpwdDVSRkpZalRSeGxKdHVBYVhjZ1FPYkFLWDZTUmlMVnhsWnZmWUR3YlRka2pidThTV0w2Z05rek55azR0Nmx6aS9iNFF0bUNJZU9PbXlMYkgxVmZkcktSRUxtQjJYdXJOdXQwOTJJTXN1SzJIVUVrZjljSW1MbWZoZXlTYlM4ZGM4SHBwWkZJY1ltU2xoVTYvZy9jMk12WjVzbVdvTVFFdmtrbEJyYnN1NElEUThhaFcxYTJ2N3pOUXZjZDdZYmVLaFpqVXRyV0tGWFo2dVRQM1FKbVV0aHhCSmtydGdBS09VeWpSU3pIZUtWQTcyZTlaY05lY0JZc0pIVEJKSlJEMjNPZGt4TWdzc1dueXVBNlMwaFZuVHh2c3hBNUg5Z0ZRYXZGZVBIRmJUdHE3dklKdFlBWnJtS2tJYmxNYndVUXVnUDAzTW0xQ09rU0pTMExUVEVKZVNTR3hHbnAySG9ibjZnd29uOWpBQm02WE1Gb2MxY0luVGhSSUl2NTdhUUJXbXdFSDRLekU4VkFPZG8wVEQxNDd4M0ZVVWc4REFIN1RqVDAzTW1YUytKbzAyTkd1UEgvWkp3dDlVV05RZUNsOTJmTXo4Wk1ZalJRQ0J3aXFpMzFlQ0kwbll2cVZjeGlkQXp1MHlneWp0NFVsU3ByUEdVcmgyRWZYalk2RXNDVFNvdm92K0prRHZ0MStIejAxUitDSlludHNJU1JjYWFvc1ZkdEZvTkRLb1ZPVlRESUltdDFWWFNpTUtwWG5iazVxRGx2UHlyM2NuUkhGVVVpUnJ4dG5IWmJQMFp5WFpJdTcvaEJtTTUwcWJUaDdlaU95NVoxd0EyZU53NjBoT0pFZ0dtYXY4QWc4RHM4anhpTllTb2VRNmg1eGhCSHo5UE5oU1NNRVVYMXFsMDNIWVdEajhiYXZJOXFZM0tNc0s5T09NcE1zTVdIZ0xhb1pueXFqVTVrV21yVHYzNzk3Vy82eFA4N2lFd2Jub0MrTll5R1IrRGh6ZDUzc2tJREpWZm9sS1ZDV1hlVUVTa0NnVm1oVjVrNWpwQXBlSkd5VUFORHRoa3lKUVlhRlpzZlRLUnFTdVZrZHRKWE1ETVJtd0JRNG52UTJyTEE3L0hSMkR1K1pTaVc5bmc3R2ZKN3NnS3piRTVxR0gyZ1BQQkV6OG9Ec09YUU5HQ21ZRnBwYmxxRUR4R3dUUXY4ZkhISnZGRGxCeXlIUitDaFZiYWRDSkN5UTVZazB6L3Q4VTR6VVpBeUE3TmllTjBDeWlkUzVPeWNiZUFrKytaN01RVGtwMFg0TUFISVdFZm5pMG5xaFNwelE1aEg0TVZvRElXZEpTV3JURSsxWGxjc2xmR0pBbnZ5OEVvSDltZ05NaEg5bElsSHdFbjJwZ0hJM1RjaVB5M0NWNkU5cWVGOVVRbTlmZEZsd2dBczNtdVFmb1pFV3g3ZkVwTDNKQWRnOU1OdjB2MUNRT3NPcHg1N3NaN25LTW94QnI3NE81bTZrQ1pmSWN0TmkvRHpjaXdhM2grVjBEOFNMZUVSZU5CYjJCeG5FdEx3aVVvRFlMZ2gzSi94S2tDdmVaUjJBS3BYSFFvaUxVbWxFNkV6Y0puQUYxTmowaGNQcmRKeGN1ZW1SZmlaT1JZTjc0OUs2QitLbHZBSVBPZ3RiR1R3akc4SnlYdVNBekJLY2FDSjJnQzk1bEdLSGRXcnpnVDFObmdQaEhkMkxsb0gwVHVtNWFQRjlha3RwNXIvTlMwbGJiNDlQdVBXSm9rWk1lYWpMck9EL3AwT3pRcDZ5eldYaERPK2JaeTQzdlIvclpBWE5PbCtJYXBYN1FwVzZGejZVSGhuNXFLZEl3Y3VQUmRpQzFmYnJtYUR6NXJUMC9UbEJObGtEZXlMU2VvZGlra1N5T1VaWk85dFV4clFKcmZwdjczcGc1cUY2TzNWR1I5QTkwNUdFanc3SUNEclZYU3hQdnY0d2FtbmRsQSttQ2FjbWdpOS9KeHBwU043U0Z0UjlzUVpDckFiK0RBVEFaNTVJZzVuZEIyQmQxb0d6QVpuVGlKM1NPdnU4RHdwSGJtYWhabytzd2EwSEZQL1U3S1hTelk2TmN6aHRJdFF5WjBoYlYyckFLVG1HamlWZTZFUDc2YW1CRkxPTWcvdDk5b1ZlSGpManh5aTdwQTJQRTFkaHBzeFY3TVE4TTFlVkpzOE1NODAwS3g4WnNsUGJiNDVHQzdFWE1ZeDIxM012NGVGL3ZLT3FHbkRQQldlaEs2bXFMRkY3a0htVFVmZ1FZUU9IRkxndWcwdWN6c2g1VUR5WE0xQ0xka3NCRVVkUTlPZEJvb3NQUURBOGd5d0tSbXcySklTckZUUzlqamVUMGxJbncxTU9HeStCSWtleTJBT2hUcTdvZ0k5R3gwS0xqbjcvMkFnMjNYSzc5cHRzNVpkb2FQdzZxdVVNQVpvU1FqWWV5TElma0lhQlNTbmtreGZ4SXdQLytvS3FLVFV0aktoTDNIT3o1Q0pLZEJ0OUo1SlR4MVdsbytjM0gxSDROdjd0aGQ2WkZlMFROdDFoUytEcEM2cm5RdTZUdkZndy9JTTVYRG5oTkFmVW5PWVBXTVgyUEFNc09sSVRwajFZK3pNRWl6M2RVNUhUWjNyV0t4c0dhK1pEdFNKNG9TQ2p1dElPSFNadGxsMWZHWm5BeVBScWUyZ3V4ZTJvWFBLdmxnUGNPU204Vkt1SEw1dEp1MnZaWkZweC9YTTdtOENmREdUYkFZdW1xNE5kdlhjb3AydDhqYVdET1R0clBEU2RWd2FxL0Z1eU5HVjJITzFxdlpMUTFyNWhydmlEYUsxWTJmcDM3Q0xjanNuSFpVWTRVOEF1bm5OVFJzaklIWk5MclFMQWV3cjJISjR5ZTR4Y09FWllOT1ZEMnBqaCtic3YyeGY5M3laNmtPNVB6MzJFaTczc3IzYXg4NWJzMHBPbTdRWHVzSmF1ZVZBc1VvK2F1K2o2SjFtcWNLeTlDSFYvNUtGRU0zNzBULzllbzhLREhuVFYvL0VwZlVoNTZPczVPbmZ6MG84WTM0VDJOclBTQU95dzVvZjdXUFhwOXQ3dEZGR25yY2xPM21Id3VQdWtMdlNzdTkxU1U5Mnhlbi94eStCUVJyMG5hYWpUZE1wanEzOUROOEJxdnVSc1pGQll3ZmU5bWlMdTQ5Tk5qMi85Z1g2akpZN2Y3WU5lazdZYmhiSzJmTlNKbmF5a3pFZUlnOEd4aFBXTTNDYTc3eXprWU9aUU1WVGkvd3J3MWo2ckhWK3BJcE5FTllsYnpYVy9oaXVTbXVZWkhmRk9uV3pMbG53bGRQR1owRFBhc090RGFOc2hvbXI5aTFjejluWGNQMWtBdDZVU1lmMjdXV1VHSnY4d0d0QXYxa1BsM3lkZDVSWnlncWsxdE5jYkFzTk9QeGcyanIxSStSY21qcmxXcEVWazB4QlRYbVErYlZiNndHVGRyM2ZRcWFXR0hWL2xKQ2JkamhjUHdUQ2xTdno4MHJNN2c1emdZcmVvdm5HRHNYcGcrYVAyLy9VbmZPejlBM3ovSmYvY3c1RWwzN0grb25uYlRvLzJIdDZXeEQ4NkpldG43RHZWbHQ5K1B6akloaGRlZ1RzOVExOU5NWWdBbEVJVUFOOE5xMHhxZ1NNbjNNRXdLYWZuKzFyenJIQzZpa1JvRE5QbUlUamd3aWtSYUFOSXBSdDdwcTJaTXczSndoUW8vbWRPYWtMVm1NbUNJeEJoQTVuVWpJV09pY0ltQ0JDWjNOU0Y2ekdUQkFBQ1VJajdFeVFuNWRDNllsSVo0bDlYbXFFOVNnWkFicm5DaTJMSllNK1g4WEJQajIwTE01WGs1WmRHN3Era2NPZXhiTFp4dktxZ3dCZDMyRDdyYXJERlhKU0l3UzJRSVQyYThRdnNsbzVCSm9nUXJjcnh4VXlWQ01FK2lCQ1J6WGlGMW10SEFKREVDRnB6MTdsK0VPR0tvOUFEMFNvOGt3aWcxVkd3TXJ2cEZ5VnE0bThGWVlBSEpleUQxMFVWZ0FTbm5jRTZFSC83T2ZHNXgwbHJGOElBdlJxQ054d0ZnSVFSa1VoUU8rS09JeEtoUEdJZ0I0QnVBd0lONXpwNGNHWWFBVG8rc1pCZERKTWdRam9FRGdHRWVyb0lqRWNFWWhHb0lzYnpxSkJ3aFJoQ0V4d3cxa1lQQmdYalVBUE41eEZnNFFwd2hBQVZTaUhTL0xDU3NDNCtVYUFudDg0bk84cVl1MktSWURlVDNWV2JCRklmYjRSb1BkVDdjNTNGYkYyeFNKQXY3OVJiQWxJZmM0UkFPUDB2VG12SWxhdldBU2EzbThuTlA3ZGpmTTM0TUJXTE9aelJyM3YyUzNVR0pKM2Y1bE1UK2Vza2xpZEloRVllbllMUFVKK3dUQld6UE5Ca1VVaTdmbEN3SlF2dmw5MnZrNndpZmZtelZjakYxc2JJbDk4Zit4K29YV2M1VE5OeGZLTDFLdUdBUDE0d2pabnFqZnQyTzQ5TkZoelROQVJnUURkT2MyVHVPTVkvVTRhYnNqbmdDbHRNd0FBR1d0SlJFRlVxS0FqSEFIWU9jMCt4RVcvOCtuZThMR0V0cUp3MkRCV0lBQTdwOFd0NVcxK2xBTVhQUVJFNkFwSFlFL2U2akhrS2xEUDFhdkRNMk1zSW1EQVo5dTQyTUFuMmZrbE1XUHZCMEFSS1VSQWl3QnNlejFsa2JCMTZNeDFENWxXeE9Md0h4SFFJR0FTOTh2SUVBOVh2NTY2eVVaNCs2SUdNQXoySVFCM01vajdndUhxMXlNdVF1SkRrNzRzNkVVRVpBU2c0N25QL1REQlp5TFVkejZUektQUWdRaG9FSUE5aStJelVyRDc3TUJOMTBmRGtBWXhEUFloQUJjR1grTkJZQ01TSWlUR054NlBEa1FnaUVCVGpGMkdJWWxRVjFLUmdya3dCQkhnQ0F6bDgvVFFKZTI2TVYweTVXblFnUWlFSUdESmFqTnNvMFlSQ2dFTG94UUl3Q1Y1MHBJOGlwQUNJZ3dLUndBbVpFS2JObUFnWStvMERtVGh3R0hzMGhlLzF3WkJFaHJ3U3o1VXAxRkl3aEhvdWwvZDZIck1QOUtNRE8xQzRRQmlMSEYxb0o2c0NzR09NejZRb1FpaGtJUWlRRGRNdndJcFFKcytsQkxDdCsyT1hDOHVjRWk0b0RPSUFQMGFLMTBhZzI1blc0cjFMTE5TRWNNSEVkQWdRSHNodXQyMTZ4d2JZNm5nbnBnejF6M0J6UjRNRmZ4WEltRFprL21HNVJuSERKQ3NFemM1YmpsVDRvYUJISUVSdWRzeGpBdmtISDZseHlJN3JxK0ZuOXFVY0VGbkVJSExVNm9EdGNnejNpaXhZOXJpL1pFM0Jmb1FBUWVCUnUvK3dIZ051ZGZ4QXRMRlEwQmVRTkNuUndBbVh6Zkk5TWlYNENJekV5M2pYZzhmTk9nTklQREU2OG5UQi83UVZiWUxkaE1uWkg1czBCOFBBZFA5R3NleHZQb2FMeXVtUWdRb0FrMTNTdGJ6bUJ3UkcwUWdOZ0lyemc0MEhNZGlJNFlKL1FqOFUvSVBEV1BWbk83Nkk5Q1BDTVJEb0RHRzZ6b3Q4b1Y0cVRFVkloQkVvUEhaRzlPbm53K0dZd2dpZ0FnZ0FvZ0FJb0FJSUFLSUFDS0FDQ0FDaUFBaWdBZ2dBb2dBSW9BSUlBS0lBQ0tBQ0NBQ2lBQWlnQWdnQW9nQUlvQUlJQUtJQUNLQUNDQUNpQUFpZ0FnZ0FvZ0FJb0FJSUFLSUFDS0FDQ0FDaUFBaWdBZ2dBb2dBSW9BSUlBSWhDS3hhMTBKaTg0MHlmekpmZWtpdEVnaE0rRFdNeGJQVDRsOFpMcjRzTEtFc0JLNTR2clJRY0ttWHZYY1pGMXdha2k4SGdZbjNldUZpQzIyWWVGbG9zUWpQZ1BwNjRHYlBRcG00eWk3c0s3UVVKRjRtQWtQeXRqS0xXN1BJN1RMTHc3SUtSMkNkVEFlRkZ5SVgwTVJ1U0laakR0d2o2V1AycFZRSFBsRjBWa3BCV0VnNUNNQ0hnd0wzQ3hkY2N0Zit6RXpCaFNENTBoQm9rKzhVV2RaRHZzODQwTExnYXZXeXBiYklLaTQ2N1RYM0s1d0Y0YkNzdkNhOVJWNHVxRHdrV3o0Q1Z3djlta0pqcUJRaEtMUlRmbFd4eEdJUWFCV3BURGMrUTVRaUJOOUcyeW1tT2tpMWRBU2t6MjNtWC9aSFd2Q0J4cjlRMGUzaktvY0tsbHFHdFowYjhRdmcvYjBmTTBHQU5DSUUzeHJlTGFCTUpGaytBdkQxeldzRmxUb0U4Zm5ISDlhSUVDang3eXFvWENSYkxnTHdGZW1pZW9QZnZ2NUwvNForcFZvNWtCbDljcmZjbW1KcEJTRXdLbXdjY3hqV2loQ01aRWNGMVFuSmxvbEE0ZU9KVm9SZ0JFWFRVSmxOWFZSWjBNTEY5Z1ZhRVlLUjdGNVJ0VUs2SlNJd0tyb2Q5U0owc1dqcExSSEdCUzRLeHJHQ1J4TzlDTUZ5L2JjWEdQcDVxVG8wOEZteGRkR0xrTkVxV0pNdnRtSkkzVUdnUzZZRlF4RWlRc2ZGMlJNS3JoU1NGd2hZaGUvYkNSR2hkVktZVlZQVUVGM0ZJZ0RyWS92RmxxQTNMUm9HVE90ZktyaDBKRjgwQW52RlQ0cENlaUZqVlBnd1dqU0FTSDljZkJ1R2lkQ2x3cFY1Yk9LQ0VZQk5PNFdQSkdFaXRJSFQrb0pidUhEeXNFeTFYM1FoWVNKa1dEaXRMeHIvZ3VrM1NmRVhKSVNLMElTUVFjRjFSUEtGSXRBcVhoVUttNUVaQnFqeko0WFdFSWtYaXdDb1FvV2Uvckc1RCsyRndES0VheHpGTm5LeDFEY0p1Vk5zQ1VBOVZJUmdpZTUrNFJ4Z0FjVWhBQXNNeFE4am9TSUV5MlNrVTF3RmtYTFJDTURlNXUyaXl3anZoWXgyQ1FwOTRWVmM0QUpJb1djUVhXRERleUhZTTdTL3dDMVE5NnF2bHFGTlIvUkNZRnhVYjg2dk83aUx3VC8wQUNWTWg4SjdvUVlwZXRma1lyVGxqR29KZXNoTzhVV0hpeERWcDR2WHg0cXY1WUtXQUsyM1czelZJMFNvWDhhc3NQaGFMbVlKTUlZVXZXT1JBaHNoUWx1b1Q5ZFgvRUNiZnFVRTdpTkVDTXlicUUvbjFneHI1ZDZaQ1czNzU3bnhyaWNVSVVKd2pBUFBSZXZSU3hpelh1N2RjY2ZsRENFUklnVDdQZEErblZCUTlNbjNaQ3hYdm5qKzEvUko4NGlabEtQSVJva1FtTWlQOHFnTzBnQUUrZzhFRE12bStjTUZYKzl0bG5OalpwUUlkVW1aMzI0UUNOZmQ5ZmkzRkRVd0pkVmtNajB3SnZHVUJDVXRCWGxmRUN5U0UxOVFJZDRvRVlJcFdRa0d6a0txTmt1aXk2WmluODZTZEtocWszN1E0SEtzSGw1SkswYmxZR2tobm9qR29CV1dKRXFFSUw3dy9kdGgvTlV6YnFWRkZDSzBLVW5NK0x4akdDdHhWaURWdEdMZ1VsYlRSWWxRV2FJY0E1SzZKR244K29kZ0VxSVFvVDB4cm16YTArMUc1T3VwcFJVRGpMM0NMMlJ3bUlnU0lkZzZLU29lZzI5TVlveGhpOFZZSlVJanNYK3Y3K3lLdDZMdTM5SFNpb0Z6djZUVHlGRWlSR2YxQnpINHhTUWNnUy9kL05wMlV5VkNRcHRlYy9meDlLSmVUeTB0WHByZTBTcnBHR0NrQ01GN2NLSm5FMlBVQ0toRWFGbk1iUzhTWjhMV2lyT0lyYUtsTHRVYlNrcFpaSTFjSXdOYlJrbmRvYmY2ZGZlcG1sM1NwdGxYTGx0eGVuZ1ZyUmo0VUJXa0V5TmQ1aVNSdlJBb1pUaXJUd3l6cXRtRk5nMUw2STV5MEl0elVGQkZLd1pETUJFNmo1RXNlNUpJRVlLZGI3alFtaGhuVmJNTGJYcWROYTRWNXdZeUZhMFlERUhMU3Nid0dCblNKb2tVSVZpckZ4T0p0S1VzWEQ1VnMxdjh6c05qcG16SCtzaVRpbFlNUUxmS3N1aUJDSVdiRGt2ckQyT2dVcDhraW1hWHRPbXhlNE1tREdneHBpb0tXbkdBYUplejFjTXdZSnhTR01Fa0ZrdlR5cVF5Nis5VU5Qc0ZyanFENUJ6YVZRUnN6NkxycXFBVm5ja3dKbVdjWktXTVFIY1hNVTZCWW8rR29UaHRKcWRSTlBzZTM0UUtIZnVSblJnY3AzSXV0VnRCUzUzUUc5cGlndW9OenQyM0JBV1I1MFBKbXJGNjIxQVNpeGVwYVBZSjM0UUtQZi9BaGdUMHpCaHZwNEpXSEVDdFdGMWNIRXI2TkQvMnA1OThMWlFEejVOZi84U2ZhTk9OMFRDa3hVWWJvV2gyb1UwMzJhNTRrS1ZkTFFrZW9hREY0L1FPdXRVamhuenFDY1NKMmFQU3d4Nzl0b0ErR29aa05Cc211WFg5N2M4OTkreU5XMXdGMkNEVG05Y2hSQXhMd1daZkVVZTZoaXdqdEVCSHBxMTJlMmk5NnJXcVI1RVJ2aXRlL09WUWU5T2JBSVg5WEwrbEY2RW1jYTN4Q2o0WE1BaDJrL09IZ1FiVFd1YzVZWUI0bXQwT0ZOcTBZVEpMVzV0MVJ5eWI4dDlEcTgySzh2eDNnaG5odHVDb0JiaGdwb0pDdGtqRW5LMmdjcXRLOW5PZi9PdDI4OTE3MDZkKzFlVngrVXQyeVBuWE9veHBUN1BiZ2NkY200WUpHWC9pR1A4OHRGNXozZEU5eVBRNmZWelBOaXRYL0lOWWh4cW5WZCtXRjduemRjR0FIVEZueTdlOEdsQ0RTekRKZHpveW8wTUkrUjRweE5Qc2RrS2hUZE1oaGozaE5qbW5CRCt0djllRDNDemoybnROOENtVUhuanp3K1JUL1cxNXVVbzV1Z0d2cUYwdE9aWldDMUl3ay9MdG5POFQ4aFdaZFgrekc0YkZWeHBoaVBuNG8vVDVrWGpHdndBdGtBN1hzRVNMWERHVnBvRzkwSE9JbW0vTHkxWEkwVjJsUVRYSGFtVWhCUjJ6YnlyVkl0L25JUmhvZGttYmhpSEc2VFdnTzlyMzVGSjdBclJvOGJkRldyak84RVQ0bUtzZHRyYXArN1k4eTV6elB4eXJqVE52eUxuVVNwT0ROOXlycW03d2djWGxPOURzbDRYTVFTY3lzSk5CWjNibXBnLzdVOUR5aUpBeEZKTTlRYWNmMHNYcHZ5MHY4dWZwb2xPUTNUd0oxcDlXMTM4MlluSzM0NjFWb05tRk5nMExBcTVtRFY4WEdOalozZ01RKzU2bkJMMEFMYXFLU2IwUUxGSmRFNm1aYTZoYjN3ajl0anpMbmU4L3RWR2Q1a3V5N3RTZ2VUd0xpOUptTXJkcWdXWWZpZ3g3N0d4T2t5bVpZNERZOTRqa1JvQ1dYNFNXVmRlNjluU2o1QkJLMG41YnZxQ1dnU0pQQ2lKZFU3S20xMVMyWmtwOWhsT2xRTE1MYlJwRTRoVW4wWVFOZjYreUoraWVueThJYUFLMC9DSms5TGlxTG5KWnNzb3RnZzBqL052eWNzcjgzQURZWVg3VTVvQVNOZXpja2VyUkRjNmUvYzIrS28wOGJXWlpOR05wMDlHOWtER1NUc2t5dm9CSGViQmp3ZTQvcVBSbGJpUnM2YnBFSDFzTDQ0V1psUHhTWFpGT0dESU0vQ0lrYWRORzE3MnlCVFNFVTVZKzdOOVB5d2owUXNkQmNhRHF4NW1lYXNraU5NUkZNbTlid0N4YWFwNUc3eDNlYU9yek4zdFRzaFMzeWN0MmhuV21WZ2V6ZTBMOHRJSWlkRW5Tbk55c2RKdlhxWWVNeDFPeUNJMUNwb2NldmhiRjR6VUxQWEszRTZ5NHY5a2xiUnJFeTFGZHRwZ3FGTXp1Q2ZIVENvclFabkQ1Z1BhVUJ4NHlIay9KSXRRdGQ5ejBWTFdTbmoxb0hzN1lodFFoOGNCQUx5U2ZndGx6RmFtUmFpNHVTSEJYdEFodHNQVmVuc2VBM1d4aFo5UktGcUcyV0pFUkxDNnlDd0M1eCtzL2ZpZDNTZzVmczh2YU5OaUZiRjBjbFBKdEtZZmU2YU5sQkh1aFpXbVlkT25RTllXQm5tYkpJblFjdXRxaVozTnVZeVlTSUMrY0t4dksxK3dYWldtNTdIUko2eVNvd1NnaDg5RlNpTkNhNkJRWkJicU14OXlLLzVKRkNQcnQ0RmlyWUd0aGduckNMTFNpbVRuN21sM1dwbUdNc2RYcHBqeXJDOFBPUjBzaFFrWndCUXBraE84dVVSQXZXWVMyL09aOEJVdUxGQ1NiaFlaczA0VVBnTGEzaS9Fa1czUFVhSlBlTUJUbjhkRlNpWkFWR0JKQjVRK09icUswOGtWSURQMkNpNFYxMFVYRFE2ZjJqMDhEYmVkRWpEeWJkUnF5Tm0wWUxkcXAyOWVjT1lramZyMjBJSEhBTHFRZ0FPOTlXS09WTEVJZzBHRjlvb0wvK1E2aW11cVpYY1ZsNjNXS3FqWWUvYlVmZ2lSLytGMlBkdHpZVmU4SzBURWRkNGF4T3FFZ0xTQVpSNFJBK3doTzAxeDI0SzlrRVlMaXdqUXp3ZGVDdUNnZXUzWmRSKzVpbDdmaWJZaDNIcVl2ZTdScEE1U2hIZU54OGo1dkxyV3Z6VWpKQTJNY0VUb08zN1JZc2doUmpqdnFHaTVrS0l3UnppdjFGdlVhVjV2Y2d2TWMxK0dFQnhPaHBtOU02VSsveU9QQ0lRelNndlJ4UkFoa0wyd09WTElJMGZuaElMeW1DeFVMcldPTHhKSVo5MmpMMktkMHIvM1c5QU9kOUpqRkVhR3VaSGhRbEZTeUNORWxJYWZqVnZDeWdFRVR0M1g2NGVxR1FLYmhXZGNYNFdsZGNVUUltR045b0txWWtrV0kyc29QVkh3c2FGalBNUXZSTnl0ZTc3emgxYVl6d3haVGhIeGRuNmRZRkNFUEhKazhqVmYvZ080WmFBaUQ1Tnd4akxVZWlGSTgyZkJwMHhxeThZUGppTkFvZkdHelpCR2krKytQNGxld1hpbXZRdVUwajJZZ2NNMUNqOXluM1JESVV2VFQ5bW5UMFRuQ1U4UVVJZFVuSEJoaEZDR0dSUGIvdGtaK0lGaGpWM0hNUXJEUGpPN3Ewb2labDY5eGNFZVlOMEZDWHh3UkFvV3RZaUowbXJDV3RVbSthV2xsNkszcVNzQUxUSFliTGRobjFncGZSR0RaRzJTZk9mUDVqeWxDaXQyd3ZQeVNleUc2ZSttVUY3N3dqaTJBdzNqb2JzY3cybFNZb3ZGUTd5aUt6cWRORVVlRWh1SDdCR2NnUW1mYStpeGNCQWpPdlZWN2hZUHVYdHlKcnYrbGVQTzJhRUlzUmYxRWlPcVBaNHg5L0FjdDQ3NmozZEI1aHIxdkl4eVV0a2FwQ3M4VkVodEhoTWFWNm9Xb0NKMkUxR2pCb25vQXgvbkFyalM0d2xZUlhHQmFPV3ZUc1JZNFFJVENwTHZrZ1F4RnlQT1NnTnl3ZldaRGNIWThrUXBQN3RwMExCRUNWVCtWQ1AyNjJrcjIvY0ZxVXAwdzhOeFJBQUJCOUR6SmJYWFVBb2JTRjRwTjVZL0JmUnFGZ2FNM1JhVktFaDluSUVzcFFsUzlVejVCQ3dHS1VKSTJrOU9LM1VMT2t2bStIS2x5TDBkM1ZLcHNJV0Z4UktpWHJoZFN5Z1dWS2ZiV0NMYVVTVU42b1IyUmRjRmR0bG5JeFlEMlNOR0t6cU41SXhaSGhGcnBST2lLU2VVbCtFeC9NVkNKcENLRUF4bURrQ0xIM0lhcHRXSHpKQVU0Q2hTaEFyaWxKRkVYa29GdHk1dVMreUJQQXptMkZIY2NFUnBYYWxKUFJlaWtGR3pxVU1oRTNzdEZ1NlR5b2FtZkNPR2tYaGJ0bnJ4K1NSZnJGWGY3eU9rTGNNY1JvV0dsZWlFcVFtY0ZJRkVOa2tuM0N3RVlZdG9SZTdFKzE3ckdGS0hnUEZ4d01RUFQ0cGtvZmI1Y1NmY0wwVkg5VUVEUW1zVUJxVGdpQk9OdGhVUm9ybGZxMnlBU21rZTV0RVYzQVo4SkVXcUQ5MEI0eTNIRkZLRXdjMFBKdlJBVm9hTnl3Q20vbEtUN2hXano3UW8ycVRYM1VIakxjZFZQaE9aNjQydlNScWR6TUNrUHhTWnNhNWVVTkQ5bkhCRWFoUnM5Uys2RktFeWxkOWI1QVo0dnBhWnNGZ0xTZ0UyTXhmcDhlWWdwUW5pQ0kxL1k4NklHYjdmbkZQUVFaS2lURi9HWWRPS0lVRC84WHJHU2V5RzZzQ2dOL3pIck9hZkpXcjZaempHQWMxcHlYZU9JVU5jbjZqNFdTeFloYWo5REVYTGJBTER3MkJLaExmTGVYZTlyN2FBM2pnZzF3d2RZWUR0c25BdVdtUzBFejlRTC9LaVo5WnJ3MGxzNnltME1XallWMngyWkNZVWJlc2NIaW1BV0JEUEo0UFlORnBuL1B4WDZUdjVrYTBtUnZrNjNaYzdwS0Q4dEdSMzQvSXRYam1XR1hQZFcrQjRDaUM1ekZrQ0ZYc0hrSWdZMVJ2N1c2MElBZWFwVUxCcERLUExCZG5pWklDTWhGK1hGK0xaOE9QbUVzZERwaFhDVGtGaU5rMy8wVDcvZW93SkQzdlJWOWtuMkR6a2ZaU1ZQLzM1Wjlmck5UM3plWVdMNjJxOSs2cHY2VXFIUk5GZlR4Znkydko1MGloam9OKytseURaM1daeW1zNFhJdlFPWVdzemNwNno1UnBzVlNQOURWc0gwUThlZVRFRzVpSk4veTIyRmEyYjVGMWhSaWtQNzlyTG5ucjEraTcxU0syUkt2MWwvL1paMTNpbUo2ZmIwcHZ0aCtHZHZXQ0VpcEw5M091YTM1WlBWNStmTWQ1K0Y1QUN4OVZqVFFwSmlWRlVRb0phWVRtbk0vQW81SjlNRGZYSE5jaWVBZWtZd0pqNENFZC9naUU4b1Rzb1h5RThaSzJHR3BtNzRpbDJjTWpCTjJRaFFOYTBzL1d5RjNPM1FTeXIwNWZWbnNCaGROdUp6Vng2MWdSNlZWS3VSYmVpOEhHS2xuNFFmU1NxSlR5d21FUUlSWDBWTVJDc2k4WVpqVzEwTkdjbkc4bTdoQ0hJWVhSVUVvQmZhS1llWHZyTmpha2xuaUFJdVdpaEM1YlJGcnFYMG9oZEI4aWtQaHN4VG0xTEk5OVhNR2V6dHpLZDJpMHlsdExIaktsdTdzUFJINnFCTHZMM0lqVkhQdW85OHUxSUtxMFdMR2NsTjdkb3ZWY3hPQzJNQUNSZUVRTHVrZVRRY3puQTdtSjUwd001YktYcUE0OEFiaEw3cUkzQmNralh2S3I5Vm9LYzlpRUR0bklQcVE0WWNlaEhZS21sWmFzenY1KzVwWi9YNkJUc3Z6K2lyRkFLdzJ5TnMyMkpldk1JWXhRNUJtZHFOa0xCdEFMY0w1WVY0ZVhUZ3pTOWppdzdzQk5weEsyVnFWK09oUnl4emoyUjVJTTkzU1ZUL0tLR0dmYkVVcDVlVHZmTDNsNWRROWJrdmdpNlNiUmRmUzR2YnBPSEQyYnFSc3kxR3UrSTV3aEx5UW9CK0N2MG9MMkphT3JBaGdPMGxnenRQZEhzZ1I3aStvVVd3eWhGbUdSZXdnZExPcnJjR3hWclhDNDF4ZmFQS2txTGxiVmhHdTNWRklYQWNTcWN6VzJWSXN4WUlqRWlMQUxUdW5iUjVZK2N6eGNvRkhEZGtZNW92ZXpsanFxOVE5R1pIQUtaQnpHS1RuWmlHQXIzemplbnNXOXI5MFhSOW82T2hnTUVWUmdEVWxNS1B6Y1BneFUrckhXdFhWQ0FWV2hZckxDbGExdUFNaDA0MzBlWkpHZ0dHUmE1Qzk3VzlIaGluQytja0tlZVlQZ1lDTUh3VS91NDNwWjVucU4xZEFrTmMyTDJQTWVxQ1NXYUNBRlZpT3dXWExJdE5UN3RORWdUTmM2Rk93VXdoK2R3UU1JdTNMVnBpVGsrdkRMeXQ1cjJ2RlM1MWVneXRDZ0pEYlp2bXhTRmRSRGx6aWRISm1jWWFQaGFwOGlvWjZaU0NRTGZ3KzlmbzVVcS8vSFhuK1RLNDJmemVWejJJMmZVRm9iY1dDSUFXVzdCaGlGNGZJajlxV0tDdjRqTi9kUW9NclNnQ1lDNHUrREk4RUZMNTBleFBBdXNDbi9sWEZDcGtTNDBBcktKckdsV2RQbmxvVXhMU3RuWjlBMnljT0tkUERtNFZjdEJaZmJGODlLV2hjaUxXN0gyRkh1T2Mzb2RJZmJ5OW90WFlzYlNTYTJwbjdpT3hON1krMkNHbk5nTFFTWndVQ2dXSXphRmJBTzN5VHRXRmdTUWZxR013dE9vSTdCVTlxd2V4T1hOQm9QY1pEWlNBRkQrZUtvdkZ3RHdRZ0VNY2hlcXg5Snd6TS9qb0Q0eUU3R2JNbzVKSW8wZ0VpbTQ4YXB6dXVCV0FOWHZOMWhLd0xZUmNLMXBrL1pGMmRnUXMwY1RaaVFVcGdJaHltMkZUTyswcWZEZ05Nb1lodVNFdzFDNWI1VklFNkQvOHpBWVVwVkhkUjBKaHlxVlVKRkltQXNkaXhsUkVzWERha2UrVzFuZDRackZkWVJFVlE1b2NBVkJEMkJFZEhwYWpBMVpabWY0RGFwRm1ZeUtzNE9QeVJvNmdsMHdLbEpVaVY4bEFoSmlpREJNeWpiRENDaGxMVkhMdHNiZzhFTEFLM2ZzS0F4bVRHOUNaYjZzWjN0SmFyZFhwTWJSYUNJeUU0YVlBeGtDRTdyaGtKenJEb3RFdlZxVXZvRnBJVWtZQU9vY2QyWit2RzhaSkprS1dUaFV5ZW1MaW4yL3BTSzBVQkVCYktYRFhHV2pLcmdoQmY3U3ZyaEJZc0l0VXg5U0ZZbWgrQ01ENlZJSFRJYUR1aWhEWXBuZlZYSU9ldmErT3dkQjZJQUFXdjA1eG5GcE1oRWJhY2V3WURZdkY0VjhLWlZDR1Rvb3JxT1dlRDRQdTZGMmFVc2FGeXJDbVVBek9FUUd3eWhSNENuRGtUdXBodE5LTVk2QUtjUU4yanRWQ1V1VWhBUDFEZ2Ryc3NhdXNON1dGRkN2QzVlRzR5Q1dOaXB4VFgzWVdPQnFXenE1b3dFQjZ1c2p3ejBQZFlhNTBWbGc5NEhPSWxQWUZzV0R2TDJwWXFIbmNYeHI2aTBBQU5tUVVxQXoxN0NNaVEyMG5CT01vTHBBVjBheWwwalNMdEF3MTZUQzFydGVZUVJYYUtiVzJXRmdCQ0RTMVI5MXpLR3dabEtGbFUvOTVjYkFLRFhJb0Jrbk1GQUhvQ0E2TFkrRE41Q1loSDlmU2IybE5qdG9zR0ZFNUJHQzZWT1F4amcrYVR6NnZyVE9zdzE3VFJtSkViUkRvem01U2RGVnJjcXdOZXNnb0lBQzdYMDluQk1RUXg3RVpJWjl2c1RDU3NiMkYrUktPcEFhYlFYQWNpMFNwRGdtNnBPQTdZblFnd0swd21xVXpYUTRNcnlZQ01DYzduUWxuSTczQmFDYjhZS0dwRVRCbk01TEJPSGFZbW1mTVdDa0Vtck9aazEwazAwNmxjRUJtVWlNQTYyUm5xVE9uenpqRzliSDA0RlV0NTNBV2pRbUNlMW8xSUpDZnRBakE1YjZEdEhsVDUydnF0NENrcG9rWlo0VUFtSWJLTjlDWXFFelBxcjJMS0xkWjVJNFBOY01YeUhsSEhZT2hkVVFBTHQ0NExabnZJWG1tNUJLeHVFSVI2QmE2WEs5Z0hjNjNiaXVDTWFpMkNNRDBxTnkxaHU0c0pvRzFiWjVhTUQ0cThuQjlFQUVZT1ErQ29SaFNad1JXeVhSUUl2OU43SVJLUkx1a292cGxxcmV3UEZidXVGa1NpSXRkekVxWjNkQkQyQW5ObzdTMVN6UXZXbE9janMyaERDMTkvcVMwV24zc0s2VVZGYXVnL3dsYXRkWHg3dk1kVXdBQUFBQkpSVTVFcmtKZ2dnPT0iCn0K"/>
    </extobj>
    <extobj name="334E55B0-647D-440b-865C-3EC943EB4CBC-37">
      <extobjdata type="334E55B0-647D-440b-865C-3EC943EB4CBC" data="ewoJIkltZ1NldHRpbmdKc29uIiA6ICJ7XCJkcGlcIjpcIjYwMFwiLFwiZm9ybWF0XCI6XCJQTkdcIixcInRyYW5zcGFyZW50XCI6dHJ1ZSxcImF1dG9cIjpmYWxzZX0iLAoJIkxhdGV4IiA6ICJYRnNnWEdKbFoybHVlMkZzYVdkdVpXUjlDa1VvYzE5QlhHMXBaRnh0WVhSb2NtMTdZMmh2YjNObFhDQkJmU2tLSmoxY1puSmhZM3RGVzNOZlFWeHRZWFJvWW1aN01YMG9YRzFoZEdoeWJYdGphRzl2YzJWY0lFRjlLVjE5Q250Y2NHbGZlMEpCZlgxY1hBb21QVnhtY21GamUxeHdhVjk3UWtGOVhuc3hMVEV2WEhSb1pYUmhmUXBjUjJGdGJXRmNiR1ZtZENneExWeG1jbUZqZXpGOWUxeDBhR1YwWVgxY2NtbG5hSFFwZlFwN1hIQnBYM3RDUVgxOVhGd0tKajFjY0dsZmUwSkJmVjU3TFRFdlhIUm9aWFJoZlFwY1IyRnRiV0ZjYkdWbWRDZ3hMVnhtY21GamV6RjllMXgwYUdWMFlYMWNjbWxuYUhRcENseGxibVI3WVd4cFoyNWxaSDBnWEYwPSIsCgkiTGF0ZXhJbWdCYXNlNjQiIDogImlWQk9SdzBLR2dvQUFBQU5TVWhFVWdBQUJXUUFBQUtQQkFNQUFBQVloOTVOQUFBQU1GQk1WRVgvLy84QUFBQUFBQUFBQUFBQUFBQUFBQUFBQUFBQUFBQUFBQUFBQUFBQUFBQUFBQUFBQUFBQUFBQUFBQUFBQUFBdjNhQjdBQUFBRDNSU1RsTUFpYXU3UkNMTjNlOVVtV1l5RUhaMmJVZm9BQUFBQ1hCSVdYTUFBQTdFQUFBT3hBR1ZLdzRiQUFBZ0FFbEVRVlI0QWUyOWU1QnJTWGtuZU9xaGVxdXFQR3U4WHRZYnFxRER2SFlZRllad2UyQWNFbXRZV0h0MlZWNTNlQnFidGdvVzdpWHcyTG9CVE44bVloZ1Z0dUZlTTI2clpoMngzdWl3UndYWVk3aUcwUTBtZG9Md2prT0t3UlB1aFZpcnNMbmRqZUdpR25hRFlTT1kwTzF1K3BhNDNVM3VsK2ZrTy9OSVI2cnprS3ErODRkT3Z2UEwzL2twODhzdjgrVHhQTHltRDRIOG0rbFZuajdCTXBNSUFja00rbWdWYnhCNlBSY3Q4VmlwVmo4NFZ2THNFajk0VTYwN2x4Z2dhaTNvbmh5QjVDamIrdWprVXFXYWMvbFp0VHFrcklyR05Mb1RvK3c4NlV4amUvTTM5a3l4OHZWZlU0S1FzZ29ZVStuY0lDOG1JMWZwZThtVWU4WlM1OG11VmNLRHA4ZDZXQzRSVFVtdkEzMlRJcEFVWlplSXBpRks4ZDd4UC96SFQxNyt1UFNuN09vNTJMaEJQcXhMZ1pUVjhVamROM2ZmNjF6WGppOUlVcFF0UHUxdTU2by91N25uamt3aHRFMGNnalh2NmpValpYVThVdmRWZkpaWVA4SEFuUkJsNXh6anI5L3dyQ2xiSTZmMkE1Z2pPMW9nVWxhREkzM1BMMXh1Qkh5OWR0Vy9IZ2w4aVZLMlFnejFrRGM3OTlKL0JkVm4xc3Ztb2ZJT2wwWGU2eitRYm5BaFpUVTRNdkVzVXBhV1JkVnYvelI0QTF2czJYdlp6WVk5b2NrM25oZVZXWTYveVpDeW05RHdiVXNpcjZyekdDbHJRNVI2U0lub090d1hDTG5qQzNGbXlpN1dpVzBiV0NMNzRVMEVNMUptdmV3U1VQYkFGbTJUWEZFRGtiSXFHaG01UVRWNFFhMDYxMkJQN3F5VVhZUS93L2ZWa24xM20reFpZVElnUThwV2diSWFFRXlxaGpZcFE4cktoNVdWaTZwd1FhL0tKYWl3ZnZDTWxQM1pPcFJzVVRZL3ZCdk5rTEo5RU5mVnhiYzF6UUFweTJtUzNaM08wM2UxNnBmWUpQa3NsUDNHdjZoQnVRN0t6ZzlmbjJnNFdhT0psNVNuRHVJT0hJVXZhNW9NVXRZQlVjcEJhL0NrVHJRNjU4aVI3NStZc3N2WG9jemdzbnJaTGl0Y3ExRjZzcU5zanRSQjVMSVVoYnRXdGFFQ0tjdHh5ZTYrREErcW8xVy95Q2c4TVdXM0FyclNYNHV5cFRBVFZ5QkNkcFNkSXhXUTkwaERJdkRVMWI0WEtldEFLT1dnSGp3b3Zjb05jdWdIbkkyeXA1K0NnaTNLYm93WStMT2o3UExwUE1oN29FUGgrL3JxS0lTVWRTQ1VjbENURUcySEhiV1dkM3daemtEWmErLzYvNDduWEpSZGNFN0taWk96bzJ6M2FXcWh0bzF5bnRkVGlZeVVsUThySzFlTEVIMTlCeWg3ZkRiS0JrMXhVcmFuV3ptdFJtZEgyY0p6WG9PUVp5eUpQRzllSFN1UXNnNkVVZzZxVzliSURhWW9UTnpMQmkxd1VyYnZXbUJTV3B3ZFpSdFhQUGozR2pxU0w5a2lVYmJHSUdXVnA1V04wemJMZXF0c2QwZ1NsSzBQWFVqd29LTnptVVpUZ0dZREZGWTYvd3JVZUwxQ29naU5sTld4eWNCbm0yVzlkZGFwSkVEWkRiWERjclUyTThxdUFTMVhnTEk3RHFsS3l0Q0FsSFVBbEc2UWFwWmR2K25YdmNrVXVnUW91Nlp2WjdDYm1obGxWK0IvU3JHNFk4dmt0UlVGSENuckFDamRJTlVzMjd2aTF6M0hwbU1KVUhiTE9TVlhXcHdaWlN2UWFQcXltMlZJQnVHcWlwa0RLYXM4cld5Y1BYaE12T2IranU5YS9LZEJRQUtVclRoN01WNC8zRE9qYkl0dXVBU1RnV0h3ODBWYlZtd3FTRm5sYVdYamJDcFBxUllvQmx5UUJDaGIwTmJyZVVYS1BUUEtOdlpCaWdMOGY0OFZhWmh6WGlFeVV0YkdKK1VRTU94d3MyeE9tUmhUS1N6S2Z2MisrdUNkbmFnQ3VveGNOV1VpRTVTVC8vejk1R04vS25nU1VIYnhYeld1dmRhbzZPc3ZyMy9NRFBNOE8zVHh2M2lFUFB4SG52ZTJJeUhvMTEvZWNHUVYwZFN4Nkw5QzJRWEs2bjliUDlHNkhJandyUVFOdGt3OE5XbVduVlBYMGtFWWs3SmZKT1MwVGs3TEVlVjBVZFl5SXEyV2dDWFEwWGRZb1Q1bDF4c0VOdGFjSHFvVi9Wc0lnSjFXLzQwYTVubDI2RmNhNUYyZnZKLzg4MVc1UGUxbkNMbldJS2NuZWxiZE4rLzNybFN4MzlVanFBOTAzQTRQeFY2V0k1SFZYVFhMOW95bEg0T3ljK1RaUC9TOFg2NXJPNTZIeU8yZ0xDeUpkclFjR3pWeTk3dTMzLzV0OHV4eEVFNHBtNnQ5cE9PdDFyV1ZxTGVTdTMvdTVmODdZOU9aSGJwSzd0RWF2dG1vQ3hYa0Z3aDVpWmYvQWptbEVXSFhscS9EVXBGZmRDUlIrbDZrckFPZlZJUG91anJ2VjByUDYxWHJsTTNYZ21lK3FXNFMwVFBvUGdkbElVaFAweUozeXpUa200UWRlVVFwKytBOXlsOTRyK1dJUnZuWFBDUGNYMnZFYzRRVzd1NnhESnl5TUtxL2hnYTFuTVlBUHpIOE5QMjJ3M3M4eEFEQlQxQ1g1bHFrTEljc3F6dmwxVWxRK1Mrd3R4U0ZLRHBsbHdnNzY2ZnQ2b2RFSnVsd1VIYkJlTzE2UVpqdW54Z0UzU3hRTnRjNHBJVkEvLzhDTHl4ZjQ1eHBLMVl5UitpNnNLQVdPV1g3SkJnV3dPanFsOHZMMU8vRm9GR2dKaW1Mc3lKSlVXNk1RY29LVkRKeTBIZjBPclR1YjN5ZXlPY1NDS05UdHNoSTVTM3g2VnFRS3ZUWFFka1ZaZXBOODlYNDRML3hTc1pKb093eTIwMVZsUHorUnp5ZEI0dDFOM21OanRBZUtiTlkvaTRCTUhVbkNLcVpmMG1XMHIreG9hWVBjQVQvSFRVU2V1ZzczSStVNVVoa2RkK0NaeVN1SFYwS2piS0wzTEF3MTNDWkx2V2N2czlCMlMxOUJ3RnNVTDBTWkd4eUhSSW8yejhKd2lweWFiL08wMUU3bE5nZjZBZ3RDTVZqbmZXeVRVSDhyck1ERGVwYVpYK0VIbURCcWc4aWd0KytaRHRTVmdVbUN6ZndRbDRudWdRYVpaZjR2S1RrZlBKNVBTdjFPU2hiNWJ3UFVyZkZiS3pPbDUwYTVKbHJyS2llWUE5UWU0OEZlc3VFOS9hdTBMb2MxZ1BLZ25iSzE3TkFDN25KU3pIdkM2eHZwWVBPdmhrSm1xNzhueUJsYlhqU0RTbUFnZWtHWFBlOUZ4NVdSNjlibzJ5WGRYUXdYek1NQ3pUVFJxQi9hdmtkbEsxb2t4dWdFK3V3cWQwaVVEY2FrbUl3QUJ3RkJiWjVPdkRDYkdvL05EU3YvSjFLZmpMZ0lPdklxVTdCblVFQnltK1BDUUtseXc1VnhuZWwzRWhaQ1VzMnJwcVk1SHpGbk0zcmR0a1cwL2FBaUk0NTlRcFhHSlZXT0NpclRwNDhEN285UHNnRFU0TE9FQ2pMZVFYN3FuYjk0b0RRdktjRVAvZTRRc0dBS2dRbzdGTm5VM1RWTk9jTEl0Wnd0RmtGOHIrakphaXlLUndFSW1VMVpETHdBRmZ1c0dwYnBvNnE5YkoxMXJtNSs2b1dpMVZiNEtCc1FTTk5WOUt6eERzM29PdzJLd1RzK3Z1K0V3cmlNb0tmejhwY29VRFpFejhML0xUM3FRditraDE2cDFkSjE2U0R3T0MzeENzQVFSeG55VzNKa1FVcHErS1dnVnMxeXphRG9WbEtvVkdXYzhyNzBZOGZ5eVRNQlZRNXNBSWRsRzFwbzI1UmpQemVnMXpQQk1xV1dVbEEyU3UrczhlNTYvdjZMS2tyVk8xNUt6dVFITm8zOEhQUm40S2lOb2hBMzVFWGcwU2JLSHF6U0xRbGN5SmxCU3JaT0NpdFRsalZsUmNNR1F6S3lwbU5rYzZET1JHZm5DbFJEc29XdFdSUTkwMmUvczkrTEhBQlpmay9RbEFXYUhURTAzbGVseEhZR1FyWlA4ZVNMdEp5d01RbHg0Nm1vamJJOHFoclhaaHNlMFIyOHpJTlVsWmlrYlZMbUdWQmtPWWRReHFOc2tDRzMrVmtNdExSL2tzYjhZUDRVWlNsNzBQc21VVkJOVHhJVUxha1VKdSs3eHJ3M2hsYUlJVDhxaUltNk1QeXhaeUtvaVR3U29MN2txZ1U5R3VoVE1zMFcxSmJ3RjVXd3BLSmF3dWVFSys0djh0ZDdLNVJ0Z1lwNy82d2tVSWs1SE1pTmQ1QjJaTGF5OUozQU5UMHZyc2hCM0pCV1VoM1V5WUVrZjI1a2pPMEI2SGs5TC90OE9SVmJvbWdBVjBpbEE0ZXorNVZZUVNoL3lOenRQSGdEUnVoWGlCbERlelM5bGFVQmNyaWRsRDdLcnZyRm9NK0pRTzV5OFp2WGM2bHA0M3pQdjFvQjJWcjZqd0tLQ21JSU1xREhWZmNEZkVIMUUzMTdVTWVTT25qejRYY29kUklSUysrUmJLdC9wZDZXam15Uk0vclAvdEQ3SG9wWkxiMy9TQmxWYlN5ZFJlVUIxUXZCN0wwN2pDWnRGNzJLWGlXOUhxM1ErRCt2c3RZTzRxeTBGMEtlb3BDSFpTbE5DeUxCRlJ2cGxxMU85UUwvbGxRY2tCeThKNktqMEhVdE41YWx1aDVkZG95Y2RsL0pLaVRKOGRlbGlPUjBSMmVJamVOZXZ4SkZYYVlNQnBsYWEvbVh5ZVdxTEExdkM2bjFDSTZBbVh0R1oyRHNyU2NzaWlWVXBZeTNSM3FyVGFZbUhlUGFaWUM4N0hib0VNRHJZdHU0Rkt2anBrQ2Uxa1RrZXo4OEtCNG4rcTloWW5SNkRDSFJsbnZiZXloMnNQbTB0TmdMT1dFbDIxeFVGYlRaYXZxYko1bmMxQ1c2cnhjSkVnR2xLVmRuanZVOC82YWlVbCtoeFpaZEdtbU5FSzc1cFR5UWU5UTdSTkJ1aFU1SG1BdnEwR1h1b2QybmZ0R3JadGl0TllwNjMySGthRnNaUERhVjJodjV2ZHFhcFNEc3BxUnF4cVJzckNYUUtFVXA2dzdGT3IvWmduUzA2c0RubWlVWFZiK2IvU3ZjQUE1dFFzcHE4R1JwWWV5YXRzUVlFV3N4eHFVOVI2clEzTGJCcFFIY3JRMVZnVWxqcUxzbGpMMUV6S0U5TEpsa1lCT3Z5akRLTFhzVUQvWkw3K0NpdW5icWdxUmV0bXVNbkxBcW9qVWxYaXRhSmZsU0dSK3AyYlpzaUZGVzJnS0ptVzkvSnVvcGlpVVg1WnhBU3lmWGNkazNFRlpiZlVMS0NzNmRDR0RnN0wwU3pHSElvSEhzcmxEV2JLdnRTQVA1V0hmRmxlV0pGeUY0QXM4Z2IraG1uSlpraTI1SUlHS2dZQXRFd2M4ZmpFVjVnTFVqN2pMb2l3WW5FcjJBMjBlK1BaOXM3ZDJiVDRzcUh3SHBWUVprRm1sRHNwUzI0Qk9XYnFnNVE3bG9udndXUjNhc3FaekU0OUl4UnoxSzBwSXdTRldEL2NZS0FobDZxellZL09xWEpGeVVOYUR6azJ1Z1BxeTUrbStRK0QranRrU1J5L2JKTitYcWFnMktuM001YUFzSGFwdnlvUlFGVjNRY29ibVB5TFNGZjFNVlhVcFFjUVpEbnFDbkx5NlVGMVplbjFYVmRwcXNaYzFzRW5aVzFETXNxenFaY2xJaGJJYkhTNVowVFJuemRPVkk5QXc5bmtLZm5kUVZ0bDM2dEg5cStxMEtzam1vQ3c5dzJXYkYwcFBHd3E2YWxjb1AyWVVVc01mNHNnM0w0aUZMVm1FNGFJbnlNbUxXaVIycE5kM0tmdDhrYklHTmlsN2E3YXExNWVxcXFUc09oRVd6YTdaeTFZZUJhR0JJSGRNMlIyVTdjbmV5bjhmVWV2ZS9Qd3V5cmI0eGxrL1JaUE42RjJoaTByLzJLQzdiVUVHVzE4MkJhVW55TW1MaW0yMnBTa1ZHcVNzaENvTEZ6eWRGL1Y2YzRxRlIxSzJMenZSTFpWMU5HL2pKdnpBY3pZS2NyNUlvNy83Qlg4WVlCVy92blJNWFM3S1ZqU3pVNEYxZ3E3UVJkcXpzcXRBVFFaMGtjQXZOd2o4OTRxYnAvTThlb0tjdkdnV1JYM3hJL0RkTDRsUHRpNnFEKzdySWl3b0haK2dMSDJLZDFnNjgrekNOVitSZ01uUUMzcEJUc291YTFvRmtJNlhDbm5yWlZxQWk3S2dkU2ovQnlENkhrM3BDbDFVL25CTnYybEZUUSt1bFdsTzgyb3BwVU5jM1Y1OXhqZHNUY3l5OGxORDBaRmVlVXZwbEFSbDZlejhDa3RYVlZoQmc3cStnUWpJYi9aTUxvdkJnbVlqQU5MSi9tMHhtSXE1S0FzTEhqSWQvSDNvN012ZkxXT0ZMaXAvbkNyWmdWUlZLVG1kc3RHTTFtVjhHN29QclRYU2xFVHo4VVVhQTVxVXZYUno2S0ZXNTZhMDV0QW56TG9mYXJZL1llbWF3aFVFMVAwSWVCMUFNY2NITVE1ZEZ2NGp4NndjdUFIUEI4TG56K0xjdmF4WFV0SkpGY1FSdXNqb1RFdnQrb0tDNkZJNVgzQk94VmJWeVIxa0JKWWJxRURmZjBTTHBCZnFzZ0VPR2YxdXdjTlJLQVJTRkpSdVNsSVdKbGRpaGxJYmFEbm1XSVE5bUxwNldTQnBSMmxyUWY0VHZHNmdXTGg2V1E5MmtkM2syWUJRaDRIYkVRcjlzWkN1R2VnUDZvYWRZRVRnSmZIN3NrRlphakxZNVpIK0hmNlFyTTRKS2Z2N1phMjhDVHh6SDU4Z1UvWlpjdjg4WmhrcTVuejZGNG1xMjRwZWRvNmNuckNxOWE5alFwZkVWTmlhSkRVWDB0SEx3a3V1TjNrMDNLR1haOWxCZzl6eEk1U09GMVptRC93dzJoMkw5YW1hNk00ZG9VRFpvQmpJVnd6K1RBOUtDMW0rc1IyVXAvOFcxRFpERkIxVGRPMFdhdHJqZVNicFpkY0dJanN2WnR6N2xxbXJqRnRBUnVucnUvRldESE9UUUM5a3hYNEpIdGFockVKUWRrTStzYW9jSXYyRXRlMGdQUlFsTXdZdUYyVkxrbEtRS0Y4bnA4ZEI0dm1nODZZdlpmTnlZQXpnekdrS1V4VVV1c01UMktGQTJlZFo3QVpUQ0NDSWE5bExZcWpnSmRBN2xNanpCTUYwaVVPREJWYmFwQUl6Q1dXTDRvK3BWanlXdXllSGo3SHlwWnI0Yi8vWXF1N0pZQk9vRlQ1aHdEZmgyZnhBNXYzcXQ4RXZuNDJpeTNxbFgyUEpOaHI2dzl3YzNBNnVnaklrZTk1MWVqV2dPREx3blZkNExRWGVjUVlCME0yeUV3OWIvbDVCWDVrNFlZbjdram1MRGZKUGd0Q2k2R1JoQW1hRkFqLzVmKzVKUHR3L3pydlpmUDNEckdUMTlpdDF5S05DblM5QUFNOGNwSnhYTlB3SktMdEF5bXFORTdtcnN0ZVlLSDhxbVlweUdZclhsMnU0UU9leFk5MXovL0dUTDZlUFp2RHFUL2l2a0FUSHhlaVRLTkhMZWsrZWx2M1M4eTM5V2ZwVEZWb012VHBTZ0NCQS90N2hVUlU1d3Z0QkxhYk4vaVhOdlhIalU1VG1nemZjMlBOKzZjWlAwZXkvZWVPemZycC94Tkw5OTRLU05OZ0tCY29XZzJuZ1JwMVB0ZUI4eEdlaGNOZ2l3M3QwNm1IWHY3OC9FUElETjFuQWx6NVZEMExlZGVPSGVTTFlQQ2I3NFFrb1c1TzVSWkhqT2lKUk52Y1gvL0tsTDMva2FOeXk0MG9QUStTZVZWYlhnYnFWS0ZMQVV2QmdyRitoTTBJcGtyTDUwdDN2UXNEWGl1UWY2NldYbEFJT1paUVM2anNGWmJmRUtCMGtYcXlUd1I4OTlNQzN5VStEbjY3Z0JsZlovMnFjNzJhaitoY0krY3ovL2ZiL3hNNks1VFdab1hEVzNXTGpkenVlOS9hU2J5L3cwOEdaNEhmLzM0ZmUzakpVR2ordUdkUW50UTBSb0E1QVhhR2gyTk92dnlQZTAxRWRQOEVsaFB1ODhUZFhvcUk3STFFMkVQNG9lcW54cGdSYjZMWlY0cW94VTdBU1JBNVk4NGR0L3NERWZhRFdLU25ycmRiSTRDcGsrZnQ2QmV0aU5iU25pVXV1WDN2NEVyc3VYNzB1Vnd6VUlkWXZhcjNtMS8ycjFMUHFaN3Y4eUhVWVNDdUQ2MWN2WGJwNnZjRW82d0ZiNmZYanVnQkc2QVpnQnE4bHdESHo2bGkvV2Zlei9nTTlxKzlyRGtCUUt1RU9pMndPb05wTE5LZ2hkYWErQXJ2UnkxSlZ4SFdWV1hsd0s5akRwWXlNNnBvRnlrSTNlTVZ1VDRFUGQzWlUvQ0VLWmIzY3R4NGhIM3ZEb1ZGSlQ4d3JZSHEvWTBTNnZJdWFza3hUNUQvLzNzRzdYdUpLYTRUOXlzc2IxOTVRTmdJOVBkVGZ5ZlhOVjVCcjcvdEROV0h1VzFESGYxWkR4bk9YRkR1SFFkbmNUejRTTUhad05iaFlWMUFXTlN3cVhiUUlITnNSaWJJL2Y0TjJBRWRqRng1VGhwNWlBSkpGTHN2eFRnWW01VklwNjY2amRNVEQ0UisyejkzRDdnM29RV2Z0QWgzdFdNaHNVSmFHVjRBbmNyMGk5eGhsN1o3SThKVENkeEU0dGlNU1phRURLR1ZJMmI0K0ZXSnR6RWxENXRpdEhqdkRTTXJ5N3pORHlhNnRYSzRLQzVFNlkxZk83TUkyVlp1WGc3SjBFWEZiRVErVVoyR3BnNFBzbktZMUpYa2taMFRLMHZud1VhUUNFMGhVZzZtem85aSswQjRka1RFSGphVHNVN0p2Z2FYWUY2TlUzNU42YlpUa1U1Rm1XZTBuSEpRRnBZZ2FQT1Qxb1BMbzFnMGJpVXcxbGlzcVpiZXlvMndPWU5CeENGcTRvdjJmeDJyMTJJbEhVclo0Sk1xRTJiN1FhMFdnd3pGdm1Bd2NTYVl1cUtycVBBN0s5dUJSYVVJdktrdUJ2WGg2dlJtZ0xOMWs1V3JzZWpSbWFBaE82aGxGMlZWbEdJQTF6VWpXeDV6eU5DZVZLKzE4TFZYL2RsQzJhYjFjVkpPejVLS2lCNTlCOEtpVWhSNy82QXpWbkNYck1xWHNnYU9FZWl5cWthTmdPMmdVWmF2Y0FFV3pPbFZ2dTB6NHVFdkhFVHJOUVhudFBRd0haVnVxRGRkdlNlRWViOUFHRVU0ZU5ORjlCaWhiaGE5Zkt0TlEyY3dtWDVHVVFVbTVSbEEyWHo5UWFvYnZjaWkrY0dmUDJDVVZubkphWXVhMGdjMUIyYnFsRk1uM0hCYWlxZmdqMnpvRGxDMThEeWpyK29NdU8vdmVrVTJlSk1FSXlyNU5NeHpERHBkSWRlZ0VpSlFsNDBROXpjaGhVNVp1NWJtank5Z1Y0MDgzcG5GNkJpaGJ2MUowbXd3MmlWeVYwWEdLM1RlVXNodnd4ZU43SFY3bnJaK0I1L2FTMjl3NzdDNFcvNGNsbXFhNGdxYU4ycFNsNjh5N3VzQlZNUlV0eGFRSFRUOWxZZVd4QWtpVWRTU29MNjhZVU96WVdFT0dVZGFmSGhKdU1lK0JyUFE2aUZCL3hkV3FDUG15U3BMVDU1VTJaZW4rMmhOZHV1cUx6SitQT1BibzJSMis2YWZzSE5tajFyNGRoL0RGMUpUWjRaUzlkdWxxSTlqazZzSFhPV0JId09WSEdpNTV6U2FzUlNLMm1TczcvNUpxNHJLM3hRUkhNWFowK2JwY1VkaFU5a3JxU2NiMFRUOWxWMDc5emZHODVXcjdLanFFYWxUTTdtR1VQVU5WZFplS2ZvYnlFczdhNXYvTG9CNjdsKzFCMzJMSTBMekNBcGJqV1VpZ0w2VHRHWFc0dmRrWnViby84T2dlSWFIRksvSnR4WVdDVXFiYm1SQmxxekdwZDI2aDR3N05HM1libTdKTnl5ekx2amtHb25UajZsK21uN0l0MkxmYWNMd0NDQ2dzeERYV2pIeTRDVkYybFh4NFpOWFRrMEE5MklGS1pWTldOY3YrbjRIZy9aM2dEbGJvYmVZNjQyMzZLZHZZOTZDNTFvQkQyNzBlbDBZL0VzU0VLT3YxMDFzTkdkbkdrUWxhaGhwalU3WXV6Yko1WnVncm5MQnluVFBva1hVNkVrdzlaUmZwRkxRTGxEMjBwWWZkQngwN05JbVFwQ2c3NTV4V0p0R0NzNWU1YWRxdkxNcXFadGxOdHB6eTFrNVFNeWgzWnhmQkwySHFLZXVmeFVkTkJydU9GdGROazRvalRTeEJHK1Q1TjcvNXplVll5dElLS1ZqSGRHalIwK1JwYW10NkFNZlBtVk1KMVN5NzlMd3UrMXhzT3lxbW5yTCtXWHowcFdwdTMxT1JLRHFKckthSXlRMWJYZUJTM3dhTHFlRE5XSFk5eHlUTTBHSTJ0TVVyZjN1ZENZaHFscTBhWUMyNTVoMWZ2NjgrNE44bEcxcTVHaGxPMmZ6bjd5Y2YrOU5qbHBoWkRINzJ2WU1QL0ppYW43NytjWG53dnhoaHp0QTMzZDg0ZlYvWlc1U0hmZEEzUit5c2V2RVYrbStsakRIK3RYNnF0cms4cU9lTno1Y1laYjNtQy9GSm1XaEpQVzJwMFVsWit1Sm5od2xST05DbE1kL09wTEZmSk9RVVZyZkxlc3BSdmxES3JwYWdmckJaZElJU0FzcCtnUXdhaEh4SUxaUytaRmNuNUNPYzIwR2NIWnIvVVhMMzFmQ251dGtVcjZ3dGxzZ0FYaGY2WjJweGxydm85NjVRZzhpbUpPbHEyelNVaUxpZHlWRTJweDRjRUxmWWNaYjMxM3RxYVU3SzlvQXdMSkg4NERnTHFOaVBhbzQ4KzRlZTk4djFNWFdqTU1wdXdERTkzNzM5OW0rVFp3TXUrcFQ5eFFIMHByK3ZyVVRCcTh6d2JkK3ZGdlhsZmtkb2s5RFg4UFBmT1JVNlRhNUVudDd6dnQ0Zy8xVEZ3blFIUTM4QndORC9GSDY2TFdmZmF4YUIvcFFRcU1pT1pjRlVlQXJXZ0ppdm5YYW9ZSnRqVGtqQ0tOc2lkOHUwdkcreU0wd29aWE9OejlHZ21ycXRxaGdRTHMvdU5CNHVPM1NPdklkSGNidE9tenhEV1FnSzBHRVE1ZnBkRFpwZUJjcmV0T09YSTI3enMzTmlTQUlJUU1mQ3RBZm9qdmIwQ3BSRFBsbkVFbUVINzdSZDB4UTl0K29Mb2V5QzZFcWZHRkJlMFU5TUhUMzRmVDluVHlvczNoT2NNM0RXUU5tUHBUK08wRGJmanpmUGUxbllUYkx0NTJpUm9GeVJYWFhNQjUwcjFaTDIxZkRBUFovZXhoaTdjZ3d4RVFBZDBkZk04MSsyUHpIcEgzNnZaU2dHeklJVG5UVXRXVXZqOG9SUXRzYXB1UEZLc2tQelVjcld5OVJGM3lDOTRqdGcvYU1leElLM0tjZG9SNml5MXNmZkpXanhLb0NPeGorU2xVNXZXNEVLUzNkTE9mNkwwRU1yYWRHWk1RTHdrTVNsV2NSQUx1Q1BMaDBjWnhNRXpEVmMweFE5c2VwelUxYXlzc21vQXBUOTE2d0tNQXB6QThheVhINENPMVNaRmV3SW5aT2FURHRRRE1DR3g0Z1BVNXQ5VlNUTjNRd01CZFJJemFwWG80SEpEclovQTJ5Rzd1c3RhbVoweDR5QWRseU04YlJndW5haVY3ZkUrNkFTSDNmMStGQ2ZtN0p0TWZiWDJZWVVvT3dyR2NXQVBseWVvaUF2UFZmL1VWYUxJM1Jac25Jcm9HeFZxckFsMlVGYmNwWlkzd3BqRHRlQmxUVEErN0xpRFp6NUJ2QTc1RHF4VW1OQWJBaFE2L2tiYnR5NDhjbWZoQ2ZnYXdpeWFLRHpUZW1qcmk3cnNpREc3SkZwZEo3K09DOG5aZUV2d2ZwcTBic0JaY1VzU2J6V0FncnNyaWkxelRubEN1MUp5aTRFMUt2SkRsb2VqaW9LNDQ0OHI2QU45ZHNkS25UUUJoQ1FVZnV6UXpiMWt1THlHdkFlR3dMU0xKdTM3QVBhWE1ldnNjVWVMUkRkWVhMZm9GLzljMTlPeXNMa2k1OGtBYy9ibnh3Qlpma0VDdlpWTVVMM0pJMzlyd29HdGJoQ3UxSXhDTTVuaC82UmQ5WDBlNFFkdDNTdzhZVkpEb1dhSXd0a2dmL1d0cDN6bFpEV2ZZMXJ0YmJMeHBCd0JPQTU4cW5GR3U5cWVHb2dab2U3ZzN1ZDlXSlNRMVRqVjhpTzZsWGRUc3AyaFo3cGxaamlDcFFWRmw5eDVuNUJpQWhGQ3YzWEZkcVZCRjMzZTFuNFI0cWhBLzRoUjZwTWludUJZd0JwdU82clJJTlN2Nk42MFowbEFoVXhPTVBKalNlNkpEQlIzdE5EeEl6b1J6OStyTWRRWDBzT3kyYWtrN0pGeWFFSDJkQUxsT1VkTDJpdFFZY0xXb09pWDhKVXlPL2duYUU5MlI4ditwb0xOTytBeXdML3dIM3VOdTQ5cnViQXdLTG96U0pWZUU2UkJCMXBJUUI5RlI4NUY4MCtGVG8wZzVnYWVVd1JRZU03TU1PNDMwbFpvTWRObnVEUGZzeDNBV1dGa1lsVEZtaWs3S0NFV253Q08wTWgrejB1OHY5SUMyd3BhakFNRFhkNGRjYTk3V3NsRUVpVmF0SE55MFJJV1lsRjVxNmFIRGxYK2VqSWhiSXAyeURrZHprbGVDcHhoK05XQk4xRUlITzRLQXNVTW50eGFwY1Z0T0tVaGNGYVVad3BxYWdJemxBNm1iejc1MHJsSVBBUjk4SjhTU2dKUEl6ZGE2TFNrcUpNeTBST2JVRkdveXROQk9BWjg4ZTFhWnBhZ1JXVUhNb0ZCQ2QzZjFnSlVKMkZjRXA0THNxQzNtSCtTU2hsRDNpWm5MSmJHbVZCci9UblNzNVF5bWRDM3YvdmVCRXdiNUxhRHZUUFF1bmdDWUo3VHFxcVRjalIwV1BCMTVCU1dYRVJBNkJjdk02RUFBT2FXbXIybVh1ZWo0ai9nZ1hBM0lXNStLM3YxM2szR01SNUlMc0RJd2dmWDQwbzkrdUswQ3NQeklSQTJTczhyTTZpSzNxNWpXQXU1QTV0K3dJU0xpRlZUUTk1ZWNEbkVQazJ5V3Y5TDI3QVR3dHliUE1jNG82VURYRE45SmM5RFRxUzhpZTB6UHFnUENlcVRkbW5tTXp2Rmc5VE9wYWVkcXFCUVFKWEw3dmxHSU5kbEczcnZXTTkrSk81USttS3EzOTl5SytYZWovQVB3THhrM3B2TFNYMy9CUGtXRWE0SFNoUmdiTXVoaUlyS21xQUxCNWRreUhBa0FaV2lvV2RyWU1nY0k1UG4yM0tDdlA1Q2N1djNQcjc3dlVGUDBrSVpSVkxRRkNTaTdJRmk3SzBJM2FIZXY4N2g4UGZ2a1Ava2VyMU80cThpck9xcG5HcE45akw2Z2hsNG1NUERIbzYzcWQ2aTN0QjRBcWZwTmk2clBjMkppelhJZVJ6ejVHOXVtcU1rakhVNWFKc1ZkclhSR0lYWldHczVoTFJkUFZBKzNhSGVyQTlNYmdHSFVnTEUwaUhaa3BMMGE2Q1VuNURzMCt3WkEycHJtZ1owWk0rQWhWbU1sSnI3dE5PakY2MnhjRHp2c01ZVWZaVEtEOUxUOFAyVlVzMzVRbk9RbGtnb1VJcFRsbDNLSmlwL2g4bUljMFRrYkwxQXk2bmJ4YXpXNEdVbFFCbDdTbzQ5TS9HVFNhVmk3TGVZM1dmRXB6V29nSHRLM1NzUGhaKzNlR2k3SmJqN3hMU3k2b3ovVWFnYkxaMGRZR0YwbHB6bi9kRnBPc1FWREhvMExDaEYvMTJsYmk2a0tVc2ZNd1JxTTltS1BxelFLQ21QM2dxd3JyUUZPelZMeHFmZnhQUXd6SVg1WUVhN1hCK2hGQlc3Q2VnQmRQTFJkbStQdE9IeXVuL3hSM3FGK0xsSDRORWxJZDArbFVPd29iOHdnbHlNaFlra0taY0hxd3NTUEFndkdlRUFEeWZPMGJWeTJLcENmcW9zaEhwZXhkTHRyNjNBTG02aWtYSnlPZWliRlFqVjl1aTdDNlU3ZzdsMWRLdjZrREQ2R3JGVFI0V2VsOVcvem0wWXo0d2tvSjViTWNJQXUrR2U3TXNoT0orV1J1dHVFSlVzeXd2czhrM1Z0TUhmc2hEdFUzTkVVY0FBQ0FBU1VSQlZEdDBYdWF5US9QQTgzclNZS1lsQjQrTHNxQjNpQTZkcDNmMXN2QlBlSjdId3gxeUhjSE5HZnJVTms4SWhVTW1iU21CUjFsM09FRk9YdFM4ck9vaE5BYUtFUVdMbExoZlZrQ1Jwb04yS2ViRHFPOXlDZURwM2VSdWV0L29jRi9SdEEzazZiN0RMV2RuNU9keFVaWjJnYUpFVnJLTHNoQ21HQ2dvQzh1UTJoa3FUaG1scnpMUzBhSWVMaEtyRVc3MEJEbDVRUlp1NWVPQjhNL1dnUERENmQ4OTdCSVE4aEx3SGhjQ3FsbVdsYmtwbFFFWUQ3ZVZtdGFKYnppaUlWMnpsNTJuVHhsSzI2ZXhqc3RGV2JxNmVtS2tkVkVXVkdxbFR3ZWkrek42WjJoRjlvOHJmcWFDc3BwbVZDVzk5QVE1ZVVFV3MvT0hPc3N5QVhlOUVoSzZMOXd2eXpHSy93Nzlvam5KcnlvbUhuMGkwcGVNM0ZMN1BTcFdoYjdkQW9QeG5SQVpYWlNGMTc3VkhicGZPb2E4THNwQ2Q2YklCQU9EM3drNlF5dENEd2RqQWRWUXE5cFduWTNYdU1UelQ1Q1RFWkRGMUlkQUVkcVRDZENWSlFKZDI4NVVVaFM3dXRwcjBoR1pNM0xMVlBkOHd4aXc2Y1dRMWpncFc1RUZRclo2R1g1Y2xLWFVwblFPTHVqS2czSGNGVnFSM0Y3MWRaZEFwUlY1WlNmTWcrQytwcFFPWHJwNnU2TkUreW5NZmxlUFIxOTZDUFN0cWYrYXlycVNPbmVtVzB5dU1OR3FhZ1NFcmZrak42UlFiZjVxTTV5VUJmYkovOGVpendvblpZSGFKNkt3S3UvNlhhRVZxUnpuL000WS9tZUtPVUJSZFVWNThEZFIxQTRJcG9ZeC90ZGtxUmJVUXBTYzZFd2ZnWkp1UHdJQittb1AwMWY1Uy9jS25qQVJtOElWQkhUOWpnK21hOTluQ2N5Yms3S1FYdmFLdmpiczdtVmg0ZmhBRkZqZ1hhNHJ0T0liRS95MEc4SGZvYVdxb2FVZFVZemlhQ3FUT3dpbW80blJqQlYvS3Fka1FXZG1DTURUMFlkeUdOczdVaHJ0K0RRWVk4VXVsdHBBanRRMGVmMkUvc0o4U24vNk5EQzRuSlNseTJVblBFWFg3NkNkdlN5WWs4QmdGVnhBS01ZblYyaEZObWMxMEI5Z21OL25lVGZjR21uZEVMcXVUZmRvNWg2dms1ZUU5NndRb0hZYVB0YjdNdVRnVkRkRkdPMzROSmpQbkxDNFZlTVJCbSt6VXBPcGFSN2loYmtwQ3gybDBDVHFPelR0bHRLaE5rUWYzQ1dDYktCTWJMTkNIYUVWS2NCOFFOVmNRLzZObmpLNEdaUmpIYUlMSGJPdTNZS0JSRE9Ec2ZyeGxnRUMwSEhLa1JUcTM0Q25wWTZKQzVJQjlQRFZQUzVpVmNzRjgzSkdQSjN3UERXOXV5bWJoeGNQam9OazgwRy8zVlAwU01rY01ESmRZYVVWcEVpTzBJbzBvSGFaWFFxQ0RsbmUyajV6YUxlQ3pCT0VGdzFVNkVyYmdaWUZQVmtoa08vRHd6a1J0ZWYvcHhyNEQ0U2Y3aXFSdXFibmxmd3RxQkM5MFpDMkpEOTFiVHZJQkE5YnlhMDYzWlNsTDNCOU5FaldDcmF5QW4vNGpJeE9nNDVZR1c4anAzdStFLzVrckM3dzJxRVY4WmZMOCtGK1EzU3pUL0svQnl2VXYrWCtFMVJ6THlnOENQOEtCTWllMlE4cnFncSttaHZkYVNMd0t5OTlHV1VvK1kwYi9qc2tML1dQaXdHL1pJUi9JSXJ5TUo5a0Z2SzgrWjJhemNIdDRDcVlJNnBvVUFobDZSdXdKelRSWDFJVitrczNmb3BLOUpzMy90akwzZmhVQTV5RE45eUFjSmdTMVFNbUw5YlVVY0FPQmNXQU5lQXZCY3VlSU9RZjBESTJIVjhTMnJpdlRtc2twMitrS2VEYXVIRy9Id0RuS24raTdJZlFuNFpqOFV0RW9pTXRCSHkrQm85SCsxVTRTcFhUUXlsUHZuVDN1K0Q3V3BIOFl4bElYVldsZ0k0ZXhYMWhsRjJzazhFZlBmVEF0OGxQUThvbUwrZDdubHdORFFTQWJTNzMvdURXdjZ3SFo4WHlVcTNRQ2psNTJ3Q0V6UDJlNkt3OTd3dUUvUHBiYmozbW12V0RiaEZjWEFjWEFSQjh3cXNCeThZeGQrTTlPd1ErelorV2Z2K0lKcEUrSXE3V3lPQXFkSDUvWDBzREdvTlNoRUp4TlZVWVpUMTZkRHhjdjBvVE53ZndYZFpMVjY4M0tHV3ZYM3NZdnRGNm5mOW5OdXQrdW1mMjFGSTlNN1Q3TkgwdGdSNHpyNDcxZE93SEswQkh5K3A3VnVtWFlDOWRmYVFoS1F2VnduVVZhajdoNlRlMU9Ta1B4ZnRVSWxEUlZGc3Y5NjFIeU1mZVlMSnlYUmpyZTdwZW9UUXBsTEx3Mlk3M0R0NzFFaVZwaURQM0xmamt4eCtaa1Vib1U5dGdhdnRXZmZEd1o0N1ZsTC95OHNiSC9wNFdvc2FPZEM5SUc5dkl0SmdnWXdSV3pJVlpsenc5WWFnQ3ErcU9LMFdZeGNDZGR1cENlOUxhTzNXeW9VQUdBblBTcEdURUtON1NFZmVBMFhTZnUvVjdlQytycDV0S1gxOVlMcVpTUEJSS1JRRFdzMVN2MDcwcTlJSWhXN2xtbXJKMWFzN0FhMFlRS1BMcFQ3aThUOG50VVdCSzFkZC9SYTVacG13T1oxL2lPYzZBb3hvMjBrdlppMGZDRFNZaW9kZUtRTjh4eTVSZGk2TFE2ODFGWDNZSXJJVnhVSWkwcWl5UWdRSHplUkdoT1dhWnNqMTFJN3JXS3ZSTUlRSjU5UjBXcDN4VmRWT0N1ZElwY3N3eVpRdW95b3JuT0F1T1VjOHJYejlRbXRFSXN6RE1NR1h6WVcxUzJvM09LVUpnT2N6U3ltUjhtOWhqUlFOZ1o1WmI5aG1tN0Z6WWxOTGRVZ3pOR29IRm9YT1BqWDhMUzZNZEx1T3RuNEYxMFpmYzVsNzFQc09VcmVLZUdQVkp6b0M3cFV5dlRISHAva0M0OW9Md251L1J0eS95SEROTTJacTY2WjIzQis5VGpNRHlrS1dmVFhMdDB0VUdmNm5tUWJySDVQSWpqUjFIYTJhWHN1dmlhNDZPWm1IUU5DS1FHMm5taWlMMTdGSzJ4OTV1aU5KS1RETWRDRFJkbS9uSEZXMTJLVnY2d2JodHhmUlpJN0E1ZWdGc3RJZ3pTOW0xSVhyUjZHWmppbXdRS1BEOXoyZW9mbVlwMjlmUDVUZ0RCSmcxUFFUbXRQZkJKcXQzVmltN09zSXNQUmthbUN0cEJQb2hHd2ZHcUxjM28yOVBkZStOMFVoTU9qVUlySjU5a1gxcjlMN2JxV211SWtoZXZnQ21oS0p6K2hINEpiWllNTG1rcTYrYVBHK0dPZk0vbm1IbFdEVWljS0VSK1BuM3NzVkpmdnZnaFlZREd6LzFDUHcxWjZxNEQxbUluL3JXb0lEbkh3RTRUYys2em4rcnNZVXpqRURGSXF4eDdOZ010dzFGUDQ4SXdCdE9CSTdCcWQrbEorR1FqOUhmZHgyZXg0WmltODRMQWsrUlovOFBhRXQ3bnphb2RwUCs0b1VJVERNQ3RlRFF5dEkyRmZMc1Z2WnBiaXJLZGk0UTJHVHZDUHY3S0RjbVdkVTVQaGM0WUNObUJvRnFzTGNuK09qUCtnVFdyY2ZWMTZobnB0a282T3dpVUxyaXk3N212eEkwcis5TmcxUE94VFY0K0w5eU4xSWNadXFPeGxCRUlGNEVGdG5iZVN2KzUwMlc5WStjeU1PbmZlYmVjNmtBYTNqRVU3eFBCRXNiZ2NBOEc5YTcvdWxwVzhhK3ZQdzcrb1Q4c2YvbGdBZitTL2R4UDEzdG14a2phc05vUk9ETUNPVDNnaUlLZCtpOVl1bWxQWG0rSmJCMzI2NnZqaWZ2MjZCZ1NBb0lOUFpwSlgxNVVpV3JzeUxIZlhqTjMySTBmSmlJa0E1TGl6ZEVJRDBFRm9NT3RHZ2RUbGxRRm0vaGN5dVdSRjJnN0tFVmlnR0lRTklJckFXdnQ5ZWZNeXVxS1NjQ3RZbjlFbnl0NEZRWHpHTFFqd2pFakVEd1pramVQbUpNK2FJbGZQdlVlaEZqOCs1VzZEY3dZaFlSaTBNRVZBU2F2bGwya2ZpVE1DVUN6Rno3d2x1MU85VHFjK3EzcTBWS2RDQUNTU05ROGcyeW14WmxZWFlsclFRVjg0dStzSTFtR3o3RGVwQzBkRmcrSW1BaWtBODAxaldMc3ZBZG9iSklER3JybnZENER2aXNHNUQ2UlQwUWZZaEE4Z2pNQlZ4ZHNDZ0xtcXFzdlNFTlhpeXc5NEszSHZvTkRKa1JYWWhBM0Fpc0JCcnJzdFZoS21aWitEYTFkV3BnNmNpREhlSzJ0VFp1K2JBOFJNQkFvQjFvckZzV0oxV3pMQmdNYnVyNTZPZGI0UE52K3NZRVBRbjZFSUZFRUtnRkd1dVdZb1FONmxITXNyQ3R5OWlCNEQxRisxZUMzNHRJNUpsZ29jTVFnTUhkais0UjgvUlJ4U3piSklPeVVVaHhCd0pxbG9acnBFSXZJaEE3QXZQc2MxZzlzOE5VekxML015R3ZNU3BlOU05b0w2b3pOQ01GZWhHQlpCRGd2V3ZWN0RDRldUYi9lNFJZQnpxdCtJb0NtTDZPa3hFTFMwVUV3aEFvc0dsWHord3d3U3o3dmhzM2Juenk1WFh5RzRkVzd0WXVEV3JqVmk0TEdReElHb0VHVzhBQ3lwYTF1c0FzeTYvM1daVGRDQllXd0pCZ1JXbUZvQWNSaUJzQldBM1k4Y3NFaGg1cGhRdXpiUDVuQ2ZtY0Z1VjV5OEZjRFhpK2JjU2dGeEZJRmdIWTJSTDBrK0E0MEtwU3pMSi9ZMWxsQy90K1d1RDVqcFlKUFloQTBnaFUrQVJxd1Z6ZlVzeXlZTXpTTFdBNTlqWUM2THY3U1V1STVTTUNHZ0lsYmlnQUE0RittTDVpbHZXcXZDOW1lWmZZb2hkczVicWpGWWNlUkNCaEJITGkxVmt3dzJxZnhsYk1zcDVuN2pMc1ArcS9lWHY3SzdpVksrRUhoTVdiQ01Ec2kzZVRoSzBwc0NUQ0xFdjlzQ3RHZlprUmlDNnVGOHdpMFk4SUpJa0E5S1VuclB5V3hrb1BkTnV5cUJtU3FmdGZJRTVjdUpWTG9JU09WQkQ0MFgvR3EvbWJ1Mlh1cEhjd0JrZ3ZVRlpWZE50WFdCUnU1WklZb1N0ckJMcDhYa1lGQWYxQk1SbmttYjBBSWhybXpvU3N4Y2I2THk0Q2ZWVVZXTk4wMlFYWjQrSldyb3ZMa0tscmVVbFZiVUZMT0pBU05ybGU0SGxGVlgyUUtkQ0ZDS1NQZ0RRbFFOMTlPVXVEZHhFYVpTRU9SQndMRHpvUWdRd1JnSjNmKzZKNk1Hb3BOdHQ1cVJkNFRkektKVkJDUjdZSWdDVjJXMGp3SkNISzZVZk5BeEZCRDVHNUtYM29RZ1N5UTBBMXkrWnJxbzAycCs0MzNGS1puWjIwV0RNaVFNMnlRa2w5R3lHL0l5RjVVajBDY1FXM2NrbGswSlVwQWsycHZmNE12RWNyNk9zdE5oUzExb010aTFjeWxSTXJSd1I4Qkc3OVZZUGNmWWh1ZmJuMWYvMEp6TDBPQlM1ZkJpWGhzOXlYZjZBRUs3a1BTVDd6Q0x3akF1a2kwQkk3Q0h6SHMyVlJmZDhQWUhNeFdLNzFMMVZURUNuUmdRaWtpRUNSY1pIZUJoLzRZYVhtL3VEaHk0K1FSNE9RWEdNQUg4QzlldjBaSlFFNkVRRkVBQkZBQkJBQlJBQVJRQVFRQVVRQUVVQUVFQUZFQUJGQUJCQUJSQUFSUUFRUUFVUUFFVUFFRUFGRUFCRkFCQkFCUkFBUlFBUVFBVVFBRVVBRUVBRkVBQkZBQkJBQlJBQVJRQVFRQVVRQUVVQUVFQUZFQUJGQUJCQUJSQUFSUUFRUUFVUUFFVUFFRUFGRUFCRkFCQkFCUkFBUlFBUW1ReUEzMkpzc0krWkNCTEpCWUUwOUR6WWJFYkJXUkdBY0JIcnlvRmpQVzMzRjZldkh5WXhwRVlIMEVXZ3JwN3d0MWsvdng4L1JwLzhNTGxpTitWbzVhb3VmVUQ4MHl6UFZsYS9NRmdhSFh1RlpIb04zUkNBUkJONHF2akk3cXZqRnV2SUpSSjU0UXpsbWU1NTgyUE9XOElNY0hCdThKNExBNzZtZjNCcGF3MnBKL1dvblR6cXZNTFI0Q2dkdXI2cGZuZU9wOEk0SXhJUEFyWi83Tkp4S2ZCS2hzUHdEZjliUVBqVEw4L1RrMTVQbkNkVVI4dVI1SG9kM1JDQm1CT2FCcisrUFJsazRlUHUwNk9wbCsvTERjdTJBL0kyN01ZdUp4U0VDSElINTYrLy9MbnptOElUN2g5eGZlZTN2ZGJvdXlzclpWNDU5WktZbSs5MGhCV0lVSWpBaEFoRXBTMHQzVVhaUmZ0ZHptWDFJdVNTL1RUK2hUSmdORVJpQ3dCa3BxOHkrQ295OUpWd09HNEkzUnAwWmdUTlNWczYrNEpOSHdlZTdhcEUwalRNTGpnVmNWQVRPU0ZrNSsxcmozMHRzS0I5VXZxaW9ZcnNUUk9DTWxHMklUM3hYK2VTTTRKSnRnczhMaS9iT1JsbGw5bFZrSDZnSEJlRm9pbkFkWXoxNmlxUkdVWVlnY0RiS0xvaXBGakIxMzY4R0N0d2VVbDlZVlA3VHlXeTdOZGFqY3g4UEV3RERad1dCczFHMk4rRHQzQ1JzNVJZY0p6eHdqUHVUNmdmQ3g4ZzNJcW0xSHQzNHRSRTVNSHJhRVRnYlpRdFA4L2JCWitpRGJoS1cxQUxMQVkrSmRNODEySWRySTZXT21NaTFIdDJsK3lEd21tVUV6a1paT2Z2cUV0YmhBbmZMNHdQeVZBTHJEODcxNkVXNjJ3eXZXVWJnVEpSZEpidTg3UzNDTmh2MGlQcWFBbzhlY2MvWHZ6OGl4UVRSN3ZYb1BtNkJtQURMYWNweUpzcksyWmRYSjR4MEZkN2RqdFBLSnllYXNrV293VzdlbXZ5YlJjaVBTYVlQQWZ1WmhzcG83ekdvaXRrWEdBekVwYnhaRTFxV0VWRktxdXR6Tks4K2dYeUd1T2pORWdISE13MFR4NmFzbkgydENzS1NDZmJMempHYmJsak5rNGM3bXRlZHlLSXh1UWlZTTJZRUhNODByQWFic28wWGVkbzVRajUzbTE2M2lML1JtNGRIdTFjU1k1R2plWE1UQ0JpdEdaZ3FGUVFjenpTc1hvdXl5dXhyaVp1Mm9MczlDQ3NnTER5ZjNLNXdWL1BxeVppQXcxcUg0VEVqNEhxbUlWVllsRjJTNXF3dHhTeTdIWkkvTkhncE1iM0F1UjdkVFdxdUY5cEFqSWdUQVkyeXY2OW9wTXo1VDJSbEZtWGw3TXZiNG5hQ0ZjNWRtVytrcTUzY3JnU3RlVXlRZWJZWGZhUmNtR0FxRWRDZUtiemhaVjdLZStBV1pWc3lza2ZZOFFWZE12YmtQOStZd0pJYkVVeXRlU3hQanYrOUlwYUJ5YVlMQWUyWmZ2R3FkYjFHaW10UlZzNis0Q1VidG5SYjRBYURMNzdPZGNuU3BHdU5yMExJb05oY1d2TjRxYTNFWm51OEJyd25pSUR6bWJyck15bTdybXlNcmZDVmhEcWZmVlhNL3RyM3V4YjR1MFFZSHR3Vm55SFUyYnhxZ2hXZVFWYk1HZzBCNXpOMVp6VXBxOHkrdkNhekhPVUk3OEgrOG1vaklPM0E3N21acCtNb3VtU3JzaHZYOXh3Skp3aHlObStlRHdrVEZJaFpNa2ZBK1V6ZFVwbVU3U3JHb2dxYjlLK3BldUxYYWtCYWZoQkg3ckU2K0E3dG9rRUNpNThWVjBJNzYrZ1FaL01nME5YYmp5NE5VMHdEQXM1bjZoYk1wS3d5K3dKZE5oamN0d1JGYVJsYlFOSjlVZGdxY1BaRStJUmpnYy9jUklqM3QwNXV5L2pvTG5memFuYS9IcjFJVEpreEF1NW42aFRLcEt5cUVmYklIVDlQWHpsVnp2TmdJNktpNzNwcnhFV1ZMbGVEUmFYZkJDM0MwUjJMK0RFYzd1YjFWZEhIS0EyVFRnTUM3bWZxbE15Z3JEcjdndjdVcHl6c2p1a29lV0ZOVEtXczEzTHRvaW95dHZOOHVYOER1WktsYkErVldZNzJETjRucCt5eXlzNmxvTjlhNDYvWkJrZ3NHSlJkMXZyZ0lBMncvRWppdG5yamZrclloQ203b0dyY3NuSjB6UVFDazFOV25YMTVtOEgwcTZ1b3J0QjhrN0tMUm9kS0VZSjN4VHIwSGx5Z081REJTMkRhbHFoaUFCc2hZaXFmeTQzMzlCQllkRTZKblBWWDlDNjB4VzBCTkhFdW1IYlY5VGVyVE1wNk5kc0N1NnoxZUd2WEh2N1RqcGMwWmFGbjMzVTJFUU5uQUFIbzVIWWlpdGtuNnVib3ZENkZLZDJEVXZ4anZKWFNMTXIyWDFCaUEyZFhLelVJUzVxeThKOFFSNFpZQW1IQU5DTncrOVpmRkFoNTVnOGV1ajFLeXZ6dGQ3d0p4dXhYL1lmYnh5enB1cXFDZWw2Vm1qcGJlaWRyS1FaZWxiMXRvMVRYMHN4aVFVVGlsTzNyQTRZaURqcW5HZ0ZRQ3ZoMU1rTFFDazhvbnJVMis2SXE2YTczQkRFT0NiQjYyWlVmV1BVMDlON2FqMCtjc3RYeE4rOVlnbU5BQmdnc2tzSDFxdzlmdm5xOTRUTHhhd0pWeVBWclZ5OWRmZVM2b0d6WDJMSFZIcnhDeFBHc0ZtWG5xZnFnWGJEQ2UwVUxvSjdFS2J1RjYxOFc2T2Mvb0tqT3ZxQzV1VDhaL0RwWEduanJMY3B1V2w5WUFsMzZpQ2NYOThRcEM0SWRpdHJRY1RFUXlEdnNWVmJMTGNvdUt0c1NndFJPOGlST1dYaFZiY2VTRmdQT053S2JqczdSYXJGRjJaejFIUVVZb3Zlc2ZJbFRkcEkzMUN3cE1XQzJFREJtWDI3aExjcDYxaGFxQ3JGWW5JSXVDNFpadEhLNW45bjVEYTBZc3k5blMyM0tOanBHd2o0Ly9Gc05UN3lYOVJyV1hoeTFmblNmUndTS3RvWFZicVpOV1N0TjBiR1NrTHpGQUdxd2JCZVdhQmh3cmhESTgvZGxocllxQW1VYmxtVU1Tb3l2bHcxYmoyNmhZWGJvazhzOE12Y2pEYkVVNER0T3kyZVVhVFBTV1FDaktRdEtwZVB6NC9GUk5tdzl1dTlTb2MrSUNXYVBENEY4VVNjcytBN09XUHFLWTU1dkZ6bWFzdEFMT3VaQk1WRjJ5SHAwMDJXb3NCdUFJUmtoOEtERjJDaEcxYUhDVnF3MUFWZnkwWlNGWHREZTNCV1RZakJzUGJwTFNOa2xNWVpOQlFMS294UGMzVDZqWktVb3N5OTdXNHhWSyt5UHZXTUZ4a2JaOFBYb1h2UTlsN1o0R0pJMEF0Q2pESzVldWt3dXdWVWIwTjlMcnpwam5kRm1YeEVvQzRmRFg3RmxpVWt4c0FzV0lWdXVkV0lSaTQ1c0VZRHpnOTRJQzB6cnZpRjF5ZGdaTUtGbzY1Rm1YeEVvQzIrSDdkc3lKRTlaT0RwczE2NFhRNllEZ1NYeVFTcklnbjhDMFphOXgzb1NLUmV0VlN4bkthTjFXYURPanAwMWVjckN1NytPM3QyV0JFT3lRS0FmekpTMmZHTlM5MDQ4SW96Y0UrNVhNNXF5N2dFNmVjcUNaQWZ4SUlHbHhJNUFqbzJBRlorczdWUWYxR2pLVnAzZllreWVzcUJEeC9UbmpmMkJZWUVMYkw5ZmE1OWlVZHhORTVIUmxPMDZaKzdKVTladHFVZ1RHNndyRklFS005VTN0bW1TdXY4Ym1qam1pS21tckdNSkkrYm1ZM0dUSVZBODlQTnRCS1p6OXFIWnlZb2FPOWRveWxiNHAyKzFzcFB2WldHUE4xSld3M3lLUExjQ1dlYjhiYW1MNmI0L010V1VqY2QyTWtWUCtyeUpzdUtiWlRmVFhhWWNUZG1tOHlXczBGNzJnVGM3cjM5NGJEMnVMYkhReHh4M3RDU3dVSXlVMVJDWlBrL0ZOOHZPcTRjSkpTOWszSlNsSnlrNkwzczMyR2pLMm5tU0J3UnJHQU9CbHYrRWxpTnR3QnFqMk9GSlIxTzJQVll2YS9HUTg5YytIc0ZLYXZXeVNObmhEeS96Mk1BTTJZdTJhaFdYdEhGVGRxN09PYXJmQisreEpCNU5XVlFNTE5DbUttQ1Y3Rk41S281M0F4T1VjelJsbTJQMXN2R0ppcnBzZkZnbVZOSkNzSStsUDRXVXZXazN1ZVlrc3AxdThoQTBjazJPWFVvNWU0R3BvRFVSWmUzNWVFU3BJL1d5U05tSWFGNndaSVdBcTZWSktQdDRwTzNjTGtCSFU3YVMzVkxDaXk2Sk1XeHFFR0RmNHE0YjA2L0hsV25NdFhjZXVzVnRxTWZLdXBPRWhJNm1iQmYzR0lSZ2Q5R0QxOW4zTExSRDNnRVU2T1RVNjNNdW5OWW1mMzk2TkdWN3VKUExoVG1HZVV2czFXdnJKYjFiZjBYSXZZZHV3M1hyVFhYbklBMmY5QnBNaXVCb3ltNDVYMmlwSlQ3OUFza09KbTBWNWtzRGdXNWdsb1ZUQTA2TTZpRG9EZ3NDd3cvN2RyS1dCcGc4NmZ3ckVtVjN0ZHA4VDV5VVhYM0Y2ZXZ0R3R3djhOanBNQ1FyQklyQlBtL2c1NDRoQXJ4K3U4K0QrcTdPRGN4QkU2L3lqcVlzTE1HSzZya1ljWjRXNHkzV1QrKzNHdTE1N2hkNHBBVG95aGdCM3J2Q2tkbjdoaWpBeUcwZUJQdzU0RzV4N3dKbEQ0VnZQTWRveWtLS0szYVpNZmF5aGNHaFY3QVBYZGhTbW0zWGp5R1pJd0M4N0ZBaEZDMkF5d1FqWkptNzExMm5EZFVLa3ovZDBaU0Z0d01PZVBYeUhoOWwvVy9rTE5tN2hJR3lOMlY5NkpvNkJGYllEQW9vYTI0R2dXY254SVhQMWxuN1N6YnZRb29ka1dROHgyakt3ci9FWVIrTmo3SkYrbzJjVmZ0dlVaMTg2QmdQQWt3OUdRSnRmaUltbUFlTUVpcUtDUXYwQm12K1ZYM09yVzRheGJpOW95a0xxdlFMZGw2Z2JEeDk0THhmZXA0OGI5WlJ3VE81VEVpbXkxOG5iQUdyYmhtc0NncExnVC9XczYxdHc4dW9CeE0yaDM1MmVYZG9YdmlYT05iVzZyWmxZMmdwb1pIdHdFTENGbEtVWkgxbGNGR0MwVGtsQ0FBVjJlaGJzbWIvTlVWVmNPd1ZXVC8xSU5ReGRrZHFHc3pMWGJNck5hL3pmRm5JZHFRbW10U2RZMGVFMTZUeXc0cHFFWHRLTm1rdG1DOStCR0I4M2c5S0xWaGNrR1paMy9MRDBna1plaTk0b0c0NnhtNlJZb2dqM3dMdVBkTVprc0x6U3BhcTRubGZoR3pQZ3c1NjVtdVovUjlMbHBtdXBBd3VaNjRHQzRnZGdhcFFEVUdGdTZJVnI1cGxQUmd0TzFvc01PcklnMG1aWSt3MjB0bmVuNzl4WHcyb0IwZll2ZTdWbjNpSkhjOUMrb291RFVINUg3cHgzMC81MlU1LzR0V2ZPS3RDVzJCLzFaSmxwc052SllRK2thbUlhQXZGYmN2VUxWV3pMSERUVkdWWFlhMFd6QXpXcEN4Q3MrRGZJUy9UVGlIelF6THA4U3VUdVVib3dXbytweHNrUC9RamF0YWlINzRUN2tSc2FnTGxWK25CREZyV3hGTE5zckN0eSt6V25xTDlLd3p1V3A1b25zcmdtbjh1NktWTGx4OXBoRk8ycDAvZDgrVDZWWmx0TjFwVllhblcrTmR1R25LNUpFZ0xnOHRCV0M0TW53SUU1cTZkTUNueXBYZnI4a0MzeXdQZzgyMi94ZDM4WHR3QlYwMGZ1M2xjUEhmNHo1ai9rM2dLaGxLcTNNeHNXWlpoTzhWUmJOVmdRYWtpSU0yeU9maWMwYkZSOStLQWhoUWxyWTM0R0x4SmtxZklUb1FCQmVGSUZ4VW1wSWQ2Q1BwbUJRRmhsdjFhaVR5elowcTk0dXUyaGNtM2Nwa0YybjVRb1BmdDBGaENnS2xCMFZESHRsNGlXTi9vbnhHdkdVUUFCdjBiY0wzc01oazREcU52N2RJbXRXMURRb3d0YllqTmp6RVc2aGNGSGZoTjdqalJDNjhtcWV2b1ZhRXZaZ1NJdU81K3hpcDZJemlvbzV2b0tOcWF5SVJteWVvSWdKWG1QVDhZMXU4TzlmZzIxM0wxWVBSTlB3TFNMUHZWRnJsM2JBaThIR3lTNlZuanFwSHVUTjdLUlBhSUtGV0sxeW1BdTJVOVEybmlCVDI5SFBTbGpvQmlsczJYTEt0c1lkOFhDS3dLTzhsSnRteHRlNGlyTHZnVEJrWEJmODc0TjVybTZiaXF4SElTUjBBMXk0TDdSS3N3eDliQ0lHSmZpNGpWQXhwbko5WUNSV0ZpTTFERi9GZUFQYy9RRkVRbWRFdzVBb3BaMXJNMlZTMnhSYTlrdnlzQTgvcnRSRkNDZ3NWbHJJWE1teHhPUkFBc05Ba0VwRmtXU2k4YUQ3TC9LSDN6OXZidHIweStsU3VLek1XRUZxS2dLeFdYc1JDOU5kRVNkSlRHWUpxa0VSQm1XVnBSWDUrbFFLOHJyaGNTRktTcmJIK01zeHJRMHovbi8rVnVXVnZSMmpqN2loUHBWTXNxcVhTcDZFTTBmYVdBWDVOczVZcmFrS1dFVEFhZ2dnY0tLM1MzQjdvd05YTTFUSTlHM3hRam9PNldwVWZISENteXRxOHdEeWlGazJ6bFVvb2E2b1MxcWVPaENTYU1CRDE5ejg4S3V2aTJWa1pTTldxVm9DY1JCUFRWMHJabU1zakxpWHdqb1g2UXRhbGtNQ3FtcG01eDFSeFdad1B1OG9JWHVQV0xCK0I5WmhBQUE1UFMvN1EwWFhhQkdUV2hNWWx1NWFJYnJ1NGtnVmlQdnl2VE5WZG51L2dCcFNRQVQ2Vk1VRmZMc2lKNGdVQjZ2T1lWNFNrbXVaWEw4K2FUV1QzdGNuV21ZSzZSRk5VL3FtZ2xPbVlCQVZEM3BKalE1U3FuR09RYlpSSFZUMGpiWkJYa2liL0hVVlFYazZQQ055L1VqZGtYZjRreHBucXdtRFFSMEliTXF2WmUyTHpVQzd4bVlndFVRV1BiaWZSNlRSS1k1c0JZZDZLQk9xK2FTYlFZOUV3OUFuMCtkb0trK2JvMlMya2VTT203ZkJlZkRJclZ0WkNJYmxsaHBhNXArZzRJM2sxeXkwU3N3R0JoRmdLcVdmWUo3ZkNqbkxvSUQvcURNa3V6U2pselFMNlJ4S0VDWGJaZXNHV3FzdlZFOUpBem80QUZSRUZBV1lsZGJKQkJSK1o1VXAySmdaVm9SMFlsNEdvYVEzY3NWZlNZSWFKdnZBYy94eFNHV0NyQlF0SkZBSmFGdUZsZ3NVVElhMlR0aTQxVDZmRmd2eWxQcDRURzZGeExRalBZQ2lnTEN5RWRUZFJ1Y3U5SGF2V2dKM1lFOHUvNERpSHY4VmZoMy9FWUtMSWZralY4dVViSVo3azMvd0RRK2VtSGpyay9pWHZOL3loMHZDVXZCWXJCbW1vSG9UWFVqVzFkOGRhS3BTV0hBQnhwb0YydmwxV0JVUXV1NTRJQXZvZFAxUlJrMHBoY3l3a295NXRCQzdyR1p0ODF3eDlUQzdDWTVCR0FsWGQ1WFh0dFdhbXhQM2o0OGlQazBTQWsxeGhjZS9qUzFldUo5azM1UnZ3YmIzTEJ0S3RPVDVoVnJuWUNIYnBTUERvdkNnSVBHZ3BuSE8wdVVkT3lmNHkzVXRvaStiRGlReWNpTUNrQ3VjWkhKODBhbXE5S2Q0aTFqRTYyYXZoRGMyTUVJakFjZ1FkVkU4WHdwRkZqTitFWXVpZklyMm5KODNYZHIwV2lCeEVZQTRIOEsvZkdTQjB0YVh2d0N0TmNrUHRJdEt5WUNoSElBb0hjbnd4K1haOTdaU0VGMW9rSUlBS3poc0EzM2h4MnZXWFdtb0x5WGdnRThnMXBUalZkSnhjQ0FXemtqQ0VBeDJpRlhyc3oxaFlVOTJJZzhNcFF4cDZXTHdZQzJFcEVBQkZBQkJBQlJBQVJRQVFRQVVRQUVVQUVwaENCMExrYVJnUUkzSm5DaDNheFJVSm1qa0FBS1R0dGY1QVJEd3lqa2JKSTJSbjdGeUJscDQyeUtBOGlnQWdnQW9nQUlvQUlwNEJuWndBQUgxWkpSRUZVSUFLSUFDSXdQUWhzaEcyWGZUUHVsNTJlcDRTU1NBUnd2NnpFQWwwemdRRHVsNTJKeDRSQ0tnamdmbGtGREhRaUFvZ0FJb0FJSUFLSUFDS0FDQ0FDaUFBaWdBZ2dBb2dBSW9BSUlBS0lBQ0tBQ0NBQ2lBQWlnQWdnQW9nQUlvQUlJQUtJQUNLQUNDQUNpQUFpZ0FnZ0FvZ0FJb0FJSUFLSUFDS0FDQ0FDaUFBaWdBZ2dBb2dBSW9BSUlBS0lBQ0tBQ0NBQ2lBQWlnQWdnQW9nQUlvQUlJQUtJQUNLQUNDQUNpQUFpZ0FnZ0FvZ0FJb0FJSUFLSUFDS0FDQ0FDaUFBaWdBZ2dBb2pBaFVRZzl5TU4vVk4xcCtVTGlRTTJlbFlReUJkMXdvTHZZRlprUnprdkpBSVBXb3dsK01ITkM4bUVXV20wNjlNajI3TWlQTXA1RVJIb0VqSzRldWt5dVFSWGJVQi9MNzNxSXVLQWJaNFZCT0NUWkcvYzg3ejF1MVRncGVkblJXeVU4K0lpc0VRK1NCdS84RFQ5M1hxQi9vNTVIWStaSHBNakFtZENvUCtzbjMzcmUvVFduV0RlOWZqM3oxUS9aa1lFeGtNZ1IzYjlEQldmck8wRExmZmppaTNoMmpzUHRUamhhVHdqbk9oQUJKSkhZT0UwcUtPMVQrL0ZnTDlCa09kVkZNcUM4M004WEwydkVWOExWb1BRalFna2lFRGx1YUR3eGphOTEvMWZXZDJ0dnlMazNrTzM0YnIxcGpvaE4yV01jSFhKUUxqUmdRZ2tqMER4MEs5amc1VHAzU0psbm9obGhVMUMvQ21hbjE3K0FKT1BwUTlkaUVEU0NOd0tLcGdqOUw1SUFnTExTbUdkWVovNytzU0s5cnc1VUJnNlBBWGVFWUhVRUZqeEZkTE5vSzlWYWdWR2JuUHZzbXZ2QVN4RU9Jak1zK0FkRVVnS2dZby81czliSGVZU2tTeGVKOFMzaEdreTFBb0txYlVZOUNBQ1NTTFE4c200VFBhTVNyYUlyekg0b1J1RS9NQ0k5amJ2UW9vZE14VDlpRURpQ0FTVHJKNDFrNm9vSnF5Y1kvNVZmUTdVaGYzRXhjTUtFQUVEZ2RXQWRoWFpwYklFQmNWS0FGTXhhd3RDYlh2ZXBlRWF4YU1YRVlnYmdZVmdrdFczS0Z0VDFGZVlpakVqcnFoKy9aU2FERjRVZm5RZ0Fpa2gwQXNtV1MyTHN0SXM2M2tydGdyUWU4R0RTZGtrZTJsU2FoaFdjMTRSS0FSY0xabVVWYzJ5SHRobE93WUFwU01QSm1XNEw4YUFCYjNKSTlBSTlnblV6ZW1YYXBZRmJwcXE3Q3FzMWNMNm1HdFJMSG1ac1lhTGpNQTZZNTNWamFwbVdkaldkZE1BNlNuYXZ4S0NXN2tNWE5DYk9BSkxiSktsckJzRWRTcG0yVlZDZnNzVXBMZ0RJVFhGRG1ZbVFEOGlrQXdDM2NBc0MyUDhpVjZCTk12bWl1U1pZejNTV3h6UWtLS3kybUFrUUM4aWtCQUN4V0NmTjFCMlI2OUJtR1cvVmlMUG1DdGozb3F2MjhLS3JjbGx2UkQwSVFKeEk4QjdWMWplMnRmTGhrSC9CbHd2dTB3R2pyZHVXN3MwZGR2U2dQVXkwSWNJeEk0QTJBVTZ0RkNnN2gyOWNDS3V1NS9SWThDM0VleEk2T0pXTGdzYURFZ1lnUlgyWWdGUVZ0K3FKYzJ5WDIyUmUrYnd2eHhza3VuaFZxNkVudzhXYnlIUTVtWXFlR3RHaTFUTXN2bVNaWlV0N1B1SndhcXdvK1ZDRHlLUU5BSjF2bjVWTjk3alVzMnk0RDdSQk1teHRUQ0kyTmNpMElNSUpJd0FEUDlzWTB2Sm1Fa3BabGtQNW1iNnd1d1NXL1NDclZ5R0JweXd2Rmo4aFVkZ1FYU1RCVUtPVkRpa1dSWkNpMFlYM0grVXZubDcrL1pYQk9QVnJPaEdCSkpEb0NwV1lpdUVYRkhyRVdaWkd0algxOGFnMXhVWGJ1VlNVVU4zNGdpMHhmSVZLQUs3YW5VbDFZSUFmTjVXSXFGdkZwZXVNU2lKMElrSUpJRkFSYnpTdGFaM3BMRGpSZEZTZ2JKSFN2VnQzaCtEYVF5M2NpbkFvRE41Qk9hdW5iQks4cVYzcTlYQmRzTjk2WWZPK0VUNjhzeGVBQ0VOYmlPVHNlaENCREpCQU02SFVWU0JsdFlGTDBnTExtN2x5dVRwWUtVT0JFQmRMY3RnT094YmVyd20xd3R3SzVlQ0Nqb3pSZ0JtWTFJQzZIS0RCVm8vS044b2k2ZytidVVTV0tBald3UzY2dWJ0cW1ZQW01ZDZnZGMwRmlDeUZScHJ2OGdJOUJWVFFMNU8xS05rbWdjU21LNnc2OG93ZENFQ1dTQ2dtbVdmMEhaNTVkU2o0MEIvVUdacFdRaUtkU0lDQVFMS1N1eGlnd3c2RXBjbjFaa1luRyt3STZQUWhRaGtoZ0M4b01qTkFvc2xRbDRqQlZsc3NPUHEvU0E0bFl1bmswblFoUWlralVEK0hkOGg1RDMreHBkM1BBYUs3SWVrQUYrdUVmSlo3czAvQUhSKytxRmo3c2M3SXBBTkFyQjJxMTJ2bDJLQVVRc3VkandYTE5mNmw2b3B5S1RvUWdSU1F3QjJ3Y3JyMm12TFNzWDl3Y09YSHlHUEJpRzV4dURhdzVldVhzZmpOeFNFMElrSUlBS0lBQ0tBQ0NBQ2lBQWlnQWdnQW9nQUlvQUlJQUtJQUNLQUNDQUNpQUFpZ0FnZ0FvZ0FJb0FJSUFLSUFDS0FDQ0FDaUFBaWdBZ2dBb2dBSW9BSUlBS0lBQ0tBQ0NBQ2lBQWlnQWdnQW9nQUlvQUlJQUtJQUNLQUNDQUNpQUFpZ0FnZ0FvZ0FJb0FJSUFLSUFDS0FDQ0FDaU1BMElMRGVTTy9VdVBwdlQwT0xVWVlaUjZDZ2Z4d3MwZGFVMUsvZ0pGb1RGbjUrRVpoVGo2TlB1cGxMeWtIaVNkZUY1WjlYQkFycXg4Q1NiaVNjZDMrVWRCMVkvamxIWUkzY1RmTXMyYWVJOGlHUmN3NHROaThaQkZya3c4a1U3QzQxMThCVDdkM0lZR2hFQk5iSVlDOWkwbmlTZGJHYmpRZklDMXRLbjZUOEpmdEYvTjdOaFNWYkxBMkhUMzRjeGxKUTlFS2E1UG5vaVRFbEltQWdVRkcvQ21yRXhlQjkvS04ySVhQcC8wdHNJVEJrVmhISUpmdUpyMFh5ZlFjeUpmNHBFVWNjQmlFQ3d4RjRpcWdmL0JxZWR2ellmTXRKV2FnMFRiUGErSEpqamlsR29KVGs1Q3NQSHhwejliSWJKTVVWNGlrR0gwV2JBQUZRSzI5T2tDMWFsbDh1d1ZlYlhKVDEycmhxR3cxQ1RHVWhVQ0ZKZmQ3cnNVL1YvYytNT1NtN1FFalprZ1VERUlIUkNPUWJpWDJzdGdXRS9jZ3ZodlN5TU9sakg4WWJMU09tUUFRVUJKYVM2KzArZmZWOS84NkQ4cDI5TEdnR3p5cGlvQk1SaUlwQVB6RzlJSkFnbExLZ0dTU25RMGR0UGFhYlBRUVNINTlES1FzYUNmdks4K3loaGhKbmlBQXdLdG0rTHBTeW9CbmN6YkRoV1BXc0l0QlBtamZobEYxTyt0OHlxODhFNVI2R0FPZ0ZDWS9PNFpTRjdWd3ZEcE1ONHhBQkJ3SkFxRzFIY0l4QjRaVDFTZ25QL0dKc0JSWTFOUWcweVNCaFdZWlF0cHFjZlMzaFJtSHgyU0hRU0h6ZjZoREtycEhFVmpHeVF4UnJUaFlCMkY5d2tHd040VXNKbmdkbUx0em9uVEQ4NTY3NFh2S1Q5aUc5ck5kUFhDMDVkMC9zd2plb21EeG5obEYySmZISjM0Vi93dWNOQU5pMG12aklQSXl5bTJqbU9tK1VTcm85c014L2tIUWR3eWpyTmRETWxUVCs1Nno4TGtuK1FMZWhsQzBRc25mT01NWG1KSXBBS1hsVmRwakZ3UE5nK25lVWFBdXg4UE9GQUtpeVAwaThSVU43V2JETTRwcHQ0by9nSEZVd1Q4aWR4SnN6bExLd3hRRVBsRXY4RVV4RkJWWEhhUmJqQ3dZTHBrZmo1eG96eDFES2VpVkNqc2NzRUpQUEpBSXQ5N3NwWTdZRjNzM3FqSmxsL09UREtWdEpZUUk0dnN5WUkzWUU4cG9HK0wvV1AxQ2VxQXFTNkprYlRLVGhsSVU5c3djVHlZNlpaZ3VCZGZWNDFyZVNEOVFuZXExN1BZM1oxM0NMZ1FlTENiRU1HTFAxL002M3RQbGEyVzdnc2pLZ3o1SGY5dVltT25rRmVyZ1VwdXZEZTlrOFNmcXRDQnM5REVrV2diZTZqUDFkNVJDdElqM2JxamJKdWl2b2tidkpDazlMSDA1WkQrWmZuZVNGd0JyU1ErRDNuTk9Ub21Ub3ZIOWtmSE9TamRyQWxuTHlMUmxCMlhZYVZvdmtXNGsxQkFqYytybFBFeGRsODRvNXRlaDNVcjBKWHBPRk1Ya1Nvby83Y0VaUWRndm5YK01pT3NYcHdkSlAzdStpN0tZMHA2NEg2MWNyRTN3RENXWmZUNmZRK2hHVWhVYmkvQ3VGeDVCT0ZmUFgzLzlkV0ZNOXNXcFRabC9WNEZXVUphWGZ0WktIQkFDWDB2aEN3Z2pLd211MmVNNVJ5Qk9heldBblpTdnl5SXA2b0k0dVRNQythanBEOGdqS3d2NURYUCthVFc2R1NPMmtySng5OGU5NExrd3d1aGJTbWZpTW9td3IrWGQ1UXJERjRFUVFjRkZXbVgzMUdGV1hKdGlTVlUvbkN4dWpLTnNrRStqaGlXQ05oY2FDZ0l1eXl1eXJ4ZDZxWGhsL0pnV2JxRWdzSW80b1pCUmx3V1NRd29MR0NDRXhPajRFWEpSZEVUdjVnWFluZmwxYjQ3K1FBa3VscWN4N1JsRVc0cVdWT1Q3Z3NLU3NFSEJSVnM2K3dFSzA1MHZXRzMvYmFWcFVHVVhadFA0NldUM0JDMWV2aTdJbFljanM4UVg2N3ZpS1FTL3hBK1NDaHpXS3N0RENWQlNVQzBlZHJCcnNvR3hlYnRmcjh6RzFQLzcwcTUzUzZVS2pLRXV0WElkWndZdjF4bytBZzdKejhxekNPajlwc3ppK2thdVUwckVYSXlsYlRNZllGdit6d1JLZENEZ29LMmRmRUhrUTVLcVQ3em16RHdtRThiZzhKRHEycUpHVVRhdTdqNjFGV05CUUJCeVViWXFKUHJ5ZmV1VG5oaDB1NHhxS29PQjBWcDFHVXJZM3Z2QkRJY1BJYkJGd1VGYk92bUNQZHFBRndrTDl3Wmh5d2tSZDJYUTdadVp4a28ra0xMUkN6Q2ZIS1JqVFRpY0NObVZ6a3AzUVA0bHJaMHo1Z1VrVHZYMHpaalVqdDNoN0hsanE4TVh3c1dHZDNndzJaWlhaVjFNUWR2eDFlbGgwZWo2VlpzTi9ZM2hGcWZYM3FUUVhLN0VwdXlKVjBBSzVkOXUvcXNUZjZEME9YSlYwdGg1Nkhvejd3NCtrZ1NiS0pvM1RCRXc3bFFqWWxKV3pMNi9HbGNBSnZuaFFTT09rR0FvcGRPY2p4bjJnTEJwbXA1SjlFd2xsVTdZbXpWbGkvYW80L3VKWEthVU5WQnRRRWZuem9XMnZjOFBIMEZRWU9UVUlyTUlUTTY3VFlPTUFGZEdpckRMNzhvU2RZSUpQYXpaU1dFbjR5a3MvK1Rxb0I2NFB2T3pHZngyS2VER2xkYmhRQVRCaVBBVG9HMTdtZFNLS3NDaTdKbCtzQVd2c3JwOFFFdTJMSE5FY2RPdGg0cU54VDIyWHNDWmJBcmJSTUd0aE10VUJHL2RmTmEvM0h3dUpMY29xc3krSTIvWVR3bmRsYnZxT2pkZTVybDFSbW5Tc0FwdjJwRGNaVjI5dzdlRkx3WFgxZWpobHUyVDh0YnRrQk1aU1kwREFvbXhiV2xOaEFlSFFyMktadjkwTklZN0x0VEFHTEorYS9WTmJvMndLTWVDSVJhU0dnRVZaWmZZRlBXWEhGNlRLelVnYlZ4OWhsTDFHZTI3bWNiMUhDOWJTWVl0Zkc5Y1Q3NElsaEdBR0cyRlRrR25STmZVSW1KVGRVTDVIQ0gxcVFLeVdYQkR6OHY4YkplMU4xckMzL3dsNFhNdWgwTFBKN3RwR29aSzhvaXNyaFkrTXlGZUdaVEM2WmhNQms3TEs3SXRhRTQ3OVZrbUtVaStRVkdIQTc3dEgzZDdRY3pmK2xxc2NxWUEyVFVwS0tnMCszNVdZbE4xU0ZvckFZdUEzZmxNZjQrdDZCOXB5anJvVmQrY2JnUG5OUnFxVWhXTnJsRmFkNytkNUFWcG5VbGFaZmRIKzFFZWdwNSs3VWRNcHUrWjhLN0Vkdmw2Yit6ZEFvVFFWQXpwcExGK0FaM2xCbW1oU3RxN09wV3BCNTlTU3BscUtTa21uckZkM3piTmFJZXUxcXpmdXA0Uk5sYkxVUm54eVFaN25CV2ltUVZsMTl1WEJWNHZwOUd0RFZWM0JYeklvVzNGWnM2QXJQbkRCQjd2R3llQWxFSHZvaWswb0RPbzhTcWhvTERaMUJHRFFQRkVxWFJPMkFCcFk5WDNML2dtek1wRkoyU1dYb3RnSVdUQmJ1L2J3bjNaZ3YwMnFsSzJIQ0NQYmhLN1pRUUEyays0bzB2WTAraTM0blpOL2pMZVN4cVRzcG10akluUnNhcmxLZHVwTW1iSWc4WUVoQVhwbkU0SGJ0LzZpQUtQOEh6eDBtOHZmMW16dU9mckcxNXJSeVZxS1FjN1JZMUwxY1pzWGF0OVRwbXdMTnhuWXoyQW1RNVRsMXhQV0FHMzJCY3JzczE2K2RqY3d6b29tUXArbHJ4STBlRzZSaEpwME5ZVkR4dml1bENuYkR6ZGZHSUtoZDdvUldDU0Q2MWNmdm56MWVvUFRhOFBZc2JWT2ZxUE80MFJiTE1vV2owUWNkOUJkTVVNbVdDbFR0am5NU014Rnh2dE1JakN2emI2Z0NiOVUvOWgvTmx0aVViYS9heWFobjl0eWFiZzhYY3FVcll4NlBZekxoZmVaUTZEbnNsZVpyYkFvVzdsaUpvRVBoZkg5Q1ZZVURVaVpzdFdocThkT0NURndSaERvYTdPdkVLRXR5bGJ2V0NucHZuSXJVQWFrVE5rZWJ1V1MySjh6bHpIN2NyZk9vdXlXdldGMmFmZ0hsRkttN0ZaS1I5MjY4Y0xRQkJGWU5HWmY3cW9zeXE2b2k3eEJIdGlpNmxyRzVRV21UMWxsN3hrWEF1L25BSUg1WWJOODBUNkxzaUpHT3FCZkcwYVNsQ2tMZjZDQmxBMWQ1d2lCWHFRSEc0V3l2ZUZEY2NxVUJUVmxtR1o5anA3Z2pEVWw5eU1OZURUS2RWb2Vzd1g5U0Y5RExKbExDWTVhcXNQVHBFeFplQzFCVzRoMkNJeEJHU0NRTHlwc0Rad0hZNHJSZUM1S2h0SndPdnBGVkliUDBWT21MTFZmN0VWcEdxWkpGWUVITGNhTyt4SFB4V2pmb285QzJlWndTMmpLbEtVN0hzdXBQZ3lzTEFJQ3lvWUJ3ZDN0Q1BtVUpBdVJabC9XdGhpbEJPRnN1OThJNC9FcFU1YXV4UjN5dXZFK0xRaDBZVlo4OWRKbFFrK2lxQTM4OHloZU5hWnMwV1pmVVNuNy9KRGFrYkpEd0pucHFHKzhPZXg2aTltdWZJTzhFZFMxZGQrMHREU01MbVpPNlc5SG1uMUZvbXgvK0VhVWxDbEwzMWU4S2R1SnJzUVFBQnFHWGlkR3JVdmtnelJrd1dmZGxtM2JONUk3dlJWN0ZjdVZyaFJoK2dXVWxRY28yb1VnWlcxTXprV0lTejNsSE40MVdnZzdXK20xNVJPbGU4ZUlqZWJOSDBkS0Y0V3loYW1qN0Vta3RtR2lNeUx3U2s1UTYyNmFYSE5zc2wveHlkbytPR1BGUTdOSHBPeXduajdsWHBidTNqMFoyaWFNVEIyQkJiYWkzOXFuVlJmTlBqaFdlYUpRdGpYOFBZQU1LTHNkS3daWTJKa1JxTEJGZ0liL1pPcUpQcC9ab3l6VnNCS0Y1TXpQN3dJV1VEejBHNzBSV015VG5SNUhvV3h4cW5wWlN0bWpDOGlLcVc3eXJVQzZPWC8zeDJLeWR2T0lsQjIyK0p1eVlvQ1VuVjd5cnZobTJjMWtWeWVqVUJiU1RFVFpCOXlHNkg5NGJHRytCVDJuZGQyeGt2a0I5SDNmSFhjVWhtYU1RTVUzeTg0UGUxUHc3QktXSXRobEljMGtsSVdOcmU3TE52SWlaYy8rSktlaGhKYi9hSmVUM2JZRWROVFBNWEMwSEViK1NTanI1Q0Vsc2YweE9tZlNJYjNzcmtOS0RNb2VnV0R2bG41S1VleFNSYUVzcEptRXNuTjFvS2ZqR3J6SGFzVzRsTjJ4U3NDQUtVQmdOWGgzeTNrVVlYemlsU0wwc3BCbUVzckdKNlJXRXVxeUdoelQ1RmtJckkvOVpOOGFpVUxaNGxRWnVTaGxqNmJwUWFFc0hJRmVZQ3BvVFVSWmUxTE9pelh1czBkWk5ISVpqM0I2dklXQXE2VkpLUHU0NjdzeXpxWkZvV3hycW5wWlhQMXlQc2drQWpmY1Zrb0l0ZmJMK3RVM2doZXg2OGE3ZVkvRHVNaXZhKzg4ZEV2YUdHa0Y0UGxLRVhSWm9LeHRsK0lGcEg3QUVWSldRcCtzYTV6OXNsU1NkZlk5Yi9NRXR3cm5hM0QvbkV2cXRhSG5EbWc1b2xDMk1GV1V4WjFjMmdOTTBFTTdoN0RMWldaY1lqMmI5VzdlcmIrQ0YxNGZ1ZzNYclRmVjNSdjB1OUVQcHloRjZHVUxVL1ZXQXFYc3pRUWZGQll0RUlpK1g5YlAwZzNNc3ZDNXJoTlJST0NBb0Rzc0NGN2RjNzB2QTB3K05qS0ZlV2VQc3ZnaVRkaXp6RHE4R096ekJuN3VHS0pBZjczUGcvcXV0MDNwNFpvZG5tTEVQUXBsb1pKaDA3bWFTNFlSMVo0aG1sTDI4QXo1TVd0Q0NQRGVGYjVUc0c5VUFZemM1a0d3am4vQTNlTGVIZU9oUnFUc3NGY21VNllzdmhRdUh2UjBPWUNYSFNxUm9nVndBZUZRcWpKM1E1ZGpUK1pyQllYVVBHWElQUXBsMjhQUHpVNlpzblFNRWUwUGFSVUdaNERBQ3B0QkFXVk5UbTRweDZqQlVwQzF5V1R6THFUWWlTaHpGTW8yM1JvenJ5Rmx5dUpwTVJ6NEtidTMrUVlyK3p5c2ltTENBcjNCbW45Vm53TjFZVDlpZTZKUXRtdkxvSllPbEwycCtoTjI0NWxjQ1FNOGFmRjFQdU9wV3dhcmdzSlNtSXBaYW1adEc1N3FRY1NLZ1cvQkcraEQwbGVIRzhMcXRsRmpTR0ZuanNLVEQ4OE1ZU0lGQUJWZkRBcUdickNqVjFGVFZBVlE3TXhOVnV1bjlIc2NMTGVlMCtGckREK2gyOCt4Tlp6V0pOMXRLcURLVDdLRzdXZzdCc1dKQUhRbCswRjVCWXNRMGl6cmVTc2luYWk5OXdLc25KRVhoSCtvNDIvaCtaTy9PelFKSEFFeWxOWmZoQktlajJvR0hsRlRsR2pRZW9ZZGd4K2xDRXlUQUFKVm9SOVdDTG1pVmFDYVplSHozMllmN0pXTzZPY1FoeGxTV1hHNWwzN3lKeWxqQ2ZuTm43anhRM3RhSlpvSFNPSStFVHovUXpmdSt5bS9oTk9mZVBVblVsSm80Vjg2N0JoOFRYTDBwSWRBV3d4KzBNWHRhdlhDcUwvTkE0Q2JwaXE3Q3V3Q000TTFLZU5aNUIyNHIxeGxHV0c2UW9kaXFFZTVkREhOUW1MekF5Q1JOLzNFVmlrV05CS0JpckJkZ1UybnJDVlh6YktQaTg1WUpIbUs5cStSbnVvaXVmNndmdzdvcFV0WHJ4dVZpT0tvSS9TN1gzbHkvU29yNGZJampaZ291L3FLd1R1MTZnMVBMOUwvMGNpRTNzUVJtTHQyd3VySWw5NnQxd2E5REErQUhTSy94ZDM4WHR3QlZ5M1dzWk5hUW85NStVbmYxeHVrVG41N1NDMWRoeWw2U0hLTXloNEJhWmJORmNrekpwVVdCelNrS0drZGc4QjBpYlFUUXpsUmlzalZCemU5NWpCRGJ6T1NvaDZsTGt5VEVnTENMUHUxRW5sbXo2eDB4ZGR0QzdGMmkzUWpTdG1zS0NGL2sveTA1eTBxWmp5cm5uWmtjNGlWRlFPeVFRQUcvUnR3dmV3eUdUZ09vMi90VXFuZ3NYYmlrNDdPMDI3R1Y5eXdramFEaFkyYTIwTGg1eXpZcHVoaEpXSmM5Z2dBZjloMTl6T1dOQnZCUVIyZzd4MWFjUk1Id0txd05GSk1YRXFrakgzeUtFM1hIdklYQWFYblRxU3lNTkdVSUNETnNsOXRrWHZIaGxUTHdTYVpYcndjQThydUdoVWw0d1VWcEVOTDdnNVpjQzRoWlpNQlA3RlNGYk5zdm1SWlpRdjdmc1ZiMGJkeVJSRzBaaTVuUk1rMFNScHUyOXNhc25wWHR4ZjhKcWtLODZTR2dHcVdCZmVKVm5HT3FiQVFzYTlGbk0yVDFsZ01yM1JlOFNWZElmZENKWVl1ZnljMEVpT21FQUhvUUlWVW9HUitYM2lvWTRrdGVvSHhQMDU5cng5OW00MG16cmdlMkZsUjl2TXNoMjhqb0lyMXliZ0ZZL29zRVpCbVdaQ2lhQ3orOXgrbGI5N2V2djJWZURsV1NjbXUxT1JMc1RCS2hHRk1YN0E5REl2RThHbEVRSmhscVhEUS9aVVZJV2tQeEsrSVc3bVUzT0hPcXRtYmh5YzlTd3pvQld3bkpWQzJFMUlTWGRmWUM0bkQ0S2xFb0tTYTJhSDcyMWFraElGVlhMckdvQ1Nhd0xtVnpySStxRE83Z1hSQTJac2hja0tpMEI0NEpBc0daNHVBcHFVQ1pZOFVjZHBYbUNmYVZpNGw1M0FuN0Q1TVkvTlVVL1N0VU9GSmlFakFadHd1RzRMTmRBYkRkc045S1ZsYmU3UjVPWm8yWXVVWTlHeHBiRkZ0aUhkNmdMTHE2Q0ViN084M0Q3Y21xQW5SUFNVSWdDcW5QTXlXcHNzdXlHY1o3MVl1cWo4bTMzNVlSK0F2RTRNbWNoUlNZYy9lSWh5U0VvT25Bd0ZoQi9MRjBWOFhhSEs5SU82dFhIU1RRU2Z4OXNQckJnZXNFdURsVGtoOW9BdkZPYk1NcVFXRDQwTUEraDlaR1BSK3dRS3RINVJ2bEVWVVA5YXRYUFR0ZzV1aTdLUWNiVG1BZE1WRXpLb01XbmJIQ3NTQUtVYWdxMnFWVlcwaGRWN3FCYkRqTk5adXNSNCtVTWVIRlZTeXgwb0Q4WGRDQ2k1cXlueElJZ3llSWdUNnlsdGRlZVVoZzRqTkF5a25kRk54ZG91dEZIZ0Nhd1JpamxjSS80czB3cU5rODlFMVJRaW9adGtuNUh3RkpNeXBpMEpiY3BDTlEzam85UklmamNGS0lMU2NVcWo0NmVnb2NXQ0daVEFFbEpYWXhRWVpkQ1F3VDZyYm9tRXFzeU9qenV6cXBURG5nWUZCekt1SVpyeFR4YWZydGNkcUFMcW5IQUY0WWxlWWlJdlFGYjFHaXJ2WVVDM3MwR1h4ZERMSjVDNG96bjlCWi9JU1J1Y3NTSU1CWFhnK2RPZUF2WmRxTzkySk1IUnFFTWkvNHp1RXZNZmYrUEtPeCtxRWZFaEs5dVVhSVovbDN2d0RRT2VuSDRxdk40SjNiSlc1SGE4bTNqc29xVHVzUlBxeVdjZGRPaXgrSlM2SnUyWU1uUUFCK25LMmVyMWVsdEgzdzltbUVuNGlocW9weUtTVHVLQnpUN3B2ZzJVOTBiTU9lUXQ5SzUwZE9wT0FoSGxzQk9pT0VIRmRlMjFaU2RFZlBIejVrZUM5S1ppSU5RYlhIb2JqTk9MYkYwRC9CUEgxMllyYzBxblNkTWcrZ3E2aXpNdk02RUlFVEFUcThSck56T0xCRHhOR1llT0NyalRzNzlhT1YwbDNDSUpCNXdPQmxsUTBFMnBRUmRuZ0NGMXAyR3l2R0dyK1NrZ3VMSFpHRVdqSzZYeENMU2hBTC9zeWR0VVVlNWRSSGRFMkFobVI2RVVFQkFKYjRTUVNhYzdtQUpxcTF4MTNhYkJCSjc1SnBic0tERDBmQ01BR01yRTBsVXlMVkw2Q2U5OWRDMHpTd3JSY2R3WU12YWdJZ0tWVVRJNFN3WURhdUU1WXlYU3Y0N2E3RmxqVCtMNDdCa01SQVEwQmF1WFNBdUwycUtzSHNNSWw5blFaOVZUUnhtVWdndDR3QkVEVkxJZkZ4Ukd1dm9VSVhXbll3a1UvZkNOdEhGSmdHZWNJZ1hiQ2UvNkFwa0x6NklVcnp2RFBPVHhIcUdKVEVrUUFhSFNRWVBIMHF6Zmk4dzd3OXpDL0RNV3FUbHcvU2JLSldIYTZDTURBbmVpOHA2cnMvUzJHR2d4Z3J3TWFETko5OExOYlc5SmtxU2p6cWtibzZqRFkydmhMdUxNTEpVcWVFZ0xBb3lRM3hqU2w0a0h0WFNGVjlXU3FsSnFOMWN3dUFxM1FyaStXTnJXbEtRQ1dDOEsyeFBaRERiYXhDSUdGbkNzRXFxRUtaaXpOVk1nSWU3cGVEQ216SHRyL2htVEE0QXVNQUtpUklkUDRXRUFweUU2OEVtcFBBNVVCWjEreHdIMGhDb0g1VjVLN0RJQ3laWVpqTVhUdEMxUUduSDFkQ0xiRjA4aEc2SkpVSE9XRFlyQVhsQU8yMTdDdWRBdjNkOGVCOVlVcEEwaFZUcTZ4VURvckhIWVloR2tnYmFrOUpDY0psbnh1RU9qSk9YMENiV29LeXNMczZ5aWtnaHB1bGcxQkJvTmRDRUR2SjQ3R2NNV2ZMYXdyS05zUDVTVWNiNUNrT24yMkJtRHU2VU5naUk0Wmc3RFFoN05TR3FGVExGZzBQb2loS2l6aXdpRFFTdElvQ3VwQUFDUWNRSG9VQW1rVkZ4SkNrTUZnTndMUUVSNjVZMklJQmJOdnNFamJJNE9RMVZyNFpGVFlRbTRNQW1BUjV4QUJzSXFHclVxZHZiWFF1UVpHcm1Lb1hnQ3FyTmlmZVBZS3NZUUxnQUFvczhuTmZvQ1BIWW9oTEhDZDBMdmpTdlF2NDZnUGcyWWZnZkM1ZkF4dHF3Vm5PRDhWdW83Z2dXSnlFa05GV01RRlFnQ21TTnVKTmJjWmZLYXV4TDlXWjFmVVNuVDV6YTRQUTJZZkFYZ0xOamxsZHNrL0ozd3R2Sk1GdlFRM0dNdytpVkp1UVQyY1VHZVdaTU5YbEZ2aC9UaW9zcnRucmdVTHVHQUl3QkpWSjdFbVYwQ1pmU3Y1N2REeXdTb2IyQlJDVTJBRUltQWlBQjNkdmhrV20zK3hQcWlUZThlaDVaVkkyTHNLb1ZrdzRzSWpBRitmVC9BMTIvWDdUOThZemxqWXIzdmx3ajhBQkdCc0JKclpUZHFmU25UdjQ5aElZSVlaUVFDV1ZVOHlFcldGZWtGR3lNOTJ0YUFaaEcyL1RyaGhzQ3FHZWtIQ0dKL1A0cHZ5NUt4MEd3aG5kcFhUclJGck94OElnTTNnSkpPV3FOL3V6VVFBckhSV0VhaG5veG1BWHJBL3E1Q2gzTmtpME0zR1pyQWN2b3MyV3p5dzlxbEhBUFlaYkdjZ1pQZ3UyZ3lFd1NwbkM0RldGcHRUNEk5eU1sc3dvYlRUZ3dCOHJITXZkV202NU5uVTY4UUt6d3NDWUpwTjMwQmF4OG5YZWVGUEZ1M29KcmdETWFROUMrVDBPQ1FLZ3hHQmtRakFWN2xPUmlhS04wR0xmRFRlQXJHMGk0VkFNOG50WEM0bzRlM2JqaXNjd3hDQmFBakE5TDBjTFdWTXFacFpHQ2xpa2gyTG1Rb0Ura2tlem1XM0VEU1JRenNVUXhDQjZBaXNrMEdhZHE0dWRyTFJudzJtZENQUVRuTTZCTnNMeW00eE1CUVJpSXJBYXByZDdPUFl5VVo5THBndUhJRktpc3NKalVFblhCQ01RUVNpSWJCeDMxRzBoREdrK3RTUFQxYkkvdy9WU2ZLTzhCTFZKQUFBQUFCSlJVNUVya0pnZ2c9PSIKfQo="/>
    </extobj>
    <extobj name="334E55B0-647D-440b-865C-3EC943EB4CBC-38">
      <extobjdata type="334E55B0-647D-440b-865C-3EC943EB4CBC" data="ewoJIkltZ1NldHRpbmdKc29uIiA6ICJ7XCJkcGlcIjpcIjYwMFwiLFwiZm9ybWF0XCI6XCJQTkdcIixcInRyYW5zcGFyZW50XCI6dHJ1ZSxcImF1dG9cIjpmYWxzZX0iLAoJIkxhdGV4IiA6ICJYRnNnWEhkcFpHVm9ZWFI3VEgxZlpEMWNjM1Z0WDI4Z1RGOXZYSEJwWDN0dlpIMGdYRjA9IiwKCSJMYXRleEltZ0Jhc2U2NCIgOiAiaVZCT1J3MEtHZ29BQUFBTlNVaEVVZ0FBQWlBQUFBQzBCQU1BQUFCZno0cFRBQUFBTUZCTVZFWC8vLzhBQUFBQUFBQUFBQUFBQUFBQUFBQUFBQUFBQUFBQUFBQUFBQUFBQUFBQUFBQUFBQUFBQUFBQUFBQUFBQUF2M2FCN0FBQUFEM1JTVGxNQUVKbG03M1l5emQxRXF5S0p1MVJ0dm9aRkFBQUFDWEJJV1hNQUFBN0VBQUFPeEFHVkt3NGJBQUFPZTBsRVFWUjRBZTFkWFdoa1NSV3Vua3grWnBKTUI4ZFpCL2NoY1JFRUVSSlFRWVNsSTY3dXFtam5ZUldGaFRRSS9vQnJJaXhtRjF3Nm91aUthT2ZCUllZRk93K0xveXZhQVFkODBLV2JBZlZscEFPQ080alF6ZUtEVHlhdTBZbWoyZkxVYjlmOTYzdnEzdHZWTjczM1B1VFdyVHAxem5mT3JWdm4xRTlYQ0RHdTBrTkx4bE9SSk8raC95cXNZRmpnODVUUzd4alBiL1RrbThBZWxQN3NqVzRHcmY4MHR3ZWxIWjJUWldLK0t0bmpiN1VzNWR2enV0U2c5T3lMUFVwUCt2YVY0MnRjd2h0Q1VlN0hjeDBoeFh5TDB2c0haQVp1WndjamtITkZxWW0vLzJNRU1QQXN1NVMreGd6QkRQTS9mRFUwNVF6ZUVJcHlyQjd2cjJBUEVZUE1yMUw2UWJTZWVFS3dPTHYySTJxVUh2ejFqOTU3KzY0Z0VuOVBJa2hkWkw4TXpVTEZaQ1dBL3RYc2hjNEtMZjg1bkhQcHkzK29hcVAwaDlPT3NIU0IwZzhOMkpjZXAvUnRnOGVNVWlXcGFHd0hWWHExSVUyeW5aRm9helpUVmRNZVVCMHNzbUhOSmE3Q2tWQnpONDZPa05LbkJlbS80MGxIUWpGVHA5L3dNWDRmUGQzelphVit2Q0MwZkEzRDZFdThPZDNIa0daUFUxcWwzdzl3L1J1OXZ4VElUSmtodjRRK2hzMDB0MGptRURDaXlUeDlKb1R1aDdRV2twc3FxeTJheUg5UlRLQmJHMVhRSEN2L002RVV6NGZtcHNtY0VnYTVoK1BCUmxick9OSnpTOVVTRnVuZ0ZQZ0JwYS9qS004dDFad3d5SDl3Q3BUcUZObVljUHh5U0NYRDl4TmtYM21aWnQrUDVjd3FtNktKSENKaGRTTURmU1NEM0pNdENvTmdSMjJYNlhnSHZLTzNwd3JmYTBoUnZWR011NUd5M1pBMVJSUDVBRkxhM0RnSHZFaU02Y2g0dUFVelVVZ3U4M1FOU1hsdXllcWlpV0QxN082ZVcwMlJ3TnZDSUxqd25aQ0w0eHJ3RWxLbmp6ejI3WjJkbmVlKytRZzlRMnFYZ0V4T3JaNGlxMDZIZkZ4dWtIcW1QTEZ3a1ZwNXlGWkZFMW54WkVZLzNBZ1V1VUw2eER0ZkVWQ2ZmZWxkbndxZ3lDNURodThwUmltdWtCTEN3cWI3dGV4MEQrVTBMOHhPRDBKTGtabE9rQklDWXdlS2phcVJ5RVBJS3NJaTJ5RkY2Q3czU0FscnpYMDBxS1NFVEJtNFVzV2dicENTWmNDWlZFMThQUlcrNytHckJDamRJQ1ZIMU1rRXhCYllIUzVzK0I2d0JtUTRRZ29lTVZWRERvTWVraWQzR2FRSmRod2hiVkNLbk13S1VkTWlxODViU0pxVkh6ZElTNER6MkVLdnhLUnZGZ1pKSHBVN1FzcWk2bFRPRUdzaHVWVWtlVHpzQ0NsYldldGdsVXBGQjEwQXUvYVRNbkdFbERuM05MNFFyeDV1STBBMFAwZElsOEVnMFNDeUxFa2J2anRDMm5RVGhqRExWc0QyY08wbXRITFREZEt1bXpDRUdVR0c3NmlOQUNGR2M0UzA3aWdNWVJwQ0lNR3Vmb2kyaUt5NkU2U09uTHZRZDR2YkkySDQ3Z2dwaXc2Y2hDSE1KREo4VDdaMjZ3Z3BXeUhvaVBmbjRHOVBOSkZFQWgwaFpjR0JtekNFMlZ1Rzc0bkdUbmlrODcrdkNzT3J2ellieGNwUXlVSFRrQ0prK0k3ZENPQUJoa1phYWlsRDZQdTZoOVBRaDZZYjU2NHdkQVhHUS9Wc2NVY2p2YVh0b0JQSGVEbUEwTVZzaUFJa3czZnNSZ0JWamQyeFNHVXIxTVpnaVk3SmFIaTY3c1M1YXd3cWZLL3BISFFDaTNRTGZ0bngzTTdURkpiZmR1b243Ty9PTDlCQ0NBSHpXYlFud2ZpQkcxSFhDN0dTajBBZ1hMdXhoQUVDcUlWQkNwTzNmendnWklyNzl0bVlMZVVCSVNTSmMxZnp4Vnd6MzUrTm9BaHZqdHpIRzdKVzZhVUxQR0dSem9xZnl5M3lqcUJzUFIyVnhMbUhmYVRLTG9jQlJmd1pEVUc2NXMrUGU4WWkzUlN6dG1YdTJyZU80OWo2eStPYysyZWYrUG5UMy9KWGVsR3BIN2dqSEg1YlZNSnVCTkN5NDVCS3dubTU2TmJrcHFpczYvclJDWStPWllDM0ZFM0wrMERyWmhmTkQwcmtQbDdybWNRWXBFcm1vbVM4dXMxeVdvY3FQL3J1MWJFNVBBd3AzYTNpdXJKb2VZR1NsbWdpSzRHQzRSa3hTRlhscG14NjFRN0xhZkMvTEJWOWVYWHN4b1VoTU1aRVdEbGFYTEFrWWZnZWkxUklhdlg1ZlVhTVIzQjdzMHdkNjNGaENCQnZCSlZLazJPNWoxZUppa1VxQ0I4VXR3VStIcm1FbTNveGRZVG1PM3hUS016OTd5bE1HZDAzUVNoYzIzYnNvTVp3cEI1MkYza1lNbzNEYnVnWWRPNVhQWHdKQVcvbnkwbjlLUGZ4MmcxNTQ1RjZjRFY1R0hLWjFqeTVFUStHamtIbjN2T3htTTErSlZ3R2RuYTdpZUtSZXJSZDVlYWV3MjNRTVhRTU9QY1pmM3NvajJEczEyUmZqT1dDVlR4U2owRkVsTDg4TEtRWTBCczZsZ0hZMHFDRWtBdittTG81Z3BWdzlyWnRHMTQ4VWxPTks2S0hhdnBmcjBrelNCczZOaW4xUmtnaTRoM1F3cUQ3MkhqS0tGa0hnM3pkamxjOFVwUGZvaGp3YitJTVl1Z0l6dDI3U2hLSWRldTIzc0RFRlpWdXd3ajlJS293UEQ4ZXFWbHZXYmlYVlp4QkRCM2hWWG43dGtCb1p6VzVZbUlhbGdZL1krZGoyQTdqT0tTbXdLNndSQTluRUVOSDZuUHVNMzQvQmQ1dXo1VEUwek5SMHlFM1hnalFobWJBNjE0TExZak9qRVhxcVZvVkt4ME5id2ZwSVJrOEdEcXlvSEYzVUFKN1ZyMDlDZzlEbGt3Q2xrNDFIOElZUUNERXd3U1dSbDd4U0UxR1U1SS85YjlmazBpbm9ZOVhPcktGb3hWZEFJbW1NZG41bTd1blB5V3p2azZYRWJNWUtlbzZOTGxGcGJkc2ZhNVk0bG94K1psSVMrOS82dVJyTmFOMFZuNlJnZVo5OVdiMTBkOFpoSDRkV2N6WU44cEpZeEFkUDBudjNhVDdaVitueTRsVHpZZkFXU1ZWVzU4cnRsdEhJWjNwMFVmdjByUGFRSkV0NFJyTk1Rb3ZmSktlUE51Z2Y5S0VBUjNMWUJEVldoalY5R0JrdThBT1dubjVyT25yeWpTdkZJbnJDVFpuRGtFS3l6QS9KdVJsYWt5ZnRvUWVZSkI5RStkYjZmMGFtZS9wL2l1b0k3UmRUNmZSMU8wRmZqM2JCMTcxaHMySXloUStKRjJudUlqYVpCR05GSGF2Zm9SUmRqVjJvbG9HVFAxc0cweXUwSk05ZUZ4UTd6aEV4MDF2R0FLOXBhcC9YWHlGYlYrbnE0clQzR0dYaUszUEpTUWE2VFM5eHh2NUhKVlRROXdUMUJoQ01NeXhnWFNUZm9VL05lVDdDTkd4NTNYdXQ2Z08zQnNpMUFQd0t3YkxUSktnMjVvMW8yaWtYYm03WW1yd0E2aUxWUHlLRVF4aW1INkJ5aFhVaXV3WVFuU2tuakJrcHFyclg1YWZFa3lBOXEzQkQ2K1F3T2NDdzBpa2dQQ0FDNFR2UXlUWTFpMzVZajBmUUVVMW9iWkloT2pJL09ldWhsL3FEczVscUZBeHN3eCtlVWtUWkpPQTN1RFFtbE0wMGkxOWp1T2c0VFZVTDlHUVRZWEpnMGhtUThndGkvNDNSRWUyNTJ0RkVNSGZ4K0dwSTU2Z3JXM3psTEtpeU03aWJ4S2ZLM2FucldqeEJsTFlwYlV1ODdWTEFldko2S0ZuUkdaejJqaGwzb0JDZEN4dGdnbWsxY2d2b2JLdURyRmJuNHU1cUJxZkZKcitsc1Rua21pazhNVW9EWFRMZytoS3ZFNjJQcjZpSUZkMFV5cnozc2F2NDlYYkw5V1pDVDc2MEowN2QyN2ZiTEMwN0RnSVdWYnpobTNUdXl2V3FlNDliWFVzbTZGSUwrcHZldUJqMi9yamFScGRRbFUxRzlMbWNhRmZ4eFlOdVZUZ1hsRTl0dTZJc09qajZHQnAxK2o0NDZoNStWQ2tSenJvaGM3NlVQQ3JxTmRKeWpxUGpaOWtzNEhBaGExMituVjhlNGc5cEo4bXBLY2FSa3Qvb1NqczhVU2IrdTNGMDBxS0dLVHFKY0luc0NKcU5QWEhBZWJmazF6Z085cVF5UzRmamxqcFNKV0hxbnBqWDhreCtRM2VrM2RDS2prclVWTWpaVDh1bFJvdlBLWlVML1dlVVFLZ3NSeklkSThiVE5kRTZBZ2U2cGhYaHU5eVRYSE01TDQxYU1PWjhBT0FBaWxobjRmU09JeDFXMzlIRU5OQVRHdWxJL2l0YmM1VVJ6MWhJaExrd2RqZ05FRzE2Q29hS2N4YzZONGtsSHhRTE9yb21oZ2RnYWJEdVY3UXZqdFVpSFVtL01BanpZOFFnL0lBNllyTVhkVTlSNUFNY2lyNlc0V09aWU52UXVod1FveU9JR2FORTgreE1HUmhsNmV6K05Pejlya3hVcUZQNmdnU2lMUFdoeEVmVVRWSnQ4emZzcFdPSUtiUG1TOHpiM1B4ZUpnZ216SjRONi9iME1mVFFrOGdYaDFiY3UwUG85OVNqaE9pTlFiQ1NrY1FzOGVaODNCL2EzdVlJSnN5OExrYk52UUlXczFSaEovUk5jcjZpeEw5dXAyT3l0cFYxb2R2WnFVRTlHUForbHhRdjZmNmtKWXhUQTB6eTZLU3JZWm5WanF1aWpjSnJuMGRaczJXd2dRa3lNdmE1eklJVFdtSGFUWFpFWVhyRXBYK2JWUDI2MVk2dGtVVTNHSkRnUms5YVJRbEM1blBmRzVXdHRVaUYrVklvRUsvcS9QQ0V6M1JEVXpSMHdOT1lLWGpOQmZ6cTN0TmFDR0x0bU9QY0R5RW5VTHhzYWd5WDM3cHQ3Nk15TWRTZzArRFhlRERrMGdxVm5CZHRJeFZOZUt4MDdGMVVpUFg2UDVsTUV6M2NLZ2NmS0dGejEzQXQ4cTMwRS9BYWtIMVpDME9TS2wrMG1lVFB2cG9jaXNkcCtucFRUYVp2VXBmRVZPNGNlTGl5MjE4N3JKRnErelNqLytFbm16RUE0QTUxVDgzakZPbzdYUzg5dFFwMnpGLzZjWFRUcndvRkVWRmU4aDRjcHR6ekVvUE4wNy9Vb3ZuU2NqVnUvUjc1ckpkOWpwaVVDZ2E4TG5vNzJBKzgzQkZvY2pSdmEwR2pBaE1jNW5QYkNPRU9pYXg4cm1yWjQ3UmpVRWM3Sm5EK2x4WVljNTR4RE1HZldORlFveFhpeVdTQkJVOTZZT3RjZjdvWUN5S2Z1dXdPTFp5L2pTMFJBdyt0NE90WXRPWXNEenpSbWZqYzc4d1dCN0tteHJaNGJId3VmQng2Wm1MN0FEa2pGT3BnUjduWG1tQVFRYjd1bkttU0ZadzhENlgyME9OUjdNU256OCswRTN1b1ZCZHEwTDdVRk5acUJybmtnaTZCV05EWExRS3BZZTVPVEplK29pV043YVNDc3JuenIvS3VnOTJaVDd4T2piTnd3VmpmTzREejc5REdJUDl6Zlpuc2VHZ3hwbDdpOUlQZnk3cXV2SDNkMy95OWszUmRTaVQ3STRUN2VobGc4KzF2QkN6WDZPSFBUb0o0SE10cjZYUmdja0Q1NWFsT2ZBVGEzblF6aDREQzhYdExvc0pabnM0NDY5eFpHY05vRjRmUCtnUklvQmRDclpYWjRSd3hzODZ3YitvUGhnLzZnSkJZWUhDQW9VRkNnc1VGaWdzVUZpZ3NFQmhnY0lDaFFVS0N4UVdLQ3hRV0tDd1FHR0J3Z0tGQlFvTEZCWW9MRkJZb0xCQVlZSENBb1VGQ2dzVUZpZ3NVRmlnc0VCaGdjSUNvN2VBL3p6ZzBVdk10d1QvZWNENVJqdDZkUDd6Z0Vjdk1kOFMvT2NCNXh1dEEzVCs4NEFkaU15MWlNQjV3TGxHNndCY1JaMjIyRllKQjBKekxBSU96WkkvQXBIbkFlY1lxeE5vL3ZPQW5Rak5zeEQvZWNCNXh1b0VtLzg4WUNkQ2N5d0VEaUxjbHZERWVjQTV4dW9FMnVCMFhEaXFjZEovbFlxeGFIbHdPcTQ0RHhoVGFaSnAycjd6Z0NkWlY1UnUvdk9BVVpVbW1jaC9IdkFrNjRyU3pYOGVNS3JTSkJQNXp3T2VaRjFSdXZuUEEwWlZtbVNpd0huQWs2d3NScmZBZWNDWVNoTk40ejhQZUtLVnhTam5QdzhZVTJlaWFRTG5BVSswdGhqbC9PY0JZK3BNTm8zL1BPQnhhL3QvUlVZaWY3Tk5mT0FBQUFBQVNVVk9SSzVDWUlJPSIKfQo="/>
    </extobj>
    <extobj name="334E55B0-647D-440b-865C-3EC943EB4CBC-39">
      <extobjdata type="334E55B0-647D-440b-865C-3EC943EB4CBC" data="ewoJIkltZ1NldHRpbmdKc29uIiA6ICJ7XCJkcGlcIjpcIjYwMFwiLFwiZm9ybWF0XCI6XCJQTkdcIixcInRyYW5zcGFyZW50XCI6dHJ1ZSxcImF1dG9cIjpmYWxzZX0iLAoJIkxhdGV4IiA6ICJYRnNnUlNoelgyUmNiV2xrWEcxaGRHaHliWHRqYUc5dmMyVjlYQ0JrS1QxY2NHbGZlMjlrZlY1N0xWeG1jbUZqZXpGOWUxeDBhR1YwWVgxOVhHOTJaWEpzYVc1bGUxeEhZVzF0WVgwZ1hGMD0iLAoJIkxhdGV4SW1nQmFzZTY0IiA6ICJpVkJPUncwS0dnb0FBQUFOU1VoRVVnQUFBNFFBQUFCOUJBTUFBQUFJRmJCRUFBQUFNRkJNVkVYLy8vOEFBQUFBQUFBQUFBQUFBQUFBQUFBQUFBQUFBQUFBQUFBQUFBQUFBQUFBQUFBQUFBQUFBQUFBQUFBQUFBQXYzYUI3QUFBQUQzUlNUbE1BaWF1N1JDTE4zZTlVbVdZeUVIWjJiVWZvQUFBQUNYQklXWE1BQUE3RUFBQU94QUdWS3c0YkFBQVl3MGxFUVZSNEFlMWRYWXhreDFXK005TXpzN016UGJNSkpBcVdRNDl3c00yZmVvZ2xHeHhRZHdBUjg1SWVLeWl4RTVJZURGcGJDVkd2UkJKYktGWnZJSGhYTWZnTzhCQVVLZlJpZ2hVVzBLenlBRllRbWhhT0ZKUUk5V0JFTnBiRjlpUkNJUTlCdmRoNHB1M1lMcjc2T2ZWemI5M2JmZnRucHh2MWZlaGJkZXFjVTFYbnF6cDFxdTd0N2lDWVhaTnBnZE9mbnN4MnpWclZyd1Z5dGRmN1paM3hUYUlGRnQ4WnNobUVrNGhNdjIxcU0zWThnN0JmYTAwazM5VUhmdWk1R1lRVENVMkdScTNNSU14Z3JZbGtuVUU0a2JCa2FkUU13aXpXbWtqZUdZUVRDVXVXUnMwZ3pHS3RpZVNkUVRpUnNHUnAxQXpDTE5hYVNONFpoQk1KUzVaR3pTRE1ZcTJKNUoxQk9KR3daR25VRE1JczFwcEkzaG1FRXdsTGxrYk5JTXhpcllua25VRTRrYkJrYWRRTXdpeldta2plR1lRVENVdVdSczBnekdLdGllU2RRVGlSc0dScDFBekNMTmFhU040WmhCTUpTNVpHUGN1T0RyTHd6M2dueXdMekR6N0NHT3MrZkhheW1qVnJUZjhXV0dMZGl3OC9jakhzOWk4eTQ1eFpZR2FCY1ZzQWpqWGhHbmZOTS8wanNrQUNmaUNQcUlLWm1uRmJZQWJodUMwOGR2MHpDTWR1NGxrRk13dk1MREJkRnZoczNDOStuSG9RS1NMeTdENVpGaWhHY0VKV2Y2azNValRhaG4rMlBMQyt0MXdhV1BUR0N5NCtQdTQ2bjNrNGR2MFUxVGxPQ0U5M3Q2bWF6SGQyUGJQSUNRclV0MDZ3OG5GV1hYeDFZTzE1OXRyQXNpY2dlUFgvNlZPQ0JWWWUySnFMN0tXQlpVOUFjREY4OUFScUhYK1Z0ZThQWGtkL0VQN2FyM3pyeVFjL00zZ3R3MHJtdi9KbmI3d3p2QVExcmVQcGUxajN4anQ4MTlzdG84eXpNMVl1WTdJdkNGZkVRdjVLUnRValpOOFREZGlFeGhXMk0wSzlJMUgxakErZ080enFYQ1FNb216WnNCUmVOT25NcWVtQU1CVGR2c0o3VjNnaGN4OUhMTEI2Mi9GYmJaVVZ3c1M1RzJleGVDZC9USXlycTRKZDJSdHI5Y3NORlpEMEJlSGlUVStoQlNjNEM5LzlodHZSZ0cxdXVHVjJhTnZ2eHFkWHc5OTVjN2RwMWZ2Vmh4VW1FaUtWc1RtQ2dNUDh2MXBtOFhPY1NYUkgwTDdKeE9qVTVka1NmVUVJbGY5Mm9oQ2lBU0dUVDhvWDJlRGhkemJUSkhBWEVYbVVmdDh0Zks0R1NDZ2lXZnhjSGJsZGgyTUJsRE1XWlJVWW1tenR5S1N6cC9xRmNQSGtJVlFldEhPY3ZaY2psUGdHZDREdDZOcTFBWWgyZEMwcndQQlE1M2ppRk1xYk51VStOU0k1YlhXNFhVRy9FQVluREdGZWovSlR6bkMyelhKRDBpTDhYN0s4b0toMUdSQnRtdnBQTTNiSjVKQnFvOXdoNUppWmVlMElzOFBZT3pNdEVDSW9WaHZZMVJQMXBQTUNxZGdtWU1tRk1OaGpXNDd0RzR4RkptN05oR1ZGZHVBd1o4ejBEV0Y0a3VGTUVHQmNuMWRkcTV2eG03R3pJMkRmRithZXM2Y2MxOHJYdWsxTC9USTdaK1VDUUdwT3kyVkJRVWVIYTBOYWRsb2doS2NpRXpVaW9ZSmpxekZuOHVILzhCcm1ySVZQMUJpRk1CYzVlcTZ6cU8rb3ZFNU5YUmhxU3hFRTB3SmhtK25BZTFuUFJ6TENqYnZQUzNQUFI1c1FoVENvdldZM0NpdDVCTk9nOVRJeHRJWmJDcWNHd29iWlI2MUhmUkxaNGdiY3E5SVhMRVFCaVVIWWNiWSsvSGpMWFJ5RHFtWW91YkZxNWw1TXl5emNNMEY0M2lRemQzZFlnVDE1cHJJUldlcGlhMkZRMVpPTVY0bVZQTExMQ0tvMFRmTnN5RjNTdEVCWVozWUV0enNzRkFQSzAraXA5bG9MZzFONnFlTlY4VDFIMDYyemRWM2wxNWxZWHQzU0xMa3BnZEJzQzlHNVN0U0FXVG84Rk8rcUdrajdPclpTNm1LT2RGNEhuSnlqRFFnakZUY29aRjJtM1ZLRW9lL3NsRUJvdG9YbzJjYXduZTdiT2xIR2VjWXU4c3ZFVm9vakJ1RzZzdzFzeExhRndmNk9FbTBOT3lDbkJFSnJXOGczWVVPNm5pZ3lmZWRQNFl0TkVzSnRWeVlHWWM1WjRPeHQ0VDlJeWM2bTByQTM3R25UbEVCb2JRdjVtYUpqSDllWVk4MnBHYk1XYTBBTXdrWEhjZGJOdGpDdjJsNDRWQzFsTWtJYXZOMVRBaUVXRStveTM4dEdZNFBCKzU5TnNpSzNjSE94YlUwTXdzQStOTE8zaGVzcUxIdFhVMWFOQjhMWjJoRGpuaElJc1ppb0x2TWUxQzA4WXowYUoyRmZuaThzeDg1VDRoQ0dUZE1RZTF1NDlIMUQ1Nms1Njd6YkxlazNOeVVRWWpHeGVsU003cE90c3JFbU8zSWdWV1BuS1hFSTdYYlkyOEpxNUhXekpkL0Mvdnd0OWU2dk4yMFZLZWxrQ1BOZnVvczk5dGNISkN1UHVYTlBoUmQrT3FMNytWdnJqMFZwUVJDbjVuN2dFZmFKTHdUQlBaZElKNWhDajZndVJtTGx0dkNCTXA5M2RvUzNIejBjc1NYR21lNUk5N2huZTBsUlh6cUUvRGxHVTdXcmNGNGwxRzJEdmV3U2tIc0dmeXRVWjhmbFdJR1hrQWpoU2duMUloWnVLakVCSVI0Mkk2QSszclZWL1IzL0d5UFdmYXROQzRJNDlWOUQ5c0NUZDdISFY4d1Ura1hHTG9UcytOQVZ0WFBYUW5hQnZYaUF4Y1RlS3JlaVo4YTJTSi9weFRlSG9vUDZveCtMTllRdnlEdU5FZldsUTloR0phcForZWlPc2hMdnl4eDc4Zk5COElGNm4zRjNFb1JyTlhiMHZmKzQvenV3bjZ5Y1E3aFkrMVF6V0xFUFNvTGdYZXpvSDRQOEw5amhCZ1RpMUJYMlNoTUYxOEs2M2dlOWg3RTNCZm1uMlRFdjhGN3JqUDFsa0tzL2lzWGtWWXRoUTcva1lCR3pKZk5GalIwbHp2ZlcwQkpJbkk0ZXI4VWZOcm1xS21aYnVLQlA2eFZMSWVaUjhqVnBrUFUrVi93a0NQZllVWmxYY28ycDEwUTRoUGU5d3ZHRVc3akVpOFExcndCNDFnSENReTBjYlNzQmduQ1ZNZkYxaFQyUEs1SEs4eVgyU2FRV2pyQ1lYSmNrOGJsc25iWlo1Q3pKK3dnNGM3ZHJTRkMxSVNCc2RXVlhMS2IwV1ZqUVRtU3hGSDNlWDRxTmh5WDJVYWw1bjQ1UnJZbzh5UVFJMGFSTnlmMk43b0ZJQU1MRmNKY240ZFgwbE1qWGlHL2Zla1BMUTEzVkxTMFNoQjBtUFFYd0VYcGxmZmJuUFNwYXEvKzllOUEvejdvMjJ3QnAzN3VkWjNycldlQkxXcjV1M2tVamtYUUlhOHBpK2E4WFl5MFB6YnFpbEJXVnhZTWxlL0dnbXVMM0JBaHJOTTdYYmxjWUFjSmwxZlNpMmRtK2ovandqcTV4RVI1cVcyOWdseFdFUUc1VHRxZVdjR0FHTys4SURqZ2l4NmxBVkVvTy9Oa1N2Ly96SUR1THE5YmxuMmQvckE5bE9lNS9GandqTGgxQ005T1p0aGZWWnJzMFFjdlJTanNYMmlFYzhjZnZmZ2h4Rm5oTzhqYVkyZ01Cd3M2aHBNR2kyMHBUbmZqd2pxNlpoaDVxUVJ0OVZlSFMwQU9obGJBMWFqSDE5bjMwb0I5TEpEVkF0UU8zL0ZkK0tlbUtNZWREOWc0UVY4VXJITkdkbWxFWlR4VmZRa0R3QjNGNktvVE9sSS9NTEJ4VEhMcnFscFRCZzFLQ1dWejJwS2YyK3pvSXJqTzFVb1hzaFF0S3VLMnJCZFRhUE11TUhJQ1BXamN2dkVnSTBYYUtwdEgvSzlGMkliK20zNTRGWkhvRWNFYk0rREsvTzljM3daUndSY3pHbC9PUGNka0Y0Y2szWG5YMHBHYm11ejljZXVFZ3pwSUs0UnlhZGZmbHk1ZWZ2RE8wMWlDcEJQQkcrdDVTc3dJbDV2bGF2RVpEOGM1Q21GZk5ZWDQwSkEyQTJzbmtHM3J5N3hNZkZDSTYyWkY2UGRTOE5hSktnZzFCMFRuSnpoR2hwS0tJbXprWEJaaU9UMEUrMG04SXdEY2tYWTR3MTkyUmxBMnhNdWduZDZMV0hoOS9FbjU0MjhPU0NxSFpGdVpqOFNlc1ZuYjEwY3R2QUQ1eWtQUDFiOTN5NENkZFpwN3pRb2dHMFlvTnEwamtBQ0haR2UrMWJnbE5BSmhnUlo0eVBpcU1MaVQ0UjJHSGZ6YjBWT2FTcjNKUzVNS0QrZ05KZ2tabkltR0luWWt3QjhFOFdwaHdpU2xuQ1N5cTlsZXVjK0wrZWF0b3dHUXFoQmp5MVB2VHFtWmREWUJxNm94STFObU91TWNHTm5ydE5aUVh3cGFCcTBUdmI4SkFaRFpNRDFrTDZoZEdFRlVHRk9YNHFJRHdVSExCWkVLNFpyVzloQTFMN0lJamtSRnJFQ0RwWXF3am9aaFVYNFFGOWJSZ2I0ZXpGN2Y2RWtwbFNvV3dZcHpJaWpHRDFJZkliTnZWVEFZUDN2S1pBNmNrZnhjd3NPeE5oVjRJaTlwVEJ0Zy9YUkc4RUM4cklVQjRUaVRiaEtYSWRSU3JqMnJQek1vbTJJRktWMGp4ajRMbFpqVVJjNTJPRTkxQkFRNm5YaTNSZDZLaUZJZG51RWhkZlBZdDdHVk1oYkJnbkVndU91Y1FOeHk0R3BuUEdKSUZWdHh5bVhuT0N5RWozTUR3NVp1bEVDQ2t1alNFK3dacU1MV1VZYjFVaVArdFZCVGt1QjZNUHJOQ05iU2pVU3o4aGhGQjdjVmlRa25KTUNTRXhWMmhaazBPU3MrNkttdko4SmtLWWMwNGtSWHlxS1E3RGlFczlRUzNrT2NDaElkeHNnOUNlT0hvN09iZkxOSzFhd2hMRnRUaUJaSFhlQVZlYWdFNlAySzFESFBNT00rSzVWUjFFMUdodERSLzB5TFNkSElEbWpsYjR0OGwrNXpvVVU1WGswMkp3NTBLSWJwK1hYRzc3Mk9BQ0VITEtweXJCdmFqSDFUODdzMGJpWHRuSVdhSWhrdnJvQytIZ2FBaEJOOFZ6Y0FOTFlJYkw3VU5LanYraVNheFY0MXpFZk8zVEFWMFI2aW1HMUdKUWh5eTg4UTN4UDJVMk9pczZ3VmlDRlZwRUdMTlVMRURZaTVhM3Y5SVZRWUhFNm0yQTNhQXFKeWZVNGdGeGNuTGpHOFdBaUt6VHBFTW5paFFFdVhuZVpxM2pTWUtzcGhZZkNQanAzSkUrRVZQd2ZZcGZ1V0sybzRlVGhIalJHOGxDOUdtandiQ2lyRG5mSFI1a3ZWbisweURFSVkza2FDSzlQT0VSUnhDMnQvK1pyd0ZTOTVsMGdjaHBwT0dTK3Z4UU1oaEtXc0dQam01MGYxVXZyU0pTejJwUXZaWWYwZTk1c3htcWJGbFRkT2F0VzZLMHJyMlRLYjY3S2s5WWMvbCtLS1JYVlVhaEVCSm0ybmp2TlE5Ujd2Mk9JUjhDb2pyTU5hTURSMmoyMFVKRU9vSm9IazlFUExoVmRZTUhFS092SjhhcklTcVpmS1hZd29xcDI3ZHB0RWpVOENZQWxJRW9PUi9GTmRvWnFFY0IrM29ZaFJ0U1QvNU5BZzMwRWZTa2R1V3FWTzBTWUpnWkMwTTdsRTJpZlFaZ2hXOVhTZDkvTzZEc0dwSGk4VHNnWkN2bVUwcWw2OHNJK2VuQnNHenFtVk1IREVXVFpSbU5OaXBtdmsyR3NhbDhqL0VFT3BqQnFJTWNGYy9ubEhSOWgxQUI0bWtRVmp4YkJNNjU1UmtQQ0lOZ3U4cVM1VkpPOTBMWHVjekRJU28zZ09objRwV1hDdXBwaldSNlFVaDRtZTJDVDUrWVY1Zmx5bjZIQW1FQzNLRjZvd2J3a0xNaVNDK3Y2SzY0b013RUYvVzkwVGROUjBXa1NINDNRZmhobWZZWUZPaDEwY0taL2g4S3h0bENHZDRGT1NuQ3JZUDNDWkE1Q01RL1NKZllqUllLYjRpVURleFh1eFlSVWpHQ0c1eGY3bTJiUHpldUNHRVA0azRFY1FMMUVSWWE1dlM1cDUvWjRqK1I2WFE3VE9HUjZjU0lOUndhVVlQaFB3QndxNW00SnNLTHVhbktyYm45aUREblh6SDAwS2pTZ1pGVFVWb3g1b2UzZXJia24ybkM5S09KVzNPTk1tRUkyWVNTWE9rNlBGMTRsUDNaYjBuaG9jcFJ3cEZObGV5Tjg2U0E4UGF4K3VERUxPc3IwMEZqejFkQ1BtQmk1OHFHNEhQcHlHRVd5TjJEcTg1Uk1KK3ZsU0pOaDFlZHRObDU3a016d3VGY0NoanRub3Nub2lyaHJQQ2xlSTJVaURrL21Rbm9yS2hJelhzMWkwVFdtd3dnRG0ra25UQWZXQnhVTklISVYvTnFGemZQYk1RWjlmYTJZRVBzNUFQTGk4MS95bXRxQ2lFcXRhZVFSZFpDVGdZSFJVWG9zM3hQcW1nL1JRYUZiMmN4eHhVeWFvS2M1MzFuQXFqOTZRalp1SkxnWkJINkdlSVQ5M3JXMFNBdGE1UW10L1htcFFyR2dNRXdiMTNIYjhOVHpuanpoSGNQZ2o1QVp2V1JCbzlFUEpETjZ0eFZlVWJmZFExTXlZd1FDNko4SlcyUmxTRGN3ZVhkalo0bVE1bE9mR3VsR0RDd0hiNkxZaVZLSEFtSHgzT2duOUpyVFhSS1M0SzR4LytJMmJpUzRIUTNoWXFkdXRBQ0dvdEU4S0Y2ZTFWeTVxRno3Q2pXOW5taGpFSjFjdnZQZ2g1Tkhob00vRzBEOEk5WjAxcXFHMkFqNXF6dkxoNDRRZGowenVrcUZyTVFwbzdhQTVmUFplTUgvT2VGV1o0WGlncWFja1ZDdG9QcWRLMGV6cGZDb1Fic09hQnE3bHFyVk5pUU92aWpuRzYxajUranIyeUhiem54UXA3V1ROYUNSK0UvS1IxeS9COFRUVEFCMkhGN04zQVhsQXJsSThxM2h0U0tndDhVOGNYRjZ0ai8yU2xCUnNncG1mV0FJekhadTNyU2w1RVROczZNMmlpS1BzSWFEYjdVZUVkTmxvd0JjS1d0U1FvL2hLTlR1VHI5a0xKclVMZDNOQVJLVjRJM0FWbnJjNWUweFZhQ1MrRUFJRVU4VXJLbk44SElYeUVwYlNtNG1NZk5XZWRTemRFbzR1T002eUpPbmc5NnNKcVRqRTFKaVJ2VFdPTHl2aStSYWNIVGRDc2d0VjIrdEdCTVpYQ2xnSmh4MW9TcEliVHR0VktsbVZFS0hoT1ZWUFZCVmVsS2FxZW5TTG45VUlJRU13NHljbW0reURFbW1UNFlBdTVldm1vT1diY1lGVU1lNmRCMWxLcE9vQmxuaVN3Mzl3QnRYaW9pdmdUbWxRbnJQblNFb0NreWNzQnBUVmNreVg4Ujh6RW53Smh5VDdRRi93ZFlRQWwyckh4eE5qVWJyMmhVM1c1WE1vZ2dtbzBkeStFc0oveDF2TXk3UEJCR0pRc1B0aEVUVWtQTldldHhDM1JOclNXcGhrd2lZYzJwdU43Y3JrSXQzV3JUMW5hTkRGakFsL1lGUktBMExRalJZZTFOSG00VWlBRUtwYXJnaXdOSHFuRytYNElVTkp4ZUsxN0lEbndhcnhJWUxlMkt5bnVweGRDdnF3ZEVsOUx6Z1l2aEFqa3J4QmZWZGZnb1dKbXFnYnhMZUUybDZtYjFnWXR2VThpYlRpQlUyc2gzMmNlSWlDVkZoZmxiZis2cm1YN1NlelRLMzdrUEhvSStZK1lTU2daUXZUY1BkQmRsQUUyU1RyZkQ1bGp4NGVxWUVYM2NWLzVJNnd0Mm9Za3plOStDTkVpY21OQmZWUHdXeE1UbnUyOG9QRTlvRForVFQ5TzhGRFJFYWtHY2tVNTBPNHo0WFJldnNRaWRhclBGcG00QVJ0Y3NSNldvcnhsYW5Wa3NtVHFaS0s2NVVsU0ZCUlMvUzJXSGpzQ3RQUmdZdkZObEw3VzRGVHN3SEtCK3NrNTFzeHBXNVdrNENaMmhEVE5ScEd4UHZ3UTV1djBJblV3TCtjekZPbmxmTU80aG9aZWxlQWVOa2x2bkFvSTFhUkNNNlhqQW9tNnNxUzlCMmtRWDc0Um1SejdzcGplYlQxVzhBNGNEU0hEbmpXRjJyWGJsNHRpRHczK0kyWVN3cWgyNXhvVjVCSE5HSThXNU45ZFEvNDhsZUkrNTR5ZzBrZFYwVnBJMjJJWWRsY1FUOWxnV3hyOEVDSmdvRzgwN2NuWHo2Rkl0d1N0SXYyNWtIMWNhaXZxU1FpbkY2UENZdVRJcjlKZTlwOXBHdWJyajFvdFVrbEVSNkxsKzY5alVtTVdGcllNVDlHTUZrUE1sa0lIZDZSRXdaMGxTV3Fvc2Q3eS9CNzY5MEl6V3ZhaG0zNkVJOForOS9JYitIV1RlSjBiK1RNV0l5eXpiYkpYajhzaUE0WEUxS2E1VTlXendQRHpWQUtFL05jWEQzbjVWL2tRWGJ2OEZ5RnE3dDU5ZVR0NC8rV2ZRWkw5M3VXLzRjWEIreFRmTDJ1SXZGUTB0Q2dmWWE3VktYVEJkdWZGSnVmdWVQKzRvTUgrRUdYemdLOEV4Q3dYd3pjNFY3amNNRmRWcitLVmhQbmpha2NIeWk1RjUrNjlmSXNBaW5YditQRS9mNU1tSXlISjNGenVaV0hHbjdyc0dwbDg2ZWg3eUQxWFpMOUZ4SDA2cGRsUFdENlNJTXhoaWZqQ0IzLzFPK3pub1FyYlduV1Z6WHZ2eWdzK3pkaGYvY3Y5LzZXK0swajFScW40dWs0dWZLSVpCUGVYOUdRTzhKM2hvLy84NFAxNzVQVkpXTjVYR0Via3ZlSEhnb0R2aS83MGRWT0thWGxnY29PbDltbHNCeHRKcTVpakdGNG9xVTZNQVhNNTBlMFhEZDFPbWZOaVhvWHJVbFpxK0NIOWtMR2YxYldYYVBJVkhRZXN5eE5uWWJBcWg5QkhPT3NLdTNqaEUyY2ZmT1FpUm1JRi93cCs5dXpERjBNRllRRDArUFdqUmlkUFJhaHI4QXQ0YkkrdlplTnJ1L3Bhcnd2Um45TUVKL0ZleHVxTUk1Y3Y0ZXZoaDZaczNZcGxEVFZicWlJMGN4bnNic3FPTFA4QmdKc3RTdG9STTJlcmRDK0liN2VkaFlWQ0IwSkxTWEt5NGlLeitPMUgyR04zV3hOVFI0eGh3dktSTkF0aHVDODkxSDNBOFFzSnpmalFyZUdGdTh2UlFwY3FubFJjdTQxZCtQRG5iY2JGYjZPTy83WXBkdnByRDNYZklZWis3cW5qbjdRS0ZtaGNXclNzeWJrTGgwb2tYM0xmRlh1R2RYK2p6c3l3U2oxaXpscXRoLzlVK3I0VUx1ZTZrRUp3Y01Vam5yd1dlcGtuaE5pbVlISWM3WG1XaHlXTEpXMnU5Q1BtRWJSZ0xpSFFWS3F4Q08rSUpQYkgyOTdxa21laGwzMGlpQjMvNGptU3RxMndiaG1LNW1qRDArT0llUVIxWXJ1V3BnWEluUkhscDFuWHp6ZU5FTlo1bER5bXE2TitxNkN1aG55UEkrWlJ0S0pvaDZReGhZQlEray94R3hGejUySU15ZUZNbkhWU0tJc2ppR2FTK29LTjlvRW8yMmRiNGw2WGN5RHBpRGxKVHhaNlZYbEt2d3gyQTd1aXBNMGpnRlBYNDF4VE9BdFBwNi8vOFQ1bW9PaTlWMVZ1d3VoUUMzTkJHaktEcm41WlQ3TlhVMWdSenBSRnNUZ3FiZTNFV2FjUXdyYWFJUEhPREUyQnZRNmxFblg2M091SWVlZ2FvU0JQZTNlL01obzhJWTlNNlJjcmJOWXBoTEF3dnFVUVAvbWdqTE1oNHNTZVI4eTJLUWRPcDNkb1Q0NHFuQWlleDNuUFFieVc2WU13bng2RXg3dVlnYkt2Ti93YlltcjBQR0xPb0R1WmRUbGh6eTRscXRMcEZQazU0Qm9kVHRyS3BnL0N1VEh1Q2tPdHV5cGlwallGL0VsSHpMWXBCMDduVWhmM2RWSDYzaU4raXJQZ08veVpQZ2lyZXRjOXNNMlNCQkg5N2FpeWhwaUZQWStZa3pSbG8rK1IrL2FLRmJ0Ti9CVGU1anlnTEd4NU9LWVB3dUgrcjlGakFrUENlbk9vY2dYeFBLM25FYk9SSFNhMW5IcFdzYzZPYjJXZjVuL2RkYWYzTCtHbkRzSlY4UXhxR0lNbHkyNllNNnlTV0JWN0hqRW42OHBTMHVPZlVhODlkTXgvSUM1MysvRVpuOWFwZzdBZGVhN2c2OVNndENvdGZmd3Aza3Y4UFloZVI4eUQxaFNSYTNpZm1FYVlrckpUQjJHSlAzNGEwMVhSNXo3eWNMbjNFZk9JR3JLdTErQUJGRTRiaEtkVGw0MEJER0NMN09zWFN2QVE4VkI4U1V1NnJzUWpabHQ2bUhUQnQxdm9VK0cwUWFoK0FLL1AzbVZrYStqM2Y5cGlqOS83aURsakJZbnNjL3BWbVVTV3hJSXBnM0FsZFJlYzJNcytDMXI2V1hKQlBHenFmY1RjcCtMZWJCMmNZUTk0NWZWbWRrQUZOMWFzOWNvNDY5dlFoek5NSEluMFBtSWVXV3RXaGpnMVRIM0RkV1F0SEpHaXZONjNqVWlocTJhQjFrSjZRTkh6aU5tVkh5YjMvdTJCcGY5NGQyRFJHeStZajd4a05lSVc1T2pGNW83YWZQWThZaDV4QTJicWhyWkFTVzQ2OGRkc2NrNzBQR0lldXNhWmdoRmI0S3FjZmZUYnl2ajFEbjZ1bkhMRVBPTDZaK3FHdGtDKzFzVzY4bDMyT0ducWRjUk1mTFA3eEZnQTc4Njh2YzZlME8zcGRjU3NHV2VKaWJIQTgzZXgzNzdaYWsyUEkyYUxNNTc4UDErU1ZNamk0TUxxQUFBQUFFbEZUa1N1UW1DQyIKfQo="/>
    </extobj>
    <extobj name="334E55B0-647D-440b-865C-3EC943EB4CBC-40">
      <extobjdata type="334E55B0-647D-440b-865C-3EC943EB4CBC" data="ewoJIkltZ1NldHRpbmdKc29uIiA6ICJ7XCJkcGlcIjpcIjYwMFwiLFwiZm9ybWF0XCI6XCJQTkdcIixcInRyYW5zcGFyZW50XCI6dHJ1ZSxcImF1dG9cIjpmYWxzZX0iLAoJIkxhdGV4IiA6ICJYRnNnU0Y5a1BWeHpkVzFmYnlCTVgyOWNjR2xmZTI5a2ZYRmZieUJGS0hOZlpGeHRhV1JjYldGMGFISnRlMk5vYjI5elpYMWNJR1FwSUZ4ZCIsCgkiTGF0ZXhJbWdCYXNlNjQiIDogImlWQk9SdzBLR2dvQUFBQU5TVWhFVWdBQUJMc0FBQUN3QkFNQUFBQVZvSEVZQUFBQU1GQk1WRVgvLy84QUFBQUFBQUFBQUFBQUFBQUFBQUFBQUFBQUFBQUFBQUFBQUFBQUFBQUFBQUFBQUFBQUFBQUFBQUFBQUFBdjNhQjdBQUFBRDNSU1RsTUF6ZS9kbVRLN2RvbXJaaUpVRUVSVjVWVGhBQUFBQ1hCSVdYTUFBQTdFQUFBT3hBR1ZLdzRiQUFBZ0FFbEVRVlI0QWUxZGYyeGtSMzEvZHo3ZjJXZXY3U1Fva0ZaaG5UdCtOWlN1dVJQUXFFcjJRbE9VQ0ZxN0ZGQ3BDdXYwb0NLbzdScFExZlFQdWhZTkVGcTFlMGNnS3FWMDNWQ0JhSXRzb0EySXByS0xVR21sVm1zSUVISlU3RGFWUUFpRWZYWjZ5WkdFNmVjN3YrZTkyYmZ2ZWRmMjdkMjhQL3ptelh5LzMvbk9aNzd6bmUvTXZMZU9vcjI4eGtvczd6VzNsL3FGdWdZYWdZbTh4c1hZbVlGdWNGQitMeEVZejI5ZXoreWxmcUd1Z1VaZ09MOTVQVEhRRFE3Szd5a0NkV0ZmbldhOHdyZi8rWWVmdk9lMGJZUmJlNnBmcUd5Z0VUZ2dMT2ZINlkwby9PYjd6QnBnTFowMmxBWUVOQUlGYVRZck9xZERvdkRsc3ZSaFV4MG9RblpBSUlGQVV4ak5US0lna1ZGNGx5RDl2MFJKeUFnSWRFRGdrTENaeHpzVU85bS96bDNkUlNjdlBBUUUwaEFvQy90YVM2TlJaVWU0ZmEycngzQVBDSFJEWUZXWTExUGQ2SGo1Q0JFdlppSU5SQUVCSUhCVW1OZjViR0I4SGRUVDJVZ0RWVUFBQ0RTRWZTMW1BK014eHA3T1JobW9BZ0pBWUVpWTEwK3lnVkVvc295T0xwdThRSFdaSXlBUGhyWXlSdXlqak0xZDVvaUU1dlVUZ1pwd1gvTVpaZGJEU3hNWmtRcGtoTUJoWVY1Wno2cEhXWGhwSWhoT2RnVFV3VkRXT2EvNlpIYlpselRsK0MwN1ZtL2tlVHRtM1h2R3NSdjN2azZyeGczaHZsNWlaYVVsaHk2WGx5Wm1YNXpXek5TeVNaWmFmSWtWbHVmM1V5RytXY3BZMXRPZU1iYTBuOXIycmU3Ukh0WW9MWlp4SmRRM2JYc1I5UEQ1ZmRXMktOelhVc1ltMUdjeUVsN2FaTldNZXpHK1ZxeXlGVi8ySlpvM1ZycDVQelZiRmVhVjdXQW9pZzVlRmk5TkhPakZDV2N5cjMvNjRkMTNYTE9QUVZyaHpWLzV3SjJsVTdDc3luYk1mUlhac1pNdnZlcXFhMDRjWS94dGhsbDI3RGc5bnp6R3R2dHVpZktWKzZ5Q2ozaW1VZWhMK2wxMUVncGY2THVDdVFXTzNQL2J2dXVNSmFqUnl3b2xpM2tKVkRPOWkyS3AxY2ZrTFBjYTFPWnhOdVhJdFYrQzU3MGwvSXY0NjFEMjVVRW93azVsRlBhakJKMnQ3eTdZZjZLK2JobHl0V0tqUm1sck9oeGg4OTJFcEpRUGhIbVZlUE9YcUJuMW1FZTQrNDQ3ZWVINXUyNy9leXIvZC9tOGZkZnR2MC9QL2Iza3dWQVBwNGxLWDNidFIzWkR3YnpOZmZBYWdTMDdmcEpmSnppWXRubHQ5QlNjWnpHdnNYdHVSYTM3NkwyK2QrOEhvY0FLWVRmRUZ1SVEwbmJuaytzbWx4WjRGem14eWV0VGFneWk2ZXBKT3VsN2NhNVBHdlV1aG4vRDJkWnlIbm9sMURQUlphSFU1ZnNDemVoTlpERXZNSDV6WDgwTENwU1kyRVVhWTRsNEdhZDd6dmtMemVVejNzYjJucmtNMmJpbWVwRkUrczczSXFEUHZGV01UbHZrQTR4dDZ1Y0R2YlUxbzNsaDJPNmo5MEpqUzJxN3FaWUlyR25HYW1zOG9vamVXMTYwbnZ1WkpOUEE1WFJIWHZtazcxcGVwbDJreC9Ub0RGbjg0c0cwcm02NU4wK2QwYnlpZlRhdkFtUFNTUjlNbUU0TDNhWGhRSUs2YjdmbUhuVXcxTFlyekptTzY1dVR2ZC9rZ05ieVZpUjl3M2lzUW85ZVpVRE1DeE9lakFlT3VrTU5hRFNadThUZjFlNnJvRE53WlQwWTh0a0M5TDJVWGdXaldHTGUwZk9BaVRWNlBaZlBhbDZsSHMzWTBULy9BeWE4YWNsVmp2Zk5MR1BPV3d3Yk1YUExYMXNLeHhGdVhhNDlwNUQ3aXFCdlQ1T3JUMllQZVJSTExEajhJMmJucFdLU0Rrbldod0V4TDB4NFoyU1RtdkhBcFJ5TEhlb3hjOHNLUlRhNm9yQXZ0ME95c1VvcTZHdnRLK1ZpM1EzaVpDd3hZY3l0MnRPMlJCUU5pSG0xbUQ2YUdOSitUSUNkaUIxZ0FMdllmVjhUNXVVRXc3bDZQYUZ2THU3K0V3TmFKM1NOb21FOWdJZDduYk1HeEx5YVRLOWdqcmhUSVRieVk3RURuamY3M3d0S292eXByOFQ2VlpWM3ZaTytVMTJwOW80QTBNWk9wOGIweXVod0l0RE5xZGVBbU5lczNQWkM2d29teWRzYWp4Mm8vM2V6K3hBNjBYVW1KOUNhZkRmM1RYUWxPUkpvanhPNlJ0R1luaEZidlc0Z0RvaDVsZFcyRjNCcmFOL05RWXpIRHJScHY1Z0QzcnlrMlg0c3A3TlUwcmZkdVhqUFM4cXgwSlVtUjZWRXJWY2tCOE84ekxZWEdtNXR5eEFNTFhTWGdvUHUxUDF0TzZQUDZWNFBodUw2OWxtOXZPSThvZUM0bnZuTE9pVEpLMWJTRDRaNW1XMHZxRDJwdHNCRUV6WmlzY05rek54MkNFeG50bVZVZ0d1bU0wVnFDZlNOYjYyazB1OXlZU0oweFFmcFNyL2hualVkRFBPeXRyM29peDFuMjZnZWl4MTJ2ZnZrd2RCT0Q4bWdyNlAvTHB0UE4vRjI2SHAwaVZQcjk5UU85YXpwWUpnWDRoVVRTaDkxWDVRcXhtS0gzZSsrTWptdkhaOGJGbmQxMzZTYk5TWEs3ZEMxSlR6eWlBcjFKM3ZlNFJrTTgyclpHOHNJZnVZTVNvbllZZmU3cjhMNHRiT0RvWVMrcGluN2ttcWhMYXJpbWhqREV5K1RHUnM5Ny9BTWhuazFIWXNxbTEzbEtLSjlpSG1GRDkzeHZHay85ejh0RDRaVWhKS3ZndDNlTjhtbmpYdGlXMXh5dWVzOTcvQU1obm5ObWhFR0FCcTJQZEUreElLRkNyMXVQR1U5NzBheWlqcHdMZTVFOW03dm14aWR4dThyM1RTSHg0bm5tcnhrQ3RDcXVYQXN2azRzZXBwWStOUnBkc043azNMOE9aM042OXo5NWExbmZWcHhpU1B0aVZ0THg5OUdLbHZYdWJQbEcrSjVVWlRNblhqZkNmYlNYNG1peDA1cDVuTm5TeDVXWFl3RUlMcXVIVVZsWjJONTJYWlB0QTloYTBTdVpkRVdzUXRwZVRDMG82T25IUHNtWDdpYWpOaTZic25UbG0rVjJERytXN2o4ZEJwYjBZU3VJL0h2ZmozeDVUQ0cxa25Hc21yUzBieitUVFRyclZJMWJsNUhTV08ydldhcit6ZklZR3pyeit5OEtFcm1vclhYM1hHYTNUaHVYTTkzR1R0ZVl0c0xMcXY5OUVpSkhXY1gxaEd2cUJGR3BSWDdxR0lTZXRvczlLcHgyODdZaGJROEdNcjZZem1PQm5GOW5VTG40VkhSQTliZmVQYzc1TEVIRExNL2pjYkwxK1BRN0psWWtmMW9oNEt0aTNZSmp6dnNnY3NMNit4MzFxT3hqMmNkd1ozTTYxY1plL2FidnYyVkl2dGRVU1daMTFqeFJYUFFtQThKcGNqL3N2T2ZqZ3JmZHllb0tKazd6aDRuVlI4cGxmWFU5U0FCVUhpQWJTZmFvSVFEb2xkSEUrV2JzVGRqSHlGUHFsY0xpVzVqcjdlOXFOSzY2UE41U3VlOG9HKzJvTTMzYjdLeTExV29zcDhHOVlHTEFHZ21oYzBPWGF1eDErb3hqOGM1djhwRTJGK3poM3VjeUhydVlGN1lEWGt1VVJWcVd5dWNtc3pyczQrdkl3M3Zmb3BuMFo5UmFSeVBPa2JpeWEyZkYzS3dhVFFsdVBGcmtoK2oxQ3pyNUx3QkVUWG04SGxvc3ltWStOOGgyOERSMDA1VEsxbTd6eEtZTzBrekhDNm40b3hDb0crMmJTL1lZZnpLeHNnVmVVeUdFNlUzbGF6dVN1cG9oYTRQdXR2VnRNR290KzhWWTFGK0puOVVIMHVxRXYrOWczbFZWUThXaW1MOURmTWFLNjJSRExoVDdVcndHM3huaE54bGE0dkVrM3RVRDZHR01xK2FoQm0ydytVS09mYmZ4K1E0TDMvY1hSeU8yb2ZhUlVzZFlxNWw3VDY3cHJ4cGRUQTBsNWN4aXFCdnBwaU5saWo0NExaOEh0L2NYc1Z1b0wvWHJXV3VEazVwaGhNM3IrMElMeStuZ2NKYjhZMVBNVGJ0eWovb1JMeFVOcXBmMHkwdXVMUWRudnptaFVyUENJWTNsc1NFRFBNYWtyQTBqRkYvVGxraHZSYXpwS3J3NUxaMFBEUWt6UXRXSmFzb3hrZU5sQU9JcG5pU3hySGRHckNxcXZnK0JJcWRLMVAzWVp5OCtVZWRyaFVqMzU5cWlncG4vS1ZwdVdEY1RDdFhaVjlqRitqRHplVXB5b2p2R0NpaWp2Y0trNEhoUWRTMzNwR01UdGlzNjR4TE9KbDQyMnREOWNON1RBVHQ4c1NlL09hbExZaE9wTGgyTUsvYWd1QkZiNjlJS1dYdGxCQ082RjcxNU5hMVFSeVZOdFBVUmxycEVJeFVtUHppMzk1WXBvb1JraWtGK0xhWEJSQlBia3J0dXR6aytpL09UYzlkWnoxWU9GMnhXTGhMaFZSTXNjNVVCcnFvdU4wbXN1b2kvWFhXeHBUUjVZTHJrek1NSnIvRURHY3owOURWMTRKZFFxK2F4bkVvU2xQRitpbFRJL3h2cXlJc2t0cFJ6NjVScGZnUTdMaXN2S1Y5Q1FLcEZabUo3M1BVUXNxWFd6YmhyRkFNMDRzS3VhRHJrcEppM1FHUk5GaVlrN1pPSW9ETnR4VWh4UTV2dWMxY3I4Snp0cGJUb3FEVEZYdS9UbFZtM2N1Q2Rjbkt5cFFrZlJjelVCNlI3b0czMUx3aGs0R1RTTkJ0WndRcHpEbjFjTFNPbFJHaGR6OXRnc3k1NGpmc0pSUVZEU3RUQlhSU3ZzdVJlUEo2cjFVZDY3UlE2UUl4bFl3NVRPcllmdG1hbkdHU1UwSzZKN2RnT2FncUo4UDBPeU9WZ2JXb3BNemhOd01SRE0zcGJ6d3ZLVW9kTzhnTU1zVkZWYWp2djNIMy9kZlFLc0c1UnRHbUR0Y3REcUh2WVZWd1B1VXJTOHNqZmR0cEJMSnNWYlI0Z28rcm8xbDJKSVkvK1lFN1Q4NEo5bGs5N29HVkdzYmVXb3ZhazN6TEhjT2d0dU5wem54STlVUGQ2Z0ZlWWxkdTErTTFyNnFHWUJKb3JCRjl5ZGdBcHZONXlxSWczMUpkUGZoeTBVak9RWC9xM0x5YTJnVlMrS1RYQ3BxS1ZwVEtIVUtpNDZYaCtSWVZJU21vMG5UM2JudnhTTnhYaDgyWkw0M1JSRmZxeE9PVFNQcXUrd3BpZVZVeDRnNXhyei9xaks0WXBYcGNKWDJFZVZrdUM4TXRiZHZMUGtLYmpkZFNqL2ZMa1BJU0pyS1J0VnVWSzMzNDNXZGVNQVlGRy9YV0NoSEN2Qlk1QS9lOFV6d0pSNzhwODNCclNDWmZMaVF1S0VvWnJDb29rRjMxK1c5QTlLUmtRZEsxRGNzMWI4UThXOXpjdUlqQ2FhaHZxYXBVNmVYZUFESzRUdVdVQVgxTm5OQ1pkMEpHSFFjNUJrTUtpYzRNK0oyR0UxQkhFTUFCS0p0Q0I4NmtjQUZhNlN0dyt1aU1ZVEROc3BoekJyZ3JYTmpJc1Y5MmhWcVZPd1UrODBMd3BPWnI3TzM5bU5PamY5cVNFYk9XMExpbDUwTXFxVW1INmN1MVBkckdHUkNqV2NiaDEzMklBeUxWT05kZ3dXM1ZXNDk1dG9xLys2REFQQmo3ZU1tRmdWN1BaQlFOZmJQWXlxaWNGaXBjL3FUb2cyNVZ0TlRjaGE2WWw4U3dpRk1wZkJRS0xzanlEWGNNazhOUVJtcUVUWFVTcGl0M0NIem1CWlYwZTQ3ZVBzZnBTOGFuYS9OYWRsUkh4L0s2dmJsZ1YvWStzUTZCV0hrWlY5eFVvODdXeklJSThjcThYV1NiVnpIbTJjRG02ejZZMTRJam91Y0hPR1M2MUFTZVZWNVJMMWhTT1Fvcm9yaStTZmNOYVd5cExQUmF1UFEvUUh0TjBsYmlVWklyd3c1ZG03d3VxenhoWGhqeVcrKzJDT3lrcnR6T2pIem1oZTVXamtQVFFtT1YxdVpWZFZSdlNZL3N6YTJqSjM1cVhVbkE3MElhQjhuUGRlWk1rVXlod2pXWm5JemJobktmS0lkY0J4WFU3bk1vOW1KVFN1MzFWa1BWdUtieXlRRkh6Q1drOHBlNCtKcXZTVW0rcG13NnhZV3F0S2JtTTVYaDNnR3RJWjEzeXhDMHhGUWxZMlRQYWNmSXhLT3EzQzMwbWRkc3JNdUlRLzBBRXBMYXZGRFhFcFdKQzVyeVFlYk5iU0dYYmYrbHRxSlZlMDZybUlsWENlUC9nRXc5YkZoeEdzOHpQK0ZpeHc2OENOVTQ1aVpsWUJKUTB2cDFwN0FVVjdhZVY1V1N2cTVCbmxORnZ2dUVDSGdiOFduTFIwc25vYUxwNkNBOU5WU3RJTVREQldoMUtOaFlGQVRqOGg0VjQxRFNzaHpYYzNRM1doSlY1VllXa2o3ektqTTI3VktSZWFsb244eUxGeE5VYTRZT0R1a2ludnk1Y3FHbE5WdFc2MHppYnpseWhFUlVvdHRkajl1R01TK0tIUllGQi85TFU1YmJmYUx3Z0pGbVVmZVVsRCtXazIzZVVqWEY5Y1c2eHRkWGl2eVFDSGpMaWNsRUVUajNvbXg2eFJxN1hiWitBYTJPSmNwdElhMGxqSlRPcjFSS1ZxTitIK2k4cEpUWi9LWXF0L1A4NW9VdW1uR3B2T1pGSnRNMmROSWcvTGtVK1BOcmU0MXo0SEZiLzJaczBmR0NRbUxGZ3Fob0JxTW9MT3Qyazd0dWkweitsOGJYb3ZXc2twTUdSWlhWOHgwakg5ZVpYSExpK2xyZkZQcmtpUDg2VUloUFVqNVM1S21tMTB4d2crR213MmdmVjlGeXYycXRWVmROU3BpWDNvbU9yekd0eXQxYWZONExvRTI1VkY3em9wSFlOblF3TDNKdy90eG92QVJxdXNTUk8wYU5mVzNOR1RraVZUTVFBYlluM1dManZTWWh4Uzd6Ym51QllDUG5KR2JMN0pTbWx1WjFpcVR2dWkzd0VIbjhqbGVUZS9BSlBabzZFbElCNW8wMkp5aWEyUWZETGRYelFaMU56b00vUDVDSmt1cU1ST3dWVGFoZVhGUk02cTRyVnhuaTdqRXYyb1NjZDZtODVrWG5ia29Ua01POHFLZjl1VkdrWDQ1N1BvbHV4Qlo4bE9kY1JRTVJOSThGT0NYdFhUZGlIWnpvUGluVUh4azROZVovZ0k3czVueHMwRmNIR1p4ek10WTBWNXo0dDBSSGpBbTR4ZTRUekoxbllKV3NmU3FHMjdSTDVUeFJKRFBsNU9CRVZ5dVlXRG1pVU5wWFFtdFZlVXhZRCthRjdUR1BlZmx6VWVzalZkRFRSU2JaNkdKZU5rVFFmTlBWMnBoWFBlYlpLakZ6VTN6K3lFQ1Y3dkMraW5YNlNqNWU2S3UyRkFYajhuU0tnSUlZVjRmaTdmZXpxUGlTYkdaSmtrd2FTL014a1FOZWpCVWMxTE9weDd5aThWOEVTM3lNUUlLcVBDYk1ZMTYwMkkrYnRDKzBKei9WTnVJUTJ0UHM3Yy9sWkYrOGp6VGpuZ2N3cDY2R2JJZ1FyOFRVTVJuRm1HZXJ4Y3hOcVpkRVVaWDBjSWRyU0l6aUx1S2dyN3NXS0MrbWNJd0l1enFjemJ4VWZFblI3NXlVV2pHVzVxc25FUXFDYUhsVFVTWjI3WG5CZDk0RCtYYkg4MXhWdWVLVjl3N21OUk1qODVrWGhkRnJoZzREaGR5cVAxZVMvZmNzZUNpUXFuWHBHUnVpVnNJMnpPUU5jUm9OcXFQcWx3dHJiVk94ZS9Yd3ZoY1hoREd5NUVycytnUjluYjJrWVcwSVB0YURZbHdOdVR3K1NzcFQ4U1gxZ0tLcE1YbU1vekxjTy9wTWs2cVM4aW1WcW5jWVBkOEZseWFTeEtweXhTdnZQdk1xZXlac3o4WUVtY0NhRVFkVmFiZkZuNnZKSGhBTmFuWlowZGdRYmNSdEF6UG5HU0V3RVR1VVl0MG42OFVrc0s1VlVJbGUzdmNpR2RpcXBaR1M1Nko5RTJma0h0YUJqay9Nc3BpNUp0TTl2ZUtzU3l2RS9LSDNkSEpzZTBreDQ4WWVtekZQcXlvaTV6Q3ZIMFJDVlI3TDlwbFhJK1lTaU1WalhvVFZraEVIODZLd3dwdGJlSkdtZzNBd3JWcjdEcnJJU3RnUTFlTWp6THd4UVZhNGFMRWx1aStLdm5CNis2OFJHWGk2RVdiYjZkSzdrcGJzUkxLaXJUeFIxQ21EOUQxbEYyNVlTL3pDcDY3ZWNuY3NpOExuVHNhOVNKeHk3SDNsbTlwUlVWcXVkV1NNT01kYW1kSjNmKzRYaW9BMlBrS0dUTnNyVElkaFhPZlhLODFSdzVSS1IyN2xPbHNrZk9iVjlBUkdIdk9DeWRsOXV5cm5KVit1OVQ0Y1ZEdkZsNWxXdTJNNjRkR0dxTWdINDhUSE5CVjgxcEo0aU85REpMb3ZlZ003ZjVhZFNiN1dTM1ZBMHc3WExicXV6Z21jOW1zbjBabktMU0Y5MSt5czhqUDZDVjhRM25DYVhaalRHVFJTK1VOTG5TWEtvamdsbnE4clhvUXBuZUlFR0pyS2FDSEJXTWdiMk5hMVphYStMT1NreFdRc1VUUGhaTXUxdldYR0YvMWdoTmg1ems5cHQzS1ZMZTgrODJvWi9UUzF6N3htclZyNDErVFRSTzdMbmJCQ254S3BodG5LNDArSVhWd1dSSmdLYVlRZE1Fc0JjNEE0aWU1U0xIUlBkTjhJZTN3bGV2RENSaWMzYnpQblREKzhnNThmSjMzdFdWcTlrNHFxQ3czMjRTaDYwRElIakRIaFNWcTJDL0pRMXZHNTNsajE5NVRsQWx0bFV4aHVUNmxtUGNvdXpvRk1qVXllRFhXTWZmT2NNVGF0R1BBZXZyM0toU3c5bkN5L0VxdGNNNHVFejd5d25qQWVNaHJtcnpyNHpHdkRpZEhxY3E3dzVVN0lnVVYxMXNtSDA5NmFoZk1iclRUWHk0SUl4a1FEcXJYSkMrZ1BHcm9pSGlwV2t5a0hxMWRiYkZRb2NtZFJMTWRSRk93OS9TMXFMYktMZ2I3T3FOb3d2cXpKZm83azFFMU9wTHpXcXVsWElvbFRmcFdQblFQNG1GbWdDSGlVQjhKd215WVdYT05zcTQzYmlEM1FLSmFZb2tKekhiYmVMTkZ2RC9MaVZSQXJPcWJkUmJ4eVJTSHZQdk9pZ05tUWlRK0VmT1lGTTdSc3Z5amg5dVZPNkZZU090U2locDdncUtaaW0vNWFsd1VSSE5rbVNwcnp1aGc1TWwyTHhRNnJzZTU3V0FDTjdCbk4zYWNFcG0vVmlka2xRbC9iSWVBTVQvRWVrY2NaUThiZHdOU0V4MjdwOWhKMW5MSlE1bjJOQVNzdEYwYWpQRDA0ejhnYWF1eDZuaXFyb2NsRnFRbFZFdEhjczY3VGg1M2o4R1ZkQVp5RE9rQktWSzZaUmNKblhsSFJmZ05tZ3pyWEY5clRLWVNhNUxrL0VzajVjaWQwZ3ltcXB4YXYyajF1aFdaQ0s1cmRGVVR3U0ZQSWJTeklJdnZ6em1xc2p3R0IzWDFSV1FTSEl0N1QvSDFKMUp6eGtWRWs5TFczdlQ1clpyMjYvSUx3cURWeHFMTXZHRW5iVkJDbkhPS3hBdzFZMVhRREN1cGJFcHdqNnMyMFpSTTJKV01KMk81RlV4UEcrTHA1bWpXOVBhNzdQVm01WWFDVTE3d3F4cWRDYmJJR3IzbGhsMGxaTVkrbXBDdno1RTdvcGtkUmhidGZlQ0F6K0E5YmJhTEtjSmwrUUxOT0lhTzBRdG44T3FpbE1jZC9jcDlvZHgrK0Z1Y00yQ3haRTZ4OSs3dURYUW5VN2VvN1hOSVlRRVBSUGpnaDFWRGtjZWpwVzhSVFd2RUVaVU42NW1WdHVRMFZlNEZXU1Z0V1huRlZKU0FSZ20wRFFvNXltTHc2alBFNVhTL05OMVB5NllEK21qWlp1V0dnbE5lOEVQbG90eVEzL255VFk0U2RveVVsYmxWM29TY1hIbTFkRVRaRmk4dFdRRkhSOGFjaVFtTmtlRW9RTGVDODFoZ3lZaEpwUXpTTHoyZ1dKRXF1dVMxTEYrZ09RNXRoeCtrS3M3eEFWaW11dm9XNkdjVVZEYmlCZEVnaGlzUzByaUpPQ1h6bWVHRk5SeW9WNVlLYTRpQUZ4YkFVZ0VpWC9RTWRHMmErRTRXZk1TWkVHVVlYUE5UWkt3UVJ4VGRySXVtcFhOR0l1OWU4YVBOYjZJd3RCT0ZadEtJOGZwNFd6RkJhRzBaUittamVsSGd1Y0QyajZtMkk5Y2RubVppNGtGMG9MYXBDZmJjaEloc2VmVklYd2Y5SitaajBqRnlVa3lsT0d6cXNPYWY0ay9KaXBxalgxRTUySmZoMmkrV0gzZ2x0RjZVaVphMjNhUkU2ZjUwWEkwQlhrVUtFK1g1YThnaktsaHFteXBIUStaOFlpMlROY28yR3IxQWwxNlN5UFR3M1lySEU2OEN3SnVub1ZyWFJyZWhPSGRPemg2ZHlpeDFKdjNsaDBYMnpwR3Z3MzVpZ0kyYkZPR2xjUkZPRms3VFRvQTBvbVl1R1NtZUVjZlFUTGdoWmFoNDdvQmU4cWdyK1F5bVM3Rzk1azF1NmNmVDkzVFF2SzlTZzFZemhpYjZFWjRzT09xM3gwb01XcEJaNUQ4bWQ3RXBFWE44Rldlc1hNWVQxSU1hNFVQbkdLMWFWNGFBZEtxeWlFZVJTMWhXTUpkMEJtR0RYcUpibTQzb1dXdGJlY1ZKWkhGNHlnQUo2bG9xaTc3d0R6OG9LdVpaMWJjcDRQQ3gvdlNTS1hxdkhpS2R5enFqLytNMkxvcW9WVG5OSXZJcUZGdXBtMVV4cjhmN1BMd2hSRGUyOE1KRWxjbWtjclFuQ2g5bWlTTHhXamQxQ1dabXlLT0IvRlVUTFQ4QkZMc0UxejV2Q0JnSDUrWHMrVW9SVXh1NzYwSjlRMGRGN2J2c3Qvbnp0aDk2L0xtaGJha2lzYXVNMlFucExXZTQ5bzZCelV0K2Z1ZTNlZSsrOTUyeVo2NnAyS1E0cVIwVTdObE5DSWxKeVNBSTlSUmpGS1RIdU56azl5SmVVS2swZUczMmQvWU4yZXlVOWM4cGRqckc3N3poTEtteDk2SGJvYysrOTRqUHQyRUo4d3g2c2hmSXRRdjdYZFZkN0sxZEs4SHNIODBMa3plMTZ1QXkzUEh6YnEwcWt5VnR1VzRuK1VYVGlDMjc3SmM3K09XbDEvNlBOaDdJVHVRQ29JV2EzNGZKRnpvZ3BFUytoemxHNkpuOUtRdWJMbTRCb0ZKaVJpeDVXSVNxVmxnaElQdmg1SHdrZnNDelRkRnNRTXZUbjRqcXVGZm05LzNVV0p0bkVOU3o5ZEZMNWpxWnlWSFNRT1M4RXdrOEp3NkVZU085RHhpbEJKZWlSV0ZHYWpMUHRkdlNGMHN1Z3BoQUJxVk95c0Nsa1lmdkllMW5PbitJME5jRVE4emZacytmUWJmL0J6dVBHTDIvbHNremNPcGdYZmdDT1BlOEgzLzVlOGNJNlA3dVZxclQxNjdDcTRnY1llODJiSG5xWC9LMHVKVHFlTzhHZW1DaTlFRm85VkZWOUQzK0RVNVUvK3BlSFpyV3JWZHo4TGlIQ2lLSE5xeStwamtBWjNCbVVtbVhIanArODZxcHJUaDRUWGROVXp5ZEs2dDNYcWhyK0RkdkpPN1hzOEtGbXVZcU1JbDdwNjgzckpYTlZUMUtZSms2SlRBekpCVms4S3dNS1BNWXBFWmN0Y1NyblY2a1FvcGZoWTdBbW1PZUZvRkt5Nm1LaVBVUU9JM2x0TFhKNitXZVVLVi9BTS80VlB3bDFBcWErcG1qOGxhdFN1bmN5TC9yNVNsem5sMEF6anA1NzZWWFhuRGlHN1plTnJXUG8xSlBIU3NxdVlWbDBmWlNFbVN1V080d1pFYStySGtlYlhtMklqcFE1cTNNS1prbzVSR1JWK0JXNVl4b2RQR05mMFZDbHBYUWdac0tTTlBMc1pYQUdPaGpLenBWQ3FUV2xyU2hsQ085NWhlTDQ1dm0yU3NZcEo1WFRjdVBMMTUzWWZqdE9PcFF3VFdYYnB4TForVDdoaG1MUjUrOHJiVjM3R2tPdnhicVZHNExPNW9VZjN5M2Q4QmNyRm1tSDVPZlBsbzYvcFIwdmRIUDVHeE9QM01lT1ArdS9iTUt4UDd4NjY3cDMyemwyK25WWGI3MTluVEltYnQzK3NGVndXRGtsSzgrWGhKZmI1UGwyV09JanpKMVhVVjRoTjZlZkFRb0tUZmxXVkJybUNVcW9JbVQ2NHN1bVdqdXNLaXFhYUozNXo2K1F5aTNaKzdrcTA5eFRLK2RrSGIyWEVYS3BwVm82VEUzWERMUExGS2V3dzVKMGxteWxPTXZSb1hZMmppNVVXbE42SnpEVk5TY29OYjB2dnB4VlZxV3A2S1JGZ05KRkpWRmMxNnRSTDdrVzY2dWNjd3lnZWRWVWRPSnRzc21FVlMzeXAwTXhIMjlJZHBaQ1NNTjNhM2JHN2VHQ3BxZGs5cXlPd2p4MGZHZlBwVnhXeTdoWlQzeFpWa3VDWlQyWkk5cGY4RXIyWnJhMFYvVVdwMWJPT1FiUXZNcDZ5OWZiWnAySlRsdmlEL3luZmtkbWRFR3ZpYXFhYzNvVnBQZ1J5eTJLTkpiNjB5clhkMDlRTHF0SW9VeU81bzhkSGdpVEs2S21Na0tFWTg3T2xrT2ZmQmhWSzdoa0VlV2tWUzQ0QnMrOHh0S25Ed01FdW1LTlA3V29DdzV1bXBMZVVuQUFhbDNUbXlETkxiYjI2Rkh2Qk9zeU41R2diRXBkWUVwTDJMSnhxQUdBM08ydktDUEUwVTRlM2J0Z25WYTUwR1R3ek91UVdhVTdZQ1llMEJWdG5zbVBIaXRUQ1lJZFp0Unl6UytaS3RFU3JUMTFQMk9jc2lMUmdLdWVpNGJkdUUxdmUyRURTMjNzTUxsVjRaZWV5SjFOblNuU0toZWlCcys4V3BrQlV0NnJSQkZFYlNHQjNjNHlFQnozZDFjQ2FsUlY3R1VPRGpzb0Y2ZFVPNThIS1lvL29veElNT3R0TDJ4M1NKWHpucjZtZzUxV3VWQmg4TXlybmpxZzdGNlpGVkVzdHBLbThjYml1bDNVUXhxcjhma2UyTDJzNmo5bkhGRnZaWG1wS0ROT2VVajZKZjRXMUlGbkhMNldkblVUYXFsYnk3a29HVkhUcXlOWVBhUlZMbWdHenJ3SzdrNnlhcW52dmlyc29FSG4zc1BPL3JPUE9tTWU3VXIweTFKMWxZZmxGTGVzam5CMVNUd1JweHdUaTBPOE80Szlrc29aaDN6WkxFR3FJazdBZjFwZGNVaTZQcFRUY0V1clhFZ2VPUE1heWJqcmhlWWQ0WjMybWZNYjhGNkhmOUlWeVd3RW1IRmVuSTB5S3J3L0kyRlVLUE5mT2RTL3ZOeVpMMEZaSThNWkt6NlhWb1JWSkswTDQwbzlQU3k4MW14dXg3dVJ1ckdhVXJtb2VlRE1hMVh1TmlqZzB1NE5uRDQrd3M2TXdzenNOeTdTV0xxVzVkaVZHRWtiK1c1RlgyVS9pK0ZRMmxweXN6MVBjY3BSZkI1V3FGMk1HcXc5b2crK0JaLzFva1dodUxVV1JlOWtOM29rcG1ZZFN0MG9TYWxjU0IwNDh5cTZxNk5VYkk2dzdiUDBBYzRzdTFPL3JKVEswTDB3ejY1RUs0ZkhyTE1YM01lMkZyb3JnSzBGbDdMR2JpcHV0ZkhiSGhlSzF6dnNtREFOVm5qWC9xNHllNkZEa09taG5McU82Vmk1bEQxbzVuVTBWMno2eU5YYmY0V0dUbnh3ZXpFVGx0MkpFTTlrc1FFdXFEN1RYWjZpS0h5aXZQMjJPZldVZG85VEZ0NVJ1bWtORE44di9iekZkdlFlL2pyWFRiZjl1Y3c4ZDVxOS9MMFdRZGJrYXVwS3lsKzVrVDFvNXRWS2pRVk11M1lwaFYySnpEUGVXSFpEN0wrMk5TWXY0OEIyVnNtNGZtOTVKL3lEWmw1VmQydG5KMDN1aFdjMXg0bndrUGw4cFpjcWQ4YUwxOTlPOHBmaGVzYXIxb3VCRHBoNUhWTDdqenNEdlZldVhMc1NpWCtpMGx1R0o4QUFBQVBDU1VSQlZHdnQrOE0va3Y3V1JMcFNBMlpldGRqaUtMMXhmUzg5a0gxWEF0c2lUL2U5L24wUldIOXk1OVVPbG5tTjl6S1NkZzZTNW15WWpVcWQxeW14blA0eVN5ZTJTeS8vU0k2dG9MajJyZjBNRU9MS2RIMnVwSzZTdTdMM1NvRDNHVEo3Skh5NmU2clgraTRSL3FaODcySUg2b2hmVHQ4QjQzNndGUFp6TFlZR1kxZGlNV3U3OHppNnJETDNpVzdNK2o0aXB3cmp0QzgwS0ZmaG8vdXFhWjVkaVYrenRzejNWZWxRK2FBZ2tHTlhnajQ3N25sTFlGQndDWHIyQTRGQ09mTzdFdU5sbUpmN2Rrdy9OQWd5TG1NRXN1OUtjT3RpODVjeEZxRnBmVWVnd1RJZVNEMVNndTlpYkszdkdnU0JseThDQ0tmd1JVajNxL0FKYmx5NXZzanBMalZRWE9ZSVpOdVZHUHR5V1ZpWGVydjlNa2NsTks4L0NHVFpsZmpHOTI2VnRvWGJ6dmNpKzZOd2tESklDT0RYRkovLytrN1hqLzd6Ny83Z25yTWk1RklHbHVObHIwSENJZWk2R3doZ1Z5TG5sZm10dzkxUU44Z2NMQVN3SzVIeldoK3NCZ1p0OXhPQlJrN2p5djVTNjM2Mkt0UjlhU0JBaHp6NXJoeWZjVndhVFF4YTdCOEN6WHkyQmVycC9WTTIxRHhnQ09EM1ovSmVpd1BXeEtEdS9pR0EvNUtROTFyWlAyMUR6UUdCZ0VCQUlDQVFFQWdJQkFRQ0FnR0JnRUJBSUNBUUVBZ0lCQVFDQWdHQmdFQkFJQ0FRRUFnSUJBUUNBZ0dCZ0VCQUlDQVFFQWdJQkFRQ0FnR0JnRUJBSUNBUUVBZ0lCQVFDQWdHQmdFQkFJQ0FRRUFnSUJBUUNBZ0dCZ0VCQUlDQVFFQWdJQkFRQ0FnR0JnRUJBSUNBUUVBZ0lCQVFDQWdHQmdFQkFJQ0FRRUFnSUJBUUNBZ0dCZ0VCQUlDQVFFQWdJN0MwQzU4Nldibmp2M2xZWmFydGlFSGdEMjdxMnpONTZ4YlEzTkhRdkVYaVVYWnlMeHFwc2FTOHJEWFZkSVFpTXM2MDJtanJDbnI1Q0doeWF1WmNJMU5qMXZMb3lDNzhFdlplNFh4bDFqYkF0OGErRGxzTy9OcjR5ZW54UFc3bk1uaEwxcmFyRW5sWWZLcnVzRVJobWJFRTBjRExiUDBLK3JORUlqZXN6QWtQNkgyWlBoditBMW1kc2c3aG9tVDBoVVpoa0Z3SWVBWUgrSWxCaXowaUJxK3g4ZjBVSGFWYzhBdU9NVFVrUW1zRjdYZkhtMEc4QUR1dklQcXF6eC9zdFBjaTd3aEdZWkhvenRhcWpzQ3NjazlEOHZpR3d5cGlTeGNLK2w0SWkzUHVFd0lhTzV5ZE1GTlluMlVITUZZL0FzZzY0RHBrbzdJcEhKUURRSndTYTdFa3BxYVgzVi9za09vZ0pDRlQwU1ZBOXZKQVR6S0hmQ0V6cTVTSUxMMHowRzl3Zzc3Q0t2VWJaZGtBaklOQm5CQ2FVVmRYWVMvb3NPb2dMQ0VSVjFpWVVqckx0OEs1cU1JZStJL0N3OEZxeklmTHFPN1JCWUJRVmlsdHJVZlJPZG1NQUl5Q3dDd2pnWGZ1N3l1eUZ1eUE1aUF3SVJORzUwK3psNFJQdHk4OFMvaDllUmlnbDYwTm93Z0FBQUFCSlJVNUVya0pnZ2c9PSIKfQo="/>
    </extobj>
    <extobj name="334E55B0-647D-440b-865C-3EC943EB4CBC-41">
      <extobjdata type="334E55B0-647D-440b-865C-3EC943EB4CBC" data="ewoJIkltZ1NldHRpbmdKc29uIiA6ICJ7XCJkcGlcIjpcIjYwMFwiLFwiZm9ybWF0XCI6XCJQTkdcIixcInRyYW5zcGFyZW50XCI6dHJ1ZSxcImF1dG9cIjpmYWxzZX0iLAoJIkxhdGV4IiA6ICJYRnNnU0Y5a1BWeHpkVzFmYnlCTVgyOGdjVjl2WEc5MlpYSnNhVzVsZTF4SFlXMXRZWDFjY0dsZmUyOWtmVjU3TVMxY1puSmhZM3N4Zlh0Y2RHaGxkR0Y5ZlNCY1hRPT0iLAoJIkxhdGV4SW1nQmFzZTY0IiA6ICJpVkJPUncwS0dnb0FBQUFOU1VoRVVnQUFBdWdBQUFERUJBTUFBQUEvaGNuSEFBQUFNRkJNVkVYLy8vOEFBQUFBQUFBQUFBQUFBQUFBQUFBQUFBQUFBQUFBQUFBQUFBQUFBQUFBQUFBQUFBQUFBQUFBQUFBQUFBQXYzYUI3QUFBQUQzUlNUbE1BemUvZG1USzdkb21yWmlKVUVFUlY1VlRoQUFBQUNYQklXWE1BQUE3RUFBQU94QUdWS3c0YkFBQVdIMGxFUVZSNEFlMWRXMnhreVZrK003Ykg5bmphN2RsRksvWWh0SGVpRGVLU3RIY0dBcU1JMmlRcnRCRVB0aFN4UWdpbHZRd2c1b1UyUVJGNWE3TU0yUVdCZW9Zc1NKR0E5bFBDNWFHZFBJUUlndHFRRUlHRVpPOHU3R3AzaWR6QUF4ZWhiWStkRER2WjdCWmZuYW82cDZyT3FYUHFYTnpkSGxjOTlLbkxYLy8vMTNmcTh0ZGZwOC94UEJkR2hzRDBCMFlteWduaUNDelcvczloTVZvRUZ2NnJUaHpvbzhYOGdKQmpCL3BvTWZkZWZ2UjMvOVdCUG1MUUllNlNBOTJCUG5vRXhpRFI5WFFIK2hnUUdJTkkxOU1kNkdOQVlBd2lYVTh2QmZSS2JaQ0Jqd005QTFobTB2OGdtK2JDU0lrRFBRSkpqb3l2RXdkNkR0Z0tWSG5qZno1TUhPZ0ZBTXhSZFI2SVgzZWc1MEN1UUpYNUs5Yy9PZU5BTDRCZ3pxb085SnpBRmFsMk9rQmZxR01tekJiV2k2Qnl3blZQQitpTDJRQ24xTGRQR0xnaTdFOEg2SmV5Zy81T0VWUk91TzdwQUIxYVpnMlRmSlo3T2tEM09neHowNXhSZWVPdi8vZnp0MjdJTitib2hIdHJFZmFuQlBSekRNOXZKemUxOG5PZkRsZmMzV1RhY1pabUJQMDFjbmQvSE9wV09KZzdhY0lyWDJ2dy9yNlVSanErOGl5Z3p6OThGUTA2dW5aNURPcnVNU2hYMGtWWGZvMlJmaXVkZEZ3VVdVQS9SNDZ1WEx0NnBUNk82WEthSWZsTkc1eCt4aDhXOTIxSXgwT1RCZlR4YU1pbE5oanF1elpLelBxb24vUThXR1VheGZ3ZXBpaDVha0R2czhhOW5kSWVWanhIaWJlc1NQTVRuUUhRTHpMUTc5cUI5TStnWHJZanpVMTFCa0QzdWd6MUxUdVEvcDJRNzloUjVxWTZDNkJQTWREZnRRT3BVaU9XZzhLT1g2bFVwMlpPOTZBcERVZVc2eU5PYU5aTFJhcEVacWNIZEsvdGcwNDJMRnZmbVZ4SG93TDZWMW16NU44UGlTYkttWWlMN0JGZUx6QVZiRDFaODJSaUhZMEs2RjBOV1NTREptcEZJd1JiaUJLdUFOdFpvL1dXcURscFZ3WDBwNjlGd2g4TGhjY1B1amRrT3J4ZnFKUnluUnJIempsRkoxYXNnRzVWWTN4RS9wYUhFTnY5L1FMWkhwK3VpWkpQRStoZWpYVjFXeXc3SzRsTkgxL2hxUUs5ejBDM2N3VjQzdmxKZFRRV0JiMUdybHg3NHZMbGg2OWVJYjRIY0kxY2VTOU5YN3RDamt2dlN2eW8xSmJ4Yk14RUJIMnBmcGZoTFNYM0NpbzQ4MHR4WVNPZGEwSFFVVDBJZmh1Q0ZDTHAwck5TckRIMnE1YjEzb3pReWZvVzdoWHh6eWhZR0twWlFiLzRtZVBmazV2eXFZOCs0d054OStaVGYwSHovNEduajI4KzlVbVpycHc0ZHdVVThLb0lmY2tqbnkyczRNdzFlcWhEdzN1cDFjY1RGbk5hUnRBdjFuL29ONDQwUTVsdVd0N2FEMUdsUnNiOW5UQmRZbXlCdGhDaEVIZXE3MzJ0RFhsMXJQd3RWV2ViVi8vS1I1Q3c2QkVaUWUvaWFMajFBNnFLOURuVTIxSVduWGxYcEhTWjBSNTRJeXdWNFVuMTNTakNRS2tMWnBKbkRYdjZZRHVwa0NrSnpFdWJTa1ppNGtVeThMd0RiUUdpWXg3WlFhQW5hMXRCcXR3SUJReWgwRjZUNnJ0Ym1sb05kZU93eHV5SlpQYXphaTlOSnZacTlCbUljOXJvUGtBajVIcTBVZXR5Um9seDRRb1lGT0NwNjF1QUZhcldWTkNuVTIyaWI3eng4UTdxL1AzZmZNTk84THcvamN4ci9YaVBxSUxLYlpTbVdaUDR3ZFlWb05YMms5QlhtaERpS0xMa3RWVFF2VWFLUVN1WlBIWlRUSS9zUTU4NVpRYjN2RFZ0SGh0cU55RkxFMUpwTVRKcDBHYTQxR295QWZRdE5EM0p2TERDYWFBUGxWR3YwdExVSW4yazRnbnNZK3AyODNxbDdpczdwNjFqRFVJVU02bWozWVNvNENJNU5ZcDVwb1ZJbDlZZ3hQTDRTYThabDlaQlArZDN6RGpLZkhuY1F6MnZIdmxXQU1HaHpMQldhcU5rempUK0VzUWhLTGRacDBsTVIvUk5wRTR0MUVHZkxYazk2N041NVlLS01iVVFOMlRka0ZadWdseFdQTTdueEpTWk0wRU8xWGNwb1R4amtRNzZRb21XRVZWbGpWbUdWZFVLcHhiaXBxUXBSYVhFUmttY1dYUU4vQkZ1Undvc00wcTJhSFhRdmJvTWhxVk9acklLWWFjQ2ZSVlQzVUtrRzlJdE01ZkNKWFlQOEpyRjZOc0tNNlZWU1FUMDdxcFZQVXVpaS96NG9LZjJzZ09BTEhPZ29BemtqSkxqUlYwQnVyNEYxWXVBM3Q0b3lGR3BqdDNnRlJwQ1g0TmZQTlFNdUtwMkV4UWVaU1I2RUlDd2twTVg5QzNSVEkrWWpONHdyMkt4N1RrUEM1T0J2aU9YZHpRTHNlUkd5YUpZbkxzQ3JCN2dqZGFtZitvbzBVeVBndDQvakJHYU82dko1dklaelE5ZDAreTNraHNWbzI2RGR2VGMvcE5hdVJadFM5c2NlVlVMaDNwTW93eFpRN0pLUytaVVAxckU3QzI1VVRIS05JRTRRajVYUUVUZkdBRlpzaUtnbDN0STJHTis0eW4xSVI1cUlXN0lXaUpkNmdDVGViTTRkd1hrbTVuTHRtZ2pvRWYxTFpMVFpudXRQdXZ3Z2hPMUVEZEZBbGQ2SUxZa3BVOGlpb2JTc0pXSGQwYUw5aCt2SHY4QkZmTnZBNE93RXdkOW53cGVVNTBMMUVKY2x4U2kzWEJMU3A5RWxMc0NjbmxRTWxtMGxXZkpVWjFheUJlTiswd3o2RjkraVBZTUtmeDREaXoyZkhPOG9rN3BYaFZjWldiME1Hd2daNXhBbkxzQ2JCL2dWVFRROVZVSzlVU2J2TFhqZlJWL0tOeFRlNXBFWndUOU5RbHVGczN6eEZuVEIzZGFNNUNIb3piVGFZTTdyQlViVXVOdG85RFhlakY0aGR6ZEFkL2E3VVhOWXBPRW1VQ1BlNGVFVk0wMld2VkJieDVSUGNLQTlpdW5nczBNalFxNVpJeHhWNEFpMkpJRjlMVTEweGZyekVRNC82Mlh6SWR3SnRDSGtZNXVMVmR1eVFVNmQxY2Eya3hhMDh6MHRuMmpaT2JaNHNJVkFJV3lCdWlydGNESVljajc5Nlc3TGZNWnZ3RjBhay9ncWFiR1hUellkSms4Um44ZjNUVktNaGNzVXJQbGdyNmlnTGtlTEJ0VitmaWJwcUFPcGhpVjlwak1sWmlpbEN4VVBFd2g0Y1hBalc4RjZrUTFrK1g2QnRCZkl2Zm9jMEM5SlVwYjI2YS8rVUwzYlcraDlyaGFsNjlwQ3U2V2plSTJpRktWSjFMbkRlcWZSYml2S21PUnltQ21Od096ckpQZzZUR0FYanNlVUcxYVcvUlhNZTlvUm9Zd2YvUmM2LzYrV29HYXZiL3daQmgrRW1uLzdxcGtjYWtoU0EwaC9RaTB3V3B1eHpGT3lzdGdwamVDZXdwTlYwMU00MEdmNVJ0RzM1Q2JVY3c3RXlOVC90ZnIzN1dqbGRtWjZULzdxVDk4K0llMW10NTgzUUE1SWVrV2JaL1ZmVnRubXBhMk45TXhtQVQzWm9Lakp4NzBQdXMyaXo3Y0YvUFlpa2tOcWFMeGNubXNtZTZ2ZS9sUE5XWCtJczcveTV2NTFJN3FxdzFXd1ZLN0RzUHUzVTZvRXc5NmE4WG5OdTFicC9QcEExZVRuWktFYWdwTDJxaElsY3FOdXZYeUZhbHN5T2hDRU1LcW9kaVVEWDB0elhTb0xPNU95MnltUjEyN1ZQSWlmeDdydkcrZFR0bmFxQ2FsOWZ5T25aa08zOTZHWHJWWU9xY3JBUHJhUVFCM1J0Q2JpTmxNandkOS9qdXNjVTNma0t2UzUrTEtERFU3TXgyZ2I1WXBsam5XME5PenVnS2dyNTFGZXo1OC9oYTJveG0yVnB3TlZkbGhqZTBjMHV1UTM0TFNBRUM3ZmNhQ0lYU0lheFNlZXhnSWtwS3ViWWhHV01yR0RqWGVzYXJSQ3h1R1RpK1cxR2pWV05BRldkM1hyaDJIaUNESmNhVm03NFpjRDJubEp2QXlXR295VlJseHVtUWpaR3RRMUV4LzNhQkxJMndZSkMwYnFLS1AxY21FaTh6ZjJpM1hoc0F4a3VySU5YblR6OWt1WDdMT3lYSCtBRysyb2F2ckM5RFdZOFhRaG16eWttclNVelpKUFgyYURlK0dlWnpFeWs3TDFNMWVremU5YXJsOHBjbVR5NGZBSlFrT21WYkVkWDF4NWlLSzFDdHR5QTdQYW1yUFB5aVVTYUF6RjJIRmNrSlQyQ1lsMEFrVXJXUE5kREFZWnB3R2ttU0tNdHByc3c0Z3F1KytZRUN2MHdaUEF1NU9zS1ZwaC9qTFZWazhDZlE5M3pwZGpKMXdvNXlzYzRaYXN5T040cHc2WlF1bWZHdEE4TWVzVmZVSm9hKzZuNm9hMW9RRHlTaHBoZmhIcFNXQnp0NU9NRnQyMnp1YTJkdlVib0pRc3BiVnloQVZrNjU5OUVZeEJTVFJTV1hRVjMxZXByY3NsVXBSM0ozQVRKVHdseWg0TkFIMENodmUwMldEWHRQTWg3WjJFNFNTNm5JcmNndGVNWmNaK3FtUk1mUlZWOTdHVmp4dEw5eC9KSnJwOFpzanhuT09vYTA5NVJ3dno1djUvRzgvYzIzZFVLaG1FODFDeEgyUHd3R1cya0N0U0ZNRi9PaytzMDdTQWhjVlIzT2dyMkttejVpOHJ1ZzloNXhGb3BtZUJQcDVOcnkxWjFiaUZmUDZVTTJrakZvbFl2Yld0VVp4Y3F4NXl2TGxaeGZ4cDFNRzJIRFo3ZWk1RXJoUVEzQWxUT0pNUnAzaHc2SzFjTnVWYUtZbmdkNWpabnJWNmg4TXIxeUZicUg4aEpodUlVWWE1WGxmdm5IOEovaERYa3pqaHZUZXhvZkE2NUVnMjJ0bXRSYzlqK3E3S3ZNY1NzY2xsVDk3Nk9pN3hRRHZob1JWV1k1Q1JEbTF6RE4ralEzdmF1emdsN1ZnOFlQUTJSTXRsSEowQ3pIU0tPOXBjdmNPdVYzVmxpK2ZSU0YvdXVmaHVOM1NYeGdxVFBYZERaT2Uxd2dubTVrV2Vld0d1Y2RSUjAvZjVJUzR1ZHVpamtwRWM4Mmdvd2Y2MVE3VWszdkJLbksxcFVNblVJWkVwRkZ6NUpzNzNwZnVEYlhsS3lJd1I4Ykx3UkdtZldXcTc3NUVMZzU0a0ZYcEVqeks5U1ZoczNSQ3BOdWhtYTRSVVU1bTBPZDV6ejBJVHFBa3lUSFJQY3NSZ1U2ZzlEYTQ1cFJHNGUySXUyQmZhNmpMVjR6RTdGbTFFQXZyeXRCWG1lZUdZYi9mSXgrZ2JEbzhweDB1L1pLWnJoSFJDbWJRUmMvdHF4alJTckhCZGk4RDFaUzFySzgxNm1WMjg1QzlFaXVuUUNhZVVvK3prNUk1UWwvWlRJZjdSdERQOGhmRFQzR0hZak13SmVDVnZzK3BkQ0thYlFhOXd4ZlFBM1UyRUJJalY5dTlEQ1FxTGUrcGpmSWFiUDBHUUtzUkdRVXpnTjkyWmhiUVZ6YlR2eGpBaVI3T0hyZTR5T2VFYXREVE1XV0tiWkpPUk9XRHBiZ25tanAxc3V6bkFQU0JWaFNidE4zTEVNMUM3S3FObXVlREdRZWF1N0Z5OG1mbXNCY2hUTlYzcGg1MEdXaTQ0eXVENDF3L2duNnl6YlJEUitKZXdnZ1JKVENDRHVyYlBnZmN2MVUva3Z3VHY1ZUoxcUZtdWpKdjFOV2IwT01EREViTmZyUjJvWnhtNk82MjU2UHFXK2tRM2hjOW1KL0NkdVJndy9SZ2tORy9uUzR6RVJFaW1sMlRqdlVZR2YvRnYvaDIvU2dpeXp3djZZSzlURkp4VUViLy9jTlVZMW00dVRKL3pJWkxmb0hvOFVIRndwRTg5cUxuVVgxWEE5bWZRR3FMcHhxQjNxSkZOWjR6Qk5VR280b1NJUi85VEZtYk9VUHFXT1U5RGZPVHpTbUc1WkZEcFEyRlZnSXBudmQzU1BPaFNITng3M2I5MHZPbWFjOHZ6Zk9UeDE3MGZIMDN1YmkvYWtGWnNlOUdieEg1QXVJK20vMHZrVFZSRmtQa2VmUkY3ZFRXaklhV01Gb0FnN3g2UnlsWmpzMlJ3MS9lK215TkNpUTNYL2dkV3V2aXJTZC8zazgvOHNKeis0ek5nUmd3L1dBcFlnWEZmNEhZZWpZdXIzTjl2Ky9KNTU5Ly90YWRocStyNktNd2Ribk9tTk9YZk1hWC9EUHZ5dHEzOTRTb0NOSENMZjdDTXZLK20wOCt2NlBxQTBaOC9jV2tKdVNvSkdySzVzakI3eWkrNWt5cEhvL1R5eVpqMXhQNzJwN2MvMVZSK1ZKNCt1cmRqRFc3a241QlZFemtlNkpYVW9mT0J1TzhoK2ZNRnA0OVhsOFRYU2RDUkplSU1BeFVoVEF1RG5tT2FkWlhLM1FzOWpMMEJZelgyQXNZL2YzUm5raGZyWXMzcTdYRXZlNEdNNllxSjNlcXpaZTdEQXcrSE1JVHh0N0RHYlNDZFJSendTckxYS2lSWXpycE4wVFhpUkF0a2l0UDBHZWdFZkFheWdIbnhTKzRJN3p2NFE5RGFnL1IvVGNMbjI1Y0gyQkZYbEU1NUVzRkU3ei90NTE4UEdKcm9UdmF6Skt4ZFdNekEwM3hLSGlBMWN4SDZoL2M5bUFOOFBFUVN4VEx6czk4OWtkRTJTdDNCeUpLcjdyL0J1bEhhL2RoenE3S1ZEbmpzTHJZQU1QMHRwMlRSM3kxWmpBSHhKZG56WVdDWWlxb0NvTmQ4TUFOWnJaSEVwRWd0cmxXVkNjUDlUejhsTGZRK2hWaGRkandNTk5nZ0MzNXBaamVkc3hrMlV1d2U3ZFptZXdaQjVwU1EwOXhKdUhrV3R5UUpDSjdVWjZuKzI5ZTlNMmtjNWpLOXJPd01kQUM2eTIvYURycFlOZFFPU2tidTQxOC81WTJNWVdtcTd4c1RVd21naGJDTnZ4NEVwRWd0cmpxL3B0S3cxOE5NSTVLNlVqUWN0dlhZb3FhNlhNckZoclprY0J3V3JlanRLVENGTExGU0RHREw2dVZEc1FrbjBTa1ZrbE02ZjZiS2U0eTdKYXpURUhMWFYvK0FiVml6aDhtNnBLaEVBTmU5bHBscUdraXhlcXp6Y3FDL1Z4QXVpZnVjQkpSUUowYVFVL2M4WW5RdGYxSWx4c3R2WElhQlMwSFBuL2ZCZE5jU2xYSWtxQXQrcDRsdlFWWndMRXE3TU9nVW1DbXc3ellaTGxSb29BNk5hTDdiM0FUMXYxS2JRc3pQWlU3Q0VSUHIxUGJvTTAxdHFtWVNJTUZyVng3RWRKYVlrNFgvUzdVSUREVGs0aEM4clJZSTVpK21KUG5RQ3pjVWNscHJPTEwxMWpYZ09tN0RHL2NmanhSNXR5eTdVV3F3SkNQOGRuSTgrNmhtWjVBWk44R2RHelIrZGdDM1JHelNsbDdtVDViOTdzRVRackJXbHBLb1BaaVdmY3ZVT2dDM3pQMnlJZUNQQllCU3NKRmFDYlM2aVFrZGY4Tjd1bWhUNDRwZmp1aG5uM1JyTitVTDl3ZG9xZGZlTmUrWGlJbFREanRWZUpHOHNwenhpS3RvTkx3LzlFUjgzWmllSU1aS3ZUUDRpWWlqVnRDVXZmZjRKNXUrT1NJN0NUVXkxRFVoUmZtVlhKN0h1QjNHTzhNbFEya0dlekZPZnZSOVNMNVFUd1ZVei9hMXFWVzZURGx3VWdrQ05LdnV2OEdVKysyWDJ1K3RMM01MRG0rUXcvWjE4Z3paWDBQUEl1OWVKQmhkSFhJK3o1RGpqWWpzR0Z1WEFveVRVUUJRV3BFOTkvZ25ySU9YdUtSdzZzUEhmOFJGRm44L2VPdFZIM3NDSHJoU3BSYUljdDNqaXFmYXh6Lzhyckc4azgvV2lQWUtiN3cxSUFWeEJKcGRSS1RtTGtQT1FHRHV5bjh4dVVmT1NRcWtxa1E5cUwxbkxFUUdBcVpSSVRFOUhrMUZzTE9IcGJtaVVYOE40R3JwL1FqaHp6cUdlcjA1ZEZ1b0JIWlUwVTlTRGc4d3R0RHJsMjFmTk81a0p0d3hYSzV5b3VaazZmSG5RQ1lnWmNUNm8yMUtKTzl1R2IxR09wSTJ4UHgzL1NvaDRTR0JqM2gvMDBXbjdCZi9CUEkxbDcwWnNXMlk0TGFFUEhmN0hFbFlhOXY0OG1DQ1ZJMVZLVXJQQlZobGpIV0M5WXNJOG5vQ3dJemdQdHZtbnhYaG5sbjNadlJYUG1qVnk5T0lueUExdjVGcklLcmNUekdtNmM3ZWFxOFFkaXBZcC9BendYSHE2SXVIZmJpbHA1blNtY1pGQ1llNWVmclRwNXBmbWJpUHhsODdwM3lCUmJtbU1WZS9GaEpKekdGbFZZWjZQNmJCZVpLaHJNQjUwWk5yS1VURnpMWWk1aUk5SE8zaVdoT3hIL1RwbWNPQzdYdm9WNkFGcUtURmlvTmEvL2lwUVpBbjhUQjZ1bittM255T0I3M3UrOTF5V0J1OGt4Yyt2azJXM3ZSeDV5Nzd5YXQ2K2orbXphNVhqc2E0S0dEZTdYM1RKcXUwS2NyanYvU2RIdTFqbjR1anEzU2lFZGRydnR2S3I5YXY3NExKZjY3L3FPalZzVkNIcVpwdm50TEpxNTh6b2U4TkZkcHNyUUh2TlRPWGx6NFdvTmhYdjVCNmdPT2IxenpiT3pGZi9uUG4rQ0k0eUpPMmVLWXVUdzdCTDVJeU9NL2JRcHYvdE9mLy9xdE8yd3FGN0N2MlBGMVZHWUVZQzltREp0bVpxN0VEZ0hZaXhuRHZoMWpSMlZHb0pzUmN2c0RKclBNczE1Q3QvWFpRb1pENmJNT3JxbjllOWtRQi9XeWlaWEx0MFFBQnl0Wnc1WWxhMGRtUWlEdVV5b3BkMkhIeE12bE93UWNBZzRCaDRCRHdDSGdFSEFJT0FRY0FnNEJoNEJEd0NIZ0VIQUlPQVFjQWc0Qmg0QkR3Q0hnRUhBSU9BUWNBZzRCaDRCRHdDSGdFSEFJT0FRY0FnNEJoNEJEd0NIZ0VIQUlPQVFjQWc0Qmg0QkR3Q0hnRURpN0NMeCtwLzdZYjUzZDVvK2w1VStUbzBjYTVCZkhJdnVzQ24yTjNGL0hCMnY0YTRMUEtncWpiVGRlRWpxQXhEbjd0OWlOVnI4SFVscWJzTmNCTmNwNisvZ0RpVks1alpvVG4xUG9UZWpMbzhwdDdtUndDOTdGM0NkdlQ0WkdENzRXZUhVdGY4RkkxZTVWVXc4K0pDZmZ3cW5nUlYxVjk5YUxrNGViU2VnRkw3d3M4cjJuVVduN2dNaXBCeSs4N0l0dk5EMGdMWnZjWnVBVjhFdGN1NzNJNTg4bVYrM1RyUm0rVjhQWFVYeEl0ZlJQcTUxdWJFNU0rNnI0WGczOStOeEV2bnY4eEpvK1BzWjk4YjBhK20xQ1o2ZVA1a1lFMzZ2eHBFL1pqRWIwMlpYU0N5WnlmT2RMek81bkY0N1J0SHhQZkNUSU93aDJTYU9SZklhbE5JTzlmL0JWenpPTXhvaWFYZzFNRnVLY2pDUEMzTHNnNXZUNWNqNy9QaXE5VDdXY1JZRjFtN3ovVkRma1ZDbmZZcDlydjBpT2QwNlYzcWRhMlpkWkQxOXpNL29JYjJPbGRyVHJlWjhnM3o5Q21VNFV6a2h2TnNqM09pQkdpc0RyTjhnSHo4N2pYZjhQSmdEKzlwR1FmWXNBQUFBQVNVVk9SSzVDWUlJPSIKfQo="/>
    </extobj>
    <extobj name="334E55B0-647D-440b-865C-3EC943EB4CBC-42">
      <extobjdata type="334E55B0-647D-440b-865C-3EC943EB4CBC" data="ewoJIkltZ1NldHRpbmdKc29uIiA6ICJ7XCJkcGlcIjpcIjYwMFwiLFwiZm9ybWF0XCI6XCJQTkdcIixcInRyYW5zcGFyZW50XCI6dHJ1ZSxcImF1dG9cIjpmYWxzZX0iLAoJIkxhdGV4IiA6ICJYRnNnWEhkcFpHVm9ZWFI3VEgxZlpEMWNjM1Z0WDI4Z1RGOXZYSEJwWDN0dlpIMGdYRjA9IiwKCSJMYXRleEltZ0Jhc2U2NCIgOiAiaVZCT1J3MEtHZ29BQUFBTlNVaEVVZ0FBQWlBQUFBQzBCQU1BQUFCZno0cFRBQUFBTUZCTVZFWC8vLzhBQUFBQUFBQUFBQUFBQUFBQUFBQUFBQUFBQUFBQUFBQUFBQUFBQUFBQUFBQUFBQUFBQUFBQUFBQUFBQUF2M2FCN0FBQUFEM1JTVGxNQUVKbG03M1l5emQxRXF5S0p1MVJ0dm9aRkFBQUFDWEJJV1hNQUFBN0VBQUFPeEFHVkt3NGJBQUFPZTBsRVFWUjRBZTFkWFdoa1NSV3Vua3grWnBKTUI4ZFpCL2NoY1JFRUVSSlFRWVNsSTY3dXFtam5ZUldGaFRRSS9vQnJJaXhtRjF3Nm91aUthT2ZCUllZRk93K0xveXZhQVFkODBLV2JBZlZscEFPQ080alF6ZUtEVHlhdTBZbWoyZkxVYjlmOTYzdnEzdHZWTjczM1B1VFdyVHAxem5mT3JWdm4xRTlYQ0RHdTBrTkx4bE9SSk8raC95cXNZRmpnODVUUzd4alBiL1RrbThBZWxQN3NqVzRHcmY4MHR3ZWxIWjJUWldLK0t0bmpiN1VzNWR2enV0U2c5T3lMUFVwUCt2YVY0MnRjd2h0Q1VlN0hjeDBoeFh5TDB2c0haQVp1WndjamtITkZxWW0vLzJNRU1QQXN1NVMreGd6QkRQTS9mRFUwNVF6ZUVJcHlyQjd2cjJBUEVZUE1yMUw2UWJTZWVFS3dPTHYySTJxVUh2ejFqOTU3KzY0Z0VuOVBJa2hkWkw4TXpVTEZaQ1dBL3RYc2hjNEtMZjg1bkhQcHkzK29hcVAwaDlPT3NIU0IwZzhOMkpjZXAvUnRnOGVNVWlXcGFHd0hWWHExSVUyeW5aRm9helpUVmRNZVVCMHNzbUhOSmE3Q2tWQnpONDZPa05LbkJlbS80MGxIUWpGVHA5L3dNWDRmUGQzelphVit2Q0MwZkEzRDZFdThPZDNIa0daUFUxcWwzdzl3L1J1OXZ4VElUSmtodjRRK2hzMDB0MGptRURDaXlUeDlKb1R1aDdRV2twc3FxeTJheUg5UlRLQmJHMVhRSEN2L002RVV6NGZtcHNtY0VnYTVoK1BCUmxick9OSnpTOVVTRnVuZ0ZQZ0JwYS9qS004dDFad3d5SDl3Q3BUcUZObVljUHh5U0NYRDl4TmtYM21aWnQrUDVjd3FtNktKSENKaGRTTURmU1NEM0pNdENvTmdSMjJYNlhnSHZLTzNwd3JmYTBoUnZWR011NUd5M1pBMVJSUDVBRkxhM0RnSHZFaU02Y2g0dUFVelVVZ3U4M1FOU1hsdXllcWlpV0QxN082ZVcwMlJ3TnZDSUxqd25aQ0w0eHJ3RWxLbmp6ejI3WjJkbmVlKytRZzlRMnFYZ0V4T3JaNGlxMDZIZkZ4dWtIcW1QTEZ3a1ZwNXlGWkZFMW54WkVZLzNBZ1V1VUw2eER0ZkVWQ2ZmZWxkbndxZ3lDNURodThwUmltdWtCTEN3cWI3dGV4MEQrVTBMOHhPRDBKTGtabE9rQklDWXdlS2phcVJ5RVBJS3NJaTJ5RkY2Q3czU0FscnpYMDBxS1NFVEJtNFVzV2dicENTWmNDWlZFMThQUlcrNytHckJDamRJQ1ZIMU1rRXhCYllIUzVzK0I2d0JtUTRRZ29lTVZWRERvTWVraWQzR2FRSmRod2hiVkNLbk13S1VkTWlxODViU0pxVkh6ZElTNER6MkVLdnhLUnZGZ1pKSHBVN1FzcWk2bFRPRUdzaHVWVWtlVHpzQ0NsYldldGdsVXBGQjEwQXUvYVRNbkdFbERuM05MNFFyeDV1STBBMFAwZElsOEVnMFNDeUxFa2J2anRDMm5RVGhqRExWc0QyY08wbXRITFREZEt1bXpDRUdVR0c3NmlOQUNGR2M0UzA3aWdNWVJwQ0lNR3Vmb2kyaUt5NkU2U09uTHZRZDR2YkkySDQ3Z2dwaXc2Y2hDSE1KREo4VDdaMjZ3Z3BXeUhvaVBmbjRHOVBOSkZFQWgwaFpjR0JtekNFMlZ1Rzc0bkdUbmlrODcrdkNzT3J2ellieGNwUXlVSFRrQ0prK0k3ZENPQUJoa1phYWlsRDZQdTZoOVBRaDZZYjU2NHdkQVhHUS9Wc2NVY2p2YVh0b0JQSGVEbUEwTVZzaUFJa3czZnNSZ0JWamQyeFNHVXIxTVpnaVk3SmFIaTY3c1M1YXd3cWZLL3BISFFDaTNRTGZ0bngzTTdURkpiZmR1b243Ty9PTDlCQ0NBSHpXYlFud2ZpQkcxSFhDN0dTajBBZ1hMdXhoQUVDcUlWQkNwTzNmendnWklyNzl0bVlMZVVCSVNTSmMxZnp4Vnd6MzUrTm9BaHZqdHpIRzdKVzZhVUxQR0dSem9xZnl5M3lqcUJzUFIyVnhMbUhmYVRLTG9jQlJmd1pEVUc2NXMrUGU4WWkzUlN6dG1YdTJyZU80OWo2eStPYysyZWYrUG5UMy9KWGVsR3BIN2dqSEg1YlZNSnVCTkN5NDVCS3dubTU2TmJrcHFpczYvclJDWStPWllDM0ZFM0wrMERyWmhmTkQwcmtQbDdybWNRWXBFcm1vbVM4dXMxeVdvY3FQL3J1MWJFNVBBd3AzYTNpdXJKb2VZR1NsbWdpSzRHQzRSa3hTRlhscG14NjFRN0xhZkMvTEJWOWVYWHN4b1VoTU1aRVdEbGFYTEFrWWZnZWkxUklhdlg1ZlVhTVIzQjdzMHdkNjNGaENCQnZCSlZLazJPNWoxZUppa1VxQ0I4VXR3VStIcm1FbTNveGRZVG1PM3hUS016OTd5bE1HZDAzUVNoYzIzYnNvTVp3cEI1MkYza1lNbzNEYnVnWWRPNVhQWHdKQVcvbnkwbjlLUGZ4MmcxNTQ1RjZjRFY1R0hLWjFqeTVFUStHamtIbjN2T3htTTErSlZ3R2RuYTdpZUtSZXJSZDVlYWV3MjNRTVhRTU9QY1pmM3NvajJEczEyUmZqT1dDVlR4U2owRkVsTDg4TEtRWTBCczZsZ0hZMHFDRWtBdittTG81Z3BWdzlyWnRHMTQ4VWxPTks2S0hhdnBmcjBrelNCczZOaW4xUmtnaTRoM1F3cUQ3MkhqS0tGa0hnM3pkamxjOFVwUGZvaGp3YitJTVl1Z0l6dDI3U2hLSWRldTIzc0RFRlpWdXd3ajlJS293UEQ4ZXFWbHZXYmlYVlp4QkRCM2hWWG43dGtCb1p6VzVZbUlhbGdZL1krZGoyQTdqT0tTbXdLNndSQTluRUVOSDZuUHVNMzQvQmQ1dXo1VEUwek5SMHlFM1hnalFobWJBNjE0TExZak9qRVhxcVZvVkt4ME5id2ZwSVJrOEdEcXlvSEYzVUFKN1ZyMDlDZzlEbGt3Q2xrNDFIOElZUUNERXd3U1dSbDd4U0UxR1U1SS85YjlmazBpbm9ZOVhPcktGb3hWZEFJbW1NZG41bTd1blB5V3p2azZYRWJNWUtlbzZOTGxGcGJkc2ZhNVk0bG94K1psSVMrOS82dVJyTmFOMFZuNlJnZVo5OVdiMTBkOFpoSDRkV2N6WU44cEpZeEFkUDBudjNhVDdaVitueTRsVHpZZkFXU1ZWVzU4cnRsdEhJWjNwMFVmdjByUGFRSkV0NFJyTk1Rb3ZmSktlUE51Z2Y5S0VBUjNMWUJEVldoalY5R0JrdThBT1dubjVyT25yeWpTdkZJbnJDVFpuRGtFS3l6QS9KdVJsYWt5ZnRvUWVZSkI5RStkYjZmMGFtZS9wL2l1b0k3UmRUNmZSMU8wRmZqM2JCMTcxaHMySXloUStKRjJudUlqYVpCR05GSGF2Zm9SUmRqVjJvbG9HVFAxc0cweXUwSk05ZUZ4UTd6aEV4MDF2R0FLOXBhcC9YWHlGYlYrbnE0clQzR0dYaUszUEpTUWE2VFM5eHh2NUhKVlRROXdUMUJoQ01NeXhnWFNUZm9VL05lVDdDTkd4NTNYdXQ2Z08zQnNpMUFQd0t3YkxUSktnMjVvMW8yaWtYYm03WW1yd0E2aUxWUHlLRVF4aW1INkJ5aFhVaXV3WVFuU2tuakJrcHFyclg1YWZFa3lBOXEzQkQ2K1F3T2NDdzBpa2dQQ0FDNFR2UXlUWTFpMzVZajBmUUVVMW9iWkloT2pJL09ldWhsL3FEczVscUZBeHN3eCtlVWtUWkpPQTN1RFFtbE0wMGkxOWp1T2c0VFZVTDlHUVRZWEpnMGhtUThndGkvNDNSRWUyNTJ0RkVNSGZ4K0dwSTU2Z3JXM3psTEtpeU03aWJ4S2ZLM2FucldqeEJsTFlwYlV1ODdWTEFldko2S0ZuUkdaejJqaGwzb0JDZEN4dGdnbWsxY2d2b2JLdURyRmJuNHU1cUJxZkZKcitsc1Rua21pazhNVW9EWFRMZytoS3ZFNjJQcjZpSUZkMFV5cnozc2F2NDlYYkw5V1pDVDc2MEowN2QyN2ZiTEMwN0RnSVdWYnpobTNUdXl2V3FlNDliWFVzbTZGSUwrcHZldUJqMi9yamFScGRRbFUxRzlMbWNhRmZ4eFlOdVZUZ1hsRTl0dTZJc09qajZHQnAxK2o0NDZoNStWQ2tSenJvaGM3NlVQQ3JxTmRKeWpxUGpaOWtzNEhBaGExMituVjhlNGc5cEo4bXBLY2FSa3Qvb1NqczhVU2IrdTNGMDBxS0dLVHFKY0luc0NKcU5QWEhBZWJmazF6Z085cVF5UzRmamxqcFNKV0hxbnBqWDhreCtRM2VrM2RDS2prclVWTWpaVDh1bFJvdlBLWlVML1dlVVFLZ3NSeklkSThiVE5kRTZBZ2U2cGhYaHU5eVRYSE01TDQxYU1PWjhBT0FBaWxobjRmU09JeDFXMzlIRU5OQVRHdWxJL2l0YmM1VVJ6MWhJaExrd2RqZ05FRzE2Q29hS2N4YzZONGtsSHhRTE9yb21oZ2RnYWJEdVY3UXZqdFVpSFVtL01BanpZOFFnL0lBNllyTVhkVTlSNUFNY2lyNlc0V09aWU52UXVod1FveU9JR2FORTgreE1HUmhsNmV6K05Pejlya3hVcUZQNmdnU2lMUFdoeEVmVVRWSnQ4emZzcFdPSUtiUG1TOHpiM1B4ZUpnZ216SjRONi9iME1mVFFrOGdYaDFiY3UwUG85OVNqaE9pTlFiQ1NrY1FzOGVaODNCL2EzdVlJSnN5OExrYk52UUlXczFSaEovUk5jcjZpeEw5dXAyT3l0cFYxb2R2WnFVRTlHUForbHhRdjZmNmtKWXhUQTB6eTZLU3JZWm5WanF1aWpjSnJuMGRaczJXd2dRa3lNdmE1eklJVFdtSGFUWFpFWVhyRXBYK2JWUDI2MVk2dGtVVTNHSkRnUms5YVJRbEM1blBmRzVXdHRVaUYrVklvRUsvcS9QQ0V6M1JEVXpSMHdOT1lLWGpOQmZ6cTN0TmFDR0x0bU9QY0R5RW5VTHhzYWd5WDM3cHQ3Nk15TWRTZzArRFhlRERrMGdxVm5CZHRJeFZOZUt4MDdGMVVpUFg2UDVsTUV6M2NLZ2NmS0dGejEzQXQ4cTMwRS9BYWtIMVpDME9TS2wrMG1lVFB2cG9jaXNkcCtucFRUYVp2VXBmRVZPNGNlTGl5MjE4N3JKRnErelNqLytFbm16RUE0QTUxVDgzakZPbzdYUzg5dFFwMnpGLzZjWFRUcndvRkVWRmU4aDRjcHR6ekVvUE4wNy9Vb3ZuU2NqVnUvUjc1ckpkOWpwaVVDZ2E4TG5vNzJBKzgzQkZvY2pSdmEwR2pBaE1jNW5QYkNPRU9pYXg4cm1yWjQ3UmpVRWM3Sm5EK2x4WVljNTR4RE1HZldORlFveFhpeVdTQkJVOTZZT3RjZjdvWUN5S2Z1dXdPTFp5L2pTMFJBdyt0NE90WXRPWXNEenpSbWZqYzc4d1dCN0tteHJaNGJId3VmQng2Wm1MN0FEa2pGT3BnUjduWG1tQVFRYjd1bkttU0ZadzhENlgyME9OUjdNU256OCswRTN1b1ZCZHEwTDdVRk5acUJybmtnaTZCV05EWExRS3BZZTVPVEplK29pV043YVNDc3JuenIvS3VnOTJaVDd4T2piTnd3VmpmTzREejc5REdJUDl6Zlpuc2VHZ3hwbDdpOUlQZnk3cXV2SDNkMy95OWszUmRTaVQ3STRUN2VobGc4KzF2QkN6WDZPSFBUb0o0SE10cjZYUmdja0Q1NWFsT2ZBVGEzblF6aDREQzhYdExvc0pabnM0NDY5eFpHY05vRjRmUCtnUklvQmRDclpYWjRSd3hzODZ3YitvUGhnLzZnSkJZWUhDQW9VRkNnc1VGaWdzVUZpZ3NFQmhnY0lDaFFVS0N4UVdLQ3hRV0tDd1FHR0J3Z0tGQlFvTEZCWW9MRkJZb0xCQVlZSENBb1VGQ2dzVUZpZ3NVRmlnc0VCaGdjSUNvN2VBL3p6ZzBVdk10d1QvZWNENVJqdDZkUDd6Z0Vjdk1kOFMvT2NCNXh1dEEzVCs4NEFkaU15MWlNQjV3TGxHNndCY1JaMjIyRllKQjBKekxBSU96WkkvQXBIbkFlY1lxeE5vL3ZPQW5Rak5zeEQvZWNCNXh1b0VtLzg4WUNkQ2N5d0VEaUxjbHZERWVjQTV4dW9FMnVCMFhEaXFjZEovbFlxeGFIbHdPcTQ0RHhoVGFaSnAycjd6Z0NkWlY1UnUvdk9BVVpVbW1jaC9IdkFrNjRyU3pYOGVNS3JTSkJQNXp3T2VaRjFSdXZuUEEwWlZtbVNpd0huQWs2d3NScmZBZWNDWVNoTk40ejhQZUtLVnhTam5QdzhZVTJlaWFRTG5BVSswdGhqbC9PY0JZK3BNTm8zL1BPQnhhL3QvUlVZaWY3Tk5mT0FBQUFBQVNVVk9SSzVDWUlJPSIKfQo="/>
    </extobj>
    <extobj name="334E55B0-647D-440b-865C-3EC943EB4CBC-43">
      <extobjdata type="334E55B0-647D-440b-865C-3EC943EB4CBC" data="ewoJIkltZ1NldHRpbmdKc29uIiA6ICJ7XCJkcGlcIjpcIjYwMFwiLFwiZm9ybWF0XCI6XCJQTkdcIixcInRyYW5zcGFyZW50XCI6dHJ1ZSxcImF1dG9cIjpmYWxzZX0iLAoJIkxhdGV4IiA6ICJYRnNnUVY5a1BWeGlZWEo3UVgxZlpFaGZaRjU3WEdkaGJXMWhmU0JjWFE9PSIsCgkiTGF0ZXhJbWdCYXNlNjQiIDogImlWQk9SdzBLR2dvQUFBQU5TVWhFVWdBQUFhWUFBQUJnQkFNQUFBQ2ttY3N0QUFBQU1GQk1WRVgvLy84QUFBQUFBQUFBQUFBQUFBQUFBQUFBQUFBQUFBQUFBQUFBQUFBQUFBQUFBQUFBQUFBQUFBQUFBQUFBQUFBdjNhQjdBQUFBRDNSU1RsTUFNcG1KSWtTN1psVHZxOTBRZHMzMVNwRjBBQUFBQ1hCSVdYTUFBQTdFQUFBT3hBR1ZLdzRiQUFBSkFVbEVRVlI0QWUxY1QyaGNSUmgvYVRiL05tK1RVRkNQQ1MxVThPQ3VQZWhKTmlCNDArVGl5Y01HYjdiU0RlaDlBNTRFWVhNUkRBb3ZGQlR0b1JzUElxWGdMZ2hDMGJLUm5qeHRFQ25VUWplMjJqWkp1K1AzemV4N08zKysxMzB6ZVdzZjRqdnN6bnp2bSsvMys5N01mUFBON0VzODc2bGNFMHk1RHA4S2laUkIvNHMrNVU0cDEvTXBQN0wveldYMENaeThkZlJWbjVyL2NVWTVXdEo2R3lQTzc2SlIvcUZsNDJ5cTUwVVFYZURzVmphelNkS09sZDhVUG4zT216WFc3VnBuVTN1T3NZT2J0eGc3UW5wakI5a2thY21xd2I1cmVkNFBBZHVGaHBNUFlscWZMTVhjU0YyY0F0STArNVRUeWpPY1NZczdOTWNjKzV1K2tibzBEYVNaM3JMZ1ZYd00zOVYxbXVRa2krdEFXdDlkbWdaU1RjUUd6NXVEQ1pYams0b2dWR2YzQ09rb1JNbVF1bXpyNnZkMzd0eStzc1h1SW9zaTIvb002MWUzTUM1VU4vck14dGlDbDQvcmpZRDlXNGx5SXFReEVhcjU1MzNrTDlXWjV3MTZwckhrdFhGT0VkYzRZN3dwY1N0bFVVS2tHeTljNEc3MHpwMytBQmw4Mks4Zm5UdjlpK2Y5SEpHcTdIamxVbFJUQ2l2OVVLOElSMUpKampRSlR0MXJEVWpBMDJDSHk0TTZMODA4OGxoTGsvV3JWVmpENkR0cFM1TWpZZnF6TGNGUFE5MkkycE1QcDJJbURkK3ZTYzFIVjdSQW1nVWZWaVVtSjZCdURMUEM0N21ZUlFpYngzV2haRFdGb2dWU0d6akppTmgwUVJaZ2Vmb3dic1h0Z0xxcHI3ZFBvMjZCVk5maWx1NGpwelBSSys2U3ZIejJJdmdrOXpPcGxvTFFCcW5JR0dZSjBWWFJmT1EzSU9pM0lnMjVrR2MvZ2svcnNtaEVaUnVrSm1OL3lqVEttby84bmgrM3JsWWVrUE5QTnBoUzJRTEpoOGU4TDhOMkdaV1RVakpzMWR6QjJMOGtHeGhSMlFJSlEvZWFURVAzVWR6am1ibXNKc29GdGpDbEd6QzEwcERZSU9IUWthYy9yZ0o3QmduZkRPOWNwMzNvMFEwTUM4Y1YyQ0Rwb1J1SFVza2c0TWVFNjhZakQzUEdUYU5CNmdJYkpEMTB3M2FkQ00wVHloSVdFUjZETGpZbVpIUTN6WUlWVWtVTDNmUGdrMGxtbkU2OWNWK0Z1ZndqczBYS0VpdWtzaGE2d2NlZXlXZU8zdmJWTUdFS0dQdkxiSkd5eEFvSlFyZStQQkg4MitSeHBSOXNBL1VtR2Z6VDlja0t5WmdOOVBKVUozdmlCRTh1cW16MEJ4SldTQmlKMStSbkNuVmxDUmIzaW9RTVRwSjRVdFhRUnE5c0xhMnlGUktHN2wwSkdTUHpubFR2RjRNZFUrWjVYUzR0TTNHV1FXbWtKYk5Dd3RDOUlDRVhvRjZTNnFLWVUzYU40ZTBwRWZRN3NDOE9SU1A2dGtPYUJ4OWtJcmlUWDVVRnZGd2dNKzlyd3BVNkdTa05HOGNSMkNGVkVpMVBlYlpNVUNxS3dMRTQra01XTzZTeU5zR0JJTEU4elZLbktMbitSRnhoYWxjVDNoOVRaSW5VMVphbkRod2ltUXptcVFuRGwzYlExWWV2MlR5UytNKzhGWGN0UjBwbXdSSUpuckYrRVljcGk5U1NXKzhyb2s5UFlpUnh2S1pqRGVyS1hsdHFna1U3Skg2K05ERE1TL3VhUmFqV0NKa1hyQWxGek96TnNHSWFBVWxGZzVLcWRFSXByTmdoNGZMMGp2VHl3Um1vNzVsMDZydW1iRHpzSEZ3T05vejd6OTM0OHZZM3VqUWZnQzU5ZmF2ckR1cVdTTW1XSnk4M0FJaEtLK0c4dzBOUHcrY2NNbGNTeWFpaGRjRVNTWi9mOVBKRXNxaHU5c1hrSVl0L1BpQ1RMTkxVRUtFbFVpWFI4a1JoVGtmakRWT1BiVk1Gc3VNMVUrb2dzVVVxSjFxZUtDSXowYVEyVG1tRU92aGtqRWpLMEZDWkxWS3k1WW1DTFVlN0Q0eWRPNllLdUxwcVNoMGt0a2hBWjErR3FTYmQzK1hZd1ZaNGdaRk4yWWdvUTBnMWhRNFNXNlNFdXllQ0NRWVQ2VkllakZDZm81SXN3dEl3a1MwU0xrOGx5V2pNN2tuU0NJdVYrNWVpQzR4RUF6RzhqeWxUR093SE1wZVNMWkorOEVYdm5pZ216YldCTkNCWG9rcmNjZlNnWWFLU0xaTHo4bFFJa3dpa0JZR0d5QWZMNmt4TnhKOVFza2FxYURzTDlMRkZHRFpFYlhsY1FXQWgzalBvVWttV1lXaW93QnFwck8wc0ZqVWZZeEViY3FBcmFsWkVLM1dteGxvYWRzTWFDVWFOc3JQb2tPdzhJeCtkaUpJSXBBUlBocjh3b3RDRGtMcXFDSGpGZXY5a2o4UVNMVTltUGpxcjdJVnJXb0xGMlVOSWJSaysyZStmckpGd2VkcVRnUVB5Nk52TVJ6dEt4bDNYUnV4cjU0Kys4T2JFUzMreWRaZjlreldTSHJweGVkcFJXWWlhbG8vNjZnK0RpK3BiSDgreTNtVzJQVStNUjg5Ni8yU1BwTzhzME1lbEdKOTJKWG4rb0NYVnZCVm9OcWlQczd2TDN1djNLMVI4SDJnbExOa2p6U3RrNEUxS3FHOVFhRm8rV2xGRE41cHBoYzM4TGpmUmJhYnlBNDQ5MHFJMkVXWmtjaUZKL0ZielVWODdhVWFmRmtMMW4wUWtoYjRqUjNHb2x1emJBYW1qaFc0Z2NrU0NxZmxvWHV0TTVaQ2xLUkpJMk5BdmthYXNoQTVJVlcxNXFsRUxEWkpRODlHYU5IdndMbWFONjFpQUs5OS9LdkJyL0FZWEhPdkRBUW00UEpJeEcyVGlCaHBLUGxyUU54RjR5RkxxMjZuMUQxWWczTFJrMDA1bEJ5UmNucFJCSDJnK1JrU1VmTFFvUnpsVXdiRzNMWFFoNk8veFV0aGZRdXo0NllDa3Y3bUhiMjlza3ZCU1B1ci9DbHJ2eVZwalhaRDBOMUFRVERiNHZabmovMzdqZ3VSM2dJdmNUeDhOdU1tY29SeU5yWW1YbTZERTJHK0N1ZWY1NzU4SnVPU1BVeStCWWp2c3d4VXFWZGVzUHJIcWdQVEcyVXY0ZUJrN2QvRVZ0RDExOXRTN3ZIN3o0cXN0SFF3RzZhcVF6WE1kK0FqN0UzZksvUXNQa21yaCs3NjFzT2QwVzBuckRralZrQWw4TDNBeUE4R3VqanZJUitmZzNXMTRjenVJQXZVVW5MWEEyOXo0TWpjdXhOV3dleHFSMTdxeGhIVUhKSHlSL0twNGtieUhLUFd3ZmlVNFFCL0RLejRmRFRXVTcyaGlCV0hVVUc2bldIRkhla0krU3ZHREpIaWZ5MkY3c2s0cHBDWnpSN0xOUjJIaTdYSGFFRUtYVStOUEdYSkdzczVId1pVU1ozQ0NIVkJNMHBNNUkxbm5vNEFraHR3c0xrL2pPK241b0Z0eVJyTE9SMkZQc3NIUjJ4ai9adloxSnVuVlhaSEMvQWFlaVdBNmxCTE0zRld1eE5PK3hiMmhEWndWWEpFYzh0SFErd0RqWDJmWG1mTHdobTVJTHZsb1Vmem1CQnZtVFRpZmJRMm41cXpoaHVTU2o2Nkkzd1libUVpT1FaZ1kzZVdHMUhiSVJ3dDg1LzVtcndMOU5La2NoNmJ0blJ1U1V6N2FnTXpxT3R2T2cyL2x0YlQ5VU93NUlUbmxvd1YyZEpsOWduK1llS0hYVWppa1hYRkNjc3NTcjR2L1l6RHg5VkVwYlM4MGV3NUk3bG1paHAyaHFuT1dtQ0VmZENyT1dhSnVLRU4xNXl3eFF6N29WRnl6Uk4xT2x1cXVXV0tXZkRDNHVHV0pocGxNQ2R5eXhFeTVZSkJ4eXhJTk01a1N1R1dKbVhMQkpPT1VKWnBtTWlWeHloSXo1UUZCeHNnUy93R2hYZ1ZncmhPREVBQUFBQUJKUlU1RXJrSmdnZz09Igp9Cg=="/>
    </extobj>
    <extobj name="334E55B0-647D-440b-865C-3EC943EB4CBC-44">
      <extobjdata type="334E55B0-647D-440b-865C-3EC943EB4CBC" data="ewoJIkltZ1NldHRpbmdKc29uIiA6ICJ7XCJkcGlcIjpcIjYwMFwiLFwiZm9ybWF0XCI6XCJQTkdcIixcInRyYW5zcGFyZW50XCI6dHJ1ZSxcImF1dG9cIjpmYWxzZX0iLAoJIkxhdGV4IiA6ICJYRnNnZVY5a1BVRmZaRWhmWkNCY1hRPT0iLAoJIkxhdGV4SW1nQmFzZTY0IiA6ICJpVkJPUncwS0dnb0FBQUFOU1VoRVVnQUFBWWdBQUFCTkJBTUFBQUJPUCs2bUFBQUFNRkJNVkVYLy8vOEFBQUFBQUFBQUFBQUFBQUFBQUFBQUFBQUFBQUFBQUFBQUFBQUFBQUFBQUFBQUFBQUFBQUFBQUFBQUFBQXYzYUI3QUFBQUQzUlNUbE1BWnJ2dnEwUXl6ZDEybVNLSlZCQmh6TXI3QUFBQUNYQklXWE1BQUE3RUFBQU94QUdWS3c0YkFBQUtERWxFUVZSb0JkVmJYMmhrVnhrL3U1dE1razA2RTN3VHhSbm95aFlmbkVDcUxENTRnMXNwVkdTQzJLYyt6T2lEZ2k4VHROTGlnek80aTY0Z1RLQ2dMNFZaaWlCc0N3bjJRUXFGeFBvSDdjc0VmQlZtcUtMV2w2UkpOTk50dThmZmQvNmZjKzlOenMwbW1mVSszUHVkYzc3ZjkzM24zTzk4MzNmdUpJeE40UHJPOWdTVW5ySEtlZjZmTTVZNEFYR1grWHNUMEhyR0tvZjh3d2lKSGI1ODV5Y3Z2UERpcldWK245ZzMrUElOYXQ5WjV1TUkrSG16SlB6d1pCVWxicTk5WXJkTnprK0duemZIQXVmQ3FoUDB2UHpMNjhMdW8ydXZmWUpZLzZyYTQydXYvZndFNkFVTWIvRllmN2lNV1h3NHNpWmgrdnh3MDdZblNOVTVQNGhUUHdXalZ4eld4OUR1T3UzSmtkT3dKTktwWjhHNTZsaDZGZTF0cHowNWtpempveWo5dStCMEdRbmFjanNtUnZkaFNhUXB3eUFFaEpPYTJCeksvRmVZaE9zaythWnNjUDYrTzlvTUp1V09YU2c5eGQvQkpCYWpkUFk0LzYvTE9BZ201WTVkS04xOEwzcDdsakhiUGRlNERuOUVxcTVlbDZMOVhkZTJQSm9pYXMwZERDZmxqbDBrUGNkYmwwTGI4dlRUSzF0M0JpazRyem50aVpHN2h5emFsakNpMGl2Y25wamxqdUxHQTBhbDNaTFRsVXVHRVhVR3dOVmM3b3NiS01FL1V2czFUMzB6aUtnVlRDS1A5eUw3Witnb0FGc2V4Q2dOSXlvbWRSU0RPMitlS2gxTUU4NC9pRkhVU2FlSm1OTlVqT2lINFNrbks0RDM0c0o5eXUwd3FVZmhjSDVWVkg1MUhuWElwaWhXYzVjTTdUMjM3ZE1mUzU2OG1GM2ZGcVZRSTY1Nm9JaTY3aGhLVVczTmFmdmt0L2tONTlUN1VzelowUmNRM2VwMGlSVWJWaHo5VDRCUlJHMDVQSE5vYnp0dGo1em1yN0txS1FRd2YzZjZIdWZETmk3Sk1OL0hJVE5DVkFWR3UyeDBXTTExbVBaSGpGVk11WGdsc3JCeHhjZlNmNU8yRCtOQ1piTkFtaWduTzR6Tm1nOFFXN0YxY3F6bER0K0dqS3p0dUM4RjhEcnZOQUZZYnBxWUl2K3NtTE43MVhkRXg0U0hKdWVWbzJLZFBEL0pFZHdKMGtRZm56NXlXRm1ic2lma2ppUkRJMGJCUDU3TnU1N0xVNE4ra2E3eHJNUk5BbHpobFpzbTZ0dVEyelNtSjhheDBKMXpsWk5RdW0wZkV4V0d5Z2FheEdhT2FOdE5hU0s4OXV5d1I1V0V2QTN0VHZPQkkzcTh1cEVsWCt1cmFhYjBNMUZqVkdLdnBvZURIa29UbjdsbnIxZlFYZ3Q0ZFBPcVNBdG0vWEZpOFk2MXBZLy8vdnFkbG1iV3o1dmE1TlJ6bkcvZGdsNStTZ0E3V3BSNWZ1UGxMNzM0WTlPQzg0R3I1YlN6MDRSRVZSQmc2WnhDRDF6NDZMWW5LWG5mSWpOYmJzK3A2UzI5TGVuRDNub29CaTdncjErNGN6TFRoRUsxeVdZY0JKWHBTQk0xVi80N3R5RGI3VGc5WFY5UzJNd3ZCZVVuRW1PRTRHdkdwQW1GR3R3RkJLYXZDQ1NGcVdDUmRpTjJ1c1FlZjMvTXVCQTVobExuUWxDMTFwejJJTmlkN2V3MElWQmYyd1FRczE2VitHcktlWGI5bE9Pb0tVWmVNVFZaNml1R0ZBUnozUFhyK043Rit0bHB3cUlhT2ppeFJzcDVobWRVeEEvTVFZaUNXemU5QXBpYldra3hCcVk5bDZtZWZacXdLRHRKRTZZTWZ1RExNdjBGaVhsK3NLd3YyTGVVaGlPbU9wMDAwNXJUcGtPdE55azFabENZallxckdXbWlreHVkWFJVbjBoUmNuQ3ZEbmhtdk5LSTBzZTFJelR0TkdCUmlYbGZ5aDJrQ3ZiNHNSMnd4c3JuL2xMbGduL0V0SzZYQ2RReW1Qa29UcTNhUVphY0pxbUVVcW1JTURkT0VTQ0d1TEVkc01iSlhzL3lKZWZPMmo2S0xXeHJCSnRlN1dHYWFBTnlnaGlZa2hXbUNNZU56cnI3aTlKeE8xd1R0bU56cUN2STNYek9JcURTcGtjdXVhSU9xbStDMDVZYzVNQnFmeXhCUW9HdlhkUlVFbW95ZjQvM05ON0RCUnFocEI1UFN1ZzNLbm5tSDVwMW9KdU56dXVOMHo4YVNnOXNJREpSRHhxZEZzeE5FMUg0bXhtNVpiSHhWT2VGbmU4OFJJYzc0bkdNRUsrVWRKNTU5em1XejlMUkoxOVNIVlU1L0tVQk1kVGNmRHlKcVBaaVVrbTFRMlBnUFZGOHZWV01NekpoaXdhUDRlV0xXTzFoV2c3SklTTWJtRzFrVk1NNFA3WWsxMG5LSkxTdFJDRW5xWlNPSDIyUHQvRnU5MjZ2WWhGMFhKR2pTa0hmVlV0elUwZmZxKzJIZzMyOCtNZjR5TnQvWWdZWVJsZEpFMXhrSDZhTndTRm1SNHpick1WYXE4K2M3aDBnVGQrV1llNytaTndXZWZaNG8rMExhL3MveDMrUkhUL09WaXVkaVlVU2xTZm1HQkNqRTFYVnBvaTNKeVhGZlpmUDFUMmVkWDl6NVJORlRCeU9YYndzVzJmWUN2Ny9KZnIzZk5CdVRoaW9lQ3hOcFlzZGl5STk4RkFDTGNoenZwS1k0L3lsa3pvdzlUM1dsRktHYmZrUWxDMGNhWCs2SVRkL3BlWnNQTDh2YlJsaG9Dd0UwaFlKTU5jbGQ4MDdLUFJFclVFdTVucW9WRjN5V2s2NkhvRW0wZE0rL1pLTGU4bjIrSDBSVURIdUdwRkNZNWFvVUNhZ1NQc3RsZG1wNG5xb1ZGM3hPNlVWU09POUxRVS9XZVlndWR4Mng5U0NpVm9Pb25FS2gxcEp2Z2tLbkV0UlFzYURxZWFxanBRaFoxVklWaUlvNzVjQTQxTXNWUnVtcDNFRXdnVU9IZmRGdTJGeEc3VFFLRVhwZGNDSWtxT01YUkxaRVY5K1hKZnFLM3VaODl4WmZJMHlaWFZXbkFJU2ZrUlZNUWJ4cm0rTFhKWGRTYVJSaWNFMEFCaVpON0dxOStvMjRBb3ZTRytiOUtpUzUwNHFra1puV0JLWFhWbmJEdVRTSDZNQ2k2bHhHN1N4VVhTNDN4V0tWbEFiYWl4SlBsdFJRN0Y1K0NXSS82MkpLSGZSOElIdmdCZEtMcnJpZis4dDljSFFkekY4c2ducXpVSzhMQWVYR0RWMnZZS1o3UWdTaTA2SWpxemc1L1ZZUCtqbi9nVFFWaS9qSlZ4TFI4L3k5UDBMY3JuNUxXNmF3ZmVQdHB6cUM0OW96dnlXRmw5Nis5N2hvZi9lWlA0K29JeFBGU2duL0Nwdi8zZmgxN1ZkNGV6WEJEV0pURUtlOVZZUjYzSmFVQkN5aXZtai9WZlV1ck9wM3crcDZITStXWUxFZDYxSktCb3F4djNQODRzWFh0NXdkdmlqWXA4eEpRNklMMzJmdzE2MzQyOWJFeE05TCtHQ0F2M2VsUDNlbERGalhMNkJocGtsL0FIdEgvZ0dzeUhkRDNiNlZITFNrQVJrb0RMejVPUC9ScDdBc0tpWmgvVFlGdStlcFVzRFozczNtS0xUNWprT1pFMTQ3N2FsbmE3dVdoc0M0SitoQ20rOVlsRW4xVFIxaHJhZHF0V2Y3UkQ1WUV4SUxiYjdqVUxZUXI2cWlBeWU5cGJPMU9wQUcyN2RGMTlVaW15OERWZjZXa295RVhaTmtWVyszSHFXSlA2bnhjM2pBbkVVaGRwYWkvRUkzVGtVR2FvUC9VR0t4RTFxU0dxcGNoM3dCSFVtYzZOTnc0ZVh2Q053dUxkdVZ2VGdaYVJReS9IMkpiZWlZemRycU94YW0zR0lscjdDUFV4UExoUzI2S25oRk1kUmVpOE9sVVVOOS9NRFFGNVdRaW5vVEtOSVptN1BIN2pnZFJiajBtMGdvU3ZYWEk2RXBWRU9YcnFZaXAxK09wT0VpNXM0OGlCUjlHcllOV1VCak95N2h5K0FvVWtRSzFkR1ZlbCs3RldQejBySGdhU2oyMnl1Um9rL0R0aVZqQ1ZheXkwb3hmL0VobEtSUVBYV2tnamRaYS92a3F2T2Q3MVBncTRNOHQydE83TDdmSERYeEppNjdINVNQMVpoQ05maFBCVUNXc2dvN3hUL1B5djFEL0hDMHVtQitwanBXN21rSEd3Y3Q5aTVmbWNKa0JyVm9JU0ZxQ0dmRU5aMll3eFkxKy94MjUyQVZtMk8vb3dJdzlaN0ROY2ZIVC9QUDBmODlYVDhhUmNzUFVUUDdBanNnU2ZZcS95SzV2WVBtMTVPZjJjNXpvZDc5M3ZpckVEeDljN3hkUUg2QUt2ZmUzMlNsQWI4L0tpRGprV1A5TnorNHhma1gvcS9ud05nYk9Fejg0WkZiMndJRy9RL3F0aXpyTnFYdm13QUFBQUJKUlU1RXJrSmdnZz09Igp9Cg=="/>
    </extobj>
    <extobj name="334E55B0-647D-440b-865C-3EC943EB4CBC-45">
      <extobjdata type="334E55B0-647D-440b-865C-3EC943EB4CBC" data="ewoJIkltZ1NldHRpbmdKc29uIiA6ICJ7XCJkcGlcIjpcIjYwMFwiLFwiZm9ybWF0XCI6XCJQTkdcIixcInRyYW5zcGFyZW50XCI6dHJ1ZSxcImF1dG9cIjpmYWxzZX0iLAoJIkxhdGV4IiA6ICJYRnNnY0Y5a1BWeG1jbUZqZTF4d1lYSjBhV0ZzSUZsOWUxeHdZWEowYVdGc0lIbGZaSDA5WEd4bFpuUW9YR1p5WVdON1dYMTdlVjlrZlZ4eWFXZG9kQ2xlZTF4bWNtRmplekY5ZTF4emFXZHRZWDE5SUZ4ZCIsCgkiTGF0ZXhJbWdCYXNlNjQiIDogImlWQk9SdzBLR2dvQUFBQU5TVWhFVWdBQUF0RUFBQURtQkFNQUFBRGhCOFFJQUFBQU1GQk1WRVgvLy84QUFBQUFBQUFBQUFBQUFBQUFBQUFBQUFBQUFBQUFBQUFBQUFBQUFBQUFBQUFBQUFBQUFBQUFBQUFBQUFBdjNhQjdBQUFBRDNSU1RsTUFNcnZ2M2F0bXpZa2lFSFpFVkprVnBLT1BBQUFBQ1hCSVdYTUFBQTdFQUFBT3hBR1ZLdzRiQUFBZWowbEVRVlI0QWUxZGI0d2t4MVh2T2QrZjNibno3Z1lEeWJkWlpFTWdSTXlGdXlURUJucGpuekYvTTRzallZeVN6Q2o1UUlBUHM4aUpqS3pBTEE3bUN5U3ppcEhpa0VnN3lUbnlCMHZNS2hCQmtOQ01FaEJDUkprVmZBT2hXU1V5NGsrU1dXNzJjdWZZdnVKWFhWM1ZWZDFkMDlVOVZUTnpsNWtQTy9YbjFYdXZYcjk2NzlYcm1sclBXMzVjU3VBYmZaZllsN2lGQlA2UkhJanlzdUJPQXAvNUtGbEsycDE0QmVZeUlhUzJsTFNRaDd0QytaRmYvN2ZoVXRMdUJLeGdYa3BhRVlmRHlsTFNEb1dyb0Y1S1doR0h3OHBTMGc2RnE2QmVTbG9SaDhQS1V0SU9oYXVnWGtwYUVZZkR5bExTRG9Xcm9GNUtXaEdIdzhwUzBnNkZxNkJlU2xvUmg4UEtVdElPaGF1Z1hrcGFFWWZEeWxMU0RvV3JvRjVLV2hHSHc4cFMwZzZGcTZCZVNsb1JoOFBLVXRJT2hhdWdYa3BhRVlmRHlsTFNEb1Vyb3k3WHlWTnlmVmwySTRISHJ2ZzRpSEQ1a1IwMzZKZFloUVJhNU5MbEs1Y3VrWXVpWlZsWVNtQXBnYVVFbGhMSUo0R3ovbGErQVF5NjlqTkZSbjFQajJtVHpTTHpyeTVQMitVVTJ3cTVrWE1FQXo5SGJoWWE5NzA3cUUyS2hicmxHam02VGFUMjZjZjg4WU5mbWplemErUkdweGdQVjhtdHlRUFhzV1ZSUDhlVEJ6anEvVTNHeE04NVFtK0tka1IrMFJRMEJyZnFrKzFZazFwZEVFbC9QM25yYjNWV3YrYVRYMmJzMWNtbEswOCsrZVNWU3o3cEM0YnZDUnF2K0NlaXhYWmhqWXozWkp4bnlQanlJMDgrK2FHSExwRlhSWHZKcDQwZmVvaHNpU1phcUdRbzlXSkllb1Y4Sk9ENnJCOWFPMm1aSFlyNXRIbHJSelJaTHZUSS95a1lKZW04SmpwV09CdmZGVTIwY0lHUVhhVmhJU3VqNzRSc3ZVQ3VCYVVQdm5Sdk1KL3hoLzh6WXZnNTFuYmpXMUdUM2RMZGhFVFBsYUkrKy9GSC9ZQ1B0Nyt2SVVpdFBzM2Eva0NGOVlhRXowS0FMbHhoWmJ6QmVXb0ozeitrVTR4TnBrWEkyS0hYSEpCWE9CL2lHOUluSkZMb29QMGNtaDdZRXlCaEFib2VZemNPTWYvNjRHWEJ3MVVSbDlKRmVsMjBzMEtUakJ1eEpvdlZWWkxtMUtqTjJsYXBuQ1hrYldwTFVLdVNhQjRwM1F2UVZQYjdnZ3VvVUZpaHZ5Z2JpM1pXR0pFM3hWcHNWcStTTkYvYkJSOFhWVEpyNUZwSGJRbHFHSi9XbkFJNXI2WVZjbklnYU5mRXRLcVk0b1pvcDRYVkRQZXVBT2V2VkdQK2tHRTRCVFpVUCtudHArOVNTcVRZVGo0L3AwVkhRR3NpKzlnVWZtV0lLUjRwT004NTllNHdWdzJGSEt0UVF4M2JsTFJ1cHNDaHFTbE1YM3IvM0Z1YlJFbzJkTVVTWHNjVWp4WG1ScG9aS2tDRks0T0VXMkNvd0FaUmtLN3BIampVdjY5QUxsb0ZaaUp5ZmFjRnQyY3dROFhwbjlmTjBNcUV5ajdaU2tWVUJ4K0hjazlQOThEaFV1K1hBUmV1M0NMQ1luamVtdkQwMkFxRTBYWEk4VEI2SGc3bWdOQ3RuNHAyQUQ0MnBaNjc0NkZJMU5kVUdZNDZGcVEwSWlLSTlyenprYWYzTWNWT3hHTkpnb3BhclpWNjBzSlNrTjRGTnVUdFlFV2ZWNFg1YUNoakY2enlnanhIeEtvdmgveTFNY1VvS1BHdU9vMmg5Q3VmQnZhUngvYkt2ajRKQlF2RW1WOHdHWWZzZkVaaUM2NmViMnIzTWNXdHFLdjJqcWhzdndUajBVakhpbWNndkRRZ1RxdEpLSFZNVS9MdGFzL2kxV0NkZVV4Rk43MlJpcHlLQmRlV1dlL3BaZFFDSDN1Q1hEVVdYSXNPV29BL2J5Z05DMXlCVG5QSEIwTWlCYWdqSlE2eFBRTW9idlJRWThpYjRHT1h0NjJwY1FodkRyK2hKN0pKai9VdVZoVWVrYVh6d0JabUtQYmo1MldUYlo5bHJKOWRIZFoxOEhHUmQvWWtrODNicE8rcTBCT3BVU3F1ZnFFR2JQajhsTlE0bnlMOGo4ZysxTUZSUDJSanlHMktHN2FHMFROTkVLQ0IvYXRoNjkza0tORXZOK3hISE12TnZMeGFCYTdnSXliSnUyYitqWGhhNlBFQVBHMHpEa3BLU0d1ZksxLzQ0U1J1R3RoemkxWVJDeTRKUjF2QS9sWjZUOURhWm1MR1grNzJKd0M3NmJydzlZZkc3em9FYmlpUWtEU05aSThadldmZDZnQldrckFQeVFuNjRJTzFydnBieVc2NUJYSGVCQm1lSXVPUHZlNmZmZkw0cHo3VmtVZk5zUHgreUxkR1RpQnFHRXdoVkJySk1yN0xOYmZiM083RW1JRnFZaU9ReHZQalRvWlVlcEdpSkNIWitadFRjL1NhSHlEa0R6M3ZzM1VrRk5ZbGowZ2pXYlloTytjMnhQUHFrK1NETENuZnhiWW1oWGlCWkxFT2Q1TWlaaTFyek55WEo2bTlicXlkOXRlSHIxSldXMGRlSmJLSm50ZkNGUGNvalRyM1NIWUl4ckVnc3p4aHpkTjF4bUxBTThKQnh6R0lPbUluYlp4WENWZUc3OWE3QzE0U0JjVE40YXVVYzY4aHh5dDJMalRoeS9iakt5R0xpYUdXR3BDdm1HQ21QUnJZQjhGZGU5THpDSG54aGZkTU1OY0tNeVl0N2w4VEVJNGI2bUovVWg1N0l6bkowTVVVdDBDOUNiUGk4bE5SRWl3SlN2UkZHM1VlWi9XR0lSclRsamVVVVROS3Ezemh6RXVub1ZBSG5LTmVveGJGcmtFZ1F0OHNYZUN4SGdlei9WMmRhS1podkNEcURjOGJtT2dpdE9Nb25iL3pvVjBSRWs4SGM5WmFia25McmJ1RE9SMExXdUdicFgxOW5sS0FUbE9BbVo2ODh4dUNxeVBvNUk0QkZVVFVHa085Rm9iYVhPSUd5S3lDd04xRUV6ajFHdWEwRmVIM1VaMllwNHhBcHlnaGhvK2ViaG9lRnRpYnBXMFJNR2tjM3Bsd29xZGRMOUcwS2FDdFRraEhkSjIvQWRGdWl5cTEydVR3M0tROFpRUmJ2TFN2WGZBaFR1Z3BlYzFydmNPSVJGV2VrRHhpSmR6bjlqS0Rjbm1VdFRKMko5TEtwUnZmeUdyVFk0V0ViRG9POFR6NlBEY21UZ2ptaFZ3ekNQRUNKQU5sQmhMZUVsdXRKUlpWU3gyektVS1dGeU5LZEVyeXJKSHZKZGNuNWltanNjVkwwclpVZzZRR1B1cXZhVHBqemVCWm1wSGNXUTEyQmZka0IrWHlJR3RsekdFM1FrWjNoU0x0Z1dic0ErUWNkUVJvczRSd1dWcFdxWmg3bEkvZDFLNUVJM2pXUEpQbngzMDZwWGNtaHN5aWdhWTJPaEVoS21uWm45QklWcmJiRWFURkVwUlFFeTBJSWwyd1lSTGkwUUhnV1JNcmxlczMvdmdaOG9EQU90TUNwaURuSWFtZFZqYmVMUzNiOXRnY3dCZGtZS1A3OFowTUdORmRWUXlnYUVhaDlIVHQ3ZCtVRzJaWWJxc1pCeHBBSzBhdW5qZ1VaNTg1U0thZmdSVnhvT3crSmtNM3MwS1p5Y01kOWZycSt6dHFUSTVrVXVoWEpDLzNXU3BqdGN1dUlSVXJBdXBNR0RGdzNUM1BncFp4Z1ZxTExRbWFydEsrVktkMmUxdXF1eWpDSVdhbVZmYk56WFNRUTlDNFJCZnNHK0trVzRKZENSYnFvT2dPemFJMXBINFhSVHpkekt3ekRJSkJHaS9rRHVvait4NFhQT2ZIU2VQbERXbFlKVFlqYWgvM3BINFh4WDJEeFY1WGpWd0dHNzRTVDJVQXo2aTdDMG5LcE5xeFdlZXlqektpSEdYUVBNb0NoK3h5dUl1Uis0V1l4WENpZnhBTDRtcXFNZkgyODlqSEJIYXpCdEE4eklETTZTNkdPVUxDRE1yV3VudnFSb1hPcUNNamI4YXNpZHhucVV4cFpxSEs2UzdXczdkQ1dSU3Q5NDlVU1NMSWszZUlRZTduWmV0RVZZVHlvU20xSjZwUng1M0RYY0RIbXZ2UGlJclRVbDMxTkRETHFtQ3hzblBZeDBLc21vZ0ZqbHNKaVRJSW1UeThEQlRXdXlIcFl3a3BqTVd1VktVcEJPZmhkRGYrZEdVR3dqSmdUTE1lZEFUTlNLWmdtV3ZUU05YWldreDE2T2E4NFpoQlBOMnRMQkxEbk9iQXozYXlXU1J0OS9jVUx3M0JxcHVyblBheEVIZlYyRHBLUXdLRlVLMWFHcERVVmpjSUhDWHdXUlFyU2hydGF0eFc1TFNQaFRnbTZ2NC9GVWROWFhxcE1IS2p5VHFSNFdkUVhsZDBlaFF6SGw3WC9iNlcydFJPeGt5cHU5ak1nRkc2d1hkV3hsdUJuMEVGNWlHS0xaQXZpQ1VnaHRsdlE2WmxFbkdDT0hHcHcwWGR4WUd1TTYwZGExRTFnMmxBczIzRHRpRXlnTThuL01nb0lYdnI3Q0hJeXd3cnFMdll5RU1aNlJwMVg1Qm5zQ1BZcXBTeGJKRlhZbFI4TlFpTTlWcXB3bjVsN2pJUTV1ZUwya3dXaWhYdWN5RHBFbkg0UVQ0MXhqQlFHN3FUQTFrUjBJSEJzcW5Fc2pPWmRFeU1meVlTeXdESUtHd3psT1ZxUXJuK0RKTGVza3d3anE2ZHZXeFdhd2EyWE1VTHhnL1Zsdm5YZXR5aWZZWFFkL1RpYy9iakw5MEhmZ2w1OEgxLzBoR3Q5Z3ZWakdYendXOC9Da0ZEMUQvOFgzOXJUaDFEanN5aFp3T0pwTklQVVVwZkp1UTNaSW9ET3IzdzQxSTkvTWtiRi9yNmpYOXloQk4xOTR0UkZwWlorZThKZWRmZi9mdTdDZmw5QmI2Q3ErcHdaZDRWWEZWMzBsRjZyRlpvem5UU2c0VEZ2WFFGdCtQUm0vdjB2eGRQc05SY3ZJQWFQUDRWMDVrM0o5aWRSUU1ObGZmc0U2ckVqcTNZcDFBSTR4c2U4eS8vUkwvUTBLa0gwV01QVXlOSklsaDN2K1ZLRWwzc0ZteGNNcmVJQldhQVRlTENiVjBLVE1QbUVDaGY1aGF4QUQzc0RUUm44d29ndXpPR2RBMk8xUlNZcVNPalZJQ1RoUmt5Y0pNTG9xOTRPd3N6eVlWZ3BHbXdHUy9BS0EzRCt3WEczY0ZEUnRtYjhTS3pwMkg2UVpHQmQrNllscHdndHpoTlNQcklJcm83QUpXZmtmWW9Pc1dhSTd4Ritabi9PT2pldGdzdXFvN1dpZ3RlWjRLVDJ0TmRGNVJnL3hmdFRhS0xhWnJqcENsN0o1NnI1eWFtTVovWm9rSFNCTk9oQzZhR2J1SjBGNnpPQmlkZStPVjdGMnZLMXNEZzlhUXByanNDanU2YTkxek1aTi9OTHQ4RnE3UEJTWC9kNFlSU2Q1bk1VK1dLcEdtZTQ3cnE0RW0xZGZlbnJ5YVJYN3crNUpGZHBLZURLOUtXYVZQNWVVUDEzQWdFajlCMHNaVHVQZm5WZ0tlejk0NS96NG5Ua0djOHJ6TE1xWnVmRHNJc21UcUE5dGdQN2xaNzBjZmxqTmM3OHhLRlk3b0lFVnk4Y3ZFOHZIUXhURkNmSC9mdnBxLy9TLzdOUGU5ZjQyZEFIYzkvZHVnSHJrSUU4NStzVm5BRXRJcmtTKzlXaDE3MDVpYThuNTFFZFpTR3JzSmVlankxcjZPcXRGY1BQSzlOWGw1aGU5WDJnditmRW9YMVBKV21xOU1DZFBONWFNTEpLalhuK09kR2JYWjB2T3ZJbXBtdzRoUUdrczQ4MDF1SUFXTkpyOUhUQ2owOGw0MkFEdXo3WGpiQnozNVY5L21uN01FMklQSXpnQ25tT0cyWGcwZmpYK1d1VTExdWl5TlBzRHBIbVdUS1BwNk01Z05iNVA1VGdJR2VtS0psOW93bFBiZ0l5bldSSmNkYW9BM2lVL3FkWjk1NFpVTlVXVUUrbGhrWCtHWU0xa20xQUFPUk1sbm1pRXJhU0wxR1I2RHNpMjBPeGtVL1IwSFBQcFZrWE5JZXpvdHFQaWQ5REhML3ljOEFKTTA4a1czbWpIK0VWRHNNYmlQanZ6dUJwQlZ6OXJtSElGTGJ6TTBEMzhpbHBIY05abFNtK3hzOEZxN0lTT055b1llanU0NTJzUWJNMlFSeEptbHF5WFlOT0wyYkpnT2szd3BpeDNOVEhkYU5pMTd0dmwxcWRWYzZUU1Y5WkNDRkVqMDJqblRVZGdpTEtDOTJTSFdvWGlCb2dITWhRU0Jwdm03dDhtY3E2WUJxTjdxSEFFS1A2WFJidVMyaUNKZDQ2Rk45am9zUWpZK3A2aVZ0eWx3Y0phdlRsKzVjVDlNaHBOWmh0RjJCMEdOYnFkYlVQeFEwbllrTzdnNlN0UFI3K1VFaXdEZXo5OUp6U3hSMUVqUnR0eUxwbGt1ZDNrek1XZE9BdERUdmFjY2RCOHhRbjNjVy9EYVZxQTdPaXFRWHducmdxZ1ZoTWNDUU9qR0VmUVVGdkZqREpraDZPa2J6MkdtRTAyTDdCTDNhVkNpZmMvVDZUU0V5ZzBwZG1xUlZjbFRTUjRZWXBYQ2FEbXNvdzlianNZalNlL3RVbkVrNlQ1U0h5RzR6RkZueXBNL2d6Z2luNmY5aUVBdlhxbjVRU2U4YVl1eEd5U2dJUFhZcW9wMTJacldrUzA5L2RVYjU2ZndNUU5MS0ZlNkdzc2tHeXlQcFlaU3RnOUJGZ21uMTZkckRmYTlGdGhMVXlqNmVvK1p6a0lCMjBGQ0FnYllyU1J2bjhpQUhQRzR1alI0UmdpMVZ5WWRiMS9HL2ZJOTRwL2ltajFIMzJSUlFEZ3NGR0lDa2hRNVo1WXhLdW1HSXNSWmw2MnJScURiNWIyKzErdWJVMTVINTA4T0dySmlDNVdmQW1hVHBtd0JEU1NPYzVvbFNoQjdjVEw4UXFNQzVFOU5qSTZZeW1oZGN6NVZPVTBrZm1zMUtDcWNSNzRVT3Vsd0x0b1k0LzhGRmI0WnNZYUVnYWJFOXM4cWs4YnZ4NE44SzhHM2h2Z2hZVG9kaGREMmVSTFhLNVF5Uk5WMUptZ2JHZmJPSjRPWXlucmx0aVExaFBmU01UVWQreEl3MWkxRERSRHJZRW5MWUFWTkpRNUhEZFFVNzhnNUdIOFpuSXlqMTBzSnBTenpPRkUwbDhZckRFbm56YzNuMG4vV0dKNHV2RXY3L0NidThpZXUySmJibWh3YjZKQktXVnJrd1AydEtEM3V3YzB2d2duekQydVpHd3pkL24yQ1ZmK3ZJMWhmZy9MUlBiclIzNk15ZUoyTm1NdWdONTh4Skl2Wm9XSi8wWEJCQzBtNmlxR1FDUXpjL0NQUG1hZnFXOWtLTi96TncrbSszTndONEZQWjBBMit2ZGdqRTlFY1MrU2FHZ01Md1p4MFE1cXVyL3U5NnBUcDNqTUU1OTBaQTc0eGw5bGEvK0FTNS9PUHplSGc1ZmlTUlQ5SllMSVlPQUw3ejJQc0V3V2J3Z1E2bmdkRk1HbmVaWXVFakozK2ZiY0VuWUJrM0pvTzU2S1VoZ2d1ODlJN3kyR2tDSFJsby80N24vWXQvK2IwUlJJVnp0Ui9wZWRSYnVGU3FqWC90ejczUGZJUE02UFNlekNnTmV6dHlnNjB5Wk1XVEdSa285NlBzdElBY2NOUFRGSnNhMFRkRm9YMmpINHord0J3Mm5uVFR2REVGNzlxaFErT0VTak9GQS94R2dHRWVxV2Q4dGVTTU90WjRIRk51aVpjOFJnTnRBTUVkbVc3bDhwR0QvSGhzbkRHd3ppMkZCTmZrUnFOR3cray9rbnFtS2JiZndrZlA0VFV3VFdrM09IMmIzKzBvbVpHQjFvK3kwd0p5R0c1Y0VGYzNjTHBhdEU5VnVCQUZqR1hmK05YYlZDU2x3UWhtM2RDRXBoNUxkUFJGY0pBMDZCWHlhakFDUzI3REt4bUdpM29hck9jcXd4bFVoaUdCckRFVyt5SHBUWXZvQktxcXFhUnBPQzFHOGNKNnFOT0lTL0FQeXBOUGdzUGwrbTZUWHhMd3B5M0g2UUt4dnRBaTRzV2RIcWhBVDgzMGJyRWduSTRUV0F2MXZFb0ZjczdPaFU2d1JOSHZRZkI4RzNHaWp1dkdxenduSDVnV2ZKbkJoNFhUTWNCVlpydnhGSkFycUpnaGlxRklWS256MytHdEVQc1dMOC9vdStmbURqQnEvdytNcHJDZjZpaDZOQ0phYlgyRTZuUVZSUXNmbWwyTW5sa3R4V1paSURJQnhjQTRHcHVBSk5sRlg0MGZKcHRUV3BxcGdHZklXN3h5NzdwWEovMFZTNWMxME1SRFF6QXdzcnZORjNqMUJhalVhL3Jld2oxMFI3Um5OTHFldmtudGtZZGI0ejUrQVhPdDlaUVJua3dnYkllbElLWTNjNWU0YnB5ZnlKeUtER0NjVDZFQmZVY2VHWmJMZiswL1RCZkZQL2cvbjlKYnBBa2J3OGg0MEJjOVpwcFFoRlRxR0tSTkRYTnVxY04xalZpcUpubnZGMTlxUWRJLytlMlA2ZkRZYkYvdFM5aUdzaW1SMnQwVm9YelNtckpHQjB2bGxnR3lFZVFjZkF4ZzdZSU0wazZoMlNVUncwWU5hcXpKUnJVcjNuZFB4TlljWDM3a3lTdVhuQ3lyaVlTOW9SeUlUQWExMUV2dDVJWWxYQklhcUl4aGdra2FOTXRpejlIZVdEOEh1bk5xNkx1TDltQWl4MFhIem1SY2UvWmJsNW9UZzFXWDltTXprVnhlSXFQWTdSWjV4eGVBQjhtZEFzTXlodmhPbmw4R1VZUHVyOTNuWC80V2hZTXFYRFNBdHdreWRMSE9IZG1rYWVkOXRrcklaVUorQlhoYTNIcmdPc1QzVEl2WGJIeDNvdTk2di8vV3Zoa2VCWXB1eGp0S3l5SlV6dnJrNW9aWC9nR2FrUWVEbTVTblVndlhJVzdURXYyYzl6ZURieWQvc0hYUm4rdDlQVlFnMnRqOHBYRUdBaWROVFRZdVRpYWtSVnBxa2JjRm5aKzg1ZEZmNHdYeUhkemFPeHVGL3UyVXR4SmFmSGs3a0E3UTdqRXU0QWNRVGZFN0U0anZ3QkE3dG9oYXBJWW83SU0xeWJVT3c5bzZwQ25VSTFSS05BOFd4Ym0rUzdheDBMWHFWMEh5YVYwRXhzZ2tVK1pNUHV0dThsWW1wTFV3MkEzdmhwM2RpOUN2UUcydTB2UmFqUm1TNEFaSy9mcldJamJ0b002cmt3NWM5dkhBVDRzWHF2dm1rWGZGVGRZN25VM0QxbXBrR2M1L0J6WXpPQk5RUDhKb0VZWkEwMTN1dDJwYUFaNmhGbUJkcEJlYjBTckxtaHhBdDdKZ1p0ei9nclQ5THQvQW9xTkppQkpWTXJ5MStDNWpCbXAvN0pDdGtjU0NTcVpDR1lBbWQxaHozVHhEQXRCZE5taGgvcmJrVEZwMXlHem1xWnZnRHdtSlVMNndqNXNPR1FiUmkrbm9xN3RvSHdqNXBoM01TQjlJWTZpK3BtdE96VkRYVUhFcEE3MFdTeFpYWGtZRk5qc1V3SDdNNS8vZzN6ejZvWGZhWXhnTEtkMDRsWUpjdWJoUEpuNHdJL1YyUnNZV3RNVE5XZUhpczI0clFvVDZCRlo3dEFtTWtTWTNWZnRJWDRacVpGT0lFYnpKVEQ5UXNSYUV6MEtUNCs0Q0NxQXlGbEdIbGtSUmVOUTh4eExpWi9uWlY4QTZWYS9nWFNmRWZzaFlxNHYxRzlUTDkvbkNzTmpnSFJKTWZ4ZXdUaU1ncUNmOXdpZnVMaWJjemdqUEhnNWlRK2YvRnh4Ums4dy8rNUEwTEVZcFNNMlBoSHlGVm5FNEJHYWJ2RHo5TnczelVyRlVqdEVNOWFSZitFU0xqTlU5bkpIV2JCb3hFY2tvY3ZCNWZyZFZqcWlranp4dmhRWlhuczhYWU53K0J0ZUFIbGhrdTZWeFgyM3dRdVc3eldpQnV4aFY3ZTJNUGF1cVlHR3FWSnMySlR3d0dOUmxYL2d4dEdIVnZzcTY0dll4dUFZVVlOWStUYzNlNzh0N0lBR2Urb3dTd0RaVW10cGpoQzFoK2RRQmM2dlJYL3cySk9wRHlXekRLbDVrWFhIN0NLWFhMSGNKVlo1aVY1QktHVlVYbnFTZW9LcTduVkZyajFMd3o2WUpLMU01ZE5DVzhqTHJJdlpQMmtmTDU2enhLUFgrSy9Ja0NYZmh0VFR2RUpCS1diRFFZeEJMN3JTRXhmRG91OXR3cmU0bjdLUGw2N1ltQ1FaOVliQ2RkQmZZbit5bXFpVGl4dER5cFhiUG9YRVVLVXhBSFNvZVdnejY5b1ZuMkpwQzVweEYyOWR0K1dMRHpTbUliK2o3RnFzazNRVmNTVjhBeW9XdU5BKzVmWDdsbWxDWWdBZWFuVzV3YnFLSFVEZTJqM3hzM204OGNVRTNOblpkNkcwT2Q5RVRnMkxZNWxXbGp1TllJZzVISi9ZeDBhcEZ1QmVQV25YMlVjS1ZxN2l2ZjJrN0ZBc3FoN3VBQm5WeU1lQWFHS3RQY1NueVBnYW1MalFrT2V4alVZWkJqR1phMGo3Qm9meWdBNC9qUUlYUXVRdXN6UVZ6aVBTZzFwSEVQT1lpZGxaWXRXR1hwTjBock5ZK1NyaHlGVUVpUGZOQmsrVEJOZ3JvaGtLN09XNmR1OEMyY3NFY0lqaFM3R05iU0JlL09CQ3hmN1FkNWpPRWxlbndzcDF2WDdqZkdENm9KdzhBUnludVFpaUdNZ3hhc3FVMHpMMENINk9FMDc1VTdRbHB3cVpzQ2xhZnUrL2tQZDQ1blZ3RVdONENxUFZUeDJEWmNXbEtsOXA1K3RzWktaYW1xa0NwaUdmYlNDVXRVVVFZRmFXYm9xMVpWN0tQMzBkdVBFYTIxOFdLbGtaUFZRU056VlFFWURGMEYzRGZ3c0pNdUoyUlltbEZqajBWNmV3YllSZEVyQUhxVU41d1ZxaEV0NHdQSS91NFFtN3RlWis0TmhBcjJoYlBzRWZwTHdQQTB6WWpJcnVMU2JjekJxL2x4RE94eGVDVWVMQTA1Y1F3Ukhvb01QcENnMFpDOGN1dEFLQlZFeXRhZ0U5WmdNS21Sd3NJN1E0WWJzbGRaTnpPR0syREtibXlOeHp1Um9xVXl5Sk5TaWxFQjRzaSsvZzhjK243RGh3T0htY25iV0xyd3VSRzdpTHJka2J3dDV1R2E1NXRpazVEYVNMakFVbUhQbCt5anpVMkErak1rVzJ1WWFoVGNVTFM0VG9EUktqZFdiY3oxalZQelRiUGVmQ0psNkYwMENDeXg2ajVUSDl4SmsrWTBETmh5QUhQR2M0K0Q2M0pzSGpNUE1aUUFHRTkrcXloSjlpcmh6R2M1blpHN0xRaXg2NGdtMk1GNjJ5UGs4ZWE1SkVyYldyeDJsV3hZMitHWGd1eTcvQlJ0cjZsbGFPZ3hQazY5bFJoMjhJNENROTZJNERwcFQ4YzNVTlQ4TTY2Z2wzd0xxZUpPUjN3TXI3Rm9jY3FEOEFnakowQWdPdTJCRDE5c2FlRVFRSWZnaExHRlZnTmZVclc3WXlSbVJGWTVsK0E4TzduWEVpbnhtaFRKWndZcGhyT0ZhWERBTmp5ZFZ1TUFaaUpYVlpTL3NKcGJ3WU5iUkZPdC9scTgza0FxSXpBQmVrODNhdTJ6N2ZXRk1IVjU0U1RaeHhCaHpxMEJQTVlMbGJvQ3V1eWU5MFd3MG12QWt3MTFGWFdESXNWMmk1b3gzRXdCdmE0RVE2V3Y5Qy9ZRW1QZ0R0TTRDZ29YUERKVDh2OGVxdE1ZejZQQSt1aGdISDZsMEhZdlc2TFU0MjJTcndsK0g0MjBJVnlIYjlaWUFMR0k5a01lbERZVTBCWkJXYWE5YWYwemJPcFRhNXRnUDZGS3JuZVVmbTRoMXpmODU3emYwRmtwNnY4Nkg1ZGpnYlZRVlBVS256dHFEaEtQbm5jVy8zb3liTmNnRmhzalFCRWN6dmpmdm9EVUxIT29ZYXJQRS8rOXorKzZKTWJoekhxWldRK2F1U1ZLRHN0Y3NnYSt4Z2JuN2NLWGR4SkcvUDU0RGM0QnhEZ1FkQzl6aVdwY1JkVmNpc056ZnpienNNNjRIT3RuMkJsOVduLzVFYzZXS01zSXdIZmRCekFhT3hqWW56T0JvUnhjcFFaalg3dVh2TGdiOVA4M0ViUVZ1SFdMTjFkSUQyeUZZMWRxRkxwbVNmR0QzNVR5eElXNjhXZ0Urbi9uYUNnc1k5YURLWWR3NGt4ZzNqM2tuRTdJOEwvdmluRnhZTERZdDBOT0lLQVdXRXRQZktkbW0wODB3TTlFckh4eTdpZGNiU294a00vdGJCbnlGY3RKTjBJMms3VGFHQmxLK3kzOXdYem9YdVpHSnhQQzlPcWsyOW5oSTJ6ejVtOU9hWmcraXd6aXJqdGljZDJNSUNIQVdDWHhpQjNIYWNNbXJKcHFPUndBMlRsMTRVNG9mQ2JyRGdNelRuaTVnYlNNMkUvLzBMR3I4L0x0OFgzR3JuUkNSaUZqb1M2aEZJL2FBclNINVdkb0d6MUQ2S1BneGpDRVhtS3RjQVBidkRTcTBFQmF5emxkc2JlQW1hWFluTlNxM1crbzBHR2REUHM0anJ0MHhpa0Y1ZUpPcjVZclJZM0g2QWVobXgxdnJUd1V5NFdvbUQ3bnJ5ZEVlcXdVNHoybkViQlVvUWNWOGk0RXpJeFlockhncEVXYjdYSllTVWVmY0JKc0pkQ2tPRDlJYVdKdHpQaURrc1hqTm1jcElvTHVoU3Fza2llZXQ0K2E0SzZiM21sOUhkUktwYmNOUkhlOEpHZ3hUSUFJbmxLM3hJR1RXQVJpYVRLTmdkbDMvV0Z6SG1vUENvMVRJeTVQNUVYUWZmNVlCYWZ2REZBZ0gySzJVcGxrSVhLS0Nhb0ZnbE5SWTliRVJEcFVYK1JmanNqSHBVTHEyWmhaam9VOE9ETVBsWkVyZytnZGZ5emt4Zko5aG1JbzcycEd6cFZPNTd3bm93QSs5Y2pXb2Z4aUpSM3d1Mk1GV0hOWlN5TFhFYXVQOUNOVlNYRmNaNmNQRVl6ZmlQeXhqQXlzVDBIaE5SYk1zNTZlSTB3UytqeEh2M3RqTFhiekI5aW54QWVBL21LR2pPOStNVEplekhkQys4KzJlV3p0dnl0ckNFY3hic1k0RWRLVnlhb3ZaM3hGRG5wV0diSU9icldteWlKRlRMdU95ZWxFRUJ5SlZoTVllTTVkaDlHTzVZN1Y0WklsUkgvUjNCUzI2SVhueWRmOHJ3M0VQSS9zMmFVN3dBWjNYTHRsVDJ2MUNhM09pWjh3SDF2bU1BdEZFeDVSQzc3WkR4elFkT1hYSDFKRW45QnhnOFI4ck1kcVVsZkhNWWlGejNrSXZXc2ZzRS8rZEgrSERqcThkMC9vLzFwSktmLzFJd05XSjVETThnbEZKWEFXZkcvSVBQS28zSmJxblRlV1ZxRWJ4WjBheUlEWnBHWE94dlYzUVdWK3A2bFN1ZFZqSUc2ZXpFZDd2Ti8xMms2WUFsWGV2U29pQkMrL25pQlVmOFBJc0ZYUm1Pd3FHQUFBQUFBU1VWT1JLNUNZSUk9Igp9Cg=="/>
    </extobj>
    <extobj name="334E55B0-647D-440b-865C-3EC943EB4CBC-46">
      <extobjdata type="334E55B0-647D-440b-865C-3EC943EB4CBC" data="ewoJIkltZ1NldHRpbmdKc29uIiA6ICJ7XCJkcGlcIjpcIjYwMFwiLFwiZm9ybWF0XCI6XCJQTkdcIixcInRyYW5zcGFyZW50XCI6dHJ1ZSxcImF1dG9cIjpmYWxzZX0iLAoJIkxhdGV4IiA6ICJYRnNnZDE5a0lEMGdjRjlrSUVGZlpDQmNYUT09IiwKCSJMYXRleEltZ0Jhc2U2NCIgOiAiaVZCT1J3MEtHZ29BQUFBTlNVaEVVZ0FBQVg4QUFBQk1CQU1BQUFCMzg2cmpBQUFBTUZCTVZFWC8vLzhBQUFBQUFBQUFBQUFBQUFBQUFBQUFBQUFBQUFBQUFBQUFBQUFBQUFBQUFBQUFBQUFBQUFBQUFBQUFBQUF2M2FCN0FBQUFEM1JTVGxNQVpydnZxekxObVlsVUlrUjJFTjBwUkRieEFBQUFDWEJJV1hNQUFBN0VBQUFPeEFHVkt3NGJBQUFKQUVsRVFWUm9CZFZhejJza3h4VXUvUmhKTzlyUmlKd0RJOWlRaTBsR1pKT0xpYmNGVGdnNWpjakIxOUVoTmdGalJvZEFIQWNpRVFJbWw4d1Mvd0VhRXNoVkl1UVE3TVBvRUhJZE9Vc1NBa3RHNENYNHRLUHNySGVWdFZmUDM2dXVWOVZkM1RVN0plMWhWQWQxZFZWOVg3MVg5ZXE5VnoxUzZqcVV5cnZYUWNvSk1oN1MwWVRlYTlEVnBQVnJJR1ZZeEJ0RSsrSGVhOUN6UUxSMURjUU1pOWdsMmdqM3puNVBsWWhPWjEvTXNJVHpVR0F6M0QzN1BYMG9jRGI3WW9ZbEhFR0I1K0h1bWUrNUNmbnBzNWtYTXl6ZzhHbUg2UE53Lzh6M3RKNDNpZjQzODJJR0JWeWw5VDJpODJEL3pIZXNYU2dFc3FjekwyZFF3TUZucWtIMEtOZy82eDAxcEVGOW9pZXpMbWRRdmtVNlVXMmljWERBckhlMHYxQnFTRVN6TG1kUXZzNnBVblVvY0JJY01kc2RjM3laeEgyQWVyTXRaMUM2ZTQvUnRRWUZvTWUxTEh1Y3hYRSt2VDVKL0s4azM5NzIreXUzM3ZTYnJ2cGV1WFh4ZmMweGQydjhrOTVVYkJVNnhyaEZLTURQVUhtRGJydEl0Mkt1bndjdjMreTY0NFMrQVNIdUorTVJQVDRKaVpOdFg3cmd0eFVvc0p0dHp0ZFg2VDNFT2hrd1NQT21HakJiK1hGWGZiczVQcnBCRnllcWtwejMxQWZUSmNnTm5ZVnlRajFCbVBiLzJWRkp3azBFeDZzVXZtUzg3RnRRKzVsU1RRZ3llSXJGeHoxMys4VXJVa3UwM0N6TVRuQjBMYm5MNTl3a0d4VnpkMkRNOHlEbVVoM05ZNFcwN05rS1lUNnV2ZlppbHVYVWUwS29DYmY2UlU3MEZpUldZN2ZPbUxnMmV0bTNvQ29IMHdhZGQ5TzlIaEk3eUJlVVEyME52RjBUektITkN6MlVVQWVQdGFOWi96Q1ZBdi80S0ZRKzlHVmI1b1VhUUpUVWREQlJ6eDlTZU9jd3pHV2lBczE5ak9oTHNvR292Y3NRaFcxN3NRblZFbEFIeXJHbWNYL3F2UEpkZXpsY2xvbmNpRUx0aG9RdlRJRURWRjRxZWlIMnhJVGFsSm9vejZWdHFSeGxXbGNEd25QemhvZnNiNktoWmI5eXdsYTVZV0paa0Z2QXlPcGRITCtzQjVGWTVFQnNDVmFWbTZEeTFWOS8vZUcyajM4OXFNSEZrVGQyYnhjTmlTeVVtdk1XdFl5L0s4dmVJWUtyOUlwQjFMa0hQc2NNYUpJT0hXaWJ6Ni9oSVl0YVVNRGpuUFE2dWd2WFlKdzB4a0dCbkV3bC9GWDdUYnJsY0c0S2cyaWZvUW14bWg4bzd2YTVZdUc2NCsrZlFBRmR1OXlmR2lmRVdDaFpWRVRYMU1VWXVoTCtlWHVMMlN1NzFSdEVkeGNNZFlsME9McXlMbk55R0VUZ29jUUthWWg2M21CVHhjbmROQ2lzbWZlbG9jQi9JS0t3OHlwenVocnhweDRZRHlSZHhkRVMzN1BxM3lHRytTVXpna3o3cUx5Q2tjaUx0d3dBYnRUNzBsRGdUemJNV0paUHpyTTA4ZE1oV25LMlFIdHFoc3paRFRRTkIxZi9QRFowYVRGMDhYYkE1MS9SL2xGUDNpZDdOSTB3K3VFUWRqVmdTMnhTWEZiOFRadkdyNmJRNEYrc1pNOTBRaGZ2YTV2UGYwaTNwU1RsdDNxTHdOa3l1UnhVdld0bW1QZjRWV2RDUWhVVU9kOWh3NDBPbmQ3M1RwKy9TYm1TWjlKdkZvRURkWnIyZDIwWVVIWHhGNEswTVVnYTRwKzRCZ2dJTTBrQ2JKbzgvbFg2MnZla3RLQktUNUR1YVJGMVcrdklZVkNxZmVwR2NnMVI5eWpmRXYyR01HQzN0V2s5dDZIeCtkY3l4M1lCQ213WHBuT0lBOXVkY1ZjRE9Rd0dDTWRkb0loc2NLYXE4N09OSE56bkgyUXNZQWtLaUdrN2tFTllKd1NkM0JKNTY3MTA5Yzk3bVREQUtmNjZrd1UxajcrV2phTndqdDVvaGpxRVhYZm9KSHJYL1BXdSsyNHZOLzFVTDNDZEcyWWdadktzMnVOZnpIcHhhSjdWeDNCWWhBdS8wSFRUOU01bFRGQTM5Y256R3R4YUNWMEhQdnJROEdRZlE2Smo4dzVkSk9reUxSNS8zNFpoOUxPNnUyYWNlMWlFQzc4NExGdG13SHlXZ051Nk5rYWJFWGpVRWpBSHlyRWJKclVEZTlZUVJHM09Zbm85L3RHT29QQkU1bWYzempWYkJMeW9XWGZRaW1FT3orekk2cTlHRDQ0UUJrNXRpMVJ3Wm9KbFF3YTU1NTd6QXdQcnVYSEJMK0cvbWZNNk9QMjVJT1FoY01iTmJIMjNSSTB0bWJqU3BCOTNIaU5QTFc2aWVqMG9mK0UrQUxxUnkyaEdicWxLK1llNVJJbVB2RmxqbHNwSHdIRDJ1VjBuZFQxZHdXUkhwZ0xiZVU5Vm02K1VPVElaTXQwemN4dUFSUFlJbFBLM1hzdHllcmQ2SDRFNGRwd09iOWc5WHJWTzRKL2FXSmN1WEl6T1VzZlVNMkVBYmtYaWNDay9mdG5MTVdNSG50dUdBZ0lld1F3L3NBcllUQWpmVjNndnNBWjJ5U3hUWk1WZG05U2gzZlJ5L252ZVpGQkFGT1l2UHA1RU9BUEhxU3hkcTBCNzAwaTNadHgveTAvZkk2WEhjSmlxUkptT2pZcmwvQzNQQitMSVdDZGVSR0EvZDdVNC9FSDBKQldzczI0RWJCbm4wL0RkbnVtUGVHRFpUWnlITWIwNmlYOU9icmpDM3JGUS9ySnhxcHVkUkhDR2FSUEhpMjNkT1NkYkNBK2N0Z3d5UnFpSHhQOXAyQjhiNzlHNGwrTEwrUWM1cDRtUkxYZjlLVU9Nek5hMm40cHB0c1hpaHJMWG9uZTgzQllCS2RMMEFWWThrUjhtY1daUnVqS3kyWTRxazZpZjJuY3QyUitsbjF5cmlWaFFWeXduc1RFNlR4M3hsdENUN2c2UC93K04wMjNsK0c2c1BjTi9QOEVWK0NSTC9BWlVUM1V2UjhCMGpqSCtqMC9nSFhRSzlNRzVnZU5VcEdzQkx5UTZaWmxqNnFBNFgrUDR0RHJTdjNNd3RvVC9MOTlrYWVuSno0WDc0L2R2cFMwL2VCZHFseUF3Y0VDUHR0WEg5STZxSlBTMlVqL1MrakFCREc2RG4xenA2Y3JsLzREaTgycnlwcXEwNUN5WDhtdGg4Y2NHb3E2MGFGbktKYW8yeWZ6TTlDLzQreEhabjhlUW5xWUx2K2dJTDZ1Q0RnTy9KMFRFNzU0SVJ3bC9aM3pudjI4OXpQem8xYURiZHg2K2hhYUVaU2xCTUZudHI1L1FwOWdncGY3OXkrVE9MN2lpUzEwV2ZzSGRacVV2OW9rd3NLUFU3NUk3UDNUSWVQNUlSRnNpMjZIYmRqZDlYTzB3UFdrNVVEeC9KS0l2WHJSQnozSXpYK0tsSVNFbGc0M25qMFEwNUI2NWwwMW5NeEpFVkZ1eW14bE1QSDhrb2lHV00rSXc4TnZNMVBIVnhOMEdMRGllUHhKeFlPSU12Qzg4UUdJbnZrUUZZZUNMQWl5ZVB4TFJOa2tndk8rMnFsenAzNlk0REJRVWlPZVBSTlRORHNBRktuV3p1SUlGaWNJTm1kdUFHeFRQSDRsWU50dmU1RGkyNUM1RlRvU3BhMmtZOEliSDgwY2lxdW5CdytvaHYyNXZlZE5IdlNJTTdCY0E4Znl4aUFGZjM2cWR0M2tIbXFoZXZpQU0zQzJpNC9rakVZdjBIVlViUE1hTjRtakYvMVpYRkdkU0M4TEFTYkUvbmo4V01hQUhuZkVSZnA1NzFIbW5PUC8wTGZ3TnJFUUJKTUt4L0pHSTJ0K1NCN3oxZjA0K25WN2F3c2o3UCsxQWdXLzk3RGVGbm5qK2VFUmgwdmlHUFlpdlN6eDBOaEFOaytUYlg1aGVtbGhmQWpxc2MxNEJHcVVBQUFBQUFFbEZUa1N1UW1DQyIKfQo="/>
    </extobj>
    <extobj name="334E55B0-647D-440b-865C-3EC943EB4CBC-47">
      <extobjdata type="334E55B0-647D-440b-865C-3EC943EB4CBC" data="ewoJIkltZ1NldHRpbmdKc29uIiA6ICJ7XCJkcGlcIjpcIjYwMFwiLFwiZm9ybWF0XCI6XCJQTkdcIixcInRyYW5zcGFyZW50XCI6dHJ1ZSxcImF1dG9cIjpmYWxzZX0iLAoJIkxhdGV4IiA6ICJYRnNnWEdGc2NHaGhYMlE5WEdKaGNudGNZV3h3YUdGOVgyUmNhR0YwZTB4OVgyUmVlMXhzWVcxaVpHRjlJRnhkIiwKCSJMYXRleEltZ0Jhc2U2NCIgOiAiaVZCT1J3MEtHZ29BQUFBTlNVaEVVZ0FBQVlFQUFBQmxCQU1BQUFCWjFVSTNBQUFBTUZCTVZFWC8vLzhBQUFBQUFBQUFBQUFBQUFBQUFBQUFBQUFBQUFBQUFBQUFBQUFBQUFBQUFBQUFBQUFBQUFBQUFBQUFBQUF2M2FCN0FBQUFEM1JTVGxNQUVIYXIzZTltVkxzaXpabUpNa1JscVhZUkFBQUFDWEJJV1hNQUFBN0VBQUFPeEFHVkt3NGJBQUFLejBsRVFWUjRBZFZiVDJoa1NSbXZUazltMGtrNkNjUE1Jb3ZRRWZHd3N0TEIxVlVIdEh1Wm1jdWk5cWd6dUxxNHIvWGtyZU5COEpZSWU1cURMNmdqd3lCMFpIWkU1ckFkRUFWZHBSdjBvTHNEbmN1S2VOaHVFRUVRN0xqcDFreG0xczlmMVh2MXF1cjk2ZmNuYS9iMU8vU3I5OVZYWDMxZmZYK3JLbUVzNTgvQ2ZzNFpqR1hQZmljV0pkOElDMFF6cmdTYmFMYVZzRUNQcklsZkNZdjB3Z2Z5YlRrYWR6WTFMOUJYTkFCdm51MFE5WHl3dkg0VzZiK00yWk1kSDM4clJJOTlvTHgrMXJnRkZRTktZRnRFZnFueUtVS1JudU9NOVFOS1dDVGF5eWZMUHE1cVIyc2NjamFnQkpqUmdRODNsNTlGMm5ENDJnb29vVUgvemlYTFBxWnVTWGN0Vyt1K3JpcU5mWkJjZnBhYmtxM3Z5NFo4VjJZK1ZSZEpXcGlVYWRiZVphSi96UnJQUG40NzlMWVBNbXVmcmRsdzVTbkxPazgwbk5JOUExM0xSTnN6d09ZVUZrdEVENmQwejBLWFBUUGxhZFJxYnRFa3FpczM4QTdkdVA3OC9mdjNyMXk5UVVjQnJ1REttd0ZndmdCSVd1b0pWa0Z6Ukx2NVlqakl6ZE0vdittSThMTm5mdk9SUUhkaE5vNEFjTlpDaC9zQjdnV2dSby9DTzNJRlJRRVhGZllMMk83bml0ZHdaczVBZ2doL3ZZQ3VadmlvUEVFcllET2NuNUoxU0ZRUDc4c1RkSXZvT0p5Zk4rbGJ4STlpVHZYQjlseC9EaE5NM28wNkdGcEJjVjJqSkNRU3pKSVlKWU1FamFoMUh1SFFia0MwbG5qeWR3V3g5SnJ4L0RLZUtHSisrS25LV2I3OE9EUmFqNmZ4M21LY2d3UzdZU3hVZVl3OVMzUXRyRE5Qc0NWSTBBdGhhTm54YjZML2hIVG1Dc1RUd1RDRW82NXpHdGtOS2ZoQ3NOOUxVQVVTaE14ZnBJbHc0WGIrejM5SDRlbkFkczlSVVRYMVFnVE1FNmdmbWc2ZWxPZDFjUFM4dXpLS3QyRGFMVFE4b0pYMzg5L3dkUEJEVmRGVm8ycU92QmdTVCtLN2ZtWktsanF0VzVYMkpKQUtIN3c2dWZ4MVAvNjcvWDMrWTliMVo1UFdBamdUQ3JycUxlMzZCdmxpdytQd25FMTBsZWhUSHVELzB2Z08wZGlpdzUxa3hGRTJCTk5CVjZ2bmNHamtYVGFmcytpTE8reThNckZrYzZURStqWk5ubUtGYWxML2c1RUUwMEZYMzdSMXZkUFRrazFmNXR6YzBRUk15VjBDOU5zMDJRUmFxYVBwZnRxd1VWZzZ1UDJpTm1UdTNuWFhKRnZrM0xrVkxQZU9jRkhabHpiZ1pFMVVZdDhWRkM3S1BmcmQ2UVQ3b2VrZ2RBeGN4dVY0eXkyV0JydWhpQ2NDOXFXQ2tZbTRMbGc1WXY4bForbUVwUVBaYWI2VmQ2Q1dFbXJwOTB5TXNLL0NXLytNZW5aQzhMWEEwWEF1WUpibFRWOElOZ2ZCRFE0aXVueGduR25zdWlDY2hLM3pabVBJZjZjL0Z6RkR4Qk4ydjFKVDZhZnFoUFF6d1lTcnp4aWFEblFFMVlhOXlVVkRmTHFHam5LU1UxVTRXdFFUUE9aa3NOU0hjc3EyYzJvNzRGTkZQNkhwSUJRZHNxcnJaVXM0d3ZJakUvTlBUMy95bGMrWklQeTlneFVsQUgzZWo4c1k1RzFLcUh0cTI5K1RBUEV1ZitOM042L3NLMUJvT2xEZFdxdXRsM2kyaUJQenBuNmhHUzEzYUVPVE4wRkM2UlZsTVdmZUdocmp3WWRSSmF6aWM4M0FpUHJvYUt2RCttS2kwVFVEdWZDeWxkaXBqSUhxQXd1cUZBMzd3QVFyU2lTQjl6N1VCSG9HZzlaaWdwVkxIa2Fra2FvS243RFgxZHlpaFRKeDJ3ZEs5d2wyMUtvZ1hzQW5GZ0wrWGpHMmpmMms2UUFCVkNPMXhVdVJVa0I3a0dBOUhjcys3SVpPQUFrQlp0b08zR2xYZEU1WUoyazZhR2xCUWpqY0psdnlPVEpqbUhQbzR5blZKL0t4Ris5Z1ArS1VvYnZuSjdIRkJmTWVEQW5JNkhYcURheE9YWDJQdUZPMHZiZ25PMkM1c3BucERVVnIxekFpK3BVMGtWeWFmVDJEQWNsTFUwNy9FK0ZUOHpqVFUxMERydTFhWUhVV0V6cVZJbVMyMm9aTjQ0THBiVllNS0JwMnM2dUdCZE9CdmE5NnRSYThTditiVkVqUUt3ZFhaNVZpS2dDTllsaXpha1JqU1BDWURRS0tSaG5SVTRNRDZhRHNNd09acEtCZkxSUXhMc0ZDa051UllhRnFtcVF0bUtvS1JVeElZR3ZjT21SZ04wTkZjQlZMdTZZK0dWc3lqNnE5SkZVaEk0UzFJVUdycmc4VWJjTkNBNzJ4QUlReVBScGo4c2RuTmI5d3g1dk9CbzgwVVZaMU4yZk1TMUlESTVneVNQQkhmU1ZjNG9hRnhqSWNRT0EzcStzS3lpVm9tL3p3VHRQWitpUzNFZTdBbHFaRkFYS1QxSllaZFNIQjY2YTJCTEpob1M3RkZDOEVZMzFadUFTZGpjQjQwOWs2L29QZFJzODN3azFTVmJOZXFCQlpkUittQ09EREFKQWwzeC93Y0tHTng5UVQwMEpFcCtsc0dHS2tnN0llY0FTK202UzZSanBna0NDQXlYaHBiRGlWSUpCaWY0RGRqYzR4ZHd2dmtFRkoxdGRaNW9aWFYzMG9RblFLb3NQMUc1amJyb1lJQ2N4STlPT1h4NStCaFFhR2kvU05XVUtmSTQwaWIySXV2VWpqRXZSMGxOSWZHcGVIU0FkMUJlUnEyMU9mbUU2cmZSeTQ2emV3SXQwaVYzMlMvNW1PTDlIR3FzK3BCSVVVK3dPd1l6aVhxUkpXdHVsdTV4RHBRR09aWCtkdjZoSTBESnZpUGE3ZnRJeHhnT3Brc0hpUGR0anRvOUVKYjB0UUZoa1oyUGZacDEreGt2MDlnMlV3WWxqdW5CNk9IY2xjdjJtYkxHTmd6K25udjdqNjUrdlFjYmZtcWlObEM4SEhKNEZ1cWsrSzlWa2NHeXdQZkhvYW1ScmhETGhKQ2p1K2JZMGZVNElMVGlxR2xIVU5KMFBUTXRJbTdFV1RBTWZwUTVDRWxMcXpWVTJoQzVZZXpCd08zQ1NGTUZGM0FQeVgvNzJGWm93TlJ5RTR6TkNBQ2p0NXEydHdoenNNVFNWblhIRnFPcERaWmpxNFpUcVNtTmsxRjRoK29EaDVFOWEzNFgwVzNYbGh4cHNlTUZNRFdsVGp5cGJoMkRWM0NWdUdzNEVSelhVeEpKRER2VExLMXZybTZJRVRYSjhWODdYb0hmRkdLRmxUREdScEliSU12WEhWeDMwUlhJdE5Ec0x5N1BNM3Erb3M4OTFCWFlENVQ2RnZWSVlPM0V0U0Y1V0psanN2SVZUWFFWVUVkTFIzQmJMVWhUTXl5eS9NZUZ1Tys4dGtXQkhLYlFsUVJhWUtxUXVCeC8reWFFK09ZQi9DVjgvN1lzeE1Vc2pOcm9tVWFnamFOajFrYkY1Y05VTklwMmMreEFnMWVrbWFXNTZKL0FCbUNwWHM0TFJGVU8vTEhrdXpYeHpSazFjTC9nZytJUlVsNXZJbktiazdYYkdQaDloLzgxT1IyamJIckVqakZUQU95ZjVnbllaaTlOL3BWUkYzbXF3b0ZYMGdPdUNRVGRGZ1Q3enhUSWZ6L0tYWEhqeDQ4TWFsQm0vcmtTQ1FwRllzK2pTSWZwTzRBRERMOGRvZDU4WVpaL0lPeVJiWHl3bWZ2NGsvbU1OeVFnREdXdlJjcWZNRjNvSWJiUE0zYjBBdi9La0psbjAvcXFZSVNWS3dsakZPbTE3Y0YrUHhWK1gwRTlHeTVTRlZUZDlnaWE0TVAzMmlLeFpOZml1R2d0M0c4UnB2d3FDYUFvU2JldkZtN0JjKzVzV253eExIQ0V0U0s3OXVqTzgrNVk0dnZIN2pwMDdUTzRiUkxkVEZ5dkQ2eHl2MC9FZmRaV2J2di9mVnBxQ3hLcGMrc2JNbFQxS29idy9FSk1wQ00vQWROMlNRMXRsa1lJUWFOMk9JSXlUdkNoUmxvVEVqc25TUFpEQk42bXdwa2hRWTd3bWVsandMemNKaXpKaVdMSkc2eVp3dFRaS0NCRTB4L1JtZURwYnJNYXhrN0c3SmNOSGc2ZUQzc1ZUU0pDa3YxVlg0SlBPT1Q4VE9rQlpCcGpxc2JSTkpMblo0SllYZndKT0hncUN3dk1GdUxQRk1DQU8zTElQRzkyTnZOekZEcWlRbG5kM2lNYW02bm9uQjJFR3JibEdCZlFwamN5cHZSUTFNbGFTNlRtV0NuSE1OKzdTMUtKb25neSs1ZHdZMkR4ZUxXa0VkUVRaVmttbzcrYjdHeTlXeXNWT1BvSjRGWEhKS0Y5U2kyS0VOTnVKSXBFdFNjOEpFN3h5UG9JT0Z3QVlqYnE2ay9WWHViYVhPcTF3SE5wclRuNVJKaXYrVCtYbmE0UDh0MzkrZVRqbDdiNUcraHI5M09XUTFHaTY3bGVRVVlpbVQxQnlOTDlGTGpIWHBwbE9HVFNHZHZhdEtsenVUSVZ1aW80NHEzNkxJcFUxUzUrK05Qd0ZhS3g4Zjk2SkluaHhlK0xCMWVSTmsvbXA5TnA3WTZTU3BlRDZ5WTV4T2tzck9YNEtScDVLa0V2Q1JIZVZVa2xSMjloS01QSlVrbFlDUDdDaW5rNlN5ODVkZzVLa2txUVI4WkVjNW5TU1ZuYjhFSTMxSjZuOGxjdjJDQ1FjR2p3QUFBQUJKUlU1RXJrSmdnZz09Igp9Cg=="/>
    </extobj>
    <extobj name="334E55B0-647D-440b-865C-3EC943EB4CBC-48">
      <extobjdata type="334E55B0-647D-440b-865C-3EC943EB4CBC" data="ewoJIkltZ1NldHRpbmdKc29uIiA6ICJ7XCJkcGlcIjpcIjYwMFwiLFwiZm9ybWF0XCI6XCJQTkdcIixcInRyYW5zcGFyZW50XCI6dHJ1ZSxcImF1dG9cIjpmYWxzZX0iLAoJIkxhdGV4IiA6ICJYRnNnWEhCcFgzdHZaSDFjYkc5dVozSnBaMmgwWVhKeWIzZGNkMmxrWldoaGRIdE1mVjlrWEd4dmJtZHlhV2RvZEdGeWNtOTNJRWhmWkZ4c2IyNW5jbWxuYUhSaGNuSnZkeUJCWDJSY2JHOXVaM0pwWjJoMFlYSnliM2NnZVY5a1hHeHZibWR5YVdkb2RHRnljbTkzSUZsY2JHOXVaM0pwWjJoMFlYSnliM2NnY0Y5a1hHeHZibWR5YVdkb2RHRnljbTkzSUhkZlpGeHNiMjVuY21sbmFIUmhjbkp2ZDF4aGJIQm9ZVjlrWEd4dmJtZHlhV2RvZEdGeWNtOTNYSEJwWDN0dlpIMGdYRjA9IiwKCSJMYXRleEltZ0Jhc2U2NCIgOiAiaVZCT1J3MEtHZ29BQUFBTlNVaEVVZ0FBQ2dzQUFBQmtDQU1BQUFDRmYySWZBQUFBUWxCTVZFWC8vLzhBQUFBQUFBQUFBQUFBQUFBQUFBQUFBQUFBQUFBQUFBQUFBQUFBQUFBQUFBQUFBQUFBQUFBQUFBQUFBQUFBQUFBQUFBQUFBQUFBQUFBQUFBQUFBQUNHS0V1ekFBQUFGWFJTVGxNQUlvbk43OTFFRUtzeVZMdG1kcGtnOGZOQSsvMmIwc2w3QUFBQUNYQklXWE1BQUE3RUFBQU94QUdWS3c0YkFBQWdBRWxFUVZSNEFlMmRiYU95b0pPSE8yV251anUxKzkvZHZ2OVgzWGtBQlFTZk02Q2ZMMHBOamJsbUdJWUI5WERBc3A3QTVmbThyTDhLcmdBQ0lBQUNJQUFDSUFBQ0lGQWdnYi9tOVhvOUNpdzRpZ3dDSUFBQ0lBQUNJQUFDSUxDU3dPMUVrU0F0NTkrVkY4THBJQUFDSUFBQ0lBQUNJQUFDaFJHNFBEVVM1TS9yVDJHRlIzRkJBQVJBQUFSQUFBUkFBQVRXRUhoMGtTQ3ZIZGRjQytlQ0FBaUFBQWlBQUFpQUFBaVVST0QzcktIZy9mWjcxN1htWDBubFIxbEJBQVJBQUFSQUFBUkFBQVNXRXZpNWF2eW5ROE0zczNYSFFQRlNvRGdQQkVBQUJFQUFCRUFBQk1vaGNOUkk4Tm5HZmpZMnhFQnhPVXBFU1VFQUJFQUFCRUFBQkVCZ0VZRi8vQnlaMTh0L3J1Q1Aza2pTL0MyNkpFNENBUkFBQVJBQUFSQUFBUkFvZ3NDUFRnODg5cDR3ZmRGczRlbFdoQmdvSkFpQUFBaUFBQWlBQUFpQXdId0NFdkExOGFkTFh4NlNNZlFUaHZQL0FtZUFBQWlBQUFpQUFBaUFBQWhrU1VCZU01S0lCS1hBR2czR1E4VXNKVUtoUUFBRVFBQUVRQUFFUUFBRXBoR1ExNHljUjJZRS92SERadkFpa21sRWNSUUlnQUFJZ0FBSWdBQUlsRUpBWGpOeW52QVF3WDhjRFY1Nzh3bExrUlBsQkFFUUFBRVFBQUVRQUFFUTZCUDRlYjFPRTk4Ny9FdnZLY1l0SkgyRTJBTUNJQUFDSUFBQ0lBQUM1Uko0VEl3RVdjSmZUQmtzVjlFb09RaUFBQWlBQUFpQUFBaUFBQWlBQUFpQUFBaUFBQWlBQUFpQUFBaUFBQWlBQUFpQUFBaUFBQWlBQUFpQUFBaUFBQWlBQUFpQUFBaUFBQWlBQUFpQUFBaUFBQWlBQUFpQUFBaUFBQWlBQUFpQUFBaUFBQWlBQUFpQUFBaUFBQWlBQUFpQUFBaUFBQWlBQUFpQUFBaUFBQWlBQUFpQUFBak1KSEI3SG1lZWdjTkJBQVJBQUFSQUFBUkFBQVFxSVVEdnMzbk5lSXA1SlZKRERCQUFBUkFBQVJBQUFSQUFBU1p3cDFqd0R5aEFBQVJBQUFSQUFBUktJa0N2RzM0MVRYTStuM1E1bjgrMFNUdnZKVW14YVZrVkNZR3dSQlRJMC83SjAwY214R2pYMmY3K3RkLy9pTUlMZzhUZnBmK3IxSWF3c3NTeXd6ZHlLOWJUa0pkQmpma3VRNEcwSUFBQ0dSTzRjZk1kWGI0MnRFa2hhWVBqS0M3YW1iR2E5eWthZHlGZTEzMytDLytTQ1lGNGJmZ1hLZDJ4ZCtnbGNoUjJnUUFJZ0FBSTdFN2djWHhlNzV3SmE1ZlQvWHA5SGgrMzNZdVN5eC8ya0JDUjUvSHZ4NWJ2WDRqc3pMOS9NVEFEUnR2Nk5tUzJ1UEJkTllFL3JnM1NDekFlcERsZG45R0pBajlINzdqVE14WXdWczBLd29FQUNJQkEzZ1I0cGhjdjErOE5BVU1GV1NUSFJQYkNwam11YlpBWVh1Rzd0dm5HRVZxK05wLzhYZG9PcEpYcEFhTC80UURQOURxYkJ5cE5RQkNiSUFBQ0lQQjVBanpyaHhZa2RUcFZHQ1RKTVUvVC9DSDJNY2hNN054MEJMSDJQUVRhbnRHd3lIL3NaWnBvMm5ENFJQd0tBaUFBQWlEd2RnSm45dEd2MTNDbi91Mmx5T29QREpMWUxIZ3BKOTlDUWd2dWxWQ3QvU29PVEp2TXlvaDNLOHpGcUgra0s4Q1Y1cDVJdE85V1Z2d1JDSUFBQ0lCQWpJRDE1TEhmdm5UZktCSVRLMkpRWFEzRTRIaTkwTkovWlkyeFV5b0c2d1BQSTJqdngvOUtUQkFhQkVBQUJQSWxZTVk3VC9tV2NQZVNHU1RKVWZQUldISDNFbi8wRHg4MkxmZ2FEQVkrV2tiOCtSc0oyQm1EZzZFZVRSZEVIdjJOU3NDbFFRQUVRR0FOQVl4Mzl1Z1pKSS9lRDJhSEdSTk54b3FwOCtyY1Q1SHgwOXdYa0J4VXIxTnlTR1VJMk03QUFCQ3FVd2dGQi9qZ0p4QUFBUkQ0S0lHeHVYRWZMZHhuL254c0NOaE1say9HaXA4cDlhZitsVzYwdVpoUlF0d1k4Q2tsZlBaL3piMVdBM09PS1hlTVVQQ3pTc0svZ3dBSWdFQ2FBTVk3ZTJ4R2tTQUw1akNqSk9uZkFjbGxoOGozcmRxYmg1S1pjaHBGVHQ2VS8zMjRJREVJZ0FBSTVFWUEwd1Y3R2htYkxuZ3dRMks5RTc5eXg1a2ZLMmd5cFlNVHhyNlN6cGNJYlI4NG5iaDVpTjduZy9uSVgySUtFQk1FUUtCSUFzam85TlEyY2JvZ1dqY21SNE4vZE1lSVBEc096NmpzbWRLMzdMQ1BHSXhQbTdnMHIzTWlTdndXUUpBVEJFQUFCTEltZ09tQ1BmVk1uQzZJK1U5RWpzYlRlZkRQREJJaVBPNFowM2ZzTUMrZVNieDU1dnhxOEs2Ujd6QUVTQWtDSUxBN2dkc1dUL0FZblJ1M3UxaHIvbkFmSk1WT0Y5d0VqNjhmdm5HRTl0QWdJQzhqVHh2MlQ4MW82dzFnTXBKdVdsSFdNVEIxNGhXTCtlakdvaTFjMVRReFpoNjFUdXFaZjVicjRZQVEwd3lvK0ZUQXcrZVIwZFkyRDJtb0txR3pLWkxrUFBoaXB3dHVnOGVyQWhRRHlyQmcyVjJLTjREeEtKV3dzWktCbVNRUXUxbVlycHp0TzQxV1NsMkNZc2ZMQ0FneFJxRGlVd0VQbjBkT1d6UkZaNFAzNFpxSlBuV01kMjZLSkQ3MWlTeWcyUEI1R3p4ZUhUaFpHOVM4WUtFdkhua0RHSTlTQ1J0ckdSZ0Q2R2VHYVVKcHNpcDlITXhhcVQ4dXdCWUZBSVFZUlZEeHFZQ0h6eU9uTFE1SllpTXk4OHBZN0hoblRNeE5rU1NIdGFoUzhGSmUrTHdOSGhjOFpZUE00NlhOamFUckRkSzkvRjdyMjRQWnErVGIvYzlhQnZZUmcrSGp4dW1tL0l6dkxsOHI5WGI4UDNnbFFJakJCeFdmQ25qNFBMTGFvbmhrZFllNzdMRzluanAyUVZKdStMd0ZIcGM1M1I5cW54cFg5aTFJVzROeElaV3l2cElCTnhXOFdJTXdZdE1rZ3ZSa2l3elFVSWxYTzlFTXhGaFhCRUNJOFFNVm53cDQrRHh5MnFLWVpQVjltOGFEcjc1T0psdzJSSkp1d2FoTzhKS0p5SE9Lc1FVZTkvOW9Db2w5VkVqWkx4N1pHb3dMcVpUMXRRenNJd1k5ZVgvb2FUTGVqdHcyMWtxZG16eUx5Z01JTVd5ZzRsTUJENTlIVGxzOFhkczJ4VXZMVmV4NFoxemdEWkVrc3dYbWx0a1N3K2N0OERqZzdZMGp2TXNNRVNhcE9hZGx1TG9Dek4rOWVUWFhjR1EwUXhuSGlyU0NnVnphdUJKNkNVMjNYT2hwTW10ZFZIZTFkNnd0bGZwR2FqOWYzWGtrWWdpblk0bXpKSlpDb09lS2l2VzdHQkpLSWw2bkNZY2x6djdJN3VWVXV1SmVIdGN6K1lmejlTL3ZhdENWT0wyMkJZLzAxYmY5NWVkNHNuMVRTZHowUDg0VnVHeUhHUW00ZHRJYXhmcThWTU9GWk5rSVNkSngwVng0WHRiK2phUEgvVmEzTFhkNzR3Z0pZQ0tCaktlR0RWSmVDdVpHRmFqaDhmRmdhSlQvN05Ia1BUd2FBbG5Ld0Z6SFBtTFE3U1FSbldROUN2LytROXZMcENaemI3aXh1WnNtL2tMS1ZrTjRYUXRzOVpkQk9JajFNNFordFNkQWJwWFFWemtWRmljdnBOSVo4ajhkTGFGb2tKWnJZZEozWXRpMTVUeDJEczB1ZHZJeWMwOHQvYnZjckp3bGZyUEVLeDJQQVZXaTlORXk3NERFaklZV0dUNXZnS2ZEVHYzRURvS0prRjMvM3gyWi85cENNRFRGNGtrdW5udk12ZVpRb3VPUzhxUUxHYlRLTmYxSzU0WTJ1bUpuSWUxeGVhMHNrdnJ4YWtnd0RuRDBmU28zYXUwbEkvaVBtLzNjdzkrK0FoWkI0QWNxcEt4ZjNFR1hJVGJUMGd2ekRzdW90SFRGRnBvSGg0Q1hnRWQ3VEZFclMzbnNIWnJSeEpRcFMxSHN4d3JMUGZGMTZhbktwZ3NlRHBzaHFYRzY0Qlo0T3B0MGJoeWhuZVlkem01U3FEczAvN1ZsZGtPRDVQcmtQSFk5WVFRZ0Rxa1hJV2FNWWhtRFRpQ09pSGxwNDErS2hydHdvRHN1cjdVbFVwUGVKY25EM1VLT2I2aWxmNXBPT1YrdVp3cDVTUndwelJJSS9IejVwUFV6aGM0UXJIY29iSTcxSWlxVzdnOGJSOU0rV1BPSGUwcUZ4Y0pXRlB1OWtNZmVvWmtKYXRnQ2g1WjFrWk5sa3MwM3pkMWZseGlVM01YYWdESWJIRnlRclpDMERWb29IWGxBWGdvTmVsYmo2WERRcFp4UkQ0TWw3eHNGdXNMMzFwYUFvV2pZK0hvZUpRNTZEeElVRkJBTE9TU1dNSEJPdDg4a3NEWkFzV0VKL25hQjFIY1Q1b2o3L09INUVXMmJMNU1sTXA4ajZlak1yaTZBTUdUOTZnMjYzcEhwS2E1cnJHeFo5L3RlUU1VV1RqcEdkZ1lCN3lSY3dlREJxYmpRY0JHUHZVTXoweEkxNS9QcGRDTEhUSis2VUdodVYwK25hMWRqcmNySy9tYnZHelJCOHdReXd6clpEK1JNbDJvckpKMGZDLzdiRElhVzBNb0ZKZWZOMVhqYWExS3M0OGJMR3ZvVWVYZTFpTFFFekxVZEdLWjZHTDUvVDdOa1NUTnFPV2Ewc29TQlczd2VRK0pGaGFZMm9JakdicjdVWk9zcXR1ajRTS0dnbzJhK1hCbUN1NnFiRDRIdUZyTkpiNDV5L05sWDZpUzdQNkI3aUdSeE9IVS81cnUyZ0lvUlJub0p2dmxMUE94RUlMZnk4Z2xMZU93ZG1rbk1mZjh6YVlvL0IvS3BySjc1M0dyQkp1ZTJ5SFBQMXhwYVdPcCtXTWlOa0JneXlhOVN3K2UxZUZyNDdvMGp2TE4wVTVvUGhyeWNPekJvTnd3aERZeGFYRVdzekdmZ2lXV3pQeElqVU1CVVNPNTh0dFJQR3dXWmZxRWJDaDRPTXAvWXlaaDdpTExkbUEyaHMzNkpmbjNyRndhdStzMDRZV0d4b0NSNWw3U3ZuRURyZFFna0h1N205eCtMeUpyN0JqdmJTalFkdW1kb1J1a3Q1eGJodXdQWjY3TDVjbFd4eFltOTVSV3N1dW1Dck5OTmtKaklKdjFWclBXc3c5T0tUZTIrSHc0YlZNVTFncTFFczhGMGZrYnJVWHNsV1pIcGdxdVM5djcxZHRtYXpjQXZsY2hNaGtCN3FYdXV0MVg0UjJTNU5WZnExdVZ5MDBpTFh4RWtEckFwc3l6bGpSWnFMb1JCNnhjc0hnTk5EM1dSVUxRTStlMmNTMFVsa0g2Z0d3ckxidWs1ZEpIbE9iQ2IvSVNQbEdnMkR6cGgxOUNNSUx0TzE2bWNaSUVSZ1NyYXhSblJabkg3YTN4Wm9lT2RDVFZ1Z3VUK1RDelM0eTBtNVJGQnRBNVBlOEhlODFMTUtKRGZMcmFIRjdBeUZ3ejVGbHZ4cFBuM1I4bDB6THp6L0FVQW9DTE9aUkJJSlJ3b0RxQ1JzTk1LdHhSYzllMmJNNlgrYlFkRU5mY2J1RTlwOG4xamVMc0VHL3pCVEFpRDFxK0Juek1lU3VXVHRtYURjdTU3aVpsVXRIRGFyRnJuMEJaWVhFSnJHTGZXaXRvRENsaVp5MlB2MEl3WXU2RWdkZEpicUgrYkFiLzlQWTdYKytsOFhwNkZhMHUxNVFxbkpCWUhneHpsMDdLMC9jNlV5UlpJa2xvV1R6OXRVbnlOZUt6cGtyc0xmSjJ4SmI4QnNJZjczM1dBZVhaZUo1SURISnN1V0FjRFg2OThaNmtzZDM3MCtGS3ZFbHh6ajgxNUhxTWRJajZJM3R2VzNaUlVOUi9VRGtlS1REWFBUNGlaMFpJNDFpOHE5K2JHcVpQMGs0QThraHlpcW82S0NNUWdvM2ZRaTdsWUIzbTBFdzBjQ001cUhWYXllMmgyOTE5ejlIVG1xVnc3Zisxd1hyQ3EzWHpXY1RKS1dIRFZMVTdoZXRjc0xCVExRNHRmYVNjWEtsc21HeUJKUWpCNXdRa05YWlY0REJlU0xjaUd6SGp4U0NWZ3VwdEgxZmxiSjYrSVJxWUxWc0lnckNZbU9md2k2WDBjNFlHWmJjL3lHR2NybTA2VUMzTy9HZ3NteGM5VzgveGtuT2t0U2FkZ25TWHF5U3RPMHQ1T2JsVk5POTJVamQydDM1VlFZV0ZVbEZqWUsxanN5SGt6MkZtcWhNZmVvUmw1WXE4VDFqak4xTmxaOTQxdjV0YmxyZzhQZDNLT002L3d0c081Q2krN1EwYmJNQ2QwbmxmR2ZKbXNScEoyV2d5YmxnbWthc1JqeGI3M3UvaG1mREFNRWUwWnpuY2RZQ2dIWm1WUzBlMldma2RTaGU0QmRUQndKWkoxcVhoU1FTYllRZS9zRCs2WTRURW9BalNkWjQyQ3ZNYUhSTkFSd2pCQ2JHWExWL01TREU1c1NSenJqL1I2eEFKczBHTWxKeTVwbzZpRGlvaXFBeVN4QjJ1S1paZ2dzWnRvWVBsNDMzWHcyRDAwdTlwdW1zSWtLKzJTTmd1REpFOHQ3WVowQTlOUlFudmMzaXZpeDVhOCtVaTkxa0FOSFpja1V5WnJrU1E5dVJrRjY4MExUcENxRFk4Umt4cEJMdy9BdTAwWTRJMFZKYWpRN3ZMQk9HTThFdmY1Z211L1BtbEdBcVo4QmozOWlrZ2NDZmcwZXNmbHQyTzZ4L2pYcHJjaTAwUkpNSTJOMG1FUEhaS3A1clVPVDJwSkhPdVh3TS9UdHpySjBFTlF2alRjNVp0QitWUllIazJ3eE5LQ3hrVnEzOEUrb3RKSDRHMlZ6MlAzME96aWQ4d293R21Ka2w2R3phODljc3FLNkdiWXZVKzV6UGJIYVA4MDFoTVovcStWMHdYNTRya3lXWWtrT2VadUlwNUJUKzlBcncyUEVhMTM0d2p0VitKdE8rbEFpSzJXRCtiM2J2Mk9ldit1QThyeWprMFg1R1BLWjhCUytJdHhLVlA3U3Y3Skg5MmE3REZ1ZDZ0cUdSSDNvaUNXUUdlUmhGa3hUN1pjTlc4cThZU1dwTE4rNVdhUmlKanFKTU9aUjFSTndsMGVsR3pydzNRcUxJOU9rNGlHQ1E0cTZpc093NkFybFc4bG53N05HbWZNazR6U00xTGY5dVp1aVNxblhlL25kOVp5KzYvYnJPUERnelhCMXp4R3pjc1hXWHAwRTR6U1A4dmJtczZrS0NTZWpPNkdPdnJKVmpVZHoyRW1uLy81bjlBSVptMHZ0QmhGUVNmYk9LaGpveEdSUDNXMyt6VmNxd21NSklLQ1JFQms0Q3hFb0UzTUpIOHkwelkrNUU1WVFKVjdvMG5WTThYZXUwcElXOTBmVTlWZ1lMQzMrRDdyMzEvMUVlc1hKeGxPRjZUdVVWQkh3Z3BSQlJYdEJFYjhJMG1yTGxLeVU5MzlSeUdGYnJzS0hwMDRCN3JWcXVzajdoR2FFZSt1R3BLZEpqTThiaUduclV2N09lbFFPNFhhQkZ2N2ZYV2lUeWluYWIwNy9mVFB1WXgxRVNjektRcEplaUtBVVdXZlZIelBaRHltTzdtZnBkaC9tbVV4S2lTUGZ6YjlSYTg0NHU4dHBwckFpT0FCeDVIcGdvSmhNb015Nm83SUpIS1BOZnJXQ0VhK1B5VjJvTXBrS2FXdDdyWDZHaUgyUTBUM01wTTEvekczNERTaWJzRWo2Mkw5ZmhZMHNvdE9QSTVOSEtpQ2locHRMeEFXY05yZ2NwTktMclRmbXc3aFZzSERFV3IzMEl6bWNIUmRiVkxNT0hLbnRNT3JQUDR4RkRoMVowdGwrTWpIbk15ZzJKb2JPbmNDMkxYN1dDdzltY2xIYU1pZmJvbGs1blJCZWU1MTVpWXpCNCthaGNtTkpqUnFUV2Y0ZTdMZDJQZVpKUDd0amJ1bmd0R1F3Tzl6VHBrdU9OMDQzaWpreUtXbk1yREtWcm5IR24xNzlNajNTTm5lOS9ORXFlUFRCVTBQdTJ1RUlsSVdZUDNqUTVncVY4VDZsVUJ2Y3RaOU9EN1dsd1JrN2l4SHFaZ0tFTzlPYU92Qnc4ZmQrL3NpMW1GM1ZXUWxJdEx1b1JsNUNNdFNCdHduMXV2Mm5JRVZkajV4SlljbkhXZDJhZi83UC8vWnhMTmRaMFcrYkd1MERIZ3RNdDVRdEdDYkx6Q0pTUjFJWms0WGxFQm1FcDdEWEQ3LyszK01mdlV5ejJKRStlVHE3OWZJWXNveXpRVDU0RXJBeUNCWmtBaVlNbDF3dW5ITXRZM1B1Qk0yRGpOQ05qYWFFRGlSeE9aY3NmZXVFdUxrZTlNRlRRL2I3eHNFRXI3UCtuZFhmY1Q2bFVDdjRSM055OVJBeFRRUWNlMXJMRWh1ajFZbXVNa2FlTGlHVC9LMG01dzk3MWxJKyt2c2xTZ3E2cVowWFF2dW9NeStiUElFNmU0TUJFN0pFOS8vZzdyZzV3VDdjc3ZDQUdrWlVNbHpySWVmTDVOVlNGeEszdnJNNllLMTRSRVc1OFQ5SVRvOE9KWklWcHcxZ1pGS0ZNUzEwa0tPK0o2YUdOaEtvbkpQYWVqc0dmbDh6L1VZaWVtQ3hrVU15Wld2NWswd1A2TWxpVmkvNUJoNmMwVnVZMU9KcTZDaVNhQ2U4R29OYlN6WXZiOXZ3RXlxNE9ISXQzdG9Sald4YzhzY3BEdUZXYms2ZmZoKzVSL05QbDBHSzlyYkdxZWVMclpHYndzY09INHdhY2puWmN0a0ZaS3VOeEd5RWM4M0dENTdaMVNHUjJTalNoWHZjNWcwYzI5c3lDTmlOaW9DRXhrazQxblN0S1JublFxRmloaTBLdDV5dW1CNzBYMVdabnVNcU9JUFprN0RvTzZ6MWZ4aEV3amlKSHY1MHNmd2V6WXlia3RtVURHVFJSUGExd0hrSXdYY1E0MnVOZmVLckVSRTJqczBZMTEwcVR1MmJFdDIvZmYwNGZ2MS96WHJDdHdUYlNZMXdkNWx4ZFplUXpWMDlNNnY2Vk9ldkg5Ky84WTZKRjF2SWlpcGR1eWN6SFB3ZTdpWnE4a3N4TVBpVVExTDRPR0wwakpwZkxBaU1DSjJrQWpZZHJwZ2FGVnYzbDVoSEp0T0YzeXptTUhsNTBzdGNWT2dlQm4rRzYwRnVWcS9QQTVuWGtzaWlXQWZndVlZZW03ZzdqVE1BWHZkcklHS2FTQ2lUNVN4YnlRNVVpM3BZcFFvQ3RsWkF3OUh1dDFETTQ1dnV2L24rdDF0clYzaktwNW9CdGRlZXRYNUxPVjVZS0EzZFhHMk5Wb0dnc2p4dDdid0JUSmtzaEpKc3FhK2I3cGdTa2x2MmI4VUR4Zm1tcnhKVk5yR2llWlFrZDJ3S0dHSEtwRXk4cFZaRVFNcjJLYlRCZTFGZC9sZVVDVmtPTENYQVRJOTdIanEzSWlTcWVZbEZKelprckFvd1VRaUpSQUNvRkJnUkpFMVVOR0tud3IxVEY3d0ZBQkxjS21CaHlQYTdxRVpqVkU0QTN4Y1d4Y0VTWTRBem1xdXcvZmNNK3Q1SktmY3lWVzJOVnJTZ0tpVEU1OEQyMTR5VXlacmtiVHloU3ZjWXRDU2pCV0Q0MnZEUStLUlNLbk9nMmtGL2NkTEJFVE1aa1ZnTkJNUU1OR3dPQzY3M1ZzUkF5dVNEcWFsNWhDMFIyVzRzc0JqY0o3ajllcGxnSFRDMk9BWVlLYWFsMmREem14Sll0WXZUdEpQRlpMRy84WWFxU3FvbUdSQndzTFZaSnBKSThUNk1NS3BMVTNpRDkreGUwRlZrV0xzSFpweHY5UkpVM0ZsSFlsbXB0T1NwaTRkT0UyLzBMWkhzdlgxNW1aTStRdVR6aDd3V3NHTHBTTVh6WlBKWWlUaWpyemVSQ0N6VG9jYUNKLzk0eXZEdzhLZDNiNldMNjFKQ2sxcFRTb0NvOTQvOEF2eGxKR1BxeUlHcldBYUNQWGlnUGIzWEZlV2VJeDQ3bGViKzJSL1NRRGtxWGw1UTlyY2xpUm0vZUlrZXhlNkR6TXgwd1dEZXBTQnZjd3pEZTBFcHRwVVl4elRZcEtLcklUVnVIdG94c09lVGlqTnNhQ3pHYkdzeTkvMTFMeWEwekVSTXY0YzcrZlgrY29YNFd1bmxCeTU4azY3T0tLYjB2cjJpNlBWT0J6ZGNvNmp5S2pYNitXZmMyZXlHb25UbTNCdzBPcDQrRncxSGhLT2pDWlJVOXFYMERsNWVaOWVuWGJEM2VSdzJEeVJNcXJkT1BTbFdRdTdwcjZ0N0x1MXlHUEVjNy9xVlNQdFJPN1dMODV0ZGtzU3NYNDEvbkM2SU8yTjZiUTJLaExBSmJ2TEpoWk10aS81dDYzTHJJUTF2M2RvSm0xMVozS0NQaHJPbUdOdW5NNXVUaFR1VVVBVmFlUGs5OU9WeEtCdUR2djhLZU5mM2YvdnNIYWhUbGpFOFV6NVp6UGVHWXh1T1djU2xVZzNMWHNtNjVFa3V3K2o0VE9GaTR3MVo1TlpnVWR1SEVsWEFSTXBKN0pDdFlLUlZGaVFCWW1uakdvM2pyWTNFTVlCamsvSmNuVlpsUkRGOTRJbjJkdS9meXA3Nno4c2c4QXRmSkNMME1HVnNEWDlpdzFlMVVkRlc0akFIWFJHejdRRzJ1djZlTFNpN3g2YUJVUFpFZ3NtOVhLNDhPRlhNZG9mYnNGN0xveURmSG5TRXYxOEZ4TlBCMDZ0MFB1dWNPYzBySFlUUzBCbjhoSUo5L1FDWk5ZOVQ2ZVovTHlackVlU0JEZ2FQc3N6ZHFyRkl6ZU9KTzJGMzZza1N4UmYvblZwb2QzSWlGalE0WXluakdvM2prT3Awd1VYYVY1elBJSGl6Y2hCcjNlZXYvV0w3dWEzSkdMOWZwNUxPMExoclNQbnlBQmRoVlIwbmt5eXZ5eitNZmxyaFR6YXRtRHYwQ3pNQTByamxCeXlZcHR0MmhRUTY4R1A5QzdjNTdHN1RpL3A4S1Vid2xib1hWZFl3dEFkVFN5QXllTDAzSlk5bldOZks3M2RkeWlBeVhva1NZdlJwOFlOaE05MTQ1RWJSM29kcHRZMjdKUFZZcjJMaXNGUU5lbDFJNk1wbzRvWldCdlFwRmdpTVd3UHl1NTdtY2VJNTM2MUZ4REVWQVZvWGpweUMxb1NzWDcvUEEySEFpMy9odE1vYUl5aHh2WlZRbzcwOEtIZzhrUG5GbFNWUEt4MHU0ZG1ITSs1V1RMdHV0bmlCTitjelQwNXNSMzdNYmN6YytFZGJhaW9PazRHVHNHMWQ5dWtSTlhTTW8yTWQvS1FRVytHUndsTTFpTkoxRlg3ZUtnMDhjcng4RERTb0xXUnhmQVN0SVJVR1dvR0l5TDduYVpveXFobUJzYmZxZHl4MFlUZEhPS1NQMXJtTVdTbVhPZ2h0WmtJSEVnSm11Zkh5UXpXN1FSWWlmNzkvcUVHeWNIeC9YY1JWMHBGRXFXUjhUVGxJYzRpTUE5RHFsSWVScnJkUXpQV2c5c3BWZC9VeG5PZWVYTGhHaWNVbFB0Y1hCMnlsVHRhazZxZnpPNTZsOTV2ZzNON2ZqTTAvYitwOHZPU09QMkhXZmFHMXd0Z3NnR1N1TUVRV1hPamJOSUtLc2ZEejV4SW1JdWFuVFFNVGdlcU5jYWF3WWp6OTAxR3UxbEJTRnd6QTZOb2pRS1dEbFMwMXJMenlrS1BJWHIzc2dkVWJwaytGNDRyRktCNUdkc2VyTnNKcFlqQWZsNVFtdjBnU0w1NTdiSmNxMUlxa2hoT1JOV1MrVXZkZEZBcEQyTTNlNGRtMGxSNzhZdEVPOUdtVzQ1MTA0QTYyNm5idzdHZnExSTVZVWx0U1ZTaVRYWlRQQmM2bnNuWEZUYXA4YzVicElYajJXTDVNM2tiRWdJci9ZRjBQRlE3SHE0Q2crWWxEVU52d0xSeXV4R2hQY2NnS2ZVUVZlM0d3WWFoQTZTUnZQQ2cxWHo2eDJVZVF6T0F3Unh6Q1lhYnJoRVIwVXJRUEtjRkY3VWtvbkt2aFRYSllUZk53akd5bnpzc3d5Y3NvYUoyRWJWcGJWUWpLUlkrdW1vcjBTektucUVaUjlaKzRrTDJ1SmxDcXlPWkxPZDNaK1ErNGRaaUpmUnplL2JTMS9jTjNGN3NZOTljN2RvU3p5eUYzdTNsaGJ2dEZTN2F0UXZCbGNEa1hVaUVqYVlDWXZQaCtPZmE4Y2lraXRaR1lpdnN6Mmh4c3VseVZOMWdwSzU0cm9UYVZWcmNNWWI2alVNVWJlcEh6RFR5M2JmUVk0aFJCd0dVZEFMQ1VMQUU2NWVIQVMxcVNhUVpjWE1tK29iNllLSkkvLzI3OVZLUjJ1K1BFNmp4ay84OGlyT3dRZmZWSVY0dkR4Ris3OUJNb3hzdlhGT3Y3SVoweGlkeDJjSlFoeDI0RFYybGMyTjFKdWVFY2J1NTBFZS95THBDSVNhWHg3VGJYcGZPblB3d1BqMW8wNHRnc2dFU2F3TTlsTWI5SjVEWGprZVRQajBvN2c2cDhWMGxNajlWRGthNmxXN2dweDBwZjZTMGNnYXFhU0VSaEVldWVlUzV2dEJqR1AvcERoTExqSzh3SzFxRTV2bXhvUW0zTnFZMHFmTk9KcFNNUUR5RjIzalF2cUFOcnBpS2RBaGNmMkFxeDRsdlZCVzVUZWpzdm9pbFloNHMvdTZobVFSK1h2eG0raWo5ZUVkYWRhOHZUd1htV05EcVVQeTVOL0REOFZFeVNsQjE3LzVKOWJBdjI2UlNYS2p5eXhKQytQblQrSmwvRE9wdkVVdzJRT0wxY2gyYS8weUk3THAvNStlcThWeHMvK0R1OWJVYzhlbmhlV2FJMkw4Rnk3eFBJUGU2dE54dTVDV3VUcTdZMWl5djlsUnRITVlLZmlRczhHZVJlQWFTNThaQ3pZc3pPQjJka1ZVSkJSdFA3U1J4RVpxbnR3a3RiVW1rbWU5YUlZcUVqbncxZHk0K3pUMTNNbUJpQlRWVGtZa0NucitqdXc2cDZ5RFJnN1N1R2pvM3poaG16VHhJNFh1SFpqcFE3eHVkeHFQOXhsMHFjdENxeWZrbWxKUXczWnNiSmIvNkYvKzRhK05TeHBMUlF3VzcvQjJmVjM1NHRsbWE2L041MU9WNVBSbHZycjhGMklwZ3NnVEp6OE5IUWoyQzYvVjU3SlJOeUo3UHU0MEVDYzdwVHI4L2ZQdXBGcy9obDErOTB5Mm5aK0RuNkRaaEl1VHlvV2R0azFXWlZyRmVNS2FlZWJkWjBUTkxHNlhsMXNLNkdYRDl1TG8yY283VUR4ZEhUdXRMUEFhVlgxc2JEbnRzSFBUTGF1OTFsWXJRdktTcjVyWWtWb2tTeHRpVXdzK0pnMk9CWTlNcUIrcER1MGxDUHE5dUtoSU11amgvS1JZNjZZNHVqcmkyaWFmYWVaakswaldvYkFKdkRjMTBCSS8veGxta0NXdXQwdjRneXZJemlPYVorZVpRdVpaM211eHhVdUgyVXAvOFpqSG0vcjhkMnVqYTl1U2FyZC9tTDRwZ3NnUkpsd2oxVWRnZXZocVcveHR2K1h5cXhTUDVjay82M21pU05BZmVJYnhSVWwxYVlqZHQxWk01NFZkMkRqOUhldXFPeElaV2VqMm9YdU1nK2RTcjk5VHZaRDFhVWhtdUxOUzhPb1hmQXluN3hJN2lKbzdWYis1WTJpSTBmMWdJUWRVcGlYQjVhOWVGcEpYSHRFbU4wT2lIWDZYaGU4cjZxZnh5M2tCZlluSFFnVFlUQ1JyUno1Y0RCYzNPVTB3cXR4S3RMR290N2FjNERDL0c0cC9ZRXAxY3V4NHRPK2MwSitLU1FxdVRxUXR1aUM0WGw5WS9QRlFhTk5QSmt3TzhpczFWdmRjR2Fray85a25DOVZpT0ZlYnBwTGRFRzhrUDk5bUxmTlVpbUN4Q3dxcHRtdlA1Zk9LRnZodUcxUFlWMkJMOTMrV0FZRFNvV2p6OG5BeW1JMmlFak0yRXRMYkdkYjBqeFB3WW9Lay85WUpwNVpjWEdKbDg0TVAwZ2ozM1VqVURtU2JZMWgrcFBxeCthdkJLV0paNERKSkwrOVMwSW0rc2treHdFNHdVaVBSRmFKNXZBSi9ka25US0ZRVHNBVWpyeGpkYzZJc0x2NU1BQUFVbFNVUkJWSXBzQXd4R1l1WHVhRjZybm9yMmpza1RNb1htYWRNS0xMc0VSc1RGYlY4cjU3Ri9hSFpzenA0RFp2Q1h1MDNPOHBaZFdFRzlXVitpRDNPQi9nR3MxTnltQzFLSHJCZm1XaEczL3k2Q3liNUlYTWpBNDlKdzFyOEN6TStSeDhqUDl6OEtnTFFYN0xwL1RhMTZvd29aK3BQUDFSM0hXblpmWFNpMU5QTGFYZnhIcW0vTzE5N01DUkdsQ092blcwZFd0U1NYeDVYRG5yT2RGMEtpWC80OWFWZHpmc1l1L0FWVWZwODg0K3A4dWo2OGVzOWtqcWVtT1htWnB0cDU1QnVhNlZ5UDBPczQrdEFiNHR3RHVtRitkKzgzcllQSm9MYUJKNEhuKzhCSXA5SWJRL2crQmdsanFHYTNOaUc5MUVOUFBtaStoNFIyZ0lwUEJUd3NqOTFETTBsWnRrT0FwaGp1VG5kZGY1YStmaGpnV3dHKzRodE1CdFVNUEFrODN3ZEdPcFhlYlBudlk1QXdobXAyUjNLL1VkbWcrUmdXVVBHcGdJZmwwU2RCdjdnNzNYVTlhVjFvSm1lSGs1NWtnb1BwNk1rQm5qZm5YNzJ1dmkzODEzeUR5YUNxZ1NlQjUrdkF5RVJuLzNsTVg4Y2dZUXYxN0c2bkM0NklCTTNIQUlHS1R3VThMQThoc1dkb0p0N2FDL1hNWGQwMjJwTVNlUVA2UEFkV3B3c2VnMGV0V0NscS93YVRRUTBEVHdKUDVXQXVOMjlpSUVHUUlXSi9KbjdsREJLYXIzbTNUQmYwbFJ3VkY1cVBZUUVWbndwNFdCNjdoMll5UE8rRmVzRWpRYVZFN2x4Z2VSNlNudEhNZm95TGxiUHNiekFaMUIvd0pQRFVEWWJIQzl3YkF1MWNLRDlBckp0QlF2RTE3NTQ2WFZBZmtZR1dKTEFGMUFjZkNIaFlIdnVIWmp5ako1ajN5N3ZhZnA2VXlMMy9TUUozOGUrMzdsa2p0dnpmOFEwbWczb0duZ1NlcXNIb1VLRTNwaUc3V2sraVVLcG1rTkI3MWJ1bFBaaHk2eTAwSDdNRFVQR3BnRWZMWS9mUWpJZHhQQWN1ajR0eUJuKzVSRzV2VG9ZRXBMeVBNSWhzcGFoOUJVd0dOUXc4Q1R3Vmc1SCt2UE1rU2lJZ2J0MTVpcXhDcVpoQlF1dDE3NTQ2WFZCZmJJcVdKTFFHMUFlZkNIaFlIcnVIWm53emloUDVIZmo1U3U1andQblptMjdNNXp3bDR1UzhlZFNXL3p1K3dXUlF6OENUd0ZNeEdBMEp1dkVFSWlCdmQzUWJmNkZTTVlPRTF1dmU3VHhkY0VSUWFENEdDRlI4S3VCaGVld2ZtbkZ3NTR3QmM4ci83RDR4aHVlRGRPTTg2dklsZUx4bDk4QnBDL0h0MzJBeWlCaDRFbmdxQm1OZTYrMkVmdHlwRElZY0dFdkZEQkphcjNvM3EvUFZlOGx1VkdSb1BvWUZWSHdxNE5IeTJEMDB1OUI5d2QxQURrZmxYZVFucFdLZmJvSkZmdDAyUjZ0eWsvSGQ3bTNML2owcllES29hK0JKNEtrWEREOWR3QXY5WklRNDlucWllaGtrbEY3MWJwMHU2SFFCQnFTRjVtTndRTVduQWg2V3gvNmgyWVZmc3FxVitVRUoveWE0cTFqZU55a3ZuTDJRbHNpNWMycVFZc05qR0ROYUNiN2lteUNBU1ZyVHdKTmdVeTBZOWdydWV5OS9lT3d3RmdyQ255Uk1vOHpkclBmWDFNbEMxVnIvS3QyQmlvOFBQQ3lQRDRSbS9QYm81bjdscm4wVDNGTXNwZUpJL1h6bGtGSHlnNUk3cEF4aEdTOWN0MXczL2dhVFFhREFrOEJUSzVoLy92UG5memtVREo1YjJoS3BsVUVyNFBlc3lMc1BKc2VDTWhrZExVbG9IcWdQUGhId2FIbnNINXBkL3U0VUNKN3Z6dnUwMjlMd3l1VnhhaWdhdENNQnYxZmFTamw2NzhTS044QmtVTG5BazhCVEs1alQ2OTUxRHNXRk9iT1FBeGExTWdqRXJIdno4bmh5ZmtDVzV2NThIbTN6TUNRMk5CK2pBeW8rRmZCb2VTQTBhMUZnQlFSQW9BUUNQTG5sSVRlZDNUZ1NmRDI3eUxDRTRxT01jd253OEpDL3pMMENqZ2NCRUFBQkVBQUJFS2lKd0lXRGcrWXN6eGhwRUFuV3BOcW9MSFRYU05PY3o2ZlQ2WHh1MHJORG8rZGlKd2lBQUFpQUFBaUFRSTBFZmg1M2lnbG9xa2w2ZExoR3NTRVRDSUFBQ0dSRzRQOEJvS09JUEIxbGQxZ0FBQUFBU1VWT1JLNUNZSUk9Igp9Cg=="/>
    </extobj>
    <extobj name="334E55B0-647D-440b-865C-3EC943EB4CBC-49">
      <extobjdata type="334E55B0-647D-440b-865C-3EC943EB4CBC" data="ewoJIkltZ1NldHRpbmdKc29uIiA6ICJ7XCJkcGlcIjpcIjYwMFwiLFwiZm9ybWF0XCI6XCJQTkdcIixcInRyYW5zcGFyZW50XCI6dHJ1ZSxcImF1dG9cIjpmYWxzZX0iLAoJIkxhdGV4IiA6ICJYRnNnWEd4dUtGeHZkbVZ5YkdsdVpYdDNZV2RsZlY5N1pHOTBmU2s5WEdSbGJIUmhYM3R2ZEgwclhHUmxiSFJoWDN0a2RIMHJYR0psZEdGY2JHNG9YSEJwWDN0a2IzUjlLU3RjWlhCemFXeHZibDk3Wkc5MGZTQmNYUT09IiwKCSJMYXRleEltZ0Jhc2U2NCIgOiAiaVZCT1J3MEtHZ29BQUFBTlNVaEVVZ0FBQmRvQUFBQlVCQU1BQUFCbjNwZ0NBQUFBTUZCTVZFWC8vLzhBQUFBQUFBQUFBQUFBQUFBQUFBQUFBQUFBQUFBQUFBQUFBQUFBQUFBQUFBQUFBQUFBQUFBQUFBQUFBQUF2M2FCN0FBQUFEM1JTVGxNQUlqSkVWSGFKbWF2TjNlOFF1MlkrZ1ptTEFBQUFDWEJJV1hNQUFBN0VBQUFPeEFHVkt3NGJBQUFnQUVsRVFWUjRBZTFkZTR4a1dWbS8vWnJ1NmFsK3hNUWxzQ0ZkQ1ZGSkVMb05pU0FJMWY0aGJrRFNiVXlJQnBKcW54Q0lxVUZEUm9pa0dzR1lCVWszd1NpN0M2bEdJKzdPZ0RVOGRYZFpxc1NzN3U3TWJJMm93TzRpMVpvWWpZL1VnQ3M3MDdXeng5OTVuM01mNTV6NzZPNlpaZThmZGM4OTk1enZPOS8zL2M1M3Z2UGRXMVZSbE90NC9WcXU1a2ZSZU9JclI4SGwrNVpIcFJhL3VXdzFPMTYrOGN6ZXZYempqZWxaTTZLS0xYNVQyV3JudXplZ0dSKzUxcjhCUi9Vc0dWTEZGcitaYkxWQWJyeEFKb29tZXArdUVscTFYemhISHZqVmVwVWtFN1NPZ2tlQ2FaR0txaTFlc2ExeWl6VHhvcDkrNiszbnRvUDZkWjRKYW5iVWpWWVAraFd5YkJGMmZMdEttdkhoSFFVUHpyTjIyemx5OEFHTC83RmF2RnBiV1hLRlhEU1liYmREbXM2UnJaQm1SOTVtbXV4V3gvTWsrY3dUVENXZnJZNW1uTkpSOE9BOGEyMHlQa2VJdFpFL1ZvdFhhcXU0WHYzWE9XUnZYZmVUTzVZV3JhdlZzZDM1U0JTOW1NTDlFTmV4bytEQk5USWl2eHhGVTBPeWJTam9lQzFlcGEwTW9RS0x0NXpwd0xTbU5ySTZUcEduczI0ZGMvMDgyYXhxQkpNSGxOS3JvSkwvcllwa2dzNVI4T0JNTDQzZlFndlQ1Sm94aU9PMWVJVzJNbVFLTDlaMnd0QitnZXlIRXozU2xoT2tzbHpSSEhmcC8wV3FqSTVpeWpnS0hvemxSUGZqblBVR09XMk80VGd0WHFHdFRKSEN5NE13dEhkTUJ4Rk8vU2hhTnBsSHJvTFRLVDV2YW0vL3l5cW9wZE00Q2g2TTg2MHl3bHVJdVlQanRIaDF0a3JYcnEvMlZCRGFGOGwzZklTTzdmNnB5dmJQUzRjWHdDanRIQVVQeXF6V2t4NTltdGhicnVPMGVIVzJVZ3JOVlpnUFF2dkFYZzF6Y1Rqc3hvc3gzMVdjMytCN3hmdUc5andLSG5Rc0N3cmlOVUw2NXVpTzArTFYyY3FVS0x4OE1nanRPN2JDd3NrZlJjdHVWVkhXMHZqd2gzc1VQS2dVelQwbEN5SHJxb3pDc1ZxOE1sdVpFb1dYZzJTZkpFOXhpa3ZJVnh6ZUVUNXFxK1dHYlUzclhxNkw4aW1EZjEvMk1TelBJMXA4cDQ5SkZFMFNQUkppaDNyNUxPNW5sYXVGMzFZaDB1VmlhVFlPa24xQjVoOXZTTFRQay9PbVJNWExDK1RMeFR2VG5wUGtzbzlBYVI1UnRLcUNsR3htOC8rbjdpR1MyVllYS09TenVObXpnckxmVmlIU0ZSNUlrT3lyTW15L0lkRStRN1JwQyt1QmRqeEJTZ2J1MDJUUE40RFNQS0pvSXlBSjFkeFZBNWtnMG5xOEtwL0ZGWmxxQ241YmhVaFhlQ3hCc2c5Sm5UTzRJZEZlSXhYRjI4Q0ZYditMYUhUUnY4cVU1aEZGSTcrNHRaNHdHS1NZTGhMSktJc1hVWU9qajk5V0FkSTU2SHR1aGFDOVJnSzhpWWZQWWQ3ZXFTcHc3L3A5czFPT0FMUkhaWGtFb2YyRUVlek1GdGlsSHA3RnZiWTZkclRQbEYzaG5SQXBmN05SMWJQUFZrbEJROUJlbGtjUTJnZkc4MldzeDVhS1EvemI0Vm5jYTZ0alIvdjhEZnhzaVJweXFhcnhEVWk1bC9oRDBGNldSeERhVzhadWVVVGtVMVVPK2hDMEg1N0Z2Ylk2ZHJTdlZ1VTdMUjlUM2NWQ1NaZXNSb0pGdjFSV0pnVHRaWGtFb2IyM3BtU0tPakZmRUlMMnc3TzQxMWJIanZhMm5iRFZpcnhCU290VjdTdXdoU3oxcENvRTdXVjVoS0I5eXRqSFRzVlNNa0VaeU1PenVOZFd4NDcya3V2N29jOEpBS2hlRFpPZE9EVHlrUTFCZTFTU1J3amE1NHhNNm9XNEt3ang3WWRuY2ErdGpodnQ4QTc1akg3a3JidFZ2ZU8rUXNpVEpVWWZoUGFTUEVMUXZtUzh3emVNQlRJaHZ2MHdMZTZ6MVhHai9VUzU1YjBFZWtLNzd2aWZZWWFSV2lCazNBOXJtdFlxQ08wbGVZU2dmV05Qalc0bTRhWURmUHRoV3R4bnE2TkIrdys4OWszdnZmTUwwTkwwZTNyM2ZiMnUxRVVmTlJzTEkrb1hueGovcm5HYkYxOTZiOTJzdSszY3RmZWIxNko4eTEzamYwcFUvK0R0dmZ0K0sxR2JwMkpFcnVScG50MFdUMkxLN01pRDBGNlNSd2phMjZlVmlFM3lPVlhtQllYMmNJdkhLSlM2OU5ucVNOQk9iY0NXOFprZXVaK1FnM1V0MHBLOXVrOTJ4ajM5TEZwODFSRGRqZFd6OW1ZeTdwSnZSZEhmOURVWmxGNURRQnN6YXFxdXEydHZCemRDL2xUWDVDK3RWdlRTNzZNZDZLREVhd2doYUMvTEl3VHRYYVJrcGg4bjQzdCs1U0Z5YlRtbVQ0bjJjSXRIMFMxM1VYUVlSM0Z6K1d3Vmd2YXB0OTFKeUwweHVVSXU0N0pQZEw1VWo2YTdabzYyWVdPcDhkVHlvbnduTXNKQ3VVL1pJSXRzWkhXYjVLbmw2RlVIL1ZuN0M1N1BwNVBvYjhuK1JFOC82c01YNDYvL1N6VFI1R1JDUnB6U1pxbWFyMDMvSFNGRFdMU2Z3aUdzS2dEdHBYa0VvTDFHUmVpUSszc1VucHZ4b2VlM2VQUVFKV1FkUnRJblR0OXo3Yk5WQU5yZnlJY0NJZk1lVXZhSnQ5NE9HazlHdHo1RmlhQldMNFl0SzA2WXBJL3BWUkprU2FoekE1MFY2MHZrb0k2TDRlNklhRmdqQXVJdmJLdytpVy9QMFB2c2FKRnJkUlJxWGVQcEg3K1Q0M1BlbkdvNSt0bE5NWFBmTWdjNXR1M3FIRmQrdEpmbkVZRDJhYVJSSjhqN0x2NzFmNmF0VkxrdGpwK29nbFppUnc2dDJFMTl0dktqL2ZVWXlpZk9uUGw1bTI3UWxaUWRqWjhQdE5kNjY3UWIzaExWNkJ0YWI0OWNvRW1McnR3V3JncmdVclQzYVU4Y1V6MGUrODQvMDdYUVB1U2VmbXFNeG5YV01vb2VsczVuRlJZcWZNeFY4VjdZUkpmOEFVQmloV1E1UitSRmV3VThBdEErUy9kWlBVaEM0OG4xdUF5NUxSNDFLQ243c0hkeWNSYXVhNSt0dkdqSGIwSThWWGR4Y053elpKOEUyaytLcjJidUdGbmFub1EySTdORG5YNVB2dXpYRkM3OUVTaWpMdGcwUkE0SGVTd3pDRVl1WXAyMUdLSmVOTVhFRUJtL3VUS3ZIK0w1cENCWTR2UnE4Z3g2dDBsc1Q1NkhvaGZ0RmZBSVFQczhOZUwwYi8vek45OVZ2OENFc21USWJYSGdndHgzengzZGEzZmdJUGZTejQrdFd5VHpYUGhzNVVQN0NSaW9uNGVoMmRhUUhmSEpreHNpekdzWUw3K2FVUTIrc0FCV2NQMVBjeUpEZ1d5NjJOVjVGWlFqZnB1eGEvMHd5MUFxSHJTbEkwZHhuZmVha1FWK21lOFQ4Y0Z5b2tmdFJTL1BPcEtOV1p5MUJob3JjSWdKVXFFVlByUWpsaXZOSXdEdEEyRWNEQnRyVlZ6WXZCYVBMdENkRmRqdVVqVjA5dWxuaVNQVlZnWTlEOXBySFRLbU9peDIyTEkvYzUrZ01wQVJCbFBZcHFhOVFOY3dlTzBydkFxckNpK3Nxa2dHSlRHY3BtcUdObkR0bDNuVGVlVStNVEhra2poZEJ1MUlMd2lXbkFQN3ZFQXlqN1MweXdhZmpCaG1DaTJEckt2b1Ezc1ZQQUxRdnJHckI5bE1aRlR6V2p6cUhERGxEcmNvVmVuVE5JZWNwVlJiR1RROGFFY1E4Vm1qZGM2aUtYdVBISWk0QXE4VnFtMHFvTDJ2aWE3U1JDTldvL09zQ25BVlBiREFpRVk2bndQY2E3MEQrc3U4QlhxTGVPbFczV0NtT01ib04rVE1JWXB4TkRMQmJ1MG1SR3RJdVUyTElLVWtGN2ZDVHg2MFY4SWpBTzN0TFQza1UzSkZWVlY1TFQ0anZCUXowS1Mwc2lLWHQ1QnFLNE9JQiswZEZVTVlmWUtMdHV4cVA0cTB5V1ZCUXl5LzRxcE5xekVYdHRrMWxpV3hhcW92cFFETFh4WnRCendKdzY0Z3BQU29hSEdGdCtqcG9TK1VVU1BXNnkzQlU1L21RRDNqU01rV3I4aU5DbnJ0YWlMNVNoNjBaL09ZL0xlM1BYYTJIc2pNZ3dma0VOWTBwVmtWTmNxNnZCWmZ1YzU2VGpFRExhYUZlUzk3MDRmdi9CTkozbmRPdFpYUnlTMGRsbDY2dTBvZVlScU15YjRsNkNEYWtEYUgxNjVyNml6ZzJKRGhOcGp2aVh0RHJoUzZnZDhTVlNncXZZT2dtQmMwdmNscGcvSlYwVFJhVVNWWmsrY3NaMStlUG5iYmpreEN0ZFZjdEJ1RVhIblFuczFqaGVDb2g3QkFHemNlNks3S0lBUmZGYU9iMStMRFBVWnVsdTIxNW9TVkRRNHNqeVcxWjlabmxEMjJja3ZYbE5pSkV3L1RZRXgyaVU2QWMwOFFoQ3RlVnJUNVNyWWp3eFk0K2RQaVhrdEU0RDNkdkNXYm9RbUd1UzFhb3RNV0syS0U2Z0ZzUjJjOFJiTThweXdkQk5QQUlyWE5HMjhjR3RvZFBDNmRJNGF1UEtOMjR3SFpHSmtEb0hTd3Brb0xDYkk1TFQ0bHJIK0syWGRlN3JPTU1kWWVoODJ2R0JYdW9zZFdUdW1RSG9sUFhzRXNUSU14MmZ1aXM0RjJQSENSdGZoYVB0dVVLcCs4S3AwOFBBNFA0R0ZTTmYwN3hpb0toYXdKMmcxWkhHckJMOFZ0SXRvR25qU2h3QTd4Wml0cWptSXV5a1VvM3NoNzdmYnRUaDREclRZZkd5Y2UwSm1sMnlVUkJBNTdzc3pQT1MwK0p6Wm1xMnl2dGZTTVRZeGZBWVNYMCtwVDZ6eTJja29ITEpwVDJhSWZvc0dZN0xKL0Z0cW4vaDR0c0swVzI4eW1uZ2tOamhFRS9IS25pNHltOGdTWUJBZVNka3U0TWJvaDNPU1ZVejAxUldTclhPZUVTWFAxUnVPaGlxa2dnRnB3RWxScWlScXJ3bzEySjQrQjJ0WkVIaWJlU0lhbDIrVzRBTVNZMjgxcDhkb3lKOVZpWkJyS3VKSUJQWU9KTUtSWnk4c0phVHkyY3FJZDNqVjFBSlNWb2NIRUtQcWl4cFpkN1VFTXRDTTJsNDFGSDh5dzg3dzQxQmdlOGFxUjFpNVNFR0pTUkJFd0pGS1Y5QTBPUGovcFUzcE8rY0d1aUcwRWc5d245YlFyZDAvZUFSNVFSbEpRU0tadm4wbFpnYjVxSlBWZlFUNXZYUDJZUFJnM2p3MmxxelFtMXJPRDl0aGc4dkpsbXd1dUJsZk1xb1E0UlN3T2dyMWRTcldwTEdyeWNHUVZrOUlrYlJVdVhWdWp5K1RQeWxxRGlWdE5pVDFiZHVWL2dYYU9YdmJPVEt3N0Z2dlR2TXJBY0d1YlZYWDFRb1ZOcU5MN2hvRjg2ZkpCQnJDdmZmVzE3eUhrYXpFV09TK1RHc3hIQUJOdlQvVEE1RmFqamhOWlRVNkVXZzl6TnVQWXRQcTdlZWlYa1ZLWTRBRlA1aUV6WFpxWG1XNm5XOGpZVWxYRTR2UVJ5eGJsa1A0M2U3QzBabStYa3RJa2JSVXVYWStRTC8wNk8zNnRiL09KSXEzQitCMEVFYUoxRWRrQjNUcWpDTyt0RnBiaFBxMHlvaE9kZTBIOWpzYVFjdmtOWmNIclAwZjdsamk2MlFnTm9qclFTN0hPanlaN3RwTnNJRTNtY2RtaTRPYlJVVG13RkNZMDBaVjFKRVBBOXBiQkZ3YUpMVlZGTEU0ZnNheFJxdDNZMU9HY1RvclYydUFyaTBscGtyWUtsczVVdHUxS3dFNXJVUEtXWjVoVUZJdklybDZpd1p4V3F1UmJkOFRuS29PelJMZy9vSnhRTFcydlhINGJzZnpaczUvNC9YZjlsQnlXY2M2Vnc0MlMvc0lnRlZBYzZWRkROZWV6ZXZTVUVMckZoeUJhK25IQThLRmF1bmxvWGFVeG1ldWxzMEJ0OHRtQm1XNDNIbnZMZ1JTeE9IM0VRdnZYdEwwbE9YcGUwaHMwczVxV2s5SWtiUlVzSFd3amozdVg0NXkwQnVOM1Rxa01nRi8yWk53dVF4SHF2U1V5K1A4SjBSb1YremRrN29XOWFxQ2VkcUxKTGh0UFIvdjcrUGp5NW5CN0toQkpVQXFxVVBNM2loQndYTTdvZzZoZ00rTVdyM2J1VXAwODRMWFdPQTB2RTk4dTFVcTMwOWVzejl0akxtSngvUGdrMjJ0TkpSYzNTcnloTmgwMnEvaHJKK3l1eDFhdVhhcUpyamducmNING5XaEZaUUQ4c3NQOGZZc0E5aVJpU3dmdnZTMXV6ZkNOd0VBbEoya2dKUmNRL0o2b0RIN1lnOWd0MXFrbllTOUltS2VjT1Z5UEJrM0txZVdlM2tORElWdXBiZGlMWS9XTVc3emFpWFluRHloSVVFNCtEb3F6ZE9FQmJhMTBPNTI4dXphQkFoWUhnU0ZMcjgya296MDdaRTZSeG1NcmwzVEFXekp3RTlKcERkcmk0bW9rOFVxZDhiYTgzU05wdTlRRTJsRWgzQVc4OTc3b3ZNQTM2NmhSR1ZtWmUwRUx1Z1JKTG1qQzNSanFUc3ZLNUxuS0hHNlN1bDBEZjZyMkg4Z2U4ZUhaVGVpVjc5VnNPRktobUdSZnVsbzVlT2pJMTh2RTU5dXRkSHVFZE1PMlBab0NGcWNoRExQdmJEcmFzMFBtRkdrUzA4OGVuZ2Z0S3FkdDk2TEpGTGI2eEt2cDlZNHlpMTkySUhYWm9xRTlPcnkzdkNYU1hpUGw5MmtTVmcwTjBaQWFDenIxS1QzY1YzUEZvczh2Y3Vad0w2ZVFDSzdDS3FoMlg0UDRVcWFwbkZKSmVWMW5sVnhvZC9QUWthK1hpUS90VnJxZGZvVnkzUnBqZ0g5TFdKeisyUGNWU21VaEhlM1p5MkdLTk5tUklodW5DKzBRUnZsU1d5alAzbUZidFBhakhVdkVta1Y2VlNsd3FJUDBFWWRiVThmaU1LOUt6c0xES09STGx3OW5KMUk3Rm5WNWtTZUhpNW14TGZ2cGMvajc3Vmh2bVRGcDM0WmU0RFFwWGxySjFqVnY0RUs3bTRlT2ZMMU1mR2czM203SHFFWjZVUlhpRkxBNGZWNnlTN3ZQcCs1U25TRnpISjdwdGhKanc4bURkclUrNmg2OHBEVVl2d09nN1lzNnYreUEzYnBGQUlqdTg0cWVkblpEM3FhdDF5bk1FZ1VoaEFkcW1CTDRGTzBXWGZ2Q0VZY2xjcmdndFdYM3hsVjRGcGQrbDN4UDltK3BMWTJzVWVlUlhnRlVuVlZ3b2QzTm82Vmc1R1hpeEFPR3MzSGVIRk5IbTBoVUY3QTRuVFJidFB1U2lvQUZNWGFDcWZybXRWRk9TcE5xSzdQSDJMaUlGWmQwNUJDN1EzZUpUeWZxZUFYOHpMSzQ1WmNkR2R0OWk4Nk85T2lZcG5MbXlrVEFqbzdGUVpuNmcxZjI4UUcweTJlVnl1V2p0ME13Vnh6VzF0T0lEd3cwOTNuSitHeGdObVVjOGEwT2tIaFo5aHlhV252MDl0NjkrUHQwY2VqNFQ5YkV6aDYwcC9LWStJM3UzV3RSUjAwM0x4TWYydHQ3eHFpQUxiWEFpdW9DRnFmSjdEWGFmU2xPN1piSEQ5NFBVNm45WGhUNVZKWnFLMlBFTHQ4T0dLbUlVM2VKYXhCQjhuL2NOZjZqdW14aDdCMzhzZ09WVzdJak8zZmt4aGdEbHhoZXZNcWJ0SFdTYnNDQjM2bmpEaUlaT1V3NEFqRUprVzdublZJL2RTU2J1SjNJNGFaR1BjRlpYSlpzMlpaYzlPSVVSUzhsNDA5MCtYUGVWOHVKNHhxekMrM3dNR2s4Sm9ma1k1MnJlQjV4R2dNSVl1SkRlM2RQaW9JenRMMXJYTkppQVl2VGg0YU1TdnhkbEplU2E3ZVQ3U1dkMGZLckxOVld4aEJkYU1mUUpZeDBEMHVEckJvMTl6NU9ydGR4TWRXVGR0dWp0L3l5QzB2UXh2em95UmdjQTVmTTVkYW9wYjNzQm91QXVOTTNIc2NEK0VML1hhSjJycEswY1hiR1ladEdReFRobTVmdG1ueFhFR1JiOUVCeFhYWitpRnl0UnhORHRtNDBwZGFLb2oyRFI0dThFeXorZ1hNTll1SkJlMDBsSUtnWWNEbDFLWTQ0RjdBNHNsRjhPUndRNGRVNHJSUDBkNE5lZUwyaHcxUy95bnkyY3FFZGMxZTZWeTJVcFVGYWpmKzJ4Mi9adlpERkhlQW1qajE2SzBEMnJvUW5iWTlEZlF2SjJIZzF6dk43c05jYUwwVnRGczFOTXpWaG1GZEU5YXBhS3RxV2I1LzRxR2dnVG5seXVFZ2kySjF6WG1HOTN4WmRGdlNncHNtWXluS0MyL0xpeFFjSitkR0xGMTJrWGI0OW5jZkRqUGhKL0ZoYW54SU9ZZUpCKzdUU05DWFlOdHd1dmNaUndPTHEvY0lWeTBIVk9zd3pkTHB5dGNiYnNWNlYrV3psUWp1Q2lYaGNodDlvb1R0Q3BVR1VOOGpucVp3dE5yamF4WXROOHQyTEYvdTBLa1Qyb2VVdDZJL0ppR2dkN2twaWVMalBxRVhBY3AyWDhNeVl1c0U1OXRZU2hxbGFxdmt3c2pENlNPejFwazVzamdtcWxHUWkzamNncXB2bEtmVVVzNEgyVTAzeWNVYWpLeGFPSk44NEN4ZmFvWTlkMFY3enFIV1pjOEJNa0V1R240a0g3Yk9tKzBNRTh1bjRJQVBRSHJjNGtNTjk2c0EyR2NmZUNpRjdna21BeW55MmNxRWRPb3loQkQrN0ZkZmdETG5XcDhOUi95OWk3SVFDWkcrcXFjdGw2a2lXMm1OUHl2M21rZ29FTUlmcHFuZUt4em9xNXNGNklEZndVRjJmVThSbnpRbzNVYUdXQU5WRUZwSTUzRk5KRHlZYmg1MzF2cmV0TUhtQ2pQdXM5MGhzWVpOODQ4U2RhRS9qTVMrQ3doMGxnSitKQiszejBqcDBjQmZJZURrK3lBSVdCOHJPTXpJdzJacW1KOTdUeHRQRzA3d3lSR1UrV3puUjNoSVJsUjVEVW9NdDhiM29SZG0ycHhidUVOOGUvNTFLdFRwQ2RySGhQQ204UFgxUXZjK0hNdUlCVDRPcnFTVmQ1b1oyWTVnUFduVVB4OHlDMVVEZjFNTFJVaklqcloybDNUTDRha1U2Ukd6SjY2S1hTcDZ0aU4zSmlvbWpWTkpPdEtmeDJCRmVjU1RWQStIaTNpdkJ5WW1IYVBBOXVVeFFGeUxsTW9nRW9EMXVjYlhEWGxMQUJzRTVzU0RoN2pxbkg2SXluNjJjMGdGeGZjNUtmaVkwaU5Fc3M1dFlNRmtCNTAzWkdrbWRYVmsyVW9Lb1BpK3I0NzlUMlpETGJrdHRHa1o3b2pHV3ptMVdSSlREQXA2ZExYWXB0emUwV3I1YWIwU3kwV1QzczZ5ZCtzQzYwVmNYZGtIcFZGV3ZxdDJ5cXNwWG1KT0RtcFZSR2sxRENDVkorVWNwMExIWk9OR2V3Z09XcVRNS2V2bjBNL0g0OW8xUFMreEYwUXZTWEVZQml5T3pzTTdHaVlLQ2hYcjlCRHZCUHJzYnBES2ZyWnhvQnl0aEZNYlFlSFZKYVhCVnVRdmhlSldTMFFXemRVLzBoRjlUbXoxVUM3ZE5IeGRiRzNHYVRseW1YU1pKV3l6RWs4b2hSaDBSb0RlZWFWTi9WUk1URFN6N3RNL29xdkdjU1kwUTlUeldvazJpL0RuY2tXRURSaUx2UjYwbnhybWhWcjE1dFR0WUV2SWI4VjhHZlNmYVUzZ015RFZPU1hvbzg1Mk9EQjdRbFF3YlUxdTBUN2UrTEc3QXRYd3kyYWFBeFJzU3o4aXRxYVFJNExMTHFFc2ZEMkRJa1RsVTVyT1ZXN29kNWRlbUdBYVRHdXdxTEFqSGErNkVtaHA5Y0tkcTVxQmF1bUFrSmFRUVhIVUlNazdUMG9YdlFidytMZDBxQXhrYVpyQ0hwb3RrYzVXNlNmVTN0Znd2R1I0aXJ6T20wVWsxalg1Q1JuNGdWaUNIdTZNd1NrZFQ1R2h3eTAxSStBRlR5a2NzaVFBd2tlWlBNSEtpUFVyeVVQRmRUd25nWitKQmUzZDlYbmdPWk9Kc044WEhXOERpUTZrV1FNU0FoWEQ0YXFzUnBES2ZyZHhvbjVjam1lZ3dEQ1kwQ0xlNktld2lIaG1xdDl1ZmQrWUpJSno4MVpuZmlTYlB2TGVINHZnYlo1WWpVZjNBbWQ5ay9ZQnVObytVY1ZzTUNCT2RYY1FpbDFFNzNkdFM5NUNENnVOaTV4bStKTENmRnFNM1o4bjFldlFqNUpPSUd2Zm9OVDFxSGJMRkNtOGsrc2QzaXVSd2UzS3p3S2dWK2NDV3BvOStiMUNvdzhic2FVRklwTjNNK0MrRGhSdnRDUjd3amxjWUpaRGU1eVFEbUxqUmp0OXVuK2d4YlU2MHliVzErRUFMV1J5REV1NE1VRkM3Z29HTUJOUStLa2hsUGx1NTBSNE55VWVvVEJOdEJyT2tCaEduOWJuUUdQVXVMYW1kVUFQNFpzZDM2TzhJaUdNTlRrZ2M0dDBXSWlZeHA4SWU1bnd0cXRIZzR5VlVvWk5EYzJPMWdXL1RUTHpqWUkzbGhxWjdtN0xURytqUEsvOEZqWnhPeXlwTUNHcVBIL29RNnVXQkdiQ09jcTRjTHVMRnZ1eGY5UHhxOHNWKzlEenR1YUFQcGl2UTJ5RFhLVlY0alRvOU93NDMydkdvMU9ZQmlwY1pOUlNXT2RrQUptNjBUd09OTHlEZlhxNjliRWdPMWhOalZhYk5ZM0VNNm9xZ1pMeGdQdUpxb2FzZ3o3c0ZxY3hyS3cvYXNickFCejg2NUg0eXFjRU42Zndwb3BsMjFVNm9NYjcvN0IxM25MMi9SMlcvSDc5YWZPZTUrNUVLVWRVQzdZbkY1NFZZQkhvVXRiVTJJV2ZKdGJxaDFZa08vV09aVGRSY1FpTmpIdHpXUGZoQVJHZlN1bTc5ZXZ4V2NvK1E5K3VhUndya2NKRmgxUVNLbGxwa2ZJNWNYNWJkRWFGU0dlalI0bk5nVnZveVhwdjI2VUU3S01WNTdETXlPclFNWU9KR08zdTcvYzJFSHArcUo4ZW9USnZINHZEb1VoZHQvWGhuS0IyKzNNOEVxY3hyS3cvYTZmK0VISFRKd1M4eDJjQnlueFdVQm9jcUFNVzhPRTN2dGRWVVpTMjlIdzBWK011bUQzNndkOERlbHFyOXpMbnhuNi9KYW5hZWZIZnZnZjltcFZkMDdxNWJ0M0RSc3Yzd0Q5OUo3dms5czFHUkhPNkMxSHVjV2E3cjIrNGEvN0VleVpKeXQxZzgyWnlkbDc0c202b1A3VkVHRHhYNVlxUEgxcEZzRnJqanhBTi9oZVBISDd2bkcvL3FKT0srR2JQNE8vNU1OcjlFRjJOK3FFY29jdE1ScERLdnJaelNVYzdUNys2T3YxN25ZMUFzbFFiVnFCQTQ4RG1xL2xtRGQvRitudElUMnR2VzF3Q2UzOVZFN3UreFJLM3pkbktkUlB6RkYwd1ZoeWs2QXhWaXE2clNoUlh0eVlVQ0I4cHJaQkwzb3QzdXVTcDVxTWhYUGFLM0c5cFhUanpZYjdmYkhjT3ZBaXlPa09RS0k0ajRlSjhWZ2xUbXRaVlR1cmdFQ1ExaU1IeFVMTnU0alBZSTdUZmozWnpYSjhoVjUvMDhONDFOZlZvM0dXVGx5dUUyamExQUd0RWlkUTBWSFdFZDM2VVVOblR5TFl0Z1RyUXJIbXBHaHpCeCszYnJ4MlN5eHVtdEQ3QzRWQXZkejFCVTBTQlZCcFR5WG9yS3ZMYktoWGJGVW1wUWN0YkRRZmhlcDZNTFBqQTlndHQ2R21JMFlqT1EyaENjR0xMVWM3cWdIRzQzcHp5cHJHT1ZJN1ZoUlNqTm5FTkEvSmNUN1NQNU1tbGJoWW9CVE54b2IyL0ZCQ2wwR1dCeGdKeXptcFVKNmlDVmVXMlZDKzBKRFdKVXA0WEViYjRXaCt5RWJCM3R5TERDcmk1d2hhMkRUT3lsOWNidGRWYXY0ckNBSEs2UkpFK2pXYXh1UXlJUndjV1lrUkR4MzdjZDlCWjFkdFhSU3QwYXlmMUdseVkrMzA3ckE1aEVJMWNzYVAyWWpPS1V1K0MzT0hDMXo4aXlQOGs3c1VjWFAvbHR6R3lWK1czbGxDNHVSMEtEOE9SYnZCRW03SGxhRWp1aGhYMWVIZkM1b3JKeEFZMmRUY3gwZTByRGdWeEZWQ1Fia01PTi9TdHJDdGtDVmV6WkdPc25IMkJ3RjM5Q1dqU041bFErUFcySWRRNkcyY2Z2REZHS0FVeWloZ3dZVW9ZZ3YwT1djaXRYbGQvaXdOVTZJem1nYy9iVWxRanZ2NkxBam15VitXM2xrazZRMTZlRUJyR2IyT2UzcGVOYzRpNit0YVY3ZVVyV1c2U2V0dTdiMk1td3NDQ2pWYUVjN2tCa3JUTm9GcXNXU2tKbmtiYUZIdXU0R3ZDdGNnYlJ1OVl6YnFSV3I0cmRQOXhrUFpxa0dBNWljdklMcWRSWXBmMWpNdG50ZkhmOEZzZFExeGdWdHRWYTNhWGJRcGx2emxhWjMxWXU2UktqVG1wUTRVcytBVjlsMnkzNUJrdUNRa3BGTFNBdmx0Sk5WYjNtUUVLOFRVaGZWU2NMaFhLNExRYkRKTEZTTlFzeWJqZXlSSlJnTlhFeEg5cVM4TzE0L29kSGRoUXF3SDA1SnZhUHlYQTJSVDRETEM1OWU0OW1RWm93Y0lqS0tyWlZVb05ER2JmTFY0OUdMRW1UU3kvbEJva0VpNWoxU0JDNUlnSDRVZUU2YytSd2F4Vm1qRFF3cG1TbXRDbGVsK2Fic1NsWHpLeDdoNVZtaFZxR2RHZHdrdTVuU2pPUjM1Z01HNENqbGQvaWJiNUtJNjE5SHMrKysvVG5ENFZ5c2xWV3RhMlNHbXlJcmRNTUdXTklPSGdHb0xISExzSSs1dlg3STJFZHJGYklpdEpsR29jbmJNZnFDRCtCSTA4Tzk0UnozOHZJRmZrWThvVjZrUndzcys3OEllQks0cHRpUldpTFBoTjh5Y1IzQWdDVDFXM1VsbVppLzNaN2liSDVMYjdDQThnZEFueE5zaFMxWDJWVjJ5cXB3UVVSSFk3azY1OU51cGVheVB5eVJKcUtwa285WDJvcXRLUEVzWlBHaFAwNEtvYUdBeXM2YjZjU3F2QWNmQXVZeU9HdXlIMUpPczJpdFk5d245NldtNEpKQ3NuSjNuNVJlbW45bXRRSUU1MlBVdDgrUkJGeGUwa20xYVRiTVJLL3hXY1lKcDUvclFIZnpuOFgwYSt5eW0yVjBHQ3R5M3c2WGtJVUNsL0ZaSXhlSXZmUG90Snphc01laFkraGpHU3dqM2Y2Um9COGkzSEprOFB0aUhXajhQRFNPOVk2NC9Vb2VqUDVpcnhOMS9hbTNJZkp5bkxuT2ZLNXFOYThpaDhxWEJPdlJwZGxVdDIyd20veG5YRTllcEJzejhHbXJjdFVFWDZWVlc2cnBBWWZKdGpFei9URys4STBKN0JMblhHbVJrUkQ0elF2ZzMrakxyaklGanZhZWtTZ0lNY0J0Tyt6MnpseXVJdnE3MWtkaEl2Y3dtdjkzK3lTTDZxdWMrVHFFMlBxZ0NzOG11VHVEbWpDRTNVK3pzaVdaVkpSdWgxajhWdDhoaHpjVHIvZTN5YVBYZXV6MGZ0VWRnaTJTbWdRYjJJOThFRXkzbVFEb2g4NzVNTTlqRExQTWVGL2JKNU5Ebm5GUHIxN2laQnZaYmZDblNJNTNFR3VrTXpKUG5iejBjZkpaOWlyYjZMK3hkM1ByTWVhbEwycy9XTHZia3J6bGIxUENWTGxtRlNWYnNkZ0Fpeis0RjMwcmRabzZrTUhXMkwwSHBVZGdxMlNHcXo5VC9kQXZqVkdoelg1d1lOL0ZNTUxQbTBjOUlQYnhodWVKRi82U2F4emJ5UjBrWEVkUlhLNHcycURDOWZ3YnZ4Ny9OZDdxaGxuR1l0bmpPQ21zZFZNdnNlRXRyZ3R2QTkvbGhEeWgzWjE4aXAvRG5lMlRJaVZITUJOWGpPZGJ6Zm1sTGFVeFZNcDMwUzJhaHIxU2JBQUFBQ2NTVVJCVkxFa1U2b1Uvc3JYUFhhTzNQZU5uL1UyekovRGJjcTl0NWYyY3cxeWFxQ1V4ZE40M1VTMk9rRzIwaVNvdGk1M0RuZTYxSU9BYWdmL2JLTld0Y1Z2S2xzMUsxd2xzNENSTzRlN3FyNENuMFh5dWZyQ0dxalk0amVWcmFhUmJ6NzBJMmNPdDVZemtYcm80MzlXTWFqVzRqZVpyWjYzZlBpMnpKbkRyYjN2OElmMGZjeWhVb3MvWjZza2tuTG5jSk1rbnF0NVRnTXBHdmgvSlRLdmpEdlRjSW9BQUFBQVNVVk9SSzVDWUlJPSIKfQo="/>
    </extobj>
    <extobj name="334E55B0-647D-440b-865C-3EC943EB4CBC-50">
      <extobjdata type="334E55B0-647D-440b-865C-3EC943EB4CBC" data="ewoJIkltZ1NldHRpbmdKc29uIiA6ICJ7XCJkcGlcIjpcIjYwMFwiLFwiZm9ybWF0XCI6XCJQTkdcIixcInRyYW5zcGFyZW50XCI6dHJ1ZSxcImF1dG9cIjpmYWxzZX0iLAoJIkxhdGV4IiA6ICJYRnNnWEd4dUtGeHZkbVZ5YkdsdVpYdDNZV2RsZlY5N1pHOTBmU2s5WEdSbGJIUmhYM3R2ZEgwclhHUmxiSFJoWDN0a2RIMHJYR0psZEdGY2JHNG9YSEJwWDN0a2IzUjlLU3RjWjJGdGJXRmNiRzRvWkdsemRGOTdaRzk5S1N0Y1pYQnphV3h2Ymw5N1pHOTBmVnhkIiwKCSJMYXRleEltZ0Jhc2U2NCIgOiAiaVZCT1J3MEtHZ29BQUFBTlNVaEVVZ0FBQjljQUFBQlVCQU1BQUFES1RLcHpBQUFBTUZCTVZFWC8vLzhBQUFBQUFBQUFBQUFBQUFBQUFBQUFBQUFBQUFBQUFBQUFBQUFBQUFBQUFBQUFBQUFBQUFBQUFBQUFBQUF2M2FCN0FBQUFEM1JTVGxNQUlqSkVWSGFKbWF2TjNlOFF1MlkrZ1ptTEFBQUFDWEJJV1hNQUFBN0VBQUFPeEFHVkt3NGJBQUFnQUVsRVFWUjRBZTE5Zll4c3lWWGZuZTk1ODNvK0ZBbGJ5OHFhVnF6RVNNVE1JQlJ3TU5DVFA4QnJITlF2LzZCRXR0UWpnakN5RS9XWVlMMkFqSHJBUk5IYWptYVFFMkx2MnVvaFVZeTl6MDQvd2tmaVhTL2RBVzNZM2JmcmZ2bkM3QzV4RDVFaUVBbWFSekRlTjlOK3IvS3JqMU5WOTdPcTdyMHo4MWJlcTFIZnVuV3J6cWxUdjNOT25hcTY5MDRVQlIwL3ZCMVUvQ0lLei96MlJYRDVwdVZSSytJUEdGYnovK1ppWVgzNCtHTDVWZU8yTk4yb1J1QThhZzl1bndmVjEybUtIcWdaOFFjTHE5NnZYU3pLSy9jdWxsODFiZ2YvcjFyOWM2bjkvT25vWE9pK1RoUTlVRFBpRHhSV3k2eDVzUmczQnArNldJWlZ1SzJ5QnkrS2o2S1o0ZWVyQ0pXczIvaDdOOWpUUDk1TVp0ZDZmUkU4YW1sdzNZalhqRlUxR1NkL1VhMStlTzJIejBiaGxXcXNNZlBtSDN6dm96ZjJ2U2oyNzNzVnUraENXN1YyWVplSjQ2dWpjeFRqSW5qSTVqY2V1Y0hPZmpFbXlxVWlYaTlXTWJuNFJZaHNWOWh4cW43VWVQTVAvdVJMdzczMGpWcHlabG10NDFKd20xcEN0ZmQ5NmkyelhaOWlGMTVtbmgzV3gvTUsrOElyb2t2T2NUNTNFVHhranpSNmJIcURzZGdhNXFVaVhpdFdhZFFEWklzT3ZwNnVIL1VFOXZzWmQyckphcC9XUXFZc2tZRHU2VDZvNnd2ZHUyV2xUOWM3K0tVbytqYU8rRGxHTVJmQlEwcDJ3bjRzaXVZbWJOOFM5SElScnhNclN5aVZESkJ0a1dVdDdBNkJQTXNhOHRPOHl1UXN4cEFvUTZGU25UZGM3ME82ZlE4YWMrd2JIcVV1bzhnS3UxWVgyOWt6VHVsNzBTWG5ONkc3Q0I2eVAxNmN2b2NuNXBrOW9Gd3U0alZpSldXTS9mckxGclhZS0ZaVlh2ek5uL2dvc04rZ08ydjlqMU95bnZQZ0wrdWhVNVpLNDhEUDJHK2RuOE1yMjNSVmI0YlZ0a3V3TEFmMC84UHFuQm9reExzSUhvTGxESzMrdHRtZTNZYkxSTHhHckd5UmROcFh0c1l3TDNRYnNxbW1CdFBRaHE4enF5UTJXYk5LOWVwMXgzN0czcmVIaCtwYzY2VFFFZU54SFJTdlNyZlJlTjkvcUlOYU5vMkw0Q0U0UDB6VG05V0VON3hNeE92REtydDNQV1c3a3V2Tmg0eTZMVnJES0Y5YjBDaWF1OENPc3B0OVVibFh2WXg5amYzNVJUVW9tTS9WMnBZTzE4OHZldGRTWFFRUHpxeWhWNVhuV1h5NTVUSVJydzhyM2FHeGhKOXMwVW5la04yd2xtdXV3TmlQWTlTVEY0MkR3S2Z3aGxuTGdrbXE1M2k5NG1YczQzZ29lSTd0Q1NlOWxoaTV3aWxRamZFRllIRVJQTGc4cTlyQ29jQWprcENmTHhQeCtyQ3lKVEpwUDlrYTdGVlRKWmFhWjJaVVc3Zm43N0ZTZEFGdWxQUTduMXh5SEEvL3RlOXU2VUZjWDl3VkxyTEVvSzRweHJxWnI1MWIreStDQjI5ODUwaUx3TmlPVGlOeHFZalhocFV0a1VuN3liYWN1OXE4eE5oTm9yYkttTVA1dHhOdWxHcm1ubGR5cHcrNVZXcTk0ZFU5cytRS3ViYzd2Nk9rWU8yNE1wZWtnbXJWRjR2LzJMbWlVNTFIdFBZQnQ0aXpWcURLNHZPY01NVGRySUpLdUxIeWtTNlhwWmRzMFZadW5HcEhCalBEZUwrbG1VNVk0SExSUFB0YW1rbzh4NjFCOGZKQlYxN2RzMHF1OElFMDloWGpqWU5FVHhWZVpWOUs1UVZsekdadTM4WklWT1lSUlZzNlFvOVJqbDJzbUYwZWhQSDc5cjB3eE8yYU5hVGRXUGxJbDlzUUw5bWlTVzZjT3JhbjZYUGZsOHRIM21BMEJqckttZHNEVit6b29VR0dXbkRLcTN1MEszd2dqWDJCR2MwT2x0K3VzT2lLMit6Q1dlbDU5M0pyWlI1UjFQWVlUenFIdW4wekxENlFoU0d1eWRTVGNHUGxJMTF1Vzd4azAzRnFta3c3WkxkdGxya0g2Z1NMam10OTMwT0RFaVJETHIyNlowSUxDdytrc1RlWXkxOTZkZ2pNd2htR0Y1SmFjOGNZbFhsRTBZbGIzTWF3cVJ1S1JhZGRmWUZFR09KMnpSclNicXc4cE10dmg1ZHN5YjFJaXh3ZU1MYXVITWtGUmdHdm82QzVQWFlwaUljR0dXckJLWi91YVlUT1RZSmJVYTNDUVYyVDlvRjdaQzVzcVE5VVZYbDRHZnVpRmVsajBXbkhidlhsSXU3RTZ2eU5mWnlQOHNCc3M5dGRscDNHQ3Q1UjlwM2MzR1ZYTE9DalFiblVuVGQ4b0Yrb0d0NDZXMUd0UUt1dVJjNXVSVUY5b0tyS3c4dll4OVpUaFlqR1l0MTd1WWc3c1RwL1krL0VJeDJyYyt4dGRpczdKNG1PM2N1NWxaYzl4eHc3Uno0YWxFZmNuZThEL1lyWmZIUVR2SVFTNjNXMWI4eXF2YlR2QTFWVkhsN0czcjF0WURoSmpGYVhpN2dUcS9NMzlrSHVaTTNlWmpjZG1KZmFTb1JNZWVYc2ZOZEUwVWVEYkhwaGFSL290K29hT2NPYTVsMTZ0ZUtBckJraDRxMjBIdThEVlZVZVhzWSszTll5UmYyRUs3eGN4SjFZbmJ1eHorYVBydlkydStuQXZGUW5kSnNkaENhNVVZWGs0cU5CZWUxeDUvdEEzM08wME0zbGZFdXMxYldtZ05VelI1aFZMSWdQVkZWNStCajduTFhNTkpjTU5pOFhjU2RXNTI3c1MvbERnNzNOWG93MHZ4dTh6WTQ2SjQ1cHZvOEd1VnVXVjhJSCtvckJiUjdyMnZKaFA4MTZpQjBrTFNPTXJCZFVGWG40R1B1eTllalhyYVFudkZ6RW5WaWR1N0d2NTcvQWpDbldOWC9FaDhIYjdGRzA2WGkyMjB1RC9KdVlLT2tCUGNhR1JLVUg3WElRZ2xGUjR6ZkR0MDV0Y2w1UVZlVGhZK3pyMW10TGswUVU3N1AxZHA2SXU3QTZkMk52c1RzMlpuYTZIVEpxbE5obTV3OXBGajhUNHFWQmRwT0QwaDdHdmxndHRnMXFUcm5DQis0bjEvd0lZemRsT3ZJcm1sWEtDNnFLUEh5TXZYMmtXNGZOWUd2K3pyTXZHWEVYVnVkdTdOMzhGYWhleUxCV1lwczlpcGFadFNtcVFUSUpMdzB5eFFOVEd2cS84Z00vK25PUC9RWnF6Ly9zOE1uZmIxcGtyaVFtT1d1dlRIL0J1aTJUYi8yaVhTVjY1TWJwaDFObG91Z05qMC8vUnlyN1d4NGRQdm1QVTdraEdTZjV6anFFRFArc1M2VVBWM2hCVlpHSGo3SDM5clRZSGZidmRWb21TaUNlb0ZEcDBvV1YwOWpmOHZqMFZ4UCtTemZJUXpZc1dPN3E4cFNZLzhqd0U2QTUwS1k0LzhvMHFiK05QM21aZlJFZitxS2p4RFo3eEYrU3AvcVpaeThOeXF6cGswbmR3MVZReExBTFEvWVVZMmM3cHZKNi9FbUEyZjUwYURZWTFXZkY0cHNXalhlejZZRDlZUlQ5N3NpUVFlcjdHV2pEb2N3MVRYYmpmZURHV09DYndhWStUMjA1WmtMeDB2bFhYKzZqRDRyanJQekt1T01EVlZVZVBzWStnT0xPdjh5bW4vc0h6N0xUalVTVHd4SG5UcHByaDNXVWg4dUZsY3ZZMzhsYllRbDF3eGJQUTdZb1k4UHNtU0Y3a3QwYlladGRnUThkSDdCOW0zSTBPMkhzQ2FXbnkwUGVDSGxNbTdGaWpndkUvb1hsZlRRbyt1NUhCMng2Nk9DVWRUdlpQVFA5MzJwRzg3RW5pVnB4VTJxOXVyR21seVlReXh4enNsamF1R3ZJZDlpckc5SDNubzJXNG1zaEQzRWY4cC9aOGN6UXhETDRCT3E5UDRwbU9wS01JUkdVV21mM2c4cm5GUDQ5eGlaQWNKUnoyNTN0QVZWbEhoN0czdUFpOU5sVFE2Nk8xNUxORGtjOGVwWVRpaDNXY24rU3Z1UGFoWlhEMkorVHpkQnZqeTFZYW1lbUtEUjBaV2d6MWlPYWlTWkNpVDhRelEwK2oxcnFZYVNZanN2U1hmYmZSOUhNbjRxd1lOM3VDempXZ0VQWlMxNE5EdzJhbndqdTM4Z2pVWkJQME0rODkxSFErRnIwOEtzamxFYnVucTdValFYSnMvemhTOTFoRUZ0b0U1WTJUSHp5SWp0cm92Yms4RVNIUlp3WVFwaGRuTGEraHUrSk5KRVFSNWVkTnBGb0RLeG52dVNkZ044VkZvTThvS1pkRkppL1p4bHk3TnVaUVdrM1ZOVjVlQmo3UFBZUFo5alB2L0NmL2xRUFZaWVl3WWpqUDNHZ1Z4S0hSVEFzNmNLcTJOam5ocW9kTzRyclZXc3QwaGg3Z1RZdldvb3FhVFFtN0Y4anRYcTZ4SlNteDNWY2xIcE9sTUYzQXZqWXYvYmU2OWY1dDFyeGUvM0hKUkhmMzJUQWtLam4xaUFNeE96MEs5Yy9HT1pqSkJ1Q0hsY1B3ZGdid3gyZWo0REdHTjhrdGpkNGl6dlZBYTJJYlNtNzVjWSs0alZ4QUpCRGZsNjViK1pBL0hvaXgvbTVLUW8zZVFhTzUyam8yWUtDbGo2V1E5NWZ5T015TTJBZmc0MVkzeXJKSzVtYjc0U3FCaDRleHI3RWQ5NkdrSVJQcG5hU3JRMUdITjlpVFIzVzNsNlN2dVBhaFZXeHNYTTlFd2VwWjNmZjV1Y2gyMnB5S3pKNnUxcUFIc0EzM2hiVXJzWjBYR1QxVDBmaXZLYlZ2TXcyTy82bFZ2R3JNRTRObWhzdzlsT2lKU1Yrck83aGV3bFgxR2ZZRHF3dUdaSmxDL0lIZXpnTnFja2Q1U2VmQndKTnhiNmxPZzhCRTgyQitCMHNhT3lJRWhQa2k0VHdDeW9nVzg1OWhsRVZMVHJCSlJmZDlydjNkbllmQlh2Tzc1TVVVSE5DVlFNUEQyTmY0U0RPLzVQLytRY2ZiTjRTUXNXYUhJdzQ5SUk5K2JsUERrNC9pWU45a2Y5K1lpZEdNdVRDaFZXaHNYT1Zrc2VaNU5tSXE0MkhiRmRqMFNhb2dLWVltNFJQdXliSWlnVk82Nk0xZkJYOVMwckl2aXpDbzl1OGoxdXBrcG1uWGl4TVRoVnhhbENYc1grWXF1V2JZWFVQbXYrMXRoS2xaVDNFYTRmMDBTejNiQmo0MVpSaG9neWJSM3BOeVJPNm9mN1BEWnlROVFuSENla2RhTk13anVTT3JMVkFDWGtaOW92Z2VDTlZvL0htNzhvNzBvWEZKR01iTkRZeEhLWkkrV2E0b01KRXBqSVBEMk1mbS9rY0lwV2tzS0dJUjdmNHFncllIdkp1NkIvejN3cEhKbFlXdlVKajM4TFMwQitOWnQ0QmJUc1dkZXpYKzVEaElkdDYwa2EzMk5sSTBGcGhTb2NUT3M1dnRtanQ0LzAwOHZHaFVWUUwrK2trSDN1SVYzZHAwSE9NL1hxOFJzaFZ2SHZ1UDZucWppbTg1ck0vRXBUZlcrVUJISnpoSFZsUXV6ZkFNSkpaU0hHTnh0SFJ4WENCZ2YyMnlPVmZQRlJSSURxTTRzSDVLc2FPbFJYRlVuSVF2N2VBWGM2UnRlRGVscjRJemN5Z1paRXRTcnFncW9PSGg3RzNEMDBqTzZsZDVWREVvLzZaNk56SkxxZEtMdDF3Q0V4bFltWFJLRFQyZ2ZwblZ2Q2FSNkxPMkJwTmtPR1dEZDQ4amo1MFVOR0FHNUlCWWtMSE9hTyswbTZvaCtwY2xEWStWYlRGNjZkTjNMSkxPelNvZ1dYNGpleWFQcmwyOXd6WkdUbXJkVE9jdzdLUERhVXR2aUNDVU95bXlETHV6YXg3bUpWOG1MM3FHUlR1NkRFR3RWWDNQbXdLTEpRM3NRamhodDFFMWRnV3NNczU3cWtpMWdsUzd2TkxrTExXSnEwQ1Bra0hWTFh3OEREMjNxNXA3RldLcDNSV0tPSUx5a2tMZ0dZcno1Y3lzZEtOSzVadVNZL0t6NnRodFhOa1ZZMGJlN1kyWTR6bXN6VnpZT2pabDFkb21WUU1vZU5ZcXBVNnptL08wcXkycFV2RDdJOWt2YURmclFUN1JHV0hCZ0U3V3F4SVZQUzZqRU92MjQ4Rjg5dXF2b285MVZXUFo4TVY3SXRyNDk3MEowaGd5bDlTWmNkeStWMWNvU2ZKbzZMRUhWbGl5UFJBc1ZwRml4Qjg3Q3FlNXJRTTZqbEh4aTd4SnNHSldvZUdTRmpLQVZVK2o5bi8vWk12UGRIMFpGWTQ5bkVhZkp1ZGppVTlaYUtjVU1RM3BRWE1DWURXc3VZNDMvR2ovL3d4dnA3dGRXUmlaZFVza3E2bGZYcWpMMmVDd3gycmF0TFlzN1FacjZMRWd3RjhuR1lrYWVodGR0SnhydXJ5V0ZKdUlPcnFZUVUyc0VlM3pka0o1S2FPWlUwbEsrWFFvSWxtYjlYaFNUOElFdER2S2lMd2Q2VHlHTE9iS2hjbnRvT2ZOaE1uRVpzZjRab2ZrM3Z5M0RLR2g2UldPeENrcUFjc0pXMVF2aXNyWWE2c1U1UVRjaWJuRTFJblhyWlBMck9uWFZHOGdNK1ZBNnA4SHBzTVI5T0hCY29VbVFNbjBiRDlKbHgxazJlYUl4VHh5WkdvdXlTc2ExbWhiTWlKZVY3SWdPUEFxa2k2L24zTjk1WllpMGo2SHJkc01OZlkySWhvaTJhU1NNcGJ3eDJ3MFRyT1dhNlF5MnpUbUlBSHVaUU44UHY2Y0FLNWJsUmVWN0lTeFJxRXNWWDZPS3VHU01LRFV1T1R0K3pyUlBlUWNjSTJqMVF4RE1RYnVvWU00dzVvOVh2ZHVMZXU2ck9oS2Q2bFlxamVNUmlqMHE0Z3VHbHRjL1ZqRUdoK25nbHlINTdGMDhYUWpmc3l0MzF1eGw3QTQ4VWJBQ3ZkcXV5Y0luUGdOZmcydXo0UVVlM3BDNUVJUkh4T29YOVY0THRDbG1IUmJMd016TzlZR2NWSkIxWUYwczFab3F5SmhTVHJJN3Flc21HN0piWXpqeENXcmpIMkNDbWtqazlzUUtDeTBnWVduL3FRa3E3RDJDZ3RxQlBJOVJ4elZhU0tqWDJjWjlHZUVDU2dwL1pieG83SkMrVkcwYUxZYnRBajhwWnhieWR5dWcrTjFzNi9id2tHZmRoV0FyVW9pZjQ4VkhrdldqaXFySkNUSVJSU3l5cTdTV2p5S1FxRklOWjl2MlF4VklVOHhxYmJYTHdLekVGVUZkdnNSQVErLzRqUzhoeUkrTEpheHRrUzBlKzZHVnN0cWdpQWIxdVh4VWtIVmdYU3JaNVpsQWRjZFZwM3JCd2szYkpob3pzR2I4YzBIWldGRkF0Y3h5R1N0Yk1HcGVEczdHT2l4M2c3bHo5THF2VS9ma05lVlRMMmczUXppSWNYQkludW9icDV4ajczWDFBQ0M2cHEzb091R3FrcUxkbUg4SlMweUlldFBEME93QWRvcExyS1oyTFFvWFgrdVdGaEQxR3JjczhwamM0dG1YTmpvcU1yeTlXbnl6YlNXWFpPc2JFWDhoanJKWTNJd2NRWnhvdHRkbW9XbEtEWUlLaGdIdUtORFZtaUs4aTBOTGhVajUvQjVKcDliYWRUMGppd0tqRDJzZTFwMmx6ZityczJxNVN4MDAxTHRxU3hENW1PeG1IUlFncWg0MUJZSzlhRVVzaC9nRTBVbzJob093T1REV09udFNrcjB5VFhqUjJZVEpNcTFDQnVNRHVtYkN6bEJVSGMyUFh5aTlVOVdIWWN4ZWppQ1FOYXFMVGMyOGxOVWVqRUtCZm1RSG90QkwybEhTVU4rUHpSVkVuNW1RSGJqYk1JdkJwU2d3THJVWEdNZndRdE9rUzZMYnBublJjeTRvL2ZzVGJ6djRmOXVuWDFuVlpOSkl0NW1DMlpMQ2F4WndaNlU0dkpkMjNFdWVCcWZNZk9Tb2xUQm5FUUhCNXlxaDJOcU0yallEc3RMVTBhSzEvcGxJcEp6bGRoVXpOSnpYVExGazFpOEdKSlEwK2ZXdmJ5aG1VQTRBZTZqUDN5dGlVekRDL1Q3Mkd1bjlsRlZQVXEwelpHV2Q0YWhBbTFiaXhWcHJNWEJQSHUwYU12WkwycDZLQUVVVlJudU1BOW1iUk1XRDIzT0RDUkJzMkJlTkcyWmZnMDRJUE1LVWFGMy9tQm4yWHN2eXJTSlU5cEJRb2pCTDl6cEdyQXQ5M0pxN3dWVXhSUnFqSGtlcEI5WEl2UktlWmhYa0RJWUlMblduS1A5RGhpYjdOekYwTnpVdFdhTW9qelJ5dDJlZjBEOG9tS21Ed0I2ZGkxZFpHV0pvMlZyM1FuZG9jdUlSWmNTcTdxdW1XTCtqRjRvZWZRUVhsMGJTazJZOEVLeG5sKy9IS1R5a2JJeVI0VERKQzZySjFJRzd1L0J2SDQ0aWZrOFI2YkprOTdRZUR1bnJTeHczS2JnaG5HYnUzZUpzYzh5d3JOdVRzOEZNWHdjMkJNU0EvNExkR0IvT2ZlMzZWeUpjK0RHSUxoUk1ZR1dyTXhtQ2JUUzdPQk5Mbkg3UmlGWWg1OTNWY1pUS0pXTG8rTUdXSnYxK0lMUUJKS1dRWngvbWpGTnFjNlNIZ095ZW1Lc1JpTHRVaW1wVWxqRlNRZE1lRGYyVnRQdWg2M2JBbGozekk3d3JoanpTVzdlaEdITXlTRFBCV2R3SE55dDlrTmtMeFk2b0IzU2VUNWE1RFZUeWtYN3dXQnUzdFFJdEU4L2VBODNJbldKTGxjeVYzZ2hpcSt6dGd1MVVRMnFUNHEzUkhaUGN6am4zamkwLy9zZzMrYlNsbG52NDFEcXBBZUxlaU8zL25FdEJyR2ZqT3YwbEFMWVVwOEZLSmxIMmZicGhSU3hUeE1YMlV4V1I1bXMwQnUrcGtCZTV2ZGV0aVJHbE1HY2Y1b0JhL2ZNSGdUT1g1ZU40c3pkalpQcDZWSll4VWtuV2FBRVA2RWRJb3kzYklsakwxakJUNFVjUXBpdzdqL2FxbisxMGFHVVhhUHVNYk9Cc2hZTmwya1IvYklXNE42cWhFWTRIK0o2TkhaQ3dKMzk2VG43THBYVUprTVkxYk9BSkNqNXlUb0lGSjM3cjJPVmJ0UTVGQWsrMlQxMUdEcmpPalRUS090L0p6a1VFZmhPUVVjMmRwOThWY2VNaXhhVmtlanJoVVNLbHhlS2VTQkRsSjk1V1RpV3FDTGJiUHo5NHB2eHR0Y0JuSE13MFMwTzVjT2JUanhWdTQ4TlVNYUIxWUZDM1J4T2ZvN0VmN2loMXUyS0Q1bmh3NVM5d0FDTTl2R2hiMGFHTTBOdVVMaTJGVU1OM1BXeWd5UThaYlIxZFVLQzNSOTAxZ2lwODllRUxpN0I5by8walI1QW1zQktuekMyTDJ2Ym9uOWl2aEhMTG9tSk1Cb3JpSi84ZmpkcnFnMEpLdFhKT3lUNThZaFZYRW9FQlhMUFZ0THEraVEzWnh5TUp4bXppMlpYV2pzaFR6UVFZcXlrNG5MMkdQYjdOeDNIY2JiWEFKeEVKaUlqWldGYkdQUG42ZG1TT1BBeXR2WWU3dXplbHdoQ2QyeXhWZmpzWWF0TlZoSG5Kd1l1dTBPRVJYbkJXZ3JQOGdmSUU0YnhRcW9Dd05rMXQwb3FtTHNZSDg3bTJxRVo0WGk3VFhsTEFqYzNaTXlkbVRjbExSYVpyeGVsYjJBSE8wUmFkVWRaZTExUkJUWkZ0WFI5ajNUcG1RS09OeE81dVZlcHpRNnQyVG1EWXcvZXUwQjhabHNYcnFrNjFYc3dzOVNGZk13VXk0bkU1ZXh4N2JaK1Z0SCszRkpTaURPNDNlQjcxSzJTdldURGtWenpKREdnWlczc1ovc3h5WGxQTjJ5eFkwZDQzQTY0dVNFckdHTVgrS1l4ekl5RGxyQ3R1STBlVi85R2lCajJmcWl5ajQ3Mk85cVFvbUVGd1R1N29HaGJzUW9tNDdBMkUyMzFINFBIQjR0bXNCYTlUWTdwZ0lpRE9SMFVHbkV6OXlySHZORTlvSGIxN0x2b0dyeVJvaGpTTmJGTlREWEMwL2pISmVOWWxmWjNZektWbGJSeUY3TXcweTVuRXhjeGg3Ylp1ZmZDOXV4V29oa0NjVDVZdThkVG1VMTI5anpsVEJER2dkVzNzYmVPclMvbUMxbGRNc1c5UXpVNHIxbUhheWhwM1lsRmZ5ZVpMajgzMzAvdC9adFdjYUswM1FsbmpCQXhyTDF4YnE5Q3FoemRhSklnd29OeG02OHBpWVNGZ1R1N2tGZ29nUlVSTGEwL2t6TUJGMnRsWFJNK0FQdHBwakhlcXMxaW1qQXgxQ25PenJlUEhIbHRYR282cUViOXRNay9OOW5SNlFqZEpuVGFHbm5uYUs0YWFLVzFEMlJVUVJWTVE4ejVYSXljUm03OVRZN0dnV3RUYlMxQk9MY3p4MXlNaXZzR3dscS9CSkl4elhFbEVsTGs0MlZxZUZ0N0Z0SHFmVTVEMGVHc1VaclpjUTMwSFQzdEd3cCtrYXpUZFA0QjFOVk1HckhhVmFCb3VVTFdXeGNQR0FVYVJBMzlwMFlNM1BoQjRFYmVsaGRuRVZIajMxRDAvS0pMTk16UVpvOUIwSnNyT05rR3ZDNXNadldwbElGazUvVTNpMUk3YVlJM0FMOW5FT3ZxYXBLd1B5STZuZnpuNEE2c1FjRkttK2ZpNkFxNXRIVlZ1Ums0akwyOWsyN1NYMERrY291Z1RqM0didTgrcnFPMnhReGNRSlVJL3ZhU3FlbHljVEtycEdhaUZzMzdlVFduY0dPZmMzVGJ0bnd4SWZXUkRHOXRDTk9UUTZOMUZHcHprU2lRMkVKWExlT0JlMEM4Q1ZaN3RBVTJjd21UQVdLTkFoUHBPYU9qbjRRdUxzSE83WEgxQlp4UGlDdkIxZERFM1JhQWo0ZzF5YzZubzhHYnh2aEI4Wk8wYjBlOEZHN0NOZUN5VS9Qak1PaVFYeG9PWllwNjdlVlkrbkl2bWNWNDBrWTRtM0tpcTNXZnZuUm9mV3BjTWYzdzNoVUdETTBJaW5PZVR4bS90SGdzOXRSWDNzYkp4T1hzZmVPTEw3UVdtc2dFemRLSU03RHNXMWVlVDFKN1Ewdm4zMFlKa1l6V1JSeGRWa21WcUpoOHNkN1pOLzhpN1Q2dUdYRDIycWtzK0NINWFmRWc1MXpIK1BOQUZqY2x1VkZGUDFWbnNjUGxPYzZMUklTNm9VOWNZMmZKSkNZYmY3SjQxUHJPUnhSc0dXenA2cm1YS1JCMk1iVXMyWlRJd3FBd04wOU1NcGRpellIWGhrTGNDTVRYbE96Mlo2WmFZK2wzZmVicUl4bEluS0U4RUhLOTVuVmpoaDVkVkV3K1JrYTA1U0ZNMFArZ04xYitPbDlhZ1BCeWEvZnlxYWZIc2luKzk1T3JzUFNhNnFpejBWUTVmQ1luYkJQOU8vQ2FYT2w4V0xpTXZiQmtXNlBlTEJLYXFmSks0RTRmMVpLRUVnKytQMVdkdm9vMjdlLzlPVHNza3lzVE90YzBwbVM0M3Zwd2RjdEd4WXhyR3BZajZJb0Qyck9iMXdSR2cxOVBjTEZpbFR2RS8yUE50QVB0MFVMTUhydGk4VFdUWEhDNDJRMmtDSVBPVjk4bWQxcnFnTHk1SGlhdGtpRG9uNldzWWRBNE5FOVpyQ1c3UjFTZHdFM01tRmFGZXFhTWJZdHduODU1RnZQb0tJZmxmb05tQTZoWXYwaEw4d3NObmtUbzlXMWVCNGM4VVk4Sit3S2d1eXJHa2p1VU9WbjJkMW1ORE1SVVVPbnFySG44T2ppaytVemsvOG11WG94Y1poREl4WmR3T00yU1J4MUxvRTRSalRwM3hNenprWCsvd0hlZEs5bEltTjNsN213OGg3WnMvN1R1NGRzdG1mQ3VxTWVhSUVQajRIa1F2T1dWREZweVdpeFZsUWErRFpKenllN3FsdGpRUEs4eGdIN2hTaDZrMllneTNXMHlhaDY4Vk9oc2NPNG12SGkzSnNIUU9EUlBRT3lUc1ZJZTBOcnphbWxIQnpVZFZzVjY0bVozTHpRRW5UcUhaV05mdHlWeVo0ZC9VVXpIMWNGMU1scjQxQ1ZoWU9PVnc2OGd2dllWMVdzTHczUHN5bVhaVkdxOGdzdlBNUFkzM2poaFNMU1JWQmw4M2hPRUwrQ2Y0a3o0b1I5bURpTWZWNzNOQ2ZZTTJFcXYrUkhDY1QxcTF5YlJ1MUJxZEVYanJFL29GZ05qMkE0dTh5RlZZQ3hIM0Z4WW9lSGJQbzdGTHdpN0pobU9XZ1hWOUgyYlo0dmRUZVM3M3ZBc0xWNmtYcTMxZkF5UTZOTUFraE9TWDRhc21zR0QwbVpESUZmcFk0aURZcGF4TjFVQzRQQW8zc21zYkdDZnpSZXpYcmdES25sazJQWkFKaHlVelZsS0d4NVdZUkpjMVpKM2VJVDA0ZW84anpGVTZwNlArRmlWRFpPNmIxYnkwSk5zWkRVVURNYm0xR3F3ejRsYUF3VW9HbStTUmFGVUdYeHdBY0V0MEVFam9CbUIyNG1EbU5mMGxNckVFYlkrZmxrSTBzZ2ptVW5HZENPNDVCSlM0RXhIQ2ttSGwzbXdpckEySzhsUmZOeFpLdHNhcXFoZjJnaWlzRDhFRGNPQk5HaGpHU0dIQnkrb1VIb3pGRGxua29zcXlsL0dzZ0ZkanJpdFZmaVEvbEU5eFcvbVRvS05RaE5USXI4ZkJBRUh0QjN0T09XYmV2VFBNZU0xL3BacG5VWmo2SWdQQ1dmeDZ2LzJLRURma1FEY2hBVFQ5dU5KRVg4Tm1KVFRXVG9BRUFYb1lTMWNhaXlycWJITHlyc2QrNXByOVhUWnIvSXBpTlIrMFRQMDlUQ1JDN05RcWl5ZUt5b0dkR0JGaUF0WElwYnNUbkUvaW53TFRiZFNOWXZnWGcwVlA0ZXhpNzBYOUpVTHlaajFXcFBadmgwbVF1cll1a3NZY2FrUjFhZWgyd1l6RWVtaHRrbDZra3BocnkvNEh6NWVNYmZ0Y0dCT3pRUXpWT0t2azJ3OVExUkJDWXRWd0lNa0YzMUtjWTE2VGRrTWY2dWdPb3J5b2lmQ3pVSTluWTdYaHdEN3k3UDhZVEFvM3VTLzRwUGg0YUFYc2w2UlkzMW5Pc3g1eTc4SWUraTFrMXgxYVVCczIzY0pOekJ0cmpKZjU1TGFDVmlBWE5UbHhLSlRZb3NkTFkxSE91OG9NUW1PWGdzMHpSVlRiMXJ0S2w4OHlZaG5VdTZFS29zSGdmS3o1OVE5MFJ1Sm82UmZmeDFHb2E0QnlXNXJDYVhRRnd2THNLWDcybFN5MnJBdzkwZG1lblRaUzZzdkkxOTgxUzNSQ2M4Wk1OZzN0VGw4VHlkMGx3K0NGMGorNGJ5Y2NWV1duMGd4M3hlNlFwOVRMV3ZqTHVQT3Z4SUFRbDZHK0lPSElkTWlDdm8xNDVJNVB3VWFoQXFLM3VqMm9FUXFPaEYxTGIyd3BCOWt5aXVVNGVvakJaRk5WMGRCSjBjcVh2b3luMlJSSWd2cWgzc2lrdGEyZUhadE5saHpXS2oyY0d2aVhMNkIxNXNwQy9pQ2ExU09uc3JIaXJwZk8vRU1qVnFTY3NLU1JTUUpQOUpodVhFT1JSQ2xjRURHdEVVRkV6dzVHYmlNUGIyNTQwNmZXdVd4eXlCT0JaVmQwUTdrZEJxZ2ZCV2hzQjZyUFRxTWhkVzNzYStwY3hVTkV6OWVNaUdrUEhZVk5rUzRTZXVNUWp4L0dVeFFFTkx1WmpxaVlVdSs3ZFVvVTE5ZXlBZC82SnlPR2tndC9USUVPT0hMdG9nWWxublFnMktPcHFvcWhzSUFYejFrYW9KeDZFWElwQ3RuY2dxZFlncUI4UkZnMmRaVC9tM1dlTXMreW9nYnQzdjhkR0svajBQZW1QRXE1L2NOWUVUMnE1NW5NZ0pqdUFRc0hFb3l2TW93cWlneWdvN05ZWUtnN1plcVZ1aDZSazJsMlg0N3Q0Qkw0UXFnOGVZS1dXaGdZRVBFVTVSaXMyaHQ5ZjlraEllT3ZzcjZYNG9nWGlMUEM5MlZXaU95eDkzUGhUVWFYaEJMRXZUNFlJdWMyRlZMSjBsVGtzcmo4bjBrQzJhYUloUkQ2R0FxRDNIL2xnNHRMSFlYb0pKM2thMmVtaEhmRVplbEpxaE1ZSE1ycTJHcURTUUE0MGpEWCtDd3BydUluR1oraW5VSUI0M2I2Z3EzK3lEM2pvQUFBeFVTVVJCVk1uUG9SQjBqUEZoTUtYQkRNSm91YkFjVFJoS1JnaHk5bmpxMXRlQjdvaW5IalpPZGxNR3BQajQ1eFlmSlBXLzV6a1EzZmNzK3lITGkxelJYdVJ2V2RGaHlNWWhaNDdqd01aUFpnWCt0cVRpenBEMWNRZENFelY2bkRtMXZaL2lVUXhWbW9lZTNBeTFBRzRtanBGOXNMT2lIQ2YyZnFTWGlyZXpCT0lUNmhhb0NNVmxVQXMxek9sbEJxOHVjMkhsYmV6ZG0zRzUrSldIYkZoc3RDb2l1dHpoRlUvK0VnWitqQmMzYnZNcmpQNzdXSFc2SjlMNDk2NGptWWkrWGF2cHBoam01bWlxbVFJU2c5czFWU2syMFY3T2hFU1Z4S2xZZ3pCRlA1UmxIeEl3QkVId3h1dXZ3TURaZjd6K29XajIrczhOa1p4KzVmcEdwTEtmdnY1VGdqS01lOE0wQjZtdXNJT1ovaUc2aW5mTy9IQlgzOGZteXdnWEIvZngwZ1JVVFh0RmZHYS9HYjJGL1FwYzZSRVZidlRacmtqL2lQcC91UHdpYU9OUTFPYXJIc2NxVmZhRVpaUVI2cjVMR3gxbzBzaWg5cHNnTE9HWHg2VVlxaFFQT09ZN2doUklIMHVhSGt5S2pSMy9tMzFtS1A1ancweVBuVzRuVzFvS2NUUktlWE9vZ2w0UkdGTWNxTmRRdkxyTWhaVzNzZmYzRThMNXlSYTFZbk8rdHBpRkw2UC9KOEIrVm1sNmwrdDFWMjFrTkFicUF5Ry9wd0paOEYwVzdxK2pucnhOQTRuNXhFZzJENTEzYUJxYS9nYzk1aDVQRldzUWJPcDBneGQ3bzF3N0NJS2dCZk1XeDU5amg1U09iWFNIT3BRczVNSTVHMzRzOEcvR05YamsvZTFjbjJZbk5BYnltMjE4TzJYbS9XZmJmSFZvZTM1NGplZng0MTM4L3dmL084VEUyanZ5bDZpNE92NjFqeUtmRGppQUhhU0Q5bTdobEVkVXYrejU3ZXczUitoRFBXNmhQd2lqTmhNdUhzNjY2YUR1Z0NySkF4UnZDNHBJYkVqU0hreUtqWDBleHZpdDdLc2JqZStZc0xPZFZIczF0Q0dJbzFGM0ZDWHJVZU1UMlMwOEJoS3hMMWNoZDVjNXNmSTI5cFRyOVpSdFhTK0djcG5tR1ZUMURVT1lNOS9GZXBmU1pMNWY5dGF6a1JMNlJmWXZtNGlaSDJHbk9Na0R5cjNUZU9kVVhhZUJiRk1zeEh0Rmdpd3FwbDdyVVBUbzVOQWdqTE92TnFQR255bXZFd1JCYS9yVUU1Lzg1Qk5QRFRuMFQrSGY4ajUyNHlsRUpqcGJHWHNxOG5vVFFnQ3hoOURvTWZhRTFRZG84MHlmNFJHUmEwaTlpRUtXRzNoa2NQYUxFWGNrT3lSWkZQMHcvaG53a0xFUG01eXdqVU5aRDF1YWhrRFpWSmROYjdCN0cxUWRzMU11QXovUXdmeUV6UU4rS2pyY1VDVjVIQXR5Wm5QZGcwbXhzWXQzdk4vTitQR1pacnF0R3RvUXhER2VVMS8wOUVNb0dBblZjRS9MREY1ZDVzVEsxOWgxQ0syRjlKUXRFVWsveE5oQVJLcU5DWHVLNU1TUU0yQWYwNVRmQ1RXOUFUKzNvM09FY3JNUHFXdElmaXlTR3NpSklNbnpFR3J2aVh2aXA2UDlvY216VXk0Tnd0UU1Cc2MrSS9XMEhBUTJ2M1M2WmM5eXhPMW5Qakk4K3pHZWFyemp4dlJYdDJOVlpuOW0rUFQvRlRuZjAvOXNNM1lMRjkzNEtQelhIMk9mKzZkMm9iQ05RMGw5bGRRdXlTem8rcEhIcC8vS3RHUmREN2JRYXVHeVZtZ2t5NmZxZ2lySzRhRm52VmpqRWxGRVBndmNLVFFIK2R6eWQ3LzB1YS84cjBJaXhUY1RpTDlmTDBlL2FHWUcrdEVKV25EdzZqSW5Wb1hTV2ExZW9tREl5dk5LenJGcHJOeGJIcDkrZGNSejVuN21ETSszeW1QdGxhazFBa1hmOHBIaDlOTS9UVGZGK1czRHN3OVFocFpjQTZrN0I5RXJlUkJlZXFLOEF0Vk1ucDBhRkwzak1mYTBNRDFVMVZ5Q0lFanlqRjlmTmU0OGZxUEVGY2I5b2xxMHNvdkFhRWVXb3lBUk85QXlXa3p2UkkvMTlMcUlkTmk5VFRPT3F5NGRhMmVkUzhrTlZhenFGdkhRczE3OVhHcXNYT0tpMEJ6R3ROS1FxQlIyNllFNDR2RTdnaWdtcGNjaTRkVmxUcXdLcGJPa1dISEdXVmJoV0hKSXkycXgzQ29YS1NEUko3Snp4RGR2NURETUdXQnlQeXBrRktSQkpTRW9iQUFpa2J2RkJRTHVXc3U1V2JVQ053NGxpWTRkS0dWUkxaSFgwbE1EQkxHSG5FRGI3RHJsMFF1Q2lrOXAxUFJET3pRZkpzVWplK3lqOFhudGRPWjdJRTdkZ2pVbE5jWnFjU0s2bDlGbFRxeDhqWDFjZXVyV05hdXd6bzd3SzZBbEp5Q3BBMUJkMytPa0ZzeWlVRGJsSUEzU1hNSWd5T1pNdWZCSGxLeDZSdnZVUWtBbUpYQVNob1hWVGhVQStPemREcHdyWjVuTUNqTlBOQ3lZUmwvalJYdmFXZWRXRElLS3IyekpaeXhCK3FhaTZjR2syTmg3dTdtdEM3amhnVGdVVExKYW9yRFlxOHVjV1BrYSswbnBBV2pzQmpLZ3EzalJGSkRvbkQxRm8yY0hoQ3V1QVNOSWcwcEM0QkR1Z0dKcVJ6bjNiU3hYRk1XWnVMMGppT2pKajhmZXJiVTU3bTZBYjRrMkdTSWlhem5IRzhoVjFhOFdVRmhqUndWM1U3ZE9hSzFod01lYTkvSDdIa3lpazZLSlVPeWo4U21PM2hsdXhLRnB4NExjQ28vN0ZvOTQ2S044VjBHWHViRXFsTTVxUHpaM1N4N0xoZU5OR2FJcElMRUV2eXNKd1cyU0kwZkdwbU45RG1IU2them44MXNPQWhkbFp4dGRCUFI5ZTV0ZFo1ckVtR0lJUFl2MTJMdGRxbkZKUVRkRlBCSWtydWlCQ1RuQUw1SkM2NUpXWXM2RnBWVVd5YmJTT2lqRU1SNFc0RGM5bUVTdGdnQ1d2aGpFYVZVNTNJaERuM2NFaHpGM1dWZnY0SmtLOGwxWWhaWGhXMW9hTjFaRjB0a1NZUWVwNU9GMk9LR0VVMEJpTm4wc2llamhTMXoyWE1zRlFScFVEZ0tYY0xIWEpsMkZDKzlqRWVkYVFZR2dqVU9pTTdZM01pbXo2bmxkUjE5cW54VDROVUZVUGsrWlIvM3huYnc3V2ZsYnlrdkJRemVqV1c3Q1hreXUvRVlXTVprWC8yaDhmam5YSFRmaWFPcTJvQ0tXV2JZTytWSVViYlRtZDVrYnF5THByRmJQMmdPbWxlK1Q3QWtrZlVwNmxra0RxZFY4M2Q1ZWFkZ1gyYlJETktnY0JObDhUYTVISTAzaGpOVDNuNUdGOXhnYlpSU2dyRkliaDkyNnNlT3RXYVU1TzYwZXdDSjVmajF6WWs2Slc0Y2NBUEc0RmRadXVLVlVacEwrbExyZ0ZQempnVGlON0VNK0JlNEFZSjh1cXcycmhRb2UzdTF4QXZzckRlU0U1dXptclFmUVhIUk4yUVA1bG9MQXlhTWFSbmppVHZsOGJFa1VoY0dsTmc0YmZNNVkrekZISzRRZDlWYWpYSWVhSzVvdmh6WmlTWFhMaEs4S1hPRnJHWldaME9mQlFwdVNLdTlHdkNkak5Pd2ozOFFUanlQc1U3dTdyRDZzcmhSR2lDbHhZaGwxMnh4Z2svcHRnR3lwdWZjQ202Sm42QmpYdkE5UUJnSnFTLzU1cFZJcnNRM0pZMVFjamlrNzRoS01FamhDOW00WEM1ZjhCTGt5UHhNWnBhNnhzdzFSWFQ3NnRVbGZNU3BETWxsblJrWjFlSmNKTG1Sckg3Y3JNNG4vYi9Za3c0QnJOK0tiY213OVlORHJXZUZ2M1YxV0gxYnJWY0s1UWMzRFF4cklWVFZETzRtOWQ5Z3RER3NEMEZGRnkwRGc1akpYYVEyc280MGRLV2s2MlN4TGJSeHUwbHBJTnMyeXVjL0xFYjFINGVJc3Q4alo0WEZaZWxuMU90eWh6UFEvemtmMkNaS1lzMWRrVXM4Mk8xcmlSbnhCNk1SRHB5Mk03UEtmZjdtN3JENnN0cXJzQnJmVWNrTVdKcVh5VWtBMkJtSkV4K3RmRnIwWnZZSnBaVlpKbG9IQWcxOFA2bGo2bUZBWWorWER3cEVSVTlaZHdTVms3N2F2b29iU3pjdXUyT2hQZDZMbzNleTM2VFlQYkR1MEJFV1oxYzdMK0VaeG8zTVhyK2h1cTNlQnF6S3BiMG5CamZqQnRCazl3L2FYZ2FsOE05VGRaZlZoMWJHdEtCU0ZwUXFyZTVtODBrQSt4N0NNdWpDY0hsdmxyNFJ0MWxnMTg1SWxJTWdqWmVXdjBJS0RsZWVkRkpFZUwzM0NvQjhGQjR6OVdOd08yTHRkVTNQcUFyTGxidUUxL2o4WXNOL1VsZkVDeFN0VFB2eldlSFRZWi91Z2lRR2cveWxCdGlxVG1yYlowUlkzNGd2czdGSCtCZFVlZStsMEpGcnY2cklhc1RxbzVIWUgrdTFHMGU3cVB5a2dzZjM0OUVmWTlKcE4rc1NldjlzM1NxZkRJZkJoTlZObEhSRWJhaVBPNUVYRy9yQ1FXWm1OdzNIZElabHU0WmRmWmwrZ1Z3NTQ1cmNOdnJDamI5YVRhUHo5NFdjNXpiY05QNk1JVm1OUzF6WTdHdU9CK0RPUDgvY1lvN21QbnUycTFqdTZyRWFzeW0rejg2WnVWcG54SzFsanB6U1FqVDhiblAxKzB5NmsvaE91blZVNUhReUJGOGYyMmNpclhGYWhLK3kzdmc4dkFmd0k0NkZOMFZGbTQzQlN5Y1VYdGVZMWVFOStwYitlaGxkQlBLY0ZOV0xGam5KNGVHWFBwNyt3N1ZXdlVxSFZDaHNJbFJnSFYxNm9NdC9vNHYxM3ZJWEwvb1dMTFdNN29vai8zdTFTbGZtRnF6bXZ1ZnZ6OSt0cmNpWEVNNXRSSTFhekZRMm5jejRMUFpsaVUyYXY3cmtERWE3LzNLMnlYZkZETDkxZ1QzN2w3emhiRmI1eFdHbWh4dG1lYitvQ2xSRFA2cmthc2FMdlIyV3g4Y2xickxTWDdNTWhWYWJLWTBBcFl1ZWNzY2gyejVrRHlBZHZITTVmUEdqbjN3c1BDSWU2RWE4VnE1K3UyRW5kd29lN0toTFByTjZ1TWxwbVVqekh6RTZOSVdKZU00TTNEcmRlTzZGUm5zd1BibjdOaUQ5UVdDMm9mWjhMNi8zWjE5UjhjNzd1RmN5c2ZnN2NPR3hVbkxwbE5lSDFQT3FCZWhGL3dMQnE2dy9nazdqbmV4Ni90aGFTMzdoeHZ0M0JxUWR1SERaKy92eWI5RTNNb1ZiRUh6Q3NadlFYNUM0RzRHY3Z3SG91UnBMNnVKelB4bUY5N1h1ZDB1czk4SnJzZ2Y4UE5GNXBvR3BNcU1VQUFBQUFTVVZPUks1Q1lJST0iCn0K"/>
    </extobj>
    <extobj name="334E55B0-647D-440b-865C-3EC943EB4CBC-51">
      <extobjdata type="334E55B0-647D-440b-865C-3EC943EB4CBC" data="ewoJIkltZ1NldHRpbmdKc29uIiA6ICJ7XCJkcGlcIjpcIjYwMFwiLFwiZm9ybWF0XCI6XCJQTkdcIixcInRyYW5zcGFyZW50XCI6dHJ1ZSxcImF1dG9cIjpmYWxzZX0iLAoJIkxhdGV4IiA6ICJYRnNnWEd4dUtGeHZkbVZ5YkdsdVpYdDNZV2RsZlY5N1pHOTBmU2s5WEdSbGJIUmhYM3R2ZEgwclhHUmxiSFJoWDN0a2RIMHJYR0psZEdGY2JHNG9YSEJwWDN0a2IzUjlLU3RjWlhCemFXeHZibDk3Wkc5MGZTQmNYUT09IiwKCSJMYXRleEltZ0Jhc2U2NCIgOiAiaVZCT1J3MEtHZ29BQUFBTlNVaEVVZ0FBQmRvQUFBQlVCQU1BQUFCbjNwZ0NBQUFBTUZCTVZFWC8vLzhBQUFBQUFBQUFBQUFBQUFBQUFBQUFBQUFBQUFBQUFBQUFBQUFBQUFBQUFBQUFBQUFBQUFBQUFBQUFBQUF2M2FCN0FBQUFEM1JTVGxNQUlqSkVWSGFKbWF2TjNlOFF1MlkrZ1ptTEFBQUFDWEJJV1hNQUFBN0VBQUFPeEFHVkt3NGJBQUFnQUVsRVFWUjRBZTFkZTR4a1dWbS8vWnJ1NmFsK3hNUWxzQ0ZkQ1ZGSkVMb05pU0FJMWY0aGJrRFNiVXlJQnBKcW54Q0lxVUZEUm9pa0dzR1lCVWszd1NpN0M2bEdJKzdPZ0RVOGRYZFpxc1NzN3U3TWJJMm93TzRpMVpvWWpZL1VnQ3M3MDdXeng5OTVuM01mNTV6NzZPNlpaZThmZGM4OTk1enZPOS8zL2M1M3Z2UGRXMVZSbE90NC9WcXU1a2ZSZU9JclI4SGwrNVpIcFJhL3VXdzFPMTYrOGN6ZXZYempqZWxaTTZLS0xYNVQyV3JudXplZ0dSKzUxcjhCUi9Vc0dWTEZGcitaYkxWQWJyeEFKb29tZXArdUVscTFYemhISHZqVmVwVWtFN1NPZ2tlQ2FaR0txaTFlc2ExeWl6VHhvcDkrNiszbnRvUDZkWjRKYW5iVWpWWVAraFd5YkJGMmZMdEttdkhoSFFVUHpyTjIyemx5OEFHTC83RmF2RnBiV1hLRlhEU1liYmREbXM2UnJaQm1SOTVtbXV4V3gvTWsrY3dUVENXZnJZNW1uTkpSOE9BOGEyMHlQa2VJdFpFL1ZvdFhhcXU0WHYzWE9XUnZYZmVUTzVZV3JhdlZzZDM1U0JTOW1NTDlFTmV4bytEQk5USWl2eHhGVTBPeWJTam9lQzFlcGEwTW9RS0x0NXpwd0xTbU5ySTZUcEduczI0ZGMvMDgyYXhxQkpNSGxOS3JvSkwvcllwa2dzNVI4T0JNTDQzZlFndlQ1Sm94aU9PMWVJVzJNbVFLTDlaMnd0QitnZXlIRXozU2xoT2tzbHpSSEhmcC8wV3FqSTVpeWpnS0hvemxSUGZqblBVR09XMk80VGd0WHFHdFRKSEN5NE13dEhkTUJ4Rk8vU2hhTnBsSHJvTFRLVDV2YW0vL3l5cW9wZE00Q2g2TTg2MHl3bHVJdVlQanRIaDF0a3JYcnEvMlZCRGFGOGwzZklTTzdmNnB5dmJQUzRjWHdDanRIQVVQeXF6V2t4NTltdGhicnVPMGVIVzJVZ3JOVlpnUFF2dkFYZzF6Y1Rqc3hvc3gzMVdjMytCN3hmdUc5andLSG5Rc0N3cmlOVUw2NXVpTzArTFYyY3FVS0x4OE1nanRPN2JDd3NrZlJjdHVWVkhXMHZqd2gzc1VQS2dVelQwbEN5SHJxb3pDc1ZxOE1sdVpFb1dYZzJTZkpFOXhpa3ZJVnh6ZUVUNXFxK1dHYlUzclhxNkw4aW1EZjEvMk1TelBJMXA4cDQ5SkZFMFNQUkppaDNyNUxPNW5sYXVGMzFZaDB1VmlhVFlPa24xQjVoOXZTTFRQay9PbVJNWExDK1RMeFR2VG5wUGtzbzlBYVI1UnRLcUNsR3htOC8rbjdpR1MyVllYS09TenVObXpnckxmVmlIU0ZSNUlrT3lyTW15L0lkRStRN1JwQyt1QmRqeEJTZ2J1MDJUUE40RFNQS0pvSXlBSjFkeFZBNWtnMG5xOEtwL0ZGWmxxQ241YmhVaFhlQ3hCc2c5Sm5UTzRJZEZlSXhYRjI4Q0ZYditMYUhUUnY4cVU1aEZGSTcrNHRaNHdHS1NZTGhMSktJc1hVWU9qajk5V0FkSTU2SHR1aGFDOVJnSzhpWWZQWWQ3ZXFTcHc3L3A5czFPT0FMUkhaWGtFb2YyRUVlek1GdGlsSHA3RnZiWTZkclRQbEYzaG5SQXBmN05SMWJQUFZrbEJROUJlbGtjUTJnZkc4MldzeDVhS1EvemI0Vm5jYTZ0alIvdjhEZnhzaVJweXFhcnhEVWk1bC9oRDBGNldSeERhVzhadWVVVGtVMVVPK2hDMEg1N0Z2Ylk2ZHJTdlZ1VTdMUjlUM2NWQ1NaZXNSb0pGdjFSV0pnVHRaWGtFb2IyM3BtU0tPakZmRUlMMnc3TzQxMWJIanZhMm5iRFZpcnhCU290VjdTdXdoU3oxcENvRTdXVjVoS0I5eXRqSFRzVlNNa0VaeU1PenVOZFd4NDcya3V2N29jOEpBS2hlRFpPZE9EVHlrUTFCZTFTU1J3amE1NHhNNm9XNEt3ang3WWRuY2ErdGpodnQ4QTc1akg3a3JidFZ2ZU8rUXNpVEpVWWZoUGFTUEVMUXZtUzh3emVNQlRJaHZ2MHdMZTZ6MVhHai9VUzU1YjBFZWtLNzd2aWZZWWFSV2lCazNBOXJtdFlxQ08wbGVZU2dmV05Qalc0bTRhWURmUHRoV3R4bnE2TkIrdys4OWszdnZmTUwwTkwwZTNyM2ZiMnUxRVVmTlJzTEkrb1hueGovcm5HYkYxOTZiOTJzdSszY3RmZWIxNko4eTEzamYwcFUvK0R0dmZ0K0sxR2JwMkpFcnVScG50MFdUMkxLN01pRDBGNlNSd2phMjZlVmlFM3lPVlhtQllYMmNJdkhLSlM2OU5ucVNOQk9iY0NXOFprZXVaK1FnM1V0MHBLOXVrOTJ4ajM5TEZwODFSRGRqZFd6OW1ZeTdwSnZSZEhmOURVWmxGNURRQnN6YXFxdXEydHZCemRDL2xUWDVDK3RWdlRTNzZNZDZLREVhd2doYUMvTEl3VHRYYVJrcGg4bjQzdCs1U0Z5YlRtbVQ0bjJjSXRIMFMxM1VYUVlSM0Z6K1d3Vmd2YXB0OTFKeUwweHVVSXU0N0pQZEw1VWo2YTdabzYyWVdPcDhkVHlvbnduTXNKQ3VVL1pJSXRzWkhXYjVLbmw2RlVIL1ZuN0M1N1BwNVBvYjhuK1JFOC82c01YNDYvL1N6VFI1R1JDUnB6U1pxbWFyMDMvSFNGRFdMU2Z3aUdzS2dEdHBYa0VvTDFHUmVpUSszc1VucHZ4b2VlM2VQUVFKV1FkUnRJblR0OXo3Yk5WQU5yZnlJY0NJZk1lVXZhSnQ5NE9HazlHdHo1RmlhQldMNFl0SzA2WXBJL3BWUkprU2FoekE1MFY2MHZrb0k2TDRlNklhRmdqQXVJdmJLdytpVy9QMFB2c2FKRnJkUlJxWGVQcEg3K1Q0M1BlbkdvNSt0bE5NWFBmTWdjNXR1M3FIRmQrdEpmbkVZRDJhYVJSSjhqN0x2NzFmNmF0VkxrdGpwK29nbFppUnc2dDJFMTl0dktqL2ZVWXlpZk9uUGw1bTI3UWxaUWRqWjhQdE5kNjY3UWIzaExWNkJ0YWI0OWNvRW1McnR3V3JncmdVclQzYVU4Y1V6MGUrODQvMDdYUVB1U2VmbXFNeG5YV01vb2VsczVuRlJZcWZNeFY4VjdZUkpmOEFVQmloV1E1UitSRmV3VThBdEErUy9kWlBVaEM0OG4xdUF5NUxSNDFLQ243c0hkeWNSYXVhNSt0dkdqSGIwSThWWGR4Y053elpKOEUyaytLcjJidUdGbmFub1EySTdORG5YNVB2dXpYRkM3OUVTaWpMdGcwUkE0SGVTd3pDRVl1WXAyMUdLSmVOTVhFRUJtL3VUS3ZIK0w1cENCWTR2UnE4Z3g2dDBsc1Q1NkhvaGZ0RmZBSVFQczhOZUwwYi8vek45OVZ2OENFc21USWJYSGdndHgzengzZGEzZmdJUGZTejQrdFd5VHpYUGhzNVVQN0NSaW9uNGVoMmRhUUhmSEpreHNpekdzWUw3K2FVUTIrc0FCV2NQMVBjeUpEZ1d5NjJOVjVGWlFqZnB1eGEvMHd5MUFxSHJTbEkwZHhuZmVha1FWK21lOFQ4Y0Z5b2tmdFJTL1BPcEtOV1p5MUJob3JjSWdKVXFFVlByUWpsaXZOSXdEdEEyRWNEQnRyVlZ6WXZCYVBMdENkRmRqdVVqVjA5dWxuaVNQVlZnWTlEOXBySFRLbU9peDIyTEkvYzUrZ01wQVJCbFBZcHFhOVFOY3dlTzBydkFxckNpK3Nxa2dHSlRHY3BtcUdObkR0bDNuVGVlVStNVEhra2poZEJ1MUlMd2lXbkFQN3ZFQXlqN1MweXdhZmpCaG1DaTJEckt2b1Ezc1ZQQUxRdnJHckI5bE1aRlR6V2p6cUhERGxEcmNvVmVuVE5JZWNwVlJiR1RROGFFY1E4Vm1qZGM2aUtYdVBISWk0QXE4VnFtMHFvTDJ2aWE3U1JDTldvL09zQ25BVlBiREFpRVk2bndQY2E3MEQrc3U4QlhxTGVPbFczV0NtT01ib04rVE1JWXB4TkRMQmJ1MG1SR3RJdVUyTElLVWtGN2ZDVHg2MFY4SWpBTzN0TFQza1UzSkZWVlY1TFQ0anZCUXowS1Mwc2lLWHQ1QnFLNE9JQiswZEZVTVlmWUtMdHV4cVA0cTB5V1ZCUXl5LzRxcE5xekVYdHRrMWxpV3hhcW92cFFETFh4WnRCendKdzY0Z3BQU29hSEdGdCtqcG9TK1VVU1BXNnkzQlU1L21RRDNqU01rV3I4aU5DbnJ0YWlMNVNoNjBaL09ZL0xlM1BYYTJIc2pNZ3dma0VOWTBwVmtWTmNxNnZCWmZ1YzU2VGpFRExhYUZlUzk3MDRmdi9CTkozbmRPdFpYUnlTMGRsbDY2dTBvZVlScU15YjRsNkNEYWtEYUgxNjVyNml6ZzJKRGhOcGp2aVh0RHJoUzZnZDhTVlNncXZZT2dtQmMwdmNscGcvSlYwVFJhVVNWWmsrY3NaMStlUG5iYmpreEN0ZFZjdEJ1RVhIblFuczFqaGVDb2g3QkFHemNlNks3S0lBUmZGYU9iMStMRFBVWnVsdTIxNW9TVkRRNHNqeVcxWjlabmxEMjJja3ZYbE5pSkV3L1RZRXgyaVU2QWMwOFFoQ3RlVnJUNVNyWWp3eFk0K2RQaVhrdEU0RDNkdkNXYm9RbUd1UzFhb3RNV0syS0U2Z0ZzUjJjOFJiTThweXdkQk5QQUlyWE5HMjhjR3RvZFBDNmRJNGF1UEtOMjR3SFpHSmtEb0hTd3Brb0xDYkk1TFQ0bHJIK0syWGRlN3JPTU1kWWVoODJ2R0JYdW9zZFdUdW1RSG9sUFhzRXNUSU14MmZ1aXM0RjJQSENSdGZoYVB0dVVLcCs4S3AwOFBBNFA0R0ZTTmYwN3hpb0toYXdKMmcxWkhHckJMOFZ0SXRvR25qU2h3QTd4Wml0cWptSXV5a1VvM3NoNzdmYnRUaDREclRZZkd5Y2UwSm1sMnlVUkJBNTdzc3pQT1MwK0p6Wm1xMnl2dGZTTVRZeGZBWVNYMCtwVDZ6eTJja29ITEpwVDJhSWZvc0dZN0xKL0Z0cW4vaDR0c0swVzI4eW1uZ2tOamhFRS9IS25pNHltOGdTWUJBZVNka3U0TWJvaDNPU1ZVejAxUldTclhPZUVTWFAxUnVPaGlxa2dnRnB3RWxScWlScXJ3bzEySjQrQjJ0WkVIaWJlU0lhbDIrVzRBTVNZMjgxcDhkb3lKOVZpWkJyS3VKSUJQWU9KTUtSWnk4c0phVHkyY3FJZDNqVjFBSlNWb2NIRUtQcWl4cFpkN1VFTXRDTTJsNDFGSDh5dzg3dzQxQmdlOGFxUjFpNVNFR0pTUkJFd0pGS1Y5QTBPUGovcFUzcE8rY0d1aUcwRWc5d245YlFyZDAvZUFSNVFSbEpRU0tadm4wbFpnYjVxSlBWZlFUNXZYUDJZUFJnM2p3MmxxelFtMXJPRDl0aGc4dkpsbXd1dUJsZk1xb1E0UlN3T2dyMWRTcldwTEdyeWNHUVZrOUlrYlJVdVhWdWp5K1RQeWxxRGlWdE5pVDFiZHVWL2dYYU9YdmJPVEt3N0Z2dlR2TXJBY0d1YlZYWDFRb1ZOcU5MN2hvRjg2ZkpCQnJDdmZmVzE3eUhrYXpFV09TK1RHc3hIQUJOdlQvVEE1RmFqamhOWlRVNkVXZzl6TnVQWXRQcTdlZWlYa1ZLWTRBRlA1aUV6WFpxWG1XNm5XOGpZVWxYRTR2UVJ5eGJsa1A0M2U3QzBabStYa3RJa2JSVXVYWStRTC8wNk8zNnRiL09KSXEzQitCMEVFYUoxRWRrQjNUcWpDTyt0RnBiaFBxMHlvaE9kZTBIOWpzYVFjdmtOWmNIclAwZjdsamk2MlFnTm9qclFTN0hPanlaN3RwTnNJRTNtY2RtaTRPYlJVVG13RkNZMDBaVjFKRVBBOXBiQkZ3YUpMVlZGTEU0ZnNheFJxdDNZMU9HY1RvclYydUFyaTBscGtyWUtsczVVdHUxS3dFNXJVUEtXWjVoVUZJdklybDZpd1p4V3F1UmJkOFRuS29PelJMZy9vSnhRTFcydlhINGJzZnpaczUvNC9YZjlsQnlXY2M2Vnc0MlMvc0lnRlZBYzZWRkROZWV6ZXZTVUVMckZoeUJhK25IQThLRmF1bmxvWGFVeG1ldWxzMEJ0OHRtQm1XNDNIbnZMZ1JTeE9IM0VRdnZYdEwwbE9YcGUwaHMwczVxV2s5SWtiUlVzSFd3amozdVg0NXkwQnVOM1Rxa01nRi8yWk53dVF4SHF2U1V5K1A4SjBSb1YremRrN29XOWFxQ2VkcUxKTGh0UFIvdjcrUGp5NW5CN0toQkpVQXFxVVBNM2loQndYTTdvZzZoZ00rTVdyM2J1VXAwODRMWFdPQTB2RTk4dTFVcTMwOWVzejl0akxtSngvUGdrMjJ0TkpSYzNTcnloTmgwMnEvaHJKK3l1eDFhdVhhcUpyamducmNING5XaEZaUUQ4c3NQOGZZc0E5aVJpU3dmdnZTMXV6ZkNOd0VBbEoya2dKUmNRL0o2b0RIN1lnOWd0MXFrbllTOUltS2VjT1Z5UEJrM0txZVdlM2tORElWdXBiZGlMWS9XTVc3emFpWFluRHloSVVFNCtEb3F6ZE9FQmJhMTBPNTI4dXphQkFoWUhnU0ZMcjgya296MDdaRTZSeG1NcmwzVEFXekp3RTlKcERkcmk0bW9rOFVxZDhiYTgzU05wdTlRRTJsRWgzQVc4OTc3b3ZNQTM2NmhSR1ZtWmUwRUx1Z1JKTG1qQzNSanFUc3ZLNUxuS0hHNlN1bDBEZjZyMkg4Z2U4ZUhaVGVpVjc5VnNPRktobUdSZnVsbzVlT2pJMTh2RTU5dXRkSHVFZE1PMlBab0NGcWNoRExQdmJEcmFzMFBtRkdrUzA4OGVuZ2Z0S3FkdDk2TEpGTGI2eEt2cDlZNHlpMTkySUhYWm9xRTlPcnkzdkNYU1hpUGw5MmtTVmcwTjBaQWFDenIxS1QzY1YzUEZvczh2Y3Vad0w2ZVFDSzdDS3FoMlg0UDRVcWFwbkZKSmVWMW5sVnhvZC9QUWthK1hpUS90VnJxZGZvVnkzUnBqZ0g5TFdKeisyUGNWU21VaEhlM1p5MkdLTk5tUklodW5DKzBRUnZsU1d5alAzbUZidFBhakhVdkVta1Y2VlNsd3FJUDBFWWRiVThmaU1LOUt6c0xES09STGx3OW5KMUk3Rm5WNWtTZUhpNW14TGZ2cGMvajc3Vmh2bVRGcDM0WmU0RFFwWGxySjFqVnY0RUs3bTRlT2ZMMU1mR2czM203SHFFWjZVUlhpRkxBNGZWNnlTN3ZQcCs1U25TRnpISjdwdGhKanc4bURkclUrNmg2OHBEVVl2d09nN1lzNnYreUEzYnBGQUlqdTg0cWVkblpEM3FhdDF5bk1FZ1VoaEFkcW1CTDRGTzBXWGZ2Q0VZY2xjcmdndFdYM3hsVjRGcGQrbDN4UDltK3BMWTJzVWVlUlhnRlVuVlZ3b2QzTm82Vmc1R1hpeEFPR3MzSGVIRk5IbTBoVUY3QTRuVFJidFB1U2lvQUZNWGFDcWZybXRWRk9TcE5xSzdQSDJMaUlGWmQwNUJDN1EzZUpUeWZxZUFYOHpMSzQ1WmNkR2R0OWk4Nk85T2lZcG5MbXlrVEFqbzdGUVpuNmcxZjI4UUcweTJlVnl1V2p0ME13Vnh6VzF0T0lEd3cwOTNuSitHeGdObVVjOGEwT2tIaFo5aHlhV252MDl0NjkrUHQwY2VqNFQ5YkV6aDYwcC9LWStJM3UzV3RSUjAwM0x4TWYydHQ3eHFpQUxiWEFpdW9DRnFmSjdEWGFmU2xPN1piSEQ5NFBVNm45WGhUNVZKWnFLMlBFTHQ4T0dLbUlVM2VKYXhCQjhuL2NOZjZqdW14aDdCMzhzZ09WVzdJak8zZmt4aGdEbHhoZXZNcWJ0SFdTYnNDQjM2bmpEaUlaT1V3NEFqRUprVzdublZJL2RTU2J1SjNJNGFaR1BjRlpYSlpzMlpaYzlPSVVSUzhsNDA5MCtYUGVWOHVKNHhxekMrM3dNR2s4Sm9ma1k1MnJlQjV4R2dNSVl1SkRlM2RQaW9JenRMMXJYTkppQVl2VGg0YU1TdnhkbEplU2E3ZVQ3U1dkMGZLckxOVld4aEJkYU1mUUpZeDBEMHVEckJvMTl6NU9ydGR4TWRXVGR0dWp0L3l5QzB2UXh2em95UmdjQTVmTTVkYW9wYjNzQm91QXVOTTNIc2NEK0VML1hhSjJycEswY1hiR1ladEdReFRobTVmdG1ueFhFR1JiOUVCeFhYWitpRnl0UnhORHRtNDBwZGFLb2oyRFI0dThFeXorZ1hNTll1SkJlMDBsSUtnWWNEbDFLWTQ0RjdBNHNsRjhPUndRNGRVNHJSUDBkNE5lZUwyaHcxUy95bnkyY3FFZGMxZTZWeTJVcFVGYWpmKzJ4Mi9adlpERkhlQW1qajE2SzBEMnJvUW5iWTlEZlF2SjJIZzF6dk43c05jYUwwVnRGczFOTXpWaG1GZEU5YXBhS3RxV2I1LzRxR2dnVG5seXVFZ2kySjF6WG1HOTN4WmRGdlNncHNtWXluS0MyL0xpeFFjSitkR0xGMTJrWGI0OW5jZkRqUGhKL0ZoYW54SU9ZZUpCKzdUU05DWFlOdHd1dmNaUndPTHEvY0lWeTBIVk9zd3pkTHB5dGNiYnNWNlYrV3psUWp1Q2lYaGNodDlvb1R0Q3BVR1VOOGpucVp3dE5yamF4WXROOHQyTEYvdTBLa1Qyb2VVdDZJL0ppR2dkN2twaWVMalBxRVhBY3AyWDhNeVl1c0U1OXRZU2hxbGFxdmt3c2pENlNPejFwazVzamdtcWxHUWkzamNncXB2bEtmVVVzNEgyVTAzeWNVYWpLeGFPSk44NEN4ZmFvWTlkMFY3enFIV1pjOEJNa0V1R240a0g3Yk9tKzBNRTh1bjRJQVBRSHJjNGtNTjk2c0EyR2NmZUNpRjdna21BeW55MmNxRWRPb3loQkQrN0ZkZmdETG5XcDhOUi95OWk3SVFDWkcrcXFjdGw2a2lXMm1OUHl2M21rZ29FTUlmcHFuZUt4em9xNXNGNklEZndVRjJmVThSbnpRbzNVYUdXQU5WRUZwSTUzRk5KRHlZYmg1MzF2cmV0TUhtQ2pQdXM5MGhzWVpOODQ4U2RhRS9qTVMrQ3doMGxnSitKQiszejBqcDBjQmZJZURrK3lBSVdCOHJPTXpJdzJacW1KOTdUeHRQRzA3d3lSR1UrV3puUjNoSVJsUjVEVW9NdDhiM29SZG0ycHhidUVOOGUvNTFLdFRwQ2RySGhQQ204UFgxUXZjK0hNdUlCVDRPcnFTVmQ1b1oyWTVnUFduVVB4OHlDMVVEZjFNTFJVaklqcloybDNUTDRha1U2Ukd6SjY2S1hTcDZ0aU4zSmlvbWpWTkpPdEtmeDJCRmVjU1RWQStIaTNpdkJ5WW1IYVBBOXVVeFFGeUxsTW9nRW9EMXVjYlhEWGxMQUJzRTVzU0RoN2pxbkg2SXluNjJjMGdGeGZjNUtmaVkwaU5Fc3M1dFlNRmtCNTAzWkdrbWRYVmsyVW9Lb1BpK3I0NzlUMlpETGJrdHRHa1o3b2pHV3ptMVdSSlREQXA2ZExYWXB0emUwV3I1YWIwU3kwV1QzczZ5ZCtzQzYwVmNYZGtIcFZGV3ZxdDJ5cXNwWG1KT0RtcFZSR2sxRENDVkorVWNwMExIWk9OR2V3Z09XcVRNS2V2bjBNL0g0OW8xUFMreEYwUXZTWEVZQml5T3pzTTdHaVlLQ2hYcjlCRHZCUHJzYnBES2ZyWnhvQnl0aEZNYlFlSFZKYVhCVnVRdmhlSldTMFFXemRVLzBoRjlUbXoxVUM3ZE5IeGRiRzNHYVRseW1YU1pKV3l6RWs4b2hSaDBSb0RlZWFWTi9WUk1URFN6N3RNL29xdkdjU1kwUTlUeldvazJpL0RuY2tXRURSaUx2UjYwbnhybWhWcjE1dFR0WUV2SWI4VjhHZlNmYVUzZ015RFZPU1hvbzg1Mk9EQjdRbFF3YlUxdTBUN2UrTEc3QXRYd3kyYWFBeFJzU3o4aXRxYVFJNExMTHFFc2ZEMkRJa1RsVTVyT1ZXN29kNWRlbUdBYVRHdXdxTEFqSGErNkVtaHA5Y0tkcTVxQmF1bUFrSmFRUVhIVUlNazdUMG9YdlFidytMZDBxQXhrYVpyQ0hwb3RrYzVXNlNmVTN0Znd2R1I0aXJ6T20wVWsxalg1Q1JuNGdWaUNIdTZNd1NrZFQ1R2h3eTAxSStBRlR5a2NzaVFBd2tlWlBNSEtpUFVyeVVQRmRUd25nWitKQmUzZDlYbmdPWk9Kc044WEhXOERpUTZrV1FNU0FoWEQ0YXFzUnBES2ZyZHhvbjVjam1lZ3dEQ1kwQ0xlNktld2lIaG1xdDl1ZmQrWUpJSno4MVpuZmlTYlB2TGVINHZnYlo1WWpVZjNBbWQ5ay9ZQnVObytVY1ZzTUNCT2RYY1FpbDFFNzNkdFM5NUNENnVOaTV4bStKTENmRnFNM1o4bjFldlFqNUpPSUd2Zm9OVDFxSGJMRkNtOGsrc2QzaXVSd2UzS3p3S2dWK2NDV3BvOStiMUNvdzhic2FVRklwTjNNK0MrRGhSdnRDUjd3amxjWUpaRGU1eVFEbUxqUmp0OXVuK2d4YlU2MHliVzErRUFMV1J5REV1NE1VRkM3Z29HTUJOUStLa2hsUGx1NTBSNE55VWVvVEJOdEJyT2tCaEduOWJuUUdQVXVMYW1kVUFQNFpzZDM2TzhJaUdNTlRrZ2M0dDBXSWlZeHA4SWU1bnd0cXRIZzR5VlVvWk5EYzJPMWdXL1RUTHpqWUkzbGhxWjdtN0xURytqUEsvOEZqWnhPeXlwTUNHcVBIL29RNnVXQkdiQ09jcTRjTHVMRnZ1eGY5UHhxOHNWKzlEenR1YUFQcGl2UTJ5RFhLVlY0alRvOU93NDMydkdvMU9ZQmlwY1pOUlNXT2RrQUptNjBUd09OTHlEZlhxNjliRWdPMWhOalZhYk5ZM0VNNm9xZ1pMeGdQdUpxb2FzZ3o3c0ZxY3hyS3cvYXNickFCejg2NUg0eXFjRU42Zndwb3BsMjFVNm9NYjcvN0IxM25MMi9SMlcvSDc5YWZPZTUrNUVLVWRVQzdZbkY1NFZZQkhvVXRiVTJJV2ZKdGJxaDFZa08vV09aVGRSY1FpTmpIdHpXUGZoQVJHZlN1bTc5ZXZ4V2NvK1E5K3VhUndya2NKRmgxUVNLbGxwa2ZJNWNYNWJkRWFGU0dlalI0bk5nVnZveVhwdjI2VUU3S01WNTdETXlPclFNWU9KR08zdTcvYzJFSHArcUo4ZW9USnZINHZEb1VoZHQvWGhuS0IyKzNNOEVxY3hyS3cvYTZmK0VISFRKd1M4eDJjQnlueFdVQm9jcUFNVzhPRTN2dGRWVVpTMjlIdzBWK011bUQzNndkOERlbHFyOXpMbnhuNi9KYW5hZWZIZnZnZjltcFZkMDdxNWJ0M0RSc3Yzd0Q5OUo3dms5czFHUkhPNkMxSHVjV2E3cjIrNGEvN0VleVpKeXQxZzgyWnlkbDc0c202b1A3VkVHRHhYNVlxUEgxcEZzRnJqanhBTi9oZVBISDd2bkcvL3FKT0srR2JQNE8vNU1OcjlFRjJOK3FFY29jdE1ScERLdnJaelNVYzdUNys2T3YxN25ZMUFzbFFiVnFCQTQ4RG1xL2xtRGQvRitudElUMnR2VzF3Q2UzOVZFN3UreFJLM3pkbktkUlB6RkYwd1ZoeWs2QXhWaXE2clNoUlh0eVlVQ0I4cHJaQkwzb3QzdXVTcDVxTWhYUGFLM0c5cFhUanpZYjdmYkhjT3ZBaXlPa09RS0k0ajRlSjhWZ2xUbXRaVlR1cmdFQ1ExaU1IeFVMTnU0alBZSTdUZmozWnpYSjhoVjUvMDhONDFOZlZvM0dXVGx5dUUyamExQUd0RWlkUTBWSFdFZDM2VVVOblR5TFl0Z1RyUXJIbXBHaHpCeCszYnJ4MlN5eHVtdEQ3QzRWQXZkejFCVTBTQlZCcFR5WG9yS3ZMYktoWGJGVW1wUWN0YkRRZmhlcDZNTFBqQTlndHQ2R21JMFlqT1EyaENjR0xMVWM3cWdIRzQzcHp5cHJHT1ZJN1ZoUlNqTm5FTkEvSmNUN1NQNU1tbGJoWW9CVE54b2IyL0ZCQ2wwR1dCeGdKeXptcFVKNmlDVmVXMlZDKzBKRFdKVXA0WEViYjRXaCt5RWJCM3R5TERDcmk1d2hhMkRUT3lsOWNidGRWYXY0ckNBSEs2UkpFK2pXYXh1UXlJUndjV1lrUkR4MzdjZDlCWjFkdFhSU3QwYXlmMUdseVkrMzA3ckE1aEVJMWNzYVAyWWpPS1V1K0MzT0hDMXo4aXlQOGs3c1VjWFAvbHR6R3lWK1czbGxDNHVSMEtEOE9SYnZCRW03SGxhRWp1aGhYMWVIZkM1b3JKeEFZMmRUY3gwZTByRGdWeEZWQ1Fia01PTi9TdHJDdGtDVmV6WkdPc25IMkJ3RjM5Q1dqU041bFErUFcySWRRNkcyY2Z2REZHS0FVeWloZ3dZVW9ZZ3YwT1djaXRYbGQvaXdOVTZJem1nYy9iVWxRanZ2NkxBam15VitXM2xrazZRMTZlRUJyR2IyT2UzcGVOYzRpNit0YVY3ZVVyV1c2U2V0dTdiMk1td3NDQ2pWYUVjN2tCa3JUTm9GcXNXU2tKbmtiYUZIdXU0R3ZDdGNnYlJ1OVl6YnFSV3I0cmRQOXhrUFpxa0dBNWljdklMcWRSWXBmMWpNdG50ZkhmOEZzZFExeGdWdHRWYTNhWGJRcGx2emxhWjMxWXU2UktqVG1wUTRVcytBVjlsMnkzNUJrdUNRa3BGTFNBdmx0Sk5WYjNtUUVLOFRVaGZWU2NMaFhLNExRYkRKTEZTTlFzeWJqZXlSSlJnTlhFeEg5cVM4TzE0L29kSGRoUXF3SDA1SnZhUHlYQTJSVDRETEM1OWU0OW1RWm93Y0lqS0tyWlZVb05ER2JmTFY0OUdMRW1UU3kvbEJva0VpNWoxU0JDNUlnSDRVZUU2YytSd2F4Vm1qRFF3cG1TbXRDbGVsK2Fic1NsWHpLeDdoNVZtaFZxR2RHZHdrdTVuU2pPUjM1Z01HNENqbGQvaWJiNUtJNjE5SHMrKysvVG5ENFZ5c2xWV3RhMlNHbXlJcmRNTUdXTklPSGdHb0xISExzSSs1dlg3STJFZHJGYklpdEpsR29jbmJNZnFDRCtCSTA4Tzk0UnozOHZJRmZrWThvVjZrUndzcys3OEllQks0cHRpUldpTFBoTjh5Y1IzQWdDVDFXM1VsbVppLzNaN2liSDVMYjdDQThnZEFueE5zaFMxWDJWVjJ5cXB3UVVSSFk3azY1OU51cGVheVB5eVJKcUtwa285WDJvcXRLUEVzWlBHaFAwNEtvYUdBeXM2YjZjU3F2QWNmQXVZeU9HdXlIMUpPczJpdFk5d245NldtNEpKQ3NuSjNuNVJlbW45bXRRSUU1MlBVdDgrUkJGeGUwa20xYVRiTVJLL3hXY1lKcDUvclFIZnpuOFgwYSt5eW0yVjBHQ3R5M3c2WGtJVUNsL0ZaSXhlSXZmUG90Snphc01laFkraGpHU3dqM2Y2Um9COGkzSEprOFB0aUhXajhQRFNPOVk2NC9Vb2VqUDVpcnhOMS9hbTNJZkp5bkxuT2ZLNXFOYThpaDhxWEJPdlJwZGxVdDIyd20veG5YRTllcEJzejhHbXJjdFVFWDZWVlc2cnBBWWZKdGpFei9URys4STBKN0JMblhHbVJrUkQ0elF2ZzMrakxyaklGanZhZWtTZ0lNY0J0Tyt6MnpseXVJdnE3MWtkaEl2Y3dtdjkzK3lTTDZxdWMrVHFFMlBxZ0NzOG11VHVEbWpDRTNVK3pzaVdaVkpSdWgxajhWdDhoaHpjVHIvZTN5YVBYZXV6MGZ0VWRnaTJTbWdRYjJJOThFRXkzbVFEb2g4NzVNTTlqRExQTWVGL2JKNU5Ebm5GUHIxN2laQnZaYmZDblNJNTNFR3VrTXpKUG5iejBjZkpaOWlyYjZMK3hkM1ByTWVhbEwycy9XTHZia3J6bGIxUENWTGxtRlNWYnNkZ0Fpeis0RjMwcmRabzZrTUhXMkwwSHBVZGdxMlNHcXo5VC9kQXZqVkdoelg1d1lOL0ZNTUxQbTBjOUlQYnhodWVKRi82U2F4emJ5UjBrWEVkUlhLNHcycURDOWZ3YnZ4Ny9OZDdxaGxuR1l0bmpPQ21zZFZNdnNlRXRyZ3R2QTkvbGhEeWgzWjE4aXAvRG5lMlRJaVZITUJOWGpPZGJ6Zm1sTGFVeFZNcDMwUzJhaHIxU2JBQUFBQ2NTVVJCVkxFa1U2b1Uvc3JYUFhhTzNQZU5uL1UyekovRGJjcTl0NWYyY3cxeWFxQ1V4ZE40M1VTMk9rRzIwaVNvdGk1M0RuZTYxSU9BYWdmL2JLTld0Y1Z2S2xzMUsxd2xzNENSTzRlN3FyNENuMFh5dWZyQ0dxalk0amVWcmFhUmJ6NzBJMmNPdDVZemtYcm80MzlXTWFqVzRqZVpyWjYzZlBpMnpKbkRyYjN2OElmMGZjeWhVb3MvWjZza2tuTG5jSk1rbnF0NVRnTXBHdmgvSlRLdmpEdlRjSW9BQUFBQVNVVk9SSzVDWUlJPSIKfQo="/>
    </extobj>
    <extobj name="334E55B0-647D-440b-865C-3EC943EB4CBC-52">
      <extobjdata type="334E55B0-647D-440b-865C-3EC943EB4CBC" data="ewoJIkltZ1NldHRpbmdKc29uIiA6ICJ7XCJkcGlcIjpcIjYwMFwiLFwiZm9ybWF0XCI6XCJQTkdcIixcInRyYW5zcGFyZW50XCI6dHJ1ZSxcImF1dG9cIjpmYWxzZX0iLAoJIkxhdGV4IiA6ICJYRnNnWEd4dUtGeHZkbVZ5YkdsdVpYdDNZV2RsZlY5N1pHOTBmU2s5WEdSbGJIUmhYM3R2ZEgwclhHUmxiSFJoWDN0a2RIMHJYR0psZEdGY0xHRnRaVzVmZTJSMGZTdGNaWEJ6YVd4dmJsOTdaRzkwZlNCY1hRPT0iLAoJIkxhdGV4SW1nQmFzZTY0IiA6ICJpVkJPUncwS0dnb0FBQUFOU1VoRVVnQUFCZEVBQUFCVUJBTUFBQUNmUG1QMUFBQUFNRkJNVkVYLy8vOEFBQUFBQUFBQUFBQUFBQUFBQUFBQUFBQUFBQUFBQUFBQUFBQUFBQUFBQUFBQUFBQUFBQUFBQUFBQUFBQXYzYUI3QUFBQUQzUlNUbE1BSWpKRVZIYUptYXZOM2U4UXUyWStnWm1MQUFBQUNYQklXWE1BQUE3RUFBQU94QUdWS3c0YkFBQWdBRWxFUVZSNEFlMWRlMnhrVjNtL1kzdTlYdS80b1VvRWhRaDVKTlFXbGNJWUlRRWx3TGgvRkNKU1pMZXFFQzFJWTlHcXRMU1ZEUlZhUUVWakhsVVZIaDFUS2dGSjBCZ3EwU1FiT3NzYmRoUHVsRGFVWkRmWXBhVWhDYzI0bGFwSUxkVVlHc2phazkzVDMzZmU5ekgzbnZ0WTR5VjcvNWg3SHQvam5PLzd6bmUrODkwN001Nlg2WHJOWWlid3d3Q3VmUDB3dUZ6ajhmU1N3UEhoL05HYmNIZm42STNwMm9pdWNnbTBmM1FFSi9EQWZ1OElqdXJha0s1bUNjeXdveGU4ZUY3RnY3dE1vVlpmZjVyZCszdTFNa2xHYUIwR2p3alRwM3RENVRtLzl1WmJUbTg0aWFGejJRbnNzSUhxQjcwU1dhNHhmajFXSnMzdzhBNkRoK0JadmVrME8zaC9tUC9Uc3Q3Z2V0MXdtZnNVVzNVQk8zU1lDYlpaSHM4VDdMT1BjcEY4cmp5YVlVcUh3VVB3ckxiWThEUmoxdzd0RUVjR1MxKzdGRmJaRWFtdlhTeHZJTzJQZU41enlkU3Y0UDUxR0R5RVJBYnNUWjQzM21jYjVRbm9xcVYwM2FrTzFPb2lpWEgyMUJHZDVUUmJLV3RrWXdkRTZXVVF5ZitWUlRKQzV6QjRDS1lQRHQ5SWhRbTJIeG5FMDdHaDJuYXo5UE5zOTRpS3A4Skt5d2xOQ1ZmK1A2ek1pQ2drdHNQZ3dWbFd1cmNMMXN0c1BUU0dwMmQxMjgzU08wZlhNVFM1Snk1RGV5ZkZtcW0rNVN0bFVJdW5jUmc4T09jYlZGUTNVNTRyaUovU1ZkSjYwc25TWjlrUGoreDhUcFoyVnA2N2NrR0xsdDVoOENCbVZWOTU4Z2wyVkk5WVdpaUhVcGgyc3ZUdEk3d0R6cGJtczdaL2N1VkZmaGc4YUJZejJyeXJqUFd1L0x5T1BvY1RUcGJlUHNyQzZwWVZXYzBOcjd5K0RvTUh6YUs1cGVmQzJKSXVQNDBMVHBZK3hwNFVJcHBEWHVMS1hUblZzRnlXSm91bmNSNmZUNXREY1I3ZTdGdlRtSGplR0RNallhV0ZkK2w4aTBHa2k2OEFmU2RMbjFFNXhpTnA2ZFBzVEFFQldLZ3o3QjZybHFNNHhuYlNzQXJ6OEx5NkRreEdNNXYrc2U1RDlMS2hLMGU2NENDK0F1TjNzdlM2Q3RPUHBLVWZZMGF0QlNUaGVaT3NZS0Erd2JiU0JsQ1loK2N0T3lTYm1wdDZJQldtdEtlYmptakJRWHdGUnU1azZYMVdFeXlPcEtWWFdVbnhOV3pDN1BsNVpEcWJ2cnNVNXVGNWcvVHBWbjJwTU14aTRxcUpYaHpFbDBjckVzZkYwcXZNd1lzVUdFTlIxSFpaZ1hvMzNTY25qdFZGVlVWNU9GbjZwQlhnSEw5cVRxUXU0a3VVZjJLbmk2VWZLN3FySjQ2Z2VHZWpyR2VhYXdVbjZxS3FvanljTEgzYmVtNk1mYmk0aUErRmdvdjQ4Zy9FeGRLbmovQnpJNXI1WEZuajIyYkZYc0ozVVZWUkhrNld2bWFkakFkTVBTM05ieVdIZytraXZ2d2pjYkgwZWxrK00vOHdFekZuQ3JwaVRSd2JmYUhzaTR1cWl2SndzblIvVWMvSjY1VGxCd3pKSzFSeUVWOSsxaTZXM2pyaUNkblpzczRST0M0V2VncmxvcXFpUEZ3c2ZkdzZzNDVmTmFrWHowVjhWOWJTQys3cCtRZm5pQW5qcVRtQ3BvQzFpNW1GazZvSzhuQ3g5Q2tyVzNxK0xEZVFJcm9TdXAzRWw1dVBnMCtIVjhoTi9uQVF1Mlc5bzc3QTJCTUZodXlrcW9JOFhDeDl6bm9mcjMvVkJDOC9mWjgrV1d4TEwyQTVycWp0OUdlVGJxUm1HQnYyM0VEam9Kd3N2U0FQRjB0ZjN0S2pPM2JVTjJROVV1K3dMUDNuWHZtNmQ5LzZSZkNkZUpkLzl0OXExZ0JPaEE1OHM0OE8zMnQxaStMenYyYWplRGVkM245ZkJNYnpycnR0K04xSTh6TnU4Yy8rYWFRMVM4T0E3V1VCSHcyTHB5eEZUdDlPbGw2UWg0dWx0OWIxRkp2czg3cHNGU1krNEgvY09yVjYzbXZQZmF6RysvL3huZjdCWDBySXgwOFA3L2lCaGNXTGxkZmZOdnhiald2am5WVjRZUlRIdXBQNEhHbEZ3VlQwUXZMblcvY3huNTFqN0dESmdNNEZkL1N4enRBM3o1ZmwxemlCYnUyWTFUZXdZWmQ5My9QK29XZklvUFFLQnRwWVRlTTEwMXg5QzdneDlqZW1KWHVwWHRLTHU5L3VRQVlGWGkxd1VWVlJIaTZXM29VaFRqekNobmYrN3JmWS9ueU1QTy96MlZsMnFlZFZYeTQ3ajBNeFBCbjVUMXdiWEFiNHhqWHJzbkJnK0UwMGRkbUJOUFVwNW91My95eThHSDV1VFM3aTgxNThTNWNOTjkwSUJxRENsbDdwZkxubVRYVHRIR3dqYUVlTkorZG4xYnVOSGpiSFhhSzN6V3lNSm50eTNudlpRZTk0OEF1WjF6TXNvRyt5M1lwdkh1RkJuSmYrdzZzMEJabkEwTndyYytWOHhSbmE2c1BVZSs2TVE1QU9xaXJNdzhIU3F6U0ZEanZuWXpKaFErVWpodGJlNm8xMzcvWmE2dmxCNjlQZUdvV0F4OWhYYXQ2NHo2UEJBWHRiejd1WkdWMFJMc2IvMkx6M0RDWHdkZ3dlWjVIbncwRjhFMzJhazNyaE1CTVRaZW1WTjk4Q0NrOTROenpaQXo1YTF6V1p0VUJzTU1hV1BFOG5PK2FrS0plQnJCRWVaQWMxVlBxYmc0Q1lac1VMR1BVbjhEMG42dWZYR3R1dm9WRHRXay8xUkUrR3oybDdtV1hBQzRKQy8yK2N3ancyZ3MwWmF1bXFLczdEd2RJbmtDcXRzUGRjK1B2L2p0K2hxbjMyYWN4cVpoOGFnWFhqbXNEcDVDVHRabTN1elJmSWt4M25pd1I1TFdNSjlCSWMreXRDZUVCb2NEWUdqN3J6WGVuaWd3dG0rdytkZXZ0aURnYkswb0Y2UFN5OTZpOFJFYnpwYVN5dkgzZ2I1RHdsSjdwU1FsNWRHaTFaZW84d2NjRWxiTko5K25JM1lPbDk0ZUhIaHdDdUVRQ3UrNVhUcVVNN3VhK3BNdDd4cW5UWmgyQWdnVEFzNDRoU1ZWVUNEd2RMUDA1SlJoOHpvUmh5S1RxSEcyV0tvWXVWSUN4OUdrckZTUm5HUDAvZ1dPL3pYdjhqSERPUXU2bDJaSEEzSmxSOE1vSlg0MGo1UGxMRk45NWw3RzM1YUhQdnZTRnh4MkRwSitSWEtkdFdGbGJzWllwQmV4MGxYNzIwMTVTdS9BR0l0U1pCR2xLUXlFN2FRUzhrdWNRaCttaVhvRmdVdEhCd1RSVjVqZkM0SmlpSTVmcThrVjBHWG91Rnp0OVphS1dxcWdRZURwWStUVXFjZU1lL2YrL3R0Zk44VXNFNVFDL2NFL0dmKzFuaGZaU3NnUkIzT3p1OGlsUFh1dnA2M3JLT1ZORjFvOUtoMStiSE1vbTNaUEEyT0lGOEg2bmlXMlBzai9PUkJwYmwweEdUUExFc1prNUNtRmMwQS92WEdMbHV1UHluUkc5ZlduWEYxNWFPQlNOL0t4RXIwUG9PY2w4SkhiU1ZBMGR4U1JBNnBncWltdTBUTVlFZXJjYXNQdWRGbzY0b01LVzRlTXk2QUVlb1NXUXRwS21xREI0T2xyNHRsWVBoWTQrS1RMYk9EbnA4WnROTXBTQTdLOXlSditPU21ERlV1TlhhRWVXNkpRK3NFZW1ZdkNZdjlDTjRad1JXcnM4MDhTRUErRUl1d2h3cGFPbVh6MHBLMnlxcTRNTENmTlExUXpzalpyd25HcGhhOFhXbW9oZVVGa1ZuVTRPaERwZStJNW9oWUNLQ0N4S1ZKYnhGdmNTYmNuM0FCMG1XRnZwNTZISEVGWmRlV1JZTEVjT01vV1dSVFNxbXFhb01IZzZXdnJ4cEJ0bVUvdHUwUU9qUy84QkJpTTIxUXJxREpTaFllTExMNmtYdEJhMVlmTnRKbkxTSTFqSlpPai82QnZITUlpT29iRmVLK0twSXVzeG5vMmhEMjVidXN3TzFaT2VNSTRkWjd4cU1PdTFhMk9qTzhDWklUV0xncUNLQlRONEdnakV5YjJydkFtd3A2aHNNd0xIODlzVlh6SzdrYm00TmFHN0VKVjJYZ2VXTGQ0UHFtRkhnQ0diRHBKWlRWQVZKYmhDTlFqd2NMTDIxU2x6RWRWTHRwS3JCZzZQWkVCV01RMnl1eDBnZ3lCTW8vMitmVnFCRVpWNFZYMi9HWHBOVU9CdkY0MEdOSUovNU0wVjhNRlZ6ZU14TVBCQzkrTmkwSkFWTWUwY1c1WllyYTN4VHd6clk0SFY0QmJtSTlSZC9ZTWYzU05odDR3Skl1OHFUQW1KUFFJQmhUY0xPcUlVaTY1bHUwTXhxQkdFSzFFZGNNY243QlhVd0FaWlpuaEdpeVEwcHFock5ZK3kvL3VEaHUyckp4SFZ2Nm5lT0tKMnVydVBHT0dVVGZwZTBKNHB3M1dKTFBVRW5sQVh6YzVSWWtqbzd1V3g4T294Q20xcWZWQmpHZzVJamx2NkMxMzM0VnNyME9Gd3A0dXNIWEs1Rno0MUYwS2RyZzhIQ1YvcUd0NjRac213SlpjeWViandrMmVJRnordlQrc2JWTUZhSG9wWTVDTW8xUVl0TDBBYmxpd0lKY3RZbDFaTGxybFplRnB3Z2JFY3BzYVhYWVJEQXBaYWlxdEU4RmhpdW1nc0x3S1JaZXRWMkd2QlRRYnF3WWhVeG9pZzJWLzZlREpTcVZBNGtGYng0VGIxWkkrT3VkZ1BFL3hzWVNRemVIcHJ0aTdZSEpWcTdQYTZjTEQ1NFZYVzhDeUk3c2doWnVySk1HT2FXcEFjWFBLOUpqM0VwdHRYczU4eFd2eWJsNXh0d1NFWWpRbUFic2dLa1ZWNWNzRnhBUjNzTENaWHBacFNVQ2MwQVE0d2Jvclo4eFN3OWdjZURwMkVQWmpUSnBUUkxwM1M2dnVCbTEzV0ZDbkRNeXUvQzB3akRiSnhCUjh1c0NhaGNoYkdleWNLUlJTbExPTUhYVHd6ZUZ2R3dydW9qdnVKaXRjWVhreTE5ZTlTS2NXUVJzdlNlSElObDZVaXVxbFk4T2VBLy9LSjljVjA1ZDNnYUlSdW9VenAzZWt4blpJNzVMa3JhRFZYc0d3TjlNS1FQQ2VwNk00UmNNVUp3QzFxSldJZHE4d25CcEZlVFZaWElZOXVJTFkxUG1xWHpkTG9pQXZQY1VtVitiNXE0VkcrdWE2dm82aHB0UWZ0aysvd3l6MFJ3V0ZmNnJQYTVIWVR4UUhCSDRlazdZcVJvbys2MUM4bmlhNDlXc2hPTGtLVXJ4cU1zZmZ5ZkFZRlVoenhTUW13OWlkSVE5Z0dYb2QyQjJTZnByUUc5SDY1Sjl3VjNvNkxCY1Y4dkR6V0NUUGV3T2pNaEUzQmZ4MUdXejR0U3FVYWI3SlprVlNYeTJOYkhHQytGU1dyMHd0UHBhbGd3Z2oxVjVuZmZPQ2NzNmxYZTlvcDVuamxXVVEyOTI3RXVrWFFzenpNdjZxaDFvekRlTUo0bUtKSDVEUlJXVkwybkNySDNSUEdSdFN6Rm92R3hheFpoRUMzTm9LVVBGWnhsNlZqS1BkVXM3dkR5WjBTcGIreDNJSm9HUnJJNkRBUXM3SWQ3QVVKVHJwNmV2UGVvd2J1dkswWE9hemsrOUpPc0hMaUVBcytub2ljSVpLUlBQNllOd1BENWhwVzBmd243Z2xWN29RRks1N0dzbkFlY3dub1FFYlhBczRIVzBHTHlvdmtJOFBhZTNSU2FEa0p3SFNZMTFPWks4TVo5OGJQV2txUmhOYmNWcWVydjZGQS9ncmNvOGN3TkZGUmpVOXVBN25ZV0h5SXFQWENOTFFzV2kzQ1hrV2JRMHJYZnRmWXZRSVRRc1hUWFJaTmx2MnNidktscjloZ2RCcUpqV1c4RDlOS01jQjRnZzkydytvMVh2b3V4N3doNmVUK0xXam9XM1pia2pZVWRzQlI3U1BYb0lxajYwTUNJYThYR3BVZnNDVHpNeTBVeFRMenpJemlnV2JsWnc4dE9wOU1hVm1FNWg0QmlJWFJ4cmRtYWhTWHBlYU9qSjJHc1pqRGI5THdMejNrY0FVMU5kdk9NczhacjJRUVZCTXhBRnVHV2U2cFYzdDNGQjE4NS9IMXh2VEZFaE43R0NUZXB1cEZtSGt1SDJkWTRKWGh0SGFyMGQ2bkppa2hNamdYdGJTTkg3ZW9iRUoyNEx2MEc0UmE0dWtaTHVhaHNteDNXVW0yRVZDdktCck1aZWUwRUNDVHo2T2pFUnd3VHJ6R1NSMHg0MzFxMStFSWhnUzJxYnEwTnRibHljQ3dCMkxHNE9tYXJob0hKYVZnei9lNjhnc1RiVFJhZUZlb2JnQk42YVVHMHBsbVVMS0tSS1FiRlo0a2dzcmdOaXpCOXowZ3pqNlhyNHpqV2toYWpPSllqSHRmbjh6bkdWaFZuTkt1QkEybVBON2NRdTk5MTF5Zi80dTIvcXFDc3UxdU9WQ0VVOWVrRE0ycW80NHdpRzc3N2VoS201NE9ZV3Z4MXNHaWdVRXJtWVdRVngyVEtqMmVCMXVpekFUdWRiajNPRm9OcFdqNWViYTY4Wjl1TUFMdXVEak1XdEErQVlOaGRkOTM1dlZPL05XL1B5OExEL2hFeFF2cU5FaFgvbjR4WmxzN2lhNEc5dUlZZnNmbFQyYkFJOTNoR211bVdIbzNUdFlTQXJLeEMvSDhQK1hFZDZ6ZE1nRVpMZDFlT0FpQ2J2TmhSSmg4WkhnK2NUZWdjMHg5cThuVmdFT3B3ck9xMXkxLy8yQm1CQlUydWpPZ1N6WWxIcWtRZUVOQ2lvSkhLSk8xRUdraW4wK3M4Wit3eFEraXFEcDR5c1VBQXkzb0V0RHIwVnIybTltOVNiY1FsQi9IQVM1MTJMSllOeldVaGJpRllrSW5pc3dadW9ZaWlZUkh1c3FTSjhXK29idDlzV3RpVGxFQVFYL1lVQkw4ai9wY1RtalBJeDRRWHdBclhqNEFnSklVSFA2NGZZQUJwbGJmN3l1UVZsSFYzekpFcWpLS1c3aHNuQm9Hc0tyS2hPelJaQ3pVRnE0bXFTdVFCQVVsU3FVelNMRDJRVHFmVHdhWTFTQ1JDdEw3MTVzcjdXM29FbENqVFczVlgyd1RpR0IzaFd4UXRQSWh1eStxUlJYTUNHU2k3aVFMeGxrVHhZZUE3SS9Ed1NHdHZSSmNselJ5V0R1SEpWZEF3bm5wR3VBZTBYRlpNclRDUWRqN1ZESkJGWGtiYnVtcU0zcUdUbldqcmlKYWdPa2NBalc3R3l0ZE9EQW9WdzR1Q3A3NEduNlNxWkI0bTBreGxrbWJwZ1hTNjlaWUxuMC9zNXNwN3JCZ2J1L2lXbkQzQ2ZCVjd3RVBwbUViMjBzM0NXNGgxRWgyOTFOcktiaXgwdTVna1BrUlVJejJRWjFqWTVLaHNTVFBkMG1HbDh3RUNtUEtHYUlEWFZsMHl0VFhRL3A1ZTdWVkNvaGNadFQ4QVVvL1F5YjNzVWlIK1F2ZEtmQTlRd3gxWlZrVVlGM1hvWHljb3RzTmJtSUUvYWZZcjAyaVhrbFNWek1ORW1xbE0waXc5a0U2bjFQaVNOVVQ0T0wwdm9XdFZkOW5hbWpNdUNINWZTUWJnMm9scHRJQ1dtOFljREFCTVZISHhsZDFZdlhZeFNYeUoxbUpZMk9Tb2JFa3ozZEl4MmFDVHEydmg5ZGxRa1I3czhCSW11eWVib0ZvZEJpSVkwbGF2WEQyY25CYTZvbUxkblhLa0VoNWkyTEJRWmRIOS9YVG9YNDNhYStqdE9rSnhJVTdWTmxTU3FwSjVtRWd6bFVtYXBWdHZwMk5zQTdPWjBrZ3BZNkJHM0xBVkMzRnJiVUhCdXhJSU85eVdMQzRZSnlaYjZHYmptVWpIQW9BWlNQT0J3bmV0am1neFNYeGs2VXRSRk41aVdFUUFMR21tV3pybUVtVFIxRjdQTjA2dUwyQmFKbzZ3dzBBSVRJY0h5dWpKMGlNak13MUFONVZneWVSSVpUdElyUVpCVURzUCtpT3VjSVlBK3Q5UytHdWpqMDBEN2Q4VWNPaWVwS3BrSG12c0tVa3JsVW1hcFMrZnNVZlZNU3FpWm16UTl1WnFJTkdoRjN2VCtHWVkvWW9FV3JBZ1l2R2dCZTNPREFEMDJCTTFyUFY1MHg1VFNoSWZSUysxR0J4cU1pd2lBSlkwMHkwZG9kcHVnRUpiZVhLc003V2ZxUU4vMjJ4OG9Md0p2SmYyOEFGTFY2ZHk3ZXFCclhlRUFIMVJNWkZycExObGxDTDZRSE0zQXRXQWJFWmNsMExBc01JZDFkVFhOb2VXYjkvaWYrMU5xZ2NQQmM3b2Ntd2hTVldqZUZUK3BIdkhvdGZSU3kyVlNacWx0N2Fzc2NINnRLdW1acHl4ZExBdE50ZnhEM0Z3cVMxZXRyYnFsckJPVXVLMlBwNXhJUGxoNGNIZ0tOTGhMNHp3M3VzZU9YZ2ZVallIRXRTS21XVkw2SllrUHFRTDQ5WkppQVVJamxSWnVxWERJbGNEUStvd2FTa3dNR1cvc3hjRkNDU3pJb0VobVhVVU96VjhJSHBSNFI3a0lkMFgwdWtTTk81bUl0ZElyMi9zVXZURlJqb1pjdER3Tmh1S2k5bVVQTy81YlBqSnJuaCtpMjlRaWl0cHpFbXFHc0Zqck04KzNya0lqMFd5Y21LU1p1bmRMVFVWM0NIdFRhdEtQbDF0YU5BckdmMEpvVUpvYTFVQld2a3pYMndCM1JvbHJkbVdnakIzQ3c5S0pnQkprS1MzZnd2Ym1PTmN4bjBsUHdJWmNTV0pENzRneHRKdEZvTG9hSldsVzdyVWdobWRyellwR0ppeVgzVU1XalBlZFpsSFBjTFpXNC9ZSVE4cGUrdlVib2pya29sY2RaTXN3RSt0Qk52Z0wrZURMZGxxbU1pR3hMQmp0Vyt4aXpXdjB1ZjdSVk5wS3ErbGorQ3hobDllcWZUL1JVU0lUa3hTTEwwYTJIaGdpRFZiRnJEOHkyYW1GRkhLVkVKRGg5UDBuRnZCd0pmUndxalE1bXNVSndud200VlhGM3BaMkJQOWsvU2pQOCsrMU9CeEt6UWtyeTBiTzFoT3RIUllWaTBJVHV2WVlzRTdFMVRtWU9sZFpacVNrWFlMMWlHcmNVWjBObzNBV2p4QW0rRCtId0tXODdlK2k5Z0srUFRLUjRQemNNcVJTaFI0cWlCeXhocld6b1pFbVRHRG1tRERSYlJPaWlQR2hRdjNNZmJMRnk0a2tVNVNWVHlQK3pueEUvZ1JzeDRSZG1HU1l1a1RXdEpFc0dXQ0ZhclNpVlJGTXhBYWJhN0xPN3dEaHRUakJRNmpISmlFbWFRZEcrVXRDVUczNjBrMkhuMDdvOGNMdkRoUExZSmd0Y09XVU90MHhSWmV2WENoeVg1MDRVSVBiYU91SlBGNURXTlpDai9FQXMxSktuT3c5SDdBUzFBR1ZTNTV1S2s5eWJXL0t3cDFzL0xFYzZncHZsbkNOMmhJUGVKQndENGZVTHVxcE5nSnJTL1pqRnMwM3JQTTA0QmxLZm1hMmJZNU9qZlo3WnhHVjI0WVViNWhGb21xaXVPQkx3RXZnZ2hXZ2RvcTBwbWtXUHB4SFZHQ01OenozWUZCb2tFRm5ES3QwbDdoQUIwOUFrb0puNUZJZ05sQmtlL1lsbDlEVTdVYndaTjdkSGVKSXo4Z2x0U0NXUitwSjVCRThXRW9naU9uUG9KRmtzb2NMTDJwQW12Sm82TkNQZU9weDJoN28ydE9iTU1vd1FXUUp6Z3AzSU9PY3lBdjVRUzJkUWx3MVVCNGlRWXJia1ROdnF3Y3FXdytHZkpjTnJSVDJaeHhXOXJtSjltd3g1RUg4bGdRNVJ1bW5haXFPQjdUTWhCczZ3bWtNMG14OUdtbEhScmNlVGFjRHc3U0pNR3c1MjZnenhjQTFra1ZPcVFPdW1DbnU3anhIUnR4dlR4Z1VjOERjbWthUEN4WDhvREtGT1NMMkRnQ3J4TThMbCtURmZYSVo2TDRZR3c3SVl3SWkwU1ZPVmg2K1BjOTlZNElVNVZ6NTErZHBYRmdZcnRpUEFNUjVIQWgwYzRtczR6THhuMWhMU3dLV0h6ZUgxSUpkZ0hUcWFGNFlVSHRLYnJaY3NTNkxWTmhRWGs2cUxNbU1YV0Nha0dlUmhac0c0b2xuNmlxT0I1dEdSQU1sSGhnVzZHOUxjb28rVHRIMno5UjJ3TzVEelV2VGFXdGhFY3Vad1daRXVHaklHNmRCcTVySFZMSTBBTnFaNWZ3V3pyd0FlWE81NmlKbnJrcFBCVEpHbWJFK0tma0hnRTJTd1RJTnk3d1M3b1N4UmRjYUVRbXlpSlJaZGdVTmhWM0srMkg1ak9xZVU0SlJ6WTAxRWEzcHJmQ3daYnN3KzY0d1l1SWJEaGFlNVZYdDdtRDV3OGF0UHV5SWxkdnJDc2t4NEhwQTB1NHB5dkJncDZQYnE3cms3RnV5bGFZVW9NNnJ1ZUttVWpGcVBtbnZiYVI4Z1BnTVR4Z0JqVStVTE50cGpOSjhlbkxkeXZUOHJ4blJkMUZYU3FDM3VnaXB5VC9QZ1BpMWc2N2FjNzNEVVlMUWE2R0JZV0twbCtTanNuQ2c2WHZvVWU2TmpVUEhBeDZhTVdsSnl1cU1aK0psdTQxd3o0Z3dpSlpaWE1tanNLcTBRYzdOT3VaejFnenBQSGhFRDVQOXpIV2twdnZtSGFFWGtjRzVJM0xMVnJ0VlJuallwbzl3aGxjTkU0QVk5YzhCdnU4bTBDOEREbFNEazhQQXZXeWxDMFpiMVZmam5OWjc3RFRYTWxFWjA3T1B6WE9UUDZwK3hnZTIyeGZERlQ1ZG5xUlAzVXF5VDY5dGI1Mmo1dzl2TTJuWkZIZnNJZno4amg3bkh2YmJSRmRvbmxMd1ZqcDlEb2ZJUDFxSXk1anRKam83UUxhd29QajJrUmpkNWQ2WUV0VU1ZNlhTbUw3NE0yeEg4bVdqbkJoWHFLOWtPNVJGc2txd3dKVzJ3L1dwM0pqTUVMbDVjaTlCb2VJeGJ0T3JNNy9CS1I3VkxxQkFqUnhMUWh5czJ5bFR1NVIvd1dzK051S2I3RlhXVXZvaEY1Q3Y2S0R1V0FhVnRBY25TT1ZUTnZhUG1WRDVsdERLS2FpVEk5V2p3b2o1dGdsVGkrU3hvOXdTVlpWbEllTzZYdzlnWFFtS1Q2OXV6UXR2VWExcmVWclJncDdYS0xhNE1md2dMczZVd0xQeG5WS1hiNUJFNmVHMWc0MUk0aFJveHp2cU1kUFFid05yWERZMGhLaFdDK2V4TDJkemtIMFI3TDRrQW5aRktEWGMrNVJGZ2txZSthcFIySGQ3S3VuL3N3Yk8vVnVIOFhoUTZmbVBkbDg3Nm0zY2NxdzdIazlHaXFJQithVnppYkVSa0tZOEZlcG1WL0k4L1JRYUYvR0VmNGl2bVVyWEFZZFVDL1Z2RjlrbjdLY0FJSTl0c3FSWHN0LzVaZ1hzYTR5NUVnRkNuU3pLMHQ1YjdQc1VnKzROeXRka3I2ZmtzUVdoUGxqc2lzcDVKTlZGZUVCcjdUSEtZTDByaUR0d0NUWjB2RURjaFdmLzVKUXBjWDJGNk1EWHVZL1BEVUZobjFNZGt5cXRtN2lIQXhCTzY1Sld1U1RCejFCNW42NWhVLzBEMnFTc0lVSDc3anBlVTJSNjlsVzRZRTVWS1dmUUpMRkI0UGFueWUyenhRL25SVmxrYUN5Qm15Ylh6K2tOM1hrdGVnMVZGRjZlN1UrNWV4b0cvdU9WNldBNDNra3pMRys4bjRFc0l4dndWVCs2R0NSamtPTEUvNktRcnFaZnVMNDd5ZzVzNjZhYU95TG52ZnpIMFM3dXFvZDdneFVHaGJOU1RsU2dRWHYxRlA0ZWU4M3NpLzFJRVBscTBnZW01TFdNcW5iSmM1TWpsN29FV2lRQjBLNkhjNERoWG5CREtXYUtJMytUSXhlSm5BZWZSWit6TC82Z2o0N1dJb2hNc0dnbSt0OGZGV0o4b0EzUzlVTmpBZ3hjN1hHS2FOY0crdmZvOGowR1I1NmpMM2VQOWhWTFJZZW52di95SHYrVUV4a0lHUkdXNlB5ZFNxc1ZxalJlNHFsdzhNK1dmT3EveXZYVzRSRmtzb2F3M04zZmVJVGQ1M3p5ZExQbmIzekU3ZWVQb2VVaDI2V2xoNEpEcDRONSsrVHhWWmIrTVlWMjY5Wm82NGdNeXU4MzRNQXN0YkFUZDJEOStQQXdyZ2xTNFRYTUhiV1oreDlCaithaGszS2tRcThZeWJtTUlTeWx0Ylk4RFM3SkEyTy96clppaVFCQVZNSnFhSTBtdW1xQ3ZQWTVTUk5DT3ZBSk5tbjg3ZlQzOEJkMVdkcXNlUEZ6K1IzZVdSVzdlTXZYK1FrRzlKOGdBRy9BYzNLNjM0bzgySlAxZkJEL1pnQXU3aW9HcUJPODFJWG5OUnAvQVE5di9wcVh6RG5qcGJjd0RSdXBKQW1Qb1Jqc0RiMm1mbDRGbmdPSUdkRGE0SmdYS1FaR0VVamNrcTY3d1ArQVgvenFmcnEwOWJmTzNHc3NYZjY5LzZBbDE3U3VhTVdJSVRLbW5FZTFQVUx0N0k3Lzd4R0pYbGx5NUVLcEJrbFZrVWsxLzJtMjRZZnEybk1PZTFtc2N2ejlUcXQzSlNHaVJUU1ZPV040R0dTNkE1TWtpMWR2SmJ4NG9mdmZPZy9JOE9URGI5NDIvQ3hIcFhIMzNud1h0azJlVzVWbGp6dkRWL1JSZnpUbC85Vlk5ZmUyQjkyRHo3K20xYTNqZWROUERwVVBrcy9QL0YxUEtqL1hjSkNEeFpUeGVlOStsWjJMN2M3SUVaWTVGSlpjQVFuclVScXNDZDdEUjQvQ1NsampsU1EycmEyMnlUaVdmb1dqQWVYSXQwV0JwOUVKRjFWQWV5NjRtR0NXUWNteVpZZWZEczl3TzRRSzlnWDlqZzdCUDI3Z2k4T0pjcmpqaHBJSnZGRldlUlNXWEFzayt4aXNLRkF6Y3JweEZGUndSeU9BajNlandsSkFZMU9hemV0N1RhT2FKNjJobzZJY0NEZkpBckxrYWN3RWJxWlZFV1JuRXd5bW1EV2dVbXlwUWQrN0NVeXdNTnFVREtqSlBxOFlJb291cGJDUHBQNG9peTBPRDNWNXlMTndKaXdIQVAxQWhXTVFTVTE0NmhrelpFS0dqZzJ4UkVyMURiUWgxTUVlM3l0cGNlWmFTZlM4SUFHS3NodDZmRFFnVW15cGJkV3cxeCtHblVZdUJqSGNUYVUvQjFpNWt5V0htV1JTMlVoNmJUdFUyU29MMXQxMGo3WVIxSFJ2Y1JiZGVRNjBESER5TFMybFFTUFVzemJzcXlzRU45QUVNcVNjZVpqQ1JSbnplT1hCQ2pkTlZEbml5NEZzMitoZGdjbTNpQXAvZ3Y4Mkl2bWROZ0ZtT0V1NThuL1ZYQnlDMlY1QXBrUjdid3ovSkZKZkZFV3VWUVdHc09DenJpRk9qSlg3WFI2RFBLMjJqMTA1SnFRSTFYNG9YODlWYzNGN3Z5NUZ5ZWhIdThJMXo1cGNnMVJCdVBaNUxRczl6ZnNaTHRJNEJNOUJ5WmVROFk4VWY3MDREQ3U5ZERiRUtvc2NhYmJ0SmhQN3FFOEoxelcyaXB2ai8zSUpMNG9pMXdxQ3cwazhDWm9xQzliRmFjR0hncU13TXFVSTFVMHRtVldXdFZMdVV2RmdKWk1ldVBBVUVOTlBqMGZ3ZU8ycFJFZHNjMTFlZEtIZTZwNVkyUy9Ua3hPZkRHV0dtOE0vdGpMYUxncjNJTjVMSElXL054VjMwUzV6bzg1NnUyUWVQNVp4QmRsa1U5bHdaRlUweE5zUVlSUTdSVUh5cnhiNnFRWmdwRFZTQnJXSlVlNnhrMHdubUR1MWhrVnAxdlpJQ0pXWmh3OEozMDZYcWZEV3lXVXlvVE5GMk1TL0xFWG92WFR1WlJQOXlrSDB5VHREM2cycHNUeFJWaVVvckppeG9SRWlueUNoS1JUMHU2ZkswZGFMVEV6Wk14aVhHVkRtL0p2bThUWmFqd3BSamJZYnFYalVpejhsYW9UVHdHcE1CUDFMVWUzQVZ3NXFKYll1c1dYT2pvOU1CS243c1pXYVR3akxFcFIyYlRPLytjWktQTEd0RFhqU2duVHNTUEJCZURTYVZpSEhPbmtGY2ltWXdoOXNmL09zb041UGlUeElIWkJmVGVOdHhYOHFLMmgzdkFBQUFKelNVUkJWSWl0RWkvcFlmM1VOMEN0TUpQZ2I2Y1hIRjhCOUFVUlViYnBGY2t4bnFOdTBobW1NdkpMQjlsNVJWbVVvYkx4UXMrT210clNVUkoyRXo4eGxRYzFhVmlISE9tQ1BPYkhrOHpkK29EdzVTMTFDQmdqY3h6emQzTVRqRUZza3VJcm5ZOVNkcWVQSXVMMGdreU9SanFkbGl5NWhPdjM2Zkc2K0NIRE9temVleDdPcDJWZFVSYWxxS3dsTW0zNVJ0bFgwUXZPeTRrK0VXSHFLbWVoMDdBT09kS08zQy95alcwa1ZyVXpYTUtUY2ZaMUJVRVJYTk42ajBlMUY3aFBzYzk3MWVaRnZKUytLRjl2THNxa3pHTkVnWW5oWmRaaHpidVBiVXhCNGVJcjFKTTRrUjVMVEVkazVSZGhVWXJLcG9zOGh1UjdHTTFqd0REL2hDdFBqblJXeHRFSlpQTjE0Ylg4NzNYWmx6VHlGTHY0NkpBY2I0bFhrOTNSQVUyODB0eTVuWk10eXVSb3BOTXhsV1BzNEJiNjcvTVdlM2kveDZmV1poLzIwVkRlRldWUmhzb3E2WS9DUjA4QnVjTWU5VDdJMlBkSFE2RW5UNDUwdThUUUx6aTRiei9DUHF0ZUo2S2U1M1kvdXhTRUtGeXIvclovQjlGOHFmOFpTYXNZa3lPU1RxZTUzSGNidmJycWpYL3dZSldxaU13K2NQQ3ZvbFRXWjRTRlY0YktsZzk2dVFkNGduMzU1WGlvOFZyR0VqTEJSRDFQanJSZmJrQ1JlNUpIQWxIOHVzNlJHTXBWTzRoajJSNy9CZWU1aHZmWjhXSXgrK3RnYzdTV1BVZDZ2RWhZRlIzQVZkNHlVZUtKN3lvWFJmN2hyL0ZjVVU3OFZ6MThtcDE5Nk5kVHNiUG5TSnVYVW9sZUE3Z21nU3dTbUdTcldjRHp3V2JPa1U0VVN2VG5HK1Excko5eENUUVBZV2ZNbkNPdDZ5OSsvb3hMLzlyMERrOENFOGduWC9Fclk0NjBXbXFDOW9yUDdocURxME1DejB4NnZGblNGRExtU0t2dktZbnZOVExYSkhESUVyZ3lPZEpEbnNRMWRrZE1BdjhQQ09aSlpzMWJ5Mk1BQUFBQVNVVk9SSzVDWUlJPSIKfQo="/>
    </extobj>
    <extobj name="334E55B0-647D-440b-865C-3EC943EB4CBC-53">
      <extobjdata type="334E55B0-647D-440b-865C-3EC943EB4CBC" data="ewoJIkltZ1NldHRpbmdKc29uIiA6ICJ7XCJkcGlcIjpcIjYwMFwiLFwiZm9ybWF0XCI6XCJQTkdcIixcInRyYW5zcGFyZW50XCI6dHJ1ZSxcImF1dG9cIjpmYWxzZX0iLAoJIkxhdGV4IiA6ICJYRnNnWEhSb1pYUmhJSE5lZXkxY2RHaGxkR0V0TVgxY0xHUnpQUzFjWm5KaFkzc3hmWHRMZlZ3c1pIVWdYRjA9IiwKCSJMYXRleEltZ0Jhc2U2NCIgOiAiaVZCT1J3MEtHZ29BQUFBTlNVaEVVZ0FBQXRJQUFBQ29CQU1BQUFBL1loUVhBQUFBTUZCTVZFWC8vLzhBQUFBQUFBQUFBQUFBQUFBQUFBQUFBQUFBQUFBQUFBQUFBQUFBQUFBQUFBQUFBQUFBQUFBQUFBQUFBQUF2M2FCN0FBQUFEM1JTVGxNQVZLdmQ3ODJKWmlLN0VFUjJNcG1pVmxleEFBQUFDWEJJV1hNQUFBN0VBQUFPeEFHVkt3NGJBQUFTT2tsRVFWUjRBZTFkWFd3Y1Z4V2VkUkxiM2JYanFJSUhFTEJXRXlUS1R6ZUtVd20xb0RIRWZTaFF4aUpOQmFWb3JTb3FTQWcyb2p4UUhycVdFQ0JCSkxzTkZhaEk3RUpiMFJaYUd4cEJLMzUyaGFvK0lGWDJRM2xBRmF5aHRLQUtkVU4zVGVLUzV2TGQvOW1mOFoxMTdxelg4YjBQTzNmdVBYUE91ZCtjT2ZmY016L3JlYTVFSXpBK014L2Q2WG9zSWxBaEJ5eHljNndpRVhpU09LUWp3YkhaOGZQQUlXMFR6eWhlby9jUUZPYzlvdkN4MUo1NjdRekYyU0Z0Q2M5b052c0Jjdk1MZVlkME5FU1dldllmdS82ZnE1NUQyaEtjUmpZT2FTTkVsZ2djMHBhQU5MSnhTQnNoc2tUZ2tMWUVwSkdOUTlvSWtTVUNoN1FsSUkxc0hOSkdpQ3dST0tRdEFXbGs0NUEyUW1TSndDRnRDVWdqRzRlMEVTSkxCQTVwUzBBYTJUaWtqUkJaSW5CSVd3TFN5TVloYllUSUVvRkQyaEtRUmpZT2FTTkVsZ2djMHBhQU5MSnhTQnNoc2tUZ2tMWUVwSkdOUTlvSWtTVUNoN1FsSUkxc0hOSkdpQ3dST0tRdEFXbGs0NUEyUW1TSndDRnRDVWdqRzRlMEVTSkxCQU9LZE9wZzQ0ZVdSamdvYkFZVDZZemZPRU1tQndVak8zb01KdEtGNWdHdnNCRnJoT244Y2l5NmJTY2FTS1NIeUEyZXQ0K2Npb1BPVTZRYWgyejdhUVlTNlZ5ajdIa3BNaDBEbnJjUmgzUU1tQ0pJaHNpYjZFbVQ4eEg5cXZuUlgvK0RPS1FWSEwxWGl0eE1nM1hEb1VPQStZaEQyb0RTSnQyanBNRjY4MlFUSXRvMU5IUGsrWEdIdEFHbFRicjNrUCt4M2hKWjNZUktkRG1relJoRlVoVElMT3NyeFhsVDBpRWRpYU94SXkzZjI4dkhpU29jMGtaQUl3bjJDemZ0QldRdWtraDFPS1FWRkQxWEZzaEZmZ3lKc3g3ZlVVakhXb3IxRE5pV0Q4aVJDK3hZZUpFMU01T2RnN1EvYUZFU0FPWVRJakNjdTVLUVJ2QWZ3M0xNSTdaR01VWkV2Z09WcXBucmpySHBQd1BwODJYemdQcEhzWWVRZVNZTks4QURackU3QWVuMFhhOWQrejBBVFVqai91dGVzZTJzVXdlYnQ1bHg2a0pSSTAzZUNzaVh1L1MzTlptUlRyLzRqanNmQ05iYWp1dm5MaHhpcUN6R0ZQM0VMNTY3OXRaTFJ1S1JnUGprSTBheUxnUjFJcmd2RVZMdTB0L1daRWE2emtZNTJYWmNQM2ZUWkdicUJDL0hqd1l4a2FZZkJTSGtkWk9lbzM3emxKZU5sMkJ1NCtXVC8vQ1dpalR1Tm9MV1hUUFMrUDRSaXUxcnRsV0xCUGIyTXJXTjZjd3NlZER6TWlKLzBaTWE0U3ZOZUVMQjJZejBiKzg2QktYbmU5SmlBSWd6ejkwSkcrRUJiN1E2WTJTRGR1YUZ4NDBtN094SnNWUEpmNHduRkllYmtRWlJFT3Z5NkZSbW0xdGcxdE1HRlZiSXh5aEZjUXZYN0RBaHJ6NU95Nk9FM1E4d1NJcUxkSnpMd3lTcTcvMUFlbkp6b1NPRTV6dHJ4bFBTeVdlZmpPMWczTk9kM1IwdGNXd2FIaW5PNWRIQmU3c2JFQk1ZcHBlS3lGeE14TExLMXZGTVNKZUtjSHF1dGF2clhoeWtjZEpNL3E0cjcrMXV6RW9zb2hSSkIrUXc2OXNyQTdaT3lwUWY4c2U4MnBpblpCUFNwZUxTWVExZUpDa2xqK1U5RURCTk0rSWQ5bE9YV0VUcGZaVmNjdXlSK2M5T1Nub0xzTDFVS2RrU24wdzlyMGJFYmNSSVVzWTFqazFqRFRUSmlIZllqMjhLcDdPU0FENDNhbXpqWjZiYXk1RXlKYTZSLy9KakN0SzNScEl5dWpoSW0vMGRGemxndjhicEJjNURlRVVndmRxcjloVzVjUEhqWGZGeGtNNUtSOVNyTXR0TGI1eGVjTFV2Y2hXQnRHSHU3QnhLVnN5aW83RXllZkg4dE5IZmRhb3hDQzNHNlFVV0pDd1ovckhhcThvVmNVSHNOODBHZ25FY216YjZ1MTZWN0ErOWNYb0o1SnptZ1hTdVY2VnE1QTEyeUlSMDB3WUdNWkEyK2p1RGlPM3FOazB2V0xid3h6Vm94TmI3WFlZbGNvNk5iRVZFaXFaaHhrRGE2TzlNTXJhcDN6UzloQmJyT0NtVHZXbzV3WkdHSFFvWFpHQVFBMm1qdnpPSTJLNXUwL1JTMUM2anB1YkcrTXJ1NDk1anYxaG1HZytNZ2JUUjN4bUZiQStCYVhyeGRVZ0Y4NS9zVmNreFBpUFd4RzFiNCtFeGtNYWxWVFh5R1R3Q1hOYmljWXp1dXNFcHFrZEVDMXZ3MDZOOEp2VHBFOVJ4U3NZTUkwNTRQRThVUjE3L2FJRGttNXRKdzZXcXprUkpPNUxORG1udEsxM0NQbnNwb0xVOVlnOTMwQ2NqdW1SelBYcXBLa2tHY1l2cGhRY0hFY3JWUW1lQ3ROaGIraXRueUUxZmlqaE1OeS9RdTRmMWVDYjkrS012NHJwNS9aM2ZlVndmSDZxbERnYWZXdlk4WDRXZHJPK24xL3JOMndiYXlLOCt1djQrajhiSWkySXc5d1FmeFRqYUNrWStMWnF3ekFzOVJ6QU9DNThpNU1ZMitvN2RNZkIvaE56ZTBkNmxBWjVEbG1xWGJ2eUR5akd5VVc3emQzanVvdUdUUnFmbVhUaHNTMVA2V2RMMGNYZHdTZG5wbjhpTVRDVkJvNit1bDVsZWdiNmFFVm1ISEdTQjNGZjJSdTgycjJXS3pZUGFBVzA2MWd4cHpreGRmM3hxSnVnMjVjR3YvTXZMK0RlMCtydGhzdkYyei91MkwvSlltL0xmbnM0VmNtbmVlNnBSemtyME1oaEhVYTFNTUp3MXFoaENBV1hIY0RUVUUvRHlDUGt3cTZ3b0x5NTcycmVqTHpYdktMYzM5cjZmTGpHSlY2MjMrTHQwdnJGS2VZMTFPemU5QzBuZ2lNY0kwN0EwVzVmVFN3MFBDK2liS2tnbVRWS3hZWFRSeGwram9CMTVZZk1qR256YW5GdzVLMklnLzI3dDcraXJkN2R6a2NVM2toTjlPWnd6QVk5djk1eVgwMHM2T0VXZDlvYmdDcWVDZmMvRENsRUZlUk9ZcktUUUlYNFBGN3Y1cW14TGRBc2ZQc3NFVkhCbGFaRzVacG1MM1dlOHRqaGR2MzhyQWo4NkIzRVZoeWpHRXlyaGxoVk9CZU5TSHJBV3VsRmFrYU05cVNiVVpNZFFJeUo4d1JTdVo0dU1uQUdHQTZwL1MzbmlOMUhsNlJhNlJIZmdmVy9nQW53WnhOVXVvR0ZCT1dMcFZBcXc2V3RFeVV0YVVPYUYwOENkTDI1cWllckw1Z3VSNThMRXFPLzhpTFcrNTVYMHBTYzB3UTJNeUZKTldGdk52aWJ2REhvck1wd3V6YUU3cXdiaEM4M3pyZHFlRXp6R3BjZXU2TkJFczArZ0JrdWU1R3hoSmRwOGF5SkRpR3RUT1RZaFBSUXl0bzRCZTRzSmFOaWRwYzUxMUlUWWNXYWpLdHVFbUpVN2pUWWxwZjN1bDZPRnpaL3FMc051S3pRcmM0NHQ0WFJkZ0libmR6cWVBRG5VcHJ2ZTdWL3dqWUNDUFpNRTFaZkU5TEtmMllsSytpUElZeGNyRGZLcWZJUjRMSStRT1ZIZkl5L1dyRFJ1MFpIUUJyTGxkSUdxVGgvNHduZEIzOE1KaWI0c3RoVU5HYXFybE5jRWZTQVVnNkFiRk5qSU9ib05MMWJRUnVacEk4cUVyQTdQdk1wYmt2MUZDRVRuRVZxa2FteEhOWi84WkprMUROaFBJSEh5UEZ6OVRMa2FCUmIzWmhtK05Femx4a0tmelpES3cxV3FjQnBJejhyMmZteFh0RytGYW90S0pPWnJWUi9BQ21adk5hZmtSYld3QmtXQkg5MmdvRFpIdDBCWERXVkpCb1JvaDQwMS8wZ0orbFFDdlZLRmFsVWxGZTJmS0t1OWdhc0FKdUVrUEUraTk4dzgxTXlxa0FST1pabnFqV0ZKLytnVjFhWEtiSjZRMnhnSkpVdTZVQ2NtWlVDMVZWbEhzQWxUK0tMYTNYcmx1OTFqNzkrVkpVc2dFYWRJY3I0dEtpZEJQYk9lWHJ5Y1dyZ1VSR0M5b0cvWG9sZDdEQnJVb3ZRcldSbSt0S0NhSHM0S1UyUGRuTHZWaDNTdFFVRDNJb0o0Wm5QZEtWcGJXN243R3JLVzZRVUdUclAydE9TRjA2Z1FvdklKUVNpZ2s4dUM5ZjZZZFUxZWVrdzE1Zm84NzJFeHpzOHlyYmYrTXlINGRHejRBaHFNSXlsYUQybFJJUnk1dFV3dk1yUUR0WFFhV1oyZHBvZVZGYU9LRUtBMFVUMUpWR0M2TXZSUXFqRTV1Q1o1cVY2ZTJHRmZNbXJkTmo4dCtXNEZhWHJsendzR09INU84dkt3c3A3bU94Z0F2MnlLZXFKSEVDNHRIa1JJVWZFeXg0OUk5amV2TktQK1RsM1JFSHBXcUtGbWsyUVY2WTA3N0ZpOXIxSlJjeUI0TEtuUVF6bVZGWDBtTUk4cVJ3TGlNUUYxZU5pOTZSR2ZHc3RDdVJadkRhZkI0bGtCZFgvY1dIeWRLU1VBVlRtQ1FuaDZLYXBaSFNkamxqRkYveW5CSFNkbFRWVFpKdlVTRzZNS3NjTjlsdXZVUjBnMWxHcFN4cnQ4cHNkaHVUOUEyMG9vUnlCblBxWmVTZG42aERSbElMMHNWTTlwbnlOYWZuYVNqbEgySnpqQzhFcDFTYXFtNUtWL0ZVQ05mbHhiU21UTVNsRkhkaXFSeEE3VmpyZ2lBVnhSOElKVVhRbEswRE1ZNHByYVM2d1NUcFFxMVVMU01pV3R1bTRlN3g0aW8vVnBUWlJvRGVpZEV3SmFwaGNFRjNKQlU1Qk9CYlNDRks3N1FxZGE2Ri9zYkxYZGdzbFlyVlNWYW1FaDRWV3ZiSmVCS0l5aG8xUWxVYkxidW5UQ2Jka2FxQ3VuUE9WVXNncHBUSWhyU3ErL3lCcnlJck95bnR3V1VsVFl3MVhMdkpkS0cxK1ZNblA2Vk1nbTZ0eWpTaCtzZzZxUjA1aUo2ZVdYWmRxT0lPOHczYUx3Y0hwc3phc3BwRmVVRTZkdmdON0M2ZWl0OHo1b0RadVdjYnZ3ZC92b3luYUVOQ1hVTlozSkVacDUzcUVvblB2MmNBaHN1aXJVV2VMVFM1NHBqQlhwSkc4WFRtVnBtc1lwZ2pUUWN3Nk1YMTNNSGZPVElMZTZnZWVTZVg2eHVsbzZCd0VyK29LYTBPa1pxNUl2ajFsQmgweFpOdk9sT1pyd0QzT2NzL0FqMlVXYXMxTk5hN3pHN2paSy9HSDl5N0k1dVMzMGthRUZ6SnVDRE5VOCtrZ1ZyZE15b1FqNC9tRDh3aFFrT25VR1pJb25FaWJVR1JCK3BGNmxIcVhNdEY1U2Q1ZW84MUNKNnRHUVQwbHVkUEJSTWcrR1V6OExRYmtxdjB0eFdBaGRrS3ZiNUpUWUF1ZWFXcURnbXdMVURReHhKd2lrRDNCMnFFMmk1cS9pMFNBeXo5cHlJYVBCK1pGdU02VnFqQ3FwSHgwVlFmWWFwQVR6L0tHZkt1cTBaSlZENVB1RDhhc1JGYW1NdlR4OGc3a0lXNGRUcWVMcXhKb2RWK2dxMVJwV2hSWlJjdG8vN2xNM0pHVm5JdHVjOU5OMERWTkYxb1dtRXhDUnFPa2kzeXduSXZqeW1FTERVNXdEM0FBMXpzbzAyMFVnSW16YVo3Vmh1bExKYzlxSHc4dVdBdmtRT3dBL1dYbUliRWhtVzVQaVlRTlVvU0dhVUJvbWphb1FsMUlyZ1dUa2I1RXI3SE9TSFlwNW5ObEtibzd0WW9hdnNncE9CYlhrdlhRV3l2SW9yaFFPNW1wcUNUT3E0MXgyWkZJL01BTEdPa1B1WlVhd1JEVVlGNDROMVFYbVVwS1N2blcrZVRGbFY4N1hxUzJraGNZcU5pNGVaZk1nTS9WOWpIYS90Q2ttOUtyMXNoRCtRcDlHQ0NmR0xyZmlSU2dKbXk0c1VnVkt0d3MxeGdPMXNCRXRBN0paNE5mYUNLbldxRTBQYndpOVNueU5PRUpPczNrd1gwWDdPUE12ZFRJbmFPZ203ZC9JOTU3c1d4U2JaZlBCRUZBdTRZSVUxdnlRZUVJbTNhcGVTTlB0cnFZSW16OXk1eEhFd1Jjclo3REFMYmQrQ3haaXA3d3huZyt0b1BwVTIvZmJIaU4zckFMd3E4azZObjBwS2JxdSsxYUFNL3dRZ3FDMzhOQW5YVnAvSHRKL25DT2Y2NHNTV3hDU3hUc1RveWVoZTlvbnk2bWdLbGlNQitROVh2clo1cnhYd1FPU0syK3k1b3lQVndjdWxRV0oyTHlWa0dOd01Sc0hXcHNUM1BzbXdmZjZLTURwRWw1ZHFISkpxVHhwVGdXRTNKZWc0TXRqUFpvbkRUNzlQVWFhQVRjUXl2RW5BSkJIVWZRN2hNdGN5TWlaeHZmTHZLcC9UeDhNbXAvNW05NVB2dmJYVzV0Y2pjekxqUTlJY2FOL09FcHUrbEgvempma3dqanhoc2lKRThlUHpxaHdZSXcwajAyaFJWcUFWQS9iOFplRG03L085bitmUDdLcU8wNi9PN2laUFRBRGVQdnlGSmdXdlZOcTRSU2huT0FRR3ZHeXRsTkdzU1AwZk83dkR6QlkxKzkvNVd0QzRjd2gxdEo0ZjNsSGpHQUhLWWxzRUxuWWdpcVNCUFJWTmxjc0kwQ1hkcE10UElzRXdZUXIxaEZBSmwvR0M0SjNpZnpBdWhUSGtEM0hvUkwwREk4eG1RRno2TmhGSUJ0NkxKcHhMbXlVN1VwdzNEZ0NtUC8wSWdSTk5FdmdTaElJK1BwdUcyVS82bjh3Q1NtT0o1S2YrZ1ltaFNOTEUvbXVKSUFBemV2UGFyN0R6bmRvTU96V2NGT1F6Q21XNmJ4OCtFVTF1WW9sQkZyRDZiTXU3ckNFYXllYkpkaTBhaDBMbWJkcWRCVTdDRlJDTitXOTNNZnRNSFZjdWlCUWtHOEJvZThiamZrdUZLN0pEZ0o1SFU2bjJqSk5kZ1E0TGh5QmNEaGRsMDltT25BU1FJRGVkUkhoOUNQcXNlSUU1RGlXZUFKSnhCdVo0RUVIUjRJSTBMdUd5NHoveWtDK0JabmcwUHZNZWdKSU01R1BrZWsraTk1bDRpb2luQjczUTA4Njd6SU0rak5jR1U0WDIrOEg5RWY4THBLUzUrRTB6VE9KWjBkMzBlRDdPbFFBZkE3cC96d1E3OU9qdG4wZDN1QUlFK0gwMlV2VXFBRzVLMGtod01OcHBQL3B1Mk1YazVMaStQSlBVQzJuUzBqL2wvUTdiQTZZQkJCZzRmUUxOUDFmZ1ZIekpVd0NZaHhMaXUvNkNGdU8wM3N2aXc2UnhCQkFPSDBwaDllRCtLdW5GeEtUNHhqbllja2kvWS9hZ0w3S2RFV2NKc0FyMC85MVZNdFh4S0FHY1JBMG5KYXgzUUxxMVVGVThvclFTV2VuMlJkUlhEb3ZzYk9xczlQc0s5S0QrUnAxWXFQdkoyTVdUa3VCdmt2blNTanNieXZoaHoyS2NOVHo5bVU0amhRQmhOUDZuaFkxOERXSFN6SUk1UFhESHZ4akxtOGtJOGR4aFJYclZLbEw1eVZuRVBqcWhYellnd29waGI3R201elFYY2taSDZaaTJTVXgrQXAyRCt4S0lCSWZOSDI5TnBRcHBlbTgyY1NGN2tvQkxlRTBUK2Z4cjNQc1NqU1NISFF0SEU1REVHemFwZk1TQVh3bEhFNURRaDFRbHhPUnROdVpsc0xoTk1CWUFOTFYzUTVLSXVNSHNDMUxGWnB3bWs1RTBpNW5TclBUaDhNWTBLalBQYTBlUnNSU3ZlUExIalJkemI3VVprbUFZOE1SU0dOQ2JMWHBMQnFJZTIzY3JvR2MvdkkxZVlvcnVmKzZ6d3ZPOS9JUE1KRWovN1lyYXBkejR6QXpyUGtIakQzNjVXQlJRdXZHWFE2VGhlSFh5UXkraW5maStOU00vQm96UHFaSnY1MDNOUk0weXBjcDRQL0RVdFdjazduWVh3QUFBQUJKUlU1RXJrSmdnZz09Igp9Cg=="/>
    </extobj>
    <extobj name="334E55B0-647D-440b-865C-3EC943EB4CBC-54">
      <extobjdata type="334E55B0-647D-440b-865C-3EC943EB4CBC" data="ewoJIkltZ1NldHRpbmdKc29uIiA6ICJ7XCJkcGlcIjpcIjYwMFwiLFwiZm9ybWF0XCI6XCJQTkdcIixcInRyYW5zcGFyZW50XCI6dHJ1ZSxcImF1dG9cIjpmYWxzZX0iLAoJIkxhdGV4IiA6ICJYRnNnWEhCcFgzdENRWDA5WEdaeVlXTjdNWDE3UzMwS1BWeG1jbUZqZTJKZlFWNWNkR2hsZEdGOWUySmZRVjVjZEdobGRHRXJZbDlDWGx4MGFHVjBZWDBnWEYwPSIsCgkiTGF0ZXhJbWdCYXNlNjQiIDogImlWQk9SdzBLR2dvQUFBQU5TVWhFVWdBQUF2MEFBQURVQkFNQUFBRDkxSUh3QUFBQU1GQk1WRVgvLy84QUFBQUFBQUFBQUFBQUFBQUFBQUFBQUFBQUFBQUFBQUFBQUFBQUFBQUFBQUFBQUFBQUFBQUFBQUFBQUFBdjNhQjdBQUFBRDNSU1RsTUFJb25ONzkxRUVLc3lWTHRtZHBtMHJIcllBQUFBQ1hCSVdYTUFBQTdFQUFBT3hBR1ZLdzRiQUFBWS9VbEVRVlI0QWUxZFg0d2p5Vmx2Nyt5T2QzZG0xaU5ZU0NJUmJKS1hrNGppZ2MzZFBTV2VjTHNFSWtYZTZHNDV4RVd5UWNlOVFPUzVQM0FKUEhpUWN1SUVBcy9ENlY0QWVSNTV5aXljTGtSQTVFRWdJUjZDUjZkSTkrZ0JrVndBRVc5dVBibTczSi9pVi8rNnZ1cHV0OXZ0YnJ2ZDQzcXdxNnVydnZycVYxVmZmZlZWVlpmanJGeGNCSzYrY1BhTnVHbFg2V1pHWUwxeDlpcmJuNW5NaWtCTUJLcWpRNmY2YnN6RXEyU3pJbkNaUGU0NGEreDRWanFyOVBFUTZKenRPYzVWdGhzdjlTclZqQWhjWnUrQVFwRzlOeU9kVmZKNENQVFpDVTlZdng4ditTclZiQWdVMkprZ1VHT3owVm1sam9mQUpmWWprYkRIRHVJUldLV2FDWUVxMjFINEg4NUVaNVU0RmdKRnhpVHVOVGtNeENLeVNoUWJnV3RLL0R0MVZvbE5aSlV3TmdKbDlyNU15MVlXaU5nZ1JrNVlmUG5iRDd4U1B5WHhPK3lINGdseWlBYVRHQ3R2Y2doMEdIZjdoaUJnbDhQdkZiYVNQd2FXdEh4MWdmK3hJYi9GbE4wSEhqRU5NNi95NUh2cHM5a296WmMvOWpYVXdMWmg1cEordXF6MUlQTXVQNzUxOXVQTUZLYk9Sb1NYcm41Q1JUUkplSzY4eFdHRzhHZU1XdnFIN0FNSmRadXh2VnlCYmdwVC9BN0xEdjRGcGhWT3dXQkRjOWJTSGNId25SUGZ6L1FnY2pNamZ6YVpNRGNyYktIK3VPN3RuT0J0RmVQci85c1FCY3dNL2hobjd4a09yN3JvczN6YS80Y280Qy85WkliYVA4Ylp1d2IvQzR5OThUeDNUMXZkd2tSWWR0OS8zZm5NdjJGdE5UdnlwMjNwK2VEc1VFQ01qckM3N0ZpUDVUOUwrQjh4YXVjdkVmVy9NcGIvWlgrUkpmd2hFQW1jSmEzMVhOUVZRVjdteHBzbC9CdVcrdC9XVDEyVzQrWGZET0VQaFZQWm0wWHI3ckkzWlN1djVsUDlrWVhMRVA0WVovbHVFKzFhV2pGbzVIajR6WkwrYzgxUy81MGpWUnVZRlovb09zbmZmNGJhUDlUL0hRSndTNjIrWE5Qak1IbVhIMitHOElmNlh5SEFkdGxiNHFtVVovR2ZKZmtEOWI5SjhHOHJZOFNBM1NhaGVmTm1xUDNiNnI5VGt2aERLenJJRytpa1BCbkN2OEgxL0dkZVBmdldudUJ2VGNxZmE1WlNTampQaHpjNytLT2h2K2w4bUkzcWF0bGxTNDYvWFd0UXpnZm9wQlRad1IvcS80ODIyUmYyQ2dNbVZxUUxjdHh0OEJNQStYWFp3Ui9xLzFzZFBnRmVaNk50RG5pUEx6K0tBekQ4S2FjdU8vaEQvWDlpMU9Rdzk2VElLZk5WMzJHK20zK0c5RStvLy95d0YxeExEcmxiV0kxNWxqMHNnbkw3azUzMkQvVmZ5aDNub3ByeDlrY3Y1RnY1UWF2S0R2NVEvNVg1RFpMb2tEZjR3bmRIbjg3MTRKc3AvQnQ2dmRIWnNOYUJlVTNrMTJXbS9VUDkxN3RNb0FudDVoZHh1MlNad1orci80bzE3RU9SRzg5dFZuUDVsQm44aWZVZjhrZFhSUzR4cDRYS0RQN0UrZzl2WnZhRVVhelM4R2NHZjJMOUwrVjB3MXRRL1dVR2Y2ai9UY1VncW1JbGY0SXFLODB3cVA5YTEyKzVNNEUwTTh3RzdjeTAvNW8rYk9vNFZWamlzb0ZPK2x4a0JuK21UMXR3K3h2ZEI1MCtCb3ZNSVN2NHJ4T2RoOWtiSVJROFdqb3RFcTNrODg0Sy9qampxT2RjMlBBVHNPUG5wWHlxcEZuQkgzT3VYZFc2VUJVQlMrNTFiWjFJdmcwdWttSlc4TWVjNjY3Q0FTelJZNUF5OUZwT04rRm1CWDlzTXE4by9FdGtLRlpCanVNZVJuVkQ4dUhKQ3Y0QXZha1FQVEpEZ2NHNFlhWUhKakFIdnF6ZzN6YjRkcXl2UUVpTWNSZ3NZRXhZNFo4WUFzQmYwY0pDQVAwS2dRenRJdkF3c2N3eVJDZ3I3ZDg5YmVUZ0ZMQmYxYWxWemZpUUlmUm1aeVVyK09zMWQ3RWkvVGx2dWJidVkzelk5NGJtNFRrcitHKzRPbWZmak1RdXdPVWZrdVVCTnpRUG5xemdqd0ZXd2xuVSt6OHB1clVLMWlSM2FVaGUvTUQvdlN5VUJkKzRrZ1llckVQdWVCbmFQSE5RUDdtMGlhSmY4ejJYaTNjTnBmKzMySDJmcGEzOURoK1Y2ZUc4eGZPYkVBY1kxOVJYZGhJaUdKZE1YNDZ2NkFkeUV5S2wwenQxRUo1SEE5eVZIaFRyZjZWbFhaUi9UZG8vcndjMC82c3dCNG5UQVl2aUxaMThuL25rOS8raER2aXg3L2pGSDN3aW5UeWlVeTJJajV4dkJuMXE5VG5lOG9ObUJkR3BaekZtVzJDdmZ1aUh2eGJEN0hYMmtJUHUrTXYrM0R2N0NLdmx6Z0RhSHQxNjlJWjBkMjR1SHY5aWg1MHg5aVUvL09zalBpQjN0SUxxajdBS1NRU0J3c2ZyajN3dmdOSkZvU0JYdFlJYUVHTVZsQ1lDdzd1Y2VqK25CdEEwa1V1RTloVnBEZTNtMUFDYUNFWnBFcmtrNTRmUUZpcHBack9pUFFhQnFqUkhsSEpxQUIxVDZzd0VGOVM2Rnd4VnNpSXl3OW41WUdSTmZRWEwvampvK1NoN0ZrbzUrSno0Q09qenorVFVBSm9GakVONDRKdmh0TXVsQVRTazdGbDRoWDF4cnN1akFUUUxHSWZ4MEwrdDN1YlFBQnBXN295OEs1cGRQL1dBYlJFWjRUSy9iR3lZeGFIOEdVQ1hvTnFPdFBoWkdVQVhVVnZGZXRQTmRyQXlnTHBZek10ejJZZ2ZmSS9WakFYenl2Kzg1M08wYXhEb01uWnNubGErT1NCUW9IdHVZWUNyekNIUFZSWUdnZCtqNTJCd1FtUGZ2RnI1MGtkZ3ZTNnZINWM1WWFlWVVZWmlaSTdsVFhjbUxUeG56UmhVemxHU3Y2d3g5dCs2dk1XZjd1SDdvQi9hMDg5VC8yTjUzK3QycHlaeW5oSU1CRnpxVUNvL2xNRWRGVWpUZ1hGZEVxQy85NmFqY001aUQwYVBQdmdZVTBjQkNuVytXZWJPVGYvSmpJaW80SHkzejFVaXBsMUZteDJCTHZyT25Sc1BNcjdmcVRZU3U1NytaSGFxS3dvUkVjQ3Bnbi9jZHB4TmNaUFBXb0k3N3IvNjFEajNteEZaaXhadFh2bEU0MmJxV0d2czEzaWFEYkdZV1VwdUlRZjFPdGFkVE0zbCtBVHp5bWM4QjdPOUdjajlsU1h4WGFkdWpJRzNHSngvMExDaUsrUnVjSkpZb2ZQS0p4WnpreE1WMU1jTldnTDUvdTdrRko0WVYrcUhuaEQxeU8vc0RuYkpUaS9tbFU5d0tXY04zVkFUdWVFT3A5U3hXK1pMQkw5YnYzZ1ltTmZGMWR3N0VKZUlnUzAxamFoWGVJS0crT1UrNFZvRWYzamYwT0gwZjdqYWZFVGhtTmJmT1JRcHJzZ3pabDQ3NnROL2hVTllIeEpYM2Y1V0k5REtpdE5QdTlQbXVZcHZFSGhhZWkrSU02N3IxS29xWG1CMkxRWUdQT0RqUTJyRGwwbnRPTEE5NWZMMEpTM2pIUHdYaGZxL0pYc0J5US9haFJnWWVOQWdhSjkxTmFIVGx5VmIxSTE3SXF6Rjg0NGp2Smh3M2JhZGxtamFsMzNyYURoY1hORUZSVlBmMVg3OUQvR1R6T25MYzQ3L1VLai9sM3lmVjhIZTNxYkdHZ2VOUlN6OXpQL1gzZ3lVU2pSS05QODV4MTlLK2JiN29WY05HbURSWG43UTJIY2dmYkNUME9uTDg0My9WU25sV3dac2hUck8zTHY0WThPcGR3QXVzRzF4TjV3YlorV0poY0NHbFBJREgvNVZBam5HWXE5NURsdmdPek9zUE1UaU5ZK0oybExLRDMzNDE0akl4MWlzUDBTcU1jQWUxT3BxODVGR0kvNS9WUUxmOCtGdjFIOEhseThaWFZSbXhmZWc5bGViaitManJsT0tMeHpBL09BZGY2bjZ6L1gvQTUxQS92TTlxTjJnV1FGL2ZXV2MrZitwWk8zLzg4ckhMbnFpVDV0S3l2c0FwdW8vMUIrditPZWJ3TnBraGtDWm1wZGRmbDc1MExJbDdWOVRVcDRvK3pJTHF2N0RHSHBzWjF6a3BtY29qdnQyc0h5YWwxMStYdmtFbFRHcHNLNVUvMkhzT2JGSkFsd2RnRnVZdkI4QXVjelgvTWVldnB5WFhYNWUrV2dnVXZqdnlFVVk0TDl2VXpmcWY2SEQzdDZ6WHpvdHZnVmpkZnJTZzhyMGo3cmRZNEsxWTZkMjFmOC82TEczdCsxM2psTS9Sa2hlUHovbkxXeUt6NER3Z0pNbnhtYVZHMDdXL0FEdXhRZlp5TDhuNVpwWU9jN1A1K2YrdXZGRVU1VTdqYityTDV4OUk1aXUvc0lyOFBjWTJHRGRWTzcrLy9qU2RzVnNER3BSUGs1Zi9qWjdvaEY3RTVzUEhGL0FldVBzVmE5NFY1SDYrdnllOTR1RFJ2My8vU0g3d0N2K0d5YzhQU3JOYXhYeTViME1BUmZZNXlGTDc2YkdhblYwNkZTRnhQQmwwZEF0dU9HeDVSRDF2OWp6YXY4WGxHVXVJUU9vajZzNUIzVDRkZUkxN3d3bk1TYkViZkZyWGcxZWtFY3JWMHVJUGM4RWpLci84SXYyN25KVVZudTE4bkg2VXVEakhNWGZ4ZXppRXV3UjFYdlZ2NENGMkRoSXZ5TVR3WloyU3BNVDlkK0JjbVRMK1ZwRlJ1MllPUUpOdTJUK2psQkIyb0VOTklHaVhHYTh0UmE5TWtSUUxyc1QyNWJuSUlkUi94SFJZMmplR3NtdmZ6eVBTa1BQWFhLM0taZVdMdXFXbUhSeCtsSjRLRHViVGIzdk51Q1N1ZXBIUkhIVmYvNDBzSzBUcURYWEhkZ0VsL0NwTEU4UXJibTdQWkl0UTBGZFlWaHp6UW1FZnN0ZFZzUVh2cHZraGRPaitpZzZSNFc4N0xub2p6T0Frc2laOXpaa3dUZUVtRWllMjBzS3lKN1hnc3l6dW5CTEQ2ekYza05XM3RUNjd3RC9VL01XSDE1WHJtM1hpdzZPK1Y5c3NKdDNIcjF4NDhISGJqSll0NFhiWXFOYk9LSHdtRWNCaUpsRFVMSUxhcGwxd3pQR0JjV05FMVpWY3EzbjIyQVZSZzFUS3pVdzgxZ1FVN3FlOE5SVzJvOVlsdG5uNzVOeDFKeXB0V1dvWHRLZEpwT0huMHBiNGI3bWlnSi9uQmxDTUVjNkZNbHJGTUtKQkxIanJXSWlEUzNoMUR2VmI4WWFRSFdFNmY1ZisvNHJBdXo3My96UGYxSXAxNldKOCt6UDlxWWpOUzcyVjMvM3RULzlsTzVjSXRKUUhTQzltTVJjc3ZqeXR4OTRwWDVLY3IrbWI3QU4rb1kzaWVmeFFqRnRtaURyaU45VlYveWtZQURsWDVaNjM4SWFkYy8rM2dveGZFM3RnOFVXanBvYW9GdkxybDJ5Z3FlbUxCTjBCUDE5a3Jxc3U1WFB3RXdpK2IwbFZ6SENPM1FHc3Z2bk9XTW93b3VFZDRCeWdQWXRkdnFNL1pFVk1NdkRSWUVQbmVraXcyMUJzZTJPT1ROa1VCZjBqd21GanRxNEFEbDBTb0luZWJ0azg0OVR0dVlHSFVNSEN6UHVXRENKWXJUMzJPaElPeDRTOWRqZlJFc2FKZGI2YXc4QUlycVZvNjBMMmsxQy9uejVZMXhleWdvVi9BRDJIZUhCZ0ZxSndxR0tNeURjUUM4aEpQbTlEOW9GckF2clZ6SC8yMkRmU3JyRmFHdTFYc1Y3UUJmWUpTa0htdjZBOW5FU1lWcHYzVEtrUVVJY0N3cndTRGtYalI1Vi81KzFiTk5sYW9wSTNBQjZ4SmhXZlNTajFYZjNvbkVjTlZiSm5tZzJkRy9vS0Qwb0twMXg4ZXdDb0QvTDNnQTVkemd1U1VBNEVlenJxTkVETjBxeHNldjZzUXlXeEtCRjZEbERhNmpoUzV6SDlIVUMvckxWRU5HRGR5WFJCcDF3eHM4SDR6a1pLNTJ1N2cyb2lHWjBxaERzdDFYczlSNWpmMnhTUHVtKzRHRU5yVjJaQ0xQNUdsWmZjd3FOTDg1R3o1KzZieGw2TWUwL0ZYRWdxQk5SSlR4cmdsZzdrU3kwcHpDVkZUL3lIY1orUWRqWVB2SjFJUEliYmltdS9EUFdhZHpPOFBUdk1NWis3bm4zN2V3ZW9HQ1pZWTZvcWpnN2VVNmhZdzB3YUphSGdpNG1mN3ZDTStNUDVNdzlRc0pkWDJucGprQmVqdkdpVFZqT0xGMWlFT0Z1V3lac2k0ZUUrSllrMGUvb3ZQdEM0dEtIZDFrNndPZ3k4S0xzajhIREN0NzhEK3ZSOTRBS3ZXc0NlWHZTTG5KVDRqcTQ2Mjc5YmRPUTIySzNidHlwaTV0bkVIZ2Q1aHFZWnVyN0pzS3NQbDcxRlpkSXNmYXJyajhwRHhDaDh2bklMYWhXVkNaazFLVzFGeEMzYlEwdnZEMXBsN0FlRjVEMzdFRm9QV1NZZWpKcDNRY01lcVlzVmZhQlhNc29XOFBDK0pJY21kbC9ZQ1JVcUN1ZnhRNmROd1Q5cHhPZktRWG1QbXRnRy9pN05MWklWM0FEWi9XZ2gxSDVYTk5hNTFGRStkd24wNThnWG9ha0FHS0g0S0dJaFdyZkRZcWVzYkFXMDlOUk1OYnhibnBNZ2xsYlB1TUNPelVaN3BBSloxZytrL0MzaDVlU0hpd2gweXRoWkRQeXJrb21kRDkxcHNiNVJIbEREenNoQk4xbVdkY1ZRVjRHZVNmZzd4bGVTcnBYWWRhZFJtbUNPSndsckdiVS82dlI5SkZwY3p1eTVEUGd1aXNvMk9zZElVUW40TzhaWHRwYTJiTHNhU0hrRi91S3EydjNGQXZEZFBTRm9TV2ZYYXZZaFlqcWp6TUJmOC93NGhyMXF0ck10RmlBSitUT1Y4QjJaSnhuaWMxalFxcXBYamZJQU9NNHlQQlFKTCtrQmNVa1loUHd4L0NpQ2lBSXRmVHczbGlLNFJldFVBMVQ2L1cvbTRSRXJQZm9ZWFRMSk1URmdhQlR0bVlGSWFRbjROL1dCWkFranBSOTNsM2xDYUdjZ1ZkOHRiY3ArQmhRbEJMa0RJQ2I1U1BSL3JjRjlXSFU5amtCZnd3dnNnQ1M1NVlhMWE5RjdWNEpGalVHcVJMd0Y4bitNQ29jMDJiaWtjK1EvM3VDUkZUeFAwbisyOE1MekovU3FGZGFDdkhQOTdtSW5iMVhFaklHKzJ0SHlPZml6emVlZUYyOGd6Z1MvMXVSN2JnVDJyOFlYcDU1OWV4YnNscmJTcDBZV0ZaalAxc1pDYWtxNmR5M0Z6RVM1STdMWjV5bnVxbk56Z3IvdHBMVGszTUt4MThNTHg5bW96cjdRSkFxU2Z3UkxJZVp5ZlFYR3FNbXBUTzN3cVUwWFRtQ2ZPNlBYbmMreWtaQzhOZWsvQmxhazdJd0RNTHg1OFBMSnZ2Q1htSEFQc3VwckVuNWN5M3E2QjZXOHh6ZUFmWjdqbE9vb1I2bTJpMFFuYlVoWTE4UldMY2tRQU5SejFjc3BUU1VXamorYURsdmRkNEhnWFZadjF0eS9PMWFTbWtvL1VXK1ZPci9reC93RG9DS1NNRmh3YTRuekVvYkV2S3lXR0c0eEI2UG1sYzQvaGhlbmhnMU9hMmVnTHdneDkwR1ArQ1JmU2ZWZnl5NlFGMU9wOGRDRURPSkJlcjZCSWhzaUg0bVRraEV3eWNjL3pib3k2cFVPNXQ3ZkJ5UUJ6eWkwVjlrTEtIK0YzdFlkT2tCcGpRNGdYeVdjb2R2SGRoRkRnVXVvSzlGYi80VDlFOE1MM0pjd1JkTGhLRzZ6TWVYNFhJMGYvNDlBK2E4OUM0NGJzSFhUS0VDdUdBN2tIVFZ5dXpnWGFkWXU0OHNJN3J3OW8vaDVSMUpDSkxvRUw0dDJQZWVaUTlISkw3Z2FFRDkvcVl3UUlCN3VveWFHRitnKzJORnJDZE5rNXZzVnhxUmxSOGtEY2Uvb2UxSi9HVFhYWjVUZi9SQ09xSlVGU1BKdnlvMlYzUUVQdGpGRWRFZVAxMytiZVphdFlmS0pQQ3pqVWRlbjRKSUtQNFlYdlFxTzNyYUxpZGIrTzdvMDlGNzF4U01wQkMxQnRUVm9ndDhjZ2FUYkRaSFJxeDE0azB4UXZFbjFpVXNlTkZ0cHNrV0l5VnFBRjAzenlHOEtUUWJrTlc4OTB4VjZLQW8vNkg0bzlIZlUwUWdmNmloTHdycFJjZmg2aitmdTNCWGh2OUVlcFA4SmRiL2hpdXFwOG9nRkg4TUx6dUtHaGxwcHFLL3dNakcraThPSmt2NW1TZy9rTSt1WFJzVmZCeURlQ2orYlZpWEZNMlMvNU5oTVhLYmF4SmovUmVHZVZkVFNZNEpJcC81VEt3WmpYTHhaZkk1dStHSVBEeTFiVk00TWpSUkZjc21mOUJrWE9uc05OSXdnVUkrWTdvbEhCZDJCelo2NDU2ZVE5UXhUb3RMbFJURHk1N3l0dHlad0RpeW1Rc0h5K2FMdTMyVTJOTzZabWNZUGV5Mm9zS0ZuY1pxQW1Id05jNTVOaVBXekt5OWFxcDZBdm5NdkFiTHJuUVdjK0hUcEZrckdiTXE5QlBUMmNMenVWd2ZCNys4UDhxa0prcHp6NmhDNW4yMmZUVXFNcm1sUU11S3hOaHVHWjBIVldFNjJ4UVpoSTIva0dsNmRvMk5kYTRxTkFYMWhVWUZ5L2RjQmxJeGdRNk1UQ3NiWGRmTk00b25ESDlzejlkekxzNytTUlI2MlltRHRYRGFaSHJXb2VOazJPeVpiUWlEd1BGeHpJVm1KUGN3L0NIVGRsVlVmbExpZ0NSYkFpOW51V0w0aEt3UUZrUVRNcnV2SVcxdW5GRE5ZR1hvanIzUXpFUUp3eDl6cnJzcUprYjZDUnVsRGNtTStQaUkyRFM4b0RDME81Z1hNL2pxWm9BSDlWTWZwUWdYbW9YaGowMjJGVVVUdzR0cnY0cHlsWnFQbGZrSGdHV3FrWEFUcUxLbEo4YUxHZUQ1UXN5MmoyNkVDODNDOEVjSm1vcm1rUmtLeEdJR3N0TXU4Q28xSHl2ekQraDZOQkx3NnphaFpMakJuRmVyVkRCUGFrdXhvWTBSYU5jOEJmdkM4RytiS1VYSHRTU0N6T1NyMUlMem1tL29nS3IveUhxSUN0aExsQVhnZjA4UkJGUmFWVEZaUU9UcCtqR0JIdDhFL0ZWc2J0MGczWXRrakZIT1RISTh0QmY3MkRQU1FUQlNSaGxPa21YSnRPOCtiWjg2azJvRWlSZUd2M3Zhd29Id3BOMExFNE1kbmNrZ2ViVkNrNTd0SDNCYnJZK2I0M1puSStsTkxkZmNlV2lONlZPY0pnNVhnTjM1a3dtMmZXSDQ2NDhKaTNOZi9BUGwyc0hZVWRGK2RMSmQ3Yy9TUDlxSWE1d1JmSEY5OUwxa09lenBvcU45K3EyVGtTNDBDOE4vdzlVNTBiMmFoSFUwSmZjeE1Hc1NkMUZlZnVwNG4yYk9MV1QrUmtwalRPMnZhdmtQaythcEwzV2tDODNDOEFmSGtpZ3U1ckJVaDVKK2dkZm9aZS83c2w1OFFIRUF1RzlUUG80UXdMNUlRMmIyZDdXRUd3WVlmNkpkYUJhR1A2RGRFenpDZU9YS2V4NUFQNllLeTBUbUJ1Q1BmdkxGR2tlYmZmUFBQNkZBL3ZldmlRRDI2LytuQXBMNDA5K0NoS3g3MkVjdjJvVm1ZZmc3RFNWbWdMZXNDSlVKL1pncThrNVlxdnBLTW5WQVRXSXRmZzlFYWo3N1VxNDVOYm14Q1RhVlZ0SlZteEN0aU5FdU5BdkZ2eThsS1ByQjR4YnBHaGx0SUtUOG1xOFZlLzRQUTNZVFgvbTg4ZUNkbTFvdVhHVWovaTNRT3pmcmllN2Rxd210dkZBUGFQNFJMelFMeFg5TlFudmQwL3hoakw3bmdnb2poU1diM0JmbndYTmRsUDFmZ2lSdzZJVm1CcHRRL0F2aUk4K2IzazlOUXVRWXlBZExaeGcxaFovWkI0Q2F6bCt3VWROUEtleENNeEk3Rkg5OEV1WWg1MHJQZTFzVVZmOGhtekluL2tueDB2WitoYkVHT3p2Mlp4TjZvUm1KSG81L3NjUE9HUHNTaWMrOVZQMkhNZlRZOC9wY1BmN0VwMGFmYVFhVU9QeENNNU1nSEgrbjhQSDZJOTh6c2FXUHFQK3d1NmJ4VlJGdmpzdjNIUFZDc3duNEJ4YmNxUDlCVjZrRkpqbDNnVkV2Tkl1RHY2ditCMTZsZHU2Z0RpcHc1QXZONHVCZkM3dEtMWWliOHhmV0ZYTWlLQ2VUREtEOUdPZWk5RXdTQzB6K3E5VE9IOVpCSlc2YzhGQ3NrMHl5emJTbTN6VmsxUCtncTlTQ3VEbDNZZEV2TkZ2Ny9OVGdFUFcvMkR2WDJ2OVk2TXBxcFIrU2VteWMyQytvK2crLzZHbXhpZVV6WWEwaXk5VWhodnJFU2tyVWY1eDNuVGpDSkpidjhoQks5MEl6by80RGtZNjdSclk4OEtUT2FkbG9LQ25zR25UVmYxNE9tTithcVpkbjJUTG9FZndQRTJlK1I2ei9mRE5XSmZFY2xweGdXaGVhS1ZpbzlaL2pmN3JrY0NYT2Z0dmQ1NGpGa2Yya3lXTlNaNnovbnF2VWtzNXJPZW4xVGpYZlVBOEpWanAwdG4vc282a1lDc09WL0RkZ1NGK3FGNXFKbzdSTmsrWHk3VXMzdktma1MvVkNNNGVmWkRPTW96TmtjZmVQWVhBQnZsUXZOSE9jTHAxVGx6MmJuQlpRM0t4bG1lNkZabHpqTnphOVlzUGFGNTAxS0JiQ1Q1bWFuQ2NiUUtmbWthci85bFZxVTVQS1k0S1VMelJ6c1BuSDNkWnRYNldXUnpTbkwxUEtGNXJ4QzJkdUs2N1dNYzhtVjZsTnoyditVcVIrb2RuWXE5VHloMldNRXZFekJuRGJNbWxiUENSNVBvS2Y0cWZ1R3pGNHpIT1N0QzgwNDRjYVhHZGRwZVk0L3c4YmRRMnFCbFc1ZUFBQUFBQkpSVTVFcmtKZ2dnPT0iCn0K"/>
    </extobj>
    <extobj name="334E55B0-647D-440b-865C-3EC943EB4CBC-55">
      <extobjdata type="334E55B0-647D-440b-865C-3EC943EB4CBC" data="ewoJIkltZ1NldHRpbmdKc29uIiA6ICJ7XCJkcGlcIjpcIjYwMFwiLFwiZm9ybWF0XCI6XCJQTkdcIixcInRyYW5zcGFyZW50XCI6dHJ1ZSxcImF1dG9cIjpmYWxzZX0iLAoJIkxhdGV4IiA6ICJYRnNnWEdKbFoybHVlMkZzYVdkdVpXUjlDa1VvYzE5QlhHMXBaRnh0WVhSb2NtMTdZMmh2YjNObFhDQkJmU2tLSmoxY1puSmhZM3RGVzNOZlFWeHRZWFJvWW1aN01YMG9YRzFoZEdoeWJYdGphRzl2YzJWY0lFRjlLVjE5Q250UUtGeHRZWFJvY20xN1kyaHZiM05sWENCQmZTbDlYRndLSmoxY1puSmhZM3RGVzNOZlFWeHRZWFJvWW1aN01YMG9YRzFoZEdoeWJYdGphRzl2YzJWY0lFRjlLVjE5Q250Y2NHbGZlMEpCZlgwS1hHVnVaSHRoYkdsbmJtVmtmU0JjWFE9PSIsCgkiTGF0ZXhJbWdCYXNlNjQiIDogImlWQk9SdzBLR2dvQUFBQU5TVWhFVWdBQUJXUUFBQUdhQkFNQUFBQjZkRmY0QUFBQU1GQk1WRVgvLy84QUFBQUFBQUFBQUFBQUFBQUFBQUFBQUFBQUFBQUFBQUFBQUFBQUFBQUFBQUFBQUFBQUFBQUFBQUFBQUFBdjNhQjdBQUFBRDNSU1RsTUFpYXU3UkNMTjNlOVVtV1l5RUhaMmJVZm9BQUFBQ1hCSVdYTUFBQTdFQUFBT3hBR1ZLdzRiQUFBZ0FFbEVRVlI0QWUxOWZZeHJ4M1hmM1YxeTkrMWJjbmZiMktncnVPQzJnaFUzaGN1WEJvZ1NOUUhwMnE1VkZ5MDN0WnRJY1d4dWxQVEpzT055VWFkNkwwV2N1MjRhdlFmSE5qZklIeW1NMmx6TGRwcHM0bklyb0ttUXhsakNDZXBVUmNxMUUxbHlaWWtidFhCY3dBR2YvT3hkNmtueTlKejVQRE4zdUo4a0wvazA5dy9lbVROblpzNDk5M2ZQbkRrejl6S0t3akYrR3NpL0dZL3krQW1XbWtSQklhbXAvbVFkNXhnZTN6a1o4Nm00NW4vK1ZPenBNZCszUS92T0RrMGh0SmVRUHJzR2hnZlo1cStjWGFxUjFweTdTYnNMa0tYYUdNZjAwQ0E3elZyamVMMzU3VlZYckh6OGZrSUtrQ1hLR010a2pyMDhITGxLM3g1T3UrZHNkWnBkU3JSdzMrR2VUY3NPeFZPeSt3aTVzMnBnV0pDZFpaYUhhTVQ3cVgvMDU0ODgrR0dUSDNHcTQwRmpqbjNRbGlKQTF0Ykh5SE5UZC82QTcxamhnZ3dMc3NYbi9kYzV6MmMzdC95Rkk2RHVNbzlnalFPNzV3QlpXeDhqejFVNFNoSS9ZdUFlRW1TblBPTXZ2L0MwSVZ0amg4a2JNTVZXTEdLQXJLV08wV2ZlL21CZDRQWGFGWDVjRmJtaFFyYkNIUGRRWFhiMmp0K0U3bE96c25ub3ZLVmtNZWY0dXlZTnFRQlpTeDJwWkRLSTByTHUrdjdmZ3F5SXhaN2Z5aTdXa3hPYWZQMUYzVmtpOGFjcFFuWVJMbnc1SVZGVXRYRWNJSnRVMGNncEpXYjdjSTh4ZG9NTGNXN0labUtXakEzTXNyWCtsd2hocE5TczdDeEFkaU1wMmlKYnA4UUFXYXFObE5MZ0dyeEV1ODdXNVowN0wyUXo4REM4UUZ2bTZWMjJtcUFaUW9xUXJRSmtMVVZJcWVyV3BDeEExdHlzdEZMb3dnbXJxaVNvU0R0NFRzaStMWWFXRTVETkgyMUdVNFJzRjhUMW1maGR5ek1Ja0ZVd1NlK004L1JMVnZlemNwSjhIc2grN2RkcTBLNEhzdE5IcjAvVXZhaXh4QnRXSmdaeGU1N0c1eXhQSmtEV282SVJreTdDbmRxMytweGlXengvWnNqT1hZYzJ4Wkd3c20zWnVOV2p5YVFIMlN5TFFlU3lFVVdsNXEyaElrQlc2U1c5OHh6Y3FKYlZmVVpDK015UVhSSnd4ZDhFWkV2OVFseENoUFFnTzhVcUlPK1dwUW1SaWFudERaRDFhR2pFcEE3Y0tMdkxITnZraFBOQjl2RFQwSEFDc3JsakJ2NzBJRHQzT0EzeWJ0aXE0TGt1SFlVQ1pEMGFHakdwd1ppMXd3Nmo1UzB1d3prZ2UrMkIvN2MzNVlQc2pIZFNiaTQ1UGNpMm44Y0lkVElvRjBVZEN1UUFXWE96MGtvMUdiUFhkd0N5ZStlRHJMZ1VMMlE3ZHBRemNkSHBRYmJ3bmFqTzJMY1NFa1hSTkIwckFtUTlHaG94S1U1RUkzUFNVVGl6bFJWWDRJVnMxN2ZBUks0NFBjalcxeU40ZWgwZmlVdVdZV1JyVElBc3VWdnBKSk5oMldoZTdnNFpCbVRqSXhjU0lqQjB2dERvQ0ZTVEE0Y1Y1MS9DamJjN1pFVG9BRmxiTnlua2ttSFphRUVhbFNGQU5rY05sdTlxVTRQc1JZRGxCWURzaWtlcUVoa2FBbVE5Q2hvdGlZWmxGM1o0MzR2U29Sc0NaQy9hMnhtU2w1b2FaQy9BYzRxNnVKR1VLZG9sRG5pQXJFZEJveVhSc0d4bm5mYzlKYWRqUTREc2tuZEtUcTQ0TmNoVzRLTHhaYmRFSUJtRXE1SXdSNEFzdVZ2cEpEdHdtMVRQM1JXZXl2eWlJQXdCc2hXdkZWUDl3emsxeURaeHd5V0VESnlBSHhkdGpzUlVBbVRKM1VvbjJTQjNxU1ljQXlYSUVDQmJzTmJyVlVma25CcGs2MnNnUlFHZTN6MGlqVXhPRXlBSHlDYjFNMklLQkhaVVdEWkxKc1lvUlFLeVQ5OFo5MzY2ZFZJQmZVR3VHcG5JaUhieWo5N05IdjRkalJNQjJjeHYxcTk5djlQUjAzZkZEN3UwS0VwU005OXpsVDMwbVNpNmQwc0wrdlJkZFU5VlhZeUpESCtGc2cyUXRSOWJ6clJnQnFMd1ZvS2x0bFF5TlJPV25hSnI2U0NNQzlrL1pPd3dab2ZsRThycGcyd2lpRFJmQXBTQW9XL0pSamxrRitvTU50WWNidEtPZmc4SXNOUHFiMUJhRkNXcFg2cXpCeDY1bS8zcXZObWU5aWJHcnRYWjRiNWQxYzVOYyt1S2p2MGx1d0J6NE9PMkZEVllXYVdKdE00MExOdHhsbjRjeUU2eG01K0lvbmZHMW83bkkrVDJRQmFXUkZ0V2pWeU5IWHp6bWZ1L3ptN3VDVHBDTmx2N1VDdWFqNjJWcUxleWc4OUgrWC9nYkRwTFV1ZlpMZXpoMlhxc1haQzNNL2JxS1A4WU84U0Nmc2NTOTJGUjVKYzlMTVQyQnNoNjlETlNFcTZySzd0U2V0SHUyb1pzdmlidStTTGRKR0pYc0hNZXlBTEo1bW15Z3pKU25tWHlrMGNJMmZ0dUlYN2h2Wll0TE9MSHRBVGNseTNnZWFpRmcxVlpRVUVXUnZVM0lLbnBEUVp3WnZocDhHdUg5M2lZb3dUT0VKdHdiWUNzVWxsYVo4VFZ2dWo4N2ZJdFJTMktEZGxaSnIvMXMrdXpRN3FTU1hnZ08rTzhkajJqUS9kZjZRa3pDNUROMWpleEViRC9MNm5HOGpXRm1WMFNKZk5RRjNRRXRhZ2cyMlZpV0lDZ0syOVh0V21maStLaXdFMGlpN09hcFdnMnhnVElhcTJrbE1CMzlGclk5OWNlWmVhK0NHRnN5QllscUtKWk5WMFRYSDEvUFpDOVFLYmVXSyttQnYvYzZ5VW1BYkp6Y2pkVjBlRDdKeFJmQkl0MU82cEhEN1hEeXJKVXZVc0FTRjBScEpyN1NFcE9mcEpEVFJmVUlaNGRXZ2dXK29iS0I4Z3FUYVIxWG9KN3BJOFZXd29Mc2hrVldKaXErMEtYZGsyZTgwQjJ5ZDVCQUJ0VTEwWEZodkloQWJMZGZVR3JtS1g5V1BGaEhFcnZEL1JRQzlyeFdKQld0cUdCMy9ZYVVOSFh2SHdRT3FBTDJiMG9FTDlkZy9ZQVdhcVlOTktBQzNQczJ4SllrSjFWODVLUzk4N243YXFZODBDMnFuQXZ1SGYxYkN4V3kwNTE5cTFyc3FtT1JnOUFlMVVTb3ptbXJMMlBHcHRoWFVBV3ZGTzFuZ1ZleUk1cXhUM1BTTnVLZzg2YVd3aWVybmxPQW1TVDZoa3RwUUFCcG0wNDdud1AzS3lXM2JjRjJiWTBkREJmY3dJTFdDa24vRStydmdleUZXdHlBM0NTQmh2akZzTGRxQnVJd1FDd0pScmNWWHlRaGRuVVdsOXFuanhPSmM0R0dKU0dISDBLbFJRTmtOK09GQVJhTndiVmxMZU4zQUd5UmkzcHBHcDZrdk1sZHpadngyV2IwdHNESUhybTFCZVV3MGl1d2dOWk9ubUtJakI3YXBBSHBBaGpDSkJWdUlKOVZaZDRjd0JvWlNraHJ6SStLZ1JRdFFDRk5VdzJ0S25HbWkvcFVpZXhLenN3ejQ3RlVKVlRPQ0FHeUZxYVNTRURXTGtodTIyNlBxcGxaV05wM1B5MnFpbEw2UlY0SUZ1d1FOTTI4Q3dwNHdhUVhaYU5RRngvalNlaElTVWo1TldzekVjRnlPN3pLdkN6dTRZcGVDUmJlTWFqWkh2U2dpaCtTNm9ERU1Uekxia2xNN0lFeUZLOXBaQ21ZZG1HR0pxTkZCWmtGYWFpMTN4NHo3RElGRUJsSTBIMFFMWnBqYnBGUGZKSDl5ay9FeUJibGkwQlpOZDVzcU93eTNOZHllcWpVc3RiV1FGMnVMNGVyNFUvQmVJMmFDSlA1UFVnc2N1STM2eVpsa3pOQUZtdGxYUVNDS3Q5MlhYbEpVY0dCN0ptWnVQd1JUQW5VcE16VXVTQmJORmlnNzUzRlAvdnYxYWtBTExxaWRDUUJSaHRLYjRvYWtzQWU2bFEvWE9TTllQdFFJakxqQjBONGphWTlqQzFvRU8ySFdiTXZPRUprRFc2U0R1bHc3SWdTT09HSTQwRldRRER4eFNZSEQ2MFg5YUlMOHFQZ3l5K0Q3SHFOZ1hkS0pLR2JJbEFHOTkzRmJqM1VndU1zZmNSTWNFZk5pL21WSWlUb0RvUjUxbmRLZmpYMnBrMlBFdkdXd2hXMXFnbGxkUVMzQ0hWY2ZlU1NzbXpCZGthY0I2OHl1SFFqR3BPUk1zOWtDMVJLNHZ2QUZCK25xNmJnVnhERnZoMkRDT0l6T2RLWG1vSHFPenc3N1FVZTFWRklwRFFadHJwVU9YeVhOVkJFSHlPM05FbWdqZHN0SHNSSU92b2J0VFpDbG1nTEM2TDN1ZmwyWTRZZEJFTTdFQ08zN2Fjczg4NzMvdmt4UjdJMXVnOENpQ3BnYURiZ3gxWEtnM2xHNWhHZjN0VEVSRStmQzdrcDJLUUNnKzFSWEtYUGtzZHF4M1RZaFIxYi80VmVkd0JsWlA3ZmdKa3FiYlNUUmZJRFlyTFFwYk9EU21UWldXZmdudUp4ODk2Qk82dStZSzF4MEVXektXR3AyN1VBMW1FWVZrem9OK01YcldmR29rbkMxb1dJSWZzb2Y0emlKcGxyVTJMVVJUamxla2orU0JCbjRvOVdGbWxpWlRPY0JkVmFEUlNkNnF3SW9XeElJdFdqUi83Q1ZGaGEzaHNwdFM2K0FTUVRjN29QSkRGZHNxNlZZUXNJdDFQamViclVzeURQYXhTa0RsNTZyV1FtRGh3QXhjOVdpNUhzTEt1UnRMTHc0MVNOalY2aXhTajNwSUpDN0xSdmZLbUpvZk4yZWNoV0tvQWI2N0ZBMW5MbDYzUzJieXE1b0VzK3J4S0pHQUR5S0xKODFPajZNdFNUUFlSYkxMbzgweXh3RHFtU1B2Z2Q5RDRoT0M3WU1hRFlHVXQxWTA4ZzZaenplbDFVWS9XTm1TamIwZ3dsSjBLMGU0NldqTnUxV2lSQjdKV2tLdDZRc2pDWGdJQ0tRVlpQeFg2ZjdZRS9IaTBJSE15eU02UjV3MGZoUTJvYVIwQnNwWTYwc3dncXBZZEFTN285VmdIc3RISFkyQlB4b0R5QUk1ZEMxV2l4ZU1ndTBTbWZscUdQbGEyckJsdytvVUlRMmdscVp6dG5kK0xZdkpZVmVGRVZyWk5SZzVZRlRHK2t1bzF4R1dWSmxJL1kxaTI3RWl4cXowRkY3SlIvbzNvS1dyblYxYWNnY2huMnpNWjkwRFdXdjBDeUdxRHJtWHdRQmIvS1daVE0wU3ltcDhxMmI3YWhEcUl3MjVTWE5PU1RoWEVQL0NJZkoyR2NpWExrbG1RQ0k2QlZsc3FDYmo5ZWlxc0JJaTNWQ29CV1FnNGxaSTN0TEhCNC91dXRmWnRQaXhRdklOVFNnWmsyYWtIc2hnYnNDR0xDMXArcWhJOWdyL1Z3U3RyZURmeGFDNlppTmNKcGVBUnF4UDJHQkFOcFpxc0pNZm1lYk1pNVlGc0JNYk5ySUJ5MmZPNDd4Q3d2K0plaWNmS050Z0xoZ3U5VVpPVEtROWtjYWplTVl6UUZTNW9lYW41RDJtK0lxOVVwVXNKdXN4SjRCZmt6TkdHN3NvbXkxTlZFNnNOVnRiUnpZaXpCUktXbFYzUEdVUVN5T1phU3JLaUc4NmF4cFVqOEREV0ZJYzZleUJMOXAxR3VIK1ZUcXRFTlE5azhSc3V5NnBSL05xUU1OVStxdnJNS0hEREE3SEZ3d3Q2WWNzMDRhVHdDM0xtd0lqRWlzbnlGTm5uR3lEcjZHYkUyVnJTMWVzYVY5VkFkb0hwaUdiYnRiS1ZqNExRQUpBYnJ1d2V5SGFNdGVMdkkxcm1qZGYzUWJhcE5zNXlqb2FjMGZ1b0dXSWY2N2piRm1SSStzdXVvUGdGT1hPZzJPNjFOSXhERXlCclZKVkdDdTdPeTNhL1dSTGhNWkR0R2lPNlJGR0hkZXM3OEFQMzJXbkkreUtOL2U0WFBEQ0FLblU4dm9jcEgyUXJWdGlwSUkyZ2o1cEJ5eXFQQW9ZTWNKR0F0eXVJWHlCcHhSZEYrQVU1YzJBVjRyN3dndkR1bDlGUHVpbjBCOWRzRVdhSTRkT1F4YnQ0US9LNTN5Njh5QjBKbUF5OVpEZmtoZXljNVZVQTZGU3JVRGN1WXdNK3lJTFhRWjRIQVBvcWN2cW9HZkxBTmZpbEZTMC91RmJHbXU3UkpLMURXWnhjZlE1djJMbzZTeXVQZ2FJdHUvTW1NVW9hc2pnN1g1ZDhWWUlLSkxWNWdBakE3MW9tWDhSZ3hvb1JBT2lNZmN1SXFaZ1BzckRnWWZqZzhjSFpGOTh0azZCbXlJTlRaU3ZBVlRXUzQ1UU5LeVlPNTcraHUzQzFEazlKWDM1NGtjWlJ6WWl6dURsMDArcHowVVJ6OEE1TDg0TmgrMzNKMTlBcFFZaDVBYndPUU1MeG9zVGp5OEl6c2lmYmdSUGd2S2R6ZkJibnQ3SlJpZkFaRjhSRHpVZzRZNnR0TGlpSWJwenpHZTlVYko1TzdxQWlvTnpSQ3RqK0xXd1NqK0RMQ2oyazlMc0VONGRBQ0tRb0VETmxJQXVUS3oxRHFmV3NHbE95SURtWStxd3NnTFJGcnJWZ25vU29MUndMbjVXTllCZlpqcW9HZ05vVWFROFY3TEdXcmlIOEI3cGhSNHdJcWlWMW5uTWdpeUdEUzZxUW4rR0JsSDJlRWJLL1ViYmFPME5tNnNObnFKUitsZXl2RGxpR2lqdWYvbkZHZlZ0dFphZlk0YjdzMnY1M1REQkowb1d0R1ZBcklUMVdGbDV5M1ZIRmNBWXJMNnVEQjduQ0M0amhoWlhaRFU1RGM2elhwMnJhbkh1b0FGblJETlFyaW9mcFBoTWh5OWVYUlh2MmI0RmVNeFRobUdKN3Q5RFRxcXB6Rml0N3NhZXJxMlpPZTE1eWZaWFROcEFTZjN4cHNCM0QzRVQ0aGJMWngrRm1iWm91TkdSejVvNVZ6UkRKR1d2TGdoK2FNaFZGeWdmWmtvRVVNT1ZqZHJnbm1LZUY4Y2FYc2xVN01BWW81RFIwcUFvYVhWRU1TU3BBOWtWWm1wTU9BWkNVbHoycmh3clZBcDZoUlZWSGtIR0p3MUlMckxRWkIrWXNrQzNxQjVOMmZLcDB4d3dmcDZvM1V1Yi8vZGxFZDArS1RhQUoraGtKejhLOSthNnArMmRmaDd5NU44U1hqVXJ2bDJ5NXVuMHpGM3ZQaUtOQWh1UW91bzVISFpwalBaNWNWNzBVbE9FVUJEQ3o4b3VIVGI1WGtEc1QrNUs1YTVDVHFiTi9MYWhGYldSaEFwYWdBajdWTS9la0d1Ny9XSm5aZlB4QjJUSTl2VHVHT2xUVitRSVFWR1hCT1UwOC9ETkFkb2FWYVk5blNsZU4xVGhUL1pGVUtwcGxLTlZmdHU1VHVpbzkxVG43NTQvY2hiZW05MzJmNHErUWlNL0YySk1vYldXakp3L0x2UFY4MDc2WGZLcUN6ZURSTWdJSWd2bTlvWW9xWm9UbnBLYjBacitJdFhQYm4wYVk5KzdaWG8xK2N2dUhzUG92Yi84dTUvc0p5ZmNQTlNTUm5LQUNaSXRpR3BpTDFWUUx2bzk0RXhxSExUTEtvbU5HSGwrNFd3ajVnUjFKZVB6VHNhQThzUDBxeFFTYng0d2RQZ05rYTZhMmJ2SzBpUk5CTnZ0SG43empycXRicDIxN1VQd3dSSzRtMm1wN3RKNWdPaEZoVnR5WXhLLzJHYUVWQTlsODZlQ2JRUGhxa2YyYzNYcUpOTEJwaWdpVkp6VmtsL1FvTFpnek1ldDk1bDN2K0RyN1VjampDcTQ0eXZ4ZjQzaGFqdXFQTWZiYmYzTC9YOGh2eGFxZVhDcDg2eTVULzFncml1NHY4WGdCNTROdmdoLzgzM2ZkMzNSY0dsN1dFUDBaYjBNVDZBRFUxaDVLY3ZyMVYvVjdPalR4OTVTRWNKNTJIbk5TZFBMa2lTQXJoTjg2ZWF1RDVZUlk2SEtpeFhsbnBwQmdPREhoSWgrMjFRM1Q1eDd0MDBBMm1xK3gzaFdvOHNOMkJ3dDZOYlJqaWN1dVgzdm9zandldkhMZHJCalFJWlkzdFZEamZiOFBNL084Mm9OWHI4TkFXdWxkdjNMNThwWHJkUW5aQ05DS3grdHNBUnhxRG5RR3J5WEFaK2JwV0w4WTg2by9ZbGZsdVVZUEJFVUpWMlJob3dmZFhrWlMzZmhNWGFKMng4cWlLK0k3eXJJOU9CV1N3NlVwUEdscUVpQUxabkE5ZVQwRk5kd2xpd1pQSVpDTnNzOWRaUS9mcytsMDB0SHpDcGplcnppRnZtekdjcGFSSS8vb2Uzb1B2TnJINjlEZWZWZjkyajFsaHhqWlZMNlQ2OW52WmRmZSt3bkttSDBPK3ZoTFNqbGR1a1RpSEE1a3N6OTRWU0MyZDBVYzBoU1VkUThaWXFJMThkU0pFMEgyeDdiUkFHeWR1dkVCVmVpUUFKQnBjczZNZDRZNHJCU0ZyTCtQMHBhaXd4TzJwdEpIbmV0Z1FTZnRBQjl0VDh2c1FCYnBGY0NKV2EvSWZoeFJ1Nm9yUEVYd3JvbW5UcHdJc21BQVNpbEN0bXRQaGVRMVprMGc4OVJYZmVvS3gwSlcvVDh6dE96Ynl1WHJzSEFpWSt5cm1SNXRrY2E4UEpERlJjUmxJaDQ0enpwU0J4K3k4NGJXQ1B1SmtpZUVMTTZIdDA3VTRCQ1lhakIxOWpUYjFkNmpwM0RBcEdNaCs1U3hMYkFVKy9KSnV1OFl2L1lrN0dQQk0wZnRoQWV5NEJSaHdNTWM5NUZidCtERVNBelhxVkluaGV4U2VwRE5naHBzUFlncnZHQTl6NmU2NmxNekh3dlo0cFp1RTJiNzJxL1ZSRTlpMmdrWmVGakdqbFNsUG84SHNoMjRWWmJRR2JJVTJCbU0xWnNBeU9JbUs5L0ZMcHdNR1pZR3o1bzVEckx6WkJpQU5jMFRSUit6NUc2ZVZhNVIxMnRTLzlzRDJVYmk1YUthbVNVWGlSOThEc0ZQQ2xtdytGdm42T1k4VmVjUXNodWVGdUtCdUVhZWhwT2s0eUJiVlFFb3JPcDF2Wk50d3ArN3REelVjU2JscmZjd1BKQnQwaGd1djVMQ0xYVkJPYWFUaW5TbTh3UkF0Z3IvZmttbW9lWXlHMnBGMHBDR2xUb0dzdmw0Zy9RTS84dEJjdjJUSFdlWFZIL09jU21ac2dZMkQyVGpoRk5rM25PWU9abUxmK3kxVGdCa0M5OEd5UG9lMERtdjdUMzJrcy9DY0F4azc3VUN4N0RENVVSOTJBQTRVWldVbVRwV2tDTUpXZHpLYzhPV3NhM0huL2FBeHVrSmdHeThYdlNIREJhWldaV3g5VFR3M0pHUXpjRS9IdDlxcVQ2ZmVCUGN0MWMvbzdKSG5mWGkvMUZNNDFSV3NMelJKR1J4bmZtU0xYQlZUMFZMQS9LRHhoK3lzUEpZQVUyVWJVMWdMazhDS01uU2dWS09naXlmSGpJVk1lK0FySGhzbktEL2l1K3FUbEF2TFphc1BhOU1RaGIzMSs3YjBsVmZsdm44Q2NjZXU3b25OLzZRbldLckdPMWI4UWhmSEpremV6UmtyMTIrVWhlYlhDUDRkdzdZRWZEZzFicFBYdmNTTHA0STJHNnQ5UEt6Tk1TVjNCWWpQc1hZc3VWckswZGhrZXlWdEZsT21SdC95RjQ0NUp2ajFaWFQ2NnZZS3FSRkEwNGZCZGx6ZEJYN1hQUnp0RGZrcXJ2cXVSVDlKSzFzQjJ5TEkwTmpYUkxtQnJPUWdDK2tyVHA5K0xQcEJibmEzNDF3ajVEMjRvbDhTNFBTQW1uVG54d1NaS3NEY3UvOFFnK2FtbmZpTmtuSU5oSmhXZm1mWXlCS2UxRDJaZndoMjRSOXEzWFBLNENnaFpsQmpUWEgzdHdoUVhhZWZmRFlyc2VIZ1g3WUFhVktRcGFHWmYrYkVMeTdJczRRaFY2V3FYT2V4aCt5OWJVSUxqY3g0T0IxTHd6S296OVdpVU9DYk5RZDNXcklzZGQ0TEVQVGNXT1NrSTFOV0RZdkEzMkZmZG11ZHdaOWJKOGVockdIYkFhbm9HMkE3R1pTZXRoOTBFcFNoMEVaRm1TbnZOUEtZVnpCK2R0Y2RPTlhDY2pTc095aVhFNTVhMHYwRE03ZCtVWGdMWXc5WlBtMytEQmtjTWx6eGJFYlV2SHdESVNVWXkrKytjMXZMZytrTGF1UlF1SXpIVmJ4T0dVYTFwb2VxT01mdTFNSkdwYWRmZEdXZldwZ095ckdIckw4VzN6NFVyV0s3MUZORkwxQXBod0RTc05XRnpqbzIyQURhbmh4SUx1ZUJ5VE1rYzNrck1VcnZyM09WUWdOeTFZZFpjMzY1aDFQM3huMzFQK1NIZGs1TGV3UDJmeWpkN09IZjJkUE1zdUl3ZHZlMC92QWEybDlmUDNqd2Q3UE9EUXY5WTEzMXcvZlc0NHk1bU1mK09aSXNxcmRmQVdmVmtTTTg5UnlybDEzZWRDdU83amMwQ0FiTlY0YW5KUkRiYWxqTFRWNklZc3ZmcmFrRUlVTld4cjM3VXdzL1VQR0RtRjF1Mnh6SHBmckM5bjVFdlFQTVl1V2FFRkE5akhXcXpQMkM3UlJmTWt1WnV4REN0dWlMRW5OdjRZZGZCODhWRHNOL2NwYXBzUjY4THJRTDlIbUV1a2l0NjdRZzY1R1dOcldOZzFTTU9qazhDQ2JwUjhPR0xUWWcyenZ5NnUwTlM5a093QVl5V1QrY0Z3U0tzbGJOY1Z1ZmlLSzNobWYwamZxQjlrY2ZLYm5tOC9jLzNWMlUyQ1JRL2JIZTJCTmY4TmFpWUpYbWVHL2ZmK3NhQy8zZTZnTmhxL2g1Nzl4cUgyYWJJazl2eG85WFdlL1NIWGhwc1hRWHdCbDJBOEY1MXZ5Mmw2M2laQWZrUVlxeHJETXVBNVBJVEVnNW11SExSUnM4WlFUa242UWJiS0RNcmIzclB5R0NVSTJXLzhja21wMFcxVlJBQzR2ejFnT1I1STZ4ZjZGS2xKeG5WMzJMVVFoT0VDYm9zajNPeTh1dlFxUTNVbVd6NTF3bTEreVpxQU1RUU5nV0tUM0FPWm8xZTZBZk9SVEZzd3krZUdkWGQ4MHhhNU5jMzBnTzZOTjZWZDZpQ3Y4aTZtdCsxN2dOVHZHWVltK29qQUQzeG9vODFMODhWQjMxWDY4YVdWbFlUZkpNcS9SWktKZFhaMG1wb1Z4UlM5cGpkSkZlbnAwRzJPU25RZUtxd0h3RWJsbm52K2Z5YitZNUIrL3R5b1VCYkxnaTg2V2wyengrREo5SUZ0VFVNeTlucTFnUFlSc1hNWVV2a0c2emhPdy9oR0xVc2cyekJqdG9aSzFQdlV1UVZOMUFYQjBua2paT3A2V2hBdUx1NlU4enlKWWFNSWJraWxyQUc2U1BxeUlHTWdGK0xHbGc4L1pDTUpVM1RkTnNabHB6ZzlaZzhxR2hBcEE5ai9KTGlBb3JBSVljMmI1Q2VKUVpkbXdoenBsUEpsZDRSaEFERThDSDZZMmExUWtLOTBRZ1FJTVVzdnVhVEVnMllQMnIwSE0wSCs4aFZZTzZRRnJ3UHBjakhPM1lMcTJiM2MzcTJ4UVNZMjdkbm5mbkIreXUzcnNqK1dHRklEczZ5WEVBRDVLbnFJR0wzNVgvNk95Rnc5MXpxQnlTVUMyYWx6WWtqSFFDVGxMMHJiQ21LTjhZTUlEdUMrVHJFam02NER2UHNkK2dqc1FCcVlCako3ZnM3MjkvY2dQd2gzZ0hvSnBHdUM4WTNLWWFrdVRCU1d1UmNiaVBQNTREeTlrNFpHUXRscGJONENzbmlYcDExckFnYjJrVzkxVm1QSlJPd2F5TXdKNk5XT2d6Y2RSZFdNcWtWY2Q3RUwvU1lNS0J0cFJCRlMwSG5hb1JnOGpydW9obkFlbUFST1d6U2ZpQTlaY2gvZllsTGNXZ080SnVlZndYLy84aHhleU1QbFNYNUtBKzgwblJ3QlpOWUdDZlZVUzBCMERZLzZ2Z3FJWEg3VnRIQVB4Zlhhd2o4cFU0LzhSdHZ6U3djWVhLVGswNm80c1VBV2VyZVZremRjRHIvODRiZFE2MlhhZzlOY0EzRWMxdGJpb1RJM2lCbUMyVkZxY1kybkZqSWRJeXkrd0ZacWxhUzlrMjlyUGpFclNjUVhJNm9pdi91WitRWXNJVFdyLzEwZHRHNEF1Y0NzTFQ2UWVPdUFKMmFJeWtmU00wZ0h3S04rWEZJTlR2MEt6SVoybUJpcDZjSVl2Tis3YmtzQkVlZFdtNkJuUmF6NjhaNWRncm1tR1piZlFDOW1pd2RCOWN1Z0Z5Q3JEQzE2ck1MamdOUkQvRXFaQzNNQjdxUjFqanpQY2M0SEwyMUN5d0JPNHB0TE91YVBjSEJoWWlOK3N1ZnJYMUN3aE1Tb05nSzFTSTJmR3RhbGcwQnhnV3VCeFJRU1BiOE9scWJ3WHNnQ1BIY1h3KzYvbEtZQ3NEaklweUFLTXlBNUs2SVVEMkV1RjZyZVV5UDhFRzJ3U054aUdoaHVxTytlOHk3MFNJS0pUcmMyOFlRcVFOYnBJUFZVekkrZThHaDJWVUVuSTFobjdtSUtFNHRKbitOeUtocHNteW9RUHNnQWgxNHBqWEZiRFNrRVdCbXZpT0NPb1VBUXZGU2VUQjU4bm5ZUEFXeW9MOHlYdEpDaWFQTmQwcHlYaVRCc21yN2RnaWtOcWxCcUFlNnh1MTZJYmFnVlVJRGpJQVFCbkI2OGlCSm9zOUlkRTVJTXMrQjN1UTRLUTNWQnRLc2d1V1pBRnY1TFBsYnhVeEROai8rb1BWQk13YnpMZUR0aG43WFFvQm5IT0dsZTFBVFZhZGluazZrYXFSTmtKQ2RCdU9NNmxBYWxvak5Tc3lmUzBHaEYvVFJKZzdpSlQ2dFRsZlI2SVFWd1I1UmtRd2RUNDZoVDVYMWNFcTl4ekdRR3k2NG9XeStLSzNXNWR6SVg4MUYwdUlGTVNvbXU2cWRvRFBQZVJiNUY5UC8vSERmaHBRbzFsVlVPZkEyU0ZYbFA5bFhjRFIxSjFoK2FrRGNvcm9DWWgrNVNVK1dmMXpUU0oyZWU5YnFCZzhGblpKYzhZN0lQc3JtMGRZL0dRK2FtNDRzcVBYK0Q5WXZZRDZrOGdmdEMyMWtieWlIOUJUbGFFMHdZcEVzbFlEMFdKb3BNU1RQTWhkVFlOU0UwREt2WEN6dEtHSUU2cDZYTVNzanA4dmkvcmsxTjN6Yisrd0ZuNlFKWkVBa1JMUHNnV0VwQkZRK3luUnY5ZXFZTnYzOEVua2g0ZklmS1NaSlh5K055YllHVnREYVdTa3pjTUxKMnlxVkZtVlJBdnFFbEswcGVON3BYQ0toL0MzUGNzVzQxcE1NcVVZTW9IMmFxSnIybG1IMlJockZZU0lWOHN2RzgvTllMdGllTG90WUFYSnBBZXp4UmJzWTRDYWI5dXhTY2tXOTI0SzFiRmtCbTlCaW95WkVSNzdxSVJ3eU1aTVlpaWIwaEVsRGtIK1psOUhyYXZKbnhUeFhBZXlBSUlDYVFVWlAxVUNGUDlIeWtoMWpraFpPTU5KU2NQaXlXdklrRFdLQ2p0Vk1IamY5WjNwRlEreUVZZmp6a2tGS3oxQmV5dTQxaTlwL04yd2dmWkpjL2owc2ZLMHBsK1hUaWJUZHRka0ZUc05mc29GeEhYSWRBeGFDSHR5QVAvdTBvZmJhaFMxam1aRU82elN3MzVORFJRczI4OGlyQ2dQWVhrNmhlVzU5OEk4RWlFaS9JQWpkMysrT2dEV2IyZkFCdkd3d2ZacmozVGg4N3hlZkZUZVNOUi91UEFoRGpFNlZkWjBJNzRoUy9JbVZLUXdJUnlGWmtzU0NoU09LZWtBYmcvTjV5dTUvUlNFOWlvc2xQSXM1bFMwdCtiZ1ZwdEVsRnk2dmtnZTlJZzEyNENzcGVnZFQ5VmRZdi9xZ01YaHFzVk80clc5enhIbnh3MHpCc09LNFRIVmh3U1pIUCt6YkpBRGZ0bGs5b2FGSVdHWlZXYkRiV3hHbS80cHFKYVp6QmU3ckpEWXlPS09pWmdackZEeGdkWjhEdTBRVmY4UGlzTFQ4S0xxaHpPVUdzTFRsN3FVOHVLRVJxSFN0WlNnaXBLbk9FTGN1YkE4REwxUTdBRW10RU5hODZ3WDFhcllwUUpOQ251ellndktRbmc3dTJvTko1ekxaVXJ1ckdCUEFIZHEvWUFBQ0FBU1VSQlZPNDdYUElhSTE3SEIxazBnYnBGMmJJUHNrQWpBUXBFWVJtNHZWVDlsVkY4bFJGSGk3aS9TTEpIT09FWDVNd0JWVlNVVHhIaHliWVV3ZW40dVBjN3RBcFZDK0U4S0EzUXNLeHNjOUU0QXpBZUxwT2VGaGdQSENHbDdWclphYnpMME5vYWxub09IMlJ4ZFhYZjRmVkJGbHhxWXRNQjZIeEc3NlZXakgyOHdDc1Z5R3FhMDVYSjRoZmt6QUZWWE9NUGZaWU5nMHE5SGhqOVI5Z3ZxM1EwK0RQWVJYZVNYeVVoSG5zaTBqV0lYS0oyRDhXcTROc3RNQmpmNkNPakQ3THcyamZkb2Z2NEh0VDFRUmJNR1pFSkJnWnVCTDNVaXZiRElWaUFIbXJWMnFxVGU0TlBQUDRGT1ZNQVZWeC9DQnloVmNNUVVtbHFvSjJNTTVXSVl4ZFRxNGtqc2tMa2t1dnU4Y0FZb09ubFBsZmpoV3pGTkFqVjRqTDgrQ0NMMEVZNGl3Tk11UmpIZmRTS3dmWTg5MTJFUzZ2ckdpT3NTSEMrU0ZxSExLN2VycEJpenVIYVhiczg1RWFuZ1c1aTZuK1JvcTVFNTg2NHhXUmRpbGFsQlVDN3lFZHU0S0F4ZjNvWlhzZ0Mrc3p6a2VHbzhFSVdvTDJ2RzZzcTArK2pWb3h6bk9YR0dKNHpFZzRncnE1dUR4NFQ0bllBR1FOajZ0R1VYRE8wRVZJekpFZXZnWklkUHdJQnV0VENkQ2wrY2EvZ3ZoU3hvVk9DME9hR0Q2WnJMMGdHOStTRkxQQWJxOGk5WWIrVmhZWGpEZDFnUVpsY0g3WENnd21jTnljZWh5WjFRMHNydWhtU2FKREpIWkJ4TkhFdTR3S2Z5cEVxSVptYUJ1RHUyRU01ak8wdEk0MzErVFFZWS9VdWxsclBqTlRJSHUvakw4eW43THVQUkhGNElZdkxaZnVLbzgwTnROZktRamdKQWxiaUFFQkpQUG1vRlhNNTg4Si9nR0YrVGRYTitUM1MyQkU2dHFaN1dMbWorbFF0aFhOYUdzQTRqUnJydVF4WitLb2JFY2I2ZkJyTVovWmwyYnh6QzhYYnJCZ3lkY05EcWpFL1pNRlFhazhpWGtIZUpXSlE2OW9HdDVrR0d6Z1R5N0pSRDdWaUJKZ1dVTTNXeldQMGxJTk4wVTdpSTdwZ21HM3ZGZ0lrVmhoTTloOU9LV2dBREtjWlNhSC9ITnd0T2liT0dBVGd4MWRYbFloVnF4Yk15eVh3Yk1BcmJqejdJWnVIRncvMkJOdTBzTnNkNGtjYTVFQ1FhVjIyVmpBaWVhZ1ZFMEJ0eTdnVWtEWmwzZHFhVEZpbmdxa2o2RVZISzdqU3RtRlZHYmZNYjVUSFRTSy9QTmxmOWROUFRzMTM0ZWJzYS83OFA2MUJma1BuY1ZlSjhUV2pxTVMzb0VKeHJtNWlTWnk3dGl3cXdjMG10V25TRDFsOGdldFhCRnRUYkdVRi9LZ1pHVTZEdG1RYjk3TERWWjZFaDB6MkJka2t0YUlmdWJ3YTduUGF6RDZwSGcvWktEOWwvd0s2dVNVYUYvUXZBY0ZZWms0clVnZWYxaDZQOU1VZWxYODhaUEpMWVphcC9PVkhVOTk5eDk5Q2hMSi91ODNmSWJtRGZ5NEc4Z1lSL0lNb1JCbFBIcFo1azNuM2Yyb1dlOCtJbytDT3FGcUVQcERGTjJEM2tlbUw2RUkvdnYxREtORXZiMzgyeW01L3VnN0ozajNiUUljcFVTeVFuS25SVVNCSkJjZEFYc0FYTmNxK3d0aVBZQnVMbm44U3l0MFpZNC9zOE84akJ4eTU3YnM1QWI2ci9La3lwK0JQM2JQNHBRdlRUeFMxZDVXK0xFU0MvLzFaa2hISkp3LzJFclNURXpoZXhlMnhmZ2xHMFRuZE5DM21Td2ZmaE54WGkrem5EQkZUVmRKQXl5NVN1WDZRemNTczk1bDN2ZVByN0VlQnM2SGErWFprVmtPRkFMRE41ZFovZU9LVHNmaFdyR28xUWEydy9YdDdJR1QyMTdXeGpxTEhHUHVYYjNuaTQ3NVpQL2dXNGxBK3VDWUFlVjkxQTVHTjgyaGFOVE9zODR4MGdZYlYvbG5iTGRyQlEyd21XLy9nV1Z1RGVyK2w3cFo5L3BEVnBEMGl6dGRZN3dvWXZ4KzJlTUJqSUUwUWlGT3VmcENOOE5QeGNMd1BtUnM5K0YvV3kxZXUxeEd5MTY4OUJQL1JlbDA5TTRzeDUvdldLbTAxY3FudDUvRzFCUHpNUEIzcmNleUhLRURMcXNvejgvaFBzSmV2WEswYnlFSzNjRnlCbnZjVi82STFKMVhVc1RuWGREakZGaW43UjUrODQ2NnJXelp4ZERtSUg5azNDN3R1KzV5emdjcFVzVnpiS1B2Y1ZmYndQUzRxRjNTd3ZtUDdGVVNVdnBDRnYrMTRUKytCVnhQV1BzbnNjL0NYSDU5eEN4M3FVOHNRYW5zdTdqMzAyM3VVODkxMzFSLyt1eGFGbGg2Ym5qRXh0bU41Qjgwd2cvNlJPZHdyZys2bUxWK085Ti9nMWJZSVphUkpXRmlDdStFYzh5S080MUFIbWIzZ0xzejZHdTlvVndxaXFpcytqbjRSQXovdjJGRTdKdG83Y3RrNkJxNHlkYmhqQzFGSWpyK0NvY0VyYk5uY284dEJPSEk5MlZ0QmpXZkpvc0ZRcGt4SXFYK0RwUzFWQmxLdXFiUjk3bTlsYmI2eHpIVjE1R0wwNGkzY2NTZWZrOTZFRDZyQ0oxWGZBekRzV1pqTjlIMmVmbXdibmE2dDBjc3NldXlRb0x1UlljNzRXNFk0eUJUNEk4YzJONi85Z2lPMmNrMDBaR01NWjZSNE5BR21lN0wvZHdJTTViLzNDTXBUUjBRejhxVVVJZHQxUTRWYzNxeFpQQnFTUm90cSt0Ty8vYWZNOWlnSXBiN3NaNXhreUdiVG5uM0J6VmZCYW5nM3FNNnNhRjJOTGxlNnlxK21DRmw0dG5xdVBKRHZHZ3ZuS1IwQXFkcHZwRGR0RjdkMEdrSkUycS9WUko2WVpNaGVQSWxEYjEvdVlITkZ0ZCtTTjNzZmhKR1Z6Y1dYUzc5elJHZEw2VUVXZHhmNVJxY0xua25aRVZkdytxS0wvVENvbTVvbmp4SUVNUHNFWENZWnNoMTJTVjl0S2dtd3F4dW1Zd3dkYitsc2g2UTFVU2RTaEN3dVh2cGtXemdXVVZyNnN5WHk5QjBXYnhQVkZ3alo2NzVnK1NSRHR1QXpGdVNpaDUxRWU3VkNPcW5Sc2F4NDVDb0hoSEMyU00xUkptRUxuZldrNmI3am96d1p6WFdPeEhIM0t4OXZrTmJyL1NJTUV3elpmTDlySXRjOTFDVHVyYWRCZ2k3Wk1KZGp0NDdxTzBYSVZnOUJiRFBOTVZJMmpwOGVHZWF6cE9hc0J6elp3cjFXOEExMlppVlprRExCa0ozcU42WDBYK25ncWJqZmJwVTAyNEM4eXM0Y0xWeUtrQzE4RzhUMFBVOXoxTXRSMXpISWM4YjdwS2dlY3I4SFlyVlU3b2szZ1pTdmZrWmw2WG1DSVZ1MVRCeTlxQkdsQVhka3ZzQy80TURLc3UvMjBRTi9pcENOMTR1TzNGTGtSUkwrR0k0R201YTY3RDY0aTYxTlFBY0FpOGVHemNSekV3elpJNk5JbmtzZE9LbnF2Q1ZSQVIwclI2RjB0SitkSG1UaE8yY29aem1wamJ6OUFDWVp6azJaTytJNVhtVFhMbCtwcXpEM2Ziakg1TUdyOVJWUG41TUwyUVg5YjQ2ZXl4b0phWmVHWmFISEJrQmhYL1NjNytlSVNjSFNneXg4NXd3NjkzcVZKNGoxUy9IUGVCck1jc1hrUXJianN4Um4xT1hacXNFQWEwVzd1d2F5aTg1ZWRMZUQ5Q0I3NFJCZXRpZXZtQkRKS3NmSCtnbjNXWklORXJnK1MzMWVaM0loV3pJTFQyZSsrdk5WckR0M0hpQ3NKdDF6Unk0azhNOUNiSjJ2ODdQV2h1K2M0WjVuR2dGVlRTMGRJN1RpTy90NWNSQVB4Y1JDOXVJUmZ0SFpkWHFhbWhpV3RkWXlBTUlxZ3RBKzV0NmtaMlh4TzJjZ3FHL2Yxc3d4UThOcGxOT0h0K0RydHc5dlAvTEVRcmJiYjJ0ZnZ5c2RPQjNEc3Z1a1ZZU3dDaVc2cnpRUk5wNU1EN0wxTmY1QmRCMk5JNUl0YVBFSmNiREpxUUdzQ2s4cVpPZTlFNGpCNnZlWTFqQXMyeUk4Q0dIbHJIaW41SVEzTmNqeTc1eTFRZEpOSW8xTXdqUFhTbElIUyttK2VPNzJPa2V1SzU2NythRTEwUFlGdzRmV203ZGhYUG1rQmJBcG1kMFFCUEFXYVVreW5ScGtMNkxyQXIzYkxvMFVNTFpHamFUVUE2RE1uLytwV0RwR3R3T1FjaGhONUlldjNHUEY3amhoMlNvQVlWblVTbncxeEcwc05jaGV3STBFOE9raDcrSmMwUXRrVi9iejVYOFNIcG56SGZOLyszejFVNnFkZjExS0haTnVHOFlQNE5TbWNXVm5reE9acCsrTWUrLzl2S291SWZzMmVHM3V0WW9tenZsSEgrejlqRU9EOSthUzFEZmVYVDk4YnpuS2ZGalh4N2Yxa2xWMU1VOVVjR0NHalgzZW5YMjdhcFN3NjRUYzdhSUJnQ2pkWFlJZmtsWmJaSmNTUWFSZmgxSTRma1JldklEc1k2d0hrL2Rmb0FyQkY1dGp4ajYwUjRuOGRXZWJtbjhOZk5FQm5vS2RocDZHWmtyOEZlWmZzbXE2bWVMTFNJRzJkRFhDWVgzcWpkQkQ4amJSQU56M0crUlNNRUMvSS9NVmU0MGhpdjQ3ZkxMaFQ1NzRaSTEvRmdLWU9HUi92QWZXOURlc2xTajRmTVQ3OXFJL0srcDVIRy9RUTIydzM0V2kvRGNPOVpzWjJSSjdmalY2dXM1K1VRcmhQWW1odndDeTJnOEZaN1krOWVhdEhvaVRyQUcwcW12a0FocGtzQzFZWU1hUE96UCs3OEw1Ym0rVlYwSEladXVmdzNTTmJxc3FDc0RCTng4bzhKTFVLZll2Uk5mbXp6RjJ4ZGRQb0t0TlVlVDduUmRQVlJWa1Y0OFhZWnZ6aG1zSlEwaE90QWJ3SllSbGN3VzRwS1N4VXJKMmZ1STNVR1FJUFYvRFB3SVFWdmErRjNpeVEwSkxYMUY4RURBcjgxTDg4VkIzVlFCNFdsbFoyQWtscEdrbW5CTGRFSDViWVE5ekdOeFlJMlNabkI3NnhwaGtuNEV5T2cyZ0kxQTIzUlVZKzNjNlY3ZW4zb0NRRlZIMkJmbjVHN1N5Y1puVElMeTdMZ3J4QzJjck10a3c4eU1QTlcrOGFQVXVRVk9oSFRwYmxZMGtUMHZDaGNXZGZ0eXB0VG5na214Q3lOMVdHckREc20rMXRrMERJT20xRnRXeUVscG1idVlBc3Y5SkxqdUFlVmF6dGpuRngrTlFaZG1FaHpwbEhJOWQ4Zm9MdEN5QkQrR0FOZHE1bFc2SVNENDZOYko3V2d4STdvOTJ5aGpTRTZtQkR2bDRldjYvUW9DcnJDOERscEgyZFFaZnRtVXZpU3pDZkJPVEFOblhTNGdCZkJSNmlocThPS2tYTGdUK1VacUN0S2JPR1ZRdUNjaFdqVnRTTWdhYUNDR1NKV2xiSVM3aGVkTUxjRjlPVkFtRTIwWUREYkNyLzV3ZmYvVDdnSUNiNUdhRDRkd2gxd2x3dWlTeUhTYkJESkRWbnErMnp3QnR5UWZjdXdwVFBtckhRSFpHUUs5bURIVERKSWtRUEpsWEhleEMvNnR1S2NacnFkeUo4a0NZYkEwMDRhNmI0OTlRQUZpVEovNEJ5cks0MWlXb3NJbEpnS3lhUU1HK0toa2o3UmdZOHkvOWM4N0lSMjBieDBEOHR3RFlSMldxOFQ4Q1dxSzd4TytDZWs2Z1VXc2dFSnd3T2l3bjZnVENiYU9CR082NlBCNis1eFBXWmNHQ2FNc1F3SFlwZU01QUJZNXRnS3orZjRoWTJkTUNuZjNvV1ptUDJqWUFYZUJXRnVaYzB2ZUk4QXZzVzZaM0t6V2pwbGNveUxwVnhET01yU1NKZ1hLYmFBQm5NRGY2WEF2TXZEa3dSVEdBVCszaGdmODBFZk1mZ0t4ZU9Zc2xvcUZGNGwvQ1ZJaXplcWtkWTQ4elBIeFdZV3hEQ1FNUHpKcEtPK2VPMnE0SzR3RHhrRFZYLzVxYUpTUW1WZ000K2IvVVIzb0E2WjRwZ29GYTRCUklDNTlxOFFLQXJBNHlLY2dDakJTMGdRZHNNd2V3bHdyVmI2a2UvZ2syMkNUQ2dHUTNlQ2ZKbjEwUkN1Wi9xMlhNdk9FTGtEVzZ1UDFTR0piZDczTlpObVFiSG9NR21OT3dVcENGd1ZwRFc0QUtVZW1sZ2lGbEI1OG52ZGVKTXdDVFArMGtFQlpNMW5TbkplT3RFQjZ2dDBES1EzS1NOWUR4cWxhZkN3Q1lJZHJrQVJaUUkwWFJBTEliS3EwZ1M2MHhsRUg3bTNEeVV0RXJZZXhmL1lGcUFsK0kyRmNac00vYTZWQTBjYzRhVjdVQk5WcDJLZVRxUnFwRVdTQk11Z1k2Y00vN1hRTk1oa2hSVE9DcHlBRFpkWldPV1k4bksvWkxoSFV4Ri9KVGQ2RjNPQTVlS3hwQjF4VHh6US9Bc3hyL0ZVbWVGOW4zODM4NWdwOG0xRmgyaWdOa0V3cTVyUWdOLy80OWZvMDJaQUVjR3A1S0JUN0k3dHJXTVJhT3BaK0tLNjc4K0FYZUltWS84QVB5K0VITHdWQTk0aGxIQm5KczBES2VqcFBqUVlJbkVDWlZBMkNtZENUVXZZWUVaTmRjRGg5a0N3bklJdEw5MU9qZksraTlINXRHMzVZZUgzSDdFL2txNWZGNXZNRXg4Q3Z1OXFER3Zsc3VMODN5WmRIUHZPUmVzdyt5OEJEUWFSTjBjQU9xK2FuNGwxVGk2TFdBQ2VaN0hzL1U3VFFxa1BiclZueENzdGFUNDBHaWtVQ1lVQTNnQkFnUjVUMnNpTUdKSVFzZ0pKQ0NUUWE4QXo4Vklnci9SMENXMXpraFpPTU5JMjdUOXkyNUFGbWpvTnN1ZFZSWUZvM2VucmxpZ05hYXlZbFVIeXRMWi9wZ0JqZUFHYURsb1dJcjJVY0IxU0pXaFk1QkMybEhIdkFGT1ZQZWhpcGxreFVwajZRdVM4aFBxZ2FPQ3N2aVN3aXI1c0lBRytzbUoxSSt5SGJ0bWI2czVxZUtWdklmQnliRUlVNi95bTRmaVR4OFFjN1FRSUxrdXE3SGhURTFRbXF5TlhCVVdCWm5RMlZ6ZWZFSmcxeTdDY2hlZ2tiOFZOVTYvRmt3dWc5bzgzY1VyZTk1VG0xMVFBNDB6QnNPSzNnN0t3NHBaRzhiRFhUZ2p2ZTlHRURRcGlrc2VyeGVuNVZ0MjhFcDZHQUxHdkZTbjFwV3pZTVA4aUw0Q01DOHIwaDl6L0FGT1hQQWdvUGxjV0FKTktNYk5wd2hkWHRvb0hGRVdOYlpkd3FzZEZyRnI5OEhXYURwM1YwQ2hXWGc5VkxiTjdRV2kzeGpRbndTKzRoZmtETUhWRkdiWkJUUjJlZXJ5T0Y4VzJpZ2VVUllOb0lCbGxpcmpvZlZCMW53Z01uSEJjQlM4MFV4TDdWaVptUVhlS1dDeDE5TzZCbS9JR2NPcU9LT0U5Qm4yVENFMU8ybGdkaGpPczBWV2pNYldGZ2dVTXg5RHRsOGtBVWJKMVp1ZVR2Z2EzSWo2S1ZXekphdktiNTFzVXAyaHNFdXNEY1lVVXlLZjBIT1pLRUtkVit3QUdaeHE0WWhwRzRyRFJ3WmxzVlh0TmJNNVFMb2lEbWI0d2JTQjFuNG9nR0pqUUhReFRqdW8xWU10dWY1SGtYaDBxbytaNDBSVmlRNFh5U3RReFlua0N1a21ITVFRZTJpa0p0MERlQVUvVkwvaXloWmszRUEzYjdtclhBMzFBdlpDdVdyS2t2dG8xWk1GRGJMalRGTW5FZzRnTGk2dWwrdzdNVFdBeGtEWTF3V3d6SkRHekhra0xvZE5JQWhvdjMrRjlKbEw1UENOZzBuRlZld3hBdFpXT2Zkd0VKK0ZKVEo5VkVySnFTYUUxc2RtdFFOTGEzSVJxeFRnMHp1b0FDakRDOVlEQ0NWY1Rqc2twQ2JlQTBjR1piRnlCU05FUUMrZFhncEoreWpGN0o1OVpvTnFBY0FKZkhrbzFiTUl6RXYvQWNRYUUxcE5lZjNTR01ic3VDOVVCOGJLM2RVbjZxbGNMNTlOTkFCRTNYRTFUamZZeXVaNWRRNUVWaGFJZ2Excm1kZFlJN1Y5QWRjMldYWmdZZGFNZkdwYVFGVmVLdE1JL0lwbmFJaUpyNTVDNGJaOW03aFNiUENZTFIyU0UrNkJycVc3NWk0bWhrREtTeDdrckVQU3A3aVIza0NJSy85U0lNYzhKRFhKVi9CdE9DaFZzeGlWMXZHcFlDMEtldlcxbVRDT2hWTUhVRXZRc2RiRnNzdWNVeXNncENaZUEzZzdLdTMxLzh5cHJUaEZEd2wxbHZscVl1OUZqOERmcFN2Z05PZ0xVNk1vbnZab2VDRENNQ3lwUG1vZ0UvbE5xamhQcWZON0pPK1A5ZksvZ1YwYzBzMExocitFaENNWmVhMElsdlJuWWJFN2FPQi9IOSs1RTY4Mit6bTMvclVYL2E1TEloclVYVGdQaG1PMEZ5TVB1N2oyeitFOVg5NSs3TlJkdnZUZFVqMjd0bHVZVlBaV1BCbGFncVNmaW80QmhMU1g5UW8rNHI4NFBLaXR1aFlWeHk1TzJQc2tSMytmVVhZdnBzVDRMdktueXBMR3I1SHM2UFRJWEg3YUFEZ3A0OFgrMTJXR2FVRngxc1orL0JibnZpbnRadDdrRytvK3QrT01HWXJqazNPQ050Y2J2MkhKejRaaTIvRnF0WVQxQXJidjdmM1RZRDRyMnRqSFVXUHdXZVgzL0xFeDMyemZod1YrS0dXYURVQnFQdXFHOWgyZ09LRjQzYlR3Q0xyWGIveTBPWExWNjVlOTlnemViV0pJUmIrdVIyT0EyN0ZHdEFBMUw5ZVI4aGV2L1lRL0wvd2RlV0lMc2FjOFZ1cmx0cGNhdnQ1ZkMyaGQ5VWU2M0hzQitQZnNxcnl6RHoraXpGSUxEOFZpbHUvb0ZzNDhDTDJGZjhpL2ZTSElvYnpLMFFEbGNSRTV1bTc2Zy8vVFJ1SVhsMWtuNE8vL1BpTVcrUlFjU2RYL3JtNDk5QnY3MUhPZDBNZmY5ZWkwTkpqMHpPczc2aHhiTjNBTU9rYXVKRFkyRGNCVjlReDBkNEprRGFJT0ZnTlRKa1kxV0FiSG1aclhSMjVHR1l2b2UzeDFBQnNteGxQd1k2U0toWXJjMGV4aExMYlZ3TkZOWithbkV2TWh0blg1TnlzSVVoYU5VditRMmg5S0UxZW5FVC9leWlhZUdVMmV0SGFHRE1ST3VnY3RaMXlJcTRnQ0hrZURlVGRYVkxuYVd3MGRRdkJsUjJOb3NlMWw0a0RRSDRTZ3h6amV2Y25VcTQ1dmZnL0llSlBoYWpzaE55cFlZbVptYlRKVERYc2lSa1dGaWFsM1dadlVpUVZjdGJJZjR0TWx1UkIyZ0ZwWUc2eTFwSVc5TDg1RHVqNlF6TVRwNEhzWklXNU91R3JHeE1Ic1lFTDNQQzlIVER3WGdiVllJbnZRUjlVYTZHZGlkVEE0aVF0Z0YyY0xEZG1JZ0V4QVVJWDFEc0FFeUJyMS80dXh3UklIRVFjZ2dhbXlDdUhRMmgra0UzT1Qxb1VlWkFYSDlveUd1aE96QzcvOWkwamRVaTlnalV3UHltcjlubnpBdGdyK0hhRlN3Y04vT1FKWHZZYUIwWGxYemNPVWdRWmdnYUNCb0lHZ2dhQ0JvSUdnZ2FDQm9JR2dnYUNCb0lHZ2dhQ0JvSUdnZ2FDQm9JR2dnYUNCb0lHZ2dhQ0JvSUdnZ2FDQm9JR2dnYUNCb0lHZ2dhQ0JvSUdnZ2FDQm9JR2dnYUNCb0lHZ2dhQ0JvSUdnZ2FDQm9JR2dnYUNCb0lHZ2dhQ0JvSUdnZ2FDQm9JR2dnYUNCb0lHZ2dhQ0JvSUdnZ2FDQm9JR2dnYkdVUVA1TitOUkhrZlJVcElwS0NRbHhaKzAyeHovMy9qdm5KVDlGSHp6UDM4SzVqUlo3OXVodldlSHBoRGFTMGlmWFFQRGcyenpWODR1MVVocnpsbWY4d3lRSGFueXo5RFowQ0E3UFo1Zm1zdHZKNzRtbG8vZlR4UVhJRXVVTVpiSjNMRCtGS3YwN2JHODNtblBuNFBlNTM1SVA4dUc0U21OcFQ0bVVLaGhRWGEyMzU5dC9kUS8rdk5ISHZ4d2FwcnFlTkNZWXgrMDVRbVF0ZlV4OHR6VW5UL2dPMWE0SU1PQ2JQRjUvM1hPODlsTmV0OHAzbVVld1JyT1A0TUZ5UHB2M3Npb0ZZNlN4SThZdUljRTJTblArTXN2T0czSTF0aGhVdkZUenRmcEEyU1RPaG9wNWUwUDFnVmVyMTNoeDFXUkd5cGtLMnpQZjQzWk8zNFR1ay9OeXVhaDgxWlNzdGorbzZVQTJhU0tSazNKSUVyTHV0Zjdmd3V5WW9aeGZpdTdXTCtrRzFhSmZQMklQMVA0MHhRaHV3Z1h2cXlrTk9lcWplTUFXYU9hMUZJbFp2dHdqekYyZ3d0emJzaG1Zcy9mTU04ZTljOWdFRVpLemNyT0FtUTNrbmRoa2ExVFlvQXMxVVpLYVhBTlhxSmRaK3Z5enAwWHNobDRHRjZnTGZQMExsdE4wQXdoUmNoV0FiS1dJcVJVZFd0U0ZpQnJibFphS1hUaGhGVlZFbFNrSFR3blpOOFdROHNKeU9hUE5xTXBRcllMNHZwTS9LN2xHUVRJS3Bpa2Q4WjUraVdyKzFrNVNUNFBaTC8yYXpWbzF3UFo2YVBYSitwZTFGamlEU3NUZzdnOVQrTnpsaWNUSU90UjBZaEpGK0ZPN1Z0OVRyRXRuajh6Wk9ldVE1dmlTRmpadG16YzZ0Rmswb05zbHNVZ2N0bUlvbEx6MWxBUklLdjBrdDU1RG01VXkrbytJeUY4WnNndUNiamlid0t5cFg0aExpRkNlcENkWWhXUWQ4dlNoTWpFMVBZR3lIbzBOR0pTQjI2VTNXV09iWExDK1NCNytHbG9PQUhaM0RFRGYzcVFuVHVjQm5rM2JGWHdYSmVPUWdHeUhnMk5tTlJnek5waEYwVlphWFhQQWRsckQveS92U2tmWkdlOGszSnp5ZWxCdHYwOFJxaDlHM1k2Rk1nQnN1Wm1wWlZxTW1hdjd3Qms5N2d3WjRhc3VCUXZaRHQybEROeDBlbEJ0dkNkcU03WXR4SVNSZEUwSFNzQ1pEMGFHakVwVGtRamM5SlJHQVprdTc0RkpuTEY2VUcydmg3QjArdjRTRnl5RENOYll3Smt5ZDFLSjVrTXkwYnpjbmZJTUNBYkg3bVFFSUdoODRWR1I2Q2FIRGlzT1A4U2JyemRJU05DQjhqYXVra2hsd3pMUmd2U3FBd0Jzamxxc0h4WG14cGtMd0lzTHdCa1Z6eFNsY2pRRUNEclVkQm9TVFFzdTdERCsxNlVEdDBRSUh2UjNzNlF2TlRVSUhzQm5sUFV4WTJrVE5FdWNjQURaRDBLR2kySmhtVTc2N3p2S1RrZEd3SmtsN3hUY25MRnFVRzJBaGVOTDdzbEFza2dYSldFT1FKa3lkMUtKOW1CMjZSNjdxN3dWT1lYQldFSWtLMTRyWmpxSDg2cFFiYUpHeTRoWk9BRS9MaG9jeVNtRWlCTDdsWTZ5UWE1U3pYaEdDaEJoZ0RaZ3JWZXJ6b2k1OVFnVzE4REtRcncvTzRSYVdSeW1nQTVRRGFwbnhGVElMQ2p3ckpaTWpGR0tSS1FmZnJPdVBmVHJaTUs2SXZMMXNoRVJyU1RmL1J1OXZEdmFKd0l5R1orczM3dCs1Mk9ucjRyZnRpbFJWR1Ntdm1lcSt5aHowVFJ2VnRhMEtmdnFudXE2bUpNWlBncmxHMkFyUDNZY3FZRk14QkIwRHE4WVd0cGJ2U1ptZ25MVHRHMWRKREVoZXdmTW5ZWXM4UHlDWVgwUVRZUlJKb3ZBVXJBMExka294eXlDM1VHRzJzT04ybEh2d2NFMkduMU55Z3RpcExVTDlYWkE0L2N6WDUxM214UGV4TmoxK3JzY04rdWF1ZW11WFZGeC82U1hZQTU4SEZiaWhvZ3F6U1IxcG1HWlR2TzBvOEQyU2wyOHhOUjlNN1kydkY4aE53ZXlNS1NhTXVxa2F1eGcyOCtjLy9YMmMwOVFVZklabXNmYWtYenNiVVM5VloyOFBrby93K2NUV2RKNmp5N2hUMDhXNCsxQy9KMnhsNGQ1UjlqaDFqUTcxamlQaXlLL0xLSGhkamVBRm1QZmtaS3duVjFaVmRLTDlwZDI1RE4xOFE5WDZTYlJPd0tkczREV1NEWlBFMTJVRWJLczB4KzhnZ2hlOTh0eEMrODE3S0ZSZnlZbG9EN3NnVThEN1Z3c0NvcktNakNxUDRHSkRXOXdRRE9ERDhOZnUzNE9SaEhDWndoTnVIYUFGbWxzclRPaUt0OTBmbmJYUy9OaHV3c2s5LzYyZlhaSVkvOEhzak9PSzlkeitqUS9WZDZ3c3dDWkxQMVRXd043UDlMcXRWOFRXRm1sMFRKUE5RRkhVRXRLc2gybVJnV0lPaksyMVZ0MnVlaXVDaHdrOGppckdZcG1vMHhBYkphS3lrbDhCMjlGdmI5dFVlWnVTOUNHQnV5UlFtcWFGWk4xd1JYMzE4UFpDK1FxVGZXcTZuQlAvZDZpVW1BN0p6Y1RWVTArUDRKeFJmQll0Mk82dEZEN2JDeUxGWHZFZ0JTVndTcDVqNlNrcE9mNUZEVEJYV0laNGNXZ29XK29mSUJza29UYVoyWDRCN3BZOFdXd29Kc1JnVVdwdXErMEtWZGsrYzhrRjJ5ZHhEQUJ0VjFVYkdoZkVpQWJIZGYwQ3BtYVQ5V2ZCaUgwdnNEUGRTQ2Rqd1dwSlZ0YU9DM3ZRWlU5RFV2SDRRTzZFSjJMd3JFYjllZ1BVQ1dLaWFOTk9EQ0hQdTJCQlprWjlXOHBIVEVuYmZxZXlCYlZiZ1hqTHQ2TmhhclphYzYrOVkxMlVwSG93ZWd2YXFhbm1QSzJ2dW9zUm5XQldUQk8xWHJXZUNGN0toVzNQT010SzA0Nkt5NWhlRHBtdWNrUURhcG50RlNDaEJnMm9ianp2ZkF6V3JaZlZ1UWJVdERCL00xSjdEQUsrWHRxcGp6UUxaaVRXNEFUdEpnWTl4Q3VCdDFBekVZQUxaRXE3dUtEN0l3bTFyclM4MlR4Nm5FMlFDRDBwQ2pUNkdTb2dIeTI1R0NRT3ZHb0pyeXRwRTdRTmFvSloxVVRVOXl2dVRPNXUyNGJGTjZld0JFejV3Nko2Wk0xalY0SUVzblQxRUVaazhOOG9BVVlRd0JzZ3BYc0svcUVtOFFBSzBzSmVSVnhrZUZBS29Xb2JDR3lZWTIxVmp6SlYzcUpIWmxCK2Jac1JpcWNnb0h4QUJaU3pNcFpBQXJOMlMzVGRkSHRheHNMSTJiMzFaZFVITWNjZ2tleUJZczBMUU5QRXZLdUFGa2wyVWJFTmRmNDBsb1NNa0llVFVyODFFQnN2dThDdnpzcm1FS0hza1dudkVvMlo2MElJcmZrdW9BQlBGOFMyN0pqQ3dCc2xSdkthUnBXTFloaG1ZamhRVlpoYW5vTlIvZU15d3ExWlRvVW5rOGV5RGJ0RWJkb2g3NW8vdVVud21RTGN0R0FMTHJQTmxSMk9XNXJtVDFVYW5scmF3QU8xeGZqOWZDbndKeEd6U1JKL0w2aWR0bHhHL1dURXVtWm9DczFrbzZDWVRWdnV5NjhwSWpnd05aTTdOeCtQaUs1a2FDNklGc1VjM2hPRFAwdmFOcS9mNXJSUW9ncTU0SURWbUEwWmJpaTZLMkJMQ1hDdFUvSjFrejJBNkV1TXpZMFNCdWcya1BVd3M2Wk50aHhzd2JuZ0JabzR1MFV6b3NDNEkwYmpqU1dKQUZNSHhNZ2NuaGl5SkFWM0o5NFRqSTR2c1FxMjVUMEkwaWFjaVdDTFNqQ0VERisvSlNDNHl4OXhFeHdSODJMK1pVaUpPZ09oSG5XZDBwK05mYW1UWThTOFpiQ0ZiV3FDV1YxQkxjSWRWeDk1Skt5Yk1GMlJwd0hyeks0VkRaZ205bTQ0RnNpU0liM3dGUURlaHozUXprR3JMQXQ2TVpJaENaejVXODFBNVEyZUhmYVNuMnFvcEVJS0hOdE5PaHl1VzVxb01nK0J5NW8wMEViOWhvOXlKQTF0SGRxTE1Wc2tCWlhCYTl6OHV6SFRIb0loallzemdGQ0FBQUVhRkpSRUZVZ1J5L2JUbjl1L2s5a0szUmVSUkFVZ05CdHdjN3JsUWF5amN3amY3MnBpSWlmUGhjeUUvRklCVWVhb3Zrcm9vdllQMk8xWTVwTVlxNk4vK0tQTzZBeXNsOVB3R3lWRnZwcGd2a0JzVmxJVXZuaHBUSnNySlB3YjNFNDJjOUFzOCtUNXJSNWNkQkZzeWxocWV1NUlFc3dyQ3NHZEFKUWEvYVQ0M0Vrd1V0QzVCRDlsRC9HVVROc3RhbXhTaUs4Y3Iwa1h5UW9FL0ZIcXlzMGtSS1o3aUxLalFhcVR0VldKSENXSkJGcThhUC9hU28zVFhmK3NJSklKdWMwWGtnaSsyVVRhY0FIMFM2bnhyTjE2V1lCM3RZcFNCejh0UnJJVEZ4NEFZdWVyUmNqbUJsWFkya2w0Y2JwV3hxOUJZcFJyMGxFeFprbzN2bFRVME9tL0EyUTJ5aVFQcGlQSkMxZk5rcW5jMnJXaDdJb3MrclJBSTJnQ3lhUEQ4MWlyNHN4V1Fmd1NhTFBzOFVDNnhqaXJRUGZnZU5Ud2krQzJZOENGYldVdDNJTTJnNjE1eGVGL1ZvYlVNMitvWUVROW1wRU0wK0Q5QlFOdG9VZWlCckJibXFKNFFzN0NVZ2tGS1E5Vk9oOTJkTFVzNFdaRTRHMlRraVBENEtHMURUT2dKa0xYV2ttVUZVTFRzQ1hORHJzUTVrbzQvSEhBenJUb1ZvZHgwSFlENFEwNkxqSUx0RXBuNjZYaDhyVzlZTU9QMUNoQ0cwa2xUTzlzN3YxWEtDWE1uNXYybExwdHBrNU1DcHBQYVZGR2VJeXlwTnBIN0dzR3paa1dKWGV3b3VaS1A4RzlGVGRHOW9IbXpncm1VSVJZc2V5RnFyWHdCWmJkQzFEQjdJNGovRmJHb0dESEpoTlQ5VnNuMjFDWFVRaDkya3VLWWxuU3JRTnhEck5KUXJXWmJNZ2tSd0RMVGFVa25BN2RkVFlTVkF2S1ZTQ2NoQ3dLbVV2S0V6RUt4dlc2Z1NEWGdnVzZCNEI2ZVVETWl5VXc5a01UWmdReFlYdFB4VUpYb0VmNnVEVjlid2J1TFJYRElScnhOS3dTTldKK3d4SUJwS05WbEpqczN6WmtYS0ExazBibVlGVk1qZTJPQWh6MlgzU2p5UWJZaFZBTUdKM3FoYkJ6NStvUzB2UUJwYTVxdkJ6bElDTG1qaEFMNkR4ZUtBaHcrbytRK3BQSHF4VUZ5bFN3bTZ6RW5nRitUTUFVOWZZdVNwbWxodHNMSkdWV21rQ3NsNDZweEJKSUZzcnFYRUs3cXhnVHp1T3dURXJDZ09kZlpBbHV3N2pYRC9LcDFXaVdvZXlPSTNYTWp6QUNqa3JvbVBxajR6Q20zQkE3SEZ3d3Q2WVV2SmxUampGK1RNQVU5SzRscklQdDhBV2FPcU5GSzFwS3ZYTmE2cWdld0MweEhOdG10bHB4RVQ0QlN2dVJmZ2dXekhXQ3YrUHFKbDNuaDlIMlNiYXVNczUyaEk0K3VqWm9oOXJPTnVXNUJCVzIxWFBwM0hMOGlaQThXK1liSTgxVEFPVFlDc281c1JaK0h1dkd4M21TVVJIZ1BacmtIa0VrVWQxcTE4Rkg3QXBybTNtUWY3cVNNQWJQYTdYL0RBQUtyVThmZ2VwbnlRclZoaHA0STBnajVxQmkyclBBcTR2UVVYQ1hpN2d2Z0ZrbFo4Y0FYZk5XbFI1UVZLZ0hSNDk4dFJTR3BaOUFmWDdONW5pT0hUa01VYmYwUHlKYjVkV04rQkVqQk5EdmE5KzJYbkxLOENRS2RhaFNiaU12YmdneXlZY05JNEFIMFZPWDNVREhuZ0d2elNpcGJIV3l0alRmZG9rdGFoTEU0dTVZVTNiRjJkcFpYSFFOR1czWG1UR0NVTldaeWRyMHUrS2tFRmtpNXkzeGM0RXZGUGoyTXdZOFVJQUhUR3ZtWEVWTXdIV1Zqd01IencrTUE4Q3c0Zk5VT2txTElWNEtvYXlYSEtoaFVUaC9QZjBGMjRXb2VucEM4L3ZFampxR2JFV2R3Y3VtbjF1V2lpT1hpSHBmbkJzUDIrNUd2b2xDQzBlVXdUN0xVN21Qb2NBM2hHOWt4L1VLbW5jOXdsOWx2WnFFVDRqRDMzVURNU3p0aHFtd3NLb2h2bmZNWTdGWnVua3p1b0NDaDN0QUsyZnd1YnhDUDRza0lQS2YwdXdjMGhFQUlwQ3NSTUdjaUNwNnBuS0xXZVhTUGVSK0hoRFJheWdvUVVyMk1BSUczeE12RlRNRTlDMUJaVzJtZGxJOWhGdHFPcUFhQTJSZHBEQmN1cnBXc0kvNEh1ZmhDUGwycEpuZWNjeUdMSTRKSXE1R2U0T3RsbmdLeWxtTkZuS3U1OCtzY1o5VzIxbFoxaWgvdFNPdnZmTVFHWEVzdEovODluWmVFbDF4MXltV0RsdFRzUnIvQUNZbmhoWlhaRE1BUFM5ZnBVVFQ4YkhpcEFWalFEOVlwQ3N2dE1oQ3hmWHhidDJiOEZlczFRaEdPSzdkMUNUNnVxVHJDeVNoT3BuR0Z1SXZ4QzJmdmpjTE0yalNRYXNqbHp4NnBtaU9TTVZZbTVtckhEcWdHUEx3dEQvSW9xaG5NK1pvZDdJajh0akRlK2xLMFlZQXhReUdub1VCVTB1cUlZa2xTQTdJdXlOQ2NkQWlBcGwyVldEeFdxQlR4RGk2cU9JT01TaDZVV1dHa3pEa3lBTEZYZXFOUFB3cjM1cnVuMHo3NE9lWE52aUM4YmxkNHYyWEoxKzJaR05XbTRBUDJtcGVnNkhuVm9qdlY0Y2wyVkZaVGhGQVF3cy9LTGgwMitWNUJiNW4zSjNEWEl5ZFRadnhiVW9qYXlNQUZMVUFHZjZwbDdVZzMzZjZ6TWJENytvR3labnQ0ZFE1M1BFa3ErQUFSVldkQ25pWWNmSUV0ME5kSms5czhmdVF0dlRlLzdQc1ZmSVJHZmk3RTlVbTFsb3ljUHkxeTZmTk8rbDlGaTd4bHhGSWdYaVIrNXNJOGI2dG9xWm9UbnBLYjBacitJUG01dSs5TUk4OTQ5MjZ2UlQyNy9FRGJ4eTl1L3kvbCtRdkw5UXcxSkpDZW9BTm1pOEtsenNacHF3ZmNSYjBMakVGeFZGaDB6OHZqQzNVTFFEK3hJd3VPZmpnWGxnZTFYS1NiWVBHYnNjSUNzVnN1SUU3UGl4aVIrdGM4SThoakk1a3NIM3dUQ1Y0dnM1Mnc1cTZTQmxpa2lWSjdVa0YzU283Umd6c1NzOTVsM3ZlUHI3RWNoanl1NDRpanpmNDNqYVRtcVA4YlliLy9KL1g4aHZ4V3JlbktwOEsyN1RQMWpyU2k2djhUakJad1B2Z2wrOEgvZmRYL1RjV2w0V1VQMFo3d05UYUFEVUZ0N0tHSDZwVlEvK3ZORlBteXJHNmJQdldVaWlvRnNORjlqdlN0UTVZZEpNU1pMdXFabC90ajFhdzlkbHNlRFY2NmJGUU02eFBLbUZtcThoZmRoWnA1WGUvRHFkUWFRN1YyL2N2bnlsZXQxNVlnQ1d2RjRIYStsZnh4cURnWUJlQzBCUGpOUHgvckZtRmY5RVYzTEpCbzlFQlFsWEpHMFJnKzZ2WXlrdXZHWnVtU0NGcXlzMGQ3NHBRaGtvK3h6VjluRDkydzZRaTdvQmZ5TzQvNDVqQ3Fic1p4bHBPWWZmVS92Z1ZlcjhpUE83NzZyZnUyZXNzdGdVL2xPcm1lL2wxMTc3eWNvWS9ZNTZPTXZLZVYwNlJLSmN3VEluazUzbytXbWtQWDMzSkh4QXY2cTlvcWZ4NmJXd1lKTzJnRmhqRDB0YzRDc1ZzVVlKbzZIYkdsTGlRMis4WnBLSDNVdTZDSDRLSzd4S2x1a01hOEEyZkc2T2JZMHgwSlcvYVU0VlBOdDViSmJFN21POFd0OXhXTkptMk42TUFuVHI3RzhRMXFvWXlIN2xGbStoOTBETCt1S1J5U21uWkRCRWF4alUxU2xBMGl3c21Oelh6eUNIQXZaNHBhdUJRRXFZb28wT1pISUpsZkpFanpqUm1oUy96dEFkdHh1RDVYbk9Nak9rNlV5V0lZMzRYYmFpSnR1NHFMQlJCMTU2ejJNQU5seHZubkhRYmFxWXFaNEVmYkNXZi9MNmppN3BQcHpqa3ZKbERWK0JNaU95MzN4eVhFTVpQUHhCcWtGZnlWRGN2MlROZ0Q2ODQxUFNjY0tjZ1RJanMrZFNVcHlER1R2TlZ2MW9TNXN5a3EyNEtQb3hYOWY0VGpTQ2lRcUd5SUc0M2lIakV4SFFqWUhmOUo5cTZXWW4zZ1RySW0rK2htVlBlcGNvWk9ab3hqSHBDeHJPK25CeW83SmZmR0tjUlJrOGJVeE9GWkZ4UTdQTUh0bm9iZE4zRUc5MGFka1BNbXpOTVFWck94NDNpUWwxZEdRdlhiNVNsM3N5NDdnRDJWZ0U4dURWK3NycXVwUjU5alpjbnNVN3hpVTdhcUxGTElFS3pzRzk2U3ZDRWRCdG0rbDR3dXFFeFhteXBQWEhmSGFBbVNQdjhQcGNRd0pzdlBzZytsZDA2bDdwaDkyd01vQnNxZFc0UWdyREFteVVkZjdEdFlJTCt3MFhUVWROeVpBOWpUYUd6WHZzQ0E3WlFVNlIzMVZwK3R2MFYzNUNKQTluUUpIeTUxakw3NzV6Vzh1RDc3VFF1S2JCNFB2WTBBdE5xd0ZFbERIUDNiZVhodFFQNkdaZ1dnQTlnM0FRZDhHRzBpeitBWHVuUUcxTk94bWN0WUxZL0J4cGVFb1pOaVg4WXBwZjJpUWpSb24ydlUxQm9ydW1CZkFRSm9BMlRHNEpVZUtNRHpJWnVtSEE0NlVJZVhDTDh1MUVpRkdnR3pLdHlOMEh6UVFOQkEwRURRUU5CQTBFRFFRTkJBME1CNGErQnJFRFAzSFc4WkR3Q0JGMElDbGdiei9nMFU4a0xodmNZWk0wTUJZYUFBL1U5bnZ1RFFXRWdZaGdnWnNEYnkrSDJEWllkbm1ETG1nZ2FDQm9JR2dnYUNCb0lHZ2dhQ0JvSUdnZ2FDQm9JR1JhYUR2WEMwVW5GQURJN3RWb1NPaGdSUGVsOERXVndNQlNTUFdRTjg3RVFwT3FJRVIzN0RRM1FudlMyRHJxNEdBb2FDQm9JR2dnYUNCb0lHZ2dhQ0JvSUdnZ2FDQlY2d0djdjdOc2tBTisyVmZzYUFZNndzUCsyWEgrdllFNFpJYUNQdGxrem9KbFBIV1FOZ3ZPOTczSjBnWE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BFRFFRTkJBMGtJSUdmdXc5em4vQS9Yd0tRb1F1Z3daT3JJRXZPNEJsckhmaXVvRXhhR0QwR3NqV0U1QmxvNWNpOUJnMGNHSU5WSktJZmY3RWxRTmowTURJTlpBRHhGNTc2SEo4Y0JrTzlqRCtQckE1Y2lsQ2gwRURKOWJBVSt6bWZ3SG0zVFdzVWR2QjMzQUVEWXl6Qm1xSFpSU3Z0SXkvcklXLzRRZ2FHR01OTExKTFhEcFdobFB1TFBPdXZURyt1aURhYmFpQjZrMStVUmtPMW9VelJMZisrSVhiVUN2aGtzWllBNlYxTHR6RkF6eE5DL3dxY1hNay9OVjc2Szhyc24ydWY4dk9oMXpRd0ZBMWtHR3J2UDBMUEs0MVowZTNuTC9pdmVWekFTNHlEdmFoQ2hrYUR4b3dHcGlXdzNyNzIwaGJldEdVWUNyL1UxM0dQdnNNSHUvNGE0dzVwWnkzSFpiS2JKMkYzSkExa0JkR05pcmN3STRxQ2IrMHcvU01ETkM3bkpRbVpzeG5mSk9NZ1JJME1GQU4xTmV3dVM2M3RiVGhpaG4zRnhsTElEcWFnb1dJRnEwUTBrRURJOUZBUmhqUTRrdHVid1ZtM052WTR3TzBBYktiYnFXUUR4b1l1Z1l1OHJCc0ZIL0g3YW5Hak9IZFpZS0w4dFFLWG5lQnNvUjAwTUFRTkxERVBkWThlOWx0bXpIdTVISXlXTlI5cDN6eFlJbXhGWWNZc2tFRHc5ZEFnMGVxTWdTZm9rOEljNjNwM3F0Smcxcjl6aHpsMEt3aEVUUXdaQTJVdU1lNm1JQXN6SzVNbEtEQzJJNGpSMjE1bXJFTmh4aXlRUU5EMTBCZWVLd1hFNUNkcGU0cnVLMnJ0aWdMaHhneVNIZ1RObFBJQlEwTVhnTlRBcXN6Q2NpQ3AycDZxNXVBbHlSMlhvb1dHRXVFR1V5VmtBb2FHSTRHTGdpUGRTNWhNRWxZTm9LNHJBdk8waFpzL3ZKRWE0Y2paV2cxYUVCcllGZDRyRXNKVE5Ld0xBUU1IRmQySGpaKzVSbUozT29HUXlKb1lMZ2FxSW1BNnhJSndvb09TVmdXdG5XNWV3eWV3dFV3eHNKV3J1SGVuZEI2VWdNd3VITmloMzNYS1NSaDJRYnJsWjNTNGdvUWFna1AxK0VLMmFDQmdXdGdtb2w5c2gzWFlKS3c3RDlqN0ExT3g1bmVIbENLZElibWNJUnMwTUJ3TktDc2E5VTFtRG9zbS85MXhsN25kbjZCT3dvUStrTGtoaU5vWUlRYUtNaHBWOGMxbUJDV2ZlLzI5dllqZDhYczMyNG1CR3BlUXRKdTJNcVYwRXdnREZzRGRibUFCWkF0VzMxQldGWWQ3MDFBTmljV0ZpQ1FrQ2l5R2dtWm9JRkJhd0JXQTFaNG00RFFMYXR4SFpiTnY0Mnh6MWxGVVRRbjVtcUE4MlduSkdTREJvYXJBZGpaSXV3a0pEYXNya2hZOWs4VFVkbkNHdWNGbks5WWxVSW1hR0RZR3Fpb0NkU011NzVGd3JJUXpMSWpZRm41TmdMNHUydkRsakMwSHpSZ2FhQ2tBZ1VRSUxobGxaQ3diRlJWdGxoeXpNclhGV0FyMXcyclVzZ0VEUXhaQTFuOTZpeUVZUTlwWnlRc0M5ODRjTHlHN2tmNW03ZlBmQ2xzNWFJNkMra1JhQUJtWDhwTU1ybW1JSHZWWVZuTXc2NFk4MDVORkFIUTllSHVsaG1CMEtHTFY3SUd3SmJ1eSt0dldxaU13TGN0YTgwQW0zbHpNY0l5ZlNSZnZOVzFRaUpvWUFnYWVNMHZxVWIvOUtDc2tuaUdZSURKQW1TcG83dTdMb3ZDVmk2am81QktXd050TlM5RFFjQi9JQ0dEdlBsNlFkM2RtWkMyMktIL1Y2NEd1dFFWdUdqNXNqUEc0b2F0WEs5Y2hJemRsWmVvYXd0ZXdvYVJzS0g4Z3JDVnl5Z2xwRkxYZ0FrbGdDaGRNMHVEZHhIcVpTMGRGT3pwVEVnRURhU29BZGo1dmFhN2g2QVdpZGxPRzc4Z2FvU3RYRnBMSVpHdUJpQVN1NndsZUpJeDh2V2p4b1l1aU5xSjNRZW1MS1NDQmthcEFScVd6ZGRvakRaTDl4c3VVV1NQVXI3UVY5Q0Fvd0hBb25aUzcyWHNJNmI0U2ZxZkNoZkNWaTZqbVpCS1ZRTU40NzIrQ2Q2ajFmQ05NblhpMWthd1pYRTlWVGxENTBFRFhBTlAvSzg2TzNnWGJuMTU0bi84UjVoN2JXcTkvRTl3RW41WDVmTHZLTUZLN3JzTW5sVkJPQWNOakZZRFRiMkRnQ2R1bG5YM1hVNlFjekZZcnVVSDlSUTBaMGdFRFl4UUEwV0pSVHoxUHZBcTBuTzM5OUNEVjlsSEJTVmI3OEVmNEY2NW52TG5OLzQveUFaMFZrY1FNaG9BQUFBQVNVVk9SSzVDWUlJPSIKfQo="/>
    </extobj>
    <extobj name="334E55B0-647D-440b-865C-3EC943EB4CBC-56">
      <extobjdata type="334E55B0-647D-440b-865C-3EC943EB4CBC" data="ewoJIkltZ1NldHRpbmdKc29uIiA6ICJ7XCJkcGlcIjpcIjYwMFwiLFwiZm9ybWF0XCI6XCJQTkdcIixcInRyYW5zcGFyZW50XCI6dHJ1ZSxcImF1dG9cIjpmYWxzZX0iLAoJIkxhdGV4IiA6ICJYRnNnWEcxaGRHaGlabnN4ZlNoY2JXRjBhSEp0ZTJOb2IyOXpaWDFjSUVFcFBWeHNaV1owWEh0Y1ltVm5hVzU3WVhKeVlYbDllMnhzZlRFc0pseHRZWFJvY20xN1EyaHZiM05sZlZ3Z1FWeGNNQ3dtWEcxaGRHaHliWHRQZEdobGNuZHBjMlY5WEdWdVpIdGhjbkpoZVgxY2NtbG5hSFF1SUZ4ZCIsCgkiTGF0ZXhJbWdCYXNlNjQiIDogImlWQk9SdzBLR2dvQUFBQU5TVWhFVWdBQUJBa0FBQURIQkFNQUFBQ0poQmRsQUFBQU1GQk1WRVgvLy84QUFBQUFBQUFBQUFBQUFBQUFBQUFBQUFBQUFBQUFBQUFBQUFBQUFBQUFBQUFBQUFBQUFBQUFBQUFBQUFBdjNhQjdBQUFBRDNSU1RsTUFkdSs3Uk4xVW1SQXlpYzJySW1hcVk5TjVBQUFBQ1hCSVdYTUFBQTdFQUFBT3hBR1ZLdzRiQUFBZ0FFbEVRVlI0QWUxOWZXeGsxM1hmNHk2WE85emxGOXkwVGRxZ3BEZmQrQ3YyRUEwRWZ3SXpsZXMwU09NT3ZhNWFCM0x6eGdtQ09IV1IyY2FPMS9YWHpHNHFHNGhrRGVHNmRnQXJHS0p1b0g3QUdGYXU0aVJTTTVNb2d0TEt5YkNiUm5aYndFT29mNlN0WFhETkRidVN1Tkx0Nzl6dis5Nlo0WEE0WEE2NTcvMHg3OTV6enozM3ZuTi85OXh6UCthOUtNcXVBVFR3U1A2MUEzQmxMQ2RhQTE4VzRzVVQvWURadysydGdUOFJHUXIyMXRJSjU1Z0FDTVRsRS82UTJlUDExOEIwREJEOGRuK2VMUFdrYTJBTElQamhrLzZRMmZQMTE4QU1RUEJTZjVZczljUnJvQVVVRkUvOFUyWVAyRmNERHdJRS83QXZSNVo0OGpVUUMzR3pkc0llYy9yakoreUJEdnR4VHNNVUxCOTJJWGRhZmpjYjR2YW44cW9RTzdYOVpiSGN1WC8wZEg3Ny9vL3E3TDlFOVAvMlkzL2xrNCsveG5JY1VhQWdObytvNU9OWjdDUk13YkE3Q0ZkYnlJenJacEdlZlU3VW9taEtFbTVSL0FndjFHTHRDSXMvZmtXZlFiTVZoNnYyUDZjV2YrOHpiOCtMM1ZWSTZJcU5jVUhCS1NIYXd6M1RYWnFyS2NSdC90R25MNkJWKzF5MDkzRHJ4OEV3L1J2aWU3aTFDQVd6ajM2Q3lIMnkzWWtrUE5UeW5Tam5wSlNSUTV1OXdEOU1TWlQ1QkVVOWg1eS9xUmwrUnJ3bHdsNkVRczJ2SERrS1psRzFsWDUxejlKQ0RWQmJyb1VrSGZ1czZJdUMyVmlJTjltTXpaMk5ya0VCMnVDSWJRRk5lNVpzM2JMQW5ockFDRXBPWGZxNm11K1BBdXc5M0hZWnA4VHJXZ1lGMFpHam9JU0h1cEYrcEl6U1N3TlEyRTBtYmZaL1FwSDliQUh0Ulc5NkdUOVAvR3BFT0hvVXhLaExqMkhPcTNJV3RCcW9DdkdLamVqQTFKVjdvRVpjNVdTS2l6ZUYrSDh1RmtVMDRUUW95Qi94aUNCUFMyUW5wL3ptMlNNY0MvRnlrdVVzR25UN3E2MStLRWlhZ2loYVJDWnRDNDRhQmZWYnFQdWZKNThxaS9mVUFFMFJscEtwWnkvZS8rbFZUUHo2MklKS2F1d25qMnhNVU5CNW9jQll1T1JUWm5HcmdXbTAzYnFOQllGK0tHQ21Za1FhRHhSTWlzMXFkbUFpYU1zOUlqU2N0M21lZmlpZ0JjZlZSRFpvZmp4UWNHWW5ndGR5eEpQVmhITEdPMHJML20yK2l2MVFnQlpQelN6cTQ0S0N4UmVqTGFaKy9GTm1WR2lBVUhDWjEwUWZGSkQxVC9uZzhDbkh3aGJrQU91U0VMdjhVMlZVUmdPRWdqV0dEbElmRkpBbnVKek1CUmRqTEZBd2cxV3dCaVk1eWZwbDhaNGFtRU43THZDcGZWQUFKVFB6aDNnOFVOREF6aFpHSjhFL1ZVWmxOREFjQ2dxc2twdmpnWUxXU2hUTm80STE1bkV6RXF1Qm9WQkFic0h0dExqU1dLQmdqazVMME82SUhwN1M5Y3dvU1EwTWhRTGFoMHd0TzFNSEhBZS80QnJoOHdCSFo1SWF1aHZpUTZHQWRKeGFkaWJWandNS3FyU05STzdyNXQzUWZxTjV4cUZRMElXT2w5TGx6NFFvbVB4RS91TGJWa08yaDUrTjM1Q2tSVkdhT3ZtVlMrTCtqMFRSdlpkdC9vZWZ6VE5aYmJJSlRFdG5sLzV0dFdCSTJYMHZEUXlGQXF6SmNNdk9jOFl0bDd0SmMzbHhBYWVieTM0TnZnTUM1bkQvMnFkRlVacjZxM254NUNmdkVXK2FjdlBSZHdweE1TOTI5bXphOHpza25NWXNCNkN3dUN5VzBzQlFLT2hBeCsyVXFDajMxelNOVUREYmV2MXFOQlVIWHVTN3hPNy9pbkkvbWVpbWFlcVV1TFVLVVZmenNRVWJ6amgrTmNvOUwzWW9vZCsxSmZjU2FjdXozWTh0Uy9NMU1CUUtZdWg0elplU0NCTUtydCtxZ1hyZTc1SXp1ZzBmQ3RxU29UWjNONlJFMlBWMUpSclYvRU1LVmNORERTclIvODNsMnhTbHhUQ2QxVS9Od3J3R2hrSUJWTnpYOXdJS1p2TmxLaEFiMTNhbE9kY3kzWFBMMi94bnFIUDI1R2pITk9XaWVFbldINnZVVXE2TWNEOW5sVzlDVzZVclhIcEc0elF3REFwb3VhQnZZd0FGWi9RaGo0NlE0elFWL2FkMmRFQlAzVFNWWWFoMSsvK0lNeG9GYVB5Mnl0RGlKaWRHRnU1ZE9oS1A4L0NvNFEwWnluNEcwTUF3S0tDT1podUtLd01vV0Z4UUNTVzNlaE83M3RsMHhvQ2hObzJYaVg4N0tiTmVzVmhxN0xGTDFOSVdJRU1CMXpDOWFNT2dRQjR4WE8wbEVmUzh1SDFSSjlldEs0aEJmc1BrT1NPMmF5ck1VV08zSGFoUWdKNXR6amhpSVdEVFNHSHVVd2FkUUFHem9zSGt5RWpRd0RBb0lOY3JkY2JFMTJiZXRkcThkUSszdkJNSktGVjFjaHdFY09jVU5EWG5kZmVDWklPUHVhTGxvMndUOUVzMDRWTkdXcHdkUERRNkdlQitXQ2d3VFlVRi9XVlpEZmlKcGo4amJpSWNGUU9Pclhoem5ZSVZhMUFvcDNVM0xaY0xOSTBCYUprU1hGb1c2cW1CWVZBd3dJaGdKNUpZYkpZTlNlczROMXd0ak5QSVVZR0NCY081SlRPalNWY05wZER2S05tc0xiY2o1RjhuVGE3czNsY0R3NkJnQU8vUURNKzByYk1pSzFBM2NKQ3hSVDI4YzFUZlBwVGFZQWZxM0pHUnBqZGVTRkgrejJuTFY4Mk9uL3FLMlNNOERBcmtUTEhZUjNCZTJNMTlpNEl0NnlCUXhvYkdCRXRGOW85cDZaTTFCREJQTk1POUhCMTBHbk9yMkVFSE1HUDJ2cGtzR1FrYUdBWUZHSnYzV2krd0k3dEZRU0Z3N3V2NkgyUXN0UW54djF0enpRUGZ3aDBvTG5tamcyUFJvZnl5SVZWODVCaGlkdStoZ2FGUUVLT1pGbm9JSkhMZVdYQ0xBbVRaZEZubXRmUEdVdXVnaXAwL3RxNUExeC9qRzMyV0tzNjV1U2pBWXBlclhMRlppTmZBVUNqb29KWGF2RHhKeGQ2ZlNRVUtsaWhNSG1XWkF1cEM5eWFEelZPcFRuVDlqc2JCbHUvdkF5SmxMU1IxNjRvTDVzcjd2a1NLTVNPRUdoZ0tCV2dXTTk4UHBIMVJ4eGdVVURsRnh3eHcwTklRVDQwV3dVelhUbG5tV0VUb1I4M1ZDbXlLazBpaEF2SjRWNWlZeFhwcllDZ1VkS0hxSlVabVhGTkVCZ1dZRWlaUVFPYUNwMFpUNk1ueTJwVUNtenFtYjl0MnFGQ2wyZDlKOFk1dm1Lc0Q1ZzJia2dYNmEyQW9GS0Fucyt1elptYkFvQUIrdnB2enEzT0JxQmhQamFLSGRJT0wxMUh0MGFMOVZvcnNBNTV4TXdsNS9MUVhXbXlHTEtBMU1CUUtxQXUva2xiaHJKa1pNQ2pBZmdHREFwNEt5VmNMR2dmVWtvT2lZTkVzSENJUEZwMTcrdy9wcXQvbGxLRlFRQXNHNU53bHJpbmpFeklvb0Y1ZmRQendEbW1CaDZkS3RtOC9MWEd3Z2doR2hFRnNRYzR1SENJUGRwMzhPWWtVbWYzMDBzQlFLSkJ1V0ZyaUJEbDhkREVvb0NOZ1paa29mK2JWUkk2bmFyYlBWSkhuSlVRV0I5c1ptckVMaDhoRCtGclRnckxiWGhvWURnVWw2TGljRW4xYW5mQmdVVURsZURtQUFockVlYW9WL0R3eUlWSmh4eC9MWlFJbHUzQUlDZzFhbDAxS2R0OURBOE9oZ0ViZDVaVGt1ckhiakMyZ3ZZZE5sd01vb09WQWxwcDd2ZVhyeUV4ZGY5WElwcVVDOGJwSG91ZEsxOUJqeUlLZUJvWkRBYldlYVhJbmJHdEpoeGtVWUpUd0xUUWFWaDVKNDZqVHhzbU1JbmlQNk5DWWtqQmVpQ3RYaFNaODd6TTdmcHBVVDkvNGNDaUlxbHpEdE5aMFVSd0trTVBybXhXOTRNQlJKejAzTWsrWllOMk4zOW5uV2VwdXJ3RmNoTk9sUHR4TTBzOFZHZUlZa3E1dmpyeFNRNktBVmd4V0U1V1pOTXNGbkhkSTc1VlljaG1hZWdtYW8wNTZBM3FUOXFWcFNsSnplUi94d280YWRZSVh1MU9lRzE3cTNzR3oyeHQ3TTQwRGg3OHNNcUw2RElrQzZtcG9uK0E2US82OHZEaGJBRmZpQlpNdTM1QWhkYzVSSnoyNFZPUktkU2Z3S1ZwRko4ZUY4RW9yRjBFSUZmVEtDNUw0U0NjOXhQR01SMEw5MHBvdE5oZi9sZzJQS0xBUEZFeCsrQTljb1Z2K2JxOGlMMXF0Y3lqQXhwR1pRc2plcmV3M1I1MzBYSTZ1YUVONDE0ZWM1emE0NmtUUnRjU2dBUlRzcTFsUGUrT1FMM2M4d3JQdTBIWVVYZCtwamJoVyswQUJyUGlhTFoxbVlwczJSb0ZKTnhQa1VJQTFCamVmUjI0TkdZWTY2WjBtYU1nZGJFeis5ZDhiVU01cDNsUHMrUE5Fc01WK0hxcmZIbGVMV1F5bExMTmYrTUNqejE2NnZFZnV3MDQrTGJ6cVRZdjNqYmk4L2lqWTlFcWpYV0JQMDlVZ0JyNnU4ODVZRkZ6ellOTzFpd2NNRlFYVlRMa1Z0U1VVeXgxSVJXeThiQkw5KzF6U0MyZ050c2hnWk14NENEYzBlYS9nc1k5KzZhRWlsODlNeFNwbWVjNFFEbnJ2ZzRJNFBFcENhLzVlNlVsak1KdGZ0M1h4OXZaUFdhY1Fyb1J0djVaOUtJWUtGTFNOcUk0cThib3pRN244bWtuMDc0dkpyVzc0RXRaUDhSbDdoSnZlVGxUQU1oNG93RDg4dkZxZGN3cnlxQWNJOWtGQm9ndlF0TURmck4zQ1pMSG1TcTY0d1FySFIrMlVmOTdhZml3Qm1xRWJDR3FibkdrcVVHRE0zN1FlQ1VBeVp1aThoMFFqUXk0WTMzQXhDc1hjWERaazhXS1Rab1R5YUNyNDM2KzA4RGhIUENKQVlRRktZK2RpcFNvOERLRTNDdWlqU0svVW5FemFuL0hQbVUzSC9sY3l6bnFyQVdRbUZuVEdSZWRGVHViTnR6czdYamROVTlIa3hzVjR3TmhwdkhkL1RVck14ZHlZU045eXVGblRSY3JibHlIRXg2eVg5cXBBb1NyaG10ajBPTUpncm5Ea0tPZ21Wa3k2cVdsNldPWDl4bGdVNVA3dGxhZitCcWxSN0x6am1ZOXZLcG5FR2ZRSjJyRDVUVjNlUk41WXJPa3JIMGFUaU8wM1g5bUl2bmxGU3ZtaEsvOVVzdjJwQnNmZnNhMU01QlFWS09nb1l6NGRHNm01bHJpNVN0eUx6dVJRVkY0L2NROVZUZXgrMUJBZWZsVFZmdmVaajh0TWhpN3Y3d28yTjNWU2k3VXdPckViUG5jZzdjNUVDdDRZU3lWT3BLYnBCNnNIandKU3FyMldkUWtGSWRUTEFVeUpaQzFlUTEvUHl2M2ovSFpaVS9FWE1uMFZhYVZJWGRxY1kzZm9vNy8yM0YvVTd5SXdZcExVU2ZHOXlmeXIwWHpQRmF4SmlmQm1sTjN2KzlaejFRQ0hXb0lweGM1Qm1vWVNyRmNxN25jaXJXeUtOdmM1NTdJWWtuZWZQMm9Va0hXMFk2eXNXRjUxRTYrU0J3cjJRTUdGKzU1UTErT1g3T251aWRaNzZ1dEJZUVFEZkVudnFkallhNlJPaVFzWDczL2k4VXNYTVA4dWJaT2MreTdremFBT0FORDFSNEdVS0VHZGh2Ri9TTDYvUm56S01VN0VNdXRiSGNXR1d0c284YjRMYm9LNWhUcW9ncE9HZnZLWFNVclpadFdCT2djdXkzVGtLSkF1V2MzV0I0R3QwUTRKTEFyODhvTHdmSWlDNkdwTE5nMjlxR2F3Njc4OG03LzQ1bUtTTjZUS1BjV3JUNHVMWC8rZ3p6ajdnNDl0UC9uOVBtVy80ZHdYLzUycWJqbVpzeU5xU1pJWHh6em5zaGU5ODhGRnFqYU1vN3ZNaXgwYzVVQ2gvYUdndnB3b2pMNndLOTd3NlZxQ1BJN1JTM2tGQWZ5V0UvV2JkbVlra1NLalI0MkNuS0JQVkJiOXFrM1pPWk5QSFRxOFB4UTBqclpQRFAyVWxORmlJSTJDMHozbmliTEVvMGJCalBnVlZINVQxc1g4eE5ZSk1wU0QzUGVIZ3NyQ1FjbzYycndTQmYrZ1FMZHlvaWFOL2hiL3FGRlFlaVY5Zm03Uk9jNkpoeGttU2lmL0JtL2FhbkdZTXNZamo5aSsvL2MrU0NkWjB5Z29oSU51c3I1SGpZSjRoVlpnUWpOYzl6WmVrL1hkZjN4L0tNanZ2NEF4eThHaElHY1hOZm5LSGpFS2NJaUtMUFp5VUxtWmtUb0crMExCZEwrMWxhQ1NZeHZoVUREaExXVnlGVDlpRk5SdnkvOXpyZ2RWbS9UM2RJS1VZU0kwNHBRSHpYaldyTzhQbW1IOCtEZ1VuT203WmlSZnN4K2E0enY3V0owWHVQTnp2ZGJIaDZvYjdRNnNEcHJ6Mm8xQk9jZVdqME5CSTdrZm1hajkwZG9DZXIwMzdjOGxkRi9BMnRySUxqeGh1RGJaVDNKMWhBWDNLK2NRMHpnVVZQZFE2TkdpUUw3ZUc2MzBRcWlWclZGdUpkUVR1MVZoVVdGc2Ryc1dFbzVoakVOQllrVW05VlJIaXdMNWV1KzhkemhEMWErN3Z3TjFxWWNLQ0Z2N09JeHgvdmk3QmR4TUVYczFnVXBTa1NORmdYcTlkNXc2UDNmR084YVpxdkYrQ1lVVXlIcExxQzczVGpzdUtZd3RPTGVYdTMya0tEZ3J0empRVElrdU9CT2VPem1RL3NudFdCbFF3dHdKR0JBNFczQStQVkY4K0tsNCsrdDJoMHlqNEc4L3R2M2VmeFBxS3ZmZHg3ZS9scUJob3oxTi9ZbDc4anRmTDBhVHI3SDVjOTk5ak1scWsyMmdJWThWZGZ3VDNESU5Td2lXNTZBQldpN1lIRkJJNmNVQkdjZVpqYkVGODZrRm1KK0ZWbkNaWFd5Rmd1ZkZkbDZJdis4LzNGeExpRmlJMTlkOFlwU201djZsMk1YKysvWm14UjV6bXNUaDYwdEN2Q2ZJeVVWYXNwT2kydTV3cjJURGdjMVZqbjhZR2g3UUhBYmNNL3VITnZaa0dYOEdCZ1dscEorRjAyci8vdGMrOTRHV2VJdDZIb21DLzdHTlB2OXozb0ZKbkwyUDZZVjgvNndUanRBTXRTTG9zRlh1VlR0MjdKa3RpSmMyb29mejRxZjJVSm44THFEODgvN3RCT2ZnM1RlUk1SMWRkTWM2MDRrbmtjS2dvSm1ZaW1NaDdUL1FvK2NXOVgvV0NBV3orWThScmVWM3lZNXF3NXkrVXpxdU5QV2MrSThteVN5K2JvbmJOZEJRVkZrbDlmcVYzd1dVZjk0M1dRMW5MTm9tZU1BN3VRWHJCNVJ4dkxJektDZ2tQS09DME4wdTEzcXRmRGhDd1hWMVhLcnUyZUVIRFIrRzZLTFZBa1BkTXVaMnh0Z0NETVJyTWtjMU5ScFpRU3BRZlZuZUcybWIzUm5aZnRJTVVIQVM3SHhDZFgyaURBcmsvNkpkRnZ4MXNxMWlqK2dqdFlTQ3VDaHBVTmlLU294bVhXZXNPQWVlb2ViY0g2dGkzYUdyQmtBb3JLLytaL1dHYnhjTnBjczF0MnJDaEJuNi91OWJxUW5JL21VY3J4d01DdERHL2pOMGpLZEU1MmhybEFJVS9CUHBxY3ZYZEtyT1NXOVZNRjJjL2xwZkpFWmNEUFdjYTY0dGhRSkkxbGlDajdldU12Sy82cnVBNnJ2UkNZNUZZV3JpSmVTKzhMZDZYVDNSaGpvWTNIdVNUblF3alFMOHgzM0JlMlNZOXhkVmxNNThsaWtJRlB5K2JqVU1vUm9QR1A5ZEs4UkNqUjNrRmFTbzNobkJlWVdDcmhZTTJRVm5ScWlvNUZYUi84K2NSMTBTelZoeEpzYmx1Z2ErSHBlcHQyUFdvZXVKdjd5a0dFNGVJWTBDTEIxdWVzL1p0VHY1ZGFoVDRnTW9zRTZjbmJFQkxjczIyNVlaOERscTNYWDMwd29GTFdkRzNGK3pyREEvWUE2QUV5S0xmZ0s5Vmo2eGprVEpKZkQxdU93a05SUVR6ZWI5SjBra250Qm9HZ1dCYnlmZm9sdFV6ejRQZFpZcENCUlk0NTgzUzNaMWh3eHBzQ1ZueEZFYmJrUTRKMUdBQWNGMlRCU3lTbVh3bDMyOU4vd0hDMFROMmswdmR1RVZRUGtlR0JEaTcvRkZSREFGQ3BzOTBrOGl1VWxhS3Z0UGhrSGRhd2NNa3FiRmFkTjlnemlCZ3BkTUR2dnZhUWd5TlBuK3BSVVo0NmdOMStaelV0OW9VajNveVBjeVhuWnlrcUd1S1pmYytJVXdkVjdjRGduRHhjajdhUStYOWZqbVNxTUFjM2JaMXVxWm9HNnpTQWRUcVd3dVVHQmZueEJya01CQjhIb1FabjZTbGFYV0hld21aY09WaEp2a0FZUHJ2YlZaV05KcGRCaG9MZVNiOXlzUUp1MG5WcjNySmdqUVRob0ZhUGVhVTl1OHA1UTUvUzlIb09BRncyRlFnSEhFb0FWSnNDQVNFeXdWMlcrWkVuNmM1RUR4eTNTbkMxM3hoZ294djFQV2FnRm15UjQ3R2hSZ25iVG4yOFdaR3AwUTBsNG9xREI3ckdoRzIxSUdCUmd1bEtHUWVvRU5rRkJpcVhTQU9QanpWdDZibThJM3RhTkRTc1gydTRBRUZvY2N4VGR2aDY1VXZzRUpaR1ArY0hEMms4S1pSZ0ZhcnVhZXJ1cTF1S0VDQlVzbWJGQXdINkNBL3ZKU0JndExKWWdJOGY3L2JVVFE2OWNXVEFSV3hJNDJobWJ2OXJ1QTh2anBpcVhMd0NudkRVRmh5dUN4U1FEeXR3ZG5QekdjYVJUQVYvT2VMdlphM0pDQkF0c0NzZFo5S2R5QWdUYmJZT2VwVzRRQzJBTzlCWTFodzFwNk9sR28xcVpOWWQ1OVZteWJUNzljUUo0bEx3bkJVYUJnUHJGSkdwWndjbU5OYW8reS8zd2hDcEJxVzl4d2NTaEF5L3A5T0ZaT0hrK2xRVjFlYWx1YW91ODFuMzU1ZTJoVFRKSHlUcE1VNzdvUkpHS1Ywa2R2bURab3JDNk95MHNlQjMyaXdmZ0dRTUY2VWhLSEFzaEpvSURBdzFPam56RnQrVnNrbXZ3RS8zcGRzandUTDkwMFgzNzV4amVRd1MxS1NvWlIyQUk4bVhWY1RhbDN3ejJOZ3NBdm9ERjdPYWtIRGdYVjBLdUxsVHZCVXlQc1BhdEx1dU0wOTE5TmxzSEZZNjhtK2JBOHNKOGFnWGVZYTNsTElWd1ZUaWd0allKZ3BqZ3dDdEN1dm04Zkt4VHdWQnhWK0FzS0JUTFBvQ2lZOE5jeDBGd0ovMkVVS0pDZkp2aXBFOXJVZlI1ckR4U1FzNytlek43REZ2Z2pRbDQ1YjlWd25OQlVramY3M1JpaVpmZWxFV0VRVzFBM0M0ZVV2NUR5SDBhelh2QVFLck5BQmR4VlZ4b0Y0ZG9obExLU1ZBaUhnc1d3Yitwc1BGWEp5LzA4bUdnQmtMekRZcklNSnQ1WjhvalZsT21lTnpzYUh0Y1F3UW9tTDdVaDhoM3JMR2tVb0dzVzNTUEZxUm1aM0Vld3lEQXp4YTBVQ3BZaGhLY2E2WGhERnkwLzBRclFwcUgxdm50dkZBWVQ2dTJ0VlZLdXVyak5aTjczK1lKWlBQSDdHRUVubWdSdEptYUthSlN5ZStRT3YycVVRa0VqdE5BUWVobENXT3ExTlNNZUhnRVdISU5WSTVPVXZwK1JhOUtHdnBVNkJNRHVLVjVEUlhwY2RodlRpTlQzQisvQ05lUTBDckI2dCtrVVV3bTlQcG5BalFpZ2VjTTJOV3dSdkN5MWdmNnZyNDdzMExGYVlqTEVIdmRGMy91a2IwY0ZxS0FWS204SjI4Z285WUFBeUwzT0YwUXRJZDVvOHQ4bDl6UUtzSHEzNWg2Kzd1MzlHeXFIQW5nVG5scGhUK1I3aGxocXlibVJwMlFtMU1IYUZsTkc2cDRMejhFMWRBbU9qejFyTk1UNUF2cjA1SGJOeWIwYlFta1VZRnBBeGx4ZlVJblh1dE1mSXpLSEF1d0NlZStYZ204aEIybVdXbklEK2prNVNlaDZlNVRZaitSM2MyYkNsa0dleEZJaGUrN1FQTVorN3JuOElLamNqOFN4NTJWUUVQdHpRN1NqcCswenNodHpLQ0E3V3JOUEMreW9sVDJPV25Kd21aSm1YYmtISnZONVp5b01pZTZsME43UG8xNDFQejJxdW8zT2dMNy9TR05mTHc3ZnYvenh5OEdnb0JEczA2QWRGMnkxUzNKSVoxRlE4dm02eHA1dzFKSmJIWmlWSmdOZWhEblBoSkk4dDhHV2kzV21mRGhvRUFwV3ZYUmFRUWc1Z3NSOVJXanFXdDVYamdUelo3NXlDZThvL2I4SmFpSTZIcDhiVVpWaVVMRG96cENBcCtGUEZUdHR5c1dpQUF2UFM1UW9MMGl0eVFCSExia1JaMW9kUHF2Nms5TkNXK1pNL013azJpVjkvRFR2eENieTdqc2FDM3VHZXQ5NWtlRTdRQkZkcjlub2w3c2llUzczWTdsamFRd0tHc0ZhTUlaNE82ZWFWdDJQUlFGR1UydXowYm4xOGk1SExUbVVUYW1CQTAyNmJwNTQybDhuTmtSYWVYQmhDbUhNOGFjeU1CWUg3TCsrK0ZJdzRmRlRCZ2pucWtMOHlDOTg2NHUvZ1ZsTXNRLy9tS05nM2pVblBVVEJtZDR6MHVXanN5Tkw1dkh5MWlsc3VQT0thS0kxemNCUVM4cHpKSVlaMWZvNDBXaW5tZGRzU0V1UXR3bnBRSGdVK0JLMkRFbkdCTGR2MS9QeTdoa2tpTlZZcnR5ZjNiUDl0Ujlna3d3Ui9lcXRNbndWTUZnMTFQVDlFRDgzOHFHZHRYUjUvU2lvYzdJVG5YYXRSRGtmY0d0cCtoT05kVzhseWVrTHM4TVZYVkxUU1dDb0pkZUxHM3FaRXFTeXp0dGExNEhnVnZWOVZFcWhFYUh0czh4Wk9QclU0Y0tvZEFneEkyYTZJUCthLzlNbXp0enYxZi90UmRKbjl6QXBPVWk3eklnNEtBbnpjOC9QNmkvdGxEeTNnK2NWUW9ZdUd2WnpDWDBXek5HTHMvcGNadE1ORXVSSW1RZTVWK3hzU0Jub3AydEdXSlNtb3NuTmVCSHJqajl0amNFRE96V2IxUVp5cjBJeGI3RlJCS1pib0tocGlDYlBPT1Q1ak1PRjg1NjE4eVJnUi95bmE5Rm5XbjFPcGFFRjlETWgzK2VGK1JxT0o4UUxkcDN5UE9xQmcxQ3cxd0Q5eGMyRE43Z01PeWFIcWpVMUFROG1QWVBwK0VWUXZtUys5L0twYU5aK0JtYVZXTEVDTC9rbVc2YVZlU3BHQkYzSmYyRzc4NFBhakU0d2EvaVRYNGxsUGI5ZUpubTRjdjlIZm41R2lDZXY2RU5ySUo0S3h6SEpPUFJQTTl3TE5YS3Vxd2VjeW9jdWlVbkduYnAzMmNaenFIalJ4dElCTklIcFF1bkU0U2xWcUd0bHdPdzlVWUJsbzNJZzQxMXdkOS85dWIvWnVsa0R1WUlpNVBYbjhnaW9DaXQrN0E3ZCtvWFBmU0FXdDRuUlhDbHFTU3pjdS8wRFFNM1BPcjh6ZWg1dnluajM1MzQrdVVWRVFteEZsN1JJMm9yV2wxdlJhamlmVTdNZDRGWks3VldSTUZpc3NoU3EwU0RENFErR1Qrb3E1c0lVU1pzOVRXbVZUUkxkOFdTSGdZSUNsSFBETDZkUGVGNSt1RVYvQXVZK2ZDM0I4blpzRjlXazcwaWQ3MjVTdEdLKzkwSW9NSitCS1ZNSzlvaGp5WGg3UTBYMWI1TGFlSWtPRzlIN2EyNTVqT29ETWVwalVFRjJUQWZ3aFJsOG84WnFEQzdBaGZ2VTkyZnN0Q1JhZE5PTU1Qc3dzVG83c2w0enFJVW5XbWJGSmpzL0xVTUduSEVRdzJUck1GQlFSU3Vzcy9YYkQ3SGtwZ0E2MjhQUDV0L3duNzBtNnlXTnZ0L3kzbzhrVXhOVTJsUE0vV0M4ZmY5SGF6NG5QaER6aHQ4TEtIN3FudUZDVHl1OVo5WTBBMDBTMHRTVzFlMWkwT01kSi9MWmFiV2tOa0xiRU9YTGpsa3V2QndHQ3Jxby9hWmZ6bERoVThGQjBxRkUzUEZNV0M2b2phNVFtb2VtUUE5UHVLaUxPSldjdUdwNko5a0prU2M0MVJ4YWhrT3lCVGphZi92Z3VqZzNDaUVIcjhhK0pFeHdIc1crSlBqTTVIa1VmUUtGdllPTmFOeHlNaGx4K21kRkFqeXRBQmV6WWJaRFFrSDBwWGR3dFdNcTNJK0VmdFV2ZVN6VHp2U3cwY05WbHBwek01bTE2YXc5RmtlWGtzbUlkOU9kc0JHTUVYTjNCZ1ZNMVlZZ2RjTEtEaUhoam1mcDJqRjdGRVd6S01oN1FJdlpRYk9RV01OQVZUQkw4TXhEWWpma3NHekJLRlJBbUY0ZmphQTdKNldhdHVBSEtKeFFzSkRJajJXVUc1WlU1UVpOY0tUK3ZCSFNUb1hkYTd4UmNOWkR2WDN3c1E3ay9MTXdCNjhwaHdKNGpLNXZMSEtESnExcUY1T0ZZNjdvRGt5VWpoTUtScXpUcEdJT0lYNXV0TGpsVURBdnZHV1VDdU0zeUFXMTFMTTEvY05haGVPRUFwenpYazA5emxnVDZsNExqYUNpSEFyUThKZXQ2SVlQQ1VOdHBaMUQ5WDR0bzh6a2F0TjRqd2pZc1d1YlJ6c2U5K1lvVnd2VWxHOGg4ZVRvMUd1V1ZHY21DV2hqWmk5akhsU0RIZ3daWlNzQ2dURkh3YVEzbHZuVkh0ZndMS1ArZzlTVnN3WG82UTRZYU5zWGtnWFFJc1BMU2FLY0pDeHBhdWQ0b1NDcXVoT2lxZWNhUThKNXozRWJSZlU0RktDTnkxWTJVT0I4UGsxRnovWm1FWWFWc0tGWmFVWFNpUUREbU5zQ0RBbkdpcG1uR2V2N1ZuaE0vY0IxWlZDQWhTSnZBb0QyYzhjSWRIRmRjS3luaXFZVEsrcm8vVlNNWU5sbjBDaGdQamRDR3pkdlcxVzh1Zi82aTMvNXFjZFdzS2Y1eXhmZVZ2UHpzK0hjRjM3eDBhY3V0VTNhSkU3QzN2K1JLTHJYTmFndjNMQ3g5OW5SK3R4c0dhTWpldS9YSG8xUUJnVTA4ZGZOZ2pJd3d0OU9GclVGRHFkcWswcmVBcDM4bWYyekdDRjlhVUVLQmN6blJ0NHB4TVc4MkZtUVFzaUUwSUdCWEVGY0VEK010MzVzWDd6L2lTZnV1eUJXcHlqMCtLVUxWSlZGYkx3K2NTbGZKQU9EcXkyelJ0R3Y1c1dUbjd4SHZHbktyV1FFd2pWYmoxdUZPL1BUZy9mSXlhZTlFWHNrbFdGUVFLUU5LeHdvY0VjYk5CV2p2dWMvR2xZc3g4dU5Mc3B2THg4RnpPZEcva1NJcjBhNTU4V081RE1vK1B6dUI3RVN1ZXJlL2JKS2RvWXVpUUlWVEtCZ1N0d2lHVmZ6c1RWVG9YQlRUZjQrWVhQeDZXTkZyYnAvTzQybVhnd0tzSUVVb2lCMXRDOEd4MmE2ZkdxZEl0NGVmK1hLbFlJUWI4YnR5cFdhWWlOYndIeHVCS1hMLzJkVjFSR1ZxVWQvSHlKV2N2a0YrcWYyZWpUNXlSYmlZdWVaamVtbkhxUFFEMzBhNHQ2WnArRDdONktKUndzSXRGVUp6VjJGWExma2xSQ3UySHIrTmxNV3J5ZnJVU2RNT0dzM29xb3dLTUM1dXhBRktmOFpESjduWUd0Q3JiT3BZbHVNWDhCOGJtUlIreHdvc3F3eTNnc1VuTWFwcFZqN254MkFRTm1UcHQydG9qci9rV1NuRndhMVpXak9uanpybUY2ZEZxNks0SC9QTWRhTjV6eHlhbVhrZ0dWUVFIWlo5U3Q2WHVZWUNybVBIQXBpa05lVWpqZ1V4RVdaQnZFcmlvaytHOVJXd1paNFdRVXcwVmpaV291aXZKNmdZa0I2UmFVZ1pQSlY3SjVuM1VpbzJ3cVp6eEV3d3BXZ0hyK0x1cHdleVkvRmN3VUFBQXF4U1VSQlZPTkRubVo4c2dQV2prRUJodVQrS0NBMzBQTWZiUTFhSUxkVmpFRUI4N2tSOTNHQWhqbk1BZ2ZnZlRRQ2RYU2JvMzU2aW9LVUpTVWNidUZsRzlJbE51MFJnVGx0Q3hqaE9oTi9tK0llaVdjOVdtbzlQT1ExaXNvTWhJSmFXQkpOSWppVkVRcVdGU3VEZ3ZUblJtQlR6SWxWSUc5VDVvVHM5eEN4YTZ5Tk94ZnA5cnRQMi9WVEdJaTJ6QmZ2eWh2OUtCUnd3aTBMRy9qbUJrc2VPK0pEbzY5bkR4VFU3TFBUaU9CaWtpd2RkcVlxL1ZGZ1JuNGMvTll1TGtTdjZISWdVZ1ZoWis1YkFuSDJFLzlKSmNFbzZLS3F4aXBFWjdSNWtPTlZtL2h5eHBZZ1hGZ25DaWVjNk5uRmFJQkJRZGp1WVV4S2tDaFlUUXNqRk1nV2tLOTVLdnNNbUNQWW1ZYjkzRWpGVzZrMloxZHB0Rm56YzRKSnh5djJQMFJkN1VRNEZDQ2J6ZFNVZGVDRVc1WXNFR3BnSUJSc2hIbDZqUWd4V25CWnNXNVpwMS9GZ1FMYmYyUFRiMXZldUZMUUJvSlFzT29YTjIrc1JGUzFLWXV5bllrTEdHM1RIZGtXNkU3WGxremxoS3YwN0RlbGdSNG8yTENNakMyUUtDaGFEaHVJMFlKdEZXTlFvTGNZYUJLb3pBTEV1RGxvVTBNRHplbUlKQXV1L290S1p0NHVXTWFiaXVKUWdCVXI0MkpFcFRaU1dlRW1WM1pQYUlCQlFYcU9VQXN6VVgrMW83eVhoR1l5emp1RGdoY01wMEVCMnRldFNsYTBTWWRzUjZRY2FFN2xSaEQybHFTTVdlZW9HRnRBTTh1UHlVVGtxQ0hBQ2djOXV6Z05ESU1DZWsyc004Qk9xa2RtVUhERE1Cb1VZSlJ3SzZFbGJlNkJBa2VVT2N3YkEyWmVNZ2RoenptY1dCUTBVZmp2MWt3UmNoUFR5VEhDWFhJV0NqU3dKd293RjNPT2w4NmFCMjB0RUVNUnVaaFVWdVN0aExGQWl5K3BGRGNpZE8xaUlGSWFlbVlJRkNSV2I2bzZaZjdsUmFFV3pVNVo0Mi85QXZxRUhSelFQMTQxaFhRNTRTWXh1eWMwd0tBZ1hEdmtVRkNBeHRzSlFkSjIyMWtkZzRJVmt5SFdJejk0WEhPaUZjdkVBQlE0b3N6UjBHVlZWdEN5aW1MTmlrTUJQUWRkdjZOeHdBcVh1Yk9mdEFZWUZHQkk5ZHgwRGdWTmNOaEd0VEpKbFBIczBBaGxtNEFBYklITllGQ3dpTTVyUGhueW95MjliQVFVV0RkU0NVQUZaS3NYRm1EK3BkQnFXNlhnMTQ0SUVhVEphMGV5VURRdDNHYkxBcUVHR0JUUW5xTHVVZUJGSTlpWnZzbGFBb2RzR1VPUWQwS1BNdG5zZWtFS0JZUWw3MUl2RGttakFEc0xaQjF5WWdOMVhhYVNjTFRBWEE0RmVOV0N1blpybE1nS043bXllMElEREFxSUZLREFMYzdxelBQZzBOTTNUeHhheEk3cFd3UFlnZzRuQkNoSVNJYTdRZGpDWjBreEhhU0p4cVF4T0FnN0ZFUVBLUkFJOFRxcUV5dWNFcktMMFFDREFwcVNGUzByYkxucDRKWkdua042UzRPd1lhYURJMFJCMUpKTDJPZmhOQllreW1hYzgrK2pJTHBhUUFYb0lnaG5LTEN0TlVDQVFRRzZveHAvWlhhMHJWMzFNL0pvQ2RuTjFneTFCS3EwMkNBTWdvSm1xdHNqWTlvVzBCQy9pYzhCQUdBVnViUTA3eGtMenhZZzg3ZWZSaFdVQjhJS0IwdDJjUnBnVUVETEFadVdkejdsdENNcER4YkxZUUpWRU1zNnN1V0NrdExETzB3NGdtQmxVRkNYNEZvRXdGQ1hHckN3SkVYS254QUZVZlFacWdTaGRqSGxaYnBNV1NpcEFRNEZMWDlOQ0cxZzkyNXNadWpZQTRvbTV6MC9ja3VqNEp5Mkl4d0tLczZOc0lJNUZHQXRFM1lnTHN0UG15OWdYRmh6N0VrVVJQVGFLQUlvSzl6bHkwS0JCamdVTlAwMW9RWTNIYWhEMWV1QkhMVmNZQmQ4dGdaQVFaZHpMaGhiZ0NwK0QwdFNLQTRleXpwTkZsekpCZ1c1MTF0YVJ3S1VGVzU1c2tDb0FRNEZGWDlOQ0pGa2U2c1BRSG1qc3hSSkx1T0tFVDRJQ2pBSFRmbWRuQzNBMUdBM09pZFo4N0JMYy83RTFhQmcyZzFRcU1kbC9nQzlxVngyVDJxQVEwSGRiL2hGZjNpd3VlTjBDNkwzdWFuRklDakFRb0Rmb0VvMll3dkkzOTlRWHlxZ2d5Ym4vZG1KUWNHa0t4cE95N0w4Z0dsYXVLMStGZ2cxd0tFQXFsMnlYRlc3S214SkNKVFE1RFdmRUVWZ2RGMTdFQlRRdm9NbjR4RVo1bEJRQVJBYlMxUmFBN2lwKzI2S1F3SDZ2NzZhWkpKWTRZWWp1eWMwd0tFQWk0ZHd4L1JsejRRWWdyeWpINHQyUUVIemVTL1pSOE9WS1hsR2Qxek9PNlErdmtsTTZtb1Y2YzZoWUI1RFRWVzJNZ2FSVlhmRUJPd09CVXVVVzE0Vk9ZUnh3ZzFIZGs5b2dFT0JmMlFEMDBiajhrMSsrQTljNWxaeUFva0c4bFljRzdxQnordXRJUllGWGMrUlFQTkw0UndLTU5LL21GK2xaSUJ2cmJVcEdkV1BRNEZ6VTdvU241eHdMMk1XOURYQW9RREczZHAydU9YR0xqVDlxY01EMkRtcStZS3FBU3pRQm11VWVrWTNEb3NDYkR5NEJZUFRxa2dPQmFqRHJsbzFocDEvb3orS2VMYkFMU2cyNU5rSFRyaGYzeXpzYVlCRkFkclFzS0FmTHFndzJzTGI5TVdISHV4Q0lhVlRxbWFrS0ZwOW1lN3pHa0lzQ2lKL3RHbW80UjRvY01nZ0NYU2hMTDN1MEJLN3dhS2xzd1VPSEJVMWxXU0VLMm5aYjBvRExBcGdlRGMxWjkzNjhUUVQzSFg1cjRlTHlLVnc4bytldUVTOHBSV1ZZOTV6T00zaG9TaUNqRFdWanE5RnFSRFFsRVpCMWE1Y0xmcElSRmFETm1ScmEwbFJSOVdTRVc0NHNudENBeXdLMEVsZnEvazZ0bEZvNFBjV2JHWmozeGpRenNLbUo5bzBabWRORWV2ZTJoTllhNG9LTHUwM1JPYzF3RkFmNDRjb0h2cHRXQWZDbDBNcFFOYzYzU0hKWkp2V05XYUVFMmQyTVJyZ1VYRGRPQVpRcGJIeldNaDFFVWlDYmRqZE1CSVg5WWF1aVdQN2p5eTNQU2ZhZEthQ2ppOWMxbnlmTjhZZ0Y3OVBrUjZFdjFIVXFmWUdBT3Bhb0JKdFMwWUE1VXJUZ1hxcVNRbDk4V1pOY2FTRit6bXpzS2NCSGdVWW5kY2tVOE9kQlNWTzIzeVUrTHhyMlM5anJhQW1NNWlmYTFMQ0EzSTQ3LzI1a1Z4THFDOEVMTzVROXJrcnoxSWgyKys0OGxValI5NHhRbEV5TGxTaUtBUDA4MDMxR1pNZmVhWkl0cUFqeTRxbVkrUFpKb1RiYkZrZ3BRRWVCZmdDanZTNVllalhiSmFDRVBtMmplSDBUMGZRWjNWd1BZSlZ3Q0lGM0lVQjQrYTd2NTFmSmtxRm1wWXU5bk1qdTkvM3JlZXFDbDdrZXFncjlBMW1uVU5pejdSQmJzbHdMd0FGMzV2TXYzbzFpcDRyR0xNQnlPU0ZKOXpWTFFzbE5kQURCV2poVjI5RVV5M3gxMTJHaWRaNzZ1c3VDbnNQR056OFM3LytkMzhKSUNqN0NSVCtMRFdSNnBZRGZHN2tyVEw3REw0U2doZlg0QlUySVFxaWxobjBvNDZiRVVZbCtvd0pjUzlndFdHTkRodmg1VGppVTY0bUU3SEVpUkx1eUZrb3FZRWVLSWdtQzBKY0V1TFZJZjk4Z0lJbzkxZWxsdkdaSWZUQzVQWHcyL1B2WjhoSk52cXd5SlBmbjZRbTR2ZXVHTUoxN1QrWXVMN0xQY1dyVCtNN3J4LzBVd1lTN21lNFM4T0Vnalh1MldlLys5ajIxLzVWSXFXK25DRFFGM1l2N1BXRjNVU2VMRHAyR3VpSkFyYW1qY3NzT1NNZWN3MFFDZ1p2MnNyQ01YL2NyUHFzQm1pNVozQVVWSXVza0l4NHpEVkF5eTJEb3lCL3pKODJxejZ2QVRxTjBlYVQwdFJwdmN5YlRza294MW9ET0VzUTdBMzJmWml6ZHRyZWx5MUxQSFlhQUFwdURGcnBhd056RGlveDR4c1BEUlM0ZndqMXFGcDFyVWRDUmo3bUd0aHllMEo3UGNsc2VMcG9ML1lzL2Zob29CdWNIZWxiYi9yRGFIYWRTQTNRNFpIaVlFOVdYUjZNTCtNNmRocWdaYVBCV25jdUd4Q09YZXNPWEdGc3hyNDRFSE5wTUxhQlpHVk1ZNllCdUllRExRWjlhR1BNYXA1VlozUWF3R0Z1Zm05NWRFVmtrc1plQTdTR25ObjZzVyttdzY0Z2hvVHR6TmdmdHBiSFhUNytRU0xlT082VnpPcDMyQnJvNFBSb1pnd09XOHZqTHAvK2IrS2ROUjczNm1iMU94d05WQUdEaGNNUm5VazlOaHFndzRmdTMyYkhwdHBaUlVlcmdYc0JnNWRHS3pLVGR1dzBrS014NFUzSHJ0cFpoVWVyZ2NrWU1GZ1pyY3hNMnJIVEFQN1ptYTBnSHJ0V0czbUZKOXluUzBjdU94TjRiRFF3OTFUNzJOUjFpSXIrZjlON2tlMXJ6TkdXQUFBQUFFbEZUa1N1UW1DQyIKfQo="/>
    </extobj>
    <extobj name="334E55B0-647D-440b-865C-3EC943EB4CBC-57">
      <extobjdata type="334E55B0-647D-440b-865C-3EC943EB4CBC" data="ewoJIkltZ1NldHRpbmdKc29uIiA6ICJ7XCJkcGlcIjpcIjYwMFwiLFwiZm9ybWF0XCI6XCJQTkdcIixcInRyYW5zcGFyZW50XCI6dHJ1ZSxcImF1dG9cIjpmYWxzZX0iLAoJIkxhdGV4IiA6ICJYRnNnVUNoY2JXRjBhSEp0ZTJOb2IyOXpaVndnUVgwcENqMWNabkpoWTNzeGZYdExmVnhwYm5SZk1GNWNhVzVtZEhrZ1pWNTdMWFY5WEN4a2RRbzlYR1p5WVdON01YMTdTMzBnWEYwPSIsCgkiTGF0ZXhJbWdCYXNlNjQiIDogImlWQk9SdzBLR2dvQUFBQU5TVWhFVWdBQUJQMEFBQUREQkFNQUFBQUxzbm1RQUFBQU1GQk1WRVgvLy84QUFBQUFBQUFBQUFBQUFBQUFBQUFBQUFBQUFBQUFBQUFBQUFBQUFBQUFBQUFBQUFBQUFBQUFBQUFBQUFBdjNhQjdBQUFBRDNSU1RsTUF1Ky9kelpsVUVHYUpxeUoyTWtRZjdwNlRBQUFBQ1hCSVdYTUFBQTdFQUFBT3hBR1ZLdzRiQUFBZ0FFbEVRVlI0QWUxZGE0eGt4MVcrczQvcDJabWRSMnhDRXB2UXcyNVFpQXk1WTY4aHlDYnBTZFlSNEIvMEJyeVEySkFlRXFGSVBOVGoySUJ4TnVvaEpJb0lnaDZDTEJJQzlPQUhSQW5RZ3gxTUVJRVo4UkFLRWZRUWt5QWlsQjZjQ1BFU3ZUc3pKdmF1N2VJN2RldDF1NnU3NzZ2ZnQzNzByVnQxNnRTcFU2Zk9PWFZ1M2R1T2s2WUJjK0RQMXYwRXZLZnAzbCtiM3FVY1NKSURQKzR5OW9wdGpaSHVYNTVLb0daSW11c2xCNzdDS0IydGlUNHlmOG52djZXWFhhYTRVdzVJRHB6azRnWUJGQnJ3SGV6d3Q3ZmY4MzYySkFIU2E4cUJIbklneTM1M2UrN25JWVRQOFU2bTJKVTl5angxbEZyZ0huSjlvbEZQWDNmd2NjbUFrK3hHeXY0VEJIQUwxN25jd1Q0dVNObFVBWHFNU0g4VDVzQmNucmxNK25mRjV6M3NOY1lPb2ZFZVp5OFR2VTJKaW9RN1Q5R05QZ2ZtejJ6SEdjVGo3SGJuUzF6YkFVdHUwME0xRFFXNDRzeTV6MGpNR1ZmbXh1ajYrWnZHYURBREcwcURyY1hvZTg1bEVOL0dWWTVpNW9yRVZHVHNpbk5jaWlWS3k3dXlhbXl1Qyt6L3htWXNneHZJVDdOWThuZUN3YkorU3VBNGNVMk9neFRnVmxXSm8rTWNXNUZWNDNMTkZGTDVpeitYbHhBZVhvdUJwc2FXblF5RWJaVndsSllVSmlqQUkvWnFkZXVjVktLcHkwWTZSNUhOVlAvRm5FSWVLb2tqZjNPTTdUb1U5THRNbERRMkZEMm5VY2IyMWEyejhLek9qMFB1MDFtTUw1Vy9PRk01ZmZGNjhCQnBMVHFXV2NiV25SUEF3ZFZiZVU5aktqRG1PWVZlMFJ6TTlOaWtIM3RMRGtOTzVTL2VoSkxhT3ZoWVBwYjgxYkhOY0thQWlPdS8ycmFtaUFxTlcwZHRoVFhJeU9ZS0dOdHI0UFNtK2kvT0ZKNDhlK3RiOTV4NDhwZWxPU0JidTBLVW1QS1h5VEhULzh0NEQwVGkwRHM4YmIvLzNKdC9tYlIrS24veDV5U1cvTUg5SThVSFVkc2pTa3o3NnhTd0E5SGtqWlg5NWNOSzVVL1Bib3hjTFBtRENWOUMzNmZPZjVKVFlPdy9ISXJBR1BHL21iSFRGYW44eFpBNjNUU1cvQzB5dHFGUk9Zc2tqQ0s5bTBFQmFxZHY2bXV5WWx5dXFmd2xNcE94NUs5TTIxK2RUQ0hMUHpNREJiZ3BLK3VyTWpjdTExVCtFcG5KV1BLWFo0Y21FZE42a3pHRmlIUkZIc01DVEg3TkJCeUhmQ3AvaWN4aUhQbkRndzl0WVltYTNKNmtLWXZ6THdnT3NndGV3VW1mbkVxZ2tiNm04cGZJOU1XUlAxallGMzFFTkY0bmJwOWdsSU1IZU1Xenp3VS9uSy9SaU42azhwZkl4TVdSUDhTWS9kdUtVNGZibktnWlQrNG9NTWlQQm41Rk80S0pFRDBNU0ZMNVMyUVc0c2pmb29nN2EwSUsvREhiZEU3STI5TVF3Ry8rcVMvK1dwT1oxdkFqbkV2bEw1SEppeU4vUmVYZlNWSk9zV2QrNVl0L3g5anJSVUVGQWtocFZ3S016eldWdjBUbU1vNzhWVnVmSGRPckg0eDloeVJ0N3NQOC9rWjVQMGJYVlA0U21jdzQ4Z2ZaOHJZWEJpVi9ldjdnNXM4WjkvOTVudDFxM2h0Vm81MU41UytSK1lzaGZ3dDR5eWdSR2tZU1NTcC9pVXhiRFBuRDAxL3ppRjhpNUl3T2tsVCtFcG1yR1BKM2pMRXhPOVVjaHFPcC9JWGhWbHZZR1BKWEY4ZWUyK0llNjRwVS9oS1ozaGp5VjJONCtXaGlVeXAvaVV4OURQbkxlcWYvRWlGajlKQ2s4cGZJbk1XUVA0UmZOaE9oWVNTUnBQS1h5TFJGbHorRVgrSzhPcGNJOVFORWtzcGZJc3lQTG4rbklIOHQ0ZWRFYUJvSkpLbjhKVEpOMGVVUEUzQ1FDQW1qaVNTVnYwVG1MYnI4TGRJM2hpWTNwZktYeU54SGw3OEdZK1AwVVlPdzNFemxMeXpIclBEUjVhL1NmUHJaaW45c0MxUDVTMlJxbzhzZld2cFBQeWRDejhnZ1NlVXZrYW1LTG4vWS9pNG5Rc0pvSWtubEw1RjVpeXgvRlA1YlNvU0UwVVNTeWw4aTh4WlovaWo4TjhHUFA5THZEeVVpZnRHL2Y0WDFQOG1QUDFMNUc3RDhMVUwrdHBPaFlTU3hwUFkza1dtTGJIL3JrTDlFS0JoUkpLbjhKVEp4a2VXdjV2dStYeUswakJTU1ZQNFNtYTdJOHBkdC92aExJdVNNRHBKVS9oS1pxOGp5Qi9NN3dXOS9PT24rSXhIeGk3ei9uWWY4dlpBTUNhT0pKZFYvaWN4YlZQMUgzeGE2bkFnRkk0b2tsYjlFSmk2cS9OSC9LNndrUXNHSUlrbmxMNUdKaXlwL2VQblgrTHg0SXFTTUZwSlUvaEtacjZqeXR3UDUyMDJFZ2hGRmtzcGZJaE1IK2R1SWdxZ00rVnVMMG5CYzJrRCtZdTcvcDk4d0lyeDRmS04zaE9ZaXFyRXE1RytTSDcvaDM0M2pIdjh1M05TN2FVMFU4L0Vldm1jQk1ib1FoVmdYRGFPMEc1czJpM0hqNzdQZW4wWU5HME15RjF2VVNpYjMzYjJpOGg4aFJzK3VoOGVPZjk0eS8xNHJQSUpRTGFhdmU5V3VhUEJrQzNkQ1lVb01lRDRMRG53d0RycnNjSDZUZmRaeXF2TngvSnRCNGluejBZdS9jeDJZaUsvNDNmRFkyemJDNGFjL2wvSC85MEs0OXFHZ005bWp2UGl5K2ZRd0JMMS83cUc3WDBMNm43R2JQM0h4STZHR29vRlB0UE83Ly96ZlAzdjMrVy9XZ0gzT2xiei8wdlgxT3MvL3pzQlhGUCtHL3JaY3A2VndDUEh0djdqdWQvQU83N3U2Zmh6L1owUHBXRWVuSy9QbG4veU5yM012Y01nZS9wUTAyOXE5ZytvdGJBVjM5czN2YXFhbnF2K3N4MWZGL3ppdmYydmIxemZkbEptRnNLTHhWNUl0TFNJV1pOaVpjM2Q0NmZ3dGJrajVnL2ZkUDAyVTNjUi8yWGgvWUZobm5heFdnVS80VmtTR0JHNVdPamg3cStEY3VUTlczOXkvdGpsVjMrbEhmOHBpNWpqRW9PV3Y2VCt0UEtwUERWdXNGOTUzM3g2L3pXRHhUWWxWV2V2NHpwMW5GRGY4TXoyUXUxOFVGdnFsRnlrOVNvVHhmMEpSeERUYWZidGs3cUc3QU53MzMwWVJKREswY3ZhYUMvSFBWa1AycW5jRFpLNjBrdG1Ua3VQWEhFUTd2Qm5KZHV6MWZ6NzZNT2phN2drVm9aR1NpL0pxMFdydS9iaDVtWUVpNDNZSUh0NDdRUG1qNS9xYkJxRWl1Mk1UeWxhd3ZwWFVRT1pXbjNvckx6bk9qdkEydTBhTDNLSDVLQTNONUs1aTBUdXd6VnRYZHppOXRhcHZtbk1JTGd4TS95R3NibnV0OW5USGRkODhnTjdmWjMzTTdXMS91WDBILzZYSjMzWEhxYStOenAyNVEvTk5kUHI3UmEySzUyQ0NYNmRKTHh0VnVsVG1CaWgvTzZEYWRxN090ZXhLSkxrRHVKSkRzOStmZmpQMGxTM1hjOWVoVS9TVTJycUgrOUxCc05sYTlLd01KelRNNzRNVlRhSEtkRlp3Sm1qUDZMTWpKc05tVTc3bG9UTEFGSDd1SWduMjRVVW9uZnN1eDVGNmI4bzNwUlprMkQzQ1d4eUt0T1AvZXdveWJIdVNzTm1PMnlpc05wc0l5TVk5dmVaQXBybHNaR2N5QUNidkIzdmxRWUtFU2NDL0ZqWW5FWFIySFBqeTNIazYxczI2QW5BNVlicWlvaXY3VlRHNWcxc1NWNzN6UTgvQnlkOGNvMW5ZbDNUcTY3UUlnT21TUWVibzR3ZEpoeVRKWDJwT3UyS1F4OFNuQnVVMnBPM1lFWmZjYWx2WjM0cXFYeFhUa3Iwc0tjaTJpNzU0QUlPVHYxT3NBVG92U0RxTmE4Nm1GWTM2dm1iSm1DUnRJdWF2UDllY2J1TktEeU1yaXRWWDdtWmRTMTAzS0gzamsrdFh4ZlRDakl5ZHozZGgzdURrNy9naHFZRmxDNU5xeG1iZVV0M2Zva1VRMlU4L3Z5cFVSOVhLR21Qc3hiNjVwVWFuMWl5NXlFdEdEWDJ2U2JKc3lyckYxTUNEazcvNmMwU25YQ2VhSXNjcGRXTzlDZHpyZkIxRTJuYnB2ZXJYRlZaVlh0djJVN0E2ejIzQmUxaEJKelIyRGZ4a2YrVkRoRktYYU5yZzVLOXlEWnNmcTVNdG40QWFReHBjdGd4bTl2SGprM0w3QzUyeTBYblFPU3Z2T3JmcFRTM1pzVDBETmUwL3BQelZiSThZRE5qQnlaKzc0aFJBcUVHTHpDNGs3dkJMekJHdVZkQzRIS0ZkeENZeTdBZWRzdDBSeFhDRi8zelRTUExvbmFIQTA5UXV3eGlZL00xRFpUZEE2SnFGeTkxNGIyblNzNkljYURTZG01NTE1Q0UrS2F3cTV0QnhGbDdidmpjWXVTRUsvL21PeGlBY0xXbWI3NlpLQmlaL0o3RXdpTkF0QzR1elhaUzJwVW12aXZqeG9zMWVZVy9GT3lVbWpJZGhabTNlc1dnelhPRS9hVzQ1Y1R1WTFoV1B6Sk8ySTNibXFBY21mOGNRVkFNUGRhRElvS29zeVRmS0JwU2xQWkpWUi9lSW5pbmgxZTJRQjNYc2N2dGVoaXY4NTl1aGtjdTg2MUcrYU4xZ0dxTWFtUHcxd0Y4S0ZFbEh3YURKMmVucmp0UHN1U1ZQNGVjdUxreExtemdGc3lKZVZxR0pxM2N3L0NVMXgzRzZTNlJ0cmttTDVNRXlnYmhoMVM5R3J3T1R2d0o1TDY3OVVQZHh0WDB5S0IxTWxqNitJWm5aRHdwT2Vmb1BLeFA4S2F5MTc3TG8zM08yQit4NURia281a0toY09Cem90ZEtwOE5YQkRNdytYTlgwWHNGcEs0VEdmNDBPengvZDdVSUNnLzkxUFgwYnNIYmY3eWJCMzNPZE9pcTBOZGwwWUVRaDhKOXV3WUFlVlVyNGo3ZjRzbG5QblE5ZTlWYjFhUjc4cmR3bDN2MkZYc0dEbVFmZURUM3F1WXlXK25Dcjk3Q2JuMjc0eng5UWJWLzRGSFgwbFJWVTJhQmg3ZnFJSFhEVjg1dkVIeG9MUnhNeVE0b3ZKcEUxNTk1MUQwTExuVk5PUXFsemVVK0RQMTNXbW9SWDZQcFI5dzc5eW13SWZlY005Y2QvS0VQb3M4M0pHOGdTS1VTN3JmRlhZdnZQSjFGTGF5ZUZEWXVmek11TzRObHZxWlFJUE4rRk9COHlxK2JaYmJTbjNQWm5YZGZ6NzVsV3V2Z2YyUHNyTXNPZC8xTi9YZXpYTy9CaWRiTk5BQ3NqNlJQRnc0bVZ3YUY4RlRqcHN5dmNYYStvVHVlSFhhNzQ5U2VuNFlKYXl4YndDKzU3Q3k3c2c2ako4aWF6eDhZejBwbTNKNjlRRzBoaGhmUkpKcDFCZjMwRGJzMy8wVE81OW5SMy8vc2szK05FWGhOU1A3bThxL1pjM0FteUZ6blgyRkhIM1F5LytYWHJFNXI2VFI3aG5xNDVPYVVwZjhqeGo3bVpON0hEdjFkbXlRNnppSmZ2ZVRkMng0dVdMV2lIMEdmN3NETWJsdTRBSlJrQ3V6S0x6bHpOWnV5YjJvK24yTjNaZy8yOEhMZ1MvRGJraENmdnNkWnlMME9Say9zT1J2UGJNL29oL3hGblcxcDI2T0NrditBRUpuakRkRVY1dGZmYVlFZDdWUEpKU2EreUVIeTkvZ3pKSXc0NkhHQnFuaWFGZEx6b0UrS0xLV1ZvMjNSUU1vZmpPZnZVVkhCdXJYbHdQZ3A4Z2ZVNUtyS0o5V3locTQ1YTFqUWhPaFhQZ2NLYlNza1hQOFZka1N5bE1rSm1lblVldm91OStZMW1PQWZPUGhrSzFnbXkxNlAwcWtqR0wzTHZIcWVBVmlybWJ4UGk3UWk2RUVKZGtLbW85QXdZaHBUVGI0emRuTmJIZ1gzSDZ6ekRPUnZ6bDJqTERTNjRrNG1MK0hLeHVxM2xNNG9UN01xNWE4bXFBR0hPRjdDM1pxcTNxVG0vV3RId25VOS9DRUJlMzZGK0xIbHVMM2NMODFJUGU1SndxZEZlRHIzQzlKeGVUZXQzNXowWWpDSnR2VWNkd0FkMnhkOEZnSXE3MkJmd3N2RGpQSmVyWTc1aDRXQVFmNk92K2hWVjdXd1BxRldFYlRwaG14dEtTMnhmVkVyVHkxRDdMYThvanhjNkxaSk1LeUc2ZlVXZ2creTBDMXM1SVB1NFEwUFA2L0c3R0RCbGFaZ1Zqbm0wVkNDSEk4WUtCbXg1Nnd1QVpWYUk1Z3VwVVNpZFJHK1ZVNnFZbXE2Z0xzTENzZWkzeHZBUThVVnI2NG9yUXJrcjdicmxXRk0yNkpsVHNKUmlFU0lKNjB5MFZxWFZwUjlueEdjS1NvcHJuZDQ5amN0cExxaytDaDY5aTQxbStpKzkzL2JwZi8yTlU3eWhvNXl0SVFRd25ZQXhxNTViVTdMVEZnVUFyNHUzMndrbjMrUEN1ZHB6dURHQ0I5Qm1XV3pnOHlYMnpIdWYrV0VtK0FoOHhUK1c1VnRIc2d4Wm15eStGTWNXVWNmdkpEYkVZQjVEeDd3RXQ5WkFWQ1NTd3FmZ0ZDUzZCeG53bEpiUzNQYW9IaEVnQlh5aVFhTS9ZYnUyNStiRWxxUFRoZXYrcXZvcnFpRlhsVm1YTUMyU2JzS0t1RU14cUNFSnlwcTdPYWxmelFkVC82QVNTZ0RXaGVjbmlsQ0RhMTMyYU1PY3JucTVZeGZCQlBicGVjTnNJaFpkTTd1K1ROS2YvNGY5RDJEYnpUd05IemVBR1JEeEl4SVpyMnVNYWxTWGhhVjVpeExPS0RDZG1MVncyZ3B6UmdxTHN2QklGQXJIamh4UldaRmliNlVCQ0hBYmxOMWRSL2RYak51Q2dGdVMwc2FjN0k1T2lHaDEySTAzSThyRGpxbmxic1NDUldrYTh0ckNFbjBPRmdueFFldHQreVZsMnphdW1Gam1WY21wc0ZySE8wWG5SdnA4QjRUaTdsN29DK0x5T1VEaDBIcFB5VWs0TFUzajVCT0taTkFKbTlzcFdDRDZxNnlTdG1pVXFMVThnVlYyNVFwaXc3MFF2QUI3Q2lOWVJRL2JBelRuejNjTjhBU3paYW9vNWdZc2NUM0JJcXBlTGh3NUhuZHd3UytlZnFqUUZPbVpvN1l2eS82MHBkWlVOQW1HYlpTdzRmTGtTc2cwc0ViZjFEUUoxQlVmQkpRMXdvcEs5VU9TTnNVd0VwM1l3dHpXZE1ndHlXMlVzamZyb1FzcjFJdXI1bnRaUDNlcHdTa2ExWjJBRUlzajdjVzFmN0hiRFNBZkFPYzFTNUdKQUxBdDZ1eTRZN0t5Wkl3VjFnQWFjaVI5ZFkyTitpZ2NzMURWSW05V3NJUXhHRkxZRkc3UmdXZmNhc3FBK3ZBSm16d1JxNWVNSkMvRllseGxXZjRUMDJBb3ArV1VsTW5OcllBRHI3b2w5Y1E5ZUlZV244eTBvNlFTMnF4YjR0dFc3Ymk2bWtKQnQ5K0VRWHJlVWN1ZFlEbjJ4cUVJTGlnNXE0Sk9La001dm5VVjVVRTRQRkNFRXhKd2hTbEsyQkJXcFg3SWw0SFhtNUlvQS84bHBkemRmeER5VjlaeXltQTZrTHVyS1ZvL2tNQzVjSTZNbkFHdEV0UlZHd1JJT295STllclV3SlJtNnBjWm9aRy9ySWdMMlpBRFNoV3hianVOVUlUY3FnaHJqWHBJUEdIQlV2VThoUi9OVlN2RWEwaFErQ05CMXFRcm9BRmpVLythS095M1F3RUFaSkZTdjdBc1ExWlNHK2plVUpzTGEwd3hyNkhCRThrTEZIOXNtekRzTVVTd0x1ZVVKM1NCblBGWDRtN1JadFJib0hxUXdIWUl3eGQxTTdnb2tnZlpjSFZhek1LT2hDekp0b3RDcVFMTjZJQUV5dTJ4VEEvSWhjRmY3UTJ1UTRjeXByNmp6WXFMVjBZSC9GUzhnZTREUTJJb2ZMTmdyVzBoRkoyK1BFOUNiNWpMb2E2dHUyeVhseTFIMFNMb3RVb0hUT3NlRlBUb0xjZ08wanFqSTYyUjZZdjNCbmFXb3RZbG9nMVhjcFpOTDIxamIyUVlnV3lwbUV1YlhTeDdGWEFMSXRBb0FTTWNLVXhkMCtYQldaaWtjeTNkSlkzcXlCZjJqZVRvSzdXTktoZnBtSXNJclhPY0F1VlJsNnp2WlI0UXVsN2hRU1c1VzZaRUpWOGVLaEVwdHFWajRyMEVCcExwMXJXVXArdGxPcmFRTGxFNUk4R3JheG5vRzViZ0VBSFhMTE1lLy9qQnhoN1pVdHRtQUxNajNMdUtsb1V5VnBJdTQ3bzEyb1lsRlpZR25QM0pHV09GTWlTRlE4S2ZmSUhNbHUzbWhiNUk1bmExeGpGc08ybFRrMVFlcmpHVytEMjhDVXk1WDE2VkdPa0p5bG1hcFUxOUdtQ1I4bGp0RUZTWjlUODhjZUZ6akJkYWh1S2lpdWY2d0xhcGJwdTJKYTg0V1liUVJjTWVyTUxsdTdWaXVDT21jc0NFVm5WM1haSW0rVlByUi9Wd0NKL1VPSk44a2RpYXk5MXBsMUI1ZEU2NGF5SU8zR3huU0FDRkIxN01kTWVOVFhUc09nL01wNm1MMkxTR0RCZndJbzhkKzZOai8zd1R3UnMwQmFzcHJlL0NLMGFSaU9yckFXRWZiOXQrNkFWNXN5MHowdjVnNnBRNGMyV0hueiszNDY1TjVXZ0Z2a2ppVFlrZ2pvQXRMM1VjUjVFTlUvZlJpaXJObTlPOXFXdXB3ejhNTy9TZXFoNjJOOVdUYTFyKzVlanNSdTBSdWs0MzhFOUNvY1BtSlpGQzk4K0F4NlkzUE5WNHR1TmNEUnhKNnU5cmZMdGYzY0N5aDh0K2xiNXM1ZUMya3Rad0ZPaU5zSGs3N2hoY1VtdWw1c0hQU3p5VjZKeE5STVg3dDVOd2lXakxzblIzeEo5eS9BZnY0Vm5KSGR3UXhiK2d6Z1kyNkZGdzM4VjQ2RDNqNVNtd1dKZnBuS1NpSDNLZUFrS2lzVEZYc3BCUHYwSVRSTVBvMVEwTDBSejI2VnVHQStLVDd6WUREUXM4YjhHaUZQOGFTWXkyRDB3WEFnRzJRV0s5a0liQXNhM3owQUlhMW1VKzh5eUtPdnhwV0I0cFMxZCtaNS9RUDVhZVdtUlAzSzYxelFxMGN4ZUtzQitCbFJ3ajZSbUVTYU5TdVlxMTJRT1YxZWJEMVc2YUxyWHFyVC9HUXhIMmJab3ZaUFcyb2pXdEtrVmJRQ2xXU3FaK3d4TWtKQnduMWx1YXQ2cjIxd25qVk14VlF2MG0ySDNCRDBXK2FPQnJtbHlNVHdLbTlwTEZkajcwQWczeFVDUEMzSXJxaDNmc3JTUVZlSWhId09Jc3ZOdFQ3SDE3UHhmRmFONnRvbU1jTGUwMVpKU0U2NWxNN1E2Y29XS2htbWg2bXE2ZkdiWmFOL0Q4MzhkdzM4UUIrTWdDM2x3QmxGZTFpSi9aQkUzTkNEa2o5eGJhMm5tTlFvT1U0VkdPNTIwc1lTbFR3L3BCUGFaNXA1WDdKamJPd0U2aVBOL09kQW1mU3ROY1pnY3lWOFkrUGF3Y0lCVStLSmlJcTNKQURlOXdyTnFRZERMODM4ZHczOTRkbXVzWGdKdFdZb1crU09MdUttSHNTTk1xcTNVZS96TllTSGRGK2pQZTJ5YVN5UGpPZnIwa0U1b292eHFXZW8vdCtpVjhsZ3dZRzFwU1RaTStFcDlYWTZGRS9xaFJidEhRd2dHeTIwdTRyb2tpZ3Y4UFM4bnE5eXFSVy9pL3FhcGc0YU5aVjVadkFlQzZJZTJCYnROL2VuYmtxbEhTRlcyZ05ya3IrQ0xhQmVGZTJzclhUQTBGLy9mQ2xpQVZoOVQwK1BsNk5ORE9sRmdzWG1PYmVlZm5ZY0JhRStIK3hwZGtqblMrWmFuMDZHNkNNS1FRQWd4MDg4TFFNd2s3ZUJPZUtvNXA1WThCRzBmRytWbWdlL2wrVC9TSG50dDZmZS8vNUgzeWRVWDFxbVpUZjR3akdXTnNpTFVrNjEwUVhxK0FLL1FUSkc1NFhpOTlsOHk4aG9qZlhwSUoycGllQW04d3ZyK2gyN1NyeHo1dk1ZSUkzV2IwMVl6VW52VkNPdFVHak5ZTWdvWmxDN3pTbGNwbVJwbi9uUnNwYWI2N0o0cGdVUHRvWTc3Qmc4Sjhpam1EWEw3ZExISkg5d0lJMnlURjZkbWJLVUxocUFXdWU5UjlmbU9lZDRIOVdPbWdvRWQ1YmxXbTEwd0NUV2I5amRQeHNWMGhhUDBYdkFaaExudmk0S0R0OEgrZzRTT0V1aWlpU3d1OFRzdGw1NGxQdWxiM2h5a2R6OUZXMUJaZGVmL0V4MUlrQ1p0d1JOYm0vekIwOUp3VUUrZTIyRXJYVEM4OHgzdXhlMllCc3R3RHhWSnlMZ2UzMlJSRFpNczgrS2FqV3YxbXZCRnZBWERPbG1YUUZqTHZzSGRweGticUxVQkJHZEFib1VRa2wxRlRYV1hWMnZ6NFMzazR4S00xL2I0cDJMS1NrdGZXRFBydWhBajBLN0JMQjFxc2VzL2VMUWFEbXBmcUN0TDZZSjJpYkhYMlFVK0xFMjVTdkhDaWRjSDlXT2thWE4zZy9JZFRQS2FVWStzRzlmcStkRkZ2VnNFWmMxTEl5eXVramtGR1Yva0tTUXFMV2NGenl0d3R6a0dWM0ljWnBuRWUyYzVKT0k0NERtOUtpeG9JSEY3Um5IRjJJRFV2VlZpMDM4T051d2JzdG1PRWc1TEtYU2lrdStpdDZzMS9aMzZOWW5GdkI1dmtqOXlZWmRNQUhyVXRPWXJHTkFOeHU1ellLS1FnUVc1cjlyZGYrQ0pqQ29JazZsSy80L2MwbDFzZjRXU3lFdjNHWXdrUjdxeUZRWnJQRmphMDE3dWdNSVFKRURoU1kzU3pia3Qzc3hRaWREcXk3eU1ZbjFLY3ZMS3U3V1VRdjQ4TkdoWDlYYTFlTE5rMDhQaVpGeVpFd1hlcGNLTmh5NGlMOHZ2RWFLbkdQT2tNY2ZOd2JsUm80K0tDLzdMbG13N243dEpaaU5jNit5cTE0ckkybkNjV2RvREkxVzQxa09tNmsydnUwK2wvVWtVRkYvcDBGVldEeDVRbVp4OGY5Nlo5ZDdrSS9tVnpXRnRwQmdVbGRNTTg3c2xBVnBMSVg5eVR6WXZyQUNLNUc3MmhDL09JckVZK3ppdmlPTGlLckxGaTJZTSt5K2JEZUphQVdWeU1KSDdyeW11T21YdmtGcEVWUEJHZWNzRjlnRnVIMHBDUjlURnc4cVpRNWU2a21veFlpL2htdEZTa1A5OGJtdFprU3JOcTRRQ0ZDdXd3STlMOFZOOXU2SmhUWXNCdmxoeXUxZGFOUlJBYXltRVRWcksrNlRhKzd4VWdKbmM2d1JtOC9LWkhOcmNZNVJrS2lpUWpiM3lXYm5TRGJCQlpLRlF0UEJFSmVDRUdzeFg0M20xMEtSclJFVDVlZGlIRGVpOUpicmpWbTJkcnVWclBHeDFnbnpBZnFRSEh2cEVscWFPM2ZEWWIzSUNMSjAydENIbHRRWHVPVGpPVStRWHpsOThpNHZtQnkrOXVPMzg4Y1hyQ05VM1hmd1JEdmVFZ1B1cWtpOHFiaW1GL0ZVOUt6Q2ZFOGJCeWVCc0xwRGpJNHJtdjdCVEFkS1hycWRlR0x0NWc5ODZ6aGZla3VNRjdNNkx2eTJLNlBpOTFLcXFhQ0FaSW0wNWJzL2d4eWJIOGFQODAya3gwQlc1cXBtRjdHVmhsUGlYWHdpYnNQQW5EL1pLeExmYVNvd3V3alF0ZUJQSGZ6ZmFORnhzc2g4TE9YYnc5ai81aTc5bUwwTURlaURucFgzK1Z6QThMK3pOK3hqN3dYOSs4cS9FdC93azl1YlNCZmI4Z3Z1dGtMWW5zM3ozeStId05kV2pmL2lUSnd1MjFVNzZtcWN0Z1ZJVm1QdjRlbnl0SXltT2RTVktsMkpob01iNFM0OTl4L25YaDlsM3hrUTF6ZkNnNTAvZE56ak9mWEIyM3FIMDNPZloxVzE4QWZRbXZLTnp1SDdhdCtPTTJXUEg1alYyNXV5NU8rNDRmKzZNYTlFMFh0TVdTemFUNTlQL1BWUTlEUVMzM25IK2xqTU04bmR3QnJpQVN2bzdFRDFLbi9TVDBGUTZqNldOQTlENDJxNXBVay9uZU5OWCtwdnl1K0lCOVhqdWpISXFpd2ZvMWh1RTRpZGVLbG0xdE8xN0VjeWNNQVB4dW42bng2SDRIMm4rRk1OL0poT2JNbGw4TUhsWFVwV3BzZ092L0dsOE0vbEZXVHdNVi9FNWRZT1V6SWZlZEhEbng0eUNkbG42WVBaTDk1dHIvYVg4L011bFI5alpONy9MQkp6N08vVHh0MlpKdUh5VzNKdUVFdlpjWjg3ZENnbkhNcE83bk5Qc0FDdjMvQzE2Q3EyZDhjZHYrOWFxY0lYL2NwN2QrdnV3RXJIVEY5NTA4UEoxd3JKdzErRWZhR3pFNzIvZzVUK2YrM1orMVhYUmMvZHhMbkdscEV3WmRCNlllYzdWdXFJTGZoZTZiZFFTTnVXSk1aRy9OOHJWTVg3a2cxSCtYSU1LTDNSa0RRV0dWSFNnSStSWVZqWm8rQ0l0aVJGNjFsTnZWTHNPdktJc1hWZlFvUUU0clJSVkVpUjk5dTZ2NDB3OHV1RnR2eVR3TFR6TVN3NS92N09ZSTFxZzRsQkpVREppT0U0LzlEdWV1TDN4c1k5c0M5ci9DNTRXMG0yQmpWdXBZM2g2T0RseVhFZkpreUdRQk9sNW42d1ZVUEwxdmhKTFR3aklKN29TTEYwTWUxRVdMUERKR3RtRUt6NW5xL01RaHVxL25EdVRxbXAza3Q1K1VJUjdTNkduVExsbForV3I5bTVLYUlhQXhpU25hdlBaSlBqRTJHd0hUM094SDJBRzd5c3B5RUxTUHV0eENOSytqN29zdTlGM2I3MXBvTmtMMXBxSktjeVp4MGxvMUZQc1NoanhjNXhDMytKQlNVMUtSdTBUa3NKWWdpRDVjSjBPcE5kcWFIYloxMjdTYmxxUEZ3VDVDeDBmbDBwc3lYYy8vRGVuRWxjNlJiMzE5WVpma1gvLzFKRWJNRDVKZXdJZCt4dStTbnBDNFJPZlUvekJSUmhDazUvTk1MMUhnUzAxK1dwUmNQamJGTXlISzZpaVIxZ0JVZzdjM3d3QU43NGd0TnZZTllkWERlOFA1NjZhQ0VZZ1gwa3crdWNORjRKa1BoV1l5OTBlaUExZ2ZwUGJHS2paR0FFMU84NVBIRzZISGwxanhIZzRGOGczQzhPR1ppK21HR3hGNHJsK2tvSHdNQlFQQzJ3SkhEQm9tWTVpbVU3R1A4SmhrTkQ3N0luRWZTN3lZbFkxNGFlQ1dWOStQS1A3eTZRYTd4am00RGliWnpncjRhMHZtSktUanoxSGcwRmwrUjhYaVpGTFhvejI0eko1NytoalYvUTRLRHZwNGVlQzcvejMvVzArNTlpRmt6c2pGWUhKK0Z5MUxrTUxWdTMzWXA0T3RQY0ZabnBxSWs4REJldG83S0J5cHVPODROS2h2ZkJwbXRuT0lZZkgwNThXVS80TlZ4S2RsaUJJQ3M5cFF4V3FRbXVHSHI5ZHM5Wk1TcUhmY2E0OUYzSGNOZE9HUjhUUnQyYUY1TDJGaHVuRlZGOGJkQ2lMa0wvbG9NQmpDVWV2VjZ6S2tjMGU3TXRzeU91cEtOdVdrSDBrQlg3YUgrOU1CRzNGOEdKQ1JCRHE0UDVXSWdTTUtoTHlnS1hqSERSb1pSdHJKYXJtdENIcmJWbkEyRWdvSXZMYWl3a1RRU2lEK3h1aE9obzNZRG9udVM4R0ZXZGlUbzhNSCtlN0hBbU5Nc09tRjFNSUVVRW9nUHQ3VVRvY216WWxjRUFNNW1Rc0VTcStNQ0k4S1FVKzJCMThRSVlYRXlxQ0FMVXB1Uis4czdHQ2JDakhPWERReWo3K3VYdnM1VU5YK21ENDV6dGR4NkM5bUhBUkJMZjUxRUxYbnNZTm9LSWM1OEJCcTNGalFRTGowVjVNcUFnQ21lMGVhT01FQnRRM0ZMQUEzblB6NEVHcnZ0RTJPaDB0U2p0NmI2aHdDcGx0ai91ak05U0VLUVVITHZSbXovb0FBQWFWU1VSQlZCUEtURlovRHkzaExpWUFuZlJpNW5PaDVJaytyY081UHdFc3NnOVJPYzVQNlcyd0hUSXQ3Y0NCaXZCaXl1SDhPWHBwWkxVRDJ2R3ZrbzR6dlFlOU5QN0Q3ZFVJaFJkRHB4RENmTmFObmhwdjlvcW1rY0FySGVjQ09IRnRKQ2dlU2lMQlBkalJ1VHprTUV4MGNSSGdhME01b0g0UlJSeEFYNTg2d2pYNXA2TDlHc1dnK3hGZXpOUFBrQUlNNGREdEFIeDkwTVFQdFA4R0QvOHR1QmNLWU1WQUtSbmx6ajB2Qm9kTzZUeHppSUJLY2FJL2ZrQXpYdUdPTXc2ZDdvQnp1Nk1zQTRPa25Yc3htU3dPbldaRFNSUzRQK0ZHSjA4QnFIdHg2SlJPUXE0TWNnNUh1Vy91eFh5ZURwM0NucWpINmQxSEJPNVArT2xUc092eVBCMDZUVU9oM2NXbExRU2s3bWlHNzJScFI3dlVGcTY1QXNCZmF5NmJxSHZ1T0pmNTBhbGN1TkRWUkxHcDIyQXJzS05WcnNrb2poVTRqa0RlNG1vMzNHTmRUNDd6M1Y0SW9JenM5bGdQdG5lRGd4MWw0clZWNUFLN2RDU3NtNzJqYWdRd2srTXNQa08vaU55RkVTQjVHRWtrTG01NWhCV1FYUTlJSTBWcjlnUENqaWNZQ2QxVmIyakVqTWwyUmlKUE1Ya3hNdXF5Zy94dVFFeTArZ09DamlsWVEzTXJaT2hxVEJrU2FWanlJU1kxcGpqQ2NrQXNXUDJqOU5wV3dGR0ZBYXVvMDM4OGRKVWVnUW5EUEFVckgySlNBZW5Db0RHVnVzRjlOSDNnRWZmbXR5dWtFNUhKRytmUFNCZXVUY1Nva3g0azlKaTJvN25nY1lTeXdYM0grV2wyY0dlZWZXdlN4QTAxUGpEdXNpUXdYT2hLdGtxdlBPaXM3U2lFS21nY29XQnczMWx3ajlZYzU1M3lUOGttZ3E4OC9DZEhHaXAwSlJ1bFYzQ2dZdHBSVW9ZQjR3ZzVNMWJkOEVJeDFVbDZIODUwbkIwSGpBc2N1a3JsenVCQTNyU2pJZUlJWVBpdVJETW5lRDhyLzcxUlZvenoxWFNjNlRQT3dVTlg0OHlWMEdNRDM1UVhRMy9WcDRJeG5USFJmMi90U1pBVDRqOUdNNU8wSlNaYklSbmcvVW45cnI1TmN3RTVRSEswcW1Henh2OXQ2MUpManQ3K1VNWEMvSkl4MzFlRjQ1NnArd0pRWVVKWDQ4NlpNT01qT2RyVURScTRYZE8zN1hONCswUCtXNWZqNU9XbXBXN0tjdnZHWTFGVE14M25VS0dyc1JoK1FvT2dkYnV2Y1ZFY1lWWGZ0czhCOEZsWmk1Mmd5QzZHZW9OT3RoL05hOVowblBFVlU1ODZITTBoRFlCcXZ4ZmpVQnpoaFNCa2xJd0huaWVWMjNkaWdqYUI0SlIyblBrL1JtbUhPQWdIVXhqaVFMMXAyWUtyZ2VJSU1OU3Jrb1BINVdONC9ISER4SHdRdXNseGRtZ2hYNUFjU2E5Qk9lRDNZb0xIRVNwRytHV0g4VU9ZNkJMeG0rMmdQWTg0WEpQalRFTlBqOENFbjlPczM0c0ovQ3BOenBDMG9vclpZRkxXd3RNd2tpMmFIT2NRb2F1UkhHNnZpRzVldFJSVlhlN2VHVDQrcEMxdFJXMUZJSCs3M1J1UEJRVFoyM1Z6SlBtZ29TdXowYVRuNlNIbWlza0VNaXRxWTJ0VytQUDR5eER0SmxaVkMyeGZ0dnlBWTN2WE1GY2dqUktlVEt4dlVJNHRwem9Ock9XZmYrbXBab0EvR0lHM283ZkplWFZvQy9LMzJxbTdNYXFycXNQUFlsQVZjTzdWWXpUQWZnd2xRNHZXcC8rS0tBaHdqQVgvdmFDYjVVejUwOFg5R01EQStyZ0VObWtQQkdUUW4wako5MmdHUnRWSWRmeVpoejZSSjZheEd4NzdpQ0Q4QXcvekFuYmJEM2NaU2QyME5WcitNQWtUSUg5em43MzdVYzZuSzU5NDI0YkhxSm03WFY1eStOaHVGODZsMVpJRG52QjVBcmZIQ3luNkxOSytoTEpmQzZiejdhcW5IcEMvWlh1RGNTcWxQWnBNd2dzcHkzdkZpbkVhY0cvR1VtQm56cDY3NDQ3ejU4N0k1eGZUN09ETXVWdnZPSGZHUFZ6djNLZXJRczZBMHlHY3laQy9reDZiN2poM2l5dmQzU0xuNWZsYnpvelVmMmwxbnVNaHJzVzIrVVZObnI2WkRQblRJMDl6ZytFQXRyK0duK2VxL1VjcWY0T1pqMG5wZGY2UmwvT2hZdnU3cHNmc2t6OURMalZFbWtzNWtBUUhpaUsrWEpRZUkwZXE5NzhURlA5TGdwMHBqcEFjd0M2UCszMTUwLzNEOFZQNTBuQXFmeUVabW9LSDRRQ2RPYUtqTHRoK3JCcnRzcFA0L00wWWY1cnRFd2V3dmVDUGZSRUE4d0tHWHIrKzh3ZWJmYUlsN1dieU9FRDZqdzRuRk5XQlA4NkRzcnJGMCtPMXlXTkxPdUorY1FBUG1iQy96YWl3cTlkdlhaMkZtYUR6cC8xaWVkcVB3WUVhbys5RVR6SC80NUZqNmxXNEtaWitCY3BnVjVwTm1BTW44TEYzK3RqWVRUNjgrcTJQWTBvVCtnRFNtNVFEaVhBZ2szOW0yM21LSFVFSkdnbmJFbkUzU2U5ZkdneElzLzNpQURZWXQ3Q0RqYWJ1Y216ZksybVlqK1dhZ05MYmxBUHhPWERwT25iYldqT2Fzbnp6c0pwdWY1dDVrOTczbmdQSHhadUhjLzRqd2Izdk9PMGg1UUE0TUM4MndDZU1sMEpTeHFRYzZCc0hpdDVyYjZuNTdSdkgwNDVNRGt5N2gydU84d3ZzdFdaaG1rODUwQzhPUElqdmo3K0pYZlhIWmZyVmVkcFB5b0ZMajdoblA1NktueUVJL3c4WWNuOVorTXBVWXdBQUFBQkpSVTVFcmtKZ2dnPT0iCn0K"/>
    </extobj>
    <extobj name="334E55B0-647D-440b-865C-3EC943EB4CBC-58">
      <extobjdata type="334E55B0-647D-440b-865C-3EC943EB4CBC" data="ewoJIkltZ1NldHRpbmdKc29uIiA6ICJ7XCJkcGlcIjpcIjYwMFwiLFwiZm9ybWF0XCI6XCJQTkdcIixcInRyYW5zcGFyZW50XCI6dHJ1ZSxcImF1dG9cIjpmYWxzZX0iLAoJIkxhdGV4IiA6ICJYRnNnVUNoY2JXRjBhSEp0ZTJOb2IyOXpaVndnUVgwcENqMWNhVzUwWHpCZVhHbHVablI1Q2x4MGFHVjBZU0J6WG5zdFhIUm9aWFJoTFRGOUNseGxlSEFvTFhOZWV5MWNkR2hsZEdGOUtRcGNaWGh3WEd4bFpuUmJMVnhtY21GamUySmZRbDVjZEdobGRHRjllMkpmUVY1Y2RHaGxkR0Y5YzE1N0xWeDBhR1YwWVgxY2NtbG5hSFJkWkhNZ1hGMD0iLAoJIkxhdGV4SW1nQmFzZTY0IiA6ICJpVkJPUncwS0dnb0FBQUFOU1VoRVVnQUFCK2NBQUFEVUJBTUFBQUM4RHp5VEFBQUFNRkJNVkVYLy8vOEFBQUFBQUFBQUFBQUFBQUFBQUFBQUFBQUFBQUFBQUFBQUFBQUFBQUFBQUFBQUFBQUFBQUFBQUFBQUFBQXYzYUI3QUFBQUQzUlNUbE1BdSsvZHpabFVFR2FKcXlKMk1rUWY3cDZUQUFBQUNYQklXWE1BQUE3RUFBQU94QUdWS3c0YkFBQWdBRWxFUVZSNEFlMTlmNHhreVYzZm01M1o2Wm1kblpuRnh2d0lDajNzbnJFeGhONjl0ZUxJRG43RDNWbUE1YVFYd1VGa0srNEpCS0djRk0zNGJEam43cHdlakJFS2lqS0xFVVEyd1QzMlhRZ0NsSjZjWTRPRFRZOElpblZHcE1jUWpFUVM5ZGdYRUlhSTJaM2REYmQzbkN1ZnFsYy8rOVhyZnYxZTFadnB2WHAvZE5lckg5OXZmYjlWbjZwdi9YeFJGSjZnZ2FBQjF4cDRKTDV5NkpwbW9CYzBFRFJ3ZWpYd0hMa1N2M0I2c3hkeUZqUVFOT0JZQTR2a202TkZjc0V4MVVBdWFDQm80TlJxb0h0cks0cWF6NS9hL0lXTUJRMEVEYmpWd0RueUJoRGNQSFpMTlZBTEdnZ2FPTFVhNkpJRDVLMU50azl0RGtQR2dnYUNCcWdHUHZVaCtSeVcwY2dDK1J1YS9BeFpMME1sSSsyek1vOGZ5b2dSdklNR2dnYnlhdUNJeU9kNjNqUzJlRDF5bVhyUGtSdTIwSkorc2N3aktVa3BKQThhQ0Jwd0JmcVlIRkpsenBDWFBPZzBnTjZEVWt1US9LMHRNL0VUUSs5bWFIZzdiUnB3QlBwRmNwdEpOa1ArbndjSkErZzlLTFV3eVVjYWhIejlua3BPMzc4dXdGNHA1TlM3SElHK3pjRStsd3p0SFlzZFFPOVlvV1hJUGNmR1dyYzNPSTNhNzdEMzE1WWhHZEpXcTRFajhoVVhERnZKa0I0VGVYZGRrTXVnY1phRU1YMkdhaXJ6Umhra3FPZDkvUStSV3gvWmUrSURZVmRXWlNWUW5wRWIwQzhSc3MveXNrcDhic1FOb0M5ZjRHVXAxTWt2N3kzOUJIQ2Z0TzR6NU9ZQkpmbUh0NE9CWDFhMWxhVXZCUHIzL2ZtekgzM2dqcGJIYzRRa0RYK2I2TjVhRENmT0FIb25hcHlVeVB3cmpuOUZwRGxMdm9FNi93ZFF2NHYvcGZqNEVIOTQ2aGVTLy9CNytqVlFCUFNBT0I2OVMyL3plYnhvRU16NzAxL21FK1p3cVVrYVJJelpOOWwyakNqcUUwSzNYVDlEdnBaVG0rRUJFeElQMFU5QUEwVkFmNGFCWHQ5bDN5ZjhyZTlsSWsvb0pmVDBRaE5WL2o5RDNoVDlDZXZYd1RXK25yQ2VSeDI0SEMwMXBHRlhhMVNacDhDcmpBYUtnSDdsMlE5amxlWkZqVzBzM3JwZWx1d0Vwd0I2b1lrSy81Y2FkT2gybEJoMkN6Y0Y1MDFDYmthem9pMkE3ODYrQ0FyL3Axd0RSVUFQa2REWnJ5bkpsdVZiN0dZeFFKRTJYQUgwaGpxcWVXR3JzUCtaa0EzS2JrNDI5YlNyMyszS05nQlY0bkkxK1FsY1NtdWdJT2hYaWI1R0F6QmVZem1wRWZMWHBiT1VUU0NBUGxzMzNrTDZhTjVScnNtaGl2WUZ5UWRkL1czeUd2a2FuWlh0Z2ZJTHJsT3BnWUtnNzRrMU9pYlVMTzhIb2hYWjVYc1JOb0RlaTFwSEVtV3JzVkI4Y3FqaWFGdEdQZysvWk85MTRyV2lUL0xJV01GeENqVlFFUFE3aEoyazVRSzFhZm56WjllamtBSDBIcFdiUVJwTE5WczRSOFhuY0hZT1ZMU1d1WUt6RktidmxXNU90NnNnNkx2RzNqaFlldkxaOWlodkFMMUg1V2FRSG1DK0R1ZW9lRS9mMzFQUnFLZjJHc21KZkJVbHVFNmxCZ3FDUHFaVlFUNGRjdWN4OXZRTUEwQ0d1M0lFMEx2U1pINDZkYm9lUTAzNXl6U05EdnBhVFBReGZjM25CdXo4K1EweHgydWdHT2d4c2FNYmMwMnhVTGRKdkY2WEZVQS92a0FkeDhDUS9nWklBdDhIbExKdTNrY3RUT1VwZHNHOFY3bzQ1YTVpb01kNmpYNXVYaTdhZDcxdXlJc0M2Q3V2VFZENUJUQmRmUERYR0d0dElpK2lpM2JhT3YyQ2owUFZsY3Y3c21CWURQU29DclQ5RjQrY3MyK0lUVG9peE8xL0FMMWJmZWFndGtySXRoWnRsYllBL0htVW9LdFhBL2tabjR1MWdtZjRkNkdCWXFESEdwMVcrakQya3pkczBsbDNrYWtzR2dIMFdacng1bzlsbWkyTnVJN3M1cDBGZFBYWFJlaGdYYmpDL3luWFFESFF0NDFsZW1BOUtmcEZzMXR3TG5vQXZYT1ZqaVBZSkxmMEtQTnF0bTRHRFh4SG5MQkZuT2FHSGpHNFQ3RUdpb0VlYTNRSFNpaHN5ZGxnYjdOKzUvSENtRjdwdkNJWGpEaGx3Rk9lc1N6M09rN1owZk9XMTVLc25EVWFoNHF5RjlnVTBrQXgwTGVNWlhyTTZDUlZvV2ZNNlJmS3o4aEVvYWNmcVI0UGdURGd6WnVWanQ3QXVYeWNmZHdFRmVIbUZ2TnBtZkU4NUNXUWRLV0JZcUNQOWJVYXV2bDJMeWw0L1JTT3F4eHFkQUxvTldWVTRzUUdISE4rYnZGV1V0UUxDZGpwQWo0N2F2K2NHdHhYa3JIQXBJUUdDb0VlUnA4YTIwVVJ4dlJKYSs5NVNCL00reElGWFN3cEp1OHZteWxiYklQR2ZNeEIvaVdnL3RYLy9Bcy9OelFLTU5PRXQ5T2xnVUtnaHoydkczTm9BNWhRNTgxSkgvZUNocDdldlU1SFU4VGt6VFV6eGlLNTgyKys4RGxDdm9ON2Q0QjYrdXliMGNMYktkWkFJZEFEZkRkMG1Uam8yOGFPSFQyQ0kzY0F2U05GNWliVEZYTzBLZ1c5SG8rUXZ5czhsajdJM3I5QnZJZi8wNitCUXFESE12MTZWUHZaK01wbkV3R2JpWG5mOHQzY0I5QlhYYUVBNkdUa3BqSCsxSVBIVjM1UGUvL3lnK1QxK3JzV0ZKeW5VZ09GUU4vR3d2eFNsMXdVdGwrZlRlUXRHN043UHFRTm9QZWgxUkUwTVVVYlZ1Skc2R2RLZ3dxQkhpTzl3NTNqejBhZkpzZDdWTzRlMjZvNXl4WnhmT29oZ042bmRpMjBvZkRrYmp4TFdQQ2FXZzBVQW4yTGtNZVpLWDlFdnBWS1BzTm1lN3IwVG1TdlR3QzlWL1dtaWVNcXhIQWZUbG90MCs1VENQUXh1VlgvZGlyNVRHTFJMOUhGM0xQZU8vcXdaRmQxYlJ2STg1TlZjdzc4UEdxZ0NPaXhSTWUrZEJEUmJUbjdOSFA5bTFHdDZmL0RScUduOTFnVGJLVDc4dnlrTFRUNFRha0dpb0NlSHFSbVpuMFVOWkk5ZUF2a2RiSHZxWHNvT0lDKzRscFdGK2NuSytZYjJIblZRQkhRQTN2aXZFM003OHo1Ukh3Zlg3N3ptZHNBZXAvYXRkQkdRViszZUFldjZkWkFFZEJqbVY3Y2tsSTM3c3J6cllvQWV0OGFOdWxqOU1iUFQ1cis0VzI2TlZBRTlHMTFTMUxMODJGYVU3a0I5S1krZkwvaGZvVDAzaHpmVEFOOTd4b29BbnE2VE04emhtMmFiS1hlZXo0Wmd3RDZhdlFzdU9DNmU2OFhuUW8rNGI5YURSUUJmVXVkcHE4ci9GZVE3d0Q2Q3BTc3NWakZhWG50TlRqdkVRMFVBYjEybWo2dWROQVhRRjl0clRzeWJ6cXZsbm5nNWswREJVQ3ZuNmJIb0cvYlc5NVNoQVBvVXlyeDZ0RXhqMUI3NVJXSVY2ZUJBcURYVHRQVGJUcUgxV1UyZ0w0NlhWTk96ZUY3YzZwbEg3aDUwa0FCMEFONjRnb2x1cVp6NENsbkZySUI5QmFsZVBSQzZhNTVKQjlJbjVBR0NvQWVjN3FYZVc0clh0TUpvSyswbHRBbS9VS2xIQU96U2pSUUFQU1kwNzNHODBZL1hGcEpOaE1tQWZRVktodmZza0xwWHErVW80M1pJL0dWUTV2L1BlTTMvOVN0YjZ4V21BS2d4NXp1QnM4azhLOTl3dEJ4enRPbEhVRHZXTVdqeWRHdjBtK01qdUkvOURseUpiNm56L1N2eExkZXFYMFMwTDlHbzZnQTZQdHFRMDdQNDVxT3BiUUQ2S3VvRXBJSG12UXF0MTVKdnJwamtYd3pMSTU4ZzR6MzZMZTE2a1JPdGJ0enZCRjFxdDBPVVFEMGRiVk5DL2gvaVd0MHVZRXF3cC9qMS85Q2FUM2JTanVBdnJSYUp5RXdRSEZPRXQ5SFhIWXpTelBYVFI0ck1idWQyMGN1UE5JOFI2K2htS3R5NGJ0UVR4K3JiVnBOTmIxTFozMjA1ODVXU1VYWlNqdUF2cVJTSjB1T0p0M2Y0QzFmVmhna29zMDhtNEhuNjJRYVFjL3ErWHkxcXlRRmV2b0d1U3RLRENnWGMzcFI3VE9vSk85NGpENi8vWE9scjFteWxuWUF2VkI4SmYvMTRRL1pWY0xWWU5KbEs4THRzUjFoN2JkL0NwYm1GSUwrSERPVmE5WGVTbFlBOUdxYkZyMU5ZMDhWVWx0Wmc4RC9kUlZRd0dVdDdRRDZBcG9zbmdTbG04dXVMczVoWE1xRkJNZG5jT1A2NktlTHU1eTYwd2o2bmVUdW1VYWxKdFhrb01jdVBMRTNCeDh0MVNkV2o1UTFpRytjaVNQM28wc3JJOVJlMmdIMEdlcnk0bzJ2bGNrWkd5OE14aFB0SlR0QzVzeHZxMWpTZmV6U3J4OE1waEQwUy95SzhXYWxreWVGUUgrRHF4MWQrNHRhQ1hTVTNSL0ZhclpQaTVIYmFTL3RBUHJjQ25RUWtYNmNVcFMwQTNKRlNNVEpKdStaWEkzUE5JSitsbjhmcmw3bHh0WWlTM1pxOG01SDNhWkJpN1RKSmFCdUJCM1MvNEtQdmJRRDZBdXFzMUF5dXZQcWNxR1VyaEl0Y3ROeEpwZlpPSTJnNy9DQlM3M1NEUkdUOS9UaU1reVViSk1jYjJrRnJIY01BMzVQcmhZOGdUT2p0QVBvSjlCaDZhaTQ5TDdpVFNQRFdXNXpzTS9sTXR5bkVQUVlLbTh3b1pzVlhDdXJ0RnNBOUhXeHZyQ2dwdlFvUVN6YXJVdkN2Vkl6ZVJtbEhVQXY5VnVCQTBWWWFWVk1pOVRpbHNZWmJkeVlqaVY4cGhEMFo4Vlh3eG9sNTcyRkR2TDlGd0I5UjR6MEh0VVc3TUFOVzdXdlM2WkhwUTdhWjVSMkFMM1Vid1VPak5BcU5UcFRJaTJKUm1mVm1DOU94ZU1lVXdqNm5qQmhxcldwQ29CK0lHYnZXMnEybnVvZFc3VVB1ZjZqcUdNczVrbnZmSTZzMHE0SzlQTnZ6cGZQRTQvMXpMYkhMSFFCK2oyUDlNZVN4dUpRd3I5TjdveU5IRVYrUWYvRGh6bXlNR21VTHA4SWg1bC9qYVZkZXUya0pJckVMd0I2TWVNSWMvNjdkSmFyYXBtZWZnV2p4TXBqVm1sWEJmb1cvNVNITHQycGRNLzYzTFBkQU9oUFZPcTJxRU9Ea3pmdnp5YWZhbldyRDJCOW5WSEU2aWcza3VNTGJsbFlxUlVBL1FJM3RnYjgyMWFDcnJaTUgyRzU1eVhoUC9sL1ZtbFhCUHB6bGE2ZjVGWlA3ZUdrMzlNUzFHS2oyZFZDeWp0aGJnblFsU2RXaUVLZjhMMUJmV0VGanlUanRhZnZscWpPbWJrR1NyWlpJQno3U2F4MysvODRYS0c5OTVpMHA3VnZxV0YyOUxEbzd5WVp4KzlBaUNOOUpuRmtsWFpGb0srZnp0TmE1eXlIelo3eDk2VmdUTlBtc3Fvbktkako0c2JjK0kyNko3NWtONk9OWENjVFlsUnNmRFVtYWNkaDJtNGtFWmNhT0gvait5blEwMGZQTUtQay9SckdXUzZiYXBrZVIrNTRJMTBvLzFtbFhRM29NNDg4ZmViUG5uMzdnNjh1SkpHTFJHMkJBWTNZc3I5UEJVUFpwUXBSNXZLUitMN3I4bVVDQjJ6ZXRTUjZyR3JXaVBRK2UvcDg1L3hHWk00YU5CQTcySUQrUXg1ajRLOFpsM2tvQXZxbHh1M0Q2UFBrV09TVEU5T1c2VGRUZ1pKaERrZG1hZWNCL2Z2KzdObVBQakJpM3VjVnFNdmFjK2t0UHpxY282NHlXSXdnZXRMZ0pEdS9uZUZXbHVadXM4VFVpU0ZkNmdVVnNjd1FUZEo3UDdsRmNHUjg4Z2VsZlkybDBqWitqNkxpRWZUbnhKQjdGUC9KdzFyQ2xHcXJMd25OODJIKzVOVHlweWdDK3VoeFF2Q0orbTJUaTdaTS8xOEkrUTltNEVSdm1hV2RBL1NJZ2tjL0VXQ3lSZ1VhZnY2ZUdTUHp5b2FUQm4xVExPcnErVjMwdG44Rzg3SmliVlpuT0tuNzQrUzEwWHdoa3dHdHpnYmpocHExbG9PdFI5Qjd1dVFpRnNPV0k5SGxROHhPZHVYTm9ZUmNVUXFCUHZyVUE4ZHZPUnlpTDVmcGEvK0VrRjhiQ3B6b05iTzBjNENlYmlNYmFaYitxN2QvRloyV0pxOTZtRDVQVTdlNVRIS1U5Zm0ycFovL2ZrUWVZVVJNSk9URWtXbHpkWkJPRmY5TjJzK0p6eEg0WFM1TmFaN2MzS0l6UjRlVFUyb2pBK0xaelpIY0graFh4Q0oxamx4TUVFWHZnQlRTWjhXYzNnU1VKb3hhRFBRMkpsaW1md3RnOVBhblkvSzZEVnVFM0g1dFVkVDQzOVZUNVFEOXlyTWZCbzcxWTBBNmdjUk5yWUhYY08rbEQrRGxhN1U0dGNhSTJZaDNuU0RvNmZtWDYxcEd1Yk5uYXduUzBTYjM2UTlyZjNJU1NORm5zNDl6dWJycUlRYWJ5SUI0dG9mQ2JLLytRUC9vMlBQOHR2eU05VXRNeDBSRVZlbVduQXlxUmpKM0IvcFZVVUFBLzhaSW51TUNNMHM3QitoQkc1Mzkya2dXRkQ3N01zWVA0U2cyT2lQeHpJMGFVMkVaNjhSNmVucE41WnJJcGZvLzc2QTdWdFEwVjkzUWtoWXdpZk44Y2pwam9ZaDkzeUYzMkpVc2ovV3NKazRxRy81QTMvUXpjUUxiK0FlWmhFOFlzeWY5V3luUkhIdTRBNzFjcHEvOUtZUXBrODNNMHM0Tit0MlI3TEZBb20wMXc5S2pQZ1crb3dXbHFad2c2RkgxclgxQUkyUGVNWjM1eVh5Z2xpSkd1Y2xrSjhueXNqWm1OU09NZUd1S0VTK21oVWRFazBIZVFMOHd4bktVT1pqUWdXWjhneVZCbDcrbTBwNnhHWFFxMklITEhlaTFaWHBZd2RzbDhwWloydmxBM3g3SEhhYUFYb3RnV0tqdXU2YTVMU0xvVVMzQlByMzZBS0hLcCtLMDQ4ZStwM3R6UnJaL0tnZlpMa3pCN2JQUWZIMjFTVWlPMHJxMlpRc3pMbjN6QnZxMnVoTXV6YldFejZwUU1Ib2hiZUMyWUczYlMvQkpKWFVIK2liNWlxVGVKR1dtbHpKTE94L29BZUk5bVJPYm8yZE83MU83K1VERU96ZDZ6cVpoeFoxSTdQVS9SamIxdGtvd214MDFIaEdSSnY5bkE4N0prNWtwSGhVTERvMXMzUHd3NUJwNjNzU295TzZ2SVhyYXpLZ3N2amZRZDdPbWRrMWhzOTdtNHlIeE1KNWtGWFJWbENkNkliM0d4bjVHRXlwLzdrQ3ZML0QwaE9HaUdLVmRtVVdZTG0yZU9CL29XMEtYYVphSno0NDV2VStIK0xzaTdpQzdkdElvSndmNkpheVNXdTN0ZVdFRkN4SGMvTlBQMjVTdWZIWFJFY1RaTXc5ZE1CcDZXSStCdWUwTFRCUnMyMWhQWk1xS21vVDZBdjF5eVlhZWppYUhuMzJhNWJhNFZucGdhbnFUVy8ySldCNStuWUZlVzZhUElzaTVOamF6V1VWb0tXMU9LeC9vNHhITDlJd1FHT3ZUKzdSUHV5RnlXeC9kcXA4YzZCZkpFZko1VGVSVCs0OXQvYjhXWHN4SjdSL2JhR0lTYXREc2JoSy9xVFE4VE9EelYxTVAyK1FoRDZHZytkbE9FbVZGVFVKOWdYNW10UEUzTEUvcWZmbVZLUUhmdUVWanlYTkVIWE9lY3pZSGVGSmNKdkZ3Qm5xNVRFKzVvL05VdG41V2RyS0swRkxhbkVRdTBLUE5VT3NmVnQ0TnMwa0NQNW5iY2EzNnlZRis5aGJ0TWRZc0F2VzFwUWhMY0VHdlZYQWJvOGV4bEhIaHdsNFNxVG41T0JXOXlBWkxQRHZPY3VQNThBWDZNY1lmNTE3ZzcwallhTEZacnVkTERZNXpaTVFaNkdkMDJ4TUZWbnhPT2J1MGM0RWUzWXZlajZkMVFLZW9MbWplNENlcjk3Z3JHRThPOUlPN05KKzJwclJ0VmhsTnNqTE9BYmk5VklZQTBuYUYvWW96V2hNM0lDakhBOGEvbHhNRHZrQmZWek0rSmZVeGxIeVRLeGdWY2w4UHF1VnM1ZlEwRTdtZGdSNDlnMktNK2xuY05Nd3U3VnlnUjZRMWxST0xpeDRmMjlmOHdVOVdxM2IyMkpPbE9EblFkMTdFaElKMTRISk9kQmlhVE9XZE85REtYNWNqQThXS1ppT1dHczVORW5Vb01STmFZOHBUVVBRRStwcVlqQlI4blAwZjhkN3A3RERJdTU0SDljNUFiMHhHQUZkc01xYVFmckpMT3hmb3NZbDNkeVJmYWlZbmZVZ1NqVTdraWR6MjliVVRDNVdUQTMzamN0UkNSaTE1V2pHbmdTd3hpbmgxd1d5dFNFS1ZCcFBTd3FLS0o3ZjhNT3JhWXJUa2tGNVJ0cm84Z2Y3ODVGbTNaaS90S2E2Z1doMDJnNDdFekdVNmpSTWZaNkR2NjdvQk9yOVNPSHZacFowTDlPMXhsUVIxMGNBT2JRVEVsemxpTVFqTnlQMkpnWDRaeHNrUk1ycGh5WmpvRWkxQnhiMWlNQk9RTFVnRnhzSWhUMXJBOHNQY0RFdDhQbTlQNnduMHM3dy9McWlFRWNuYWZIYXpQMnhlcm5wam1lVEdHZWpyT3N4WHkvUVMyYVdkQy9TYjR6RFFJM0tveVhSQUd3RStDN0E4cnRNOE1kQ2ZSV3RFTTdwcnFVVDFNZWFKSmNsWUx4U0NzV05rYkFKTGhJWTBXMEh0QlV1RTBWNGM5RzA1UmhnZDNkZm1uSUczYm5jMUFUMlVveHVla0hKRzcwREhTRjBrMkJub3RXVXZlc3pDR0RWUG1MSE0wczRGK2p6TDlNS2FaeG5yb1hwZlRySjRkcHkyVHd6MFo3Qm1Edkd0SzE4N0l2c1Q2bmxVZERwcmFEVXJSaVV5d3pER3U4dDlZTHhOZnB0Zk16SHZXM21ya3FlZXZ1V2hTVTNVTXBkTW1weVZnMHVodjRXOHhvMUlNT0cvSzlDaldOY2xhMHhIbGprMGtGbmF1VUNmWjVsZXpDK3hITU1LRmZWcVZUZFhwRGlhNDhSQWY0UjJDanFXNHhBdFQxRXZiMStvSnhyanBudHp4Z3gxeGxDSU1Ma2lsbEV3cFRkNVQ5OW4vTWNhWHpJYm5rQ3Z4aWlTa3lQSCtVUS9hVk1DK0JucSt4MXg1R1JjZ1I2ellkZGx6dDZ0aWx2NlRlRElMTzA4b0lleFpQVGphYjd4VUgvWlJQWG1zWTZzUGFsRzRzUkEzNkw0YWRnN3pObHhFbXNDNUhWaUJWWnFKVythb1hpYnFoOUFFekw1YWs2UGJJUGlySDRhYW9pRCtYcmtRUTNzRXk0bUczZHZTOGtFWHF3ZjhreW94NklYY3NkTXArUUs5UG95ZlEwd090U1pUT2pPTE8wOG9OZldpZXhzNldqMWdoWkVsKzJGR2RyUnpCVXRpbktlR09nYjY4aEVCMW5kVXBrUnJuTUZiR2VSTnV0L0ZhektXR3VnRzBzRENvTlVxZUlzaG1uL0diYi9zSnVHUkRvcTgra1hzQ1l5U0duZTRndHJtcGN6WjUyMmhPY3NyVnJYcUtITytBbENya0NQU2lLcjQ1Y0krVHVDZnBIL3pOTE9BM3JFdVRHU0tWb0ZveDFGQWprbWJtcm1Ta0trOWpPdkpQZjlJeWxhQXZxVjcyOWMrdm9Eazh0N240N3ZHL2FMb3JUdnlzL2VUMTcvemlqNjBqV1ovcjFQTnl4SlpUQjFyTEJlYjRDc2Jodis3QVdENTdSblNaOGVXRTF1a2V0TTZXQkU2QWkxUXplLzN2dlIrUGg3UkppZXhuQXYwU0h2V1Fza2pGakpTKzJ4ejN3Wi9INzVmejYybFE2dC9jd0R4OS81UzJsL3plZUpML3pyRDM5MWpDek5EeGZ0WElIbUttSzFaalJIeXJ4SE1kT3l0R283dGpwY1NneE4xbUpYWUJzRStNdW02aGUraU9waVVUMk5XTEswUjRQK2tmdHYvMGRxRGhxdFpGcjlGT1NIUE5mMHI0MzNQZjVPaHVldTV1c0loVkdONnNBZUJ2cUZCcm1JZm5DRCs3Ry9EOEFEcCtEK3JlNFhSV25mZjlFZ2IzMzdLOGxyNTFVdW9hOUxEWEpyMzB4cXZwMWpUU3BrVThsVUJNQkw1RTk1bG5UdGdKV08wOG5Kd2FTWGh3SjZ4bVRFNTZHcm1OdzZIRWV6ZnpPcU5mUGRBMytFN0NaUE90TXJkWEo4UHlGL243RTdlM3pwOVE4OWRQVWkwMWovNGxYcXh1cHlseVUraUo1c1VJZGVGcXZXYVpUUldWK3VFM0tWa0RlUGprVjNxMStJM2pOMGtUeExNN0RNMHBRVHc4aUttNTcraWYrRkw5cjhCcjBGNUlrdmZCK1V0bUh3a0M5bFMzc1U2R3UvUTQ1alhIelZOdnB4aS9vcGNtU080R2lwVGJpWXNqYlJzOXdrdDMvL3NVLytMcnZvalNhaW9GOXFmc3RCaFBPU2VrZjRITG45MDFIdEx3emVVWlQyblNkM0tJY25HN0VjU1B3blFuNHhxdUhPV0pNMTVhYWVWVGI1RFJ4WmQ4bForMytWdUlnTFdoazNxVG1HN0JuTlZFQVQ4cEtNdmtodTRnYmkzNHpGbUVvR0REc1d5T3Rpd3lnYmpxRGVqOGpGUzFjZnVuci94WFJMdFZRbmQvZWk5emJJZDlEb3RNbG5EOVYyUDNFcTBNK1QyLy90dC80dmxobzNhRnoySEdrNUYzN2ovanZrYTdhaXBaOU1tWTJwZER2SFQ2VXpqRmlwN1RyNHpFUTVNUXpXVGtEZlNwUW5mbThlR2l6a1MrblNIZ1g2UHJtekZ6MTNhMnZUQUs1Ri9XM3p5Q2kxOXJkNUZnRXFtVm5tYUJGYzlvM25TY0kvZEVWQi84eWRMWGpONlVmZXpuSElQbTVBMStMYnViMUg2ZEZqaU92TUVjRTJaNGZLV2lON2xFMjJkWjFPUHpCSGtsVCt4bVJYdWgwNVlyQXF0d3Qzb1BYdUxZMVlyWmswYitmSDQva1Q4WDJmTFMzUFRtSjNvdTVzZ05iODI1K0NaTERkYURrOHg1ejM0UmJYZi9ad0RQZEI2d1hhRnFCSTFBSmp4MlpwSTlLSTV6MUoreEwxMDFiSFVLcWw3enQrRzYxTXc4K3MwYU93MEpKaUdCeWNnTDdMbEpmOEhGLzVpTUZBdlpRdjdSR2dmMWNDdC9wNlN3ZXVUZjFvRmZRKzVraXJtek5xak1LeWpmbW4zU1QvN3psT3lnYWdYMnBzVUQvTUI4ck9Dek9YdTlRdmluYTA3dEhpdXlCbkQ3b0M5R0luSTYrVUNablViemNCWU5Oc3NFUzBMbGtUVGxmL3RERExFVVZCeUZZRCtiNHNjalluN05rZEdTeUNmUHpMWlNYWnF1SUNkOElIRFYxWXBiK1hjRjJLQ2ZraWF4ZWk2QSswcnpUV1ZjN3paazhNU1JiWW1DeHZLajNlT1RVeTR0NWx4ZENwWTJzbmpKdHFudktsblEzNmxVWUNvdG5uWTYyVmptenFSMlhVUkVibmZud281RCtqcDRWblV6UzR5eC9qcUFib1ozbnFybW9oUGk3aTRZWjNhVFpFRnQrMm5FMFE5OTFBcE4yRWZaTzhLUEtSL3VkRCtUN3FxNlZuYUUzZUc2VlpHRDVzYjg2NjRUWHBTME1hTTFHRWJPK0s5RjNlZmtaell6dENrYVRNZjB1VURVeXp2WVFRdE1qdHBSNDUzaGJFNGR2Zzg4K1lKSkd6YXczYkxJcElZLzAvSjY5YWJ1NWJJNHozVEZmMHNtSVlQQ3NFZmZuU1R1dEN5Q0p1NWFTVlZkVWxxL3BqZlhwL0JXL1hCQkVNcGVnYWlueGdnL1ArYVZQMFdnQjlmeitKY0NRckVSYW5lRHk2cWlaYkZJdHZSdzRmRm5oUHJ5WkFCeU8yQU0venBxUU44VGg3bVVzNCtyYjI0bjEvbGZYOHBaN1c3a2JIb20rOHNFY2E2VXRMNGpxUFFTZnl0N2w3UlpUUFlrUFowQ01wbFFwRUs4ekxCcGxZVDBpaEd2Rnk3bWxyQXloak9hTURONCtMOXVyYWhCazRFa1gwd1luYkM4RUo2dDhUYnZaZldneURXbldnZDFEYW1hQkhnYjRoRVN2V3JHNllNZnVKcjZaK3VreS9udmhpTlFIUjN5eGU2QktLYWpEZ3V5TnJBYUlsUjNJYTVJVkxQSDViNGcrTmd5d2kzUGl3bFVTdytjYnFBcW9rRXhpbGk3TStHRXRzYzlLcHZ4bmV2Nk8zVXBsWHNUWlZTeU05YXczRXpYajJaYXdzQnpLVGpJR3pJb3oxcDVPT2IvM1Y1SGthN2dPZWd1ODlqYUw2aUVadUxQWGNFWHBLakxybzM4R2EyL0U3MnRyQVFQYi9iTXFGRHdGUlFQdTVtU1VSK1laU3VqbGhmY0trSWpvd2ZpamM3TCtzR0FheENzMTdCNldkQ1hvVUdGZFNYKy9IYmVxSFBzazdmb3Mrbi9seitzV2FiOVQwY1NTckJmVkVlZk8raURZVVNYTUFKQW1RcnNvK1lFZkVReUpNQXEzVHhMVEpVRDBaOTYxcDlieStUaU1CeFpmcFB4N1ZtQ2Z2K20rYmt3SWRXNmMrTVBLZEpHUUdPcUxibmdzNmJhc2JVKzlhUzJhTk1zYVR0ay82STZJUHVNREkzd3ZDeitOL1V3M0NsRkdGRzMyU29WVE11d3FhZ1lHMkhFcG5UQTlacnBETmJlYkkvYk1zT0I1cFk1cmNxWk9JNk1TMmpTUmx4VENJVlFoNkI2V2RDZnBZVmlDOTZLenFCdzN0dWZVT1hSMDdSbytKbGxxWTZrZ2hlbm9KVXVBaUFRK2FCTkVRZ0poNHNmbWlMQ1c3empwMWJtb2RpVzZqeUdpSlk0Y3pVSzJQRWFGSGVMK2srMzVNRTlOMGpsOGhqOW8waFU1dFlqZmFSUDJSSms2TGF3MldBQjlZVDB4NmdnUm9TYVh4aGh4eGN3UGx3SFlibmxNV0dnUDl2cVRjRW0wM210bEQ2WnZMY1ZZMDlwMWg1T1pLemlLaDBibXV4eTR0aGs3TTNlWWNrNnJ0elVGcFo0RWUvcS9oTE5zYWlxenFwOHYwL0RuK3poL1lNbkxhSVM5cDd3UFZDOWRGMTlCUXBRRkM2eXcycXU4TmxhekxHM3FiTHlyYnZvaTVzMDVkVFZrUnFiMXJ6Q2lJaVBTL0xoZ2dJNWJOc2F1eXpkTVRsWEVmUVVVU3A0VUlRWHNTYnFBbVc2V1lhMjJVWVZPSW9UVVI3QTFacEdqRXIvRklPNGx6UnpUcTFCc1ozdWZCN0NVSlF6RWVTTjljamxtaE9HVlo1RXBuUkJveUVrcUxZUkN2c0tkM1VOcFpvRWVsdXM3RmdsTVdrbFg5YlZSblV3WHFyY1d0dnNTbnF5ckpNNkxSYnFpR0g2Qy96Q0tDNHJxaTBlZFJiYjU2NzMrMGl6UXdIdVd1TmN3QlpzR3NKdWUrZDVEN1BjV011MVl6VTZhaTV2U0FGTmxOVUM0YXlLbUVXMGUwbVVncG5SOTg5Vll1UXFVaUhSR3lKZ2dBdit2Y2pma1dtQm4wWWhMMURIVFFvM0NUd2tDVlMrdGJKYks0VmtXS3hZcy9hQW5PNTZXeXl1S1hGc1BrV3QxRW5vUFN6Z0o5UStpWm5VbVJBbHJWdnlsSDZqS2VkSFRWeWpMOFVPKzNSZEJQL1ZMaUFpZFJWU1hvZDFUamdFaW9PK3MwcnRVWHlVVkZXS0YwSUpBYStHOW10a1lMZk40cDJUTjhuWkkzSHZlZ3IwUDRjdFozVjdOL1l0RStJdGNDVFlZQTNsNWFZZ3dHRHJBdGJnaEd5TkZCOUtoaFdRMTAwS09CU0FvYXpZTW9jSkYyelAvcUVHREhSTGNIRDlFb0xZYkpwVXJRWjNWa1pvNUd2R1dBSGdzY0VqcE41Y1FLbkd6YUZWSG9UNXFkeWpkeEdhQkhIVWszOGcwRlRBbjZ1dFk0TUZqK05hVm05ZTJBNW5kcmxWdlJCVGdBQUI1aFNVUkJWQWp6QXFyaUhXbEdpcG16T1dtYndFU1Zrd29xenFyTjVsZkJCVnlRazd4VUlKMUtFaXZsMDVtSWZSRUN5dCttYVVCNGUvb0h0MnVDTk13cUtWS1Bxckc1TG9Mby8wRExKRzBna29aMmN0Q2pUSTlMN3lNY0t1WFNZdWlDVmptbWQxRGFHYUNIbXVWTW1nNXBxL3BqcmVoTlZWQ2dNcndtM21BbXNTWWpxaHVnNk1tZXk4d2Y4YlpsQk5yU3NNeFlmZHZ3SmJkKzVVQkU3K25aSGFpaGd3am4vejA1ejAwcm82eTVNdFlaYlpBZ1BjczRLRXhWdDFpSUVnaGM1d25wbXNPZUlOTEV5KzJQaURmUC8zUVdmbC93d0l5S0hNTWpTeStjUFphWm9sRUdXbFM2Y3BNTXFkREtiZ2tDOUg4cFkvUERIOHRJYk5uaWV3N2xleUZIUTQxS2tMNjhHR1ltaG5yNjhUSkJHeE04TnhRM0I2V2RBZm9kVlVIMTFweXVoeEV5cEg1YW5iVk1xZXhSbC9FZEZvQmFqYmRGdklicVV4RytScjNCVWxyZmVFVkxReUZxOTZYVm56N2lYQ2x5THB1cnFHM1FvYVRGMDcvNUlmNzhQQkxmRmQ3eTN6bm9hZTR0VnBKa09ONUI2K2toajRiZVVobDVmVXFhM1A2bDhTUWN4S0Q2M2hCMFVQUksyVjFDNnJJSllERUdPdWpwMk80eTlVWWRFdW5aZjR3QTYzTW9vckY5VGFxSWhmZGsveWJveTR0aGNoOENmV3dWQ0o2SElsbFdCTHUvaGk4SHBaMEIrbGhWVUdQTzNLWisybFZlRUxJTS94dWdYN1ZObEZ0QVQwdEVhb2NkN2FVMTNPNHJ6bldSV3h1TU4zUnk2NnZFMHpRc0JoYk9meUNnOXFTYklyUS9ldlR5YnFhNWEyWG8wR1pqaXhOQU82am1CN0JHenA1L1dJWjYzclJVaml0Q3YxK3Rad01xVXpZQUl6Y3dQR0xlTnd5REhzbnN6NzdJazlnVmxSelZFcjRUL3NkR3oxUmVESlA5RU9qdEFzRjNYeVRMakdFTnVDR1NSWkdEMHJhREhtYWJ6QjdLNklKa2FWTS9OZHFsTERJbWR3eURYdlZQSXFZRjlIVE81MUNFTTlEVFJUVzdielRmNEdwS3RvSjErQnYvT3o1UWREUVg3VFgxSnhYTGVVK1B2am16QmRJeU5zS0p4bFUyVGdPeGlabkdaMFlFSmI4L0lyV3JJRm9LK3FQdWRxRTZOYmtNakN5aEJXWjFkeGowUDZlVDA5ejM3VWxxUjl3N2MrcEl4c3gybUQxOWVURk1Ua09nSHkrVEptZ09KMU5jd3RGQmFkdEJUOXRCb2ZKVk5aSUVWNHY2YVF0L1lLcEF2UmxqK3A0MlBTaWpXRUJQbXhHTkltV0E2SGJmS0tKSHZOakQ2bC9YTmtLWHpJUmpVYU9QWGxOTlRZa0laOVNnUTNpVis2ZENhRXdMRUlPbEl5ZFhXMGFXdjBScDQ3bGJnT3FrU1dqanBaV05ubnh6YUNuY0hOTmplb2U4U0tNUGorbDFFaGx1SFA1S251c1pFWEo0TjR6cDJ2SmltQ3lIUUc4R3VuMHJYOXAyMEtNeGxwMEtZSDZvY20xUmZ4dmxvU0lNdVl6Wis1NVdiV1U4QytpSFNvU0QzdTRMT2svV2tRUDYwTXFZRC9TelVyeWtNVm1UMmVFTzU2QnYwd3dPYzVub0hTMnhSRFZBc0tVbC9oMUtITStoNXVmSk9WUUtPaGZVR2pYbW9BRURvNmV2YzlDRGdwNTNuVUttK3p4SHZUbG5rQm5kRnBBYjlEbkZNSGxVQ1Bxb2RHbmJRZC9XZG5GM3pMcWFWdittRGNwQ0pRYm9WL1hwSnhIREFucmFweCtLY0RhUlJ6RnE5MlhSZnZNcHBFam1pVHE1ZXZxQmhFOXlEWGFxTWpsZnB6OUMvaXc3LzVTVVkxMndTQVdtWU9LcGRVbWE4RWRpa0JkckgyTXBsWWxBN1dMYXVGcWVuZUdnZ1FINkpqZnZpNEErbXNmdFVYaEthRkROVXRHc2x4ZkRWRUNWb0M5ZDJuYlFvNGFLK29YNWQzTWNubEovUzE4a00xVVJSYTNFcEV1OFYyMmxaZ0U5SFYxc0tFbzhtZDJYUi90eDVJSjFoSDF0RlVtUkdIWjFtS0hKZlJ2REVJTC9xaktsaDlNV2UwZStob0E2S1IzVVU5RTJBVGU2QUtCVSt6S2trT0dUa3A0Z1BpMkZRMnY4WmZJeHRYZWJ4UmdZb0k4NTZGSGw5cXdFUm52K3l3K0Njd2JyMFNtVFVIMXFpbjM1UFlOV1hqRk1ucFdDdm14cDIwRy9vN3BMck1wb3ZTS1RkRWo5S016ME9yZFFTVWV2aUxEVE5iT2FSN0dBM2xoUG9RQmtDTFQ3Q2tiUisxRWw4TEtwdFZjeUxPV0lMMnRlSFV1MjJteVZVSXRFbmNzWks4cC85VmZqejlOM2tUM1prQTdSemZjS3VBbWt0NGRIejZDd1VpL2JxdVRLQmwycjJiYkdmUFFtNW4vbHJBT05NakJBajRSTTYyaThEcTBFeG5sK0VSU3VqWXVVRlk1NnZLdUZsUmRESXdabnRhQXZXZHAyMFBkNW93eHBZRW1LL2tXSnFhc2YyalFXUTFRczZ0clVGbkxwTlhicFlhMEY5SFR4WUZ2UkFlaXBNV3YxclgyTGpBZFlJVkZ2bE4waDRxYTJpS2VxWVMvVjFLRTNiU0JmR2MrK0lKMzFIeU5oZHR1WWxVcjNCK2h2OFBlT3JiTkV1QUU1UGEwN3Q3R3J4U0JiZndOZFB0M1gvQWI2SzAzSUlBdThiV2lSSm5DQy9JVUpvaHRSd2Y2NjVsRmVESTBZbkZXREh0ZitGaTl0TytoYmFnQ0VkbGxVTlUxTVRmMjB6Y3d1aW9IZXZkR29CeG9WNXJTQW5uNTNSaXVoSG05M2JMN0xxaFZCazNLTnJlL0p6WGJEck9RNy9YYWxldWhFNGE1NlpTN3pIb0FrVUM2V0lQN3djMkVvZmVxVkpyaVI4cDNFQTlvVEJIRGJrRXk1ZkNDYzNhR0JtUEIzK3grbmxjVVlMRUtuTTJZUE1kQkJUd3QvZzhaRTQ3MU4vM00vLzF2RVJBbXZDL2VrL3lpOGJUMU5hVEYwWXRXQjNrbHAyMEhmVlhZVTVqTFhJZDlmYkZFaGJlb0hCYU41cC9IVTB5YmE0SUFhQmZzcUxISFpRTjh5MnBGTlF0Wm9YSnZ2aXRaSHM3dlgwRWlObisyaDM2NVVENUpJT0FuZlRZdDlFMkhNbXZIY09oUUpNLzZwbVdLc0dXWEVHK0VORWh6MGFPWFhSTVFGSXJjaURJcTMvWUphanY5T2hoeWIySnNIVzBqY2NrUXBEZlRpcHZXRWtVY3R1SjZEajR5eUk3L3pBZzFja040VE90RG1IT3BKU291aEU2c005RzVLMnc3NmxpcXRkbEpFelFNSWFWVS83U2Rwb1AweDc4aHJHcVgyUjFzMGpRMzBSMXF0WnNmOGRtbE1tKytLTnNyclVGUlJ1NDNScFNtaTZFODBkK0pEZittM0s5VkRrNmpkcEltLzlZNDhsV1JpRjUyUTBMSTZjWG9rQUZodUpPbk9hQlc0cjNxL1ZiMkJMY0loVjVxZXZpOG9XbWFYalNQaEVtdk9CeW8zOE1QYnZxU0pUSE1UYkRKRm9JV1RUZlNFellYa0RRZkk3T252NWNYUXFWVmwzcnNwYlR2b084b1cybVFWckVZYmFidjYyOFF5VUpjS2tRZndtUTlneStzdGZZMFA2YThOOURBdnRITTZUVjVlTnQ4VjFlZGgvbUFkOUxvcTczaHJIdUluOWJRMDZnaU1aWDJVTVZ0NlJxVnZjUWZ0NTB6N2NuSmFEWkdudnJMdWFZTWxWTHBxczA0bVp6TW1CV3pzNTFXVU9USGhNOHNRalNxaUJoNFU5TmRsVkpUOWk4bExQSkdSM29PRWdvalcyQW12dlAvREZiMjhHQWJuYXNiMGprcDdXQmVKSkgybDNSWlQrVHlkSXJLcmYzUGtqTUtNTVY4UDJLbytkaVVwU3h2b01RQlQ4U0JwVXBGc3ZpdmtKYW44SGh1Wkk1ZVhwWmMyNUpkK2NEUXU2RzkwL2tuV0t4NVExNGdZY1F1K1FQSlJCbEV1cW1KM0k3cDhjYXNSTzVBZ3hPMXBEV0F1Z29VaW9UaTA4ZFBnQmlmU1hXT091ajVMTjlEN2RJUmNTK0xXSjhybmp1SzNaRlFtempqbjMvQUhHTXFMWVRCMkN2cEg0aXVIQm5YeFF1MUZCNlZ0QnoxSzY0QXphakRqNmh6Rm9GMzlIUjJnSW5meUgwMy9sbnloY3pocXplNWNZdTNaUUIvVnRYZ1ljdk9PMmVLN292VXNBMlpNUWlMUisyRExKN2NvVlJhb2ExN3JnT2g3RDdyY29BNzFORVFOVlY2bFhLdGdNZHl3VEVwUUREblFTUjJLdEpCV210Q2IwaVZDdmZ5M05QWlJmVGZoY1o1bkNjZEJlSDhPLzRGbTdOTkpEVjRUK3FJOGMyVVA3RVFITUM5ZHVWSWFrYzVvRllVRmxCYkRJTzhTOU0rUks3RzEzckw5YWZ1Y2I0blN0b01lVlhRam9ZMXcyczJlb1NWcFYzODhjaWtLWlMyYUQwcXdvNnBvTkVqNmFDdm9VWGUyYVh6NjlHUm1MTDdvL1dXanNwbU0ybUkxQm93R3FnWW14Tmp2N0JEbzZiVEVCUzJjalo4M0RJK3lMeEJDeTFZeGFqMXUxUXkwdW84R1FJNTRtL29rV2pFV2VWSkJXK3NpM3JJWUtPL3cxVUtVdDdJREJ0cGNDVXdkTVc4eTRISUlJcVAvdTRyZG5MSndScWV4aExZbGV4NVlXZ3lEaVVQUUw1SnZ4b1pCc3o1eVhvNUsydzU2RU45TytLQjNwKzNzMFJwK3JPcUhyU2tIbFVrUzgxZFNZdDR6V2dzUjd6SXZyZlBIWE04YTg2TW1nWVJyazl4TlBHMitBUDB1RDQyNlNmVi9SbzBrYTQzcklsRC83NmhheTd5aGhLSE9CL3ozOUJTbDNadGdJY1FvU215T3NNRTBwc2gzSllsRmNtdWZ2OHdQVjJzWnlhMWpxYUVrZVpUTHRDamJvWlpXSUFPVTdSWm4zbGVsWXZtVzVJZ2NkdmpIY1JGbFUzUkZJNkpuQlExVWhVcWlsQmJENE9RUTlGMzZLYUNtTm0raUdEa3FiVHZvVWVkM0dTdTZ1RXJaZHlsNHJPcUgvUzZIR1N6SjBFOWRxNkhvUVdQNWRhTnpTWDJnallaSXNxcXd0eWs3REZqM3V5SkMyaGVnRitwWjVtWTl2RVNmTWlkN1FVR0Ivb09pU0pONG80MGJNdjZ3TktLbktPL3VnSVhJVlZGcTg4bVMzSXkrTWllN1dtb1JYU3RLZWJKMFI5TDBFdGRqNFZQRXdnUWZhSTBiM09MK0xGU2tGd1NYR2VVVVhpUCtCN0wxWHhvcXBCR0owa0U3b2orUlFXWEZrSVNvd3gzb3o3R1B6R3hhNjUrajByYURYbDU0Yy9SOGk5YlZHdXYzck9yZlJHMlcwMHFHSHBLWGpxbHNkUFhmbWdTMGtwUFlkSkY4bjZmcksremhOTitiRXQrdTZsZWl0QzhRTHByL2R3dWovUTlFcDFMVHY3ekFlVVRScDJPa2VZZDhoWFFkZUlqRWlmKzVpZXFsUml2TDJRVUhjOGtnSytZSS95WnJIbHVxRVVUYytuZnhCTXNOYmQ1OEJKSHlRY3V5cTM5MzhuMjZsU2FNZXQ2bDF5SG9yM0VlQTBJK3g4MStWQlBhYjdCbmNhSVdkVVorTXVjUHlyUnFYVU5yTkI5bHhVaUU0Yi91UU45bDQrRTIyVGJvOHhjM3BaMEIrbDdTTFMyUS9RSHRGUmRaMGFYVS85NmYvMVZheG9UOHJYLy83M2lacDNKNk5HUld0VGpHLzVES3R2enc5emFRL1BoVkQrOUZuM2o0RlpUVU56MzhqeG1Oai9ONC8wZUNtbnFuZkFINmJtSmlMc2VpSzhHM2JXK0NPRDVJSjJvaWZlSFBuN3lTY3NIdEw5dmM0NCsrTjJZZTVLMFBmMFJFaXM0TTJRSXlvS2lEOGxncm1saWtHOURtOGF6V0NDTGczYmNPV1hDdHBWREZQRHordkllUXYwM0puMmVkMHRtbm1mN1lmdWpheDVqN3lzUDdOSHlBTXF4L0IzV2htaWs3QjJXMlJ6M3pQYlg0elVuRUh6TUZ6NWRheG1xa1VWUlNERW1hT3B5QmZpR3htYzRNalVBNU16ZWxuUUg2K1dRdzFuMCtZclpZMHNlbjFOOWlKWno4YlBOc0RmK3RhcVZOdzFaaWN2ek8zL2p0M3lWZml4YzZla2llUTdyMUpubDQ3WGcvSVQvd3g1LzhyL3hiODRMc3NDOCs1N2ZTK0RaQS9KTjFhVEJFQzFoeStPKy84Y21XcldkQWw1TTh1NXlrOUZDenhMUzZsdTZXUlk2VGY4cnpndWsxK2RzS21xS1YrSGhEVDFtcjMvNTl2UDk0bC93RDNkdXZHNlh3dHI5ODRrY1NjM3MxMFNmckYraENNbnZXYVFZR0FQMVorcFd6VDJQZjhKYktrdEdPSys4TTE3dkkyMUMrdFVmSWJmd1ZmVEJnMVRMQXFaUVVROCtMTTlEM2tzSHluSDJpekUxcFo0QWVjeVp2anBZK2lGNmtGcFBEK2NZK0UzQlkvWDF5OGRMVmh4NTY4T3JGaHFWUFRYU1NNcFFYbXF4V2ZEY05uZ2VCMXovMDRQMFhDVUIvZkJHMFFFcDBDY0E3ZllTdG1KQ0xobnlYMGIvaDZweExEY05pUHgrenBLdzc0dW5FMytZeDVYajFvclQyTm8vQk5oRkNqRXZwUjJ2WFJRSW4vNmh6QUVCcFVzK1JTK3FhZjA1dHZrbU9yMEw4cnlsTmZRSUNTU2trOXRRcU5BcUZjdERUQXIxNmYyT2RFaHRRbVo4anh6RWhyOXZUcUtkTmJTMHc3ZnluS04vN3NSdGtJeDJVMitlOFd1VFEwcFFUUXlQa3JxY0gzQ2pkbVl3VkRpZWxuUVg2cFNhNWxWVFRkNUhqaGtCREFmV3ZwQVp3dFo5NTRQaXR2NmhyTE1QOTZhY2JsMTUxT0J4bytySlRkazgrUlM2OTVVZjFpRXVmQTQvUDZqNlR1ZXRwWTNBeUFrT3gyUzdjd3lIUEFxOC9FVi81NmVGa1M1KzduOXozcW8xaGI3L3ZLSVg3ZmozZGQ1cE1HZWlqTHo5d2ZPV2RSc0RSaENPZFR6L1Z3UGZTREJLVHZzell4MnVseE5EejRLcW5YK1NOMDh5UWdTeDV1U2p0TE5CSHk5L2YrS2FrZnYxcDg0M1NyaXFnL2tiU2RNbGNUNE1EU3dyakt2UmtZa0ROYXBGaXNxUlRIRHNCZlZxQU0zeWRKUjNpemFkZFlyeVdKWWFlV1ZlZ2IzT3d6eVZEZTUyRk8zY202SjJ4NkVoRDJobEo3NFRPbDFrY3N1VnVCcGhYbTFac01lNUZ2eXkwTExwZUd4bXZ2TDV0Zm1kOE1oWWpTd3c5ZVRIUXYrL1BuLzNvQThhaVM0dXZmNThoZDNYeWJ0MytRZCsyVDBtNEZjTXh0ZG1NRVZWaE5tY0FlcU53QzFPYXBvUlphSUVoVmJVWXNiRXhkREx1V1dMb1ZBcUJudTRQMGZZdmdCNG1RdmNaV2ZkZlRkWnk2eC8wNTdKR0oxb3VUcHV6NTNnZUwycWpjTEgwK1RKN0JxSUtEOHZkRlhzcmhnTjh2UzlaNS9GeWNzc1VRMHRmQ1BTMEt6RHJCWnFCWk1hejdiT1A4QS82VXZyVzFGcWxzK1Y2SHVJSWhmdFNsUktjQ2w2RExOQTdiMVRIaVh1MnpDeENwaGdhMTBLZ1gzbjJ3MWgyZVZFajB4YU4wMkM2emZ1b1ZjS3kwdlJSb2JPbWIzUjF3cmNQME45d1FtbWFpR1NpNVd6VkxXQzd6Q2FKVERHMHNpZ0VlcVJIWjcrbWtla0xlN0EvM1JONU1HMHZhR0pOZzNQUmVaM3NBdlRyMHlDNjB6eG1vc1Y5cXpvbTM1MHlIVSttR0JyVG9xQmZOZmRzeGFMZjcvb2NGUHMzNzNHK1pkb00yN2J6QlljWW9MK3UxWkdYaHpNYkxhVkFPTG55YXFXV0M3TEZVRGtwQ3ZxZU1RTENIcTYxaEdaY1pqeWlzbVYzVlFENktCYWI0dTFaT0gyK0hjZXI5Qkg5VExQcmFZTFRwN1pVam9DV2pKWnUxbm16bW1LdWV5eVdXS1ZuR3dzenhGQThpb0oraCtnMkNOQjRqZEhFK29iamZlQXFxK3draFA3cXhYMDBaZlY5U1F5c25HbURiVW5mY2tadVdnZ2RpVHFjeXZDS3o0NHN4UzNxbGRwZ21TMkc0bFFVOUYxajlYSlduRXJBbWFRMVJkeTFxNHFlL3F4UEFWd3JCUFRtbkErLzZjR2lsOS9lSEhxLzJtNUcrYlNzNThVeklwZjJibHJ2VmNoTGRvUVlra1JSME1mR25IRWI5VVE4dTVLMmMwY1ZvSS9pNmRxWHNpT3ZlM0dsYm5wcHdIVHB3SW5rVFhNOVNxYzVXMktIbkU0bmwzdGg1STBQWTBtTUVFT21MUWg2bVBIaVhBc2x0U2tRai85dFNkdTVveExROS9SeGkzTVJYQk9zdVRjOTZTNWNjWGpRZFhaUEs3MmZlaGhnSWVTTkQxdkh3MHRWenU2MlM0d3ZSNHNobFY4UTlEQUI5Vm51RHJuekdIdDZ4bEJmY25Ia3FBVDA4K3l5QlVjNTlrNW14c0VaMktGTTBxMVgraDZNb2VCNzhyVkxJVStmRzFieE5qTVBZMXVqbC9LczY3M3BoSlRHaUNHb0ZRUTk0S2VycHltNmhzM1UyVlRCeU1WL0phQ1ArcVhHVkM3a25JQkd5NzBodm9xNnZ6WkJGdTZGcU4xajNMVkFMeTdRYTdVUzdMenppUk5GZThoMXRzeFFZb3dZZ2xWQjBHUG03b0lnZ1gvWk5laDN4R25oanB6VmdINHhjMExIa1JnT3ladzNpc0VONFFGQXYrdUcxRDFEcGZOQ1ZhTDAyZjBlZnJrVkJIM2JXS1lINk5lU2JEYThHb2JWZ0Q3cWVEd282TGcwTnoxVXhoMkFmdHR4UHFlZDNHTFdHcjVyd2VhcmFHOExnbjdUR0x0aldpL3A5N0ZKWjkyMUdqUjZGWUgrL05UVStlVXl0cUNtV01QWkF1Z1BESi93RXZXZnIwWUpBL2ZEdFhUR0M0SWVGVU9qQmF4Zlo2OVk3ZG5XL0YwN0t3Sjl0S2xQVXJvV3dpVzlkb2xKbjh4OE5BSDZ6TUNYYThCOE5lMWd6ZjI4cktYRUNvSmUveG9UTG8wVmUzTm12YzdqMGJ1SkxTSzQ5MXA2aDN1YVhpZyt2dWVCYkdQa1J6NDlNSndLa3Avd29lcVU1TFdobTFWVEVaeDRGQU05N0hsOTNJc0Z2TVFlN0JtcjkwNHlxQk9wQ3ZRNno1ZWRHMlhydHhSZmRobzlkUUlYQXoxUS9oVk5GUGxCZ0phWTBOTUNIVG9ENkIwcU00c1VDdE1vM0t4NHdYOXFOVkFNOUVEZkRVMWtqT20zMkt2ZklYMWw1cjBtMnN2UFNiLzNweGZ1eTA4RDk3ekV4VUNQWmZyMXFQYXo4WlhrdG5aWWhFeFI1ejBmMUFnOWZRWDFrVjZBdUY0Qm44RGl4RFJRRFBSdFROY3ZkY2xGY1JxUmc3NXQ3TTExTDFNQXZYdWRwaWlpUWE5cVVUckZPM2hVb29GaW9NY3kvZUhPOFdlalQ1UGpQWnJOWm1MZXR6d3ZPQVRRVjFBblZnSDZqUXI0QkJZbnBvRmlvRzhSOGpnRCtGSHlMZWMrdXd0M1dkeU82VXVhQUhwZm10WG85Z0Q2WklaRzh3ek9lMGtEeFVBZmsxdjFiNmRxbUVsdzNtTjdjbVo5bjA4TG9LK2c2c0dLZXhsZW9WR0JZazhQaTBLZ3AwdTV5V0ZEck8vc1E1Z1p0aDIwNi9zQVlnQjlCUlduODdLOFFxTUN4WjRlRm9WQVR5OVUrdFpFaGdaYm1WK2lOK09kOWQzUmh5VzdLdXBOOCtWM2hVWVZhajFOUEFxQkhqMnUySW9jSnlmcGNTQ3cxcnp0ZXlnWWV2b0txZzdLMXVQZHBoVUlFRmlNMDBBaDBHTlZSOXluVkUvdXlsc2dyNHM5VDkxRGtnRDZjY1ZaUHB6ZWhidGVua3lnY0lvMVVBajBiWFhMUW9zZnNmbEVmRit5VWNlbnJBSDBQcldiMEY0QTZLLzdaeE00bktBR0NvR2VMdFB6UEhmRmx5dXJrQ0dBM3IrV29XTlp1UDY1QlE0bm9ZRkNvRytwSTY3MUtxdElBTDMvS2pJSDBQdm5FamljcEFZS2dWNDdUUjlYdVgwcmdONS9WVmtsdnJkWStaY2hjQml0Z1NLZzEwL1RvMS9ZSHMzQllXZ0F2VU5sWnBBYW1GY2x2UGVweHBWM1prUU4zbE9xZ1NLZzEwN1QwMjA2aDVXSkhrRHZYOVU3eG1uNkh5UEhiMjJTYi9QUE5uQ29VQU5GUUEvc2laVmNldVBDUVdYWkRhRDNyK3FXZnBwK3BYRjdJNHArbUx6SlA5L0FvVG9ORkFFOTVub3U4eHpTNzU3NTNwS2psQkZBcjNUaHl4V0xtNDBwZzZOazlhNWJZY1B1UzY1QVYybWdDT2d4MTNPTlU2RGZQVlBFZkxzQzZIMXJtSDJjZmw5d1dlSWZzanduTmwyTGdQQS8xUm9vQXZvak5XTmY3Vnh2QUwzM3VvYWJ6MVMzUHNjL29Gb0xFL3JlRlY4bGd5S2c3NnNOT2IxS2IwNE5vUGRlTmVnTmVaSUp0KzZqcUZQaGJLM2tIaHkrTkZBRTlIVjF1ejN3Yi9rd1JNMVRiZ1BvUFNsV2tjVU5lZXBqYWsxMk53b0NCMkU3dmxMUjlMdUtnRDVXOWFJcHYyS25xV0s1c2FHOU9YUUcwRHRVcHAwVXpsSTlMMEt3Tk1PZHErRlNiS0dVZStHL0NPZ2I2a3NYTUFiRm5KN1N4aGxmSCtFTG9GZEs5dVJxcStWWUhHb1VIKzJlNHpONm5wZ0dzdFZxb0FqbzFmWU5lcHZHWGlyRExWL0dZQUI5U3RldVBZNjBnN1d6Ukh3VDkxeTRRY3Uxb2srU1hnSFFZeGVlMkp1REVhQ29GMG9JVEFDdnFUZVhyZ0I2bDlxMDB1b2s5NSt4c0o2MDZLRDRkTnR1VFI4OHAwQUR4VUIvZzBzR1kvREZsSkFZRm9wR0lSVld6aU9BdnB6K2NxU09OWGh2eW0vYVlVNS9JMGZpRUdVNk5GQUE5SkhxeVhmVWJScEtYSFFXbGhsOUZWN2NGVUJmWEhmNVVzS0tVMWZoZHVTY0hrQy9uNDlBaURVRkdpZ0MrdVF5VENwY2t4eHZEUXRKdDNlSXk3U0d3MHErQjlDWFZPRFk1SmlrdVNNamRTWG9jWjNPcnZRT2ptblhRQkhRMThXWUhYWGhLeWtGek4wMUQyZW1JaFQzQ0tBdnJydDhLYUZoWmFVMVplT05nbDdQUnlERW1nSU5GQUY5UjN6VjlGSGJnbDEvM1RhNzUwUVZBZlJPMURpQ3lCbDFsaXFLK0UzSGlBN1FYeDZSS2dSTmx3YUtnSDRnSnVwYWNpRlhDYjFFOXJTTGRaUy9DMWNBdlFzdGpxSXgwTzlFVWFDSDFSOUFQMHB2MHhWV0JQU3ozS2pIanEzdlNrazdkemZxcW0yNnFlQlNIZ0gwcGRTWEkzRkxQeW5ka0lNM2dINHRSK29RWlRvMFVBVDBDM3h4ZnNDL2JXVkl1bk1aeHpNOG5iRVBvRGRVN2VHbG9lKzdVRE0yQWZRZWRIMXlKSXVBSHBQMmU4anhVc1BTMGRkd01CTUxlUWRlSkFxZzk2SldSUlMybXpZenExNEM2SldPN2dGWElkQS93K1p5M3k4M2JHbDZtTUdLRHdhR0c1cVhPMmNBdlR0ZFdpbEJ3ZHJZdlNGbjd3UG9yZXFhVnM5Q29GOXEzRDZNUGsrT0Q5TlNiNjVGVWR2WE4xSUM2Tk1LZCtLei9OVFhNVHFZdk45UUJBM1FhNDJCaWhGY1U2bUJRcUNQSGlja0pyZTIweExYNktuYVZWOWJPUUxvMHhwMzRyUEpTMnpUV0k1UnMvZGhuZDZKbWs4TGtXS2dqejcxd1BGYkRpMHluS1BuYjNCeDVyb2xyTHhYQUgxNUhWb3BFRDU4YitwRGVremRpSjJWQWZSV3RVMnJaMEhRWjRsNzlCcUU0T3pkamF3SXBmd0Q2RXVwTHpNeDNUbDlGNkdZeDF2WEl0WERObHhORy9lUTB6SG9HOXZRRGU3RjluUE1Mb0RlVDgzRFBCM2JjZzhUVFY5Mk1RN2NYUGZET2xBOUFRMjRCZjFaZHI4YWpNR1h2SWdTUU85RnJSSHQ2ZWtsV1p2bWVzeU9mRVV6dnVHSGRhQjZBaHB3Qy9vQk8xMlBPaVFHZzI0bENxQjNxMDlKcmNHVzZtb053N3JIMHFzNGNRZkY3OG5Jd1RIdEduQUwrbmlmNmtQL3dLVlQvUVRRTzFXbkl0WW5ON2VpYUdab2grVVplUUhxaksrTjFTb0x3VldkQnB5Q2ZwRmZwT2pybUYwQXZhZUtNWGRNeC9MMW9RL1pxSnZ4enNnKzMxTUdBdGtxTmVBVTlEMCtsRzhheTczdXhBbWdkNmRMZzFLdGVXY3Yra055RzkyOTltQitqNyt0R2t0NVdwVGduRVlOT0FWOTgzcWlncTZzTFc1VkVrRHZWcCtLR21icTdpZkgyOHFEdVdMeFlac2pmWGZ1VUtUd09uVWFjQW42ODhlUEpVL0gwekc3QUhwdjlldkpWNUEzYmd4VDN4RWZOZWlHeWZ0aDNVenp1MHZROTdEeUl4NDZSblQrQk5BN1YrbElnck44djhXU2Rsdm15QVFoY0NvMDRCTDBkWUY0L0cvNGtENkEzb2RXczJrdTgrbjdPVS83THJJNWh4Q2ZHbkFJK2dWNWVYTGIwekc3QUhxZlZjRkNlek81QkRkWTl4YmRUTEdYUTlDMzVUWThuTkRjOWFHVEFIb2ZXaDFCYzc1eGF5T0tmcEo4KzRnNElXanFOSENrVEhJKzlWNVloUG8xa2RUMU1idFlaVkt3Q1ArVmFPQnhjdnpXQjhnTFc1VXdDMHdxMG9BNzBNOUw2OTc1TWJzQStvcHFRNXJOazA4MUx2MUt3SHhhTWRQczR3NzBqNnJiMWZBVkpLZkg3QUxvcDdtS2hieWZOZzI0QTMxWFd2Y1J0bkxKOGIwTGdRUG9YV2d4MEFnYVNEVHdxUS9KNTdDVVR1YVBWWEljczZNbk5aMDl6OG84ZnNnWnpVQW9hQ0Jvb0tRR2V2cHBXbTlmc3l1WnlaQThhQ0Jvd0prR2F2R2FSc3Y0Wm9MbUg1eEJBMEVEOTR3R3ZtUWN5Y0JWdWZlTVpFR1FvSUdnQVlzR2xqK0FTOVlPUk1BVFg4UzYraTgrSmw3RGY5QkEwTUE5cHdFczBkRm5MeEdzelY3Q0p3L3Z1V0lPQWdVTktBMmNKNWNldXRvNDVuczRuaUVYcno3MDRQMk5YUlhoRkxqK1ArRk5abkN2ZjlkRkFBQUFBRWxGVGtTdVFtQ0MiCn0K"/>
    </extobj>
    <extobj name="334E55B0-647D-440b-865C-3EC943EB4CBC-59">
      <extobjdata type="334E55B0-647D-440b-865C-3EC943EB4CBC" data="ewoJIkltZ1NldHRpbmdKc29uIiA6ICJ7XCJkcGlcIjpcIjYwMFwiLFwiZm9ybWF0XCI6XCJQTkdcIixcInRyYW5zcGFyZW50XCI6dHJ1ZSxcImF1dG9cIjpmYWxzZX0iLAoJIkxhdGV4IiA6ICJYRnNnVUNoY2JXRjBhSEp0ZTJOb2IyOXpaVndnUVgwcENqMWNhVzUwWHpCZVhHbHVablI1Q2x4MGFHVjBZU0J6WG5zdFhIUm9aWFJoTFRGOUNseGxlSEJjYkdWbWRGc3RYR3hsWm5Rb01TdGNabkpoWTN0aVgwSmVYSFJvWlhSaGZYdGlYMEZlWEhSb1pYUmhmVnh5YVdkb2RDbHpYbnN0WEhSb1pYUmhmVnh5YVdkb2RGMWtjMXhkIiwKCSJMYXRleEltZ0Jhc2U2NCIgOiAiaVZCT1J3MEtHZ29BQUFBTlNVaEVVZ0FBQjMwQUFBRFVCQU1BQUFCcWhpU3pBQUFBTUZCTVZFWC8vLzhBQUFBQUFBQUFBQUFBQUFBQUFBQUFBQUFBQUFBQUFBQUFBQUFBQUFBQUFBQUFBQUFBQUFBQUFBQUFBQUF2M2FCN0FBQUFEM1JTVGxNQXUrL2R6WmxVRUdhSnF5SjJNa1FmN3A2VEFBQUFDWEJJV1hNQUFBN0VBQUFPeEFHVkt3NGJBQUFnQUVsRVFWUjRBZTE5ZTVBa3lWbGY3V3Q2ZDJkblpwRVFUNXNlYmc4a0pFSHYzVjVZQkRLcTRlNFVBZ1dtRjhPQlF3clVZekJCV0JHT0daMEVKK2tPOXlCUUVDYkFNd2pMdG9SUkQzZG5UQURoSHA5QTRpR3BKekJoaFVUZ0dZUVJEdm5SZzg0UUNBalAzT3lldVFkMzZkK1hWZm1xeXFxdTZzcnM2Wm1wK3FNcm4xOSs5WDM1eS96eXk2enFJS2l2V2dLblZRSnZEZS9hTzYzUFhqOTNMWUZqTG9FbjJWM2hjOGY4R1dyMmF3bWNVZ2xjWWw4YlhHSlhUK25UMTQ5ZFMrQjRTNkIvYXpVSTJzOGM3NGVvdWE4bGNEb2xjSm05QmcrK2NuZzZuNzUrNmxvQ3gxc0NmYmFMQitpeXRlUDlHRFgzdFFTcVNXRDJBL0w2VURWS2s2eDlrZjB0TlhlV0xVMnlWYjJ0SzFKc0g5alEwK3R3TFlGSlNtQ2V5ZXRaQisyKzU1WURJcU5KRE5oMUtuU2VIVmpLbmp0Y3RxUTZUam9ueFdibHdYRnJOYmxhQW5ZSnVNWHZKZmFVdlJuSHFTSGJJNHBuMkFzV3dtZWl5ZG1TNHpDcHhxOURZVG9nOVR1ckpwR0hFM0V6OStURTNPSzNOeG1EOWhLN3pUVndodjAvbXliYWJNT1c3RFN0eHE5VGNWWWs5dFlXWTErK3BZaFEvTXRPQllLZDRsZmdTZ25TVDZnYjQvYThmYVo5TzN2YVQ3c2ExUnEvbWpDT092Z2tYOHpjWG83NWFQd3VqNy9pcU5tYVJQdkE3NTZ6ZGpyc0RjNW81UkhxUk10ZitLK3NhL1pHaTkzTXErNDByMU92ZjUzS2N3eGlGMkpmeE8xNEJ2NStkdXREV3cvL3hLazQzZU1TdnhjWUhhcndmODB5dHMxYldXRDJFNVJQWktUN1lLM0dydytwbHFMWlpMKzBOZnRqQUhFMG1wOWhUKzFTL1QrNlBaSGVXSXBWNTRWZDRyZkRYdVdjUHhEODBiLzQxQy9lcTF2RWx4bUxSdHB1aHFFOHh5WTNBZGY0OWFIelVUUm5Ybkw0eTZMTUJmYVZGUHh2QVBBbTdyUGg0UjV1dUpwWG8vdEovbldJM3l1TUg2cHdMUzJnRlpjKzBYWmo5MVV3dE52UFFiQ2ZsZUdhdVNDbzhldGVwaU1wenJaWmk0bjE3UW8vQ3hBRU80emJmMCt3TDQzcm40a3pScEk3eGdVYzRuZkY3ZzJ1S3B5ekhMLzZTZWNkRnNkMjdQNnJJSmhoRXp1WlZlTzNxb0xIcVA4RWUyM3dPVDdib25LNEVWR0EwdUVYbVcxSlU2M1JHb1AwTWF2aURyK2d0TzNqNGVjLzlVSHNCanl2a1E1RnJKODVZdlF5Y3pRNlRvSTFmcDJJc1JTUjJSWXRvUFlqbSt5aVBIS3d3bkQ4NEp5QU5TaXViNWNpZXh3THU4UHZ3TEJ4bmNvQ1UvQ2lJb2pWYlJ3TDJZc3EyUWlkRVV0a0k5VkhwTWF2RDZubTArVDdoci9PMkRJVk95K0hkcHFBTi9zU3pqaGZlejJmemduSWRZWmZiTnA0azlZQzAvY0NzRjF3azB1K3dkamZaS2dBM05BTFNoTzRhdnhPUU1pSkpuWXdnRVA1MFdHaDdsV1ppd240Tm51NWpBWVhKTFJWMmdrTE9jTXZacnhkWDdJWkdLWTVqazRzODViQSsySldrOE1KbmVTcy9WZFpHdkNYenZjUGFkUDNnTnJZWDVNdHdZTnFIR2VZMTcwbXN0U0pDampEYjA4NGxUeUlaOTBZRzdxa3BmamF6R3J0SXB2QUlVcHF2SjUvczFUZ0xSMDdFcXQ0ZHlWMmlxeHIwMGJIM0tpWVBma09hRmY0QloxTmJ3cnJNNmJSaHBVa3J6VXQzUXcyTTlmR1pybXFzUnEvVlNWWXVqNjNyV0R2UmZQdnpwWWlRSWxhTkpDdWFGWGtoSVZjNGZkQjV2SE53ZEF3aG52czZZZjROVENtNVlSaUJ1eHdOWkhrSlZyajE0dFk4NGcyYVhPQmJPWHJWRXJIYnlOayt2cTNZVDFlbTBmNjJPVzV3bS9iNDNRSFY0VnVDTFhGM3RBS3kvbCtEZ3pvcTVQUVJvM2ZTVWhaYndQTDN3UEVBZFZkU3RidFo2eG14TmtleXFydFo1SkNrUXVqNFdhUmNtT1Z3YjZBL3A2djNBenU1NTZ5YW5wY2tHdVBVZU5YRThaRWd2QmMwY2g4NmI1ZjVjMXAvaXM2dDZOM3hJdlcxMHNud3VTa0duRTAvM3ExVnFFd0duREZKYjNPTFhHT1ErUVk5d2ZOcFpDUjV6QlM0OWVoTUF1UldqQVAxeTBRbU9QclFZWUpXQzE2ejJSdEw0cnl4Ly91Q0w5dG41TWROb3cwSGNHYWptSTR4N0dVb3dBWTBIblpPVFZMWmRYNExTVXVCNFd4RzdHcWtkRkIybjRhV2xjYkQ4TWxyZHpKRExyQkw4eG5qNkxxR3R1L2dPMEcxOFVsY3h4TzZTZjBPYWJJMW1yOFNsRk1LTkEyWGFVenlrbDFCcjJ3SjE0akJEZnQ1UW14ZEhUTnVNSHZ3S3V0aWcyalhTVWhjQnlwNVZ5ZSt3cmw5ODF4V2xGd0dxcng2MVNjbzRuQi9sSVdNaFVQWmVkbzR2MXplbDN0WmtUbGdzY3RrZEY4VHFhRUcveTJjejFKVlora1kyei93a2NSS1d4Z2VLWFRqV0F6Y0RPZDZqcWx4cTlyaVk2Z0J3dlpQUFcrTDA3S2ZwaWZtVVZ2ZVdxVjAraVk1VWJRUFo3WlR2QUxTQzE2ZlB4UTN4TUl3UEVXYjZ3em9sSHNNMHhBZ1RWK1BXcmVSaHJEc3VtV3VuUXI2ZzhYSTl6U3hqQi9OZmhKdFJDMjBUa1phVTd3aS9lRDF2eUpBd2FUV3VJRUFkYS8wZkE2c3RHT3VWRHl3MkdOWHo5eXphUUs5L04xTTdQRFR3Zk1oREZlUHc4QWY4MC8rK3pQSmN4c3M4NUppVG5CYjIvRVNyU2FzREM3Ni9NbzRNenBYUm1KVHV3Z3JWVnJ1a0R0R3I4RmhPU3lDTHdoTjAxNmw5alQvL0t6bjJic20rUGtIZ0JNMTdaWjdFVEdYT0FYaVBMNW9rZGkremVJOGRzMURuWFlsQU5MYXRHVzdqU3R4cTlUY1k0bTFoZitTMVdVUG4zRjJOOFRDYlB2NC9HdkZQR1RmSGVCWDdqOEZqM0tDTnUvUzBIalo4TzdQaGsxMG83czU4N284YlZsR041K1dLeng2MGV1bVZTQnpXajlwSlg0cmZzTzcvcDlMZjZGKzlnOWVsekxPbUZCRi9nZCtyVlR1OWp3bmUyek80VGR0TVA5VjNPR1U4dXVsUjJMcXUwbHgwK3Q4VHUrN01hcGlRNTdDcmFGQ2t2R0JYNmJYcGUvQVJZOGUrdUhud3creGc2MzZMa0dmRlY3cnNBSE51QlgyeXdzaVRFTDF2Z2RVM0JqVnNOcTZya3hxNTdFYWc3d0M0ZXcvbnFRY3lsMUdIczN0NVgzbys5TG4rSCtpMzZCYjhYamhOYnp6dGxKRUt6eG14Q0k1eWpHWkovT0ZzL2NPeWZ2QUwvWWtGdDB6cGRHTUdTM210OUE4VE9SeVR4TCszOFhDa3kvOUkwazg2aU9SdFZWc01hdkswa1dvNFBGbXZjeHVSZ25VMUhLQVg0aDBXMlB6d0lReHYvTEFsNTVRenRQQlkxMm9UL0h3TlNkOG5VNFpyWEdyMk9CamlBSG44YmlpQ0tuS2RzQmZ1SFE5eWt4ZXFmelZWRURyVWgxRjlrcncySkR4a0Q0dlB3eFdPUFhuMnh0bEp2aTlUTmI1dWxMcTQ1ZkhGUDBhcVRDWVNGZVh3ampMMi84Um5obnZKYzBRbUdwczNZanlvK1JYZU4zREtGVnFJTGVzRkdoK2ttcldoMi93TmNMUHFXQzdWL3hHWVdtOFIyc0FvM2k2Ynk2MXNCQ2pkOENlbkJYQkJxTlh6OXpSL000VTZxTzM0WFVlVlMzOHVpcVRhQk82WTJxc0hTTnNzelgrQzByc1VybHNhWGczYVZSaWNFSlY2Nk8zM1cvN2l1Ky9Sc0xCU3R0dmdOY1hFWTcza2ZyR3IvRnRlR2dKRDc3blBQUlFnY05IRE1TMWZFYmVoNFFPOG85MXNSSmpuTHk3WHI5TUFqeFV1TzNuRVlxbG9hMXAvM0JVVVZpSjZCNlpmeUNnRitCYW0vL1lxaFlMaWR6T0xDOExzNXIvSmJUUitYUysvNDlHcFY1bkNTQnl2Z0ZRbDcweVRDMmY1OFY5Rm5wZzliNFdJTlg1M2lOWDZHYkNkMTducnZiaEI3RFdUT1Y4UXNMZGRFWk54WkMydHUvZEpKanoxSWtMOG43Y3FtMm4vUEU3enl2bmZ6Nmh2TVdqaGZCeXZoZDk3d2ZoKzBwOGJrVThDcDJnZ3NMdVYvYTVDNU1PaXBZNDdla3dLb1ZSeGRZckViaFpOV3VqRjhNaUxzK1JRS0g0L1dZL2poN0IvdStqK3ZVK1BXcC9TUnRHc0t2SmhOUGM3d3Fmbkg2eXE4L2YwRWRnY1JTdS9SSlRieXVJcVp2UDJxdThldEhybmFxTklSdjJMTW1tUHJXOEs2OUNUYVgxMVJWL0VLZ2ZoMUVtRUNYNHdjQWxHL25QWXN0RCthM3c5Zk5MSXFyOFdzVHU2ODArdGZmWlYvRWk5SjlrdDBWVHNzN3lGWHhxNTF1TFByNDVjcnRxRE1iZ3pIMkR1RCtLbzM1VEFadGlxdnhteWt1RHhrWXdzc2U0WEhPeFNYMnRjR2xnbGI4Tzd6dXplRFJxdUlYbURwd0xpR2RZRlBaNTRDeTJNeWRhMEdSOFhWNHo3L1dLeVRDS0xTYVNCbzNhbFZjamQ5eHhUbE92U0hVT1U0OWwzWDRseVBhaGF5NitmQnZYYlpzb1ZVVnY4Q1VYMzlDcUk2SHRKWHZFV3pyMTlQWkVFV2xOY3R6ajVOa1ZWeU4zM0ZFT1c0ZGREZDM1dFI0VEZ6bVg0NVlLZUwxbVdteWFjZXZRM2pZeGFsOVF4S0l2U2tLTlQ0T1ZiNzVJYm8rOFhONWExd1VjelRBMkJWWDQxZW9aQkwzcG05M3kraUg2UFA5bHU3SVdhSHhpZmUyeGxqd2pXYkFLRkZ4L3FVakZWc0dRZGNSZGQ2R1h1VFgydW9xU3dvWTNjaHFkK2pNd0xjcnJzWnZsdVI5cEtNTEZESmNmYlFkMGJ3WVRhbG44VTNqL0t1UHo4YjBwMzMreGZsRXYxL3p4QUFoOW4vd21XbmQ2N2V2TENsOHFGMjhJcHlTS1RhUU12TlNoZk1TTWhSWDR6ZFBhSTd6OEtsRTZRSnhUTG9vdVVGMEhPSDhTTGZQbzlkK2JYYzQ3ZmpGbHF3OG5WeFVBcVhLQWI4SGNRVk11UHFYeTNwYXk2RnljaVdwQS9WdU5yZ3lGRmZqTnlseGozSDZiekxSSFR3MmswYzZqSTd3bmlrMGprdzlmaGVVZVp2MzBCWHlsTTlxWGIzSVQvVGFUUG5ta2JXWDBZWXpDeUZEY1RWK013VHZJNWxPOEZ6M1FiZ3d6VXV4MVhlbWtGVTM5ZmdkS3ZPMnNBaktGWXkvV1lkS2JYYTRxdFhWUjJLd3NhMWw2VUZhb2V2VjlMd3k0U3pGMWZndEk4V0taYkVZOHY5Ri9sd2V1ekZ1enhleWpLY2V2enZleDhPbU9LK2UrTjltT042V3BLUUhPUTZza0RrNXNaT2x1QnEvVWd2K0E5Qno1a0R0djNWcW9SUFAvMmUxMVZ0MnkxT1AzN2IzOGJBbkZqejROOUNibXFSd2NITkRSdmR6Tm5uN1pqMVpwMlFnUzNFMWZrc0tza3J4ZGVCM3VRcUJxblZ4M0grYjAxZ3dmS2xaWktjZXY1RG5XaGJ6YnRLSHd2L2NVZjVtb295VHNIdXloWjZ4c3lTVGVXREhpWW1RcWJnSjRYZm1kZVpUVFczc2lUV1ByR0VzMXJjUVBiYVVRUnJlMEMyZTFTM2tGWjEyL05JeHFOMk1SM1dVZkM1MlU2R3BOK2drRjlUMmJ4QzBUR3pyNVlLaGt5VjZwdUltaE45Ty9BbDc0OUdtTVhMTzU5ZVVXdWh2Ui9yUVhkSFJoaWZDZnFiWHVUekw4MkpzcUF6alAxRVJ6V25idndHMkZjVEJhSkd0N2dDNmd3M2dUTVZOQnIrWGZRK1RTbDVsUW8wSG90bElxOU1JaldGV3k2a2VoQkVrOEZPZDJGZ1VkbGg4ZkdUblJQaXY0TS8zZmh5MXpTMlcyWlk1L1FiNjlpK20yTFZNZGVBTktRY2J3Sm1LbXd4K20ycXZMUE5CanlEanN1VnM2aE1GL2hoeVRGYmh3blNoeXpGYnAycWhPSUxRTHpRcFRMdjlESCsrMytNYkVOa1QzTS84bm1SRDJ2WXZYa2FLUjBXYlptRDVPamdpbHFtNGllRDNmTmI0OVBFLy85U2I3dnNhMjJOUEpLMHJ1clBXMmx5UmY0YlV5cGNJNG1YdVBFMFhwL1RXOEU3bC9DeGVMY0Q1cjhXb2VCZ3Y2L0lyVHp0K0IwNXMwM3daekxadTd3Vi95QTczekdKTStLVURmT0U5bWFrWHBVRjdWVThZSjV5dHVBTDQvZEUvLzlRdjNwdGpBN3dFSEdyWHRkZi9VSkxGZnNZb1NVZkNqM0pLV2srT3FzVDRpamVUREtaVXprSXBLYlRzK0h2WUxYYTRuSjJmbVlNQjVDYlAxSTcxWmhaR3hyVGpkOFU4MHBqM0tPUG52WnV4a04xYU13bG8yNysvemRoL01ET05HSjJaM1ROU3hvaGtLMjQwZm1uV01JOXVtd3pRQ1pQRTlZMW1pY3kzeFk4YXYyMmJhWFBKMnhFTHVETFVxRzJLcUV6c3crd1Z3Y3hZRXprR2tHWGVFcnJmWW9FbXB4Mi9QU2Z5SENXSTM3cjM4UFY3aVVKeSs3ZnhqeG43MVVTbUdZWFN0ODJVOHJGc3hZM0dMeDBheXJYNy9zV2J2b2djcSt4bEQ5RDFPSVZmWWJDNG4yVkF6TDcvdTFFNFoybzN5RGlQME1pem02WWErbnJwZFIvdFhVKzNWekpsaGowRmUyeC9uRUc5Q3diRXRWbWcyV25IYnp0Zm5wL3h0K21CN2QvWG83Ty82ZkdRdlhJNVg1S2hNSHJ5aStYbWRvWFdjTjgwU283RzcveW5QZ2hJNnE5ZUdBUjRoT2JvbDhmSnN6K0J5SmRxWlJxdG5PWDkyNDRRdi9RNndZYkdhQndjMkVDZExsWStaU2NsL2ZJMGdtQ0hPOTNPRjVwQUUvUlh3SUM0MWhKNXR1aTA0eGZQc21uak8wcWJMK1NqeTY2Zmw3TWd4QWdjTCtjVkRJS21mdEl5djJobWJyYmlSdU1YUkRFRkwyYlNwZ3hDd3JZczhmMXd1V0dLRU5kNTdhU29TSk4zN0trYzJmeExYNU5ibEp6SXdCVUhrNlFrcGdlZ1NVMUtlazZKOEpYb0dQM0ZjUXpvSG51YWZ6TGlvWUhWOEVoeE1lWDRKZnZKTXY3R2o5SG9lTVN2M1A1dC9CbGozNXNTbko3UWMyRGtaeXV1S0g0M2RaWlNZVGpKdFlORjJDelRuYmpyV2xhcVpuQ0UrRVV2dHZxVFdobnV0alR6NVZJZ2xuR3NYck9SOVlqbHVleFhUczN5ZXF3dGVqUmNwbnA2Vm5qSzhVdkhyNWF6ZUcvOHJrL250TGI5Q3d0eUxZc0pTbDkzY0FBclczR0Y4TnNkd1NKTjBIcUh3SFN2SnRXR0ZyWThwMTdVa3UwemFRZjZWM3lxbHRiOUdOQjBmQ04zS0ZNY1pJZlFaN2Q1YnJFWjFDUWtsMEY5Vm1pSW1uTDgwdGJNcnZtRU12YWJUV1E2T1Bna0Nab0JiZnNYTHhibU9rejJIYnlqbksyNFF2Z0ZIcmRNL2hPeGdlbWdKc05VQ3ZheU9BR2VxQk5IVzFZSTJjczZUZzNCcGo3c0NQTG44Z3grVWFqOG5YdmJ5MWN6YXp3b1hPWXQ0M1VZbzlBUDRMa1MxMnQ1QWJsY2FBbC9SbVpSWG43SzhVdGVGK1BCUmVRSHZ6UGt6KzhQdjdwTlBNaXhBc0FSc25QeExaakdQVk1iYWNXSldvWHcyN0YyYzBFQzkzWFRRVTNMNFUyUlBjenVhRlRrNlBBN2kzMDlxMEU3NDJmZ3B0TzZsZmVXbSt6RlNMQmg5aXE5ajRZU0YrOUJXQzllNVpXeEo3a1VVY2txR3VWT09YNHhUZGlHWDNwTGtyR3YrL1VpOCs5NzgrZWxTQXpwWDIzN053aXdlRnhNRjVFcEMzWWpUK1pyZ1N4dFdCUW5haFhDYnhnZjRoYVZVbmMwckR1b2FhWTVFSVdhV2J0SFVZR2p3KzhsdGc4K2J3byt0WHRvN3haYWlYR0NaSlhZelBVeXRDRFp6YWg4VzBrNFNlQVBiNlF1ZnNJQXNOM2daVEdTckVXVnNvcEd1Vk9PWDZ6YTdPUGhQN3p4K3AraE4veEd6cjl6bGdPMDBhUG4vOHJ0WHlxRzJTb2VVNjJWc0hkcjV6SmRPa3NiRnNXSnlrWHdDL2puN0FBUnBaWTVCTkdaRS9GSWN5UDY3TkhoOTl3dGNyc3RDa2xvOTUzcWJtS05tZ2d1b0xVUmNoUkZNKzk0aXp5ZU1kcFcxMXRtUmNyQXJMSE1DNXpMbUxkNHB2WXo1ZmlGUUovVHVFMEVpK0IzSnR1SVNWQXpvM2h4WWsrbVFLeDUzZ1NVclRvZDVDaXVDSDR4Nk91enEyUmNCc2d6YzFYR2VFZVJQWFhVbDlLT0RyL0RaeUVYT2M1bzdBZGRLNnIxRXVPRWgyanRoWEVxYW5YNjh1OEEybExDV25aK0VIcmM1U1VHQlZka1U0N2ZRUzV3aXVEMzRwaUt4c2loUkkxZWxHZFcwU3A5VlpVZUo1U2p1Q0w0QlFlTHVjMlNJM0JiSzRIMlpBL3BqaGppamc2L3ZlZkpickNONEpkSFcxN2EweFlOcmtNcTRtUENSZXNreWtHd1lnUUlwWVFUWmJLajZHalI1TjBab1U5QllzcnhPMVM5VEhDczNYM2lkNmlieE9qOWVRNHFjZ1pGdzZiR1hMbGdqdUtLNEJjVy9HWnVnMlNINml3U3krS1JkbksyMklubzBlRzNkWjA3T2l4UE5xK3J4NUkvWGxJZlVsa2NyNnFvaFJYZjFUZ2M1aHB0b29KeHg3Sm1sU2ZJNWErUm5ZNU1PWDVYY2xlNFB2Rzdvd3NmMDl1TGFkbkpGSnJNbG1Wc3JFQ080b3JndHp0SzMraFdtajNCUFhKeUJndkZnaTJEOHlQRDd4eE1odjBNMllxSktvUG44WkpETkNiUU54NEY4dlB2eFZYempUWXJmZmd4ZVBvVnNRZGxMYVVsVGpsK2Q1UTFvakV0Z2o3eDI5UVJ1NUEvTE5NaWJVMHdOZDQ5UjNGRjhMc3lxanNQbUZ5V2NRWUp6L0dLZVc3VVZIWmsrTDJBZ1lVWTNiVEl0RG5DYUxCVUdaa0VKUWovNzhpeVdRVmEwaFVDYWpiTFA2dGlsQjdqdHl1TjhQemkwLzcrWUUvMk10dHorTVF2MDUzL0dFYTJiUXpFYWVRYzJzakpMNUtWcmJnaStDMnkvU3ZNWmM3TkFDeGZqL2k2b0ZzYU5sYVBETDluNGRVbjM4S0JoYXQxd2I0bGI5d2tHb2NyR2xKWWFRbFBKMHlxOGwvcWFrZjJjeWUzdjJuUE4rWHpiOSt1dlBnQlBPSVh3bCtTWWdJK2N6K3dRZVAyVFZsNnZFQzI0b3JndDhqMnIzQ3JjUDdXd2ZKMnhPbUNibW5ZbUQ4eS9PNWp5SUVpcEtHdk16Y29Pa1BwbFVhRTZmakdpTFhFQ0FvQkhCRmlJd0NycXZMejd3NXZmNlJKSk5tWWN2eTJjdzFYai9pRmYwZk5xRzlYU3BHQ013SlErMVVqb1h3a1czRUY4SXNCeEpoZDA4MkhpWUVRZ2hYcjRYM3IvS2FST0RMOGRnZ0tMZnMwZG03VUUyc1BVRFNJZlVBcGxhSjFFdVZXMUxpUDBTQnYweUpSTVk0TytFTHNuUDV5aWIxZ25McnZRUXhtZ3pCSzlzeVVFakYwdSt2WnhUM2lWOS8rYmFDejV6OEMxTDZVeldhaG5HekZGY0N2dG1saGI0d3NCSDJFSVl0ZjJIbTlVYndmR1g1YkpOUWVXRjFOUDlYbE1ZelROQlV6WlFGTjVScGFabkZiTEpSbVRZQXVKRVJzSzJsUE84TU5PZjQvN3ZZQ2lkU2RNZWI0QklrUjBVcjRoVUNYc3VsN3hDOVVLVHZONXhuNyttd21LQWRhVzh3dk1USTNXM0VGOEl0RjRrRnVDK1FoMzlaSzBLcnllaHh2YTVaR2xOVDRxWmV5Ty8rUmZQNEl2L1BmM2JyMjVic2FEUVRmK1hoNFp6TE5sanIvczNlemU5NFNCSisvS2V1LzgvR1dwYXJNcHNBOG40dUdZSFhOU09jUkxEVFRpUlZUQm1pcXZNbXJOMHJXdnBBUnVwQnVGTDN6RjhQRGJ4TjVlaDBqUEV2N3p4ZUtUYitOaHo3K0JiVDNTLy9qb1ZXREJvODBmdXJldzIvNWhYUzZsdkx3WjMvNmcxOGNncVVaaTJwbHVTcjRUVTRia21nVThJamZGVFVRL3ltVWFoR1F6Z3NtNkFNOWJvU3JLaTRYdjIrOSsvWi9ER2pWZFZWcmsrUFAwQjNoZFU4cjBVVjhLNDZ6cE10bXBvbGNXSzI3Y1FHTzM0c3RkZ2RtcDJXTlNQQVRTTURSczMranB3V1cxSGUxMkJ2ZjlGTDJpaG5GSllSNnJjVnViWnRWemRobFBvVGkyVlExVlFCSUVmeXB4SXFoZFRTbFE2NDhPZGpNOGlUZXdGaTQveUZrRmJKYmU2Tm83andWTk5xM1YwY1ZvL3g5c0J0ZGFhYm5tK3p3YnNiK1BxZHo0ZkRhUGZmZmYrTU9MckdkTzI1UUdQdWhmVjU1TjNpa1JZRXNYVlRCTDVsNW01d0Y2NDgzL0Q3OFAvRi9DeCtsRHlFOC9ObnZ3cU10VzV0WGljMmNZenVWRlplRFg3d0JmUmppU3poZFkzYWRBenMzR0h1ZDRvOEFia3hYSFhYT0Yvb3hnVERYWnJmLzRLR1AvQjcvaUJQUklQek90cjl1TjVneDNXUlBzdHMvR1RUKzBtZzdDTktwTSt4cGF1R1JWaWlOcWYvRTJNOEhEWHlsMFd4YTR4akJCZTYrQlNTc1o2S3NzN0pKb0d3TVVobmx5eHRCRXJ0ZGNnTEhhUENDTEg2SlBZVnZmdjVtT05LaXZzaGVHUnFta2lTUkN1eXpPNjdkdVAvRzNYZWtCNTNaSm50MkszaG5pMzB6MWFMUm0xOGs3WjBvcVBBN3cyNy9sOS81YSt4N0xWUFoxRlVGdjZpYjU5ajFoZDlPOUlqaTk2bTkxRU1sRWpDU2thdkZkbFZYWEE1K2Q5alRXOEdUdDFaWERBejIySmVzQnJNL3JwdkZYZk1OQ3pLbjEySnVnUStUN3c3RDUzUnhQY0xpajRzUmZwOTRlaFZKRVBoTnl1TFg1Umg5N3paUWFFbnQzZDZLS3dqOHd2amxyOXQwcks3bG1INnc4Z3lGYUF6bkFaRWMzOE84a1QxUnRtQTBSRlBWams4T3RUbTNveEZydEtPUjZzcG9hUDVHZU9jbkMvS2JYV3c5TWhrQjNHVVVtbm5UWTNneVdGU2toeWQ1OEU1OGtmR2ZQaEFpdk50NWJoZkpVSWw5dDZzS2ZxbWZiWUI0eHVVTHY0Q2p2QTd2K2xCRzYxcHlKM1BjZHFDNGJQeStMVUpPY3dudEsyN2VFUTI2d1k1bVZRSGcrc2kvcjNXek0ycWx3R25BN2JJWkVYdEgvRy9Jd085c2E1blNzSjZSVXdxOGVwdVVScThXWXpDUEwwdnFSYm5TN2d2OGlzTnRjZjhTbFJQM2ZvU2x0am4yaUVKOXRpaUNydTZrOUdwRW9RZzVBSUR2NjRLejgrSy9QZFpsdHNqeWNaZTdKM0tBeENlU1dXeVY5MkZRL243VTZtekkySjl5aUFmQlp4Si8veVg0cW9KZkRBcDVBNVl2L0FyV0M5OTNORHlZbFJ3b0xoTy84NjBJRCtlZUNmV3hVNnllTGlvUFhJQitwVEFXWU1vOTNCTjhudFhySXJFdExNQzVSMk9BQXIvbjR0cDlCZllQaTNMNDByR2N6QU5MYWxldXZNVlhNd0RiemFqNWRxYmRndng0MlF2aGFrOFMxY052cGxoa2liSUJzdmJFQ0ZPMmJseStwUkVBc1UxQnBpLytHUDY4TnFpS1RQZjNqdEFORUVKekxpNUlNYlppQnV4d2pTZEZxYTNZTnd1SGd2NUpRMUdDWG1uY2s1R1NBY0x2V25hZFk0QmZCNHJMN0tqaUMzdlU3MVMzdUN3L0U5dmVscUlMbWVaZ20wZnNwc3hhZ0hXc1hYalJJWjQxVnNSY0F2enViRWRGOW1WL0NFSlJqclo0NU9CZ1NlMUoyK0JpakE3bEhCem1uTjJjaVZYZnhlUEZ6V3Q4b2tNK3IwZWo4SS8rMzZ6cnI5S0ZreW1ZdFhMTnZXVDVkSncwc1JFbmt5dDZMUTdQQy8xY2F0bU4xRFNwS2lrWVVHTWRnb21saUJMR3pGalBBODI3RFIxTDd3ZkNjVm1qN1NyNEpZa3VHOVNNeU5UZ2QxME9iZ1ovdEFVU0E2dUM0ckx3QzkyOEptb3UxTXhhZUNXM285VDNLYmN0K2ZHWG9sUnM3NkQ0NjBTRVB2NmpzSTlVUE1wdWxJbGkwZGNSV3V5NWEzSDVyb1FTY0w0bGlPQmw4OVVvYkVzTjFiY05JaWF3b2hXZlhZQ3h2aWFvSk85bjRsa1hXbGJNcTBJcmF0Q1FpWTBXeW1aYzI3SlVWZ0RNNUhhM3JIb3FuWHh0Yi95VjZIb2M0VmlTOEJ2RVpuTXpaN3hTWktxR0J1b3htbUxXRFpvaWNWM3piZysxamd2ZDZXc3N3VVJWL080SlF1bjc5T1BYaGVLeThBdlp4N0xaMFdmWCtDQW1IUjlZRWlJalA4S2JmNGV1ai84Ri9aL0NWNGtNM1BlbGhpa1IySXBuQ01KOGhHeUFRdUJ0UWM3YzY2SWNLc0ZNV3FMS2hINDF2OFNwRGEzTE5wZW9FTlIybmU2NDFFd1J4ZlhmYmt5S2pERExWRHMwK0k0cTB2eVhkVjNWYVZ2RGNCNXJnNUsxeUloRUdtcjBTeFFmeGc4TS9wNFRhUjd2YmJYS1VhWU92Z3NTU1RHTVIzMWlZS2p0elpHamNDL05WUlg4MG5obUlTa2FtU2I4R3BPWVlCRHlpWHBxRmNWbDRWZHQ1dWhhbUJPNjI5ZVdYekNldE92V215Vi9DT2plcDRCUUwyeGgxQkR6cjhRYnVuaUVBNkJiWUJvMFJNU1dDak5CTnRkYm91Q0tuTVNwNWdzeU54RllqeHRRQTRsUllHQ2JMUjdWSHRNTWp0NTVEYnBVdzJpamJBVERtMzVKdzZNVFN3MzkrWm15Tk11WHg2QW9leU00Mm8wb1FBLzhiTmxsWlRkeC9HN0xCanB5R0paSkNGVEZiOXk4VGxLRXB3YS82SkZTWW9JNWZuZWh1QXo4QXBNdmo5dnFhb0M0SUdiQW5tYWEwdlp2ZkIxK3kvZXNHaXoyREFRTjFkellGQU4yU3kzcVFHaUoxMFpQUEZCa2hGdkxsb3Arc3kxS3JpOVJxQzM3RlAxMWhiSDZGZ1hwM2hRTmdCSExxY1lGNTFQWlBrUWtJYWR6VWpnTTZjbCtBR3JTSEExanFlV1pHNFViR1ZrUXNKQ0RJc2JqbTNHRjlTaTRMc1puU2diRDIzRTJqK2g1Y1hvVi9OSzhzU3ZwcHdMVGhGK3BLNE5MRjRyTHdDLzZ4MGJjRm9KU1N1ZEVGMVNXVThCbkZvTXZMZEl4ak5PKzB2Y1RZZ0JvS1NNSStMM082M1lGa0hsc0p5NXFTOVhuNVAxTkZFZUhrR2VVNFByS1FreERlbS9YMFF1MmVEdjZ6MEptVGIxVW1UQ2VJbnMwS1VRSW5Fcms5TVR3aDVveStMNnZXUzFFcUZLaGZjWVdCUUdNcUV0eEdPdGJUUDcwVFFSMURYWDhRcmtXWlp3Ry9FSmlkdnk2VUZ3R2ZsdXFVNk9yU0pVc2lPUkxkM3l2VEZ5UnExcVpKQU45NFZ2aEtlakNheUxydmI4UWhkQ1M2SFVTditzSzV5aUVickJFWmEycHFDNDRtU2M2R0pUVklubEZZNTBvcU9zaVc0NGpYVEMxb1RMaWtIdjhOdEZPTmZPMnIxa2xvUmpxd0s4VkdLa25jcFhRRVlzY0VNU01mN2dGdU5JQUFDQUFTVVJCVkNEb2dxUGQ0RUhEM2hucStBWFdwYUpGbldyMk00WU1OYk1va2lJME5mUHZmdGJBN1VKeGR2ekNOUzlSMEZiQllFRU51RUpNdEZlcTdEcVZHb1VNL0VMZDZhbXVwVEFtOGR2VWNNN25kKzVndGFiMlFQTmJ4UUNBTnJHR1ZuMElrdHROY2hURno4c3hDVGFnWElDcnNnczJvMXBsanhIQ2M2cnBjNHo2L0QyV3BiZ2lyZHEzQlJGUWZyVW1BWkhzNlk3V2JnclNtRDJsUlRBZ01iYVhSQmJkaHhxVGhIVTVacXBDVmVaZnd1K1dJcFVNVFQ5K1hTak9qbCtnUURxUWRIUWkvVEIxL2k3VXRKZ1VZbE9mZjJuQmtpeUE4OC9TM3BYNFJiazFWWEFoWnNhYTJrVXF1L1hMRXFZRG5kMmhzczBWT1I0YVNFOHQ5U3ZaQ1dXcHM0b3JtVllwUUloVGs5VllwRUJnSTY1SVhuUFpkZHVJM1A3UVdDVExWeUkvOHJhb0J1K0RYTk9DcGVjdUhFcW1xTWhRSzhwUHFtNktpdktleE85c3hnNzduOGdhS2tBanI5R2V5cUpRRm43MVhmdy9ZOStnTlpqZXhVY0xKYTREa3dFUkcyYnRDN2hRbkIyLzY2cXY2V01zeVlTeGI5c1RuUEU3OWN3TXpzbWJwR1VCbnhLcmtrUkx6WFRJWDZSME5La1AxUmcwQ0czMlZPckpkSW1YNThDNUhIbUNya0dIU0l0cjU2a1B4TmY3VVRtOVBIR09YK0krV2dZSUZzcmU5UjBZVEQxcU1ibERwTm50WHloTGNLenlKTzlsVVZQM1B0QUxSMDJKWmw1aXFPTVhacjdGem9GWTlnUTF1b2NvWmIyTVVsR044ZkJiYWhmZnlrcG1vdGJWSXc2ajMyRVdmbDBvem83ZlVQVTF3K3ZMRHhFcHNIRCthQUs3cXZPcmh3MzhMdGhjdlJiOFVoL1pVMVFBYStxczlsUTZ1c2V2Vzh1OEJxSzN2a2hjYldNZVZ4U1QvU1E5cXFCTnZYajFNSmZjelNwMGFBUllqUWxnU0ZOcmFleTk4dXM3cWxBdldwZWU0eTRoM3kvVzJZREkxTXpNeVEyTmhOQTJ6Q2Z4Q3hyMmF6dk5JRTBtVytsa2taSXgvL0tCMU41R3VodG5sTXRJUGhCTm0vZWh0aGcxY2x3b3pvcGYyRVZTRlJERFZkbXFHTHlpZDRpaVpMS0t0MldKUkNDSlh6VnJpSUlXL0pLclkwL2s4L2VQYVlmSG5ock10RkNhcnVqZ1Q0K0g1Yy9ocnFLamhXZ3UwNjlVS2Vmekx5M1c5RVdCeGt6QklNWkpPYzRNeGVsVHFpdDc1SFpCU2xXS2tSYjBTMzE3Z21ScVVoNGFIUU9EYWJxREovSDdjenB0TFh6bmxrbWFZdVBOdjhHakdsa3plR3N2MllpWlB5cVdmanhPYjVnMS83cFFuQlcvTk1nS2dTMm9WUmU0MlkrZjRXL1ZrOUs0dTZ1aVpzaFkvdzVzQTVFRnZ6UWlhQlNwQVZDMXB3WUJ2ZnpDTDk2VityYlZyTWtUWXBjMCtwakxsRWRHbER5cnJIcVJWTzFPRDZFMU9nWXgyQi9TcDlneFdQNDgwY2FWWGdhTTBjeUlLamxPM3hYdFRBK25NalR3MjVUYkpWb1RTZnhxV1NPRFkrSlhwenZ1LzZmb05FYUdJUWJwYlRFTE8xQ2NGYitZYytWUUQ4VHVxVmJ4VmxKMGJjaTBMaEprSkJrdy9NOERyUWZLZ2hiOEp2cElqRjk3S3VnODBnUUhkQkhtaStIM25IeThhRnhZbE96RUFlZjQ3UktEeVZaS3hUR29Tb0JDQzZ0YTVkOGw0cmoydERSUHdZUVc5RmJRYTVSUlR4bER2L2pOWVlWYXo3Q2ZLVXRlazhLdjJoS1JUZk5BZGNWWjhkdlZSb3llMmUydXhBQldub29WR3lvRm13WitGM1N2aXloaHdTL050SHNpbjI4SkVkenNxYnpZYno2R0dwRjdwRmRvL2gxS0pFVGZrRlZQRXpmcmZQOTNIL3haem5tcHB4d1pndVVxNElGWnkrd1JQeGlDdk0wL05KSnEyUUprUDJ1MmtWNTlQWmsxTlBEYkxtSS82L1JHaFk4TGZxRjZVMXZhZzFWV25CVy9hRkYwRlhpUXpUWHJERDc1ZzB2MXhZNitZNk94eG9NZDlyeEtXdENyaVdRTGZzbDhYeGI1K05KTlZNMmVHaGY3RVhEQnA2Y2RiVXREa1VpR2VocFg5QTNabEh3WGxLMmFyRHRlSEh5bFd5bEZDc2dSd3d4NnJ2NEFJTlA0QXA1QzVwZWlXNjR3YVdIUFdtV09QYW9PM2ZJU1F3Ty9vV3Y4SmhaVVNhYW1adjdkMXd5bkpKT1ZGV2ZGNzdxYXhMQkZvTTFWdlBsLy9qN29VQ2tSZWtudm53bytlM3FmZ2lHczJhMXhFUXQralQwS2psOWErTmxUUlVQQmU4QVRJaXZhMENQelVvSHd1cGJVczdEVnRTMVo1clM5UWpPWTNqblU2UE5nSCt6Sk1UR1pXU2dPNUFqUWRwTXJUUkNZYjFZZElBcHhRYnNOYTlhU0R6NEZ0NmRjb1ZPUm9ZRmZWTlNsSHRHb3N2NU5HR1JKcG80SGZxc3F6b3JmSFRWVVFzQmkxRmNDK2xQbzRtWWN6ZDMrQlp6VWJteEFCbzhpRW9jcytDWDM5NW9xdUJCMVRHdHE0K3RrT1NBRWxRWjUxb0FvbXpxbXEwYWp1TWdnTldwaGptdUJyNHhyVzVET3VvZW9tRDNNWmRYUzA0SGZnemplVSs1RlZRTDVCbnBVanN1UWNYN0RJTng4RGUzbGJXdHBRejFLRlVXZlVXV3E0SmRNK1QxRktobWFHdnl1ak9pU2xSUm54VzhuWS90WGlnaUt1aHBIY3JkL01RUnJrdzRWM1pVMDRvQUZ2MlRSYnFoeWczZ0lzYVhPcVFFQm93UDZCK2I0REdlZklvaWw5SllXUXhXMnFjVXBhTDYzSEdXaXIyVmVWeFAxVTFHcWVaQktMWk1BNlFrQytHYUpyRG0zSzRMOXhFcEhwTHU5aDJsaDhRWXVRYVpuek1GK3FPT1hsTCtjWXFVcWZ0TVVaUlBUaEY4TkJKSS9ONHF6NHJldmhrcElZUWxOL3VVcXRmdS82SWN1WUdXSkJ5SzMwblljVHQrNitqeEdVM1dxcUEyL0hUVThnT1FLWTR0RTJaWTZyNDNBTFJwVE1DaXJwVG5Wc2wzMDEyWHFvbkZjSUVPazJyNi9VV3JuVUJDSzcyUThXTXpIUktuY0tFakVYR0xBWGhSRkx6SzV4VDJjeFB3YjlES2VZd1dHRml3VThhMFU0bStvcTV1c1hjRzB1cDhHL0s1YlYwNk9GR2ZGYjBjSnZodE5oZTFkeUh4ZC9sTUUraEt3d2krYXZTalRmcG5mdjJxcmFpait4NnRVeDRiZmZhMkQwZ2V3b3VuUmxqcXYyV1E5QWdpWmFaeHV4TS9udEhDVVFyLzAxMlhxb2lxYWxjOHpyTisvVWxWS2gyanhyckZhdWo0cVlQUTdpT3FkMWV6R0hUV1NMdWhqNVRndEZLb3owSStPQkhQOFM3Mm9PTXRINXFIaUJtbUliVXVhWU5waUdGWEJMNFl4eTR3dUc1eWErWGM5M2IzQXBDUEZXZkhiVSt2UEZkNVhHalIwUWw1eTNsSUdiaGRTbERKTEJlUUx3enhuWDNaQmlvWjc5R3ZETDBUUDN6aWlmUDVHL2hiZGJhbnphaWJDUEwyRVVuM0ZPMkx0UGZ5a3JvNUdIWmxodW10WnhaS2lVenlCWmg5OVRWKzhwaXJaRXZqZFVlWXpqVDB4cXVHblQzc3FWRzFYSVpoZW1qVjRYalI1am9NVFhVUlo5b1RmRGRrc2RQKzhqTWhBVmZ5dVNVcXB3TlRnZDhlR1gxZUtzM1pVdExnWHk2UEQwVGxEbnBFQitvcVFraXF3a3VzMk9XTjRuQ0ZTTmZQTlI4UnMrSVZXVlRrOGFkUW5iS256N0FYQkV2amJqTGk4THBPMDViRk1RNkIxVlkvUlVDZ2ZMTTVvVmpSMkRmcUk0TW56ekpSa2NXdGNuR1hEUkN5K2pjS2Q4dUp4QjlwWVppWGdKQkhxMEJZb3c0T1lhSCtSQjVyNmxEalVUUTdrM0V3elVBVy9aTk9zcFVtS0ZNLzRuWG5zMWxlSnB2THZQZE1yRUJVbTVsMG96b3Jmb2VwckxUN25YaVk0clN2TnpTcFlnanVGdGRTRFlFQmVWWWt3dTlVRzB1WEluTExoTjJocTViQThqYWRMUytxOE50NFB1YldHbVU3TUNUZ2lhekhaNkxYekRjVVRRZ1BJY3RsSWdWVmc2V3hta1ZLeEJUU1JIQ05LRVVCaFlkTmpCdHdUZFdsZTM0NGpLeklrY3IzY08xcnpRWE16YXVOS3pCS081S3RaZHFoWjArUUEwSHFDNEt3S2Zza2paaXBTVU9WM3YvaWREMis5bE04WFJwdldDQVNtZXFRbzRVcHhWdnlpdHkxSERhRVptdnpPa2xMQWgwRHFqQXlSOGFtbXdLaVM5Z3UxN1dyUm51cHR3VENxWnNVdnVzR2FxRGFRekZoU29YL1pLMVlpcjNLb3JQeGdxRHFUSUlmN3VZVGFhUWwvVmN2bmE4MWxJNkZxQkEraHNUVWV0VUVzNktFU1Bqa1M1WnFtcmZ1T3htdWlTQzFJYTBtVW14T08vUFY0NndyNlZyUHpVRE1jTTlCVUJiODBKTndVbktUdmFGRXo5TlA1bERMKytjbmU0WExRSzdaZjE5ZkhOTUdISzhWWjhRdmlhMUZEbUhNSnMvdUwrQUVmUzdqUmRWNWFjT1JUUG9nU3JiK1NFcy9GQm9NRWU3akprN1FwR1M2T1JaNkc3eWd4aWJ3MmV6Wkt0S1ZDLzV0eGJ0Q1BldklUYWxSdXREWkVwbjd2eWVlSVVta3NORmZFYUg5THIxRTV2SUlteEdPTVMreDgxQi9oNU4yVUpDNnhXOXR4WkNibGhKT2xuQVptVytwSkhveWY2WkljVWpxYVFvYlE3V3JjOW83U2lzNU5GZnpTRW5KVEoyYUdNYzZJNmNiTTBHSmo0L2N5ZlIzOXZFQ0pSdEVTYkNaN0Y1VnhwVGdyZnRGOU56a2paS0xRSU5ZbkhQVGlQNHhFY0VYTXorVFVrblk4cjVMNGFSb2lib1R5YnpRdVI2b2wvSXNxQytwQlYrUXdEdk41VXhSSXAwTC9ZcENkaTYwVUpBbHY4bms1TndrS2RBZEZVU2RLeG5DbG1lR1VCdWQrbE9YcXQ0Y21CRmZqMHB5SjlvZk82TnRFY2dLa1ZjRE5jU21YcTdmUHBQYmo3K1hnVHlVRlZJYmFPSVd3K0tBT090Snp0bGFxNEplK0NIRFZSalJLUTIvU2ZHbjJjbVBqbC84SCtveVlidXpFUldyYk5zTzVVcHdWdi9LekdmdlBkS2piTmZoc3BJelJXU1daRlFoUmVsTUV4OXE5Wno0akp1QlhSYm1kNk0xUjJuemRqc3Z2S0lualBhZlhScWw5TmRvSDZWVG9YM1NtdHd1citETmlxRy9vSHhPUDJ3aUNqNFdvODJZWnhkUDFrQ0FxUittWDdiMU5xMVF5MkVjTDVoUmZrZ0FWYi9PUnJxUEdNNlExM3hBVG1tdU43SzF4eWFxM09Ua0J2ejM2VDZONTlGRHg3MFpOUE9pdnhpME1HZnQwYkdLaW05QVVrTHFxNHZkNmlxSkltQ05PZmxMRU11N2o0dmN5TnlNYmlYa2dvNUhRT3NNNVVwd2R2NE5vc3JqSXRvZkU0eVd1aFRQeXJ6RStFdzMxNzN6L3I1Q1FHUHVLZi8vdlZqT1kzMWVHTUMvUmllSDZSN1F1bm52Z08xdW9mdml5QjdhQzMzamdKVVRxcXgvNFBsN3V3M0c1L3lQeFNjbXBWT2kvSDlsd2M2RVk0QnY0NGg2SXcrRWpPaFZGNHV0ekw2Vlc4QTJKdFRqaGo3OHo1QW5zalE5OFNCUUt6aGJUakN3L01rQnRMSTRzTmFMQWtFYTZDOXA0aHZKdnY3WEhhelU2ZG9Ed1RNYy83MkRzN3hMSksyUkVCaGNlNS9MakIxa2JqL0x3WFE5c1UvNFFPbXgrTTRXd1FyRmJINVh3RzJiSjlGM3ZmOU1YVWNlQ21uL2xnWDlMREdSYzQrSjNQWnB6V2xiN0x0a1dPRmxLcGpsVG5CMi9NOUhDcGY4TWpzUUJGdEhNMndoZkY3SHh3M0VYNm5BUlJUOXJhUTU1eWtKQ2NmTWhPM3pMUnoveGUvaGZjUDc5MFpqRW52d3lnQ2ovSHNhKzUwOCs4cC9qLy9JVjFKT3ArQXVvK2RhcmdkYVBOT1UwSGx5RTAveS9mdlFqSFp0QmlZa2d1alpqa2pKQlh5NE5xMCtXZ3VQb1RtMWVOWlBLeCtZeHFzeUhjSnhvVjZONSt3OFEvWkUrK3dkYXF1Y2d0UER0Zi9Yd0QwWlcyRUlrVHo3RTA1S1VYMHZFd1JENHZVQi9wL014SFBoY3RmSlVDYjl0bTJGS3pYUWpKcUxmMkFLd05qOG1mbWZqMVYxa0VGa3BhNGxnWTFPTHhrRkhpclBqRnd2YzF3V3o3OFBZM2dqWjNreHJtemY2TnZidFFFcmpyZXcyYnJoMitGKzAzMy9malR0YWxwbU9GNEdEVkV5TFVUeTRDS25qK2xhS3pvREFQZmZmaC85NEIzNFA3N2h4Ly8wZ0pRWnFRSmN1WVl6RjFST3BjNWgxOEFHT2F5M0RKTDRTOHFwOGtvanJpZHZLSWJWNDR3NHAwcFZETkhzL2Z3aXhocU1uV3hJVm5OemhVRUJmcmt6cVNYWk5mZTQ2cGpiVFpvYzM4UGhmVXBsNkNRS1JGaUlyWndFU2hVQmovSkpDYjl6ZFdpSmlRM3JtSjlsaHlOZ3J0K3pVSytHM240bGZVbkoweFl6Wld4L1gvM3d1ZHJVMGpjMlZqRGJJdzdOaHlYT2p1QXo4enJiWnJhakh2WTBkdGtUSC9pZEF5dDA0cjdGc1lTY2phVDdsQ1dyODFMMkhiL3o1ak9KNjhzY2ViMTE3Mlo2ZVFtRXpsYjkvOU1oajdOcnJmMGd2T1B0cHRQRkpQYVZjdUZuTXMxaVlLRDgrdVZlNGVHYkJId3Z2U2kzcFpqOTlON3Z6WmN1WmRieGtRQXQzL3RycUNOSWN2OEVYN2oyODZ5MVpKU3ZodDFQWnB6RG0vQ3MyTUpyQzk1TDFlSlJPWS9lMnJZQVR4V1hnTjVqNzd0WlhSMTNsejlyZkZFMjM0T0ZqajdYd0YwYzJaakxUV3BoYmo5dUZJWE5VM3l6M1NMUkRKZDNzNWFvZTQ5TERqSTZyUFZJbC9PNW91NUVhelJMQjhmQ0w3ckhNRzJuYmdXa3lRSHM0VVhFejNVMHNDNzl1cUlOS1QxcXF6a2g2SjNSRitkZmR0SFVHT2xUbkd0elFuSDRxdnZHN2JqdllWRW9zUmZEYitOOC8vY0V2YnQzVTZGNFF1bXhaRFdPdEpBWEo5cElUWUNLdmV0UTdmcnU1eHp1cVA0QVBDdWY0OW9CRHltZWh3MGx0N3poa3V5SXAzL2pkVDI3a2wrYTNDSDZ4eXNhMXFkRWVzSGhCYVNackpmUWc3WkJ1NlFsT3c5N3hlMWs0bEoyeTdaZll3TEg3aWp0RXNROTN5cTZoWi90NW9KMFZHVSswRjNQUEhrVTBXOEFmTS93aC9YaFBGSGEwUGkxbnNFQ25nekt5SENSN3grK3NPcURyZ04zSmtPaTRYck5qcG5BOXBVOUdFcFZhR1hyRzcwTHVxMjlGV0o4dk1GRC85UWNlaGZhMEdSU3dYZUxFNFpuYUdOMEtyWjFHbHhxM2hIZjg0cldIM1hHWk82SjZEZjJFb2hNZWRxRERBeWVVamhNUjMvZzlYOTJwY085eUVZRnEvN0dINGpneXZNWnJJYkROQTdrLzU3UlhUSElManBYcEg3L2Q2Z2NYeG5xeThTdGRjajVYOW9IZnBmRVpPcVkxZmVQWHIyV3FDZDJjNXdISWFEWkcrOHRhcVl3Z3JJVEVFWWlNZ21NbCs4ZXZlelNNOWFBbEtuVU5iMFdKaXBsRlErQzNnS21WV2Y5NFp2akdMNzA3c3pvQjBlQlVXZXl3NG8wTnhaRUdBSGx2ZFBNRHMvYm9DcVZLK01kdkVIb2Nma285YTlIQ1BlZTlBaDJ0aUtxTE1uaE15ZzFIRDFxVjluOVJlU0pyTSt3QXZhQ0p2Q08yRXJxRmhvK1ZyTFBmR3NueGd4UEE3LzR4NjdxejdKbng1V210eVk4RlQyS21zTForWkluN28vMnpsZkJMWWwyZXdOUEJUajdRbWduRmpzcSttSWkxekhSd1IzdVhQWjFiTldVQytMMVEvYzJicWs5WnF2NTU1MHRWT29KeitvNXYwQWVYTmtkSXZoSis2UVhnU2F4S1lDZGZWYzhCOTdPOGlsaVdmUlA5aXBDVDBBVHdHNFRINitqQ3V2eG9oQk1KZ3dodDRSOHZHVGg1OHZib21hY2Fmc1BSQTRTTEIra2FmbVlhak1WVnhGQ0RGSzY3NE1KT1l4TDRIVXhrbFdKL3Z2S3BqZmpsa3ZJMU0ydlFGcUI0clNxejBBbkxlTzhENkxpTWZkTUR1VE5rTmZ4aWFsdWFnTmhXakdVMkJ1UHZmWWl1aDgxbGNSWWpFTUxOckx6cTZaUEE3d3gvejdzNnI1T2hjS2JJcGw0NVZ1ajQ1UFBscWh6NzBzQldkQjNrUFVvMS9PNTROVTBsM3gzakFBWjJuWmQ1RmliaVJWa21NMERtOWxwbWJ1V01TZUEzMkNuMG5ZTEt6K0tHUU1lOXBic0FIUzY2NGU3WVVPa2ZYcnZCWDdUMmlOLzlZak5nVlptRnhua2VLSE9MVTRSYmEyTTBhWXhRUHMzUGllRDMwa2cveG1nNVRLckVGZDFYNGFqUklYUzQ2WWpXeVNKVGJmN3RWbjZCb1lnME1ZUHEyNzhMd3VzTXF5b0NjaTRSMnFUT0xWQXRjeUw0RFhyUFZ1TnlnclZYaXZnVVMvS3pEaDJ1bGF4ek9vcFh3eThjdys2TnBaVGdZU2ZyMjc5ZE1Sc1BDNTNzeHl6dDAvcWNESDZ2SEp2dU8rZkQyZEFCZm5kVC9hSk93SjlYVnpyWGdzOGkrTVJHckNDMGNxRHBhc2ppeWFoWDZKd0FabW1mWTh4azhCdXM2Q09ZSm95cEMzWjFVOGtWZDIyL05wUXJObytBVGpYODBsYU9mNll4eXk5cHJleUxyWVN3a0UrajY5ZkdueEIrWjkrc1NXQ2FnKzh1c0tRcHpYL0xQQUJmdXY3SnJWQU52K1RiOVcvWEFJRWJtZ1pXWW1zYXA3KzJ0ZVNzNEVybGozUmxVZWJwRThKdkxnOG5QWk82bVk5cC9RVElyUnArZzNBU2ZnVWdjRThUdGZpaStRWGh4OUx5TE1HZTErTWJlRHRYdCswdDdkZEpsU1dBVHVyK1RFaGxycWFDUUVYOGRyeWVqWWdsaEVaMFdZbHZneThVV3Y3aVR6TjhlRlFrUXpWK3BTaThCV2dMb1I0bHJlS3RpRjlNamRldGRGMG1odVFrZTlkTGIvMmRWVTYxRyt0eXAxalQwUDJ5UzI0U3RHcjhKZ1RpSVlvdEJNTUQ0cUdKNDBxeUluNjdmaGVYWEtwWS9Ud2IvRGErZ2g3N2tSY2kvQ0o1dDREVTZldlBFZTRMRkI2alNJM2ZNWVJXc2dvY21JWUhwR1QxazF5OEluNGgyU0t2RUZTU0lKemNMMTVrcjE2ZDNZbitldTk4OU44NkY0cTVOUER1c05jM3oycjhWbEp1b2NvTHdPOXlvWktucmxCRi9HSnIxc054RzFNTGFPTnYrdVIreEYrSmJPRjJKVHJLUGl4bVVzSDI4bnAycWNhdnFTMGZzWUZuRzhvSHp4T2lXUkcvbUJzZC8xRnorcmt4eDk5MXVFZnBUUTdaK1BNT1llWmZmaGtrTUhhL2FDUTRqdFQ0ZFN4UUN6bDRXYnphVUpZbWowdFNSZnpTRy94RlZxRlZ4TkZGRy9RL3FRSCtJcFB2QWpicFBOWGxndS9VN1h0K2M2WEdMMWVOMTUrZTN5TjBYbm4zVEx3cWZwdkZEbEZVZVFxTXZ0eHVEdkN2MEh5eUg1QkRxbE5zK3NYK3JOODNWMnI4VnRGdHNicnQwL2YyZmpIQlZEMy9ITkFuZXBhS3RqVm1PU0R3aGFncUxPbGxoT2dOdFhld054UWpGM3AyZmRUNExhYUhLcVhZQkhZNXF2QjNoSFdyenI5ZDVuMW5YU0VRbjFHNVNySmFQM3dzc3FSSEM0NCtzWWZaMnQ5VjQ5ZWZiR1BLcE1NbDc2MGN6d2FxNGhjZncvRHFIc0xmMVNzWE56elJpeVRtMmU4Ni9QYUNvTVRSSGY3SDV0NjBVK1BYbTJnRllmb0R5UTBScWUrR0JLcmlGN0wxK1hZZWVLWHQzNWhsN0FVOWIzQS9Pb0x4eGUrSHoycjhqbFpDeFJJWXRvMEQ4QlhKbmFqcVZmR0wyZEh6QmhLMGR4Q0xIUGF6Z0hKUkpYUlY3YUpWeXBXcjhWdE9YbU9VeGhoc0hJQWZnOFNKclZJVnYwSGZzMzhvZ05OcUtSWS9nbVVuVXppdk43MHFyOGF2Vi9FUzhZV0pmQ1hDKzJONGFhQXlmcjBEQkRPb1dQeEFrV1ZQYXpaOW0xNDFmcjMwUzUzbzBEeEM5ODdIV25lOVJjOC96ZUhLK01YbmFmN0dxd0F4UU96RkRRREtKZTFuLytaOWpWK3YyaWZpNjRiYWY1Z2R2ckhOWHUyOTFlUFJRR1g4WW5sYWRrNHNKNW1PMmdEYWx6dkJSVW5BL2V6MTlEUE9rY2pWZVZHZTZuSWxKWUFlSUR3Z09MRFF1cjBjQkQvQVhsdVN5QWt0WGhtLzJKenord203dGpyNzJpczkxMlBGN05jNnFQSHJIeGloL3ZkWCs5RnFxdS85Mks3LzUzTFJRbVg4NHFXQ0lsOWhIcDlYYllNS1RhbUJ1QkRGb1cvM1ZZM2ZRbnFvVklocFozUm40KzNLeTlHN3BKWG9ub1RLMWZHTDllbTJSMG1BUWVsemhpS1h5alhWVVl2bmNoVUxsNjd0NThLaUdyTWdmWUZoVjlROXoxN09ndzNQVnA5b2I5cnYxZkVMQjlaMWowK0pGYXc0czBIbjZMYkxOZVgveGJNYXYrVTBVcjQwZmYxSzFvck41eURvU2ErbXpEdU5nZXI0aFhoTE9vVkx5UmxuTmhiakNxUklPUkFySXFzcW1BemhkSmhmNTFydHYwcUszSDBjcCs3VUVkaTJXS3dOeTVwaTdobWJCb3JWOFlzdEdpVmU5NDhFRDlUVm1Dck80VmpPZW4xR210ZnB4bEZqTVozcU5LV2VmNTJLMDBJTVBVQU93dWl1Y1lrRnI3T0doWTNwVEtxT1gxZ3l0bG5SMWVQQ1BOK1FLck9kdFc3bGZNQm5VTnJnTHMxMmpkL1NJaXRab2F2dElWeVF5OTd6dHI1UWt2SUpLTzRBdjVEdnBqOUpMQ2dQRkR4bFlpbXMybE1hVldreTFMZE4yRExYU2FER3J4TXg1aERCcnYrU3lEN0h4R2g5V1cwcmlzelRlSGVBWDV6ZzhMakhpdEZCTEhEN3RvRmltQU5ST0x3OG45Nm8xNy8rUWRQVGpLaUJWQ2g2M1piL3RxZStCUWY0eFFMWTR5dUV3RzhzUkxSalVWbW84SjBTTmp3ZkhrZVdxTGw2L2sySjNYRUNOQ3lSdWlLLzJ3Qm41ckxqaG80ak9RZjR4UkVHT1VXNkY0SDh0KzRBem1SaFBLbG1MZ0hVdXlwcWhnWnE3V3htT0l6VitIVW9UQnNwRE52cTQ1TTk2Y29DZnJkdHhVOVptZ3Y4ZG4yS012NW1IZFFDWjNLMGQ2K3JhQWo4THVzSmVyampjMkNKRzZyeHEwdmNReGpmYjFEbVhWL2lGNlA1cG9mV2podEpGL2pGVUxqbzdiblB5UFh0dXZKa3FkYmF2ZXc1RmlNMy85NnNLdTBoVk9QWGcxQjFrbGpvdmlEamJYa1lEL2hka3Ntbk4rQUN2MEZMZWhYY0N4SUdja1MwSWY3L1NHL2p5dTJGN0hFWW1yK3VGL1lTcnZIclJheUtxSEcrTDlUeDYxKzVpb3RwRFRuQkwyYkdWVjhQaU5PdkVXMmdjU25WeU9CNTdPNm5rNk55WGR1RW5TSlJNYUhHYjBVQmpxbytaR3hObGxINGhWbGQ0N2Y2OTUrNVpJR2hUU2xpMTRFd1B1aTZ6MjZuQjRuMkJuek1peGxOZHJ3ZURJc2JyZkdiSVgxWHlZWVRveVZQWFFHL2k2NmFPTVowbk15L21DUFZFc1cxTU5hanNRRnR2Q1pGK3VLdEFQWjF4aDRSZG4vVHh6MVNKS29tMVBpdEtzRVI5VnY2cm9NNmExL2psOHZOQ1g2eGcrVHZIZjd6RVFxZnNFMi8zUmRvVnlsajdNQ2JEemRIOUEwSDJUVitIUWd4aHdRNjZJc3FXMFZxL0hLcHVNSHZnem1iT0VyNDQ0Vm1XelEyWEd6Slk5QWFtZWJOQVBOeXhnc01LOXErb1ZiSGNiREdyMk9CSnNpWlRzaVdWSGFOWHk0b04vaUZNUDA1RTU1ZzN4SE1OZGszSkJTTDZBeGVSOElta2YyTUpQelYyc0NkcnV3b3BjYXZJMEVteU13OTltVThCZTduWlpWbDROZGZsMU1OVG52SURYNkRwc2VkMWthZjNXTHNHeTJTZkpCbVh0dXBMQ3FMZ1hzQzVqT1dEZ2NXenVxa3FoSllpWDJpSzhiU1RQbWY2LzFmTG1GSCtJVUJ2VlZWWTVuMVovOVY2ODYzMkhMN20waHRHd3BXeFlZVE1aOXIvQ3FKT3cyeGVLbmJOcXlvK3Z4R1FzaU84QXNEZWlsQjJYOTAvbkFWamZURkFZOUVnNkdoK0VTbXUyZzkvN3FUcFVZSmJnMitMa0wvWE5LU20vWDVTVTBhQ0RyQ0w2WWgvMGNWVGM3eGQ5Nzhzd3c5Y2NERHpNYWh6ZzB6eFUrc3hxOFh1V0pDNE1lZWNlaDlWMnZBZUg5aEl2clZHcC9Hb0N2ODRnakgxcVNmcjNPVldzVGhMMTNEZ29saGhsa3Q4bDNkYS95NmtxUkJoK1pmR3A1WFRPL2t1b3hpMzMvWnFIRTZJNjd3QzNsZm43QUU1NklSWTJoWFpHaDVXY2tIZ3pWK2ZVZzF3Smw2NmxEWVJGalM2US9sdTBod1QyN3BPYWMwN0FxL21BYnQyemorNUhvdXN0aTdWa01aeHlyMy9EV3RVYTd4cXduRFlYQ0hQYlVhQkdmWUxmeXE2Nnc4RXF2ZVMxTzVwekRrREw4WUQvY21LNy9lRW05dndYcjRlbjFTNi9FYXYzNjBmdjV3RjRTYmliOVpVRis5T2l0bllqL3RIeE9xenZDTGZad0puRGJXcERvYkwzdmg0VmpTa3FNZ3pQbXJxVVF2Q1RWK3ZZZzFhTFNmM2dyK0tIbG9GbTZ0dUxuNis3RmNFTzd3KytCazlsdGxiemtmMit1d2xBOWtvZ2ljbTVEM3F2NStuWkM0OHpzY1ZIZXp3N1VFM1ZCWWVmc1Q5N2NrT0ptT3FEdjhZc3Jibk9RejdiejhJWDY5eS9ZQ1V0UHlzcElmNXVyNTE0OWNnK0NSbDdCdldrNFNYeGVINnZxMSs1bGs0dzYvd2Y2a2xweGNwL1JuU09KNklhbmxDK3h3SzVubUtWN2oxNU5nN1dUUHhXK0x6azdZMnJOemMvU3BEdkdMdGNueTVCNElid2ZLSy9VQzBrN1dPNFh1K2F2eDYxNm1PUlRuWWdmMCtjbHBPSWVibzg5eWlGOXNJVTNpaFo5WVp1dlg0NERsQlNTTUpIdVRFbTJOMzBsSk9tcG5KVnFsMWVaekpBNlgrTVdSeGQxSktiT2htakkrME1EYjM1ZHZpZnBucDhhdmZ4bnJMY3kwYmkwSHdZL2JYaWZWaTUyV01QQXJydXJuTDlZVHUzVWVoWGhHZlJNNDlRSVNQR2w3SHB2bXBIRmVWRndIdnR1cTZlc1NlRGM3Zk9POTdMbFZQZTMwaHAzaTkrTGszRVlyMTZYT1VpOGdEU2RneDlmNGxmS2ZkT0NSeDFyWGZybUdieVIycC9qRmFmTlhUVWFiamRhZWJHZ244UUxTWE12LzlCdlUrSlh5cndOSEtBRzMrSjJmbEZmL3NqS2ZNV2lvdFRCSjhpejdldjhDcmZIclg4WjFDNk1sTVBzQmVYMW9kT21SSlQ3M3NwRkZuQlJZV1ZSa2h2b0h2cEY4NFN1MlZLYXYwQlVwdGc5cytHcWpwbHRMNEdSSzhFOHpCZ0FBQUlWSlJFRlVZRmJmYWNZTEREV0VUcWFlNjZjNm1SSjRPejQ4S1M5OG9YQlRSdXBBTFlGYUFsTXVnZm1XK2tmWWdGeEoxNmVjNFpxOVdnSzFCSVFFL251YnNlOFRrY1lubXZqUzJVZFhSYnkrMXhLb0pURE5Fc0IrRWE3NFpXT2NudVNYYmxCUE0vTTFiN1VFVHJrRWRnN3Z1ZTl1OFhXcjJkYmh0WHZ1djNISGM4ZFFLUDhmUGsxK3hSa29MZ0lBQUFBQVNVVk9SSzVDWUlJPSIKfQo="/>
    </extobj>
    <extobj name="334E55B0-647D-440b-865C-3EC943EB4CBC-60">
      <extobjdata type="334E55B0-647D-440b-865C-3EC943EB4CBC" data="ewoJIkltZ1NldHRpbmdKc29uIiA6ICJ7XCJkcGlcIjpcIjYwMFwiLFwiZm9ybWF0XCI6XCJQTkdcIixcInRyYW5zcGFyZW50XCI6dHJ1ZSxcImF1dG9cIjpmYWxzZX0iLAoJIkxhdGV4IiA6ICJYRnNnU3oweEsxeG1jbUZqZTJKZlFsNWNkR2hsZEdGOWUySmZRVjVjZEdobGRHRjlJRnhkIiwKCSJMYXRleEltZ0Jhc2U2NCIgOiAiaVZCT1J3MEtHZ29BQUFBTlNVaEVVZ0FBQWE0QUFBRFVCQU1BQUFBMkZkcTZBQUFBTUZCTVZFWC8vLzhBQUFBQUFBQUFBQUFBQUFBQUFBQUFBQUFBQUFBQUFBQUFBQUFBQUFBQUFBQUFBQUFBQUFBQUFBQUFBQUF2M2FCN0FBQUFEM1JTVGxNQUVOM3Z6WmwyUkx1SnEyWWlWRExEaTZZSkFBQUFDWEJJV1hNQUFBN0VBQUFPeEFHVkt3NGJBQUFOOFVsRVFWUjRBZTFkUzRoY1dSbStOZWwwWnpyVjZSNG5QZ1pHSzJZQ2lnK3FrNGh1MUdwRFVBU2hFeUhLK0tvR1Y2NjZZY0JCRUtxTmcySlFxaGU2R0JVcXpqQWlnMUxaS0M2RTZuRmdCQmZUdlhGZERRRkhjTkdacnM3a01VbU8zM24vNXo2UzZ1cTZYZmN2UEl1dS8vejMzSHYvNzU1ei85YzV0MDhVOFM4ekwrMzhsRCtLQklLcDZzNWxjVFhCWnM5bzlUYWoxbTMyTU9JQXBzV0hvMmhDWEl2enVkZmJPM05STkNQbXVlT0l5VDh0SG9CVEV1L0crTnlySGJFa0lkUjJ1UU1KNVMrTEhjVllGQ0dmZSsweGNVdEJhSW90N2xBQytWdGlRZFdiWWpQZ002K1VoTUd6cUY4ejVuQ2MrSWZONnhYVnhKcGpqZ0d4SWQ3UktBUm5UNnIwMWw5Ky9VTHRBdW1QdHJpbmFoaVBsRTFhY0NEYlFwYXJYbFRBV1ZDMVk0THpPS3dwWE5jOHJrbGgvRUlRUzU3TmpmcitpeThEMmJvWCt6RmJtN1o2MFIvalJkVkVqd2k4YldzQXVFTDQvRWdoYUtSVkZ6YzFoSW9RYy96QWVJbkx3aXAyeGF1SysvcFl3M2FjYjhxS09pcFVXR0praGpwMDVTNHJISEZob1I5dWVONk1ReVdZeDEvUUQ2c2UxK05DWEh4Q2xxZURidlFOMkZDVndFNU5XTzJPanB0bmd5Rk4wSzZnY2RZc01WOXJhYzNaOE9xQ3hzV3pWZ3Nlc2dEWkFJa0pXZzNNVjhYV3RnWHY5QVlVdTRsTEZONXRjVWZqYmpGWGg5QVBNcXRtUzhPYTVTcHp0WEU0TUY5UjE2Q0VGN0prc2JMOGhmbGFJSUkzVEZSNTJPb1Bjb3dWQ2ZORjlmbTJlRnVKUDh2ODljTEFDOEtSaW5HcWxzVUpWdDJURURZMFg5R3N4Z1V0dVpWb3lvcFJsWGJxcWNzN1A1bFRZay9vY1hnNFVQNnNBR2xoMFRGM29uK0tYczJFazVOYWIyd0h5b1FoTHBpdlcwZkZwK2ZLeStLelV2eXkxaGRWT1FQR3VjQjh2ZDJXRHNlVTZLMUxJRTJaQmxBVGxyTEd0c0I4ZmJTM0lzVnY2cUczSWJNYWRlN2RGY0Y4eWNsa2xJWldGWk9JTW8rTEx5Z1c0ejh3WDNyOFJZZU1oOUhwdmNSZEdhSS9ZTDZNMjRzUnVTazdxUHpWM2hlWkt3MmdxTnE0UHpvUzVEa2tRc1lGNXN0bTA2QVo1eGtqQ1VXWDVzdHdrRy9URTBSaEM1NDFFbjFoSEZxSVBMRlFxVW4wQmRKa3NHa0RwalRNMTVvUkhSbTI4VmxnQS9PMVluQUI0dmlNUTVndmE2c2F6cEl4SFh0VTdFVzdxQ0dLV3ZDQTZTSFd0TEN6ZU5MdnBmTXFyRkVoT1BFNlVJU0pLZGJBTU9kdmJURVNoc3d6aHFRbllJdXQ3d1NJTGxWekhiUXRaNzY4U1U1Z1FzSVdyeHBSTWZIbGxnVTBMQ2o5ZTVFSkdpOG1Kb1BXVEExbTJTd0VBT1BwZjZQMm1wcTIvQUU4L212K0RCNFV3S3dZU2J2K1ZRTUhmdjROY3dBRDFFeXg4TUFrcGF4NHM5d09Wa2xCVVM1WUdNc3VSTE9jd3Y4Q2w1RVJIVVJYRTJINjNBN1FDQy9oZk9HUmhBSzZXZGNJcXpoc2dDbWJRSXZZQVNvUGNYTWNiYTVHQVRsTk1PUEZjelVzMktNem1vNWZZT0tJMCswZDBrRVF1RUZtbDJHeHVTa092RWI2cVpkc2Z0NTBRb3RBZ1E3aEZwaGhpTTBwSk1nSExCaEk2bWVSdkZJQWI1MHQycVRRZE5Xb0I0dzdEZEJJNjgxWGhJUnBpTG5RZ0l4d0hiMjBGLzJtazltR1RjMVhCUHUxeFFFTGxYRkNEN0hYWTkxRnpSY3djM3U5a0xSV0h3MGRyWGtyckZCVDh3WG4vaHA5RkR6bzE4V1hvbU5OOFpsUVdtSytrRGtORDVhcTR1ekpVK2ZQbjN2bXJQT1VKMFh2ekVsd2loUEJsZHBpUjRpUGg3Q0krU3EzeGQxQW84Z1kyNVhiNWp6MHJ5NFhZaGNhWGJYOHk5cW52aDYvdlROZkgyeUt1K3V4bzkvN3hnc0t4TzZWWi85bURrMjlyRGc3dnc4ZlFlekUvcXJIenE3MzEzQ0FWb3RpOXhMS3ErZEU3MDlwcHlQT0Z1OEVHT3JnL0NMZ3BKM1hENitSNCtkWjZ1bXJQN3ZmVHBNRmN4VGFRTGlESFNIKzZDcjdJZDZiWTFUa3pkZjc2K0ptU2k4Z2RQSCt2a0xSRkQvZkR4cDM3dnRxT2VJaTVxdlVUTE5lRmVCeW9raGlNcTFWMEtLdlN2bXZ1SEIrNDVDYUw5QkxDWm02NFRjU1NCYmZUdW5WeEdrUFo4eGN1aXhSNVlpTG1DOHNWQkgzRS9MVVl5SFo5REJNTjN4djBmdnRZaCs0am40cklWRmZEQnA5UlcwWG8vbHpxMkVJWGE1K3doOGJtRHA4NXRRM3Q2SitjRzFidTduSGV6bnpKYzlianFzSWxhMXk2U3JacEV0VENKS3hqOUlQcnE3K3dIclBkMm1TNkN0cWtCU091Uko4S3hxNlBENk1VV2lGN0FkWHgyVnc3Vm45L2RMb1MrSzZFRHROdmdscmpsZGEvTHlqOTAva2lBdVJ5WUlYc0pOVWlLSDVlbTRJdXREZkxrZGN5UEQ2M29qcXlmZXJndjV5a2t6U3hvNDdNSkVqTG5oL0sxNHVNaDlobVExQjBsWHRNSXl4YlFiOXpSSFhMT2tOZUJMSjdHR0xaTjcrdnJNK0tJVFU4M0xFRlh5YXNpR1NLN054NzF0R3FKbVkvNXNxNjE2WU9lSmFKc2xEUk1jMGI2OGtsTG44RzBiVytyQnpIem5pb3VicnVPOGE5OVJseEx5Z2E4ZDdXNDQ5SENKSFhHVEJ3MVJOSkNXSHUyOTA0RlR0UjhOQjQ2K1NIeTU0RXlmTWZhYWFRdnpPMzlOUWNQR053bHdlZnVJK0wxeWxONzhyeEZmVXA2TnYvcXNxeENjVHNQQk5oRkdZSDhoaFlpd25YTkpGb2lYdHY3UTFqUGs2Vm5WcU1RbCtVRTVPdUdUbXdwVXpQeVAyMlF2YU11YXJFNDh1ZlpQQnFaeHc5U01RYmkzTmwrcmE5WDVPMkV1YkVlSkNmOEo4bFJjaFFzTFZqMEg0MFBOWjVZZXhsclk2T2x6R2ZEMTNVM2FZdGM5V3JQQzNWRU9UakxJVU5yVzEwZUhTNWd2QnBGeFM5ZkNaWi9rSXNzcXFSUkwramc2WE1sK2xKb0xKcHZETEYwUHBiRTNudDlPZzdhU3FwS2l2L01hZzhiS1ZLdjEzRm1KRzEyVXcyUUNWSVY3NnFYMXdSOWRmUUxON1ZEbFNNbTVlN1VQV3ZUUVpIYTRXMW9TMVZVNFJLMWIwZk9kZUJIOUUyOUhod3AyRkNTWkIrVVZ3anhDNHo4T2p3d1V3TnBpc2c4UjdOc3lTZ2F2MEZqR0U5UjZwUEw4ZXYvMnNsTEQvWWs2WHV0dHE5dzNRUy9ITDdxK2VnZXZKYkRtdE1PNitnK0h5MFZja3Y2MGF0a3VmZ2F1UmpTdVIxQjRNbDQrKzVNZW1hYk1TN3NFTlFtVGdtcTVsQXZ0SS9EYUQ0WkpudVN0VmgrN1NaK0J5ZDVSRUxuYTVRWk9ISFlCY0QrNjUzOHJJY0xWSThsQ0Z6aGYyQ3lVNGYyUzRjR09iUE5ReDJIQy9haGtaTG95OEcrNEpQOHFsUDBZTlRVQVhMZjdDWkl0TkhrcDB6WlQwdlVNZE1ZcS9rSytuRXlnTlZEYzlrQmpGS1A2U3BuakZpeTlkK2dWZmpWTjg0cTlaQUNIU1M1ZitBYW52bXh5VjN0aW01Z3NvZ0d1b0x2Mm9jQzFUOHdWY2RRQ2IyM2N2K1F2a2pDdHpRNDRtTlY4UVp3TzRscnhZKzZieXhaVzlJUWRnQklaWXVzSHorMGJqTHdCYzEzd3RuUnJjUDh6Y2tFTnE3aFAwYmxMdkQzTnVyOXBIOXcrTUszdERqc1RLUXhtTzlZYjRndUZ5RitoelM2TUh4cFc1SVVkcE9kNWZYVERFTUpaSGFRRC93ZFhlZmRSakdoUlh4b1ljYi96cVZZeCtsQ3V2L01ZOHhqOGJ3L3V4cjZVOTE3M3hTaTllK3NPUDFmVjNycnp5N01OZXNrRnhkYlNHVTJ2cmlXd2FsTHF6K1FKQ1dtVlRWa2pEd1VnNUhlL0w2a011TWlDdXJBMDU2dUlzVnNtZlAzZnlyRjJXTWlONmNpMzl5Yk8xSWZ4anBoTFc1Wi9YNWR3enRSeHdGWDVEamdIN3EyVTgyY0p1eURFWUxvenpUVFc0QzdzaFJ6KzRraHM4Rkg5RGpuNXd0WlVLdWtxMFQvRTM1T2owc1E2MnBuQlJhMUg4RFRrYXU2UWJNc2pFQmc5NHZSWlVXMlF5MWpKT0dqRjc0bk45Q1lBMVVLUWRIRm5kZXlDV0NKOGZHZWFpa2JGWVZ4amc0bXE5eUErUmtoZzVRRHJWTWpZYmNzREpvNWtYZkVHa082Z3kzQUQvd0hzZDQrMEd1ZW5ZYk1pQkYyclY0NkplOVJBL3ovQTNPREFLNDIzSjMweCtvMkhMTU9ON2Y0ZURvcnJCOStTSTZ5K3FWWlhzTitTb0J3bGM1SmUwZGtmSHpSL1VvODNsUHVFR0Q3UEVmSzNsY3I4RHVpZ1VCVFZmN2wvREhMSUFEMGlPWWQ4RzQ0MmFyNG93NndhQ3J4NkdmZE1EdUI1V1IxTHpOVFliY3NCOExaREgxeEQzZFkzN2hoeVZNQnpwbWxFSnIzR0p3T1ZId255dEVLa2I0cDZxc2QrUUl6UmYwZGhzeUJIYjRLRml0QWozRFRsZ3ZvSU5Ic1psUXc2WXIyQ0RoM0haa0FQbUs5amdZVncyNUlENUNqWjRHSmNOT1dDK3dnMGV4bVJERHBpdjNycXlXT2FmQm83Smhod3dYOGJ0eFlqY0JNQXgyWkNqYXVOSXQ4SERXR3pJQWZObHN6UFFqUE55UUk3RmhoelNmS20zUzI3ZVkxeERVMmY5UTZJdnJNQ3pFRmxEVXNLVDZBdWtDYjM0dzRwZ3Z0WU1ER1JzZUNjTWFYZkFmTm5vQ3hESFp4ekNmTTBabkExbnlTaHdwdlQvTjNoZzFYRllUdWgwb0FnVFU2eHd4SVhGSExKTzA4RE5BSzZsK0hHdWRkaGk1VHRCZnJud2N5dUp3MnFWNUpFaWMyQ0xWNDE4bUVpaHl3SU05N29icGtXR2taQU5rd3RyaGdtem5MSVF2bWE5NHNTcGhXWUF6SW9Sc090Zk5TL3lZYnZTMExOWVVCVnZsdHZ1NjEwaXVWdjBRSGdjU09BeVlzcjU4dldFeUZXUE8zR3N5QXczaXhmZjRFRUxMUmVSYnhWWi9pelpNamQ0MENkc0E5ZG0xcmxGNW1kdThLQ0ZYbXg1ZlZsa0dBblpNTkEwcjFSTDBmS1R1OUNYVnhNbk1XQmdqYUYyS0pBUFdFakl1M0dQaE5PSm80Vm1aRzN3b0lSZVhFTXVaNzdROG1jSjE5SGpEUDBXYlBDZ21oL2RpVEJPZzYraXNpNVRPSDdHQmc5S3pzb0RxZjNwSW9qQ2laOHBVTVlHRDZwOTgwS0VmdVRwK0VicEd6eElYRE53NzlWc1p1WkRLZktCOUEwZXBNUlB5cDd5YWU0aWcwaVRMWFdEQjltd2ZSVi9zQ09DcE1lb1RLbXZDK0hsanhFbUNlV1FTdjdDa2RLR2UyelExVmNsbEE1VGh6NnpHNDdwYUF3ZVBVdUhQaFBYWTNxeFpZV3BRNStKcTdXZ0RuRjE2TE53bFUyY2pPeWJCcGpWa0JsLzRvNFdPUFl4QkRNVVNYR1hUNnRGOUU4OHhkV2hUMEtTSEptc3Q0V25RNStPUy80WEcxdVlPdlNwd0RvbkRKdXZRNStHcStTemhqWEJNME9mQmlzNjRtY2d4c3FoNzlwaGlHaGxqQno2VW0zRmRlUHlHRG4wMDM0WVJ0MHhjdWk3SkdjSWgvNmE2enplUkptR0puQjgxM2pEY2RLL2g4NHpZNmIycWp2Q21waXEwWCtYZ0F6OUNkWndyUEQvWFJUaU83WlMra2NUMzBPOE5tZnJmSCtYbFZ0b0Zxdkl5VmxaNk1Ca0NtMjVkd3I3OHA3VzBwZHJ2VFB5M3cwcFYrcC8wcVVDQkltbzZmVUFBQUFBU1VWT1JLNUNZSUk9Igp9Cg=="/>
    </extobj>
    <extobj name="334E55B0-647D-440b-865C-3EC943EB4CBC-61">
      <extobjdata type="334E55B0-647D-440b-865C-3EC943EB4CBC" data="ewoJIkltZ1NldHRpbmdKc29uIiA6ICJ7XCJkcGlcIjpcIjYwMFwiLFwiZm9ybWF0XCI6XCJQTkdcIixcInRyYW5zcGFyZW50XCI6dHJ1ZSxcImF1dG9cIjpmYWxzZX0iLAoJIkxhdGV4IiA6ICJYRnNnVUNoY2JXRjBhSEp0ZTJOb2IyOXpaVndnUVgwcENqMWNhVzUwWHpCZVhHbHVablI1WEhSb1pYUmhJSE5lZXkxY2RHaGxkR0V0TVgxbFhuc3RTM05lZXkxY2RHaGxkR0Y5ZlZ3c1pITWdYRjA9IiwKCSJMYXRleEltZ0Jhc2U2NCIgOiAiaVZCT1J3MEtHZ29BQUFBTlNVaEVVZ0FBQlQwQUFBRERCQU1BQUFDeWc2anhBQUFBTUZCTVZFWC8vLzhBQUFBQUFBQUFBQUFBQUFBQUFBQUFBQUFBQUFBQUFBQUFBQUFBQUFBQUFBQUFBQUFBQUFBQUFBQUFBQUF2M2FCN0FBQUFEM1JTVGxNQXUrL2R6WmxVRUdhSnF5SjJNa1FmN3A2VEFBQUFDWEJJV1hNQUFBN0VBQUFPeEFHVkt3NGJBQUFnQUVsRVFWUjRBZTE5ZlpCc3gxWGYzYmY3ZHZiajdlNURMb09Ca0ZuZWt6Rk9EUE9rNThRSkRyNXJTWlN4RXBoSHhZTEVxbmkySUNtcVZKV2FsV1VqWWN1WlJlQ2k0ait5aXhJWFJZZzlhMHNoTHFDWVJUSzJVOWpNeGxDaDdKUXpDd0pTWlpMTVdncFVERldaOTNaWGlUNlFPNy9UMy9kTzM1azdjKy9NMWI3WDk0KzUzYWRQbjNQdTZkT25UL2Z0MnhNRS9zcExBNys5RmFYMHdWZytXdXB6WGdQVDFNQURGY2ErZGQ5d3BQenJ2SVVhaGZoVWtScDRqdEYxdWlsbEtIMlI1Nys3U0pFOGI2OEJwWUh6M0J4aG9OS0Qvamc3K2ZqK0IzK09YVlFJL3U0MVVLQUd5dXhYOXBkL0JrYjZJaGRpaHQwNHBNUXpwMzZFTDdCVmJtblc4N2NkZjBvcDREejdka3IrRVF4MEQvZmw4UGdJTjF4bDcwQ0ZJdnp2bERXd1hHVVZwdUxMK2w4SjdoM0dUdUF4bjJMZklxV1prUVZURnM2enUrVTE4QlI3YS9CVjdpMmhpbkJYNkdNZUR2UktzRng1WHFtblZGRXBmL2NhbUtJR2xpdHNQd2g2TDNHV0N6Y1U1enBqTjRKWlpiYUE3aHlvSW4vM0dwaWVCdVlZUnU1UE03WkpMT2RlVm96SmdlNjF0TGtHd2JrcnFzamZ2UWFtcDRFT1d3OUtNTVlOWXRtNHFCbkRnWjZ5Titoc2NGNmJyb0g1bE5mQWhEV3d6TmhCUUl1ZTE0bFJiMXV6dXdBWU85TFpZUFVGay9ZcHI0RXBhV0NKc2ExZ0RxYkkzZVBPb1dGYlkwd0VwUUswN0Nmd1JqYytOUzBOZERFTkNtWmduOXgvZHZZTlh3SmEyVUJQNVEyS1Qza05URmdEWmZaL2c0REc4aXZFeUxiUFVzanMrTE1rWGloTldCeFAzbXZBMWdEQ1QzS2NNTVZEQXR2amUxRERETW5nK3ZIZDZNS25wcVVCekl3dWd0ZmkzYi9HT1Zyem80QldtS3oxendYNFdYOTVEVXhYQTJ1TWJWc2MxOGhZNWZWZUJnZHFnczZaLzZjSy9OMXJZRm9hMktIcHU3bHNJNncrdndBSHVxc0t1eHNxNWU5ZUE5UFNRSldkMkt6bXpTUm9CaXYyVGJYTkRqalZUUnZScDcwR3BxQUJ2RGd5SXpqeEN3OFYxekwyTDJGeGxGMFRnUE1STzFaSS91NDFNRWtOWUFUL1JvUis3eTB5K3pTakZDTFFHMkw4cjBYeElwVjh4bXRnTWhyQUdueDAyck40c3M4NUxRaTdwSVZSdmpYME9ST0lUa1lTVDlWcm9GOERtTDVmaVVKci9EWG1mQ2p0OFZrWTZPdi8rWi84NjFnWUVLM2pjMTREazlFQU5pbkorRkxSWDJUUC82cy8rVEpqM3k4QlRSZ29YUWNLd2QrOUJxYW1nWmJjOTJreHBFK1BHUHZiQ3JMOE9NOS91OHI3dTlmQTlEUUEyeFBUSDR2bGY3ejcrSTcvWXVXL2ZqZDdzNTIzaW56U2EyQ1NHbGpGVjNDVHBPOXBldzFrMFFEZXZ0dGJQTE9ROG5XOUJuTFh3RG5HL0s3NDNMWHFDZWFsZ2E3Y05wOFhQVS9IYXlCUERYUVlQbzd6VjNvTmZDVDh1MzN6eWZTMVBlYUlHaWlMM1o4ajFycDEwUjg3K2NmVjc3bDFIMy9xVDQ3bHBkMnBNejI3REpld1YzYm1lUC9zUHNBWmt4ekxTK0pZaGpNbWQwSGlscXJZSTFQeUowMU9UZjJMc0U4ZlRxVlc5eHovMUtENmN1b0tIakdiQnZEWiszRTJDcmRVN1JaZksyNlpMZHkzMU5NWDhMRFl2V1Fkc0ZTQUFHZUs1WUxZaXRqMGJ6U20xV3c5eHZ5aElLbVYvVjR4bDJ4YTMxeW5ydXNSeDlGQU03NTdmaHdpdDB5ZGxvalZXejRrbWxhVFYrTzc1NmZGK0N6eVdaWmJGY3JzTEVwL0ptWEc5SDM5VEFwZWhORG41WmRhZnNmWHRMUlB5NThYcDhYc3pQTnBpTDY4YkovNWMrWWY2bFg5QUxUOFdmenJvd2ZDTzQ1ZTFXcVN3dTJJczM0Vy9JN0VhYlVXbmZxNU9TMW1TWHllWTNlRVUxbXhtV2VYNzdubm5xdVgxQWRYNGZIbE45OTk1N1VrdWZyZ0xYWjhDVmZGNzBqc1U4MkVBRmorakJ6d09TRTJBOGt1c3U4S0ZsTkdHZS9ENjhYeEwzNGVOSjVZMmljZGFhNHphYWhXR0prbjdOTy9QMHFqcmh4d3VtaWZITWhrSXRHaWYxbXFwdG9rdlJwbVc2d3RmYUhHMkp2K0ZQejRSZEgzTzM4eXRmQXJNdTdzeGovSVRrM0JJNDZvZ1U3a2ZNOFJLK2VEdnNSUEthbW5XVktjTDJkK21ZRDNFWnRhYmpqUTc5Q1pTR0w1LzBTdXYrU0ZxL0lFZ0tiLzBqcWlyQWxteXZIRGx5YklLNEYwaXgrTDIrQWJMeEpRT0xqME94K3VaSC9aaFE1cG1NeXhIektaU0FwbUhMbTR4MTJRY1dmb2Q5UkVsRFhCREJvaDFjQTZPUkVXaEVzOGg2UHlCbDh0ZkdqYXl1dy95OVoyZytVdzhkbWZqbGluSE5jdnNGZEl4R1Yva01yZ2xzcXZkQVhOd0hXZUg4bFJLYlZGTURjbi9weGhRTzFQWHY3MXcyNW0rN1E5OEk0ODkyd0EwMGpSQmJFNzVIenN2S29JanMva3FRR2EwRjdQaytEb3RFSjJSSlZtVXZXVHpQYUpEcWxYQUI0Y0dsTEVubVplNktyaHc4K1lZaWFXcGYrUHVUSXg2bWtJTDhxeGM0YitRMlRvbGRrKzBTRlZmMXl0L1AyaC9LSUlLNkp1elo5bkVkWEw1SEw0K0YyOEVwa2NpeUdVRzlJdStWK0FEc0VOZ3N6MmlRNjVJYm5VUnQ5a3pPMXpoZjNOb1hKNmhIdzAwSVo5SHVSRGFrd3FOZW0vejdFMDVwTFpQdGYwNjl5blR3NUhGcmxNc2ZwRElpQVp1Ykt2TUxvR2RtQ2ZtNk5YeTY4Ry8rdFBJcmVXNnAxMlp2dnNNbWxkQytPTUd6MDZDTDJjSmhESnJLSDV0MlVtTVIwQ1QyMVBrQS9XYklwOXZZblQ3ZmY1OHpWU0xkcGt0cytPWFA0c2xiOXJETFV1UWRoUEg0L3VkOGRnVlRzclFjVHNKRDhQcXNBK3gxQmVmbFVhYXF0YWR6cmplMW55ZTNiRXBTWDV4SzAzL2lmMkgvSjcrbVJLUytLLy9KSVJpaWtwM1NlOGljVzlGTDdEeXVXYnhPaXE3Q05md3FtcGRkVHJnVTZxbGMzTS9yTWl1c0Y1WjlUOXdGM0g5eDRORkgzK3R0UDdCeUxrVlZqV3EyQjVVY3lGenBKakc4OVR0SDFpTWhmOStWYjB2MlVtd3llWmFxaTJBcldtc3I0a2x6OVhRbGZ6TjlrZG53aVBONU9GblY2SitNemV3ZThMZi82bGQ5Lzlla2ZCZEVBTjFWd1d1eFcrZjhJQzVKZkUyWi9LZjJVaitrQjQrKzQ0RkdBdjY2SmVhTmJOQnhESzZqL2w4bWZIOVRMZ0lmWmplSGRaYzFudUFJbGNSUi82OHk5OTRxNEIvZjQycU4yNkx2OUEzeGFxcEEvcytmK2hGdWhTZGx4UldIMWlYN1BPUWt0NXZONThqSjJ3c1J3UE9zZzEzc0xZU1JUOWt4dFh1MmRmL3hUTG53KzZvcHBTeU9mbGk5a1gzNm5YRHpyMFYyNDc1Vmp5NSs5RUh6ZHhOMnpSOWhuN3EwRWg5ZUk0U3lIUkIwN0lyVUU5MXhQS1JnQS9qZjlIbWgvTEVhT0RiSEpHMkltNW5vSmpWditKOXhHN3dUek5Dby9pM0paRVNQcWIyZGN6NktYSHdISHBYNzc3bTBnRTl0cjc2SHFTMHZ3UHByUkl2YVFOVXNzZmZSZVFCN2htVFdJaUNlcFpoLzJVdzJ5YmN2c0pLa2dQL0s2b3pOajNlZjQvWHIzK0poOU9zUUVCMUxVM0hEM3orNk0yR1didHIvRGNHM0Z1UGU0NFN4VlhBOFJ4QitkWHYvUnZZWEtEdDlpVGozMkRKTFA4YzhoOGkwV3pWSG5CeXNXU2NQNkYyU2R0MTlpTnlZTnNPN3ZPK29rU3BBTitlKzZpRWFBZFBxbWJTK1VBWTJUckVFQmQyN0V5Vnphci85ekJjdG96Si9zWTV2dkNUSEd5RWdaUUY5OVJZWENoNndQclVFc2ZhSXdmeDliQkxaMEw1dnA3anluRW1rdGg5a2xmcTYwYlVWVHFRZzVPVHRHSzNNc1JMVVdLMG1jdXNHUFNyZHE4bTc0aU1KdnMrWWY1MVhZT0hIMjBzdHBuaTUxZVFNU0xhVmxmVEYvaGtKVjhHaC8ydWRjbnZBMmdmOTNkMTRCbCtOdTM2Rnl3WXhVWnFFb1ZhSjlvSmVkOHBaTG0zYlNTZjRRNzFETE9xQnpsc0NORVhobm5ITHlxV2xXcXA2dWQxVDRyN0tYcTkwTDhjdDl6STdRNm9PZjZzMjM2elhvMTJKQzllekJnKzRNV2pDUEdLWmFzdEVNUUc5VlJQRWxRQi9aaTVEU2NkaVl6d05QeS9NQ3VhaVJJVG1GbWM4QkwwM25BS0NFZHByVmNDeGRSWE1wbHRFOTZZUDdpcU5zZmdNS2xmcVdmNFpnUTJKdnhqaTRhN2VnRW53Yk9RNFczTkhncG8rSTBFVlY1b3ZjUVl0cmRTakdiSFJTUUtLVFI3M3kxWXZScTBScnZWWWU5Vk5SWDVkRnl5djBFbml0MnZaVmo2WEJHZjdLYmlNcnhoOXZud1ByMFBtS2JDRGtDMENyS1R0L0R1V1QvcVRtYjBhSzdFNTNnVXppNnA0cTd5WW9rbE9Mc2M1bUZrUE5JeVdudTgyb1lOS0E4VW5SNFNGOGNOaXJoc3BwcWhNbFJjZ3VNWWhkZmtzQ2dlcEh6UTBDNElSZ25vWXJTNGZZNXNENmlQckh0d2hHQTFybUFieFI4c3Y2R3czWmpRVXg3Z2srZTRycGlXazVhWFJJSXhkbm5JdXRCem10S1R1c2V1cnlxVlQ1ZWtrWVZWemd4Q2pWb2RrL2dWNDJHNHdUKzRHcmZ4WGRad0V4Mk9TNTZ5cmFvbElRcVNvZmI1OEQ2aVBvRXZ3RDJzU2xJcWwvcXJMaUVYMWZBTWUvb2R3TldpSWhvUlk4Y25BVVVvYm81Sm0rRDI2UTQrNXc5b1duZE9wYzQrdE94RmlPaUpWbHlhK0EyUkk5RHliOVhSMXBWNTlSdUlBSEVycHNjWVhiWWVDakpETGZQZ2Z6YWVuUkM2a29NOVRGb0ErSFZWZ3c4VGhhZDF2YU8vU1FvRUw1b2dlbWdDTlVTdzc3RUtzNCt1eStTbk4rdzVGYkpodE5xVmVtNDl5NjR2VEp1WlZtdnBiL1hyV29OcHlhSmRqemt5RzJXN2hWRVJ2dmMwZjhGQVVmUXQ4MzQ2L3k5K0c1cTZaTVJzZnErbmx5S0VncUVEeXdNR3QrVkJocDlQY2RDUkxJNCsyeStUSDcvcGFnNFBMZlVyMDBIMXFnZ05OZmdxZUp3Z2xDc3N2QlFhM2g0TlltQjdyalBrN1VoN2Frb1pyVFBscHJMNFJ0Mm5WUzBjZjljZVpoaFdjZ0Rrck02NkVsQW9uRlM5RXlCUVBNalpaOGRGWU1rMUMzT1BpdFhnaG9FZGNpMW1uMGU0NkRhQXJOMUIzd0VFQ0s2aXhJOVRMZEVaQk5IMkxYRjh6cjh0RXNkNll6MmFUVXRubjJ6bjhGS21CeEU5Mk1uUWhyRG5nZHFpelF6MmF2eTUrR1FwU25ySVJJRm1FakJDbHgrRDRKdU9xZ3JSK01vR2g4VWdwbXlyakdwd0FVZnlhcGp6TFV3aitDVkw3aWNtVXVpYlBZSnA2bU1JR2hIQTlBL09oVWRwWkdMZmRhSE5SZTRSejZMSUh1VkVhczZoTXoxK0J4V21IMmVSOGNoUWZjY29wV0hPSDFIbGFFZ1dJZWV6dzVGVGtDbzZJa05xTGtpazRSNkVpenRzNkdEaE1Ib0dkZm5FZlhwVFh3SUViV3QwcEUxY3Rsa2FVandOMFErV1p4bStWTU41N3hLR3kxeFJWUStQMndZS3N3K3oyRXRrdmExWEhjb1lVZUo3eWdiRjBTVE1hZXpUazhRTGY2aXhNWllIWEVKcVloVXhmaGVpMHdXQnRUTTVqOHhpa29qb1A4b3RIMDJTdlk0MnlYbjh0NEFpWnhGYVpZL1Zkak9DV0FZVWlwWVk5OXcwdFRBd3V5emh5NUZDMkZXdjlaQ3RkTjZHRjFqZUlLditPMFB4eHVBZ1ltQVdrakJUR2wwLzluaHNkYlFJVTFMa00wK01UaGQwNlJxZG95STU5am1KZWNpMHhhTlBGb0N0aC94anYyMXc1Z1hxcUxaSlZiUDZaOHNFb1haWjQyYXV1SjJRN1BEbnRoNmdMUkp2T1RUV2tsYko0YUhRR3REZ21EdGc5ZVZZMVY1dHMzTll0YmV2T05DMDdCZUpqVzA3ZUdpWVRuVFlGYkozaG05ajJuaGRNSmExTkN3U0lJaXE0c1dCT0dGSG9lYVdxTVdncDBzekQ0ckd4Q2pDVkczYkhGRWVtbU13Yk9mU2hTeUJsWVp2MllJOWJCRXI3VFZVQjlsTXlnM3d4MGFQMEI1RUpvdTY0emhvM1ZsMnU1cVZBdVhhZVE5THc4VFdkR2JoazJ0MFZNSTBxNFByRVhMblFjV0JrVjFWMlMrMmpmVEtIM2tOZXoyZjZRbEYvYTUrcTdLNVc4OXRHZ2crY2lUNGUxeG1BdTYrZ3Qzc2plL0p3aWV2YWJyUC9Ka3hWRlZGMU5pbGZ1U0xrVGRqc0I1Qm9GZVB6QWpwQTFXMmR3RlJTTktSN0IyZTFCN0JKOUN2bE9WSlFxNlRCT1c4K25jWituaEwzd2QvSDdsVHgvZWl0SmIvdkpkeDMvcktBcHo1RDc0MzFIN0s1K1ZKUjlxSXZjYit6SzNJbzJpbnZId2hRZnVQUDJOQU40NDRoMjVmWDNNbG9qczhjZ0NOSkJYb3RnK25xUE1sMUdLVVZVcGs5dm5BbzdDaDNmWnRJZ0UySVovZ2hkZ3YyakRBZ2YwcHl2czNuZS9objMzdkpIeWE0eGRyckNUZzJqVmFHNkpkMjQ4bTZsbUVHQUpTajREekpqYUFTdmJwRVluaHpGZGJ3eG9Sd0xuUDRDdVFuWnlOSXhtNTBaUXFzcTFuU0c0UFlncnJxalFQeDB5N0tzWnlxb3FLNHZaQjQ5dEFGRkszVGtsVWIvR1JqM1NMaUp6Nll2c09NU1hHbzJJZDF3cE0zYVZzYmRacU5USVZqYW9tYmVibUxRcW1RVEdTaFViL3g3K3pPK0pqWUdBa1gwdVY5OTRHTXhIcDJIUHNkT2ZEMHAvRWVFZEJQM1FlZlk4Y1hpMEV1cEk0amNaKytXZ2hLOGNvNnh0RVhFQ0VaLytvc25OSW9pRjRQU3FWdmtZU1dobDJGeHhDRlZNT0xRRGhyVy9vdEVYMlExOE0vdTUwSXlndWlpYVdHQi9JNHdNZGRGaU85ZGpseTVmdmVmcW5aZWluZXI5akwxdVAvajgwSmVyOUY4eTk5eDlaK1Y3T00wNWRnbTBMdW12S2xaRDl2WlBWR09mcWRuYzA2UTc3UG45NExtVHJYckV4cHJzbTdlQzVaKzFoKzFHZE44WURmZmJrZ0hhUDhxcXhualhDUjVWeCthUmZUNzEvQmF3c0wvbm1rWmVrdGIxZ1lpVk9hRE4wMzFlQ1dzV0c2STJCbWUrWGFmbW5Kb3JEblcrUVlCQ1piVlRRSlhRUFdSN2RqYVBkQWhXZWoxd0xJSmR5MmZXTEdLbHF1aUpGNGFiM20rRnQvLytXTHhsSmJUbkQxSHlvWmpiR1pYbXlpL2NkZnoyeUNBOEtvWGdRV0VaNVEyb3dsUitIL3QrbnVsWVhoOEdiUGZjbnFYR21kaVVBSTUrVHhCN245eTZBdnRjcm13U0ROTXM3UkpLVllXM1l6a2RCM1JCUjdvdFpaOGRLUTNDRGs2WGFQZGZMV0VyMVdqZlVuZ3R0cTZTZWQxaG5obUoyallKdWE4b3llYllPMFJ5SjV2OUszckpkelNBYVBjVnBleGszQW1YckZhRUNMTXZoUFprVmtVdkM5YmNESG9UWVFZWENWM3MrRWdKZDg2dUMyQlZqVkFybjVRR0NQdWNsYlhOZm9MZ2FZV0hMNzIxTTNaQkd6cnlWYnZlWVpaN2duMlZ2YXprNkwvTHNMTURxeUhuSGJ0cVE2YUVNZlFVV2I0OHY1RUNNUm1sb29lSUlJRFlld3F6cFhhcHpWbE9ReFhtZW45V2QvbldBTlhteWpLSldFL3VrU0M5bXNkZTBpc0MxUU5kTTdRbitBZ3RyR0Y2RGFPM2RXRVFscjIrcnNZbjJHZEhrdXFaYVZXbzhHZ0pTQnUvQTlyVXZuMUJkdW02ZHRuZEFkczg1cVhWTi9CNGtyMGxKOVpHSFByL1VPUlBldXpNWDlwMTNXbmFNMk1IUlc2c1FWQnFpVjJKUUZQNWJabGVWZTJ6V0JuOWxkSWdobjFsa0VDOXplaW9SQi9TZEFCUXdGc0VwOUFhZHJHaDRrQkFIemZUWGxyKzNCQlFMUDhBL1cwcVE5K1NHOXNHZEVlSHNrQVRUNGh2L0M1TC9JWTJGZGp4dmlLQ3piVFN3Ym1nb2ZsaVFnaGg3VXBBTUxHdHFNVHZNOUpyMHFiMmpYaGhFTlJOcDlDRk9Fd2c4VHJRV0VrSlBvWGRUQ3BOQTZlNTNMMi9LcTRua1Q2VWxlWlVXRnNlMEIvVE1CaUswelVkcEY2d2ZVS1VJeUZ2eC9hTzhnMHVMUTl2cU1laCtkRDl2MDNYRi80M25RZnkxMVVCN3IzSTdBTzJJM3M0MmJTd1hEUzZldFExN1hsM0ZCNUlZTHF6SVNnNm9DV3JTY29jRFFaM1JhQlRhS0NTRW1KdURTa0lxTHRjWlRjaXQ2akdSMmlndTY2TGhuSkNDcE52cTlNbElBMEVVMWV5TDRYY2xVOEorVjVTc0luYzhkMjQ5Z1lkUGFoTmhOVlFvbWF4cDJ1dEVLNm9zYk5uaFQ4SStLenI1SDZidGoyN2lYekhoeHJLZjJvalFoT0tkb2IxS3BzRk1aVnhRZUhtTmJ2bUJpWHIyZ2xUelZkMGFTeXhJeG1ZamhKQmFNczVWZ1Q0U2VzeG84bWh5NEZCMEtBYUVYS2padEI5N1V1YlNrMXFEZjdWdFJReEtwdGtmTFNQMW1mNWVqTGVGRXBnYzIrUWJCcFdnNTlYZnExcERaMjAvQ212NDdmLzZGWkV1cVo1SXNDN3hxR1ZsZHVxbURFRGhEWjRiV2phZW53MWJYSkJZWjhIdkFwK2RqWW9WVFVEWDFDT1JyOVVyQzZ0WHdqaWVPdTRscnNyNmtGRjJxU1VGQ1Bkb1QwZExJR2FYaklKcGRZR0RSY2pNVXBDYmhxbnRHeG1aMG5ZRTRYaitYY2xBeVFQRmE5WnBXSXpDUkdlUVNIRTc3WEk0Tm5TQTNqd2xETHdpZzRrNkVYVkZVNmdvUXlWNXpvUzFRVzFmV3B2RCtnWTVQUTdGa3l0a2l5aXBQVzd3MXpEN2xwaVRTN1NHRDk0aXVUZWtvb2VKTlh1cTZtNk4ycnE1T092MzBwRmFFd2tXaXZlbDNYbmpFMk1TUzFidFlvUkJhclF0TllVZVBIU2oybGdYVWVWR3FRVExSVzdjd2dlY0ZzVmZmaGpJZ1ZPU3F2YVBuZU1IUU9wSzYzVkNVVjFKY2txMFlIak41UFl1aVc2NGl2dUMyeFRBaG9RYWpkYWlGeis5bGtHbjJ6RGI4c2FWVUxWbFNGclZyL2M5L0FKQU13NVZIY3ZsU1BMTWdrVkpnZkdZb2h1NWFwSm90bmtXR0t6cmxuampnMm5kTVErYVNLbE9xQkdoSUdwdExiUHNtWEgzRC96ZFdjbnRBbWFQNmdNSElRUUl4blY5U3pYcjVpSSs1eG1DcTNyQU5qZ3JMa0dmVk04UmdyUGFkemZHUFhwblpaV1BrWE5CNG9JS0wvSjBvQUM1Mzd2bW5aKzFxemU1TTRtRFVHMHNwNmdHS2w0NngvM3ZSK0QzdlM0RXlkZXR2MG5UYVRpQ0hqL3JzZGpiWi9BMnphSWExSVlKN1FCS0R2NTFLRkNiOXZpZGszc29Ncmx2YTFudXRScCtzVS9aNlNLMVJ3elN4WmxCOVZqa0FHQlhWbU5WaDMyRllrcU1xY2ZWN25KM1Z0cXlicjB1eWI0blJ5N1FaUjNqQzRSMEpubTQwc2M3enlLVkNYTlg0OUFyRXprbEF2WW43WkZqVk14bmdybDZ3U25oWnhOU29nTG5ZV3N5UTJsbHFKTGJTNkQ1THBuMFp4NVV4S0ozVG8zZmtsZUgwVmxQZFhRV0xuYkowbXYzWjltTTBxQ3dyOGpXUUVyd1dxb0ZjZUtJdit4VVlpTmd5c2U0T0gvK2VIUTdENGJoMDRPZFVLank4aXNtYjhFTWNiQU9aRUR1cGpFTTJLZmE2NnBzc00reWVhT0RFV1lMVFdHRzhvUGZRVStPOW5rTlRwSWZaTzZxaEUvYkNqeXNaSXF5YXUvMTRDbmpaNDl6VFYzTFFzZHN2QXRTUUJkMXNTeU9GT0VYeitjaGZyd3VyeUhDVTUvYlg4NCtpUXg2TzNaZ1dRQWwzbFI4MUt2VU1RZUpBR21VVnNoYTBTVmlOdW42ZlVLdzJHZjZCSXgrNlFWSURkVUhHOU9haFBiR3B1VU5GZkNCbGp5UmZaMXFLUlI5OXo5Snp4ZVltZFJUQWZmNFFkMFArcXFvWmFxYU1NNUdFd2dZeW0xODlXcmIvNjIrLzV6d2RZWkJOVFpsUkJ3ZXJ2bXlYb29vVXN2eFBIdHk4bUxEWkg0czIzTnVqUkpoMzJTSml5TGdTOGpaK2FHQnNFSFVNd3Z2dFd3Wlljam1razhzV2pSaHkreU5neEl6SE1tNm9qWEhTOVBEMkV4SFlNSXhnODlaNjFGUkg2V2FPUHFEMVBHWUpOWWhXSzd4TUxwRmtBVTNWVmhrVWVHTzNZMWljdlliR09RM0pINWU5dlNzQ2Jwc0UveU5mMzI2WWFDenFObDROTkZkZExaNTZ4K1BHSDM2MW9jbWNqZFBoc2tZSnpMU0hrNERXMkFhSVV0cS9JWGlUaXVJd3VXZXhMOXVILzB5NTFMS29JTjYwMXVNNnJXQzlKQXpldlh1c3ZxRkp1SWZhNjVudEJobitRcGp4UUZzV2lBbkJ2SzBUNzNCR3FJWmFKbUt2L1oxUzB0dmpFMlR5UFo1cjcrMllOOGp2ZFU1aW1IcGhEZnZDQ1JNS0tiUlRTQy9iTVE1RjNyWkVPcHBrZEE2MFdacHErYU55YVVxVlNCOTRYUlhqUC9EN2txaks1cmtkRStKa3JrL1JHZTBGUlRpQTc3cFBCaVU1WFRXam12NW9aS3RKK0NGTnk5ZENKN1VRMlJhS3I1c3BXdk9CUy9ac1pTQ3pOREVuSmxiRjdZcCtwR0dFcnNCNEJZcGEvaktYUjVCam1UcXpZc28wakdta3JKam5GQ1dEMnlmQTNuL2k4ZWh5cU1nd3NOY3I5dzF1Wk5IcWxhNDZwRWR0Z256ZFEzRGEwMTRhRGRVSTMyR0NvaFUwK2x4ZkNLcnNlL01lNFRxK0Y2Lzc1aWIvbU1wSWZ2LzJ4QlBOM25MZWJwaytpZnlpZ2I1a1c0cnI5YXp0b0JOQ2wzb2oyb25kMVZKZ1h0bUJWTkRDV3ExeHB1WDRPeXI4bnN3T1ZQbUl0WmpRd29nalJFWk1waG43UjhzRzBRWVo4MHNEaWhKWE5DTkN3QWxhQkZhKzVtaUVSU2REU1l1YnBnZDJTeVBOWHU2NVh3VVJVZ0psd0hzZnA5MlJBVnpUcHlYM0VLQU96enVrUnJtdW1ycVloeVBYOHkwUHhTYmNNL1A2TGpVYW9sTEg5cWFqRGdpekl6Y1BrVDc4NHRwMEdvaDVxR1REanNrMDcxMkRWNFVBenZJaTdvaWpGNFdQODE3cVAxcXlGRElwYWlvOEhNUlZQclBaUGxxZWkrVlZHbzEzR0FINzh1eHVyM1phbkM5VDdvS0FCb1R4SEFOd2U2NXNxaFNyWmlrWmlDNTNSdk1MYWVFNm1zWkZyR1BXSXF2d0Z5ZjdGRk5QOEgvZEFGVzlqZ0NURnRPWkRwL2x2RDlrUGthdnRRWGZaWk0rWVBrbldwR0JkMDFmSjhGZW96aU5MNlk5eTRYSFEwbUxsUVJiZThncnIyendlZkJLTDdPamxTRlJQdTVQd2RyL2tUc0oxZ2tKRDJDVSs1cmxBV21GN2k3VTdXZjY1bGZRQWxjdlo3emRoUlE3aXlLdlhTSFNhK1p1WmpMV3lCWCtSOXFOQjlSYjgvcWticzdvKzNxSTdMUG50V0EvRDRjSTh3WGRCVkhXY1EzaFYrZEorOTlQSlZ6b05xMnhjZERXWXVXcXkzb2hCZTRQeit5RlFaT1VYQnN5WHF5UFZSQWIzN3VxaUhsWjRqUmFGalBNV2E3UXRVZVg1M05QUkdmdFF5VVdxYStLL09kVkdpWVJUZFZ2c2RNd0Ezb1Boa1puckRLRWVCaFVrVlV6WThvbCtYZmNKcDh4MUxWTTUzSE8vVDNRVmROWjRFZm5ZRFdDMGpPM0xWSS96MFhUV0xPZ3BEYXpsTjR0WnNRZnZxanc2Z3hURTdwaDZkQW1sS0txOWpobmZxVzBxbGE0eUhRZU9RVGxNSGozREZ3dnYwa1pXWmNoS2RVbkd2Y2V1YnA4aTdEVjBvUVF3Q0RIaEFXRDVqRnZwUkZSWm1QTmVxSU9heVQwUjZCZzlOSUtJdEYzU1Z2YUpFZ254N1NFTktvMFlyUE5Wb1NGUXUyam4rQ2o4Q29IL2tNMFJpUldObDhlU0RocGxVTk5XN09EaFM5VzBEMzVTZ0pHMWJmVFVWd2RHUU1BUmNOelZLNFlISlREdlZOYnFzY0orNVJPYXlZMEs3WldOMlRkdVcrZ1NGejkweVFJUlFaaVZuU2N4alhQWUo4ekI0Q0ErbHUzTkFWNDByd1Z6c0FLelF6WTBibVhIT2xlYnQyUmVxdEdFN203aGIxNEIvWjdPdzBpZlh3RUozN3ZUVklwZ3E1a0R3ZjZRS3lDOGZ5RXhkcDFScHJuZDBDMnZZZVdoNGxKOHI5d2d4YUhOVEFQRDg1THpPMGNwYnpWaml2UEZ2NGNCMUUxamtvYURFZjV0R20wRlhlRDZuZldKTHpyYXExdGJDT0tEd3Fkcis2MkpXSHBvb0pPaVMzSDNYYk13K0tZUytHTUZDVzJ4R0FGa3plQWhMclBHb3RlVlkwVFhLcDRtcWpybXE2anZzOGNnUHJWV3pPbjZwS3Y0WmJtaWxpU0RncWJjRllmaE1jcDI5ZGZ5MFRJQThwMGNZdEtUdDlrVXQ2MWRUNGpCc1Z0ZmpjYmpIUVpaTFBjZlVDQVd6MXBaVjFXRy9Bd3I3RkdSQXF5VmE2aWtURzVjcXU1eEg3S2ZKQTFVREpDZGt1UVlVZ05PK0tjOGhWUWVMRnpQU21XTXZFQVVzdys1cFNvdnM1RUJtSnZTdmpKb1ZoaGt6R2oxem5LOStESmMwS1RUUEhzZWpGVXRTU292YXVjbitIZ2ZpcDY3ZEN3YndnYUZhMlZJbWRCdnFmNFpmRXIyZDdGdFJoZHRXWmxMWHEwUVkzdmNVUWo4VTlza2JEUmdyc25zRHBHYmpjOXEzS0FwMEIwVlZSNERSSGEwd2dXQll0UkZGZWYwMndVSkpOUzdOZVJIb3o5angvb3JwUisyTTZ3TkR4YkppdFFWMTR0UFFTcE5CVU5zMmV5L1VTSzBscmdVeldDNmI1aVRIb0tOMWh6Qk41UkpGR1J5b0hCaHFZcTJLRmg4UFpMMk9NUlBzazNxcmdOcC9CZDBQaFRHcXJ2S1FHclgvVURuUVV2Z1dTZG0rZlQ1RW5mc3RTS2tKZ0tvczRFdVdxN0F3eDArMndFSDF2YkdwVkhsUHJwbitDa3JsZDBoeUt4V3paajgyaDhFVjlabHRxOVdKOHhvc1NWdDA5Z1Yyd0Y4QUxmSVorb3crMlBRUFJWZDk1S08vV3FhbVpkLzI3Ly9kVmdMQm5obW9PVVpObXVNekZKZXUzUGNqRlZRL2Z1MTkrOEZ2M1hjYmtmck8rLzRKeDN0YTR2MHZiWDhFN29QQ1BsdGkzRndKWCtJVjBadndSUitJNDhNSGZkNmtMTUh0cTY4aExvemRzUzFoZi93aklRZXdlKy83dUVZN0YvT3d1cUNLZERRQUFBZU9TVVJCVkdEY0JQRllIN2V5cXRlbG5oejdRNVNIVG81NGNha1c3V0dxVHA3Mzl6R2g2dm55d0pOVjgyU1pRR3RlbkhuVWVnRUgyYURaaGVjc2hXOFQ2TytYY3RaRXcvTGY3UVJLYTdGaGJUVmt4Ky81N08vOEhzNjlEUUlLSDhSMXhQOHFpNmZsTVBnWVl6LzYzejd6dS9Jc1QwVTlEc1haV0t1Vk44RWFQMVBXYmpqQWFjeW4vL1d6bjZtNUJqenk5L3pha3lRMXdNeis2SlBtek01T1NTenV4UEppRkRSNmJoVzlaalU4M3JScmxzcW5YMEgrcDFyaVhFNjdLUDkwbWVFYmtwVXZWMDYyODZjOUdzVTZEdmxhZmh4OUV4SGowWHpsZ05kK2tQMERXRUxwQVhiSzNSUFdEZW1JM1h2dXZucXA0dkJVZ21IZlNMbFE1ZWJ4ZzFROER3SjB5dTRsQnZzOHhoRzdPR08zb3NJMG1DWmR2eWJvcU44WWxFNHl4d1o2bk9adEQ5a1hRbDcxTzFRbDYxN241L3BldmFRSHlmb3gySXFIb0ptZ3VEcXhHWlNDajN0SFFNOU0veG1YQ2s2UHZtdys5NWRVNXF2cytDb2UvNXZIcHBxKzRqeWN5NTE0bVhHVXZzcUVNSmVyZFBqN0FhZy95STRycXVIK0tTd0I4dDNZVE05MXRXK21VZnJJWGNmMy9uSUtDcDkvc25MNXRVZHh4Q2lVNzE5NjlBbDIrUWQrMGtha00venYvWDBiTWxxNnpMWkhxekFFbTcvZVBCcUNsS0w0WjhJN2ZqNk90dnpsTzludHI5Mk1neWVTWC9rMzRjbTk1SzhMdjFiZVZmbE9vWW8vcTM2ZmNKZVE2Zk5QVkhERTBrakNWZUFiejlxRlJZV3RYR1dtRlN5OVRKRXJaVThzb3dhYWVpVE5TR2lLMVMrWTlZbDh1R0xaUWkrWTVVUFJVOGxKQTQyQnkvYzVNY21aekt4NWk1QVA1WE93ejRLWFpQSjVrSnVQeWxKc0FuOFduckNkOC9Rb2FNQStvKzhFem9JYWJna1psODBMNGpQenZMVzhZK1llN1BPVk0vUDR0NWFndGNnT2tiUHc3Q1g3RFdJdUFuZGduOWR6b2VTSjVLMkJSdmFGNmJ4RkdrSnZNWGRmMTRKOWJnemg2b3VMMFVEK3JUM3A1MmprdnVRUXdqNTNKeTIycHorZUJ2U0w4ZkdxVDc5V00rZlZUenJpbU9VZDBrNWZMVGNyeDk0WmE1cmwzS2ZhL0xpOGZGZjhiMVpqS2VDNXptZmZ1VE5WcWVkeUR4VnBIMHlSMzBOTVZYMW5qMWw0dHBhbWQzTC9Ub0kydVo0dEhadzlJOHNnY2Z0TXJUQ1Y1RDc4REE4Y3IwcXZOOVcyckhpWnp4ZXVnWG4xVjU2RlM1SkdnSmtjTnNMRitORHJ6WmRqTUo5OTlXaWc0L3dPNk5ValgwU1NXdjRqOFJyc2N6M0N4R2RlVFJwWXpIMUJjWEpQZDJFQ3J4TzZzTSs5eVluc0tXZlZRUFBGckJTbVZyLytVdjZzZG1DZjIvbVQ5UlR6MHNDRk05TThLNjZQbHJLcW9RYjdQTXhLeE5lZm9BYnFaMlgzVGtOOXk1S25NcXF3enp6cGVWcDVhMkQ1L3J3cFRvamVCL1luUUxneThBeTFDVEQwSkwwRzBtdUF6a2laaEZ0T0w0SEg5QnBJMWdBZGN2S041R0pmNGpWUXFBYm9qS3JyaFVyZ21Yc05KR3VBemgvYlNDNzJKVjREaFdwZ0Z2YTVXNmdFbnJuWFFMSUc2UFhtWm5LeEwvRWFLRlFEYmRqblZxRVNlT1plQThrYXFQdmR5Y25LOFNXRmE2RHBkeWNYM2daZWdHUU40UFdtMzUyY3JCNWZVckFHRUg3bWZOeHR3US9rMmQ5TUdxQ3ZOemR1cGdmeXozSlRhWUFPcC9YTG56ZFZrOTVVRDBPSDB4N2RWRS9rSCtabTBzQWM3UE5tZWg3L0xEZVhCdkQ2NkN4OUgzaHpLZDgvelZBTmRLTi9iZmpJRTVVNzNqTzBra2Z3R3BpU0JuWWl1ei9mejQ3dnJiSTNUWW0zWitNMU1Fd0ROWHYzNTJybGRETUlma0w5ZStPd3VyN2NhMkRTR2dqdHY0N3JpYVdtbHYrZWM5SnE5L1JUYWdEVDl3T0ZxdjVaZDBuOVRhNHE4SGV2Z1dJMFFQOXRlS2hZejhrL2V5NzVLYjFTaWI4WHF3SDYra2hMSUlmM0lHajZKWHV0Rko4b1VnUDQrb2ovUFRtWG9jcjJoU3hkLzBxK3lFYnh2TFVHOFBYUkN5cURMNDFsY3MxL2NheVU0dStGYXFCaDdhNDdyOFBPT1grZ2NxR3Q0cGtyRGZTczNYV3pUSjJPdCtRUHBGY0s4dmRDTmRDMGxwZmFUQjAwaVUxTk1oSXRWRGpQL0piWFFHaFpZbDJmdzRSWi9lWXRyeHF2Z09JMWdNUEJ6Ri9MTlBWVUNmWjVVTHh3WG9KYlhnUDQ3eU56b0gxTDJ5YzIxZS9kOHJyeENpaGVBd2cwemRtOFZmMGhKK3h6bzNqaHZBUzN2QWJ3M3pKWHRCSkMyejROV0pmN2hOZkFsRFhRdGY4YXdkZ25objF2bjFOdUNzL09vWUdhZmZaU1JiODFnbjJ1TzdBOXlHdGd1aHFvNkNWNThEVTc2YjE5VHJjWlBEZTNCdkRHM1RyYTIyUzhmYnIxNWFIVDFRQ203MWFjV2RIekkyK2YwMjBIenkycWdaVW5Yc2NCbUw1dm1wS0lmVnAyYXpCOHltdGdHaHFveS9YM3V0NnhSRnpOL04ydmYwNmpGVHlQSkEwd0dXcFc3ZkF6OE92elNmcnk4S2xxZ0Q0Nm9xMUttQjV0V0l6TC92Mm1wUTJmTEV3RG1QN3cxKzQ0ZStuUUVpS3lQMlRYS3ZCSnI0RnBhb0Q4SjMzVlVkY2JQam4zSFoxZGpNeWJwaW1hNStVMUVBUVZ2cTVVcWtTRzk2Q3I5ekw1L2NuZVNvclVRSWZkMkFxQ0dYYUNYM09kMDU5eXpyQmpBL1lwcjRFcGEyRHVtT0xPY3V5WUVQUFYwVG50U2Fjc21HZm5OUUFObEtyUDd3ZlBzTk9JK3d3d2JaTGE4ZDhYZXpNcFZBT1lBTjNKanJkak1vVHEySkNlL2Rvemh1U3pYZ09UMThDanQ3SHYyNHl6MldIWEJLaGx2L2FNWS9tODEwQXhHcGlWLzRTMGJIMDBWNHdrbnF2WFFMOEdWdVFFZnM3NktLa2Z5ME84QmdyU1FGMTh0dW1IOTRMMDc5a08xc0I4NVdRekNINldmZTlnTkYvcU5WQ01CajZBLzBlNGk3MFVYWGNxUmhUUDFXdWdYd09QUGxHNS9DbHZudjJLeVJ2eS93SEFOMjV1Q2N0b1lRQUFBQUJKUlU1RXJrSmdnZz09Igp9Cg=="/>
    </extobj>
    <extobj name="334E55B0-647D-440b-865C-3EC943EB4CBC-62">
      <extobjdata type="334E55B0-647D-440b-865C-3EC943EB4CBC" data="ewoJIkltZ1NldHRpbmdKc29uIiA6ICJ7XCJkcGlcIjpcIjYwMFwiLFwiZm9ybWF0XCI6XCJQTkdcIixcInRyYW5zcGFyZW50XCI6dHJ1ZSxcImF1dG9cIjpmYWxzZX0iLAoJIkxhdGV4IiA6ICJYRnNnZFQxTGMxNTdMVngwYUdWMFlYMGdYRjA9IiwKCSJMYXRleEltZ0Jhc2U2NCIgOiAiaVZCT1J3MEtHZ29BQUFBTlNVaEVVZ0FBQVdJQUFBQk1CQU1BQUFDbG82QzdBQUFBTUZCTVZFWC8vLzhBQUFBQUFBQUFBQUFBQUFBQUFBQUFBQUFBQUFBQUFBQUFBQUFBQUFBQUFBQUFBQUFBQUFBQUFBQUFBQUF2M2FCN0FBQUFEM1JTVGxNQVpydnZxMFF5elJDWklsVGRpWGI1cGFMeEFBQUFDWEJJV1hNQUFBN0VBQUFPeEFHVkt3NGJBQUFIMFVsRVFWUm9CZFZheTJ0alZSaS83YlJwK2toUzlBOUlsb3BDaWgwY3hjRmJSbUVjTnltT3N4RWxZVFp1aEJaQk93dmx4Z2NxT0pndVppR0NKSzVFa0VrWExoU0VsS21nU09CV1JNRlZBeVBpUmxJYm5jNW85UE03ejN2dTQ5eEhrb0wzTEhMUE9kL2ovSEx1K1g3bk95Y3hqUFNVeit3YjYrbEJpMGlmaFJ2MkgybENuSU5IakJ5VVVnUzVNcXdiaHZWN2VoRFB3RGNJdGpOSUQrSUsxQkJzQTViVEFua0svaVZRVDhGbVdoQzNZWmRBbllQRHRDQzJnVkx4Tk54S0NlSWNIRk9rMC9CM1NoQTNPTkk1dHB4VGdMckpsakZHM2o4cFFJc1FGd0I2RkdrQlVySlB6d0MwS09JRzNLSFAvLzFIZ3dlZXNaR1dWZEVIbmsvMDB4SjVOdnpGMWtFbEpleVdBVmhoaUczNDg0U1c4RlVZbk8xdWJXMTFWMDNZNW1QMFliWDc5VmJYcEFsQ29uSG5nVHZKQXR4T1pCbGZ1UXBPS1hFemkzY2xqL1lsZ0IzcVpGWk9kbndvTVRYelA1MWpBRis4OEYyTDJ6eHRVc2hmL1JyVGg2UFc0TitWUE5hYzdvblh5dWpmaFE1ZkxoeDlQc0k0SFRRVVpYa0UrN2dtRmZCc1VGUFkwWXBycmVvZHdKMTNhR2tEemV0VjJTVHJObmdDZXhxT1dpTU5ZQWxPNjhCSm5wb3dyajNwZDMvVUl3ODRkSHlTaWRBaUlpNnBVNXFEZTlTbXYvNmxXS3ZPODF1cUpSbkNGTkQ5eGhQb0lYSFdVLzFVb2s3dXVQQzloWEkzdnEwU2RZUTd5YWJxY2NKMUpGRjIwdUYrUHgyMklrYTQzUFdWSjRnSkF0Mm5wamtZZFYxRmpNekVEVVNzS0M2T3pxUzRiN0FOWk9sRUE4L29nRWdSS2U2RHFEV2hmRHRQRlNPaVJydmFKNXU1TlVITlpkOGVzRUU5WUdJMWNZNWJWTEVwRXFKWVpvbVZYSFE4YTBid1JKaDdYTWQxS2ovWlpleW00LzQ0UElxdUtPQThETU8rMkxneWZKVU9GYzBNMXNmeHh4RTNUdlo2QlptSWN4SWVoVzIyRTR5SzJtS3JvdW5tOTFHOTZlem1FTEdZMk02WVIvWStqYnlNaTN0MDQ0N2VyOUR4L0xpODM2WU9sdWdOOHVpSW9peXJrbzZ6MW9OUnloSHlhWHBvb3BmMFhQTXU4N1I0Z1JHMjhjVUhrbzR2SHRXMVpxK2Rzd2V2MXJSaUxsZ2dwN3Q1WllxZmgxVWw5Nzc3dUI3bElZN2NFdGx4WGdhZzMrd3l3TkNHWWVSMDlZK01yT1hnbW9VUGpLSTg4ZUtXdU8xM25id0hBKytRV0dYTCtpUThSdzlSSDltUlpEMEZwMjJGS0Rid1NyWWdxUTVqZkMwNVBwK0ZwT01YSE1yd0ttV3RZWTMwNVJVd1hoM2Uvc1ErNHh3WnMrYXlZU3pCRVpkaGpHTjc3Q0xvR005MjdyeGU4VHdIVjFpcmlNczBRWmtoV0FzeWordUlSQ21CaXdCVlFjZE5STXh2b0h4YWxVR2Q5YzNSeE4wbjEzVnNFSWR0a1d3WU9JUmY4NjFMdXZLTVg1bjJGQkFwVmo0K3hxZm1TbVZXNUk0NVU3eGdqVE5QZDNrZk96b1NweDJ3czJSTkhGZFRlaDUzdkZtbGREeHJiamZSTGxobGpuQVdLZVdBSVprazhETkQ5K3ltV0JXWUova2psNFNScnBRQ3ZSb0gxQSttOGZqMk5JRzFBYnZVRnIwbjJzWG42UnN4UmVRaHVRWGNIajZtdzZ2bFVvdjRlWDFRTTZiUmxDSHpmclVtRDBrTTBrVG5rd0p5bTRGZmt6eXdvUGtocTQzM2lUZ1BNeVNOSis4bllBN1F1ODJ6VVp5azNTU0RiUkNBK0RzRHg0a3h2cG5FWEtOTGNHNFc2ZnF5OGJJdFVFdVN5UGNQMXdNVk5KMEgyeWpBeUNZUFZ0dG50YkUrQ1IxZll5ZmdJbFpiUWM1a3FoUWtET2w3aW5qcnlJMnBLbXNoTnRFaVFzZkEwbmpDYzN3NjNIWW13S04xZDFmOFZrVlFCWW54a2IwbzR4R1luQURJM1ZEZ25tYWg0UGdIeFNoSjFXRjVLeGszNmdhcElwb2VFK0t2aDJLcmNHdjNVWUNZZjNUM3htc3BsQlpFeC9HY3VMUU9GRDlsa0cvUXBmTUdSUXp3a3FzM1hnTTVjNFZwWW93SFUxRThSMUxMVXZ4VUVkbU9sRGdWd2llMDlKeSt1TFdHakkxSjByRVluVndabGtSRGZWN2tpUDJicktvVldDL0tmRzJTZEN5R0lna255YmI4NVNhSHZPNFhSZlNVNVVMREdOK1BVSTRqSm5UcytNR0dKbjM3d3FhWWQrUDRkT2s0SHF1VG8yTm40cG9JcSs0YVVEYXl6NWtvVEJ3NmVCUEhzd3BDeDlLYlVzbm8wdU5Md2ZreHZpckZUeHRiUGNXYnF6cGJkdWJMSlFocjVCMktENmJqeFBueEJ2S3NNeUpKMzFhY3BxZUdvd2ZuSFI0OXRZa2VkM21iMFdoK1d4V3ovQXRIRFN3bHR5cHI5UlU2WnViaUpVcnRURTFVSytxM0U1M2hUNlNmTmFiQjZiamhuWkdrK1RHK2FYVnQycTRwcDBOTndhREd4c1IvZVNTZTQxTXlzUG42NkpTNHMxRWYrRFlPRmRzaXRtdEtHNnY0RmpaNVR5SGcxT05XOXJVSzhzRFAxMGV6NTlOSjFJR2hMUEVRUXh6QWs3NlJaRU44cDRMcmZjUWFDQjN1TUVXc3JXSE5yckhtcUovNHFoUTZKbGRtVG13em4yUlgyZVh1MnlGaHFVR0FxMktkaVRxVWhoYjA5MDRhRDU1dVFnN2NJNVg0MHpmMTU4bU9udm84Zm1VVHQyWSt4emF0NVJJZGJhVWJwMEpXUWQxcDRoK2R2ZWtiSHRNay9Wbmlva1cxQ0svam50cWpHdWlIUk1ncE5jN0RUWU9sVmJ5eWRFbjY2SGhaN2NuQnNNZmJpM0w3VWhYQzZ4Z29KYXBSM0tOelUxMEoxNCtVVnVRQmhLc2VJT0tIVkxPTWMvUnJlNEpTVmRQV3kzQ2J5S2JnT2oxRVdqMnRaaXpCZTRqUE5jZDRZc0NlbG1wY3ZzSmJHVk9USmFuYXZucWJuY21hRCtLTjBMS1JkNDNtVXc3dldQanQybm1DRDQ0ZS81Q3ZnNmxySnUwWlh1ZzV0bGVINjdTUmJicFl4VkVJcjJWTWVOTEkzaHkwakNwZTNmZHZoV3VIU3VraG1nSUVjU1ZkNUUzWFBwZ3RILytDanQ2dHdNdWgvblRDTndITzB2Q2JOWUgvbTFxbkd0RS9Ed1B5cjdhdDdwNHBOcEVPck9KLzMxN1pXMVYreURDTVJRc0dYUlBndmdpSE92SDE4K1lEOUJKODZ2N2grenFseWZZdi9Md0haKzdkU2V6MFA2VnlHSElpUExscUFBQUFBRWxGVGtTdVFtQ0MiCn0K"/>
    </extobj>
    <extobj name="334E55B0-647D-440b-865C-3EC943EB4CBC-63">
      <extobjdata type="334E55B0-647D-440b-865C-3EC943EB4CBC" data="ewoJIkltZ1NldHRpbmdKc29uIiA6ICJ7XCJkcGlcIjpcIjYwMFwiLFwiZm9ybWF0XCI6XCJQTkdcIixcInRyYW5zcGFyZW50XCI6dHJ1ZSxcImF1dG9cIjpmYWxzZX0iLAoJIkxhdGV4IiA6ICJYRnNnWkhVOUxVdGNkR2hsZEdFZ2MxNTdMVngwYUdWMFlTMHhmVndzWkhNZ1hGMD0iLAoJIkxhdGV4SW1nQmFzZTY0IiA6ICJpVkJPUncwS0dnb0FBQUFOU1VoRVVnQUFBcTRBQUFCTUJBTUFBQUJld2lpVkFBQUFNRkJNVkVYLy8vOEFBQUFBQUFBQUFBQUFBQUFBQUFBQUFBQUFBQUFBQUFBQUFBQUFBQUFBQUFBQUFBQUFBQUFBQUFBQUFBQXYzYUI3QUFBQUQzUlNUbE1BRURKRVZIYUpxN3ZONzVsbUl0M3Q5b3BQQUFBQUNYQklXWE1BQUE3RUFBQU94QUdWS3c0YkFBQVBUMGxFUVZSNEFlMWNYWWhrUnhXK1BUMC9PN3N6MjUyZ0dJTkpOK1FsNmtNUC9yT2E3VkdRaUlJenlVT0V2UFNnWUNBS00xRWtQNkk5QVNFRU5UMVJNQ1JnN2hpVkpLUGtyZzlHSW9RZTMwS0N6b2hFRUNVek1ROGJGOXk3L2tSM2V0Y3V2MVAvZGUvdDZaclpleWNQNlhyb1d6K25UbjExNnRRNXArcmVtU0I0SzZhYjQ5Zm4zb3J6TG5qT3A5bnI4WDhMSHVNdHlINlMvU1NZWktzK015K0ZJNzMya1JPbmFmZXJRUkJlOXFFL3pSWjl5RVkwa01BVWV4Vy9DejBQWVh5S2plVHFJU1pCMG1aMVpHcHNVeFFIL2w3M3NWK3prVndIaWlmWk1NUGVvS3JqYkMzWjRwYW5JTlN6STdtNlF0bW50TU4ycVhXYVhkaUhDRTFURzJkdkhSdkpkWDhoV2EweG02UFNNZlpQcTNKQWRpVFhBWUpKVjAreVBWNTVqUDA3M1ppc0djazFLWkdCNVpxVTU3UXdzd1BwZU1OSXJ2dkx4MnJ0Q3ZNS3YvVWZxM1pBZGlUWEFZSkpWYzhxVDFSaEhpZlprVnhUQWh4UWdlaHBtemZWMktVQkpGYjFTSzZXTVBiTjFxVGJDaG9qTzdDdm9BN1kyR0x5WHFBMThsc0hGTjIrNURIN24yaHZIMm1jZGZVSGJydm5NUS9Ec3kvMkkyaThPWDU2NlRERHdHQ3VpMzR4Kzlkd0JzUHRhK21HVDk3eFlIUm1DS3NUT0JNekgwYzVoTS9obWtzeDJ6ai90MGNmZmZ6Y2huWXFFNnozekhuVXVQZEtMN0krNjgwZlloUk1VTWlneE5nL2h2Y2ZMdGN1bDlqS0VGYkhPWlhYemVRUVRvZHBMdlBSeGM5RnlXQmExZGtxOFFyN2VUQ3VET1dCUmpySjJEenZnTEhXaC9jY0x0ZUk0OXNjd3FwODJ4MGdsQlpvQ0cwQnpiZjk2a0VPYysrQlozOHIyWmZ2NHpYOXIxWE5lT1BzSWtwTmNjNDMxVDY1R3VjbWZvWXBHZmdObCtzSHYwZ0F0NGVQRFpWZEgwNVZHTVV4b0h6RGttRVFkRkh6TGFlbXhkK2hUQjhHNXdLWXFiUTVmQkxENVFvZUVlc041NFR6SGZOWVNBOUdoeU9oVzA5My9DM0d2dUh3Z3NrbE1jOGN4aEFzczB0WDhiVEQrTzIyd3poZDhKU3J4OGt0cUxHaEYrbnA4Zk9yZ1FGTTdPOE8rNjdMZmt2YzhJMTVxWW5iTlFoVmRMWGcxZHRIcnZDQVBnNEpPMlU3QWVZb2kxaFc1b3cza1VRTmo3UElLYncwenVFVkJOcDV0SDJPV3g3Mk5ZQUQ5WEpJWGErRlRNRE5yNGhsVmFHQVlMcE1Qc3BPMTdLK0tFWXlaTEliWmY2eldKMUUranR2WXNvb1IxSVk0M0dDanJHKzBTc2ZmVVhvdHA0QklWa1Z2Mm5oSzBmU2hkdXlJVTJsckZKSEJmU3h2UEd6eVdXK25SS1c0SW85dThwSklMQTFuaUY3bmt4aU8xQ3pqMXhodVZZNHEzMS9QSzNGdmp5dXBCSHFZNStEWm1PaFo0WWx0cDJjUmpqNERkV041MVBwTG1JQk9TMXhWcFBLaTR3OWxLSThXK1VrOU9NajE1cGlwWHRsWlR5dFJWYlhQT3F3ckk2MEZsS3U5bHB0LzBPZk4xUXVLTmptZVY1ejBzL2ErY2pWenlGNVdnc1hibjRsTEt2OS9ua3laUVdDdHJhL1lkS2pEWWNCOW5WT3RlTmFtMEU5ZmVUcTU1RDhyTVVnSEZkY1R4Y1VTNXBMS1h4QzUyVUdrbEh2VVdNLzJkZ2NvSy9idk56MThqVmVkc0RQSWZsWkN4dHJybmszZkQyVmpBWG9jd3JwZVlJZzlncVZISGpRUDJFOHZXeWlsMzMxZEVoKzFzSUJtMmNCeTJyQzF3bExkZFVnVytiWXdQU2xsMm9jK29RUU9NMkVpdFdHOVBDd0E5aEFQdmNwZnRaaUNKekROemNaRTYvM2lVWDd4MmxHNWpBT0dhV2NXcG8rVVNQbFd0UEdKTkdlS0hySTFkTWgrVm1MeFBENUZaZVoyZHl2V0FHNkdtSEd0R1BPN2dsQzBlejNESVVkNkxyWHVRTjdlTWpWenlGQkNaeXdmT0NJQlRXRUpud2RWM0dxUFJSbW9YWWROdURCOWJYRi9kYVl0U2xzN3FtOGgxeGh1UlpUL1ZJVmxydE50UjFCQlpaVmg2L2RyTnNNbVA4MWlRT2gvY0ZmR08zd3dPMGsvd0xXWXo3NkxtSXdMUkRWQjdlcUZsaUxDeXIvSmp3eER5VzNkL2JxR1FCaW94MjRxZlg0WWlYQjR4aS9VK0FmYkNkYU1vc1QrbkNYMlV5VlhjdlJaaEhkZkc3dnEwR0FmYllxVzErSW5wekxJaXl5RGpvb1k0QnlkSC9HUU5pWFdqc3Fyc2w2MXoxeDd3ZjFqRDVPMVN5OTFUcmhwNjVYWFhmRE1tek5KMzUvbGNOQ0ZjYS9HVDBDQWNXdWxVL0FLTjNPZWpHN24yNWZGMFhIZDdNTnkzNjl1RmRWL0lwODB0c3NzWml0VEYyRTNQWGQvQTVUZDZtRTZFYmNROFdzTHpydkE3RjFNU2lGWHBPaHZTT1RGSW5EOXUwUmU0WmRyQ1ljVWhKR2kxM2FEazczcTlwYWxObnp3WmEraUlQWlBlTndMYWdBSFJRQjVqWFo1eUdjQ3JTdjJqSW5yd0IvM25MeDQwSHdsemh6Tld5d00rekpXS21PWFovT2wxa1BiNGNmUDc4UlpkSERRandmbE9OWFhZZVVoSEVONjlmQnViUFdWZGFpZ2E5REt6cktneDZ0cEVmT3Y2WXB3OWV4QVcvM0c1YU9BcXArVTEwS09mNWdJa3NFTHN3L3gwL2Y0dFljcGxUcXNMK2kzN0U5eHlFbFlaUWo0UzFPWGxiV29oUnRrckZWQVdMTjg5eDNHSWgybjJYcGk2Q0xhbWk3bVp5RWxtWEl6UDNyTkh0WTBHM3BacWRmN29WVE1sS0xmMmNjRW4xYjc4Sm9TaW95S1NKOG5hSnBWYlF4V3pEdUluZUlOa1BJaW01ZjZmWkZYcERZcmZUcVU0VUw5RXJGN0tGMnJ5b0lwNDhtK29hZzF2aUFUYUJZMUJnVE1PQmw2Uytha0dKbHN4b1VmZStvVzRyc1lPTHE5dzlLTjNGbWgvZ0J5Z3RCTUJ1R3lKeEo5NmQxWDVMVkZCcHN5bnhaSFdZbW8wdzFsMlQ1UFJxc1grWGNFRC9wQUNWSXdtZ29KeHkwVlBqYVdVSTNhS21FRWt1RmxrWCtLRUY1QmlXemhIYVBvWG1TMjFvUW5McEVDbnNoVFU1aDJDTjNpM1F2OG5WSk1xMnNReWNEWjVyTkZkZGdUZVZMRGJndkpTTXlBOUlLU1JqbVRnQVNYcVZSeC9neFd0L0JJSmhJTzFvU3dxREVtUkNqZ3lVUnZ1SXlHMTlWS3hXME9laVBpdVM0cXEwaExTMGc2WEJCdFJYeGhKYXVDTDZRc05raENSaFFqaC9KMFd2U1dwemd4SkhxZzJEQ2Z1a2tpY1VYUGxtaUhSNUdacytXaDYrbERpNnpPd2hIMHpRVmR6Qjk4OVdWaHhtc1M5YmhOODNvQ211Z2NGWEJ3Z2xmRXpDYXhtZ2hXNmNPRmZvYkhLeSsvRk1jNE0zWWxVU1lieUs1QmUrNUNNd0Frdmc4ZzBiQ2R0SitDUlI2RDhYU2kyRDlkL05GbE1rTmdsRkRJNnRlWDVCM1d1UDBFa1prZk8reXRCWU5FaU5lQVV0cFFvOUVqOHhoOHF1RXJQWm11R2NpZjdDYVlyeGx6UUpRMWMyVytkcml6cDlWVTUzeXI4RHBSQTN0YUp5dTVqQmdlcldKQ0dWMitRelFWTFJQUm00cGYzaHBqcERWcFRiZkk3aG4xZGdOWFZ1dk5BOWRkbFdMZlJtdTZncDh0c3lhUStOVzlVZ3VERWhmYm5lS0NjVSsrOGcyaUJmMFZtenFuT1pSU0Naayttc1Q1QzZseG9qTnZvRmhNNEZqeE5oUGowSlJKU0FNTnkrekZRc0ZSZGNXakMyakJJNjFDTnI2V0xDc0E5blVWSDByL3BBZDY3N1BFUWRrcFJ4dEYxbW5qUVpDM1pJY2tCU2FGcCtuRUlXOUw2aFMwVThhV28zUk5NRWUvbFdFQXlNMlN1QllDOHhDYVV4NHhXRWgyY3ZNWk1jWldGYnRsM2FRWDFUbzVaT2lyem1aaC9IWDRRQ0YzVWg3bjAvUUYxVEVYUFRRMERnemlnT0R6aTFxQW82MXNJSXI0LzhNazRQbEtqVHhyS1Q5Ty9oaFdiVSswdmZGNjRreFNPNVZXUWZyZFZrMzR4c1lucjZ2YTRyTU5NenFRMFcxYndvQ0J3YWRHTFlsRE14K1NTUEN6TlpGQWZPeDFVcFRIQ0F6R2N1cEp4NjlIMXBNZVBncXl5UkRiZlpsSFZaYTM3NWljdWFLaFloNVVncGlNYzAvMjdKY3FxTnhEZ3hNUm9OdG1uMUcvNmhESGRGZDg1QS9VTVVSeTJwMkZSYkNVZ1ZPQXNPbXE3b2FIVFdkUWs5S0txeFVIQXQ1aGxyaEtNUzNOYzZHVWJQT2Zzdld2SENycmM3ZkVQMWFJUWdUVEp1VzRhTGg5VDZTZE5oYVduQ1JNUW5VZWp1b0tjMGxXQlpRcEVoa1JmSk5hcHdGbzJrWnF0QVlaRHBLS2oydTJPYWhBS1NLNWJJbE40cWUxWDVSN1ppRnNxbFFGT1ZVUmV0bll0QXp0cXRvaTN2U2J0K1U3Rk1hWjJCc21UT01lNzFpa0RlUFJBOTRuR0oyRlYxcEdRdks1d0c1cW5hRUErcklJNmRZK2xDRUhxcGRWaGJ4b0RDckxoblhVaHFuWWJTYzhOWGdRcHlnL01heWJSNE0xTEhza0JTMU54bWlnK1FBK0lLbXo3alNnaDFRd3NTRTFGN1VQY29kb3dxNk12OE1PWHJGdFptaGNSSkcxeGhQeDFxZ3UxSVh4endvbGtIdTk2OFU4YTFwOW5TbHBReVJyQVFrSlhjczliWWhOZTNhcjZVYWM2dkFSc29PWDlVSWdBa1liV1BHcExYNGNKVW9FR2J0U2twaDlpYk95S0o4NktnQzRraW1WWmZVcjBTS3NHUklteWpPbXlKeWlMT1VYQ1BMdkk3VkZWWGJ6RmhWNWYrRUNkS21YV2hjK1M0YUpRR2phNDRGTlRHdnNFNWs1dTVXQmhPMWRhcTIwbjJZZUhZNjNQMHJIUVhtREg4Nm9xMlpJbkpRYUNsWExNRzZhcHBodmJyTU4wd2NwbHJ6ZjBKZjFXRkdPcVJwdWlwTXdzQ08ycFNETC9CNWxZVDF3SUZtU2RSakVtUVJGbFpGc2JEZkNnUnBNU2YvWU80MnFRSFRrSElGT0wwQ0xTUCtpb25ETEVZNVo2Mm9SQjVKYTRRcUNRTmxCYkhMNXpVdWJCUm11U2tRU1l2UVhjd1pZSkpkd3pKYzFNYXNEU2RvSXlYWGx0bUs1TjlvWHBRcVJ4RVBRTTJVZDRmcTB0Q2tjU2tZbUUwZGJaUWlicDZtaEpaRHJ2TzhsaUxKRmVUaXVpZ1c5b3NWMW1FL0RZSmwxdGNCWXRDT2RLVlFYUFhtQ1B2UE9JSWRZeDBLUTBuV1NHMGpiSnMxRE5SZUpET1FnR0hrQittVFFUNHVZaG16MVJhNEJaNU5PT2Y4Z1hlTUluRG1PNEFLeEZacXlUZ0xybU5PVlFPMXBsclFPZFZheE5NRW9GM2g4Nk50OGNtREFzdGhBT09tR0gxTEdPVG1PaThpT0pnWDlUSFBUUmIrcGhNQ1VwR2RRcERRdngycEtRM3RPZmpiSWgzMmhPcDFuZ0JlMEcrYnlWTWY2U2hrV1NhTmd4aGRHRkRyRlE0QVJwaDNhQy94SXN5emtEOTZrS1U0cm93S2J5M2doK0syWFpzdkRKbWFnYXllRm1WRXpnSXlWVSt5dnNCSmNaZzZ5ZGhzY3M4MzFNdDBiR1RTeVNteVhta1lvVFQ3emN0ZHdsV1NBVGZrdmNvaGJaM2paazZxTWE4cTVJZld6NGdMUTJCbG1hdUErRWNaTlBReDhSQW94c3dCWVNkNW9TQW84djdGVHVZc3krd2x2cE5yWkRqVE1IYkVLcyt3eFFhcHc2UUlCK2plaGUvS0dmWXlQOXVFU2l2eWhpbjVsVm9RNDY3Tm5OU0J1WDhlRy9JWmRSMzVkeDZXbmNZaUhhL2JiSExQdy9YUEU5T3RONkI3bTBHd3ZFcWxGSXh4b1JUdHk5QUQyRkQrWlJZUjdnaDE3ejRCNzdzWlRQU3BycWowOHBmdURrbUs3SUd2ZjFtTzhaSThkcHo5cFRWb2cyelRDVGRzdUY2ZVFrcGRGWEJiSFFySkx2Qm9oUDdTdklNVmxwcWFockhBWGd0bTd3UzZFdjdsN0hpazlISXN3di8vS04zZTJ3NmErQ3l1cFdLTFFwQUtvWExKeXFpUGZJSk1jMmJJTW5aVU9lN05teG9ZcnM3ZXJTaS9yYzIrWjFjWG1COW5FTllmbzllQzRIcUVzcDhXY1drYXhteUkvMGJGbmRRMXJCZXBNMW9RdklQaFMyK3F4K2V4OHAvOEZnVzJ5emJ3WDdJZXhjZlJ5cXRpRjlILzBzTFgwdjJxTmVwcGd2UUxxd0xaOFpEMXprZjQ1enB1ZFlHbFB6RUloQVNGejRzM3VPUXlZWXc5RnozMUd3N2pvK0haT3Mvd241ZnZqWjY2aFhJekQvVVRjekZFUjV4N0lYNWRRTFhHbmYzY09mYjB0K2V0bXFLejczMnM5eDIrM09YbitsOVJnemt3L2cvVHE0R0xvbWUrOXdBQUFBQkpSVTVFcmtKZ2dnPT0iCn0K"/>
    </extobj>
    <extobj name="334E55B0-647D-440b-865C-3EC943EB4CBC-64">
      <extobjdata type="334E55B0-647D-440b-865C-3EC943EB4CBC" data="ewoJIkltZ1NldHRpbmdKc29uIiA6ICJ7XCJkcGlcIjpcIjYwMFwiLFwiZm9ybWF0XCI6XCJQTkdcIixcInRyYW5zcGFyZW50XCI6dHJ1ZSxcImF1dG9cIjpmYWxzZX0iLAoJIkxhdGV4IiA6ICJYRnNnWEhSb1pYUmhJSE5lZXkxY2RHaGxkR0V0TVgxY0xHUnpQUzFjWm5KaFkzc3hmWHRMZlZ3c1pIVWdYRjA9IiwKCSJMYXRleEltZ0Jhc2U2NCIgOiAiaVZCT1J3MEtHZ29BQUFBTlNVaEVVZ0FBQXRJQUFBQ29CQU1BQUFBL1loUVhBQUFBTUZCTVZFWC8vLzhBQUFBQUFBQUFBQUFBQUFBQUFBQUFBQUFBQUFBQUFBQUFBQUFBQUFBQUFBQUFBQUFBQUFBQUFBQUFBQUF2M2FCN0FBQUFEM1JTVGxNQVZLdmQ3ODJKWmlLN0VFUjJNcG1pVmxleEFBQUFDWEJJV1hNQUFBN0VBQUFPeEFHVkt3NGJBQUFTT2tsRVFWUjRBZTFkWFd3Y1Z4V2VkUkxiM2JYanFJSUhFTEJXRXlUS1R6ZUtVd20xb0RIRWZTaFF4aUpOQmFWb3JTb3FTQWcyb2p4UUhycVdFQ0JCSkxzTkZhaEk3RUpiMFJaYUd4cEJLMzUyaGFvK0lGWDJRM2xBRmF5aHRLQUtkVU4zVGVLUzV2TGQvOW1mOFoxMTdxelg4YjBQTzNmdVBYUE91ZCtjT2ZmY016L3JlYTVFSXpBK014L2Q2WG9zSWxBaEJ5eHljNndpRVhpU09LUWp3YkhaOGZQQUlXMFR6eWhlby9jUUZPYzlvdkN4MUo1NjdRekYyU0Z0Q2M5b052c0Jjdk1MZVlkME5FU1dldllmdS82ZnE1NUQyaEtjUmpZT2FTTkVsZ2djMHBhQU5MSnhTQnNoc2tUZ2tMWUVwSkdOUTlvSWtTVUNoN1FsSUkxc0hOSkdpQ3dST0tRdEFXbGs0NUEyUW1TSndDRnRDVWdqRzRlMEVTSkxCQTVwUzBBYTJUaWtqUkJaSW5CSVd3TFN5TVloYllUSUVvRkQyaEtRUmpZT2FTTkVsZ2djMHBhQU5MSnhTQnNoc2tUZ2tMWUVwSkdOUTlvSWtTVUNoN1FsSUkxc0hOSkdpQ3dST0tRdEFXbGs0NUEyUW1TSndDRnRDVWdqRzRlMEVTSkxCQU9LZE9wZzQ0ZVdSamdvYkFZVDZZemZPRU1tQndVak8zb01KdEtGNWdHdnNCRnJoT244Y2l5NmJTY2FTS1NIeUEyZXQ0K2Npb1BPVTZRYWgyejdhUVlTNlZ5ajdIa3BNaDBEbnJjUmgzUU1tQ0pJaHNpYjZFbVQ4eEg5cXZuUlgvK0RPS1FWSEwxWGl0eE1nM1hEb1VPQStZaEQyb0RTSnQyanBNRjY4MlFUSXRvMU5IUGsrWEdIdEFHbFRicjNrUCt4M2hKWjNZUktkRG1relJoRlVoVElMT3NyeFhsVDBpRWRpYU94SXkzZjI4dkhpU29jMGtaQUl3bjJDemZ0QldRdWtraDFPS1FWRkQxWEZzaEZmZ3lKc3g3ZlVVakhXb3IxRE5pV0Q4aVJDK3hZZUpFMU01T2RnN1EvYUZFU0FPWVRJakNjdTVLUVJ2QWZ3M0xNSTdaR01VWkV2Z09WcXBucmpySHBQd1BwODJYemdQcEhzWWVRZVNZTks4QURackU3QWVuMFhhOWQrejBBVFVqai91dGVzZTJzVXdlYnQ1bHg2a0pSSTAzZUNzaVh1L1MzTlptUlRyLzRqanNmQ05iYWp1dm5MaHhpcUN6R0ZQM0VMNTY3OXRaTFJ1S1JnUGprSTBheUxnUjFJcmd2RVZMdTB0L1daRWE2emtZNTJYWmNQM2ZUWkdicUJDL0hqd1l4a2FZZkJTSGtkWk9lbzM3emxKZU5sMkJ1NCtXVC8vQ1dpalR1Tm9MV1hUUFMrUDRSaXUxcnRsV0xCUGIyTXJXTjZjd3NlZER6TWlKLzBaTWE0U3ZOZUVMQjJZejBiKzg2QktYbmU5SmlBSWd6ejkwSkcrRUJiN1E2WTJTRGR1YUZ4NDBtN094SnNWUEpmNHduRkllYmtRWlJFT3Z5NkZSbW0xdGcxdE1HRlZiSXh5aEZjUXZYN0RBaHJ6NU95Nk9FM1E4d1NJcUxkSnpMd3lTcTcvMUFlbkp6b1NPRTV6dHJ4bFBTeVdlZmpPMWczTk9kM1IwdGNXd2FIaW5PNWRIQmU3c2JFQk1ZcHBlS3lGeE14TExLMXZGTVNKZUtjSHF1dGF2clhoeWtjZEpNL3E0cjcrMXV6RW9zb2hSSkIrUXc2OXNyQTdaT3lwUWY4c2U4MnBpblpCUFNwZUxTWVExZUpDa2xqK1U5RURCTk0rSWQ5bE9YV0VUcGZaVmNjdXlSK2M5T1Nub0xzTDFVS2RrU24wdzlyMGJFYmNSSVVzWTFqazFqRFRUSmlIZllqMjhLcDdPU0FENDNhbXpqWjZiYXk1RXlKYTZSLy9KakN0SzNScEl5dWpoSW0vMGRGemxndjhicEJjNURlRVVndmRxcjloVzVjUEhqWGZGeGtNNUtSOVNyTXR0TGI1eGVjTFV2Y2hXQnRHSHU3QnhLVnN5aW83RXllZkg4dE5IZmRhb3hDQzNHNlFVV0pDd1ovckhhcThvVmNVSHNOODBHZ25FY216YjZ1MTZWN0ErOWNYb0o1SnptZ1hTdVY2VnE1QTEyeUlSMDB3WUdNWkEyK2p1RGlPM3FOazB2V0xid3h6Vm94TmI3WFlZbGNvNk5iRVZFaXFaaHhrRGE2TzlNTXJhcDN6UzloQmJyT0NtVHZXbzV3WkdHSFFvWFpHQVFBMm1qdnpPSTJLNXUwL1JTMUM2anB1YkcrTXJ1NDk1anYxaG1HZytNZ2JUUjN4bUZiQStCYVhyeGRVZ0Y4NS9zVmNreFBpUFd4RzFiNCtFeGtNYWxWVFh5R1R3Q1hOYmljWXp1dXNFcHFrZEVDMXZ3MDZOOEp2VHBFOVJ4U3NZTUkwNTRQRThVUjE3L2FJRGttNXRKdzZXcXprUkpPNUxORG1udEsxM0NQbnNwb0xVOVlnOTMwQ2NqdW1SelBYcXBLa2tHY1l2cGhRY0hFY3JWUW1lQ3ROaGIraXRueUUxZmlqaE1OeS9RdTRmMWVDYjkrS012NHJwNS9aM2ZlVndmSDZxbERnYWZXdlk4WDRXZHJPK24xL3JOMndiYXlLOCt1djQrajhiSWkySXc5d1FmeFRqYUNrWStMWnF3ekFzOVJ6QU9DNThpNU1ZMitvN2RNZkIvaE56ZTBkNmxBWjVEbG1xWGJ2eUR5akd5VVc3emQzanVvdUdUUnFmbVhUaHNTMVA2V2RMMGNYZHdTZG5wbjhpTVRDVkJvNit1bDVsZWdiNmFFVm1ISEdTQjNGZjJSdTgycjJXS3pZUGFBVzA2MWd4cHpreGRmM3hxSnVnMjVjR3YvTXZMK0RlMCtydGhzdkYyei91MkwvSlltL0xmbnM0VmNtbmVlNnBSemtyME1oaEhVYTFNTUp3MXFoaENBV1hIY0RUVUUvRHlDUGt3cTZ3b0x5NTcycmVqTHpYdktMYzM5cjZmTGpHSlY2MjMrTHQwdnJGS2VZMTFPemU5QzBuZ2lNY0kwN0EwVzVmVFN3MFBDK2liS2tnbVRWS3hZWFRSeGwram9CMTVZZk1qR256YW5GdzVLMklnLzI3dDcraXJkN2R6a2NVM2toTjlPWnd6QVk5djk1eVgwMHM2T0VXZDlvYmdDcWVDZmMvRENsRUZlUk9ZcktUUUlYNFBGN3Y1cW14TGRBc2ZQc3NFVkhCbGFaRzVacG1MM1dlOHRqaGR2MzhyQWo4NkIzRVZoeWpHRXlyaGxoVk9CZU5TSHJBV3VsRmFrYU05cVNiVVpNZFFJeUo4d1JTdVo0dU1uQUdHQTZwL1MzbmlOMUhsNlJhNlJIZmdmVy9nQW53WnhOVXVvR0ZCT1dMcFZBcXc2V3RFeVV0YVVPYUYwOENkTDI1cWllckw1Z3VSNThMRXFPLzhpTFcrNTVYMHBTYzB3UTJNeUZKTldGdk52aWJ2REhvck1wd3V6YUU3cXdiaEM4M3pyZHFlRXp6R3BjZXU2TkJFczArZ0JrdWU1R3hoSmRwOGF5SkRpR3RUT1RZaFBSUXl0bzRCZTRzSmFOaWRwYzUxMUlUWWNXYWpLdHVFbUpVN2pUWWxwZjN1bDZPRnpaL3FMc051S3pRcmM0NHQ0WFJkZ0libmR6cWVBRG5VcHJ2ZTdWL3dqWUNDUFpNRTFaZkU5TEtmMllsSytpUElZeGNyRGZLcWZJUjRMSStRT1ZIZkl5L1dyRFJ1MFpIUUJyTGxkSUdxVGgvNHduZEIzOE1KaWI0c3RoVU5HYXFybE5jRWZTQVVnNkFiRk5qSU9ib05MMWJRUnVacEk4cUVyQTdQdk1wYmt2MUZDRVRuRVZxa2FteEhOWi84WkprMUROaFBJSEh5UEZ6OVRMa2FCUmIzWmhtK05Femx4a0tmelpES3cxV3FjQnBJejhyMmZteFh0RytGYW90S0pPWnJWUi9BQ21adk5hZmtSYld3QmtXQkg5MmdvRFpIdDBCWERXVkpCb1JvaDQwMS8wZ0orbFFDdlZLRmFsVWxGZTJmS0t1OWdhc0FKdUVrUEUraTk4dzgxTXlxa0FST1pabnFqV0ZKLytnVjFhWEtiSjZRMnhnSkpVdTZVQ2NtWlVDMVZWbEhzQWxUK0tMYTNYcmx1OTFqNzkrVkpVc2dFYWRJY3I0dEtpZEJQYk9lWHJ5Y1dyZ1VSR0M5b0cvWG9sZDdEQnJVb3ZRcldSbSt0S0NhSHM0S1UyUGRuTHZWaDNTdFFVRDNJb0o0Wm5QZEtWcGJXN243R3JLVzZRVUdUclAydE9TRjA2Z1FvdklKUVNpZ2s4dUM5ZjZZZFUxZWVrdzE1Zm84NzJFeHpzOHlyYmYrTXlINGRHejRBaHFNSXlsYUQybFJJUnk1dFV3dk1yUUR0WFFhV1oyZHBvZVZGYU9LRUtBMFVUMUpWR0M2TXZSUXFqRTV1Q1o1cVY2ZTJHRmZNbXJkTmo4dCtXNEZhWHJsendzR09INU84dkt3c3A3bU94Z0F2MnlLZXFKSEVDNHRIa1JJVWZFeXg0OUk5amV2TktQK1RsM1JFSHBXcUtGbWsyUVY2WTA3N0ZpOXIxSlJjeUI0TEtuUVF6bVZGWDBtTUk4cVJ3TGlNUUYxZU5pOTZSR2ZHc3RDdVJadkRhZkI0bGtCZFgvY1dIeWRLU1VBVlRtQ1FuaDZLYXBaSFNkamxqRkYveW5CSFNkbFRWVFpKdlVTRzZNS3NjTjlsdXZVUjBnMWxHcFN4cnQ4cHNkaHVUOUEyMG9vUnlCblBxWmVTZG42aERSbElMMHNWTTlwbnlOYWZuYVNqbEgySnpqQzhFcDFTYXFtNUtWL0ZVQ05mbHhiU21UTVNsRkhkaXFSeEE3VmpyZ2lBVnhSOElKVVhRbEswRE1ZNHByYVM2d1NUcFFxMVVMU01pV3R1bTRlN3g0aW8vVnBUWlJvRGVpZEV3SmFwaGNFRjNKQlU1Qk9CYlNDRks3N1FxZGE2Ri9zYkxYZGdzbFlyVlNWYW1FaDRWV3ZiSmVCS0l5aG8xUWxVYkxidW5UQ2Jka2FxQ3VuUE9WVXNncHBUSWhyU3ErL3lCcnlJck95bnR3V1VsVFl3MVhMdkpkS0cxK1ZNblA2Vk1nbTZ0eWpTaCtzZzZxUjA1aUo2ZVdYWmRxT0lPOHczYUx3Y0hwc3phc3BwRmVVRTZkdmdON0M2ZWl0OHo1b0RadVdjYnZ3ZC92b3luYUVOQ1hVTlozSkVacDUzcUVvblB2MmNBaHN1aXJVV2VMVFM1NHBqQlhwSkc4WFRtVnBtc1lwZ2pUUWN3Nk1YMTNNSGZPVElMZTZnZWVTZVg2eHVsbzZCd0VyK29LYTBPa1pxNUl2ajFsQmgweFpOdk9sT1pyd0QzT2NzL0FqMlVXYXMxTk5hN3pHN2paSy9HSDl5N0k1dVMzMGthRUZ6SnVDRE5VOCtrZ1ZyZE15b1FqNC9tRDh3aFFrT25VR1pJb25FaWJVR1JCK3BGNmxIcVhNdEY1U2Q1ZW84MUNKNnRHUVQwbHVkUEJSTWcrR1V6OExRYmtxdjB0eFdBaGRrS3ZiNUpUWUF1ZWFXcURnbXdMVURReHhKd2lrRDNCMnFFMmk1cS9pMFNBeXo5cHlJYVBCK1pGdU02VnFqQ3FwSHgwVlFmWWFwQVR6L0tHZkt1cTBaSlZENVB1RDhhc1JGYW1NdlR4OGc3a0lXNGRUcWVMcXhKb2RWK2dxMVJwV2hSWlJjdG8vN2xNM0pHVm5JdHVjOU5OMERWTkYxb1dtRXhDUnFPa2kzeXduSXZqeW1FTERVNXdEM0FBMXpzbzAyMFVnSW16YVo3Vmh1bExKYzlxSHc4dVdBdmtRT3dBL1dYbUliRWhtVzVQaVlRTlVvU0dhVUJvbWphb1FsMUlyZ1dUa2I1RXI3SE9TSFlwNW5ObEtibzd0WW9hdnNncE9CYlhrdlhRV3l2SW9yaFFPNW1wcUNUT3E0MXgyWkZJL01BTEdPa1B1WlVhd1JEVVlGNDROMVFYbVVwS1N2blcrZVRGbFY4N1hxUzJraGNZcU5pNGVaZk1nTS9WOWpIYS90Q2ttOUtyMXNoRCtRcDlHQ0NmR0xyZmlSU2dKbXk0c1VnVkt0d3MxeGdPMXNCRXRBN0paNE5mYUNLbldxRTBQYndpOVNueU5PRUpPczNrd1gwWDdPUE12ZFRJbmFPZ203ZC9JOTU3c1d4U2JaZlBCRUZBdTRZSVUxdnlRZUVJbTNhcGVTTlB0cnFZSW16OXk1eEhFd1Jjclo3REFMYmQrQ3haaXA3d3huZyt0b1BwVTIvZmJIaU4zckFMd3E4azZObjBwS2JxdSsxYUFNL3dRZ3FDMzhOQW5YVnAvSHRKL25DT2Y2NHNTV3hDU3hUc1RveWVoZTlvbnk2bWdLbGlNQitROVh2clo1cnhYd1FPU0syK3k1b3lQVndjdWxRV0oyTHlWa0dOd01Sc0hXcHNUM1BzbXdmZjZLTURwRWw1ZHFISkpxVHhwVGdXRTNKZWc0TXRqUFpvbkRUNzlQVWFhQVRjUXl2RW5BSkJIVWZRN2hNdGN5TWlaeHZmTHZLcC9UeDhNbXAvNW05NVB2dmJYVzV0Y2pjekxqUTlJY2FOL09FcHUrbEgvempma3dqanhoc2lKRThlUHpxaHdZSXcwajAyaFJWcUFWQS9iOFplRG03L085bitmUDdLcU8wNi9PN2laUFRBRGVQdnlGSmdXdlZOcTRSU2huT0FRR3ZHeXRsTkdzU1AwZk83dkR6QlkxKzkvNVd0QzRjd2gxdEo0ZjNsSGpHQUhLWWxzRUxuWWdpcVNCUFJWTmxjc0kwQ1hkcE10UElzRXdZUXIxaEZBSmwvR0M0SjNpZnpBdWhUSGtEM0hvUkwwREk4eG1RRno2TmhGSUJ0NkxKcHhMbXlVN1VwdzNEZ0NtUC8wSWdSTk5FdmdTaElJK1BwdUcyVS82bjh3Q1NtT0o1S2YrZ1ltaFNOTEUvbXVKSUFBemV2UGFyN0R6bmRvTU96V2NGT1F6Q21XNmJ4OCtFVTF1WW9sQkZyRDZiTXU3ckNFYXllYkpkaTBhaDBMbWJkcWRCVTdDRlJDTitXOTNNZnRNSFZjdWlCUWtHOEJvZThiamZrdUZLN0pEZ0o1SFU2bjJqSk5kZ1E0TGh5QmNEaGRsMDltT25BU1FJRGVkUkhoOUNQcXNlSUU1RGlXZUFKSnhCdVo0RUVIUjRJSTBMdUd5NHoveWtDK0JabmcwUHZNZWdKSU01R1BrZWsraTk1bDRpb2luQjczUTA4Njd6SU0rak5jR1U0WDIrOEg5RWY4THBLUzUrRTB6VE9KWjBkMzBlRDdPbFFBZkE3cC96d1E3OU9qdG4wZDN1QUlFK0gwMlV2VXFBRzVLMGtod01OcHBQL3B1Mk1YazVMaStQSlBVQzJuUzBqL2wvUTdiQTZZQkJCZzRmUUxOUDFmZ1ZIekpVd0NZaHhMaXUvNkNGdU8wM3N2aXc2UnhCQkFPSDBwaDllRCtLdW5GeEtUNHhqbllja2kvWS9hZ0w3S2RFV2NKc0FyMC85MVZNdFh4S0FHY1JBMG5KYXgzUUxxMVVGVThvclFTV2VuMlJkUlhEb3ZzYk9xczlQc0s5S0QrUnAxWXFQdkoyTVdUa3VCdmt2blNTanNieXZoaHoyS2NOVHo5bVU0amhRQmhOUDZuaFkxOERXSFN6SUk1UFhESHZ4akxtOGtJOGR4aFJYclZLbEw1eVZuRVBqcWhYellnd29waGI3R201elFYY2taSDZaaTJTVXgrQXAyRCt4S0lCSWZOSDI5TnBRcHBlbTgyY1NGN2tvQkxlRTBUK2Z4cjNQc1NqU1NISFF0SEU1REVHemFwZk1TQVh3bEhFNURRaDFRbHhPUnROdVpsc0xoTk1CWUFOTFYzUTVLSXVNSHNDMUxGWnB3bWs1RTBpNW5TclBUaDhNWTBLalBQYTBlUnNSU3ZlUExIalJkemI3VVprbUFZOE1SU0dOQ2JMWHBMQnFJZTIzY3JvR2MvdkkxZVlvcnVmKzZ6d3ZPOS9JUE1KRWovN1lyYXBkejR6QXpyUGtIakQzNjVXQlJRdXZHWFE2VGhlSFh5UXkraW5maStOU00vQm96UHFaSnY1MDNOUk0weXBjcDRQL0RVdFdjazduWVh3QUFBQUJKUlU1RXJrSmdnZz09Igp9Cg=="/>
    </extobj>
    <extobj name="334E55B0-647D-440b-865C-3EC943EB4CBC-65">
      <extobjdata type="334E55B0-647D-440b-865C-3EC943EB4CBC" data="ewoJIkltZ1NldHRpbmdKc29uIiA6ICJ7XCJkcGlcIjpcIjYwMFwiLFwiZm9ybWF0XCI6XCJQTkdcIixcInRyYW5zcGFyZW50XCI6dHJ1ZSxcImF1dG9cIjpmYWxzZX0iLAoJIkxhdGV4IiA6ICJYRnNnWEhCcFgzdENRWDA5WEdaeVlXTjdNWDE3UzMwS1BWeG1jbUZqZTJKZlFWNWNkR2hsZEdGOWUySmZRVjVjZEdobGRHRXJZbDlDWGx4MGFHVjBZWDBnWEYwPSIsCgkiTGF0ZXhJbWdCYXNlNjQiIDogImlWQk9SdzBLR2dvQUFBQU5TVWhFVWdBQUF2MEFBQURVQkFNQUFBRDkxSUh3QUFBQU1GQk1WRVgvLy84QUFBQUFBQUFBQUFBQUFBQUFBQUFBQUFBQUFBQUFBQUFBQUFBQUFBQUFBQUFBQUFBQUFBQUFBQUFBQUFBdjNhQjdBQUFBRDNSU1RsTUFJb25ONzkxRUVLc3lWTHRtZHBtMHJIcllBQUFBQ1hCSVdYTUFBQTdFQUFBT3hBR1ZLdzRiQUFBWS9VbEVRVlI0QWUxZFg0d2p5Vmx2Nyt5T2QzZG0xaU5ZU0NJUmJKS1hrNGppZ2MzZFBTV2VjTHNFSWtYZTZHNDV4RVd5UWNlOVFPUzVQM0FKUEhpUWN1SUVBcy9ENlY0QWVSNTV5aXljTGtSQTVFRWdJUjZDUjZkSTkrZ0JrVndBRVc5dVBibTczSi9pVi8rNnZ1cHV0OXZ0YnJ2ZDQzcXdxNnVydnZycVYxVmZmZlZWVlpmanJGeGNCSzYrY1BhTnVHbFg2V1pHWUwxeDlpcmJuNW5NaWtCTUJLcWpRNmY2YnN6RXEyU3pJbkNaUGU0NGEreDRWanFyOVBFUTZKenRPYzVWdGhzdjlTclZqQWhjWnUrQVFwRzlOeU9kVmZKNENQVFpDVTlZdng4ditTclZiQWdVMkprZ1VHT3owVm1sam9mQUpmWWprYkRIRHVJUldLV2FDWUVxMjFINEg4NUVaNVU0RmdKRnhpVHVOVGtNeENLeVNoUWJnV3RLL0R0MVZvbE5aSlV3TmdKbDlyNU15MVlXaU5nZ1JrNVlmUG5iRDd4U1B5WHhPK3lINGdseWlBYVRHQ3R2Y2doMEdIZjdoaUJnbDhQdkZiYVNQd2FXdEh4MWdmK3hJYi9GbE4wSEhqRU5NNi95NUh2cHM5a296WmMvOWpYVXdMWmg1cEordXF6MUlQTXVQNzUxOXVQTUZLYk9Sb1NYcm41Q1JUUkplSzY4eFdHRzhHZU1XdnFIN0FNSmRadXh2VnlCYmdwVC9BN0xEdjRGcGhWT3dXQkRjOWJTSGNId25SUGZ6L1FnY2pNamZ6YVpNRGNyYktIK3VPN3RuT0J0RmVQci85c1FCY3dNL2hobjd4a09yN3JvczN6YS80Y280Qy85WkliYVA4Ylp1d2IvQzR5OThUeDNUMXZkd2tSWWR0OS8zZm5NdjJGdE5UdnlwMjNwK2VEc1VFQ01qckM3N0ZpUDVUOUwrQjh4YXVjdkVmVy9NcGIvWlgrUkpmd2hFQW1jSmEzMVhOUVZRVjdteHBzbC9CdVcrdC9XVDEyVzQrWGZET0VQaFZQWm0wWHI3ckkzWlN1djVsUDlrWVhMRVA0WVovbHVFKzFhV2pGbzVIajR6WkwrYzgxUy81MGpWUnVZRlovb09zbmZmNGJhUDlUL0hRSndTNjIrWE5Qak1IbVhIMitHOElmNlh5SEFkdGxiNHFtVVovR2ZKZmtEOWI5SjhHOHJZOFNBM1NhaGVmTm1xUDNiNnI5VGt2aERLenJJRytpa1BCbkN2OEgxL0dkZVBmdldudUJ2VGNxZmE1WlNTampQaHpjNytLT2h2K2w4bUkzcWF0bGxTNDYvWFd0UXpnZm9wQlRad1IvcS80ODIyUmYyQ2dNbVZxUUxjdHh0OEJNQStYWFp3Ui9xLzFzZFBnRmVaNk50RG5pUEx6K0tBekQ4S2FjdU8vaEQvWDlpMU9Rdzk2VElLZk5WMzJHK20zK0c5RStvLy95d0YxeExEcmxiV0kxNWxqMHNnbkw3azUzMkQvVmZ5aDNub3ByeDlrY3Y1RnY1UWF2S0R2NVEvNVg1RFpMb2tEZjR3bmRIbjg3MTRKc3AvQnQ2dmRIWnNOYUJlVTNrMTJXbS9VUDkxN3RNb0FudDVoZHh1MlNad1orci80bzE3RU9SRzg5dFZuUDVsQm44aWZVZjhrZFhSUzR4cDRYS0RQN0UrZzl2WnZhRVVhelM4R2NHZjJMOUwrVjB3MXRRL1dVR2Y2ai9UY1VncW1JbGY0SXFLODB3cVA5YTEyKzVNNEUwTTh3RzdjeTAvNW8rYk9vNFZWamlzb0ZPK2x4a0JuK21UMXR3K3h2ZEI1MCtCb3ZNSVN2NHJ4T2RoOWtiSVJROFdqb3RFcTNrODg0Sy9qampxT2RjMlBBVHNPUG5wWHlxcEZuQkgzT3VYZFc2VUJVQlMrNTFiWjFJdmcwdWttSlc4TWVjNjY3Q0FTelJZNUF5OUZwT04rRm1CWDlzTXE4by9FdGtLRlpCanVNZVJuVkQ4dUhKQ3Y0QXZha1FQVEpEZ2NHNFlhWUhKakFIdnF6ZzN6YjRkcXl2UUVpTWNSZ3NZRXhZNFo4WUFzQmYwY0pDQVAwS2dRenRJdkF3c2N3eVJDZ3I3ZDg5YmVUZ0ZMQmYxYWxWemZpUUlmUm1aeVVyK09zMWQ3RWkvVGx2dWJidVkzelk5NGJtNFRrcitHKzRPbWZmak1RdXdPVWZrdVVCTnpRUG5xemdqd0ZXd2xuVSt6OHB1clVLMWlSM2FVaGUvTUQvdlN5VUJkKzRrZ1llckVQdWVCbmFQSE5RUDdtMGlhSmY4ejJYaTNjTnBmKzMySDJmcGEzOURoK1Y2ZUc4eGZPYkVBY1kxOVJYZGhJaUdKZE1YNDZ2NkFkeUV5S2wwenQxRUo1SEE5eVZIaFRyZjZWbFhaUi9UZG8vcndjMC82c3dCNG5UQVl2aUxaMThuL25rOS8raER2aXg3L2pGSDN3aW5UeWlVeTJJajV4dkJuMXE5VG5lOG9ObUJkR3BaekZtVzJDdmZ1aUh2eGJEN0hYMmtJUHUrTXYrM0R2N0NLdmx6Z0RhSHQxNjlJWjBkMjR1SHY5aWg1MHg5aVUvL09zalBpQjN0SUxxajdBS1NRU0J3c2ZyajN3dmdOSkZvU0JYdFlJYUVHTVZsQ1lDdzd1Y2VqK25CdEEwa1V1RTloVnBEZTNtMUFDYUNFWnBFcmtrNTRmUUZpcHBack9pUFFhQnFqUkhsSEpxQUIxVDZzd0VGOVM2Rnd4VnNpSXl3OW41WUdSTmZRWEwvampvK1NoN0ZrbzUrSno0Q09qenorVFVBSm9GakVONDRKdmh0TXVsQVRTazdGbDRoWDF4cnN1akFUUUxHSWZ4MEwrdDN1YlFBQnBXN295OEs1cGRQL1dBYlJFWjRUSy9iR3lZeGFIOEdVQ1hvTnFPdFBoWkdVQVhVVnZGZXRQTmRyQXlnTHBZek10ejJZZ2ZmSS9WakFYenl2Kzg1M08wYXhEb01uWnNubGErT1NCUW9IdHVZWUNyekNIUFZSWUdnZCtqNTJCd1FtUGZ2RnI1MGtkZ3ZTNnZINWM1WWFlWVVZWmlaSTdsVFhjbUxUeG56UmhVemxHU3Y2d3g5dCs2dk1XZjd1SDdvQi9hMDg5VC8yTjUzK3QycHlaeW5oSU1CRnpxVUNvL2xNRWRGVWpUZ1hGZEVxQy85NmFqY001aUQwYVBQdmdZVTBjQkNuVytXZWJPVGYvSmpJaW80SHkzejFVaXBsMUZteDJCTHZyT25Sc1BNcjdmcVRZU3U1NytaSGFxS3dvUkVjQ3Bnbi9jZHB4TmNaUFBXb0k3N3IvNjFEajNteEZaaXhadFh2bEU0MmJxV0d2czEzaWFEYkdZV1VwdUlRZjFPdGFkVE0zbCtBVHp5bWM4QjdPOUdjajlsU1h4WGFkdWpJRzNHSngvMExDaUsrUnVjSkpZb2ZQS0p4WnpreE1WMU1jTldnTDUvdTdrRko0WVYrcUhuaEQxeU8vc0RuYkpUaS9tbFU5d0tXY04zVkFUdWVFT3A5U3hXK1pMQkw5YnYzZ1ltTmZGMWR3N0VKZUlnUzAxamFoWGVJS0crT1UrNFZvRWYzamYwT0gwZjdqYWZFVGhtTmJmT1JRcHJzZ3pabDQ3NnROL2hVTllIeEpYM2Y1V0k5REtpdE5QdTlQbXVZcHZFSGhhZWkrSU02N3IxS29xWG1CMkxRWUdQT0RqUTJyRGwwbnRPTEE5NWZMMEpTM2pIUHdYaGZxL0pYc0J5US9haFJnWWVOQWdhSjkxTmFIVGx5VmIxSTE3SXF6Rjg0NGp2Smh3M2JhZGxtamFsMzNyYURoY1hORUZSVlBmMVg3OUQvR1R6T25MYzQ3L1VLai9sM3lmVjhIZTNxYkdHZ2VOUlN6OXpQL1gzZ3lVU2pSS05QODV4MTlLK2JiN29WY05HbURSWG43UTJIY2dmYkNUME9uTDg0My9WU25sV3dac2hUck8zTHY0WThPcGR3QXVzRzF4TjV3YlorV0poY0NHbFBJREgvNVZBam5HWXE5NURsdmdPek9zUE1UaU5ZK0oybExLRDMzNDE0akl4MWlzUDBTcU1jQWUxT3BxODVGR0kvNS9WUUxmOCtGdjFIOEhseThaWFZSbXhmZWc5bGViaitManJsT0tMeHpBL09BZGY2bjZ6L1gvQTUxQS92TTlxTjJnV1FGL2ZXV2MrZitwWk8zLzg4ckhMbnFpVDV0S3l2c0FwdW8vMUIrditPZWJ3TnBraGtDWm1wZGRmbDc1MExJbDdWOVRVcDRvK3pJTHF2N0RHSHBzWjF6a3BtY29qdnQyc0h5YWwxMStYdmtFbFRHcHNLNVUvMkhzT2JGSkFsd2RnRnVZdkI4QXVjelgvTWVldnB5WFhYNWUrV2dnVXZqdnlFVVk0TDl2VXpmcWY2SEQzdDZ6WHpvdHZnVmpkZnJTZzhyMGo3cmRZNEsxWTZkMjFmOC82TEczdCsxM2psTS9Sa2hlUHovbkxXeUt6NER3Z0pNbnhtYVZHMDdXL0FEdXhRZlp5TDhuNVpwWU9jN1A1K2YrdXZGRVU1VTdqYityTDV4OUk1aXUvc0lyOFBjWTJHRGRWTzcrLy9qU2RzVnNER3BSUGs1Zi9qWjdvaEY3RTVzUEhGL0FldVBzVmE5NFY1SDYrdnllOTR1RFJ2My8vU0g3d0N2K0d5YzhQU3JOYXhYeTViME1BUmZZNXlGTDc2YkdhblYwNkZTRnhQQmwwZEF0dU9HeDVSRDF2OWp6YXY4WGxHVXVJUU9vajZzNUIzVDRkZUkxN3d3bk1TYkViZkZyWGcxZWtFY3JWMHVJUGM4RWpLci84SXYyN25KVVZudTE4bkg2VXVEakhNWGZ4ZXppRXV3UjFYdlZ2NENGMkRoSXZ5TVR3WloyU3BNVDlkK0JjbVRMK1ZwRlJ1MllPUUpOdTJUK2psQkIyb0VOTklHaVhHYTh0UmE5TWtSUUxyc1QyNWJuSUlkUi94SFJZMmplR3NtdmZ6eVBTa1BQWFhLM0taZVdMdXFXbUhSeCtsSjRLRHViVGIzdk51Q1N1ZXBIUkhIVmYvNDBzSzBUcURYWEhkZ0VsL0NwTEU4UXJibTdQWkl0UTBGZFlWaHp6UW1FZnN0ZFZzUVh2cHZraGRPaitpZzZSNFc4N0xub2p6T0Frc2laOXpaa3dUZUVtRWllMjBzS3lKN1hnc3l6dW5CTEQ2ekYza05XM3RUNjd3RC9VL01XSDE1WHJtM1hpdzZPK1Y5c3NKdDNIcjF4NDhISGJqSll0NFhiWXFOYk9LSHdtRWNCaUpsRFVMSUxhcGwxd3pQR0JjV05FMVpWY3EzbjIyQVZSZzFUS3pVdzgxZ1FVN3FlOE5SVzJvOVlsdG5uNzVOeDFKeXB0V1dvWHRLZEpwT0huMHBiNGI3bWlnSi9uQmxDTUVjNkZNbHJGTUtKQkxIanJXSWlEUzNoMUR2VmI4WWFRSFdFNmY1ZisvNHJBdXo3My96UGYxSXAxNldKOCt6UDlxWWpOUzcyVjMvM3RULzlsTzVjSXRKUUhTQzltTVJjc3ZqeXR4OTRwWDVLY3IrbWI3QU4rb1kzaWVmeFFqRnRtaURyaU45VlYveWtZQURsWDVaNjM4SWFkYy8rM2dveGZFM3RnOFVXanBvYW9GdkxybDJ5Z3FlbUxCTjBCUDE5a3Jxc3U1WFB3RXdpK2IwbFZ6SENPM1FHc3Z2bk9XTW93b3VFZDRCeWdQWXRkdnFNL1pFVk1NdkRSWUVQbmVraXcyMUJzZTJPT1ROa1VCZjBqd21GanRxNEFEbDBTb0luZWJ0azg0OVR0dVlHSFVNSEN6UHVXRENKWXJUMzJPaElPeDRTOWRqZlJFc2FKZGI2YXc4QUlycVZvNjBMMmsxQy9uejVZMXhleWdvVi9BRDJIZUhCZ0ZxSndxR0tNeURjUUM4aEpQbTlEOW9GckF2clZ6SC8yMkRmU3JyRmFHdTFYc1Y3UUJmWUpTa0htdjZBOW5FU1lWcHYzVEtrUVVJY0N3cndTRGtYalI1Vi81KzFiTk5sYW9wSTNBQjZ4SmhXZlNTajFYZjNvbkVjTlZiSm5tZzJkRy9vS0Qwb0twMXg4ZXdDb0QvTDNnQTVkemd1U1VBNEVlenJxTkVETjBxeHNldjZzUXlXeEtCRjZEbERhNmpoUzV6SDlIVUMvckxWRU5HRGR5WFJCcDF3eHM4SDR6a1pLNTJ1N2cyb2lHWjBxaERzdDFYczlSNWpmMnhTUHVtKzRHRU5yVjJaQ0xQNUdsWmZjd3FOTDg1R3o1KzZieGw2TWUwL0ZYRWdxQk5SSlR4cmdsZzdrU3kwcHpDVkZUL3lIY1orUWRqWVB2SjFJUEliYmltdS9EUFdhZHpPOFBUdk1NWis3bm4zN2V3ZW9HQ1pZWTZvcWpnN2VVNmhZdzB3YUphSGdpNG1mN3ZDTStNUDVNdzlRc0pkWDJucGprQmVqdkdpVFZqT0xGMWlFT0Z1V3lac2k0ZUUrSllrMGUvb3ZQdEM0dEtIZDFrNndPZ3k4S0xzajhIREN0NzhEK3ZSOTRBS3ZXc0NlWHZTTG5KVDRqcTQ2Mjc5YmRPUTIySzNidHlwaTV0bkVIZ2Q1aHFZWnVyN0pzS3NQbDcxRlpkSXNmYXJyajhwRHhDaDh2bklMYWhXVkNaazFLVzFGeEMzYlEwdnZEMXBsN0FlRjVEMzdFRm9QV1NZZWpKcDNRY01lcVlzVmZhQlhNc29XOFBDK0pJY21kbC9ZQ1JVcUN1ZnhRNmROd1Q5cHhPZktRWG1QbXRnRy9pN05MWklWM0FEWi9XZ2gxSDVYTk5hNTFGRStkd24wNThnWG9ha0FHS0g0S0dJaFdyZkRZcWVzYkFXMDlOUk1OYnhibnBNZ2xsYlB1TUNPelVaN3BBSloxZytrL0MzaDVlU0hpd2gweXRoWkRQeXJrb21kRDkxcHNiNVJIbEREenNoQk4xbVdkY1ZRVjRHZVNmZzd4bGVTcnBYWWRhZFJtbUNPSndsckdiVS82dlI5SkZwY3p1eTVEUGd1aXNvMk9zZElVUW40TzhaWHRwYTJiTHNhU0hrRi91S3EydjNGQXZEZFBTRm9TV2ZYYXZZaFlqcWp6TUJmOC93NGhyMXF0ck10RmlBSitUT1Y4QjJaSnhuaWMxalFxcXBYamZJQU9NNHlQQlFKTCtrQmNVa1loUHd4L0NpQ2lBSXRmVHczbGlLNFJldFVBMVQ2L1cvbTRSRXJQZm9ZWFRMSk1URmdhQlR0bVlGSWFRbjROL1dCWkFranBSOTNsM2xDYUdjZ1ZkOHRiY3ArQmhRbEJMa0RJQ2I1U1BSL3JjRjlXSFU5amtCZnd3dnNnQ1M1NVlhMWE5RjdWNEpGalVHcVJMd0Y4bitNQ29jMDJiaWtjK1EvM3VDUkZUeFAwbisyOE1MekovU3FGZGFDdkhQOTdtSW5iMVhFaklHKzJ0SHlPZml6emVlZUYyOGd6Z1MvMXVSN2JnVDJyOFlYcDU1OWV4YnNscmJTcDBZV0ZaalAxc1pDYWtxNmR5M0Z6RVM1STdMWjV5bnVxbk56Z3IvdHBMVGszTUt4MThNTHg5bW96cjdRSkFxU2Z3UkxJZVp5ZlFYR3FNbXBUTzN3cVUwWFRtQ2ZPNlBYbmMreWtaQzhOZWsvQmxhazdJd0RNTHg1OFBMSnZ2Q1htSEFQc3VwckVuNWN5M3E2QjZXOHh6ZUFmWjdqbE9vb1I2bTJpMFFuYlVoWTE4UldMY2tRQU5SejFjc3BUU1VXamorYURsdmRkNEhnWFZadjF0eS9PMWFTbWtvL1VXK1ZPci9reC93RG9DS1NNRmh3YTRuekVvYkV2S3lXR0c0eEI2UG1sYzQvaGhlbmhnMU9hMmVnTHdneDkwR1ArQ1JmU2ZWZnl5NlFGMU9wOGRDRURPSkJlcjZCSWhzaUg0bVRraEV3eWNjL3pib3k2cFVPNXQ3ZkJ5UUJ6eWkwVjlrTEtIK0YzdFlkT2tCcGpRNGdYeVdjb2R2SGRoRkRnVXVvSzlGYi80VDlFOE1MM0pjd1JkTGhLRzZ6TWVYNFhJMGYvNDlBK2E4OUM0NGJzSFhUS0VDdUdBN2tIVFZ5dXpnWGFkWXU0OHNJN3J3OW8vaDVSMUpDSkxvRUw0dDJQZWVaUTlISkw3Z2FFRDkvcVl3UUlCN3VveWFHRitnKzJORnJDZE5rNXZzVnhxUmxSOGtEY2Uvb2UxSi9HVFhYWjVUZi9SQ09xSlVGU1BKdnlvMlYzUUVQdGpGRWRFZVAxMytiZVphdFlmS0pQQ3pqVWRlbjRKSUtQNFlYdlFxTzNyYUxpZGIrTzdvMDlGNzF4U01wQkMxQnRUVm9ndDhjZ2FUYkRaSFJxeDE0azB4UXZFbjFpVXNlTkZ0cHNrV0l5VnFBRjAzenlHOEtUUWJrTlc4OTB4VjZLQW8vNkg0bzlIZlUwUWdmNmloTHdycFJjZmg2aitmdTNCWGh2OUVlcFA4SmRiL2hpdXFwOG9nRkg4TUx6dUtHaGxwcHFLL3dNakcraThPSmt2NW1TZy9rTSt1WFJzVmZCeURlQ2orYlZpWEZNMlMvNU5oTVhLYmF4SmovUmVHZVZkVFNZNEpJcC81VEt3WmpYTHhaZkk1dStHSVBEeTFiVk00TWpSUkZjc21mOUJrWE9uc05OSXdnVUkrWTdvbEhCZDJCelo2NDU2ZVE5UXhUb3RMbFJURHk1N3l0dHlad0RpeW1Rc0h5K2FMdTMyVTJOTzZabWNZUGV5Mm9zS0ZuY1pxQW1Id05jNTVOaVBXekt5OWFxcDZBdm5NdkFiTHJuUVdjK0hUcEZrckdiTXE5QlBUMmNMenVWd2ZCNys4UDhxa0prcHp6NmhDNW4yMmZUVXFNcm1sUU11S3hOaHVHWjBIVldFNjJ4UVpoSTIva0dsNmRvMk5kYTRxTkFYMWhVWUZ5L2RjQmxJeGdRNk1UQ3NiWGRmTk00b25ESDlzejlkekxzNytTUlI2MlltRHRYRGFaSHJXb2VOazJPeVpiUWlEd1BGeHpJVm1KUGN3L0NIVGRsVlVmbExpZ0NSYkFpOW51V0w0aEt3UUZrUVRNcnV2SVcxdW5GRE5ZR1hvanIzUXpFUUp3eDl6cnJzcUprYjZDUnVsRGNtTStQaUkyRFM4b0RDME81Z1hNL2pxWm9BSDlWTWZwUWdYbW9YaGowMjJGVVVUdzR0cnY0cHlsWnFQbGZrSGdHV3FrWEFUcUxLbEo4YUxHZUQ1UXN5MmoyNkVDODNDOEVjSm1vcm1rUmtLeEdJR3N0TXU4Q28xSHl2ekQraDZOQkx3NnphaFpMakJuRmVyVkRCUGFrdXhvWTBSYU5jOEJmdkM4RytiS1VYSHRTU0N6T1NyMUlMem1tL29nS3IveUhxSUN0aExsQVhnZjA4UkJGUmFWVEZaUU9UcCtqR0JIdDhFL0ZWc2J0MGczWXRrakZIT1RISTh0QmY3MkRQU1FUQlNSaGxPa21YSnRPOCtiWjg2azJvRWlSZUd2M3Zhd29Id3BOMExFNE1kbmNrZ2ViVkNrNTd0SDNCYnJZK2I0M1puSStsTkxkZmNlV2lONlZPY0pnNVhnTjM1a3dtMmZXSDQ2NDhKaTNOZi9BUGwyc0hZVWRGK2RMSmQ3Yy9TUDlxSWE1d1JmSEY5OUwxa09lenBvcU45K3EyVGtTNDBDOE4vdzlVNTBiMmFoSFUwSmZjeE1Hc1NkMUZlZnVwNG4yYk9MV1QrUmtwalRPMnZhdmtQaythcEwzV2tDODNDOEFmSGtpZ3U1ckJVaDVKK2dkZm9aZS83c2w1OFFIRUF1RzlUUG80UXdMNUlRMmIyZDdXRUd3WVlmNkpkYUJhR1A2RGRFenpDZU9YS2V4NUFQNllLeTBUbUJ1Q1BmdkxGR2tlYmZmUFBQNkZBL3ZldmlRRDI2LytuQXBMNDA5K0NoS3g3MkVjdjJvVm1ZZmc3RFNWbWdMZXNDSlVKL1pncThrNVlxdnBLTW5WQVRXSXRmZzlFYWo3N1VxNDVOYm14Q1RhVlZ0SlZteEN0aU5FdU5BdkZ2eThsS1ByQjR4YnBHaGx0SUtUOG1xOFZlLzRQUTNZVFgvbTg4ZUNkbTFvdVhHVWovaTNRT3pmcmllN2Rxd210dkZBUGFQNFJMelFMeFg5TlFudmQwL3hoakw3bmdnb2poU1diM0JmbndYTmRsUDFmZ2lSdzZJVm1CcHRRL0F2aUk4K2IzazlOUXVRWXlBZExaeGcxaFovWkI0Q2F6bCt3VWROUEtleENNeEk3Rkg5OEV1WWg1MHJQZTFzVVZmOGhtekluL2tueDB2WitoYkVHT3p2Mlp4TjZvUm1KSG81L3NjUE9HUHNTaWMrOVZQMkhNZlRZOC9wY1BmN0VwMGFmYVFhVU9QeENNNU1nSEgrbjhQSDZJOTh6c2FXUHFQK3d1NmJ4VlJGdmpzdjNIUFZDc3duNEJ4YmNxUDlCVjZrRkpqbDNnVkV2Tkl1RHY2ditCMTZsZHU2Z0RpcHc1QXZONHVCZkM3dEtMWWliOHhmV0ZYTWlLQ2VUREtEOUdPZWk5RXdTQzB6K3E5VE9IOVpCSlc2YzhGQ3NrMHl5emJTbTN6VmsxUCtncTlTQ3VEbDNZZEV2TkZ2Ny9OVGdFUFcvMkR2WDJ2OVk2TXBxcFIrU2VteWMyQytvK2crLzZHbXhpZVV6WWEwaXk5VWhodnJFU2tyVWY1eDNuVGpDSkpidjhoQks5MEl6by80RGtZNjdSclk4OEtUT2FkbG9LQ25zR25UVmYxNE9tTithcVpkbjJUTG9FZndQRTJlK1I2ei9mRE5XSmZFY2xweGdXaGVhS1ZpbzlaL2pmN3JrY0NYT2Z0dmQ1NGpGa2Yya3lXTlNaNnovbnF2VWtzNXJPZW4xVGpYZlVBOEpWanAwdG4vc282a1lDc09WL0RkZ1NGK3FGNXFKbzdSTmsrWHk3VXMzdktma1MvVkNNNGVmWkRPTW96TmtjZmVQWVhBQnZsUXZOSE9jTHAxVGx6MmJuQlpRM0t4bG1lNkZabHpqTnphOVlzUGFGNTAxS0JiQ1Q1bWFuQ2NiUUtmbWthci85bFZxVTVQS1k0S1VMelJ6c1BuSDNkWnRYNldXUnpTbkwxUEtGNXJ4QzJkdUs2N1dNYzhtVjZsTnoyditVcVIrb2RuWXE5VHloMldNRXZFekJuRGJNbWxiUENSNVBvS2Y0cWZ1R3pGNHpIT1N0QzgwNDRjYVhHZGRwZVk0L3c4YmRRMnFCbFc1ZUFBQUFBQkpSVTVFcmtKZ2dnPT0iCn0K"/>
    </extobj>
    <extobj name="334E55B0-647D-440b-865C-3EC943EB4CBC-66">
      <extobjdata type="334E55B0-647D-440b-865C-3EC943EB4CBC" data="ewoJIkltZ1NldHRpbmdKc29uIiA6ICJ7XCJkcGlcIjpcIjYwMFwiLFwiZm9ybWF0XCI6XCJQTkdcIixcInRyYW5zcGFyZW50XCI6dHJ1ZSxcImF1dG9cIjpmYWxzZX0iLAoJIkxhdGV4IiA6ICJYRnNnWEdKbFoybHVlMkZzYVdkdVpXUjlDa1VvYzE5QlhHMXBaRnh0WVhSb2NtMTdZMmh2YjNObFhDQkJmU2tLSmoxY1puSmhZM3RGVzNOZlFWeHRZWFJvWW1aN01YMG9YRzFoZEdoeWJYdGphRzl2YzJWY0lFRjlLVjE5Q250UUtGeHRZWFJvY20xN1kyaHZiM05sWENCQmZTbDlYRndLSmoxY1puSmhZM3RGVzNOZlFWeHRZWFJvWW1aN01YMG9YRzFoZEdoeWJYdGphRzl2YzJWY0lFRjlLVjE5Q250Y2NHbGZlMEpCZlgwS1hHVnVaSHRoYkdsbmJtVmtmU0JjWFE9PSIsCgkiTGF0ZXhJbWdCYXNlNjQiIDogImlWQk9SdzBLR2dvQUFBQU5TVWhFVWdBQUJXUUFBQUdhQkFNQUFBQjZkRmY0QUFBQU1GQk1WRVgvLy84QUFBQUFBQUFBQUFBQUFBQUFBQUFBQUFBQUFBQUFBQUFBQUFBQUFBQUFBQUFBQUFBQUFBQUFBQUFBQUFBdjNhQjdBQUFBRDNSU1RsTUFpYXU3UkNMTjNlOVVtV1l5RUhaMmJVZm9BQUFBQ1hCSVdYTUFBQTdFQUFBT3hBR1ZLdzRiQUFBZ0FFbEVRVlI0QWUxOWZZeHJ4M1hmM1YxeTkrMWJjbmZiMktncnVPQzJnaFUzaGN1WEJvZ1NOUUhwMnE1VkZ5MDN0WnRJY1d4dWxQVEpzT055VWFkNkwwV2N1MjRhdlFmSE5qZklIeW1NMmx6TGRwcHM0bklyb0ttUXhsakNDZXBVUmNxMUUxbHlaWWtidFhCY3dBR2YvT3hkNmtueTlKejVQRE4zdUo4a0wvazA5dy9lbVROblpzNDk5M2ZQbkRrejl6S0t3akYrR3NpL0dZL3krQW1XbWtSQklhbXAvbVFkNXhnZTN6a1o4Nm00NW4vK1ZPenBNZCszUS92T0RrMGh0SmVRUHJzR2hnZlo1cStjWGFxUjFweTdTYnNMa0tYYUdNZjAwQ0E3elZyamVMMzU3VlZYckh6OGZrSUtrQ1hLR010a2pyMDhITGxLM3g1T3UrZHNkWnBkU3JSdzMrR2VUY3NPeFZPeSt3aTVzMnBnV0pDZFpaYUhhTVQ3cVgvMDU0ODgrR0dUSDNHcTQwRmpqbjNRbGlKQTF0Ykh5SE5UZC82QTcxamhnZ3dMc3NYbi9kYzV6MmMzdC95Rkk2RHVNbzlnalFPNzV3QlpXeDhqejFVNFNoSS9ZdUFlRW1TblBPTXZ2L0MwSVZ0amg4a2JNTVZXTEdLQXJLV08wV2ZlL21CZDRQWGFGWDVjRmJtaFFyYkNIUGRRWFhiMmp0K0U3bE96c25ub3ZLVmtNZWY0dXlZTnFRQlpTeDJwWkRLSTByTHUrdjdmZ3F5SXhaN2Z5aTdXa3hPYWZQMUYzVmtpOGFjcFFuWVJMbnc1SVZGVXRYRWNJSnRVMGNncEpXYjdjSTh4ZG9NTGNXN0labUtXakEzTXNyWCtsd2hocE5TczdDeEFkaU1wMmlKYnA4UUFXYXFObE5MZ0dyeEV1ODdXNVowN0wyUXo4REM4UUZ2bTZWMjJtcUFaUW9xUXJRSmtMVVZJcWVyV3BDeEExdHlzdEZMb3dnbXJxaVNvU0R0NFRzaStMWWFXRTVETkgyMUdVNFJzRjhUMW1maGR5ek1Ja0ZVd1NlK004L1JMVnZlemNwSjhIc2grN2RkcTBLNEhzdE5IcjAvVXZhaXh4QnRXSmdaeGU1N0c1eXhQSmtEV282SVJreTdDbmRxMytweGlXengvWnNqT1hZYzJ4Wkd3c20zWnVOV2p5YVFIMlN5TFFlU3lFVVdsNXEyaElrQlc2U1c5OHh6Y3FKYlZmVVpDK015UVhSSnd4ZDhFWkV2OVFseENoUFFnTzhVcUlPK1dwUW1SaWFudERaRDFhR2pFcEE3Y0tMdkxITnZraFBOQjl2RFQwSEFDc3JsakJ2NzBJRHQzT0EzeWJ0aXE0TGt1SFlVQ1pEMGFHakdwd1ppMXd3Nmo1UzB1d3prZ2UrMkIvN2MzNVlQc2pIZFNiaTQ1UGNpMm44Y0lkVElvRjBVZEN1UUFXWE96MGtvMUdiUFhkd0N5ZStlRHJMZ1VMMlE3ZHBRemNkSHBRYmJ3bmFqTzJMY1NFa1hSTkIwckFtUTlHaG94S1U1RUkzUFNVVGl6bFJWWDRJVnMxN2ZBUks0NFBjalcxeU40ZWgwZmlVdVdZV1JyVElBc3VWdnBKSk5oMldoZTdnNFpCbVRqSXhjU0lqQjB2dERvQ0ZTVEE0Y1Y1MS9DamJjN1pFVG9BRmxiTnlua2ttSFphRUVhbFNGQU5rY05sdTlxVTRQc1JZRGxCWURzaWtlcUVoa2FBbVE5Q2hvdGlZWmxGM1o0MzR2U29Sc0NaQy9hMnhtU2w1b2FaQy9BYzRxNnVKR1VLZG9sRG5pQXJFZEJveVhSc0d4bm5mYzlKYWRqUTREc2tuZEtUcTQ0TmNoVzRLTHhaYmRFSUJtRXE1SXdSNEFzdVZ2cEpEdHdtMVRQM1JXZXl2eWlJQXdCc2hXdkZWUDl3emsxeURaeHd5V0VESnlBSHhkdGpzUlVBbVRKM1VvbjJTQjNxU1ljQXlYSUVDQmJzTmJyVlVma25CcGs2MnNnUlFHZTN6MGlqVXhPRXlBSHlDYjFNMklLQkhaVVdEWkxKc1lvUlFLeVQ5OFo5MzY2ZFZJQmZVR3VHcG5JaUhieWo5N05IdjRkalJNQjJjeHYxcTk5djlQUjAzZkZEN3UwS0VwU005OXpsVDMwbVNpNmQwc0wrdlJkZFU5VlhZeUpESCtGc2cyUXRSOWJ6clJnQnFMd1ZvS2x0bFF5TlJPV25hSnI2U0NNQzlrL1pPd3dab2ZsRThycGcyd2lpRFJmQXBTQW9XL0pSamxrRitvTU50WWNidEtPZmc4SXNOUHFiMUJhRkNXcFg2cXpCeDY1bS8zcXZObWU5aWJHcnRYWjRiNWQxYzVOYyt1S2p2MGx1d0J6NE9PMkZEVllXYVdKdE00MExOdHhsbjRjeUU2eG01K0lvbmZHMW83bkkrVDJRQmFXUkZ0V2pWeU5IWHp6bWZ1L3ptN3VDVHBDTmx2N1VDdWFqNjJWcUxleWc4OUgrWC9nYkRwTFV1ZlpMZXpoMlhxc1haQzNNL2JxS1A4WU84U0Nmc2NTOTJGUjVKYzlMTVQyQnNoNjlETlNFcTZySzd0U2V0SHUyb1pzdmlidStTTGRKR0pYc0hNZXlBTEo1bW15Z3pKU25tWHlrMGNJMmZ0dUlYN2h2Wll0TE9MSHRBVGNseTNnZWFpRmcxVlpRVUVXUnZVM0lLbnBEUVp3WnZocDhHdUg5M2lZb3dUT0VKdHdiWUNzVWxsYVo4VFZ2dWo4N2ZJdFJTMktEZGxaSnIvMXMrdXpRN3FTU1hnZ08rTzhkajJqUS9kZjZRa3pDNUROMWpleEViRC9MNm5HOGpXRm1WMFNKZk5RRjNRRXRhZ2cyMlZpV0lDZ0syOVh0V21maStLaXdFMGlpN09hcFdnMnhnVElhcTJrbE1CMzlGclk5OWNlWmVhK0NHRnN5QllscUtKWk5WMFRYSDEvUFpDOVFLYmVXSyttQnYvYzZ5VW1BYkp6Y2pkVjBlRDdKeFJmQkl0MU82cEhEN1hEeXJKVXZVc0FTRjBScEpyN1NFcE9mcEpEVFJmVUlaNGRXZ2dXK29iS0I4Z3FUYVIxWG9KN3BJOFZXd29Mc2hrVldKaXErMEtYZGsyZTgwQjJ5ZDVCQUJ0VTEwWEZodkloQWJMZGZVR3JtS1g5V1BGaEhFcnZEL1JRQzlyeFdKQld0cUdCMy9ZYVVOSFh2SHdRT3FBTDJiMG9FTDlkZy9ZQVdhcVlOTktBQzNQczJ4SllrSjFWODVLUzk4N243YXFZODBDMnFuQXZ1SGYxYkN4V3kwNTE5cTFyc3FtT1JnOUFlMVVTb3ptbXJMMlBHcHRoWFVBV3ZGTzFuZ1ZleUk1cXhUM1BTTnVLZzg2YVd3aWVybmxPQW1TVDZoa3RwUUFCcG0wNDdud1AzS3lXM2JjRjJiWTBkREJmY3dJTFdDa24vRStydmdleUZXdHlBM0NTQmh2akZzTGRxQnVJd1FDd0pScmNWWHlRaGRuVVdsOXFuanhPSmM0R0dKU0dISDBLbFJRTmtOK09GQVJhTndiVmxMZU4zQUd5UmkzcHBHcDZrdk1sZHpadngyV2IwdHNESUhybTFCZVV3MGl1d2dOWk9ubUtJakI3YXBBSHBBaGpDSkJWdUlKOVZaZDRjd0JvWlNraHJ6SStLZ1JRdFFDRk5VdzJ0S25HbWkvcFVpZXhLenN3ejQ3RlVKVlRPQ0FHeUZxYVNTRURXTGtodTIyNlBxcGxaV05wM1B5MnFpbEw2UlY0SUZ1d1FOTTI4Q3dwNHdhUVhaYU5RRngvalNlaElTVWo1TldzekVjRnlPN3pLdkN6dTRZcGVDUmJlTWFqWkh2U2dpaCtTNm9ERU1Uekxia2xNN0lFeUZLOXBaQ21ZZG1HR0pxTkZCWmtGYWFpMTN4NHo3RElGRUJsSTBIMFFMWnBqYnBGUGZKSDl5ay9FeUJibGkwQlpOZDVzcU93eTNOZHllcWpVc3RiV1FGMnVMNGVyNFUvQmVJMmFDSlA1UFVnc2N1STM2eVpsa3pOQUZtdGxYUVNDS3Q5MlhYbEpVY0dCN0ptWnVQd1JUQW5VcE16VXVTQmJORmlnNzUzRlAvdnYxYWtBTExxaWRDUUJSaHRLYjRvYWtzQWU2bFEvWE9TTllQdFFJakxqQjBONGphWTlqQzFvRU8ySFdiTXZPRUprRFc2U0R1bHc3SWdTT09HSTQwRldRRER4eFNZSEQ2MFg5YUlMOHFQZ3l5K0Q3SHFOZ1hkS0pLR2JJbEFHOTkzRmJqM1VndU1zZmNSTWNFZk5pL21WSWlUb0RvUjUxbmRLZmpYMnBrMlBFdkdXd2hXMXFnbGxkUVMzQ0hWY2ZlU1NzbXpCZGthY0I2OHl1SFFqR3BPUk1zOWtDMVJLNHZ2QUZCK25xNmJnVnhERnZoMkRDT0l6T2RLWG1vSHFPenc3N1FVZTFWRklwRFFadHJwVU9YeVhOVkJFSHlPM05FbWdqZHN0SHNSSU92b2J0VFpDbG1nTEM2TDN1ZmwyWTRZZEJFTTdFQ08zN2Fjczg4NzMvdmt4UjdJMXVnOENpQ3BnYURiZ3gxWEtnM2xHNWhHZjN0VEVSRStmQzdrcDJLUUNnKzFSWEtYUGtzZHF4M1RZaFIxYi80VmVkd0JsWlA3ZmdKa3FiYlNUUmZJRFlyTFFwYk9EU21UWldXZmdudUp4ODk2Qk82dStZSzF4MEVXektXR3AyN1VBMW1FWVZrem9OK01YcldmR29rbkMxb1dJSWZzb2Y0emlKcGxyVTJMVVJUamxla2orU0JCbjRvOVdGbWxpWlRPY0JkVmFEUlNkNnF3SW9XeElJdFdqUi83Q1ZGaGEzaHNwdFM2K0FTUVRjN29QSkRGZHNxNlZZUXNJdDFQamViclVzeURQYXhTa0RsNTZyV1FtRGh3QXhjOVdpNUhzTEt1UnRMTHc0MVNOalY2aXhTajNwSUpDN0xSdmZLbUpvZk4yZWNoV0tvQWI2N0ZBMW5MbDYzUzJieXE1b0VzK3J4S0pHQUR5S0xKODFPajZNdFNUUFlSYkxMbzgweXh3RHFtU1B2Z2Q5RDRoT0M3WU1hRFlHVXQxWTA4ZzZaenplbDFVWS9XTm1TamIwZ3dsSjBLMGU0NldqTnUxV2lSQjdKV2tLdDZRc2pDWGdJQ0tRVlpQeFg2ZjdZRS9IaTBJSE15eU02UjV3MGZoUTJvYVIwQnNwWTYwc3dncXBZZEFTN285VmdIc3RISFkyQlB4b0R5QUk1ZEMxV2l4ZU1ndTBTbWZscUdQbGEyckJsdytvVUlRMmdscVp6dG5kK0xZdkpZVmVGRVZyWk5SZzVZRlRHK2t1bzF4R1dWSmxJL1kxaTI3RWl4cXowRkY3SlIvbzNvS1dyblYxYWNnY2huMnpNWjkwRFdXdjBDeUdxRHJtWHdRQmIvS1daVE0wU3ltcDhxMmI3YWhEcUl3MjVTWE5PU1RoWEVQL0NJZkoyR2NpWExrbG1RQ0k2QlZsc3FDYmo5ZWlxc0JJaTNWQ29CV1FnNGxaSTN0TEhCNC91dXRmWnRQaXhRdklOVFNnWmsyYWtIc2hnYnNDR0xDMXArcWhJOWdyL1Z3U3RyZURmeGFDNlppTmNKcGVBUnF4UDJHQkFOcFpxc0pNZm1lYk1pNVlGc0JNYk5ySUJ5MmZPNDd4Q3d2K0plaWNmS050Z0xoZ3U5VVpPVEtROWtjYWplTVl6UUZTNW9lYW41RDJtK0lxOVVwVXNKdXN4SjRCZmt6TkdHN3NvbXkxTlZFNnNOVnRiUnpZaXpCUktXbFYzUEdVUVN5T1phU3JLaUc4NmF4cFVqOEREV0ZJYzZleUJMOXAxR3VIK1ZUcXRFTlE5azhSc3V5NnBSL05xUU1OVStxdnJNS0hEREE3SEZ3d3Q2WWNzMDRhVHdDM0xtd0lqRWlzbnlGTm5uR3lEcjZHYkUyVnJTMWVzYVY5VkFkb0hwaUdiYnRiS1ZqNExRQUpBYnJ1d2V5SGFNdGVMdkkxcm1qZGYzUWJhcE5zNXlqb2FjMGZ1b0dXSWY2N2piRm1SSStzdXVvUGdGT1hPZzJPNjFOSXhERXlCclZKVkdDdTdPeTNhL1dSTGhNWkR0R2lPNlJGR0hkZXM3OEFQMzJXbkkreUtOL2U0WFBEQ0FLblU4dm9jcEgyUXJWdGlwSUkyZ2o1cEJ5eXFQQW9ZTWNKR0F0eXVJWHlCcHhSZEYrQVU1YzJBVjRyN3dndkR1bDlGUHVpbjBCOWRzRVdhSTRkT1F4YnQ0US9LNTN5Njh5QjBKbUF5OVpEZmtoZXljNVZVQTZGU3JVRGN1WXdNK3lJTFhRWjRIQVBvcWN2cW9HZkxBTmZpbEZTMC91RmJHbXU3UkpLMURXWnhjZlE1djJMbzZTeXVQZ2FJdHUvTW1NVW9hc2pnN1g1ZDhWWUlLSkxWNWdBakE3MW9tWDhSZ3hvb1JBT2lNZmN1SXFaZ1BzckRnWWZqZzhjSFpGOTh0azZCbXlJTlRaU3ZBVlRXUzQ1UU5LeVlPNTcraHUzQzFEazlKWDM1NGtjWlJ6WWl6dURsMDArcHowVVJ6OEE1TDg0TmgrMzNKMTlBcFFZaDVBYndPUU1MeG9zVGp5OEl6c2lmYmdSUGd2S2R6ZkJibnQ3SlJpZkFaRjhSRHpVZzRZNnR0TGlpSWJwenpHZTlVYko1TzdxQWlvTnpSQ3RqK0xXd1NqK0RMQ2oyazlMc0VONGRBQ0tRb0VETmxJQXVUS3oxRHFmV3NHbE95SURtWStxd3NnTFJGcnJWZ25vU29MUndMbjVXTllCZlpqcW9HZ05vVWFROFY3TEdXcmlIOEI3cGhSNHdJcWlWMW5uTWdpeUdEUzZxUW4rR0JsSDJlRWJLL1ViYmFPME5tNnNObnFKUitsZXl2RGxpR2lqdWYvbkZHZlZ0dFphZlk0YjdzMnY1M1REQkowb1d0R1ZBcklUMVdGbDV5M1ZIRmNBWXJMNnVEQjduQ0M0amhoWlhaRFU1RGM2elhwMnJhbkh1b0FGblJETlFyaW9mcFBoTWh5OWVYUlh2MmI0RmVNeFRobUdKN3Q5RFRxcXB6Rml0N3NhZXJxMlpPZTE1eWZaWFROcEFTZjN4cHNCM0QzRVQ0aGJMWngrRm1iWm91TkdSejVvNVZ6UkRKR1d2TGdoK2FNaFZGeWdmWmtvRVVNT1ZqZHJnbm1LZUY4Y2FYc2xVN01BWW81RFIwcUFvYVhWRU1TU3BBOWtWWm1wTU9BWkNVbHoycmh3clZBcDZoUlZWSGtIR0p3MUlMckxRWkIrWXNrQzNxQjVOMmZLcDB4d3dmcDZvM1V1Yi8vZGxFZDArS1RhQUoraGtKejhLOSthNnArMmRmaDd5NU44U1hqVXJ2bDJ5NXVuMHpGM3ZQaUtOQWh1UW91bzVISFpwalBaNWNWNzBVbE9FVUJEQ3o4b3VIVGI1WGtEc1QrNUs1YTVDVHFiTi9MYWhGYldSaEFwYWdBajdWTS9la0d1Ny9XSm5aZlB4QjJUSTl2VHVHT2xUVitRSVFWR1hCT1UwOC9ETkFkb2FWYVk5blNsZU4xVGhUL1pGVUtwcGxLTlZmdHU1VHVpbzkxVG43NTQvY2hiZW05MzJmNHErUWlNL0YySk1vYldXakp3L0x2UFY4MDc2WGZLcUN6ZURSTWdJSWd2bTlvWW9xWm9UbnBLYjBacitJdFhQYm4wYVk5KzdaWG8xK2N2dUhzUG92Yi84dTUvc0p5ZmNQTlNTUm5LQUNaSXRpR3BpTDFWUUx2bzk0RXhxSExUTEtvbU5HSGwrNFd3ajVnUjFKZVB6VHNhQThzUDBxeFFTYng0d2RQZ05rYTZhMmJ2SzBpUk5CTnZ0SG43empycXRicDIxN1VQd3dSSzRtMm1wN3RKNWdPaEZoVnR5WXhLLzJHYUVWQTlsODZlQ2JRUGhxa2YyYzNYcUpOTEJwaWdpVkp6VmtsL1FvTFpnek1ldDk1bDN2K0RyN1VjampDcTQ0eXZ4ZjQzaGFqdXFQTWZiYmYzTC9YOGh2eGFxZVhDcDg2eTVULzFncml1NHY4WGdCNTROdmdoLzgzM2ZkMzNSY0dsN1dFUDBaYjBNVDZBRFUxaDVLY3ZyMVYvVjdPalR4OTVTRWNKNTJIbk5TZFBMa2lTQXJoTjg2ZWF1RDVZUlk2SEtpeFhsbnBwQmdPREhoSWgrMjFRM1Q1eDd0MDBBMm1xK3gzaFdvOHNOMkJ3dDZOYlJqaWN1dVgzdm9zandldkhMZHJCalFJWlkzdFZEamZiOFBNL084Mm9OWHI4TkFXdWxkdjNMNThwWHJkUW5aQ05DS3grdHNBUnhxRG5RR3J5WEFaK2JwV0w4WTg2by9ZbGZsdVVZUEJFVUpWMlJob3dmZFhrWlMzZmhNWGFKMng4cWlLK0k3eXJJOU9CV1N3NlVwUEdscUVpQUxabkE5ZVQwRk5kd2xpd1pQSVpDTnNzOWRaUS9mcytsMDB0SHpDcGplcnppRnZtekdjcGFSSS8vb2Uzb1B2TnJINjlEZWZWZjkyajFsaHhqWlZMNlQ2OW52WmRmZSt3bkttSDBPK3ZoTFNqbGR1a1RpSEE1a3N6OTRWU0MyZDBVYzBoU1VkUThaWXFJMThkU0pFMEgyeDdiUkFHeWR1dkVCVmVpUUFKQnBjczZNZDRZNHJCU0ZyTCtQMHBhaXd4TzJwdEpIbmV0Z1FTZnRBQjl0VDh2c1FCYnBGY0NKV2EvSWZoeFJ1Nm9yUEVYd3JvbW5UcHdJc21BQVNpbEN0bXRQaGVRMVprMGc4OVJYZmVvS3gwSlcvVDh6dE96Ynl1WHJzSEFpWSt5cm1SNXRrY2E4UEpERlJjUmxJaDQ0enpwU0J4K3k4NGJXQ1B1SmtpZUVMTTZIdDA3VTRCQ1lhakIxOWpUYjFkNmpwM0RBcEdNaCs1U3hMYkFVKy9KSnV1OFl2L1lrN0dQQk0wZnRoQWV5NEJSaHdNTWM5NUZidCtERVNBelhxVkluaGV4U2VwRE5naHBzUFlncnZHQTl6NmU2NmxNekh3dlo0cFp1RTJiNzJxL1ZSRTlpMmdrWmVGakdqbFNsUG84SHNoMjRWWmJRR2JJVTJCbU0xWnNBeU9JbUs5L0ZMcHdNR1pZR3o1bzVEckx6WkJpQU5jMFRSUit6NUc2ZVZhNVIxMnRTLzlzRDJVYmk1YUthbVNVWGlSOThEc0ZQQ2xtdytGdm42T1k4VmVjUXNodWVGdUtCdUVhZWhwT2s0eUJiVlFFb3JPcDF2Wk50d3ArN3REelVjU2JscmZjd1BKQnQwaGd1djVMQ0xYVkJPYWFUaW5TbTh3UkF0Z3IvZmttbW9lWXlHMnBGMHBDR2xUb0dzdmw0Zy9RTS84dEJjdjJUSFdlWFZIL09jU21ac2dZMkQyVGpoRk5rM25PWU9abUxmK3kxVGdCa0M5OEd5UG9lMERtdjdUMzJrcy9DY0F4azc3VUN4N0RENVVSOTJBQTRVWldVbVRwV2tDTUpXZHpLYzhPV3NhM0huL2FBeHVrSmdHeThYdlNIREJhWldaV3g5VFR3M0pHUXpjRS9IdDlxcVQ2ZmVCUGN0MWMvbzdKSG5mWGkvMUZNNDFSV3NMelJKR1J4bmZtU0xYQlZUMFZMQS9LRHhoK3lzUEpZQVUyVWJVMWdMazhDS01uU2dWS09naXlmSGpJVk1lK0FySGhzbktEL2l1K3FUbEF2TFphc1BhOU1RaGIzMSs3YjBsVmZsdm44Q2NjZXU3b25OLzZRbldLckdPMWI4UWhmSEpremV6UmtyMTIrVWhlYlhDUDRkdzdZRWZEZzFicFBYdmNTTHA0STJHNnQ5UEt6Tk1TVjNCWWpQc1hZc3VWckswZGhrZXlWdEZsT21SdC95RjQ0NUp2ajFaWFQ2NnZZS3FSRkEwNGZCZGx6ZEJYN1hQUnp0RGZrcXJ2cXVSVDlKSzFzQjJ5TEkwTmpYUkxtQnJPUWdDK2tyVHA5K0xQcEJibmEzNDF3ajVEMjRvbDhTNFBTQW1uVG54d1NaS3NEY3UvOFFnK2FtbmZpTmtuSU5oSmhXZm1mWXlCS2UxRDJaZndoMjRSOXEzWFBLNENnaFpsQmpUWEgzdHdoUVhhZWZmRFlyc2VIZ1g3WUFhVktRcGFHWmYrYkVMeTdJczRRaFY2V3FYT2V4aCt5OWJVSUxqY3g0T0IxTHd6S296OVdpVU9DYk5RZDNXcklzZGQ0TEVQVGNXT1NrSTFOV0RZdkEzMkZmZG11ZHdaOWJKOGVockdIYkFhbm9HMkE3R1pTZXRoOTBFcFNoMEVaRm1TbnZOUEtZVnpCK2R0Y2RPTlhDY2pTc095aVhFNTVhMHYwRE03ZCtVWGdMWXc5WlBtMytEQmtjTWx6eGJFYlV2SHdESVNVWXkrKytjMXZMZytrTGF1UlF1SXpIVmJ4T0dVYTFwb2VxT01mdTFNSkdwYWRmZEdXZldwZ095ckdIckw4VzN6NFVyV0s3MUZORkwxQXBod0RTc05XRnpqbzIyQURhbmh4SUx1ZUJ5VE1rYzNrck1VcnZyM09WUWdOeTFZZFpjMzY1aDFQM3huMzFQK1NIZGs1TGV3UDJmeWpkN09IZjJkUE1zdUl3ZHZlMC92QWEybDlmUDNqd2Q3UE9EUXY5WTEzMXcvZlc0NHk1bU1mK09aSXNxcmRmQVdmVmtTTTg5UnlybDEzZWRDdU83amMwQ0FiTlY0YW5KUkRiYWxqTFRWNklZc3ZmcmFrRUlVTld4cjM3VXdzL1VQR0RtRjF1Mnh6SHBmckM5bjVFdlFQTVl1V2FFRkE5akhXcXpQMkM3UlJmTWt1WnV4REN0dWlMRW5OdjRZZGZCODhWRHNOL2NwYXBzUjY4THJRTDlIbUV1a2l0NjdRZzY1R1dOcldOZzFTTU9qazhDQ2JwUjhPR0xUWWcyenZ5NnUwTlM5a093QVl5V1QrY0Z3U0tzbGJOY1Z1ZmlLSzNobWYwamZxQjlrY2ZLYm5tOC9jLzNWMlUyQ1JRL2JIZTJCTmY4TmFpWUpYbWVHL2ZmK3NhQy8zZTZnTmhxL2g1Nzl4cUgyYWJJazl2eG85WFdlL1NIWGhwc1hRWHdCbDJBOEY1MXZ5Mmw2M2laQWZrUVlxeHJETXVBNVBJVEVnNW11SExSUnM4WlFUa242UWJiS0RNcmIzclB5R0NVSTJXLzhja21wMFcxVlJBQzR2ejFnT1I1STZ4ZjZGS2xKeG5WMzJMVVFoT0VDYm9zajNPeTh1dlFxUTNVbVd6NTF3bTEreVpxQU1RUU5nV0tUM0FPWm8xZTZBZk9SVEZzd3krZUdkWGQ4MHhhNU5jMzBnTzZOTjZWZDZpQ3Y4aTZtdCsxN2dOVHZHWVltK29qQUQzeG9vODFMODhWQjMxWDY4YVdWbFlUZkpNcS9SWktKZFhaMG1wb1Z4UlM5cGpkSkZlbnAwRzJPU25RZUtxd0h3RWJsbm52K2Z5YitZNUIrL3R5b1VCYkxnaTg2V2wyengrREo5SUZ0VFVNeTlucTFnUFlSc1hNWVV2a0c2emhPdy9oR0xVc2cyekJqdG9aSzFQdlV1UVZOMUFYQjBua2paT3A2V2hBdUx1NlU4enlKWWFNSWJraWxyQUc2U1BxeUlHTWdGK0xHbGc4L1pDTUpVM1RkTnNabHB6ZzlaZzhxR2hBcEE5ai9KTGlBb3JBSVljMmI1Q2VKUVpkbXdoenBsUEpsZDRSaEFERThDSDZZMmExUWtLOTBRZ1FJTVVzdnVhVEVnMllQMnIwSE0wSCs4aFZZTzZRRnJ3UHBjakhPM1lMcTJiM2MzcTJ4UVNZMjdkbm5mbkIreXUzcnNqK1dHRklEczZ5WEVBRDVLbnFJR0wzNVgvNk95Rnc5MXpxQnlTVUMyYWx6WWtqSFFDVGxMMHJiQ21LTjhZTUlEdUMrVHJFam02NER2UHNkK2dqc1FCcVlCako3ZnM3MjkvY2dQd2gzZ0hvSnBHdUM4WTNLWWFrdVRCU1d1UmNiaVBQNTREeTlrNFpHUXRscGJONENzbmlYcDExckFnYjJrVzkxVm1QSlJPd2F5TXdKNk5XT2d6Y2RSZFdNcWtWY2Q3RUwvU1lNS0J0cFJCRlMwSG5hb1JnOGpydW9obkFlbUFST1d6U2ZpQTlaY2gvZllsTGNXZ080SnVlZndYLy84aHhleU1QbFNYNUtBKzgwblJ3QlpOWUdDZlZVUzBCMERZLzZ2Z3FJWEg3VnRIQVB4Zlhhd2o4cFU0LzhSdHZ6U3djWVhLVGswNm80c1VBV2VyZVZremRjRHIvODRiZFE2MlhhZzlOY0EzRWMxdGJpb1RJM2lCbUMyVkZxY1kybkZqSWRJeXkrd0ZacWxhUzlrMjlyUGpFclNjUVhJNm9pdi91WitRWXNJVFdyLzEwZHRHNEF1Y0NzTFQ2UWVPdUFKMmFJeWtmU00wZ0h3S04rWEZJTlR2MEt6SVoybUJpcDZjSVl2Tis3YmtzQkVlZFdtNkJuUmF6NjhaNWRncm1tR1piZlFDOW1pd2RCOWN1Z0Z5Q3JEQzE2ck1MamdOUkQvRXFaQzNNQjdxUjFqanpQY2M0SEwyMUN5d0JPNHB0TE91YVBjSEJoWWlOK3N1ZnJYMUN3aE1Tb05nSzFTSTJmR3RhbGcwQnhnV3VCeFJRU1BiOE9scWJ3WHNnQ1BIY1h3KzYvbEtZQ3NEaklweUFLTXlBNUs2SVVEMkV1RjZyZVV5UDhFRzJ3U054aUdoaHVxTytlOHk3MFNJS0pUcmMyOFlRcVFOYnBJUFZVekkrZThHaDJWVUVuSTFobjdtSUtFNHRKbitOeUtocHNteW9RUHNnQWgxNHBqWEZiRFNrRVdCbXZpT0NPb1VBUXZGU2VUQjU4bm5ZUEFXeW9MOHlYdEpDaWFQTmQwcHlYaVRCc21yN2RnaWtOcWxCcUFlNnh1MTZJYmFnVlVJRGpJQVFCbkI2OGlCSm9zOUlkRTVJTXMrQjN1UTRLUTNWQnRLc2d1V1pBRnY1TFBsYnhVeEROai8rb1BWQk13YnpMZUR0aG43WFFvQm5IT0dsZTFBVFZhZGluazZrYXFSTmtKQ2RCdU9NNmxBYWxvak5Tc3lmUzBHaEYvVFJKZzdpSlQ2dFRsZlI2SVFWd1I1UmtRd2RUNDZoVDVYMWNFcTl4ekdRR3k2NG9XeStLSzNXNWR6SVg4MUYwdUlGTVNvbXU2cWRvRFBQZVJiNUY5UC8vSERmaHBRbzFsVlVPZkEyU0ZYbFA5bFhjRFIxSjFoK2FrRGNvcm9DWWgrNVNVK1dmMXpUU0oyZWU5YnFCZzhGblpKYzhZN0lQc3JtMGRZL0dRK2FtNDRzcVBYK0Q5WXZZRDZrOGdmdEMyMWtieWlIOUJUbGFFMHdZcEVzbFlEMFdKb3BNU1RQTWhkVFlOU0UwREt2WEN6dEtHSUU2cDZYTVNzanA4dmkvcmsxTjN6Yisrd0ZuNlFKWkVBa1JMUHNnV0VwQkZRK3luUnY5ZXFZTnYzOEVua2g0ZklmS1NaSlh5K055YllHVnREYVdTa3pjTUxKMnlxVkZtVlJBdnFFbEswcGVON3BYQ0toL0MzUGNzVzQxcE1NcVVZTW9IMmFxSnIybG1IMlJockZZU0lWOHN2RzgvTllMdGllTG90WUFYSnBBZXp4UmJzWTRDYWI5dXhTY2tXOTI0SzFiRmtCbTlCaW95WkVSNzdxSVJ3eU1aTVlpaWIwaEVsRGtIK1psOUhyYXZKbnhUeFhBZXlBSUlDYVFVWlAxVUNGUDlIeWtoMWpraFpPTU5KU2NQaXlXdklrRFdLQ2p0Vk1IamY5WjNwRlEreUVZZmp6a2tGS3oxQmV5dTQxaTlwL04yd2dmWkpjL2owc2ZLMHBsK1hUaWJUZHRka0ZUc05mc29GeEhYSWRBeGFDSHR5QVAvdTBvZmJhaFMxam1aRU82elN3MzVORFJRczI4OGlyQ2dQWVhrNmhlVzU5OEk4RWlFaS9JQWpkMysrT2dEV2IyZkFCdkd3d2ZacmozVGg4N3hlZkZUZVNOUi91UEFoRGpFNlZkWjBJNzRoUy9JbVZLUXdJUnlGWmtzU0NoU09LZWtBYmcvTjV5dTUvUlNFOWlvc2xQSXM1bFMwdCtiZ1ZwdEVsRnk2dmtnZTlJZzEyNENzcGVnZFQ5VmRZdi9xZ01YaHFzVk80clc5enhIbnh3MHpCc09LNFRIVmh3U1pIUCt6YkpBRGZ0bGs5b2FGSVdHWlZXYkRiV3hHbS80cHFKYVp6QmU3ckpEWXlPS09pWmdackZEeGdkWjhEdTBRVmY4UGlzTFQ4S0xxaHpPVUdzTFRsN3FVOHVLRVJxSFN0WlNnaXBLbk9FTGN1YkE4REwxUTdBRW10RU5hODZ3WDFhcllwUUpOQ251ellndktRbmc3dTJvTko1ekxaVXJ1ckdCUEFIZHEvWUFBQ0FBU1VSQlZPNDdYUElhSTE3SEIxazBnYnBGMmJJUHNrQWpBUXBFWVJtNHZWVDlsVkY4bFJGSGk3aS9TTEpIT09FWDVNd0JWVlNVVHhIaHliWVV3ZW40dVBjN3RBcFZDK0U4S0EzUXNLeHNjOUU0QXpBZUxwT2VGaGdQSENHbDdWclphYnpMME5vYWxub09IMlJ4ZFhYZjRmVkJGbHhxWXRNQjZIeEc3NlZXakgyOHdDc1Z5R3FhMDVYSjRoZmt6QUZWWE9NUGZaWU5nMHE5SGhqOVI5Z3ZxM1EwK0RQWVJYZVNYeVVoSG5zaTBqV0lYS0oyRDhXcTROc3RNQmpmNkNPakQ3THcyamZkb2Z2NEh0VDFRUmJNR1pFSkJnWnVCTDNVaXZiRElWaUFIbXJWMnFxVGU0TlBQUDRGT1ZNQVZWeC9DQnloVmNNUVVtbHFvSjJNTTVXSVl4ZFRxNGtqc2tMa2t1dnU4Y0FZb09ubFBsZmpoV3pGTkFqVjRqTDgrQ0NMMEVZNGl3Tk11UmpIZmRTS3dmWTg5MTJFUzZ2ckdpT3NTSEMrU0ZxSExLN2VycEJpenVIYVhiczg1RWFuZ1c1aTZuK1JvcTVFNTg2NHhXUmRpbGFsQlVDN3lFZHU0S0F4ZjNvWlhzZ0Mrc3p6a2VHbzhFSVdvTDJ2RzZzcTArK2pWb3h6bk9YR0dKNHpFZzRncnE1dUR4NFQ0bllBR1FOajZ0R1VYRE8wRVZJekpFZXZnWklkUHdJQnV0VENkQ2wrY2EvZ3ZoU3hvVk9DME9hR0Q2WnJMMGdHOStTRkxQQWJxOGk5WWIrVmhZWGpEZDFnUVpsY0g3WENnd21jTnljZWh5WjFRMHNydWhtU2FKREpIWkJ4TkhFdTR3S2Z5cEVxSVptYUJ1RHUyRU01ak8wdEk0MzErVFFZWS9VdWxsclBqTlRJSHUvakw4eW43THVQUkhGNElZdkxaZnVLbzgwTnROZktRamdKQWxiaUFFQkpQUG1vRlhNNTg4Si9nR0YrVGRYTitUM1MyQkU2dHFaN1dMbWorbFF0aFhOYUdzQTRqUnJydVF4WitLb2JFY2I2ZkJyTVovWmwyYnh6QzhYYnJCZ3lkY05EcWpFL1pNRlFhazhpWGtIZUpXSlE2OW9HdDVrR0d6Z1R5N0pSRDdWaUJKZ1dVTTNXeldQMGxJTk4wVTdpSTdwZ21HM3ZGZ0lrVmhoTTloOU9LV2dBREtjWlNhSC9ITnd0T2liT0dBVGd4MWRYbFloVnF4Yk15eVh3Yk1BcmJqejdJWnVIRncvMkJOdTBzTnNkNGtjYTVFQ1FhVjIyVmpBaWVhZ1ZFMEJ0eTdnVWtEWmwzZHFhVEZpbmdxa2o2RVZISzdqU3RtRlZHYmZNYjVUSFRTSy9QTmxmOWROUFRzMTM0ZWJzYS83OFA2MUJma1BuY1ZlSjhUV2pxTVMzb0VKeHJtNWlTWnk3dGl3cXdjMG10V25TRDFsOGdldFhCRnRUYkdVRi9LZ1pHVTZEdG1RYjk3TERWWjZFaDB6MkJka2t0YUlmdWJ3YTduUGF6RDZwSGcvWktEOWwvd0s2dVNVYUYvUXZBY0ZZWms0clVnZWYxaDZQOU1VZWxYODhaUEpMWVphcC9PVkhVOTk5eDk5Q2hMSi91ODNmSWJtRGZ5NEc4Z1lSL0lNb1JCbFBIcFo1azNuM2Yyb1dlOCtJbytDT3FGcUVQcERGTjJEM2tlbUw2RUkvdnYxREtORXZiMzgyeW01L3VnN0ozajNiUUljcFVTeVFuS25SVVNCSkJjZEFYc0FYTmNxK3d0aVBZQnVMbm44U3l0MFpZNC9zOE84akJ4eTU3YnM1QWI2ci9La3lwK0JQM2JQNHBRdlRUeFMxZDVXK0xFU0MvLzFaa2hISkp3LzJFclNURXpoZXhlMnhmZ2xHMFRuZE5DM21Td2ZmaE54WGkrem5EQkZUVmRKQXl5NVN1WDZRemNTczk1bDN2ZVByN0VlQnM2SGErWFprVmtPRkFMRE41ZFovZU9LVHNmaFdyR28xUWEydy9YdDdJR1QyMTdXeGpxTEhHUHVYYjNuaTQ3NVpQL2dXNGxBK3VDWUFlVjkxQTVHTjgyaGFOVE9zODR4MGdZYlYvbG5iTGRyQlEyd21XLy9nV1Z1RGVyK2w3cFo5L3BEVnBEMGl6dGRZN3dvWXZ4KzJlTUJqSUUwUWlGT3VmcENOOE5QeGNMd1BtUnM5K0YvV3kxZXUxeEd5MTY4OUJQL1JlbDA5TTRzeDUvdldLbTAxY3FudDUvRzFCUHpNUEIzcmNleUhLRURMcXNvejgvaFBzSmV2WEswYnlFSzNjRnlCbnZjVi82STFKMVhVc1RuWGREakZGaW43UjUrODQ2NnJXelp4ZERtSUg5azNDN3R1KzV5emdjcFVzVnpiS1B2Y1ZmYndQUzRxRjNTd3ZtUDdGVVNVdnBDRnYrMTRUKytCVnhQV1BzbnNjL0NYSDU5eEN4M3FVOHNRYW5zdTdqMzAyM3VVODkxMzFSLyt1eGFGbGg2Ym5qRXh0bU41Qjgwd2cvNlJPZHdyZys2bUxWK085Ti9nMWJZSVphUkpXRmlDdStFYzh5S080MUFIbWIzZ0xzejZHdTlvVndxaXFpcytqbjRSQXovdjJGRTdKdG83Y3RrNkJxNHlkYmhqQzFGSWpyK0NvY0VyYk5uY284dEJPSEk5MlZ0QmpXZkpvc0ZRcGt4SXFYK0RwUzFWQmxLdXFiUjk3bTlsYmI2eHpIVjE1R0wwNGkzY2NTZWZrOTZFRDZyQ0oxWGZBekRzV1pqTjlIMmVmbXdibmE2dDBjc3NldXlRb0x1UlljNzRXNFk0eUJUNEk4YzJONi85Z2lPMmNrMDBaR01NWjZSNE5BR21lN0wvZHdJTTViLzNDTXBUUjBRejhxVVVJZHQxUTRWYzNxeFpQQnFTUm90cSt0Ty8vYWZNOWlnSXBiN3NaNXhreUdiVG5uM0J6VmZCYW5nM3FNNnNhRjJOTGxlNnlxK21DRmw0dG5xdVBKRHZHZ3ZuS1IwQXFkcHZwRGR0RjdkMEdrSkUycS9WUko2WVpNaGVQSWxEYjEvdVlITkZ0ZCtTTjNzZmhKR1Z6Y1dYUzc5elJHZEw2VUVXZHhmNVJxY0xua25aRVZkdytxS0wvVENvbTVvbmp4SUVNUHNFWENZWnNoMTJTVjl0S2dtd3F4dW1Zd3dkYitsc2g2UTFVU2RTaEN3dVh2cGtXemdXVVZyNnN5WHk5QjBXYnhQVkZ3alo2NzVnK1NSRHR1QXpGdVNpaDUxRWU3VkNPcW5Sc2F4NDVDb0hoSEMyU00xUkptRUxuZldrNmI3am96d1p6WFdPeEhIM0t4OXZrTmJyL1NJTUV3elpmTDlySXRjOTFDVHVyYWRCZ2k3Wk1KZGp0NDdxTzBYSVZnOUJiRFBOTVZJMmpwOGVHZWF6cE9hc0J6elp3cjFXOEExMlppVlprRExCa0ozcU42WDBYK25ncWJqZmJwVTAyNEM4eXM0Y0xWeUtrQzE4RzhUMFBVOXoxTXRSMXpISWM4YjdwS2dlY3I4SFlyVlU3b2szZ1pTdmZrWmw2WG1DSVZ1MVRCeTlxQkdsQVhka3ZzQy80TURLc3UvMjBRTi9pcENOMTR1TzNGTGtSUkwrR0k0R201YTY3RDY0aTYxTlFBY0FpOGVHemNSekV3elpJNk5JbmtzZE9LbnF2Q1ZSQVIwclI2RjB0SitkSG1UaE8yY29aem1wamJ6OUFDWVp6azJaTytJNVhtVFhMbCtwcXpEM2Ziakg1TUdyOVJWUG41TUwyUVg5YjQ2ZXl4b0phWmVHWmFISEJrQmhYL1NjNytlSVNjSFNneXg4NXd3NjkzcVZKNGoxUy9IUGVCck1jc1hrUXJianN4Um4xT1hacXNFQWEwVzd1d2F5aTg1ZWRMZUQ5Q0I3NFJCZXRpZXZtQkRKS3NmSCtnbjNXWklORXJnK1MzMWVaM0loV3pJTFQyZSsrdk5WckR0M0hpQ3NKdDF6Unk0azhNOUNiSjJ2ODdQV2h1K2M0WjVuR2dGVlRTMGRJN1RpTy90NWNSQVB4Y1JDOXVJUmZ0SFpkWHFhbWhpV3RkWXlBTUlxZ3RBKzV0NmtaMlh4TzJjZ3FHL2Yxc3d4UThOcGxOT0h0K0RydHc5dlAvTEVRcmJiYjJ0ZnZ5c2RPQjNEc3Z1a1ZZU3dDaVc2cnpRUk5wNU1EN0wxTmY1QmRCMk5JNUl0YVBFSmNiREpxUUdzQ2s4cVpPZTlFNGpCNnZlWTFqQXMyeUk4Q0dIbHJIaW41SVEzTmNqeTc1eTFRZEpOSW8xTXdqUFhTbElIUyttK2VPNzJPa2V1SzU2NythRTEwUFlGdzRmV203ZGhYUG1rQmJBcG1kMFFCUEFXYVVreW5ScGtMNkxyQXIzYkxvMFVNTFpHamFUVUE2RE1uLytwV0RwR3R3T1FjaGhONUlldjNHUEY3amhoMlNvQVlWblVTbncxeEcwc05jaGV3STBFOE9raDcrSmMwUXRrVi9iejVYOFNIcG56SGZOLyszejFVNnFkZjExS0haTnVHOFlQNE5TbWNXVm5reE9acCsrTWUrLzl2S291SWZzMmVHM3V0WW9tenZsSEgrejlqRU9EOSthUzFEZmVYVDk4YnpuS2ZGalh4N2Yxa2xWMU1VOVVjR0NHalgzZW5YMjdhcFN3NjRUYzdhSUJnQ2pkWFlJZmtsWmJaSmNTUWFSZmgxSTRma1JldklEc1k2d0hrL2Rmb0FyQkY1dGp4ajYwUjRuOGRXZWJtbjhOZk5FQm5vS2RocDZHWmtyOEZlWmZzbXE2bWVMTFNJRzJkRFhDWVgzcWpkQkQ4amJSQU56M0crUlNNRUMvSS9NVmU0MGhpdjQ3ZkxMaFQ1NzRaSTEvRmdLWU9HUi92QWZXOURlc2xTajRmTVQ3OXFJL0srcDVIRy9RUTIydzM0V2kvRGNPOVpzWjJSSjdmalY2dXM1K1VRcmhQWW1odndDeTJnOEZaN1krOWVhdEhvaVRyQUcwcW12a0FocGtzQzFZWU1hUE96UCs3OEw1Ym0rVlYwSEladXVmdzNTTmJxc3FDc0RCTng4bzhKTFVLZll2Uk5mbXp6RjJ4ZGRQb0t0TlVlVDduUmRQVlJWa1Y0OFhZWnZ6aG1zSlEwaE90QWJ3SllSbGN3VzRwS1N4VXJKMmZ1STNVR1FJUFYvRFB3SVFWdmErRjNpeVEwSkxYMUY4RURBcjgxTDg4VkIzVlFCNFdsbFoyQWtscEdrbW5CTGRFSDViWVE5ekdOeFlJMlNabkI3NnhwaGtuNEV5T2cyZ0kxQTIzUlVZKzNjNlY3ZW4zb0NRRlZIMkJmbjVHN1N5Y1puVElMeTdMZ3J4QzJjck10a3c4eU1QTlcrOGFQVXVRVk9oSFRwYmxZMGtUMHZDaGNXZGZ0eXB0VG5na214Q3lOMVdHckREc20rMXRrMERJT20xRnRXeUVscG1idVlBc3Y5SkxqdUFlVmF6dGpuRngrTlFaZG1FaHpwbEhJOWQ4Zm9MdEN5QkQrR0FOZHE1bFc2SVNENDZOYko3V2d4STdvOTJ5aGpTRTZtQkR2bDRldjYvUW9DcnJDOERscEgyZFFaZnRtVXZpU3pDZkJPVEFOblhTNGdCZkJSNmlocThPS2tYTGdUK1VacUN0S2JPR1ZRdUNjaFdqVnRTTWdhYUNDR1NKV2xiSVM3aGVkTUxjRjlPVkFtRTIwWUREYkNyLzV3ZmYvVDdnSUNiNUdhRDRkd2gxd2x3dWlTeUhTYkJESkRWbnErMnp3QnR5UWZjdXdwVFBtckhRSFpHUUs5bURIVERKSWtRUEpsWEhleEMvNnR1S2NacnFkeUo4a0NZYkEwMDRhNmI0OTlRQUZpVEovNEJ5cks0MWlXb3NJbEpnS3lhUU1HK0toa2o3UmdZOHkvOWM4N0lSMjBieDBEOHR3RFlSMldxOFQ4Q1dxSzd4TytDZWs2Z1VXc2dFSnd3T2l3bjZnVENiYU9CR082NlBCNis1eFBXWmNHQ2FNc1F3SFlwZU01QUJZNXRnS3orZjRoWTJkTUNuZjNvV1ptUDJqWUFYZUJXRnVaYzB2ZUk4QXZzVzZaM0t6V2pwbGNveUxwVnhET01yU1NKZ1hLYmFBQm5NRGY2WEF2TXZEa3dSVEdBVCszaGdmODBFZk1mZ0t4ZU9Zc2xvcUZGNGwvQ1ZJaXplcWtkWTQ4elBIeFdZV3hEQ1FNUHpKcEtPK2VPMnE0SzR3RHhrRFZYLzVxYUpTUW1WZ000K2IvVVIzb0E2WjRwZ29GYTRCUklDNTlxOFFLQXJBNHlLY2dDakJTMGdRZHNNd2V3bHdyVmI2a2UvZ2syMkNUQ2dHUTNlQ2ZKbjEwUkN1Wi9xMlhNdk9FTGtEVzZ1UDFTR0piZDczTlpObVFiSG9NR21OT3dVcENGd1ZwRFc0QUtVZW1sZ2lGbEI1OG52ZGVKTXdDVFArMGtFQlpNMW5TbkplT3RFQjZ2dDBES1EzS1NOWUR4cWxhZkN3Q1lJZHJrQVJaUUkwWFJBTEliS3EwZ1M2MHhsRUg3bTNEeVV0RXJZZXhmL1lGcUFsK0kyRmNac00vYTZWQTBjYzRhVjdVQk5WcDJLZVRxUnFwRVdTQk11Z1k2Y00vN1hRTk1oa2hSVE9DcHlBRFpkWldPV1k4bksvWkxoSFV4Ri9KVGQ2RjNPQTVlS3hwQjF4VHh6US9Bc3hyL0ZVbWVGOW4zODM4NWdwOG0xRmgyaWdOa0V3cTVyUWdOLy80OWZvMDJaQUVjR3A1S0JUN0k3dHJXTVJhT3BaK0tLNjc4K0FYZUltWS84QVB5K0VITHdWQTk0aGxIQm5KczBES2VqcFBqUVlJbkVDWlZBMkNtZENUVXZZWUVaTmRjRGg5a0N3bklJdEw5MU9qZksraTlINXRHMzVZZUgzSDdFL2txNWZGNXZNRXg4Q3Z1OXFER3Zsc3VMODN5WmRIUHZPUmVzdyt5OEJEUWFSTjBjQU9xK2FuNGwxVGk2TFdBQ2VaN0hzL1U3VFFxa1BiclZueENzdGFUNDBHaWtVQ1lVQTNnQkFnUjVUMnNpTUdKSVFzZ0pKQ0NUUWE4QXo4Vklnci9SMENXMXpraFpPTU5JMjdUOXkyNUFGbWpvTnN1ZFZSWUZvM2VucmxpZ05hYXlZbFVIeXRMWi9wZ0JqZUFHYURsb1dJcjJVY0IxU0pXaFk1QkMybEhIdkFGT1ZQZWhpcGxreFVwajZRdVM4aFBxZ2FPQ3N2aVN3aXI1c0lBRytzbUoxSSt5SGJ0bWI2czVxZUtWdklmQnliRUlVNi95bTRmaVR4OFFjN1FRSUxrdXE3SGhURTFRbXF5TlhCVVdCWm5RMlZ6ZWZFSmcxeTdDY2hlZ2tiOFZOVTYvRmt3dWc5bzgzY1VyZTk1VG0xMVFBNDB6QnNPSzNnN0t3NHBaRzhiRFhUZ2p2ZTlHRURRcGlrc2VyeGVuNVZ0MjhFcDZHQUxHdkZTbjFwV3pZTVA4aUw0Q01DOHIwaDl6L0FGT1hQQWdvUGxjV0FKTktNYk5wd2hkWHRvb0hGRVdOYlpkd3FzZEZyRnI5OEhXYURwM1YwQ2hXWGc5VkxiTjdRV2kzeGpRbndTKzRoZmtETUhWRkdiWkJUUjJlZXJ5T0Y4VzJpZ2VVUllOb0lCbGxpcmpvZlZCMW53Z01uSEJjQlM4MFV4TDdWaVptUVhlS1dDeDE5TzZCbS9JR2NPcU9LT0U5Qm4yVENFMU8ybGdkaGpPczBWV2pNYldGZ2dVTXg5RHRsOGtBVWJKMVp1ZVR2Z2EzSWo2S1ZXekphdktiNTFzVXAyaHNFdXNEY1lVVXlLZjBIT1pLRUtkVit3QUdaeHE0WWhwRzRyRFJ3WmxzVlh0TmJNNVFMb2lEbWI0d2JTQjFuNG9nR0pqUUhReFRqdW8xWU10dWY1SGtYaDBxbytaNDBSVmlRNFh5U3RReFlua0N1a21ITVFRZTJpa0p0MERlQVUvVkwvaXloWmszRUEzYjdtclhBMzFBdlpDdVdyS2t2dG8xWk1GRGJMalRGTW5FZzRnTGk2dWwrdzdNVFdBeGtEWTF3V3d6SkRHekhra0xvZE5JQWhvdjMrRjlKbEw1UENOZzBuRlZld3hBdFpXT2Zkd0VKK0ZKVEo5VkVySnFTYUUxc2RtdFFOTGEzSVJxeFRnMHp1b0FDakRDOVlEQ0NWY1Rqc2twQ2JlQTBjR1piRnlCU05FUUMrZFhncEoreWpGN0o1OVpvTnFBY0FKZkhrbzFiTUl6RXYvQWNRYUUxcE5lZjNTR01ic3VDOVVCOGJLM2RVbjZxbGNMNTlOTkFCRTNYRTFUamZZeXVaNWRRNUVWaGFJZ2Excm1kZFlJN1Y5QWRjMldYWmdZZGFNZkdwYVFGVmVLdE1JL0lwbmFJaUpyNTVDNGJaOW03aFNiUENZTFIyU0UrNkJycVc3NWk0bWhrREtTeDdrckVQU3A3aVIza0NJSy85U0lNYzhKRFhKVi9CdE9DaFZzeGlWMXZHcFlDMEtldlcxbVRDT2hWTUhVRXZRc2RiRnNzdWNVeXNncENaZUEzZzdLdTMxLzh5cHJUaEZEd2wxbHZscVl1OUZqOERmcFN2Z05PZ0xVNk1vbnZab2VDRENNQ3lwUG1vZ0UvbE5xamhQcWZON0pPK1A5ZksvZ1YwYzBzMExocitFaENNWmVhMElsdlJuWWJFN2FPQi9IOSs1RTY4Mit6bTMvclVYL2E1TEloclVYVGdQaG1PMEZ5TVB1N2oyeitFOVg5NSs3TlJkdnZUZFVqMjd0bHVZVlBaV1BCbGFncVNmaW80QmhMU1g5UW8rNHI4NFBLaXR1aFlWeHk1TzJQc2tSMytmVVhZdnBzVDRMdktueXBMR3I1SHM2UFRJWEg3YUFEZ3A0OFgrMTJXR2FVRngxc1orL0JibnZpbnRadDdrRytvK3QrT01HWXJqazNPQ050Y2J2MkhKejRaaTIvRnF0WVQxQXJidjdmM1RZRDRyMnRqSFVXUHdXZVgzL0xFeDMyemZod1YrS0dXYURVQnFQdXFHOWgyZ09LRjQzYlR3Q0xyWGIveTBPWExWNjVlOTlnemViV0pJUmIrdVIyT0EyN0ZHdEFBMUw5ZVI4aGV2L1lRL0wvd2RlV0lMc2FjOFZ1cmx0cGNhdnQ1ZkMyaGQ5VWU2M0hzQitQZnNxcnl6RHoraXpGSUxEOFZpbHUvb0ZzNDhDTDJGZjhpL2ZTSElvYnpLMFFEbGNSRTV1bTc2Zy8vVFJ1SVhsMWtuNE8vL1BpTVcrUlFjU2RYL3JtNDk5QnY3MUhPZDBNZmY5ZWkwTkpqMHpPczc2aHhiTjNBTU9rYXVKRFkyRGNCVjlReDBkNEprRGFJT0ZnTlRKa1kxV0FiSG1aclhSMjVHR1l2b2UzeDFBQnNteGxQd1k2U0toWXJjMGV4aExMYlZ3TkZOWithbkV2TWh0blg1TnlzSVVoYU5VditRMmg5S0UxZW5FVC9leWlhZUdVMmV0SGFHRE1ST3VnY3RaMXlJcTRnQ0hrZURlVGRYVkxuYVd3MGRRdkJsUjJOb3NlMWw0a0RRSDRTZ3h6amV2Y25VcTQ1dmZnL0llSlBoYWpzaE55cFlZbVptYlRKVERYc2lSa1dGaWFsM1dadlVpUVZjdGJJZjR0TWx1UkIyZ0ZwWUc2eTFwSVc5TDg1RHVqNlF6TVRwNEhzWklXNU91R3JHeE1Ic1lFTDNQQzlIVER3WGdiVllJbnZRUjlVYTZHZGlkVEE0aVF0Z0YyY0xEZG1JZ0V4QVVJWDFEc0FFeUJyMS80dXh3UklIRVFjZ2dhbXlDdUhRMmgra0UzT1Qxb1VlWkFYSDlveUd1aE96QzcvOWkwamRVaTlnalV3UHltcjlubnpBdGdyK0hhRlN3Y04vT1FKWHZZYUIwWGxYemNPVWdRWmdnYUNCb0lHZ2dhQ0JvSUdnZ2FDQm9JR2dnYUNCb0lHZ2dhQ0JvSUdnZ2FDQm9JR2dnYUNCb0lHZ2dhQ0JvSUdnZ2FDQm9JR2dnYUNCb0lHZ2dhQ0JvSUdnZ2FDQm9JR2dnYUNCb0lHZ2dhQ0JvSUdnZ2FDQm9JR2dnYUNCb0lHZ2dhQ0JvSUdnZ2FDQm9JR2dnYUNCb0lHZ2dhQ0JvSUdnZ2FDQm9JR2dnYkdVUVA1TitOUkhrZlJVcElwS0NRbHhaKzAyeHovMy9qdm5KVDlGSHp6UDM4SzVqUlo3OXVodldlSHBoRGFTMGlmWFFQRGcyenpWODR1MVVocnpsbWY4d3lRSGFueXo5RFowQ0E3UFo1Zm1zdHZKNzRtbG8vZlR4UVhJRXVVTVpiSjNMRCtGS3YwN2JHODNtblBuNFBlNTM1SVA4dUc0U21OcFQ0bVVLaGhRWGEyMzU5dC9kUS8rdk5ISHZ4d2FwcnFlTkNZWXgrMDVRbVF0ZlV4OHR6VW5UL2dPMWE0SU1PQ2JQRjUvM1hPODlsTmV0OHAzbVVld1JyT1A0TUZ5UHB2M3Npb0ZZNlN4SThZdUljRTJTblArTXN2T0czSTF0aGhVdkZUenRmcEEyU1RPaG9wNWUwUDFnVmVyMTNoeDFXUkd5cGtLMnpQZjQzWk8zNFR1ay9OeXVhaDgxWlNzdGorbzZVQTJhU0tSazNKSUVyTHV0Zjdmd3V5WW9aeGZpdTdXTCtrRzFhSmZQMklQMVA0MHhRaHV3Z1h2cXlrTk9lcWplTUFXYU9hMUZJbFp2dHdqekYyZ3d0emJzaG1Zcy9mTU04ZTljOWdFRVpLemNyT0FtUTNrbmRoa2ExVFlvQXMxVVpLYVhBTlhxSmRaK3Z5enAwWHNobDRHRjZnTGZQMExsdE4wQXdoUmNoV0FiS1dJcVJVZFd0U0ZpQnJibFphS1hUaGhGVlZFbFNrSFR3blpOOFdROHNKeU9hUE5xTXBRcllMNHZwTS9LN2xHUVRJS3Bpa2Q4WjUraVdyKzFrNVNUNFBaTC8yYXpWbzF3UFo2YVBYSitwZTFGamlEU3NUZzdnOVQrTnpsaWNUSU90UjBZaEpGK0ZPN1Z0OVRyRXRuajh6Wk9ldVE1dmlTRmpadG16YzZ0Rmswb05zbHNVZ2N0bUlvbEx6MWxBUklLdjBrdDU1RG01VXkrbytJeUY4WnNndUNiamlid0t5cFg0aExpRkNlcENkWWhXUWQ4dlNoTWpFMVBZR3lIbzBOR0pTQjI2VTNXV09iWExDK1NCNytHbG9PQUhaM0RFRGYzcVFuVHVjQm5rM2JGWHdYSmVPUWdHeUhnMk5tTlJnek5waEYwVlphWFhQQWRsckQveS92U2tmWkdlOGszSnp5ZWxCdHYwOFJxaDlHM1k2Rk1nQnN1Wm1wWlZxTW1hdjd3Qms5N2d3WjRhc3VCUXZaRHQybEROeDBlbEJ0dkNkcU03WXR4SVNSZEUwSFNzQ1pEMGFHakVwVGtRamM5SlJHQVprdTc0RkpuTEY2VUcydmg3QjArdjRTRnl5RENOYll3Smt5ZDFLSjVrTXkwYnpjbmZJTUNBYkg3bVFFSUdoODRWR1I2Q2FIRGlzT1A4U2JyemRJU05DQjhqYXVra2hsd3pMUmd2U3FBd0Jzamxxc0h4WG14cGtMd0lzTHdCa1Z6eFNsY2pRRUNEclVkQm9TVFFzdTdERCsxNlVEdDBRSUh2UjNzNlF2TlRVSUhzQm5sUFV4WTJrVE5FdWNjQURaRDBLR2kySmhtVTc2N3p2S1RrZEd3SmtsN3hUY25MRnFVRzJBaGVOTDdzbEFza2dYSldFT1FKa3lkMUtKOW1CMjZSNjdxN3dWT1lYQldFSWtLMTRyWmpxSDg2cFFiYUpHeTRoWk9BRS9MaG9jeVNtRWlCTDdsWTZ5UWE1U3pYaEdDaEJoZ0RaZ3JWZXJ6b2k1OVFnVzE4REtRcncvTzRSYVdSeW1nQTVRRGFwbnhGVElMQ2p3ckpaTWpGR0tSS1FmZnJPdVBmVHJaTUs2SXZMMXNoRVJyU1RmL1J1OXZEdmFKd0l5R1orczM3dCs1Mk9ucjRyZnRpbFJWR1Ntdm1lcSt5aHowVFJ2VnRhMEtmdnFudXE2bUpNWlBncmxHMkFyUDNZY3FZRk14QkIwRHE4WVd0cGJ2U1ptZ25MVHRHMWRKREVoZXdmTW5ZWXM4UHlDWVgwUVRZUlJKb3ZBVXJBMExka294eXlDM1VHRzJzT04ybEh2d2NFMkduMU55Z3RpcExVTDlYWkE0L2N6WDUxM214UGV4TmoxK3JzY04rdWF1ZW11WFZGeC82U1hZQTU4SEZiaWhvZ3F6U1IxcG1HWlR2TzBvOEQyU2wyOHhOUjlNN1kydkY4aE53ZXlNS1NhTXVxa2F1eGcyOCtjLy9YMmMwOVFVZklabXNmYWtYenNiVVM5VloyOFBrby93K2NUV2RKNmp5N2hUMDhXNCsxQy9KMnhsNGQ1UjlqaDFqUTcxamlQaXlLL0xLSGhkamVBRm1QZmtaS3duVjFaVmRLTDlwZDI1RE4xOFE5WDZTYlJPd0tkczREV1NEWlBFMTJVRWJLczB4KzhnZ2hlOTh0eEMrODE3S0ZSZnlZbG9EN3NnVThEN1Z3c0NvcktNakNxUDRHSkRXOXdRRE9ERDhOZnUzNE9SaEhDWndoTnVIYUFGbWxzclRPaUt0OTBmbmJYUy9OaHV3c2s5LzYyZlhaSVkvOEhzak9PSzlkeitqUS9WZDZ3c3dDWkxQMVRXd043UDlMcXRWOFRXRm1sMFRKUE5RRkhVRXRLc2gybVJnV0lPaksyMVZ0MnVlaXVDaHdrOGppckdZcG1vMHhBYkphS3lrbDhCMjlGdmI5dFVlWnVTOUNHQnV5UlFtcWFGWk4xd1JYMzE4UFpDK1FxVGZXcTZuQlAvZDZpVW1BN0p6Y1RWVTArUDRKeFJmQll0Mk82dEZEN2JDeUxGWHZFZ0JTVndTcDVqNlNrcE9mNUZEVEJYV0laNGNXZ29XK29mSUJza29UYVoyWDRCN3BZOFdXd29Kc1JnVVdwdXErMEtWZGsrYzhrRjJ5ZHhEQUJ0VjFVYkdoZkVpQWJIZGYwQ3BtYVQ5V2ZCaUgwdnNEUGRTQ2Rqd1dwSlZ0YU9DM3ZRWlU5RFV2SDRRTzZFSjJMd3JFYjllZ1BVQ1dLaWFOTk9EQ0hQdTJCQlprWjlXOHBIVEVuYmZxZXlCYlZiZ1hqTHQ2TmhhclphYzYrOVkxMlVwSG93ZWd2YXFhbm1QSzJ2dW9zUm5XQldUQk8xWHJXZUNGN0toVzNQT010SzA0Nkt5NWhlRHBtdWNrUURhcG50RlNDaEJnMm9ianp2ZkF6V3JaZlZ1UWJVdERCL00xSjdEQUsrWHRxcGp6UUxaaVRXNEFUdEpnWTl4Q3VCdDFBekVZQUxaRXE3dUtEN0l3bTFyclM4MlR4Nm5FMlFDRDBwQ2pUNkdTb2dIeTI1R0NRT3ZHb0pyeXRwRTdRTmFvSloxVVRVOXl2dVRPNXUyNGJGTjZld0JFejV3Nko2Wk0xalY0SUVzblQxRUVaazhOOG9BVVlRd0JzZ3BYc0svcUVtOFFBSzBzSmVSVnhrZUZBS29Xb2JDR3lZWTIxVmp6SlYzcUpIWmxCK2Jac1JpcWNnb0h4QUJaU3pNcFpBQXJOMlMzVGRkSHRheHNMSTJiMzFaZFVITWNjZ2tleUJZczBMUU5QRXZLdUFGa2wyVWJFTmRmNDBsb1NNa0llVFVyODFFQnN2dThDdnpzcm1FS0hza1dudkVvMlo2MElJcmZrdW9BQlBGOFMyN0pqQ3dCc2xSdkthUnBXTFloaG1ZamhRVlpoYW5vTlIvZU15d3ExWlRvVW5rOGV5RGJ0RWJkb2g3NW8vdVVud21RTGN0R0FMTHJQTmxSMk9XNXJtVDFVYW5scmF3QU8xeGZqOWZDbndKeEd6U1JKL0w2aWR0bHhHL1dURXVtWm9DczFrbzZDWVRWdnV5NjhwSWpnd05aTTdOeCtQaUs1a2FDNklGc1VjM2hPRFAwdmFOcS9mNXJSUW9ncTU0SURWbUEwWmJpaTZLMkJMQ1hDdFUvSjFrejJBNkV1TXpZMFNCdWcya1BVd3M2Wk50aHhzd2JuZ0JabzR1MFV6b3NDNEkwYmpqU1dKQUZNSHhNZ2NuaGl5SkFWM0o5NFRqSTR2c1FxMjVUMEkwaWFjaVdDTFNqQ0VERisvSlNDNHl4OXhFeHdSODJMK1pVaUpPZ09oSG5XZDBwK05mYW1UWThTOFpiQ0ZiV3FDV1YxQkxjSWRWeDk1Skt5Yk1GMlJwd0hyeks0VkRaZ205bTQ0RnNpU0liM3dGUURlaHozUXprR3JMQXQ2TVpJaENaejVXODFBNVEyZUhmYVNuMnFvcEVJS0hOdE5PaHl1VzVxb01nK0J5NW8wMEViOWhvOXlKQTF0SGRxTE1Wc2tCWlhCYTl6OHV6SFRIb0loallzemdGQ0FBQUVhRkpSRUZVZ1J5L2JUbjl1L2s5a0szUmVSUkFVZ05CdHdjN3JsUWF5amN3amY3MnBpSWlmUGhjeUUvRklCVWVhb3Zrcm9vdllQMk8xWTVwTVlxNk4vK0tQTzZBeXNsOVB3R3lWRnZwcGd2a0JzVmxJVXZuaHBUSnNySlB3YjNFNDJjOUFzOCtUNXJSNWNkQkZzeWxocWV1NUlFc3dyQ3NHZEFKUWEvYVQ0M0Vrd1V0QzVCRDlsRC9HVVROc3RhbXhTaUs4Y3Iwa1h5UW9FL0ZIcXlzMGtSS1o3aUxLalFhcVR0VldKSENXSkJGcThhUC9hU28zVFhmK3NJSklKdWMwWGtnaSsyVVRhY0FIMFM2bnhyTjE2V1lCM3RZcFNCejh0UnJJVEZ4NEFZdWVyUmNqbUJsWFkya2w0Y2JwV3hxOUJZcFJyMGxFeFprbzN2bFRVME9tL0EyUTJ5aVFQcGlQSkMxZk5rcW5jMnJXaDdJb3MrclJBSTJnQ3lhUEQ4MWlyNHN4V1Fmd1NhTFBzOFVDNnhqaXJRUGZnZU5Ud2krQzJZOENGYldVdDNJTTJnNjE1eGVGL1ZvYlVNMitvWUVROW1wRU0wK0Q5QlFOdG9VZWlCckJibXFKNFFzN0NVZ2tGS1E5Vk9oOTJkTFVzNFdaRTRHMlRraVBENEtHMURUT2dKa0xYV2ttVUZVTFRzQ1hORHJzUTVrbzQvSEhBenJUb1ZvZHgwSFlENFEwNkxqSUx0RXBuNjZYaDhyVzlZTU9QMUNoQ0cwa2xUTzlzN3YxWEtDWE1uNXYybExwdHBrNU1DcHBQYVZGR2VJeXlwTnBIN0dzR3paa1dKWGV3b3VaS1A4RzlGVGRHOW9IbXpncm1VSVJZc2V5RnFyWHdCWmJkQzFEQjdJNGovRmJHb0dESEpoTlQ5VnNuMjFDWFVRaDkya3VLWWxuU3JRTnhEck5KUXJXWmJNZ2tSd0RMVGFVa25BN2RkVFlTVkF2S1ZTQ2NoQ3dLbVV2S0V6RUt4dlc2Z1NEWGdnVzZCNEI2ZVVETWl5VXc5a01UWmdReFlYdFB4VUpYb0VmNnVEVjlid2J1TFJYRElScnhOS3dTTldKK3d4SUJwS05WbEpqczN6WmtYS0ExazBibVlGVk1qZTJPQWh6MlgzU2p5UWJZaFZBTUdKM3FoYkJ6NStvUzB2UUJwYTVxdkJ6bElDTG1qaEFMNkR4ZUtBaHcrbytRK3BQSHF4VUZ5bFN3bTZ6RW5nRitUTUFVOWZZdVNwbWxodHNMSkdWV21rQ3NsNDZweEJKSUZzcnFYRUs3cXhnVHp1T3dURXJDZ09kZlpBbHV3N2pYRC9LcDFXaVdvZXlPSTNYTWp6QUNqa3JvbVBxajR6Q20zQkE3SEZ3d3Q2WVV2SmxUampGK1RNQVU5SzRscklQdDhBV2FPcU5GSzFwS3ZYTmE2cWdld0MweEhOdG10bHB4RVQ0QlN2dVJmZ2dXekhXQ3YrUHFKbDNuaDlIMlNiYXVNczUyaEk0K3VqWm9oOXJPTnVXNUJCVzIxWFBwM0hMOGlaQThXK1liSTgxVEFPVFlDc281c1JaK0h1dkd4M21TVVJIZ1BacmtIa0VrVWQxcTE4Rkg3QXBybTNtUWY3cVNNQWJQYTdYL0RBQUtyVThmZ2VwbnlRclZoaHA0STBnajVxQmkyclBBcTR2UVVYQ1hpN2d2Z0ZrbFo4Y0FYZk5XbFI1UVZLZ0hSNDk4dFJTR3BaOUFmWDdONW5pT0hUa01VYmYwUHlKYjVkV04rQkVqQk5EdmE5KzJYbkxLOENRS2RhaFNiaU12YmdneXlZY05JNEFIMFZPWDNVREhuZ0d2elNpcGJIV3l0alRmZG9rdGFoTEU0dTVZVTNiRjJkcFpYSFFOR1czWG1UR0NVTldaeWRyMHUrS2tFRmtpNXkzeGM0RXZGUGoyTXdZOFVJQUhUR3ZtWEVWTXdIV1Zqd01IencrTUE4Q3c0Zk5VT2txTElWNEtvYXlYSEtoaFVUaC9QZjBGMjRXb2VucEM4L3ZFampxR2JFV2R3Y3VtbjF1V2lpT1hpSHBmbkJzUDIrNUd2b2xDQzBlVXdUN0xVN21Qb2NBM2hHOWt4L1VLbW5jOXdsOWx2WnFFVDRqRDMzVURNU3p0aHFtd3NLb2h2bmZNWTdGWnVua3p1b0NDaDN0QUsyZnd1YnhDUDRza0lQS2YwdXdjMGhFQUlwQ3NSTUdjaUNwNnBuS0xXZVhTUGVSK0hoRFJheWdvUVVyMk1BSUczeE12RlRNRTlDMUJaVzJtZGxJOWhGdHFPcUFhQTJSZHBEQmN1cnBXc0kvNEh1ZmhDUGwycEpuZWNjeUdMSTRKSXE1R2U0T3RsbmdLeWxtTkZuS3U1OCtzY1o5VzIxbFoxaWgvdFNPdnZmTVFHWEVzdEovODluWmVFbDF4MXltV0RsdFRzUnIvQUNZbmhoWlhaRE1BUFM5ZnBVVFQ4YkhpcEFWalFEOVlwQ3N2dE1oQ3hmWHhidDJiOEZlczFRaEdPSzdkMUNUNnVxVHJDeVNoT3BuR0Z1SXZ4QzJmdmpjTE0yalNRYXNqbHp4NnBtaU9TTVZZbTVtckhEcWdHUEx3dEQvSW9xaG5NK1pvZDdJajh0akRlK2xLMFlZQXhReUdub1VCVTB1cUlZa2xTQTdJdXlOQ2NkQWlBcGwyVldEeFdxQlR4RGk2cU9JT01TaDZVV1dHa3pEa3lBTEZYZXFOUFB3cjM1cnVuMHo3NE9lWE52aUM4YmxkNHYyWEoxKzJaR05XbTRBUDJtcGVnNkhuVm9qdlY0Y2wyVkZaVGhGQVF3cy9LTGgwMitWNUJiNW4zSjNEWEl5ZFRadnhiVW9qYXlNQUZMVUFHZjZwbDdVZzMzZjZ6TWJENytvR3labnQ0ZFE1M1BFa3ErQUFSVldkQ25pWWNmSUV0ME5kSms5czhmdVF0dlRlLzdQc1ZmSVJHZmk3RTlVbTFsb3ljUHkxeTZmTk8rbDlGaTd4bHhGSWdYaVIrNXNJOGI2dG9xWm9UbnBLYjBacitJUG01dSs5TUk4OTQ5MjZ2UlQyNy9FRGJ4eTl1L3kvbCtRdkw5UXcxSkpDZW9BTm1pOEtsenNacHF3ZmNSYjBMakVGeFZGaDB6OHZqQzNVTFFEK3hJd3VPZmpnWGxnZTFYS1NiWVBHYnNjSUNzVnN1SUU3UGl4aVIrdGM4SThoakk1a3NIM3dUQ1Y0dnM1Mnc1cTZTQmxpa2lWSjdVa0YzU283Umd6c1NzOTVsM3ZlUHI3RWNoanl1NDRpanpmNDNqYVRtcVA4YlliLy9KL1g4aHZ4V3JlbktwOEsyN1RQMWpyU2k2djhUakJad1B2Z2wrOEgvZmRYL1RjV2w0V1VQMFo3d05UYUFEVUZ0N0tHSDZwVlEvK3ZORlBteXJHNmJQdldVaWlvRnNORjlqdlN0UTVZZEpNU1pMdXFabC90ajFhdzlkbHNlRFY2NmJGUU02eFBLbUZtcThoZmRoWnA1WGUvRHFkUWFRN1YyL2N2bnlsZXQxNVlnQ1d2RjRIYStsZnh4cURnWUJlQzBCUGpOUHgvckZtRmY5RVYzTEpCbzlFQlFsWEpHMFJnKzZ2WXlrdXZHWnVtU0NGcXlzMGQ3NHBRaGtvK3h6VjluRDkydzZRaTdvQmZ5TzQvNDVqQ3Fic1p4bHBPWWZmVS92Z1ZlcjhpUE83NzZyZnUyZXNzdGdVL2xPcm1lL2wxMTc3eWNvWS9ZNTZPTXZLZVYwNlJLSmN3VEluazUzbytXbWtQWDMzSkh4QXY2cTlvcWZ4NmJXd1lKTzJnRmhqRDB0YzRDc1ZzVVlKbzZIYkdsTGlRMis4WnBLSDNVdTZDSDRLSzd4S2x1a01hOEEyZkc2T2JZMHgwSlcvYVU0VlBOdDViSmJFN21POFd0OXhXTkptMk42TUFuVHI3RzhRMXFvWXlIN2xGbStoOTBETCt1S1J5U21uWkRCRWF4alUxU2xBMGl3c21Oelh6eUNIQXZaNHBhdUJRRXFZb28wT1pISUpsZkpFanpqUm1oUy96dEFkdHh1RDVYbk9Nak9rNlV5V0lZMzRYYmFpSnR1NHFMQlJCMTU2ejJNQU5seHZubkhRYmFxWXFaNEVmYkNXZi9MNmppN3BQcHpqa3ZKbERWK0JNaU95MzN4eVhFTVpQUHhCcWtGZnlWRGN2MlROZ0Q2ODQxUFNjY0tjZ1RJanMrZFNVcHlER1R2TlZ2MW9TNXN5a3EyNEtQb3hYOWY0VGpTQ2lRcUd5SUc0M2lIakV4SFFqWUhmOUo5cTZXWW4zZ1RySW0rK2htVlBlcGNvWk9ab3hqSHBDeHJPK25CeW83SmZmR0tjUlJrOGJVeE9GWkZ4UTdQTUh0bm9iZE4zRUc5MGFka1BNbXpOTVFWck94NDNpUWwxZEdRdlhiNVNsM3N5NDdnRDJWZ0U4dURWK3NycXVwUjU5alpjbnNVN3hpVTdhcUxGTElFS3pzRzk2U3ZDRWRCdG0rbDR3dXFFeFhteXBQWEhmSGFBbVNQdjhQcGNRd0pzdlBzZytsZDA2bDdwaDkyd01vQnNxZFc0UWdyREFteVVkZjdEdFlJTCt3MFhUVWROeVpBOWpUYUd6WHZzQ0E3WlFVNlIzMVZwK3R2MFYzNUNKQTluUUpIeTUxakw3NzV6Vzh1RDc3VFF1S2JCNFB2WTBBdE5xd0ZFbERIUDNiZVhodFFQNkdaZ1dnQTlnM0FRZDhHRzBpeitBWHVuUUcxTk94bWN0WUxZL0J4cGVFb1pOaVg4WXBwZjJpUWpSb24ydlUxQm9ydW1CZkFRSm9BMlRHNEpVZUtNRHpJWnVtSEE0NlVJZVhDTDh1MUVpRkdnR3pLdHlOMEh6UVFOQkEwRURRUU5CQTBFRFFRTkJBME1CNGErQnJFRFAzSFc4WkR3Q0JGMElDbGdiei9nMFU4a0xodmNZWk0wTUJZYUFBL1U5bnZ1RFFXRWdZaGdnWnNEYnkrSDJEWllkbm1ETG1nZ2FDQm9JR2dnYUNCb0lHZ2dhQ0JvSUdnZ2FDQm9JR1JhYUR2WEMwVW5GQURJN3RWb1NPaGdSUGVsOERXVndNQlNTUFdRTjg3RVFwT3FJRVIzN0RRM1FudlMyRHJxNEdBb2FDQm9JR2dnYUNCb0lHZ2dhQ0JvSUdnZ2FDQlY2d0djdjdOc2tBTisyVmZzYUFZNndzUCsyWEgrdllFNFpJYUNQdGxrem9KbFBIV1FOZ3ZPOTczSjBnWE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BFRFFRTkJBMGtJSUdmdXc5em4vQS9Yd0tRb1F1Z3daT3JJRXZPNEJsckhmaXVvRXhhR0QwR3NqV0U1QmxvNWNpOUJnMGNHSU5WSktJZmY3RWxRTmowTURJTlpBRHhGNTc2SEo4Y0JrTzlqRCtQckE1Y2lsQ2gwRURKOWJBVSt6bWZ3SG0zVFdzVWR2QjMzQUVEWXl6Qm1xSFpSU3Z0SXkvcklXLzRRZ2FHR01OTExKTFhEcFdobFB1TFBPdXZURyt1aURhYmFpQjZrMStVUmtPMW9VelJMZisrSVhiVUN2aGtzWllBNlYxTHR6RkF6eE5DL3dxY1hNay9OVjc2Szhyc24ydWY4dk9oMXpRd0ZBMWtHR3J2UDBMUEs0MVowZTNuTC9pdmVWekFTNHlEdmFoQ2hrYUR4b3dHcGlXdzNyNzIwaGJldEdVWUNyL1UxM0dQdnNNSHUvNGE0dzVwWnkzSFpiS2JKMkYzSkExa0JkR05pcmN3STRxQ2IrMHcvU01ETkM3bkpRbVpzeG5mSk9NZ1JJME1GQU4xTmV3dVM2M3RiVGhpaG4zRnhsTElEcWFnb1dJRnEwUTBrRURJOUZBUmhqUTRrdHVid1ZtM052WTR3TzBBYktiYnFXUUR4b1l1Z1l1OHJCc0ZIL0g3YW5Hak9IZFpZS0w4dFFLWG5lQnNvUjAwTUFRTkxERVBkWThlOWx0bXpIdTVISXlXTlI5cDN6eFlJbXhGWWNZc2tFRHc5ZEFnMGVxTWdTZm9rOEljNjNwM3F0Smcxcjl6aHpsMEt3aEVUUXdaQTJVdU1lNm1JQXN6SzVNbEtEQzJJNGpSMjE1bXJFTmh4aXlRUU5EMTBCZWVLd1hFNUNkcGU0cnVLMnJ0aWdMaHhneVNIZ1RObFBJQlEwTVhnTlRBcXN6Q2NpQ3AycDZxNXVBbHlSMlhvb1dHRXVFR1V5VmtBb2FHSTRHTGdpUGRTNWhNRWxZTm9LNHJBdk8waFpzL3ZKRWE0Y2paV2cxYUVCcllGZDRyRXNKVE5Ld0xBUU1IRmQySGpaKzVSbUozT29HUXlKb1lMZ2FxSW1BNnhJSndvb09TVmdXdG5XNWV3eWV3dFV3eHNKV3J1SGVuZEI2VWdNd3VITmloMzNYS1NSaDJRYnJsWjNTNGdvUWFna1AxK0VLMmFDQmdXdGdtb2w5c2gzWFlKS3c3RDlqN0ExT3g1bmVIbENLZElibWNJUnMwTUJ3TktDc2E5VTFtRG9zbS85MXhsN25kbjZCT3dvUStrTGtoaU5vWUlRYUtNaHBWOGMxbUJDV2ZlLzI5dllqZDhYczMyNG1CR3BlUXRKdTJNcVYwRXdnREZzRGRibUFCWkF0VzMxQldGWWQ3MDFBTmljV0ZpQ1FrQ2l5R2dtWm9JRkJhd0JXQTFaNG00RFFMYXR4SFpiTnY0Mnh6MWxGVVRRbjVtcUE4MlduSkdTREJvYXJBZGpaSXV3a0pEYXNya2hZOWs4VFVkbkNHdWNGbks5WWxVSW1hR0RZR3Fpb0NkU011NzVGd3JJUXpMSWpZRm41TmdMNHUydkRsakMwSHpSZ2FhQ2tBZ1VRSUxobGxaQ3diRlJWdGxoeXpNclhGV0FyMXcyclVzZ0VEUXhaQTFuOTZpeUVZUTlwWnlRc0M5ODRjTHlHN2tmNW03ZlBmQ2xzNWFJNkMra1JhQUJtWDhwTU1ybW1JSHZWWVZuTXc2NFk4MDVORkFIUTllSHVsaG1CMEtHTFY3SUd3SmJ1eSt0dldxaU13TGN0YTgwQW0zbHpNY0l5ZlNSZnZOVzFRaUpvWUFnYWVNMHZxVWIvOUtDc2tuaUdZSURKQW1TcG83dTdMb3ZDVmk2am81QktXd050TlM5RFFjQi9JQ0dEdlBsNlFkM2RtWkMyMktIL1Y2NEd1dFFWdUdqNXNqUEc0b2F0WEs5Y2hJemRsWmVvYXd0ZXdvYVJzS0g4Z3JDVnl5Z2xwRkxYZ0FrbGdDaGRNMHVEZHhIcVpTMGRGT3pwVEVnRURhU29BZGo1dmFhN2g2QVdpZGxPRzc4Z2FvU3RYRnBMSVpHdUJpQVN1NndsZUpJeDh2V2p4b1l1aU5xSjNRZW1MS1NDQmthcEFScVd6ZGRvakRaTDl4c3VVV1NQVXI3UVY5Q0Fvd0hBb25aUzcyWHNJNmI0U2ZxZkNoZkNWaTZqbVpCS1ZRTU40NzIrQ2Q2ajFmQ05NblhpMWthd1pYRTlWVGxENTBFRFhBTlAvSzg2TzNnWGJuMTU0bi84UjVoN2JXcTkvRTl3RW41WDVmTHZLTUZLN3JzTW5sVkJPQWNOakZZRFRiMkRnQ2R1bG5YM1hVNlFjekZZcnVVSDlSUTBaMGdFRFl4UUEwV0pSVHoxUHZBcTBuTzM5OUNEVjlsSEJTVmI3OEVmNEY2NW52TG5OLzQveUFaMFZrY1FNaG9BQUFBQVNVVk9SSzVDWUlJPSIKfQo="/>
    </extobj>
    <extobj name="334E55B0-647D-440b-865C-3EC943EB4CBC-67">
      <extobjdata type="334E55B0-647D-440b-865C-3EC943EB4CBC" data="ewoJIkltZ1NldHRpbmdKc29uIiA6ICJ7XCJkcGlcIjpcIjYwMFwiLFwiZm9ybWF0XCI6XCJQTkdcIixcInRyYW5zcGFyZW50XCI6dHJ1ZSxcImF1dG9cIjpmYWxzZX0iLAoJIkxhdGV4IiA6ICJYRnNnWEcxaGRHaGlabnN4ZlNoY2JXRjBhSEp0ZTJOb2IyOXpaWDFjSUVFcFBWeHNaV1owWEh0Y1ltVm5hVzU3WVhKeVlYbDllMnhzZlRFc0pseHRZWFJvY20xN1EyaHZiM05sZlZ3Z1FWeGNNQ3dtWEcxaGRHaHliWHRQZEdobGNuZHBjMlY5WEdWdVpIdGhjbkpoZVgxY2NtbG5hSFF1SUZ4ZCIsCgkiTGF0ZXhJbWdCYXNlNjQiIDogImlWQk9SdzBLR2dvQUFBQU5TVWhFVWdBQUJBa0FBQURIQkFNQUFBQ0poQmRsQUFBQU1GQk1WRVgvLy84QUFBQUFBQUFBQUFBQUFBQUFBQUFBQUFBQUFBQUFBQUFBQUFBQUFBQUFBQUFBQUFBQUFBQUFBQUFBQUFBdjNhQjdBQUFBRDNSU1RsTUFkdSs3Uk4xVW1SQXlpYzJySW1hcVk5TjVBQUFBQ1hCSVdYTUFBQTdFQUFBT3hBR1ZLdzRiQUFBZ0FFbEVRVlI0QWUxOWZXeGsxM1hmNHk2WE85emxGOXkwVGRxZ3BEZmQrQ3YyRUEwRWZ3SXpsZXMwU09NT3ZhNWFCM0x6eGdtQ09IV1IyY2FPMS9YWHpHNHFHNGhrRGVHNmRnQXJHS0p1b0g3QUdGYXU0aVJTTTVNb2d0TEt5YkNiUm5aYndFT29mNlN0WFhETkRidVN1Tkx0Nzl6dis5Nlo0WEE0WEE2NTcvMHg3OTV6enozM3ZuTi85OXh6UCthOUtNcXVBVFR3U1A2MUEzQmxMQ2RhQTE4VzRzVVQvWURadysydGdUOFJHUXIyMXRJSjU1Z0FDTVRsRS82UTJlUDExOEIwREJEOGRuK2VMUFdrYTJBTElQamhrLzZRMmZQMTE4QU1RUEJTZjVZczljUnJvQVVVRkUvOFUyWVAyRmNERHdJRS83QXZSNVo0OGpVUUMzR3pkc0llYy9yakoreUJEdnR4VHNNVUxCOTJJWGRhZmpjYjR2YW44cW9RTzdYOVpiSGN1WC8wZEg3Ny9vL3E3TDlFOVAvMlkzL2xrNCsveG5JY1VhQWdObytvNU9OWjdDUk13YkE3Q0ZkYnlJenJacEdlZlU3VW9taEtFbTVSL0FndjFHTHRDSXMvZmtXZlFiTVZoNnYyUDZjV2YrOHpiOCtMM1ZWSTZJcU5jVUhCS1NIYXd6M1RYWnFyS2NSdC90R25MNkJWKzF5MDkzRHJ4OEV3L1J2aWU3aTFDQVd6ajM2Q3lIMnkzWWtrUE5UeW5Tam5wSlNSUTV1OXdEOU1TWlQ1QkVVOWg1eS9xUmwrUnJ3bHdsNkVRczJ2SERrS1psRzFsWDUxejlKQ0RWQmJyb1VrSGZ1czZJdUMyVmlJTjltTXpaMk5ya0VCMnVDSWJRRk5lNVpzM2JMQW5ockFDRXBPWGZxNm11K1BBdXc5M0hZWnA4VHJXZ1lGMFpHam9JU0h1cEYrcEl6U1N3TlEyRTBtYmZaL1FwSDliQUh0Ulc5NkdUOVAvR3BFT0hvVXhLaExqMkhPcTNJV3RCcW9DdkdLamVqQTFKVjdvRVpjNVdTS2l6ZUYrSDh1RmtVMDRUUW95Qi94aUNCUFMyUW5wL3ptMlNNY0MvRnlrdVVzR25UN3E2MStLRWlhZ2loYVJDWnRDNDRhQmZWYnFQdWZKNThxaS9mVUFFMFJscEtwWnkvZS8rbFZUUHo2MklKS2F1d25qMnhNVU5CNW9jQll1T1JUWm5HcmdXbTAzYnFOQllGK0tHQ21Za1FhRHhSTWlzMXFkbUFpYU1zOUlqU2N0M21lZmlpZ0JjZlZSRFpvZmp4UWNHWW5ndGR5eEpQVmhITEdPMHJML20yK2l2MVFnQlpQelN6cTQ0S0N4UmVqTGFaKy9GTm1WR2lBVUhDWjEwUWZGSkQxVC9uZzhDbkh3aGJrQU91U0VMdjhVMlZVUmdPRWdqV0dEbElmRkpBbnVKek1CUmRqTEZBd2cxV3dCaVk1eWZwbDhaNGFtRU43THZDcGZWQUFKVFB6aDNnOFVOREF6aFpHSjhFL1ZVWmxOREFjQ2dxc2twdmpnWUxXU2hUTm80STE1bkV6RXF1Qm9WQkFic0h0dExqU1dLQmdqazVMME82SUhwN1M5Y3dvU1EwTWhRTGFoMHd0TzFNSEhBZS80QnJoOHdCSFo1SWF1aHZpUTZHQWRKeGFkaWJWandNS3FyU05STzdyNXQzUWZxTjV4cUZRMElXT2w5TGx6NFFvbVB4RS91TGJWa08yaDUrTjM1Q2tSVkdhT3ZtVlMrTCtqMFRSdlpkdC9vZWZ6VE5aYmJJSlRFdG5sLzV0dFdCSTJYMHZEUXlGQXF6SmNNdk9jOFl0bDd0SmMzbHhBYWVieTM0TnZnTUM1bkQvMnFkRlVacjZxM254NUNmdkVXK2FjdlBSZHdweE1TOTI5bXphOHpza25NWXNCNkN3dUN5VzBzQlFLT2hBeCsyVXFDajMxelNOVUREYmV2MXFOQlVIWHVTN3hPNy9pbkkvbWVpbWFlcVV1TFVLVVZmenNRVWJ6amgrTmNvOUwzWW9vZCsxSmZjU2FjdXozWTh0Uy9NMU1CUUtZdWg0elplU0NCTUtydCtxZ1hyZTc1SXp1ZzBmQ3RxU29UWjNONlJFMlBWMUpSclYvRU1LVmNORERTclIvODNsMnhTbHhUQ2QxVS9Od3J3R2hrSUJWTnpYOXdJS1p2TmxLaEFiMTNhbE9kY3kzWFBMMi94bnFIUDI1R2pITk9XaWVFbldINnZVVXE2TWNEOW5sVzlDVzZVclhIcEc0elF3REFwb3VhQnZZd0FGWi9RaGo0NlE0elFWL2FkMmRFQlAzVFNWWWFoMSsvK0lNeG9GYVB5Mnl0RGlKaWRHRnU1ZE9oS1A4L0NvNFEwWnluNEcwTUF3S0tDT1podUtLd01vV0Z4UUNTVzNlaE83M3RsMHhvQ2hObzJYaVg4N0tiTmVzVmhxN0xGTDFOSVdJRU1CMXpDOWFNT2dRQjR4WE8wbEVmUzh1SDFSSjlldEs0aEJmc1BrT1NPMmF5ck1VV08zSGFoUWdKNXR6amhpSVdEVFNHSHVVd2FkUUFHem9zSGt5RWpRd0RBb0lOY3JkY2JFMTJiZXRkcThkUSszdkJNSktGVjFjaHdFY09jVU5EWG5kZmVDWklPUHVhTGxvMndUOUVzMDRWTkdXcHdkUERRNkdlQitXQ2d3VFlVRi9XVlpEZmlKcGo4amJpSWNGUU9Pclhoem5ZSVZhMUFvcDNVM0xaY0xOSTBCYUprU1hGb1c2cW1CWVZBd3dJaGdKNUpZYkpZTlNlczROMXd0ak5QSVVZR0NCY081SlRPalNWY05wZER2S05tc0xiY2o1RjhuVGE3czNsY0R3NkJnQU8vUURNKzByYk1pSzFBM2NKQ3hSVDI4YzFUZlBwVGFZQWZxM0pHUnBqZGVTRkgrejJuTFY4Mk9uL3FLMlNNOERBcmtUTEhZUjNCZTJNMTlpNEl0NnlCUXhvYkdCRXRGOW85cDZaTTFCREJQTk1POUhCMTBHbk9yMkVFSE1HUDJ2cGtzR1FrYUdBWUZHSnYzV2krd0k3dEZRU0Z3N3V2NkgyUXN0UW54djF0enpRUGZ3aDBvTG5tamcyUFJvZnl5SVZWODVCaGlkdStoZ2FGUUVLT1pGbm9JSkhMZVdYQ0xBbVRaZEZubXRmUEdVdXVnaXAwL3RxNUExeC9qRzMyV0tzNjV1U2pBWXBlclhMRlppTmZBVUNqb29KWGF2RHhKeGQ2ZlNRVUtsaWhNSG1XWkF1cEM5eWFEelZPcFRuVDlqc2JCbHUvdkF5SmxMU1IxNjRvTDVzcjd2a1NLTVNPRUdoZ0tCV2dXTTk4UHBIMVJ4eGdVVURsRnh3eHcwTklRVDQwV3dVelhUbG5tV0VUb1I4M1ZDbXlLazBpaEF2SjRWNWlZeFhwcllDZ1VkS0hxSlVabVhGTkVCZ1dZRWlaUVFPYUNwMFpUNk1ueTJwVUNtenFtYjl0MnFGQ2wyZDlKOFk1dm1Lc0Q1ZzJia2dYNmEyQW9GS0Fucyt1elptYkFvQUIrdnB2enEzT0JxQmhQamFLSGRJT0wxMUh0MGFMOVZvcnNBNTV4TXdsNS9MUVhXbXlHTEtBMU1CUUtxQXUva2xiaHJKa1pNQ2pBZmdHREFwNEt5VmNMR2dmVWtvT2lZTkVzSENJUEZwMTcrdy9wcXQvbGxLRlFRQXNHNU53bHJpbmpFeklvb0Y1ZmRQendEbW1CaDZkS3RtOC9MWEd3Z2doR2hFRnNRYzR1SENJUGRwMzhPWWtVbWYzMDBzQlFLSkJ1V0ZyaUJEbDhkREVvb0NOZ1paa29mK2JWUkk2bmFyYlBWSkhuSlVRV0I5c1ptckVMaDhoRCtGclRnckxiWGhvWURnVWw2TGljRW4xYW5mQmdVVURsZURtQUFockVlYW9WL0R3eUlWSmh4eC9MWlFJbHUzQUlDZzFhbDAxS2R0OURBOE9oZ0ViZDVaVGt1ckhiakMyZ3ZZZE5sd01vb09WQWxwcDd2ZVhyeUV4ZGY5WElwcVVDOGJwSG91ZEsxOUJqeUlLZUJvWkRBYldlYVhJbmJHdEpoeGtVWUpUd0xUUWFWaDVKNDZqVHhzbU1JbmlQNk5DWWtqQmVpQ3RYaFNaODd6TTdmcHBVVDkvNGNDaUlxbHpEdE5aMFVSd0trTVBybXhXOTRNQlJKejAzTWsrWllOMk4zOW5uV2VwdXJ3RmNoTk9sUHR4TTBzOFZHZUlZa3E1dmpyeFNRNktBVmd4V0U1V1pOTXNGbkhkSTc1VlljaG1hZWdtYW8wNTZBM3FUOXFWcFNsSnplUi94d280YWRZSVh1MU9lRzE3cTNzR3oyeHQ3TTQwRGg3OHNNcUw2RElrQzZtcG9uK0E2US82OHZEaGJBRmZpQlpNdTM1QWhkYzVSSnoyNFZPUktkU2Z3S1ZwRko4ZUY4RW9yRjBFSUZmVEtDNUw0U0NjOXhQR01SMEw5MHBvdE5oZi9sZzJQS0xBUEZFeCsrQTljb1Z2K2JxOGlMMXF0Y3lqQXhwR1pRc2plcmV3M1I1MzBYSTZ1YUVONDE0ZWM1emE0NmtUUnRjU2dBUlRzcTFsUGUrT1FMM2M4d3JQdTBIWVVYZCtwamJoVyswQUJyUGlhTFoxbVlwczJSb0ZKTnhQa1VJQTFCamVmUjI0TkdZWTY2WjBtYU1nZGJFeis5ZDhiVU01cDNsUHMrUE5Fc01WK0hxcmZIbGVMV1F5bExMTmYrTUNqejE2NnZFZnV3MDQrTGJ6cVRZdjNqYmk4L2lqWTlFcWpYV0JQMDlVZ0JyNnU4ODVZRkZ6ellOTzFpd2NNRlFYVlRMa1Z0U1VVeXgxSVJXeThiQkw5KzF6U0MyZ050c2hnWk14NENEYzBlYS9nc1k5KzZhRWlsODlNeFNwbWVjNFFEbnJ2ZzRJNFBFcENhLzVlNlVsak1KdGZ0M1h4OXZaUFdhY1Fyb1J0djVaOUtJWUtGTFNOcUk0cThib3pRN244bWtuMDc0dkpyVzc0RXRaUDhSbDdoSnZlVGxUQU1oNG93RDg4dkZxZGN3cnlxQWNJOWtGQm9ndlF0TURmck4zQ1pMSG1TcTY0d1FySFIrMlVmOTdhZml3Qm1xRWJDR3FibkdrcVVHRE0zN1FlQ1VBeVp1aThoMFFqUXk0WTMzQXhDc1hjWERaazhXS1Rab1R5YUNyNDM2KzA4RGhIUENKQVlRRktZK2RpcFNvOERLRTNDdWlqU0svVW5FemFuL0hQbVUzSC9sY3l6bnFyQVdRbUZuVEdSZWRGVHViTnR6czdYamROVTlIa3hzVjR3TmhwdkhkL1RVck14ZHlZU045eXVGblRSY3JibHlIRXg2eVg5cXBBb1NyaG10ajBPTUpncm5Ea0tPZ21Wa3k2cVdsNldPWDl4bGdVNVA3dGxhZitCcWxSN0x6am1ZOXZLcG5FR2ZRSjJyRDVUVjNlUk41WXJPa3JIMGFUaU8wM1g5bUl2bmxGU3ZtaEsvOVVzdjJwQnNmZnNhMU01QlFWS09nb1l6NGRHNm01bHJpNVN0eUx6dVJRVkY0L2NROVZUZXgrMUJBZWZsVFZmdmVaajh0TWhpN3Y3d28yTjNWU2k3VXdPckViUG5jZzdjNUVDdDRZU3lWT3BLYnBCNnNIandKU3FyMldkUWtGSWRUTEFVeUpaQzFlUTEvUHl2M2ovSFpaVS9FWE1uMFZhYVZJWGRxY1kzZm9vNy8yM0YvVTd5SXdZcExVU2ZHOXlmeXIwWHpQRmF4SmlmQm1sTjN2KzlaejFRQ0hXb0lweGM1Qm1vWVNyRmNxN25jaXJXeUtOdmM1NTdJWWtuZWZQMm9Va0hXMFk2eXNXRjUxRTYrU0J3cjJRTUdGKzU1UTErT1g3T251aWRaNzZ1dEJZUVFEZkVudnFkallhNlJPaVFzWDczL2k4VXNYTVA4dWJaT2MreTdremFBT0FORDFSNEdVS0VHZGh2Ri9TTDYvUm56S01VN0VNdXRiSGNXR1d0c284YjRMYm9LNWhUcW9ncE9HZnZLWFNVclpadFdCT2djdXkzVGtLSkF1V2MzV0I0R3QwUTRKTEFyODhvTHdmSWlDNkdwTE5nMjlxR2F3Njc4OG03LzQ1bUtTTjZUS1BjV3JUNHVMWC8rZ3p6ajdnNDl0UC9uOVBtVy80ZHdYLzUycWJqbVpzeU5xU1pJWHh6em5zaGU5ODhGRnFqYU1vN3ZNaXgwYzVVQ2gvYUdndnB3b2pMNndLOTd3NlZxQ1BJN1JTM2tGQWZ5V0UvV2JkbVlra1NLalI0MkNuS0JQVkJiOXFrM1pPWk5QSFRxOFB4UTBqclpQRFAyVWxORmlJSTJDMHozbmliTEVvMGJCalBnVlZINVQxc1g4eE5ZSk1wU0QzUGVIZ3NyQ1FjbzYycndTQmYrZ1FMZHlvaWFOL2hiL3FGRlFlaVY5Zm03Uk9jNkpoeGttU2lmL0JtL2FhbkdZTXNZamo5aSsvL2MrU0NkWjB5Z29oSU51c3I1SGpZSjRoVlpnUWpOYzl6WmVrL1hkZjN4L0tNanZ2NEF4eThHaElHY1hOZm5LSGpFS2NJaUtMUFp5VUxtWmtUb0crMExCZEwrMWxhQ1NZeHZoVUREaExXVnlGVDlpRk5SdnkvOXpyZ2RWbS9UM2RJS1VZU0kwNHBRSHpYaldyTzhQbW1IOCtEZ1VuT203WmlSZnN4K2E0enY3V0owWHVQTnp2ZGJIaDZvYjdRNnNEcHJ6Mm8xQk9jZVdqME5CSTdrZm1hajkwZG9DZXIwMzdjOGxkRi9BMnRySUxqeGh1RGJaVDNKMWhBWDNLK2NRMHpnVVZQZFE2TkdpUUw3ZUc2MzBRcWlWclZGdUpkUVR1MVZoVVdGc2Ryc1dFbzVoakVOQllrVW05VlJIaXdMNWV1KzhkemhEMWErN3Z3TjFxWWNLQ0Z2N09JeHgvdmk3QmR4TUVYczFnVXBTa1NORmdYcTlkNXc2UDNmR084YVpxdkYrQ1lVVXlIcExxQzczVGpzdUtZd3RPTGVYdTMya0tEZ3J0empRVElrdU9CT2VPem1RL3NudFdCbFF3dHdKR0JBNFczQStQVkY4K0tsNCsrdDJoMHlqNEc4L3R2M2VmeFBxS3ZmZHg3ZS9scUJob3oxTi9ZbDc4anRmTDBhVHI3SDVjOTk5ak1scWsyMmdJWThWZGZ3VDNESU5Td2lXNTZBQldpN1lIRkJJNmNVQkdjZVpqYkVGODZrRm1KK0ZWbkNaWFd5Rmd1ZkZkbDZJdis4LzNGeExpRmlJMTlkOFlwU201djZsMk1YKysvWm14UjV6bXNUaDYwdEN2Q2ZJeVVWYXNwT2kydTV3cjJURGdjMVZqbjhZR2g3UUhBYmNNL3VITnZaa0dYOEdCZ1dscEorRjAyci8vdGMrOTRHV2VJdDZIb21DLzdHTlB2OXozb0ZKbkwyUDZZVjgvNndUanRBTXRTTG9zRlh1VlR0MjdKa3RpSmMyb29mejRxZjJVSm44THFEODgvN3RCT2ZnM1RlUk1SMWRkTWM2MDRrbmtjS2dvSm1ZaW1NaDdUL1FvK2NXOVgvV0NBV3orWThScmVWM3lZNXF3NXkrVXpxdU5QV2MrSThteVN5K2JvbmJOZEJRVkZrbDlmcVYzd1dVZjk0M1dRMW5MTm9tZU1BN3VRWHJCNVJ4dkxJektDZ2tQS09DME4wdTEzcXRmRGhDd1hWMVhLcnUyZUVIRFIrRzZLTFZBa1BkTXVaMnh0Z0NETVJyTWtjMU5ScFpRU3BRZlZuZUcybWIzUm5aZnRJTVVIQVM3SHhDZFgyaURBcmsvNkpkRnZ4MXNxMWlqK2dqdFlTQ3VDaHBVTmlLU294bVhXZXNPQWVlb2ViY0g2dGkzYUdyQmtBb3JLLytaL1dHYnhjTnBjczF0MnJDaEJuNi91OWJxUW5JL21VY3J4d01DdERHL2pOMGpLZEU1MmhybEFJVS9CUHBxY3ZYZEtyT1NXOVZNRjJjL2xwZkpFWmNEUFdjYTY0dGhRSkkxbGlDajdldU12Sy82cnVBNnJ2UkNZNUZZV3JpSmVTKzhMZDZYVDNSaGpvWTNIdVNUblF3alFMOHgzM0JlMlNZOXhkVmxNNThsaWtJRlB5K2JqVU1vUm9QR1A5ZEs4UkNqUjNrRmFTbzNobkJlWVdDcmhZTTJRVm5ScWlvNUZYUi84K2NSMTBTelZoeEpzYmx1Z2ErSHBlcHQyUFdvZXVKdjd5a0dFNGVJWTBDTEIxdWVzL1p0VHY1ZGFoVDRnTW9zRTZjbmJFQkxjczIyNVlaOERscTNYWDMwd29GTFdkRzNGK3pyREEvWUE2QUV5S0xmZ0s5Vmo2eGprVEpKZkQxdU93a05SUVR6ZWI5SjBra250Qm9HZ1dCYnlmZm9sdFV6ejRQZFpZcENCUlk0NTgzUzNaMWh3eHBzQ1ZueEZFYmJrUTRKMUdBQWNGMlRCU3lTbVh3bDMyOU4vd0hDMFROMmswdmR1RVZRUGtlR0JEaTcvRkZSREFGQ3BzOTBrOGl1VWxhS3Z0UGhrSGRhd2NNa3FiRmFkTjlnemlCZ3BkTUR2dnZhUWd5TlBuK3BSVVo0NmdOMStaelV0OW9VajNveVBjeVhuWnlrcUd1S1pmYytJVXdkVjdjRGduRHhjajdhUStYOWZqbVNxTUFjM2JaMXVxWm9HNnpTQWRUcVd3dVVHQmZueEJya01CQjhIb1FabjZTbGFYV0hld21aY09WaEp2a0FZUHJ2YlZaV05KcGRCaG9MZVNiOXlzUUp1MG5WcjNySmdqUVRob0ZhUGVhVTl1OHA1UTUvUzlIb09BRncyRlFnSEhFb0FWSnNDQVNFeXdWMlcrWkVuNmM1RUR4eTNTbkMxM3hoZ294djFQV2FnRm15UjQ3R2hSZ25iVG4yOFdaR3AwUTBsNG9xREI3ckdoRzIxSUdCUmd1bEtHUWVvRU5rRkJpcVhTQU9QanpWdDZibThJM3RhTkRTc1gydTRBRUZvY2N4VGR2aDY1VXZzRUpaR1ArY0hEMms4S1pSZ0ZhcnVhZXJ1cTF1S0VDQlVzbWJGQXdINkNBL3ZKU0JndExKWWdJOGY3L2JVVFE2OWNXVEFSV3hJNDJobWJ2OXJ1QTh2anBpcVhMd0NudkRVRmh5dUN4U1FEeXR3ZG5QekdjYVJUQVYvT2VMdlphM0pDQkF0c0NzZFo5S2R5QWdUYmJZT2VwVzRRQzJBTzlCWTFodzFwNk9sR28xcVpOWWQ1OVZteWJUNzljUUo0bEx3bkJVYUJnUHJGSkdwWndjbU5OYW8reS8zd2hDcEJxVzl4d2NTaEF5L3A5T0ZaT0hrK2xRVjFlYWx1YW91ODFuMzU1ZTJoVFRKSHlUcE1VNzdvUkpHS1Ywa2R2bURab3JDNk95MHNlQjMyaXdmZ0dRTUY2VWhLSEFzaEpvSURBdzFPam56RnQrVnNrbXZ3RS8zcGRzandUTDkwMFgzNzV4amVRd1MxS1NvWlIyQUk4bVhWY1RhbDN3ejJOZ3NBdm9ERjdPYWtIRGdYVjBLdUxsVHZCVXlQc1BhdEx1dU0wOTE5TmxzSEZZNjhtK2JBOHNKOGFnWGVZYTNsTElWd1ZUaWd0allKZ3BqZ3dDdEN1dm04Zkt4VHdWQnhWK0FzS0JUTFBvQ2lZOE5jeDBGd0ovMkVVS0pDZkp2aXBFOXJVZlI1ckR4U1FzNytlek43REZ2Z2pRbDQ1YjlWd25OQlVramY3M1JpaVpmZWxFV0VRVzFBM0M0ZVV2NUR5SDBhelh2QVFLck5BQmR4VlZ4b0Y0ZG9obExLU1ZBaUhnc1d3Yitwc1BGWEp5LzA4bUdnQmtMekRZcklNSnQ1WjhvalZsT21lTnpzYUh0Y1F3UW9tTDdVaDhoM3JMR2tVb0dzVzNTUEZxUm1aM0Vld3lEQXp4YTBVQ3BZaGhLY2E2WGhERnkwLzBRclFwcUgxdm50dkZBWVQ2dTJ0VlZLdXVyak5aTjczK1lKWlBQSDdHRUVubWdSdEptYUthSlN5ZStRT3YycVVRa0VqdE5BUWVobENXT3ExTlNNZUhnRVdISU5WSTVPVXZwK1JhOUtHdnBVNkJNRHVLVjVEUlhwY2RodlRpTlQzQisvQ05lUTBDckI2dCtrVVV3bTlQcG5BalFpZ2VjTTJOV3dSdkN5MWdmNnZyNDdzMExGYVlqTEVIdmRGMy91a2IwY0ZxS0FWS204SjI4Z285WUFBeUwzT0YwUXRJZDVvOHQ4bDl6UUtzSHEzNWg2Kzd1MzlHeXFIQW5nVG5scGhUK1I3aGxocXlibVJwMlFtMU1IYUZsTkc2cDRMejhFMWRBbU9qejFyTk1UNUF2cjA1SGJOeWIwYlFta1VZRnBBeGx4ZlVJblh1dE1mSXpLSEF1d0NlZStYZ204aEIybVdXbklEK2prNVNlaDZlNVRZaitSM2MyYkNsa0dleEZJaGUrN1FQTVorN3JuOElLamNqOFN4NTJWUUVQdHpRN1NqcCswenNodHpLQ0E3V3JOUEMreW9sVDJPV25Kd21aSm1YYmtISnZONVp5b01pZTZsME43UG8xNDFQejJxdW8zT2dMNy9TR05mTHc3ZnYvenh5OEdnb0JEczA2QWRGMnkxUzNKSVoxRlE4dm02eHA1dzFKSmJIWmlWSmdOZWhEblBoSkk4dDhHV2kzV21mRGhvRUFwV3ZYUmFRUWc1Z3NSOVJXanFXdDVYamdUelo3NXlDZThvL2I4SmFpSTZIcDhiVVpWaVVMRG96cENBcCtGUEZUdHR5c1dpQUF2UFM1UW9MMGl0eVFCSExia1JaMW9kUHF2Nms5TkNXK1pNL013azJpVjkvRFR2eENieTdqc2FDM3VHZXQ5NWtlRTdRQkZkcjlub2w3c2llUzczWTdsamFRd0tHc0ZhTUlaNE82ZWFWdDJQUlFGR1UydXowYm4xOGk1SExUbVVUYW1CQTAyNmJwNTQybDhuTmtSYWVYQmhDbUhNOGFjeU1CWUg3TCsrK0ZJdzRmRlRCZ2pucWtMOHlDOTg2NHUvZ1ZsTXNRLy9tS05nM2pVblBVVEJtZDR6MHVXanN5Tkw1dkh5MWlsc3VQT0thS0kxemNCUVM4cHpKSVlaMWZvNDBXaW5tZGRzU0V1UXR3bnBRSGdVK0JLMkRFbkdCTGR2MS9QeTdoa2tpTlZZcnR5ZjNiUDl0Ujlna3d3Ui9lcXRNbndWTUZnMTFQVDlFRDgzOHFHZHRYUjUvU2lvYzdJVG5YYXRSRGtmY0d0cCtoT05kVzhseWVrTHM4TVZYVkxUU1dDb0pkZUxHM3FaRXFTeXp0dGExNEhnVnZWOVZFcWhFYUh0czh4Wk9QclU0Y0tvZEFneEkyYTZJUCthLzlNbXp0enYxZi90UmRKbjl6QXBPVWk3eklnNEtBbnpjOC9QNmkvdGxEeTNnK2NWUW9ZdUd2WnpDWDBXek5HTHMvcGNadE1ORXVSSW1RZTVWK3hzU0Jub3AydEdXSlNtb3NuTmVCSHJqajl0amNFRE96V2IxUVp5cjBJeGI3RlJCS1pib0tocGlDYlBPT1Q1ak1PRjg1NjE4eVJnUi95bmE5Rm5XbjFPcGFFRjlETWgzK2VGK1JxT0o4UUxkcDN5UE9xQmcxQ3cxd0Q5eGMyRE43Z01PeWFIcWpVMUFROG1QWVBwK0VWUXZtUys5L0twYU5aK0JtYVZXTEVDTC9rbVc2YVZlU3BHQkYzSmYyRzc4NFBhakU0d2EvaVRYNGxsUGI5ZUpubTRjdjlIZm41R2lDZXY2RU5ySUo0S3h6SEpPUFJQTTl3TE5YS3Vxd2VjeW9jdWlVbkduYnAzMmNaenFIalJ4dElCTklIcFF1bkU0U2xWcUd0bHdPdzlVWUJsbzNJZzQxMXdkOS85dWIvWnVsa0R1WUlpNVBYbjhnaW9DaXQrN0E3ZCtvWFBmU0FXdDRuUlhDbHFTU3pjdS8wRFFNM1BPcjh6ZWg1dnluajM1MzQrdVVWRVFteEZsN1JJMm9yV2wxdlJhamlmVTdNZDRGWks3VldSTUZpc3NoU3EwU0RENFErR1Qrb3E1c0lVU1pzOVRXbVZUUkxkOFdTSGdZSUNsSFBETDZkUGVGNSt1RVYvQXVZK2ZDM0I4blpzRjlXazcwaWQ3MjVTdEdLKzkwSW9NSitCS1ZNSzlvaGp5WGg3UTBYMWI1TGFlSWtPRzlIN2EyNTVqT29ETWVwalVFRjJUQWZ3aFJsOG84WnFEQzdBaGZ2VTkyZnN0Q1JhZE5PTU1Qc3dzVG83c2w0enFJVW5XbWJGSmpzL0xVTUduSEVRdzJUck1GQlFSU3Vzcy9YYkQ3SGtwZ0E2MjhQUDV0L3duNzBtNnlXTnZ0L3kzbzhrVXhOVTJsUE0vV0M4ZmY5SGF6NG5QaER6aHQ4TEtIN3FudUZDVHl1OVo5WTBBMDBTMHRTVzFlMWkwT01kSi9MWmFiV2tOa0xiRU9YTGpsa3V2QndHQ3Jxby9hWmZ6bERoVThGQjBxRkUzUEZNV0M2b2phNVFtb2VtUUE5UHVLaUxPSldjdUdwNko5a0prU2M0MVJ4YWhrT3lCVGphZi92Z3VqZzNDaUVIcjhhK0pFeHdIc1crSlBqTTVIa1VmUUtGdllPTmFOeHlNaGx4K21kRkFqeXRBQmV6WWJaRFFrSDBwWGR3dFdNcTNJK0VmdFV2ZVN6VHp2U3cwY05WbHBwek01bTE2YXc5RmtlWGtzbUlkOU9kc0JHTUVYTjNCZ1ZNMVlZZ2RjTEtEaUhoam1mcDJqRjdGRVd6S01oN1FJdlpRYk9RV01OQVZUQkw4TXhEWWpma3NHekJLRlJBbUY0ZmphQTdKNldhdHVBSEtKeFFzSkRJajJXVUc1WlU1UVpOY0tUK3ZCSFNUb1hkYTd4UmNOWkR2WDN3c1E3ay9MTXdCNjhwaHdKNGpLNXZMSEtESnExcUY1T0ZZNjdvRGt5VWpoTUtScXpUcEdJT0lYNXV0TGpsVURBdnZHV1VDdU0zeUFXMTFMTTEvY05haGVPRUFwenpYazA5emxnVDZsNExqYUNpSEFyUThKZXQ2SVlQQ1VOdHBaMUQ5WDR0bzh6a2F0TjRqd2pZc1d1YlJ6c2U5K1lvVnd2VWxHOGg4ZVRvMUd1V1ZHY21DV2hqWmk5akhsU0RIZ3daWlNzQ2dURkh3YVEzbHZuVkh0ZndMS1ArZzlTVnN3WG82UTRZYU5zWGtnWFFJc1BMU2FLY0pDeHBhdWQ0b1NDcXVoT2lxZWNhUThKNXozRWJSZlU0RktDTnkxWTJVT0I4UGsxRnovWm1FWWFWc0tGWmFVWFNpUUREbU5zQ0RBbkdpcG1uR2V2N1ZuaE0vY0IxWlZDQWhTSnZBb0QyYzhjSWRIRmRjS3luaXFZVEsrcm8vVlNNWU5sbjBDaGdQamRDR3pkdlcxVzh1Zi82aTMvNXFjZFdzS2Y1eXhmZVZ2UHpzK0hjRjM3eDBhY3V0VTNhSkU3QzN2K1JLTHJYTmFndjNMQ3g5OW5SK3R4c0dhTWpldS9YSG8xUUJnVTA4ZGZOZ2pJd3d0OU9GclVGRHFkcWswcmVBcDM4bWYyekdDRjlhVUVLQmN6blJ0NHB4TVc4MkZtUVFzaUUwSUdCWEVGY0VEK010MzVzWDd6L2lTZnV1eUJXcHlqMCtLVUxWSlZGYkx3K2NTbGZKQU9EcXkyelJ0R3Y1c1dUbjd4SHZHbktyV1FFd2pWYmoxdUZPL1BUZy9mSXlhZTlFWHNrbFdGUVFLUU5LeHdvY0VjYk5CV2p2dWMvR2xZc3g4dU5Mc3B2THg4RnpPZEcva1NJcjBhNTU4V081RE1vK1B6dUI3RVN1ZXJlL2JKS2RvWXVpUUlWVEtCZ1N0d2lHVmZ6c1RWVG9YQlRUZjQrWVhQeDZXTkZyYnAvTzQybVhnd0tzSUVVb2lCMXRDOEd4MmE2ZkdxZEl0NGVmK1hLbFlJUWI4YnR5cFdhWWlOYndIeHVCS1hMLzJkVjFSR1ZxVWQvSHlKV2N2a0YrcWYyZWpUNXlSYmlZdWVaamVtbkhxUFFEMzBhNHQ2WnArRDdONktKUndzSXRGVUp6VjJGWExma2xSQ3UySHIrTmxNV3J5ZnJVU2RNT0dzM29xb3dLTUM1dXhBRktmOFpESjduWUd0Q3JiT3BZbHVNWDhCOGJtUlIreHdvc3F3eTNnc1VuTWFwcFZqN254MkFRTm1UcHQydG9qci9rV1NuRndhMVpXak9uanpybUY2ZEZxNks0SC9QTWRhTjV6eHlhbVhrZ0dWUVFIWlo5U3Q2WHVZWUNybVBIQXBpa05lVWpqZ1V4RVdaQnZFcmlvaytHOVJXd1paNFdRVXcwVmpaV291aXZKNmdZa0I2UmFVZ1pQSlY3SjVuM1VpbzJ3cVp6eEV3d3BXZ0hyK0x1cHdleVkvRmN3VUFBQXF4U1VSQlZPTkRubVo4c2dQV2prRUJodVQrS0NBMzBQTWZiUTFhSUxkVmpFRUI4N2tSOTNHQWhqbk1BZ2ZnZlRRQ2RYU2JvMzU2aW9LVUpTVWNidUZsRzlJbE51MFJnVGx0Q3hqaE9oTi9tK0llaVdjOVdtbzlQT1ExaXNvTWhJSmFXQkpOSWppVkVRcVdGU3VEZ3ZUblJtQlR6SWxWSUc5VDVvVHM5eEN4YTZ5Tk94ZnA5cnRQMi9WVEdJaTJ6QmZ2eWh2OUtCUnd3aTBMRy9qbUJrc2VPK0pEbzY5bkR4VFU3TFBUaU9CaWtpd2RkcVlxL1ZGZ1JuNGMvTll1TGtTdjZISWdVZ1ZoWis1YkFuSDJFLzlKSmNFbzZLS3F4aXBFWjdSNWtPTlZtL2h5eHBZZ1hGZ25DaWVjNk5uRmFJQkJRZGp1WVV4S2tDaFlUUXNqRk1nV2tLOTVLdnNNbUNQWW1ZYjkzRWpGVzZrMloxZHB0Rm56YzRKSnh5djJQMFJkN1VRNEZDQ2J6ZFNVZGVDRVc1WXNFR3BnSUJSc2hIbDZqUWd4V25CWnNXNVpwMS9GZ1FMYmYyUFRiMXZldUZMUUJvSlFzT29YTjIrc1JGUzFLWXV5bllrTEdHM1RIZGtXNkU3WGxremxoS3YwN0RlbGdSNG8yTENNakMyUUtDaGFEaHVJMFlKdEZXTlFvTGNZYUJLb3pBTEV1RGxvVTBNRHplbUlKQXV1L290S1p0NHVXTWFiaXVKUWdCVXI0MkpFcFRaU1dlRW1WM1pQYUlCQlFYcU9VQXN6VVgrMW83eVhoR1l5emp1RGdoY01wMEVCMnRldFNsYTBTWWRzUjZRY2FFN2xSaEQybHFTTVdlZW9HRnRBTTh1UHlVVGtxQ0hBQ2djOXV6Z05ESU1DZWsyc004Qk9xa2RtVUhERE1Cb1VZSlJ3SzZFbGJlNkJBa2VVT2N3YkEyWmVNZ2RoenptY1dCUTBVZmp2MWt3UmNoUFR5VEhDWFhJV0NqU3dKd293RjNPT2w4NmFCMjB0RUVNUnVaaFVWdVN0aExGQWl5K3BGRGNpZE8xaUlGSWFlbVlJRkNSV2I2bzZaZjdsUmFFV3pVNVo0Mi85QXZxRUhSelFQMTQxaFhRNTRTWXh1eWMwd0tBZ1hEdmtVRkNBeHRzSlFkSjIyMWtkZzRJVmt5SFdJejk0WEhPaUZjdkVBQlE0b3N6UjBHVlZWdEN5aW1MTmlrTUJQUWRkdjZOeHdBcVh1Yk9mdEFZWUZHQkk5ZHgwRGdWTmNOaEd0VEpKbFBIczBBaGxtNEFBYklITllGQ3dpTTVyUGhueW95MjliQVFVV0RkU0NVQUZaS3NYRm1EK3BkQnFXNlhnMTQ0SUVhVEphMGV5VURRdDNHYkxBcUVHR0JUUW5xTHVVZUJGSTlpWnZzbGFBb2RzR1VPUWQwS1BNdG5zZWtFS0JZUWw3MUl2RGttakFEc0xaQjF5WWdOMVhhYVNjTFRBWEE0RmVOV0N1blpybE1nS043bXllMElEREFxSUZLREFMYzdxelBQZzBOTTNUeHhheEk3cFd3UFlnZzRuQkNoSVNJYTdRZGpDWjBreEhhU0p4cVF4T0FnN0ZFUVBLUkFJOFRxcUV5dWNFcktMMFFDREFwcVNGUzByYkxucDRKWkdua042UzRPd1lhYURJMFJCMUpKTDJPZmhOQllreW1hYzgrK2pJTHBhUUFYb0lnaG5LTEN0TlVDQVFRRzZveHAvWlhhMHJWMzFNL0pvQ2RuTjFneTFCS3EwMkNBTWdvSm1xdHNqWTlvVzBCQy9pYzhCQUdBVnViUTA3eGtMenhZZzg3ZWZSaFdVQjhJS0IwdDJjUnBnVUVETEFadVdkejdsdENNcER4YkxZUUpWRU1zNnN1V0NrdExETzB3NGdtQmxVRkNYNEZvRXdGQ1hHckN3SkVYS254QUZVZlFacWdTaGRqSGxaYnBNV1NpcEFRNEZMWDlOQ0cxZzkyNXNadWpZQTRvbTV6MC9ja3VqNEp5Mkl4d0tLczZOc0lJNUZHQXRFM1lnTHN0UG15OWdYRmh6N0VrVVJQVGFLQUlvSzl6bHkwS0JCamdVTlAwMW9RWTNIYWhEMWV1QkhMVmNZQmQ4dGdaQVFaZHpMaGhiZ0NwK0QwdFNLQTRleXpwTkZsekpCZ1c1MTF0YVJ3S1VGVzU1c2tDb0FRNEZGWDlOQ0pGa2U2c1BRSG1qc3hSSkx1T0tFVDRJQ2pBSFRmbWRuQzNBMUdBM09pZFo4N0JMYy83RTFhQmcyZzFRcU1kbC9nQzlxVngyVDJxQVEwSGRiL2hGZjNpd3VlTjBDNkwzdWFuRklDakFRb0Rmb0VvMll3dkkzOTlRWHlxZ2d5Ym4vZG1KUWNHa0t4cE95N0w4Z0dsYXVLMStGZ2cxd0tFQXFsMnlYRlc3S214SkNKVFE1RFdmRUVWZ2RGMTdFQlRRdm9NbjR4RVo1bEJRQVJBYlMxUmFBN2lwKzI2S1F3SDZ2NzZhWkpKWTRZWWp1eWMwd0tFQWk0ZHd4L1JsejRRWWdyeWpINHQyUUVIemVTL1pSOE9WS1hsR2Qxek9PNlErdmtsTTZtb1Y2YzZoWUI1RFRWVzJNZ2FSVlhmRUJPd09CVXVVVzE0Vk9ZUnh3ZzFIZGs5b2dFT0JmMlFEMDBiajhrMSsrQTljNWxaeUFva0c4bFljRzdxQnordXRJUllGWGMrUlFQTkw0UndLTU5LL21GK2xaSUJ2cmJVcEdkV1BRNEZ6VTdvU241eHdMMk1XOURYQW9RREczZHAydU9YR0xqVDlxY01EMkRtcStZS3FBU3pRQm11VWVrWTNEb3NDYkR5NEJZUFRxa2dPQmFqRHJsbzFocDEvb3orS2VMYkFMU2cyNU5rSFRyaGYzeXpzYVlCRkFkclFzS0FmTHFndzJzTGI5TVdISHV4Q0lhVlRxbWFrS0ZwOW1lN3pHa0lzQ2lKL3RHbW80UjRvY01nZ0NYU2hMTDN1MEJLN3dhS2xzd1VPSEJVMWxXU0VLMm5aYjBvRExBcGdlRGMxWjkzNjhUUVQzSFg1cjRlTHlLVnc4bytldUVTOHBSV1ZZOTV6T00zaG9TaUNqRFdWanE5RnFSRFFsRVpCMWE1Y0xmcElSRmFETm1ScmEwbFJSOVdTRVc0NHNudENBeXdLMEVsZnEvazZ0bEZvNFBjV2JHWmozeGpRenNLbUo5bzBabWRORWV2ZTJoTllhNG9LTHUwM1JPYzF3RkFmNDRjb0h2cHRXQWZDbDBNcFFOYzYzU0hKWkp2V05XYUVFMmQyTVJyZ1VYRGRPQVpRcGJIeldNaDFFVWlDYmRqZE1CSVg5WWF1aVdQN2p5eTNQU2ZhZEthQ2ppOWMxbnlmTjhZZ0Y3OVBrUjZFdjFIVXFmWUdBT3Bhb0JKdFMwWUE1VXJUZ1hxcVNRbDk4V1pOY2FTRit6bXpzS2NCSGdVWW5kY2tVOE9kQlNWTzIzeVUrTHhyMlM5anJhQW1NNWlmYTFMQ0EzSTQ3LzI1a1Z4THFDOEVMTzVROXJrcnoxSWgyKys0OGxValI5NHhRbEV5TGxTaUtBUDA4MDMxR1pNZmVhWkl0cUFqeTRxbVkrUFpKb1RiYkZrZ3BRRWVCZmdDanZTNVllalhiSmFDRVBtMmplSDBUMGZRWjNWd1BZSlZ3Q0lGM0lVQjQrYTd2NTFmSmtxRm1wWXU5bk1qdTkvM3JlZXFDbDdrZXFncjlBMW1uVU5pejdSQmJzbHdMd0FGMzV2TXYzbzFpcDRyR0xNQnlPU0ZKOXpWTFFzbE5kQURCV2poVjI5RVV5M3gxMTJHaWRaNzZ1c3VDbnNQR056OFM3LytkMzhKSUNqN0NSVCtMRFdSNnBZRGZHN2tyVEw3REw0U2doZlg0QlUySVFxaWxobjBvNDZiRVVZbCtvd0pjUzlndFdHTkRodmg1VGppVTY0bUU3SEVpUkx1eUZrb3FZRWVLSWdtQzBKY0V1TFZJZjk4Z0lJbzkxZWxsdkdaSWZUQzVQWHcyL1B2WjhoSk52cXd5SlBmbjZRbTR2ZXVHTUoxN1QrWXVMN0xQY1dyVCtNN3J4LzBVd1lTN21lNFM4T0Vnalh1MldlLys5ajIxLzVWSXFXK25DRFFGM1l2N1BXRjNVU2VMRHAyR3VpSkFyYW1qY3NzT1NNZWN3MFFDZ1p2MnNyQ01YL2NyUHFzQm1pNVozQVVWSXVza0l4NHpEVkF5eTJEb3lCL3pKODJxejZ2QVRxTjBlYVQwdFJwdmN5YlRza294MW9ET0VzUTdBMzJmWml6ZHRyZWx5MUxQSFlhQUFwdURGcnBhd056RGlveDR4c1BEUlM0ZndqMXFGcDFyVWRDUmo3bUd0aHllMEo3UGNsc2VMcG9ML1lzL2Zob29CdWNIZWxiYi9yRGFIYWRTQTNRNFpIaVlFOVdYUjZNTCtNNmRocWdaYVBCV25jdUd4Q09YZXNPWEdGc3hyNDRFSE5wTUxhQlpHVk1ZNllCdUllRExRWjlhR1BNYXA1VlozUWF3R0Z1Zm05NWRFVmtrc1plQTdTR25ObjZzVyttdzY0Z2hvVHR6TmdmdHBiSFhUNytRU0xlT082VnpPcDMyQnJvNFBSb1pnd09XOHZqTHAvK2IrS2ROUjczNm1iMU94d05WQUdEaGNNUm5VazlOaHFndzRmdTMyYkhwdHBaUlVlcmdYc0JnNWRHS3pLVGR1dzBrS014NFUzSHJ0cFpoVWVyZ2NrWU1GZ1pyY3hNMnJIVEFQN1ptYTBnSHJ0V0czbUZKOXluUzBjdU94TjRiRFF3OTFUNzJOUjFpSXIrZjlON2tlMXJ6TkdXQUFBQUFFbEZUa1N1UW1DQyIKfQo="/>
    </extobj>
    <extobj name="334E55B0-647D-440b-865C-3EC943EB4CBC-68">
      <extobjdata type="334E55B0-647D-440b-865C-3EC943EB4CBC" data="ewoJIkltZ1NldHRpbmdKc29uIiA6ICJ7XCJkcGlcIjpcIjYwMFwiLFwiZm9ybWF0XCI6XCJQTkdcIixcInRyYW5zcGFyZW50XCI6dHJ1ZSxcImF1dG9cIjpmYWxzZX0iLAoJIkxhdGV4IiA6ICJYRnNnWEdKbFoybHVlMkZzYVdkdVpXUjlDaVpGVzNOZlFWeHRZWFJvWW1aN01YMG9YRzFoZEdoeWJYdGphRzl2YzJWY0lFRjlLVjFjWEFvbVBVVmJSU2h6WDBGY2JXRjBhR0ptZXpGOUtGeHRZWFJvY20xN1kyaHZiM05sWENCQmZTbGNiV2xrSUhOZlFTbGRYRndLSmoxRlczTmZRVVVvWEcxaGRHaGlabnN4ZlNoY2JXRjBhSEp0ZTJOb2IyOXpaVndnUVgwcFhHMXBaQ0J6WDBFcFhWeGNDaVk5UlZ0elgwRlFLRnh0WVhSb2NtMTdZMmh2YjNObFhDQkJmVnh0YVdRZ2MxOUJLVjFjWEFvbVBWeHBiblJmTUY1Y2FXNW1kSGtnY3lCbUtITXBVQ2hjYldGMGFISnRlMk5vYjI5elpWd2dRWDFjYldsa0lITmZRVDF6S1Z3c1pITUtYR1Z1Wkh0aGJHbG5ibVZrZlNCY1hRPT0iLAoJIkxhdGV4SW1nQmFzZTY0IiA6ICJpVkJPUncwS0dnb0FBQUFOU1VoRVVnQUFCUzRBQUFLdUJBTUFBQUJkNzUrM0FBQUFNRkJNVkVYLy8vOEFBQUFBQUFBQUFBQUFBQUFBQUFBQUFBQUFBQUFBQUFBQUFBQUFBQUFBQUFBQUFBQUFBQUFBQUFBQUFBQXYzYUI3QUFBQUQzUlNUbE1BaWF1N1JDTE4zZTlVbVdZeUVIWjJiVWZvQUFBQUNYQklXWE1BQUE3RUFBQU94QUdWS3c0YkFBQWdBRWxFUVZSNEFleTlmWkJrUjNVbmVydTdxbnY2bzdySFhuQW9GR3hVN3lvc3ZONndhN3lPUUViUDNpb3ZzTWlPdDY1MndNT1NNYW9HYklrSGh1cG5aTTNzQnZnMjlsb3pBWlpyYk1jekc4UkNOUUpzYTJ5MjV5bGUyQXJ2RWwyQmlUVVA3S2ptUTBpMmpLcGhOekFiQVZFakNYVVgwb2g4NStUbnlieDVxNnVtYjAxVjkrVDlvMjdteVpNblQ1NzgzWk9aNTJaVlJkRUExNWRmamRjQWpEY0tTeTRZWkJLR3VzM3dXaHVCS2grc2pFRG9DRVRtUDJBSnJZM01JRll6SWRQZkFpUEQ1VUp2RkdEdjM1bHJLNDNQMEhvQmw5UWFZMHVQREplbHEyUHJVNytHLy80VGlkTEg5M2NKTGVDU0dHTjh5VGFqZzVLZEhqT3NrcDJ3RENXVm5rMEl5emZlNjlCcUkxbllPSTJFYkQ4TGpBcVg5UmY4cmVZLzg1R2JiejIzNVM4Y1BiWGdXMHUzRDV4bk0rQnk5Q01SUmQvLzQ3N3JYNG1tUjRUTGFYYmEzN1VtMzFacytRdEhUMTFrSHNYbTJicmRjc0NsYlkrUjVISWNDY21QQ205dFJMZ3NKcWRMMGJreDQzS1dzWTJrbFl2UDJMU0FTOXNlSThubFgzRk9nTEozVmx3TmthM3cxa2FEeXh4N01hVXZQMytwRHMxdnBaU09uTnhoekxNZm0yTjdWc3NCbDVZNVJwZXBBaGErbzhYblA0VFFYT1A1bytQeW14N1grQVM3ckZ0ekU0WHlHSEhaWmV4cFY2RW95anRnRGJoTTJtZ2tsQm5BSVYzd0xRSXdSVU5IeHVWcm1XZm5YZC92MDQzYUdIRlpaNnpuVWExN1lCRURMaTF6akM1ekNuRFpvdUx2Vk1OelZGeStDaVJmcEpJeHZjaWVjMGtrdnpJK1hPWkJXOXNRUXE5VDFsTWJCVnlTNFJwbHNnUERZY25QTWVuUmpvYkwzQi9qUUNkdzJlbTdnQndqTHBkUjNTM0xFanl6YUUva0FaZEpFNDJFMG1UTVdRWFc1UmIwQ0xncy9IOC9nTVBzd1dXcGI3QWVuUGZXU0hwNXVOQTVWSGZUd3hkYkM0K0FTNCtKUmtIYVp1eDd0dHppOHlKL3piZzgxOEF4NXBmckw1ZVlGRzQzcVhKanhHWHRBQlEyRzBDbFVSUTFMYWNmY0drc005SlVuQWlQVkNWT3J4bVhBcEplWE02a1JvbDRKOGVJeStKM1FHSGZRek5uZWRHQXk1R2lVUXVIdDIvc2lzN3hSUHU3SW44MFhQNkhNZ0xUOVpmdC92UDBHSEVaYjVUOEcvSmxhejRKdUxUQk1xcmNQSURuakMyOEpzUEwxNDdMM3YwLyt1R282TU5sMmJmbE5jMlBENWRMN0hRVkZLNFlYVlNxb09JVG5CQndxZXd5MnZzQ0RNYWUzVVJOdnBDNVpsd0tjVDVjRnBnZERiUWJqcUx4NFhLS3JVSGpiTlhWQ1BJbDZ2VURMajBXR2dFSnQ2RXRXMjVienVzandPV3k3NVVLYVgxOHVEeDFFT0VqNml4cHVHcFZlbllqNEpJTTF3aVRIUmdNUjN4elF4QkdnTXU1dmxIMWNmckw5dmNpUE1VaWw5YVdSVmFvMGdHWGxtMUdsbWttd3BmUnpycG9iUVM0YkZQWDQrblQrUHpsTnJ5R2d2Q1djM3FJcXpoRG5YekFwV2ZZUmtEYUp1SEwveXJrZDFmRmZRUzQzTFpmNmlYNk16NWNOdGFqQ0d6aHpoMm80U0pkRkFkY0pnWnRKSVRZaEM4TGNrOVMzQk10alFDWDNnMHY2ZGZZY0puRHpWOGJjSG1SYUNPVDhPYThwYWtCbDlvVW8welE4T1d5bk1SZUswY2hlMXpDQ3E1L1o4YUd5d1U4MndldHV6RXpybTVNSWhZQmwvMUhNS05TR3I2Y2RiNTNrejB1cDlTUmtEVHR4NGJMVS9nU2ZBcHc2VHUwWENKb0RiaE1HN3RNNlRSOFdYTk9vTG00TER4eUczdmdaUU0zWDRSUmRxYkZXYnFERUlLZXZDWHV2ZjFUU3FqRTVjKytyZmR1cDZIQ0kvZjIzdXJRb3NoRC9lbmJHZ2R2cjBTNTl5dVp3UFEyVDFWZHpCTlZmQ2FYUUdIbjJlU0ZPeVI4RkhCcEcyNUVPZmhTaTE0OEZUZnRSaHhjTHBVWk84dllmVFpUZXE0SW9oMWNyaVRpTUgrQVRJejlwQlFqY1BrbzY4SFcrTjlUMFl0MXhtTEczcmRMaVZHU1dyaUo3Zjh3UVAxeVV4K1N5cFZaRDc0dThodFdUVGRUNG40U1d0RFZDRWViSEhVTHVDU0dHVjJ5QTZDUTBndnV5dzRIbDBYMnl0MG8veGVIN0tpTnFrVVE3ZUN5U2dhWU0vNTN4dDcxdDQ5OXBNNStTdFRqdUh4REQvemlCNjEzTDdtWXZXTTMrbkxKZWxVZGVhaE45bWNncWZETkE3MWl5SmZaMDJ2Umt3MzJIcU5hTWlWbWFsVFpSajduWENGZU5PQXlhYndSVUtyR1E4eTRYN3l4Y2ZrVk9iQmRlZHJvVUdWd2tCMWNGc21FaVBWaEZmSExlQzkwNVMvRElDN3pqVThpclU0UDk1UkU0d1Y1eDNLNGt0UXA5aXVxU0oyYTNHSFBJTlNncVl1aXlQYzVML3BlQTQwdko4dm5TRmd6NERKcG54RlFpanA4Q1g1bHpXN0F4bVZkL2lUS29zK2oyQlZGRGtTN1dDZzczNFF0cXdFdjFCL2tsUkNYZDRwM0xoMnp3SWkrb3ZqZ085NFYzWmFIdXFOZXYwOHJmd25IMEUvekd0dUpOWVFXRkVYVG9sTzRxbGtuWkptY0ppYzNBaTZUOWhrQkJaWnRWMUZzNGZNbFluelJrSVhMYVNhUUE0NXNUeFFmOWxtRVFYWjhWSU5zYktFNndHQlZTUGwwUThTb0VKZHhoZE9temRlNTg3SGlnME82ZW1QaW9SYk13VjUxeW54YlFSb2FjNTQ3MFRUL1hCSExTdnd1QlY5b2tpSklncS9WaElCTGJZcFJKaEE3Nm5MZndWbTRyS29ZM2swMnR0S1ZLNkxjaTFZNW9JN21TK3BGQ2thcmRyRUVjUGxmNURvQllwMHFQakNuK0hnb3B5SkZlS2hUWnAyd0krWnhrTHdoK0dHenZTNXJKbTlOZ1hhTTVucVdLUUJYRGVtQXk2VDFzcWRZUDdqaGpvaUZ5N3Fjdm1mNkRhK2xZQkVHMmNZbHZEalpJeXd3S1hOZkhVVjRxSWtqR0hENVF4SkhnQkdsVUVrak5JcGk3YmM5MURrRHZSV0J5NXBSb1d4Y0xWRkNKTXZTUzhMMG9kYWxoQWZBWFZIWmdFdGxpVkhlTVpKOCs2VkxseDU2UlVPRFJMZEhjYm1rWEJac2xGWTFoMG5zbXFSS0ZVRzJqVXQ0Q2k2clVyalg5TnVWRG5EdVlRbmdVbGZSMzJvQS9KN0JRbjd0S09ENHFCMkR5eG1CcjdyU0c3K25veGFmU3BhK0YxUURPOUQrbWlhckJMaGFyWGZBcGJMS0tPKzQwRy94QmdydVhobGZGKy9xdGhkVVlLOUl4a2lYUnA4VmV4VkRnQlJ3R3BEeEVtdlhFa1ZsN1laV0ZDZmdVb09ub1pyc1VESEFlcEVMODFIYlpoNmY0cmdFVDZlY2JnUTFXN3htOG1OUlBRd2cxSExwZ2hYOC9HbFZLZUJTV1dLVWR3U0VsTCtnZkladWorSnlUcmtwdjllUjJ4WmRGUk5Ga0szR1d4U0FkMjZKRkg2Q0YxSVloTVdCY0ZPQVMvMWJMTEZxRWdTWldubzc1S08yRFFvWE9TN2h1Wk5MaFNpQ1JyYU1IQ3Mxb3hwQVJUYXNJcDRoYzBUQVpkSTgyVk9xSm53NW4zQVVGSmNBNERYZS9OUUZIbDIwVlZsUUVLSmtBSTZEUzlqWENpR2NEUkNtdm42WWI4aTFIK0JTZjFVMmxyQ0ZoU1paODhFZWhPOVJ2TlNPYVRESGQzSFF2MDJsRXp3VjZ5cnQzRHRxeXdjZW5heGxOUmVwR1hDcHJUTENSTkhNY3pucXkzaVREaTdYMC9Wb0oySk13QXV5RFV4NFhVRGlyaEVDVU5jeG44V1B0bmdCNEZMSGFSUXVBU3NLdjhBRFhwYWoxRXVGNnMrckZ2NGRDdHdtUzFPWTA2L3dScElmTzJvWmdodHk3YkFOWDhDbHNjVjFTZFhOUERldjVqTGRNTVVsakhqdjI3ckVUY1FXNEdScEVjYlluc2R0WERZOXJnbWEwZGhSdUlTNVZlTVhBcTBnRktIbnBlSTJidjlUUkxzR21idGgxNlhuZE1LQ3licHV0R3dXRjRTSFRPN0JYeEs3akN3SjQ2aUdaRGx4WW9IaUVqZEk3TTBWdnlJSWgxYWlxSWhWTGxJeVlBa2hKUy93WmFwdFJjTDkrS2JLS0Z5dVdMaU1wRkF2RlVITDJLLzlOeVVDTml4bWRRS2VWcThSRklPNDUwMklvUWsxV25ZcDVCcEdxNERMaEhXeUoyRDRjbDJLblZiejErK3BkaWd1OFUwSVhHOXVxVUo2YjBPSkJVQmVXTVFLRmhuQVRhckZCSU9LRExqY1VPbFlMZzZxOXJmQkdtSVQ0cWZ1WUp2Z00xOG1oT0J5VVdzQW9GWFR0V3BDM3BmWmozMmZ2TGFoeG1tbk9PQXlZWkFSRTlEUnFWR1lrODZrb0xGRGNWa0FPT0MxWC9Hb1ZDOGFNYVlZaUFRVlNMZHhDYVVhZzZxV0Q1Yzd0cCtMeGFQa3A4ckhSeDJTdyt5NzFTL0l2OEwydTZwSnVHTlluMXlicEVna1krUFpnNzlNV0NkN0FzN09GU2wyWlZNa3B0VGUxSXBmUnVDZitLWERnYklhM0piM1YwZ2dSZE9MeUsrOUZaSVR1RnpYekRMaHd5WElvZk52TE9Ec3AwYi9DZHJrMXp0UklqNTM5UG9kdHoyUnIxRWUzeW8wek9OK3c0MktDbmpTM2pHM0psbzVwVGNIMUY5R09la3d0WDgxT3RXZUE0ZXpidkl5VmNUUnRuQnByUzl4N1hmR3JlVEQ1YmFObEZnc1MvM1VDRTdDaWF2WEF0bXcwZktzRnQxR282THVNdit1THRuOVM5YUc4ZXpCWHliTWx6MmhLb011VkhKM1ErVXNYRWJMRFRIZzFIY0p6dnBwR1A5TlZVdmZpOGh2NGRMYWp3K01TMEFhd1EyOElPZVRxcDhLKy9YL2djM0NoWFVHeEdWTWxOLzIvWGhXd0tVZTFldVNLSHFpZFkzTHFta2JsOUg4SC9QeFZ1OW9GRmUwZUlEenBRNDdham9JNzRkTDNGaXZhMmFaU1BHWDlGbUF4Mk1UdUFFL0hpcUt5VDhTWTh1b3B6OVFnRXowZ3AvTU10azJWSzJZckVnUlRZTy9kSTB6Z256ZEhseHNZVkZQN1BiNkVzdStmQk1PZUFXVDVPcGNoVXJjUFJFaUpJdkliUGxMKzMwUGxHN1lOZmk1RFUxVCsvR3V2WStXMWZ4VUlhL3dJV3dhd0liN25vcmJSaUlQUDVsbGFQQmtKRjlYa2hWSHdLV3gxY2hTTUFaWEhPRnpablhsK0V0a2ZKVm4xTXBiK0JJbUdZSXBBcStOUzNCZkZkTmM3Sm44ZmY1eXh4WU9RcytBRUQ5VlNjYy8xWUNld1NzZWN4SklsU1h1YzNRS1FCZTc2YkJBaEdsVmtRSXVsU1ZHZDZmaFM5VktVeDNHdGM4VHFXSndVNGdLY3MzMytFc1lGZjAwSlVVWVlSdVhBSk9McHJ5VWZDZ3dycjZoT0pTL2JOdnhIUkM2QlN4ZTZoT25WV1ZZV2I2QWY3NUQ0dXFxS0hHSG44d3lGenhpMWdJQlMwQ01GaHh3YVd3MXFoVDZCbTF3MlVoOFJyZEcvT1hmS0NLTTk3cEtpL3NUNkNsOVB6aFZCT2tVaC96ZDltVlR1ZW1aL0gyNEJCb0JQVUt0QWtLOFZQVUxpVkJlNGkvVlkrTHBUTXRPQ244eXkxeFFSVWZLSkJXZVg2MTN3S1V4MWFoU05Id3AyMWdtTTYzQjVRNVRrVDl3SndhNHZFNXBGVzUxZXVSSGlpb0NnbXhjd254NFdoYkNyV1BPakdpaUQ1ZXdLaVd2U01IbmdvUG0zN2xKVXF0bUszU0tWd0lkTnJUd3RFUmpuWlpBRmJQRUZnWFFaa1d4QkZ3cVM0enV2Z0pEc0d1THIvRkJGelNOUzlnKzZKTm1GclNBTDlkRENUQW4yM0lnaHdOczR4TGM2cFpoZzZlQ0lHdUpINS96NFJLOEZWRUtmRHgzWjE1cTFTeU9wL2lHdkdZRkNwWit4TFJ1VXZ3bnMwd1dxamhhNC9acFRURUVYQ3BMak80T2F6U05OOWxLbWF5MU5DNXhxSlFXeEhWdzBpbFl4bkVNT2dEMzRqS21pd0JjM1NxcDhDNlF1em9mTHNFWms2Y0gwQ3ltWFIrMWFnQTh6N3NtbHBtcWxWbmpUaFVKN2d0RU9tVGhIWUhaNVFnMjhOaWFQK0JTbTJKa2lhNTFzaEdiV1dBdm10WTBMbmZNNGE4ODlWM0l1bjBHUDRHamhYZDZGV0dBSGM5VHRyYTZnS3c5WGFGNkJaTmVYRllwWDAzNVhCKzFhclRJYzdjS3ExR3kyU2JMVDkwdXRFbThOcEF4dHNSMU1Td3pSRWpBcGJITHFGSmxPd0lEelhTcHE5QzQzRFlyd1hsR0hDcFVXQkl6WE50RklCUVZZWUFkWEhZcDdIRkx2UWw4NHVMTFZEOHU0ZlhscG1KRHFjSXorNmhWczA1WUVvcUM2aFZkdDd5cWt5VFJKTHNxSU9QR3lnbDZuZUo3S0ZFbDRKS1lia1JKR0FIaUhxRVJXTHkxVEZzYWx5V3pDWi9WWDVNVmZITUNwaDEzMlFtbGdDQVhsL1FIcUhockd1UkxvbUd2djRTelRIeXhnQzBDYWlSb2ZOU3E2Yys4bU81aFZsN0hlbmpKWjBoa3pHZHM0ektLclhVdjhuVlVtNUFPdURTV0cxRUtGM2diVkhiZTNsWnJYQmJOajZFMUhROVlYT2NDVmhKck1pOHU2UTlRUWIyeWVRem1SR3dHNUd4eWdmRFIwRXVHTnRQN0RsaGVucFlNSG1yVmhIaW1CUjdobTBNYWRrL29sR29DNzRuZjVOd0dzd2lYck5qYTVEcy9BWmZLS2lPN3c2YkF6SHZReWhLTUNKM0JOQzdiT3NDWEp6TWE2cFdYL2hYZ3NvNTVlaFZCdklQaUdZTWI1SHljc2ZmS0dxVUhlYUpEMW5aUVc4SUQ0alRxK1NrYUNSNXExUVFhMjNMK0J0SkYyVVo5WFNhc1c5SFVFZlFTTkx4bHNleVloeVg0UzhzeW84Z1V1akFBZTFweTRlZnFrTi9VZWZLK1owYitaRllVZmRZWnNWbnBnZ0RpVjB6TlV4ZndBbW1NOGRSNVZUU2xYYUNnbEZsdmphY1dlaTErTDVxVkxPNC90amd4aXU1Z0I0SVAyamt0YVQ0cWdGRE44bXAyWHRJTzgvR0RYVjFWSi9ML0NNMDhMNFFMNGhlQVlId3NwNVhZcXE0US9LVTJ4U2dTZDkvOHp4R0c3RGN2OFM4UTNNeC9jQVB5WnRRSkxndnhmVUtIdjNjR0xPbysrRlYrd1dDU2xlb0tTcWFYNmdHc0hDZ0U4QWVwK0FwektiNEtMSis3OUJOWTZiY3VmU0xLWC9wWUE1SzkyeSsxc0c0K0ZueTV1c0tkbndyenVPekJYMnNvZlVYKzZ1dXk5czFZVjF4THQ4VFlJanY0M3hUaDBtMmNBRC91K3RHS3BPR0s0ckpPQjF4cVU0d2l3VUVwaHNENnBMRFI4M2owSmZhdUZyd0YvMzIyRHpkeTRkNVZYWWdzZWFYaUVnTHJGeFVUdjcrV3NmZS81ckdmcXorN0M5bW1FdlVkL2hkUElpZjQ0UnpHOC8vNXNZL0U0cmNzbFlnRUZYN2M2NDdldHdESGZ5Qnd6QmtmaGQ5K2ZjMWpIM0pXSUx3SWxnTGlVbThlTlFISWU2b1plTWVGNm9rcjRGSlpZaVQzUDFFall0L2ZSeHN6dUl6K2tMSHo1MkNmYXFNS3Z5eXJMN0l5WGVsZE9IdVB1czdDdjVGcnFYUkc1TVEvNS9YM0wyT215YXVkdmRCQVhGNDRmLzg5OTU2N29IQzhISFBHWjlhMEtFeTQxUGJUZUdBZGY3V2FUczA0VllQdUxhc3F6OHd6VkJRME5MaUVadUU2Q3kzdktmNWwrdlloNEZLWlpXeDNnc3ZvN3BjM2VtOTkyRlZsWjBOUzRNMjNkN1ByVnFoYUMxZ3NmZkxXeGdQL3pFYWJXNG5uODErSC93TDR1RnZrVUo4NERWNzk2M0h2L29kM0tlZmQwTWFQV2hSYWVtaDZ4b1NwUXB6b1VHdU5ub0hpMHR0YVFlN0dvYkJoOXNsZVZrazhsVGhEMW85N1FzbzZkTzBjL09YWVIrVlFYTTQ4cjNXMEk1K2E3Q2FtQm9PdlcyMjgrYTZPQzRBZUFaZmpIUXhvL1ZCY05qZTBqaVZ5dEVFVGt3bVk3NVBFU2FmRVpsb0l1SnlBd1RvTWw0VkdSV3ZacFh0V1RVMG1yUCtZVHhaUElpVlB0ejNCWDQ1L2lBN0Q1YlNaeGpIRzB4cEU0MXJ5dmRBZzFjYkpzMkN0aWNNOFBzNng0RzBmaHN2bXBsR3g3YjdOTTBWV2FvR1JPS2RWTXJHWmpuVkNQK0J5N0FOMUNDN3pLcmFJaWtJb0hXSTBoMThGZWtiOWNQWko0Q2hhTTBIQTVkakg1QkJjUHQ0akdzSUJ0VldTVFUvYW81ek9OekVsQlR1RUVIQTU5cEhwajh0Y2c1d0V4MjhmbU0xNVA4M25Cc1J2UHhuWHRXeUtSaS9EZnZ5NjJ0N2ZXRjljZnI3TytGK0U4cXFGMTVmaGhjK2JCbm1sa3JOMkVmNkdKNHBhSTRjMlFMSGdMOGMrT3Yxd0NYRWh1T1M1VEloSzhvdE83S25hYncvRWxWcjl1aGZVN2EvbUJWeGU5eEZ3Ryt5THk5Nzk5NTVUMzZuSU4zcHczT0hzQlhYNndSVms1ZWZvMnhPclpDSXppNnFUVXJ1QXk3RVBVejljWHJ0eStlTVZLZXJJYysrcXd3R1h5aEpqdTQ4R2wxSFRkMjU4YkowOHJPRXlQN2hzdUFJdWpTM0dsQm9STHBlUDB5dWZCWGZWRVhBNUpqU2Faa2VFeTZnNDBEclU2REhPVk5mKzBZT3dIeC9uWU1pMjIrei9mZldyWDUyOUlsT0R2UnJLdnVIaEpjNWIwZFljbUdQSC9vYlM4Q0pEamFOYUFONTV3N1YyVkRISit0MFhrclRKcExUSjBSVDBsU015eUdSMmZsSzFHaGt1NTYwM3pwUGFmZENyWUw3a2cxb0dYRTdFV0kwTWw5RXZqc0FKajhKa2hSKzBwQVpjV3VZSW1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3V3UUFIKzNmUFZyNjVjUTgxUTVYcFpJTWZINkhxMU5obnRMUEYvOTN4dU9HVStXQm1PZnpEdStmc0c0eHM3MTUyWCs2a3c5ZjUrcFFPVjVUOWdzZDJJL3loNExiaGM2STNrSHlPM2Y5c2FqY25OekxsL2MyNnB1c0tzN0RWbDRqTzBXc0FsdFVaNnVuUTF2ZXphUzZZbjgzOTdDNWNTRDJFaGZtZWZibmJZYnAvU3dZb2UzNmN5Ymt4Y3ZqaVlxUXpYREt1WVRIYXA4bmV5azVXaHBHbG0rUzR1K2M0RENodW5zVm9HZndLZmI3eDNCRklka1JPZFhXSkQ0N0wrd2loNk5Nc3UrOFgrMHM5ODdhRjdqNzVtOHdzL25OcGh5Y1gzRW5OaFErUmtnY3VvN1NJL0U2bEV5d2xJVHQzeTQ3NXJsYXZtNHZMN2Zhdy8vcTlJTjZiWmFaTExMRmw2Mmk5cW5tL01udmNYWGdmcUR2TW8xdHhQYnprVEJNMnpkYnVGVEtUYUlzZWRxL0tSVFh5SWFkUEJaUzdCSmdnVjA0bGkzMVcvNFJzdU5lV1pMcm1FY2VPeXpnNlNQWmxpcTBtaXBHU0RvT0l6ZGdQWlNMVmxqam4zdW5zYkFsem56L0xybk1oNWNabC9oU3p0Q2Q2enNtcEY5eUUzL01TdjYvWkpWTk4yQy9tYi93ajBIWnUvTEVEanJhVGU4ZmVTTkVuSkJrRnpiTTlxSVJ1cGxzZ0p5SEEzV05HSzNQVW5ZRzJ4YkhMOEpiS2dmelY3a1B5SEVKcHJ1dTRUYWV0QXpYRllZcmx4SnNGU2FQUlp0SDVwakxoY2hzNTcxaTAxSDFoRnI3SkJVSjdaUVk5c3BDYnNQbTVDbWRuTHBFY1p1OEoxOHVCeXhobUtSUUNtMGIvZVoybGx1UHFrY2pGQnZlS2JkZGRUcWdEditUSGljaGFNc1VtVkVlbGx0cEVrQ2twR0NPcmF5NGVNcEtZcFBTNDZRTXQ2L3ZJTmFXMFBMay9CVUxTb29uZXluczR1ZXJhbnVuQ1FSQTRla2U4bUdIZUlSMDRVUm1QRVpRMk1ZVmxPYXRmdzdJWkVVVVlJT21XNzZZeWtKbTA3VmdxdWtvUi9WR3BVcFlQeTRMSUR6SXFOMzNQTStNZ08yN0xLaHMzOGJBelNFN2dzOUY5QWpoR1hYVkRYdDdqZHNSOWRZb2FNRUxSb1B3NFpTU1Y2VGtJU043Vm5MRVZtNVk3U2c4c21ZODZXdTI0Mmg2VzAvWWtsUFNYekQ3OVhCMFU4dUp6dXY1bHFlS0dSMGtpMjVCalVOYk9Ga1QyWHV2RElDa0d4Y1FiUWJGWlNUUThtSWJVQTF0MnpGSm1TZnMrRHkyM0duTjFtVVh1TXBXdEh5TndGVUVKY0NYL1o3dStGeDRmTFBJdEI1WXBsT3A2WlR6cDl5WlFWZ3Byc0ltazJLNmxFNUFRazU4QzRMVXVQbk1TcEI1Y3dFczZLcXFweE90UGZzVmxOT0prVjBFRmVDVnlXKzN2aDhlRnlpbFZCNXkybks1aU5mVjRVQzdKQzBKeTEzOHBLS21vNE9WY0hqR3Ryc3lTZnhpUXVrMnZScUsyQmRJaGpzOXV3Y3h5WEJ4OURhR3B4a3VNd0x6dytYTTRkVElPK20zWlBlSzdyVEVDYUpTc0VMVnV6VmxaU3Rab1RrV2dtbG94NTZUK1R1RXl1UmFPYTlwOWxXZTBhZXJYQ3pyL2xmKzFPK1hBNTR6cG9SL3o0Y05sK0drTy9KcHByRk90NDBRcmxXU0dvWUsxcnM1SnFPakFKcWVTU01TOW56aVF1azJ2UnFLYk9kaFI4TCtXRzZxQVhsNTMwYUNBWFBqNWNGcCtMR295WmJaL3A2M1RDNjh1eXpCQlVvZ3ZNektTYUhreEFLazRzR1pma3ZKN0VaWEl0R3JWVmpHblpqczVmUTgrOHVPemFzYnFFMlBIaHNyRVJ3VFB0cklHNGZqUjRaaW1jR1lKVUtJOUx6MHlxcGV1WU01NGw0N3g4blpERVpTYzVEczBOMllHNW8wYlZJeTh1NDc1UjlRaGNsZzRJWEY5TExzRWlzZ3Iyb0R0anBRRkxVVG96QksxUVkyY21WYWsvQ1hmUGtuRlJSc2VTdUd3bTFxTFJ6cnJzUlRzMWFqZG9OMzI0WENKeGU2K2NzZUZ5QWJDSHI3OVdQV3FWVTV4OFpnaWFvWk5UWmxJOVBSa2JpUzRaRnk5ek5aYmxtaW1KUzdvVy9hOUM1ZTZxVkgwN1pTeGs4UUEzSHk0WDZBRDRaSXdObDZmZzZVWGpxWFVNVlc0blpWR2NHWUlXNldJK002bTBDK05PMHlWalI4ekpVeklrbWNSbGJOYWlCVG5aRi9ka0Q3d2g1cUY2NThQbGluZkRTOFNPRFpjWXVNVnY1cm1CTGRTdGxoSkV5QXhCZVVhQ0g1bEpKV1lkZTdJRHBsVktTTitYZTQ4Z0pIQkoxNkxLcWI2MkpaZ2hacUxFWE92ZGg4dXExeCtSRnNhR3kyMDhEQWdiY3VlOUxGZHR6b292R20yelExQk1RcVRaU1RXYWpqM1ZKSmF0aTNsYzZaVEFKVjJMenI2ZzJNUjk2ckNGb00zdXkvbHdXVHhzMVRvMlhEYldvUTlGZUtwM2szMlo5cUkxdS9obEZKWEltWVlUaVV1eVpNdzd1OGdFTHVsYXRPWjg1V3JXdHhCODhwYTQ5K1pXY3R6OEZCOHU2NGxWYStHUjI5Z0RmNnJCSUhDWis2UEcrUjl6R25yeTF2Z0JseFpGU1dydW41eGo5Mzg4aXU3WTBtbzllV3ZEVTFVWFl5TEh6MEMzQVpmMnc4eVpGbE1tajM0STR2MTZtZFZHbjh3T21VZjZTZTBqWXJLTDZtYkpPTld6VlUzZ0VnL0N0aVJQY2RObVh2RXN0UDZLc1lPWUhWUnN6dFNjRDVlSk9NeDhHWlFBSDkrU1lqZ3U0WGd5blB3NHVFaEYvemtRNEx6UFA2VzBLRXBTdjlCZ2Izbm9OdmFCZWVPQlhzWFkrUVk3MkxPcjJybHA3aWR4ZFg3R0xzQWNyRHRiU1dwZmY3bFVadXdzWS9mNXFubG9iYktDUFltNHBFdkdqdlB1SW9ITERveUN0RkhCalk5VWlhRWt6eFI3OXNOUjlNWTQ5WmlzWTI4UExtSFYycks0bHVwcy8xdGZ2ZXNiN05sZFFVZGM1dXZ2YTBYenNmWHU1YlZzLzFOUjRkODRaNldTMUhuMlBMYndWQ1BXSzRiWE1mYlNxUEFvTzhDQ3RHdUZyeXRSWmZYQ2kzSjZ2V2hmWEJiWkszZWovRjhrcGdjcWxhUlhtRmxIblVSYzRpdGU5Y0NYVFZlNUJSSzRySnExNkl3N2ZSWEp4Q0xzVjZpTGdWMG1TM1JpMldUU2cwc2cyWHpiYkwrQ2xLZVkvR1VZeE9XZHp5Tkl3WnR2WVJHL3BpV3F2bWloeTBNdDdxL0pDZ3FYTUFuL0NKSzJQVE1BWitVZlRXNHMyQmNUZ0pqUzJIMXNSVkU2Z3I3QzNzTlp1aklXWWtUNVUzUGtJVXlYNnE5N0hLaUloVDJoNk92b093UWtKWEJaMUtjdjgyVm5MUnFWRXlHN1dTWi9FbVhINTFGRW05YW5CNWN6TkU0SHpETTZqdjJWbm5DWWdNdDg0eUxLQWRkL1Zja3IxQlV3ZGtpZ3lVTmQxR3FYRkM2N1REaDRXRTF6dVVxbWZTK0pUc0V5eURxaks1bEtiTk5tRjdsMEJOWGxyN3NzK3JaUkhsSFQ1T1JHdWxSUHhXTkMwa3ZHZjNpRXViWk00Rkt0UlF1Zkx4R3ppSjQydE50VlBTOUo1RVN6QS9vQUR5NVBPUnZidW5JVFN6OGtnUWU0bkpObmVrb0d4TCtnK0NLSUlWeFdHbm1vSFZhUnBlcVVPY0J4VlpEcTdvTXFPZmxOZHJjTHo3VjRRR2doK05vclZsNW1VaEUwelI2VUxQVTlYOFVFRGJUVXRGU3BtbVBNaWNKbitLOGgrajdXVWxSYkFidnFhOVZtU3VCU00wTENXWXZDOTcrMjdObzVGY09iYXZoQ2ZEWXp6M2x3dVFLek5Mbmd3T09HeURiVnVnNXcyZDBUdENyVFRqeFdmQmpLMFVmUlBOU2lIdDVGNlMrYkd0MXRyeXNVYmMxTHRIZkFGTEo1VVNBK3UzNUlweUtvcW9UY2xIaThxVmlUaHU4STZ5Rk5sV3JZeDV0NkFveVVjcVc1TEJoTGMrM1o2cnU0eExXb3ZoeUJzTkJ5YXMrcURVSFpPN3dGdXkzTWVYQlpVK0FXM0R0Nkd4U3JGeTBOOXN4NUthcWpkUUQ4NmxHYlk4cHYrNml4bVlVRkxxRWozNVh5WU5Gd1dTWVR0eG5wSlhHK1dVK1VSazN6TU5EQ1ZBVFZwVGhvMGlNdDJxVkNlQnFtZ1lvaXBrcFZET08rV3lBRGc1RXJ6V1VWWVN0ekNhNWIzZ2JNTGJzRExpNFJON2NENzBPdmFKQ2xuS2dEbUhYR3NDMWRGcFM0dmhXcUxMcUdDV0lBQUNBQVNVUkJWSWsxb2RXZ0I1ZFZhMWNCbUpIOXdEQ0NlREpBRllXakZlMnpkeFFmeUlkdHpMcG94a010a0dlbXpOa0FhQnVDSFpjQUtpa3A1dGFSaW9CMG4ydHNXM3JyYW1rSVdsSStHa1p3VlhQcnhHZFZEelVGSTFIYTNtbFNEZmVZVTlNd1NDbFhXbHlzcmhIMkJiSmlFZjF3Y2FuWG9sRWhzZnVHOGFuWXZkK1dNeEtnemRubkk5OHBqLzA5dUtTN0ZyN3JVWE15ZEZNTUZuUlpnUWRPOTV6aE9nQnF5VWlxakk4S3c2dTFMcTVqc3FtZGJnUnJrNnU2MUVuc3lBYk1BMkl4MU9UZXlTS214NGtXMUhOVUpIQXpkUnZKQnhzZTBkT0tZZUp4cVJRZDRnN2plMFd5YjdzKzFjWGxDakJMM2dWM0dRU1lhdG5OeHRKTitiM090aXlsZFR5NExGcklhQnNNbHBXYkFseXFBWUlnOXpxWEI0SlVweUN2dGtNK0t1QnlqMWVCajUxMVROVkpSOHIyNmhhTDFWVldEWUFpOGdTTEtzTDdpbStPU01mbG5ITGJabkZMcEMyb1VrS0RaMlpWWlU4Z0xtbjRzaWttUnRYYlpKeW9xcWRSbU9MMkRCK21ZSCs0WmxNVWNLS2IzcjlybDBBTzhMQ1pJSHB3dVcxTmtpVTlVVWQzS3NjQ3VLeElTWURMRFo3c0tJRHlYRmV5K3FqVWgxWlhnUjBNMHVPMThLUG9Bd1F2TmE4VmRsaWk1OEN4NHErWmhxQVZKV1Bxd2llNWZPdWpUVlRTQmFTTGFWSTE3L0ZMSUJUMnBOclZxNDcrcnI4c3FqVWREbC9MWm9ZOWhZTStmMkJQMWdJSXZXZ0xnSndIbHlXTERaUzlyR3I5NWN0RUNuQ3BHdGE0M0RINEJhYTJIRUl2RmFvckpPUlFEanhmWnRwbzZ2bEJ0YXJ1aXpxMDJXSEdZYXZTYThIbHVxbnNwbUxUUlZOMHNuRnBsb3l3c3JwaWVzMVRMaTdyWnIwMXJ5WjBWU1dKU3hqeDMxV0lVVno2WGpTaU5PMVFYTUtLd0hYSy9LU1prcUJ4V1NiNGphS09mQWE4MUNKajdCMUVUVmlqbXNoVWxjenBxaEZ4bjlYOWh4MjBYdUFhbmhYZjVKNCtqME9ydlcrYjJuWUtIOWVXVFlJY2FmVUUrc3NWNkxQcWN2ZU1Tc203aTB2Z1ZkQmROazVGTU1Qd2tORkZHcUNZN2I5RWluSnVNSTB6dVhFZ0pSNS9XYWIrRW55WlZsWlhhNWhKVHVNUytDNXJCcGhUUlZ0ZWFnZW83T0JmdGhSN3pjd0ozTk5XVklGOXIrbWRDRDRzN2tTRDJ6cXpHaUExMHhDRTdvRzlPYVd0TnBSZEpFSkVVdjI0R2VUU3BDYnFIQjlDbGN5MnBkTkM3M2w1ZDk5RDRscDBYWFp0V3AzRitEMUpBTXZLbExwMTBkWnNYMDYzaWlydXMwODd2MjNJeVI1YzF2V1RBQnlBdStSb3c3a2ZKUnZLTnpHTmlwS0JCR2VFS1BKVE1jNkRsenFOdDBNZm1JNGxCMFdycS92czk4bnJacWlzaktGS2g4WWwvcEltWEVvSkl3ZFQ5YUp2cFhDeWNRbGQxa2FOSzhJZW5Tdmk3dUlTWWFNZ3ExNzlGUlFhazdoVVFmNWZsdExvcmJ2dUMyb2Voa3R3ZkJxRFdwb0hsNGkxaW1aQU9HUHczRStOeE9NRGtnV1NJWHVnZjBhK2J2bGRJekdLWW1qQ1hNbW5CZHFrN0NxZDV0a0tEU0ZzdjZJNHpYMTVmNFhzdlRVOU5rOXNtbFROZS93U1lIa1ZFWXlVZFl1cnNoL09QSTZUVFVVV3JXeUt4SlNhejVLNFJQL0VyejFaeDl6Z0FITHMyYkFPZ0V2emRrWko4K0FTNVZSVU9YZXpDR2MvTlpxWGtHRGk0RVJSNkt3K2V5MGpoNlFnZW1oZENhNGg1M0graFYrVTZJWkVvTTNhY3dEeWRkSzRTSjVzZndtbVVONHhlbzNzZTZNbEV3NHU0YkhWVGlDM0puaE9xYVZWY24wWjNZR0doa3M3WkNrV1RxUTlEVUZGOVJob3FtL2ZZNjB2YTNTdnJLcDVjSW5yMEpZcTU3aEV2ZjNVS1BvaTZvalg3MkNWa20rMWFHVEoxQlNSRDhzRTkyZ0F6dU5Kenc1MVV6MWJUajBkYWtJeVRkWlB3NTV5MCtSbHFtRjJXNmxTRTVXT0N3RjkycnFqN0xLMnFJUExLbG1McWpyZERabEs3c2VqNkpzNDJuQlZGTGU2NzJ4RXhjUSs2ZkE0VVcxQVhJSXVCRGM0anlNdS9WUW9lS29NREhpMUlETVlMdWZJUTRWNDM0U2ExalVzTHFObENVdzlleWx4aXdmNHZMNm9zdnArb25HSmM1djdoSjU2UWZYZHdXWFI0L29hbHlXekQ1ZlJoMktRVHdJYWtyY0FDTml4b0NNS1VCdjJYZFU2djF2eHl4WFBnd0hmU05UUEVRQndFMnNoVWlxWUVCYzROSVNSbjhwWjN2aHliSms3b09KQS9ySk41Z0NNTFNUUU5HUmNIYlNZLzJOVXdYUkc2QTVScnF1NE1sYlRrcUppbkdoZFpVNmV2NlJMUnRYTG5Tc3E1ZUN5bnJUL29wN1lZZFRYVkQxekwvdzB1Z0YzMUdZZ1F0ajJiSFU5dUxUZTl3QXVOUVoxR3g1YzR1NzJvbWJBT0JGVzgxTWwyOTl0UXgwRVd6ZXBycEdrVTBYNnBic0dEWGxLbGhVU25kZTErc3pqeVBQbG0wQUgra0R4aXVVdGZEbG1QNjFZb000Q1FITHljVG5zK1VzWU1vMHNiZ1g0aUxkVXlzRWw4R3JJU3BZNVFKaTRBRk1WbGFiM1hEazVhczFOY0FOSlIrMWJYeFlwcU1FZmt2bFR0dUxCSmU2OGJWeGl0TlZQMWJvK0NwVWcwL1NlTXRGY01oRnZFRXJSbzFabnVQZmpVdHFyUUljdElobVM4OUJqZUZsSy9MTW9COXFxNHB4NFhLclFESFRQdlR3YlBlaFdOVGt6emh1L1orUFN0eFp0YXI4QjRXVUNCV1V4dUlPYmNtTHdCVHppQmsvRUt1SGlTWSsvYkZKUGdTdEV0NDV2SHNlWjliSmhoS2J3OGZGU0MrL1RmQ1ZlcWViZEUyc21rY0NmekRKWEc1cXJtQ3hQMVpKSVF2cGhDT29TTHlna1BvR2UwaE5VZzRqQWFjRnh1RlRGTjdaN0ZTeVVjam5Za0NvV2swOGkrUU50RzVlSUdtMEtXVDgrby9vS28wNmdBQ2hvcVpLU0d4R2F4dGdTckNEV0ZZZTZlM0JwbldQRVZ5c3R4YXp1SG4rSnY0SkJOSzNKcWRsSFZUK3BDTklBOVZ0ODg2NUNYNnFGNUIxL01zdGM0TVlUejVoOWJsVHpwdUR5YnhRRDZMQ3UwdUplV29WNzNUVWhmMHVnN1owaTFSWTB6dHpRNXkvcnlkVlUxNndHYlZ4NjFxTEx4ay9BdkVLZ0FKTm1yeVV0MFhiOVpmVkJLSUVSdU9LYXlvUExEdlU3MElibHFIaDlIeTYzTGJmVGxOc2hIelZuZWdCb1BzTmpBc2sxcktzby9tU1d1VkJ0dHk5TnV2NHdySDRFN1lnUUZiREIwdzA2a0N2WDI0VmNLVGxQd0ROYVVYeCtxYXIwT043Qm9pL2FldWRKek1QRzVRb3dvNUhJVlNQTFBYdGwxRFVQL2dxRkZsYm1lM2dZVEtkbGI1ekkvbjVQM1JxMnozRnRmTGlzV3BHYm9uUm5QbXFPck9lS3VDR0grWkgyOHROT2owWG56WDhkWUI2cnVQdVNZYjdmQXlzZGpYUDc2WVk0S0ErT1FBOWNQYURTbWxEbUdNempTdEZCNzdqa1dyZVpaNGhIc25IWkp1YVRkY3BrMVJwVFNUaFVWeVNUKzR0c0MzeEo0WXQ5ZVB5bFBqRExoUUd5bEZUSXh4VWsrbkFKcnAyQXZpNkgwRWZOa2Nld3lYdFFzaFlrZGQ0R3RrT3ZiU0lkNkhGeS9UZk05eUZyWUN3bG5YaEJUdG8rZzdlZDVQb0Y0aCtxVG5UaS9DV0dUclowOTNoaW16eVpOaTY3aVkzMUFoMzlNaGxodnZmZGtJSnJ0QUJvYmI1WGdrZkM5VEcrL2ZpTXRRTUhaSmtuSVNjR3hvZEwyS0laUG5oR2NOdkRsMlFKYW81ZDVXWDRVV09yL0pQSE1aR0E4NnE0TzUvT242dUNaVnkrTWhGQ0tuc1JCS2hUUzRlODFWMXNmdzFydDVPYlN2ckZlcTlVMHVxeFM4TExRMmNYdlV6akd6WXV5d2trZGZsQXlsNTNLVWd4aHIwbkM1bzZKUWd4TC9ERlBqeitFcDZjWFNrSGJnRG1uczd4N1pQZlgwWmx3bWRXREI1cVRtSVdwYmE1b3FDNldXSFBlUGRBODlaU0dnSHRtaEc4K0paV2xDUzhDTm8yVDlFOGVaNncycHg0a0RydTlJNHZPc1hEaGx4ZXFWaHdYSzhWTUNnWmR1aEdrZmdQZ0FHZHI0Q1hadmx5c0dWNlRuL0lDWGMxZXNsVTUwdDN6VGdsQzVKem44OWZBaEpKRzZDZUFYbGJlRHFmdjR3Z1lIWlp0VmpUb1BGUXdiTnFBelNGYzRxTjZ0SzNLMG5xUHVmZ0VqZmtaMVFodjhOVGQ5RWl5SXdYUVNXbWwwQ3ordWNOUklYaU9yL0RPSzBLZ3Y3c2tPbkdLMVZ6SHNORTFjd2dRdnMzR0JNQndjSWxoaTgzYUIvemR2UmloZkVsdXVDWVlnZDdrdGY5VTdxYW5EanQycHpaNHk4aGRIZFpDc0liT0hoWkhWWjFxN3lBdUZCNDRiakphZWhZZFdTMXJ2ZGRIaXIwU29pQmVpWHh4TnhwbkZPaGNWcklzeitMR2tlQ2pyT0QvY2hDUzJ0MkhaSHpJcWpJZmtQeE5tMDRxejlTZ3ZYTHVtS1I5N2JwNE1uemwvQ2ttdGtBT3Z3NU1QQkZZd0FMbCtBQ3JibHBhZHVlMTJmc0ZZQWVscHBWQzJKeGNxaWhiZE9TU1Bsd1dUYTRBYVpDekE1MkJmTzBjTU1ZTzFKeVZndzhtbnJKQmtKWEZVT1NDcmhVajlPU25MK0JwRmErczlycEt3bDRCNG1xamlDamFTdzdZcGlNMXRCcEx5N0ZnaHQ1OG80WU9IZkZMMmpnaWtqcHp4MzFDQUxGSzFWekhyL0VVMkRQN3htMXYvd055Rk43VWx3V3VsQzRwNWtMUDFlSC9LYk80MmpScXVWM3lxS2xoajFpeTcydmlxdEladEFvdW9CWEEwU3lIazl1S01sRnF4RjBtUEozM0xiNXNUUSs5KzlKWmxCUk5RYm54bjVkVUV2YVhjTE9KMEhGV2VDaVlIeGN6YzZmVlE2ekVMOVhTcWEzdTJPbzh3bENLUlNCb0NvTCtqUjlTQW1yRjBFejhpZXpvdWl6empQY2ZWRFlDcjdhYi90akRHbXVhcmxlcWJyMGVDWHlYM3ZvVmpSbjc0Yy95cjhRSUg1d3czNzlvM0Y1OTgzL0hHSElmdk1TNTcyWi8rQUc1RStUUHNNSXI1bnM0d2NWbmltNC8xSlJRem55YWhsK1JWTDNLNnFvU3VZcnBHM0xwK092Y2QyNWRPbGppT1hlN1pmV29sKzg5Qk5ZK2JjdS9SbXYrZ3VTNzk5cTNDRTVRUVd0UzhJcExjVnFqd08vK3ZZc0NJY3pITW8zWTBaZW43NU5xUGp1eTVMd3VZL0ZndktXU3k5UlRMQXJzVDJxS3ZBaXFCRGZKOHIvbmp4Q1NNa0x3ZnhUTDEra3FBWlozM2lsU3I3amRvTWxpL2ZTeXpMb2tNWWxCNldIblFBUlgrSmVORVlvbFBlL0JibS9LN0ZmTlVSTWxZa1l3aytvUEhsRjFYSi9oamdYczk3SDMvVDZiN0NmQWc1OE1TbXVpajd4clNiaFJ4bDcrRy92K2tmNVc1WktuRXVGSC9mS05YNjNGVVYzbGMxc0FMOCt2UDgvMzNUWHR1Tzl1SXltYkZDN0swMmdjMDg3NGQrRUFuNEVmWW05Q3pRby9EN2JoeHU1TUZ5aUxyVzBrTVd3Z04zVm5INnB1dmhZSlJiUTBTU3YzbW5TQzQzTFAwa3lJc1djZWNCS2RHWUJ5TlJaN3l5MDhVb2lENUp3eWxWZUhjdmRzZ3ZuNzc5SFh2ZWV2V0NXVTRrWmNWRThKTzlBTWZPODJyM25MakRBWmUvQzJYdnVPWHVob1VZUUlJblhENm9HeGQyaExvSFBod1ByOEt2VmRHcGVqbm5WbjdTcjhseXpCNHFpaHF1eXNObURadTlCVXNPc2licUpmWXJnVGtIUUg0SUc1K0I4eTBVcFU5NTJObVFpR1ZSYkprR0RFN2UrdEsyUXpHbGNKb3M4bEtxOUVzeC8vUng3NEhiSDBuaktWVjZ3ZVY1VjZUNzNuTFZzUmNiQ0kyL3J2ZVdsZmFxb29ydHZiWnkvdmFKeTZtNVQrWG1pcDE3T3pyLzl3NG9CNy9tdlF4dmZwcFRoMG1VeXk5S2FLYmlNN241NW8vZldoeWtucFBINHRMemdSK3RVVXR4bjZFSWhUYXBkNWVUa2hzUGxLUktQVHJWQmVVc1Z3VUppWGFYNzNSdmdDNC9iQmY1dDE2dnpVQWpDNDlQeVNnVFZPblNoTUpSVUpmSVkzNGZENVpUN1RIdDZydjRSRllvOHNROVBCWXowcjNycGsweGMxbkVCUjh1aEVOUlUwN2puUUZHWHJuMkhrdXBvZEJ5encrRVNuTVNoblh6Q3ZPS0RONHd2SHNvUERCMnoxaHlFZlNKNDVwaGVydGo2RElPZ1FxT2lLM2RkQnh5Yk9mN2t4UzkxdDFNU3crRVNOajd1YWpJaHQ3U2xTYkNYVGhrOHpjSVRxZjh4YjdOTlZLNld0a1FaQnBmVFpocVBtb3ppRUNOSU5PSS9qTlNKc3RNMUtqTWtMbE5IUXplUFgxWlJGMFE2L0RFK3hTRHY5aEE0aFJPYTNVNWJFdytEb09hbTZWM2JmaDBMMyswMEUwL3dsOFpPM3RUQ29RNndwbUk0V04rTzRYc2xjdUsyN1NyU0dTZW1wT0NlME5lYURZSExQSjE5VnF5Z0dpNXV6bWlaQVpmRUZMNWsrbkJJN2tLOFNlb2xZaCtrakNidE1hQWxrNXFlU24xQWg4RGw0MlJ1Z2ZkSDl1NnZhRDJyUTBpZFZKTU5wZGVROHpoc25WdDk1ZDloSFVpQ0l4aDl1VlZoK2lncmprbTdkMndRRWZVR1IxQ3VRYTB6WjUvbEt0aWhqOEdsRWxXT2NYSllYTTZsamdjYVlRbitNdlQ1bGpMSFk2K0NWeW92L2FySzlydnJGOWY5bUNhcHJKZ1N2UnhpeHYxOG5USHhvaDg2Vm5oOUdSWTliekloMFNrN2xCRncyWC8wYzlacTNPSEY3MnpBdFNiSUhaNWg5aXNpcDRiS1Z0TjJFWXBod3U3NTlBM2RvQWlDdUJCYzhxd0NIdVhEeTB6c05mdDEwcUJTSjh4TzE2ek9zUDR5MmphbVN6UzZ6TTdmYzdZaERrMUc4TFA5OERiNzNuT04xUVJma3JBd0VIcVQ5Y1pGbVUyTEVnM3VMN3U5Kys4OXA4NnU1eHY0VHY3c0JmTXFzazZqUklOTEhaZEJzbTUzYUZ6TzBiY1EyV2tUazBoZWRsSkhKbWxIUFh6SkZyTHhiSXNLc2JLQmJLUW10WjFVeXRDNHpLZHVSSS9VeGRvaCs2a2pDYys4Y3FIUGFpWWJCSFdjaFUwMlVqTTN4TWdFRG8zTHFPazVTWHQwOWViWmU0OHU1THBKb04vQWR4dk5Ca0hsNzlseXM1RnF5NXprM1BDNFhFNWZXaDJsbzExN1BYVVVVYU92dTkxbjFaRUpnaGJjMVZJbVVrZHZtTXhhR0I2WFVkRXN6ak5UQTc4N3RKcWh0TkdLV3JaZXhUaHRaWUtncnZzYmFKbElkVFNkNU93U2V3SCt5cnd5aklwVDFuZCtocW5abDdlWStQM0h2dXpqTEd6MmV6S3pRTkM4OVpEbVlJUjJWUFJ0blAyK2ptM0QwUXE0NkRkK0RtKzgrOExoUE1OekxOc0J1K0VGWExjYVMrNGthN1hjU1kyNFcyeDlNMjFyblZEall5U2p3bjNyblp6Q2E4SGwvR2oyenMycng4U3NIV2RQWXF1OWN2Z1JWYnRDTWxkZ2U1UVljRW10MFNmOWl5TjVkdlAwQzl0OVdoOTcwUmY3ZG4vK1h4eFp3WUw5UmJvYkVaZEh0bUVR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pDSkJRcnduNWhEL205cEp1MEdJWU5iSU1mSGFIRCtrOEI1TGY4UE9XUy81Kzhick1LZ2ZJTkpHeUhYblpmN0NaOTZmNy9TZ2NyeUg3RFlic1QvNGJzT3VOeitiY3ZLcVpsQitWSUZYSytDT2ZmUHdhMkdNL2pmMGlnK1EwVUdYRkpyWkpXZUh2RGZkd2ZseTBxdkFlVVVMaVgrcGJRUXY3TlA1U3orNS9ueC9WM1N3bzJKeXhlSkJVYVJMSDluTUttRDhnMG1MVE91YVdiNUxpNzN6Z01LRzZlcFdnYi9ZSjl2dkhjRVVoMlJFNTFkWWlQRzVleUFmM2VmeXZkTFAvTzFoKzQ5K3BydFdrZWh3NTVMVkYxaUxtd0lTeGE0ak5vdThqT1JTclNjZ09UVUxUL3V1MWE1YWtmRFpWL1JvdXVscHdjelFScmZQTVByK2NHRWpJQnJoM2s2ME54UGJ5a1RCTTJ6ZGJ1RlRLVGFJc2VkcS9LUlRYeUk2ZlZvdU93cm12ZDd5ak1OK2d5U3lqZHVYTmJaUVZMZktiYWFKRXBLTmdncVBtTTNrSTFVVythWWM2Kzd0eUZBZWY0c3Y4NkpYQmE0N0N1YWQ3dksraXpGaUdGUytmSTMveEhvT3paL1dZREdXMFJQbVl5L2w2UkpTallJbW1ON1ZndlpTTFZFVGtBbWgxQ3NhRVh1K2hQSWltWFQwZndsU0V3WGpjMFZHaS9vVmxWaXVaSGNTZmo0RkgvMHBUSGljaGtzZFZwcm9oTTFIMWhGYVRZSXlyT3J1akZNWkNQVkVqa0ptVEt6bDBtUE1uYUY2M1ZrWEVhcG9sSCtyTHRPQWlESExMbEQ5L0FacytYSGlNdFp3T1dtVVVXbGx0bUdTcnIzakJEVXRaY1BHVWwxbFIxM0htWnk2L25MTjZTMWo0N0xWTkhZNTUxRTBDUUhPUDV1d2h4SlBzb3lSbHpXQUplVzVhUmVEYzl1U0JSbGhLQlR0cHZPU0NxMTZnU2tjWlVrL0tOU3Bpb2QyWkZ4bVM0YW1pb2tGb1kvRzRNcUNWd20rWlNlL0Q1R1hIWkJYZC9pZGlkMUlzOElRWXYyNDVDUlZNdXM0OC9ncHZhTXBjYXMzRkVlR1pmcG9xRzlhVHM2K2crL1Z3ZEZQTGgwK0N4TklkUHdRc1BsR2trK0JuVjdIc2x6eVFXSzVNb0tRYkVWaThwS3FxY3JZeVF0Z0hYM3JQYW4yQmJQSHhtWDZhSkJmbHUyZ2szTlhRQWx4Slh3bDVTUHEyVi9qQStYZVJhRHloVmJIY3pOSjUyK1pNb0tRVTEya1RTYmxWUWljZ0tTYzJEY2xxVkhUdUwweUxoTUZ3M3RsVW1VYUVWZ0VqOFR1S1I4bHBvaU16NWNUckVxNkx2bDBTbjJlVkhreXdwQmM5WitLeXVwbnA2TWtkUUI0OXJOTDhtbjhjaTRUQmNkUlV0MC91VzRQUGdZYUpMQXBjVm42OGx6NDhQbDNNRTA2THZwMGFuclRFQ2FKU3NFTFRNYUk4MUtxbFp6SWhKTnhweXpXWG5wUDQrTXkzVFJVVFJEMSs0cjdQeGIvdGZ1RkF4ekFwY1duOGRnNDhObCsybU16eWJqV2xIVThhSVZsTThLUVFWclhadVZWSTkxeDBqYVp0YkRCNXJrNVF4N1pGeW1pOGF4UzBUNXZMajA4Rm5HR2g4dWk4L0Jwb3M1N3dTNWJ0T0pwMHVxbkJtQ1NuU0JtWmxVeTdEanpzU0pJTnlTbk5lUGpNdDAwVkhVdFdOd2FBVXZMajE4bHNYR2g4dkdSZ1FQbnJNRzRycmxtTFZmTnZwbWhpQVZ5dU9pTTVOcUZCMS9LaGxqak9ibDY0U2o0cktQNkNpS0UxRjFQeTQ5ZkpiUnhvYkxKVmhFVmdHWGRHZXNOR1BKenZHaXpCQzBRay9ZWlNaVnFUOEo5MlNNTVZxVVQvdFJjZGxITkd4N2tpN0Y1eTk5ZkpiWnhvYkxCY0RlS2NEbHFxV095SlNUa3dFdnlBeEJNL1RWY1daU1BUMFpHNG5HR0JjdmN6V1c1WnJwcUxqc0l6cGFvSWFWbmZmaDBzZG4yV3BzdUR3RkR4YjI4SXFsanNqc0pCZlB2Q0F6QkMzU0UzYVpTZlgwWkd3a0dtUHNpSzNJbEF4Q0hCV1hmVVJISzU2TnJBK1hQajdMVm1QRFpSV3NoTi9NU3dSY1FiMGFEVFlRZFROREVCeFhhV201bVVuVkVpY2cwUUhUS2pXNnF6eVZlNDhnSEJXWGZVVER5aXpwWjN5NDlQRXBkZmw5YkxqY3hzT0FzQ0YzZ214Y3FUazN4Q0ZWemc1Qk1RbVJaaWRWcWprSnR5YXhiRjNNNDBxdG8rS3lqK2lvNkhtSDdNT2xqMC9weCs5ancyVmpIZG92TWtaZVcybkZwcjFvelM1K0dVVWxjcWJoUk9JU1FoM3EzVUhlMlVVbWNQbmtMWEh2elMxdC9jTVNmVVJIZGMvT3dJZkxKRi9oa2R2WUEzKzZxeG9YdU16OVVlUDhqem1hUFhsci9JQkxpNklrTmZkUHpySDdQeDVGZDJ3cG1jRFU4RlRWeFpqSThlL010UUdYOXNQTW1SYk5IR1JWNm9jZzNxK1hXZXg5TWp0a3Z1a250WStJeVM2cW0vRGxsUE5hMThYbFh6RjJFTE9EeXFBZDZpTTY4c1ZYZkxoTThNMlhBUXJnNDF0U0M0N0x4UWFEa3g4SEY2bG1mdzRFT08velR5a3RpcExVTHpUWVd4NjZqWDFnM25pZ1Z6RjJ2c0VPOXV5cWRtNmErMGxjUXAreEN6QUg2ODVXa3RyWFh5NlZHVHZMMkgyK2FoNWFtNnhnVHlJdWFZeXg0N3k3Y0hBNXhaNzljQlM5TVU0OTllcVlyNTlvZUlQWGN0aTljZlVFMzFLZDdYL3JxM2Q5Z3oyN0srb2pMdlAxOTdXaStkaDY5L0phdHYrcHFQQnZuTE5TU2VvOGV4NDFlYW9SNjVYRjZ4aDdhVlI0bEIxZ1FkcTF3dGVWK0NpOTZHSHhldEcrdUN5eVYrNUcrYi93VENNZThSSHNHMS9ROUpPSVMzekZxeDc0c3VrcTc3T055MEpkak5NeVdYRnIwL2dTL1VURGVDYXJlUHhsZ20rYjdWZXc1bE5NL29JTTR2TE81eEdrOExXR0xTemkxN1JFMVJjdGRIbW94ZjAxV1VIaEVpYmhIMEhTdG5lcnpabmhvOG1OQmZ0aUFoQlZobThOVmszR3BOSVI5QlgySHM3V1ZZc3FVOG1ibWlNUFlicFViOVZqUVVRczdBbE5YMGZmSVNESnh1VXNrNzl3c3VOekVFS0U5ZGxQOUF5TnY2bGFIbHk2ZkRNNmp2MlZubkNZZ010ODR5S0tBUDk4VllrcTFCVXdka2hBeWtOZDFKSEdrc0psbDRrWkFZS1RYSzZTYWQ5THdncXdWa20rSU1CdHlhYk5MbkxwQ0tyTFgzZFo5RzJqUEtLbXljbU5kS21laXNlRWhOK2RhcUd1Ly9BSWMyMXA0N0lrZ1JETkR2aEk5eE45eXJkaDllRFM1YXNyTjdIMFF4SjRnTXM1ZWFhblpNRCtDNG9QRHVtYWpZbUgybUVWN0QxYzZwUTV3SEdWRTJCdkpyNFhLbkxPcDV4bHVtQS84WUJZNWR0a1cwSUtVaEUwelI2VWJQVTl3cCtlQkMxMVlhcFV6VEhtUk9Fei9OY1FmUjlyS2FxdGdGMzF0V296V2JqTXFXMzdWTU1Yc2JOcjhsdy8wU3YwOUtXcTY4R2x3d2NISGpjRWQxT3Q2d0NYM1QxQnF6SWRVSWdWSDRaeTlGRTBEN1dvaDNkUitzdW1SbmZiNndwRlcvTVM3UjB3bm14ZUZJalByaC9TcVFpcUtpRTM2VlVWRlpkTXczZUU5WkNtU2sxV0d3L2xDWTJ3UkNMTng4RlltbXZQVnR2QzVheGEzNWU5bzFXd3EyS3VuK2lhUWptdDVzR2x3N2VqdDB1eGV0SFNZTStjbDBJNkdpS0FYejFxYzB3NWVoODFOck93d0NXc0dMOHI1Y0dpNFRMVmo2Wm5wSmZFU1dHZEZvaDAwendNdERBVlFYVXBEcHIwU0l0MnFSQ2VobW1nb29pcFVoWER1TzhXRXNCZzVFcnpjVVVJdVZ5QzY1YTNBWFBMN29DRnk3YjBRTENiY2JidFdHbEpMUEdzK3YxRVYzMjdCUTh1YlQ3QWpPd0g3dlhGbzlZd09GclJHNThkeFFjS3dUWm1YZWpsb1JiSVExYm1iQUMwRGNHT1N3Q1ZsQlJ6NjBoRlFMclBOYlo5L1V2Zmp5OHBIdzBqdUdvYVVhblBxaWRGRVhna1NqOHpFNC9MYVJpa2xDc3RMbGJYbTRVdmtCV0w2TCtGeTIwNXdRQjRuRzA3TXAveW1MT2ZhTG9iMGNiMjROTG1BMitpNW1Ub3BoZ3M2TElDRDV6dU9jT0ZBV3JKU0txTWp3cUJSdDE4Y1IyVFRlMTBJd2l5WHRXbFRtSkhObUFlRUl1aEp2ZE9GakVkbHd2cU9TcDZYWFFqNlFuZ0VUMnRoRTg4THBXaVE5eGhmSzlJOW0zWHAxcTRqS1hYOFR1UmJWbEtXKzRudXVnYmNROHViYjYyd1dCWnVTbkFwUm9nQ0hLdmN3VkFrT29VNU5WMnlFY0ZYTzd4S3ZDeHM0NHBlSnBhZU1lcjdGc0Z5eUxWQUNoaS8vb0ZMMS94VFNycHVKeFRidHNzYmtVei9ITkJsUklhUERPcktuc0NjVWxqakUweE1hcmVPbkVpaFlQb3B2ZnZHaGFaZ3VIZGRJbDlSVy83Smo4UExtMitrcDZvb3p1Vll3RmNWbVRUZ01zTm51d29nUEpjVjdMNnFOU0hWbGVCSGJUdThWcjRVZlFCZ3BjV05DcDJHRE5yV1YxenhWOHpEVUVyU3NiVWhVOXFHVHJSSmlwcEl1bGltbFROZS93U0NJVTlxWGIxcXFPLzVTLzljVHBaQXhBaHdubEVRbC9ScFNTLzkzMlB6UWZLWGxZdC9PWExSQXB3cVo0VGpVdkF5cGJpd3krcUN6ZnFwVUoxaFlRY3lvSDRpNWsybW1TV04vSXd0YWhEbXgxbUhMYmhHUjZYNjZheW00cE5GMDNSeWNhbGpqRkNoNXRYVEs5NXlzSWxET0R2S2dBNGZQeFlqUXRxZlAyaVo4U0VhQnR2VXA3SFgxcDhzSVJJdWliUVM2bWpjVmttK01WdnVJbUh3RXN0TXNiZVFmb0ZhOVRubFR5TUtMUjB4a3JNNmtaaHphc1h1SVpseFRlNXA4L2owR3J2MjZhMm5VS3p0R3dTNUVpcko5QmZya0NmVlplN1oxUkszaTFjMW9Gei95VU9oMlpVZXd0UzNsZDBlVUIvYWZHQkw5UEs2b1lhWnBMVHVBUyt5NW9CWGlXejcyTE9TKzBBbFIzOHk1WmlyNmw5UGhMYVRLOFJWTG04MS9ST0JCK1d4RE1KKzBDekdpQlYweENFenpCN2M0VndraVJvb2Iyeklhc2ZOd05LbWxURGZPeFNWVEk5bDA0TDllZmwzWDRQMlVYVHNYMDVlOW9kblgzYSthbENMTzRydWs0M0prcVl4MTlhZklDNzVHakR1UjlWSDhvM01ZMHIyNHVLaUxFQ3ZnbnhVekhPZzVjNnZyZERuN0NPSmNkSWhHOXpQdnQ5OHJvWktpZFBzZ3lKUy93bFRiaVVFclFsMklrVmZTdUZrNDFMV3FHUEFRQUFJQUJKUkVGVTZMSTJhbHdSOXVoY2tYYXgvS1dLMmYreWJUU2U2NjU3Z3BwOVJWdDRVeElQdytXS2IrdnJ3U1ZpcmFLRTRndEd2Z254VStIN3d1S1NoK1FnZTZCL2NiNXUrVjBqRWM5bDBDdjV0RUNibEYybDB6eGJvU0hFN1ZjVXA3a3Y3NitRdmJlbXgrYkpUcE9xZVk5ZkFpeXZJb0tSc201eFZmYkR3aVc2RzM3dEpYb0o1NG5qNVA2enIraHJ4YVY1TzZPMDhPQVM4VjFSNVJ5WDZGTDkxR2hlUW9LSmd4TkYwVW4xMldzWk9TUUYwVVByU25BTjZTLzF1ekUzSkFKdDFwNERrSytUeGtYeVpQdExzSzd5anRGclpOOGJMWm13Y0JuZElVZEMrMWZKQlFmTW5vWVlvVUsxcHZZVmJhMGJWUldQdjdUNGFuU3ZyQ3A1Y0lucjBKWXE1N2hFNStXblJ0RVhaYi9ZNzJDVmttKzFhR1RKMUJTUkQ4c0V1dnNYSEtmTTZvSldUdlZzT2ZWMHFEV1VxVlUvRGU5UE4wMWVwaHBtdDVVcU5WSHB1QkRRQ2E0N3lpN3I5WnFOeStpYmNnQXJUb1ZvWnlNcUprSVovVVZiKzJ3bHo0TkxpNjgySUM1aEhBbHVjQjVIWFBxcFVQQlVHUmp3YWtGbU1Gek9rYWNROGI0Sk5hMXJXRnhHeXhLWWV2WlM0aFlQME5PL3FMTDZmcUp4aVVod245QlRMNmkrTzdpTVBoUURPNGxQU0w0Q0RPaU9oUVFzNkMvYXdwdHE3ekJjcnBCTm1xb0QzMGpVenhFQWNCUHBpSlFLSnNRRkRnMWg1S2R5bGplK0hQdkZIVkJ4SUgvWkpwTUd2Rk13YXlIWkpNUUFraXNPS092ajJlYi9HRlV3blZHU09sZnhEWDl5eDA4Y1NoK3BTc294dTJOOG91TG92S01uZGhlWFVlR244YWwySCtrWkNQaTFFenZYL3FMdDl6aFNBdzh1TFQ3QXBjYWdWdHFEUzl6ZFh0UU1HQ2ZDYW42cVpQdTdiYWlEWU9zbSsyY2s2VlNSSHN4czBKQ25aRmtoMFhsZHF5OHVvK2pMTjRFT2llRW9iK0czaGI1TGhJaWtPZ3NBdWNuSDViRG5MMkhJRXZ2R2VFdlpJSUZMQ01HVWs0UFEzT1N4YThmdjloZGRUS0FiR3ZYZzB1SURmMGptVDZtbEI1ZTQ4N1p4aWE5dy9GUXBKWW9lRmFab2VvK2xhQzZaaURjSXBlaFJxelBjKzNFcDdWV2d3eGFSRE1sNTZERzhMQ1grV1pRRGJWVnhUand1VlN3SHV1ZGVubzBlZEt1YW5Cbm56U3NWRHk3UjY1ajNkTnd3QlR6aUJpalVaaExtNmkrNjZmRUFQbHhhZkxoQ0ZNTEpwd2VYT0xOZU5peWdHM2gwOURwSmF1RjltcS9FaTJzMHJxN0xuQVQrWkphNTJpQzRZckk4VlVzaUNlbUhJYWhMdktDUStBUjZTazhVRGlJQ3B3WEg0VklWMzlqdVZiQlF5dVdBU2FwWVRENko1QSswQ1M2WFdxcFRKWGZsTkkydlBtRFdYbGNjNHQ1ZnRQZDhvc2RmV256NGFxVmx0NEsvZUtIbmRyVyt4Ri9CMElPR3d5YWNzNCtxZmxJUnBBTHF0L2ptWGIvS2NadlNlZnpKTEhOQnMrNURDUSs4WHFVYnhsUUUvWTNpQVIzV1ZWcmNTNnR3cjdzMjUrOE85S04zR05wdGlXUElEWDMrc3A1Y1RYWE44dEhnY3BIMVdySS9iZGRmVmgrRUVqRG9GYnZEL1VWM2ZQN0VnMHVMRDg4Njd0bXQrSEc1YmJtZHB0d08rYWc1NHVrYWVIb1RkTkE0ZDV2U2VmekpMSE9oMms3bjRSU25NYVBoVFBHWE95SkVCWHpnMDBFSGN1VjZ1NUFySmVjSmVFWXJpbS9pY2FrVUhmZ09GbjNSWnM2TExTMG5HbHgyelhPODRpS3FjUm1ZWVd3Y1FmMUZPOS9iRVRwNGNHbnoxYTFoK3h3T21kZGZWcTNJVFZHNk14ODFSOVp6UmR5UXcveW96eWVCOUUvek5vUjY1aE4vTXN0Y1dNWGRsM1I5NS9oUy9DVXNqVFRPTFVjUFRZamdDUFRBMVFNcXJTa1ZUaHd1Y2NtMXJub243alBFSTJsY291V3ZTRDczQjlZVytBb2hFY280UkxRK0NFdGI5K0RTNWdOa0tUV2dYbHpCeXI1NUhGWVY1Q2tCTlBNaDlGRno1REZzY2x1VXJGVm9uYmVCN2RCcm0wZ0hlcHhjLzIxVFJVMVZMNEpxWUYzRlFyd2dKMjJmd2R0T2N2MENVUzlWSjhVTDYrTGpsOERReVphdDlqWjVNalV1Y1N1N0lmbHFaQ1NSMU9ZaEU0Q2g3VElPRVQzajJWbjc5ajAySHlETGVLcWNHQmdmTGlHbWIvamdvY0p0RDErU0phZzVkcFdYNFVlTnJmSlAzVldjVjdFZ2NUbC9ydG9sd0pLOFpTS0VWUGZpRWxDbmxnNTV4eXhMNG9scVcvRUZMbzkrc2Q0cmxiUjY3Sko0ZHZDaXBmVXlqVzlvWEdKSWVrL3lOWFZLRUdKZWtBaGxIQ0lhWUxzckJacWJ4MS9hZklEK25tYm4reTIvdjR6S2hNOHNNVHpVbk1Rc1NtM3pua0ZmemRKd3hyc0htcWU3S3FoWVM1Z1J2UGdXaW5Rdkw0SzJ6Vk0wVDU0bnJEc25IcVNPTzczaklTbnhzQ0dYVnlvV0hOZHJCUXhxdzZOSS9BZDRDemxmd2E1R3I0RHFmQ1d1ZXp3bEM5eXA3RkRSeVoyMXoxOENFbHU2TFg3K2VFOWwyOExUK2Z4bEJBR3p5NG9QVUNPZlBROFZQS3MyUUZNNHA5ajBWVTRHU3BLNnp6bTR4QTM1R1ZYSTcvQ1l5all0c2g5QkpiT1ltdFUvYnlEcUZkZjVIWXk1S2dqNnMwUG1weE9IeTZxWlFVU0gzMkJNQkFTTnl5bDJzQ2N0NHY3SFhFM09nMjRvNHhEUkVKSzdMQ1dhbThkZk9uemdoZlc4RzYveW1zU0Z3Z3ZIVFNFTjRLemZ5TlQxUnMxREJWd0tNVkN2SkI2eE80MXpLalJPQzNuMlo1R3RXd1NjVHV3Vko3UzBackhJakJkQlJmWWJpcmRwdzFuOWtSS3NYOVlWaTd5M1RRZjlhSGY0ajFVV25sUXpHNERtbndNRFh6UTkwTGlVeXh3c3FUa1RWRjJPSElneUZTRjFpR2lZYVZjdGZzejRjR256RldKMnNDdnFUUXUvamJFakpXakZ3S09wbDJ3Z2RGVXhKS21BeXhkazZaS2N2NEdrbHNxemVwWlFFdkFPRWxVZFFZYnB4TFlqdkZzeTZ3MWExWXRMc1VKSHRyd2pCZzVxOFNzWmhZT3QwS1lvZzArdlZGMTYvQkpQZ1QyL1o5VCs4amNnVCsycGNSbVYzeW5abGhvV2tLUGwzbGZGVlNRVEl2QWVKam9xRXJzQy93VzhHdEErNi9Ia2hsTEw0UU9IS1gvSGJac2ZTK05ZM3BQTVhRTVBPRGYyNjRKYTB1NFNkajRKS29CUVBZbVBxOW41czhwaEZ1TDNLalhJL2U0WTZueUNFQXBGSUtqS2dqNU5sK21FMVl1Z0dmbVRXVkgwV2VlaDd6NG9qQXRmN2JmOU1UNzNxMXF1VjZvdVBWNkovTmNldWhYTjJmdmhqL0l2QklnZjNMQmYveGhjUG41UTRkMHJiTnYyaDBmVlhDMXBnVUZFd3dzUlBkRmlOU05GcEs1SVdTNGYvcFBUSHBiOU5hNDdseTU5RExIY3UvM1NXdlNMbDM0Q3EvN1dwVC9ENHVnWEpOKy8xYmp6VWdHWEplR1VsbUsxeDRGZmZYdTJoZHhkNVpzeEk2OVAzeVlVZlBkbFNmamN4MkpCZWN1bGx5Z20ySlhZSGxVVmVCRlVpTzhUNVg5UEhpR2s1SVZnL3FtWEwxSlVnNnlEdkZJbDMzRzd6WkkrMHlSRmk4RmxvYnovTGVqaDM1WFlyOW9kTFpPNkYyWFJJS0xoaGJxYUxIa3RJb1luTlM0ZHZpZ1hzOTdIMy9UNmI3Q2ZnbnI0WWxKY0ZYelZMeTRwOTFIR0h2N2J1LzVSL3BhbDB0cWx3cStCNVJxLzI0cWl1OG9DNzhnSXZ6Njgvei9mZE5lMjQ3MjRqS1pzUmJzclRhQnpUenZoMzNqbGxCbjNTK3hkTFRpZDhmdHNIMjdrd3BpR3VpeHI4UmREdTVyekpPRnlBUjFOOHVxZDFyMGwreDVBUUozMXprS1ZWNUppU01LaFZYbDF6RXcyaUdoNGNhbmNFeGZBTHB5Ly94NTUzWHYyZ29sS08zelFaSjFyL1E2c05zK3IzWHZ1QWdOYzlpNmN2ZWVlc3hjYWFnUUJrbmo5b0ZSUTNoenFFdmgvT0xBT3YxcE5wK2JsbUZmOVNic3F6elY3b0NocXVDb0xtejFvOWg0a05jeWFxSnZZcHdqdUZBVDlJV2h3RGc3RVhKUXk1VzFuUXlZU1VUZzRQa09XdmlsU2JXRW5LR2Y4SmN3cFh6L0hIcmpkTVZ6VTBkTUw3SVZYaCtsNnpsckpwdGRNOGhVZWVWdnZMUzlOcjZGTDdyNjFjZjcyaXM3S2hFM2w1NG1lZWprNy8vWVBVOGI4MTZHTmIxUEtjT2t5bVdWcHpUUUUzZjN5UnUrdEQxTk9TT041YTNuQmo5YXBwTGpQMElWQ21sUzd5c25KVVZ6NmUxWGVVblNZdk5kVmVxQjdBM3pjSU5lZ2ZJUEl1bDQ4NE45MnZXME5oU0E4Ynkwdk53b1hkZWhDWVNpcFN1UXh2aCtLUy9VSHA5QkhUeWlqZjgrTEEvclhRZm42dDNaOVM1ZWRlSTl1ZlNnRU5kVTA3amxRMUtWcjM2R2thbDJPYitKUVhENWgzdGpCQzhNWGgrcHB4NndoKzlZYmxLK3ZrT3RjT01mMCtzWnVlUmdFRlJvVlhibnJPdURZelBFbkwzNnB1NTJTT0JTWHBTMWRFN2JHS1dPaFdleEU2bi9IMjJ6Z2lOVkd4aW1ZNEd3dGJVMHpEQzZuelRRZU5SbkZJVWFReUxZblpaYy93Zlk1b21xSDRSSy9lNkl1ZVBQbUQ5a3BCdmR1bTlZdE5mbEIrVXlOOGFlMjA5Yk93K0N5dVdrNjBuWmUyeTZRc3lYQlh4bzdpVlNOZWpJN0pPK3lldkxidGd2d2NBalNvSHlwQXE1N1FjRTkwcTgxR0FLWGVmVWVDaXV2bUNnY2w5V3h6b2tNSVZWcmNwd1RoL2pMUXJ4SmVwY0laWkF5YjlLMnJaZUZFd2ZsUzVkd3ZVdW1VcGMwUXlEb2NUSVo0VTkvcmRKZUZLMW5lZ2lwVk1peFRSK0N5enVzczY5d29tSzRqcWFQbmkxblVENjcxamh6SFJ0RVJKWEJFWlJyVUhQT21YUFpLSzFnaHpNSGwwcFVPY2JKdnJoY2duOEFmYjZsZXZmWXErQU55VXUvcXJJRDNmVUw2VU80QitVN1JNejFLeTZtUkMrSFdBbCt2czZZZU5FUGFoZGVYNFpWMHB0TVNIVEtqbjBFWEpxeHhlOUp3TFVtS0IyZVlXelRNQnllcXFidERweXFnL0k1MWNhV3phZnZBQWRGRU1TRjRKSm5GZkFvSDE1bVlxL1pyNU1HbFRvMmkyVGNjRDkvdWN6TzMzTzJJYzVBUnZBci9QQnkrdDV6amRWaE5GZ1lFTWFEOGczVDlpaDVaOU9pUklQN3kyN3YvbnZQcWJQcitRYStrejk3d2J5S3JOTW8wZUJTUjlucDZ5bTdIeTZ6MENNbUVicCs4Z2JsNnlmak9wYnRxS2MxMldZMm5tMVJJVlkya0kzVXBMYVRTaGsxTG12V3JqTGRDb1B5cFV1NG5pVUZLN1pvdDV3Tmdqck9BaWdicWJhbWs1d2JOUzduMlhzSDZ2NmdmQU1KR3prVC9RYSsyMWcyQ0NwL3o1YWJqVlJiNWlUblJvM0xxR3V2azFKdE1TaGZxb0RyV2JEZFozV1NDWUlXNkprTjdGa21VcStuaVk3WTFzaHhPWlVhNkxNMUg1VFByaldlM0xMMUtzYlJJUk1FZGQzZlFNdEVxcVBwSkdlWDJBdndWK2FWRWFwWVRQeXVvNyt4UWZuOHRhOHJ0V20yemNsMnMwRFF2UFV3NTJDRWRsUzRMdG5naWFUQVdReTQ2RGQrc3U3bXNoMklTeFUvS0YrcWdPdFdzT1JPc2xiTG5kU0l1OFhXTjlPMjFnazFQa1l5ak55MzNza3BIRDB1bythQWgrTUc1UnU3OFR2T25zUldhRVYvMTkybUQ1RXJzRDNLSFhCSnJaRlpPaysvaU4xSDZxQjhmVVJjbjZJdjluVmQ4Ly9peUZvVTdDL1MzWWk0UExJTmc0Q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TJpQkF2ejM0R2ovSC9JWUdtVTBLdWU0cVVjais4Ukp2UTcvdy9mQnlyRzAyazFiUjFVNy93RkxRdmpiTXNzYy9UT2p4K1ZDcisvZjF2VlhiNHlsN01xUkc0L1BVQkVCbDlRYWg2UkhqOHZTZ0g5YmVvaWlHUmNYTGgzeXRCVFlpMGR1OHZIOVhTSWo0SklZNDdEa1VnYm03OXZHREt2MExSOVQ0WFMvdjdaSG5mSVovUGwxdnZGZXAzdFovRG01SS9Ka1prZU95L29MZnNQbFAvT1JtMjg5dCtVdkhEMjFjeGpzc3NCbDFENmdEaE42RlhCcGhuYnFsaC8zWGF1YzQyaTRuR2t3ZXZYdWY5Z1poMmlhblRhYTBGU1RWOXlpcE91WjNtRlA5Mjh1RTF6T3MzVzdsWUJMWTQ4cWhZNUpmNGR6SEEyWEhTTk9wZzR1bTRZeFZYeld6dXRjazFmWTB2bnJuS2l6Zy80dFpvTExxUGlNM1VyQXBiSEg2KzZWWHUzOFdYNmRFeERLQXBlTE45L3lFeWp0MlV0NFBmUTJTUFlzWU9aU2w2OC9mNmtPM0Z0R3pldWFLa0RicmI0dFpvUExPYlpudFJKd2Faa2pCOE5BOWg5My9RbGtuK01jUi9PWEtHSWJzS2htN3pjQzFwNVZHU3g4Z2xrd1JaSytDdVh4NFhJWkRIQmFhK0pMWklQTFBMT2pFUUdYdHEwQkF0WjY2bEVtdzNOSHgyV1hzZS9weHVZYmpORTlhSDFmRnlVVHRmSGhjaFp3dVpuVWlGQ3l3V1hVdFpjTEFaZkV4SkFFdUZnUGJyNGhoK1hvdUN3cDE4dGJ2Sk14c2dkZDdMdnJYUmtmTHVHUnNBMWltd3R5R2VIeWxPMldBeTR0UStOeTZvcEZxY3FkNHRGeENaRGZOS0xub2FVdG5lMlF0Q2JxeEJoeDJRVTFuOWVLK0JJWjRYTFJobi9BcFdWclJNc1ppekxMVm5uK3lMak1nMmdoU3NpdlUwZFVZcnVDNnYwOFJTSHM1UmdaTVFhdGUzMmxaNFRMS0xaV01nR1hsdEVYWUJqMkxNcVU5R1JIeHVVaWlMNU1SSU1uMHJHUnBmNCthWHk0ekRNRVpvV29uVWhtaGNzbXUwaGtCMXdTWTBUUkhJeEN5NkxrSkU2UGpNdHBFTDFHUkRjaHI3SXpxVkVpempFK1hFNnhLcWk1cGZUMDNiUEM1UnhkNVlUM1BiYXBPd1Fzb21SSlBzWkh4aVdBeTVvUTI5QlVSYmJlN2ovMDQ4UGwzQUUrVHB0U1RlOHRLMXd1azJoRmVBL3BtTG9KWVVXYmxKZis4OGk0ckRtaTBSR3BlYjNzT0dsYmhXaDh1R3cvalJGZDhXYkJVVXBsczhKbHdYcHN3enl1N012djJ6VEd5Q2w1dVNNNU1pNTNITkZOR1BBOTBYamhrSGQ5NDhObDhUbU1uT2wxc0ZEWC9zd0tsMUdKTGpBRExpMHJ4M1NUekV1VzVDTHd5TGdzT2FLN0JwZkxkaXpmMGdnejQ4TmxZd05mVStsMWNFSXpJR1NHU3hXUjQ0MEVYRkpiSjhPWDBieDhEM0ZrWElMZnVVTGJBcHdxQnpIWE42bytSbHd1Z1VldkdqMnAranFkR1M1WHFCVUNMcldCSVpFTVgwYUxNcXgyVkZ4aStQSU1iUXR3cXZibmJmZVVGK1dEOU5qODVRSm9DSTFiY1ZkSHQrejg1UXlkTlFJdXFaMXArSEpSYkVxVzVlTHFxTGpFOE9VZWFRdHhxbDRKYjl2djRBaVhTSTRObDZmZ29VU2JXSTdlVVM4emY3bW83UUV0QkZ4U005UHdaV2VEbDB6SnN4Wkh4U1hHVzFxa0xjU3BGQjJaZ0JGaElNbXg0YklLR3VJWG03NUxsSEdUbWVFU250U1dGaDV3cVUwQmlRNk1nY3AzVjNrcTl4NUJPQ291RWZKS05ON3hvSTUwUXhDS29TWEo5Tmh3dVkxbi9HREI0Y1RPTEEwencyVVVrd2tsNEpJYXVVbUdvQzdtY1ZWOFZGeDJpR2lVV1FOY25oYkNwNWoxYWxpMWFPNWp3MlZqSFpRb2dxYTdSaGszbFIwdVMyUUJIbkJKN2J4dDV0YTgycFRJOGdRdW43d2w3cjI1Uld2M1RUZU5hTTRIVGFubDVTeGQ4QXNoS1B6dG4xSUNKUzUvOW0yOWQ3OU0wY1M5OE1pOXZiYzZ0Q2p5VUgvNnRzYkIyeXRSN3YyNmZ1R1J0M21xNm1KTTVIamd2dzI0dEo5Umk2a2ZMZ3VQM01ZZVNLaG5WU2VaSFRXQkFDM2draGdtcXBzWTQxU1BGdUF5NjBXTDhGZUFxNWdkVkN4aW53emdrTDQyd1lpVU9BZ2ZSU3VKOWRzZlFDbGNQeW5sQ1Z3K3lub054djQ5YldNUkZJNFplNS90enBMVXdrMXMvNGNCNnBlYmVrYk9sVmtQdmlqeUcxU2NtNTdtZmhKWElHZmNJcFB2Zzh1bE1tTm5HYnZQTVBkTnRjbFJ0NEJMWWlvYXZ1dzRMemtjWEU2eFp6OGNSVytNcmNQdFJGUWlDZkM1UW9pNHkxVk9xRXJHZzdQOGQ4YmU5YmVQZmFUT2ZrclU0TGg4UXc4Y3p3ZXRtRTB1WnUvWWpiNWMwaHNvenU2aE50bWZRVkhobXdkNnhaQXZzNmZYb2ljYjdEMmlDZS9uQ2tmeEZLaHFQNU1XY3g5Y0Z0a3JkNlA4WDZqMWlsWE5rMWxoTDJocXdLVTJCYzVieGpPVWpZMDRoNDNMUXYyZ2hlUmxzbFRuYkdrZkNQbDFVdGhrWmhDS0ZtSjVaT2FYa2JYUTdhM3hLb2pMZk9PVG1LN1RFM0VsZ2FxQ3ZIUGVDTjduY2F3UjZoVDdGVkZXMHJqY1ljL3NBZzBlajR1eW11Zlc1RGFBZmJMUk5jbVZqc3V2U05CM1Zkd2hXZG1pekpFWG5nR1h4RFRvR2ZaRS9uVjZscFhsTmk1bjJUc0ZmYWVQSjVFMStRMGo5cWNOQVo4QURZZ3kyekFsa0NxcjhTblVIK1FGaU1zN1JheW1RNElwWDFGOEVIT3FhQWtlNm81YXlVNHJYTUxYeVlRMjI0azFoQllFQ0JlZGc4VkNuNDFaT2k3cjh0ZGRGdnR0bTBoejA4eXNuUUl1aVdFd2R0UEMvRDg4d3R6RFhUWXVTNzFkVVc5MlFGK0E4M1pGVk1IUEltUC9VZWNhOXZJTnRGZ1ZaWjl1aU1VRTRqS3VjQnFFUVJXSTg3SGlpNXJHb1htb0JiT3lqU1hBdGhXa29iRTEwWmpuVStyVkJkMWxkejFNcWJpY1p1S3BBaWUvNTZtWEpJR05OUEhrNHJMd0dmNHppcjZQdEpGWWdRSFExNnEyRVU5WXVNeXBGZDFVUTI4a2JIWTNaNGN2WDJ0OWFRWlFSOWxMYXFPT1BwYmpBWEQ1WHlUK3dkR3E3ZEtjNG9zaWNQUVZLY0pEblRMcmhCMkJTNUM4SWZnaGFyNHVheVp1ODNJRjNBRTk5aEtsaXBDS3k2cXFkSlA5M0ttS2lUczRjVDB5SnhlWFQyaUVKUkpwUHE1S09mZHN1MW00bkdWaWhvTXB0ODhNUndWMHlGeFkrQXZZeTFkMEthemY5blFtaW1CU3ZpcXlpT1dMbUFSYy9wREVFYXhUbGZZbGpkQUlRdExLTjNtb2N3WjZLMExkbWxsRmxJMnJKVXJ3NUl6MGtqaU5yTHVGT3ArS3k3cXNQdE92dGhZRENYaGFLaXAvY25GcGdRd3NTNjQwSDFlRTJEZitIc1l0YndQbWxqS1J1RnU0YkV0M0E5N0wyYlp6NW9KZEZYTk44SkQvQjc4Kzg1ZDFhS1ppV0VESVpaT0R5SjF5THgzUVlnOUxBSmQ2TmFvOUxlRDNqSzYybzU0UEg3VmpVRFVqY0VsKzNLVnB2SzZXSmhNZGFTZVFTUjRCbHlzTmwwdEtNQXpFcWxzSjhyc0pHdmh1YllpVGk4dnBCcGpUZjZVRjFBQXcwbFY5Z1N4MWhQMHNYRzVMU01EODZXemJrWG1wY1RGaDgyMUxrLyt3UmhoZzJDc2tXOWJaRmFqREpRRXUxYzRGM2dwS3RIUU1WakVFS29Icm83Yk5QRDdGY1FtT1NUbGRyTmtpcmRQa2p0aHFSUmhMMFB5VWdhZlRjTG1nRkMwU3VKbmFuNVhDRFFWT0pwbXQ0Y25GSmVud29FbXcveFhKdSszNlZBdVhzZlJBWnAxR216amw4UTh4eUpiWEE3ZC9tSExqNHJCbENPQTBGQVpoQWhRTExzQ2xqcFBHeWpNVzZhT2p0ME0rYXR1Z1NwemFnNGxaUG45UkJJMXNtZGF0VkZrWm8yeDBzaGg0SmcyWGMwcFJ2MGVXV3pwTEhuR3NBWmZHTWpDaDZxbXg2VG9JQzVkNlhydnAvYnVtdmtwdG0zbFRrV2pFWHRIVUhiYWhheW9kd2U4TnN1ZGxEbjdyUTNoandLVitWeFJMMklKRXNyU0ZMUU5uOVZJN3lwbENoSll2TzZyTVJCdmdxVmczcmROVVFUOWVPMkFZb2lKbFNqK3ZEbzVZMUptNjhFbTdCdVlXcVBhcW1LZ1NjS21Nd25lMWVnZFMxUTVGbGp1NEpKZ3dBa1FLUE42bVN3UEhxaUh2bGdFU0NiaGhPQVVZZ1czeG95M09ETGlVK3l6YzRRaDNDck8vd2kvd1FKdGNJeThWcWordld2aDNLSENiS0FPYVhlR05KRDRXOVpvV2dHMW1XSmN2elY5Q1I5WmRYcE52azFpbHBwSWFBWmZhS3Z6b1dVdG1tKzVnV2Joc01QYTdhcVJOZlptQ2JiUkdrU3JFOE9XZXlqaDNHNWRON1lzTkd3QkxxNk53Q2ZPdnhpKzhHZ0w1cUpDWENpNlI3WC9LaU1PVGExc3FDNU9FK3dqS29sa2RUY1FGeFlhcTRON1RjQWxLOTc3dE11dDhiRDJNa2t4YUNialVwc0l0Z0I2SzdobEQ1eWtMbDNVYzZaYzRIQ3BiOUl3MGhueGFpc0c1dzZnanBPUzFUVENvYURERW15cXRjQW5LRWx6QzBXTHUzYnhVQkMxanYvYmZsQWg4c2Jpbk11QnA5UnBCMGNTOXBrTU42TzFUd0pzK2oyTjBpYjI1WXN0VU9YeFVXaXFqNytvM3lvQVFjS210Z3QrdzB0Tno2YlNnejh1N2ZaNm9pelpuK3k4emRVMEtCcG9sOXBvZElCb1dPd1VEU0FneHdhQWlBeTQzVkRxV0V5QW9TMXRwaUQyRG43b0RyY09sOU1XNHowVWxEMEJMNVNneTNMdlBmcCs4Ym9ZS2V1TkZPSGd5elYvaUwyZkM1VDhLMklZU3JZS1dHSENwVFVFVFJXTDl1Q0pLT2xja2grVXZWY3llSDYrZ0lpQTkrelFSbzhxYXpxbGdSY2U3alVzWU1JMUJ4ZVhENVk3dDUyS3hOdk5USlVUVUlUbk12bHY5a3Z3cmJMK3Jtb1E3aUNSWGo1Ull5VFJjRnVCUndXdS9ZckdMVEwzb1c3SEdacmtTL0tXeFdwME10UnFHNHFvc3QzQ0pPM2QrN1puYUt0VmQ5d1RidC90RUFCTzRYRmVpMU4ySHl5SlJGdmhpQVdjL05mcFBYRm40ZUNlS3hFbVVYcitqMnJIdU9OdlRxMldWbWt3YUx2a1hmRkdBRzltQXFzdjdLeVFtcEdVRmY2bE5RUk5nUStVZG85Zklna1pMSml4Y1JuZklFVXZPYm5ET1BUYkxBU1UrN3JOQXM5YVhpSVl6cXBhNiszQUpTS2RMUG1nQWRmZFRJemp6SnE1ZUM1aGdvK1ZaM0tuRzFIMks4SUFDWnFla0dPUTlGWmU1aG16MHRGTURWby9Qd1lKN1BVRnVtS2tpK0V0dEhYU0NycTJXVll6YlhsOUcwVGVselN1NnVrek1QZzBISUpXM1ZZVzQ4OUNRVjBSMXQvYmpBK01Ta09iQnBaOEsrL1gvSWZYRk9vUGhjbzUwQXNNSm0wcGY1NTZLeTJoWkFqTzVyNnFmQmgyU0FnTXVIZHZ5TEU1djdxTjlTdTk1Ylg4WlJSK0srVWh2dUpKMk5xS2l0Y0ZHaG43aFM0VEpycEVDVXRkTlRxUlMvQ1VkYjREQUpqQnYyN083cEtLVS9DTmNZWHpPL0p0aFpLSlhtOHdGdUplanJWRytkRnhHODM4TTlaaCtmNlZyTFI2Z0RvbGdHZ1FWMWhWUDhKZktFang4V2RFNWtkalJYczdGWlZUNGFYUUg3bWdWWVBiYlNVeVQvY0tYZUdaOHpUUUxNaE5ZOStHeWErK2paVFUvVlVndmZBaVk4TW5EZlUvRnRKaVNLcXJ6ZEZnT1hTVlJmS3RHSDF4RzBaZHZ3allyVm9VbzZsd2xwNlpJR1ZuQ25HQmNEbnYrY2dVc1NJekVrL0dXb2lSd0NTLzF5c25SbW9IaGF5ZGlJUDNDbCtnNktxb1Z2b0haTkRtUjh1RnlKNEhMTThEc3B5cDVpd0N2SzhKN1gxYTAxSHU4UVlxS3pvOTNrcUsrdUl5aVY3SGswclM4aFMrb0V1RXBXTzJzS3NFbkY1Y3FsZ04yY1MvUERoSHNVWVdZaGpLTHZNOGJUK2JCSlRvZTkzaEhjeFBjUVdJOUFKUUU1SFZUTU1sZjFCbFluQ1pYb2o1Y0F2ajFHZ05xUXdOYmNQTlNueml0eE1PU0FTcmhHblpQa2RMdStKTlo1Z0s1OU9FeEJlbHhkY1hUSlY1UTBPWmg1UW9ZSk9zRVFRZTl0S1luRjVkVk1HWEs1WUpKbUtXWU5OV2M0U1M0WEdxSkN2Z1ZMd2ZKQlR6aXRrS2VlOEhaVEFKWWllRHZ0aStiSExEUy9Rd3Y4T0VTYUdSZ0VXb1Y0UFZTMjFlMCtCS2ZqdU9FZ3BwQkovQW5zOHlGRG4vVlpHa3F4Vi8ramVLQloyRmRwY1g5Q2ZTVW5tQWFiRHkxSVU0dUxvYytmMWxQcmhhN1p2bG9jTG5JZUxRRmJkeDIvZVUwdnJ1RGdPUTZscHByMnh2RmsrWGdPazRiMW82SDFZZExXSldhaHdZM1Zuejc3S1ZXVFM5TzhVcEZ6eHJXYUNCUytKTlo1c0t0a2tHM29VUEtqOHNkcHFLaU1HT2ZzU3BFcFZYSTE5MUgra1k1cjI3YllvQWNtUDVGbXkzUDk3aUNabkRaTmJCYm9UNEwrYW9Qd2dkNENHY01ZNDhURkdMeDAxcUFBYWdKM3BZK2lRdytYSUp6NFVqRWNyN0Y1bSt6dmRRcXJIbmxOY1UzeHpXcnAwcy9va3JwSFg4eXkxem9qeFByUVZIc3hTV3NjRFN1cmNjTzZ1UjZ1L0JaU3E1c29OS2FhdkxrK2t2VncwSHZHQXRadDVsbnlCcEw0eEtIU01GdXhkMlBOeTZEaEVRTXBHLzRFcmM2cEYxQUZsbUt6bkZYNThNbC9qWUlqcSs0QU0xaSsreWpWZzJBNXpsY3hESlQxelh1VkpIZ3ZtMC9vN0ZuM2hYY1hseldTQy9jbGFtSXZSV3Ara0lTT0h1dFFNQ2xNZ1ZHVDdaVVJ0eTN5Y2hyWE9LcGh3M0pWeU1PRlVrTDNOVUJ4MVhKSUc1OXc1ZFJWTGFrQUxMMmRPMHFmd0s4dUt4U3ZwclMzVWV0UXV4S1hua290Z01nQUFBZ0FFbEVRVlQrZlNSNHRQVDdBbGlNOERZVWg3bzN6cWdVdjNlaDF4WkJaN3k0M0RFdDVLbGZ4MXJiWERKd3RMUU1rWmdoV2dWY0t1UEE2MEM2THdieU12MVNtY1lsUE5VYU9FMmRFbExhM0drbFlpQzRPdHRUN1NUdlhXdjkwR1lFcG53cDVwM0g4YWpscHBaVlZON0hSNjJhNTIySjhlbDVtL3F3OHFvV1l4THpkTTBMNUJwMDRhSXBKaWt2THFFQnRRNlkxeWxSYVVsTTF0Qk5WOTRwdmlrVFhBR1h5c1FyWVBsZGxlSDNJblY3R3Bjd0NlcWxVNTB2bFV5bGVBL1RpUmhJMy9BbDdwNm9ld1VRcXlHRktGOExCWHI5Slp6WGVRRUw4UUlIS0ZkL1BtclY0SDVlVFBlZzBEcXZDQjhTSnlvcjczTU9MckVMM004NWZDbjducEpwWUZaL2hWaFVuUk85NjdqTFRveXZ5VTRBWThDbE1uVFZURDJDOUFaald5Qm9YTUxXWVUvV21TZUdSSkw0dG1FeUJnSmprRElKY2tIMDk2S0FVRFl6M0p3NG1ndVB6Q2JuaEkrR25oYmJURzhUWUhsNVdqSjRxRlhqOTZjRkh2TU5zMkY3Z29TYlZDUDRneURySmdNcG5DWHNGYWNxOXZyTG92bWh1S2JqRjR0Q01QUnBWWW1ROXpiNU5uREFwVEpPeVhsNTh6a1lpWXVxa09DUytKZWFtU0E1WSsycTRIZGpJRjBYOGtZc3BtWU1iakQ3dVBsbjhoSnU3M21nL2dwUHdBZG90U3ZTc0dyZGtOU2lrZUNoVmsxY3NNMmpuUHdkZ3VwYmZWMEtvVGR3MnRvWmN6ck1FbVNXcGF4ZVhJb0ZEYkxsbldycWY3cmdVVnFuWWlDOVk1Nis0QytWYlo0Q3crdjVFMTdzZmdQeVBWVUlkKzB2by9JN0pYbXBZUUl3bkZRL0xVb0E0cEtGMzNEYjQwejR0QmoyNzdRaGRKaTlOYzZ3MEd2eGU5R29SbmRuZDdBRHdRZWdrUzBEZTVJS3VGU3pmQ3lkNDVKMm1JK1RmMEhuamVISDNUR28vQW1kaGFVSnFFQWJJVVZlWE03SW44eUtvczg2enk2Y3QrSVg2SHlGU01Ga2lYalE0Qy9CSVBtdlBYUXIycjMzd3gvbDN4d1FQN2hodlZBaHVIeGMvb1pMd2YwYmllWGVWOFZWMUQ0dEt2dy9EOTJDb3Rtei8veWozM2JHUVdVaE5DVHdKUWt3Wi9JblpDbEcvL3U1U3orQjlYL3IwaWVpL0tXUE5TRFp1LzFTQzFuenNlREwxUlh1L0ZTWXh5VnUvMXFQL0Zma3I3NHVzL2RpSmV2NjlHM1lJSnhwdnl6Sm4vdFl6QW5zTFpkZVluRml4b3ZMUW55ZllQeDdzMkFRaE82RHdrYnd5eEh1dXFCaFh2Y0VmNG5XZ2puRmU5RVROY1pmRnNyNzM0SktmMWRpdnlwTXJUNXJSRWhMRW5GZHBpNTdabFMxNEc0dEdDRC9Xc2JlLzVySGZxNys3QzVrbXFyNmR5S01iWXJySXE4TjV6Q2UvOCtQZlNRV3YyWEpTZkNSb01JUFdOM1JBNVh6ZjBCbWhFZmh0MTlmODlpSG5GbVd5MmlxVmxhbFNFMHdmbHVXd00yTHkraEw3RjB0Y0xPL3ovYmhSaTdZb2VsTHJucFVLWVF4c0wvaUN2NFM3TENBWGloNTlVNHJLOEhkNERLYXI3UGVXYWp5U2xLTXlUSVJJWUNEc2FiZWhiUDMzM1BQMlhNWFBKNUpDcUFUR0NmOU9aZTBmeGt6VFJBQTlTODBFSmNYenQ5L3o3MGdTb3Bmampuak0ydFNrTGk1VkRoSkNRZlc4VmVybnllTS84aXJQdHV5cXZKTXM0ZXRuTDJnbld1ekJ4cmNnNlFHZCtSV0ZUOHVvejlrN0R5MCtLelVWRldCT0phK3pPNmJseTZiT0VmWWp5dDdIWG9udUl6eVh6L0hIcmpkc1hnRXAxM2wxVWxaaXFseTkxNGxDMzVSOXVTdGpRZitHUUdSVzBQbDgxK0gvd0w0dU1xcHUwTjk0alI0cnEvSHZmc2YzbFVjZUw4YjJ2aFJpMEpMQjA2bjRESzYrK1dOM2xzZmRzWHNiRWhLSXBnRzJ6OHlvUVIvNlZvdUpVOXg2V2ZwNkhrSjRvMnJmaDQvOVpUN090UFBOcG5VTkZ4NnRjVmowL0pxbUJpQ29IVG9nalBnVXRucGtQdmh1Q3h2S1JHd1hsMVg2VUh1VSs0UURWSnBVbmlHd2lVZW01YVhHMHlMdW5UbkhuQ3A3SFRJL1ZCY3FqL2VCVG1lR0VoZjZUQ245UzJmNk1LaGNObFUwN2puUUZGc2ZHbFlYdzQ4NUlmaThnbHpMQWVDakc0TXBIODcxbC9DOTJlZHVOSmhjRmxvVkxUK1hicjlCbXFlYm50Q25FamI2WkRFb2Jnc2JXa0pFRWpYYTAxTjdKZW9EVGZ2OXhOMTNjdUd3ZVcwbWNZeC90V2l5aTVZaSt3d2oxUGI5RWtmaGt2ODBvcTZJQkpIdHBhSzJ1ZStNQ1NPKzRpNjdrWEQ0TEs1YWRScm03ZWpuTml4em9VRVhCcEw5VTBkaHNzYWpjYlpyNHI2eXVXRkJYcEcvWEQyaWVJWUFwZDVGWGZGRHF3NHdiU2k1VDRETGdjYzVFTndXWWczaWFCRURJU1VlWlAyb0hoWkpwVTRCQzRmSjNNS0h0NWJKWDBxMkRHSmdFdGltMzdKUTNCNWh6N2JnMEppY3ZLNm4xQmRObWVOa1NZZmg4VGd1TXcxOUpzSDZOaWNPUTZGM1p5eXQ0b0Jsd09PZlY5Y0xzR0x3K2RiU3RKanI0SlhiUy85cXNvT2NzOVppLzVCYWt3TXo4QzQvSHlkOGI5UDVab1hYbCtHeGM2YnpPdW1Ham0wQVJ3Qmx3TU9jRDljNHVFenVOYUVxQTdQTUxZNW9HVE90azJudUdFcWpwMTNVRnhDWEFndWVSUUd2NG1IbCtsMVhYOEpnUGNvNEhMQWdlMlB5L1Azbkcyb0k1WjNNamhvY2UrNXh1cUFram5iSEgzWk1VekZzZk1Pak12ZS9mZWVVOStweURmd2JNalpDL3Fuc2hkVmlleFB3T1dBQTlzUGx3T0s2TWVXUDdhUm9rRngyYS8zZUNTL1lqRUVYRnJtU00rTUdKZFIwM2R1UEYyZHlTbkpCcGRsNXdCZHdPV0FJenhxWEM0ZjExYyttZUJ5d1YzR0JGeE9DQzZqb2w1ckRhalJoTEJsZ3NzdStlMGIzcStBeXdHSGQ0bTlBSDlsWGhtUSt4cllwc2gzeDY2aCt0aXFaSUhMZVN0OG13TkQ3NmpveHRqNmRVd2F4cDh2MG1HT2tlamNIZTZkK2toMHVBYWhCVHNnZmcwUzRKY2R5SGtPakYzaUphTnUxeVR2QnFvMGVsek9XeStJajQ5cDJaV2o2bHBnZTFSRXdDVzF4aUhwMGVNeStzWGo2U0orLytJaHBqdTB1UENERmt2QXBXV09rQWt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raXpRUDVOZGtuQnlkdWxJUmNzY0Qwc01QOURqRDM3VXRNU3ozL0s1RU1xV0dBTUZzakY4R2NKalAyZnF1bW5HcGp0WFZiNWNBOFdHSWNGdGhHR2NQMkthSHkrd2Y2djF4VGVXSGYvR0drY3FvVTJiMXdMekxCbi91L29qV1VBNW1sdWhETDdTYnd2eGUrOGNXMFNlajRlQy94QjR6ZjFOTDM5N0JyQ0VQN2puZjl2M2krdy95aDBtZ2tPY3p5RGMrTzIrZ2JXMCt2SGVma1hTTXZnTU44YlJmbkdzN3ZTTU9XOUc5ZENvZWRqc0VDK2NiQzJWSkwvS2pyM3ROU2d5ZGhCRk4xcC9nZjJpU3RqMEMwMGVlTmE0RTcyWEJUbDVEOXI3cHlSaHBnSGgza21pczJmNEM0Ni82Qjk0eG9zOVB5NldLQU9VM2UrenI3TEc2dmo2cEpmNERDZm1RWm82dXU4VG9WRXNNRElMYkRNZWxIVVlXd2ZXeXFZM1EwNnpIcHYxN1MvclNGcmFDRVZMREFpQzlRWVROQVl0RVQ1T2ZKZnpGMmdmWWMwV3IxTU1pRVpMREJhQzVUdy83VWhMTVQvRUh2eHFtbHNBV2lySmh2VjlrZ21KSU1GUm1vQitIOW5XRU9XQVlQWXpESnNnZlFGUkpwZDJkSWxJUkVzTUdJTHpEQjJNWXBnem9hb2tJUEx4K0cxK0s1cHZuUGFwRU1xV0dDMEZxaHhSem5IR0ovQjZUd2U0VVMrYmxvUDg3aXhSVWlOMmdMYmpHL0JmK0RYMXJBbHV1K0ptb0JMRTcrTWRzQ3ZoaXRZNFBwWWdER3lCWThpRXllS0NvM25BWmhiV28weW1kTTFNU1NDQlVaaGdVV0cyM0Z6RWZETnNxMGR4dFI3eVdpSkJ6Z05aMGdGQzR6T0FyT01iVkRwemRNNlY5NlBwc0JoS3NLc2VDR2tpME1pV0dCMEZ1alFtUnFhbWRNQnpCazhUMVJpN0huWitMYUYzOUZwRkNRSEMwUVJ6TlFWYW9mY3dhN0k1bU5NNFpiOHB6aGh3ZWFqZFVJNldDQnJDNVFaazBDVWtvdS9MaEk3QW84UTJPUmY3Y25GZXFHWnRRcEJYckJBd2dJeW5tN29DM0M2Q0s0UHlnMVByZ0hBZlBodmZpOG1HM1BESEZMQkFpT3hBQndhVXV0SEpiL0kvdlIvLzBpSkhiUUVBYmMrZUlYVGw4cEE0VDU2QzB3emVlN1NOSVZmN1FFdmVsRlJmaDQ4Sm55aGZFM2x3ejFZWU9RV1dISENsOWhnL2dmaTgvK2F3REQzQS9IQnUwaCs1RXFGQm01NEMxU2Q4T1VOYjVCZ2dJbXd3TFo5eEhJaWRBcEtCQXZBMnZGeXNFS3d3SVJaQUE0RjgyUHFFNlpXVU9jR3R3RDhlZ0Y4NlN4Y3dRS1RaUUU0ckU0T3RrMldia0diRzljQ0VDWUtyeGR2M09HZjJKNURtQ2ljWHB2WTBibHhGU3Q2d3VvM3JqVkN6eWZGQW5YR05pZEZsNkJIc0lDeUFJU0p6cWgwdUFjTFRJZ0Zjb0RMdlFuUkphZ1JMS0FzZ0dmWUtpb1Q3c0VDRTJJQitOS1pjMXA5UWhRTGF0elFGb0R3WlhqZGMwTWpZREk3RCtITDhMcG5Nb2ZtaHRhcUdGNzMzTkRqUDZtZGgvQmxlTjB6cVlOekErc0YyeDc2QTVjM3NDVkMxeWZJQW5qNjhzb0U2Uk5VQ1JaQUMrQi9SNjBIVXdRTFRKZ0Y0UFJsK0xXQ0NSdVRvRTRVUWZneWZMc25BR0hpTE5BR1hMWW1UcXVnMEkxdWdTN2c4a2EzUWVqLzVGbWduUGpSck1uVE1XaDA0MW1nWWYycy80M1gvOURqaWJSQUhxYng4Q3R0RXprME43UlM4SlAvNFRYa0RZMkF5ZXc4L01iZzlYOE4rY0ZLaWpIdXZQYmZvNW0vTDBYbVpKT24zajlKK2gzQi9obDM0eFRnOG5xL2hsem9yYVgwWXU3YVQ5eHQvM2FLek1rbXIweFVNT1FJOXMvWXpEWEE1WHJHTWc4VFY5Si9kK0Z5RnVKM3VxUUI4OU9UR1lRdFhFcDdCR1cvT2hQMVhZRnJ0LytBd3pRdzJ3N2djbXRnN2t3WVovcDhuZWhPOVU4WXc3WlVwbitTUG16bDBmRlBIL1pWMDlway9XVFpOZHMvYXhOdUF5NnZmVkUzZ0RaUDNuYndyM2N0dnJyMW4zOVdVYlNFL3hkMERkZHNXaWQrNldlKzl0Qzk0MXZEZFE1YnZFOFlMZ2V3ZitFekgvbitWelMycm1HUWhxa1NBeTVidzFRWWtoZU9LNTJ6Zi81b1d2OTVtazlVMC9OSGZ6TVFZeVZYNy82SGJhQ0RuRkxLTHl6Qlh4ckE1ZjZyZ2EvaDBkQjI3TDRuRzVrd1hFWSsrOXRhb3ljYi9RLzVZaHQydTlubXl1RElubXlzRXFIRnZudWJLVVo1UmJVT0ttbGRCNDZMbjBxYkxzZU55N3I0UjNmU2ZTZjUvN2QzclRHU0hWZjV6bTd2em81M2VtY2pFZ2xab0I0UllUdUNxQmZ4dzhFazZvRUVZdjR3d3pOMm9xUUhDem1HRVBXSWhOaEVXRDBSeUxzaUliMi9VSVFVOVpLSEpSWlFEMEdDeUZMVUl4TUpGQW4xRWtUc0VPSWVHUlQ0RVRTT1Z0bVpPTmlYNzlTdHg2bTZWYmU3YjkrZTdsM2YrNk52dmM2anZqcjMxS202ajE0MHUvVGhiNnVjT0FsbkFPd20wK2Zvb3daSDA3TUpjamhOLzJqK3B6RUwvaXIyWDZTbUtOdnBYZjd6ZDcveExXU1dONi9UOFpuSGtEeTJjZGtNclI3TzNQMDBXcy9OWDFZaGZEL1ZSVjZ3YUhZWmVmRG4ra2JSTDc3dVB2UnF5eTRzT2tkUEJiTi9GeSthZmRTRCs4T0hFNWlJNTBPUm9KVGQ5QThrWm8vakc3TEplMXF3VVpXaHNtb25JMlQ5MXpuYUpjRjdVV3J0UHkyY1hRYnd0N1R2elB6TmJub3FPTzJnTENXbXllQWxqYXZScHZVaWNNc1RRSElSRit5LzlsVlZoMXpQbFU1c3JZL09abTExNFU3cjNQd2xmVE5pVjNYQmUxNDR1d3pnYnluZjRZN0dxaWtxUTl2cWJKSXRpcTNpZzNHNUVUWDRpOERuUnkxUW80NTNDVk8zYmtzOWhPaURPY3grNXJReVI3dHNBdDdnWnEwQWFlSHNNb0MvR2xFNkl6ckptSjk0eTl4cEFtNkdiME1PS0hodGM5TWZqdHd0N1hzbmNuaklYZE5MV3M1YzA5bHF0a09jbzEzQ3kyZnJGaTJlWGZyeDEyQWpBZlJuYUROQ1VoZkF2Y1JsRnB1dTA2akExYTFydHZYUUNrVzNXUFpOeXZUWWsyRVNSUzN1aDA1bEw2VTZJMHhEU3k0KzBZYmEyUi9aV1R5NzlPSnZRWVAvL2Q2MUNvclAxQURjZHZGc0ZVZnhyTkp6ekM1V1dWbzFjczRyOGZlY0VtVHBzYWM5Vmd4SFpOWlNBK1k3V1J1Vm5KOWRub25iMEh0REtlSTdMNTVkZXZHM1ZGKzJmWVJWVjFBR2ZpZDdVS2VTZzEwb2N2aS9ZRUxCMDltdVRVaHJlendNUGZhMHhYVHBJcSt6ald3ZlBEKzdYSW8zUitHN2VIWVorZkRYV0ZOaWFQc0lxNjZnREdDei9GQkJiQ1ViN0JBNVFjSUkxeWJvRGoyZmljWDZ6TExXQWZUZWtGSkcrZUQ1MmVYeUVWMVB1MUpQNzJrQjdkS0h2NlY3MS9ZUlZsMHhHZnJZaG5lWlVReDdMTWN2Mlp3YVkwZ2Jla2F5YWUwMVJiVDNwSzhuc1hkdmk3Rnk4N1BMd1hmb3ZrWG1mc2NDMnFVUGZ3dlFudTBqckxwaU1oUzJaVStDVThsWmMzZVZxK1BjWERybENURDdmUHNTT25XaDk0SFViZWpmOGRTYXo4OHVhOStOT2p3UTFpcVp4QUxhcFE5L296QlNiUmJiV3hXRlpXaWFzZWJId2pnTFJrM2FWdWZIaFZHUE1WRGpTcHplZXEvejlUZmFIREs3UEJ4eFMyVitkdG5ad1EwdkZnaHpLR1I2QWUzU2h6L1gvQVMyTDdHeW11VkhXZnR1SUxJODFzYVhTd1ZRNEhhc1NCVjJxazIrYmEySU9JSkplbTUydVFxWHZza1VUYXNXTGVEK1pSUjU4T2VxbjhEMjVSQ29lVyt2Y0QzeXArRXNiT0xCV0p0U2paUURwTzFMSzFLRm5TcHJYUFc0VjB2cTNPenlMcWhJTjlUV0xYWHNURk4xd3k2ZWF5Nk52NlhPQ1d4ZjB0WHMyUzIwMUpnaTAzSk5wcGV5T0IvM2ZpcGdwRGo0Z0RVbE8xV1BRZDAxNnNxYW0xMmVRenlDUWJROVBlc0ZKUmZSTHRQNFcwcWZ3UFpsRGFqTjhKWlM2aWFjMmR5eGV1cGttcWw3eWhRSDc3TldaS2ZxY1pPMTdBVXZ4UUM0NlRTUFl4TXEwbzVIMXBXL2lIYVp4dDlDYjJqN0NLdXVvRXdEcUZseFcwRjhFellZays5YkRMRnJZdVVEbVdWdGM2b0J4Y0VxVFdkNlRrZnB2YWxUdkFWTHo4MHVlM1RKSStMSWVoQjZFZTB5alQ5RFUreUY3RnNGeFdjd3ZLazVzemdwOEdyMnd6Ukw3cnp1bDNVcU5aSkRaM0NiMFB1aUpLNk5pbG5uWnBlZGJhaFlnNm8zL1AyazBrVzB5elQrbHY2cFZZTlZXMFNHd3JUTXFIeGNJZDk0WS92NE4vYmQxb2l0bEZOTHFzNzZRc0UwTGV6WllkVTEwN2FvQVRRcXZNUWpITXBDRlZIMUMvZkhULzJsTm9iRUxpdFBkeTcveEw1cWtweS9jVS83S2Jjc2l0S2xsUjk0SXY3STU2TG93V3VhL2h2M2REeWt1cG9TRmJIelB3REVlMWE1bGNteXl6UXlGbWxCbWJTVU5QNkpxSlY3TzQ5czBQYWxOUUdrNmFkV2pNSTBhejJSaytNL3dFemE4UkYwMXNjUzVpOTVtTjNJTlUrbzVhSEYvTCt2R1lrRTdKRGZOYUhYRTNSWWJEYU1KTTFLUXdpK3FYZ0l1enpmaWE5QXk2dWM3OStoQVB1M1A4ekxvaWhkK2krZCtKSFAzQjkvZk1Yc0NidzlqaTkzNHFNRG05VE9uUkora2tLUVMzWUZ6MlhZcFFjWlRsbFEyaU1samIrUTlVSW52b3ozQkFDK0N1MnAyRU0vdFdhMFdOUzNtZk56VzRwdmZqcUszdFBtTzA0MEhPclFuRGVkZVIwVlBscHNvRGtlcG0xN1h0SmJ0VURNdXE4RlVHSVZ1d0RmL3ViRDM5S3ZXcEJkbm1sOWJEOWFzVzlVdkRPKzlhV28rclBPbFprdVhZbGZKZ2t2ZE5vNll2aVZPSDVEVlAxaWZFUVZvV05OdUJYNis4MVhRazJ5NW5Fdk1tRkdPV3U4VWd5NmpDdmVDZmw4VkdrL2llMUxGcDE1NlJsVnJxUXduaHU1U0JsUnRaVU16d1h1ZWl0M1g3OWVqK01IOEtMWXQzWGJtak92NDlGbkh5MW1pblZOUXdueWo5dXNwTXNXVkJoM1ZvTmtMNzYxUVNVdnhQTExNR1NYRDcxTTNjUnk2UnBWaWVPVXRLcXZXdGJsS2EzZDJwSUVTZ25NTTIrbW9wN0gvNHVtNHFjckZuMFVLOW1yUDlNQ3FhQy85Q05qMFJhUThVdHg4U2RCMVViOEJ6aWR2bVZGWjM3NmFSVmJBMmJIMHpMQmFNdVB0L1FkdjdEcHVySkdhcEhscDYwN1QyN1E0K2tYalo1d2tmcG1UM1RhUkpxaXhXa2RNWC90T0xua1lKZG5PbGVwRXZhdEwvVnFTeGwvbjhVSW50THpXdW02c3N2RE9Ka2FNRVNDcjFHTnArb0pISzA0YTdVWHRFcy9NcHgvRVdtL0ZCZC9rdlNnN0VYNzczbGM0cWVmVmpNWVRoWm1ZN0t2eS9HUHp2SzRBOFNIcml2cnBDSXRQMjNQOGFzMGIyOFliV3B4L0VjNmQ4Nk93ckVNa2c4TXI5NG5EUTkydVN5ajA3b3g0bmVwZHZSYXdKNWk1eWtkYXRIcVNXNm9zNTRRdEV5WXF6aVlzK3dzVU1oWWtBZnQwbytNNFY1TXlpL0Z4Uit5NEF1MmhVaXltUU9Sb2g4L1BUekFsOThST3JZMGNUQkJrUEdnTU5nd3E2SVNTM05jNmxqck5IcUJRaSthRXdaOEdoVWxBZHBEWjdncDNqQXF2TlBhcmwvRExNME83TUR2Sk5tdWl1dGdsNGNIU1JsQVZiQzBWVHZheXRHTEtrOXBUWXMrTDRlbXEvczF5TGlzVjZTMUQ2RzhGSjhvWWYyRzdES0FqRVhyeWZ4SHlCcmU4WE9lMXJBMjc5aTUrSU1VYjJyZEVCeG9MUFlWcndCOUZEMlBWb0ZEU2xRc2ZPY0dTTE51UnZob1VtVm5WVmpmY0FmSlhtWkVFVUt0QTVzOFFOczFoaUxhRDVsYnIySWU0U3YvcG9JMjRkelhxTFZWMy9CVzZXVXBGb3dPa2lUc1YxbG90Qndyais4cmJadjloTVF1MFEwRkdvS0dQY2s2ZFRvdHZTVGRBOWhPMWFxQ2tGMEdrRkZrZ1hPMUEyR0I0OEJERTVEaTRpOXVXOGxybDE2SjE1d0M5TW56c1FFOUhPZWxlYkVFOVVMdnQ3RHlpWklENlhqZzZjMHJOOFRCMlZBUWM0RXppZ0hhZ2JOUzZNSkQvcG80dnZ4TUMxdnNHMHpCVGFzdGJFYjJtOVpLeWFXSlhpbzdXdE1ldTYvYWdSV1dNZHNKUjA5cGxWMXREZEVNaHJhVE5LY1FRQ1ZsaVRrTnBTTGduZ0Z5eUM0RHlDajJWWld3enhSNWg0NUxkbE9SQzBoeDhZOXc2Y2JyQ1QwMmtZeGxCZWlqNkJTWmx2LzRzRWNQdTRpR3pvbms3QVpqNVhveWpzTEMyRjUzQWlROVB3cE9HS0VObTJXQXR1bEVGejJyaHgvZDRrejZsaEE0TUNVVE5JazVBaUpsUEhpNkp4a2VkRjNaS3BpcGpLOFU0NkRGMWJZcDJkVk9seWovVDljNmliNFVZQzRRcDRISWh1d3lnSXhrc1pxczQ5SU03N09RNGhrK3gyaTZnQlFYZjlwNVVGTUt1bU5tNGdDOTVwOHZJYTZ1N1h5MGhxb3RuVTNLZDhEakp5dFMxUmFXdTYvU3lUbEF1K1o0M3JZQitLa0hQbTJ6cUZtV01UQTIyRkJ1Q25aNVVkTGdzdDhXU2FqeWt1R2pBbUZmS2V6eVFMWHNiMU9xeGJyUnNLTmIxWkRPRFNVQWlqaHhObXNXc3NzQU1wTHluUEplakZPZVpFQ0tpeit0ZXRRNkJFbHpLUWJvODZqQ2FDaFVZQnQ2ckdhU3BCcis2QWYvK0laRmgyQnQxeXJBT25iTEtvQzdrV0dFVGJ2RzVrNFFrTWRSZzJ6VEk5ZFRMRVJOM1hRSTMrVFlFMld3eXcyUkVOUFJqa2dPWTJtZ0luY29tL3BLdVEvZFhFZHpETXl4b0tLZm1xMnBMaWVsMTJXdUQvV2RmcHQySWJzTUlDTUplMXg3dzJ6aVZFQ0tnMzlFVDVHcWVNKzZkbld4UFg0VDYyRVRZTkpUWTJkWFRKUmpheEtiRHM3cGtsVUNRNzFoRmNBdXphS0MxVGk0MFBhbHpZbTFyVnRPbVhmb21SOUttc0V1bFZpb3RDTUsrOFora1I5SUsvV1dndnl2cGJ3SzhjSFZaUUtzTHB2bFpTTjVPcSszTm9leGNkaDJHK1RDZHVsRkpxR0hEOTlOY2NwVE1CNytZc2RQRFFDaWE1V2tNQ1pEeXp3S0NScGNCV3hLeXNzRzQvWkpHcS9Vc2VZT1I5b3VBN1JyOXNSSDI1Y0hLZmF5d0xKTHN1QXR0eVdFcUNKdGx3M3JnaHpLaU1OYldvdmorQU9zZzBETjdFeHRCZ0U4cTRYUzViK2pOSERQSWJzTUlKT1FveHQyaE9SeUhUY2ZrT0xnTHg3V3V5cDVydkd4Q05DUEt6N1FiZ2pBTkhxQk5xT0xXMkJ5Ni9XZWRnUDNiZ2dHaUkwdlVRUm96N0daRXEwd0RHNWdhc1ExK0JDUkJac3FtV0pmeGROMmlYWjdwdUdhWFBoNFM0Y29qWTkrYkY4MWIvTEFIMzNjVUJYMnVhazNKK2hpTVNHWjNTcm9Md1BJSk5TMURJWU8vK3hzUUlxRHYvamFpV0sweWNjaVFLL2E1anhEUkFGKytCQmN3RWRPbWt5VnZ1dTdNQVd3YWtvR2FCMWNodUR2RUpwc2k0ZWVzRHNUKzZrMkhlTjlVYjlMeGJUaVV3NEFXYmhBc2lKL0tlM3owS0dlNCt1cjFUc3hHbHA4cUVRZGh6ZGZKNCs3UWF4V0RhcFduMFArTW9DTW9NTTBIclBkQk0xcjhrUkFpb00vT1FZOVg5ZjRXQVRvSjFmRW9pQ3Vaa3F5cWliSXFLMzkzM1JwZXJ3SFZKbTJ5d0F0Y09ETXVqeWk0eFdVdHV4eXpiZjA5ZGdsMmRxRzRTUng5NWZLaXdlY0Uwc0dha2MvcVk2VzVYY054eWhxUTRRNTBsZUxiQnV5eXdBeWd1cnNkeklNbmVzd01oMlE0dUJQOGJmZUcycXg2RnJmMWttTi9VakpXUTNxd00zZWNzeHFIYW9qTHlPT0E2ZEZ5MXhrU1UzYUxnTzB6dlhhWTdBNE10SjJxUzlzM2RKamwxaFVPblpKT3puKzBvaStBaXVPV3lJS3FjbWNQQjN2YTBFOGdRMSs2L0MzQ3E5N0FzZ0lFWWZiN2kwTUxubVNkRUNLZ3o5ZG1XbzVqcVVPOC8wQitrbFU4TFJ0QTdsZzRPTnBIeWg2VUE0QTAxZTBURG5qZEh5SnAxU1N3Nlk5WjJaZTR0VE9VdE9LTDVzK3orcXhTNHBEOTRXUzRnZitnUnkwdnpTS3ZvcHFjWHlDV3VOcUhnTzBKY1lmWVVKd095N2tMd1BJa0FKbjRxMjJlOGxUZVo1akxQeHBHYkFydWNNUzFZMExLdkhUeTdZNVQ3UXR5SU96bkd5aTZIL0VvRmtlQ0x6Z01SeG5uRjZQQjJodHU4emN2b1Nac0tWcGMweTdoQ2JNYnNUQ0NocjdTMUh4UWtQMmNCK1o4ZXh5bWMzY1pPKzdvUFFkUWJzTW9Bb2VaNzhESFJoN0g5dXh5N3hqWitNdjlvL1hKVWRyK3hKbFh2cXhwWHNiQ2llODQ2MmFzUERQMm1MY2JGNVloanAreFdlWGtZL1czci9NM0w2MDdYS05CZWk2RHdGL3VhRWIwTHFIeHBuc0oxMHFtcjNuWHQzRFdxcGZocEZKRGRnTVFPc1U3bVJNcS9BOGpqWStaSWkwdnhOQkJ4RlRjRTQ1MHo0cE52NWlQYmduMlNNVzI3WWsrZWl0QmhObmlybmRJOFJXZjZhVHd0Njlzc1M0YjZXMTlOQ3U4ZGhhbU10Qm1rNldXUGQ3WUpmcFczNGV1NlN1WHpVc0pabS9WRGI3ZWc4MFpHeUhZU016SEtPYURzaFEyRW1GTkxwbDJGL2lscEVIVmJxUnRCLzFMWGV2bWVWS2VLVFkrSXR0b24zSmUraHVTZ2Uwbk9MNVM1cTIrQzVlcmw0cG9rckR4UjdSNUk2cVRjNncxQTI3Sk1tbGFJZlcvWEdLL3ZaOWRLS3N4bDBSbXFZbk9JOWQwc3JidGt1NmhlTXYxWksvQ0NKa3VxbjRSTGRnaVRidmU4Mm5WdEk0eXk2eGM5VndVY1diRE5oQ0dWanFNN0dya3oxL21WQ21wTmo0UjNTOUtobWJuakZNMFUvMy9DV05kOGFBSzAzR1BFTjVjM3VPYURBNXJ0dTBtSkNaTWJBNmw3YkoxM3pSa01IQ2lHU3lHMy9QRko3eU5mWFlKYzJzZTRac0xSbDliMm4xWTdwZFhSQTFzM1lIVkZ2NlpKWTVZRWIrS3pKekhpZDZGeGtVZFhmRnR1bEZxbmFQU1orL2xQU3VGQnQvbXJEMExrZk5tS2dSN3RKUDkvd2xSc01ueElnYko3VzZyMXJWamZLaWFCaGJZNE15akRzekJ1UkR0UFl6bFYzWDRwVkVjYmFlRmFSUVZETlZ6VHgyU1RNckc5aW1uSnA5cGF2YVZkQzY2SnE0KzZSdjVTZ1JxVE45TXNzYzVBSFdUWmFuL1A0eWlBeW1jWHJFRFVQbjVhZjNiU0RRUFM1eHNTSWRsR0xqVC8zVzI5eko1bC9semNRZ1NEL2Q4NWNEYUo2T3hsTGFaeGFjai9YKzNjRHhsNXNwSDRHRk5UTUdUSnNoMmk2Zm0vSEVVUHhxV0lraDk2MjBkRDl3Mi9yc0VqelpPSFhsZXRsWFdtR2Vya05FaUVaR28wYWZ6RElIU0VJYkgxNjdEQ09ERWFlTElyWDZVTEx1Z3lUL2NiU2gycWh6V0lxTlAvbExOUUFBbUdMc3M3U2lEZE1yQ2ZuT2ZYUkFYd2Y1V05BaVlGdVNybkVEUVJtcWJqaGM3VzI4TUszOWZrazdjd0ZzdjhLM1l3QUFBQTNuU1VSQlZOL1RzdXp0SzBJQm4xMXVXanMzdFRoZUoxVjlwUlh5a2ZLb1VjUk1PK2FzWTgreXRHb0hUbW9nUlJHUnNHakROQXZNNDJGa3dQbFBRQTRQOWhMbmtpc2RsbUxqVDFlaTJ2SERoRVE3QzBPU0hxYlBwWTRtNmdFdEpVOFhUcFlnd0JWQTduZlZQSHRzYlczRUVKTkJhNzJQbDcxOWliMUg3cG8yalQ0UTBkNmc3dmpzRWc3bkZhcExqbGFjVEx1KzBncmJldXdLL2V0V09OTGFVRno0dWNlNG83d2R2RUhqODVjWnlLQTNlK0FIUzdFRmNObGpwak9rV1BpTElGZHRjOEYxMG5oM0wyV08zNWdhQkpwaE5HTHl4MU1jdElMZGtmUk5Ob0JVMUhibWRSUTFlSk1NMm9abUNxTHM3Y3ZvdExVQ2gyVVpUMVZKUWtPZlhTSVFNKzB3UXNtODRTdXRNSXlhd3EwMlRaOHBacWErcG80T0JvNGRoOENKWlZuU1o1Y1p5RVIzaWNVbFdrdzVjc251UTJEc0xQekZ1a0JKdzJKMkc5clhEekxwV2Y5eUpJR1Zkblk1eUltRWRxSVBKRzFYcDVLQ0pCS1JsY25wa0YvbEdiUWRObmVTYjNBNFd6eXhGcnhoQ3JDME90WTVFWXI1L1NVdUVkUE9lQjlQYVlYRk9nT2hDQlJYN2dPN050NDEwSW9WU05Oc0hkcUs4TmxsQmpMUlFPeUxvcHVCdUVCM2ZtUWlRNHFGUHhnWmFiMGtGT3RzWlkvOVNPRVpEY2lQQytQUGFET3FDbkdPbmtWYng4dyt4RVZtUmsveUdmQ3JQRXlMbWZ1cWtaeTlmVW1ML0gzVE9Lb3hJeDRrVjduUFg5S1RNSHVLcktubGVVcmhRM1cvdXNsMHorOU9KM2FpT0tuenNtT1gxSWRMcXRJNisrd3lqQXhtb1FNaWw4c1BpOU9rbWJBVUczL3dyYXQ0anp6NUFiWlY2Wm9PMDArcWlkMmU1a2NIUHJ2QkdMbWwrT2hBTm5QL3ZnMWRTSVZBYTZwL1JCT21oYWx0U2E0NERhR215YVZUek1CUWlkMThOZWRFN1hYUm1ybFFURU83b296TVdkK1JhZWtWbTZjVWRwbXdBVjA5dVFnZk1yaFZPeGNUZnZadnpibmd5VGVsMEJBa1Byc01JeE10U1RjUWpGZHRQYkp5WVNrMi91QXhVUGM1dXVqSEhreVMxdVJoK2l5cG8rdG9mdVIrYVRSRnVzV3FNYUFtbjN2UkVrT3g0eEtjVnYyamlqQXROaUFZSldLenpIMlpockViVUZYYjZzTVEwYW5FZ2RPNlNiRmJNK2JSMVZ3QnhMcHFrQzZGWFg1ZjFxN0srUnRGYWhZOXE2Y0x4WUhPNEtob2ttTDRGaFlPOEtZK3V3d2pFelhsUlpkc0kzSkdFNmZEVW16OHdSaFJ1MkJmaVo4UkpqT2tTenBNUDdFcUZnRmhaYVlvcTJyOFRPT0RzdTFxSjFrNmFGSk1YZXM2SXhOTGxzRUZhVTl4OHlXM2JrY0lEdGVhY29GSk9SeW0vSTViVHp5V1JrWkNjNDg0WU9OS3pVb24vcjJrc0s3ZEpXYW9WQ21NVUYyOXo2bnA1WitVdzZ5Mm41U2MrZWw5YmRCOG5wVlVheWhReEt3Y1NaOWRSa0Zrb3BaMHozVnpyZG44SnNnRnBWajRFME9FZkZmcDNIOFZyaFQrc25hSmNrRjZxc3gvVU16RC9WSXVUczhkYlFpNmF1cWZKdUNhMEFQN3dCaHZtWklnN1RubGJhcC84NWszMG9qR04zL2t6Ly9YRU5xcFRUTWhpNHFlTk1OL3BMaHo5ZnBuTzlUUEI2NXZSZSsrL2hiaTlZZlgvMHEwZTVkczkvUGE3cWc0VlFxZDY4bXpRYXR0dGNiQlY5OXVnam0yOE9SSGV5aXRqbWZ2SnlseC9DSFYvYTk4dGkwSzRrZXV2MTQxMG1ldlhRYVJ1WEQ4emVTb1RlOVNvcUFVamIvV3Noc251Nlo3V0MrdUswOFpwTmRrdVJJd25QUk96cVNjcW8xYjlIbkxyOWZqMzNGSUIvWjZKS20xVENCSU8xQ3hHSVZsNnJBblJpYk0vUWh4cFIwZmYrNjl2L3F0K0cxb0pJSm93V0pEL01XVFNNcEorSXR4L0JmLy9QQi95MjlaS281dUtUNE5WZWw4Y2orS0htNW90eHZoNjhPMy91dTlEL2VjMkVYdzZBb1orRm1YTEhVQjM1dVNkWDUvR1VTbXFYamp2SzlZNUQwSHBXajhOZWVWR1A3bmx6b2ZqcUxuRU10ODZsVlJFYVRYWkxrU01KdzRFWkNMWEJLdHRPTGp4K0dTZnNwbDB2Zk5OSFU5V05ROFJIdW9WZzBYNHVNcmozL2swVWNmZitKSzdKc3doY3pVckhPK0pVYnZBMEpFZk9YeVJ4NTlQK2hobDJBR1hsYzYwaTRqbUNRZFB5clk2QituZEJYekx4NVl2NHcrc3FuNVFsdVF2bFZUbVVUM21DUStma1YzdFhzTXNZOVNVU2VOdDlkZkJwRnBDS25KejFVak1tZHFKUDZHNzYvSCtDdDEwcjdhd1BmQUQ1S0tFTDBoeTVQcW8zdXBuWnpKR1oxNThZbjRxUWZTSVBWNGtLallidHF4WUlDMmtZNEFGQVBQdVpLS1JxcGZlT3o0a1RkNG1ycEY3N3VuYy9tQmpleFM4VHpSQy9mR2wzLzcwN3pobVJjaEl4aGI4SmJaYWI5ZFJuNWt6dXNGNERBUXJtWUxjMnY5VWpCWHF4REVFSHpsc2VPZnZrSFp5dE5IUDY2S0EvU3FPdCs1Qjd0OEtSL3BPRlF0RlNUeXh1Zkd1Ukt3Z0JZSWNNS3NkQWUrOExZOUFuYnA3ODlRcnNaOUR4SDZLZktVVG9wL0hoa1pOQTNZNVU1Ry9aUlZaa2VHTVZyeU9WRldMNUlYOUpyWnJmSG5hM3JHOU5jdmRPbEVkdG00cHZxQ25adHRsUzc2UENuK0JjdEh3T1FMMnd1U2dxMkY3VFFyWElycFFyZGtPZFp1d2EzeTVvZXpkUHRlaVFVV1RtS1hLM29hTCthQm9rQTNKc1Uvd0Nabk1XMDNlK0tJbk54U1pGZ0lINlFLNlk3V1ZVK3BYZFQwV2JUZHhNcU4vQjkzcS9XQ1pTYXh5K2ZOY2dCUEJid3lxNTVNaW4reGV0Qis4ZlI3RFVHZHNNWGpDeExINlhOdnduanhqTGxISDFSbllTc21zY3Y2TmQwTlhQYVRUU3FhY25SaVV2eEhjNXlrQmE2NGNTYlZTVmpLdHI5ODVScTliYUEyb1MwT2Q0MkdzenJ4cm1wdmh0ZVhwZjBNTWhQWTVjcXhrWS83THNFTlhkTXFWMnB5L0hPSkNSSFJiVWp2emQwUXdiamxjTVM0MTlmMHI3ekg2UFRTYU5OMVZCbkdsNXlTMnljN2dWMDIxYjRyOWM3ekZHRkJuWjRjLzRJRUoyeVdZWmZKL2JWQzJZb3RERnpZL2NCYXZ6YlN0dzBuWGw3UEdjbXA4QnZmTHF2dFhTYXA0NStQV0l1OHljbnh6eXZKUzdjR3V6Unh0TGRKdnNLdXVPM2VDQ3h3bGtkYVhjMGJtR2JxMHZiR0RKa2tpMUk1dmwwK2FGM3BlR3hxUmwzSWdYK1JtalJobHpOWjB0WEVzNEdoR0tFeTZtSTRreU53MnB4d3BWUWtqbFB5R3RjdVYvRTN2eS92SzJILzluYU0zaHUrcWJKRm52UGdYNlQ4TG5vMmsyMTEyT1YzOFQ1K2FMbllZOUc3cno5bko5d2xJaDUzMmJjM2ZXd1h0V3hNdXhTcjFGZzlqVFhFMk5HeE80TmU1Y0cvU0RWcTZOZTFJaGtxWHYzNGFBc2YyOWhUZWVlOFBFSnFQL05oUzRlWnlyYXgwcm85ajdIdDh2S2pqM2NVTkEvRmVBTGwvVTkwMW1mUTUxejRGNmhIQTNaNXRVQittdFh3YUIvL1hoS00rTTRFUGFuZ1VCMDF6MnM1UE5FY3VacmlyUmNwUGFaZG5waksrZkF2VUQyNkRibFZJRC9OYWlWK2EvVHZHVHMzWGMrenRKb1k3K2NjbU16WXFaWHdZM0JqODVoUHcwV3p5M3o0RjRnZHpISkVwSmRYMktmaW82d2RxQXVaQVdRdjM0eDhPSk90Mkx3SVRFQzNhSGFaRS84SmVwemRGRGNNWnJZRDlyZnRqMlo1NGxwd2pxZFBPMXpLMWp0UXV6UnkreWxBT08vaUJiUEx2UGdYQmlPOUNUeXJPMWtqbEZ6eXY0RWxxTG9aTnB2SnRqYVRld1NaSWd1cFhEQzd6STEvSVdDQUNiMDZFOXJLS1VwR2lNOWg4SUpZSGJGWUQzRWtSN3NYcmx6Z211SGtkeEZtMkp2OCtCZWxGQjRzbmR0aml5dkIxZlB3MWR6OTY4N3JLc3V0c1NCY0crT0IxT2trVEVJOUJmNlRpTWxvaXk5UDVBemxNcGlPVy9YdVVQajUxVkRGYU01bjJGdGhvMXN2VEl1Vk55Mk1LbEJrQ3Z3TDZzWVFkbmxRRUsrU1RZbEFVUWhzd2k0M2ltSlc4aWtSS0FpQlE5aGxRYXhLTmlVQ2hTRlFuOUZUd1lVcFdESjZUU0xRbnRGVHdhOUpNTXRPRjRZQXBuSCtXSDVoZkV0R0pRSlRJSURYdTJmelZQQVVPcFdrSlFMMG5iT2RFb1lTZ1FWRGdENVdlbTNCZENyVktSR2cyNUJYU3hoS0JCWU1nVFhZNVkwRjA2bFVwMFNnV1c1ZmxrYXdnQWoweSszTEJSeVZVcVhlakQ1cVVDSmJJakFOQXEzNVBYMDVqZG9sN1IyT0FKWTkyM2Q0Rjh2dTNYNEkwRnRuRjQzYTFTODhjZlRBaHNtWHFSS0J1U0JBYjUxdGFNbjRVNmluN29tUEQzUkJtU2dSbUFzQzlOYVpFZnhnL0Z2NE01MDJQdDlTSGlVQzgwUUFINzhVLzY4dWRLZ2tYeUU0TmJmM0krZUpSQ2w3a1JEQTdSN3o1bUZUM2ltdkg1Y09jNUVHNlRXb3k0Qy9QSzcrMEg1WUx0RmZnNmF3VUYwK1pOdVhjaHFuZjgyZXlmZURGNnJqcFRJTGpVQ2R2VHgrVnYxUDhtcm9HNzhMM1pWU3VUc0lnVGI3UzZsTi9kME52bmQwQjNXMjdNcnRnZ0Q5MTVsK3lxMm53OHBXK2FqdzdUS0NkNmFlK0lzZDg3M0l0djVFWDcxOHRlTE9ITy9icFZkNGkwSnZFK0VOTkhWSHNxY2l6ZHVsSDZXZWR4WUMyRmIvcnVvUis0UFJ3L0xWWFlWS2VaNEhBa1AyTWlSODU1N1U0ZEI0MFhsb1ZjcDhyU1BRWlM5RDRuOGlsVjMyWi9abDY5YzY0R1gveDBLZ0Y1c3ZvK0xOeUt1U3FNOVdRMlB4S1J1VkNCU0pRSWY5dVNCaVRXT1hzL3JQd1NLVkwzbmRxUWhZZjE3TjdMTEx6UFZPN1h2WnI4VkZBRTlmdnFLMXd3ZXROMlNtTzZ0LzlOSEN5a1NKUUJnQm1PSzZybDByN1ZKalVTYm1pc0NtTWNVb0t1MXlybU5SQ2pjSTlIZ2NDZWVwMWozbFBHNHdLbE1uaDhDekgwcDJLanY4dm81bGwrVjYvT1JHbzVRa0VjQWRSL0V2ZHpodkcxRFllcnpjdnpTd2xLa1RRd0NScEZoNll5ZDl3d2d0OTlVTkZtVnFIZ2dNWUpjWElYalR1cTF6dXJ3UE9ZL0JLR1ZxQkhCWFhEejQyN0pleUxXZTI3aE4vNVJXZDdGTTNJWUlrTC9Fd2dmaEpYbE5kZURUR3lwYjQrc2hWVitlU3dSbWl3QlczclRlZnQ2YXhpUGNsTHdtNVpiUEJjOTJBRXJ1WGdRdXhQSGJVTkdJbjdTcU8vcC9kUnZ4cmxWVFprb0VUZ0tCMWljZzVYVHNmRmJEdk5YVDBaN3pKTFFwWlpRSUpBaDhMZjU4dE5xT1AyamowUzNmMDdVQktYTW5qVUF0UHVyRUgzZWtMcXZQYkZUNDdVbW5VWmt0RVpnZEF0WC83Qnk5eVdWL1BuNDVLVHBWTHNkZGJNcjhIQkZveTI4Y05Ndlh4K2M0Q3FWb0Y0R0JYSkMzekVzL2JwTXlYeUp3NGdpc0pJOXpsTlA0aVNOZkNzeEU0RlB4NzBmUitmYnhSbWFyc3JKRTRHUVJxTmJ4M2Y5Ty9PYVRsVnBLS3hFWWdVRDF4U2VPZi9kTEl4cVYxU1VDV1FqOFB6cVdPbnU5dzQyQUFBQUFBRWxGVGtTdVFtQ0MiCn0K"/>
    </extobj>
    <extobj name="334E55B0-647D-440b-865C-3EC943EB4CBC-69">
      <extobjdata type="334E55B0-647D-440b-865C-3EC943EB4CBC" data="ewoJIkltZ1NldHRpbmdKc29uIiA6ICJ7XCJkcGlcIjpcIjYwMFwiLFwiZm9ybWF0XCI6XCJQTkdcIixcInRyYW5zcGFyZW50XCI6dHJ1ZSxcImF1dG9cIjpmYWxzZX0iLAoJIkxhdGV4IiA6ICJYRnNnVUNoY2JXRjBhSEp0ZTJOb2IyOXpaVndnUVgwcENqMWNabkpoWTNzeGZYdExmVnhwYm5SZk1GNWNhVzVtZEhrZ1pWNTdMWFY5WEN4a2RRbzlYR1p5WVdON01YMTdTMzBnWEYwPSIsCgkiTGF0ZXhJbWdCYXNlNjQiIDogImlWQk9SdzBLR2dvQUFBQU5TVWhFVWdBQUJQMEFBQUREQkFNQUFBQUxzbm1RQUFBQU1GQk1WRVgvLy84QUFBQUFBQUFBQUFBQUFBQUFBQUFBQUFBQUFBQUFBQUFBQUFBQUFBQUFBQUFBQUFBQUFBQUFBQUFBQUFBdjNhQjdBQUFBRDNSU1RsTUF1Ky9kelpsVUVHYUpxeUoyTWtRZjdwNlRBQUFBQ1hCSVdYTUFBQTdFQUFBT3hBR1ZLdzRiQUFBZ0FFbEVRVlI0QWUxZGE0eGt4MVcrczQvcDJabWRSMnhDRXB2UXcyNVFpQXk1WTY4aHlDYnBTZFlSNEIvMEJyeVEySkFlRXFGSVBOVGoySUJ4TnVvaEpJb0lnaDZDTEJJQzlPQUhSQW5RZ3gxTUVJRVo4UkFLRWZRUWt5QWlsQjZjQ1BFU3ZUc3pKdmF1N2VJN2RldDF1NnU3NzZ2ZnQzNzByVnQxNnRTcFU2Zk9PWFZ1M2R1T2s2WUJjK0RQMXYwRXZLZnAzbCtiM3FVY1NKSURQKzR5OW9wdGpaSHVYNTVLb0daSW11c2xCNzdDS0IydGlUNHlmOG52djZXWFhhYTRVdzVJRHB6azRnWUJGQnJ3SGV6d3Q3ZmY4MzYySkFIU2E4cUJIbklneTM1M2UrN25JWVRQOFU2bTJKVTl5angxbEZyZ0huSjlvbEZQWDNmd2NjbUFrK3hHeXY0VEJIQUwxN25jd1Q0dVNObFVBWHFNU0g4VDVzQmNucmxNK25mRjV6M3NOY1lPb2ZFZVp5OFR2VTJKaW9RN1Q5R05QZ2ZtejJ6SEdjVGo3SGJuUzF6YkFVdHUwME0xRFFXNDRzeTV6MGpNR1ZmbXh1ajYrWnZHYURBREcwcURyY1hvZTg1bEVOL0dWWTVpNW9yRVZHVHNpbk5jaWlWS3k3dXlhbXl1Qyt6L3htWXNneHZJVDdOWThuZUN3YkorU3VBNGNVMk9neFRnVmxXSm8rTWNXNUZWNDNMTkZGTDVpeitYbHhBZVhvdUJwc2FXblF5RWJaVndsSllVSmlqQUkvWnFkZXVjVktLcHkwWTZSNUhOVlAvRm5FSWVLb2tqZjNPTTdUb1U5THRNbERRMkZEMm5VY2IyMWEyejhLek9qMFB1MDFtTUw1Vy9PRk01ZmZGNjhCQnBMVHFXV2NiV25SUEF3ZFZiZVU5aktqRG1PWVZlMFJ6TTlOaWtIM3RMRGtOTzVTL2VoSkxhT3ZoWVBwYjgxYkhOY0thQWlPdS8ycmFtaUFxTlcwZHRoVFhJeU9ZS0dOdHI0UFNtK2kvT0ZKNDhlK3RiOTV4NDhwZWxPU0JidTBLVW1QS1h5VEhULzh0NEQwVGkwRHM4YmIvLzNKdC9tYlIrS24veDV5U1cvTUg5SThVSFVkc2pTa3o3NnhTd0E5SGtqWlg5NWNOSzVVL1Bib3hjTFBtRENWOUMzNmZPZjVKVFlPdy9ISXJBR1BHL21iSFRGYW44eFpBNjNUU1cvQzB5dHFGUk9Zc2tqQ0s5bTBFQmFxZHY2bXV5WWx5dXFmd2xNcE94NUs5TTIxK2RUQ0hMUHpNREJiZ3BLK3VyTWpjdTExVCtFcG5KV1BLWFo0Y21FZE42a3pHRmlIUkZIc01DVEg3TkJCeUhmQ3AvaWN4aUhQbkRndzl0WVltYTNKNmtLWXZ6THdnT3NndGV3VW1mbkVxZ2tiNm04cGZJOU1XUlAxallGMzFFTkY0bmJwOWdsSU1IZU1Xenp3VS9uSy9SaU42azhwZkl4TVdSUDhTWS9kdUtVNGZibktnWlQrNG9NTWlQQm41Rk80S0pFRDBNU0ZMNVMyUVc0c2pmb29nN2EwSUsvREhiZEU3STI5TVF3Ry8rcVMvK1dwT1oxdkFqbkV2bEw1SEppeU4vUmVYZlNWSk9zV2QrNVl0L3g5anJSVUVGQWtocFZ3S016eldWdjBUbU1vNzhWVnVmSGRPckg0eDloeVJ0N3NQOC9rWjVQMGJYVlA0U21jdzQ4Z2ZaOHJZWEJpVi9ldjdnNXM4WjkvOTVudDFxM2h0Vm81MU41UytSK1lzaGZ3dDR5eWdSR2tZU1NTcC9pVXhiRFBuRDAxL3ppRjhpNUl3T2tsVCtFcG1yR1BKM2pMRXhPOVVjaHFPcC9JWGhWbHZZR1BKWEY4ZWUyK0llNjRwVS9oS1ozaGp5VjJONCtXaGlVeXAvaVV4OURQbkxlcWYvRWlGajlKQ2s4cGZJbk1XUVA0UmZOaE9oWVNTUnBQS1h5TFJGbHorRVgrSzhPcGNJOVFORWtzcGZJc3lQTG4rbklIOHQ0ZWRFYUJvSkpLbjhKVEpOMGVVUEUzQ1FDQW1qaVNTVnYwVG1MYnI4TGRJM2hpWTNwZktYeU54SGw3OEdZK1AwVVlPdzNFemxMeXpIclBEUjVhL1NmUHJaaW45c0MxUDVTMlJxbzhzZld2cFBQeWRDejhnZ1NlVXZrYW1LTG4vWS9pNG5Rc0pvSWtubEw1RjVpeXgvRlA1YlNvU0UwVVNTeWw4aTh4WlovaWo4TjhHUFA5THZEeVVpZnRHL2Y0WDFQOG1QUDFMNUc3RDhMVUwrdHBPaFlTU3hwUFkza1dtTGJIL3JrTDlFS0JoUkpLbjhKVEp4a2VXdjV2dStYeUswakJTU1ZQNFNtYTdJOHBkdC92aExJdVNNRHBKVS9oS1pxOGp5Qi9NN3dXOS9PT24rSXhIeGk3ei9uWWY4dlpBTUNhT0pKZFYvaWN4YlZQMUgzeGE2bkFnRkk0b2tsYjlFSmk2cS9OSC9LNndrUXNHSUlrbmxMNUdKaXlwL2VQblgrTHg0SXFTTUZwSlUvaEtacjZqeXR3UDUyMDJFZ2hGRmtzcGZJaE1IK2R1SWdxZ00rVnVMMG5CYzJrRCtZdTcvcDk4d0lyeDRmS04zaE9ZaXFyRXE1RytTSDcvaDM0M2pIdjh1M05TN2FVMFU4L0Vldm1jQk1ib1FoVmdYRGFPMEc1czJpM0hqNzdQZW4wWU5HME15RjF2VVNpYjMzYjJpOGg4aFJzK3VoOGVPZjk0eS8xNHJQSUpRTGFhdmU5V3VhUEJrQzNkQ1lVb01lRDRMRG53d0RycnNjSDZUZmRaeXF2TngvSnRCNGluejBZdS9jeDJZaUsvNDNmRFkyemJDNGFjL2wvSC85MEs0OXFHZ005bWp2UGl5K2ZRd0JMMS83cUc3WDBMNm43R2JQM0h4STZHR29vRlB0UE83Ly96ZlAzdjMrVy9XZ0gzT2xiei8wdlgxT3MvL3pzQlhGUCtHL3JaY3A2VndDUEh0djdqdWQvQU83N3U2Zmh6L1owUHBXRWVuSy9QbG4veU5yM012Y01nZS9wUTAyOXE5ZytvdGJBVjM5czN2YXFhbnF2K3N4MWZGL3ppdmYydmIxemZkbEptRnNLTHhWNUl0TFNJV1pOaVpjM2Q0NmZ3dGJrajVnL2ZkUDAyVTNjUi8yWGgvWUZobm5heFdnVS80VmtTR0JHNVdPamg3cStEY3VUTlczOXkvdGpsVjMrbEhmOHBpNWpqRW9PV3Y2VCt0UEtwUERWdXNGOTUzM3g2L3pXRHhUWWxWV2V2NHpwMW5GRGY4TXoyUXUxOFVGdnFsRnlrOVNvVHhmMEpSeERUYWZidGs3cUc3QU53MzMwWVJKREswY3ZhYUMvSFBWa1AycW5jRFpLNjBrdG1Ua3VQWEhFUTd2Qm5KZHV6MWZ6NzZNT2phN2drVm9aR1NpL0pxMFdydS9iaDVtWUVpNDNZSUh0NDdRUG1qNS9xYkJxRWl1Mk1UeWxhd3ZwWFVRT1pXbjNvckx6bk9qdkEydTBhTDNLSDVLQTNONUs1aTBUdXd6VnRYZHppOXRhcHZtbk1JTGd4TS95R3NibnV0OW5USGRkODhnTjdmWjMzTTdXMS91WDBILzZYSjMzWEhxYStOenAyNVEvTk5kUHI3UmEySzUyQ0NYNmRKTHh0VnVsVG1CaWgvTzZEYWRxN090ZXhLSkxrRHVKSkRzOStmZmpQMGxTM1hjOWVoVS9TVTJycUgrOUxCc05sYTlLd01KelRNNzRNVlRhSEtkRlp3Sm1qUDZMTWpKc05tVTc3bG9UTEFGSDd1SWduMjRVVW9uZnN1eDVGNmI4bzNwUlprMkQzQ1d4eUt0T1AvZXdveWJIdVNzTm1PMnlpc05wc0l5TVk5dmVaQXBybHNaR2N5QUNidkIzdmxRWUtFU2NDL0ZqWW5FWFIySFBqeTNIazYxczI2QW5BNVlicWlvaXY3VlRHNWcxc1NWNzN6UTgvQnlkOGNvMW5ZbDNUcTY3UUlnT21TUWVibzR3ZEpoeVRKWDJwT3UyS1F4OFNuQnVVMnBPM1lFWmZjYWx2WjM0cXFYeFhUa3Iwc0tjaTJpNzU0QUlPVHYxT3NBVG92U0RxTmE4Nm1GWTM2dm1iSm1DUnRJdWF2UDllY2J1TktEeU1yaXRWWDdtWmRTMTAzS0gzamsrdFh4ZlRDakl5ZHozZGgzdURrNy9naHFZRmxDNU5xeG1iZVV0M2Zva1VRMlU4L3Z5cFVSOVhLR21Qc3hiNjVwVWFuMWl5NXlFdEdEWDJ2U2JKc3lyckYxTUNEazcvNmMwU25YQ2VhSXNjcGRXTzlDZHpyZkIxRTJuYnB2ZXJYRlZaVlh0djJVN0E2ejIzQmUxaEJKelIyRGZ4a2YrVkRoRktYYU5yZzVLOXlEWnNmcTVNdG40QWFReHBjdGd4bTl2SGprM0w3QzUyeTBYblFPU3Z2T3JmcFRTM1pzVDBETmUwL3BQelZiSThZRE5qQnlaKzc0aFJBcUVHTHpDNGs3dkJMekJHdVZkQzRIS0ZkeENZeTdBZWRzdDBSeFhDRi8zelRTUExvbmFIQTA5UXV3eGlZL00xRFpUZEE2SnFGeTkxNGIyblNzNkljYURTZG01NTE1Q0UrS2F3cTV0QnhGbDdidmpjWXVTRUsvL21PeGlBY0xXbWI3NlpLQmlaL0o3RXdpTkF0QzR1elhaUzJwVW12aXZqeG9zMWVZVy9GT3lVbWpJZGhabTNlc1dnelhPRS9hVzQ1Y1R1WTFoV1B6Sk8ySTNibXFBY21mOGNRVkFNUGRhRElvS29zeVRmS0JwU2xQWkpWUi9lSW5pbmgxZTJRQjNYc2N2dGVoaXY4NTl1aGtjdTg2MUcrYU4xZ0dxTWFtUHcxd0Y4S0ZFbEh3YURKMmVucmp0UHN1U1ZQNGVjdUxreExtemdGc3lKZVZxR0pxM2N3L0NVMXgzRzZTNlJ0cmttTDVNRXlnYmhoMVM5R3J3T1R2d0o1TDY3OVVQZHh0WDB5S0IxTWxqNitJWm5aRHdwT2Vmb1BLeFA4S2F5MTc3TG8zM08yQit4NURia281a0toY09Cem90ZEtwOE5YQkRNdytYTlgwWHNGcEs0VEdmNDBPengvZDdVSUNnLzkxUFgwYnNIYmY3eWJCMzNPZE9pcTBOZGwwWUVRaDhKOXV3WUFlVlVyNGo3ZjRzbG5QblE5ZTlWYjFhUjc4cmR3bDN2MkZYc0dEbVFmZURUM3F1WXlXK25Dcjk3Q2JuMjc0eng5UWJWLzRGSFgwbFJWVTJhQmg3ZnFJSFhEVjg1dkVIeG9MUnhNeVE0b3ZKcEUxNTk1MUQwTExuVk5PUXFsemVVK0RQMTNXbW9SWDZQcFI5dzc5eW13SWZlY005Y2QvS0VQb3M4M0pHOGdTS1VTN3JmRlhZdnZQSjFGTGF5ZUZEWXVmek11TzRObHZxWlFJUE4rRk9COHlxK2JaYmJTbjNQWm5YZGZ6NzVsV3V2Z2YyUHNyTXNPZC8xTi9YZXpYTy9CaWRiTk5BQ3NqNlJQRnc0bVZ3YUY4RlRqcHN5dmNYYStvVHVlSFhhNzQ5U2VuNFlKYXl4YndDKzU3Q3k3c2c2ako4aWF6eDhZejBwbTNKNjlRRzBoaGhmUkpKcDFCZjMwRGJzMy8wVE81OW5SMy8vc2szK05FWGhOU1A3bThxL1pjM0FteUZ6blgyRkhIM1F5LytYWHJFNXI2VFI3aG5xNDVPYVVwZjhqeGo3bVpON0hEdjFkbXlRNnppSmZ2ZVRkMng0dVdMV2lIMEdmN3NETWJsdTRBSlJrQ3V6S0x6bHpOWnV5YjJvK24yTjNaZy8yOEhMZ1MvRGJraENmdnNkWnlMME9Say9zT1J2UGJNL29oL3hGblcxcDI2T0NrditBRUpuakRkRVY1dGZmYVlFZDdWUEpKU2EreUVIeTkvZ3pKSXc0NkhHQnFuaWFGZEx6b0UrS0xLV1ZvMjNSUU1vZmpPZnZVVkhCdXJYbHdQZ3A4Z2ZVNUtyS0o5V3locTQ1YTFqUWhPaFhQZ2NLYlNza1hQOFZka1N5bE1rSm1lblVldm91OStZMW1PQWZPUGhrSzFnbXkxNlAwcWtqR0wzTHZIcWVBVmlybWJ4UGk3UWk2RUVKZGtLbW85QXdZaHBUVGI0emRuTmJIZ1gzSDZ6ekRPUnZ6bDJqTERTNjRrNG1MK0hLeHVxM2xNNG9UN01xNWE4bXFBR0hPRjdDM1pxcTNxVG0vV3RId25VOS9DRUJlMzZGK0xIbHVMM2NMODFJUGU1SndxZEZlRHIzQzlKeGVUZXQzNXowWWpDSnR2VWNkd0FkMnhkOEZnSXE3MkJmd3N2RGpQSmVyWTc1aDRXQVFmNk92K2hWVjdXd1BxRldFYlRwaG14dEtTMnhmVkVyVHkxRDdMYThvanhjNkxaSk1LeUc2ZlVXZ2creTBDMXM1SVB1NFEwUFA2L0c3R0RCbGFaZ1Zqbm0wVkNDSEk4WUtCbXg1Nnd1QVpWYUk1Z3VwVVNpZFJHK1ZVNnFZbXE2Z0xzTENzZWkzeHZBUThVVnI2NG9yUXJrcjdicmxXRk0yNkpsVHNKUmlFU0lKNjB5MFZxWFZwUjlueEdjS1NvcHJuZDQ5amN0cExxaytDaDY5aTQxbStpKzkzL2JwZi8yTlU3eWhvNXl0SVFRd25ZQXhxNTViVTdMVEZnVUFyNHUzMndrbjMrUEN1ZHB6dURHQ0I5Qm1XV3pnOHlYMnpIdWYrV0VtK0FoOHhUK1c1VnRIc2d4Wm15eStGTWNXVWNmdkpEYkVZQjVEeDd3RXQ5WkFWQ1NTd3FmZ0ZDUzZCeG53bEpiUzNQYW9IaEVnQlh5aVFhTS9ZYnUyNStiRWxxUFRoZXYrcXZvcnFpRlhsVm1YTUMyU2JzS0t1RU14cUNFSnlwcTdPYWxmelFkVC82QVNTZ0RXaGVjbmlsQ0RhMTMyYU1PY3JucTVZeGZCQlBicGVjTnNJaFpkTTd1K1ROS2YvNGY5RDJEYnpUd05IemVBR1JEeEl4SVpyMnVNYWxTWGhhVjVpeExPS0RDZG1MVncyZ3B6UmdxTHN2QklGQXJIamh4UldaRmliNlVCQ0hBYmxOMWRSL2RYak51Q2dGdVMwc2FjN0k1T2lHaDEySTAzSThyRGpxbmxic1NDUldrYTh0ckNFbjBPRmdueFFldHQreVZsMnphdW1Gam1WY21wc0ZySE8wWG5SdnA4QjRUaTdsN29DK0x5T1VEaDBIcFB5VWs0TFUzajVCT0taTkFKbTlzcFdDRDZxNnlTdG1pVXFMVThnVlYyNVFwaXc3MFF2QUI3Q2lOWVJRL2JBelRuejNjTjhBU3paYW9vNWdZc2NUM0JJcXBlTGh3NUhuZHd3UytlZnFqUUZPbVpvN1l2eS82MHBkWlVOQW1HYlpTdzRmTGtTc2cwc0ViZjFEUUoxQlVmQkpRMXdvcEs5VU9TTnNVd0VwM1l3dHpXZE1ndHlXMlVzamZyb1FzcjFJdXI1bnRaUDNlcHdTa2ExWjJBRUlzajdjVzFmN0hiRFNBZkFPYzFTNUdKQUxBdDZ1eTRZN0t5Wkl3VjFnQWFjaVI5ZFkyTitpZ2NzMURWSW05V3NJUXhHRkxZRkc3UmdXZmNhc3FBK3ZBSm16d1JxNWVNSkMvRllseGxXZjRUMDJBb3ArV1VsTW5OcllBRHI3b2w5Y1E5ZUlZV244eTBvNlFTMnF4YjR0dFc3Ymk2bWtKQnQ5K0VRWHJlVWN1ZFlEbjJ4cUVJTGlnNXE0Sk9La001dm5VVjVVRTRQRkNFRXhKd2hTbEsyQkJXcFg3SWw0SFhtNUlvQS84bHBkemRmeER5VjlaeXltQTZrTHVyS1ZvL2tNQzVjSTZNbkFHdEV0UlZHd1JJT295STllclV3SlJtNnBjWm9aRy9ySWdMMlpBRFNoV3hianVOVUlUY3FnaHJqWHBJUEdIQlV2VThoUi9OVlN2RWEwaFErQ05CMXFRcm9BRmpVLythS095M1F3RUFaSkZTdjdBc1ExWlNHK2plVUpzTGEwd3hyNkhCRThrTEZIOXNtekRzTVVTd0x1ZVVKM1NCblBGWDRtN1JadFJib0hxUXdIWUl3eGQxTTdnb2tnZlpjSFZhek1LT2hDekp0b3RDcVFMTjZJQUV5dTJ4VEEvSWhjRmY3UTJ1UTRjeXByNmp6WXFMVjBZSC9GUzhnZTREUTJJb2ZMTmdyVzBoRkoyK1BFOUNiNWpMb2E2dHUyeVhseTFIMFNMb3RVb0hUT3NlRlBUb0xjZ08wanFqSTYyUjZZdjNCbmFXb3RZbG9nMVhjcFpOTDIxamIyUVlnV3lwbUV1YlhTeDdGWEFMSXRBb0FTTWNLVXhkMCtYQldaaWtjeTNkSlkzcXlCZjJqZVRvSzdXTktoZnBtSXNJclhPY0F1VlJsNnp2WlI0UXVsN2hRU1c1VzZaRUpWOGVLaEVwdHFWajRyMEVCcExwMXJXVXArdGxPcmFRTGxFNUk4R3JheG5vRzViZ0VBSFhMTE1lLy9qQnhoN1pVdHRtQUxNajNMdUtsb1V5VnBJdTQ3bzEyb1lsRlpZR25QM0pHV09GTWlTRlE4S2ZmSUhNbHUzbWhiNUk1bmExeGpGc08ybFRrMVFlcmpHVytEMjhDVXk1WDE2VkdPa0p5bG1hcFUxOUdtQ1I4bGp0RUZTWjlUODhjZUZ6akJkYWh1S2lpdWY2d0xhcGJwdTJKYTg0V1liUVJjTWVyTUxsdTdWaXVDT21jc0NFVm5WM1haSW0rVlByUi9Wd0NKL1VPSk44a2RpYXk5MXBsMUI1ZEU2NGF5SU8zR3huU0FDRkIxN01kTWVOVFhUc09nL01wNm1MMkxTR0RCZndJbzhkKzZOai8zd1R3UnMwQmFzcHJlL0NLMGFSaU9yckFXRWZiOXQrNkFWNXN5MHowdjVnNnBRNGMyV0hueiszNDY1TjVXZ0Z2a2ppVFlrZ2pvQXRMM1VjUjVFTlUvZlJpaXJObTlPOXFXdXB3ejhNTy9TZXFoNjJOOVdUYTFyKzVlanNSdTBSdWs0MzhFOUNvY1BtSlpGQzk4K0F4NlkzUE5WNHR1TmNEUnhKNnU5cmZMdGYzY0N5aDh0K2xiNXM1ZUMya3Rad0ZPaU5zSGs3N2hoY1VtdWw1c0hQU3p5VjZKeE5STVg3dDVOd2lXakxzblIzeEo5eS9BZnY0Vm5KSGR3UXhiK2d6Z1kyNkZGdzM4VjQ2RDNqNVNtd1dKZnBuS1NpSDNLZUFrS2lzVEZYc3BCUHYwSVRSTVBvMVEwTDBSejI2VnVHQStLVDd6WUREUXM4YjhHaUZQOGFTWXkyRDB3WEFnRzJRV0s5a0liQXNhM3owQUlhMW1VKzh5eUtPdnhwV0I0cFMxZCtaNS9RUDVhZVdtUlAzSzYxelFxMGN4ZUtzQitCbFJ3ajZSbUVTYU5TdVlxMTJRT1YxZWJEMVc2YUxyWHFyVC9HUXhIMmJab3ZaUFcyb2pXdEtrVmJRQ2xXU3FaK3d4TWtKQnduMWx1YXQ2cjIxd25qVk14VlF2MG0ySDNCRDBXK2FPQnJtbHlNVHdLbTlwTEZkajcwQWczeFVDUEMzSXJxaDNmc3JTUVZlSWhId09Jc3ZOdFQ3SDE3UHhmRmFONnRvbU1jTGUwMVpKU0U2NWxNN1E2Y29XS2htbWg2bXE2ZkdiWmFOL0Q4MzhkdzM4UUIrTWdDM2x3QmxGZTFpSi9aQkUzTkNEa2o5eGJhMm5tTlFvT1U0VkdPNTIwc1lTbFR3L3BCUGFaNXA1WDdKamJPd0U2aVBOL09kQW1mU3ROY1pnY3lWOFkrUGF3Y0lCVStLSmlJcTNKQURlOXdyTnFRZERMODM4ZHczOTRkbXVzWGdKdFdZb1crU09MdUttSHNTTk1xcTNVZS96TllTSGRGK2pQZTJ5YVN5UGpPZnIwa0U1b292eHFXZW8vdCtpVjhsZ3dZRzFwU1RaTStFcDlYWTZGRS9xaFJidEhRd2dHeTIwdTRyb2tpZ3Y4UFM4bnE5eXFSVy9pL3FhcGc0YU5aVjVadkFlQzZJZTJCYnROL2VuYmtxbEhTRlcyZ05ya3IrQ0xhQmVGZTJzclhUQTBGLy9mQ2xpQVZoOVQwK1BsNk5ORE9sRmdzWG1PYmVlZm5ZY0JhRStIK3hwZGtqblMrWmFuMDZHNkNNS1FRQWd4MDg4TFFNd2s3ZUJPZUtvNXA1WThCRzBmRytWbWdlL2wrVC9TSG50dDZmZS8vNUgzeWRVWDFxbVpUZjR3akdXTnNpTFVrNjEwUVhxK0FLL1FUSkc1NFhpOTlsOHk4aG9qZlhwSUoycGllQW04d3ZyK2gyN1NyeHo1dk1ZSUkzV2IwMVl6VW52VkNPdFVHak5ZTWdvWmxDN3pTbGNwbVJwbi9uUnNwYWI2N0o0cGdVUHRvWTc3Qmc4Sjhpam1EWEw3ZExISkg5d0lJMnlURjZkbWJLVUxocUFXdWU5UjlmbU9lZDRIOVdPbWdvRWQ1YmxXbTEwd0NUV2I5amRQeHNWMGhhUDBYdkFaaExudmk0S0R0OEgrZzRTT0V1aWlpU3d1OFRzdGw1NGxQdWxiM2h5a2R6OUZXMUJaZGVmL0V4MUlrQ1p0d1JOYm0vekIwOUp3VUUrZTIyRXJYVEM4OHgzdXhlMllCc3R3RHhWSnlMZ2UzMlJSRFpNczgrS2FqV3YxbXZCRnZBWERPbG1YUUZqTHZzSGRweGticUxVQkJHZEFib1VRa2wxRlRYV1hWMnZ6NFMzazR4S00xL2I0cDJMS1NrdGZXRFBydWhBajBLN0JMQjFxc2VzL2VMUWFEbXBmcUN0TDZZSjJpYkhYMlFVK0xFMjVTdkhDaWRjSDlXT2thWE4zZy9JZFRQS2FVWStzRzlmcStkRkZ2VnNFWmMxTEl5eXVramtGR1Yva0tTUXFMV2NGenl0d3R6a0dWM0ljWnBuRWUyYzVKT0k0NERtOUtpeG9JSEY3Um5IRjJJRFV2VlZpMDM4T051d2JzdG1PRWc1TEtYU2lrdStpdDZzMS9aMzZOWW5GdkI1dmtqOXlZWmRNQUhyVXRPWXJHTkFOeHU1ellLS1FnUVc1cjlyZGYrQ0pqQ29JazZsSy80L2MwbDFzZjRXU3lFdjNHWXdrUjdxeUZRWnJQRmphMDE3dWdNSVFKRURoU1kzU3pia3Qzc3hRaWREcXk3eU1ZbjFLY3ZMS3U3V1VRdjQ4TkdoWDlYYTFlTE5rMDhQaVpGeVpFd1hlcGNLTmh5NGlMOHZ2RWFLbkdQT2tNY2ZOd2JsUm80K0tDLzdMbG13N243dEpaaU5jNit5cTE0ckkybkNjV2RvREkxVzQxa09tNmsydnUwK2wvVWtVRkYvcDBGVldEeDVRbVp4OGY5Nlo5ZDdrSS9tVnpXRnRwQmdVbGRNTTg3c2xBVnBMSVg5eVR6WXZyQUNLNUc3MmhDL09JckVZK3ppdmlPTGlLckxGaTJZTSt5K2JEZUphQVdWeU1KSDdyeW11T21YdmtGcEVWUEJHZWNzRjlnRnVIMHBDUjlURnc4cVpRNWU2a21veFlpL2htdEZTa1A5OGJtdFprU3JOcTRRQ0ZDdXd3STlMOFZOOXU2SmhUWXNCdmxoeXUxZGFOUlJBYXltRVRWcksrNlRhKzd4VWdKbmM2d1JtOC9LWkhOcmNZNVJrS2lpUWpiM3lXYm5TRGJCQlpLRlF0UEJFSmVDRUdzeFg0M20xMEtSclJFVDVlZGlIRGVpOUpicmpWbTJkcnVWclBHeDFnbnpBZnFRSEh2cEVscWFPM2ZEWWIzSUNMSjAydENIbHRRWHVPVGpPVStRWHpsOThpNHZtQnkrOXVPMzg4Y1hyQ05VM1hmd1JEdmVFZ1B1cWtpOHFiaW1GL0ZVOUt6Q2ZFOGJCeWVCc0xwRGpJNHJtdjdCVEFkS1hycWRlR0x0NWc5ODZ6aGZla3VNRjdNNkx2eTJLNlBpOTFLcXFhQ0FaSW0wNWJzL2d4eWJIOGFQODAya3gwQlc1cXBtRjdHVmhsUGlYWHdpYnNQQW5EL1pLeExmYVNvd3V3alF0ZUJQSGZ6ZmFORnhzc2g4TE9YYnc5ai81aTc5bUwwTURlaURucFgzK1Z6QThMK3pOK3hqN3dYOSs4cS9FdC93azl1YlNCZmI4Z3Z1dGtMWW5zM3ozeStId05kV2pmL2lUSnd1MjFVNzZtcWN0Z1ZJVm1QdjRlbnl0SXltT2RTVktsMkpob01iNFM0OTl4L25YaDlsM3hrUTF6ZkNnNTAvZE56ak9mWEIyM3FIMDNPZloxVzE4QWZRbXZLTnp1SDdhdCtPTTJXUEg1alYyNXV5NU8rNDRmKzZNYTlFMFh0TVdTemFUNTlQL1BWUTlEUVMzM25IK2xqTU04bmR3QnJpQVN2bzdFRDFLbi9TVDBGUTZqNldOQTlENDJxNXBVay9uZU5OWCtwdnl1K0lCOVhqdWpISXFpd2ZvMWh1RTRpZGVLbG0xdE8xN0VjeWNNQVB4dW42bng2SDRIMm4rRk1OL0poT2JNbGw4TUhsWFVwV3BzZ092L0dsOE0vbEZXVHdNVi9FNWRZT1V6SWZlZEhEbng0eUNkbG42WVBaTDk1dHIvYVg4L011bFI5alpONy9MQkp6N08vVHh0MlpKdUh5VzNKdUVFdlpjWjg3ZENnbkhNcE83bk5Qc0FDdjMvQzE2Q3EyZDhjZHYrOWFxY0lYL2NwN2QrdnV3RXJIVEY5NTA4UEoxd3JKdzErRWZhR3pFNzIvZzVUK2YrM1orMVhYUmMvZHhMbkdscEV3WmRCNlllYzdWdXFJTGZoZTZiZFFTTnVXSk1aRy9OOHJWTVg3a2cxSCtYSU1LTDNSa0RRV0dWSFNnSStSWVZqWm8rQ0l0aVJGNjFsTnZWTHNPdktJc1hWZlFvUUU0clJSVkVpUjk5dTZ2NDB3OHV1RnR2eVR3TFR6TVN3NS92N09ZSTFxZzRsQkpVREppT0U0LzlEdWV1TDN4c1k5c0M5ci9DNTRXMG0yQmpWdXBZM2g2T0RseVhFZkpreUdRQk9sNW42d1ZVUEwxdmhKTFR3aklKN29TTEYwTWUxRVdMUERKR3RtRUt6NW5xL01RaHVxL25EdVRxbXAza3Q1K1VJUjdTNkduVExsbForV3I5bTVLYUlhQXhpU25hdlBaSlBqRTJHd0hUM094SDJBRzd5c3B5RUxTUHV0eENOSytqN29zdTlGM2I3MXBvTmtMMXBxSktjeVp4MGxvMUZQc1NoanhjNXhDMytKQlNVMUtSdTBUa3NKWWdpRDVjSjBPcE5kcWFIYloxMjdTYmxxUEZ3VDVDeDBmbDBwc3lYYy8vRGVuRWxjNlJiMzE5WVpma1gvLzFKRWJNRDVKZXdJZCt4dStTbnBDNFJPZlUvekJSUmhDazUvTk1MMUhnUzAxK1dwUmNQamJGTXlISzZpaVIxZ0JVZzdjM3d3QU43NGd0TnZZTllkWERlOFA1NjZhQ0VZZ1gwa3crdWNORjRKa1BoV1l5OTBlaUExZ2ZwUGJHS2paR0FFMU84NVBIRzZISGwxanhIZzRGOGczQzhPR1ppK21HR3hGNHJsK2tvSHdNQlFQQzJ3SkhEQm9tWTVpbVU3R1A4SmhrTkQ3N0luRWZTN3lZbFkxNGFlQ1dWOStQS1A3eTZRYTd4am00RGliWnpncjRhMHZtSktUanoxSGcwRmwrUjhYaVpGTFhvejI0eko1NytoalYvUTRLRHZwNGVlQzcvejMvVzArNTlpRmt6c2pGWUhKK0Z5MUxrTUxWdTMzWXA0T3RQY0ZabnBxSWs4REJldG83S0J5cHVPODROS2h2ZkJwbXRuT0lZZkgwNThXVS80TlZ4S2RsaUJJQ3M5cFF4V3FRbXVHSHI5ZHM5Wk1TcUhmY2E0OUYzSGNOZE9HUjhUUnQyYUY1TDJGaHVuRlZGOGJkQ2lMa0wvbG9NQmpDVWV2VjZ6S2tjMGU3TXRzeU91cEtOdVdrSDBrQlg3YUgrOU1CRzNGOEdKQ1JCRHE0UDVXSWdTTUtoTHlnS1hqSERSb1pSdHJKYXJtdENIcmJWbkEyRWdvSXZMYWl3a1RRU2lEK3h1aE9obzNZRG9udVM4R0ZXZGlUbzhNSCtlN0hBbU5Nc09tRjFNSUVVRW9nUHQ3VVRvY216WWxjRUFNNW1Rc0VTcStNQ0k4S1FVKzJCMThRSVlYRXlxQ0FMVXB1Uis4czdHQ2JDakhPWERReWo3K3VYdnM1VU5YK21ENDV6dGR4NkM5bUhBUkJMZjUxRUxYbnNZTm9LSWM1OEJCcTNGalFRTGowVjVNcUFnQ21lMGVhT01FQnRRM0ZMQUEzblB6NEVHcnZ0RTJPaDB0U2p0NmI2aHdDcGx0ai91ak05U0VLUVVITHZSbXovb0FBQWFWU1VSQlZCUEtURlovRHkzaExpWUFuZlJpNW5PaDVJaytyY081UHdFc3NnOVJPYzVQNlcyd0hUSXQ3Y0NCaXZCaXl1SDhPWHBwWkxVRDJ2R3ZrbzR6dlFlOU5QN0Q3ZFVJaFJkRHB4RENmTmFObmhwdjlvcW1rY0FySGVjQ09IRnRKQ2dlU2lMQlBkalJ1VHprTUV4MGNSSGdhME01b0g0UlJSeEFYNTg2d2pYNXA2TDlHc1dnK3hGZXpOUFBrQUlNNGREdEFIeDkwTVFQdFA4R0QvOHR1QmNLWU1WQUtSbmx6ajB2Qm9kTzZUeHppSUJLY2FJL2ZrQXpYdUdPTXc2ZDdvQnp1Nk1zQTRPa25Yc3htU3dPbldaRFNSUzRQK0ZHSjA4QnFIdHg2SlJPUXE0TWNnNUh1Vy91eFh5ZURwM0NucWpINmQxSEJPNVArT2xUc092eVBCMDZUVU9oM2NXbExRU2s3bWlHNzJScFI3dlVGcTY1QXNCZmF5NmJxSHZ1T0pmNTBhbGN1TkRWUkxHcDIyQXJzS05WcnNrb2poVTRqa0RlNG1vMzNHTmRUNDd6M1Y0SW9JenM5bGdQdG5lRGd4MWw0clZWNUFLN2RDU3NtNzJqYWdRd2srTXNQa08vaU55RkVTQjVHRWtrTG01NWhCV1FYUTlJSTBWcjlnUENqaWNZQ2QxVmIyakVqTWwyUmlKUE1Ya3hNdXF5Zy94dVFFeTArZ09DamlsWVEzTXJaT2hxVEJrU2FWanlJU1kxcGpqQ2NrQXNXUDJqOU5wV3dGR0ZBYXVvMDM4OGRKVWVnUW5EUEFVckgySlNBZW5Db0RHVnVzRjlOSDNnRWZmbXR5dWtFNUhKRytmUFNCZXVUY1Nva3g0azlKaTJvN25nY1lTeXdYM0grV2wyY0dlZWZXdlN4QTAxUGpEdXNpUXdYT2hLdGtxdlBPaXM3U2lFS21nY29XQnczMWx3ajlZYzU1M3lUOGttZ3E4OC9DZEhHaXAwSlJ1bFYzQ2dZdHBSVW9ZQjR3ZzVNMWJkOEVJeDFVbDZIODUwbkIwSGpBc2N1a3JsenVCQTNyU2pJZUlJWVBpdVJETW5lRDhyLzcxUlZvenoxWFNjNlRQT3dVTlg0OHlWMEdNRDM1UVhRMy9WcDRJeG5USFJmMi90U1pBVDRqOUdNNU8wSlNaYklSbmcvVW45cnI1TmN3RTVRSEswcW1Henh2OXQ2MUpManQ3K1VNWEMvSkl4MzFlRjQ1NnArd0pRWVVKWDQ4NlpNT01qT2RyVURScTRYZE8zN1hONCswUCtXNWZqNU9XbXBXN0tjdnZHWTFGVE14M25VS0dyc1JoK1FvT2dkYnV2Y1ZFY1lWWGZ0czhCOEZsWmk1Mmd5QzZHZW9OT3RoL05hOVowblBFVlU1ODZITTBoRFlCcXZ4ZmpVQnpoaFNCa2xJd0huaWVWMjNkaWdqYUI0SlIyblBrL1JtbUhPQWdIVXhqaVFMMXAyWUtyZ2VJSU1OU3Jrb1BINVdONC9ISER4SHdRdXNseGRtZ2hYNUFjU2E5Qk9lRDNZb0xIRVNwRytHV0g4VU9ZNkJMeG0rMmdQWTg0WEpQalRFTlBqOENFbjlPczM0c0ovQ3BOenBDMG9vclpZRkxXd3RNd2tpMmFIT2NRb2F1UkhHNnZpRzVldFJSVlhlN2VHVDQrcEMxdFJXMUZJSCs3M1J1UEJRVFoyM1Z6SlBtZ29TdXowYVRuNlNIbWlza0VNaXRxWTJ0VytQUDR5eER0SmxaVkMyeGZ0dnlBWTN2WE1GY2dqUktlVEt4dlVJNHRwem9Ock9XZmYrbXBab0EvR0lHM283ZkplWFZvQy9LMzJxbTdNYXFycXNQUFlsQVZjTzdWWXpUQWZnd2xRNHZXcC8rS0tBaHdqQVgvdmFDYjVVejUwOFg5R01EQStyZ0VObWtQQkdUUW4wako5MmdHUnRWSWRmeVpoejZSSjZheEd4NzdpQ0Q4QXcvekFuYmJEM2NaU2QyME5WcitNQWtUSUg5em43MzdVYzZuSzU5NDI0YkhxSm03WFY1eStOaHVGODZsMVpJRG52QjVBcmZIQ3luNkxOSytoTEpmQzZiejdhcW5IcEMvWlh1RGNTcWxQWnBNd2dzcHkzdkZpbkVhY0cvR1VtQm56cDY3NDQ3ejU4N0k1eGZUN09ETXVWdnZPSGZHUFZ6djNLZXJRczZBMHlHY3laQy9reDZiN2poM2l5dmQzU0xuNWZsYnpvelVmMmwxbnVNaHJzVzIrVVZObnI2WkRQblRJMDl6ZytFQXRyK0duK2VxL1VjcWY0T1pqMG5wZGY2UmwvT2hZdnU3cHNmc2t6OURMalZFbWtzNWtBUUhpaUsrWEpRZUkwZXE5NzhURlA5TGdwMHBqcEFjd0M2UCszMTUwLzNEOFZQNTBuQXFmeUVabW9LSDRRQ2RPYUtqTHRoK3JCcnRzcFA0L00wWWY1cnRFd2V3dmVDUGZSRUE4d0tHWHIrKzh3ZWJmYUlsN1dieU9FRDZqdzRuRk5XQlA4NkRzcnJGMCtPMXlXTkxPdUorY1FBUG1iQy96YWl3cTlkdlhaMkZtYUR6cC8xaWVkcVB3WUVhbys5RVR6SC80NUZqNmxXNEtaWitCY3BnVjVwTm1BTW44TEYzK3RqWVRUNjgrcTJQWTBvVCtnRFNtNVFEaVhBZ2szOW0yM21LSFVFSkdnbmJFbkUzU2U5ZkdneElzLzNpQURZWXQ3Q0RqYWJ1Y216ZksybVlqK1dhZ05MYmxBUHhPWERwT25iYldqT2Fzbnp6c0pwdWY1dDVrOTczbmdQSHhadUhjLzRqd2Izdk9PMGg1UUE0TUM4MndDZU1sMEpTeHFRYzZCc0hpdDVyYjZuNTdSdkgwNDVNRGt5N2gydU84d3ZzdFdaaG1rODUwQzhPUElqdmo3K0pYZlhIWmZyVmVkcFB5b0ZMajdoblA1NktueUVJL3c4WWNuOVorTXBVWXdBQUFBQkpSVTVFcmtKZ2dnPT0iCn0K"/>
    </extobj>
    <extobj name="334E55B0-647D-440b-865C-3EC943EB4CBC-70">
      <extobjdata type="334E55B0-647D-440b-865C-3EC943EB4CBC" data="ewoJIkltZ1NldHRpbmdKc29uIiA6ICJ7XCJkcGlcIjpcIjYwMFwiLFwiZm9ybWF0XCI6XCJQTkdcIixcInRyYW5zcGFyZW50XCI6dHJ1ZSxcImF1dG9cIjpmYWxzZX0iLAoJIkxhdGV4IiA6ICJYRnNnVUNoY2JXRjBhSEp0ZTJOb2IyOXpaVndnUVgwcENqMWNhVzUwWHpCZVhHbHVablI1Q2x4MGFHVjBZU0J6WG5zdFhIUm9aWFJoTFRGOUNseGxlSEFvTFhOZWV5MWNkR2hsZEdGOUtRcGNaWGh3WEd4bFpuUmJMVnhtY21GamUySmZRbDVjZEdobGRHRjllMkpmUVY1Y2RHaGxkR0Y5YzE1N0xWeDBhR1YwWVgxY2NtbG5hSFJkWkhNZ1hGMD0iLAoJIkxhdGV4SW1nQmFzZTY0IiA6ICJpVkJPUncwS0dnb0FBQUFOU1VoRVVnQUFCK2NBQUFEVUJBTUFBQUM4RHp5VEFBQUFNRkJNVkVYLy8vOEFBQUFBQUFBQUFBQUFBQUFBQUFBQUFBQUFBQUFBQUFBQUFBQUFBQUFBQUFBQUFBQUFBQUFBQUFBQUFBQXYzYUI3QUFBQUQzUlNUbE1BdSsvZHpabFVFR2FKcXlKMk1rUWY3cDZUQUFBQUNYQklXWE1BQUE3RUFBQU94QUdWS3c0YkFBQWdBRWxFUVZSNEFlMTlmNHhreVYzZm01M1o2Wm1kblpuRnh2d0lDajNzbnJFeGhONjl0ZUxJRG43RDNWbUE1YVFYd1VGa0srNEpCS0djRk0zNGJEam43cHdlakJFS2lqS0xFVVEyd1QzMlhRZ0NsSjZjWTRPRFRZOElpblZHcE1jUWpFUVM5ZGdYRUlhSTJaM2REYmQzbkN1ZnFsYy8rOVhyZnYxZTFadnB2WHAvZE5lckg5OXZmYjlWbjZwdi9YeFJGSjZnZ2FBQjF4cDRKTDV5NkpwbW9CYzBFRFJ3ZWpYd0hMa1N2M0I2c3hkeUZqUVFOT0JZQTR2a202TkZjc0V4MVVBdWFDQm80TlJxb0h0cks0cWF6NS9hL0lXTUJRMEVEYmpWd0RueUJoRGNQSFpMTlZBTEdnZ2FPTFVhNkpJRDVLMU50azl0RGtQR2dnYUNCcWdHUHZVaCtSeVcwY2dDK1J1YS9BeFpMME1sSSsyek1vOGZ5b2dSdklNR2dnYnlhdUNJeU9kNjNqUzJlRDF5bVhyUGtSdTIwSkorc2N3aktVa3BKQThhQ0Jwd0JmcVlIRkpsenBDWFBPZzBnTjZEVWt1US9LMHRNL0VUUSs5bWFIZzdiUnB3QlBwRmNwdEpOa1ArbndjSkErZzlLTFV3eVVjYWhIejlua3BPMzc4dXdGNHA1TlM3SElHK3pjRStsd3p0SFlzZFFPOVlvV1hJUGNmR1dyYzNPSTNhNzdEMzE1WWhHZEpXcTRFajhoVVhERnZKa0I0VGVYZGRrTXVnY1phRU1YMkdhaXJ6Umhra3FPZDkvUStSV3gvWmUrSURZVmRXWlNWUW5wRWIwQzhSc3MveXNrcDhic1FOb0M5ZjRHVXAxTWt2N3kzOUJIQ2Z0TzR6NU9ZQkpmbUh0NE9CWDFhMWxhVXZCUHIzL2ZtekgzM2dqcGJIYzRRa0RYK2I2TjVhRENmT0FIb25hcHlVeVB3cmpuOUZwRGxMdm9FNi93ZFF2NHYvcGZqNEVIOTQ2aGVTLy9CNytqVlFCUFNBT0I2OVMyL3plYnhvRU16NzAxL21FK1p3cVVrYVJJelpOOWwyakNqcUUwSzNYVDlEdnBaVG0rRUJFeElQMFU5QUEwVkFmNGFCWHQ5bDN5ZjhyZTlsSWsvb0pmVDBRaE5WL2o5RDNoVDlDZXZYd1RXK25yQ2VSeDI0SEMwMXBHRlhhMVNacDhDcmpBYUtnSDdsMlE5amxlWkZqVzBzM3JwZWx1d0Vwd0I2b1lrSy81Y2FkT2gybEJoMkN6Y0Y1MDFDYmthem9pMkE3ODYrQ0FyL3Axd0RSVUFQa2REWnJ5bkpsdVZiN0dZeFFKRTJYQUgwaGpxcWVXR3JzUCtaa0EzS2JrNDI5YlNyMyszS05nQlY0bkkxK1FsY1NtdWdJT2hYaWI1R0F6QmVZem1wRWZMWHBiT1VUU0NBUGxzMzNrTDZhTjVScnNtaGl2WUZ5UWRkL1czeUd2a2FuWlh0Z2ZJTHJsT3BnWUtnNzRrMU9pYlVMTzhIb2hYWjVYc1JOb0RlaTFwSEVtV3JzVkI4Y3FqaWFGdEdQZysvWk85MTRyV2lUL0xJV01GeENqVlFFUFE3aEoyazVRSzFhZm56WjllamtBSDBIcFdiUVJwTE5WczRSOFhuY0hZT1ZMU1d1WUt6RktidmxXNU90NnNnNkx2RzNqaFlldkxaOWlodkFMMUg1V2FRSG1DK0R1ZW9lRS9mMzFQUnFLZjJHc21KZkJVbHVFNmxCZ3FDUHFaVlFUNGRjdWN4OXZRTUEwQ0d1M0lFMEx2U1pINDZkYm9lUTAzNXl6U05EdnBhVFBReGZjM25CdXo4K1EweHgydWdHT2d4c2FNYmMwMnhVTGRKdkY2WEZVQS92a0FkeDhDUS9nWklBdDhIbExKdTNrY3RUT1VwZHNHOFY3bzQ1YTVpb01kNmpYNXVYaTdhZDcxdXlJc0M2Q3V2VFZENUJUQmRmUERYR0d0dElpK2lpM2JhT3YyQ2owUFZsY3Y3c21CWURQU29DclQ5RjQrY3MyK0lUVG9peE8xL0FMMWJmZWFndGtySXRoWnRsYllBL0htVW9LdFhBL2tabjR1MWdtZjRkNkdCWXFESEdwMVcrakQya3pkczBsbDNrYWtzR2dIMFdacng1bzlsbWkyTnVJN3M1cDBGZFBYWFJlaGdYYmpDL3luWFFESFF0NDFsZW1BOUtmcEZzMXR3TG5vQXZYT1ZqaVBZSkxmMEtQTnF0bTRHRFh4SG5MQkZuT2FHSGpHNFQ3RUdpb0VlYTNRSFNpaHN5ZGxnYjdOKzUvSENtRjdwdkNJWGpEaGx3Rk9lc1N6M09rN1owZk9XMTVLc25EVWFoNHF5RjlnVTBrQXgwTGVNWlhyTTZDUlZvV2ZNNlJmS3o4aEVvYWNmcVI0UGdURGd6WnVWanQ3QXVYeWNmZHdFRmVIbUZ2TnBtZkU4NUNXUWRLV0JZcUNQOWJVYXV2bDJMeWw0L1JTT3F4eHFkQUxvTldWVTRzUUdISE4rYnZGV1V0UUxDZGpwQWo0N2F2K2NHdHhYa3JIQXBJUUdDb0VlUnA4YTIwVVJ4dlJKYSs5NVNCL00reElGWFN3cEp1OHZteWxiYklQR2ZNeEIvaVdnL3RYLy9Bcy9OelFLTU5PRXQ5T2xnVUtnaHoydkczTm9BNWhRNTgxSkgvZUNocDdldlU1SFU4VGt6VFV6eGlLNTgyKys4RGxDdm9ON2Q0QjYrdXliMGNMYktkWkFJZEFEZkRkMG1Uam8yOGFPSFQyQ0kzY0F2U05GNWliVEZYTzBLZ1c5SG8rUXZ5czhsajdJM3I5QnZJZi8wNitCUXFESE12MTZWUHZaK01wbkV3R2JpWG5mOHQzY0I5QlhYYUVBNkdUa3BqSCsxSVBIVjM1UGUvL3lnK1QxK3JzV0ZKeW5VZ09GUU4vR3d2eFNsMXdVdGwrZlRlUXRHN043UHFRTm9QZWgxUkUwTVVVYlZ1Skc2R2RLZ3dxQkhpTzl3NTNqejBhZkpzZDdWTzRlMjZvNXl4WnhmT29oZ042bmRpMjBvZkRrYmp4TFdQQ2FXZzBVQW4yTGtNZVpLWDlFdnBWS1BzTm1lN3IwVG1TdlR3QzlWL1dtaWVNcXhIQWZUbG90MCs1VENQUXh1VlgvZGlyNVRHTFJMOUhGM0xQZU8vcXdaRmQxYlJ2STg1TlZjdzc4UEdxZ0NPaXhSTWUrZEJEUmJUbjdOSFA5bTFHdDZmL0RScUduOTFnVGJLVDc4dnlrTFRUNFRha0dpb0NlSHFSbVpuMFVOWkk5ZUF2a2RiSHZxWHNvT0lDKzRscFdGK2NuSytZYjJIblZRQkhRQTN2aXZFM003OHo1Ukh3Zlg3N3ptZHNBZXAvYXRkQkdRViszZUFldjZkWkFFZEJqbVY3Y2tsSTM3c3J6cllvQWV0OGFOdWxqOU1iUFQ1cis0VzI2TlZBRTlHMTFTMUxMODJGYVU3a0I5S1krZkwvaGZvVDAzaHpmVEFOOTd4b29BbnE2VE04emhtMmFiS1hlZXo0Wmd3RDZhdlFzdU9DNmU2OFhuUW8rNGI5YURSUUJmVXVkcHE4ci9GZVE3d0Q2Q3BTc3NWakZhWG50TlRqdkVRMFVBYjEybWo2dWROQVhRRjl0clRzeWJ6cXZsbm5nNWswREJVQ3ZuNmJIb0cvYlc5NVNoQVBvVXlyeDZ0RXhqMUI3NVJXSVY2ZUJBcURYVHRQVGJUcUgxV1UyZ0w0NlhWTk96ZUY3YzZwbEg3aDUwa0FCMEFONjRnb2x1cVp6NENsbkZySUI5QmFsZVBSQzZhNTVKQjlJbjVBR0NvQWVjN3FYZVc0clh0TUpvSyswbHRBbS9VS2xIQU96U2pSUUFQU1kwNzNHODBZL1hGcEpOaE1tQWZRVktodmZza0xwWHErVW80M1pJL0dWUTV2L1BlTTMvOVN0YjZ4V21BS2d4NXp1QnM4azhLOTl3dEJ4enRPbEhVRHZXTVdqeWRHdjBtK01qdUkvOURseUpiNm56L1N2eExkZXFYMFMwTDlHbzZnQTZQdHFRMDdQNDVxT3BiUUQ2S3VvRXBJSG12UXF0MTVKdnJwamtYd3pMSTU4ZzR6MzZMZTE2a1JPdGJ0enZCRjFxdDBPVVFEMGRiVk5DL2gvaVd0MHVZRXF3cC9qMS85Q2FUM2JTanVBdnJSYUp5RXdRSEZPRXQ5SFhIWXpTelBYVFI0ck1idWQyMGN1UE5JOFI2K2htS3R5NGJ0UVR4K3JiVnBOTmIxTFozMjA1ODVXU1VYWlNqdUF2cVJTSjB1T0p0M2Y0QzFmVmhna29zMDhtNEhuNjJRYVFjL3ErWHkxcXlRRmV2b0d1U3RLRENnWGMzcFI3VE9vSk85NGpENi8vWE9scjFteWxuWUF2VkI4SmYvMTRRL1pWY0xWWU5KbEs4THRzUjFoN2JkL0NwYm1GSUwrSERPVmE5WGVTbFlBOUdxYkZyMU5ZMDhWVWx0Wmc4RC9kUlZRd0dVdDdRRDZBcG9zbmdTbG04dXVMczVoWE1xRkJNZG5jT1A2NktlTHU1eTYwd2o2bmVUdW1VYWxKdFhrb01jdVBMRTNCeDh0MVNkV2o1UTFpRytjaVNQM28wc3JJOVJlMmdIMEdlcnk0bzJ2bGNrWkd5OE14aFB0SlR0QzVzeHZxMWpTZmV6U3J4OE1waEQwUy95SzhXYWxreWVGUUgrRHF4MWQrNHRhQ1hTVTNSL0ZhclpQaTVIYmFTL3RBUHJjQ25RUWtYNmNVcFMwQTNKRlNNVEpKdStaWEkzUE5JSitsbjhmcmw3bHh0WWlTM1pxOG01SDNhWkJpN1RKSmFCdUJCM1MvNEtQdmJRRDZBdXFzMUF5dXZQcWNxR1VyaEl0Y3ROeEpwZlpPSTJnNy9DQlM3M1NEUkdUOS9UaU1reVViSk1jYjJrRnJIY01BMzVQcmhZOGdUT2p0QVBvSjlCaDZhaTQ5TDdpVFNQRFdXNXpzTS9sTXR5bkVQUVlLbTh3b1pzVlhDdXJ0RnNBOUhXeHZyQ2dwdlFvUVN6YXJVdkN2Vkl6ZVJtbEhVQXY5VnVCQTBWWWFWVk1pOVRpbHNZWmJkeVlqaVY4cGhEMFo4Vlh3eG9sNTcyRkR2TDlGd0I5UjR6MEh0VVc3TUFOVzdXdlM2WkhwUTdhWjVSMkFMM1Vid1VPak5BcU5UcFRJaTJKUm1mVm1DOU94ZU1lVXdqNm5qQmhxcldwQ29CK0lHYnZXMnEybnVvZFc3VVB1ZjZqcUdNczVrbnZmSTZzMHE0SzlQTnZ6cGZQRTQvMXpMYkhMSFFCK2oyUDlNZVN4dUpRd3I5TjdveU5IRVYrUWYvRGh6bXlNR21VTHA4SWg1bC9qYVZkZXUya0pJckVMd0I2TWVNSWMvNjdkSmFyYXBtZWZnV2p4TXBqVm1sWEJmb1cvNVNITHQycGRNLzYzTFBkQU9oUFZPcTJxRU9Ea3pmdnp5YWZhbldyRDJCOW5WSEU2aWcza3VNTGJsbFlxUlVBL1FJM3RnYjgyMWFDcnJaTUgyRzU1eVhoUC9sL1ZtbFhCUHB6bGE2ZjVGWlA3ZUdrMzlNUzFHS2oyZFZDeWp0aGJnblFsU2RXaUVLZjhMMUJmV0VGanlUanRhZnZscWpPbWJrR1NyWlpJQno3U2F4MysvODRYS0c5OTVpMHA3VnZxV0YyOUxEbzd5WVp4KzlBaUNOOUpuRmtsWFpGb0srZnp0TmE1eXlIelo3eDk2VmdUTlBtc3Fvbktkako0c2JjK0kyNko3NWtONk9OWENjVFlsUnNmRFVtYWNkaDJtNGtFWmNhT0gvait5blEwMGZQTUtQay9SckdXUzZiYXBrZVIrNTRJMTBvLzFtbFhRM29NNDg4ZmViUG5uMzdnNjh1SkpHTFJHMkJBWTNZc3I5UEJVUFpwUXBSNXZLUitMN3I4bVVDQjJ6ZXRTUjZyR3JXaVBRK2UvcDg1L3hHWk00YU5CQTcySUQrUXg1ajRLOFpsM2tvQXZxbHh1M0Q2UFBrV09TVEU5T1c2VGRUZ1pKaERrZG1hZWNCL2Z2KzdObVBQakJpM3VjVnFNdmFjK2t0UHpxY282NHlXSXdnZXRMZ0pEdS9uZUZXbHVadXM4VFVpU0ZkNmdVVnNjd1FUZEo3UDdsRmNHUjg4Z2VsZlkybDBqWitqNkxpRWZUbnhKQjdGUC9KdzFyQ2xHcXJMd25OODJIKzVOVHlweWdDK3VoeFF2Q0orbTJUaTdaTS8xOEkrUTltNEVSdm1hV2RBL1NJZ2tjL0VXQ3lSZ1VhZnY2ZUdTUHp5b2FUQm4xVExPcnErVjMwdG44Rzg3SmliVlpuT0tuNzQrUzEwWHdoa3dHdHpnYmpocHExbG9PdFI5Qjd1dVFpRnNPV0k5SGxROHhPZHVYTm9ZUmNVUXFCUHZyVUE4ZHZPUnlpTDVmcGEvK0VrRjhiQ3B6b05iTzBjNENlYmlNYmFaYitxN2QvRloyV0pxOTZtRDVQVTdlNVRIS1U5Zm0ycFovL2ZrUWVZVVJNSk9URWtXbHpkWkJPRmY5TjJzK0p6eEg0WFM1TmFaN2MzS0l6UjRlVFUyb2pBK0xaelpIY0graFh4Q0oxamx4TUVFWHZnQlRTWjhXYzNnU1VKb3hhRFBRMkpsaW1md3RnOVBhblkvSzZEVnVFM0g1dFVkVDQzOVZUNVFEOXlyTWZCbzcxWTBBNmdjUk5yWUhYY08rbEQrRGxhN1U0dGNhSTJZaDNuU0RvNmZtWDYxcEd1Yk5uYXduUzBTYjM2UTlyZjNJU1NORm5zNDl6dWJycUlRYWJ5SUI0dG9mQ2JLLytRUC9vMlBQOHR2eU05VXRNeDBSRVZlbVduQXlxUmpKM0IvcFZVVUFBLzhaSW51TUNNMHM3QitoQkc1Mzkya2dXRkQ3N01zWVA0U2cyT2lQeHpJMGFVMkVaNjhSNmVucE41WnJJcGZvLzc2QTdWdFEwVjkzUWtoWXdpZk44Y2pwam9ZaDkzeUYzMkpVc2ovV3NKazRxRy81QTMvUXpjUUxiK0FlWmhFOFlzeWY5V3luUkhIdTRBNzFjcHEvOUtZUXBrODNNMHM0Tit0MlI3TEZBb20wMXc5S2pQZ1crb3dXbHFad2c2RkgxclgxQUkyUGVNWjM1eVh5Z2xpSkd1Y2xrSjhueXNqWm1OU09NZUd1S0VTK21oVWRFazBIZVFMOHd4bktVT1pqUWdXWjhneVZCbDcrbTBwNnhHWFFxMklITEhlaTFaWHBZd2RzbDhwWloydmxBM3g3SEhhYUFYb3RnV0tqdXU2YTVMU0xvVVMzQlByMzZBS0hLcCtLMDQ4ZStwM3R6UnJaL0tnZlpMa3pCN2JQUWZIMjFTVWlPMHJxMlpRc3pMbjN6QnZxMnVoTXV6YldFejZwUU1Ib2hiZUMyWUczYlMvQkpKWFVIK2liNWlxVGVKR1dtbHpKTE94L29BZUk5bVJPYm8yZE83MU83K1VERU96ZDZ6cVpoeFoxSTdQVS9SamIxdGtvd214MDFIaEdSSnY5bkE4N0prNWtwSGhVTERvMXMzUHd3NUJwNjNzU295TzZ2SVhyYXpLZ3N2amZRZDdPbWRrMWhzOTdtNHlIeE1KNWtGWFJWbENkNkliM0d4bjVHRXlwLzdrQ3ZML0QwaE9HaUdLVmRtVVdZTG0yZU9CL29XMEtYYVphSno0NDV2VStIK0xzaTdpQzdkdElvSndmNkpheVNXdTN0ZVdFRkN4SGMvTlBQMjVTdWZIWFJFY1RaTXc5ZE1CcDZXSStCdWUwTFRCUnMyMWhQWk1xS21vVDZBdjF5eVlhZWppYUhuMzJhNWJhNFZucGdhbnFUVy8ySldCNStuWUZlVzZhUElzaTVOamF6V1VWb0tXMU9LeC9vNHhITDlJd1FHT3ZUKzdSUHV5RnlXeC9kcXA4YzZCZkpFZko1VGVSVCs0OXQvYjhXWHN4SjdSL2JhR0lTYXREc2JoSy9xVFE4VE9EelYxTVAyK1FoRDZHZytkbE9FbVZGVFVKOWdYNW10UEUzTEUvcWZmbVZLUUhmdUVWanlYTkVIWE9lY3pZSGVGSmNKdkZ3Qm5xNVRFKzVvL05VdG41V2RyS0swRkxhbkVRdTBLUE5VT3NmVnQ0TnMwa0NQNW5iY2EzNnlZRis5aGJ0TWRZc0F2VzFwUWhMY0VHdlZYQWJvOGV4bEhIaHdsNFNxVG41T0JXOXlBWkxQRHZPY3VQNThBWDZNY1lmNTE3ZzcwallhTEZacnVkTERZNXpaTVFaNkdkMDJ4TUZWbnhPT2J1MGM0RWUzWXZlajZkMVFLZW9MbWplNENlcjk3Z3JHRThPOUlPN05KKzJwclJ0VmhsTnNqTE9BYmk5VklZQTBuYUYvWW96V2hNM0lDakhBOGEvbHhNRHZrQmZWek0rSmZVeGxIeVRLeGdWY2w4UHF1VnM1ZlEwRTdtZGdSNDlnMktNK2xuY05Nd3U3VnlnUjZRMWxST0xpeDRmMjlmOHdVOVdxM2IyMkpPbE9EblFkMTdFaElKMTRISk9kQmlhVE9XZE85REtYNWNqQThXS1ppT1dHczVORW5Vb01STmFZOHBUVVBRRStwcVlqQlI4blAwZjhkN3A3RERJdTU0SDljNUFiMHhHQUZkc01xYVFmckpMT3hmb3NZbDNkeVJmYWlZbmZVZ1NqVTdraWR6MjliVVRDNVdUQTMzamN0UkNSaTE1V2pHbmdTd3hpbmgxd1d5dFNFS1ZCcFBTd3FLS0o3ZjhNT3JhWXJUa2tGNVJ0cm84Z2Y3ODVGbTNaaS90S2E2Z1doMDJnNDdFekdVNmpSTWZaNkR2NjdvQk9yOVNPSHZacFowTDlPMXhsUVIxMGNBT2JRVEVsemxpTVFqTnlQMkpnWDRaeHNrUk1ycGh5WmpvRWkxQnhiMWlNQk9RTFVnRnhzSWhUMXJBOHNQY0RFdDhQbTlQNnduMHM3dy9McWlFRWNuYWZIYXpQMnhlcm5wam1lVEdHZWpyT3N4WHkvUVMyYVdkQy9TYjR6RFFJM0tveVhSQUd3RStDN0E4cnRNOE1kQ2ZSV3RFTTdwcnFVVDFNZWFKSmNsWUx4U0NzV05rYkFKTGhJWTBXMEh0QlV1RTBWNGM5RzA1UmhnZDNkZm1uSUczYm5jMUFUMlVveHVla0hKRzcwREhTRjBrMkJub3RXVXZlc3pDR0RWUG1MSE0wczRGK2p6TDlNS2FaeG5yb1hwZlRySjRkcHkyVHd6MFo3Qm1Edkd0SzE4N0l2c1Q2bmxVZERwcmFEVXJSaVV5d3pER3U4dDlZTHhOZnB0Zk16SHZXM21ya3FlZXZ1V2hTVTNVTXBkTW1weVZnMHVodjRXOHhvMUlNT0cvSzlDaldOY2xhMHhIbGprMGtGbmF1VUNmWjVsZXpDK3hITU1LRmZWcVZUZFhwRGlhNDhSQWY0UjJDanFXNHhBdFQxRXZiMStvSnhyanBudHp4Z3gxeGxDSU1Ma2lsbEV3cFRkNVQ5OW4vTWNhWHpJYm5rQ3Z4aWlTa3lQSCtVUS9hVk1DK0JucSt4MXg1R1JjZ1I2ellkZGx6dDZ0aWx2NlRlRElMTzA4b0lleFpQVGphYjd4VUgvWlJQWG1zWTZzUGFsRzRzUkEzNkw0YWRnN3pObHhFbXNDNUhWaUJWWnFKVythb1hpYnFoOUFFekw1YWs2UGJJUGlySDRhYW9pRCtYcmtRUTNzRXk0bUczZHZTOGtFWHF3ZjhreW94NklYY3NkTXArUUs5UG95ZlEwd090U1pUT2pPTE8wOG9OZldpZXhzNldqMWdoWkVsKzJGR2RyUnpCVXRpbktlR09nYjY4aEVCMW5kVXBrUnJuTUZiR2VSTnV0L0ZhektXR3VnRzBzRENvTlVxZUlzaG1uL0diYi9zSnVHUkRvcTgra1hzQ1l5U0duZTRndHJtcGN6WjUyMmhPY3NyVnJYcUtITytBbENya0NQU2lLcjQ1Y0krVHVDZnBIL3pOTE9BM3JFdVRHU0tWb0ZveDFGQWprbWJtcm1Ta0trOWpPdkpQZjlJeWxhQXZxVjcyOWMrdm9Eazh0N240N3ZHL2FMb3JUdnlzL2VUMTcvemlqNjBqV1ovcjFQTnl4SlpUQjFyTEJlYjRDc2Jodis3QVdENTdSblNaOGVXRTF1a2V0TTZXQkU2QWkxUXplLzN2dlIrUGg3UkppZXhuQXYwU0h2V1Fza2pGakpTKzJ4ejN3Wi9INzVmejYybFE2dC9jd0R4OS81UzJsL3plZUpML3pyRDM5MWpDek5EeGZ0WElIbUttSzFaalJIeXJ4SE1kT3l0R283dGpwY1NneE4xbUpYWUJzRStNdW02aGUraU9waVVUMk5XTEswUjRQK2tmdHYvMGRxRGhxdFpGcjlGT1NIUE5mMHI0MzNQZjVPaHVldTV1c0loVkdONnNBZUJ2cUZCcm1JZm5DRCs3Ry9EOEFEcCtEK3JlNFhSV25mZjlFZ2IzMzdLOGxyNTFVdW9hOUxEWEpyMzB4cXZwMWpUU3BrVThsVUJNQkw1RTk1bG5UdGdKV08wOG5Kd2FTWGh3SjZ4bVRFNTZHcm1OdzZIRWV6ZnpPcU5mUGRBMytFN0NaUE90TXJkWEo4UHlGL243RTdlM3pwOVE4OWRQVWkwMWovNGxYcXh1cHlseVUraUo1c1VJZGVGcXZXYVpUUldWK3VFM0tWa0RlUGprVjNxMStJM2pOMGtUeExNN0RNMHBRVHc4aUttNTcraWYrRkw5cjhCcjBGNUlrdmZCK1V0bUh3a0M5bFMzc1U2R3UvUTQ1alhIelZOdnB4aS9vcGNtU080R2lwVGJpWXNqYlJzOXdrdDMvL3NVLytMcnZvalNhaW9GOXFmc3RCaFBPU2VrZjRITG45MDFIdEx3emVVWlQyblNkM0tJY25HN0VjU1B3blFuNHhxdUhPV0pNMTVhYWVWVGI1RFJ4WmQ4bForMytWdUlnTFdoazNxVG1HN0JuTlZFQVQ4cEtNdmtodTRnYmkzNHpGbUVvR0REc1d5T3Rpd3lnYmpxRGVqOGpGUzFjZnVuci94WFJMdFZRbmQvZWk5emJJZDlEb3RNbG5EOVYyUDNFcTBNK1QyLy90dC80dmxobzNhRnoySEdrNUYzN2ovanZrYTdhaXBaOU1tWTJwZER2SFQ2VXpqRmlwN1RyNHpFUTVNUXpXVGtEZlNwUW5mbThlR2l6a1MrblNIZ1g2UHJtekZ6MTNhMnZUQUs1Ri9XM3p5Q2kxOXJkNUZnRXFtVm5tYUJGYzlvM25TY0kvZEVWQi84eWRMWGpONlVmZXpuSElQbTVBMStMYnViMUg2ZEZqaU92TUVjRTJaNGZLV2lON2xFMjJkWjFPUHpCSGtsVCt4bVJYdWgwNVlyQXF0d3Qzb1BYdUxZMVlyWmswYitmSDQva1Q4WDJmTFMzUFRtSjNvdTVzZ05iODI1K0NaTERkYURrOHg1ejM0UmJYZi9ad0RQZEI2d1hhRnFCSTFBSmp4MlpwSTlLSTV6MUoreEwxMDFiSFVLcWw3enQrRzYxTXc4K3MwYU93MEpKaUdCeWNnTDdMbEpmOEhGLzVpTUZBdlpRdjdSR2dmMWNDdC9wNlN3ZXVUZjFvRmZRKzVraXJtek5xak1LeWpmbW4zU1QvN3psT3lnYWdYMnBzVUQvTUI4ck9Dek9YdTlRdmluYTA3dEhpdXlCbkQ3b0M5R0luSTYrVUNablViemNCWU5Oc3NFUzBMbGtUVGxmL3RERExFVVZCeUZZRCtiNHNjalluN05rZEdTeUNmUHpMWlNYWnF1SUNkOElIRFYxWXBiK1hjRjJLQ2ZraWF4ZWk2QSswcnpUV1ZjN3paazhNU1JiWW1DeHZLajNlT1RVeTR0NWx4ZENwWTJzbmpKdHFudktsblEzNmxVWUNvdG5uWTYyVmptenFSMlhVUkVibmZud281RCtqcDRWblV6UzR5eC9qcUFib1ozbnFybW9oUGk3aTRZWjNhVFpFRnQrMm5FMFE5OTFBcE4yRWZaTzhLUEtSL3VkRCtUN3FxNlZuYUUzZUc2VlpHRDVzYjg2NjRUWHBTME1hTTFHRWJPK0s5RjNlZmtaell6dENrYVRNZjB1VURVeXp2WVFRdE1qdHBSNDUzaGJFNGR2Zzg4K1lKSkd6YXczYkxJcElZLzAvSjY5YWJ1NWJJNHozVEZmMHNtSVlQQ3NFZmZuU1R1dEN5Q0p1NWFTVlZkVWxxL3BqZlhwL0JXL1hCQkVNcGVnYWlueGdnL1ArYVZQMFdnQjlmeitKY0NRckVSYW5lRHk2cWlaYkZJdHZSdzRmRm5oUHJ5WkFCeU8yQU0venBxUU44VGg3bVVzNCtyYjI0bjEvbGZYOHBaN1c3a2JIb20rOHNFY2E2VXRMNGpxUFFTZnl0N2w3UlpUUFlrUFowQ01wbFFwRUs4ekxCcGxZVDBpaEd2Rnk3bWxyQXloak9hTURONCtMOXVyYWhCazRFa1gwd1luYkM4RUo2dDhUYnZaZldneURXbldnZDFEYW1hQkhnYjRoRVN2V3JHNllNZnVKcjZaK3VreS9udmhpTlFIUjN5eGU2QktLYWpEZ3V5TnJBYUlsUjNJYTVJVkxQSDViNGcrTmd5d2kzUGl3bFVTdytjYnFBcW9rRXhpbGk3TStHRXRzYzlLcHZ4bmV2Nk8zVXBsWHNUWlZTeU05YXczRXpYajJaYXdzQnpLVGpJR3pJb3oxcDVPT2IvM1Y1SGthN2dPZWd1ODlqYUw2aUVadUxQWGNFWHBLakxybzM4R2EyL0U3MnRyQVFQYi9iTXFGRHdGUlFQdTVtU1VSK1laU3VqbGhmY0trSWpvd2ZpamM3TCtzR0FheENzMTdCNldkQ1hvVUdGZFNYKy9IYmVxSFBzazdmb3Mrbi9seitzV2FiOVQwY1NTckJmVkVlZk8raURZVVNYTUFKQW1RcnNvK1lFZkVReUpNQXEzVHhMVEpVRDBaOTYxcDlieStUaU1CeFpmcFB4N1ZtQ2Z2K20rYmt3SWRXNmMrTVBLZEpHUUdPcUxibmdzNmJhc2JVKzlhUzJhTk1zYVR0ay82STZJUHVNREkzd3ZDeitOL1V3M0NsRkdGRzMyU29WVE11d3FhZ1lHMkhFcG5UQTlacnBETmJlYkkvYk1zT0I1cFk1cmNxWk9JNk1TMmpTUmx4VENJVlFoNkI2V2RDZnBZVmlDOTZLenFCdzN0dWZVT1hSMDdSbytKbGxxWTZrZ2hlbm9KVXVBaUFRK2FCTkVRZ0poNHNmbWlMQ1c3empwMWJtb2RpVzZqeUdpSlk0Y3pVSzJQRWFGSGVMK2srMzVNRTlOMGpsOGhqOW8waFU1dFlqZmFSUDJSSms2TGF3MldBQjlZVDB4NmdnUm9TYVh4aGh4eGN3UGx3SFlibmxNV0dnUDl2cVRjRW0wM210bEQ2WnZMY1ZZMDlwMWg1T1pLemlLaDBibXV4eTR0aGs3TTNlWWNrNnJ0elVGcFo0RWUvcS9oTE5zYWlxenFwOHYwL0RuK3poL1lNbkxhSVM5cDd3UFZDOWRGMTlCUXBRRkM2eXcycXU4TmxhekxHM3FiTHlyYnZvaTVzMDVkVFZrUnFiMXJ6Q2lJaVBTL0xoZ2dJNWJOc2F1eXpkTVRsWEVmUVVVU3A0VUlRWHNTYnFBbVc2V1lhMjJVWVZPSW9UVVI3QTFacEdqRXIvRklPNGx6UnpUcTFCc1ozdWZCN0NVSlF6RWVTTjljamxtaE9HVlo1RXBuUkJveUVrcUxZUkN2c0tkM1VOcFpvRWVsdXM3RmdsTVdrbFg5YlZSblV3WHFyY1d0dnNTbnF5ckpNNkxSYnFpR0g2Qy96Q0tDNHJxaTBlZFJiYjU2NzMrMGl6UXdIdVd1TmN3QlpzR3NKdWUrZDVEN1BjV011MVl6VTZhaTV2U0FGTmxOVUM0YXlLbUVXMGUwbVVncG5SOTg5Vll1UXFVaUhSR3lKZ2dBdit2Y2pma1dtQm4wWWhMMURIVFFvM0NUd2tDVlMrdGJKYks0VmtXS3hZcy9hQW5PNTZXeXl1S1hGc1BrV3QxRW5vUFN6Z0o5UStpWm5VbVJBbHJWdnlsSDZqS2VkSFRWeWpMOFVPKzNSZEJQL1ZMaUFpZFJWU1hvZDFUamdFaW9PK3MwcnRVWHlVVkZXS0YwSUpBYStHOW10a1lMZk40cDJUTjhuWkkzSHZlZ3IwUDRjdFozVjdOL1l0RStJdGNDVFlZQTNsNWFZZ3dHRHJBdGJnaEd5TkZCOUtoaFdRMTAwS09CU0FvYXpZTW9jSkYyelAvcUVHREhSTGNIRDlFb0xZYkpwVXJRWjNWa1pvNUd2R1dBSGdzY0VqcE41Y1FLbkd6YUZWSG9UNXFkeWpkeEdhQkhIVWszOGcwRlRBbjZ1dFk0TUZqK05hVm05ZTJBNW5kcmxWdlJCVGdBQUI1aFNVUkJWQWp6QXFyaUhXbEdpcG16T1dtYndFU1Zrd29xenFyTjVsZkJCVnlRazd4VUlKMUtFaXZsMDVtSWZSRUN5dCttYVVCNGUvb0h0MnVDTk13cUtWS1Bxckc1TG9Mby8wRExKRzBna29aMmN0Q2pUSTlMN3lNY0t1WFNZdWlDVmptbWQxRGFHYUNIbXVWTW1nNXBxL3BqcmVoTlZWQ2dNcndtM21BbXNTWWpxaHVnNk1tZXk4d2Y4YlpsQk5yU3NNeFlmZHZ3SmJkKzVVQkU3K25aSGFpaGd3am4vejA1ejAwcm82eTVNdFlaYlpBZ1BjczRLRXhWdDFpSUVnaGM1d25wbXNPZUlOTEV5KzJQaURmUC8zUVdmbC93d0l5S0hNTWpTeStjUFphWm9sRUdXbFM2Y3BNTXFkREtiZ2tDOUg4cFkvUERIOHRJYk5uaWV3N2xleUZIUTQxS2tMNjhHR1ltaG5yNjhUSkJHeE04TnhRM0I2V2RBZm9kVlVIMTFweXVoeEV5cEg1YW5iVk1xZXhSbC9FZEZvQmFqYmRGdklicVV4RytScjNCVWxyZmVFVkxReUZxOTZYVm56N2lYQ2x5THB1cnFHM1FvYVRGMDcvNUlmNzhQQkxmRmQ3eTN6bm9hZTR0VnBKa09ONUI2K2toajRiZVVobDVmVXFhM1A2bDhTUWN4S0Q2M2hCMFVQUksyVjFDNnJJSllERUdPdWpwMk80eTlVWWRFdW5aZjR3QTYzTW9vckY5VGFxSWhmZGsveWJveTR0aGNoOENmV3dWQ0o2SElsbFdCTHUvaGk4SHBaMEIrbGhWVUdQTzNLWisybFZlRUxJTS94dWdYN1ZObEZ0QVQwdEVhb2NkN2FVMTNPNHJ6bldSV3h1TU4zUnk2NnZFMHpRc0JoYk9meUNnOXFTYklyUS9ldlR5YnFhNWEyWG8wR1pqaXhOQU82am1CN0JHenA1L1dJWjYzclJVaml0Q3YxK3Rad01xVXpZQUl6Y3dQR0xlTnd5REhzbnN6NzdJazlnVmxSelZFcjRUL3NkR3oxUmVESlA5RU9qdEFzRjNYeVRMakdFTnVDR1NSWkdEMHJhREhtYWJ6QjdLNklKa2FWTS9OZHFsTERJbWR3eURYdlZQSXFZRjlIVE81MUNFTTlEVFJUVzdielRmNEdwS3RvSjErQnYvT3o1UWREUVg3VFgxSnhYTGVVK1B2am16QmRJeU5zS0p4bFUyVGdPeGlabkdaMFlFSmI4L0lyV3JJRm9LK3FQdWRxRTZOYmtNakN5aEJXWjFkeGowUDZlVDA5ejM3VWxxUjl3N2MrcEl4c3gybUQxOWVURk1Ua09nSHkrVEptZ09KMU5jd3RGQmFkdEJUOXRCb2ZKVk5aSUVWNHY2YVF0L1lLcEF2UmxqK3A0MlBTaWpXRUJQbXhHTkltV0E2SGJmS0tKSHZOakQ2bC9YTmtLWHpJUmpVYU9QWGxOTlRZa0laOVNnUTNpVis2ZENhRXdMRUlPbEl5ZFhXMGFXdjBScDQ3bGJnT3FrU1dqanBaV05ubnh6YUNuY0hOTmplb2U4U0tNUGorbDFFaGx1SFA1S251c1pFWEo0TjR6cDJ2SmltQ3lIUUc4R3VuMHJYOXAyMEtNeGxwMEtZSDZvY20xUmZ4dmxvU0lNdVl6Wis1NVdiV1U4QytpSFNvU0QzdTRMT2svV2tRUDYwTXFZRC9TelVyeWtNVm1UMmVFTzU2QnYwd3dPYzVub0hTMnhSRFZBc0tVbC9oMUtITStoNXVmSk9WUUtPaGZVR2pYbW9BRURvNmV2YzlDRGdwNTNuVUttK3p4SHZUbG5rQm5kRnBBYjlEbkZNSGxVQ1Bxb2RHbmJRZC9XZG5GM3pMcWFWdittRGNwQ0pRYm9WL1hwSnhIREFucmFweCtLY0RhUlJ6RnE5MlhSZnZNcHBFam1pVHE1ZXZxQmhFOXlEWGFxTWpsZnB6OUMvaXc3LzVTVVkxMndTQVdtWU9LcGRVbWE4RWRpa0JkckgyTXBsWWxBN1dMYXVGcWVuZUdnZ1FINkpqZnZpNEErbXNmdFVYaEthRkROVXRHc2x4ZkRWRUNWb0M5ZDJuYlFvNGFLK29YNWQzTWNubEovUzE4a00xVVJSYTNFcEV1OFYyMmxaZ0U5SFYxc0tFbzhtZDJYUi90eDVJSjFoSDF0RlVtUkdIWjFtS0hKZlJ2REVJTC9xaktsaDlNV2UwZStob0E2S1IzVVU5RTJBVGU2QUtCVSt6S2trT0dUa3A0Z1BpMkZRMnY4WmZJeHRYZWJ4UmdZb0k4NTZGSGw5cXdFUm52K3l3K0Njd2JyMFNtVFVIMXFpbjM1UFlOV1hqRk1ucFdDdm14cDIwRy9vN3BMck1wb3ZTS1RkRWo5S016ME9yZFFTVWV2aUxEVE5iT2FSN0dBM2xoUG9RQmtDTFQ3Q2tiUisxRWw4TEtwdFZjeUxPV0lMMnRlSFV1MjJteVZVSXRFbmNzWks4cC85VmZqejlOM2tUM1prQTdSemZjS3VBbWt0NGRIejZDd1VpL2JxdVRLQmwycjJiYkdmUFFtNW4vbHJBT05NakJBajRSTTYyaThEcTBFeG5sK0VSU3VqWXVVRlk1NnZLdUZsUmRESXdabnRhQXZXZHAyMFBkNW93eHBZRW1LL2tXSnFhc2YyalFXUTFRczZ0clVGbkxwTlhicFlhMEY5SFR4WUZ2UkFlaXBNV3YxclgyTGpBZFlJVkZ2bE4waDRxYTJpS2VxWVMvVjFLRTNiU0JmR2MrK0lKMzFIeU5oZHR1WWxVcjNCK2h2OFBlT3JiTkV1QUU1UGEwN3Q3R3J4U0JiZndOZFB0M1gvQWI2SzAzSUlBdThiV2lSSm5DQy9JVUpvaHRSd2Y2NjVsRmVESTBZbkZXREh0ZitGaTl0TytoYmFnQ0VkbGxVTlUxTVRmMjB6Y3d1aW9IZXZkR29CeG9WNXJTQW5uNTNSaXVoSG05M2JMN0xxaFZCazNLTnJlL0p6WGJEck9RNy9YYWxldWhFNGE1NlpTN3pIb0FrVUM2V0lQN3djMkVvZmVxVkpyaVI4cDNFQTlvVEJIRGJrRXk1ZkNDYzNhR0JtUEIzK3grbmxjVVlMRUtuTTJZUE1kQkJUd3QvZzhaRTQ3MU4vM00vLzF2RVJBbXZDL2VrL3lpOGJUMU5hVEYwWXRXQjNrbHAyMEhmVlhZVTVqTFhJZDlmYkZFaGJlb0hCYU41cC9IVTB5YmE0SUFhQmZzcUxISFpRTjh5MnBGTlF0Wm9YSnZ2aXRaSHM3dlgwRWlObisyaDM2NVVENUpJT0FuZlRZdDlFMkhNbXZIY09oUUpNLzZwbVdLc0dXWEVHK0VORWh6MGFPWFhSTVFGSXJjaURJcTMvWUphanY5T2hoeWIySnNIVzBqY2NrUXBEZlRpcHZXRWtVY3R1SjZEajR5eUk3L3pBZzFja040VE90RG1IT3BKU291aEU2c005RzVLMnc3NmxpcXRkbEpFelFNSWFWVS83U2Rwb1AweDc4aHJHcVgyUjFzMGpRMzBSMXF0WnNmOGRtbE1tKytLTnNyclVGUlJ1NDNScFNtaTZFODBkK0pEZittM0s5VkRrNmpkcEltLzlZNDhsV1JpRjUyUTBMSTZjWG9rQUZodUpPbk9hQlc0cjNxL1ZiMkJMY0loVjVxZXZpOG9XbWFYalNQaEVtdk9CeW8zOE1QYnZxU0pUSE1UYkRKRm9JV1RUZlNFellYa0RRZkk3T252NWNYUXFWVmwzcnNwYlR2b084b1cybVFWckVZYmFidjYyOFF5VUpjS2tRZndtUTlneStzdGZZMFA2YThOOURBdnRITTZUVjVlTnQ4VjFlZGgvbUFkOUxvcTczaHJIdUluOWJRMDZnaU1aWDJVTVZ0NlJxVnZjUWZ0NTB6N2NuSmFEWkdudnJMdWFZTWxWTHBxczA0bVp6TW1CV3pzNTFXVU9USGhNOHNRalNxaUJoNFU5TmRsVkpUOWk4bExQSkdSM29PRWdvalcyQW12dlAvREZiMjhHQWJuYXNiMGprcDdXQmVKSkgybDNSWlQrVHlkSXJLcmYzUGtqTUtNTVY4UDJLbytkaVVwU3h2b01RQlQ4U0JwVXBGc3ZpdmtKYW44SGh1Wkk1ZVhwWmMyNUpkK2NEUXU2RzkwL2tuV0t4NVExNGdZY1F1K1FQSlJCbEV1cW1KM0k3cDhjYXNSTzVBZ3hPMXBEV0F1Z29VaW9UaTA4ZFBnQmlmU1hXT091ajVMTjlEN2RJUmNTK0xXSjhybmp1SzNaRlFtempqbjMvQUhHTXFMWVRCMkN2cEg0aXVIQm5YeFF1MUZCNlZ0QnoxSzY0QXphakRqNmh6Rm9GMzlIUjJnSW5meUgwMy9sbnloY3pocXplNWNZdTNaUUIvVnRYZ1ljdk9PMmVLN292VXNBMlpNUWlMUisyRExKN2NvVlJhb2ExN3JnT2g3RDdyY29BNzFORVFOVlY2bFhLdGdNZHl3VEVwUUREblFTUjJLdEpCV210Q2IwaVZDdmZ5M05QWlJmVGZoY1o1bkNjZEJlSDhPLzRGbTdOTkpEVjRUK3FJOGMyVVA3RVFITUM5ZHVWSWFrYzVvRllVRmxCYkRJTzhTOU0rUks3RzEzckw5YWZ1Y2I0blN0b01lVlhRam9ZMXcyczJlb1NWcFYzODhjaWtLWlMyYUQwcXdvNnBvTkVqNmFDdm9VWGUyYVh6NjlHUm1MTDdvL1dXanNwbU0ybUkxQm93R3FnWW14Tmp2N0JEbzZiVEVCUzJjalo4M0RJK3lMeEJDeTFZeGFqMXUxUXkwdW84R1FJNTRtL29rV2pFV2VWSkJXK3NpM3JJWUtPL3cxVUtVdDdJREJ0cGNDVXdkTVc4eTRISUlJcVAvdTRyZG5MSndScWV4aExZbGV4NVlXZ3lEaVVQUUw1SnZ4b1pCc3o1eVhvNUsydzU2RU45TytLQjNwKzNzMFJwK3JPcUhyU2tIbFVrUzgxZFNZdDR6V2dzUjd6SXZyZlBIWE04YTg2TW1nWVJyazl4TlBHMitBUDB1RDQyNlNmVi9SbzBrYTQzcklsRC83NmhheTd5aGhLSE9CL3ozOUJTbDNadGdJY1FvU215T3NNRTBwc2gzSllsRmNtdWZ2OHdQVjJzWnlhMWpxYUVrZVpUTHRDamJvWlpXSUFPVTdSWm4zbGVsWXZtVzVJZ2NkdmpIY1JGbFUzUkZJNkpuQlExVWhVcWlsQmJENE9RUTlGMzZLYUNtTm0raUdEa3FiVHZvVWVkM0dTdTZ1RXJaZHlsNHJPcUgvUzZIR1N6SjBFOWRxNkhvUVdQNWRhTnpTWDJnallaSXNxcXd0eWs3REZqM3V5SkMyaGVnRitwWjVtWTl2RVNmTWlkN1FVR0Ivb09pU0pONG80MGJNdjZ3TktLbktPL3VnSVhJVlZGcTg4bVMzSXkrTWllN1dtb1JYU3RLZWJKMFI5TDBFdGRqNFZQRXdnUWZhSTBiM09MK0xGU2tGd1NYR2VVVVhpUCtCN0wxWHhvcXBCR0owa0U3b2orUlFXWEZrSVNvd3gzb3o3R1B6R3hhNjUrajByYURYbDU0Yy9SOGk5YlZHdXYzck9yZlJHMlcwMHFHSHBLWGpxbHNkUFhmbWdTMGtwUFlkSkY4bjZmcksremhOTitiRXQrdTZsZWl0QzhRTHByL2R3dWovUTlFcDFMVHY3ekFlVVRScDJPa2VZZDhoWFFkZUlqRWlmKzVpZXFsUml2TDJRVUhjOGtnSytZSS95WnJIbHVxRVVUYytuZnhCTXNOYmQ1OEJKSHlRY3V5cTM5MzhuMjZsU2FNZXQ2bDF5SG9yM0VlQTBJK3g4MStWQlBhYjdCbmNhSVdkVVorTXVjUHlyUnFYVU5yTkI5bHhVaUU0Yi91UU45bDQrRTIyVGJvOHhjM3BaMEIrbDdTTFMyUS9RSHRGUmRaMGFYVS85NmYvMVZheG9UOHJYLy83M2lacDNKNk5HUld0VGpHLzVES3R2enc5emFRL1BoVkQrOUZuM2o0RlpUVU56MzhqeG1Oai9ONC8wZUNtbnFuZkFINmJtSmlMc2VpSzhHM2JXK0NPRDVJSjJvaWZlSFBuN3lTY3NIdEw5dmM0NCsrTjJZZTVLMFBmMFJFaXM0TTJRSXlvS2lEOGxncm1saWtHOURtOGF6V0NDTGczYmNPV1hDdHBWREZQRHordkllUXYwM0puMmVkMHRtbm1mN1lmdWpheDVqN3lzUDdOSHlBTXF4L0IzV2htaWs3QjJXMlJ6M3pQYlg0elVuRUh6TUZ6NWRheG1xa1VWUlNERW1hT3B5QmZpR3htYzRNalVBNU16ZWxuUUg2K1dRdzFuMCtZclpZMHNlbjFOOWlKWno4YlBOc0RmK3RhcVZOdzFaaWN2ek8zL2p0M3lWZml4YzZla2llUTdyMUpubDQ3WGcvSVQvd3g1LzhyL3hiODRMc3NDOCs1N2ZTK0RaQS9KTjFhVEJFQzFoeStPKy84Y21XcldkQWw1TTh1NXlrOUZDenhMUzZsdTZXUlk2VGY4cnpndWsxK2RzS21xS1YrSGhEVDFtcjMvNTl2UDk0bC93RDNkdXZHNlh3dHI5ODRrY1NjM3MxMFNmckYraENNbnZXYVFZR0FQMVorcFd6VDJQZjhKYktrdEdPSys4TTE3dkkyMUMrdFVmSWJmd1ZmVEJnMVRMQXFaUVVROCtMTTlEM2tzSHluSDJpekUxcFo0QWVjeVp2anBZK2lGNmtGcFBEK2NZK0UzQlkvWDF5OGRMVmh4NTY4T3JGaHFWUFRYU1NNcFFYbXF4V2ZEY05uZ2VCMXovMDRQMFhDVUIvZkJHMFFFcDBDY0E3ZllTdG1KQ0xobnlYMGIvaDZweExEY05pUHgrenBLdzc0dW5FMytZeDVYajFvclQyTm8vQk5oRkNqRXZwUjJ2WFJRSW4vNmh6QUVCcFVzK1JTK3FhZjA1dHZrbU9yMEw4cnlsTmZRSUNTU2trOXRRcU5BcUZjdERUQXIxNmYyT2RFaHRRbVo4anh6RWhyOXZUcUtkTmJTMHc3ZnluS04vN3NSdGtJeDJVMitlOFd1VFEwcFFUUXlQa3JxY0gzQ2pkbVl3VkRpZWxuUVg2cFNhNWxWVFRkNUhqaGtCREFmV3ZwQVp3dFo5NTRQaXR2NmhyTE1QOTZhY2JsMTUxT0J4bytySlRkazgrUlM2OTVVZjFpRXVmQTQvUDZqNlR1ZXRwWTNBeUFrT3gyUzdjd3lIUEFxOC9FVi81NmVGa1M1KzduOXozcW8xaGI3L3ZLSVg3ZmozZGQ1cE1HZWlqTHo5d2ZPV2RSc0RSaENPZFR6L1Z3UGZTREJLVHZzell4MnVseE5EejRLcW5YK1NOMDh5UWdTeDV1U2p0TE5CSHk5L2YrS2FrZnYxcDg0M1NyaXFnL2tiU2RNbGNUNE1EU3dyakt2UmtZa0ROYXBGaXNxUlRIRHNCZlZxQU0zeWRKUjNpemFkZFlyeVdKWWFlV1ZlZ2IzT3d6eVZEZTUyRk8zY202SjJ4NkVoRDJobEo3NFRPbDFrY3N1VnVCcGhYbTFac01lNUZ2eXkwTExwZUd4bXZ2TDV0Zm1kOE1oWWpTd3c5ZVRIUXYrL1BuLzNvQThhaVM0dXZmNThoZDNYeWJ0MytRZCsyVDBtNEZjTXh0ZG1NRVZWaE5tY0FlcU53QzFPYXBvUlphSUVoVmJVWXNiRXhkREx1V1dMb1ZBcUJudTRQMGZZdmdCNG1RdmNaV2ZkZlRkWnk2eC8wNTdKR0oxb3VUcHV6NTNnZUwycWpjTEgwK1RKN0JxSUtEOHZkRlhzcmhnTjh2UzlaNS9GeWNzc1VRMHRmQ1BTMEt6RHJCWnFCWk1hejdiT1A4QS82VXZyVzFGcWxzK1Y2SHVJSWhmdFNsUktjQ2w2RExOQTdiMVRIaVh1MnpDeENwaGdhMTBLZ1gzbjJ3MWgyZVZFajB4YU4wMkM2emZ1b1ZjS3kwdlJSb2JPbWIzUjF3cmNQME45d1FtbWFpR1NpNVd6VkxXQzd6Q2FKVERHMHNpZ0VlcVJIWjcrbWtla0xlN0EvM1JONU1HMHZhR0pOZzNQUmVaM3NBdlRyMHlDNjB6eG1vc1Y5cXpvbTM1MHlIVSttR0JyVG9xQmZOZmRzeGFMZjcvb2NGUHMzNzNHK1pkb00yN2J6QlljWW9MK3UxWkdYaHpNYkxhVkFPTG55YXFXV0M3TEZVRGtwQ3ZxZU1RTENIcTYxaEdaY1pqeWlzbVYzVlFENktCYWI0dTFaT0gyK0hjZXI5Qkg5VExQcmFZTFRwN1pVam9DV2pKWnUxbm16bW1LdWV5eVdXS1ZuR3dzenhGQThpb0oraCtnMkNOQjRqZEhFK29iamZlQXFxK3draFA3cXhYMDBaZlY5U1F5c25HbURiVW5mY2tadVdnZ2RpVHFjeXZDS3o0NHN4UzNxbGRwZ21TMkc0bFFVOUYxajlYSlduRXJBbWFRMVJkeTFxNHFlL3F4UEFWd3JCUFRtbkErLzZjR2lsOS9lSEhxLzJtNUcrYlNzNThVeklwZjJibHJ2VmNoTGRvUVlra1JSME1mR25IRWI5VVE4dTVLMmMwY1ZvSS9pNmRxWHNpT3ZlM0dsYm5wcHdIVHB3SW5rVFhNOVNxYzVXMktIbkU0bmwzdGg1STBQWTBtTUVFT21MUWg2bVBIaVhBc2x0U2tRai85dFNkdTVveExROS9SeGkzTVJYQk9zdVRjOTZTNWNjWGpRZFhaUEs3MmZlaGhnSWVTTkQxdkh3MHRWenU2MlM0d3ZSNHNobFY4UTlEQUI5Vm51RHJuekdIdDZ4bEJmY25Ia3FBVDA4K3l5QlVjNTlrNW14c0VaMktGTTBxMVgraDZNb2VCNzhyVkxJVStmRzFieE5qTVBZMXVqbC9LczY3M3BoSlRHaUNHb0ZRUTk0S2VycHltNmhzM1UyVlRCeU1WL0phQ1ArcVhHVkM3a25JQkd5NzBodm9xNnZ6WkJGdTZGcU4xajNMVkFMeTdRYTdVUzdMenppUk5GZThoMXRzeFFZb3dZZ2xWQjBHUG03b0lnZ1gvWk5laDN4R25oanB6VmdINHhjMExIa1JnT3ladzNpc0VONFFGQXYrdUcxRDFEcGZOQ1ZhTDAyZjBlZnJrVkJIM2JXS1lINk5lU2JEYThHb2JWZ0Q3cWVEd282TGcwTnoxVXhoMkFmdHR4UHFlZDNHTFdHcjVyd2VhcmFHOExnbjdUR0x0aldpL3A5N0ZKWjkyMUdqUjZGWUgrL05UVStlVXl0cUNtV01QWkF1Z1BESi93RXZXZnIwWUpBL2ZEdFhUR0M0SWVGVU9qQmF4Zlo2OVk3ZG5XL0YwN0t3Sjl0S2xQVXJvV3dpVzlkb2xKbjh4OE5BSDZ6TUNYYThCOE5lMWd6ZjI4cktYRUNvSmUveG9UTG8wVmUzTm12YzdqMGJ1SkxTSzQ5MXA2aDN1YVhpZyt2dWVCYkdQa1J6NDlNSndLa3Avd29lcVU1TFdobTFWVEVaeDRGQU05N0hsOTNJc0Z2TVFlN0JtcjkwNHlxQk9wQ3ZRNno1ZWRHMlhydHhSZmRobzlkUUlYQXoxUS9oVk5GUGxCZ0phWTBOTUNIVG9ENkIwcU00c1VDdE1vM0t4NHdYOXFOVkFNOUVEZkRVMWtqT20zMkt2ZklYMWw1cjBtMnN2UFNiLzNweGZ1eTA4RDk3ekV4VUNQWmZyMXFQYXo4WlhrdG5aWWhFeFI1ejBmMUFnOWZRWDFrVjZBdUY0Qm44RGl4RFJRRFBSdFROY3ZkY2xGY1JxUmc3NXQ3TTExTDFNQXZYdWRwaWlpUWE5cVVUckZPM2hVb29GaW9NY3kvZUhPOFdlalQ1UGpQWnJOWm1MZXR6d3ZPQVRRVjFBblZnSDZqUXI0QkJZbnBvRmlvRzhSOGpnRCtGSHlMZWMrdXd0M1dkeU82VXVhQUhwZm10WG85Z0Q2WklaRzh3ek9lMGtEeFVBZmsxdjFiNmRxbUVsdzNtTjdjbVo5bjA4TG9LK2c2c0dLZXhsZW9WR0JZazhQaTBLZ3AwdTV5V0ZEck8vc1E1Z1p0aDIwNi9zQVlnQjlCUlduODdLOFFxTUN4WjRlRm9WQVR5OVUrdFpFaGdaYm1WK2lOK09kOWQzUmh5VzdLdXBOOCtWM2hVWVZhajFOUEFxQkhqMnUySW9jSnlmcGNTQ3cxcnp0ZXlnWWV2b0txZzdLMXVQZHBoVUlFRmlNMDBBaDBHTlZSOXluVkUvdXlsc2dyNHM5VDkxRGtnRDZjY1ZaUHB6ZWhidGVua3lnY0lvMVVBajBiWFhMUW9zZnNmbEVmRit5VWNlbnJBSDBQcldiMEY0QTZLLzdaeE00bktBR0NvR2VMdFB6UEhmRmx5dXJrQ0dBM3IrV29XTlp1UDY1QlE0bm9ZRkNvRytwSTY3MUtxdElBTDMvS2pJSDBQdm5FamljcEFZS2dWNDdUUjlYdVgwcmdONS9WVmtsdnJkWStaY2hjQml0Z1NLZzEwL1RvMS9ZSHMzQllXZ0F2VU5sWnBBYW1GY2x2UGVweHBWM1prUU4zbE9xZ1NLZzEwN1QwMjA2aDVXSkhrRHZYOVU3eG1uNkh5UEhiMjJTYi9QUE5uQ29VQU5GUUEvc2laVmNldVBDUVdYWkRhRDNyK3FXZnBwK3BYRjdJNHArbUx6SlA5L0FvVG9ORkFFOTVub3U4eHpTNzU3NTNwS2psQkZBcjNUaHl4V0xtNDBwZzZOazlhNWJZY1B1UzY1QVYybWdDT2d4MTNPTlU2RGZQVlBFZkxzQzZIMXJtSDJjZmw5d1dlSWZzanduTmwyTGdQQS8xUm9vQXZvak5XTmY3Vnh2QUwzM3VvYWJ6MVMzUHNjL29Gb0xFL3JlRlY4bGd5S2c3NnNOT2IxS2IwNE5vUGRlTmVnTmVaSUp0KzZqcUZQaGJLM2tIaHkrTkZBRTlIVjF1ejN3Yi9rd1JNMVRiZ1BvUFNsV2tjVU5lZXBqYWsxMk53b0NCMkU3dmxMUjlMdUtnRDVXOWFJcHYyS25xV0s1c2FHOU9YUUcwRHRVcHAwVXpsSTlMMEt3Tk1PZHErRlNiS0dVZStHL0NPZ2I2a3NYTUFiRm5KN1N4aGxmSCtFTG9GZEs5dVJxcStWWUhHb1VIKzJlNHpONm5wZ0dzdFZxb0FqbzFmWU5lcHZHWGlyRExWL0dZQUI5U3RldVBZNjBnN1d6Ukh3VDkxeTRRY3Uxb2srU1hnSFFZeGVlMkp1REVhQ29GMG9JVEFDdnFUZVhyZ0I2bDlxMDB1b2s5NSt4c0o2MDZLRDRkTnR1VFI4OHAwQUR4VUIvZzBzR1kvREZsSkFZRm9wR0lSVld6aU9BdnB6K2NxU09OWGh2eW0vYVlVNS9JMGZpRUdVNk5GQUE5SkhxeVhmVWJScEtYSFFXbGhsOUZWN2NGVUJmWEhmNVVzS0tVMWZoZHVTY0hrQy9uNDlBaURVRkdpZ0MrdVF5VENwY2t4eHZEUXRKdDNlSXk3U0d3MHErQjlDWFZPRFk1SmlrdVNNamRTWG9jWjNPcnZRT2ptblhRQkhRMThXWUhYWGhLeWtGek4wMUQyZW1JaFQzQ0tBdnJydDhLYUZoWmFVMVplT05nbDdQUnlERW1nSU5GQUY5UjN6VjlGSGJnbDEvM1RhNzUwUVZBZlJPMURpQ3lCbDFsaXFLK0UzSGlBN1FYeDZSS2dSTmx3YUtnSDRnSnVwYWNpRlhDYjFFOXJTTGRaUy9DMWNBdlFzdGpxSXgwTzlFVWFDSDFSOUFQMHB2MHhWV0JQU3ozS2pIanEzdlNrazdkemZxcW0yNnFlQlNIZ0gwcGRTWEkzRkxQeW5ka0lNM2dINHRSK29RWlRvMFVBVDBDM3h4ZnNDL2JXVkl1bk1aeHpNOG5iRVBvRGRVN2VHbG9lKzdVRE0yQWZRZWRIMXlKSXVBSHBQMmU4anhVc1BTMGRkd01CTUxlUWRlSkFxZzk2SldSUlMybXpZenExNEM2SldPN2dGWElkQS93K1p5M3k4M2JHbDZtTUdLRHdhR0c1cVhPMmNBdlR0ZFdpbEJ3ZHJZdlNGbjd3UG9yZXFhVnM5Q29GOXEzRDZNUGsrT0Q5TlNiNjVGVWR2WE4xSUM2Tk1LZCtLei9OVFhNVHFZdk45UUJBM1FhNDJCaWhGY1U2bUJRcUNQSGlja0pyZTIweExYNktuYVZWOWJPUUxvMHhwMzRyUEpTMnpUV0k1UnMvZGhuZDZKbWs4TGtXS2dqejcxd1BGYkRpMHluS1BuYjNCeDVyb2xyTHhYQUgxNUhWb3BFRDU4YitwRGVremRpSjJWQWZSV3RVMnJaMEhRWjRsNzlCcUU0T3pkamF3SXBmd0Q2RXVwTHpNeDNUbDlGNkdZeDF2WEl0WERObHhORy9lUTB6SG9HOXZRRGU3RjluUE1Mb0RlVDgzRFBCM2JjZzhUVFY5Mk1RN2NYUGZET2xBOUFRMjRCZjFaZHI4YWpNR1h2SWdTUU85RnJSSHQ2ZWtsV1p2bWVzeU9mRVV6dnVHSGRhQjZBaHB3Qy9vQk8xMlBPaVFHZzI0bENxQjNxMDlKcmNHVzZtb053N3JIMHFzNGNRZkY3OG5Jd1RIdEduQUwrbmlmNmtQL3dLVlQvUVRRTzFXbkl0WW5ON2VpYUdab2grVVplUUhxaksrTjFTb0x3VldkQnB5Q2ZwRmZwT2pybUYwQXZhZUtNWGRNeC9MMW9RL1pxSnZ4enNnKzMxTUdBdGtxTmVBVTlEMCtsRzhheTczdXhBbWdkNmRMZzFLdGVXY3Yra055RzkyOTltQitqNyt0R2t0NVdwVGduRVlOT0FWOTgzcWlncTZzTFc1VkVrRHZWcCtLR21icTdpZkgyOHFEdVdMeFlac2pmWGZ1VUtUd09uVWFjQW42ODhlUEpVL0gwekc3QUhwdjlldkpWNUEzYmd4VDN4RWZOZWlHeWZ0aDNVenp1MHZROTdEeUl4NDZSblQrQk5BN1YrbElnck44djhXU2Rsdm15QVFoY0NvMDRCTDBkWUY0L0cvNGtENkEzb2RXczJrdTgrbjdPVS83THJJNWh4Q2ZHbkFJK2dWNWVYTGIwekc3QUhxZlZjRkNlek81QkRkWTl4YmRUTEdYUTlDMzVUWThuTkRjOWFHVEFIb2ZXaDFCYzc1eGF5T0tmcEo4KzRnNElXanFOSENrVEhJKzlWNVloUG8xa2RUMU1idFlaVkt3Q1ArVmFPQnhjdnpXQjhnTFc1VXdDMHdxMG9BNzBNOUw2OTc1TWJzQStvcHFRNXJOazA4MUx2MUt3SHhhTWRQczR3NzBqNnJiMWZBVkpLZkg3QUxvcDdtS2hieWZOZzI0QTMxWFd2Y1J0bkxKOGIwTGdRUG9YV2d4MEFnYVNEVHdxUS9KNTdDVVR1YVBWWEljczZNbk5aMDl6OG84ZnNnWnpVQW9hQ0Jvb0tRR2V2cHBXbTlmc3l1WnlaQThhQ0Jvd0prR2F2R2FSc3Y0Wm9MbUg1eEJBMEVEOTR3R3ZtUWN5Y0JWdWZlTVpFR1FvSUdnQVlzR2xqK0FTOVlPUk1BVFg4UzYraTgrSmw3RGY5QkEwTUE5cHdFczBkRm5MeEdzelY3Q0p3L3Z1V0lPQWdVTktBMmNKNWNldXRvNDVuczRuaUVYcno3MDRQMk5YUlhoRkxqK1ArRk5abkN2ZjlkRkFBQUFBRWxGVGtTdVFtQ0MiCn0K"/>
    </extobj>
    <extobj name="334E55B0-647D-440b-865C-3EC943EB4CBC-71">
      <extobjdata type="334E55B0-647D-440b-865C-3EC943EB4CBC" data="ewoJIkltZ1NldHRpbmdKc29uIiA6ICJ7XCJkcGlcIjpcIjYwMFwiLFwiZm9ybWF0XCI6XCJQTkdcIixcInRyYW5zcGFyZW50XCI6dHJ1ZSxcImF1dG9cIjpmYWxzZX0iLAoJIkxhdGV4IiA6ICJYRnNnVUNoY2JXRjBhSEp0ZTJOb2IyOXpaVndnUVgwcENqMWNhVzUwWHpCZVhHbHVablI1Q2x4MGFHVjBZU0J6WG5zdFhIUm9aWFJoTFRGOUNseGxlSEJjYkdWbWRGc3RYR3hsWm5Rb01TdGNabkpoWTN0aVgwSmVYSFJvWlhSaGZYdGlYMEZlWEhSb1pYUmhmVnh5YVdkb2RDbHpYbnN0WEhSb1pYUmhmVnh5YVdkb2RGMWtjMXhkIiwKCSJMYXRleEltZ0Jhc2U2NCIgOiAiaVZCT1J3MEtHZ29BQUFBTlNVaEVVZ0FBQjMwQUFBRFVCQU1BQUFCcWhpU3pBQUFBTUZCTVZFWC8vLzhBQUFBQUFBQUFBQUFBQUFBQUFBQUFBQUFBQUFBQUFBQUFBQUFBQUFBQUFBQUFBQUFBQUFBQUFBQUFBQUF2M2FCN0FBQUFEM1JTVGxNQXUrL2R6WmxVRUdhSnF5SjJNa1FmN3A2VEFBQUFDWEJJV1hNQUFBN0VBQUFPeEFHVkt3NGJBQUFnQUVsRVFWUjRBZTE5ZTVBa3lWbGY3V3Q2ZDJkblpwRVFUNXNlYmc4a0pFSHYzVjVZQkRLcTRlNFVBZ1dtRjhPQlF3clVZekJCV0JHT0daMEVKK2tPOXlCUUVDYkFNd2pMdG9SUkQzZG5UQURoSHA5QTRpR3BKekJoaFVUZ0dZUVJEdm5SZzg0UUNBalAzT3lldVFkMzZkK1hWZm1xeXFxdTZzcnM2Wm1wK3FNcm4xOSs5WDM1eS96eXk2enFJS2l2V2dLblZRSnZEZS9hTzYzUFhqOTNMWUZqTG9FbjJWM2hjOGY4R1dyMmF3bWNVZ2xjWWw4YlhHSlhUK25UMTQ5ZFMrQjRTNkIvYXpVSTJzOGM3NGVvdWE4bGNEb2xjSm05QmcrK2NuZzZuNzUrNmxvQ3gxc0NmYmFMQitpeXRlUDlHRFgzdFFTcVNXRDJBL0w2VURWS2s2eDlrZjB0TlhlV0xVMnlWYjJ0SzFKc0g5alEwK3R3TFlGSlNtQ2V5ZXRaQisyKzU1WURJcU5KRE5oMUtuU2VIVmpLbmp0Y3RxUTZUam9ueFdibHdYRnJOYmxhQW5ZSnVNWHZKZmFVdlJuSHFTSGJJNHBuMkFzV3dtZWl5ZG1TNHpDcHhxOURZVG9nOVR1ckpwR0hFM0V6OStURTNPSzNOeG1EOWhLN3pUVndodjAvbXliYWJNT1c3RFN0eHE5VGNWWWs5dFlXWTErK3BZaFEvTXRPQllLZDRsZmdTZ25TVDZnYjQvYThmYVo5TzN2YVQ3c2ExUnEvbWpDT092Z2tYOHpjWG83NWFQd3VqNy9pcU5tYVJQdkE3NTZ6ZGpyc0RjNW81UkhxUk10ZitLK3NhL1pHaTkzTXErNDByMU92ZjUzS2N3eGlGMkpmeE8xNEJ2NStkdXREV3cvL3hLazQzZU1TdnhjWUhhcndmODB5dHMxYldXRDJFNVJQWktUN1lLM0dydytwbHFMWlpMKzBOZnRqQUhFMG1wOWhUKzFTL1QrNlBaSGVXSXBWNTRWZDRyZkRYdVdjUHhEODBiLzQxQy9lcTF2RWx4bUxSdHB1aHFFOHh5WTNBZGY0OWFIelVUUm5Ybkw0eTZMTUJmYVZGUHh2QVBBbTdyUGg0UjV1dUpwWG8vdEovbldJM3l1TUg2cHdMUzJnRlpjKzBYWmo5MVV3dE52UFFiQ2ZsZUdhdVNDbzhldGVwaU1wenJaWmk0bjE3UW8vQ3hBRU80emJmMCt3TDQzcm40a3pScEk3eGdVYzRuZkY3ZzJ1S3B5ekhMLzZTZWNkRnNkMjdQNnJJSmhoRXp1WlZlTzNxb0xIcVA4RWUyM3dPVDdib25LNEVWR0EwdUVYbVcxSlU2M1JHb1AwTWF2aURyK2d0TzNqNGVjLzlVSHNCanl2a1E1RnJKODVZdlF5Y3pRNlRvSTFmcDJJc1JTUjJSWXRvUFlqbSt5aVBIS3d3bkQ4NEp5QU5TaXViNWNpZXh3THU4UHZ3TEJ4bmNvQ1UvQ2lJb2pWYlJ3TDJZc3EyUWlkRVV0a0k5VkhwTWF2RDZubTArVDdoci9PMkRJVk95K0hkcHFBTi9zU3pqaGZlejJmemduSWRZWmZiTnA0azlZQzAvY0NzRjF3azB1K3dkamZaS2dBM05BTFNoTzRhdnhPUU1pSkpuWXdnRVA1MFdHaDdsV1ppd240Tm51NWpBWVhKTFJWMmdrTE9jTXZacnhkWDdJWkdLWTVqazRzODViQSsySldrOE1KbmVTcy9WZFpHdkNYenZjUGFkUDNnTnJZWDVNdHdZTnFIR2VZMTcwbXN0U0pDampEYjA4NGxUeUlaOTBZRzdxa3BmamF6R3J0SXB2QUlVcHF2SjUvczFUZ0xSMDdFcXQ0ZHlWMmlxeHIwMGJIM0tpWVBma09hRmY0QloxTmJ3cnJNNmJSaHBVa3J6VXQzUXcyTTlmR1pybXFzUnEvVlNWWXVqNjNyV0R2UmZQdnpwWWlRSWxhTkpDdWFGWGtoSVZjNGZkQjV2SE53ZEF3aG52czZZZjROVENtNVlSaUJ1eHdOWkhrSlZyajE0dFk4NGcyYVhPQmJPWHJWRXJIYnlOayt2cTNZVDFlbTBmNjJPVzV3bS9iNDNRSFY0VnVDTFhGM3RBS3kvbCtEZ3pvcTVQUVJvM2ZTVWhaYndQTDN3UEVBZFZkU3RidFo2eG14TmtleXFydFo1SkNrUXVqNFdhUmNtT1Z3YjZBL3A2djNBenU1NTZ5YW5wY2tHdVBVZU5YRThaRWd2QmMwY2g4NmI1ZjVjMXAvaXM2dDZOM3hJdlcxMHNud3VTa0duRTAvM3ExVnFFd0duREZKYjNPTFhHT1ErUVk5d2ZOcFpDUjV6QlM0OWVoTUF1UldqQVAxeTBRbU9QclFZWUpXQzE2ejJSdEw0cnl4Ly91Q0w5dG41TWROb3cwSGNHYWptSTR4N0dVb3dBWTBIblpPVFZMWmRYNExTVXVCNFd4RzdHcWtkRkIybjRhV2xjYkQ4TWxyZHpKRExyQkw4eG5qNkxxR3R1L2dPMEcxOFVsY3h4TzZTZjBPYWJJMW1yOFNsRk1LTkEyWGFVenlrbDFCcjJ3SjE0akJEZnQ1UW14ZEhUTnVNSHZ3S3V0aWcyalhTVWhjQnlwNVZ5ZSt3cmw5ODF4V2xGd0dxcng2MVNjbzRuQi9sSVdNaFVQWmVkbzR2MXplbDN0WmtUbGdzY3RrZEY4VHFhRUcveTJjejFKVlora1kyei93a2NSS1d4Z2VLWFRqV0F6Y0RPZDZqcWx4cTlyaVk2Z0J3dlpQUFcrTDA3S2ZwaWZtVVZ2ZVdxVjAraVk1VWJRUFo3WlR2QUxTQzE2ZlB4UTN4TUl3UEVXYjZ3em9sSHNNMHhBZ1RWK1BXcmVSaHJEc3VtV3VuUXI2ZzhYSTl6U3hqQi9OZmhKdFJDMjBUa1phVTd3aS9lRDF2eUpBd2FUV3VJRUFkYS8wZkE2c3RHT3VWRHl3MkdOWHo5eXphUUs5L04xTTdQRFR3Zk1oREZlUHc4QWY4MC8rK3pQSmN4c3M4NUppVG5CYjIvRVNyU2FzREM3Ni9NbzRNenBYUm1KVHV3Z3JWVnJ1a0R0R3I4RmhPU3lDTHdoTjAxNmw5alQvL0t6bjJic20rUGtIZ0JNMTdaWjdFVEdYT0FYaVBMNW9rZGkremVJOGRzMURuWFlsQU5MYXRHVzdqU3R4cTlUY1k0bTFoZitTMVdVUG4zRjJOOFRDYlB2NC9HdkZQR1RmSGVCWDdqOEZqM0tDTnUvUzBIalo4TzdQaGsxMG83czU4N284YlZsR041K1dLeng2MGV1bVZTQnpXajlwSlg0cmZzTzcvcDlMZjZGKzlnOWVsekxPbUZCRi9nZCtyVlR1OWp3bmUyek80VGR0TVA5VjNPR1U4dXVsUjJMcXUwbHgwK3Q4VHUrN01hcGlRNTdDcmFGQ2t2R0JYNmJYcGUvQVJZOGUrdUhud3creGc2MzZMa0dmRlY3cnNBSE51QlgyeXdzaVRFTDF2Z2RVM0JqVnNOcTZya3hxNTdFYWc3d0M0ZXcvbnFRY3lsMUdIczN0NVgzbys5TG4rSCtpMzZCYjhYamhOYnp6dGxKRUt6eG14Q0k1eWpHWkovT0ZzL2NPeWZ2QUwvWWtGdDB6cGRHTUdTM210OUE4VE9SeVR4TCszOFhDa3kvOUkwazg2aU9SdFZWc01hdkswa1dvNFBGbXZjeHVSZ25VMUhLQVg0aDBXMlB6d0lReHYvTEFsNTVRenRQQlkxMm9UL0h3TlNkOG5VNFpyWEdyMk9CamlBSG44YmlpQ0tuS2RzQmZ1SFE5eWt4ZXFmelZWRURyVWgxRjlrcncySkR4a0Q0dlB3eFdPUFhuMnh0bEp2aTlUTmI1dWxMcTQ1ZkhGUDBhcVRDWVNGZVh3ampMMi84Um5obnZKYzBRbUdwczNZanlvK1JYZU4zREtGVnFJTGVzRkdoK2ttcldoMi93TmNMUHFXQzdWL3hHWVdtOFIyc0FvM2k2Ynk2MXNCQ2pkOENlbkJYQkJxTlh6OXpSL000VTZxTzM0WFVlVlMzOHVpcVRhQk82WTJxc0hTTnNzelgrQzByc1VybHNhWGczYVZSaWNFSlY2Nk8zM1cvN2l1Ky9Sc0xCU3R0dmdOY1hFWTcza2ZyR3IvRnRlR2dKRDc3blBQUlFnY05IRE1TMWZFYmVoNFFPOG85MXNSSmpuTHk3WHI5TUFqeFV1TzNuRVlxbG9hMXAvM0JVVVZpSjZCNlpmeUNnRitCYW0vL1lxaFlMaWR6T0xDOExzNXIvSmJUUitYUysvNDlHcFY1bkNTQnl2Z0ZRbDcweVRDMmY1OFY5Rm5wZzliNFdJTlg1M2lOWDZHYkNkMTducnZiaEI3RFdUT1Y4UXNMZGRFWk54WkMydHUvZEpKanoxSWtMOG43Y3FtMm4vUEU3enl2bmZ6Nmh2TVdqaGZCeXZoZDk3d2ZoKzBwOGJrVThDcDJnZ3NMdVYvYTVDNU1PaXBZNDdla3dLb1ZSeGRZckViaFpOV3VqRjhNaUxzK1JRS0g0L1dZL2poN0IvdStqK3ZVK1BXcC9TUnRHc0t2SmhOUGM3d3Fmbkg2eXE4L2YwRWRnY1JTdS9SSlRieXVJcVp2UDJxdThldEhybmFxTklSdjJMTW1tUHJXOEs2OUNUYVgxMVJWL0VLZ2ZoMUVtRUNYNHdjQWxHL25QWXN0RCthM3c5Zk5MSXFyOFdzVHU2ODArdGZmWlYvRWk5SjlrdDBWVHNzN3lGWHhxNTF1TFByNDVjcnRxRE1iZ3pIMkR1RCtLbzM1VEFadGlxdnhteWt1RHhrWXdzc2U0WEhPeFNYMnRjR2xnbGI4Tzd6dXplRFJxdUlYbURwd0xpR2RZRlBaNTRDeTJNeWRhMEdSOFhWNHo3L1dLeVRDS0xTYVNCbzNhbFZjamQ5eHhUbE92U0hVT1U0OWwzWDRseVBhaGF5NitmQnZYYlpzb1ZVVnY4Q1VYMzlDcUk2SHRKWHZFV3pyMTlQWkVFV2xOY3R6ajVOa1ZWeU4zM0ZFT1c0ZGREZDM1dFI0VEZ6bVg0NVlLZUwxbVdteWFjZXZRM2pZeGFsOVF4S0l2U2tLTlQ0T1ZiNzVJYm8rOFhONWExd1VjelRBMkJWWDQxZW9aQkwzcG05M3kraUg2UFA5bHU3SVdhSHhpZmUyeGxqd2pXYkFLRkZ4L3FVakZWc0dRZGNSZGQ2R1h1VFgydW9xU3dvWTNjaHFkK2pNd0xjcnJzWnZsdVI5cEtNTEZESmNmYlFkMGJ3WVRhbG44VTNqL0t1UHo4YjBwMzMreGZsRXYxL3p4QUFoOW4vd21XbmQ2N2V2TENsOHFGMjhJcHlTS1RhUU12TlNoZk1TTWhSWDR6ZFBhSTd6OEtsRTZRSnhUTG9vdVVGMEhPSDhTTGZQbzlkK2JYYzQ3ZmpGbHF3OG5WeFVBcVhLQWI4SGNRVk11UHFYeTNwYXk2RnljaVdwQS9WdU5yZ3lGRmZqTnlseGozSDZiekxSSFR3MmswYzZqSTd3bmlrMGprdzlmaGVVZVp2MzBCWHlsTTlxWGIzSVQvVGFUUG5ta2JXWDBZWXpDeUZEY1RWK013VHZJNWxPOEZ6M1FiZ3d6VXV4MVhlbWtGVTM5ZmdkS3ZPMnNBaktGWXkvV1lkS2JYYTRxdFhWUjJLd3NhMWw2VUZhb2V2VjlMd3k0U3pGMWZndEk4V0taYkVZOHY5Ri9sd2V1ekZ1enhleWpLY2V2enZleDhPbU9LK2UrTjltT042V3BLUUhPUTZza0RrNXNaT2x1QnEvVWd2K0E5Qno1a0R0djNWcW9SUFAvMmUxMVZ0MnkxT1AzN2IzOGJBbkZqejROOUNibXFSd2NITkRSdmR6Tm5uN1pqMVpwMlFnUzNFMWZrc0tza3J4ZGVCM3VRcUJxblZ4M0grYjAxZ3dmS2xaWktjZXY1RG5XaGJ6YnRLSHd2L2NVZjVtb295VHNIdXloWjZ4c3lTVGVXREhpWW1RcWJnSjRYZm1kZVpUVFczc2lUV1ByR0VzMXJjUVBiYVVRUnJlMEMyZTFTM2tGWjEyL05JeHFOMk1SM1dVZkM1MlU2R3BOK2drRjlUMmJ4QzBUR3pyNVlLaGt5VjZwdUltaE45Ty9BbDc0OUdtTVhMTzU5ZVVXdWh2Ui9yUVhkSFJoaWZDZnFiWHVUekw4MkpzcUF6alAxRVJ6V25idndHMkZjVEJhSkd0N2dDNmd3M2dUTVZOQnIrWGZRK1RTbDVsUW8wSG90bElxOU1JaldGV3k2a2VoQkVrOEZPZDJGZ1VkbGg4ZkdUblJQaXY0TS8zZmh5MXpTMlcyWlk1L1FiNjlpK20yTFZNZGVBTktRY2J3Sm1LbXd4K20ycXZMUE5CanlEanN1VnM2aE1GL2hoeVRGYmh3blNoeXpGYnAycWhPSUxRTHpRcFRMdjlESCsrMytNYkVOa1QzTS84bm1SRDJ2WXZYa2FLUjBXYlptRDVPamdpbHFtNGllRDNmTmI0OVBFLy85U2I3dnNhMjJOUEpLMHJ1clBXMmx5UmY0YlV5cGNJNG1YdVBFMFhwL1RXOEU3bC9DeGVMY0Q1cjhXb2VCZ3Y2L0lyVHp0K0IwNXMwM3daekxadTd3Vi95QTczekdKTStLVURmT0U5bWFrWHBVRjdWVThZSjV5dHVBTDQvZEUvLzlRdjNwdGpBN3dFSEdyWHRkZi9VSkxGZnNZb1NVZkNqM0pLV2srT3FzVDRpamVUREtaVXprSXBLYlRzK0h2WUxYYTRuSjJmbVlNQjVDYlAxSTcxWmhaR3hyVGpkOFU4MHBqM0tPUG52WnV4a04xYU13bG8yNysvemRoL01ET05HSjJaM1ROU3hvaGtLMjQwZm1uV01JOXVtd3pRQ1pQRTlZMW1pY3kzeFk4YXYyMmJhWFBKMnhFTHVETFVxRzJLcUV6c3crd1Z3Y3hZRXprR2tHWGVFcnJmWW9FbXB4Mi9QU2Z5SENXSTM3cjM4UFY3aVVKeSs3ZnhqeG43MVVTbUdZWFN0ODJVOHJGc3hZM0dMeDBheXJYNy9zV2J2b2djcSt4bEQ5RDFPSVZmWWJDNG4yVkF6TDcvdTFFNFoybzN5RGlQME1pem02WWErbnJwZFIvdFhVKzNWekpsaGowRmUyeC9uRUc5Q3diRXRWbWcyV25IYnp0Zm5wL3h0K21CN2QvWG83Ty82ZkdRdlhJNVg1S2hNSHJ5aStYbWRvWFdjTjgwU283RzcveW5QZ2hJNnE5ZUdBUjRoT2JvbDhmSnN6K0J5SmRxWlJxdG5PWDkyNDRRdi9RNndZYkdhQndjMkVDZExsWStaU2NsL2ZJMGdtQ0hPOTNPRjVwQUUvUlh3SUM0MWhKNXR1aTA0eGZQc21uak8wcWJMK1NqeTY2Zmw3TWd4QWdjTCtjVkRJS21mdEl5djJobWJyYmlSdU1YUkRFRkwyYlNwZ3hDd3JZczhmMXd1V0dLRU5kNTdhU29TSk4zN0trYzJmeExYNU5ibEp6SXdCVUhrNlFrcGdlZ1NVMUtlazZKOEpYb0dQM0ZjUXpvSG51YWZ6TGlvWUhWOEVoeE1lWDRKZnZKTXY3R2o5SG9lTVN2M1A1dC9CbGozNXNTbko3UWMyRGtaeXV1S0g0M2RaWlNZVGpKdFlORjJDelRuYmpyV2xhcVpuQ0UrRVV2dHZxVFdobnV0alR6NVZJZ2xuR3NYck9SOVlqbHVleFhUczN5ZXF3dGVqUmNwbnA2Vm5qSzhVdkhyNWF6ZUcvOHJrL250TGI5Q3d0eUxZc0pTbDkzY0FBclczR0Y4TnNkd1NKTjBIcUh3SFN2SnRXR0ZyWThwMTdVa3UwemFRZjZWM3lxbHRiOUdOQjBmQ04zS0ZNY1pJZlFaN2Q1YnJFWjFDUWtsMEY5Vm1pSW1uTDgwdGJNcnZtRU12YWJUV1E2T1Bna0Nab0JiZnNYTHhibU9rejJIYnlqbksyNFF2Z0ZIcmRNL2hPeGdlbWdKc05VQ3ZheU9BR2VxQk5IVzFZSTJjczZUZzNCcGo3c0NQTG44Z3grVWFqOG5YdmJ5MWN6YXp3b1hPWXQ0M1VZbzlBUDRMa1MxMnQ1QWJsY2FBbC9SbVpSWG43SzhVdGVGK1BCUmVRSHZ6UGt6KzhQdjdwTlBNaXhBc0FSc25QeExaakdQVk1iYWNXSldvWHcyN0YyYzBFQzkzWFRRVTNMNFUyUlBjenVhRlRrNlBBN2kzMDlxMEU3NDJmZ3B0TzZsZmVXbSt6RlNMQmg5aXE5ajRZU0YrOUJXQzllNVpXeEo3a1VVY2txR3VWT09YNHhUZGlHWDNwTGtyR3YrL1VpOCs5NzgrZWxTQXpwWDIzN053aXdlRnhNRjVFcEMzWWpUK1pyZ1N4dFdCUW5haFhDYnhnZjRoYVZVbmMwckR1b2FhWTVFSVdhV2J0SFVZR2p3KzhsdGc4K2J3byt0WHRvN3haYWlYR0NaSlhZelBVeXRDRFp6YWg4VzBrNFNlQVBiNlF1ZnNJQXNOM2daVEdTckVXVnNvcEd1Vk9PWDZ6YTdPUGhQN3p4K3AraE4veEd6cjl6bGdPMDBhUG4vOHJ0WHlxRzJTb2VVNjJWc0hkcjV6SmRPa3NiRnNXSnlrWHdDL2puN0FBUnBaWTVCTkdaRS9GSWN5UDY3TkhoOTl3dGNyc3RDa2xvOTUzcWJtS05tZ2d1b0xVUmNoUkZNKzk0aXp5ZU1kcFcxMXRtUmNyQXJMSE1DNXpMbUxkNHB2WXo1ZmlGUUovVHVFMEVpK0IzSnR1SVNWQXpvM2h4WWsrbVFLeDUzZ1NVclRvZDVDaXVDSDR4Nk91enEyUmNCc2d6YzFYR2VFZVJQWFhVbDlLT0RyL0RaeUVYT2M1bzdBZGRLNnIxRXVPRWgyanRoWEVxYW5YNjh1OEEybExDV25aK0VIcmM1U1VHQlZka1U0N2ZRUzV3aXVEMzRwaUt4c2loUkkxZWxHZFcwU3A5VlpVZUo1U2p1Q0w0QlFlTHVjMlNJM0JiSzRIMlpBL3BqaGppamc2L3ZlZkpickNONEpkSFcxN2EweFlOcmtNcTRtUENSZXNreWtHd1lnUUlwWVFUWmJLajZHalI1TjBab1U5QllzcnhPMVM5VEhDczNYM2lkNmlieE9qOWVRNHFjZ1pGdzZiR1hMbGdqdUtLNEJjVy9HWnVnMlNINml3U3krS1JkbksyMklubzBlRzNkWjA3T2l4UE5xK3J4NUkvWGxJZlVsa2NyNnFvaFJYZjFUZ2M1aHB0b29KeHg3Sm1sU2ZJNWErUm5ZNU1PWDVYY2xlNFB2Rzdvd3NmMDl1TGFkbkpGSnJNbG1Wc3JFQ080b3JndHp0SzMraFdtajNCUFhKeUJndkZnaTJEOHlQRDd4eE1odjBNMllxSktvUG44WkpETkNiUU54NEY4dlB2eFZYempUWXJmZmd4ZVBvVnNRZGxMYVVsVGpsK2Q1UTFvakV0Z2o3eDI5UVJ1NUEvTE5NaWJVMHdOZDQ5UjNGRjhMc3lxanNQbUZ5V2NRWUp6L0dLZVc3VVZIWmsrTDJBZ1lVWTNiVEl0RG5DYUxCVUdaa0VKUWovNzhpeVdRVmEwaFVDYWpiTFA2dGlsQjdqdHl1TjhQemkwLzcrWUUvMk10dHorTVF2MDUzL0dFYTJiUXpFYWVRYzJzakpMNUtWcmJnaStDMnkvU3ZNWmM3TkFDeGZqL2k2b0ZzYU5sYVBETDluNGRVbjM4S0JoYXQxd2I0bGI5d2tHb2NyR2xKWWFRbFBKMHlxOGwvcWFrZjJjeWUzdjJuUE4rWHpiOSt1dlBnQlBPSVh3bCtTWWdJK2N6K3dRZVAyVFZsNnZFQzI0b3JndDhqMnIzQ3JjUDdXd2ZKMnhPbUNibW5ZbUQ4eS9PNWp5SUVpcEtHdk16Y29Pa1BwbFVhRTZmakdpTFhFQ0FvQkhCRmlJd0NycXZMejd3NXZmNlJKSk5tWWN2eTJjdzFYai9pRmYwZk5xRzlYU3BHQ013SlErMVVqb1h3a1czRUY4SXNCeEpoZDA4MkhpWUVRZ2hYcjRYM3IvS2FST0RMOGRnZ0tMZnMwZG03VUUyc1BVRFNJZlVBcGxhSjFFdVZXMUxpUDBTQnYweUpSTVk0TytFTHNuUDV5aWIxZ25McnZRUXhtZ3pCSzlzeVVFakYwdSt2WnhUM2lWOS8rYmFDejV6OEMxTDZVeldhaG5HekZGY0N2dG1saGI0d3NCSDJFSVl0ZjJIbTlVYndmR1g1YkpOUWVXRjFOUDlYbE1ZelROQlV6WlFGTjVScGFabkZiTEpSbVRZQXVKRVJzSzJsUE84TU5PZjQvN3ZZQ2lkU2RNZWI0QklrUjBVcjRoVUNYc3VsN3hDOVVLVHZONXhuNyttd21LQWRhVzh3dk1USTNXM0VGOEl0RjRrRnVDK1FoMzlaSzBLcnllaHh2YTVaR2xOVDRxWmV5Ty8rUmZQNEl2L1BmM2JyMjVic2FEUVRmK1hoNFp6TE5sanIvczNlemU5NFNCSisvS2V1LzgvR1dwYXJNcHNBOG40dUdZSFhOU09jUkxEVFRpUlZUQm1pcXZNbXJOMHJXdnBBUnVwQnVGTDN6RjhQRGJ4TjVlaDBqUEV2N3p4ZUtUYitOaHo3K0JiVDNTLy9qb1ZXREJvODBmdXJldzIvNWhYUzZsdkx3WjMvNmcxOGNncVVaaTJwbHVTcjRUVTRia21nVThJamZGVFVRL3ltVWFoR1F6Z3NtNkFNOWJvU3JLaTRYdjIrOSsvWi9ER2pWZFZWcmsrUFAwQjNoZFU4cjBVVjhLNDZ6cE10bXBvbGNXSzI3Y1FHTzM0c3RkZ2RtcDJXTlNQQVRTTURSczMranB3V1cxSGUxMkJ2ZjlGTDJpaG5GSllSNnJjVnViWnRWemRobFBvVGkyVlExVlFCSUVmeXB4SXFoZFRTbFE2NDhPZGpNOGlUZXdGaTQveUZrRmJKYmU2Tm83andWTk5xM1YwY1ZvL3g5c0J0ZGFhYm5tK3p3YnNiK1BxZHo0ZkRhUGZmZmYrTU9MckdkTzI1UUdQdWhmVjU1TjNpa1JZRXNYVlRCTDVsNW01d0Y2NDgzL0Q3OFAvRi9DeCtsRHlFOC9ObnZ3cU10VzV0WGljMmNZenVWRlplRFg3d0JmUmppU3poZFkzYWRBenMzR0h1ZDRvOEFia3hYSFhYT0Yvb3hnVERYWnJmLzRLR1AvQjcvaUJQUklQek90cjl1TjVneDNXUlBzdHMvR1RUKzBtZzdDTktwTSt4cGF1R1JWaWlOcWYvRTJNOEhEWHlsMFd4YTR4akJCZTYrQlNTc1o2S3NzN0pKb0d3TVVobmx5eHRCRXJ0ZGNnTEhhUENDTEg2SlBZVnZmdjVtT05LaXZzaGVHUnFta2lTUkN1eXpPNjdkdVAvRzNYZWtCNTNaSm50MkszaG5pMzB6MWFMUm0xOGs3WjBvcVBBN3cyNy9sOS81YSt4N0xWUFoxRlVGdjZpYjU5ajFoZDlPOUlqaTk2bTkxRU1sRWpDU2thdkZkbFZYWEE1K2Q5alRXOEdUdDFaWERBejIySmVzQnJNL3JwdkZYZk1OQ3pLbjEySnVnUStUN3c3RDUzUnhQY0xpajRzUmZwOTRlaFZKRVBoTnl1TFg1Umg5N3paUWFFbnQzZDZLS3dqOHd2amxyOXQwcks3bG1INnc4Z3lGYUF6bkFaRWMzOE84a1QxUnRtQTBSRlBWams4T3RUbTNveEZydEtPUjZzcG9hUDVHZU9jbkMvS2JYV3c5TWhrQjNHVVVtbm5UWTNneVdGU2toeWQ1OEU1OGtmR2ZQaEFpdk50NWJoZkpVSWw5dDZzS2ZxbWZiWUI0eHVVTHY0Q2p2QTd2K2xCRzYxcHlKM1BjZHFDNGJQeStMVUpPY3dudEsyN2VFUTI2d1k1bVZRSGcrc2kvcjNXek0ycWx3R25BN2JJWkVYdEgvRy9Jd085c2E1blNzSjZSVXdxOGVwdVVScThXWXpDUEwwdnFSYm5TN2d2OGlzTnRjZjhTbFJQM2ZvU2x0am4yaUVKOXRpaUNydTZrOUdwRW9RZzVBSUR2NjRLejgrSy9QZFpsdHNqeWNaZTdKM0tBeENlU1dXeVY5MkZRL243VTZtekkySjl5aUFmQlp4Si8veVg0cW9KZkRBcDVBNVl2L0FyV0M5OTNORHlZbFJ3b0xoTy84NjBJRCtlZUNmV3hVNnllTGlvUFhJQitwVEFXWU1vOTNCTjhudFhySXJFdExNQzVSMk9BQXIvbjR0cDlCZllQaTNMNDByR2N6QU5MYWxldXZNVlhNd0RiemFqNWRxYmRndng0MlF2aGFrOFMxY052cGxoa2liSUJzdmJFQ0ZPMmJseStwUkVBc1UxQnBpLytHUDY4TnFpS1RQZjNqdEFORUVKekxpNUlNYlppQnV4d2pTZEZxYTNZTnd1SGd2NUpRMUdDWG1uY2s1R1NBY0x2V25hZFk0QmZCNHJMN0tqaUMzdlU3MVMzdUN3L0U5dmVscUlMbWVaZ20wZnNwc3hhZ0hXc1hYalJJWjQxVnNSY0F2enViRWRGOW1WL0NFSlJqclo0NU9CZ1NlMUoyK0JpakE3bEhCem1uTjJjaVZYZnhlUEZ6V3Q4b2tNK3IwZWo4SS8rMzZ6cnI5S0ZreW1ZdFhMTnZXVDVkSncwc1JFbmt5dDZMUTdQQy8xY2F0bU4xRFNwS2lrWVVHTWRnb21saUJMR3pGalBBODI3RFIxTDd3ZkNjVm1qN1NyNEpZa3VHOVNNeU5UZ2QxME9iZ1ovdEFVU0E2dUM0ckx3QzkyOEptb3UxTXhhZUNXM285VDNLYmN0K2ZHWG9sUnM3NkQ0NjBTRVB2NmpzSTlVUE1wdWxJbGkwZGNSV3V5NWEzSDVyb1FTY0w0bGlPQmw4OVVvYkVzTjFiY05JaWF3b2hXZlhZQ3h2aWFvSk85bjRsa1hXbGJNcTBJcmF0Q1FpWTBXeW1aYzI3SlVWZ0RNNUhhM3JIb3FuWHh0Yi95VjZIb2M0VmlTOEJ2RVpuTXpaN3hTWktxR0J1b3htbUxXRFpvaWNWM3piZysxamd2ZDZXc3N3VVJWL080SlF1bjc5T1BYaGVLeThBdlp4N0xaMFdmWCtDQW1IUjlZRWlJalA4S2JmNGV1ai84Ri9aL0NWNGtNM1BlbGhpa1IySXBuQ01KOGhHeUFRdUJ0UWM3YzY2SWNLc0ZNV3FMS2hINDF2OFNwRGEzTE5wZW9FTlIybmU2NDFFd1J4ZlhmYmt5S2pERExWRHMwK0k0cTB2eVhkVjNWYVZ2RGNCNXJnNUsxeUloRUdtcjBTeFFmeGc4TS9wNFRhUjd2YmJYS1VhWU92Z3NTU1RHTVIzMWlZS2p0elpHamNDL05WUlg4MG5obUlTa2FtU2I4R3BPWVlCRHlpWHBxRmNWbDRWZHQ1dWhhbUJPNjI5ZVdYekNldE92V215Vi9DT2plcDRCUUwyeGgxQkR6cjhRYnVuaUVBNkJiWUJvMFJNU1dDak5CTnRkYm91Q0tuTVNwNWdzeU54RllqeHRRQTRsUllHQ2JMUjdWSHRNTWp0NTVEYnBVdzJpamJBVERtMzVKdzZNVFN3MzkrWm15Tk11WHg2QW9leU00Mm8wb1FBLzhiTmxsWlRkeC9HN0xCanB5R0paSkNGVEZiOXk4VGxLRXB3YS82SkZTWW9JNWZuZWh1QXo4QXBNdmo5dnFhb0M0SUdiQW5tYWEwdlp2ZkIxK3kvZXNHaXoyREFRTjFkellGQU4yU3kzcVFHaUoxMFpQUEZCa2hGdkxsb3Arc3kxS3JpOVJxQzM3RlAxMWhiSDZGZ1hwM2hRTmdCSExxY1lGNTFQWlBrUWtJYWR6VWpnTTZjbCtBR3JTSEExanFlV1pHNFViR1ZrUXNKQ0RJc2JqbTNHRjlTaTRMc1puU2diRDIzRTJqK2g1Y1hvVi9OSzhzU3ZwcHdMVGhGK3BLNE5MRjRyTHdDLzZ4MGJjRm9KU1N1ZEVGMVNXVThCbkZvTXZMZEl4ak5PKzB2Y1RZZ0JvS1NNSStMM082M1lGa0hsc0p5NXFTOVhuNVAxTkZFZUhrR2VVNFByS1FreERlbS9YMFF1MmVEdjZ6MEptVGIxVW1UQ2VJbnMwS1VRSW5Fcms5TVR3aDVveStMNnZXUzFFcUZLaGZjWVdCUUdNcUV0eEdPdGJUUDcwVFFSMURYWDhRcmtXWlp3Ry9FSmlkdnk2VUZ3R2ZsdXFVNk9yU0pVc2lPUkxkM3l2VEZ5UnExcVpKQU45NFZ2aEtlakNheUxydmI4UWhkQ1M2SFVTditzSzV5aUVickJFWmEycHFDNDRtU2M2R0pUVklubEZZNTBvcU9zaVc0NGpYVEMxb1RMaWtIdjhOdEZPTmZPMnIxa2xvUmpxd0s4VkdLa25jcFhRRVlzY0VNU01mN2dGdU5JQUFDQUFTVVJCVkNEb2dxUGQ0RUhEM2hucStBWFdwYUpGbldyMk00WU1OYk1va2lJME5mUHZmdGJBN1VKeGR2ekNOUzlSMEZiQllFRU51RUpNdEZlcTdEcVZHb1VNL0VMZDZhbXVwVEFtOGR2VWNNN25kKzVndGFiMlFQTmJ4UUNBTnJHR1ZuMElrdHROY2hURno4c3hDVGFnWElDcnNnczJvMXBsanhIQ2M2cnBjNHo2L0QyV3BiZ2lyZHEzQlJGUWZyVW1BWkhzNlk3V2JnclNtRDJsUlRBZ01iYVhSQmJkaHhxVGhIVTVacXBDVmVaZnd1K1dJcFVNVFQ5K1hTak9qbCtnUURxUWRIUWkvVEIxL2k3VXRKZ1VZbE9mZjJuQmtpeUE4OC9TM3BYNFJiazFWWEFoWnNhYTJrVXF1L1hMRXFZRG5kMmhzczBWT1I0YVNFOHQ5U3ZaQ1dXcHM0b3JtVllwUUloVGs5VllwRUJnSTY1SVhuUFpkZHVJM1A3UVdDVExWeUkvOHJhb0J1K0RYTk9DcGVjdUhFcW1xTWhRSzhwUHFtNktpdktleE85c3hnNzduOGdhS2tBanI5R2V5cUpRRm43MVhmdy9ZOStnTlpqZXhVY0xKYTREa3dFUkcyYnRDN2hRbkIyLzY2cXY2V01zeVlTeGI5c1RuUEU3OWN3TXpzbWJwR1VCbnhLcmtrUkx6WFRJWDZSME5La1AxUmcwQ0czMlZPckpkSW1YNThDNUhIbUNya0dIU0l0cjU2a1B4TmY3VVRtOVBIR09YK0krV2dZSUZzcmU5UjBZVEQxcU1ibERwTm50WHloTGNLenlKTzlsVVZQM1B0QUxSMDJKWmw1aXFPTVhacjdGem9GWTlnUTF1b2NvWmIyTVVsR044ZkJiYWhmZnlrcG1vdGJWSXc2ajMyRVdmbDBvem83ZlVQVTF3K3ZMRHhFcHNIRCthQUs3cXZPcmh3MzhMdGhjdlJiOFVoL1pVMVFBYStxczlsUTZ1c2V2Vzh1OEJxSzN2a2hjYldNZVZ4U1QvU1E5cXFCTnZYajFNSmZjelNwMGFBUllqUWxnU0ZOcmFleTk4dXM3cWxBdldwZWU0eTRoM3kvVzJZREkxTXpNeVEyTmhOQTJ6Q2Z4Q3hyMmF6dk5JRTBtVytsa2taSXgvL0tCMU41R3VodG5sTXRJUGhCTm0vZWh0aGcxY2x3b3pvcGYyRVZTRlJERFZkbXFHTHlpZDRpaVpMS0t0MldKUkNDSlh6VnJpSUlXL0pLclkwL2s4L2VQYVlmSG5ock10RkNhcnVqZ1Q0K0g1Yy9ocnFLamhXZ3UwNjlVS2Vmekx5M1c5RVdCeGt6QklNWkpPYzRNeGVsVHFpdDc1SFpCU2xXS2tSYjBTMzE3Z21ScVVoNGFIUU9EYWJxREovSDdjenB0TFh6bmxrbWFZdVBOdjhHakdsa3plR3N2MllpWlB5cVdmanhPYjVnMS83cFFuQlcvTk1nS2dTMm9WUmU0MlkrZjRXL1ZrOUs0dTZ1aVpzaFkvdzVzQTVFRnZ6UWlhQlNwQVZDMXB3WUJ2ZnpDTDk2VityYlZyTWtUWXBjMCtwakxsRWRHbER5cnJIcVJWTzFPRDZFMU9nWXgyQi9TcDlneFdQNDgwY2FWWGdhTTBjeUlLamxPM3hYdFRBK25NalR3MjVUYkpWb1RTZnhxV1NPRFkrSlhwenZ1LzZmb05FYUdJUWJwYlRFTE8xQ2NGYitZYytWUUQ4VHVxVmJ4VmxKMGJjaTBMaEprSkJrdy9NOERyUWZLZ2hiOEp2cElqRjk3S3VnODBnUUhkQkhtaStIM25IeThhRnhZbE96RUFlZjQ3UktEeVZaS3hUR29Tb0JDQzZ0YTVkOGw0cmoydERSUHdZUVc5RmJRYTVSUlR4bER2L2pOWVlWYXo3Q2ZLVXRlazhLdjJoS1JUZk5BZGNWWjhkdlZSb3llMmUydXhBQldub29WR3lvRm13WitGM1N2aXloaHdTL050SHNpbjI4SkVkenNxYnpZYno2R0dwRjdwRmRvL2gxS0pFVGZrRlZQRXpmcmZQOTNIL3haem5tcHB4d1pndVVxNElGWnkrd1JQeGlDdk0wL05KSnEyUUprUDJ1MmtWNTlQWmsxTlBEYkxtSS82L1JHaFk4TGZxRjZVMXZhZzFWV25CVy9hRkYwRlhpUXpUWHJERDc1ZzB2MXhZNitZNk94eG9NZDlyeEtXdENyaVdRTGZzbDhYeGI1K05KTlZNMmVHaGY3RVhEQnA2Y2RiVXREa1VpR2VocFg5QTNabEh3WGxLMmFyRHRlSEh5bFd5bEZDc2dSd3d4NnJ2NEFJTlA0QXA1QzVwZWlXNjR3YVdIUFdtV09QYW9PM2ZJU1F3Ty9vV3Y4SmhaVVNhYW1adjdkMXd5bkpKT1ZGV2ZGNzdxYXhMQkZvTTFWdlBsLy9qN29VQ2tSZWtudm53bytlM3FmZ2lHczJhMXhFUXQralQwS2psOWErTmxUUlVQQmU4QVRJaXZhMENQelVvSHd1cGJVczdEVnRTMVo1clM5UWpPWTNqblU2UE5nSCt6Sk1UR1pXU2dPNUFqUWRwTXJUUkNZYjFZZElBcHhRYnNOYTlhU0R6NEZ0NmRjb1ZPUm9ZRmZWTlNsSHRHb3N2NU5HR1JKcG80SGZxc3F6b3JmSFRWVVFzQmkxRmNDK2xQbzRtWWN6ZDMrQlp6VWJteEFCbzhpRW9jcytDWDM5NW9xdUJCMVRHdHE0K3RrT1NBRWxRWjUxb0FvbXpxbXEwYWp1TWdnTldwaGptdUJyNHhyVzVET3VvZW9tRDNNWmRYUzA0SGZnemplVSs1RlZRTDVCbnBVanN1UWNYN0RJTng4RGUzbGJXdHBRejFLRlVXZlVXV3E0SmRNK1QxRktobWFHdnl1ak9pU2xSUm54VzhuWS90WGlnaUt1aHBIY3JkL01RUnJrdzRWM1pVMDRvQUZ2MlRSYnFoeWczZ0lzYVhPcVFFQm93UDZCK2I0REdlZklvaWw5SllXUXhXMnFjVXBhTDYzSEdXaXIyVmVWeFAxVTFHcWVaQktMWk1BNlFrQytHYUpyRG0zSzRMOXhFcEhwTHU5aDJsaDhRWXVRYVpuek1GK3FPT1hsTCtjWXFVcWZ0TVVaUlBUaEY4TkJKSS9ONHF6NHJldmhrcElZUWxOL3VVcXRmdS82SWN1WUdXSkJ5SzMwblljVHQrNitqeEdVM1dxcUEyL0hUVThnT1FLWTR0RTJaWTZyNDNBTFJwVE1DaXJwVG5Wc2wzMDEyWHFvbkZjSUVPazJyNi9VV3JuVUJDSzcyUThXTXpIUktuY0tFakVYR0xBWGhSRkx6SzV4VDJjeFB3YjlES2VZd1dHRml3VThhMFU0bStvcTV1c1hjRzB1cDhHL0s1YlYwNk9GR2ZGYjBjSnZodE5oZTFkeUh4ZC9sTUUraEt3d2krYXZTalRmcG5mdjJxcmFpait4NnRVeDRiZmZhMkQwZ2V3b3VuUmxqcXYyV1E5QWdpWmFaeHV4TS9udEhDVVFyLzAxMlhxb2lxYWxjOHpyTisvVWxWS2gyanhyckZhdWo0cVlQUTdpT3FkMWV6R0hUV1NMdWhqNVRndEZLb3owSStPQkhQOFM3Mm9PTXRINXFIaUJtbUliVXVhWU5waUdGWEJMNFl4eTR3dUc1eWErWGM5M2IzQXBDUEZXZkhiVSt2UEZkNVhHalIwUWw1eTNsSUdiaGRTbERKTEJlUUx3enhuWDNaQmlvWjc5R3ZETDBUUDN6aWlmUDVHL2hiZGJhbnphaWJDUEwyRVVuM0ZPMkx0UGZ5a3JvNUdIWmxodW10WnhaS2lVenlCWmg5OVRWKzhwaXJaRXZqZFVlWXpqVDB4cXVHblQzc3FWRzFYSVpoZW1qVjRYalI1am9NVFhVUlo5b1RmRGRrc2RQKzhqTWhBVmZ5dVNVcXB3TlRnZDhlR1gxZUtzM1pVdExnWHk2UEQwVGxEbnBFQitvcVFraXF3a3VzMk9XTjRuQ0ZTTmZQTlI4UnMrSVZXVlRrOGFkUW5iS256N0FYQkV2amJqTGk4THBPMDViRk1RNkIxVlkvUlVDZ2ZMTTVvVmpSMkRmcUk0TW56ekpSa2NXdGNuR1hEUkN5K2pjS2Q4dUp4QjlwWVppWGdKQkhxMEJZb3c0T1lhSCtSQjVyNmxEalVUUTdrM0V3elVBVy9aTk9zcFVtS0ZNLzRuWG5zMWxlSnB2THZQZE1yRUJVbTVsMG96b3Jmb2VwckxUN25YaVk0clN2TnpTcFlnanVGdGRTRFlFQmVWWWt3dTlVRzB1WEluTExoTjJocTViQThqYWRMUytxOE50NFB1YldHbVU3TUNUZ2lhekhaNkxYekRjVVRRZ1BJY3RsSWdWVmc2V3hta1ZLeEJUU1JIQ05LRVVCaFlkTmpCdHdUZFdsZTM0NGpLeklrY3IzY08xcnpRWE16YXVOS3pCS081S3RaZHFoWjArUUEwSHFDNEt3S2Zza2paaXBTVU9WM3YvaWREMis5bE04WFJwdldDQVNtZXFRbzRVcHhWdnlpdHkxSERhRVptdnpPa2xMQWgwRHFqQXlSOGFtbXdLaVM5Z3UxN1dyUm51cHR3VENxWnNVdnVzR2FxRGFRekZoU29YL1pLMVlpcjNLb3JQeGdxRHFUSUlmN3VZVGFhUWwvVmN2bmE4MWxJNkZxQkEraHNUVWV0VUVzNktFU1Bqa1M1WnFtcmZ1T3htdWlTQzFJYTBtVW14T08vUFY0NndyNlZyUHpVRE1jTTlCVUJiODBKTndVbktUdmFGRXo5TlA1bERMKytjbmU0WExRSzdaZjE5ZkhOTUdISzhWWjhRdmlhMUZEbUhNSnMvdUwrQUVmUzdqUmRWNWFjT1JUUG9nU3JiK1NFcy9GQm9NRWU3akprN1FwR1M2T1JaNkc3eWd4aWJ3MmV6Wkt0S1ZDLzV0eGJ0Q1BldklUYWxSdXREWkVwbjd2eWVlSVVta3NORmZFYUg5THIxRTV2SUlteEdPTVMreDgxQi9oNU4yVUpDNnhXOXR4WkNibGhKT2xuQVptVytwSkhveWY2WkljVWpxYVFvYlE3V3JjOW83U2lzNU5GZnpTRW5KVEoyYUdNYzZJNmNiTTBHSmo0L2N5ZlIzOXZFQ0pSdEVTYkNaN0Y1VnhwVGdyZnRGOU56a2paS0xRSU5ZbkhQVGlQNHhFY0VYTXorVFVrblk4cjVMNGFSb2lib1R5YnpRdVI2b2wvSXNxQytwQlYrUXdEdk41VXhSSXAwTC9ZcENkaTYwVUpBbHY4bms1TndrS2RBZEZVU2RLeG5DbG1lR1VCdWQrbE9YcXQ0Y21CRmZqMHB5SjlvZk82TnRFY2dLa1ZjRE5jU21YcTdmUHBQYmo3K1hnVHlVRlZJYmFPSVd3K0tBT090Snp0bGFxNEplK0NIRFZSalJLUTIvU2ZHbjJjbVBqbC84SCtveVlidXpFUldyYk5zTzVVcHdWdi9LekdmdlBkS2piTmZoc3BJelJXU1daRlFoUmVsTUV4OXE5Wno0akp1QlhSYm1kNk0xUjJuemRqc3Z2S0lualBhZlhScWw5TmRvSDZWVG9YM1NtdHd1citETmlxRy9vSHhPUDJ3aUNqNFdvODJZWnhkUDFrQ0FxUittWDdiMU5xMVF5MkVjTDVoUmZrZ0FWYi9PUnJxUEdNNlExM3hBVG1tdU43SzF4eWFxM09Ua0J2ejM2VDZONTlGRHg3MFpOUE9pdnhpME1HZnQwYkdLaW05QVVrTHFxNHZkNmlxSkltQ05PZmxMRU11N2o0dmN5TnlNYmlYa2dvNUhRT3NNNVVwd2R2NE5vc3JqSXRvZkU0eVd1aFRQeXJ6RStFdzMxNzN6L3I1Q1FHUHVLZi8vdlZqT1kzMWVHTUMvUmllSDZSN1F1bm52Z08xdW9mdml5QjdhQzMzamdKVVRxcXgvNFBsN3V3M0c1L3lQeFNjbXBWT2kvSDlsd2M2RVk0QnY0NGg2SXcrRWpPaFZGNHV0ekw2Vlc4QTJKdFRqaGo3OHo1QW5zalE5OFNCUUt6aGJUakN3L01rQnRMSTRzTmFMQWtFYTZDOXA0aHZKdnY3WEhhelU2ZG9Ed1RNYy83MkRzN3hMSksyUkVCaGNlNS9MakIxa2JqL0x3WFE5c1UvNFFPbXgrTTRXd1FyRmJINVh3RzJiSjlGM3ZmOU1YVWNlQ21uL2xnWDlMREdSYzQrSjNQWnB6V2xiN0x0a1dPRmxLcGpsVG5CMi9NOUhDcGY4TWpzUUJGdEhNMndoZkY3SHh3M0VYNm5BUlJUOXJhUTU1eWtKQ2NmTWhPM3pMUnoveGUvaGZjUDc5MFpqRW52d3lnQ2ovSHNhKzUwOCs4cC9qLy9JVjFKT3ArQXVvK2RhcmdkYVBOT1UwSGx5RTAveS9mdlFqSFp0QmlZa2d1alpqa2pKQlh5NE5xMCtXZ3VQb1RtMWVOWlBLeCtZeHFzeUhjSnhvVjZONSt3OFEvWkUrK3dkYXF1Y2d0UER0Zi9Yd0QwWlcyRUlrVHo3RTA1S1VYMHZFd1JENHZVQi9wL014SFBoY3RmSlVDYjl0bTJGS3pYUWpKcUxmMkFLd05qOG1mbWZqMVYxa0VGa3BhNGxnWTFPTHhrRkhpclBqRnd2YzF3V3o3OFBZM2dqWjNreHJtemY2TnZidFFFcmpyZXcyYnJoMitGKzAzMy9malR0YWxwbU9GNEdEVkV5TFVUeTRDS25qK2xhS3pvREFQZmZmaC85NEIzNFA3N2h4Ly8wZ0pRWnFRSmN1WVl6RjFST3BjNWgxOEFHT2F5M0RKTDRTOHFwOGtvanJpZHZLSWJWNDR3NHAwcFZETkhzL2Z3aXhocU1uV3hJVm5OemhVRUJmcmt6cVNYWk5mZTQ2cGpiVFpvYzM4UGhmVXBsNkNRS1JGaUlyWndFU2hVQmovSkpDYjl6ZFdpSmlRM3JtSjlsaHlOZ3J0K3pVSytHM240bGZVbkoweFl6Wld4L1gvM3d1ZHJVMGpjMlZqRGJJdzdOaHlYT2p1QXo4enJiWnJhakh2WTBkdGtUSC9pZEF5dDA0cjdGc1lTY2phVDdsQ1dyODFMMkhiL3o1ak9KNjhzY2ViMTE3Mlo2ZVFtRXpsYjkvOU1oajdOcnJmMGd2T1B0cHRQRkpQYVZjdUZuTXMxaVlLRDgrdVZlNGVHYkJId3Z2U2kzcFpqOTlON3Z6WmN1WmRieGtRQXQzL3RycUNOSWN2OEVYN2oyODZ5MVpKU3ZodDFQWnB6RG0vQ3MyTUpyQzk1TDFlSlJPWS9lMnJZQVR4V1hnTjVqNzd0WlhSMTNsejlyZkZFMjM0T0ZqajdYd0YwYzJaakxUV3BoYmo5dUZJWE5VM3l6M1NMUkRKZDNzNWFvZTQ5TERqSTZyUFZJbC9PNW91NUVhelJMQjhmQ0w3ckhNRzJuYmdXa3lRSHM0VVhFejNVMHNDNzl1cUlOS1QxcXF6a2g2SjNSRitkZmR0SFVHT2xUbkd0elFuSDRxdnZHN2JqdllWRW9zUmZEYitOOC8vY0V2YnQzVTZGNFF1bXhaRFdPdEpBWEo5cElUWUNLdmV0UTdmcnU1eHp1cVA0QVBDdWY0OW9CRHltZWh3MGx0N3poa3V5SXAzL2pkVDI3a2wrYTNDSDZ4eXNhMXFkRWVzSGhCYVNackpmUWc3WkJ1NlFsT3c5N3hlMWs0bEoyeTdaZll3TEg3aWp0RXNROTN5cTZoWi90NW9KMFZHVSswRjNQUEhrVTBXOEFmTS93aC9YaFBGSGEwUGkxbnNFQ25nekt5SENSN3grK3NPcURyZ04zSmtPaTRYck5qcG5BOXBVOUdFcFZhR1hyRzcwTHVxMjlGV0o4dk1GRC85UWNlaGZhMEdSU3dYZUxFNFpuYUdOMEtyWjFHbHhxM2hIZjg0cldIM1hHWk82SjZEZjJFb2hNZWRxRERBeWVVamhNUjMvZzlYOTJwY085eUVZRnEvN0dINGpneXZNWnJJYkROQTdrLzU3UlhUSElManBYcEg3L2Q2Z2NYeG5xeThTdGRjajVYOW9IZnBmRVpPcVkxZmVQWHIyV3FDZDJjNXdISWFEWkcrOHRhcVl3Z3JJVEVFWWlNZ21NbCs4ZXZlelNNOWFBbEtuVU5iMFdKaXBsRlErQzNnS21WV2Y5NFp2akdMNzA3c3pvQjBlQlVXZXl3NG8wTnhaRUdBSGx2ZFBNRHMvYm9DcVZLK01kdkVIb2Nma285YTlIQ1BlZTlBaDJ0aUtxTE1uaE15ZzFIRDFxVjluOVJlU0pyTSt3QXZhQ0p2Q08yRXJxRmhvK1ZyTFBmR3NueGd4UEE3LzR4NjdxejdKbng1V210eVk4RlQyS21zTForWkluN28vMnpsZkJMWWwyZXdOUEJUajdRbWduRmpzcSttSWkxekhSd1IzdVhQWjFiTldVQytMMVEvYzJicWs5WnF2NTU1MHRWT29KeitvNXYwQWVYTmtkSXZoSis2UVhnU2F4S1lDZGZWYzhCOTdPOGlsaVdmUlA5aXBDVDBBVHdHNFRINitqQ3V2eG9oQk1KZ3dodDRSOHZHVGg1OHZib21hY2Fmc1BSQTRTTEIra2FmbVlhak1WVnhGQ0RGSzY3NE1KT1l4TDRIVXhrbFdKL3Z2S3BqZmpsa3ZJMU0ydlFGcUI0clNxejBBbkxlTzhENkxpTWZkTUR1VE5rTmZ4aWFsdWFnTmhXakdVMkJ1UHZmWWl1aDgxbGNSWWpFTUxOckx6cTZaUEE3d3gvejdzNnI1T2hjS2JJcGw0NVZ1ajQ1UFBscWh6NzBzQldkQjNrUFVvMS9PNTROVTBsM3gzakFBWjJuWmQ1RmliaVJWa21NMERtOWxwbWJ1V01TZUEzMkNuMG5ZTEt6K0tHUU1lOXBic0FIUzY2NGU3WVVPa2ZYcnZCWDdUMmlOLzlZak5nVlptRnhua2VLSE9MVTRSYmEyTTBhWXhRUHMzUGllRDMwa2cveG1nNVRLckVGZDFYNGFqUklYUzQ2WWpXeVNKVGJmN3RWbjZCb1lnME1ZUHEyNzhMd3VzTXF5b0NjaTRSMnFUT0xWQXRjeUw0RFhyUFZ1TnlnclZYaXZnVVMvS3pEaDJ1bGF4ek9vcFh3eThjdys2TnBaVGdZU2ZyMjc5ZE1Sc1BDNTNzeHl6dDAvcWNESDZ2SEp2dU8rZkQyZEFCZm5kVC9hSk93SjlYVnpyWGdzOGkrTVJHckNDMGNxRHBhc2ppeWFoWDZKd0FabW1mWTh4azhCdXM2Q09ZSm95cEMzWjFVOGtWZDIyL05wUXJObytBVGpYODBsYU9mNll4eXk5cHJleUxyWVN3a0UrajY5ZkdueEIrWjkrc1NXQ2FnKzh1c0tRcHpYL0xQQUJmdXY3SnJWQU52K1RiOVcvWEFJRWJtZ1pXWW1zYXA3KzJ0ZVNzNEVybGozUmxVZWJwRThKdkxnOG5QWk82bVk5cC9RVElyUnArZzNBU2ZnVWdjRThUdGZpaStRWGh4OUx5TE1HZTErTWJlRHRYdCswdDdkZEpsU1dBVHVyK1RFaGxycWFDUUVYOGRyeWVqWWdsaEVaMFdZbHZneThVV3Y3aVR6TjhlRlFrUXpWK3BTaThCV2dMb1I0bHJlS3RpRjlNamRldGRGMG1odVFrZTlkTGIvMmRWVTYxRyt0eXAxalQwUDJ5UzI0U3RHcjhKZ1RpSVlvdEJNTUQ0cUdKNDBxeUluNjdmaGVYWEtwWS9Ud2IvRGErZ2g3N2tSY2kvQ0o1dDREVTZldlBFZTRMRkI2alNJM2ZNWVJXc2dvY21JWUhwR1QxazF5OEluNGgyU0t2RUZTU0lKemNMMTVrcjE2ZDNZbitldTk4OU44NkY0cTVOUER1c05jM3oycjhWbEp1b2NvTHdPOXlvWktucmxCRi9HSnIxc054RzFNTGFPTnYrdVIreEYrSmJPRjJKVHJLUGl4bVVzSDI4bnAycWNhdnFTMGZzWUZuRzhvSHp4T2lXUkcvbUJzZC8xRnorcmt4eDk5MXVFZnBUUTdaK1BNT1llWmZmaGtrTUhhL2FDUTRqdFQ0ZFN4UUN6bDRXYnphVUpZbWowdFNSZnpTRy94RlZxRlZ4TkZGRy9RL3FRSCtJcFB2QWpicFBOWGxndS9VN1h0K2M2WEdMMWVOMTUrZTN5TjBYbm4zVEx3cWZwdkZEbEZVZVFxTXZ0eHVEdkN2MEh5eUg1QkRxbE5zK3NYK3JOODNWMnI4VnRGdHNicnQwL2YyZmpIQlZEMy9ITkFuZXBhS3RqVm1PU0R3aGFncUxPbGxoT2dOdFhld054UWpGM3AyZmRUNExhYUhLcVhZQkhZNXF2QjNoSFdyenI5ZDVuMW5YU0VRbjFHNVNySmFQM3dzc3FSSEM0NCtzWWZaMnQ5VjQ5ZWZiR1BLcE1NbDc2MGN6d2FxNGhjZncvRHFIc0xmMVNzWE56elJpeVRtMmU4Ni9QYUNvTVRSSGY3SDV0NjBVK1BYbTJnRllmb0R5UTBScWUrR0JLcmlGN0wxK1hZZWVLWHQzNWhsN0FVOWIzQS9Pb0x4eGUrSHoycjhqbFpDeFJJWXRvMEQ4QlhKbmFqcVZmR0wyZEh6QmhLMGR4Q0xIUGF6Z0hKUkpYUlY3YUpWeXBXcjhWdE9YbU9VeGhoc0hJQWZnOFNKclZJVnYwSGZzMzhvZ05OcUtSWS9nbVVuVXppdk43MHFyOGF2Vi9FUzhZV0pmQ1hDKzJONGFhQXlmcjBEQkRPb1dQeEFrV1ZQYXpaOW0xNDFmcjMwUzUzbzBEeEM5ODdIV25lOVJjOC96ZUhLK01YbmFmN0dxd0F4UU96RkRRREtKZTFuLytaOWpWK3YyaWZpNjRiYWY1Z2R2ckhOWHUyOTFlUFJRR1g4WW5sYWRrNHNKNW1PMmdEYWx6dkJSVW5BL2V6MTlEUE9rY2pWZVZHZTZuSWxKWUFlSUR3Z09MRFF1cjBjQkQvQVhsdVN5QWt0WGhtLzJKenord203dGpyNzJpczkxMlBGN05jNnFQSHJIeGloL3ZkWCs5RnFxdS85Mks3LzUzTFJRbVg4NHFXQ0lsOWhIcDlYYllNS1RhbUJ1QkRGb1cvM1ZZM2ZRbnFvVklocFozUm40KzNLeTlHN3BKWG9ub1RLMWZHTDllbTJSMG1BUWVsemhpS1h5alhWVVl2bmNoVUxsNjd0NThLaUdyTWdmWUZoVjlROXoxN09ndzNQVnA5b2I5cnYxZkVMQjlaMWowK0pGYXc0czBIbjZMYkxOZVgveGJNYXYrVTBVcjQwZmYxSzFvck41eURvU2ErbXpEdU5nZXI0aFhoTE9vVkx5UmxuTmhiakNxUklPUkFySXFzcW1BemhkSmhmNTFydHYwcUszSDBjcCs3VUVkaTJXS3dOeTVwaTdobWJCb3JWOFlzdEdpVmU5NDhFRDlUVm1Dck80VmpPZW4xR210ZnB4bEZqTVozcU5LV2VmNTJLMDBJTVBVQU93dWl1Y1lrRnI3T0doWTNwVEtxT1gxZ3l0bG5SMWVQQ1BOK1FLck9kdFc3bGZNQm5VTnJnTHMxMmpkL1NJaXRab2F2dElWeVF5OTd6dHI1UWt2SUpLTzRBdjVEdnBqOUpMQ2dQRkR4bFlpbXMybE1hVldreTFMZE4yRExYU2FER3J4TXg1aERCcnYrU3lEN0h4R2g5V1cwcmlzelRlSGVBWDV6ZzhMakhpdEZCTEhEN3RvRmltQU5ST0x3OG45Nm8xNy8rUWRQVGpLaUJWQ2g2M1piL3RxZStCUWY0eFFMWTR5dUV3RzhzUkxSalVWbW84SjBTTmp3ZkhrZVdxTGw2L2sySjNYRUNOQ3lSdWlLLzJ3Qm41ckxqaG80ak9RZjR4UkVHT1VXNkY0SDh0KzRBem1SaFBLbG1MZ0hVdXlwcWhnWnE3V3htT0l6VitIVW9UQnNwRE52cTQ1TTk2Y29DZnJkdHhVOVptZ3Y4ZG4yS012NW1IZFFDWjNLMGQ2K3JhQWo4THVzSmVyampjMkNKRzZyeHEwdmNReGpmYjFEbVhWL2lGNlA1cG9mV2podEpGL2pGVUxqbzdiblB5UFh0dXZKa3FkYmF2ZXc1RmlNMy85NnNLdTBoVk9QWGcxQjFrbGpvdmlEamJYa1lEL2hka3Ntbk4rQUN2MEZMZWhYY0N4SUdja1MwSWY3L1NHL2p5dTJGN0hFWW1yK3VGL1lTcnZIclJheUtxSEcrTDlUeDYxKzVpb3RwRFRuQkwyYkdWVjhQaU5PdkVXMmdjU25WeU9CNTdPNm5rNk55WGR1RW5TSlJNYUhHYjBVQmpxbytaR3hObGxINGhWbGQ0N2Y2OTUrNVpJR2hUU2xpMTRFd1B1aTZ6MjZuQjRuMkJuek1peGxOZHJ3ZURJc2JyZkdiSVgxWHlZWVRveVZQWFFHL2k2NmFPTVowbk15L21DUFZFc1cxTU5hanNRRnR2Q1pGK3VLdEFQWjF4aDRSZG4vVHh6MVNKS29tMVBpdEtzRVI5VnY2cm9NNmExL2psOHZOQ1g2eGcrVHZIZjd6RVFxZnNFMi8zUmRvVnlsajdNQ2JEemRIOUEwSDJUVitIUWd4aHdRNjZJc3FXMFZxL0hLcHVNSHZnem1iT0VyNDQ0Vm1XelEyWEd6Slk5QWFtZWJOQVBOeXhnc01LOXErb1ZiSGNiREdyMk9CSnNpWlRzaVdWSGFOWHk0b04vaUZNUDA1RTU1ZzN4SE1OZGszSkJTTDZBeGVSOElta2YyTUpQelYyc0NkcnV3b3BjYXZJMEVteU13OTltVThCZTduWlpWbDROZGZsMU1OVG52SURYNkRwc2VkMWthZjNXTHNHeTJTZkpCbVh0dXBMQ3FMZ1hzQzVqT1dEZ2NXenVxa3FoSllpWDJpSzhiU1RQbWY2LzFmTG1GSCtJVUJ2VlZWWTVuMVovOVY2ODYzMkhMN20waHRHd3BXeFlZVE1aOXIvQ3FKT3cyeGVLbmJOcXlvK3Z4R1FzaU84QXNEZWlsQjJYOTAvbkFWamZURkFZOUVnNkdoK0VTbXUyZzkvN3FUcFVZSmJnMitMa0wvWE5LU20vWDVTVTBhQ0RyQ0w2WWgvMGNWVGM3eGQ5Nzhzd3c5Y2NERHpNYWh6ZzB6eFUrc3hxOFh1V0pDNE1lZWNlaDlWMnZBZUg5aEl2clZHcC9Hb0N2ODRnakgxcVNmcjNPVldzVGhMMTNEZ29saGhsa3Q4bDNkYS95NmtxUkJoK1pmR3A1WFRPL2t1b3hpMzMvWnFIRTZJNjd3QzNsZm43QUU1NklSWTJoWFpHaDVXY2tIZ3pWK2ZVZzF3Smw2NmxEWVJGalM2US9sdTBod1QyN3BPYWMwN0FxL21BYnQyemorNUhvdXN0aTdWa01aeHlyMy9EV3RVYTd4cXduRFlYQ0hQYlVhQkdmWUxmeXE2Nnc4RXF2ZVMxTzVwekRrREw4WUQvY21LNy9lRW05dndYcjRlbjFTNi9FYXYzNjBmdjV3RjRTYmliOVpVRis5T2l0bllqL3RIeE9xenZDTGZad0puRGJXcERvYkwzdmg0VmpTa3FNZ3pQbXJxVVF2Q1RWK3ZZZzFhTFNmM2dyK0tIbG9GbTZ0dUxuNis3RmNFTzd3KytCazlsdGxiemtmMit1d2xBOWtvZ2ljbTVEM3F2NStuWkM0OHpzY1ZIZXp3N1VFM1ZCWWVmc1Q5N2NrT0ptT3FEdjhZc3Jibk9RejdiejhJWDY5eS9ZQ1V0UHlzcElmNXVyNTE0OWNnK0NSbDdCdldrNFNYeGVINnZxMSs1bGs0dzYvd2Y2a2xweGNwL1JuU09KNklhbmxDK3h3SzVubUtWN2oxNU5nN1dUUHhXK0x6azdZMnJOemMvU3BEdkdMdGNueTVCNElid2ZLSy9VQzBrN1dPNFh1K2F2eDYxNm1PUlRuWWdmMCtjbHBPSWVibzg5eWlGOXNJVTNpaFo5WVp1dlg0NERsQlNTTUpIdVRFbTJOMzBsSk9tcG5KVnFsMWVaekpBNlgrTVdSeGQxSktiT2htakkrME1EYjM1ZHZpZnBucDhhdmZ4bnJMY3kwYmkwSHdZL2JYaWZWaTUyV01QQXJydXJuTDlZVHUzVWVoWGhHZlJNNDlRSVNQR2w3SHB2bXBIRmVWRndIdnR1cTZlc1NlRGM3Zk9POTdMbFZQZTMwaHAzaTkrTGszRVlyMTZYT1VpOGdEU2RneDlmNGxmS2ZkT0NSeDFyWGZybUdieVIycC9qRmFmTlhUVWFiamRhZWJHZ244UUxTWE12LzlCdlUrSlh5cndOSEtBRzMrSjJmbEZmL3NqS2ZNV2lvdFRCSjhpejdldjhDcmZIclg4WjFDNk1sTVBzQmVYMW9kT21SSlQ3M3NwRkZuQlJZV1ZSa2h2b0h2cEY4NFN1MlZLYXYwQlVwdGc5cytHcWpwbHRMNEdSSzhFOHpCZ0FBQUlWSlJFRlVZRmJmYWNZTEREV0VUcWFlNjZjNm1SSjRPejQ4S1M5OG9YQlRSdXBBTFlGYUFsTXVnZm1XK2tmWWdGeEoxNmVjNFpxOVdnSzFCSVFFL251YnNlOFRrY1lubXZqUzJVZFhSYnkrMXhLb0pURE5Fc0IrRWE3NFpXT2NudVNYYmxCUE0vTTFiN1VFVHJrRWRnN3Z1ZTl1OFhXcjJkYmh0WHZ1djNISGM4ZFFLUDhmUGsxK3hSa29MZ0lBQUFBQVNVVk9SSzVDWUlJPSIKfQo="/>
    </extobj>
    <extobj name="334E55B0-647D-440b-865C-3EC943EB4CBC-72">
      <extobjdata type="334E55B0-647D-440b-865C-3EC943EB4CBC" data="ewoJIkltZ1NldHRpbmdKc29uIiA6ICJ7XCJkcGlcIjpcIjYwMFwiLFwiZm9ybWF0XCI6XCJQTkdcIixcInRyYW5zcGFyZW50XCI6dHJ1ZSxcImF1dG9cIjpmYWxzZX0iLAoJIkxhdGV4IiA6ICJYRnNnU3oweEsxeG1jbUZqZTJKZlFsNWNkR2hsZEdGOWUySmZRVjVjZEdobGRHRjlJRnhkIiwKCSJMYXRleEltZ0Jhc2U2NCIgOiAiaVZCT1J3MEtHZ29BQUFBTlNVaEVVZ0FBQWE0QUFBRFVCQU1BQUFBMkZkcTZBQUFBTUZCTVZFWC8vLzhBQUFBQUFBQUFBQUFBQUFBQUFBQUFBQUFBQUFBQUFBQUFBQUFBQUFBQUFBQUFBQUFBQUFBQUFBQUFBQUF2M2FCN0FBQUFEM1JTVGxNQUVOM3Z6WmwyUkx1SnEyWWlWRExEaTZZSkFBQUFDWEJJV1hNQUFBN0VBQUFPeEFHVkt3NGJBQUFOOFVsRVFWUjRBZTFkUzRoY1dSbStOZWwwWnpyVjZSNG5QZ1pHSzJZQ2lnK3FrNGh1MUdwRFVBU2hFeUhLK0tvR1Y2NjZZY0JCRUtxTmcySlFxaGU2R0JVcXpqQWlnMUxaS0M2RTZuRmdCQmZUdlhGZERRRkhjTkdacnM3a01VbU8zM24vNXo2UzZ1cTZYZmN2UEl1dS8vejMzSHYvNzU1ei85YzV0MDhVOFM4ekwrMzhsRCtLQklLcDZzNWxjVFhCWnM5bzlUYWoxbTMyTU9JQXBzV0hvMmhDWEl2enVkZmJPM05STkNQbXVlT0l5VDh0SG9CVEV1L0crTnlySGJFa0lkUjJ1UU1KNVMrTEhjVllGQ0dmZSsweGNVdEJhSW90N2xBQytWdGlRZFdiWWpQZ002K1VoTUd6cUY4ejVuQ2MrSWZONnhYVnhKcGpqZ0d4SWQ3UktBUm5UNnIwMWw5Ky9VTHRBdW1QdHJpbmFoaVBsRTFhY0NEYlFwYXJYbFRBV1ZDMVk0THpPS3dwWE5jOHJrbGgvRUlRUzU3TmpmcitpeThEMmJvWCt6RmJtN1o2MFIvalJkVkVqd2k4YldzQXVFTDQvRWdoYUtSVkZ6YzFoSW9RYy96QWVJbkx3aXAyeGF1SysvcFl3M2FjYjhxS09pcFVXR0praGpwMDVTNHJISEZob1I5dWVONk1ReVdZeDEvUUQ2c2UxK05DWEh4Q2xxZURidlFOMkZDVndFNU5XTzJPanB0bmd5Rk4wSzZnY2RZc01WOXJhYzNaOE9xQ3hzV3pWZ3Nlc2dEWkFJa0pXZzNNVjhYV3RnWHY5QVlVdTRsTEZONXRjVWZqYmpGWGg5QVBNcXRtUzhPYTVTcHp0WEU0TUY5UjE2Q0VGN0prc2JMOGhmbGFJSUkzVEZSNTJPb1Bjb3dWQ2ZORjlmbTJlRnVKUDh2ODljTEFDOEtSaW5HcWxzVUpWdDJURURZMFg5R3N4Z1V0dVpWb3lvcFJsWGJxcWNzN1A1bFRZay9vY1hnNFVQNnNBR2xoMFRGM29uK0tYczJFazVOYWIyd0h5b1FoTHBpdlcwZkZwK2ZLeStLelV2eXkxaGRWT1FQR3VjQjh2ZDJXRHNlVTZLMUxJRTJaQmxBVGxyTEd0c0I4ZmJTM0lzVnY2cUczSWJNYWRlN2RGY0Y4eWNsa2xJWldGWk9JTW8rTEx5Z1c0ejh3WDNyOFJZZU1oOUhwdmNSZEdhSS9ZTDZNMjRzUnVTazdxUHpWM2hlWkt3MmdxTnE0UHpvUzVEa2tRc1lGNXN0bTA2QVo1eGtqQ1VXWDVzdHdrRy9URTBSaEM1NDFFbjFoSEZxSVBMRlFxVW4wQmRKa3NHa0RwalRNMTVvUkhSbTI4VmxnQS9PMVluQUI0dmlNUTVndmE2c2F6cEl4SFh0VTdFVzdxQ0dLV3ZDQTZTSFd0TEN6ZU5MdnBmTXFyRkVoT1BFNlVJU0pLZGJBTU9kdmJURVNoc3d6aHFRbllJdXQ3d1NJTGxWekhiUXRaNzY4U1U1Z1FzSVdyeHBSTWZIbGxnVTBMQ2o5ZTVFSkdpOG1Kb1BXVEExbTJTd0VBT1BwZjZQMm1wcTIvQUU4L212K0RCNFV3S3dZU2J2K1ZRTUhmdjROY3dBRDFFeXg4TUFrcGF4NHM5d09Wa2xCVVM1WUdNc3VSTE9jd3Y4Q2w1RVJIVVJYRTJINjNBN1FDQy9oZk9HUmhBSzZXZGNJcXpoc2dDbWJRSXZZQVNvUGNYTWNiYTVHQVRsTk1PUEZjelVzMktNem1vNWZZT0tJMCswZDBrRVF1RUZtbDJHeHVTa092RWI2cVpkc2Z0NTBRb3RBZ1E3aEZwaGhpTTBwSk1nSExCaEk2bWVSdkZJQWI1MHQycVRRZE5Xb0I0dzdEZEJJNjgxWGhJUnBpTG5RZ0l4d0hiMjBGLzJtazltR1RjMVhCUHUxeFFFTGxYRkNEN0hYWTkxRnpSY3djM3U5a0xSV0h3MGRyWGtyckZCVDh3WG4vaHA5RkR6bzE4V1hvbU5OOFpsUVdtSytrRGtORDVhcTR1ekpVK2ZQbjN2bXJQT1VKMFh2ekVsd2loUEJsZHBpUjRpUGg3Q0krU3EzeGQxQW84Z1kyNVhiNWp6MHJ5NFhZaGNhWGJYOHk5cW52aDYvdlROZkgyeUt1K3V4bzkvN3hnc0t4TzZWWi85bURrMjlyRGc3dnc4ZlFlekUvcXJIenE3MzEzQ0FWb3RpOXhMS3ErZEU3MDlwcHlQT0Z1OEVHT3JnL0NMZ3BKM1hENitSNCtkWjZ1bXJQN3ZmVHBNRmN4VGFRTGlESFNIKzZDcjdJZDZiWTFUa3pkZjc2K0ptU2k4Z2RQSCt2a0xSRkQvZkR4cDM3dnRxT2VJaTVxdlVUTE5lRmVCeW9raGlNcTFWMEtLdlN2bXZ1SEIrNDVDYUw5QkxDWm02NFRjU1NCYmZUdW5WeEdrUFo4eGN1aXhSNVlpTG1DOHNWQkgzRS9MVVl5SFo5REJNTjN4djBmdnRZaCs0am40cklWRmZEQnA5UlcwWG8vbHpxMkVJWGE1K3doOGJtRHA4NXRRM3Q2SitjRzFidTduSGV6bnpKYzlianFzSWxhMXk2U3JacEV0VENKS3hqOUlQcnE3K3dIclBkMm1TNkN0cWtCU091Uko4S3hxNlBENk1VV2lGN0FkWHgyVnc3Vm45L2RMb1MrSzZFRHROdmdscmpsZGEvTHlqOTAva2lBdVJ5WUlYc0pOVWlLSDVlbTRJdXREZkxrZGN5UEQ2M29qcXlmZXJndjV5a2t6U3hvNDdNSkVqTG5oL0sxNHVNaDlobVExQjBsWHRNSXl4YlFiOXpSSFhMT2tOZUJMSjdHR0xaTjcrdnJNK0tJVFU4M0xFRlh5YXNpR1NLN054NzF0R3FKbVkvNXNxNjE2WU9lSmFKc2xEUk1jMGI2OGtsTG44RzBiVytyQnpIem5pb3VicnVPOGE5OVJseEx5Z2E4ZDdXNDQ5SENKSFhHVEJ3MVJOSkNXSHUyOTA0RlR0UjhOQjQ2K1NIeTU0RXlmTWZhYWFRdnpPMzlOUWNQR053bHdlZnVJK0wxeWxONzhyeEZmVXA2TnYvcXNxeENjVHNQQk5oRkdZSDhoaFlpd25YTkpGb2lYdHY3UTFqUGs2Vm5WcU1RbCtVRTVPdUdUbXdwVXpQeVAyMlF2YU11YXJFNDh1ZlpQQnFaeHc5U01RYmkzTmwrcmE5WDVPMkV1YkVlSkNmOEo4bFJjaFFzTFZqMEg0MFBOWjVZZXhsclk2T2x6R2ZEMTNVM2FZdGM5V3JQQzNWRU9UakxJVU5yVzEwZUhTNWd2QnBGeFM5ZkNaWi9rSXNzcXFSUkwramc2WE1sK2xKb0xKcHZETEYwUHBiRTNudDlPZzdhU3FwS2l2L01hZzhiS1ZLdjEzRm1KRzEyVXcyUUNWSVY3NnFYMXdSOWRmUUxON1ZEbFNNbTVlN1VQV3ZUUVpIYTRXMW9TMVZVNFJLMWIwZk9kZUJIOUUyOUhod3AyRkNTWkIrVVZ3anhDNHo4T2p3d1V3TnBpc2c4UjdOc3lTZ2F2MEZqR0U5UjZwUEw4ZXYvMnNsTEQvWWs2WHV0dHE5dzNRUy9ITDdxK2VnZXZKYkRtdE1PNitnK0h5MFZja3Y2MGF0a3VmZ2F1UmpTdVIxQjRNbDQrKzVNZW1hYk1TN3NFTlFtVGdtcTVsQXZ0SS9EYUQ0WkpudVN0VmgrN1NaK0J5ZDVSRUxuYTVRWk9ISFlCY0QrNjUzOHJJY0xWSThsQ0Z6aGYyQ3lVNGYyUzRjR09iUE5ReDJIQy9haGtaTG95OEcrNEpQOHFsUDBZTlRVQVhMZjdDWkl0TkhrcDB6WlQwdlVNZE1ZcS9rSytuRXlnTlZEYzlrQmpGS1A2U3BuakZpeTlkK2dWZmpWTjg0cTlaQUNIU1M1ZitBYW52bXh5VjN0aW01Z3NvZ0d1b0x2Mm9jQzFUOHdWY2RRQ2IyM2N2K1F2a2pDdHpRNDRtTlY4UVp3TzRscnhZKzZieXhaVzlJUWRnQklaWXVzSHorMGJqTHdCYzEzd3RuUnJjUDh6Y2tFTnE3aFAwYmxMdkQzTnVyOXBIOXcrTUszdERqc1RLUXhtTzlZYjRndUZ5RitoelM2TUh4cFc1SVVkcE9kNWZYVERFTUpaSGFRRC93ZFhlZmRSakdoUlh4b1ljYi96cVZZeCtsQ3V2L01ZOHhqOGJ3L3V4cjZVOTE3M3hTaTllK3NPUDFmVjNycnp5N01OZXNrRnhkYlNHVTJ2cmlXd2FsTHF6K1FKQ1dtVlRWa2pEd1VnNUhlL0w2a011TWlDdXJBMDU2dUlzVnNtZlAzZnlyRjJXTWlONmNpMzl5Yk8xSWZ4anBoTFc1Wi9YNWR3enRSeHdGWDVEamdIN3EyVTgyY0p1eURFWUxvenpUVFc0QzdzaFJ6KzRraHM4Rkg5RGpuNXd0WlVLdWtxMFQvRTM1T2owc1E2MnBuQlJhMUg4RFRrYXU2UWJNc2pFQmc5NHZSWlVXMlF5MWpKT0dqRjc0bk45Q1lBMVVLUWRIRm5kZXlDV0NKOGZHZWFpa2JGWVZ4amc0bXE5eUErUmtoZzVRRHJWTWpZYmNzREpvNWtYZkVHa082Z3kzQUQvd0hzZDQrMEd1ZW5ZYk1pQkYyclY0NkplOVJBL3ovQTNPREFLNDIzSjMweCtvMkhMTU9ON2Y0ZURvcnJCOStTSTZ5K3FWWlhzTitTb0J3bGM1SmUwZGtmSHpSL1VvODNsUHVFR0Q3UEVmSzNsY3I4RHVpZ1VCVFZmN2wvREhMSUFEMGlPWWQ4RzQ0MmFyNG93NndhQ3J4NkdmZE1EdUI1V1IxTHpOVFliY3NCOExaREgxeEQzZFkzN2hoeVZNQnpwbWxFSnIzR0p3T1ZId255dEVLa2I0cDZxc2QrUUl6UmYwZGhzeUJIYjRLRml0QWozRFRsZ3ZvSU5Ic1psUXc2WXIyQ0RoM0haa0FQbUs5amdZVncyNUlENUNqWjRHSmNOT1dDK3dnMGV4bVJERHBpdjNycXlXT2FmQm83Smhod3dYOGJ0eFlqY0JNQXgyWkNqYXVOSXQ4SERXR3pJQWZObHN6UFFqUE55UUk3RmhoelNmS20zUzI3ZVkxeERVMmY5UTZJdnJNQ3pFRmxEVXNLVDZBdWtDYjM0dzRwZ3Z0WU1ER1JzZUNjTWFYZkFmTm5vQ3hESFp4ekNmTTBabkExbnlTaHdwdlQvTjNoZzFYRllUdWgwb0FnVFU2eHd4SVhGSExKTzA4RE5BSzZsK0hHdWRkaGk1VHRCZnJud2N5dUp3MnFWNUpFaWMyQ0xWNDE4bUVpaHl3SU05N29icGtXR2taQU5rd3RyaGdtem5MSVF2bWE5NHNTcGhXWUF6SW9Sc090Zk5TL3lZYnZTMExOWVVCVnZsdHZ1NjEwaXVWdjBRSGdjU09BeVlzcjU4dldFeUZXUE8zR3N5QXczaXhmZjRFRUxMUmVSYnhWWi9pelpNamQ0MENkc0E5ZG0xcmxGNW1kdThLQ0ZYbXg1ZlZsa0dBblpNTkEwcjFSTDBmS1R1OUNYVnhNbk1XQmdqYUYyS0pBUFdFakl1M0dQaE5PSm80Vm1aRzN3b0lSZVhFTXVaNzdROG1jSjE5SGpEUDBXYlBDZ21oL2RpVEJPZzYraXNpNVRPSDdHQmc5S3pzb0RxZjNwSW9qQ2laOHBVTVlHRDZwOTgwS0VmdVRwK0VicEd6eElYRE53NzlWc1p1WkRLZktCOUEwZXBNUlB5cDd5YWU0aWcwaVRMWFdEQjltd2ZSVi9zQ09DcE1lb1RLbXZDK0hsanhFbUNlV1FTdjdDa2RLR2UyelExVmNsbEE1VGh6NnpHNDdwYUF3ZVBVdUhQaFBYWTNxeFpZV3BRNStKcTdXZ0RuRjE2TE53bFUyY2pPeWJCcGpWa0JsLzRvNFdPUFl4QkRNVVNYR1hUNnRGOUU4OHhkV2hUMEtTSEptc3Q0V25RNStPUy80WEcxdVlPdlNwd0RvbkRKdXZRNStHcStTemhqWEJNME9mQmlzNjRtY2d4c3FoNzlwaGlHaGxqQno2VW0zRmRlUHlHRG4wMDM0WVJ0MHhjdWk3SkdjSWgvNmE2enplUkptR0puQjgxM2pEY2RLL2g4NHpZNmIycWp2Q21waXEwWCtYZ0F6OUNkWndyUEQvWFJUaU83WlMra2NUMzBPOE5tZnJmSCtYbFZ0b0Zxdkl5VmxaNk1Ca0NtMjVkd3I3OHA3VzBwZHJ2VFB5M3cwcFYrcC8wcVVDQkltbzZmVUFBQUFBU1VWT1JLNUNZSUk9Igp9Cg=="/>
    </extobj>
    <extobj name="334E55B0-647D-440b-865C-3EC943EB4CBC-73">
      <extobjdata type="334E55B0-647D-440b-865C-3EC943EB4CBC" data="ewoJIkltZ1NldHRpbmdKc29uIiA6ICJ7XCJkcGlcIjpcIjYwMFwiLFwiZm9ybWF0XCI6XCJQTkdcIixcInRyYW5zcGFyZW50XCI6dHJ1ZSxcImF1dG9cIjpmYWxzZX0iLAoJIkxhdGV4IiA6ICJYRnNnVUNoY2JXRjBhSEp0ZTJOb2IyOXpaVndnUVgwcENqMWNhVzUwWHpCZVhHbHVablI1WEhSb1pYUmhJSE5lZXkxY2RHaGxkR0V0TVgxbFhuc3RTM05lZXkxY2RHaGxkR0Y5ZlZ3c1pITWdYRjA9IiwKCSJMYXRleEltZ0Jhc2U2NCIgOiAiaVZCT1J3MEtHZ29BQUFBTlNVaEVVZ0FBQlQwQUFBRERCQU1BQUFDeWc2anhBQUFBTUZCTVZFWC8vLzhBQUFBQUFBQUFBQUFBQUFBQUFBQUFBQUFBQUFBQUFBQUFBQUFBQUFBQUFBQUFBQUFBQUFBQUFBQUFBQUF2M2FCN0FBQUFEM1JTVGxNQXUrL2R6WmxVRUdhSnF5SjJNa1FmN3A2VEFBQUFDWEJJV1hNQUFBN0VBQUFPeEFHVkt3NGJBQUFnQUVsRVFWUjRBZTE5ZlpCc3gxWGYzYmY3ZHZiajdlNURMb09Ca0ZuZWt6Rk9EUE9rNThRSkRyNXJTWlN4RXBoSHhZTEVxbmkySUNtcVZKV2FsV1VqWWN1WlJlQ2k0ait5aXhJWFJZZzlhMHNoTHFDWVJUSzJVOWpNeGxDaDdKUXpDd0pTWlpMTVdncFVERldaOTNaWGlUNlFPNy9UMy9kTzM1azdjKy9NMWI3WDk0KzUzYWRQbjNQdTZkT25UL2Z0MnhNRS9zcExBNys5RmFYMHdWZytXdXB6WGdQVDFNQURGY2ErZGQ5d3BQenJ2SVVhaGZoVWtScDRqdEYxdWlsbEtIMlI1Nys3U0pFOGI2OEJwWUh6M0J4aG9OS0Qvamc3K2ZqK0IzK09YVlFJL3U0MVVLQUd5dXhYOXBkL0JrYjZJaGRpaHQwNHBNUXpwMzZFTDdCVmJtblc4N2NkZjBvcDREejdka3IrRVF4MEQvZmw4UGdJTjF4bDcwQ0ZJdnp2bERXd1hHVVZwdUxMK2w4SjdoM0dUdUF4bjJMZklxV1prUVZURnM2enUrVTE4QlI3YS9CVjdpMmhpbkJYNkdNZUR2UktzRng1WHFtblZGRXBmL2NhbUtJR2xpdHNQd2g2TDNHV0N6Y1U1enBqTjRKWlpiYUE3aHlvSW4vM0dwaWVCdVlZUnU1UE03WkpMT2RlVm96SmdlNjF0TGtHd2JrcnFzamZ2UWFtcDRFT1d3OUtNTVlOWXRtNHFCbkRnWjZ5Titoc2NGNmJyb0g1bE5mQWhEV3d6TmhCUUl1ZTE0bFJiMXV6dXdBWU85TFpZUFVGay9ZcHI0RXBhV0NKc2ExZ0RxYkkzZVBPb1dGYlkwd0VwUUswN0Nmd1JqYytOUzBOZERFTkNtWmduOXgvZHZZTlh3SmEyVUJQNVEyS1Qza05URmdEWmZaL2c0REc4aXZFeUxiUFVzanMrTE1rWGloTldCeFAzbXZBMWdEQ1QzS2NNTVZEQXR2amUxRERETW5nK3ZIZDZNS25wcVVCekl3dWd0ZmkzYi9HT1Zyem80QldtS3oxendYNFdYOTVEVXhYQTJ1TWJWc2MxOGhZNWZWZUJnZHFnczZaLzZjSy9OMXJZRm9hMktIcHU3bHNJNncrdndBSHVxc0t1eHNxNWU5ZUE5UFNRSldkMkt6bXpTUm9CaXYyVGJYTkRqalZUUnZScDcwR3BxQUJ2RGd5SXpqeEN3OFYxekwyTDJGeGxGMFRnUE1STzFaSS91NDFNRWtOWUFUL1JvUis3eTB5K3pTakZDTFFHMkw4cjBYeElwVjh4bXRnTWhyQUdueDAyck40c3M4NUxRaTdwSVZSdmpYME9ST0lUa1lTVDlWcm9GOERtTDVmaVVKci9EWG1mQ2p0OFZrWTZPdi8rWi84NjFnWUVLM2pjMTREazlFQU5pbkorRkxSWDJUUC82cy8rVEpqM3k4QlRSZ29YUWNLd2QrOUJxYW1nWmJjOTJreHBFK1BHUHZiQ3JMOE9NOS91OHI3dTlmQTlEUUEyeFBUSDR2bGY3ejcrSTcvWXVXL2ZqZDdzNTIzaW56U2EyQ1NHbGpGVjNDVHBPOXBldzFrMFFEZXZ0dGJQTE9ROG5XOUJuTFh3RG5HL0s3NDNMWHFDZWFsZ2E3Y05wOFhQVS9IYXlCUERYUVlQbzd6VjNvTmZDVDh1MzN6eWZTMVBlYUlHaWlMM1o4ajFycDEwUjg3K2NmVjc3bDFIMy9xVDQ3bHBkMnBNejI3REpld1YzYm1lUC9zUHNBWmt4ekxTK0pZaGpNbWQwSGlscXJZSTFQeUowMU9UZjJMc0U4ZlRxVlc5eHovMUtENmN1b0tIakdiQnZEWiszRTJDcmRVN1JaZksyNlpMZHkzMU5NWDhMRFl2V1Fkc0ZTQUFHZUs1WUxZaXRqMGJ6U20xV3c5eHZ5aElLbVYvVjR4bDJ4YTMxeW5ydXNSeDlGQU03NTdmaHdpdDB5ZGxvalZXejRrbWxhVFYrTzc1NmZGK0N6eVdaWmJGY3JzTEVwL0ptWEc5SDM5VEFwZWhORG41WmRhZnNmWHRMUlB5NThYcDhYc3pQTnBpTDY4YkovNWMrWWY2bFg5QUxUOFdmenJvd2ZDTzQ1ZTFXcVN3dTJJczM0Vy9JN0VhYlVXbmZxNU9TMW1TWHllWTNlRVUxbXhtV2VYNzdubm5xdVgxQWRYNGZIbE45OTk1N1VrdWZyZ0xYWjhDVmZGNzBqc1U4MkVBRmorakJ6d09TRTJBOGt1c3U4S0ZsTkdHZS9ENjhYeEwzNGVOSjVZMmljZGFhNHphYWhXR0prbjdOTy9QMHFqcmh4d3VtaWZITWhrSXRHaWYxbXFwdG9rdlJwbVc2d3RmYUhHMkp2K0ZQejRSZEgzTzM4eXRmQXJNdTdzeGovSVRrM0JJNDZvZ1U3a2ZNOFJLK2VEdnNSUEthbW5XVktjTDJkK21ZRDNFWnRhYmpqUTc5Q1pTR0w1LzBTdXYrU0ZxL0lFZ0tiLzBqcWlyQWxteXZIRGx5YklLNEYwaXgrTDIrQWJMeEpRT0xqME94K3VaSC9aaFE1cG1NeXhIektaU0FwbUhMbTR4MTJRY1dmb2Q5UkVsRFhCREJvaDFjQTZPUkVXaEVzOGg2UHlCbDh0ZkdqYXl1dy95OVoyZytVdzhkbWZqbGluSE5jdnNGZEl4R1Yva01yZ2xzcXZkQVhOd0hXZUg4bFJLYlZGTURjbi9weGhRTzFQWHY3MXcyNW0rN1E5OEk0ODkyd0EwMGpSQmJFNzVIenN2S29JanMva3FRR2EwRjdQaytEb3RFSjJSSlZtVXZXVHpQYUpEcWxYQUI0Y0dsTEVubVplNktyaHc4K1lZaWFXcGYrUHVUSXg2bWtJTDhxeGM0YitRMlRvbGRrKzBTRlZmMXl0L1AyaC9LSUlLNkp1elo5bkVkWEw1SEw0K0YyOEVwa2NpeUdVRzlJdStWK0FEc0VOZ3N6MmlRNjVJYm5VUnQ5a3pPMXpoZjNOb1hKNmhIdzAwSVo5SHVSRGFrd3FOZW0vejdFMDVwTFpQdGYwNjl5blR3NUhGcmxNc2ZwRElpQVp1Ykt2TUxvR2RtQ2ZtNk5YeTY4Ry8rdFBJcmVXNnAxMlp2dnNNbWxkQytPTUd6MDZDTDJjSmhESnJLSDV0MlVtTVIwQ1QyMVBrQS9XYklwOXZZblQ3ZmY1OHpWU0xkcGt0cytPWFA0c2xiOXJETFV1UWRoUEg0L3VkOGRnVlRzclFjVHNKRDhQcXNBK3gxQmVmbFVhYXF0YWR6cmplMW55ZTNiRXBTWDV4SzAzL2lmMkgvSjcrbVJLUytLLy9KSVJpaWtwM1NlOGljVzlGTDdEeXVXYnhPaXE3Q05md3FtcGRkVHJnVTZxbGMzTS9yTWl1c0Y1WjlUOXdGM0g5eDRORkgzK3R0UDdCeUxrVlZqV3EyQjVVY3lGenBKakc4OVR0SDFpTWhmOStWYjB2MlVtd3llWmFxaTJBcldtc3I0a2x6OVhRbGZ6TjlrZG53aVBONU9GblY2SitNemV3ZThMZi82bGQ5Lzlla2ZCZEVBTjFWd1d1eFcrZjhJQzVKZkUyWi9LZjJVaitrQjQrKzQ0RkdBdjY2SmVhTmJOQnhESzZqL2w4bWZIOVRMZ0lmWmplSGRaYzFudUFJbGNSUi82OHk5OTRxNEIvZjQycU4yNkx2OUEzeGFxcEEvcytmK2hGdWhTZGx4UldIMWlYN1BPUWt0NXZONThqSjJ3c1J3UE9zZzEzc0xZU1JUOWt4dFh1MmRmL3hUTG53KzZvcHBTeU9mbGk5a1gzNm5YRHpyMFYyNDc1Vmp5NSs5RUh6ZHhOMnpSOWhuN3EwRWg5ZUk0U3lIUkIwN0lyVUU5MXhQS1JnQS9qZjlIbWgvTEVhT0RiSEpHMkltNW5vSmpWditKOXhHN3dUek5Dby9pM0paRVNQcWIyZGN6NktYSHdISHBYNzc3bTBnRTl0cjc2SHFTMHZ3UHByUkl2YVFOVXNzZmZSZVFCN2htVFdJaUNlcFpoLzJVdzJ5YmN2c0pLa2dQL0s2b3pOajNlZjQvWHIzK0poOU9zUUVCMUxVM0hEM3orNk0yR1didHIvRGNHM0Z1UGU0NFN4VlhBOFJ4QitkWHYvUnZZWEtEdDlpVGozMkRKTFA4YzhoOGkwV3pWSG5CeXNXU2NQNkYyU2R0MTlpTnlZTnNPN3ZPK29rU3BBTitlKzZpRWFBZFBxbWJTK1VBWTJUckVFQmQyN0V5Vnphci85ekJjdG96Si9zWTV2dkNUSEd5RWdaUUY5OVJZWENoNndQclVFc2ZhSXdmeDliQkxaMEw1dnA3anluRW1rdGg5a2xmcTYwYlVWVHFRZzVPVHRHSzNNc1JMVVdLMG1jdXNHUFNyZHE4bTc0aU1KdnMrWWY1MVhZT0hIMjBzdHBuaTUxZVFNU0xhVmxmVEYvaGtKVjhHaC8ydWRjbnZBMmdmOTNkMTRCbCtOdTM2Rnl3WXhVWnFFb1ZhSjlvSmVkOHBaTG0zYlNTZjRRNzFETE9xQnpsc0NORVhobm5ITHlxV2xXcXA2dWQxVDRyN0tYcTkwTDhjdDl6STdRNm9PZjZzMjM2elhvMTJKQzllekJnKzRNV2pDUEdLWmFzdEVNUUc5VlJQRWxRQi9aaTVEU2NkaVl6d05QeS9NQ3VhaVJJVG1GbWM4QkwwM25BS0NFZHByVmNDeGRSWE1wbHRFOTZZUDdpcU5zZmdNS2xmcVdmNFpnUTJKdnhqaTRhN2VnRW53Yk9RNFczTkhncG8rSTBFVlY1b3ZjUVl0cmRTakdiSFJTUUtLVFI3M3kxWXZScTBScnZWWWU5Vk5SWDVkRnl5djBFbml0MnZaVmo2WEJHZjdLYmlNcnhoOXZud1ByMFBtS2JDRGtDMENyS1R0L0R1V1QvcVRtYjBhSzdFNTNnVXppNnA0cTd5WW9rbE9Mc2M1bUZrUE5JeVdudTgyb1lOS0E4VW5SNFNGOGNOaXJoc3BwcWhNbFJjZ3VNWWhkZmtzQ2dlcEh6UTBDNElSZ25vWXJTNGZZNXNENmlQckh0d2hHQTFybUFieFI4c3Y2R3czWmpRVXg3Z2srZTRycGlXazVhWFJJSXhkbm5JdXRCem10S1R1c2V1cnlxVlQ1ZWtrWVZWemd4Q2pWb2RrL2dWNDJHNHdUKzRHcmZ4WGRad0V4Mk9TNTZ5cmFvbElRcVNvZmI1OEQ2aVBvRXZ3RDJzU2xJcWwvcXJMaUVYMWZBTWUvb2R3TldpSWhvUlk4Y25BVVVvYm81Sm0rRDI2UTQrNXc5b1duZE9wYzQrdE94RmlPaUpWbHlhK0EyUkk5RHliOVhSMXBWNTlSdUlBSEVycHNjWVhiWWVDakpETGZQZ2Z6YWVuUkM2a29NOVRGb0ErSFZWZ3c4VGhhZDF2YU8vU1FvRUw1b2dlbWdDTlVTdzc3RUtzNCt1eStTbk4rdzVGYkpodE5xVmVtNDl5NjR2VEp1WlZtdnBiL1hyV29OcHlhSmRqemt5RzJXN2hWRVJ2dmMwZjhGQVVmUXQ4MzQ2L3k5K0c1cTZaTVJzZnErbmx5S0VncUVEeXdNR3QrVkJocDlQY2RDUkxJNCsyeStUSDcvcGFnNFBMZlVyMDBIMXFnZ05OZmdxZUp3Z2xDc3N2QlFhM2g0TlltQjdyalBrN1VoN2Frb1pyVFBscHJMNFJ0Mm5WUzBjZjljZVpoaFdjZ0Rrck02NkVsQW9uRlM5RXlCUVBNalpaOGRGWU1rMUMzT1BpdFhnaG9FZGNpMW1uMGU0NkRhQXJOMUIzd0VFQ0s2aXhJOVRMZEVaQk5IMkxYRjh6cjh0RXNkNll6MmFUVXRubjJ6bjhGS21CeEU5Mk1uUWhyRG5nZHFpelF6MmF2eTUrR1FwU25ySVJJRm1FakJDbHgrRDRKdU9xZ3JSK01vR2g4VWdwbXlyakdwd0FVZnlhcGp6TFV3aitDVkw3aWNtVXVpYlBZSnA2bU1JR2hIQTlBL09oVWRwWkdMZmRhSE5SZTRSejZMSUh1VkVhczZoTXoxK0J4V21IMmVSOGNoUWZjY29wV0hPSDFIbGFFZ1dJZWV6dzVGVGtDbzZJa05xTGtpazRSNkVpenRzNkdEaE1Ib0dkZm5FZlhwVFh3SUViV3QwcEUxY3Rsa2FVandOMFErV1p4bStWTU41N3hLR3kxeFJWUStQMndZS3N3K3oyRXRrdmExWEhjb1lVZUo3eWdiRjBTVE1hZXpUazhRTGY2aXhNWllIWEVKcVloVXhmaGVpMHdXQnRUTTVqOHhpa29qb1A4b3RIMDJTdlk0MnlYbjh0NEFpWnhGYVpZL1Zkak9DV0FZVWlwWVk5OXcwdFRBd3V5emh5NUZDMkZXdjlaQ3RkTjZHRjFqZUlLditPMFB4eHVBZ1ltQVdrakJUR2wwLzluaHNkYlFJVTFMa00wK01UaGQwNlJxZG95STU5am1KZWNpMHhhTlBGb0N0aC94anYyMXc1Z1hxcUxaSlZiUDZaOHNFb1haWjQyYXV1SjJRN1BEbnRoNmdMUkp2T1RUV2tsYko0YUhRR3REZ21EdGc5ZVZZMVY1dHMzTll0YmV2T05DMDdCZUpqVzA3ZUdpWVRuVFlGYkozaG05ajJuaGRNSmExTkN3U0lJaXE0c1dCT0dGSG9lYVdxTVdncDBzekQ0ckd4Q2pDVkczYkhGRWVtbU13Yk9mU2hTeUJsWVp2MllJOWJCRXI3VFZVQjlsTXlnM3d4MGFQMEI1RUpvdTY0emhvM1ZsMnU1cVZBdVhhZVE5THc4VFdkR2JoazJ0MFZNSTBxNFByRVhMblFjV0JrVjFWMlMrMmpmVEtIM2tOZXoyZjZRbEYvYTUrcTdLNVc4OXRHZ2crY2lUNGUxeG1BdTYrZ3Qzc2plL0p3aWV2YWJyUC9Ka3hWRlZGMU5pbGZ1U0xrVGRqc0I1Qm9GZVB6QWpwQTFXMmR3RlJTTktSN0IyZTFCN0JKOUN2bE9WSlFxNlRCT1c4K25jWituaEwzd2QvSDdsVHgvZWl0SmIvdkpkeDMvcktBcHo1RDc0MzFIN0s1K1ZKUjlxSXZjYit6SzNJbzJpbnZId2hRZnVQUDJOQU40NDRoMjVmWDNNbG9qczhjZ0NOSkJYb3RnK25xUE1sMUdLVVZVcGs5dm5BbzdDaDNmWnRJZ0UySVovZ2hkZ3YyakRBZ2YwcHl2czNuZS9objMzdkpIeWE0eGRyckNUZzJqVmFHNkpkMjQ4bTZsbUVHQUpTajREekpqYUFTdmJwRVluaHpGZGJ3eG9Sd0xuUDRDdVFuWnlOSXhtNTBaUXFzcTFuU0c0UFlncnJxalFQeDB5N0tzWnlxb3FLNHZaQjQ5dEFGRkszVGtsVWIvR1JqM1NMaUp6Nll2c09NU1hHbzJJZDF3cE0zYVZzYmRacU5USVZqYW9tYmVibUxRcW1RVEdTaFViL3g3K3pPK0pqWUdBa1gwdVY5OTRHTXhIcDJIUHNkT2ZEMHAvRWVFZEJQM1FlZlk4Y1hpMEV1cEk0amNaKytXZ2hLOGNvNnh0RVhFQ0VaLytvc25OSW9pRjRQU3FWdmtZU1dobDJGeHhDRlZNT0xRRGhyVy9vdEVYMlExOE0vdTUwSXlndWlpYVdHQi9JNHdNZGRGaU85ZGpseTVmdmVmcW5aZWluZXI5akwxdVAvajgwSmVyOUY4eTk5eDlaK1Y3T00wNWRnbTBMdW12S2xaRDl2WlBWR09mcWRuYzA2UTc3UG45NExtVHJYckV4cHJzbTdlQzVaKzFoKzFHZE44WURmZmJrZ0hhUDhxcXhualhDUjVWeCthUmZUNzEvQmF3c0wvbm1rWmVrdGIxZ1lpVk9hRE4wMzFlQ1dzV0c2STJCbWUrWGFmbW5Kb3JEblcrUVlCQ1piVlRRSlhRUFdSN2RqYVBkQWhXZWoxd0xJSmR5MmZXTEdLbHF1aUpGNGFiM20rRnQvLytXTHhsSmJUbkQxSHlvWmpiR1pYbXlpL2NkZnoyeUNBOEtvWGdRV0VaNVEyb3dsUitIL3QrbnVsWVhoOEdiUGZjbnFYR21kaVVBSTUrVHhCN245eTZBdnRjcm13U0ROTXM3UkpLVllXM1l6a2RCM1JCUjdvdFpaOGRLUTNDRGs2WGFQZGZMV0VyMVdqZlVuZ3R0cTZTZWQxaG5obUoyallKdWE4b3llYllPMFJ5SjV2OUszckpkelNBYVBjVnBleGszQW1YckZhRUNMTXZoUFprVmtVdkM5YmNESG9UWVFZWENWM3MrRWdKZDg2dUMyQlZqVkFybjVRR0NQdWNsYlhOZm9MZ2FZV0hMNzIxTTNaQkd6cnlWYnZlWVpaN2duMlZ2YXprNkwvTHNMTURxeUhuSGJ0cVE2YUVNZlFVV2I0OHY1RUNNUm1sb29lSUlJRFlld3F6cFhhcHpWbE9ReFhtZW45V2QvbldBTlhteWpLSldFL3VrU0M5bXNkZTBpc0MxUU5kTTdRbitBZ3RyR0Y2RGFPM2RXRVFscjIrcnNZbjJHZEhrdXFaYVZXbzhHZ0pTQnUvQTlyVXZuMUJkdW02ZHRuZEFkczg1cVhWTi9CNGtyMGxKOVpHSFByL1VPUlBldXpNWDlwMTNXbmFNMk1IUlc2c1FWQnFpVjJKUUZQNWJabGVWZTJ6V0JuOWxkSWdobjFsa0VDOXplaW9SQi9TZEFCUXdGc0VwOUFhZHJHaDRrQkFIemZUWGxyKzNCQlFMUDhBL1cwcVE5K1NHOXNHZEVlSHNrQVRUNGh2L0M1TC9JWTJGZGp4dmlLQ3piVFN3Ym1nb2ZsaVFnaGg3VXBBTUxHdHFNVHZNOUpyMHFiMmpYaGhFTlJOcDlDRk9Fd2c4VHJRV0VrSlBvWGRUQ3BOQTZlNTNMMi9LcTRua1Q2VWxlWlVXRnNlMEIvVE1CaUswelVkcEY2d2ZVS1VJeUZ2eC9hTzhnMHVMUTl2cU1laCtkRDl2MDNYRi80M25RZnkxMVVCN3IzSTdBTzJJM3M0MmJTd1hEUzZldFExN1hsM0ZCNUlZTHF6SVNnNm9DV3JTY29jRFFaM1JhQlRhS0NTRW1KdURTa0lxTHRjWlRjaXQ2akdSMmlndTY2TGhuSkNDcE52cTlNbElBMEVVMWV5TDRYY2xVOEorVjVTc0luYzhkMjQ5Z1lkUGFoTmhOVlFvbWF4cDJ1dEVLNm9zYk5uaFQ4SStLenI1SDZidGoyN2lYekhoeHJLZjJvalFoT0tkb2IxS3BzRk1aVnhRZUhtTmJ2bUJpWHIyZ2xUelZkMGFTeXhJeG1ZamhKQmFNczVWZ1Q0U2VzeG84bWh5NEZCMEtBYUVYS2padEI5N1V1YlNrMXFEZjdWdFJReEtwdGtmTFNQMW1mNWVqTGVGRXBnYzIrUWJCcFdnNTlYZnExcERaMjAvQ212NDdmLzZGWkV1cVo1SXNDN3hxR1ZsZHVxbURFRGhEWjRiV2phZW53MWJYSkJZWjhIdkFwK2RqWW9WVFVEWDFDT1JyOVVyQzZ0WHdqaWVPdTRscnNyNmtGRjJxU1VGQ1Bkb1QwZExJR2FYaklKcGRZR0RSY2pNVXBDYmhxbnRHeG1aMG5ZRTRYaitYY2xBeVFQRmE5WnBXSXpDUkdlUVNIRTc3WEk0Tm5TQTNqd2xETHdpZzRrNkVYVkZVNmdvUXlWNXpvUzFRVzFmV3B2RCtnWTVQUTdGa3l0a2l5aXBQVzd3MXpEN2xwaVRTN1NHRDk0aXVUZWtvb2VKTlh1cTZtNk4ycnE1T092MzBwRmFFd2tXaXZlbDNYbmpFMk1TUzFidFlvUkJhclF0TllVZVBIU2oybGdYVWVWR3FRVExSVzdjd2dlY0ZzVmZmaGpJZ1ZPU3F2YVBuZU1IUU9wSzYzVkNVVjFKY2txMFlIak41UFl1aVc2NGl2dUMyeFRBaG9RYWpkYWlGeis5bGtHbjJ6RGI4c2FWVUxWbFNGclZyL2M5L0FKQU13NVZIY3ZsU1BMTWdrVkpnZkdZb2h1NWFwSm90bmtXR0t6cmxuampnMm5kTVErYVNLbE9xQkdoSUdwdExiUHNtWEgzRC96ZFdjbnRBbWFQNmdNSElRUUl4blY5U3pYcjVpSSs1eG1DcTNyQU5qZ3JMa0dmVk04UmdyUGFkemZHUFhwblpaV1BrWE5CNG9JS0wvSjBvQUM1Mzd2bW5aKzFxemU1TTRtRFVHMHNwNmdHS2w0NngvM3ZSK0QzdlM0RXlkZXR2MG5UYVRpQ0hqL3JzZGpiWi9BMnphSWExSVlKN1FCS0R2NTFLRkNiOXZpZGszc29Ncmx2YTFudXRScCtzVS9aNlNLMVJ3elN4WmxCOVZqa0FHQlhWbU5WaDMyRllrcU1xY2ZWN25KM1Z0cXlicjB1eWI0blJ5N1FaUjNqQzRSMEpubTQwc2M3enlLVkNYTlg0OUFyRXprbEF2WW43WkZqVk14bmdybDZ3U25oWnhOU29nTG5ZV3N5UTJsbHFKTGJTNkQ1THBuMFp4NVV4S0ozVG8zZmtsZUgwVmxQZFhRV0xuYkowbXYzWjltTTBxQ3dyOGpXUUVyd1dxb0ZjZUtJdit4VVlpTmd5c2U0T0gvK2VIUTdENGJoMDRPZFVLank4aXNtYjhFTWNiQU9aRUR1cGpFTTJLZmE2NnBzc00reWVhT0RFV1lMVFdHRzhvUGZRVStPOW5rTlRwSWZaTzZxaEUvYkNqeXNaSXF5YXUvMTRDbmpaNDl6VFYzTFFzZHN2QXRTUUJkMXNTeU9GT0VYeitjaGZyd3VyeUhDVTUvYlg4NCtpUXg2TzNaZ1dRQWwzbFI4MUt2VU1RZUpBR21VVnNoYTBTVmlOdW42ZlVLdzJHZjZCSXgrNlFWSURkVUhHOU9haFBiR3B1VU5GZkNCbGp5UmZaMXFLUlI5OXo5Snp4ZVltZFJUQWZmNFFkMFArcXFvWmFxYU1NNUdFd2dZeW0xODlXcmIvNjIrLzV6d2RZWkJOVFpsUkJ3ZXJ2bXlYb29vVXN2eFBIdHk4bUxEWkg0czIzTnVqUkpoMzJTSml5TGdTOGpaK2FHQnNFSFVNd3Z2dFd3Wlljam1razhzV2pSaHkreU5neEl6SE1tNm9qWEhTOVBEMkV4SFlNSXhnODlaNjFGUkg2V2FPUHFEMVBHWUpOWWhXSzd4TUxwRmtBVTNWVmhrVWVHTzNZMWljdlliR09RM0pINWU5dlNzQ2Jwc0UveU5mMzI2WWFDenFObDROTkZkZExaNTZ4K1BHSDM2MW9jbWNqZFBoc2tZSnpMU0hrNERXMkFhSVV0cS9JWGlUaXVJd3VXZXhMOXVILzB5NTFMS29JTjYwMXVNNnJXQzlKQXpldlh1c3ZxRkp1SWZhNjVudEJobitRcGp4UUZzV2lBbkJ2SzBUNzNCR3FJWmFKbUt2L1oxUzB0dmpFMlR5UFo1cjcrMllOOGp2ZFU1aW1IcGhEZnZDQ1JNS0tiUlRTQy9iTVE1RjNyWkVPcHBrZEE2MFdacHErYU55YVVxVlNCOTRYUlhqUC9EN2txaks1cmtkRStKa3JrL1JHZTBGUlRpQTc3cFBCaVU1WFRXam12NW9aS3RKK0NGTnk5ZENKN1VRMlJhS3I1c3BXdk9CUy9ac1pTQ3pOREVuSmxiRjdZcCtwR0dFcnNCNEJZcGEvaktYUjVCam1UcXpZc28wakdta3JKam5GQ1dEMnlmQTNuL2k4ZWh5cU1nd3NOY3I5dzF1Wk5IcWxhNDZwRWR0Z256ZFEzRGEwMTRhRGRVSTMyR0NvaFUwK2x4ZkNLcnNlL01lNFRxK0Y2Lzc1aWIvbU1wSWZ2LzJ4QlBOM25MZWJwaytpZnlpZ2I1a1c0cnI5YXp0b0JOQ2wzb2oyb25kMVZKZ1h0bUJWTkRDV3ExeHB1WDRPeXI4bnN3T1ZQbUl0WmpRd29nalJFWk1waG43UjhzRzBRWVo4MHNEaWhKWE5DTkN3QWxhQkZhKzVtaUVSU2REU1l1YnBnZDJTeVBOWHU2NVh3VVJVZ0psd0hzZnA5MlJBVnpUcHlYM0VLQU96enVrUnJtdW1ycVloeVBYOHkwUHhTYmNNL1A2TGpVYW9sTEg5cWFqRGdpekl6Y1BrVDc4NHRwMEdvaDVxR1REanNrMDcxMkRWNFVBenZJaTdvaWpGNFdQODE3cVAxcXlGRElwYWlvOEhNUlZQclBaUGxxZWkrVlZHbzEzR0FINzh1eHVyM1phbkM5VDdvS0FCb1R4SEFOd2U2NXNxaFNyWmlrWmlDNTNSdk1MYWVFNm1zWkZyR1BXSXF2d0Z5ZjdGRk5QOEgvZEFGVzlqZ0NURnRPWkRwL2x2RDlrUGthdnRRWGZaWk0rWVBrbldwR0JkMDFmSjhGZW96aU5MNlk5eTRYSFEwbUxsUVJiZThncnIyendlZkJLTDdPamxTRlJQdTVQd2RyL2tUc0oxZ2tKRDJDVSs1cmxBV21GN2k3VTdXZjY1bGZRQWxjdlo3emRoUlE3aXlLdlhTSFNhK1p1WmpMV3lCWCtSOXFOQjlSYjgvcWticzdvKzNxSTdMUG50V0EvRDRjSTh3WGRCVkhXY1EzaFYrZEorOTlQSlZ6b05xMnhjZERXWXVXcXkzb2hCZTRQeit5RlFaT1VYQnN5WHF5UFZSQWIzN3VxaUhsWjRqUmFGalBNV2E3UXRVZVg1M05QUkdmdFF5VVdxYStLL09kVkdpWVJUZFZ2c2RNd0Ezb1Boa1puckRLRWVCaFVrVlV6WThvbCtYZmNKcDh4MUxWTTUzSE8vVDNRVmROWjRFZm5ZRFdDMGpPM0xWSS96MFhUV0xPZ3BEYXpsTjR0WnNRZnZxanc2Z3hURTdwaDZkQW1sS0txOWpobmZxVzBxbGE0eUhRZU9RVGxNSGozREZ3dnYwa1pXWmNoS2RVbkd2Y2V1YnA4aTdEVjBvUVF3Q0RIaEFXRDVqRnZwUkZSWm1QTmVxSU9heVQwUjZCZzlOSUtJdEYzU1Z2YUpFZ254N1NFTktvMFlyUE5Wb1NGUXUyam4rQ2o4Q29IL2tNMFJpUldObDhlU0RocGxVTk5XN09EaFM5VzBEMzVTZ0pHMWJmVFVWd2RHUU1BUmNOelZLNFlISlREdlZOYnFzY0orNVJPYXlZMEs3WldOMlRkdVcrZ1NGejkweVFJUlFaaVZuU2N4alhQWUo4ekI0Q0ErbHUzTkFWNDByd1Z6c0FLelF6WTBibVhIT2xlYnQyUmVxdEdFN203aGIxNEIvWjdPdzBpZlh3RUozN3ZUVklwZ3E1a0R3ZjZRS3lDOGZ5RXhkcDFScHJuZDBDMnZZZVdoNGxKOHI5d2d4YUhOVEFQRDg1THpPMGNwYnpWaml2UEZ2NGNCMUUxamtvYURFZjV0R20wRlhlRDZuZldKTHpyYXExdGJDT0tEd3Fkcis2MkpXSHBvb0pPaVMzSDNYYk13K0tZUytHTUZDVzJ4R0FGa3plQWhMclBHb3RlVlkwVFhLcDRtcWpybXE2anZzOGNnUHJWV3pPbjZwS3Y0WmJtaWxpU0RncWJjRllmaE1jcDI5ZGZ5MFRJQThwMGNZdEtUdDlrVXQ2MWRUNGpCc1Z0ZmpjYmpIUVpaTFBjZlVDQVd6MXBaVjFXRy9Bd3I3RkdSQXF5VmE2aWtURzVjcXU1eEg3S2ZKQTFVREpDZGt1UVlVZ05PK0tjOGhWUWVMRnpQU21XTXZFQVVzdys1cFNvdnM1RUJtSnZTdmpKb1ZoaGt6R2oxem5LOStESmMwS1RUUEhzZWpGVXRTU292YXVjbitIZ2ZpcDY3ZEN3YndnYUZhMlZJbWRCdnFmNFpmRXIyZDdGdFJoZHRXWmxMWHEwUVkzdmNVUWo4VTlza2JEUmdyc25zRHBHYmpjOXEzS0FwMEIwVlZSNERSSGEwd2dXQll0UkZGZWYwMndVSkpOUzdOZVJIb3o5angvb3JwUisyTTZ3TkR4YkppdFFWMTR0UFFTcE5CVU5zMmV5L1VTSzBscmdVeldDNmI1aVRIb0tOMWh6Qk41UkpGR1J5b0hCaHFZcTJLRmg4UFpMMk9NUlBzazNxcmdOcC9CZDBQaFRHcXJ2S1FHclgvVURuUVV2Z1dTZG0rZlQ1RW5mc3RTS2tKZ0tvczRFdVdxN0F3eDArMndFSDF2YkdwVkhsUHJwbitDa3JsZDBoeUt4V3paajgyaDhFVjlabHRxOVdKOHhvc1NWdDA5Z1Yyd0Y4QUxmSVorb3crMlBRUFJWZDk1S08vV3FhbVpkLzI3Ly9kVmdMQm5obW9PVVpObXVNekZKZXUzUGNqRlZRL2Z1MTkrOEZ2M1hjYmtmck8rLzRKeDN0YTR2MHZiWDhFN29QQ1BsdGkzRndKWCtJVjBadndSUitJNDhNSGZkNmtMTUh0cTY4aExvemRzUzFoZi93aklRZXdlKy83dUVZN0YvT3d1cUNLZERRQUFBZU9TVVJCVkdEY0JQRllIN2V5cXRlbG5oejdRNVNIVG81NGNha1c3V0dxVHA3Mzl6R2g2dm55d0pOVjgyU1pRR3RlbkhuVWVnRUgyYURaaGVjc2hXOFQ2TytYY3RaRXcvTGY3UVJLYTdGaGJUVmt4Ky81N08vOEhzNjlEUUlLSDhSMXhQOHFpNmZsTVBnWVl6LzYzejd6dS9Jc1QwVTlEc1haV0t1Vk44RWFQMVBXYmpqQWFjeW4vL1d6bjZtNUJqenk5L3pha3lRMXdNeis2SlBtek01T1NTenV4UEppRkRSNmJoVzlaalU4M3JScmxzcW5YMEgrcDFyaVhFNjdLUDkwbWVFYmtwVXZWMDYyODZjOUdzVTZEdmxhZmh4OUV4SGowWHpsZ05kK2tQMERXRUxwQVhiSzNSUFdEZW1JM1h2dXZucXA0dkJVZ21IZlNMbFE1ZWJ4ZzFROER3SjB5dTRsQnZzOHhoRzdPR08zb3NJMG1DWmR2eWJvcU44WWxFNHl4d1o2bk9adEQ5a1hRbDcxTzFRbDYxN241L3BldmFRSHlmb3gySXFIb0ptZ3VEcXhHWlNDajN0SFFNOU0veG1YQ2s2UHZtdys5NWRVNXF2cytDb2UvNXZIcHBxKzRqeWN5NTE0bVhHVXZzcUVNSmVyZFBqN0FhZy95STRycXVIK0tTd0I4dDNZVE05MXRXK21VZnJJWGNmMy9uSUtDcDkvc25MNXRVZHh4Q2lVNzE5NjlBbDIrUWQrMGtha00venYvWDBiTWxxNnpMWkhxekFFbTcvZVBCcUNsS0w0WjhJN2ZqNk90dnpsTzludHI5Mk1neWVTWC9rMzRjbTk1SzhMdjFiZVZmbE9vWW8vcTM2ZmNKZVE2Zk5QVkhERTBrakNWZUFiejlxRlJZV3RYR1dtRlN5OVRKRXJaVThzb3dhYWVpVE5TR2lLMVMrWTlZbDh1R0xaUWkrWTVVUFJVOGxKQTQyQnkvYzVNY21aekt4NWk1QVA1WE93ejRLWFpQSjVrSnVQeWxKc0FuOFduckNkOC9Rb2FNQStvKzhFem9JYWJna1psODBMNGpQenZMVzhZK1llN1BPVk0vUDR0NWFndGNnT2tiUHc3Q1g3RFdJdUFuZGduOWR6b2VTSjVLMkJSdmFGNmJ4RkdrSnZNWGRmMTRKOWJnemg2b3VMMFVEK3JUM3A1MmprdnVRUXdqNTNKeTIycHorZUJ2U0w4ZkdxVDc5V00rZlZUenJpbU9VZDBrNWZMVGNyeDk0WmE1cmwzS2ZhL0xpOGZGZjhiMVpqS2VDNXptZmZ1VE5WcWVkeUR4VnBIMHlSMzBOTVZYMW5qMWw0dHBhbWQzTC9Ub0kydVo0dEhadzlJOHNnY2Z0TXJUQ1Y1RDc4REE4Y3IwcXZOOVcyckhpWnp4ZXVnWG4xVjU2RlM1SkdnSmtjTnNMRitORHJ6WmRqTUo5OTlXaWc0L3dPNk5ValgwU1NXdjRqOFJyc2N6M0N4R2RlVFJwWXpIMUJjWEpQZDJFQ3J4TzZzTSs5eVluc0tXZlZRUFBGckJTbVZyLytVdjZzZG1DZjIvbVQ5UlR6MHNDRk05TThLNjZQbHJLcW9RYjdQTXhLeE5lZm9BYnFaMlgzVGtOOXk1S25NcXF3enp6cGVWcDVhMkQ1L3J3cFRvamVCL1luUUxneThBeTFDVEQwSkwwRzBtdUF6a2laaEZ0T0w0SEg5QnBJMWdBZGN2S041R0pmNGpWUXFBYm9qS3JyaFVyZ21Yc05KR3VBemgvYlNDNzJKVjREaFdwZ0Z2YTVXNmdFbnJuWFFMSUc2UFhtWm5LeEwvRWFLRlFEYmRqblZxRVNlT1plQThrYXFQdmR5Y25LOFNXRmE2RHBkeWNYM2daZWdHUU40UFdtMzUyY3JCNWZVckFHRUg3bWZOeHR3US9rMmQ5TUdxQ3ZOemR1cGdmeXozSlRhWUFPcC9YTG56ZFZrOTVVRDBPSDB4N2RWRS9rSCtabTBzQWM3UE5tZWg3L0xEZVhCdkQ2NkN4OUgzaHpLZDgvelZBTmRLTi9iZmpJRTVVNzNqTzBra2Z3R3BpU0JuWWl1ei9mejQ3dnJiSTNUWW0zWitNMU1Fd0ROWHYzNTJybGRETUlma0w5ZStPd3VyN2NhMkRTR2dqdHY0N3JpYVdtbHYrZWM5SnE5L1JUYWdEVDl3T0ZxdjVaZDBuOVRhNHE4SGV2Z1dJMFFQOXRlS2hZejhrL2V5NzVLYjFTaWI4WHF3SDYra2hMSUlmM0lHajZKWHV0Rko4b1VnUDQrb2ovUFRtWG9jcjJoU3hkLzBxK3lFYnh2TFVHOFBYUkN5cURMNDFsY3MxL2NheVU0dStGYXFCaDdhNDdyOFBPT1grZ2NxR3Q0cGtyRGZTczNYV3pUSjJPdCtRUHBGY0s4dmRDTmRDMGxwZmFUQjAwaVUxTk1oSXRWRGpQL0piWFFHaFpZbDJmdzRSWi9lWXRyeHF2Z09JMWdNUEJ6Ri9MTlBWVUNmWjVVTHh3WG9KYlhnUDQ3eU56b0gxTDJ5YzIxZS9kOHJyeENpaGVBd2cwemRtOFZmMGhKK3h6bzNqaHZBUzN2QWJ3M3pKWHRCSkMyejROV0pmN2hOZkFsRFhRdGY4YXdkZ25objF2bjFOdUNzL09vWUdhZmZaU1JiODFnbjJ1TzdBOXlHdGd1aHFvNkNWNThEVTc2YjE5VHJjWlBEZTNCdkRHM1RyYTIyUzhmYnIxNWFIVDFRQ203MWFjV2RIekkyK2YwMjBIenkycWdaVW5Yc2NCbUw1dm1wS0lmVnAyYXpCOHltdGdHaHFveS9YM3V0NnhSRnpOL04ydmYwNmpGVHlQSkEwd0dXcFc3ZkF6OE92elNmcnk4S2xxZ0Q0Nm9xMUttQjV0V0l6TC92Mm1wUTJmTEV3RG1QN3cxKzQ0ZStuUUVpS3lQMlRYS3ZCSnI0RnBhb0Q4SjMzVlVkY2JQam4zSFoxZGpNeWJwaW1hNStVMUVBUVZ2cTVVcWtTRzk2Q3I5ekw1L2NuZVNvclVRSWZkMkFxQ0dYYUNYM09kMDU5eXpyQmpBL1lwcjRFcGEyRHVtT0xPY3V5WUVQUFYwVG50U2Fjc21HZm5OUUFObEtyUDd3ZlBzTk9JK3d3d2JaTGE4ZDhYZXpNcFZBT1lBTjNKanJkak1vVHEySkNlL2Rvemh1U3pYZ09UMThDanQ3SHYyNHl6MldIWEJLaGx2L2FNWS9tODEwQXhHcGlWLzRTMGJIMDBWNHdrbnF2WFFMOEdWdVFFZnM3NktLa2Z5ME84QmdyU1FGMTh0dW1IOTRMMDc5a08xc0I4NVdRekNINldmZTlnTkYvcU5WQ01CajZBLzBlNGk3MFVYWGNxUmhUUDFXdWdYd09QUGxHNS9DbHZudjJLeVJ2eS93SEFOMjV1Q2N0b1lRQUFBQUJKUlU1RXJrSmdnZz09Igp9Cg=="/>
    </extobj>
    <extobj name="334E55B0-647D-440b-865C-3EC943EB4CBC-74">
      <extobjdata type="334E55B0-647D-440b-865C-3EC943EB4CBC" data="ewoJIkltZ1NldHRpbmdKc29uIiA6ICJ7XCJkcGlcIjpcIjYwMFwiLFwiZm9ybWF0XCI6XCJQTkdcIixcInRyYW5zcGFyZW50XCI6dHJ1ZSxcImF1dG9cIjpmYWxzZX0iLAoJIkxhdGV4IiA6ICJYRnNnZFQxTGMxNTdMVngwYUdWMFlYMGdYRjA9IiwKCSJMYXRleEltZ0Jhc2U2NCIgOiAiaVZCT1J3MEtHZ29BQUFBTlNVaEVVZ0FBQVdJQUFBQk1CQU1BQUFDbG82QzdBQUFBTUZCTVZFWC8vLzhBQUFBQUFBQUFBQUFBQUFBQUFBQUFBQUFBQUFBQUFBQUFBQUFBQUFBQUFBQUFBQUFBQUFBQUFBQUFBQUF2M2FCN0FBQUFEM1JTVGxNQVpydnZxMFF5elJDWklsVGRpWGI1cGFMeEFBQUFDWEJJV1hNQUFBN0VBQUFPeEFHVkt3NGJBQUFIMFVsRVFWUm9CZFZheTJ0alZSaS83YlJwK2toUzlBOUlsb3BDaWgwY3hjRmJSbUVjTnltT3N4RWxZVFp1aEJaQk93dmx4Z2NxT0pndVppR0NKSzVFa0VrWExoU0VsS21nU09CV1JNRlZBeVBpUmxJYm5jNW85UE03ejN2dTQ5eEhrb0wzTEhMUE9kL2ovSEx1K1g3bk95Y3hqUFNVeit3YjYrbEJpMGlmaFJ2MkgybENuSU5IakJ5VVVnUzVNcXdiaHZWN2VoRFB3RGNJdGpOSUQrSUsxQkJzQTViVEFua0svaVZRVDhGbVdoQzNZWmRBbllQRHRDQzJnVkx4Tk54S0NlSWNIRk9rMC9CM1NoQTNPTkk1dHB4VGdMckpsakZHM2o4cFFJc1FGd0I2RkdrQlVySlB6d0MwS09JRzNLSFAvLzFIZ3dlZXNaR1dWZEVIbmsvMDB4SjVOdnpGMWtFbEpleVdBVmhoaUczNDg0U1c4RlVZbk8xdWJXMTFWMDNZNW1QMFliWDc5VmJYcEFsQ29uSG5nVHZKQXR4T1pCbGZ1UXBPS1hFemkzY2xqL1lsZ0IzcVpGWk9kbndvTVRYelA1MWpBRis4OEYyTDJ6eHRVc2hmL1JyVGg2UFc0TitWUE5hYzdvblh5dWpmaFE1ZkxoeDlQc0k0SFRRVVpYa0UrN2dtRmZCc1VGUFkwWXBycmVvZHdKMTNhR2tEemV0VjJTVHJObmdDZXhxT1dpTU5ZQWxPNjhCSm5wb3dyajNwZDMvVUl3ODRkSHlTaWRBaUlpNnBVNXFEZTlTbXYvNmxXS3ZPODF1cUpSbkNGTkQ5eGhQb0lYSFdVLzFVb2s3dXVQQzloWEkzdnEwU2RZUTd5YWJxY2NKMUpGRjIwdUYrUHgyMklrYTQzUFdWSjRnSkF0Mm5wamtZZFYxRmpNekVEVVNzS0M2T3pxUzRiN0FOWk9sRUE4L29nRWdSS2U2RHFEV2hmRHRQRlNPaVJydmFKNXU1TlVITlpkOGVzRUU5WUdJMWNZNWJWTEVwRXFKWVpvbVZYSFE4YTBid1JKaDdYTWQxS2ovWlpleW00LzQ0UElxdUtPQThETU8rMkxneWZKVU9GYzBNMXNmeHh4RTNUdlo2QlptSWN4SWVoVzIyRTR5SzJtS3JvdW5tOTFHOTZlem1FTEdZMk02WVIvWStqYnlNaTN0MDQ0N2VyOUR4L0xpODM2WU9sdWdOOHVpSW9peXJrbzZ6MW9OUnloSHlhWHBvb3BmMFhQTXU4N1I0Z1JHMjhjVUhrbzR2SHRXMVpxK2Rzd2V2MXJSaUxsZ2dwN3Q1WllxZmgxVWw5Nzc3dUI3bElZN2NFdGx4WGdhZzMrd3l3TkNHWWVSMDlZK01yT1hnbW9VUGpLSTg4ZUtXdU8xM25id0hBKytRV0dYTCtpUThSdzlSSDltUlpEMEZwMjJGS0Rid1NyWWdxUTVqZkMwNVBwK0ZwT01YSE1yd0ttV3RZWTMwNVJVd1hoM2Uvc1ErNHh3WnMrYXlZU3pCRVpkaGpHTjc3Q0xvR005MjdyeGU4VHdIVjFpcmlNczBRWmtoV0FzeWordUlSQ21CaXdCVlFjZE5STXh2b0h4YWxVR2Q5YzNSeE4wbjEzVnNFSWR0a1d3WU9JUmY4NjFMdXZLTVg1bjJGQkFwVmo0K3hxZm1TbVZXNUk0NVU3eGdqVE5QZDNrZk96b1NweDJ3czJSTkhGZFRlaDUzdkZtbGREeHJiamZSTGxobGpuQVdLZVdBSVprazhETkQ5K3ltV0JXWUova2psNFNScnBRQ3ZSb0gxQSttOGZqMk5JRzFBYnZVRnIwbjJzWG42UnN4UmVRaHVRWGNIajZtdzZ2bFVvdjRlWDFRTTZiUmxDSHpmclVtRDBrTTBrVG5rd0p5bTRGZmt6eXdvUGtocTQzM2lUZ1BNeVNOSis4bllBN1F1ODJ6VVp5azNTU0RiUkNBK0RzRHg0a3h2cG5FWEtOTGNHNFc2ZnF5OGJJdFVFdVN5UGNQMXdNVk5KMEgyeWpBeUNZUFZ0dG50YkUrQ1IxZll5ZmdJbFpiUWM1a3FoUWtET2w3aW5qcnlJMnBLbXNoTnRFaVFzZkEwbmpDYzN3NjNIWW13S04xZDFmOFZrVlFCWW54a2IwbzR4R1luQURJM1ZEZ25tYWg0UGdIeFNoSjFXRjVLeGszNmdhcElwb2VFK0t2aDJLcmNHdjNVWUNZZjNUM3htc3BsQlpFeC9HY3VMUU9GRDlsa0cvUXBmTUdSUXp3a3FzM1hnTTVjNFZwWW93SFUxRThSMUxMVXZ4VUVkbU9sRGdWd2llMDlKeSt1TFdHakkxSjByRVluVndabGtSRGZWN2tpUDJicktvVldDL0tmRzJTZEN5R0lna255YmI4NVNhSHZPNFhSZlNVNVVMREdOK1BVSTRqSm5UcytNR0dKbjM3d3FhWWQrUDRkT2s0SHF1VG8yTm40cG9JcSs0YVVEYXl6NWtvVEJ3NmVCUEhzd3BDeDlLYlVzbm8wdU5Md2ZreHZpckZUeHRiUGNXYnF6cGJkdWJMSlFocjVCMktENmJqeFBueEJ2S3NNeUpKMzFhY3BxZUdvd2ZuSFI0OXRZa2VkM21iMFdoK1d4V3ovQXRIRFN3bHR5cHI5UlU2WnViaUpVcnRURTFVSytxM0U1M2hUNlNmTmFiQjZiamhuWkdrK1RHK2FYVnQycTRwcDBOTndhREd4c1IvZVNTZTQxTXlzUG42NkpTNHMxRWYrRFlPRmRzaXRtdEtHNnY0RmpaNVR5SGcxT05XOXJVSzhzRFAxMGV6NTlOSjFJR2hMUEVRUXh6QWs3NlJaRU44cDRMcmZjUWFDQjN1TUVXc3JXSE5yckhtcUovNHFoUTZKbGRtVG13em4yUlgyZVh1MnlGaHFVR0FxMktkaVRxVWhoYjA5MDRhRDU1dVFnN2NJNVg0MHpmMTU4bU9udm84Zm1VVHQyWSt4emF0NVJJZGJhVWJwMEpXUWQxcDRoK2R2ZWtiSHRNay9Wbmlva1cxQ0svam50cWpHdWlIUk1ncE5jN0RUWU9sVmJ5eWRFbjY2SGhaN2NuQnNNZmJpM0w3VWhYQzZ4Z29KYXBSM0tOelUxMEoxNCtVVnVRQmhLc2VJT0tIVkxPTWMvUnJlNEpTVmRQV3kzQ2J5S2JnT2oxRVdqMnRaaXpCZTRqUE5jZDRZc0NlbG1wY3ZzSmJHVk9USmFuYXZucWJuY21hRCtLTjBMS1JkNDNtVXc3dldQanQybm1DRDQ0ZS81Q3ZnNmxySnUwWlh1ZzV0bGVINjdTUmJicFl4VkVJcjJWTWVOTEkzaHkwakNwZTNmZHZoV3VIU3VraG1nSUVjU1ZkNUUzWFBwZ3RILytDanQ2dHdNdWgvblRDTndITzB2Q2JOWUgvbTFxbkd0RS9Ed1B5cjdhdDdwNHBOcEVPck9KLzMxN1pXMVYreURDTVJRc0dYUlBndmdpSE92SDE4K1lEOUJKODZ2N2grenFseWZZdi9Md0haKzdkU2V6MFA2VnlHSElpUExscUFBQUFBRWxGVGtTdVFtQ0MiCn0K"/>
    </extobj>
    <extobj name="334E55B0-647D-440b-865C-3EC943EB4CBC-75">
      <extobjdata type="334E55B0-647D-440b-865C-3EC943EB4CBC" data="ewoJIkltZ1NldHRpbmdKc29uIiA6ICJ7XCJkcGlcIjpcIjYwMFwiLFwiZm9ybWF0XCI6XCJQTkdcIixcInRyYW5zcGFyZW50XCI6dHJ1ZSxcImF1dG9cIjpmYWxzZX0iLAoJIkxhdGV4IiA6ICJYRnNnWkhVOUxVdGNkR2hsZEdFZ2MxNTdMVngwYUdWMFlTMHhmVndzWkhNZ1hGMD0iLAoJIkxhdGV4SW1nQmFzZTY0IiA6ICJpVkJPUncwS0dnb0FBQUFOU1VoRVVnQUFBcTRBQUFCTUJBTUFBQUJld2lpVkFBQUFNRkJNVkVYLy8vOEFBQUFBQUFBQUFBQUFBQUFBQUFBQUFBQUFBQUFBQUFBQUFBQUFBQUFBQUFBQUFBQUFBQUFBQUFBQUFBQXYzYUI3QUFBQUQzUlNUbE1BRURKRVZIYUpxN3ZONzVsbUl0M3Q5b3BQQUFBQUNYQklXWE1BQUE3RUFBQU94QUdWS3c0YkFBQVBUMGxFUVZSNEFlMWNYWWhrUnhXK1BUMC9PN3N6MjUyZ0dJTkpOK1FsNmtNUC9yT2E3VkdRaUlJenlVT0V2UFNnWUNBS00xRWtQNkk5QVNFRU5UMVJNQ1JnN2hpVkpLUGtyZzlHSW9RZTMwS0N6b2hFRUNVek1ROGJGOXk3L2tSM2V0Y3V2MVAvZGUvdDZaclpleWNQNlhyb1d6K25UbjExNnRRNXArcmVtU0I0SzZhYjQ5Zm4zb3J6TG5qT3A5bnI4WDhMSHVNdHlINlMvU1NZWktzK015K0ZJNzMya1JPbmFmZXJRUkJlOXFFL3pSWjl5RVkwa01BVWV4Vy9DejBQWVh5S2plVHFJU1pCMG1aMVpHcHNVeFFIL2w3M3NWK3prVndIaWlmWk1NUGVvS3JqYkMzWjRwYW5JTlN6STdtNlF0bW50TU4ycVhXYVhkaUhDRTFURzJkdkhSdkpkWDhoV2EweG02UFNNZlpQcTNKQWRpVFhBWUpKVjAreVBWNTVqUDA3M1ppc0djazFLWkdCNVpxVTU3UXdzd1BwZU1OSXJ2dkx4MnJ0Q3ZNS3YvVWZxM1pBZGlUWEFZSkpWYzhxVDFSaEhpZlprVnhUQWh4UWdlaHBtemZWMktVQkpGYjFTSzZXTVBiTjFxVGJDaG9qTzdDdm9BN1kyR0x5WHFBMThsc0hGTjIrNURIN24yaHZIMm1jZGZVSGJydm5NUS9Ec3kvMkkyaThPWDU2NlRERHdHQ3VpMzR4Kzlkd0JzUHRhK21HVDk3eFlIUm1DS3NUT0JNekgwYzVoTS9obWtzeDJ6ai90MGNmZmZ6Y2huWXFFNnozekhuVXVQZEtMN0krNjgwZlloUk1VTWlneE5nL2h2Y2ZMdGN1bDlqS0VGYkhPWlhYemVRUVRvZHBMdlBSeGM5RnlXQmExZGtxOFFyN2VUQ3VET1dCUmpySjJEenZnTEhXaC9jY0x0ZUk0OXNjd3FwODJ4MGdsQlpvQ0cwQnpiZjk2a0VPYysrQlozOHIyWmZ2NHpYOXIxWE5lT1BzSWtwTmNjNDMxVDY1R3VjbWZvWXBHZmdObCtzSHYwZ0F0NGVQRFpWZEgwNVZHTVV4b0h6RGttRVFkRkh6TGFlbXhkK2hUQjhHNXdLWXFiUTVmQkxENVFvZUVlc041NFR6SGZOWVNBOUdoeU9oVzA5My9DM0d2dUh3Z3NrbE1jOGN4aEFzczB0WDhiVEQrTzIyd3poZDhKU3J4OGt0cUxHaEYrbnA4Zk9yZ1FGTTdPOE8rNjdMZmt2YzhJMTVxWW5iTlFoVmRMWGcxZHRIcnZDQVBnNEpPMlU3QWVZb2kxaFc1b3cza1VRTmo3UElLYncwenVFVkJOcDV0SDJPV3g3Mk5ZQUQ5WEpJWGErRlRNRE5yNGhsVmFHQVlMcE1Qc3BPMTdLK0tFWXlaTEliWmY2eldKMUUranR2WXNvb1IxSVk0M0dDanJHKzBTc2ZmVVhvdHA0QklWa1Z2Mm5oSzBmU2hkdXlJVTJsckZKSEJmU3h2UEd6eVdXK25SS1c0SW85dThwSklMQTFuaUY3bmt4aU8xQ3pqMXhodVZZNHEzMS9QSzNGdmp5dXBCSHFZNStEWm1PaFo0WWx0cDJjUmpqNERkV041MVBwTG1JQk9TMXhWcFBLaTR3OWxLSThXK1VrOU9NajE1cGlwWHRsWlR5dFJWYlhQT3F3ckk2MEZsS3U5bHB0LzBPZk4xUXVLTmptZVY1ejBzL2ErY2pWenlGNVdnc1hibjRsTEt2OS9ua3laUVdDdHJhL1lkS2pEWWNCOW5WT3RlTmFtMEU5ZmVUcTU1RDhyTVVnSEZkY1R4Y1VTNXBMS1h4QzUyVUdrbEh2VVdNLzJkZ2NvSy9idk56MThqVmVkc0RQSWZsWkN4dHJybmszZkQyVmpBWG9jd3JwZVlJZzlncVZISGpRUDJFOHZXeWlsMzMxZEVoKzFzSUJtMmNCeTJyQzF3bExkZFVnVytiWXdQU2xsMm9jK29RUU9NMkVpdFdHOVBDd0E5aEFQdmNwZnRaaUNKekROemNaRTYvM2lVWDd4MmxHNWpBT0dhV2NXcG8rVVNQbFd0UEdKTkdlS0hySTFkTWgrVm1MeFBENUZaZVoyZHl2V0FHNkdtSEd0R1BPN2dsQzBlejNESVVkNkxyWHVRTjdlTWpWenlGQkNaeXdmT0NJQlRXRUpud2RWM0dxUFJSbW9YWWROdURCOWJYRi9kYVl0U2xzN3FtOGgxeGh1UlpUL1ZJVmxydE50UjFCQlpaVmg2L2RyTnNNbVA4MWlRT2gvY0ZmR08zd3dPMGsvd0xXWXo3NkxtSXdMUkRWQjdlcUZsaUxDeXIvSmp3eER5VzNkL2JxR1FCaW94MjRxZlg0WWlYQjR4aS9VK0FmYkNkYU1vc1QrbkNYMlV5VlhjdlJaaEhkZkc3dnEwR0FmYllxVzErSW5wekxJaXl5RGpvb1k0QnlkSC9HUU5pWFdqc3Fyc2w2MXoxeDd3ZjFqRDVPMVN5OTFUcmhwNjVYWFhmRE1tek5KMzUvbGNOQ0ZjYS9HVDBDQWNXdWxVL0FLTjNPZWpHN24yNWZGMFhIZDdNTnkzNjl1RmRWL0lwODB0c3NzWml0VEYyRTNQWGQvQTVUZDZtRTZFYmNROFdzTHpydkE3RjFNU2lGWHBPaHZTT1RGSW5EOXUwUmU0WmRyQ1ljVWhKR2kxM2FEazczcTlwYWxObnp3WmEraUlQWlBlTndMYWdBSFJRQjVqWFo1eUdjQ3JTdjJqSW5yd0IvM25MeDQwSHdsemh6Tld5d00rekpXS21PWFovT2wxa1BiNGNmUDc4UlpkSERRandmbE9OWFhZZVVoSEVONjlmQnViUFdWZGFpZ2E5REt6cktneDZ0cEVmT3Y2WXB3OWV4QVcvM0c1YU9BcXArVTEwS09mNWdJa3NFTHN3L3gwL2Y0dFljcGxUcXNMK2kzN0U5eHlFbFlaUWo0UzFPWGxiV29oUnRrckZWQVdMTjg5eDNHSWgybjJYcGk2Q0xhbWk3bVp5RWxtWEl6UDNyTkh0WTBHM3BacWRmN29WVE1sS0xmMmNjRW4xYjc4Sm9TaW95S1NKOG5hSnBWYlF4V3pEdUluZUlOa1BJaW01ZjZmWkZYcERZcmZUcVU0VUw5RXJGN0tGMnJ5b0lwNDhtK29hZzF2aUFUYUJZMUJnVE1PQmw2Uytha0dKbHN4b1VmZStvVzRyc1lPTHE5dzlLTjNGbWgvZ0J5Z3RCTUJ1R3lKeEo5NmQxWDVMVkZCcHN5bnhaSFdZbW8wdzFsMlQ1UFJxc1grWGNFRC9wQUNWSXdtZ29KeHkwVlBqYVdVSTNhS21FRWt1RmxrWCtLRUY1QmlXemhIYVBvWG1TMjFvUW5McEVDbnNoVFU1aDJDTjNpM1F2OG5WSk1xMnNReWNEWjVyTkZkZGdUZVZMRGJndkpTTXlBOUlLU1JqbVRnQVNYcVZSeC9neFd0L0JJSmhJTzFvU3dxREVtUkNqZ3lVUnZ1SXlHMTlWS3hXME9laVBpdVM0cXEwaExTMGc2WEJCdFJYeGhKYXVDTDZRc05raENSaFFqaC9KMFd2U1dwemd4SkhxZzJEQ2Z1a2tpY1VYUGxtaUhSNUdacytXaDYrbERpNnpPd2hIMHpRVmR6Qjk4OVdWaHhtc1M5YmhOODNvQ211Z2NGWEJ3Z2xmRXpDYXhtZ2hXNmNPRmZvYkhLeSsvRk1jNE0zWWxVU1lieUs1QmUrNUNNd0Frdmc4ZzBiQ2R0SitDUlI2RDhYU2kyRDlkL05GbE1rTmdsRkRJNnRlWDVCM1d1UDBFa1prZk8reXRCWU5FaU5lQVV0cFFvOUVqOHhoOHF1RXJQWm11R2NpZjdDYVlyeGx6UUpRMWMyVytkcml6cDlWVTUzeXI4RHBSQTN0YUp5dTVqQmdlcldKQ0dWMitRelFWTFJQUm00cGYzaHBqcERWcFRiZkk3aG4xZGdOWFZ1dk5BOWRkbFdMZlJtdTZncDh0c3lhUStOVzlVZ3VERWhmYm5lS0NjVSsrOGcyaUJmMFZtenFuT1pSU0Naayttc1Q1QzZseG9qTnZvRmhNNEZqeE5oUGowSlJKU0FNTnkrekZRc0ZSZGNXakMyakJJNjFDTnI2V0xDc0E5blVWSDByL3BBZDY3N1BFUWRrcFJ4dEYxbW5qUVpDM1pJY2tCU2FGcCtuRUlXOUw2aFMwVThhV28zUk5NRWUvbFdFQXlNMlN1QllDOHhDYVV4NHhXRWgyY3ZNWk1jWldGYnRsM2FRWDFUbzVaT2lyem1aaC9IWDRRQ0YzVWg3bjAvUUYxVEVYUFRRMERnemlnT0R6aTFxQW82MXNJSXI0LzhNazRQbEtqVHhyS1Q5Ty9oaFdiVSswdmZGNjRreFNPNVZXUWZyZFZrMzR4c1lucjZ2YTRyTU5NenFRMFcxYndvQ0J3YWRHTFlsRE14K1NTUEN6TlpGQWZPeDFVcFRIQ0F6R2N1cEp4NjlIMXBNZVBncXl5UkRiZlpsSFZaYTM3NWljdWFLaFloNVVncGlNYzAvMjdKY3FxTnhEZ3hNUm9OdG1uMUcvNmhESGRGZDg1QS9VTVVSeTJwMkZSYkNVZ1ZPQXNPbXE3b2FIVFdkUWs5S0txeFVIQXQ1aGxyaEtNUzNOYzZHVWJQT2Zzdld2SENycmM3ZkVQMWFJUWdUVEp1VzRhTGg5VDZTZE5oYVduQ1JNUW5VZWp1b0tjMGxXQlpRcEVoa1JmSk5hcHdGbzJrWnF0QVlaRHBLS2oydTJPYWhBS1NLNWJJbE40cWUxWDVSN1ppRnNxbFFGT1ZVUmV0bll0QXp0cXRvaTN2U2J0K1U3Rk1hWjJCc21UT01lNzFpa0RlUFJBOTRuR0oyRlYxcEdRdks1d0c1cW5hRUErcklJNmRZK2xDRUhxcGRWaGJ4b0RDckxoblhVaHFuWWJTYzhOWGdRcHlnL01heWJSNE0xTEhza0JTMU54bWlnK1FBK0lLbXo3alNnaDFRd3NTRTFGN1VQY29kb3dxNk12OE1PWHJGdFptaGNSSkcxeGhQeDFxZ3UxSVh4endvbGtIdTk2OFU4YTFwOW5TbHBReVJyQVFrSlhjczliWWhOZTNhcjZVYWM2dkFSc29PWDlVSWdBa1liV1BHcExYNGNKVW9FR2J0U2twaDlpYk95S0o4NktnQzRraW1WWmZVcjBTS3NHUklteWpPbXlKeWlMT1VYQ1BMdkk3VkZWWGJ6RmhWNWYrRUNkS21YV2hjK1M0YUpRR2phNDRGTlRHdnNFNWs1dTVXQmhPMWRhcTIwbjJZZUhZNjNQMHJIUVhtREg4Nm9xMlpJbkpRYUNsWExNRzZhcHBodmJyTU4wd2NwbHJ6ZjBKZjFXRkdPcVJwdWlwTXdzQ08ycFNETC9CNWxZVDF3SUZtU2RSakVtUVJGbFpGc2JEZkNnUnBNU2YvWU80MnFRSFRrSElGT0wwQ0xTUCtpb25ETEVZNVo2Mm9SQjVKYTRRcUNRTmxCYkhMNXpVdWJCUm11U2tRU1l2UVhjd1pZSkpkd3pKYzFNYXNEU2RvSXlYWGx0bUs1TjlvWHBRcVJ4RVBRTTJVZDRmcTB0Q2tjU2tZbUUwZGJaUWlicDZtaEpaRHJ2TzhsaUxKRmVUaXVpZ1c5b3NWMW1FL0RZSmwxdGNCWXRDT2RLVlFYUFhtQ1B2UE9JSWRZeDBLUTBuV1NHMGpiSnMxRE5SZUpET1FnR0hrQittVFFUNHVZaG16MVJhNEJaNU5PT2Y4Z1hlTUluRG1PNEFLeEZacXlUZ0xybU5PVlFPMXBsclFPZFZheE5NRW9GM2g4Nk50OGNtREFzdGhBT09tR0gxTEdPVG1PaThpT0pnWDlUSFBUUmIrcGhNQ1VwR2RRcERRdngycEtRM3RPZmpiSWgzMmhPcDFuZ0JlMEcrYnlWTWY2U2hrV1NhTmd4aGRHRkRyRlE0QVJwaDNhQy94SXN5emtEOTZrS1U0cm93S2J5M2doK0syWFpzdkRKbWFnYXllRm1WRXpnSXlWVSt5dnNCSmNaZzZ5ZGhzY3M4MzFNdDBiR1RTeVNteVhta1lvVFQ3emN0ZHdsV1NBVGZrdmNvaGJaM2paazZxTWE4cTVJZld6NGdMUTJCbG1hdUErRWNaTlBReDhSQW94c3dCWVNkNW9TQW84djdGVHVZc3krd2x2cE5yWkRqVE1IYkVLcyt3eFFhcHc2UUlCK2plaGUvS0dmWXlQOXVFU2l2eWhpbjVsVm9RNDY3Tm5OU0J1WDhlRy9JWmRSMzVkeDZXbmNZaUhhL2JiSExQdy9YUEU5T3RONkI3bTBHd3ZFcWxGSXh4b1JUdHk5QUQyRkQrWlJZUjdnaDE3ejRCNzdzWlRQU3BycWowOHBmdURrbUs3SUd2ZjFtTzhaSThkcHo5cFRWb2cyelRDVGRzdUY2ZVFrcGRGWEJiSFFySkx2Qm9oUDdTdklNVmxwcWFockhBWGd0bTd3UzZFdjdsN0hpazlISXN3di8vS04zZTJ3NmErQ3l1cFdLTFFwQUtvWExKeXFpUGZJSk1jMmJJTW5aVU9lN05teG9ZcnM3ZXJTaS9yYzIrWjFjWG1COW5FTllmbzllQzRIcUVzcDhXY1drYXhteUkvMGJGbmRRMXJCZXBNMW9RdklQaFMyK3F4K2V4OHAvOEZnVzJ5emJ3WDdJZXhjZlJ5cXRpRjlILzBzTFgwdjJxTmVwcGd2UUxxd0xaOFpEMXprZjQ1enB1ZFlHbFB6RUloQVNGejRzM3VPUXlZWXc5RnozMUd3N2pvK0haT3Mvd241ZnZqWjY2aFhJekQvVVRjekZFUjV4N0lYNWRRTFhHbmYzY09mYjB0K2V0bXFLejczMnM5eDIrM09YbitsOVJnemt3L2cvVHE0R0xvbWUrOXdBQUFBQkpSVTVFcmtKZ2dnPT0iCn0K"/>
    </extobj>
    <extobj name="334E55B0-647D-440b-865C-3EC943EB4CBC-76">
      <extobjdata type="334E55B0-647D-440b-865C-3EC943EB4CBC" data="ewoJIkltZ1NldHRpbmdKc29uIiA6ICJ7XCJkcGlcIjpcIjYwMFwiLFwiZm9ybWF0XCI6XCJQTkdcIixcInRyYW5zcGFyZW50XCI6dHJ1ZSxcImF1dG9cIjpmYWxzZX0iLAoJIkxhdGV4IiA6ICJYRnNnWEhSb1pYUmhJSE5lZXkxY2RHaGxkR0V0TVgxY0xHUnpQUzFjWm5KaFkzc3hmWHRMZlZ3c1pIVWdYRjA9IiwKCSJMYXRleEltZ0Jhc2U2NCIgOiAiaVZCT1J3MEtHZ29BQUFBTlNVaEVVZ0FBQXRJQUFBQ29CQU1BQUFBL1loUVhBQUFBTUZCTVZFWC8vLzhBQUFBQUFBQUFBQUFBQUFBQUFBQUFBQUFBQUFBQUFBQUFBQUFBQUFBQUFBQUFBQUFBQUFBQUFBQUFBQUF2M2FCN0FBQUFEM1JTVGxNQVZLdmQ3ODJKWmlLN0VFUjJNcG1pVmxleEFBQUFDWEJJV1hNQUFBN0VBQUFPeEFHVkt3NGJBQUFTT2tsRVFWUjRBZTFkWFd3Y1Z4V2VkUkxiM2JYanFJSUhFTEJXRXlUS1R6ZUtVd20xb0RIRWZTaFF4aUpOQmFWb3JTb3FTQWcyb2p4UUhycVdFQ0JCSkxzTkZhaEk3RUpiMFJaYUd4cEJLMzUyaGFvK0lGWDJRM2xBRmF5aHRLQUtkVU4zVGVLUzV2TGQvOW1mOFoxMTdxelg4YjBQTzNmdVBYUE91ZCtjT2ZmY016L3JlYTVFSXpBK014L2Q2WG9zSWxBaEJ5eHljNndpRVhpU09LUWp3YkhaOGZQQUlXMFR6eWhlby9jUUZPYzlvdkN4MUo1NjdRekYyU0Z0Q2M5b052c0Jjdk1MZVlkME5FU1dldllmdS82ZnE1NUQyaEtjUmpZT2FTTkVsZ2djMHBhQU5MSnhTQnNoc2tUZ2tMWUVwSkdOUTlvSWtTVUNoN1FsSUkxc0hOSkdpQ3dST0tRdEFXbGs0NUEyUW1TSndDRnRDVWdqRzRlMEVTSkxCQTVwUzBBYTJUaWtqUkJaSW5CSVd3TFN5TVloYllUSUVvRkQyaEtRUmpZT2FTTkVsZ2djMHBhQU5MSnhTQnNoc2tUZ2tMWUVwSkdOUTlvSWtTVUNoN1FsSUkxc0hOSkdpQ3dST0tRdEFXbGs0NUEyUW1TSndDRnRDVWdqRzRlMEVTSkxCQU9LZE9wZzQ0ZVdSamdvYkFZVDZZemZPRU1tQndVak8zb01KdEtGNWdHdnNCRnJoT244Y2l5NmJTY2FTS1NIeUEyZXQ0K2Npb1BPVTZRYWgyejdhUVlTNlZ5ajdIa3BNaDBEbnJjUmgzUU1tQ0pJaHNpYjZFbVQ4eEg5cXZuUlgvK0RPS1FWSEwxWGl0eE1nM1hEb1VPQStZaEQyb0RTSnQyanBNRjY4MlFUSXRvMU5IUGsrWEdIdEFHbFRicjNrUCt4M2hKWjNZUktkRG1relJoRlVoVElMT3NyeFhsVDBpRWRpYU94SXkzZjI4dkhpU29jMGtaQUl3bjJDemZ0QldRdWtraDFPS1FWRkQxWEZzaEZmZ3lKc3g3ZlVVakhXb3IxRE5pV0Q4aVJDK3hZZUpFMU01T2RnN1EvYUZFU0FPWVRJakNjdTVLUVJ2QWZ3M0xNSTdaR01VWkV2Z09WcXBucmpySHBQd1BwODJYemdQcEhzWWVRZVNZTks4QURackU3QWVuMFhhOWQrejBBVFVqai91dGVzZTJzVXdlYnQ1bHg2a0pSSTAzZUNzaVh1L1MzTlptUlRyLzRqanNmQ05iYWp1dm5MaHhpcUN6R0ZQM0VMNTY3OXRaTFJ1S1JnUGprSTBheUxnUjFJcmd2RVZMdTB0L1daRWE2emtZNTJYWmNQM2ZUWkdicUJDL0hqd1l4a2FZZkJTSGtkWk9lbzM3emxKZU5sMkJ1NCtXVC8vQ1dpalR1Tm9MV1hUUFMrUDRSaXUxcnRsV0xCUGIyTXJXTjZjd3NlZER6TWlKLzBaTWE0U3ZOZUVMQjJZejBiKzg2QktYbmU5SmlBSWd6ejkwSkcrRUJiN1E2WTJTRGR1YUZ4NDBtN094SnNWUEpmNHduRkllYmtRWlJFT3Z5NkZSbW0xdGcxdE1HRlZiSXh5aEZjUXZYN0RBaHJ6NU95Nk9FM1E4d1NJcUxkSnpMd3lTcTcvMUFlbkp6b1NPRTV6dHJ4bFBTeVdlZmpPMWczTk9kM1IwdGNXd2FIaW5PNWRIQmU3c2JFQk1ZcHBlS3lGeE14TExLMXZGTVNKZUtjSHF1dGF2clhoeWtjZEpNL3E0cjcrMXV6RW9zb2hSSkIrUXc2OXNyQTdaT3lwUWY4c2U4MnBpblpCUFNwZUxTWVExZUpDa2xqK1U5RURCTk0rSWQ5bE9YV0VUcGZaVmNjdXlSK2M5T1Nub0xzTDFVS2RrU24wdzlyMGJFYmNSSVVzWTFqazFqRFRUSmlIZllqMjhLcDdPU0FENDNhbXpqWjZiYXk1RXlKYTZSLy9KakN0SzNScEl5dWpoSW0vMGRGemxndjhicEJjNURlRVVndmRxcjloVzVjUEhqWGZGeGtNNUtSOVNyTXR0TGI1eGVjTFV2Y2hXQnRHSHU3QnhLVnN5aW83RXllZkg4dE5IZmRhb3hDQzNHNlFVV0pDd1ovckhhcThvVmNVSHNOODBHZ25FY216YjZ1MTZWN0ErOWNYb0o1SnptZ1hTdVY2VnE1QTEyeUlSMDB3WUdNWkEyK2p1RGlPM3FOazB2V0xid3h6Vm94TmI3WFlZbGNvNk5iRVZFaXFaaHhrRGE2TzlNTXJhcDN6UzloQmJyT0NtVHZXbzV3WkdHSFFvWFpHQVFBMm1qdnpPSTJLNXUwL1JTMUM2anB1YkcrTXJ1NDk1anYxaG1HZytNZ2JUUjN4bUZiQStCYVhyeGRVZ0Y4NS9zVmNreFBpUFd4RzFiNCtFeGtNYWxWVFh5R1R3Q1hOYmljWXp1dXNFcHFrZEVDMXZ3MDZOOEp2VHBFOVJ4U3NZTUkwNTRQRThVUjE3L2FJRGttNXRKdzZXcXprUkpPNUxORG1udEsxM0NQbnNwb0xVOVlnOTMwQ2NqdW1SelBYcXBLa2tHY1l2cGhRY0hFY3JWUW1lQ3ROaGIraXRueUUxZmlqaE1OeS9RdTRmMWVDYjkrS012NHJwNS9aM2ZlVndmSDZxbERnYWZXdlk4WDRXZHJPK24xL3JOMndiYXlLOCt1djQrajhiSWkySXc5d1FmeFRqYUNrWStMWnF3ekFzOVJ6QU9DNThpNU1ZMitvN2RNZkIvaE56ZTBkNmxBWjVEbG1xWGJ2eUR5akd5VVc3emQzanVvdUdUUnFmbVhUaHNTMVA2V2RMMGNYZHdTZG5wbjhpTVRDVkJvNit1bDVsZWdiNmFFVm1ISEdTQjNGZjJSdTgycjJXS3pZUGFBVzA2MWd4cHpreGRmM3hxSnVnMjVjR3YvTXZMK0RlMCtydGhzdkYyei91MkwvSlltL0xmbnM0VmNtbmVlNnBSemtyME1oaEhVYTFNTUp3MXFoaENBV1hIY0RUVUUvRHlDUGt3cTZ3b0x5NTcycmVqTHpYdktMYzM5cjZmTGpHSlY2MjMrTHQwdnJGS2VZMTFPemU5QzBuZ2lNY0kwN0EwVzVmVFN3MFBDK2liS2tnbVRWS3hZWFRSeGwram9CMTVZZk1qR256YW5GdzVLMklnLzI3dDcraXJkN2R6a2NVM2toTjlPWnd6QVk5djk1eVgwMHM2T0VXZDlvYmdDcWVDZmMvRENsRUZlUk9ZcktUUUlYNFBGN3Y1cW14TGRBc2ZQc3NFVkhCbGFaRzVacG1MM1dlOHRqaGR2MzhyQWo4NkIzRVZoeWpHRXlyaGxoVk9CZU5TSHJBV3VsRmFrYU05cVNiVVpNZFFJeUo4d1JTdVo0dU1uQUdHQTZwL1MzbmlOMUhsNlJhNlJIZmdmVy9nQW53WnhOVXVvR0ZCT1dMcFZBcXc2V3RFeVV0YVVPYUYwOENkTDI1cWllckw1Z3VSNThMRXFPLzhpTFcrNTVYMHBTYzB3UTJNeUZKTldGdk52aWJ2REhvck1wd3V6YUU3cXdiaEM4M3pyZHFlRXp6R3BjZXU2TkJFczArZ0JrdWU1R3hoSmRwOGF5SkRpR3RUT1RZaFBSUXl0bzRCZTRzSmFOaWRwYzUxMUlUWWNXYWpLdHVFbUpVN2pUWWxwZjN1bDZPRnpaL3FMc051S3pRcmM0NHQ0WFJkZ0libmR6cWVBRG5VcHJ2ZTdWL3dqWUNDUFpNRTFaZkU5TEtmMllsSytpUElZeGNyRGZLcWZJUjRMSStRT1ZIZkl5L1dyRFJ1MFpIUUJyTGxkSUdxVGgvNHduZEIzOE1KaWI0c3RoVU5HYXFybE5jRWZTQVVnNkFiRk5qSU9ib05MMWJRUnVacEk4cUVyQTdQdk1wYmt2MUZDRVRuRVZxa2FteEhOWi84WkprMUROaFBJSEh5UEZ6OVRMa2FCUmIzWmhtK05Femx4a0tmelpES3cxV3FjQnBJejhyMmZteFh0RytGYW90S0pPWnJWUi9BQ21adk5hZmtSYld3QmtXQkg5MmdvRFpIdDBCWERXVkpCb1JvaDQwMS8wZ0orbFFDdlZLRmFsVWxGZTJmS0t1OWdhc0FKdUVrUEUraTk4dzgxTXlxa0FST1pabnFqV0ZKLytnVjFhWEtiSjZRMnhnSkpVdTZVQ2NtWlVDMVZWbEhzQWxUK0tMYTNYcmx1OTFqNzkrVkpVc2dFYWRJY3I0dEtpZEJQYk9lWHJ5Y1dyZ1VSR0M5b0cvWG9sZDdEQnJVb3ZRcldSbSt0S0NhSHM0S1UyUGRuTHZWaDNTdFFVRDNJb0o0Wm5QZEtWcGJXN243R3JLVzZRVUdUclAydE9TRjA2Z1FvdklKUVNpZ2s4dUM5ZjZZZFUxZWVrdzE1Zm84NzJFeHpzOHlyYmYrTXlINGRHejRBaHFNSXlsYUQybFJJUnk1dFV3dk1yUUR0WFFhV1oyZHBvZVZGYU9LRUtBMFVUMUpWR0M2TXZSUXFqRTV1Q1o1cVY2ZTJHRmZNbXJkTmo4dCtXNEZhWHJsendzR09INU84dkt3c3A3bU94Z0F2MnlLZXFKSEVDNHRIa1JJVWZFeXg0OUk5amV2TktQK1RsM1JFSHBXcUtGbWsyUVY2WTA3N0ZpOXIxSlJjeUI0TEtuUVF6bVZGWDBtTUk4cVJ3TGlNUUYxZU5pOTZSR2ZHc3RDdVJadkRhZkI0bGtCZFgvY1dIeWRLU1VBVlRtQ1FuaDZLYXBaSFNkamxqRkYveW5CSFNkbFRWVFpKdlVTRzZNS3NjTjlsdXZVUjBnMWxHcFN4cnQ4cHNkaHVUOUEyMG9vUnlCblBxWmVTZG42aERSbElMMHNWTTlwbnlOYWZuYVNqbEgySnpqQzhFcDFTYXFtNUtWL0ZVQ05mbHhiU21UTVNsRkhkaXFSeEE3VmpyZ2lBVnhSOElKVVhRbEswRE1ZNHByYVM2d1NUcFFxMVVMU01pV3R1bTRlN3g0aW8vVnBUWlJvRGVpZEV3SmFwaGNFRjNKQlU1Qk9CYlNDRks3N1FxZGE2Ri9zYkxYZGdzbFlyVlNWYW1FaDRWV3ZiSmVCS0l5aG8xUWxVYkxidW5UQ2Jka2FxQ3VuUE9WVXNncHBUSWhyU3ErL3lCcnlJck95bnR3V1VsVFl3MVhMdkpkS0cxK1ZNblA2Vk1nbTZ0eWpTaCtzZzZxUjA1aUo2ZVdYWmRxT0lPOHczYUx3Y0hwc3phc3BwRmVVRTZkdmdON0M2ZWl0OHo1b0RadVdjYnZ3ZC92b3luYUVOQ1hVTlozSkVacDUzcUVvblB2MmNBaHN1aXJVV2VMVFM1NHBqQlhwSkc4WFRtVnBtc1lwZ2pUUWN3Nk1YMTNNSGZPVElMZTZnZWVTZVg2eHVsbzZCd0VyK29LYTBPa1pxNUl2ajFsQmgweFpOdk9sT1pyd0QzT2NzL0FqMlVXYXMxTk5hN3pHN2paSy9HSDl5N0k1dVMzMGthRUZ6SnVDRE5VOCtrZ1ZyZE15b1FqNC9tRDh3aFFrT25VR1pJb25FaWJVR1JCK3BGNmxIcVhNdEY1U2Q1ZW84MUNKNnRHUVQwbHVkUEJSTWcrR1V6OExRYmtxdjB0eFdBaGRrS3ZiNUpUWUF1ZWFXcURnbXdMVURReHhKd2lrRDNCMnFFMmk1cS9pMFNBeXo5cHlJYVBCK1pGdU02VnFqQ3FwSHgwVlFmWWFwQVR6L0tHZkt1cTBaSlZENVB1RDhhc1JGYW1NdlR4OGc3a0lXNGRUcWVMcXhKb2RWK2dxMVJwV2hSWlJjdG8vN2xNM0pHVm5JdHVjOU5OMERWTkYxb1dtRXhDUnFPa2kzeXduSXZqeW1FTERVNXdEM0FBMXpzbzAyMFVnSW16YVo3Vmh1bExKYzlxSHc4dVdBdmtRT3dBL1dYbUliRWhtVzVQaVlRTlVvU0dhVUJvbWphb1FsMUlyZ1dUa2I1RXI3SE9TSFlwNW5ObEtibzd0WW9hdnNncE9CYlhrdlhRV3l2SW9yaFFPNW1wcUNUT3E0MXgyWkZJL01BTEdPa1B1WlVhd1JEVVlGNDROMVFYbVVwS1N2blcrZVRGbFY4N1hxUzJraGNZcU5pNGVaZk1nTS9WOWpIYS90Q2ttOUtyMXNoRCtRcDlHQ0NmR0xyZmlSU2dKbXk0c1VnVkt0d3MxeGdPMXNCRXRBN0paNE5mYUNLbldxRTBQYndpOVNueU5PRUpPczNrd1gwWDdPUE12ZFRJbmFPZ203ZC9JOTU3c1d4U2JaZlBCRUZBdTRZSVUxdnlRZUVJbTNhcGVTTlB0cnFZSW16OXk1eEhFd1Jjclo3REFMYmQrQ3haaXA3d3huZyt0b1BwVTIvZmJIaU4zckFMd3E4azZObjBwS2JxdSsxYUFNL3dRZ3FDMzhOQW5YVnAvSHRKL25DT2Y2NHNTV3hDU3hUc1RveWVoZTlvbnk2bWdLbGlNQitROVh2clo1cnhYd1FPU0syK3k1b3lQVndjdWxRV0oyTHlWa0dOd01Sc0hXcHNUM1BzbXdmZjZLTURwRWw1ZHFISkpxVHhwVGdXRTNKZWc0TXRqUFpvbkRUNzlQVWFhQVRjUXl2RW5BSkJIVWZRN2hNdGN5TWlaeHZmTHZLcC9UeDhNbXAvNW05NVB2dmJYVzV0Y2pjekxqUTlJY2FOL09FcHUrbEgvempma3dqanhoc2lKRThlUHpxaHdZSXcwajAyaFJWcUFWQS9iOFplRG03L085bitmUDdLcU8wNi9PN2laUFRBRGVQdnlGSmdXdlZOcTRSU2huT0FRR3ZHeXRsTkdzU1AwZk83dkR6QlkxKzkvNVd0QzRjd2gxdEo0ZjNsSGpHQUhLWWxzRUxuWWdpcVNCUFJWTmxjc0kwQ1hkcE10UElzRXdZUXIxaEZBSmwvR0M0SjNpZnpBdWhUSGtEM0hvUkwwREk4eG1RRno2TmhGSUJ0NkxKcHhMbXlVN1VwdzNEZ0NtUC8wSWdSTk5FdmdTaElJK1BwdUcyVS82bjh3Q1NtT0o1S2YrZ1ltaFNOTEUvbXVKSUFBemV2UGFyN0R6bmRvTU96V2NGT1F6Q21XNmJ4OCtFVTF1WW9sQkZyRDZiTXU3ckNFYXllYkpkaTBhaDBMbWJkcWRCVTdDRlJDTitXOTNNZnRNSFZjdWlCUWtHOEJvZThiamZrdUZLN0pEZ0o1SFU2bjJqSk5kZ1E0TGh5QmNEaGRsMDltT25BU1FJRGVkUkhoOUNQcXNlSUU1RGlXZUFKSnhCdVo0RUVIUjRJSTBMdUd5NHoveWtDK0JabmcwUHZNZWdKSU01R1BrZWsraTk1bDRpb2luQjczUTA4Njd6SU0rak5jR1U0WDIrOEg5RWY4THBLUzUrRTB6VE9KWjBkMzBlRDdPbFFBZkE3cC96d1E3OU9qdG4wZDN1QUlFK0gwMlV2VXFBRzVLMGtod01OcHBQL3B1Mk1YazVMaStQSlBVQzJuUzBqL2wvUTdiQTZZQkJCZzRmUUxOUDFmZ1ZIekpVd0NZaHhMaXUvNkNGdU8wM3N2aXc2UnhCQkFPSDBwaDllRCtLdW5GeEtUNHhqbllja2kvWS9hZ0w3S2RFV2NKc0FyMC85MVZNdFh4S0FHY1JBMG5KYXgzUUxxMVVGVThvclFTV2VuMlJkUlhEb3ZzYk9xczlQc0s5S0QrUnAxWXFQdkoyTVdUa3VCdmt2blNTanNieXZoaHoyS2NOVHo5bVU0amhRQmhOUDZuaFkxOERXSFN6SUk1UFhESHZ4akxtOGtJOGR4aFJYclZLbEw1eVZuRVBqcWhYellnd29waGI3R201elFYY2taSDZaaTJTVXgrQXAyRCt4S0lCSWZOSDI5TnBRcHBlbTgyY1NGN2tvQkxlRTBUK2Z4cjNQc1NqU1NISFF0SEU1REVHemFwZk1TQVh3bEhFNURRaDFRbHhPUnROdVpsc0xoTk1CWUFOTFYzUTVLSXVNSHNDMUxGWnB3bWs1RTBpNW5TclBUaDhNWTBLalBQYTBlUnNSU3ZlUExIalJkemI3VVprbUFZOE1SU0dOQ2JMWHBMQnFJZTIzY3JvR2MvdkkxZVlvcnVmKzZ6d3ZPOS9JUE1KRWovN1lyYXBkejR6QXpyUGtIakQzNjVXQlJRdXZHWFE2VGhlSFh5UXkraW5maStOU00vQm96UHFaSnY1MDNOUk0weXBjcDRQL0RVdFdjazduWVh3QUFBQUJKUlU1RXJrSmdnZz09Igp9Cg=="/>
    </extobj>
    <extobj name="334E55B0-647D-440b-865C-3EC943EB4CBC-77">
      <extobjdata type="334E55B0-647D-440b-865C-3EC943EB4CBC" data="ewoJIkltZ1NldHRpbmdKc29uIiA6ICJ7XCJkcGlcIjpcIjYwMFwiLFwiZm9ybWF0XCI6XCJQTkdcIixcInRyYW5zcGFyZW50XCI6dHJ1ZSxcImF1dG9cIjpmYWxzZX0iLAoJIkxhdGV4IiA6ICJYRnNnWEhCcFgzdENRWDA5WEdaeVlXTjdNWDE3UzMwS1BWeG1jbUZqZTJKZlFWNWNkR2hsZEdGOWUySmZRVjVjZEdobGRHRXJZbDlDWGx4MGFHVjBZWDBnWEYwPSIsCgkiTGF0ZXhJbWdCYXNlNjQiIDogImlWQk9SdzBLR2dvQUFBQU5TVWhFVWdBQUF2MEFBQURVQkFNQUFBRDkxSUh3QUFBQU1GQk1WRVgvLy84QUFBQUFBQUFBQUFBQUFBQUFBQUFBQUFBQUFBQUFBQUFBQUFBQUFBQUFBQUFBQUFBQUFBQUFBQUFBQUFBdjNhQjdBQUFBRDNSU1RsTUFJb25ONzkxRUVLc3lWTHRtZHBtMHJIcllBQUFBQ1hCSVdYTUFBQTdFQUFBT3hBR1ZLdzRiQUFBWS9VbEVRVlI0QWUxZFg0d2p5Vmx2Nyt5T2QzZG0xaU5ZU0NJUmJKS1hrNGppZ2MzZFBTV2VjTHNFSWtYZTZHNDV4RVd5UWNlOVFPUzVQM0FKUEhpUWN1SUVBcy9ENlY0QWVSNTV5aXljTGtSQTVFRWdJUjZDUjZkSTkrZ0JrVndBRVc5dVBibTczSi9pVi8rNnZ1cHV0OXZ0YnJ2ZDQzcXdxNnVydnZycVYxVmZmZlZWVlpmanJGeGNCSzYrY1BhTnVHbFg2V1pHWUwxeDlpcmJuNW5NaWtCTUJLcWpRNmY2YnN6RXEyU3pJbkNaUGU0NGEreDRWanFyOVBFUTZKenRPYzVWdGhzdjlTclZqQWhjWnUrQVFwRzlOeU9kVmZKNENQVFpDVTlZdng4ditTclZiQWdVMkprZ1VHT3owVm1sam9mQUpmWWprYkRIRHVJUldLV2FDWUVxMjFINEg4NUVaNVU0RmdKRnhpVHVOVGtNeENLeVNoUWJnV3RLL0R0MVZvbE5aSlV3TmdKbDlyNU15MVlXaU5nZ1JrNVlmUG5iRDd4U1B5WHhPK3lINGdseWlBYVRHQ3R2Y2doMEdIZjdoaUJnbDhQdkZiYVNQd2FXdEh4MWdmK3hJYi9GbE4wSEhqRU5NNi95NUh2cHM5a296WmMvOWpYVXdMWmg1cEordXF6MUlQTXVQNzUxOXVQTUZLYk9Sb1NYcm41Q1JUUkplSzY4eFdHRzhHZU1XdnFIN0FNSmRadXh2VnlCYmdwVC9BN0xEdjRGcGhWT3dXQkRjOWJTSGNId25SUGZ6L1FnY2pNamZ6YVpNRGNyYktIK3VPN3RuT0J0RmVQci85c1FCY3dNL2hobjd4a09yN3JvczN6YS80Y280Qy85WkliYVA4Ylp1d2IvQzR5OThUeDNUMXZkd2tSWWR0OS8zZm5NdjJGdE5UdnlwMjNwK2VEc1VFQ01qckM3N0ZpUDVUOUwrQjh4YXVjdkVmVy9NcGIvWlgrUkpmd2hFQW1jSmEzMVhOUVZRVjdteHBzbC9CdVcrdC9XVDEyVzQrWGZET0VQaFZQWm0wWHI3ckkzWlN1djVsUDlrWVhMRVA0WVovbHVFKzFhV2pGbzVIajR6WkwrYzgxUy81MGpWUnVZRlovb09zbmZmNGJhUDlUL0hRSndTNjIrWE5Qak1IbVhIMitHOElmNlh5SEFkdGxiNHFtVVovR2ZKZmtEOWI5SjhHOHJZOFNBM1NhaGVmTm1xUDNiNnI5VGt2aERLenJJRytpa1BCbkN2OEgxL0dkZVBmdldudUJ2VGNxZmE1WlNTampQaHpjNytLT2h2K2w4bUkzcWF0bGxTNDYvWFd0UXpnZm9wQlRad1IvcS80ODIyUmYyQ2dNbVZxUUxjdHh0OEJNQStYWFp3Ui9xLzFzZFBnRmVaNk50RG5pUEx6K0tBekQ4S2FjdU8vaEQvWDlpMU9Rdzk2VElLZk5WMzJHK20zK0c5RStvLy95d0YxeExEcmxiV0kxNWxqMHNnbkw3azUzMkQvVmZ5aDNub3ByeDlrY3Y1RnY1UWF2S0R2NVEvNVg1RFpMb2tEZjR3bmRIbjg3MTRKc3AvQnQ2dmRIWnNOYUJlVTNrMTJXbS9VUDkxN3RNb0FudDVoZHh1MlNad1orci80bzE3RU9SRzg5dFZuUDVsQm44aWZVZjhrZFhSUzR4cDRYS0RQN0UrZzl2WnZhRVVhelM4R2NHZjJMOUwrVjB3MXRRL1dVR2Y2ai9UY1VncW1JbGY0SXFLODB3cVA5YTEyKzVNNEUwTTh3RzdjeTAvNW8rYk9vNFZWamlzb0ZPK2x4a0JuK21UMXR3K3h2ZEI1MCtCb3ZNSVN2NHJ4T2RoOWtiSVJROFdqb3RFcTNrODg0Sy9qampxT2RjMlBBVHNPUG5wWHlxcEZuQkgzT3VYZFc2VUJVQlMrNTFiWjFJdmcwdWttSlc4TWVjNjY3Q0FTelJZNUF5OUZwT04rRm1CWDlzTXE4by9FdGtLRlpCanVNZVJuVkQ4dUhKQ3Y0QXZha1FQVEpEZ2NHNFlhWUhKakFIdnF6ZzN6YjRkcXl2UUVpTWNSZ3NZRXhZNFo4WUFzQmYwY0pDQVAwS2dRenRJdkF3c2N3eVJDZ3I3ZDg5YmVUZ0ZMQmYxYWxWemZpUUlmUm1aeVVyK09zMWQ3RWkvVGx2dWJidVkzelk5NGJtNFRrcitHKzRPbWZmak1RdXdPVWZrdVVCTnpRUG5xemdqd0ZXd2xuVSt6OHB1clVLMWlSM2FVaGUvTUQvdlN5VUJkKzRrZ1llckVQdWVCbmFQSE5RUDdtMGlhSmY4ejJYaTNjTnBmKzMySDJmcGEzOURoK1Y2ZUc4eGZPYkVBY1kxOVJYZGhJaUdKZE1YNDZ2NkFkeUV5S2wwenQxRUo1SEE5eVZIaFRyZjZWbFhaUi9UZG8vcndjMC82c3dCNG5UQVl2aUxaMThuL25rOS8raER2aXg3L2pGSDN3aW5UeWlVeTJJajV4dkJuMXE5VG5lOG9ObUJkR3BaekZtVzJDdmZ1aUh2eGJEN0hYMmtJUHUrTXYrM0R2N0NLdmx6Z0RhSHQxNjlJWjBkMjR1SHY5aWg1MHg5aVUvL09zalBpQjN0SUxxajdBS1NRU0J3c2ZyajN3dmdOSkZvU0JYdFlJYUVHTVZsQ1lDdzd1Y2VqK25CdEEwa1V1RTloVnBEZTNtMUFDYUNFWnBFcmtrNTRmUUZpcHBack9pUFFhQnFqUkhsSEpxQUIxVDZzd0VGOVM2Rnd4VnNpSXl3OW41WUdSTmZRWEwvampvK1NoN0ZrbzUrSno0Q09qenorVFVBSm9GakVONDRKdmh0TXVsQVRTazdGbDRoWDF4cnN1akFUUUxHSWZ4MEwrdDN1YlFBQnBXN295OEs1cGRQL1dBYlJFWjRUSy9iR3lZeGFIOEdVQ1hvTnFPdFBoWkdVQVhVVnZGZXRQTmRyQXlnTHBZek10ejJZZ2ZmSS9WakFYenl2Kzg1M08wYXhEb01uWnNubGErT1NCUW9IdHVZWUNyekNIUFZSWUdnZCtqNTJCd1FtUGZ2RnI1MGtkZ3ZTNnZINWM1WWFlWVVZWmlaSTdsVFhjbUxUeG56UmhVemxHU3Y2d3g5dCs2dk1XZjd1SDdvQi9hMDg5VC8yTjUzK3QycHlaeW5oSU1CRnpxVUNvL2xNRWRGVWpUZ1hGZEVxQy85NmFqY001aUQwYVBQdmdZVTBjQkNuVytXZWJPVGYvSmpJaW80SHkzejFVaXBsMUZteDJCTHZyT25Sc1BNcjdmcVRZU3U1NytaSGFxS3dvUkVjQ3Bnbi9jZHB4TmNaUFBXb0k3N3IvNjFEajNteEZaaXhadFh2bEU0MmJxV0d2czEzaWFEYkdZV1VwdUlRZjFPdGFkVE0zbCtBVHp5bWM4QjdPOUdjajlsU1h4WGFkdWpJRzNHSngvMExDaUsrUnVjSkpZb2ZQS0p4WnpreE1WMU1jTldnTDUvdTdrRko0WVYrcUhuaEQxeU8vc0RuYkpUaS9tbFU5d0tXY04zVkFUdWVFT3A5U3hXK1pMQkw5YnYzZ1ltTmZGMWR3N0VKZUlnUzAxamFoWGVJS0crT1UrNFZvRWYzamYwT0gwZjdqYWZFVGhtTmJmT1JRcHJzZ3pabDQ3NnROL2hVTllIeEpYM2Y1V0k5REtpdE5QdTlQbXVZcHZFSGhhZWkrSU02N3IxS29xWG1CMkxRWUdQT0RqUTJyRGwwbnRPTEE5NWZMMEpTM2pIUHdYaGZxL0pYc0J5US9haFJnWWVOQWdhSjkxTmFIVGx5VmIxSTE3SXF6Rjg0NGp2Smh3M2JhZGxtamFsMzNyYURoY1hORUZSVlBmMVg3OUQvR1R6T25MYzQ3L1VLai9sM3lmVjhIZTNxYkdHZ2VOUlN6OXpQL1gzZ3lVU2pSS05QODV4MTlLK2JiN29WY05HbURSWG43UTJIY2dmYkNUME9uTDg0My9WU25sV3dac2hUck8zTHY0WThPcGR3QXVzRzF4TjV3YlorV0poY0NHbFBJREgvNVZBam5HWXE5NURsdmdPek9zUE1UaU5ZK0oybExLRDMzNDE0akl4MWlzUDBTcU1jQWUxT3BxODVGR0kvNS9WUUxmOCtGdjFIOEhseThaWFZSbXhmZWc5bGViaitManJsT0tMeHpBL09BZGY2bjZ6L1gvQTUxQS92TTlxTjJnV1FGL2ZXV2MrZitwWk8zLzg4ckhMbnFpVDV0S3l2c0FwdW8vMUIrditPZWJ3TnBraGtDWm1wZGRmbDc1MExJbDdWOVRVcDRvK3pJTHF2N0RHSHBzWjF6a3BtY29qdnQyc0h5YWwxMStYdmtFbFRHcHNLNVUvMkhzT2JGSkFsd2RnRnVZdkI4QXVjelgvTWVldnB5WFhYNWUrV2dnVXZqdnlFVVk0TDl2VXpmcWY2SEQzdDZ6WHpvdHZnVmpkZnJTZzhyMGo3cmRZNEsxWTZkMjFmOC82TEczdCsxM2psTS9Sa2hlUHovbkxXeUt6NER3Z0pNbnhtYVZHMDdXL0FEdXhRZlp5TDhuNVpwWU9jN1A1K2YrdXZGRVU1VTdqYityTDV4OUk1aXUvc0lyOFBjWTJHRGRWTzcrLy9qU2RzVnNER3BSUGs1Zi9qWjdvaEY3RTVzUEhGL0FldVBzVmE5NFY1SDYrdnllOTR1RFJ2My8vU0g3d0N2K0d5YzhQU3JOYXhYeTViME1BUmZZNXlGTDc2YkdhblYwNkZTRnhQQmwwZEF0dU9HeDVSRDF2OWp6YXY4WGxHVXVJUU9vajZzNUIzVDRkZUkxN3d3bk1TYkViZkZyWGcxZWtFY3JWMHVJUGM4RWpLci84SXYyN25KVVZudTE4bkg2VXVEakhNWGZ4ZXppRXV3UjFYdlZ2NENGMkRoSXZ5TVR3WloyU3BNVDlkK0JjbVRMK1ZwRlJ1MllPUUpOdTJUK2psQkIyb0VOTklHaVhHYTh0UmE5TWtSUUxyc1QyNWJuSUlkUi94SFJZMmplR3NtdmZ6eVBTa1BQWFhLM0taZVdMdXFXbUhSeCtsSjRLRHViVGIzdk51Q1N1ZXBIUkhIVmYvNDBzSzBUcURYWEhkZ0VsL0NwTEU4UXJibTdQWkl0UTBGZFlWaHp6UW1FZnN0ZFZzUVh2cHZraGRPaitpZzZSNFc4N0xub2p6T0Frc2laOXpaa3dUZUVtRWllMjBzS3lKN1hnc3l6dW5CTEQ2ekYza05XM3RUNjd3RC9VL01XSDE1WHJtM1hpdzZPK1Y5c3NKdDNIcjF4NDhISGJqSll0NFhiWXFOYk9LSHdtRWNCaUpsRFVMSUxhcGwxd3pQR0JjV05FMVpWY3EzbjIyQVZSZzFUS3pVdzgxZ1FVN3FlOE5SVzJvOVlsdG5uNzVOeDFKeXB0V1dvWHRLZEpwT0huMHBiNGI3bWlnSi9uQmxDTUVjNkZNbHJGTUtKQkxIanJXSWlEUzNoMUR2VmI4WWFRSFdFNmY1ZisvNHJBdXo3My96UGYxSXAxNldKOCt6UDlxWWpOUzcyVjMvM3RULzlsTzVjSXRKUUhTQzltTVJjc3ZqeXR4OTRwWDVLY3IrbWI3QU4rb1kzaWVmeFFqRnRtaURyaU45VlYveWtZQURsWDVaNjM4SWFkYy8rM2dveGZFM3RnOFVXanBvYW9GdkxybDJ5Z3FlbUxCTjBCUDE5a3Jxc3U1WFB3RXdpK2IwbFZ6SENPM1FHc3Z2bk9XTW93b3VFZDRCeWdQWXRkdnFNL1pFVk1NdkRSWUVQbmVraXcyMUJzZTJPT1ROa1VCZjBqd21GanRxNEFEbDBTb0luZWJ0azg0OVR0dVlHSFVNSEN6UHVXRENKWXJUMzJPaElPeDRTOWRqZlJFc2FKZGI2YXc4QUlycVZvNjBMMmsxQy9uejVZMXhleWdvVi9BRDJIZUhCZ0ZxSndxR0tNeURjUUM4aEpQbTlEOW9GckF2clZ6SC8yMkRmU3JyRmFHdTFYc1Y3UUJmWUpTa0htdjZBOW5FU1lWcHYzVEtrUVVJY0N3cndTRGtYalI1Vi81KzFiTk5sYW9wSTNBQjZ4SmhXZlNTajFYZjNvbkVjTlZiSm5tZzJkRy9vS0Qwb0twMXg4ZXdDb0QvTDNnQTVkemd1U1VBNEVlenJxTkVETjBxeHNldjZzUXlXeEtCRjZEbERhNmpoUzV6SDlIVUMvckxWRU5HRGR5WFJCcDF3eHM4SDR6a1pLNTJ1N2cyb2lHWjBxaERzdDFYczlSNWpmMnhTUHVtKzRHRU5yVjJaQ0xQNUdsWmZjd3FOTDg1R3o1KzZieGw2TWUwL0ZYRWdxQk5SSlR4cmdsZzdrU3kwcHpDVkZUL3lIY1orUWRqWVB2SjFJUEliYmltdS9EUFdhZHpPOFBUdk1NWis3bm4zN2V3ZW9HQ1pZWTZvcWpnN2VVNmhZdzB3YUphSGdpNG1mN3ZDTStNUDVNdzlRc0pkWDJucGprQmVqdkdpVFZqT0xGMWlFT0Z1V3lac2k0ZUUrSllrMGUvb3ZQdEM0dEtIZDFrNndPZ3k4S0xzajhIREN0NzhEK3ZSOTRBS3ZXc0NlWHZTTG5KVDRqcTQ2Mjc5YmRPUTIySzNidHlwaTV0bkVIZ2Q1aHFZWnVyN0pzS3NQbDcxRlpkSXNmYXJyajhwRHhDaDh2bklMYWhXVkNaazFLVzFGeEMzYlEwdnZEMXBsN0FlRjVEMzdFRm9QV1NZZWpKcDNRY01lcVlzVmZhQlhNc29XOFBDK0pJY21kbC9ZQ1JVcUN1ZnhRNmROd1Q5cHhPZktRWG1QbXRnRy9pN05MWklWM0FEWi9XZ2gxSDVYTk5hNTFGRStkd24wNThnWG9ha0FHS0g0S0dJaFdyZkRZcWVzYkFXMDlOUk1OYnhibnBNZ2xsYlB1TUNPelVaN3BBSloxZytrL0MzaDVlU0hpd2gweXRoWkRQeXJrb21kRDkxcHNiNVJIbEREenNoQk4xbVdkY1ZRVjRHZVNmZzd4bGVTcnBYWWRhZFJtbUNPSndsckdiVS82dlI5SkZwY3p1eTVEUGd1aXNvMk9zZElVUW40TzhaWHRwYTJiTHNhU0hrRi91S3EydjNGQXZEZFBTRm9TV2ZYYXZZaFlqcWp6TUJmOC93NGhyMXF0ck10RmlBSitUT1Y4QjJaSnhuaWMxalFxcXBYamZJQU9NNHlQQlFKTCtrQmNVa1loUHd4L0NpQ2lBSXRmVHczbGlLNFJldFVBMVQ2L1cvbTRSRXJQZm9ZWFRMSk1URmdhQlR0bVlGSWFRbjROL1dCWkFranBSOTNsM2xDYUdjZ1ZkOHRiY3ArQmhRbEJMa0RJQ2I1U1BSL3JjRjlXSFU5amtCZnd3dnNnQ1M1NVlhMWE5RjdWNEpGalVHcVJMd0Y4bitNQ29jMDJiaWtjK1EvM3VDUkZUeFAwbisyOE1MekovU3FGZGFDdkhQOTdtSW5iMVhFaklHKzJ0SHlPZml6emVlZUYyOGd6Z1MvMXVSN2JnVDJyOFlYcDU1OWV4YnNscmJTcDBZV0ZaalAxc1pDYWtxNmR5M0Z6RVM1STdMWjV5bnVxbk56Z3IvdHBMVGszTUt4MThNTHg5bW96cjdRSkFxU2Z3UkxJZVp5ZlFYR3FNbXBUTzN3cVUwWFRtQ2ZPNlBYbmMreWtaQzhOZWsvQmxhazdJd0RNTHg1OFBMSnZ2Q1htSEFQc3VwckVuNWN5M3E2QjZXOHh6ZUFmWjdqbE9vb1I2bTJpMFFuYlVoWTE4UldMY2tRQU5SejFjc3BUU1VXamorYURsdmRkNEhnWFZadjF0eS9PMWFTbWtvL1VXK1ZPci9reC93RG9DS1NNRmh3YTRuekVvYkV2S3lXR0c0eEI2UG1sYzQvaGhlbmhnMU9hMmVnTHdneDkwR1ArQ1JmU2ZWZnl5NlFGMU9wOGRDRURPSkJlcjZCSWhzaUg0bVRraEV3eWNjL3pib3k2cFVPNXQ3ZkJ5UUJ6eWkwVjlrTEtIK0YzdFlkT2tCcGpRNGdYeVdjb2R2SGRoRkRnVXVvSzlGYi80VDlFOE1MM0pjd1JkTGhLRzZ6TWVYNFhJMGYvNDlBK2E4OUM0NGJzSFhUS0VDdUdBN2tIVFZ5dXpnWGFkWXU0OHNJN3J3OW8vaDVSMUpDSkxvRUw0dDJQZWVaUTlISkw3Z2FFRDkvcVl3UUlCN3VveWFHRitnKzJORnJDZE5rNXZzVnhxUmxSOGtEY2Uvb2UxSi9HVFhYWjVUZi9SQ09xSlVGU1BKdnlvMlYzUUVQdGpGRWRFZVAxMytiZVphdFlmS0pQQ3pqVWRlbjRKSUtQNFlYdlFxTzNyYUxpZGIrTzdvMDlGNzF4U01wQkMxQnRUVm9ndDhjZ2FUYkRaSFJxeDE0azB4UXZFbjFpVXNlTkZ0cHNrV0l5VnFBRjAzenlHOEtUUWJrTlc4OTB4VjZLQW8vNkg0bzlIZlUwUWdmNmloTHdycFJjZmg2aitmdTNCWGh2OUVlcFA4SmRiL2hpdXFwOG9nRkg4TUx6dUtHaGxwcHFLL3dNakcraThPSmt2NW1TZy9rTSt1WFJzVmZCeURlQ2orYlZpWEZNMlMvNU5oTVhLYmF4SmovUmVHZVZkVFNZNEpJcC81VEt3WmpYTHhaZkk1dStHSVBEeTFiVk00TWpSUkZjc21mOUJrWE9uc05OSXdnVUkrWTdvbEhCZDJCelo2NDU2ZVE5UXhUb3RMbFJURHk1N3l0dHlad0RpeW1Rc0h5K2FMdTMyVTJOTzZabWNZUGV5Mm9zS0ZuY1pxQW1Id05jNTVOaVBXekt5OWFxcDZBdm5NdkFiTHJuUVdjK0hUcEZrckdiTXE5QlBUMmNMenVWd2ZCNys4UDhxa0prcHp6NmhDNW4yMmZUVXFNcm1sUU11S3hOaHVHWjBIVldFNjJ4UVpoSTIva0dsNmRvMk5kYTRxTkFYMWhVWUZ5L2RjQmxJeGdRNk1UQ3NiWGRmTk00b25ESDlzejlkekxzNytTUlI2MlltRHRYRGFaSHJXb2VOazJPeVpiUWlEd1BGeHpJVm1KUGN3L0NIVGRsVlVmbExpZ0NSYkFpOW51V0w0aEt3UUZrUVRNcnV2SVcxdW5GRE5ZR1hvanIzUXpFUUp3eDl6cnJzcUprYjZDUnVsRGNtTStQaUkyRFM4b0RDME81Z1hNL2pxWm9BSDlWTWZwUWdYbW9YaGowMjJGVVVUdzR0cnY0cHlsWnFQbGZrSGdHV3FrWEFUcUxLbEo4YUxHZUQ1UXN5MmoyNkVDODNDOEVjSm1vcm1rUmtLeEdJR3N0TXU4Q28xSHl2ekQraDZOQkx3NnphaFpMakJuRmVyVkRCUGFrdXhvWTBSYU5jOEJmdkM4RytiS1VYSHRTU0N6T1NyMUlMem1tL29nS3IveUhxSUN0aExsQVhnZjA4UkJGUmFWVEZaUU9UcCtqR0JIdDhFL0ZWc2J0MGczWXRrakZIT1RISTh0QmY3MkRQU1FUQlNSaGxPa21YSnRPOCtiWjg2azJvRWlSZUd2M3Zhd29Id3BOMExFNE1kbmNrZ2ViVkNrNTd0SDNCYnJZK2I0M1puSStsTkxkZmNlV2lONlZPY0pnNVhnTjM1a3dtMmZXSDQ2NDhKaTNOZi9BUGwyc0hZVWRGK2RMSmQ3Yy9TUDlxSWE1d1JmSEY5OUwxa09lenBvcU45K3EyVGtTNDBDOE4vdzlVNTBiMmFoSFUwSmZjeE1Hc1NkMUZlZnVwNG4yYk9MV1QrUmtwalRPMnZhdmtQaythcEwzV2tDODNDOEFmSGtpZ3U1ckJVaDVKK2dkZm9aZS83c2w1OFFIRUF1RzlUUG80UXdMNUlRMmIyZDdXRUd3WVlmNkpkYUJhR1A2RGRFenpDZU9YS2V4NUFQNllLeTBUbUJ1Q1BmdkxGR2tlYmZmUFBQNkZBL3ZldmlRRDI2LytuQXBMNDA5K0NoS3g3MkVjdjJvVm1ZZmc3RFNWbWdMZXNDSlVKL1pncThrNVlxdnBLTW5WQVRXSXRmZzlFYWo3N1VxNDVOYm14Q1RhVlZ0SlZteEN0aU5FdU5BdkZ2eThsS1ByQjR4YnBHaGx0SUtUOG1xOFZlLzRQUTNZVFgvbTg4ZUNkbTFvdVhHVWovaTNRT3pmcmllN2Rxd210dkZBUGFQNFJMelFMeFg5TlFudmQwL3hoakw3bmdnb2poU1diM0JmbndYTmRsUDFmZ2lSdzZJVm1CcHRRL0F2aUk4K2IzazlOUXVRWXlBZExaeGcxaFovWkI0Q2F6bCt3VWROUEtleENNeEk3Rkg5OEV1WWg1MHJQZTFzVVZmOGhtekluL2tueDB2WitoYkVHT3p2Mlp4TjZvUm1KSG81L3NjUE9HUHNTaWMrOVZQMkhNZlRZOC9wY1BmN0VwMGFmYVFhVU9QeENNNU1nSEgrbjhQSDZJOTh6c2FXUHFQK3d1NmJ4VlJGdmpzdjNIUFZDc3duNEJ4YmNxUDlCVjZrRkpqbDNnVkV2Tkl1RHY2ditCMTZsZHU2Z0RpcHc1QXZONHVCZkM3dEtMWWliOHhmV0ZYTWlLQ2VUREtEOUdPZWk5RXdTQzB6K3E5VE9IOVpCSlc2YzhGQ3NrMHl5emJTbTN6VmsxUCtncTlTQ3VEbDNZZEV2TkZ2Ny9OVGdFUFcvMkR2WDJ2OVk2TXBxcFIrU2VteWMyQytvK2crLzZHbXhpZVV6WWEwaXk5VWhodnJFU2tyVWY1eDNuVGpDSkpidjhoQks5MEl6by80RGtZNjdSclk4OEtUT2FkbG9LQ25zR25UVmYxNE9tTithcVpkbjJUTG9FZndQRTJlK1I2ei9mRE5XSmZFY2xweGdXaGVhS1ZpbzlaL2pmN3JrY0NYT2Z0dmQ1NGpGa2Yya3lXTlNaNnovbnF2VWtzNXJPZW4xVGpYZlVBOEpWanAwdG4vc282a1lDc09WL0RkZ1NGK3FGNXFKbzdSTmsrWHk3VXMzdktma1MvVkNNNGVmWkRPTW96TmtjZmVQWVhBQnZsUXZOSE9jTHAxVGx6MmJuQlpRM0t4bG1lNkZabHpqTnphOVlzUGFGNTAxS0JiQ1Q1bWFuQ2NiUUtmbWthci85bFZxVTVQS1k0S1VMelJ6c1BuSDNkWnRYNldXUnpTbkwxUEtGNXJ4QzJkdUs2N1dNYzhtVjZsTnoyditVcVIrb2RuWXE5VHloMldNRXZFekJuRGJNbWxiUENSNVBvS2Y0cWZ1R3pGNHpIT1N0QzgwNDRjYVhHZGRwZVk0L3c4YmRRMnFCbFc1ZUFBQUFBQkpSVTVFcmtKZ2dnPT0iCn0K"/>
    </extobj>
    <extobj name="334E55B0-647D-440b-865C-3EC943EB4CBC-78">
      <extobjdata type="334E55B0-647D-440b-865C-3EC943EB4CBC" data="ewoJIkltZ1NldHRpbmdKc29uIiA6ICJ7XCJkcGlcIjpcIjYwMFwiLFwiZm9ybWF0XCI6XCJQTkdcIixcInRyYW5zcGFyZW50XCI6dHJ1ZSxcImF1dG9cIjpmYWxzZX0iLAoJIkxhdGV4IiA6ICJYRnNnWEdKbFoybHVlMkZzYVdkdVpXUjlDa1VvYzE5QlhHMXBaRnh0WVhSb2NtMTdZMmh2YjNObFhDQkJmU2tLSmoxY1puSmhZM3RGVzNOZlFWeHRZWFJvWW1aN01YMG9YRzFoZEdoeWJYdGphRzl2YzJWY0lFRjlLVjE5Q250UUtGeHRZWFJvY20xN1kyaHZiM05sWENCQmZTbDlYRndLSmoxY1puSmhZM3RGVzNOZlFWeHRZWFJvWW1aN01YMG9YRzFoZEdoeWJYdGphRzl2YzJWY0lFRjlLVjE5Q250Y2NHbGZlMEpCZlgwS1hHVnVaSHRoYkdsbmJtVmtmU0JjWFE9PSIsCgkiTGF0ZXhJbWdCYXNlNjQiIDogImlWQk9SdzBLR2dvQUFBQU5TVWhFVWdBQUJXUUFBQUdhQkFNQUFBQjZkRmY0QUFBQU1GQk1WRVgvLy84QUFBQUFBQUFBQUFBQUFBQUFBQUFBQUFBQUFBQUFBQUFBQUFBQUFBQUFBQUFBQUFBQUFBQUFBQUFBQUFBdjNhQjdBQUFBRDNSU1RsTUFpYXU3UkNMTjNlOVVtV1l5RUhaMmJVZm9BQUFBQ1hCSVdYTUFBQTdFQUFBT3hBR1ZLdzRiQUFBZ0FFbEVRVlI0QWUxOWZZeHJ4M1hmM1YxeTkrMWJjbmZiMktncnVPQzJnaFUzaGN1WEJvZ1NOUUhwMnE1VkZ5MDN0WnRJY1d4dWxQVEpzT055VWFkNkwwV2N1MjRhdlFmSE5qZklIeW1NMmx6TGRwcHM0bklyb0ttUXhsakNDZXBVUmNxMUUxbHlaWWtidFhCY3dBR2YvT3hkNmtueTlKejVQRE4zdUo4a0wvazA5dy9lbVROblpzNDk5M2ZQbkRrejl6S0t3akYrR3NpL0dZL3krQW1XbWtSQklhbXAvbVFkNXhnZTN6a1o4Nm00NW4vK1ZPenBNZCszUS92T0RrMGh0SmVRUHJzR2hnZlo1cStjWGFxUjFweTdTYnNMa0tYYUdNZjAwQ0E3elZyamVMMzU3VlZYckh6OGZrSUtrQ1hLR010a2pyMDhITGxLM3g1T3UrZHNkWnBkU3JSdzMrR2VUY3NPeFZPeSt3aTVzMnBnV0pDZFpaYUhhTVQ3cVgvMDU0ODgrR0dUSDNHcTQwRmpqbjNRbGlKQTF0Ykh5SE5UZC82QTcxamhnZ3dMc3NYbi9kYzV6MmMzdC95Rkk2RHVNbzlnalFPNzV3QlpXeDhqejFVNFNoSS9ZdUFlRW1TblBPTXZ2L0MwSVZ0amg4a2JNTVZXTEdLQXJLV08wV2ZlL21CZDRQWGFGWDVjRmJtaFFyYkNIUGRRWFhiMmp0K0U3bE96c25ub3ZLVmtNZWY0dXlZTnFRQlpTeDJwWkRLSTByTHUrdjdmZ3F5SXhaN2Z5aTdXa3hPYWZQMUYzVmtpOGFjcFFuWVJMbnc1SVZGVXRYRWNJSnRVMGNncEpXYjdjSTh4ZG9NTGNXN0labUtXakEzTXNyWCtsd2hocE5TczdDeEFkaU1wMmlKYnA4UUFXYXFObE5MZ0dyeEV1ODdXNVowN0wyUXo4REM4UUZ2bTZWMjJtcUFaUW9xUXJRSmtMVVZJcWVyV3BDeEExdHlzdEZMb3dnbXJxaVNvU0R0NFRzaStMWWFXRTVETkgyMUdVNFJzRjhUMW1maGR5ek1Ja0ZVd1NlK004L1JMVnZlemNwSjhIc2grN2RkcTBLNEhzdE5IcjAvVXZhaXh4QnRXSmdaeGU1N0c1eXhQSmtEV282SVJreTdDbmRxMytweGlXengvWnNqT1hZYzJ4Wkd3c20zWnVOV2p5YVFIMlN5TFFlU3lFVVdsNXEyaElrQlc2U1c5OHh6Y3FKYlZmVVpDK015UVhSSnd4ZDhFWkV2OVFseENoUFFnTzhVcUlPK1dwUW1SaWFudERaRDFhR2pFcEE3Y0tMdkxITnZraFBOQjl2RFQwSEFDc3JsakJ2NzBJRHQzT0EzeWJ0aXE0TGt1SFlVQ1pEMGFHakdwd1ppMXd3Nmo1UzB1d3prZ2UrMkIvN2MzNVlQc2pIZFNiaTQ1UGNpMm44Y0lkVElvRjBVZEN1UUFXWE96MGtvMUdiUFhkd0N5ZStlRHJMZ1VMMlE3ZHBRemNkSHBRYmJ3bmFqTzJMY1NFa1hSTkIwckFtUTlHaG94S1U1RUkzUFNVVGl6bFJWWDRJVnMxN2ZBUks0NFBjalcxeU40ZWgwZmlVdVdZV1JyVElBc3VWdnBKSk5oMldoZTdnNFpCbVRqSXhjU0lqQjB2dERvQ0ZTVEE0Y1Y1MS9DamJjN1pFVG9BRmxiTnlua2ttSFphRUVhbFNGQU5rY05sdTlxVTRQc1JZRGxCWURzaWtlcUVoa2FBbVE5Q2hvdGlZWmxGM1o0MzR2U29Sc0NaQy9hMnhtU2w1b2FaQy9BYzRxNnVKR1VLZG9sRG5pQXJFZEJveVhSc0d4bm5mYzlKYWRqUTREc2tuZEtUcTQ0TmNoVzRLTHhaYmRFSUJtRXE1SXdSNEFzdVZ2cEpEdHdtMVRQM1JXZXl2eWlJQXdCc2hXdkZWUDl3emsxeURaeHd5V0VESnlBSHhkdGpzUlVBbVRKM1VvbjJTQjNxU1ljQXlYSUVDQmJzTmJyVlVma25CcGs2MnNnUlFHZTN6MGlqVXhPRXlBSHlDYjFNMklLQkhaVVdEWkxKc1lvUlFLeVQ5OFo5MzY2ZFZJQmZVR3VHcG5JaUhieWo5N05IdjRkalJNQjJjeHYxcTk5djlQUjAzZkZEN3UwS0VwU005OXpsVDMwbVNpNmQwc0wrdlJkZFU5VlhZeUpESCtGc2cyUXRSOWJ6clJnQnFMd1ZvS2x0bFF5TlJPV25hSnI2U0NNQzlrL1pPd3dab2ZsRThycGcyd2lpRFJmQXBTQW9XL0pSamxrRitvTU50WWNidEtPZmc4SXNOUHFiMUJhRkNXcFg2cXpCeDY1bS8zcXZObWU5aWJHcnRYWjRiNWQxYzVOYyt1S2p2MGx1d0J6NE9PMkZEVllXYVdKdE00MExOdHhsbjRjeUU2eG01K0lvbmZHMW83bkkrVDJRQmFXUkZ0V2pWeU5IWHp6bWZ1L3ptN3VDVHBDTmx2N1VDdWFqNjJWcUxleWc4OUgrWC9nYkRwTFV1ZlpMZXpoMlhxc1haQzNNL2JxS1A4WU84U0Nmc2NTOTJGUjVKYzlMTVQyQnNoNjlETlNFcTZySzd0U2V0SHUyb1pzdmlidStTTGRKR0pYc0hNZXlBTEo1bW15Z3pKU25tWHlrMGNJMmZ0dUlYN2h2Wll0TE9MSHRBVGNseTNnZWFpRmcxVlpRVUVXUnZVM0lLbnBEUVp3WnZocDhHdUg5M2lZb3dUT0VKdHdiWUNzVWxsYVo4VFZ2dWo4N2ZJdFJTMktEZGxaSnIvMXMrdXpRN3FTU1hnZ08rTzhkajJqUS9kZjZRa3pDNUROMWpleEViRC9MNm5HOGpXRm1WMFNKZk5RRjNRRXRhZ2cyMlZpV0lDZ0syOVh0V21maStLaXdFMGlpN09hcFdnMnhnVElhcTJrbE1CMzlGclk5OWNlWmVhK0NHRnN5QllscUtKWk5WMFRYSDEvUFpDOVFLYmVXSyttQnYvYzZ5VW1BYkp6Y2pkVjBlRDdKeFJmQkl0MU82cEhEN1hEeXJKVXZVc0FTRjBScEpyN1NFcE9mcEpEVFJmVUlaNGRXZ2dXK29iS0I4Z3FUYVIxWG9KN3BJOFZXd29Mc2hrVldKaXErMEtYZGsyZTgwQjJ5ZDVCQUJ0VTEwWEZodkloQWJMZGZVR3JtS1g5V1BGaEhFcnZEL1JRQzlyeFdKQld0cUdCMy9ZYVVOSFh2SHdRT3FBTDJiMG9FTDlkZy9ZQVdhcVlOTktBQzNQczJ4SllrSjFWODVLUzk4N243YXFZODBDMnFuQXZ1SGYxYkN4V3kwNTE5cTFyc3FtT1JnOUFlMVVTb3ptbXJMMlBHcHRoWFVBV3ZGTzFuZ1ZleUk1cXhUM1BTTnVLZzg2YVd3aWVybmxPQW1TVDZoa3RwUUFCcG0wNDdud1AzS3lXM2JjRjJiWTBkREJmY3dJTFdDa24vRStydmdleUZXdHlBM0NTQmh2akZzTGRxQnVJd1FDd0pScmNWWHlRaGRuVVdsOXFuanhPSmM0R0dKU0dISDBLbFJRTmtOK09GQVJhTndiVmxMZU4zQUd5UmkzcHBHcDZrdk1sZHpadngyV2IwdHNESUhybTFCZVV3MGl1d2dOWk9ubUtJakI3YXBBSHBBaGpDSkJWdUlKOVZaZDRjd0JvWlNraHJ6SStLZ1JRdFFDRk5VdzJ0S25HbWkvcFVpZXhLenN3ejQ3RlVKVlRPQ0FHeUZxYVNTRURXTGtodTIyNlBxcGxaV05wM1B5MnFpbEw2UlY0SUZ1d1FOTTI4Q3dwNHdhUVhaYU5RRngvalNlaElTVWo1TldzekVjRnlPN3pLdkN6dTRZcGVDUmJlTWFqWkh2U2dpaCtTNm9ERU1Uekxia2xNN0lFeUZLOXBaQ21ZZG1HR0pxTkZCWmtGYWFpMTN4NHo3RElGRUJsSTBIMFFMWnBqYnBGUGZKSDl5ay9FeUJibGkwQlpOZDVzcU93eTNOZHllcWpVc3RiV1FGMnVMNGVyNFUvQmVJMmFDSlA1UFVnc2N1STM2eVpsa3pOQUZtdGxYUVNDS3Q5MlhYbEpVY0dCN0ptWnVQd1JUQW5VcE16VXVTQmJORmlnNzUzRlAvdnYxYWtBTExxaWRDUUJSaHRLYjRvYWtzQWU2bFEvWE9TTllQdFFJakxqQjBONGphWTlqQzFvRU8ySFdiTXZPRUprRFc2U0R1bHc3SWdTT09HSTQwRldRRER4eFNZSEQ2MFg5YUlMOHFQZ3l5K0Q3SHFOZ1hkS0pLR2JJbEFHOTkzRmJqM1VndU1zZmNSTWNFZk5pL21WSWlUb0RvUjUxbmRLZmpYMnBrMlBFdkdXd2hXMXFnbGxkUVMzQ0hWY2ZlU1NzbXpCZGthY0I2OHl1SFFqR3BPUk1zOWtDMVJLNHZ2QUZCK25xNmJnVnhERnZoMkRDT0l6T2RLWG1vSHFPenc3N1FVZTFWRklwRFFadHJwVU9YeVhOVkJFSHlPM05FbWdqZHN0SHNSSU92b2J0VFpDbG1nTEM2TDN1ZmwyWTRZZEJFTTdFQ08zN2Fjczg4NzMvdmt4UjdJMXVnOENpQ3BnYURiZ3gxWEtnM2xHNWhHZjN0VEVSRStmQzdrcDJLUUNnKzFSWEtYUGtzZHF4M1RZaFIxYi80VmVkd0JsWlA3ZmdKa3FiYlNUUmZJRFlyTFFwYk9EU21UWldXZmdudUp4ODk2Qk82dStZSzF4MEVXektXR3AyN1VBMW1FWVZrem9OK01YcldmR29rbkMxb1dJSWZzb2Y0emlKcGxyVTJMVVJUamxla2orU0JCbjRvOVdGbWxpWlRPY0JkVmFEUlNkNnF3SW9XeElJdFdqUi83Q1ZGaGEzaHNwdFM2K0FTUVRjN29QSkRGZHNxNlZZUXNJdDFQamViclVzeURQYXhTa0RsNTZyV1FtRGh3QXhjOVdpNUhzTEt1UnRMTHc0MVNOalY2aXhTajNwSUpDN0xSdmZLbUpvZk4yZWNoV0tvQWI2N0ZBMW5MbDYzUzJieXE1b0VzK3J4S0pHQUR5S0xKODFPajZNdFNUUFlSYkxMbzgweXh3RHFtU1B2Z2Q5RDRoT0M3WU1hRFlHVXQxWTA4ZzZaenplbDFVWS9XTm1TamIwZ3dsSjBLMGU0NldqTnUxV2lSQjdKV2tLdDZRc2pDWGdJQ0tRVlpQeFg2ZjdZRS9IaTBJSE15eU02UjV3MGZoUTJvYVIwQnNwWTYwc3dncXBZZEFTN285VmdIc3RISFkyQlB4b0R5QUk1ZEMxV2l4ZU1ndTBTbWZscUdQbGEyckJsdytvVUlRMmdscVp6dG5kK0xZdkpZVmVGRVZyWk5SZzVZRlRHK2t1bzF4R1dWSmxJL1kxaTI3RWl4cXowRkY3SlIvbzNvS1dyblYxYWNnY2huMnpNWjkwRFdXdjBDeUdxRHJtWHdRQmIvS1daVE0wU3ltcDhxMmI3YWhEcUl3MjVTWE5PU1RoWEVQL0NJZkoyR2NpWExrbG1RQ0k2QlZsc3FDYmo5ZWlxc0JJaTNWQ29CV1FnNGxaSTN0TEhCNC91dXRmWnRQaXhRdklOVFNnWmsyYWtIc2hnYnNDR0xDMXArcWhJOWdyL1Z3U3RyZURmeGFDNlppTmNKcGVBUnF4UDJHQkFOcFpxc0pNZm1lYk1pNVlGc0JNYk5ySUJ5MmZPNDd4Q3d2K0plaWNmS050Z0xoZ3U5VVpPVEtROWtjYWplTVl6UUZTNW9lYW41RDJtK0lxOVVwVXNKdXN4SjRCZmt6TkdHN3NvbXkxTlZFNnNOVnRiUnpZaXpCUktXbFYzUEdVUVN5T1phU3JLaUc4NmF4cFVqOEREV0ZJYzZleUJMOXAxR3VIK1ZUcXRFTlE5azhSc3V5NnBSL05xUU1OVStxdnJNS0hEREE3SEZ3d3Q2WWNzMDRhVHdDM0xtd0lqRWlzbnlGTm5uR3lEcjZHYkUyVnJTMWVzYVY5VkFkb0hwaUdiYnRiS1ZqNExRQUpBYnJ1d2V5SGFNdGVMdkkxcm1qZGYzUWJhcE5zNXlqb2FjMGZ1b0dXSWY2N2piRm1SSStzdXVvUGdGT1hPZzJPNjFOSXhERXlCclZKVkdDdTdPeTNhL1dSTGhNWkR0R2lPNlJGR0hkZXM3OEFQMzJXbkkreUtOL2U0WFBEQ0FLblU4dm9jcEgyUXJWdGlwSUkyZ2o1cEJ5eXFQQW9ZTWNKR0F0eXVJWHlCcHhSZEYrQVU1YzJBVjRyN3dndkR1bDlGUHVpbjBCOWRzRVdhSTRkT1F4YnQ0US9LNTN5Njh5QjBKbUF5OVpEZmtoZXljNVZVQTZGU3JVRGN1WXdNK3lJTFhRWjRIQVBvcWN2cW9HZkxBTmZpbEZTMC91RmJHbXU3UkpLMURXWnhjZlE1djJMbzZTeXVQZ2FJdHUvTW1NVW9hc2pnN1g1ZDhWWUlLSkxWNWdBakE3MW9tWDhSZ3hvb1JBT2lNZmN1SXFaZ1BzckRnWWZqZzhjSFpGOTh0azZCbXlJTlRaU3ZBVlRXUzQ1UU5LeVlPNTcraHUzQzFEazlKWDM1NGtjWlJ6WWl6dURsMDArcHowVVJ6OEE1TDg0TmgrMzNKMTlBcFFZaDVBYndPUU1MeG9zVGp5OEl6c2lmYmdSUGd2S2R6ZkJibnQ3SlJpZkFaRjhSRHpVZzRZNnR0TGlpSWJwenpHZTlVYko1TzdxQWlvTnpSQ3RqK0xXd1NqK0RMQ2oyazlMc0VONGRBQ0tRb0VETmxJQXVUS3oxRHFmV3NHbE95SURtWStxd3NnTFJGcnJWZ25vU29MUndMbjVXTllCZlpqcW9HZ05vVWFROFY3TEdXcmlIOEI3cGhSNHdJcWlWMW5uTWdpeUdEUzZxUW4rR0JsSDJlRWJLL1ViYmFPME5tNnNObnFKUitsZXl2RGxpR2lqdWYvbkZHZlZ0dFphZlk0YjdzMnY1M1REQkowb1d0R1ZBcklUMVdGbDV5M1ZIRmNBWXJMNnVEQjduQ0M0amhoWlhaRFU1RGM2elhwMnJhbkh1b0FGblJETlFyaW9mcFBoTWh5OWVYUlh2MmI0RmVNeFRobUdKN3Q5RFRxcXB6Rml0N3NhZXJxMlpPZTE1eWZaWFROcEFTZjN4cHNCM0QzRVQ0aGJMWngrRm1iWm91TkdSejVvNVZ6UkRKR1d2TGdoK2FNaFZGeWdmWmtvRVVNT1ZqZHJnbm1LZUY4Y2FYc2xVN01BWW81RFIwcUFvYVhWRU1TU3BBOWtWWm1wTU9BWkNVbHoycmh3clZBcDZoUlZWSGtIR0p3MUlMckxRWkIrWXNrQzNxQjVOMmZLcDB4d3dmcDZvM1V1Yi8vZGxFZDArS1RhQUoraGtKejhLOSthNnArMmRmaDd5NU44U1hqVXJ2bDJ5NXVuMHpGM3ZQaUtOQWh1UW91bzVISFpwalBaNWNWNzBVbE9FVUJEQ3o4b3VIVGI1WGtEc1QrNUs1YTVDVHFiTi9MYWhGYldSaEFwYWdBajdWTS9la0d1Ny9XSm5aZlB4QjJUSTl2VHVHT2xUVitRSVFWR1hCT1UwOC9ETkFkb2FWYVk5blNsZU4xVGhUL1pGVUtwcGxLTlZmdHU1VHVpbzkxVG43NTQvY2hiZW05MzJmNHErUWlNL0YySk1vYldXakp3L0x2UFY4MDc2WGZLcUN6ZURSTWdJSWd2bTlvWW9xWm9UbnBLYjBacitJdFhQYm4wYVk5KzdaWG8xK2N2dUhzUG92Yi84dTUvc0p5ZmNQTlNTUm5LQUNaSXRpR3BpTDFWUUx2bzk0RXhxSExUTEtvbU5HSGwrNFd3ajVnUjFKZVB6VHNhQThzUDBxeFFTYng0d2RQZ05rYTZhMmJ2SzBpUk5CTnZ0SG43empycXRicDIxN1VQd3dSSzRtMm1wN3RKNWdPaEZoVnR5WXhLLzJHYUVWQTlsODZlQ2JRUGhxa2YyYzNYcUpOTEJwaWdpVkp6VmtsL1FvTFpnek1ldDk1bDN2K0RyN1VjampDcTQ0eXZ4ZjQzaGFqdXFQTWZiYmYzTC9YOGh2eGFxZVhDcDg2eTVULzFncml1NHY4WGdCNTROdmdoLzgzM2ZkMzNSY0dsN1dFUDBaYjBNVDZBRFUxaDVLY3ZyMVYvVjdPalR4OTVTRWNKNTJIbk5TZFBMa2lTQXJoTjg2ZWF1RDVZUlk2SEtpeFhsbnBwQmdPREhoSWgrMjFRM1Q1eDd0MDBBMm1xK3gzaFdvOHNOMkJ3dDZOYlJqaWN1dVgzdm9zandldkhMZHJCalFJWlkzdFZEamZiOFBNL084Mm9OWHI4TkFXdWxkdjNMNThwWHJkUW5aQ05DS3grdHNBUnhxRG5RR3J5WEFaK2JwV0w4WTg2by9ZbGZsdVVZUEJFVUpWMlJob3dmZFhrWlMzZmhNWGFKMng4cWlLK0k3eXJJOU9CV1N3NlVwUEdscUVpQUxabkE5ZVQwRk5kd2xpd1pQSVpDTnNzOWRaUS9mcytsMDB0SHpDcGplcnppRnZtekdjcGFSSS8vb2Uzb1B2TnJINjlEZWZWZjkyajFsaHhqWlZMNlQ2OW52WmRmZSt3bkttSDBPK3ZoTFNqbGR1a1RpSEE1a3N6OTRWU0MyZDBVYzBoU1VkUThaWXFJMThkU0pFMEgyeDdiUkFHeWR1dkVCVmVpUUFKQnBjczZNZDRZNHJCU0ZyTCtQMHBhaXd4TzJwdEpIbmV0Z1FTZnRBQjl0VDh2c1FCYnBGY0NKV2EvSWZoeFJ1Nm9yUEVYd3JvbW5UcHdJc21BQVNpbEN0bXRQaGVRMVprMGc4OVJYZmVvS3gwSlcvVDh6dE96Ynl1WHJzSEFpWSt5cm1SNXRrY2E4UEpERlJjUmxJaDQ0enpwU0J4K3k4NGJXQ1B1SmtpZUVMTTZIdDA3VTRCQ1lhakIxOWpUYjFkNmpwM0RBcEdNaCs1U3hMYkFVKy9KSnV1OFl2L1lrN0dQQk0wZnRoQWV5NEJSaHdNTWM5NUZidCtERVNBelhxVkluaGV4U2VwRE5naHBzUFlncnZHQTl6NmU2NmxNekh3dlo0cFp1RTJiNzJxL1ZSRTlpMmdrWmVGakdqbFNsUG84SHNoMjRWWmJRR2JJVTJCbU0xWnNBeU9JbUs5L0ZMcHdNR1pZR3o1bzVEckx6WkJpQU5jMFRSUit6NUc2ZVZhNVIxMnRTLzlzRDJVYmk1YUthbVNVWGlSOThEc0ZQQ2xtdytGdm42T1k4VmVjUXNodWVGdUtCdUVhZWhwT2s0eUJiVlFFb3JPcDF2Wk50d3ArN3REelVjU2JscmZjd1BKQnQwaGd1djVMQ0xYVkJPYWFUaW5TbTh3UkF0Z3IvZmttbW9lWXlHMnBGMHBDR2xUb0dzdmw0Zy9RTS84dEJjdjJUSFdlWFZIL09jU21ac2dZMkQyVGpoRk5rM25PWU9abUxmK3kxVGdCa0M5OEd5UG9lMERtdjdUMzJrcy9DY0F4azc3VUN4N0RENVVSOTJBQTRVWldVbVRwV2tDTUpXZHpLYzhPV3NhM0huL2FBeHVrSmdHeThYdlNIREJhWldaV3g5VFR3M0pHUXpjRS9IdDlxcVQ2ZmVCUGN0MWMvbzdKSG5mWGkvMUZNNDFSV3NMelJKR1J4bmZtU0xYQlZUMFZMQS9LRHhoK3lzUEpZQVUyVWJVMWdMazhDS01uU2dWS09naXlmSGpJVk1lK0FySGhzbktEL2l1K3FUbEF2TFphc1BhOU1RaGIzMSs3YjBsVmZsdm44Q2NjZXU3b25OLzZRbldLckdPMWI4UWhmSEpremV6UmtyMTIrVWhlYlhDUDRkdzdZRWZEZzFicFBYdmNTTHA0STJHNnQ5UEt6Tk1TVjNCWWpQc1hZc3VWckswZGhrZXlWdEZsT21SdC95RjQ0NUp2ajFaWFQ2NnZZS3FSRkEwNGZCZGx6ZEJYN1hQUnp0RGZrcXJ2cXVSVDlKSzFzQjJ5TEkwTmpYUkxtQnJPUWdDK2tyVHA5K0xQcEJibmEzNDF3ajVEMjRvbDhTNFBTQW1uVG54d1NaS3NEY3UvOFFnK2FtbmZpTmtuSU5oSmhXZm1mWXlCS2UxRDJaZndoMjRSOXEzWFBLNENnaFpsQmpUWEgzdHdoUVhhZWZmRFlyc2VIZ1g3WUFhVktRcGFHWmYrYkVMeTdJczRRaFY2V3FYT2V4aCt5OWJVSUxqY3g0T0IxTHd6S296OVdpVU9DYk5RZDNXcklzZGQ0TEVQVGNXT1NrSTFOV0RZdkEzMkZmZG11ZHdaOWJKOGVockdIYkFhbm9HMkE3R1pTZXRoOTBFcFNoMEVaRm1TbnZOUEtZVnpCK2R0Y2RPTlhDY2pTc095aVhFNTVhMHYwRE03ZCtVWGdMWXc5WlBtMytEQmtjTWx6eGJFYlV2SHdESVNVWXkrKytjMXZMZytrTGF1UlF1SXpIVmJ4T0dVYTFwb2VxT01mdTFNSkdwYWRmZEdXZldwZ095ckdIckw4VzN6NFVyV0s3MUZORkwxQXBod0RTc05XRnpqbzIyQURhbmh4SUx1ZUJ5VE1rYzNrck1VcnZyM09WUWdOeTFZZFpjMzY1aDFQM3huMzFQK1NIZGs1TGV3UDJmeWpkN09IZjJkUE1zdUl3ZHZlMC92QWEybDlmUDNqd2Q3UE9EUXY5WTEzMXcvZlc0NHk1bU1mK09aSXNxcmRmQVdmVmtTTTg5UnlybDEzZWRDdU83amMwQ0FiTlY0YW5KUkRiYWxqTFRWNklZc3ZmcmFrRUlVTld4cjM3VXdzL1VQR0RtRjF1Mnh6SHBmckM5bjVFdlFQTVl1V2FFRkE5akhXcXpQMkM3UlJmTWt1WnV4REN0dWlMRW5OdjRZZGZCODhWRHNOL2NwYXBzUjY4THJRTDlIbUV1a2l0NjdRZzY1R1dOcldOZzFTTU9qazhDQ2JwUjhPR0xUWWcyenZ5NnUwTlM5a093QVl5V1QrY0Z3U0tzbGJOY1Z1ZmlLSzNobWYwamZxQjlrY2ZLYm5tOC9jLzNWMlUyQ1JRL2JIZTJCTmY4TmFpWUpYbWVHL2ZmK3NhQy8zZTZnTmhxL2g1Nzl4cUgyYWJJazl2eG85WFdlL1NIWGhwc1hRWHdCbDJBOEY1MXZ5Mmw2M2laQWZrUVlxeHJETXVBNVBJVEVnNW11SExSUnM4WlFUa242UWJiS0RNcmIzclB5R0NVSTJXLzhja21wMFcxVlJBQzR2ejFnT1I1STZ4ZjZGS2xKeG5WMzJMVVFoT0VDYm9zajNPeTh1dlFxUTNVbVd6NTF3bTEreVpxQU1RUU5nV0tUM0FPWm8xZTZBZk9SVEZzd3krZUdkWGQ4MHhhNU5jMzBnTzZOTjZWZDZpQ3Y4aTZtdCsxN2dOVHZHWVltK29qQUQzeG9vODFMODhWQjMxWDY4YVdWbFlUZkpNcS9SWktKZFhaMG1wb1Z4UlM5cGpkSkZlbnAwRzJPU25RZUtxd0h3RWJsbm52K2Z5YitZNUIrL3R5b1VCYkxnaTg2V2wyengrREo5SUZ0VFVNeTlucTFnUFlSc1hNWVV2a0c2emhPdy9oR0xVc2cyekJqdG9aSzFQdlV1UVZOMUFYQjBua2paT3A2V2hBdUx1NlU4enlKWWFNSWJraWxyQUc2U1BxeUlHTWdGK0xHbGc4L1pDTUpVM1RkTnNabHB6ZzlaZzhxR2hBcEE5ai9KTGlBb3JBSVljMmI1Q2VKUVpkbXdoenBsUEpsZDRSaEFERThDSDZZMmExUWtLOTBRZ1FJTVVzdnVhVEVnMllQMnIwSE0wSCs4aFZZTzZRRnJ3UHBjakhPM1lMcTJiM2MzcTJ4UVNZMjdkbm5mbkIreXUzcnNqK1dHRklEczZ5WEVBRDVLbnFJR0wzNVgvNk95Rnc5MXpxQnlTVUMyYWx6WWtqSFFDVGxMMHJiQ21LTjhZTUlEdUMrVHJFam02NER2UHNkK2dqc1FCcVlCako3ZnM3MjkvY2dQd2gzZ0hvSnBHdUM4WTNLWWFrdVRCU1d1UmNiaVBQNTREeTlrNFpHUXRscGJONENzbmlYcDExckFnYjJrVzkxVm1QSlJPd2F5TXdKNk5XT2d6Y2RSZFdNcWtWY2Q3RUwvU1lNS0J0cFJCRlMwSG5hb1JnOGpydW9obkFlbUFST1d6U2ZpQTlaY2gvZllsTGNXZ080SnVlZndYLy84aHhleU1QbFNYNUtBKzgwblJ3QlpOWUdDZlZVUzBCMERZLzZ2Z3FJWEg3VnRIQVB4Zlhhd2o4cFU0LzhSdHZ6U3djWVhLVGswNm80c1VBV2VyZVZremRjRHIvODRiZFE2MlhhZzlOY0EzRWMxdGJpb1RJM2lCbUMyVkZxY1kybkZqSWRJeXkrd0ZacWxhUzlrMjlyUGpFclNjUVhJNm9pdi91WitRWXNJVFdyLzEwZHRHNEF1Y0NzTFQ2UWVPdUFKMmFJeWtmU00wZ0h3S04rWEZJTlR2MEt6SVoybUJpcDZjSVl2Tis3YmtzQkVlZFdtNkJuUmF6NjhaNWRncm1tR1piZlFDOW1pd2RCOWN1Z0Z5Q3JEQzE2ck1MamdOUkQvRXFaQzNNQjdxUjFqanpQY2M0SEwyMUN5d0JPNHB0TE91YVBjSEJoWWlOK3N1ZnJYMUN3aE1Tb05nSzFTSTJmR3RhbGcwQnhnV3VCeFJRU1BiOE9scWJ3WHNnQ1BIY1h3KzYvbEtZQ3NEaklweUFLTXlBNUs2SVVEMkV1RjZyZVV5UDhFRzJ3U054aUdoaHVxTytlOHk3MFNJS0pUcmMyOFlRcVFOYnBJUFZVekkrZThHaDJWVUVuSTFobjdtSUtFNHRKbitOeUtocHNteW9RUHNnQWgxNHBqWEZiRFNrRVdCbXZpT0NPb1VBUXZGU2VUQjU4bm5ZUEFXeW9MOHlYdEpDaWFQTmQwcHlYaVRCc21yN2RnaWtOcWxCcUFlNnh1MTZJYmFnVlVJRGpJQVFCbkI2OGlCSm9zOUlkRTVJTXMrQjN1UTRLUTNWQnRLc2d1V1pBRnY1TFBsYnhVeEROai8rb1BWQk13YnpMZUR0aG43WFFvQm5IT0dsZTFBVFZhZGluazZrYXFSTmtKQ2RCdU9NNmxBYWxvak5Tc3lmUzBHaEYvVFJKZzdpSlQ2dFRsZlI2SVFWd1I1UmtRd2RUNDZoVDVYMWNFcTl4ekdRR3k2NG9XeStLSzNXNWR6SVg4MUYwdUlGTVNvbXU2cWRvRFBQZVJiNUY5UC8vSERmaHBRbzFsVlVPZkEyU0ZYbFA5bFhjRFIxSjFoK2FrRGNvcm9DWWgrNVNVK1dmMXpUU0oyZWU5YnFCZzhGblpKYzhZN0lQc3JtMGRZL0dRK2FtNDRzcVBYK0Q5WXZZRDZrOGdmdEMyMWtieWlIOUJUbGFFMHdZcEVzbFlEMFdKb3BNU1RQTWhkVFlOU0UwREt2WEN6dEtHSUU2cDZYTVNzanA4dmkvcmsxTjN6Yisrd0ZuNlFKWkVBa1JMUHNnV0VwQkZRK3luUnY5ZXFZTnYzOEVua2g0ZklmS1NaSlh5K055YllHVnREYVdTa3pjTUxKMnlxVkZtVlJBdnFFbEswcGVON3BYQ0toL0MzUGNzVzQxcE1NcVVZTW9IMmFxSnIybG1IMlJockZZU0lWOHN2RzgvTllMdGllTG90WUFYSnBBZXp4UmJzWTRDYWI5dXhTY2tXOTI0SzFiRmtCbTlCaW95WkVSNzdxSVJ3eU1aTVlpaWIwaEVsRGtIK1psOUhyYXZKbnhUeFhBZXlBSUlDYVFVWlAxVUNGUDlIeWtoMWpraFpPTU5KU2NQaXlXdklrRFdLQ2p0Vk1IamY5WjNwRlEreUVZZmp6a2tGS3oxQmV5dTQxaTlwL04yd2dmWkpjL2owc2ZLMHBsK1hUaWJUZHRka0ZUc05mc29GeEhYSWRBeGFDSHR5QVAvdTBvZmJhaFMxam1aRU82elN3MzVORFJRczI4OGlyQ2dQWVhrNmhlVzU5OEk4RWlFaS9JQWpkMysrT2dEV2IyZkFCdkd3d2ZacmozVGg4N3hlZkZUZVNOUi91UEFoRGpFNlZkWjBJNzRoUy9JbVZLUXdJUnlGWmtzU0NoU09LZWtBYmcvTjV5dTUvUlNFOWlvc2xQSXM1bFMwdCtiZ1ZwdEVsRnk2dmtnZTlJZzEyNENzcGVnZFQ5VmRZdi9xZ01YaHFzVk80clc5enhIbnh3MHpCc09LNFRIVmh3U1pIUCt6YkpBRGZ0bGs5b2FGSVdHWlZXYkRiV3hHbS80cHFKYVp6QmU3ckpEWXlPS09pWmdackZEeGdkWjhEdTBRVmY4UGlzTFQ4S0xxaHpPVUdzTFRsN3FVOHVLRVJxSFN0WlNnaXBLbk9FTGN1YkE4REwxUTdBRW10RU5hODZ3WDFhcllwUUpOQ251ellndktRbmc3dTJvTko1ekxaVXJ1ckdCUEFIZHEvWUFBQ0FBU1VSQlZPNDdYUElhSTE3SEIxazBnYnBGMmJJUHNrQWpBUXBFWVJtNHZWVDlsVkY4bFJGSGk3aS9TTEpIT09FWDVNd0JWVlNVVHhIaHliWVV3ZW40dVBjN3RBcFZDK0U4S0EzUXNLeHNjOUU0QXpBZUxwT2VGaGdQSENHbDdWclphYnpMME5vYWxub09IMlJ4ZFhYZjRmVkJGbHhxWXRNQjZIeEc3NlZXakgyOHdDc1Z5R3FhMDVYSjRoZmt6QUZWWE9NUGZaWU5nMHE5SGhqOVI5Z3ZxM1EwK0RQWVJYZVNYeVVoSG5zaTBqV0lYS0oyRDhXcTROc3RNQmpmNkNPakQ3THcyamZkb2Z2NEh0VDFRUmJNR1pFSkJnWnVCTDNVaXZiRElWaUFIbXJWMnFxVGU0TlBQUDRGT1ZNQVZWeC9DQnloVmNNUVVtbHFvSjJNTTVXSVl4ZFRxNGtqc2tMa2t1dnU4Y0FZb09ubFBsZmpoV3pGTkFqVjRqTDgrQ0NMMEVZNGl3Tk11UmpIZmRTS3dmWTg5MTJFUzZ2ckdpT3NTSEMrU0ZxSExLN2VycEJpenVIYVhiczg1RWFuZ1c1aTZuK1JvcTVFNTg2NHhXUmRpbGFsQlVDN3lFZHU0S0F4ZjNvWlhzZ0Mrc3p6a2VHbzhFSVdvTDJ2RzZzcTArK2pWb3h6bk9YR0dKNHpFZzRncnE1dUR4NFQ0bllBR1FOajZ0R1VYRE8wRVZJekpFZXZnWklkUHdJQnV0VENkQ2wrY2EvZ3ZoU3hvVk9DME9hR0Q2WnJMMGdHOStTRkxQQWJxOGk5WWIrVmhZWGpEZDFnUVpsY0g3WENnd21jTnljZWh5WjFRMHNydWhtU2FKREpIWkJ4TkhFdTR3S2Z5cEVxSVptYUJ1RHUyRU01ak8wdEk0MzErVFFZWS9VdWxsclBqTlRJSHUvakw4eW43THVQUkhGNElZdkxaZnVLbzgwTnROZktRamdKQWxiaUFFQkpQUG1vRlhNNTg4Si9nR0YrVGRYTitUM1MyQkU2dHFaN1dMbWorbFF0aFhOYUdzQTRqUnJydVF4WitLb2JFY2I2ZkJyTVovWmwyYnh6QzhYYnJCZ3lkY05EcWpFL1pNRlFhazhpWGtIZUpXSlE2OW9HdDVrR0d6Z1R5N0pSRDdWaUJKZ1dVTTNXeldQMGxJTk4wVTdpSTdwZ21HM3ZGZ0lrVmhoTTloOU9LV2dBREtjWlNhSC9ITnd0T2liT0dBVGd4MWRYbFloVnF4Yk15eVh3Yk1BcmJqejdJWnVIRncvMkJOdTBzTnNkNGtjYTVFQ1FhVjIyVmpBaWVhZ1ZFMEJ0eTdnVWtEWmwzZHFhVEZpbmdxa2o2RVZISzdqU3RtRlZHYmZNYjVUSFRTSy9QTmxmOWROUFRzMTM0ZWJzYS83OFA2MUJma1BuY1ZlSjhUV2pxTVMzb0VKeHJtNWlTWnk3dGl3cXdjMG10V25TRDFsOGdldFhCRnRUYkdVRi9LZ1pHVTZEdG1RYjk3TERWWjZFaDB6MkJka2t0YUlmdWJ3YTduUGF6RDZwSGcvWktEOWwvd0s2dVNVYUYvUXZBY0ZZWms0clVnZWYxaDZQOU1VZWxYODhaUEpMWVphcC9PVkhVOTk5eDk5Q2hMSi91ODNmSWJtRGZ5NEc4Z1lSL0lNb1JCbFBIcFo1azNuM2Yyb1dlOCtJbytDT3FGcUVQcERGTjJEM2tlbUw2RUkvdnYxREtORXZiMzgyeW01L3VnN0ozajNiUUljcFVTeVFuS25SVVNCSkJjZEFYc0FYTmNxK3d0aVBZQnVMbm44U3l0MFpZNC9zOE84akJ4eTU3YnM1QWI2ci9La3lwK0JQM2JQNHBRdlRUeFMxZDVXK0xFU0MvLzFaa2hISkp3LzJFclNURXpoZXhlMnhmZ2xHMFRuZE5DM21Td2ZmaE54WGkrem5EQkZUVmRKQXl5NVN1WDZRemNTczk1bDN2ZVByN0VlQnM2SGErWFprVmtPRkFMRE41ZFovZU9LVHNmaFdyR28xUWEydy9YdDdJR1QyMTdXeGpxTEhHUHVYYjNuaTQ3NVpQL2dXNGxBK3VDWUFlVjkxQTVHTjgyaGFOVE9zODR4MGdZYlYvbG5iTGRyQlEyd21XLy9nV1Z1RGVyK2w3cFo5L3BEVnBEMGl6dGRZN3dvWXZ4KzJlTUJqSUUwUWlGT3VmcENOOE5QeGNMd1BtUnM5K0YvV3kxZXUxeEd5MTY4OUJQL1JlbDA5TTRzeDUvdldLbTAxY3FudDUvRzFCUHpNUEIzcmNleUhLRURMcXNvejgvaFBzSmV2WEswYnlFSzNjRnlCbnZjVi82STFKMVhVc1RuWGREakZGaW43UjUrODQ2NnJXelp4ZERtSUg5azNDN3R1KzV5emdjcFVzVnpiS1B2Y1ZmYndQUzRxRjNTd3ZtUDdGVVNVdnBDRnYrMTRUKytCVnhQV1BzbnNjL0NYSDU5eEN4M3FVOHNRYW5zdTdqMzAyM3VVODkxMzFSLyt1eGFGbGg2Ym5qRXh0bU41Qjgwd2cvNlJPZHdyZys2bUxWK085Ti9nMWJZSVphUkpXRmlDdStFYzh5S080MUFIbWIzZ0xzejZHdTlvVndxaXFpcytqbjRSQXovdjJGRTdKdG83Y3RrNkJxNHlkYmhqQzFGSWpyK0NvY0VyYk5uY284dEJPSEk5MlZ0QmpXZkpvc0ZRcGt4SXFYK0RwUzFWQmxLdXFiUjk3bTlsYmI2eHpIVjE1R0wwNGkzY2NTZWZrOTZFRDZyQ0oxWGZBekRzV1pqTjlIMmVmbXdibmE2dDBjc3NldXlRb0x1UlljNzRXNFk0eUJUNEk4YzJONi85Z2lPMmNrMDBaR01NWjZSNE5BR21lN0wvZHdJTTViLzNDTXBUUjBRejhxVVVJZHQxUTRWYzNxeFpQQnFTUm90cSt0Ty8vYWZNOWlnSXBiN3NaNXhreUdiVG5uM0J6VmZCYW5nM3FNNnNhRjJOTGxlNnlxK21DRmw0dG5xdVBKRHZHZ3ZuS1IwQXFkcHZwRGR0RjdkMEdrSkUycS9WUko2WVpNaGVQSWxEYjEvdVlITkZ0ZCtTTjNzZmhKR1Z6Y1dYUzc5elJHZEw2VUVXZHhmNVJxY0xua25aRVZkdytxS0wvVENvbTVvbmp4SUVNUHNFWENZWnNoMTJTVjl0S2dtd3F4dW1Zd3dkYitsc2g2UTFVU2RTaEN3dVh2cGtXemdXVVZyNnN5WHk5QjBXYnhQVkZ3alo2NzVnK1NSRHR1QXpGdVNpaDUxRWU3VkNPcW5Sc2F4NDVDb0hoSEMyU00xUkptRUxuZldrNmI3am96d1p6WFdPeEhIM0t4OXZrTmJyL1NJTUV3elpmTDlySXRjOTFDVHVyYWRCZ2k3Wk1KZGp0NDdxTzBYSVZnOUJiRFBOTVZJMmpwOGVHZWF6cE9hc0J6elp3cjFXOEExMlppVlprRExCa0ozcU42WDBYK25ncWJqZmJwVTAyNEM4eXM0Y0xWeUtrQzE4RzhUMFBVOXoxTXRSMXpISWM4YjdwS2dlY3I4SFlyVlU3b2szZ1pTdmZrWmw2WG1DSVZ1MVRCeTlxQkdsQVhka3ZzQy80TURLc3UvMjBRTi9pcENOMTR1TzNGTGtSUkwrR0k0R201YTY3RDY0aTYxTlFBY0FpOGVHemNSekV3elpJNk5JbmtzZE9LbnF2Q1ZSQVIwclI2RjB0SitkSG1UaE8yY29aem1wamJ6OUFDWVp6azJaTytJNVhtVFhMbCtwcXpEM2Ziakg1TUdyOVJWUG41TUwyUVg5YjQ2ZXl4b0phWmVHWmFISEJrQmhYL1NjNytlSVNjSFNneXg4NXd3NjkzcVZKNGoxUy9IUGVCck1jc1hrUXJianN4Um4xT1hacXNFQWEwVzd1d2F5aTg1ZWRMZUQ5Q0I3NFJCZXRpZXZtQkRKS3NmSCtnbjNXWklORXJnK1MzMWVaM0loV3pJTFQyZSsrdk5WckR0M0hpQ3NKdDF6Unk0azhNOUNiSjJ2ODdQV2h1K2M0WjVuR2dGVlRTMGRJN1RpTy90NWNSQVB4Y1JDOXVJUmZ0SFpkWHFhbWhpV3RkWXlBTUlxZ3RBKzV0NmtaMlh4TzJjZ3FHL2Yxc3d4UThOcGxOT0h0K0RydHc5dlAvTEVRcmJiYjJ0ZnZ5c2RPQjNEc3Z1a1ZZU3dDaVc2cnpRUk5wNU1EN0wxTmY1QmRCMk5JNUl0YVBFSmNiREpxUUdzQ2s4cVpPZTlFNGpCNnZlWTFqQXMyeUk4Q0dIbHJIaW41SVEzTmNqeTc1eTFRZEpOSW8xTXdqUFhTbElIUyttK2VPNzJPa2V1SzU2NythRTEwUFlGdzRmV203ZGhYUG1rQmJBcG1kMFFCUEFXYVVreW5ScGtMNkxyQXIzYkxvMFVNTFpHamFUVUE2RE1uLytwV0RwR3R3T1FjaGhONUlldjNHUEY3amhoMlNvQVlWblVTbncxeEcwc05jaGV3STBFOE9raDcrSmMwUXRrVi9iejVYOFNIcG56SGZOLyszejFVNnFkZjExS0haTnVHOFlQNE5TbWNXVm5reE9acCsrTWUrLzl2S291SWZzMmVHM3V0WW9tenZsSEgrejlqRU9EOSthUzFEZmVYVDk4YnpuS2ZGalh4N2Yxa2xWMU1VOVVjR0NHalgzZW5YMjdhcFN3NjRUYzdhSUJnQ2pkWFlJZmtsWmJaSmNTUWFSZmgxSTRma1JldklEc1k2d0hrL2Rmb0FyQkY1dGp4ajYwUjRuOGRXZWJtbjhOZk5FQm5vS2RocDZHWmtyOEZlWmZzbXE2bWVMTFNJRzJkRFhDWVgzcWpkQkQ4amJSQU56M0crUlNNRUMvSS9NVmU0MGhpdjQ3ZkxMaFQ1NzRaSTEvRmdLWU9HUi92QWZXOURlc2xTajRmTVQ3OXFJL0srcDVIRy9RUTIydzM0V2kvRGNPOVpzWjJSSjdmalY2dXM1K1VRcmhQWW1odndDeTJnOEZaN1krOWVhdEhvaVRyQUcwcW12a0FocGtzQzFZWU1hUE96UCs3OEw1Ym0rVlYwSEladXVmdzNTTmJxc3FDc0RCTng4bzhKTFVLZll2Uk5mbXp6RjJ4ZGRQb0t0TlVlVDduUmRQVlJWa1Y0OFhZWnZ6aG1zSlEwaE90QWJ3SllSbGN3VzRwS1N4VXJKMmZ1STNVR1FJUFYvRFB3SVFWdmErRjNpeVEwSkxYMUY4RURBcjgxTDg4VkIzVlFCNFdsbFoyQWtscEdrbW5CTGRFSDViWVE5ekdOeFlJMlNabkI3NnhwaGtuNEV5T2cyZ0kxQTIzUlVZKzNjNlY3ZW4zb0NRRlZIMkJmbjVHN1N5Y1puVElMeTdMZ3J4QzJjck10a3c4eU1QTlcrOGFQVXVRVk9oSFRwYmxZMGtUMHZDaGNXZGZ0eXB0VG5na214Q3lOMVdHckREc20rMXRrMERJT20xRnRXeUVscG1idVlBc3Y5SkxqdUFlVmF6dGpuRngrTlFaZG1FaHpwbEhJOWQ4Zm9MdEN5QkQrR0FOZHE1bFc2SVNENDZOYko3V2d4STdvOTJ5aGpTRTZtQkR2bDRldjYvUW9DcnJDOERscEgyZFFaZnRtVXZpU3pDZkJPVEFOblhTNGdCZkJSNmlocThPS2tYTGdUK1VacUN0S2JPR1ZRdUNjaFdqVnRTTWdhYUNDR1NKV2xiSVM3aGVkTUxjRjlPVkFtRTIwWUREYkNyLzV3ZmYvVDdnSUNiNUdhRDRkd2gxd2x3dWlTeUhTYkJESkRWbnErMnp3QnR5UWZjdXdwVFBtckhRSFpHUUs5bURIVERKSWtRUEpsWEhleEMvNnR1S2NacnFkeUo4a0NZYkEwMDRhNmI0OTlRQUZpVEovNEJ5cks0MWlXb3NJbEpnS3lhUU1HK0toa2o3UmdZOHkvOWM4N0lSMjBieDBEOHR3RFlSMldxOFQ4Q1dxSzd4TytDZWs2Z1VXc2dFSnd3T2l3bjZnVENiYU9CR082NlBCNis1eFBXWmNHQ2FNc1F3SFlwZU01QUJZNXRnS3orZjRoWTJkTUNuZjNvV1ptUDJqWUFYZUJXRnVaYzB2ZUk4QXZzVzZaM0t6V2pwbGNveUxwVnhET01yU1NKZ1hLYmFBQm5NRGY2WEF2TXZEa3dSVEdBVCszaGdmODBFZk1mZ0t4ZU9Zc2xvcUZGNGwvQ1ZJaXplcWtkWTQ4elBIeFdZV3hEQ1FNUHpKcEtPK2VPMnE0SzR3RHhrRFZYLzVxYUpTUW1WZ000K2IvVVIzb0E2WjRwZ29GYTRCUklDNTlxOFFLQXJBNHlLY2dDakJTMGdRZHNNd2V3bHdyVmI2a2UvZ2syMkNUQ2dHUTNlQ2ZKbjEwUkN1Wi9xMlhNdk9FTGtEVzZ1UDFTR0piZDczTlpObVFiSG9NR21OT3dVcENGd1ZwRFc0QUtVZW1sZ2lGbEI1OG52ZGVKTXdDVFArMGtFQlpNMW5TbkplT3RFQjZ2dDBES1EzS1NOWUR4cWxhZkN3Q1lJZHJrQVJaUUkwWFJBTEliS3EwZ1M2MHhsRUg3bTNEeVV0RXJZZXhmL1lGcUFsK0kyRmNac00vYTZWQTBjYzRhVjdVQk5WcDJLZVRxUnFwRVdTQk11Z1k2Y00vN1hRTk1oa2hSVE9DcHlBRFpkWldPV1k4bksvWkxoSFV4Ri9KVGQ2RjNPQTVlS3hwQjF4VHh6US9Bc3hyL0ZVbWVGOW4zODM4NWdwOG0xRmgyaWdOa0V3cTVyUWdOLy80OWZvMDJaQUVjR3A1S0JUN0k3dHJXTVJhT3BaK0tLNjc4K0FYZUltWS84QVB5K0VITHdWQTk0aGxIQm5KczBES2VqcFBqUVlJbkVDWlZBMkNtZENUVXZZWUVaTmRjRGg5a0N3bklJdEw5MU9qZksraTlINXRHMzVZZUgzSDdFL2txNWZGNXZNRXg4Q3Z1OXFER3Zsc3VMODN5WmRIUHZPUmVzdyt5OEJEUWFSTjBjQU9xK2FuNGwxVGk2TFdBQ2VaN0hzL1U3VFFxa1BiclZueENzdGFUNDBHaWtVQ1lVQTNnQkFnUjVUMnNpTUdKSVFzZ0pKQ0NUUWE4QXo4Vklnci9SMENXMXpraFpPTU5JMjdUOXkyNUFGbWpvTnN1ZFZSWUZvM2VucmxpZ05hYXlZbFVIeXRMWi9wZ0JqZUFHYURsb1dJcjJVY0IxU0pXaFk1QkMybEhIdkFGT1ZQZWhpcGxreFVwajZRdVM4aFBxZ2FPQ3N2aVN3aXI1c0lBRytzbUoxSSt5SGJ0bWI2czVxZUtWdklmQnliRUlVNi95bTRmaVR4OFFjN1FRSUxrdXE3SGhURTFRbXF5TlhCVVdCWm5RMlZ6ZWZFSmcxeTdDY2hlZ2tiOFZOVTYvRmt3dWc5bzgzY1VyZTk1VG0xMVFBNDB6QnNPSzNnN0t3NHBaRzhiRFhUZ2p2ZTlHRURRcGlrc2VyeGVuNVZ0MjhFcDZHQUxHdkZTbjFwV3pZTVA4aUw0Q01DOHIwaDl6L0FGT1hQQWdvUGxjV0FKTktNYk5wd2hkWHRvb0hGRVdOYlpkd3FzZEZyRnI5OEhXYURwM1YwQ2hXWGc5VkxiTjdRV2kzeGpRbndTKzRoZmtETUhWRkdiWkJUUjJlZXJ5T0Y4VzJpZ2VVUllOb0lCbGxpcmpvZlZCMW53Z01uSEJjQlM4MFV4TDdWaVptUVhlS1dDeDE5TzZCbS9JR2NPcU9LT0U5Qm4yVENFMU8ybGdkaGpPczBWV2pNYldGZ2dVTXg5RHRsOGtBVWJKMVp1ZVR2Z2EzSWo2S1ZXekphdktiNTFzVXAyaHNFdXNEY1lVVXlLZjBIT1pLRUtkVit3QUdaeHE0WWhwRzRyRFJ3WmxzVlh0TmJNNVFMb2lEbWI0d2JTQjFuNG9nR0pqUUhReFRqdW8xWU10dWY1SGtYaDBxbytaNDBSVmlRNFh5U3RReFlua0N1a21ITVFRZTJpa0p0MERlQVUvVkwvaXloWmszRUEzYjdtclhBMzFBdlpDdVdyS2t2dG8xWk1GRGJMalRGTW5FZzRnTGk2dWwrdzdNVFdBeGtEWTF3V3d6SkRHekhra0xvZE5JQWhvdjMrRjlKbEw1UENOZzBuRlZld3hBdFpXT2Zkd0VKK0ZKVEo5VkVySnFTYUUxc2RtdFFOTGEzSVJxeFRnMHp1b0FDakRDOVlEQ0NWY1Rqc2twQ2JlQTBjR1piRnlCU05FUUMrZFhncEoreWpGN0o1OVpvTnFBY0FKZkhrbzFiTUl6RXYvQWNRYUUxcE5lZjNTR01ic3VDOVVCOGJLM2RVbjZxbGNMNTlOTkFCRTNYRTFUamZZeXVaNWRRNUVWaGFJZ2Excm1kZFlJN1Y5QWRjMldYWmdZZGFNZkdwYVFGVmVLdE1JL0lwbmFJaUpyNTVDNGJaOW03aFNiUENZTFIyU0UrNkJycVc3NWk0bWhrREtTeDdrckVQU3A3aVIza0NJSy85U0lNYzhKRFhKVi9CdE9DaFZzeGlWMXZHcFlDMEtldlcxbVRDT2hWTUhVRXZRc2RiRnNzdWNVeXNncENaZUEzZzdLdTMxLzh5cHJUaEZEd2wxbHZscVl1OUZqOERmcFN2Z05PZ0xVNk1vbnZab2VDRENNQ3lwUG1vZ0UvbE5xamhQcWZON0pPK1A5ZksvZ1YwYzBzMExocitFaENNWmVhMElsdlJuWWJFN2FPQi9IOSs1RTY4Mit6bTMvclVYL2E1TEloclVYVGdQaG1PMEZ5TVB1N2oyeitFOVg5NSs3TlJkdnZUZFVqMjd0bHVZVlBaV1BCbGFncVNmaW80QmhMU1g5UW8rNHI4NFBLaXR1aFlWeHk1TzJQc2tSMytmVVhZdnBzVDRMdktueXBMR3I1SHM2UFRJWEg3YUFEZ3A0OFgrMTJXR2FVRngxc1orL0JibnZpbnRadDdrRytvK3QrT01HWXJqazNPQ050Y2J2MkhKejRaaTIvRnF0WVQxQXJidjdmM1RZRDRyMnRqSFVXUHdXZVgzL0xFeDMyemZod1YrS0dXYURVQnFQdXFHOWgyZ09LRjQzYlR3Q0xyWGIveTBPWExWNjVlOTlnemViV0pJUmIrdVIyT0EyN0ZHdEFBMUw5ZVI4aGV2L1lRL0wvd2RlV0lMc2FjOFZ1cmx0cGNhdnQ1ZkMyaGQ5VWU2M0hzQitQZnNxcnl6RHoraXpGSUxEOFZpbHUvb0ZzNDhDTDJGZjhpL2ZTSElvYnpLMFFEbGNSRTV1bTc2Zy8vVFJ1SVhsMWtuNE8vL1BpTVcrUlFjU2RYL3JtNDk5QnY3MUhPZDBNZmY5ZWkwTkpqMHpPczc2aHhiTjNBTU9rYXVKRFkyRGNCVjlReDBkNEprRGFJT0ZnTlRKa1kxV0FiSG1aclhSMjVHR1l2b2UzeDFBQnNteGxQd1k2U0toWXJjMGV4aExMYlZ3TkZOWithbkV2TWh0blg1TnlzSVVoYU5VditRMmg5S0UxZW5FVC9leWlhZUdVMmV0SGFHRE1ST3VnY3RaMXlJcTRnQ0hrZURlVGRYVkxuYVd3MGRRdkJsUjJOb3NlMWw0a0RRSDRTZ3h6amV2Y25VcTQ1dmZnL0llSlBoYWpzaE55cFlZbVptYlRKVERYc2lSa1dGaWFsM1dadlVpUVZjdGJJZjR0TWx1UkIyZ0ZwWUc2eTFwSVc5TDg1RHVqNlF6TVRwNEhzWklXNU91R3JHeE1Ic1lFTDNQQzlIVER3WGdiVllJbnZRUjlVYTZHZGlkVEE0aVF0Z0YyY0xEZG1JZ0V4QVVJWDFEc0FFeUJyMS80dXh3UklIRVFjZ2dhbXlDdUhRMmgra0UzT1Qxb1VlWkFYSDlveUd1aE96QzcvOWkwamRVaTlnalV3UHltcjlubnpBdGdyK0hhRlN3Y04vT1FKWHZZYUIwWGxYemNPVWdRWmdnYUNCb0lHZ2dhQ0JvSUdnZ2FDQm9JR2dnYUNCb0lHZ2dhQ0JvSUdnZ2FDQm9JR2dnYUNCb0lHZ2dhQ0JvSUdnZ2FDQm9JR2dnYUNCb0lHZ2dhQ0JvSUdnZ2FDQm9JR2dnYUNCb0lHZ2dhQ0JvSUdnZ2FDQm9JR2dnYUNCb0lHZ2dhQ0JvSUdnZ2FDQm9JR2dnYUNCb0lHZ2dhQ0JvSUdnZ2FDQm9JR2dnYkdVUVA1TitOUkhrZlJVcElwS0NRbHhaKzAyeHovMy9qdm5KVDlGSHp6UDM4SzVqUlo3OXVodldlSHBoRGFTMGlmWFFQRGcyenpWODR1MVVocnpsbWY4d3lRSGFueXo5RFowQ0E3UFo1Zm1zdHZKNzRtbG8vZlR4UVhJRXVVTVpiSjNMRCtGS3YwN2JHODNtblBuNFBlNTM1SVA4dUc0U21OcFQ0bVVLaGhRWGEyMzU5dC9kUS8rdk5ISHZ4d2FwcnFlTkNZWXgrMDVRbVF0ZlV4OHR6VW5UL2dPMWE0SU1PQ2JQRjUvM1hPODlsTmV0OHAzbVVld1JyT1A0TUZ5UHB2M3Npb0ZZNlN4SThZdUljRTJTblArTXN2T0czSTF0aGhVdkZUenRmcEEyU1RPaG9wNWUwUDFnVmVyMTNoeDFXUkd5cGtLMnpQZjQzWk8zNFR1ay9OeXVhaDgxWlNzdGorbzZVQTJhU0tSazNKSUVyTHV0Zjdmd3V5WW9aeGZpdTdXTCtrRzFhSmZQMklQMVA0MHhRaHV3Z1h2cXlrTk9lcWplTUFXYU9hMUZJbFp2dHdqekYyZ3d0emJzaG1Zcy9mTU04ZTljOWdFRVpLemNyT0FtUTNrbmRoa2ExVFlvQXMxVVpLYVhBTlhxSmRaK3Z5enAwWHNobDRHRjZnTGZQMExsdE4wQXdoUmNoV0FiS1dJcVJVZFd0U0ZpQnJibFphS1hUaGhGVlZFbFNrSFR3blpOOFdROHNKeU9hUE5xTXBRcllMNHZwTS9LN2xHUVRJS3Bpa2Q4WjUraVdyKzFrNVNUNFBaTC8yYXpWbzF3UFo2YVBYSitwZTFGamlEU3NUZzdnOVQrTnpsaWNUSU90UjBZaEpGK0ZPN1Z0OVRyRXRuajh6Wk9ldVE1dmlTRmpadG16YzZ0Rmswb05zbHNVZ2N0bUlvbEx6MWxBUklLdjBrdDU1RG01VXkrbytJeUY4WnNndUNiamlid0t5cFg0aExpRkNlcENkWWhXUWQ4dlNoTWpFMVBZR3lIbzBOR0pTQjI2VTNXV09iWExDK1NCNytHbG9PQUhaM0RFRGYzcVFuVHVjQm5rM2JGWHdYSmVPUWdHeUhnMk5tTlJnek5waEYwVlphWFhQQWRsckQveS92U2tmWkdlOGszSnp5ZWxCdHYwOFJxaDlHM1k2Rk1nQnN1Wm1wWlZxTW1hdjd3Qms5N2d3WjRhc3VCUXZaRHQybEROeDBlbEJ0dkNkcU03WXR4SVNSZEUwSFNzQ1pEMGFHakVwVGtRamM5SlJHQVprdTc0RkpuTEY2VUcydmg3QjArdjRTRnl5RENOYll3Smt5ZDFLSjVrTXkwYnpjbmZJTUNBYkg3bVFFSUdoODRWR1I2Q2FIRGlzT1A4U2JyemRJU05DQjhqYXVra2hsd3pMUmd2U3FBd0Jzamxxc0h4WG14cGtMd0lzTHdCa1Z6eFNsY2pRRUNEclVkQm9TVFFzdTdERCsxNlVEdDBRSUh2UjNzNlF2TlRVSUhzQm5sUFV4WTJrVE5FdWNjQURaRDBLR2kySmhtVTc2N3p2S1RrZEd3SmtsN3hUY25MRnFVRzJBaGVOTDdzbEFza2dYSldFT1FKa3lkMUtKOW1CMjZSNjdxN3dWT1lYQldFSWtLMTRyWmpxSDg2cFFiYUpHeTRoWk9BRS9MaG9jeVNtRWlCTDdsWTZ5UWE1U3pYaEdDaEJoZ0RaZ3JWZXJ6b2k1OVFnVzE4REtRcncvTzRSYVdSeW1nQTVRRGFwbnhGVElMQ2p3ckpaTWpGR0tSS1FmZnJPdVBmVHJaTUs2SXZMMXNoRVJyU1RmL1J1OXZEdmFKd0l5R1orczM3dCs1Mk9ucjRyZnRpbFJWR1Ntdm1lcSt5aHowVFJ2VnRhMEtmdnFudXE2bUpNWlBncmxHMkFyUDNZY3FZRk14QkIwRHE4WVd0cGJ2U1ptZ25MVHRHMWRKREVoZXdmTW5ZWXM4UHlDWVgwUVRZUlJKb3ZBVXJBMExka294eXlDM1VHRzJzT04ybEh2d2NFMkduMU55Z3RpcExVTDlYWkE0L2N6WDUxM214UGV4TmoxK3JzY04rdWF1ZW11WFZGeC82U1hZQTU4SEZiaWhvZ3F6U1IxcG1HWlR2TzBvOEQyU2wyOHhOUjlNN1kydkY4aE53ZXlNS1NhTXVxa2F1eGcyOCtjLy9YMmMwOVFVZklabXNmYWtYenNiVVM5VloyOFBrby93K2NUV2RKNmp5N2hUMDhXNCsxQy9KMnhsNGQ1UjlqaDFqUTcxamlQaXlLL0xLSGhkamVBRm1QZmtaS3duVjFaVmRLTDlwZDI1RE4xOFE5WDZTYlJPd0tkczREV1NEWlBFMTJVRWJLczB4KzhnZ2hlOTh0eEMrODE3S0ZSZnlZbG9EN3NnVThEN1Z3c0NvcktNakNxUDRHSkRXOXdRRE9ERDhOZnUzNE9SaEhDWndoTnVIYUFGbWxzclRPaUt0OTBmbmJYUy9OaHV3c2s5LzYyZlhaSVkvOEhzak9PSzlkeitqUS9WZDZ3c3dDWkxQMVRXd043UDlMcXRWOFRXRm1sMFRKUE5RRkhVRXRLc2gybVJnV0lPaksyMVZ0MnVlaXVDaHdrOGppckdZcG1vMHhBYkphS3lrbDhCMjlGdmI5dFVlWnVTOUNHQnV5UlFtcWFGWk4xd1JYMzE4UFpDK1FxVGZXcTZuQlAvZDZpVW1BN0p6Y1RWVTArUDRKeFJmQll0Mk82dEZEN2JDeUxGWHZFZ0JTVndTcDVqNlNrcE9mNUZEVEJYV0laNGNXZ29XK29mSUJza29UYVoyWDRCN3BZOFdXd29Kc1JnVVdwdXErMEtWZGsrYzhrRjJ5ZHhEQUJ0VjFVYkdoZkVpQWJIZGYwQ3BtYVQ5V2ZCaUgwdnNEUGRTQ2Rqd1dwSlZ0YU9DM3ZRWlU5RFV2SDRRTzZFSjJMd3JFYjllZ1BVQ1dLaWFOTk9EQ0hQdTJCQlprWjlXOHBIVEVuYmZxZXlCYlZiZ1hqTHQ2TmhhclphYzYrOVkxMlVwSG93ZWd2YXFhbm1QSzJ2dW9zUm5XQldUQk8xWHJXZUNGN0toVzNQT010SzA0Nkt5NWhlRHBtdWNrUURhcG50RlNDaEJnMm9ianp2ZkF6V3JaZlZ1UWJVdERCL00xSjdEQUsrWHRxcGp6UUxaaVRXNEFUdEpnWTl4Q3VCdDFBekVZQUxaRXE3dUtEN0l3bTFyclM4MlR4Nm5FMlFDRDBwQ2pUNkdTb2dIeTI1R0NRT3ZHb0pyeXRwRTdRTmFvSloxVVRVOXl2dVRPNXUyNGJGTjZld0JFejV3Nko2Wk0xalY0SUVzblQxRUVaazhOOG9BVVlRd0JzZ3BYc0svcUVtOFFBSzBzSmVSVnhrZUZBS29Xb2JDR3lZWTIxVmp6SlYzcUpIWmxCK2Jac1JpcWNnb0h4QUJaU3pNcFpBQXJOMlMzVGRkSHRheHNMSTJiMzFaZFVITWNjZ2tleUJZczBMUU5QRXZLdUFGa2wyVWJFTmRmNDBsb1NNa0llVFVyODFFQnN2dThDdnpzcm1FS0hza1dudkVvMlo2MElJcmZrdW9BQlBGOFMyN0pqQ3dCc2xSdkthUnBXTFloaG1ZamhRVlpoYW5vTlIvZU15d3ExWlRvVW5rOGV5RGJ0RWJkb2g3NW8vdVVud21RTGN0R0FMTHJQTmxSMk9XNXJtVDFVYW5scmF3QU8xeGZqOWZDbndKeEd6U1JKL0w2aWR0bHhHL1dURXVtWm9DczFrbzZDWVRWdnV5NjhwSWpnd05aTTdOeCtQaUs1a2FDNklGc1VjM2hPRFAwdmFOcS9mNXJSUW9ncTU0SURWbUEwWmJpaTZLMkJMQ1hDdFUvSjFrejJBNkV1TXpZMFNCdWcya1BVd3M2Wk50aHhzd2JuZ0JabzR1MFV6b3NDNEkwYmpqU1dKQUZNSHhNZ2NuaGl5SkFWM0o5NFRqSTR2c1FxMjVUMEkwaWFjaVdDTFNqQ0VERisvSlNDNHl4OXhFeHdSODJMK1pVaUpPZ09oSG5XZDBwK05mYW1UWThTOFpiQ0ZiV3FDV1YxQkxjSWRWeDk1Skt5Yk1GMlJwd0hyeks0VkRaZ205bTQ0RnNpU0liM3dGUURlaHozUXprR3JMQXQ2TVpJaENaejVXODFBNVEyZUhmYVNuMnFvcEVJS0hOdE5PaHl1VzVxb01nK0J5NW8wMEViOWhvOXlKQTF0SGRxTE1Wc2tCWlhCYTl6OHV6SFRIb0loallzemdGQ0FBQUVhRkpSRUZVZ1J5L2JUbjl1L2s5a0szUmVSUkFVZ05CdHdjN3JsUWF5amN3amY3MnBpSWlmUGhjeUUvRklCVWVhb3Zrcm9vdllQMk8xWTVwTVlxNk4vK0tQTzZBeXNsOVB3R3lWRnZwcGd2a0JzVmxJVXZuaHBUSnNySlB3YjNFNDJjOUFzOCtUNXJSNWNkQkZzeWxocWV1NUlFc3dyQ3NHZEFKUWEvYVQ0M0Vrd1V0QzVCRDlsRC9HVVROc3RhbXhTaUs4Y3Iwa1h5UW9FL0ZIcXlzMGtSS1o3aUxLalFhcVR0VldKSENXSkJGcThhUC9hU28zVFhmK3NJSklKdWMwWGtnaSsyVVRhY0FIMFM2bnhyTjE2V1lCM3RZcFNCejh0UnJJVEZ4NEFZdWVyUmNqbUJsWFkya2w0Y2JwV3hxOUJZcFJyMGxFeFprbzN2bFRVME9tL0EyUTJ5aVFQcGlQSkMxZk5rcW5jMnJXaDdJb3MrclJBSTJnQ3lhUEQ4MWlyNHN4V1Fmd1NhTFBzOFVDNnhqaXJRUGZnZU5Ud2krQzJZOENGYldVdDNJTTJnNjE1eGVGL1ZvYlVNMitvWUVROW1wRU0wK0Q5QlFOdG9VZWlCckJibXFKNFFzN0NVZ2tGS1E5Vk9oOTJkTFVzNFdaRTRHMlRraVBENEtHMURUT2dKa0xYV2ttVUZVTFRzQ1hORHJzUTVrbzQvSEhBenJUb1ZvZHgwSFlENFEwNkxqSUx0RXBuNjZYaDhyVzlZTU9QMUNoQ0cwa2xUTzlzN3YxWEtDWE1uNXYybExwdHBrNU1DcHBQYVZGR2VJeXlwTnBIN0dzR3paa1dKWGV3b3VaS1A4RzlGVGRHOW9IbXpncm1VSVJZc2V5RnFyWHdCWmJkQzFEQjdJNGovRmJHb0dESEpoTlQ5VnNuMjFDWFVRaDkya3VLWWxuU3JRTnhEck5KUXJXWmJNZ2tSd0RMVGFVa25BN2RkVFlTVkF2S1ZTQ2NoQ3dLbVV2S0V6RUt4dlc2Z1NEWGdnVzZCNEI2ZVVETWl5VXc5a01UWmdReFlYdFB4VUpYb0VmNnVEVjlid2J1TFJYRElScnhOS3dTTldKK3d4SUJwS05WbEpqczN6WmtYS0ExazBibVlGVk1qZTJPQWh6MlgzU2p5UWJZaFZBTUdKM3FoYkJ6NStvUzB2UUJwYTVxdkJ6bElDTG1qaEFMNkR4ZUtBaHcrbytRK3BQSHF4VUZ5bFN3bTZ6RW5nRitUTUFVOWZZdVNwbWxodHNMSkdWV21rQ3NsNDZweEJKSUZzcnFYRUs3cXhnVHp1T3dURXJDZ09kZlpBbHV3N2pYRC9LcDFXaVdvZXlPSTNYTWp6QUNqa3JvbVBxajR6Q20zQkE3SEZ3d3Q2WVV2SmxUampGK1RNQVU5SzRscklQdDhBV2FPcU5GSzFwS3ZYTmE2cWdld0MweEhOdG10bHB4RVQ0QlN2dVJmZ2dXekhXQ3YrUHFKbDNuaDlIMlNiYXVNczUyaEk0K3VqWm9oOXJPTnVXNUJCVzIxWFBwM0hMOGlaQThXK1liSTgxVEFPVFlDc281c1JaK0h1dkd4M21TVVJIZ1BacmtIa0VrVWQxcTE4Rkg3QXBybTNtUWY3cVNNQWJQYTdYL0RBQUtyVThmZ2VwbnlRclZoaHA0STBnajVxQmkyclBBcTR2UVVYQ1hpN2d2Z0ZrbFo4Y0FYZk5XbFI1UVZLZ0hSNDk4dFJTR3BaOUFmWDdONW5pT0hUa01VYmYwUHlKYjVkV04rQkVqQk5EdmE5KzJYbkxLOENRS2RhaFNiaU12YmdneXlZY05JNEFIMFZPWDNVREhuZ0d2elNpcGJIV3l0alRmZG9rdGFoTEU0dTVZVTNiRjJkcFpYSFFOR1czWG1UR0NVTldaeWRyMHUrS2tFRmtpNXkzeGM0RXZGUGoyTXdZOFVJQUhUR3ZtWEVWTXdIV1Zqd01IencrTUE4Q3c0Zk5VT2txTElWNEtvYXlYSEtoaFVUaC9QZjBGMjRXb2VucEM4L3ZFampxR2JFV2R3Y3VtbjF1V2lpT1hpSHBmbkJzUDIrNUd2b2xDQzBlVXdUN0xVN21Qb2NBM2hHOWt4L1VLbW5jOXdsOWx2WnFFVDRqRDMzVURNU3p0aHFtd3NLb2h2bmZNWTdGWnVua3p1b0NDaDN0QUsyZnd1YnhDUDRza0lQS2YwdXdjMGhFQUlwQ3NSTUdjaUNwNnBuS0xXZVhTUGVSK0hoRFJheWdvUVVyMk1BSUczeE12RlRNRTlDMUJaVzJtZGxJOWhGdHFPcUFhQTJSZHBEQmN1cnBXc0kvNEh1ZmhDUGwycEpuZWNjeUdMSTRKSXE1R2U0T3RsbmdLeWxtTkZuS3U1OCtzY1o5VzIxbFoxaWgvdFNPdnZmTVFHWEVzdEovODluWmVFbDF4MXltV0RsdFRzUnIvQUNZbmhoWlhaRE1BUFM5ZnBVVFQ4YkhpcEFWalFEOVlwQ3N2dE1oQ3hmWHhidDJiOEZlczFRaEdPSzdkMUNUNnVxVHJDeVNoT3BuR0Z1SXZ4QzJmdmpjTE0yalNRYXNqbHp4NnBtaU9TTVZZbTVtckhEcWdHUEx3dEQvSW9xaG5NK1pvZDdJajh0akRlK2xLMFlZQXhReUdub1VCVTB1cUlZa2xTQTdJdXlOQ2NkQWlBcGwyVldEeFdxQlR4RGk2cU9JT01TaDZVV1dHa3pEa3lBTEZYZXFOUFB3cjM1cnVuMHo3NE9lWE52aUM4YmxkNHYyWEoxKzJaR05XbTRBUDJtcGVnNkhuVm9qdlY0Y2wyVkZaVGhGQVF3cy9LTGgwMitWNUJiNW4zSjNEWEl5ZFRadnhiVW9qYXlNQUZMVUFHZjZwbDdVZzMzZjZ6TWJENytvR3labnQ0ZFE1M1BFa3ErQUFSVldkQ25pWWNmSUV0ME5kSms5czhmdVF0dlRlLzdQc1ZmSVJHZmk3RTlVbTFsb3ljUHkxeTZmTk8rbDlGaTd4bHhGSWdYaVIrNXNJOGI2dG9xWm9UbnBLYjBacitJUG01dSs5TUk4OTQ5MjZ2UlQyNy9FRGJ4eTl1L3kvbCtRdkw5UXcxSkpDZW9BTm1pOEtsenNacHF3ZmNSYjBMakVGeFZGaDB6OHZqQzNVTFFEK3hJd3VPZmpnWGxnZTFYS1NiWVBHYnNjSUNzVnN1SUU3UGl4aVIrdGM4SThoakk1a3NIM3dUQ1Y0dnM1Mnc1cTZTQmxpa2lWSjdVa0YzU283Umd6c1NzOTVsM3ZlUHI3RWNoanl1NDRpanpmNDNqYVRtcVA4YlliLy9KL1g4aHZ4V3JlbktwOEsyN1RQMWpyU2k2djhUakJad1B2Z2wrOEgvZmRYL1RjV2w0V1VQMFo3d05UYUFEVUZ0N0tHSDZwVlEvK3ZORlBteXJHNmJQdldVaWlvRnNORjlqdlN0UTVZZEpNU1pMdXFabC90ajFhdzlkbHNlRFY2NmJGUU02eFBLbUZtcThoZmRoWnA1WGUvRHFkUWFRN1YyL2N2bnlsZXQxNVlnQ1d2RjRIYStsZnh4cURnWUJlQzBCUGpOUHgvckZtRmY5RVYzTEpCbzlFQlFsWEpHMFJnKzZ2WXlrdXZHWnVtU0NGcXlzMGQ3NHBRaGtvK3h6VjluRDkydzZRaTdvQmZ5TzQvNDVqQ3Fic1p4bHBPWWZmVS92Z1ZlcjhpUE83NzZyZnUyZXNzdGdVL2xPcm1lL2wxMTc3eWNvWS9ZNTZPTXZLZVYwNlJLSmN3VEluazUzbytXbWtQWDMzSkh4QXY2cTlvcWZ4NmJXd1lKTzJnRmhqRDB0YzRDc1ZzVVlKbzZIYkdsTGlRMis4WnBLSDNVdTZDSDRLSzd4S2x1a01hOEEyZkc2T2JZMHgwSlcvYVU0VlBOdDViSmJFN21POFd0OXhXTkptMk42TUFuVHI3RzhRMXFvWXlIN2xGbStoOTBETCt1S1J5U21uWkRCRWF4alUxU2xBMGl3c21Oelh6eUNIQXZaNHBhdUJRRXFZb28wT1pISUpsZkpFanpqUm1oUy96dEFkdHh1RDVYbk9Nak9rNlV5V0lZMzRYYmFpSnR1NHFMQlJCMTU2ejJNQU5seHZubkhRYmFxWXFaNEVmYkNXZi9MNmppN3BQcHpqa3ZKbERWK0JNaU95MzN4eVhFTVpQUHhCcWtGZnlWRGN2MlROZ0Q2ODQxUFNjY0tjZ1RJanMrZFNVcHlER1R2TlZ2MW9TNXN5a3EyNEtQb3hYOWY0VGpTQ2lRcUd5SUc0M2lIakV4SFFqWUhmOUo5cTZXWW4zZ1RySW0rK2htVlBlcGNvWk9ab3hqSHBDeHJPK25CeW83SmZmR0tjUlJrOGJVeE9GWkZ4UTdQTUh0bm9iZE4zRUc5MGFka1BNbXpOTVFWck94NDNpUWwxZEdRdlhiNVNsM3N5NDdnRDJWZ0U4dURWK3NycXVwUjU5alpjbnNVN3hpVTdhcUxGTElFS3pzRzk2U3ZDRWRCdG0rbDR3dXFFeFhteXBQWEhmSGFBbVNQdjhQcGNRd0pzdlBzZytsZDA2bDdwaDkyd01vQnNxZFc0UWdyREFteVVkZjdEdFlJTCt3MFhUVWROeVpBOWpUYUd6WHZzQ0E3WlFVNlIzMVZwK3R2MFYzNUNKQTluUUpIeTUxakw3NzV6Vzh1RDc3VFF1S2JCNFB2WTBBdE5xd0ZFbERIUDNiZVhodFFQNkdaZ1dnQTlnM0FRZDhHRzBpeitBWHVuUUcxTk94bWN0WUxZL0J4cGVFb1pOaVg4WXBwZjJpUWpSb24ydlUxQm9ydW1CZkFRSm9BMlRHNEpVZUtNRHpJWnVtSEE0NlVJZVhDTDh1MUVpRkdnR3pLdHlOMEh6UVFOQkEwRURRUU5CQTBFRFFRTkJBME1CNGErQnJFRFAzSFc4WkR3Q0JGMElDbGdiei9nMFU4a0xodmNZWk0wTUJZYUFBL1U5bnZ1RFFXRWdZaGdnWnNEYnkrSDJEWllkbm1ETG1nZ2FDQm9JR2dnYUNCb0lHZ2dhQ0JvSUdnZ2FDQm9JR1JhYUR2WEMwVW5GQURJN3RWb1NPaGdSUGVsOERXVndNQlNTUFdRTjg3RVFwT3FJRVIzN0RRM1FudlMyRHJxNEdBb2FDQm9JR2dnYUNCb0lHZ2dhQ0JvSUdnZ2FDQlY2d0djdjdOc2tBTisyVmZzYUFZNndzUCsyWEgrdllFNFpJYUNQdGxrem9KbFBIV1FOZ3ZPOTczSjBnWE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BFRFFRTkJBMGtJSUdmdXc5em4vQS9Yd0tRb1F1Z3daT3JJRXZPNEJsckhmaXVvRXhhR0QwR3NqV0U1QmxvNWNpOUJnMGNHSU5WSktJZmY3RWxRTmowTURJTlpBRHhGNTc2SEo4Y0JrTzlqRCtQckE1Y2lsQ2gwRURKOWJBVSt6bWZ3SG0zVFdzVWR2QjMzQUVEWXl6Qm1xSFpSU3Z0SXkvcklXLzRRZ2FHR01OTExKTFhEcFdobFB1TFBPdXZURyt1aURhYmFpQjZrMStVUmtPMW9VelJMZisrSVhiVUN2aGtzWllBNlYxTHR6RkF6eE5DL3dxY1hNay9OVjc2Szhyc24ydWY4dk9oMXpRd0ZBMWtHR3J2UDBMUEs0MVowZTNuTC9pdmVWekFTNHlEdmFoQ2hrYUR4b3dHcGlXdzNyNzIwaGJldEdVWUNyL1UxM0dQdnNNSHUvNGE0dzVwWnkzSFpiS2JKMkYzSkExa0JkR05pcmN3STRxQ2IrMHcvU01ETkM3bkpRbVpzeG5mSk9NZ1JJME1GQU4xTmV3dVM2M3RiVGhpaG4zRnhsTElEcWFnb1dJRnEwUTBrRURJOUZBUmhqUTRrdHVid1ZtM052WTR3TzBBYktiYnFXUUR4b1l1Z1l1OHJCc0ZIL0g3YW5Hak9IZFpZS0w4dFFLWG5lQnNvUjAwTUFRTkxERVBkWThlOWx0bXpIdTVISXlXTlI5cDN6eFlJbXhGWWNZc2tFRHc5ZEFnMGVxTWdTZm9rOEljNjNwM3F0Smcxcjl6aHpsMEt3aEVUUXdaQTJVdU1lNm1JQXN6SzVNbEtEQzJJNGpSMjE1bXJFTmh4aXlRUU5EMTBCZWVLd1hFNUNkcGU0cnVLMnJ0aWdMaHhneVNIZ1RObFBJQlEwTVhnTlRBcXN6Q2NpQ3AycDZxNXVBbHlSMlhvb1dHRXVFR1V5VmtBb2FHSTRHTGdpUGRTNWhNRWxZTm9LNHJBdk8waFpzL3ZKRWE0Y2paV2cxYUVCcllGZDRyRXNKVE5Ld0xBUU1IRmQySGpaKzVSbUozT29HUXlKb1lMZ2FxSW1BNnhJSndvb09TVmdXdG5XNWV3eWV3dFV3eHNKV3J1SGVuZEI2VWdNd3VITmloMzNYS1NSaDJRYnJsWjNTNGdvUWFna1AxK0VLMmFDQmdXdGdtb2w5c2gzWFlKS3c3RDlqN0ExT3g1bmVIbENLZElibWNJUnMwTUJ3TktDc2E5VTFtRG9zbS85MXhsN25kbjZCT3dvUStrTGtoaU5vWUlRYUtNaHBWOGMxbUJDV2ZlLzI5dllqZDhYczMyNG1CR3BlUXRKdTJNcVYwRXdnREZzRGRibUFCWkF0VzMxQldGWWQ3MDFBTmljV0ZpQ1FrQ2l5R2dtWm9JRkJhd0JXQTFaNG00RFFMYXR4SFpiTnY0Mnh6MWxGVVRRbjVtcUE4MlduSkdTREJvYXJBZGpaSXV3a0pEYXNya2hZOWs4VFVkbkNHdWNGbks5WWxVSW1hR0RZR3Fpb0NkU011NzVGd3JJUXpMSWpZRm41TmdMNHUydkRsakMwSHpSZ2FhQ2tBZ1VRSUxobGxaQ3diRlJWdGxoeXpNclhGV0FyMXcyclVzZ0VEUXhaQTFuOTZpeUVZUTlwWnlRc0M5ODRjTHlHN2tmNW03ZlBmQ2xzNWFJNkMra1JhQUJtWDhwTU1ybW1JSHZWWVZuTXc2NFk4MDVORkFIUTllSHVsaG1CMEtHTFY3SUd3SmJ1eSt0dldxaU13TGN0YTgwQW0zbHpNY0l5ZlNSZnZOVzFRaUpvWUFnYWVNMHZxVWIvOUtDc2tuaUdZSURKQW1TcG83dTdMb3ZDVmk2am81QktXd050TlM5RFFjQi9JQ0dEdlBsNlFkM2RtWkMyMktIL1Y2NEd1dFFWdUdqNXNqUEc0b2F0WEs5Y2hJemRsWmVvYXd0ZXdvYVJzS0g4Z3JDVnl5Z2xwRkxYZ0FrbGdDaGRNMHVEZHhIcVpTMGRGT3pwVEVnRURhU29BZGo1dmFhN2g2QVdpZGxPRzc4Z2FvU3RYRnBMSVpHdUJpQVN1NndsZUpJeDh2V2p4b1l1aU5xSjNRZW1MS1NDQmthcEFScVd6ZGRvakRaTDl4c3VVV1NQVXI3UVY5Q0Fvd0hBb25aUzcyWHNJNmI0U2ZxZkNoZkNWaTZqbVpCS1ZRTU40NzIrQ2Q2ajFmQ05NblhpMWthd1pYRTlWVGxENTBFRFhBTlAvSzg2TzNnWGJuMTU0bi84UjVoN2JXcTkvRTl3RW41WDVmTHZLTUZLN3JzTW5sVkJPQWNOakZZRFRiMkRnQ2R1bG5YM1hVNlFjekZZcnVVSDlSUTBaMGdFRFl4UUEwV0pSVHoxUHZBcTBuTzM5OUNEVjlsSEJTVmI3OEVmNEY2NW52TG5OLzQveUFaMFZrY1FNaG9BQUFBQVNVVk9SSzVDWUlJPSIKfQo="/>
    </extobj>
    <extobj name="334E55B0-647D-440b-865C-3EC943EB4CBC-79">
      <extobjdata type="334E55B0-647D-440b-865C-3EC943EB4CBC" data="ewoJIkltZ1NldHRpbmdKc29uIiA6ICJ7XCJkcGlcIjpcIjYwMFwiLFwiZm9ybWF0XCI6XCJQTkdcIixcInRyYW5zcGFyZW50XCI6dHJ1ZSxcImF1dG9cIjpmYWxzZX0iLAoJIkxhdGV4IiA6ICJYRnNnWEcxaGRHaGlabnN4ZlNoY2JXRjBhSEp0ZTJOb2IyOXpaWDFjSUVFcFBWeHNaV1owWEh0Y1ltVm5hVzU3WVhKeVlYbDllMnhzZlRFc0pseHRZWFJvY20xN1EyaHZiM05sZlZ3Z1FWeGNNQ3dtWEcxaGRHaHliWHRQZEdobGNuZHBjMlY5WEdWdVpIdGhjbkpoZVgxY2NtbG5hSFF1SUZ4ZCIsCgkiTGF0ZXhJbWdCYXNlNjQiIDogImlWQk9SdzBLR2dvQUFBQU5TVWhFVWdBQUJBa0FBQURIQkFNQUFBQ0poQmRsQUFBQU1GQk1WRVgvLy84QUFBQUFBQUFBQUFBQUFBQUFBQUFBQUFBQUFBQUFBQUFBQUFBQUFBQUFBQUFBQUFBQUFBQUFBQUFBQUFBdjNhQjdBQUFBRDNSU1RsTUFkdSs3Uk4xVW1SQXlpYzJySW1hcVk5TjVBQUFBQ1hCSVdYTUFBQTdFQUFBT3hBR1ZLdzRiQUFBZ0FFbEVRVlI0QWUxOWZXeGsxM1hmNHk2WE85emxGOXkwVGRxZ3BEZmQrQ3YyRUEwRWZ3SXpsZXMwU09NT3ZhNWFCM0x6eGdtQ09IV1IyY2FPMS9YWHpHNHFHNGhrRGVHNmRnQXJHS0p1b0g3QUdGYXU0aVJTTTVNb2d0TEt5YkNiUm5aYndFT29mNlN0WFhETkRidVN1Tkx0Nzl6dis5Nlo0WEE0WEE2NTcvMHg3OTV6enozM3ZuTi85OXh6UCthOUtNcXVBVFR3U1A2MUEzQmxMQ2RhQTE4VzRzVVQvWURadysydGdUOFJHUXIyMXRJSjU1Z0FDTVRsRS82UTJlUDExOEIwREJEOGRuK2VMUFdrYTJBTElQamhrLzZRMmZQMTE4QU1RUEJTZjVZczljUnJvQVVVRkUvOFUyWVAyRmNERHdJRS83QXZSNVo0OGpVUUMzR3pkc0llYy9yakoreUJEdnR4VHNNVUxCOTJJWGRhZmpjYjR2YW44cW9RTzdYOVpiSGN1WC8wZEg3Ny9vL3E3TDlFOVAvMlkzL2xrNCsveG5JY1VhQWdObytvNU9OWjdDUk13YkE3Q0ZkYnlJenJacEdlZlU3VW9taEtFbTVSL0FndjFHTHRDSXMvZmtXZlFiTVZoNnYyUDZjV2YrOHpiOCtMM1ZWSTZJcU5jVUhCS1NIYXd6M1RYWnFyS2NSdC90R25MNkJWKzF5MDkzRHJ4OEV3L1J2aWU3aTFDQVd6ajM2Q3lIMnkzWWtrUE5UeW5Tam5wSlNSUTV1OXdEOU1TWlQ1QkVVOWg1eS9xUmwrUnJ3bHdsNkVRczJ2SERrS1psRzFsWDUxejlKQ0RWQmJyb1VrSGZ1czZJdUMyVmlJTjltTXpaMk5ya0VCMnVDSWJRRk5lNVpzM2JMQW5ockFDRXBPWGZxNm11K1BBdXc5M0hZWnA4VHJXZ1lGMFpHam9JU0h1cEYrcEl6U1N3TlEyRTBtYmZaL1FwSDliQUh0Ulc5NkdUOVAvR3BFT0hvVXhLaExqMkhPcTNJV3RCcW9DdkdLamVqQTFKVjdvRVpjNVdTS2l6ZUYrSDh1RmtVMDRUUW95Qi94aUNCUFMyUW5wL3ptMlNNY0MvRnlrdVVzR25UN3E2MStLRWlhZ2loYVJDWnRDNDRhQmZWYnFQdWZKNThxaS9mVUFFMFJscEtwWnkvZS8rbFZUUHo2MklKS2F1d25qMnhNVU5CNW9jQll1T1JUWm5HcmdXbTAzYnFOQllGK0tHQ21Za1FhRHhSTWlzMXFkbUFpYU1zOUlqU2N0M21lZmlpZ0JjZlZSRFpvZmp4UWNHWW5ndGR5eEpQVmhITEdPMHJML20yK2l2MVFnQlpQelN6cTQ0S0N4UmVqTGFaKy9GTm1WR2lBVUhDWjEwUWZGSkQxVC9uZzhDbkh3aGJrQU91U0VMdjhVMlZVUmdPRWdqV0dEbElmRkpBbnVKek1CUmRqTEZBd2cxV3dCaVk1eWZwbDhaNGFtRU43THZDcGZWQUFKVFB6aDNnOFVOREF6aFpHSjhFL1ZVWmxOREFjQ2dxc2twdmpnWUxXU2hUTm80STE1bkV6RXF1Qm9WQkFic0h0dExqU1dLQmdqazVMME82SUhwN1M5Y3dvU1EwTWhRTGFoMHd0TzFNSEhBZS80QnJoOHdCSFo1SWF1aHZpUTZHQWRKeGFkaWJWandNS3FyU05STzdyNXQzUWZxTjV4cUZRMElXT2w5TGx6NFFvbVB4RS91TGJWa08yaDUrTjM1Q2tSVkdhT3ZtVlMrTCtqMFRSdlpkdC9vZWZ6VE5aYmJJSlRFdG5sLzV0dFdCSTJYMHZEUXlGQXF6SmNNdk9jOFl0bDd0SmMzbHhBYWVieTM0TnZnTUM1bkQvMnFkRlVacjZxM254NUNmdkVXK2FjdlBSZHdweE1TOTI5bXphOHpza25NWXNCNkN3dUN5VzBzQlFLT2hBeCsyVXFDajMxelNOVUREYmV2MXFOQlVIWHVTN3hPNy9pbkkvbWVpbWFlcVV1TFVLVVZmenNRVWJ6amgrTmNvOUwzWW9vZCsxSmZjU2FjdXozWTh0Uy9NMU1CUUtZdWg0elplU0NCTUtydCtxZ1hyZTc1SXp1ZzBmQ3RxU29UWjNONlJFMlBWMUpSclYvRU1LVmNORERTclIvODNsMnhTbHhUQ2QxVS9Od3J3R2hrSUJWTnpYOXdJS1p2TmxLaEFiMTNhbE9kY3kzWFBMMi94bnFIUDI1R2pITk9XaWVFbldINnZVVXE2TWNEOW5sVzlDVzZVclhIcEc0elF3REFwb3VhQnZZd0FGWi9RaGo0NlE0elFWL2FkMmRFQlAzVFNWWWFoMSsvK0lNeG9GYVB5Mnl0RGlKaWRHRnU1ZE9oS1A4L0NvNFEwWnluNEcwTUF3S0tDT1podUtLd01vV0Z4UUNTVzNlaE83M3RsMHhvQ2hObzJYaVg4N0tiTmVzVmhxN0xGTDFOSVdJRU1CMXpDOWFNT2dRQjR4WE8wbEVmUzh1SDFSSjlldEs0aEJmc1BrT1NPMmF5ck1VV08zSGFoUWdKNXR6amhpSVdEVFNHSHVVd2FkUUFHem9zSGt5RWpRd0RBb0lOY3JkY2JFMTJiZXRkcThkUSszdkJNSktGVjFjaHdFY09jVU5EWG5kZmVDWklPUHVhTGxvMndUOUVzMDRWTkdXcHdkUERRNkdlQitXQ2d3VFlVRi9XVlpEZmlKcGo4amJpSWNGUU9Pclhoem5ZSVZhMUFvcDNVM0xaY0xOSTBCYUprU1hGb1c2cW1CWVZBd3dJaGdKNUpZYkpZTlNlczROMXd0ak5QSVVZR0NCY081SlRPalNWY05wZER2S05tc0xiY2o1RjhuVGE3czNsY0R3NkJnQU8vUURNKzByYk1pSzFBM2NKQ3hSVDI4YzFUZlBwVGFZQWZxM0pHUnBqZGVTRkgrejJuTFY4Mk9uL3FLMlNNOERBcmtUTEhZUjNCZTJNMTlpNEl0NnlCUXhvYkdCRXRGOW85cDZaTTFCREJQTk1POUhCMTBHbk9yMkVFSE1HUDJ2cGtzR1FrYUdBWUZHSnYzV2krd0k3dEZRU0Z3N3V2NkgyUXN0UW54djF0enpRUGZ3aDBvTG5tamcyUFJvZnl5SVZWODVCaGlkdStoZ2FGUUVLT1pGbm9JSkhMZVdYQ0xBbVRaZEZubXRmUEdVdXVnaXAwL3RxNUExeC9qRzMyV0tzNjV1U2pBWXBlclhMRlppTmZBVUNqb29KWGF2RHhKeGQ2ZlNRVUtsaWhNSG1XWkF1cEM5eWFEelZPcFRuVDlqc2JCbHUvdkF5SmxMU1IxNjRvTDVzcjd2a1NLTVNPRUdoZ0tCV2dXTTk4UHBIMVJ4eGdVVURsRnh3eHcwTklRVDQwV3dVelhUbG5tV0VUb1I4M1ZDbXlLazBpaEF2SjRWNWlZeFhwcllDZ1VkS0hxSlVabVhGTkVCZ1dZRWlaUVFPYUNwMFpUNk1ueTJwVUNtenFtYjl0MnFGQ2wyZDlKOFk1dm1Lc0Q1ZzJia2dYNmEyQW9GS0Fucyt1elptYkFvQUIrdnB2enEzT0JxQmhQamFLSGRJT0wxMUh0MGFMOVZvcnNBNTV4TXdsNS9MUVhXbXlHTEtBMU1CUUtxQXUva2xiaHJKa1pNQ2pBZmdHREFwNEt5VmNMR2dmVWtvT2lZTkVzSENJUEZwMTcrdy9wcXQvbGxLRlFRQXNHNU53bHJpbmpFeklvb0Y1ZmRQendEbW1CaDZkS3RtOC9MWEd3Z2doR2hFRnNRYzR1SENJUGRwMzhPWWtVbWYzMDBzQlFLSkJ1V0ZyaUJEbDhkREVvb0NOZ1paa29mK2JWUkk2bmFyYlBWSkhuSlVRV0I5c1ptckVMaDhoRCtGclRnckxiWGhvWURnVWw2TGljRW4xYW5mQmdVVURsZURtQUFockVlYW9WL0R3eUlWSmh4eC9MWlFJbHUzQUlDZzFhbDAxS2R0OURBOE9oZ0ViZDVaVGt1ckhiakMyZ3ZZZE5sd01vb09WQWxwcDd2ZVhyeUV4ZGY5WElwcVVDOGJwSG91ZEsxOUJqeUlLZUJvWkRBYldlYVhJbmJHdEpoeGtVWUpUd0xUUWFWaDVKNDZqVHhzbU1JbmlQNk5DWWtqQmVpQ3RYaFNaODd6TTdmcHBVVDkvNGNDaUlxbHpEdE5aMFVSd0trTVBybXhXOTRNQlJKejAzTWsrWllOMk4zOW5uV2VwdXJ3RmNoTk9sUHR4TTBzOFZHZUlZa3E1dmpyeFNRNktBVmd4V0U1V1pOTXNGbkhkSTc1VlljaG1hZWdtYW8wNTZBM3FUOXFWcFNsSnplUi94d280YWRZSVh1MU9lRzE3cTNzR3oyeHQ3TTQwRGg3OHNNcUw2RElrQzZtcG9uK0E2US82OHZEaGJBRmZpQlpNdTM1QWhkYzVSSnoyNFZPUktkU2Z3S1ZwRko4ZUY4RW9yRjBFSUZmVEtDNUw0U0NjOXhQR01SMEw5MHBvdE5oZi9sZzJQS0xBUEZFeCsrQTljb1Z2K2JxOGlMMXF0Y3lqQXhwR1pRc2plcmV3M1I1MzBYSTZ1YUVONDE0ZWM1emE0NmtUUnRjU2dBUlRzcTFsUGUrT1FMM2M4d3JQdTBIWVVYZCtwamJoVyswQUJyUGlhTFoxbVlwczJSb0ZKTnhQa1VJQTFCamVmUjI0TkdZWTY2WjBtYU1nZGJFeis5ZDhiVU01cDNsUHMrUE5Fc01WK0hxcmZIbGVMV1F5bExMTmYrTUNqejE2NnZFZnV3MDQrTGJ6cVRZdjNqYmk4L2lqWTlFcWpYV0JQMDlVZ0JyNnU4ODVZRkZ6ellOTzFpd2NNRlFYVlRMa1Z0U1VVeXgxSVJXeThiQkw5KzF6U0MyZ050c2hnWk14NENEYzBlYS9nc1k5KzZhRWlsODlNeFNwbWVjNFFEbnJ2ZzRJNFBFcENhLzVlNlVsak1KdGZ0M1h4OXZaUFdhY1Fyb1J0djVaOUtJWUtGTFNOcUk0cThib3pRN244bWtuMDc0dkpyVzc0RXRaUDhSbDdoSnZlVGxUQU1oNG93RDg4dkZxZGN3cnlxQWNJOWtGQm9ndlF0TURmck4zQ1pMSG1TcTY0d1FySFIrMlVmOTdhZml3Qm1xRWJDR3FibkdrcVVHRE0zN1FlQ1VBeVp1aThoMFFqUXk0WTMzQXhDc1hjWERaazhXS1Rab1R5YUNyNDM2KzA4RGhIUENKQVlRRktZK2RpcFNvOERLRTNDdWlqU0svVW5FemFuL0hQbVUzSC9sY3l6bnFyQVdRbUZuVEdSZWRGVHViTnR6czdYamROVTlIa3hzVjR3TmhwdkhkL1RVck14ZHlZU045eXVGblRSY3JibHlIRXg2eVg5cXBBb1NyaG10ajBPTUpncm5Ea0tPZ21Wa3k2cVdsNldPWDl4bGdVNVA3dGxhZitCcWxSN0x6am1ZOXZLcG5FR2ZRSjJyRDVUVjNlUk41WXJPa3JIMGFUaU8wM1g5bUl2bmxGU3ZtaEsvOVVzdjJwQnNmZnNhMU01QlFWS09nb1l6NGRHNm01bHJpNVN0eUx6dVJRVkY0L2NROVZUZXgrMUJBZWZsVFZmdmVaajh0TWhpN3Y3d28yTjNWU2k3VXdPckViUG5jZzdjNUVDdDRZU3lWT3BLYnBCNnNIandKU3FyMldkUWtGSWRUTEFVeUpaQzFlUTEvUHl2M2ovSFpaVS9FWE1uMFZhYVZJWGRxY1kzZm9vNy8yM0YvVTd5SXdZcExVU2ZHOXlmeXIwWHpQRmF4SmlmQm1sTjN2KzlaejFRQ0hXb0lweGM1Qm1vWVNyRmNxN25jaXJXeUtOdmM1NTdJWWtuZWZQMm9Va0hXMFk2eXNXRjUxRTYrU0J3cjJRTUdGKzU1UTErT1g3T251aWRaNzZ1dEJZUVFEZkVudnFkallhNlJPaVFzWDczL2k4VXNYTVA4dWJaT2MreTdremFBT0FORDFSNEdVS0VHZGh2Ri9TTDYvUm56S01VN0VNdXRiSGNXR1d0c284YjRMYm9LNWhUcW9ncE9HZnZLWFNVclpadFdCT2djdXkzVGtLSkF1V2MzV0I0R3QwUTRKTEFyODhvTHdmSWlDNkdwTE5nMjlxR2F3Njc4OG03LzQ1bUtTTjZUS1BjV3JUNHVMWC8rZ3p6ajdnNDl0UC9uOVBtVy80ZHdYLzUycWJqbVpzeU5xU1pJWHh6em5zaGU5ODhGRnFqYU1vN3ZNaXgwYzVVQ2gvYUdndnB3b2pMNndLOTd3NlZxQ1BJN1JTM2tGQWZ5V0UvV2JkbVlra1NLalI0MkNuS0JQVkJiOXFrM1pPWk5QSFRxOFB4UTBqclpQRFAyVWxORmlJSTJDMHozbmliTEVvMGJCalBnVlZINVQxc1g4eE5ZSk1wU0QzUGVIZ3NyQ1FjbzYycndTQmYrZ1FMZHlvaWFOL2hiL3FGRlFlaVY5Zm03Uk9jNkpoeGttU2lmL0JtL2FhbkdZTXNZamo5aSsvL2MrU0NkWjB5Z29oSU51c3I1SGpZSjRoVlpnUWpOYzl6WmVrL1hkZjN4L0tNanZ2NEF4eThHaElHY1hOZm5LSGpFS2NJaUtMUFp5VUxtWmtUb0crMExCZEwrMWxhQ1NZeHZoVUREaExXVnlGVDlpRk5SdnkvOXpyZ2RWbS9UM2RJS1VZU0kwNHBRSHpYaldyTzhQbW1IOCtEZ1VuT203WmlSZnN4K2E0enY3V0owWHVQTnp2ZGJIaDZvYjdRNnNEcHJ6Mm8xQk9jZVdqME5CSTdrZm1hajkwZG9DZXIwMzdjOGxkRi9BMnRySUxqeGh1RGJaVDNKMWhBWDNLK2NRMHpnVVZQZFE2TkdpUUw3ZUc2MzBRcWlWclZGdUpkUVR1MVZoVVdGc2Ryc1dFbzVoakVOQllrVW05VlJIaXdMNWV1KzhkemhEMWErN3Z3TjFxWWNLQ0Z2N09JeHgvdmk3QmR4TUVYczFnVXBTa1NORmdYcTlkNXc2UDNmR084YVpxdkYrQ1lVVXlIcExxQzczVGpzdUtZd3RPTGVYdTMya0tEZ3J0empRVElrdU9CT2VPem1RL3NudFdCbFF3dHdKR0JBNFczQStQVkY4K0tsNCsrdDJoMHlqNEc4L3R2M2VmeFBxS3ZmZHg3ZS9scUJob3oxTi9ZbDc4anRmTDBhVHI3SDVjOTk5ak1scWsyMmdJWThWZGZ3VDNESU5Td2lXNTZBQldpN1lIRkJJNmNVQkdjZVpqYkVGODZrRm1KK0ZWbkNaWFd5Rmd1ZkZkbDZJdis4LzNGeExpRmlJMTlkOFlwU201djZsMk1YKysvWm14UjV6bXNUaDYwdEN2Q2ZJeVVWYXNwT2kydTV3cjJURGdjMVZqbjhZR2g3UUhBYmNNL3VITnZaa0dYOEdCZ1dscEorRjAyci8vdGMrOTRHV2VJdDZIb21DLzdHTlB2OXozb0ZKbkwyUDZZVjgvNndUanRBTXRTTG9zRlh1VlR0MjdKa3RpSmMyb29mejRxZjJVSm44THFEODgvN3RCT2ZnM1RlUk1SMWRkTWM2MDRrbmtjS2dvSm1ZaW1NaDdUL1FvK2NXOVgvV0NBV3orWThScmVWM3lZNXF3NXkrVXpxdU5QV2MrSThteVN5K2JvbmJOZEJRVkZrbDlmcVYzd1dVZjk0M1dRMW5MTm9tZU1BN3VRWHJCNVJ4dkxJektDZ2tQS09DME4wdTEzcXRmRGhDd1hWMVhLcnUyZUVIRFIrRzZLTFZBa1BkTXVaMnh0Z0NETVJyTWtjMU5ScFpRU3BRZlZuZUcybWIzUm5aZnRJTVVIQVM3SHhDZFgyaURBcmsvNkpkRnZ4MXNxMWlqK2dqdFlTQ3VDaHBVTmlLU294bVhXZXNPQWVlb2ViY0g2dGkzYUdyQmtBb3JLLytaL1dHYnhjTnBjczF0MnJDaEJuNi91OWJxUW5JL21VY3J4d01DdERHL2pOMGpLZEU1MmhybEFJVS9CUHBxY3ZYZEtyT1NXOVZNRjJjL2xwZkpFWmNEUFdjYTY0dGhRSkkxbGlDajdldU12Sy82cnVBNnJ2UkNZNUZZV3JpSmVTKzhMZDZYVDNSaGpvWTNIdVNUblF3alFMOHgzM0JlMlNZOXhkVmxNNThsaWtJRlB5K2JqVU1vUm9QR1A5ZEs4UkNqUjNrRmFTbzNobkJlWVdDcmhZTTJRVm5ScWlvNUZYUi84K2NSMTBTelZoeEpzYmx1Z2ErSHBlcHQyUFdvZXVKdjd5a0dFNGVJWTBDTEIxdWVzL1p0VHY1ZGFoVDRnTW9zRTZjbmJFQkxjczIyNVlaOERscTNYWDMwd29GTFdkRzNGK3pyREEvWUE2QUV5S0xmZ0s5Vmo2eGprVEpKZkQxdU93a05SUVR6ZWI5SjBra250Qm9HZ1dCYnlmZm9sdFV6ejRQZFpZcENCUlk0NTgzUzNaMWh3eHBzQ1ZueEZFYmJrUTRKMUdBQWNGMlRCU3lTbVh3bDMyOU4vd0hDMFROMmswdmR1RVZRUGtlR0JEaTcvRkZSREFGQ3BzOTBrOGl1VWxhS3Z0UGhrSGRhd2NNa3FiRmFkTjlnemlCZ3BkTUR2dnZhUWd5TlBuK3BSVVo0NmdOMStaelV0OW9VajNveVBjeVhuWnlrcUd1S1pmYytJVXdkVjdjRGduRHhjajdhUStYOWZqbVNxTUFjM2JaMXVxWm9HNnpTQWRUcVd3dVVHQmZueEJya01CQjhIb1FabjZTbGFYV0hld21aY09WaEp2a0FZUHJ2YlZaV05KcGRCaG9MZVNiOXlzUUp1MG5WcjNySmdqUVRob0ZhUGVhVTl1OHA1UTUvUzlIb09BRncyRlFnSEhFb0FWSnNDQVNFeXdWMlcrWkVuNmM1RUR4eTNTbkMxM3hoZ294djFQV2FnRm15UjQ3R2hSZ25iVG4yOFdaR3AwUTBsNG9xREI3ckdoRzIxSUdCUmd1bEtHUWVvRU5rRkJpcVhTQU9QanpWdDZibThJM3RhTkRTc1gydTRBRUZvY2N4VGR2aDY1VXZzRUpaR1ArY0hEMms4S1pSZ0ZhcnVhZXJ1cTF1S0VDQlVzbWJGQXdINkNBL3ZKU0JndExKWWdJOGY3L2JVVFE2OWNXVEFSV3hJNDJobWJ2OXJ1QTh2anBpcVhMd0NudkRVRmh5dUN4U1FEeXR3ZG5QekdjYVJUQVYvT2VMdlphM0pDQkF0c0NzZFo5S2R5QWdUYmJZT2VwVzRRQzJBTzlCWTFodzFwNk9sR28xcVpOWWQ1OVZteWJUNzljUUo0bEx3bkJVYUJnUHJGSkdwWndjbU5OYW8reS8zd2hDcEJxVzl4d2NTaEF5L3A5T0ZaT0hrK2xRVjFlYWx1YW91ODFuMzU1ZTJoVFRKSHlUcE1VNzdvUkpHS1Ywa2R2bURab3JDNk95MHNlQjMyaXdmZ0dRTUY2VWhLSEFzaEpvSURBdzFPam56RnQrVnNrbXZ3RS8zcGRzandUTDkwMFgzNzV4amVRd1MxS1NvWlIyQUk4bVhWY1RhbDN3ejJOZ3NBdm9ERjdPYWtIRGdYVjBLdUxsVHZCVXlQc1BhdEx1dU0wOTE5TmxzSEZZNjhtK2JBOHNKOGFnWGVZYTNsTElWd1ZUaWd0allKZ3BqZ3dDdEN1dm04Zkt4VHdWQnhWK0FzS0JUTFBvQ2lZOE5jeDBGd0ovMkVVS0pDZkp2aXBFOXJVZlI1ckR4U1FzNytlek43REZ2Z2pRbDQ1YjlWd25OQlVramY3M1JpaVpmZWxFV0VRVzFBM0M0ZVV2NUR5SDBhelh2QVFLck5BQmR4VlZ4b0Y0ZG9obExLU1ZBaUhnc1d3Yitwc1BGWEp5LzA4bUdnQmtMekRZcklNSnQ1WjhvalZsT21lTnpzYUh0Y1F3UW9tTDdVaDhoM3JMR2tVb0dzVzNTUEZxUm1aM0Vld3lEQXp4YTBVQ3BZaGhLY2E2WGhERnkwLzBRclFwcUgxdm50dkZBWVQ2dTJ0VlZLdXVyak5aTjczK1lKWlBQSDdHRUVubWdSdEptYUthSlN5ZStRT3YycVVRa0VqdE5BUWVobENXT3ExTlNNZUhnRVdISU5WSTVPVXZwK1JhOUtHdnBVNkJNRHVLVjVEUlhwY2RodlRpTlQzQisvQ05lUTBDckI2dCtrVVV3bTlQcG5BalFpZ2VjTTJOV3dSdkN5MWdmNnZyNDdzMExGYVlqTEVIdmRGMy91a2IwY0ZxS0FWS204SjI4Z285WUFBeUwzT0YwUXRJZDVvOHQ4bDl6UUtzSHEzNWg2Kzd1MzlHeXFIQW5nVG5scGhUK1I3aGxocXlibVJwMlFtMU1IYUZsTkc2cDRMejhFMWRBbU9qejFyTk1UNUF2cjA1SGJOeWIwYlFta1VZRnBBeGx4ZlVJblh1dE1mSXpLSEF1d0NlZStYZ204aEIybVdXbklEK2prNVNlaDZlNVRZaitSM2MyYkNsa0dleEZJaGUrN1FQTVorN3JuOElLamNqOFN4NTJWUUVQdHpRN1NqcCswenNodHpLQ0E3V3JOUEMreW9sVDJPV25Kd21aSm1YYmtISnZONVp5b01pZTZsME43UG8xNDFQejJxdW8zT2dMNy9TR05mTHc3ZnYvenh5OEdnb0JEczA2QWRGMnkxUzNKSVoxRlE4dm02eHA1dzFKSmJIWmlWSmdOZWhEblBoSkk4dDhHV2kzV21mRGhvRUFwV3ZYUmFRUWc1Z3NSOVJXanFXdDVYamdUelo3NXlDZThvL2I4SmFpSTZIcDhiVVpWaVVMRG96cENBcCtGUEZUdHR5c1dpQUF2UFM1UW9MMGl0eVFCSExia1JaMW9kUHF2Nms5TkNXK1pNL013azJpVjkvRFR2eENieTdqc2FDM3VHZXQ5NWtlRTdRQkZkcjlub2w3c2llUzczWTdsamFRd0tHc0ZhTUlaNE82ZWFWdDJQUlFGR1UydXowYm4xOGk1SExUbVVUYW1CQTAyNmJwNTQybDhuTmtSYWVYQmhDbUhNOGFjeU1CWUg3TCsrK0ZJdzRmRlRCZ2pucWtMOHlDOTg2NHUvZ1ZsTXNRLy9tS05nM2pVblBVVEJtZDR6MHVXanN5Tkw1dkh5MWlsc3VQT0thS0kxemNCUVM4cHpKSVlaMWZvNDBXaW5tZGRzU0V1UXR3bnBRSGdVK0JLMkRFbkdCTGR2MS9QeTdoa2tpTlZZcnR5ZjNiUDl0Ujlna3d3Ui9lcXRNbndWTUZnMTFQVDlFRDgzOHFHZHRYUjUvU2lvYzdJVG5YYXRSRGtmY0d0cCtoT05kVzhseWVrTHM4TVZYVkxUU1dDb0pkZUxHM3FaRXFTeXp0dGExNEhnVnZWOVZFcWhFYUh0czh4Wk9QclU0Y0tvZEFneEkyYTZJUCthLzlNbXp0enYxZi90UmRKbjl6QXBPVWk3eklnNEtBbnpjOC9QNmkvdGxEeTNnK2NWUW9ZdUd2WnpDWDBXek5HTHMvcGNadE1ORXVSSW1RZTVWK3hzU0Jub3AydEdXSlNtb3NuTmVCSHJqajl0amNFRE96V2IxUVp5cjBJeGI3RlJCS1pib0tocGlDYlBPT1Q1ak1PRjg1NjE4eVJnUi95bmE5Rm5XbjFPcGFFRjlETWgzK2VGK1JxT0o4UUxkcDN5UE9xQmcxQ3cxd0Q5eGMyRE43Z01PeWFIcWpVMUFROG1QWVBwK0VWUXZtUys5L0twYU5aK0JtYVZXTEVDTC9rbVc2YVZlU3BHQkYzSmYyRzc4NFBhakU0d2EvaVRYNGxsUGI5ZUpubTRjdjlIZm41R2lDZXY2RU5ySUo0S3h6SEpPUFJQTTl3TE5YS3Vxd2VjeW9jdWlVbkduYnAzMmNaenFIalJ4dElCTklIcFF1bkU0U2xWcUd0bHdPdzlVWUJsbzNJZzQxMXdkOS85dWIvWnVsa0R1WUlpNVBYbjhnaW9DaXQrN0E3ZCtvWFBmU0FXdDRuUlhDbHFTU3pjdS8wRFFNM1BPcjh6ZWg1dnluajM1MzQrdVVWRVFteEZsN1JJMm9yV2wxdlJhamlmVTdNZDRGWks3VldSTUZpc3NoU3EwU0RENFErR1Qrb3E1c0lVU1pzOVRXbVZUUkxkOFdTSGdZSUNsSFBETDZkUGVGNSt1RVYvQXVZK2ZDM0I4blpzRjlXazcwaWQ3MjVTdEdLKzkwSW9NSitCS1ZNSzlvaGp5WGg3UTBYMWI1TGFlSWtPRzlIN2EyNTVqT29ETWVwalVFRjJUQWZ3aFJsOG84WnFEQzdBaGZ2VTkyZnN0Q1JhZE5PTU1Qc3dzVG83c2w0enFJVW5XbWJGSmpzL0xVTUduSEVRdzJUck1GQlFSU3Vzcy9YYkQ3SGtwZ0E2MjhQUDV0L3duNzBtNnlXTnZ0L3kzbzhrVXhOVTJsUE0vV0M4ZmY5SGF6NG5QaER6aHQ4TEtIN3FudUZDVHl1OVo5WTBBMDBTMHRTVzFlMWkwT01kSi9MWmFiV2tOa0xiRU9YTGpsa3V2QndHQ3Jxby9hWmZ6bERoVThGQjBxRkUzUEZNV0M2b2phNVFtb2VtUUE5UHVLaUxPSldjdUdwNko5a0prU2M0MVJ4YWhrT3lCVGphZi92Z3VqZzNDaUVIcjhhK0pFeHdIc1crSlBqTTVIa1VmUUtGdllPTmFOeHlNaGx4K21kRkFqeXRBQmV6WWJaRFFrSDBwWGR3dFdNcTNJK0VmdFV2ZVN6VHp2U3cwY05WbHBwek01bTE2YXc5RmtlWGtzbUlkOU9kc0JHTUVYTjNCZ1ZNMVlZZ2RjTEtEaUhoam1mcDJqRjdGRVd6S01oN1FJdlpRYk9RV01OQVZUQkw4TXhEWWpma3NHekJLRlJBbUY0ZmphQTdKNldhdHVBSEtKeFFzSkRJajJXVUc1WlU1UVpOY0tUK3ZCSFNUb1hkYTd4UmNOWkR2WDN3c1E3ay9MTXdCNjhwaHdKNGpLNXZMSEtESnExcUY1T0ZZNjdvRGt5VWpoTUtScXpUcEdJT0lYNXV0TGpsVURBdnZHV1VDdU0zeUFXMTFMTTEvY05haGVPRUFwenpYazA5emxnVDZsNExqYUNpSEFyUThKZXQ2SVlQQ1VOdHBaMUQ5WDR0bzh6a2F0TjRqd2pZc1d1YlJ6c2U5K1lvVnd2VWxHOGg4ZVRvMUd1V1ZHY21DV2hqWmk5akhsU0RIZ3daWlNzQ2dURkh3YVEzbHZuVkh0ZndMS1ArZzlTVnN3WG82UTRZYU5zWGtnWFFJc1BMU2FLY0pDeHBhdWQ0b1NDcXVoT2lxZWNhUThKNXozRWJSZlU0RktDTnkxWTJVT0I4UGsxRnovWm1FWWFWc0tGWmFVWFNpUUREbU5zQ0RBbkdpcG1uR2V2N1ZuaE0vY0IxWlZDQWhTSnZBb0QyYzhjSWRIRmRjS3luaXFZVEsrcm8vVlNNWU5sbjBDaGdQamRDR3pkdlcxVzh1Zi82aTMvNXFjZFdzS2Y1eXhmZVZ2UHpzK0hjRjM3eDBhY3V0VTNhSkU3QzN2K1JLTHJYTmFndjNMQ3g5OW5SK3R4c0dhTWpldS9YSG8xUUJnVTA4ZGZOZ2pJd3d0OU9GclVGRHFkcWswcmVBcDM4bWYyekdDRjlhVUVLQmN6blJ0NHB4TVc4MkZtUVFzaUUwSUdCWEVGY0VEK010MzVzWDd6L2lTZnV1eUJXcHlqMCtLVUxWSlZGYkx3K2NTbGZKQU9EcXkyelJ0R3Y1c1dUbjd4SHZHbktyV1FFd2pWYmoxdUZPL1BUZy9mSXlhZTlFWHNrbFdGUVFLUU5LeHdvY0VjYk5CV2p2dWMvR2xZc3g4dU5Mc3B2THg4RnpPZEcva1NJcjBhNTU4V081RE1vK1B6dUI3RVN1ZXJlL2JKS2RvWXVpUUlWVEtCZ1N0d2lHVmZ6c1RWVG9YQlRUZjQrWVhQeDZXTkZyYnAvTzQybVhnd0tzSUVVb2lCMXRDOEd4MmE2ZkdxZEl0NGVmK1hLbFlJUWI4YnR5cFdhWWlOYndIeHVCS1hMLzJkVjFSR1ZxVWQvSHlKV2N2a0YrcWYyZWpUNXlSYmlZdWVaamVtbkhxUFFEMzBhNHQ2WnArRDdONktKUndzSXRGVUp6VjJGWExma2xSQ3UySHIrTmxNV3J5ZnJVU2RNT0dzM29xb3dLTUM1dXhBRktmOFpESjduWUd0Q3JiT3BZbHVNWDhCOGJtUlIreHdvc3F3eTNnc1VuTWFwcFZqN254MkFRTm1UcHQydG9qci9rV1NuRndhMVpXak9uanpybUY2ZEZxNks0SC9QTWRhTjV6eHlhbVhrZ0dWUVFIWlo5U3Q2WHVZWUNybVBIQXBpa05lVWpqZ1V4RVdaQnZFcmlvaytHOVJXd1paNFdRVXcwVmpaV291aXZKNmdZa0I2UmFVZ1pQSlY3SjVuM1VpbzJ3cVp6eEV3d3BXZ0hyK0x1cHdleVkvRmN3VUFBQXF4U1VSQlZPTkRubVo4c2dQV2prRUJodVQrS0NBMzBQTWZiUTFhSUxkVmpFRUI4N2tSOTNHQWhqbk1BZ2ZnZlRRQ2RYU2JvMzU2aW9LVUpTVWNidUZsRzlJbE51MFJnVGx0Q3hqaE9oTi9tK0llaVdjOVdtbzlQT1ExaXNvTWhJSmFXQkpOSWppVkVRcVdGU3VEZ3ZUblJtQlR6SWxWSUc5VDVvVHM5eEN4YTZ5Tk94ZnA5cnRQMi9WVEdJaTJ6QmZ2eWh2OUtCUnd3aTBMRy9qbUJrc2VPK0pEbzY5bkR4VFU3TFBUaU9CaWtpd2RkcVlxL1ZGZ1JuNGMvTll1TGtTdjZISWdVZ1ZoWis1YkFuSDJFLzlKSmNFbzZLS3F4aXBFWjdSNWtPTlZtL2h5eHBZZ1hGZ25DaWVjNk5uRmFJQkJRZGp1WVV4S2tDaFlUUXNqRk1nV2tLOTVLdnNNbUNQWW1ZYjkzRWpGVzZrMloxZHB0Rm56YzRKSnh5djJQMFJkN1VRNEZDQ2J6ZFNVZGVDRVc1WXNFR3BnSUJSc2hIbDZqUWd4V25CWnNXNVpwMS9GZ1FMYmYyUFRiMXZldUZMUUJvSlFzT29YTjIrc1JGUzFLWXV5bllrTEdHM1RIZGtXNkU3WGxremxoS3YwN0RlbGdSNG8yTENNakMyUUtDaGFEaHVJMFlKdEZXTlFvTGNZYUJLb3pBTEV1RGxvVTBNRHplbUlKQXV1L290S1p0NHVXTWFiaXVKUWdCVXI0MkpFcFRaU1dlRW1WM1pQYUlCQlFYcU9VQXN6VVgrMW83eVhoR1l5emp1RGdoY01wMEVCMnRldFNsYTBTWWRzUjZRY2FFN2xSaEQybHFTTVdlZW9HRnRBTTh1UHlVVGtxQ0hBQ2djOXV6Z05ESU1DZWsyc004Qk9xa2RtVUhERE1Cb1VZSlJ3SzZFbGJlNkJBa2VVT2N3YkEyWmVNZ2RoenptY1dCUTBVZmp2MWt3UmNoUFR5VEhDWFhJV0NqU3dKd293RjNPT2w4NmFCMjB0RUVNUnVaaFVWdVN0aExGQWl5K3BGRGNpZE8xaUlGSWFlbVlJRkNSV2I2bzZaZjdsUmFFV3pVNVo0Mi85QXZxRUhSelFQMTQxaFhRNTRTWXh1eWMwd0tBZ1hEdmtVRkNBeHRzSlFkSjIyMWtkZzRJVmt5SFdJejk0WEhPaUZjdkVBQlE0b3N6UjBHVlZWdEN5aW1MTmlrTUJQUWRkdjZOeHdBcVh1Yk9mdEFZWUZHQkk5ZHgwRGdWTmNOaEd0VEpKbFBIczBBaGxtNEFBYklITllGQ3dpTTVyUGhueW95MjliQVFVV0RkU0NVQUZaS3NYRm1EK3BkQnFXNlhnMTQ0SUVhVEphMGV5VURRdDNHYkxBcUVHR0JUUW5xTHVVZUJGSTlpWnZzbGFBb2RzR1VPUWQwS1BNdG5zZWtFS0JZUWw3MUl2RGttakFEc0xaQjF5WWdOMVhhYVNjTFRBWEE0RmVOV0N1blpybE1nS043bXllMElEREFxSUZLREFMYzdxelBQZzBOTTNUeHhheEk3cFd3UFlnZzRuQkNoSVNJYTdRZGpDWjBreEhhU0p4cVF4T0FnN0ZFUVBLUkFJOFRxcUV5dWNFcktMMFFDREFwcVNGUzByYkxucDRKWkdua042UzRPd1lhYURJMFJCMUpKTDJPZmhOQllreW1hYzgrK2pJTHBhUUFYb0lnaG5LTEN0TlVDQVFRRzZveHAvWlhhMHJWMzFNL0pvQ2RuTjFneTFCS3EwMkNBTWdvSm1xdHNqWTlvVzBCQy9pYzhCQUdBVnViUTA3eGtMenhZZzg3ZWZSaFdVQjhJS0IwdDJjUnBnVUVETEFadVdkejdsdENNcER4YkxZUUpWRU1zNnN1V0NrdExETzB3NGdtQmxVRkNYNEZvRXdGQ1hHckN3SkVYS254QUZVZlFacWdTaGRqSGxaYnBNV1NpcEFRNEZMWDlOQ0cxZzkyNXNadWpZQTRvbTV6MC9ja3VqNEp5Mkl4d0tLczZOc0lJNUZHQXRFM1lnTHN0UG15OWdYRmh6N0VrVVJQVGFLQUlvSzl6bHkwS0JCamdVTlAwMW9RWTNIYWhEMWV1QkhMVmNZQmQ4dGdaQVFaZHpMaGhiZ0NwK0QwdFNLQTRleXpwTkZsekpCZ1c1MTF0YVJ3S1VGVzU1c2tDb0FRNEZGWDlOQ0pGa2U2c1BRSG1qc3hSSkx1T0tFVDRJQ2pBSFRmbWRuQzNBMUdBM09pZFo4N0JMYy83RTFhQmcyZzFRcU1kbC9nQzlxVngyVDJxQVEwSGRiL2hGZjNpd3VlTjBDNkwzdWFuRklDakFRb0Rmb0VvMll3dkkzOTlRWHlxZ2d5Ym4vZG1KUWNHa0t4cE95N0w4Z0dsYXVLMStGZ2cxd0tFQXFsMnlYRlc3S214SkNKVFE1RFdmRUVWZ2RGMTdFQlRRdm9NbjR4RVo1bEJRQVJBYlMxUmFBN2lwKzI2S1F3SDZ2NzZhWkpKWTRZWWp1eWMwd0tFQWk0ZHd4L1JsejRRWWdyeWpINHQyUUVIemVTL1pSOE9WS1hsR2Qxek9PNlErdmtsTTZtb1Y2YzZoWUI1RFRWVzJNZ2FSVlhmRUJPd09CVXVVVzE0Vk9ZUnh3ZzFIZGs5b2dFT0JmMlFEMDBiajhrMSsrQTljNWxaeUFva0c4bFljRzdxQnordXRJUllGWGMrUlFQTkw0UndLTU5LL21GK2xaSUJ2cmJVcEdkV1BRNEZ6VTdvU241eHdMMk1XOURYQW9RREczZHAydU9YR0xqVDlxY01EMkRtcStZS3FBU3pRQm11VWVrWTNEb3NDYkR5NEJZUFRxa2dPQmFqRHJsbzFocDEvb3orS2VMYkFMU2cyNU5rSFRyaGYzeXpzYVlCRkFkclFzS0FmTHFndzJzTGI5TVdISHV4Q0lhVlRxbWFrS0ZwOW1lN3pHa0lzQ2lKL3RHbW80UjRvY01nZ0NYU2hMTDN1MEJLN3dhS2xzd1VPSEJVMWxXU0VLMm5aYjBvRExBcGdlRGMxWjkzNjhUUVQzSFg1cjRlTHlLVnc4bytldUVTOHBSV1ZZOTV6T00zaG9TaUNqRFdWanE5RnFSRFFsRVpCMWE1Y0xmcElSRmFETm1ScmEwbFJSOVdTRVc0NHNudENBeXdLMEVsZnEvazZ0bEZvNFBjV2JHWmozeGpRenNLbUo5bzBabWRORWV2ZTJoTllhNG9LTHUwM1JPYzF3RkFmNDRjb0h2cHRXQWZDbDBNcFFOYzYzU0hKWkp2V05XYUVFMmQyTVJyZ1VYRGRPQVpRcGJIeldNaDFFVWlDYmRqZE1CSVg5WWF1aVdQN2p5eTNQU2ZhZEthQ2ppOWMxbnlmTjhZZ0Y3OVBrUjZFdjFIVXFmWUdBT3Bhb0JKdFMwWUE1VXJUZ1hxcVNRbDk4V1pOY2FTRit6bXpzS2NCSGdVWW5kY2tVOE9kQlNWTzIzeVUrTHhyMlM5anJhQW1NNWlmYTFMQ0EzSTQ3LzI1a1Z4THFDOEVMTzVROXJrcnoxSWgyKys0OGxValI5NHhRbEV5TGxTaUtBUDA4MDMxR1pNZmVhWkl0cUFqeTRxbVkrUFpKb1RiYkZrZ3BRRWVCZmdDanZTNVllalhiSmFDRVBtMmplSDBUMGZRWjNWd1BZSlZ3Q0lGM0lVQjQrYTd2NTFmSmtxRm1wWXU5bk1qdTkvM3JlZXFDbDdrZXFncjlBMW1uVU5pejdSQmJzbHdMd0FGMzV2TXYzbzFpcDRyR0xNQnlPU0ZKOXpWTFFzbE5kQURCV2poVjI5RVV5M3gxMTJHaWRaNzZ1c3VDbnNQR056OFM3LytkMzhKSUNqN0NSVCtMRFdSNnBZRGZHN2tyVEw3REw0U2doZlg0QlUySVFxaWxobjBvNDZiRVVZbCtvd0pjUzlndFdHTkRodmg1VGppVTY0bUU3SEVpUkx1eUZrb3FZRWVLSWdtQzBKY0V1TFZJZjk4Z0lJbzkxZWxsdkdaSWZUQzVQWHcyL1B2WjhoSk52cXd5SlBmbjZRbTR2ZXVHTUoxN1QrWXVMN0xQY1dyVCtNN3J4LzBVd1lTN21lNFM4T0Vnalh1MldlLys5ajIxLzVWSXFXK25DRFFGM1l2N1BXRjNVU2VMRHAyR3VpSkFyYW1qY3NzT1NNZWN3MFFDZ1p2MnNyQ01YL2NyUHFzQm1pNVozQVVWSXVza0l4NHpEVkF5eTJEb3lCL3pKODJxejZ2QVRxTjBlYVQwdFJwdmN5YlRza294MW9ET0VzUTdBMzJmWml6ZHRyZWx5MUxQSFlhQUFwdURGcnBhd056RGlveDR4c1BEUlM0ZndqMXFGcDFyVWRDUmo3bUd0aHllMEo3UGNsc2VMcG9ML1lzL2Zob29CdWNIZWxiYi9yRGFIYWRTQTNRNFpIaVlFOVdYUjZNTCtNNmRocWdaYVBCV25jdUd4Q09YZXNPWEdGc3hyNDRFSE5wTUxhQlpHVk1ZNllCdUllRExRWjlhR1BNYXA1VlozUWF3R0Z1Zm05NWRFVmtrc1plQTdTR25ObjZzVyttdzY0Z2hvVHR6TmdmdHBiSFhUNytRU0xlT082VnpPcDMyQnJvNFBSb1pnd09XOHZqTHAvK2IrS2ROUjczNm1iMU94d05WQUdEaGNNUm5VazlOaHFndzRmdTMyYkhwdHBaUlVlcmdYc0JnNWRHS3pLVGR1dzBrS014NFUzSHJ0cFpoVWVyZ2NrWU1GZ1pyY3hNMnJIVEFQN1ptYTBnSHJ0V0czbUZKOXluUzBjdU94TjRiRFF3OTFUNzJOUjFpSXIrZjlON2tlMXJ6TkdXQUFBQUFFbEZUa1N1UW1DQyIKfQo="/>
    </extobj>
    <extobj name="334E55B0-647D-440b-865C-3EC943EB4CBC-80">
      <extobjdata type="334E55B0-647D-440b-865C-3EC943EB4CBC" data="ewoJIkltZ1NldHRpbmdKc29uIiA6ICJ7XCJkcGlcIjpcIjYwMFwiLFwiZm9ybWF0XCI6XCJQTkdcIixcInRyYW5zcGFyZW50XCI6dHJ1ZSxcImF1dG9cIjpmYWxzZX0iLAoJIkxhdGV4IiA6ICJYRnNnWEdKbFoybHVlMkZzYVdkdVpXUjlDaVpGVzNOZlFWeHRZWFJvWW1aN01YMG9YRzFoZEdoeWJYdGphRzl2YzJWY0lFRjlLVjFjWEFvbVBVVmJSU2h6WDBGY2JXRjBhR0ptZXpGOUtGeHRZWFJvY20xN1kyaHZiM05sWENCQmZTbGNiV2xrSUhOZlFTbGRYRndLSmoxRlczTmZRVVVvWEcxaGRHaGlabnN4ZlNoY2JXRjBhSEp0ZTJOb2IyOXpaVndnUVgwcFhHMXBaQ0J6WDBFcFhWeGNDaVk5UlZ0elgwRlFLRnh0WVhSb2NtMTdZMmh2YjNObFhDQkJmVnh0YVdRZ2MxOUJLVjFjWEFvbVBWeHBiblJmTUY1Y2FXNW1kSGtnY3lCbUtITXBVQ2hjYldGMGFISnRlMk5vYjI5elpWd2dRWDFjYldsa0lITmZRVDF6S1Z3c1pITUtYR1Z1Wkh0aGJHbG5ibVZrZlNCY1hRPT0iLAoJIkxhdGV4SW1nQmFzZTY0IiA6ICJpVkJPUncwS0dnb0FBQUFOU1VoRVVnQUFCUzRBQUFLdUJBTUFBQUJkNzUrM0FBQUFNRkJNVkVYLy8vOEFBQUFBQUFBQUFBQUFBQUFBQUFBQUFBQUFBQUFBQUFBQUFBQUFBQUFBQUFBQUFBQUFBQUFBQUFBQUFBQXYzYUI3QUFBQUQzUlNUbE1BaWF1N1JDTE4zZTlVbVdZeUVIWjJiVWZvQUFBQUNYQklXWE1BQUE3RUFBQU94QUdWS3c0YkFBQWdBRWxFUVZSNEFleTlmWkJrUjNVbmVydTdxbnY2bzdySFhuQW9GR3hVN3lvc3ZONndhN3lPUUViUDNpb3ZzTWlPdDY1MndNT1NNYW9HYklrSGh1cG5aTTNzQnZnMjlsb3pBWlpyYk1jekc4UkNOUUpzYTJ5MjV5bGUyQXJ2RWwyQmlUVVA3S2ptUTBpMmpLcGhOekFiQVZFakNYVVgwb2g4NStUbnlieDVxNnVtYjAxVjkrVDlvMjdteVpNblQ1NzgzWk9aNTJaVlJkRUExNWRmamRjQWpEY0tTeTRZWkJLR3VzM3dXaHVCS2grc2pFRG9DRVRtUDJBSnJZM01JRll6SWRQZkFpUEQ1VUp2RkdEdjM1bHJLNDNQMEhvQmw5UWFZMHVQREplbHEyUHJVNytHLy80VGlkTEg5M2NKTGVDU0dHTjh5VGFqZzVLZEhqT3NrcDJ3RENXVm5rMEl5emZlNjlCcUkxbllPSTJFYkQ4TGpBcVg5UmY4cmVZLzg1R2JiejIzNVM4Y1BiWGdXMHUzRDV4bk0rQnk5Q01SUmQvLzQ3N3JYNG1tUjRUTGFYYmEzN1VtMzFacytRdEhUMTFrSHNYbTJicmRjc0NsYlkrUjVISWNDY21QQ205dFJMZ3NKcWRMMGJreDQzS1dzWTJrbFl2UDJMU0FTOXNlSThubFgzRk9nTEozVmx3TmthM3cxa2FEeXh4N01hVXZQMytwRHMxdnBaU09uTnhoekxNZm0yTjdWc3NCbDVZNVJwZXBBaGErbzhYblA0VFFYT1A1bytQeW14N1grQVM3ckZ0ekU0WHlHSEhaWmV4cFY2RW95anRnRGJoTTJtZ2tsQm5BSVYzd0xRSXdSVU5IeHVWcm1XZm5YZC92MDQzYUdIRlpaNnpuVWExN1lCRURMaTF6akM1ekNuRFpvdUx2Vk1OelZGeStDaVJmcEpJeHZjaWVjMGtrdnpJK1hPWkJXOXNRUXE5VDFsTWJCVnlTNFJwbHNnUERZY25QTWVuUmpvYkwzQi9qUUNkdzJlbTdnQndqTHBkUjNTM0xFanl6YUUva0FaZEpFNDJFMG1UTVdRWFc1UmIwQ0xncy9IOC9nTVBzd1dXcGI3QWVuUGZXU0hwNXVOQTVWSGZUd3hkYkM0K0FTNCtKUmtIYVp1eDd0dHppOHlKL3piZzgxOEF4NXBmckw1ZVlGRzQzcVhKanhHWHRBQlEyRzBDbFVSUTFMYWNmY0drc005SlVuQWlQVkNWT3J4bVhBcEplWE02a1JvbDRKOGVJeStKM1FHSGZRek5uZWRHQXk1R2lVUXVIdDIvc2lzN3hSUHU3SW44MFhQNkhNZ0xUOVpmdC92UDBHSEVaYjVUOEcvSmxhejRKdUxUQk1xcmNQSURuakMyOEpzUEwxNDdMM3YwLyt1R282TU5sMmJmbE5jMlBENWRMN0hRVkZLNFlYVlNxb09JVG5CQndxZXd5MnZzQ0RNYWUzVVJOdnBDNVpsd0tjVDVjRnBnZERiUWJqcUx4NFhLS3JVSGpiTlhWQ1BJbDZ2VURMajBXR2dFSnQ2RXRXMjVienVzandPV3k3NVVLYVgxOHVEeDFFT0VqNml4cHVHcFZlbllqNEpJTTF3aVRIUmdNUjN4elF4QkdnTXU1dmxIMWNmckw5dmNpUE1VaWw5YVdSVmFvMGdHWGxtMUdsbWttd3BmUnpycG9iUVM0YkZQWDQrblQrUHpsTnJ5R2d2Q1djM3FJcXpoRG5YekFwV2ZZUmtEYUp1SEwveXJrZDFmRmZRUzQzTFpmNmlYNk16NWNOdGFqQ0d6aHpoMm80U0pkRkFkY0pnWnRKSVRZaEM4TGNrOVMzQk10alFDWDNnMHY2ZGZZY0puRHpWOGJjSG1SYUNPVDhPYThwYWtCbDlvVW8welE4T1d5bk1SZUswY2hlMXpDQ3E1L1o4YUd5d1U4MndldHV6RXpybTVNSWhZQmwvMUhNS05TR3I2Y2RiNTNrejB1cDlTUmtEVHR4NGJMVS9nU2ZBcHc2VHUwWENKb0RiaE1HN3RNNlRSOFdYTk9vTG00TER4eUczdmdaUU0zWDRSUmRxYkZXYnFERUlLZXZDWHV2ZjFUU3FqRTVjKytyZmR1cDZIQ0kvZjIzdXJRb3NoRC9lbmJHZ2R2cjBTNTl5dVp3UFEyVDFWZHpCTlZmQ2FYUUdIbjJlU0ZPeVI4RkhCcEcyNUVPZmhTaTE0OEZUZnRSaHhjTHBVWk84dllmVFpUZXE0SW9oMWNyaVRpTUgrQVRJejlwQlFqY1BrbzY4SFcrTjlUMFl0MXhtTEczcmRMaVZHU1dyaUo3Zjh3UVAxeVV4K1N5cFZaRDc0dThodFdUVGRUNG40U1d0RFZDRWViSEhVTHVDU0dHVjJ5QTZDUTBndnV5dzRIbDBYMnl0MG8veGVIN0tpTnFrVVE3ZUN5U2dhWU0vNTN4dDcxdDQ5OXBNNStTdFRqdUh4REQvemlCNjEzTDdtWXZXTTMrbkxKZWxVZGVhaE45bWNncWZETkE3MWl5SmZaMDJ2Umt3MzJIcU5hTWlWbWFsVFpSajduWENGZU5PQXlhYndSVUtyR1E4eTRYN3l4Y2ZrVk9iQmRlZHJvVUdWd2tCMWNGc21FaVBWaEZmSExlQzkwNVMvRElDN3pqVThpclU0UDk1UkU0d1Y1eDNLNGt0UXA5aXVxU0oyYTNHSFBJTlNncVl1aXlQYzVML3BlQTQwdko4dm5TRmd6NERKcG54RlFpanA4Q1g1bHpXN0F4bVZkL2lUS29zK2oyQlZGRGtTN1dDZzczNFF0cXdFdjFCL2tsUkNYZDRwM0xoMnp3SWkrb3ZqZ085NFYzWmFIdXFOZXYwOHJmd25IMEUvekd0dUpOWVFXRkVYVG9sTzRxbGtuWkptY0ppYzNBaTZUOWhrQkJaWnRWMUZzNGZNbFluelJrSVhMYVNhUUE0NXNUeFFmOWxtRVFYWjhWSU5zYktFNndHQlZTUGwwUThTb0VKZHhoZE9temRlNTg3SGlnME82ZW1QaW9SYk13VjUxeW54YlFSb2FjNTQ3MFRUL1hCSExTdnd1QlY5b2tpSklncS9WaElCTGJZcFJKaEE3Nm5MZndWbTRyS29ZM2swMnR0S1ZLNkxjaTFZNW9JN21TK3BGQ2thcmRyRUVjUGxmNURvQllwMHFQakNuK0hnb3B5SkZlS2hUWnAyd0krWnhrTHdoK0dHenZTNXJKbTlOZ1hhTTVucVdLUUJYRGVtQXk2VDFzcWRZUDdqaGpvaUZ5N3Fjdm1mNkRhK2xZQkVHMmNZbHZEalpJeXd3S1hOZkhVVjRxSWtqR0hENVF4SkhnQkdsVUVrak5JcGk3YmM5MURrRHZSV0J5NXBSb1d4Y0xWRkNKTXZTUzhMMG9kYWxoQWZBWFZIWmdFdGxpVkhlTVpKOCs2VkxseDU2UlVPRFJMZEhjYm1rWEJac2xGWTFoMG5zbXFSS0ZVRzJqVXQ0Q2k2clVyalg5TnVWRG5EdVlRbmdVbGZSMzJvQS9KN0JRbjd0S09ENHFCMkR5eG1CcjdyU0c3K25veGFmU3BhK0YxUURPOUQrbWlhckJMaGFyWGZBcGJMS0tPKzQwRy94QmdydVhobGZGKy9xdGhkVVlLOUl4a2lYUnA4VmV4VkRnQlJ3R3BEeEVtdlhFa1ZsN1laV0ZDZmdVb09ub1pyc1VESEFlcEVMODFIYlpoNmY0cmdFVDZlY2JnUTFXN3htOG1OUlBRd2cxSExwZ2hYOC9HbFZLZUJTV1dLVWR3U0VsTCtnZkladWorSnlUcmtwdjllUjJ4WmRGUk5Ga0szR1d4U0FkMjZKRkg2Q0YxSVloTVdCY0ZPQVMvMWJMTEZxRWdTWldubzc1S08yRFFvWE9TN2h1Wk5MaFNpQ1JyYU1IQ3Mxb3hwQVJUYXNJcDRoYzBUQVpkSTgyVk9xSm53NW4zQVVGSmNBNERYZS9OUUZIbDIwVlZsUUVLSmtBSTZEUzlqWENpR2NEUkNtdm42WWI4aTFIK0JTZjFVMmxyQ0ZoU1paODhFZWhPOVJ2TlNPYVRESGQzSFF2MDJsRXp3VjZ5cnQzRHRxeXdjZW5heGxOUmVwR1hDcHJUTENSTkhNY3pucXkzaVREaTdYMC9Wb0oySk13QXV5RFV4NFhVRGlyaEVDVU5jeG44V1B0bmdCNEZMSGFSUXVBU3NLdjhBRFhwYWoxRXVGNnMrckZ2NGRDdHdtUzFPWTA2L3dScElmTzJvWmdodHk3YkFOWDhDbHNjVjFTZFhOUERldjVqTGRNTVVsakhqdjI3ckVUY1FXNEdScEVjYlluc2R0WERZOXJnbWEwZGhSdUlTNVZlTVhBcTBnRktIbnBlSTJidjlUUkxzR21idGgxNlhuZE1LQ3licHV0R3dXRjRTSFRPN0JYeEs3akN3SjQ2aUdaRGx4WW9IaUVqZEk3TTBWdnlJSWgxYWlxSWhWTGxJeVlBa2hKUy93WmFwdFJjTDkrS2JLS0Z5dVdMaU1wRkF2RlVITDJLLzlOeVVDTml4bWRRS2VWcThSRklPNDUwMklvUWsxV25ZcDVCcEdxNERMaEhXeUoyRDRjbDJLblZiejErK3BkaWd1OFUwSVhHOXVxVUo2YjBPSkJVQmVXTVFLRmhuQVRhckZCSU9LRExqY1VPbFlMZzZxOXJmQkdtSVQ0cWZ1WUp2Z00xOG1oT0J5VVdzQW9GWFR0V3BDM3BmWmozMmZ2TGFoeG1tbk9PQXlZWkFSRTlEUnFWR1lrODZrb0xGRGNWa0FPT0MxWC9Hb1ZDOGFNYVlZaUFRVlNMZHhDYVVhZzZxV0Q1Yzd0cCtMeGFQa3A4ckhSeDJTdyt5NzFTL0l2OEwydTZwSnVHTlluMXlicEVna1krUFpnNzlNV0NkN0FzN09GU2wyWlZNa3B0VGUxSXBmUnVDZitLWERnYklhM0piM1YwZ2dSZE9MeUsrOUZaSVR1RnpYekRMaHd5WElvZk52TE9Ec3AwYi9DZHJrMXp0UklqNTM5UG9kdHoyUnIxRWUzeW8wek9OK3c0MktDbmpTM2pHM0psbzVwVGNIMUY5R09la3d0WDgxT3RXZUE0ZXpidkl5VmNUUnRuQnByUzl4N1hmR3JlVEQ1YmFObEZnc1MvM1VDRTdDaWF2WEF0bXcwZktzRnQxR282THVNdit1THRuOVM5YUc4ZXpCWHliTWx6MmhLb011VkhKM1ErVXNYRWJMRFRIZzFIY0p6dnBwR1A5TlZVdmZpOGh2NGRMYWp3K01TMEFhd1EyOElPZVRxcDhLKy9YL2djM0NoWFVHeEdWTWxOLzIvWGhXd0tVZTFldVNLSHFpZFkzTHFta2JsOUg4SC9QeFZ1OW9GRmUwZUlEenBRNDdham9JNzRkTDNGaXZhMmFaU1BHWDlGbUF4Mk1UdUFFL0hpcUt5VDhTWTh1b3B6OVFnRXowZ3AvTU10azJWSzJZckVnUlRZTy9kSTB6Z256ZEhseHNZVkZQN1BiNkVzdStmQk1PZUFXVDVPcGNoVXJjUFJFaUpJdkliUGxMKzMwUGxHN1lOZmk1RFUxVCsvR3V2WStXMWZ4VUlhL3dJV3dhd0liN25vcmJSaUlQUDVsbGFQQmtKRjlYa2hWSHdLV3gxY2hTTUFaWEhPRnpablhsK0V0a2ZKVm4xTXBiK0JJbUdZSXBBcStOUzNCZkZkTmM3Sm44ZmY1eXh4WU9RcytBRUQ5VlNjYy8xWUNld1NzZWN4SklsU1h1YzNRS1FCZTc2YkJBaEdsVmtRSXVsU1ZHZDZmaFM5VktVeDNHdGM4VHFXSndVNGdLY3MzMytFc1lGZjAwSlVVWVlSdVhBSk9McHJ5VWZDZ3dycjZoT0pTL2JOdnhIUkM2QlN4ZTZoT25WV1ZZV2I2QWY3NUQ0dXFxS0hHSG44d3lGenhpMWdJQlMwQ01GaHh3YVd3MXFoVDZCbTF3MlVoOFJyZEcvT1hmS0NLTTk3cEtpL3NUNkNsOVB6aFZCT2tVaC96ZDltVlR1ZW1aL0gyNEJCb0JQVUt0QWtLOFZQVUxpVkJlNGkvVlkrTHBUTXRPQ244eXkxeFFSVWZLSkJXZVg2MTN3S1V4MWFoU05Id3AyMWdtTTYzQjVRNVRrVDl3SndhNHZFNXBGVzUxZXVSSGlpb0NnbXhjd254NFdoYkNyV1BPakdpaUQ1ZXdLaVd2U01IbmdvUG0zN2xKVXF0bUszU0tWd0lkTnJUd3RFUmpuWlpBRmJQRUZnWFFaa1d4QkZ3cVM0enV2Z0pEc0d1THIvRkJGelNOUzlnKzZKTm1GclNBTDlkRENUQW4yM0lnaHdOczR4TGM2cFpoZzZlQ0lHdUpINS96NFJLOEZWRUtmRHgzWjE1cTFTeU9wL2lHdkdZRkNwWit4TFJ1VXZ3bnMwd1dxamhhNC9acFRURUVYQ3BMak80T2F6U05OOWxLbWF5MU5DNXhxSlFXeEhWdzBpbFl4bkVNT2dEMzRqS21pd0JjM1NxcDhDNlF1em9mTHNFWms2Y0gwQ3ltWFIrMWFnQTh6N3NtbHBtcWxWbmpUaFVKN2d0RU9tVGhIWUhaNVFnMjhOaWFQK0JTbTJKa2lhNTFzaEdiV1dBdm10WTBMbmZNNGE4ODlWM0l1bjBHUDRHamhYZDZGV0dBSGM5VHRyYTZnS3c5WGFGNkJaTmVYRllwWDAzNVhCKzFhclRJYzdjS3ExR3kyU2JMVDkwdXRFbThOcEF4dHNSMU1Td3pSRWpBcGJITHFGSmxPd0lEelhTcHE5QzQzRFlyd1hsR0hDcFVXQkl6WE50RklCUVZZWUFkWEhZcDdIRkx2UWw4NHVMTFZEOHU0ZlhscG1KRHFjSXorNmhWczA1WUVvcUM2aFZkdDd5cWt5VFJKTHNxSU9QR3lnbDZuZUo3S0ZFbDRKS1lia1JKR0FIaUhxRVJXTHkxVEZzYWx5V3pDWi9WWDVNVmZITUNwaDEzMlFtbGdDQVhsL1FIcUhockd1UkxvbUd2djRTelRIeXhnQzBDYWlSb2ZOU3E2Yys4bU81aFZsN0hlbmpKWjBoa3pHZHM0ektLclhVdjhuVlVtNUFPdURTV0cxRUtGM2diVkhiZTNsWnJYQmJOajZFMUhROVlYT2NDVmhKck1pOHU2UTlRUWIyeWVRem1SR3dHNUd4eWdmRFIwRXVHTnRQN0RsaGVucFlNSG1yVmhIaW1CUjdobTBNYWRrL29sR29DNzRuZjVOd0dzd2lYck5qYTVEcy9BWmZLS2lPN3c2YkF6SHZReWhLTUNKM0JOQzdiT3NDWEp6TWE2cFdYL2hYZ3NvNTVlaFZCdklQaUdZTWI1SHljc2ZmS0dxVUhlYUpEMW5aUVc4SUQ0alRxK1NrYUNSNXExUVFhMjNMK0J0SkYyVVo5WFNhc1c5SFVFZlFTTkx4bHNleVloeVg0UzhzeW84Z1V1akFBZTFweTRlZnFrTi9VZWZLK1owYitaRllVZmRZWnNWbnBnZ0RpVjB6TlV4ZndBbW1NOGRSNVZUU2xYYUNnbEZsdmphY1dlaTErTDVxVkxPNC90amd4aXU1Z0I0SVAyamt0YVQ0cWdGRE44bXAyWHRJTzgvR0RYVjFWSi9ML0NNMDhMNFFMNGhlQVlId3NwNVhZcXE0US9LVTJ4U2dTZDkvOHp4R0c3RGN2OFM4UTNNeC9jQVB5WnRRSkxndnhmVUtIdjNjR0xPbysrRlYrd1dDU2xlb0tTcWFYNmdHc0hDZ0U4QWVwK0FwektiNEtMSis3OUJOWTZiY3VmU0xLWC9wWUE1SzkyeSsxc0c0K0ZueTV1c0tkbndyenVPekJYMnNvZlVYKzZ1dXk5czFZVjF4THQ4VFlJanY0M3hUaDBtMmNBRC91K3RHS3BPR0s0ckpPQjF4cVU0d2l3VUVwaHNENnBMRFI4M2owSmZhdUZyd0YvMzIyRHpkeTRkNVZYWWdzZWFYaUVnTHJGeFVUdjcrV3NmZS81ckdmcXorN0M5bW1FdlVkL2hkUElpZjQ0UnpHOC8vNXNZL0U0cmNzbFlnRUZYN2M2NDdldHdESGZ5Qnd6QmtmaGQ5K2ZjMWpIM0pXSUx3SWxnTGlVbThlTlFISWU2b1plTWVGNm9rcjRGSlpZaVQzUDFFall0L2ZSeHN6dUl6K2tMSHo1MkNmYXFNS3Z5eXJMN0l5WGVsZE9IdVB1czdDdjVGcnFYUkc1TVEvNS9YM0wyT215YXVkdmRCQVhGNDRmLzg5OTU2N29IQzhISFBHWjlhMEtFeTQxUGJUZUdBZGY3V2FUczA0VllQdUxhc3F6OHd6VkJRME5MaUVadUU2Q3kzdktmNWwrdlloNEZLWlpXeDNnc3ZvN3BjM2VtOTkyRlZsWjBOUzRNMjNkN1ByVnFoYUMxZ3NmZkxXeGdQL3pFYWJXNG5uODErSC93TDR1RnZrVUo4NERWNzk2M0h2L29kM0tlZmQwTWFQV2hSYWVtaDZ4b1NwUXB6b1VHdU5ub0hpMHR0YVFlN0dvYkJoOXNsZVZrazhsVGhEMW85N1FzbzZkTzBjL09YWVIrVlFYTTQ4cjNXMEk1K2E3Q2FtQm9PdlcyMjgrYTZPQzRBZUFaZmpIUXhvL1ZCY05qZTBqaVZ5dEVFVGt3bVk3NVBFU2FmRVpsb0l1SnlBd1RvTWw0VkdSV3ZacFh0V1RVMG1yUCtZVHhaUElpVlB0ejNCWDQ1L2lBN0Q1YlNaeGpIRzB4cEU0MXJ5dmRBZzFjYkpzMkN0aWNNOFBzNng0RzBmaHN2bXBsR3g3YjdOTTBWV2FvR1JPS2RWTXJHWmpuVkNQK0J5N0FOMUNDN3pLcmFJaWtJb0hXSTBoMThGZWtiOWNQWko0Q2hhTTBIQTVkakg1QkJjUHQ0akdzSUJ0VldTVFUvYW81ek9OekVsQlR1RUVIQTU5cEhwajh0Y2c1d0V4MjhmbU0xNVA4M25Cc1J2UHhuWHRXeUtSaS9EZnZ5NjJ0N2ZXRjljZnI3TytGK0U4cXFGMTVmaGhjK2JCbm1sa3JOMkVmNkdKNHBhSTRjMlFMSGdMOGMrT3Yxd0NYRWh1T1M1VEloSzhvdE83S25hYncvRWxWcjl1aGZVN2EvbUJWeGU5eEZ3Ryt5THk5Nzk5NTVUMzZuSU4zcHczT0hzQlhYNndSVms1ZWZvMnhPclpDSXppNnFUVXJ1QXk3RVBVejljWHJ0eStlTVZLZXJJYysrcXd3R1h5aEpqdTQ4R2wxSFRkMjU4YkowOHJPRXlQN2hzdUFJdWpTM0dsQm9STHBlUDB5dWZCWGZWRVhBNUpqU2Faa2VFeTZnNDBEclU2REhPVk5mKzBZT3dIeC9uWU1pMjIrei9mZldyWDUyOUlsT0R2UnJLdnVIaEpjNWIwZFljbUdQSC9vYlM4Q0pEamFOYUFONTV3N1YyVkRISit0MFhrclRKcExUSjBSVDBsU015eUdSMmZsSzFHaGt1NTYwM3pwUGFmZENyWUw3a2cxb0dYRTdFV0kwTWw5RXZqc0FKajhKa2hSKzBwQVpjV3VZSW1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3V3UUFIKzNmUFZyNjVjUTgxUTVYcFpJTWZINkhxMU5obnRMUEYvOTN4dU9HVStXQm1PZnpEdStmc0c0eHM3MTUyWCs2a3c5ZjUrcFFPVjVUOWdzZDJJL3loNExiaGM2STNrSHlPM2Y5c2FqY25OekxsL2MyNnB1c0tzN0RWbDRqTzBXc0FsdFVaNnVuUTF2ZXphUzZZbjgzOTdDNWNTRDJFaGZtZWZibmJZYnAvU3dZb2UzNmN5Ymt4Y3ZqaVlxUXpYREt1WVRIYXA4bmV5azVXaHBHbG0rUzR1K2M0RENodW5zVm9HZndLZmI3eDNCRklka1JPZFhXSkQ0N0wrd2loNk5Nc3UrOFgrMHM5ODdhRjdqNzVtOHdzL25OcGh5Y1gzRW5OaFErUmtnY3VvN1NJL0U2bEV5d2xJVHQzeTQ3NXJsYXZtNHZMN2Zhdy8vcTlJTjZiWmFaTExMRmw2Mmk5cW5tL01udmNYWGdmcUR2TW8xdHhQYnprVEJNMnpkYnVGVEtUYUlzZWRxL0tSVFh5SWFkUEJaUzdCSmdnVjA0bGkzMVcvNFJzdU5lV1pMcm1FY2VPeXpnNlNQWmxpcTBtaXBHU0RvT0l6ZGdQWlNMVmxqam4zdW5zYkFsem56L0xybk1oNWNabC9oU3p0Q2Q2enNtcEY5eUUzL01TdjYvWkpWTk4yQy9tYi93ajBIWnUvTEVEanJhVGU4ZmVTTkVuSkJrRnpiTTlxSVJ1cGxzZ0p5SEEzV05HSzNQVW5ZRzJ4YkhMOEpiS2dmelY3a1B5SEVKcHJ1dTRUYWV0QXpYRllZcmx4SnNGU2FQUlp0SDVwakxoY2hzNTcxaTAxSDFoRnI3SkJVSjdaUVk5c3BDYnNQbTVDbWRuTHBFY1p1OEoxOHVCeXhobUtSUUNtMGIvZVoybGx1UHFrY2pGQnZlS2JkZGRUcWdEditUSGljaGFNc1VtVkVlbGx0cEVrQ2twR0NPcmF5NGVNcEtZcFBTNDZRTXQ2L3ZJTmFXMFBMay9CVUxTb29uZXluczR1ZXJhbnVuQ1FSQTRla2U4bUdIZUlSMDRVUm1QRVpRMk1ZVmxPYXRmdzdJWkVVVVlJT21XNzZZeWtKbTA3VmdxdWtvUi9WR3BVcFlQeTRMSUR6SXFOMzNQTStNZ08yN0xLaHMzOGJBelNFN2dzOUY5QWpoR1hYVkRYdDdqZHNSOWRZb2FNRUxSb1B3NFpTU1Y2VGtJU043Vm5MRVZtNVk3U2c4c21ZODZXdTI0Mmg2VzAvWWtsUFNYekQ3OVhCMFU4dUp6dXY1bHFlS0dSMGtpMjVCalVOYk9Ga1QyWHV2RElDa0d4Y1FiUWJGWlNUUThtSWJVQTF0MnpGSm1TZnMrRHkyM0duTjFtVVh1TXBXdEh5TndGVUVKY0NYL1o3dStGeDRmTFBJdEI1WXBsT3A2WlR6cDl5WlFWZ3Byc0ltazJLNmxFNUFRazU4QzRMVXVQbk1TcEI1Y3dFczZLcXFweE90UGZzVmxOT0prVjBFRmVDVnlXKzN2aDhlRnlpbFZCNXkybks1aU5mVjRVQzdKQzBKeTEzOHBLS21vNE9WY0hqR3Ryc3lTZnhpUXVrMnZScUsyQmRJaGpzOXV3Y3h5WEJ4OURhR3B4a3VNd0x6dytYTTRkVElPK20zWlBlSzdyVEVDYUpTc0VMVnV6VmxaU3Rab1RrV2dtbG94NTZUK1R1RXl1UmFPYTlwOWxXZTBhZXJYQ3pyL2xmKzFPK1hBNTR6cG9SL3o0Y05sK0drTy9KcHByRk90NDBRcmxXU0dvWUsxcnM1SnFPakFKcWVTU01TOW56aVF1azJ2UnFLYk9kaFI4TCtXRzZxQVhsNTMwYUNBWFBqNWNGcCtMR295WmJaL3A2M1RDNjh1eXpCQlVvZ3ZNektTYUhreEFLazRzR1pma3ZKN0VaWEl0R3JWVmpHblpqczVmUTgrOHVPemFzYnFFMlBIaHNyRVJ3VFB0cklHNGZqUjRaaW1jR1lKVUtJOUx6MHlxcGV1WU01NGw0N3g4blpERVpTYzVEczBOMllHNW8wYlZJeTh1NDc1UjlRaGNsZzRJWEY5TExzRWlzZ3Iyb0R0anBRRkxVVG96QksxUVkyY21WYWsvQ1hmUGtuRlJSc2VTdUd3bTFxTFJ6cnJzUlRzMWFqZG9OMzI0WENKeGU2K2NzZUZ5QWJDSHI3OVdQV3FWVTV4OFpnaWFvWk5UWmxJOVBSa2JpUzRaRnk5ek5aYmxtaW1KUzdvVy9hOUM1ZTZxVkgwN1pTeGs4UUEzSHk0WDZBRDRaSXdObDZmZzZVWGpxWFVNVlc0blpWR2NHWUlXNldJK002bTBDK05PMHlWalI4ekpVeklrbWNSbGJOYWlCVG5aRi9ka0Q3d2g1cUY2NThQbGluZkRTOFNPRFpjWXVNVnY1cm1CTGRTdGxoSkV5QXhCZVVhQ0g1bEpKV1lkZTdJRHBsVktTTitYZTQ4Z0pIQkoxNkxLcWI2MkpaZ2hacUxFWE92ZGg4dXExeCtSRnNhR3kyMDhEQWdiY3VlOUxGZHR6b292R20yelExQk1RcVRaU1RXYWpqM1ZKSmF0aTNsYzZaVEFKVjJMenI2ZzJNUjk2ckNGb00zdXkvbHdXVHhzMVRvMlhEYldvUTlGZUtwM2szMlo5cUkxdS9obEZKWEltWVlUaVV1eVpNdzd1OGdFTHVsYXRPWjg1V3JXdHhCODhwYTQ5K1pXY3R6OEZCOHU2NGxWYStHUjI5Z0RmNnJCSUhDWis2UEcrUjl6R25yeTF2Z0JseFpGU1dydW41eGo5Mzg4aXU3WTBtbzllV3ZEVTFVWFl5TEh6MEMzQVpmMnc4eVpGbE1tajM0STR2MTZtZFZHbjh3T21VZjZTZTBqWXJLTDZtYkpPTld6VlUzZ0VnL0N0aVJQY2RObVh2RXN0UDZLc1lPWUhWUnN6dFNjRDVlSk9NeDhHWlFBSDkrU1lqZ3U0WGd5blB3NHVFaEYvemtRNEx6UFA2VzBLRXBTdjlCZ2Izbm9OdmFCZWVPQlhzWFkrUVk3MkxPcjJybHA3aWR4ZFg3R0xzQWNyRHRiU1dwZmY3bFVadXdzWS9mNXFubG9iYktDUFltNHBFdkdqdlB1SW9ITERveUN0RkhCalk5VWlhRWt6eFI3OXNOUjlNWTQ5WmlzWTI4UExtSFYycks0bHVwcy8xdGZ2ZXNiN05sZFFVZGM1dXZ2YTBYenNmWHU1YlZzLzFOUjRkODRaNldTMUhuMlBMYndWQ1BXSzRiWE1mYlNxUEFvTzhDQ3RHdUZyeXRSWmZYQ2kzSjZ2V2hmWEJiWkszZWovRjhrcGdjcWxhUlhtRmxIblVSYzRpdGU5Y0NYVFZlNUJSSzRySnExNkl3N2ZSWEp4Q0xzVjZpTGdWMG1TM1JpMldUU2cwc2cyWHpiYkwrQ2xLZVkvR1VZeE9XZHp5Tkl3WnR2WVJHL3BpV3F2bWloeTBNdDdxL0pDZ3FYTUFuL0NKSzJQVE1BWitVZlRXNHMyQmNUZ0pqUzJIMXNSVkU2Z3I3QzNzTlp1aklXWWtUNVUzUGtJVXlYNnE5N0hLaUloVDJoNk92b093UWtKWEJaMUtjdjgyVm5MUnFWRXlHN1dTWi9FbVhINTFGRW05YW5CNWN6TkU0SHpETTZqdjJWbm5DWWdNdDg0eUxLQWRkL1Zja3IxQlV3ZGtpZ3lVTmQxR3FYRkM2N1REaDRXRTF6dVVxbWZTK0pUc0V5eURxaks1bEtiTk5tRjdsMEJOWGxyN3NzK3JaUkhsSFQ1T1JHdWxSUHhXTkMwa3ZHZjNpRXViWk00Rkt0UlF1Zkx4R3ppSjQydE50VlBTOUo1RVN6QS9vQUR5NVBPUnZidW5JVFN6OGtnUWU0bkpObmVrb0d4TCtnK0NLSUlWeFdHbm1vSFZhUnBlcVVPY0J4VlpEcTdvTXFPZmxOZHJjTHo3VjRRR2doK05vclZsNW1VaEUwelI2VUxQVTlYOFVFRGJUVXRGU3BtbVBNaWNKbitLOGgrajdXVWxSYkFidnFhOVZtU3VCU00wTENXWXZDOTcrMjdObzVGY09iYXZoQ2ZEWXp6M2x3dVFLek5Mbmd3T09HeURiVnVnNXcyZDBUdENyVFRqeFdmQmpLMFVmUlBOU2lIdDVGNlMrYkd0MXRyeXNVYmMxTHRIZkFGTEo1VVNBK3UzNUlweUtvcW9UY2xIaThxVmlUaHU4STZ5Rk5sV3JZeDV0NkFveVVjcVc1TEJoTGMrM1o2cnU0eExXb3ZoeUJzTkJ5YXMrcURVSFpPN3dGdXkzTWVYQlpVK0FXM0R0Nkd4U3JGeTBOOXN4NUthcWpkUUQ4NmxHYlk4cHYrNml4bVlVRkxxRWozNVh5WU5Gd1dTWVR0eG5wSlhHK1dVK1VSazN6TU5EQ1ZBVFZwVGhvMGlNdDJxVkNlQnFtZ1lvaXBrcFZET08rV3lBRGc1RXJ6V1VWWVN0ekNhNWIzZ2JNTGJzRExpNFJON2NENzBPdmFKQ2xuS2dEbUhYR3NDMWRGcFM0dmhXcUxMcUdDV0lBQUNBQVNVUkJWSWsxb2RXZ0I1ZFZhMWNCbUpIOXdEQ0NlREpBRllXakZlMnpkeFFmeUlkdHpMcG94a010a0dlbXpOa0FhQnVDSFpjQUtpa3A1dGFSaW9CMG4ydHNXM3JyYW1rSVdsSStHa1p3VlhQcnhHZFZEelVGSTFIYTNtbFNEZmVZVTlNd1NDbFhXbHlzcmhIMkJiSmlFZjF3Y2FuWG9sRWhzZnVHOGFuWXZkK1dNeEtnemRubkk5OHBqLzA5dUtTN0ZyN3JVWE15ZEZNTUZuUlpnUWRPOTV6aE9nQnF5VWlxakk4S3c2dTFMcTVqc3FtZGJnUnJrNnU2MUVuc3lBYk1BMkl4MU9UZXlTS214NGtXMUhOVUpIQXpkUnZKQnhzZTBkT0tZZUp4cVJRZDRnN2plMFd5YjdzKzFjWGxDakJMM2dWM0dRU1lhdG5OeHRKTitiM090aXlsZFR5NExGcklhQnNNbHBXYkFseXFBWUlnOXpxWEI0SlVweUN2dGtNK0t1QnlqMWVCajUxMVROVkpSOHIyNmhhTDFWVldEWUFpOGdTTEtzTDdpbStPU01mbG5ITGJabkZMcEMyb1VrS0RaMlpWWlU4Z0xtbjRzaWttUnRYYlpKeW9xcWRSbU9MMkRCK21ZSCs0WmxNVWNLS2IzcjlybDBBTzhMQ1pJSHB3dVcxTmtpVTlVVWQzS3NjQ3VLeElTWURMRFo3c0tJRHlYRmV5K3FqVWgxWlhnUjBNMHVPMThLUG9Bd1F2TmE4VmRsaWk1OEN4NHErWmhxQVZKV1Bxd2llNWZPdWpUVlRTQmFTTGFWSTE3L0ZMSUJUMnBOclZxNDcrcnI4c3FqVWREbC9MWm9ZOWhZTStmMkJQMWdJSXZXZ0xnSndIbHlXTERaUzlyR3I5NWN0RUNuQ3BHdGE0M0RINEJhYTJIRUl2RmFvckpPUlFEanhmWnRwbzZ2bEJ0YXJ1aXpxMDJXSEdZYXZTYThIbHVxbnNwbUxUUlZOMHNuRnBsb3l3c3JwaWVzMVRMaTdyWnIwMXJ5WjBWU1dKU3hqeDMxV0lVVno2WGpTaU5PMVFYTUtLd0hYSy9LU1prcUJ4V1NiNGphS09mQWE4MUNKajdCMUVUVmlqbXNoVWxjenBxaEZ4bjlYOWh4MjBYdUFhbmhYZjVKNCtqME9ydlcrYjJuWUtIOWVXVFlJY2FmVUUrc3NWNkxQcWN2ZU1Tc203aTB2Z1ZkQmROazVGTU1Qd2tORkZHcUNZN2I5RWluSnVNSTB6dVhFZ0pSNS9XYWIrRW55WlZsWlhhNWhKVHVNUytDNXJCcGhUUlZ0ZWFnZW83T0JmdGhSN3pjd0ozTk5XVklGOXIrbWRDRDRzN2tTRDJ6cXpHaUExMHhDRTdvRzlPYVd0TnBSZEpFSkVVdjI0R2VUU3BDYnFIQjlDbGN5MnBkTkM3M2w1ZDk5RDRscDBYWFp0V3AzRitEMUpBTXZLbExwMTBkWnNYMDYzaWlydXMwODd2MjNJeVI1YzF2V1RBQnlBdStSb3c3a2ZKUnZLTnpHTmlwS0JCR2VFS1BKVE1jNkRsenFOdDBNZm1JNGxCMFdycS92czk4bnJacWlzaktGS2g4WWwvcEltWEVvSkl3ZFQ5YUp2cFhDeWNRbGQxa2FOSzhJZW5Tdmk3dUlTWWFNZ3ExNzlGUlFhazdoVVFmNWZsdExvcmJ2dUMyb2Voa3R3ZkJxRFdwb0hsNGkxaW1aQU9HUHczRStOeE9NRGtnV1NJWHVnZjBhK2J2bGRJekdLWW1qQ1hNbW5CZHFrN0NxZDV0a0tEU0ZzdjZJNHpYMTVmNFhzdlRVOU5rOXNtbFROZS93U1lIa1ZFWXlVZFl1cnNoL09QSTZUVFVVV3JXeUt4SlNhejVLNFJQL0VyejFaeDl6Z0FITHMyYkFPZ0V2emRrWko4K0FTNVZSVU9YZXpDR2MvTlpxWGtHRGk0RVJSNkt3K2V5MGpoNlFnZW1oZENhNGg1M0graFYrVTZJWkVvTTNhY3dEeWRkSzRTSjVzZndtbVVONHhlbzNzZTZNbEV3NHU0YkhWVGlDM0puaE9xYVZWY24wWjNZR0doa3M3WkNrV1RxUTlEVUZGOVJob3FtL2ZZNjB2YTNTdnJLcDVjSW5yMEpZcTU3aEV2ZjNVS1BvaTZvalg3MkNWa20rMWFHVEoxQlNSRDhzRTkyZ0F6dU5Kenc1MVV6MWJUajBkYWtJeVRkWlB3NTV5MCtSbHFtRjJXNmxTRTVXT0N3RjkycnFqN0xLMnFJUExLbG1McWpyZERabEs3c2VqNkpzNDJuQlZGTGU2NzJ4RXhjUSs2ZkE0VVcxQVhJSXVCRGM0anlNdS9WUW9lS29NREhpMUlETVlMdWZJUTRWNDM0U2ExalVzTHFObENVdzlleWx4aXdmNHZMNm9zdnArb25HSmM1djdoSjU2UWZYZHdXWFI0L29hbHlXekQ1ZlJoMktRVHdJYWtyY0FDTml4b0NNS1VCdjJYZFU2djF2eHl4WFBnd0hmU05UUEVRQndFMnNoVWlxWUVCYzROSVNSbjhwWjN2aHliSms3b09KQS9ySk41Z0NNTFNUUU5HUmNIYlNZLzJOVXdYUkc2QTVScnF1NE1sYlRrcUppbkdoZFpVNmV2NlJMUnRYTG5Tc3E1ZUN5bnJUL29wN1lZZFRYVkQxekwvdzB1Z0YzMUdZZ1F0ajJiSFU5dUxUZTl3QXVOUVoxR3g1YzR1NzJvbWJBT0JGVzgxTWwyOTl0UXgwRVd6ZXBycEdrVTBYNnBic0dEWGxLbGhVU25kZTErc3pqeVBQbG0wQUgra0R4aXVVdGZEbG1QNjFZb000Q1FITHljVG5zK1VzWU1vMHNiZ1g0aUxkVXlzRWw4R3JJU3BZNVFKaTRBRk1WbGFiM1hEazVhczFOY0FOSlIrMWJYeFlwcU1FZmt2bFR0dUxCSmU2OGJWeGl0TlZQMWJvK0NwVWcwL1NlTXRGY01oRnZFRXJSbzFabnVQZmpVdHFyUUljdElobVM4OUJqZUZsSy9MTW9COXFxNHB4NFhLclFESFRQdlR3YlBlaFdOVGt6emh1L1orUFN0eFp0YXI4QjRXVUNCV1V4dUlPYmNtTHdCVHppQmsvRUt1SGlTWSsvYkZKUGdTdEV0NDV2SHNlWjliSmhoS2J3OGZGU0MrL1RmQ1ZlcWViZEUyc21rY0NmekRKWEc1cXJtQ3hQMVpKSVF2cGhDT29TTHlna1BvR2UwaE5VZzRqQWFjRnh1RlRGTjdaN0ZTeVVjam5Za0NvV2swOGkrUU50RzVlSUdtMEtXVDgrby9vS28wNmdBQ2hvcVpLU0d4R2F4dGdTckNEV0ZZZTZlM0JwbldQRVZ5c3R4YXp1SG4rSnY0SkJOSzNKcWRsSFZUK3BDTklBOVZ0ODg2NUNYNnFGNUIxL01zdGM0TVlUejVoOWJsVHpwdUR5YnhRRDZMQ3UwdUplV29WNzNUVWhmMHVnN1owaTFSWTB6dHpRNXkvcnlkVlUxNndHYlZ4NjFxTEx4ay9BdkVLZ0FKTm1yeVV0MFhiOVpmVkJLSUVSdU9LYXlvUExEdlU3MElibHFIaDlIeTYzTGJmVGxOc2hIelZuZWdCb1BzTmpBc2sxcktzby9tU1d1VkJ0dHk5TnV2NHdySDRFN1lnUUZiREIwdzA2a0N2WDI0VmNLVGxQd0ROYVVYeCtxYXIwT043Qm9pL2FldWRKek1QRzVRb3dvNUhJVlNQTFBYdGwxRFVQL2dxRkZsYm1lM2dZVEtkbGI1ekkvbjVQM1JxMnozRnRmTGlzV3BHYm9uUm5QbXFPck9lS3VDR0grWkgyOHROT2owWG56WDhkWUI2cnVQdVNZYjdmQXlzZGpYUDc2WVk0S0ErT1FBOWNQYURTbWxEbUdNempTdEZCNzdqa1dyZVpaNGhIc25IWkp1YVRkY3BrMVJwVFNUaFVWeVNUKzR0c0MzeEo0WXQ5ZVB5bFBqRExoUUd5bEZUSXh4VWsrbkFKcnAyQXZpNkgwRWZOa2Nld3lYdFFzaFlrZGQ0R3RrT3ZiU0lkNkhGeS9UZk05eUZyWUN3bG5YaEJUdG8rZzdlZDVQb0Y0aCtxVG5UaS9DV0dUclowOTNoaW16eVpOaTY3aVkzMUFoMzlNaGxodnZmZGtJSnJ0QUJvYmI1WGdrZkM5VEcrL2ZpTXRRTUhaSmtuSVNjR3hvZEwyS0laUG5oR2NOdkRsMlFKYW81ZDVXWDRVV09yL0pQSE1aR0E4NnE0TzUvT242dUNaVnkrTWhGQ0tuc1JCS2hUUzRlODFWMXNmdzFydDVPYlN2ckZlcTlVMHVxeFM4TExRMmNYdlV6akd6WXV5d2trZGZsQXlsNTNLVWd4aHIwbkM1bzZKUWd4TC9ERlBqeitFcDZjWFNrSGJnRG1uczd4N1pQZlgwWmx3bWRXREI1cVRtSVdwYmE1b3FDNldXSFBlUGRBODlaU0dnSHRtaEc4K0paV2xDUzhDTm8yVDlFOGVaNncycHg0a0RydTlJNHZPc1hEaGx4ZXFWaHdYSzhWTUNnWmR1aEdrZmdQZ0FHZHI0Q1hadmx5c0dWNlRuL0lDWGMxZXNsVTUwdDN6VGdsQzVKem44OWZBaEpKRzZDZUFYbGJlRHFmdjR3Z1lIWlp0VmpUb1BGUXdiTnFBelNGYzRxTjZ0SzNLMG5xUHVmZ0VqZmtaMVFodjhOVGQ5RWl5SXdYUVNXbWwwQ3ordWNOUklYaU9yL0RPSzBLZ3Y3c2tPbkdLMVZ6SHNORTFjd2dRdnMzR0JNQndjSWxoaTgzYUIvemR2UmloZkVsdXVDWVlnZDdrdGY5VTdxYW5EanQycHpaNHk4aGRIZFpDc0liT0hoWkhWWjFxN3lBdUZCNDRiakphZWhZZFdTMXJ2ZGRIaXIwU29pQmVpWHh4TnhwbkZPaGNWcklzeitMR2tlQ2pyT0QvY2hDUzJ0MkhaSHpJcWpJZmtQeE5tMDRxejlTZ3ZYTHVtS1I5N2JwNE1uemwvQ2ttdGtBT3Z3NU1QQkZZd0FMbCtBQ3JibHBhZHVlMTJmc0ZZQWVscHBWQzJKeGNxaWhiZE9TU1Bsd1dUYTRBYVpDekE1MkJmTzBjTU1ZTzFKeVZndzhtbnJKQmtKWEZVT1NDcmhVajlPU25MK0JwRmErczlycEt3bDRCNG1xamlDamFTdzdZcGlNMXRCcEx5N0ZnaHQ1OG80WU9IZkZMMmpnaWtqcHp4MzFDQUxGSzFWekhyL0VVMkRQN3htMXYvd055Rk43VWx3V3VsQzRwNWtMUDFlSC9LYk80MmpScXVWM3lxS2xoajFpeTcydmlxdEladEFvdW9CWEEwU3lIazl1S01sRnF4RjBtUEozM0xiNXNUUSs5KzlKWmxCUk5RYm54bjVkVUV2YVhjTE9KMEhGV2VDaVlIeGN6YzZmVlE2ekVMOVhTcWEzdTJPbzh3bENLUlNCb0NvTCtqUjlTQW1yRjBFejhpZXpvdWl6empQY2ZWRFlDcjdhYi90akRHbXVhcmxlcWJyMGVDWHlYM3ZvVmpSbjc0Yy95cjhRSUg1d3czNzlvM0Y1OTgzL0hHSElmdk1TNTcyWi8rQUc1RStUUHNNSXI1bnM0d2NWbmltNC8xSlJRem55YWhsK1JWTDNLNnFvU3VZcnBHM0xwK092Y2QyNWRPbGppT1hlN1pmV29sKzg5Qk5ZK2JjdS9SbXYrZ3VTNzk5cTNDRTVRUVd0UzhJcExjVnFqd08vK3ZZc0NJY3pITW8zWTBaZW43NU5xUGp1eTVMd3VZL0ZndktXU3k5UlRMQXJzVDJxS3ZBaXFCRGZKOHIvbmp4Q1NNa0x3ZnhUTDEra3FBWlozM2lsU3I3amRvTWxpL2ZTeXpMb2tNWWxCNldIblFBUlgrSmVORVlvbFBlL0JibS9LN0ZmTlVSTWxZa1l3aytvUEhsRjFYSi9oamdYczk3SDMvVDZiN0NmQWc1OE1TbXVpajd4clNiaFJ4bDcrRy92K2tmNVc1WktuRXVGSC9mS05YNjNGVVYzbGMxc0FMOCt2UDgvMzNUWHR1Tzl1SXltYkZDN0swMmdjMDg3NGQrRUFuNEVmWW05Q3pRby9EN2JoeHU1TUZ5aUxyVzBrTVd3Z04zVm5INnB1dmhZSlJiUTBTU3YzbW5TQzQzTFAwa3lJc1djZWNCS2RHWUJ5TlJaN3l5MDhVb2lENUp3eWxWZUhjdmRzZ3ZuNzc5SFh2ZWV2V0NXVTRrWmNWRThKTzlBTWZPODJyM25MakRBWmUvQzJYdnVPWHVob1VZUUlJblhENm9HeGQyaExvSFBod1ByOEt2VmRHcGVqbm5WbjdTcjhseXpCNHFpaHF1eXNObURadTlCVXNPc2licUpmWXJnVGtIUUg0SUc1K0I4eTBVcFU5NTJObVFpR1ZSYkprR0RFN2UrdEsyUXpHbGNKb3M4bEtxOUVzeC8vUng3NEhiSDBuaktWVjZ3ZVY1VjZUNzNuTFZzUmNiQ0kyL3J2ZVdsZmFxb29ydHZiWnkvdmFKeTZtNVQrWG1pcDE3T3pyLzl3NG9CNy9tdlF4dmZwcFRoMG1VeXk5S2FLYmlNN241NW8vZldoeWtucFBINHRMemdSK3RVVXR4bjZFSWhUYXBkNWVUa2hzUGxLUktQVHJWQmVVc1Z3VUppWGFYNzNSdmdDNC9iQmY1dDE2dnpVQWpDNDlQeVNnVFZPblNoTUpSVUpmSVkzNGZENVpUN1RIdDZydjRSRllvOHNROVBCWXowcjNycGsweGMxbkVCUjh1aEVOUlUwN2puUUZHWHJuMkhrdXBvZEJ5encrRVNuTVNoblh6Q3ZPS0RONHd2SHNvUERCMnoxaHlFZlNKNDVwaGVydGo2RElPZ1FxT2lLM2RkQnh5Yk9mN2t4UzkxdDFNU3crRVNOajd1YWpJaHQ3U2xTYkNYVGhrOHpjSVRxZjh4YjdOTlZLNld0a1FaQnBmVFpocVBtb3ppRUNOSU5PSS9qTlNKc3RNMUtqTWtMbE5IUXplUFgxWlJGMFE2L0RFK3hTRHY5aEE0aFJPYTNVNWJFdytEb09hbTZWM2JmaDBMMyswMEUwL3dsOFpPM3RUQ29RNndwbUk0V04rTzRYc2xjdUsyN1NyU0dTZW1wT0NlME5lYURZSExQSjE5VnF5Z0dpNXV6bWlaQVpmRUZMNWsrbkJJN2tLOFNlb2xZaCtrakNidE1hQWxrNXFlU24xQWg4RGw0MlJ1Z2ZkSDl1NnZhRDJyUTBpZFZKTU5wZGVROHpoc25WdDk1ZDloSFVpQ0l4aDl1VlZoK2lncmprbTdkMndRRWZVR1IxQ3VRYTB6WjUvbEt0aWhqOEdsRWxXT2NYSllYTTZsamdjYVlRbitNdlQ1bGpMSFk2K0NWeW92L2FySzlydnJGOWY5bUNhcHJKZ1N2UnhpeHYxOG5USHhvaDg2Vm5oOUdSWTliekloMFNrN2xCRncyWC8wYzlacTNPSEY3MnpBdFNiSUhaNWg5aXNpcDRiS1Z0TjJFWXBod3U3NTlBM2RvQWlDdUJCYzhxd0NIdVhEeTB6c05mdDEwcUJTSjh4TzE2ek9zUDR5MmphbVN6UzZ6TTdmYzdZaERrMUc4TFA5OERiNzNuT04xUVJma3JBd0VIcVQ5Y1pGbVUyTEVnM3VMN3U5Kys4OXA4NnU1eHY0VHY3c0JmTXFzazZqUklOTEhaZEJzbTUzYUZ6TzBiY1EyV2tUazBoZWRsSkhKbWxIUFh6SkZyTHhiSXNLc2JLQmJLUW10WjFVeXRDNHpLZHVSSS9VeGRvaCs2a2pDYys4Y3FIUGFpWWJCSFdjaFUwMlVqTTN4TWdFRG8zTHFPazVTWHQwOWViWmU0OHU1THBKb04vQWR4dk5Ca0hsNzlseXM1RnF5NXprM1BDNFhFNWZXaDJsbzExN1BYVVVVYU92dTkxbjFaRUpnaGJjMVZJbVVrZHZtTXhhR0I2WFVkRXN6ak5UQTc4N3RKcWh0TkdLV3JaZXhUaHRaWUtncnZzYmFKbElkVFNkNU93U2V3SCt5cnd5aklwVDFuZCtocW5abDdlWStQM0h2dXpqTEd6MmV6S3pRTkM4OVpEbVlJUjJWUFJ0blAyK2ptM0QwUXE0NkRkK0RtKzgrOExoUE1OekxOc0J1K0VGWExjYVMrNGthN1hjU1kyNFcyeDlNMjFyblZEall5U2p3bjNyblp6Q2E4SGwvR2oyenMycng4U3NIV2RQWXF1OWN2Z1JWYnRDTWxkZ2U1UVljRW10MFNmOWl5TjVkdlAwQzl0OVdoOTcwUmY3ZG4vK1h4eFp3WUw5UmJvYkVaZEh0bUVR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JBc0VDd1FMQkFzRUN3UUxCQXNFQ3dRTEpDSkJRcnduNWhEL205cEp1MEdJWU5iSU1mSGFIRCtrOEI1TGY4UE9XUy81Kzhick1LZ2ZJTkpHeUhYblpmN0NaOTZmNy9TZ2NyeUg3RFlic1QvNGJzT3VOeitiY3ZLcVpsQitWSUZYSytDT2ZmUHdhMkdNL2pmMGlnK1EwVUdYRkpyWkpXZUh2RGZkd2ZseTBxdkFlVVVMaVgrcGJRUXY3TlA1U3orNS9ueC9WM1N3bzJKeXhlSkJVYVJMSDluTUttRDhnMG1MVE91YVdiNUxpNzN6Z01LRzZlcFdnYi9ZSjl2dkhjRVVoMlJFNTFkWWlQRzVleUFmM2VmeXZkTFAvTzFoKzQ5K3BydFdrZWh3NTVMVkYxaUxtd0lTeGE0ak5vdThqT1JTclNjZ09UVUxUL3V1MWE1YWtmRFpWL1JvdXVscHdjelFScmZQTVByK2NHRWpJQnJoM2s2ME54UGJ5a1RCTTJ6ZGJ1RlRLVGFJc2VkcS9LUlRYeUk2ZlZvdU93cm12ZDd5ak1OK2d5U3lqZHVYTmJaUVZMZktiYWFKRXBLTmdncVBtTTNrSTFVVythWWM2Kzd0eUZBZWY0c3Y4NkpYQmE0N0N1YWQ3dksraXpGaUdGUytmSTMveEhvT3paL1dZREdXMFJQbVl5L2w2UkpTallJbW1ON1ZndlpTTFZFVGtBbWgxQ3NhRVh1K2hQSWltWFQwZndsU0V3WGpjMFZHaS9vVmxWaXVaSGNTZmo0RkgvMHBUSGljaGtzZFZwcm9oTTFIMWhGYVRZSXlyT3J1akZNWkNQVkVqa0ptVEt6bDBtUE1uYUY2M1ZrWEVhcG9sSCtyTHRPQWlESExMbEQ5L0FacytYSGlNdFp3T1dtVVVXbGx0bUdTcnIzakJEVXRaY1BHVWwxbFIxM0htWnk2L25MTjZTMWo0N0xWTkhZNTUxRTBDUUhPUDV1d2h4SlBzb3lSbHpXQUplVzVhUmVEYzl1U0JSbGhLQlR0cHZPU0NxMTZnU2tjWlVrL0tOU3Bpb2QyWkZ4bVM0YW1pb2tGb1kvRzRNcUNWd20rWlNlL0Q1R1hIWkJYZC9pZGlkMUlzOElRWXYyNDVDUlZNdXM0OC9ncHZhTXBjYXMzRkVlR1pmcG9xRzlhVHM2K2crL1Z3ZEZQTGgwK0N4TklkUHdRc1BsR2trK0JuVjdIc2x6eVFXSzVNb0tRYkVWaThwS3FxY3JZeVF0Z0hYM3JQYW4yQmJQSHhtWDZhSkJmbHUyZ2szTlhRQWx4Slh3bDVTUHEyVi9qQStYZVJhRHloVmJIY3pOSjUyK1pNb0tRVTEya1RTYmxWUWljZ0tTYzJEY2xxVkhUdUwweUxoTUZ3M3RsVW1VYUVWZ0VqOFR1S1I4bHBvaU16NWNUckVxNkx2bDBTbjJlVkhreXdwQmM5WitLeXVwbnA2TWtkUUI0OXJOTDhtbjhjaTRUQmNkUlV0MC91VzRQUGdZYUpMQXBjVm42OGx6NDhQbDNNRTA2THZwMGFuclRFQ2FKU3NFTFRNYUk4MUtxbFp6SWhKTnhweXpXWG5wUDQrTXkzVFJVVFJEMSs0cjdQeGIvdGZ1RkF4ekFwY1duOGRnNDhObCsybU16eWJqV2xIVThhSVZsTThLUVFWclhadVZWSTkxeDBqYVp0YkRCNXJrNVF4N1pGeW1pOGF4UzBUNXZMajA4Rm5HR2g4dWk4L0Jwb3M1N3dTNWJ0T0pwMHVxbkJtQ1NuU0JtWmxVeTdEanpzU0pJTnlTbk5lUGpNdDAwVkhVdFdOd2FBVXZMajE4bHNYR2g4dkdSZ1FQbnJNRzRycmxtTFZmTnZwbWhpQVZ5dU9pTTVOcUZCMS9LaGxqak9ibDY0U2o0cktQNkNpS0UxRjFQeTQ5ZkpiUnhvYkxKVmhFVmdHWGRHZXNOR1BKenZHaXpCQzBRay9ZWlNaVnFUOEo5MlNNTVZxVVQvdFJjZGxITkd4N2tpN0Y1eTk5ZkpiWnhvYkxCY0RlS2NEbHFxV095SlNUa3dFdnlBeEJNL1RWY1daU1BUMFpHNG5HR0JjdmN6V1c1WnJwcUxqc0l6cGFvSWFWbmZmaDBzZG4yV3BzdUR3RkR4YjI4SXFsanNqc0pCZlB2Q0F6QkMzU0UzYVpTZlgwWkd3a0dtUHNpSzNJbEF4Q0hCV1hmVVJISzU2TnJBK1hQajdMVm1QRFpSV3NoTi9NU3dSY1FiMGFEVFlRZFROREVCeFhhV201bVVuVkVpY2cwUUhUS2pXNnF6eVZlNDhnSEJXWGZVVER5aXpwWjN5NDlQRXBkZmw5YkxqY3hzT0FzQ0YzZ214Y3FUazN4Q0ZWemc1Qk1RbVJaaWRWcWprSnR5YXhiRjNNNDBxdG8rS3lqK2lvNkhtSDdNT2xqMC9weCs5ancyVmpIZG92TWtaZVcybkZwcjFvelM1K0dVVWxjcWJoUk9JU1FoM3EzVUhlMlVVbWNQbmtMWEh2elMxdC9jTVNmVVJIZGMvT3dJZkxKRi9oa2R2WUEzKzZxeG9YdU16OVVlUDhqem1hUFhsci9JQkxpNklrTmZkUHpySDdQeDVGZDJ3cG1jRFU4RlRWeFpqSThlL010UUdYOXNQTW1SYk5IR1JWNm9jZzNxK1hXZXg5TWp0a3Z1a250WStJeVM2cW0vRGxsUE5hMThYbFh6RjJFTE9EeXFBZDZpTTY4c1ZYZkxoTThNMlhBUXJnNDF0U0M0N0x4UWFEa3g4SEY2bG1mdzRFT08velR5a3RpcExVTHpUWVd4NjZqWDFnM25pZ1Z6RjJ2c0VPOXV5cWRtNmErMGxjUXAreEN6QUg2ODVXa3RyWFh5NlZHVHZMMkgyK2FoNWFtNnhnVHlJdWFZeXg0N3k3Y0hBNXhaNzljQlM5TVU0OTllcVlyNTlvZUlQWGN0aTljZlVFMzFLZDdYL3JxM2Q5Z3oyN0srb2pMdlAxOTdXaStkaDY5L0phdHYrcHFQQnZuTE5TU2VvOGV4NDFlYW9SNjVYRjZ4aDdhVlI0bEIxZ1FkcTF3dGVWK0NpOTZHSHhldEcrdUN5eVYrNUcrYi93VENNZThSSHNHMS9ROUpPSVMzekZxeDc0c3VrcTc3T055MEpkak5NeVdYRnIwL2dTL1VURGVDYXJlUHhsZ20rYjdWZXc1bE5NL29JTTR2TE81eEdrOExXR0xTemkxN1JFMVJjdGRIbW94ZjAxV1VIaEVpYmhIMEhTdG5lcnpabmhvOG1OQmZ0aUFoQlZobThOVmszR3BOSVI5QlgySHM3V1ZZc3FVOG1ibWlNUFlicFViOVZqUVVRczdBbE5YMGZmSVNESnh1VXNrNzl3c3VOekVFS0U5ZGxQOUF5TnY2bGFIbHk2ZkRNNmp2MlZubkNZZ010ODR5S0tBUDk4VllrcTFCVXdka2hBeWtOZDFKSEdrc0psbDRrWkFZS1RYSzZTYWQ5THdncXdWa20rSU1CdHlhYk5MbkxwQ0tyTFgzZFo5RzJqUEtLbXljbU5kS21laXNlRWhOK2RhcUd1Ly9BSWMyMXA0N0lrZ1JETkR2aEk5eE45eXJkaDllRFM1YXNyTjdIMFF4SjRnTXM1ZWFhblpNRCtDNG9QRHVtYWpZbUgybUVWN0QxYzZwUTV3SEdWRTJCdkpyNFhLbkxPcDV4bHVtQS84WUJZNWR0a1cwSUtVaEUwelI2VWJQVTl3cCtlQkMxMVlhcFV6VEhtUk9Fei9OY1FmUjlyS2FxdGdGMzF0V296V2JqTXFXMzdWTU1Yc2JOcjhsdy8wU3YwOUtXcTY4R2x3d2NISGpjRWQxT3Q2d0NYM1QxQnF6SWRVSWdWSDRaeTlGRTBEN1dvaDNkUitzdW1SbmZiNndwRlcvTVM3UjB3bm14ZUZJalByaC9TcVFpcUtpRTM2VlVWRlpkTXczZUU5WkNtU2sxV0d3L2xDWTJ3UkNMTng4RlltbXZQVnR2QzVheGEzNWU5bzFXd3EyS3VuK2lhUWptdDVzR2x3N2VqdDB1eGV0SFNZTStjbDBJNkdpS0FYejFxYzB3NWVoODFOck93d0NXc0dMOHI1Y0dpNFRMVmo2Wm5wSmZFU1dHZEZvaDAwendNdERBVlFYVXBEcHIwU0l0MnFSQ2VobW1nb29pcFVoWER1TzhXRXNCZzVFcnpjVVVJdVZ5QzY1YTNBWFBMN29DRnk3YjBRTENiY2JidFdHbEpMUEdzK3YxRVYzMjdCUTh1YlQ3QWpPd0g3dlhGbzlZd09GclJHNThkeFFjS3dUWm1YZWpsb1JiSVExYm1iQUMwRGNHT1N3Q1ZsQlJ6NjBoRlFMclBOYlo5L1V2Zmp5OHBIdzBqdUdvYVVhblBxaWRGRVhna1NqOHpFNC9MYVJpa2xDc3RMbGJYbTRVdmtCV0w2TCtGeTIwNXdRQjRuRzA3TXAveW1MT2ZhTG9iMGNiMjROTG1BMitpNW1Ub3BoZ3M2TElDRDV6dU9jT0ZBV3JKU0txTWp3cUJSdDE4Y1IyVFRlMTBJd2l5WHRXbFRtSkhObUFlRUl1aEp2ZE9GakVkbHd2cU9TcDZYWFFqNlFuZ0VUMnRoRTg4THBXaVE5eGhmSzlJOW0zWHAxcTRqS1hYOFR1UmJWbEtXKzRudXVnYmNROHViYjYyd1dCWnVTbkFwUm9nQ0hLdmN3VkFrT29VNU5WMnlFY0ZYTzd4S3ZDeHM0NHBlSnBhZU1lcjdGc0Z5eUxWQUNoaS8vb0ZMMS94VFNycHVKeFRidHNzYmtVei9ITkJsUklhUERPcktuc0NjVWxqakUweE1hcmVPbkVpaFlQb3B2ZnZHaGFaZ3VIZGRJbDlSVy83Smo4UExtMitrcDZvb3p1Vll3RmNWbVRUZ01zTm51d29nUEpjVjdMNnFOU0hWbGVCSGJUdThWcjRVZlFCZ3BjV05DcDJHRE5yV1YxenhWOHpEVUVyU3NiVWhVOXFHVHJSSmlwcEl1bGltbFROZS93U0NJVTlxWGIxcXFPLzVTLzljVHBaQXhBaHdubEVRbC9ScFNTLzkzMlB6UWZLWGxZdC9PWExSQXB3cVo0VGpVdkF5cGJpd3krcUN6ZnFwVUoxaFlRY3lvSDRpNWsybW1TV04vSXd0YWhEbXgxbUhMYmhHUjZYNjZheW00cE5GMDNSeWNhbGpqRkNoNXRYVEs5NXlzSWxET0R2S2dBNGZQeFlqUXRxZlAyaVo4U0VhQnR2VXA3SFgxcDhzSVJJdWliUVM2bWpjVmttK01WdnVJbUh3RXN0TXNiZVFmb0ZhOVRubFR5TUtMUjB4a3JNNmtaaHphc1h1SVpseFRlNXA4L2owR3J2MjZhMm5VS3p0R3dTNUVpcko5QmZya0NmVlplN1oxUkszaTFjMW9Gei95VU9oMlpVZXd0UzNsZDBlVUIvYWZHQkw5UEs2b1lhWnBMVHVBUyt5NW9CWGlXejcyTE9TKzBBbFIzOHk1WmlyNmw5UGhMYVRLOFJWTG04MS9ST0JCK1d4RE1KKzBDekdpQlYweENFenpCN2M0VndraVJvb2Iyeklhc2ZOd05LbWxURGZPeFNWVEk5bDA0TDllZmwzWDRQMlVYVHNYMDVlOW9kblgzYSthbENMTzRydWs0M0prcVl4MTlhZklDNzVHakR1UjlWSDhvM01ZMHIyNHVLaUxFQ3ZnbnhVekhPZzVjNnZyZERuN0NPSmNkSWhHOXpQdnQ5OHJvWktpZFBzZ3lKUy93bFRiaVVFclFsMklrVmZTdUZrNDFMV3FHUEFRQUFJQUJKUkVGVTZMSTJhbHdSOXVoY2tYYXgvS1dLMmYreWJUU2U2NjU3Z3BwOVJWdDRVeElQdytXS2IrdnJ3U1ZpcmFLRTRndEd2Z254VStIN3d1S1NoK1FnZTZCL2NiNXUrVjBqRWM5bDBDdjV0RUNibEYybDB6eGJvU0hFN1ZjVXA3a3Y3NitRdmJlbXgrYkpUcE9xZVk5ZkFpeXZJb0tSc201eFZmYkR3aVc2RzM3dEpYb0o1NG5qNVA2enIraHJ4YVY1TzZPMDhPQVM4VjFSNVJ5WDZGTDkxR2hlUW9LSmd4TkYwVW4xMldzWk9TUUYwVVByU25BTjZTLzF1ekUzSkFKdDFwNERrSytUeGtYeVpQdExzSzd5anRGclpOOGJMWm13Y0JuZElVZEMrMWZKQlFmTW5vWVlvVUsxcHZZVmJhMGJWUldQdjdUNGFuU3ZyQ3A1Y0lucjBKWXE1N2hFNStXblJ0RVhaYi9ZNzJDVmttKzFhR1RKMUJTUkQ4c0V1dnNYSEtmTTZvSldUdlZzT2ZWMHFEV1VxVlUvRGU5UE4wMWVwaHBtdDVVcU5WSHB1QkRRQ2E0N3lpN3I5WnFOeStpYmNnQXJUb1ZvWnlNcUprSVovVVZiKzJ3bHo0TkxpNjgySUM1aEhBbHVjQjVIWFBxcFVQQlVHUmp3YWtGbU1Gek9rYWNROGI0Sk5hMXJXRnhHeXhLWWV2WlM0aFlQME5PL3FMTDZmcUp4aVVod245QlRMNmkrTzdpTVBoUURPNGxQU0w0Q0RPaU9oUVFzNkMvYXdwdHE3ekJjcnBCTm1xb0QzMGpVenhFQWNCUHBpSlFLSnNRRkRnMWg1S2R5bGplK0hQdkZIVkJ4SUgvWkpwTUd2Rk13YXlIWkpNUUFraXNPS092ajJlYi9HRlV3blZHU09sZnhEWDl5eDA4Y1NoK3BTc294dTJOOG91TG92S01uZGhlWFVlR244YWwySCtrWkNQaTFFenZYL3FMdDl6aFNBdzh1TFQ3QXBjYWdWdHFEUzl6ZFh0UU1HQ2ZDYW42cVpQdTdiYWlEWU9zbSsyY2s2VlNSSHN4czBKQ25aRmtoMFhsZHF5OHVvK2pMTjRFT2llRW9iK0czaGI1TGhJaWtPZ3NBdWNuSDViRG5MMkhJRXZ2R2VFdlpJSUZMQ01HVWs0UFEzT1N4YThmdjloZGRUS0FiR3ZYZzB1SURmMGptVDZtbEI1ZTQ4N1p4aWE5dy9GUXBKWW9lRmFab2VvK2xhQzZaaURjSXBlaFJxelBjKzNFcDdWV2d3eGFSRE1sNTZERzhMQ1grV1pRRGJWVnhUand1VlN3SHV1ZGVubzBlZEt1YW5Cbm56U3NWRHk3UjY1ajNkTnd3QlR6aUJpalVaaExtNmkrNjZmRUFQbHhhZkxoQ0ZNTEpwd2VYT0xOZU5peWdHM2gwOURwSmF1RjltcS9FaTJzMHJxN0xuQVQrWkphNTJpQzRZckk4VlVzaUNlbUhJYWhMdktDUStBUjZTazhVRGlJQ3B3WEg0VklWMzlqdVZiQlF5dVdBU2FwWVRENko1QSswQ1M2WFdxcFRKWGZsTkkydlBtRFdYbGNjNHQ1ZnRQZDhvc2RmV256NGFxVmx0NEsvZUtIbmRyVyt4Ri9CMElPR3d5YWNzNCtxZmxJUnBBTHF0L2ptWGIvS2NadlNlZnpKTEhOQnMrNURDUSs4WHFVYnhsUUUvWTNpQVIzV1ZWcmNTNnR3cjdzMjUrOE85S04zR05wdGlXUElEWDMrc3A1Y1RYWE44dEhnY3BIMVdySS9iZGRmVmgrRUVqRG9GYnZEL1VWM2ZQN0VnMHVMRDg4Njd0bXQrSEc1YmJtZHB0d08rYWc1NHVrYWVIb1RkTkE0ZDV2U2VmekpMSE9oMms3bjRSU25NYVBoVFBHWE95SkVCWHpnMDBFSGN1VjZ1NUFySmVjSmVFWXJpbS9pY2FrVUhmZ09GbjNSWnM2TExTMG5HbHgyelhPODRpS3FjUm1ZWVd3Y1FmMUZPOS9iRVRwNGNHbnoxYTFoK3h3T21kZGZWcTNJVFZHNk14ODFSOVp6UmR5UXcveW96eWVCOUUvek5vUjY1aE4vTXN0Y1dNWGRsM1I5NS9oUy9DVXNqVFRPTFVjUFRZamdDUFRBMVFNcXJTa1ZUaHd1Y2NtMXJub243alBFSTJsY291V3ZTRDczQjlZVytBb2hFY280UkxRK0NFdGI5K0RTNWdOa0tUV2dYbHpCeXI1NUhGWVY1Q2tCTlBNaDlGRno1REZzY2x1VXJGVm9uYmVCN2RCcm0wZ0hlcHhjLzIxVFJVMVZMNEpxWUYzRlFyd2dKMjJmd2R0T2N2MENVUzlWSjhVTDYrTGpsOERReVphdDlqWjVNalV1Y1N1N0lmbHFaQ1NSMU9ZaEU0Q2g3VElPRVQzajJWbjc5ajAySHlETGVLcWNHQmdmTGlHbWIvamdvY0p0RDErU0phZzVkcFdYNFVlTnJmSlAzVldjVjdFZ2NUbC9ydG9sd0pLOFpTS0VWUGZpRWxDbmxnNTV4eXhMNG9scVcvRUZMbzkrc2Q0cmxiUjY3Sko0ZHZDaXBmVXlqVzlvWEdKSWVrL3lOWFZLRUdKZWtBaGxIQ0lhWUxzckJacWJ4MS9hZklEK25tYm4reTIvdjR6S2hNOHNNVHpVbk1Rc1NtM3pua0ZmemRKd3hyc0htcWU3S3FoWVM1Z1J2UGdXaW5Rdkw0SzJ6Vk0wVDU0bnJEc25IcVNPTzczaklTbnhzQ0dYVnlvV0hOZHJCUXhxdzZOSS9BZDRDemxmd2E1R3I0RHFmQ1d1ZXp3bEM5eXA3RkRSeVoyMXoxOENFbHU2TFg3K2VFOWwyOExUK2Z4bEJBR3p5NG9QVUNPZlBROFZQS3MyUUZNNHA5ajBWVTRHU3BLNnp6bTR4QTM1R1ZYSTcvQ1l5all0c2g5QkpiT1ltdFUvYnlEcUZkZjVIWXk1S2dqNnMwUG1weE9IeTZxWlFVU0gzMkJNQkFTTnl5bDJzQ2N0NHY3SFhFM09nMjRvNHhEUkVKSzdMQ1dhbThkZk9uemdoZlc4RzYveW1zU0Z3Z3ZIVFNFTjRLemZ5TlQxUnMxREJWd0tNVkN2SkI2eE80MXpLalJPQzNuMlo1R3RXd1NjVHV3Vko3UzBackhJakJkQlJmWWJpcmRwdzFuOWtSS3NYOVlWaTd5M1RRZjlhSGY0ajFVV25sUXpHNERtbndNRFh6UTkwTGlVeXh3c3FUa1RWRjJPSElneUZTRjFpR2lZYVZjdGZzejRjR256RldKMnNDdnFUUXUvamJFakpXakZ3S09wbDJ3Z2RGVXhKS21BeXhkazZaS2N2NEdrbHNxemVwWlFFdkFPRWxVZFFZYnB4TFlqdkZzeTZ3MWExWXRMc1VKSHRyd2pCZzVxOFNzWmhZT3QwS1lvZzArdlZGMTYvQkpQZ1QyL1o5VCs4amNnVCsycGNSbVYzeW5abGhvV2tLUGwzbGZGVlNRVEl2QWVKam9xRXJzQy93VzhHdEErNi9Ia2hsTEw0UU9IS1gvSGJac2ZTK05ZM3BQTVhRTVBPRGYyNjRKYTB1NFNkajRKS29CUVBZbVBxOW41czhwaEZ1TDNLalhJL2U0WTZueUNFQXBGSUtqS2dqNU5sK21FMVl1Z0dmbVRXVkgwV2VlaDd6NG9qQXRmN2JmOU1UNzNxMXF1VjZvdVBWNkovTmNldWhYTjJmdmhqL0l2QklnZjNMQmYveGhjUG41UTRkMHJiTnYyaDBmVlhDMXBnVUZFd3dzUlBkRmlOU05GcEs1SVdTNGYvcFBUSHBiOU5hNDdseTU5RExIY3UvM1NXdlNMbDM0Q3EvN1dwVC9ENHVnWEpOKy8xYmp6VWdHWEplR1VsbUsxeDRGZmZYdTJoZHhkNVpzeEk2OVAzeVlVZlBkbFNmamN4MkpCZWN1bGx5Z20ySlhZSGxVVmVCRlVpTzhUNVg5UEhpR2s1SVZnL3FtWEwxSlVnNnlEdkZJbDMzRzd6WkkrMHlSRmk4RmxvYnovTGVqaDM1WFlyOW9kTFpPNkYyWFJJS0xoaGJxYUxIa3RJb1luTlM0ZHZpZ1hzOTdIMy9UNmI3Q2ZnbnI0WWxKY0ZYelZMeTRwOTFIR0h2N2J1LzVSL3BhbDB0cWx3cStCNVJxLzI0cWl1OG9DNzhnSXZ6Njgvei9mZE5lMjQ3MjRqS1pzUmJzclRhQnpUenZoMzNqbGxCbjNTK3hkTFRpZDhmdHNIMjdrd3BpR3VpeHI4UmREdTVyekpPRnlBUjFOOHVxZDFyMGwreDVBUUozMXprS1ZWNUppU01LaFZYbDF6RXcyaUdoNGNhbmNFeGZBTHB5Ly94NTUzWHYyZ29sS08zelFaSjFyL1E2c05zK3IzWHZ1QWdOYzlpNmN2ZWVlc3hjYWFnUUJrbmo5b0ZSUTNoenFFdmgvT0xBT3YxcE5wK2JsbUZmOVNic3F6elY3b0NocXVDb0xtejFvOWg0a05jeWFxSnZZcHdqdUZBVDlJV2h3RGc3RVhKUXk1VzFuUXlZU1VUZzRQa09XdmlsU2JXRW5LR2Y4SmN3cFh6L0hIcmpkTVZ6VTBkTUw3SVZYaCtsNnpsckpwdGRNOGhVZWVWdnZMUzlOcjZGTDdyNjFjZjcyaXM3S2hFM2w1NG1lZWprNy8vWVBVOGI4MTZHTmIxUEtjT2t5bVdWcHpUUUUzZjN5UnUrdEQxTk9TT041YTNuQmo5YXBwTGpQMElWQ21sUzd5c25KVVZ6NmUxWGVVblNZdk5kVmVxQjdBM3pjSU5lZ2ZJUEl1bDQ4NE45MnZXME5oU0E4Ynkwdk53b1hkZWhDWVNpcFN1UXh2aCtLUy9VSHA5QkhUeWlqZjgrTEEvclhRZm42dDNaOVM1ZWRlSTl1ZlNnRU5kVTA3amxRMUtWcjM2R2thbDJPYitKUVhENWgzdGpCQzhNWGgrcHB4NndoKzlZYmxLK3ZrT3RjT01mMCtzWnVlUmdFRlJvVlhibnJPdURZelBFbkwzNnB1NTJTT0JTWHBTMWRFN2JHS1dPaFdleEU2bi9IMjJ6Z2lOVkd4aW1ZNEd3dGJVMHpEQzZuelRRZU5SbkZJVWFReUxZblpaYy93Zlk1b21xSDRSSy9lNkl1ZVBQbUQ5a3BCdmR1bTlZdE5mbEIrVXlOOGFlMjA5Yk93K0N5dVdrNjBuWmUyeTZRc3lYQlh4bzdpVlNOZWpJN0pPK3lldkxidGd2d2NBalNvSHlwQXE1N1FjRTkwcTgxR0FLWGVmVWVDaXV2bUNnY2w5V3h6b2tNSVZWcmNwd1RoL2pMUXJ4SmVwY0laWkF5YjlLMnJaZUZFd2ZsUzVkd3ZVdW1VcGMwUXlEb2NUSVo0VTkvcmRKZUZLMW5lZ2lwVk1peFRSK0N5enVzczY5d29tSzRqcWFQbmkxblVENjcxamh6SFJ0RVJKWEJFWlJyVUhQT21YUFpLSzFnaHpNSGwwcFVPY2JKdnJoY2duOEFmYjZsZXZmWXErQU55VXUvcXJJRDNmVUw2VU80QitVN1JNejFLeTZtUkMrSFdBbCt2czZZZU5FUGFoZGVYNFpWMHB0TVNIVEtqbjBFWEpxeHhlOUp3TFVtS0IyZVlXelRNQnllcXFidERweXFnL0k1MWNhV3phZnZBQWRGRU1TRjRKSm5GZkFvSDE1bVlxL1pyNU1HbFRvMmkyVGNjRDkvdWN6TzMzTzJJYzVBUnZBci9QQnkrdDV6amRWaE5GZ1lFTWFEOGczVDlpaDVaOU9pUklQN3kyN3YvbnZQcWJQcitRYStrejk3d2J5S3JOTW8wZUJTUjlucDZ5bTdIeTZ6MENNbUVicCs4Z2JsNnlmak9wYnRxS2MxMldZMm5tMVJJVlkya0kzVXBMYVRTaGsxTG12V3JqTGRDb1B5cFV1NG5pVUZLN1pvdDV3Tmdqck9BaWdicWJhbWs1d2JOUzduMlhzSDZ2NmdmQU1KR3prVC9RYSsyMWcyQ0NwL3o1YWJqVlJiNWlUblJvM0xxR3V2azFKdE1TaGZxb0RyV2JEZFozV1NDWUlXNkprTjdGa21VcStuaVk3WTFzaHhPWlVhNkxNMUg1VFByaldlM0xMMUtzYlJJUk1FZGQzZlFNdEVxcVBwSkdlWDJBdndWK2FWRWFwWVRQeXVvNyt4UWZuOHRhOHJ0V20yemNsMnMwRFF2UFV3NTJDRWRsUzRMdG5naWFUQVdReTQ2RGQrc3U3bXNoMklTeFUvS0YrcWdPdFdzT1JPc2xiTG5kU0l1OFhXTjlPMjFnazFQa1l5ak55MzNza3BIRDB1bythQWgrTUc1UnU3OFR2T25zUldhRVYvMTkybUQ1RXJzRDNLSFhCSnJaRlpPaysvaU4xSDZxQjhmVVJjbjZJdjluVmQ4Ly9peUZvVTdDL1MzWWk0UExJTmc0Q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TJpQkF2ejM0R2ovSC9JWUdtVTBLdWU0cVVjais4Ukp2UTcvdy9mQnlyRzAyazFiUjFVNy93RkxRdmpiTXNzYy9UT2p4K1ZDcisvZjF2VlhiNHlsN01xUkc0L1BVQkVCbDlRYWg2UkhqOHZTZ0g5YmVvaWlHUmNYTGgzeXRCVFlpMGR1OHZIOVhTSWo0SklZNDdEa1VnYm03OXZHREt2MExSOVQ0WFMvdjdaSG5mSVovUGwxdnZGZXAzdFovRG01SS9Ka1prZU95L29MZnNQbFAvT1JtMjg5dCtVdkhEMjFjeGpzc3NCbDFENmdEaE42RlhCcGhuYnFsaC8zWGF1YzQyaTRuR2t3ZXZYdWY5Z1poMmlhblRhYTBGU1RWOXlpcE91WjNtRlA5Mjh1RTF6T3MzVzdsWUJMWTQ4cWhZNUpmNGR6SEEyWEhTTk9wZzR1bTRZeFZYeld6dXRjazFmWTB2bnJuS2l6Zy80dFpvTExxUGlNM1VyQXBiSEg2KzZWWHUzOFdYNmRFeERLQXBlTE45L3lFeWp0MlV0NFBmUTJTUFlzWU9aU2w2OC9mNmtPM0Z0R3pldWFLa0RicmI0dFpvUExPYlpudFJKd2Faa2pCOE5BOWg5My9RbGtuK01jUi9PWEtHSWJzS2htN3pjQzFwNVZHU3g4Z2xrd1JaSytDdVh4NFhJWkRIQmFhK0pMWklQTFBMT2pFUUdYdHEwQkF0WjY2bEVtdzNOSHgyV1hzZS9weHVZYmpORTlhSDFmRnlVVHRmSGhjaFp3dVpuVWlGQ3l3V1hVdFpjTEFaZkV4SkFFdUZnUGJyNGhoK1hvdUN3cDE4dGJ2Sk14c2dkZDdMdnJYUmtmTHVHUnNBMWltd3R5R2VIeWxPMldBeTR0UStOeTZvcEZxY3FkNHRGeENaRGZOS0xub2FVdG5lMlF0Q2JxeEJoeDJRVTFuOWVLK0JJWjRYTFJobi9BcFdWclJNc1ppekxMVm5uK3lMak1nMmdoU3NpdlUwZFVZcnVDNnYwOFJTSHM1UmdaTVFhdGUzMmxaNFRMS0xaV01nR1hsdEVYWUJqMkxNcVU5R1JIeHVVaWlMNU1SSU1uMHJHUnBmNCthWHk0ekRNRVpvV29uVWhtaGNzbXUwaGtCMXdTWTBUUkhJeEN5NkxrSkU2UGpNdHBFTDFHUkRjaHI3SXpxVkVpempFK1hFNnhLcWk1cGZUMDNiUEM1UnhkNVlUM1BiYXBPd1Fzb21SSlBzWkh4aVdBeTVvUTI5QlVSYmJlN2ovMDQ4UGwzQUUrVHB0U1RlOHRLMXd1azJoRmVBL3BtTG9KWVVXYmxKZis4OGk0ckRtaTBSR3BlYjNzT0dsYmhXaDh1R3cvalJGZDhXYkJVVXBsczhKbHdYcHN3enl1N012djJ6VEd5Q2w1dVNNNU1pNTNITkZOR1BBOTBYamhrSGQ5NDhObDhUbU1uT2wxc0ZEWC9zd0tsMUdKTGpBRExpMHJ4M1NUekV1VzVDTHd5TGdzT2FLN0JwZkxkaXpmMGdnejQ4TmxZd05mVStsMWNFSXpJR1NHU3hXUjQ0MEVYRkpiSjhPWDBieDhEM0ZrWElMZnVVTGJBcHdxQnpIWE42bytSbHd1Z1VldkdqMnAranFkR1M1WHFCVUNMcldCSVpFTVgwYUxNcXgyVkZ4aStQSU1iUXR3cXZibmJmZVVGK1dEOU5qODVRSm9DSTFiY1ZkSHQrejg1UXlkTlFJdXFaMXArSEpSYkVxVzVlTHFxTGpFOE9VZWFRdHhxbDRKYjl2djRBaVhTSTRObDZmZ29VU2JXSTdlVVM4emY3bW83UUV0QkZ4U005UHdaV2VEbDB6SnN4Wkh4U1hHVzFxa0xjU3BGQjJaZ0JGaElNbXg0YklLR3VJWG03NUxsSEdUbWVFU250U1dGaDV3cVUwQmlRNk1nY3AzVjNrcTl4NUJPQ291RWZKS05ON3hvSTUwUXhDS29TWEo5Tmh3dVkxbi9HREI0Y1RPTEEwencyVVVrd2tsNEpJYXVVbUdvQzdtY1ZWOFZGeDJpR2lVV1FOY25oYkNwNWoxYWxpMWFPNWp3MlZqSFpRb2dxYTdSaGszbFIwdVMyUUJIbkJKN2J4dDV0YTgycFRJOGdRdW43d2w3cjI1Uld2M1RUZU5hTTRIVGFubDVTeGQ4QXNoS1B6dG4xSUNKUzUvOW0yOWQ3OU0wY1M5OE1pOXZiYzZ0Q2p5VUgvNnRzYkIyeXRSN3YyNmZ1R1J0M21xNm1KTTVIamd2dzI0dEo5Umk2a2ZMZ3VQM01ZZVNLaG5WU2VaSFRXQkFDM2draGdtcXBzWTQxU1BGdUF5NjBXTDhGZUFxNWdkVkN4aW53emdrTDQyd1lpVU9BZ2ZSU3VKOWRzZlFDbGNQeW5sQ1Z3K3lub054djQ5YldNUkZJNFplNS90enBMVXdrMXMvNGNCNnBlYmVrYk9sVmtQdmlqeUcxU2NtNTdtZmhKWElHZmNJcFB2Zzh1bE1tTm5HYnZQTVBkTnRjbFJ0NEJMWWlvYXZ1dzRMemtjWEU2eFp6OGNSVytNcmNQdFJGUWlDZkM1UW9pNHkxVk9xRXJHZzdQOGQ4YmU5YmVQZmFUT2ZrclU0TGg4UXc4Y3p3ZXRtRTB1WnUvWWpiNWMwaHNvenU2aE50bWZRVkhobXdkNnhaQXZzNmZYb2ljYjdEMmlDZS9uQ2tmeEZLaHFQNU1XY3g5Y0Z0a3JkNlA4WDZqMWlsWE5rMWxoTDJocXdLVTJCYzVieGpPVWpZMDRoNDNMUXYyZ2hlUmxzbFRuYkdrZkNQbDFVdGhrWmhDS0ZtSjVaT2FYa2JYUTdhM3hLb2pMZk9PVG1LN1RFM0VsZ2FxQ3ZIUGVDTjduY2F3UjZoVDdGVkZXMHJqY1ljL3NBZzBlajR1eW11Zlc1RGFBZmJMUk5jbVZqc3V2U05CM1Zkd2hXZG1pekpFWG5nR1h4RFRvR2ZaRS9uVjZscFhsTmk1bjJUc0ZmYWVQSjVFMStRMGo5cWNOQVo4QURZZ3kyekFsa0NxcjhTblVIK1FGaU1zN1JheW1RNElwWDFGOEVIT3FhQWtlNm81YXlVNHJYTUxYeVlRMjI0azFoQllFQ0JlZGc4VkNuNDFaT2k3cjh0ZGRGdnR0bTBoejA4eXNuUUl1aVdFd2R0UEMvRDg4d3R6RFhUWXVTNzFkVVc5MlFGK0E4M1pGVk1IUEltUC9VZWNhOXZJTnRGZ1ZaWjl1aU1VRTRqS3VjQnFFUVJXSTg3SGlpNXJHb1htb0JiT3lqU1hBdGhXa29iRTEwWmpuVStyVkJkMWxkejFNcWJpY1p1S3BBaWUvNTZtWEpJR05OUEhrNHJMd0dmNHppcjZQdEpGWWdRSFExNnEyRVU5WXVNeXBGZDFVUTI4a2JIWTNaNGN2WDJ0OWFRWlFSOWxMYXFPT1BwYmpBWEQ1WHlUK3dkR3E3ZEtjNG9zaWNQUVZLY0pEblRMcmhCMkJTNUM4SWZnaGFyNHVheVp1ODNJRjNBRTk5aEtsaXBDS3k2cXFkSlA5M0ttS2lUczRjVDB5SnhlWFQyaUVKUkpwUHE1S09mZHN1MW00bkdWaWhvTXB0ODhNUndWMHlGeFkrQXZZeTFkMEthemY5blFtaW1CU3ZpcXlpT1dMbUFSYy9wREVFYXhUbGZZbGpkQUlRdExLTjNtb2N3WjZLMExkbWxsRmxJMnJKVXJ3NUl6MGtqaU5yTHVGT3ArS3k3cXNQdE92dGhZRENYaGFLaXAvY25GcGdRd3NTNjQwSDFlRTJEZitIc1l0YndQbWxqS1J1RnU0YkV0M0E5N0wyYlp6NW9KZEZYTk44SkQvQjc4Kzg1ZDFhS1ppV0VESVpaT0R5SjF5THgzUVlnOUxBSmQ2TmFvOUxlRDNqSzYybzU0UEg3VmpVRFVqY0VsKzNLVnB2SzZXSmhNZGFTZVFTUjRCbHlzTmwwdEtNQXpFcWxzSjhyc0pHdmh1YllpVGk4dnBCcGpUZjZVRjFBQXcwbFY5Z1N4MWhQMHNYRzVMU01EODZXemJrWG1wY1RGaDgyMUxrLyt3UmhoZzJDc2tXOWJaRmFqREpRRXUxYzRGM2dwS3RIUU1WakVFS29Icm83Yk5QRDdGY1FtT1NUbGRyTmtpcmRQa2p0aHFSUmhMMFB5VWdhZlRjTG1nRkMwU3VKbmFuNVhDRFFWT0pwbXQ0Y25GSmVud29FbXcveFhKdSszNlZBdVhzZlJBWnAxR216amw4UTh4eUpiWEE3ZC9tSExqNHJCbENPQTBGQVpoQWhRTExzQ2xqcFBHeWpNVzZhT2p0ME0rYXR1Z1NwemFnNGxaUG45UkJJMXNtZGF0VkZrWm8yeDBzaGg0SmcyWGMwcFJ2MGVXV3pwTEhuR3NBWmZHTWpDaDZxbXg2VG9JQzVkNlhydnAvYnVtdmtwdG0zbFRrV2pFWHRIVUhiYWhheW9kd2U4TnN1ZGxEbjdyUTNoandLVitWeFJMMklKRXNyU0ZMUU5uOVZJN3lwbENoSll2TzZyTVJCdmdxVmczcmROVVFUOWVPMkFZb2lKbFNqK3ZEbzVZMUptNjhFbTdCdVlXcVBhcW1LZ1NjS21Nd25lMWVnZFMxUTVGbGp1NEpKZ3dBa1FLUE42bVN3UEhxaUh2bGdFU0NiaGhPQVVZZ1czeG95M09ETGlVK3l6YzRRaDNDck8vd2kvd1FKdGNJeThWcWordld2aDNLSENiS0FPYVhlR05KRDRXOVpvV2dHMW1XSmN2elY5Q1I5WmRYcE52azFpbHBwSWFBWmZhS3Z6b1dVdG1tKzVnV2Joc01QYTdhcVJOZlptQ2JiUkdrU3JFOE9XZXlqaDNHNWRON1lzTkd3QkxxNk53Q2ZPdnhpKzhHZ0w1cUpDWENpNlI3WC9LaU1PVGExc3FDNU9FK3dqS29sa2RUY1FGeFlhcTRON1RjQWxLOTc3dE11dDhiRDJNa2t4YUNialVwc0l0Z0I2SzdobEQ1eWtMbDNVYzZaYzRIQ3BiOUl3MGhueGFpc0c1dzZnanBPUzFUVENvYURERW15cXRjQW5LRWx6QzBXTHUzYnhVQkMxanYvYmZsQWg4c2Jpbk11QnA5UnBCMGNTOXBrTU42TzFUd0pzK2oyTjBpYjI1WXN0VU9YeFVXaXFqNytvM3lvQVFjS210Z3QrdzB0Tno2YlNnejh1N2ZaNm9pelpuK3k4emRVMEtCcG9sOXBvZElCb1dPd1VEU0FneHdhQWlBeTQzVkRxV0V5QW9TMXRwaUQyRG43b0RyY09sOU1XNHowVWxEMEJMNVNneTNMdlBmcCs4Ym9ZS2V1TkZPSGd5elYvaUwyZkM1VDhLMklZU3JZS1dHSENwVFVFVFJXTDl1Q0pLT2xja2grVXZWY3llSDYrZ0lpQTkrelFSbzhxYXpxbGdSY2U3alVzWU1JMUJ4ZVhENVk3dDUyS3hOdk5USlVUVUlUbk12bHY5a3Z3cmJMK3Jtb1E3aUNSWGo1Ull5VFJjRnVCUndXdS9ZckdMVEwzb1c3SEdacmtTL0tXeFdwME10UnFHNHFvc3QzQ0pPM2QrN1puYUt0VmQ5d1RidC90RUFCTzRYRmVpMU4ySHl5SlJGdmhpQVdjL05mcFBYRm40ZUNlS3hFbVVYcitqMnJIdU9OdlRxMldWbWt3YUx2a1hmRkdBRzltQXFzdjdLeVFtcEdVRmY2bE5RUk5nUStVZG85Zklna1pMSml4Y1JuZklFVXZPYm5ET1BUYkxBU1UrN3JOQXM5YVhpSVl6cXBhNiszQUpTS2RMUG1nQWRmZFRJemp6SnE1ZUM1aGdvK1ZaM0tuRzFIMks4SUFDWnFla0dPUTlGWmU1aG16MHRGTURWby9Qd1lKN1BVRnVtS2tpK0V0dEhYU0NycTJXVll6YlhsOUcwVGVselN1NnVrek1QZzBISUpXM1ZZVzQ4OUNRVjBSMXQvYmpBK01Ta09iQnBaOEsrL1gvSWZYRk9vUGhjbzUwQXNNSm0wcGY1NTZLeTJoWkFqTzVyNnFmQmgyU0FnTXVIZHZ5TEU1djdxTjlTdTk1Ylg4WlJSK0srVWh2dUpKMk5xS2l0Y0ZHaG43aFM0VEpycEVDVXRkTlRxUlMvQ1VkYjREQUpqQnYyN083cEtLVS9DTmNZWHpPL0p0aFpLSlhtOHdGdUplanJWRytkRnhHODM4TTlaaCtmNlZyTFI2Z0RvbGdHZ1FWMWhWUDhKZktFang4V2RFNWtkalJYczdGWlZUNGFYUUg3bWdWWVBiYlNVeVQvY0tYZUdaOHpUUUxNaE5ZOStHeWErK2paVFUvVlVndmZBaVk4TW5EZlUvRnRKaVNLcXJ6ZEZnT1hTVlJmS3RHSDF4RzBaZHZ3allyVm9VbzZsd2xwNlpJR1ZuQ25HQmNEbnYrY2dVc1NJekVrL0dXb2lSd0NTLzF5c25SbW9IaGF5ZGlJUDNDbCtnNktxb1Z2b0haTkRtUjh1RnlKNEhMTThEc3B5cDVpd0N2SzhKN1gxYTAxSHU4UVlxS3pvOTNrcUsrdUl5aVY3SGswclM4aFMrb0V1RXBXTzJzS3NFbkY1Y3FsZ04yY1MvUERoSHNVWVdZaGpLTHZNOGJUK2JCSlRvZTkzaEhjeFBjUVdJOUFKUUU1SFZUTU1sZjFCbFluQ1pYb2o1Y0F2ajFHZ05xUXdOYmNQTlNueml0eE1PU0FTcmhHblpQa2RMdStKTlo1Z0s1OU9FeEJlbHhkY1hUSlY1UTBPWmg1UW9ZSk9zRVFRZTl0S1luRjVkVk1HWEs1WUpKbUtXWU5OV2M0U1M0WEdxSkN2Z1ZMd2ZKQlR6aXRrS2VlOEhaVEFKWWllRHZ0aStiSExEUy9Rd3Y4T0VTYUdSZ0VXb1Y0UFZTMjFlMCtCS2ZqdU9FZ3BwQkovQW5zOHlGRG4vVlpHa3F4Vi8ramVLQloyRmRwY1g5Q2ZTVW5tQWFiRHkxSVU0dUxvYytmMWxQcmhhN1p2bG9jTG5JZUxRRmJkeDIvZVUwdnJ1RGdPUTZscHByMnh2RmsrWGdPazRiMW82SDFZZExXSldhaHdZM1Zuejc3S1ZXVFM5TzhVcEZ6eHJXYUNCUytKTlo1c0t0a2tHM29VUEtqOHNkcHFLaU1HT2ZzU3BFcFZYSTE5MUgra1k1cjI3YllvQWNtUDVGbXkzUDk3aUNabkRaTmJCYm9UNEwrYW9Qd2dkNENHY01ZNDhURkdMeDAxcUFBYWdKM3BZK2lRdytYSUp6NFVqRWNyN0Y1bSt6dmRRcXJIbmxOY1UzeHpXcnAwcy9va3JwSFg4eXkxem9qeFByUVZIc3hTV3NjRFN1cmNjTzZ1UjZ1L0JaU3E1c29OS2FhdkxrK2t2VncwSHZHQXRadDVsbnlCcEw0eEtIU01GdXhkMlBOeTZEaEVRTXBHLzRFcmM2cEYxQUZsbUt6bkZYNThNbC9qWUlqcSs0QU0xaSsreWpWZzJBNXpsY3hESlQxelh1VkpIZ3ZtMC9vN0ZuM2hYY1hseldTQy9jbGFtSXZSV3Ara0lTT0h1dFFNQ2xNZ1ZHVDdaVVJ0eTN5Y2hyWE9LcGh3M0pWeU1PRlVrTDNOVUJ4MVhKSUc1OXc1ZFJWTGFrQUxMMmRPMHFmd0s4dUt4U3ZwclMzVWV0UXV4S1hua290Z01nQUFBZ0FFbEVRVlQrZlNSNHRQVDdBbGlNOERZVWg3bzN6cWdVdjNlaDF4WkJaN3k0M0RFdDVLbGZ4MXJiWERKd3RMUU1rWmdoV2dWY0t1UEE2MEM2THdieU12MVNtY1lsUE5VYU9FMmRFbExhM0drbFlpQzRPdHRUN1NUdlhXdjkwR1lFcG53cDVwM0g4YWpscHBaVlZON0hSNjJhNTIySjhlbDVtL3F3OHFvV1l4THpkTTBMNUJwMDRhSXBKaWt2THFFQnRRNlkxeWxSYVVsTTF0Qk5WOTRwdmlrVFhBR1h5c1FyWVBsZGxlSDNJblY3R3Bjd0NlcWxVNTB2bFV5bGVBL1RpUmhJMy9BbDdwNm9ld1VRcXlHRktGOExCWHI5Slp6WGVRRUw4UUlIS0ZkL1BtclY0SDVlVFBlZzBEcXZDQjhTSnlvcjczTU9MckVMM004NWZDbjducEpwWUZaL2hWaFVuUk85NjdqTFRveXZ5VTRBWThDbE1uVFZURDJDOUFaald5Qm9YTUxXWVUvV21TZUdSSkw0dG1FeUJnSmprRElKY2tIMDk2S0FVRFl6M0p3NG1ndVB6Q2JuaEkrR25oYmJURzhUWUhsNVdqSjRxRlhqOTZjRkh2TU5zMkY3Z29TYlZDUDRneURySmdNcG5DWHNGYWNxOXZyTG92bWh1S2JqRjR0Q01QUnBWWW1ROXpiNU5uREFwVEpPeVhsNTh6a1lpWXVxa09DUytKZWFtU0E1WSsycTRIZGpJRjBYOGtZc3BtWU1iakQ3dVBsbjhoSnU3M21nL2dwUHdBZG90U3ZTc0dyZGtOU2lrZUNoVmsxY3NNMmpuUHdkZ3VwYmZWMEtvVGR3MnRvWmN6ck1FbVNXcGF4ZVhJb0ZEYkxsbldycWY3cmdVVnFuWWlDOVk1Nis0QytWYlo0Q3crdjVFMTdzZmdQeVBWVUlkKzB2by9JN0pYbXBZUUl3bkZRL0xVb0E0cEtGMzNEYjQwejR0QmoyNzdRaGRKaTlOYzZ3MEd2eGU5R29SbmRuZDdBRHdRZWdrUzBEZTVJS3VGU3pmQ3lkNDVKMm1JK1RmMEhuamVISDNUR28vQW1kaGFVSnFFQWJJVVZlWE03SW44eUtvczg2enk2Y3QrSVg2SHlGU01Ga2lYalE0Qy9CSVBtdlBYUXIycjMzd3gvbDN4d1FQN2hodlZBaHVIeGMvb1pMd2YwYmllWGVWOFZWMUQ0dEt2dy9EOTJDb3Rtei8veWozM2JHUVdVaE5DVHdKUWt3Wi9JblpDbEcvL3U1U3orQjlYL3IwaWVpL0tXUE5TRFp1LzFTQzFuenNlREwxUlh1L0ZTWXh5VnUvMXFQL0Zma3I3NHVzL2RpSmV2NjlHM1lJSnhwdnl6Sm4vdFl6QW5zTFpkZVluRml4b3ZMUW55ZllQeDdzMkFRaE82RHdrYnd5eEh1dXFCaFh2Y0VmNG5XZ2puRmU5RVROY1pmRnNyNzM0SktmMWRpdnlwTXJUNXJSRWhMRW5GZHBpNTdabFMxNEc0dEdDRC9Xc2JlLzVySGZxNys3QzVrbXFyNmR5S01iWXJySXE4TjV6Q2UvOCtQZlNRV3YyWEpTZkNSb01JUFdOM1JBNVh6ZjBCbWhFZmh0MTlmODlpSG5GbVd5MmlxVmxhbFNFMHdmbHVXd00yTHkraEw3RjB0Y0xPL3ovYmhSaTdZb2VsTHJucFVLWVF4c0wvaUN2NFM3TENBWGloNTlVNHJLOEhkNERLYXI3UGVXYWp5U2xLTXlUSVJJWUNEc2FiZWhiUDMzM1BQMlhNWFBKNUpDcUFUR0NmOU9aZTBmeGt6VFJBQTlTODBFSmNYenQ5L3o3MGdTb3Bmampuak0ydFNrTGk1VkRoSkNRZlc4VmVybnllTS84aXJQdHV5cXZKTXM0ZXRuTDJnbld1ekJ4cmNnNlFHZCtSV0ZUOHVvejlrN0R5MCtLelVWRldCT0phK3pPNmJseTZiT0VmWWp5dDdIWG9udUl6eVh6L0hIcmpkc1hnRXAxM2wxVWxaaXFseTkxNGxDMzVSOXVTdGpRZitHUUdSVzBQbDgxK0gvd0w0dU1xcHUwTjk0alI0cnEvSHZmc2YzbFVjZUw4YjJ2aFJpMEpMQjA2bjRESzYrK1dOM2xzZmRzWHNiRWhLSXBnRzJ6OHlvUVIvNlZvdUpVOXg2V2ZwNkhrSjRvMnJmaDQvOVpUN090UFBOcG5VTkZ4NnRjVmowL0pxbUJpQ29IVG9nalBnVXRucGtQdmh1Q3h2S1JHd1hsMVg2VUh1VSs0UURWSnBVbmlHd2lVZW01YVhHMHlMdW5UbkhuQ3A3SFRJL1ZCY3FqL2VCVG1lR0VoZjZUQ245UzJmNk1LaGNObFUwN2puUUZGc2ZHbFlYdzQ4NUlmaThnbHpMQWVDakc0TXBIODcxbC9DOTJlZHVOSmhjRmxvVkxUK1hicjlCbXFlYm50Q25FamI2WkRFb2Jnc2JXa0pFRWpYYTAxTjdKZW9EVGZ2OXhOMTNjdUd3ZVcwbWNZeC90V2l5aTVZaSt3d2oxUGI5RWtmaGt2ODBvcTZJQkpIdHBhSzJ1ZStNQ1NPKzRpNjdrWEQ0TEs1YWRScm03ZWpuTml4em9VRVhCcEw5VTBkaHNzYWpjYlpyNHI2eXVXRkJYcEcvWEQyaWVJWUFwZDVGWGZGRHF3NHdiU2k1VDRETGdjYzVFTndXWWczaWFCRURJU1VlWlAyb0hoWkpwVTRCQzRmSjNNS0h0NWJKWDBxMkRHSmdFdGltMzdKUTNCNWh6N2JnMEppY3ZLNm4xQmRObWVOa1NZZmg4VGd1TXcxOUpzSDZOaWNPUTZGM1p5eXQ0b0Jsd09PZlY5Y0xzR0x3K2RiU3RKanI0SlhiUy85cXNvT2NzOVppLzVCYWt3TXo4QzQvSHlkOGI5UDVab1hYbCtHeGM2YnpPdW1Ham0wQVJ3Qmx3TU9jRDljNHVFenVOYUVxQTdQTUxZNW9HVE90azJudUdFcWpwMTNVRnhDWEFndWVSUUd2NG1IbCtsMVhYOEpnUGNvNEhMQWdlMlB5L1Azbkcyb0k1WjNNamhvY2UrNXh1cUFram5iSEgzWk1VekZzZk1Pak12ZS9mZWVVOStweURmd2JNalpDL3Fuc2hkVmlleFB3T1dBQTlzUGx3T0s2TWVXUDdhUm9rRngyYS8zZUNTL1lqRUVYRnJtU00rTUdKZFIwM2R1UEYyZHlTbkpCcGRsNXdCZHdPV0FJenhxWEM0ZjExYyttZUJ5d1YzR0JGeE9DQzZqb2w1ckRhalJoTEJsZ3NzdStlMGIzcStBeXdHSGQ0bTlBSDlsWGhtUSt4cllwc2gzeDY2aCt0aXFaSUhMZVN0OG13TkQ3NmpveHRqNmRVd2F4cDh2MG1HT2tlamNIZTZkK2toMHVBYWhCVHNnZmcwUzRKY2R5SGtPakYzaUphTnUxeVR2QnFvMGVsek9XeStJajQ5cDJaV2o2bHBnZTFSRXdDVzF4aUhwMGVNeStzWGo2U0orLytJaHBqdTB1UENERmt2QXBXV09rQWt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raXpRUDVOZGtuQnlkdWxJUmNzY0Qwc01QOURqRDM3VXRNU3ozL0s1RU1xV0dBTUZzakY4R2NKalAyZnF1bW5HcGp0WFZiNWNBOFdHSWNGdGhHR2NQMkthSHkrd2Y2djF4VGVXSGYvR0drY3FvVTJiMXdMekxCbi91L29qV1VBNW1sdWhETDdTYnd2eGUrOGNXMFNlajRlQy94QjR6ZjFOTDM5N0JyQ0VQN2puZjl2M2krdy95aDBtZ2tPY3p5RGMrTzIrZ2JXMCt2SGVma1hTTXZnTU44YlJmbkdzN3ZTTU9XOUc5ZENvZWRqc0VDK2NiQzJWSkwvS2pyM3ROU2d5ZGhCRk4xcC9nZjJpU3RqMEMwMGVlTmE0RTcyWEJUbDVEOXI3cHlSaHBnSGgza21pczJmNEM0Ni82Qjk0eG9zOVB5NldLQU9VM2UrenI3TEc2dmo2cEpmNERDZm1RWm82dXU4VG9WRXNNRElMYkRNZWxIVVlXd2ZXeXFZM1EwNnpIcHYxN1MvclNGcmFDRVZMREFpQzlRWVROQVl0RVQ1T2ZKZnpGMmdmWWMwV3IxTU1pRVpMREJhQzVUdy83VWhMTVQvRUh2eHFtbHNBV2lySmh2VjlrZ21KSU1GUm1vQitIOW5XRU9XQVlQWXpESnNnZlFGUkpwZDJkSWxJUkVzTUdJTHpEQjJNWXBnem9hb2tJUEx4K0cxK0s1cHZuUGFwRU1xV0dDMEZxaHhSem5IR0ovQjZUd2U0VVMrYmxvUDg3aXhSVWlOMmdMYmpHL0JmK0RYMXJBbHV1K0ptb0JMRTcrTWRzQ3ZoaXRZNFBwWWdER3lCWThpRXllS0NvM25BWmhiV28weW1kTTFNU1NDQlVaaGdVV0cyM0Z6RWZETnNxMGR4dFI3eVdpSkJ6Z05aMGdGQzR6T0FyT01iVkRwemRNNlY5NlBwc0JoS3NLc2VDR2tpME1pV0dCMEZ1alFtUnFhbWRNQnpCazhUMVJpN0huWitMYUYzOUZwRkNRSEMwUVJ6TlFWYW9mY3dhN0k1bU5NNFpiOHB6aGh3ZWFqZFVJNldDQnJDNVFaazBDVWtvdS9MaEk3QW84UTJPUmY3Y25GZXFHWnRRcEJYckJBd2dJeW5tN29DM0M2Q0s0UHlnMVByZ0hBZlBodmZpOG1HM1BESEZMQkFpT3hBQndhVXV0SEpiL0kvdlIvLzBpSkhiUUVBYmMrZUlYVGw4cEE0VDU2QzB3emVlN1NOSVZmN1FFdmVsRlJmaDQ4Sm55aGZFM2x3ejFZWU9RV1dISENsOWhnL2dmaTgvK2F3REQzQS9IQnUwaCs1RXFGQm01NEMxU2Q4T1VOYjVCZ2dJbXd3TFo5eEhJaWRBcEtCQXZBMnZGeXNFS3d3SVJaQUE0RjgyUHFFNlpXVU9jR3R3RDhlZ0Y4NlN4Y3dRS1RaUUU0ckU0T3RrMldia0diRzljQ0VDWUtyeGR2M09HZjJKNURtQ2ljWHB2WTBibHhGU3Q2d3VvM3JqVkN6eWZGQW5YR05pZEZsNkJIc0lDeUFJU0p6cWgwdUFjTFRJZ0Zjb0RMdlFuUkphZ1JMS0FzZ0dmWUtpb1Q3c0VDRTJJQitOS1pjMXA5UWhRTGF0elFGb0R3WlhqZGMwTWpZREk3RCtITDhMcG5Nb2ZtaHRhcUdGNzMzTkRqUDZtZGgvQmxlTjB6cVlOekErc0YyeDc2QTVjM3NDVkMxeWZJQW5qNjhzb0U2Uk5VQ1JaQUMrQi9SNjBIVXdRTFRKZ0Y0UFJsK0xXQ0NSdVRvRTRVUWZneWZMc25BR0hpTE5BR1hMWW1UcXVnMEkxdWdTN2c4a2EzUWVqLzVGbWduUGpSck1uVE1XaDA0MW1nWWYycy80M1gvOURqaWJSQUhxYng4Q3R0RXprME43UlM4SlAvNFRYa0RZMkF5ZXc4L01iZzlYOE4rY0ZLaWpIdXZQYmZvNW0vTDBYbVpKT24zajlKK2gzQi9obDM0eFRnOG5xL2hsem9yYVgwWXU3YVQ5eHQvM2FLek1rbXIweFVNT1FJOXMvWXpEWEE1WHJHTWc4VFY5Si9kK0Z5RnVKM3VxUUI4OU9UR1lRdFhFcDdCR1cvT2hQMVhZRnJ0LytBd3pRdzJ3N2djbXRnN2t3WVovcDhuZWhPOVU4WXc3WlVwbitTUG16bDBmRlBIL1pWMDlway9XVFpOZHMvYXhOdUF5NnZmVkUzZ0RaUDNuYndyM2N0dnJyMW4zOVdVYlNFL3hkMERkZHNXaWQrNldlKzl0Qzk0MXZEZFE1YnZFOFlMZ2V3ZitFekgvbitWelMycm1HUWhxa1NBeTVidzFRWWtoZU9LNTJ6Zi81b1d2OTVtazlVMC9OSGZ6TVFZeVZYNy82SGJhQ0RuRkxLTHl6Qlh4ckE1ZjZyZ2EvaDBkQjI3TDRuRzVrd1hFWSsrOXRhb3ljYi9RLzVZaHQydTlubXl1RElubXlzRXFIRnZudWJLVVo1UmJVT0ttbGRCNDZMbjBxYkxzZU55N3I0UjNmU2ZTZjUvN2QzclRHU0hWZjV6bTd2em81M2VtY2pFZ2xab0I0UllUdUNxQmZ4dzhFazZvRUVZdjR3d3pOMm9xUUhDem1HRVBXSWhOaEVXRDBSeUxzaUliMi9VSVFVOVpLSEpSWlFEMEdDeUZMVUl4TUpGQW4xRWtUc0VPSWVHUlQ0RVRTT1Z0bVpPTmlYNzlTdHg2bTZWYmU3YjkrZTdsM2YrNk52dmM2anZqcjMxS202ajE0MHUvVGhiNnVjT0FsbkFPd20wK2Zvb3daSDA3TUpjamhOLzJqK3B6RUwvaXIyWDZTbUtOdnBYZjd6ZDcveExXU1dONi9UOFpuSGtEeTJjZGtNclI3TzNQMDBXcy9OWDFZaGZEL1ZSVjZ3YUhZWmVmRG4ra2JSTDc3dVB2UnF5eTRzT2tkUEJiTi9GeSthZmRTRCs4T0hFNWlJNTBPUm9KVGQ5QThrWm8vakc3TEplMXF3VVpXaHNtb25JMlQ5MXpuYUpjRjdVV3J0UHkyY1hRYnd0N1R2elB6TmJub3FPTzJnTENXbXllQWxqYXZScHZVaWNNc1RRSElSRit5LzlsVlZoMXpQbFU1c3JZL09abTExNFU3cjNQd2xmVE5pVjNYQmUxNDR1d3pnYnluZjRZN0dxaWtxUTl2cWJKSXRpcTNpZzNHNUVUWDRpOERuUnkxUW80NTNDVk8zYmtzOWhPaURPY3grNXJReVI3dHNBdDdnWnEwQWFlSHNNb0MvR2xFNkl6ckptSjk0eTl4cEFtNkdiME1PS0hodGM5TWZqdHd0N1hzbmNuaklYZE5MV3M1YzA5bHF0a09jbzEzQ3kyZnJGaTJlWGZyeDEyQWpBZlJuYUROQ1VoZkF2Y1JsRnB1dTA2akExYTFydHZYUUNrVzNXUFpOeXZUWWsyRVNSUzN1aDA1bEw2VTZJMHhEU3k0KzBZYmEyUi9aV1R5NzlPSnZRWVAvL2Q2MUNvclAxQURjZHZGc0ZVZnhyTkp6ekM1V1dWbzFjczRyOGZlY0VtVHBzYWM5Vmd4SFpOWlNBK1k3V1J1Vm5KOWRub25iMEh0REtlSTdMNTVkZXZHM1ZGKzJmWVJWVjFBR2ZpZDdVS2VTZzEwb2N2aS9ZRUxCMDltdVRVaHJlendNUGZhMHhYVHBJcSt6ald3ZlBEKzdYSW8zUitHN2VIWVorZkRYV0ZOaWFQc0lxNjZnREdDei9GQkJiQ1ViN0JBNVFjSUkxeWJvRGoyZmljWDZ6TExXQWZUZWtGSkcrZUQ1MmVYeUVWMVB1MUpQNzJrQjdkS0h2NlY3MS9ZUlZsMHhHZnJZaG5lWlVReDdMTWN2Mlp3YVkwZ2Jla2F5YWUwMVJiVDNwSzhuc1hkdmk3Rnk4N1BMd1hmb3ZrWG1mc2NDMnFVUGZ3dlFudTBqckxwaU1oUzJaVStDVThsWmMzZVZxK1BjWERybENURDdmUHNTT25XaDk0SFViZWpmOGRTYXo4OHVhOStOT2p3UTFpcVp4QUxhcFE5L296QlNiUmJiV3hXRlpXaWFzZWJId2pnTFJrM2FWdWZIaFZHUE1WRGpTcHplZXEvejlUZmFIREs3UEJ4eFMyVitkdG5ad1EwdkZnaHpLR1I2QWUzU2h6L1gvQVMyTDdHeW11VkhXZnR1SUxJODFzYVhTd1ZRNEhhc1NCVjJxazIrYmEySU9JSkplbTUydVFxWHZza1VUYXNXTGVEK1pSUjU4T2VxbjhEMjVSQ29lVyt2Y0QzeXArRXNiT0xCV0p0U2paUURwTzFMSzFLRm5TcHJYUFc0VjB2cTNPenlMcWhJTjlUV0xYWHNURk4xd3k2ZWF5Nk52NlhPQ1d4ZjB0WHMyUzIwMUpnaTAzSk5wcGV5T0IvM2ZpcGdwRGo0Z0RVbE8xV1BRZDAxNnNxYW0xMmVRenlDUWJROVBlc0ZKUmZSTHRQNFcwcWZ3UFpsRGFqTjhKWlM2aWFjMmR5eGV1cGttcWw3eWhRSDc3TldaS2ZxY1pPMTdBVXZ4UUM0NlRTUFl4TXEwbzVIMXBXL2lIYVp4dDlDYjJqN0NLdXVvRXdEcUZseFcwRjhFellZays5YkRMRnJZdVVEbVdWdGM2b0J4Y0VxVFdkNlRrZnB2YWxUdkFWTHo4MHVlM1RKSStMSWVoQjZFZTB5alQ5RFUreUY3RnNGeFdjd3ZLazVzemdwOEdyMnd6Ukw3cnp1bDNVcU5aSkRaM0NiMFB1aUpLNk5pbG5uWnBlZGJhaFlnNm8zL1AyazBrVzB5elQrbHY2cFZZTlZXMFNHd3JUTXFIeGNJZDk0WS92NE4vYmQxb2l0bEZOTHFzNzZRc0UwTGV6WllkVTEwN2FvQVRRcXZNUWpITXBDRlZIMUMvZkhULzJsTm9iRUxpdFBkeTcveEw1cWtweS9jVS83S2Jjc2l0S2xsUjk0SXY3STU2TG93V3VhL2h2M2REeWt1cG9TRmJIelB3REVlMWE1bGNteXl6UXlGbWxCbWJTVU5QNkpxSlY3TzQ5czBQYWxOUUdrNmFkV2pNSTBhejJSaytNL3dFemE4UkYwMXNjUzVpOTVtTjNJTlUrbzVhSEYvTCt2R1lrRTdKRGZOYUhYRTNSWWJEYU1KTTFLUXdpK3FYZ0l1enpmaWE5QXk2dWM3OStoQVB1M1A4ekxvaWhkK2krZCtKSFAzQjkvZk1Yc0NidzlqaTkzNHFNRG05VE9uUkora2tLUVMzWUZ6MlhZcFFjWlRsbFEyaU1samIrUTlVSW52b3ozQkFDK0N1MnAyRU0vdFdhMFdOUzNtZk56VzRwdmZqcUszdFBtTzA0MEhPclFuRGVkZVIwVlBscHNvRGtlcG0xN1h0SmJ0VURNdXE4RlVHSVZ1d0RmL3ViRDM5S3ZXcEJkbm1sOWJEOWFzVzlVdkRPKzlhV28rclBPbFprdVhZbGZKZ2t2ZE5vNll2aVZPSDVEVlAxaWZFUVZvV05OdUJYNis4MVhRazJ5NW5Fdk1tRkdPV3U4VWd5NmpDdmVDZmw4VkdrL2llMUxGcDE1NlJsVnJxUXduaHU1U0JsUnRaVU16d1h1ZWl0M1g3OWVqK01IOEtMWXQzWGJtak92NDlGbkh5MW1pblZOUXdueWo5dXNwTXNXVkJoM1ZvTmtMNzYxUVNVdnhQTExNR1NYRDcxTTNjUnk2UnBWaWVPVXRLcXZXdGJsS2EzZDJwSUVTZ25NTTIrbW9wN0gvNHVtNHFjckZuMFVLOW1yUDlNQ3FhQy85Q05qMFJhUThVdHg4U2RCMVViOEJ6aWR2bVZGWjM3NmFSVmJBMmJIMHpMQmFNdVB0L1FkdjdEcHVySkdhcEhscDYwN1QyN1E0K2tYalo1d2tmcG1UM1RhUkpxaXhXa2RNWC90T0xua1lKZG5PbGVwRXZhdEwvVnFTeGwvbjhVSW50THpXdW02c3N2RE9Ka2FNRVNDcjFHTnArb0pISzA0YTdVWHRFcy9NcHgvRVdtL0ZCZC9rdlNnN0VYNzczbGM0cWVmVmpNWVRoWm1ZN0t2eS9HUHp2SzRBOFNIcml2cnBDSXRQMjNQOGFzMGIyOFliV3B4L0VjNmQ4Nk93ckVNa2c4TXI5NG5EUTkydVN5ajA3b3g0bmVwZHZSYXdKNWk1eWtkYXRIcVNXNm9zNTRRdEV5WXF6aVlzK3dzVU1oWWtBZnQwbytNNFY1TXlpL0Z4Uit5NEF1MmhVaXltUU9Sb2g4L1BUekFsOThST3JZMGNUQkJrUEdnTU5nd3E2SVNTM05jNmxqck5IcUJRaSthRXdaOEdoVWxBZHBEWjdncDNqQXF2TlBhcmwvRExNME83TUR2Sk5tdWl1dGdsNGNIU1JsQVZiQzBWVHZheXRHTEtrOXBUWXMrTDRlbXEvczF5TGlzVjZTMUQ2RzhGSjhvWWYyRzdES0FqRVhyeWZ4SHlCcmU4WE9lMXJBMjc5aTUrSU1VYjJyZEVCeG9MUFlWcndCOUZEMlBWb0ZEU2xRc2ZPY0dTTE51UnZob1VtVm5WVmpmY0FmSlhtWkVFVUt0QTVzOFFOczFoaUxhRDVsYnIySWU0U3YvcG9JMjRkelhxTFZWMy9CVzZXVXBGb3dPa2lUc1YxbG90Qndyais4cmJadjloTVF1MFEwRkdvS0dQY2s2ZFRvdHZTVGRBOWhPMWFxQ2tGMEdrRkZrZ1hPMUEyR0I0OEJERTVEaTRpOXVXOGxybDE2SjE1d0M5TW56c1FFOUhPZWxlYkVFOVVMdnQ3RHlpWklENlhqZzZjMHJOOFRCMlZBUWM0RXppZ0hhZ2JOUzZNSkQvcG80dnZ4TUMxdnNHMHpCVGFzdGJFYjJtOVpLeWFXSlhpbzdXdE1ldTYvYWdSV1dNZHNKUjA5cGxWMXREZEVNaHJhVE5LY1FRQ1ZsaVRrTnBTTGduZ0Z5eUM0RHlDajJWWld3enhSNWg0NUxkbE9SQzBoeDhZOXc2Y2JyQ1QwMmtZeGxCZWlqNkJTWmx2LzRzRWNQdTRpR3pvbms3QVpqNVhveWpzTEMyRjUzQWlROVB3cE9HS0VObTJXQXR1bEVGejJyaHgvZDRrejZsaEE0TUNVVE5JazVBaUpsUEhpNkp4a2VkRjNaS3BpcGpLOFU0NkRGMWJZcDJkVk9seWovVDljNmliNFVZQzRRcDRISWh1d3lnSXhrc1pxczQ5SU03N09RNGhrK3gyaTZnQlFYZjlwNVVGTUt1bU5tNGdDOTVwOHZJYTZ1N1h5MGhxb3RuVTNLZDhEakp5dFMxUmFXdTYvU3lUbEF1K1o0M3JZQitLa0hQbTJ6cUZtV01UQTIyRkJ1Q25aNVVkTGdzdDhXU2FqeWt1R2pBbUZmS2V6eVFMWHNiMU9xeGJyUnNLTmIxWkRPRFNVQWlqaHhObXNXc3NzQU1wTHluUEplakZPZVpFQ0tpeit0ZXRRNkJFbHpLUWJvODZqQ2FDaFVZQnQ2ckdhU3BCcis2QWYvK0laRmgyQnQxeXJBT25iTEtvQzdrV0dFVGJ2RzVrNFFrTWRSZzJ6VEk5ZFRMRVJOM1hRSTMrVFlFMld3eXcyUkVOUFJqa2dPWTJtZ0luY29tL3BLdVEvZFhFZHpETXl4b0tLZm1xMnBMaWVsMTJXdUQvV2RmcHQySWJzTUlDTUplMXg3dzJ6aVZFQ0tnMzlFVDVHcWVNKzZkbld4UFg0VDYyRVRZTkpUWTJkWFRKUmpheEtiRHM3cGtsVUNRNzFoRmNBdXphS0MxVGk0MFBhbHpZbTFyVnRPbVhmb21SOUttc0V1bFZpb3RDTUsrOFora1I5SUsvV1dndnl2cGJ3SzhjSFZaUUtzTHB2bFpTTjVPcSszTm9leGNkaDJHK1RDZHVsRkpxR0hEOTlOY2NwVE1CNytZc2RQRFFDaWE1V2tNQ1pEeXp3S0NScGNCV3hLeXNzRzQvWkpHcS9Vc2VZT1I5b3VBN1JyOXNSSDI1Y0hLZmF5d0xKTHN1QXR0eVdFcUNKdGx3M3JnaHpLaU1OYldvdmorQU9zZzBETjdFeHRCZ0U4cTRYUzViK2pOSERQSWJzTUlKT1FveHQyaE9SeUhUY2ZrT0xnTHg3V3V5cDVydkd4Q05DUEt6N1FiZ2pBTkhxQk5xT0xXMkJ5Ni9XZWRnUDNiZ2dHaUkwdlVRUm96N0daRXEwd0RHNWdhc1ExK0JDUkJac3FtV0pmeGROMmlYWjdwdUdhWFBoNFM0Y29qWTkrYkY4MWIvTEFIMzNjVUJYMnVhazNKK2hpTVNHWjNTcm9Md1BJSk5TMURJWU8vK3hzUUlxRHYvamFpV0sweWNjaVFLL2E1anhEUkFGKytCQmN3RWRPbWt5VnZ1dTdNQVd3YWtvR2FCMWNodUR2RUpwc2k0ZWVzRHNUKzZrMkhlTjlVYjlMeGJUaVV3NEFXYmhBc2lKL0tlM3owS0dlNCt1cjFUc3hHbHA4cUVRZGh6ZGZKNCs3UWF4V0RhcFduMFArTW9DTW9NTTBIclBkQk0xcjhrUkFpb00vT1FZOVg5ZjRXQVRvSjFmRW9pQ3Vaa3F5cWliSXFLMzkzM1JwZXJ3SFZKbTJ5d0F0Y09ETXVqeWk0eFdVdHV4eXpiZjA5ZGdsMmRxRzRTUng5NWZLaXdlY0Uwc0dha2MvcVk2VzVYY054eWhxUTRRNTBsZUxiQnV5eXdBeWd1cnNkeklNbmVzd01oMlE0dUJQOGJmZUcycXg2RnJmMWttTi9VakpXUTNxd00zZWNzeHFIYW9qTHlPT0E2ZEZ5MXhrU1UzYUxnTzB6dlhhWTdBNE10SjJxUzlzM2RKamwxaFVPblpKT3puKzBvaStBaXVPV3lJS3FjbWNQQjN2YTBFOGdRMSs2L0MzQ3E5N0FzZ0lFWWZiN2kwTUxubVNkRUNLZ3o5ZG1XbzVqcVVPOC8wQitrbFU4TFJ0QTdsZzRPTnBIeWg2VUE0QTAxZTBURG5qZEh5SnAxU1N3Nlk5WjJaZTR0VE9VdE9LTDVzK3orcXhTNHBEOTRXUzRnZitnUnkwdnpTS3ZvcHFjWHlDV3VOcUhnTzBKY1lmWVVKd095N2tMd1BJa0FKbjRxMjJlOGxUZVo1akxQeHBHYkFydWNNUzFZMExLdkhUeTdZNVQ3UXR5SU96bkd5aTZIL0VvRmtlQ0x6Z01SeG5uRjZQQjJodHU4emN2b1Nac0tWcGMweTdoQ2JNYnNUQ0NocjdTMUh4UWtQMmNCK1o4ZXh5bWMzY1pPKzdvUFFkUWJzTW9Bb2VaNzhESFJoN0g5dXh5N3hqWitNdjlvL1hKVWRyK3hKbFh2cXhwWHNiQ2llODQ2MmFzUERQMm1MY2JGNVloanAreFdlWGtZL1czci9NM0w2MDdYS05CZWk2RHdGL3VhRWIwTHFIeHBuc0oxMHFtcjNuWHQzRFdxcGZocEZKRGRnTVFPc1U3bVJNcS9BOGpqWStaSWkwdnhOQkJ4RlRjRTQ1MHo0cE52NWlQYmduMlNNVzI3WWsrZWl0QmhObmlybmRJOFJXZjZhVHd0Njlzc1M0YjZXMTlOQ3U4ZGhhbU10Qm1rNldXUGQ3WUpmcFczNGV1NlN1WHpVc0pabS9WRGI3ZWc4MFpHeUhZU016SEtPYURzaFEyRW1GTkxwbDJGL2lscEVIVmJxUnRCLzFMWGV2bWVWS2VLVFkrSXR0b24zSmUraHVTZ2Uwbk9MNVM1cTIrQzVlcmw0cG9rckR4UjdSNUk2cVRjNncxQTI3Sk1tbGFJZlcvWEdLL3ZaOWRLS3N4bDBSbXFZbk9JOWQwc3JidGt1NmhlTXYxWksvQ0NKa3VxbjRSTGRnaVRidmU4Mm5WdEk0eXk2eGM5VndVY1diRE5oQ0dWanFNN0dya3oxL21WQ21wTmo0UjNTOUtobWJuakZNMFUvMy9DV05kOGFBSzAzR1BFTjVjM3VPYURBNXJ0dTBtSkNaTWJBNmw3YkoxM3pSa01IQ2lHU3lHMy9QRko3eU5mWFlKYzJzZTRac0xSbDliMm4xWTdwZFhSQTFzM1lIVkZ2NlpKWTVZRWIrS3pKekhpZDZGeGtVZFhmRnR1bEZxbmFQU1orL2xQU3VGQnQvbXJEMExrZk5tS2dSN3RKUDkvd2xSc01ueElnYko3VzZyMXJWamZLaWFCaGJZNE15akRzekJ1UkR0UFl6bFYzWDRwVkVjYmFlRmFSUVZETlZ6VHgyU1RNckc5aW1uSnA5cGF2YVZkQzY2SnE0KzZSdjVTZ1JxVE45TXNzYzVBSFdUWmFuL1A0eWlBeW1jWHJFRFVQbjVhZjNiU0RRUFM1eHNTSWRsR0xqVC8zVzI5eko1bC9semNRZ1NEL2Q4NWNEYUo2T3hsTGFaeGFjai9YKzNjRHhsNXNwSDRHRk5UTUdUSnNoMmk2Zm0vSEVVUHhxV0lraDk2MjBkRDl3Mi9yc0VqelpPSFhsZXRsWFdtR2Vya05FaUVaR28wYWZ6RElIU0VJYkgxNjdEQ09ERWFlTElyWDZVTEx1Z3lUL2NiU2gycWh6V0lxTlAvbExOUUFBbUdMc3M3U2lEZE1yQ2ZuT2ZYUkFYd2Y1V05BaVlGdVNybkVEUVJtcWJqaGM3VzI4TUszOWZrazdjd0ZzdjhLM1l3QUFBQTNuU1VSQlZOL1RzdXp0SzBJQm4xMXVXanMzdFRoZUoxVjlwUlh5a2ZLb1VjUk1PK2FzWTgreXRHb0hUbW9nUlJHUnNHakROQXZNNDJGa3dQbFBRQTRQOWhMbmtpc2RsbUxqVDFlaTJ2SERoRVE3QzBPU0hxYlBwWTRtNmdFdEpVOFhUcFlnd0JWQTduZlZQSHRzYlczRUVKTkJhNzJQbDcxOWliMUg3cG8yalQ0UTBkNmc3dmpzRWc3bkZhcExqbGFjVEx1KzBncmJldXdLL2V0V09OTGFVRno0dWNlNG83d2R2RUhqODVjWnlLQTNlK0FIUzdFRmNObGpwak9rV1BpTElGZHRjOEYxMG5oM0wyV08zNWdhQkpwaE5HTHl4MU1jdElMZGtmUk5Ob0JVMUhibWRSUTFlSk1NMm9abUNxTHM3Y3ZvdExVQ2gyVVpUMVZKUWtPZlhTSVFNKzB3UXNtODRTdXRNSXlhd3EwMlRaOHBacWErcG80T0JvNGRoOENKWlZuU1o1Y1p5RVIzaWNVbFdrdzVjc251UTJEc0xQekZ1a0JKdzJKMkc5clhEekxwV2Y5eUpJR1Zkblk1eUltRWRxSVBKRzFYcDVLQ0pCS1JsY25wa0YvbEdiUWRObmVTYjNBNFd6eXhGcnhoQ3JDME90WTVFWXI1L1NVdUVkUE9lQjlQYVlYRk9nT2hDQlJYN2dPN050NDEwSW9WU05Oc0hkcUs4TmxsQmpMUlFPeUxvcHVCdUVCM2ZtUWlRNHFGUHhnWmFiMGtGT3RzWlkvOVNPRVpEY2lQQytQUGFET3FDbkdPbmtWYng4dyt4RVZtUmsveUdmQ3JQRXlMbWZ1cWtaeTlmVW1ML0gzVE9Lb3hJeDRrVjduUFg5S1RNSHVLcktubGVVcmhRM1cvdXNsMHorOU9KM2FpT0tuenNtT1gxSWRMcXRJNisrd3lqQXhtb1FNaWw4c1BpOU9rbWJBVUczL3dyYXQ0anp6NUFiWlY2Wm9PMDArcWlkMmU1a2NIUHJ2QkdMbWwrT2hBTm5QL3ZnMWRTSVZBYTZwL1JCT21oYWx0U2E0NERhR215YVZUek1CUWlkMThOZWRFN1hYUm1ybFFURU83b296TVdkK1JhZWtWbTZjVWRwbXdBVjA5dVFnZk1yaFZPeGNUZnZadnpibmd5VGVsMEJBa1Byc01JeE10U1RjUWpGZHRQYkp5WVNrMi91QXhVUGM1dXVqSEhreVMxdVJoK2l5cG8rdG9mdVIrYVRSRnVzV3FNYUFtbjN2UkVrT3g0eEtjVnYyamlqQXROaUFZSldLenpIMlpockViVUZYYjZzTVEwYW5FZ2RPNlNiRmJNK2JSMVZ3QnhMcHFrQzZGWFg1ZjFxN0srUnRGYWhZOXE2Y0x4WUhPNEtob2ttTDRGaFlPOEtZK3V3d2pFelhsUlpkc0kzSkdFNmZEVW16OHdSaFJ1MkJmaVo4UkpqT2tTenBNUDdFcUZnRmhaYVlvcTJyOFRPT0RzdTFxSjFrNmFGSk1YZXM2SXhOTGxzRUZhVTl4OHlXM2JrY0lEdGVhY29GSk9SeW0vSTViVHp5V1JrWkNjNDg0WU9OS3pVb24vcjJrc0s3ZEpXYW9WQ21NVUYyOXo2bnA1WitVdzZ5Mm41U2MrZWw5YmRCOG5wVlVheWhReEt3Y1NaOWRSa0Zrb3BaMHozVnpyZG44SnNnRnBWajRFME9FZkZmcDNIOFZyaFQrc25hSmNrRjZxc3gvVU16RC9WSXVUczhkYlFpNmF1cWZKdUNhMEFQN3dCaHZtWklnN1RubGJhcC84NWszMG9qR04zL2t6Ly9YRU5xcFRUTWhpNHFlTk1OL3BMaHo5ZnBuTzlUUEI2NXZSZSsrL2hiaTlZZlgvMHEwZTVkczkvUGE3cWc0VlFxZDY4bXpRYXR0dGNiQlY5OXVnam0yOE9SSGV5aXRqbWZ2SnlseC9DSFYvYTk4dGkwSzRrZXV2MTQxMG1ldlhRYVJ1WEQ4emVTb1RlOVNvcUFVamIvV3Noc251Nlo3V0MrdUswOFpwTmRrdVJJd25QUk96cVNjcW8xYjlIbkxyOWZqMzNGSUIvWjZKS20xVENCSU8xQ3hHSVZsNnJBblJpYk0vUWh4cFIwZmYrNjl2L3F0K0cxb0pJSm93V0pEL01XVFNNcEorSXR4L0JmLy9QQi95MjlaS281dUtUNE5WZWw4Y2orS0htNW90eHZoNjhPMy91dTlEL2VjMkVYdzZBb1orRm1YTEhVQjM1dVNkWDUvR1VTbXFYamp2SzlZNUQwSHBXajhOZWVWR1A3bmx6b2ZqcUxuRU10ODZsVlJFYVRYWkxrU01KdzRFWkNMWEJLdHRPTGp4K0dTZnNwbDB2Zk5OSFU5V05ROFJIdW9WZzBYNHVNcmozL2swVWNmZitKSzdKc3doY3pVckhPK0pVYnZBMEpFZk9YeVJ4NTlQK2hobDJBR1hsYzYwaTRqbUNRZFB5clk2QituZEJYekx4NVl2NHcrc3FuNVFsdVF2bFZUbVVUM21DUStma1YzdFhzTXNZOVNVU2VOdDlkZkJwRnBDS25KejFVak1tZHFKUDZHNzYvSCtDdDEwcjdhd1BmQUQ1S0tFTDBoeTVQcW8zdXBuWnpKR1oxNThZbjRxUWZTSVBWNGtLallidHF4WUlDMmtZNEFGQVBQdVpLS1JxcGZlT3o0a1RkNG1ycEY3N3VuYy9tQmpleFM4VHpSQy9mR2wzLzcwN3pobVJjaEl4aGI4SmJaYWI5ZFJuNWt6dXNGNERBUXJtWUxjMnY5VWpCWHF4REVFSHpsc2VPZnZrSFp5dE5IUDY2S0EvU3FPdCs1Qjd0OEtSL3BPRlF0RlNUeXh1Zkd1Ukt3Z0JZSWNNS3NkQWUrOExZOUFuYnA3ODlRcnNaOUR4SDZLZktVVG9wL0hoa1pOQTNZNVU1Ry9aUlZaa2VHTVZyeU9WRldMNUlYOUpyWnJmSG5hM3JHOU5jdmRPbEVkdG00cHZxQ25adHRsUzc2UENuK0JjdEh3T1FMMnd1U2dxMkY3VFFyWElycFFyZGtPZFp1d2EzeTVvZXpkUHRlaVFVV1RtS1hLM29hTCthQm9rQTNKc1Uvd0Nabk1XMDNlK0tJbk54U1pGZ0lINlFLNlk3V1ZVK3BYZFQwV2JUZHhNcU4vQjkzcS9XQ1pTYXh5K2ZOY2dCUEJid3lxNTVNaW4reGV0Qis4ZlI3RFVHZHNNWGpDeExINlhOdnduanhqTGxISDFSbllTc21zY3Y2TmQwTlhQYVRUU3FhY25SaVV2eEhjNXlrQmE2NGNTYlZTVmpLdHI5ODVScTliYUEyb1MwT2Q0MkdzenJ4cm1wdmh0ZVhwZjBNTWhQWTVjcXhrWS83THNFTlhkTXFWMnB5L0hPSkNSSFJiVWp2emQwUXdiamxjTVM0MTlmMHI3ekg2UFRTYU5OMVZCbkdsNXlTMnljN2dWMDIxYjRyOWM3ekZHRkJuWjRjLzRJRUoyeVdZWmZKL2JWQzJZb3RERnpZL2NCYXZ6YlN0dzBuWGw3UEdjbXA4QnZmTHF2dFhTYXA0NStQV0l1OHljbnh6eXZKUzdjR3V6Unh0TGRKdnNLdXVPM2VDQ3h3bGtkYVhjMGJtR2JxMHZiR0RKa2tpMUk1dmwwK2FGM3BlR3hxUmwzSWdYK1JtalJobHpOWjB0WEVzNEdoR0tFeTZtSTRreU53MnB4d3BWUWtqbFB5R3RjdVYvRTN2eS92SzJILzluYU0zaHUrcWJKRm52UGdYNlQ4TG5vMmsyMTEyT1YzOFQ1K2FMbllZOUc3cno5bko5d2xJaDUzMmJjM2ZXd1h0V3hNdXhTcjFGZzlqVFhFMk5HeE80TmU1Y0cvU0RWcTZOZTFJaGtxWHYzNGFBc2YyOWhUZWVlOFBFSnFQL05oUzRlWnlyYXgwcm85ajdIdDh2S2pqM2NVTkEvRmVBTGwvVTkwMW1mUTUxejRGNmhIQTNaNXRVQittdFh3YUIvL1hoS00rTTRFUGFuZ1VCMDF6MnM1UE5FY3VacmlyUmNwUGFaZG5waksrZkF2VUQyNkRibFZJRC9OYWlWK2EvVHZHVHMzWGMrenRKb1k3K2NjbU16WXFaWHdZM0JqODVoUHcwV3p5M3o0RjRnZHpISkVwSmRYMktmaW82d2RxQXVaQVdRdjM0eDhPSk90Mkx3SVRFQzNhSGFaRS84SmVwemRGRGNNWnJZRDlyZnRqMlo1NGxwd2pxZFBPMXpLMWp0UXV6UnkreWxBT08vaUJiUEx2UGdYQmlPOUNUeXJPMWtqbEZ6eXY0RWxxTG9aTnB2SnRqYVRld1NaSWd1cFhEQzd6STEvSVdDQUNiMDZFOXJLS1VwR2lNOWg4SUpZSGJGWUQzRWtSN3NYcmx6Z211SGtkeEZtMkp2OCtCZWxGQjRzbmR0aml5dkIxZlB3MWR6OTY4N3JLc3V0c1NCY0crT0IxT2trVEVJOUJmNlRpTWxvaXk5UDVBemxNcGlPVy9YdVVQajUxVkRGYU01bjJGdGhvMXN2VEl1Vk55Mk1LbEJrQ3Z3TDZzWVFkbmxRRUsrU1RZbEFVUWhzd2k0M2ltSlc4aWtSS0FpQlE5aGxRYXhLTmlVQ2hTRlFuOUZUd1lVcFdESjZUU0xRbnRGVHdhOUpNTXRPRjRZQXBuSCtXSDVoZkV0R0pRSlRJSURYdTJmelZQQVVPcFdrSlFMMG5iT2RFb1lTZ1FWRGdENVdlbTNCZENyVktSR2cyNUJYU3hoS0JCWU1nVFhZNVkwRjA2bFVwMFNnV1c1ZmxrYXdnQWoweSszTEJSeVZVcVhlakQ1cVVDSmJJakFOQXEzNVBYMDVqZG9sN1IyT0FKWTkyM2Q0Rjh2dTNYNEkwRnRuRjQzYTFTODhjZlRBaHNtWHFSS0J1U0JBYjUxdGFNbjRVNmluN29tUEQzUkJtU2dSbUFzQzlOYVpFZnhnL0Z2NE01MDJQdDlTSGlVQzgwUUFINzhVLzY4dWRLZ2tYeUU0TmJmM0krZUpSQ2w3a1JEQTdSN3o1bUZUM2ltdkg1Y09jNUVHNlRXb3k0Qy9QSzcrMEg1WUx0RmZnNmF3VUYwK1pOdVhjaHFuZjgyZXlmZURGNnJqcFRJTGpVQ2R2VHgrVnYxUDhtcm9HNzhMM1pWU3VUc0lnVGI3UzZsTi9kME52bmQwQjNXMjdNcnRnZ0Q5MTVsK3lxMm53OHBXK2FqdzdUS0NkNmFlK0lzZDg3M0l0djVFWDcxOHRlTE9ITy9icFZkNGkwSnZFK0VOTkhWSHNxY2l6ZHVsSDZXZWR4WUMyRmIvcnVvUis0UFJ3L0xWWFlWS2VaNEhBa1AyTWlSODU1N1U0ZEI0MFhsb1ZjcDhyU1BRWlM5RDRuOGlsVjMyWi9abDY5YzY0R1gveDBLZ0Y1c3ZvK0xOeUt1U3FNOVdRMlB4S1J1VkNCU0pRSWY5dVNCaVRXT1hzL3JQd1NLVkwzbmRxUWhZZjE3TjdMTEx6UFZPN1h2WnI4VkZBRTlmdnFLMXd3ZXROMlNtTzZ0LzlOSEN5a1NKUUJnQm1PSzZybDByN1ZKalVTYm1pc0NtTWNVb0t1MXlybU5SQ2pjSTlIZ2NDZWVwMWozbFBHNHdLbE1uaDhDekgwcDJLanY4dm81bGwrVjYvT1JHbzVRa0VjQWRSL0V2ZHpodkcxRFllcnpjdnpTd2xLa1RRd0NScEZoNll5ZDl3d2d0OTlVTkZtVnFIZ2dNWUpjWElYalR1cTF6dXJ3UE9ZL0JLR1ZxQkhCWFhEejQyN0pleUxXZTI3aE4vNVJXZDdGTTNJWUlrTC9Fd2dmaEpYbE5kZURUR3lwYjQrc2hWVitlU3dSbWl3QlczclRlZnQ2YXhpUGNsTHdtNVpiUEJjOTJBRXJ1WGdRdXhQSGJVTkdJbjdTcU8vcC9kUnZ4cmxWVFprb0VUZ0tCMWljZzVYVHNmRmJEdk5YVDBaN3pKTFFwWlpRSUpBaDhMZjU4dE5xT1AyamowUzNmMDdVQktYTW5qVUF0UHVyRUgzZWtMcXZQYkZUNDdVbW5VWmt0RVpnZEF0WC83Qnk5eVdWL1BuNDVLVHBWTHNkZGJNcjhIQkZveTI4Y05Ndlh4K2M0Q3FWb0Y0R0JYSkMzekVzL2JwTXlYeUp3NGdpc0pJOXpsTlA0aVNOZkNzeEU0RlB4NzBmUitmYnhSbWFyc3JKRTRHUVJxTmJ4M2Y5Ty9PYVRsVnBLS3hFWWdVRDF4U2VPZi9kTEl4cVYxU1VDV1FqOFB6cVdPbnU5dzQyQUFBQUFBRWxGVGtTdVFtQ0MiCn0K"/>
    </extobj>
    <extobj name="334E55B0-647D-440b-865C-3EC943EB4CBC-81">
      <extobjdata type="334E55B0-647D-440b-865C-3EC943EB4CBC" data="ewoJIkltZ1NldHRpbmdKc29uIiA6ICJ7XCJkcGlcIjpcIjYwMFwiLFwiZm9ybWF0XCI6XCJQTkdcIixcInRyYW5zcGFyZW50XCI6dHJ1ZSxcImF1dG9cIjpmYWxzZX0iLAoJIkxhdGV4IiA6ICJYRnNnWEdKbFoybHVlMkZzYVdkdVpXUjlDa1ZiYzE5QlhHMWhkR2hpWm5zeGZTaGNiV0YwYUhKdGUyTm9iMjl6WlZ3Z1FYMHBYUW9tUFZ4cGJuUmZNRjVjYVc1bWRIa0tjeUJtS0hNcFVDaGNiV0YwYUhKdGUyTm9iMjl6WlZ3Z1FYMWNiV2xrSUhOZlFUMXpLVndzWkhOY1hBb21QVnhwYm5SZk1GNWNhVzVtZEhrS2MxeHNaV1owS0Z4MGFHVjBZU0J6WG5zdFhIUm9aWFJoTFRGOVpWNTdMWE5lZXkxY2RHaGxkR0Y5ZlZ4eWFXZG9kQ2tLWlY1N0xWeG1jbUZqZTJKZlFsNWNkR2hsZEdGOWUySmZRVjVjZEdobGRHRjljMTU3TFZ4MGFHVjBZWDE5WEN4a2MxeGNDaVk5WEdsdWRGOHdYbHhwYm1aMGVRcGNkR2hsZEdFZ2MxNTdMVngwYUdWMFlYMEtYR1Y0Y0Z4c1pXWjBXeTFjYkdWbWRDZ3hLMXhtY21GamUySmZRbDVjZEdobGRHRjllMkpmUVY1Y2RHaGxkR0Y5WEhKcFoyaDBLUXB6WG5zdFhIUm9aWFJoZlZ4eWFXZG9kRjFrYzF4Y0NpWTlYR2x1ZEY4d1hseHBibVowZVFwY2RHaGxkR0VnYzE1N0xWeDBhR1YwWVgxbFhuc3RTM05lZXkxY2RHaGxkR0Y5ZlZ3c1pITUtYR1Z1Wkh0aGJHbG5ibVZrZlNCY1hRPT0iLAoJIkxhdGV4SW1nQmFzZTY0IiA6ICJpVkJPUncwS0dnb0FBQUFOU1VoRVVnQUFCK1VBQUFPQkJBTUFBQURWVVc5M0FBQUFNRkJNVkVYLy8vOEFBQUFBQUFBQUFBQUFBQUFBQUFBQUFBQUFBQUFBQUFBQUFBQUFBQUFBQUFBQUFBQUFBQUFBQUFBQUFBQXYzYUI3QUFBQUQzUlNUbE1BaWF1N1JDTE4zZTlVbVdZeUVIWjJiVWZvQUFBQUNYQklXWE1BQUE3RUFBQU94QUdWS3c0YkFBQWdBRWxFUVZSNEFleTllNVJzV1ZrbmVQSVJlVzgrNG1iNmFLekZ3bzRjVUF2YjBiallRcUcwSFVrRHE5QzF4a2ltRldxcGJTYjRxQnBIaWRzVVVDVURSdHBLVlFsaTVKUnJHcVhWdVBaSU02SjAzZ2FYc0p4eElrWWRrT21laVZTc3F0dThNc0hsYW1hV3JyelVoWnZCclNyMi9QWStaKyt6OXpuN25EaHhIdkg4emg4UisvbDkzLzd0L2UzSHQvZlp4M0hvbVE0RWZ1allsUE94Z04rTUpSOGhRQWhNTndLUHRoaDd3YTVmQnU1L0NXbTlEd2k1Q0lIWlF1QnV4cDliaDE2cHlsOFEvbmZPVmlHcE5JUUFJU0FSV0JNcURxWDNSdnBmWitkZnYvdllIN0hMTWdIOUV3S0V3RXdoVUdQZnVsdjZFQlQvaTZKWVMreG1senMrZG90bTl3SVEraUVFWmdDQjFSZjN2MDBXWTQyOWtEcy9DcVhmeG4rcDJkL0JINTRhRGZRdUVQUkxDRXc5QXFVR2F6RzVYbTkvMVMzUEdXUG5HTm52WWQvcmxXL0ppNWo2NGxJQkNJRzVSK0FlOWliblQ4V29EaWlhV3k0ZXF4am9yemlsMW0wSlQ3a2xYZlJQQ0JBQ1U0MUFxY1YySGFmK3BDakUrazFabGpaak41MExzaXRBYU9kVVJ0RS9JVUFJVERNQ0t3eXo5bGN6ZHNnTHNmSmxXUlErMEc5WFZSZmdPQmV2eUNqNkp3UUlnV2xHNEl3ZE9HVW8rRDR2eE1sbFZSUU05TGZZdTVUWFdWUGRnUjlHTGtLQUVKZzZCRXFNblRwOFUvNEdGNzErVFJYZ0VzTFlqdkk2eTAvNWJuSVJBb1RBMUNLd3lOaXhzd0wxRnNONHArc1g1SWd4ZDVIdkJwWEljTzlqUXk1Q1lIb1I2TUZVNXl6SmNmNXMxeThKRDlTOGpqTGgrMG5JUlFnUUFsT0hRSTE5eFhINFBQNEtGMTNYK1hLVDZldjVzbnN3YitvS1NBSVRBb1NBamdDVzh6ZmdoM3AzZWJBK3QzY3d1Yi9GQTkySDV2WVNDZm9uQktZWkFWanZMa1AraFh1L1daUkNzK0U1ZkxkTzI1OWZ4M3lBSGtLQUVKaDJCRFladTZhVllaTjNBTjV6bldHZzl4ZnhTOC9JQ1BvbkJBaUI2VVdndzgzMi9xTXJkdVAyT2diNkxSbloyNWN1K2ljRUNJSHBSYURCem5YaFYzMUQzUkpPNlZUa0s3VkkwempVRTVLYkVDQUVwaElCSE1EelorKzhCTTJ1TEVjTjc5Vmg4NTVkZFFQV2pMNUJKcUovUW9BUW1DNEVNSHYva2lGeC9XMmU5eldNdTdDaXYrbk8vWS9NZEVZbThoQUNoTUMwSUlCek42WnBidUY4VjhpKzd1bzYzN2dYcjliZjdTL3NwNlZzSkNjaFFBaUVFWURaL29vWmVpU08ySzQyUFIxL0paVCtIYi81OFc4SUxBSE1QT1FqQkFpQmFVR2dyZGJyVXVJRmR2c1BQLzU1eHQ3cUJWU2c5UHc1bFFub254QWdCS1lZZ2FyMzNyeFdCSDRWSG1NL0owTktkd2kvdUNWUGh0RS9JVUFJVENzQzBHZlhSS2NWNEZYMzl1Ly9XODMvMG52Wm0zVy9Ga1ZPUW9BUW1DNEVsbkhUNVhSSlROSVNBb1JBRmdSdzJsNS9SVDRMS2NwTENCQUNVNERBUmNibzlwc3BxQ2NTa1JESUM0R2VkejFPWHZTSURpRkFDRXcyQW1jTUYyRFNRd2dRQW5PRFFNMTllMzV1eWtzRkpRVG1IUUZzMVczTk93WlVma0pnamhEQVZwMzdLWXM1S2pNVmxSQ1lad1FXYkVkeTVoa1FLanNoTU9NSTRGcjcvb3dYa1lwSENCQUNHZ0o0cTA3N0lKMFdRVTVDZ0JDWVNRVHFqSCtma2g1Q2dCQ1lGd1Fxd1Z0eTVxWGdWRTVDWUU0UmFBUnZ5WmxUSEtqWWhNQzhJQUN6L2NHOGxKWEtTUWdRQWc3Zm5yOU1PQkFDaE1EY0lNQzM1K2tZM3R4VU54V1VFQkJmblQ4a0hBZ0JRbUJ1RU1EMnZQR0IrYmtwT0JXVUVKaFRCSHJRK1RrdE9oV2JFSmhMQk02TTc4dlBKUVJVYUVKZ3JoQ29CVDlXTjFlbHA4SVNBdk9IQUtiMmRCdmUvRlU3bFhoK0VkaUF6ajg5djhXbmtoTUNjNGNBLy83a2pia3JOUldZRUpoZkJQQk4ydUFIS3VjWERDbzVJVEFIQ09CeWU3WTlCK1drSWhJQ2hJQ0x3QjUwL3BUQUlBVEdqY0JmdjV3LzQ1Wmlndmd2RndaSUJ6cFBSMjhucUtyblZSUitOcXlZRTZIdjNwa09URXZ2Tk9UY0t3eVFha0ZBRytJSFBaRzFjTSsxWU5MRS9raWFpU21NSmVFZFY4ZkMxczQwME9yc2lRb0tMVXpuMS9xN0JZbWNOOW5tWloxaWNUcmZnczdybkViaGpxNkZDNmx2NW91bU9Zb1NwZWN4V1pzbVpxdExYNm9VT1F2VCtlcGtia1YvOHIwaGtKNjRkYXlGRmFiekphajhMWTNSU0p6UnRWQnUvbXhLQ2FKcHBpU1lUelpMelJxRXkrd1p3ejltajlucVJpcE1qK2tOUGovV1Myd25QMkk1VXFxR2g3ZFM2MjBCQm50RnZQNjJEcDIvSFdCVXREZXVGdTQ1VDFmemNUU0xMazhjZlV2TkdzbEw3TXVHZjh5ZWNLc2JtVUJGNlh3ajRwUnA2YzkvKzluZjh1RFZrWlV2d0toc3MxMzBncTIvRUozSHQrZUxQWHBiL2xEei9yODN5eHRWQ3p6VkJndDJkV2JlS0Y4VXpVbXNXYjBNRTZielRxalY2Y0s2N2s5LzMrZWVkMStxY2VKci83SHQrVTZYYkVFNnZ4aDFJVXdiTForeHErSHlqU1lFZysxV2lOTXEyemZEQ3RINUN5aDNvZXVkTTNiZU1rc1hXUXVpdUczTFNtT0pHeDM4cC8vbTN3dE9CaUpwdGtXMnF5YVNvL05aYTFablAyazZIMnAxdXJEQ3pVY0p4cDRNaFE4TzRMZXcyWjRka2JVZ25hK0VwOUN1cEcwaHlsWFhNL3BmZkVubVNwaHJKWUJySVRxL2laTGZDUFBPTFdRSnM0anlSNHlTUk5hQ1lMcGdPU0YwSXFwSC96bS9aa29ZU2JNdGNsMDFVNC9PWjY5WmpmK2s2YndUYkhXYXJLNlRIK0pLTnpjc3ZlaEJrWmYxSDNBZnJ5dmZFWVNMMGZubFNIdkpxOTdmZ0RSWDNVS04vdmZFT3RaZUNKeVZLVVRuNnlpM3BiL0pEWU1hNnpxckRkMk1FbDBMTHRObStBTWI2ODkrM290NWE3bjVmdjc4Mi92ZzdCdEtIMDF6SW10V1EzZmlkRDdZNmpSWlhlZnk1NzRXdXByV0NzSGIyNWNVemRKN1FNb3pVMlhYK1M5WWh2VHJ6R2dvaWpOM2xHdGoxUGt6eHI1b1NDTThwY0NrdXhDZEIydkx3Qm9XSm1YSUdwOEVWZ3dXY2JYQXVleWhsN0E4UjlEell5LzhSeHJRZituaFlYRTBKN0JtdGVKTm5NNEhXNTBtcTNKaXFEOVFudUVjL1BXT0xTM0xla3R1RldmVytidVpQclI0UEJxV3BhSml2emRHblVjVHRuMGw4dXhjU2NjZGhlaDhEWFZ3YXJESjFkTmpYd2xlcGgxYkMyQit5VDd2T05PL3NMV0tscUxiK21KcFRtRE4raGhQbk00N2dWYm5pK3E3b1BQYnZtOG9GMThaZFBVYzk4aW1uMVhuWHdiS2h6cGw3bDZQblpCc2prL24rUjY1Q1lRcitrV2pSeXhHNTZFOGx0NHhDRjFxZndQTEtiTnJqNjhGenFobG1mTTRUdFdZVDk3RG1MYXRFVTl6QW12V3gzUHlkRDdRNm54UmZkY0ppNWt4Kzhsc0xtUTFqNEF0eStNaDJYUisrWDBnSE5iNWs5Z0YreGhiQm4rRjNTYmJ1am01TDJLY0Y5M05ycTF5Y2duRGhSeFhITDQxc0tQSXhkY0NUOWF4OVg4T09xY0RSY1JaTlJDTHB6bUJOZXNYWlBKMFB0RHFmRkY5VjF1dXdmMmdwQzVrRGF5Nkc1NkJONFBPbHovK0xMUUhQS0Z4dmhwNzBBZVRqcXRKQmM4NUhWY0t2VUVyOGsxak1WS0V6blBkTWZ0ZHhUd1B4eUlIRlQrYTNUNitGampUQzhGTlNoN0lPNmR0N3ZDZWhtNzJqS2M1aVRVcmk0RnlwYldHS1JKNU84eFdaNk4rSk9manRzajRzQ045aVNhU1ZtNjdPVkxyL0lNWURyd25xUE1iekNOdUYycU1MV1B2SENMN3hreGZ2cmJSY1JXaDgvd2pOa2JINGpQUHc0VWg5dEFwTjdYZWRFQXRjS2Fyc0FHRUhteDBHL1BKTTYwakdVQnpFbXRXbFc4Q2RkNXNkVXBTemRIVU8zRXRQSUd6cWZmVkluM2QyNmRKcmZOb0dmSUo2dndTbHBZeHp4aGJSdVZMa05uV0lWMHdSdjhpZEI3N3gxYk9NVUFORTFVWGs4RGwzL0x6REtnRmtiQnBNV2hpc21BY1BXN0RMNmtPb0RtSk5TdEZuOFJ4M214MVNsTGZnV09qVC9tK29WeklHandPMHZONitHdzYvNVlhS0J0REpKZXJwNDAyRmpuSDJES2FWNnAydy8wbDV2V0JRdDRpZEI0RGNlcjZzNEFZREtyNGl1bEZEYWdGa2VyTXNwT0E2akY2Z2g0RTMwbEdjeEpyMXBPY3Ixa21ibTV2dGpvbHFlL0FnakN0MEh3dGVkbW54RjE3M2pIUTlEcmZmL04zL0phRHBoYlcrWnJWTktUNGo2OWxiTEF0akllcUJTdUpjR2pBYU9kRjZEeFhuUUtQM2phQ0JodG5RQzJJd3A4WTB4c1hqNzJBN1ljamRzMkRhZ0ROU2F4WlZja1RxUE5tcTFPUytnNmN2ajN3ZlVPNStNSGRVelBIbmpmOVRxM3pMcmtLS0FmSCtUSXpkN3ROeG80enZwYXh3SGJCM0xCUVNlR3FlaW1LMFBrT0dIdVlTNTU1L29mT0dnMnFCY0Y4MGJLZ2g2RDZuTWRwUS9CVFY5UkJOQ2V5WmlYS0U2anoyQllOcm91bHRPNC9iTTdiWmtoaUh6ZFhkODNVdlJ1dXZ3Q2R2MlE3NnFaeEgxL0x1SGp1OE83UEs3b21rdVBVZFJOMkVUcGZCZU1EZzJXZUhoamJBK2E0UWJVZ3VLc3RXMDBXQ0dyTVI4NThuUjlFY3lKclZoWnRFblhlYUhWU1VPMy94SjlpYWFHSm5NaXF6REJlaHZZVjExR0F6bDhZc0FZWlg4dm9mVlVjVlF0b2h3QmlVeGU2Q0oxdm9nNHVKNnF0TklsZ2JBOHMvQWJWZ3N1RkdlWTZFZFlLZElxOHN6cDBVdytpT1pFMUsrR2NSSjAzV3AwVVZQdHZXK3BIaTQ1ekltdGdlOTdwN0xzWkN0RDVuajVrV3NRYVg4czRnbDZnU1d0NzJFcThKWDF5VW9ET2N6T3FlZGhQc2M3RGdlbExZUFl5cUJaY3JyV1FUSHg3M3VpYkFKanNHQWJSbk1pYWxmQk9vczRiclU0S3F2M250RDMvdjdva3o3YmQvd0owL2lqVWpyUlN3RG0rbHRIYWQ1d2pOR0ZUSHVGYjE0MFFCZWk4ZUtQWkd5NHQ3TE1HWVNkdzM2UXhxQmJjMUozUWtYdStQWCtxa2VKOWdMVFBES0k1a1RVcnl6S0pPbSswT2ltbzlwL1A5bnpacTcvS3FVdTZBSjIzR3NhMWdveXRaU3p6eHR4REc3Ym9IcHAyVjhsWWdNN3pJemx5dUZSODhuTnNzdUQrNktCYWNIbnZtV3QzQlBMdCthNG1HTzhEcEUxdkVNMkpyRmxabGtuVWVhUFZTVUg5ZjB3T0pmUitZREtYdmoxL3ladlkzdDExOCthdjh4alI0c1VhVzh0WTQwb0g3dWJjMVJPMnFZMXVCZWc4Zi8xbEFDN3hxTVhIb2llN1pxUVlXQXR1Nmd1aFJzWHR2VG9sZnBib2hoc3drT1prMXF4WG1rblVlVWR2ZFRycXJodDc3SVk1Tlp3aU1rVGZubDk1eWt5V3Y4NHZERHBpT3JhV2NaR2ZmZVVEcm0zUHJLcjFCQVhvUEFaaU5VVTJheUFYWDhjY25Ia3hFeDMwWFF3WmVrNEN0cDg5Q0w3bHlqaVE1bVRXckFmd1JPcTgzdXJDRFNGc3BRbW5pUWpSdCtmM0F1YmRvTTZYUDNnWGUrZzVFWVRDd1JXMGlNQlVlVVczaHJrNVB2VzhadituLzBUbTlsckc5OS9YdnovQXFQekJlL3MvSGdqRGVabHc2RXZ2YXAzLzlJNnovQTVKRTRudXMyUlYwY0pSNS8wZC95SjBvTjhUa1IwNW1zRlhnTTd2Z2EzTmRpaDREL0VUVVQ5SDV1RHNPSlphY0J4ZUQ2L3Q2dHd3YzllOWNMY0Q4MGxRbHN0NUM4MXBxRm12Z0hFNkg0RnFBSnFzWGdzWHZkWHA1Qjk5OE5ZMzhYZWd0SUdJSzBKeTNlVFRzNjVIc1hLZ2srYkwyMk05WUtQRzJBT012VkVQaTNOWFFEcWc4NXNzdUJmMmF6d1JZLy9FSStUcS9FZFl2OFhZeituRTF4dU1OUm43QlVNaUp4eGF2b1BkK2tkb3Z0ZmFhamRpdWNiNnVBTHM1M1Z5SVhkVmpPL2dvTEpwU1hyYU5Lb0FuZThBZ0xSck0wMUtXLzNjQWRMZXM2K1NobXZCY2Y0TTZ0dGs1enNxa2VnQnU1b1hUdWk0L2hJU1h4ZktZU0pNY3lwcTFpdGZqTTdiVURWUnljTm40NkszT3A5SCtRdXMzMlRmNjV3WTVsUmJmajlQd0lXc3NqY3ZzMjB6TXFEekZmYmR4MDdwdzNJMlo2YTErQ29nSGRENXVxWThJc2RIR1h2OS8vM1liemRRQ1BFSW5YOTFIK1A1dTVrdXpuS1QvZmZIemw5WFRkMndoTGJaSDRCUStRdm5hdjVhcXJFdjdqcWZhckczdWl6c3YyNm55VVUyZXhXUmVsTWIvUXZRZWFpU29VdDJDUWVHMnVxbkNkTGVjME1SQ05VQ24rN2YvQzNIK1pHbWNWRkcwQTZBRmFZMjRYSEVHYVpySHRVUXplbW9XVS82R0oyM29hcVF6TTFoNDZLM09wL1JHYnU5Njl4OWZ0ejJ4MnBFMnZMN2VRS3V1ait5TFFWTVBZRngvbkZQYWM2U0Rra1YzdGdPRFg0Vm84MklWdk1UUEVINXJMOHJFbktkTDdVK3dOME4vVld6cXN1ODdQMkx0UHpXRnFISFd1Z0MrMGszcnFwMHZzT2VQRWJZV2xBV2o0Yjd0K3FXZlE4U3kxYXN4Vi9RcHQ0RjZId1RYTVUwUTJNNXZOTmFQeS9GWlpXb1lkeForZSs3aW1Td0ZvQi80MXhFWDlLTWxRNVVmRnZsNFE0K3J1OXJJVzF0SlJTa0NiaW5vV2E5MGtUcnZCVlZEWU44bkZZdWVxdFRiRDdCUkUzVjlqRlFxRURIbXQrUERyZ3FhbHFKOGREVk81WENIT2NiM21lYzFtMGpvY3FqT1VBNnFHZTF3Slp2VFNwVHVmRXVrWlByL0QzdS9QOUU2OGdlbCttd3h0eFJMQ3loSGJtK1hKUTZqK3R2dGtTT285QzZRaEhpdTFDOFg4QksxMnpWWG9wRjFsZHBDOUI1anRPQllwRFdFVlUvc0tnL2JkSU0xZ0l2dC9leHFvN2U5MVFEVW5GN3I0dWxvQWZDZnBjZXBEa2xOZXNCRTYzelVhaWFpR2IxV2Jub3JVNHlXRzY1dmU2RnA1cjZLdFNhWCtZSi9UZThGbEgrajFXdFlidkpESjFmWks1V1lnQStEVkd4QmxUUUp2eEdJWkswRExzRFY3RnROK3VmdGx3akZ0ZjU1bzRJdzJid0ZUZlNLZmtqVHR1ZlpsdEN5LzRjdWVuWnBvOWtkd0ZtdXg2OThOK211NHpuOTJQcHJkNUxpRUZMWmNsZjU3bnVHT09uNGpXTUk3SitVS1liSnFGQUxTQ3kyajkyazZ6b2s3aWpRRWJBb1BXNG1FK3lYMUtFQXpTbnBXWTkrU04xUGhKVlZmQThISFl1ZXF1VFhPcmVVTWJiakY5Vjl2d3lUK2dmZWRVVHRCMGJPbCtYMDc0N1RMME5VVlFCRlU3NFVIbTVBeHF0KzZ2UzdNdEhFTkhxb1BQLzNpc0xpaVVOUkJka09yR2R0dU9Sc0lRdStLMjA0K284S0Y5eDA4TW92Ky9sRFArMVhYTTluNzM2VUtwa1VKdGQ2YkhxL0tmRmgrbHRQNitRK2FML2VVZWpqNS9SS2VOaUl1dEg2enU5L0lGYWNQQ2lnVmZvaFpadXdqeFRGZUJtaEtuWTcvdWN1NDE3UGdJMHA2Vm1QVVFpZFQ0UzFiaXFjTXAvYm1zS0lreTFJNTJBbll2ZTZyelVhTU52YzUxTmZmWm16Njl6ME4xaWpPRnRqai9CMW03b2ZNT2IwaS9GcVk1T21vOERBWjNIMGFKVExRa202dDZzazdlbVF4NERuWCsrcDZQUVB5bFFWV3Q4VFRYZnNJUnFsN2h0dWpxLzU0dFE4NmNJbWhDdXMrYU43cGoyV1BhdTBYSHN5Q3cyblMrM2VGSHR6Nm5NR1BrUFJIMGhJMU1OaW9pc0gyQzdiV1FPMUFMaVZ1VGtwbWFVdnUzUG1nU0JFdzJjOG9kaDZOOVJkQU0wcDZabXZRSkU2bndrcXFya05zZDFlMVBnb2JKSkc5bnNYUFJXNXlYdnFZWjRwcy9lN1BrTkZwcUhuMEw1SHY1VmtoZWgyWG9LcUtKNzJzcDlRdzYxOVdBVGNwTWZxMXpLVWVGbEZKb3NnOUREWEpOdS9PK3BMY1lUcER6bE1kQjVsVVdOSTJoQmwzbWtlRHF5V2RwQ1QveWhmTW5WM1lhVW0rOHV5OFcrcEtYK3k1SkJCL3gzVmJCMG9IdFZjdHQwM3VnNVFVRi9mTWtsdGVBL0w3T0ZhVEJadkQrNmZrN01qcGFQNm41cFhLSTlieTZFR0gydTF3dDBrbTNVeUErSjU4Ly91QUhMNEk0dlVvRG1ucW94Y0ova212VktFS1h6MGFpNkdZOTlCSFFYZENUcTBlZFJNa3NFRjczVmVVbWJxbjU2Q21HK3FlbzE3QWpkbEh5OGYyNjA2Z3AzT1doNU5mZm4xNlRKb0JKcU1UejdYd1QzM1JHR2xMNENDeDVRMHgzaGNIOXF5cnNwVTZMOUs4VnNTWlluT2hra1BSVFpiYUU5ZjI2L0lIUWVmYVhxV1pHenEzSFhuZXV5b3dGUll5cmlKc0lvdGlXVDIzVGVlVDZ5MlI5dExKUVVndjhuUEdjd2NGaC9kUDJnSWV3WTFBSzFnTGdqcjh2RENPQ3VjZHowZTRFVFZFZEdFZCt5cTFFTjBLd3BuZ0RkeFhZeWE5WXJRcFRPUjZNcU10cGFQWTlZYkJsSTZSN2I2WllJTG5xcmMrWEVDbDhhMVU2MGRocVIzODBUL3VWVjRvV3V5YkZPcGRMSCtRdHllTFdQbHA0SlRtWGxqZ292cTZ1ZlhqamFWTmR6NGcvOW1OUnZQcjBWVFFndFEyMFJOeVZMRVBKenFlV3BMYlRuYS9pNjBIbjBhV3IyQWlaWGZUcUdhMGt5NElKY01hS0VSNXZiV0hVK25HT0lrRHA0V2hZVVExQkEwdWo2T1FzZU9UQnJnYk5wZXRNajMvZ2htRytxVVVWNGtVdzlEMzNQYjdsaDNxOUpjNHBxMXBVL1N1ZWpVUlg1YkszZWdDV1pKNHFMMXVwY1FtZ3BXeDVKT0x1U2VsUitHUi80UjFZNTIxZ05EWEM2em0vSzZlZkNJeDhJMElCM3pkWm9LN3lGR0RxUGZrcG90a3NBMm52YkkxVnFlUU1NZEY2ZDlHcDZYUUlXOXBwS3dMSWh4aUpyNkluUGNGbk1VbEcrQTQ4SFAwMi9MOTJCL3hNNXBjVjRwZGtPVkNvdFovNDZmd2FlRWdqRmNWaEhkUDJFOW1QTVd1Q01WSm52ZU1leHhuaFR4OTNkbnIraFJldE9rK1lVMWF4YmlDaWRqMGFWNTdPMmVoMlZoTzRvTGxxcmN5bTFmUDJwYU9OZ1ZQNEk5c2dxNTc3TGZzZmhKUTdvL0g0RURRVDNXRDhjQ2RxK0NvcG90QVd0VFVGVU5aTmMvNTJ1U0FHZGYwWlNram9QUGRSVUFtT0k2QUdzb2NoK1czTDRiemlkSTIzWmcxRXNxc2wydnVJeDVZWjdOZEdRZ25DbDJKZWUvSFcrQnA0S0NNbG0ySCtBcVVRMDh4b2J1VHpLckFVZVluU3FQTUI5QWpvUC9FSlRRWm5VcERsRk5lc1dJRWJuOTJVUncvL1dWaDlPTmpBa3F1NkNWWXJoVGc3UU9MR21uRTVVL2dqR0RYL3V1eXJudHlxcHJ2UFFwdjdmcTVpZ28ya29zeGRiUVJzeHgzbXpaYlRWOE9LVEF4dWxsMUxuTWQvV1ZJSnJKVmRyYXlpR2NuYnJUM3h5L09hYnE5SUxPOVBUMGgzNGJ5aW1OWC9Cb2FYUkp2ejU2enhrakJSTWt5SGVHVjAvb1U3TXJBVk9GaEw4S3NjMDhHeXF0WmVJd0ZnZW1ncktIQ2JOOXZUVXJGdUFLSjJQUnBYbmE5cGF2VVJraVA4b0xscXJFOVNRVG81TjZLYmxXQzBNM3pHNkdSSUUxU2liK3lXLzQvQ1M2VHJQalgzc3RUc2hBaUtBcTFvM0ZGWGhXUTcxWU9pcDFyU09mTjRxRVlwMUlEMVM1emNOblVkcEJWRnJLTzhRR0h2RC95Wkp3QXppTjFQTUVOUzZRU1p3LzB0c1d3YTBrYU1yUGVxLzVVdVZ1ODRMbVdVbEtJN0RPaUxyQjZWV0RjVWxhdFlDRDJ1ZzBMZStQc1R5b2psNzR4dXEzVkFpTjhDa09VVTE2NG9mcGZPUnFQSnM5bGJ2RWh6cU40cUwxdW9Fdlk2dk1NYjRGWlhmTGdTeXFpbmhvcHpUL284eXJhN3o0dUFJdEw0ckkvWC9Ic2dZeWkwaUt3ZzFneUdjbHEycDZiY01oczVma2U2bTErVHFacXR0dWFZTmUyaUg4MFFEZm81TGhDL1BsV0JRcmtEcmw1d3VzUmQ4amZjY0ljZVdERmYvR3ZxNTZ6eXZBMVVKaXVPd2pzajZBUVR5YUpOSDA2d0ZIbmpHUlZDZ0tkWUJuVDlCR2hVWGNKZzBtOU5UczI0NW9uUStFbFdlclFjOFZPTUs0REdVTjRxTDF1b0VQY0M2N3hGR2YzTkQ4WWpLcnhJWUR0NVZ5Ulord1JzRXk2cGlkWjJYeDA1dTdSZ0VYRStqNHBQeG94RVlBTVZzR1lpOTRxZDJYVGFkNzVqamM5TXR1VDNVSzc1OEVaZDc3Ly9IM3ZNaWM3NmdzZVlqbVBZY2FGR3VzK2tqbkx2T0M1R3ZobGdPR1JCWlA1aVIrNjFERURWcmdRZkpNeVRpclJpZk1XRHhQZUx0K2RCVVVNYWJOSUhsdE5Tc1c0QW9uWTlFbFdlenQzcUp5QkQvVVZ5MFZzZXBZY2FtSnEzQSs3TGlFSlZmSlRBY3lLbzJiemNQM0tnRmFjTTIzNnZEdUNvZWZ4bWhLRjI2dFJuYVZrQmtoYWMvVktuZ0NMV01mVDJXdTIwNkR6cjZuTHpwTmloN3FQUHI0Q21lbitYa2VKK21QNy9DQThQUG5wN0d0cmpXZXR6Y2RSNUxZZXVSaDdDWXNTRlI5UVBNOTgyTVppM3dPREhWNEdLY0dpa0Q0L3lSdm9ZMEVrNXh6YnJsaU5KNWZOckFmWkszK2dBd2lid1JYTFJXeDhud3dXSFhvN2RwRExJUitlMjhrVlYxNWNzZXZZdFB5N1Q2T08vZ2pSNzMyWkxSNm4vdnl4Z1I5cFZYT2lvOHZhSHp4cXFQcjdVdnk3VHkzNmJ6UjZZV050MkJ5eDdxNEwxYTkrbDNRWlByRS84ZjhGUlVrWVU5UzlzbDhESzIvSEVyZDUwWGs0enVBQWtIUjBmVno2Wm14WFNwR0xYZ0JyM1NBMDB1Nzl6UWk2WU5yMm5XZ3lHU1FYT2FhdFl0UmFUT1I2R0tiQkd0M29BbG9TZUNpOWJxT0NIMDFYMUpzTzZQMVFpS3lDOFRtLy9JcW0xOXUzRm5WMlFhUStlZFN5MjNZZWhqcnB1eXNRWGRPcEM1MUgrRnB6ZDAzckR1Sm00WlZiT3ROVjJkdDRkaUYvbHZPRnM4WEk4VDZueFRFLzVJUTFZVlJVTS9kNTAvNGNJcVR1a2RFZld6RjVwRUdMWGc4ZnNDRndMUGpzN2YxSGx1YTd5aFIrdHVnK1kwMWF4YmlFaWRINzdWNjZna2R0dnJUbXQxbk5LSmRqSzZZallaZTM0N2UyUTF1M1lrYTEyVGFVMmRkMWJmaDFxM2JHV3RuL001dE5wV2w3a3RjM3VqWlhBRC9MNUs3RGtpeG5tOW4wSFhjNERVMEUxTEtDZFQrbUJUeXNubjlsMGVGdnZnODVSK2ZBOVpkbnl2NjlJa3pWM242MkFvenlNRytRN2x0OWRQTzRTQVdRc2VpL2MwSVVaZ0dXN3V6OGR0endmMi9FRm9QeWo2aE5hc0syYTB6Zy9kNm9QbFR1YTMxbDBBUlRTVXB5UzFSbUNzdHVhWGljMy9ocWs0UEhMZEgzTUNPdTg0ZnkydVY5c3hhVGduVHlNVDA2YkhYbnlGTnlKam5EZFBheUgyU29DVWRUMS9adHJidld6MlVKZGUrVDJjTlJTWkw0RjJnanhDZm55ZTBnOUQyL1MzOUdXd3RnckpYZWRSRVAzTWtXU1o1dDlXUHhWelJBQlpzeFlrbi9KTFd4QkU3MGFkVGUzY2g4Z1dXTy9MckNHYUlEUXROZXVXSVVibmgyMzFHaWhET1MxMXA3VTZUcXJqS3hubVhNR3gycExmemgrVmN5TVFjOEZmellaMDNuRmVoaHhYQXpscVY3bEpNYndOVmtGYVUrY3g3Tzc0bVp1V0JZRnROT2lZeEVIME1vallReVgxZFRSZ2xJeVBUZGRrV09UL0JYMlk1Vk9EZzBCU1FMd3RnNnc2dnhINXZ2VGc5K2VyWUtqNmI4a2w3WCs0Zm1xaFNZUlpDejZuNVZxZzh6a3h6dHR6dTBQWFQyMjZUSnJOTUlUVzNyd3o5cHIxU2hHcjg4TzFla0Z4eVBmblhTbUNkYWUzT3A0Q2c0TlVWaGhkamQ1WkVBam1kNmtHZi9YdGVSblg5bmR6TFRyUEdYT04wNTVWR0JZcy9ZN05iZzhWUFBSem9ySExNcWhBbTg3M1RKMUEwN3VLOU5iUTYxdVNFaWF3VUNTK3NqeVZRWkgvK0R5bC8vQWRrU0NlSUtNSTIzUmVicFlnYStnNTlVbmJYVTFrQ1UrUzdHa0hoNGJxcDJVb0xpZGcxb0pHRXJNaVl6TnV6eGhNVGlDbmx0aDBtalNucDJhOVVnelErV0ZhUGFjbzl6NkJXUERSbTVvSm9WRHF5MXFZM3VwNDhKRS8xMGNYRzFLZFVINk5sT2JrWTVwcXpGNTQwMmVyNmZ4L2tybWdTL3ZTN2Y1ZjV5TzhabDVRc1JWZTNrUGxoUVA2ZE0zM3R5MXQzYWJ6Q05NbU1seU5kMERFR2lxL29vMzRxcGd3TjdVUjJ1Y2NjUEhQVS9vUHNxamRTaThVZmFPUzI2YnphcThMc2dVZkgwNmZoZUhpR1c0WUlTazhrZldEM2pqWXpNeGFRSzEwSmNPcXVVcXNHL09QZHFCSGtKbkV2MGtUU1VPOTJHVFdyRmVJQ0oyUFJCVnFIZFhxT2NVNnIxUDdZM1NxTHZjb0xucXI0eW5SazE1MWMzQVQvajZjLyt5WSs2UHk4N2p3ZzZ6NlpKc251S1FGK0RyZlliL2k1VWJsQmxweGRSdFJRWnNDVDEzaHBUN2tMdm1nQVc1SnQ3QkRCcHVqZFFhSTlhZUdGRVlVc1dOaERhMzdJL1JGa1FreVhQRTVScmhhKzNvRUYxdjN3dzJlT3pMSXB2TlozcDhIb0Vsa2xPenQvOUgxZzRialkrSm1ObXNCdHBoKzE2UGEwNEhtaDNEMHJCaG1RdFdscERGcG5saVMyblRlV29mYzNoQ3U3NEpxMWl1QVhlZWpVWVVDYmlPcnJkVnppb3N0WHFuVzU0MDgzbmdpdWVpdGp1ZEFCWng2T1U5Y1JXcDA0WS9NNzZVTi9HMUNyR016YkU4b2xCdW1kQjZUUHJXbFo2Z3QwaTMzT1lWcVNFOXNPby9wd0ZXWE5QOUZqNlBWN1laNFJkZldNdEJzTmFFd054SERzRFcwZmx1Ulg0eFJSOVlBQUNBQVNVUkJWQkRyMkQxalEySGoyMVcwNWhDZnAvVDl5R0wyVk1JVXVDc1RXSFZlUnFiNDU4ZURkVlJTa09DbXlxajZRZFF6UVpJbXZ6Ti81cmFwVDZqNFhGR2ZBRFV0ZzdkUDJhQTVQVFhyRmNDcTh6R294clI2SDVKa3JtZ3VpRkd0anRPcStMUE50aGlFeEluWjZQeDIvajJ0clhncGFscGZyblIrai9rcXJRMTVJc3RGWVgrQ1BJSE93NnJ6VFgxaEFLM1ZCbFQzNks5TjUva3JJRDV4dENlM0pkcEM2Mzduc0NyVXdGM1d5OUt2Nk9PV0RNUzQ0bE5ISUxkVmJhdEk0Y0RJb3dMeTFublE5dXRTY1JuT3NRY1NNa2VnZmdEQWdZeVMvMFl0OExYU0RTOW0weGpZTWJESUNNUmpKTmU5a3BiOE4yaE9UODE2NGx0MVBnWlZKN3JWUzBDUy9rZHowVnNkcDRiT2VjZWplaVRxZTVVUG1kSDV2YlNCUDFEeEIwWVJ0OGEwVVVIcGZNZmZRUzdwWXk3UGNuU1oveUpGbC8vclQ0WGhPZFJEbkpyUkFLRzFweXE2THRxWFZlZnJlcm85T2FMWVF1dStGQ1V4SFVDTDFvenkybkpmOFlWbFFKdHRJQmdkWjdCeEwybEU4dFo1OUdFVzdEVHhFamc3ZmltRDlZTWVURlNRVHNXb0JUN1B1T0xGN2huVmc5cVNFWWpIVEROTXlhZHEwT1M5OUttS20rU2E5WVMwNm53TXFqR3RYaFU3b1NPYWk5N3FPTEdlMzA1YTdvREd4K2ZvL0hZQmF1WmVDUktkNlVPYzB2a2pmMzIyR2xqVWJianpEOGh6R09SUllYak0wRE85UytHRk9GQ1p4QUxKdXA3bnI4cjc2VUQxV0dTeWhkYjlXZktHS3loRTMxRThhdHZLcVRuYW1vVVF3WHpnNHdZYTdibW9kWTE1Ni93bVIwbmpsY2FKUXZMcTUwK3dma0IreTQzeGY0MWE0UE9NVXkrdXJWd2lvT1dqNmI2NklOTjV5ZlUvZytiMDFLeFhCS3ZPeDZBYTArcDFVSks0bzdub3JZNVRRbFY2Mm9RNjQyUDFSVDdoamM3UDg0UWZWTGMyckNNZWkrV3VuMHpwZk5WZjhxMm9XL2pjZEJmY3huWmlhVm9Wa0pkU2VrVE56KzZCbTJ5cU1Pa0x4dFp4SGx0aFQwbXBvSkdlUXRwQzYzNTVWdDBsQU1hNWZablhxeW5wbGY5TlUrZWRwbUZuNEtsT0pFKzQ4OWI1UFlDa0Z1TlNwQ0gvWStxbnAvZDVIbG1qRmpENVYrd2J3allqbVdNMnIvWFlmTW5UbFZIaGY0TW1iMGZUVWJOZVFhdzZINE5xVEtzUFF4TWZFczFGYjNXY0JtcnFta3VyNDhKYlA0QTNPcitiTnZETGwxMVg5TENTYVloVU9sL3hQK3JhMXRzQjhsYjJCWUZOeHJhRlEvdXBnSHdnOWFhdnZEeGh6VzlHRjl6OU1kQTVrQ1Jhck84NWUweFpNekFWM29vT3JmdmJiSXV1cnBkYXZsM3Fla0M1WFRxaEw2Y2ZRZXhqS1lUNDcybkdyTHgxdmcxdVZya01DZUk5TWZYVENaWUZsSXhhZ0szejFLTytxblZ0Q01LT3dxNFhnNzhUeU9uN1FpNkQ1dlRVckZjT3E4N0hvQnJUNmtQSURBaUk1cUszT2s0RTliRXRpUEZsRmg4RXExd1Rvdk9MdE1FZmRCejY3TTNaUUd2M0JsR1JWT2w4VDlsdlM5b3NsNmNwZVgwL1ZIRmY1TkYrS2lBZjBQa2xYeWQ1d2lmVVp6bWM2cnRFemhOdExZM2NudXFoa0ZjOHdoV2ZnaVcwcnJwQ1RDOTNSQllFSFhwNUcvdWV3L2lyK0huYzhDb1lYeldTZFB5T0tQZHhIdXdOMEEzR0NUM1I5WU9wbjJiUDhNZ1p0YUJOZnZiTVltTVRUK04vNXRzTXRGRGxOR2hPVDgxNjhsdDFQaHJWdUZhdkVFbm9pT2FpdHpwQnJPSFptZXBQaVc4dmxrV1hISjNmSmtBWjFhZ3Q0TW8vMElEL1FFdXBkSDdKK3p3bDdyRTNtNFd6NGcxUjZENXUrRGt2UHNJZlVHTk11QjZXVVF0R00rTERRWDlYeEszMXUrSy80azhLdVMzdHFnaDBuRmV5Y3pjZCtHeDVZYmJRdXRLZnNweXhiNmlCL29uelk1VlZPVXIvQld4dXU4VGR3TDlFUUdEa3JXcVRtTHpIK1NxNG1Rc3NKVnRpUjNUOVlLRVNQR0RFVjNDNk10ZkVUUVBndGRHNmJYQmMxTFB5c2NXWStSdEpnelNucG1hOVVsaDFQaHBWZTZzUElKTFFHODFGYjNXQzJKNDdPS3l6MHg0ZjV4ZUU3VGs2ZjBpQUgzdjJjN21LczMvMWZuRXAxTFBGaDJ6Zzl6V0tHd285SlNrM3ZhTUVud3dvZzNQMnJzK0lCNHFpTmR4TlRsbC9KSHVzSm5UMTRzY3Z2c3JqTnBwUDQvZi9lditMZWFaZmZQOTduZEw3LytjV25QM3ZlWCtYeDVlYWJycmxoajRtaGtNeHQvZEs4REdscG84ejlrODRqVXZ5VTEvYzR6MGJ6MnR5anV6OEpUTGcvWGVKQUhickgvM09qa3lGT3lLdktYZmVPdDhFdndORlBaMGp1bjV3SWdLdEkvQ1l0ZkRFK1k2SUx4OFpsYzlQT25wWnkvL2gzejVQb0hMenViL3o5d0ZhMG12U0ZHL2tURVBOZXVKYmRUNGFWWHVybDFBTTl4L05SVzkxZ3VhcTIrdFduNEpWR3oyNU84Skg1dy9KSVJUZWJkN0dyNjZTU3VlZFQ3RFhkN0ZGK3lpN2hUL3Q0VFp1K1hDdDlaNUluVWNUUEpTSnhQL2RqTDNqRlkvOVFPUG1NYnh0U2VwTC9zMHRYbnE4TTNQN054LzdiWXhhUEtGOFFxSDRXTjhyKzMrSFB1TFgzRDVDSlB3SVk2OS94V1B2Q2F4S1JCUWZ2Y1FqQjBNVmdOQlR5UVlMS1o5cjNqclAyVitXbk5MK1I5VVBYd05xOVNMSkc3VlFydDBDWXM1L3JyS2ZrZkh1ZjA5MjQ5eTBMNTl3RCtKbE1tZ2liQ3BxVmhiWXF2UER0bnBKYk1qL3FMb3pXcDFMczgzZTZKVHVRQjlkYnJLZDFkYXBDSTNLSHhiamY1R1ZhUDcvZ3A3UzEzbm5YelAyOElPd1p4L3E4ZUxDYVpWZnN3UnM5aDk1NEtmazg4Q0RMZC80RTVxdi9KSElmK3NhcDlzVzJSNTRwTVYxL3BHSDMveFQ5ejc0aU93akxqVkZ3aWQzRFFHQ29iMHY4b3R5K3BCVW42N3o2VHRrN3hwWmhXZVZjVUVob2EvellJdm5BWEErbGVrditaYnQzTzMycUZtdGQ1RWNoLzZQcUIvK2t2T05NREd6RmxZYnJQOEFabFhmSFVoNHh2YmRrRXNNRlFOWU9DaHZDeVJTWHBNbWdxZWhacVgwZHAwZnN0VkxZc1ArUjlTZDBlcGNtckN4bjd1dDVST3MzeEx6S0VSRTVCOVdERGU5cHZQT2o5M1o2di80N3dYcGRLNTRJZGpYU1dSOHJvZm1zWi82bHRaRC81V3B5VUV1d2wvNi9IMzkrMzgzR0JVSXZiNkYyY2pubS8wMy85NnhudkxId09NN2pCQTlkcUI3U1U1eWVjcWN4M2x4OUhabm9BZ0RFOWpyaHkrZXRzTjVBN1ZRK3Z5RDdLSHZPUXltcTJrcm1tQmMyQitnaVFSVFVMT3lHQkU2bjFlcmwyd2kvdTExWjdRNkwrZkd2MnY5NHA4STkvYzMzdENWNU96NVpleHcvN3JPVzNPV1BhczlJc092YkZwelhEUlBkMXJUVEZ6Z2laemtjc2x5MW5reGJ5NnV4TmhQdVJhbW5xZ1cwSTBQMDAwbW9oa1daVEpDb25UZUt0M3dyZDVLWmxDZzBlb0dKYzR0ZnFET0wvbUdYbk5uUDFLRUJkMFdISmxxd2lMTzFQNEJCTXRaNTNHYTBMS2JsaHNBc0t4WUZEZFJMVnl5R1VDaUJVdEVNenI3ZUdPRzB2bmhXMzJxd2htdExoV0ZOSmtHNm56N2lpSmJqVDJ4b1pKaDhGRHVxWEUwL2VsTTdqcVBnNGZENmRad3FPM3BwZ2lWTlZFdFhMQloveFNKa0NNUnpWQ3VDUWtZU3VlSGIvV3BTbW0wdWxRVTBtUWFwUFBsMW80aWUyWWRVRlMwY2xTbFVVNkZUTHlqWk9oTnp1UDhDWFErMGhhZUhacTJ0bitoVVV0U0MzdlNoS2ZsaTNNbW9SbVhmNXh4dytoOG1sYWZvbXhtcTB0QklGMldRVHEvNkUvdCtUNWJOd21YWVZ0U0Vwb0ZwMWt6YkJBNTYzd2RPbS9aVGN1clNFZTZLY0lubXFRV2p0aU9ueUdCS3duTkJHVEdrbVFZblUvVDZsTVV5bXgxS1Fpa3l6Skk1OXNIUHQyZTFWamt4MHZYV3BFdFhETEo5Ly9FMkQvUFdlY3hQN0x0cG1VdlFlbjU3d0NScHMxc3owL01ET3hueXZxRkprbkVTVUF6Q1pteHBCbEc1OU8wK2hTRk1sdGRDZ0xwc2d6UStaSStUZDgwai9CRk1oeTZLVVZTR2xsRXhaakI1S3p6VmVqOGZoRkZxZk9UeXpnenRXTWpucUFXRmdaM0N5YmxCRFROREJQa0cwTG5VN1g2RkVVMVcxMEtBdW15RE5ENUovUlQyN0JGYlNmaU1xYXlKSkxObXFoc2JqWGtyUE5ONlB5V2xXL0d3QmJEVVlqMXFEMkJ3YlZ3a3JBK2ZURUgwL1RUVHBockNKMVAxK3FITG0rZzFRMmRQMjJHZUoxZmJ1bHZiRjN3WDMyTFozZGg2TFlVVDYvdzJBVnpTWnl6emtQbDdVTnh4bkx4UThRSE9KZjlGVHVkd2JWUXNXM3kyWWw1b1lOcHhtWWZaMlJ5blUvWjZvY3VYS0RWRFowL2JZWlluZitQRGNiK1FGSXUvMkFOQi9IK2hXVXJXS1pRLzh1R1JVd0ZUNjVqenp6VmtxL09ZL0tkY01OalNJQndhd1U2MTgyb2RjUEFXaWdOdjVzd2tPYVFSUmhoOHNRNm43YlZEMTJXUUtzYk9uL2FESEU2ZjhZYnE3eEtBbnV6NHRFbis1Rk1qeEtsaXN3KzhvaUd1a1pHc001WDUvbHdyRStYY2lzZDEvbGRYSFhXamFBNHFCWldvbnFMQ0hvOGVCRE5tS3hqamtxcTgrbGIvYkFGRExTNlliT25UaCtyOC8wMzMvdWd2Q2VyMU9yajFaUUhIcEZ2cXNSeXZLQ2Zhb3ROT1JHUjY3S1FualQ1Nmp4WFRXM0hNNzhTNHh6L20zQWkrcWtvaW9OcW9SUDNzbndFMFVFMEk3Sk5RSEJpblUvZDZvY3NaTERWRFprOWZmSTRuVTlQdFRTc1FUZzlxenh5bmdTVzIvbnFQRDk2RzdIa3ppWjhtYjJWYjhsdFIxRVpVQXZsTkN1d0FUU2pSSm1BOEtRNlB6SlJnNjF1Wkl5TDBYbW5iYnV2Wm1TRkdwWlI3YXRtam54MW5oKzkvYkxKSUNkZisyYTNmR1RlNG0xUWpxK0ZKZjlOWWlOWHZDZWVabnplc2NaT25NNEhXOTNJMENsSTV5K2xXQ3FPck14QlJtdkJsVWkrT3I4Sm5UOEk4c3pGdjlwaXpiaGR3UGhhT0VxMTRJaW5tVXV4aWlFeWFUb2ZhblhGRk50Q3RTQ2RkeXFKMXYwV2djWVFkQlljS3ZQVitSNTBmcnVZWXEzZmRmN2VPTXB4dFhESk9Ib1lSOFdNaTZOcHBwd3MzNlRwZktqVmpReXVIdnREZkZjOWYzWUxjZU5QL3V5eVVGdzFOSElaY0hUTUcvMnlFRWZlRG5UK1drWWFLYlBIMVVJN1phOGNSek9sbUNQSk5tRTZiN2E2a1NBZ21mQkJpT1hheEQzS1o1SG1aTWw2VXY1N3hoeDNMM2RBamtDeE82YkNSdGZDUm5CQmsxakNhSnFKU1l3allkazhkelVPRVhTZVpxdlRZd3AzRjZienEyTnI1ME5pVmpaTldmbnJmQU02UDZSTXVTV1Byb1dUZ04weU9jdG9tc2xwakNObE1lODVwU3hKb05XbHBKSXVXMkU2Ny96d2JqcUpScDJyL00wR3gveDF2aFg2VHBiQnNGaFBaQzM4VmZycWlhUlpiRkd5VW4vME1DdUZIUE1IV2wyT2xJblUrQkhnQnhoVGo2bmpGNThrSUFRSWdTRVJ3SmNnMGh4K0daSUxKU2NFQ0lGSlFjRHlyZnRKRVkza0lBUUlnUUlRNEY4SjNTK0FMcEVrQkFpQnlVUUF0dzVNejFtRnlZU1FwQ0lFcGdxQlRlajhKRm1NcHdvOEVwWVFtRUlFOXFEengxTW9ONGxNQ0JBQzZSQm9GM1JqUmpwcEtCY2hRQWdValVDbG9Cc3ppcGFiNkJNQ2hFQTZCSEQwdHBBYk05SkpRN2tJQVVLZ2FBU3duSCttYUI1RW54QWdCQ1lHQVg3cjdmN0VTRU9DRUFLRVFORUk0S0pLMnA0dkdtU2lUd2hNRUFKcjBQbWRDWktIUkNFRUNJRmlFVmlCemhmTGdhZ1RBb1RBSkNHQVkzam1Cek1tU1RpU2hSQWdCSEpIb0ljUGZtbEVQM1ZuNi83ZjFmemtKQVFJZ1JsRG9HTzhQZjlKMW45ZGcvM3FqSldSaWtNSUVBSStBa2RNdTRkdHVYVUxyOXU4bTM5eWloNUNnQkNZVFFTYVRMdEh2dTV1MjFXbjVYN1EyYXdTS2hVaFVDZ0NNTnVmU2dZbDcxdVZpK3p0TW9qK0NRRkNZTFlRMklET2QyV1JWcnp2MzViSmxDOGhvWDlDWU5ZUTRMZmhxVEo1VTN2SHFkQXhIUVVLT1FpQjJVSUF0K0g1WDhOcnlBOEc5ZWdJL214Vk01V0dFRkFJNERZODlSRXYzSHJ0aFcvUzdkY0tJWElRQXJPRndJbjJKdTJhV3NhdmVNYTgyU29ybFlZUUlBUWNwNjY5U1h1QnlVL0JMckp6QW9jUUlBUm1Fb0dLdGxXM3AwN2g0bVc3M1prc0xoV0tFSmg3QkpxYWRyZlZkK3RnemFmcnIrZStiUkFBTTRrQVBsRHB6K0lyeXB3SG5UK2R5ZkpTb1FpQmVVZGdWYi8wdHFwMEhwZm5iTTg3TkZSK1FtQW1FY0RDL1dsVnNJYTZBQmM2djYrQ3lVRUlFQUt6ZzhCRnhxNm8walIxbmZlRFZUdzVDQUZDWU9vUndJMFoxMVFoZkozSGxKOTBYdUZDRGtKZ2hoREEyL1BIcWpndGRmb09PbitnZ3NsQkNCQUNzNE5BU3gzRFFabjhHM05JNTJlbmlxa2toSUNPQUU3WWY4bjMreDdTZVI4VmNoRUNzNFFBelBiYXVyMmxiSGlrODdOVXkxUVdRc0J4TnU1OGlZQUJadnRESHc5RDU3Vyt3RTlCTGtLQUVKaE9CTnJlbVp1MmVwT09sOE8zMjlQKy9IVFdLMGxOQ0VRaHdMeWxlME5memp0MEppY0tMd29uQktZY0FYNEpIditRQlV4NCsxcFJhblQyVmtPRG5JVEFEQ0VBRTUyNEZBUGZxdXRxeFRMZXNkblNJc2hKQ0JBQzA0MEFIK2Y1alZodDljSzhLRTlIZVJjTTI5NTBGNWFrSndRSUFjZHBpVDI2Y3N1WTJqczlkU01XM1psQnJZUVFtQzBFenRqTlk4ZFpZdWY0OVorTDZncmNKZGIzZzhsRkNCQUNVNC9BU3IrTE10UUNuNnZ4YjhHN3FFYjhxUzhxRllBUUlBU0FRTGx4ZTlmNUdMdGxEUE1PVEhzZU9uVFhOVFVUUW1ER0VJQ1I3a0hXdnhZb1ZWTit2cWF1SDhrTkpDSXZJVUFJVENNQ24zMHhlOE5oVVBBT3Urb0dWZlVqdWNGVTVDY0VDSUZaUWVBQ2UwWVVwYVJkakRrclphTnlFQUtFUUJpQkRjOXd2Nkpka2hkT1JTR0VBQ0V3TXdpMDNldHVhV28vTXpWS0JTRUU0aEZZYloxamtmOWg5a3Z4eVNpV0VDQUVaZ1dCdjJMOTE5M0hualQzOEdhbGNGUU9Rb0FRQ0NQdzJUdGJEMzhicVh3WUdBb2h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bUZvSDFPOCsvY1dLRkk4RUlBVUlnYndUV1cyOTVWcitiTjFXaVJ3Z1FBcE9LUVBVcHg2bTlmVktsSTdrSUFVSWdad1FlWnp1T2MzSXpaNnBFamhBZ0JDWVZnUWFHZVdlRjdVNnFmQ1FYSVVBSTVJckFJdHNHdlVXMmxTdFZJa1lJRUFLVGlrQ0hIVU8wQmFINWt5b2p5VVVJRUFLNUlWQnVmWkhUV21EN3VaRWtRb1FBSVREQkNDeXlaN2gwaSt4Z2dvVWswUWdCUWlBM0JQYmNTZjBTdTVFYlNTSkVDQkFDRTR6QUVkK3BjNXhOZG1XQ2hTVFJDQUZDSUM4RXlxd3ZTTzNSZWo0dlNJa09JVERSQ0t5eko0VjhIYkxiVDNROWtYQ0VRRjRJTERMMkNIOFl1NVlYU2FKRENCQUNFNHpBUmRiM2RINTNncVVrMFFnQlFpQXZCSHJ1T242RG5lZEZrZWdRQW9UQWhDRlEvdnlMSG55WGxLbk9ybkxuQXZ1cURLRi9Rb0FRbURFRTFobnpOK003N2pyK2duc3laOFpLU3NVaEJBZ0JnY0QzbmZrYmMyZXN5OFAyM09GZVJOTVBJVUFJekJvQ2UvNUxkR2ZpRFJ2bnlQMmJ0WUpTZVFnQlFrQWcwSEhQM25GM20vSGZNaTNuT1F6MEVBS3ppa0JWS0xvb1hVODQxK2prN2F6V05aV0xFT0FJdFB5THNEYUZ6dmY2dER0UFRZTVFtRjBFU3RwTWZvbmI4TXJOTDgxdWFhbGtoQUFoc002ZVZpQXNjNFA5RWp0VUFlUWdCQWlCbVVOZzBkK2VkNXpxbDUxUzQxZG1yb3hVSUVLQUVQQVJ1TWd1dityRjUzL2dCaXoyLzJIdHlXTS9rbHlFQUNFd2N3anNzV2YzditOWjhoVE9yN1YrbWd4NE0xZkg0eTdRRHdXR2tjY0MvbkhMTjIvOHp4Zy9rM1BtRysvbkRRQXFiOEVJUE5waTdBWGFTTUw5THlHdEx4ajFPUEkxeHRmdkYraU4rVGlRS0M0OUFuZmpqUTdHYmgxNkZNcGZFUDUzcGlkSU9iTWl3TVJ1Zk03bmNEN1kvSmZVa1dldG1kbkl2eVpVSEVydmpmUy96czYvZnZleFAyS1haNk40MDFpS0RjWS9WdVZjWWwvT1VmcVBuUDhPV2Y5enhIT2FTZFhZdCs2V1BnVEZGMTlPd0U3d3pTNHZ6c2R1MGFBd3JtcTk1TDQzdThaeVBJaXppSVhDRWgzbUcxZVZUaFRmTmZaQ0xzOUhvZlRiK0M4MSt6djR3MU9qZ2Q0Rll2Uy9TKzdoK2hYdFpFNVdJY29OOUI5bG1yeGx4WEZxODYrK3VQOXRVdmkyZC8wS1RNWG5HTm52WWQvcnhTelJ2U3dTbzFIL2I3cTdkQmR6dkNaalJkZ0RHM2t1RmthTkN2SExnRUNwd1ZwTTJ1aWFXeTZsVlF6MFY1eFM2N1lrWEc1SkYvMlBHSUU5OTZUdFhvN3YwbFhGaGRsVmQvMDI0dUlRdS9FamNBOTdrL09uWWlidk9PdHFEN2pOMkUxc0QyMHIrVHFueWttT2tTTFFkdS9IT0pNWFoyeGc4OVI5enIvbk1KVWs2KzZVb2VKZWxaK0tCR1dhWWdSS0xiYnJPSFczK2xmVWJJOFA5TnRWMVFVNHpzVXJVMXpJcVJiZHZTYkRhZmFQM1dKc1BJaTY2VC93d0FQNDczOWptcUpkZDd1UHlxMDBtU25QMUNPd3dsL1VmRFZ6NTQ4bmwxVjUydGl2WStxNlZjZFpVOTJCU2tLT2tTQlFGNi9NcjdvN2RvTGpNblAxdi9RRmRvNE9lK2luNnM0Y3F1NW5zSWJPVGhtbUhJRXpmTlM0aklGam41ZWpmazJWNWhMQy9DdVpIR2RaYkJLcmFIS01ESUZOb2FIWDVYbDc4RjFubnAybDNOUzc1YVFTbGJ6dlg5WDg2M2VTWnFWME00QkFpYkZUaHgvRXVjRUwwK242UlRwaVh0TndnMHBrdVBleEdhbHJnYy9CeWcxdDhiM0l2dUpKY01KbmFjTStjcWVmdm9zeExIS3prUjdmUHp0MlZxRHpZdXArcHMwVWx4Q29lUjFsd3ArTmdrOVJLWnB2eDZFb2FjSGpjdnZiZGl1d3RBNzluR0JxaDZmRWFEMC9OSGF6a0tISEd3MVhiekhPNnpxUGVhTStjU3pUeHM2NDZ2dHg5dnZQWWoramNmZTM3WEJPVWd0UDZPeTQyekh5RTdjSmMxR3lXVUdneHFlSmZPMStoWmRJbjl2akRuVjlJS0M1L2ZpcS9OSFdROC9SdVhmVTJ2NWltcmw5MWYzT1pVdXpDdXJVeVQzYkNHQTV6d2Q0RE9sZFhsRE5odWZ3M1RwM1FPQXh6cnBjUWdvZi9Zd1RnYW95cm5JTDdOQlB5LzJjZFN2WGwzYUdsb0l5akFrQldPOHVnL1hDdmQ4c0JOamtIdSs1empEUSs0djRwV2RrQlAyUEc0R1d1OWZtb0Y5TzhaN01oamQ5NitWNHNHL2NpQkQvNUFoc01uSHlXbWJRRmJ0eG0zOGNjVXRHOWZhbGkvN0hqSUJ2Zkt1d240eVZwZlJ5NDNtRlNMenM5ZVFWN05qUU0zOElkTGpaM245V2ZVUGRFbmJzSy9LVldxUm9IUHJKeURWV0JOYTlGNTNMSDJIL1hid2dkZlRhK2lQcWV0MWJ4emVOcW84blJMR3pnMEFqc0VmYjdNcXkxZkJlSFRieXBMVm83VnhHMFArNEVWaGt0My9qTjM3ajMveC9qZlBmSFNES2EzU0ZseWJaUys1THVTVnQ0VGFBREVYUEVBSTRnT2V2MkhtNTZtL3pTdmNheGwxWTBkOTA1d0ZIT1Y3WTRMR2d2NVFJWEpTYS9KTGROQlRVSFJ4a29Va0QzN1Rud1lyZDFPVUY3L3oydXF2cmZCTlB2R1o3dDcrd24vWXlUNy84UGZlZ2RQa0htdWM3S1VxejZwN0ZPS0hsZkFyd3BqOExEdU1FT3ZzamNaWnp0ZW5wK0N1aDlPLzR6WTkvUTJBNk1QMGxuK1lTcUxkcUw4bFoyRkNsMlhCMS9vaFdhMFBCTml1SlliYS9ZcFpsZ2QzK3c0OS9uckczZXNFVmJ4NTVhaVliemxldW1iT0o0WEpQVmVxVi9tSGg4dGJZanNmalNPeTBEc3RRNlB3R3c0bGVldVlQZ2JheTBhbXk4NnZ3R1BzNTZTL2RJZnd2bFA1VS8vZk16K21QdFJFY2JtdXA5K0UyVTNHclBZMWFmRUoxSEttcWxESk5Ld0pWNzcxNVhmNVgzZHUvLzIrMWdKZmV5OTZzKzdXb2hFNWM3TEtUTU9uMEo2c1Z2a3lXWjJxQVZhcFhiSnc2dDl2VzZGemw5RGUyTkNYQUdPNmE1ZE5rVHB5bmwybzBTa3grc2hLS08wZ0tGZW1TdHowUEprdUJyZFprZkJmeHZ1U3IrOTFraVNuVmJDR3dqTnR0aXk4UmJ0ODZMWjdMeEhCb0ZsM2FKWCt2NWFKeHhVRmlDS3EvOERmczJ4T25wb1N6aEFCTzIyczNNUlJWc252bXkraC92ZWhaemFacmQrZlYxZmJWMzYrOVIrL3J2MjdIOTFwY3F5Kys5VjVMTUFYTkFRSTQzRkg4alZmbFZpcmo4dFRDdjJHeGtlUmFHRzk3SGpRQjdYYUlkSVhkLzd6bUNIWVBRb3dwWUJvUTZIblg0eFFxNjRyK0ZuNmhuTVpFZlAzTzgyL1VXZGR6L09DTVRsZTYxZmE4OHhvTHRFK3dEK0FLSERvMktkR2lmeE9CTTVibTlXdVR4a0JmZGNZMzZ0WmJiM21XWVJCYjhHNmxIWWhNeWdScWV4Nm5KQzhIYVpTYndoNi9NQUk3VFpBMSthY0JnWnFsMGVRdE54cG04YWRVOGhaNkdIcFZMSTlxeHZtV2huczJkaGdpUTZURjJrR2tMbisvLy9raFAvdWlhMEg4NThaVmhuNDB1ZVlkQVd6VmJSV05RWDBVWnNLaUN4RkQvM0YrOXVERXVKWHVlb0ZHeXpYK1FZdUgzUTlhc0o4UGI3VFd4UUNQaFg0M1JtYUttbHNFc0ZWWCtCaU0xbmRscGdGdWNDdm9pakdzNGxheHdxWTJGMUJuN3RPLy8rOHN3THBmb29NRWxqZ0tJZ1FXMEhqQ0kwVyt1T0F0bm02K0ZDZUwycUt3bkMrYTg2V2o4Wmt3V3VMKzZvMENaeHFUaFQ5Sk14d0N1TmErUDF5TzRWTjMwbHpNT2p5YnNlWG9pRjV6d2R3enUyNnhwNDlHUWx5SWNNbzVmZisxMGZBakxsT0dBTjZxTTlhaEJZaVBlM1ZuZW1wZmJvbmJ4QlpNcXgydUpUZ3RBTXdrSkhFWmptM0tueVFycFprREJPcXM4RUVZVTRtZFdVWnkwYjEvWURHdzU5a1libkwvYnJsRzkvL2ZKRkh6ZytKY01yWFRRS3BiZzY3TVVxbkpNVzhJVklLMzVPUVBRR2ZHcmZaNzdxUit5VDhPS3pEY0cyNXlYdzJyODFkbFhZU2piQ0V5TlU3ajh1Y1hsSjhjaElDT0FNYUVaM1IvL201WTdjVjM4UEtuUENFVWo5eHB6R1pnQlFQcjZEQUw2ai9EM2x2Z1VhL0FDQjBlK0tQZzRIWlpQR3Fhb0NMSVFRZ0FBYlNOZzJLQndFczhXOFZ5R0MvMXNtY0UzVFBYODQ3VDBqLzFOMUlaUHlKMHZuODhVcWJFYkVvUTROdnpsNHVWdFZmSXhzRHFuZWZmVmF6Y1Nhbkx6engyVExzOVB2em52K09lbEZaZTZWNzZZcTcxTTkzVjVnWFYvTkhoMDhDQ20wYXRpUGYybHB2bmR3VjFiRXkxaHc4QVBNS2YwRlFlYnl6dWpra214L21SV3VFVHVMR1ZqUmhuUW9CL2RmNHdFNFZCbVRHVHVESW96ZkR4bGY2aFUwbTJ5Zmg0d1hkdlhuUy84QXFkRDJnNGR1dTJoeTlaNGh3ZmJQN0w0NWpFRzgyQVRURW1MVVhORXdLYjBQbEFVODI1K09oVnJ1Vk0wc0hIZGQ3R0Q3c21JYnpjVk9idjNNVVFCTDFYMlRmQzF3MFZhcno4eVBudk5IN0ZWcUtQM25LN2doUFNlUnM4Rk5hRHpoZUxRcjJJNVh3Vkg5WENCMWtQQm91K1dtUDU2ZndQR2w5N2ZQbXVZRjkzUCsyMUVPWlQ1Q2JsSWpxOHBiNHJnWUVDVGtCZEZRR0xSY3l2REZia21Vb0V6dVFIekFxVHZsbUFKV3RSM0VoUkhtZ29LUC9nSDdkeVBIUEVEWjc2NDI1eWR0enB4b1h3bmljVzlPNlFteis0NVFaV0xHV2IrUlhtaFczQmI5SFQvZnlaRThXcFJxQVcvRmhkM3FXQm51Uy8vOTl4ajdXNjc1TEVTRnpGL1o3VjhQZ2JreU0ycXRUVU5aNTVlM05uN2d0RWUyRVZnNEYwSzVaZytraDNYZE93SEh6QVMzZlhCTjJMcy8xaVUzcnM1ajBuR2pGL0Q3UzRCKy9VYmVkTnZlUXRuUnVEbGlYUGYvZzd1cjM4ZE41ZWpqTjNNRDhLaittWVp1ZmYzN2xDdUsvTFZ2M1BoaXZaTHNqWDZjNUdjTFdwNGtxT3FVRUE5NjBVZkhIYlhnSHYwVjd3Ym5xdEpSbkpDdGY1dHVoNXlyYXVKVTliZ3RHbTF0M09wR0pSNjdYenJraTZNYllUUVlhazVKazBCUGczWjI4VUt0VFJjS2ZPRThsUzhXYlZ0U1RiaklYcmZFL28vSnJOWXRZdXduN0pJYnJ1TGhvcTRrVjVFN01OYnozUjduZk5DUElSQWh3QnpMeHRiVFUvY1BBdTkxZnlvK1pTQXMxRDRXb2tlVnUxY0ozZkZEcmZzOW5RWWNSejE5WjVRMUIxRnhMVnZvVnc1OVlPUWwvR2Z0SVNSMEdFQUJwbC9zdHRIVlpNTkYzbWl3QUFJQUJKUkVGVUpIS2ZSNnpKbmZCV0VoTlo0VHEveEZjWTVhYnQ1QStNZUZkME5QSnlsN3czRldzMmc4WnlrLzM0OHhyc25Ya3hJenF6aFFCVzIwbkd5dlNGeG9tY3krbHoyM1B1eWFWem92NnFjSjFmNWdiN0plc3lBK1lTaTJYZFhxcGhRdGM4ZzRicy9NeThHMTkzWC8vSG4yT0drWThROEJEb1FPY1BpMFFEbmNxMXZPbFhQVVhDSFAvcVlOcUY2N3hUL2JKVHNoK0p3NnQxRnN2NllKa0hwVGh4VHlPVkNyQ1ZER0pOOGRPT0FEYXdpejE2VzhuL1dBcFVmVi9namxGMGEzQUZGSy96aS8xL1dIdnkyQ3JKa1gwa3RxWWRJckRqTHNqa0czMUQ1S1NrYzQ4QVRxblpsb1Q1NGRMSy83WTltQWpjcVFNY3A0TWx6YXJ6cTkvU2V1aWI0dG44V3V1bmQrMHA2Z1hzVklKVDFYMnRwMVh3MlFwN21TaDBxaEhBb1pGaXA0YzRoWmY3a1I4Y05ITTFES2RNRHdmRG4xSG5GOWo1ZDk3RmZua3dIMnVLelVSVEVXdld1TUNXKy9adW9lL3d4UEdudU9sRkFHOTd5bE5ieFJRQ2QrVGtmaEpOM2NFQjVkOFpMSFkyblM4M2J4ODd6ZzhuWVdRVEJkM1NnUzE4K0xEUFB1L2VSeUNKZURhOGpycFh6SzdBOE1KUmp1bEJBQ3FaL3ppc0Z4OTdnZnU2WDNPdjN0bC9yZVpON2p5UzNkUkpJbHRCTnAxL3dwMUtWSzRrbDA5UGlXL0pQSzM3MDdzN3FDcVplOWxEb0pKa2JTTXpwZnYvOVBkOTdubjMzVTZYbDNKTklnTDhJMGc1dFVsNzhmWWlsOXpyTGRaTU4yVnV5bE0reWQ3U3phYnoxYS95Z3BWcUtiZmNZRy9NU1dHV2Y5dGZoYTE3SFhVemZNVGZYZzJwUS9tZ3dHYjgydUxVNEV4blJpdzM4ejh5bzBOeEZtWERLalg3MTNBbjh6VTljVEkzMUVnOWx1UG1JU0taZEg3Wm5UMWZUOTB6Tm5NejNKZjhiYjlMcmppbHZQcVRFR1lxZ0ovWktuZ3FxSGlSWXlRSXdLeGM3Skt3NWs5SXpRSzEyZmM2enJKM3RNU01HdUREZEZrOVNleURtWFRlL1JJZE9xY2JBNlNLaWo1S3RQNkl5cTJIci90Z1hYS05KR3Y1MjBwMGh0eTkvTG12YlJWMHJpaklpdnlqUVFERGNMRkhiNk8yQlM2NVczZ04yM254QVVYSGVkWVBmSVkvanlWYmwyVFMrWXV1T2FLWDVQQ1BWZTVPb3IwRmE5WkE0S0xmNzZ5NnpwUGlsL09RQVVQOVFVQVU4azR4QWpYby9HbUI4bU9yenI2Y1BYTmY5T3lrbU56ak5PK2hFQmtEL2tFQzJUUHAvSWw3ekhmNTl4TXdzaWJaWTZtN2l3QzlpLzRoNWcxWDU0L0VaK1lEeVhMM1F1ZTNjeWRLQk1lR0FPWnRhWGVoRXNtTU1kbjZWaDMyQ0x1Y1FDK1IxcHFzTnJYdCtTMHp5dXJMcFBOZzl2cXVsV3pDUUdqTWxZUkpCeVRiMDNwbm9mTWI3TzBEc3VRU2ZTS1BRT1ZDallpTUdRRitKS2ZRbzdmWUY3QWF2T3Z1OE9sc1J0dkdWcHRjT09NNTMrVjRiVEp2UVFCMUVnRk8zTmNkZWI4aVRPOHhVTWZrNTFlQnM1L2VpY2s4SUFvYjlNOE1TSkl3dXVOMmt5SjFqVysyUEZGb2Q2Mmtha3VZVlFnNXBoZ0JZUTRyVW40TWt6Y3M5UEVGTzNmd3V4Z3g5VWNlS0V2b09lVzBUdVJwM3A3Y3ZLcUdFdXBxUGxqblkvSzdCc1ArRm1lYzZzSDVZT3RNWjNoaVZiVTk3emgxdm1LcTVVUjRnQ2hIc284ZGtJNmlwd0lCVEwybDNoUWpiOC8rSmkxdTZ0Z1JEQzlFNzJSdDNCWDRZT01ERDd6aG1HZnF5VDJyaWp4T0ZQZDF4eVRqZkZ6K2l1aFAzQm1HRUhuSW4waUx4cEIwOFBXN202V3ZhNzJsSy9JdFlvYno2cjdySHByUWtCbWF0RDAvSkdJVG5aelBYTzAydHB6RTd0aVBtN2RsTTRJQVEzT3F5NEd6bWN3WU1IaWNqeE1CUjRmNDg2NjROSEZ4V0Q3bFkybkQ5dnpSdi9wY3c2dXU2aS84RFZOZnJZM2puemtPeHlHZXlreUVDRXdNQXB0b3pZVlc2Skcwc1J0RjlqOU9EWjN2R2xFSlBHM1BCZ0J0T2syUVBNRjZQcGJLOHRkeHJVLy9Gand5eDlKUEdvbEZBb1M0NUJudlYxOTg2NzFKYzJaTGg5V04xU1NUalNybEhoY0NQVFRJUW8vZU5xd25VckJVdit3V0dUcC9iZGpDMTcwMnVKWnduWmx0bklkMHBRK3hoS3hzUlFFRVhWdjRzR0ZMVE16bG00WDIwUmFoY1ByMndCSk1RVk9LUUFjNm41TlYyWTZBZlpCckt6V0FYZi9VbmpNNnRPZUp2Smx3aXBKWjV4M25ZeG5HNmlQclZDZTZlRkV4bSs3TzNHajI1RFVoVUVYYm1wZWNVNDVBRlRwNVVHQVpJaGF6L2owYWFGQkRtOFJQdksyQXM0UWIzeGwwZnFQeHN3SWRyR2xUbzNTV29vZzJaajEzUm5SVzZONnFoZkZKaXFtWWhRd0ZUUWdDVGVpOE44c3VSQ0tzQlMyZmk4YUJISGxIN0dhS1UycWJyczVERDd1SmhNNmc4M3ZTd2xsTmI0ZXI1d1N4K2xyT1RxSlM1NWFvVGR2enVXRTVBWVNnTmprTlFoR0Z3VjZnWlZ0QU84QjlrbUxpdU9MTzdkZjBQZmdJL2lJNGc4NVg1ZjVDMVZLTU9KNWEzRjVPQi9GcWJyZlRTTmpUYVJKa2M5TDJmRGI4Sml3MzlvNXpXbXhHRkF6R09vdkJ1K04zTkwwVWcrQWwxNGJuZmZVOWdyTVduRUhubTlKazBFcHY2Y1JVNW9ZbVRXcW4xM3UyQ245bFBpQWhiYzhIQUpsdUx6K1NVK2p5RUdaNWk1bTU2VE50cHhqblN5N05KdjhDZlpLbm5uUkNFQ2JXWkZkRjRLVU1aaXpvZlBvT3d4ZXB4TDdDUGZMcm5INUV3UzdNQmI5YU1Bc2lQMElFK0llcjBodW5FZ2lLV2J4Y3VmdXBzY2hYWDFtck1FK3IvT2pCcmhxZmFDK3l0dzFPS1ZLY3lRbDZ3dlJhc3FPM3VwNWVQMkgvb3VXVlRwZ3BoYlpLZjhyL1ZYZEZjeWswY1hyWjFaUVVrMlZEYmVYUlpTVmpScWtLUndCRFVFNkh4Q0pFQllQd2VRNG9nUm81YXY0MFA0S0VKWGlQVDIrUEVnM3o1Yy84NkV0UnlHLzlQeitUU21sNzdzcGtsZjJLUll5RVFlaFlWWEVUWnJFbDgxNlp2eEE4RVZodUZiclo2bUI3L29aTkhncWJUZ1Qyb0E1SmJwY2FWTHJ5Qis5aUR6M0hrdXJFMW1CNjJzZ0JBVTc5ZkpGMC9DVGN4YytpUGM3Y1hUUXpKdVNyZzRIN0JQU3U5UG43K20vWkNhVVBCS3l6bjBESWN1M1diaUJpQ0MrVXhtTFRjQWtrazBLa1hYWlZyeDA4dzdTVXl5ekNWcDVISDd5RmEvM1JRMS9XWWhOV2taYURuQk9GUUFmcUVOQ0ZOUEp0MUJoN2dMRTNodk5DdlE5Q29SVS9rTC9MZTZnU1JOTlJTVnhIcDM5blFybnI3SkdISC9pcEJ4NThKSkQrTDVzTU4zQ2U3d1FJaDd4M3MxdmYrU0xXdnhhS1NCNkFNN05SL1dwU0tRUXpNYmN2dDRJYkNKMUF5WklMRnAreS9BWFdiK0wrc2hPalYwNWNSZkhFS1hac0NCeEI1Y0xyN2FIRnFiRHZQblpLSDdhY3Jta3p0aDhpMTJKczJ3dmsxK3QzVllKb09pcUo2eWk5ci8vNjQwRFlVTjVQTXZhU1hlZkhiQWJHQUozLzQwV3RoMTdRRFFRTzVVVVpMV2NVT0lua1V2RFVGVzRWZUZ4Qng0UHdvTmVNNmxIY0JHbC96OWp0WGVmdTgyTlVZZGVua2JpSy9DemttaWdFbWxDNTdLdkJ4NWxyNlRvTFR4azY1c1JRRkI0Zm1WTmpPK2E5L3RaVERKMmNVY04reGM5d2trL296VGxuSG9vY2pHRDJBejFEU25HaHYrdHNOSVBMaEpYekNPcUtmenJISjloNUZ6bHIreGdYZkFxanF5S2ZKN2x5UlFBYVo1bDdEOHVpY2NzZGM5ZDk5WlVrS3Y2UUxvTzRVVWdseEY2ZXJ3OHhkRlRtWEJ6bGhqY2YzckRNUW5MaG9CUEJJWWkrN3BmdVlhVW9OMjcvaDhhdHJzenUvWi85dnE2VGdjajAzdVdXQzgyRnA1cjZMR1ZrVlpSZWNzb1ppNEE0a3JNZm15UkI1S0t5SkRkT2c4bXJscTA0N04rcHJicE5iV1lhUnlkSU41di9sV3FpZ1k5SUYvN3dlWTJOeWRCU3JENi8vOXB1Z0ZMcEhPU0RnWUUwYWJ4MXI0NTRFL0duYjZPcm9qUXl6MHVlVDc4ODZubkZZQWhnWFVxelZSWWdYSmVXOXpzTUE2OUlWYlBvZkYyelkvZTBNenR4ZEFJc3MzblJqdm5TbUQ5bjB1RjZDL25sZGtxTDhTRWZLUzQ4N1JUeENndzZFdS8wUTFQYlpIRkdWa1dGVk1TTUVNWGxFNUhQNmNBeWlpTTVod09URFVqUThGbzBxTzBIa3pZc2ZVb0Y0L3h6dlFmeFQ4czhjWFJrbWx6KzBkRnNlWVRhSTlCNS9sSkROeXg0UGxKVXRweG1pbE5OWVhITUVBaTM0NGFjNmJ1dEk2c2lVeHJ5NlFqd3FWZlVjMWxQYUhWamx1MmZncldtU0JDNElWZmtkY3ZhdmVHcmx5S0ZNUDI1NFVYRTBsR1pjM0NVV3Y3YTRpeUhYWXVCSXFHMDNWQ2lmS1RZZ0RXa0d1NXFROXlHRFdpcXpZQ2Vab1VkV1JVTksrNThwWCsrcmo2R2UvRGVNOTk2dFM4MWg4RndUZHA0S3BaSlp0UFkzSFhKY3FiYXMrOHhpNlV6akVDRDBxS25VM09MbXV4eEJtWEtFby9DN29UeTV5TUZwdmJPV2Y3bjVHQm1sZmYvbldnMU9MSXFDcUZGQVhraGdKSFpIL0xTRXIwZ1NiVGxnSzlSYW9iN0FXN1NPdldTOEdtS25HYkgwdEZJWm5aVy9QbElLYmpiblptNGpRQUt1Uk1LejBlS0k2QW5yd29Mc1VnZmdJWWhxd1hPcmlRMHNpcVNET2svZHdUTzBCcUR4N3FHWnJJcGx3Y0xqM3dnbExrVjFubjlHQTUycU5WcmZiRjBRb1RUQjNDVDJxNlhmY1Z2eitrSkRzd0pFQTZEaWZLUllwbHZkSjZ3cndTcFovVkRZZ2tSK2laRmJWUlZwQmlTSTNjRWFtaitsbGRkaCtPRGhyQWZtUU1NZ3MyZGY2cENwc2RaYnJVOUgwdEhac2poSDZaR3VWVllybVh1OFpJSUJBMEtndURrSThWRnZraTVHSDJjUDRsMGxqVFl6MUVuQnh1K0V4OFFpcWxxQ3gwS21qd0UwQmo5cFcxYThiQXc3Zjk5VkdhTHprUFBwYzV4ZzRMYS9JMmxFMFUvUlhqUDUvbks4T1ppQ29JRHN3RG1hOEZFK1VqQnAvYk9pcWFWUVRicC9LZ0tOWFh3MFJJZnFJMnU2blNzS05kb0VSQTNZOTNJeWhOSDZSaDc3WTZkREtLQ01admE5bnhIZTlVMmxvNmRlcXJRcWp4dVhQNHZ1UStRZG9HYUZwM1BSWXBsMFhrbXZmTGJMcHd0Rk5VaW13VXNMbnd1NFQ2anFpTEpqLzV6UjBCczlPMW5KU3NPOWtEcnV6WkNGcDNmMDE3clFjdFgvR1BwMkdpbkRJTkk0UG1aUC85akhDcnRwcVF4WExhbWI3UlVHWE9SNHJvNFJRZ0R5YkdpbTRzREF1OTdoR0J4a2VyUDMyRVdqNzJxYytGTVJBcEdRRlRoMWF4TTVMR2dXenRoU3JiaktIVTV6aUo1U3hzQjQraUVLYWNPMFU0MC9OUGQxRlNHeWdnVk9nMWt5RWVLcWlDTGpaQ2RBUGxzWG4xbkJVUDdaVVZ0UkZXaytKRWpkd1RFaDErdlpTWUxKUmFQV3BsckZCSFIxYnpjMmZaZjYrR042MWhGeDlGUmlUSTcrQnMrRHp6dzV1OTgvLzg3SW8xM25HWlk1M09SQWkvc2VjOXBabGgwQW53c2tPQnMrcnQyU0RLYUt0SmxJWGUrQ01DYUZsYko0Vm5nRlN6MzJRcm5SY1JPSUxUamp4eG8rWnJoUEk1T2dFWUdMMStUWnNpZUppdnd1UmJJbDRzVTEvdnVoM3Y5OHdZQkxpbTlFRTY5Q0FndDMvSEpqS2FLZkg3a3lodUJFelQvUE5yL0pVL3BMZWRZd1dBbklQYVpQM0xBUHZ5TUZodERSMHVWMFFtZWF0c2dJNm1rMlMwNm40c1VOYThucVNiOG5rOVNlZEV1MURVY0ZiT0ZqS1NLa3NwSjZZWkhBSDI0dnowK2ZIWS94K3I3UU1sS0M2RTdmanJocXZpakhnUzRxc2RHMDlGVFpYTnZHbk9MYkxRUzVnWUloNEdrZVVpeEx2ZlFPNXFaTGNBbmxSZlZvazV0TkFJOTVDaXFLSlhRbENrUkFtZG9qTnJjT2xHZWlFUi9mUWRvaGRUYndYdWVvZVplOGROVi9YV2pSemVLVGdUYkZNRW5Xb05Pa1QxTkZnc3llVWl4SjQvRTE3WHR0RFR5QmZOMC9QMDVHR0dERi9NVVgwVkJlY2h2SXJBUjlmcjh5d2UvUHcrVjh6dDBrK3p3dnBlQjJOVlF0bFpZNTlIVDdMcnAwS0RVSEZMbHROTlIwWmtkZTM2RHprd3JJUUVnc3hOSW1vY1VEVGw1T01tdkZvV1lxS0VibnJ6WVh3aXYySXF1b2dCVzVEVVJrTHNuYUZhaDU5Uk1Hdlkxa2NVL2NCR09IeTRFTGVWeUtJZGQ1NzFrMlB1MVhGTmpwUk1pbkRwZ3oyL1FxV2tNbDlHMllabURGQXVxdjd5WTEyek5LOWRSeFBhOEtuYkJWYVQ0a01PR2dMYlBDd1UybjdBR0Jpanc1TEpERDBRbDkvNG5tUlE3Zi92U3JmNmIvdUpkaHJXVlZRaUdyS3N5MUltbm81SmxkcHo0VzRXWmFTVWpZTlA1SEtRNFUrYlBwY0NhTzVsWTBhbXFmcjNBaEwrUGhQL3NtS2NlVlJWeFh2UkVJL0I4RnZVTWZIK2U3NDVudHZoMjFCZGVRQzdjeXpUQ1c5TTlwZk5uL3BhUU00Qk9OQUREeG14bUwvT1FMUFZYNkdUVzdGSzh6SjhqUGE1V1M1Sjh0djhqdjlKTzNFMldSaGNVUjFaRjJhU24zREVJOEpkYXRZRTJKbVYwRkk1dnFKMHZmdy9PVDE4TEI2SVplZkV0ZjYwNGlJNVBNYXNMaHhMMnM5SVlMcjlONTdOS3NkNUMzZjJ5a0dQMVFUalpMdzRuVTJ6cWlqODVhd3RUUkpuWDJPaXFLRlk0aXN5Q0FEOExGam9zTWlUQlBaQ1FXY0tXS241dlU2aFh3WXplellGR2RGWG1IVVJIcHN2K2oxSmYwYWk4ZWtmekZPUGs4NmtnNWF4U0xQUWZmckRsdnZ1MndCN0JaM3BVenh2a2xNSi81dGNraG53UVdPVzdncU9yb2hRaVU1WmtDUEN6WUtHVHNjbXlxbFFkZjFlK3BNM1VWWHdsZkVac1NaNjNQV0Y5c1V6a2lRZlJVUVF6T3pDN3VlRVRLVGRQZlU5Qkx1aThPdFltV1l4ZUNzazV3WC9QYnhidTFZR0wvRmoxNktvb2dZaVVKQjBDbXd4UHVxd3FGOFlCZWN4K1ZibFVMTCtyTGJUSXgvQytLMUpVL2FtOU00aU9SaktqRXhZMVpmekNoMnpVbFIwWnljWmtoNTAxeEdYMFVzUUlHSXhDd3poMHc3ekQwUmY1OXNyb3FpZ29EL2x6UTJBUEtwOTFTbGoxVjhjcjZ0cEVUY0tPSHk5RHNienRjamVHdjFQK0w1NUJkR1M2SFA2UHRLNm0zSGg3RGhRSGtNQ1lMay9NK1NsSExvWFBlcUJyVVMzNVVIMjhTNjhmNEdlRVZUUlFRa3FRRW9FMmRENTR5R3BZVWhYMjh6SkxXdzRPTW9EL2c4ZUI3dWZ1aG10RXVLNGZ5QmxFSjBnamczOVA0L3V4dmp2bHlFQnVjRlljUTdnZFNqVnlLVUlTUkFlZ045NFdzZnpGUFg0S3Q3cUZueEZXa1dCT1B3VWdVRUdOdW1hZzlNUjc2bEJOeWRLd0hhZG5ySjVkUG0xM3VsL1RaLzJENktTWE1KUVRhNHRqTDNBOTJUZnNReVNHQzhDd0dlNWFSeTdGTURJM1BKTkgvYWtqM2tMS1lqRTJ3aW9hUmxaS093d0NtS3pwUzl0aHNxcTBTOTduS1Izbkwzd2p2SXAxK0sySjJ1clpqVmdSTFdwTkcyNGRaeEFkaldSbVo4TWJ4WnpsUm5qOHpVdzlUQUMyVXZYS2loODdhaWw4em9OZGUrNVlzTTVPZTF6MEJiRTBHV1VWRFJhUlVxUkNvQW1kUDBpVjA4OVVicjdSOVh6U01wWWhCaHR6b2RPOUcyS05lS1J1VU9jRUJ0RnhtZVR6KzdnbjZtcE5mRzA1SDZJeFZMQVhIejZ6amcvSnU0UC9xS1NJRVRBVXRlcnVxRlNmd3ZXOE9PSHJqdkNqcktLUVJCU1FEd0pRZVgxNm5ZN29KOWpydTFEWlI5a3QvSVVmakhIaDVVTWRDL3E3dlJNbE1zc0FPakpaTHY4MTloTXdJWDYrZFg0dEYzS0RpR0N1RStyM2tHZkVVZ3lTMG9odnN6YzZwVHR3a3JQY1pEdXJyVk1ST2NvcU1xUWhUMTRJOEtNaW11VThMZGwvemRqRE9BbDI4OUJLQUd0WmJ2ZzFuK1ZtdjhsdXkwVzFGeGRQeHlTUTBiZmFaSDJJL09ST1Jqb0pzNTlZMWpmSU9tSXBFZ3JySmlzMTJMbmJPRDdCK2kxWmd5T3NvcUdrcGNSSkVSQkhiM2VTcG81TzkyTjN0dm8vL25zUjhWYWJ0Yk4rMS9sTEFpcnZPTEYwSXNpbkRONTRWdlA4ZFgrWE12UFEyV0RIUExCbEdxMFVOZ21pd3piK1hlc1gvMFJFZjMvakRWMlpib1JWSkZuU2Y1NElpS08zZVJLMDBiTHVUZHNTem5CWU80Y2wxQXpEUTBVYkhRSTRBeHMrSDVZM2V5d2dRbWZROHVZeDZmVE93dThaVGJySUpOOXNJZ0NUdW5WTFBkL1Nna20rQktlUFdrVWRaWjArMlVuaW1VTGdCT3BvMlRmT3VZeE41cDYwelpuc05KR3J5UmNNcGtsb2tuVVdFYWhENTIxN1NQbVc5WWdHdVJaTmRmSnRVMFF0TFFKWVpucEhMTk5TU0pLdk0vZUxXYnhUbFBWTnBpUkFVeHBDWUNBQ1Zlajgvc0JVV1JQMDV0NW9qUmRWMUcyVldkR2svSVJBRmdTYTBQbXRMQVFTNWQyTTJKeE9sSGttRXVHSWdqelVNaFBsb1VKTUx3SlFlYlpUdVBnNGZCdDZ5YVp3cGhQRkFBZ1ViemFacUJLVE1CT0tBTCtaVWIxVVdweU1PUGtUUG5CZkhMc0pwRXd6blFtc2xQa1VpZCtITUlMak1yZ1lLdnp5K0Z3aHZpZHZvSmlyVWxOaEp4QUJMRE5IY0NTSGY3RnV6cTNXYlhYVDFBUzJBaEpwbmhEZ1IyOUhNZXV1emZ2dTlORW9sbER6MUhLcHJHa1I0RWR2MWNWV2FZa2t5SGMyQ2t0aEFqbkdsZ1N2cFk2Tk56RW1CRFFFWUZxeXYrS3BwY25EdVpmSFMvcDVDREltR3JqVmVpUTNjSTJwZU1SMmloRG9RZWUzUnlCdjFxODBqVURFUWxuZ2JXTEx6VmlGc2lUaWhJQVZnUTUwL3BvMUp0OUFiTmJOOVFZOTdDWTM4a1dVcUJFQzZSQ0FhV2trYjd4aHMyNFVwc0owSUl3Z0Y5WlEyeU5nUXl3SWdZRUlOS0R6QXhQbGthQTEzOGZOMi9OdXc4eWpEUkdOWEJCbzJiNm9sQXZsQUpIS2lQcVdBTnRKOFZaWjZBT1ZreUlheVRGZkNNQ2NQS0pYUC9ibWU2QnJrZGwrdmpScmNrdUxaZmFJN01sNHgrVHE1T0pRdEdUQW1kNndLUnBrb3A4SUFYd3ZiVVQyWkd4V0hTUVNhU1lUWWR2aXlrd1dqQW8xZFFqZ1l4TWp1REZEd0RMWGhuc2NkeHpGanVqVXRUOFNlUFFJNEtqTUNHN01FT1dxenZOYk5wMzV0bUNPdm1FVHgwZ0VzRzFzKzE1OFpQb01FWHZ6Zk85cmM5NWZKYzdRY0NocnZnaEFFVWR3WTRhUUdjdUlyWHlGbng1cStLYkhYSjlDbko2YW1nTkoyeU81TVVNQWlYWi9NQWVJV291SS9tN2JHa0dCaE1Db0VhaU04SFd2MnZ5ZXZqMFp6UUhuVWJjZTRqZU5DT0RvN2NpT3dmZm05dzN5Q3JzNWphMkRaSjVGQkxDY0g5bENFNmR5RG1jUnd3UmxhdEdKbkFRb1VaSlJJTUJ2dmQwZkJTUE9BMmZSNXZSY0NzNGpiWThLWmVKRENNUWlnTVk0UW1ONlkzVHJpTmhTanp3U0ozSjJSODZVR0JJQ05nUndKSlR0MkNJS0NkdWIxd1Y5aFY2d0thUkJFZEVVQ0dDSlBacTM1NFZzdUZkN0xoZjBXRUc5SzBYbFVCWkNvQUFFY0F4UHYzYitVM2UyN3YvZEF0aElrcTM1M0tISDd2dzFDUUg5RXdMalJhQm5mRjdtazZ6L3VnYjcxZUpFYXMvbkNkU2UwYkVXQnk5UkpnUUdJOURSMzU1ZmJ0M0MxUHZkN0UyRDg2Vk1nWXNndXltelRuTzJCdTNVVFhQMXpaanNSL3JiODNYWGhGOHRUaSt4c04yZk1RUVRGQWVmQk54S2tJeVNFQUtqUUtESjJHWEpwK1FabHhmWjIyVlE3djluN0tuY2FVNDh3ZXZ6dWwweDhUVXpsd0xDYkg4cUM3N2lHWmZMQmE0K2wxai9XUEtibS8vYVNENE9OamR3VWtFeklZQlgzZnlKdkRlMWQ1eEtjVnYyNVpZL3I4Z2srUlJseHZWajE2WklYQkoxdGhIZ3QrR3BFamJrV2JGZWdZdnUzb2h1MlZXbEdyK2pSKy9Yakw4U1NBS0pBRGFPMWZ0ZU9BM3ZCVzhXZUJNdUR2dDJKZmM1K1cvTzYxc0djMUsvVTFaTTNJYW5iR3ByYWhtL1V1UkowYU41MDRBMTF0K2RzbVpCNHM0d0FpZmFtN1FYMUxlbEZvdTBNNi80TTRzWkJsWXJXcnZBV1pQR2hweUVRQ0lFNnRwKytaNDZJNGNYYjRvYm1jck4rZHFzeHBLSkxIaUpHaU1sR2drQ0ZXMnJycTJzYTdEc0hSYkgvcnEvbkNpT3llUlEzbE93VG81TUpNa2NJOURVUnZTSzBrWG8vR2x4b0pSYXhXMEZGaWQxV3NyWW5OeEttNWZ5RVFLNUk0QVBWSjRyb2xXbDh3WGY2dklYODdUQWZhSkllNmlxTzNJUUFna1J3RUh3MnlxcGY0a05kSDVmQmVmdndFRGZ6Wi9xaEZKczBEQS9vVFV6cDJMQldQZTBLbnBUWFZ3Rm5iK2lnZ3R3UERFL1oxRVhhVFZmUUFNaWt1a1J3RFZ0dm5MN09vL2gzdzlPVHoweVo3bnhwY2k0R1l1NDBEK2NzUkpSY2FZYkFkeVljVTJWb0tXVzJkRDVBeFZNRGtLQUVKZ2RCUEQyL0xFcWpYOTdCdW04QW9VY2hNQnNJZEJTUis5UUx0TDUyYXBjS2cwaEVFWUFSOFMwaFhWTDJmQm9uQTlqUlNHRXdDd2dBTE85WnFzemRGNExuNFdTVWhrSWdmbEdZT1BPbHdnQVlMWS85Skh3N2ZZRjc4LzdMTWxGQ0JBQ0kwR2d6ZHl2cDdYVjI3T2M3Y2pPNUl5a2pNU0VFQ0FFZkFTWXQ0NXY2TXQ1cHphcXM3ZStJT1FpQkFpQlVTREFMOEg3SWhqQmhMZXY4VFBlc2RuU0lzaEpDQkFDMDQwQXpQTGltRDIrVmRmVlN0SlI3OC9QNjJmbE5ERElTUWpNRWdKOG5PYzNZZ1UrSk5WVDc5c1VlbWZHTENGSlpTRUVwZ1NCbHRpanc1dmQrN3JBRjlXbFZiaUVYbzhnTnlGQUNFdzVBbWZzNXJIakxMRnovUHFQZnd2ZVJUWGkrN0hrSWdRSWdlbEZZS1hmaGZDMXdDZXFzTXozaWxUa1hkZlRpeHBKVGdoTUx3TGx4dTFkNTJQc2xqSE1PMDVUM2xsVjE0L25UVzh4U1hKQ2dCQ1FDTUF3L3lEclg1TmU3Ny9EcnJxdXFuNDhMNUNJdklRQUlUQ05DSHoyeGV3TmgwSEJMN0JuUkZCSnV5UXZtSWI4aEFBaE1Ec0liSGlHK3hYdHdxelpLUjJWaEJBZ0JFSUl0TjFqK0RTMUR5RkRBWVRBYkNLdzJqckhoUC9EN0pkbXMzaFVLa0tBRUFnaThGZXMvN3I3MkpNQmUzNHdGZmtKQVVKZ1poRDQ3SjJ0aDcrTlZINW02cE1LUWd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NTnNJck41NS9sMnpYVUlxSFNGQUNHZ0lMRGZQNzNLL0lhb0ZrcE1RSUFSbUZvRksvOUNwM0p6WjRsSEJDQUZDd0VSZ2tiM05jVmJZTlRPVWZJUUFJVENyQ0ZUUDhlblFWWFl3cStXamNoRUNoSUNCd0NKN0d2NHllOG9JSlE4aFFBZ01SdUJWWDZPZW5jR3BKeVZGaDUxeVVWcTN4aWJRNXhSc1h6TTJHWWd4SVpBR2dUcFR6MWFhL0dhZTlkWVZNNkFZWDRtZEM4SU5acU4vQWVhOXdwK21nczBxUStIOGljRW9FZmdockNUMTU3R0FYNCtiZkhlK09sOWhsMGRSNUF2c1M0Sk5qWFV0N0piWVZ5MmhPUWVSenVjTTZBU1RlN1RGMkF0MmZRRzUveVZUclBXNTZ2d0NHODFrdThMMlJRM1UyS0ZmRTc2cndiWjhUMEV1MHZtQ2dKMDhzbmVMS2QwdDJkVEtYeEQrZDA2ZW9Fa2x5bFhucFM0bVpaNHlYWmw1dXQ1d2wvVkJNayt3MjhHZzNQMms4N2xET3FFRTE0U0tNM1pyMXhYdzE5bjUxKzgrOWtlam1kRVdna25kbXliblFYeU4zVHJPZzg0Z0dtdmVjdDVwMlFmMGNvdGRIVVFqcjNpMGlMeElFWjJKUktER3ZuVzM5Q0VvL2hlRmVFdnNacGM3UGphYXRpNTQ1dnlUcDg0ZjhZTXlJM2oyNUlLZFJaeSt2WWM5T1FJeEJBdlMrVkVoUFNZK2EreUZuUE5Ib2ZUYitDODErenY0dzFPNzdQNVAzMitPT3IvRyt0NzBKMWNZeW4vK3YzL3RpMXBYTlpwVjltWGh3eHhmRC9aVGJFUkYrRW55Y3BITzU0WGtCTkZaZlhILzI2UTRiYzhnZk1ZWVB3ZDJEL3RlTDJacEJKWmlLVVMrL3pucS9KazRLSk92ZUtCV0ZldXBiWjh1VkgxZitLRGFXMzZ3N3FwN0V6RTlyQmczNlh3eHVJNlRhcW5CV2t6YTZKcGVFMXRGTTd6aWxGcktWRlJ1alZQR0xMenowM21BY3BoRmtxaThMYUh6MS96b1M4dzdady9IcVIrc3V5Q0xsa0dQeWR0Tk9wODNvdU9uZHc5N2svT24zckp4WGIzSDFXYnNwblBCQytaQ2RrN0hMMm9xQ2ZMVCticGNaYWVTSXpyVEQzek44NkgxdTM2Q0M5SzNHTjNMVk5oWC9BeEZ1a2puaTBSM0xMUkxMZDdhNnE1SmFNVmRSa0lRUHRCdlYxVVg0RGdYcjR4RnZPeE1jOVA1a212anlDNlJoVUtMOWJYUW52UkIrWGUwY04yNUpQc0ZQYkFJTitsOEVhaU9sZVlLSDd4ZTdZMG5KNWVWTEJqb2I3RTVnc3BHQUFBZ0FFbEVRVlIzS2ErenByb0RQMndxWExucC9IVzVnVlpBc2Ztc3luK081UGI3Q1dQSGZyRGh3bmJkYVBZUVNPY04zR2ZCYzRiWE5XRXpjbzFHOVd1cVNGaEtHb1BNOHJTKzRaV2J6dGVLc2VCeHhER0YwRzJrVFRsdnI4c0JYMVdMNytnWjNZUWZucmVMZEQ1dlJNZE5ENjN0MUVHMXNodGNrazdYbCtlSUdYdkFKYjFSK3FrbTM1V1h6aThVYURWYlozcC93cnRnK1VSdnd5UFAxaWpRSjUwZkJjcWo1QUVyMFRHdVkySHVodkRacnM4YkMwYmRydVFvRTc2ZlpDcGNlZWw4M2VnQzh5MDZha0gwdVM1VmJrdVJUOHpzcXBiakFjT1k0cERPeDRBemxWRmloc2pWVzdRNVhlZkxUYWF2NTh2dXdienBLMlJPT28vMTg1WENDZzliM1dXZk9HWVVIL2dNZng0emhuOC9nZXZhWS8zallGZ0JmdEw1QWtBZEs4a2FYenJ5dGJ0bzBQcmMzc0hrWG51SmJON245cGdMN1JSV1V5ZDhoYVVlc0RvVUhnejRCeW8wNU1Ea1h1c29RdEY1QlpETzU0WGtoTkRCY3Y0R1JNR1EzdVVTYVRZOHNWdW43Yyt2bzIrWXlpZW5jZjZzd0ttOTAvYndkd0hlbElzcVRQbTNZakN2amVUbUxOTDVtQ3FZeGloVUtCOHJGdTc5WmlIOXBqWndYR2NZNlAxRi9OSXowMWcreUp5UHpxTnoxRFl1ODRZQ1NHc2tONlcxL3FKVWZpMVNjMTZQajlaU1puR1N6bWRCYndMellraTVwb21sSzNiak5pYVAvampUMjlmU1RaTXpINTNIZkZzSEttY0Ftc2ErMjRuMDlmVEZWWmdsNm1jL0hKcDNDT2w4M29pT21WN0hQUFN4Nmh2cWx0Q2VLdktWV2tqWk9CeXpxR25aNTZQelovSHFsMVk0Tng4MjUvU2QwSjU4ZjZZeVlQTGVIQkNmVFNvdk4rbDhMakJPRHBGRzRHeFpzeXRscStHOU9xd241YnVjYSs2ZGpESjJpdjV6MFhsTTdRczhod2hiM2RNYW9uVjVKS2NaWjhKRGhyclpZMnNrY25TU3p1Y0k1Z1NRd2dEanI5aTVQSFY1bnZNMTRtUW4xcGszajRXY1IrNmRqQk1nODdBaTVLTHptTnB2RGNzNGVYcW8xUTB0ZGR2ckFjUjVLUzA4NU1RZTYzWW9NTzhBMHZtOEVSMHZQYXdJVFYxZU9OOFZFcTI3dXM0MzhjUnJ0bmNYMmVTTHhTQVhuVzlMczFvaHNtSjdmbDhqWFBmbUZMaWlRd3UxT05FcG1OVm5TWk01aUhRK000UVRSUUFEUmNBY2Z5UVdscXROVDhkZkNhVi94MjkrL0JzQzA0R0pLc1FBWVhMUitWYWhLK2NUY3hiUjh5cGxjeURUbzhEU2JBQVVxYUpKNTFQQk5yR1pZTGEvWWdxM3dHNy80Y2MvejloYnZlQUtsSjQvcDJheUtmTGxvZk00R1hkUVlKSGI1bm1mRTIrbWZ4YXNuSkFJMksyN0Znck1PWUIwUG1kQXgwd09qZTFxUUlTUGNnMW5QeWREUzNjSS93dWxmL3IrODlENWsySjFDMllUSGRkTlYrZGhiT25xd1JZMzFsNEhsdUJjZzBqbmM0Vno3TVNxOHBTbkpzbXI3dTNmLzdlYS82WDNzamZyZmkxcUtweDU2SHgxME1vNkd4Sk52aEg0bDNlZC85TmpRV2ZGbmR1dkdSdDRkZzR0dWExbmo4NGpsSFErRHhRbmh3YkdjTGVaVFk1SXVVdVNnODdqS3NxbmNwZkxKNGdCL1l2T2Y4djZMYzlxY3NtMTRmVU13NTZmWEhlZEZWK0JwUE02NEZQdlhzYnR0bE5maUVFRnlFSG5ZZW84R01RbVF6eTI1Nyswem43MXVIVEczczdKbE53ZXBzbHZIaDd3NEhUdTlvQWtXYU5KNTdNaU9GSDVVWjNSZHpKTWxLUVpoTWxCNTN2RjJqQlJEYzlVK1g3Sk11dnY4cExXK0tHSnhTUjNYOEc0V09CWklTNEx2MUJGL05QUFRDQ0FVYUxJT2V0a1lKU0R6dGVLWGM1amUvNysvZzVIcStaTzUvZjRpdXNvd1REUGJ6VXpEMVhsanpucGZQNllqcEVpeHEraVI0a3hsczVqblYzbnNad1hweGFLS2d0MkJid3gzYnROK3hKZWRueWMvV3dTZmtlRkwraEo1NVBVdzlTa2dRWG9ZR3FFVFN0b2RwMDNiNjVLSzBkMHZqYno1dlRPUlc5QzBlbmZtYkNiMlF2dnRrWXpTaFZET3A4S3Rrbk5WQnZOVFN2akxYNTJuUzlhcnpCV1ArMWloRm4rSVhlVjN0ZC8vV0FESGs4WlBrbkpRL044U09melJIUHN0Smg1NW5QczhoUWlRSGFkaDA1MkN4SE5JOXBVcHlTZ3daZUg0NFN0bDBMWEhXVERHNjQrSmowMTJrc3hIMkNicUlKbjEvbUNkelJoaDVPN0p4aFRENFlFcjFtc2ZaRjBmc2o2bVBEazJPaVovU001MmUvR3dzdUhoUTZsZkh2ZWF5bXdIQXhyVklWTlJpd0hDbXRyTkxjdkROb3hFTVpMNFFOZTFoeURVTG16ekR6T1k1RWRlUGt3WHhtaFZEYzhpcGpiUy9WUHl1UEVmQTgzYWJiazZVam5rMk0xK1NrM3phK2tUYjdBcVNUTXJQUDFvUmZadzhtcHZUMFA1MWVHeTh5TmVKNEJjTWlNU1pPVHppZEZhaHJTb1RFWE9tbWREQXd5NjN6TmZOTTE5MUpocE43eWlLSVhIdmFRRkZZZXhaN0tJWjNQdmNiSFNMQXkvRXh5ak5LbVpaMVY1MkZpSzNZRjFQYjdGS2ovc0hON3AyanhTT2ZUdHJ4SnpOY29lS0U2R1dYT3F2TVlTUDNiZ0lzbzBwRnZTY1hNYStpSmVyVmdJeDdwZkJHVlBpNmFiUGlkb1hHSm1vRnZWcDJIcFhOb1BSeEtYTzN1WWN5OGhqWVhvcDhZY2s5L0tPbm9IWnZoNEpyczFIeDd2dERXTWhuRno2cnplMFgzak5xQ3ZPYWI4Qk9EaHhlbGh1NG5FaE5IUWhybmgwRnJ3dFB5N1hscFBCcWZxS3Qzbm45WG9keXo2bnlsNEJQdDZIcVZyUjQxc2o4c0dOREpZZTErTVN3ZWJkNi9ZMGFUenB0NFRMVVBrOWFDajNNa2dHZTVlWDRYMjA2UU1IV1NyRHJmTEJnbDNHa256K0hnN3VyaEx4dkZrUjd0ODhHcFlYSXozczN1YjhwRGdSNHAwdm1NbUU1UzlrMjBzTjF4QzFUcEh6cVZtMFZLa1ZIbnVSNFdLUjdmWUQvd0dQRFBDWFE5OTEvQUxaK0hYM3ZvaGRyK2tPcllGcDRpYklIOXNyTVFXUENSenFjQWNsS3o5TkJZeGkyYnVBeG1wZEFMbXpQcVBQU3cwQzdKd1RtY3kxNDE2QWNqWVpyVG53OUUxMVFqdjB0NXEveWVqb2E1VkNDZGo0Wis2bUxPOHB3VXBpeTlhR1NyYXFCTFNTVTJXMGFkaHg2YU9oRExMRVVrYkhCYlhyWk56WnpuUFBiL3dQY3ZQb1Buc1pjMjQ5UWE5U2c3alJUczlTenVkVnh0OHpnQzZid08wWlM3YTNvTEcwOVpGc1UyV0xsUXJjcW84eWYrY3JzWWpLRG9PeDdsdHNFTGg0RnVlQkdZYkVTZkVlajU2VEpLV0JVcml4Tnoya1U2bnhIVlNjck9paDdCQmhlMjQ1cXNXdmtab2NJOE0rcDhKL1NwbnpDTFRDSG9WRENoRmsrVjZlWk1HUFQzdlFnSFkvbWhkQWYvTVZGUWh2OWczRkQrZGZjbzlrV2ZMYzlPT2o4VWlCT2RHTGU4Rlh6WVpHRHhTOTVWMjQwaTdRb1pkYjdtVDcwSGxpZFZBdWk4bHc4RHUyNVV4VjdxbHFTSVJmK0JkQWYvOFFKdVBpZnU5OXh2WmEybzZZWGdSRG9mQkh4Ni9keElMT2VPWXlyRkJlOTBlVTFacXdzUUpLUE9BNldkQXFUeVNXNnE0L3c0NWF2dms4R1NvRGdqS3ZJZ1B1THkrVXBCMCtXM1pBNEZwUE4rWFUyN0MzdEVBNytCV0hBWks5NHNzaFk5Y2MwdVFUYWQ1N01oT2ZYT0xvdU5ncnozMG5HZzVPL1NVbUNocjN4eFYrL3k2VUVlSWk1NCsveEw1bEtCZEY3Vnd0UTdzQXpVVjQ5aktBOGE2NkZnMnhqK0pFcHljYlBwUEdaRCtReWlrUUl2cVhHK293M3NTRjdYenRyZ2xFQzBFYThwY1l6a2tTaml4TlAxRmZNTmE5TDVST2hOUmFJOTZQenBXQ1ZkaytyVThoZXUrUXVVVGVjeDl1cno3ZnpGd3hrWWJ6Z3Z5Ky9WZVV3cW1wckRuaGU5WXdqVDM5VWNCRHZ5cG4wWE5iNGdTenFmQTdZVFFnS2pTcEZUNmdTbDNKTURTcUVUam13Nmp3bDJ0TElsS09QZ0pKaTJ1ek56S05lK25yeWhMZUhSTWNnRHVub1MxdzJqL3BWdzZMQWhtRXFjaWp5YlppOUhPajhza3BPYkhxT0RiaVVlZzZCVnJ4MWpqbisxT1BiWmRMNWUvT2FHWnpyamMzbGpXYTZiV0xFUTI0K0VxSmZMbTNVdy8rOEtGaWZtTmdEcGZDVHdVeGZSZ3M2UFZXaW8rcjRRQUNQZFZuR1NaTlA1aXE1NXhRalpjYzBxUU9GdE9nTjllNTd2ejNmMVNNTzltY3NHL1lrMEgvUm9ibS9BT3pzZS91NUlrVWRoQmlNRjg5ZzFrUXFPMDhISjA2Yklwdk0xMlRHbFpUODQzNG83M2Jrbk1NenIyL1BvRDJKV0dOaTh6MkdEL2t5eU9KTkxMbGQwR3VjSFYrR1VwTUN1Ymg0dEpVTnAwVlRkeVNSbWxZY1o2QXpJbWszbk1Sc3FjQTRpUkMrSlk0anJRVU9tdmozL0Y3Sjd0SllWK09Xd3Q5Q1VGb01xN2RWWllaNytRSFRmc21QUFZwaEhtdytsMDRxZTNLU0M4dTlra3lFdWR5YWQ1N09oQXZzalYrNTcyRTg0R3pYMlMyWXBNR09YQVhoRlBoQXBZOFEvNzc2UGpaQVVIa3dsRHR4c1RjMTJpSkFrNC95bnYrOXp6N3N2aDdsR0Nya3BTM0lFb0dqczZlVEpJMU4raEoyemZpcTFPSkx6akpNY21teWtmTm0rWXdOdEs5N1FXYTRDUS9ZL0JJcmdiOCtYcXV6Sk9KMkd1bWJ2TktIYVY0VUVNTE04bzR1U1FPZVJCRS9CZTVxNlRPUk9oUUNHa1R5TzNyNkd2ZE5aVFRkaGFNbzVaRjBPK0trS01paFRwbkVlaTJvMTJnNWlsRDYrOUt6V1E3OGJ6SzYyNS85empUMjVHNHcxL0JEeTFBaEk0Y0VZNFBiY3NCMGU2UGtUNkR3LzNwWFRyRkhuVE82Y0VhaWpscTVrcHJuS2JtSUVxcWNaWmpDZXFLZklJU0tUem1OUkhiZFUzbmdrWGhtejROdGd0OTZQNTduM3N2NjNEcURUbEdQMGdIUngwU2VxTWdLbkpSTG8vUExudmhaMmorZ0RCSEY4S1c1MENKeWhqcmN6c3pzVDF6V3NtQ05ETXFwODJpeWZwNUpsU1pVcWs4NWpOaFRYSDlVTFhPeExiTEM5OG5zRENsN0xZWE9oN2ZOTDgvNDhodnFEQVZKUzlMZ1JRRHZKUGlHOHhQb1k1cDMxTkpON1RKcy93RytCK2N4aitSZ1dvZ0ROcFBNbmNlZmNuVS9LK1hBVTd3emgvdmI4WDhQd3dWR09maW81TE5NcTdMYW9qYy9zQlk0Q0pCam5JUmwwZmp0YVFJcVpDQVF3R1Vzekl6ZGw3N2htd0kwMEMzSk1tdzhGTlF6NEJ5YlpYSDJaZEw0ZWQ5emxzOERRTFVLdUFydkV0TzM1Y20xQW45b0ptTjNTaU5PUTFwVjJvREtUNmZ4SjdHNWlHb0VvVDk0SThFMm96QlpwakVXblFyREEwSkJJV0V5YmQwVkNiQzl2SmNxUkxsRW1uWWMyUlcxdWxEN0VJU3hNNS9YdGViaFA0d3FQbmlueTdmcTRmSHFjV285WHpXTjRpZmJxSEtjdGExT25TZTZKUWtDc3ByTktkRjBhdUZyUkIrWlhtMXcxak9kYzZMcTZLd0xUUWxmNXM0cGp6NTlKNTQ4aVpzMnI3Ny9MTFZKaE9vOHVVWlVISFhUczdWZDd5VDh3L0c2akpvVG5UWUtQbW15MUFzYTRaT1A4VVdCMm9HUW54OFFnd0RlaE1oKzlyY25ocFJtOUJZQlJQUFNjY2hoTzVCM1N2ZXlDeE1HYVNlY2JTaFZNRmxBRTF2OEhpQjJvOCt2dk5YTW05Zm5iODhoUmpkY285QTlKRDhSVVE1WGhuclRGTHNwbElSbzIrL2NOR1pQcGZEUFcxbWtRSk0rWUVNQjBNWEU3aVJJUmM0VnRONjRSdmRXL2NkY0R3ZWNOeHp5WGVwV2pNbUMxNnJKSS9adEo1MXRCRGZERVdIdjR6Yi9mZFpMb2ZDL2w3ZmhxZTU1elBJdTN2V0J2UFduLy9XZkJ5bmpnZ1cvbkhLRHFXL3lmdjg1L1RUamtUeUtkUjVkUjVONkxsSVgrc3lDd0NaM1BXa3ZYMWFTOEVibnFqWmF4THVlcnpVSk5lTm5PNFFHbDdlZ2lKTkg1ZHR6K2ZqUnBSODJoZUpxNjFFaDdCbHh6MXJmSEpBNkZhZVpRSkw0UUpKVkk1OUg5MC9aOFlyREhsTENIMWh4bG5Vb3FVbFhPempIZ0RkOS90RDMrV0t5ZUp1V1lKbDJXY1o1Yk90M2h6OG81aWM1M1VtcWpZVWlBemwrMVN1QUc4cFhHY1V4OGdpZ29iVmNrVXhlWnlFeUpkQjZKRG1RRytwOVFCRHBvSnNheDZ1SGxSRE9SdlViVFhSUU9SYVB1alF4cndZRmxLQ3FERTJmUmVYNlMvVFNhUllFNmJ5NnJVVnN4WWpqOEN1TnV0SmhKWWpETzc0cDBSMEhsVGFUeldGMXNKMkZEYWNhSVFCWE41Q0FiZjlqYkwzc1Vtb0g5blNTRWUxNmZzNWxpanBDRXZreVRSZWZScmNWWjZRclVlYWl4TnNFNGlsL1BEeEJUSWhIM2p6N0duU2tFbC9QSjl1cE9RdG5pbUZIY1dCQm9valZMalUwcFFNZHZpR25zZ1NlZTNlOHMydWFmVWpBeld4YWRIekNBRnFqeldLTHYrT1VZc0Y3SElCMHd2UGxaRTdwZ2hCTXBMOG50VjVVdjBUamZsdE1FbFkwY2s0WUFxdGdZU05MSTExS1RjbENMTzVWdUo3N3A2anp5ZHUwSmNnck5vdk44UjNNM1dvNENkWDVUMjU3bmMvZXZSa3ZoT0FQTURuRlpWWnpINzBTdDEyUk1JcDJuN1hrSjErVCs4NUVoYnRhYVFITGMxQ0N2WE1mRWNQZ2RxUlYzYnI4VzM1d1RDRElnU1JhZDU0Y0xZc2dYcVBQR29ZVzlBYTlBOGg3OGFveWNTYUlhN3R6K0tHUTRTS1R6dEQyZkJPUHhwdUVEV053SWxrQTZtRzNrOWd6V2s4T1A4NWZjN0wzQUVaQUVuSWRMa2tYbmNZb2h6dXhlb002ZnFRN1ZjY3JOUVhXRnlzeTRVTU1SQUQ2aDJRaHY5Q2ZSZVhRNnNST1I0V3FNVWhlQ0FQOXdWZHdJbG9CcG15bHRSUStTOUJ5WVQ3amsydTZhNThkK1dCR3VMRHFQZmkxdWU3MUFuZGUzNXg4ZmVKd2VsYm1mRWJzOVlSRzRZTjY5eTJrbTBYbDArbklMSjZNWWxMMHdCTEJjakczTkNSZzMvZjBqOUNCeW1wOGdvMHhTNC8zRVlyaVJ5ZmljL3JQb1BHQ0tPK0JXb001ck82bkxNSngwNDhGQVhSekVweGdZdXlSV0I5VndENXhFNTVIbXhrQU9sR0M4Q094QjU0ZWZqdXN5ODYzcnJoY0ExZENuZHVVUDNzVWVlbzZlMk9yZTR5dklvM0FqY3hOLzZsdGFENzJnYTgzb0JaWi85Tjk4N25uMzh2SGxQZmYxNzQva2wwWG5UK0lORmNYcFBBYk9LMTR4bDJ1TWllT3hNVmhBa0dpZCs5VHptdjNYZG1OeWk2Z1NONitzV1hyZ2VKMS85TUZiMytRNG1BOWQxaGdrYkFCYURuSVdqMEFIR3F1cjZmQWNNWjlYUzkwOTQ3MnZEVFRTQnhoNzR5Q2FsOUJPSG1jL2EwLzJNc1llYnJIelV4Rjc5TWdEUC9WVDl6N1k0dnA5cWYvd203bDdCMU1FL2p6dGxMOGdIRDl2SjVUcDdPMWVmTTlZbE02WGZ4UkYra2x4aGNXUHZxZkoyTTlGRkUwRjE3UnBnUXIwSEgrR0dWMlRuZThFdzRQK3M1dE91V0YrU1Vja2lkTjVRTjl2c3U5MVR2dzVIL0lrYlFCQkNjaGZLQUpIYk9BYWNRQi9uTWhSRTRXT3NaeXJzTzgrZGtvZjFzK1UyR2wxK25kR2RUei9uTEYvNEpSeHAyNlhaK1hTOGtmb3ZPdkU3clhVK1RaNy9mLzBnMUNTWDdaenlUTE8xK01ORlFYcFBMVE1lTDdMWGpBdHRPcmJVN1ZRNFZ4Z04zL0xjWDZrT1hEeHRjNytWVE5rdEFlSk9KMC9ZN2QzbmJ2UGo5dituQTg1RWplQW9LemtMeEtCSmhvVjVuSVpucDQydGgvcHhCNW5ieFZrendiT0kwcnY2Ny8rMkNvQzlnSEZkUGFJZllYSHYrZTVYRjdHWGdqM3NuRDJYN2ZyckQ3N2ZRaDdlbzM5MXp4Tng1eGU4aUQzeWFMejdYaERSVUU2NzNabUtCdC9IbjdCaml4SjlEOHFJT0xTakhMRDdUWXYyZFRaSlBqRHpZZiszZ3dSdmhpZC80VGJKOWYyd2QvUG1id0IrSG5JVlR3Q3ZEVWRaR0tqNnpuYS9oVkZUTTRQMXpPODlpRjNxdERlRGdWaFhBSFB2R1VBMTRpZjMzWFp2UVp0dlNhNkJXZWpGZmoya3hRb2k4NTM0bGRBS0xjcm51UmwrZStvRlpBbE1xK2dNNjBETm1tdXlNVlRKMjBYSDYzek1DN3VjMjRYbm1ycTV6UHlhQUJtSWNpWEF3TGlTTTUrSmtJdGJYc0lXcmd0aVMyeWQzbk94cWtNRy9ZZnpXemJ6ZE9RWndENEtkaHJJZ3lIenQ0cENTSzAzKys2dmw3Z0c0OHlUVWFkZjByU3NmeFBnYzVYKzhldTRDc0RwMTJXQXZLZ2FKMlgxM3J3MXVSVHo2TUJSSWd5NzhHZmZublU4NHJCMEhBTkdyemVqcVBENjNuTFM4Qk4rSzQrSXFBdUo1RjNHS2JjT0ZxaHVMYmFSL1NQb3gzSm8yWWw1cHY2WWQ1V0c4TndXL2ZWc3VqOFdlVDRLV1NlR0ozdlJGMkdzQ3lWY2FFMS9FbEp0MTRpZFI3Vi9qWTNTZE92aFh3YVFLaEZVQUFRS0xmUTNDT2UwNEVJaVNNNWh3T1R4U1RnQi9sZTkxejMrUmE0dXpLdGQ0YlRBWXQ5R1Ria1AwWnlkNzd1Y0NwZWJ3S1hHN2d1WjZ1Z2F2UTIxZisvdmUrUGtTU3I3NnZkK2JFN085TTdnMDNzaTBReW8yQ3pGMGpTYTVMdzA2aWJRSHduTzhvTWttTXVUa3dQaDNOM1FvWmVjY0JlRW5DdEV1NTJqWUVlWWNXZ3lFbVBJd0t5STl5cmtCZ3JrdFdOY1F5MnJQUUlESno1Y1RNZ1crSVAwQ3kzTU5QY3I1ZlBxM3EvcXJ1cXU2cGVWWGRWNzdmLzZIcjE2cjN2Kzc1UHZjLzc4WDAvU3RkQ1pvS1duSThZSjNzcEZKL3pZb0d6NDlUQ0swUVRxQWgzSk9mN2pOWDlPTWZtVkdFR0JTQkNrenZkMit1ZFIzRCs4a1J3WUhTZnRKeHpnb3psb2JSbDhEWFpSRytyL3JsOEZQc0syVmRFWUQxUHpTdTVIZTU3VGpmem5QTzYrV3FFRzdKc09MOFpMbExtcEZtVThYelg3RnhMN2ZpMUw1QkVjVkd6TE9iekdPNUl6cnRLWk4rd24yWlJBR0pvZFVjR3VYdUlkUHAyOGxRc24wODFMYTBwQUZ6WDZYR1g2bFZma0NUY1ZDMTBZdWx0WTdaWDl4cFJzTHlhb0NwWCtVTXVPSzhIa2lpY1NnMGpUVXZPOC9uQnFGOWhPQS9FTkE2bXRoMHh3RUszYkp4aHdvd3k3STdpUFB5bDVlYlFlR0ZaRklCaEZlZytBd1MyV1RnLzRvc0dBMVVwZ3pRMSszdE84azZQeWVNTEZTRkJwWjZNVkZNcitURi94eGZycnNvT0pROFI0RHp2Nk5lNWIvQm53L21Pcm5LQ1F2MDdLTG9YNW0vNlRjVnVEODZyTjJBbTdyaGlnS1g3UzRISGNXNmlPSSszdmlIaXc5bVRvcklvQUZJV1hUTkU0QmowU0w0cnhsU2dhN0JoMDFnUnNpN0hER2R1Zk5JTW44Q05mcWllMzlxVWRRZy84Sm1QN2Z1cXFvSElBT2RSd01OTUNIY0M1MEc2Y002ck4zUFgrdzhTdkFJemFCVG5XL0pOODBVNGVubytnd0pncGs3dXJCQ29zZlI5UFY4SEVQQ1cxQVpjdXlMZGVPVzcwcDN5aWtLbUIrbHRYWnpPOFdxbTB0bzN4QVk1djJrdURWS2hiRGlQWEphaWI3OGRWWVhiZHVlQVlnVG5NZldqM2xKVE81ME1Db0I2ZGVUSUVJRVdPRCt1TUU5T0NqemZGYUg0aVExSE1nYXNnNE93MVZ6eWVZd3JST2crQ0VwelQ4U0JPZi9VV1E0TTJZT2NiMHZUZmlBUlM4NGIxb09BV0g3VExFcmZIaWhweUV3MThhSS9sTGFCRjNJaU9JKzM1TStqSUpneHp1TWZxN1F0QUdZR3lKMFJBcHlsdXBsT0pSUUNOa1JFRExUMThSdWVQZi9OOVZReVJhU0dXWVQ2eGhpOWk2bUF6cU9tNkNEbkVUSEVPRDNNK1o4UFg5Znd6OEtvVVZOOVl6TlY1WTdnZk9XUGpTUTZBK1BtOVRzcXJuQ3NzMFMvNGVqaUhpaUY1QndQb1NFN2VYNUVySGplRVp6djZoS0V3Wmh1UURJb0FQSDBvbENKRU1CTDBzMTBvcGd5TU5wY1pTL0RZbGpkK0hxcmZSaWJ2SGRUU2hxOW9qU3BGb1RQTU96SklFam90a3JWOHd4eUh2d0pPZUZpaVBNWUlZVC93aWJpYTZrNGoyOTlSUDFNWTRTWGc1dzVmK3dwY3ZJQ0NXR0thd1RuWFYyQ01DbHdTd25Pb0FBb1dlVElEZ0h2dmV6YnlPTzFobXdZMFp2VDgwQnlyZEJKUGJWNGxOUFRmeWgvVFhQS0QrVXNTSm9nNXptZFIxTWQ0bndreVlLU2ZUbElQVVhmZmh0NlJQelVFRmpxR2FsT3VBQVpiZWphTndiWGdVZXkrdm5sZ0craW0zRE9BM2sxb0VQVGZsbUp6S0FBS0Zua3lBNEJiK1BXVFJ0NW1QdFJ0blVVdUdlMUxGbmd3eWlrUTQxemJRYUwrNkNuQWpmTUJvWDdCam5QdTVVcXJISU1jZjZNR3hRdjd3Yi9Sc1hRamxvcXpwOXRTYUVqMTNkcTJiNXJmU1RJV0kvaDZPSWVyeUM4YisvMTZMakVvNGlZazczRE9jK2JqUjBSR1huWTBISzJSUWJTRndBdGkxeVpJZUQxYjNzMjRqQ0dWMDFXaDdGOUxRdWJyZnlmVVF6MDB6aXVxams4REVSQVRSTXMya0hPOHhYRnNoenFlRU9jMXc5aXVHcXBPQjhRM0ZWMVk4QTcyNXYrTURCSy9MM2liWVJQNWFsZ1l4emhuRWY5cWpLMnJjZDVrR05mQU1Zb1E0L1NJbkRJQzBMYXlGNDhWUE9xRklIa0I0YXdpN2pudjdEeHNSRXMybG1ONUR3M1NkMDBJK2JOK1RHcWNEV2d6cDZwVHBoN1dwd1B0OXM3enJmOXR4RzBnNFFwR3VVWHp2bERvNWJaREJZbTZ3SVFwUW41V3lDd2pYSVFZdTFLSU5GWXk0bnVZN0M4clh6Q0syYXBFMEFSMG1iZ2dFNThoaUR3S01qNVdIMzdnTUJKTjJYaFBGNW84QjBZR2VPSGErRjN4ZkJLNUF6blBGSlVScHltWWNQbG9tMExRQ0wxS0hBOEJJNVJCaUxMU0N3UjRMeHN4MkVjR0xaei9jVmR2SlRWWTBrYURRVHRwT3loaC8wbmNRU3MyYWNJY2o2V0RXOUk1UGpiemxBZE14UzZXWlIyZnR2b2RnM3BpQzJZcjIzaGJVUkFPaEo2eENPYzgxMk5ER1orVlo5UHhMWXJBQ01xa0llUHdKbzU3UnR3VDk0L1gwVVpVTFYwS2tEUnQ1ZEVQOFNzK1lpTTF5R0YvUkhmZUI3dEtPVXFyY3Q5MDBROGJNTmJEKzI5Mkl6bk8rTzUwaXdGNXpIRXJsblU4ZUdjUDlibVZIVDBSaXNVbXdJUXI1amNlYUhrbEFpNE5mSTdtZ1NIaXlpQlB2S2tDQ1BQd2ZsYnduTXp6SENHejZJWTh6Y2owY2Q2TklabjVHVG9oZE1EcEd2YWc0UHRQQ0tHOUY1c09JKzhqUlpucVU2Qnh2UHRJQ3hhUStFQ2JNcmtPdkp3Z2tjNDUxRWI3b3FJZ2VsNUpjeWlBQ2daNUFnZ29DWmgyT2p2Y2lCa3lBMlBJaWtiOGppR0Z5em9Va0RMSk5xZnk3am84ZTlLZDhJcnV1aEI2N3lNdjRtdVJTMHdaZ2h5dm0wdTVwR1JyTTY2M2d5VnFFUTNpOUxPSStkaC9iYTFubFMxT2pUa2x2NHhydUdjcitwK0hNd291NUR6VHc2NHNDd0tBSmREdnhBRTdtWlJ2OU42U0hEVEMweXhzT2w0a2lCQ2NCNU55RFVsdk1zK0lOd0ljRmw1SjNPZzNRaTEvNjF3SXprV21jaGQyNUFhNUR6YUhxR1VtYUJsTzYrWEJKcENmWGRoT044TjVmd3FVMnNiK2ptMDgwY0NrRU4vZXI3WnczMG1CVURJcFV1R0NIRHpkK3JSdHE4SDdEYUNYbGlGVjVlNmdmOXFGVzVnbllZTUVPdksxL1VlNkpCL0pOME4zcXNIeTFVU3c1eHZoVmtXck5yNTQ1SzA4OTFRUGFIOXJzQnhmY1RNcGdHZTRBcHY1emYxckduYkt3RVZQdm1iVFFHWW9CQTlUb0VBM3FKK1l5bmk4eWd0eVhsODFrQ0phRUN1dkRHcUF1a1Y5MW9OYU5lc2kzanVGbmVnSU8venEvZEREYUJOeG55NHN5T2Y2S3ROTzQvRXd2ck1Vbmd6Mzc3OWg5Mkg2ektwOFZmb09kb2Y0WFducUppeHczV2NYV0tzOEhET0kwV3BXOGQ3NlN2Y1lKQlJBUmlyRHoxTWd3Q2Z4MmE5TkRGMW5CcDcxcnRCZzYvNzJsM2RLMS9TeTdSMHBKZ3VsSndyS3VpYXJFWE8rdXUrMUZtWVBBUTRyMnNjUE5FM0tyNVZPNDhNelk3ejk3Q0gzWEREaHM2Y2NHMkcyUnA1ZDA3aTJEQUdZQ094eDN1RWM3NnZTMURMNjNtZDViMHc0Q1dIWlRZRllMeEM5RFFGQXVzb0RKSkpLYUo3VVk3RlhCMXNkWFVsQXpVK2YvUDh0NkpjL24yU2Y1UXkzU290eUdKLzdQdXBzekM1eEVCUEg4WFFyNGVDYWRtMDgyMnpIeEVVeSsrYWViYnpaL0F4cmpNeGpTSUFYaU1tOWVUZHVTTngwMVl1K1RUMk5aeno2eXJyZU02cjJ2Tjg3aFo2WkZFQVl1dEdBZU1pMEVCaE1BYkZjYU1Gd2pYWU05NTlYNzFrM0ZiMUFITFphUDRERWVQY3VJWjZmYkVPWUZVVy83NXV2VGpuOWVyWHB1RTJVckhoUE5JSzZ6cEk2VWp4cG5SSFhWT3Z2ZlUrQzkwYzE4M1FTVmIxY2dudGllcFl2ZVhtNEVBL1NPWUs1enlFaTZ4M2ZaNXZYNE5ZNkxFcnBGc1ZBQ0dETHBraDBBWlQ5REE0bmRobHY5T0xWbmRMQzloa3Z5cHYycHFMMGl2KzlUNXRBS3kwTnZ4NG03S2xRaG1VVGIvSGVUbTBnUDBvTkZNMm5HOFlhWVdvNytxR05PU3A3NVdXODJlOUQwYTAvUUZOcEhUeG9CYld4VG5EVG8vRTg1V1E0ZjRrbWZKNU9PZFIyMjU1SVRCcjZ4V0ZLbjlQV1JVQW1UWmRzMEpnRTY5cDFPU1RUUHFLUC9tekVKZ0RrbTJ5NHl5TmJSOG5KUVZybk5SUG5vWDFKNHBldkcwWDlZRFh0NWR0V1ZrMGE1MEFBQ0FBU1VSQlZGdVd3aUhwTnB4Zkg3K1dCWnJzRDZVMmNwdVc4MVhQNG5Jb1c5TVJ1UUVQZERodUJUejR6WnEyYURZbTZ6a1NYWHFFY3g3akdqL0Y3YWU5RDRsV3ZNU3lLZ0F5YmJwbWhRQjZZS0VqMzBUeW01NUZvR00yODg2QytuejU1eTBLR2RUNHZLUjF4WDJ2cDlYUFFHWGZ4VDl0dzU3YzhYVUYvNStyWHZiY2FHOUNtM2tyR3g0NEwyMVNmb0tCLzg5Q2s2Y1BBbDZqTnlrNXYrcVBtYzZydnZLb1pNUEhOY1k3MnJ2Mk51RmVhNDBib2VnSW9hNEl6amY4YW5tVkhmVjVPMy9HVytlWFdRRUkxWVE4MHlPQUVwTGVqQ3VUN2ZPKzlvVWd6eXJ1Ty8zSFh3MzZ5eml4cnhXY3BOcmpvWSs5ajliOE43UmoySys5d1gyKzBPTHUwMWY5SHIvaG5GODQ3WEZuSjN3MHo3K2ZObXJlNGhIaS9MQWtNTHh6WFhuZTc3N3dGVndSZHZyU0YvLzJ6VEd5VW5LKzRadmNsMFBhNzVERWdNbnVxUGRYeE9xc1NrZDFqRVlEVGZTSjRQeUt2OXVwK2pRcVlZeTEvQlkrc3dJd1VTc0trQXdCWGxUOXhqRlp2RURvUmRUdWkrNWdMK0Q1UmZiMkhqWnlmWmlkNEdMelc4VUUwRi85MHIvcytOMEZyakIrbnM0Tnp5bk1VNXp6VHVkMjNWbkNOdkZQaGlkb3czaytxeGtxMVR0RlZHZ3lIc3lVbkhmOTZaQUZZU29OVlVKN1FwTXRmU2RkbGRySmQrRCt5eXI3RmVtVjRockJlYWZOM3VrczNZVnFwUUpkVjFwSG51ak1Da0FLUlNsS05BSjhRQ3dOWXRHaEpqNjVoMTBmNWRsdk1uYjlFUXlDZzFYQlJGbWpBUzY2WEV2MjA5NFRkdVBxQTFjZmFmbWNIK0Rtd2FzM3ZHRzh4L2xGbDJzeStNbFJJWjZQRGVkaG5ZN2lQTFR3Znc4S3hTS1NUOGY1TThMa3ZxQU1HeEhpUFc5ZUEyMkVCRmhwc3NGVjlBRmVHZklzdGxjVTU1ZWE3TlF2UjE5a2c5WnpRbDVtQlNDMmZoUXdCZ0xlMHR0NmpJQVRnbnpLZmZnUFI0Szg2VkpyOEpiZkdmRk83ckgwclljRzkzOTNRanlQODg3aWo3V3V2Nm9lRmRTRzh5anY1akxncUNURythZmovS0hnK3JJL3JCK1hBSjd4V3Z3b0xNelN0eDVoajczS3JnS080cnl6OXZIV2YvUUx3TTgyMzlHVHlXZFdBS1JBdW1hQUFDL0k0YTFYQnNLbks4TG4vUGcwYlRpUCtUL1BmRDQraGJGUDAzRytJMWJRblk5bEdPSHpaWGJFSHBPRlNNNlBpVU9QQ29ZQU4zeVBzVVlYVE51eDZ1VE5lZDRscW8vVllPTERPSnovK3M5OTg0VVBtYVoxTEpVLzhpU3Y2N1VJWTFMaWF2YkdQTGQ2Ukp5M2dxOFlrYkVUem1yMnZCaTU4TFRJbS9OODI4NU51L3pHNER5M0dnUVgvOEJueDB2Mk1OYWJ3dTVqUFJkdnArNW9iT0w4S0NhbDh6bEVDWW0zcExQd1djdWI4M3hyMm9ZZEN0M0pYU3BlQ1FkZnlhRmNOZHVQMWJlUE5EWGFxZTdISnM1bmdlS01aV3lqZ0Qwell4MHlTajV2enVQcmk3YXptdHR5bldCMGxoZS8rU013cm90OUJWNndZMWtwSDhleTRmSFJXclI0eXlmRWVVc0FpeEQ5R0NYa1ZoRVVzZGNoZDg0M1F4ZTRKVkY4K2RmaWhFWlRmODBJNThvYW9CcHJyZzVMaHliWExJYjRSRTdpZkNLNGlobTRDczd2RmxPMXBGcmx6bmxnTlpYcWNUM1FuMEMycnZsUXVMRVdFU0syMm5hVUZNS0o0WW56RXlFcWZnQVhuTGNjcEJZbGs3bHovamlEblFseHdHcElRNzBYR0RUYjl4eFliUE5zak9pSUxkZkV4QWlkTUFoeFBpRmdSUXdPeXR0T1FCVWxXK0I4K01ZYVEwR2IrWGtzMXArTzZhTWJtR3hEWDMzUHl3SG1EYTRaV1lseXR2VSt4S2dnNmYySjgrbXhLMHBNYm91MlhWeFdsTHlBRSthMGRxaGFWcHh2NU1rbVE5MXF3QWgzeUYrUitHMFpvYUtjNkkyWUZzQ29ZT244aWZQcGNDdFNMTDVvYS9MOFVaRTBqdFlGaTFFbURtU3RPTDhlb3lNUnJWNzhKMjdnSElLMkpEeXVOMk1JUVkyUm45V0JPQi9qRFJROENGL0FNYkZ4TEhnZXBIcDgzOXVPdkltNFduRWV2ZXlKbFVwRXVrbThNVzQzQitTYjdLbHZlTDlHb01zZktiRnBQYnNRS1pydmw4NXZIbkJNc3ZRb1F3VDRaTzRQTTVRM00xR3J2L3R4WklXZHZ2aTN4NnBneFhtc2RzbHZGa3lyamI2WHVXS2lLVjlRbXcxMG9HZ1hVTmlQZm1yNWhEaHZDV0FCb3ZOVlgvbU4vcWFZUVgvSktxZjkyRVN0T004MzJZeVZuczFEOE1yc25Lc1hWSjFzb29RQ2ZDdHRuQ0ZBT2wySjgrbHdLMUlzREZGakdZT0xwSE9vTG1leHJmN2RmRi85ZUZaYWNaNHZ1TytGcHA2cEo0WVFsdzJCNmdXMVl0WE8rU3BKbkRmZVRFbWRmUlRqclpMcW5rWnRLODduMjRTcTdCd0dwdWVScUY4RFlDcHlWNFdKZHVUYkdTSE9SeU5mbGlkZGNENi9ubUR4VUxEaXZPUG1PVlJXWUxVRHZRbFFmY043QkhOcm5EZVZyOUdCT0s5ZVUya2RIWEMrVjFydGt5dHV4M21ndFpzOHphUXhrSW9SQlgzMVBlLzJYRHdUSGl3ME9VN0VFT2VOVjFOU1p4T2NMNm5xcWRTMjR6eGE0RnVwa2swVXlRM01Ec0NLMy9PaU53SXplSkVTRDRNYmNTUERwWHRBbkUrSFc1Rml0Y1ovcDZGSXFtYWlpeDNud1NkekZpMFRqVWFFWUFCdkxpRkdPNy9qaGVuRU03YWlYb3F6S244azJYZ2V4UGw0T0JVNEZMZEttZXMvQ3F4cU5xclpjUjRXOWFlejBXT01GRFRzNWhuOEdNOGZlS0hqRGVlZHpUeVg1TkNhbkRFdnJpU1ArTVNPV2NCS29uWjZOZTA0ajFZdXg3R3l5QlVTTVFjUXFKYTlCeGRqcnBIR2FHMC9QVDZUWWxJN1B3bWh3ai9uRXp0bUFTdTh3cllLMm5FZVRYRCtteFBRbWRoMUtqL3FQaXpPOWhhY1A0dzVyTUFiM2JORktUbytjVDRhbTVJODRhdlhka3VpYXlacTJuR2VENFg4am5ZbXlvUUxPY1RrM0ZLVjNaRHRkZE5Qc2hOK2FQMndEQXdGOGxTUk9EOE1lT251MGFiTXk0a1o4YkMzNHp5Zm9MOFpMNkgwb2RvNDBLQTcrSzd6SmpiWTRWS09QUnZlV3NDWUh5MGRtd3Z6N0lvUTU2T2hMOG1UZFhBK3g1NWc4VkN3NUh4bkNxc1drY1lYdkRaOW16M0tBV3g0MWN3NStTWGVDWmlpNTJaYS9TZUVUdnlZT0o4WXNxSkZhSUR6dVhkV2k1UnBTODZqRGI2V2QzWmNkbHA3SDA5a3dXL2FGenliWE5YN0p1L2t0RkdMNTJtVUpjNVBmZ1VGRDRFeW5HZFBzSGk1dCtROEdKWDNCRDIzR2ZqOHhxVEtFUkJjNHZQdEYySTI4L3o4cm1zNXdrNmN6eEhjNllqZW5NYmswM1N5RWk4VlM4N2p1SUc4bHpOZ2JzRHYwenRPeTZmdjhXMm4wanlKMlIzRHlHQXJIaFNwUWhIblU4RldwRWpOT1RreEl6YW1scHlIaFN6dlV6UEFLcmtEd21VLzVCbGJaZi9CaldlMFIyQTNYd01OY1Q1MlVTdHFRSlN2SEJkcUZqRFhscHpuSGUrY2M0V3BGSS9wU0tZbXpzWDdSZmV4U2QvaGxrcnhNMDFqOWdoa2xFUlg0bndpdUFvWW1KZVEzUUxxbFo5S2xweDMwREdxNTZjZGwzeW9PK2VkZUR2cFRIMnd5T3EyZVorMW16aWZOYUxUbHNjL1c3d3g3VVJubXA0dDU3dHlwVXh1dVdqcldxVXF0OWZFVHd6bmdNcGVRdnhJQ1VJUzV4T0FWY2lnZUlONU4xc0Z5N2N0NXcvek5Zc0RMUmpoSkdhMTVHOEgrdDJTMGZPNEV1ZnpRSFdhTXRFcXFBSTJ6WFJubDVZdDU3SGtKZGQybEJ2aGxKWFFUVzZQYSt1UlFTNGdFK2R6Z1hXS1F0ZnpOME5QTVRkeGtyTGxQR2JTOGozaUhsWkN0WTRPTmZMTk9Ka3l3dFNTZHcyTTJKT2R4UG5KR0JVN1JOOG9ZTkQwYTVkYUQzK3MyQnJiYW1mTGVjeVo1Mm9YZDR6ZDgzeVNvSjRzdzRneVNCWWpZV2ppZkVMQUNoZThHMWlvK1ZVMnVML0pQbFE0TGJOVXlKcnpHRzRuYlhzVDZROVN5ZGxUck1OanZVU1JIWmp0VlM4aFdjeVlvWW56TVlFcWJEQVVZRzN4V1d5ZDdEbk9SOWk3Q3F0dUJvcFpjNzZSOCt3bVRDeFhSRDc1ZDhVT2t1VVprL3V5eGtnV01XNW80bnhjcElvYXpwVm5wM01GdC8xcHUyclN0cVdvbVF2Vnk1cnpXSDJiNjNkLzF2VmtJUCt1V0dnbW9qMzdPWnZ3Nkd5c2FPeEw4Z1NGNmtpcXVzVDhZNS9PeXRYZThzRmNYYTA1ai9GMnJpdnV0N1d0SHZSWEp2eVlMNkdUMkFJUVU3QU1SdTI4UktLa1YzNm1Tay9xdnN3KzZEa3JpUXVhbEZDR3F6WG5ZY1RMZFNmaXNWNkgwd2l0WGlyallNNTlteVJ4Zmh6OEpYZ1crTXlSNk5vN3ptWlNZM0VKY3FwVXRPYzhTRmxYNHJKMzFMVGhIU21OYnR4ZGE4SG9FdlhEdXNxY3orVWx6a2RoWHhKL0xERFJpN09iOHR2dC9YbGVnbS9QK1VQVEJwTDlpM2IxSzJtR3JmazdQMjZyTEF5QTE3Slh5WlJJbkRmUktLRWJWbDdWTEdCaVNPUmdQZGVEVm1ZTWt6M25ZVTBmYlgyenkxVkxUN1poNUxVL0lyZ3pya2JHYU9Cb0pFYW1Ic1Q1VE9HY3ZqQTBXV3BtNTRJYXhpOExZOTcwOVpsQ2l2YWN4N0tYUEZmaTZSVVQvUENNbldGSVlJSzVOdXluNzZ0NllLQTlNM1VSNXpPRmMvckN0bzI1NW5PcUpKL04xMGcxL1d5YUtkcHpubStDU1RocmJpb3d3WTBhUlZiREdIbU5WaTVqSitDeE5UcmZGVG44akM3WkhaeVFFWHBjVEFRMmphNWdReFVYdk5hUjVxV1krcWZRS2dQT28zZTBueUxsZUZIQStWc2lKTklaWFFtQVZ4WTlza0F0SVN1TWVLa2xEMFdjVDQ1Wm9XSzRCcnZiYXRvWjF2eTlRcW1acFRJWmNCN0ZQa2RtNmI1N04yUjlEWjlkamQ3WDE4ai9OQVRpZkphbGNmcXkwS2JvcWVaTlpjNEQ1NCttcjh5VVVzeUE4NEF0eDFVNTR0eEx3TkZrZzVFeHhQTDN4blhmY3gxMStDK0lPRCtsZ3BwVE1qQVMrVXZ2dVB5cTRqd21lYmR5U25IMllqUGdQRDRzaytQZXRacTAwZUUxakI1VWY3d2JOc2dYc09aYkdmbUpFT2RuWDRadE5NRDcwMlBEcHVvem9yRHQyb2d0ZE53c09IOCt6eTcwcGh6UFB4NWlObGhpTzhhUkdzTkE0MzFlR2ZiTCtwNDRueldpMDVXSHNxdkxpR3R5WG50UFY2UDhVOHVDODZnVTh4dlE5NlhzanBvODFhZ3Nmdy85c2NoT3hpRmpkUjAySHhkeFBoOWNweVcxYjI0RjE1eEhsNTg0UC9ZZHVDR1RhR01qSkhoNFR2VG9zVWJxYlNQUnVsZXdNanB5cHJDamwvQ054TXpLZ3ppZkZaS3prUk13K2JUVTZCR2N2elliaGFhUWFoYnR2SVBLc3BlWHJxdWlQdW1MRDFpWjZWU1FiRGN5YmN6T2o4N3RtZEd6Y0JQbnMwQnhkakphWm5PbExVYkUrVW12QkFWL2QxS1kxTS85ZlE5THJaQm1mZ0VtVjlRM2UrR3lzZDErUC94SmhyN0UrUXpCbkw0bzlCNE53N0MrSWM1UGVoZVZsakorVEFxYS9QbDlYbjN5QjJxSmxDR2hmYzM3NU1XRzRXVTQyOGJNcStHZHJaTTRueTJlVTVhRzEyZU0yM1V4SnM1UGZCRjUwbXVwZFZKM1Bzc0c5UkV0S253YjdYclVUQ29xSXFNS0g0bWNrUWR4UGlNZ3B5dG03ZEtydlFSaHRqZDZpUUhPRzNYQmRIWExQYlZNeHZQNE1ueU95NWErd0pqTFRtK09RbkdXTDcvSGR0bmQwVWZ3QVJ2M1F4OWs2a21jenhUT2FRbHJpNWFpSFpnTTBuWjdtcCtmK0NiUXB1Wm9MbnZEUTRPMzFrTjAyT1lIR1dGTi9hMlFaM3lncnhkVmhnYkl4Sk00bndtTTB4YkN4TkM5R2VnTDBwcWNKTzhoV0Y4bWlXa1J0c1hiZm16ZkQxOGM0QVplcDBVeVk2TVM1OGZDVTlDSGZKc0czM0VKRTk2dW9XS04xdDRhYUV4eW91Z2ZUUXFUOWZNTDNwbEc2SVU5RXlZWnV5UTJ3dnd6OWlQT1p3em9WTVRCUk1jdzU4TUhoajBqd2NBZW0ybVVIaVB0S1RxekdjL3pyOHJsMkxrUHg2UHZwWWdxTzNSalhUOHdVZ3VYa0lFdmNUNERFS2N1Z3JmelR5UFZkbkEycUt0dTBYdmNtN3BXMDBvd0s4NVBaL1FjUU1VOTRyZllTQk42TG9ZcmppME9STW4raGppZlBhWlRrTmp5NXVoZ2h0bzFFK3Q3alQvM3dXdmRNWi9NbFRzcnpxT0xQZVhPMEJseDFuMzR4anFZOXVyVGVGSEUrV21nbkhrYXgrejJnWVBwcGxQODY5OTV0Vmg3SVhvWGh3NWVWbGRXbk1jSldWT1lEVGRSYm9oaGZETzBFOS9OYzArL29RWngzZ0NqUE03bFFRL0sxb1krVjZOUHdUdXZXdnp5NUNtMnBwbHhIdWFRNmZhR21xSmZVUTA3a1E0RHRzdXhNYkFKU0p5M1FXOW1jU3ZOcDNhY3o3R1RRRFBQdjRFc05GcWZkZ3MyVFNReTR6ekdSbGVtcWZqRndUZjgzMmJZeHJwem9ZMS9Edm9SNTNNQWRRb2lZYVI3aEExdURxWGt5Z0hoOW5RTDg1QWFPZDlteG5tc2dSazlsVFpINVJzd3ZjcGZieVNkR252dmlGOHVIc1Q1WEdETlgrZ1RyMkR2MkJ0T3BpdVhibGJuMkd5UGorOW1OUXpIK29hallReHp2SzlKd3VNNjh1NHVzTUZPam1rYm9vbnpCaGlsZDU0VDY3dVdwcktHYzFad1pjZDVUSGFHVHBUbms3TlZ0YkQyTUdURzREaDhuVTRPcWhEbmN3QjFaaUxYaE9GK2VXcmxaeFpaelpEem1LNnJUeTBMaDJyeEhiWkdiUTBsQzF2TXREUWh6ZzloWCs3YnRsK1c1cnBybjJIZjNzSDV0NHFJdWIvNTJyNU1JbVJqM2ZiMGVoekVlZmtlNXVLNjBqckZRUEhUN0gxemtadUlUR3pyWWZGR1JKRFkzcXRURzBVN0s2cHJIN0t4RGhOMTlkaEtwd3pvYXR4U1NxQm9SVVRnQzJ4dy8wUHN5WU1pNnBhVlRsbHlIbWZUUFpxVlhoUGtQSzR0ajloTTgyd3dkRDh6dTJSUXJubEhuRGZSbUNQM0U1ZGExMTh5MTVSSDMxNzlyTnQ1ckdtWWxybTh1cStLR1FidndTSEZXaXYvWmg1N2l0UlBhVUlPUXFBTUNHVEtlZFFnVjZhUzZaV0JUZ1k5ZWI1RlN2L09zdy9vbTd4Y3hQbThrQ1c1ZVNQd2h1ZXBYOTArcmJVWDd0c0xpU0doWWM0S0RtK3N1L0RTblJnaUxJTjhVOEgyUEV0SkZKMFFJQVFtSWxCeHJ4bGhBa2VVRy83a0pBUUlnWGxCNE43QUVBSUhaTTVMeGlnZmhBQWhFSUxBMnUvallLT2VmUENsMThHWTlqZStJVy9wU2dnUUF2T0dBT2JtK0UrTTJRKzltM24rdXRpOHZUL0tEeUdRRklHTDdQb0RWMXVEQXovZWZlekcxUWNlZktTMWxWUU1oU2N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JZ1V3VCtoZmlhZ2hUNnBhRjc2VTlYUW9BUW1BY0VQdHhpN0tmRWQ1TjRmdmo5cTRuMTgvQnFLUStFUUJnQzkzaWZSenZaRTg4cTMvYnVmejBzS1BrUkFvUkErUkc0SUw2SWVDSmErbyt5MCtmdmZPbjMyZVh5WjQxeVFBZ1FBaUVJMU5qZjNWbjZGSWovUGUvaEFydmQ0NDdQblZEdjNnT0UvZ2lCT1VQZ0F2dkhQRWQvQXRKdjRicmtEdXE0NEZlamh0NEhndjRKZ2ZJanNQS0t3VXRrTHRyUCthNWp4azdSc3QvSFhpT2VMSWdITWlCZENRRkNvS3dJTERWWmkwa2JuYnZoWjJNRkRmMFZaNm4xbE14VnBTVmRkQ1VFQ0lGeUkzQWZlNWZ6UjE1UDNuRldiOHU4dEJtNzdad1QzdHl6ZXlRZjBaVVFJQVRLak1CU2krMDR6dmFUWGg2V2Z5Q3p3aHY2cmFxcUFoem4vQlg1aUs2RUFDRlFaZ1NXR1VicXY4RFlIcy9FNFdXVkZUVDBKK3lENnRhNW9Lb0Q3VWN1UW9BUUtCOEN4K3lhVTBHanZzdFYzNzZwTW5BUmZxeXVicDNGcDdXYlhJUUFJVkJhQkpZWU8zTDRRcHhiUEF2ZG5zNUloekcvdys5N0xaSGhYbU5ETGtLZ3ZBaWNaZXpBV1FibnZhNzc4WTdPeVFJOGpWdEhtZkIxRUhJUkFvUkE2UkRvd3p6dmNIcDc3YnpKK1lyTHpQRjh4VitZVjdvTWtzS0VBQ0VRUUtER2Z1ZzRmT3graFh1YmZYc0huZnNUSFpiNjlob0xjaEVDNVVVQXczbmV3S05KNy9GTUdEWThoOC9XR2ZQenE2Z2I2RWNJRUFKbFJ3RFd1OHZJdzVrSGY5TEx5VHEvRWIvSEdScDZQWWhmZUZZK29Dc2hRQWlVRjRGMXhtNGEycHZFYmo2MWlvWitRejd0NzBvWFhRa0JRcUM4Q0hTNTJWNy9WclNoYmdFejlwdHlTeTFDTlBkME1ISVJBb1JBV1JGb3N0T0E2bTVQM3Rhd3J3NFRlV3pmOTdnUURDZEQwWlVRSUFSS2hRQVc0T2tSTzlkOCs3MUMvemN5N3NLSS9yYmZEK2g4WHp5Z0N5RkFDSlFZQVl6WWcxdytjN3JqWldmVjV6cWZ4UE8yMmQ2akIvWWx6aTZwVGdqYzhRaGdNYzZRT2I3akxiRmRjUVhIN3dYcDMvOWJmL3JqUTkyQk94NDRBb0FRS0NrQ01OdGZDYXAraGozMXYvNzBXNHk5UjNqRGpPZjlqb0xCNkk0UUlBUktpVUJiMmVpVSt2d29QTWIrcmJ4ZnVzdTc5MDdKazM1MEpRUUlnYklpVUJYNzVrMzkzL0RnNE9HL05qeGUreUI3dDNsdlBDSW5JVUFJbEF3QnRPRytXYjVrZXBPNmhBQWhrQXFCUlp4dW15b2lSU0lFQ0lGU0lvRFY5dWF4R0tYTUF5bE5DQkFDOFJFNHp4aWRlQlVmTGdwSkNKUWVnYjQ0SHFmMEdiSEt3T3FsMDc5bEpZQWlFd0tsUWVDWTRRRE1PLzIzMnZwM1B6Ym8zZWtvVVA3dkVBUnEvdTc1T3lTM0VkbXNZbmhUZXpUaUlYa1RBdk9GQUticU51WXJSOGx6ODJWV3g3bit4c2M3a291Z0dJUkFXUkRBVkozL0tZdXlLSnlIbmsxdXhWd09uUENiUnpJa2t4QW9BZ0puYUVrT2pnall3cXM0Uy8yZEloUkkwaUYzQkhDcy9TRDNSQXFlUU5kYmlIakdPT3l6NEFxVGVvU0FCUUxZVlhlbmoyTXJMZTgwc0RQK3A3c3NzS1NvaEVBWkVOaG0vUHVVZC9UdnJIOSt3Rm1hczd5amk4R2RrL25ONFZOeTdweXN5NXcyL0U3OWd2OFpIK2xMVjBKZ1RoRm9qcHlTTTZjWmpjNVdoOC9VT2M3NjhORWgwVEhvQ1NGUVlnUmd0cjlXWXZVelVMMGlqSmdOR3M5bmdDYUpLRHdDZkhyKzhzeTFYTGwwK285bXBzU3EyRmZZSmJ2OXpONEJKVHhGQlBqMC9NeVg0UzI2cHkrM0lGeDc4TzRISG5qd2taWTRzZnNjdTNIMWdhdnZqdzBpRHZDL3dYL0JyL25Fams0QkNZRnlJY0MvT3I4M2E1VTNCM3ZPWnZvWlErd1M4bjZDODRmbVRZeXNuV2NEd2ZtZEdLRXBDQ0ZRY2dRd1BUL3pKYWRuK2FjemxnUGZ6RXVHNnBmK0RBdUx2dk5MTWhLbUgwLys1b0c4bTNqdCsrUDROVG91YUNKVUZHQWVFT2lEODdQT1J4VmZ5TUpYcjYrbDF3TldDZU1yMllmc2RpOWMxcysvUHZEejIvVnQvOU5jWis3NGRRcmhtSkh2dkNHQWZ2SEpqUE4wbGowRERTbzJwL1hnVXp1M2RDNmFKejE5WTdxNHdkTDhQZXM5N1BvOWpIUERYL1l3WTVLYkVKZ2JCR3JESDZ1YmZzNjY3SWduMnJLb2UvQXBuc3RLOFRkR2poS1dYSlB4VE16TkhiTWVqOXZ3bTNzbGhoeUV3SHdpQUJMd2ZhUXovQzJKY1hUVFlvd0JxOFNSek1JcWU0MTB4cnNlKzBkOWQrakU3M2g0VWFoeUk3QUd6dk9lOVF4LzU4UVhNbXQrYzV0S0UxZ2w2aUppcFphMERtdDdsVTJGaHZPcG9LZElaVU9BZjNQV0dBblBRdjFOMGNXdVdjd1p3aW9oVmIvM1pFYzZZMTc3WHR3THRQSTJKbDRVck53SVlDQTg0N0pla2VzRG1ycDduaGpUbWpKRVhraSt3bWpkNDN4L2tMU3VTS3dsUlNBRUNvQUFEcmUzV0FDWFJRWXV5R254Vm5LMnF2UVo4M2JBTzg2Uyt4N2xHZGV4d0FjVkZmZjdjY05UT0VLZ3pBZzB3UG1qbVdhZ0ljZlJGcFVQckJLQ3NkMFVuK1JaNUFiN0JZdVJ4VXp4bzhRSmdXUUlkTUg1dldSUk1nNWRaVC93SktLUHY1OVd0SnFlL3lJVzhTYi9WWC9nTERVL2tEd2V4U0FFU29oQUZaeWY2VGdXVk4vMWNFTmJ2WkVXUUZnbFBDR0xyWVRUZEg2Q1p3ZC91L2JrUWRyRUtSNGhVQ29FV3VEOFRCVkdFMzNUVXdDT283U2F3Q3JoMVJlZDUwSWtyTHlvOWRoUGhQZ2JYci9SZXV1T2NVdE9RbUIrRVZnQzVTMld2MlVBekRuWno4Q08xcjIwOHNUMC9PZlVKTDBoNkF3N2ZlbkwyYThaUHVRa0JPNWdCRmJCK2FkbW12OCtHL2pwZy96MXRKcjQwL1BvS2ZSR0pGVGNwdzRjNXhmVHl4NlJTQjZFUUprUndMZm5zMWw2KzJIM01hOTNuUmlNanF4ekRsbjZ0YS9lOUh5bEprMERwaEpmOFhzUG0xZE16MVR1eWgvLzF4OTVXV3MvVlZ5S1JBZ1VCUUUwcnV5WkRKVDVBM2JLVXBuTUhWZHVndDJXRFg0S2RWcDhldjZqeU12b0hIdlZHK0l2MWZ6SmdSU3lWWlFPNUZ2TUp5bzU1Q0FFWm9uQU9rcnhMWHNGM3NoK0hmdmZrNjV6NStuQ2JLOStLYWJXZmRWaGxmaStjNEg5VllodFlwRjVEZnpqR2RSc0xVL1JtL1pva1FSQ1lJWUliS01jMi9kNlY5anRBOGZaVGpObVhsR010eGhrd0NweGE4MTlsMU1iTlFuNFg2SnoyaG5VYlAvOGVYZEQyWjBadmkxS21oQ3dSK0FZcFhqTFdzeXh0M2w5T2MxQk56aUM4NVBmNEw4dldRd3lZUExmUFlZcHNqODZvRC92VDl6MzA2LzNNZEZwV1l3L1REbmtKZ1JtaGdCYXh2U3o0bExyaTJ5QVp0NVpUZE81eHhHY2U1NGNOUGpYcE1Da1YwelB2MmhRNSt0blJ3YjBoLzdLM3NYL2tWUm1hUGlXT0JVNzlDRjVFZ0psUUlDUFVldTJpbmI5d2ZKYW1rWndYZmFXMFZadnBGV2tnVnk4QnBHeGxHOTRzUUhrdjcyWFZ1NXdQQmdmMHRnc2hzWFFQU0V3T3dUNGtoenJFU29PbVR2eXNoQTJQUzd5dHVMeWxBSy9VMjlrdkM0ckNyVFZua2M0R0pIeHZlQmR5Y1hhU0EzR2ovSm1iNjJIUzAzcWk3Nkl2ZmsvYWFJVW5oRElFZ0hQZ21ZcjhIRzlHWFkvU2haYThaSGZFUStNSTJyOU9QMlJKdHIzOS84ajQzdVBxMHpzZlI4ZDBQczJ3a0hxTG9TcEJLWUcwbzgvQW9Mb2hoQ1lGUUw4SXpiRHZlSEV1dFRrSU5xTm5nSlllL25WNGQ4N0RuaEtmYm54ZlhOc3R6a3l2cWV0TnozUFhhZ2FmdWo1Nkw5TnI2N3hPeFhhTjUwTHF4bTIwc1drV0lSQVFSRGdQVi9icGJkb1NiZjg3RFJUVElodFM1SzY2WnRRYjNyZVV3R3UweUZvVjduSmdyRVBEbm1udWoyVSs0RlN4YVpJaEVBQkVJQ0ZhMnp6R2tmRng5VkF2SmxpNFV0YnhBRmJqK0trRmhZRzAvUFBDditxbkFiUTRSWi9sTE5lSEtPanZkTzQyaXFyYVdKVEhFS2dBQWowd1FiYnBiZFZPU0ozbWlucWoyMWhGYnNnYlhrcFVFR1Avb3FJMXRCT0xXanBVL2l5bGI1TjcrcGtJeWE5QWhTVEVMQkZvQXZPeXlZeXBTeDA3V1d0NGZwejRZa0U5VVg2NnlucUM1a1FUUDc3d2gweW9PZFBQcGZOSVFFdVRjOExuT2xTV2dUUUZVNC9qUFp6RGNKZEZ2bDNVL1NnRDRVTjRGZzExY25CUk9PK0oySU5EZWpYbW0vekhtQmlQYm5Za1JnMFBUOENDWG1VRGdFWG5KZU1UYWw4VjArSnA3RUhydnVjQjUxNktSVndIS2h3SUNOM05QL2gxWkFXeXVxd2FVK0dUM0pGbDRhbTU1TUFSbUdMaHdDWVpySDZ6YytQWG9JT2FjbDN4aTM3ZmZzTEtZWUZDcytxWWF3L0RBem9xMUtqcXUzc0JFK01wdWNWNU9Rb0t3TGVaMXBsdHpoZEptQXpseVp4ckh3VjYyc1NpTHJvTjUzaUUvQUpJaHBCVzdJMWh4OTRhU3lQZGVWTlM5b2NqR2lKblRROW54Z3lpbEEwQlBpU25IRXJYbVBvQ3g3SS9pNjZ2c25iK1NXZmxTNy9BbjNLSDhid2VpRU9PaHRHTjk0VnhyMkxjZ2xCeWlUOGFPaERIRmtKb01pRXdLd1I0Qit1c2pSdXRabS9XUlZaUVEyU29nZGQ0M0hPc3ZlbXh3TEg0Qmx6RDY0NVd1bTh4eGZiOXpiK3BVL0NqNG04OW14bFVIeENZS1lJcklQeVJxdVlSaGRRN0VqRVF3MGl1L2tKSkRXNC9hMlR2cG12L090anhwNzd2NktiVVBrTXN2VGtQNVhwOTMyRlZsZ21INnlBZlZBS3Bpc2hVRTRFR3B3Z1ZxcGpESy9hUHRRZ3p4bkNLdi96NWV5eEZ4Z2U0YzZMbURqNE12T24xSUloM3ZTaTF2V1BCYjFHNzd4OWMxQ0MxYjFuTmU3VUt3WlcyUy9EZTdHVytGTzF3WVJXTHJYdXJ6czR1aTlnci9qYUM5M0JtM3ZCa0hSSENCUWJnUzdvWWRJMHViYm96NnNWYmcxelhPMnMxUmk3eXRnN0o4cnNEaTZGS1ZINWNmUkJKc2MveDI1Y2ZlQ0JxemNHUFMraDV1RDZ1eDk4cEtWR0N2ZXdrNWUrakExdVR0UmlYSUFuV3V3NlR2K0NxY0FFNjdQUXoyV253QmFZUmdBQURsMUpSRUZVOVhFeDZSa2hVREFFMEZtVmUrSlNhb1lWT2FxajBOWHRLNlJ0c2xjZU9FdWZubndReHRJbkJtOGZOZUJWT3V6Mi8zYVdqc1ZIYmxLcTV6aWZlVm5yc1ovcXBZN09JOEplOE4rZFJmZTl4b3BEK0o1aHQvK0w0L3dyTjhWd3hrb2Jpa3dJMkNEZ2d2T0crU3VGcUw3UnRxTUcwY0srekh6ejJiSFpOQ1pJWUpPZDlCQzg0ajZUSUZJdVFYRnNQcy9Ld2dtbUFXK3BGQ3JOMHg2L3Vhak1HZW9ST1FpQjRpSUF5bHN1dlRWNTNqU1h3elJQL0xaN1ZTK1JTNExEbDZWcHNHKzl2VDlKc21GaDd4VW5ETGlmTnRjc0xrc1RSRmZYYzJHeHlZOFFLQklDM3BLY1hTdU5XbnFxemtFRnNpV0ZuVlViMXB0SDBpL0JkYkVscDl6UFdxNGZTSkJvZUZDQXRPczkyVWIramxTWXFwejlXMDdaa1ZHU3lFRUlKRUxnNjYrUCtxbjVxbWg1R0tpYWs5blJBU09mOEZwalF6emxKdnliTXVTMnBNZGRxZGJ6ZzE5N3ZxaUwwaUVsVC92YVoySWVFYXVQMUJTRnN5ak5lV2RhQVZ2K3RMV2o5TzQ0QkNwb1o2TitSeFBSOEpia0NHNU5EQndhZ0Mva3UvL3YrTDhYd2QyVG9acWlTNDhrZHFWZi9DdXFEMmthVzVreDU2R0srQjRXcnlGVkZzUTJBY2VwMlo4dHBvU1NneENZaklEWE80OGcvZVdKMFdGMHQxeDZxMmJIaFE0eXlUVzUxQWNOOXBiMGpIKzlUOWNVRjFrOWZyd2NRdW8xOW1DL2J0TDdZdXN2WG9DYXQ4Z2hkUkpKQ0l3Z2NIY0U0VEYzWEI4SlBPeHh5Q01QZXlhNlh3OG1yK3h0RnlROU5vMytmbnpKNkwzMFJPZ0ZPd1hqcHhrUkVrZmpIUGlQQXRQekhURmtRVWZIMk5JVElZTzhDWUdpSUlCRzJMSm4yamVXcVVDYTdKQTc1NlRjdG16d2srUVpSRktOWjBPNWtraklMQ3phY1prcE9QVzhvU3VHTEppenY1SlpZaVNJRU1nYmdXTndQc1d1R0VPdHJzRUROT2x5aDUyekxzY01aMjU4MGdnZTA5a3dKRFUxejJMR3pqUVloajh5VTZpSmJpblp5dnV1OTR0dWdIcEVEa0tndUFqVW1HM1B0R3J3d0RXYVBIQitOMzIrb1plTS9VV3hHVGE5TUx1WXFCWXZDd213WFVpbmczbEpOWTZ4UzRCaUV3TFRSS0FGenRzMW8rRDVydEFZdzEwNVArYzRhQjRIMzAyYkZUN3BkK1JIWHB6MVRCZ2cyaFA1UUQwbXRJSUgvRDlFRGJ4QWhpNmxRWUN6MU9pdXB0RWJBalpFUEJ5WW81ZlBlUGI4TjlmVGlQUStSaU5tK3A1d2xmaDBvbXhqOFV4SkdkdmFzT2pnV0crMDlNK1hqK2hLQ0pRREFXK2liOWRHVjV4UW82YlNjTXEwN3U1NnEzMFlTN2ZURkEwcUpGVysvbk9mWU95bmJkU3pqNHVaT3BXcFRVMS94emxHenZIc0JmWkprQVJDWUhvSWVNVGN0MG1QMXhxeWg0dnV2SjYxa211RlR1b3B4S05CRmIvYmY1MGllcFpSK3NhOFJGUE9QL0lFOFBFZTc4ZTM1OU9QRUNnTEFtaVpVODJlNi94aHBtb2c3MEFQWTdlSjVHMmF4ZWdkTEM2NGV2VXRMLzY5L3lSbHoreDZyT3p6M0d3blorMmdqdGRINHZnZHpVdzNTcGdRU0l3QVgwQ3UxcjRranMwallMaXJscWFCcWZ0YUNEYkorRDg1M05lUEpycWF0bGFHaVNuRURnQlZyb25BWUxsWWhPdDUzQ3Z5WjlRRHNhVlNRRUpnUmdnYzhtSnJsVFpHQjZyTWcrU3ltODlsWGhTa04za1NNeTNFM0kwWk5PZGczTXE1SmRJSVRNL0Q3OXNjUGZ6cTRqbGRDSUhpSTdDTkVtdDNBcWF4OGhUTllIQjV6d29zY09rU1FLejlZcURIZS9BM2hTcVlpdGdOYVBXZlhUdzExaVFFSHRJTklWQkVCSTVSWW9NOFRhb2xPQy9iY1JnSDVJSTFLZVV2N3VLY3FNdmJ1RmZldUVxaXhZMlRVemcrVmRjVHNnLzF0S1R3cWJ5VzkyVWtBRG1wUUdJSmdTRUUxcUsyejc5Kzh2NzVLa3FzTnJVUENZNTFpNzY5SkRvb3NUVVM1M1ZJWVgvRWQ0SUhud0RzVFFnenBjZDhaa01taFY1UlhicmxkYkZtVzJ0S1NYUWxCR0lpSU9mRVVEWkhma2VUWkxpSThzeWtRR09mZ3hPM1JJQk5ZMFdPam9PdXhHVjlGOC9GT1I4dlpPNmhjQUplK1BTOFRCa0FLQ09tOUtNcklaQW5BbXJLQ0R3Wi9rMGtHNDhnS1p0T1NjelZTUUhtTitPY1A1ZmkwT1BmbGU2NFYvVHQxUVJnM0RnNWhZUDZhdkRUOU9pLytQZDVVbXM5bVdCVlZ3clNpNjZFUUs0STNEM01kSFYvV3ArUU1GL1dicmtSRkNJRTU5SGdYVlBwZGRWbll4QmdZdFdqb2ttSHJXVlJ5ckcvb3AyWEN3eFFFL0VwaW1YZU1WcGxnNTRRM3FkMlhpQkJseElnd0ExVXlVZmJnWXlCQ0lMeldJVlhsNC9BZjlVakhqRjh5VUJqcnE2T1BpYlVOQjRaOHhMbzBuQnIzU0hQTDBZc3V5TDVkVDFaS1h6b1FnZ1VGZ0UwWXRZRzhwYmsvTEh1QkRzTnlKVzVOcW9DNlRYeDJnbk1JQzdOY0hrcmFpOXBsaGVIMjdmUmJlRUdCMUhWNGFBQUdXQml0aWdBSVRCckJMeTliejA3TFdyc1dVOEFHdndQS2tsZDNUbGZTak0wUjN3bHkzRytJbnZYaHQrMG5CaWFTQ01uT2pLN1NMWjY1SzArVkdPaWhqR2ttWlpXbEE0aGtCS0JkVFJYSnJuU2lEa1djM1V3ZHRWVi9JNGVCYStvOGJCNk90bHhhSzdvcTdoWEpzZklMWVQrU2c4eXRZOWtXanVPd3p0SVJ5TEp0bklKRDdvUUFzVkZvSUdpcThiZEtkVnNpSGF3YjNLN3FvZTd5MGJ6SHpzSmNLcXVBbjk1QUpiTjdGZVZDeGk0OGVNSVcydjRqQUlxT0lWYmMzQXdNK1VvWVVJZ0lRSnRGR08xV2o1aFhCbDgyZWNFbGdsc1NTLytkY3BmbFRkdGRjcU05SWx4eFhoNVN3WmJjeCtWemxsYysvSXdUZzdXVGRDZEEzYUduUjRKWlZiWUQyZWhGcVZKQ0tSQ1lCUEYyTGJFcnZoVFZRdUJHYXUrWEpzSGE1ZWEzazZpNHJHd0VpQk9WM3oyTGtuMERNUEM1dUZKVzJUL3h6c2s2NUJuYlUyZkI5U3duUGpJVUZVU1JRaE1SQUJkY00ydGlhRWpBalE5VG5SMHc0eHdDNHFubjA5SGlXWFp1am8vazA1QWhMTEp2ZEhsMk9PeHVzL0JuSWQyZnZNeXY2dTlqZi9qdDlaS1ZhZjVrZW1mRUpnMkFpNDRmODAyMFQ0ZjVWNElqaEVxN2p0OXNWOE4rc2RPcTlJVXgrRDlodmlnZGV5WW1RZHNld2FKcytCN0RmV2FhT0cvSXRZN1ZUb3pQcTR2OCt5U3dQbEdBSlJQc1VodUNKTkZET2dYM1lIWEdLcEhYMlJ2NytGQXV3K3pFMXpTL0JiWVNkMXgvdC9kN04rbmlaMWxuQlVHZnIraGhVcnNLNWlKLytoem51eEs3ZVE3Y1B4bGxmMUtsbW1STEVJZ1h3VFFXZFZUVHVtVHVvZGRaK3lUUS9GL2s3SHJqMkQ3U2JBcUdBbzA3dllqRU5CaTdDZkdoWm5PczE5Z3pQVW1KU28xZGtOT3pLMDAyZUFxOUh2bGRIU2dWQWlCVEJEd2x0N1c3VVY5eW4zNEQwZWt2T2xTYS9DVzN4bnhqdS94bVFmWnUvOUJMMzc0L0VMKzJVT0RWeDl3OFlzZlAvMTdNcG1sYnozQ0hudFY2aXBOaXFFcklUQk5CTHlsdDlOTWtOSWlCQWlCbVNMQVB6NXZkekxXVE5XbnhBa0JRaUFoQWxoQW5tNzJQR0U2Rkp3UUlBU0tnY0FoT1A5ME1WUWhMUWdCUW1BS0NHeUQ4M0xUMkJTU295UUlBVUpneGdnY2cvTzNacXdESlU4SUVBTFRRNkFLenU5T0x6bEtpUkFnQkdhTWdBdk9iOHhZQjBxZUVDQUVwb2NBS0c5c1U1OWV1cFFTSVVBSXpBUUJmcWhiNEFOek05R0NFaVVFQ0lGcElZQnpYR2xKenJUQXBuUUlnUUlnZ0dPY2FVbE9BZDREcVVBSVRBc0J2dlRXOXBTY2FlbEs2UkFDaElBOUFuenByVHJEeWw0Y1NTQUVDSUdDSTdBT3psOHJ1STZrSGlGQUNHU0hRQitjMzhwT0hFa2lCQWlCZ2lQUUJlZHZGbHhIVW84UUlBU3lRNkFEenZleUUwZVNDQUZDb09BSU5NSDVncXRJNmhFQ2hFQ0dDTFJ3UkdXRzRrZ1VJVUFJRkJzQmZFaldPODIxMkZxU2RvUUFJWkFWQW92Z1BIMDVQU3MwU1E0aFVId0VMb0x6ZEdKRzhkOFRhVWdJWklVQXZxZE1KMlprQlNiSklRUktnTUE1Y0o1T3pDakJpeUlWQ1lHTUVGZ0g1L2N5a2tWaUNBRkNvUGdJTk1ENWcrS3JTUm9TQW9SQVJnaTA2Y1NNakpBa01ZUkFPUkRZcEJNenl2R2lTRXRDSUNNRXNQU1dUc3pJQ0VzU1F3aVVBUUVNNTU4dGc1NmtJeUZBQ0dTQ0FELzFkamNUU1NTRUVDQUV5b0RBS2poUDAvTmxlRk9rSXlHUURRSVh3UGw2TnFKSUNpRkFDSlFBZ1dWd3ZnUnFrb3FFQUNHUUVRSllobmRpaVByYXBkYkRIelB1eVVrSUVBSnpoa0Nmc2UvcExIMlZEZTV2c2c5cEQzSVJBb1RBbkNIUU5YZlBMN1pPc1BUK0kreGRjNVpKeWc0aFFBZ29CRHJtN3ZsdDM0UmZwVE14RlQ3a0lBVG1EUUdYc2NzeVQwdml1M1ZuMmFQU2k2NkVBQ0V3WndqQWJIOGtzN1RNUHVnNUt3R3pubnhLVjBLQUVKZ0RCTmJBK1o3TWgramFPODRtVGRsTFRPaEtDTXdaQXZ3MFBKV2xKdHZ4M1gxYWpxdEFJUWNoTUY4STREUThkYmc5VHNBVm1WdW5rM0RuNnpWVGJnZ0JoUUJPdzN0YTNseFF3L2hsWWN5VFQraEtDQkFDODRMQW9iR1Q5aHg3VW1UckxEdWRsd3hTUGdnQlFpQ0F3TGF4azdhaFZ1Umg0NDBZMlFjQzB3MGhRQWlVSG9GTlk2cXVyYjVoQmNzZTF1UFJqeEFnQk9ZUEFkZG8wVGZWMEI2Y1A1cS92RktPQ0FGQ3dNRUhLdlhJdmFvNGo0TTB0Z2dkUW9BUW1FTUVWc3hEYjV2cU1FeHdmbmNPYzB0WklnUUlBUmpybmxFb3VDYm5yeWh2Y2hBQ2hNRDhJSENlTVUxdXpYazAvOXA3Zm5KTE9TRUVDQUdjbUhGVG9kQlNxKy9BK1d2S214eUVBQ0V3UHdoZzkveUJ5bzArUFlNNHIwQWhCeUV3WHdpMDFOSTc1SXM0UDE4dmwzSkRDSXdpZ0YwMTM5ZStMV1hEbzNaZW8wSXVRbUNlRUlEWjNyRFZCVGh2K005VGppa3ZoTUNkaWNEYXBWZDdHWWZaZms4am9PMzJORCt2VVNFWElUQVBDTFRGT3J1MjJqM0xjMFZyY3ViaDNWSWVDSUV3QkpnWXh6Zk40YnhUbzdXM1lXQ1JIeUZRZmdUNElYajhReFl3NGUwYXVRbnNzZGt3SHBDVEVDQUV5bzBBelBMZVFUajRWbDNQeUVsWDdaOC9FeGpuRzBISVNRZ1FBbVZFZ0xmei9FU3N0aUs1bDR1K09oR0x6c3dvNDJzbG5RbUJhQVJhM2h4ZHBSWG8yanZuMVhHWUMyd1FIWm1lRUFLRVFPa1FPR2EzRHh4bmdaM2lYLy8wS1hqblZZdXZuNUtMRUNBRXlvdkE4cUFINVd0RG42akNNRjlraWM2Nkx1KzdKYzBKZ1RBRUtzMm5kcHpQc1pOQU0rODRydng4emJhNVBDOU1BUGtSQW9SQXVSQ0FZZjRSTnJnNXBIU1g3ZnMrVlhONTNsQWd1aVVFQ0lFeUl2REVLOWc3OW9ZVlA4ZWU5YnlXakVQeWhzUFFQU0ZBQ013UEFtdkNjTDlzSEpnMVA3bWpuQkFDaE1BSUFtMy91RnZxMm84Z1F4NkV3SHdpc05JNlJZZi8wK3g5ODVrOXloVWhRQWdNSS9BRk5yai9JZmJra0QxL09CVGRFd0tFd053ZzhNU2wxdldYRU9YbjVuMFdMQ1AvSDVGVjlnMXBYN3AxQUFBQUFFbEZUa1N1UW1DQyIKfQo="/>
    </extobj>
    <extobj name="334E55B0-647D-440b-865C-3EC943EB4CBC-82">
      <extobjdata type="334E55B0-647D-440b-865C-3EC943EB4CBC" data="ewoJIkltZ1NldHRpbmdKc29uIiA6ICJ7XCJkcGlcIjpcIjYwMFwiLFwiZm9ybWF0XCI6XCJQTkdcIixcInRyYW5zcGFyZW50XCI6dHJ1ZSxcImF1dG9cIjpmYWxzZX0iLAoJIkxhdGV4IiA6ICJYRnNnWEdKbFoybHVlMkZzYVdkdVpXUjlDa1ZiYzE5QlhHMWhkR2hpWm5zeGZTaGNiV0YwYUhKdGUyTm9iMjl6WlZ3Z1FYMHBYUW9tUFZ4cGJuUmZNRjVjYVc1bWRIa0tjeUJtS0hNcFVDaGNiV0YwYUhKdGUyTm9iMjl6WlZ3Z1FYMWNiV2xrSUhOZlFUMXpLVndzWkhOY1hBb21QVnhwYm5SZk1GNWNhVzVtZEhrS2MxeHNaV1owS0Z4MGFHVjBZU0J6WG5zdFhIUm9aWFJoTFRGOVpWNTdMWE5lZXkxY2RHaGxkR0Y5ZlZ4eWFXZG9kQ2tLWlY1N0xWeG1jbUZqZTJKZlFsNWNkR2hsZEdGOWUySmZRVjVjZEdobGRHRjljMTU3TFZ4MGFHVjBZWDE5WEN4a2MxeGNDaVk5WEdsdWRGOHdYbHhwYm1aMGVRcGNkR2hsZEdFZ2MxNTdMVngwYUdWMFlYMEtYR1Y0Y0Z4c1pXWjBXeTFjYkdWbWRDZ3hLMXhtY21GamUySmZRbDVjZEdobGRHRjllMkpmUVY1Y2RHaGxkR0Y5WEhKcFoyaDBLUXB6WG5zdFhIUm9aWFJoZlZ4eWFXZG9kRjFrYzF4Y0NpWTlYR2x1ZEY4d1hseHBibVowZVFwY2RHaGxkR0VnYzE1N0xWeDBhR1YwWVgxbFhuc3RTM05lZXkxY2RHaGxkR0Y5ZlZ3c1pITUtYR1Z1Wkh0aGJHbG5ibVZrZlNCY1hRPT0iLAoJIkxhdGV4SW1nQmFzZTY0IiA6ICJpVkJPUncwS0dnb0FBQUFOU1VoRVVnQUFCK1VBQUFPQkJBTUFBQURWVVc5M0FBQUFNRkJNVkVYLy8vOEFBQUFBQUFBQUFBQUFBQUFBQUFBQUFBQUFBQUFBQUFBQUFBQUFBQUFBQUFBQUFBQUFBQUFBQUFBQUFBQXYzYUI3QUFBQUQzUlNUbE1BaWF1N1JDTE4zZTlVbVdZeUVIWjJiVWZvQUFBQUNYQklXWE1BQUE3RUFBQU94QUdWS3c0YkFBQWdBRWxFUVZSNEFleTllNVJzV1ZrbmVQSVJlVzgrNG1iNmFLekZ3bzRjVUF2YjBiallRcUcwSFVrRHE5QzF4a2ltRldxcGJTYjRxQnBIaWRzVVVDVURSdHBLVlFsaTVKUnJHcVhWdVBaSU02SjAzZ2FYc0p4eElrWWRrT21laVZTc3F0dThNc0hsYW1hV3JyelVoWnZCclNyMi9QWStaKyt6OXpuN25EaHhIdkg4emg4UisvbDkzLzd0L2UzSHQvZlp4M0hvbVE0RWZ1allsUE94Z04rTUpSOGhRQWhNTndLUHRoaDd3YTVmQnU1L0NXbTlEd2k1Q0lIWlF1QnV4cDliaDE2cHlsOFEvbmZPVmlHcE5JUUFJU0FSV0JNcURxWDNSdnBmWitkZnYvdllIN0hMTWdIOUV3S0V3RXdoVUdQZnVsdjZFQlQvaTZKWVMreG1senMrZG90bTl3SVEraUVFWmdDQjFSZjN2MDBXWTQyOWtEcy9DcVhmeG4rcDJkL0JINTRhRGZRdUVQUkxDRXc5QXFVR2F6RzVYbTkvMVMzUEdXUG5HTm52WWQvcmxXL0ppNWo2NGxJQkNJRzVSK0FlOWliblQ4V29EaWlhV3k0ZXF4am9yemlsMW0wSlQ3a2xYZlJQQ0JBQ1U0MUFxY1YySGFmK3BDakUrazFabGpaak41MExzaXRBYU9kVVJ0RS9JVUFJVERNQ0t3eXo5bGN6ZHNnTHNmSmxXUlErMEc5WFZSZmdPQmV2eUNqNkp3UUlnV2xHNEl3ZE9HVW8rRDR2eE1sbFZSUU05TGZZdTVUWFdWUGRnUjlHTGtLQUVKZzZCRXFNblRwOFUvNEdGNzErVFJYZ0VzTFlqdkk2eTAvNWJuSVJBb1RBMUNLd3lOaXhzd0wxRnNONHArc1g1SWd4ZDVIdkJwWEljTzlqUXk1Q1lIb1I2TUZVNXl6SmNmNXMxeThKRDlTOGpqTGgrMG5JUlFnUUFsT0hRSTE5eFhINFBQNEtGMTNYK1hLVDZldjVzbnN3YitvS1NBSVRBb1NBamdDVzh6ZmdoM3AzZWJBK3QzY3d1Yi9GQTkySDV2WVNDZm9uQktZWkFWanZMa1AraFh1L1daUkNzK0U1ZkxkTzI1OWZ4M3lBSGtLQUVKaDJCRFladTZhVllaTjNBTjV6bldHZzl4ZnhTOC9JQ1BvbkJBaUI2VVdndzgzMi9xTXJkdVAyT2diNkxSbloyNWN1K2ljRUNJSHBSYURCem5YaFYzMUQzUkpPNlZUa0s3VkkwempVRTVLYkVDQUVwaElCSE1EelorKzhCTTJ1TEVjTjc5Vmg4NTVkZFFQV2pMNUJKcUovUW9BUW1DNEVNSHYva2lGeC9XMmU5eldNdTdDaXYrbk8vWS9NZEVZbThoQUNoTUMwSUlCek42WnBidUY4VjhpKzd1bzYzN2dYcjliZjdTL3NwNlZzSkNjaFFBaUVFWURaL29vWmVpU08ySzQyUFIxL0paVCtIYi81OFc4SUxBSE1QT1FqQkFpQmFVR2dyZGJyVXVJRmR2c1BQLzU1eHQ3cUJWU2c5UHc1bFFub254QWdCS1lZZ2FyMzNyeFdCSDRWSG1NL0owTktkd2kvdUNWUGh0RS9JVUFJVENzQzBHZlhSS2NWNEZYMzl1Ly9XODMvMG52Wm0zVy9Ga1ZPUW9BUW1DNEVsbkhUNVhSSlROSVNBb1JBRmdSdzJsNS9SVDRMS2NwTENCQUNVNERBUmNibzlwc3BxQ2NTa1JESUM0R2VkejFPWHZTSURpRkFDRXcyQW1jTUYyRFNRd2dRQW5PRFFNMTllMzV1eWtzRkpRVG1IUUZzMVczTk93WlVma0pnamhEQVZwMzdLWXM1S2pNVmxSQ1lad1FXYkVkeTVoa1FLanNoTU9NSTRGcjcvb3dYa1lwSENCQUNHZ0o0cTA3N0lKMFdRVTVDZ0JDWVNRVHFqSCtma2g1Q2dCQ1lGd1Fxd1Z0eTVxWGdWRTVDWUU0UmFBUnZ5WmxUSEtqWWhNQzhJQUN6L2NHOGxKWEtTUWdRQWc3Zm5yOU1PQkFDaE1EY0lNQzM1K2tZM3R4VU54V1VFQkJmblQ4a0hBZ0JRbUJ1RU1EMnZQR0IrYmtwT0JXVUVKaFRCSHJRK1RrdE9oV2JFSmhMQk02TTc4dlBKUVJVYUVKZ3JoQ29CVDlXTjFlbHA4SVNBdk9IQUtiMmRCdmUvRlU3bFhoK0VkaUF6ajg5djhXbmtoTUNjNGNBLy83a2pia3JOUldZRUpoZkJQQk4ydUFIS3VjWERDbzVJVEFIQ09CeWU3WTlCK1drSWhJQ2hJQ0x3QjUwL3BUQUlBVEdqY0JmdjV3LzQ1Wmlndmd2RndaSUJ6cFBSMjhucUtyblZSUitOcXlZRTZIdjNwa09URXZ2Tk9UY0t3eVFha0ZBRytJSFBaRzFjTSsxWU5MRS9raWFpU21NSmVFZFY4ZkMxczQwME9yc2lRb0tMVXpuMS9xN0JZbWNOOW5tWloxaWNUcmZnczdybkViaGpxNkZDNmx2NW91bU9Zb1NwZWN4V1pzbVpxdExYNm9VT1F2VCtlcGtia1YvOHIwaGtKNjRkYXlGRmFiekphajhMWTNSU0p6UnRWQnUvbXhLQ2FKcHBpU1lUelpMelJxRXkrd1p3ejltajlucVJpcE1qK2tOUGovV1Myd25QMkk1VXFxR2g3ZFM2MjBCQm50RnZQNjJEcDIvSFdCVXREZXVGdTQ1VDFmemNUU0xMazhjZlV2TkdzbEw3TXVHZjh5ZWNLc2JtVUJGNlh3ajRwUnA2YzkvKzluZjh1RFZrWlV2d0toc3MxMzBncTIvRUozSHQrZUxQWHBiL2xEei9yODN5eHRWQ3p6VkJndDJkV2JlS0Y4VXpVbXNXYjBNRTZielRxalY2Y0s2N2s5LzMrZWVkMStxY2VKci83SHQrVTZYYkVFNnZ4aDFJVXdiTForeHErSHlqU1lFZysxV2lOTXEyemZEQ3RINUN5aDNvZXVkTTNiZU1rc1hXUXVpdUczTFNtT0pHeDM4cC8vbTN3dE9CaUpwdGtXMnF5YVNvL05aYTFablAyazZIMnAxdXJEQ3pVY0p4cDRNaFE4TzRMZXcyWjRka2JVZ25hK0VwOUN1cEcwaHlsWFhNL3BmZkVubVNwaHJKWUJySVRxL2laTGZDUFBPTFdRSnM0anlSNHlTUk5hQ1lMcGdPU0YwSXFwSC96bS9aa29ZU2JNdGNsMDFVNC9PWjY5WmpmK2s2YndUYkhXYXJLNlRIK0pLTnpjc3ZlaEJrWmYxSDNBZnJ5dmZFWVNMMGZubFNIdkpxOTdmZ0RSWDNVS04vdmZFT3RaZUNKeVZLVVRuNnlpM3BiL0pEWU1hNnpxckRkMk1FbDBMTHRObStBTWI2ODkrM290NWE3bjVmdjc4Mi92ZzdCdEtIMDF6SW10V1EzZmlkRDdZNmpSWlhlZnk1NzRXdXByV0NzSGIyNWNVemRKN1FNb3pVMlhYK1M5WWh2VHJ6R2dvaWpOM2xHdGoxUGt6eHI1b1NDTThwY0NrdXhDZEIydkx3Qm9XSm1YSUdwOEVWZ3dXY2JYQXVleWhsN0E4UjlEell5LzhSeHJRZituaFlYRTBKN0JtdGVKTm5NNEhXNTBtcTNKaXFEOVFudUVjL1BXT0xTM0xla3R1RldmVytidVpQclI0UEJxV3BhSml2emRHblVjVHRuMGw4dXhjU2NjZGhlaDhEWFZ3YXJESjFkTmpYd2xlcGgxYkMyQit5VDd2T05PL3NMV0tscUxiK21KcFRtRE4raGhQbk00N2dWYm5pK3E3b1BQYnZtOG9GMThaZFBVYzk4aW1uMVhuWHdiS2h6cGw3bDZQblpCc2prL24rUjY1Q1lRcitrV2pSeXhHNTZFOGx0NHhDRjFxZndQTEtiTnJqNjhGenFobG1mTTRUdFdZVDk3RG1MYXRFVTl6QW12V3gzUHlkRDdRNm54UmZkY0ppNWt4Kzhsc0xtUTFqNEF0eStNaDJYUisrWDBnSE5iNWs5Z0YreGhiQm4rRjNTYmJ1am01TDJLY0Y5M05ycTF5Y2duRGhSeFhITDQxc0tQSXhkY0NUOWF4OVg4T09xY0RSY1JaTlJDTHB6bUJOZXNYWlBKMFB0RHFmRkY5VjF1dXdmMmdwQzVrRGF5Nkc1NkJONFBPbHovK0xMUUhQS0Z4dmhwNzBBZVRqcXRKQmM4NUhWY0t2VUVyOGsxak1WS0V6blBkTWZ0ZHhUd1B4eUlIRlQrYTNUNitGampUQzhGTlNoN0lPNmR0N3ZDZWhtNzJqS2M1aVRVcmk0RnlwYldHS1JKNU84eFdaNk4rSk9manRzajRzQ045aVNhU1ZtNjdPVkxyL0lNWURyd25xUE1iekNOdUYycU1MV1B2SENMN3hreGZ2cmJSY1JXaDgvd2pOa2JINGpQUHc0VWg5dEFwTjdYZWRFQXRjS2Fyc0FHRUhteDBHL1BKTTYwakdVQnpFbXRXbFc4Q2RkNXNkVXBTemRIVU8zRXRQSUd6cWZmVkluM2QyNmRKcmZOb0dmSUo2dndTbHBZeHp4aGJSdVZMa05uV0lWMHdSdjhpZEI3N3gxYk9NVUFORTFVWGs4RGwzL0x6REtnRmtiQnBNV2hpc21BY1BXN0RMNmtPb0RtSk5TdEZuOFJ4M214MVNsTGZnV09qVC9tK29WeklHandPMHZONitHdzYvNVlhS0J0REpKZXJwNDAyRmpuSDJES2FWNnAydy8wbDV2V0JRdDRpZEI0RGNlcjZzNEFZREtyNGl1bEZEYWdGa2VyTXNwT0E2akY2Z2g0RTMwbEdjeEpyMXBPY3Ixa21ibTV2dGpvbHFlL0FnakN0MEh3dGVkbW54RjE3M2pIUTlEcmZmL04zL0phRHBoYlcrWnJWTktUNGo2OWxiTEF0akllcUJTdUpjR2pBYU9kRjZEeFhuUUtQM2phQ0JodG5RQzJJd3A4WTB4c1hqNzJBN1ljamRzMkRhZ0ROU2F4WlZja1RxUE5tcTFPUytnNmN2ajN3ZlVPNStNSGRVelBIbmpmOVRxM3pMcmtLS0FmSCtUSXpkN3ROeG80enZwYXh3SGJCM0xCUVNlR3FlaW1LMFBrT0dIdVlTNTU1L29mT0dnMnFCY0Y4MGJLZ2g2RDZuTWRwUS9CVFY5UkJOQ2V5WmlYS0U2anoyQllOcm91bHRPNC9iTTdiWmtoaUh6ZFhkODNVdlJ1dXZ3Q2R2MlE3NnFaeEgxL0x1SGp1OE83UEs3b21rdVBVZFJOMkVUcGZCZU1EZzJXZUhoamJBK2E0UWJVZ3VLc3RXMDBXQ0dyTVI4NThuUjlFY3lKclZoWnRFblhlYUhWU1VPMy94SjlpYWFHSm5NaXF6REJlaHZZVjExR0F6bDhZc0FZWlg4dm9mVlVjVlF0b2h3QmlVeGU2Q0oxdm9nNHVKNnF0TklsZ2JBOHMvQWJWZ3N1RkdlWTZFZFlLZElxOHN6cDBVdytpT1pFMUsrR2NSSjAzV3AwVVZQdHZXK3BIaTQ1ekltdGdlOTdwN0xzWkN0RDVuajVrV3NRYVg4czRnbDZnU1d0NzJFcThKWDF5VW9ET2N6T3FlZGhQc2M3RGdlbExZUFl5cUJaY3JyV1FUSHg3M3VpYkFKanNHQWJSbk1pYWxmQk9vczRiclU0S3F2M250RDMvdjdva3o3YmQvd0owL2lqVWpyUlN3RG0rbHRIYWQ1d2pOR0ZUSHVGYjE0MFFCZWk4ZUtQWkd5NHQ3TE1HWVNkdzM2UXhxQmJjMUozUWtYdStQWCtxa2VKOWdMVFBES0k1a1RVcnl6S0pPbSswT2ltbzlwL1A5bnpacTcvS3FVdTZBSjIzR3NhMWdveXRaU3p6eHR4REc3Ym9IcHAyVjhsWWdNN3pJemx5dUZSODhuTnNzdUQrNktCYWNIbnZtV3QzQlBMdCthNG1HTzhEcEUxdkVNMkpyRmxabGtuVWVhUFZTVUg5ZjB3T0pmUitZREtYdmoxL3ladlkzdDExOCthdjh4alI0c1VhVzh0WTQwb0g3dWJjMVJPMnFZMXVCZWc4Zi8xbEFDN3hxTVhIb2llN1pxUVlXQXR1Nmd1aFJzWHR2VG9sZnBib2hoc3drT1prMXF4WG1rblVlVWR2ZFRycXJodDc3SVk1Tlp3aU1rVGZubDk1eWt5V3Y4NHZERHBpT3JhV2NaR2ZmZVVEcm0zUHJLcjFCQVhvUEFaaU5VVTJheUFYWDhjY25Ia3hFeDMwWFF3WmVrNEN0cDg5Q0w3bHlqaVE1bVRXckFmd1JPcTgzdXJDRFNGc3BRbW5pUWpSdCtmM0F1YmRvTTZYUDNnWGUrZzVFWVRDd1JXMGlNQlVlVVczaHJrNVB2VzhadituLzBUbTlsckc5OS9YdnovQXFQekJlL3MvSGdqRGVabHc2RXZ2YXAzLzlJNnovQTVKRTRudXMyUlYwY0pSNS8wZC95SjBvTjhUa1IwNW1zRlhnTTd2Z2EzTmRpaDREL0VUVVQ5SDV1RHNPSlphY0J4ZUQ2L3Q2dHd3YzllOWNMY0Q4MGxRbHN0NUM4MXBxRm12Z0hFNkg0RnFBSnFzWGdzWHZkWHA1Qjk5OE5ZMzhYZWd0SUdJSzBKeTNlVFRzNjVIc1hLZ2srYkwyMk05WUtQRzJBT012VkVQaTNOWFFEcWc4NXNzdUJmMmF6d1JZLy9FSStUcS9FZFl2OFhZeituRTF4dU1OUm43QlVNaUp4eGF2b1BkK2tkb3Z0ZmFhamRpdWNiNnVBTHM1M1Z5SVhkVmpPL2dvTEpwU1hyYU5Lb0FuZThBZ0xSck0wMUtXLzNjQWRMZXM2K1NobXZCY2Y0TTZ0dGs1enNxa2VnQnU1b1hUdWk0L2hJU1h4ZktZU0pNY3lwcTFpdGZqTTdiVURWUnljTm40NkszT3A5SCtRdXMzMlRmNjV3WTVsUmJmajlQd0lXc3NqY3ZzMjB6TXFEekZmYmR4MDdwdzNJMlo2YTErQ29nSGRENXVxWThJc2RIR1h2OS8vM1liemRRQ1BFSW5YOTFIK1A1dTVrdXpuS1QvZmZIemw5WFRkMndoTGJaSDRCUStRdm5hdjVhcXJFdjdqcWZhckczdWl6c3YyNm55VVUyZXhXUmVsTWIvUXZRZWFpU29VdDJDUWVHMnVxbkNkTGVjME1SQ05VQ24rN2YvQzNIK1pHbWNWRkcwQTZBRmFZMjRYSEVHYVpySHRVUXplbW9XVS82R0oyM29hcVF6TTFoNDZLM09wL1JHYnU5Njl4OWZ0ejJ4MnBFMnZMN2VRS3V1ait5TFFWTVBZRngvbkZQYWM2U0Rra1YzdGdPRFg0Vm84MklWdk1UUEVINXJMOHJFbktkTDdVK3dOME4vVld6cXN1ODdQMkx0UHpXRnFISFd1Z0MrMGszcnFwMHZzT2VQRWJZV2xBV2o0Yjd0K3FXZlE4U3kxYXN4Vi9RcHQ0RjZId1RYTVUwUTJNNXZOTmFQeS9GWlpXb1lkeForZSs3aW1Td0ZvQi80MXhFWDlLTWxRNVVmRnZsNFE0K3J1OXJJVzF0SlJTa0NiaW5vV2E5MGtUcnZCVlZEWU44bkZZdWVxdFRiRDdCUkUzVjlqRlFxRURIbXQrUERyZ3FhbHFKOGREVk81WENIT2NiM21lYzFtMGpvY3FqT1VBNnFHZTF3Slp2VFNwVHVmRXVrWlByL0QzdS9QOUU2OGdlbCttd3h0eFJMQ3loSGJtK1hKUTZqK3R2dGtTT285QzZRaEhpdTFDOFg4QksxMnpWWG9wRjFsZHBDOUI1anRPQllwRFdFVlUvc0tnL2JkSU0xZ0l2dC9leHFvN2U5MVFEVW5GN3I0dWxvQWZDZnBjZXBEa2xOZXNCRTYzelVhaWFpR2IxV2Jub3JVNHlXRzY1dmU2RnA1cjZLdFNhWCtZSi9UZThGbEgrajFXdFlidkpESjFmWks1V1lnQStEVkd4QmxUUUp2eEdJWkswRExzRFY3RnROK3VmdGx3akZ0ZjU1bzRJdzJid0ZUZlNLZmtqVHR1ZlpsdEN5LzRjdWVuWnBvOWtkd0ZtdXg2OThOK211NHpuOTJQcHJkNUxpRUZMWmNsZjU3bnVHT09uNGpXTUk3SitVS1liSnFGQUxTQ3kyajkyazZ6b2s3aWpRRWJBb1BXNG1FK3lYMUtFQXpTbnBXWTkrU04xUGhKVlZmQThISFl1ZXF1VFhPcmVVTWJiakY5Vjl2d3lUK2dmZWRVVHRCMGJPbCtYMDc0N1RMME5VVlFCRlU3NFVIbTVBeHF0KzZ2UzdNdEhFTkhxb1BQLzNpc0xpaVVOUkJka09yR2R0dU9Sc0lRdStLMjA0K284S0Y5eDA4TW92Ky9sRFArMVhYTTluNzM2VUtwa1VKdGQ2YkhxL0tmRmgrbHRQNitRK2FML2VVZWpqNS9SS2VOaUl1dEg2enU5L0lGYWNQQ2lnVmZvaFpadXdqeFRGZUJtaEtuWTcvdWN1NDE3UGdJMHA2Vm1QVVFpZFQ0UzFiaXFjTXAvYm1zS0lreTFJNTJBbll2ZTZyelVhTU52YzUxTmZmWm16Njl6ME4xaWpPRnRqai9CMW03b2ZNT2IwaS9GcVk1T21vOERBWjNIMGFKVExRa202dDZzazdlbVF4NERuWCsrcDZQUVB5bFFWV3Q4VFRYZnNJUnFsN2h0dWpxLzU0dFE4NmNJbWhDdXMrYU43cGoyV1BhdTBYSHN5Q3cyblMrM2VGSHR6Nm5NR1BrUFJIMGhJMU1OaW9pc0gyQzdiV1FPMUFMaVZ1VGtwbWFVdnUzUG1nU0JFdzJjOG9kaDZOOVJkQU0wcDZabXZRSkU2bndrcXFya05zZDFlMVBnb2JKSkc5bnNYUFJXNXlYdnFZWjRwcy9lN1BrTkZwcUhuMEw1SHY1VmtoZWgyWG9LcUtKNzJzcDlRdzYxOVdBVGNwTWZxMXpLVWVGbEZKb3NnOUREWEpOdS9PK3BMY1lUcER6bE1kQjVsVVdOSTJoQmwzbWtlRHF5V2RwQ1QveWhmTW5WM1lhVW0rOHV5OFcrcEtYK3k1SkJCL3gzVmJCMG9IdFZjdHQwM3VnNVFVRi9mTWtsdGVBL0w3T0ZhVEJadkQrNmZrN01qcGFQNm41cFhLSTlieTZFR0gydTF3dDBrbTNVeUErSjU4Ly91QUhMNEk0dlVvRG1ucW94Y0ova212VktFS1h6MGFpNkdZOTlCSFFYZENUcTBlZFJNa3NFRjczVmVVbWJxbjU2Q21HK3FlbzE3QWpkbEh5OGYyNjA2Z3AzT1doNU5mZm4xNlRKb0JKcU1UejdYd1QzM1JHR2xMNENDeDVRMHgzaGNIOXF5cnNwVTZMOUs4VnNTWlluT2hra1BSVFpiYUU5ZjI2L0lIUWVmYVhxV1pHenEzSFhuZXV5b3dGUll5cmlKc0lvdGlXVDIzVGVlVDZ5MlI5dExKUVVndjhuUEdjd2NGaC9kUDJnSWV3WTFBSzFnTGdqcjh2RENPQ3VjZHowZTRFVFZFZEdFZCt5cTFFTjBLd3BuZ0RkeFhZeWE5WXJRcFRPUjZNcU10cGFQWTlZYkJsSTZSN2I2WllJTG5xcmMrWEVDbDhhMVU2MGRocVIzODBUL3VWVjRvV3V5YkZPcGRMSCtRdHllTFdQbHA0SlRtWGxqZ292cTZ1ZlhqamFWTmR6NGcvOW1OUnZQcjBWVFFndFEyMFJOeVZMRVBKenFlV3BMYlRuYS9pNjBIbjBhV3IyQWlaWGZUcUdhMGt5NElKY01hS0VSNXZiV0hVK25HT0lrRHA0V2hZVVExQkEwdWo2T1FzZU9UQnJnYk5wZXRNajMvZ2htRytxVVVWNGtVdzlEMzNQYjdsaDNxOUpjNHBxMXBVL1N1ZWpVUlg1YkszZWdDV1pKNHFMMXVwY1FtZ3BXeDVKT0x1U2VsUitHUi80UjFZNTIxZ05EWEM2em0vSzZlZkNJeDhJMElCM3pkWm9LN3lGR0RxUGZrcG90a3NBMm52YkkxVnFlUU1NZEY2ZDlHcDZYUUlXOXBwS3dMSWh4aUpyNkluUGNGbk1VbEcrQTQ4SFAwMi9MOTJCL3hNNXBjVjRwZGtPVkNvdFovNDZmd2FlRWdqRmNWaEhkUDJFOW1QTVd1Q01WSm52ZU1leHhuaFR4OTNkbnIraFJldE9rK1lVMWF4YmlDaWRqMGFWNTdPMmVoMlZoTzRvTGxxcmN5bTFmUDJwYU9OZ1ZQNEk5c2dxNTc3TGZzZmhKUTdvL0g0RURRVDNXRDhjQ2RxK0NvcG90QVd0VFVGVU5aTmMvNTJ1U0FHZGYwWlNram9QUGRSVUFtT0k2QUdzb2NoK1czTDRiemlkSTIzWmcxRXNxc2wydnVJeDVZWjdOZEdRZ25DbDJKZWUvSFcrQnA0S0NNbG0ySCtBcVVRMDh4b2J1VHpLckFVZVluU3FQTUI5QWpvUC9FSlRRWm5VcERsRk5lc1dJRWJuOTJVUncvL1dWaDlPTmpBa3F1NkNWWXJoVGc3UU9MR21uRTVVL2dqR0RYL3V1eXJudHlxcHJ2UFFwdjdmcTVpZ28ya29zeGRiUVJzeHgzbXpaYlRWOE9LVEF4dWxsMUxuTWQvV1ZJSnJKVmRyYXlpR2NuYnJUM3h5L09hYnE5SUxPOVBUMGgzNGJ5aW1OWC9Cb2FYUkp2ejU2enhrakJSTWt5SGVHVjAvb1U3TXJBVk9GaEw4S3NjMDhHeXF0WmVJd0ZnZW1ncktIQ2JOOXZUVXJGdUFLSjJQUnBYbmE5cGF2VVJraVA4b0xscXJFOVNRVG81TjZLYmxXQzBNM3pHNkdSSUUxU2liK3lXLzQvQ1M2VHJQalgzc3RUc2hBaUtBcTFvM0ZGWGhXUTcxWU9pcDFyU09mTjRxRVlwMUlEMVM1emNOblVkcEJWRnJLTzhRR0h2RC95Wkp3QXppTjFQTUVOUzZRU1p3LzB0c1d3YTBrYU1yUGVxLzVVdVZ1ODRMbVdVbEtJN0RPaUxyQjZWV0RjVWxhdFlDRDJ1ZzBMZStQc1R5b2psNzR4dXEzVkFpTjhDa09VVTE2NG9mcGZPUnFQSnM5bGJ2RWh6cU40cUwxdW9Fdlk2dk1NYjRGWlhmTGdTeXFpbmhvcHpUL284eXJhN3o0dUFJdEw0ckkvWC9Ic2dZeWkwaUt3ZzFneUdjbHEycDZiY01oczVma2U2bTErVHFacXR0dWFZTmUyaUg4MFFEZm81TGhDL1BsV0JRcmtEcmw1d3VzUmQ4amZjY0ljZVdERmYvR3ZxNTZ6eXZBMVVKaXVPd2pzajZBUVR5YUpOSDA2d0ZIbmpHUlZDZ0tkWUJuVDlCR2hVWGNKZzBtOU5UczI0NW9uUStFbFdlclFjOFZPTUs0REdVTjRxTDF1b0VQY0M2N3hGR2YzTkQ4WWpLcnhJWUR0NVZ5Ulord1JzRXk2cGlkWjJYeDA1dTdSZ0VYRStqNHBQeG94RVlBTVZzR1lpOTRxZDJYVGFkNzVqamM5TXR1VDNVSzc1OEVaZDc3Ly9IM3ZNaWM3NmdzZVlqbVBZY2FGR3VzK2tqbkx2T0M1R3ZobGdPR1JCWlA1aVIrNjFERURWcmdRZkpNeVRpclJpZk1XRHhQZUx0K2RCVVVNYWJOSUhsdE5Tc1c0QW9uWTlFbFdlenQzcUp5QkQvVVZ5MFZzZXBZY2FtSnEzQSs3TGlFSlZmSlRBY3lLbzJiemNQM0tnRmFjTTIzNnZEdUNvZWZ4bWhLRjI2dFJuYVZrQmtoYWMvVktuZ0NMV01mVDJXdTIwNkR6cjZuTHpwTmloN3FQUHI0Q21lbitYa2VKK21QNy9DQThQUG5wN0d0cmpXZXR6Y2RSNUxZZXVSaDdDWXNTRlI5UVBNOTgyTVppM3dPREhWNEdLY0dpa0Q0L3lSdm9ZMEVrNXh6YnJsaU5KNWZOckFmWkszK2dBd2lid1JYTFJXeDhud3dXSFhvN2RwRExJUitlMjhrVlYxNWNzZXZZdFB5N1Q2T08vZ2pSNzMyWkxSNm4vdnl4Z1I5cFZYT2lvOHZhSHp4cXFQcjdVdnk3VHkzNmJ6UjZZV050MkJ5eDdxNEwxYTkrbDNRWlByRS84ZjhGUlVrWVU5UzlzbDhESzIvSEVyZDUwWGs0enVBQWtIUjBmVno2Wm14WFNwR0xYZ0JyM1NBMDB1Nzl6UWk2WU5yMm5XZ3lHU1FYT2FhdFl0UmFUT1I2R0tiQkd0M29BbG9TZUNpOWJxT0NIMDFYMUpzTzZQMVFpS3lDOFRtLy9JcW0xOXUzRm5WMlFhUStlZFN5MjNZZWhqcnB1eXNRWGRPcEM1MUgrRnB6ZDAzckR1Sm00WlZiT3ROVjJkdDRkaUYvbHZPRnM4WEk4VDZueFRFLzVJUTFZVlJVTS9kNTAvNGNJcVR1a2RFZld6RjVwRUdMWGc4ZnNDRndMUGpzN2YxSGx1YTd5aFIrdHVnK1kwMWF4YmlFaWRINzdWNjZna2R0dnJUbXQxbk5LSmRqSzZZallaZTM0N2UyUTF1M1lrYTEyVGFVMmRkMWJmaDFxM2JHV3RuL001dE5wV2w3a3RjM3VqWlhBRC9MNUs3RGtpeG5tOW4wSFhjNERVMEUxTEtDZFQrbUJUeXNubjlsMGVGdnZnODVSK2ZBOVpkbnl2NjlJa3pWM242MkFvenlNRytRN2x0OWRQTzRTQVdRc2VpL2MwSVVaZ0dXN3V6OGR0endmMi9FRm9QeWo2aE5hc0syYTB6Zy9kNm9QbFR1YTMxbDBBUlRTVXB5UzFSbUNzdHVhWGljMy9ocWs0UEhMZEgzTUNPdTg0ZnkydVY5c3hhVGduVHlNVDA2YkhYbnlGTnlKam5EZFBheUgyU29DVWRUMS9adHJidld6MlVKZGUrVDJjTlJTWkw0RjJnanhDZm55ZTBnOUQyL1MzOUdXd3RnckpYZWRSRVAzTWtXU1o1dDlXUHhWelJBQlpzeFlrbi9KTFd4QkU3MGFkVGUzY2g4Z1dXTy9MckNHYUlEUXROZXVXSVVibmgyMzFHaWhET1MxMXA3VTZUcXJqS3hubVhNR3gycExmemgrVmN5TVFjOEZmellaMDNuRmVoaHhYQXpscVY3bEpNYndOVmtGYVUrY3g3Tzc0bVp1V0JZRnROT2lZeEVIME1vallReVgxZFRSZ2xJeVBUZGRrV09UL0JYMlk1Vk9EZzBCU1FMd3RnNnc2dnhINXZ2VGc5K2VyWUtqNmI4a2w3WCs0Zm1xaFNZUlpDejZuNVZxZzh6a3h6dHR6dTBQWFQyMjZUSnJOTUlUVzNyd3o5cHIxU2hHcjg4TzFla0Z4eVBmblhTbUNkYWUzT3A0Q2c0TlVWaGhkamQ1WkVBam1kNmtHZi9YdGVSblg5bmR6TFRyUEdYT04wNTVWR0JZcy9ZN05iZzhWUFBSem9ySExNcWhBbTg3M1RKMUEwN3VLOU5iUTYxdVNFaWF3VUNTK3NqeVZRWkgvK0R5bC8vQWRrU0NlSUtNSTIzUmVicFlnYStnNTlVbmJYVTFrQ1UrUzdHa0hoNGJxcDJVb0xpZGcxb0pHRXJNaVl6TnV6eGhNVGlDbmx0aDBtalNucDJhOVVnelErV0ZhUGFjbzl6NkJXUERSbTVvSm9WRHF5MXFZM3VwNDhKRS8xMGNYRzFLZFVINk5sT2JrWTVwcXpGNTQwMmVyNmZ4L2tybWdTL3ZTN2Y1ZjV5TzhabDVRc1JWZTNrUGxoUVA2ZE0zM3R5MXQzYWJ6Q05NbU1seU5kMERFR2lxL29vMzRxcGd3TjdVUjJ1Y2NjUEhQVS9vUHNxamRTaThVZmFPUzI2YnphcThMc2dVZkgwNmZoZUhpR1c0WUlTazhrZldEM2pqWXpNeGFRSzEwSmNPcXVVcXNHL09QZHFCSGtKbkV2MGtUU1VPOTJHVFdyRmVJQ0oyUFJCVnFIZFhxT2NVNnIxUDdZM1NxTHZjb0xucXI0eW5SazE1MWMzQVQvajZjLyt5WSs2UHk4N2p3ZzZ6NlpKc251S1FGK0RyZlliL2k1VWJsQmxweGRSdFJRWnNDVDEzaHBUN2tMdm1nQVc1SnQ3QkRCcHVqZFFhSTlhZUdGRVlVc1dOaERhMzdJL1JGa1FreVhQRTVScmhhKzNvRUYxdjN3dzJlT3pMSXB2TlozcDhIb0Vsa2xPenQvOUgxZzRialkrSm1ObXNCdHBoKzE2UGEwNEhtaDNEMHJCaG1RdFdscERGcG5saVMyblRlV29mYzNoQ3U3NEpxMWl1QVhlZWpVWVVDYmlPcnJkVnppb3N0WHFuVzU0MDgzbmdpdWVpdGp1ZEFCWng2T1U5Y1JXcDA0WS9NNzZVTi9HMUNyR016YkU4b2xCdW1kQjZUUHJXbFo2Z3QwaTMzT1lWcVNFOXNPby9wd0ZXWE5QOUZqNlBWN1laNFJkZldNdEJzTmFFd054SERzRFcwZmx1Ulg0eFJSOVlBQUNBQVNVUkJWQkRyMkQxalEySGoyMVcwNWhDZnAvVDl5R0wyVk1JVXVDc1RXSFZlUnFiNDU4ZURkVlJTa09DbXlxajZRZFF6UVpJbXZ6Ti81cmFwVDZqNFhGR2ZBRFV0ZzdkUDJhQTVQVFhyRmNDcTh6R294clI2SDVKa3JtZ3VpRkd0anRPcStMUE50aGlFeEluWjZQeDIvajJ0clhncGFscGZyblIrai9rcXJRMTVJc3RGWVgrQ1BJSE93NnJ6VFgxaEFLM1ZCbFQzNks5TjUva3JJRDV4dENlM0pkcEM2Mzduc0NyVXdGM1d5OUt2Nk9PV0RNUzQ0bE5ISUxkVmJhdEk0Y0RJb3dMeTFublE5dXRTY1JuT3NRY1NNa2VnZmdEQWdZeVMvMFl0OExYU0RTOW0weGpZTWJESUNNUmpKTmU5a3BiOE4yaE9UODE2NGx0MVBnWlZKN3JWUzBDUy9rZHowVnNkcDRiT2VjZWplaVRxZTVVUG1kSDV2YlNCUDFEeEIwWVJ0OGEwVVVIcGZNZmZRUzdwWXk3UGNuU1oveUpGbC8vclQ0WGhPZFJEbkpyUkFLRzFweXE2THRxWFZlZnJlcm85T2FMWVF1dStGQ1V4SFVDTDFvenkybkpmOFlWbFFKdHRJQmdkWjdCeEwybEU4dFo1OUdFVzdEVHhFamc3ZmltRDlZTWVURlNRVHNXb0JUN1B1T0xGN2huVmc5cVNFWWpIVEROTXlhZHEwT1M5OUttS20rU2E5WVMwNm53TXFqR3RYaFU3b1NPYWk5N3FPTEdlMzA1YTdvREd4K2ZvL0hZQmF1WmVDUktkNlVPYzB2a2pmMzIyR2xqVWJianpEOGh6R09SUllYak0wRE85UytHRk9GQ1p4QUxKdXA3bnI4cjc2VUQxV0dTeWhkYjlXZktHS3loRTMxRThhdHZLcVRuYW1vVVF3WHpnNHdZYTdibW9kWTE1Ni93bVIwbmpsY2FKUXZMcTUwK3dma0IreTQzeGY0MWE0UE9NVXkrdXJWd2lvT1dqNmI2NklOTjV5ZlUvZytiMDFLeFhCS3ZPeDZBYTArcDFVSks0bzdub3JZNVRRbFY2Mm9RNjQyUDFSVDdoamM3UDg0UWZWTGMyckNNZWkrV3VuMHpwZk5WZjhxMm9XL2pjZEJmY3huWmlhVm9Wa0pkU2VrVE56KzZCbTJ5cU1Pa0x4dFp4SGx0aFQwbXBvSkdlUXRwQzYzNTVWdDBsQU1hNWZablhxeW5wbGY5TlUrZWRwbUZuNEtsT0pFKzQ4OWI1UFlDa0Z1TlNwQ0gvWStxbnAvZDVIbG1qRmpENVYrd2J3allqbVdNMnIvWFlmTW5UbFZIaGY0TW1iMGZUVWJOZVFhdzZINE5xVEtzUFF4TWZFczFGYjNXY0JtcnFta3VyNDhKYlA0QTNPcitiTnZETGwxMVg5TENTYVloVU9sL3hQK3JhMXRzQjhsYjJCWUZOeHJhRlEvdXBnSHdnOWFhdnZEeGh6VzlHRjl6OU1kQTVrQ1Jhck84NWUweFpNekFWM29vT3JmdmJiSXV1cnBkYXZsM3Fla0M1WFRxaEw2Y2ZRZXhqS1lUNDcybkdyTHgxdmcxdVZya01DZUk5TWZYVENaWUZsSXhhZ0szejFLTytxblZ0Q01LT3dxNFhnNzhUeU9uN1FpNkQ1dlRVckZjT3E4N0hvQnJUNmtQSURBaUk1cUszT2s0RTliRXRpUEZsRmg4RXExd1Rvdk9MdE1FZmRCejY3TTNaUUd2M0JsR1JWT2w4VDlsdlM5b3NsNmNwZVgwL1ZIRmY1TkYrS2lBZjBQa2xYeWQ1d2lmVVp6bWM2cnRFemhOdExZM2NudXFoa0ZjOHdoV2ZnaVcwcnJwQ1RDOTNSQllFSFhwNUcvdWV3L2lyK0huYzhDb1lYeldTZFB5T0tQZHhIdXdOMEEzR0NUM1I5WU9wbjJiUDhNZ1p0YUJOZnZiTVltTVRUK04vNXRzTXRGRGxOR2hPVDgxNjhsdDFQaHJWdUZhdkVFbm9pT2FpdHpwQnJPSFptZXBQaVc4dmxrV1hISjNmSmtBWjFhZ3Q0TW8vMElEL1FFdXBkSDdKK3p3bDdyRTNtNFd6NGcxUjZENXUrRGt2UHNJZlVHTk11QjZXVVF0R00rTERRWDlYeEszMXUrSy80azhLdVMzdHFnaDBuRmV5Y3pjZCtHeDVZYmJRdXRLZnNweXhiNmlCL29uelk1VlZPVXIvQld4dXU4VGR3TDlFUUdEa3JXcVRtTHpIK1NxNG1Rc3NKVnRpUjNUOVlLRVNQR0RFVjNDNk10ZkVUUVBndGRHNmJYQmMxTFB5c2NXWStSdEpnelNucG1hOVVsaDFQaHBWZTZzUElKTFFHODFGYjNXQzJKNDdPS3l6MHg0ZjV4ZUU3VGs2ZjBpQUgzdjJjN21LczMvMWZuRXAxTFBGaDJ6Zzl6V0tHd285SlNrM3ZhTUVud3dvZzNQMnJzK0lCNHFpTmR4TlRsbC9KSHVzSm5UMTRzY3Z2c3JqTnBwUDQvZi9lditMZWFaZmZQOTduZEw3LytjV25QM3ZlWCtYeDVlYWJycmxoajRtaGtNeHQvZEs4REdscG84ejlrODRqVXZ5VTEvYzR6MGJ6MnR5anV6OEpUTGcvWGVKQUhickgvM09qa3lGT3lLdktYZmVPdDhFdndORlBaMGp1bjV3SWdLdEkvQ1l0ZkRFK1k2SUx4OFpsYzlQT25wWnkvL2gzejVQb0hMenViL3o5d0ZhMG12U0ZHL2tURVBOZXVKYmRUNGFWWHVybDFBTTl4L05SVzkxZ3VhcTIrdFduNEpWR3oyNU84Skg1dy9KSVJUZWJkN0dyNjZTU3VlZFQ3RFhkN0ZGK3lpN2hUL3Q0VFp1K1hDdDlaNUluVWNUUEpTSnhQL2RqTDNqRlkvOVFPUG1NYnh0U2VwTC9zMHRYbnE4TTNQN054LzdiWXhhUEtGOFFxSDRXTjhyKzMrSFB1TFgzRDVDSlB3SVk2OS94V1B2Q2F4S1JCUWZ2Y1FqQjBNVmdOQlR5UVlMS1o5cjNqclAyVitXbk5MK1I5VVBYd05xOVNMSkc3VlFydDBDWXM1L3JyS2ZrZkh1ZjA5MjQ5eTBMNTl3RCtKbE1tZ2liQ3BxVmhiWXF2UER0bnBKYk1qL3FMb3pXcDFMczgzZTZKVHVRQjlkYnJLZDFkYXBDSTNLSHhiamY1R1ZhUDcvZ3A3UzEzbm5YelAyOElPd1p4L3E4ZUxDYVpWZnN3UnM5aDk1NEtmazg4Q0RMZC80RTVxdi9KSElmK3NhcDlzVzJSNTRwTVYxL3BHSDMveFQ5ejc0aU93akxqVkZ3aWQzRFFHQ29iMHY4b3R5K3BCVW42N3o2VHRrN3hwWmhXZVZjVUVob2EvellJdm5BWEErbGVrditaYnQzTzMycUZtdGQ1RWNoLzZQcUIvK2t2T05NREd6RmxZYnJQOEFabFhmSFVoNHh2YmRrRXNNRlFOWU9DaHZDeVJTWHBNbWdxZWhacVgwZHAwZnN0VkxZc1ArUjlTZDBlcGNtckN4bjd1dDVST3MzeEx6S0VSRTVCOVdERGU5cHZQT2o5M1o2di80N3dYcGRLNTRJZGpYU1dSOHJvZm1zWi82bHRaRC81V3B5VUV1d2wvNi9IMzkrMzgzR0JVSXZiNkYyY2pubS8wMy85NnhudkxId09NN2pCQTlkcUI3U1U1eWVjcWN4M2x4OUhabm9BZ0RFOWpyaHkrZXRzTjVBN1ZRK3Z5RDdLSHZPUXltcTJrcm1tQmMyQitnaVFSVFVMT3lHQkU2bjFlcmwyd2kvdTExWjdRNkwrZkd2MnY5NHA4STkvYzMzdENWNU96NVpleHcvN3JPVzNPV1BhczlJc092YkZwelhEUlBkMXJUVEZ6Z2laemtjc2x5MW5reGJ5NnV4TmhQdVJhbW5xZ1cwSTBQMDAwbW9oa1daVEpDb25UZUt0M3dyZDVLWmxDZzBlb0dKYzR0ZnFET0wvbUdYbk5uUDFLRUJkMFdISmxxd2lMTzFQNEJCTXRaNTNHYTBMS2JsaHNBc0t4WUZEZFJMVnl5R1VDaUJVdEVNenI3ZUdPRzB2bmhXMzJxd2htdExoV0ZOSmtHNm56N2lpSmJqVDJ4b1pKaDhGRHVxWEUwL2VsTTdqcVBnNGZENmRad3FPM3BwZ2lWTlZFdFhMQloveFNKa0NNUnpWQ3VDUWtZU3VlSGIvV3BTbW0wdWxRVTBtUWFwUFBsMW80aWUyWWRVRlMwY2xTbFVVNkZUTHlqWk9oTnp1UDhDWFErMGhhZUhacTJ0bitoVVV0U0MzdlNoS2ZsaTNNbW9SbVhmNXh4dytoOG1sYWZvbXhtcTB0QklGMldRVHEvNkUvdCtUNWJOd21YWVZ0U0Vwb0ZwMWt6YkJBNTYzd2RPbS9aVGN1clNFZTZLY0lubXFRV2p0aU9ueUdCS3duTkJHVEdrbVFZblUvVDZsTVV5bXgxS1Fpa3l6Skk1OXNIUHQyZTFWamt4MHZYV3BFdFhETEo5Ly9FMkQvUFdlY3hQN0x0cG1VdlFlbjU3d0NScHMxc3owL01ET3hueXZxRkprbkVTVUF6Q1pteHBCbEc1OU8wK2hTRk1sdGRDZ0xwc2d6UStaSStUZDgwai9CRk1oeTZLVVZTR2xsRXhaakI1S3p6VmVqOGZoRkZxZk9UeXpnenRXTWpucUFXRmdaM0N5YmxCRFROREJQa0cwTG5VN1g2RkVVMVcxMEtBdW15RE5ENUovUlQyN0JGYlNmaU1xYXlKSkxObXFoc2JqWGtyUE5ONlB5V2xXL0d3QmJEVVlqMXFEMkJ3YlZ3a3JBK2ZURUgwL1RUVHBockNKMVAxK3FITG0rZzFRMmRQMjJHZUoxZmJ1bHZiRjN3WDMyTFozZGg2TFlVVDYvdzJBVnpTWnl6emtQbDdVTnh4bkx4UThRSE9KZjlGVHVkd2JWUXNXM3kyWWw1b1lOcHhtWWZaMlJ5blUvWjZvY3VYS0RWRFowL2JZWlluZitQRGNiK1FGSXUvMkFOQi9IK2hXVXJXS1pRLzh1R1JVd0ZUNjVqenp6VmtxL09ZL0tkY01OalNJQndhd1U2MTgyb2RjUEFXaWdOdjVzd2tPYVFSUmhoOHNRNm43YlZEMTJXUUtzYk9uL2FESEU2ZjhZYnE3eEtBbnV6NHRFbis1Rk1qeEtsaXN3KzhvaUd1a1pHc001WDUvbHdyRStYY2lzZDEvbGRYSFhXamFBNHFCWldvbnFMQ0hvOGVCRE5tS3hqamtxcTgrbGIvYkFGRExTNlliT25UaCtyOC8wMzMvdWd2Q2VyMU9yajFaUUhIcEZ2cXNSeXZLQ2Zhb3ROT1JHUjY3S1FualQ1Nmp4WFRXM0hNNzhTNHh6L20zQWkrcWtvaW9OcW9SUDNzbndFMFVFMEk3Sk5RSEJpblUvZDZvY3NaTERWRFprOWZmSTRuVTlQdFRTc1FUZzlxenh5bmdTVzIvbnFQRDk2RzdIa3ppWjhtYjJWYjhsdFIxRVpVQXZsTkN1d0FUU2pSSm1BOEtRNlB6SlJnNjF1Wkl5TDBYbW5iYnV2Wm1TRkdwWlI3YXRtam54MW5oKzkvYkxKSUNkZisyYTNmR1RlNG0xUWpxK0ZKZjlOWWlOWHZDZWVabnplc2NaT25NNEhXOTNJMENsSTV5K2xXQ3FPck14QlJtdkJsVWkrT3I4Sm5UOEk4c3pGdjlwaXpiaGR3UGhhT0VxMTRJaW5tVXV4aWlFeWFUb2ZhblhGRk50Q3RTQ2RkeXFKMXYwV2djWVFkQlljS3ZQVitSNTBmcnVZWXEzZmRmN2VPTXB4dFhESk9Ib1lSOFdNaTZOcHBwd3MzNlRwZktqVmpReXVIdnREZkZjOWYzWUxjZU5QL3V5eVVGdzFOSElaY0hUTUcvMnlFRWZlRG5UK1drWWFLYlBIMVVJN1phOGNSek9sbUNQSk5tRTZiN2E2a1NBZ21mQkJpT1hheEQzS1o1SG1aTWw2VXY1N3hoeDNMM2RBamtDeE82YkNSdGZDUm5CQmsxakNhSnFKU1l3allkazhkelVPRVhTZVpxdlRZd3AzRjZienEyTnI1ME5pVmpaTldmbnJmQU02UDZSTXVTV1Byb1dUZ04weU9jdG9tc2xwakNObE1lODVwU3hKb05XbHBKSXVXMkU2Ny96d2JqcUpScDJyL00wR3gveDF2aFg2VHBiQnNGaFBaQzM4VmZycWlhUlpiRkd5VW4vME1DdUZIUE1IV2wyT2xJblUrQkhnQnhoVGo2bmpGNThrSUFRSWdTRVJ3SmNnMGh4K0daSUxKU2NFQ0lGSlFjRHlyZnRKRVkza0lBUUlnUUlRNEY4SjNTK0FMcEVrQkFpQnlVUUF0dzVNejFtRnlZU1FwQ0lFcGdxQlRlajhKRm1NcHdvOEVwWVFtRUlFOXFEengxTW9ONGxNQ0JBQzZSQm9GM1JqUmpwcEtCY2hRQWdValVDbG9Cc3ppcGFiNkJNQ2hFQTZCSEQwdHBBYk05SkpRN2tJQVVLZ2FBU3duSCttYUI1RW54QWdCQ1lHQVg3cjdmN0VTRU9DRUFLRVFORUk0S0pLMnA0dkdtU2lUd2hNRUFKcjBQbWRDWktIUkNFRUNJRmlFVmlCemhmTGdhZ1RBb1RBSkNHQVkzam1Cek1tU1RpU2hSQWdCSEpIb0ljUGZtbEVQM1ZuNi83ZjFmemtKQVFJZ1JsRG9HTzhQZjlKMW45ZGcvM3FqSldSaWtNSUVBSStBa2RNdTRkdHVYVUxyOXU4bTM5eWloNUNnQkNZVFFTYVRMdEh2dTV1MjFXbjVYN1EyYXdTS2hVaFVDZ0NNTnVmU2dZbDcxdVZpK3p0TW9qK0NRRkNZTFlRMklET2QyV1JWcnp2MzViSmxDOGhvWDlDWU5ZUTRMZmhxVEo1VTN2SHFkQXhIUVVLT1FpQjJVSUF0K0g1WDhOcnlBOEc5ZWdJL214Vk01V0dFRkFJNERZODlSRXYzSHJ0aFcvUzdkY0tJWElRQXJPRndJbjJKdTJhV3NhdmVNYTgyU29ybFlZUUlBUWNwNjY5U1h1QnlVL0JMckp6QW9jUUlBUm1Fb0dLdGxXM3AwN2g0bVc3M1prc0xoV0tFSmg3QkpxYWRyZlZkK3RnemFmcnIrZStiUkFBTTRrQVBsRHB6K0lyeXB3SG5UK2R5ZkpTb1FpQmVVZGdWYi8wdHFwMEhwZm5iTTg3TkZSK1FtQW1FY0RDL1dsVnNJYTZBQmM2djYrQ3lVRUlFQUt6ZzhCRnhxNm8walIxbmZlRFZUdzVDQUZDWU9vUndJMFoxMVFoZkozSGxKOTBYdUZDRGtKZ2hoREEyL1BIcWpndGRmb09PbitnZ3NsQkNCQUNzNE5BU3gzRFFabjhHM05JNTJlbmlxa2toSUNPQUU3WWY4bjMreDdTZVI4VmNoRUNzNFFBelBiYXVyMmxiSGlrODdOVXkxUVdRc0J4TnU1OGlZQUJadnRESHc5RDU3Vyt3RTlCTGtLQUVKaE9CTnJlbVp1MmVwT09sOE8zMjlQKy9IVFdLMGxOQ0VRaHdMeWxlME5memp0MEppY0tMd29uQktZY0FYNEpIditRQlV4NCsxcFJhblQyVmtPRG5JVEFEQ0VBRTUyNEZBUGZxdXRxeFRMZXNkblNJc2hKQ0JBQzA0MEFIK2Y1alZodDljSzhLRTlIZVJjTTI5NTBGNWFrSndRSUFjZHBpVDI2Y3N1WTJqczlkU01XM1psQnJZUVFtQzBFenRqTlk4ZFpZdWY0OVorTDZncmNKZGIzZzhsRkNCQUNVNC9BU3IrTE10UUNuNnZ4YjhHN3FFYjhxUzhxRllBUUlBU0FRTGx4ZTlmNUdMdGxEUE1PVEhzZU9uVFhOVFVUUW1ER0VJQ1I3a0hXdnhZb1ZWTit2cWF1SDhrTkpDSXZJVUFJVENNQ24zMHhlOE5oVVBBT3Urb0dWZlVqdWNGVTVDY0VDSUZaUWVBQ2UwWVVwYVJkakRrclphTnlFQUtFUUJpQkRjOXd2Nkpka2hkT1JTR0VBQ0V3TXdpMDNldHVhV28vTXpWS0JTRUU0aEZZYloxamtmOWg5a3Z4eVNpV0VDQUVaZ1dCdjJMOTE5M0hualQzOEdhbGNGUU9Rb0FRQ0NQdzJUdGJEMzhicVh3WUdBb2h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bUZvSDFPOCsvY1dLRkk4RUlBVUlnYndUV1cyOTVWcitiTjFXaVJ3Z1FBcE9LUVBVcHg2bTlmVktsSTdrSUFVSWdad1FlWnp1T2MzSXpaNnBFamhBZ0JDWVZnUWFHZVdlRjdVNnFmQ1FYSVVBSTVJckFJdHNHdlVXMmxTdFZJa1lJRUFLVGlrQ0hIVU8wQmFINWt5b2p5VVVJRUFLNUlWQnVmWkhUV21EN3VaRWtRb1FBSVREQkNDeXlaN2gwaSt4Z2dvVWswUWdCUWlBM0JQYmNTZjBTdTVFYlNTSkVDQkFDRTR6QUVkK3BjNXhOZG1XQ2hTVFJDQUZDSUM4RXlxd3ZTTzNSZWo0dlNJa09JVERSQ0t5eko0VjhIYkxiVDNROWtYQ0VRRjRJTERMMkNIOFl1NVlYU2FKRENCQUNFNHpBUmRiM2RINTNncVVrMFFnQlFpQXZCSHJ1T242RG5lZEZrZWdRQW9UQWhDRlEvdnlMSG55WGxLbk9ybkxuQXZ1cURLRi9Rb0FRbURFRTFobnpOK003N2pyK2duc3laOFpLU3NVaEJBZ0JnY0QzbmZrYmMyZXN5OFAyM09GZVJOTVBJVUFJekJvQ2UvNUxkR2ZpRFJ2bnlQMmJ0WUpTZVFnQlFrQWcwSEhQM25GM20vSGZNaTNuT1F6MEVBS3ppa0JWS0xvb1hVODQxK2prN2F6V05aV0xFT0FJdFB5THNEYUZ6dmY2dER0UFRZTVFtRjBFU3RwTWZvbmI4TXJOTDgxdWFhbGtoQUFoc002ZVZpQXNjNFA5RWp0VUFlUWdCQWlCbVVOZzBkK2VkNXpxbDUxUzQxZG1yb3hVSUVLQUVQQVJ1TWd1dityRjUzL2dCaXoyLzJIdHlXTS9rbHlFQUNFd2N3anNzV2YzditOWjhoVE9yN1YrbWd4NE0xZkg0eTdRRHdXR2tjY0MvbkhMTjIvOHp4Zy9rM1BtRysvbkRRQXFiOEVJUE5waTdBWGFTTUw5THlHdEx4ajFPUEkxeHRmdkYraU4rVGlRS0M0OUFuZmpqUTdHYmgxNkZNcGZFUDUzcGlkSU9iTWl3TVJ1Zk03bmNEN1kvSmZVa1dldG1kbkl2eVpVSEVydmpmUy96czYvZnZleFAyS1haNk40MDFpS0RjWS9WdVZjWWwvT1VmcVBuUDhPV2Y5enhIT2FTZFhZdCs2V1BnVEZGMTlPd0U3d3pTNHZ6c2R1MGFBd3JtcTk1TDQzdThaeVBJaXppSVhDRWgzbUcxZVZUaFRmTmZaQ0xzOUhvZlRiK0M4MSt6djR3MU9qZ2Q0Rll2Uy9TKzdoK2hYdFpFNVdJY29OOUI5bG1yeGx4WEZxODYrK3VQOXRVdmkyZC8wS1RNWG5HTm52WWQvcnhTelJ2U3dTbzFIL2I3cTdkQmR6dkNaalJkZ0RHM2t1RmthTkN2SExnRUNwd1ZwTTJ1aWFXeTZsVlF6MFY1eFM2N1lrWEc1SkYvMlBHSUU5OTZUdFhvN3YwbFhGaGRsVmQvMDI0dUlRdS9FamNBOTdrL09uWWlidk9PdHFEN2pOMkUxc0QyMHIrVHFueWttT2tTTFFkdS9IT0pNWFoyeGc4OVI5enIvbk1KVWs2KzZVb2VKZWxaK0tCR1dhWWdSS0xiYnJPSFczK2xmVWJJOFA5TnRWMVFVNHpzVXJVMXpJcVJiZHZTYkRhZmFQM1dKc1BJaTY2VC93d0FQNDczOWptcUpkZDd1UHlxMDBtU25QMUNPd3dsL1VmRFZ6NTQ4bmwxVjUydGl2WStxNlZjZFpVOTJCU2tLT2tTQlFGNi9NcjdvN2RvTGpNblAxdi9RRmRvNE9lK2luNnM0Y3F1NW5zSWJPVGhtbUhJRXpmTlM0aklGam41ZWpmazJWNWhMQy9DdVpIR2RaYkJLcmFIS01ESUZOb2FIWDVYbDc4RjFubnAybDNOUzc1YVFTbGJ6dlg5WDg2M2VTWnFWME00QkFpYkZUaHgvRXVjRUwwK242UlRwaVh0TndnMHBrdVBleEdhbHJnYy9CeWcxdDhiM0l2dUpKY01KbmFjTStjcWVmdm9zeExIS3prUjdmUHp0MlZxRHpZdXArcHMwVWx4Q29lUjFsd3ArTmdrOVJLWnB2eDZFb2FjSGpjdnZiZGl1d3RBNzluR0JxaDZmRWFEMC9OSGF6a0tISEd3MVhiekhPNnpxUGVhTStjU3pUeHM2NDZ2dHg5dnZQWWoramNmZTM3WEJPVWd0UDZPeTQyekh5RTdjSmMxR3lXVUdneHFlSmZPMStoWmRJbjl2akRuVjlJS0M1L2ZpcS9OSFdROC9SdVhmVTJ2NWltcmw5MWYzT1pVdXpDdXJVeVQzYkNHQTV6d2Q0RE9sZFhsRE5odWZ3M1RwM1FPQXh6cnBjUWdvZi9Zd1RnYW95cm5JTDdOQlB5LzJjZFN2WGwzYUdsb0l5akFrQldPOHVnL1hDdmQ4c0JOamtIdSs1empEUSs0djRwV2RrQlAyUEc0R1d1OWZtb0Y5TzhaN01oamQ5NitWNHNHL2NpQkQvNUFoc01uSHlXbWJRRmJ0eG0zOGNjVXRHOWZhbGkvN0hqSUJ2Zkt1d240eVZwZlJ5NDNtRlNMenM5ZVFWN05qUU0zOElkTGpaM245V2ZVUGRFbmJzSy9LVldxUm9IUHJKeURWV0JOYTlGNTNMSDJIL1hid2dkZlRhK2lQcWV0MWJ4emVOcW84blJMR3pnMEFqc0VmYjdNcXkxZkJlSFRieXBMVm83VnhHMFArNEVWaGt0My9qTjM3ajMveC9qZlBmSFNES2EzU0ZseWJaUys1THVTVnQ0VGFBREVYUEVBSTRnT2V2MkhtNTZtL3pTdmNheGwxWTBkOTA1d0ZIT1Y3WTRMR2d2NVFJWEpTYS9KTGROQlRVSFJ4a29Va0QzN1Rud1lyZDFPVUY3L3oydXF2cmZCTlB2R1o3dDcrd24vWXlUNy84UGZlZ2RQa0htdWM3S1VxejZwN0ZPS0hsZkFyd3BqOExEdU1FT3ZzamNaWnp0ZW5wK0N1aDlPLzR6WTkvUTJBNk1QMGxuK1lTcUxkcUw4bFoyRkNsMlhCMS9vaFdhMFBCTml1SlliYS9ZcFpsZ2QzK3c0OS9uckczZXNFVmJ4NTVhaVliemxldW1iT0o0WEpQVmVxVi9tSGg4dGJZanNmalNPeTBEc3RRNlB3R3c0bGVldVlQZ2JheTBhbXk4NnZ3R1BzNTZTL2RJZnd2bFA1VS8vZk16K21QdFJFY2JtdXA5K0UyVTNHclBZMWFmRUoxSEttcWxESk5Ld0pWNzcxNVhmNVgzZHUvLzIrMWdKZmV5OTZzKzdXb2hFNWM3TEtUTU9uMEo2c1Z2a3lXWjJxQVZhcFhiSnc2dDl2VzZGemw5RGUyTkNYQUdPNmE1ZE5rVHB5bmwybzBTa3grc2hLS08wZ0tGZW1TdHowUEprdUJyZFprZkJmeHZ1U3IrOTFraVNuVmJDR3dqTnR0aXk4UmJ0ODZMWjdMeEhCb0ZsM2FKWCt2NWFKeHhVRmlDS3EvOERmczJ4T25wb1N6aEFCTzIyczNNUlJWc252bXkraC92ZWhaemFacmQrZlYxZmJWMzYrOVIrL3J2MjdIOTFwY3F5Kys5VjVMTUFYTkFRSTQzRkg4alZmbFZpcmo4dFRDdjJHeGtlUmFHRzk3SGpRQjdYYUlkSVhkLzd6bUNIWVBRb3dwWUJvUTZIblg0eFFxNjRyK0ZuNmhuTVpFZlAzTzgyL1VXZGR6L09DTVRsZTYxZmE4OHhvTHRFK3dEK0FLSERvMktkR2lmeE9CTTVibTlXdVR4a0JmZGNZMzZ0WmJiM21XWVJCYjhHNmxIWWhNeWdScWV4Nm5KQzhIYVpTYndoNi9NQUk3VFpBMSthY0JnWnFsMGVRdE54cG04YWRVOGhaNkdIcFZMSTlxeHZtV2huczJkaGdpUTZURjJrR2tMbisvLy9raFAvdWlhMEg4NThaVmhuNDB1ZVlkQVd6VmJSV05RWDBVWnNLaUN4RkQvM0YrOXVERXVKWHVlb0ZHeXpYK1FZdUgzUTlhc0o4UGI3VFd4UUNQaFg0M1JtYUttbHNFc0ZWWCtCaU0xbmRscGdGdWNDdm9pakdzNGxheHdxWTJGMUJuN3RPLy8rOHN3THBmb29NRWxqZ0tJZ1FXMEhqQ0kwVyt1T0F0bm02K0ZDZUwycUt3bkMrYTg2V2o4Wmt3V3VMKzZvMENaeHFUaFQ5Sk14d0N1TmErUDF5TzRWTjMwbHpNT2p5YnNlWG9pRjV6d2R3enUyNnhwNDlHUWx5SWNNbzVmZisxMGZBakxsT0dBTjZxTTlhaEJZaVBlM1ZuZW1wZmJvbmJ4QlpNcXgydUpUZ3RBTXdrSkhFWmptM0tueVFycFprREJPcXM4RUVZVTRtZFdVWnkwYjEvWURHdzU5a1libkwvYnJsRzkvL2ZKRkh6ZytKY01yWFRRS3BiZzY3TVVxbkpNVzhJVklLMzVPUVBRR2ZHcmZaNzdxUit5VDhPS3pEY0cyNXlYdzJyODFkbFhZU2piQ0V5TlU3ajh1Y1hsSjhjaElDT0FNYUVaM1IvL201WTdjVjM4UEtuUENFVWo5eHB6R1pnQlFQcjZEQUw2ai9EM2x2Z1VhL0FDQjBlK0tQZzRIWlpQR3Fhb0NMSVFRZ0FBYlNOZzJLQndFczhXOFZ5R0MvMXNtY0UzVFBYODQ3VDBqLzFOMUlaUHlKMHZuODhVcWJFYkVvUTROdnpsNHVWdFZmSXhzRHFuZWZmVmF6Y1Nhbkx6engyVExzOVB2em52K09lbEZaZTZWNzZZcTcxTTkzVjVnWFYvTkhoMDhDQ20wYXRpUGYybHB2bmR3VjFiRXkxaHc4QVBNS2YwRlFlYnl6dWpra214L21SV3VFVHVMR1ZqUmhuUW9CL2RmNHdFNFZCbVRHVHVESW96ZkR4bGY2aFUwbTJ5Zmg0d1hkdlhuUy84QXFkRDJnNGR1dTJoeTlaNGh3ZmJQN0w0NWpFRzgyQVRURW1MVVhORXdLYjBQbEFVODI1K09oVnJ1Vk0wc0hIZGQ3R0Q3c21JYnpjVk9idjNNVVFCTDFYMlRmQzF3MFZhcno4eVBudk5IN0ZWcUtQM25LN2doUFNlUnM4Rk5hRHpoZUxRcjJJNVh3Vkg5WENCMWtQQm91K1dtUDU2ZndQR2w5N2ZQbXVZRjkzUCsyMUVPWlQ1Q2JsSWpxOHBiNHJnWUVDVGtCZEZRR0xSY3l2REZia21Vb0V6dVFIekFxVHZsbUFKV3RSM0VoUkhtZ29LUC9nSDdkeVBIUEVEWjc2NDI1eWR0enB4b1h3bmljVzlPNlFteis0NVFaV0xHV2IrUlhtaFczQmI5SFQvZnlaRThXcFJxQVcvRmhkM3FXQm51Uy8vOTl4ajdXNjc1TEVTRnpGL1o3VjhQZ2JreU0ycXRUVU5aNTVlM05uN2d0RWUyRVZnNEYwSzVaZytraDNYZE93SEh6QVMzZlhCTjJMcy8xaVUzcnM1ajBuR2pGL0Q3UzRCKy9VYmVkTnZlUXRuUnVEbGlYUGYvZzd1cjM4ZE41ZWpqTjNNRDhLaittWVp1ZmYzN2xDdUsvTFZ2M1BoaXZaTHNqWDZjNUdjTFdwNGtxT3FVRUE5NjBVZkhIYlhnSHYwVjd3Ym5xdEpSbkpDdGY1dHVoNXlyYXVKVTliZ3RHbTF0M09wR0pSNjdYenJraTZNYllUUVlhazVKazBCUGczWjI4VUt0VFJjS2ZPRThsUzhXYlZ0U1RiaklYcmZFL28vSnJOWXRZdXduN0pJYnJ1TGhvcTRrVjVFN01OYnozUjduZk5DUElSQWh3QnpMeHRiVFUvY1BBdTkxZnlvK1pTQXMxRDRXb2tlVnUxY0ozZkZEcmZzOW5RWWNSejE5WjVRMUIxRnhMVnZvVnc1OVlPUWwvR2Z0SVNSMEdFQUJwbC9zdHRIVlpNTkYzbWl3QUFJQUJKUkVGVUpIS2ZSNnpKbmZCV0VoTlo0VHEveEZjWTVhYnQ1QStNZUZkME5QSnlsN3czRldzMmc4WnlrLzM0OHhyc25Ya3hJenF6aFFCVzIwbkd5dlNGeG9tY3krbHoyM1B1eWFWem92NnFjSjFmNWdiN0plc3lBK1lTaTJYZFhxcGhRdGM4ZzRicy9NeThHMTkzWC8vSG4yT0drWThROEJEb1FPY1BpMFFEbmNxMXZPbFhQVVhDSFAvcVlOcUY2N3hUL2JKVHNoK0p3NnQxRnN2NllKa0hwVGh4VHlPVkNyQ1ZER0pOOGRPT0FEYXdpejE2VzhuL1dBcFVmVi9namxGMGEzQUZGSy96aS8xL1dIdnkyQ3JKa1gwa3RxWWRJckRqTHNqa0czMUQ1S1NrYzQ4QVRxblpsb1Q1NGRMSy83WTltQWpjcVFNY3A0TWx6YXJ6cTkvU2V1aWI0dG44V3V1bmQrMHA2Z1hzVklKVDFYMnRwMVh3MlFwN21TaDBxaEhBb1pGaXA0YzRoWmY3a1I4Y05ITTFES2RNRHdmRG4xSG5GOWo1ZDk3RmZua3dIMnVLelVSVEVXdld1TUNXKy9adW9lL3d4UEdudU9sRkFHOTd5bE5ieFJRQ2QrVGtmaEpOM2NFQjVkOFpMSFkyblM4M2J4ODd6ZzhuWVdRVEJkM1NnUzE4K0xEUFB1L2VSeUNKZURhOGpycFh6SzdBOE1KUmp1bEJBQ3FaL3ppc0Z4OTdnZnU2WDNPdjN0bC9yZVpON2p5UzNkUkpJbHRCTnAxL3dwMUtWSzRrbDA5UGlXL0pQSzM3MDdzN3FDcVplOWxEb0pKa2JTTXpwZnYvOVBkOTdubjMzVTZYbDNKTklnTDhJMGc1dFVsNzhmWWlsOXpyTGRaTU4yVnV5bE0reWQ3U3phYnoxYS95Z3BWcUtiZmNZRy9NU1dHV2Y5dGZoYTE3SFhVemZNVGZYZzJwUS9tZ3dHYjgydUxVNEV4blJpdzM4ejh5bzBOeEZtWERLalg3MTNBbjh6VTljVEkzMUVnOWx1UG1JU0taZEg3Wm5UMWZUOTB6Tm5NejNKZjhiYjlMcmppbHZQcVRFR1lxZ0ovWktuZ3FxSGlSWXlRSXdLeGM3Skt3NWs5SXpRSzEyZmM2enJKM3RNU01HdUREZEZrOVNleURtWFRlL1JJZE9xY2JBNlNLaWo1S3RQNkl5cTJIci90Z1hYS05KR3Y1MjBwMGh0eTkvTG12YlJWMHJpaklpdnlqUVFERGNMRkhiNk8yQlM2NVczZ04yM254QVVYSGVkWVBmSVkvanlWYmwyVFMrWXV1T2FLWDVQQ1BWZTVPb3IwRmE5WkE0S0xmNzZ5NnpwUGlsL09RQVVQOVFVQVU4azR4QWpYby9HbUI4bU9yenI2Y1BYTmY5T3lrbU56ak5PK2hFQmtEL2tFQzJUUHAvSWw3ekhmNTl4TXdzaWJaWTZtN2l3QzlpLzRoNWcxWDU0L0VaK1lEeVhMM1F1ZTNjeWRLQk1lR0FPWnRhWGVoRXNtTU1kbjZWaDMyQ0x1Y1FDK1IxcHFzTnJYdCtTMHp5dXJMcFBOZzl2cXVsV3pDUUdqTWxZUkpCeVRiMDNwbm9mTWI3TzBEc3VRU2ZTS1BRT1ZDallpTUdRRitKS2ZRbzdmWUY3QWF2T3Z1OE9sc1J0dkdWcHRjT09NNTMrVjRiVEp2UVFCMUVnRk8zTmNkZWI4aVRPOHhVTWZrNTFlQnM1L2VpY2s4SUFvYjlNOE1TSkl3dXVOMmt5SjFqVysyUEZGb2Q2Mmtha3VZVlFnNXBoZ0JZUTRyVW40TWt6Y3M5UEVGTzNmd3V4Z3g5VWNlS0V2b09lVzBUdVJwM3A3Y3ZLcUdFdXBxUGxqblkvSzdCc1ArRm1lYzZzSDVZT3RNWjNoaVZiVTk3emgxdm1LcTVVUjRnQ2hIc284ZGtJNmlwd0lCVEwybDNoUWpiOC8rSmkxdTZ0Z1JEQzlFNzJSdDNCWDRZT01ERDd6aG1HZnF5VDJyaWp4T0ZQZDF4eVRqZkZ6K2l1aFAzQm1HRUhuSW4waUx4cEIwOFBXN202V3ZhNzJsSy9JdFlvYno2cjdySHByUWtCbWF0RDAvSkdJVG5aelBYTzAydHB6RTd0aVBtN2RsTTRJQVEzT3F5NEd6bWN3WU1IaWNqeE1CUjRmNDg2NjROSEZ4V0Q3bFkybkQ5dnpSdi9wY3c2dXU2aS84RFZOZnJZM2puemtPeHlHZXlreUVDRXdNQXB0b3pZVlc2Skcwc1J0RjlqOU9EWjN2R2xFSlBHM1BCZ0J0T2syUVBNRjZQcGJLOHRkeHJVLy9Gand5eDlKUEdvbEZBb1M0NUJudlYxOTg2NzFKYzJaTGg5V04xU1NUalNybEhoY0NQVFRJUW8vZU5xd25VckJVdit3V0dUcC9iZGpDMTcwMnVKWnduWmx0bklkMHBRK3hoS3hzUlFFRVhWdjRzR0ZMVE16bG00WDIwUmFoY1ByMndCSk1RVk9LUUFjNm41TlYyWTZBZlpCckt6V0FYZi9VbmpNNnRPZUp2Smx3aXBKWjV4M25ZeG5HNmlQclZDZTZlRkV4bSs3TzNHajI1RFVoVUVYYm1wZWNVNDVBRlRwNVVHQVpJaGF6L2owYWFGQkRtOFJQdksyQXM0UWIzeGwwZnFQeHN3SWRyR2xUbzNTV29vZzJaajEzUm5SVzZONnFoZkZKaXFtWWhRd0ZUUWdDVGVpOE44c3VSQ0tzQlMyZmk4YUJISGxIN0dhS1UycWJyczVERDd1SmhNNmc4M3ZTd2xsTmI0ZXI1d1N4K2xyT1RxSlM1NWFvVGR2enVXRTVBWVNnTmprTlFoR0Z3VjZnWlZ0QU84QjlrbUxpdU9MTzdkZjBQZmdJL2lJNGc4NVg1ZjVDMVZLTU9KNWEzRjVPQi9GcWJyZlRTTmpUYVJKa2M5TDJmRGI4Sml3MzlvNXpXbXhHRkF6R09vdkJ1K04zTkwwVWcrQWwxNGJuZmZVOWdyTVduRUhubTlKazBFcHY2Y1JVNW9ZbVRXcW4xM3UyQ245bFBpQWhiYzhIQUpsdUx6K1NVK2p5RUdaNWk1bTU2VE50cHhqblN5N05KdjhDZlpLbm5uUkNFQ2JXWkZkRjRLVU1aaXpvZlBvT3d4ZXB4TDdDUGZMcm5INUV3UzdNQmI5YU1Bc2lQMElFK0llcjBodW5FZ2lLV2J4Y3VmdXBzY2hYWDFtck1FK3IvT2pCcmhxZmFDK3l0dzFPS1ZLY3lRbDZ3dlJhc3FPM3VwNWVQMkgvb3VXVlRwZ3BoYlpLZjhyL1ZYZEZjeWswY1hyWjFaUVVrMlZEYmVYUlpTVmpScWtLUndCRFVFNkh4Q0pFQllQd2VRNG9nUm81YXY0MFA0S0VKWGlQVDIrUEVnM3o1Yy84NkV0UnlHLzlQeitUU21sNzdzcGtsZjJLUll5RVFlaFlWWEVUWnJFbDgxNlp2eEE4RVZodUZiclo2bUI3L29aTkhncWJUZ1Qyb0E1SmJwY2FWTHJ5Qis5aUR6M0hrdXJFMW1CNjJzZ0JBVTc5ZkpGMC9DVGN4YytpUGM3Y1hUUXpKdVNyZzRIN0JQU3U5UG43K20vWkNhVVBCS3l6bjBESWN1M1diaUJpQ0MrVXhtTFRjQWtrazBLa1hYWlZyeDA4dzdTVXl5ekNWcDVISDd5RmEvM1JRMS9XWWhOV2taYURuQk9GUUFmcUVOQ0ZOUEp0MUJoN2dMRTNodk5DdlE5Q29SVS9rTC9MZTZnU1JOTlJTVnhIcDM5blFybnI3SkdISC9pcEJ4NThKSkQrTDVzTU4zQ2U3d1FJaDd4M3MxdmYrU0xXdnhhS1NCNkFNN05SL1dwU0tRUXpNYmN2dDRJYkNKMUF5WklMRnAreS9BWFdiK0wrc2hPalYwNWNSZkhFS1hac0NCeEI1Y0xyN2FIRnFiRHZQblpLSDdhY3Jta3p0aDhpMTJKczJ3dmsxK3QzVllKb09pcUo2eWk5ci8vNjQwRFlVTjVQTXZhU1hlZkhiQWJHQUozLzQwV3RoMTdRRFFRTzVVVVpMV2NVT0lua1V2RFVGVzRWZUZ4Qng0UHdvTmVNNmxIY0JHbC96OWp0WGVmdTgyTlVZZGVua2JpSy9DemttaWdFbWxDNTdLdkJ4NWxyNlRvTFR4azY1c1JRRkI0Zm1WTmpPK2E5L3RaVERKMmNVY04reGM5d2trL296VGxuSG9vY2pHRDJBejFEU25HaHYrdHNOSVBMaEpYekNPcUtmenJISjloNUZ6bHIreGdYZkFxanF5S2ZKN2x5UlFBYVo1bDdEOHVpY2NzZGM5ZDk5WlVrS3Y2UUxvTzRVVWdseEY2ZXJ3OHhkRlRtWEJ6bGhqY2YzckRNUW5MaG9CUEJJWWkrN3BmdVlhVW9OMjcvaDhhdHJzenUvWi85dnE2VGdjajAzdVdXQzgyRnA1cjZMR1ZrVlpSZWNzb1ppNEE0a3JNZm15UkI1S0t5SkRkT2c4bXJscTA0N04rcHJicE5iV1lhUnlkSU41di9sV3FpZ1k5SUYvN3dlWTJOeWRCU3JENi8vOXB1Z0ZMcEhPU0RnWUUwYWJ4MXI0NTRFL0duYjZPcm9qUXl6MHVlVDc4ODZubkZZQWhnWFVxelZSWWdYSmVXOXpzTUE2OUlWYlBvZkYyelkvZTBNenR4ZEFJc3MzblJqdm5TbUQ5bjB1RjZDL25sZGtxTDhTRWZLUzQ4N1JUeENndzZFdS8wUTFQYlpIRkdWa1dGVk1TTUVNWGxFNUhQNmNBeWlpTTVod09URFVqUThGbzBxTzBIa3pZc2ZVb0Y0L3h6dlFmeFQ4czhjWFJrbWx6KzBkRnNlWVRhSTlCNS9sSkROeXg0UGxKVXRweG1pbE5OWVhITUVBaTM0NGFjNmJ1dEk2c2lVeHJ5NlFqd3FWZlVjMWxQYUhWamx1MmZncldtU0JDNElWZmtkY3ZhdmVHcmx5S0ZNUDI1NFVYRTBsR1pjM0NVV3Y3YTRpeUhYWXVCSXFHMDNWQ2lmS1RZZ0RXa0d1NXFROXlHRFdpcXpZQ2Vab1VkV1JVTksrNThwWCsrcmo2R2UvRGVNOTk2dFM4MWg4RndUZHA0S3BaSlp0UFkzSFhKY3FiYXMrOHhpNlV6akVDRDBxS25VM09MbXV4eEJtWEtFby9DN29UeTV5TUZwdmJPV2Y3bjVHQm1sZmYvbldnMU9MSXFDcUZGQVhraGdKSFpIL0xTRXIwZ1NiVGxnSzlSYW9iN0FXN1NPdldTOEdtS25HYkgwdEZJWm5aVy9QbElLYmpiblptNGpRQUt1Uk1LejBlS0k2QW5yd29Mc1VnZmdJWWhxd1hPcmlRMHNpcVNET2svZHdUTzBCcUR4N3FHWnJJcGx3Y0xqM3dnbExrVjFubjlHQTUycU5WcmZiRjBRb1RUQjNDVDJxNlhmY1Z2eitrSkRzd0pFQTZEaWZLUllwbHZkSjZ3cndTcFovVkRZZ2tSK2laRmJWUlZwQmlTSTNjRWFtaitsbGRkaCtPRGhyQWZtUU1NZ3MyZGY2cENwc2RaYnJVOUgwdEhac2poSDZaR3VWVllybVh1OFpJSUJBMEtndURrSThWRnZraTVHSDJjUDRsMGxqVFl6MUVuQnh1K0V4OFFpcWxxQ3gwS21qd0UwQmo5cFcxYThiQXc3Zjk5VkdhTHprUFBwYzV4ZzRMYS9JMmxFMFUvUlhqUDUvbks4T1ppQ29JRHN3RG1hOEZFK1VqQnAvYk9pcWFWUVRicC9LZ0tOWFh3MFJJZnFJMnU2blNzS05kb0VSQTNZOTNJeWhOSDZSaDc3WTZkREtLQ01admE5bnhIZTlVMmxvNmRlcXJRcWp4dVhQNHZ1UStRZG9HYUZwM1BSWXBsMFhrbXZmTGJMcHd0Rk5VaW13VXNMbnd1NFQ2anFpTEpqLzV6UjBCczlPMW5KU3NPOWtEcnV6WkNGcDNmMDE3clFjdFgvR1BwMkdpbkRJTkk0UG1aUC85akhDcnRwcVF4WExhbWI3UlVHWE9SNHJvNFJRZ0R5YkdpbTRzREF1OTdoR0J4a2VyUDMyRVdqNzJxYytGTVJBcEdRRlRoMWF4TTVMR2dXenRoU3JiaktIVTV6aUo1U3hzQjQraUVLYWNPMFU0MC9OUGQxRlNHeWdnVk9nMWt5RWVLcWlDTGpaQ2RBUGxzWG4xbkJVUDdaVVZ0UkZXaytKRWpkd1RFaDErdlpTWUxKUmFQV3BsckZCSFIxYnpjMmZaZjYrR042MWhGeDlGUmlUSTcrQnMrRHp6dzV1OTgvLzg3SW8xM25HWlk1M09SQWkvc2VjOXBabGgwQW53c2tPQnMrcnQyU0RLYUt0SmxJWGUrQ01DYUZsYko0Vm5nRlN6MzJRcm5SY1JPSUxUamp4eG8rWnJoUEk1T2dFWUdMMStUWnNpZUppdnd1UmJJbDRzVTEvdnVoM3Y5OHdZQkxpbTlFRTY5Q0FndDMvSEpqS2FLZkg3a3lodUJFelQvUE5yL0pVL3BMZWRZd1dBbklQYVpQM0xBUHZ5TUZodERSMHVWMFFtZWF0c2dJNm1rMlMwNm40c1VOYThucVNiOG5rOVNlZEV1MURVY0ZiT0ZqS1NLa3NwSjZZWkhBSDI0dnowK2ZIWS94K3I3UU1sS0M2RTdmanJocXZpakhnUzRxc2RHMDlGVFpYTnZHbk9MYkxRUzVnWUloNEdrZVVpeEx2ZlFPNXFaTGNBbmxSZlZvazV0TkFJOTVDaXFLSlhRbENrUkFtZG9qTnJjT2xHZWlFUi9mUWRvaGRUYndYdWVvZVplOGROVi9YV2pSemVLVGdUYkZNRW5Xb05Pa1QxTkZnc3llVWl4SjQvRTE3WHR0RFR5QmZOMC9QMDVHR0dERi9NVVgwVkJlY2h2SXJBUjlmcjh5d2UvUHcrVjh6dDBrK3p3dnBlQjJOVlF0bFpZNTlIVDdMcnAwS0RVSEZMbHROTlIwWmtkZTM2RHprd3JJUUVnc3hOSW1vY1VEVGw1T01tdkZvV1lxS0VibnJ6WVh3aXYySXF1b2dCVzVEVVJrTHNuYUZhaDU5Uk1Hdlkxa2NVL2NCR09IeTRFTGVWeUtJZGQ1NzFrMlB1MVhGTmpwUk1pbkRwZ3oyL1FxV2tNbDlHMllabURGQXVxdjd5WTEyek5LOWRSeFBhOEtuYkJWYVQ0a01PR2dMYlBDd1UybjdBR0Jpanc1TEpERDBRbDkvNG5tUlE3Zi92U3JmNmIvdUpkaHJXVlZRaUdyS3N5MUltbm81SmxkcHo0VzRXWmFTVWpZTlA1SEtRNFUrYlBwY0NhTzVsWTBhbXFmcjNBaEwrUGhQL3NtS2NlVlJWeFh2UkVJL0I4RnZVTWZIK2U3NDVudHZoMjFCZGVRQzdjeXpUQ1c5TTlwZk5uL3BhUU00Qk9OQUREeG14bUwvT1FMUFZYNkdUVzdGSzh6SjhqUGE1V1M1Sjh0djhqdjlKTzNFMldSaGNVUjFaRjJhU24zREVJOEpkYXRZRTJKbVYwRkk1dnFKMHZmdy9PVDE4TEI2SVplZkV0ZjYwNGlJNVBNYXNMaHhMMnM5SVlMcjlONTdOS3NkNUMzZjJ5a0dQMVFUalpMdzRuVTJ6cWlqODVhd3RUUkpuWDJPaXFLRlk0aXN5Q0FEOExGam9zTWlUQlBaQ1FXY0tXS241dlU2aFh3WXplellGR2RGWG1IVVJIcHN2K2oxSmYwYWk4ZWtmekZPUGs4NmtnNWF4U0xQUWZmckRsdnZ1MndCN0JaM3BVenh2a2xNSi81dGNraG53UVdPVzdncU9yb2hRaVU1WmtDUEN6WUtHVHNjbXlxbFFkZjFlK3BNM1VWWHdsZkVac1NaNjNQV0Y5c1V6a2lRZlJVUVF6T3pDN3VlRVRLVGRQZlU5Qkx1aThPdFltV1l4ZUNzazV3WC9QYnhidTFZR0wvRmoxNktvb2dZaVVKQjBDbXd4UHVxd3FGOFlCZWN4K1ZibFVMTCtyTGJUSXgvQytLMUpVL2FtOU00aU9SaktqRXhZMVpmekNoMnpVbFIwWnljWmtoNTAxeEdYMFVzUUlHSXhDd3poMHc3ekQwUmY1OXNyb3FpZ29EL2x6UTJBUEtwOTFTbGoxVjhjcjZ0cEVUY0tPSHk5RHNienRjamVHdjFQK0w1NUJkR1M2SFA2UHRLNm0zSGg3RGhRSGtNQ1lMay9NK1NsSExvWFBlcUJyVVMzNVVIMjhTNjhmNEdlRVZUUlFRa3FRRW9FMmRENTR5R3BZVWhYMjh6SkxXdzRPTW9EL2c4ZUI3dWZ1aG10RXVLNGZ5QmxFSjBnamczOVA0L3V4dmp2bHlFQnVjRlljUTdnZFNqVnlLVUlTUkFlZ045NFdzZnpGUFg0S3Q3cUZueEZXa1dCT1B3VWdVRUdOdW1hZzlNUjc2bEJOeWRLd0hhZG5ySjVkUG0xM3VsL1RaLzJENktTWE1KUVRhNHRqTDNBOTJUZnNReVNHQzhDd0dlNWFSeTdGTURJM1BKTkgvYWtqM2tMS1lqRTJ3aW9hUmxaS093d0NtS3pwUzl0aHNxcTBTOTduS1Izbkwzd2p2SXAxK0sySjJ1clpqVmdSTFdwTkcyNGRaeEFkaldSbVo4TWJ4WnpsUm5qOHpVdzlUQUMyVXZYS2loODdhaWw4em9OZGUrNVlzTTVPZTF6MEJiRTBHV1VWRFJhUlVxUkNvQW1kUDBpVjA4OVVicjdSOVh6U01wWWhCaHR6b2RPOUcyS05lS1J1VU9jRUJ0RnhtZVR6KzdnbjZtcE5mRzA1SDZJeFZMQVhIejZ6amcvSnU0UC9xS1NJRVRBVXRlcnVxRlNmd3ZXOE9PSHJqdkNqcktLUVJCU1FEd0pRZVgxNm5ZN29KOWpydTFEWlI5a3QvSVVmakhIaDVVTWRDL3E3dlJNbE1zc0FPakpaTHY4MTloTXdJWDYrZFg0dEYzS0RpR0N1RStyM2tHZkVVZ3lTMG9odnN6YzZwVHR3a3JQY1pEdXJyVk1ST2NvcU1xUWhUMTRJOEtNaW11VThMZGwvemRqRE9BbDI4OUJLQUd0WmJ2ZzFuK1ZtdjhsdXkwVzFGeGRQeHlTUTBiZmFaSDJJL09ST1Jqb0pzNTlZMWpmSU9tSXBFZ3JySmlzMTJMbmJPRDdCK2kxWmd5T3NvcUdrcGNSSkVSQkhiM2VTcG81TzkyTjN0dm8vL25zUjhWYWJ0Yk4rMS9sTEFpcnZPTEYwSXNpbkRONTRWdlA4ZFgrWE12UFEyV0RIUExCbEdxMFVOZ21pd3piK1hlc1gvMFJFZjMvakRWMlpib1JWSkZuU2Y1NElpS08zZVJLMDBiTHVUZHNTem5CWU80Y2wxQXpEUTBVYkhRSTRBeHMrSDVZM2V5d2dRbWZROHVZeDZmVE93dThaVGJySUpOOXNJZ0NUdW5WTFBkL1Nna20rQktlUFdrVWRaWjArMlVuaW1VTGdCT3BvMlRmT3VZeE41cDYwelpuc05KR3J5UmNNcGtsb2tuVVdFYWhENTIxN1NQbVc5WWdHdVJaTmRmSnRVMFF0TFFKWVpucEhMTk5TU0pLdk0vZUxXYnhUbFBWTnBpUkFVeHBDWUNBQ1Zlajgvc0JVV1JQMDV0NW9qUmRWMUcyVldkR2svSVJBRmdTYTBQbXRMQVFTNWQyTTJKeE9sSGttRXVHSWdqelVNaFBsb1VKTUx3SlFlYlpUdVBnNGZCdDZ5YVp3cGhQRkFBZ1ViemFacUJLVE1CT0tBTCtaVWIxVVdweU1PUGtUUG5CZkhMc0pwRXd6blFtc2xQa1VpZCtITUlMak1yZ1lLdnp5K0Z3aHZpZHZvSmlyVWxOaEp4QUJMRE5IY0NTSGY3RnV6cTNXYlhYVDFBUzJBaEpwbmhEZ1IyOUhNZXV1emZ2dTlORW9sbER6MUhLcHJHa1I0RWR2MWNWV2FZa2t5SGMyQ2t0aEFqbkdsZ1N2cFk2Tk56RW1CRFFFWUZxeXYrS3BwY25EdVpmSFMvcDVDREltR3JqVmVpUTNjSTJwZU1SMmloRG9RZWUzUnlCdjFxODBqVURFUWxuZ2JXTEx6VmlGc2lUaWhJQVZnUTUwL3BvMUp0OUFiTmJOOVFZOTdDWTM4a1dVcUJFQzZSQ0FhV2trYjd4aHMyNFVwc0owSUl3Z0Y5WlEyeU5nUXl3SWdZRUlOS0R6QXhQbGthQTEzOGZOMi9OdXc4eWpEUkdOWEJCbzJiNm9sQXZsQUpIS2lQcVdBTnRKOFZaWjZBT1ZreUlheVRGZkNNQ2NQS0pYUC9ibWU2QnJrZGwrdmpScmNrdUxaZmFJN01sNHgrVHE1T0pRdEdUQW1kNndLUnBrb3A4SUFYd3ZiVVQyWkd4V0hTUVNhU1lUWWR2aXlrd1dqQW8xZFFqZ1l4TWp1REZEd0RMWGhuc2NkeHpGanVqVXRUOFNlUFFJNEtqTUNHN01FT1dxenZOYk5wMzV0bUNPdm1FVHgwZ0VzRzFzKzE1OFpQb01FWHZ6Zk85cmM5NWZKYzdRY0NocnZnaEFFVWR3WTRhUUdjdUlyWHlGbng1cStLYkhYSjlDbko2YW1nTkoyeU81TVVNQWlYWi9NQWVJV291SS9tN2JHa0dCaE1Db0VhaU04SFd2MnZ5ZXZqMFp6UUhuVWJjZTRqZU5DT0RvN2NpT3dmZm05dzN5Q3JzNWphMkRaSjVGQkxDY0g5bENFNmR5RG1jUnd3UmxhdEdKbkFRb1VaSlJJTUJ2dmQwZkJTUE9BMmZSNXZSY0NzNGpiWThLWmVKRENNUWlnTVk0UW1ONlkzVHJpTmhTanp3U0ozSjJSODZVR0JJQ05nUndKSlR0MkNJS0NkdWIxd1Y5aFY2d0thUkJFZEVVQ0dDSlBacTM1NFZzdUZkN0xoZjBXRUc5SzBYbFVCWkNvQUFFY0F4UHYzYitVM2UyN3YvZEF0aElrcTM1M0tISDd2dzFDUUg5RXdMalJhQm5mRjdtazZ6L3VnYjcxZUpFYXMvbkNkU2UwYkVXQnk5UkpnUUdJOURSMzU1ZmJ0M0MxUHZkN0UyRDg2Vk1nWXNndXltelRuTzJCdTNVVFhQMXpaanNSL3JiODNYWGhGOHRUaSt4c04yZk1RUVRGQWVmQk54S2tJeVNFQUtqUUtESjJHWEpwK1FabHhmWjIyVlE3djluN0tuY2FVNDh3ZXZ6dWwweDhUVXpsd0xDYkg4cUM3N2lHWmZMQmE0K2wxai9XUEtibS8vYVNENE9OamR3VWtFeklZQlgzZnlKdkRlMWQ1eEtjVnYyNVpZL3I4Z2srUlJseHZWajE2WklYQkoxdGhIZ3QrR3BFamJrV2JGZWdZdnUzb2h1MlZXbEdyK2pSKy9Yakw4U1NBS0pBRGFPMWZ0ZU9BM3ZCVzhXZUJNdUR2dDJKZmM1K1cvTzYxc0djMUsvVTFaTTNJYW5iR3ByYWhtL1V1UkowYU41MDRBMTF0K2RzbVpCNHM0d0FpZmFtN1FYMUxlbEZvdTBNNi80TTRzWkJsWXJXcnZBV1pQR2hweUVRQ0lFNnRwKytaNDZJNGNYYjRvYm1jck4rZHFzeHBLSkxIaUpHaU1sR2drQ0ZXMnJycTJzYTdEc0hSYkgvcnEvbkNpT3llUlEzbE93VG81TUpNa2NJOURVUnZTSzBrWG8vR2x4b0pSYXhXMEZGaWQxV3NyWW5OeEttNWZ5RVFLNUk0QVBWSjRyb2xXbDh3WGY2dklYODdUQWZhSkllNmlxTzNJUUFna1J3RUh3MnlxcGY0a05kSDVmQmVmdndFRGZ6Wi9xaEZKczBEQS9vVFV6cDJMQldQZTBLbnBUWFZ3Rm5iK2lnZ3R3UERFL1oxRVhhVFZmUUFNaWt1a1J3RFZ0dm5MN09vL2gzdzlPVHoweVo3bnhwY2k0R1l1NDBEK2NzUkpSY2FZYkFkeVljVTJWb0tXVzJkRDVBeFZNRGtLQUVKZ2RCUEQyL0xFcWpYOTdCdW04QW9VY2hNQnNJZEJTUis5UUx0TDUyYXBjS2cwaEVFWUFSOFMwaFhWTDJmQm9uQTlqUlNHRXdDd2dBTE85WnFzemRGNExuNFdTVWhrSWdmbEdZT1BPbHdnQVlMWS85Skh3N2ZZRjc4LzdMTWxGQ0JBQ0kwR2d6ZHl2cDdYVjI3T2M3Y2pPNUl5a2pNU0VFQ0FFZkFTWXQ0NXY2TXQ1cHphcXM3ZStJT1FpQkFpQlVTREFMOEg3SWhqQmhMZXY4VFBlc2RuU0lzaEpDQkFDMDQwQXpQTGltRDIrVmRmVlN0SlI3OC9QNjJmbE5ERElTUWpNRWdKOG5PYzNZZ1UrSk5WVDc5c1VlbWZHTENGSlpTRUVwZ1NCbHRpanc1dmQrN3JBRjlXbFZiaUVYbzhnTnlGQUNFdzVBbWZzNXJIakxMRnovUHFQZnd2ZVJUWGkrN0hrSWdRSWdlbEZZS1hmaGZDMXdDZXFzTXozaWxUa1hkZlRpeHBKVGdoTUx3TGx4dTFkNTJQc2xqSE1PMDVUM2xsVjE0L25UVzh4U1hKQ2dCQ1FDTUF3L3lEclg1TmU3Ny9EcnJxdXFuNDhMNUNJdklRQUlUQ05DSHoyeGV3TmgwSEJMN0JuUkZCSnV5UXZtSWI4aEFBaE1Ec0liSGlHK3hYdHdxelpLUjJWaEJBZ0JFSUl0TjFqK0RTMUR5RkRBWVRBYkNLdzJqckhoUC9EN0pkbXMzaFVLa0tBRUFnaThGZXMvN3I3MkpNQmUzNHdGZmtKQVVKZ1poRDQ3SjJ0aDcrTlZINW02cE1LUWd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NTnNJck41NS9sMnpYVUlxSFNGQUNHZ0lMRGZQNzNLL0lhb0ZrcE1RSUFSbUZvRksvOUNwM0p6WjRsSEJDQUZDd0VSZ2tiM05jVmJZTlRPVWZJUUFJVENyQ0ZUUDhlblFWWFl3cStXamNoRUNoSUNCd0NKN0d2NHllOG9JSlE4aFFBZ01SdUJWWDZPZW5jR3BKeVZGaDUxeVVWcTN4aWJRNXhSc1h6TTJHWWd4SVpBR2dUcFR6MWFhL0dhZTlkWVZNNkFZWDRtZEM4SU5acU4vQWVhOXdwK21nczBxUStIOGljRW9FZmdockNUMTU3R0FYNCtiZkhlK09sOWhsMGRSNUF2c1M0Sk5qWFV0N0piWVZ5MmhPUWVSenVjTTZBU1RlN1RGMkF0MmZRRzUveVZUclBXNTZ2d0NHODFrdThMMlJRM1UyS0ZmRTc2cndiWjhUMEV1MHZtQ2dKMDhzbmVMS2QwdDJkVEtYeEQrZDA2ZW9Fa2x5bFhucFM0bVpaNHlYWmw1dXQ1d2wvVkJNayt3MjhHZzNQMms4N2xET3FFRTE0U0tNM1pyMXhYdzE5bjUxKzgrOWtlam1kRVdna25kbXliblFYeU4zVHJPZzg0Z0dtdmVjdDVwMlFmMGNvdGRIVVFqcjNpMGlMeElFWjJKUktER3ZuVzM5Q0VvL2hlRmVFdnNacGM3UGphYXRpNTQ1dnlUcDg0ZjhZTXlJM2oyNUlLZFJaeSt2WWM5T1FJeEJBdlMrVkVoUFNZK2EreUZuUE5Ib2ZUYitDODErenY0dzFPNzdQNVAzMitPT3IvRyt0NzBKMWNZeW4vK3YzL3RpMXBYTlpwVjltWGh3eHhmRC9aVGJFUkYrRW55Y3BITzU0WGtCTkZaZlhILzI2UTRiYzhnZk1ZWVB3ZDJEL3RlTDJacEJKWmlLVVMrL3pucS9KazRLSk92ZUtCV0ZldXBiWjh1VkgxZitLRGFXMzZ3N3FwN0V6RTlyQmczNlh3eHVJNlRhcW5CV2t6YTZKcGVFMXRGTTd6aWxGcktWRlJ1alZQR0xMenowM21BY3BoRmtxaThMYUh6MS96b1M4dzdady9IcVIrc3V5Q0xsa0dQeWR0Tk9wODNvdU9uZHc5N2svT24zckp4WGIzSDFXYnNwblBCQytaQ2RrN0hMMm9xQ2ZMVCticGNaYWVTSXpyVEQzek44NkgxdTM2Q0M5SzNHTjNMVk5oWC9BeEZ1a2puaTBSM0xMUkxMZDdhNnE1SmFNVmRSa0lRUHRCdlYxVVg0RGdYcjR4RnZPeE1jOVA1a212anlDNlJoVUtMOWJYUW52UkIrWGUwY04yNUpQc0ZQYkFJTitsOEVhaU9sZVlLSDd4ZTdZMG5KNWVWTEJqb2I3RTVnc3BHQUFBZ0FFbEVRVlIzS2ErenByb0RQMndxWExucC9IVzVnVlpBc2Ztc3luK081UGI3Q1dQSGZyRGh3bmJkYVBZUVNPY04zR2ZCYzRiWE5XRXpjbzFHOVd1cVNGaEtHb1BNOHJTKzRaV2J6dGVLc2VCeHhER0YwRzJrVFRsdnI4c0JYMVdMNytnWjNZUWZucmVMZEQ1dlJNZE5ENjN0MUVHMXNodGNrazdYbCtlSUdYdkFKYjFSK3FrbTM1V1h6aThVYURWYlozcC93cnRnK1VSdnd5UFAxaWpRSjUwZkJjcWo1QUVyMFRHdVkySHVodkRacnM4YkMwYmRydVFvRTc2ZlpDcGNlZWw4M2VnQzh5MDZha0gwdVM1VmJrdVJUOHpzcXBiakFjT1k0cERPeDRBemxWRmloc2pWVzdRNVhlZkxUYWF2NTh2dXdienBLMlJPT28vMTg1WENDZzliM1dXZk9HWVVIL2dNZng0emhuOC9nZXZhWS8zallGZ0JmdEw1QWtBZEs4a2FYenJ5dGJ0bzBQcmMzc0hrWG51SmJON245cGdMN1JSV1V5ZDhoYVVlc0RvVUhnejRCeW8wNU1Ea1h1c29RdEY1QlpETzU0WGtoTkRCY3Y0R1JNR1EzdVVTYVRZOHNWdW43Yyt2bzIrWXlpZW5jZjZzd0ttOTAvYndkd0hlbElzcVRQbTNZakN2amVUbUxOTDVtQ3FZeGloVUtCOHJGdTc5WmlIOXBqWndYR2NZNlAxRi9OSXowMWcreUp5UHpxTnoxRFl1ODRZQ1NHc2tONlcxL3FKVWZpMVNjMTZQajlaU1puR1N6bWRCYndMellraTVwb21sSzNiak5pYVAvampUMjlmU1RaTXpINTNIZkZzSEttY0Ftc2ErMjRuMDlmVEZWWmdsNm1jL0hKcDNDT2w4M29pT21WN0hQUFN4Nmh2cWx0Q2VLdktWV2tqWk9CeXpxR25aNTZQelovSHFsMVk0Tng4MjUvU2QwSjU4ZjZZeVlQTGVIQkNmVFNvdk4rbDhMakJPRHBGRzRHeFpzeXRscStHOU9xd241YnVjYSs2ZGpESjJpdjV6MFhsTTdRczhod2hiM2RNYW9uVjVKS2NaWjhKRGhyclpZMnNrY25TU3p1Y0k1Z1NRd2dEanI5aTVQSFY1bnZNMTRtUW4xcGszajRXY1IrNmRqQk1nODdBaTVLTHptTnB2RGNzNGVYcW8xUTB0ZGR2ckFjUjVLUzA4NU1RZTYzWW9NTzhBMHZtOEVSMHZQYXdJVFYxZU9OOFZFcTI3dXM0MzhjUnJ0bmNYMmVTTHhTQVhuVzlMczFvaHNtSjdmbDhqWFBmbUZMaWlRd3UxT05FcG1OVm5TWk01aUhRK000UVRSUUFEUmNBY2Z5UVdscXROVDhkZkNhVi94MjkrL0JzQzA0R0pLc1FBWVhMUitWYWhLK2NUY3hiUjh5cGxjeURUbzhEU2JBQVVxYUpKNTFQQk5yR1pZTGEvWWdxM3dHNy80Y2MvejloYnZlQUtsSjQvcDJheUtmTGxvZk00R1hkUVlKSGI1bm1mRTIrbWZ4YXNuSkFJMksyN0Znck1PWUIwUG1kQXgwd09qZTFxUUlTUGNnMW5QeWREUzNjSS93dWxmL3IrODlENWsySjFDMllUSGRkTlYrZGhiT25xd1JZMzFsNEhsdUJjZzBqbmM0Vno3TVNxOHBTbkpzbXI3dTNmLzdlYS82WDNzamZyZmkxcUtweDU2SHgxME1vNkd4Sk52aEg0bDNlZC85TmpRV2ZGbmR1dkdSdDRkZzR0dWExbmo4NGpsSFErRHhRbmh3YkdjTGVaVFk1SXVVdVNnODdqS3NxbmNwZkxKNGdCL1l2T2Y4djZMYzlxY3NtMTRmVU13NTZmWEhlZEZWK0JwUE02NEZQdlhzYnR0bE5maUVFRnlFSG5ZZW84R01RbVF6eTI1Nyswem43MXVIVEczczdKbE53ZXBzbHZIaDd3NEhUdTlvQWtXYU5KNTdNaU9GSDVVWjNSZHpKTWxLUVpoTWxCNTN2RjJqQlJEYzlVK1g3Sk11dnY4cExXK0tHSnhTUjNYOEc0V09CWklTNEx2MUJGL05QUFRDQ0FVYUxJT2V0a1lKU0R6dGVLWGM1amUvNysvZzVIcStaTzUvZjRpdXNvd1REUGJ6VXpEMVhsanpucGZQNllqcEVpeHEraVI0a3hsczVqblYzbnNad1hweGFLS2d0MkJid3gzYnROK3hKZWRueWMvV3dTZmtlRkwraEo1NVBVdzlTa2dRWG9ZR3FFVFN0b2RwMDNiNjVLSzBkMHZqYno1dlRPUlc5QzBlbmZtYkNiMlF2dnRrWXpTaFZET3A4S3Rrbk5WQnZOVFN2akxYNTJuUzlhcnpCV1ArMWloRm4rSVhlVjN0ZC8vV0FESGs4WlBrbkpRL044U09melJIUHN0Smg1NW5QczhoUWlRSGFkaDA1MkN4SE5JOXBVcHlTZ3daZUg0NFN0bDBMWEhXVERHNjQrSmowMTJrc3hIMkNicUlKbjEvbUNkelJoaDVPN0p4aFRENFlFcjFtc2ZaRjBmc2o2bVBEazJPaVovU001MmUvR3dzdUhoUTZsZkh2ZWF5bXdIQXhyVklWTlJpd0hDbXRyTkxjdkROb3hFTVpMNFFOZTFoeURVTG16ekR6T1k1RWRlUGt3WHhtaFZEYzhpcGpiUy9WUHl1UEVmQTgzYWJiazZVam5rMk0xK1NrM3phK2tUYjdBcVNUTXJQUDFvUmZadzhtcHZUMFA1MWVHeTh5TmVKNEJjTWlNU1pPVHppZEZhaHJTb1RFWE9tbWREQXd5NjN6TmZOTTE5MUpocE43eWlLSVhIdmFRRkZZZXhaN0tJWjNQdmNiSFNMQXkvRXh5ak5LbVpaMVY1MkZpSzNZRjFQYjdGS2ovc0hON3AyanhTT2ZUdHJ4SnpOY29lS0U2R1dYT3F2TVlTUDNiZ0lzbzBwRnZTY1hNYStpSmVyVmdJeDdwZkJHVlBpNmFiUGlkb1hHSm1vRnZWcDJIcFhOb1BSeEtYTzN1WWN5OGhqWVhvcDhZY2s5L0tPbm9IWnZoNEpyczFIeDd2dERXTWhuRno2cnplMFgzak5xQ3ZPYWI4Qk9EaHhlbGh1NG5FaE5IUWhybmgwRnJ3dFB5N1hscFBCcWZxS3Qzbm45WG9keXo2bnlsNEJQdDZIcVZyUjQxc2o4c0dOREpZZTErTVN3ZWJkNi9ZMGFUenB0NFRMVVBrOWFDajNNa2dHZTVlWDRYMjA2UU1IV1NyRHJmTEJnbDNHa256K0hnN3VyaEx4dkZrUjd0ODhHcFlYSXozczN1YjhwRGdSNHAwdm1NbUU1UzlrMjBzTjF4QzFUcEh6cVZtMFZLa1ZIbnVSNFdLUjdmWUQvd0dQRFBDWFE5OTEvQUxaK0hYM3ZvaGRyK2tPcllGcDRpYklIOXNyTVFXUENSenFjQWNsS3o5TkJZeGkyYnVBeG1wZEFMbXpQcVBQU3cwQzdKd1RtY3kxNDE2QWNqWVpyVG53OUUxMVFqdjB0NXEveWVqb2E1VkNDZGo0Wis2bUxPOHB3VXBpeTlhR1NyYXFCTFNTVTJXMGFkaHg2YU9oRExMRVVrYkhCYlhyWk56WnpuUFBiL3dQY3ZQb1Buc1pjMjQ5UWE5U2c3alJUczlTenVkVnh0OHpnQzZid08wWlM3YTNvTEcwOVpGc1UyV0xsUXJjcW84eWYrY3JzWWpLRG9PeDdsdHNFTGg0RnVlQkdZYkVTZkVlajU2VEpLV0JVcml4Tnoya1U2bnhIVlNjck9paDdCQmhlMjQ1cXNXdmtab2NJOE0rcDhKL1NwbnpDTFRDSG9WRENoRmsrVjZlWk1HUFQzdlFnSFkvbWhkQWYvTVZGUWh2OWczRkQrZGZjbzlrV2ZMYzlPT2o4VWlCT2RHTGU4Rlh6WVpHRHhTOTVWMjQwaTdRb1pkYjdtVDcwSGxpZFZBdWk4bHc4RHUyNVV4VjdxbHFTSVJmK0JkQWYvOFFKdVBpZnU5OXh2WmEybzZZWGdSRG9mQkh4Ni9keElMT2VPWXlyRkJlOTBlVTFacXdzUUpLUE9BNldkQXFUeVNXNnE0L3c0NWF2dms4R1NvRGdqS3ZJZ1B1THkrVXBCMCtXM1pBNEZwUE4rWFUyN0MzdEVBNytCV0hBWks5NHNzaFk5Y2MwdVFUYWQ1N01oT2ZYT0xvdU5ncnozMG5HZzVPL1NVbUNocjN4eFYrL3k2VUVlSWk1NCsveEw1bEtCZEY3Vnd0UTdzQXpVVjQ5aktBOGE2NkZnMnhqK0pFcHljYlBwUEdaRCtReWlrUUl2cVhHK293M3NTRjdYenRyZ2xFQzBFYThwY1l6a2tTaml4TlAxRmZNTmE5TDVST2hOUmFJOTZQenBXQ1ZkaytyVThoZXUrUXVVVGVjeDl1cno3ZnpGd3hrWWJ6Z3Z5Ky9WZVV3cW1wckRuaGU5WXdqVDM5VWNCRHZ5cG4wWE5iNGdTenFmQTdZVFFnS2pTcEZUNmdTbDNKTURTcUVUam13Nmp3bDJ0TElsS09QZ0pKaTJ1ek56S05lK25yeWhMZUhSTWNnRHVub1MxdzJqL3BWdzZMQWhtRXFjaWp5YlppOUhPajhza3BPYkhxT0RiaVVlZzZCVnJ4MWpqbisxT1BiWmRMNWUvT2FHWnpyamMzbGpXYTZiV0xFUTI0K0VxSmZMbTNVdy8rOEtGaWZtTmdEcGZDVHdVeGZSZ3M2UFZXaW8rcjRRQUNQZFZuR1NaTlA1aXE1NXhRalpjYzBxUU9GdE9nTjllNTd2ejNmMVNNTzltY3NHL1lrMEgvUm9ibS9BT3pzZS91NUlrVWRoQmlNRjg5ZzFrUXFPMDhISjA2Yklwdk0xMlRHbFpUODQzNG83M2Jrbk1NenIyL1BvRDJKV0dOaTh6MkdEL2t5eU9KTkxMbGQwR3VjSFYrR1VwTUN1Ymg0dEpVTnAwVlRkeVNSbWxZY1o2QXpJbWszbk1Sc3FjQTRpUkMrSlk0anJRVU9tdmozL0Y3Sjd0SllWK09Xd3Q5Q1VGb01xN2RWWllaNytRSFRmc21QUFZwaEhtdytsMDRxZTNLU0M4dTlra3lFdWR5YWQ1N09oQXZzalYrNTcyRTg0R3pYMlMyWXBNR09YQVhoRlBoQXBZOFEvNzc2UGpaQVVIa3dsRHR4c1RjMTJpSkFrNC95bnYrOXp6N3N2aDdsR0Nya3BTM0lFb0dqczZlVEpJMU4raEoyemZpcTFPSkx6akpNY21teWtmTm0rWXdOdEs5N1FXYTRDUS9ZL0JJcmdiOCtYcXV6Sk9KMkd1bWJ2TktIYVY0VUVNTE04bzR1U1FPZVJCRS9CZTVxNlRPUk9oUUNHa1R5TzNyNkd2ZE5aVFRkaGFNbzVaRjBPK0trS01paFRwbkVlaTJvMTJnNWlsRDYrOUt6V1E3OGJ6SzYyNS85empUMjVHNHcxL0JEeTFBaEk0Y0VZNFBiY3NCMGU2UGtUNkR3LzNwWFRyRkhuVE82Y0VhaWpscTVrcHJuS2JtSUVxcWNaWmpDZXFLZklJU0tUem1OUkhiZFUzbmdrWGhtejROdGd0OTZQNTduM3N2NjNEcURUbEdQMGdIUngwU2VxTWdLbkpSTG8vUExudmhaMmorZ0RCSEY4S1c1MENKeWhqcmN6c3pzVDF6V3NtQ05ETXFwODJpeWZwNUpsU1pVcWs4NWpOaFRYSDlVTFhPeExiTEM5OG5zRENsN0xZWE9oN2ZOTDgvNDhodnFEQVZKUzlMZ1JRRHZKUGlHOHhQb1k1cDMxTkpON1RKcy93RytCK2N4aitSZ1dvZ0ROcFBNbmNlZmNuVS9LK1hBVTd3emgvdmI4WDhQd3dWR09maW81TE5NcTdMYW9qYy9zQlk0Q0pCam5JUmwwZmp0YVFJcVpDQVF3R1Vzekl6ZGw3N2htd0kwMEMzSk1tdzhGTlF6NEJ5YlpYSDJaZEw0ZWQ5emxzOERRTFVLdUFydkV0TzM1Y20xQW45b0ptTjNTaU5PUTFwVjJvREtUNmZ4SjdHNWlHb0VvVDk0SThFMm96QlpwakVXblFyREEwSkJJV0V5YmQwVkNiQzl2SmNxUkxsRW1uWWMyUlcxdWxEN0VJU3hNNS9YdGViaFA0d3FQbmlueTdmcTRmSHFjV285WHpXTjRpZmJxSEtjdGExT25TZTZKUWtDc3ByTktkRjBhdUZyUkIrWlhtMXcxak9kYzZMcTZLd0xUUWxmNXM0cGp6NTlKNTQ4aVpzMnI3Ny9MTFZKaE9vOHVVWlVISFhUczdWZDd5VDh3L0c2akpvVG5UWUtQbW15MUFzYTRaT1A4VVdCMm9HUW54OFFnd0RlaE1oKzlyY25ocFJtOUJZQlJQUFNjY2hoTzVCM1N2ZXlDeE1HYVNlY2JTaFZNRmxBRTF2OEhpQjJvOCt2dk5YTW05Zm5iODhoUmpkY285QTlKRDhSVVE1WGhuclRGTHNwbElSbzIrL2NOR1pQcGZEUFcxbWtRSk0rWUVNQjBNWEU3aVJJUmM0VnRONjRSdmRXL2NkY0R3ZWNOeHp5WGVwV2pNbUMxNnJKSS9adEo1MXRCRGZERVdIdjR6Yi9mZFpMb2ZDL2w3ZmhxZTU1elBJdTN2V0J2UFduLy9XZkJ5bmpnZ1cvbkhLRHFXL3lmdjg1L1RUamtUeUtkUjVkUjVONkxsSVgrc3lDd0NaM1BXa3ZYMWFTOEVibnFqWmF4THVlcnpVSk5lTm5PNFFHbDdlZ2lKTkg1ZHR6K2ZqUnBSODJoZUpxNjFFaDdCbHh6MXJmSEpBNkZhZVpRSkw0UUpKVkk1OUg5MC9aOFlyREhsTENIMWh4bG5Vb3FVbFhPempIZ0RkOS90RDMrV0t5ZUp1V1lKbDJXY1o1Yk90M2h6OG81aWM1M1VtcWpZVWlBemwrMVN1QUc4cFhHY1V4OGdpZ29iVmNrVXhlWnlFeUpkQjZKRG1RRytwOVFCRHBvSnNheDZ1SGxSRE9SdlViVFhSUU9SYVB1alF4cndZRmxLQ3FERTJmUmVYNlMvVFNhUllFNmJ5NnJVVnN4WWpqOEN1TnV0SmhKWWpETzc0cDBSMEhsVGFUeldGMXNKMkZEYWNhSVFCWE41Q0FiZjlqYkwzc1Vtb0g5blNTRWUxNmZzNWxpanBDRXZreVRSZWZScmNWWjZRclVlYWl4TnNFNGlsL1BEeEJUSWhIM2p6N0duU2tFbC9QSjl1cE9RdG5pbUZIY1dCQm9valZMalUwcFFNZHZpR25zZ1NlZTNlOHMydWFmVWpBeld4YWRIekNBRnFqeldLTHYrT1VZc0Y3SElCMHd2UGxaRTdwZ2hCTXBMOG50VjVVdjBUamZsdE1FbFkwY2s0WUFxdGdZU05MSTExS1RjbENMTzVWdUo3N3A2anp5ZHUwSmNnck5vdk44UjNNM1dvNENkWDVUMjU3bmMvZXZSa3ZoT0FQTURuRlpWWnpINzBTdDEyUk1JcDJuN1hrSjErVCs4NUVoYnRhYVFITGMxQ0N2WE1mRWNQZ2RxUlYzYnI4VzM1d1RDRElnU1JhZDU0Y0xZc2dYcVBQR29ZVzlBYTlBOGg3OGFveWNTYUlhN3R6K0tHUTRTS1R6dEQyZkJPUHhwdUVEV053SWxrQTZtRzNrOWd6V2s4T1A4NWZjN0wzQUVaQUVuSWRMa2tYbmNZb2h6dXhlb002ZnFRN1ZjY3JOUVhXRnlzeTRVTU1SQUQ2aDJRaHY5Q2ZSZVhRNnNST1I0V3FNVWhlQ0FQOXdWZHdJbG9CcG15bHRSUStTOUJ5WVQ3amsydTZhNThkK1dCR3VMRHFQZmkxdWU3MUFuZGUzNXg4ZmVKd2VsYm1mRWJzOVlSRzRZTjY5eTJrbTBYbDArbklMSjZNWWxMMHdCTEJjakczTkNSZzMvZjBqOUNCeW1wOGdvMHhTNC8zRVlyaVJ5ZmljL3JQb1BHQ0tPK0JXb001ck82bkxNSngwNDhGQVhSekVweGdZdXlSV0I5VndENXhFNTVIbXhrQU9sR0M4Q094QjU0ZWZqdXN5ODYzcnJoY0ExZENuZHVVUDNzVWVlbzZlMk9yZTR5dklvM0FqY3hOLzZsdGFENzJnYTgzb0JaWi85Tjk4N25uMzh2SGxQZmYxNzQva2wwWG5UK0lORmNYcFBBYk9LMTR4bDJ1TWllT3hNVmhBa0dpZCs5VHptdjNYZG1OeWk2Z1NONitzV1hyZ2VKMS85TUZiMytRNG1BOWQxaGdrYkFCYURuSVdqMEFIR3F1cjZmQWNNWjlYUzkwOTQ3MnZEVFRTQnhoNzR5Q2FsOUJPSG1jL2EwLzJNc1llYnJIelV4Rjc5TWdEUC9WVDl6N1k0dnA5cWYvd203bDdCMU1FL2p6dGxMOGdIRDl2SjVUcDdPMWVmTTlZbE02WGZ4UkYra2x4aGNXUHZxZkoyTTlGRkUwRjE3UnBnUXIwSEgrR0dWMlRuZThFdzRQK3M1dE91V0YrU1Vja2lkTjVRTjl2c3U5MVR2dzVIL0lrYlFCQkNjaGZLQUpIYk9BYWNRQi9uTWhSRTRXT3NaeXJzTzgrZGtvZjFzK1UyR2wxK25kR2RUei9uTEYvNEpSeHAyNlhaK1hTOGtmb3ZPdkU3clhVK1RaNy9mLzBnMUNTWDdaenlUTE8xK01ORlFYcFBMVE1lTDdMWGpBdHRPcmJVN1ZRNFZ4Z04zL0xjWDZrT1hEeHRjNytWVE5rdEFlSk9KMC9ZN2QzbmJ2UGo5dituQTg1RWplQW9LemtMeEtCSmhvVjVuSVpucDQydGgvcHhCNW5ieFZrendiT0kwcnY2Ny8rMkNvQzlnSEZkUGFJZllYSHYrZTVYRjdHWGdqM3NuRDJYN2ZyckQ3N2ZRaDdlbzM5MXp4Tng1eGU4aUQzeWFMejdYaERSVUU2NzNabUtCdC9IbjdCaml4SjlEOHFJT0xTakhMRDdUWXYyZFRaSlBqRHpZZiszZ3dSdmhpZC80VGJKOWYyd2QvUG1id0IrSG5JVlR3Q3ZEVWRaR0tqNnpuYS9oVkZUTTRQMXpPODlpRjNxdERlRGdWaFhBSFB2R1VBMTRpZjMzWFp2UVp0dlNhNkJXZWpGZmoya3hRb2k4NTM0bGRBS0xjcm51UmwrZStvRlpBbE1xK2dNNjBETm1tdXlNVlRKMjBYSDYzek1DN3VjMjRYbm1ycTV6UHlhQUJtSWNpWEF3TGlTTTUrSmtJdGJYc0lXcmd0aVMyeWQzbk94cWtNRy9ZZnpXemJ6ZE9RWndENEtkaHJJZ3lIenQ0cENTSzAzKys2dmw3Z0c0OHlUVWFkZjByU3NmeFBnYzVYKzhldTRDc0RwMTJXQXZLZ2FKMlgxM3J3MXVSVHo2TUJSSWd5NzhHZmZublU4NHJCMEhBTkdyemVqcVBENjNuTFM4Qk4rSzQrSXFBdUo1RjNHS2JjT0ZxaHVMYmFSL1NQb3gzSm8yWWw1cHY2WWQ1V0c4TndXL2ZWc3VqOFdlVDRLV1NlR0ozdlJGMkdzQ3lWY2FFMS9FbEp0MTRpZFI3Vi9qWTNTZE92aFh3YVFLaEZVQUFRS0xmUTNDT2UwNEVJaVNNNWh3T1R4U1RnQi9sZTkxejMrUmE0dXpLdGQ0YlRBWXQ5R1Ria1AwWnlkNzd1Y0NwZWJ3S1hHN2d1WjZ1Z2F2UTIxZisvdmUrUGtTU3I3NnZkK2JFN085TTdnMDNzaTBReW8yQ3pGMGpTYTVMdzA2aWJRSHduTzhvTWttTXVUa3dQaDNOM1FvWmVjY0JlRW5DdEV1NTJqWUVlWWNXZ3lFbVBJd0t5STl5cmtCZ3JrdFdOY1F5MnJQUUlESno1Y1RNZ1crSVAwQ3kzTU5QY3I1ZlBxM3EvcXJ1cXU2cGVWWGRWNzdmLzZIcjE2cjN2Kzc1UHZjLzc4WDAvU3RkQ1pvS1duSThZSjNzcEZKL3pZb0d6NDlUQ0swUVRxQWgzSk9mN2pOWDlPTWZtVkdFR0JTQkNrenZkMit1ZFIzRCs4a1J3WUhTZnRKeHpnb3psb2JSbDhEWFpSRytyL3JsOEZQc0syVmRFWUQxUHpTdTVIZTU3VGpmem5QTzYrV3FFRzdKc09MOFpMbExtcEZtVThYelg3RnhMN2ZpMUw1QkVjVkd6TE9iekdPNUl6cnRLWk4rd24yWlJBR0pvZFVjR3VYdUlkUHAyOGxRc24wODFMYTBwQUZ6WDZYR1g2bFZma0NUY1ZDMTBZdWx0WTdaWDl4cFJzTHlhb0NwWCtVTXVPSzhIa2lpY1NnMGpUVXZPOC9uQnFGOWhPQS9FTkE2bXRoMHh3RUszYkp4aHdvd3k3STdpUFB5bDVlYlFlR0ZaRklCaEZlZytBd1MyV1RnLzRvc0dBMVVwZ3pRMSszdE84azZQeWVNTEZTRkJwWjZNVkZNcitURi94eGZycnNvT0pROFI0RHp2Nk5lNWIvQm53L21Pcm5LQ1F2MDdLTG9YNW0vNlRjVnVEODZyTjJBbTdyaGlnS1g3UzRISGNXNmlPSSszdmlIaXc5bVRvcklvQUZJV1hUTkU0QmowU0w0cnhsU2dhN0JoMDFnUnNpN0hER2R1Zk5JTW44Q05mcWllMzlxVWRRZy84Sm1QN2Z1cXFvSElBT2RSd01OTUNIY0M1MEc2Y002ck4zUFgrdzhTdkFJemFCVG5XL0pOODBVNGVubytnd0pncGs3dXJCQ29zZlI5UFY4SEVQQ1cxQVpjdXlMZGVPVzcwcDN5aWtLbUIrbHRYWnpPOFdxbTB0bzN4QVk1djJrdURWS2hiRGlQWEphaWI3OGRWWVhiZHVlQVlnVG5NZldqM2xKVE81ME1Db0I2ZGVUSUVJRVdPRCt1TUU5T0NqemZGYUg0aVExSE1nYXNnNE93MVZ6eWVZd3JST2crQ0VwelQ4U0JPZi9VV1E0TTJZT2NiMHZUZmlBUlM4NGIxb09BV0g3VExFcmZIaWhweUV3MThhSS9sTGFCRjNJaU9JKzM1TStqSUpneHp1TWZxN1F0QUdZR3lKMFJBcHlsdXBsT0pSUUNOa1JFRExUMThSdWVQZi9OOVZReVJhU0dXWVQ2eGhpOWk2bUF6cU9tNkNEbkVUSEVPRDNNK1o4UFg5Znd6OEtvVVZOOVl6TlY1WTdnZk9XUGpTUTZBK1BtOVRzcXJuQ3NzMFMvNGVqaUhpaUY1QndQb1NFN2VYNUVySGplRVp6djZoS0V3Wmh1UURJb0FQSDBvbENKRU1CTDBzMTBvcGd5TU5wY1pTL0RZbGpkK0hxcmZSaWJ2SGRUU2hxOW9qU3BGb1RQTU96SklFam90a3JWOHd4eUh2d0pPZUZpaVBNWUlZVC93aWJpYTZrNGoyOTlSUDFNWTRTWGc1dzVmK3dwY3ZJQ0NXR0thd1RuWFYyQ01DbHdTd25Pb0FBb1dlVElEZ0h2dmV6YnlPTzFobXdZMFp2VDgwQnlyZEJKUGJWNGxOUFRmeWgvVFhQS0QrVXNTSm9nNXptZFIxTWQ0bndreVlLU2ZUbElQVVhmZmh0NlJQelVFRmpxR2FsT3VBQVpiZWphTndiWGdVZXkrdm5sZ0craW0zRE9BM2sxb0VQVGZsbUp6S0FBS0Zua3lBNEJiK1BXVFJ0NW1QdFJ0blVVdUdlMUxGbmd3eWlrUTQxemJRYUwrNkNuQWpmTUJvWDdCam5QdTVVcXJISU1jZjZNR3hRdjd3Yi9Sc1hRamxvcXpwOXRTYUVqMTNkcTJiNXJmU1RJV0kvaDZPSWVyeUM4YisvMTZMakVvNGlZazczRE9jK2JqUjBSR1huWTBISzJSUWJTRndBdGkxeVpJZUQxYjNzMjRqQ0dWMDFXaDdGOUxRdWJyZnlmVVF6MDB6aXVxams4REVSQVRSTXMya0hPOHhYRnNoenFlRU9jMXc5aXVHcXBPQjhRM0ZWMVk4QTcyNXYrTURCSy9MM2liWVJQNWFsZ1l4emhuRWY5cWpLMnJjZDVrR05mQU1Zb1E0L1NJbkRJQzBMYXlGNDhWUE9xRklIa0I0YXdpN2pudjdEeHNSRXMybG1ONUR3M1NkMDBJK2JOK1RHcWNEV2d6cDZwVHBoN1dwd1B0OXM3enJmOXR4RzBnNFFwR3VVWHp2bERvNWJaREJZbTZ3SVFwUW41V3lDd2pYSVFZdTFLSU5GWXk0bnVZN0M4clh6Q0syYXBFMEFSMG1iZ2dFNThoaUR3S01qNVdIMzdnTUJKTjJYaFBGNW84QjBZR2VPSGErRjN4ZkJLNUF6blBGSlVScHltWWNQbG9tMExRQ0wxS0hBOEJJNVJCaUxMU0N3UjRMeHN4MkVjR0xaei9jVmR2SlRWWTBrYURRVHRwT3loaC8wbmNRU3MyYWNJY2o2V0RXOUk1UGpiemxBZE14UzZXWlIyZnR2b2RnM3BpQzJZcjIzaGJVUkFPaEo2eENPYzgxMk5ER1orVlo5UHhMWXJBQ01xa0llUHdKbzU3UnR3VDk0L1gwVVpVTFYwS2tEUnQ1ZEVQOFNzK1lpTTF5R0YvUkhmZUI3dEtPVXFyY3Q5MDBROGJNTmJEKzI5Mkl6bk8rTzUwaXdGNXpIRXJsblU4ZUdjUDlibVZIVDBSaXNVbXdJUXI1amNlYUhrbEFpNE5mSTdtZ1NIaXlpQlB2S2tDQ1BQd2ZsYnduTXp6SENHejZJWTh6Y2owY2Q2TklabjVHVG9oZE1EcEd2YWc0UHRQQ0tHOUY1c09JKzhqUlpucVU2Qnh2UHRJQ3hhUStFQ2JNcmtPdkp3Z2tjNDUxRWI3b3FJZ2VsNUpjeWlBQ2daNUFnZ29DWmgyT2p2Y2lCa3lBMlBJaWtiOGppR0Z5em9Va0RMSk5xZnk3am84ZTlLZDhJcnV1aEI2N3lNdjRtdVJTMHdaZ2h5dm0wdTVwR1JyTTY2M2d5VnFFUTNpOUxPSStkaC9iYTFubFMxT2pUa2x2NHhydUdjcitwK0hNd291NUR6VHc2NHNDd0tBSmREdnhBRTdtWlJ2OU42U0hEVEMweXhzT2w0a2lCQ2NCNU55RFVsdk1zK0lOd0ljRmw1SjNPZzNRaTEvNjF3SXprV21jaGQyNUFhNUR6YUhxR1VtYUJsTzYrWEJKcENmWGRoT044TjVmd3FVMnNiK2ptMDgwY0NrRU4vZXI3WnczMG1CVURJcFV1R0NIRHpkK3JSdHE4SDdEYUNYbGlGVjVlNmdmOXFGVzVnbllZTUVPdksxL1VlNkpCL0pOME4zcXNIeTFVU3c1eHZoVmtXck5yNTQ1SzA4OTFRUGFIOXJzQnhmY1RNcGdHZTRBcHY1emYxckduYkt3RVZQdm1iVFFHWW9CQTlUb0VBM3FKK1l5bmk4eWd0eVhsODFrQ0phRUN1dkRHcUF1a1Y5MW9OYU5lc2kzanVGbmVnSU8venEvZEREYUJOeG55NHN5T2Y2S3ROTzQvRXd2ck1Vbmd6Mzc3OWg5Mkg2ektwOFZmb09kb2Y0WFducUppeHczV2NYV0tzOEhET0kwV3BXOGQ3NlN2Y1lKQlJBUmlyRHoxTWd3Q2Z4MmE5TkRGMW5CcDcxcnRCZzYvNzJsM2RLMS9TeTdSMHBKZ3VsSndyS3VpYXJFWE8rdXUrMUZtWVBBUTRyMnNjUE5FM0tyNVZPNDhNelk3ejk3Q0gzWEREaHM2Y2NHMkcyUnA1ZDA3aTJEQUdZQ094eDN1RWM3NnZTMURMNjNtZDViMHc0Q1dIWlRZRllMeEM5RFFGQXVzb0RKSkpLYUo3VVk3RlhCMXNkWFVsQXpVK2YvUDh0NkpjL24yU2Y1UXkzU290eUdKLzdQdXBzekM1eEVCUEg4WFFyNGVDYWRtMDgyMnpIeEVVeSsrYWViYnpaL0F4cmpNeGpTSUFYaU1tOWVUZHVTTngwMVl1K1RUMk5aeno2eXJyZU02cjJ2Tjg3aFo2WkZFQVl1dEdBZU1pMEVCaE1BYkZjYU1Gd2pYWU05NTlYNzFrM0ZiMUFITFphUDRERWVQY3VJWjZmYkVPWUZVVy83NXV2VGpuOWVyWHB1RTJVckhoUE5JSzZ6cEk2VWp4cG5SSFhWT3Z2ZlUrQzkwYzE4M1FTVmIxY2dudGllcFl2ZVhtNEVBL1NPWUs1enlFaTZ4M2ZaNXZYNE5ZNkxFcnBGc1ZBQ0dETHBraDBBWlQ5REE0bmRobHY5T0xWbmRMQzloa3Z5cHYycHFMMGl2KzlUNXRBS3kwTnZ4NG03S2xRaG1VVGIvSGVUbTBnUDBvTkZNMm5HOFlhWVdvNytxR05PU3A3NVdXODJlOUQwYTAvUUZOcEhUeG9CYld4VG5EVG8vRTg1V1E0ZjRrbWZKNU9PZFIyMjU1SVRCcjZ4V0ZLbjlQV1JVQW1UWmRzMEpnRTY5cDFPU1RUUHFLUC9tekVKZ0RrbTJ5NHl5TmJSOG5KUVZybk5SUG5vWDFKNHBldkcwWDlZRFh0NWR0V1ZrMGE1MEFBQ0FBU1VSQlZGdVd3aUhwTnB4Zkg3K1dCWnJzRDZVMmNwdVc4MVhQNG5Jb1c5TVJ1UUVQZERodUJUejR6WnEyYURZbTZ6a1NYWHFFY3g3akdqL0Y3YWU5RDRsV3ZNU3lLZ0F5YmJwbWhRQjZZS0VqMzBUeW01NUZvR00yODg2QytuejU1eTBLR2RUNHZLUjF4WDJ2cDlYUFFHWGZ4VDl0dzU3YzhYVUYvNStyWHZiY2FHOUNtM2tyR3g0NEwyMVNmb0tCLzg5Q2s2Y1BBbDZqTnlrNXYrcVBtYzZydnZLb1pNUEhOY1k3MnJ2Mk51RmVhNDBib2VnSW9hNEl6amY4YW5tVkhmVjVPMy9HVytlWFdRRUkxWVE4MHlPQUVwTGVqQ3VUN2ZPKzlvVWd6eXJ1Ty8zSFh3MzZ5eml4cnhXY3BOcmpvWSs5ajliOE43UmoySys5d1gyKzBPTHUwMWY5SHIvaG5GODQ3WEZuSjN3MHo3K2ZObXJlNGhIaS9MQWtNTHh6WFhuZTc3N3dGVndSZHZyU0YvLzJ6VEd5VW5LKzRadmNsMFBhNzVERWdNbnVxUGRYeE9xc1NrZDFqRVlEVGZTSjRQeUt2OXVwK2pRcVlZeTEvQlkrc3dJd1VTc0trQXdCWGxUOXhqRlp2RURvUmRUdWkrNWdMK0Q1UmZiMkhqWnlmWmlkNEdMelc4VUUwRi85MHIvcytOMEZyakIrbnM0Tnp5bk1VNXp6VHVkMjNWbkNOdkZQaGlkb3czaytxeGtxMVR0RlZHZ3lIc3lVbkhmOTZaQUZZU29OVlVKN1FwTXRmU2RkbGRySmQrRCt5eXI3RmVtVjRockJlYWZOM3VrczNZVnFwUUpkVjFwSG51ak1Da0FLUlNsS05BSjhRQ3dOWXRHaEpqNjVoMTBmNWRsdk1uYjlFUXlDZzFYQlJGbWpBUzY2WEV2MjA5NFRkdVBxQTFjZmFmbWNIK0Rtd2FzM3ZHRzh4L2xGbDJzeStNbFJJWjZQRGVkaG5ZN2lQTFR3Znc4S3hTS1NUOGY1TThMa3ZxQU1HeEhpUFc5ZUEyMkVCRmhwc3NGVjlBRmVHZklzdGxjVTU1ZWE3TlF2UjE5a2c5WnpRbDVtQlNDMmZoUXdCZ0xlMHR0NmpJQVRnbnpLZmZnUFI0Szg2VkpyOEpiZkdmRk83ckgwclljRzkzOTNRanlQODg3aWo3V3V2Nm9lRmRTRzh5anY1akxncUNURythZmovS0hnK3JJL3JCK1hBSjd4V3Z3b0xNelN0eDVoajczS3JnS080cnl6OXZIV2YvUUx3TTgyMzlHVHlXZFdBS1JBdW1hQUFDL0k0YTFYQnNLbks4TG4vUGcwYlRpUCtUL1BmRDQraGJGUDAzRytJMWJRblk5bEdPSHpaWGJFSHBPRlNNNlBpVU9QQ29ZQU4zeVBzVVlYVE51eDZ1VE5lZDRscW8vVllPTERPSnovK3M5OTg0VVBtYVoxTEpVLzhpU3Y2N1VJWTFMaWF2YkdQTGQ2Ukp5M2dxOFlrYkVUem1yMnZCaTU4TFRJbS9OODI4NU51L3pHNER5M0dnUVgvOEJueDB2Mk1OYWJ3dTVqUFJkdnArNW9iT0w4S0NhbDh6bEVDWW0zcExQd1djdWI4M3hyMm9ZZEN0M0pYU3BlQ1FkZnlhRmNOZHVQMWJlUE5EWGFxZTdISnM1bmdlS01aV3lqZ0Qwell4MHlTajV2enVQcmk3YXptdHR5bldCMGxoZS8rU013cm90OUJWNndZMWtwSDhleTRmSFJXclI0eXlmRWVVc0FpeEQ5R0NYa1ZoRVVzZGNoZDg0M1F4ZTRKVkY4K2RmaWhFWlRmODBJNThvYW9CcHJyZzVMaHliWExJYjRSRTdpZkNLNGlobTRDczd2RmxPMXBGcmx6bmxnTlpYcWNUM1FuMEMycnZsUXVMRVdFU0syMm5hVUZNS0o0WW56RXlFcWZnQVhuTGNjcEJZbGs3bHovamlEblFseHdHcElRNzBYR0RUYjl4eFliUE5zak9pSUxkZkV4QWlkTUFoeFBpRmdSUXdPeXR0T1FCVWxXK0I4K01ZYVEwR2IrWGtzMXArTzZhTWJtR3hEWDMzUHl3SG1EYTRaV1lseXR2VSt4S2dnNmYySjgrbXhLMHBNYm91MlhWeFdsTHlBRSthMGRxaGFWcHh2NU1rbVE5MXF3QWgzeUYrUitHMFpvYUtjNkkyWUZzQ29ZT244aWZQcGNDdFNMTDVvYS9MOFVaRTBqdFlGaTFFbURtU3RPTDhlb3lNUnJWNzhKMjdnSElLMkpEeXVOMk1JUVkyUm45V0JPQi9qRFJROENGL0FNYkZ4TEhnZXBIcDgzOXVPdkltNFduRWV2ZXlKbFVwRXVrbThNVzQzQitTYjdLbHZlTDlHb01zZktiRnBQYnNRS1pydmw4NXZIbkJNc3ZRb1F3VDRaTzRQTTVRM00xR3J2L3R4WklXZHZ2aTN4NnBneFhtc2RzbHZGa3lyamI2WHVXS2lLVjlRbXcxMG9HZ1hVTmlQZm1yNWhEaHZDV0FCb3ZOVlgvbU4vcWFZUVgvSktxZjkyRVN0T004MzJZeVZuczFEOE1yc25Lc1hWSjFzb29RQ2ZDdHRuQ0ZBT2wySjgrbHdLMUlzREZGakdZT0xwSE9vTG1leHJmN2RmRi85ZUZaYWNaNHZ1TytGcHA2cEo0WVFsdzJCNmdXMVl0WE8rU3BKbkRmZVRFbWRmUlRqclpMcW5rWnRLODduMjRTcTdCd0dwdWVScUY4RFlDcHlWNFdKZHVUYkdTSE9SeU5mbGlkZGNENi9ubUR4VUxEaXZPUG1PVlJXWUxVRHZRbFFmY043QkhOcm5EZVZyOUdCT0s5ZVUya2RIWEMrVjFydGt5dHV4M21ndFpzOHphUXhrSW9SQlgzMVBlLzJYRHdUSGl3ME9VN0VFT2VOVjFOU1p4T2NMNm5xcWRTMjR6eGE0RnVwa2swVXlRM01Ec0NLMy9PaU53SXplSkVTRDRNYmNTUERwWHRBbkUrSFc1Rml0Y1ovcDZGSXFtYWlpeDNud1NkekZpMFRqVWFFWUFCdkxpRkdPNy9qaGVuRU03YWlYb3F6S244azJYZ2V4UGw0T0JVNEZMZEttZXMvQ3F4cU5xclpjUjRXOWFlejBXT01GRFRzNWhuOEdNOGZlS0hqRGVlZHpUeVg1TkNhbkRFdnJpU1ArTVNPV2NCS29uWjZOZTA0ajFZdXg3R3l5QlVTTVFjUXFKYTlCeGRqcnBIR2FHMC9QVDZUWWxJN1B3bWh3ai9uRXp0bUFTdTh3cllLMm5FZVRYRCtteFBRbWRoMUtqL3FQaXpPOWhhY1A0dzVyTUFiM2JORktUbytjVDRhbTVJODRhdlhka3VpYXlacTJuR2VENFg4am5ZbXlvUUxPY1RrM0ZLVjNaRHRkZE5Qc2hOK2FQMndEQXdGOGxTUk9EOE1lT251MGFiTXk0a1o4YkMzNHp5Zm9MOFpMNkgwb2RvNDBLQTcrSzd6SmpiWTRWS09QUnZlV3NDWUh5MGRtd3Z6N0lvUTU2T2hMOG1UZFhBK3g1NWc4VkN3NUh4bkNxc1drY1lYdkRaOW16M0tBV3g0MWN3NStTWGVDWmlpNTJaYS9TZUVUdnlZT0o4WXNxSkZhSUR6dVhkV2k1UnBTODZqRGI2V2QzWmNkbHA3SDA5a3dXL2FGenliWE5YN0p1L2t0RkdMNTJtVUpjNVBmZ1VGRDRFeW5HZFBzSGk1dCtROEdKWDNCRDIzR2ZqOHhxVEtFUkJjNHZQdEYySTI4L3o4cm1zNXdrNmN6eEhjNllqZW5NYmswM1N5RWk4VlM4N2p1SUc4bHpOZ2JzRHYwenRPeTZmdjhXMm4wanlKMlIzRHlHQXJIaFNwUWhIblU4RldwRWpOT1RreEl6YW1scHlIaFN6dlV6UEFLcmtEd21VLzVCbGJaZi9CaldlMFIyQTNYd01OY1Q1MlVTdHFRSlN2SEJkcUZqRFhscHpuSGUrY2M0V3BGSS9wU0tZbXpzWDdSZmV4U2QvaGxrcnhNMDFqOWdoa2xFUlg0bndpdUFvWW1KZVEzUUxxbFo5S2xweDMwREdxNTZjZGwzeW9PK2VkZUR2cFRIMnd5T3EyZVorMW16aWZOYUxUbHNjL1c3d3g3VVJubXA0dDU3dHlwVXh1dVdqcldxVXF0OWZFVHd6bmdNcGVRdnhJQ1VJUzV4T0FWY2lnZUlONU4xc0Z5N2N0NXcvek5Zc0RMUmpoSkdhMTVHOEgrdDJTMGZPNEV1ZnpRSFdhTXRFcXFBSTJ6WFJubDVZdDU3SGtKZGQybEJ2aGxKWFFUVzZQYSt1UlFTNGdFK2R6Z1hXS1F0ZnpOME5QTVRkeGtyTGxQR2JTOGozaUhsWkN0WTRPTmZMTk9Ka3l3dFNTZHcyTTJKT2R4UG5KR0JVN1JOOG9ZTkQwYTVkYUQzK3MyQnJiYW1mTGVjeVo1Mm9YZDR6ZDgzeVNvSjRzdzRneVNCWWpZV2ppZkVMQUNoZThHMWlvK1ZVMnVML0pQbFE0TGJOVXlKcnpHRzRuYlhzVDZROVN5ZGxUck1OanZVU1JIWmp0VlM4aFdjeVlvWW56TVlFcWJEQVVZRzN4V1d5ZDdEbk9SOWk3Q3F0dUJvcFpjNzZSOCt3bVRDeFhSRDc1ZDhVT2t1VVprL3V5eGtnV01XNW80bnhjcElvYXpwVm5wM01GdC8xcHUyclN0cVdvbVF2Vnk1cnpXSDJiNjNkLzF2VmtJUCt1V0dnbW9qMzdPWnZ3Nkd5c2FPeEw4Z1NGNmtpcXVzVDhZNS9PeXRYZThzRmNYYTA1ai9GMnJpdnV0N1d0SHZSWEp2eVlMNkdUMkFJUVU3QU1SdTI4UktLa1YzNm1Tay9xdnN3KzZEa3JpUXVhbEZDR3F6WG5ZY1RMZFNmaXNWNkgwd2l0WGlyallNNTlteVJ4Zmh6OEpYZ1crTXlSNk5vN3ptWlNZM0VKY3FwVXRPYzhTRmxYNHJKMzFMVGhIU21OYnR4ZGE4SG9FdlhEdXNxY3orVWx6a2RoWHhKL0xERFJpN09iOHR2dC9YbGVnbS9QK1VQVEJwTDlpM2IxSzJtR3JmazdQMjZyTEF5QTE3Slh5WlJJbkRmUktLRWJWbDdWTEdCaVNPUmdQZGVEVm1ZTWt6M25ZVTBmYlgyenkxVkxUN1poNUxVL0lyZ3pya2JHYU9Cb0pFYW1Ic1Q1VE9HY3ZqQTBXV3BtNTRJYXhpOExZOTcwOVpsQ2l2YWN4N0tYUEZmaTZSVVQvUENNbldGSVlJSzVOdXluNzZ0NllLQTlNM1VSNXpPRmMvckN0bzI1NW5PcUpKL04xMGcxL1d5YUtkcHpubStDU1RocmJpb3d3WTBhUlZiREdIbU5WaTVqSitDeE5UcmZGVG44akM3WkhaeVFFWHBjVEFRMmphNWdReFVYdk5hUjVxV1krcWZRS2dQT28zZTBueUxsZUZIQStWc2lKTklaWFFtQVZ4WTlza0F0SVN1TWVLa2xEMFdjVDQ1Wm9XSzRCcnZiYXRvWjF2eTlRcW1acFRJWmNCN0ZQa2RtNmI1N04yUjlEWjlkamQ3WDE4ai9OQVRpZkphbGNmcXkwS2JvcWVaTlpjNEQ1NCttcjh5VVVzeUE4NEF0eDFVNTR0eEx3TkZrZzVFeHhQTDN4blhmY3gxMStDK0lPRCtsZ3BwVE1qQVMrVXZ2dVB5cTRqd21lYmR5U25IMllqUGdQRDRzaytQZXRacTAwZUUxakI1VWY3d2JOc2dYc09aYkdmbUpFT2RuWDRadE5NRDcwMlBEcHVvem9yRHQyb2d0ZE53c09IOCt6eTcwcGh6UFB4NWlObGhpTzhhUkdzTkE0MzFlR2ZiTCtwNDRueldpMDVXSHNxdkxpR3R5WG50UFY2UDhVOHVDODZnVTh4dlE5NlhzanBvODFhZ3Nmdy85c2NoT3hpRmpkUjAySHhkeFBoOWNweVcxYjI0RjE1eEhsNTg0UC9ZZHVDR1RhR01qSkhoNFR2VG9zVWJxYlNQUnVsZXdNanB5cHJDamwvQ054TXpLZ3ppZkZaS3prUk13K2JUVTZCR2N2elliaGFhUWFoYnR2SVBLc3BlWHJxdWlQdW1MRDFpWjZWU1FiRGN5YmN6T2o4N3RtZEd6Y0JQbnMwQnhkakphWm5PbExVYkUrVW12QkFWL2QxS1kxTS85ZlE5THJaQm1mZ0VtVjlRM2UrR3lzZDErUC94SmhyN0UrUXpCbkw0bzlCNE53N0MrSWM1UGVoZVZsakorVEFxYS9QbDlYbjN5QjJxSmxDR2hmYzM3NU1XRzRXVTQyOGJNcStHZHJaTTRueTJlVTVhRzEyZU0yM1V4SnM1UGZCRjUwbXVwZFZKM1Bzc0c5UkV0S253YjdYclVUQ29xSXFNS0g0bWNrUWR4UGlNZ3B5dG03ZEtydlFSaHRqZDZpUUhPRzNYQmRIWExQYlZNeHZQNE1ueU95NWErd0pqTFRtK09RbkdXTDcvSGR0bmQwVWZ3QVJ2M1F4OWs2a21jenhUT2FRbHJpNWFpSFpnTTBuWjdtcCtmK0NiUXB1Wm9MbnZEUTRPMzFrTjAyT1lIR1dGTi9hMlFaM3lncnhkVmhnYkl4Sk00bndtTTB4YkN4TkM5R2VnTDBwcWNKTzhoV0Y4bWlXa1J0c1hiZm16ZkQxOGM0QVplcDBVeVk2TVM1OGZDVTlDSGZKc0czM0VKRTk2dW9XS04xdDRhYUV4eW91Z2ZUUXFUOWZNTDNwbEc2SVU5RXlZWnV5UTJ3dnd6OWlQT1p3em9WTVRCUk1jdzU4TUhoajBqd2NBZW0ybVVIaVB0S1RxekdjL3pyOHJsMkxrUHg2UHZwWWdxTzNSalhUOHdVZ3VYa0lFdmNUNERFS2N1Z3JmelR5UFZkbkEycUt0dTBYdmNtN3BXMDBvd0s4NVBaL1FjUU1VOTRyZllTQk42TG9ZcmppME9STW4raGppZlBhWlRrTmp5NXVoZ2h0bzFFK3Q3alQvM3dXdmRNWi9NbFRzcnpxT0xQZVhPMEJseDFuMzR4anFZOXVyVGVGSEUrV21nbkhrYXgrejJnWVBwcGxQODY5OTV0Vmg3SVhvWGh3NWVWbGRXbk1jSldWT1lEVGRSYm9oaGZETzBFOS9OYzArL29RWngzZ0NqUE03bFFRL0sxb1krVjZOUHdUdXZXdnp5NUNtMnBwbHhIdWFRNmZhR21xSmZVUTA3a1E0RHRzdXhNYkFKU0p5M1FXOW1jU3ZOcDNhY3o3R1RRRFBQdjRFc05GcWZkZ3MyVFNReTR6ekdSbGVtcWZqRndUZjgzMmJZeHJwem9ZMS9Edm9SNTNNQWRRb2lZYVI3aEExdURxWGt5Z0hoOW5RTDg1QWFPZDlteG5tc2dSazlsVFpINVJzd3ZjcGZieVNkR252dmlGOHVIc1Q1WEdETlgrZ1RyMkR2MkJ0T3BpdVhibGJuMkd5UGorOW1OUXpIK29hallReHp2SzlKd3VNNjh1NHVzTUZPam1rYm9vbnpCaGlsZDU0VDY3dVdwcktHYzFad1pjZDVUSGFHVHBUbms3TlZ0YkQyTUdURzREaDhuVTRPcWhEbmN3QjFaaUxYaE9GK2VXcmxaeFpaelpEem1LNnJUeTBMaDJyeEhiWkdiUTBsQzF2TXREUWh6ZzloWCs3YnRsK1c1cnBybjJIZjNzSDV0NHFJdWIvNTJyNU1JbVJqM2ZiMGVoekVlZmtlNXVLNjBqckZRUEhUN0gxemtadUlUR3pyWWZGR1JKRFkzcXRURzBVN0s2cHJIN0t4RGhOMTlkaEtwd3pvYXR4U1NxQm9SVVRnQzJ4dy8wUHN5WU1pNnBhVlRsbHlIbWZUUFpxVlhoUGtQSzR0ajloTTgyd3dkRDh6dTJSUXJubEhuRGZSbUNQM0U1ZGExMTh5MTVSSDMxNzlyTnQ1ckdtWWxybTh1cStLR1FidndTSEZXaXYvWmg1N2l0UlBhVUlPUXFBTUNHVEtlZFFnVjZhUzZaV0JUZ1k5ZWI1RlN2L09zdy9vbTd4Y3hQbThrQ1c1ZVNQd2h1ZXBYOTArcmJVWDd0c0xpU0doWWM0S0RtK3N1L0RTblJnaUxJTjhVOEgyUEV0SkZKMFFJQVFtSWxCeHJ4bGhBa2VVRy83a0pBUUlnWGxCNE43QUVBSUhaTTVMeGlnZmhBQWhFSUxBMnUvallLT2VmUENsMThHWTlqZStJVy9wU2dnUUF2T0dBT2JtK0UrTTJRKzltM24rdXRpOHZUL0tEeUdRRklHTDdQb0RWMXVEQXovZWZlekcxUWNlZktTMWxWUU1oU2N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JZ1V3VCtoZmlhZ2hUNnBhRjc2VTlYUW9BUW1BY0VQdHhpN0tmRWQ1TjRmdmo5cTRuMTgvQnFLUStFUUJnQzkzaWZSenZaRTg4cTMvYnVmejBzS1BrUkFvUkErUkc0SUw2SWVDSmErbyt5MCtmdmZPbjMyZVh5WjQxeVFBZ1FBaUVJMU5qZjNWbjZGSWovUGUvaEFydmQ0NDdQblZEdjNnT0UvZ2lCT1VQZ0F2dkhQRWQvQXRKdjRicmtEdXE0NEZlamh0NEhndjRKZ2ZJanNQS0t3VXRrTHRyUCthNWp4azdSc3QvSFhpT2VMSWdITWlCZENRRkNvS3dJTERWWmkwa2JuYnZoWjJNRkRmMFZaNm4xbE14VnBTVmRkQ1VFQ0lGeUkzQWZlNWZ6UjE1UDNuRldiOHU4dEJtNzdad1QzdHl6ZXlRZjBaVVFJQVRLak1CU2krMDR6dmFUWGg2V2Z5Q3p3aHY2cmFxcUFoem4vQlg1aUs2RUFDRlFaZ1NXR1VicXY4RFlIcy9FNFdXVkZUVDBKK3lENnRhNW9Lb0Q3VWN1UW9BUUtCOEN4K3lhVTBHanZzdFYzNzZwTW5BUmZxeXVicDNGcDdXYlhJUUFJVkJhQkpZWU8zTDRRcHhiUEF2ZG5zNUloekcvdys5N0xaSGhYbU5ETGtLZ3ZBaWNaZXpBV1FibnZhNzc4WTdPeVFJOGpWdEhtZkIxRUhJUkFvUkE2UkRvd3p6dmNIcDc3YnpKK1lyTHpQRjh4VitZVjdvTWtzS0VBQ0VRUUtER2Z1ZzRmT3graFh1YmZYc0huZnNUSFpiNjlob0xjaEVDNVVVQXczbmV3S05KNy9GTUdEWThoOC9XR2ZQenE2Z2I2RWNJRUFKbFJ3RFd1OHZJdzVrSGY5TEx5VHEvRWIvSEdScDZQWWhmZUZZK29Dc2hRQWlVRjRGMXhtNGEycHZFYmo2MWlvWitRejd0NzBvWFhRa0JRcUM4Q0hTNTJWNy9WclNoYmdFejlwdHlTeTFDTlBkME1ISVJBb1JBV1JGb3N0T0E2bTVQM3Rhd3J3NFRlV3pmOTdnUURDZEQwWlVRSUFSS2hRQVc0T2tSTzlkOCs3MUMvemN5N3NLSS9yYmZEK2g4WHp5Z0N5RkFDSlFZQVl6WWcxdytjN3JqWldmVjV6cWZ4UE8yMmQ2akIvWWx6aTZwVGdqYzhRaGdNYzZRT2I3akxiRmRjUVhIN3dYcDMvOWJmL3JqUTkyQk94NDRBb0FRS0NrQ01OdGZDYXAraGozMXYvNzBXNHk5UjNqRGpPZjlqb0xCNkk0UUlBUktpVUJiMmVpVSt2d29QTWIrcmJ4ZnVzdTc5MDdKazM1MEpRUUlnYklpVUJYNzVrMzkzL0RnNE9HL05qeGUreUI3dDNsdlBDSW5JVUFJbEF3QnRPRytXYjVrZXBPNmhBQWhrQXFCUlp4dW15b2lSU0lFQ0lGU0lvRFY5dWF4R0tYTUF5bE5DQkFDOFJFNHp4aWRlQlVmTGdwSkNKUWVnYjQ0SHFmMEdiSEt3T3FsMDc5bEpZQWlFd0tsUWVDWTRRRE1PLzIzMnZwM1B6Ym8zZWtvVVA3dkVBUnEvdTc1T3lTM0VkbXNZbmhUZXpUaUlYa1RBdk9GQUticU51WXJSOGx6ODJWV3g3bit4c2M3a291Z0dJUkFXUkRBVkozL0tZdXlLSnlIbmsxdXhWd09uUENiUnpJa2t4QW9BZ0puYUVrT2pnall3cXM0Uy8yZEloUkkwaUYzQkhDcy9TRDNSQXFlUU5kYmlIakdPT3l6NEFxVGVvU0FCUUxZVlhlbmoyTXJMZTgwc0RQK3A3c3NzS1NvaEVBWkVOaG0vUHVVZC9UdnJIOSt3Rm1hczd5amk4R2RrL25ONFZOeTdweXN5NXcyL0U3OWd2OFpIK2xMVjBKZ1RoRm9qcHlTTTZjWmpjNVdoOC9VT2M3NjhORWgwVEhvQ1NGUVlnUmd0cjlXWXZVelVMMGlqSmdOR3M5bmdDYUpLRHdDZkhyKzhzeTFYTGwwK285bXBzU3EyRmZZSmJ2OXpONEJKVHhGQlBqMC9NeVg0UzI2cHkrM0lGeDc4TzRISG5qd2taWTRzZnNjdTNIMWdhdnZqdzBpRHZDL3dYL0JyL25Fams0QkNZRnlJY0MvT3I4M2E1VTNCM3ZPWnZvWlErd1M4bjZDODRmbVRZeXNuV2NEd2ZtZEdLRXBDQ0ZRY2dRd1BUL3pKYWRuK2FjemxnUGZ6RXVHNnBmK0RBdUx2dk5MTWhLbUgwLys1b0c4bTNqdCsrUDROVG91YUNKVUZHQWVFT2lEODdQT1J4VmZ5TUpYcjYrbDF3TldDZU1yMllmc2RpOWMxcysvUHZEejIvVnQvOU5jWis3NGRRcmhtSkh2dkNHQWZ2SEpqUE4wbGowRERTbzJwL1hnVXp1M2RDNmFKejE5WTdxNHdkTDhQZXM5N1BvOWpIUERYL1l3WTVLYkVKZ2JCR3JESDZ1YmZzNjY3SWduMnJLb2UvQXBuc3RLOFRkR2poS1dYSlB4VE16TkhiTWVqOXZ3bTNzbGhoeUV3SHdpQUJMd2ZhUXovQzJKY1hUVFlvd0JxOFNSek1JcWU0MTB4cnNlKzBkOWQrakU3M2g0VWFoeUk3QUd6dk9lOVF4LzU4UVhNbXQrYzV0S0UxZ2w2aUppcFphMERtdDdsVTJGaHZPcG9LZElaVU9BZjNQV0dBblBRdjFOMGNXdVdjd1p3aW9oVmIvM1pFYzZZMTc3WHR3THRQSTJKbDRVck53SVlDQTg0N0pla2VzRG1ycDduaGpUbWpKRVhraSt3bWpkNDN4L2tMU3VTS3dsUlNBRUNvQUFEcmUzV0FDWFJRWXV5R254Vm5LMnF2UVo4M2JBTzg2Uyt4N2xHZGV4d0FjVkZmZjdjY05UT0VLZ3pBZzB3UG1qbVdhZ0ljZlJGcFVQckJLQ3NkMFVuK1JaNUFiN0JZdVJ4VXp4bzhRSmdXUUlkTUg1dldSUk1nNWRaVC93SktLUHY1OVd0SnFlL3lJVzhTYi9WWC9nTERVL2tEd2V4U0FFU29oQUZaeWY2VGdXVk4vMWNFTmJ2WkVXUUZnbFBDR0xyWVRUZEg2Q1p3ZC91L2JrUWRyRUtSNGhVQ29FV3VEOFRCVkdFMzNUVXdDT283U2F3Q3JoMVJlZDUwSWtyTHlvOWRoUGhQZ2JYci9SZXV1T2NVdE9RbUIrRVZnQzVTMld2MlVBekRuWno4Q08xcjIwOHNUMC9PZlVKTDBoNkF3N2ZlbkwyYThaUHVRa0JPNWdCRmJCK2FkbW12OCtHL2pwZy96MXRKcjQwL1BvS2ZSR0pGVGNwdzRjNXhmVHl4NlJTQjZFUUprUndMZm5zMWw2KzJIM01hOTNuUmlNanF4ekRsbjZ0YS9lOUh5bEprMERwaEpmOFhzUG0xZE16MVR1eWgvLzF4OTVXV3MvVlZ5S1JBZ1VCUUUwcnV5WkRKVDVBM2JLVXBuTUhWZHVndDJXRFg0S2RWcDhldjZqeU12b0hIdlZHK0l2MWZ6SmdSU3lWWlFPNUZ2TUp5bzU1Q0FFWm9uQU9rcnhMWHNGM3NoK0hmdmZrNjV6NStuQ2JLOStLYWJXZmRWaGxmaStjNEg5VllodFlwRjVEZnpqR2RSc0xVL1JtL1pva1FSQ1lJWUliS01jMi9kNlY5anRBOGZaVGpObVhsR010eGhrd0NweGE4MTlsMU1iTlFuNFg2SnoyaG5VYlAvOGVYZEQyWjBadmkxS21oQ3dSK0FZcFhqTFdzeXh0M2w5T2MxQk56aUM4NVBmNEw4dldRd3lZUExmUFlZcHNqODZvRC92VDl6MzA2LzNNZEZwV1l3L1REbmtKZ1JtaGdCYXh2U3o0bExyaTJ5QVp0NVpUZE81eHhHY2U1NGNOUGpYcE1Da1YwelB2MmhRNSt0blJ3YjBoLzdLM3NYL2tWUm1hUGlXT0JVNzlDRjVFZ0psUUlDUFVldTJpbmI5d2ZKYW1rWndYZmFXMFZadnBGV2tnVnk4QnBHeGxHOTRzUUhrdjcyWFZ1NXdQQmdmMHRnc2hzWFFQU0V3T3dUNGtoenJFU29PbVR2eXNoQTJQUzd5dHVMeWxBSy9VMjlrdkM0ckNyVFZua2M0R0pIeHZlQmR5Y1hhU0EzR2ovSm1iNjJIUzAzcWk3Nkl2ZmsvYWFJVW5oRElFZ0hQZ21ZcjhIRzlHWFkvU2haYThaSGZFUStNSTJyOU9QMlJKdHIzOS84ajQzdVBxMHpzZlI4ZDBQczJ3a0hxTG9TcEJLWUcwbzgvQW9Mb2hoQ1lGUUw4SXpiRHZlSEV1dFRrSU5xTm5nSlllL25WNGQ4N0RuaEtmYm54ZlhOc3R6a3l2cWV0TnozUFhhZ2FmdWo1Nkw5TnI2N3hPeFhhTjUwTHF4bTIwc1drV0lSQVFSRGdQVi9icGJkb1NiZjg3RFJUVElodFM1SzY2WnRRYjNyZVV3R3UweUZvVjduSmdyRVBEbm1udWoyVSs0RlN4YVpJaEVBQkVJQ0ZhMnp6R2tmRng5VkF2SmxpNFV0YnhBRmJqK0trRmhZRzAvUFBDditxbkFiUTRSWi9sTE5lSEtPanZkTzQyaXFyYVdKVEhFS2dBQWowd1FiYnBiZFZPU0ozbWlucWoyMWhGYnNnYlhrcFVFR1Avb3FJMXRCT0xXanBVL2l5bGI1TjcrcGtJeWE5QWhTVEVMQkZvQXZPeXlZeXBTeDA3V1d0NGZwejRZa0U5VVg2NnlucUM1a1FUUDc3d2gweW9PZFBQcGZOSVFFdVRjOExuT2xTV2dUUUZVNC9qUFp6RGNKZEZ2bDNVL1NnRDRVTjRGZzExY25CUk9PK0oySU5EZWpYbW0vekhtQmlQYm5Za1JnMFBUOENDWG1VRGdFWG5KZU1UYWw4VjArSnA3RUhydnVjQjUxNktSVndIS2h3SUNOM05QL2gxWkFXeXVxd2FVK0dUM0pGbDRhbTU1TUFSbUdMaHdDWVpySDZ6YytQWG9JT2FjbDN4aTM3ZmZzTEtZWUZDcytxWWF3L0RBem9xMUtqcXUzc0JFK01wdWNWNU9Rb0t3TGVaMXBsdHpoZEptQXpseVp4ckh3VjYyc1NpTHJvTjUzaUUvQUpJaHBCVzdJMWh4OTRhU3lQZGVWTlM5b2NqR2lKblRROW54Z3lpbEEwQlBpU25IRXJYbVBvQ3g3SS9pNjZ2c25iK1NXZmxTNy9BbjNLSDhid2VpRU9PaHRHTjk0VnhyMkxjZ2xCeWlUOGFPaERIRmtKb01pRXdLd1I0Qit1c2pSdXRabS9XUlZaUVEyU29nZGQ0M0hPc3ZlbXh3TEg0Qmx6RDY0NVd1bTh4eGZiOXpiK3BVL0NqNG04OW14bFVIeENZS1lJcklQeVJxdVlSaGRRN0VqRVF3MGl1L2tKSkRXNC9hMlR2cG12L090anhwNzd2NktiVVBrTXN2VGtQNVhwOTMyRlZsZ21INnlBZlZBS3Bpc2hVRTRFR3B3Z1ZxcGpESy9hUHRRZ3p4bkNLdi96NWV5eEZ4Z2U0YzZMbURqNE12T24xSUloM3ZTaTF2V1BCYjFHNzd4OWMxQ0MxYjFuTmU3VUt3WlcyUy9EZTdHVytGTzF3WVJXTHJYdXJ6czR1aTlnci9qYUM5M0JtM3ZCa0hSSENCUWJnUzdvWWRJMHViYm96NnNWYmcxelhPMnMxUmk3eXRnN0o4cnNEaTZGS1ZINWNmUkJKc2MveDI1Y2ZlQ0JxemNHUFMraDV1RDZ1eDk4cEtWR0N2ZXdrNWUrakExdVR0UmlYSUFuV3V3NlR2K0NxY0FFNjdQUXoyV253QmFZUmdBQURsMUpSRUZVOVhFeDZSa2hVREFFMEZtVmUrSlNhb1lWT2FxajBOWHRLNlJ0c2xjZU9FdWZubndReHRJbkJtOGZOZUJWT3V6Mi8zYVdqc1ZIYmxLcTV6aWZlVm5yc1ovcXBZN09JOEplOE4rZFJmZTl4b3BEK0o1aHQvK0w0L3dyTjhWd3hrb2Jpa3dJMkNEZ2d2T0crU3VGcUw3UnRxTUcwY0srekh6ejJiSFpOQ1pJWUpPZDlCQzg0ajZUSUZJdVFYRnNQcy9Ld2dtbUFXK3BGQ3JOMHg2L3Vhak1HZW9ST1FpQjRpSUF5bHN1dlRWNTNqU1h3elJQL0xaN1ZTK1JTNExEbDZWcHNHKzl2VDlKc21GaDd4VW5ETGlmTnRjc0xrc1RSRmZYYzJHeHlZOFFLQklDM3BLY1hTdU5XbnFxemtFRnNpV0ZuVlViMXB0SDBpL0JkYkVscDl6UFdxNGZTSkJvZUZDQXRPczkyVWIramxTWXFwejlXMDdaa1ZHU3lFRUlKRUxnNjYrUCtxbjVxbWg1R0tpYWs5blJBU09mOEZwalF6emxKdnliTXVTMnBNZGRxZGJ6ZzE5N3ZxaUwwaUVsVC92YVoySWVFYXVQMUJTRnN5ak5lV2RhQVZ2K3RMV2o5TzQ0QkNwb1o2TitSeFBSOEpia0NHNU5EQndhZ0Mva3UvL3YrTDhYd2QyVG9acWlTNDhrZHFWZi9DdXFEMmthVzVreDU2R0srQjRXcnlGVkZzUTJBY2VwMlo4dHBvU1NneENZaklEWE80OGcvZVdKMFdGMHQxeDZxMmJIaFE0eXlUVzUxQWNOOXBiMGpIKzlUOWNVRjFrOWZyd2NRdW8xOW1DL2J0TDdZdXN2WG9DYXQ4Z2hkUkpKQ0l3Z2NIY0U0VEYzWEI4SlBPeHh5Q01QZXlhNlh3OG1yK3h0RnlROU5vMytmbnpKNkwzMFJPZ0ZPd1hqcHhrUkVrZmpIUGlQQXRQekhURmtRVWZIMk5JVElZTzhDWUdpSUlCRzJMSm4yamVXcVVDYTdKQTc1NlRjdG16d2srUVpSRktOWjBPNWtraklMQ3phY1prcE9QVzhvU3VHTEppenY1SlpZaVNJRU1nYmdXTndQc1d1R0VPdHJzRUROT2x5aDUyekxzY01aMjU4MGdnZTA5a3dKRFUxejJMR3pqUVloajh5VTZpSmJpblp5dnV1OTR0dWdIcEVEa0tndUFqVW1HM1B0R3J3d0RXYVBIQitOMzIrb1plTS9VV3hHVGE5TUx1WXFCWXZDd213WFVpbmczbEpOWTZ4UzRCaUV3TFRSS0FGenRzMW8rRDVydEFZdzEwNVArYzRhQjRIMzAyYkZUN3BkK1JIWHB6MVRCZ2cyaFA1UUQwbXRJSUgvRDlFRGJ4QWhpNmxRWUN6MU9pdXB0RWJBalpFUEJ5WW81ZlBlUGI4TjlmVGlQUStSaU5tK3A1d2xmaDBvbXhqOFV4SkdkdmFzT2pnV0crMDlNK1hqK2hLQ0pRREFXK2liOWRHVjV4UW82YlNjTXEwN3U1NnEzMFlTN2ZURkEwcUpGVysvbk9mWU95bmJkU3pqNHVaT3BXcFRVMS94emxHenZIc0JmWkprQVJDWUhvSWVNVGN0MG1QMXhxeWg0dnV2SjYxa211RlR1b3B4S05CRmIvYmY1MGllcFpSK3NhOFJGUE9QL0lFOFBFZTc4ZTM1OU9QRUNnTEFtaVpVODJlNi94aHBtb2c3MEFQWTdlSjVHMmF4ZWdkTEM2NGV2VXRMLzY5L3lSbHoreDZyT3p6M0d3blorMmdqdGRINHZnZHpVdzNTcGdRU0l3QVgwQ3UxcjRranMwallMaXJscWFCcWZ0YUNEYkorRDg1M05lUEpycWF0bGFHaVNuRURnQlZyb25BWUxsWWhPdDUzQ3Z5WjlRRHNhVlNRRUpnUmdnYzhtSnJsVFpHQjZyTWcrU3ltODlsWGhTa04za1NNeTNFM0kwWk5PZGczTXE1SmRJSVRNL0Q3OXNjUGZ6cTRqbGRDSUhpSTdDTkVtdDNBcWF4OGhUTllIQjV6d29zY09rU1FLejlZcURIZS9BM2hTcVlpdGdOYVBXZlhUdzExaVFFSHRJTklWQkVCSTVSWW9NOFRhb2xPQy9iY1JnSDVJSTFLZVV2N3VLY3FNdmJ1RmZldUVxaXhZMlRVemcrVmRjVHNnLzF0S1R3cWJ5VzkyVWtBRG1wUUdJSmdTRUUxcUsyejc5Kzh2NzVLa3FzTnJVUENZNTFpNzY5SkRvb3NUVVM1M1ZJWVgvRWQ0SUhud0RzVFFnenBjZDhaa01taFY1UlhicmxkYkZtVzJ0S1NYUWxCR0lpSU9mRVVEWkhma2VUWkxpSThzeWtRR09mZ3hPM1JJQk5ZMFdPam9PdXhHVjlGOC9GT1I4dlpPNmhjQUplK1BTOFRCa0FLQ09tOUtNcklaQW5BbXJLQ0R3Wi9rMGtHNDhnS1p0T1NjelZTUUhtTitPY1A1ZmkwT1BmbGU2NFYvVHQxUVJnM0RnNWhZUDZhdkRUOU9pLytQZDVVbXM5bVdCVlZ3clNpNjZFUUs0STNEM01kSFYvV3ArUU1GL1dicmtSRkNJRTU5SGdYVlBwZGRWbll4QmdZdFdqb2ttSHJXVlJ5ckcvb3AyWEN3eFFFL0VwaW1YZU1WcGxnNTRRM3FkMlhpQkJseElnd0ExVXlVZmJnWXlCQ0lMeldJVlhsNC9BZjlVakhqRjh5VUJqcnE2T1BpYlVOQjRaOHhMbzBuQnIzU0hQTDBZc3V5TDVkVDFaS1h6b1FnZ1VGZ0UwWXRZRzhwYmsvTEh1QkRzTnlKVzVOcW9DNlRYeDJnbk1JQzdOY0hrcmFpOXBsaGVIMjdmUmJlRUdCMUhWNGFBQUdXQml0aWdBSVRCckJMeTliejA3TFdyc1dVOEFHdndQS2tsZDNUbGZTak0wUjN3bHkzRytJbnZYaHQrMG5CaWFTQ01uT2pLN1NMWjY1SzArVkdPaWhqR2ttWlpXbEE0aGtCS0JkVFJYSnJuU2lEa1djM1V3ZHRWVi9JNGVCYStvOGJCNk90bHhhSzdvcTdoWEpzZklMWVQrU2c4eXRZOWtXanVPd3p0SVJ5TEp0bklKRDdvUUFzVkZvSUdpcThiZEtkVnNpSGF3YjNLN3FvZTd5MGJ6SHpzSmNLcXVBbjk1QUpiTjdGZVZDeGk0OGVNSVcydjRqQUlxT0lWYmMzQXdNK1VvWVVJZ0lRSnRGR08xV2o1aFhCbDgyZWNFbGdsc1NTLytkY3BmbFRkdGRjcU05SWx4eFhoNVN3WmJjeCtWemxsYysvSXdUZzdXVGRDZEEzYUduUjRKWlZiWUQyZWhGcVZKQ0tSQ1lCUEYyTGJFcnZoVFZRdUJHYXUrWEpzSGE1ZWEzazZpNHJHd0VpQk9WM3oyTGtuMERNUEM1dUZKVzJUL3h6c2s2NUJuYlUyZkI5U3duUGpJVUZVU1JRaE1SQUJkY00ydGlhRWpBalE5VG5SMHc0eHdDNHFubjA5SGlXWFp1am8vazA1QWhMTEp2ZEhsMk9PeHVzL0JuSWQyZnZNeXY2dTlqZi9qdDlaS1ZhZjVrZW1mRUpnMkFpNDRmODAyMFQ0ZjVWNElqaEVxN2p0OXNWOE4rc2RPcTlJVXgrRDlodmlnZGV5WW1RZHNld2FKcytCN0RmV2FhT0cvSXRZN1ZUb3pQcTR2OCt5U3dQbEdBSlJQc1VodUNKTkZET2dYM1lIWEdLcEhYMlJ2NytGQXV3K3pFMXpTL0JiWVNkMXgvdC9kN04rbmlaMWxuQlVHZnIraGhVcnNLNWlKLytoem51eEs3ZVE3Y1B4bGxmMUtsbW1STEVJZ1h3VFFXZFZUVHVtVHVvZGRaK3lUUS9GL2s3SHJqMkQ3U2JBcUdBbzA3dllqRU5CaTdDZkdoWm5PczE5Z3pQVW1KU28xZGtOT3pLMDAyZUFxOUh2bGRIU2dWQWlCVEJEd2x0N1c3VVY5eW4zNEQwZWt2T2xTYS9DVzN4bnhqdS94bVFmWnUvOUJMMzc0L0VMKzJVT0RWeDl3OFlzZlAvMTdNcG1sYnozQ0hudFY2aXBOaXFFcklUQk5CTHlsdDlOTWtOSWlCQWlCbVNMQVB6NXZkekxXVE5XbnhBa0JRaUFoQWxoQW5tNzJQR0U2Rkp3UUlBU0tnY0FoT1A5ME1WUWhMUWdCUW1BS0NHeUQ4M0xUMkJTU295UUlBVUpneGdnY2cvTzNacXdESlU4SUVBTFRRNkFLenU5T0x6bEtpUkFnQkdhTWdBdk9iOHhZQjBxZUVDQUVwb2NBS0c5c1U1OWV1cFFTSVVBSXpBUUJmcWhiNEFOek05R0NFaVVFQ0lGcElZQnpYR2xKenJUQXBuUUlnUUlnZ0dPY2FVbE9BZDREcVVBSVRBc0J2dlRXOXBTY2FlbEs2UkFDaElBOUFuenByVHJEeWw0Y1NTQUVDSUdDSTdBT3psOHJ1STZrSGlGQUNHU0hRQitjMzhwT0hFa2lCQWlCZ2lQUUJlZHZGbHhIVW84UUlBU3lRNkFEenZleUUwZVNDQUZDb09BSU5NSDVncXRJNmhFQ2hFQ0dDTFJ3UkdXRzRrZ1VJVUFJRkJzQmZFaldPODIxMkZxU2RvUUFJWkFWQW92Z1BIMDVQU3MwU1E0aFVId0VMb0x6ZEdKRzhkOFRhVWdJWklVQXZxZE1KMlprQlNiSklRUktnTUE1Y0o1T3pDakJpeUlWQ1lHTUVGZ0g1L2N5a2tWaUNBRkNvUGdJTk1ENWcrS3JTUm9TQW9SQVJnaTA2Y1NNakpBa01ZUkFPUkRZcEJNenl2R2lTRXRDSUNNRXNQU1dUc3pJQ0VzU1F3aVVBUUVNNTU4dGc1NmtJeUZBQ0dTQ0FELzFkamNUU1NTRUVDQUV5b0RBS2poUDAvTmxlRk9rSXlHUURRSVh3UGw2TnFKSUNpRkFDSlFBZ1dWd3ZnUnFrb3FFQUNHUUVRSllobmRpaVByYXBkYkRIelB1eVVrSUVBSnpoa0Nmc2UvcExIMlZEZTV2c2c5cEQzSVJBb1RBbkNIUU5YZlBMN1pPc1BUK0kreGRjNVpKeWc0aFFBZ29CRHJtN3ZsdDM0UmZwVE14RlQ3a0lBVG1EUUdYc2NzeVQwdml1M1ZuMmFQU2k2NkVBQ0V3WndqQWJIOGtzN1RNUHVnNUt3R3pubnhLVjBLQUVKZ0RCTmJBK1o3TWgramFPODRtVGRsTFRPaEtDTXdaQXZ3MFBKV2xKdHZ4M1gxYWpxdEFJUWNoTUY4STREUThkYmc5VHNBVm1WdW5rM0RuNnpWVGJnZ0JoUUJPdzN0YTNseFF3L2hsWWN5VFQraEtDQkFDODRMQW9iR1Q5aHg3VW1UckxEdWRsd3hTUGdnQlFpQ0F3TGF4azdhaFZ1Umg0NDBZMlFjQzB3MGhRQWlVSG9GTlk2cXVyYjVoQmNzZTF1UFJqeEFnQk9ZUEFkZG8wVGZWMEI2Y1A1cS92RktPQ0FGQ3dNRUhLdlhJdmFvNGo0TTB0Z2dkUW9BUW1FTUVWc3hEYjV2cU1FeHdmbmNPYzB0WklnUUlBUmpybmxFb3VDYm5yeWh2Y2hBQ2hNRDhJSENlTVUxdXpYazAvOXA3Zm5KTE9TRUVDQUdjbUhGVG9kQlNxKy9BK1d2S214eUVBQ0V3UHdoZzkveUJ5bzArUFlNNHIwQWhCeUV3WHdpMDFOSTc1SXM0UDE4dmwzSkRDSXdpZ0YwMTM5ZStMV1hEbzNaZW8wSXVRbUNlRUlEWjNyRFZCVGh2K005VGppa3ZoTUNkaWNEYXBWZDdHWWZaZms4am9PMzJORCt2VVNFWElUQVBDTFRGT3J1MjJqM0xjMFZyY3ViaDNWSWVDSUV3QkpnWXh6Zk40YnhUbzdXM1lXQ1JIeUZRZmdUNElYajhReFl3NGUwYXVRbnNzZGt3SHBDVEVDQUV5bzBBelBMZVFUajRWbDNQeUVsWDdaOC9FeGpuRzBISVNRZ1FBbVZFZ0xmei9FU3N0aUs1bDR1K09oR0x6c3dvNDJzbG5RbUJhQVJhM2h4ZHBSWG8yanZuMVhHWUMyd1FIWm1lRUFLRVFPa1FPR2EzRHh4bmdaM2lYLy8wS1hqblZZdXZuNUtMRUNBRXlvdkE4cUFINVd0RG42akNNRjlraWM2Nkx1KzdKYzBKZ1RBRUtzMm5kcHpQc1pOQU0rODRydng4emJhNVBDOU1BUGtSQW9SQXVSQ0FZZjRSTnJnNXBIU1g3ZnMrVlhONTNsQWd1aVVFQ0lFeUl2REVLOWc3OW9ZVlA4ZWU5YnlXakVQeWhzUFFQU0ZBQ013UEFtdkNjTDlzSEpnMVA3bWpuQkFDaE1BSUFtMy91RnZxMm84Z1F4NkV3SHdpc05JNlJZZi8wK3g5ODVrOXloVWhRQWdNSS9BRk5yai9JZmJra0QxL09CVGRFd0tFd053ZzhNU2wxdldYRU9YbjVuMFdMQ1AvSDVGVjlnMXBYN3AxQUFBQUFFbEZUa1N1UW1DQyIKfQo="/>
    </extobj>
    <extobj name="334E55B0-647D-440b-865C-3EC943EB4CBC-83">
      <extobjdata type="334E55B0-647D-440b-865C-3EC943EB4CBC" data="ewoJIkltZ1NldHRpbmdKc29uIiA6ICJ7XCJkcGlcIjpcIjYwMFwiLFwiZm9ybWF0XCI6XCJQTkdcIixcInRyYW5zcGFyZW50XCI6dHJ1ZSxcImF1dG9cIjpmYWxzZX0iLAoJIkxhdGV4IiA6ICJYRnNnWEdKbFoybHVlMkZzYVdkdVpXUjlDblVtUFV0elhuc3RYSFJvWlhSaGZWeGNDbk5lZXkxY2RHaGxkR0Y5SmoxY1puSmhZM3QxZlh0TGZWeGNDbk1tUFZ4c1pXWjBLRnhtY21GamUwdDllM1Y5WEhKcFoyaDBLVjU3TVM5Y2RHaGxkR0Y5WEZ3S0pqMUxYbnN4TDF4MGFHVjBZWDExWG5zdE1TOWNkR2hsZEdGOVhGd0tYR1p5WVdON1pITjllMlIxZlFvbVBTMWNabkpoWTNzeGZYdGNkR2hsZEdGOVMxNTdNUzljZEdobGRHRjlkVjU3TFRFdlhIUm9aWFJoTFRGOVhGd0taSE1tUFMxY1puSmhZM3N4Zlh0Y2RHaGxkR0Y5UzE1N01TOWNkR2hsZEdGOUNuVmVleTB4TDF4MGFHVjBZUzB4ZlZ3c1pIVUtYR1Z1Wkh0aGJHbG5ibVZrZlNCY1hRPT0iLAoJIkxhdGV4SW1nQmFzZTY0IiA6ICJpVkJPUncwS0dnb0FBQUFOU1VoRVVnQUFBNllBQUFRWEJBTUFBQUFlbld1R0FBQUFNRkJNVkVYLy8vOEFBQUFBQUFBQUFBQUFBQUFBQUFBQUFBQUFBQUFBQUFBQUFBQUFBQUFBQUFBQUFBQUFBQUFBQUFBQUFBQXYzYUI3QUFBQUQzUlNUbE1BWnJ2dnEwUXl6UkNaSWxUZGlYYjVwYUx4QUFBQUNYQklXWE1BQUE3RUFBQU94QUdWS3c0YkFBQWdBRWxFUVZSNEFlMjlYWXdreDNVbW1qMHozVjNkUGRNOW9QYkJGQVJVRzZJZ1dTSmNzeHFMbEgwSlowT1VyUjhUcklabStYQjVMVmRCaE5kcjR3TFZzR1NURDVTcVRIcEZXaGJVc3hjQ1RHc2xWZnZCOW92TWJzQUMxZ1lNMTJDSGttaGhzTldDYkFGYXJGQUZTRERrQjZGR1U3UjZoaW94N29tTWlJekl6TWoveUt5L2t3OVZrUkVuempueG5ZekljeUlpTXkxcjRZNnR4eVp2VzdoR0xYZURWdnVUQjhuZWNtT3dhSzBmakUrc3daMUZhOVZTdCtjQ2VkV3kxc25scFFaaHdScGZuM1FzYTR0Y1diQm1MWE56THBDZlFQTXI1TWZMRE1LQ3RiMUtoclJGOXRtQ3RXdUptN05KSms3cjIyU0pRVml3cGw4ay8rNjBxRWFhQzlheTVXM09nQnh3bTU0c0x3aUwxZklLSWN5V2JYWmJYYXpXTFdkck52anQxTExKNlhJaXNIaXRQaVp2c0VZUm5CMWNGT3ZXeWV0T1UyQU12cjRvYlZyeWRvQXBEeHdJMWdpT3ZRdHlMV3dUUHM4TGllR0N0R25abTNHUmtDTUhnd3ZDLzExMlJPYS8vUzB5Wm8wQTQrN1BmM1Btc3dXVlBybDY2eHRQUC8zc3phdmtIbS9DTmhrL2NndHlNb3llWGNIa2tKRE9mQ0l5LzFxdkVubUlaZXgxa1pYZWMrMlRuekpNR3FMRHpqOUU4OWVDSDMzKzdZNEp6eDc0MHB1NTlxdVBPam1UeHp0cG13TnVyM3U4bHJZeTBodEU0QnpZNFkyT3lyQUxPZS95NUtpbDRla3QxNklFMTAvRFlTcWhCSHhVMzZSUGxaQVBaeEY4aVpDWFhxVEhaNGl6TXA2RkI5WXhnUUQ0cUQ0bnRVYmVtWWt4M0lsUG5JclFZYTlrNG9DVnpDQUFQcXAzQVhzNzY4QzVvNFNucDJhVVF5NlpFT2dSSWx4ZVZuOXdweFBKYUtzUFY0SDNtQnpSR2p2QzJ6MHZqQnZKQndzTFE2QUxMcExLL0VMY1BrNTZBL1lmUThyaFVGd2NMWUxia1ZSSVMwOURyMlA3VFpqa3pmNDNZMVJZZS9DVy8zaWxRK3UweU0vb24yVU5zbzdlckRyKzVrU0FCcFczRlI2OTdKRmxRMHc1OU5GRlVoQXRQMG1EeWdNcDlsTGN5Q3RKQTZrZWoyQTJjVlVtZ0UycEdSdGdVK21rVnRvUFpaZmVJR3hGZkVQNFN0bFpZYzA4Q0hqRDAyc3hQbStrcEJhNTY1VHY0TzAwRXFmQ0N6M2g2YmJTWmROTFB1UTM1aEc1a2I0eTFqQ0hRSU1vZ1VmOVBYa1k3ekNiZ3RmVnpNTUc2K1pGWUVCRUJHSlpYMkZ6QjFsWnJyT3hkOE1iNzJibGh2VXlJOUNXNGVtV2J5NC9MYzl0NWlPMVZEODZMUStrejQrQUdwNTJjejVndU1sOG8vNmtrMTh2NUpBZEFiclRnWWVuTDR5YjJmazROV3QwLzR2em9IaE9Sc3RUZmVXdDQxOHozVnBZOCtTKzdxcjlqbERtbGYvd0lIbjRPNkhGb3VDWTdrTHFZamNWZU1UL3I3WEh0cnpqcmRqUHhGZUpwNkM3ai9ZZHNoR2ZyTlhVV2FzUmNvdVFyMm1LUEZuYlpOZDZnUmpSeThOM2NVOGE5NDVXeE1ZOHkrckpaSjRtNzRCTm5mclBSY3pSRHVoV2xzMjN4QWV2MWZGajZQU21NTWNhM1VRZ1E3ODJ5VDdacmtodDhQQjByZTlablZFb0xPaDZYM2ZPUjU0MU9ROEpQOW44NHZoVEhWMEI1bWtSZUo1NnBYMFkzWndEL05XY1hpcmpNK0RoYWRXL01zNktuZC8yV2NmNVg4Rk51d29xSnBMMVhlRGlidlNCNVpTZm1PRGFadUVwbmNrblIzcUdGOGg3ZVVGN3FLZkEzR3dJckZISVlSWHJMcXNPUnJnZFlQVHBKOEtPSndPMFBBTk1DWHcyMjJEYnNNY0xHMlRJaUw4dEJva3dacGlmRG9GejFDMkYzc2t0Q2NzcEIzNEdGUnNNRTNJTS9jVHNuSWVuMSs3UmpocThTQnlpTmg5eVlTTndRS1NlSytZbVE2QkZPeWdnZjRXUnczTEtxYitpK3FTRTM3UzdmbUoyenNKVFdBaUhFU0RFWTEwVHovTTMvUHVBOVN3eE56RUMzVjBnaFExNTlBK09uZ2dyMlNuN1pVOUYrTTFKenlmN0twMU1PK0ZwcFFZTDRSQ0NzbGNieVVLVzJoQTd4d2JpNlZJL0JaNW5STURaRHQwUXU2SmhHNWQzVTI1R3JrNTQraFJkQ0FmV3ZxM2JuT1ZGc1JiWEN6RjZSdEZZYmMweFlkMjFaRnNnblE4YXNPVFppak9LMC8wT3V6cG1ZUFlqSi8vUzFaZDA1WmlYRllGTGRIb2NRaG5uejBtRlQrV2xrREVBam5YbkFjTVZzT25ydXBwZ1UzU05kTURremx1bGo3Q0EyOHUzNG9JN3BHN0t6Y3krRFpia0MrR1FFaGVNaHgzY3c4Yy85T1RnaVVFRVlBYzhkM3ZCWCtXQmFqNzJZRWl4TE5DRlpFZkRqYnBSNUpNaFBwYUdIck5TSVFERDRIVldBWUEyTVNEUzZPY05yc0l4cEljYWRlQWRLdlQ0WkZOVGhsbTVFZWk1cmlsWTl6UTNPOHVTcTZlV1JaOHR2cUxoS1dZeXp2WTFoWmlWRjRHYXV4bTY0Vm8zRjArNWVtcFp0TTg2M3BLZkk4aHlEdEdoL2VWNG5nTUJXSXNSWHN6QURXcHk4S05QRnlwOCtpRkxNNnUyWTFJekkwTXVkUmV3TW9RYllpM0dZSGpxQWxVRjB4MjVaMHBpbXh2VmlLZXQ4TVdrYzhjVE56eGxVMjRlWkFZcUg5cHByMnU1YlgwUmlzTG1EclUxTURNaEFnQTZ4OXhnZUNvN0gxMmFDUXVRL3V1M3FWSFJTMHBvcWVSa0xYZTJGL3pWMjVwNmEySExwMCtFckorQ25TU2Y4S1VaS3VvalFNdXZLSTFrek1xSXdNaWRGTkNIcHlMcW9GM0tmd3gxTXVHVnJHcVlXNE1aSXgwWnl3UHB1K0dsV0pJTmdacTdNTExEbk5CLzgvS2gwVWpZc2VzbFpXZDBPdUZVRmpUZzlFU2VzdFIvRmhrd2lYVWcwdmh2Q29HK3UxVVEwTitIcnkzNWUxWGE5Vk02elFCOHhFR1hadnhtcXhKWVczVU82TlM3UElsL3hoQ3czU2ZRMkNpODVYMEhUbm81ME4zVlZWaTZOQ09DSmM0TWVyTDdDaFZQbjA0dkRHdm9FSkRiUDlrb3ZKRjNacWVsV0l3S0JKdUtTUTB1LzFpeHVxZFA2L1REdlBRSXlMazc0b3pDRjMyZEtqVkg2TzZlVmRndVdMRGo0VktWVWVsbWxBUGxxWVFueVJHd3hab3ByS1BTTG5wOEpYbGRMV1hOdHdwTGUrWFFRd2xXRm9QQmxwdnlVT0JKTGdUYVlvNGRuQms2Mno3WXk4WE9HV3M5a3d4MFN0OTduZFNsMTdUdWJ0M09LUldyS3dnTVJFOEJwT213YXlzK3EwS1dPRWxqbnhzcU5ZMXR2RTlzRE1qL0VnUzlZSndqaXZBL013SXR2aXR6WldMVFNieFZmeWlUbG5IZ3piMTBPWFhjVWRtMDNDMUttMzczU1NYRGRGWUVJSnpzMExyVjEwZDBPOWk2dU5ObDVGY1orZnRwRHpLSTUzV0Q1L2pqVDViMUZNNE1ac1E1c2hwTXlPNEJ3Y2E0ZVVpSHlOR05TT3Jvd3BlLysvNDJ0U0I1NEVQZjRwVDM4eW1MVjc0c3ExYjYvRUhpUC9GNnlKSUNVL2tRZUlxOGRtUjl6djRWMkpNdzZXem5lZ3NSTTZoalZjNkh6amp3UTdsUFAwYysxWVFacTYrU00vakR3endDbFRvWjl4MUg2UnFaaU1BbW01Z3V1UXBma1huNjJWdFh4VVRSRmhuVGI4M2N1bXBQT2dyUC8wSElJemRoQjhTSmtvZEpnd2hzL3VEajQxL3NVSWIzOWYvSithZnBZbytYSDdQSHYvL2ZpNVdCM0JF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S2FGd0gzMkx5bGZsWm1XRmlqWElBSy9RNjY2SDdhMnJEZTVYL1F5S0FKWmxZdkFLdm1DVlhVL3lBYWZWNzFlcm55VVpoNkJGbnhPZGNmOWxqaDhCblhQdkF6a1dDb0NGZnV5WlYza1grSzByRU5DNEJ5UHVVYmd3aDFRZjhmOVhuaVA1UHE4MzF4RHNUREtPMSt1UFhhL0Q5OGxaR0dhdHJRTnFaMUMwNkYzY2dENjRsT0xTd3ZJL0RkOHpmbjhjVmVNdlJXQzM2K2RlNk51ME51cFpRc2ZDVUtaZjUvN05pMTdBM1lna29GUEh4UDZCd2Q4S2Y0MlMrSHYzQ0xRb2lhODRGb1N3dE9EdVcwTEtzNFFHRnlIL3gxMzhnaFNwd2pObkNQd2tTTm9BTGk5KzZ3ZERUYzE1KzFhZXZYaDgvTWNnNEVicUM0OUtITU9BQ0gzZUF2YUdKN091UzI1K2tvQWcrSHBZcGpVT2tmSUZkWVVDR293UEMzZnFsdVBUZDVtV0Nxc3hWRHZGdzRNVHhrTzVmNnU5aWNQbWw3aHJMcHJNUmllbG10TkptMHdQckVHem55ZU9lazExKzNGOE5RY3FvazVYU0N2V3RhNjRXVnI2ZlppZUpyWUV1WUk2NU9PWlcwSmw4WU0zelYzdHRlQzhOUU1UK1NTR0lFTHpyNmhDdmx4NGhvSkNMY0p1Y3ZKTUR4TmdKZGhraW9aVW83Mm1VbStFTXJjNFB4WWVMck52V0NUUXBCWENBS2JaT0tVdEkyT2tCZmRyWUk4UEQzazBXcUlGcGh0RW9HTGZFYWdablFmMkhsM0xZYVB3cjFkazBvanIwZ0VCbnh4czBaT0l1blNGVUlBYzVuVjRLTndkNWlPQVZKblJ3QTJDekZidHRsdE5Uc25UMDJ3S2I5RUlMVUhSZjJtcHh4UENrUmdnOTlPWWZ2UXFVRXhNUGJ1TTNZOVFpK1dUYkh3WmxBR3NncEI0Smk4d1VwY3B5YUVNRjAyVEFqeWZ0cDNVcGRlUzFjZnFYTWdVQ2V2TzdWaERMNmVnNDIvS2t6Y0Q1MDgySlpFbmEvenVEVGpoNml3Y3pEbGdjTWNKbjVPRFVvQmRyc091K3BOWjVkRDQ0cEI1c2dxRWdHSU5DNDdCSkFZUmxLbUxLeVJ1N1RHQ25tWmtDUExhZy9wR1I1bElBQnpBMGVPSEJnalQwd0tQR2FQRkhjZmdwSGdzclhONWpWTUNrQmVZUWkweEpJWUdIYy9qQ2hML3BwTlBteFZ2ajgrc2hxdzdEUDZTUlllV0NjVEFsMnhFK3pROU9hK1B5YmtFV2M4WDdWSjMrejFrcW1seTFPcEx4NkFhSWdPYTZ6dEwzL0FmdmNQS2JlVkJ5Y3ZHZU9Lak9JUWdKdWRlMkFFR1lmV2ZKVERqazMzTUxwK09oL05YMGd0WVdyZ3BSZnA4Um5pdmxGaklSdTZSSTF5cC9DZ3crS3N3R0lZSGhaTmpweVdRSGg2dWhoTldwWldiTUZFdXUrWU9MWjAzNDBDNnloT3hySWdNdi90cEJQcC9tTkltM1VvbnM5djRYTktjMmJtdFFkditZOVhPclFOTGZIMmpJSFpiWU9VTng3VFFhQWhwaHo2NkNKTnh3TG1wZlo0QkxOcGVGWEd2S2JJTVNrQ0RmSzZRN3BoZkdZd3FRWklaeHFCRmx2bGhCZHE0Q3lTYVd5bnhlK1F2N2xvNU82YW41WW1LTmNVQWp2TXBqQ1YzelRGRXZsTUdZRjFOdlp1aU0yRFUxWUh4UnRBWUp2NVNDMTgwWmdCTUdlRXhTYnpqZnFUem93b2hHcmtSNkJHWDJMa1BDaWVueGR5S0JpQnluOTRrRHo4blZnaHgvUlZ1MTNzcHJGQXpRREJXbzJRVzRSOExVNlZiZGhhL1FKNUpvNE15MmNBZ1FGNVY4ZmFmRXY4b21oMS9CZzZ2VE5nc0hnVlhpQmZkNGhHL0FHbjhCcWJYeHgvcWhOZWpDVXpnMENiZjB4cnhYa3ovY3lvaFlwa1IrQUNlUyt2M0I1bTU0STFad21CQnVHbS9EWi91aXlqY3A5K0l1eDRNaU5IckpZVmdUWWZjdUZkQ2dkWmVVQzlpdTNmOENMUGh6bjRZdFgwQ0t5SjUva2IrUjcraHRmZ2hCNjc2ZFhDR2prUTJCQTd4d2JpNmRLTXpCNE5OZW5FNkVOd0dkVmJwbW9YeFNiQW51aXd5OVQ2eFd5cnV4UDcwdFdYRnJPRnk5Y3FzR2tlMTJqNUFKdURGc09tK3JIejVPY2M2SW9xSmtNQW5td2k1Sk9sZXpFd1BDUTVrclVCcWJ3SXdEdFU2UEhKcGplNzZETzBhWUVJaTdtQ3MzSzdLdHEwUUp2Q3EwN1lFYnNxWTFRSnRLbFJPSDNNNEZVbjdEajFGZURwL0NLd3pZMktiL21iWHhzR05OLzZvdE5SOGZWaEFXVG1PZU8vZnB0YXRWd3ZhWjd4bWcvZFB3STJ2WjVMMWJXdzVkTW5jUDAwRjdEWks0L0VDMWN6c2hBeGtUT00rMzZHR1hsaXRVd0kvR2RSQzE3amNDRFNXZjV4L1RRTGFrWFVxWktIT0Z2M3hjaFp4ZUQ2YVZia3pOYURpVUgzaTA3NDBpT3oyRTZMMnpIYytJUnM5SHNGRXZQOVh5WHU1b1pOZkV2RGZOdFNhTjhsN3JNU1cyNUtGT0wvWENKUWw4N3V1cnQxZXk1Ymdrb0xCQWJrZjRsa3oreG5Dd1JiL0M4YmdSWjc0eEdJM1JUdnVpOWJCWlJuR0lGei9QRW55M29xNTh5Z1ljV1FYV1lFS24zK0lQR2ZpUGREWm1hRkZXY0ZnZWZJcDVyd3JNdFh5Um44NGJFWUNQd1ArTExMVFVMdW5DeEdjN0FWRklHWEg3UEh2Ly9mcDRaRnBVK3UzdnJHMDA4L2UvT3E2NlZ0ay9FanR5QkhQRVE1TmVWUWNDWUUxT1djTzV5RHMrV1lMdGZsVzlETnBBOVdNb0RBano3L2RtbytjdmJBbDk3TTJhMnlKWjdKNHgwRC9KSEZWQkNBcDVuSkd4NzdkU0VIM2dXRHg5d2lRTCtxc09mUnZrcmdRNHQ0ekRFQzhPbE4zLzYyR25ubkhMY0hWYWNmT1pHcnVBNGUyL2dtNzNtL0xub1FIM3ZhTUxqVDhaemp5ZHdoMEpXcnVJN3VGL2hueStldUlhaXdpMENmRVBXNWpzMytOOTBpVE13bkF2UmJ1YmNWMVh2NHdWd0ZqZmxNMG0vbEtsdUxMK0hJTzU5MlZMWGVBSnVldWhtVnR0aHg3R1poWXU0UThJYW4xOURublRzTEJoWDJoS2ZiU3BjTmttTE9uQ0RRVUI0R3NPcnZtUk90VWMwb0JBWkVicHo1Q3Zza2NoUTVsczBCQW0wWm5tNzU1dkxuUUh0VVVZT0FHcDUyOFl1TkdvVG1MNHZ1ZE9EaDZRdmo1dnpwanhvSEViZ0VObVhoNmFyOWptQXg1c3doQW5UMzBiNmo5K2huYzZnK3FxeEJZQWRzNm1RL2g1K2UxOEF6bDFrTkhwNnU5VDJyTTNQWkZsU2FJVERnNFduVnZ6S09BTTB0QW0wV250S1pmSEkwdDYxQXhWVUV3SlMzNFZuSk50Z1dOMm1yd014dm1vZW4xKzdSamdyR3hXUCtFV0RoS1N5RWI0Sk55MzJIOFB5RE42TXRjTUxUU2cwV3dtdnlKVEF6cWl1cWxRd0JKeng5aWk2RU42Q2pzc21IWkRXUmFsWVJBRXVlclRpVGczUy93KzZzcW9sNnBVQmdRTWk5K2s5cGhSV3dxZnZPa0JRY2tIVFdFR2lESmZsQ09LVHV6WnA2cUU4R0JNQ1FZaUc4QzhsT0JoWllaYllRb09HcGlHQ09JVDJjTGZWUW13d0l5TlZUeTZMUEZsL0p3QU9yekJZQ2N2WFVzbWlmZGJ5bDJWSVJ0VW1KZ0x0NlN1djFjV2ttSlh3elNkNVFOL2RXb2FNZXphU2FxRlFLQkFiSzVsNkxkdHJyS1NvajZVd2kwSmFiZXkyTExzM2NuVWsxVWFrVUNJQVY1UUliTHMya1FHNW1TZUVMS0dKekw5V3hCaC9DbmxsZFViRmtDTkN2Sko5SzBnYWNuc2hUVE0wakFuU2FZVjhxVHBkbUR1UXBwdVlSQVU5NHlwWm1maktQN1VDZEpRSXROVHlGYk9pbnVEUWo0Wm5MMUVnTlQ2RUZYVEJxWnk1Ymdrb0xCTURSVlYrTlpCMkRUWWVpRVAvbkVnRXdvV2VTZ1U3cFg1bkxscURTSEFHNkVuTkRSWVBHTnZoY3NZckkzS1VEYis2bHk2bmp6dHkxQXhWMkVhaUFpK1R0cHozSUlQaTZRUmVoT1V1OC9OMzN0NmtGeVFNZitoWlgvWDcrcmVOWHZqeG5iVUYxR1FMTW9JNVZTZFBKb3B0QithSE1MU0ZlODROQWwxeUZyOGc4L2V5dHErTDcxMXRrVEw4MWMrdXFQZW5NVHp0UVUwUUFFVUFFRUFGRUFCRkFCQkFCUkFBUlFBUVFBVVFBRVVBRUVBRkVBQkZBQkJBQlJBQVJRQVFRQVVRQUVVQUVFQUZFQUJGQUJCQUJSQUFSUUFRUUFVUUFFVUFFRUFGRUFCRkFCQkFCUkFBUlFBVG1GWUhOOGRHOHFvNTZoeUN3Z1c5akNrRm1mck1QMVJlQ2JEMDJlZHY4TmdVMTV3aFVYNU5RclBZbkQ0bzM4OHRjVE0wd0FpOTQzdS9DRmUwckw5Z2FqRStzd1owWmJnR3E1a05ndFMrK3BLQVVyQ2t2SHJoQVhyV3NkWEpaS2Nia1RDT3dWWE8vanFIb2VVRXhZWjAreDd5RkwvSlI0Sm5sWk9Vdjc3ZmxGMDhVVFEvWmg4eHB6Z1ZDaCtFS3ZzaEhnV2VXazNYNDBsUmQxMDlIOHQyR1ZmYjZOUHRzbGh1Q3Vya0lQUHJJNDgyV3pxYlNSZG9rRTRlOExYdXVXeDBUTTRxQXpxYXI4bDNCRi9sckQydjhGVEF6MmdwVVMwVkFaMVBGUlJwdzg5WndZa2xGYmJiVE9wdEtGNmtpWHRuZVpyZlYyVzRMYXNjUTBObFV1a2diL0hacTJlcmIrUkc3MlVaQVoxUGIvWUx1c2ZDZzNPOTJ6blpyVUR1S2dNYW1pb3RVNXg5SWhqSDRPdUkxTHdob2JIck85WWZBbEFkT1ErQnpONmZ6MGlMVVUyUFRRL2Z6UlBBbWFEYlBDNGtoWWpVdkNHaHNPdmlaVUI0K2EzUGtwT0VkMFNjaUUvOW5IUUdOVGFXTDFCSmZGQVBqN3M5NlMxQS9nVURRcGx0a1Z4UjJ4VWR0RHZGTEtBS1RPZmdQMmxTNlNQQjlaUDdKNjRib3NIUFFvbmxSY2NXK2tVSFYvdjhWWHlsbzAyUFhSUUszMXoyVXpTenhUSkVpQVFJRE9SNG1vQllrdFFUT2F0Q20wa1hhY2kyS0gwSVJtQnI3dnlUZW9wNk80enB4UGRqUWlrR2IybmNGTVh3QTVhVVg2ZkVaNHF5TWkzejhONENBV0IxSnlhclNqNS85Q2RoVWNaSGc0MU1zZ29FT2V5V2xiQ1NQUm1DRG5IV2lLVUpLbnhkK2EwZzVaQWRzdWk2amxoMGxQRDBOWjRFbEdSRG8wcTE3V1k1Tk8zWmpic0NtMGtXeWRvUzNlMTRZTjRzU1dFZUR3QWJKL1BSS0s3YWpCbXphbFh0RER3bmYxdHZLZGovWHRBV3pHQUlqallQeVdUS21INkdoMzV4eDc1a2o0bnlGeHBaR3NlQmJmakdEWnNDbTBrV0NjWm43V0FQY05tajJZZ1FIaFhrcUt0dUdFbWJzOG9JMno1T2IvaXlyRjJjTnYwMVhsTkc2SWFZYyt1Z2lxZURuVHpmRXVyVEthdnU3NzJNbS9QMFBmZXVJRi93bjJ6SHFLejlVQ0NFY0NWNFFTbm5BUjFKY0pMZ2cyQ01XbTdncW8wS1dQdzJBN3VtNTFNQ0VxdjJzRGNpNDgzZGU0aHB4TnkxNEMvaVp2NSsyMk41UHA3VEI2OElOWFZzWE16TWk4THpZRWhTb0QxdXV2VE4yOEsyKzE0NThaRkM5NDh2eW5QcHRxcmhJMElmWjlNTk8zQUR1NFlnbnNRalVOQjRTcTlUM2ZYUGNPa2Z1SFBuNXdRNkZYWCtlZXU2M0tUZWpRM0pJYmp2L0krV1JLTFV1cHJNaEFEZkV5L3FhZElhZFlTN0tSenJTcW5CZUJaWDMzMmRUMVVXQytOVGhENEthM2twNGxndUJobTk4bGN6b0RQdXVQTFdzUytRZDZpbFBuNHRlenZiWjlLSnF2blhXYVRkMFRwcEdFbVlsUTZCaWg0NTcxQ01hcWx6cTJvL0lnNC8xWHBYS2wvYlpWSFdSckczbUk3WGtveGEreW5pYUJRR1lSdDhQcVFmN1NUeGxYNWtjYVNtcllqWklXK3FMbExycWRiSEpmS04rdEplbFpZdVo0UWlNUW9kZTZ4QnNxbFRjQ2d0NVlQQU51U1BUMmw0QkZkVkZzcXdhbmI1d0hoUlhCR0V5SHdKUkEyZVBlR1poQjJvUFU2WEM4QjBTb2xaZS9LdVB3b1h4RzcvM1lvZFhXSEVuR3AyTVkvcjZsUzUyVTQ2T21UOFlla1A3V0plb0h1MEw0MmFZeUtySDlncFZBd3pLRGpGRjdIR1JMTGloN2xvdmtHZVVLcGpNamNBb3pCekEyUk9lcnRvNm41ZkpoeHV2L3NKb09GK2p2M1h6cXV2WXRueVBnMWZIajdsbHVSdUREQ2dDTVBTR0RKdjBGUXRxZURyaUt5ZzYzR0J4NXE0dVg1UG5kNTAzdnpqK1ZFZERoMW1aRVlDaDl6U3NNbGhLeGhnWHh2dGhkSkJmQzNlMHZMVXF2a2tNYnltZW1VQ2dGekY1RGhOTXJzRTMrOStNRW5mc0RYckNTYmU5TGxJNElaWmtSc0NPbUR5SFB1eUdwejN2WEw1ZkhzeE8zUERuYWM5OUxwS1dCak56SVFCZDhVb29BeVU4M1FqeGdVUmRpR2JDQWgxQnd2NGJQaGZKVzRwbkJoQUFzK2tkVnNxNzRZYW5sZlpETWNKR0VXTzRXclhPSDZWUTh6QnRGSUY2bENrR2JuaDY3VTRuUml6cyt3djF0WlNxbFloaFFTSERaSFlFWU9rellzaHNpOVhUN1hoN3dTUEJTYUtaQkp5eXR3WnJVZ1Jnb2piOGRtcUJpM1NiVWxWcUNUYVcySW1pbWZQa2lITEVvemdFV29RTVE3bTc0ZW4vSzkzZlVHSUxCdXFqOEZKUjBzQzM5QW9vaXZxdlJkMU9SWGdLZTVDOEsrTmFiY0RidXE0dDhHVFcwRVh5NEdIK0JHNm5ZbXBkdzF5RXAxMndhZWo4b1ZzUEl0VDRHeXE2U0M1ZVJTWGd2UmpPRFZQUGZ3ZHNDU1YvZlFiL2RKVXorb0NKNDNpaWxYaG5LMW9LbHNZaGNCdzVYamFjOEhUVnZ0NWx4bzNoVmt2d1FvWlZ1bHFLUjVFSWdMR2E0ZndIVG5nS0MrRmcrZ2hYU2pCb0pDRjZVVkRqZjBFSXdFdXdJemkzYVhqNjNMaEpJNTRFczdtd2hub2xnaHNXbFlJQU9MUVJMcElUbnE3UmhYQWExT2crSitKVkVtWWQwS24xUWpLRk0raFpFYTZxRTU1V25ZWHdQandrRTZzZnJLRGovSHdzU2tVVHdCMXdOMXdHRFU4L3p4NVpxMEx5S0p5U2w0Q1QxSXdsUW9KaUVRQWo3SWRMb09FcFlRdmhPNUM2SGs3SlM2cEppR0s1SUVFZUJHQ3dqSnJIcFlia0MrRjBQMzdFS00yVmdBcm9KT1V4aUlHNjRDSkZiQnVqcTZjaWdvSDVoRWh2aWlrRE14am9KQm13U3g0V01MaXloN1QxVEFhS3lXR1VqdXJTakFFNFZmR2VsRjRXNWhwQzREaDZyR3dyQVV3RE91cEpyRmc3d1V4U0xCTWt5SVBBSU5xbkFUUGVGdXdoNm9seWtUbFpOMm9qakdDRi8wVWkwSS9zZTA1NEtzVFQ1YmI0cFptZXNoMVkxTVQvTWhHZ2prK0VQTEY2eWtpQU5uN1ZCUnpmZU84NFFpUVc1VVVBNXZLaVhCcXhlc3JFZE1Hb25UaUpVQ1ZpZDFOY2JTelBqMENNQmFEVEtkMFkvQ2tSMklSTGpybEt3aXRpaVNFRURxTnZrUzNQOUMxZG1vbWRVSUJ0RThwbFlFaE5aSk1DZ1dyMEF0cElDVS9aMGt6OGhJSWQ2WFdsMEExSnN5RlFpOTVsRGNYcStscmYwMjFESk5ham82T1FXcGh0REFFWUtQY2ptRUd4RzU0Q0dmVHErRlVYSUxvUndSS0xDa2FBM3Z3NjRUSm84WUZTdkFQbjE1VnpiZklRZ3hrdExtVmxncE1hdFhFRmlqMTcvQkl0emNCMFUveE50NndHTHFFY0NHV2lIaW1sanE0Nk5DZGFtb0dWbWZpWmlTWEV1cXdtdzJBYU5VRkF4OXFPcWtzN3dkSk1UTjlYMldHNkFBUWEwU3R0VU93ZG1rZGc1TXN4ZXNUY28yTnFZM0ZlQkFaZXY5YlBydTRmbW9FKzhxMkNEZ09nT2ZGend2UFNFS2g1L1ZxZjNNK0JkVHo5MVBrSTErVElSK1kvN1Nkd2p2MTE4TndZQXJiWHIxWDRidjdvOHg4QWs4SVUvL3UveEVmYmxjOERPUnlURHcwVndtQVNldmVOWUM3bWxJTUE5V05EaGtud2lOMkRiMjZwdWhucTNGSlFVNkREMWJZZ0xDWGwwTEgwU0M4THZqZEF2eUx6OUsyYnRwaDI2RG12bUhzV1hqSDNxcjRPejIxNUp4UWphYkhRTkFKMHlkczBUd3RlaFo1Z2Y2RjVzY2pSUVFBR1dJOFBaQVlXbUVqQ1NRY3pVR2JnQWowcWFob3BBMGRhQldhZjhKbVpqTmpscjNib1dSN056NDl4S0daRU42WGRvdk5wRkRMZFR2Y1hkaFlkdXBsdFh6VjZhakNqM25RRDZYN0d1bGd0THdMZDZLbkJqT3hwMUR2TVdCZXI1VVdnbldEUFdBWVpZTlByR2FwaEZSTUkySkhUdlprbDlJdGhtMW1mcGFvSUhXcXZnQWJYaXVuK0JXaTZlQ3pwamUrMGdHWjFjY0szQUZTVHNhU3IxOE5rcEttb1JvVzQwNmxVV0ZwaU9vVWZzaXlUQzVOZUlXRnZMcFdXcGpMZEZ0Z3NvTFdONkYxT0JVaEVsZ0lCT29sM0pFNE0vaDhYTXVWb1VNRUZaZ1c3Tmd0WWFyUG9seGh4WVdaSzF3MHN0Y1cvZENPRGJqdlJEN1ZtNEloVmtpSUFDNTBGTEo4NmkrSzQySmJVQ0licG9EOFZnajFjSzRYMGY4UE5ueUYyZi9TKy92aVRUUk1Ld1gwdjZzSC96Q0xvL3JUTWxaZXg0c2Rnd095VGlZbkZyT05DdGprNEd4MXdBVFhGdFhtSjNQazd5L3FMZnRRTDVaS3lneml5RVArVSt0TkhTWlZBdWtwNzBxUW9iSnVZMU9zVkZFZlNSeHBOakNOTFl1NTE4ZFh0NnQzOExhNFd0R21Uems4Vk1lZVl2OFV6eWFFKzdqQzkxcU5lZUo1UWRiQnAxSk9LQ2JrRXlkQ21RVXpDYzFiRmJ1aExkc0JqL2ZRVFljZVRJUXhIQmMyMTAwMW1sME5rWXJZZmdYWHhKRW90RUZsV2JFQXk1Qmo2K2JCenNHbjBreS82YXJHNWFOTllpQlNDRm45aURMYm0rVGRiMDkxNlljZXV3a0pKRGdxMDZWQ1JnOGtvQkxyOFphdXdvaEs0RXo0YVp0SFFZQlpzR3ZVKzVpaEZJc3ZvdXV3d2tnSUxKUUo5L293Wm9IWkQ1bVpOZFF1MDZXbFdwWmF1bnZ0MndHLy9jaWQvNDR1eUtiME5vRTJUMnNmc3BIdTlvSDVLYlhvOWFaT1duczRtNUZjN3hsQUFtNzV1akpuQ0NHMnFnQkdiYkVNUE9ERG10cW9BQUNBQVNVUkJWUHVYV0xLRUJMVndtNEtjQk1kdHZTQzZIM0ZQWDRTNUFRUWdvb1RqN0R1Qmdrd1phTk5Nc0JtdTlMeGpVMEwrd0FqZmRvSDlkTmVJaHN2QXhKMVlHSnBvTGZaVEV5am01bkdOZDFRVHk2ZFdoRTF6S1lyMzAzVHdmWjhiZFQ5ZE5TMTF2YUJZaHRvVVl4a3Q1UHJNdis4N1ZyMmhMMDJWVzVSTk1aWkpaUVlncm56VUJxdWFXRkRwRnRSUHFVMVAwelpyeWVsWDRVWVkzRWkwRnJaOCtrVFkraW5ZMU1TbEViQUcyalFBU1h3R2JDUUlMSWxuV0Q4ZEZHUlRYSmVKTjZHZ1dHdUtWRDJ3Skc2NVlRNE1mUDVqVjlUei9nOEsydWRBYlhyWkt3clA5QWlza0hHVGw3U0MvZFRLdEg1YXlOY0ljSitEM29DYTNKRjg5Y1ZPNUFlak5YVzFXY0N3TUp1ZWFDVmlwaGNCK3ZhRjJ6eHJ4NGh6QXpZTjdKYnd5c3gyaHZzR2srSkdSN1FiblBnNC9sdDRDZGhXQzdJcGZWWjVQNEY4SktHNzI0Y2NocDZieW9OTEQvZmg1NEhQUUYxNENzVjlzckF0dG03bjR0dlNoYm01T0xMSytMeE1VaEF2a2NtUTAyNlo4VzJPZ3p0S2t5b1RTVWMvSDlXSnBNQkNoc0FhT1JKUUhKdVpJdC9SVEYwSUVYbis4Zm5UeE9qVm51R2thM1p3WmpBeEY0VVFiRnJJcy85RnZWTkFVWDFSa3AvbER4Slh1b1pteUl0NlJ2KzhjdWRmRlBBTGFrZWxkdmF2d1BwUDYrUVB6VWdvYW95RS91OS84c09Nd2d2SVphdE54cmRzUXQ1bHFHMEZ2aC9KeUQ0TVE4MmNiVGFiUDdoSkh2NEZZOU51Tk9MdEZORGlWa0hQS2hlZzZzS3hwSE40elFKYTFTdG9IcmtBVlJlT0paMXRMR0lPcjFyUS9vbUZNMEFCRGFKTHJwY0w0RHNJM3pkY2dEUmtxU0pRMUh1MjYzSUJTUldINlRJUWdINjZXNENjR3RxMEFGUVRzbXpMMWJ1RU5SS1I5ZVhpZlNKNkpES0lRRUdESkhUL1BZTmFJcXMwQ0l3SytjQUV2VTBQMDZpQnRBWVJhQlFTZE5CdGc4Ym1SUXkyZGpsWUhSY3lPVUNuTW82V0E4QVpiT1ZPSVp0WGlwcEdua0VBWjFBbFdHd3JZQUVGbG5zS1daYWRRUUJuVUNWMWk1TTU5YUQzbTFtek42ZlNFbkdpZHo3enpUMHNhSXVwZVUwWGtTT2Q4RzBhYjFpakVHL2F1Sm9MeXJBQ05qVS9pVC9DcWNGcFhpLzlJaDdTcitQVTREUnQyaTBDZnJ1SUMyV2FLTTJYN0Y0QncyUXhBL3A4NFRwTmJjRkZqWCtENzhwYng3K1dRa2s2TmRoSlFZK2taaEdBU1lmWXB4WFgybU5icnJPczJHTG5lSmdtOEZRYlRqbUVnVk5DUHV3Y2pKMGVhTnc3V3BGVVBaa00wUStta1dKNWhsVEZiQU1Jd0RnWjE2Zlc2QnFMREdQYnNiT0pPNFVzREJobzdKS3dvUDVNSjdxdHo5UEJ1Uy8ydUVDRnVNRzZWY2lpYkxTU1dLb2cwSStkZEtqdkFqa1J6NlZEeDQ1enFxcUUzRkFrWUxKc0JMcHgyMHljSnlSaDU4SmRwaG5jZ0cvSDZGakhsNWpGSUZSd2NjL3RnU0dDenRFblg2QjNja3VDbzN3UVFpbXlZVGpmRjJuOG53SUM0TkJFajZVdDJrR2hkMTVoeWgzR2RrSllGOENQRkUvQmtsSWtQS1lmL1RHLzdpNFF3d09sOUE4TzZOY3huUkRzWDhBNk81T092MGtRZ0VkbTNCZC9hT21kM1dJTmQ5UFlJSGJCRlVibm4ybzVZV1pKQ05CZ0prclVtbE1LYmc4bmFzZGNBcFoxN1BwVFVYeXhyRUFFMnRHRDZTVm5Ta2pPRE1WdlNodTU0M1NCV2lQcktBU3EwUXRqcSsrRXl1RDI4dmY4Z2dNVTk4WmZ1RWhPb2dSaVdlRUlnQ1BMWGRwd1ViQVZqZFBBL0R3UFZNT280d2J6c0hxWWJ3NEJzRmVzUzdQajltV1lueitJbGcxOUd0M2VhSWdLTDAxaWc1NTd6d1hybmthckJNRlIzT2djelFCTDh5Tmd4ODdpdzNkb3hDeEN3N1Z1bU9Ba1kzbFlYY3czaEVBM2RoWWZicEZpUVhUZ0JqVmgwa2V4UFRtc0p1WWJRK0E0OWhZSjh4SmkvakErUE8zSGQzdGpxaU9qRUFUZ0JoanpFVlNnRUs1eGJIZ0tuNEJDRnlrRTZmS3l3VW1LbnZHMWRseTNOejQ4aGRsZWRKSEtNMTZZSkR0dSswckxuVVdBOFBSMkdCdVdEL2EvRVUyQnBTVWdNSXJ6WllHZ3cvU0lEMCtyc1I1WENTMUNFWWR4RTdRMXR5TkRMNlRoNmIrRmd3WnZ1UXd2eEpLeUVJQUJWYmkxZXBGOTErMWg0V2tsM0d5d3lTWG01cXdYZ2JsbUVZRHdNOXBWdGQwUEZMRlJlQ3Z3clRoWElUa3o3R1poWWhvSXdLeERKMHF1M1A3SlJ1R044SzU0akRNT1VVaVdWd1kzMU90UjB1UXNQK3ZSRjhPSDZuck01UkVsQnNzTUlnQXhaZVFDbWkxQ1RoN0tIb3NaaUlBT2NEdkZGMndIVUpsR0J0eFF3MGRUVUtoTitHb2MzMm8wMkF2VE11N3FDS3VIK2NZUkdFVUhJQU5oY2hoWjZiQnI3NGRwQUtQNE1Ld004MHRGQUxaNjByQXo3QkFmVzEyWjJIU1FYZzBQWmJwdUpCdkdDL05MUWdBV1hxSnVxRENIMzZHYVZGOGYwZW4rOWRDQkdnWnhuT3d0eVdheFl1U3NnbzRVUEo4OXlOOFlOdy9wUTIyakd6b2ltZ2UzMDkyd01zd3ZHWUdXZkw1VUova3A4dHFSOVRuN1YrQ2I1WlBPZHZnYmxZN3gzWkU2K0thVEJ4M3NJRUp5cFU3R2ZjZFJ1a1ltRWNOcnpkMFBFY0VNaThwQm9HS0xjRVV2Yi9NSEh4Ly9Zb2VXM2RmL0orZWZwdjBIaEs4My9IbDRQalVFZWlZYzF1ZmpGdTJtMXJ5bEZBeXU3VEIzdzdzNDlPYkcwQ0FER0h4ak5pWEZDNE90U0RmaXFaQ2lOQVI2c2Mrcnhhb0NNNGVoRTB5eGxaSEFQQUxnK1E1emNoM2gvSDFPQkUxWDcrY2RmR0hvallxSFRPdUwvT0lSYU9YMWZDK1NjU2RlREZLVWlBRE0rVWJONDhkclVvK1lqSWl2alJSRklORE5aeE80Sm9aRnFJVThjeUFBZTNlUGNsUVhDM0k1V0dCVjB3aEFpSG9qQjg4K2VrZzUwQ3VxYWl0bVMyaWszSE93WWhOSmdJWFRRQUFlY0JwbWx0c2x2NUs1TGxZc0RvRmU5T0pNbEdENCtGQXpxaHpMcG9RQXVLNVpKL2Q2K1p6bUtUVjRHY1NPWWg2Y0NjVUFodTJUMEVJc21DWUNLMlI4bEVsK0M3dHBKdHpLcUZUTjV1bkFWRy9XUWJ1TVZpMjNqSzFzSGZVcDdLWXpmTjAwTXMwNzJPUG1ETGRwMlZWYmU5LzFEQkQ4ZngvT1VBbXJJQUtJQUNLQUNDQUNpQUFpZ0FnZ0FvZ0FJb0FJSUFLSUFDS0FDQ0FDaUFBaWdBZ2dBb2dBSW9BSUlBS0lBQ0tBQ0NBQ2lBQWlnQWdnQW9nQUlvQUlJQUtJQUNLQUNDQUNpQUFpZ0FnZ0FvZ0FJakMvQ0d4bWZLb3hYWXZMa1pKT3A4V2wzaWpsSWVKeXBDeXVsZEsxN0ZEOXhOdldZNU8zcGF1ZWtMb2NLUW1WV1hpeXF2SXB4dFgrNUVIbnl4YkdXMTJPRk9OcXp6N0RGM1Rmak9rcjMrRWJqRStzUWZqM001TzFzQndweVhSWmVLclZ2dVliUVd2S3M4Y1h5S3Z3SVNGeU9SY1M1VWpKcGVMaVZONnFpYSsxcVcyNm9KaXdUdDlndGtXdXFPVnAwK1ZJU2F2VlF0SlgvdkorVy92UnhVUGl0dmVDOHdLZUN2MUNWTWFqSENrWmxWdTRhdkFoeFVsZDEwOUg5OXkyVnRrYjdld3pOeWR0b2h3cGFiVmFWUHBISDNtODJkTFpWTHBJbS96OTNHM1pjOU9pVVk2VXRGb3RNcjNPcHF2eXhhNFgrWHQwYXZsZU9GaU9sRVcyVTVxMjZkQldYS1FCTjI4dDM4UlNPVkxTdEh1UmFYVm9TeGNKUG5sNjRyUytuZU5Gc2NDZ0hDbUxiS2MwYmRPaExWMmtEZkc1Q3p2Zkp4TEtrWkttM1l0TXEwUGJkajhFZGl3OEtQYmQyOHhBbENNbHMzb0xWbEdEdHVJaTFmbW5obUFNenZJR05CZXJjcVM0NHBZOG9VSDduT3NQZ1NrUEhIemcxYUNuZVlBcVIwb2VEUmVwcmdidHc3Rm9JTHd6L2JLVGhzUlFaR2I1TDBkS0ZzMFdzWTRHN2NIUFJFUGhXNHBIVHZxQzhIOUZTY3IvY3FTa1ZHcGh5VFZvU3hlcFJYaVh6ZnVoekhLa0xLeVIzSVpWK3VUcXJXODgvZlN6TjYrNlh4amVKdU5IYmtHT0hFbURhRytSWGNIRC9UVHhJVkUzUG9qaTVQL2xTRW11ejd4U3dwY0ozRU1zYWNNWHZ0amhlckZCdEtXTFpQWEY1MHNhb3NObUJLTWNLUm1WbTZkcVAvcjgyeDBEbmozd3BUZHp2VmNmZFhJbWozZEVRNEpvSDdzdUVyaTk3cUZzWmhGVlUveVhJeVdGUW5OTUNoK0hKMjkwMUFaMEllZGRTazRRYmVraWJia1dKVG5XVDZuMGNxU283VnpjTlBpcnZ1MWhWVUk4cjBJUG9tM2ZGWGhjSXVTbEYrbnhHWkwxMHpTY1ZUbFNoTjZML1EvK3F1ODdJalh5VGsrVEEyZ3JMaExjZlU4Y1l1aXdWenkxMHA2VUl5V3RWdk5KRC82cWR6RjcyeitJQnRCZWx4ZkJqaEtlbnVZQ29Cd3B1VlNjbThvOVFvVEx5M1FlM09sNGxRK2dMVjBrYTBkNHUrZUZjYjExMWJOL2dLdkhkM3hUbHB1U0lqa3ViNnJyMjBLbXJIWnpVQUpvZCtYZTBFTnhRYlJJN0hZazJIWGtQeVNqb0krVVVjcnlXbEsydkU4ODMzRGE3Q3Q5aDFFRmJDcGRKTEFFbnlVYytFZHNLVUdrUG5ZcmNIeFFsR244M294U0pNZWxUZEVBODdiUytsNHd5dlRiZEVYeGt4dGl5cUdmMDBVSzlOTmlwQ2d0WGR3a0RUQVBaUE11S1Z1eFJhN2Zwb3FMWlBWNEJMT1pjMVVtMkUrTGtTTGF0TkQvRzJCVDZiQlcyZzhGVyt1M2FXc2lhUnFFYlhqWUVMNlNMRXFaS2tkS1NxWG1rOXdibmw3eis3eTBVWDYwRmVjRnl0ajB3MDc4N1RRR24zS2t4Q2l4R01XZThIUmI2Ykt5ZVg2MHVSa2Rna04rTXg0cGowVEptbWxTNVVoSm85SGMwamFJRW9UVTM2TnJodzl0MVhtQitOUnhzTURUYXVxcXBzZ3JSMG9LaGVhWGRFQkVOR0paWDVrYzZScmlRL3VpYXI1MTFtazN4T1pCWGYxa2VlVklTYWJMbkZPMVpYaTZwY1FvYXF0OGFLc3VrclhOZktTVzZqdXJkWk9ueTVHU1hKLzVwVlREMDI3SXc0WU5ieWYwa0cweTM2Zy82ZVRGb0J3cGViV2NoL3AwcHdNUFQxOFlOL1VhajRnNkQxRlJYU1RMcXRGbkZwMEh4ZldWRStlV0l5V3hPbk5NQ091ZjNOZGR0ZCtoYVVmbHhiLzZLSkQ4eHUrOTJPR2xLOTZ0MmNkMEYxTFgxMDN2czM5cFg4TXNOQ3VibEZCMlMxNUFkeDh4K0VkODR0WUxTQVBLMlNHbTJ6MHVrZ1UzMUYzckJmS01wOWJ2a0t0SzEzN1RXY2RUcWpscENDSHVLSjlBaW9ZUFpsRUVZUDJUclo0K3A1K3ZiWkNyc0l2d0Z1d3JGRFp0K2RaZnF1UEgzREtHNlNyNWdsVjFlek5NUGw2UHd6cUxsRGlleTFzT1BjU3gwVnJmc3pvVEFVamQ1MGx0Zm5IOHFZNkh2dlZUZXEySVYrM0FTTERuS1U1MEVpOGxFWnVsSkJydzhMVHFYeGtQUTZQaVdjWFJVVlhzeTVaMVVheXJXakJSQmVjcGozZ3BLUmt1RTNtYmhhZDBKcDhjSlduNGR1eEllb0Z1bTNEM1A4REtqVHBIa1VRRTBNUkxTY2hvN3NrKy9VVFk4V1JZMjhDVXR5MXJzOTJHUk94dGp6THhPUzhhdmkyNlVuUHM3c3J2K3JZN2FXb0VzK0tsQk9zc1pFN0ZCc09FSEVOOWkzbDRldTBlN2FoZzNQaWo0WE9SZ2pWcXA1RFhjeTNaVithVGc4UWhPZkZTUWlvdVdyYjZwSVRmdEx2NnhyTHdGQmJDWVUzYjU3M3FLMWgxY0lBaWp6WG5zWm11V0UrRmlTcHRrQlRKSTE1S2RQVUZLbVZQUmZqTlNjOG4rL3BtT3VGcHBRWUw0VFVnMHRONGNpdjZrRWVoMlhCMklkckNSNEpRUnZjR1NxV0NKaGt2UlZNSnN4Z0NUbmo2RkYwSWI0RGxRd3l2Z3FWZllWVXBkbWhIaGlHRDkyY1lDUktONlNvTGNKSG8rSTFISmdUQWttY3JEb0IwdjhOdVBJL3pzZDV4aTVvUUh0amdsb1NSNENDZXJZOGlYb3F2QXA1S0JBYUUzR04zeUJXd0tYVllZNDZHZDMrM2hucHdIVEtoLzlNL2xqcGxxUlMvOFZKU01GczIwalpZa2krRVE0b3VzY1FjdFRnWHlmcklFYkRvdVFONXcwM0ZjRmFMNDZXbzFKajJJQUNHRkROM1hVaDJQSVdhazZUT1MxMjR2ZFlnQVZlL29LUlMvUFh3SEJDZzBZK1ltNGRaQWpLTVE0WGRlK09vTEV2MitYYUc4RFNwbEhnOWxwQkNycDVhMWptdzZaVTRERmJqdXpKbG9RUXdXY0xUaEZMaWxGM09jaWM4NVUybmZUYjJabW05bUFnb3VENzQ1UUZjMDRlbkNhVWtVbVhwaUp6d1ZMUzZuM1JwUmxRSS96OTAzZDVNNFdrNFl5eUpSYUNoYnU2dFFrYzlpcTJTaUFCWU5SbGhwdkEwa1F3azBpTXdVTzkydE5QeW9GSlBuVHkzNXJxOXdEUjllSnBjRUZJR0VHaXJkenU2TkhNM1FKSXBRN3E5alN6aGFTYVpDMXBwTFd6NTlJa245UzBHSzk1MlN4SXZ6Ymcxd2hMd2lsRGhiUTNjTmJjd1lzeVBRaUQxK2lsZ3IwN0cxb2c3WkVhSmlTK0RWNFNLRHA4bFBJMFhzRHdVTkJvSk8zWjFNQUQyNnQydUFhY25PcnEwZVJESzNPQjEyQTE3MjlCOU9xMGlDMENmZHYyVVRqUHN5M2JUcFprRGVabzlCWXoyV0cwZW5oNWV5YzRNYTZaQ2dIcTZTZ1c2TkNOMmNDclo2WlB3WHAxVFZvdVB3cjNkOUV5d1JpWUVXbXA0Q2h6QXBnbVdadUpGd2JWeW1WSHhVYmc3aksrRUZFWVFHS25oS1hEc2dsRTdCamlEVFU4WUcwanRRYXJmWktmNFd6Z0NOVFU4QlduSFlOT2hBYWt3OXU0ek5qMkg0YWI3YWxnRHpKRkZKQUpnUWhGek9IUjBTdjlLWkkxa2hjQ0g5OU8razdxa1B1dVlqQVZTWlVPQXhqNDMxS28wdHZFOURhTVdKMDdEeFAzUUlhYnZrVzFhMXZrTVN6T0poU0doaWtEZ3piMTBPWFhjVVVteXBXRXVZOWVwV2IzcDNLQWJKanAvTmxXV3JGWmw1TytuUGNnZ2dkY05ab0NseHNiMEZmS3lzOVRUSG1iZ2dWWFNJdkR5ZDkvZnBoWWtEM3pvVzd6dS9ZODZHZVNWTDZkbEZxQS9abzhVZHgrQ1hmaVhyZTBrbThFRFBEQWpMUUp0WmovbnQrbFVwak1PL09CT2ExcWVrbjdOaHJldlY3NC9QcklhNUZWclpHUWlRM0xIbEI2QnJ2UDg5OVBQM3JvcTlvQnRrVEg5MXN5dHEvYWtvNitUSXZlUENYbkVjWlJXYmRJWGdVMksra2c2Z3dpOC9BSDczVCtrZXEwOE9IbHBCdlZEbF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NCY2hHby9QWS8vdlBiN2V2bENrVnBoU0xRZFQ3TXRGZW9ER1JlTGdLMlk5UEw1UXBGYVlVaThGdmZvOS9GT3lwVVJoTG1hMWVucjBNU1BlZUV4aVl6OE9IbWh2anU4SnlBTnVOcTJ1eXprMVBWOGsvY2IwbFBWWTFGRVE0ZkVEWHhOZWhjY0h3T2J1c251VGhnWlJXQkxVSmVWOC9MVDIvZVJ4MDF0S2s1NURjSXVXS09XMnBPVzMvK0lMVW8yalExY2hFVkxoS3lGMUZjZEJGY1VtVDh2OXRvVTVOQUg5SVBjay92Mkhqa0cvK3RhYUZOalZxZ053dmhLZHJVcUUyN3N4Q2VvazJOMnJRL0ErRXBqcjFHVFRvTDRhbUZOalZxMCttSHA3UTVPUGFhTk9xVXcxUGVGTFNwU1p0T09UeEZtNW8wSnVjRjRlbXdBTFlwV1dJL1RRbFlKSG1Qa0dZa1FTbUZhRk9UTUhjSk1ja3VJeSswYVViZ3ZOVzJIck0vc1c5WmZYSkh6ZitqOS9YSG4yeXFPYVdrMGFZbVlJWWx5MGZJblE2RXAyOG83RDVHeUtSUEptRHJjZyswcVFHOHR3bjVnclhhZnhYQzA1OUlkcGZJbmIrenJML28vMHhtbFpOQ20rYkh1VklqWHdjdTU4NGdQTDN0c3F1MEowMTZzbDI2SzR3MmRZMlFPWEdObkRsMSsyOGhaTmZsc2s2ZVllbnFYVGV2bkFUYU5EZk9xNFFjT0V3YVJBMVA2K01PWTcydTNtTnpTMHZBQUcyYUFLUm9raGFaZEJ3S21FV1M0ZW1xY0pjdTJSNWZPSnFYa1ZLMGFWNFkxd2o1ZDhZRFhDVVpucTRUUHVUVytNaWNWMDd5K21qVDVGanBLZVVjTDFoWGRza1d1ZUhRdzhqOG1yNWlZYmxvMDd6UXd0YUdEdVBoQ1UrNzNGMjZWUDZPWDdScFRwdENQeFFCS0NSbGVOcm5qaFBFckRkeWlraGJIVzJhRmpFZi9YbTVTeHU2cEF4UDNleHYvM0xIVjZYb1U3UnBUb1JITWlaZGwwbkxJcVc3Um01RDBLWXVGTmtTdHR3Z3ZhT0dwNUQvcTUxc0xQUFdRcHZtUTNDRnlQaWxvWVNuZEZNUU9mdVhmTXd6MWdiUkp4bXJZalZBQUNJWk5qRUk2WUUwcjJYQm1BekgyWGVtZ0ZLN0FKdHVqbzlLYUVrNVV1SWEwbEtXMTlwS2VHbzk3OWlVa0QrSTQyQyt2QWliYnBUUzljdVJFb2M0ZEVmMzRVUVoxVUF0Q0d6WU1ZeGpZYnk4Q0pzZWtvN1VjK3V4eWR2a21jRlVPVkxpRkFiOHJuQWFzQ0tmSkhReXJuR2JpdWcxanBPNThpSnNXbFVtdzFiN2t3Zkpuamw5SmFkeXBFaDUyaFJNSGJtdDg0U25RUDE5YnRSOWJjMENNM1BhOUFYMXloUnE5dVZzaWpVWW4xZ0RPUXNxU05MOW01U2k1WlZPSFlXYWpyQ1grVG1FcHdkS2tXWDlmZCt4NmcxUFpna24rV3k2MnRlc0RhNHBrMkVYeUt1V3RlNDJPMXVEVEVyUjhzcW1GcTFGUTVrbXIzNUl5Q2xQOHIvS1IyMG8xMTMyWGpyRFo3bHN1bFVUaTRTcVZoY1VFOWJwMHVLV2U4dFJ5UktuVFVyUjgwcXNTb0JRWFY1ckVCSVlabGRyaE53TDFDbzRJN3ROSzM5NXY2MDQ4bExQUTdtSWVNR1oxSzdrZUJlSlNTbWh2S1R1YVZPd0Ewa2ZuZ3BHWVBTOGR4N0JLdkYvZHB2V1lhZGpYZGRQUi9MQ3JKSWgxY1IyMjUxWUwwRm9Va29vTHlFcy9mOEZwUnUySGZPdWZwQnlXV3NLWG5WcGRKRlY5SDkybXo3NnlPUE5sczZtMGtYYUpCTkgvN2JzdVduYlkxSktLSyswU2tsNjZLZkNvd0FYbUlZdDY5UkJYQ0hqSmlkcXpWTS9wVHJyYkxvcXZiK0wzRCtvdVg0RWIyaTZQNU5TZEx6U2FlT2hWbGE4WWFHVWVrT0h0K0ZuSkYzZ0hYZDUxVk94eUpQcy9aUnFwVU5JY1pFRzNMeTFmQk5MSnFYb2VPWEFGMjZYd3EzbG0zdDd1NWExU2VSSzZvNUxrRU5NdXFybWJTcGRKQmlOVGh4dDJ1eTJtazR6U2EyelExWXBPbDVTVXVvVWJFRVN3VGdzamg5QS9mcVFSVGczT0svamZFNC81NUxxejd4TnBZdTB3VytubHUwUDNGS3BxQjBOc2tveGJGTlkrdjRwYjB5WGtPdVF0SThzQzdxc2V4WDMzRlM2UnVlZ05tOVQyNTNUUGhiK2c1dy95NlNwemc1WnBlaDRaVktLVjZxTE9JM09QZ3hoNnA2KzZoVzhZZGZUYjQ4N25MUzBQN0RwNWV6Q05BZ3BMbEtkTDFuQUdFeXY0TXlIU1NrYVhwbjFvaFZiWXFkbkQyd0tTRjZndnU4bE1oblNRamkyM0g3TXpzdjQ3Y3RSSW9NNERVTG5YSDhJVEhuZzhJU2J6bWtHNW00VmsxSTB2Rnc1V1JJd3lldFVXeVgzTzk3RElSMmwxc2lSNEhXYzczSVdiRkw5dzlXVm93OXBFRHAwM3pNTlBpRmN1SEJBWXVna012NllsS0xobFZFclZnMWMzQk9hcXI0QlZ5NDBkN0JMejJyUDBGODQxbXc1QWNOeWl2K0Z4MTdKanp1WjVXZ1FHdERCeHpsZ1c4ZVJrNERiaTlOdWxwMysxNlFVRGEvMENxazFldVM5Y0VvRHVCcXN1dkVlK2xuK0lIR2xtMitFVWdVbFNWZSs5K2Z2ZXl1WUZLYjRIdmpRbDFpUFNsSlBwZEVnSkoyWGxuajNIaGgzWDYyVk5tMVNpb1pYV25XODlGdjBRZkMvc2I5bVdaK0ZTUFJ2MmF4U3BYYjJyMEQycDNYeWgxN3Fncy9nZHFjY3U1bWtCUkhhSWk2bnJsaVJPQ1RxeG9mMGdreEtDZkpLcjQrM3hsOFQwbmNjZkhpMCtLcTR5V3kxeWZpV1RjaTd2TFJGbjFYSTFWdFBzK1BabS9hdVQxeWxEOFhmZVBycFoyOWVGYWFCKytMNGtWdVFJeFRYelNOSkZ3bGVXTUZEdDRib3NENFpTVStEZHNndUpjZ3JxUmFoZEwvNzhmSFBkMmpwNnA5TmZsMVFiZjdnSm5uNEYzTGRjZ1FyWS8vdUZpbm95Mkt4Q0h3OGRsd1hZb0lJSGJzdWtqb09LSnRaUk5VVS95YWxCSG1sVUdUZVNYLzArYmM3Qmp4NzRFdHY1bTFaZmRUSm1UemVFWTBMSWlSZEpKalRkbzk4MzNJd0tTWElTN1JsT2Y3UGdVM2VjTzFIMjl5Rm5IY3BPVUdFN0x1VWpoNndaUEhTaS9UNGpKd1RaU1ZwZjAxS0NmSktxODE4MDBNTUF1NjVlbFFKK2JCNkhrQkljWkZncEdhM0UraXdWOVJLcWRNbXBRUjRwZFptdml0QURPSUxRbXJrblo0bUJSQmFseFYybFBEMDFGTXI3WWxKS1FGZWFaV1pjM3FJUWJ3YkZMYkZoTFZvV0FBaDZTSlpPOExiaFVXb0kxRWg1UDhmUUpMditLWWtUU2NsSlM4cFppbFNQZW55c3ZZTzduUzhEUStnM1dVeE42VTZGUDV5U3k1U2VHdkxzN3JQb0hBcUdRWFgyaUtscE9RbGxWaUtWTmVETEpzQTh6WThZRlBwSW9FbCtDemh3Tis3dlR6bzJjZHVCUTVucXhhalRDY2xKYStnTWd1ZDA1Y2JNMmc3Ti92S2VNZ2E3a2Q3UmZHcEdtTEtvWi9UUlFyMDB6eFMvQm92dEFHRGphT1RCcmVWN0Y1dzVzQ1BrT0lpV1QyK3F3TldMb1lLbHd4SmsxTDh2REtvTTg5VjZLVEJnV3pBSmI1eUpuT0NjNE10dHZmVElXbVExNTMvRGVFcnFSVlRwZjEyeUNQRnp5dVZJdk5QVEhmVnlDQ2swbjRvMkNRL1FvcnpBaU1tbTM3WWliK2RCaGw3Y2t4SzhmUHlDRnI4RTI5NGVzM3Y4MUlBL0FoeE16cllIUEtCZTZROEVwVU5OSk5TL0x5eWFUUzN0VHpoNmJiU1pXV0xmQWlwemd2RXA4N05HTzdLVFZraFU4cWtGQit2VFByTWNhV0dzdnZOcXI5SDF4SWZRaGRWOC9HWEtHNm9rYWFPUjN5ZVNTaytYdkhDRjR0aW9MeWY0Q3VUSTEzamZBaXB6Z3VzdGpvK1VrdjFzM1E4NHZOTVN2SHhpaGUrV0JSdEdaNXVLWEduMnNpR3R4TjIxVFcxVGVZYjlTY2R0VWFXdEVrcFBsNVoxSm5qT21wNDZqR1cwcWFSMk4zcTVGVlVGd2syejlFdGM4NkQ0a3FOTEVtVFVyeThzbWd6ejNYb1RnY2VucjR3YmdaYlVubnhyejRLSkwveGV5OTJlT0dLZDF2cE1kMkYxTTNaVFUxS0NmSUt0bXF4YzJCTm0vdTZxL1k3TkUxdFFEazd4SFM3eDBXaTIzcDNyUmZFaS80RmcvdnNYOW9YNlNUL0RTSEVIZVdUU05GekR2TFMweTF1THQxOXhPQWY4Y2w0YjFzYjVDcnNPTHNGZTlDRVRWdnVReUtNc2pwK3pDM2pkWDhIdHRiSktjWTNuWFc4UElObm1hUUUyVGc1UVY0aGhBdWJ2UU0yZFJyM1hOSTUrTHJxSWtIVnpTK09QOVh4NExNSzM5YXB1aU0wVEQ1ZTl4UW5Pb21Ya29qTlVoTEJTT1gwdTdWK3dxZGlLNTRaZnkxbUxkZ2R1dU0rc1FrandaNldMQ296Z1pTbzZzdGROdURoYWRXL01oNEd5M1pzcjZ2WWwrbWJOTVhlVXBpb2d2T1VSN3lVbEF5WGliek53bE02a3grNzk4VEJ4ZWU4YUxDNlFLM3A3bW1CMVRoMTNrbERyOHVLbDZLck5aTjVuMzRpN0hpeUlIM0JsTGZobnRodVF5TFJiYS9oYzVHQ2VyWG96Tkt4KzZSRjE3ZmRLVmhCa3hNdlJWTnBKck1xTmlBYmNnd0wwWmlIcDlmdTBZNEt4bzAvNnZ4UmluREsyaW1VOVZ4TDl1TTNLZ1Y1eFVzSjFwbk5IUFZSQjc5cGR3dFJtWVduc0JBTyt4VDhFWWxXWUNYV1BWNmpreEN3NzVzL2ZnRVRWZG9nU2N0ZFpNWkxFWlN6Lzg4ZWEvQ2JrNTVQOWd2UjNnbFBLelZZQ0srQmpBUWk5S3R4YXNVTnh6bXloWThFb1l4NEQ0MUtGWjJPbHhKZGY2bExuZkQwS2JvUTNvQUxKOEYxY3o3V2s5cWhnek9NT0h5TWhwRWcwWmp1TVVPOEZBODVucWdJZ0NYUFZwekpRYnJmWVZjdDBxY2JJa1RSRjBOdWk1b1FIdGpnbG9TUjRDQ1VOcXdnWGtwWVRjeW5IMkc0eC93UitwWVk2ckRHSExWWUYybHdIVmhBLzZkL0xIWEtVaWwrNDZXa1lMWnNwRzJ3SkY4SWh4UmROb3MrRWpndkh6a0NGajEzSUcrNHFXak9hbWtDS1NwNXNXbkFKZmx4TzZjdW15R3g3SDl4K1dwMWNVdHBnbExzc1p3dUpEc3NHZjdMeHVud2NsRlNGMjR2SFFrNklqZnBmMUlwU2ZubG9nTllraDk1YmRvUEU3VXYycUFsRUlYMG53WlBZcjNsR05KRHRWQ1hYazFvSU5ubjJ4bkMwNlJTZEJvYXo5T0NHSmFaMTZaaGZLVmx0QlJxbytYcUtYelFIcWl2cUlYYTlJdmFYSCttRXNCa0NVK3RaRkw4VW9zNTE0SVlscG5YcHY4bmhQSERSNkp4V2dKUlNQK2Q4SlJuMEQ0YjZ3Q3BsU1BTY0gzd3l3TzRwZzlQWkl0VFBnQUFIZ2RKUkVGVUl6aGpVUndDVG5ncWlHQXNqdzFVQkczTS82SHI5bVlLVDJPNFkzRVVBZzExYzI4Vk91cFJGSFh5TW1EVlpOU1p3dFBrZ3BBeWdNQkF2ZHZSVG5zOVFKSXBvK2E2dmNEME5CTUxySlFSZ2JaNnQ2TkxNM2N6TXZKVmsyNXZJME40Nm1NMjU2ZHJJU0huRTA4OFdVakx3SXJTVTB1Nk5CT3ZDYnc4VTNoYkEzZk5MYjdhUWxLVXZYNEsyS3VUc1RYaURwbjU0SVhYdm9vT255VTh6U2Q4eG1yVGNDTHMyQzFBVjhCZXZkczE0UFRFaEJnSVpXNXdQdXlHdlczb1BtMUN1Yko1bEx4K1NxY1o5bVViNmRMTWdUek5uZ0pHZTZ3MkQwOFByMlJuaGpWVElVQTlYYVVDWFpyNWlYS2VPUW52U2pwbGxma28zTnZOekFzcnBrT2dwWWFuVUJWc0dyODBrMEFFWEN1WEdSa2ZoYnZEQkxXUXhBUUNJelU4QllaZE1HckhBR093NlFsakE2azlTUFdiN0JSL0MwZWdwb2FuSU8wWWJEbzBJQlhHM24zR3B1Y3czSFJmOTJ1QU9iS0lSQUJNS0dJT2g0NU82VitKckpHc0VQandmdHAzVXBma0ExSEpHQ0JWVmdSbzZIUkRyVXhqRzk4VFRtcHg0alJNM0E4ZFl2b2UyYVpsbmNlbG1jVFk1U1FNdkxtWExxZU9Pem01UW5XWXk5aDF1RlJ2T2pmb2hvbk9uMSt0SmVCUUdmbjdhUTh5U09CMWd4bWdxTEV4ZllXODdDejF0SWNaZUdDVnRBaTgvTjMzdDZrRnlRTWYraGF2ZS8ralRnWjU1Y3RwbVFYb2o5a2p4ZDJIWUJmK1pXczd5V2J3QUEvTVNJdEFtOW5QK1cwNmxlbU1Beis0MDVxV3A2UmZzK0h0NjVYdmo0K3NCbm5WR2htWnlKRGNwNXFxL1BZLy92UGI3ZXRUMVVFSS8yci80Vk9SaHYrdTgwei8wOC9ldWlyMmdHMlJNZjNXeksycjlxU2pFR1pML2pFaGp6aU8wcW9OMzlySmZZMWtVNktRV2wzbnV0OHJoSGRLcG04aUV6SStTVmtwQi9uTEg3RGYvVU5hZitYQnlVczUrTXhjVmR1eDZlVVowT3NyNUQvQ1J6cE54Q2t6MEppcHF2QmIzNk51eDlGVWRYQ0VieEgybU5NaURZTFRROVUydE15Y3J3VWpKMTVjTnpKSmxFK1RSYWh0S3k4S21scDc0TE42SFJDK2dvT3ZDUk5BZkRZRE43RXFXeFpkbTRreHd3U3NVK1VCRHhra2VBQ3dZQlZoWG5mb2lIQjMzUllzY0xIWncvN0tLMU52NGZQaXFYN2IxUDdkcVRkcG1nckluVGxUMUtJbUhsbnBlNWRocHFqU1BJcytkSGR4VEs4Vk1QN3ZNZWx0WlRmdjlQU1pkOG05R1FoUG4zZDFhSnZaUWpidlJzbXB2L3Vhb0p4ODhsU3Z1NCtydFdmQkNjL1RsSm1vMjU5K2VBcERyMWdYNmJzUGhjOEVPUE9weEN5RXArZkZwZ1BZdmtkK05wODR6cExXc3hDZVZ0MU5mTEIvMThqMjNWbEN1SHhkWmlFOGxUUE9NR3JnQnI3Y0Y4RU1oS2V3ZlVFTXVMRDF5OVREL2JtUm1WOEdFSjRPcDZ3OVhGWmlkaEx1Qk5oUGM1c0R3dE5tYmliNUdJQUtCNXdEYlBYRSsyaytOS0YyMS9QY1dHNTJXUmpBVHZnaHJ3Y1BKSWxoT0F1blphK3o5Wmo5Q2RoVTBIZHZZQ3R2SGYvYU5FQ2hqNEkzdWVBZCtkS3lhYWd5NXpJL1o4TzJ1VHNkY0RUZllDMVphNDl0TWVzS2k5UDJNMlUxRU1aYjl3R2tZL21haGJMRUw0NGNlTzdrQzlacS8xVTVoZE80ZDdRaWIyWTltU3k2MFREajRQcEZWVG1qVkxUWWhlTmZxWkd2UTZQT25VRjRldHRwM1JwOXprc09nbTJKYzlHTmJ5bDlFKzd1ZDR1V3Q2ajhyL0Z0MFAyM2lHbTU1K2tHbGo1L01NZ3FjOFpRdFdPYjRQcHB4bXNPdG9xdzZLRkJoTTlaM3dWZTdwWUhPU1JubEpDaW1pMlVjUlNRdC9RVUxKQVVYZ2hQSmgwSEJ3ajNtYys1UnZmNHdpdWwrTWpuRHNuRm8wVWZNVDNsWXFnTGZMbDRrWXNvQWFEamo5RFNSM1NkRnA2allTSDB6dHVzdldCcjFwR0xiejU5b3ZRVDcyZkhCeURkTEY3a0lrcVFjN3p1L0dxTGRsQTVuMzhvKzA3UkFOQ24rZFdqYUhrTHloKzJOblJZMDl6d3RMc0xHWElkc3lkWHZ4aGhjYjh3emFBZVo4VkpXbVRPY0FjVEUzQ1FaRHNNbkRkV05Od1hWd3pLbXpHRVVJYlBlamhmQlJLYUxiSUJDbWdiZEVleERnSTNNK2NPdXViY1ZldXVKVXQ4cjJKVlhGYlFVcmlVaEdZRnRIdVJXWTVFVE9xOGJYNlhOdldTc3hvaUYwVmtUeTRjQ0xpUXVHTkc0Mk1NVDdNQmJydERMUDBZMHBBeVdYMG4vSURieTkxaEdKSkxlN2NNMkZHNDJIQjNaK3BRbGZCSWdRQjlLNElnYjZpeEE3eTQ1Z29yZ0NHWkI2cUNzTGgvME9hVWM2ZWFIUlVuYVlFNVF5VGpPcGNEYVY3MUMyWVFYNGkrVXpRUTlOWForMXdJWEZTdVprWExYU3orTGNYUmJMdXJwOURHbm9zdURNbWk3eFRkZGpxTjFPRkN3SG1iZ2NjbWkyNXhFZnhIaW5QcDhZWGtweHdhcm5XTFVNRERFMjdpN3VvcFhHMmxEZmtlSmViK3BPM2VOdW5IMEtRdkJCNksyQXMwVUlma1loc005MUIzcDJEWDJKZEdpdFY1NXJoVDUzS1BheVhDVStjVTBCVlBPSlFZbnNLTXN6dk5ZTXRoZU9aZ20ybUY2QTNzTXRmUTR3dkIvcTRyUEYvQnVlaTJ3R1VsN3FHZ21SZ29pcGE2WVB4cHdORGtiVHBVZlNGd2pLNnpmTStRWEhEendhWmkrQWUzRjJlUk1zSHRMcTlCN1licUM0R0hjc0k0ZW9ia1RFS1NWd0oxaENIaEN0dExYaEVwSlFLd29PWUdnUVBWRnhxNWR6UFBrQ3hyRnBJQ205N21qRUdibzBKa0xEeFRHT0hjdXhiemhWWS82RFM2UmlhODhUQUtuMEx5MzhyQVFxN0RXN1pVckF6SkN5UUQrcWxZMndJWG1QcWM2OHpkbFE4WHN5RzU0c2FOUmJZZVZ1VjVQNFVlZTZWSVNRdk1XM0UwK2FUOUlRUFZkb01LTmdwdnVYRmprV2pBZGNWdENyTkkrMFZLV21EZTBCMkVvOGwza3ZWMm5lYktvSUtOd2h1aU94Y0xoaTFzT3NLaE55dlNNTmlKcVFYb0dRZkFwajUwZU1tdDAyeGovRVZCbGxWU3Nucjh4ZlIwUy9GN2s5VkFxZ0FDMG5aZEZwSGFSdzZOTGZvdkRNbTBpeDVmQ1ZRdEltUEVZeG53M1hEb3pRcHdYVXpjME5tSElheUhjMStvVGZoWFhtRXhqcVlHZTFrbHBLcDN6SWVObHV1NnBhcU94QlNCbG5nVXBnYzJ2V3haRi9oODYwQ0FXbWVqczExT3QxbG5sMWpGeGdtSDdOY256Q2c0bFZmSi9jN00wU0dmeDJueEJaS1ZpVTJYdkVUM3pTNG9XVTE0d1RZbFBDZVhaNUxWUXlvRkFkaFpjRUpQcTIrQXV3VDlkTERMQ21FT3YwTlQxZGVkVzl4Nk9XNnZaYldkUzZ5TDNaU1pJZHR2ejNFd0w0QTlhd0NrODZRTVpRUzIzb08valhIemtBNkhveHR3VXNiUm9qZjFEVGM0TGtQazRzbllJcE45NjIvc3IxbldaOEhWL1Z1M1B6NUZYanV5UG1mL0NpeVZUenJiN3VKTjBRQ3N3aFcwMmkvekt5UkZ0MmdhL1ArYXdGZHlxQ25oMGVLcnRKZXdvMUluWTVaL0RUNzFJaVltUkdseC83OUpQOTd6VW5IOGw0UHo3MzU4L1BNZDJ0VFZQNXY4dW16eTVnOCtQdjVGSi8rKy9qODUvN0tzeU5SOS9mLzVjMFh5Ujk2SUFDS0FDQ0FDaUFBaWdBZ2dBb2dBSW9BSUlBS0lBQ0tBQ0NBQ2lBQWlnQWdnQW9nQUlvQUlJQUtJQUNLQUNDQUNpQUFpZ0FnZ0FvZ0FJb0FJSUFLSUFDS0FDQ0FDQlNPd2R2V29ZQW5Jdm13RUd1Sk5QbVVMUm5sRklmQW43dHVaaXBLQWZFdEc0SE0yMnJSa3lBc1d0M2tmUE42TVkyL0JLSmZJZnV2UEg2UVdSWnVXaUhuUm91Q05QbVQ4djl0bzA2S0JMcEgveGlQZitHOU5lRm9jeDk0U1FTOUZGTnEwRkpoTEZZSTJMUlh1VW9TaFRVdUJ1VlFoYU5OUzRTNUZHTnEwRkpoTEZZSTJMUlh1VW9TaFRVdUJ1VlFoYU5OUzRTNUZHTnEwRkpoTEZZSTJMUlh1VW9TaFRVdUJ1VlFoYU5OUzRTNUZHTnEwRkpoTEZZSTJMUlh1VW9TaFRVdUJ1VlFoYU5OUzRTNUZHTnEwRkpoTEZZSTJMUlh1VW9TaFRVdUJ1VlFoYU5OUzRTNUZHTnEwRkpoTEZZSTJMUlh1VW9TaFRVdUJ1VlFoYU5OUzRTNUZHTnEwRkpoTEZZSTJMUlh1VW9RVllkUE44VkVKdXBjanBZU0dHQmRSaEUwM1Nua0VweHdweGdFdmdXRVJOajFrSC85azJtODlObmxiSWUwb1Iwb2hxaGZNdEFpYlZsK1RTcS8ySnc4Vzg0blZjcVRJbHN4UEtxZE5YOUI5QnJML0U5bitBWHlNYytCOEVWbm1wVTZabEtMbGxWcWptYTZRejZhcmZmY3JycktWYStTR2UzS0J2R3BaNi9TenpEa09rMUswdkhMb05vdFZjOWwwcXlhK2I2ODJqWDZKV1J6MVNjZXl0c2dWY1o3bDM2UVVQYThzV3Mxd25ldzJyZnpsL1RiUjJmVFErVkM1MCtZTGhBN0RGZnBON1l5SFNTbWh2RExxTnF2VnN0dTBUc2lrcnJQcDZKN2IyQ3I3R3JOOTV1YWtUWmlVRXNvcnJWSXpUcC9kcG84KzhuaXpwYk9wZEpFMnljUnBmbHYyM0xSd21KUVN5aXV0VWpOT245Mm10R0U2bTY2U0E5SG1pL3pyNkxWOEg3NDNLVVhIUzZpN0tQL21iYXE0U0FOdTNscStpU1dkSGJKSzBmRmFGRnVLZHBpM3FYU1JLdUk5UFcxMld4VXkwLzdyN0pCVmlvNVhXbjFtbmQ2OFRhV0x0TUZ2cDVaTlR2UGdvTE5EVmlrNlhubDBtOFc2WUZNWlRhWldVSWVRL2JwZ2N5dzhLSkp2ZHRDa0ZCMHZvZStpL1BkSm5uRlJnNURpSXRVSk15K013ZGZ6NEdWU2lvWlhIdFZtc2k3SmhiY0dvWE91UHdTbVpCN3dHakUrOW1hV290RjRKdTJTUTZtUGdVMS8zTW5NUUlQUTRWaHcyeGJET2lTR0lqUEx2MGtwR2w1WlZKclJPcFh2L2ZuNzNnb21oZW1nQno3MHBXdzNWUTFDZzUrSjlsNGs1TWhKWHhEK3J5aEorVzlTaW9aWFNtM2l5U3UvL1kvLy9IWTcxKzBtWG9pV0FvWkc1ZGpWMHNSbGFoQ1NMbEtMOEM0THh0MlA0eFJWYmxLS2hwZFA5S2YvbngrOTcrTnlldE5YbXVTMDYrQzZsNFRVTUUyRlhMMzFORHVldldudityaFgrbEQ4amFlZmZ2Ym1WU0lhdUUzR2o5eUNIRG1TQmhIYUlpNm5ycWg0U05TTkR6NUJDVTVOU2dueThpbEFYMnRNaUxLcTd5dFBjR283TExLTmZBbllaeVpaZGZSaVAySkplMTNrdWNOS0VDSHB2Rmg5OGxNbXZpRTZiRVp0VEVvSjh2SXBkZDVwWlBhRkpHRDNXOTk3RkpnYytSalB3T21QUHY5MnAzVm5EM3pwelZ5ZFZhb3EzSDRmN3dqOWdnZ2R1eTZTT3JibnV1dzFzOHJacFFRMUZtMFJqZnpSUDl1RUIyRytvaFNuZHM3TE9JV29kS1Rud0lCdmROUTZYY2g1bDVJVFJFaTZTRnRBSzQ1Y2w3M0dwdG1sQkRWVzI4ZlMwRld2QkhOVDVkajVSdTlVc2xJUmc3L3Ftd0NxRXZKaGxVVVFJZnV1S0w5RXlFc3YwdU16eEZrWkYvbnAvMDFLQ2ZJSzZnTTIzUXZtcHNtQk1TcmZaWnhHV0NwYThGZDlEbXVOdk5QRElZQ1E0aUxCM2ZmRUlZWU9tKyt5TnlrbHdNdlRIbllDUHQxbFRYYUtMR2p5NnluSVN5U0Z0bmtYczdmOVYxOEFvWFY1RWV3SU53RzYrMmt1clUxS0NmRFNhTllUbW12S2ttV0I4NXp2TWs0bUpnTVZ0RTI0dkt6MjRFN0h5eWFBa0hSZXJCM2hKc0JRZHVTdEZqajdCN2g2Zk1jM0pWRTZLU2w1U1RGdXFpczBkM1BTSm1DRTIwdGJweHo2cm04TG1iSU96UlVJb04yVmUwTVB4UVhSSXJIYmtlbytnOEtwWkJUMGtTS2xwT1NsZ2JLZjI4R0JFUzduNksxUnkwaFduL0M5SjR6YlpsL3BPeXdyWUZQcElvRWwrQ3pod0Q5aUI1WDcySzNBOFVGSmxVNUtTbDVTakVnWmNIQjY4VU9Ua0ZidVB3MHdieXNpZThFbzA0LzJpakxrTk1TVVF6L3Z2Y1drRkQ4dnBYMGlhY0RCeVQ5NkMyVU0vOU1BODBEeXZLUVpUdndJS1M2UzFlTVJ6R2JPVlpuZ1RyWThVdndheS9hNUtRTU9UdjdSMjlYR2JJTE9mSjY2TEN2dGg5eTBtL0FqMUdKN1A1M3lCbUh1L0VadWo4T2tGRDh2dHlreWtkL0JNVEI2UzNXTXByemg2VFcvejB0bCtSRlNuQmNvWTlNUE8vRzMweGkxVFVyeDg5S0l6dS9nR0JpOU5YcVp5SUsyeWZCMFcrbXlrcmtmSVc1R2grQ1EzNHhIeWlOUnNtYWFsRWtwZmw0YVBYcTVIUndEbzdkR0x4TlpEYUlFSWZYMzZGajZFRkpkSkloUEhRY0x4cUdtcm1xS1BKTlNmTHgwV3VSM2NQS1AzanE5VE9RTmlJaEdMT3Nya3lNZFN4OUNGMVh6cmJOT3U2Rkdtam9lOFhrbXBmaDQ2WVRuZDNCZ2hCdnFPRTgvcnkzRDB5MGxSbEVWOHlHa3VraldOdk9SV3FydnJOWk5uallweGNkTG93UU1MTXA4aDRZZ1BndEc3Mlk4MVJRbzFQQzBHN0xLMFBBMjMwTzJ5WHlqL3FTVFYzbVRVbnk4TktxQmcwTWZzTXh6ZEJWSEpBOGY0M1hwVGdjZW5yNHdidXJaanp5emFCWFZSYktzR3QzejRqd29ycStjT05la0ZDOHZuUXJnNERpT2dLNHNMbS9yTWZzVCt4YnM4UERNay8vUisvcmpUemJqNnBaUkR1dWYzTmRkdGQraEVWaDU4YTgrQ2lTLzhYc3ZkbmpwaW5kcjlqSGRoZFQxZGRQNzdGK0NSaWMvc2tuUjh3L3k4dEo5OWViWnIxa1dPRGk3UEQrdHNwK3p5U1BrVHNjM2VzTisyMG1mVEZJMTI2dVlzVE82KzRqcE1lSVR0MTdXRFNobmg3ajllRndrQzI2b3U5WUw1QmxQcmQ4aFY1V3UvYWF6anFkVWM5SVFRdHhSUG9FVURSK2FGZVNsRWxhK1Q4Wjk4ZzVMT2pocGxZVjl6Rit3VnZ1dmVrZnZTK1RPMzFuV1gvUzFJS29LbEpEZUFUUWRNYy9wNTJzYjVDcnNJcndGK3dxRlRWdSs5WmZxK0RHM2pDbThDbzJ1dXIwWjJuNDlyaUZacElUeERQSlNLVWZrM3BIMW01Tk9Uemc0YVpXdDFNalhnZUc1TTgvb1hXbFBtbFRNTmhuU3Yra2VjRlU3TmxycmUxWm5JcFNxK3p5cHpTK09QOVh4MExkZ0orR082NExBU0xEbktVNTBFaThsRVJzLzBYUEV3YjUyMEJVT1RscGxyL0Z3dnY4V09YclRsODd3a2FwNjF5K3kvUE1CRDArci9wWHhNRlVxc2I1RnhiNU03MWZDZ1lCUkRzNVRIdkZTVWpKazVLczJjd2d2L2xnNE9HbVZCWi95d09FRm5VSHBrL1Z4aDBsWUY4TVpPNTNLYjV1RnAzUW1QM2FmZ3FQZ2R1eEllb0ZhMDkzL0FDczNHY0s0ZUNtWjBHcndUa2E5ZlFaK1dtVmJaTkp4Uk5ONThxWlFZbFhjZlM3WjRsSVdSZGFubndnN25uUnB6Q1pBczl1V3RkbHVRK0o2RXRZKzUwVlRwVVZYYW83ZFhmbGRNY3BwU0VPejRxV0VWbzBvZ0VmdjRPVmM5T2lMOERTbHNzQ0J2OU1OWENVNVQ4NW4weUN5VXlaYW1hU0tEWVFoeDVDUkdQN2w0ZW0xZTdTamduSGpqNGJQUlFyV3FKMUNYczl0Y1QvUXpHQ1ZRRTY4bEVDVkJCa3Q0ZU5iSTlIYWxNcktPVjZ3cnV5U0xiNkNBWEQ2dHhSUWhNT08zUVE2cHlkaDRTa3NoTU9hdGhnL29yblUrYU1Vb1ZSck5HQzEzQ2x5Q09NeStQZXhVa0xGUnhYSU9WNnc3aTZsVEtzc05LdEQ2OUZYZkNsNGRSazNDK0QwZVpDVzlXaVlSWXNLWnAzd3RGS0RoZkFheE14TTI4amZpajdrVWVwc09KZXZMYTVpQ0dWMGI2QlVLbWlTOFZJMGxXS3pZQ3g2THljNjVBNU9TbVdoMDRrTEZKSnljckhQSFNkbzdJMVlOWW9tMklHTHlIcUtMb1EzSUxVZkwwNi93cXJXMjZFZEdWck0rek5jdW9uR2RKVUZoSGwwL0RaOVFCTUZXMGcyS2Z1VXlzS0dWK29zME1QVExqZjcyNy9jY1VxbitRTnRPMXR4V2tyOXVOMTRWYzdIZXNjdGFrTFl3YzB0Q1NQQlFUeGJIMFc4RkYrRlJLZTJkTzBIL0hhZlV0bVJ4QWphdGV0S1ZkZWczY3hwSmFCdDk5aTlhd1ZzS3E3QkNHMGEwakVJb1JwY2h3TG8vL1NQcFU1WktzVnZ2SlFVekFRcGVLcXU4bTJlVEtrc1hCVW5uQjIwY0NnNFc1RC9xeDMzYk1xSk5saVNMNFJEaWk2eHhCeTFPQmZKK3NnUnNPaTVBM25EVGNWd1ZvdmpwYWpVQ2RNd2NMcktDd2NubmJMMHVoZkNvRjFOa2JiYVVIRDJMKzVwOXNSbVNDejdYMXlXSUNsNHVLVTBRWXYzV0U0WGtoMldEUDlONnJ6VTNXMkVnd1JjL2ZLU1N2SFhpejZ2dXZjRGVydVhEbzZWV0ZtNFA3bVJITFJMaW9NeEdZNno3OGljakttK3cwanpzeThZYXNwVVRSeFhocnpCcVkrQmVpaHFodjJ6ZTI5WXFjeVhmYjR0WVpERk1hbWtVbUxZK0lvQnJ3T2U1WEZ3NE1JV0ExU01zaTNSdllHTkdMMGRqczl6cFAvQUp6TDFxZFppTkhNb1dHa3BSQ0g5aDdhNXJ1QTVTRjlSQzNYcDFmaXVUS3NwQVl6MC9uWDg5SGtKcGVncmgrWENKSUdMak1mQlNhN3NTSEU1UE8yQ2ZzK09ZWmowaFBuL1J6RHkvVDk4SkJqNEN0aXBLS1QvVG5qS002aGU3djFHSmZLa1gvU2NoWjNBOWNFdkQrQ2FQankxa2trSms2N1BwNU41Ujd4b1IxN0tzR3lXV05tMlMwbEhiN1ZkMXhpMmJ2U3FWNkdVWEdpYnZDdjBGYjh3cC9SRDErMzFqbkk1MmVhcUR0ZXYreGFLaHVxNEpWWVdwbzZFOCtFTlQwR3Y3M09qdXZlOVhMcm1xUXh0YzIvNlZoWFVPc3JEVGRZRlZrMTJCa2lLbTVnc25rb0tUT2ZPeFE2VVM1bTJPNW15ZENTN3pIVVB0T3Z2b1V2QWNXTXFiVk9GRHRTN3dnNm9kRjB0elo2dXVWMENtSjVtNTJPeVprT1ppL1g0UW9tVnBhRk1rNnNFVjRpdlhaV1AybEN1RHNnbXRVL09xNjBxUVpkbTdpYXZHMFVwUGNtR09zcEZWU204ckNyakYrKzZRbUpsMWVVMVhidFdhNUtWYk01YVNNajV4Qk5QU2lLREtiRGliWmRkNHFVWnQwWllBbHhNNFcwTjFGRXVqTDZVL0pGc3E4ZkJTYTRzWFBUdW5VcmJMbldtU3JTcFlnUElJY2RRRUJuOHArNzlnZVFIbDVuclJjamNEQ2xvbStqd25sRXVBeXR6VmJxeXJSN0hMYm15TUlrdEFsa0lUNmw1Vno5STlWdHIwbDk2MUtYUldRYWJBZ2d4cVRKaExLanovME56MUx0Q0EwNVA4bk4xb29NYm5BKzdZVzlmTjhFMkg0KzY5QmE0Zy9PZk9wUWpoREkzNkQ4Y01jcENQeFVUTkh6MFhxZXpVU3RrM0tTMTRXakpHV1dXQWIrUGhsbVVUUFpkSW5NSk9zMmc4S1ZMTXdjbXVNdmRBSHlVTzd4aWdtMCtIbDA1NVhESUx1VjJrM0pNcml4MGI3SGl6ZWNwRG04REF4alVCV283MHc5UWQ4Q0l0Rm44b0g2ZE1nMHFzdFAvdzJ6NUthdkZCN2JlYm5vbXBtc01aQ0RTY3k3bENtdDdjbVdoTWNLdGhTNUx6VW5iUmQwUW1xYkhqa3ZBenFmdzIxSnUrbFE4YU9mZU1QS29BOWZLWlZhZkQyemRZUjUyWnVwQ2Q5cm5uTHJPcGJ6RlZ0NlNLd3Z1aDdqazRVSTRBR2IxSVIxNjVlQjlMS2JQektpY2hRczBVMnpGY0twRFc1UE41OFlJQTVoT0dBbWs5aURWYjdMVGFmNjJaSEJwTzY3TUJYWnpUS0dzZE9jQnFldlFHUHZJc21nSU9PUU42N2twbmxIK1gwME9Kbzd3WTBXOVBOckFWY3k3Uk05cDc2WVpkenFQU3M0eVBiL1F3QXAwT0RyL3VzTXdoYkoxY1QrbGZYTUlQaTF0RjNqRGJvVFRIbmNjbmxQOEFjM3VxdUxCSHpReWVBQWZEbC9mU1YxeUorVlVhU1duQWZ2TFRHU1YrYStOSzg1cENtVmJZbmF4QjBBQnN3dDBsTHRFSmtQR0Y1YWpSRmpPTThyL28vT1hOMVN4TkxZUm5wMmFuellORHVMUXFRTTQwdG0wODhLMVNNdklKRDNjRGZjY2Z1Q3pPcTJzbnpxbktaUUY4enRWVnNuOXpyVjZTSHY2R2pseU11SG4yTlRjcW1DWS9wOGl2cWRXZytZUkU2TUh3TGZyOEszZWRHN1F2RWVvb3FhUWJuUDN0UEhqTHUxUEZXNkxGTXFDaTN0Q0ZhKytBWldnbnc1MjZWbnRHZm9MeDVwdHhNTmt6TEw5VmtaZ3dodHEzUjVra01EckJsV0toT2thRzlOWHlNdk9Vazk3bUxCZW9XVEhiR1JjSWNNVzdhZVh4SWF6Rk1yMm5BM0M5QzJiTmVnTnZJZCtkckx2NkYzcGlnaXUwR2FFTTMvNXUrOXZVd3VTQno3MExVNTEvNk5PQm5ubHkrSFZFcFljc3h0UDl5R1liN2xzYlU4U1ZpdVdiSXVOUWZBVTVEbXFudk9rREpXWVF0a3RPdmZ6Ti9iWExPdXpFSW4rTFhPY0s3V3pmd1UyZjFvbmYxaHNBK0s0dDVuOW5OK21RMHg5T1g2dzZ5Nk9SVVQ1bWcxdlg2OThmM3hrTmVDcG81R0k2aUpxbEZIVUkxK3pOcjhOVm9GUHNPeHYyVU11TTQyeWYwMUkzNWtnaEVlTHIzS253ZHBxay9FdEc3NGhVRVlqVkJsZjdUOThxcHgzbmVlL24zNzIxbFhoaWNObFRMODFjK3VxUGVrb2hObVNmMHpnblFlMHphczJnSkQ3R3NtbWhML1dacHRNbVBmMkhCbmJySk5SbWpUSy91N0h4ei9mb1pWVy8yenk2L1NmSHBzL3VFa2Uvb1VUZGxMZTc1dWdPZU1TcGI3OEFmdmRQNlROVzNsdzhsSjV6WXlXdFBabjlydC96aUg1djl1dk5DWHRUQ29yMVF0SmZZWDhSNGllVE1RcElRSXd1MndFdHNpZGpnWDN0aGtaQk10dS9rTEtHNUZkYU5jNnViS1FyVnZLUnNGbjlUclE4QlVjZkJmSC9GVzJSclJtYUd2SzRnQXp2eTJCZWQyaG83MWNiWnJmeHFEbURnTFBFejZSWTA5L2pobE5ZZ2FCbXRoUjBmZE83NXJoamx5bWdBQ3NMZTB4c1dKbFlncEtvRWlqQ0R6dlBnYlRkdmZUR0JXQXpFcEhvTzV1T20xak1GTTYrb1VJaEtGWHJJdXdKWVZDcENEVE1oRTRMellkMExmcy9heE15U2lyS0FTcTdpWSsyTDg3OWMwVlJiVnl1ZmphN3V3UmJEcVloUTE4eXdWL0VhMkY3UXRpd0lXTlVXSVBUaEdTa0dkWkNNQWpQbXh2c3ZNMkZPeW5aZUZlcEp5ZWZPb0t0bnJpL2JSSXJNdmlEVHZoaDF3V1BKQWtodUd5cEtPY0FoQ0FleWpkQ2U4Y08vS1pXSjZEZi9PSUFJeTM3Z05JeC9LNXJIbHNDdXJNRVlBWkI5Y3Zna2hWekNnaFBuT01RRXZwbTEzZlkyeHozS3lsVmwyMVk5djNlTXhTQXpQSGpiZGxLQU5UZzJJaGRZNGJoS3JUUjB4UE9RelVCYjZNa013OUF2U0oways4bngwZmdIUno3bHVFRFlBbm16MEhJakwvQ01BMGczcTRMNU9ZLzVZdGJ3c2dsSEdmeVd2ZzFPQkNYQWhWWlpwaElGZG9GcUp0eTlxSXVueHZHdjArNUkxbHhXR1IyZzEyUE9EdGdWME83Z3JOSWpWeDZkb0NkaFRoS1gxZnc5SFNBYkI0RGFidnJOem56WUszSWFIYnV3QW1wdE5JSGQ0T1dLSEJaLzhYd0thd1g5dGRQWVd3NXU0Q05HbnBtd0QzVUhlbllGZStPM3pwY1psbkFPQ2xrTzRPSkZzT3cvUGNwS1hYSGFid3hUMFVicTI0YVhBUkxnaXdxWGpOS3JpOVlwL3ZJclJzZWRzQVk2OHc1Q0V1aUMvR2RRQTJ2YzFiTXNBWmg4V3dLY1F5d3FZMjNrNFh3NmF3WFlYYkZIcnNsY1ZvMDdLM0F1YnR1VTFoRm1sLzJkRllrUGJid3FZakhIb1h4S1R3Mm5ZMkh3Z2Q5cjJMMHFabGI4ZUl4eklRbmVMUXV5QVh3ekYvUXFZbHR5VXRTTXVXdHhucmJHNndZdU1PL0lXNUNPQUYyN1F0NStUeXpNSTBiWGtiMG5hK1J0WEZicnBBbDBDTDdpdmJrQ3R1QzlTMHBXM0tLdHhRVi90bGZvVmthYUV1citHL1NUL2U4MUo1OGxCU0NRamMxLytmUDFlQ21FVVM4ZjhEYjNobjlaRDdiYzBBQUFBQVNVVk9SSzVDWUlJPSIKfQo="/>
    </extobj>
    <extobj name="334E55B0-647D-440b-865C-3EC943EB4CBC-84">
      <extobjdata type="334E55B0-647D-440b-865C-3EC943EB4CBC" data="ewoJIkltZ1NldHRpbmdKc29uIiA6ICJ7XCJkcGlcIjpcIjYwMFwiLFwiZm9ybWF0XCI6XCJQTkdcIixcInRyYW5zcGFyZW50XCI6dHJ1ZSxcImF1dG9cIjpmYWxzZX0iLAoJIkxhdGV4IiA6ICJYRnNnWEdKbFoybHVlMkZzYVdkdVpXUjlDa2tLSmoxY2FXNTBYekJlWEdsdVpuUjVDbHgwYUdWMFlTQnpYbnN0WEhSb1pYUmhmV1ZlZXkxTGMxNTdMVngwYUdWMFlYMTlYQ3hrYzF4Y0NpWTlYR2x1ZEY5Y2FXNW1kSGxlTUFwY2RHaGxkR0ZjWm5KaFkzdDFmWHRMZldWZWV5MTFmUXBjYkdWbWRDZ3RYR1p5WVdON01YMTdYSFJvWlhSaGZVdGVlekV2WEhSb1pYUmhmUXAxWG5zdE1TOWNkR2hsZEdFdE1YMWNjbWxuYUhRcFpIVmNYQW9tUFMxTFhuc3hMMXgwYUdWMFlTMHhmUXBjYVc1MFgxeHBibVowZVY0d2RWNTdMVEV2WEhSb1pYUmhmV1ZlZXkxMWZWd3NaSFZjWEFvbVBVdGVlekV2WEhSb1pYUmhMVEY5Q2x4cGJuUmZNRjVjYVc1bWRIa2dkVjU3TFRFdlhIUm9aWFJoZldWZWV5MTFmVndzWkhVS1hHVnVaSHRoYkdsbmJtVmtmU0JjWFE9PSIsCgkiTGF0ZXhJbWdCYXNlNjQiIDogImlWQk9SdzBLR2dvQUFBQU5TVWhFVWdBQUJYRUFBQU50QkFNQUFBQWsreVhjQUFBQU1GQk1WRVgvLy84QUFBQUFBQUFBQUFBQUFBQUFBQUFBQUFBQUFBQUFBQUFBQUFBQUFBQUFBQUFBQUFBQUFBQUFBQUFBQUFBdjNhQjdBQUFBRDNSU1RsTUFSTy9kelJDWk1vbXJ1M1pVSW1iM3hXbXlBQUFBQ1hCSVdYTUFBQTdFQUFBT3hBR1ZLdzRiQUFBZ0FFbEVRVlI0QWV5OUM1QXN5VmtlV25QTzZaa3o1OHpMdXpkc2pHMTZkRlpZRnBhb3d4NEp2R3ZyMWxpN3VrWUlvdWV1ZHNGSXNlN2hJUUtNNVI0SnJoOFlSNDlCbDJ0dWhPbURGdUhReXoydzZHSVpVRS9JSVVzaVRQUUV1amFXQ0dJR3JiQ0pxMnRtREVZM3JBaGlEak9Idys1WjdlYjlNcXZ5VVZWWjNmWHNycDc1SzJLbXMvTHg1NTlmL2Zubm4zOW1aVG5PTksvbDN3blgzb2pjaDFQcGpoQ29Cd0pMNzJYcy9yL1F2SWo3UDlUM0ZDSUVhb25Bbk1mNDlhMlN1YmU3L1BiMFdON1RMeUZRVHdRNlhGQnhmWnZQM3BMTC90cGZhdnhlNjM0OXVTV3VDSUVBZ1d2c2hkOXlmbThBMGQwUk1RUDJpL3gzd1h1VHVLVi9oRUNORVBpYysrcGp5VTduL2lHQ0N5M0dYdUJSejdGWCtDblhTT242UU5ELytpRHdCWGFxN05nbHRpY1l1dzZsKzNySFdYYnZid2FNRHZ5RStyQk5uRngwQkpiZHM4T0Z2dEN3am5QNStRQ09BOGJPSE9memJFdkM4OFFkR2FKZlFxQVdDSHlldmVRNGMreTJZT1prTitCcENVcDMxL0VDZ1Via3lvdEJDdjBRQXZWQW9BVURZYm5GdmlLNGFSMUtwcUIwWDFpRThLcnJJUldpQUNGUUF3U3VzMVBIYVROMmwvUFMwUE13cm5SYnA1dWF3NDRTYWgxSElVSmdhZ2djTVpnQkhZZ3A1MkR1WmMzSEVIRi9yRytkNXJGeFEwRkNZTm9JOU5tZk9BNmNZSXlyMUpVLzFlek1JKzYydm5XTzlvd2JDaElDVTBaZ2dVL0VuQUdrbEROeUhaTTFkU0hTdkYzZFVpa1VJQVNtanNBMXh2WWRaeWg4WUJISmZTdTJLMnhxQnRzN09rd2hRbURhQ0J3SlpYdVpNV0VubU5hQ3c4MkZEYzBmV1FzYUN3cE5INEVPRSs2RTl6ekN6ZHpRRE0wNWdPUnFmNjV6c2o5OWJva0RRa0Fpd0pqaFRuQWM3UlZ6R3U0OWlPNld6T2dNRE10QlJWS0FFSmdPQWl1TXV4YjBaWWpuRmJaMXdwaGNEWFlXaE1OWDU2UVFJVEJOQks0d2R0T3MvMkJIM1EzdU9sZWhkR1hFRlgrUlRTVlRnQkNZSmdKdDB4NEFJNWVWUS9jYTN5dldaK3hld0Y0bkpPSFQ1Sm5xSmdRY0IvYkFtb25EM0ZsZ3pTNTdQTVRkQ3g4UjZmUGhmR1laQ2hNQ2swY0FxdzJCcUFaMTk5N2dCMDU4aVIwR3I2RE5lY3JnblR5VFZDTWhFRU1nV0lIUThmUCsxdkxQQkZPek9SZWkrL2YrNFgveURDZUR6a3doUW1CS0NHQkRtTFJqSlFjOTl2Zi8zRy8yMmRtMkg4RW5hZnlpM2JrU0lQcXRBd0tMTE5pWHE1bmhyNkJCRSsvTG1OK0Yxc1VCRElmeW5uNEpnUm9nc0JweDUzS1dsdC9qUGZSTGhxRE92Y2M3ZTR0eFh3TzJpWVVMajBBejRzNjk4SUFRQURPQ1FDZThCWGRHdUNZMkNRSFlzTWVFQWlFd2N3aGdXN2w0RldMbUdDZUdMemdDT0E4RXIwOWUrT3QvZUg5dDg4S0RNRnNBNElVSVkxdmpiUEZlSHJlL2YvYjlyVmVWUjQ0b1RRQUJPTVZvVVhjUnB2NjFVM0w3VFVEZXlxc0NUckVMdjNleDBjS3IrUTMrR2lsZHM0TkF6N0lRTVR2Y2w4UHBGZUZkYVpsdk9aZERtS2hVaUVDTHNmVUt5YzhFYWY4c3dENVpUVFB4dENTVGNJcnR5dkFGL1YzeDMyYnFHYStLWGxBa1pxblpjNURjdlZsaXVBSmVuL0JmVityUlczWVZnRnNaU2I2RGNhMHk2ck5CdU8vdnJPK1RYM3MybnBmUEpWNmZqTHdSTVV2Y2w4THJjbkNpeEVBY1RsVUtTU0pTUFFKdzUxNTBWVE1mSEZmSkQyaW5hMllRYU5JU1d0dDNyaXo3eHdmUHpKTzc2SXpDblR0OVo5RFNNMmMvTjcwSGNlSWZ0THBpSGtNMVBXNm81cFFJd0owNzlTVzBPZS9zMmRBeHZTbDVEN0l0c1ljZWYvenhXemZrQzU3ZTZVT3ZlK3pocmRSRSt1ejBCaTQzZkVaVjZ1S1VjVG9JWUlJMjlhV2ozdW0rMDh1LzdZZC8vVXBjV3dMQ2hubVRCbFNYY2NHRjVFNGRpRFRjVWg0ZkFiNDc5ODZVd1Zqa0orbjRDN0Q1T0duOGx3NWpmL1dmYmdhbHVZdjZtLzlEYWxJTGdYM2JEWjlSbGJvOFpad0tBbHhmYlV5bFpsMXBuNStrczFSb0RickorTm5Wd1FXbEs3NzJLdS8xNy9LZkNWMS9TYVRNQlMvdDl5Nzhpb3dHYWdaQzJKMHJ6Y05wY2Jzb0RweHVGTEl5aC82SEF2d21YR0YvSzZFdEVQRFFKYlQwU2xDemQ5SDkyZ21nMVRRYTdseXhUMnFLN0ozNHVzNHRzdlk2TUhiSEwzdWgwNERObGowWGt0dkFTcmp1SDlXK0hEc3Z4U3hKNGJvaDBNV3ozSjRxVTh2QkFrQ3J5QXFXZWY3T2lmcE1jYnAyWGZmMzI4eUhEeEZPVjVaeVRRMkJJU1IzYXBXTGlpOEhLMWlEQWowSTgwejExYmEzWlIxRGx2d3BhcHZNM09rS1FzYmFCN0hqOERJU0tKeTlGOHdRQjhZY0t5dFJ6RFB2QkdYbTNHL0xXSHJCTDl1aHRkK013RTAzdXh2NmdNa1VlSUVqWUY5VXl6ODluUGZDUEhNaktOdkp2aUlvSkhlQnZUWnY3VlJ1Q2dnc3cxaVk3Z21OODNLZmk2dk85TStPQSthWk8zNnA1K1Q1a3htSURQZ1o3Vys5OEhzOU15QldnNno0dU1tVUYzL0ZKNGM1RWtYT2lPcktQY1lyZVJhUm0vd1Exc0hVMThCcklBNHp4QUpPSUozeW1tYy9xQjlXdzFadTRJYkJOTE14ZUUwT0dvczQ0K2NMcDlQMXNPUmcrMklYdVFUSmxYT2JxU0FCZ2QwUUZjTTlzSk9iZzBIZ21uM2cvbVllR3YyLzhxdnNmWGtLVXBtcElYQUV5ZDJZV3Uyb0dGNkJZMUUvQXZsbmFLNi9VelA0U2tDa1BaOTk0K21iMXlKeDRkdWxuNy83em5BTTNkVWRnUk5JN3RZMG1jVEhoZzlGL2JCYjl2TXlFcmh6Rnp6bDFEVW85ZGlqSC9Dd0dZMnVjNFZBQjVKN1hFS0xscDQ1L2VaY1pMcnlYU0tJOEdqRk9JSjg0TTRkK3N1NDRZeHZaZS9BRWV3ZG0weUhNNDY5KzQ2LytLa1B2REg2UlkyeHBTNXloZ2ZZNlVPMytOYnBoMTMydFNVRDRVRnl0NHZUWEhHWngvSk1qcHlPM0MzUUx2QWlwKy9PZlJzTHJGMnpQUTFQK0F5dUZsOW00SitGbTdiejIyelpESVM1WHBUWG41VE1MNmRibk9TeWQzcU1yN0lmNTZEa1NhZGNVeXJmSEVRd3o5eHhsbHkwSmFhMkYzM3IrZjhwZmtRd244eEdQdTJkZzlVTFZlUWZmZDhIV2dLMVI5Ly9nL3ZsdHB6dndTNnVqU0MwK0VibG5ONDZrSjVKdUJiVTlVTDZZcEdjUjF4a095ODJMYlBOcG1oZXd5MCtzc3g5NmlmUk4xNktWRTIzb3hFQThvejk3NlB6NUVtRmdWakNhNFBYL1MyR3JSeHZ2K05iYk9wSzNKczR0bVVuR0RoKzZPd1FSa1BNbk8yTC9vQnF4aEpKa1FGcWR6MUZOc3BpSU5BdlE4SU1la0dRN3l0L01SNmRNV2JvbTk4bk9jd0ZuTER6anFmNDlUU3pUYTlTTXRKbmQ2L0RSUUlYUTJ5UHI3L3JkMEZhMHlrSkptU0Q1TjVPU0tMb0JBUmdMc1RVU1VMV0xOSGNkaXRNRnl2SVlwTFh6YUdRY01MT3ZtQVlXbkU5QytlaHZDNTdvZlVLeEF4aWhpNnNrVDJlOWM4ZTgvOUZyM1k1anBpaWJNeFVlVWpZblFvWVBnTGR3cFpiTTFEYnF6bTA1cXJoenQzSjIwQytiVWdzbm5YamhpN1U4Q2Z6MG8yVk81RGN4bElvSWdFQlBwUGFUVWdyRW8xSFViaEh3QWEvS1hpNGxEd2tMM21vS0h5ZEhmSkNxOUtqQU8wdkloSmE4NWx3WVg3M0JwV1ZieHM2NW5jV1E3ZUZ0THZmcGJJV0MzUWt0OFhJWEtUUy9NREZ2UW9hM0FQZGpZSjBJUzVyZ3NUbFpEY0YzOWdUdlVSNzJ2TDlzVzdjUkRYNTZrZExtL1k1cVB0N2F5MkdMdStialAwVmsxYitzRmZDZERaLzdUTlpraCs0dUYwQjUxd2piUldrZXlBZko1aE1Jclh3N0szbzljZ216OXoxTnh3NFRvK05kQzM4U0xUNHJWdDZpd3owOVk1ZmMxK2F6ZjR0L2dlZmlkY0tXcVZrRDhCb0hzbGtkb3JudjhRcUpLeUtWb0pzRG9kQWlCTVlDNEdsRE1uTjNMdWFjaUhDS3pCQk81SmEzMEhvWm9nN3gvbDkza1oyS3ZwSkpDbnJMV2FSUVZPemxyeTQrWnZWSExpSTBUV0h0SVVmQTRicVhUOEdrbnNjVGh0L2R4RE02akRKMmh1Zk95SEhpVm80QmpOaXNkZk0rRlUvejF1NVkwYmxER1A5ZHoxbjBRdGJyR2VhZGVXaHdLYzJSWS9IT0ZDeWp6MHptYVd2R1dpeCtTSnpuNzR5c05FQkxFdUN2emNvUitUUXdOdmxnWDh4S0xXSytPbVRJZUlUcHh3TFh5R0NycHhqT1hpd082R2tGRGZkNEpDRDFTSVdwS3VkR3YyWW9jdVpXUEFLZTFBNG1YYU9RWVdYdThnWEpPeE9CZTJIckNtNXkwa2VhbHN1WmF6bW1PMjFnM1lOWS9acGVuNmdhSldKY0JRMmRILzQ3cWFnSTZ0SlQ5U1dFOFBMb1MyZTRoSVJxTXFkQ3lVaTUvYUpkWTlKd0x4K1BjZ0NhcGtIMDFWZmNqRnIzeDVUVVhJeU9vL2FRZ2RUVkVreHR1WEt2clJZb0dQb2lzbWRxN0ZJR2FyS25kdUU1Qm9QT2lVM29Xd24ya1RvcXJsYUtNZklteXUrME0yekFyc25ZUFBjbEpXZ0N4aUdMbEw4dnJUSXRtU09Bci9renMwTUhtYnRCWFJTY25VOTBDM281L0gwQ0lyQk5MUE92ZTdYMzJVYnlWeU9TNEhhMzFKNU9xWXRDbXZvV0tSY0tnTSs5SW9DL1V0eGVLRUNxNUN3S2hvOEFOMDdoUWpEeGFtMlovVk1DVXBKZGRtZm1YbjhCTjI4MTVFNUsyc2JDaGh6eHVEbG0ySCt2YithSzdTVkh5bENWd1lFbW9VblV2YktJTGg2b0xWbkdSTUxyYWIwRVByQnpwanM4ZVFCbHkxeGFIazhMV1hNMFBUc2dhSG5WYm41NE1DYmhWTGVnb0lOWGF5Yks3NHVUZ0RhVE1sSGlhM0dCQ2JIQUI5aW9Hdm9JUkRiMDRtTi8vRXNlK1gvb2U4VFFrZmNuOXl4cWR6bFQ3L3g5QnZYRW9ycDZLZi9DZXI5NU84RUVkOEJxTmhQSHdaM0MwRlhPaWg0RE1obkg3NzcwdzczK3UzcWVwMlVEVFJLWE1CZ3k1Q1BFcHN2RmlJTVljdEJHb0t5SGhUai9XQmZrVmdZTUhhTHNXOVFFUW1CNjVDR0o5bWI0cWwvMjJONEsvTnNuT2dDR25INXJqbStVNTVmMndHOWs3dTgvRmV6YjR2VFR4L1QrRGc3OWZDK1VqdlVNOU0yTUgwOTV6RW5uc1dkQ3RvbDNtWWRKeHFqNjNXMTB1YjlRRW9NMzBIenk1dk84aCtNdHg5T1RwK3hEU2pmenRqSERwMHZqbDJnNEYrUWV2eXhoOTFYQ1Q2dnNCdTM4SGtwcGNMblBQWXRlSW52NjBjM1lrenFrTjA3ZEI0ODJ6d3cyNWUrZ1dPb24rdmtxdHk1R1A1TUV6RUhobnpqdzM1UWp2ZURUVW5qU2ZaTklqZ2NhK1VzZjgvcFcxUXhXWnh2OFJMZmVuaXIwUmxVWW9iQXd2LzV4dE52R1crempLTDROaWFzNWNGR3g1d21wMi9nS05yblBhMHFkKzRxWkszWTRxOHByWERkYVZkcUsxaThXdEhDbk9VcE5WcUJIbDRvNGk3TFVtTmkzam5YWitIeXk1NjUzbGl3Z1luVm5hK0VxdHk1VFVpdThtbmxnZ3l1VkVVQS9VRDVuaGJWWkw2MWw0ZndBMHFWOXd2Nm0vUFVIaXJUREZySUJ6NDlnQlJ0WUtpSzgzdkRkYU85ZFkxM2hiN3ZaZDRjMmt1WXNVUFExUzRrTXlWdHVHa1E2QnI3cnB2U3kvQmpvZWw0V3JLUUVybTBONVNCdEdWTHpnZDc2UFUrU2MrY0poZHNZTWxNMXBZYzVPTytuYmtuV09LbDlZTzlLR0lIS0Z4TU1IclF1ZThQcnBieFpGdUJrWUM1L2taaTlja0pYYVptZGdmRkdFeXVJMlVLV0ZuenN3N05hWExCQnFhc2ZPYXpRVDRTNUxESkVxOEVXVGZCY0ZHNDJHQU1hVFd2T3dIMUJXbnhOclhyd2F4NFRIaloxVGJJVU81RUcxT21xbVM5VjZGcnVITUxOckFxWm10SDE5Um1ZZVlXdWZEWnI3R2VWQWZyOEtZYUNWTk9keGVwZWlNb05TL0hpSjdjT0pDT1hKQUwxck5hWmgzSTNwQ0pRbW1aTVFXVmh4QzJEWGR1d1FhV3hsN2RDUlVXTUhzRCtad2oxMkN1eUhHbjJGNXd4Nm50Qk9ITFVtY2VTT1dyaXFRSlFONXZCL21XVlNoTndmTHpOSFdqRU55V0ZSUnNvQ1J6M24rNVRPeFcwRWgrcUJqYktrTFlYSHpncnJ2RGdOaXFERjY5OFk3czlQbGluS1IwUlV0TGRrSWxsTUNZSmxsQmYxSUVpelZRa1RudmdhcmN1V0twOUxnSWV2eHRJRmtleXhyS25Zc0h1eUhqcy8rQ0wrbHFhNGdOT2RsSmxGVUNuVnZORjFvNmlBTk9palN3TE81cVQ2Y3FkeTdNU1dNQXpBTURwRlhLR0YvVlY5TklVRDc5UkI2Q29reFhVM3Fna3NFbVBXZG9pUEp0YUs0Y3AxZ0QwOWMvNHpuUndaVm1LN01wa0xXQ2hNR1o4Z2VmR0g0SzN0ZllONi9sWkxZdjM4NXAvRnROUGlldGdzWFFxRHNCQ2Roc2F0cm9GR3RnUWFabXAzalRHTExLNUJwMHRjck1SZmhJdno3cDlJMEJWRmpRa04zdFhGVEIxb2JqUFBXdUwyRzVOUitGWE5YYUNubTZVYkRacEJDTEx3cUJ5N3dOdE5WMEx1TjY1amhWWWd1SHdMN1lCenVhVWp1Q0s5ZHdnT0hjRzNHSlBZWlpPUll1RDcvOEx4MW1MVnh1ZnROM0FqVzdxNmdYYXFDaWN1NERMWE9jS3JHMWZZakh5NFhvSGVqZHVmd2hieXBpVGR6eFMxbStLbVY4Z08vaXVYWHJkUi85dm44L1pibjFWYXRrWWxYN3g5Q0dKbThkcmp3TkhBL0JlY2tCZ081VTBSWVBoTFhwbHFlR0U2MkhJRytHL3NZR0svL2F5VTZXMjVEWlMxVlNBcXlvdlhSTnRRek1xeXJTd0VwWXJTTlJyczEySzJDc2hDVzBvZFpEbUcyclF3L0E3UFZBZEhPczNZS1NjbGhVME93c0pOdkc5cmRldUQ4VmFHQVdEbVk2TDUvdTdGWFFBbUZQM2l4RUdFL3pPQ0RRakN4cUxIMFAyRFpjdk9ucldRMXA3L1RsS3NpSlJpbHpxaFhwVC9rYldBR2o5U1RKRnd5MksyQ3QrQklhM21pUkc2bTRhK0V3ek9ULyttTmdYS1dIMDBiZHRRMXhHWlZ2QW1rbjJwekNDS1VjZ0VITmVSczRBY2JyVVFWMFVMTGRWMkIvTGw4QVV5b3pYMU9IU2x6eFlOVzJja1hycTFIQmxycExHempTNHBLMlNGWDUwTDQ3QVcyTVVISExKMThEcStLMmRuUzdJOXk1UmZibllnR3NxRExIa3czZ2dyZnpwVGh5U04rTng0NkpPZExpTWlabjVjbWRCSGV1cWpoWEExWHA4eDRBT29tK2x5Wkx2TzZQdzRYcmNpbDQ0L0ltcEI4b0FwaFdiYWxNLzFDR29OWTNaRGoxYjF1NzJsS1hxU2hqWDdjS2JvWU4xUExuTjNsVnhScklLVnlJYXpCaTlDeXlQN2NMd1ZWN1pQSWhDUkpCd2FGMkh6a256SCtGSE9mVzV0RzU2RkUzODdGVGVxbU9uaHUzZlRkS2F4dVZGR3hnNld6V2xTQUVUQnBicGJKNEFzS0dDellQYlR6T29KaXJyVURNL0pSWFMzdk4wcE9IRmJPUlBuZWxPWHQ2SW5BZ0pwc04zdDZpRGF5VTVSb1JyOHFkNjBDaGFKOVB2Z2JEUnZBTDRtRnVTUkpIb0N2RGVYd0xXTk13ZGU0WDFpU3h5ZjhPTmY5QUMvVXZjUnVzYUFNbjM0N3AxTWlkVjN0VlZOMEM0V0pMYVB6TGVadUN0YmJ4OFpzVGJZUXNHelpFNmlaZ3Uvb2RuYm5oVmRKNFhjR29VRmRQWWYxWDR4YjVqS05vQTBmVmVKN1NxbkxuT2hCY1UwVHlZSVplZFNqSzliV3h3SFc1bkZFdXFWQUc2bkN3R2F0eGJ5MW9pbWVvT0o1MVZSMzdFQ3h1WCtJT2xLSU5qTmR6UG1PQW5ocDh5MnloT01oeG94aEYwTmptRkdEUmFNM1kxM2JxRmZYNllaWjZPa1kzYUxUOHIwdG1LVjllWHZoR2puMXFKMzUzYks3anRuQURmWkxuL24vVG1QQ1UyVmljWTV4bi9oUm1vZVUvMlNmTVpZZ2UrK3N5MDRFNmRFekdwUGs5TXFqOTBLbXYxTk9VS3o4UGV1UnRRWldEeGRlQit6djRWN2lCZ3VUNS85Y3Y3QUd3WThUZmJzc2xXQ2E1QTMrbFlXQXVPSFQ1aUNxdTVYeStDOWdnbXdHRkZkdjVwRUhhSkg1YWdUM1ZmTG5EOEZwUFF4aEhoUnM0Q2M2blg4ZmJJVjlqRnhYeXNDa1dmNldFNUNIQXkxd1JUM2JlVUpMNDRIbHdHSjdqdkZzN0hESlYwSkt2cXMrMUNycnRNbFZyeVh6RTVkVnhWdGhlbCt2Y3ErSkpGRytncGFiekZUWDNxUi80QmE0WjJkMlBmdit2bGQwMHZ2aXJOcC9tSmI0Z3BtQWR0bU1RYUhqQklTWGZIdHVqWXVRYUZYd3lLTGcwQ0U3TEg1VzUwclFsMzJmU2Z4bHVGT3pMOExWdDhRWld5bk1kaUxlNTFBWlhmRDlMUVE3NXpLKzRNbS9DMEgyUXZTYkV5OXZZVzdZeHNuNlczY1ZQcm12QS9pYW1mWjkyejQ1ekZTK3gwQUZPWFYvK01aeWMzdkRZMnBLN0owZ1hiMkNKSE5hUzFCUHM5TVl0bk1oOTY0WWJFWTRTMk8xQ2NxWDNLais1T1E4SDBkK0xHQjMvTjJNUFBZeCtzWitYN3BMSFRrSGdoYlc4QkVvcnQ5eGlaNzdqNUczczFKVjRGVzVnYWZ4ZFJFTHc4eGplcDl3SXJEeDc5ckdJNERyT0Y1OXhUNy9sNytXbUNYMzdIdS9zelo4c1FLQzBvZ3ZmNjM3ZEh3cHFmN2IxeUxZa1c3aUJraEQ5WmtlZ0E4bTlrNzBZbFNBRXBvekFBSko3YzhvOFVQV0VRSFlFWEVqdVZ2WmlWSUlRbUM0QzRzM2Y0K255UUxVVEF0a1JFRy8rcWhsSDl2SlVnaENZRGdKODgyUWxPM21tMHh5cTljSWd3QmQvMWFzTEY2YlYxTkRaUjRBdi9qNC8rODJnRmx3NEJGWWh1ZkVEQkM0Y0ROVGdtVVBnQ0pKcnZIb3djL3dUd3hjVmdRTklMaTFFWE5TblA4dnQ3a0Z5dDJhNUFjVDdCVVZnQU1uZHY2QnRwMmJQTWdJdUpQZHdsaHRBdkY5UUJDQzRoZCtJdUtEUVViT25pUUEvT2FmMDF5eW0yU0NxKzRJZ3dMOTdxbzdqdmlCdHBtYWVCd1Q0QjNBS0hzMTBIbUNnTnN3Y0FqZ09sdDZJbUxtblJneUxEOWVhcDNzUUpJVEFqQ0RRaHM3ZG14RmVpVTFDUUNQUWhPU3U2VnNLRVFJemdzQVFranNqckJLYmhJQ0JRSi8ybFJ0b1VIQjJFUEJvWC9uc1BDemkxRUFBeG9JNHBkQ0lvaUFoVUg4RStJSGx0Sys4L3MrSk9Jd2l3TS9ncG4zbFVWVG92djRJOEFQTHQrclBKbkZJQ0VRUTRJdS8rNUU0dWlVRTZvL0FLaVIzcy81c0VvZUVRQVNCSTNMblJoQ2gyOWxBNElUY3ViUHhvSWpMQ0FJZE9pWWtnZ2pkemdZQ0xkcWRPeHNQaXJpTUlJQUoya1lraW00Smdmb2p3TitmM05Gc052N0h3MmYvRisxNTFJQlFxSzRJOFBjbnRhUTJPdXlWUDhOTzkrcktMZkZGQ0VnRStQdVRNdXc0RDdCdmRad2w3K3hRUjFHSUVLZ2xBamc4VjM5K2NzNC9SM2VSM2dXdTViTWlwa3dFc0lRbVA2Zm9PRWZCRG9iK0tTbGRFeVFLMXhDQnJubllRdXQwVTdEWUpuZEREUjhWc1JSQ1lHaTRjd05qd1hHdTBobm1JWkRvcG9ZSTlKaytiT0VLZThubmNJRytlRkxEUjBVc2hSRHdHRHVXRVUxMTFvM3BLWk9wOUVzSTFBZ0IvdjFKMzdZRlV4MWwzclpvczNtTkhoS3hZa0VBMzUvVW4wTHoyTzBnUzU5ZThMR0FSVkUxUWdEdjhpaW5HTjZsM0FsWTYwaUx0MGFzRWl1RWdJRUFGaUtDV1JuV3p2VDVZa042a2QwQWlZSTFSS0J0dlBnTC9Yc2NzRGpVbXJpR1RCTkxoSUJ6WUx6NGkrLy9IZ2VRbk5ENSt5UWM5VVlBYjBSc1N3N3hGdkIrRUQ0eDVtMHltWDRKZ1JvaDRMSXp4UTFzM3YzZzVzU0lWdWtVSUFScWd3RDJsZXVQbXhpU2UwQ1NXNXRuUkl6WUVNRHVYSDJtMkNXOWNuWkFYMGl6d1VWeHRVRUF3aW9YSHh3SEd4N1hBczVJY212emlJZ1JLd0pOTGF3a3VWYUVLTEtlQ0hSTWV4WUtlRDlnazNSdVBaOFhjZldQSHowV0lMam1XbGxJY3JYTGdkQWlCR3FEQU5aNVgrRE00SGRETTJYNEZzaWZxMkdoVUkwUXdGeE1UTWF3OWlEblpPQ09WaUpxOUlpSUZTc0NYVWp1RGxLYW9hV3lhN1Q2YTBXTEl1dURBSFlyaUszanJkRHI2YUVkTjgvWGgxdmloQkNRQ0hDZGV5ek0zQjBaaFY4Y2R5TnZlK2JNemNoQ1FVSmdxZ2pBaThCOUIwK0VqQVVIUzhGYkFWdTBzM3lxejRjcVQwTGdPbU1mUWRxQXZUNlV3MVd2QVEvWWVpaUZiZ2lCZWlEUWVoWDR1TVlpUjlub3Q4OWNwWDNyd1M5eFFRajRDRHpKM3Vrc2VPeE5ZVHdPNkszMU1DQjBWejhFZXV6TVpWOGY0ZXV5UE5wbXpsd1VqbVNpVzBKZ21nZzBmdFU5KzFDVWdSVjJ6NDlhSk5kQ0ZCdTZyelVDWG5CcXlCRWR0MURyNTBUTVJSSG9CczZGbG40NUxacUY3Z21CR2lLdzVHL0VJV09oaHMrR1dCcUp3Syt6djRHMU5PL1UySWN6TWo4bEVnTDFRS0RSeHhkT1hQYStlbkJEWEJBQ3FSRm9mUHJoMDBmK01IVjJ5a2dJRUFLRUFDRkFDQkFDaEFBaFFBZ1FBb1FBSVVBSUVBS0VBQ0ZBQ0JBQ2hBQWhRQWdRQW9RQUlVQUlFQUtFQUNGQUNCQUNoQUFoUUFnUUFvUUFJVUFJRUFLRUFDRkFDQkFDaEFBaFFBZ1FBb1FBSVVBSUVBS0VBQ0ZBQ0JBQ2hBQWhRQWdRQW9RQUlVQUlqRWJnN3p6alB2cGRvN05RS2lGUVB3UytuWjIrdWNYK2F2MFlJNDRJZ1ZFSXpMbDM5eDNuTSt3Tm96SlJHaUZRT3dTYS92ZDYrblM2WSswZURURTBDb0hsNEREb1JmYmFVZGtvalJDb0dRSlgyTmNLamhyaEQxRFZqRXRpaHhDSUloQVlDNDdUTTc4UUhNMUY5NFJBM1JCb3NVT2ZwYTc1VmZhNmNVbjhFQUlSQk9ZWUMySlc1WGQ3SWpub2xoQ29Jd0x6eXJ5OUlyL2JVMGMyaVNkQ0lJTEFaZi9ERVloZHBFK2tSYkNoMnpvamNNU2VEOWliWjlMaXJUTy94QnNoNENOd3dGNE1vTUJIcnZkbkVKVVY5K1lNY2owOWxyM1hUSy91VW12dXNaY0RlcERjdlZKSlQ0WllUMzArZmpMMXpYb3RnNWw4eWhiVSswcHlWeGk3YmNsUTg2aXJhb1paYzBicnd0NFZaUjdXaGFPY2ZMVFVCNEFodVJzNWlVeXhXRzhXbVo0aVhrN0RZMXZUckwrMHVqMVRjbWZQWW9SVGI3TTBMQzRHb1NmT2lmZFRTKzRTbThHdldIZlk2eStHdkpYWHltVjNGcTNDZVB0ZHRYSUd5VjJQcDljN1pwNmRIdGFid3hweTE1MWxwZnM1OTlYSFBxWnNwaVYzeVA2MGhxSlJjNWF3NEw5VGN4WVQyZnNDTzJXbnh5SjVwaVVYdzhSK1lpTXBJUW1CQStWUFNzcFIxL2hsOSt4d29mK0NZTTlWTTdRWnRCYWFhaGtsRzlUdnZ0aWI2Sy9PYklmL1BIdkpjZVo4T3owa3VUUG1XMWpPNllHZVU3MDFtOENmbTl3RExnQ3plTFd3akxJY09ISzFiMkgyL0xsUDVOc2oxT2hjZE1rRmNEUHBTN3pPVGgybnpmekZwMENBMFFGblQzSUh1ZVpualkreml5NjVDMncybDh5UHVIWFlZZjZXOG9HeTFtZHU5UmZtMm5IMkllLzNCbWo1VjdLWE8xY2xUbVp6Q2JqUC9zUnhXbmgrM0JVYTJuR3pNMU9QcDhuOFNXWUdwdi9qMy9YUWJwTGNhMndXWHpyMGh3cXVlZmdqMTcxdjFtYWNEVGY3bWg4ZmFmN0tGMGh5TWJmMTMvak8wT3VubnhYOWJkOXhoc3lmM3VnRmxWbmJXWDRsaDk3NDdsdi95Ly9ub09CRnR4YWdzTzVQWHhLemNuQWtsTzFsNWs5dkxxa21YT01UdHhtNmh0bU5CYjkxSkxtT0EvVjFQRVBQMm1lMTQ4dnFleDRSSy83NjdiTkxzN1djblgvQUk4bDFISmhhcytmU1pjcWJ3Q1VaSzJkQjM1dXh0OVloZjhjQjV4bC9TSElCMk1uczdjaUg4d3V1QlgxNWNwYlp6RDdoMFZRbUh4cm1ocDRrRjA4TDF1THg1Qjlhb1JyeDNFS0x2Q2R5aTN4L3BuYXZ3RmpJTzl5UjVFS0FzR0VzcE1BS3lkUmtDcmVaRkZXL3ZzdEJDNWJ6TGFWT2h1bDRMUkMvblhoc3FoaVNYQTdUSU84RU54WEdWV1E2aVRpVEZnTG53cFZjUzZsVmNKaUs1a0YrVHdoSkxrY1lMcWExVkVqWEpoT1dJRFpEekJ6NG04Wm15MWh3M05BOE05U2djVGNrdVJ3aHVPOURWdU00MUthZkhxeEFhRWFXM0xOOXgva0Q5Z29kVmY4UUZ2elc4M0pKa3N1UmcxOU1uclNSRjhqSmxvTVg3RjZreHUvRUYwN2V5RjRJYStKSW5ycmR3bG8venNzVFNhNUFicGpmM3NxTGZLRnlpNWFsejdjLzR6NzByM0lKN3BmZFY2OFZZaWR2NFg0QjJFbHlCZXFYOHM5eDh6NjFRdVZXeS9TRy9EQzdZY3hRZjM5eVJ4OWcxMUQrb1k0a1YwZ1FUdU9hS2I5WXMwVERmSTY5RTJzeFcwRlBnaDBpZzBGTWRUOVlkbC9QVFowazE0Zk9OYlJPYmpBblZ4RDcvRzZYVlZ2M0s0NnpxcHhwRUlqU0tJL2pzRnZrOUQ2U1hCL2UzbXdkTytzV21OcEU1S25oSHZOVlJMbGRyc2lrS1VKNTdPMmdnSmxMdXh3RGVQSEF0c1lpWFpzTU1CQkxPOTk1a2N2c3FwS2hBemF4YndHaUZmTFUzeHpJa3M3MVFZTkhkNFlNWFpqbHBlM0M3ZktOQTBkcVlRTjJTQTR4eWxVRURwSTd1UXFLUWlTNVBuYlkraEYxa09ZSHRmS1NtTnJJMGIxd1hZTWRrSUNtRFFoNXVUZHZaZVlFM2JhSTJYOEFBQ0FBU1VSQlZHVXJjeUZWZ0NRM2dHS2d0STdDcHI2QlZjYWVMNG03QmJHSzNKRTZ2RkVlNWJFTVFyMXZqODJVbUlFa040Q21XV1NlbXdodlJRbGdGZzZCVXE1NW9ieGRxY1BoRlB2alV1aW1JQkpid1U1UlJtY2h5UTJ3d0I3ZGRRMUx6VU85OHF6eVZkNEZzTTB6NkFuWVNWREE5c3dFR3piSEY1aWdrVzlCZ28xSlQxbHFUSktzN3JkVlhqZnJja0hWY3lWb3NvM3ErQTVSaHE0b01pa21uUnVnQ1FQdmJnallPdDh3eG5aTDRxKzNCVUt3bS9rUExvUjJSS0Q2ZnpCNWRndlVRcElyd1JzVW1pOUlLaFA1eGVCZTJrZUZ2dm9RTEIrby9ja1FwN1dKdElGdjV5OVVGVW11ZkU0blN1L0ltTnIrd2hndDlOQmpEZE43dG5vVGM3RmdrQ3Zra3liSmxZOXh0VHpiVVpLczZoY1BMZkpHUk1HYXRETzdOVEdiQ1JPMFFwNjlTaVQzYUNLSFNTK1grMWtNMjViWGdnSlJWWEYwc2tMcUtzcVg0UW9yS0U1UnlpUHVJWG1Gdmc1UmllUjJKakpMbnkvMy9Xd1lqNld0UzQxNFlHVWt3Umd0bFZXOTJ4QWdUTXFkZTFSd2pLdENjaHNoYjhkbnZVZXJzZm5iNW9pNTlNelp6eFVVQ3Jma0liZ2dPeU9Ld3hndE5OQkdTYmVWaVQ5QmR5NGFzUlZsSk10OUZaSzdZdTd3ZkpBOTZtVStJRFZWQzA0TXNuUGUyYk5tcmFrSVJESjF5dHM1R0tGYzltMnJaTi96aVhLclFCdzJ5dVkyZ1o3SGlvMlpCU1czMGJMbzA4dkdjdlJWOWhybmFpRy9IVy80azdZaHpEUE1wTjdwdnROTE40SmFhZkZLRGliMzFIaDFCUzZXLzJRWWE2MTZuK3pxeE55NTJPSWtOL2xZZVJvYldWQnlIN1Q1RmJ0bnV0bysvd2hESy8vYlJvTFNuR2RaSmx3d1hqUmY1Ri9mdkpMcVBWSXJMVkVMbmxxUk5SM2Q1cXBEZkhmdW5USXIwYTZGWnNudXRtUXVzV2FaVHRNa2tTZ211Wit6ZXNUN1dsQ0ZTRGtIeFdiQ1N3UGJBdmVpSWFpaWZ5eWwyWGhncHlYUUFSU2E4U1M4NmhDUGgxN3FtSTZlSUtmVXZZS0tNRDA4aGRFdUlMbFBmODEzQThLOUdMTU5ReUgwaGVIUU5vUXNsbjFNUk9PM3YrUmF0MmEwOVdDektQd3JqYkdDbDBoTDhGQllDNHhwU1duSmNBVVVtOXhFT0VIRDVXQXpPWGR1dTZqRmsxOXk0Zjlrajlnazk3cUdkY1ZYbHBjS3FJZys5c0wxYlRwM3FIZUNuL2o5eHgyMzhTQ1JsbmlVZkJDT1BOTjYzc0tzS2FBSzRtMUNUN2daeFBwT2krdGI4VXhseDV6b1N2T1JMaUM1Tng3NUpCNTJYT2NhRTdRakg1SXJoaGJPeXVaN0gvcmdkdGNtdVhxQ0pzOHZiSTBUdkVSYVBsUFE3ZnRaMlp0Ry9pNGtkN3ZFaXJGcDY3WlBMbkRudHRkTHBKNUFhc0FLYnUzSkw3bWNJNnZrTnJYcTgvemw5V3ZGVmtzY20rVE9hVDErT2ZDZUQ5SThUeHV0QU54K3VZTnd3aU1ySGoyRTVCYW5vaW5vWTFJQ3UrRmdWeWRXRlVJYjFnclJya0J5OVFUdGFyQUlmazNOQVBMeGFwTTJZNExXQzRSNGtFWmwybWdGWEJVZXdQSzFMbk1wcUN2RGU1TzVlS3pBcWpJK0FydWhFeDlJWTRVS1JuRFRiTE1RamZJbDE1aWd0UU9KdldJYjdUT3diWk0yUFVIRHBxTjlRWXgvQ0hmc1phTVZGR3JybWNwWU10UE00REwyUXBuMVEzTDNmWG9JM1ViSTJ5NlR2SlVXdEh2QjNsZSs1Qm9UdEU1ZytWOWl6MXZaVHh0cGt6WTlRWnVYR0xocExDY2JyWUFQMkh2U081U1dzMm5rNHo1OGkzODdQeXV3RnRiODBnZGkzckpjekltWmloSElYY0hlVjc3a1hsSm5XQUJpWHdtdUZ1VFNKbTN1U3hLaEkva2MxVVJEcHRoK2JiU0NmUENXYUgrRnJXdzk0ckE5c053ZUJoblk5NXZtaWREVmdqS1ZCaVpvOTRMT2MzQmRnSUp0aHFZbmFKQ0VROUdLZGtHSnNFaWJNVUhyTTErSVlUVnNqUWZOUWtzV0tqNkNTVXFWL25KM3BPcTJaZFNFYlRhK2h1R1V0eDNua20ydHZZeUtEQnJOZ25zY3hXZHBDb3c4TnNrZHFCRzNMWGNwZDh1M0ZxNUpOZUZBWURjRUpHQm14OEFtSVRoQ2NvdlBHaExxTERjYWczc0JMNk9GRjdSN1YwU2ZQQ3ltVGMxMVM2WXNVVXMvLzBxL0t6ak8vK3ZycmxqcFh1RTJRR3NYR0NFdGt0dGdxdDFEcWM2SGNqeVBOU0JkaEVYYTJzb1dnNlk4Rm1RUWtIaU5JR3VocFhKREpQYlZUVzBEUjJCem8xVHVCdjRhMmdyN29oZ2xXeWxnSEZWL1kzQzNkZVpMN0ZLU1AzUlF0QTBMb01EK2NCUWJJOU1za250Vkt6NVBEbXI5Z25hWlJkcDZhczZIZVpXUEVzYTYvWkhjaWtRTExWWElTMlZ2cU94VENwemdrVzJWV3ZjUkU1WnQ1MVVZdjQ2ZDZ3VW4vYzViWDlpOEhQU3RTMGs2eTAwMVFDYTA4bS8veEEvOEd4REE5ZWo3disrbkVqS05qclpJcnA2Z0lYSGRMKzRWM0dodmtUWTlRZXZLTjFzZ3dtdWoyZVdwRmxxcVVML29pcVNpVkdXZ2d5ZDJuS09DejNxdjNMRVhXM0RaaDUzR3gvRjJWQk9iN29iRzdsRjcvakd4T0tsc01kQlYzWVFuei8waisyUElKQ2UzVVZwZCtYYWNXU1QzUUZIQzhZaGJvbmIwWkxtakk1bWJVU2x4YVZzS0xET1U2a2h6cDUzS3R4Mm5wV3VHTmh2TGFPTmR2L21UditCdTZVSVREM2w0YU52WmEvMTlkc2F3aTlsNmZTZGpEd2xiYTg1bHdicW5OVitxeUJXc29WNExaamJEQkVEeDVwdHlRYVVpR3NyVVBuM29kWS83MTYwYlN0NWtsb2JIYnR4QyttTVAzNUNpNFZ4bnB3L2RRb3l5SnkyU3F5ZG8wSUg3Z2hwV3c5Y2wyVnkvY1duVEV6VEhDN28zOUlXeWZVZlVFcWVsTTNkVHZJWEZOVjRxOTVzbVczS0kxNStkNUhQczYvRmQ2NWNUQ243eFo5eXYrd1JQVzNuMjdCMEplZEpHWDRiajQzSWdNd08xbHlkY21yOTNINDRwN3c3aXBpNHAxbkNoK2RkV1VFOWNjcGUxa0xabGJ2emVMc1JZWE5xT2xKQkNvYXRMV0d0amFvclQwZ1ZXV1pKWnB2TzRvclpqSFRIcEVIOHcyUzNSSlhaLzAwSG5UbUZQRlczUXlTNC9qOWZ2STNMWWpkS0VKR1Z2UTVSSTB2Mm5mdUFYeEVPNis5SHYvNk1nejl4N1JjelpCd0dDdU9LU2EwelFEa1JtLzk5eFVDRGZUMXphOUFTTmp6dnlTdElvWnExeFdqb1ZvOFJZUjh0ZitPY2NoRU5kYU5JaHVGRDhDVldtaW9mQ3ZMcWk5VXFtMHBreWUrZ2RQZDlLZ0h3Y1c4dENSNlJSTTlheWFTTDVGdVlYcFpTS0FoM0UvTEtPaVV2dUpiMlBvc2Z1UFNXdW8xeDJtY0ZnWE5wY1pZOWkzSG1IcU9YcGRMN3RPQzFkRWRxcjk3bnA2R2pJVFdXV1JFdVZkUzhlU2xaaXNQUDRVMXRKTkJleUVrek8zK0REb2V2UFE5RExEcTA1MnlXL3ZSeXRoSytwM0E1Rm5qRE1RdlVWbDF3OVFYTmEwZ0E5S1Bxa1k5Sm1UTkF3N3V3TGhxQjgxelZuaWFFWUxTTm5TdXRydXQveDRRc1JtUmU1VG55LzZrTFJKMkdBbFJSYy91dGk5K3N4VDcrV1ZGK3o1QVhzS0RNWVBTT0cwWUQ5aXBrcExya3REYXBhbyt3SEUwMnpaS1p3VE5xdWFMWXc3dmpkR3Qxc0p3WFZHQzJqRE44UndGWFQ2QXVXZFJxelpEU1IvS2xIWUJKem9Fd1hiT005VWFEbzZHZlV1dVNCa2ZBVkxEK0k3eWdMSEM4bDJRVFFnRVY5YndZcjhXQWJqSVZpcjBlZVdVeHlqUW1hbzNTZ094N3B6NFFoNEhkdjBEWEhwTzFJVGREMFYyV2dpM3dSemtoTFY4TVBRTlpkd29nUEI2SGNzMHBPbUVDeHV3TXdlU2NqaVNma2ZNZ3RidzJERDhqUnkrOGUyUGtRdk5jckoyb3hkanZaMnhDak1Tb0NJRW0zZ3ArdHh5ZW94aFdUM0hubE1PUDdDWFpGVm1UYU1NcFlnLzBvQnN5YzVjY2t0L09pb3RLV0xIYWxqWnFSbHFMa09Ody9Mc0Uzb2lOQitLblhJMUdUdk8yQnlZMk1GUTZrZmVFbGVLa3kwdVBaRjU2OUZiMGVrZEp4RUJpS0owbDl2RlV4aHVnWldrVEFyUEVlZ3QvVW1PUWFFelNrN1loY3NCNlAvZXpKLzM4a0NzS3RXKy9UdVdPU3F5ZG9qdHJOMDVQalFVWmF1aG9IdzBRS25RUWI2clpaYU1KaFBQUVVUSWFZd2lnUmNOektySzVEaE5MZTlJTnEra2w5M00zZSs5TFdMZko1NGJuQXNtZU00Q0pEVEhLTkU1TXc5TzZMVEplVHpIU1JtdVpmVkhMTjQ1K2FjaDdvSmFFVXJpRktLNVNLQm0rRUltdzM3UlE5MFZhdXBEZ0k3bmhORUs3ckNXbElZZFpjcVhrcHEzV0RuaUovWmJ6NlJSdXE3UDNjeVg5SFZZYmppMkl1dUpqa0doTTBkUFJ0VWZnb3JMZ05nbW1EVVdrekptZzRVOGwvRm1vYit4aWlVVnFoN0lNMGc5aUJrb05RMlFuZEFISUpiT29hKzlLaWd1Uk9ZbklKSG84NWMzZ200cGVIUXhjM3kzWkNNZVhlUVBaTUZYUTF6a1pVY3MwVGs2QnpEd1UvblhUS2NBVHZVV25yR3VzdnpjQ1VtaytwMmFPMFF0VjJVbXhjd0VZSlBUOE1sWjdJRGZkL3BIQ0FtTHpnT1VwTjZ4WFdJaWJocExCMDQ0SlhYd1NpR1huMzI0dEdsbmlQcVlqUk14cXRWOFZvUnlYWG1LRHhOOW8zUllHa2poZWpsaGdSbFRaamdnWTcxMStVV0UycFRhSzBRcFVPOVRNT3hZZHV2Q1JYVHloWFZUZDhTcCt4NThEcnNodXc0N0hucTJMTW9DdTFDSGpGRjZ0ZVlhUUVRYTRUOStQUnBjV0UzYmtQUlB3S3ZKcW81SzRhMmdDMmh1RGt1dlRJNU9jckttM21CcVIyWU5BTVU4NmFvN1JDWE1FUStFb293bkl6WlhjdWZ5aGhoNCtGeDNEVWlmYjFwVmplRHBmTmRYY3RjUE1JNTlpaTl2QXJZbndGZTF2ZGxSOW9nNzZpZXQxUXZ5b3lLcm5HQkkxUDFFVyt0aHFxVkxHc2dZaTBtUk0wK0hQdmNIS1FwM1JRUkdpRldXbW1XR1NBdm5ncFhHcWlkL3loWk5TYmVyVWFLTVhtS2hWd2Z5Mm81WWpiSnBmRTh3blh3aGNyRDhOUnBkN2hPZXBsL0w1RjZjZDByaWZ0S2M1SHkxZkFuZUlXVFVUYWpPT2YrTm1qd2xxWVQydkFSV2lGQVR0S0lSVlRkdWZpb1l3ZkYwS3RnclVwUlIyYUpxTytEbEZLZTdNWWJGenFjVGR5ZHpkZWpKczg4ZGp5WW5xNnljNXphbVhQcEIvUnVlWUV6WEdHb2xzdEdOSnZGczBTamtpYk9VSERubUdoQWJ2bVhISVU3UWl0Y05aMml0RjB5dTVjUEpTTU9oOE15MEVDNDhVa2RPNVZ2eFpJQnlydTdJY3g1bmZZYkpMUlZvL1RHQlhUMHU3Y0pidjdUYTJIKzJUbVE5NkhJM0YzbVIvS1hQQnFoaFZxeC9Uc0xQc3pNNCtmTUozbWl0QUtGMWxOb1pNZzNYdmhVaE85RzBCeUxlUHZDQjRPbU9yVkdLWEhidU1jUVNsdDBwd3ZsM0FqWXp5OFlTbUZ6bVM0aHl3WmlrWEJLRklZaFlSRms0V2xmVnZmT1cxamdzWTNDbTBoVFJ6S2JPVEpFeHlHTkVYNEF5ck9nRDhMLzRUcE5MVER0Q0lsSUxuYVBvcWt5VnNJd3JZTVQrRVhEeVhsWEZReTUrbXVoaDJTMG5DUXFaWDhlaHlpWmUvSG9IT3YyeXBNZzNNQnh2aitrdzIvL0pPbmxvZjExTlB2Nm1IMCtZM2ZlVXBXY2hMcTBNdTh4ODBYVmJtTnAvN0xWNEdSRC8zVHB6YURhbGJDaTU5SHZMdDBVcW5jT0MzSmVmQUxYVEIyRk90VWE2SkZPSXJlY2g5K1NGdEVNOFR1TVdhcnJnYUp3WndwLzRXWGZoNzZyaFRGai9oK3FlR0xTK2duelhWTC9uYUtzYzFTTEcwVW53RHVpTXh6N2tmaWhiaGdCOWRla0JxYW9JSDErMDZqZFZjS1hKRG55KzZyMStMRWttT2FzaEtGZVdpQzVzRFEzWFdlWkc5S3BxQlQ0clIwbWdqQi9rcWVPU3c5NDc0WnJIdHFrclB5ODZjL0hTRlErYTFZaUpCNHA2b05qMUgxeHFPc3M3dFFEWTBmeHlEUDJEZUVJcTAzQ3g1Nzh3RGE3b1Q5RzV2T2M4QkhsZlkyZjR5K2tBMXRHaC9HREY2eGZPeldEVmZhZlF0U1JRZXRXV0d2OW1TYWJPQVBzeHNHMDc4ZmxXdVpUZjgyMlEyOHRYa0w3M0ZLYmRHTkRPZ25wOCtvTkYzT0ZvclRpdVRpN3h0c1J1TGs3ZHRkdkI5N2Z4TTJWTURJUXV2VVdKZGZjVk4xSGtrdDd5OWZIVXF4RTlNZ2ozVUlKU1VuYVZaYWpMS2hZS1BEN3YrUnN6d1UwNWRRU3Z4bTZYdmRSL2RoTUh6UDZZZmppZng5dUVydGJRd3R2Z0o2VzhybDI5aFdzdi9zdmZJVFljYm4yRHZSRWJlQ1NFeDFaVENjYmVSZDM1eWdJU2ZnZVV1U3VJMGtGRS9rM3ByRGVEU1BnVW4vVG1mT2V6MTREbHgvelh1SEsvb0JIT2lnblVBNXNiQm5ranVYdFlxdW9XYzdhVmEzclZRUTJXTjN0L0hUaUl5c1NkbEh4UjlVYTI4M2cra0tWTDlsR2NUQ1dEdDVwSlc1dTE5eHNIWWd2YjdRNnJkbFN1cGY0M3plMUdYU1p1UWFiYzJhdVRGZzM0U0VhM2VSNVk3SXNjRDIrV29MZjVqOGFtbk41a2RVODUrckV6WDRwNnJDbE5aVzF0bWRVY09UY3FJWEhmT01QR21ESjJyZ1Nsc2lVNzVlMERGUVRUcjM5VEEwUWJQVjFYQ1ArYnY0a2x5YnBSbDVJb1NNODNraktjVnYrYXJrdnBYTUE0SFR3ZnNEQnJ1YVgwOXcxZThGTjN3Tkx6SVVpRXlsLzJ1Q3c0aTFOS1lPVjgyenhmN2o3S3JDcHovbnlnV1F4YVJoYVF3alJqSkVxa3EwV3I0N1YxaFdoMGExaWNIeHc4Z2lsOWxWcFRRT3RNcEtKQnBMaUV6UVl1bEZJaElsRjlQUkRVR1lTODZlQ1BWMzhjUFl1cmpCSVJ4cUpQRWpFdjgzM3ZWbmtxNFVLQTlSdjIzV2tWZ2RPQS9tMldLYlNRNVY0Wk51cWo1OVBhRnpKN0lRVDBBck1QaFdkcUhKZDJCRnRpREJxY3hSNDBqYkpKNjZMeUhsU0JscW5SRXorU1FTVGpPYnlrbWtZMHZnTS9kalcwS1hCVzQzYm1kdTh4d0xYUFBBUndYUEg3K1VFZUhmanZnUC8zelNKZWVnSTBvUFVEYlRRK2Nlb2plLzM3OStCbUhCL0lnS0VwTGdXNU1kWnFrVXlVMW5nQ1p3TXpxYWQ5WU54M25nSGxlNkVPR3gxK0w0RnVHc05QRjkzWUNXbDNIZ0U4WDZtUjVjVUZQS255VEp4WE1Ma09aYVdSQzd4aDhrTkcyQURDUjZJMTBsVFZCSXVQaUlOT1p5VVpSMy85UVg5eENaVitxQzRZeWYxKzI3bmpBVkNCY1llZGRUZUk3TWxqUFJkK2RpT3psM2ZxZlFCazU3N014aFFiaWMxTTVzMklheUg2Zm4wVGlmTjMyaHREbTU1TzVaTWtNdWIvdlJrR0ZmdnJwYzJhSlRyL3Z4YlQwbSt4R0oveGU1OE5tdjhaNVNRS1k2UzJJTm9ZVFZjRlY1Qnl3d3ZSM1F2VForSWg3aXdISUR5Wld6ZEV0cTBTamh6bTBNc0oxOGtHNlZlVGhXRE9mRlEzZmxEQTBhSy91WVlkMXRXYlN0c2p3NHNrb3VPdHVtbjBlNWN6dTdpTkI3dGcrU25CS1NkRG0vZkNCTXE5ejlHcnVHMm1ubVVSV0NETlRZQzdJRlJ5b2tZekwvZGlxVjNGVmc1THo3UHA0WUdweG1nTkJIMmlhMVpKVVA5QUEvR084Qng1MmtySW54K256ZXhDejVFN2prN3NTTGcyWFpLeEgwdFlVd2pZRE12cCs5bDhka2o5YzBMb1liSzJ4clhDNHovVVF5akVnd21jblMwSFNPakpLdDR1cXlZekNsS3lrcmhLZHlkMFU4Uno0cjJSMUxkbTU4bmk0WFZIajdBM21GVnQ4WVN6YWFvZWtQMXRIb2N1NjVTdHVKazRKcWxVOWM5cllGTVdUMmxieE82RlBQZkpHUEhjYzVUSTRCaTBvOWVMbmR1UVA5cU42V3JlZFlPUU5UeGNYZlNwbEhvb1BlODJkRDNQcVRUeTR4TzdhRzdTY24raW05TGZ5dUtxV0IwSTZma09HL1BwODNRNkcwV2Jua2JzVXpEM1hQUlcvYjVSbXVDdCsxWHNUVVdqbGV2TVFZOUNGdGNLYWk2Mm1aNDBieVhxcEMwVXl3N21YSk9iY0UxZEZQSTFCUkpsTGZ0OEJ0c0owY29iR0xEQ2ttYU01WEg2TDJBMlY2TkZVb05WUHcrSytuejV3NVo0TGt1c29vNFAxT1BQdzVmcjZhTnRSUk1MdkpucGs5eDJualVXU2JJQ0gvVGxBUjEwRDhDZkFMN1VoeitabjVPQm5zNTNpN3A4Z0ZhWGwrQm9tU3U1emc2LzdmWkRWV3h1L0lWUEhMRzNiYmora294a001d2pjbjBoUU1SOGZ1K21vaG9pZmhpT1ZKanZEdGwrVDBZaWxjdHdSdE5nanhKeTV2bTZiS3d3TmQ5eE5nUkFTT1habXhtbDlVbjgyVHlCMURhd0V2WUZlNUZxd0NnTHlSS3lpSjNDalorSTZ2K1I3R2ZyR0VsZzBTSmRlTE1LQnVaU09zak44eGVlTHE1OFVnNGdqaFBUUFJGbTZtZkhSYWYrZXhEZWNTOTNMWmVNb2FaNWRjMlBucWlmZTBFSnVHVHk2VFBTdDN5RC9Fa3hnLy9CbUUrV1BjRE81aGFyd3NrNndDZ0x5Uks4amVWTkgzZjAxU0tQTGJTcFJjVlZFMElPWFB5bmhJY3FGRjFMakE1d1hyNHpodFNJQkdaOVFqTEpaT1U2cHBrK0pUNWszWllTNjV1ekdpWGQySHNiSEdNUE1PbEQ0RG5qdXhjaFZFOU1HZ2tyNDA5QUczY3JPakhVcTdXQVVBeENOWFVFVUhodU90VzkveXN6LzRXMm5xSEo5bmtDaTVQeDVoUU42KzhqQ2dhbVU4SkxuQ25Sdms1aDAzOEdTTjUycE1EdlNDZFQvTHBHekRNUXlaeVhhZE96UndEdlcyZ1pLS3BwSmhrMXo1WVE5UEl0T3NISmFPNm1xUXY2MThMTFVNQjBVK0N1RlN5WklienBmcmpzdTJLZ2pBVlB0VlpMNUFXOEVuSFV6NTZGUlN5aTY1ZUc3clFYV2gzb2E1dWh5NWV3WllsWERtRStYZUFlM2tTbE1SSE1CcVlITzE0WkNtcUpFSEpUZU0yOExCZnNiK2w2bkNwbUhjWVRPNG5wVm1vaExQREZMYmZ1eWtiTU00RDRreFhISzNvcWxjWEc0SGthSGVCbjBtOVY4ZWt6MWFUNHA3UHZobGUzOFNERXZyQW9WbFIwdFJWU2lMRFpaUWhvdzNmWTFjeHBJcHN2ZU16aXA4S0ZzcENxWElva2ZZMVFuWmhpbVlrbG00Wkd6SkcvbkxJNCtEbTFCdjA0WlBQcE5kVnBEK04vc1NHaVJYdXV2Z1doanZsYmZ5d3Z2dXNUVWxaMlNuU3NsdDZTYUxuU1hhdU0vSmJWQk1kL3ptaEd6RERQeHlJZDJKNXVkT3NXQ1ljTnBtT3JyZWxwOFo1YVI4UkV2SDd3dnN6K1YrMVd3eUJGbVg0Z3JlNWRBUloycGtESGV0U1FSR1preWJDTWxOajFkYW9qSWZtTDBqdytJWWV1a2lVNUc1QWhpUHZ4SVU3RTNHTnN6Q3BsVnl1YUtUUkpwbWIrdXFCWXFRRVNIekp2d1cyWi9MMStHenlSQ1lsNDhSZUI4bThEUW1ta3Z1bUN6WmtzRktaWkxMTGI0TnpjN0FjSzdvMkJ3aElDazlNeE95RGJNd3lYZmM3RVVMWUN1ajNaMDdWRE9la0JFUkxSKzViNktPaEd2c0xIaVZGNHpRRzMyTEZrbkpkWE9idWJBV2xHdHRkSFVwVXlHNVVuK2xMSkUrRzFjME96cDdFN2Y3K2paL0NMYmh6YUMwYjBoZjM4cFByUFNTWEhLUG8xUXhSS3VaamQvYjV0NG44Z3pVRVVPUXFCMUUvYnRvVWR0OWtmMjVYZkNYN1ZnamFLQkFjdkZFMTIzOHBJbkxXdXM0bWxWS0xsOThXTk1NOEdGcVE5L21ENEhRYmI5MFlCdTIxL01USzcwa04ybVBvMVNoYzZXbEJPWHpQSkt2K0M0Rmo3MFE1RzBLc01UWEY2T2xTNzAvQVgrcUY2V2lESTREeWNVS212RkFVeFZXbVR3OTZxaTRJb0ZoaFRvWFdzUWNsdmdqbFI2Z0lpenp2ZGc3UG9IQWJqallMVVN2M01LOG1mdFJrb1pqQ1RxWjIyZHRYeGhjSWNZOE81N0VKamJnakIzdG82U3ozbmZBbjNSeXBTenJTc2tkWnBSNWszNG5wT21YLzZhWmxpY012REkySTMwdFhjTzQ0NlVBV2JiT25sQVZlc1N4bnhUWURaMjloSnpUaU9ZMjBuNjBZa1RLNlFUVUx4ZmFvTGRwK0gyN1lWNnE1aWlGMHU1YjRDK2pBaGtFOHdvbzM2L056Y2RKU0kyOXRYQTdRYTh5eVIyYTdseTB1QVBNb0ZZS1g2dEtOQkM2RFhMZWRtR2E1UkdBZW8wUHFUQVZwYlJneE5oQWJmMDlVYVVlOHZ4M1hTN0xiT1V4RktFRTlxUUtqYVFrM2c0RHJ4aXM5YlhFVE9NUzJ1YkRiM2czeCtVZmwzNFFrYTV4K2JPa0Q3U2lFY1dPZ0puL3ZMSlFpZWZWMWhhNEI4SGxjaWV0OFFvenhVQ25XcDZ2bHRDTzc4RjFEd1ZWVitwaUdCRmNEUjJ0WjZvc2UyYnVuY282M1RnS3VsMVhHZXZaNitWdmlxNnBZaytlK3MxWEVka0QzWkpHY0Z2TmdFaDZyMFF5MzRDemJzdVlNUTUwOXYwaW5naGRsWk9jakhTcXljNDkvZkhIMHBkREd6ZUQ5L0FtWGREYjFNZmtNZTNrVHA3ZTdXcTRVbFM1NjBOT0UxVGttTUFWbi9tR2NYamZtQktXWkhRWjFiWUY3N1dXSE5taWpvd1hNck9WSEp1YnUrUnZtcm00QlZpR2FZTHhHTThlRnhlU2JidzlLMDFJczdLcGhibEhaVE5XZTVjRjNRdkRCTGZTRjdsL0FWZFBxckcrYjArNGEzNThaZis1TVNNN2Z0cEtsdnk5VXRlS2Jaa2FhajEyTXY3OHpiRzhyWmEzZ3l0YUY1ZXIyMllrQjAyK3VXM0dadzNEYU53VlpVNGVGa0xTWE05S29jcjhmR1NKMDBlc2lKeGpYeEtDMDM3Sno5TU5wR0hsek9VUFZxcmlPSUd5WXZoVHNmU3MwZVJiZ3ZsTytIR09MaEpQdlNJN3IvTS95Ulh2ZUtiME1aRGNiRzdwMUtRYlEwQjAwOHpPMVEwL2lMcndGY3gxVjlnWHhjRGMyaXRNc1VRQ0dQWXRpR0tzM09lVm5MeUlmbmNNWGJ2TDcvam5CSHd4T25sSlRJT3VGSjV5KzJTVC8zT3ZldVo1UVpjUGN2UEtnWmRNZlZSS294VllLWjhUUjFxT3lwb21EUTNKM0k0VWRMLzRFKzl2Y1RsbEgvM1pud3F5ZittOUlvSTk4b01weW8vT2N1VDMzczZyNEtZNWRxNWJCR1YwK1VwVE1YOVVDNzFHUlFmQ29jU1BCeDVBZFlrVHhYaHFZUDNObjI2M3VTVTFESFYxbzNocFFhaXE3SVArSEhpYjgwNzNpM0dCai9PdE9jNC9lUy83bjR2UjhVdmJ4N2JDbEgyeDlVVjFXMURqTTVQZ0F2dkZyZ1dYZmRocGZCenoweVkrSVRHczNKR1VpVnVJaG0zR3VNVE8xcHpmZGIvQmNkNEtkOEt2SzkzNmJ2YkNvZk4yOTdVNC9lUnM4M3EyclRDWitBb3lkL0VRVk9XcENUeUlzOWJaTzFKblQ4ajRHY1llY2huNzZZVGtiTkhjN01sV3dwcDc2Wm5UYnpZVE91SjgrOGR4anI1VVFFdmlZUDNIY2JCK3FnK0ptTVRpNGU4RUJQNFUzV1dlNFd5SjU1eDhURHZCei9nRkJsYTV6RFFHK0ZyQW5tU3MwV2VuZnZ3RCtJQkM5WFBORXp6d0hMVjgyWHYwRHlYTDBkK0d4L0ROaE1jZmZ3eWZNNUJMVGRmWktUNXc4TmpEdXFHODFEOTZqTDN1Zzc0bWl4TEpmTSs5ajV1WlMwVUxySEFCZWswMHRzSjdmT0RsNno3QjZhODhlMVpZRlpUTFp6ZEpwLzJETjU1K1RFQTk5NzFuLzFMWHVmenBONTcra29qL3N2ZU54UitGSm13UGRmREE3OWlUOHNaeUo1Szg1T0kxSDh2RnRaV1g2cmh5M0ZPMVBTN1R1UFJsNy9RWXAzY2NqOHQzSWRJUDlLSkRIZHM3d0FPL1dUSmpuL3FCWHhCU2V2ZWozLzlIQWVrNWYxWno5c0hLK2lJM1A5ZUtOdVNBZllTZlVwZGpFQ3BhY3czTFl6aXVsK0VkeHNqRkE5OEtSNVZ4eDczWUw0YWt0SU9ZWHc3RmxGR1Bwc0UxL2JHK3pSVzY3azlXVzFVNEtYSXhOTlZDUGYzdXkxVDVzRmNPYjB6eEIyNGhIWFBlOHpkbVAyekpXRm9VWDhiZUtVaHQ2TzhnT2luY0JRcnlVWS9pL2RMdHlETGJKV3pTN1RJcCtyUXVRNDdDWS9lQThXUFRLcnhRNDI0eDhqQTRCQlJkdGw2TTBQa29QYWkxNVBKNVRSbk9wT2l6YWtmSlhpOWxvVDlhalhuZktteXdOd1Avb1A1R21Vbi93b1c5ekZ1eEpna1JIOVZ0Q3lWRmVUaUlybS8wN2xkbzR3cHUrMFZWQkhZUTNSU1VMaWxuWGxFWVpybzhST04yZlJ2QVIvWG5LMkN2RS9FRnhyNGxXbjZkdzhoV3hNdzFZRmE1SmdwZHRxM1haeVkzNndYNHhHR3Z2bzFZQlh0VitJQzhNTmxscjR6OUthTmhiQloxNGh6SXhVNjVIV3AwZmVjOWxlOS8zYTl2STQvQVhtalRkRG1zY3BmRkhZUFVnVzBCM0Vndkk0aW1GSHB0SGNaQ3NHRVBrcnRkQmtlelRZTlBnUTdyMndUWW82VXZSS0Mxdkw5dTZGYmpPMkw2cHFvUWhvOUNkZzlNL2wyZk4wanVjVlZjemc3ZGtqYUNWTlhnSGtSc3EzemlmQlBCamlMYmFPRTdZcFZmTU5rTGFYWjA0a0RUZ3RKZTVleld2Z0wwMzNydHVnd2pOb0NJN1llanlyZ0x1M01mcU55dndIbUdqaWprSlZIZjFNUDN6NDF1VndZY00wa0RZNWpjTDFWSC9sMUliZ1hHVEJ0a1ZYTXIvVkNpcXNYaGRwbSt5eHpDTW9TY3F1S1piV1V1Zis0SzRCbGloM2h0THp6dEtoYnBtNmIrNjc5aUlzM255NEhCY0orblByd0JzQjZVd3pPN25ZZkUrU3FEWjFqakRUZDRsYWlZY1pqd3NIckdiT201NER0aUNWbExpK2Irak9QODFFNjBpZEJWYzdYODVHYS81RERzSHFwWmcvald3Q3FHaEpZZWVwY21wcis4UW9NOFNrdXpSeWtKdkFBQUlBQkpSRUZVNllCMEx1UzBIM0lQMVV4dytYRWRWUXdKcGp1M1UwWFBzT0xZS1FJMS9IaHFmdGNyMUFXc3ZNMWdwRnRyRk9ENUNLMFlsQVF3TnprM2ZGcFBuaGF3UGJPeEExVjVKMXNKSXpmOENmelZLbkVOdE9FZ295N2ViMEhqcTJyQU1DMlI3dmN5cStJbmFld0lnbk11WGpLWTBOVXVNbjUwamNMZ2ZtOUNQTmUzR3I2WXRGbGY5dkN3cTNoSVhKV3ZpVllQQ3kxclpRTU9hak8vWlFJTFlUMm9qbTgxMmM5VzlUbk1EZTFUNTRXSXBoS3hVckZmQlZsQjhHMUtIRXFsYnljR296Mi82OXpWc3pJK2JkMjJWM0dCWXFGOThxTlpQVTVES1dMbFZ0VU1wanNMbnZMdWwxdUJsUnJHdDl4YWdyc0g5d09xNWJ6L2JtVnhoaUtoZlFwdFlLcTRxWDFqUmwxaVZSaDZoWlZ3RXQxZlhtSWRjVko4VHBIWE1qT2x0ZVlMOXZHR1Z4TFRyV1FUWVdtc2VzYUtRV2xFSFh5RFcraGFMZzdLU1ZvaStTUlNhTTF4VXRxWWVQTU1MV2liUWx0M3hsUTFJOG5RT2pkcnpDb2txNG9oQVdUdjRJeTBGaVI0a2pzQU90cFd6WXA1MCtqQzNTSXp2YXdWMXpaL1g3cUhhc2tobjBWWHNLODhjT2MrY0k4clhZandwSzREN1IvSVdtVVBadFA3Z3d2OXJjWUw5bGxibGpjL0h0MWEzckxWbCtNK3V3cUdCTitkaSsza3ZHY28vMzcxelZuTkwzS1FWdk9hWUhlckhwWmNOVUQ3VkxFVkt4Y3Zsa0pjeExZczhRV2poRHUzTWNCMjhrR0I2WDUySnZBS1pONStZb290d2h2Wkt6OW5KVEJjMXRuWTV5SzJYejdrMEgzTWVmZjlUUWVud2s1eXpJRWpWdTA5eU5ZcTdoVGJDNHB3VzJjblcvRnptQnZMT2xYTWdNcENpb3NZNUt2c3F3a0pXaEZQSCsydlluVTVnV0h1Rmt0SUdoTnRMajd3Z2Vod1RQN3puM3hVeVF5b05OekFYazRsTlpLRkhwWmYrcUxIY29rSVhxZ2RXYUtreEZaZURXKytMWWplbG50Qm82UjIxSURNY0pJcUozdDdUd3hmVVBiU2lTVWdRQ3pZVG83UUJOY1EwWjZ0Uks1R0pVQmFWUmR1NTdlV1IxVXhZMmw0aHZzMVpybWpONENYeVNYRVZXNG5SdzFWMkNNSjNFTG8xaE9TUmtldkdsMzRaS0xEeEdpK3BwYWEzL0NhRE11dFN0eXRmSW9qNS9oSENNdXBUL1Z0d3FDZmIxb0JOdVhyazA2ZlhBdml3SXc2dXhiNE44TTN5cGNuMzUzcjArVW5RSytYWDBVQ1JmaW44K0hkTk9ZamJ2NDE1QVMyWmpBYXowMTE1UnF5ejMxQk8rWHpKZHk1QVZtdWYvT3B3Vng4UWVweStVb09kUC9pb09TaWtZdmh1aFpxYTBEcXlDS2YrYStWejlncXlDcXEza1MzaTNWeTZzc1RQWk9HQzM2Q2MwcUZVODBDdzBwMFdtbU41TnNLU2lPbUNUV05pVG8vWkgrQzN0R2puT2JQVUQ4bzdCcXJZQ3VIUm1jMlFsNjlCeDc0Z3U1WEFHVFBtS2c3cTVEY3JRb3FzWk9FZVpiTGZReVdqd09LelVueWEyL0Y5R05oTXVXYk1FeUlkVWlWOUFHVVdXUEx0TzY1WHArY0RzTVVMVmVMSUxuU2JPcFBjb3dvRS9ZeWFlR3AxWG1DNW5Uejc2MGFCUk5rOVk1S24vQjJNVGZmK3RkUWlTc2NtYlhXTmdyWVNnUFFhVGNycmFBZ2NUd3ZMV0lGYWVuaWZISytvVzhIRTkwdWh5Wko1YWxaR0I5Q3NTQVRYSHE1N0kzeGRjeFNqaE50UGRXUzdiNmVVWmZJSHo5VGNVZlRhK0oyWDk5V0hHcm5hOUtCa2x4TTBMWXE1bkVHeUxkcXZUblhjYnhLZWhaZmZERDBIcWFCcGdxdStMRkJaZVo1bjZHckpIZFk4MmRXTVg0K2VaaDR1YVlMRTJFT2xSUjVWM1lFajdDUjVORExjM0duY1I1aEdsSERpS1NjWm1wYnNleldlMm95b3VrbEptRVZmYjFFY3FXVHd2cVcyaUJWSW5Ib3J4QlpTTzRFWGZ1ZFhJNUkyQWcrQWpCMXRrckVZa1pKSFlYc3ZmbzFBaU5yRldQQzBIVG5vdFdRcFFrdXA3WnppUjRzbkUzeGdOcnMxQS9VNzNGTmtLTytoR09DZFdhcENoWm9kQnI5WHlPUDdlbklmUnJ5ZzRndjhBaVN1NWVtWUNsNTRJbk00VDZHcWowVTFmZkpXTUJ4QXhIZFU4cURLWk1JMU5QTkVMM1B1b3o5YS84SmluaCsvN0hOVUpZVU54RFVrT3p3RFRqcktjcVZrd1dHYm82QkJNOXFtOWNQajk1ZU9Yek1NcFY4dlgrQ0xUNklES3dQUXNSZ28rNEhMRFErTHU2L1BpTkhmSGZZVGJNTTk1SzliRVpVRzg3bkhHajVxNzlQMERJRW5rNjc3djIzRXo2eUVEMU5YSGNQZmRINmRYYjJ6dzZmL3U5WjM0RGtyM1RkTm9XVGI5ZWRvUEdJeWRhT1dYMjY4SUhmekVIVzFxYWpQbU81T3ZrV0lpZlh5c2hLNllCOTZIRDV5eEF6Y1ppZGM0M2QzK2E4L05EZHpTd3NOWWFnY05Nc0FkWE8yQnZNbUVyRDhNS0ZqSlYwbFYwUnE0bnpwSElCRnd5dVdtOWE0RGFkT1lqUHMxL2hEL21ISVdaY1pTNTdwMnY4SHFkOTdJcWZOUCsrK0JQdmIzRTVaUi85Mlo4SzhuL3B2U0tDUGZLRGFRaVVrY2ZMSTM0THdqcnU1RkhYWmZCY0t4b1lmSGRyeFZDVW1ZZ2RmaEJNYklaNGJ4ZGE5dk5NSHBOL0xmMk14eGRiWDFTM1JYMThIU0s0Z280UVphUDArMjdZQ0VwSnZ3bEQ5MEgybXBTNXozVzJJK2xvcVdzcllSRGVObmp6ZHZ3Yi82eXhaVmV0SGpSY0k5Zm9ZSWZkZU9qVzQ0OC9kdXVHWEl4WVlxYzNicjN1OFZzM1hONGRKbktoUjI1a3Iyak9PL1hZdlVueG1KMi9DWllZVEhMbEtFKzdtcUh0QlN2M0pRM1lwZmZ4NlZzdDFTZDdNbWttZmhzdXkvUG0yOHF6WjlrOWdETUJTRVltb2JwdVppd3k0ZXpoR2VRVnRTakJsZTd0dmhKa3g3bFU4NFpFY1R1bys5UTR5bkM5N3A4SWFiUTY4ZmFQSHowVzdJUlZVM3RYOFFpbGU1ZDlyYnAxNXBWUTY3ZzZoN0NVTzF1alJMM0E3TlRWV0lCS0Zadis4YnRoUU5ZOFZqZDg2Y0RjcHpobnVpQlVydm9HWUM3TVdGK3JFNVp3T2RWMGpGME54QktMc21zR1lpZmIrcVlUZnFObE9iMXpRZE9ZWnVoQXpnK255Y1NzMW8zZExLWmMxS2daWFVqdUR2aHBoaC92OEZEenlQZUdHN2VPY2pQb0xMVU93YnV3VjJzRzY4emNNRmlKcWgrUHNHTEZGdFJXZUwrM0tia05qNWwyYnNOZlZLdGZVeEk1OHNoY1NNUm1UQUtNaFkweFdhYVYzSVhrSG9zanozWk1Ga3hyZ1crcE5UYUh6NXkxZ0plYTZRUmM4K0ZtQ0YrZTVCNlRESHdoS3hZZytHTjl3cFJOM0Jzek5JZjd4UXgvN2tvZTkyZzJwa3JPalpXN25aSkpYaFJ5TmQ2Z0RNOEJYOWNkc05lSEhzYnFycjU5Z2tIcGF1UDJXbzRkTEpyWVZFS2RtdThabVFvb2FTcEZuNi92RktHRmIrWmdKOWlwT1FkRGhDR2VyWHQ4dThHT2JHbDNRNFptNWhlT2szRHpab2J6S1RQYXhmcHBiYThuMlR1ZEJZKzlLY3pna3A2R1hZT04zcE9iSFpHcnRSL09PZ04zY09uZW5BRTI2OGVpVjl2NUdjZXF4ODVjRm52VndkdVdPQTZ3T1lidkQ5L3lJK1puY2JiVHpiUFZVUUp3Y1grdmlYMkN0VzEvNDFmZHN3L0Z1R3RLdS9jNVlRSEQwdVVmTk1QVnFmYzI0MWhEUkFUZUtkcXpwMURzQ0FRNjdMVWpVbXVhZERYNG1zNktMN0Y4Q1ZqbzVRZTF3VnRUenExc0hlVGFNR1lsZFhFaThkRFZ5RHREcmU2OHlKbGQ4Z0pKZlFDaSs1ZC80MGQvM0hBeXpGQmorTkU2YTdQRWJ5MTRQWmhObDh4VmR1Ky8vZWluR2Z1bUFFUk0wc1ExbzZQdU1MeEdXQXZKcURrVE1MSDJhODZpblQzK0NocGpmME1tTHYrWXVCZHZwOG00R2ZwZGlmcjlab2ozS2JIYW5VMlZDN1IrOTdIVFIzL05RTzJySG1Pdk0rK05wQmtJbnN6aWJHT2F1R0xMQWhsWTAzd0FzbTY4QW5jb3cvU2JBb0YzejZ6S1RkRzRtY3JTcE5XSVRNL0xQZDNPbEo4eVY0WEF3Z2UycWlKOUx1biszUStmeTJaUm93Z0JRb0FRSUFRSUFVS0FFQ0FFQ0FGQ2dCQWdCQWdCUW9BUUlBUUlBVUtBRUNBRUNBRkNnQkFnQkFnQlFvQVFJQVFJQVVLQUVDQUVDQUZDZ0JBZ0JBZ0JRb0FRSUFRSUFVS0FFQ0FFQ0FGQ2dCQWdCQWdCUW9BUUlBUUlBVUtBRUNBRUNBRkNnQkFnQkFpQjg0ekEzM25HZmZTN3puTURxVzNuRTRGdlo2ZHZickcvZWo0YlI2MDZ2d2pNdVhmM0hlY3o3QTNudDRuVXNuT0pRTk0vc0xvL2s0ZHVuOHNuUW8xS2hjQnljTFQ2SWgwOW1nb3Z5bFFYQks0RUh5cHVSRDZ0V1JmK2lBOUN3STVBWUN6d1QyYlI2Y1YyaUNpMmxnaTA1RGNudTJ5amxnd1NVNFNBRFFGOG15T0lYcVdEdDIwQVVWeE5FWmhYNXUyVkdmMEtWazJCSmJZcVJ1Q3krbGpxSXB2Rmo3MVdEQStScnkwQ1IweCtjSHVldnJKZTI2ZEVqTVVST0dEaUE1cEl3QWRBOStQcEZFTUkxQk9CSG5zNVlBeVN1MWRQSG9rclFpQ09RRjlKTHI3M2V6dWVUakdFUUQwUmFLa3ZxME55TitySkkzRkZDTVFSOEV6SnZSbFBweGhDb0o0SWFNbGRZdlRseVhvK0krSktJL0E1OTlYSC9wMnJWczRndWVzNkI0VUlnUm9pOEFWMnlrNlBCV09NSkxlR0Q0aFlzaU93N0o0ZEx2UmZJTW0xdzBPeHRVWGc4K3dseDVuemZXQ3VtcUdSdFZEYkIwYU1CUWkwc09Td0hMakRRcEpMdmdXU2tUb2pjSjJkT2s2YitadkV0RytCL0xsMWZtakVHeEE0NGxzVk9zemZtRXNyRVNRVE00TkFuLzJKNDdRZ3VZZGdlVUNydnpQejRDNDZvd3VNN1hLSjlYVnVhTWZOemtYSGh0cGZad1N1aWQyTVErWnZKRDlSKzNPdjBpN0hPajgyNGcxbUxuL3o3REpqZjhyQjZLcDNlR2huT1FsSHZSSG9zUHVjd2ZjOHdzMWM1NUovaDlBMTduS2dpeENvTFFKTXpjazRpL3J0czB0Sys5YVdkV0xzSWlNQXR5MWNDK3JDeWxrUXByZldGU2dVcUNNQ1Z5S2JHVDE1dEUyVE5qblc4WGtSVHhLQk5tTmJNc3gvVCtSdG4xNmdOSEdoY04wUU9HRlN5ZnFjWFE2TWgyVTZicUZ1ajRyNENTR0FKWWhOTTJJaGNDNWM4YjFrWmhLRkNZRWFJUkNzUUdpT0R2enRqbVFzYUVnb1ZFTUU0RXU0RjJacnlUM2JkNXcvWUs4SVI5TWRJVkFyQkJhWjJrb3UrZnBPZk9Ia2pleUZrQTBoMCtpWEVLZ0pBcXRoZDY3ZzZ1M1B1QS85S3hMY21qd2hZc09PUURQaXpyWG5vbGhDb0c0SWRPZ01wcm85RXVJbkZRSXVZOGVwTWxJbVFxQk9DR0JidWZ3dVJKM1lJbDRJZ1RFSTRLaFIyc3M0QmlOS3JpTUNlQ0ZDN002dEkyL0VFeUdRakFDY1l2SjAvZVJNbEVJSTFBNEJPTVcrVWp1bWlDRkNZQ3dDUGN0Q3hOaENsSUVRbURvQ0xUcHFkT3JQZ0JqSWd3Q2NZcnQ1eWxFWlFtQ3FDT0JicWZRQm5xaytBYW84SHdJNERTVDhSa1ErTWxTS0VKZ3dBbmg5TXZ4R3hJVHJwK3JPS1FKSHI2MjRZWERuVG1jSmJmbFVuRXRTY2ZPSS9MUVE2RlR0YTIxT2F3bHRubDRzbnBaUVRhTGVSdWdNajg5Nmo2NlZYU3ZjdWROWlFtdWJSc3JTTTJjL1YzYkxpTjQwRVZneFAxLzZJSHZVOHo5Q1VpSkxjT2RXcmRidDNKNFlUWm56enA0MVcyb3ZRYkgxUktEUnN1alR5MnhiY1h1VnZjYTVtczczYXFXbENJVUNtS0RoNHliVlhrLytzWVcrSnc2TzlCTjZwL3RPai9iOVdGQ2FoYWdIYlc3VjdwbG12WCsyaVlQRjVYZlFkYndsWktWbHllYzRmSGZ1SFd0S2VaRnpIczd5ajE0THhzbFBpK3oxam5PRjlyZEhNWnFOKzg5WkZ3VDZXbERGNDNVTzBqZ0M3TFNzT0dCM2J0VmZwVjRhOEs5UVJLOUZRMUJGbjF5aTcxMUdNWnFCKzZlLzVyc2hRWHN4VGh1R1B1d0x3NkZ0UFBCWWRoR1JSTXVlRzd0ejVTbGk5Z3dGWXh1Ly9TV1gyU1MzTFErTTVNZWVjc09oRVRvS3RXQzFWSHd5Q09ERUEvYUlUWEt2YTZsYThSLy9wWEVhTXBHV3ZTbHc1NDd0Qy9hUzZXTDdPRUNuYjVQY29UNmQ1TVR2cys3ZGRDUXBWMzBRV0x6eHlDZGhjTVoxcmpGQk8vTHR3aXVHRnJZMklKR1dOVGVPMW1mR0pOQ2VwMGpzZXgvNjRIYlhKcmw2Z2lZUDNtdHBMVnlrUmlvN1lRU3NrdHZVYWlnNDFQWmFtbFBxckxUczdSbENjdTBwNWNYYUpIZE9qeDJYZ3k5a0R5cnRRdVUxaHlpRkViQkttNTZnWGZXL0Q0bFBONlR3dmxwcGhhdVRkNFBZY1hneXBieGZtK1FhRTdSZUlNUURXbFFyRC9NSlVySkptekZCYXdjU2U4VTI4a2JadE5HSzVnbnVNWDB5VmdRU01oV010a211bnFBMVdDQ3gvTnZEZE0wZUFqWnBNeVpvbmNEOWVTbk5XcTJObGgyUlpSZ0xGcGVWUFhQZVdKdms2Z25hdkR4ZjJtVTdlV3VnY2xORXdDWnRsOVFSSHBBd1h5R3RwbEdSTmxyMnB1SGpKbW5NRDN2aHRMRTJ5WFZma3FXUFpOZWhRNklrSkxQMWE1TTJQVUdEcit0UXRLY2RQZXZXMWtvYkxWcys3a3Fkd09LdlJYS05DVm8vV0gyRzFiQmxaNUppYTQyQVRkb0dhamJXRGlabzhHSTlQNzRaTmxyMlVwY2d1WGZzU2VYRldpVDNtcHFOUVdBM1JGVmdlcWU4T29uU3hCQ3dTRnREcjRjTzVRTFRVSTZ0b3hpejBFcklmZ1RKM1VoSUt5M2FJcmx0dFlpTjVlZGpVUk1DK1dab243dnhsb0RWNWQ4cWpXY2lsQm9CaTdSZDFVcklDNFpVcDUvR0xMWFFTdURqQkpLN2xaQldXclJGY250cTVNRFhobjA3Q0liTGZwNHEzOFllWjIvd0N4NlFSemdQZ2dYTFdLUk5UOUNRdU83VDl3SzMvY2phTExRUzhuY2d1Y2NKYWFWRld5UlhUOUM2OG1VaWlQQmFqaW9iM3ZzY0wxaXdjWE5xN1J6VlVoR0ZnRVhhRHRTT1ZYejBmRXZraEZWb2Z1aFVsUTRITExUQ0dkU2RCOG5kVm5jVkJlS1N1NlMzR1hma2xMT2Q3MDNPYTlEZWZWOWJvOWtqWkwveHJ0Lzh5Vjl3dHlwcTQva2syL0RZalZ1dmUvenh4eDYrSVIrVGM1MmRQblFMTVVwTFdLUk5UOUNnai9ZRk5qZ2RZWDA4U0JaYUNZVWd1SlV2L21KV0dYVVo2d21hNDBuenB5bVZid0tyQ2RFbkc0NHo4TTBxV01xYkNia1F6WWNYY3J3bDQyTkw0WWR4eUV1cVVmNnl1TGkyZ2hKeGFWdldRdG9PTXZPZjI3WXF3bkZ4V3VGMGRjYzVNL2F1cS9oeUEzSEpQVklUTkF3aTZub2hUN1hlb1FQcDMrSkZyNDFzQzFZTGNSM3pqSFNsUmVCVFAvQUxBcmE3SC8zK1B3ckt6TDFYeEp4OVVHcUp1TFFaRTdRRGtkbi9kenkrMWppdGhESjhYM2t1ZVVtZ1o0K09TNjZlb09GamJPcDYyVjU4Wk93S1ZBR1dhWTU1cGxVMW90bUsvSVYvemlHSG5OT1ZDUUcrZy90RkthV2lKQis5ZmxuSHhLWHRraDc3ZXV6ZVUrSTZTbVdXeG1rbDhDcTRTa2dyTHpvdXVhNHkxbkhFemp0RXk1NW1hWGJCeFppNmpGZmNRRVBnMkpXdXcxaXVJTUxOWjVBa2tic1k4WHl4Nm5hb3FTZU1mZGlJaUV1Ym5xQTVMV2tNSHFUQ1BrN0xxTWdNOG9VSTI5dU5acDdpNFpqa0doTTBXRTM3b2dZbzMvVWNWYlZSNkZKdzZQcFF1ZzZUNkxnVEdHQ1M2cDdaZU15eEloUGZBZnNWc3pWeGFXdHBtVkpMdEgyR3FmVFlLMDRyb1FoVStMaW5uVkF5UzNSTWNxOW9LRmJsQUk2dXZaT0ZhSkQzdVQwSE0wRGZ6aGlNa1gzWTFIN0dIUFZjM0NKdHlFaW85ZGNqS01ha3paaWdPVW9mdVlHZ0xYbWdGNzdPRGhYOUdDMlZFZ2x3Ky9sT0pDN1A3V2ZDclBDN1lIR0FVNHRKcnA2Z3dUWU5KbXRRLzdvQmNSNUcxZEFKUElWdVpGU0xVb0ZhZnlrYVIvZmpFSUNNU0xlQ243VjNmek5VSmladDg4cGhocGNMQS84bk1tMklVdHo0aUY1N2lsNk1sa3FKQkhxZ3NSR0p5M1Biai9MQ1RFZFlUSEk3Mmt2V2xyQjA1YzRNZS8yamFuQjlkT1JFelU0QXNmQ0tyeWNtVWtJQ0FwM1FzK1NidEk3RE9XUFNaa3pRa0xZamNtTXU0aGRiZVBaVzlIcEU5NFFZclhCVitxNEZpZHZTdDdsRFB4Smw1dGF0OTJsaU1jblZFelRvNDhEODZVWEdJRjFjaEViVUFGVzZ6L05neCtZb3JlMDRzTmh1QzJMMEx3TUNYbmdxdE93Wm82a2dFNU0yNC9RaXVGMzNSYWJMY213ZFhYT01WbEoycmlxUGt4SkxpNDlLcm5ua1ZGUE9QYjNjK2hEamoyQjFjUnc0N1VrMHRqVFVha0tJTzl6dkdMd2N4THlvTVdrekptalFLdHVpOEpFNUNCdmtJc0VZclVpNnZFVStTVmxHVmZFYmxWeGpndVljQkw0d3RYVStPd09YQW8rQi9FMmtBSXR0dEZKT0xIbUJFeUI3cGtGNU5hN3BvdEptbmw0RW5ldEQza21ubUtLMGtvRG5iMFJvcDNGU3JzTHhVY2sxajV4cUJwT20rWEVLTTVrTDZWbzRHbTF2OFBWZnRYU1hUSTFTd2doZ2NtQTRmUnF0VjRXVGNSZVZObU9DeHRNMlJZR1V3MTJVVnF5eUlJTFA4eWJ3TUtPU2EwelFZT2Y2aXhLcjQ4UXVxUTJPTXd5RS95VDRUY3pwa1RzM0VadkVoTEE3OTRHSVg0RVhpMHJicXFFTVlXc0l5dGRITHN6cnlxTzBkRW80eExrS2V6ekM2U1hkUlNYWDNPN1dEb3lvb1hGQVhzWnE1VURVNTZRZVdFc3NUZTdjUkdoR0pMUWhJeXI1dXFGK1ZXUlUyb3dKbWdOL3JzalhUcmxBR3FXbEtva0VPRmZCMUQ2U1V1cHRSSExOQ1JyOHVSQTNmcWhZL3MyV2c4QU9FODZ4ZnJMa2tqczN6MU50TXNOZDJYK0ZoVVJVMmp6amVGbXMvbTd5SWgzdDRyVlEwRkZSV2pvbEhBSlhjbW9mVGlqM0xpSzV4cEZUL094UllTM01wNXQ2V3ZrYStMNHVmNDduV3JPSVNITG5KbU9UbkFLWHYxSnV6eG1yWGJwRVJOck1DUm8zNVE2UmM4R1FmbDNRRW9yUXN1VHdvOERWT05zd3NXeUdoSWprbWhNMDdGTitpVlBxbXZQWERLUjUxcjd2a29hdmU4MVpHR0g4a0RzM0k3QWlPMXorY2hmQ2t0MGREdi9CbmtGNVB1UjlPQkozbC9rQnlXbXVDSzNFSWdOSTdwM0UxTklTbW1HRjJqRTNEeXo3TXpPUG4ycWQ4K3I1Z0hhNUEyYitLOGxFMm1HRWt6TlNpa2JBZE9lR0hwek9ncTJ5dC9XZDB6WW1hSHpQOUJiU3hBSEpScDdFWUlSV1lqNElidjZKVVNMVldNSXdOS2NQZjdURkdmRFRTUDFUcldNRjAwVTBoYXV3NFhJSHpLWDE1RElIQld6cFpLcm5QQVZLVUE2SFQ1NXV4eHY3MU5QdjZtR1A5Mi84emxNeTdVUWZMNHVvWlc0TnpxZFR1WEZha21iMEY1Wmh1THRFTTVSdzMzanF2M3dWYXZuUVAzMUtLdFdWOEhyekVlK2luUUlxRjR1NmZFcnczUE11ZE81d0o1bm5qakZKVHM1RktTRUVZSU1GL29RNTl5T2hGSEhEQlR1NDlvTFUwQVFOaHU1OXA5RzZLeDkrbklLT3NkRFNpZUdRV0lpUUZZYVRFdSsrN0w1NkxUSFJrdENVRFZNV1EyaUM1c0RRM1hXZVpHK3lGRjMrOUJ0UHZ6RkZaVGgvOXhCazlnN1l6cHpWTzczMGpQdG0wUEdVQjNEbDUwOS8ybEloUmNVUnVJTG41eitEb1pxb0dibm0yQ2xlc1h6czFnMzEydldDVk5GQnJoWDJhaTlrQnh1bHc4RTRyWEM2Y2NlWFIvUk9XU01oT2ZqRDdJWXg5UC8rK0w3VVpEZndwdWd0dkR2NllrQzFxODhFRmpFbnA4K29OTFBpdisweDVyR3pGS0w3USt6dUI5aXJzT1BtL2lDK3d1TTRiM2ZaUSt6K0ppeTJnSVdGMXFteElYTEZ0WFViazVPTEhGNkZpSWoydnkzZDhtMThLOWwvOWw3NWliSVI1QXNSSVhONmJBVno3SjNPaVJydDRTRGRHbHNrbHFGdlR0Q1F1dnc5cDIvWmpPVnl2cDJ4angwNlgweTF0UFlmMzNqMnk2RHduNzFYSDhZSndlaC9welBudlI3Y0JvN0c1cjNERmYzSzJvRU94Z3RmK0pobTRNNWRTSFhRQitCcTYzV0w2c0RqL2NrNnZDWlcyZjBLZjA5UmVwb3hrdHhPekpxVVlKd0puSlNGeDhPKytsdjg5NjM1VnloNGNheHhETmczNGVmYVhZd3dkMFRNQXQ5NHAyZHJMV01RRWVuMHowQ2dGN2h6VDlLdXRnNURFelNEVXBsQjlLZTBIbUsvMm9aN3pIZTVTcDlwbTRWY2QrbFlNODRFSGxHZzBRcUc5cWpaTktLTVBlbUJvSW5lSHpCWTFQeDZnaXQ5TDdqaHEzZVJRVUJrb244K0FpM2ZuU3NNUzh1QUZvY3BNa0dMWnlnalpnakp0Wm5kaWJRWHVjeXE5Mit3UXpHSFFveE0wQkxxZW9BRk81S2R2bGlwU01nMlBob1QxZzJScTRuRzdvbFFmeGMvVEpwdDJvZ1FpYlA4ci9HdVA1TjBwUkk2Vzl1QkdrYXE1UllrT0pWcGFCd3ZheU5YVXR3QTNHRDRUMzkxdVJRZEtkdTRrOGZOMUl4TTBLeTFROTRrWTBNWnNHWWNHOWxsZ2NPTkcvWGJQUHNDWDQrRVF4QitSbjRwSThLL25lWC9UNkNKQ1plY0htZHRIaDRFNy9rUDNPTktGeUk4OWxxVUdtZHN6aUlaWEhDVFNhTU5kbERkZ1pKWEw1dXQ0YlBhVHlPSlhSWTRFVkZkbXZ5SktHQWRQRmk3NUllaWlHejhJRElIbWpaNERwRG9qY1RpczVYUVJCTVRMajVZNXJsOGR5NjJrM1BmZnhyeGIyZWJPT1hoU2V6UFVzOHZGWVVGNFloUSs3TmhJV2F5TlVRZHhwbkF5WFV1dTdwUERPV3FlWEwyRVNtUXk5dCtNbVRZZjN4ZHJteWhRdGI5K0xidUpIN0U3UDVmNUtySWZuMUR6bFlKZDI2RE94c0g2Yzd4c25wOWMxYWVXSXlQQkpuMHpieDQ5SzZjb1VGdlpaY3E2dzdQS0l0NGcxMzZMNXhCbWpFcVNrRGRvNXR0K2pmS25kdlpSUVJxNEQrNE1JU3MrU0g2SDBkZ0ZTTGl2UHMrTUd3aWxBSW9mYnhzbkZocE1YejhaRnNaeUszeWdWdWJvQmhKN21RbzdXZlZad0tQS05wVG1oSUc2ZTBSR2NjbGdWazVMQ0RvOXdaaGlPRTU3UHVGVWRjNEtoYzRIVGpkWFJHV0c1OG43STVGWWk1Rm5yRkV4bWJnaDRxeDQ3SFpkSVl1RjFTOEFSVElLMGFTRFoyWU10UVVlbnQwWm01VEhRWlpydVJ3WDJqcVVLM1NrSmY5YkVFSWFsL0phMHNiSnJvY2hRSUUwSy92K1RNVHZsVkFZcGtNajNHOGJIS213aWw0ck5uY1dyMHQxSW54Zy8vZ1FtaEhCTEw4MDJjQ0o1ZENsNUlPaUliWVNwYWNkVXpLVU9zSjlMTmRudnVxOEpUamdRUkZ0VllPSXVqSFFLQUZFUW0ya3lNa01UTXlSSUlUbWFCaG5RNVhwT2FSdDEvTkZlR0JNbmVhS2pTeVZDZ3gxUVN0cTZleER4UWJmVnhsRlBCK3RzZFptZU9udVdrVEhVWkVkbU05MUtSWnZmbHR1Ky8zejIyYURlSWljdHVQNkNBWVNqUHp5ZkNKTk01a1JDVy9UYkFpZFZ2NkN2cHF3YmlYb2lWUnVyN05GSTJOM1BlbHM3WHhiNVdaR3NtUzdwYVBjREluV3JzdHc5emtXZmR2WUVRRWpsMlZlREVDM0c2MVhtWkhScjlXdnJBamhQZkdZZE9jQ0poRHNESmUvMGQ1MVdYeVdJaHo0N3N0WDkvaUJ2UlQ3L29TOWlWcWFZc3lrdUllVDBkMVRmUXpYUUlLZU11L3kyV3NhMEt6R3dJRTlzdjAydnJ1WEwrUmZGcTBQcTY5amJGYWVSeUZOT2w5c1BKeW1veG1IajNPUXNCeURBMVBtY1RzWWQ3UmcrdVhEdTFaVXNaMnRjYkFTNmpHM1BCQUdUcDRnRHNwcVoydmJGYzlDWEw0OS9UYmpIWUtkMjV3eng4TGR5N1Y0T0tzSzdkcFduN1E4OWI5dkpWWmlIeWg4ZGF0MTMzMCsvNTlNYm5sTDU3cTZYQ29udzJVeWROVU1wd1dnWXVVanl0bTFWNVBydVdvbUNrRjRKcFhEcTcwTExUVk9DdmRUT25McHN6Sk8zcktyR095dFZRMzQyNW9iY0NoNmRKTTZwVlYxeGhXWmpPNWFaaGIySml0blpWVGJZNFlsRzltWlFIc2IvdGxLck1RNGExVDFtbFc5a0w1ZWQrOEhjU0UraGxtYm5Ld3lXT3NoeW81MXpmbzE5b2lYQVdjVzNWb2J1WWxOTUcwSG1mUmtKMUsyZ0hDVWlNV284Lzc1bkZBSXRUUHRNbVR6MWd2eHRZTWxXNlpJeFczNGliaU9oZ0hFRDhPVHozWWNabFZ1cGFxWmxVV1lqdkh4Rkh4WndhNFV5d1lJTGp6ZWtlbG9XOXMrVGNoSTBLbHoycmdYWFlYTFdJUDh6VUpBTjVSSmROdUYxTUZxZ29JaDU1OHNHa3J3WTRyT2Ivc1ZXVWhIdW14UEMxYjlueHFZeU9TbTJZLzY2b0ZpcEFSWWFjeU83R2w3OC9GMHpZWCtBZFpYLzZxQ0Rvb251eXlCMkdRQTBabEZ1S1IyZEdMTkI3RG16S1lRLzFzcU5aUVFrWkVrYnJxVUxhSkI1cHdHUjdCREp6eXJyK2o4emR4dTY5dnB4YnFnby9NWDA2RmhYZ3o0TmczM3E5dmxkNkF0dllJRktNTmUwZ1p6SDQvbTN1Zm9EaFFEVWYzM1VIVXZ5dFdVVTFLbDc0L2x5OCtyT25HOFZGNlE5OU9MWFFDUHRTRFRjc0ZtTC90NXcwc3hQWjYycUtwODBHYVpPOUlYY2FhRVRyM3hTQUJiZ1krU2I3aXV4VDBFZEJOOFdnYWs5akliMld4M3BGNEVxWi9rczhicEU5bW1veDN3RWZtSlRSNHJIWjhwZ083NFdDMzlEYWdkMnlVUWhRWG96aGpBQUFnQUVsRVFWUkdyR3hnc1BUWHZpTUl1OHJYTXhSMncxSyt3YlFVSnV0TXBHdVlXNXhQU0V4bVhWZEIrMXJnSTNNUFFpODg5bmtKN0liT1h1bXNRVldhT3ZjTGEzbHJRT2VTcXcrZ3lZVTI2R2Rhb24yN1lWNnE1cncxbmROeTZOZDhwRklYVjNhYjZtNXFBWEJodUR4U3NnSEozZmV6SW5RYklXODdaY24wMlRBb2NTa0xyb2EzSjROWmZ6RTFsbDBUWThVR2l2ZDlXdHBCZ21NSUVYMVpac3Rhd3puUFA5QmRYN1QwQ0NLVCsybVVoaFgzem1VZmxTRUJhejRMQjZJUnl4VllpTEJKcGY4Q1ZiMDE4eXhTUTZRbHRPTjdjTjFEa2VoS1hRd2pncXZibzNWZGhrSWFBVWlJOFNUNEFmTmxUWjUxSGRsRGVHaktaazFmR3J6dis3azlFYnJLVlZiWlYwY0tGZ2czV3EvTlQ3NHY3VncrdDRDeWtFYzlxay9YdzZUbTd1bmU3Zngxbk9PU2ZBM3lwdGsrN2lXVE13Y3pmckpoVEYrVUZLYXZHYVVnQWJqNEN0dzIzcUdWaG1SNkV1TnpIb2toM00vM1E2ZUg0d3NrNWVoS1FoZ2d1SDIrR0ZodFBlbHo2UHYyaEx1V1JPRkN4L05uZk50RWdNdU1mSmZhako5c1dDeitibWF0RTZianJpaHo4ckF3MXB2cldTbWt5SSt1TFJsYnNaNnNtNEtHeUlJUlF2ek9zUytKWHRwK3lTL1pEZmJxcnB5NWZEaVVxamd0MlF1U3J6R0VvTjQwRzhzVkFIdURHVE9OTUhjcjV6QlNCNzdsczhLK0tMYTh0ZmFxNEwwbHUvcGNxNUFYQnJiOFB1ZnY1RVgwdUdOWUJidjhqbis4d084YUp5OE5HWVQ1Q3JrV2ZGeU0vMS84aWZlM3VKeXlqLzdzVHdYUlgzcXZpR0NQL0tDUmJ3ckJWYkNSdzQwWmpPU2RWMkVlZGV4Y0x6QjlHdEhtSndObnpOTGdiSHRFdHZGSkIreHJrWWwvMTU1L2VrcWNLTVlMUWFKdjQyZitkTHZON2JaaFNMSHdESFQ1WXV1THF2OE0rRndodU5hbWlrOFhYT1RRTlFzdSs3RFQrRGlzenlZK1d6R3N5SjAwWUg4VFI5ZDkyajA3TG9iUkVqL3ovSGZkYitEbjhQNng4K3VxdmU5bUx4emlMUFBYWXNQNTJlWjF0YUdzV0dYbnFuUkhuRFgvT003Umwzcy9sc1RCK28vallQMGlIL1VvQWFRVFNHNmU2ZFYzTXB4ZEx5YnFMZzdEcjZqM0xYbnNGSWIwQzRYSmY0R2YyTThGdGpIQWR3TDJKRzZOUGp2MTR4OWdaN2xna0pUb2QrSUlkQ0M1ZC9MVStzV2ZjYi91RTd6Z3lyTm43OGhESUUyWmhmZDRaMi8rWkpxY1kvTDhnemVlZm15VDU1bjczck4vcWZQeXI2Zjhrb2ovc3ZlTjRsZW5VYWplQ0F3Z3VUZnJ6U0p4UndoWUVIQWh1VnVXZUlvaUJHcU5BRndEd2xGVWF5YUpPVUlnaGdCZjJhTTVkUXdXaXFnOUFud0oydHcxWEh1R2lVRkNRQ0RBRjMvVlMxcUVDU0V3TXdqd3hkOWcvOG5NOEV5TUVnTGkyR2J5d0pNZ3pDQUNSOUM1b1YzRE05Z0dZdmtpSW5BQXlhV0ZpSXY0NUdlOXpUMUk3dGFzTjRMNHY0QUk4TVhmL1F2WWJtcnlyQ1BBRjM4UFo3MFJ4UDhGUkFDQ20rT05pQXNJRkRXNVhnamc3UmI1ZG1HOUdDTnVDSUdSQ1BCWE02Yi8vdkZJRmltUkVMQWdnTk9LMVBrdmxtU0tJZ1JxaWdBL3JlUk9UWGtqdGdpQlpBUnd5bEp3Y0VKeUhrb2hCT3FIUUJ1U3UxYy90b2dqUW1BTUFrMUk3dHFZUEpSTUNOUVBnU0VrdDM1Y0VVZUV3RGdFK3JTdmZCeEVsRjVMQkR6YVYxN0w1MEpNalVNQXhvTDhydG00ckpST0NOUUhBWDVnT2UwcnI4L3pJRTdTSXNBUExMK1pOalBsSXdScWd3QS9mSHFyTnR3UUk0UkFXZ1Q0NHU5KzJzeVVqeENvRFFLcmtOek4ybkJEakJBQ2FSRTRJbmR1V3Fnb1g2MFFPQ0YzYnEyZUJ6R1RGb0ZPdnZQSzA1S25mSVJBUlFpMGFIZHVSY2dTMldvUndBUnRvOW9haURvaFVBRUMvUDNKblFyb0VrbENvRm9FK1B1VHREdTNXb3lKZWhVSThQY25xNkJMTkFtQmFoSEE0Yms1UGo5WkxVOUVuUkFZandDVzBOVG5HTWZucGh5RVFGMFE2TkpoQzNWNUZNUkhKZ1NHNU03TmhCZGxyZ3NDZlRwc29TNlBndmpJaElCSEgvSExoQmRscmdrQy9QdVR0TWV4SmcrRDJNaUFBTDQvU1o5Q3k0QVhaYTBMQW5pWGg1eGlkWGtZeEVjR0JMQVE4VktHN0pTVkVLZ0pBdTM0aTcvL05XTDNQaDI1cndubnhNYkZSdUFnK3VMdloxM0cvdldoQm9YZmY0eGtWd05Db1hvZzBHRnMyK1RrUWZnYU1HbmJEK0lhSHhmM1gyOW1vVEFoVUFNRVhIWm1jc0YzanZIcmJxQjFmNTJkL2JQRHAvODduUXh0Z2tUaEdpQ0FmZVdoajVzTTJJY09sNzhNMGZXL3ZYNk4zUmNhK1lmdWtyMVFnNmRGTEdnRW9HUE5NOFhtMmEvd3RCK0c2TjdHNzdKM3V1Ym5IZXo2di9TZkVLZ0hBdmhHQkJkUmVSMEV2dDBoWTJmUXNwOW5Id2xTcnBIVFYySkV2N1ZBb0JsK2xjZmI4Ym55VDhsYmR1OUpKaHV1RE5FdklWQUhCRHFoQ2RxS2Vqc0N6ckw3em1WREg1L3MxWUZkNHVIQ0kvQ1BIejBXR0xpaFE1K3ZxT1Uwcm5Sdjk1VWdPODZsbXhjZU13S2dCZ2hBTUYvZ2JPQjN3MkNudmF0dW9IVHZzcTlWdDg2OEVtb2RSeUZDWU5JSXJFS2xycUZTbkVES2YrVFZQSlloNXpweW1HbHpJZWVaeWtZQlFtQ2lDSFFobGp1b3NSbmU0bml5cmJuQTRwcFF5MEhNTWprWE5EWVVtaG9Dc0FYRU9lV3Q4S2VxaDRlYW8ydklZdHc2eXMyZ3MxQ0lFSmcwQWx6bkhnc3pkOGVzMnBUY2hzZE1PN2ZoTDZxWnVTbE1DRXdjQVN4QThPMEtUNFNOQmNlMEZoeVlDOGJiRW1RdFRQd2hVWVVXQkRELzRxdGpBL2I2VUtJeFErTnVCM045YllVK21SYUNpbTZtaEVEclZhajRHanMxTFZuSFdkM1Y3RHpCb0hTMWNYdk4zTjZnYzFHSUVKZ3NBayt5ZHpvTEhudFR1RlpUUEZ2MytDbVBPekpEZDBPRzZKY1FtQ1lDUFhibXN1aUc4U1U5RGJ1R0pZcWUzT3dJUmx2NzArU1c2aVlFSkFLTlgzWFBQaVJ2MUsrbkhMb0Q3QlZiaE5MZDh0UG1RL3ZQVlg0S0VBTDFRS0FwWjJ6UGlia2JMTjM3bTRLenpoL1hnMEhpZ2hDd0luRDF6Sit5cmZnU3k1ZUFoVVh4b0RaNHJlVW9raENZTWdJZHNjaTc1QVdTK2dCRTl5Ly94by8rdU9Ga21ES0RWRDBoWUVYZ0tydjMzMzcwMDR4OVU1Q0tTWnE0OXF5NUtaSVFxQTBDL0JVMHh2Nkc1R2Y1eDhTOWVEdE54dEV2SVZCSEJINzNzZE5IZjgxZzdLc2VZNjh6NzQwa0NoSUNoQUFoUUFnUUFvUUFJVUFJRUFLRUFDRkFDQkFDaEFBaFFBZ1FBb1FBSVVBSUVBS0VBQ0ZBQ0JBQ2hBQWhRQWdRQW9RQUlVQUlFQUtFQUNGQUNCQUNoQUFoUUFnUUFvUUFJVUFJRUFLRUFDRkFDQkFDaEFBaFFBZ1FBb1FBSVVBSUVBS0VBQ0ZBQ0JBQ2hBQWhNTE1JTFA5T21QVkc1RDZjU25lRVFEMFFXSG92am16OEY1b1hjZitIK3A1Q2hFQXRFWmp6eEFGTTN5cVplN3ZMNzArUDVUMzlFZ0wxUkFDSDVJcnIyM3oybGx6MjEvNVM0L2RheGpkLzY4azNjWFhCRWJqR1h2Z3Q1L2NHRU40ZGdjU0EvU0wvWGZBaTM1QVFpZlNQRUtnTkFwMzcvTERuaFZid3NkVG4yQ3Q4MXE2UjBxM05NeUpHSkFLZmMxOTlISVNYbUg4MExqK2VIRWZ0TDd2QjhmcjRXQnFkbVN2eG90K2FJUEFGZHFwbVlKZmw1M2dPeEdjcFB5OC9hWUlQVk42cENidkVCaUhnSTdEc25oMHU5SU1QcVovc0JyRHdiMDd1T3A3K3Z2cUtPSGlmUUNNRWFvUEE1OWxMampQSGJndUdXb2VTTHlqZEZ4WWh2T3A2U0lVb1FBalVBWUVXVE52bEZ2c0s1NldoNTJGYzZiWk9OeldISFNYVU9vNUNoTURVRUxqT1RoMm5IWHhJZmU1bHpjY1FvbXQrOXN6OGZyWE9SU0ZDWUVvSUhERVlzQjFJS2E5LzVVODFGL09JODAwSVArNW9UNmRSaUJDWU9nSjk5aWY0akMra2xCc0QxMkh5cW12QXVBV3NydFV0RmFRQUlUQjFCQmE0QzhHQmtBcWRHNUxjdDJLN3dxWm1zTDJqd3hRaUJLYU53RFhHOWgxbktMeTNZV3ZCNGViQ2h1YVByQVdOQllXbWo4Q1JVTGFYR1JNV3JqbERjdzRndWRxZjY1enNUNTliNG9BUWtBaDBtSENFdmVjUmJ1WTZqdmFLT1EzM0hrUjNTMFR6ZndQRGNsQ1JGQ0FFcG9RQVk0WWpMQ1NlVjlqV0NXTnlOZGhadURzbERxbGFRc0NDd0FyanJnVjlIZXlvOE9DdWN4VktWMFpjRVVzVktwVUNoTUJVRWJqQzJFMlRnY3ZLb1h1Tjd4WHJNM1l2U082RThwbGxLRXdJVEI2QnRtbkpvdnE1czhDYVhmWjRpTHNYUGlLNG1tZHJrK2VPYWlRRWtoQ0FKUnVXeU40Yi9Ld252c1FPZzFmUTVqeGw4Q2FSb25oQ1lJSUlZQWtpVUxKQnBmUCsxdkxQQkZPek9SZWkrL2YrNFgveURDZkRCTm1qcWdpQkJBU0NGUWdqdGNmKy9wLzd6VDQ3Mi9iaitDU05YN1E3MThDSWdsTkhBRnNaNVF4TThzSmZRWU04Nzh2NzM0WFd4UUVNaC9LZWZnbUJHaUN3eVB4OXVTWXJ5Ky94SHZvbFExRG4zdU9kdmNXNE4vTlNtQkNZRGdLckVYZnVkTGlnV2dtQnJBZzBJKzdjck9VcFB5RXdIUVE2NGMzajAyR0NhaVVFTWlPQTJkZHg1a0pVZ0JDWU5nTFlWaTVlaFpnMkgxUS9JWkFOQVp4a2c5Y242U0lFWmcwQnZCQmhiTWlkTmU2SjM0dUxBSnhpdEIzaDRqNytHVzQ1bkdLMDYzYUduOS9GWmIxSEN4RVg5K0hQZE10YmpLM1BkQU9JK1F1S0FKeGl1eGUwNmRUc1dVWmdEcEs3TjhzTklONHZLQUo4NyszYUJXMDdOYnM2QkpaUHE5NWFpTmNuSTI5RVZOZWEwWlNQWGpzNm5WSm5DWUY1Zm14U3BSZmN1VFZaUXV1UWM2N1NKejFaNG0xVEh5NDljL1p6cFZmZnJNc1NXaU4wNk1ObnZVZkpoaW45WVUrUTRJbHhwdGVjZC9aczZERGJVdmlBTzdjZVMyZ3JadHNlWkk4YW42Y29wYUZFcENvRW5qVFBCcGVWZU9yUURzZnBuZTQ3dlhSYkRCcXQxQW9MN3R5Smo5Slc5aTZ6YmRscW5LdnpHdnp0cW5zSzFCaUJPYy95WnUyQ2Nmak1Jajl2NWtxNnJiUVBwbmQwWVlKbUh1MDhFWVNzN0hYUGROMTlma0pKSzNUWW1VNmtVSzBRV0JyWTNnbGZOQVJWUE0ybFZPdGRuMHZ2b3VXN2MrOU1HQWs3ZTMwdHFLS1RPZ2MxbVRsT0dKMlpxcTd4MjE5eXJhY1p0TVVoNHFJdGkrSncyMGI0MUVWYks1LyttdStHTk83WmtpeHgvRHVURzViNHlxS1MyR3NZSGFndkRJZTIwVzByWTRjSUYwS2dqN01OK2phZE85UUhJWno0d3VpT093Y1U3NkN6UjlKTExuYm5UdlRrbWtUMnJtczJWbndvTGsyMlN4VjZnaGUxOEhzZit1QjIxeWE1ZW9LMnpId3pzS1cxc0IydHhSdVBmQkltUUZxZEMzZnVSRlZiSW52R0JPM0l0KzZ2R0ZyWTNsYUtyUU1DTnNtZDAxcm5jdkJac29FeEEwOWtPNFBrZGlHNTI0bUVxa213c3RmVWc0bm5MMGRmOHcvL3I0WUhvbG9hQWpiSk5TWm92VUNJQjJrVzFheWlZZWQwQ01tMXAxUVhhMlZQVDlDdU1sK0lyMDNlWFZkZG04OHhaWnZrNmdsYVEzdzlCODNubnprZGUxbEZ3MTVxRUQ4T3o1Nnh4RmdiZThZRXJSMUk3QldiL1ZRaUcwU3FIQVJza3FzbmFQT0JtZXU0NnVUN0VkWGFSQ01oTzN3YXhqSmRRcWFTbzIzc0dSTzBUdURFdmxTVHhiMlNXMy91eU5razEzMUpOdk5JNnA5VTU5SFlSRU5TQ3Y4dXcxaXdySUNFTTVWOVoyUHZranJ6QVN6NXc4cnE1UHRVMlMyOUVQUXNrbXRNMFByQlFoZXNocTN4Y05oRXcxNEtIemVadkRWcFkwOVAwT0EzT3hUTXRtT0hvOXJiUUxIVFJjQWl1ZGZVYkF3Q3V5SFl3MFBmR2MrblRUVHNwYmg3VlNsMmU1YnlZMjNzRGRUbWlYWXdRWE82WkMyVWozMEZGQzJTMjFiTG4xanBPaFoxSWxEcURPMFNKUGRPQmEwWlNkSWl1UTI5cWoyVXk0VERuSGJNNTI2OEphaCsrYmRHOGtHSnBTQmdrZHplODVJeVBtenFqNkRRa2ZzeU12blhJaG9KbVk4Z3VSc0phWlZGVzlpN3FvY1NUdzRDL1h4MnpOdlk0K3dOUHU4SEUzZFZWNFpaalFsYkpGZFAwTHJ5dlFXSThOcjRSbGhFSTZIUUNTUjNLeUd0c21nTGUzcUNoc1IxdjJZdldIekp4a2ZEZTUvakJhc2FicG9CS2h0NXloMURJQzY1UzNxRGFrZE9WdHFwWGhxemlFYXNQaitpQThrOVRraXJMTnJDM29IYWQ0eXZyMjJKbW1IYmg3Nk1tWktkYXhpbyt2N0FoSHBHZGZQditJdWYrc0FiOWNhUWxQUXZWTGEzc3RPSGJqMysrT08zYnJoS3dRM1pqVnV2ZS95V3ExeFNjY25WRXpUSGt3Tm5VeXJma1FCYVJDTWh2d2ZKM1U1SXF5emF3cDZlb0dGVTJSYzE0M1g2OVJ3c25Hemd3OFcrN1lGSndXWXlCZjZCd2lrNHM1TVpxbUZLVTJEay85c04rR3NGY2FyUHh5WDNTRTNRb0g3VTlVS0tCbHBFSTZFVUo1dVFWRjEwbkwxbExhUnQxZEpVcnVzWWw5NmhnNDYreGVPdnllV2JXQ1lld1NlbmtVOTFXL05kNU1qclAvRUJYMUMvNVdkL0NyaUs2OCs3QXJoSFBpR0JpVXV1bnFEaHUwL3FlbGtXR1BFYkY0MkV6UHlZRU9OVmhJUmNaVWZIMlRNbWFBZXFwYm5zbUJXWUhWakxPT1k4cjBvYnk5cUF1VS85Sko3QnhGMkNWbDdxSERuQUExRlN5aG5sZzlYOS82Qlpqa3V1cTh3OG5PYnhqcWY0OVRSTHRYOHFMaHE2bmxDSTd5dFBvOFJEaFFyZnhObTdwSWYxSHJzbm12clVVUzQ3NWpMZTVnTmN3a3JvU3Y5YUVzZFF1K3RKYVJRZklOQ1BpZ2hXcjE2UUNwam5pVW11TVVIRGFSNzdnZzZVNzdvSWpQNFhGNDJFL0h4ZnViSzBFL0tVSHgxblQwL1FzS1hvSzM2TkI2bE0raWgzN1hWdUIvanp2ZUU0alFySnZSMGxRUGNSQkR3VzhmRmNZL2ROd1kxTDdoVTlNVjQxM0xrN0VjSzIyN2hvMkhJaGp0dDZ0bGVPRTdLWEZCMW5yNldaVUFONG55bDNkb1o2bjl2alNzQTNxUWJqdW5rN2wwR1NnWnR6a0pYUHNlNkUyakdNZUtOaU9sZFAwR0N3QlpNMVNKb3Y3a3ZvQ1pIclRIZUV1R2lFcXRZM1I2QlJoYVdYa1Qxamd1YW9VY1VkeWRsbklxM0hiYkQ4NERpZHdKM21qdE9vc0trMWFCb1ZDaGtJOERuV3JuRVBXK3dqNXEzRld1am9ZYnd0ditUUWxXdjZmTDlCOU5wVEJGTkxMaDVkcEVNcEdvVUNHZGtMdnUzT3EwUVgzeFZWb3cwYkltRC8xNCsyM2pCN1hKK0VuS2paQ2ZEWWp0UUl5Vmt1ZkFxZmoybkpBaHg5ZjBEVHdNUjBycDZnWWZnTEJzNWVNQTQ2QzgvZWlsNlBiQ3BpcVNXM0I3WTJWTEh5QWhuWk15Wm9ZSDFIOElGcDF2RUlobjRrMnZ4YnQ5NFhaSWVXMk9kQnpDVEdhRlJ2Q3RQVGdNbVorWUYvWFp1dDRQbzVZMnozR3hHVlhQT3dvcWFjdFhqakxEZWZWbXJKYllHdExiL01CUC9IMkRQT29JS2ZibCt3Y2ptM1BvVENGeFFXeDFHQWZvL3Fqd21pTUNOVnRTRWlCcXRMY1Fzc0tybkdCTTA1Q0h4aGF0TzFRY29XakltR0xST1BBMWNqTlZ0U3VXTHhNZmFNQ1JvVTVyYWdmcFRiNlhFcDBLVHlONUZaMUZXRmtaOVkzMHdtd0tEVTc3YmlpTEI0WDQ5S2J0ZFlJV2dHQ00rUDB5SUJOakhSU01BTSthU2dKT1NvSkRyS25ua0dGWFN1UDhSMzBnMHZGZ2FsYStGb25FYUZDYmR1S1U5UkpnS2QwSW1KVDU3NmVzWE1FWlZjWTRJR085ZGZsRmdkOXl3Q2dsSFJNT3N4dy95TkNMMEdZS1pVR282eVowelFIS1J0aXNyekR3YkRvSitmak5Pb01PRnVWOXJRODBEY00vMm1jMjdFcjhCYkdKVmNjNk5VTzNBQURJMEQ4a2FoRWhXTnBMemNCYUEyUnlSbEtqOCt5dDZxMFh0Z2U0b0tyK2RmbFpiYXVzOVJlMkF0bWY5Mi90NlJUUFNjcFlUZHVjUEFVeEJxWkVSeXpRa2EvTGw0QnNKanRCMHFrM1FURlkya2ZIemU2QzgzSmVXb0pEN0tuakZCNDZhM3FMT2RhcG5ieXQ0Z2NKY0k1MWgvaE9UQ2hEdTBVcUJJaFFEZjJiSWg3eFpQYldoR0pOYzRySWlmUFNxc2hmbTBrNWFvYU1pYW83OVFPc3pXaTZMNVNyNlBzdWNaaHdSajlYZVRWOWNKT3hHemNERHdiUUIvT3V1T0tFbnUzQkhnQkVuOEF6ZzdRWGpaZThQLzM5N1ZoVWh5VmVHYTdQWjJOcnN6TzY0ZzZrc1BNUklTaUxYWm1FQkU2REV4aUNqMGtHUkZFNlFIL01FOGhKNFlYM3lRYnNUM0hqRUtTcVFIUlVHaTlxQkVqUWc5K0tENDFBUEcrSkNIR1lRSTVxV1g3aVZrVjVQeU8xWDNyNnFydW11cXVxZXJxMDQ5ZE4vL2U4NTNUOTE3N3JrL0ZaWWhJTG5tQk0yNjRHbHNUUzM5WVNYb3NLQm82QmkvcXdLeXhDNEJmOFI4ZlFIeXpBbWFaZlhjZnJEc205Q2VqSnlPWitnRDV1dFdlZEtRd3ViYzZjQ2VoWWpJanJZZnZqbXI0dTlRRzZiMVlkV2JtVlhwUHVRNEQ3cjQvVGpwMmlEcm5UZ0paNXNtUU40NW4ySHV5UFdkb1d1dUV6NXRyODl0a2k1d2JzS0xDUlZPTDFNbXJDdjMyZW9RRWNHa3Y1MDA1ejNmZW83L2N4OVdsemFnZS9jaDZ4elJMbXhlM0kyTzFURmRrSFZkZTAvTEZTQ3Zia3pRYUR2NE51aHdyN2xPU0UvRnRYV1ZiTEpTM0xZUlhRak11YWFhRXAyd3lERVZaYzR0MWU0ZUI2SjA3Wi92aHhDOStLMXJzbE5kODBZOG1mU0lHcmNScjh1OTlzWG4wSmZlL09zL3JzbmNrZitvTTZhMUlyS0lFMGVNa3pkUTUwS29zRlhTNmMrbDZIS3RNNjVBL3YxdEczMXVyeFZOSU15NUMzaHRvK25KWkF4RVNjeUVMdCtTd21rUUNzRVdqeHkrZkJNMEM0cnVudldrODVpUkpkSkprMEh4N0VjbThpSXdoNG5aT1VjWHRQYVQ0WGVqWThkalFzanpUZENnNk42eVNyVWJJU2l0dnZMSThLSDE4U0tESWJocStCQ0k3ZmVkMWtxNHplOXZWMitBYUZoVzlrVGVOKzE3WWhRY3JLZ0kvcG8wNTE1UUV6V1Q3WXB6SjQ1WVBuRDFUcVY0TmMwVk55UWRETCtuNHN5YzQrNFZaNGl6bVkvU2FjMXBrdXN1UkV4TE5GNkRHVkt1RFkyOWhHdjIxSmRybkx4eVlONjU1dHhURFNQOTgxWEhxVHFqR0JMMnZIUGpSODdkMkhGenF4c3l3Rm1sM3pqREtyYnExZFZzNEJ2T25ZYXU5cSt3MThaa3VraHU5RzNYaWQ5U043d1RHTU9pWTA3UUVMdjZwZUZudHNaU3BReWdEV3hxNHBpc3JNcGJoMnY2dEZkZk8rTVhaMXdTN0dWNnJYclh5K1BaUCtjNHZ6NjBYbysxaXZpWFIwYS9SQW12VmU4NUhDOEkxb3UzRHEzM2pyYjZjdVY3eFhuV0dpajFET3J2ZGtpdVlnYlJFTGxKckQ4ZlUxS00yMlRuaUJndFJQaG1SeWV1cTB3YnU2UUEwT1crNFhhVGllWFc1ZHgxWWlyWXVENUZDWjVJZmNqK0tXZTBnNEs2bXcwNWEyNytqMDVieXRrYTdFQzdFMGtwVXFRMDU5THd2QmVIY2VNMjJUakpFNmE1QkhKaWpnRVJOVHhPUTBOVjhnUXpVMkNvaU1qbUMrNzVKbWkrS08wcDFZU3lGTlF0ZEpLWXJoWGI2MFRPdkZ0MWJybDVTdll4S2IyZXh5SWxBbjUrWEFTa09SZHZlVHo3YVdDQ05pY1lLeUFub0UrZnNLYk9Iakk0cmhVS2ptUm1wc0FFTFp5Q3k0N1l0bXQxVWhxZ0s0SmxHZ2U5K2ZCNWtsbDFZQXBiU2xOMzYrRThMRHkwOU54N29wNHdyWXJvcGM0TmY2L2V3SCtjSHNhcXBCT29tQmoxUUk0d2VjVE1FVWhXcHZVdVdDaGd4Nklua1puSnVDVFlLeVhzRjJLR0VkMTlldElSbG01NkdOYnZIdlJTVmFVNXQwbnZ3cEhTbTlDOVRDOW1LVk04anZhT2VLUk5LOGhYeGUzYlZ1eHQ2blNEa1dIK1Rycm1DU3N5Skt3TGFsSlZSSGQ0VVU5NzNTc2Nldk5tU0RXVGc4N0x6blJTc3FhamJETDlWQlJqUzU2Y2svWWszZDBXcXU2cmhxbW1ISWNtOGJIWXVJb1QrVWhWS1VoZzIrM2JzSjM4Q0ZuM2c3SGpmdU0yMmZISTJZWFlvQ2JWMk51a3poWTk3WVpIVTEzTFYzd2k2ekUwN1ZWYlMxTlBIM0NQWDRsT3FmY3FOTVdjbyt4T1V0WHVHeWpycWNZaFhWWG1YT2Vwd2NPZit5T0lyWkU1OXlsc0o2ZWJPYTVFSkRLQ3c2MitSb0taT05GR3N0dEpXRjVqRHhseGtwNys4UFJWZitiNVkvMzJZc2dKcXBBemY2c3JPdmhZaFk4bHdtdjJZUkZZRjUzSU9iZS9zZVVNRFVOSXVuZGpyTTVsRGlBSktkTjJjcG9XeE1CRjN5WTdUNjZKbUFURHUwR1NPOUJYMU9TcHJVWmNJODAwcDc0a09Eb2xDdDRWc2F2S0ZaMThRZ3lJYllsb09IZkllWW5VRDJBaHRCRFlnVks5RzZMMGZQeVJpR3dPM0w2bEdtc3JkeVZLN1pncEhuU3BtTE9kb3NpeXE3TjNsTHpXOUpnZXU5UVYyV0ZQeUVHcjFJY2kvbXk2aWIrdFM1THZXWk1FRmFkRGhMekNEclE1Z1paaVJaRTU5eGx2SWpJd0dpRWFCSDJiYkhTYTlER2t1ampIS2NxNTNiV1RhSE5KRWczUnVDUTRraElRS20wdEpYZlhYR1RLYVJGNFdWV25VQlBPOWpaeVhWTHZNRnl0YWNVVUpwN011ZUx1SU9BeXZaczdwUWthdE1kMHBzdVZYNkVKdFY2SW9TV0dKaFJvOVRnVHRLYTB2T0pZV1l3dU9sQ0Q2UVhMUWlrZ003Um5Ddm9nZGVkOXBhSlhsTXZNV0ZBM2lldE5qM2ZNRUtUMU14cU10ZE41Nit1Z0paYU5McHBTeEdDYzNmQVNZR2dSaHQySkdmeVJuaExsRHd2Nk9yTGcwbTlUenZzSFNpa2d6VmJOK3JBZldDMG10cFZoTjBoR0FmMFZTTWkreHplcGJONnJQZ0dIbFhTYkNTYVU3SXNpc3VRbzdJczRrUWV2NWJhWElaR0dXSWtoN0tCejA3S3VQZmR2ck5mdW5JaTRZT0txVm1MOU16R3Q4aVJSMW9QVjVNYVAxMWlaZnJweHRncGNPeFhXZTVDSVdDdDZFNm5wcTlFVk10eWFtRFFzc3JRVkZ1b0xvd211ZUY2aWtUMzVnd1UwMllYZ1ZLcWhlR2lWQjBxRWFxdmtGZVVsWjgxUUFDc0E3eUFiakhWQVNvSWRNZ0hpdTJxY0JXdnJnY2laZUVuRGV1Q0JqLzdpcTM5S0o3ZTBRVitiRm56dkdlYUFHeDZ0aVpUMW1iQ1p4VUtBMTNWSkYrMHMzSk9leGY1WFFZcWg2aVVqQnNzWnN0OXV6MEJyRGlPQ0pyaGg0U2NQUTBscXhhNWl2bWQxcGZMNGxZaVRWNUdySERUYWJVcU9hS1BqTzlLejBQLzBTMmhFUHZpUjBqOHZEUkVHZ2ZUcXVBczFCRlRNbEhHMW0vazZESlNSSlpHeXZ0QjJuR1BsWk01dHFmTGhrWjJVQ2x1SXcxVWZyNlN0V28remM5TVFNYTdQQ0xHS29SNzUzak90OHFDeVZscE1jcE9mUmp1dEFEYmcyOG9DYjZtWDBGd20wTkxiSGpkejB4RHJocnlsQTI2Z0J3ai94aHI5YmtDNGRWdWxxeTE3dVUrNlB4ZU5hK2hwUi9EdFo0RXB1ZzR2MVJLYXkwUlRUVGpucGlFZWFYbExpVnRQVHpoODd4bHNEbktCb20yMlZjcnFzcGI5eFB0ejBiaUdua1pycmh0WjRNazloYmFUbGhJSWd4aEI1cVloSG1sNVMwbHRRMDg0Zk84WmhoOXBWdllwRVNtcnkxcjJDa1F2NGxGcjRqNmFlejRUSWFtWDhnWDNKVHR0RHcwRnhsaVFzUHF1dWkwVTViVlF5TzhTRmhTZHJUNnpWNzJqVkJzeTUyNml5Zys0cngxNmt5dWlmcSt0TG13TGI2NytUcncvdDJ1WWM0RkUxZGNGTHc2YXBqT0xMNmZxbmRvVlYwTXNLYlBUekRqREt5SGxLbVdaRGEybzFiMzNyTFpEUldMNDJmV0tGa3BFZmNQekZ2d1hFbkxkZ0dBQXY0dVhFYllJSjlHUmZzNXVxeVdubnFzM1hBd2ZkOUl3Q0xuYVRKTmY1MjFyeGI3dnZXZmVvQU83Vzh0TEpmU0cvcDdPVkZ3WExUbHVHdXhmZ24vYjhDL0syUUFkNlpmUWRCbWUzbkR1dnpQbkIydG9WNHhDWDEwM1BDZHo0dVdTbWNFOThvcjNERTF5N0pVazlJYkcvc2tLem1kcXNqNjFETlppYlJjejBzL0xXUU5kY2hFaGVSMWFhZmVzL0dmU0Z4a2tCb3NkMTNWWXFacGNxcHA2dExQZFdmTjU3ejJENUI1NE5jQzFDMWQxUjFkWVhCY1pFOVlOOW1OdEZ6UFN6OHNKc2t5SlNGaU5MZmZrWXRNS2ljSFJSc0tDb3JQQjlDcG4va2owaFBITm91Zzg0VEZhUXRGOWtLWjBtN2VjQ1cxQnRGRGYxWVJYWjYrc2h4T1U3VkRBSlExSEhxRTFZL1Y4Y2FUVEMrVFRZcEtSb2o2TkRtMlVUQ1p0NnJKbS9EVGsyNEZ5UzdYN2twY09FL2F4bDN2Z3ZXZVZEZGNMUThPQkYxNTFYYmVyTldJdnRLQy9sZUFVdmdlUk9WNDRHT2dqL1ZwTU1vcmFiaytMdkIxUDk3RE40U1Zaa1dPNWpod3RTYzhQRDhmaVl3ZGd5dUc5V01RODZmaWRscHNYeHQxOTEwR3JNenZvaWs5K3RzUE5uck1mTktrR25uaHJBeDU1ZEhweHZOSnVDdG5UcEtDaUtVNXpyYXI4Uk9vQUFBWk5TVVJCVkkxc0d0TWpMcXhOVVFHeVlxYXdKVXBZaTNlSmNGUjlOYUVmVmQ1dDBBaFJFZ2N6SWRGN2JwYkJWYmNxMFJWSGxWS1E4S2NoSUQ3VnpPM3N4ajc3ZStwb3VJdS9VaUNTMXc0dDNpMWs4RTdQZ2RKNDFwdnlKQzh2TkdkTm1WdHI2ZXg0UjY1R2d3MXUrMDNxYzIrWEpyeXVwMG12T2ErN0czaHIrNkZrRkNodzlRL1B2RUJkbTNQcmgxODc5dmhlZThaMlEwWS9XREE2MEV2MVp0WGtiUUoxZVJlNXp3MTM2aVFMdlN2Smk0ck8rYVR6dGh0NXNldGVJQnFkY0ZyTVJXZTRoVFNkZDNGbkN3YkNwamRCdzd6U0d4WWJkMk0yZUd4ZDhQVTAwOHJNWlR6dEVwT1BzQlpoYWlDZUJldFNsMENHN0hMU2dQOTE1K2FoOWJSOUg0NGtqcll1ekdtTnBldDh3ckxLcjlpajR6U2tJbS9mdWQ5YS9UWXVQaTlWbmZXTHR1dzl5cmJ6WTl4bERoMjZnZ3Z6ZXJPMzdLVWsrOVN6NHd2VHVQbitrN2hIWDF6YVN0RFJ4ZnFQNG1MOUIwK2RIRitGVFVqdUxJYjJVb2Z1cnFlU0xqc2p3d2pncXl5dDUyTFZHVUlGdmJtZXRxRFZHb2gwcDJOUE9VTmI4LzhGeC9tUUc0N3JkU0hUYWF2aC9ITkVnRHIvbVhUNzlPR1JsMmdNdHQ2c1B1VCt6NEhxOG5lcW8wLy9mZ1lGbDc5czMvdUdXODc3YWcvdjZBSmZmOEcrOTJYeXJ2MTA5QlVkeks3c0lkQ0E1RjdQSGxsTUVTTXdCWUV1SlBmS2xEUWN6UWhrRHdFYmtydWRQYktZSWtaZ01nTHV5ZC9qeVdrNGxoSElIZ0owTkdOT0pxenNNY3NVNVFnQjJudVovaXhQamdCaFZwWUVBVnI4TmM1MUxnblZUQ1lqUUl1LzNwSXFZOEVJTEJNQ2x5QzVNMW1JV0NhbW1kWWNJSEFFeVRWT0d1U0FJMmFoR0FqMElibThFRkdNdHM0WGwyMUk3bmErV0dKdUNvRkFGNUo3VUFoT21jbDhJV0JEY2cvenhSSnpVd2dFSUxoOE5Mc1FMWjB6SnVuaUhmKzV6cHd4eU96a0ZBRzY5SitPYmZQRENDd1hBblJGRkorMldxNDJZMm9KQVRyYnlTY2lXQmFXRHdIY3BDVXV4MWcrMnBuaUlpTlFoK1R1RnhrQTVuMUpFYWhBY3RlWGxIWW11OGdJOUNDNVJlYWZlVjlXQkRxOHIzeFptNjdnZEZkNVgzbkJKV0JaMllleVFQYzA4OE1JTEJjQ2RHRTU3eXRmcmpaamFna0J1c1AzQ2tQQkNDd2RBblJoK2ZiU1VjMEVNd0swK0h2QU1EQUNTNGZBSlVqdTF0SlJ6UVF6QWtkc3ptVWhXRW9FQm16T1hjcDJZNkliZkUwSUM4RlNJbERqM2JsTDJXNU1OQ1pvbXhxRjBuK3VqbjdPTzhjMElPektLZ0owZnJLbGlDczFuTHRlY0liN0tvQWRqRUJHRWFEems3cVB2ZXg4RnF0cTFjVi9Gak9qYURGWjJVR0F6azhxYWxhODIwalA4NGxLQlFrN3Nvb0FMcy9WbjU4OEV1dkFuVFJmTWM4cXAweFh2aERBRXByKy9HTE4vUlN1WmRYTlNWdSsrR1Z1OG9KQTA3aHNRU2dMK1BBNDN3U2RsL2JOTHg4OXc1eDcxaEVmSEMvemR5UHkyK0o1NGF4alhMWlFVVGVHbVBhR3ZIREtmT1FMZ2FyakhFdU9Ha3E5cmZHV1hRa0svMmNUQWZyK3BOcmpXSFYyQlpVZFBpYVJ6ZlppcWlRQytQNmsraFFhVHFTMVJIaERhcnd5SGY4ekF0bENBR2Q1bEZFTUo5TGtzbStQandObnE1MlltaUFDV0lnUTlnU3loU21WdDZmbE9aaUQvWXhBRmhDb0d3ZC84UlhWWTBIVGdHOHh6MExyTUEzUkNQU05nNzg0UzNrZ1VnNjA5aHVkbDJNWWdjVWhnQk1STzdKMmFBNEh3ajF3UmpLVS94bUJMQ0pnR3lKcVNHN2ZDTTRpMlV4VDBSSEF2bkw5Y1JOY1hyNHVBT256ZDZhS0xob1o1eCs3Yy9XZFl0ZzJ4cEtiOFFaajhnUUM2R1ozRlJnc3VRb0tkbVFkZ1lydVppMExZbndnQ0dadEllc3RWM1Q2R3VaTXpDZTViRnNvdW14a2svOXZmdXpZSmN3MlYza04yd0xiYzdQWmJvV25DanNVYmhJSStOL1VZUEJLaE1hQ1hkbEVBSE14MTR3QVdaWFdCQkI2QjYvK1pyTzVtQ3FGUUJPUzI0S3Y0bHZrOWUyNGVWc2xaZ2Nqa0JrRStwRGNiVkJUODEyc2dFdERXb0xFdHFuL2lqRCtZd1FXamdEMXVjZXVtdHN5YU1HQzJyYnc4czV5QXhkMlpnY0IyTC9JNnZXNFQxbXdMRnQ5dWJycmJHU0hXcWFFRVpBSVhIQ2NuOEhkZFI2VUllNi9QbjFtcTk3WGw0QTlqTUNDRWFqZERRTHVjQUtYTVBYNTFQcUMyNFdybjRiQWs4NnpWcm5xUE9aUGQwWmViYk5pTHEzNTA3Q1BFVmdvQW0xblpEc2ZDWkN3NXJ6bGhaeG4wMElBR3ZabUJZSFNIKzNSaTJQRVZNWGRDMGQ4M2NJWU5oeVFaUVNhd3JoUTAwZDhza3d1MDhZSUNBUXVldHNaV0ZsZ2lWZzJCUDdzZk55eTFxcERZemZEc3JIQTlCWVNnVklIWHppeG5lOFhrbmxtZXBrUktMMXlkZmp3Rzh2TUFkTnUvUjlIeUdSSU1IdVQ3QUFBQUFCSlJVNUVya0pnZ2c9PSIKfQo="/>
    </extobj>
    <extobj name="334E55B0-647D-440b-865C-3EC943EB4CBC-85">
      <extobjdata type="334E55B0-647D-440b-865C-3EC943EB4CBC" data="ewoJIkltZ1NldHRpbmdKc29uIiA6ICJ7XCJkcGlcIjpcIjYwMFwiLFwiZm9ybWF0XCI6XCJQTkdcIixcInRyYW5zcGFyZW50XCI6dHJ1ZSxcImF1dG9cIjpmYWxzZX0iLAoJIkxhdGV4IiA6ICJYRnNnWEdKbFoybHVlMkZzYVdkdVpXUjlDa1ZiYzE5QlhHMWhkR2hpWm5zeGZTaGNiV0YwYUhKdGUyTm9iMjl6WlZ3Z1FYMHBYUW9tUFZ4cGJuUmZNRjVjYVc1bWRIa0tjeUJtS0hNcFVDaGNiV0YwYUhKdGUyTm9iMjl6WlZ3Z1FYMWNiV2xrSUhOZlFUMXpLVndzWkhOY1hBb21QVnhwYm5SZk1GNWNhVzVtZEhrS2MxeHNaV1owS0Z4MGFHVjBZU0J6WG5zdFhIUm9aWFJoTFRGOVpWNTdMWE5lZXkxY2RHaGxkR0Y5ZlZ4eWFXZG9kQ2tLWlY1N0xWeG1jbUZqZTJKZlFsNWNkR2hsZEdGOWUySmZRVjVjZEdobGRHRjljMTU3TFZ4MGFHVjBZWDE5WEN4a2MxeGNDaVk5WEdsdWRGOHdYbHhwYm1aMGVRcGNkR2hsZEdFZ2MxNTdMVngwYUdWMFlYMEtYR1Y0Y0Z4c1pXWjBXeTFjYkdWbWRDZ3hLMXhtY21GamUySmZRbDVjZEdobGRHRjllMkpmUVY1Y2RHaGxkR0Y5WEhKcFoyaDBLUXB6WG5zdFhIUm9aWFJoZlZ4eWFXZG9kRjFrYzF4Y0NpWTlYR2x1ZEY4d1hseHBibVowZVFwY2RHaGxkR0VnYzE1N0xWeDBhR1YwWVgxbFhuc3RTM05lZXkxY2RHaGxkR0Y5ZlZ3c1pITUtYR1Z1Wkh0aGJHbG5ibVZrZlNCY1hRPT0iLAoJIkxhdGV4SW1nQmFzZTY0IiA6ICJpVkJPUncwS0dnb0FBQUFOU1VoRVVnQUFCK1VBQUFPQkJBTUFBQURWVVc5M0FBQUFNRkJNVkVYLy8vOEFBQUFBQUFBQUFBQUFBQUFBQUFBQUFBQUFBQUFBQUFBQUFBQUFBQUFBQUFBQUFBQUFBQUFBQUFBQUFBQXYzYUI3QUFBQUQzUlNUbE1BaWF1N1JDTE4zZTlVbVdZeUVIWjJiVWZvQUFBQUNYQklXWE1BQUE3RUFBQU94QUdWS3c0YkFBQWdBRWxFUVZSNEFleTllNVJzV1ZrbmVQSVJlVzgrNG1iNmFLekZ3bzRjVUF2YjBiallRcUcwSFVrRHE5QzF4a2ltRldxcGJTYjRxQnBIaWRzVVVDVURSdHBLVlFsaTVKUnJHcVhWdVBaSU02SjAzZ2FYc0p4eElrWWRrT21laVZTc3F0dThNc0hsYW1hV3JyelVoWnZCclNyMi9QWStaKyt6OXpuN25EaHhIdkg4emg4UisvbDkzLzd0L2UzSHQvZlp4M0hvbVE0RWZ1allsUE94Z04rTUpSOGhRQWhNTndLUHRoaDd3YTVmQnU1L0NXbTlEd2k1Q0lIWlF1QnV4cDliaDE2cHlsOFEvbmZPVmlHcE5JUUFJU0FSV0JNcURxWDNSdnBmWitkZnYvdllIN0hMTWdIOUV3S0V3RXdoVUdQZnVsdjZFQlQvaTZKWVMreG1senMrZG90bTl3SVEraUVFWmdDQjFSZjN2MDBXWTQyOWtEcy9DcVhmeG4rcDJkL0JINTRhRGZRdUVQUkxDRXc5QXFVR2F6RzVYbTkvMVMzUEdXUG5HTm52WWQvcmxXL0ppNWo2NGxJQkNJRzVSK0FlOWliblQ4V29EaWlhV3k0ZXF4am9yemlsMW0wSlQ3a2xYZlJQQ0JBQ1U0MUFxY1YySGFmK3BDakUrazFabGpaak41MExzaXRBYU9kVVJ0RS9JVUFJVERNQ0t3eXo5bGN6ZHNnTHNmSmxXUlErMEc5WFZSZmdPQmV2eUNqNkp3UUlnV2xHNEl3ZE9HVW8rRDR2eE1sbFZSUU05TGZZdTVUWFdWUGRnUjlHTGtLQUVKZzZCRXFNblRwOFUvNEdGNzErVFJYZ0VzTFlqdkk2eTAvNWJuSVJBb1RBMUNLd3lOaXhzd0wxRnNONHArc1g1SWd4ZDVIdkJwWEljTzlqUXk1Q1lIb1I2TUZVNXl6SmNmNXMxeThKRDlTOGpqTGgrMG5JUlFnUUFsT0hRSTE5eFhINFBQNEtGMTNYK1hLVDZldjVzbnN3YitvS1NBSVRBb1NBamdDVzh6ZmdoM3AzZWJBK3QzY3d1Yi9GQTkySDV2WVNDZm9uQktZWkFWanZMa1AraFh1L1daUkNzK0U1ZkxkTzI1OWZ4M3lBSGtLQUVKaDJCRFladTZhVllaTjNBTjV6bldHZzl4ZnhTOC9JQ1BvbkJBaUI2VVdndzgzMi9xTXJkdVAyT2diNkxSbloyNWN1K2ljRUNJSHBSYURCem5YaFYzMUQzUkpPNlZUa0s3VkkwempVRTVLYkVDQUVwaElCSE1EelorKzhCTTJ1TEVjTjc5Vmg4NTVkZFFQV2pMNUJKcUovUW9BUW1DNEVNSHYva2lGeC9XMmU5eldNdTdDaXYrbk8vWS9NZEVZbThoQUNoTUMwSUlCek42WnBidUY4VjhpKzd1bzYzN2dYcjliZjdTL3NwNlZzSkNjaFFBaUVFWURaL29vWmVpU08ySzQyUFIxL0paVCtIYi81OFc4SUxBSE1QT1FqQkFpQmFVR2dyZGJyVXVJRmR2c1BQLzU1eHQ3cUJWU2c5UHc1bFFub254QWdCS1lZZ2FyMzNyeFdCSDRWSG1NL0owTktkd2kvdUNWUGh0RS9JVUFJVENzQzBHZlhSS2NWNEZYMzl1Ly9XODMvMG52Wm0zVy9Ga1ZPUW9BUW1DNEVsbkhUNVhSSlROSVNBb1JBRmdSdzJsNS9SVDRMS2NwTENCQUNVNERBUmNibzlwc3BxQ2NTa1JESUM0R2VkejFPWHZTSURpRkFDRXcyQW1jTUYyRFNRd2dRQW5PRFFNMTllMzV1eWtzRkpRVG1IUUZzMVczTk93WlVma0pnamhEQVZwMzdLWXM1S2pNVmxSQ1lad1FXYkVkeTVoa1FLanNoTU9NSTRGcjcvb3dYa1lwSENCQUNHZ0o0cTA3N0lKMFdRVTVDZ0JDWVNRVHFqSCtma2g1Q2dCQ1lGd1Fxd1Z0eTVxWGdWRTVDWUU0UmFBUnZ5WmxUSEtqWWhNQzhJQUN6L2NHOGxKWEtTUWdRQWc3Zm5yOU1PQkFDaE1EY0lNQzM1K2tZM3R4VU54V1VFQkJmblQ4a0hBZ0JRbUJ1RU1EMnZQR0IrYmtwT0JXVUVKaFRCSHJRK1RrdE9oV2JFSmhMQk02TTc4dlBKUVJVYUVKZ3JoQ29CVDlXTjFlbHA4SVNBdk9IQUtiMmRCdmUvRlU3bFhoK0VkaUF6ajg5djhXbmtoTUNjNGNBLy83a2pia3JOUldZRUpoZkJQQk4ydUFIS3VjWERDbzVJVEFIQ09CeWU3WTlCK1drSWhJQ2hJQ0x3QjUwL3BUQUlBVEdqY0JmdjV3LzQ1Wmlndmd2RndaSUJ6cFBSMjhucUtyblZSUitOcXlZRTZIdjNwa09URXZ2Tk9UY0t3eVFha0ZBRytJSFBaRzFjTSsxWU5MRS9raWFpU21NSmVFZFY4ZkMxczQwME9yc2lRb0tMVXpuMS9xN0JZbWNOOW5tWloxaWNUcmZnczdybkViaGpxNkZDNmx2NW91bU9Zb1NwZWN4V1pzbVpxdExYNm9VT1F2VCtlcGtia1YvOHIwaGtKNjRkYXlGRmFiekphajhMWTNSU0p6UnRWQnUvbXhLQ2FKcHBpU1lUelpMelJxRXkrd1p3ejltajlucVJpcE1qK2tOUGovV1Myd25QMkk1VXFxR2g3ZFM2MjBCQm50RnZQNjJEcDIvSFdCVXREZXVGdTQ1VDFmemNUU0xMazhjZlV2TkdzbEw3TXVHZjh5ZWNLc2JtVUJGNlh3ajRwUnA2YzkvKzluZjh1RFZrWlV2d0toc3MxMzBncTIvRUozSHQrZUxQWHBiL2xEei9yODN5eHRWQ3p6VkJndDJkV2JlS0Y4VXpVbXNXYjBNRTZielRxalY2Y0s2N2s5LzMrZWVkMStxY2VKci83SHQrVTZYYkVFNnZ4aDFJVXdiTForeHErSHlqU1lFZysxV2lOTXEyemZEQ3RINUN5aDNvZXVkTTNiZU1rc1hXUXVpdUczTFNtT0pHeDM4cC8vbTN3dE9CaUpwdGtXMnF5YVNvL05aYTFablAyazZIMnAxdXJEQ3pVY0p4cDRNaFE4TzRMZXcyWjRka2JVZ25hK0VwOUN1cEcwaHlsWFhNL3BmZkVubVNwaHJKWUJySVRxL2laTGZDUFBPTFdRSnM0anlSNHlTUk5hQ1lMcGdPU0YwSXFwSC96bS9aa29ZU2JNdGNsMDFVNC9PWjY5WmpmK2s2YndUYkhXYXJLNlRIK0pLTnpjc3ZlaEJrWmYxSDNBZnJ5dmZFWVNMMGZubFNIdkpxOTdmZ0RSWDNVS04vdmZFT3RaZUNKeVZLVVRuNnlpM3BiL0pEWU1hNnpxckRkMk1FbDBMTHRObStBTWI2ODkrM290NWE3bjVmdjc4Mi92ZzdCdEtIMDF6SW10V1EzZmlkRDdZNmpSWlhlZnk1NzRXdXByV0NzSGIyNWNVemRKN1FNb3pVMlhYK1M5WWh2VHJ6R2dvaWpOM2xHdGoxUGt6eHI1b1NDTThwY0NrdXhDZEIydkx3Qm9XSm1YSUdwOEVWZ3dXY2JYQXVleWhsN0E4UjlEell5LzhSeHJRZituaFlYRTBKN0JtdGVKTm5NNEhXNTBtcTNKaXFEOVFudUVjL1BXT0xTM0xla3R1RldmVytidVpQclI0UEJxV3BhSml2emRHblVjVHRuMGw4dXhjU2NjZGhlaDhEWFZ3YXJESjFkTmpYd2xlcGgxYkMyQit5VDd2T05PL3NMV0tscUxiK21KcFRtRE4raGhQbk00N2dWYm5pK3E3b1BQYnZtOG9GMThaZFBVYzk4aW1uMVhuWHdiS2h6cGw3bDZQblpCc2prL24rUjY1Q1lRcitrV2pSeXhHNTZFOGx0NHhDRjFxZndQTEtiTnJqNjhGenFobG1mTTRUdFdZVDk3RG1MYXRFVTl6QW12V3gzUHlkRDdRNm54UmZkY0ppNWt4Kzhsc0xtUTFqNEF0eStNaDJYUisrWDBnSE5iNWs5Z0YreGhiQm4rRjNTYmJ1am01TDJLY0Y5M05ycTF5Y2duRGhSeFhITDQxc0tQSXhkY0NUOWF4OVg4T09xY0RSY1JaTlJDTHB6bUJOZXNYWlBKMFB0RHFmRkY5VjF1dXdmMmdwQzVrRGF5Nkc1NkJONFBPbHovK0xMUUhQS0Z4dmhwNzBBZVRqcXRKQmM4NUhWY0t2VUVyOGsxak1WS0V6blBkTWZ0ZHhUd1B4eUlIRlQrYTNUNitGampUQzhGTlNoN0lPNmR0N3ZDZWhtNzJqS2M1aVRVcmk0RnlwYldHS1JKNU84eFdaNk4rSk9manRzajRzQ045aVNhU1ZtNjdPVkxyL0lNWURyd25xUE1iekNOdUYycU1MV1B2SENMN3hreGZ2cmJSY1JXaDgvd2pOa2JINGpQUHc0VWg5dEFwTjdYZWRFQXRjS2Fyc0FHRUhteDBHL1BKTTYwakdVQnpFbXRXbFc4Q2RkNXNkVXBTemRIVU8zRXRQSUd6cWZmVkluM2QyNmRKcmZOb0dmSUo2dndTbHBZeHp4aGJSdVZMa05uV0lWMHdSdjhpZEI3N3gxYk9NVUFORTFVWGs4RGwzL0x6REtnRmtiQnBNV2hpc21BY1BXN0RMNmtPb0RtSk5TdEZuOFJ4M214MVNsTGZnV09qVC9tK29WeklHandPMHZONitHdzYvNVlhS0J0REpKZXJwNDAyRmpuSDJES2FWNnAydy8wbDV2V0JRdDRpZEI0RGNlcjZzNEFZREtyNGl1bEZEYWdGa2VyTXNwT0E2akY2Z2g0RTMwbEdjeEpyMXBPY3Ixa21ibTV2dGpvbHFlL0FnakN0MEh3dGVkbW54RjE3M2pIUTlEcmZmL04zL0phRHBoYlcrWnJWTktUNGo2OWxiTEF0akllcUJTdUpjR2pBYU9kRjZEeFhuUUtQM2phQ0JodG5RQzJJd3A4WTB4c1hqNzJBN1ljamRzMkRhZ0ROU2F4WlZja1RxUE5tcTFPUytnNmN2ajN3ZlVPNStNSGRVelBIbmpmOVRxM3pMcmtLS0FmSCtUSXpkN3ROeG80enZwYXh3SGJCM0xCUVNlR3FlaW1LMFBrT0dIdVlTNTU1L29mT0dnMnFCY0Y4MGJLZ2g2RDZuTWRwUS9CVFY5UkJOQ2V5WmlYS0U2anoyQllOcm91bHRPNC9iTTdiWmtoaUh6ZFhkODNVdlJ1dXZ3Q2R2MlE3NnFaeEgxL0x1SGp1OE83UEs3b21rdVBVZFJOMkVUcGZCZU1EZzJXZUhoamJBK2E0UWJVZ3VLc3RXMDBXQ0dyTVI4NThuUjlFY3lKclZoWnRFblhlYUhWU1VPMy94SjlpYWFHSm5NaXF6REJlaHZZVjExR0F6bDhZc0FZWlg4dm9mVlVjVlF0b2h3QmlVeGU2Q0oxdm9nNHVKNnF0TklsZ2JBOHMvQWJWZ3N1RkdlWTZFZFlLZElxOHN6cDBVdytpT1pFMUsrR2NSSjAzV3AwVVZQdHZXK3BIaTQ1ekltdGdlOTdwN0xzWkN0RDVuajVrV3NRYVg4czRnbDZnU1d0NzJFcThKWDF5VW9ET2N6T3FlZGhQc2M3RGdlbExZUFl5cUJaY3JyV1FUSHg3M3VpYkFKanNHQWJSbk1pYWxmQk9vczRiclU0S3F2M250RDMvdjdva3o3YmQvd0owL2lqVWpyUlN3RG0rbHRIYWQ1d2pOR0ZUSHVGYjE0MFFCZWk4ZUtQWkd5NHQ3TE1HWVNkdzM2UXhxQmJjMUozUWtYdStQWCtxa2VKOWdMVFBES0k1a1RVcnl6S0pPbSswT2ltbzlwL1A5bnpacTcvS3FVdTZBSjIzR3NhMWdveXRaU3p6eHR4REc3Ym9IcHAyVjhsWWdNN3pJemx5dUZSODhuTnNzdUQrNktCYWNIbnZtV3QzQlBMdCthNG1HTzhEcEUxdkVNMkpyRmxabGtuVWVhUFZTVUg5ZjB3T0pmUitZREtYdmoxL3ladlkzdDExOCthdjh4alI0c1VhVzh0WTQwb0g3dWJjMVJPMnFZMXVCZWc4Zi8xbEFDN3hxTVhIb2llN1pxUVlXQXR1Nmd1aFJzWHR2VG9sZnBib2hoc3drT1prMXF4WG1rblVlVWR2ZFRycXJodDc3SVk1Tlp3aU1rVGZubDk1eWt5V3Y4NHZERHBpT3JhV2NaR2ZmZVVEcm0zUHJLcjFCQVhvUEFaaU5VVTJheUFYWDhjY25Ia3hFeDMwWFF3WmVrNEN0cDg5Q0w3bHlqaVE1bVRXckFmd1JPcTgzdXJDRFNGc3BRbW5pUWpSdCtmM0F1YmRvTTZYUDNnWGUrZzVFWVRDd1JXMGlNQlVlVVczaHJrNVB2VzhadituLzBUbTlsckc5OS9YdnovQXFQekJlL3MvSGdqRGVabHc2RXZ2YXAzLzlJNnovQTVKRTRudXMyUlYwY0pSNS8wZC95SjBvTjhUa1IwNW1zRlhnTTd2Z2EzTmRpaDREL0VUVVQ5SDV1RHNPSlphY0J4ZUQ2L3Q2dHd3YzllOWNMY0Q4MGxRbHN0NUM4MXBxRm12Z0hFNkg0RnFBSnFzWGdzWHZkWHA1Qjk5OE5ZMzhYZWd0SUdJSzBKeTNlVFRzNjVIc1hLZ2srYkwyMk05WUtQRzJBT012VkVQaTNOWFFEcWc4NXNzdUJmMmF6d1JZLy9FSStUcS9FZFl2OFhZeituRTF4dU1OUm43QlVNaUp4eGF2b1BkK2tkb3Z0ZmFhamRpdWNiNnVBTHM1M1Z5SVhkVmpPL2dvTEpwU1hyYU5Lb0FuZThBZ0xSck0wMUtXLzNjQWRMZXM2K1NobXZCY2Y0TTZ0dGs1enNxa2VnQnU1b1hUdWk0L2hJU1h4ZktZU0pNY3lwcTFpdGZqTTdiVURWUnljTm40NkszT3A5SCtRdXMzMlRmNjV3WTVsUmJmajlQd0lXc3NqY3ZzMjB6TXFEekZmYmR4MDdwdzNJMlo2YTErQ29nSGRENXVxWThJc2RIR1h2OS8vM1liemRRQ1BFSW5YOTFIK1A1dTVrdXpuS1QvZmZIemw5WFRkMndoTGJaSDRCUStRdm5hdjVhcXJFdjdqcWZhckczdWl6c3YyNm55VVUyZXhXUmVsTWIvUXZRZWFpU29VdDJDUWVHMnVxbkNkTGVjME1SQ05VQ24rN2YvQzNIK1pHbWNWRkcwQTZBRmFZMjRYSEVHYVpySHRVUXplbW9XVS82R0oyM29hcVF6TTFoNDZLM09wL1JHYnU5Njl4OWZ0ejJ4MnBFMnZMN2VRS3V1ait5TFFWTVBZRngvbkZQYWM2U0Rra1YzdGdPRFg0Vm84MklWdk1UUEVINXJMOHJFbktkTDdVK3dOME4vVld6cXN1ODdQMkx0UHpXRnFISFd1Z0MrMGszcnFwMHZzT2VQRWJZV2xBV2o0Yjd0K3FXZlE4U3kxYXN4Vi9RcHQ0RjZId1RYTVUwUTJNNXZOTmFQeS9GWlpXb1lkeForZSs3aW1Td0ZvQi80MXhFWDlLTWxRNVVmRnZsNFE0K3J1OXJJVzF0SlJTa0NiaW5vV2E5MGtUcnZCVlZEWU44bkZZdWVxdFRiRDdCUkUzVjlqRlFxRURIbXQrUERyZ3FhbHFKOGREVk81WENIT2NiM21lYzFtMGpvY3FqT1VBNnFHZTF3Slp2VFNwVHVmRXVrWlByL0QzdS9QOUU2OGdlbCttd3h0eFJMQ3loSGJtK1hKUTZqK3R2dGtTT285QzZRaEhpdTFDOFg4QksxMnpWWG9wRjFsZHBDOUI1anRPQllwRFdFVlUvc0tnL2JkSU0xZ0l2dC9leHFvN2U5MVFEVW5GN3I0dWxvQWZDZnBjZXBEa2xOZXNCRTYzelVhaWFpR2IxV2Jub3JVNHlXRzY1dmU2RnA1cjZLdFNhWCtZSi9UZThGbEgrajFXdFlidkpESjFmWks1V1lnQStEVkd4QmxUUUp2eEdJWkswRExzRFY3RnROK3VmdGx3akZ0ZjU1bzRJdzJid0ZUZlNLZmtqVHR1ZlpsdEN5LzRjdWVuWnBvOWtkd0ZtdXg2OThOK211NHpuOTJQcHJkNUxpRUZMWmNsZjU3bnVHT09uNGpXTUk3SitVS1liSnFGQUxTQ3kyajkyazZ6b2s3aWpRRWJBb1BXNG1FK3lYMUtFQXpTbnBXWTkrU04xUGhKVlZmQThISFl1ZXF1VFhPcmVVTWJiakY5Vjl2d3lUK2dmZWRVVHRCMGJPbCtYMDc0N1RMME5VVlFCRlU3NFVIbTVBeHF0KzZ2UzdNdEhFTkhxb1BQLzNpc0xpaVVOUkJka09yR2R0dU9Sc0lRdStLMjA0K284S0Y5eDA4TW92Ky9sRFArMVhYTTluNzM2VUtwa1VKdGQ2YkhxL0tmRmgrbHRQNitRK2FML2VVZWpqNS9SS2VOaUl1dEg2enU5L0lGYWNQQ2lnVmZvaFpadXdqeFRGZUJtaEtuWTcvdWN1NDE3UGdJMHA2Vm1QVVFpZFQ0UzFiaXFjTXAvYm1zS0lreTFJNTJBbll2ZTZyelVhTU52YzUxTmZmWm16Njl6ME4xaWpPRnRqai9CMW03b2ZNT2IwaS9GcVk1T21vOERBWjNIMGFKVExRa202dDZzazdlbVF4NERuWCsrcDZQUVB5bFFWV3Q4VFRYZnNJUnFsN2h0dWpxLzU0dFE4NmNJbWhDdXMrYU43cGoyV1BhdTBYSHN5Q3cyblMrM2VGSHR6Nm5NR1BrUFJIMGhJMU1OaW9pc0gyQzdiV1FPMUFMaVZ1VGtwbWFVdnUzUG1nU0JFdzJjOG9kaDZOOVJkQU0wcDZabXZRSkU2bndrcXFya05zZDFlMVBnb2JKSkc5bnNYUFJXNXlYdnFZWjRwcy9lN1BrTkZwcUhuMEw1SHY1VmtoZWgyWG9LcUtKNzJzcDlRdzYxOVdBVGNwTWZxMXpLVWVGbEZKb3NnOUREWEpOdS9PK3BMY1lUcER6bE1kQjVsVVdOSTJoQmwzbWtlRHF5V2RwQ1QveWhmTW5WM1lhVW0rOHV5OFcrcEtYK3k1SkJCL3gzVmJCMG9IdFZjdHQwM3VnNVFVRi9mTWtsdGVBL0w3T0ZhVEJadkQrNmZrN01qcGFQNm41cFhLSTlieTZFR0gydTF3dDBrbTNVeUErSjU4Ly91QUhMNEk0dlVvRG1ucW94Y0ova212VktFS1h6MGFpNkdZOTlCSFFYZENUcTBlZFJNa3NFRjczVmVVbWJxbjU2Q21HK3FlbzE3QWpkbEh5OGYyNjA2Z3AzT1doNU5mZm4xNlRKb0JKcU1UejdYd1QzM1JHR2xMNENDeDVRMHgzaGNIOXF5cnNwVTZMOUs4VnNTWlluT2hra1BSVFpiYUU5ZjI2L0lIUWVmYVhxV1pHenEzSFhuZXV5b3dGUll5cmlKc0lvdGlXVDIzVGVlVDZ5MlI5dExKUVVndjhuUEdjd2NGaC9kUDJnSWV3WTFBSzFnTGdqcjh2RENPQ3VjZHowZTRFVFZFZEdFZCt5cTFFTjBLd3BuZ0RkeFhZeWE5WXJRcFRPUjZNcU10cGFQWTlZYkJsSTZSN2I2WllJTG5xcmMrWEVDbDhhMVU2MGRocVIzODBUL3VWVjRvV3V5YkZPcGRMSCtRdHllTFdQbHA0SlRtWGxqZ292cTZ1ZlhqamFWTmR6NGcvOW1OUnZQcjBWVFFndFEyMFJOeVZMRVBKenFlV3BMYlRuYS9pNjBIbjBhV3IyQWlaWGZUcUdhMGt5NElKY01hS0VSNXZiV0hVK25HT0lrRHA0V2hZVVExQkEwdWo2T1FzZU9UQnJnYk5wZXRNajMvZ2htRytxVVVWNGtVdzlEMzNQYjdsaDNxOUpjNHBxMXBVL1N1ZWpVUlg1YkszZWdDV1pKNHFMMXVwY1FtZ3BXeDVKT0x1U2VsUitHUi80UjFZNTIxZ05EWEM2em0vSzZlZkNJeDhJMElCM3pkWm9LN3lGR0RxUGZrcG90a3NBMm52YkkxVnFlUU1NZEY2ZDlHcDZYUUlXOXBwS3dMSWh4aUpyNkluUGNGbk1VbEcrQTQ4SFAwMi9MOTJCL3hNNXBjVjRwZGtPVkNvdFovNDZmd2FlRWdqRmNWaEhkUDJFOW1QTVd1Q01WSm52ZU1leHhuaFR4OTNkbnIraFJldE9rK1lVMWF4YmlDaWRqMGFWNTdPMmVoMlZoTzRvTGxxcmN5bTFmUDJwYU9OZ1ZQNEk5c2dxNTc3TGZzZmhKUTdvL0g0RURRVDNXRDhjQ2RxK0NvcG90QVd0VFVGVU5aTmMvNTJ1U0FHZGYwWlNram9QUGRSVUFtT0k2QUdzb2NoK1czTDRiemlkSTIzWmcxRXNxc2wydnVJeDVZWjdOZEdRZ25DbDJKZWUvSFcrQnA0S0NNbG0ySCtBcVVRMDh4b2J1VHpLckFVZVluU3FQTUI5QWpvUC9FSlRRWm5VcERsRk5lc1dJRWJuOTJVUncvL1dWaDlPTmpBa3F1NkNWWXJoVGc3UU9MR21uRTVVL2dqR0RYL3V1eXJudHlxcHJ2UFFwdjdmcTVpZ28ya29zeGRiUVJzeHgzbXpaYlRWOE9LVEF4dWxsMUxuTWQvV1ZJSnJKVmRyYXlpR2NuYnJUM3h5L09hYnE5SUxPOVBUMGgzNGJ5aW1OWC9Cb2FYUkp2ejU2enhrakJSTWt5SGVHVjAvb1U3TXJBVk9GaEw4S3NjMDhHeXF0WmVJd0ZnZW1ncktIQ2JOOXZUVXJGdUFLSjJQUnBYbmE5cGF2VVJraVA4b0xscXJFOVNRVG81TjZLYmxXQzBNM3pHNkdSSUUxU2liK3lXLzQvQ1M2VHJQalgzc3RUc2hBaUtBcTFvM0ZGWGhXUTcxWU9pcDFyU09mTjRxRVlwMUlEMVM1emNOblVkcEJWRnJLTzhRR0h2RC95Wkp3QXppTjFQTUVOUzZRU1p3LzB0c1d3YTBrYU1yUGVxLzVVdVZ1ODRMbVdVbEtJN0RPaUxyQjZWV0RjVWxhdFlDRDJ1ZzBMZStQc1R5b2psNzR4dXEzVkFpTjhDa09VVTE2NG9mcGZPUnFQSnM5bGJ2RWh6cU40cUwxdW9Fdlk2dk1NYjRGWlhmTGdTeXFpbmhvcHpUL284eXJhN3o0dUFJdEw0ckkvWC9Ic2dZeWkwaUt3ZzFneUdjbHEycDZiY01oczVma2U2bTErVHFacXR0dWFZTmUyaUg4MFFEZm81TGhDL1BsV0JRcmtEcmw1d3VzUmQ4amZjY0ljZVdERmYvR3ZxNTZ6eXZBMVVKaXVPd2pzajZBUVR5YUpOSDA2d0ZIbmpHUlZDZ0tkWUJuVDlCR2hVWGNKZzBtOU5UczI0NW9uUStFbFdlclFjOFZPTUs0REdVTjRxTDF1b0VQY0M2N3hGR2YzTkQ4WWpLcnhJWUR0NVZ5Ulord1JzRXk2cGlkWjJYeDA1dTdSZ0VYRStqNHBQeG94RVlBTVZzR1lpOTRxZDJYVGFkNzVqamM5TXR1VDNVSzc1OEVaZDc3Ly9IM3ZNaWM3NmdzZVlqbVBZY2FGR3VzK2tqbkx2T0M1R3ZobGdPR1JCWlA1aVIrNjFERURWcmdRZkpNeVRpclJpZk1XRHhQZUx0K2RCVVVNYWJOSUhsdE5Tc1c0QW9uWTlFbFdlenQzcUp5QkQvVVZ5MFZzZXBZY2FtSnEzQSs3TGlFSlZmSlRBY3lLbzJiemNQM0tnRmFjTTIzNnZEdUNvZWZ4bWhLRjI2dFJuYVZrQmtoYWMvVktuZ0NMV01mVDJXdTIwNkR6cjZuTHpwTmloN3FQUHI0Q21lbitYa2VKK21QNy9DQThQUG5wN0d0cmpXZXR6Y2RSNUxZZXVSaDdDWXNTRlI5UVBNOTgyTVppM3dPREhWNEdLY0dpa0Q0L3lSdm9ZMEVrNXh6YnJsaU5KNWZOckFmWkszK2dBd2lid1JYTFJXeDhud3dXSFhvN2RwRExJUitlMjhrVlYxNWNzZXZZdFB5N1Q2T08vZ2pSNzMyWkxSNm4vdnl4Z1I5cFZYT2lvOHZhSHp4cXFQcjdVdnk3VHkzNmJ6UjZZV050MkJ5eDdxNEwxYTkrbDNRWlByRS84ZjhGUlVrWVU5UzlzbDhESzIvSEVyZDUwWGs0enVBQWtIUjBmVno2Wm14WFNwR0xYZ0JyM1NBMDB1Nzl6UWk2WU5yMm5XZ3lHU1FYT2FhdFl0UmFUT1I2R0tiQkd0M29BbG9TZUNpOWJxT0NIMDFYMUpzTzZQMVFpS3lDOFRtLy9JcW0xOXUzRm5WMlFhUStlZFN5MjNZZWhqcnB1eXNRWGRPcEM1MUgrRnB6ZDAzckR1Sm00WlZiT3ROVjJkdDRkaUYvbHZPRnM4WEk4VDZueFRFLzVJUTFZVlJVTS9kNTAvNGNJcVR1a2RFZld6RjVwRUdMWGc4ZnNDRndMUGpzN2YxSGx1YTd5aFIrdHVnK1kwMWF4YmlFaWRINzdWNjZna2R0dnJUbXQxbk5LSmRqSzZZallaZTM0N2UyUTF1M1lrYTEyVGFVMmRkMWJmaDFxM2JHV3RuL001dE5wV2w3a3RjM3VqWlhBRC9MNUs3RGtpeG5tOW4wSFhjNERVMEUxTEtDZFQrbUJUeXNubjlsMGVGdnZnODVSK2ZBOVpkbnl2NjlJa3pWM242MkFvenlNRytRN2x0OWRQTzRTQVdRc2VpL2MwSVVaZ0dXN3V6OGR0endmMi9FRm9QeWo2aE5hc0syYTB6Zy9kNm9QbFR1YTMxbDBBUlRTVXB5UzFSbUNzdHVhWGljMy9ocWs0UEhMZEgzTUNPdTg0ZnkydVY5c3hhVGduVHlNVDA2YkhYbnlGTnlKam5EZFBheUgyU29DVWRUMS9adHJidld6MlVKZGUrVDJjTlJTWkw0RjJnanhDZm55ZTBnOUQyL1MzOUdXd3RnckpYZWRSRVAzTWtXU1o1dDlXUHhWelJBQlpzeFlrbi9KTFd4QkU3MGFkVGUzY2g4Z1dXTy9MckNHYUlEUXROZXVXSVVibmgyMzFHaWhET1MxMXA3VTZUcXJqS3hubVhNR3gycExmemgrVmN5TVFjOEZmellaMDNuRmVoaHhYQXpscVY3bEpNYndOVmtGYVUrY3g3Tzc0bVp1V0JZRnROT2lZeEVIME1vallReVgxZFRSZ2xJeVBUZGRrV09UL0JYMlk1Vk9EZzBCU1FMd3RnNnc2dnhINXZ2VGc5K2VyWUtqNmI4a2w3WCs0Zm1xaFNZUlpDejZuNVZxZzh6a3h6dHR6dTBQWFQyMjZUSnJOTUlUVzNyd3o5cHIxU2hHcjg4TzFla0Z4eVBmblhTbUNkYWUzT3A0Q2c0TlVWaGhkamQ1WkVBam1kNmtHZi9YdGVSblg5bmR6TFRyUEdYT04wNTVWR0JZcy9ZN05iZzhWUFBSem9ySExNcWhBbTg3M1RKMUEwN3VLOU5iUTYxdVNFaWF3VUNTK3NqeVZRWkgvK0R5bC8vQWRrU0NlSUtNSTIzUmVicFlnYStnNTlVbmJYVTFrQ1UrUzdHa0hoNGJxcDJVb0xpZGcxb0pHRXJNaVl6TnV6eGhNVGlDbmx0aDBtalNucDJhOVVnelErV0ZhUGFjbzl6NkJXUERSbTVvSm9WRHF5MXFZM3VwNDhKRS8xMGNYRzFLZFVINk5sT2JrWTVwcXpGNTQwMmVyNmZ4L2tybWdTL3ZTN2Y1ZjV5TzhabDVRc1JWZTNrUGxoUVA2ZE0zM3R5MXQzYWJ6Q05NbU1seU5kMERFR2lxL29vMzRxcGd3TjdVUjJ1Y2NjUEhQVS9vUHNxamRTaThVZmFPUzI2YnphcThMc2dVZkgwNmZoZUhpR1c0WUlTazhrZldEM2pqWXpNeGFRSzEwSmNPcXVVcXNHL09QZHFCSGtKbkV2MGtUU1VPOTJHVFdyRmVJQ0oyUFJCVnFIZFhxT2NVNnIxUDdZM1NxTHZjb0xucXI0eW5SazE1MWMzQVQvajZjLyt5WSs2UHk4N2p3ZzZ6NlpKc251S1FGK0RyZlliL2k1VWJsQmxweGRSdFJRWnNDVDEzaHBUN2tMdm1nQVc1SnQ3QkRCcHVqZFFhSTlhZUdGRVlVc1dOaERhMzdJL1JGa1FreVhQRTVScmhhKzNvRUYxdjN3dzJlT3pMSXB2TlozcDhIb0Vsa2xPenQvOUgxZzRialkrSm1ObXNCdHBoKzE2UGEwNEhtaDNEMHJCaG1RdFdscERGcG5saVMyblRlV29mYzNoQ3U3NEpxMWl1QVhlZWpVWVVDYmlPcnJkVnppb3N0WHFuVzU0MDgzbmdpdWVpdGp1ZEFCWng2T1U5Y1JXcDA0WS9NNzZVTi9HMUNyR016YkU4b2xCdW1kQjZUUHJXbFo2Z3QwaTMzT1lWcVNFOXNPby9wd0ZXWE5QOUZqNlBWN1laNFJkZldNdEJzTmFFd054SERzRFcwZmx1Ulg0eFJSOVlBQUNBQVNVUkJWQkRyMkQxalEySGoyMVcwNWhDZnAvVDl5R0wyVk1JVXVDc1RXSFZlUnFiNDU4ZURkVlJTa09DbXlxajZRZFF6UVpJbXZ6Ti81cmFwVDZqNFhGR2ZBRFV0ZzdkUDJhQTVQVFhyRmNDcTh6R294clI2SDVKa3JtZ3VpRkd0anRPcStMUE50aGlFeEluWjZQeDIvajJ0clhncGFscGZyblIrai9rcXJRMTVJc3RGWVgrQ1BJSE93NnJ6VFgxaEFLM1ZCbFQzNks5TjUva3JJRDV4dENlM0pkcEM2Mzduc0NyVXdGM1d5OUt2Nk9PV0RNUzQ0bE5ISUxkVmJhdEk0Y0RJb3dMeTFublE5dXRTY1JuT3NRY1NNa2VnZmdEQWdZeVMvMFl0OExYU0RTOW0weGpZTWJESUNNUmpKTmU5a3BiOE4yaE9UODE2NGx0MVBnWlZKN3JWUzBDUy9rZHowVnNkcDRiT2VjZWplaVRxZTVVUG1kSDV2YlNCUDFEeEIwWVJ0OGEwVVVIcGZNZmZRUzdwWXk3UGNuU1oveUpGbC8vclQ0WGhPZFJEbkpyUkFLRzFweXE2THRxWFZlZnJlcm85T2FMWVF1dStGQ1V4SFVDTDFvenkybkpmOFlWbFFKdHRJQmdkWjdCeEwybEU4dFo1OUdFVzdEVHhFamc3ZmltRDlZTWVURlNRVHNXb0JUN1B1T0xGN2huVmc5cVNFWWpIVEROTXlhZHEwT1M5OUttS20rU2E5WVMwNm53TXFqR3RYaFU3b1NPYWk5N3FPTEdlMzA1YTdvREd4K2ZvL0hZQmF1WmVDUktkNlVPYzB2a2pmMzIyR2xqVWJianpEOGh6R09SUllYak0wRE85UytHRk9GQ1p4QUxKdXA3bnI4cjc2VUQxV0dTeWhkYjlXZktHS3loRTMxRThhdHZLcVRuYW1vVVF3WHpnNHdZYTdibW9kWTE1Ni93bVIwbmpsY2FKUXZMcTUwK3dma0IreTQzeGY0MWE0UE9NVXkrdXJWd2lvT1dqNmI2NklOTjV5ZlUvZytiMDFLeFhCS3ZPeDZBYTArcDFVSks0bzdub3JZNVRRbFY2Mm9RNjQyUDFSVDdoamM3UDg0UWZWTGMyckNNZWkrV3VuMHpwZk5WZjhxMm9XL2pjZEJmY3huWmlhVm9Wa0pkU2VrVE56KzZCbTJ5cU1Pa0x4dFp4SGx0aFQwbXBvSkdlUXRwQzYzNTVWdDBsQU1hNWZablhxeW5wbGY5TlUrZWRwbUZuNEtsT0pFKzQ4OWI1UFlDa0Z1TlNwQ0gvWStxbnAvZDVIbG1qRmpENVYrd2J3allqbVdNMnIvWFlmTW5UbFZIaGY0TW1iMGZUVWJOZVFhdzZINE5xVEtzUFF4TWZFczFGYjNXY0JtcnFta3VyNDhKYlA0QTNPcitiTnZETGwxMVg5TENTYVloVU9sL3hQK3JhMXRzQjhsYjJCWUZOeHJhRlEvdXBnSHdnOWFhdnZEeGh6VzlHRjl6OU1kQTVrQ1Jhck84NWUweFpNekFWM29vT3JmdmJiSXV1cnBkYXZsM3Fla0M1WFRxaEw2Y2ZRZXhqS1lUNDcybkdyTHgxdmcxdVZya01DZUk5TWZYVENaWUZsSXhhZ0szejFLTytxblZ0Q01LT3dxNFhnNzhUeU9uN1FpNkQ1dlRVckZjT3E4N0hvQnJUNmtQSURBaUk1cUszT2s0RTliRXRpUEZsRmg4RXExd1Rvdk9MdE1FZmRCejY3TTNaUUd2M0JsR1JWT2w4VDlsdlM5b3NsNmNwZVgwL1ZIRmY1TkYrS2lBZjBQa2xYeWQ1d2lmVVp6bWM2cnRFemhOdExZM2NudXFoa0ZjOHdoV2ZnaVcwcnJwQ1RDOTNSQllFSFhwNUcvdWV3L2lyK0huYzhDb1lYeldTZFB5T0tQZHhIdXdOMEEzR0NUM1I5WU9wbjJiUDhNZ1p0YUJOZnZiTVltTVRUK04vNXRzTXRGRGxOR2hPVDgxNjhsdDFQaHJWdUZhdkVFbm9pT2FpdHpwQnJPSFptZXBQaVc4dmxrV1hISjNmSmtBWjFhZ3Q0TW8vMElEL1FFdXBkSDdKK3p3bDdyRTNtNFd6NGcxUjZENXUrRGt2UHNJZlVHTk11QjZXVVF0R00rTERRWDlYeEszMXUrSy80azhLdVMzdHFnaDBuRmV5Y3pjZCtHeDVZYmJRdXRLZnNweXhiNmlCL29uelk1VlZPVXIvQld4dXU4VGR3TDlFUUdEa3JXcVRtTHpIK1NxNG1Rc3NKVnRpUjNUOVlLRVNQR0RFVjNDNk10ZkVUUVBndGRHNmJYQmMxTFB5c2NXWStSdEpnelNucG1hOVVsaDFQaHBWZTZzUElKTFFHODFGYjNXQzJKNDdPS3l6MHg0ZjV4ZUU3VGs2ZjBpQUgzdjJjN21LczMvMWZuRXAxTFBGaDJ6Zzl6V0tHd285SlNrM3ZhTUVud3dvZzNQMnJzK0lCNHFpTmR4TlRsbC9KSHVzSm5UMTRzY3Z2c3JqTnBwUDQvZi9lditMZWFaZmZQOTduZEw3LytjV25QM3ZlWCtYeDVlYWJycmxoajRtaGtNeHQvZEs4REdscG84ejlrODRqVXZ5VTEvYzR6MGJ6MnR5anV6OEpUTGcvWGVKQUhickgvM09qa3lGT3lLdktYZmVPdDhFdndORlBaMGp1bjV3SWdLdEkvQ1l0ZkRFK1k2SUx4OFpsYzlQT25wWnkvL2gzejVQb0hMenViL3o5d0ZhMG12U0ZHL2tURVBOZXVKYmRUNGFWWHVybDFBTTl4L05SVzkxZ3VhcTIrdFduNEpWR3oyNU84Skg1dy9KSVJUZWJkN0dyNjZTU3VlZFQ3RFhkN0ZGK3lpN2hUL3Q0VFp1K1hDdDlaNUluVWNUUEpTSnhQL2RqTDNqRlkvOVFPUG1NYnh0U2VwTC9zMHRYbnE4TTNQN054LzdiWXhhUEtGOFFxSDRXTjhyKzMrSFB1TFgzRDVDSlB3SVk2OS94V1B2Q2F4S1JCUWZ2Y1FqQjBNVmdOQlR5UVlMS1o5cjNqclAyVitXbk5MK1I5VVBYd05xOVNMSkc3VlFydDBDWXM1L3JyS2ZrZkh1ZjA5MjQ5eTBMNTl3RCtKbE1tZ2liQ3BxVmhiWXF2UER0bnBKYk1qL3FMb3pXcDFMczgzZTZKVHVRQjlkYnJLZDFkYXBDSTNLSHhiamY1R1ZhUDcvZ3A3UzEzbm5YelAyOElPd1p4L3E4ZUxDYVpWZnN3UnM5aDk1NEtmazg4Q0RMZC80RTVxdi9KSElmK3NhcDlzVzJSNTRwTVYxL3BHSDMveFQ5ejc0aU93akxqVkZ3aWQzRFFHQ29iMHY4b3R5K3BCVW42N3o2VHRrN3hwWmhXZVZjVUVob2EvellJdm5BWEErbGVrditaYnQzTzMycUZtdGQ1RWNoLzZQcUIvK2t2T05NREd6RmxZYnJQOEFabFhmSFVoNHh2YmRrRXNNRlFOWU9DaHZDeVJTWHBNbWdxZWhacVgwZHAwZnN0VkxZc1ArUjlTZDBlcGNtckN4bjd1dDVST3MzeEx6S0VSRTVCOVdERGU5cHZQT2o5M1o2di80N3dYcGRLNTRJZGpYU1dSOHJvZm1zWi82bHRaRC81V3B5VUV1d2wvNi9IMzkrMzgzR0JVSXZiNkYyY2pubS8wMy85NnhudkxId09NN2pCQTlkcUI3U1U1eWVjcWN4M2x4OUhabm9BZ0RFOWpyaHkrZXRzTjVBN1ZRK3Z5RDdLSHZPUXltcTJrcm1tQmMyQitnaVFSVFVMT3lHQkU2bjFlcmwyd2kvdTExWjdRNkwrZkd2MnY5NHA4STkvYzMzdENWNU96NVpleHcvN3JPVzNPV1BhczlJc092YkZwelhEUlBkMXJUVEZ6Z2laemtjc2x5MW5reGJ5NnV4TmhQdVJhbW5xZ1cwSTBQMDAwbW9oa1daVEpDb25UZUt0M3dyZDVLWmxDZzBlb0dKYzR0ZnFET0wvbUdYbk5uUDFLRUJkMFdISmxxd2lMTzFQNEJCTXRaNTNHYTBMS2JsaHNBc0t4WUZEZFJMVnl5R1VDaUJVdEVNenI3ZUdPRzB2bmhXMzJxd2htdExoV0ZOSmtHNm56N2lpSmJqVDJ4b1pKaDhGRHVxWEUwL2VsTTdqcVBnNGZENmRad3FPM3BwZ2lWTlZFdFhMQloveFNKa0NNUnpWQ3VDUWtZU3VlSGIvV3BTbW0wdWxRVTBtUWFwUFBsMW80aWUyWWRVRlMwY2xTbFVVNkZUTHlqWk9oTnp1UDhDWFErMGhhZUhacTJ0bitoVVV0U0MzdlNoS2ZsaTNNbW9SbVhmNXh4dytoOG1sYWZvbXhtcTB0QklGMldRVHEvNkUvdCtUNWJOd21YWVZ0U0Vwb0ZwMWt6YkJBNTYzd2RPbS9aVGN1clNFZTZLY0lubXFRV2p0aU9ueUdCS3duTkJHVEdrbVFZblUvVDZsTVV5bXgxS1Fpa3l6Skk1OXNIUHQyZTFWamt4MHZYV3BFdFhETEo5Ly9FMkQvUFdlY3hQN0x0cG1VdlFlbjU3d0NScHMxc3owL01ET3hueXZxRkprbkVTVUF6Q1pteHBCbEc1OU8wK2hTRk1sdGRDZ0xwc2d6UStaSStUZDgwai9CRk1oeTZLVVZTR2xsRXhaakI1S3p6VmVqOGZoRkZxZk9UeXpnenRXTWpucUFXRmdaM0N5YmxCRFROREJQa0cwTG5VN1g2RkVVMVcxMEtBdW15RE5ENUovUlQyN0JGYlNmaU1xYXlKSkxObXFoc2JqWGtyUE5ONlB5V2xXL0d3QmJEVVlqMXFEMkJ3YlZ3a3JBK2ZURUgwL1RUVHBockNKMVAxK3FITG0rZzFRMmRQMjJHZUoxZmJ1bHZiRjN3WDMyTFozZGg2TFlVVDYvdzJBVnpTWnl6emtQbDdVTnh4bkx4UThRSE9KZjlGVHVkd2JWUXNXM3kyWWw1b1lOcHhtWWZaMlJ5blUvWjZvY3VYS0RWRFowL2JZWlluZitQRGNiK1FGSXUvMkFOQi9IK2hXVXJXS1pRLzh1R1JVd0ZUNjVqenp6VmtxL09ZL0tkY01OalNJQndhd1U2MTgyb2RjUEFXaWdOdjVzd2tPYVFSUmhoOHNRNm43YlZEMTJXUUtzYk9uL2FESEU2ZjhZYnE3eEtBbnV6NHRFbis1Rk1qeEtsaXN3KzhvaUd1a1pHc001WDUvbHdyRStYY2lzZDEvbGRYSFhXamFBNHFCWldvbnFMQ0hvOGVCRE5tS3hqamtxcTgrbGIvYkFGRExTNlliT25UaCtyOC8wMzMvdWd2Q2VyMU9yajFaUUhIcEZ2cXNSeXZLQ2Zhb3ROT1JHUjY3S1FualQ1Nmp4WFRXM0hNNzhTNHh6L20zQWkrcWtvaW9OcW9SUDNzbndFMFVFMEk3Sk5RSEJpblUvZDZvY3NaTERWRFprOWZmSTRuVTlQdFRTc1FUZzlxenh5bmdTVzIvbnFQRDk2RzdIa3ppWjhtYjJWYjhsdFIxRVpVQXZsTkN1d0FUU2pSSm1BOEtRNlB6SlJnNjF1Wkl5TDBYbW5iYnV2Wm1TRkdwWlI3YXRtam54MW5oKzkvYkxKSUNkZisyYTNmR1RlNG0xUWpxK0ZKZjlOWWlOWHZDZWVabnplc2NaT25NNEhXOTNJMENsSTV5K2xXQ3FPck14QlJtdkJsVWkrT3I4Sm5UOEk4c3pGdjlwaXpiaGR3UGhhT0VxMTRJaW5tVXV4aWlFeWFUb2ZhblhGRk50Q3RTQ2RkeXFKMXYwV2djWVFkQlljS3ZQVitSNTBmcnVZWXEzZmRmN2VPTXB4dFhESk9Ib1lSOFdNaTZOcHBwd3MzNlRwZktqVmpReXVIdnREZkZjOWYzWUxjZU5QL3V5eVVGdzFOSElaY0hUTUcvMnlFRWZlRG5UK1drWWFLYlBIMVVJN1phOGNSek9sbUNQSk5tRTZiN2E2a1NBZ21mQkJpT1hheEQzS1o1SG1aTWw2VXY1N3hoeDNMM2RBamtDeE82YkNSdGZDUm5CQmsxakNhSnFKU1l3allkazhkelVPRVhTZVpxdlRZd3AzRjZienEyTnI1ME5pVmpaTldmbnJmQU02UDZSTXVTV1Byb1dUZ04weU9jdG9tc2xwakNObE1lODVwU3hKb05XbHBKSXVXMkU2Ny96d2JqcUpScDJyL00wR3gveDF2aFg2VHBiQnNGaFBaQzM4VmZycWlhUlpiRkd5VW4vME1DdUZIUE1IV2wyT2xJblUrQkhnQnhoVGo2bmpGNThrSUFRSWdTRVJ3SmNnMGh4K0daSUxKU2NFQ0lGSlFjRHlyZnRKRVkza0lBUUlnUUlRNEY4SjNTK0FMcEVrQkFpQnlVUUF0dzVNejFtRnlZU1FwQ0lFcGdxQlRlajhKRm1NcHdvOEVwWVFtRUlFOXFEengxTW9ONGxNQ0JBQzZSQm9GM1JqUmpwcEtCY2hRQWdValVDbG9Cc3ppcGFiNkJNQ2hFQTZCSEQwdHBBYk05SkpRN2tJQVVLZ2FBU3duSCttYUI1RW54QWdCQ1lHQVg3cjdmN0VTRU9DRUFLRVFORUk0S0pLMnA0dkdtU2lUd2hNRUFKcjBQbWRDWktIUkNFRUNJRmlFVmlCemhmTGdhZ1RBb1RBSkNHQVkzam1Cek1tU1RpU2hSQWdCSEpIb0ljUGZtbEVQM1ZuNi83ZjFmemtKQVFJZ1JsRG9HTzhQZjlKMW45ZGcvM3FqSldSaWtNSUVBSStBa2RNdTRkdHVYVUxyOXU4bTM5eWloNUNnQkNZVFFTYVRMdEh2dTV1MjFXbjVYN1EyYXdTS2hVaFVDZ0NNTnVmU2dZbDcxdVZpK3p0TW9qK0NRRkNZTFlRMklET2QyV1JWcnp2MzViSmxDOGhvWDlDWU5ZUTRMZmhxVEo1VTN2SHFkQXhIUVVLT1FpQjJVSUF0K0g1WDhOcnlBOEc5ZWdJL214Vk01V0dFRkFJNERZODlSRXYzSHJ0aFcvUzdkY0tJWElRQXJPRndJbjJKdTJhV3NhdmVNYTgyU29ybFlZUUlBUWNwNjY5U1h1QnlVL0JMckp6QW9jUUlBUm1Fb0dLdGxXM3AwN2g0bVc3M1prc0xoV0tFSmg3QkpxYWRyZlZkK3RnemFmcnIrZStiUkFBTTRrQVBsRHB6K0lyeXB3SG5UK2R5ZkpTb1FpQmVVZGdWYi8wdHFwMEhwZm5iTTg3TkZSK1FtQW1FY0RDL1dsVnNJYTZBQmM2djYrQ3lVRUlFQUt6ZzhCRnhxNm8walIxbmZlRFZUdzVDQUZDWU9vUndJMFoxMVFoZkozSGxKOTBYdUZDRGtKZ2hoREEyL1BIcWpndGRmb09PbitnZ3NsQkNCQUNzNE5BU3gzRFFabjhHM05JNTJlbmlxa2toSUNPQUU3WWY4bjMreDdTZVI4VmNoRUNzNFFBelBiYXVyMmxiSGlrODdOVXkxUVdRc0J4TnU1OGlZQUJadnRESHc5RDU3Vyt3RTlCTGtLQUVKaE9CTnJlbVp1MmVwT09sOE8zMjlQKy9IVFdLMGxOQ0VRaHdMeWxlME5memp0MEppY0tMd29uQktZY0FYNEpIditRQlV4NCsxcFJhblQyVmtPRG5JVEFEQ0VBRTUyNEZBUGZxdXRxeFRMZXNkblNJc2hKQ0JBQzA0MEFIK2Y1alZodDljSzhLRTlIZVJjTTI5NTBGNWFrSndRSUFjZHBpVDI2Y3N1WTJqczlkU01XM1psQnJZUVFtQzBFenRqTlk4ZFpZdWY0OVorTDZncmNKZGIzZzhsRkNCQUNVNC9BU3IrTE10UUNuNnZ4YjhHN3FFYjhxUzhxRllBUUlBU0FRTGx4ZTlmNUdMdGxEUE1PVEhzZU9uVFhOVFVUUW1ER0VJQ1I3a0hXdnhZb1ZWTit2cWF1SDhrTkpDSXZJVUFJVENNQ24zMHhlOE5oVVBBT3Urb0dWZlVqdWNGVTVDY0VDSUZaUWVBQ2UwWVVwYVJkakRrclphTnlFQUtFUUJpQkRjOXd2Nkpka2hkT1JTR0VBQ0V3TXdpMDNldHVhV28vTXpWS0JTRUU0aEZZYloxamtmOWg5a3Z4eVNpV0VDQUVaZ1dCdjJMOTE5M0hualQzOEdhbGNGUU9Rb0FRQ0NQdzJUdGJEMzhicVh3WUdBb2h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bUZvSDFPOCsvY1dLRkk4RUlBVUlnYndUV1cyOTVWcitiTjFXaVJ3Z1FBcE9LUVBVcHg2bTlmVktsSTdrSUFVSWdad1FlWnp1T2MzSXpaNnBFamhBZ0JDWVZnUWFHZVdlRjdVNnFmQ1FYSVVBSTVJckFJdHNHdlVXMmxTdFZJa1lJRUFLVGlrQ0hIVU8wQmFINWt5b2p5VVVJRUFLNUlWQnVmWkhUV21EN3VaRWtRb1FBSVREQkNDeXlaN2gwaSt4Z2dvVWswUWdCUWlBM0JQYmNTZjBTdTVFYlNTSkVDQkFDRTR6QUVkK3BjNXhOZG1XQ2hTVFJDQUZDSUM4RXlxd3ZTTzNSZWo0dlNJa09JVERSQ0t5eko0VjhIYkxiVDNROWtYQ0VRRjRJTERMMkNIOFl1NVlYU2FKRENCQUNFNHpBUmRiM2RINTNncVVrMFFnQlFpQXZCSHJ1T242RG5lZEZrZWdRQW9UQWhDRlEvdnlMSG55WGxLbk9ybkxuQXZ1cURLRi9Rb0FRbURFRTFobnpOK003N2pyK2duc3laOFpLU3NVaEJBZ0JnY0QzbmZrYmMyZXN5OFAyM09GZVJOTVBJVUFJekJvQ2UvNUxkR2ZpRFJ2bnlQMmJ0WUpTZVFnQlFrQWcwSEhQM25GM20vSGZNaTNuT1F6MEVBS3ppa0JWS0xvb1hVODQxK2prN2F6V05aV0xFT0FJdFB5THNEYUZ6dmY2dER0UFRZTVFtRjBFU3RwTWZvbmI4TXJOTDgxdWFhbGtoQUFoc002ZVZpQXNjNFA5RWp0VUFlUWdCQWlCbVVOZzBkK2VkNXpxbDUxUzQxZG1yb3hVSUVLQUVQQVJ1TWd1dityRjUzL2dCaXoyLzJIdHlXTS9rbHlFQUNFd2N3anNzV2YzditOWjhoVE9yN1YrbWd4NE0xZkg0eTdRRHdXR2tjY0MvbkhMTjIvOHp4Zy9rM1BtRysvbkRRQXFiOEVJUE5waTdBWGFTTUw5THlHdEx4ajFPUEkxeHRmdkYraU4rVGlRS0M0OUFuZmpqUTdHYmgxNkZNcGZFUDUzcGlkSU9iTWl3TVJ1Zk03bmNEN1kvSmZVa1dldG1kbkl2eVpVSEVydmpmUy96czYvZnZleFAyS1haNk40MDFpS0RjWS9WdVZjWWwvT1VmcVBuUDhPV2Y5enhIT2FTZFhZdCs2V1BnVEZGMTlPd0U3d3pTNHZ6c2R1MGFBd3JtcTk1TDQzdThaeVBJaXppSVhDRWgzbUcxZVZUaFRmTmZaQ0xzOUhvZlRiK0M4MSt6djR3MU9qZ2Q0Rll2Uy9TKzdoK2hYdFpFNVdJY29OOUI5bG1yeGx4WEZxODYrK3VQOXRVdmkyZC8wS1RNWG5HTm52WWQvcnhTelJ2U3dTbzFIL2I3cTdkQmR6dkNaalJkZ0RHM2t1RmthTkN2SExnRUNwd1ZwTTJ1aWFXeTZsVlF6MFY1eFM2N1lrWEc1SkYvMlBHSUU5OTZUdFhvN3YwbFhGaGRsVmQvMDI0dUlRdS9FamNBOTdrL09uWWlidk9PdHFEN2pOMkUxc0QyMHIrVHFueWttT2tTTFFkdS9IT0pNWFoyeGc4OVI5enIvbk1KVWs2KzZVb2VKZWxaK0tCR1dhWWdSS0xiYnJPSFczK2xmVWJJOFA5TnRWMVFVNHpzVXJVMXpJcVJiZHZTYkRhZmFQM1dKc1BJaTY2VC93d0FQNDczOWptcUpkZDd1UHlxMDBtU25QMUNPd3dsL1VmRFZ6NTQ4bmwxVjUydGl2WStxNlZjZFpVOTJCU2tLT2tTQlFGNi9NcjdvN2RvTGpNblAxdi9RRmRvNE9lK2luNnM0Y3F1NW5zSWJPVGhtbUhJRXpmTlM0aklGam41ZWpmazJWNWhMQy9DdVpIR2RaYkJLcmFIS01ESUZOb2FIWDVYbDc4RjFubnAybDNOUzc1YVFTbGJ6dlg5WDg2M2VTWnFWME00QkFpYkZUaHgvRXVjRUwwK242UlRwaVh0TndnMHBrdVBleEdhbHJnYy9CeWcxdDhiM0l2dUpKY01KbmFjTStjcWVmdm9zeExIS3prUjdmUHp0MlZxRHpZdXArcHMwVWx4Q29lUjFsd3ArTmdrOVJLWnB2eDZFb2FjSGpjdnZiZGl1d3RBNzluR0JxaDZmRWFEMC9OSGF6a0tISEd3MVhiekhPNnpxUGVhTStjU3pUeHM2NDZ2dHg5dnZQWWoramNmZTM3WEJPVWd0UDZPeTQyekh5RTdjSmMxR3lXVUdneHFlSmZPMStoWmRJbjl2akRuVjlJS0M1L2ZpcS9OSFdROC9SdVhmVTJ2NWltcmw5MWYzT1pVdXpDdXJVeVQzYkNHQTV6d2Q0RE9sZFhsRE5odWZ3M1RwM1FPQXh6cnBjUWdvZi9Zd1RnYW95cm5JTDdOQlB5LzJjZFN2WGwzYUdsb0l5akFrQldPOHVnL1hDdmQ4c0JOamtIdSs1empEUSs0djRwV2RrQlAyUEc0R1d1OWZtb0Y5TzhaN01oamQ5NitWNHNHL2NpQkQvNUFoc01uSHlXbWJRRmJ0eG0zOGNjVXRHOWZhbGkvN0hqSUJ2Zkt1d240eVZwZlJ5NDNtRlNMenM5ZVFWN05qUU0zOElkTGpaM245V2ZVUGRFbmJzSy9LVldxUm9IUHJKeURWV0JOYTlGNTNMSDJIL1hid2dkZlRhK2lQcWV0MWJ4emVOcW84blJMR3pnMEFqc0VmYjdNcXkxZkJlSFRieXBMVm83VnhHMFArNEVWaGt0My9qTjM3ajMveC9qZlBmSFNES2EzU0ZseWJaUys1THVTVnQ0VGFBREVYUEVBSTRnT2V2MkhtNTZtL3pTdmNheGwxWTBkOTA1d0ZIT1Y3WTRMR2d2NVFJWEpTYS9KTGROQlRVSFJ4a29Va0QzN1Rud1lyZDFPVUY3L3oydXF2cmZCTlB2R1o3dDcrd24vWXlUNy84UGZlZ2RQa0htdWM3S1VxejZwN0ZPS0hsZkFyd3BqOExEdU1FT3ZzamNaWnp0ZW5wK0N1aDlPLzR6WTkvUTJBNk1QMGxuK1lTcUxkcUw4bFoyRkNsMlhCMS9vaFdhMFBCTml1SlliYS9ZcFpsZ2QzK3c0OS9uckczZXNFVmJ4NTVhaVliemxldW1iT0o0WEpQVmVxVi9tSGg4dGJZanNmalNPeTBEc3RRNlB3R3c0bGVldVlQZ2JheTBhbXk4NnZ3R1BzNTZTL2RJZnd2bFA1VS8vZk16K21QdFJFY2JtdXA5K0UyVTNHclBZMWFmRUoxSEttcWxESk5Ld0pWNzcxNVhmNVgzZHUvLzIrMWdKZmV5OTZzKzdXb2hFNWM3TEtUTU9uMEo2c1Z2a3lXWjJxQVZhcFhiSnc2dDl2VzZGemw5RGUyTkNYQUdPNmE1ZE5rVHB5bmwybzBTa3grc2hLS08wZ0tGZW1TdHowUEprdUJyZFprZkJmeHZ1U3IrOTFraVNuVmJDR3dqTnR0aXk4UmJ0ODZMWjdMeEhCb0ZsM2FKWCt2NWFKeHhVRmlDS3EvOERmczJ4T25wb1N6aEFCTzIyczNNUlJWc252bXkraC92ZWhaemFacmQrZlYxZmJWMzYrOVIrL3J2MjdIOTFwY3F5Kys5VjVMTUFYTkFRSTQzRkg4alZmbFZpcmo4dFRDdjJHeGtlUmFHRzk3SGpRQjdYYUlkSVhkLzd6bUNIWVBRb3dwWUJvUTZIblg0eFFxNjRyK0ZuNmhuTVpFZlAzTzgyL1VXZGR6L09DTVRsZTYxZmE4OHhvTHRFK3dEK0FLSERvMktkR2lmeE9CTTVibTlXdVR4a0JmZGNZMzZ0WmJiM21XWVJCYjhHNmxIWWhNeWdScWV4Nm5KQzhIYVpTYndoNi9NQUk3VFpBMSthY0JnWnFsMGVRdE54cG04YWRVOGhaNkdIcFZMSTlxeHZtV2huczJkaGdpUTZURjJrR2tMbisvLy9raFAvdWlhMEg4NThaVmhuNDB1ZVlkQVd6VmJSV05RWDBVWnNLaUN4RkQvM0YrOXVERXVKWHVlb0ZHeXpYK1FZdUgzUTlhc0o4UGI3VFd4UUNQaFg0M1JtYUttbHNFc0ZWWCtCaU0xbmRscGdGdWNDdm9pakdzNGxheHdxWTJGMUJuN3RPLy8rOHN3THBmb29NRWxqZ0tJZ1FXMEhqQ0kwVyt1T0F0bm02K0ZDZUwycUt3bkMrYTg2V2o4Wmt3V3VMKzZvMENaeHFUaFQ5Sk14d0N1TmErUDF5TzRWTjMwbHpNT2p5YnNlWG9pRjV6d2R3enUyNnhwNDlHUWx5SWNNbzVmZisxMGZBakxsT0dBTjZxTTlhaEJZaVBlM1ZuZW1wZmJvbmJ4QlpNcXgydUpUZ3RBTXdrSkhFWmptM0tueVFycFprREJPcXM4RUVZVTRtZFdVWnkwYjEvWURHdzU5a1libkwvYnJsRzkvL2ZKRkh6ZytKY01yWFRRS3BiZzY3TVVxbkpNVzhJVklLMzVPUVBRR2ZHcmZaNzdxUit5VDhPS3pEY0cyNXlYdzJyODFkbFhZU2piQ0V5TlU3ajh1Y1hsSjhjaElDT0FNYUVaM1IvL201WTdjVjM4UEtuUENFVWo5eHB6R1pnQlFQcjZEQUw2ai9EM2x2Z1VhL0FDQjBlK0tQZzRIWlpQR3Fhb0NMSVFRZ0FBYlNOZzJLQndFczhXOFZ5R0MvMXNtY0UzVFBYODQ3VDBqLzFOMUlaUHlKMHZuODhVcWJFYkVvUTROdnpsNHVWdFZmSXhzRHFuZWZmVmF6Y1Nhbkx6engyVExzOVB2em52K09lbEZaZTZWNzZZcTcxTTkzVjVnWFYvTkhoMDhDQ20wYXRpUGYybHB2bmR3VjFiRXkxaHc4QVBNS2YwRlFlYnl6dWpra214L21SV3VFVHVMR1ZqUmhuUW9CL2RmNHdFNFZCbVRHVHVESW96ZkR4bGY2aFUwbTJ5Zmg0d1hkdlhuUy84QXFkRDJnNGR1dTJoeTlaNGh3ZmJQN0w0NWpFRzgyQVRURW1MVVhORXdLYjBQbEFVODI1K09oVnJ1Vk0wc0hIZGQ3R0Q3c21JYnpjVk9idjNNVVFCTDFYMlRmQzF3MFZhcno4eVBudk5IN0ZWcUtQM25LN2doUFNlUnM4Rk5hRHpoZUxRcjJJNVh3Vkg5WENCMWtQQm91K1dtUDU2ZndQR2w5N2ZQbXVZRjkzUCsyMUVPWlQ1Q2JsSWpxOHBiNHJnWUVDVGtCZEZRR0xSY3l2REZia21Vb0V6dVFIekFxVHZsbUFKV3RSM0VoUkhtZ29LUC9nSDdkeVBIUEVEWjc2NDI1eWR0enB4b1h3bmljVzlPNlFteis0NVFaV0xHV2IrUlhtaFczQmI5SFQvZnlaRThXcFJxQVcvRmhkM3FXQm51Uy8vOTl4ajdXNjc1TEVTRnpGL1o3VjhQZ2JreU0ycXRUVU5aNTVlM05uN2d0RWUyRVZnNEYwSzVaZytraDNYZE93SEh6QVMzZlhCTjJMcy8xaVUzcnM1ajBuR2pGL0Q3UzRCKy9VYmVkTnZlUXRuUnVEbGlYUGYvZzd1cjM4ZE41ZWpqTjNNRDhLaittWVp1ZmYzN2xDdUsvTFZ2M1BoaXZaTHNqWDZjNUdjTFdwNGtxT3FVRUE5NjBVZkhIYlhnSHYwVjd3Ym5xdEpSbkpDdGY1dHVoNXlyYXVKVTliZ3RHbTF0M09wR0pSNjdYenJraTZNYllUUVlhazVKazBCUGczWjI4VUt0VFJjS2ZPRThsUzhXYlZ0U1RiaklYcmZFL28vSnJOWXRZdXduN0pJYnJ1TGhvcTRrVjVFN01OYnozUjduZk5DUElSQWh3QnpMeHRiVFUvY1BBdTkxZnlvK1pTQXMxRDRXb2tlVnUxY0ozZkZEcmZzOW5RWWNSejE5WjVRMUIxRnhMVnZvVnc1OVlPUWwvR2Z0SVNSMEdFQUJwbC9zdHRIVlpNTkYzbWl3QUFJQUJKUkVGVUpIS2ZSNnpKbmZCV0VoTlo0VHEveEZjWTVhYnQ1QStNZUZkME5QSnlsN3czRldzMmc4WnlrLzM0OHhyc25Ya3hJenF6aFFCVzIwbkd5dlNGeG9tY3krbHoyM1B1eWFWem92NnFjSjFmNWdiN0plc3lBK1lTaTJYZFhxcGhRdGM4ZzRicy9NeThHMTkzWC8vSG4yT0drWThROEJEb1FPY1BpMFFEbmNxMXZPbFhQVVhDSFAvcVlOcUY2N3hUL2JKVHNoK0p3NnQxRnN2NllKa0hwVGh4VHlPVkNyQ1ZER0pOOGRPT0FEYXdpejE2VzhuL1dBcFVmVi9namxGMGEzQUZGSy96aS8xL1dIdnkyQ3JKa1gwa3RxWWRJckRqTHNqa0czMUQ1S1NrYzQ4QVRxblpsb1Q1NGRMSy83WTltQWpjcVFNY3A0TWx6YXJ6cTkvU2V1aWI0dG44V3V1bmQrMHA2Z1hzVklKVDFYMnRwMVh3MlFwN21TaDBxaEhBb1pGaXA0YzRoWmY3a1I4Y05ITTFES2RNRHdmRG4xSG5GOWo1ZDk3RmZua3dIMnVLelVSVEVXdld1TUNXKy9adW9lL3d4UEdudU9sRkFHOTd5bE5ieFJRQ2QrVGtmaEpOM2NFQjVkOFpMSFkyblM4M2J4ODd6ZzhuWVdRVEJkM1NnUzE4K0xEUFB1L2VSeUNKZURhOGpycFh6SzdBOE1KUmp1bEJBQ3FaL3ppc0Z4OTdnZnU2WDNPdjN0bC9yZVpON2p5UzNkUkpJbHRCTnAxL3dwMUtWSzRrbDA5UGlXL0pQSzM3MDdzN3FDcVplOWxEb0pKa2JTTXpwZnYvOVBkOTdubjMzVTZYbDNKTklnTDhJMGc1dFVsNzhmWWlsOXpyTGRaTU4yVnV5bE0reWQ3U3phYnoxYS95Z3BWcUtiZmNZRy9NU1dHV2Y5dGZoYTE3SFhVemZNVGZYZzJwUS9tZ3dHYjgydUxVNEV4blJpdzM4ejh5bzBOeEZtWERLalg3MTNBbjh6VTljVEkzMUVnOWx1UG1JU0taZEg3Wm5UMWZUOTB6Tm5NejNKZjhiYjlMcmppbHZQcVRFR1lxZ0ovWktuZ3FxSGlSWXlRSXdLeGM3Skt3NWs5SXpRSzEyZmM2enJKM3RNU01HdUREZEZrOVNleURtWFRlL1JJZE9xY2JBNlNLaWo1S3RQNkl5cTJIci90Z1hYS05KR3Y1MjBwMGh0eTkvTG12YlJWMHJpaklpdnlqUVFERGNMRkhiNk8yQlM2NVczZ04yM254QVVYSGVkWVBmSVkvanlWYmwyVFMrWXV1T2FLWDVQQ1BWZTVPb3IwRmE5WkE0S0xmNzZ5NnpwUGlsL09RQVVQOVFVQVU4azR4QWpYby9HbUI4bU9yenI2Y1BYTmY5T3lrbU56ak5PK2hFQmtEL2tFQzJUUHAvSWw3ekhmNTl4TXdzaWJaWTZtN2l3QzlpLzRoNWcxWDU0L0VaK1lEeVhMM1F1ZTNjeWRLQk1lR0FPWnRhWGVoRXNtTU1kbjZWaDMyQ0x1Y1FDK1IxcHFzTnJYdCtTMHp5dXJMcFBOZzl2cXVsV3pDUUdqTWxZUkpCeVRiMDNwbm9mTWI3TzBEc3VRU2ZTS1BRT1ZDallpTUdRRitKS2ZRbzdmWUY3QWF2T3Z1OE9sc1J0dkdWcHRjT09NNTMrVjRiVEp2UVFCMUVnRk8zTmNkZWI4aVRPOHhVTWZrNTFlQnM1L2VpY2s4SUFvYjlNOE1TSkl3dXVOMmt5SjFqVysyUEZGb2Q2Mmtha3VZVlFnNXBoZ0JZUTRyVW40TWt6Y3M5UEVGTzNmd3V4Z3g5VWNlS0V2b09lVzBUdVJwM3A3Y3ZLcUdFdXBxUGxqblkvSzdCc1ArRm1lYzZzSDVZT3RNWjNoaVZiVTk3emgxdm1LcTVVUjRnQ2hIc284ZGtJNmlwd0lCVEwybDNoUWpiOC8rSmkxdTZ0Z1JEQzlFNzJSdDNCWDRZT01ERDd6aG1HZnF5VDJyaWp4T0ZQZDF4eVRqZkZ6K2l1aFAzQm1HRUhuSW4waUx4cEIwOFBXN202V3ZhNzJsSy9JdFlvYno2cjdySHByUWtCbWF0RDAvSkdJVG5aelBYTzAydHB6RTd0aVBtN2RsTTRJQVEzT3F5NEd6bWN3WU1IaWNqeE1CUjRmNDg2NjROSEZ4V0Q3bFkybkQ5dnpSdi9wY3c2dXU2aS84RFZOZnJZM2puemtPeHlHZXlreUVDRXdNQXB0b3pZVlc2Skcwc1J0RjlqOU9EWjN2R2xFSlBHM1BCZ0J0T2syUVBNRjZQcGJLOHRkeHJVLy9Gand5eDlKUEdvbEZBb1M0NUJudlYxOTg2NzFKYzJaTGg5V04xU1NUalNybEhoY0NQVFRJUW8vZU5xd25VckJVdit3V0dUcC9iZGpDMTcwMnVKWnduWmx0bklkMHBRK3hoS3hzUlFFRVhWdjRzR0ZMVE16bG00WDIwUmFoY1ByMndCSk1RVk9LUUFjNm41TlYyWTZBZlpCckt6V0FYZi9VbmpNNnRPZUp2Smx3aXBKWjV4M25ZeG5HNmlQclZDZTZlRkV4bSs3TzNHajI1RFVoVUVYYm1wZWNVNDVBRlRwNVVHQVpJaGF6L2owYWFGQkRtOFJQdksyQXM0UWIzeGwwZnFQeHN3SWRyR2xUbzNTV29vZzJaajEzUm5SVzZONnFoZkZKaXFtWWhRd0ZUUWdDVGVpOE44c3VSQ0tzQlMyZmk4YUJISGxIN0dhS1UycWJyczVERDd1SmhNNmc4M3ZTd2xsTmI0ZXI1d1N4K2xyT1RxSlM1NWFvVGR2enVXRTVBWVNnTmprTlFoR0Z3VjZnWlZ0QU84QjlrbUxpdU9MTzdkZjBQZmdJL2lJNGc4NVg1ZjVDMVZLTU9KNWEzRjVPQi9GcWJyZlRTTmpUYVJKa2M5TDJmRGI4Sml3MzlvNXpXbXhHRkF6R09vdkJ1K04zTkwwVWcrQWwxNGJuZmZVOWdyTVduRUhubTlKazBFcHY2Y1JVNW9ZbVRXcW4xM3UyQ245bFBpQWhiYzhIQUpsdUx6K1NVK2p5RUdaNWk1bTU2VE50cHhqblN5N05KdjhDZlpLbm5uUkNFQ2JXWkZkRjRLVU1aaXpvZlBvT3d4ZXB4TDdDUGZMcm5INUV3UzdNQmI5YU1Bc2lQMElFK0llcjBodW5FZ2lLV2J4Y3VmdXBzY2hYWDFtck1FK3IvT2pCcmhxZmFDK3l0dzFPS1ZLY3lRbDZ3dlJhc3FPM3VwNWVQMkgvb3VXVlRwZ3BoYlpLZjhyL1ZYZEZjeWswY1hyWjFaUVVrMlZEYmVYUlpTVmpScWtLUndCRFVFNkh4Q0pFQllQd2VRNG9nUm81YXY0MFA0S0VKWGlQVDIrUEVnM3o1Yy84NkV0UnlHLzlQeitUU21sNzdzcGtsZjJLUll5RVFlaFlWWEVUWnJFbDgxNlp2eEE4RVZodUZiclo2bUI3L29aTkhncWJUZ1Qyb0E1SmJwY2FWTHJ5Qis5aUR6M0hrdXJFMW1CNjJzZ0JBVTc5ZkpGMC9DVGN4YytpUGM3Y1hUUXpKdVNyZzRIN0JQU3U5UG43K20vWkNhVVBCS3l6bjBESWN1M1diaUJpQ0MrVXhtTFRjQWtrazBLa1hYWlZyeDA4dzdTVXl5ekNWcDVISDd5RmEvM1JRMS9XWWhOV2taYURuQk9GUUFmcUVOQ0ZOUEp0MUJoN2dMRTNodk5DdlE5Q29SVS9rTC9MZTZnU1JOTlJTVnhIcDM5blFybnI3SkdISC9pcEJ4NThKSkQrTDVzTU4zQ2U3d1FJaDd4M3MxdmYrU0xXdnhhS1NCNkFNN05SL1dwU0tRUXpNYmN2dDRJYkNKMUF5WklMRnAreS9BWFdiK0wrc2hPalYwNWNSZkhFS1hac0NCeEI1Y0xyN2FIRnFiRHZQblpLSDdhY3Jta3p0aDhpMTJKczJ3dmsxK3QzVllKb09pcUo2eWk5ci8vNjQwRFlVTjVQTXZhU1hlZkhiQWJHQUozLzQwV3RoMTdRRFFRTzVVVVpMV2NVT0lua1V2RFVGVzRWZUZ4Qng0UHdvTmVNNmxIY0JHbC96OWp0WGVmdTgyTlVZZGVua2JpSy9DemttaWdFbWxDNTdLdkJ4NWxyNlRvTFR4azY1c1JRRkI0Zm1WTmpPK2E5L3RaVERKMmNVY04reGM5d2trL296VGxuSG9vY2pHRDJBejFEU25HaHYrdHNOSVBMaEpYekNPcUtmenJISjloNUZ6bHIreGdYZkFxanF5S2ZKN2x5UlFBYVo1bDdEOHVpY2NzZGM5ZDk5WlVrS3Y2UUxvTzRVVWdseEY2ZXJ3OHhkRlRtWEJ6bGhqY2YzckRNUW5MaG9CUEJJWWkrN3BmdVlhVW9OMjcvaDhhdHJzenUvWi85dnE2VGdjajAzdVdXQzgyRnA1cjZMR1ZrVlpSZWNzb1ppNEE0a3JNZm15UkI1S0t5SkRkT2c4bXJscTA0N04rcHJicE5iV1lhUnlkSU41di9sV3FpZ1k5SUYvN3dlWTJOeWRCU3JENi8vOXB1Z0ZMcEhPU0RnWUUwYWJ4MXI0NTRFL0duYjZPcm9qUXl6MHVlVDc4ODZubkZZQWhnWFVxelZSWWdYSmVXOXpzTUE2OUlWYlBvZkYyelkvZTBNenR4ZEFJc3MzblJqdm5TbUQ5bjB1RjZDL25sZGtxTDhTRWZLUzQ4N1JUeENndzZFdS8wUTFQYlpIRkdWa1dGVk1TTUVNWGxFNUhQNmNBeWlpTTVod09URFVqUThGbzBxTzBIa3pZc2ZVb0Y0L3h6dlFmeFQ4czhjWFJrbWx6KzBkRnNlWVRhSTlCNS9sSkROeXg0UGxKVXRweG1pbE5OWVhITUVBaTM0NGFjNmJ1dEk2c2lVeHJ5NlFqd3FWZlVjMWxQYUhWamx1MmZncldtU0JDNElWZmtkY3ZhdmVHcmx5S0ZNUDI1NFVYRTBsR1pjM0NVV3Y3YTRpeUhYWXVCSXFHMDNWQ2lmS1RZZ0RXa0d1NXFROXlHRFdpcXpZQ2Vab1VkV1JVTksrNThwWCsrcmo2R2UvRGVNOTk2dFM4MWg4RndUZHA0S3BaSlp0UFkzSFhKY3FiYXMrOHhpNlV6akVDRDBxS25VM09MbXV4eEJtWEtFby9DN29UeTV5TUZwdmJPV2Y3bjVHQm1sZmYvbldnMU9MSXFDcUZGQVhraGdKSFpIL0xTRXIwZ1NiVGxnSzlSYW9iN0FXN1NPdldTOEdtS25HYkgwdEZJWm5aVy9QbElLYmpiblptNGpRQUt1Uk1LejBlS0k2QW5yd29Mc1VnZmdJWWhxd1hPcmlRMHNpcVNET2svZHdUTzBCcUR4N3FHWnJJcGx3Y0xqM3dnbExrVjFubjlHQTUycU5WcmZiRjBRb1RUQjNDVDJxNlhmY1Z2eitrSkRzd0pFQTZEaWZLUllwbHZkSjZ3cndTcFovVkRZZ2tSK2laRmJWUlZwQmlTSTNjRWFtaitsbGRkaCtPRGhyQWZtUU1NZ3MyZGY2cENwc2RaYnJVOUgwdEhac2poSDZaR3VWVllybVh1OFpJSUJBMEtndURrSThWRnZraTVHSDJjUDRsMGxqVFl6MUVuQnh1K0V4OFFpcWxxQ3gwS21qd0UwQmo5cFcxYThiQXc3Zjk5VkdhTHprUFBwYzV4ZzRMYS9JMmxFMFUvUlhqUDUvbks4T1ppQ29JRHN3RG1hOEZFK1VqQnAvYk9pcWFWUVRicC9LZ0tOWFh3MFJJZnFJMnU2blNzS05kb0VSQTNZOTNJeWhOSDZSaDc3WTZkREtLQ01admE5bnhIZTlVMmxvNmRlcXJRcWp4dVhQNHZ1UStRZG9HYUZwM1BSWXBsMFhrbXZmTGJMcHd0Rk5VaW13VXNMbnd1NFQ2anFpTEpqLzV6UjBCczlPMW5KU3NPOWtEcnV6WkNGcDNmMDE3clFjdFgvR1BwMkdpbkRJTkk0UG1aUC85akhDcnRwcVF4WExhbWI3UlVHWE9SNHJvNFJRZ0R5YkdpbTRzREF1OTdoR0J4a2VyUDMyRVdqNzJxYytGTVJBcEdRRlRoMWF4TTVMR2dXenRoU3JiaktIVTV6aUo1U3hzQjQraUVLYWNPMFU0MC9OUGQxRlNHeWdnVk9nMWt5RWVLcWlDTGpaQ2RBUGxzWG4xbkJVUDdaVVZ0UkZXaytKRWpkd1RFaDErdlpTWUxKUmFQV3BsckZCSFIxYnpjMmZaZjYrR042MWhGeDlGUmlUSTcrQnMrRHp6dzV1OTgvLzg3SW8xM25HWlk1M09SQWkvc2VjOXBabGgwQW53c2tPQnMrcnQyU0RLYUt0SmxJWGUrQ01DYUZsYko0Vm5nRlN6MzJRcm5SY1JPSUxUamp4eG8rWnJoUEk1T2dFWUdMMStUWnNpZUppdnd1UmJJbDRzVTEvdnVoM3Y5OHdZQkxpbTlFRTY5Q0FndDMvSEpqS2FLZkg3a3lodUJFelQvUE5yL0pVL3BMZWRZd1dBbklQYVpQM0xBUHZ5TUZodERSMHVWMFFtZWF0c2dJNm1rMlMwNm40c1VOYThucVNiOG5rOVNlZEV1MURVY0ZiT0ZqS1NLa3NwSjZZWkhBSDI0dnowK2ZIWS94K3I3UU1sS0M2RTdmanJocXZpakhnUzRxc2RHMDlGVFpYTnZHbk9MYkxRUzVnWUloNEdrZVVpeEx2ZlFPNXFaTGNBbmxSZlZvazV0TkFJOTVDaXFLSlhRbENrUkFtZG9qTnJjT2xHZWlFUi9mUWRvaGRUYndYdWVvZVplOGROVi9YV2pSemVLVGdUYkZNRW5Xb05Pa1QxTkZnc3llVWl4SjQvRTE3WHR0RFR5QmZOMC9QMDVHR0dERi9NVVgwVkJlY2h2SXJBUjlmcjh5d2UvUHcrVjh6dDBrK3p3dnBlQjJOVlF0bFpZNTlIVDdMcnAwS0RVSEZMbHROTlIwWmtkZTM2RHprd3JJUUVnc3hOSW1vY1VEVGw1T01tdkZvV1lxS0VibnJ6WVh3aXYySXF1b2dCVzVEVVJrTHNuYUZhaDU5Uk1Hdlkxa2NVL2NCR09IeTRFTGVWeUtJZGQ1NzFrMlB1MVhGTmpwUk1pbkRwZ3oyL1FxV2tNbDlHMllabURGQXVxdjd5WTEyek5LOWRSeFBhOEtuYkJWYVQ0a01PR2dMYlBDd1UybjdBR0Jpanc1TEpERDBRbDkvNG5tUlE3Zi92U3JmNmIvdUpkaHJXVlZRaUdyS3N5MUltbm81SmxkcHo0VzRXWmFTVWpZTlA1SEtRNFUrYlBwY0NhTzVsWTBhbXFmcjNBaEwrUGhQL3NtS2NlVlJWeFh2UkVJL0I4RnZVTWZIK2U3NDVudHZoMjFCZGVRQzdjeXpUQ1c5TTlwZk5uL3BhUU00Qk9OQUREeG14bUwvT1FMUFZYNkdUVzdGSzh6SjhqUGE1V1M1Sjh0djhqdjlKTzNFMldSaGNVUjFaRjJhU24zREVJOEpkYXRZRTJKbVYwRkk1dnFKMHZmdy9PVDE4TEI2SVplZkV0ZjYwNGlJNVBNYXNMaHhMMnM5SVlMcjlONTdOS3NkNUMzZjJ5a0dQMVFUalpMdzRuVTJ6cWlqODVhd3RUUkpuWDJPaXFLRlk0aXN5Q0FEOExGam9zTWlUQlBaQ1FXY0tXS241dlU2aFh3WXplellGR2RGWG1IVVJIcHN2K2oxSmYwYWk4ZWtmekZPUGs4NmtnNWF4U0xQUWZmckRsdnZ1MndCN0JaM3BVenh2a2xNSi81dGNraG53UVdPVzdncU9yb2hRaVU1WmtDUEN6WUtHVHNjbXlxbFFkZjFlK3BNM1VWWHdsZkVac1NaNjNQV0Y5c1V6a2lRZlJVUVF6T3pDN3VlRVRLVGRQZlU5Qkx1aThPdFltV1l4ZUNzazV3WC9QYnhidTFZR0wvRmoxNktvb2dZaVVKQjBDbXd4UHVxd3FGOFlCZWN4K1ZibFVMTCtyTGJUSXgvQytLMUpVL2FtOU00aU9SaktqRXhZMVpmekNoMnpVbFIwWnljWmtoNTAxeEdYMFVzUUlHSXhDd3poMHc3ekQwUmY1OXNyb3FpZ29EL2x6UTJBUEtwOTFTbGoxVjhjcjZ0cEVUY0tPSHk5RHNienRjamVHdjFQK0w1NUJkR1M2SFA2UHRLNm0zSGg3RGhRSGtNQ1lMay9NK1NsSExvWFBlcUJyVVMzNVVIMjhTNjhmNEdlRVZUUlFRa3FRRW9FMmRENTR5R3BZVWhYMjh6SkxXdzRPTW9EL2c4ZUI3dWZ1aG10RXVLNGZ5QmxFSjBnamczOVA0L3V4dmp2bHlFQnVjRlljUTdnZFNqVnlLVUlTUkFlZ045NFdzZnpGUFg0S3Q3cUZueEZXa1dCT1B3VWdVRUdOdW1hZzlNUjc2bEJOeWRLd0hhZG5ySjVkUG0xM3VsL1RaLzJENktTWE1KUVRhNHRqTDNBOTJUZnNReVNHQzhDd0dlNWFSeTdGTURJM1BKTkgvYWtqM2tMS1lqRTJ3aW9hUmxaS093d0NtS3pwUzl0aHNxcTBTOTduS1Izbkwzd2p2SXAxK0sySjJ1clpqVmdSTFdwTkcyNGRaeEFkaldSbVo4TWJ4WnpsUm5qOHpVdzlUQUMyVXZYS2loODdhaWw4em9OZGUrNVlzTTVPZTF6MEJiRTBHV1VWRFJhUlVxUkNvQW1kUDBpVjA4OVVicjdSOVh6U01wWWhCaHR6b2RPOUcyS05lS1J1VU9jRUJ0RnhtZVR6KzdnbjZtcE5mRzA1SDZJeFZMQVhIejZ6amcvSnU0UC9xS1NJRVRBVXRlcnVxRlNmd3ZXOE9PSHJqdkNqcktLUVJCU1FEd0pRZVgxNm5ZN29KOWpydTFEWlI5a3QvSVVmakhIaDVVTWRDL3E3dlJNbE1zc0FPakpaTHY4MTloTXdJWDYrZFg0dEYzS0RpR0N1RStyM2tHZkVVZ3lTMG9odnN6YzZwVHR3a3JQY1pEdXJyVk1ST2NvcU1xUWhUMTRJOEtNaW11VThMZGwvemRqRE9BbDI4OUJLQUd0WmJ2ZzFuK1ZtdjhsdXkwVzFGeGRQeHlTUTBiZmFaSDJJL09ST1Jqb0pzNTlZMWpmSU9tSXBFZ3JySmlzMTJMbmJPRDdCK2kxWmd5T3NvcUdrcGNSSkVSQkhiM2VTcG81TzkyTjN0dm8vL25zUjhWYWJ0Yk4rMS9sTEFpcnZPTEYwSXNpbkRONTRWdlA4ZFgrWE12UFEyV0RIUExCbEdxMFVOZ21pd3piK1hlc1gvMFJFZjMvakRWMlpib1JWSkZuU2Y1NElpS08zZVJLMDBiTHVUZHNTem5CWU80Y2wxQXpEUTBVYkhRSTRBeHMrSDVZM2V5d2dRbWZROHVZeDZmVE93dThaVGJySUpOOXNJZ0NUdW5WTFBkL1Nna20rQktlUFdrVWRaWjArMlVuaW1VTGdCT3BvMlRmT3VZeE41cDYwelpuc05KR3J5UmNNcGtsb2tuVVdFYWhENTIxN1NQbVc5WWdHdVJaTmRmSnRVMFF0TFFKWVpucEhMTk5TU0pLdk0vZUxXYnhUbFBWTnBpUkFVeHBDWUNBQ1Zlajgvc0JVV1JQMDV0NW9qUmRWMUcyVldkR2svSVJBRmdTYTBQbXRMQVFTNWQyTTJKeE9sSGttRXVHSWdqelVNaFBsb1VKTUx3SlFlYlpUdVBnNGZCdDZ5YVp3cGhQRkFBZ1ViemFacUJLVE1CT0tBTCtaVWIxVVdweU1PUGtUUG5CZkhMc0pwRXd6blFtc2xQa1VpZCtITUlMak1yZ1lLdnp5K0Z3aHZpZHZvSmlyVWxOaEp4QUJMRE5IY0NTSGY3RnV6cTNXYlhYVDFBUzJBaEpwbmhEZ1IyOUhNZXV1emZ2dTlORW9sbER6MUhLcHJHa1I0RWR2MWNWV2FZa2t5SGMyQ2t0aEFqbkdsZ1N2cFk2Tk56RW1CRFFFWUZxeXYrS3BwY25EdVpmSFMvcDVDREltR3JqVmVpUTNjSTJwZU1SMmloRG9RZWUzUnlCdjFxODBqVURFUWxuZ2JXTEx6VmlGc2lUaWhJQVZnUTUwL3BvMUp0OUFiTmJOOVFZOTdDWTM4a1dVcUJFQzZSQ0FhV2trYjd4aHMyNFVwc0owSUl3Z0Y5WlEyeU5nUXl3SWdZRUlOS0R6QXhQbGthQTEzOGZOMi9OdXc4eWpEUkdOWEJCbzJiNm9sQXZsQUpIS2lQcVdBTnRKOFZaWjZBT1ZreUlheVRGZkNNQ2NQS0pYUC9ibWU2QnJrZGwrdmpScmNrdUxaZmFJN01sNHgrVHE1T0pRdEdUQW1kNndLUnBrb3A4SUFYd3ZiVVQyWkd4V0hTUVNhU1lUWWR2aXlrd1dqQW8xZFFqZ1l4TWp1REZEd0RMWGhuc2NkeHpGanVqVXRUOFNlUFFJNEtqTUNHN01FT1dxenZOYk5wMzV0bUNPdm1FVHgwZ0VzRzFzKzE1OFpQb01FWHZ6Zk85cmM5NWZKYzdRY0NocnZnaEFFVWR3WTRhUUdjdUlyWHlGbng1cStLYkhYSjlDbko2YW1nTkoyeU81TVVNQWlYWi9NQWVJV291SS9tN2JHa0dCaE1Db0VhaU04SFd2MnZ5ZXZqMFp6UUhuVWJjZTRqZU5DT0RvN2NpT3dmZm05dzN5Q3JzNWphMkRaSjVGQkxDY0g5bENFNmR5RG1jUnd3UmxhdEdKbkFRb1VaSlJJTUJ2dmQwZkJTUE9BMmZSNXZSY0NzNGpiWThLWmVKRENNUWlnTVk0UW1ONlkzVHJpTmhTanp3U0ozSjJSODZVR0JJQ05nUndKSlR0MkNJS0NkdWIxd1Y5aFY2d0thUkJFZEVVQ0dDSlBacTM1NFZzdUZkN0xoZjBXRUc5SzBYbFVCWkNvQUFFY0F4UHYzYitVM2UyN3YvZEF0aElrcTM1M0tISDd2dzFDUUg5RXdMalJhQm5mRjdtazZ6L3VnYjcxZUpFYXMvbkNkU2UwYkVXQnk5UkpnUUdJOURSMzU1ZmJ0M0MxUHZkN0UyRDg2Vk1nWXNndXltelRuTzJCdTNVVFhQMXpaanNSL3JiODNYWGhGOHRUaSt4c04yZk1RUVRGQWVmQk54S2tJeVNFQUtqUUtESjJHWEpwK1FabHhmWjIyVlE3djluN0tuY2FVNDh3ZXZ6dWwweDhUVXpsd0xDYkg4cUM3N2lHWmZMQmE0K2wxai9XUEtibS8vYVNENE9OamR3VWtFeklZQlgzZnlKdkRlMWQ1eEtjVnYyNVpZL3I4Z2srUlJseHZWajE2WklYQkoxdGhIZ3QrR3BFamJrV2JGZWdZdnUzb2h1MlZXbEdyK2pSKy9Yakw4U1NBS0pBRGFPMWZ0ZU9BM3ZCVzhXZUJNdUR2dDJKZmM1K1cvTzYxc0djMUsvVTFaTTNJYW5iR3ByYWhtL1V1UkowYU41MDRBMTF0K2RzbVpCNHM0d0FpZmFtN1FYMUxlbEZvdTBNNi80TTRzWkJsWXJXcnZBV1pQR2hweUVRQ0lFNnRwKytaNDZJNGNYYjRvYm1jck4rZHFzeHBLSkxIaUpHaU1sR2drQ0ZXMnJycTJzYTdEc0hSYkgvcnEvbkNpT3llUlEzbE93VG81TUpNa2NJOURVUnZTSzBrWG8vR2x4b0pSYXhXMEZGaWQxV3NyWW5OeEttNWZ5RVFLNUk0QVBWSjRyb2xXbDh3WGY2dklYODdUQWZhSkllNmlxTzNJUUFna1J3RUh3MnlxcGY0a05kSDVmQmVmdndFRGZ6Wi9xaEZKczBEQS9vVFV6cDJMQldQZTBLbnBUWFZ3Rm5iK2lnZ3R3UERFL1oxRVhhVFZmUUFNaWt1a1J3RFZ0dm5MN09vL2gzdzlPVHoweVo3bnhwY2k0R1l1NDBEK2NzUkpSY2FZYkFkeVljVTJWb0tXVzJkRDVBeFZNRGtLQUVKZ2RCUEQyL0xFcWpYOTdCdW04QW9VY2hNQnNJZEJTUis5UUx0TDUyYXBjS2cwaEVFWUFSOFMwaFhWTDJmQm9uQTlqUlNHRXdDd2dBTE85WnFzemRGNExuNFdTVWhrSWdmbEdZT1BPbHdnQVlMWS85Skh3N2ZZRjc4LzdMTWxGQ0JBQ0kwR2d6ZHl2cDdYVjI3T2M3Y2pPNUl5a2pNU0VFQ0FFZkFTWXQ0NXY2TXQ1cHphcXM3ZStJT1FpQkFpQlVTREFMOEg3SWhqQmhMZXY4VFBlc2RuU0lzaEpDQkFDMDQwQXpQTGltRDIrVmRmVlN0SlI3OC9QNjJmbE5ERElTUWpNRWdKOG5PYzNZZ1UrSk5WVDc5c1VlbWZHTENGSlpTRUVwZ1NCbHRpanc1dmQrN3JBRjlXbFZiaUVYbzhnTnlGQUNFdzVBbWZzNXJIakxMRnovUHFQZnd2ZVJUWGkrN0hrSWdRSWdlbEZZS1hmaGZDMXdDZXFzTXozaWxUa1hkZlRpeHBKVGdoTUx3TGx4dTFkNTJQc2xqSE1PMDVUM2xsVjE0L25UVzh4U1hKQ2dCQ1FDTUF3L3lEclg1TmU3Ny9EcnJxdXFuNDhMNUNJdklRQUlUQ05DSHoyeGV3TmgwSEJMN0JuUkZCSnV5UXZtSWI4aEFBaE1Ec0liSGlHK3hYdHdxelpLUjJWaEJBZ0JFSUl0TjFqK0RTMUR5RkRBWVRBYkNLdzJqckhoUC9EN0pkbXMzaFVLa0tBRUFnaThGZXMvN3I3MkpNQmUzNHdGZmtKQVVKZ1poRDQ3SjJ0aDcrTlZINW02cE1LUWd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NTnNJck41NS9sMnpYVUlxSFNGQUNHZ0lMRGZQNzNLL0lhb0ZrcE1RSUFSbUZvRksvOUNwM0p6WjRsSEJDQUZDd0VSZ2tiM05jVmJZTlRPVWZJUUFJVENyQ0ZUUDhlblFWWFl3cStXamNoRUNoSUNCd0NKN0d2NHllOG9JSlE4aFFBZ01SdUJWWDZPZW5jR3BKeVZGaDUxeVVWcTN4aWJRNXhSc1h6TTJHWWd4SVpBR2dUcFR6MWFhL0dhZTlkWVZNNkFZWDRtZEM4SU5acU4vQWVhOXdwK21nczBxUStIOGljRW9FZmdockNUMTU3R0FYNCtiZkhlK09sOWhsMGRSNUF2c1M0Sk5qWFV0N0piWVZ5MmhPUWVSenVjTTZBU1RlN1RGMkF0MmZRRzUveVZUclBXNTZ2d0NHODFrdThMMlJRM1UyS0ZmRTc2cndiWjhUMEV1MHZtQ2dKMDhzbmVMS2QwdDJkVEtYeEQrZDA2ZW9Fa2x5bFhucFM0bVpaNHlYWmw1dXQ1d2wvVkJNayt3MjhHZzNQMms4N2xET3FFRTE0U0tNM1pyMXhYdzE5bjUxKzgrOWtlam1kRVdna25kbXliblFYeU4zVHJPZzg0Z0dtdmVjdDVwMlFmMGNvdGRIVVFqcjNpMGlMeElFWjJKUktER3ZuVzM5Q0VvL2hlRmVFdnNacGM3UGphYXRpNTQ1dnlUcDg0ZjhZTXlJM2oyNUlLZFJaeSt2WWM5T1FJeEJBdlMrVkVoUFNZK2EreUZuUE5Ib2ZUYitDODErenY0dzFPNzdQNVAzMitPT3IvRyt0NzBKMWNZeW4vK3YzL3RpMXBYTlpwVjltWGh3eHhmRC9aVGJFUkYrRW55Y3BITzU0WGtCTkZaZlhILzI2UTRiYzhnZk1ZWVB3ZDJEL3RlTDJacEJKWmlLVVMrL3pucS9KazRLSk92ZUtCV0ZldXBiWjh1VkgxZitLRGFXMzZ3N3FwN0V6RTlyQmczNlh3eHVJNlRhcW5CV2t6YTZKcGVFMXRGTTd6aWxGcktWRlJ1alZQR0xMenowM21BY3BoRmtxaThMYUh6MS96b1M4dzdady9IcVIrc3V5Q0xsa0dQeWR0Tk9wODNvdU9uZHc5N2svT24zckp4WGIzSDFXYnNwblBCQytaQ2RrN0hMMm9xQ2ZMVCticGNaYWVTSXpyVEQzek44NkgxdTM2Q0M5SzNHTjNMVk5oWC9BeEZ1a2puaTBSM0xMUkxMZDdhNnE1SmFNVmRSa0lRUHRCdlYxVVg0RGdYcjR4RnZPeE1jOVA1a212anlDNlJoVUtMOWJYUW52UkIrWGUwY04yNUpQc0ZQYkFJTitsOEVhaU9sZVlLSDd4ZTdZMG5KNWVWTEJqb2I3RTVnc3BHQUFBZ0FFbEVRVlIzS2ErenByb0RQMndxWExucC9IVzVnVlpBc2Ztc3luK081UGI3Q1dQSGZyRGh3bmJkYVBZUVNPY04zR2ZCYzRiWE5XRXpjbzFHOVd1cVNGaEtHb1BNOHJTKzRaV2J6dGVLc2VCeHhER0YwRzJrVFRsdnI4c0JYMVdMNytnWjNZUWZucmVMZEQ1dlJNZE5ENjN0MUVHMXNodGNrazdYbCtlSUdYdkFKYjFSK3FrbTM1V1h6aThVYURWYlozcC93cnRnK1VSdnd5UFAxaWpRSjUwZkJjcWo1QUVyMFRHdVkySHVodkRacnM4YkMwYmRydVFvRTc2ZlpDcGNlZWw4M2VnQzh5MDZha0gwdVM1VmJrdVJUOHpzcXBiakFjT1k0cERPeDRBemxWRmloc2pWVzdRNVhlZkxUYWF2NTh2dXdienBLMlJPT28vMTg1WENDZzliM1dXZk9HWVVIL2dNZng0emhuOC9nZXZhWS8zallGZ0JmdEw1QWtBZEs4a2FYenJ5dGJ0bzBQcmMzc0hrWG51SmJON245cGdMN1JSV1V5ZDhoYVVlc0RvVUhnejRCeW8wNU1Ea1h1c29RdEY1QlpETzU0WGtoTkRCY3Y0R1JNR1EzdVVTYVRZOHNWdW43Yyt2bzIrWXlpZW5jZjZzd0ttOTAvYndkd0hlbElzcVRQbTNZakN2amVUbUxOTDVtQ3FZeGloVUtCOHJGdTc5WmlIOXBqWndYR2NZNlAxRi9OSXowMWcreUp5UHpxTnoxRFl1ODRZQ1NHc2tONlcxL3FKVWZpMVNjMTZQajlaU1puR1N6bWRCYndMellraTVwb21sSzNiak5pYVAvampUMjlmU1RaTXpINTNIZkZzSEttY0Ftc2ErMjRuMDlmVEZWWmdsNm1jL0hKcDNDT2w4M29pT21WN0hQUFN4Nmh2cWx0Q2VLdktWV2tqWk9CeXpxR25aNTZQelovSHFsMVk0Tng4MjUvU2QwSjU4ZjZZeVlQTGVIQkNmVFNvdk4rbDhMakJPRHBGRzRHeFpzeXRscStHOU9xd241YnVjYSs2ZGpESjJpdjV6MFhsTTdRczhod2hiM2RNYW9uVjVKS2NaWjhKRGhyclpZMnNrY25TU3p1Y0k1Z1NRd2dEanI5aTVQSFY1bnZNMTRtUW4xcGszajRXY1IrNmRqQk1nODdBaTVLTHptTnB2RGNzNGVYcW8xUTB0ZGR2ckFjUjVLUzA4NU1RZTYzWW9NTzhBMHZtOEVSMHZQYXdJVFYxZU9OOFZFcTI3dXM0MzhjUnJ0bmNYMmVTTHhTQVhuVzlMczFvaHNtSjdmbDhqWFBmbUZMaWlRd3UxT05FcG1OVm5TWk01aUhRK000UVRSUUFEUmNBY2Z5UVdscXROVDhkZkNhVi94MjkrL0JzQzA0R0pLc1FBWVhMUitWYWhLK2NUY3hiUjh5cGxjeURUbzhEU2JBQVVxYUpKNTFQQk5yR1pZTGEvWWdxM3dHNy80Y2MvejloYnZlQUtsSjQvcDJheUtmTGxvZk00R1hkUVlKSGI1bm1mRTIrbWZ4YXNuSkFJMksyN0Znck1PWUIwUG1kQXgwd09qZTFxUUlTUGNnMW5QeWREUzNjSS93dWxmL3IrODlENWsySjFDMllUSGRkTlYrZGhiT25xd1JZMzFsNEhsdUJjZzBqbmM0Vno3TVNxOHBTbkpzbXI3dTNmLzdlYS82WDNzamZyZmkxcUtweDU2SHgxME1vNkd4Sk52aEg0bDNlZC85TmpRV2ZGbmR1dkdSdDRkZzR0dWExbmo4NGpsSFErRHhRbmh3YkdjTGVaVFk1SXVVdVNnODdqS3NxbmNwZkxKNGdCL1l2T2Y4djZMYzlxY3NtMTRmVU13NTZmWEhlZEZWK0JwUE02NEZQdlhzYnR0bE5maUVFRnlFSG5ZZW84R01RbVF6eTI1Nyswem43MXVIVEczczdKbE53ZXBzbHZIaDd3NEhUdTlvQWtXYU5KNTdNaU9GSDVVWjNSZHpKTWxLUVpoTWxCNTN2RjJqQlJEYzlVK1g3Sk11dnY4cExXK0tHSnhTUjNYOEc0V09CWklTNEx2MUJGL05QUFRDQ0FVYUxJT2V0a1lKU0R6dGVLWGM1amUvNysvZzVIcStaTzUvZjRpdXNvd1REUGJ6VXpEMVhsanpucGZQNllqcEVpeHEraVI0a3hsczVqblYzbnNad1hweGFLS2d0MkJid3gzYnROK3hKZWRueWMvV3dTZmtlRkwraEo1NVBVdzlTa2dRWG9ZR3FFVFN0b2RwMDNiNjVLSzBkMHZqYno1dlRPUlc5QzBlbmZtYkNiMlF2dnRrWXpTaFZET3A4S3Rrbk5WQnZOVFN2akxYNTJuUzlhcnpCV1ArMWloRm4rSVhlVjN0ZC8vV0FESGs4WlBrbkpRL044U09melJIUHN0Smg1NW5QczhoUWlRSGFkaDA1MkN4SE5JOXBVcHlTZ3daZUg0NFN0bDBMWEhXVERHNjQrSmowMTJrc3hIMkNicUlKbjEvbUNkelJoaDVPN0p4aFRENFlFcjFtc2ZaRjBmc2o2bVBEazJPaVovU001MmUvR3dzdUhoUTZsZkh2ZWF5bXdIQXhyVklWTlJpd0hDbXRyTkxjdkROb3hFTVpMNFFOZTFoeURVTG16ekR6T1k1RWRlUGt3WHhtaFZEYzhpcGpiUy9WUHl1UEVmQTgzYWJiazZVam5rMk0xK1NrM3phK2tUYjdBcVNUTXJQUDFvUmZadzhtcHZUMFA1MWVHeTh5TmVKNEJjTWlNU1pPVHppZEZhaHJTb1RFWE9tbWREQXd5NjN6TmZOTTE5MUpocE43eWlLSVhIdmFRRkZZZXhaN0tJWjNQdmNiSFNMQXkvRXh5ak5LbVpaMVY1MkZpSzNZRjFQYjdGS2ovc0hON3AyanhTT2ZUdHJ4SnpOY29lS0U2R1dYT3F2TVlTUDNiZ0lzbzBwRnZTY1hNYStpSmVyVmdJeDdwZkJHVlBpNmFiUGlkb1hHSm1vRnZWcDJIcFhOb1BSeEtYTzN1WWN5OGhqWVhvcDhZY2s5L0tPbm9IWnZoNEpyczFIeDd2dERXTWhuRno2cnplMFgzak5xQ3ZPYWI4Qk9EaHhlbGh1NG5FaE5IUWhybmgwRnJ3dFB5N1hscFBCcWZxS3Qzbm45WG9keXo2bnlsNEJQdDZIcVZyUjQxc2o4c0dOREpZZTErTVN3ZWJkNi9ZMGFUenB0NFRMVVBrOWFDajNNa2dHZTVlWDRYMjA2UU1IV1NyRHJmTEJnbDNHa256K0hnN3VyaEx4dkZrUjd0ODhHcFlYSXozczN1YjhwRGdSNHAwdm1NbUU1UzlrMjBzTjF4QzFUcEh6cVZtMFZLa1ZIbnVSNFdLUjdmWUQvd0dQRFBDWFE5OTEvQUxaK0hYM3ZvaGRyK2tPcllGcDRpYklIOXNyTVFXUENSenFjQWNsS3o5TkJZeGkyYnVBeG1wZEFMbXpQcVBQU3cwQzdKd1RtY3kxNDE2QWNqWVpyVG53OUUxMVFqdjB0NXEveWVqb2E1VkNDZGo0Wis2bUxPOHB3VXBpeTlhR1NyYXFCTFNTVTJXMGFkaHg2YU9oRExMRVVrYkhCYlhyWk56WnpuUFBiL3dQY3ZQb1Buc1pjMjQ5UWE5U2c3alJUczlTenVkVnh0OHpnQzZid08wWlM3YTNvTEcwOVpGc1UyV0xsUXJjcW84eWYrY3JzWWpLRG9PeDdsdHNFTGg0RnVlQkdZYkVTZkVlajU2VEpLV0JVcml4Tnoya1U2bnhIVlNjck9paDdCQmhlMjQ1cXNXdmtab2NJOE0rcDhKL1NwbnpDTFRDSG9WRENoRmsrVjZlWk1HUFQzdlFnSFkvbWhkQWYvTVZGUWh2OWczRkQrZGZjbzlrV2ZMYzlPT2o4VWlCT2RHTGU4Rlh6WVpHRHhTOTVWMjQwaTdRb1pkYjdtVDcwSGxpZFZBdWk4bHc4RHUyNVV4VjdxbHFTSVJmK0JkQWYvOFFKdVBpZnU5OXh2WmEybzZZWGdSRG9mQkh4Ni9keElMT2VPWXlyRkJlOTBlVTFacXdzUUpLUE9BNldkQXFUeVNXNnE0L3c0NWF2dms4R1NvRGdqS3ZJZ1B1THkrVXBCMCtXM1pBNEZwUE4rWFUyN0MzdEVBNytCV0hBWks5NHNzaFk5Y2MwdVFUYWQ1N01oT2ZYT0xvdU5ncnozMG5HZzVPL1NVbUNocjN4eFYrL3k2VUVlSWk1NCsveEw1bEtCZEY3Vnd0UTdzQXpVVjQ5aktBOGE2NkZnMnhqK0pFcHljYlBwUEdaRCtReWlrUUl2cVhHK293M3NTRjdYenRyZ2xFQzBFYThwY1l6a2tTaml4TlAxRmZNTmE5TDVST2hOUmFJOTZQenBXQ1ZkaytyVThoZXUrUXVVVGVjeDl1cno3ZnpGd3hrWWJ6Z3Z5Ky9WZVV3cW1wckRuaGU5WXdqVDM5VWNCRHZ5cG4wWE5iNGdTenFmQTdZVFFnS2pTcEZUNmdTbDNKTURTcUVUam13Nmp3bDJ0TElsS09QZ0pKaTJ1ek56S05lK25yeWhMZUhSTWNnRHVub1MxdzJqL3BWdzZMQWhtRXFjaWp5YlppOUhPajhza3BPYkhxT0RiaVVlZzZCVnJ4MWpqbisxT1BiWmRMNWUvT2FHWnpyamMzbGpXYTZiV0xFUTI0K0VxSmZMbTNVdy8rOEtGaWZtTmdEcGZDVHdVeGZSZ3M2UFZXaW8rcjRRQUNQZFZuR1NaTlA1aXE1NXhRalpjYzBxUU9GdE9nTjllNTd2ejNmMVNNTzltY3NHL1lrMEgvUm9ibS9BT3pzZS91NUlrVWRoQmlNRjg5ZzFrUXFPMDhISjA2Yklwdk0xMlRHbFpUODQzNG83M2Jrbk1NenIyL1BvRDJKV0dOaTh6MkdEL2t5eU9KTkxMbGQwR3VjSFYrR1VwTUN1Ymg0dEpVTnAwVlRkeVNSbWxZY1o2QXpJbWszbk1Sc3FjQTRpUkMrSlk0anJRVU9tdmozL0Y3Sjd0SllWK09Xd3Q5Q1VGb01xN2RWWllaNytRSFRmc21QUFZwaEhtdytsMDRxZTNLU0M4dTlra3lFdWR5YWQ1N09oQXZzalYrNTcyRTg0R3pYMlMyWXBNR09YQVhoRlBoQXBZOFEvNzc2UGpaQVVIa3dsRHR4c1RjMTJpSkFrNC95bnYrOXp6N3N2aDdsR0Nya3BTM0lFb0dqczZlVEpJMU4raEoyemZpcTFPSkx6akpNY21teWtmTm0rWXdOdEs5N1FXYTRDUS9ZL0JJcmdiOCtYcXV6Sk9KMkd1bWJ2TktIYVY0VUVNTE04bzR1U1FPZVJCRS9CZTVxNlRPUk9oUUNHa1R5TzNyNkd2ZE5aVFRkaGFNbzVaRjBPK0trS01paFRwbkVlaTJvMTJnNWlsRDYrOUt6V1E3OGJ6SzYyNS85empUMjVHNHcxL0JEeTFBaEk0Y0VZNFBiY3NCMGU2UGtUNkR3LzNwWFRyRkhuVE82Y0VhaWpscTVrcHJuS2JtSUVxcWNaWmpDZXFLZklJU0tUem1OUkhiZFUzbmdrWGhtejROdGd0OTZQNTduM3N2NjNEcURUbEdQMGdIUngwU2VxTWdLbkpSTG8vUExudmhaMmorZ0RCSEY4S1c1MENKeWhqcmN6c3pzVDF6V3NtQ05ETXFwODJpeWZwNUpsU1pVcWs4NWpOaFRYSDlVTFhPeExiTEM5OG5zRENsN0xZWE9oN2ZOTDgvNDhodnFEQVZKUzlMZ1JRRHZKUGlHOHhQb1k1cDMxTkpON1RKcy93RytCK2N4aitSZ1dvZ0ROcFBNbmNlZmNuVS9LK1hBVTd3emgvdmI4WDhQd3dWR09maW81TE5NcTdMYW9qYy9zQlk0Q0pCam5JUmwwZmp0YVFJcVpDQVF3R1Vzekl6ZGw3N2htd0kwMEMzSk1tdzhGTlF6NEJ5YlpYSDJaZEw0ZWQ5emxzOERRTFVLdUFydkV0TzM1Y20xQW45b0ptTjNTaU5PUTFwVjJvREtUNmZ4SjdHNWlHb0VvVDk0SThFMm96QlpwakVXblFyREEwSkJJV0V5YmQwVkNiQzl2SmNxUkxsRW1uWWMyUlcxdWxEN0VJU3hNNS9YdGViaFA0d3FQbmlueTdmcTRmSHFjV285WHpXTjRpZmJxSEtjdGExT25TZTZKUWtDc3ByTktkRjBhdUZyUkIrWlhtMXcxak9kYzZMcTZLd0xUUWxmNXM0cGp6NTlKNTQ4aVpzMnI3Ny9MTFZKaE9vOHVVWlVISFhUczdWZDd5VDh3L0c2akpvVG5UWUtQbW15MUFzYTRaT1A4VVdCMm9HUW54OFFnd0RlaE1oKzlyY25ocFJtOUJZQlJQUFNjY2hoTzVCM1N2ZXlDeE1HYVNlY2JTaFZNRmxBRTF2OEhpQjJvOCt2dk5YTW05Zm5iODhoUmpkY285QTlKRDhSVVE1WGhuclRGTHNwbElSbzIrL2NOR1pQcGZEUFcxbWtRSk0rWUVNQjBNWEU3aVJJUmM0VnRONjRSdmRXL2NkY0R3ZWNOeHp5WGVwV2pNbUMxNnJKSS9adEo1MXRCRGZERVdIdjR6Yi9mZFpMb2ZDL2w3ZmhxZTU1elBJdTN2V0J2UFduLy9XZkJ5bmpnZ1cvbkhLRHFXL3lmdjg1L1RUamtUeUtkUjVkUjVONkxsSVgrc3lDd0NaM1BXa3ZYMWFTOEVibnFqWmF4THVlcnpVSk5lTm5PNFFHbDdlZ2lKTkg1ZHR6K2ZqUnBSODJoZUpxNjFFaDdCbHh6MXJmSEpBNkZhZVpRSkw0UUpKVkk1OUg5MC9aOFlyREhsTENIMWh4bG5Vb3FVbFhPempIZ0RkOS90RDMrV0t5ZUp1V1lKbDJXY1o1Yk90M2h6OG81aWM1M1VtcWpZVWlBemwrMVN1QUc4cFhHY1V4OGdpZ29iVmNrVXhlWnlFeUpkQjZKRG1RRytwOVFCRHBvSnNheDZ1SGxSRE9SdlViVFhSUU9SYVB1alF4cndZRmxLQ3FERTJmUmVYNlMvVFNhUllFNmJ5NnJVVnN4WWpqOEN1TnV0SmhKWWpETzc0cDBSMEhsVGFUeldGMXNKMkZEYWNhSVFCWE41Q0FiZjlqYkwzc1Vtb0g5blNTRWUxNmZzNWxpanBDRXZreVRSZWZScmNWWjZRclVlYWl4TnNFNGlsL1BEeEJUSWhIM2p6N0duU2tFbC9QSjl1cE9RdG5pbUZIY1dCQm9valZMalUwcFFNZHZpR25zZ1NlZTNlOHMydWFmVWpBeld4YWRIekNBRnFqeldLTHYrT1VZc0Y3SElCMHd2UGxaRTdwZ2hCTXBMOG50VjVVdjBUamZsdE1FbFkwY2s0WUFxdGdZU05MSTExS1RjbENMTzVWdUo3N3A2anp5ZHUwSmNnck5vdk44UjNNM1dvNENkWDVUMjU3bmMvZXZSa3ZoT0FQTURuRlpWWnpINzBTdDEyUk1JcDJuN1hrSjErVCs4NUVoYnRhYVFITGMxQ0N2WE1mRWNQZ2RxUlYzYnI4VzM1d1RDRElnU1JhZDU0Y0xZc2dYcVBQR29ZVzlBYTlBOGg3OGFveWNTYUlhN3R6K0tHUTRTS1R6dEQyZkJPUHhwdUVEV053SWxrQTZtRzNrOWd6V2s4T1A4NWZjN0wzQUVaQUVuSWRMa2tYbmNZb2h6dXhlb002ZnFRN1ZjY3JOUVhXRnlzeTRVTU1SQUQ2aDJRaHY5Q2ZSZVhRNnNST1I0V3FNVWhlQ0FQOXdWZHdJbG9CcG15bHRSUStTOUJ5WVQ3amsydTZhNThkK1dCR3VMRHFQZmkxdWU3MUFuZGUzNXg4ZmVKd2VsYm1mRWJzOVlSRzRZTjY5eTJrbTBYbDArbklMSjZNWWxMMHdCTEJjakczTkNSZzMvZjBqOUNCeW1wOGdvMHhTNC8zRVlyaVJ5ZmljL3JQb1BHQ0tPK0JXb001ck82bkxNSngwNDhGQVhSekVweGdZdXlSV0I5VndENXhFNTVIbXhrQU9sR0M4Q094QjU0ZWZqdXN5ODYzcnJoY0ExZENuZHVVUDNzVWVlbzZlMk9yZTR5dklvM0FqY3hOLzZsdGFENzJnYTgzb0JaWi85Tjk4N25uMzh2SGxQZmYxNzQva2wwWG5UK0lORmNYcFBBYk9LMTR4bDJ1TWllT3hNVmhBa0dpZCs5VHptdjNYZG1OeWk2Z1NONitzV1hyZ2VKMS85TUZiMytRNG1BOWQxaGdrYkFCYURuSVdqMEFIR3F1cjZmQWNNWjlYUzkwOTQ3MnZEVFRTQnhoNzR5Q2FsOUJPSG1jL2EwLzJNc1llYnJIelV4Rjc5TWdEUC9WVDl6N1k0dnA5cWYvd203bDdCMU1FL2p6dGxMOGdIRDl2SjVUcDdPMWVmTTlZbE02WGZ4UkYra2x4aGNXUHZxZkoyTTlGRkUwRjE3UnBnUXIwSEgrR0dWMlRuZThFdzRQK3M1dE91V0YrU1Vja2lkTjVRTjl2c3U5MVR2dzVIL0lrYlFCQkNjaGZLQUpIYk9BYWNRQi9uTWhSRTRXT3NaeXJzTzgrZGtvZjFzK1UyR2wxK25kR2RUei9uTEYvNEpSeHAyNlhaK1hTOGtmb3ZPdkU3clhVK1RaNy9mLzBnMUNTWDdaenlUTE8xK01ORlFYcFBMVE1lTDdMWGpBdHRPcmJVN1ZRNFZ4Z04zL0xjWDZrT1hEeHRjNytWVE5rdEFlSk9KMC9ZN2QzbmJ2UGo5dituQTg1RWplQW9LemtMeEtCSmhvVjVuSVpucDQydGgvcHhCNW5ieFZrendiT0kwcnY2Ny8rMkNvQzlnSEZkUGFJZllYSHYrZTVYRjdHWGdqM3NuRDJYN2ZyckQ3N2ZRaDdlbzM5MXp4Tng1eGU4aUQzeWFMejdYaERSVUU2NzNabUtCdC9IbjdCaml4SjlEOHFJT0xTakhMRDdUWXYyZFRaSlBqRHpZZiszZ3dSdmhpZC80VGJKOWYyd2QvUG1id0IrSG5JVlR3Q3ZEVWRaR0tqNnpuYS9oVkZUTTRQMXpPODlpRjNxdERlRGdWaFhBSFB2R1VBMTRpZjMzWFp2UVp0dlNhNkJXZWpGZmoya3hRb2k4NTM0bGRBS0xjcm51UmwrZStvRlpBbE1xK2dNNjBETm1tdXlNVlRKMjBYSDYzek1DN3VjMjRYbm1ycTV6UHlhQUJtSWNpWEF3TGlTTTUrSmtJdGJYc0lXcmd0aVMyeWQzbk94cWtNRy9ZZnpXemJ6ZE9RWndENEtkaHJJZ3lIenQ0cENTSzAzKys2dmw3Z0c0OHlUVWFkZjByU3NmeFBnYzVYKzhldTRDc0RwMTJXQXZLZ2FKMlgxM3J3MXVSVHo2TUJSSWd5NzhHZmZublU4NHJCMEhBTkdyemVqcVBENjNuTFM4Qk4rSzQrSXFBdUo1RjNHS2JjT0ZxaHVMYmFSL1NQb3gzSm8yWWw1cHY2WWQ1V0c4TndXL2ZWc3VqOFdlVDRLV1NlR0ozdlJGMkdzQ3lWY2FFMS9FbEp0MTRpZFI3Vi9qWTNTZE92aFh3YVFLaEZVQUFRS0xmUTNDT2UwNEVJaVNNNWh3T1R4U1RnQi9sZTkxejMrUmE0dXpLdGQ0YlRBWXQ5R1Ria1AwWnlkNzd1Y0NwZWJ3S1hHN2d1WjZ1Z2F2UTIxZisvdmUrUGtTU3I3NnZkK2JFN085TTdnMDNzaTBReW8yQ3pGMGpTYTVMdzA2aWJRSHduTzhvTWttTXVUa3dQaDNOM1FvWmVjY0JlRW5DdEV1NTJqWUVlWWNXZ3lFbVBJd0t5STl5cmtCZ3JrdFdOY1F5MnJQUUlESno1Y1RNZ1crSVAwQ3kzTU5QY3I1ZlBxM3EvcXJ1cXU2cGVWWGRWNzdmLzZIcjE2cjN2Kzc1UHZjLzc4WDAvU3RkQ1pvS1duSThZSjNzcEZKL3pZb0d6NDlUQ0swUVRxQWgzSk9mN2pOWDlPTWZtVkdFR0JTQkNrenZkMit1ZFIzRCs4a1J3WUhTZnRKeHpnb3psb2JSbDhEWFpSRytyL3JsOEZQc0syVmRFWUQxUHpTdTVIZTU3VGpmem5QTzYrV3FFRzdKc09MOFpMbExtcEZtVThYelg3RnhMN2ZpMUw1QkVjVkd6TE9iekdPNUl6cnRLWk4rd24yWlJBR0pvZFVjR3VYdUlkUHAyOGxRc24wODFMYTBwQUZ6WDZYR1g2bFZma0NUY1ZDMTBZdWx0WTdaWDl4cFJzTHlhb0NwWCtVTXVPSzhIa2lpY1NnMGpUVXZPOC9uQnFGOWhPQS9FTkE2bXRoMHh3RUszYkp4aHdvd3k3STdpUFB5bDVlYlFlR0ZaRklCaEZlZytBd1MyV1RnLzRvc0dBMVVwZ3pRMSszdE84azZQeWVNTEZTRkJwWjZNVkZNcitURi94eGZycnNvT0pROFI0RHp2Nk5lNWIvQm53L21Pcm5LQ1F2MDdLTG9YNW0vNlRjVnVEODZyTjJBbTdyaGlnS1g3UzRISGNXNmlPSSszdmlIaXc5bVRvcklvQUZJV1hUTkU0QmowU0w0cnhsU2dhN0JoMDFnUnNpN0hER2R1Zk5JTW44Q05mcWllMzlxVWRRZy84Sm1QN2Z1cXFvSElBT2RSd01OTUNIY0M1MEc2Y002ck4zUFgrdzhTdkFJemFCVG5XL0pOODBVNGVubytnd0pncGs3dXJCQ29zZlI5UFY4SEVQQ1cxQVpjdXlMZGVPVzcwcDN5aWtLbUIrbHRYWnpPOFdxbTB0bzN4QVk1djJrdURWS2hiRGlQWEphaWI3OGRWWVhiZHVlQVlnVG5NZldqM2xKVE81ME1Db0I2ZGVUSUVJRVdPRCt1TUU5T0NqemZGYUg0aVExSE1nYXNnNE93MVZ6eWVZd3JST2crQ0VwelQ4U0JPZi9VV1E0TTJZT2NiMHZUZmlBUlM4NGIxb09BV0g3VExFcmZIaWhweUV3MThhSS9sTGFCRjNJaU9JKzM1TStqSUpneHp1TWZxN1F0QUdZR3lKMFJBcHlsdXBsT0pSUUNOa1JFRExUMThSdWVQZi9OOVZReVJhU0dXWVQ2eGhpOWk2bUF6cU9tNkNEbkVUSEVPRDNNK1o4UFg5Znd6OEtvVVZOOVl6TlY1WTdnZk9XUGpTUTZBK1BtOVRzcXJuQ3NzMFMvNGVqaUhpaUY1QndQb1NFN2VYNUVySGplRVp6djZoS0V3Wmh1UURJb0FQSDBvbENKRU1CTDBzMTBvcGd5TU5wY1pTL0RZbGpkK0hxcmZSaWJ2SGRUU2hxOW9qU3BGb1RQTU96SklFam90a3JWOHd4eUh2d0pPZUZpaVBNWUlZVC93aWJpYTZrNGoyOTlSUDFNWTRTWGc1dzVmK3dwY3ZJQ0NXR0thd1RuWFYyQ01DbHdTd25Pb0FBb1dlVElEZ0h2dmV6YnlPTzFobXdZMFp2VDgwQnlyZEJKUGJWNGxOUFRmeWgvVFhQS0QrVXNTSm9nNXptZFIxTWQ0bndreVlLU2ZUbElQVVhmZmh0NlJQelVFRmpxR2FsT3VBQVpiZWphTndiWGdVZXkrdm5sZ0craW0zRE9BM2sxb0VQVGZsbUp6S0FBS0Zua3lBNEJiK1BXVFJ0NW1QdFJ0blVVdUdlMUxGbmd3eWlrUTQxemJRYUwrNkNuQWpmTUJvWDdCam5QdTVVcXJISU1jZjZNR3hRdjd3Yi9Sc1hRamxvcXpwOXRTYUVqMTNkcTJiNXJmU1RJV0kvaDZPSWVyeUM4YisvMTZMakVvNGlZazczRE9jK2JqUjBSR1huWTBISzJSUWJTRndBdGkxeVpJZUQxYjNzMjRqQ0dWMDFXaDdGOUxRdWJyZnlmVVF6MDB6aXVxams4REVSQVRSTXMya0hPOHhYRnNoenFlRU9jMXc5aXVHcXBPQjhRM0ZWMVk4QTcyNXYrTURCSy9MM2liWVJQNWFsZ1l4emhuRWY5cWpLMnJjZDVrR05mQU1Zb1E0L1NJbkRJQzBMYXlGNDhWUE9xRklIa0I0YXdpN2pudjdEeHNSRXMybG1ONUR3M1NkMDBJK2JOK1RHcWNEV2d6cDZwVHBoN1dwd1B0OXM3enJmOXR4RzBnNFFwR3VVWHp2bERvNWJaREJZbTZ3SVFwUW41V3lDd2pYSVFZdTFLSU5GWXk0bnVZN0M4clh6Q0syYXBFMEFSMG1iZ2dFNThoaUR3S01qNVdIMzdnTUJKTjJYaFBGNW84QjBZR2VPSGErRjN4ZkJLNUF6blBGSlVScHltWWNQbG9tMExRQ0wxS0hBOEJJNVJCaUxMU0N3UjRMeHN4MkVjR0xaei9jVmR2SlRWWTBrYURRVHRwT3loaC8wbmNRU3MyYWNJY2o2V0RXOUk1UGpiemxBZE14UzZXWlIyZnR2b2RnM3BpQzJZcjIzaGJVUkFPaEo2eENPYzgxMk5ER1orVlo5UHhMWXJBQ01xa0llUHdKbzU3UnR3VDk0L1gwVVpVTFYwS2tEUnQ1ZEVQOFNzK1lpTTF5R0YvUkhmZUI3dEtPVXFyY3Q5MDBROGJNTmJEKzI5Mkl6bk8rTzUwaXdGNXpIRXJsblU4ZUdjUDlibVZIVDBSaXNVbXdJUXI1amNlYUhrbEFpNE5mSTdtZ1NIaXlpQlB2S2tDQ1BQd2ZsYnduTXp6SENHejZJWTh6Y2owY2Q2TklabjVHVG9oZE1EcEd2YWc0UHRQQ0tHOUY1c09JKzhqUlpucVU2Qnh2UHRJQ3hhUStFQ2JNcmtPdkp3Z2tjNDUxRWI3b3FJZ2VsNUpjeWlBQ2daNUFnZ29DWmgyT2p2Y2lCa3lBMlBJaWtiOGppR0Z5em9Va0RMSk5xZnk3am84ZTlLZDhJcnV1aEI2N3lNdjRtdVJTMHdaZ2h5dm0wdTVwR1JyTTY2M2d5VnFFUTNpOUxPSStkaC9iYTFubFMxT2pUa2x2NHhydUdjcitwK0hNd291NUR6VHc2NHNDd0tBSmREdnhBRTdtWlJ2OU42U0hEVEMweXhzT2w0a2lCQ2NCNU55RFVsdk1zK0lOd0ljRmw1SjNPZzNRaTEvNjF3SXprV21jaGQyNUFhNUR6YUhxR1VtYUJsTzYrWEJKcENmWGRoT044TjVmd3FVMnNiK2ptMDgwY0NrRU4vZXI3WnczMG1CVURJcFV1R0NIRHpkK3JSdHE4SDdEYUNYbGlGVjVlNmdmOXFGVzVnbllZTUVPdksxL1VlNkpCL0pOME4zcXNIeTFVU3c1eHZoVmtXck5yNTQ1SzA4OTFRUGFIOXJzQnhmY1RNcGdHZTRBcHY1emYxckduYkt3RVZQdm1iVFFHWW9CQTlUb0VBM3FKK1l5bmk4eWd0eVhsODFrQ0phRUN1dkRHcUF1a1Y5MW9OYU5lc2kzanVGbmVnSU8venEvZEREYUJOeG55NHN5T2Y2S3ROTzQvRXd2ck1Vbmd6Mzc3OWg5Mkg2ektwOFZmb09kb2Y0WFducUppeHczV2NYV0tzOEhET0kwV3BXOGQ3NlN2Y1lKQlJBUmlyRHoxTWd3Q2Z4MmE5TkRGMW5CcDcxcnRCZzYvNzJsM2RLMS9TeTdSMHBKZ3VsSndyS3VpYXJFWE8rdXUrMUZtWVBBUTRyMnNjUE5FM0tyNVZPNDhNelk3ejk3Q0gzWEREaHM2Y2NHMkcyUnA1ZDA3aTJEQUdZQ094eDN1RWM3NnZTMURMNjNtZDViMHc0Q1dIWlRZRllMeEM5RFFGQXVzb0RKSkpLYUo3VVk3RlhCMXNkWFVsQXpVK2YvUDh0NkpjL24yU2Y1UXkzU290eUdKLzdQdXBzekM1eEVCUEg4WFFyNGVDYWRtMDgyMnpIeEVVeSsrYWViYnpaL0F4cmpNeGpTSUFYaU1tOWVUZHVTTngwMVl1K1RUMk5aeno2eXJyZU02cjJ2Tjg3aFo2WkZFQVl1dEdBZU1pMEVCaE1BYkZjYU1Gd2pYWU05NTlYNzFrM0ZiMUFITFphUDRERWVQY3VJWjZmYkVPWUZVVy83NXV2VGpuOWVyWHB1RTJVckhoUE5JSzZ6cEk2VWp4cG5SSFhWT3Z2ZlUrQzkwYzE4M1FTVmIxY2dudGllcFl2ZVhtNEVBL1NPWUs1enlFaTZ4M2ZaNXZYNE5ZNkxFcnBGc1ZBQ0dETHBraDBBWlQ5REE0bmRobHY5T0xWbmRMQzloa3Z5cHYycHFMMGl2KzlUNXRBS3kwTnZ4NG03S2xRaG1VVGIvSGVUbTBnUDBvTkZNMm5HOFlhWVdvNytxR05PU3A3NVdXODJlOUQwYTAvUUZOcEhUeG9CYld4VG5EVG8vRTg1V1E0ZjRrbWZKNU9PZFIyMjU1SVRCcjZ4V0ZLbjlQV1JVQW1UWmRzMEpnRTY5cDFPU1RUUHFLUC9tekVKZ0RrbTJ5NHl5TmJSOG5KUVZybk5SUG5vWDFKNHBldkcwWDlZRFh0NWR0V1ZrMGE1MEFBQ0FBU1VSQlZGdVd3aUhwTnB4Zkg3K1dCWnJzRDZVMmNwdVc4MVhQNG5Jb1c5TVJ1UUVQZERodUJUejR6WnEyYURZbTZ6a1NYWHFFY3g3akdqL0Y3YWU5RDRsV3ZNU3lLZ0F5YmJwbWhRQjZZS0VqMzBUeW01NUZvR00yODg2QytuejU1eTBLR2RUNHZLUjF4WDJ2cDlYUFFHWGZ4VDl0dzU3YzhYVUYvNStyWHZiY2FHOUNtM2tyR3g0NEwyMVNmb0tCLzg5Q2s2Y1BBbDZqTnlrNXYrcVBtYzZydnZLb1pNUEhOY1k3MnJ2Mk51RmVhNDBib2VnSW9hNEl6amY4YW5tVkhmVjVPMy9HVytlWFdRRUkxWVE4MHlPQUVwTGVqQ3VUN2ZPKzlvVWd6eXJ1Ty8zSFh3MzZ5eml4cnhXY3BOcmpvWSs5ajliOE43UmoySys5d1gyKzBPTHUwMWY5SHIvaG5GODQ3WEZuSjN3MHo3K2ZObXJlNGhIaS9MQWtNTHh6WFhuZTc3N3dGVndSZHZyU0YvLzJ6VEd5VW5LKzRadmNsMFBhNzVERWdNbnVxUGRYeE9xc1NrZDFqRVlEVGZTSjRQeUt2OXVwK2pRcVlZeTEvQlkrc3dJd1VTc0trQXdCWGxUOXhqRlp2RURvUmRUdWkrNWdMK0Q1UmZiMkhqWnlmWmlkNEdMelc4VUUwRi85MHIvcytOMEZyakIrbnM0Tnp5bk1VNXp6VHVkMjNWbkNOdkZQaGlkb3czaytxeGtxMVR0RlZHZ3lIc3lVbkhmOTZaQUZZU29OVlVKN1FwTXRmU2RkbGRySmQrRCt5eXI3RmVtVjRockJlYWZOM3VrczNZVnFwUUpkVjFwSG51ak1Da0FLUlNsS05BSjhRQ3dOWXRHaEpqNjVoMTBmNWRsdk1uYjlFUXlDZzFYQlJGbWpBUzY2WEV2MjA5NFRkdVBxQTFjZmFmbWNIK0Rtd2FzM3ZHRzh4L2xGbDJzeStNbFJJWjZQRGVkaG5ZN2lQTFR3Znc4S3hTS1NUOGY1TThMa3ZxQU1HeEhpUFc5ZUEyMkVCRmhwc3NGVjlBRmVHZklzdGxjVTU1ZWE3TlF2UjE5a2c5WnpRbDVtQlNDMmZoUXdCZ0xlMHR0NmpJQVRnbnpLZmZnUFI0Szg2VkpyOEpiZkdmRk83ckgwclljRzkzOTNRanlQODg3aWo3V3V2Nm9lRmRTRzh5anY1akxncUNURythZmovS0hnK3JJL3JCK1hBSjd4V3Z3b0xNelN0eDVoajczS3JnS080cnl6OXZIV2YvUUx3TTgyMzlHVHlXZFdBS1JBdW1hQUFDL0k0YTFYQnNLbks4TG4vUGcwYlRpUCtUL1BmRDQraGJGUDAzRytJMWJRblk5bEdPSHpaWGJFSHBPRlNNNlBpVU9QQ29ZQU4zeVBzVVlYVE51eDZ1VE5lZDRscW8vVllPTERPSnovK3M5OTg0VVBtYVoxTEpVLzhpU3Y2N1VJWTFMaWF2YkdQTGQ2Ukp5M2dxOFlrYkVUem1yMnZCaTU4TFRJbS9OODI4NU51L3pHNER5M0dnUVgvOEJueDB2Mk1OYWJ3dTVqUFJkdnArNW9iT0w4S0NhbDh6bEVDWW0zcExQd1djdWI4M3hyMm9ZZEN0M0pYU3BlQ1FkZnlhRmNOZHVQMWJlUE5EWGFxZTdISnM1bmdlS01aV3lqZ0Qwell4MHlTajV2enVQcmk3YXptdHR5bldCMGxoZS8rU013cm90OUJWNndZMWtwSDhleTRmSFJXclI0eXlmRWVVc0FpeEQ5R0NYa1ZoRVVzZGNoZDg0M1F4ZTRKVkY4K2RmaWhFWlRmODBJNThvYW9CcHJyZzVMaHliWExJYjRSRTdpZkNLNGlobTRDczd2RmxPMXBGcmx6bmxnTlpYcWNUM1FuMEMycnZsUXVMRVdFU0syMm5hVUZNS0o0WW56RXlFcWZnQVhuTGNjcEJZbGs3bHovamlEblFseHdHcElRNzBYR0RUYjl4eFliUE5zak9pSUxkZkV4QWlkTUFoeFBpRmdSUXdPeXR0T1FCVWxXK0I4K01ZYVEwR2IrWGtzMXArTzZhTWJtR3hEWDMzUHl3SG1EYTRaV1lseXR2VSt4S2dnNmYySjgrbXhLMHBNYm91MlhWeFdsTHlBRSthMGRxaGFWcHh2NU1rbVE5MXF3QWgzeUYrUitHMFpvYUtjNkkyWUZzQ29ZT244aWZQcGNDdFNMTDVvYS9MOFVaRTBqdFlGaTFFbURtU3RPTDhlb3lNUnJWNzhKMjdnSElLMkpEeXVOMk1JUVkyUm45V0JPQi9qRFJROENGL0FNYkZ4TEhnZXBIcDgzOXVPdkltNFduRWV2ZXlKbFVwRXVrbThNVzQzQitTYjdLbHZlTDlHb01zZktiRnBQYnNRS1pydmw4NXZIbkJNc3ZRb1F3VDRaTzRQTTVRM00xR3J2L3R4WklXZHZ2aTN4NnBneFhtc2RzbHZGa3lyamI2WHVXS2lLVjlRbXcxMG9HZ1hVTmlQZm1yNWhEaHZDV0FCb3ZOVlgvbU4vcWFZUVgvSktxZjkyRVN0T004MzJZeVZuczFEOE1yc25Lc1hWSjFzb29RQ2ZDdHRuQ0ZBT2wySjgrbHdLMUlzREZGakdZT0xwSE9vTG1leHJmN2RmRi85ZUZaYWNaNHZ1TytGcHA2cEo0WVFsdzJCNmdXMVl0WE8rU3BKbkRmZVRFbWRmUlRqclpMcW5rWnRLODduMjRTcTdCd0dwdWVScUY4RFlDcHlWNFdKZHVUYkdTSE9SeU5mbGlkZGNENi9ubUR4VUxEaXZPUG1PVlJXWUxVRHZRbFFmY043QkhOcm5EZVZyOUdCT0s5ZVUya2RIWEMrVjFydGt5dHV4M21ndFpzOHphUXhrSW9SQlgzMVBlLzJYRHdUSGl3ME9VN0VFT2VOVjFOU1p4T2NMNm5xcWRTMjR6eGE0RnVwa2swVXlRM01Ec0NLMy9PaU53SXplSkVTRDRNYmNTUERwWHRBbkUrSFc1Rml0Y1ovcDZGSXFtYWlpeDNud1NkekZpMFRqVWFFWUFCdkxpRkdPNy9qaGVuRU03YWlYb3F6S244azJYZ2V4UGw0T0JVNEZMZEttZXMvQ3F4cU5xclpjUjRXOWFlejBXT01GRFRzNWhuOEdNOGZlS0hqRGVlZHpUeVg1TkNhbkRFdnJpU1ArTVNPV2NCS29uWjZOZTA0ajFZdXg3R3l5QlVTTVFjUXFKYTlCeGRqcnBIR2FHMC9QVDZUWWxJN1B3bWh3ai9uRXp0bUFTdTh3cllLMm5FZVRYRCtteFBRbWRoMUtqL3FQaXpPOWhhY1A0dzVyTUFiM2JORktUbytjVDRhbTVJODRhdlhka3VpYXlacTJuR2VENFg4am5ZbXlvUUxPY1RrM0ZLVjNaRHRkZE5Qc2hOK2FQMndEQXdGOGxTUk9EOE1lT251MGFiTXk0a1o4YkMzNHp5Zm9MOFpMNkgwb2RvNDBLQTcrSzd6SmpiWTRWS09QUnZlV3NDWUh5MGRtd3Z6N0lvUTU2T2hMOG1UZFhBK3g1NWc4VkN3NUh4bkNxc1drY1lYdkRaOW16M0tBV3g0MWN3NStTWGVDWmlpNTJaYS9TZUVUdnlZT0o4WXNxSkZhSUR6dVhkV2k1UnBTODZqRGI2V2QzWmNkbHA3SDA5a3dXL2FGenliWE5YN0p1L2t0RkdMNTJtVUpjNVBmZ1VGRDRFeW5HZFBzSGk1dCtROEdKWDNCRDIzR2ZqOHhxVEtFUkJjNHZQdEYySTI4L3o4cm1zNXdrNmN6eEhjNllqZW5NYmswM1N5RWk4VlM4N2p1SUc4bHpOZ2JzRHYwenRPeTZmdjhXMm4wanlKMlIzRHlHQXJIaFNwUWhIblU4RldwRWpOT1RreEl6YW1scHlIaFN6dlV6UEFLcmtEd21VLzVCbGJaZi9CaldlMFIyQTNYd01OY1Q1MlVTdHFRSlN2SEJkcUZqRFhscHpuSGUrY2M0V3BGSS9wU0tZbXpzWDdSZmV4U2QvaGxrcnhNMDFqOWdoa2xFUlg0bndpdUFvWW1KZVEzUUxxbFo5S2xweDMwREdxNTZjZGwzeW9PK2VkZUR2cFRIMnd5T3EyZVorMW16aWZOYUxUbHNjL1c3d3g3VVJubXA0dDU3dHlwVXh1dVdqcldxVXF0OWZFVHd6bmdNcGVRdnhJQ1VJUzV4T0FWY2lnZUlONU4xc0Z5N2N0NXcvek5Zc0RMUmpoSkdhMTVHOEgrdDJTMGZPNEV1ZnpRSFdhTXRFcXFBSTJ6WFJubDVZdDU3SGtKZGQybEJ2aGxKWFFUVzZQYSt1UlFTNGdFK2R6Z1hXS1F0ZnpOME5QTVRkeGtyTGxQR2JTOGozaUhsWkN0WTRPTmZMTk9Ka3l3dFNTZHcyTTJKT2R4UG5KR0JVN1JOOG9ZTkQwYTVkYUQzK3MyQnJiYW1mTGVjeVo1Mm9YZDR6ZDgzeVNvSjRzdzRneVNCWWpZV2ppZkVMQUNoZThHMWlvK1ZVMnVML0pQbFE0TGJOVXlKcnpHRzRuYlhzVDZROVN5ZGxUck1OanZVU1JIWmp0VlM4aFdjeVlvWW56TVlFcWJEQVVZRzN4V1d5ZDdEbk9SOWk3Q3F0dUJvcFpjNzZSOCt3bVRDeFhSRDc1ZDhVT2t1VVprL3V5eGtnV01XNW80bnhjcElvYXpwVm5wM01GdC8xcHUyclN0cVdvbVF2Vnk1cnpXSDJiNjNkLzF2VmtJUCt1V0dnbW9qMzdPWnZ3Nkd5c2FPeEw4Z1NGNmtpcXVzVDhZNS9PeXRYZThzRmNYYTA1ai9GMnJpdnV0N1d0SHZSWEp2eVlMNkdUMkFJUVU3QU1SdTI4UktLa1YzNm1Tay9xdnN3KzZEa3JpUXVhbEZDR3F6WG5ZY1RMZFNmaXNWNkgwd2l0WGlyallNNTlteVJ4Zmh6OEpYZ1crTXlSNk5vN3ptWlNZM0VKY3FwVXRPYzhTRmxYNHJKMzFMVGhIU21OYnR4ZGE4SG9FdlhEdXNxY3orVWx6a2RoWHhKL0xERFJpN09iOHR2dC9YbGVnbS9QK1VQVEJwTDlpM2IxSzJtR3JmazdQMjZyTEF5QTE3Slh5WlJJbkRmUktLRWJWbDdWTEdCaVNPUmdQZGVEVm1ZTWt6M25ZVTBmYlgyenkxVkxUN1poNUxVL0lyZ3pya2JHYU9Cb0pFYW1Ic1Q1VE9HY3ZqQTBXV3BtNTRJYXhpOExZOTcwOVpsQ2l2YWN4N0tYUEZmaTZSVVQvUENNbldGSVlJSzVOdXluNzZ0NllLQTlNM1VSNXpPRmMvckN0bzI1NW5PcUpKL04xMGcxL1d5YUtkcHpubStDU1RocmJpb3d3WTBhUlZiREdIbU5WaTVqSitDeE5UcmZGVG44akM3WkhaeVFFWHBjVEFRMmphNWdReFVYdk5hUjVxV1krcWZRS2dQT28zZTBueUxsZUZIQStWc2lKTklaWFFtQVZ4WTlza0F0SVN1TWVLa2xEMFdjVDQ1Wm9XSzRCcnZiYXRvWjF2eTlRcW1acFRJWmNCN0ZQa2RtNmI1N04yUjlEWjlkamQ3WDE4ai9OQVRpZkphbGNmcXkwS2JvcWVaTlpjNEQ1NCttcjh5VVVzeUE4NEF0eDFVNTR0eEx3TkZrZzVFeHhQTDN4blhmY3gxMStDK0lPRCtsZ3BwVE1qQVMrVXZ2dVB5cTRqd21lYmR5U25IMllqUGdQRDRzaytQZXRacTAwZUUxakI1VWY3d2JOc2dYc09aYkdmbUpFT2RuWDRadE5NRDcwMlBEcHVvem9yRHQyb2d0ZE53c09IOCt6eTcwcGh6UFB4NWlObGhpTzhhUkdzTkE0MzFlR2ZiTCtwNDRueldpMDVXSHNxdkxpR3R5WG50UFY2UDhVOHVDODZnVTh4dlE5NlhzanBvODFhZ3Nmdy85c2NoT3hpRmpkUjAySHhkeFBoOWNweVcxYjI0RjE1eEhsNTg0UC9ZZHVDR1RhR01qSkhoNFR2VG9zVWJxYlNQUnVsZXdNanB5cHJDamwvQ054TXpLZ3ppZkZaS3prUk13K2JUVTZCR2N2elliaGFhUWFoYnR2SVBLc3BlWHJxdWlQdW1MRDFpWjZWU1FiRGN5YmN6T2o4N3RtZEd6Y0JQbnMwQnhkakphWm5PbExVYkUrVW12QkFWL2QxS1kxTS85ZlE5THJaQm1mZ0VtVjlRM2UrR3lzZDErUC94SmhyN0UrUXpCbkw0bzlCNE53N0MrSWM1UGVoZVZsakorVEFxYS9QbDlYbjN5QjJxSmxDR2hmYzM3NU1XRzRXVTQyOGJNcStHZHJaTTRueTJlVTVhRzEyZU0yM1V4SnM1UGZCRjUwbXVwZFZKM1Bzc0c5UkV0S253YjdYclVUQ29xSXFNS0g0bWNrUWR4UGlNZ3B5dG03ZEtydlFSaHRqZDZpUUhPRzNYQmRIWExQYlZNeHZQNE1ueU95NWErd0pqTFRtK09RbkdXTDcvSGR0bmQwVWZ3QVJ2M1F4OWs2a21jenhUT2FRbHJpNWFpSFpnTTBuWjdtcCtmK0NiUXB1Wm9MbnZEUTRPMzFrTjAyT1lIR1dGTi9hMlFaM3lncnhkVmhnYkl4Sk00bndtTTB4YkN4TkM5R2VnTDBwcWNKTzhoV0Y4bWlXa1J0c1hiZm16ZkQxOGM0QVplcDBVeVk2TVM1OGZDVTlDSGZKc0czM0VKRTk2dW9XS04xdDRhYUV4eW91Z2ZUUXFUOWZNTDNwbEc2SVU5RXlZWnV5UTJ3dnd6OWlQT1p3em9WTVRCUk1jdzU4TUhoajBqd2NBZW0ybVVIaVB0S1RxekdjL3pyOHJsMkxrUHg2UHZwWWdxTzNSalhUOHdVZ3VYa0lFdmNUNERFS2N1Z3JmelR5UFZkbkEycUt0dTBYdmNtN3BXMDBvd0s4NVBaL1FjUU1VOTRyZllTQk42TG9ZcmppME9STW4raGppZlBhWlRrTmp5NXVoZ2h0bzFFK3Q3alQvM3dXdmRNWi9NbFRzcnpxT0xQZVhPMEJseDFuMzR4anFZOXVyVGVGSEUrV21nbkhrYXgrejJnWVBwcGxQODY5OTV0Vmg3SVhvWGh3NWVWbGRXbk1jSldWT1lEVGRSYm9oaGZETzBFOS9OYzArL29RWngzZ0NqUE03bFFRL0sxb1krVjZOUHdUdXZXdnp5NUNtMnBwbHhIdWFRNmZhR21xSmZVUTA3a1E0RHRzdXhNYkFKU0p5M1FXOW1jU3ZOcDNhY3o3R1RRRFBQdjRFc05GcWZkZ3MyVFNReTR6ekdSbGVtcWZqRndUZjgzMmJZeHJwem9ZMS9Edm9SNTNNQWRRb2lZYVI3aEExdURxWGt5Z0hoOW5RTDg1QWFPZDlteG5tc2dSazlsVFpINVJzd3ZjcGZieVNkR252dmlGOHVIc1Q1WEdETlgrZ1RyMkR2MkJ0T3BpdVhibGJuMkd5UGorOW1OUXpIK29hallReHp2SzlKd3VNNjh1NHVzTUZPam1rYm9vbnpCaGlsZDU0VDY3dVdwcktHYzFad1pjZDVUSGFHVHBUbms3TlZ0YkQyTUdURzREaDhuVTRPcWhEbmN3QjFaaUxYaE9GK2VXcmxaeFpaelpEem1LNnJUeTBMaDJyeEhiWkdiUTBsQzF2TXREUWh6ZzloWCs3YnRsK1c1cnBybjJIZjNzSDV0NHFJdWIvNTJyNU1JbVJqM2ZiMGVoekVlZmtlNXVLNjBqckZRUEhUN0gxemtadUlUR3pyWWZGR1JKRFkzcXRURzBVN0s2cHJIN0t4RGhOMTlkaEtwd3pvYXR4U1NxQm9SVVRnQzJ4dy8wUHN5WU1pNnBhVlRsbHlIbWZUUFpxVlhoUGtQSzR0ajloTTgyd3dkRDh6dTJSUXJubEhuRGZSbUNQM0U1ZGExMTh5MTVSSDMxNzlyTnQ1ckdtWWxybTh1cStLR1FidndTSEZXaXYvWmg1N2l0UlBhVUlPUXFBTUNHVEtlZFFnVjZhUzZaV0JUZ1k5ZWI1RlN2L09zdy9vbTd4Y3hQbThrQ1c1ZVNQd2h1ZXBYOTArcmJVWDd0c0xpU0doWWM0S0RtK3N1L0RTblJnaUxJTjhVOEgyUEV0SkZKMFFJQVFtSWxCeHJ4bGhBa2VVRy83a0pBUUlnWGxCNE43QUVBSUhaTTVMeGlnZmhBQWhFSUxBMnUvallLT2VmUENsMThHWTlqZStJVy9wU2dnUUF2T0dBT2JtK0UrTTJRKzltM24rdXRpOHZUL0tEeUdRRklHTDdQb0RWMXVEQXovZWZlekcxUWNlZktTMWxWUU1oU2N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JZ1V3VCtoZmlhZ2hUNnBhRjc2VTlYUW9BUW1BY0VQdHhpN0tmRWQ1TjRmdmo5cTRuMTgvQnFLUStFUUJnQzkzaWZSenZaRTg4cTMvYnVmejBzS1BrUkFvUkErUkc0SUw2SWVDSmErbyt5MCtmdmZPbjMyZVh5WjQxeVFBZ1FBaUVJMU5qZjNWbjZGSWovUGUvaEFydmQ0NDdQblZEdjNnT0UvZ2lCT1VQZ0F2dkhQRWQvQXRKdjRicmtEdXE0NEZlamh0NEhndjRKZ2ZJanNQS0t3VXRrTHRyUCthNWp4azdSc3QvSFhpT2VMSWdITWlCZENRRkNvS3dJTERWWmkwa2JuYnZoWjJNRkRmMFZaNm4xbE14VnBTVmRkQ1VFQ0lGeUkzQWZlNWZ6UjE1UDNuRldiOHU4dEJtNzdad1QzdHl6ZXlRZjBaVVFJQVRLak1CU2krMDR6dmFUWGg2V2Z5Q3p3aHY2cmFxcUFoem4vQlg1aUs2RUFDRlFaZ1NXR1VicXY4RFlIcy9FNFdXVkZUVDBKK3lENnRhNW9Lb0Q3VWN1UW9BUUtCOEN4K3lhVTBHanZzdFYzNzZwTW5BUmZxeXVicDNGcDdXYlhJUUFJVkJhQkpZWU8zTDRRcHhiUEF2ZG5zNUloekcvdys5N0xaSGhYbU5ETGtLZ3ZBaWNaZXpBV1FibnZhNzc4WTdPeVFJOGpWdEhtZkIxRUhJUkFvUkE2UkRvd3p6dmNIcDc3YnpKK1lyTHpQRjh4VitZVjdvTWtzS0VBQ0VRUUtER2Z1ZzRmT3graFh1YmZYc0huZnNUSFpiNjlob0xjaEVDNVVVQXczbmV3S05KNy9GTUdEWThoOC9XR2ZQenE2Z2I2RWNJRUFKbFJ3RFd1OHZJdzVrSGY5TEx5VHEvRWIvSEdScDZQWWhmZUZZK29Dc2hRQWlVRjRGMXhtNGEycHZFYmo2MWlvWitRejd0NzBvWFhRa0JRcUM4Q0hTNTJWNy9WclNoYmdFejlwdHlTeTFDTlBkME1ISVJBb1JBV1JGb3N0T0E2bTVQM3Rhd3J3NFRlV3pmOTdnUURDZEQwWlVRSUFSS2hRQVc0T2tSTzlkOCs3MUMvemN5N3NLSS9yYmZEK2g4WHp5Z0N5RkFDSlFZQVl6WWcxdytjN3JqWldmVjV6cWZ4UE8yMmQ2akIvWWx6aTZwVGdqYzhRaGdNYzZRT2I3akxiRmRjUVhIN3dYcDMvOWJmL3JqUTkyQk94NDRBb0FRS0NrQ01OdGZDYXAraGozMXYvNzBXNHk5UjNqRGpPZjlqb0xCNkk0UUlBUktpVUJiMmVpVSt2d29QTWIrcmJ4ZnVzdTc5MDdKazM1MEpRUUlnYklpVUJYNzVrMzkzL0RnNE9HL05qeGUreUI3dDNsdlBDSW5JVUFJbEF3QnRPRytXYjVrZXBPNmhBQWhrQXFCUlp4dW15b2lSU0lFQ0lGU0lvRFY5dWF4R0tYTUF5bE5DQkFDOFJFNHp4aWRlQlVmTGdwSkNKUWVnYjQ0SHFmMEdiSEt3T3FsMDc5bEpZQWlFd0tsUWVDWTRRRE1PLzIzMnZwM1B6Ym8zZWtvVVA3dkVBUnEvdTc1T3lTM0VkbXNZbmhUZXpUaUlYa1RBdk9GQUticU51WXJSOGx6ODJWV3g3bit4c2M3a291Z0dJUkFXUkRBVkozL0tZdXlLSnlIbmsxdXhWd09uUENiUnpJa2t4QW9BZ0puYUVrT2pnall3cXM0Uy8yZEloUkkwaUYzQkhDcy9TRDNSQXFlUU5kYmlIakdPT3l6NEFxVGVvU0FCUUxZVlhlbmoyTXJMZTgwc0RQK3A3c3NzS1NvaEVBWkVOaG0vUHVVZC9UdnJIOSt3Rm1hczd5amk4R2RrL25ONFZOeTdweXN5NXcyL0U3OWd2OFpIK2xMVjBKZ1RoRm9qcHlTTTZjWmpjNVdoOC9VT2M3NjhORWgwVEhvQ1NGUVlnUmd0cjlXWXZVelVMMGlqSmdOR3M5bmdDYUpLRHdDZkhyKzhzeTFYTGwwK285bXBzU3EyRmZZSmJ2OXpONEJKVHhGQlBqMC9NeVg0UzI2cHkrM0lGeDc4TzRISG5qd2taWTRzZnNjdTNIMWdhdnZqdzBpRHZDL3dYL0JyL25Fams0QkNZRnlJY0MvT3I4M2E1VTNCM3ZPWnZvWlErd1M4bjZDODRmbVRZeXNuV2NEd2ZtZEdLRXBDQ0ZRY2dRd1BUL3pKYWRuK2FjemxnUGZ6RXVHNnBmK0RBdUx2dk5MTWhLbUgwLys1b0c4bTNqdCsrUDROVG91YUNKVUZHQWVFT2lEODdQT1J4VmZ5TUpYcjYrbDF3TldDZU1yMllmc2RpOWMxcysvUHZEejIvVnQvOU5jWis3NGRRcmhtSkh2dkNHQWZ2SEpqUE4wbGowRERTbzJwL1hnVXp1M2RDNmFKejE5WTdxNHdkTDhQZXM5N1BvOWpIUERYL1l3WTVLYkVKZ2JCR3JESDZ1YmZzNjY3SWduMnJLb2UvQXBuc3RLOFRkR2poS1dYSlB4VE16TkhiTWVqOXZ3bTNzbGhoeUV3SHdpQUJMd2ZhUXovQzJKY1hUVFlvd0JxOFNSek1JcWU0MTB4cnNlKzBkOWQrakU3M2g0VWFoeUk3QUd6dk9lOVF4LzU4UVhNbXQrYzV0S0UxZ2w2aUppcFphMERtdDdsVTJGaHZPcG9LZElaVU9BZjNQV0dBblBRdjFOMGNXdVdjd1p3aW9oVmIvM1pFYzZZMTc3WHR3THRQSTJKbDRVck53SVlDQTg0N0pla2VzRG1ycDduaGpUbWpKRVhraSt3bWpkNDN4L2tMU3VTS3dsUlNBRUNvQUFEcmUzV0FDWFJRWXV5R254Vm5LMnF2UVo4M2JBTzg2Uyt4N2xHZGV4d0FjVkZmZjdjY05UT0VLZ3pBZzB3UG1qbVdhZ0ljZlJGcFVQckJLQ3NkMFVuK1JaNUFiN0JZdVJ4VXp4bzhRSmdXUUlkTUg1dldSUk1nNWRaVC93SktLUHY1OVd0SnFlL3lJVzhTYi9WWC9nTERVL2tEd2V4U0FFU29oQUZaeWY2VGdXVk4vMWNFTmJ2WkVXUUZnbFBDR0xyWVRUZEg2Q1p3ZC91L2JrUWRyRUtSNGhVQ29FV3VEOFRCVkdFMzNUVXdDT283U2F3Q3JoMVJlZDUwSWtyTHlvOWRoUGhQZ2JYci9SZXV1T2NVdE9RbUIrRVZnQzVTMld2MlVBekRuWno4Q08xcjIwOHNUMC9PZlVKTDBoNkF3N2ZlbkwyYThaUHVRa0JPNWdCRmJCK2FkbW12OCtHL2pwZy96MXRKcjQwL1BvS2ZSR0pGVGNwdzRjNXhmVHl4NlJTQjZFUUprUndMZm5zMWw2KzJIM01hOTNuUmlNanF4ekRsbjZ0YS9lOUh5bEprMERwaEpmOFhzUG0xZE16MVR1eWgvLzF4OTVXV3MvVlZ5S1JBZ1VCUUUwcnV5WkRKVDVBM2JLVXBuTUhWZHVndDJXRFg0S2RWcDhldjZqeU12b0hIdlZHK0l2MWZ6SmdSU3lWWlFPNUZ2TUp5bzU1Q0FFWm9uQU9rcnhMWHNGM3NoK0hmdmZrNjV6NStuQ2JLOStLYWJXZmRWaGxmaStjNEg5VllodFlwRjVEZnpqR2RSc0xVL1JtL1pva1FSQ1lJWUliS01jMi9kNlY5anRBOGZaVGpObVhsR010eGhrd0NweGE4MTlsMU1iTlFuNFg2SnoyaG5VYlAvOGVYZEQyWjBadmkxS21oQ3dSK0FZcFhqTFdzeXh0M2w5T2MxQk56aUM4NVBmNEw4dldRd3lZUExmUFlZcHNqODZvRC92VDl6MzA2LzNNZEZwV1l3L1REbmtKZ1JtaGdCYXh2U3o0bExyaTJ5QVp0NVpUZE81eHhHY2U1NGNOUGpYcE1Da1YwelB2MmhRNSt0blJ3YjBoLzdLM3NYL2tWUm1hUGlXT0JVNzlDRjVFZ0psUUlDUFVldTJpbmI5d2ZKYW1rWndYZmFXMFZadnBGV2tnVnk4QnBHeGxHOTRzUUhrdjcyWFZ1NXdQQmdmMHRnc2hzWFFQU0V3T3dUNGtoenJFU29PbVR2eXNoQTJQUzd5dHVMeWxBSy9VMjlrdkM0ckNyVFZua2M0R0pIeHZlQmR5Y1hhU0EzR2ovSm1iNjJIUzAzcWk3Nkl2ZmsvYWFJVW5oRElFZ0hQZ21ZcjhIRzlHWFkvU2haYThaSGZFUStNSTJyOU9QMlJKdHIzOS84ajQzdVBxMHpzZlI4ZDBQczJ3a0hxTG9TcEJLWUcwbzgvQW9Mb2hoQ1lGUUw4SXpiRHZlSEV1dFRrSU5xTm5nSlllL25WNGQ4N0RuaEtmYm54ZlhOc3R6a3l2cWV0TnozUFhhZ2FmdWo1Nkw5TnI2N3hPeFhhTjUwTHF4bTIwc1drV0lSQVFSRGdQVi9icGJkb1NiZjg3RFJUVElodFM1SzY2WnRRYjNyZVV3R3UweUZvVjduSmdyRVBEbm1udWoyVSs0RlN4YVpJaEVBQkVJQ0ZhMnp6R2tmRng5VkF2SmxpNFV0YnhBRmJqK0trRmhZRzAvUFBDditxbkFiUTRSWi9sTE5lSEtPanZkTzQyaXFyYVdKVEhFS2dBQWowd1FiYnBiZFZPU0ozbWlucWoyMWhGYnNnYlhrcFVFR1Avb3FJMXRCT0xXanBVL2l5bGI1TjcrcGtJeWE5QWhTVEVMQkZvQXZPeXlZeXBTeDA3V1d0NGZwejRZa0U5VVg2NnlucUM1a1FUUDc3d2gweW9PZFBQcGZOSVFFdVRjOExuT2xTV2dUUUZVNC9qUFp6RGNKZEZ2bDNVL1NnRDRVTjRGZzExY25CUk9PK0oySU5EZWpYbW0vekhtQmlQYm5Za1JnMFBUOENDWG1VRGdFWG5KZU1UYWw4VjArSnA3RUhydnVjQjUxNktSVndIS2h3SUNOM05QL2gxWkFXeXVxd2FVK0dUM0pGbDRhbTU1TUFSbUdMaHdDWVpySDZ6YytQWG9JT2FjbDN4aTM3ZmZzTEtZWUZDcytxWWF3L0RBem9xMUtqcXUzc0JFK01wdWNWNU9Rb0t3TGVaMXBsdHpoZEptQXpseVp4ckh3VjYyc1NpTHJvTjUzaUUvQUpJaHBCVzdJMWh4OTRhU3lQZGVWTlM5b2NqR2lKblRROW54Z3lpbEEwQlBpU25IRXJYbVBvQ3g3SS9pNjZ2c25iK1NXZmxTNy9BbjNLSDhid2VpRU9PaHRHTjk0VnhyMkxjZ2xCeWlUOGFPaERIRmtKb01pRXdLd1I0Qit1c2pSdXRabS9XUlZaUVEyU29nZGQ0M0hPc3ZlbXh3TEg0Qmx6RDY0NVd1bTh4eGZiOXpiK3BVL0NqNG04OW14bFVIeENZS1lJcklQeVJxdVlSaGRRN0VqRVF3MGl1L2tKSkRXNC9hMlR2cG12L090anhwNzd2NktiVVBrTXN2VGtQNVhwOTMyRlZsZ21INnlBZlZBS3Bpc2hVRTRFR3B3Z1ZxcGpESy9hUHRRZ3p4bkNLdi96NWV5eEZ4Z2U0YzZMbURqNE12T24xSUloM3ZTaTF2V1BCYjFHNzd4OWMxQ0MxYjFuTmU3VUt3WlcyUy9EZTdHVytGTzF3WVJXTHJYdXJ6czR1aTlnci9qYUM5M0JtM3ZCa0hSSENCUWJnUzdvWWRJMHViYm96NnNWYmcxelhPMnMxUmk3eXRnN0o4cnNEaTZGS1ZINWNmUkJKc2MveDI1Y2ZlQ0JxemNHUFMraDV1RDZ1eDk4cEtWR0N2ZXdrNWUrakExdVR0UmlYSUFuV3V3NlR2K0NxY0FFNjdQUXoyV253QmFZUmdBQURsMUpSRUZVOVhFeDZSa2hVREFFMEZtVmUrSlNhb1lWT2FxajBOWHRLNlJ0c2xjZU9FdWZubndReHRJbkJtOGZOZUJWT3V6Mi8zYVdqc1ZIYmxLcTV6aWZlVm5yc1ovcXBZN09JOEplOE4rZFJmZTl4b3BEK0o1aHQvK0w0L3dyTjhWd3hrb2Jpa3dJMkNEZ2d2T0crU3VGcUw3UnRxTUcwY0srekh6ejJiSFpOQ1pJWUpPZDlCQzg0ajZUSUZJdVFYRnNQcy9Ld2dtbUFXK3BGQ3JOMHg2L3Vhak1HZW9ST1FpQjRpSUF5bHN1dlRWNTNqU1h3elJQL0xaN1ZTK1JTNExEbDZWcHNHKzl2VDlKc21GaDd4VW5ETGlmTnRjc0xrc1RSRmZYYzJHeHlZOFFLQklDM3BLY1hTdU5XbnFxemtFRnNpV0ZuVlViMXB0SDBpL0JkYkVscDl6UFdxNGZTSkJvZUZDQXRPczkyVWIramxTWXFwejlXMDdaa1ZHU3lFRUlKRUxnNjYrUCtxbjVxbWg1R0tpYWs5blJBU09mOEZwalF6emxKdnliTXVTMnBNZGRxZGJ6ZzE5N3ZxaUwwaUVsVC92YVoySWVFYXVQMUJTRnN5ak5lV2RhQVZ2K3RMV2o5TzQ0QkNwb1o2TitSeFBSOEpia0NHNU5EQndhZ0Mva3UvL3YrTDhYd2QyVG9acWlTNDhrZHFWZi9DdXFEMmthVzVreDU2R0srQjRXcnlGVkZzUTJBY2VwMlo4dHBvU1NneENZaklEWE80OGcvZVdKMFdGMHQxeDZxMmJIaFE0eXlUVzUxQWNOOXBiMGpIKzlUOWNVRjFrOWZyd2NRdW8xOW1DL2J0TDdZdXN2WG9DYXQ4Z2hkUkpKQ0l3Z2NIY0U0VEYzWEI4SlBPeHh5Q01QZXlhNlh3OG1yK3h0RnlROU5vMytmbnpKNkwzMFJPZ0ZPd1hqcHhrUkVrZmpIUGlQQXRQekhURmtRVWZIMk5JVElZTzhDWUdpSUlCRzJMSm4yamVXcVVDYTdKQTc1NlRjdG16d2srUVpSRktOWjBPNWtraklMQ3phY1prcE9QVzhvU3VHTEppenY1SlpZaVNJRU1nYmdXTndQc1d1R0VPdHJzRUROT2x5aDUyekxzY01aMjU4MGdnZTA5a3dKRFUxejJMR3pqUVloajh5VTZpSmJpblp5dnV1OTR0dWdIcEVEa0tndUFqVW1HM1B0R3J3d0RXYVBIQitOMzIrb1plTS9VV3hHVGE5TUx1WXFCWXZDd213WFVpbmczbEpOWTZ4UzRCaUV3TFRSS0FGenRzMW8rRDVydEFZdzEwNVArYzRhQjRIMzAyYkZUN3BkK1JIWHB6MVRCZ2cyaFA1UUQwbXRJSUgvRDlFRGJ4QWhpNmxRWUN6MU9pdXB0RWJBalpFUEJ5WW81ZlBlUGI4TjlmVGlQUStSaU5tK3A1d2xmaDBvbXhqOFV4SkdkdmFzT2pnV0crMDlNK1hqK2hLQ0pRREFXK2liOWRHVjV4UW82YlNjTXEwN3U1NnEzMFlTN2ZURkEwcUpGVysvbk9mWU95bmJkU3pqNHVaT3BXcFRVMS94emxHenZIc0JmWkprQVJDWUhvSWVNVGN0MG1QMXhxeWg0dnV2SjYxa211RlR1b3B4S05CRmIvYmY1MGllcFpSK3NhOFJGUE9QL0lFOFBFZTc4ZTM1OU9QRUNnTEFtaVpVODJlNi94aHBtb2c3MEFQWTdlSjVHMmF4ZWdkTEM2NGV2VXRMLzY5L3lSbHoreDZyT3p6M0d3blorMmdqdGRINHZnZHpVdzNTcGdRU0l3QVgwQ3UxcjRranMwallMaXJscWFCcWZ0YUNEYkorRDg1M05lUEpycWF0bGFHaVNuRURnQlZyb25BWUxsWWhPdDUzQ3Z5WjlRRHNhVlNRRUpnUmdnYzhtSnJsVFpHQjZyTWcrU3ltODlsWGhTa04za1NNeTNFM0kwWk5PZGczTXE1SmRJSVRNL0Q3OXNjUGZ6cTRqbGRDSUhpSTdDTkVtdDNBcWF4OGhUTllIQjV6d29zY09rU1FLejlZcURIZS9BM2hTcVlpdGdOYVBXZlhUdzExaVFFSHRJTklWQkVCSTVSWW9NOFRhb2xPQy9iY1JnSDVJSTFLZVV2N3VLY3FNdmJ1RmZldUVxaXhZMlRVemcrVmRjVHNnLzF0S1R3cWJ5VzkyVWtBRG1wUUdJSmdTRUUxcUsyejc5Kzh2NzVLa3FzTnJVUENZNTFpNzY5SkRvb3NUVVM1M1ZJWVgvRWQ0SUhud0RzVFFnenBjZDhaa01taFY1UlhicmxkYkZtVzJ0S1NYUWxCR0lpSU9mRVVEWkhma2VUWkxpSThzeWtRR09mZ3hPM1JJQk5ZMFdPam9PdXhHVjlGOC9GT1I4dlpPNmhjQUplK1BTOFRCa0FLQ09tOUtNcklaQW5BbXJLQ0R3Wi9rMGtHNDhnS1p0T1NjelZTUUhtTitPY1A1ZmkwT1BmbGU2NFYvVHQxUVJnM0RnNWhZUDZhdkRUOU9pLytQZDVVbXM5bVdCVlZ3clNpNjZFUUs0STNEM01kSFYvV3ArUU1GL1dicmtSRkNJRTU5SGdYVlBwZGRWbll4QmdZdFdqb2ttSHJXVlJ5ckcvb3AyWEN3eFFFL0VwaW1YZU1WcGxnNTRRM3FkMlhpQkJseElnd0ExVXlVZmJnWXlCQ0lMeldJVlhsNC9BZjlVakhqRjh5VUJqcnE2T1BpYlVOQjRaOHhMbzBuQnIzU0hQTDBZc3V5TDVkVDFaS1h6b1FnZ1VGZ0UwWXRZRzhwYmsvTEh1QkRzTnlKVzVOcW9DNlRYeDJnbk1JQzdOY0hrcmFpOXBsaGVIMjdmUmJlRUdCMUhWNGFBQUdXQml0aWdBSVRCckJMeTliejA3TFdyc1dVOEFHdndQS2tsZDNUbGZTak0wUjN3bHkzRytJbnZYaHQrMG5CaWFTQ01uT2pLN1NMWjY1SzArVkdPaWhqR2ttWlpXbEE0aGtCS0JkVFJYSnJuU2lEa1djM1V3ZHRWVi9JNGVCYStvOGJCNk90bHhhSzdvcTdoWEpzZklMWVQrU2c4eXRZOWtXanVPd3p0SVJ5TEp0bklKRDdvUUFzVkZvSUdpcThiZEtkVnNpSGF3YjNLN3FvZTd5MGJ6SHpzSmNLcXVBbjk1QUpiTjdGZVZDeGk0OGVNSVcydjRqQUlxT0lWYmMzQXdNK1VvWVVJZ0lRSnRGR08xV2o1aFhCbDgyZWNFbGdsc1NTLytkY3BmbFRkdGRjcU05SWx4eFhoNVN3WmJjeCtWemxsYysvSXdUZzdXVGRDZEEzYUduUjRKWlZiWUQyZWhGcVZKQ0tSQ1lCUEYyTGJFcnZoVFZRdUJHYXUrWEpzSGE1ZWEzazZpNHJHd0VpQk9WM3oyTGtuMERNUEM1dUZKVzJUL3h6c2s2NUJuYlUyZkI5U3duUGpJVUZVU1JRaE1SQUJkY00ydGlhRWpBalE5VG5SMHc0eHdDNHFubjA5SGlXWFp1am8vazA1QWhMTEp2ZEhsMk9PeHVzL0JuSWQyZnZNeXY2dTlqZi9qdDlaS1ZhZjVrZW1mRUpnMkFpNDRmODAyMFQ0ZjVWNElqaEVxN2p0OXNWOE4rc2RPcTlJVXgrRDlodmlnZGV5WW1RZHNld2FKcytCN0RmV2FhT0cvSXRZN1ZUb3pQcTR2OCt5U3dQbEdBSlJQc1VodUNKTkZET2dYM1lIWEdLcEhYMlJ2NytGQXV3K3pFMXpTL0JiWVNkMXgvdC9kN04rbmlaMWxuQlVHZnIraGhVcnNLNWlKLytoem51eEs3ZVE3Y1B4bGxmMUtsbW1STEVJZ1h3VFFXZFZUVHVtVHVvZGRaK3lUUS9GL2s3SHJqMkQ3U2JBcUdBbzA3dllqRU5CaTdDZkdoWm5PczE5Z3pQVW1KU28xZGtOT3pLMDAyZUFxOUh2bGRIU2dWQWlCVEJEd2x0N1c3VVY5eW4zNEQwZWt2T2xTYS9DVzN4bnhqdS94bVFmWnUvOUJMMzc0L0VMKzJVT0RWeDl3OFlzZlAvMTdNcG1sYnozQ0hudFY2aXBOaXFFcklUQk5CTHlsdDlOTWtOSWlCQWlCbVNMQVB6NXZkekxXVE5XbnhBa0JRaUFoQWxoQW5tNzJQR0U2Rkp3UUlBU0tnY0FoT1A5ME1WUWhMUWdCUW1BS0NHeUQ4M0xUMkJTU295UUlBVUpneGdnY2cvTzNacXdESlU4SUVBTFRRNkFLenU5T0x6bEtpUkFnQkdhTWdBdk9iOHhZQjBxZUVDQUVwb2NBS0c5c1U1OWV1cFFTSVVBSXpBUUJmcWhiNEFOek05R0NFaVVFQ0lGcElZQnpYR2xKenJUQXBuUUlnUUlnZ0dPY2FVbE9BZDREcVVBSVRBc0J2dlRXOXBTY2FlbEs2UkFDaElBOUFuenByVHJEeWw0Y1NTQUVDSUdDSTdBT3psOHJ1STZrSGlGQUNHU0hRQitjMzhwT0hFa2lCQWlCZ2lQUUJlZHZGbHhIVW84UUlBU3lRNkFEenZleUUwZVNDQUZDb09BSU5NSDVncXRJNmhFQ2hFQ0dDTFJ3UkdXRzRrZ1VJVUFJRkJzQmZFaldPODIxMkZxU2RvUUFJWkFWQW92Z1BIMDVQU3MwU1E0aFVId0VMb0x6ZEdKRzhkOFRhVWdJWklVQXZxZE1KMlprQlNiSklRUktnTUE1Y0o1T3pDakJpeUlWQ1lHTUVGZ0g1L2N5a2tWaUNBRkNvUGdJTk1ENWcrS3JTUm9TQW9SQVJnaTA2Y1NNakpBa01ZUkFPUkRZcEJNenl2R2lTRXRDSUNNRXNQU1dUc3pJQ0VzU1F3aVVBUUVNNTU4dGc1NmtJeUZBQ0dTQ0FELzFkamNUU1NTRUVDQUV5b0RBS2poUDAvTmxlRk9rSXlHUURRSVh3UGw2TnFKSUNpRkFDSlFBZ1dWd3ZnUnFrb3FFQUNHUUVRSllobmRpaVByYXBkYkRIelB1eVVrSUVBSnpoa0Nmc2UvcExIMlZEZTV2c2c5cEQzSVJBb1RBbkNIUU5YZlBMN1pPc1BUK0kreGRjNVpKeWc0aFFBZ29CRHJtN3ZsdDM0UmZwVE14RlQ3a0lBVG1EUUdYc2NzeVQwdml1M1ZuMmFQU2k2NkVBQ0V3WndqQWJIOGtzN1RNUHVnNUt3R3pubnhLVjBLQUVKZ0RCTmJBK1o3TWgramFPODRtVGRsTFRPaEtDTXdaQXZ3MFBKV2xKdHZ4M1gxYWpxdEFJUWNoTUY4STREUThkYmc5VHNBVm1WdW5rM0RuNnpWVGJnZ0JoUUJPdzN0YTNseFF3L2hsWWN5VFQraEtDQkFDODRMQW9iR1Q5aHg3VW1UckxEdWRsd3hTUGdnQlFpQ0F3TGF4azdhaFZ1Umg0NDBZMlFjQzB3MGhRQWlVSG9GTlk2cXVyYjVoQmNzZTF1UFJqeEFnQk9ZUEFkZG8wVGZWMEI2Y1A1cS92RktPQ0FGQ3dNRUhLdlhJdmFvNGo0TTB0Z2dkUW9BUW1FTUVWc3hEYjV2cU1FeHdmbmNPYzB0WklnUUlBUmpybmxFb3VDYm5yeWh2Y2hBQ2hNRDhJSENlTVUxdXpYazAvOXA3Zm5KTE9TRUVDQUdjbUhGVG9kQlNxKy9BK1d2S214eUVBQ0V3UHdoZzkveUJ5bzArUFlNNHIwQWhCeUV3WHdpMDFOSTc1SXM0UDE4dmwzSkRDSXdpZ0YwMTM5ZStMV1hEbzNaZW8wSXVRbUNlRUlEWjNyRFZCVGh2K005VGppa3ZoTUNkaWNEYXBWZDdHWWZaZms4am9PMzJORCt2VVNFWElUQVBDTFRGT3J1MjJqM0xjMFZyY3ViaDNWSWVDSUV3QkpnWXh6Zk40YnhUbzdXM1lXQ1JIeUZRZmdUNElYajhReFl3NGUwYXVRbnNzZGt3SHBDVEVDQUV5bzBBelBMZVFUajRWbDNQeUVsWDdaOC9FeGpuRzBISVNRZ1FBbVZFZ0xmei9FU3N0aUs1bDR1K09oR0x6c3dvNDJzbG5RbUJhQVJhM2h4ZHBSWG8yanZuMVhHWUMyd1FIWm1lRUFLRVFPa1FPR2EzRHh4bmdaM2lYLy8wS1hqblZZdXZuNUtMRUNBRXlvdkE4cUFINVd0RG42akNNRjlraWM2Nkx1KzdKYzBKZ1RBRUtzMm5kcHpQc1pOQU0rODRydng4emJhNVBDOU1BUGtSQW9SQXVSQ0FZZjRSTnJnNXBIU1g3ZnMrVlhONTNsQWd1aVVFQ0lFeUl2REVLOWc3OW9ZVlA4ZWU5YnlXakVQeWhzUFFQU0ZBQ013UEFtdkNjTDlzSEpnMVA3bWpuQkFDaE1BSUFtMy91RnZxMm84Z1F4NkV3SHdpc05JNlJZZi8wK3g5ODVrOXloVWhRQWdNSS9BRk5yai9JZmJra0QxL09CVGRFd0tFd053ZzhNU2wxdldYRU9YbjVuMFdMQ1AvSDVGVjlnMXBYN3AxQUFBQUFFbEZUa1N1UW1DQyIKfQo="/>
    </extobj>
    <extobj name="334E55B0-647D-440b-865C-3EC943EB4CBC-86">
      <extobjdata type="334E55B0-647D-440b-865C-3EC943EB4CBC" data="ewoJIkltZ1NldHRpbmdKc29uIiA6ICJ7XCJkcGlcIjpcIjYwMFwiLFwiZm9ybWF0XCI6XCJQTkdcIixcInRyYW5zcGFyZW50XCI6dHJ1ZSxcImF1dG9cIjpmYWxzZX0iLAoJIkxhdGV4IiA6ICJYRnNnWEdKbFoybHVlMkZzYVdkdVpXUjlDblVtUFV0elhuc3RYSFJvWlhSaGZWeGNDbk5lZXkxY2RHaGxkR0Y5SmoxY1puSmhZM3QxZlh0TGZWeGNDbk1tUFZ4c1pXWjBLRnhtY21GamUwdDllM1Y5WEhKcFoyaDBLVjU3TVM5Y2RHaGxkR0Y5WEZ3S0pqMUxYbnN4TDF4MGFHVjBZWDExWG5zdE1TOWNkR2hsZEdGOVhGd0tYR1p5WVdON1pITjllMlIxZlFvbVBTMWNabkpoWTNzeGZYdGNkR2hsZEdGOVMxNTdNUzljZEdobGRHRjlkVjU3TFRFdlhIUm9aWFJoTFRGOVhGd0taSE1tUFMxY1puSmhZM3N4Zlh0Y2RHaGxkR0Y5UzE1N01TOWNkR2hsZEdGOUNuVmVleTB4TDF4MGFHVjBZUzB4ZlZ3c1pIVUtYR1Z1Wkh0aGJHbG5ibVZrZlNCY1hRPT0iLAoJIkxhdGV4SW1nQmFzZTY0IiA6ICJpVkJPUncwS0dnb0FBQUFOU1VoRVVnQUFBNllBQUFRWEJBTUFBQUFlbld1R0FBQUFNRkJNVkVYLy8vOEFBQUFBQUFBQUFBQUFBQUFBQUFBQUFBQUFBQUFBQUFBQUFBQUFBQUFBQUFBQUFBQUFBQUFBQUFBQUFBQXYzYUI3QUFBQUQzUlNUbE1BWnJ2dnEwUXl6UkNaSWxUZGlYYjVwYUx4QUFBQUNYQklXWE1BQUE3RUFBQU94QUdWS3c0YkFBQWdBRWxFUVZSNEFlMjlYWXdreDNVbW1qMHozVjNkUGRNOW9QYkJGQVJVRzZJZ1dTSmNzeHFMbEgwSlowT1VyUjhUcklabStYQjVMVmRCaE5kcjR3TFZzR1NURDVTcVRIcEZXaGJVc3hjQ1RHc2xWZnZCOW92TWJzQUMxZ1lNMTJDSGttaGhzTldDYkFGYXJGQUZTRERrQjZGR1U3UjZoaW94N29tTWlJekl6TWoveUt5L2t3OVZrUkVuempueG5ZekljeUlpTXkxcjRZNnR4eVp2VzdoR0xYZURWdnVUQjhuZWNtT3dhSzBmakUrc3daMUZhOVZTdCtjQ2VkV3kxc25scFFaaHdScGZuM1FzYTR0Y1diQm1MWE56THBDZlFQTXI1TWZMRE1LQ3RiMUtoclJGOXRtQ3RXdUptN05KSms3cjIyU0pRVml3cGw4ay8rNjBxRWFhQzlheTVXM09nQnh3bTU0c0x3aUwxZklLSWN5V2JYWmJYYXpXTFdkck52anQxTExKNlhJaXNIaXRQaVp2c0VZUm5CMWNGT3ZXeWV0T1UyQU12cjRvYlZyeWRvQXBEeHdJMWdpT3ZRdHlMV3dUUHM4TGllR0N0R25abTNHUmtDTUhnd3ZDLzExMlJPYS8vUzB5Wm8wQTQrN1BmM1Btc3dXVlBybDY2eHRQUC8zc3phdmtIbS9DTmhrL2NndHlNb3llWGNIa2tKRE9mQ0l5LzFxdkVubUlaZXgxa1pYZWMrMlRuekpNR3FMRHpqOUU4OWVDSDMzKzdZNEp6eDc0MHB1NTlxdVBPam1UeHp0cG13TnVyM3U4bHJZeTBodEU0QnpZNFkyT3lyQUxPZS95NUtpbDRla3QxNklFMTAvRFlTcWhCSHhVMzZSUGxaQVBaeEY4aVpDWFhxVEhaNGl6TXA2RkI5WXhnUUQ0cUQ0bnRVYmVtWWt4M0lsUG5JclFZYTlrNG9DVnpDQUFQcXAzQVhzNzY4QzVvNFNucDJhVVF5NlpFT2dSSWx4ZVZuOXdweFBKYUtzUFY0SDNtQnpSR2p2QzJ6MHZqQnZKQndzTFE2QUxMcExLL0VMY1BrNTZBL1lmUThyaFVGd2NMWUxia1ZSSVMwOURyMlA3VFpqa3pmNDNZMVJZZS9DVy8zaWxRK3UweU0vb24yVU5zbzdlckRyKzVrU0FCcFczRlI2OTdKRmxRMHc1OU5GRlVoQXRQMG1EeWdNcDlsTGN5Q3RKQTZrZWoyQTJjVlVtZ0UycEdSdGdVK21rVnRvUFpaZmVJR3hGZkVQNFN0bFpZYzA4Q0hqRDAyc3hQbStrcEJhNTY1VHY0TzAwRXFmQ0N6M2g2YmJTWmROTFB1UTM1aEc1a2I0eTFqQ0hRSU1vZ1VmOVBYa1k3ekNiZ3RmVnpNTUc2K1pGWUVCRUJHSlpYMkZ6QjFsWnJyT3hkOE1iNzJibGh2VXlJOUNXNGVtV2J5NC9MYzl0NWlPMVZEODZMUStrejQrQUdwNTJjejVndU1sOG8vNmtrMTh2NUpBZEFiclRnWWVuTDR5YjJmazROV3QwLzR2em9IaE9Sc3RUZmVXdDQxOHozVnBZOCtTKzdxcjlqbERtbGYvd0lIbjRPNkhGb3VDWTdrTHFZamNWZU1UL3I3WEh0cnpqcmRqUHhGZUpwNkM3ai9ZZHNoR2ZyTlhVV2FzUmNvdVFyMm1LUEZuYlpOZDZnUmpSeThOM2NVOGE5NDVXeE1ZOHkrckpaSjRtNzRCTm5mclBSY3pSRHVoV2xzMjN4QWV2MWZGajZQU21NTWNhM1VRZ1E3ODJ5VDdacmtodDhQQjByZTlablZFb0xPaDZYM2ZPUjU0MU9ROEpQOW44NHZoVEhWMEI1bWtSZUo1NnBYMFkzWndEL05XY1hpcmpNK0RoYWRXL01zNktuZC8yV2NmNVg4Rk51d29xSnBMMVhlRGlidlNCNVpTZm1PRGFadUVwbmNrblIzcUdGOGg3ZVVGN3FLZkEzR3dJckZISVlSWHJMcXNPUnJnZFlQVHBKOEtPSndPMFBBTk1DWHcyMjJEYnNNY0xHMlRJaUw4dEJva3dacGlmRG9GejFDMkYzc2t0Q2NzcEIzNEdGUnNNRTNJTS9jVHNuSWVuMSs3UmpocThTQnlpTmg5eVlTTndRS1NlSytZbVE2QkZPeWdnZjRXUnczTEtxYitpK3FTRTM3UzdmbUoyenNKVFdBaUhFU0RFWTEwVHovTTMvUHVBOVN3eE56RUMzVjBnaFExNTlBK09uZ2dyMlNuN1pVOUYrTTFKenlmN0twMU1PK0ZwcFFZTDRSQ0NzbGNieVVLVzJoQTd4d2JpNlZJL0JaNW5STURaRHQwUXU2SmhHNWQzVTI1R3JrNTQraFJkQ0FmV3ZxM2JuT1ZGc1JiWEN6RjZSdEZZYmMweFlkMjFaRnNnblE4YXNPVFppak9LMC8wT3V6cG1ZUFlqSi8vUzFaZDA1WmlYRllGTGRIb2NRaG5uejBtRlQrV2xrREVBam5YbkFjTVZzT25ydXBwZ1UzU05kTURremx1bGo3Q0EyOHUzNG9JN3BHN0t6Y3krRFpia0MrR1FFaGVNaHgzY3c4Yy85T1RnaVVFRVlBYzhkM3ZCWCtXQmFqNzJZRWl4TE5DRlpFZkRqYnBSNUpNaFBwYUdIck5TSVFERDRIVldBWUEyTVNEUzZPY05yc0l4cEljYWRlQWRLdlQ0WkZOVGhsbTVFZWk1cmlsWTl6UTNPOHVTcTZlV1JaOHR2cUxoS1dZeXp2WTFoWmlWRjRHYXV4bTY0Vm8zRjArNWVtcFp0TTg2M3BLZkk4aHlEdEdoL2VWNG5nTUJXSXNSWHN6QURXcHk4S05QRnlwOCtpRkxNNnUyWTFJekkwTXVkUmV3TW9RYllpM0dZSGpxQWxVRjB4MjVaMHBpbXh2VmlLZXQ4TVdrYzhjVE56eGxVMjRlWkFZcUg5cHByMnU1YlgwUmlzTG1EclUxTURNaEFnQTZ4OXhnZUNvN0gxMmFDUXVRL3V1M3FWSFJTMHBvcWVSa0xYZTJGL3pWMjVwNmEySExwMCtFckorQ25TU2Y4S1VaS3VvalFNdXZLSTFrek1xSXdNaWRGTkNIcHlMcW9GM0tmd3gxTXVHVnJHcVlXNE1aSXgwWnl3UHB1K0dsV0pJTmdacTdNTExEbk5CLzgvS2gwVWpZc2VzbFpXZDBPdUZVRmpUZzlFU2VzdFIvRmhrd2lYVWcwdmh2Q29HK3UxVVEwTitIcnkzNWUxWGE5Vk02elFCOHhFR1hadnhtcXhKWVczVU82TlM3UElsL3hoQ3czU2ZRMkNpODVYMEhUbm81ME4zVlZWaTZOQ09DSmM0TWVyTDdDaFZQbjA0dkRHdm9FSkRiUDlrb3ZKRjNacWVsV0l3S0JKdUtTUTB1LzFpeHVxZFA2L1REdlBRSXlMazc0b3pDRjMyZEtqVkg2TzZlVmRndVdMRGo0VktWVWVsbWxBUGxxWVFueVJHd3hab3ByS1BTTG5wOEpYbGRMV1hOdHdwTGUrWFFRd2xXRm9QQmxwdnlVT0JKTGdUYVlvNGRuQms2Mno3WXk4WE9HV3M5a3d4MFN0OTduZFNsMTdUdWJ0M09LUldyS3dnTVJFOEJwT213YXlzK3EwS1dPRWxqbnhzcU5ZMXR2RTlzRE1qL0VnUzlZSndqaXZBL013SXR2aXR6WldMVFNieFZmeWlUbG5IZ3piMTBPWFhjVWRtMDNDMUttMzczU1NYRGRGWUVJSnpzMExyVjEwZDBPOWk2dU5ObDVGY1orZnRwRHpLSTUzV0Q1L2pqVDViMUZNNE1ac1E1c2hwTXlPNEJ3Y2E0ZVVpSHlOR05TT3Jvd3BlLysvNDJ0U0I1NEVQZjRwVDM4eW1MVjc0c3ExYjYvRUhpUC9GNnlKSUNVL2tRZUlxOGRtUjl6djRWMkpNdzZXem5lZ3NSTTZoalZjNkh6amp3UTdsUFAwYysxWVFacTYrU00vakR3endDbFRvWjl4MUg2UnFaaU1BbW01Z3V1UXBma1huNjJWdFh4VVRSRmhuVGI4M2N1bXBQT2dyUC8wSElJemRoQjhTSmtvZEpnd2hzL3VEajQxL3NVSWIzOWYvSithZnBZbytYSDdQSHYvL2ZpNVdCM0JF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S2FGd0gzMkx5bGZsWm1XRmlqWElBSy9RNjY2SDdhMnJEZTVYL1F5S0FKWmxZdkFLdm1DVlhVL3lBYWZWNzFlcm55VVpoNkJGbnhPZGNmOWxqaDhCblhQdkF6a1dDb0NGZnV5WlYza1grSzByRU5DNEJ5UHVVYmd3aDFRZjhmOVhuaVA1UHE4MzF4RHNUREtPMSt1UFhhL0Q5OGxaR0dhdHJRTnFaMUMwNkYzY2dENjRsT0xTd3ZJL0RkOHpmbjhjVmVNdlJXQzM2K2RlNk51ME51cFpRc2ZDVUtaZjUvN05pMTdBM1lna29GUEh4UDZCd2Q4S2Y0MlMrSHYzQ0xRb2lhODRGb1N3dE9EdVcwTEtzNFFHRnlIL3gxMzhnaFNwd2pObkNQd2tTTm9BTGk5KzZ3ZERUYzE1KzFhZXZYaDgvTWNnNEVicUM0OUtITU9BQ0gzZUF2YUdKN091UzI1K2tvQWcrSHBZcGpVT2tmSUZkWVVDR293UEMzZnFsdVBUZDVtV0Nxc3hWRHZGdzRNVHhrTzVmNnU5aWNQbWw3aHJMcHJNUmllbG10TkptMHdQckVHem55ZU9lazExKzNGOE5RY3FvazVYU0N2V3RhNjRXVnI2ZlppZUpyWUV1WUk2NU9PWlcwSmw4WU0zelYzdHRlQzhOUU1UK1NTR0lFTHpyNmhDdmx4NGhvSkNMY0p1Y3ZKTUR4TmdKZGhraW9aVW83Mm1VbStFTXJjNFB4WWVMck52V0NUUXBCWENBS2JaT0tVdEkyT2tCZmRyWUk4UEQzazBXcUlGcGh0RW9HTGZFYWdablFmMkhsM0xZYVB3cjFkazBvanIwZ0VCbnh4czBaT0l1blNGVUlBYzVuVjRLTndkNWlPQVZKblJ3QTJDekZidHRsdE5Uc25UMDJ3S2I5RUlMVUhSZjJtcHh4UENrUmdnOTlPWWZ2UXFVRXhNUGJ1TTNZOVFpK1dUYkh3WmxBR3NncEI0Smk4d1VwY3B5YUVNRjAyVEFqeWZ0cDNVcGRlUzFjZnFYTWdVQ2V2TzdWaERMNmVnNDIvS2t6Y0Q1MDgySlpFbmEvenVEVGpoNml3Y3pEbGdjTWNKbjVPRFVvQmRyc091K3BOWjVkRDQ0cEI1c2dxRWdHSU5DNDdCSkFZUmxLbUxLeVJ1N1RHQ25tWmtDUExhZy9wR1I1bElBQnpBMGVPSEJnalQwd0tQR2FQRkhjZmdwSGdzclhONWpWTUNrQmVZUWkweEpJWUdIYy9qQ2hML3BwTlBteFZ2ajgrc2hxdzdEUDZTUlllV0NjVEFsMnhFK3pROU9hK1B5YmtFV2M4WDdWSjMrejFrcW1seTFPcEx4NkFhSWdPYTZ6dEwzL0FmdmNQS2JlVkJ5Y3ZHZU9Lak9JUWdKdWRlMkFFR1lmV2ZKVERqazMzTUxwK09oL05YMGd0WVdyZ3BSZnA4Um5pdmxGaklSdTZSSTF5cC9DZ3crS3N3R0lZSGhaTmpweVdRSGg2dWhoTldwWldiTUZFdXUrWU9MWjAzNDBDNnloT3hySWdNdi90cEJQcC9tTkltM1VvbnM5djRYTktjMmJtdFFkditZOVhPclFOTGZIMmpJSFpiWU9VTng3VFFhQWhwaHo2NkNKTnh3TG1wZlo0QkxOcGVGWEd2S2JJTVNrQ0RmSzZRN3BoZkdZd3FRWklaeHFCRmx2bGhCZHE0Q3lTYVd5bnhlK1F2N2xvNU82YW41WW1LTmNVQWp2TXBqQ1YzelRGRXZsTUdZRjFOdlp1aU0yRFUxWUh4UnRBWUp2NVNDMTgwWmdCTUdlRXhTYnpqZnFUem93b2hHcmtSNkJHWDJMa1BDaWVueGR5S0JpQnluOTRrRHo4blZnaHgvUlZ1MTNzcHJGQXpRREJXbzJRVzRSOExVNlZiZGhhL1FKNUpvNE15MmNBZ1FGNVY4ZmFmRXY4b21oMS9CZzZ2VE5nc0hnVlhpQmZkNGhHL0FHbjhCcWJYeHgvcWhOZWpDVXpnMENiZjB4cnhYa3ovY3lvaFlwa1IrQUNlUyt2M0I1bTU0STFad21CQnVHbS9EWi91aXlqY3A5K0l1eDRNaU5IckpZVmdUWWZjdUZkQ2dkWmVVQzlpdTNmOENMUGh6bjRZdFgwQ0t5SjUva2IrUjcraHRmZ2hCNjc2ZFhDR2prUTJCQTd4d2JpNmRLTXpCNE5OZW5FNkVOd0dkVmJwbW9YeFNiQW51aXd5OVQ2eFd5cnV4UDcwdFdYRnJPRnk5Y3FzR2tlMTJqNUFKdURGc09tK3JIejVPY2M2SW9xSmtNQW5td2k1Sk9sZXpFd1BDUTVrclVCcWJ3SXdEdFU2UEhKcGplNzZETzBhWUVJaTdtQ3MzSzdLdHEwUUp2Q3EwN1lFYnNxWTFRSnRLbFJPSDNNNEZVbjdEajFGZURwL0NLd3pZMktiL21iWHhzR05OLzZvdE5SOGZWaEFXVG1PZU8vZnB0YXRWd3ZhWjd4bWcvZFB3STJ2WjVMMWJXdzVkTW5jUDAwRjdEWks0L0VDMWN6c2hBeGtUT00rMzZHR1hsaXRVd0kvR2RSQzE3amNDRFNXZjV4L1RRTGFrWFVxWktIT0Z2M3hjaFp4ZUQ2YVZia3pOYURpVUgzaTA3NDBpT3oyRTZMMnpIYytJUnM5SHNGRXZQOVh5WHU1b1pOZkV2RGZOdFNhTjhsN3JNU1cyNUtGT0wvWENKUWw4N3V1cnQxZXk1Ymdrb0xCQWJrZjRsa3oreG5Dd1JiL0M4YmdSWjc0eEdJM1JUdnVpOWJCWlJuR0lGei9QRW55M29xNTh5Z1ljV1FYV1lFS24zK0lQR2ZpUGREWm1hRkZXY0ZnZWZJcDVyd3JNdFh5Um44NGJFWUNQd1ArTExMVFVMdW5DeEdjN0FWRklHWEg3UEh2Ly9mcDRaRnBVK3UzdnJHMDA4L2UvT3E2NlZ0ay9FanR5QkhQRVE1TmVWUWNDWUUxT1djTzV5RHMrV1lMdGZsVzlETnBBOVdNb0RBano3L2RtbytjdmJBbDk3TTJhMnlKWjdKNHgwRC9KSEZWQkNBcDVuSkd4NzdkU0VIM2dXRHg5d2lRTCtxc09mUnZrcmdRNHQ0ekRFQzhPbE4zLzYyR25ubkhMY0hWYWNmT1pHcnVBNGUyL2dtNzNtL0xub1FIM3ZhTUxqVDhaemp5ZHdoMEpXcnVJN3VGL2hueStldUlhaXdpMENmRVBXNWpzMytOOTBpVE13bkF2UmJ1YmNWMVh2NHdWd0ZqZmxNMG0vbEtsdUxMK0hJTzU5MlZMWGVBSnVldWhtVnR0aHg3R1poWXU0UThJYW4xOURublRzTEJoWDJoS2ZiU3BjTmttTE9uQ0RRVUI0R3NPcnZtUk90VWMwb0JBWkVicHo1Q3Zza2NoUTVsczBCQW0wWm5tNzU1dkxuUUh0VVVZT0FHcDUyOFl1TkdvVG1MNHZ1ZE9EaDZRdmo1dnpwanhvSEViZ0VObVhoNmFyOWptQXg1c3doQW5UMzBiNmo5K2huYzZnK3FxeEJZQWRzNm1RL2g1K2UxOEF6bDFrTkhwNnU5VDJyTTNQWkZsU2FJVERnNFduVnZ6S09BTTB0QW0wV250S1pmSEkwdDYxQXhWVUV3SlMzNFZuSk50Z1dOMm1yd014dm1vZW4xKzdSamdyR3hXUCtFV0RoS1N5RWI0Sk55MzJIOFB5RE42TXRjTUxUU2cwV3dtdnlKVEF6cWl1cWxRd0JKeng5aWk2RU42Q2pzc21IWkRXUmFsWVJBRXVlclRpVGczUy93KzZzcW9sNnBVQmdRTWk5K2s5cGhSV3dxZnZPa0JRY2tIVFdFR2lESmZsQ09LVHV6WnA2cUU4R0JNQ1FZaUc4QzhsT0JoWllaYllRb09HcGlHQ09JVDJjTGZWUW13d0l5TlZUeTZMUEZsL0p3QU9yekJZQ2N2WFVzbWlmZGJ5bDJWSVJ0VW1KZ0x0NlN1djFjV2ttSlh3elNkNVFOL2RXb2FNZXphU2FxRlFLQkFiSzVsNkxkdHJyS1NvajZVd2kwSmFiZXkyTExzM2NuVWsxVWFrVUNJQVY1UUliTHMya1FHNW1TZUVMS0dKekw5V3hCaC9DbmxsZFViRmtDTkN2Sko5SzBnYWNuc2hUVE0wakFuU2FZVjhxVHBkbUR1UXBwdVlSQVU5NHlwWm1maktQN1VDZEpRSXROVHlGYk9pbnVEUWo0Wm5MMUVnTlQ2RUZYVEJxWnk1Ymdrb0xCTURSVlYrTlpCMkRUWWVpRVAvbkVnRXdvV2VTZ1U3cFg1bkxscURTSEFHNkVuTkRSWVBHTnZoY3NZckkzS1VEYis2bHk2bmp6dHkxQXhWMkVhaUFpK1R0cHozSUlQaTZRUmVoT1V1OC9OMzN0NmtGeVFNZitoWlgvWDcrcmVOWHZqeG5iVUYxR1FMTW9JNVZTZFBKb3B0QithSE1MU0ZlODROQWwxeUZyOGc4L2V5dHErTDcxMXRrVEw4MWMrdXFQZW5NVHp0UVUwUUFFVUFFRUFGRUFCRkFCQkFCUkFBUlFBUVFBVVFBRVVBRUVBRkVBQkZBQkJBQlJBQVJRQVFRQVVRQUVVQUVFQUZFQUJGQUJCQUJSQUFSUUFRUUFVUUFFVUFFRUFGRUFCRkFCQkFCUkFBUlFBVG1GWUhOOGRHOHFvNTZoeUN3Z1c5akNrRm1mck1QMVJlQ2JEMDJlZHY4TmdVMTV3aFVYNU5RclBZbkQ0bzM4OHRjVE0wd0FpOTQzdS9DRmUwckw5Z2FqRStzd1owWmJnR3E1a05ndFMrK3BLQVVyQ2t2SHJoQVhyV3NkWEpaS2Nia1RDT3dWWE8vanFIb2VVRXhZWjAreDd5RkwvSlI0Sm5sWk9Vdjc3ZmxGMDhVVFEvWmg4eHB6Z1ZDaCtFS3ZzaEhnV2VXazNYNDBsUmQxMDlIOHQyR1ZmYjZOUHRzbGh1Q3Vya0lQUHJJNDgyV3pxYlNSZG9rRTRlOExYdXVXeDBUTTRxQXpxYXI4bDNCRi9sckQydjhGVEF6MmdwVVMwVkFaMVBGUlJwdzg5WndZa2xGYmJiVE9wdEtGNmtpWHRuZVpyZlYyVzRMYXNjUTBObFV1a2diL0hacTJlcmIrUkc3MlVaQVoxUGIvWUx1c2ZDZzNPOTJ6blpyVUR1S2dNYW1pb3RVNXg5SWhqSDRPdUkxTHdob2JIck85WWZBbEFkT1ErQnpONmZ6MGlMVVUyUFRRL2Z6UlBBbWFEYlBDNGtoWWpVdkNHaHNPdmlaVUI0K2EzUGtwT0VkMFNjaUUvOW5IUUdOVGFXTDFCSmZGQVBqN3M5NlMxQS9nVURRcGx0a1Z4UjJ4VWR0RHZGTEtBS1RPZmdQMmxTNlNQQjlaUDdKNjRib3NIUFFvbmxSY2NXK2tVSFYvdjhWWHlsbzAyUFhSUUszMXoyVXpTenhUSkVpQVFJRE9SNG1vQllrdFFUT2F0Q20wa1hhY2kyS0gwSVJtQnI3dnlUZW9wNk80enB4UGRqUWlrR2IybmNGTVh3QTVhVVg2ZkVaNHF5TWkzejhONENBV0IxSnlhclNqNS85Q2RoVWNaSGc0MU1zZ29FT2V5V2xiQ1NQUm1DRG5IV2lLVUpLbnhkK2EwZzVaQWRzdWk2amxoMGxQRDBOWjRFbEdSRG8wcTE3V1k1Tk8zWmpic0NtMGtXeWRvUzNlMTRZTjRzU1dFZUR3QWJKL1BSS0s3YWpCbXphbFh0RER3bmYxdHZLZGovWHRBV3pHQUlqallQeVdUS21INkdoMzV4eDc1a2o0bnlGeHBaR3NlQmJmakdEWnNDbTBrV0NjWm43V0FQY05tajJZZ1FIaFhrcUt0dUdFbWJzOG9JMno1T2IvaXlyRjJjTnYwMVhsTkc2SWFZYyt1Z2lxZURuVHpmRXVyVEthdnU3NzJNbS9QMFBmZXVJRi93bjJ6SHFLejlVQ0NFY0NWNFFTbm5BUjFKY0pMZ2cyQ01XbTdncW8wS1dQdzJBN3VtNTFNQ0VxdjJzRGNpNDgzZGU0aHB4TnkxNEMvaVp2NSsyMk41UHA3VEI2OElOWFZzWE16TWk4THpZRWhTb0QxdXV2VE4yOEsyKzE0NThaRkM5NDh2eW5QcHRxcmhJMElmWjlNTk8zQUR1NFlnbnNRalVOQjRTcTlUM2ZYUGNPa2Z1SFBuNXdRNkZYWCtlZXU2M0tUZWpRM0pJYmp2L0krV1JLTFV1cHJNaEFEZkV5L3FhZElhZFlTN0tSenJTcW5CZUJaWDMzMmRUMVVXQytOVGhENEthM2twNGxndUJobTk4bGN6b0RQdXVQTFdzUytRZDZpbFBuNHRlenZiWjlLSnF2blhXYVRkMFRwcEdFbVlsUTZCaWg0NTcxQ01hcWx6cTJvL0lnNC8xWHBYS2wvYlpWSFdSckczbUk3WGtveGEreW5pYUJRR1lSdDhQcVFmN1NUeGxYNWtjYVNtcllqWklXK3FMbExycWRiSEpmS04rdEplbFpZdVo0UWlNUW9kZTZ4QnNxbFRjQ2d0NVlQQU51U1BUMmw0QkZkVkZzcXdhbmI1d0hoUlhCR0V5SHdKUkEyZVBlR1poQjJvUFU2WEM4QjBTb2xaZS9LdVB3b1h4RzcvM1lvZFhXSEVuR3AyTVkvcjZsUzUyVTQ2T21UOFlla1A3V0plb0h1MEw0MmFZeUtySDlncFZBd3pLRGpGRjdIR1JMTGloN2xvdmtHZVVLcGpNamNBb3pCekEyUk9lcnRvNm41ZkpoeHV2L3NKb09GK2p2M1h6cXV2WXRueVBnMWZIajdsbHVSdUREQ2dDTVBTR0RKdjBGUXRxZURyaUt5ZzYzR0J4NXE0dVg1UG5kNTAzdnpqK1ZFZERoMW1aRVlDaDl6U3NNbGhLeGhnWHh2dGhkSkJmQzNlMHZMVXF2a2tNYnltZW1VQ2dGekY1RGhOTXJzRTMrOStNRW5mc0RYckNTYmU5TGxJNElaWmtSc0NPbUR5SFB1eUdwejN2WEw1ZkhzeE8zUERuYWM5OUxwS1dCak56SVFCZDhVb29BeVU4M1FqeGdVUmRpR2JDQWgxQnd2NGJQaGZKVzRwbkJoQUFzK2tkVnNxNzRZYW5sZlpETWNKR0VXTzRXclhPSDZWUTh6QnRGSUY2bENrR2JuaDY3VTRuUml6cyt3djF0WlNxbFloaFFTSERaSFlFWU9rellzaHNpOVhUN1hoN3dTUEJTYUtaQkp5eXR3WnJVZ1Jnb2piOGRtcUJpM1NiVWxWcUNUYVcySW1pbWZQa2lITEVvemdFV29RTVE3bTc0ZW4vSzkzZlVHSUxCdXFqOEZKUjBzQzM5QW9vaXZxdlJkMU9SWGdLZTVDOEsrTmFiY0RidXE0dDhHVFcwRVh5NEdIK0JHNm5ZbXBkdzF5RXAxMndhZWo4b1ZzUEl0VDRHeXE2U0M1ZVJTWGd2UmpPRFZQUGZ3ZHNDU1YvZlFiL2RKVXorb0NKNDNpaWxYaG5LMW9LbHNZaGNCdzVYamFjOEhUVnZ0NWx4bzNoVmt2d1FvWlZ1bHFLUjVFSWdMR2E0ZndIVG5nS0MrRmcrZ2hYU2pCb0pDRjZVVkRqZjBFSXdFdXdJemkzYVhqNjNMaEpJNTRFczdtd2hub2xnaHNXbFlJQU9MUVJMcElUbnE3UmhYQWExT2crSitKVkVtWWQwS24xUWpLRk0raFpFYTZxRTU1V25ZWHdQandrRTZzZnJLRGovSHdzU2tVVHdCMXdOMXdHRFU4L3p4NVpxMEx5S0p5U2w0Q1QxSXdsUW9KaUVRQWo3SWRMb09FcFlRdmhPNUM2SGs3SlM2cEppR0s1SUVFZUJHQ3dqSnJIcFlia0MrRjBQMzdFS00yVmdBcm9KT1V4aUlHNjRDSkZiQnVqcTZjaWdvSDVoRWh2aWlrRE14am9KQm13U3g0V01MaXloN1QxVEFhS3lXR1VqdXJTakFFNFZmR2VsRjRXNWhwQzREaDZyR3dyQVV3RE91cEpyRmc3d1V4U0xCTWt5SVBBSU5xbkFUUGVGdXdoNm9seWtUbFpOMm9qakdDRi8wVWkwSS9zZTA1NEtzVFQ1YmI0cFptZXNoMVkxTVQvTWhHZ2prK0VQTEY2eWtpQU5uN1ZCUnpmZU84NFFpUVc1VVVBNXZLaVhCcXhlc3JFZE1Hb25UaUpVQ1ZpZDFOY2JTelBqMENNQmFEVEtkMFkvQ2tSMklSTGpybEt3aXRpaVNFRURxTnZrUzNQOUMxZG1vbWRVSUJ0RThwbFlFaE5aSk1DZ1dyMEF0cElDVS9aMGt6OGhJSWQ2WFdsMEExSnN5RlFpOTVsRGNYcStscmYwMjFESk5ham82T1FXcGh0REFFWUtQY2ptRUd4RzU0Q0dmVHErRlVYSUxvUndSS0xDa2FBM3Z3NjRUSm84WUZTdkFQbjE1VnpiZklRZ3hrdExtVmxncE1hdFhFRmlqMTcvQkl0emNCMFUveE50NndHTHFFY0NHV2lIaW1sanE0Nk5DZGFtb0dWbWZpWmlTWEV1cXdtdzJBYU5VRkF4OXFPcWtzN3dkSk1UTjlYMldHNkFBUWEwU3R0VU93ZG1rZGc1TXN4ZXNUY28yTnFZM0ZlQkFaZXY5YlBydTRmbW9FKzhxMkNEZ09nT2ZGend2UFNFS2g1L1ZxZjNNK0JkVHo5MVBrSTErVElSK1kvN1Nkd2p2MTE4TndZQXJiWHIxWDRidjdvOHg4QWs4SVUvL3UveEVmYmxjOERPUnlURHcwVndtQVNldmVOWUM3bWxJTUE5V05EaGtud2lOMkRiMjZwdWhucTNGSlFVNkREMWJZZ0xDWGwwTEgwU0M4THZqZEF2eUx6OUsyYnRwaDI2RG12bUhzV1hqSDNxcjRPejIxNUp4UWphYkhRTkFKMHlkczBUd3RlaFo1Z2Y2RjVzY2pSUVFBR1dJOFBaQVlXbUVqQ1NRY3pVR2JnQWowcWFob3BBMGRhQldhZjhKbVpqTmpscjNib1dSN056NDl4S0daRU42WGRvdk5wRkRMZFR2Y1hkaFlkdXBsdFh6VjZhakNqM25RRDZYN0d1bGd0THdMZDZLbkJqT3hwMUR2TVdCZXI1VVdnbldEUFdBWVpZTlByR2FwaEZSTUkySkhUdlprbDlJdGhtMW1mcGFvSUhXcXZnQWJYaXVuK0JXaTZlQ3pwamUrMGdHWjFjY0szQUZTVHNhU3IxOE5rcEttb1JvVzQwNmxVV0ZwaU9vVWZzaXlUQzVOZUlXRnZMcFdXcGpMZEZ0Z3NvTFdONkYxT0JVaEVsZ0lCT29sM0pFNE0vaDhYTXVWb1VNRUZaZ1c3Tmd0WWFyUG9seGh4WVdaSzF3MHN0Y1cvZENPRGJqdlJEN1ZtNEloVmtpSUFDNTBGTEo4NmkrSzQySmJVQ0licG9EOFZnajFjSzRYMGY4UE5ueUYyZi9TKy92aVRUUk1Ld1gwdjZzSC96Q0xvL3JUTWxaZXg0c2Rnd095VGlZbkZyT05DdGprNEd4MXdBVFhGdFhtSjNQazd5L3FMZnRRTDVaS3lneml5RVArVSt0TkhTWlZBdWtwNzBxUW9iSnVZMU9zVkZFZlNSeHBOakNOTFl1NTE4ZFh0NnQzOExhNFd0R21Uems4Vk1lZVl2OFV6eWFFKzdqQzkxcU5lZUo1UWRiQnAxSk9LQ2JrRXlkQ21RVXpDYzFiRmJ1aExkc0JqL2ZRVFljZVRJUXhIQmMyMTAwMW1sME5rWXJZZmdYWHhKRW90RUZsV2JFQXk1Qmo2K2JCenNHbjBreS82YXJHNWFOTllpQlNDRm45aURMYm0rVGRiMDkxNlljZXV3a0pKRGdxMDZWQ1JnOGtvQkxyOFphdXdvaEs0RXo0YVp0SFFZQlpzR3ZVKzVpaEZJc3ZvdXV3d2tnSUxKUUo5L293Wm9IWkQ1bVpOZFF1MDZXbFdwWmF1bnZ0MndHLy9jaWQvNDR1eUtiME5vRTJUMnNmc3BIdTlvSDVLYlhvOWFaT1duczRtNUZjN3hsQUFtNzV1akpuQ0NHMnFnQkdiYkVNUE9ERG10cW9BQUNBQVNVUkJWUHVYV0xLRUJMVndtNEtjQk1kdHZTQzZIM0ZQWDRTNUFRUWdvb1RqN0R1Qmdrd1phTk5Nc0JtdTlMeGpVMEwrd0FqZmRvSDlkTmVJaHN2QXhKMVlHSnBvTGZaVEV5am01bkdOZDFRVHk2ZFdoRTF6S1lyMzAzVHdmWjhiZFQ5ZE5TMTF2YUJZaHRvVVl4a3Q1UHJNdis4N1ZyMmhMMDJWVzVSTk1aWkpaUVlncm56VUJxdWFXRkRwRnRSUHFVMVAwelpyeWVsWDRVWVkzRWkwRnJaOCtrVFkraW5ZMU1TbEViQUcyalFBU1h3R2JDUUlMSWxuV0Q4ZEZHUlRYSmVKTjZHZ1dHdUtWRDJ3Skc2NVlRNE1mUDVqVjlUei9nOEsydWRBYlhyWkt3clA5QWlza0hHVGw3U0MvZFRLdEg1YXlOY0ljSitEM29DYTNKRjg5Y1ZPNUFlak5YVzFXY0N3TUp1ZWFDVmlwaGNCK3ZhRjJ6eHJ4NGh6QXpZTjdKYnd5c3gyaHZzR2srSkdSN1FiblBnNC9sdDRDZGhXQzdJcGZWWjVQNEY4SktHNzI0Y2NocDZieW9OTEQvZmg1NEhQUUYxNENzVjlzckF0dG03bjR0dlNoYm01T0xMSytMeE1VaEF2a2NtUTAyNlo4VzJPZ3p0S2t5b1RTVWMvSDlXSnBNQkNoc0FhT1JKUUhKdVpJdC9SVEYwSUVYbis4Zm5UeE9qVm51R2thM1p3WmpBeEY0VVFiRnJJcy85RnZWTkFVWDFSa3AvbER4Slh1b1pteUl0NlJ2KzhjdWRmRlBBTGFrZWxkdmF2d1BwUDYrUVB6VWdvYW95RS91OS84c09Nd2d2SVphdE54cmRzUXQ1bHFHMEZ2aC9KeUQ0TVE4MmNiVGFiUDdoSkh2NEZZOU51Tk9MdEZORGlWa0hQS2hlZzZzS3hwSE40elFKYTFTdG9IcmtBVlJlT0paMXRMR0lPcjFyUS9vbUZNMEFCRGFKTHJwY0w0RHNJM3pkY2dEUmtxU0pRMUh1MjYzSUJTUldINlRJUWdINjZXNENjR3RxMEFGUVRzbXpMMWJ1RU5SS1I5ZVhpZlNKNkpES0lRRUdESkhUL1BZTmFJcXMwQ0l3SytjQUV2VTBQMDZpQnRBWVJhQlFTZE5CdGc4Ym1SUXkyZGpsWUhSY3lPVUNuTW82V0E4QVpiT1ZPSVp0WGlwcEdua0VBWjFBbFdHd3JZQUVGbG5zS1daYWRRUUJuVUNWMWk1TTU5YUQzbTFtek42ZlNFbkdpZHo3enpUMHNhSXVwZVUwWGtTT2Q4RzBhYjFpakVHL2F1Sm9MeXJBQ05qVS9pVC9DcWNGcFhpLzlJaDdTcitQVTREUnQyaTBDZnJ1SUMyV2FLTTJYN0Y0QncyUXhBL3A4NFRwTmJjRkZqWCtENzhwYng3K1dRa2s2TmRoSlFZK2taaEdBU1lmWXB4WFgybU5icnJPczJHTG5lSmdtOEZRYlRqbUVnVk5DUHV3Y2pKMGVhTnc3V3BGVVBaa00wUStta1dKNWhsVEZiQU1Jd0RnWjE2Zlc2QnFMREdQYnNiT0pPNFVzREJobzdKS3dvUDVNSjdxdHo5UEJ1Uy8ydUVDRnVNRzZWY2lpYkxTU1dLb2cwSStkZEtqdkFqa1J6NlZEeDQ1enFxcUUzRkFrWUxKc0JMcHgyMHljSnlSaDU4SmRwaG5jZ0cvSDZGakhsNWpGSUZSd2NjL3RnU0dDenRFblg2QjNja3VDbzN3UVFpbXlZVGpmRjJuOG53SUM0TkJFajZVdDJrR2hkMTVoeWgzR2RrSllGOENQRkUvQmtsSWtQS1lmL1RHLzdpNFF3d09sOUE4TzZOY3huUkRzWDhBNk81T092MGtRZ0VkbTNCZC9hT21kM1dJTmQ5UFlJSGJCRlVibm4ybzVZV1pKQ05CZ0prclVtbE1LYmc4bmFzZGNBcFoxN1BwVFVYeXhyRUFFMnRHRDZTVm5Ta2pPRE1WdlNodTU0M1NCV2lQcktBU3EwUXRqcSsrRXl1RDI4dmY4Z2dNVTk4WmZ1RWhPb2dSaVdlRUlnQ1BMWGRwd1ViQVZqZFBBL0R3UFZNT280d2J6c0hxWWJ3NEJzRmVzUzdQajltV1lueitJbGcxOUd0M2VhSWdLTDAxaWc1NTd6d1hybmthckJNRlIzT2djelFCTDh5Tmd4ODdpdzNkb3hDeEN3N1Z1bU9Ba1kzbFlYY3czaEVBM2RoWWZicEZpUVhUZ0JqVmgwa2V4UFRtc0p1WWJRK0E0OWhZSjh4SmkvakErUE8zSGQzdGpxaU9qRUFUZ0JoanpFVlNnRUs1eGJIZ0tuNEJDRnlrRTZmS3l3VW1LbnZHMWRseTNOejQ4aGRsZWRKSEtNMTZZSkR0dSswckxuVVdBOFBSMkdCdVdEL2EvRVUyQnBTVWdNSXJ6WllHZ3cvU0lEMCtyc1I1WENTMUNFWWR4RTdRMXR5TkRMNlRoNmIrRmd3WnZ1UXd2eEpLeUVJQUJWYmkxZXBGOTErMWg0V2tsM0d5d3lTWG01cXdYZ2JsbUVZRHdNOXBWdGQwUEZMRlJlQ3Z3clRoWElUa3o3R1poWWhvSXdLeERKMHF1M1A3SlJ1R044SzU0akRNT1VVaVdWd1kzMU90UjB1UXNQK3ZSRjhPSDZuck01UkVsQnNzTUlnQXhaZVFDbWkxQ1RoN0tIb3NaaUlBT2NEdkZGMndIVUpsR0J0eFF3MGRUVUtoTitHb2MzMm8wMkF2VE11N3FDS3VIK2NZUkdFVUhJQU5oY2hoWjZiQnI3NGRwQUtQNE1Ld004MHRGQUxaNjByQXo3QkFmVzEyWjJIU1FYZzBQWmJwdUpCdkdDL05MUWdBV1hxSnVxRENIMzZHYVZGOGYwZW4rOWRDQkdnWnhuT3d0eVdheFl1U3NnbzRVUEo4OXlOOFlOdy9wUTIyakd6b2ltZ2UzMDkyd01zd3ZHWUdXZkw1VUova3A4dHFSOVRuN1YrQ2I1WlBPZHZnYmxZN3gzWkU2K0thVEJ4M3NJRUp5cFU3R2ZjZFJ1a1ltRWNOcnpkMFBFY0VNaThwQm9HS0xjRVV2Yi9NSEh4Ly9Zb2VXM2RmL0orZWZwdjBIaEs4My9IbDRQalVFZWlZYzF1ZmpGdTJtMXJ5bEZBeXU3VEIzdzdzNDlPYkcwQ0FER0h4ak5pWEZDNE90U0RmaXFaQ2lOQVI2c2Mrcnhhb0NNNGVoRTB5eGxaSEFQQUxnK1E1emNoM2gvSDFPQkUxWDcrY2RmR0hvallxSFRPdUwvT0lSYU9YMWZDK1NjU2RlREZLVWlBRE0rVWJONDhkclVvK1lqSWl2alJSRklORE5aeE80Sm9aRnFJVThjeUFBZTNlUGNsUVhDM0k1V0dCVjB3aEFpSG9qQjg4K2VrZzUwQ3VxYWl0bVMyaWszSE93WWhOSmdJWFRRQUFlY0JwbWx0c2x2NUs1TGxZc0RvRmU5T0pNbEdENCtGQXpxaHpMcG9RQXVLNVpKL2Q2K1p6bUtUVjRHY1NPWWg2Y0NjVUFodTJUMEVJc21DWUNLMlI4bEVsK0M3dHBKdHpLcUZUTjV1bkFWRy9XUWJ1TVZpMjNqSzFzSGZVcDdLWXpmTjAwTXMwNzJPUG1ETGRwMlZWYmU5LzFEQkQ4ZngvT1VBbXJJQUtJQUNLQUNDQUNpQUFpZ0FnZ0FvZ0FJb0FJSUFLSUFDS0FDQ0FDaUFBaWdBZ2dBb2dBSW9BSUlBS0lBQ0tBQ0NBQ2lBQWlnQWdnQW9nQUlvQUlJQUtJQUNLQUNDQUNpQUFpZ0FnZ0FvZ0FJakMvQ0d4bWZLb3hYWXZMa1pKT3A4V2wzaWpsSWVKeXBDeXVsZEsxN0ZEOXhOdldZNU8zcGF1ZWtMb2NLUW1WV1hpeXF2SXB4dFgrNUVIbnl4YkdXMTJPRk9OcXp6N0RGM1Rmak9rcjMrRWJqRStzUWZqM001TzFzQndweVhSWmVLclZ2dVliUVd2S3M4Y1h5S3Z3SVNGeU9SY1M1VWpKcGVMaVZONnFpYSsxcVcyNm9KaXdUdDlndGtXdXFPVnAwK1ZJU2F2VlF0SlgvdkorVy92UnhVUGl0dmVDOHdLZUN2MUNWTWFqSENrWmxWdTRhdkFoeFVsZDEwOUg5OXkyVnRrYjdld3pOeWR0b2h3cGFiVmFWUHBISDNtODJkTFpWTHBJbS96OTNHM1pjOU9pVVk2VXRGb3RNcjNPcHF2eXhhNFgrWHQwYXZsZU9GaU9sRVcyVTVxMjZkQldYS1FCTjI4dDM4UlNPVkxTdEh1UmFYVm9TeGNKUG5sNjRyUytuZU5Gc2NDZ0hDbUxiS2MwYmRPaExWMmtEZkc1Q3p2Zkp4TEtrWkttM1l0TXEwUGJkajhFZGl3OEtQYmQyOHhBbENNbHMzb0xWbEdEdHVJaTFmbW5obUFNenZJR05CZXJjcVM0NHBZOG9VSDduT3NQZ1NrUEhIemcxYUNuZVlBcVIwb2VEUmVwcmdidHc3Rm9JTHd6L2JLVGhzUlFaR2I1TDBkS0ZzMFdzWTRHN2NIUFJFUGhXNHBIVHZxQzhIOUZTY3IvY3FTa1ZHcGh5VFZvU3hlcFJYaVh6ZnVoekhLa0xLeVIzSVpWK3VUcXJXODgvZlN6TjYrNlh4amVKdU5IYmtHT0hFbURhRytSWGNIRC9UVHhJVkUzUG9qaTVQL2xTRW11ejd4U3dwY0ozRU1zYWNNWHZ0amhlckZCdEtXTFpQWEY1MHNhb3NObUJLTWNLUm1WbTZkcVAvcjgyeDBEbmozd3BUZHp2VmNmZFhJbWozZEVRNEpvSDdzdUVyaTk3cUZzWmhGVlUveVhJeVdGUW5OTUNoK0hKMjkwMUFaMEllZGRTazRRYmVraWJia1dKVG5XVDZuMGNxU283VnpjTlBpcnZ1MWhWVUk4cjBJUG9tM2ZGWGhjSXVTbEYrbnhHWkwxMHpTY1ZUbFNoTjZML1EvK3F1ODdJalh5VGsrVEEyZ3JMaExjZlU4Y1l1aXdWenkxMHA2VUl5V3RWdk5KRC82cWR6RjcyeitJQnRCZWx4ZkJqaEtlbnVZQ29Cd3B1VlNjbThvOVFvVEx5M1FlM09sNGxRK2dMVjBrYTBkNHUrZUZjYjExMWJOL2dLdkhkM3hUbHB1U0lqa3ViNnJyMjBLbXJIWnpVQUpvZCtYZTBFTnhRYlJJN0hZazJIWGtQeVNqb0krVVVjcnlXbEsydkU4ODMzRGE3Q3Q5aDFFRmJDcGRKTEFFbnlVYytFZHNLVUdrUG5ZcmNIeFFsR244M294U0pNZWxUZEVBODdiUytsNHd5dlRiZEVYeGt4dGl5cUdmMDBVSzlOTmlwQ2d0WGR3a0RUQVBaUE11S1Z1eFJhN2Zwb3FMWlBWNEJMT1pjMVVtMkUrTGtTTGF0TkQvRzJCVDZiQlcyZzhGVyt1M2FXc2lhUnFFYlhqWUVMNlNMRXFaS2tkS1NxWG1rOXdibmw3eis3eTBVWDYwRmVjRnl0ajB3MDc4N1RRR24zS2t4Q2l4R01XZThIUmI2Ykt5ZVg2MHVSa2Rna04rTXg0cGowVEptbWxTNVVoSm85SGMwamFJRW9UVTM2TnJodzl0MVhtQitOUnhzTURUYXVxcXBzZ3JSMG9LaGVhWGRFQkVOR0paWDVrYzZScmlRL3VpYXI1MTFtazN4T1pCWGYxa2VlVklTYWJMbkZPMVpYaTZwY1FvYXF0OGFLc3VrclhOZktTVzZqdXJkWk9ueTVHU1hKLzVwVlREMDI3SXc0WU5ieWYwa0cweTM2Zy82ZVRGb0J3cGViV2NoL3AwcHdNUFQxOFlOL1VhajRnNkQxRlJYU1RMcXRGbkZwMEh4ZldWRStlV0l5V3hPbk5NQ091ZjNOZGR0ZCtoYVVmbHhiLzZLSkQ4eHUrOTJPR2xLOTZ0MmNkMEYxTFgxMDN2czM5cFg4TXNOQ3VibEZCMlMxNUFkeDh4K0VkODR0WUxTQVBLMlNHbTJ6MHVrZ1UzMUYzckJmS01wOWJ2a0t0SzEzN1RXY2RUcWpscENDSHVLSjlBaW9ZUFpsRUVZUDJUclo0K3A1K3ZiWkNyc0l2d0Z1d3JGRFp0K2RaZnF1UEgzREtHNlNyNWdsVjFlek5NUGw2UHd6cUxsRGlleTFzT1BjU3gwVnJmc3pvVEFVamQ1MGx0Zm5IOHFZNkh2dlZUZXEySVYrM0FTTERuS1U1MEVpOGxFWnVsSkJydzhMVHFYeGtQUTZQaVdjWFJVVlhzeTVaMVVheXJXakJSQmVjcGozZ3BLUmt1RTNtYmhhZDBKcDhjSlduNGR1eEllb0Z1bTNEM1A4REtqVHBIa1VRRTBNUkxTY2hvN3NrKy9VVFk4V1JZMjhDVXR5MXJzOTJHUk94dGp6THhPUzhhdmkyNlVuUHM3c3J2K3JZN2FXb0VzK0tsQk9zc1pFN0ZCc09FSEVOOWkzbDRldTBlN2FoZzNQaWo0WE9SZ2pWcXA1RFhjeTNaVithVGc4UWhPZkZTUWlvdVdyYjZwSVRmdEx2NnhyTHdGQmJDWVUzYjU3M3FLMWgxY0lBaWp6WG5zWm11V0UrRmlTcHRrQlRKSTE1S2RQVUZLbVZQUmZqTlNjOG4rL3BtT3VGcHBRWUw0VFVnMHRONGNpdjZrRWVoMlhCMklkckNSNEpRUnZjR1NxV0NKaGt2UlZNSnN4Z0NUbmo2RkYwSWI0RGxRd3l2Z3FWZllWVXBkbWhIaGlHRDkyY1lDUktONlNvTGNKSG8rSTFISmdUQWttY3JEb0IwdjhOdVBJL3pzZDV4aTVvUUh0amdsb1NSNENDZXJZOGlYb3F2QXA1S0JBYUUzR04zeUJXd0tYVllZNDZHZDMrM2hucHdIVEtoLzlNL2xqcGxxUlMvOFZKU01GczIwalpZa2krRVE0b3VzY1FjdFRnWHlmcklFYkRvdVFONXcwM0ZjRmFMNDZXbzFKajJJQUNHRkROM1hVaDJQSVdhazZUT1MxMjR2ZFlnQVZlL29LUlMvUFh3SEJDZzBZK1ltNGRaQWpLTVE0WGRlK09vTEV2MitYYUc4RFNwbEhnOWxwQkNycDVhMWptdzZaVTRERmJqdXpKbG9RUXdXY0xUaEZMaWxGM09jaWM4NVUybmZUYjJabW05bUFnb3VENzQ1UUZjMDRlbkNhVWtVbVhwaUp6d1ZMUzZuM1JwUmxRSS96OTAzZDVNNFdrNFl5eUpSYUNoYnU2dFFrYzlpcTJTaUFCWU5SbGhwdkEwa1F3azBpTXdVTzkydE5QeW9GSlBuVHkzNXJxOXdEUjllSnBjRUZJR0VHaXJkenU2TkhNM1FKSXBRN3E5alN6aGFTYVpDMXBwTFd6NTlJa245UzBHSzk1MlN4SXZ6Ymcxd2hMd2lsRGhiUTNjTmJjd1lzeVBRaUQxK2lsZ3IwN0cxb2c3WkVhSmlTK0RWNFNLRHA4bFBJMFhzRHdVTkJvSk8zWjFNQUQyNnQydUFhY25PcnEwZVJESzNPQjEyQTE3MjlCOU9xMGlDMENmZHYyVVRqUHN5M2JUcFprRGVabzlCWXoyV0cwZW5oNWV5YzRNYTZaQ2dIcTZTZ1c2TkNOMmNDclo2WlB3WHAxVFZvdVB3cjNkOUV5d1JpWUVXbXA0Q2h6QXBnbVdadUpGd2JWeW1WSHhVYmc3aksrRUZFWVFHS25oS1hEc2dsRTdCamlEVFU4WUcwanRRYXJmWktmNFd6Z0NOVFU4QlduSFlOT2hBYWt3OXU0ek5qMkg0YWI3YWxnRHpKRkZKQUpnUWhGek9IUjBTdjlLWkkxa2hjQ0g5OU8razdxa1B1dVlqQVZTWlVPQXhqNDMxS28wdHZFOURhTVdKMDdEeFAzUUlhYnZrVzFhMXZrTVN6T0poU0doaWtEZ3piMTBPWFhjVVVteXBXRXVZOWVwV2IzcDNLQWJKanAvTmxXV3JGWmw1TytuUGNnZ2dkY05ab0NseHNiMEZmS3lzOVRUSG1iZ2dWWFNJdkR5ZDkvZnBoWWtEM3pvVzd6dS9ZODZHZVNWTDZkbEZxQS9abzhVZHgrQ1hmaVhyZTBrbThFRFBEQWpMUUp0WmovbnQrbFVwak1PL09CT2ExcWVrbjdOaHJldlY3NC9QcklhNUZWclpHUWlRM0xIbEI2QnJ2UDg5OVBQM3JvcTlvQnRrVEg5MXN5dHEvYWtvNitUSXZlUENYbkVjWlJXYmRJWGdVMksra2c2Z3dpOC9BSDczVCtrZXEwOE9IbHBCdlZEbF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NCY2hHby9QWS8vdlBiN2V2bENrVnBoU0xRZFQ3TXRGZW9ER1JlTGdLMlk5UEw1UXBGYVlVaThGdmZvOS9GT3lwVVJoTG1hMWVucjBNU1BlZUV4aVl6OE9IbWh2anU4SnlBTnVOcTJ1eXprMVBWOGsvY2IwbFBWWTFGRVE0ZkVEWHhOZWhjY0h3T2J1c251VGhnWlJXQkxVSmVWOC9MVDIvZVJ4MDF0S2s1NURjSXVXS09XMnBPVzMvK0lMVW8yalExY2hFVkxoS3lGMUZjZEJGY1VtVDh2OXRvVTVOQUg5SVBjay92Mkhqa0cvK3RhYUZOalZxZ053dmhLZHJVcUUyN3N4Q2VvazJOMnJRL0ErRXBqcjFHVFRvTDRhbUZOalZxMCttSHA3UTVPUGFhTk9xVXcxUGVGTFNwU1p0T09UeEZtNW8wSnVjRjRlbXdBTFlwV1dJL1RRbFlKSG1Qa0dZa1FTbUZhRk9UTUhjSk1ja3VJeSswYVViZ3ZOVzJIck0vc1c5WmZYSkh6ZitqOS9YSG4yeXFPYVdrMGFZbVlJWWx5MGZJblE2RXAyOG83RDVHeUtSUEptRHJjZyswcVFHOHR3bjVnclhhZnhYQzA1OUlkcGZJbmIrenJML28vMHhtbFpOQ20rYkh1VklqWHdjdTU4NGdQTDN0c3F1MEowMTZzbDI2SzR3MmRZMlFPWEdObkRsMSsyOGhaTmZsc2s2ZVllbnFYVGV2bkFUYU5EZk9xNFFjT0V3YVJBMVA2K01PWTcydTNtTnpTMHZBQUcyYUFLUm9raGFaZEJ3S21FV1M0ZW1xY0pjdTJSNWZPSnFYa1ZLMGFWNFkxd2o1ZDhZRFhDVVpucTRUUHVUVytNaWNWMDd5K21qVDVGanBLZVVjTDFoWGRza1d1ZUhRdzhqOG1yNWlZYmxvMDd6UXd0YUdEdVBoQ1UrNzNGMjZWUDZPWDdScFRwdENQeFFCS0NSbGVOcm5qaFBFckRkeWlraGJIVzJhRmpFZi9YbTVTeHU2cEF4UDNleHYvM0xIVjZYb1U3UnBUb1JITWlaZGwwbkxJcVc3Um01RDBLWXVGTmtTdHR3Z3ZhT0dwNUQvcTUxc0xQUFdRcHZtUTNDRnlQaWxvWVNuZEZNUU9mdVhmTXd6MWdiUkp4bXJZalZBQUNJWk5qRUk2WUUwcjJYQm1BekgyWGVtZ0ZLN0FKdHVqbzlLYUVrNVV1SWEwbEtXMTlwS2VHbzk3OWlVa0QrSTQyQyt2QWliYnBUUzljdVJFb2M0ZEVmMzRVUVoxVUF0Q0d6WU1ZeGpZYnk4Q0pzZWtvN1VjK3V4eWR2a21jRlVPVkxpRkFiOHJuQWFzQ0tmSkhReXJuR2JpdWcxanBPNThpSnNXbFVtdzFiN2t3Zkpuamw5SmFkeXBFaDUyaFJNSGJtdDg0U25RUDE5YnRSOWJjMENNM1BhOUFYMXloUnE5dVZzaWpVWW4xZ0RPUXNxU05MOW01U2k1WlZPSFlXYWpyQ1grVG1FcHdkS2tXWDlmZCt4NmcxUFpna24rV3k2MnRlc0RhNHBrMkVYeUt1V3RlNDJPMXVEVEVyUjhzcW1GcTFGUTVrbXIzNUl5Q2xQOHIvS1IyMG8xMTMyWGpyRFo3bHN1bFVUaTRTcVZoY1VFOWJwMHVLV2U4dFJ5UktuVFVyUjgwcXNTb0JRWFY1ckVCSVlabGRyaE53TDFDbzRJN3ROSzM5NXY2MDQ4bExQUTdtSWVNR1oxSzdrZUJlSlNTbWh2S1R1YVZPd0Ewa2ZuZ3BHWVBTOGR4N0JLdkYvZHB2V1lhZGpYZGRQUi9MQ3JKSWgxY1IyMjUxWUwwRm9Va29vTHlFcy9mOEZwUnUySGZPdWZwQnlXV3NLWG5WcGRKRlY5SDkybXo3NnlPUE5sczZtMGtYYUpCTkgvN2JzdVduYlkxSktLSyswU2tsNjZLZkNvd0FYbUlZdDY5UkJYQ0hqSmlkcXpWTS9wVHJyYkxvcXZiK0wzRCtvdVg0RWIyaTZQNU5TZEx6U2FlT2hWbGE4WWFHVWVrT0h0K0ZuSkYzZ0hYZDUxVk94eUpQcy9aUnFwVU5JY1pFRzNMeTFmQk5MSnFYb2VPWEFGMjZYd3EzbG0zdDd1NWExU2VSSzZvNUxrRU5NdXFybWJTcGRKQmlOVGh4dDJ1eTJtazR6U2EyelExWXBPbDVTVXVvVWJFRVN3VGdzamg5QS9mcVFSVGczT0svamZFNC81NUxxejd4TnBZdTB3VytubHUwUDNGS3BxQjBOc2tveGJGTlkrdjRwYjB5WGtPdVF0SThzQzdxc2V4WDMzRlM2UnVlZ05tOVQyNTNUUGhiK2c1dy95NlNwemc1WnBlaDRaVktLVjZxTE9JM09QZ3hoNnA2KzZoVzhZZGZUYjQ4N25MUzBQN0RwNWV6Q05BZ3BMbEtkTDFuQUdFeXY0TXlIU1NrYVhwbjFvaFZiWXFkbkQyd0tTRjZndnU4bE1oblNRamkyM0g3TXpzdjQ3Y3RSSW9NNERVTG5YSDhJVEhuZzhJU2J6bWtHNW00VmsxSTB2Rnc1V1JJd3lldFVXeVgzTzk3RElSMmwxc2lSNEhXYzczSVdiRkw5dzlXVm93OXBFRHAwM3pNTlBpRmN1SEJBWXVna012NllsS0xobFZFclZnMWMzQk9hcXI0QlZ5NDBkN0JMejJyUDBGODQxbXc1QWNOeWl2K0Z4MTdKanp1WjVXZ1FHdERCeHpsZ1c4ZVJrNERiaTlOdWxwMysxNlFVRGEvMENxazFldVM5Y0VvRHVCcXN1dkVlK2xuK0lIR2xtMitFVWdVbFNWZSs5K2Z2ZXl1WUZLYjRIdmpRbDFpUFNsSlBwZEVnSkoyWGxuajNIaGgzWDYyVk5tMVNpb1pYV25XODlGdjBRZkMvc2I5bVdaK0ZTUFJ2MmF4U3BYYjJyMEQycDNYeWgxN3Fncy9nZHFjY3U1bWtCUkhhSWk2bnJsaVJPQ1RxeG9mMGdreEtDZkpLcjQrM3hsOFQwbmNjZkhpMCtLcTR5V3kxeWZpV1RjaTd2TFJGbjFYSTFWdFBzK1BabS9hdVQxeWxEOFhmZVBycFoyOWVGYWFCKytMNGtWdVFJeFRYelNOSkZ3bGVXTUZEdDRib3NENFpTVStEZHNndUpjZ3JxUmFoZEwvNzhmSFBkMmpwNnA5TmZsMVFiZjdnSm5uNEYzTGRjZ1FyWS8vdUZpbm95Mkt4Q0h3OGRsd1hZb0lJSGJzdWtqb09LSnRaUk5VVS95YWxCSG1sVUdUZVNYLzArYmM3Qmp4NzRFdHY1bTFaZmRUSm1UemVFWTBMSWlSZEpKalRkbzk4MzNJd0tTWElTN1JsT2Y3UGdVM2VjTzFIMjl5Rm5IY3BPVUdFN0x1VWpoNndaUEhTaS9UNGpKd1RaU1ZwZjAxS0NmSktxODE4MDBNTUF1NjVlbFFKK2JCNkhrQkljWkZncEdhM0UraXdWOVJLcWRNbXBRUjRwZFptdml0QURPSUxRbXJrblo0bUJSQmFseFYybFBEMDFGTXI3WWxKS1FGZWFaV1pjM3FJUWJ3YkZMYkZoTFZvV0FBaDZTSlpPOExiaFVXb0kxRWg1UDhmUUpMditLWWtUU2NsSlM4cFppbFNQZW55c3ZZTzduUzhEUStnM1dVeE42VTZGUDV5U3k1U2VHdkxzN3JQb0hBcUdRWFgyaUtscE9RbGxWaUtWTmVETEpzQTh6WThZRlBwSW9FbCtDemh3Tis3dlR6bzJjZHVCUTVucXhhalRDY2xKYStnTWd1ZDA1Y2JNMmc3Ti92S2VNZ2E3a2Q3UmZHcEdtTEtvWi9UUlFyMDB6eFMvQm92dEFHRGphT1RCcmVWN0Y1dzVzQ1BrT0lpV1QyK3F3TldMb1lLbHd4SmsxTDh2REtvTTg5VjZLVEJnV3pBSmI1eUpuT0NjNE10dHZmVElXbVExNTMvRGVFcnFSVlRwZjEyeUNQRnp5dVZJdk5QVEhmVnlDQ2swbjRvMkNRL1FvcnpBaU1tbTM3WWliK2RCaGw3Y2t4SzhmUHlDRnI4RTI5NGVzM3Y4MUlBL0FoeE16cllIUEtCZTZROEVwVU5OSk5TL0x5eWFUUzN0VHpoNmJiU1pXV0xmQWlwemd2RXA4N05HTzdLVFZraFU4cWtGQit2VFByTWNhV0dzdnZOcXI5SDF4SWZRaGRWOC9HWEtHNm9rYWFPUjN5ZVNTaytYdkhDRjR0aW9MeWY0Q3VUSTEzamZBaXB6Z3VzdGpvK1VrdjFzM1E4NHZOTVN2SHhpaGUrV0JSdEdaNXVLWEduMnNpR3R4TjIxVFcxVGVZYjlTY2R0VWFXdEVrcFBsNVoxSm5qT21wNDZqR1cwcWFSMk4zcTVGVlVGd2syejlFdGM4NkQ0a3FOTEVtVFVyeThzbWd6ejNYb1RnY2VucjR3YmdaYlVubnhyejRLSkwveGV5OTJlT0dLZDF2cE1kMkYxTTNaVFUxS0NmSUt0bXF4YzJCTm0vdTZxL1k3TkUxdFFEazd4SFM3eDBXaTIzcDNyUmZFaS80RmcvdnNYOW9YNlNUL0RTSEVIZVdUU05GekR2TFMweTF1THQxOXhPQWY4Y2w0YjFzYjVDcnNPTHNGZTlDRVRWdnVReUtNc2pwK3pDM2pkWDhIdHRiSktjWTNuWFc4UElObm1hUUUyVGc1UVY0aGhBdWJ2UU0yZFJyM1hOSTUrTHJxSWtIVnpTK09QOVh4NExNSzM5YXB1aU0wVEQ1ZTl4UW5Pb21Ya29qTlVoTEJTT1gwdTdWK3dxZGlLNTRaZnkxbUxkZ2R1dU0rc1FrandaNldMQ296Z1pTbzZzdGROdURoYWRXL01oNEd5M1pzcjZ2WWwrbWJOTVhlVXBpb2d2T1VSN3lVbEF5WGliek53bE02a3grNzk4VEJ4ZWU4YUxDNlFLM3A3bW1CMVRoMTNrbERyOHVLbDZLck5aTjVuMzRpN0hpeUlIM0JsTGZobnRodVF5TFJiYS9oYzVHQ2VyWG96Tkt4KzZSRjE3ZmRLVmhCa3hNdlJWTnBKck1xTmlBYmNnd0wwWmlIcDlmdTBZNEt4bzAvNnZ4UmluREsyaW1VOVZ4TDl1TTNLZ1Y1eFVzSjFwbk5IUFZSQjc5cGR3dFJtWVduc0JBTyt4VDhFWWxXWUNYV1BWNmpreEN3NzVzL2ZnRVRWZG9nU2N0ZFpNWkxFWlN6Lzg4ZWEvQ2JrNTVQOWd2UjNnbFBLelZZQ0srQmpBUWk5S3R4YXNVTnh6bXloWThFb1l4NEQ0MUtGWjJPbHhKZGY2bExuZkQwS2JvUTNvQUxKOEYxY3o3V2s5cWhnek9NT0h5TWhwRWcwWmp1TVVPOEZBODVucWdJZ0NYUFZwekpRYnJmWVZjdDBxY2JJa1RSRjBOdWk1b1FIdGpnbG9TUjRDQ1VOcXdnWGtwWVRjeW5IMkc0eC93UitwWVk2ckRHSExWWUYybHdIVmhBLzZkL0xIWEtVaWwrNDZXa1lMWnNwRzJ3SkY4SWh4UmROb3MrRWpndkh6a0NGajEzSUcrNHFXak9hbWtDS1NwNXNXbkFKZmx4TzZjdW15R3g3SDl4K1dwMWNVdHBnbExzc1p3dUpEc3NHZjdMeHVud2NsRlNGMjR2SFFrNklqZnBmMUlwU2ZubG9nTllraDk1YmRvUEU3VXYycUFsRUlYMG53WlBZcjNsR05KRHRWQ1hYazFvSU5ubjJ4bkMwNlJTZEJvYXo5T0NHSmFaMTZaaGZLVmx0QlJxbytYcUtYelFIcWl2cUlYYTlJdmFYSCttRXNCa0NVK3RaRkw4VW9zNTE0SVlscG5YcHY4bmhQSERSNkp4V2dKUlNQK2Q4SlJuMEQ0YjZ3Q3BsU1BTY0gzd3l3TzRwZzlQWkl0VFBnQUFIZ2RKUkVGVUl6aGpVUndDVG5ncWlHQXNqdzFVQkczTS82SHI5bVlLVDJPNFkzRVVBZzExYzI4Vk91cFJGSFh5TW1EVlpOU1p3dFBrZ3BBeWdNQkF2ZHZSVG5zOVFKSXBvK2E2dmNEME5CTUxySlFSZ2JaNnQ2TkxNM2N6TXZKVmsyNXZJME40Nm1NMjU2ZHJJU0huRTA4OFdVakx3SXJTVTB1Nk5CT3ZDYnc4VTNoYkEzZk5MYjdhUWxLVXZYNEsyS3VUc1RYaURwbjU0SVhYdm9vT255VTh6U2Q4eG1yVGNDTHMyQzFBVjhCZXZkczE0UFRFaEJnSVpXNXdQdXlHdlczb1BtMUN1Yko1bEx4K1NxY1o5bVViNmRMTWdUek5uZ0pHZTZ3MkQwOFByMlJuaGpWVElVQTlYYVVDWFpyNWlYS2VPUW52U2pwbGxma28zTnZOekFzcnBrT2dwWWFuVUJWc0dyODBrMEFFWEN1WEdSa2ZoYnZEQkxXUXhBUUNJelU4QllaZE1HckhBR093NlFsakE2azlTUFdiN0JSL0MwZWdwb2FuSU8wWWJEbzBJQlhHM24zR3B1Y3czSFJmOTJ1QU9iS0lSQUJNS0dJT2g0NU82VitKckpHc0VQandmdHAzVXBma0ExSEpHQ0JWVmdSbzZIUkRyVXhqRzk4VFRtcHg0alJNM0E4ZFl2b2UyYVpsbmNlbG1jVFk1U1FNdkxtWExxZU9Pem01UW5XWXk5aDF1RlJ2T2pmb2hvbk9uMSt0SmVCUUdmbjdhUTh5U09CMWd4bWdxTEV4ZllXODdDejF0SWNaZUdDVnRBaTgvTjMzdDZrRnlRTWYraGF2ZS8ralRnWjU1Y3RwbVFYb2o5a2p4ZDJIWUJmK1pXczd5V2J3QUEvTVNJdEFtOW5QK1cwNmxlbU1Beis0MDVxV3A2UmZzK0h0NjVYdmo0K3NCbm5WR2htWnlKRGNwNXFxL1BZLy92UGI3ZXRUMVVFSS8yci80Vk9SaHYrdTgwei8wOC9ldWlyMmdHMlJNZjNXeksycjlxU2pFR1pML2pFaGp6aU8wcW9OMzlySmZZMWtVNktRV2wzbnV0OHJoSGRLcG04aUV6SStTVmtwQi9uTEg3RGYvVU5hZitYQnlVczUrTXhjVmR1eDZlVVowT3NyNUQvQ1J6cE54Q2t6MEppcHF2QmIzNk51eDlGVWRYQ0VieEgybU5NaURZTFRROVUydE15Y3J3VWpKMTVjTnpKSmxFK1RSYWh0S3k4S21scDc0TE42SFJDK2dvT3ZDUk5BZkRZRE43RXFXeFpkbTRreHd3U3NVK1VCRHhra2VBQ3dZQlZoWG5mb2lIQjMzUllzY0xIWncvN0tLMU52NGZQaXFYN2IxUDdkcVRkcG1nckluVGxUMUtJbUhsbnBlNWRocHFqU1BJcytkSGR4VEs4Vk1QN3ZNZWx0WlRmdjlQU1pkOG05R1FoUG4zZDFhSnZaUWpidlJzbXB2L3Vhb0p4ODhsU3Z1NCtydFdmQkNjL1RsSm1vMjU5K2VBcERyMWdYNmJzUGhjOEVPUE9weEN5RXArZkZwZ1BZdmtkK05wODR6cExXc3hDZVZ0MU5mTEIvMThqMjNWbEN1SHhkWmlFOGxUUE9NR3JnQnI3Y0Y4RU1oS2V3ZlVFTXVMRDF5OVREL2JtUm1WOEdFSjRPcDZ3OVhGWmlkaEx1Qk5oUGM1c0R3dE5tYmliNUdJQUtCNXdEYlBYRSsyaytOS0YyMS9QY1dHNTJXUmpBVHZnaHJ3Y1BKSWxoT0F1blphK3o5Wmo5Q2RoVTBIZHZZQ3R2SGYvYU5FQ2hqNEkzdWVBZCtkS3lhYWd5NXpJL1o4TzJ1VHNkY0RUZllDMVphNDl0TWVzS2k5UDJNMlUxRU1aYjl3R2tZL21haGJMRUw0NGNlTzdrQzlacS8xVTVoZE80ZDdRaWIyWTltU3k2MFREajRQcEZWVG1qVkxUWWhlTmZxWkd2UTZQT25VRjRldHRwM1JwOXprc09nbTJKYzlHTmJ5bDlFKzd1ZDR1V3Q2ajhyL0Z0MFAyM2lHbTU1K2tHbGo1L01NZ3FjOFpRdFdPYjRQcHB4bXNPdG9xdzZLRkJoTTlaM3dWZTdwWUhPU1JubEpDaW1pMlVjUlNRdC9RVUxKQVVYZ2hQSmgwSEJ3ajNtYys1UnZmNHdpdWwrTWpuRHNuRm8wVWZNVDNsWXFnTGZMbDRrWXNvQWFEamo5RFNSM1NkRnA2allTSDB6dHVzdldCcjFwR0xiejU5b3ZRVDcyZkhCeURkTEY3a0lrcVFjN3p1L0dxTGRsQTVuMzhvKzA3UkFOQ24rZFdqYUhrTHloKzJOblJZMDl6d3RMc0xHWElkc3lkWHZ4aGhjYjh3emFBZVo4VkpXbVRPY0FjVEUzQ1FaRHNNbkRkV05Od1hWd3pLbXpHRVVJYlBlamhmQlJLYUxiSUJDbWdiZEVleERnSTNNK2NPdXViY1ZldXVKVXQ4cjJKVlhGYlFVcmlVaEdZRnRIdVJXWTVFVE9xOGJYNlhOdldTc3hvaUYwVmtUeTRjQ0xpUXVHTkc0Mk1NVDdNQmJydERMUDBZMHBBeVdYMG4vSURieTkxaEdKSkxlN2NNMkZHNDJIQjNaK3BRbGZCSWdRQjlLNElnYjZpeEE3eTQ1Z29yZ0NHWkI2cUNzTGgvME9hVWM2ZWFIUlVuYVlFNVF5VGpPcGNEYVY3MUMyWVFYNGkrVXpRUTlOWForMXdJWEZTdVprWExYU3orTGNYUmJMdXJwOURHbm9zdURNbWk3eFRkZGpxTjFPRkN3SG1iZ2NjbWkyNXhFZnhIaW5QcDhZWGtweHdhcm5XTFVNRERFMjdpN3VvcFhHMmxEZmtlSmViK3BPM2VOdW5IMEtRdkJCNksyQXMwVUlma1loc005MUIzcDJEWDJKZEdpdFY1NXJoVDUzS1BheVhDVStjVTBCVlBPSlFZbnNLTXN6dk5ZTXRoZU9aZ20ybUY2QTNzTXRmUTR3dkIvcTRyUEYvQnVlaTJ3R1VsN3FHZ21SZ29pcGE2WVB4cHdORGtiVHBVZlNGd2pLNnpmTStRWEhEendhWmkrQWUzRjJlUk1zSHRMcTlCN1licUM0R0hjc0k0ZW9ia1RFS1NWd0oxaENIaEN0dExYaEVwSlFLd29PWUdnUVBWRnhxNWR6UFBrQ3hyRnBJQ205N21qRUdibzBKa0xEeFRHT0hjdXhiemhWWS82RFM2UmlhODhUQUtuMEx5MzhyQVFxN0RXN1pVckF6SkN5UUQrcWxZMndJWG1QcWM2OHpkbFE4WHN5RzU0c2FOUmJZZVZ1VjVQNFVlZTZWSVNRdk1XM0UwK2FUOUlRUFZkb01LTmdwdnVYRmprV2pBZGNWdENyTkkrMFZLV21EZTBCMkVvOGwza3ZWMm5lYktvSUtOd2h1aU94Y0xoaTFzT3NLaE55dlNNTmlKcVFYb0dRZkFwajUwZU1tdDAyeGovRVZCbGxWU3Nucjh4ZlIwUy9GN2s5VkFxZ0FDMG5aZEZwSGFSdzZOTGZvdkRNbTBpeDVmQ1ZRdEltUEVZeG53M1hEb3pRcHdYVXpjME5tSElheUhjMStvVGZoWFhtRXhqcVlHZTFrbHBLcDN6SWVObHV1NnBhcU94QlNCbG5nVXBnYzJ2V3haRi9oODYwQ0FXbWVqczExT3QxbG5sMWpGeGdtSDdOY256Q2c0bFZmSi9jN00wU0dmeDJueEJaS1ZpVTJYdkVUM3pTNG9XVTE0d1RZbFBDZVhaNUxWUXlvRkFkaFpjRUpQcTIrQXV3VDlkTERMQ21FT3YwTlQxZGVkVzl4Nk9XNnZaYldkUzZ5TDNaU1pJZHR2ejNFd0w0QTlhd0NrODZRTVpRUzIzb08valhIemtBNkhveHR3VXNiUm9qZjFEVGM0TGtQazRzbllJcE45NjIvc3IxbldaOEhWL1Z1M1B6NUZYanV5UG1mL0NpeVZUenJiN3VKTjBRQ3N3aFcwMmkvekt5UkZ0MmdhL1ArYXdGZHlxQ25oMGVLcnRKZXdvMUluWTVaL0RUNzFJaVltUkdseC83OUpQOTd6VW5IOGw0UHo3MzU4L1BNZDJ0VFZQNXY4dW16eTVnOCtQdjVGSi8rKy9qODUvN0tzeU5SOS9mLzVjMFh5Ujk2SUFDS0FDQ0FDaUFBaWdBZ2dBb2dBSW9BSUlBS0lBQ0tBQ0NBQ2lBQWlnQWdnQW9nQUlvQUlJQUtJQUNLQUNDQUNpQUFpZ0FnZ0FvZ0FJb0FJSUFLSUFDS0FDQ0FDQlNPd2R2V29ZQW5Jdm13RUd1Sk5QbVVMUm5sRklmQW43dHVaaXBLQWZFdEc0SE0yMnJSa3lBc1d0M2tmUE42TVkyL0JLSmZJZnV2UEg2UVdSWnVXaUhuUm91Q05QbVQ4djl0bzA2S0JMcEgveGlQZitHOU5lRm9jeDk0U1FTOUZGTnEwRkpoTEZZSTJMUlh1VW9TaFRVdUJ1VlFoYU5OUzRTNUZHTnEwRkpoTEZZSTJMUlh1VW9TaFRVdUJ1VlFoYU5OUzRTNUZHTnEwRkpoTEZZSTJMUlh1VW9TaFRVdUJ1VlFoYU5OUzRTNUZHTnEwRkpoTEZZSTJMUlh1VW9TaFRVdUJ1VlFoYU5OUzRTNUZHTnEwRkpoTEZZSTJMUlh1VW9TaFRVdUJ1VlFoYU5OUzRTNUZHTnEwRkpoTEZZSTJMUlh1VW9TaFRVdUJ1VlFoYU5OUzRTNUZHTnEwRkpoTEZZSTJMUlh1VW9RVllkUE44VkVKdXBjanBZU0dHQmRSaEUwM1Nua0VweHdweGdFdmdXRVJOajFrSC85azJtODlObmxiSWUwb1Iwb2hxaGZNdEFpYlZsK1RTcS8ySnc4Vzg0blZjcVRJbHN4UEtxZE5YOUI5QnJML0U5bitBWHlNYytCOEVWbm1wVTZabEtMbGxWcWptYTZRejZhcmZmY3JycktWYStTR2UzS0J2R3BaNi9TenpEa09rMUswdkhMb05vdFZjOWwwcXlhK2I2ODJqWDZKV1J6MVNjZXl0c2dWY1o3bDM2UVVQYThzV3Mxd25ldzJyZnpsL1RiUjJmVFErVkM1MCtZTGhBN0RGZnBON1l5SFNTbWh2RExxTnF2VnN0dTBUc2lrcnJQcDZKN2IyQ3I3R3JOOTV1YWtUWmlVRXNvcnJWSXpUcC9kcG84KzhuaXpwYk9wZEpFMnljUnBmbHYyM0xSd21KUVN5aXV0VWpOT245Mm10R0U2bTY2U0E5SG1pL3pyNkxWOEg3NDNLVVhIUzZpN0tQL21iYXE0U0FOdTNscStpU1dkSGJKSzBmRmFGRnVLZHBpM3FYU1JLdUk5UFcxMld4VXkwLzdyN0pCVmlvNVhXbjFtbmQ2OFRhV0x0TUZ2cDVaTlR2UGdvTE5EVmlrNlhubDBtOFc2WUZNWlRhWldVSWVRL2JwZ2N5dzhLSkp2ZHRDa0ZCMHZvZStpL1BkSm5uRlJnNURpSXRVSk15K013ZGZ6NEdWU2lvWlhIdFZtc2k3SmhiY0dvWE91UHdTbVpCN3dHakUrOW1hV290RjRKdTJTUTZtUGdVMS8zTW5NUUlQUTRWaHcyeGJET2lTR0lqUEx2MGtwR2w1WlZKclJPcFh2L2ZuNzNnb21oZW1nQno3MHBXdzNWUTFDZzUrSjlsNGs1TWhKWHhEK3J5aEorVzlTaW9aWFNtM2l5U3UvL1kvLy9IWTcxKzBtWG9pV0FvWkc1ZGpWMHNSbGFoQ1NMbEtMOEM0THh0MlA0eFJWYmxLS2hwZFA5S2YvbngrOTcrTnlldE5YbXVTMDYrQzZsNFRVTUUyRlhMMzFORHVldldudityaFgrbEQ4amFlZmZ2Ym1WU0lhdUUzR2o5eUNIRG1TQmhIYUlpNm5ycWg0U05TTkR6NUJDVTVOU2dueThpbEFYMnRNaUxLcTd5dFBjR283TExLTmZBbllaeVpaZGZSaVAySkplMTNrdWNOS0VDSHB2Rmg5OGxNbXZpRTZiRVp0VEVvSjh2SXBkZDVwWlBhRkpHRDNXOTk3RkpnYytSalB3T21QUHY5MnAzVm5EM3pwelZ5ZFZhb3EzSDRmN3dqOWdnZ2R1eTZTT3JibnV1dzFzOHJacFFRMUZtMFJqZnpSUDl1RUIyRytvaFNuZHM3TE9JV29kS1Rud0lCdmROUTZYY2g1bDVJVFJFaTZTRnRBSzQ1Y2w3M0dwdG1sQkRWVzI4ZlMwRld2QkhOVDVkajVSdTlVc2xJUmc3L3Ftd0NxRXZKaGxVVVFJZnV1S0w5RXlFc3YwdU16eEZrWkYvbnAvMDFLQ2ZJSzZnTTIzUXZtcHNtQk1TcmZaWnhHV0NwYThGZDlEbXVOdk5QRElZQ1E0aUxCM2ZmRUlZWU9tKyt5TnlrbHdNdlRIbllDUHQxbFRYYUtMR2p5NnluSVN5U0Z0bmtYczdmOVYxOEFvWFY1RWV3SU53RzYrMmt1clUxS0NmRFNhTllUbW12S2ttV0I4NXp2TWs0bUpnTVZ0RTI0dkt6MjRFN0h5eWFBa0hSZXJCM2hKc0JRZHVTdEZqajdCN2g2Zk1jM0pWRTZLU2w1U1RGdXFpczBkM1BTSm1DRTIwdGJweHo2cm04TG1iSU96UlVJb04yVmUwTVB4UVhSSXJIYmtlbytnOEtwWkJUMGtTS2xwT1NsZ2JLZjI4R0JFUzduNksxUnkwaFduL0M5SjR6YlpsL3BPeXdyWUZQcElvRWwrQ3pod0Q5aUI1WDcySzNBOFVGSmxVNUtTbDVTakVnWmNIQjY4VU9Ua0ZidVB3MHdieXNpZThFbzA0LzJpakxrTk1TVVF6L3Z2Y1drRkQ4dnBYMGlhY0RCeVQ5NkMyVU0vOU1BODBEeXZLUVpUdndJS1M2UzFlTVJ6R2JPVlpuZ1RyWThVdndheS9hNUtRTU9UdjdSMjlYR2JJTE9mSjY2TEN2dGg5eTBtL0FqMUdKN1A1M3lCbUh1L0VadWo4T2tGRDh2dHlreWtkL0JNVEI2UzNXTXByemg2VFcvejB0bCtSRlNuQmNvWTlNUE8vRzMweGkxVFVyeDg5S0l6dS9nR0JpOU5YcVp5SUsyeWZCMFcrbXlrcmtmSVc1R2grQ1EzNHhIeWlOUnNtYWFsRWtwZmw0YVBYcTVIUndEbzdkR0x4TlpEYUlFSWZYMzZGajZFRkpkSkloUEhRY0x4cUdtcm1xS1BKTlNmTHgwV3VSM2NQS1AzanE5VE9RTmlJaEdMT3Nya3lNZFN4OUNGMVh6cmJOT3U2Rkdtam9lOFhrbXBmaDQ2WVRuZDNCZ2hCdnFPRTgvcnkzRDB5MGxSbEVWOHlHa3VraldOdk9SV3FydnJOWk5uallweGNkTG93UU1MTXA4aDRZZ1BndEc3Mlk4MVJRbzFQQzBHN0xLMFBBMjMwTzJ5WHlqL3FTVFYzbVRVbnk4TktxQmcwTWZzTXh6ZEJWSEpBOGY0M1hwVGdjZW5yNHdidXJaanp5emFCWFZSYktzR3QzejRqd29ycStjT05la0ZDOHZuUXJnNERpT2dLNHNMbS9yTWZzVCt4YnM4UERNay8vUisvcmpUemJqNnBaUkR1dWYzTmRkdGQraEVWaDU4YTgrQ2lTLzhYc3ZkbmpwaW5kcjlqSGRoZFQxZGRQNzdGK0NSaWMvc2tuUjh3L3k4dEo5OWViWnIxa1dPRGk3UEQrdHNwK3p5U1BrVHNjM2VzTisyMG1mVEZJMTI2dVlzVE82KzRqcE1lSVR0MTdXRFNobmg3ajllRndrQzI2b3U5WUw1QmxQcmQ4aFY1V3UvYWF6anFkVWM5SVFRdHhSUG9FVURSK2FGZVNsRWxhK1Q4Wjk4ZzVMT2pocGxZVjl6Rit3VnZ1dmVrZnZTK1RPMzFuV1gvUzFJS29LbEpEZUFUUWRNYy9wNTJzYjVDcnNJcndGK3dxRlRWdSs5WmZxK0RHM2pDbThDbzJ1dXIwWjJuNDlyaUZacElUeERQSlNLVWZrM3BIMW01Tk9Uemc0YVpXdDFNalhnZUc1TTgvb1hXbFBtbFRNTmhuU3Yra2VjRlU3TmxycmUxWm5JcFNxK3p5cHpTK09QOVh4MExkZ0orR082NExBU0xEbktVNTBFaThsRVJzLzBYUEV3YjUyMEJVT1RscGxyL0Z3dnY4V09YclRsODd3a2FwNjF5K3kvUE1CRDArci9wWHhNRlVxc2I1RnhiNU03MWZDZ1lCUkRzNVRIdkZTVWpKazVLczJjd2d2L2xnNE9HbVZCWi95d09FRm5VSHBrL1Z4aDBsWUY4TVpPNTNLYjV1RnAzUW1QM2FmZ3FQZ2R1eEllb0ZhMDkzL0FDczNHY0s0ZUNtWjBHcndUa2E5ZlFaK1dtVmJaTkp4Uk5ONThxWlFZbFhjZlM3WjRsSVdSZGFubndnN25uUnB6Q1pBczl1V3RkbHVRK0o2RXRZKzUwVlRwVVZYYW83ZFhmbGRNY3BwU0VPejRxV0VWbzBvZ0VmdjRPVmM5T2lMOERTbHNzQ0J2OU1OWENVNVQ4NW4weUN5VXlaYW1hU0tEWVFoeDVDUkdQN2w0ZW0xZTdTamduSGpqNGJQUlFyV3FKMUNYczl0Y1QvUXpHQ1ZRRTY4bEVDVkJCa3Q0ZU5iSTlIYWxNcktPVjZ3cnV5U0xiNkNBWEQ2dHhSUWhNT08zUVE2cHlkaDRTa3NoTU9hdGhnL29yblUrYU1Vb1ZSck5HQzEzQ2x5Q09NeStQZXhVa0xGUnhYSU9WNnc3aTZsVEtzc05LdEQ2OUZYZkNsNGRSazNDK0QwZVpDVzlXaVlSWXNLWnAzd3RGS0RoZkFheE14TTI4amZpajdrVWVwc09KZXZMYTVpQ0dWMGI2QlVLbWlTOFZJMGxXS3pZQ3g2THljNjVBNU9TbVdoMDRrTEZKSnljckhQSFNkbzdJMVlOWW9tMklHTHlIcUtMb1EzSUxVZkwwNi93cXJXMjZFZEdWck0rek5jdW9uR2RKVUZoSGwwL0RaOVFCTUZXMGcyS2Z1VXlzS0dWK29zME1QVExqZjcyNy9jY1VxbitRTnRPMXR4V2tyOXVOMTRWYzdIZXNjdGFrTFl3YzB0Q1NQQlFUeGJIMFc4RkYrRlJLZTJkTzBIL0hhZlV0bVJ4QWphdGV0S1ZkZWczY3hwSmFCdDk5aTlhd1ZzS3E3QkNHMGEwakVJb1JwY2h3TG8vL1NQcFU1WktzVnZ2SlFVekFRcGVLcXU4bTJlVEtrc1hCVW5uQjIwY0NnNFc1RC9xeDMzYk1xSk5saVNMNFJEaWk2eHhCeTFPQmZKK3NnUnNPaTVBM25EVGNWd1ZvdmpwYWpVQ2RNd2NMcktDd2NubmJMMHVoZkNvRjFOa2JiYVVIRDJMKzVwOXNSbVNDejdYMXlXSUNsNHVLVTBRWXYzV0U0WGtoMldEUDlONnJ6VTNXMkVnd1JjL2ZLU1N2SFhpejZ2dXZjRGVydVhEbzZWV0ZtNFA3bVJITFJMaW9NeEdZNno3OGljakttK3cwanpzeThZYXNwVVRSeFhocnpCcVkrQmVpaHFodjJ6ZTI5WXFjeVhmYjR0WVpERk1hbWtVbUxZK0lvQnJ3T2U1WEZ3NE1JV0ExU01zaTNSdllHTkdMMGRqczl6cFAvQUp6TDFxZFppTkhNb1dHa3BSQ0g5aDdhNXJ1QTVTRjlSQzNYcDFmaXVUS3NwQVl6MC9uWDg5SGtKcGVncmgrWENKSUdMak1mQlNhN3NTSEU1UE8yQ2ZzK09ZWmowaFBuL1J6RHkvVDk4SkJqNEN0aXBLS1QvVG5qS002aGU3djFHSmZLa1gvU2NoWjNBOWNFdkQrQ2FQankxa2trSms2N1BwNU41Ujd4b1IxN0tzR3lXV05tMlMwbEhiN1ZkMXhpMmJ2U3FWNkdVWEdpYnZDdjBGYjh3cC9SRDErMzFqbkk1MmVhcUR0ZXYreGFLaHVxNEpWWVdwbzZFOCtFTlQwR3Y3M09qdXZlOVhMcm1xUXh0YzIvNlZoWFVPc3JEVGRZRlZrMTJCa2lLbTVnc25rb0tUT2ZPeFE2VVM1bTJPNW15ZENTN3pIVVB0T3Z2b1V2QWNXTXFiVk9GRHRTN3dnNm9kRjB0elo2dXVWMENtSjVtNTJPeVprT1ppL1g0UW9tVnBhRk1rNnNFVjRpdlhaV1AybEN1RHNnbXRVL09xNjBxUVpkbTdpYXZHMFVwUGNtR09zcEZWU204ckNyakYrKzZRbUpsMWVVMVhidFdhNUtWYk01YVNNajV4Qk5QU2lLREtiRGliWmRkNHFVWnQwWllBbHhNNFcwTjFGRXVqTDZVL0pGc3E4ZkJTYTRzWFBUdW5VcmJMbldtU3JTcFlnUElJY2RRRUJuOHArNzlnZVFIbDVuclJjamNEQ2xvbStqd25sRXVBeXR6VmJxeXJSN0hMYm15TUlrdEFsa0lUNmw1Vno5STlWdHIwbDk2MUtYUldRYWJBZ2d4cVRKaExLanovME56MUx0Q0EwNVA4bk4xb29NYm5BKzdZVzlmTjhFMkg0KzY5QmE0Zy9PZk9wUWpoREkzNkQ4Y01jcENQeFVUTkh6MFhxZXpVU3RrM0tTMTRXakpHV1dXQWIrUGhsbVVUUFpkSW5NSk9zMmc4S1ZMTXdjbXVNdmRBSHlVTzd4aWdtMCtIbDA1NVhESUx1VjJrM0pNcml4MGI3SGl6ZWNwRG04REF4alVCV283MHc5UWQ4Q0l0Rm44b0g2ZE1nMHFzdFAvdzJ6NUthdkZCN2JlYm5vbXBtc01aQ0RTY3k3bENtdDdjbVdoTWNLdGhTNUx6VW5iUmQwUW1xYkhqa3ZBenFmdzIxSnUrbFE4YU9mZU1QS29BOWZLWlZhZkQyemRZUjUyWnVwQ2Q5cm5uTHJPcGJ6RlZ0NlNLd3Z1aDdqazRVSTRBR2IxSVIxNjVlQjlMS2JQektpY2hRczBVMnpGY0twRFc1UE41OFlJQTVoT0dBbWs5aURWYjdMVGFmNjJaSEJwTzY3TUJYWnpUS0dzZE9jQnFldlFHUHZJc21nSU9PUU42N2twbmxIK1gwME9Kbzd3WTBXOVBOckFWY3k3Uk05cDc2WVpkenFQU3M0eVBiL1F3QXAwT0RyL3VzTXdoYkoxY1QrbGZYTUlQaTF0RjNqRGJvVFRIbmNjbmxQOEFjM3VxdUxCSHpReWVBQWZEbC9mU1YxeUorVlVhU1duQWZ2TFRHU1YrYStOSzg1cENtVmJZbmF4QjBBQnN3dDBsTHRFSmtQR0Y1YWpSRmpPTThyL28vT1hOMVN4TkxZUm5wMmFuellORHVMUXFRTTQwdG0wODhLMVNNdklKRDNjRGZjY2Z1Q3pPcTJzbnpxbktaUUY4enRWVnNuOXpyVjZTSHY2R2pseU11SG4yTlRjcW1DWS9wOGl2cWRXZytZUkU2TUh3TGZyOEszZWRHN1F2RWVvb3FhUWJuUDN0UEhqTHUxUEZXNkxGTXFDaTN0Q0ZhKytBWldnbnc1MjZWbnRHZm9MeDVwdHhNTmt6TEw5VmtaZ3dodHEzUjVra01EckJsV0toT2thRzlOWHlNdk9Vazk3bUxCZW9XVEhiR1JjSWNNVzdhZVh4SWF6Rk1yMm5BM0M5QzJiTmVnTnZJZCtkckx2NkYzcGlnaXUwR2FFTTMvNXUrOXZVd3VTQno3MExVNTEvNk5PQm5ubHkrSFZFcFljc3h0UDl5R1liN2xzYlU4U1ZpdVdiSXVOUWZBVTVEbXFudk9rREpXWVF0a3RPdmZ6Ti9iWExPdXpFSW4rTFhPY0s3V3pmd1UyZjFvbmYxaHNBK0s0dDVuOW5OK21RMHg5T1g2dzZ5Nk9SVVQ1bWcxdlg2OThmM3hrTmVDcG81R0k2aUpxbEZIVUkxK3pOcjhOVm9GUHNPeHYyVU11TTQyeWYwMUkzNWtnaEVlTHIzS253ZHBxay9FdEc3NGhVRVlqVkJsZjdUOThxcHgzbmVlL24zNzIxbFhoaWNObFRMODFjK3VxUGVrb2hObVNmMHpnblFlMHphczJnSkQ3R3NtbWhML1dacHRNbVBmMkhCbmJySk5SbWpUSy91N0h4ei9mb1pWVy8yenk2L1NmSHBzL3VFa2Uvb1VUZGxMZTc1dWdPZU1TcGI3OEFmdmRQNlROVzNsdzhsSjV6WXlXdFBabjlydC96aUg1djl1dk5DWHRUQ29yMVF0SmZZWDhSNGllVE1RcElRSXd1MndFdHNpZGpnWDN0aGtaQk10dS9rTEtHNUZkYU5jNnViS1FyVnZLUnNGbjlUclE4QlVjZkJmSC9GVzJSclJtYUd2SzRnQXp2eTJCZWQyaG83MWNiWnJmeHFEbURnTFBFejZSWTA5L2pobE5ZZ2FCbXRoUjBmZE83NXJoamx5bWdBQ3NMZTB4c1dKbFlncEtvRWlqQ0R6dlBnYlRkdmZUR0JXQXpFcEhvTzV1T20xak1GTTYrb1VJaEtGWHJJdXdKWVZDcENEVE1oRTRMellkMExmcy9heE15U2lyS0FTcTdpWSsyTDg3OWMwVlJiVnl1ZmphN3V3UmJEcVloUTE4eXdWL0VhMkY3UXRpd0lXTlVXSVBUaEdTa0dkWkNNQWpQbXh2c3ZNMkZPeW5aZUZlcEp5ZWZPb0t0bnJpL2JSSXJNdmlEVHZoaDF3V1BKQWtodUd5cEtPY0FoQ0FleWpkQ2U4Y08vS1pXSjZEZi9PSUFJeTM3Z05JeC9LNXJIbHNDdXJNRVlBWkI5Y3Zna2hWekNnaFBuT01RRXZwbTEzZlkyeHozS3lsVmwyMVk5djNlTXhTQXpQSGpiZGxLQU5UZzJJaGRZNGJoS3JUUjB4UE9RelVCYjZNa013OUF2U0oways4bngwZmdIUno3bHVFRFlBbm16MEhJakwvQ01BMGczcTRMNU9ZLzVZdGJ3c2dsSEdmeVd2ZzFPQkNYQWhWWlpwaElGZG9GcUp0eTlxSXVueHZHdjArNUkxbHhXR1IyZzEyUE9EdGdWME83Z3JOSWpWeDZkb0NkaFRoS1gxZnc5SFNBYkI0RGFidnJOem56WUszSWFIYnV3QW1wdE5JSGQ0T1dLSEJaLzhYd0thd1g5dGRQWVd3NXU0Q05HbnBtd0QzVUhlbllGZStPM3pwY1psbkFPQ2xrTzRPSkZzT3cvUGNwS1hYSGFid3hUMFVicTI0YVhBUkxnaXdxWGpOS3JpOVlwL3ZJclJzZWRzQVk2OHc1Q0V1aUMvR2RRQTJ2YzFiTXNBWmg4V3dLY1F5d3FZMjNrNFh3NmF3WFlYYkZIcnNsY1ZvMDdLM0F1YnR1VTFoRm1sLzJkRllrUGJid3FZakhIb1h4S1R3Mm5ZMkh3Z2Q5cjJMMHFabGI4ZUl4eklRbmVMUXV5QVh3ekYvUXFZbHR5VXRTTXVXdHhucmJHNndZdU1PL0lXNUNPQUYyN1F0NStUeXpNSTBiWGtiMG5hK1J0WEZicnBBbDBDTDdpdmJrQ3R1QzlTMHBXM0tLdHhRVi90bGZvVmthYUV1citHL1NUL2U4MUo1OGxCU0NRamMxLytmUDFlQ21FVVM4ZjhEYjNobjlaRDdiYzBBQUFBQVNVVk9SSzVDWUlJPSIKfQo="/>
    </extobj>
    <extobj name="334E55B0-647D-440b-865C-3EC943EB4CBC-87">
      <extobjdata type="334E55B0-647D-440b-865C-3EC943EB4CBC" data="ewoJIkltZ1NldHRpbmdKc29uIiA6ICJ7XCJkcGlcIjpcIjYwMFwiLFwiZm9ybWF0XCI6XCJQTkdcIixcInRyYW5zcGFyZW50XCI6dHJ1ZSxcImF1dG9cIjpmYWxzZX0iLAoJIkxhdGV4IiA6ICJYRnNnWEdKbFoybHVlMkZzYVdkdVpXUjlDa2tLSmoxY2FXNTBYekJlWEdsdVpuUjVDbHgwYUdWMFlTQnpYbnN0WEhSb1pYUmhmV1ZlZXkxTGMxNTdMVngwYUdWMFlYMTlYQ3hrYzF4Y0NpWTlYR2x1ZEY5Y2FXNW1kSGxlTUFwY2RHaGxkR0ZjWm5KaFkzdDFmWHRMZldWZWV5MTFmUXBjYkdWbWRDZ3RYR1p5WVdON01YMTdYSFJvWlhSaGZVdGVlekV2WEhSb1pYUmhmUXAxWG5zdE1TOWNkR2hsZEdFdE1YMWNjbWxuYUhRcFpIVmNYQW9tUFMxTFhuc3hMMXgwYUdWMFlTMHhmUXBjYVc1MFgxeHBibVowZVY0d2RWNTdMVEV2WEhSb1pYUmhmV1ZlZXkxMWZWd3NaSFZjWEFvbVBVdGVlekV2WEhSb1pYUmhMVEY5Q2x4cGJuUmZNRjVjYVc1bWRIa2dkVjU3TFRFdlhIUm9aWFJoZldWZWV5MTFmVndzWkhVS1hHVnVaSHRoYkdsbmJtVmtmU0JjWFE9PSIsCgkiTGF0ZXhJbWdCYXNlNjQiIDogImlWQk9SdzBLR2dvQUFBQU5TVWhFVWdBQUJYRUFBQU50QkFNQUFBQWsreVhjQUFBQU1GQk1WRVgvLy84QUFBQUFBQUFBQUFBQUFBQUFBQUFBQUFBQUFBQUFBQUFBQUFBQUFBQUFBQUFBQUFBQUFBQUFBQUFBQUFBdjNhQjdBQUFBRDNSU1RsTUFSTy9kelJDWk1vbXJ1M1pVSW1iM3hXbXlBQUFBQ1hCSVdYTUFBQTdFQUFBT3hBR1ZLdzRiQUFBZ0FFbEVRVlI0QWV5OUM1QXN5VmtlV25QTzZaa3o1OHpMdXpkc2pHMTZkRlpZRnBhb3d4NEp2R3ZyMWxpN3VrWUlvdWV1ZHNGSXNlN2hJUUtNNVI0SnJoOFlSNDlCbDJ0dWhPbURGdUhReXoydzZHSVpVRS9JSVVzaVRQUUV1amFXQ0dJR3JiQ0pxMnRtREVZM3JBaGlEak9Idys1WjdlYjlNcXZ5VVZWWjNmWHNycDc1SzJLbXMvTHg1NTlmL2Zubm4zOW1aVG5PTksvbDN3blgzb2pjaDFQcGpoQ29Cd0pMNzJYcy9yL1F2SWo3UDlUM0ZDSUVhb25Bbk1mNDlhMlN1YmU3L1BiMFdON1RMeUZRVHdRNlhGQnhmWnZQM3BMTC90cGZhdnhlNjM0OXVTV3VDSUVBZ1d2c2hkOXlmbThBMGQwUk1RUDJpL3gzd1h1VHVLVi9oRUNORVBpYysrcGp5VTduL2lHQ0N5M0dYdUJSejdGWCtDblhTT242UU5ELytpRHdCWGFxN05nbHRpY1l1dzZsKzNySFdYYnZid2FNRHZ5RStyQk5uRngwQkpiZHM4T0Z2dEN3am5QNStRQ09BOGJPSE9memJFdkM4OFFkR2FKZlFxQVdDSHlldmVRNGMreTJZT1prTitCcENVcDMxL0VDZ1Via3lvdEJDdjBRQXZWQW9BVURZYm5GdmlLNGFSMUtwcUIwWDFpRThLcnJJUldpQUNGUUF3U3VzMVBIYVROMmwvUFMwUE13cm5SYnA1dWF3NDRTYWgxSElVSmdhZ2djTVpnQkhZZ3A1MkR1WmMzSEVIRi9yRytkNXJGeFEwRkNZTm9JOU5tZk9BNmNZSXlyMUpVLzFlek1JKzYydm5XTzlvd2JDaElDVTBaZ2dVL0VuQUdrbEROeUhaTTFkU0hTdkYzZFVpa1VJQVNtanNBMXh2WWRaeWg4WUJISmZTdTJLMnhxQnRzN09rd2hRbURhQ0J3SlpYdVpNV0VubU5hQ3c4MkZEYzBmV1FzYUN3cE5INEVPRSs2RTl6ekN6ZHpRRE0wNWdPUnFmNjV6c2o5OWJva0RRa0Fpd0pqaFRuQWM3UlZ6R3U0OWlPNld6T2dNRE10QlJWS0FFSmdPQWl1TXV4YjBaWWpuRmJaMXdwaGNEWFlXaE1OWDU2UVFJVEJOQks0d2R0T3MvMkJIM1EzdU9sZWhkR1hFRlgrUlRTVlRnQkNZSmdKdDB4NEFJNWVWUS9jYTN5dldaK3hld0Y0bkpPSFQ1Sm5xSmdRY0IvYkFtb25EM0ZsZ3pTNTdQTVRkQ3g4UjZmUGhmR1laQ2hNQ2swY0FxdzJCcUFaMTk5N2dCMDU4aVIwR3I2RE5lY3JnblR5VFZDTWhFRU1nV0lIUThmUCsxdkxQQkZPek9SZWkrL2YrNFgveURDZUR6a3doUW1CS0NHQkRtTFJqSlFjOTl2Zi8zRy8yMmRtMkg4RW5hZnlpM2JrU0lQcXRBd0tMTE5pWHE1bmhyNkJCRSsvTG1OK0Yxc1VCRElmeW5uNEpnUm9nc0JweDUzS1dsdC9qUGZSTGhxRE92Y2M3ZTR0eFh3TzJpWVVMajBBejRzNjk4SUFRQURPQ1FDZThCWGRHdUNZMkNRSFlzTWVFQWlFd2N3aGdXN2w0RldMbUdDZUdMemdDT0E4RXIwOWUrT3QvZUg5dDg4S0RNRnNBNElVSVkxdmpiUEZlSHJlL2YvYjlyVmVWUjQ0b1RRQUJPTVZvVVhjUnB2NjFVM0w3VFVEZXlxc0NUckVMdjNleDBjS3IrUTMrR2lsZHM0TkF6N0lRTVR2Y2w4UHBGZUZkYVpsdk9aZERtS2hVaUVDTHNmVUt5YzhFYWY4c3dENVpUVFB4dENTVGNJcnR5dkFGL1YzeDMyYnFHYStLWGxBa1pxblpjNURjdlZsaXVBSmVuL0JmVityUlczWVZnRnNaU2I2RGNhMHk2ck5CdU8vdnJPK1RYM3MybnBmUEpWNmZqTHdSTVV2Y2w4THJjbkNpeEVBY1RsVUtTU0pTUFFKdzUxNTBWVE1mSEZmSkQyaW5hMllRYU5JU1d0dDNyaXo3eHdmUHpKTzc2SXpDblR0OVo5RFNNMmMvTjcwSGNlSWZ0THBpSGtNMVBXNm81cFFJd0owNzlTVzBPZS9zMmRBeHZTbDVEN0l0c1ljZWYvenhXemZrQzU3ZTZVT3ZlK3pocmRSRSt1ejBCaTQzZkVaVjZ1S1VjVG9JWUlJMjlhV2ozdW0rMDh1LzdZZC8vVXBjV3dMQ2hubVRCbFNYY2NHRjVFNGRpRFRjVWg0ZkFiNDc5ODZVd1Zqa0orbjRDN0Q1T0duOGx3NWpmL1dmYmdhbHVZdjZtLzlEYWxJTGdYM2JEWjlSbGJvOFpad0tBbHhmYlV5bFpsMXBuNStrczFSb0RickorTm5Wd1FXbEs3NzJLdS8xNy9LZkNWMS9TYVRNQlMvdDl5Nzhpb3dHYWdaQzJKMHJ6Y05wY2Jzb0RweHVGTEl5aC82SEF2d21YR0YvSzZFdEVQRFFKYlQwU2xDemQ5SDkyZ21nMVRRYTdseXhUMnFLN0ozNHVzNHRzdlk2TUhiSEwzdWgwNERObGowWGt0dkFTcmp1SDlXK0hEc3Z4U3hKNGJvaDBNV3ozSjRxVTh2QkFrQ3J5QXFXZWY3T2lmcE1jYnAyWGZmMzI4eUhEeEZPVjVaeVRRMkJJU1IzYXBXTGlpOEhLMWlEQWowSTgwejExYmEzWlIxRGx2d3BhcHZNM09rS1FzYmFCN0hqOERJU0tKeTlGOHdRQjhZY0t5dFJ6RFB2QkdYbTNHL0xXSHJCTDl1aHRkK013RTAzdXh2NmdNa1VlSUVqWUY5VXl6ODluUGZDUEhNaktOdkp2aUlvSkhlQnZUWnY3VlJ1Q2dnc3cxaVk3Z21OODNLZmk2dk85TStPQSthWk8zNnA1K1Q1a3htSURQZ1o3Vys5OEhzOU15QldnNno0dU1tVUYzL0ZKNGM1RWtYT2lPcktQY1lyZVJhUm0vd1Exc0hVMThCcklBNHp4QUpPSUozeW1tYy9xQjlXdzFadTRJYkJOTE14ZUUwT0dvczQ0K2NMcDlQMXNPUmcrMklYdVFUSmxYT2JxU0FCZ2QwUUZjTTlzSk9iZzBIZ21uM2cvbVllR3YyLzhxdnNmWGtLVXBtcElYQUV5ZDJZV3Uyb0dGNkJZMUUvQXZsbmFLNi9VelA0U2tDa1BaOTk0K21iMXlKeDRkdWxuNy83em5BTTNkVWRnUk5JN3RZMG1jVEhoZzlGL2JCYjl2TXlFcmh6Rnp6bDFEVW85ZGlqSC9Dd0dZMnVjNFZBQjVKN1hFS0xscDQ1L2VaY1pMcnlYU0tJOEdqRk9JSjg0TTRkK3N1NDRZeHZaZS9BRWV3ZG0weUhNNDY5KzQ2LytLa1B2REg2UlkyeHBTNXloZ2ZZNlVPMytOYnBoMTMydFNVRDRVRnl0NHZUWEhHWngvSk1qcHlPM0MzUUx2QWlwKy9PZlJzTHJGMnpQUTFQK0F5dUZsOW00SitGbTdiejIyelpESVM1WHBUWG41VE1MNmRibk9TeWQzcU1yN0lmNTZEa1NhZGNVeXJmSEVRd3o5eHhsbHkwSmFhMkYzM3IrZjhwZmtRd244eEdQdTJkZzlVTFZlUWZmZDhIV2dLMVI5Ly9nL3ZsdHB6dndTNnVqU0MwK0VibG5ONDZrSjVKdUJiVTlVTDZZcEdjUjF4a095ODJMYlBOcG1oZXd5MCtzc3g5NmlmUk4xNktWRTIzb3hFQThvejk3NlB6NUVtRmdWakNhNFBYL1MyR3JSeHZ2K05iYk9wSzNKczR0bVVuR0RoKzZPd1FSa1BNbk8yTC9vQnF4aEpKa1FGcWR6MUZOc3BpSU5BdlE4SU1la0dRN3l0L01SNmRNV2JvbTk4bk9jd0ZuTER6anFmNDlUU3pUYTlTTXRKbmQ2L0RSUUlYUTJ5UHI3L3JkMEZhMHlrSkptU0Q1TjVPU0tMb0JBUmdMc1RVU1VMV0xOSGNkaXRNRnl2SVlwTFh6YUdRY01MT3ZtQVlXbkU5QytlaHZDNTdvZlVLeEF4aWhpNnNrVDJlOWM4ZTgvOUZyM1k1anBpaWJNeFVlVWpZblFvWVBnTGR3cFpiTTFEYnF6bTA1cXJoenQzSjIwQytiVWdzbm5YamhpN1U4Q2Z6MG8yVk81RGN4bElvSWdFQlBwUGFUVWdyRW8xSFViaEh3QWEvS1hpNGxEd2tMM21vS0h5ZEhmSkNxOUtqQU8wdkloSmE4NWx3WVg3M0JwV1ZieHM2NW5jV1E3ZUZ0THZmcGJJV0MzUWt0OFhJWEtUUy9NREZ2UW9hM0FQZGpZSjBJUzVyZ3NUbFpEY0YzOWdUdlVSNzJ2TDlzVzdjUkRYNTZrZExtL1k1cVB0N2F5MkdMdStialAwVmsxYitzRmZDZERaLzdUTlpraCs0dUYwQjUxd2piUldrZXlBZko1aE1Jclh3N0szbzljZ216OXoxTnh3NFRvK05kQzM4U0xUNHJWdDZpd3owOVk1ZmMxK2F6ZjR0L2dlZmlkY0tXcVZrRDhCb0hzbGtkb3JudjhRcUpLeUtWb0pzRG9kQWlCTVlDNEdsRE1uTjNMdWFjaUhDS3pCQk81SmEzMEhvWm9nN3gvbDkza1oyS3ZwSkpDbnJMV2FSUVZPemxyeTQrWnZWSExpSTBUV0h0SVVmQTRicVhUOEdrbnNjVGh0L2R4RE02akRKMmh1Zk95SEhpVm80QmpOaXNkZk0rRlUvejF1NVkwYmxER1A5ZHoxbjBRdGJyR2VhZGVXaHdLYzJSWS9IT0ZDeWp6MHptYVd2R1dpeCtTSnpuNzR5c05FQkxFdUN2emNvUitUUXdOdmxnWDh4S0xXSytPbVRJZUlUcHh3TFh5R0NycHhqT1hpd082R2tGRGZkNEpDRDFTSVdwS3VkR3YyWW9jdVpXUEFLZTFBNG1YYU9RWVdYdThnWEpPeE9CZTJIckNtNXkwa2VhbHN1WmF6bW1PMjFnM1lOWS9acGVuNmdhSldKY0JRMmRILzQ3cWFnSTZ0SlQ5U1dFOFBMb1MyZTRoSVJxTXFkQ3lVaTUvYUpkWTlKd0x4K1BjZ0NhcGtIMDFWZmNqRnIzeDVUVVhJeU9vL2FRZ2RUVkVreHR1WEt2clJZb0dQb2lzbWRxN0ZJR2FyS25kdUU1Qm9QT2lVM29Xd24ya1RvcXJsYUtNZklteXUrME0yekFyc25ZUFBjbEpXZ0N4aUdMbEw4dnJUSXRtU09Bci9renMwTUhtYnRCWFJTY25VOTBDM281L0gwQ0lyQk5MUE92ZTdYMzJVYnlWeU9TNEhhMzFKNU9xWXRDbXZvV0tSY0tnTSs5SW9DL1V0eGVLRUNxNUN3S2hvOEFOMDdoUWpEeGFtMlovVk1DVXBKZGRtZm1YbjhCTjI4MTVFNUsyc2JDaGh6eHVEbG0ySCt2YithSzdTVkh5bENWd1lFbW9VblV2YktJTGg2b0xWbkdSTUxyYWIwRVByQnpwanM4ZVFCbHkxeGFIazhMV1hNMFBUc2dhSG5WYm41NE1DYmhWTGVnb0lOWGF5Yks3NHVUZ0RhVE1sSGlhM0dCQ2JIQUI5aW9Hdm9JUkRiMDRtTi8vRXNlK1gvb2U4VFFrZmNuOXl4cWR6bFQ3L3g5QnZYRW9ycDZLZi9DZXI5NU84RUVkOEJxTmhQSHdaM0MwRlhPaWg0RE1obkg3NzcwdzczK3UzcWVwMlVEVFJLWE1CZ3k1Q1BFcHN2RmlJTVljdEJHb0t5SGhUai9XQmZrVmdZTUhhTHNXOVFFUW1CNjVDR0o5bWI0cWwvMjJONEsvTnNuT2dDR25INXJqbStVNTVmMndHOWs3dTgvRmV6YjR2VFR4L1QrRGc3OWZDK1VqdlVNOU0yTUgwOTV6RW5uc1dkQ3RvbDNtWWRKeHFqNjNXMTB1YjlRRW9NMzBIenk1dk84aCtNdHg5T1RwK3hEU2pmenRqSERwMHZqbDJnNEYrUWV2eXhoOTFYQ1Q2dnNCdTM4SGtwcGNMblBQWXRlSW52NjBjM1lrenFrTjA3ZEI0ODJ6d3cyNWUrZ1dPb24rdmtxdHk1R1A1TUV6RUhobnpqdzM1UWp2ZURUVW5qU2ZaTklqZ2NhK1VzZjgvcFcxUXhXWnh2OFJMZmVuaXIwUmxVWW9iQXd2LzV4dE52R1crempLTDROaWFzNWNGR3g1d21wMi9nS05yblBhMHFkKzRxWkszWTRxOHByWERkYVZkcUsxaThXdEhDbk9VcE5WcUJIbDRvNGk3TFVtTmkzam5YWitIeXk1NjUzbGl3Z1luVm5hK0VxdHk1VFVpdThtbmxnZ3l1VkVVQS9VRDVuaGJWWkw2MWw0ZndBMHFWOXd2Nm0vUFVIaXJUREZySUJ6NDlnQlJ0WUtpSzgzdkRkYU85ZFkxM2hiN3ZaZDRjMmt1WXNVUFExUzRrTXlWdHVHa1E2QnI3cnB2U3kvQmpvZWw0V3JLUUVybTBONVNCdEdWTHpnZDc2UFUrU2MrY0poZHNZTWxNMXBZYzVPTytuYmtuV09LbDlZTzlLR0lIS0Z4TU1IclF1ZThQcnBieFpGdUJrWUM1L2taaTlja0pYYVptZGdmRkdFeXVJMlVLV0ZuenN3N05hWExCQnFhc2ZPYXpRVDRTNUxESkVxOEVXVGZCY0ZHNDJHQU1hVFd2T3dIMUJXbnhOclhyd2F4NFRIaloxVGJJVU81RUcxT21xbVM5VjZGcnVITUxOckFxWm10SDE5Um1ZZVlXdWZEWnI3R2VWQWZyOEtZYUNWTk9keGVwZWlNb05TL0hpSjdjT0pDT1hKQUwxck5hWmgzSTNwQ0pRbW1aTVFXVmh4QzJEWGR1d1FhV3hsN2RDUlVXTUhzRCtad2oxMkN1eUhHbjJGNXd4Nm50Qk9ITFVtY2VTT1dyaXFRSlFONXZCL21XVlNoTndmTHpOSFdqRU55V0ZSUnNvQ1J6M24rNVRPeFcwRWgrcUJqYktrTFlYSHpncnJ2RGdOaXFERjY5OFk3czlQbGluS1IwUlV0TGRrSWxsTUNZSmxsQmYxSUVpelZRa1RudmdhcmN1V0twOUxnSWV2eHRJRmtleXhyS25Zc0h1eUhqcy8rQ0wrbHFhNGdOT2RsSmxGVUNuVnZORjFvNmlBTk9palN3TE81cVQ2Y3FkeTdNU1dNQXpBTURwRlhLR0YvVlY5TklVRDc5UkI2Q29reFhVM3Fna3NFbVBXZG9pUEp0YUs0Y3AxZ0QwOWMvNHpuUndaVm1LN01wa0xXQ2hNR1o4Z2VmR0g0SzN0ZllONi9sWkxZdjM4NXAvRnROUGlldGdzWFFxRHNCQ2Roc2F0cm9GR3RnUWFabXAzalRHTExLNUJwMHRjck1SZmhJdno3cDlJMEJWRmpRa04zdFhGVEIxb2JqUFBXdUwyRzVOUitGWE5YYUNubTZVYkRacEJDTEx3cUJ5N3dOdE5WMEx1TjY1amhWWWd1SHdMN1lCenVhVWp1Q0s5ZHdnT0hjRzNHSlBZWlpPUll1RDcvOEx4MW1MVnh1ZnROM0FqVzdxNmdYYXFDaWN1NERMWE9jS3JHMWZZakh5NFhvSGVqZHVmd2hieXBpVGR6eFMxbStLbVY4Z08vaXVYWHJkUi85dm44L1pibjFWYXRrWWxYN3g5Q0dKbThkcmp3TkhBL0JlY2tCZ081VTBSWVBoTFhwbHFlR0U2MkhJRytHL3NZR0svL2F5VTZXMjVEWlMxVlNBcXlvdlhSTnRRek1xeXJTd0VwWXJTTlJyczEySzJDc2hDVzBvZFpEbUcyclF3L0E3UFZBZEhPczNZS1NjbGhVME93c0pOdkc5cmRldUQ4VmFHQVdEbVk2TDUvdTdGWFFBbUZQM2l4RUdFL3pPQ0RRakN4cUxIMFAyRFpjdk9ucldRMXA3L1RsS3NpSlJpbHpxaFhwVC9rYldBR2o5U1RKRnd5MksyQ3QrQklhM21pUkc2bTRhK0V3ek9ULyttTmdYS1dIMDBiZHRRMXhHWlZ2QW1rbjJwekNDS1VjZ0VITmVSczRBY2JyVVFWMFVMTGRWMkIvTGw4QVV5b3pYMU9IU2x6eFlOVzJja1hycTFIQmxycExHempTNHBLMlNGWDUwTDQ3QVcyTVVISExKMThEcStLMmRuUzdJOXk1UmZibllnR3NxRExIa3czZ2dyZnpwVGh5U04rTng0NkpPZExpTWlabjVjbWRCSGV1cWpoWEExWHA4eDRBT29tK2x5Wkx2TzZQdzRYcmNpbDQ0L0ltcEI4b0FwaFdiYWxNLzFDR29OWTNaRGoxYjF1NzJsS1hxU2hqWDdjS2JvWU4xUExuTjNsVnhScklLVnlJYXpCaTlDeXlQN2NMd1ZWN1pQSWhDUkpCd2FGMkh6a256SCtGSE9mVzV0RzU2RkUzODdGVGVxbU9uaHUzZlRkS2F4dVZGR3hnNld6V2xTQUVUQnBicGJKNEFzS0dDellQYlR6T29KaXJyVURNL0pSWFMzdk4wcE9IRmJPUlBuZWxPWHQ2SW5BZ0pwc04zdDZpRGF5VTVSb1JyOHFkNjBDaGFKOVB2Z2JEUnZBTDRtRnVTUkpIb0N2RGVYd0xXTk13ZGU0WDFpU3h5ZjhPTmY5QUMvVXZjUnVzYUFNbjM0N3AxTWlkVjN0VlZOMEM0V0pMYVB6TGVadUN0YmJ4OFpzVGJZUXNHelpFNmlaZ3Uvb2RuYm5oVmRKNFhjR29VRmRQWWYxWDR4YjVqS05vQTBmVmVKN1NxbkxuT2hCY1UwVHlZSVplZFNqSzliV3h3SFc1bkZFdXFWQUc2bkN3R2F0eGJ5MW9pbWVvT0o1MVZSMzdFQ3h1WCtJT2xLSU5qTmR6UG1PQW5ocDh5MnloT01oeG94aEYwTmptRkdEUmFNM1kxM2JxRmZYNllaWjZPa1kzYUxUOHIwdG1LVjllWHZoR2puMXFKMzUzYks3anRuQURmWkxuL24vVG1QQ1UyVmljWTV4bi9oUm1vZVUvMlNmTVpZZ2UrK3N5MDRFNmRFekdwUGs5TXFqOTBLbXYxTk9VS3o4UGV1UnRRWldEeGRlQit6djRWN2lCZ3VUNS85Y3Y3QUd3WThUZmJzc2xXQ2E1QTMrbFlXQXVPSFQ1aUNxdTVYeStDOWdnbXdHRkZkdjVwRUhhSkg1YWdUM1ZmTG5EOEZwUFF4aEhoUnM0Q2M2blg4ZmJJVjlqRnhYeXNDa1dmNldFNUNIQXkxd1JUM2JlVUpMNDRIbHdHSjdqdkZzN0hESlYwSkt2cXMrMUNycnRNbFZyeVh6RTVkVnhWdGhlbCt2Y3ErSkpGRytncGFiekZUWDNxUi80QmE0WjJkMlBmdit2bGQwMHZ2aXJOcC9tSmI0Z3BtQWR0bU1RYUhqQklTWGZIdHVqWXVRYUZYd3lLTGcwQ0U3TEg1VzUwclFsMzJmU2Z4bHVGT3pMOExWdDhRWld5bk1kaUxlNTFBWlhmRDlMUVE3NXpLKzRNbS9DMEgyUXZTYkV5OXZZVzdZeHNuNlczY1ZQcm12QS9pYW1mWjkyejQ1ekZTK3gwQUZPWFYvK01aeWMzdkRZMnBLN0owZ1hiMkNKSE5hUzFCUHM5TVl0bk1oOTY0WWJFWTRTMk8xQ2NxWDNLais1T1E4SDBkK0xHQjMvTjJNUFBZeCtzWitYN3BMSFRrSGdoYlc4QkVvcnQ5eGlaNzdqNUczczFKVjRGVzVnYWZ4ZFJFTHc4eGplcDl3SXJEeDc5ckdJNERyT0Y1OXhUNy9sNytXbUNYMzdIdS9zelo4c1FLQzBvZ3ZmNjM3ZEh3cHFmN2IxeUxZa1c3aUJraEQ5WmtlZ0E4bTlrNzBZbFNBRXBvekFBSko3YzhvOFVQV0VRSFlFWEVqdVZ2WmlWSUlRbUM0QzRzM2Y0K255UUxVVEF0a1JFRy8rcWhsSDl2SlVnaENZRGdKODgyUWxPM21tMHh5cTljSWd3QmQvMWFzTEY2YlYxTkRaUjRBdi9qNC8rODJnRmx3NEJGWWh1ZkVEQkM0Y0ROVGdtVVBnQ0pKcnZIb3djL3dUd3hjVmdRTklMaTFFWE5TblA4dnQ3a0Z5dDJhNUFjVDdCVVZnQU1uZHY2QnRwMmJQTWdJdUpQZHdsaHRBdkY5UUJDQzRoZCtJdUtEUVViT25pUUEvT2FmMDF5eW0yU0NxKzRJZ3dMOTdxbzdqdmlCdHBtYWVCd1Q0QjNBS0hzMTBIbUNnTnN3Y0FqZ09sdDZJbUxtblJneUxEOWVhcDNzUUpJVEFqQ0RRaHM3ZG14RmVpVTFDUUNQUWhPU3U2VnNLRVFJemdzQVFranNqckJLYmhJQ0JRSi8ybFJ0b1VIQjJFUEJvWC9uc1BDemkxRUFBeG9JNHBkQ0lvaUFoVUg4RStJSGx0Sys4L3MrSk9Jd2l3TS9ncG4zbFVWVG92djRJOEFQTHQrclBKbkZJQ0VRUTRJdS8rNUU0dWlVRTZvL0FLaVIzcy81c0VvZUVRQVNCSTNMblJoQ2gyOWxBNElUY3ViUHhvSWpMQ0FJZE9pWWtnZ2pkemdZQ0xkcWRPeHNQaXJpTUlJQUoya1lraW00Smdmb2p3TitmM05Gc052N0h3MmYvRisxNTFJQlFxSzRJOFBjbnRhUTJPdXlWUDhOTzkrcktMZkZGQ0VnRStQdVRNdXc0RDdCdmRad2w3K3hRUjFHSUVLZ2xBamc4VjM5K2NzNC9SM2VSM2dXdTViTWlwa3dFc0lRbVA2Zm9PRWZCRG9iK0tTbGRFeVFLMXhDQnJubllRdXQwVTdEWUpuZEREUjhWc1JSQ1lHaTRjd05qd1hHdTBobm1JWkRvcG9ZSTlKaytiT0VLZThubmNJRytlRkxEUjBVc2hSRHdHRHVXRVUxMTFvM3BLWk9wOUVzSTFBZ0IvdjFKMzdZRlV4MWwzclpvczNtTkhoS3hZa0VBMzUvVW4wTHoyTzBnUzU5ZThMR0FSVkUxUWdEdjhpaW5HTjZsM0FsWTYwaUx0MGFzRWl1RWdJRUFGaUtDV1JuV3p2VDVZa042a2QwQWlZSTFSS0J0dlBnTC9Yc2NzRGpVbXJpR1RCTkxoSUJ6WUx6NGkrLy9IZ2VRbk5ENSt5UWM5VVlBYjBSc1N3N3hGdkIrRUQ0eDVtMHltWDRKZ1JvaDRMSXp4UTFzM3YzZzVzU0lWdWtVSUFScWd3RDJsZXVQbXhpU2UwQ1NXNXRuUkl6WUVNRHVYSDJtMkNXOWNuWkFYMGl6d1VWeHRVRUF3aW9YSHh3SEd4N1hBczVJY212emlJZ1JLd0pOTGF3a3VWYUVLTEtlQ0hSTWV4WUtlRDlnazNSdVBaOFhjZldQSHowV0lMam1XbGxJY3JYTGdkQWlCR3FEQU5aNVgrRE00SGRETTJYNEZzaWZxMkdoVUkwUXdGeE1UTWF3OWlEblpPQ09WaUpxOUlpSUZTc0NYVWp1RGxLYW9hV3lhN1Q2YTBXTEl1dURBSFlyaUszanJkRHI2YUVkTjgvWGgxdmloQkNRQ0hDZGV5ek0zQjBaaFY4Y2R5TnZlK2JNemNoQ1FVSmdxZ2pBaThCOUIwK0VqQVVIUzhGYkFWdTBzM3lxejRjcVQwTGdPbU1mUWRxQXZUNlV3MVd2QVEvWWVpaUZiZ2lCZWlEUWVoWDR1TVlpUjlub3Q4OWNwWDNyd1M5eFFRajRDRHpKM3Vrc2VPeE5ZVHdPNkszMU1DQjBWejhFZXV6TVpWOGY0ZXV5UE5wbXpsd1VqbVNpVzBKZ21nZzBmdFU5KzFDVWdSVjJ6NDlhSk5kQ0ZCdTZyelVDWG5CcXlCRWR0MURyNTBUTVJSSG9CczZGbG40NUxacUY3Z21CR2lLdzVHL0VJV09oaHMrR1dCcUp3Syt6djRHMU5PL1UySWN6TWo4bEVnTDFRS0RSeHhkT1hQYStlbkJEWEJBQ3FSRm9mUHJoMDBmK01IVjJ5a2dJRUFLRUFDRkFDQkFDaEFBaFFBZ1FBb1FBSVVBSUVBS0VBQ0ZBQ0JBQ2hBQWhRQWdRQW9RQUlVQUlFQUtFQUNGQUNCQUNoQUFoUUFnUUFvUUFJVUFJRUFLRUFDRkFDQkFDaEFBaFFBZ1FBb1FBSVVBSUVBS0VBQ0ZBQ0JBQ2hBQWhRQWdRQW9RQUlVQUlqRWJnN3p6alB2cGRvN05RS2lGUVB3UytuWjIrdWNYK2F2MFlJNDRJZ1ZFSXpMbDM5eDNuTSt3Tm96SlJHaUZRT3dTYS92ZDYrblM2WSswZURURTBDb0hsNEREb1JmYmFVZGtvalJDb0dRSlgyTmNLamhyaEQxRFZqRXRpaHhDSUloQVlDNDdUTTc4UUhNMUY5NFJBM1JCb3NVT2ZwYTc1VmZhNmNVbjhFQUlSQk9ZWUMySlc1WGQ3SWpub2xoQ29Jd0x6eXJ5OUlyL2JVMGMyaVNkQ0lJTEFaZi9ERVloZHBFK2tSYkNoMnpvamNNU2VEOWliWjlMaXJUTy94QnNoNENOd3dGNE1vTUJIcnZkbkVKVVY5K1lNY2owOWxyM1hUSy91VW12dXNaY0RlcERjdlZKSlQ0WllUMzArZmpMMXpYb3RnNWw4eWhiVSswcHlWeGk3YmNsUTg2aXJhb1paYzBicnd0NFZaUjdXaGFPY2ZMVFVCNEFodVJzNWlVeXhXRzhXbVo0aVhrN0RZMXZUckwrMHVqMVRjbWZQWW9SVGI3TTBMQzRHb1NmT2lmZFRTKzRTbThHdldIZlk2eStHdkpYWHltVjNGcTNDZVB0ZHRYSUd5VjJQcDljN1pwNmRIdGFid3hweTE1MWxwZnM1OTlYSFBxWnNwaVYzeVA2MGhxSlJjNWF3NEw5VGN4WVQyZnNDTzJXbnh5SjVwaVVYdzhSK1lpTXBJUW1CQStWUFNzcFIxL2hsOSt4d29mK0NZTTlWTTdRWnRCYWFhaGtsRzlUdnZ0aWI2Sy9PYklmL1BIdkpjZVo4T3owa3VUUG1XMWpPNllHZVU3MDFtOENmbTl3RExnQ3plTFd3akxJY09ISzFiMkgyL0xsUDVOc2oxT2hjZE1rRmNEUHBTN3pPVGgybnpmekZwMENBMFFGblQzSUh1ZVpualkreml5NjVDMncybDh5UHVIWFlZZjZXOG9HeTFtZHU5UmZtMm5IMkllLzNCbWo1VjdLWE8xY2xUbVp6Q2JqUC9zUnhXbmgrM0JVYTJuR3pNMU9QcDhuOFNXWUdwdi9qMy9YUWJwTGNhMndXWHpyMGh3cXVlZmdqMTcxdjFtYWNEVGY3bWg4ZmFmN0tGMGh5TWJmMTMvak8wT3VubnhYOWJkOXhoc3lmM3VnRmxWbmJXWDRsaDk3NDdsdi95Ly9ub09CRnR4YWdzTzVQWHhLemNuQWtsTzFsNWs5dkxxa21YT01UdHhtNmh0bU5CYjkxSkxtT0EvVjFQRVBQMm1lMTQ4dnFleDRSSy83NjdiTkxzN1djblgvQUk4bDFISmhhcytmU1pjcWJ3Q1VaSzJkQjM1dXh0OVloZjhjQjV4bC9TSElCMk1uczdjaUg4d3V1QlgxNWNwYlp6RDdoMFZRbUh4cm1ocDRrRjA4TDF1THg1Qjlhb1JyeDNFS0x2Q2R5aTN4L3BuYXZ3RmpJTzl5UjVFS0FzR0VzcE1BS3lkUmtDcmVaRkZXL3ZzdEJDNWJ6TGFWT2h1bDRMUkMvblhoc3FoaVNYQTdUSU84RU54WEdWV1E2aVRpVEZnTG53cFZjUzZsVmNKaUs1a0YrVHdoSkxrY1lMcWExVkVqWEpoT1dJRFpEekJ6NG04Wm15MWh3M05BOE05U2djVGNrdVJ3aHVPOURWdU00MUthZkhxeEFhRWFXM0xOOXgva0Q5Z29kVmY4UUZ2elc4M0pKa3N1UmcxOU1uclNSRjhqSmxvTVg3RjZreHUvRUYwN2V5RjRJYStKSW5ycmR3bG8venNzVFNhNUFicGpmM3NxTGZLRnlpNWFsejdjLzR6NzByM0lKN3BmZFY2OFZZaWR2NFg0QjJFbHlCZXFYOHM5eDh6NjFRdVZXeS9TRy9EQzdZY3hRZjM5eVJ4OWcxMUQrb1k0a1YwZ1FUdU9hS2I5WXMwVERmSTY5RTJzeFcwRlBnaDBpZzBGTWRUOVlkbC9QVFowazE0Zk9OYlJPYmpBblZ4RDcvRzZYVlZ2M0s0NnpxcHhwRUlqU0tJL2pzRnZrOUQ2U1hCL2UzbXdkTytzV21OcEU1S25oSHZOVlJMbGRyc2lrS1VKNTdPMmdnSmxMdXh3RGVQSEF0c1lpWFpzTU1CQkxPOTk1a2N2c3FwS2hBemF4YndHaUZmTFUzeHpJa3M3MVFZTkhkNFlNWFpqbHBlM0M3ZktOQTBkcVlRTjJTQTR4eWxVRURwSTd1UXFLUWlTNVBuYlkraEYxa09ZSHRmS1NtTnJJMGIxd1hZTWRrSUNtRFFoNXVUZHZaZVlFM2JhSTJYOEFBQ0FBU1VSQlZHVXJjeUZWZ0NRM2dHS2d0STdDcHI2QlZjYWVMNG03QmJHSzNKRTZ2RkVlNWJFTVFyMXZqODJVbUlFa040Q21XV1NlbXdodlJRbGdGZzZCVXE1NW9ieGRxY1BoRlB2alV1aW1JQkpid1U1UlJtY2h5UTJ3d0I3ZGRRMUx6VU85OHF6eVZkNEZzTTB6NkFuWVNWREE5c3dFR3piSEY1aWdrVzlCZ28xSlQxbHFUSktzN3JkVlhqZnJja0hWY3lWb3NvM3ErQTVSaHE0b01pa21uUnVnQ1FQdmJnallPdDh3eG5aTDRxKzNCVUt3bS9rUExvUjJSS0Q2ZnpCNWRndlVRcElyd1JzVW1pOUlLaFA1eGVCZTJrZUZ2dm9RTEIrby9ja1FwN1dKdElGdjV5OVVGVW11ZkU0blN1L0ltTnIrd2hndDlOQmpEZE43dG5vVGM3RmdrQ3Zra3liSmxZOXh0VHpiVVpLczZoY1BMZkpHUk1HYXRETzdOVEdiQ1JPMFFwNjlTaVQzYUNLSFNTK1grMWtNMjViWGdnSlJWWEYwc2tMcUtzcVg0UW9yS0U1UnlpUHVJWG1Gdmc1UmllUjJKakpMbnkvMy9Xd1lqNld0UzQxNFlHVWt3Umd0bFZXOTJ4QWdUTXFkZTFSd2pLdENjaHNoYjhkbnZVZXJzZm5iNW9pNTlNelp6eFVVQ3Jma0liZ2dPeU9Ld3hndE5OQkdTYmVWaVQ5QmR5NGFzUlZsSk10OUZaSzdZdTd3ZkpBOTZtVStJRFZWQzA0TXNuUGUyYk5tcmFrSVJESjF5dHM1R0tGYzltMnJaTi96aVhLclFCdzJ5dVkyZ1o3SGlvMlpCU1czMGJMbzA4dkdjdlJWOWhybmFpRy9IVy80azdZaHpEUE1wTjdwdnROTE40SmFhZkZLRGliMzFIaDFCUzZXLzJRWWE2MTZuK3pxeE55NTJPSWtOL2xZZVJvYldWQnlIN1Q1RmJ0bnV0bysvd2hESy8vYlJvTFNuR2RaSmx3d1hqUmY1Ri9mdkpMcVBWSXJMVkVMbmxxUk5SM2Q1cXBEZkhmdW5USXIwYTZGWnNudXRtUXVzV2FaVHRNa2tTZ211Wit6ZXNUN1dsQ0ZTRGtIeFdiQ1N3UGJBdmVpSWFpaWZ5eWwyWGhncHlYUUFSU2E4U1M4NmhDUGgxN3FtSTZlSUtmVXZZS0tNRDA4aGRFdUlMbFBmODEzQThLOUdMTU5ReUgwaGVIUU5vUXNsbjFNUk9PM3YrUmF0MmEwOVdDektQd3JqYkdDbDBoTDhGQllDNHhwU1duSmNBVVVtOXhFT0VIRDVXQXpPWGR1dTZqRmsxOXk0Zjlrajlnazk3cUdkY1ZYbHBjS3FJZys5c0wxYlRwM3FIZUNuL2o5eHgyMzhTQ1JsbmlVZkJDT1BOTjYzc0tzS2FBSzRtMUNUN2daeFBwT2krdGI4VXhseDV6b1N2T1JMaUM1Tng3NUpCNTJYT2NhRTdRakg1SXJoaGJPeXVaN0gvcmdkdGNtdVhxQ0pzOHZiSTBUdkVSYVBsUFE3ZnRaMlp0Ry9pNGtkN3ZFaXJGcDY3WlBMbkRudHRkTHBKNUFhc0FLYnUzSkw3bWNJNnZrTnJYcTgvemw5V3ZGVmtzY20rVE9hVDErT2ZDZUQ5SThUeHV0QU54K3VZTnd3aU1ySGoyRTVCYW5vaW5vWTFJQ3UrRmdWeWRXRlVJYjFnclJya0J5OVFUdGFyQUlmazNOQVBMeGFwTTJZNExXQzRSNGtFWmwybWdGWEJVZXdQSzFMbk1wcUN2RGU1TzVlS3pBcWpJK0FydWhFeDlJWTRVS1JuRFRiTE1RamZJbDE1aWd0UU9KdldJYjdUT3diWk0yUFVIRHBxTjlRWXgvQ0hmc1phTVZGR3JybWNwWU10UE00REwyUXBuMVEzTDNmWG9JM1ViSTJ5NlR2SlVXdEh2QjNsZSs1Qm9UdEU1ZytWOWl6MXZaVHh0cGt6WTlRWnVYR0xocExDY2JyWUFQMkh2U081U1dzMm5rNHo1OGkzODdQeXV3RnRiODBnZGkzckpjekltWmloSElYY0hlVjc3a1hsSm5XQUJpWHdtdUZ1VFNKbTN1U3hLaEkva2MxVVJEcHRoK2JiU0NmUENXYUgrRnJXdzk0ckE5c053ZUJoblk5NXZtaWREVmdqS1ZCaVpvOTRMT2MzQmRnSUp0aHFZbmFKQ0VROUdLZGtHSnNFaWJNVUhyTTErSVlUVnNqUWZOUWtzV0tqNkNTVXFWL25KM3BPcTJaZFNFYlRhK2h1R1V0eDNua20ydHZZeUtEQnJOZ25zY3hXZHBDb3c4TnNrZHFCRzNMWGNwZDh1M0ZxNUpOZUZBWURjRUpHQm14OEFtSVRoQ2NvdlBHaExxTERjYWczc0JMNk9GRjdSN1YwU2ZQQ3ltVGMxMVM2WXNVVXMvLzBxL0t6ak8vK3ZycmxqcFh1RTJRR3NYR0NFdGt0dGdxdDFEcWM2SGNqeVBOU0JkaEVYYTJzb1dnNlk4Rm1RUWtIaU5JR3VocFhKREpQYlZUVzBEUjJCem8xVHVCdjRhMmdyN29oZ2xXeWxnSEZWL1kzQzNkZVpMN0ZLU1AzUlF0QTBMb01EK2NCUWJJOU1za250Vkt6NVBEbXI5Z25hWlJkcDZhczZIZVpXUEVzYTYvWkhjaWtRTExWWElTMlZ2cU94VENwemdrVzJWV3ZjUkU1WnQ1MVVZdjQ2ZDZ3VW4vYzViWDlpOEhQU3RTMGs2eTAwMVFDYTA4bS8veEEvOEd4REE5ZWo3disrbkVqS05qclpJcnA2Z0lYSGRMKzRWM0dodmtUWTlRZXZLTjFzZ3dtdWoyZVdwRmxxcVVML29pcVNpVkdXZ2d5ZDJuS09DejNxdjNMRVhXM0RaaDUzR3gvRjJWQk9iN29iRzdsRjcvakd4T0tsc01kQlYzWVFuei8waisyUElKQ2UzVVZwZCtYYWNXU1QzUUZIQzhZaGJvbmIwWkxtakk1bWJVU2x4YVZzS0xET1U2a2h6cDUzS3R4Mm5wV3VHTmh2TGFPTmR2L21UditCdTZVSVREM2w0YU52WmEvMTlkc2F3aTlsNmZTZGpEd2xiYTg1bHdicW5OVitxeUJXc29WNExaamJEQkVEeDVwdHlRYVVpR3NyVVBuM29kWS83MTYwYlN0NWtsb2JIYnR4QyttTVAzNUNpNFZ4bnB3L2RRb3l5SnkyU3F5ZG8wSUg3Z2hwV3c5Y2wyVnkvY1duVEV6VEhDN28zOUlXeWZVZlVFcWVsTTNkVHZJWEZOVjRxOTVzbVczS0kxNStkNUhQczYvRmQ2NWNUQ243eFo5eXYrd1JQVzNuMjdCMEplZEpHWDRiajQzSWdNd08xbHlkY21yOTNINDRwN3c3aXBpNHAxbkNoK2RkV1VFOWNjcGUxa0xabGJ2emVMc1JZWE5xT2xKQkNvYXRMV0d0amFvclQwZ1ZXV1pKWnB2TzRvclpqSFRIcEVIOHcyUzNSSlhaLzAwSG5UbUZQRlczUXlTNC9qOWZ2STNMWWpkS0VKR1Z2UTVSSTB2Mm5mdUFYeEVPNis5SHYvNk1nejl4N1JjelpCd0dDdU9LU2EwelFEa1JtLzk5eFVDRGZUMXphOUFTTmp6dnlTdElvWnExeFdqb1ZvOFJZUjh0ZitPY2NoRU5kYU5JaHVGRDhDVldtaW9mQ3ZMcWk5VXFtMHBreWUrZ2RQZDlLZ0h3Y1c4dENSNlJSTTlheWFTTDVGdVlYcFpTS0FoM0UvTEtPaVV2dUpiMlBvc2Z1UFNXdW8xeDJtY0ZnWE5wY1pZOWkzSG1IcU9YcGRMN3RPQzFkRWRxcjk3bnA2R2pJVFdXV1JFdVZkUzhlU2xaaXNQUDRVMXRKTkJleUVrek8zK0REb2V2UFE5RExEcTA1MnlXL3ZSeXRoSytwM0E1Rm5qRE1RdlVWbDF3OVFYTmEwZ0E5S1Bxa1k5Sm1UTkF3N3V3TGhxQjgxelZuaWFFWUxTTm5TdXRydXQveDRRc1JtUmU1VG55LzZrTFJKMkdBbFJSYy91dGk5K3N4VDcrV1ZGK3o1QVhzS0RNWVBTT0cwWUQ5aXBrcExya3REYXBhbyt3SEUwMnpaS1p3VE5xdWFMWXc3dmpkR3Qxc0p3WFZHQzJqRE44UndGWFQ2QXVXZFJxelpEU1IvS2xIWUJKem9Fd1hiT005VWFEbzZHZlV1dVNCa2ZBVkxEK0k3eWdMSEM4bDJRVFFnRVY5YndZcjhXQWJqSVZpcjBlZVdVeHlqUW1hbzNTZ094N3B6NFFoNEhkdjBEWEhwTzFJVGREMFYyV2dpM3dSemtoTFY4TVBRTlpkd29nUEI2SGNzMHBPbUVDeHV3TXdlU2NqaVNma2ZNZ3RidzJERDhqUnkrOGUyUGtRdk5jckoyb3hkanZaMnhDak1Tb0NJRW0zZ3ArdHh5ZW94aFdUM0hubE1PUDdDWFpGVm1UYU1NcFlnLzBvQnN5YzVjY2t0L09pb3RLV0xIYWxqWnFSbHFMa09Ody9Mc0Uzb2lOQitLblhJMUdUdk8yQnlZMk1GUTZrZmVFbGVLa3kwdVBaRjU2OUZiMGVrZEp4RUJpS0owbDl2RlV4aHVnWldrVEFyUEVlZ3QvVW1PUWFFelNrN1loY3NCNlAvZXpKLzM4a0NzS3RXKy9UdVdPU3F5ZG9qdHJOMDVQalFVWmF1aG9IdzBRS25RUWI2clpaYU1KaFBQUVVUSWFZd2lnUmNOektySzVEaE5MZTlJTnEra2w5M00zZSs5TFdMZko1NGJuQXNtZU00Q0pEVEhLTkU1TXc5TzZMVEplVHpIU1JtdVpmVkhMTjQ1K2FjaDdvSmFFVXJpRktLNVNLQm0rRUltdzM3UlE5MFZhdXBEZ0k3bmhORUs3ckNXbElZZFpjcVhrcHEzV0RuaUovWmJ6NlJSdXE3UDNjeVg5SFZZYmppMkl1dUpqa0doTTBkUFJ0VWZnb3JMZ05nbW1EVVdrekptZzRVOGwvRm1vYit4aWlVVnFoN0lNMGc5aUJrb05RMlFuZEFISUpiT29hKzlLaWd1Uk9ZbklKSG84NWMzZ200cGVIUXhjM3kzWkNNZVhlUVBaTUZYUTF6a1pVY3MwVGs2QnpEd1UvblhUS2NBVHZVV25yR3VzdnpjQ1VtaytwMmFPMFF0VjJVbXhjd0VZSlBUOE1sWjdJRGZkL3BIQ0FtTHpnT1VwTjZ4WFdJaWJocExCMDQ0SlhYd1NpR1huMzI0dEdsbmlQcVlqUk14cXRWOFZvUnlYWG1LRHhOOW8zUllHa2poZWpsaGdSbFRaamdnWTcxMStVV0UycFRhSzBRcFVPOVRNT3hZZHV2Q1JYVHloWFZUZDhTcCt4NThEcnNodXc0N0hucTJMTW9DdTFDSGpGRjZ0ZVlhUUVRYTRUOStQUnBjV0UzYmtQUlB3S3ZKcW81SzRhMmdDMmh1RGt1dlRJNU9jckttM21CcVIyWU5BTVU4NmFvN1JDWE1FUStFb293bkl6WlhjdWZ5aGhoNCtGeDNEVWlmYjFwVmplRHBmTmRYY3RjUE1JNTlpaTl2QXJZbndGZTF2ZGxSOW9nNzZpZXQxUXZ5b3lLcm5HQkkxUDFFVyt0aHFxVkxHc2dZaTBtUk0wK0hQdmNIS1FwM1JRUkdpRldXbW1XR1NBdm5ncFhHcWlkL3loWk5TYmVyVWFLTVhtS2hWd2Z5Mm81WWpiSnBmRTh3blh3aGNyRDhOUnBkN2hPZXBsL0w1RjZjZDByaWZ0S2M1SHkxZkFuZUlXVFVUYWpPT2YrTm1qd2xxWVQydkFSV2lGQVR0S0lSVlRkdWZpb1l3ZkYwS3RnclVwUlIyYUpxTytEbEZLZTdNWWJGenFjVGR5ZHpkZWpKczg4ZGp5WW5xNnljNXphbVhQcEIvUnVlWUV6WEdHb2xzdEdOSnZGczBTamtpYk9VSERubUdoQWJ2bVhISVU3UWl0Y05aMml0RjB5dTVjUEpTTU9oOE15MEVDNDhVa2RPNVZ2eFpJQnlydTdJY3g1bmZZYkpMUlZvL1RHQlhUMHU3Y0pidjdUYTJIKzJUbVE5NkhJM0YzbVIvS1hQQnFoaFZxeC9Uc0xQc3pNNCtmTUozbWl0QUtGMWxOb1pNZzNYdmhVaE85RzBCeUxlUHZDQjRPbU9yVkdLWEhidU1jUVNsdDBwd3ZsM0FqWXp5OFlTbUZ6bVM0aHl3WmlrWEJLRklZaFlSRms0V2xmVnZmT1cxamdzWTNDbTBoVFJ6S2JPVEpFeHlHTkVYNEF5ck9nRDhMLzRUcE5MVER0Q0lsSUxuYVBvcWt5VnNJd3JZTVQrRVhEeVhsWEZReTUrbXVoaDJTMG5DUXFaWDhlaHlpWmUvSG9IT3YyeXBNZzNNQnh2aitrdzIvL0pPbmxvZjExTlB2Nm1IMCtZM2ZlVXBXY2hMcTBNdTh4ODBYVmJtTnAvN0xWNEdSRC8zVHB6YURhbGJDaTU5SHZMdDBVcW5jT0MzSmVmQUxYVEIyRk90VWE2SkZPSXJlY2g5K1NGdEVNOFR1TVdhcnJnYUp3WndwLzRXWGZoNzZyaFRGai9oK3FlR0xTK2duelhWTC9uYUtzYzFTTEcwVW53RHVpTXh6N2tmaWhiaGdCOWRla0JxYW9JSDErMDZqZFZjS1hKRG55KzZyMStMRWttT2FzaEtGZVdpQzVzRFEzWFdlWkc5S3BxQlQ0clIwbWdqQi9rcWVPU3c5NDc0WnJIdHFrclB5ODZjL0hTRlErYTFZaUpCNHA2b05qMUgxeHFPc3M3dFFEWTBmeHlEUDJEZUVJcTAzQ3g1Nzh3RGE3b1Q5RzV2T2M4QkhsZlkyZjR5K2tBMXRHaC9HREY2eGZPeldEVmZhZlF0U1JRZXRXV0d2OW1TYWJPQVBzeHNHMDc4ZmxXdVpUZjgyMlEyOHRYa0w3M0ZLYmRHTkRPZ25wOCtvTkYzT0ZvclRpdVRpN3h0c1J1TGs3ZHRkdkI5N2Z4TTJWTURJUXV2VVdKZGZjVk4xSGtrdDd5OWZIVXF4RTlNZ2ozVUlKU1VuYVZaYWpMS2hZS1BEN3YrUnN6d1UwNWRRU3Z4bTZYdmRSL2RoTUh6UDZZZmppZng5dUVydGJRd3R2Z0o2VzhybDI5aFdzdi9zdmZJVFljYm4yRHZSRWJlQ1NFeDFaVENjYmVSZDM1eWdJU2ZnZVV1U3VJMGtGRS9rM3ByRGVEU1BnVW4vVG1mT2V6MTREbHgvelh1SEsvb0JIT2lnblVBNXNiQm5ranVYdFlxdW9XYzdhVmEzclZRUTJXTjN0L0hUaUl5c1NkbEh4UjlVYTI4M2cra0tWTDlsR2NUQ1dEdDVwSlc1dTE5eHNIWWd2YjdRNnJkbFN1cGY0M3plMUdYU1p1UWFiYzJhdVRGZzM0U0VhM2VSNVk3SXNjRDIrV29MZjVqOGFtbk41a2RVODUrckV6WDRwNnJDbE5aVzF0bWRVY09UY3FJWEhmT01QR21ESjJyZ1Nsc2lVNzVlMERGUVRUcjM5VEEwUWJQVjFYQ1ArYnY0a2x5YnBSbDVJb1NNODNraktjVnYrYXJrdnBYTUE0SFR3ZnNEQnJ1YVgwOXcxZThGTjN3Tkx6SVVpRXlsLzJ1Q3c0aTFOS1lPVjgyenhmN2o3S3JDcHovbnlnV1F4YVJoYVF3alJqSkVxa3EwV3I0N1YxaFdoMGExaWNIeHc4Z2lsOWxWcFRRT3RNcEtKQnBMaUV6UVl1bEZJaElsRjlQUkRVR1lTODZlQ1BWMzhjUFl1cmpCSVJ4cUpQRWpFdjgzM3ZWbmtxNFVLQTlSdjIzV2tWZ2RPQS9tMldLYlNRNVY0Wk51cWo1OVBhRnpKN0lRVDBBck1QaFdkcUhKZDJCRnRpREJxY3hSNDBqYkpKNjZMeUhsU0JscW5SRXorU1FTVGpPYnlrbWtZMHZnTS9kalcwS1hCVzQzYm1kdTh4d0xYUFBBUndYUEg3K1VFZUhmanZnUC8zelNKZWVnSTBvUFVEYlRRK2Nlb2plLzM3OStCbUhCL0lnS0VwTGdXNU1kWnFrVXlVMW5nQ1p3TXpxYWQ5WU54M25nSGxlNkVPR3gxK0w0RnVHc05QRjkzWUNXbDNIZ0U4WDZtUjVjVUZQS255VEp4WE1Ma09aYVdSQzd4aDhrTkcyQURDUjZJMTBsVFZCSXVQaUlOT1p5VVpSMy85UVg5eENaVitxQzRZeWYxKzI3bmpBVkNCY1llZGRUZUk3TWxqUFJkK2RpT3psM2ZxZlFCazU3N014aFFiaWMxTTVzMklheUg2Zm4wVGlmTjMyaHREbTU1TzVaTWtNdWIvdlJrR0ZmdnJwYzJhSlRyL3Z4YlQwbSt4R0oveGU1OE5tdjhaNVNRS1k2UzJJTm9ZVFZjRlY1Qnl3d3ZSM1F2VForSWg3aXdISUR5Wld6ZEV0cTBTamh6bTBNc0oxOGtHNlZlVGhXRE9mRlEzZmxEQTBhSy91WVlkMXRXYlN0c2p3NHNrb3VPdHVtbjBlNWN6dTdpTkI3dGcrU25CS1NkRG0vZkNCTXE5ejlHcnVHMm1ubVVSV0NETlRZQzdJRlJ5b2tZekwvZGlxVjNGVmc1THo3UHA0WUdweG1nTkJIMmlhMVpKVVA5QUEvR084Qng1MmtySW54K256ZXhDejVFN2prN3NTTGcyWFpLeEgwdFlVd2pZRE12cCs5bDhka2o5YzBMb1liSzJ4clhDNHovVVF5akVnd21jblMwSFNPakpLdDR1cXlZekNsS3lrcmhLZHlkMFU4Uno0cjJSMUxkbTU4bmk0WFZIajdBM21GVnQ4WVN6YWFvZWtQMXRIb2N1NjVTdHVKazRKcWxVOWM5cllGTVdUMmxieE82RlBQZkpHUEhjYzVUSTRCaTBvOWVMbmR1UVA5cU42V3JlZFlPUU5UeGNYZlNwbEhvb1BlODJkRDNQcVRUeTR4TzdhRzdTY24raW05TGZ5dUtxV0IwSTZma09HL1BwODNRNkcwV2Jua2JzVXpEM1hQUlcvYjVSbXVDdCsxWHNUVVdqbGV2TVFZOUNGdGNLYWk2Mm1aNDBieVhxcEMwVXl3N21YSk9iY0UxZEZQSTFCUkpsTGZ0OEJ0c0owY29iR0xEQ2ttYU01WEg2TDJBMlY2TkZVb05WUHcrSytuejV3NVo0TGt1c29vNFAxT1BQdzVmcjZhTnRSUk1MdkpucGs5eDJualVXU2JJQ0gvVGxBUjEwRDhDZkFMN1VoeitabjVPQm5zNTNpN3A4Z0ZhWGwrQm9tU3U1emc2LzdmWkRWV3h1L0lWUEhMRzNiYmora294a001d2pjbjBoUU1SOGZ1K21vaG9pZmhpT1ZKanZEdGwrVDBZaWxjdHdSdE5nanhKeTV2bTZiS3d3TmQ5eE5nUkFTT1habXhtbDlVbjgyVHlCMURhd0V2WUZlNUZxd0NnTHlSS3lpSjNDalorSTZ2K1I3R2ZyR0VsZzBTSmRlTE1LQnVaU09zak44eGVlTHE1OFVnNGdqaFBUUFJGbTZtZkhSYWYrZXhEZWNTOTNMWmVNb2FaNWRjMlBucWlmZTBFSnVHVHk2VFBTdDN5RC9Fa3hnLy9CbUUrV1BjRE81aGFyd3NrNndDZ0x5Uks4amVWTkgzZjAxU0tQTGJTcFJjVlZFMElPWFB5bmhJY3FGRjFMakE1d1hyNHpodFNJQkdaOVFqTEpaT1U2cHBrK0pUNWszWllTNjV1ekdpWGQySHNiSEdNUE1PbEQ0RG5qdXhjaFZFOU1HZ2tyNDA5QUczY3JPakhVcTdXQVVBeENOWFVFVUhodU90VzkveXN6LzRXMm5xSEo5bmtDaTVQeDVoUU42KzhqQ2dhbVU4SkxuQ25Sdms1aDAzOEdTTjUycE1EdlNDZFQvTHBHekRNUXlaeVhhZE96UndEdlcyZ1pLS3BwSmhrMXo1WVE5UEl0T3NISmFPNm1xUXY2MThMTFVNQjBVK0N1RlN5WklienBmcmpzdTJLZ2pBVlB0VlpMNUFXOEVuSFV6NTZGUlN5aTY1ZUc3clFYV2gzb2E1dWh5NWV3WllsWERtRStYZUFlM2tTbE1SSE1CcVlITzE0WkNtcUpFSEpUZU0yOExCZnNiK2w2bkNwbUhjWVRPNG5wVm1vaExQREZMYmZ1eWtiTU00RDRreFhISzNvcWxjWEc0SGthSGVCbjBtOVY4ZWt6MWFUNHA3UHZobGUzOFNERXZyQW9WbFIwdFJWU2lMRFpaUWhvdzNmWTFjeHBJcHN2ZU16aXA4S0ZzcENxWElva2ZZMVFuWmhpbVlrbG00Wkd6SkcvbkxJNCtEbTFCdjA0WlBQcE5kVnBEK04vc1NHaVJYdXV2Z1doanZsYmZ5d3Z2dXNUVWxaMlNuU3NsdDZTYUxuU1hhdU0vSmJWQk1kL3ptaEd6RERQeHlJZDJKNXVkT3NXQ1ljTnBtT3JyZWxwOFo1YVI4UkV2SDd3dnN6K1YrMVd3eUJGbVg0Z3JlNWRBUloycGtESGV0U1FSR1preWJDTWxOajFkYW9qSWZtTDBqdytJWWV1a2lVNUc1QWhpUHZ4SVU3RTNHTnN6Q3BsVnl1YUtUUkpwbWIrdXFCWXFRRVNIekp2d1cyWi9MMStHenlSQ1lsNDhSZUI4bThEUW1ta3Z1bUN6WmtzRktaWkxMTGI0TnpjN0FjSzdvMkJ3aElDazlNeE95RGJNd3lYZmM3RVVMWUN1ajNaMDdWRE9la0JFUkxSKzViNktPaEd2c0xIaVZGNHpRRzMyTEZrbkpkWE9idWJBV2xHdHRkSFVwVXlHNVVuK2xMSkUrRzFjME96cDdFN2Y3K2paL0NMYmh6YUMwYjBoZjM4cFByUFNTWEhLUG8xUXhSS3VaamQvYjV0NG44Z3pVRVVPUXFCMUUvYnRvVWR0OWtmMjVYZkNYN1ZnamFLQkFjdkZFMTIzOHBJbkxXdXM0bWxWS0xsOThXTk1NOEdGcVE5L21ENEhRYmI5MFlCdTIxL01USzcwa04ybVBvMVNoYzZXbEJPWHpQSkt2K0M0Rmo3MFE1RzBLc01UWEY2T2xTNzAvQVgrcUY2V2lESTREeWNVS212RkFVeFZXbVR3OTZxaTRJb0ZoaFRvWFdzUWNsdmdqbFI2Z0lpenp2ZGc3UG9IQWJqallMVVN2M01LOG1mdFJrb1pqQ1RxWjIyZHRYeGhjSWNZOE81N0VKamJnakIzdG82U3ozbmZBbjNSeXBTenJTc2tkWnBSNWszNG5wT21YLzZhWmxpY012REkySTMwdFhjTzQ0NlVBV2JiT25sQVZlc1N4bnhUWURaMjloSnpUaU9ZMjBuNjBZa1RLNlFUVUx4ZmFvTGRwK0gyN1lWNnE1aWlGMHU1YjRDK2pBaGtFOHdvbzM2L056Y2RKU0kyOXRYQTdRYTh5eVIyYTdseTB1QVBNb0ZZS1g2dEtOQkM2RFhMZWRtR2E1UkdBZW8wUHFUQVZwYlJneE5oQWJmMDlVYVVlOHZ4M1hTN0xiT1V4RktFRTlxUUtqYVFrM2c0RHJ4aXM5YlhFVE9NUzJ1YkRiM2czeCtVZmwzNFFrYTV4K2JPa0Q3U2lFY1dPZ0puL3ZMSlFpZWZWMWhhNEI4SGxjaWV0OFFvenhVQ25XcDZ2bHRDTzc4RjFEd1ZWVitwaUdCRmNEUjJ0WjZvc2UyYnVuY282M1RnS3VsMVhHZXZaNitWdmlxNnBZaytlK3MxWEVka0QzWkpHY0Z2TmdFaDZyMFF5MzRDemJzdVlNUTUwOXYwaW5naGRsWk9jakhTcXljNDkvZkhIMHBkREd6ZUQ5L0FtWGREYjFNZmtNZTNrVHA3ZTdXcTRVbFM1NjBOT0UxVGttTUFWbi9tR2NYamZtQktXWkhRWjFiWUY3N1dXSE5taWpvd1hNck9WSEp1YnUrUnZtcm00QlZpR2FZTHhHTThlRnhlU2JidzlLMDFJczdLcGhibEhaVE5XZTVjRjNRdkRCTGZTRjdsL0FWZFBxckcrYjArNGEzNThaZis1TVNNN2Z0cEtsdnk5VXRlS2Jaa2FhajEyTXY3OHpiRzhyWmEzZ3l0YUY1ZXIyMllrQjAyK3VXM0dadzNEYU53VlpVNGVGa0xTWE05S29jcjhmR1NKMDBlc2lKeGpYeEtDMDM3Sno5TU5wR0hsek9VUFZxcmlPSUd5WXZoVHNmU3MwZVJiZ3ZsTytIR09MaEpQdlNJN3IvTS95Ulh2ZUtiME1aRGNiRzdwMUtRYlEwQjAwOHpPMVEwL2lMcndGY3gxVjlnWHhjRGMyaXRNc1VRQ0dQWXRpR0tzM09lVm5MeUlmbmNNWGJ2TDcvam5CSHd4T25sSlRJT3VGSjV5KzJTVC8zT3ZldVo1UVpjUGN2UEtnWmRNZlZSS294VllLWjhUUjFxT3lwb21EUTNKM0k0VWRMLzRFKzl2Y1RsbEgvM1pud3F5ZittOUlvSTk4b01weW8vT2N1VDMzczZyNEtZNWRxNWJCR1YwK1VwVE1YOVVDNzFHUlFmQ29jU1BCeDVBZFlrVHhYaHFZUDNObjI2M3VTVTFESFYxbzNocFFhaXE3SVArSEhpYjgwNzNpM0dCai9PdE9jNC9lUy83bjR2UjhVdmJ4N2JDbEgyeDlVVjFXMURqTTVQZ0F2dkZyZ1dYZmRocGZCenoweVkrSVRHczNKR1VpVnVJaG0zR3VNVE8xcHpmZGIvQmNkNEtkOEt2SzkzNmJ2YkNvZk4yOTdVNC9lUnM4M3EyclRDWitBb3lkL0VRVk9XcENUeUlzOWJaTzFKblQ4ajRHY1llY2huNzZZVGtiTkhjN01sV3dwcDc2Wm5UYnpZVE91SjgrOGR4anI1VVFFdmlZUDNIY2JCK3FnK0ptTVRpNGU4RUJQNFUzV1dlNFd5SjU1eDhURHZCei9nRkJsYTV6RFFHK0ZyQW5tU3MwV2VuZnZ3RCtJQkM5WFBORXp6d0hMVjgyWHYwRHlYTDBkK0d4L0ROaE1jZmZ3eWZNNUJMVGRmWktUNXc4TmpEdXFHODFEOTZqTDN1Zzc0bWl4TEpmTSs5ajV1WlMwVUxySEFCZWswMHRzSjdmT0RsNno3QjZhODhlMVpZRlpUTFp6ZEpwLzJETjU1K1RFQTk5NzFuLzFMWHVmenBONTcra29qL3N2ZU54UitGSm13UGRmREE3OWlUOHNaeUo1Szg1T0kxSDh2RnRaV1g2cmh5M0ZPMVBTN1R1UFJsNy9RWXAzY2NqOHQzSWRJUDlLSkRIZHM3d0FPL1dUSmpuL3FCWHhCU2V2ZWozLzlIQWVrNWYxWno5c0hLK2lJM1A5ZUtOdVNBZllTZlVwZGpFQ3BhY3czTFl6aXVsK0VkeHNqRkE5OEtSNVZ4eDczWUw0YWt0SU9ZWHc3RmxGR1Bwc0UxL2JHK3pSVzY3azlXVzFVNEtYSXhOTlZDUGYzdXkxVDVzRmNPYjB6eEIyNGhIWFBlOHpkbVAyekpXRm9VWDhiZUtVaHQ2TzhnT2luY0JRcnlVWS9pL2RMdHlETGJKV3pTN1RJcCtyUXVRNDdDWS9lQThXUFRLcnhRNDI0eDhqQTRCQlJkdGw2TTBQa29QYWkxNVBKNVRSbk9wT2l6YWtmSlhpOWxvVDlhalhuZktteXdOd1Avb1A1R21Vbi93b1c5ekZ1eEpna1JIOVZ0Q3lWRmVUaUlybS8wN2xkbzR3cHUrMFZWQkhZUTNSU1VMaWxuWGxFWVpybzhST04yZlJ2QVIvWG5LMkN2RS9FRnhyNGxXbjZkdzhoV3hNdzFZRmE1SmdwZHRxM1haeVkzNndYNHhHR3Z2bzFZQlh0VitJQzhNTmxscjR6OUthTmhiQloxNGh6SXhVNjVIV3AwZmVjOWxlOS8zYTl2STQvQVhtalRkRG1zY3BmRkhZUFVnVzBCM0Vndkk0aW1GSHB0SGNaQ3NHRVBrcnRkQmtlelRZTlBnUTdyMndUWW82VXZSS0Mxdkw5dTZGYmpPMkw2cHFvUWhvOUNkZzlNL2wyZk4wanVjVlZjemc3ZGtqYUNWTlhnSGtSc3EzemlmQlBCamlMYmFPRTdZcFZmTU5rTGFYWjA0a0RUZ3RKZTVleld2Z0wwMzNydHVnd2pOb0NJN1llanlyZ0x1M01mcU55dndIbUdqaWprSlZIZjFNUDN6NDF1VndZY00wa0RZNWpjTDFWSC9sMUliZ1hHVEJ0a1ZYTXIvVkNpcXNYaGRwbSt5eHpDTW9TY3F1S1piV1V1Zis0SzRCbGloM2h0THp6dEtoYnBtNmIrNjc5aUlzM255NEhCY0orblByd0JzQjZVd3pPN25ZZkUrU3FEWjFqakRUZDRsYWlZY1pqd3NIckdiT201NER0aUNWbExpK2Irak9QODFFNjBpZEJWYzdYODVHYS81RERzSHFwWmcvald3Q3FHaEpZZWVwY21wcis4UW9NOFNrdXpSeWtKdkFBQUlBQkpSRUZVNllCMEx1UzBIM0lQMVV4dytYRWRWUXdKcGp1M1UwWFBzT0xZS1FJMS9IaHFmdGNyMUFXc3ZNMWdwRnRyRk9ENUNLMFlsQVF3TnprM2ZGcFBuaGF3UGJPeEExVjVKMXNKSXpmOENmelZLbkVOdE9FZ295N2ViMEhqcTJyQU1DMlI3dmN5cStJbmFld0lnbk11WGpLWTBOVXVNbjUwamNMZ2ZtOUNQTmUzR3I2WXRGbGY5dkN3cTNoSVhKV3ZpVllQQ3kxclpRTU9hak8vWlFJTFlUMm9qbTgxMmM5VzlUbk1EZTFUNTRXSXBoS3hVckZmQlZsQjhHMUtIRXFsYnljR296Mi82OXpWc3pJK2JkMjJWM0dCWXFGOThxTlpQVTVES1dMbFZ0VU1wanNMbnZMdWwxdUJsUnJHdDl4YWdyc0g5d09xNWJ6L2JtVnhoaUtoZlFwdFlLcTRxWDFqUmwxaVZSaDZoWlZ3RXQxZlhtSWRjVko4VHBIWE1qT2x0ZVlMOXZHR1Z4TFRyV1FUWVdtc2VzYUtRV2xFSFh5RFcraGFMZzdLU1ZvaStTUlNhTTF4VXRxWWVQTU1MV2liUWx0M3hsUTFJOG5RT2pkcnpDb2txNG9oQVdUdjRJeTBGaVI0a2pzQU90cFd6WXA1MCtqQzNTSXp2YXdWMXpaL1g3cUhhc2tobjBWWHNLODhjT2MrY0k4clhZandwSzREN1IvSVdtVVBadFA3Z3d2OXJjWUw5bGxibGpjL0h0MWEzckxWbCtNK3V3cUdCTitkaSsza3ZHY28vMzcxelZuTkwzS1FWdk9hWUhlckhwWmNOVUQ3VkxFVkt4Y3Zsa0pjeExZczhRV2poRHUzTWNCMjhrR0I2WDUySnZBS1pONStZb290d2h2Wkt6OW5KVEJjMXRuWTV5SzJYejdrMEgzTWVmZjlUUWVud2s1eXpJRWpWdTA5eU5ZcTdoVGJDNHB3VzJjblcvRnptQnZMT2xYTWdNcENpb3NZNUt2c3F3a0pXaEZQSCsydlluVTVnV0h1Rmt0SUdoTnRMajd3Z2Vod1RQN3puM3hVeVF5b05OekFYazRsTlpLRkhwWmYrcUxIY29rSVhxZ2RXYUtreEZaZURXKytMWWplbG50Qm82UjIxSURNY0pJcUozdDdUd3hmVVBiU2lTVWdRQ3pZVG83UUJOY1EwWjZ0Uks1R0pVQmFWUmR1NTdlV1IxVXhZMmw0aHZzMVpybWpONENYeVNYRVZXNG5SdzFWMkNNSjNFTG8xaE9TUmtldkdsMzRaS0xEeEdpK3BwYWEzL0NhRE11dFN0eXRmSW9qNS9oSENNdXBUL1Z0d3FDZmIxb0JOdVhyazA2ZlhBdml3SXc2dXhiNE44TTN5cGNuMzUzcjArVW5RSytYWDBVQ1JmaW44K0hkTk9ZamJ2NDE1QVMyWmpBYXowMTE1UnF5ejMxQk8rWHpKZHk1QVZtdWYvT3B3Vng4UWVweStVb09kUC9pb09TaWtZdmh1aFpxYTBEcXlDS2YrYStWejlncXlDcXEza1MzaTNWeTZzc1RQWk9HQzM2Q2MwcUZVODBDdzBwMFdtbU41TnNLU2lPbUNUV05pVG8vWkgrQzN0R2puT2JQVUQ4bzdCcXJZQ3VIUm1jMlFsNjlCeDc0Z3U1WEFHVFBtS2c3cTVEY3JRb3FzWk9FZVpiTGZReVdqd09LelVueWEyL0Y5R05oTXVXYk1FeUlkVWlWOUFHVVdXUEx0TzY1WHArY0RzTVVMVmVMSUxuU2JPcFBjb3dvRS9ZeWFlR3AxWG1DNW5Uejc2MGFCUk5rOVk1S24vQjJNVGZmK3RkUWlTc2NtYlhXTmdyWVNnUFFhVGNycmFBZ2NUd3ZMV0lGYWVuaWZISytvVzhIRTkwdWh5Wko1YWxaR0I5Q3NTQVRYSHE1N0kzeGRjeFNqaE50UGRXUzdiNmVVWmZJSHo5VGNVZlRhK0oyWDk5V0hHcm5hOUtCa2x4TTBMWXE1bkVHeUxkcXZUblhjYnhLZWhaZmZERDBIcWFCcGdxdStMRkJaZVo1bjZHckpIZFk4MmRXTVg0K2VaaDR1YVlMRTJFT2xSUjVWM1lFajdDUjVORExjM0duY1I1aEdsSERpS1NjWm1wYnNleldlMm95b3VrbEptRVZmYjFFY3FXVHd2cVcyaUJWSW5Ib3J4QlpTTzRFWGZ1ZFhJNUkyQWcrQWpCMXRrckVZa1pKSFlYc3ZmbzFBaU5yRldQQzBIVG5vdFdRcFFrdXA3WnppUjRzbkUzeGdOcnMxQS9VNzNGTmtLTytoR09DZFdhcENoWm9kQnI5WHlPUDdlbklmUnJ5ZzRndjhBaVN1NWVtWUNsNTRJbk00VDZHcWowVTFmZkpXTUJ4QXhIZFU4cURLWk1JMU5QTkVMM1B1b3o5YS84SmluaCsvN0hOVUpZVU54RFVrT3p3RFRqcktjcVZrd1dHYm82QkJNOXFtOWNQajk1ZU9Yek1NcFY4dlgrQ0xUNklES3dQUXNSZ28rNEhMRFErTHU2L1BpTkhmSGZZVGJNTTk1SzliRVpVRzg3bkhHajVxNzlQMERJRW5rNjc3djIzRXo2eUVEMU5YSGNQZmRINmRYYjJ6dzZmL3U5WjM0RGtyM1RkTm9XVGI5ZWRvUEdJeWRhT1dYMjY4SUhmekVIVzFxYWpQbU81T3ZrV0lpZlh5c2hLNllCOTZIRDV5eEF6Y1ppZGM0M2QzK2E4L05EZHpTd3NOWWFnY05Nc0FkWE8yQnZNbUVyRDhNS0ZqSlYwbFYwUnE0bnpwSElCRnd5dVdtOWE0RGFkT1lqUHMxL2hEL21ISVdaY1pTNTdwMnY4SHFkOTdJcWZOUCsrK0JQdmIzRTVaUi85Mlo4SzhuL3B2U0tDUGZLRGFRaVVrY2ZMSTM0THdqcnU1RkhYWmZCY0t4b1lmSGRyeFZDVW1ZZ2RmaEJNYklaNGJ4ZGE5dk5NSHBOL0xmMk14eGRiWDFTM1JYMThIU0s0Z280UVphUDArMjdZQ0VwSnZ3bEQ5MEgybXBTNXozVzJJK2xvcVdzcllSRGVObmp6ZHZ3Yi82eXhaVmV0SGpSY0k5Zm9ZSWZkZU9qVzQ0OC9kdXVHWEl4WVlxYzNicjN1OFZzM1hONGRKbktoUjI1a3Iyak9PL1hZdlVueG1KMi9DWllZVEhMbEtFKzdtcUh0QlN2M0pRM1lwZmZ4NlZzdDFTZDdNbWttZmhzdXkvUG0yOHF6WjlrOWdETUJTRVltb2JwdVppd3k0ZXpoR2VRVnRTakJsZTd0dmhKa3g3bFU4NFpFY1R1bys5UTR5bkM5N3A4SWFiUTY4ZmFQSHowVzdJUlZVM3RYOFFpbGU1ZDlyYnAxNXBWUTY3ZzZoN0NVTzF1alJMM0E3TlRWV0lCS0Zadis4YnRoUU5ZOFZqZDg2Y0RjcHpobnVpQlVydm9HWUM3TVdGK3JFNVp3T2RWMGpGME54QktMc21zR1lpZmIrcVlUZnFObE9iMXpRZE9ZWnVoQXpnK255Y1NzMW8zZExLWmMxS2daWFVqdUR2aHBoaC92OEZEenlQZUdHN2VPY2pQb0xMVU93YnV3VjJzRzY4emNNRmlKcWgrUHNHTEZGdFJXZUwrM0tia05qNWwyYnNOZlZLdGZVeEk1OHNoY1NNUm1UQUtNaFkweFdhYVYzSVhrSG9zanozWk1Ga3hyZ1crcE5UYUh6NXkxZ0plYTZRUmM4K0ZtQ0YrZTVCNlRESHdoS3hZZytHTjl3cFJOM0Jzek5JZjd4UXgvN2tvZTkyZzJwa3JPalpXN25aSkpYaFJ5TmQ2Z0RNOEJYOWNkc05lSEhzYnFycjU5Z2tIcGF1UDJXbzRkTEpyWVZFS2RtdThabVFvb2FTcEZuNi92RktHRmIrWmdKOWlwT1FkRGhDR2VyWHQ4dThHT2JHbDNRNFptNWhlT2szRHpab2J6S1RQYXhmcHBiYThuMlR1ZEJZKzlLY3pna3A2R1hZT04zcE9iSFpHcnRSL09PZ04zY09uZW5BRTI2OGVpVjl2NUdjZXF4ODVjRm52VndkdVdPQTZ3T1lidkQ5L3lJK1puY2JiVHpiUFZVUUp3Y1grdmlYMkN0VzEvNDFmZHN3L0Z1R3RLdS9jNVlRSEQwdVVmTk1QVnFmYzI0MWhEUkFUZUtkcXpwMURzQ0FRNjdMVWpVbXVhZERYNG1zNktMN0Y4Q1ZqbzVRZTF3VnRUenExc0hlVGFNR1lsZFhFaThkRFZ5RHREcmU2OHlKbGQ4Z0pKZlFDaSs1ZC80MGQvM0hBeXpGQmorTkU2YTdQRWJ5MTRQWmhObDh4VmR1Ky8vZWluR2Z1bUFFUk0wc1ExbzZQdU1MeEdXQXZKcURrVE1MSDJhODZpblQzK0NocGpmME1tTHYrWXVCZHZwOG00R2ZwZGlmcjlab2ozS2JIYW5VMlZDN1IrOTdIVFIzL05RTzJySG1Pdk0rK05wQmtJbnN6aWJHT2F1R0xMQWhsWTAzd0FzbTY4QW5jb3cvU2JBb0YzejZ6S1RkRzRtY3JTcE5XSVRNL0xQZDNPbEo4eVY0WEF3Z2UycWlKOUx1biszUStmeTJaUm93Z0JRb0FRSUFRSUFVS0FFQ0FFQ0FGQ2dCQWdCQWdCUW9BUUlBUUlBVUtBRUNBRUNBRkNnQkFnQkFnQlFvQVFJQVFJQVVLQUVDQUVDQUZDZ0JBZ0JBZ0JRb0FRSUFRSUFVS0FFQ0FFQ0FGQ2dCQWdCQWdCUW9BUUlBUUlBVUtBRUNBRUNBRkNnQkFnQkFpQjg0ekEzM25HZmZTN3puTURxVzNuRTRGdlo2ZHZickcvZWo0YlI2MDZ2d2pNdVhmM0hlY3o3QTNudDRuVXNuT0pRTk0vc0xvL2s0ZHVuOHNuUW8xS2hjQnljTFQ2SWgwOW1nb3Z5bFFYQks0RUh5cHVSRDZ0V1JmK2lBOUN3STVBWUN6d1QyYlI2Y1YyaUNpMmxnaTA1RGNudTJ5amxnd1NVNFNBRFFGOG15T0lYcVdEdDIwQVVWeE5FWmhYNXUyVkdmMEtWazJCSmJZcVJ1Q3krbGpxSXB2Rmo3MVdEQStScnkwQ1IweCtjSHVldnJKZTI2ZEVqTVVST0dEaUE1cEl3QWRBOStQcEZFTUkxQk9CSG5zNVlBeVN1MWRQSG9rclFpQ09RRjlKTHI3M2V6dWVUakdFUUQwUmFLa3ZxME55TitySkkzRkZDTVFSOEV6SnZSbFBweGhDb0o0SWFNbGRZdlRseVhvK0krSktJL0E1OTlYSC9wMnJWczRndWVzNkI0VUlnUm9pOEFWMnlrNlBCV09NSkxlR0Q0aFlzaU93N0o0ZEx2UmZJTW0xdzBPeHRVWGc4K3dseDVuemZXQ3VtcUdSdFZEYkIwYU1CUWkwc09Td0hMakRRcEpMdmdXU2tUb2pjSjJkT2s2YitadkV0RytCL0xsMWZtakVHeEE0NGxzVk9zemZtRXNyRVNRVE00TkFuLzJKNDdRZ3VZZGdlVUNydnpQejRDNDZvd3VNN1hLSjlYVnVhTWZOemtYSGh0cGZad1N1aWQyTVErWnZKRDlSKzNPdjBpN0hPajgyNGcxbUxuL3o3REpqZjhyQjZLcDNlR2huT1FsSHZSSG9zUHVjd2ZjOHdzMWM1NUovaDlBMTduS2dpeENvTFFKTXpjazRpL3J0czB0Sys5YVdkV0xzSWlNQXR5MWNDK3JDeWxrUXByZldGU2dVcUNNQ1Z5S2JHVDE1dEUyVE5qblc4WGtSVHhLQk5tTmJNc3gvVCtSdG4xNmdOSEdoY04wUU9HRlN5ZnFjWFE2TWgyVTZicUZ1ajRyNENTR0FKWWhOTTJJaGNDNWM4YjFrWmhLRkNZRWFJUkNzUUdpT0R2enRqbVFzYUVnb1ZFTUU0RXU0RjJacnlUM2JkNXcvWUs4SVI5TWRJVkFyQkJhWjJrb3UrZnBPZk9Ia2pleUZrQTBoMCtpWEVLZ0pBcXRoZDY3ZzZ1M1B1QS85S3hMY21qd2hZc09PUURQaXpyWG5vbGhDb0c0SWRPZ01wcm85RXVJbkZRSXVZOGVwTWxJbVFxQk9DR0JidWZ3dVJKM1lJbDRJZ1RFSTRLaFIyc3M0QmlOS3JpTUNlQ0ZDN002dEkyL0VFeUdRakFDY1l2SjAvZVJNbEVJSTFBNEJPTVcrVWp1bWlDRkNZQ3dDUGN0Q3hOaENsSUVRbURvQ0xUcHFkT3JQZ0JqSWd3Q2NZcnQ1eWxFWlFtQ3FDT0JicWZRQm5xaytBYW84SHdJNERTVDhSa1ErTWxTS0VKZ3dBbmg5TXZ4R3hJVHJwK3JPS1FKSHI2MjRZWERuVG1jSmJmbFVuRXRTY2ZPSS9MUVE2RlR0YTIxT2F3bHRubDRzbnBaUVRhTGVSdWdNajg5Nmo2NlZYU3ZjdWROWlFtdWJSc3JTTTJjL1YzYkxpTjQwRVZneFAxLzZJSHZVOHo5Q1VpSkxjT2RXcmRidDNKNFlUWm56enA0MVcyb3ZRYkgxUktEUnN1alR5MnhiY1h1VnZjYTVtczczYXFXbENJVUNtS0RoNHliVlhrLytzWVcrSnc2TzlCTjZwL3RPai9iOVdGQ2FoYWdIYlc3VjdwbG12WCsyaVlQRjVYZlFkYndsWktWbHllYzRmSGZ1SFd0S2VaRnpIczd5ajE0THhzbFBpK3oxam5PRjlyZEhNWnFOKzg5WkZ3VDZXbERGNDNVTzBqZ0M3TFNzT0dCM2J0VmZwVjRhOEs5UVJLOUZRMUJGbjF5aTcxMUdNWnFCKzZlLzVyc2hRWHN4VGh1R1B1d0x3NkZ0UFBCWWRoR1JSTXVlRzd0ejVTbGk5Z3dGWXh1Ly9TV1gyU1MzTFErTTVNZWVjc09oRVRvS3RXQzFWSHd5Q09ERUEvYUlUWEt2YTZsYThSLy9wWEVhTXBHV3ZTbHc1NDd0Qy9hUzZXTDdPRUNuYjVQY29UNmQ1TVR2cys3ZGRDUXBWMzBRV0x6eHlDZGhjTVoxcmpGQk8vTHR3aXVHRnJZMklKR1dOVGVPMW1mR0pOQ2VwMGpzZXgvNjRIYlhKcmw2Z2lZUDNtdHBMVnlrUmlvN1lRU3NrdHZVYWlnNDFQWmFtbFBxckxUczdSbENjdTBwNWNYYUpIZE9qeDJYZ3k5a0R5cnRRdVUxaHlpRkViQkttNTZnWGZXL0Q0bFBONlR3dmxwcGhhdVRkNFBZY1hneXBieGZtK1FhRTdSZUlNUURXbFFyRC9NSlVySkptekZCYXdjU2U4VTI4a2JadE5HSzVnbnVNWDB5VmdRU01oV010a211bnFBMVdDQ3gvTnZEZE0wZUFqWnBNeVpvbmNEOWVTbk5XcTJObGgyUlpSZ0xGcGVWUFhQZVdKdms2Z25hdkR4ZjJtVTdlV3VnY2xORXdDWnRsOVFSSHBBd1h5R3RwbEdSTmxyMnB1SGpKbW5NRDN2aHRMRTJ5WFZma3FXUFpOZWhRNklrSkxQMWE1TTJQVUdEcit0UXRLY2RQZXZXMWtvYkxWcys3a3Fkd09LdlJYS05DVm8vV0gyRzFiQmxaNUppYTQyQVRkb0dhamJXRGlabzhHSTlQNzRaTmxyMlVwY2d1WGZzU2VYRldpVDNtcHFOUVdBM1JGVmdlcWU4T29uU3hCQ3dTRnREcjRjTzVRTFRVSTZ0b3hpejBFcklmZ1RKM1VoSUt5M2FJcmx0dFlpTjVlZGpVUk1DK1dab243dnhsb0RWNWQ4cWpXY2lsQm9CaTdSZDFVcklDNFpVcDUvR0xMWFFTdURqQkpLN2xaQldXclJGY250cTVNRFhobjA3Q0liTGZwNHEzOFllWjIvd0N4NlFSemdQZ2dYTFdLUk5UOUNRdU83VDl3SzMvY2phTExRUzhuY2d1Y2NKYWFWRld5UlhUOUM2OG1VaWlQQmFqaW9iM3ZzY0wxaXdjWE5xN1J6VlVoR0ZnRVhhRHRTT1ZYejBmRXZraEZWb2Z1aFVsUTRITExUQ0dkU2RCOG5kVm5jVkJlS1N1NlMzR1hma2xMT2Q3MDNPYTlEZWZWOWJvOWtqWkwveHJ0Lzh5Vjl3dHlwcTQva2syL0RZalZ1dmUvenh4eDYrSVIrVGM1MmRQblFMTVVwTFdLUk5UOUNnai9ZRk5qZ2RZWDA4U0JaYUNZVWd1SlV2L21KV0dYVVo2d21hNDBuenB5bVZid0tyQ2RFbkc0NHo4TTBxV01xYkNia1F6WWNYY3J3bDQyTkw0WWR4eUV1cVVmNnl1TGkyZ2hKeGFWdldRdG9PTXZPZjI3WXF3bkZ4V3VGMGRjYzVNL2F1cS9oeUEzSEpQVklUTkF3aTZub2hUN1hlb1FQcDMrSkZyNDFzQzFZTGNSM3pqSFNsUmVCVFAvQUxBcmE3SC8zK1B3ckt6TDFYeEp4OVVHcUp1TFFaRTdRRGtkbi9kenkrMWppdGhESjhYM2t1ZVVtZ1o0K09TNjZlb09GamJPcDYyVjU4Wk93S1ZBR1dhWTU1cGxVMW90bUsvSVYvemlHSG5OT1ZDUUcrZy90RkthV2lKQis5ZmxuSHhLWHRraDc3ZXV6ZVUrSTZTbVdXeG1rbDhDcTRTa2dyTHpvdXVhNHkxbkhFemp0RXk1NW1hWGJCeFppNmpGZmNRRVBnMkpXdXcxaXVJTUxOWjVBa2tic1k4WHl4Nm5hb3FTZU1mZGlJaUV1Ym5xQTVMV2tNSHFUQ1BrN0xxTWdNOG9VSTI5dU5acDdpNFpqa0doTTBXRTM3b2dZbzMvVWNWYlZSNkZKdzZQcFF1ZzZUNkxnVEdHQ1M2cDdaZU15eEloUGZBZnNWc3pWeGFXdHBtVkpMdEgyR3FmVFlLMDRyb1FoVStMaW5uVkF5UzNSTWNxOW9LRmJsQUk2dXZaT0ZhSkQzdVQwSE0wRGZ6aGlNa1gzWTFIN0dIUFZjM0NKdHlFaW85ZGNqS01ha3paaWdPVW9mdVlHZ0xYbWdGNzdPRGhYOUdDMlZFZ2x3Ky9sT0pDN1A3V2ZDclBDN1lIR0FVNHRKcnA2Z3dUWU5KbXRRLzdvQmNSNUcxZEFKUElWdVpGU0xVb0ZhZnlrYVIvZmpFSUNNU0xlQ243VjNmek5VSmladDg4cGhocGNMQS84bk1tMklVdHo0aUY1N2lsNk1sa3FKQkhxZ3NSR0p5M1Biai9MQ1RFZFlUSEk3Mmt2V2xyQjA1YzRNZS8yamFuQjlkT1JFelU0QXNmQ0tyeWNtVWtJQ0FwM1FzK1NidEk3RE9XUFNaa3pRa0xZamNtTXU0aGRiZVBaVzlIcEU5NFFZclhCVitxNEZpZHZTdDdsRFB4Smw1dGF0OTJsaU1jblZFelRvNDhEODZVWEdJRjFjaEViVUFGVzZ6L05neCtZb3JlMDRzTmh1QzJMMEx3TUNYbmdxdE93Wm82a2dFNU0yNC9RaXVGMzNSYWJMY213ZFhYT01WbEoycmlxUGt4SkxpNDlLcm5ua1ZGUE9QYjNjK2hEamoyQjFjUnc0N1VrMHRqVFVha0tJTzl6dkdMd2N4THlvTVdrekptalFLdHVpOEpFNUNCdmtJc0VZclVpNnZFVStTVmxHVmZFYmxWeGpndVljQkw0d3RYVStPd09YQW8rQi9FMmtBSXR0dEZKT0xIbUJFeUI3cGtGNU5hN3BvdEptbmw0RW5ldEQza21ubUtLMGtvRG5iMFJvcDNGU3JzTHhVY2sxajV4cUJwT20rWEVLTTVrTDZWbzRHbTF2OFBWZnRYU1hUSTFTd2doZ2NtQTRmUnF0VjRXVGNSZVZObU9DeHRNMlJZR1V3MTJVVnF5eUlJTFA4eWJ3TUtPU2EwelFZT2Y2aXhLcjQ4UXVxUTJPTXd5RS95VDRUY3pwa1RzM0VadkVoTEE3OTRHSVg0RVhpMHJicXFFTVlXc0l5dGRITHN6cnlxTzBkRW80eExrS2V6ekM2U1hkUlNYWDNPN1dEb3lvb1hGQVhzWnE1VURVNTZRZVdFc3NUZTdjUkdoR0pMUWhJeXI1dXFGK1ZXUlUyb3dKbWdOL3JzalhUcmxBR3FXbEtva0VPRmZCMUQ2U1V1cHRSSExOQ1JyOHVSQTNmcWhZL3MyV2c4QU9FODZ4ZnJMa2tqczN6MU50TXNOZDJYK0ZoVVJVMmp6amVGbXMvbTd5SWgzdDRyVlEwRkZSV2pvbEhBSlhjbW9mVGlqM0xpSzV4cEZUL094UllTM01wNXQ2V3ZrYStMNHVmNDduV3JPSVNITG5KbU9UbkFLWHYxSnV6eG1yWGJwRVJOck1DUm8zNVE2UmM4R1FmbDNRRW9yUXN1VHdvOERWT05zd3NXeUdoSWprbWhNMDdGTitpVlBxbXZQWERLUjUxcjd2a29hdmU4MVpHR0g4a0RzM0k3QWlPMXorY2hmQ2t0MGREdi9CbmtGNVB1UjlPQkozbC9rQnlXbXVDSzNFSWdOSTdwM0UxTklTbW1HRjJqRTNEeXo3TXpPUG4ycWQ4K3I1Z0hhNUEyYitLOGxFMm1HRWt6TlNpa2JBZE9lR0hwek9ncTJ5dC9XZDB6WW1hSHpQOUJiU3hBSEpScDdFWUlSV1lqNElidjZKVVNMVldNSXdOS2NQZjdURkdmRFRTUDFUcldNRjAwVTBoYXV3NFhJSHpLWDE1RElIQld6cFpLcm5QQVZLVUE2SFQ1NXV4eHY3MU5QdjZtR1A5Mi84emxNeTdVUWZMNHVvWlc0TnpxZFR1WEZha21iMEY1Wmh1THRFTTVSdzMzanF2M3dWYXZuUVAzMUtLdFdWOEhyekVlK2luUUlxRjR1NmZFcnczUE11ZE81d0o1bm5qakZKVHM1RktTRUVZSU1GL29RNTl5T2hGSEhEQlR1NDlvTFUwQVFOaHU1OXA5RzZLeDkrbklLT3NkRFNpZUdRV0lpUUZZYVRFdSsrN0w1NkxUSFJrdENVRFZNV1EyaUM1c0RRM1hXZVpHK3lGRjMrOUJ0UHZ6RkZaVGgvOXhCazlnN1l6cHpWTzczMGpQdG0wUEdVQjNEbDUwOS8ybEloUmNVUnVJTG41eitEb1pxb0dibm0yQ2xlc1h6czFnMzEydldDVk5GQnJoWDJhaTlrQnh1bHc4RTRyWEM2Y2NlWFIvUk9XU01oT2ZqRDdJWXg5UC8rK0w3VVpEZndwdWd0dkR2NllrQzFxODhFRmpFbnA4K29OTFBpdisweDVyR3pGS0w3USt6dUI5aXJzT1BtL2lDK3d1TTRiM2ZaUSt6K0ppeTJnSVdGMXFteElYTEZ0WFViazVPTEhGNkZpSWoydnkzZDhtMThLOWwvOWw3NWliSVI1QXNSSVhONmJBVno3SjNPaVJydDRTRGRHbHNrbHFGdlR0Q1F1dnc5cDIvWmpPVnl2cDJ4angwNlgweTF0UFlmMzNqMnk2RHduNzFYSDhZSndlaC9welBudlI3Y0JvN0c1cjNERmYzSzJvRU94Z3RmK0pobTRNNWRTSFhRQitCcTYzV0w2c0RqL2NrNnZDWlcyZjBLZjA5UmVwb3hrdHhPekpxVVlKd0puSlNGeDhPKytsdjg5NjM1VnloNGNheHhETmczNGVmYVhZd3dkMFRNQXQ5NHAyZHJMV01RRWVuMHowQ2dGN2h6VDlLdXRnNURFelNEVXBsQjlLZTBIbUsvMm9aN3pIZTVTcDlwbTRWY2QrbFlNODRFSGxHZzBRcUc5cWpaTktLTVBlbUJvSW5lSHpCWTFQeDZnaXQ5TDdqaHEzZVJRVUJrb244K0FpM2ZuU3NNUzh1QUZvY3BNa0dMWnlnalpnakp0Wm5kaWJRWHVjeXE5Mit3UXpHSFFveE0wQkxxZW9BRk81S2R2bGlwU01nMlBob1QxZzJScTRuRzdvbFFmeGMvVEpwdDJvZ1FpYlA4ci9HdVA1TjBwUkk2Vzl1QkdrYXE1UllrT0pWcGFCd3ZheU5YVXR3QTNHRDRUMzkxdVJRZEtkdTRrOGZOMUl4TTBLeTFROTRrWTBNWnNHWWNHOWxsZ2NPTkcvWGJQUHNDWDQrRVF4QitSbjRwSThLL25lWC9UNkNKQ1plY0htZHRIaDRFNy9rUDNPTktGeUk4OWxxVUdtZHN6aUlaWEhDVFNhTU5kbERkZ1pKWEw1dXQ0YlBhVHlPSlhSWTRFVkZkbXZ5SktHQWRQRmk3NUllaWlHejhJRElIbWpaNERwRG9qY1RpczVYUVJCTVRMajVZNXJsOGR5NjJrM1BmZnhyeGIyZWJPT1hoU2V6UFVzOHZGWVVGNFloUSs3TmhJV2F5TlVRZHhwbkF5WFV1dTdwUERPV3FlWEwyRVNtUXk5dCtNbVRZZjN4ZHJteWhRdGI5K0xidUpIN0U3UDVmNUtySWZuMUR6bFlKZDI2RE94c0g2Yzd4c25wOWMxYWVXSXlQQkpuMHpieDQ5SzZjb1VGdlpaY3E2dzdQS0l0NGcxMzZMNXhCbWpFcVNrRGRvNXR0K2pmS25kdlpSUVJxNEQrNE1JU3MrU0g2SDBkZ0ZTTGl2UHMrTUd3aWxBSW9mYnhzbkZocE1YejhaRnNaeUszeWdWdWJvQmhKN21RbzdXZlZad0tQS05wVG1oSUc2ZTBSR2NjbGdWazVMQ0RvOXdaaGlPRTU3UHVGVWRjNEtoYzRIVGpkWFJHV0c1OG43STVGWWk1Rm5yRkV4bWJnaDRxeDQ3SFpkSVl1RjFTOEFSVElLMGFTRFoyWU10UVVlbnQwWm01VEhRWlpydVJ3WDJqcVVLM1NrSmY5YkVFSWFsL0phMHNiSnJvY2hRSUUwSy92K1RNVHZsVkFZcGtNajNHOGJIS213aWw0ck5uY1dyMHQxSW54Zy8vZ1FtaEhCTEw4MDJjQ0o1ZENsNUlPaUliWVNwYWNkVXpLVU9zSjlMTmRudnVxOEpUamdRUkZ0VllPSXVqSFFLQUZFUW0ya3lNa01UTXlSSUlUbWFCaG5RNVhwT2FSdDEvTkZlR0JNbmVhS2pTeVZDZ3gxUVN0cTZleER4UWJmVnhsRlBCK3RzZFptZU9udVdrVEhVWkVkbU05MUtSWnZmbHR1Ky8zejIyYURlSWljdHVQNkNBWVNqUHp5ZkNKTk01a1JDVy9UYkFpZFZ2NkN2cHF3YmlYb2lWUnVyN05GSTJOM1BlbHM3WHhiNVdaR3NtUzdwYVBjREluV3JzdHc5emtXZmR2WUVRRWpsMlZlREVDM0c2MVhtWkhScjlXdnJBamhQZkdZZE9jQ0poRHNESmUvMGQ1MVdYeVdJaHo0N3N0WDkvaUJ2UlQ3L29TOWlWcWFZc3lrdUllVDBkMVRmUXpYUUlLZU11L3kyV3NhMEt6R3dJRTlzdjAydnJ1WEwrUmZGcTBQcTY5amJGYWVSeUZOT2w5c1BKeW1veG1IajNPUXNCeURBMVBtY1RzWWQ3UmcrdVhEdTFaVXNaMnRjYkFTNmpHM1BCQUdUcDRnRHNwcVoydmJGYzlDWEw0OS9UYmpIWUtkMjV3eng4TGR5N1Y0T0tzSzdkcFduN1E4OWI5dkpWWmlIeWg4ZGF0MTMzMCsvNTlNYm5sTDU3cTZYQ29udzJVeWROVU1wd1dnWXVVanl0bTFWNVBydVdvbUNrRjRKcFhEcTcwTExUVk9DdmRUT25McHN6Sk8zcktyR095dFZRMzQyNW9iY0NoNmRKTTZwVlYxeGhXWmpPNWFaaGIySml0blpWVGJZNFlsRzltWlFIc2IvdGxLck1RNGExVDFtbFc5a0w1ZWQrOEhjU0UraGxtYm5Ld3lXT3NoeW81MXpmbzE5b2lYQVdjVzNWb2J1WWxOTUcwSG1mUmtKMUsyZ0hDVWlNV284Lzc1bkZBSXRUUHRNbVR6MWd2eHRZTWxXNlpJeFczNGliaU9oZ0hFRDhPVHozWWNabFZ1cGFxWmxVV1lqdkh4Rkh4WndhNFV5d1lJTGp6ZWtlbG9XOXMrVGNoSTBLbHoycmdYWFlYTFdJUDh6VUpBTjVSSmROdUYxTUZxZ29JaDU1OHNHa3J3WTRyT2Ivc1ZXVWhIdW14UEMxYjlueHFZeU9TbTJZLzY2b0ZpcEFSWWFjeU83R2w3OC9GMHpZWCtBZFpYLzZxQ0Rvb251eXlCMkdRQTBabEZ1S1IyZEdMTkI3RG16S1lRLzFzcU5aUVFrWkVrYnJxVUxhSkI1cHdHUjdCREp6eXJyK2o4emR4dTY5dnB4YnFnby9NWDA2RmhYZ3o0TmczM3E5dmxkNkF0dllJRktNTmUwZ1p6SDQvbTN1Zm9EaFFEVWYzM1VIVXZ5dFdVVTFLbDc0L2x5OCtyT25HOFZGNlE5OU9MWFFDUHRTRFRjc0ZtTC90NXcwc3hQWjYycUtwODBHYVpPOUlYY2FhRVRyM3hTQUJiZ1krU2I3aXV4VDBFZEJOOFdnYWs5akliMld4M3BGNEVxWi9rczhicEU5bW1veDN3RWZtSlRSNHJIWjhwZ083NFdDMzlEYWdkMnlVUWhRWG96aGpBQUFnQUVsRVFWUkdyR3hnc1BUWHZpTUl1OHJYTXhSMncxSyt3YlFVSnV0TXBHdVlXNXhQU0V4bVhWZEIrMXJnSTNNUFFpODg5bmtKN0liT1h1bXNRVldhT3ZjTGEzbHJRT2VTcXcrZ3lZVTI2R2Rhb24yN1lWNnE1cncxbmROeTZOZDhwRklYVjNhYjZtNXFBWEJodUR4U3NnSEozZmV6SW5RYklXODdaY24wMlRBb2NTa0xyb2EzSjROWmZ6RTFsbDBUWThVR2l2ZDlXdHBCZ21NSUVYMVpac3Rhd3puUFA5QmRYN1QwQ0NLVCsybVVoaFgzem1VZmxTRUJhejRMQjZJUnl4VllpTEJKcGY4Q1ZiMDE4eXhTUTZRbHRPTjdjTjFEa2VoS1hRd2pncXZibzNWZGhrSWFBVWlJOFNUNEFmTmxUWjUxSGRsRGVHaktaazFmR3J6dis3azlFYnJLVlZiWlYwY0tGZ2czV3EvTlQ3NHY3VncrdDRDeWtFYzlxay9YdzZUbTd1bmU3Zngxbk9PU2ZBM3lwdGsrN2lXVE13Y3pmckpoVEYrVUZLYXZHYVVnQWJqNEN0dzIzcUdWaG1SNkV1TnpIb2toM00vM1E2ZUg0d3NrNWVoS1FoZ2d1SDIrR0ZodFBlbHo2UHYyaEx1V1JPRkN4L05uZk50RWdNdU1mSmZhako5c1dDeitibWF0RTZianJpaHo4ckF3MXB2cldTbWt5SSt1TFJsYnNaNnNtNEtHeUlJUlF2ek9zUytKWHRwK3lTL1pEZmJxcnB5NWZEaVVxamd0MlF1U3J6R0VvTjQwRzhzVkFIdURHVE9OTUhjcjV6QlNCNzdsczhLK0tMYTh0ZmFxNEwwbHUvcGNxNUFYQnJiOFB1ZnY1RVgwdUdOWUJidjhqbis4d084YUp5OE5HWVQ1Q3JrV2ZGeU0vMS84aWZlM3VKeXlqLzdzVHdYUlgzcXZpR0NQL0tDUmJ3ckJWYkNSdzQwWmpPU2RWMkVlZGV4Y0x6QjlHdEhtSndObnpOTGdiSHRFdHZGSkIreHJrWWwvMTU1L2VrcWNLTVlMUWFKdjQyZitkTHZON2JaaFNMSHdESFQ1WXV1THF2OE0rRndodU5hbWlrOFhYT1RRTlFzdSs3RFQrRGlzenlZK1d6R3N5SjAwWUg4VFI5ZDkyajA3TG9iUkVqL3ovSGZkYitEbjhQNng4K3VxdmU5bUx4emlMUFBYWXNQNTJlWjF0YUdzV0dYbnFuUkhuRFgvT003Umwzcy9sc1RCK28vallQMGlIL1VvQWFRVFNHNmU2ZFYzTXB4ZEx5YnFMZzdEcjZqM0xYbnNGSWIwQzRYSmY0R2YyTThGdGpIQWR3TDJKRzZOUGp2MTR4OWdaN2xna0pUb2QrSUlkQ0M1ZC9MVStzV2ZjYi91RTd6Z3lyTm43OGhESUUyWmhmZDRaMi8rWkpxY1kvTDhnemVlZm15VDU1bjczck4vcWZQeXI2Zjhrb2ovc3ZlTjRsZW5VYWplQ0F3Z3VUZnJ6U0p4UndoWUVIQWh1VnVXZUlvaUJHcU5BRndEd2xGVWF5YUpPVUlnaGdCZjJhTTVkUXdXaXFnOUFud0oydHcxWEh1R2lVRkNRQ0RBRjMvVlMxcUVDU0V3TXdqd3hkOWcvOG5NOEV5TUVnTGkyR2J5d0pNZ3pDQUNSOUM1b1YzRE05Z0dZdmtpSW5BQXlhV0ZpSXY0NUdlOXpUMUk3dGFzTjRMNHY0QUk4TVhmL1F2WWJtcnlyQ1BBRjM4UFo3MFJ4UDhGUkFDQ20rT05pQXNJRkRXNVhnamc3UmI1ZG1HOUdDTnVDSUdSQ1BCWE02Yi8vdkZJRmltUkVMQWdnTk9LMVBrdmxtU0tJZ1JxaWdBL3JlUk9UWGtqdGdpQlpBUnd5bEp3Y0VKeUhrb2hCT3FIUUJ1U3UxYy90b2dqUW1BTUFrMUk3dHFZUEpSTUNOUVBnU0VrdDM1Y0VVZUV3RGdFK3JTdmZCeEVsRjVMQkR6YVYxN0w1MEpNalVNQXhvTDhydG00ckpST0NOUUhBWDVnT2UwcnI4L3pJRTdTSXNBUExMK1pOalBsSXdScWd3QS9mSHFyTnR3UUk0UkFXZ1Q0NHU5KzJzeVVqeENvRFFLcmtOek4ybkJEakJBQ2FSRTRJbmR1V3Fnb1g2MFFPQ0YzYnEyZUJ6R1RGb0ZPdnZQSzA1S25mSVJBUlFpMGFIZHVSY2dTMldvUndBUnRvOW9haURvaFVBRUMvUDNKblFyb0VrbENvRm9FK1B1VHREdTNXb3lKZWhVSThQY25xNkJMTkFtQmFoSEE0Yms1UGo5WkxVOUVuUkFZandDVzBOVG5HTWZucGh5RVFGMFE2TkpoQzNWNUZNUkhKZ1NHNU03TmhCZGxyZ3NDZlRwc29TNlBndmpJaElCSEgvSExoQmRscmdrQy9QdVR0TWV4SmcrRDJNaUFBTDQvU1o5Q3k0QVhaYTBMQW5pWGg1eGlkWGtZeEVjR0JMQVE4VktHN0pTVkVLZ0pBdTM0aTcvL05XTDNQaDI1cndubnhNYkZSdUFnK3VMdloxM0cvdldoQm9YZmY0eGtWd05Db1hvZzBHRnMyK1RrUWZnYU1HbmJEK0lhSHhmM1gyOW1vVEFoVUFNRVhIWm1jc0YzanZIcmJxQjFmNTJkL2JQRHAvODduUXh0Z2tUaEdpQ0FmZVdoajVzTTJJY09sNzhNMGZXL3ZYNk4zUmNhK1lmdWtyMVFnNmRGTEdnRW9HUE5NOFhtMmEvd3RCK0c2TjdHNzdKM3V1Ym5IZXo2di9TZkVLZ0hBdmhHQkJkUmVSMEV2dDBoWTJmUXNwOW5Id2xTcnBIVFYySkV2N1ZBb0JsK2xjZmI4Ym55VDhsYmR1OUpKaHV1RE5FdklWQUhCRHFoQ2RxS2Vqc0N6ckw3em1WREg1L3MxWUZkNHVIQ0kvQ1BIejBXR0xpaFE1K3ZxT1Uwcm5Sdjk1VWdPODZsbXhjZU13S2dCZ2hBTUYvZ2JPQjN3MkNudmF0dW9IVHZzcTlWdDg2OEVtb2RSeUZDWU5JSXJFS2xycUZTbkVES2YrVFZQSlloNXpweW1HbHpJZWVaeWtZQlFtQ2lDSFFobGp1b3NSbmU0bml5cmJuQTRwcFF5MEhNTWprWE5EWVVtaG9Dc0FYRU9lV3Q4S2VxaDRlYW8ydklZdHc2eXMyZ3MxQ0lFSmcwQWx6bkhnc3pkOGVzMnBUY2hzZE1PN2ZoTDZxWnVTbE1DRXdjQVN4QThPMEtUNFNOQmNlMEZoeVlDOGJiRW1RdFRQd2hVWVVXQkRELzRxdGpBL2I2VUtJeFErTnVCM045YllVK21SYUNpbTZtaEVEclZhajRHanMxTFZuSFdkM1Y3RHpCb0hTMWNYdk4zTjZnYzFHSUVKZ3NBayt5ZHpvTEhudFR1RlpUUEZ2MytDbVBPekpEZDBPRzZKY1FtQ1lDUFhibXN1aUc4U1U5RGJ1R0pZcWUzT3dJUmx2NzArU1c2aVlFSkFLTlgzWFBQaVJ2MUsrbkhMb0Q3QlZiaE5MZDh0UG1RL3ZQVlg0S0VBTDFRS0FwWjJ6UGlia2JMTjM3bTRLenpoL1hnMEhpZ2hDd0luRDF6Sit5cmZnU3k1ZUFoVVh4b0RaNHJlVW9raENZTWdJZHNjaTc1QVdTK2dCRTl5Ly94by8rdU9Ga21ES0RWRDBoWUVYZ0tydjMzMzcwMDR4OVU1Q0tTWnE0OXF5NUtaSVFxQTBDL0JVMHh2Nkc1R2Y1eDhTOWVEdE54dEV2SVZCSEJINzNzZE5IZjgxZzdLc2VZNjh6NzQwa0NoSUNoQUFoUUFnUUFvUUFJVUFJRUFLRUFDRkFDQkFDaEFBaFFBZ1FBb1FBSVVBSUVBS0VBQ0ZBQ0JBQ2hBQWhRQWdRQW9RQUlVQUlFQUtFQUNGQUNCQUNoQUFoUUFnUUFvUUFJVUFJRUFLRUFDRkFDQkFDaEFBaFFBZ1FBb1FBSVVBSUVBS0VBQ0ZBQ0JBQ2hBQWhNTE1JTFA5T21QVkc1RDZjU25lRVFEMFFXSG92am16OEY1b1hjZitIK3A1Q2hFQXRFWmp6eEFGTTN5cVplN3ZMNzArUDVUMzlFZ0wxUkFDSDVJcnIyM3oybGx6MjEvNVM0L2RheGpkLzY4azNjWFhCRWJqR1h2Z3Q1L2NHRU40ZGdjU0EvU0wvWGZBaTM1QVFpZlNQRUtnTkFwMzcvTERuaFZid3NkVG4yQ3Q4MXE2UjBxM05NeUpHSkFLZmMxOTlISVNYbUg4MExqK2VIRWZ0TDd2QjhmcjRXQnFkbVN2eG90K2FJUEFGZHFwbVlKZmw1M2dPeEdjcFB5OC9hWUlQVk42cENidkVCaUhnSTdEc25oMHU5SU1QcVovc0JyRHdiMDd1T3A3K3Z2cUtPSGlmUUNNRWFvUEE1OWxMampQSGJndUdXb2VTTHlqZEZ4WWh2T3A2U0lVb1FBalVBWUVXVE52bEZ2c0s1NldoNTJGYzZiWk9OeldISFNYVU9vNUNoTURVRUxqT1RoMm5IWHhJZmU1bHpjY1FvbXQrOXN6OGZyWE9SU0ZDWUVvSUhERVlzQjFJS2E5LzVVODFGL09JODAwSVArNW9UNmRSaUJDWU9nSjk5aWY0akMra2xCc0QxMkh5cW12QXVBV3NydFV0RmFRQUlUQjFCQmE0QzhHQmtBcWRHNUxjdDJLN3dxWm1zTDJqd3hRaUJLYU53RFhHOWgxbktMeTNZV3ZCNGViQ2h1YVByQVdOQllXbWo4Q1JVTGFYR1JNV3JqbERjdzRndWRxZjY1enNUNTliNG9BUWtBaDBtSENFdmVjUmJ1WTZqdmFLT1EzM0hrUjNTMFR6ZndQRGNsQ1JGQ0FFcG9RQVk0WWpMQ1NlVjlqV0NXTnlOZGhadURzbERxbGFRc0NDd0FyanJnVjlIZXlvOE9DdWN4VktWMFpjRVVzVktwVUNoTUJVRWJqQzJFMlRnY3ZLb1h1Tjd4WHJNM1l2U082RThwbGxLRXdJVEI2QnRtbkpvdnE1czhDYVhmWjRpTHNYUGlLNG1tZHJrK2VPYWlRRWtoQ0FKUnVXeU40Yi9Ld252c1FPZzFmUTVqeGw4Q2FSb25oQ1lJSUlZQWtpVUxKQnBmUCsxdkxQQkZPek9SZWkrL2YrNFgveURDZkRCTm1qcWdpQkJBU0NGUWdqdGNmKy9wLzd6VDQ3Mi9iaitDU05YN1E3MThDSWdsTkhBRnNaNVF4TThzSmZRWU04Nzh2NzM0WFd4UUVNaC9LZWZnbUJHaUN3eVB4OXVTWXJ5Ky94SHZvbFExRG4zdU9kdmNXNE4vTlNtQkNZRGdLckVYZnVkTGlnV2dtQnJBZzBJKzdjck9VcFB5RXdIUVE2NGMzajAyR0NhaVVFTWlPQTJkZHg1a0pVZ0JDWU5nTFlWaTVlaFpnMkgxUS9JWkFOQVp4a2c5Y242U0lFWmcwQnZCQmhiTWlkTmU2SjM0dUxBSnhpdEIzaDRqNytHVzQ1bkdLMDYzYUduOS9GWmIxSEN4RVg5K0hQZE10YmpLM1BkQU9JK1F1S0FKeGl1eGUwNmRUc1dVWmdEcEs3TjhzTklONHZLQUo4NyszYUJXMDdOYnM2QkpaUHE5NWFpTmNuSTI5RVZOZWEwWlNQWGpzNm5WSm5DWUY1Zm14U3BSZmN1VFZaUXV1UWM2N1NKejFaNG0xVEh5NDljL1p6cFZmZnJNc1NXaU4wNk1ObnZVZkpoaW45WVUrUTRJbHhwdGVjZC9aczZERGJVdmlBTzdjZVMyZ3JadHNlWkk4YW42Y29wYUZFcENvRW5qVFBCcGVWZU9yUURzZnBuZTQ3dlhSYkRCcXQxQW9MN3R5Smo5Slc5aTZ6YmRscW5LdnpHdnp0cW5zSzFCaUJPYy95WnUyQ2Nmak1Jajl2NWtxNnJiUVBwbmQwWVlKbUh1MDhFWVNzN0hYUGROMTlma0pKSzNUWW1VNmtVSzBRV0JyWTNnbGZOQVJWUE0ybFZPdGRuMHZ2b3VXN2MrOU1HQWs3ZTMwdHFLS1RPZ2MxbVRsT0dKMlpxcTd4MjE5eXJhY1p0TVVoNHFJdGkrSncyMGI0MUVWYks1LyttdStHTk83WmtpeHgvRHVURzViNHlxS1MyR3NZSGFndkRJZTIwVzByWTRjSUYwS2dqN01OK2phZE85UUhJWno0d3VpT093Y1U3NkN6UjlKTExuYm5UdlRrbWtUMnJtczJWbndvTGsyMlN4VjZnaGUxOEhzZit1QjIxeWE1ZW9LMnpId3pzS1cxc0IydHhSdVBmQkltUUZxZEMzZnVSRlZiSW52R0JPM0l0KzZ2R0ZyWTNsYUtyUU1DTnNtZDAxcm5jdkJac29FeEEwOWtPNFBrZGlHNTI0bUVxa213c3RmVWc0bm5MMGRmOHcvL3I0WUhvbG9hQWpiSk5TWm92VUNJQjJrVzFheWlZZWQwQ01tMXAxUVhhMlZQVDlDdU1sK0lyMDNlWFZkZG04OHhaWnZrNmdsYVEzdzlCODNubnprZGUxbEZ3MTVxRUQ4T3o1Nnh4RmdiZThZRXJSMUk3QldiL1ZRaUcwU3FIQVJza3FzbmFQT0JtZXU0NnVUN0VkWGFSQ01oTzN3YXhqSmRRcWFTbzIzc0dSTzBUdURFdmxTVHhiMlNXMy91eU5razEzMUpOdk5JNnA5VTU5SFlSRU5TQ3Y4dXcxaXdySUNFTTVWOVoyUHZranJ6QVN6NXc4cnE1UHRVMlMyOUVQUXNrbXRNMFByQlFoZXNocTN4Y05oRXcxNEtIemVadkRWcFkwOVAwT0EzT3hUTXRtT0hvOXJiUUxIVFJjQWl1ZGZVYkF3Q3V5SFl3MFBmR2MrblRUVHNwYmg3VlNsMmU1YnlZMjNzRGRUbWlYWXdRWE82WkMyVWozMEZGQzJTMjFiTG4xanBPaFoxSWxEcURPMFNKUGRPQmEwWlNkSWl1UTI5cWoyVXk0VERuSGJNNTI2OEphaCsrYmRHOGtHSnBTQmdrZHplODVJeVBtenFqNkRRa2ZzeU12blhJaG9KbVk4Z3VSc0phWlZGVzlpN3FvY1NUdzRDL1h4MnpOdlk0K3dOUHU4SEUzZFZWNFpaalFsYkpGZFAwTHJ5dlFXSThOcjRSbGhFSTZIUUNTUjNLeUd0c21nTGUzcUNoc1IxdjJZdldIekp4a2ZEZTUvakJhc2FicG9CS2h0NXloMURJQzY1UzNxRGFrZE9WdHFwWGhxemlFYXNQaitpQThrOVRraXJMTnJDM29IYWQ0eXZyMjJKbW1IYmg3Nk1tWktkYXhpbyt2N0FoSHBHZGZQditJdWYrc0FiOWNhUWxQUXZWTGEzc3RPSGJqMysrT08zYnJoS3dRM1pqVnV2ZS95V3ExeFNjY25WRXpUSGt3Tm5VeXJma1FCYVJDTWh2d2ZKM1U1SXF5emF3cDZlb0dGVTJSYzE0M1g2OVJ3c25Hemd3OFcrN1lGSndXWXlCZjZCd2lrNHM1TVpxbUZLVTJEay85c04rR3NGY2FyUHh5WDNTRTNRb0g3VTlVS0tCbHBFSTZFVUo1dVFWRjEwbkwxbExhUnQxZEpVcnVzWWw5NmhnNDYreGVPdnllV2JXQ1lld1NlbmtVOTFXL05kNU1qclAvRUJYMUMvNVdkL0NyaUs2OCs3QXJoSFBpR0JpVXV1bnFEaHUwL3FlbGtXR1BFYkY0MkV6UHlZRU9OVmhJUmNaVWZIMlRNbWFBZXFwYm5zbUJXWUhWakxPT1k4cjBvYnk5cUF1VS85Sko3QnhGMkNWbDdxSERuQUExRlN5aG5sZzlYOS82Qlpqa3V1cTh3OG5PYnhqcWY0OVRSTHRYOHFMaHE2bmxDSTd5dFBvOFJEaFFyZnhObTdwSWYxSHJzbm12clVVUzQ3NWpMZTVnTmN3a3JvU3Y5YUVzZFF1K3RKYVJRZklOQ1BpZ2hXcjE2UUNwam5pVW11TVVIRGFSNzdnZzZVNzdvSWpQNFhGNDJFL0h4ZnViSzBFL0tVSHgxblQwL1FzS1hvSzM2TkI2bE0raWgzN1hWdUIvanp2ZUU0alFySnZSMGxRUGNSQkR3VzhmRmNZL2ROd1kxTDdoVTlNVjQxM0xrN0VjSzIyN2hvMkhJaGp0dDZ0bGVPRTdLWEZCMW5yNldaVUFONG55bDNkb1o2bjl2alNzQTNxUWJqdW5rN2wwR1NnWnR6a0pYUHNlNkUyakdNZUtOaU9sZFAwR0N3QlpNMVNKb3Y3a3ZvQ1pIclRIZUV1R2lFcXRZM1I2QlJoYVdYa1Qxamd1YW9VY1VkeWRsbklxM0hiYkQ4NERpZHdKM21qdE9vc0trMWFCb1ZDaGtJOERuV3JuRVBXK3dqNXEzRld1am9ZYnd0ditUUWxXdjZmTDlCOU5wVEJGTkxMaDVkcEVNcEdvVUNHZGtMdnUzT3EwUVgzeFZWb3cwYkltRC8xNCsyM2pCN1hKK0VuS2paQ2ZEWWp0UUl5Vmt1ZkFxZmoybkpBaHg5ZjBEVHdNUjBycDZnWWZnTEJzNWVNQTQ2QzgvZWlsNlBiQ3BpcVNXM0I3WTJWTEh5QWhuWk15Wm9ZSDFIOElGcDF2RUlobjRrMnZ4YnQ5NFhaSWVXMk9kQnpDVEdhRlJ2Q3RQVGdNbVorWUYvWFp1dDRQbzVZMnozR3hHVlhQT3dvcWFjdFhqakxEZWZWbXJKYllHdExiL01CUC9IMkRQT29JS2ZibCt3Y2ptM1BvVENGeFFXeDFHQWZvL3Fqd21pTUNOVnRTRWlCcXRMY1Fzc0tybkdCTTA1Q0h4aGF0TzFRY29XakltR0xST1BBMWNqTlZ0U3VXTHhNZmFNQ1JvVTVyYWdmcFRiNlhFcDBLVHlONUZaMUZXRmtaOVkzMHdtd0tEVTc3YmlpTEI0WDQ5S2J0ZFlJV2dHQ00rUDB5SUJOakhSU01BTSthU2dKT1NvSkRyS25ua0dGWFN1UDhSMzBnMHZGZ2FsYStGb25FYUZDYmR1S1U5UkpnS2QwSW1KVDU3NmVzWE1FWlZjWTRJR085ZGZsRmdkOXl3Q2dsSFJNT3N4dy95TkNMMEdZS1pVR282eVowelFIS1J0aXNyekR3YkRvSitmak5Pb01PRnVWOXJRODBEY00vMm1jMjdFcjhCYkdKVmNjNk5VTzNBQURJMEQ4a2FoRWhXTnBMemNCYUEyUnlSbEtqOCt5dDZxMFh0Z2U0b0tyK2RmbFpiYXVzOVJlMkF0bWY5Mi90NlJUUFNjcFlUZHVjUEFVeEJxWkVSeXpRa2EvTGw0QnNKanRCMHFrM1FURlkya2ZIemU2QzgzSmVXb0pEN0tuakZCNDZhM3FMT2RhcG5ieXQ0Z2NKY0k1MWgvaE9UQ2hEdTBVcUJJaFFEZjJiSWg3eFpQYldoR0pOYzRySWlmUFNxc2hmbTBrNWFvYU1pYW83OVFPc3pXaTZMNVNyNlBzdWNaaHdSajlYZVRWOWNKT3hHemNERHdiUUIvT3V1T0tFbnUzQkhnQkVuOEF6ZzdRWGpaZThQLzM5N1ZoVWh5VmVHYTdQWjJOcnN6TzY0ZzZrc1BNUklTaUxYWm1FQkU2REV4aUNqMGtHUkZFNlFIL01FOGhKNFlYM3lRYnNUM0hqRUtTcVFIUlVHaTlxQkVqUWc5K0tENDFBUEcrSkNIR1lRSTVxV1g3aVZrVjVQeU8xWDNyNnFydW11cXVxZXJxMDQ5ZE4vL2U4NTNUOTE3N3JrL0ZaWWhJTG5tQk0yNjRHbHNUUzM5WVNYb3NLQm82QmkvcXdLeXhDNEJmOFI4ZlFIeXpBbWFaZlhjZnJEc205Q2VqSnlPWitnRDV1dFdlZEtRd3ViYzZjQ2VoWWpJanJZZnZqbXI0dTlRRzZiMVlkV2JtVlhwUHVRNEQ3cjQvVGpwMmlEcm5UZ0paNXNtUU40NW4ySHV5UFdkb1d1dUV6NXRyODl0a2k1d2JzS0xDUlZPTDFNbXJDdjMyZW9RRWNHa3Y1MDA1ejNmZW83L2N4OVdsemFnZS9jaDZ4elJMbXhlM0kyTzFURmRrSFZkZTAvTEZTQ3Zia3pRYUR2NE51aHdyN2xPU0UvRnRYV1ZiTEpTM0xZUlhRak11YWFhRXAyd3lERVZaYzR0MWU0ZUI2SjA3Wi92aHhDOStLMXJzbE5kODBZOG1mU0lHcmNScjh1OTlzWG4wSmZlL09zL3JzbmNrZitvTTZhMUlyS0lFMGVNa3pkUTUwS29zRlhTNmMrbDZIS3RNNjVBL3YxdEczMXVyeFZOSU15NUMzaHRvK25KWkF4RVNjeUVMdCtTd21rUUNzRVdqeHkrZkJNMEM0cnVudldrODVpUkpkSkprMEh4N0VjbThpSXdoNG5aT1VjWHRQYVQ0WGVqWThkalFzanpUZENnNk42eVNyVWJJU2l0dnZMSThLSDE4U0tESWJocStCQ0k3ZmVkMWtxNHplOXZWMitBYUZoVzlrVGVOKzE3WWhRY3JLZ0kvcG8wNTE1UUV6V1Q3WXB6SjQ1WVBuRDFUcVY0TmMwVk55UWRETCtuNHN5YzQrNFZaNGl6bVkvU2FjMXBrdXN1UkV4TE5GNkRHVkt1RFkyOWhHdjIxSmRybkx4eVlONjU1dHhURFNQOTgxWEhxVHFqR0JMMnZIUGpSODdkMkhGenF4c3l3Rm1sM3pqREtyYnExZFZzNEJ2T25ZYXU5cSt3MThaa3VraHU5RzNYaWQ5U043d1RHTU9pWTA3UUVMdjZwZUZudHNaU3BReWdEV3hxNHBpc3JNcGJoMnY2dEZkZk8rTVhaMXdTN0dWNnJYclh5K1BaUCtjNHZ6NjBYbysxaXZpWFIwYS9SQW12VmU4NUhDOEkxb3UzRHEzM2pyYjZjdVY3eFhuV0dpajFET3J2ZGtpdVlnYlJFTGxKckQ4ZlUxS00yMlRuaUJndFJQaG1SeWV1cTB3YnU2UUEwT1crNFhhVGllWFc1ZHgxWWlyWXVENUZDWjVJZmNqK0tXZTBnNEs2bXcwNWEyNytqMDVieXRrYTdFQzdFMGtwVXFRMDU5THd2QmVIY2VNMjJUakpFNmE1QkhKaWpnRVJOVHhPUTBOVjhnUXpVMkNvaU1qbUMrNzVKbWkrS08wcDFZU3lGTlF0ZEpLWXJoWGI2MFRPdkZ0MWJybDVTdll4S2IyZXh5SWxBbjUrWEFTa09SZHZlVHo3YVdDQ05pY1lLeUFub0UrZnNLYk9Iakk0cmhVS2ptUm1wc0FFTFp5Q3k0N1l0bXQxVWhxZ0s0SmxHZ2U5K2ZCNWtsbDFZQXBiU2xOMzYrRThMRHkwOU54N29wNHdyWXJvcGM0TmY2L2V3SCtjSHNhcXBCT29tQmoxUUk0d2VjVE1FVWhXcHZVdVdDaGd4Nklua1puSnVDVFlLeVhzRjJLR0VkMTlldElSbG01NkdOYnZIdlJTVmFVNXQwbnZ3cEhTbTlDOVRDOW1LVk04anZhT2VLUk5LOGhYeGUzYlZ1eHQ2blNEa1dIK1Rycm1DU3N5Skt3TGFsSlZSSGQ0VVU5NzNTc2Nldk5tU0RXVGc4N0x6blJTc3FhamJETDlWQlJqUzU2Y2svWWszZDBXcXU2cmhxbW1ISWNtOGJIWXVJb1QrVWhWS1VoZzIrM2JzSjM4Q0ZuM2c3SGpmdU0yMmZISTJZWFlvQ2JWMk51a3poWTk3WVpIVTEzTFYzd2k2ekUwN1ZWYlMxTlBIM0NQWDRsT3FmY3FOTVdjbyt4T1V0WHVHeWpycWNZaFhWWG1YT2Vwd2NPZit5T0lyWkU1OXlsc0o2ZWJPYTVFSkRLQ3c2MitSb0taT05GR3N0dEpXRjVqRHhseGtwNys4UFJWZitiNVkvMzJZc2dKcXBBemY2c3JPdmhZaFk4bHdtdjJZUkZZRjUzSU9iZS9zZVVNRFVOSXVuZGpyTTVsRGlBSktkTjJjcG9XeE1CRjN5WTdUNjZKbUFURHUwR1NPOUJYMU9TcHJVWmNJODAwcDc0a09Eb2xDdDRWc2F2S0ZaMThRZ3lJYllsb09IZkllWW5VRDJBaHRCRFlnVks5RzZMMGZQeVJpR3dPM0w2bEdtc3JkeVZLN1pncEhuU3BtTE9kb3NpeXE3TjNsTHpXOUpnZXU5UVYyV0ZQeUVHcjFJY2kvbXk2aWIrdFM1THZXWk1FRmFkRGhMekNEclE1Z1paaVJaRTU5eGx2SWpJd0dpRWFCSDJiYkhTYTlER2t1ampIS2NxNTNiV1RhSE5KRWczUnVDUTRraElRS20wdEpYZlhYR1RLYVJGNFdWV25VQlBPOWpaeVhWTHZNRnl0YWNVVUpwN011ZUx1SU9BeXZaczdwUWthdE1kMHBzdVZYNkVKdFY2SW9TV0dKaFJvOVRnVHRLYTB2T0pZV1l3dU9sQ0Q2UVhMUWlrZ003Um5Ddm9nZGVkOXBhSlhsTXZNV0ZBM2lldE5qM2ZNRUtUMU14cU10ZE41Nit1Z0paYU5McHBTeEdDYzNmQVNZR2dSaHQySkdmeVJuaExsRHd2Nk9yTGcwbTlUenZzSFNpa2d6VmJOK3JBZldDMG10cFZoTjBoR0FmMFZTTWkreHplcGJONnJQZ0dIbFhTYkNTYVU3SXNpc3VRbzdJczRrUWV2NWJhWElaR0dXSWtoN0tCejA3S3VQZmR2ck5mdW5JaTRZT0txVm1MOU16R3Q4aVJSMW9QVjVNYVAxMWlaZnJweHRncGNPeFhXZTVDSVdDdDZFNm5wcTlFVk10eWFtRFFzc3JRVkZ1b0xvd211ZUY2aWtUMzVnd1UwMllYZ1ZLcWhlR2lWQjBxRWFxdmtGZVVsWjgxUUFDc0E3eUFiakhWQVNvSWRNZ0hpdTJxY0JXdnJnY2laZUVuRGV1Q0JqLzdpcTM5S0o3ZTBRVitiRm56dkdlYUFHeDZ0aVpUMW1iQ1p4VUtBMTNWSkYrMHMzSk9leGY1WFFZcWg2aVVqQnNzWnN0OXV6MEJyRGlPQ0pyaGg0U2NQUTBscXhhNWl2bWQxcGZMNGxZaVRWNUdySERUYWJVcU9hS1BqTzlLejBQLzBTMmhFUHZpUjBqOHZEUkVHZ2ZUcXVBczFCRlRNbEhHMW0vazZESlNSSlpHeXZ0QjJuR1BsWk01dHFmTGhrWjJVQ2x1SXcxVWZyNlN0V28remM5TVFNYTdQQ0xHS29SNzUzak90OHFDeVZscE1jcE9mUmp1dEFEYmcyOG9DYjZtWDBGd20wTkxiSGpkejB4RHJocnlsQTI2Z0J3ai94aHI5YmtDNGRWdWxxeTE3dVUrNlB4ZU5hK2hwUi9EdFo0RXB1ZzR2MVJLYXkwUlRUVGpucGlFZWFYbExpVnRQVHpoODd4bHNEbktCb20yMlZjcnFzcGI5eFB0ejBiaUdua1pycmh0WjRNazloYmFUbGhJSWd4aEI1cVloSG1sNVMwbHRRMDg0Zk84WmhoOXBWdllwRVNtcnkxcjJDa1F2NGxGcjRqNmFlejRUSWFtWDhnWDNKVHR0RHcwRnhsaVFzUHF1dWkwVTViVlF5TzhTRmhTZHJUNnpWNzJqVkJzeTUyNml5Zys0cngxNmt5dWlmcSt0TG13TGI2NytUcncvdDJ1WWM0RkUxZGNGTHc2YXBqT0xMNmZxbmRvVlYwTXNLYlBUekRqREt5SGxLbVdaRGEybzFiMzNyTFpEUldMNDJmV0tGa3BFZmNQekZ2d1hFbkxkZ0dBQXY0dVhFYllJSjlHUmZzNXVxeVdubnFzM1hBd2ZkOUl3Q0xuYVRKTmY1MjFyeGI3dnZXZmVvQU83Vzh0TEpmU0cvcDdPVkZ3WExUbHVHdXhmZ24vYjhDL0syUUFkNlpmUWRCbWUzbkR1dnpQbkIydG9WNHhDWDEwM1BDZHo0dVdTbWNFOThvcjNERTF5N0pVazlJYkcvc2tLem1kcXNqNjFETlppYlJjejBzL0xXUU5kY2hFaGVSMWFhZmVzL0dmU0Z4a2tCb3NkMTNWWXFacGNxcHA2dExQZFdmTjU3ejJENUI1NE5jQzFDMWQxUjFkWVhCY1pFOVlOOW1OdEZ6UFN6OHNKc2t5SlNGaU5MZmZrWXRNS2ljSFJSc0tDb3JQQjlDcG4va2owaFBITm91Zzg0VEZhUXRGOWtLWjBtN2VjQ1cxQnRGRGYxWVJYWjYrc2h4T1U3VkRBSlExSEhxRTFZL1Y4Y2FUVEMrVFRZcEtSb2o2TkRtMlVUQ1p0NnJKbS9EVGsyNEZ5UzdYN2twY09FL2F4bDN2Z3ZXZVZEZGNMUThPQkYxNTFYYmVyTldJdnRLQy9sZUFVdmdlUk9WNDRHT2dqL1ZwTU1vcmFiaytMdkIxUDk3RE40U1Zaa1dPNWpod3RTYzhQRDhmaVl3ZGd5dUc5V01RODZmaWRscHNYeHQxOTEwR3JNenZvaWs5K3RzUE5uck1mTktrR25uaHJBeDU1ZEhweHZOSnVDdG5UcEtDaUtVNXpyYXI4Uk9vQUFBWk5TVVJCVkkxc0d0TWpMcXhOVVFHeVlxYXdKVXBZaTNlSmNGUjlOYUVmVmQ1dDBBaFJFZ2N6SWRGN2JwYkJWYmNxMFJWSGxWS1E4S2NoSUQ3VnpPM3N4ajc3ZStwb3VJdS9VaUNTMXc0dDNpMWs4RTdQZ2RKNDFwdnlKQzh2TkdkTm1WdHI2ZXg0UjY1R2d3MXUrMDNxYzIrWEpyeXVwMG12T2ErN0czaHIrNkZrRkNodzlRL1B2RUJkbTNQcmgxODc5dmhlZThaMlEwWS9XREE2MEV2MVp0WGtiUUoxZVJlNXp3MTM2aVFMdlN2Smk0ck8rYVR6dGh0NXNldGVJQnFkY0ZyTVJXZTRoVFNkZDNGbkN3YkNwamRCdzd6U0d4WWJkMk0yZUd4ZDhQVTAwOHJNWlR6dEVwT1BzQlpoYWlDZUJldFNsMENHN0hMU2dQOTE1K2FoOWJSOUg0NGtqcll1ekdtTnBldDh3ckxLcjlpajR6U2tJbS9mdWQ5YS9UWXVQaTlWbmZXTHR1dzl5cmJ6WTl4bERoMjZnZ3Z6ZXJPMzdLVWsrOVN6NHd2VHVQbitrN2hIWDF6YVN0RFJ4ZnFQNG1MOUIwK2RIRitGVFVqdUxJYjJVb2Z1cnFlU0xqc2p3d2pncXl5dDUyTFZHVUlGdmJtZXRxRFZHb2gwcDJOUE9VTmI4LzhGeC9tUUc0N3JkU0hUYWF2aC9ITkVnRHIvbVhUNzlPR1JsMmdNdHQ2c1B1VCt6NEhxOG5lcW8wLy9mZ1lGbDc5czMvdUdXODc3YWcvdjZBSmZmOEcrOTJYeXJ2MTA5QlVkeks3c0lkQ0E1RjdQSGxsTUVTTXdCWUV1SlBmS2xEUWN6UWhrRHdFYmtydWRQYktZSWtaZ01nTHV5ZC9qeVdrNGxoSElIZ0owTkdOT0pxenNNY3NVNVFnQjJudVovaXhQamdCaFZwWUVBVnI4TmM1MUxnblZUQ1lqUUl1LzNwSXFZOEVJTEJNQ2x5QzVNMW1JV0NhbW1kWWNJSEFFeVRWT0d1U0FJMmFoR0FqMElibThFRkdNdHM0WGwyMUk3bmErV0dKdUNvRkFGNUo3VUFoT21jbDhJV0JEY2cvenhSSnpVd2dFSUxoOE5Mc1FMWjB6SnVuaUhmKzV6cHd4eU96a0ZBRzY5SitPYmZQRENDd1hBblJGRkorMldxNDJZMm9KQVRyYnlTY2lXQmFXRHdIY3BDVXV4MWcrMnBuaUlpTlFoK1R1RnhrQTVuMUpFYWhBY3RlWGxIWW11OGdJOUNDNVJlYWZlVjlXQkRxOHIzeFptNjdnZEZkNVgzbkJKV0JaMllleVFQYzA4OE1JTEJjQ2RHRTU3eXRmcmpaamFna0J1c1AzQ2tQQkNDd2RBblJoK2ZiU1VjMEVNd0swK0h2QU1EQUNTNGZBSlVqdTF0SlJ6UVF6QWtkc3ptVWhXRW9FQm16T1hjcDJZNkliZkUwSUM4RlNJbERqM2JsTDJXNU1OQ1pvbXhxRjBuK3VqbjdPTzhjMElPektLZ0owZnJLbGlDczFuTHRlY0liN0tvQWRqRUJHRWFEems3cVB2ZXg4RnF0cTFjVi9Gak9qYURGWjJVR0F6azhxYWxhODIwalA4NGxLQlFrN3Nvb0FMcy9WbjU4OEV1dkFuVFJmTWM4cXAweFh2aERBRXByKy9HTE4vUlN1WmRYTlNWdSsrR1Z1OG9KQTA3aHNRU2dMK1BBNDN3U2RsL2JOTHg4OXc1eDcxaEVmSEMvemR5UHkyK0o1NGF4alhMWlFVVGVHbVBhR3ZIREtmT1FMZ2FyakhFdU9Ha3E5cmZHV1hRa0svMmNUQWZyK3BOcmpXSFYyQlpVZFBpYVJ6ZlppcWlRQytQNmsraFFhVHFTMVJIaERhcnd5SGY4ekF0bENBR2Q1bEZFTUo5TGtzbStQandObnE1MlltaUFDV0lnUTlnU3loU21WdDZmbE9aaUQvWXhBRmhDb0d3ZC84UlhWWTBIVGdHOHh6MExyTUEzUkNQU05nNzg0UzNrZ1VnNjA5aHVkbDJNWWdjVWhnQk1STzdKMmFBNEh3ajF3UmpLVS94bUJMQ0pnR3lKcVNHN2ZDTTRpMlV4VDBSSEF2bkw5Y1JOY1hyNHVBT256ZDZhS0xob1o1eCs3Yy9XZFl0ZzJ4cEtiOFFaajhnUUM2R1ozRlJnc3VRb0tkbVFkZ1lydVppMExZbndnQ0dadEllc3RWM1Q2R3VaTXpDZTViRnNvdW14a2svOXZmdXpZSmN3MlYza04yd0xiYzdQWmJvV25DanNVYmhJSStOL1VZUEJLaE1hQ1hkbEVBSE14MTR3QVdaWFdCQkI2QjYvK1pyTzVtQ3FGUUJPUzI0S3Y0bHZrOWUyNGVWc2xaZ2Nqa0JrRStwRGNiVkJUODEyc2dFdERXb0xFdHFuL2lqRCtZd1FXamdEMXVjZXVtdHN5YU1HQzJyYnc4czV5QXhkMlpnY0IyTC9JNnZXNFQxbXdMRnQ5dWJycmJHU0hXcWFFRVpBSVhIQ2NuOEhkZFI2VUllNi9QbjFtcTk3WGw0QTlqTUNDRWFqZERRTHVjQUtYTVBYNTFQcUMyNFdybjRiQWs4NnpWcm5xUE9aUGQwWmViYk5pTHEzNTA3Q1BFVmdvQW0xblpEc2ZDWkN3NXJ6bGhaeG4wMElBR3ZabUJZSFNIKzNSaTJQRVZNWGRDMGQ4M2NJWU5oeVFaUVNhd3JoUTAwZDhza3d1MDhZSUNBUXVldHNaV0ZsZ2lWZzJCUDdzZk55eTFxcERZemZEc3JIQTlCWVNnVklIWHppeG5lOFhrbmxtZXBrUktMMXlkZmp3Rzh2TUFkTnUvUjlIeUdSSU1IdVQ3QUFBQUFCSlJVNUVya0pnZ2c9PSIKfQo="/>
    </extobj>
    <extobj name="334E55B0-647D-440b-865C-3EC943EB4CBC-88">
      <extobjdata type="334E55B0-647D-440b-865C-3EC943EB4CBC" data="ewoJIkltZ1NldHRpbmdKc29uIiA6ICJ7XCJkcGlcIjpcIjYwMFwiLFwiZm9ybWF0XCI6XCJQTkdcIixcInRyYW5zcGFyZW50XCI6dHJ1ZSxcImF1dG9cIjpmYWxzZX0iLAoJIkxhdGV4IiA6ICJYRnNnWEdKbFoybHVlMkZzYVdkdVpXUjlDbHhIWVcxdFlTaDZLUW9tUFZ4cGJuUmZNRjVjYVc1bWRIa2dkVjU3ZWkweGZXVmVleTExZlZ3c1pIVmNYQXA2SmoweExWeG1jbUZqZXpGOWUxeDBhR1YwWVgxY1hBcEpDaVk5UzE1N01TOWNkR2hsZEdFdE1YMEtYR2x1ZEY4d1hseHBibVowZVNCMVhuc3RNUzljZEdobGRHRjlaVjU3TFhWOVhDeGtkVnhjQ2lZOVMxNTdNUzljZEdobGRHRXRNWDBLWEVkaGJXMWhYR3hsWm5Rb01TMWNabkpoWTNzeGZYdGNkR2hsZEdGOVhISnBaMmgwS1FwY1pXNWtlMkZzYVdkdVpXUjlJRnhkIiwKCSJMYXRleEltZ0Jhc2U2NCIgOiAiaVZCT1J3MEtHZ29BQUFBTlNVaEVVZ0FBQklRQUFBTThCQU1BQUFEVXdtYVRBQUFBTUZCTVZFWC8vLzhBQUFBQUFBQUFBQUFBQUFBQUFBQUFBQUFBQUFBQUFBQUFBQUFBQUFBQUFBQUFBQUFBQUFBQUFBQUFBQUF2M2FCN0FBQUFEM1JTVGxNQU1ydEVFTjN2Vk0xbUlwbDJxNG12bjBHUEFBQUFDWEJJV1hNQUFBN0VBQUFPeEFHVkt3NGJBQUFnQUVsRVFWUjRBZTI5Zll3a3lYVWZtRDFkTXozOU5kMG1qd3VmY0hhMWFDNWxpU1NxWllIcnN3V3JTdlR1ZUMydjFITkx6cGkzdW5VMlJjNklXa0RPdGdBYWhtaTUyaktYV2tpVXEwMHM5SWRvbzBxUWRrM0N0THJCbzJSSkZGbHRnTWM3MkNCclFKRVV6UTlVL3lIcktBcHlqWWJzMHV3T1o4TXZNak0rTWpNaXZ6TXJzK3JsSDFYeCtlTEZMMTVHdkhqeGtZWlJ6MmZ0Tjd4OE4zeCtieXo2RUFFZkFpdGZJdVR1TjBXZzdYOWUrTkdGQ0lRanNHd1MrdndDUy9XRVJiM1RJK2JIZjBRZ0FvRWhsUmg0ZnRGSnQyS1JmL1MzR3gvcDNZM0lodEdJZ0l2QUJmTGdaNDJQdEVDR3p1eVFGdmx1K3I5a3ZzLzI0Zzhpb0VCZzVmWFQvOGFEaDNjSDRGN3FFZktBaHIxQTNrbi9ET01DZGtNT0VQZ2JSR0N0Unl6eVUyNzRDam0xWFJ2UURiM05NTmFzdXgwM3B1VkV1RDc4UXdRRUFpK1NwNHkvUW00N0FSZGZjU082aEp3YnhvdmtoQ1c4ZW9lNThCOFI4Q0N3WnBHQlliVHRZY3N3K2p0dTVBcDBRenVHNlFaRDRPcDMzQmo4UXdTOENGd21JQnNmSnVUQUR1NE5XQ3gwUXc4MlFZcjRjNU83MElFSXlBaU15TDdSZ0M3bmtBWTJoTkpNdTZIZXRFTkRuV2M0WUM3OFJ3UWtCTllJS05EcklDNjJxclA4a29nYVFlQzNoTmRvSDBrZWRDSUNESUZOUWpyR1paQ1dsMm5JNnAremNNT1dxOXZDYXh5ZlNoNTBJZ0lNZ1NhQnNlc0M2NFUyYkVGeTQ4QytLSHUzVGxnZS9FY0VKQVJhNUM4TWcxcUJydEZBandnOUJrdGpIWkYwNzB5NDBZVUlNQVJBRmJvRGJwT1FiUm9rRDJUMlNIWklRNTBIQnpLR0JQN0xDSUFpdlFQK0s4OSt4UTZWMVdtakMzMlRzQXNaL1FNNUk3b1JBUWVCTFVLT1pDekVwTjVvV1BkQmhrNTRiS3ZEbmVoQUJEZ0NmVG9oa3g1SlRpNlRFNGg5aFVVdTNXTXUvRWNFSkFSNmRDVk1lcnBuM05PNloxeUJib2dGWEFhMUd4OUV3SThBbUtYdmU4SXVjc1BRQmJwU1B4Ynh3MnVlaE9oQkJHd0VWcjBHYU1OWVB1ODQwS3laMUVYTjFxK3pBOWJKcmhPQnY0aUFqQURZRkw4dCt3MWo4cFRqN3p1aUE2c2M5cmJwWlpNclJkNzA2RnR3QkdCQzVodWYxcDA5Wis5eDllaGxDMlRvUC8ybGYyRktVN01GeHd5cjcwR2dLOC9hblpnSitkM3YvK2RqY3I3dGVLbEdUUi9jTGVRQkRqME1nVEhiSjhRQ25HM1RzR1B4Z0lYOEp2UkRjTEJzd1B6NGp3aklDSUJ3ZEdRL2RhOTl3N3o1eG9FSVhmNkdlZjRCeVM5aTBJVUlMTnNicEJFSFJDQTFBakJubHhiQlVwUEJqSXVMd0NWQ3BHMktpNHNEMWp3MUFrM3ZwckxVZEREandpSUFoc1A5aGEwOFZqd1BCRnJPYnFFOFNDR054VVFBNXZSbmkxbHpySFUrQ01DYzNqMkJtQTg5cExKd0NOREZpODdDMVJvcm5DTUNjSHhzbWlNNUpMVjRDR3pCMnRmaTFScHJuQ01DYlZ5QXp4SE5oU1ExOGU5WlhFZ1VzTklaRU9nRjlpeG1JSVpaRnhFQm1KRHRMMks5c2M1NUlVRE5RanQ1RVVNNmk0aUFmRXBzRWV1UGRjNk1BTDFWaU85dnpVd05DU3dnQW1BV0lvT1oxL3R4K1NhMW1YT0REQ1JDb0FraWxDaERFWW1YVFR3YlVnU3U1ZEFjRVRMenF4WldXbmk4cUp6V0xxU1Vsamd3WHdqOVNLS05YLytRaFFieVNKZ3FuQURHc2RudW5CN0RBWkl4OWtJVkZwRUkxcFpBaFBnOUhoRnBpNG4rMHMydmJUZFJoSW9CdHd5cTlJN09PMlVVRkZvR2lsQW9QTldPcERjRlg1czVpeWhDTTIrQzlBekFJVEwyL1ovMFJETG5SQkhLRE9Ic0NCeURDSjNPcm5pM1pCU2htVGRCZWdiNklFS3pYOTlBRVVyZmdqem55bHU1MCs5NDhjZ2ZrcU4vRENJMHlKRmVPbElvUXVsdzgrUWFQdVB4eXA2TFJXNXRCcXZlN05jM0RCUWh1Y0hUdVRlZFR4Y29NemNLL0M0emZEcWhxUFdOeHY5bjJaK1ZYbjlaV1N0UFlDWVJXbm45dTA5ZGF2OSs0Q0c3VUo1VzJFcjFpK3dDMXZ3aGdjdGVmUmNHNTFiR0kwRDZES2oxWTlnTXNvaFFvM1d2ZHo2dzJWNlpzWlhVWm1KR1A1ZTlIekR3Y2JGRUwzOHU1cUgzQVJlenZrR0ZrOTVidEJ6U3YvSTZaUkdoeHg1MExqcGZjelF1aFJxNWYvaHZmdTd6Ny9kZXNNMFpxTGpqVmE5VlBSNm14K0dYOFhZTFcwdS9DTzFjelBwR2s0b1ErVCtNZnB4dEhGbEVxSFZtYk5KdlljSFQ5SHpBMFlPd2MzdDJYUy9qYXR0ZytuODZVZzJ2Uk94ZXZsS1k5VzhMMkxvamNaS2YweVMvL01rZXJmUkpESm9aUkdnVlhxOEw3dVhHSS8vOTJYTFIxSWhhVkpjcmwxT0UrelhYNmJRSG51bDErcmllYmFtb2R0U2hkalBPcXl3UmpPMXNBMXZYWXFkT2tIRFZObGorcngvcnhacE9aaENoaTZDdFgzVDF1VlpZWFpZLzkyY0FmUXpkUGtFdFMwejY5K2o3eUhTT3RmZWE0RHNReFRjc0ZpWEN2SzdqT0FxRk4wczgzd2c0dVIwdmFiSlVtMjZWeG9keDhtVVFvZjZPWVJ5NzJFWjFlZEFSN2NkaHA1SnB0cUNwRGpsbkt5QkRwOXdIMzlVVlVTSlVkbTJFdlY1eXdxVHVGdkIxbWpSVG5QUXJaM2FxelhpVHlRd2laTzdDOXg2Y0FRdzJyaHlGOGdZaVZNajdFbHBvWHBGVWJaVzRoNG5RaVNEZGo3WVBXK0g2dHFDVjBHVUJYN3NKOHlSSlBvNDNsMHd2UWcxNks0bmw2Skt3Y1dVUXl0eGVsSXlGNXA1eEpEMXFJNG1RTVpRVTZFWU15MHkvbUpHTVdoWWpZTThFM09QM09ySHlweGVodGY4THJ1cDNKZU5DMUMwMzNVSXJHNnVtNlJQUmJUbXlDRjJVUnFiTnNIbUVXeVN6ZktUblFKbHpoWXFRTWlhWHdEVnpoOUY1RHkzSit6ekY0dWhzUEdxK1FNZCszM00rY0FsQW45Nmh6a3ZVRGhYMkRLTmtMQ3p6ck9QOElyUXNUYVdiOHFDbVlYVEZ0WHhvb3RNRzA2T3NoZG1jRE9NaFljZ2IrOW9mdkpMVVJJdlFaakEvVitJdXVSY2tNYTFhaTRZWkpXUGFuQldJOEl1UTBSTmZBR3RGVGVrcC8yWWhONUhSOFZVMGM5NDRyZkJHTm94WDJRWU56ODhYUkhuUklyVDBzQ2N2OVR6ZGNRbDAzZmVyVDE0V0pCVXUrUHJqUzRyZ21nUUZSR2pFYmNKTHNScHhKRFZIZm5XbUU4WGlVQjA1TnVNWTdFYUxVQmlSc2R1bGp5T203REJzaDh0WVdDRXpqd3VJMERHSDkwS3NGWWE5Q0hqUzFiQUpJc1JsT1IwSmZhNzE2YlkrMGh1VFRZUXNWODFrLzE3YXdnYzYwNzd3MWMwVkVLRkxYQlBZa3pScmZiWFlNcEErUlpxWVBvaVFHRkhUVUFqSjA1TDA1WkJrTkNxVENMRUpHVXd2ajBMTEFjdUtQS1VKVFZ1OXlJQUliWElWWkdSdmlZaGllYmtRdFhjTUlyUWZWWFRLK01mdWRXTG56Q1JDekJ3RWV3TUdvU1hXMml3RUM0RytOMkNEcngyWkVSVjNVWW5DSnhROFhhUUpiTzNvSXJPRnIxbnVHLy96TWVoa0VxRjFkNm9Pa3piWVcvSk9mWEhkUWpEVWw1ZHZURUNFbHMvZEFwWmlkaSt0V0oxVk1xNWhpa0lLSUdzejhkQXJEaS9pWFFuaExaTUlYWEFSdE9mMm15Rjc5MnB0RmdyMlFtdk1vcmZ1YmxRSUFkaU82c2RTbWFLb2VPUHBKWG55ZXE4M05wTnZ5VHAxOHUvRm1mRmxGQ0hIb25oTUxVMlg3dWpacnJWWktDaENCak1HYllWdGs1TGdPQzVnNm1SLytIa2dGWktmODZyYkNhMlorekdJWmhLaFRkY3FNcUZJTm5lMHhVR2Z5K2N3MmtUVmpRZ01aSWExN1hEYmx1elVZZnhmTEtEK2xDdldHNGFWblR5dVlkNzcrZjkvWUJpTlNheFYzSGFXeWwxeGJNNHdNWHZaTUlZSFdtYkJMRlNZQVVOYmFINFJRUkZpdENlUk96MmNsSnNGZk9hQVdoYVpUc2I0eWVmZkZzN3BHLzZzRjh0dWFveXlyRHdzTytyMFZkcytjVXZQUDVpRlFrWTVmYjZLeE9oRnFCZlVaMWNlUHY4amgrOFh6emovTUdYbDdyd2N4eUJDRVN1VGtVV3R2bjc2QjhGRTQvc0RlLzg5aVg1QkdvLysyZzhCSDMvNFhZOTJmSFErK21YcjV2L3RDMU41VGJxTlljMzhZK2lGTnR6eDA1dnM1MjdjQXg3QkxMVGpobi9RK3VsZGI1THErL1FpRk5Sbmx5M1lJd3Vnd0dNZThhcEJQKzJFOFpEc2pqNDBYVWIxWUtrM2xZekNxOWI3Yks1VzZmRDFPRkFuMGNhaE5rMW1QMTVXR3Y4ZHVraEMzaHBkeldQeWxHR012ck1DRTVQMmZqQjU0ek5rYXBMWEdXQVdPblZpL3pLNUpiMDZ2eExOWTVCbytTRmFFWUpKa1Y4eVJoUlBlOVMrSW84eVViYlhGSlVhUWtIZlNwRlB5dEttM1EwM2szWmQ1MVdiNmhqSW4wbHAxYzQydVhYeituUFhiOXp5U25OalNPNytxckUyaXJBNFU1cExzTlcvQlM5ZG43eFd0YVl5SXZjSHhwdlBPMTBHOVRMNVBVaDc0cklES2hKenFobXNTS2hXaEdCUzVHUFJHUUNtQXdodXkrcWZtYjkxM29RMnpyYStzVVJ0QXF4cERLUG52dHpkVTFxcDFkNjdQMDMvVXowVGNvKytXdzFUeGtCRGFlVjNyQ2VCajdYZm1uNGxtT0l0NUp3U2FoME9HZFJOV0ovYzRxbzE3RmE0SGN4VnZSQ3RDRjBJNkxOTmFGZDQ0SXo5RXV0NDdmcU15WDdlOWFMbFpDTjZsVnA5VEtaandMU1ordk40WUJROHRlazA3MlVqQjJyQklhVnc4U1hUblpBMHJDT3FHTEhsQVJqZndGLzlSeXRDYkx1VXFJSkp6ci82TUdoRHU4YUkxZEtPSE9ZK243QXRpNGVpNUJTdThRNWs0bktZMzdRWkd0N2R5ckJKQmluNEVsbmFydTJhVnRaUnRqWXByRnQ4QTJOWGRLSWlWd1ZkV2hIYUVvcUV3L2FHWGRHLzN5TEU5TnFqUjlUczRYOGFyLzRCM1RQd3B3MzQ2VDJMTVpTVlFENFJzRVRiRjFiSTNkRXd2Mmx6bTg4eU5yS1p6MkVXOGphSFg1T1poWm9VeDJQQ2JMdEROcjZKYWxYU3BSVWgyeW92czd4MXIyTjdmL0FHb2Uwam5xNUs4d1ZqaU81eFhqbVJQK2lpVEdWcm9BdXZBRlhvZSs0NHhHSGFmQmdzSmtVSU5EeWxUSitWYkJ3MitRa1ZtS1U0Yk1JSmFzUG9jc0V4M1c2S0ZsYmxSeXRDYmIvMjBIMFhxMGZYcTBnMi9TbHB1allJZ2VieGpJS01wdWYvRXMwNThBUWw5RFJwOXlOMmNvRmFjWmFRZ2pyNWkwSVdOMktadDlWa0lGU3NpeldKbzdJdDJkMFBYM0lGL1kxSnE1WklKU0swSXRUMzl5MFRwdHN0KzdBN1ZsVjEwOUlJVUJ5RENyUTRmeGZUb1RUY2dYd2dpZlFQbmk1LzVSMS82bCtvMWJhYitZSi94cHFJS0lnM2V5V2h0cWMwNzdyOWJsbE1uWVkrTktOZEl4RkQ2Uk5yUldqQ0o1Y3U4Yi9MQ3FGVFQvblprcXhoY25oNmR4c2tLTnQ4eHg1a2dNeUJ3OFFrbzBTeXFvQ2xneHZOajdtTHhTYjVCOTdPM1BUZ3RNVnlpK0lLeXJVTEw1UjFKd25GbWFYVml0QlFwU1JUTnBmOFU4MnRqTTBkclBzSVJJaGJCWVBSMFNGTGRnOHg1b0xUeTRuRlkybWZmTTg3bkVjejVVbGhpWkdheVhlVFNneHNUM01GQjh4Q2g1NHNWZlZvUldqTVpqTit6cHQrQzB2K0l0UUNFZktYNG1jajFIL0ZGa0FoaDNtcEZjRFlvVnZ3V3pLWmptSE95VlhDbnV1Y25BRHBMVzZTQnRlWlcxYTEveEtMMExLL0U0SmF5OHNkZVZUWEFoSEs5STR2Zngrd0laUUpHQjF5VVN0Z1B1YmFGWTFsaTR0QW1ocURtc2JWQVdZVytoc0RvTlRsV2x1YnU5SVVVR0llclFpMU5MMVFPOUE5WE9MR3NKejRocmtJNzg0emtJUXhZZC9KRG1wRnR1VVNsd3Q2Y3JWanU1OHdzM1VSZlZGQmtHL3BkUmx6TUNlc0xMZnd5djVwUmFqSHhtUXY2NnRNUXhYQnVZc1F0ZGZ5QVVPVWs5UWx4b1M4MUFxZ0NGcCs0NGYvMW04UllsOGFtNVFsbnQ0VUZmU3F6V0x3elV0LzQyVVc1VWdxUXFQZ2lBQjJ1M3k1czQzVFZESEk5blQ1U0FCTmY1YU5scE83RGFMdFBIZi9TeVo2MG9nSWx6Z3gwd09RRklNdnJNN1V3eXlrMkR2dFlxUHVoZFo5TmlHYU9QZGVpSTRYQVkzTFpTdkJYNHVQQ1cwdVRBbXlLNUlPWWFQUTllcy8vOVhmLzFsRlpKSWcrcElNM0F3ZStZWTNldDhKejB0L2Mwc3A4RS9iQzZsMW9kWTdncnhjeWx1ZGhtNU5XUENDNWNVTUFZM0tucGRCOGtsTy9XUlBhREF4bWRBa2c1NkgzMmJSbHVWN2owL0l2T09iaGs0bGdyVWlwSnpVWDdaM0Mva1l6MTJFQU1jYzJoeTJOekUxTlMrMXdoSWFqQStEaEY2b0lUZE1UdVM2OXZtN2s1ZitscEN6Rk1rVGlWQ2o1eTR1ZXdySzNTNEU3MlVPSFpzWUUzSlRLNEN2N0NvYXhRNXF5Q2UySHZrV2crOVdUdnFicDZrSzhXaEZTR1dkVnA5RzN4SldzbnhZSEVGVHNURW9QVVZvQTdlOTgxSXJxTEhoS0QxRFVzNis2Q0dCcUtRMmk0cURsTzFLT1NyczFJcVFmWDdPeTNqRDNQRUdPTDQ5MFNsTDBSbjJDNDJocWZoTEtwRk01bXp5RmJLODFBcDZBZVIyTWlZMHFlRWx1ZU5HZWVRYlptck00amlSeHpjTm1Xb0VhMFdJM2RBbHNma0NINytsUUxwSlNucU5XTXhWZ0Z2elJPNFhNaUVqVTJNWXZlVC8wRXdkSjFkZWFnVVZvZVI4cUhJTWhWTGxrVytZcVRFYnFHZDhVOUdvVEpoV2hJSzdnTmFzRThiMnYyVU8rdDlXZFJsdGdGdnpSSzRNMEh6c0paVUxTdVp1Y1gwS2hyUXp5UHRmaytVUHBvWXhoOCtqZ3JGSlFzWjhrS1Ztb1VQSStuYzZORCsweGpYNkQ0OHp2bTF3eUozUUt2NXFSV2d2MExlSU95NzUxUTEyalpTN0ZqUHNGNkoyTjQ1a2VzekVucTYyclZiWUYwR25KMGR6NXFIbDJ4d01DVnRybzRmSXppQ3N0MDBqd0p4eG0vN2JtejZvRVhkdm4zcXEvV2hGS0xCM210L0xBNXVqd013dkh1WGVhUkdkMkdVZk5zcis5bG44SFhDR3RKWEkzaStTMDl5Mm9rNkVYdDUxNU5zWklXSDE5Y3pod2gzU3VqdVJUTTA4Z1ZhRUxoS1BuQmpHaTBJVE92WW91OE1jUmgwWkI5alFKeENXSTVLNWhVcnVER25ya1RwWUpQMGhIeHRwMHJWL0ZabEJsd0NFZXRlTmd3NEpYSzU4Yi9HS3UwUGE4RlJIb2pyaFdoSHkzOWd1VDhkNiszSUZRajl6SXllTTZRYnRJSStaajVqY09IYThpOWsxOUw1SG5YNHN2VXcyUlFVdCsxWGRkR2lCQ0IwNEtJR0xEbW5tZGt6UVpwaE1LMExRazNaa3ZoNFQ0OEFGUHBEYkNTeG1mNUdUWjNBRGVwNm1Ta25LWW51RVlPbVNOdER4ZmtwQ0l0dWVqRW5EdkNaaUVycUVxRUNYUzAxZ2wxNjJLY0JBdHV1UTZ0cmEwbHBPNm50QzlwSWwxNG9RS0xXZU42QjNiajNwbkNKZU1qMFZnM25LUWJJeUkxSWZnd1Q1QnRHSUhNcm9Iak94Z0k1S2pTMlQyOHBrU1FLaHZkMFdobHlQcXhaN1lsS0RoZVFqSjJuZmtlLzJ2dTJGRHRqRjByUmRWNFR5RUpQeURKTFJVV05IV1M2dnBSMEw2TjBpNUFNRG1DdTAyT3Z0WkFOWmc5QWNueTZ3cExBMEpTMWhZdmM5a0d2c1dKa3MwZnBKU2JIMFlCaTZ6ZHhMcHY3cjZ5eU45aDh3Y3doQkQybWJSTVpuZGxvd0VwM2FEcnBaWVJzNnArRFdHanU2VWovUWRXb20wQzBCRjNEY0o1ODIvaVBZUmQ3d01ZdlBHcHlLck9abExHRzRUSUFsWnFObFlTbittKzY2eStxNVJlMTF5NTZ1TXdVOW1tWEVMWDlHLzE0bkpSR2FqVzJsYWI4MHBIVnR1RzhoaU5hT1RiVVA1ejA3WUhMYnQzMlYvbWtNb2IwZWdMd0hud25aRjRIT3Q2QnBZbmk4dmV1bXp5OHlwWFNOb1FobW8wMUpnbWFESWJwRC8vc3YyMWFIeTFRZnl2cGM1blg5MzdNcGdNZk9Td0pmK2JSTnVGZVlvdWx1c1ZrbEg3WDc5dDVwVm80THp2K2JuL2g4ajRvRW1iNzJxNS82cHIrd05uRlVQRHY4b3YzTzJYdkIySXZDMGwreWUyTG15K0hmQkk3MnM5TnhSeDM0V3NJZTVYQjBMVHRKbzhHdWZ2c1orTVIwbG1lRlREdVFmL3dTU0RxOGtVMEc5YkVqbzhOM2dJWjVaR3prZmE0aEM4dkt2RzFvSy80RVJ0MHRlVFNaT0Vjdld6UzVUMDlwNXRGbHlQelJNbmJrZ0pUdWg4aURnZkdFOVF3Yzd6dnZiSGduQnlsSlFvUGYyeldNLysxTDVQOU1TOEhOMTRWYjB0YisrSHpYYUpoa2Q0VmRaR3dzV2VRclJ1TXpvS20zNGRZRzhVbWRqS1VWbHIwOXZmbWM4eng3d3dxSWtEeEFyYmtOUU9kdkZFUDVHZGxyUEhKSU5qZm9BMHlwekVhb01hYjMwTkh4NnhHNDJDNVF2M1RFNFF0NE4wRWIvSU4wdVVXdXRSNjliTzhVQXQ1Q3BwWVlaSDhVNk52aHl4YmNvT0tEV21Tdmg4dTlyOVJtZHBuVjhaL2QraVYvdFZwc2ZwcFR0ZXoxRFg4aHFXaXZmZmI5MHpkMmFOWVBtajl1LzFOM3h1ZXZQa3ZlL3JYdGpFUWcrOUx2V0QveHZFM21CM3RQUy9UZ0t0Q2ZzSTBucXcrZmZ6eDdNYk9sWU1WNkNXRFE3dVRLcDcyK2tTdEZKRFlyQkNhZVdiMk9pNDBjTmhoNmFOUEJzdkpxcElkajlPZ1EySXUxZkhveGg5MWhIZzZvcFNyN3RsY1BTZlRNQ0lGNEg2czd6bG1icGh0b0NFekM4WmtEQk5aaXJWUU5ZMmxNQ2VCb2d3aGxYMVJQVUNBbUxRNkJZUXhiU2lQdjR4dXdpSkRIdHRmaVVFSEtDUkRZaTJIaHU1SjdqekVHRVRwTXdDVW1yVEFDY2NSakw5YTBMVWtsVFJDaHN5UVpNRzJGRVRDOUM2b3FUaWM1VzRYb0huZDVWNDZxVEF5ckR3THRTRlY1TGZmSkV6MnNsYnRZMWdmeWVlTjBQWExGL0hMdWFndmRoSVdXeGZtUkpEUEt4dGUzOXl6a1dXSFl1SWVXeFR3Qm5UR3Q0NGhwZlNPdkJYQlJUN3Era2NPZVJVRVFYVE5GWUlWOWFrVERoZThzaHlaVm9tQzZ2c0UyWUNYS2lJbXJpY0FvL0NqRk1HcWdTMTZyTFJDaC9lVFpNRWRWRWJnU2F2YlppR0Y3VEZxekpvalE3YVNaTUgyRkVaajR0cmw2V08xRzI0MDg2ZU40K2lCQ1IzRVNZcHFhSUxBUjBwNUwyVTR4cUJFWWdnaEptL2pVaVRDMFRnaDA5YXZtZTJ3N2JKNzE2WUVJNVVrUGFjMGNnYlhmMDdMd293TnRWUG9JUy9yQVNYb3FtSE54RVlDdDJPd2c4K0tDZ0RYUGdnRGNYcG0vdVRJTFE1aTNiZ2pBblRTeHRtelhyVjdJYjJrSTBEUFhoNldWaGdYTklRSndHUkJ1T0p2RGRpMnhTblI5NDZERThyQ291VVBnR0VTb00zZTF3Z3FWaUVBWE41eVZpUFpjRmpYQkRXZHoyYTRsVnFxSEc4NUtSSHN1aXdKVjZOdHpXVEdzVkVrSTBQTWJoeVdWaGNYTUpRTDBmcXF6dWF3WlZxb2tCT2o5VkxzbGxZWEZ6Q1VDOUNiMXVhd1lWcW9zQk1BNEhiN2h2eXhHc0p5Nkl0RDAza25jK0hjM3p0K0FBMXRkVzNNbWZQYzl1NFhnYnY1M2Y1bE1UMmZDQ2haYVR3U0dudDFDajVCZmdLKzltZWVEZWxZR3VaNEZBcVo4OGYyeWM5SCtadTYzWU0yaVpsaG1TUWdRNTBaNHA3Umo5NURSR0w0bmdBOGlFQXNCK3ZHRWJaNnk1MTRic29jR2E0NEpPaUlRb0R1bmVSSjNIRE9NSzdnaG40T0NqZ2dFWU9jMCt6S1hZVnhtTjN3c29hMG9BamVNNWdqQXptbHhhM21iSCtYQVJRK09FRG9pRU5pVHQzb011UXJVSytMd2ZnUXJHRjFQQk5yeVZnK1RYeEl6MW53K3RwNlZSSzZMUkFDMnZaNHkrckIxNk14MUQ1bFd4T0x3SHhIUUlHQVNNbUJSY1BYcnFlc2U0ZTJMREJYOEQwY0E3bVFROXdYRDFhOUhYSVNLdUlZbW5CZU1yU1VDMFBIYzU0ekRCSitKVUo4VWNKMGFMd2dkYzRRQTdGa1VGMkxCN3JNRHQyNTlOQXpOVVNzWFdoVzRNUGdhTHdCc1JFS0V4UGpHNDlHQkNBUVJhSXF4eXpBa0VlcEtLbEl3RjRZZ0FoeUJvWHllSHJxa1hUZW1TNlk4RFRvUWdSQUVMRmx0aG0zVUtFSWhZR0dVQWdHNEpPOWJJaGhGU0dDQnJwZ0l3SVJNYU5NR0RHUk1uY2FCTENhQ0M1dHM2WXZmYTlkZEVocndTejVVcHhkV05tSld2T3QrZGFQck1mOUlNekswQzhWRWNtR1RFVmNINnNtcUVPdzQ0d01aaXREQ3lrYThpdE1OMC9Sak1hQk5IMG81NE50MlI2NFhGemdrWE5BWlJJQitqWlV1alVHM3N5M0ZlcFpadzc1SEpPVkI1MklpUUhzaHV0MjE2eHdiWXlEQVBURm5ybnVDbXowWUt2aXZSTUN5Si9NTnl6T09HU0JaSjI1eTNIS214QTBET1FJamNyZGpHQmZJT2Z4S2o4Vy91ZGpDVDIxS3VLQXppTURsS2RXQld1UVpiNVRZTVczeC9zaWJBbjJJZ0lOQW8zZC9ZTHlHM090NEFlbmlJU0F2SU9qVEl3Q1RyeHRrZXVSTGNKR1ppWlp4cjRjUEd2UUdFSGppOWVUcEEzL29LdHNGdTRrVE1qODI2SStIZ09sK2plTllYbjJObHhWVElRSVVnYVk3SmV0NVRJNklEU0lRRzRFVlp3Y2FqbU94RWNPRWZnVCtLZm1IaHJGcVRuZjlFZWhIQk9JaDBCakRkWjBXK1VLODFKZ0tFUWdpMFBqc2plblR6d2ZETVFRUlFBUVFBVVFBRVVBRUVBRkVBQkZBQkJBQlJBQVJRQVFRQVVRQUVVQUVFQUZFQUJGQUJCQUJSQUFSUUFRUUFVUUFFVUFFRUFGRUFCRkFCQkFCUkFBUlFBUVFBVVFBRVVBRUVBRkVBQkZBQkJBQlJBQVJRQVJxajhEU3JVSHQ2NEFWbUNrQ2JYN2o4RXpad01Kcmk4QS9FSmRXMTdZT3lQZ3NFWGdDYmdBTjNGYzBTNGF3N0hvaHNQWkJ1SVlZUmFoZWpWWWhibGMrOFRBVklCU2hDclZKelZpQkwxS1I2VGQ3S0VJMWE3Y0tzYnQrOCsyL3UyMmdDRldvU2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2pRVVQwNVI2NHJnb0JKeUdsRldFRTI2b2tBZklqanBKNmNJOWZWUU9CVklFSXZkYXJCQzNKUk53UWEvK01UbjM4OVNCQWg1Mi82NnFkUUlhcGIrMVdBMzRZdFB1eG5wd0ljSVFzMVE2QkJibDEvem5tZXZXR2hDTldzK1pCZFJHQzJDRHowekd6THg5THJqc0F5K1l1NlZ3SDVueWtDalNHSzBFd2JvUGFGTno1RFVJUnEzNHF6ck1CSFdqQVB4NEZzbGsxUTY3TGYrekhUTnVTZ0NOVzZHV2ZKL0JBRTZCOS9HSHVoV2JaQnpjdis3ZXUvOUcrTXl5aENOVy9HbWJPUElqVHpKcWc3QXloQ2RXL0JtZk9QSWpUekpxZzdBeWhDZFcvQm1mT1BJalR6SnFnN0F5aENkVy9CbWZPUElqVHpKcWc3QXloQ2RXL0JtZk9QSWpUekpxZzdBeWhDZFcvQk5QeXZQSHorUjA2K0Y4L1M1UGZrUVJIeXdMRVlubVdMa09tMlhWY3orMmtiRktIRmtCcFBMVWQwaDhhZjA2QXI1NTZJVkI0VW9WU3cxVHJUS3BVZ01oMUFKZHEySUdXckRZcFFOdnpxbUx0cGl4Q0JZeGRMZWR5QmdDSlVSeUhJeHJOSnpyLzZNSFJEdThib2JqWktkbTRVb1J4QXJCZUpEZklkWVBqdnc1NW5rMXdMc041NDlRL29ua0Vnc1IyQUlxVEdaWTVEdCs1MTdOcjk0QTFDQm9GNlhuVkdPZFV2bFR6Rmd5S2tBR1crZzdydll2WHJLcFRwdGtwNG5ERE5xSWNpeFBCY21QOEpNd1V0azkxZ3BUZkJacVI1M2hwTVRVTlFoTlM0ekhIbzMyVjFhK1p6ZGdkRmlBRzZjUDlMT1YyTWlTSzBjS0xES3R4OGlibXkvYU1JWmNPdnZybVhjK3FFVUJlcXJ3eGs1THlkVXlla0Y2RTFqWUhwZndseXJsVGdnOGt3cEVvSXJKS0RuTmpSRG1TbVVqQWdNRGdSVktiTWlUOGtVeEFDbzIvbFJWZ3JRa3E1b0lHbmdhS1ZTUU9wTUtCS0NLd3J1b0tVL0dsRjZMOHJCWU9RZHc4Q0pTbFRCbEpoUUpVUWFMMGpOMjYwSXBSYkNVaW9nZ2hjdG5jTDVjTVlpbEErT05hTFNxUDN0dndZUmhIS0Q4djZVSHJNWGF6UGhXTVVvVnhnckJlUmhybWpaeGozQytteHdSaUd3QXNQbUN2NGovdUZncGhnaUIrQk5ldUVCZjFiNXVEL2JlWDgyZzdFL1VJY3BVVjNQSFNmSWJCR21Jdi80MzRoRGdVNmRBaXNXYmRaMVBvOTVzcndqK3AwQnZEcW1mVkZvUWtkNTdIVWlpSlVUemxJejdVOEhldnRwNmZEYzZJSWNTZ1d4SVJxYlpjQUFDQUFTVVJCVlBHWTBJb3ZLQlk4azZPQUlwUWNzM3JuNkoxYlQzN2Fyc0tTT2MyaktpQkNlWXlIZWJDQ05NcEFZSjJRVzRSOFlHQVl5eTJTeTRhUGk4USsyMWdHODFoR0ZSRG9rMDhiL3hGT1E3L2hZM0RhNXl3UGpyWUk0VmFDUE9naGpXb2pzRVRvQXV2UXNSK0txVmtHcHBmZ1pEVjVQZ01CekZvdkJDN2FDNnliamdqdFpPWDl4LzcwazY5MWppNCsrZlZQL0VsV2FwaS9GZ2hNbk5QUXRPY2dyMlRtZU04UlJlZFh6UFF5MDBVQzFVVmdqV3piekYyQVZyOFgzQVdmbFBHOTZjMjN1OStXdjM0ckx4RmErZUwwWHlkbEJOT1hoc0F5dTUzam45MzZwZXdTVkFqYnF4WmNXdk9UaFpCR29ndUJ3Sm81UFRLNmVSMlRYQWpJc0pKZUJMcmtkV0N5eXNkaTVhV012c1ZBWUlQWUtsVXZGN3Y1WWtDR3RmUWlNQ0wybExHUEk1a1hGL1RGUlFEdU03YW5qRTJ5SHpjTHBrTUVaQVRhN25MYmxuT3p1aHlGYmtRZ0JnSU55NzJEOWhJdXU4V0FDNU1FRVFDTHAyT3R1a2h5K0xKRGtENkd6RDBDWGVLdS9NSWVwTG12TEZhd0FBUmdISHZaSVFzaVpLdlZCUlNDSk9jWkFkaEFzT1BVRDBUb2FKNXJpblVyQ0lFdTczdGdKK1JwUVlVZzJYbEd3SEpNMDFCRkVLR3plYTRwMXEwWUJNQ3V5RFp6YnhGeVVrd2hTSFdlRWJoRXVFMGE5ckxkbnVlcVl0MktRYUF2UnE4bVY2eUxLUXFwemljQ3B2aTRGU2pXMkF2Tlp5c1hXYXNWMkl2TDZFOVFGMkpRNEg5OEJPUWpqUzB4cHNVbmdDa1hIUUhRZi9nbjlnamFoUlpkSE5MVUh3YXZmVGZmR29qUVFSb2FtR2VoRWJDRUNnMFdJbHdqVzJoaFNGWDVKYW5uZ2JzalNDY1ZGY3kwd0FqSVlnT3JyTGhmYUlGbElXWFZ3VGJONS9SYmhHMGNTa2tNc3kwaUFtM3BrSDhUYjcxYVJCSElXbWVZa04zN3V2djBwUGw5VnJxWWYyRVFBTEdSbnpzTFUzR3NhRjRJeVBJRDdzTzg2Q0tkUlVHQXp1bFAzY291Zy90c1VTcU85Y3dMQWRtYWVBVkVhSkFYWWFTektBalF1L3RZWFdIQkZjMUNEQXo4ajRzQWlBMDNDKzNoTmNSeFljTjBBb0V0eVN6VUordzhtWWhIRnlJUWdjQ3gySHR2akhGQ0ZvRVdSaXNRYUJQeWJSWnM0VUZFQmdYK3gwZWdLM1lMMGZsOUozNU9USWtJMkFqMHhaa05XTFBITHpLZ1dDUkdZQ1NzaWJCbXo4ZTB4SFF3dzhJaU1CSDZENmhGSnd1TEExWThOUUlnUXJ0dTVqSGFwbFBEdU1nWllTQWJPUFZ2NEg2elJSYUU5SFVIRVhJend3cVplMUZWZW1xWWN3RVI2SElSQW0wYVZhRUZsSURNVlc1eUVSb1J2UG8rTTV5TFNHQ1BpNURGYnhsYVJCeXd6cWtSZ09ITHlidUI0MWhxRUJjN0kxdzUzYkVSMkNOVHg3SFllR0R0RXlNQW5jL0F6alRHY1N3eGVKaUJJZ0EzTVd6VGYxaGpQYVgvK0NBQ1NSSG9PVGROWDhWenJFbVJ3L1F1QWwzbjJ2SVd1NzBjZ1VFRUVpSndtZHlCSE92WUNTWEVEWk56Qkpic1Q1RU44UUFaUndRZFNSRm9nekwwWnZ5OGVGTFlNTDFBWU5tY211UitSd1NnQ3hGSWlNRHF3K2ZmMjBtWUI1TWpBb2dBSW9BSUlBS0lBQ0tBQ0NBQ2lBQWlnQWdnQW9nQUlvQUlJQUtJQUNLQUNDQUNpQUFpZ0FnZ0FvZ0FJb0FJSUFLSUFDS0FDQ0FDaUFBaWdBZ2dBb2dBSW9BSUlBS0lBQ0tBQ0NBQ2lBQWlnQWdnQW9nQUlvQUlJQUlxQk5aK3d4dmE4UG05c2VoREJId0lySHlKa0x2ZkZJRzIvM25oUnhjaUVJN0Fza25vOHdzczFSTVc5VTZQbUIvL0VZRUlCSVpVWXVENVJTZmRpa1grMGQ5dWZLUjNOeUliUmlNQ0xnSVh5SU9mTlQ3U0FoazZzME5hNUx2cC81TDVQdHVMUDRoQUZBTER1d05Jc3RSenYvWHhBbm1uaytNQ2RrTlIwQzF3L01ycnAvK05WWC9GdlE4VTdwZ2xiNE43UXEyN0hUZXFkY3JTNEQ4aTRFVmdyVWNzOGxOdTJNVlhYRWVYa0hQRGVGRjg4ZU1xdmFvUEgwUkFnY0NMNUNuanI1RGJUa3gveDAyeEF0M1FqbUUrNEJsV3Y4T2Q2RUFFWkFUV0xIb3RldHVWbFI2NG5RZTZvUWViOGcyek4xa00vaU1DSGdRdTA1dEFQMHpJQVExdENLV1pka005K1hNTnc0RW5IM29RQVJlQkVkazM0RnVMNUpENmwxOXlRK0Z2QklIZkVsNmpmU1I1MElrSU1BVGcyd3luY0tFMXNTKzJObGIvbklYVFc2NEowNURzd09OVEVZY3VSSUFqc0VuZ0kwT1hRVnJzNzNWdTJMOXVKTmdYWmUvV0NjK0VEa1JBSU5Ba29QN0F4NnFjWHNnalFvL0IwbGhIcE53N0UyNTBJUUljZ1JiNUM4T2doc1JyTkVnZXlPeVI3SkFuTkhBZ0UxaWdTeUFBcXRBZDhKbnUxNnBrZGRyb2dtQUp1NURSUHhEWjBJVUlNQVJBWjk0Qjk1Vm52K0tFaUVtOTBiRHVnd3dKQmFqVmNaTGdMeUlnSTdCRm5DK2RzVEJKVGk2VGt6NGhyN0NZcFh2TWhmK0lnSVFBQ0VsSDhocmRNKzVyM1RPdVFEZkVBaTZEem9RUEloQkFvRWNYVTZYbklqY01YYUFyOVdOQzdydXhRMXZmbHBLaUV4RUFCTUFzelVURXdXUDV2T000MWt6cW91YkYxOWtCNjJUWGljQmZSRUJHWU5XN2hnRlJrNmVjK0w0ak9yREtZVytiWGphNVVpVG5SL2ZDSXdBMnhXOTdRVmgzOXB5OXg5V2pseTJRb2YvMGwvNkZLVTNOdkJuUXQ5Z0l3SVRNcitKTXlPOSsvejhmay9OdEJ4bXFVZE1IZHdzdHRxUm9hOStWRFQ5T0tycHRHbllzSHJBOHZ3bjlFQndzR3pBLy9pTUNNZ0pqZDUrUUhMYjJEZlBtR3djaVpQa2I1dmtISkwrSVFSY2lZRUQvMGtFWUVJSDBDQ3piZSt6VDU4ZWNDNDhBbUgya2RkU0Zod01CU0k3QUpVS2tuYTdKODJPT2hVZWc2ZDJYdVBCNElBQ0pFUmdSMkh1UER5S1FIb0dXczFzb1BRSE11ZWdJd0p6K2JORXh3UHBuUVFEbTlNNEp4Q3hFTU84aUkwRFh2enFMREFEV1BTc0NjSHhzbXBVRzVsOW9CTFpnK1hTaEFjREtaMFdnalhzNHNrSzQ2UGtuZ1QyTGk0NEkxajhoQXIzQW5zV0VCREI1dFJGWW13NEtaaEFtWlBzRkZ4R1QvUEV6TVJOaXNpUUlyQmR0czZGbW9aMGtIQldYZG9pSDFJb0FkMCsyMmF4ODhmeXY1VjJJZk5Bd2I5cko2RFU4aHdCK3pud1NEeHdsQTFDVHVpOXQ1VmsyengvMjNCZWx5Wk1vbU40cXhMZElKOHFaZCtKVnVXNXZKaythVXRYekxtdE82VDB1WDBqSDZtanlnNlZ3dW10NllFemkyWENVdEJoTnp6K1loY2pBRTFLQ3A5RlQ5REFYeVRZditncjVTVGlJdmNQOTZJaUR3TEtwT0dLekpCM1AyYVNIa3k5N0wxRFFFRmJTVXFkdGdnaXBZd29NZmJOelRzMWJRbE02bFQybXAyaDd1QlBPaTFDRWI2V2xPcVcxS1VtTURldEtuT21UbXBhYWdSRWhwZC9XOFRQMGFzZkFNeFlTWTc4dFJoY1hYZ0lnYVFNYXYvNGhTMmtrM2hNOXhDYWhZMW9qY3BPcWxwYTY5SmIvUUwwNldYNmhQL0szZmhzNnZ0TUF3WVp6UzU4ZFByYkh0RDNwL1Fra3h3QXZBbU00UkRGVzlVSWpjVjlDMzRIZGl1b3p0TFM4UlRJZk5LZDQrMWxnZ2Y5d015aDVXaVZDRytLMDlhb0R4U1huRHVNQ21aa2owbCs2K2JYdHBrcUVoRGE5NWw3ZzBoUDlraG9BTFMxbDhpVm9VVWxqVjZiSk5YRHoxdFAvR1FvOURSQ1Z0T2xqUndPOExQVkxnZVFZRUVSQUpVTEw0ajI4Nk40ZzNwTG1MVUVpYm9pS2xqb3h2YVB6ampxcXVGQ2xDTFZGOTJvNmQ5QmNLRmU0aTZ0dldaUlZ6UzVwMHhOWG1scHhyRGdxV3VwNjBKdUNyNm1qaWd0Vml0Q1lqNmRYWEFYL0FrRnpkYUpHVURXNzBLYmhHcWtEbTF4UE1RWUV5bEhSQ2lTeUErQVFtV3pSVXlmS08xUWxRcEkydmVlS2p2MWhrTHpMbm1kNnFtWVgydlE2dTh2T2lyTlhYa1ZMamQweGlOQ3BPcXE0VUpVSVNkcjAwTzBYTDduWEd4WEh5SnhSVmpXN3hiOWRjTXlVN1ZpZGhvcVdHcTQraUpEVHZhbmpDd2xWaWRBbGJpTzNQd2hDeTkzQ2c5cko0RmMwdTZSTmo5MHZZY0NBZGhKTlYwRkxrMmtNSWpUUXhCVVdyQklob1UzRHROL2hhTTkzQldSaC9Nd0xZVVd6WCtBZEJFak9vVjFSUVA4c3VzWUtXcHBNWU5HTXNoSm9jbVlJVm9sUWk2dk9lNjQyYlRSeElFc0dzcUxaOTdpRkgrYmVSelk1Y0p4RzAxWFFVbWVDUVlNMW1EcEJJYUVLRVdxSWhac1JjZWRtSXpaNEoyVGlaMjU5d00yeDlyTUpzOVk3dWFMWkoveUMxWXVzYzRkZVBvYnFvcUNsQmdjdWU1M0JhS0VRb1N1aWN6WGRNZHNZcDV2VXY0VThCeCthdFo5dUhDT2FHcGs2aGlxYVhXalRUWGJXQzJScE43cDJDbHJxVFBSS2FmZWRWeWNvSkZRaFFrS2Joc2g5cDFUVDh6M0d1SncwekM4WXBtdW10RUs3N0IvK201LzcvUHZ2eDZXYk9OMGpaSHJ6K25QUFBYZjloa1hlbFRpM04wUERKTGV1di8yNTU1NjljWXUvOGhzMi9XZHZpRG9HbTMxRmJKZ1pzb3g3c1k2ZUJtbDVPZUkra01nWm1JQVZJdFRsKzZCQXFwMEpBK2gvdnJ1TU9kdGhqZ3ZRZFkrZHJocktDWG5mNk90VDVPMWNRNXUrODVPbUluSWw2ZlprOWpDazZHWkIrM0hnZ3VUQlpoZmFOSHpueWRVMjI2dzdrZ3NJdUlPMEFrbWNnQzNnNFk0bXJyaGdoUWdKYlJxaytzQXVHbURiVDhGRC85QXdXczZ3Q0lwalIwK0JXbFdMN0lQLzZpYyszN09MZVBMcnYrL1VTTTlMWk16blB2blhiVnIzM3ZTcFgzVVRMMy9KRGpuL1dvZmxEamI3TWRlbTRZWGtUNXp0b0VGYXJCVGZmeHZJWHZPRkZlOE5pdENha0Jib1ovbHpPd1V2NW9CK1dlMkU1cnpBN0xGS01zdWYrek9yNE51NUdsQUErU05sNmNrRDZWclVkenB5dmlHRWZJOFVFbXgyb1UzVGIzMnpKNDdxRXFRbGx5eTVSMEExVFR0SkpGSTRneUlrYWROZFZsSDRQMHBPZkJYNmVaaG4yam0zMlBDdkl3TWQwYjR1THBmd2NZNGpKZDBtNDIyclBpRmZrZGtNTnJ2RlIxQTRadkh4UituekkvRlVseUF0dVNUSjNRSzJUaVYvT2M2Z0NGMFNJODZFM0xlcit1aXgrNUhHWkR4ZGhCM29BRmVINW1wR1RSVkFoTHlOa3F5czZOUzlISThLVTcxMTExTmtpM3lmeHg5b2RrbWJCczNwd0U0TTNkRytKNWZhRTZDbFRtWVlWb0F0WGNvOHc0TWlKTFJwbzhmVXZtNHN0Yy9QMTk2K1lWeHlMNW9ZTWZPQVB4SHo3NlhxNkZqdUdQOEE3NTBZeVdJbEFXYTlWdUFOL3hzU2FQYkxRdWEySkxQUVdZenlBclEwZWFobGtRdzBrY1VGQjBXb0owNnZjUFZrbk1vNC9jS3A2SDFhVWU5YnQrRGE1M3JPRTVobGt6R25hU1ozTzk0MkNqUzcwS1pod2RIVnJLSG5IZGpaM2tNYjMvczhKZWdGYUlrb2o4dldzVHdoT1hsV1RDOXY0RHNmY05vQkVaSzBhYmlMZjk5SmFKR1hlWTZnSXd5QW9Xc05zS0tHcVNIRE5VZy9seEI2enZNMEYwcEFaRWpJZDJSYTBtWXlOempRN0VPUllZL0pYNU10UjR5Qk9kOGprb01TSUhua1luMXVXa1hYQ3VlTHllaWxxcC8vT2VVMEF5TGtmcnlLSm9ESjU0NmRFQklkMmc3MXo5aFBYZ0xZY2tnd3JWcE5nSWFhQmU4Rm9LYWJiWDN4eVdKTXIxNjFaa3A5aGtNcDBPeENtd2FSZU1WSk5HSEQzNnV1QjU0dkNJNEN0RVNVeDBXcldJaDVkdW5oQUh0UGQzalJBUkdTdEdtSU83TVRnbmdmOFJ4QlJ3Z0EwTGNlMEF5d2VqTUlacFJDUUZ6anpHK2xIQW1kb0lCNDFaZUUrZVhrMUxCelJ3cm9CcTA3L21hWHp3ZTNtWXBwa24ySml0YnBwNlZMU0t0WUxJaktrZ01pMUJkd2dQcGd0Nzl4TWZVZ0ExMmdYZXhtRkFXUXRiQ3hVc2w3b3NDMlgzMUpsTnViR0ppVnUrVXJpaGZNMyt5U05tMTAzVlVJNkpwUHZZVFZQajh0ZFNxcWQ4WXpFdWp5cHd3UGlKQ2tUUU5TMnpaWnZza3VjU0dYM09HSi9Xc0p3QkxIdmpZeWo0Z0ppYWxSeENpTXJzZWM4WFNOM2p1NG16djh6UzZmRDI2N2I4dDYxSHZsVXZQVDRvWDRISDFnaXh1ZmZIRUZldjBpSkIvN2hsNW9ZQmM5VE4yOHpCeDBITlhEZ3FYbGRvSFZoQ1BkT2I2aFhyUFFJM2M3UWM3OXpUNlVOT0ttMjlCYlVhQzRaUDIwZ3FVNUlXTVFvWDFkWkhIaGZoR1N0R2tENGpwMnllR3FVQmh6ekJ6VWp4cW05dEtYRVZhK2lBTjQ3d2hmTmhjd0svU3FEYWxERW1UOXpTNTNEM3N1SjZPWUMxcCtXcUlVcjhzRXRuYThRV1g0L0NLMDVVb05MUnUwUnB1RmpkRDFyVkF1V2Y4MXBxZzlzcXRQMjJVOW5qNUpwcGhjelVKdGVmSThmcWVLTVYrenk5bzAySVZzWVFaNHQxVlpBMkUrV29GNE40QXErVXB4MW1YSUtkd3ZRcEkyYllCZHlDNWxMLzBtbEphcmR0cHorM0dJQ05YS0xBUjZsVHN0TjR3WHpnZXFwdkExdTNRK21GNEpZMnNzNjBRYTNGUTBXSmlQRmd2Mi85TzN4SjMvK0tNSzlmdEZ5SlNQWlBlY0xta1liK0tnNHJQbGFEak8zTU5TcFhERGFtVVdBcjJLbWZCWE5DcWNyOWxsYmRyWWNFYjFwanlyQzRFR1pscXhaSTFhRmlOTUoyR2xwSTd6aVpDc1RSdkd5T1pvS1lQSmMreHM5WURhN1JwTDNqVUJEOHZRQ2NlQ3laTXBpV2NMNEUyU1Bpd3RIVEhzb1FnU0RUV0dtTGEzUHA1a2E0NGFiZEtMbStJOFBscTZMSFFIU201MTFCV2lDSWZlNzFRS1h2ZVlPSTV0MzBWNkgxZktaK0s4cEUzNmVxenpneUZCWW1BL2tMdS9ZSUtzSWUwY3pVSjB4RGgwR0hwOHFsRm5ScTQxdzBubXZidlNhTjJIWU9maUppYysvTmRMUzV1V3ZpWFMxV0xhZEhsSHdHN0MyeEpOejVXa3NFL3NCT0xHY2Q4V2lRNXp0dTFaSnQzdTFURXU3YlBRNEQ5WVd0aDdIWXpNSTJTU1l6ZEhSNHd6bTZsbDYzVUs1aHFQL3RvUFFaSS8vSzVITzI3c3FydUIyUFVlVXdWaEdBdldJQzJYUnZEdkdNcDhFQXhPRkxMNit1a2ZKTXJ3NkkrOEdxQjk4RTkrNDFHV3JVL2ZELzZzVWIxdlhkVUpyWDMyL2RNZjMrVUp0WTZMZHVmeXdpc1c5RUtqTTFXeW43dHhENWdHUzh1T0cvdEI2NmRqRUZhUkNndnI1ZGpOMGJVb2g4VVIxNnJsc3RzUTd6eHNjUFpvMHdZb1F6dkc0K1I5Y2g2ZHU4MUllUWRHVmZJK0pHVUZxdUpqaEMzMXB0SjYrS29WeWFLdHdqc3NucnIwUGRvMEtFTjNqVWJ2WGlkUStJK1poSmprUExxcDRTcW1BU0IyMmlWbnkzenZzRVN1OFJreU5jbnJqRDArbnY1bGNrdDZsMzVGVWJpVVBiNFRxbmtuZnVyd2xGdEF6RTd4RnJ1UERTUnVrMXR3WHVRNm5QQmdMZHE4NTAzVW4zNlJ4M2xqL0w0Z0xYOEs3aDhDVzB6TDU0SEpITzM3ZzFYQ2U1R3VjT3JJTEpNcEhHZDU5dm90ZmtCbmlZM3hicFpWOHRPbVIxZHl3djhCSWQ4N01EN3FhSVU2Nms3NGE4aTl6NU4zd0RMcjNaWmlHUUFVOXZzRDQ4M25uUzZ6a1N5VDN6UDZ2TnNIRmVra25IN01XUHEyN01STUc1bXM3WnFGbHN5NFRUYjJLZDFydnpYOVFDZXluSVFKVEtoanR2V05KV29UWUMxQkRmb3B4c1hBdnBmL1lMNzcwNEdhZ0M3d0wybmdZM0ZNWSs5OS8vbjNRTnIvWVA3MGdPYnhQbThoNTlzUTBqb2NzcmxFRTNUdUxhNWF3NUJ4MjVzanBZK3FMNmNwOHdheXdlQnZEMkQ5dUNxNmROdE9nRmgrQVZCRmRhOFl1NGlyVk5KTjlxN0J4Tk1uK1hFSWlVdVVRbEkzZW00bjdPK3pRdktvbzVZdHA5ZTcrSkxwN3NKcVdFZFVNV0xUZnhqZndKL0RROVVYS3F5NVBEMW53S0NMcmFEaXhYaWsyM1ppcEU2WnhGWkxEbE5tZHJLTmQrQ2Z5Mkc2V2JLNFJDbUVsVWU0RFhUOGNraXlHRkZ0MStKRWErK29EWnRVZVBqR1VLT2JWOE56OVNYQVZlUFZQNkI3Qm9IRVRnQndld2ZPcHZSQWxPS05zejV0V2tNMll6RE1yZGxFTVNXbEpmcENnQlhZSFEzVHpaSjkyclNTRldodlp1QVpNWWN5WVdRZ21EVmRpNVBKNWt0TktwVEgxQVJnUDBNMnZqbmU5TDl0N1poekZZRFhQRXdaOWhWTEJmNFFWdnp1MDI0SVpDbjZhZnUwNmVnY0tWTFlsc1dERkJsNUZucjQySUMreDYwVHpKSVBlVnhjaDNTSmtqNUxVOGg2TjVzSUFhVmRwNXdSNDd0MUJnRmRMamltMjAzcHVZa1pNMkhkWENCOW0yZ2ZOcHo2OGpobUlkaG5CaStzMjNuNlV2aTk0Mnc0K2NtcC9iQ1hQK2E0cXM0UFc5Wm85d1B2eGI2VFlFODB0QzVITUh3enhpcmRtaVdhZFpSdERpbld4WnJ1ZkduSjduNzRraXNvZExiZUd1UTBhVWlQZFhPQmpKc1doVjc1dkRXUTJBNnd6VUlOT3NGc3hUTUhTN2Z0cUNubUVnb3R6bCs5ZEFTSE81QVBKSkgrd2RQbGI3ampqL1VyTGxIU0o0Y2krRkpFSzFZM3JxTUY4djR1Tnc2cWYwcWQ2L2FMYnpGMUdqclZiRUxxa3FjNkl1dWVlVkJxeHhadHFvZnVkZ3lqRFM2M0h3MmpwdDVSRkpZalRSeGxKdHVBYVhjZ1FPYkFLWDZTUmlMVnhsWnZmWUR3YlRka2pidThTV0w2Z05rek55azR0Nmx6aS9iNFF0bUNJZU9PbXlMYkgxVmZkcktSRUxtQjJYdXJOdXQwOTJJTXN1SzJIVUVrZjljSW1MbWZoZXlTYlM4ZGM4SHBwWkZJY1ltU2xoVTYvZy9jMk12WjVzbVdvTVFFdmtrbEJyYnN1NElEUThhaFcxYTJ2N3pOUXZjZDdZYmVLaFpqVXRyV0tGWFo2dVRQM1FKbVV0aHhCSmtydGdBS09VeWpSU3pIZUtWQTcyZTlaY05lY0JZc0pIVEJKSlJEMjNPZGt4TWdzc1dueXVBNlMwaFZuVHh2c3hBNUg5Z0ZRYXZGZVBIRmJUdHE3dklKdFlBWnJtS2tJYmxNYndVUXVnUDAzTW0xQ09rU0pTMExUVEVKZVNTR3hHbnAySG9ibjZnd29uOWpBQm02WE1Gb2MxY0luVGhSSUl2NTdhUUJXbXdFSDRLekU4VkFPZG8wVEQxNDd4M0ZVVWc4REFIN1RqVDAzTW1YUytKbzAyTkd1UEgvWkp3dDlVV05RZUNsOTJmTXo4Wk1ZalJRQ0J3aXFpMzFlQ0kwbll2cVZjeGlkQXp1MHlneWp0NFVsU3ByUEdVcmgyRWZYalk2RXNDVFNvdm92K0prRHZ0MStIejAxUitDSlludHNJU1JjYWFvc1ZkdEZvTkRLb1ZPVlRESUltdDFWWFNpTUtwWG5iazVxRGx2UHlyM2NuUkhGVVVpUnJ4dG5IWmJQMFp5WFpJdTcvaEJtTTUwcWJUaDdlaU95NVoxd0EyZU53NjBoT0pFZ0dtYXY4QWc4RHM4anhpTllTb2VRNmg1eGhCSHo5UE5oU1NNRVVYMXFsMDNIWVdEajhiYXZJOXFZM0tNc0s5T09NcE1zTVdIZ0xhb1pueXFqVTVrV21yVHYzNzk3Vy82eFA4N2lFd2Jub0MrTll5R1IrRGh6ZDUzc2tJREpWZm9sS1ZDV1hlVUVTa0NnVm1oVjVrNWpwQXBlSkd5VUFORHRoa3lKUVlhRlpzZlRLUnFTdVZrZHRKWE1ETVJtd0JRNG52UTJyTEE3L0hSMkR1K1pTaVc5bmc3R2ZKN3NnS3piRTVxR0gyZ1BQQkV6OG9Ec09YUU5HQ21ZRnBwYmxxRUR4R3dUUXY4ZkhISnZGRGxCeXlIUitDaFZiYWRDSkN5UTVZazB6L3Q4VTR6VVpBeUE3TmllTjBDeWlkUzVPeWNiZUFrKytaN01RVGtwMFg0TUFISVdFZm5pMG5xaFNwelE1aEg0TVZvRElXZEpTV3JURSsxWGxjc2xmR0pBbnZ5OEVvSDltZ05NaEg5bElsSHdFbjJwZ0hJM1RjaVB5M0NWNkU5cWVGOVVRbTlmZEZsd2dBczNtdVFmb1pFV3g3ZkVwTDNKQWRnOU1OdjB2MUNRT3NPcHg1N3NaN25LTW94QnI3NE81bTZrQ1pmSWN0TmkvRHpjaXdhM2grVjBEOFNMZUVSZU5CYjJCeG5FdEx3aVVvRFlMZ2gzSi94S2tDdmVaUjJBS3BYSFFvaUxVbWxFNkV6Y0puQUYxTmowaGNQcmRKeGN1ZW1SZmlaT1JZTjc0OUs2QitLbHZBSVBPZ3RiR1R3akc4SnlYdVNBekJLY2FDSjJnQzk1bEdLSGRXcnpnVDFObmdQaEhkMkxsb0gwVHVtNWFQRjlha3RwNXIvTlMwbGJiNDlQdVBXSm9rWk1lYWpMck9EL3AwT3pRcDZ5eldYaERPK2JaeTQzdlIvclpBWE5PbCtJYXBYN1FwVzZGejZVSGhuNXFLZEl3Y3VQUmRpQzFmYnJtYUR6NXJUMC9UbEJObGtEZXlMU2VvZGlra1N5T1VaWk85dFV4clFKcmZwdjczcGc1cUY2TzNWR1I5QTkwNUdFanc3SUNEclZYU3hQdnY0d2FtbmRsQSttQ2FjbWdpOS9KeHBwU043U0Z0UjlzUVpDckFiK0RBVEFaNTVJZzVuZEIyQmQxb0d6QVpuVGlKM1NPdnU4RHdwSGJtYWhabytzd2EwSEZQL1U3S1hTelk2TmN6aHRJdFF5WjBoYlYyckFLVG1HamlWZTZFUDc2YW1CRkxPTWcvdDk5b1ZlSGpManh5aTdwQTJQRTFkaHBzeFY3TVE4TTFlVkpzOE1NODAwS3g4WnNsUGJiNDVHQzdFWE1ZeDIxM012NGVGL3ZLT3FHbkRQQldlaEs2bXFMRkY3a0htVFVmZ1FZUU9IRkxndWcwdWN6c2g1VUR5WE0xQ0xka3NCRVVkUTlPZEJvb3NQUURBOGd5d0tSbXcySklTckZUUzlqamVUMGxJbncxTU9HeStCSWtleTJBT2hUcTdvZ0k5R3gwS0xqbjcvMkFnMjNYSzc5cHRzNVpkb2FQdzZxdVVNQVpvU1FqWWV5TElma0lhQlNTbmtreGZ4SXdQLytvS3FLVFV0aktoTDNIT3o1Q0pLZEJ0OUo1SlR4MVdsbytjM0gxSDROdjd0aGQ2WkZlMFROdDFoUytEcEM2cm5RdTZUdkZndy9JTTVYRG5oTkFmVW5PWVBXTVgyUEFNc09sSVRwajFZK3pNRWl6M2RVNUhUWjNyV0t4c0dhK1pEdFNKNG9TQ2p1dElPSFNadGxsMWZHWm5BeVBScWUyZ3V4ZTJvWFBLdmxnUGNPU204Vkt1SEw1dEp1MnZaWkZweC9YTTdtOENmREdUYkFZdW1xNE5kdlhjb3AydDhqYVdET1R0clBEU2RWd2FxL0Z1eU5HVjJITzFxdlpMUTFyNWhydmlEYUsxWTJmcDM3Q0xjanNuSFpVWTRVOEF1bm5OVFJzaklIWk5MclFMQWV3cjJISjR5ZTR4Y09FWllOT1ZEMnBqaCtic3YyeGY5M3laNmtPNVB6MzJFaTczc3IzYXg4NWJzMHBPbTdRWHVzSmF1ZVZBc1VvK2F1K2o2SjFtcWNLeTlDSFYvNUtGRU0zNzBULzllbzhLREhuVFYvL0VwZlVoNTZPczVPbmZ6MG84WTM0VDJOclBTQU95dzVvZjdXUFhwOXQ3dEZGR25yY2xPM21Id3VQdWtMdlNzdTkxU1U5Mnhlbi94eStCUVJyMG5hYWpUZE1wanEzOUROOEJxdnVSc1pGQll3ZmU5bWlMdTQ5Tk5qMi85Z1g2akpZN2Y3WU5lazdZYmhiSzJmTlNKbmF5a3pFZUlnOEd4aFBXTTNDYTc3eXprWU9aUU1WVGkvd3J3MWo2ckhWK3BJcE5FTllsYnpYVy9oaXVTbXVZWkhmRk9uV3pMbG53bGRQR1owRFBhc090RGFOc2hvbXI5aTFjejluWGNQMWtBdDZVU1lmMjdXV1VHSnY4d0d0QXYxa1BsM3lkZDVSWnlncWsxdE5jYkFzTk9QeGcyanIxSStSY21qcmxXcEVWazB4QlRYbVErYlZiNndHVGRyM2ZRcWFXR0hWL2xKQ2JkamhjUHdUQ2xTdno4MHJNN2c1emdZcmVvdm5HRHNYcGcrYVAyLy9VbmZPejlBM3ovSmYvY3c1RWwzN0grb25uYlRvLzJIdDZXeEQ4NkpldG43RHZWbHQ5K1B6akloaGRlZ1RzOVExOU5NWWdBbEVJVUFOOE5xMHhxZ1NNbjNNRXdLYWZuKzFyenJIQzZpa1JvRE5QbUlUamd3aWtSYUFOSXBSdDdwcTJaTXczSndoUW8vbWRPYWtMVm1NbUNJeEJoQTVuVWpJV09pY0ltQ0JDWjNOU0Y2ekdUQkFBQ1VJajdFeVFuNWRDNllsSVo0bDlYbXFFOVNnWkFicm5DaTJMSllNK1g4WEJQajIwTE01WGs1WmRHN3Era2NPZXhiTFp4dktxZ3dCZDMyRDdyYXJERlhKU0l3UzJRSVQyYThRdnNsbzVCSm9nUXJjcnh4VXlWQ01FK2lCQ1J6WGlGMW10SEFKREVDRnB6MTdsK0VPR0tvOUFEMFNvOGt3aWcxVkd3TXJ2cEZ5VnE0bThGWVlBSEpleUQxMFVWZ0FTbm5jRTZFSC83T2ZHNXgwbHJGOElBdlJxQ054d0ZnSVFSa1VoUU8rS09JeEtoUEdJZ0I0QnVBd0lONXpwNGNHWWFBVG8rc1pCZERKTWdRam9FRGdHRWVyb0lqRWNFWWhHb0lzYnpxSkJ3aFJoQ0V4d3cxa1lQQmdYalVBUE41eEZnNFFwd2hBQVZTaUhTL0xDU3NDNCtVYUFudDg0bk84cVl1MktSWURlVDNWV2JCRklmYjRSb1BkVDdjNTNGYkYyeFNKQXY3OVJiQWxJZmM0UkFPUDB2VG12SWxhdldBU2EzbThuTlA3ZGpmTTM0TUJXTE9aelJyM3YyUzNVR0pKM2Y1bE1UK2Vza2xpZEloRVllbllMUFVKK3dUQld6UE5Ca1VVaTdmbEN3SlF2dmw5MnZrNndpZmZtelZjakYxc2JJbDk4Zit4K29YV2M1VE5OeGZLTDFLdUdBUDE0d2pabnFqZnQyTzQ5TkZoelROQVJnUURkT2MyVHVPTVkvVTRhYnNqbmdDbHRNd0FBR1d0SlJFRlVxS0FqSEFIWU9jMCt4RVcvOCtuZThMR0V0cUp3MkRCV0lBQTdwOFd0NVcxK2xBTVhQUVJFNkFwSFlFL2U2akhrS2xEUDFhdkRNMk1zSW1EQVo5dTQyTUFuMmZrbE1XUHZCMEFSS1VSQWl3QnNlejFsa2JCMTZNeDFENWxXeE9Md0h4SFFJR0FTOTh2SUVBOVh2NTY2eVVaNCs2SUdNQXoySVFCM01vajdndUhxMXlNdVF1SkRrNzRzNkVVRVpBU2c0N25QL1REQlp5TFVkejZUektQUWdRaG9FSUE5aStJelVyRDc3TUJOMTBmRGtBWXhEUFloQUJjR1grTkJZQ01TSWlUR054NlBEa1FnaUVCVGpGMkdJWWxRVjFLUmdya3dCQkhnQ0F6bDgvVFFKZTI2TVYweTVXblFnUWlFSUdESmFqTnNvMFlSQ2dFTG94UUl3Q1Y1MHBJOGlwQUNJZ3dLUndBbVpFS2JObUFnWStvMERtVGh3R0hzMGhlLzF3WkJFaHJ3U3o1VXAxRkl3aEhvdWwvZDZIck1QOUtNRE8xQzRRQmlMSEYxb0o2c0NzR09NejZRb1FpaGtJUWlRRGRNdndJcFFKcytsQkxDdCsyT1hDOHVjRWk0b0RPSUFQMGFLMTBhZzI1blc0cjFMTE5TRWNNSEVkQWdRSHNodXQyMTZ4d2JZNm5nbnBnejF6M0J6UjRNRmZ4WEltRFprL21HNVJuSERKQ3NFemM1YmpsVDRvYUJISUVSdWRzeGpBdmtISDZseHlJN3JxK0ZuOXFVY0VGbkVJSExVNm9EdGNnejNpaXhZOXJpL1pFM0Jmb1FBUWVCUnUvK3dIZ051ZGZ4QXRMRlEwQmVRTkNuUndBbVh6Zkk5TWlYNENJekV5M2pYZzhmTk9nTklQREU2OG5UQi83UVZiWUxkaE1uWkg1czBCOFBBZFA5R3NleHZQb2FMeXVtUWdRb0FrMTNTdGJ6bUJ3UkcwUWdOZ0lyemc0MEhNZGlJNFlKL1FqOFUvSVBEV1BWbk83Nkk5Q1BDTVJEb0RHRzZ6b3Q4b1Y0cVRFVkloQkVvUEhaRzlPbm53K0dZd2dpZ0FnZ0FvZ0FJb0FJSUFLSUFDS0FDQ0FDaUFBaWdBZ2dBb2dBSW9BSUlBS0lBQ0tBQ0NBQ2lBQWlnQWdnQW9nQUlvQUlJQUtJQUNLQUNDQUNpQUFpZ0FnZ0FvZ0FJb0FJSUFLSUFDS0FDQ0FDaUFBaWdBZ2dBb2dBSW9BSUlBSWhDS3hhMTBKaTg0MHlmekpmZWtpdEVnaE0rRFdNeGJQVDRsOFpMcjRzTEtFc0JLNTR2clJRY0ttWHZYY1pGMXdha2k4SGdZbjNldUZpQzIyWWVGbG9zUWpQZ1BwNjRHYlBRcG00eWk3c0s3UVVKRjRtQWtQeXRqS0xXN1BJN1RMTHc3SUtSMkNkVEFlRkZ5SVgwTVJ1U0laakR0d2o2V1AycFZRSFBsRjBWa3BCV0VnNUNNQ0hnd0wzQ3hkY2N0Zit6RXpCaFNENTBoQm9rKzhVV2RaRHZzODQwTExnYXZXeXBiYklLaTQ2N1RYM0s1d0Y0YkNzdkNhOVJWNHVxRHdrV3o0Q1Z3djlta0pqcUJRaEtMUlRmbFd4eEdJUWFCV3BURGMrUTVRaUJOOUcyeW1tT2tpMWRBU2t6MjNtWC9aSFd2Q0J4cjlRMGUzaktvY0tsbHFHdFowYjhRdmcvYjBmTTBHQU5DSUUzeHJlTGFCTUpGaytBdkQxeldzRmxUb0U4Zm5ISDlhSUVDang3eXFvWENSYkxnTHdGZW1pZW9QZnZ2NUwvNForcFZvNWtCbDljcmZjbW1KcEJTRXdLbXdjY3hqV2loQ01aRWNGMVFuSmxvbEE0ZU9KVm9SZ0JFWFRVSmxOWFZSWjBNTEY5Z1ZhRVlLUjdGNVJ0VUs2SlNJd0tyb2Q5U0owc1dqcExSSEdCUzRLeHJHQ1J4TzlDTUZ5L2JjWEdQcDVxVG8wOEZteGRkR0xrTkVxV0pNdnRtSkkzVUdnUzZZRlF4RWlRc2ZGMlJNS3JoU1NGd2hZaGUvYkNSR2hkVktZVlZQVUVGM0ZJZ0RyWS92RmxxQTNMUm9HVE90ZktyaDBKRjgwQW52RlQ0cENlaUZqVlBnd1dqU0FTSDljZkJ1R2lkQ2x3cFY1Yk9LQ0VZQk5PNFdQSkdFaXRJSFQrb0pidUhEeXNFeTFYM1FoWVNKa1dEaXRMeHIvZ3VrM1NmRVhKSVNLMElTUVFjRjFSUEtGSXRBcVhoVUttNUVaQnFqeko0WFdFSWtYaXdDb1FvV2Uvckc1RCsyRndES0VheHpGTm5LeDFEY0p1Vk5zQ1VBOVZJUmdpZTUrNFJ4Z0FjVWhBQXNNeFE4am9TSUV5MlNrVTF3RmtYTFJDTURlNXUyaXl3anZoWXgyQ1FwOTRWVmM0QUpJb1djUVhXRERleUhZTTdTL3dDMVE5NnF2bHFGTlIvUkNZRnhVYjg2dk83aUx3VC8wQUNWTWg4SjdvUVlwZXRma1lyVGxqR29KZXNoTzhVV0hpeERWcDR2WHg0cXY1WUtXQUsyM1czelZJMFNvWDhhc3NQaGFMbVlKTUlZVXZXT1JBaHNoUWx1b1Q5ZFgvRUNiZnFVRTdpTkVDTXlicUUvbjFneHI1ZDZaQ1czNzU3bnhyaWNVSVVKd2pBUFBSZXZSU3hpelh1N2RjY2ZsRENFUklnVDdQZEErblZCUTlNbjNaQ3hYdm5qKzEvUko4NGlabEtQSVJva1FtTWlQOHFnTzBnQUUrZzhFRE12bStjTUZYKzl0bG5OalpwUUlkVW1aMzI0UUNOZmQ5ZmkzRkRVd0pkVmtNajB3SnZHVUJDVXRCWGxmRUN5U0UxOVFJZDRvRVlJcFdRa0d6a0txTmt1aXk2WmluODZTZEtocWszN1E0SEtzSGw1SkswYmxZR2tobm9qR29CV1dKRXFFSUw3dy9kdGgvTlV6YnFWRkZDSzBLVW5NK0x4akdDdHhWaURWdEdMZ1VsYlRSWWxRV2FJY0E1SzZKR244K29kZ0VxSVFvVDB4cm16YTArMUc1T3VwcFJVRGpMM0NMMlJ3bUlnU0lkZzZLU29lZzI5TVlveGhpOFZZSlVJanNYK3Y3K3lLdDZMdTM5SFNpb0Z6djZUVHlGRWlSR2YxQnpINHhTUWNnUy9kL05wMlV5VkNRcHRlYy9meDlLSmVUeTB0WHByZTBTcnBHR0NrQ01GN2NLSm5FMlBVQ0toRWFGbk1iUzhTWjhMV2lyT0lyYUtsTHRVYlNrcFpaSTFjSXdOYlJrbmRvYmY2ZGZlcG1sM1NwdGxYTGx0eGVuZ1ZyUmo0VUJXa0V5TmQ1aVNSdlJBb1pUaXJUd3l6cXRtRk5nMUw2STV5MEl0elVGQkZLd1pETUJFNmo1RXNlNUpJRVlLZGI3alFtaGhuVmJNTGJYcWROYTRWNXdZeUZhMFlERUhMU3Nid0dCblNKb2tVSVZpckZ4T0p0S1VzWEQ1VnMxdjh6c05qcG16SCtzaVRpbFlNUUxmS3N1aUJDSVdiRGt2ckQyT2dVcDhraW1hWHRPbXhlNE1tREdneHBpb0tXbkdBYUplejFjTXdZSnhTR01Fa0ZrdlR5cVF5Nis5VU5Qc0ZyanFENUJ6YVZRUnN6NkxycXFBVm5ja3dKbVdjWktXTVFIY1hNVTZCWW8rR29UaHRKcWRSTlBzZTM0UUtIZnVSblJnY3AzSXV0VnRCUzUzUUc5cGlndW9OenQyM0JBV1I1MFBKbXJGNjIxQVNpeGVwYVBZSjM0UUtQZi9BaGdUMHpCaHZwNEpXSEVDdFdGMWNIRXI2TkQvMnA1OThMWlFEejVOZi84U2ZhTk9OMFRDa3hVWWJvV2gyb1UwMzJhNTRrS1ZkTFFrZW9hREY0L1FPdXRVamhuenFDY1NKMmFQU3d4Nzl0b0ErR29aa05Cc211WFg5N2M4OTkreU5XMXdGMkNEVG05Y2hSQXhMd1daZkVVZTZoaXdqdEVCSHBxMTJlMmk5NnJXcVI1RVJ2aXRlL09WUWU5T2JBSVg5WEwrbEY2RW1jYTN4Q2o0WE1BaDJrL09IZ1FiVFd1YzVZWUI0bXQwT0ZOcTBZVEpMVzV0MVJ5eWI4dDlEcTgySzh2eDNnaG5odHVDb0JiaGdwb0pDdGtqRW5LMmdjcXRLOW5PZi9PdDI4OTE3MDZkKzFlVngrVXQyeVBuWE9veHBUN1BiZ2NkY200WUpHWC9pR1A4OHRGNXozZEU5eVBRNmZWelBOaXRYL0lOWWh4cW5WZCtXRjduemRjR0FIVEZueTdlOEdsQ0RTekRKZHpveW8wTUkrUjRweE5Qc2RrS2hUZE1oaGozaE5qbW5CRCt0djllRDNDemoybnROOENtVUhuanp3K1JUL1cxNXVVbzV1Z0d2cUYwdE9aWldDMUl3ay9MdG5POFQ4aFdaZFgrekc0YkZWeHBoaVBuNG8vVDVrWGpHdndBdGtBN1hzRVNMWERHVnBvRzkwSE9JbW0vTHkxWEkwVjJsUVRYSGFtVWhCUjJ6YnlyVkl0L25JUmhvZGttYmhpSEc2VFdnTzlyMzVGSjdBclJvOGJkRldyak84RVQ0bUtzZHRyYXArN1k4eTV6elB4eXJqVE52eUxuVVNwT0ROOXlycW03d2djWGxPOURzbDRYTVFTY3lzSk5CWjNibXBnLzdVOUR5aUpBeEZKTTlRYWNmMHNYcHZ5MHY4dWZwb2xPUTNUd0oxcDlXMTM4MlluSzM0NjFWb05tRk5nMExBcTVtRFY4WEdOalozZ01RKzU2bkJMMEFMYXFLU2IwUUxGSmRFNm1aYTZoYjN3ajl0anpMbmU4L3RWR2Q1a3V5N3RTZ2VUd0xpOUptTXJkcWdXWWZpZ3g3N0d4T2t5bVpZNERZOTRqa1JvQ1dYNFNXVmRlNjluU2o1QkJLMG41YnZxQ1dnU0pQQ2lKZFU3S20xMVMyWmtwOWhsT2xRTE1MYlJwRTRoVW4wWVFOZjYreUoraWVueThJYUFLMC9DSms5TGlxTG5KWnNzb3RnZzBqL052eWNzcjgzQURZWVg3VTVvQVNOZXpja2VyUkRjNmUvYzIrS28wOGJXWlpOR05wMDlHOWtER1NUc2t5dm9CSGViQmp3ZTQvcVBSbGJpUnM2YnBFSDFzTDQ0V1psUHhTWFpGT0dESU0vQ0lrYWRORzE3MnlCVFNFVTVZKzdOOVB5d2owUXNkQmNhRHF4NW1lYXNraU5NUkZNbTlid0N4YWFwNUc3eDNlYU9yek4zdFRzaFMzeWN0MmhuV21WZ2V6ZTBMOHRJSWlkRW5Tbk55c2RKdlhxWWVNeDFPeUNJMUNwb2NldmhiRjR6VUxQWEszRTZ5NHY5a2xiUnJFeTFGZHRwZ3FGTXp1Q2ZIVENvclFabkQ1Z1BhVUJ4NHlIay9KSXRRdGQ5ejBWTFdTbmoxb0hzN1lodFFoOGNCQUx5U2ZndGx6RmFtUmFpNHVTSEJYdEFodHNQVmVuc2VBM1d4aFo5UktGcUcyV0pFUkxDNnlDd0M1eCtzL2ZpZDNTZzVmczh2YU5OaUZiRjBjbFBKdEtZZmU2YU5sQkh1aFpXbVlkT25RTllXQm5tYkpJblFjdXRxaVozTnVZeVlTSUMrY0t4dksxK3dYWldtNTdIUko2eVNvd1NnaDg5RlNpTkNhNkJRWkJicU14OXlLLzVKRkNQcnQ0RmlyWUd0aGduckNMTFNpbVRuN21sM1dwbUdNc2RYcHBqeXJDOFBPUjBzaFFrWndCUXBraE84dVVSQXZXWVMyL09aOEJVdUxGQ1NiaFlaczA0VVBnTGEzaS9Fa1czUFVhSlBlTUJUbjhkRlNpWkFWR0JKQjVRK09icUswOGtWSURQMkNpNFYxMFVYRFE2ZjJqMDhEYmVkRWpEeWJkUnF5Tm0wWUxkcXAyOWVjT1lramZyMjBJSEhBTHFRZ0FPOTlXS09WTEVJZzBHRjlvb0wvK1E2aW11cVpYY1ZsNjNXS3FqWWUvYlVmZ2lSLytGMlBkdHpZVmU4SzBURWRkNGF4T3FFZ0xTQVpSNFJBK3doTzAxeDI0SzlrRVlMaXdqUXp3ZGVDdUNnZXUzWmRSKzVpbDdmaWJZaDNIcVl2ZTdScEE1U2hIZU54OGo1dkxyV3Z6VWpKQTJNY0VUb08zN1JZc2doUmpqdnFHaTVrS0l3UnppdjFGdlVhVjV2Y2d2TWMxK0dFQnhPaHBtOU02VSsveU9QQ0lRelNndlJ4UkFoa0wyd09WTElJMGZuaElMeW1DeFVMcldPTHhKSVo5MmpMMktkMHIvM1c5QU9kOUpqRkVhR3VaSGhRbEZTeUNORWxJYWZqVnZDeWdFRVR0M1g2NGVxR1FLYmhXZGNYNFdsZGNVUUltR045b0txWWtrV0kyc29QVkh3c2FGalBNUXZSTnl0ZTc3emgxYVl6d3haVGhIeGRuNmRZRkNFUEhKazhqVmYvZ080WmFBaUQ1Tnd4akxVZWlGSTgyZkJwMHhxeThZUGppTkFvZkdHelpCR2krKytQNGxld1hpbXZRdVUwajJZZ2NNMUNqOXluM1JESVV2VFQ5bW5UMFRuQ1U4UVVJZFVuSEJoaEZDR0dSUGIvdGtaK0lGaGpWM0hNUXJEUGpPN3Ewb2labDY5eGNFZVlOMEZDWHh3UkFvV3RZaUowbXJDV3RVbSthV2xsNkszcVNzQUxUSFliTGRobjFncGZSR0RaRzJTZk9mUDVqeWxDaXQyd3ZQeVNleUc2ZSttVUY3N3dqaTJBdzNqb2JzY3cybFNZb3ZGUTd5aUt6cWRORVVlRWh1SDdCR2NnUW1mYStpeGNCQWpPdlZWN2hZUHVYdHlKcnYrbGVQTzJhRUlzUmYxRWlPcVBaNHg5L0FjdDQ3NmozZEI1aHIxdkl4eVV0a2FwQ3M4VkVodEhoTWFWNm9Xb0NKMkUxR2pCb25vQXgvbkFyalM0d2xZUlhHQmFPV3ZUc1JZNFFJVENwTHZrZ1F4RnlQT1NnTnl3ZldaRGNIWThrUXBQN3RwMExCRUNWVCtWQ1AyNjJrcjIvY0ZxVXAwdzhOeFJBQUJCOUR6SmJYWFVBb2JTRjRwTjVZL0JmUnFGZ2FNM1JhVktFaDluSUVzcFFsUzlVejVCQ3dHS1VKSTJrOU9LM1VMT2t2bStIS2x5TDBkM1ZLcHNJV0Z4UktpWHJoZFN5Z1dWS2ZiV0NMYVVTVU42b1IyUmRjRmR0bG5JeFlEMlNOR0t6cU41SXhaSGhGcnBST2lLU2VVbCtFeC9NVkNKcENLRUF4bURrQ0xIM0lhcHRXSHpKQVU0Q2hTaEFyaWxKRkVYa29GdHk1dVMreUJQQXptMkZIY2NFUnBYYWxKUFJlaWtGR3pxVU1oRTNzdEZ1NlR5b2FtZkNPR2tYaGJ0bnJ4K1NSZnJGWGY3eU9rTGNNY1JvV0dsZWlFcVFtY0ZJRkVOa2tuM0N3RVlZdG9SZTdFKzE3ckdGS0hnUEZ4d01RUFQ0cGtvZmI1Y1NmY0wwVkg5VUVEUW1zVUJxVGdpQk9OdGhVUm9ybGZxMnlBU21rZTV0RVYzQVo4SkVXcUQ5MEI0eTNIRkZLRXdjMFBKdlJBVm9hTnl3Q20vbEtUN2hXano3UW8ycVRYM1VIakxjZFZQaE9aNjQydlNScWR6TUNrUHhTWnNhNWVVTkQ5bkhCRWFoUnM5Uys2RktFeWxkOWI1QVo0dnBhWnNGZ0xTZ0UyTXhmcDhlWWdwUW5pQ0kxL1k4NklHYjdmbkZQUVFaS2lURi9HWWRPS0lVRC84WHJHU2V5RzZzQ2dOL3pIck9hZkpXcjZaempHQWMxcHlYZU9JVU5jbjZqNFdTeFloYWo5REVYTGJBTER3MkJLaExmTGVYZTlyN2FBM2pnZzF3d2RZWUR0c25BdVdtUzBFejlRTC9LaVo5WnJ3MGxzNnltME1XallWMngyWkNZVWJlc2NIaW1BV0JEUEo0UFlORnBuL1B4WDZUdjVrYTBtUnZrNjNaYzdwS0Q4dEdSMzQvSXRYam1XR1hQZFcrQjRDaUM1ekZrQ0ZYc0hrSWdZMVJ2N1c2MElBZWFwVUxCcERLUExCZG5pWklDTWhGK1hGK0xaOE9QbUVzZERwaFhDVGtGaU5rMy8wVDcvZW93SkQzdlJWOWtuMkR6a2ZaU1ZQLzM1Wjlmck5UM3plWVdMNjJxOSs2cHY2VXFIUk5GZlR4Znkydko1MGloam9OKytseURaM1daeW1zNFhJdlFPWVdzemNwNno1UnBzVlNQOURWc0gwUThlZVRFRzVpSk4veTIyRmEyYjVGMWhSaWtQNzlyTG5ucjEraTcxU0syUkt2MWwvL1paMTNpbUo2ZmIwcHZ0aCtHZHZXQ0VpcEw5M091YTM1WlBWNStmTWQ1K0Y1QUN4OVZqVFFwSmlWRlVRb0phWVRtbk0vQW81SjlNRGZYSE5jaWVBZWtZd0pqNENFZC9naUU4b1Rzb1h5RThaSzJHR3BtNzRpbDJjTWpCTjJRaFFOYTBzL1d5RjNPM1FTeXIwNWZWbnNCaGROdUp6Vng2MWdSNlZWS3VSYmVpOEhHS2xuNFFmU1NxSlR5d21FUUlSWDBWTVJDc2k4WVpqVzEwTkdjbkc4bTdoQ0hJWVhSVUVvQmZhS1llWHZyTmpha2xuaUFJdVdpaEM1YlJGcnFYMG9oZEI4aWtQaHN4VG0xTEk5OVhNR2V6dHpLZDJpMHlsdExIaktsdTdzUFJINnFCTHZMM0lqVkhQdW85OHUxSUtxMFdMR2NsTjdkb3ZWY3hPQzJNQUNSZUVRTHVrZVRRY3puQTdtSjUwd001YktYcUE0OEFiaEw3cUkzQmNralh2S3I5Vm9LYzlpRUR0bklQcVE0WWNlaEhZS21sWmFzenY1KzVwWi9YNkJUc3Z6K2lyRkFLdzJ5TnMyMkpldk1JWXhRNUJtZHFOa0xCdEFMY0w1WVY0ZVhUZ3pTOWppdzdzQk5weEsyVnFWK09oUnl4emoyUjVJTTkzU1ZUL0tLR0dmYkVVcDVlVHZmTDNsNWRROWJrdmdpNlNiUmRmUzR2YnBPSEQyYnFSc3kxR3UrSTV3aEx5UW9CK0N2MG9MMkphT3JBaGdPMGxnenRQZEhzZ1I3aStvVVd3eWhGbUdSZXdnZExPcnJjR3hWclhDNDF4ZmFQS2txTGxiVmhHdTNWRklYQWNTcWN6VzJWSXN4WUlqRWlMQUxUdW5iUjVZK2N6eGNvRkhEZGtZNW92ZXpsanFxOVE5R1pIQUtaQnpHS1RuWmlHQXIzemplbnNXOXI5MFhSOW82T2hnTUVWUmdEVWxNS1B6Y1BneFUrckhXdFhWQ0FWV2hZckxDbGExdUFNaDA0MzBlWkpHZ0dHUmE1Qzk3VzlIaGluQytja0tlZVlQZ1lDTUh3VS91NDNwWjVucU4xZEFrTmMyTDJQTWVxQ1NXYUNBRlZpT3dXWExJdE5UN3RORWdUTmM2Rk93VXdoK2R3UU1JdTNMVnBpVGsrdkRMeXQ1cjJ2RlM1MWVneXRDZ0pEYlp2bXhTRmRSRGx6aWRISm1jWWFQaGFwOGlvWjZaU0NRTGZ3KzlmbzVVcS8vSFhuK1RLNDJmemVWejJJMmZVRm9iY1dDSUFXVzdCaGlGNGZJajlxV0tDdjRqTi9kUW9NclNnQ1lDNHUrREk4RUZMNTBleFBBdXNDbi9sWEZDcGtTNDBBcktKckdsV2RQbmxvVXhMU3RuWjlBMnljT0tkUERtNFZjdEJaZmJGODlLV2hjaUxXN0gyRkh1T2Mzb2RJZmJ5OW90WFlzYlNTYTJwbjdpT3hON1krMkNHbk5nTFFTWndVQ2dXSXphRmJBTzN5VHRXRmdTUWZxR013dE9vSTdCVTlxd2V4T1hOQm9QY1pEWlNBRkQrZUtvdkZ3RHdRZ0VNY2hlcXg5Snd6TS9qb0Q0eUU3R2JNbzVKSW8wZ0VpbTQ4YXB6dXVCV0FOWHZOMWhLd0xZUmNLMXBrL1pGMmRnUXMwY1RaaVFVcGdJaHltMkZUTyswcWZEZ05Nb1lodVNFdzFDNWI1VklFNkQvOHpBWVVwVkhkUjBKaHlxVlVKRkltQXNkaXhsUkVzWERha2UrVzFuZDRackZkWVJFVlE1b2NBVkJEMkJFZEhwYWpBMVpabWY0RGFwRm1ZeUtzNE9QeVJvNmdsMHdLbEpVaVY4bEFoSmlpREJNeWpiRENDaGxMVkhMdHNiZzhFTEFLM2ZzS0F4bVRHOUNaYjZzWjN0SmFyZFhwTWJSYUNJeUU0YVlBeGtDRTdyaGtKenJEb3RFdlZxVXZvRnBJVWtZQU9vY2QyWit2RzhaSkprS1dUaFV5ZW1MaW4yL3BTSzBVQkVCYktYRFhHV2pLcmdoQmY3U3ZyaEJZc0l0VXg5U0ZZbWgrQ01ENlZJSFRJYUR1aWhEWXBuZlZYSU9ldmErT3dkQjZJQUFXdjA1eG5GcE1oRWJhY2V3WURZdkY0VjhLWlZDR1Rvb3JxT1dlRDRQdTZGMmFVc2FGeXJDbVVBek9FUUd3eWhSNENuRGtUdXBodE5LTVk2QUtjUU4yanRWQ1V1VWhBUDFEZ2Ryc3NhdXNON1dGRkN2QzVlRzR5Q1dOaXB4VFgzWVdPQnFXenE1b3dFQjZ1c2p3ejBQZFlhNTBWbGc5NEhPSWxQWUZzV0R2TDJwWXFIbmNYeHI2aTBBQU5tUVVxQXoxN0NNaVEyMG5CT01vTHBBVjBheWwwalNMdEF3MTZUQzFydGVZUVJYYUtiVzJXRmdCQ0RTMVI5MXpLR3dabEtGbFUvOTVjYkFLRFhJb0Jrbk1GQUhvQ0E2TFkrRE41Q1loSDlmU2IybE5qdG9zR0ZFNUJHQzZWT1F4amcrYVR6NnZyVE9zdzE3VFJtSkViUkRvem01U2RGVnJjcXdOZXNnb0lBQzdYMDluQk1RUXg3RVpJWjl2c1RDU3NiMkYrUktPcEFhYlFYQWNpMFNwRGdtNnBPQTdZblFnd0swd21xVXpYUTRNcnlZQ01DYzduUWxuSTczQmFDYjhZS0dwRVRCbk01TEJPSGFZbW1mTVdDa0Vtck9aazEwazAwNmxjRUJtVWlNQTYyUm5xVE9uenpqRzliSDA0RlV0NTNBV2pRbUNlMW8xSUpDZnRBakE1YjZEdEhsVDUydnF0NENrcG9rWlo0VUFtSWJLTjlDWXFFelBxcjJMS0xkWjVJNFBOY01YeUhsSEhZT2hkVVFBTHQ0NExabnZJWG1tNUJLeHVFSVI2QmE2WEs5Z0hjNjNiaXVDTWFpMkNNRDBxTnkxaHU0c0pvRzFiWjVhTUQ0cThuQjlFQUVZT1ErQ29SaFNad1JXeVhSUUl2OU43SVJLUkx1a292cGxxcmV3UEZidXVGa1NpSXRkekVxWjNkQkQyQW5ObzdTMVN6UXZXbE9janMyaERDMTkvcVMwV24zc0s2VVZGYXVnL3dsYXRkWHg3dk1kVXdBQUFBQkpSVTVFcmtKZ2dnPT0iCn0K"/>
    </extobj>
    <extobj name="334E55B0-647D-440b-865C-3EC943EB4CBC-89">
      <extobjdata type="334E55B0-647D-440b-865C-3EC943EB4CBC" data="ewoJIkltZ1NldHRpbmdKc29uIiA6ICJ7XCJkcGlcIjpcIjYwMFwiLFwiZm9ybWF0XCI6XCJQTkdcIixcInRyYW5zcGFyZW50XCI6dHJ1ZSxcImF1dG9cIjpmYWxzZX0iLAoJIkxhdGV4IiA6ICJYRnNnWEdKbFoybHVlMkZzYVdkdVpXUjlDa1ZiYzE5QlhHMWhkR2hpWm5zeGZTaGNiV0YwYUhKdGUyTm9iMjl6WlZ3Z1FYMHBYUW9tUFZ4cGJuUmZNRjVjYVc1bWRIa0tjeUJtS0hNcFVDaGNiV0YwYUhKdGUyTm9iMjl6WlZ3Z1FYMWNiV2xrSUhOZlFUMXpLVndzWkhOY1hBb21QVnhwYm5SZk1GNWNhVzVtZEhrS2MxeHNaV1owS0Z4MGFHVjBZU0J6WG5zdFhIUm9aWFJoTFRGOVpWNTdMWE5lZXkxY2RHaGxkR0Y5ZlZ4eWFXZG9kQ2tLWlY1N0xWeG1jbUZqZTJKZlFsNWNkR2hsZEdGOWUySmZRVjVjZEdobGRHRjljMTU3TFZ4MGFHVjBZWDE5WEN4a2MxeGNDaVk5WEdsdWRGOHdYbHhwYm1aMGVRcGNkR2hsZEdFZ2MxNTdMVngwYUdWMFlYMEtYR1Y0Y0Z4c1pXWjBXeTFjYkdWbWRDZ3hLMXhtY21GamUySmZRbDVjZEdobGRHRjllMkpmUVY1Y2RHaGxkR0Y5WEhKcFoyaDBLUXB6WG5zdFhIUm9aWFJoZlZ4eWFXZG9kRjFrYzF4Y0NpWTlYR2x1ZEY4d1hseHBibVowZVFwY2RHaGxkR0VnYzE1N0xWeDBhR1YwWVgxbFhuc3RTM05lZXkxY2RHaGxkR0Y5ZlZ3c1pITUtYR1Z1Wkh0aGJHbG5ibVZrZlNCY1hRPT0iLAoJIkxhdGV4SW1nQmFzZTY0IiA6ICJpVkJPUncwS0dnb0FBQUFOU1VoRVVnQUFCK1VBQUFPQkJBTUFBQURWVVc5M0FBQUFNRkJNVkVYLy8vOEFBQUFBQUFBQUFBQUFBQUFBQUFBQUFBQUFBQUFBQUFBQUFBQUFBQUFBQUFBQUFBQUFBQUFBQUFBQUFBQXYzYUI3QUFBQUQzUlNUbE1BaWF1N1JDTE4zZTlVbVdZeUVIWjJiVWZvQUFBQUNYQklXWE1BQUE3RUFBQU94QUdWS3c0YkFBQWdBRWxFUVZSNEFleTllNVJzV1ZrbmVQSVJlVzgrNG1iNmFLekZ3bzRjVUF2YjBiallRcUcwSFVrRHE5QzF4a2ltRldxcGJTYjRxQnBIaWRzVVVDVURSdHBLVlFsaTVKUnJHcVhWdVBaSU02SjAzZ2FYc0p4eElrWWRrT21laVZTc3F0dThNc0hsYW1hV3JyelVoWnZCclNyMi9QWStaKyt6OXpuN25EaHhIdkg4emg4UisvbDkzLzd0L2UzSHQvZlp4M0hvbVE0RWZ1allsUE94Z04rTUpSOGhRQWhNTndLUHRoaDd3YTVmQnU1L0NXbTlEd2k1Q0lIWlF1QnV4cDliaDE2cHlsOFEvbmZPVmlHcE5JUUFJU0FSV0JNcURxWDNSdnBmWitkZnYvdllIN0hMTWdIOUV3S0V3RXdoVUdQZnVsdjZFQlQvaTZKWVMreG1senMrZG90bTl3SVEraUVFWmdDQjFSZjN2MDBXWTQyOWtEcy9DcVhmeG4rcDJkL0JINTRhRGZRdUVQUkxDRXc5QXFVR2F6RzVYbTkvMVMzUEdXUG5HTm52WWQvcmxXL0ppNWo2NGxJQkNJRzVSK0FlOWliblQ4V29EaWlhV3k0ZXF4am9yemlsMW0wSlQ3a2xYZlJQQ0JBQ1U0MUFxY1YySGFmK3BDakUrazFabGpaak41MExzaXRBYU9kVVJ0RS9JVUFJVERNQ0t3eXo5bGN6ZHNnTHNmSmxXUlErMEc5WFZSZmdPQmV2eUNqNkp3UUlnV2xHNEl3ZE9HVW8rRDR2eE1sbFZSUU05TGZZdTVUWFdWUGRnUjlHTGtLQUVKZzZCRXFNblRwOFUvNEdGNzErVFJYZ0VzTFlqdkk2eTAvNWJuSVJBb1RBMUNLd3lOaXhzd0wxRnNONHArc1g1SWd4ZDVIdkJwWEljTzlqUXk1Q1lIb1I2TUZVNXl6SmNmNXMxeThKRDlTOGpqTGgrMG5JUlFnUUFsT0hRSTE5eFhINFBQNEtGMTNYK1hLVDZldjVzbnN3YitvS1NBSVRBb1NBamdDVzh6ZmdoM3AzZWJBK3QzY3d1Yi9GQTkySDV2WVNDZm9uQktZWkFWanZMa1AraFh1L1daUkNzK0U1ZkxkTzI1OWZ4M3lBSGtLQUVKaDJCRFladTZhVllaTjNBTjV6bldHZzl4ZnhTOC9JQ1BvbkJBaUI2VVdndzgzMi9xTXJkdVAyT2diNkxSbloyNWN1K2ljRUNJSHBSYURCem5YaFYzMUQzUkpPNlZUa0s3VkkwempVRTVLYkVDQUVwaElCSE1EelorKzhCTTJ1TEVjTjc5Vmg4NTVkZFFQV2pMNUJKcUovUW9BUW1DNEVNSHYva2lGeC9XMmU5eldNdTdDaXYrbk8vWS9NZEVZbThoQUNoTUMwSUlCek42WnBidUY4VjhpKzd1bzYzN2dYcjliZjdTL3NwNlZzSkNjaFFBaUVFWURaL29vWmVpU08ySzQyUFIxL0paVCtIYi81OFc4SUxBSE1QT1FqQkFpQmFVR2dyZGJyVXVJRmR2c1BQLzU1eHQ3cUJWU2c5UHc1bFFub254QWdCS1lZZ2FyMzNyeFdCSDRWSG1NL0owTktkd2kvdUNWUGh0RS9JVUFJVENzQzBHZlhSS2NWNEZYMzl1Ly9XODMvMG52Wm0zVy9Ga1ZPUW9BUW1DNEVsbkhUNVhSSlROSVNBb1JBRmdSdzJsNS9SVDRMS2NwTENCQUNVNERBUmNibzlwc3BxQ2NTa1JESUM0R2VkejFPWHZTSURpRkFDRXcyQW1jTUYyRFNRd2dRQW5PRFFNMTllMzV1eWtzRkpRVG1IUUZzMVczTk93WlVma0pnamhEQVZwMzdLWXM1S2pNVmxSQ1lad1FXYkVkeTVoa1FLanNoTU9NSTRGcjcvb3dYa1lwSENCQUNHZ0o0cTA3N0lKMFdRVTVDZ0JDWVNRVHFqSCtma2g1Q2dCQ1lGd1Fxd1Z0eTVxWGdWRTVDWUU0UmFBUnZ5WmxUSEtqWWhNQzhJQUN6L2NHOGxKWEtTUWdRQWc3Zm5yOU1PQkFDaE1EY0lNQzM1K2tZM3R4VU54V1VFQkJmblQ4a0hBZ0JRbUJ1RU1EMnZQR0IrYmtwT0JXVUVKaFRCSHJRK1RrdE9oV2JFSmhMQk02TTc4dlBKUVJVYUVKZ3JoQ29CVDlXTjFlbHA4SVNBdk9IQUtiMmRCdmUvRlU3bFhoK0VkaUF6ajg5djhXbmtoTUNjNGNBLy83a2pia3JOUldZRUpoZkJQQk4ydUFIS3VjWERDbzVJVEFIQ09CeWU3WTlCK1drSWhJQ2hJQ0x3QjUwL3BUQUlBVEdqY0JmdjV3LzQ1Wmlndmd2RndaSUJ6cFBSMjhucUtyblZSUitOcXlZRTZIdjNwa09URXZ2Tk9UY0t3eVFha0ZBRytJSFBaRzFjTSsxWU5MRS9raWFpU21NSmVFZFY4ZkMxczQwME9yc2lRb0tMVXpuMS9xN0JZbWNOOW5tWloxaWNUcmZnczdybkViaGpxNkZDNmx2NW91bU9Zb1NwZWN4V1pzbVpxdExYNm9VT1F2VCtlcGtia1YvOHIwaGtKNjRkYXlGRmFiekphajhMWTNSU0p6UnRWQnUvbXhLQ2FKcHBpU1lUelpMelJxRXkrd1p3ejltajlucVJpcE1qK2tOUGovV1Myd25QMkk1VXFxR2g3ZFM2MjBCQm50RnZQNjJEcDIvSFdCVXREZXVGdTQ1VDFmemNUU0xMazhjZlV2TkdzbEw3TXVHZjh5ZWNLc2JtVUJGNlh3ajRwUnA2YzkvKzluZjh1RFZrWlV2d0toc3MxMzBncTIvRUozSHQrZUxQWHBiL2xEei9yODN5eHRWQ3p6VkJndDJkV2JlS0Y4VXpVbXNXYjBNRTZielRxalY2Y0s2N2s5LzMrZWVkMStxY2VKci83SHQrVTZYYkVFNnZ4aDFJVXdiTForeHErSHlqU1lFZysxV2lOTXEyemZEQ3RINUN5aDNvZXVkTTNiZU1rc1hXUXVpdUczTFNtT0pHeDM4cC8vbTN3dE9CaUpwdGtXMnF5YVNvL05aYTFablAyazZIMnAxdXJEQ3pVY0p4cDRNaFE4TzRMZXcyWjRka2JVZ25hK0VwOUN1cEcwaHlsWFhNL3BmZkVubVNwaHJKWUJySVRxL2laTGZDUFBPTFdRSnM0anlSNHlTUk5hQ1lMcGdPU0YwSXFwSC96bS9aa29ZU2JNdGNsMDFVNC9PWjY5WmpmK2s2YndUYkhXYXJLNlRIK0pLTnpjc3ZlaEJrWmYxSDNBZnJ5dmZFWVNMMGZubFNIdkpxOTdmZ0RSWDNVS04vdmZFT3RaZUNKeVZLVVRuNnlpM3BiL0pEWU1hNnpxckRkMk1FbDBMTHRObStBTWI2ODkrM290NWE3bjVmdjc4Mi92ZzdCdEtIMDF6SW10V1EzZmlkRDdZNmpSWlhlZnk1NzRXdXByV0NzSGIyNWNVemRKN1FNb3pVMlhYK1M5WWh2VHJ6R2dvaWpOM2xHdGoxUGt6eHI1b1NDTThwY0NrdXhDZEIydkx3Qm9XSm1YSUdwOEVWZ3dXY2JYQXVleWhsN0E4UjlEell5LzhSeHJRZituaFlYRTBKN0JtdGVKTm5NNEhXNTBtcTNKaXFEOVFudUVjL1BXT0xTM0xla3R1RldmVytidVpQclI0UEJxV3BhSml2emRHblVjVHRuMGw4dXhjU2NjZGhlaDhEWFZ3YXJESjFkTmpYd2xlcGgxYkMyQit5VDd2T05PL3NMV0tscUxiK21KcFRtRE4raGhQbk00N2dWYm5pK3E3b1BQYnZtOG9GMThaZFBVYzk4aW1uMVhuWHdiS2h6cGw3bDZQblpCc2prL24rUjY1Q1lRcitrV2pSeXhHNTZFOGx0NHhDRjFxZndQTEtiTnJqNjhGenFobG1mTTRUdFdZVDk3RG1MYXRFVTl6QW12V3gzUHlkRDdRNm54UmZkY0ppNWt4Kzhsc0xtUTFqNEF0eStNaDJYUisrWDBnSE5iNWs5Z0YreGhiQm4rRjNTYmJ1am01TDJLY0Y5M05ycTF5Y2duRGhSeFhITDQxc0tQSXhkY0NUOWF4OVg4T09xY0RSY1JaTlJDTHB6bUJOZXNYWlBKMFB0RHFmRkY5VjF1dXdmMmdwQzVrRGF5Nkc1NkJONFBPbHovK0xMUUhQS0Z4dmhwNzBBZVRqcXRKQmM4NUhWY0t2VUVyOGsxak1WS0V6blBkTWZ0ZHhUd1B4eUlIRlQrYTNUNitGampUQzhGTlNoN0lPNmR0N3ZDZWhtNzJqS2M1aVRVcmk0RnlwYldHS1JKNU84eFdaNk4rSk9manRzajRzQ045aVNhU1ZtNjdPVkxyL0lNWURyd25xUE1iekNOdUYycU1MV1B2SENMN3hreGZ2cmJSY1JXaDgvd2pOa2JINGpQUHc0VWg5dEFwTjdYZWRFQXRjS2Fyc0FHRUhteDBHL1BKTTYwakdVQnpFbXRXbFc4Q2RkNXNkVXBTemRIVU8zRXRQSUd6cWZmVkluM2QyNmRKcmZOb0dmSUo2dndTbHBZeHp4aGJSdVZMa05uV0lWMHdSdjhpZEI3N3gxYk9NVUFORTFVWGs4RGwzL0x6REtnRmtiQnBNV2hpc21BY1BXN0RMNmtPb0RtSk5TdEZuOFJ4M214MVNsTGZnV09qVC9tK29WeklHandPMHZONitHdzYvNVlhS0J0REpKZXJwNDAyRmpuSDJES2FWNnAydy8wbDV2V0JRdDRpZEI0RGNlcjZzNEFZREtyNGl1bEZEYWdGa2VyTXNwT0E2akY2Z2g0RTMwbEdjeEpyMXBPY3Ixa21ibTV2dGpvbHFlL0FnakN0MEh3dGVkbW54RjE3M2pIUTlEcmZmL04zL0phRHBoYlcrWnJWTktUNGo2OWxiTEF0akllcUJTdUpjR2pBYU9kRjZEeFhuUUtQM2phQ0JodG5RQzJJd3A4WTB4c1hqNzJBN1ljamRzMkRhZ0ROU2F4WlZja1RxUE5tcTFPUytnNmN2ajN3ZlVPNStNSGRVelBIbmpmOVRxM3pMcmtLS0FmSCtUSXpkN3ROeG80enZwYXh3SGJCM0xCUVNlR3FlaW1LMFBrT0dIdVlTNTU1L29mT0dnMnFCY0Y4MGJLZ2g2RDZuTWRwUS9CVFY5UkJOQ2V5WmlYS0U2anoyQllOcm91bHRPNC9iTTdiWmtoaUh6ZFhkODNVdlJ1dXZ3Q2R2MlE3NnFaeEgxL0x1SGp1OE83UEs3b21rdVBVZFJOMkVUcGZCZU1EZzJXZUhoamJBK2E0UWJVZ3VLc3RXMDBXQ0dyTVI4NThuUjlFY3lKclZoWnRFblhlYUhWU1VPMy94SjlpYWFHSm5NaXF6REJlaHZZVjExR0F6bDhZc0FZWlg4dm9mVlVjVlF0b2h3QmlVeGU2Q0oxdm9nNHVKNnF0TklsZ2JBOHMvQWJWZ3N1RkdlWTZFZFlLZElxOHN6cDBVdytpT1pFMUsrR2NSSjAzV3AwVVZQdHZXK3BIaTQ1ekltdGdlOTdwN0xzWkN0RDVuajVrV3NRYVg4czRnbDZnU1d0NzJFcThKWDF5VW9ET2N6T3FlZGhQc2M3RGdlbExZUFl5cUJaY3JyV1FUSHg3M3VpYkFKanNHQWJSbk1pYWxmQk9vczRiclU0S3F2M250RDMvdjdva3o3YmQvd0owL2lqVWpyUlN3RG0rbHRIYWQ1d2pOR0ZUSHVGYjE0MFFCZWk4ZUtQWkd5NHQ3TE1HWVNkdzM2UXhxQmJjMUozUWtYdStQWCtxa2VKOWdMVFBES0k1a1RVcnl6S0pPbSswT2ltbzlwL1A5bnpacTcvS3FVdTZBSjIzR3NhMWdveXRaU3p6eHR4REc3Ym9IcHAyVjhsWWdNN3pJemx5dUZSODhuTnNzdUQrNktCYWNIbnZtV3QzQlBMdCthNG1HTzhEcEUxdkVNMkpyRmxabGtuVWVhUFZTVUg5ZjB3T0pmUitZREtYdmoxL3ladlkzdDExOCthdjh4alI0c1VhVzh0WTQwb0g3dWJjMVJPMnFZMXVCZWc4Zi8xbEFDN3hxTVhIb2llN1pxUVlXQXR1Nmd1aFJzWHR2VG9sZnBib2hoc3drT1prMXF4WG1rblVlVWR2ZFRycXJodDc3SVk1Tlp3aU1rVGZubDk1eWt5V3Y4NHZERHBpT3JhV2NaR2ZmZVVEcm0zUHJLcjFCQVhvUEFaaU5VVTJheUFYWDhjY25Ia3hFeDMwWFF3WmVrNEN0cDg5Q0w3bHlqaVE1bVRXckFmd1JPcTgzdXJDRFNGc3BRbW5pUWpSdCtmM0F1YmRvTTZYUDNnWGUrZzVFWVRDd1JXMGlNQlVlVVczaHJrNVB2VzhadituLzBUbTlsckc5OS9YdnovQXFQekJlL3MvSGdqRGVabHc2RXZ2YXAzLzlJNnovQTVKRTRudXMyUlYwY0pSNS8wZC95SjBvTjhUa1IwNW1zRlhnTTd2Z2EzTmRpaDREL0VUVVQ5SDV1RHNPSlphY0J4ZUQ2L3Q2dHd3YzllOWNMY0Q4MGxRbHN0NUM4MXBxRm12Z0hFNkg0RnFBSnFzWGdzWHZkWHA1Qjk5OE5ZMzhYZWd0SUdJSzBKeTNlVFRzNjVIc1hLZ2srYkwyMk05WUtQRzJBT012VkVQaTNOWFFEcWc4NXNzdUJmMmF6d1JZLy9FSStUcS9FZFl2OFhZeituRTF4dU1OUm43QlVNaUp4eGF2b1BkK2tkb3Z0ZmFhamRpdWNiNnVBTHM1M1Z5SVhkVmpPL2dvTEpwU1hyYU5Lb0FuZThBZ0xSck0wMUtXLzNjQWRMZXM2K1NobXZCY2Y0TTZ0dGs1enNxa2VnQnU1b1hUdWk0L2hJU1h4ZktZU0pNY3lwcTFpdGZqTTdiVURWUnljTm40NkszT3A5SCtRdXMzMlRmNjV3WTVsUmJmajlQd0lXc3NqY3ZzMjB6TXFEekZmYmR4MDdwdzNJMlo2YTErQ29nSGRENXVxWThJc2RIR1h2OS8vM1liemRRQ1BFSW5YOTFIK1A1dTVrdXpuS1QvZmZIemw5WFRkMndoTGJaSDRCUStRdm5hdjVhcXJFdjdqcWZhckczdWl6c3YyNm55VVUyZXhXUmVsTWIvUXZRZWFpU29VdDJDUWVHMnVxbkNkTGVjME1SQ05VQ24rN2YvQzNIK1pHbWNWRkcwQTZBRmFZMjRYSEVHYVpySHRVUXplbW9XVS82R0oyM29hcVF6TTFoNDZLM09wL1JHYnU5Njl4OWZ0ejJ4MnBFMnZMN2VRS3V1ait5TFFWTVBZRngvbkZQYWM2U0Rra1YzdGdPRFg0Vm84MklWdk1UUEVINXJMOHJFbktkTDdVK3dOME4vVld6cXN1ODdQMkx0UHpXRnFISFd1Z0MrMGszcnFwMHZzT2VQRWJZV2xBV2o0Yjd0K3FXZlE4U3kxYXN4Vi9RcHQ0RjZId1RYTVUwUTJNNXZOTmFQeS9GWlpXb1lkeForZSs3aW1Td0ZvQi80MXhFWDlLTWxRNVVmRnZsNFE0K3J1OXJJVzF0SlJTa0NiaW5vV2E5MGtUcnZCVlZEWU44bkZZdWVxdFRiRDdCUkUzVjlqRlFxRURIbXQrUERyZ3FhbHFKOGREVk81WENIT2NiM21lYzFtMGpvY3FqT1VBNnFHZTF3Slp2VFNwVHVmRXVrWlByL0QzdS9QOUU2OGdlbCttd3h0eFJMQ3loSGJtK1hKUTZqK3R2dGtTT285QzZRaEhpdTFDOFg4QksxMnpWWG9wRjFsZHBDOUI1anRPQllwRFdFVlUvc0tnL2JkSU0xZ0l2dC9leHFvN2U5MVFEVW5GN3I0dWxvQWZDZnBjZXBEa2xOZXNCRTYzelVhaWFpR2IxV2Jub3JVNHlXRzY1dmU2RnA1cjZLdFNhWCtZSi9UZThGbEgrajFXdFlidkpESjFmWks1V1lnQStEVkd4QmxUUUp2eEdJWkswRExzRFY3RnROK3VmdGx3akZ0ZjU1bzRJdzJid0ZUZlNLZmtqVHR1ZlpsdEN5LzRjdWVuWnBvOWtkd0ZtdXg2OThOK211NHpuOTJQcHJkNUxpRUZMWmNsZjU3bnVHT09uNGpXTUk3SitVS1liSnFGQUxTQ3kyajkyazZ6b2s3aWpRRWJBb1BXNG1FK3lYMUtFQXpTbnBXWTkrU04xUGhKVlZmQThISFl1ZXF1VFhPcmVVTWJiakY5Vjl2d3lUK2dmZWRVVHRCMGJPbCtYMDc0N1RMME5VVlFCRlU3NFVIbTVBeHF0KzZ2UzdNdEhFTkhxb1BQLzNpc0xpaVVOUkJka09yR2R0dU9Sc0lRdStLMjA0K284S0Y5eDA4TW92Ky9sRFArMVhYTTluNzM2VUtwa1VKdGQ2YkhxL0tmRmgrbHRQNitRK2FML2VVZWpqNS9SS2VOaUl1dEg2enU5L0lGYWNQQ2lnVmZvaFpadXdqeFRGZUJtaEtuWTcvdWN1NDE3UGdJMHA2Vm1QVVFpZFQ0UzFiaXFjTXAvYm1zS0lreTFJNTJBbll2ZTZyelVhTU52YzUxTmZmWm16Njl6ME4xaWpPRnRqai9CMW03b2ZNT2IwaS9GcVk1T21vOERBWjNIMGFKVExRa202dDZzazdlbVF4NERuWCsrcDZQUVB5bFFWV3Q4VFRYZnNJUnFsN2h0dWpxLzU0dFE4NmNJbWhDdXMrYU43cGoyV1BhdTBYSHN5Q3cyblMrM2VGSHR6Nm5NR1BrUFJIMGhJMU1OaW9pc0gyQzdiV1FPMUFMaVZ1VGtwbWFVdnUzUG1nU0JFdzJjOG9kaDZOOVJkQU0wcDZabXZRSkU2bndrcXFya05zZDFlMVBnb2JKSkc5bnNYUFJXNXlYdnFZWjRwcy9lN1BrTkZwcUhuMEw1SHY1VmtoZWgyWG9LcUtKNzJzcDlRdzYxOVdBVGNwTWZxMXpLVWVGbEZKb3NnOUREWEpOdS9PK3BMY1lUcER6bE1kQjVsVVdOSTJoQmwzbWtlRHF5V2RwQ1QveWhmTW5WM1lhVW0rOHV5OFcrcEtYK3k1SkJCL3gzVmJCMG9IdFZjdHQwM3VnNVFVRi9mTWtsdGVBL0w3T0ZhVEJadkQrNmZrN01qcGFQNm41cFhLSTlieTZFR0gydTF3dDBrbTNVeUErSjU4Ly91QUhMNEk0dlVvRG1ucW94Y0ova212VktFS1h6MGFpNkdZOTlCSFFYZENUcTBlZFJNa3NFRjczVmVVbWJxbjU2Q21HK3FlbzE3QWpkbEh5OGYyNjA2Z3AzT1doNU5mZm4xNlRKb0JKcU1UejdYd1QzM1JHR2xMNENDeDVRMHgzaGNIOXF5cnNwVTZMOUs4VnNTWlluT2hra1BSVFpiYUU5ZjI2L0lIUWVmYVhxV1pHenEzSFhuZXV5b3dGUll5cmlKc0lvdGlXVDIzVGVlVDZ5MlI5dExKUVVndjhuUEdjd2NGaC9kUDJnSWV3WTFBSzFnTGdqcjh2RENPQ3VjZHowZTRFVFZFZEdFZCt5cTFFTjBLd3BuZ0RkeFhZeWE5WXJRcFRPUjZNcU10cGFQWTlZYkJsSTZSN2I2WllJTG5xcmMrWEVDbDhhMVU2MGRocVIzODBUL3VWVjRvV3V5YkZPcGRMSCtRdHllTFdQbHA0SlRtWGxqZ292cTZ1ZlhqamFWTmR6NGcvOW1OUnZQcjBWVFFndFEyMFJOeVZMRVBKenFlV3BMYlRuYS9pNjBIbjBhV3IyQWlaWGZUcUdhMGt5NElKY01hS0VSNXZiV0hVK25HT0lrRHA0V2hZVVExQkEwdWo2T1FzZU9UQnJnYk5wZXRNajMvZ2htRytxVVVWNGtVdzlEMzNQYjdsaDNxOUpjNHBxMXBVL1N1ZWpVUlg1YkszZWdDV1pKNHFMMXVwY1FtZ3BXeDVKT0x1U2VsUitHUi80UjFZNTIxZ05EWEM2em0vSzZlZkNJeDhJMElCM3pkWm9LN3lGR0RxUGZrcG90a3NBMm52YkkxVnFlUU1NZEY2ZDlHcDZYUUlXOXBwS3dMSWh4aUpyNkluUGNGbk1VbEcrQTQ4SFAwMi9MOTJCL3hNNXBjVjRwZGtPVkNvdFovNDZmd2FlRWdqRmNWaEhkUDJFOW1QTVd1Q01WSm52ZU1leHhuaFR4OTNkbnIraFJldE9rK1lVMWF4YmlDaWRqMGFWNTdPMmVoMlZoTzRvTGxxcmN5bTFmUDJwYU9OZ1ZQNEk5c2dxNTc3TGZzZmhKUTdvL0g0RURRVDNXRDhjQ2RxK0NvcG90QVd0VFVGVU5aTmMvNTJ1U0FHZGYwWlNram9QUGRSVUFtT0k2QUdzb2NoK1czTDRiemlkSTIzWmcxRXNxc2wydnVJeDVZWjdOZEdRZ25DbDJKZWUvSFcrQnA0S0NNbG0ySCtBcVVRMDh4b2J1VHpLckFVZVluU3FQTUI5QWpvUC9FSlRRWm5VcERsRk5lc1dJRWJuOTJVUncvL1dWaDlPTmpBa3F1NkNWWXJoVGc3UU9MR21uRTVVL2dqR0RYL3V1eXJudHlxcHJ2UFFwdjdmcTVpZ28ya29zeGRiUVJzeHgzbXpaYlRWOE9LVEF4dWxsMUxuTWQvV1ZJSnJKVmRyYXlpR2NuYnJUM3h5L09hYnE5SUxPOVBUMGgzNGJ5aW1OWC9Cb2FYUkp2ejU2enhrakJSTWt5SGVHVjAvb1U3TXJBVk9GaEw4S3NjMDhHeXF0WmVJd0ZnZW1ncktIQ2JOOXZUVXJGdUFLSjJQUnBYbmE5cGF2VVJraVA4b0xscXJFOVNRVG81TjZLYmxXQzBNM3pHNkdSSUUxU2liK3lXLzQvQ1M2VHJQalgzc3RUc2hBaUtBcTFvM0ZGWGhXUTcxWU9pcDFyU09mTjRxRVlwMUlEMVM1emNOblVkcEJWRnJLTzhRR0h2RC95Wkp3QXppTjFQTUVOUzZRU1p3LzB0c1d3YTBrYU1yUGVxLzVVdVZ1ODRMbVdVbEtJN0RPaUxyQjZWV0RjVWxhdFlDRDJ1ZzBMZStQc1R5b2psNzR4dXEzVkFpTjhDa09VVTE2NG9mcGZPUnFQSnM5bGJ2RWh6cU40cUwxdW9Fdlk2dk1NYjRGWlhmTGdTeXFpbmhvcHpUL284eXJhN3o0dUFJdEw0ckkvWC9Ic2dZeWkwaUt3ZzFneUdjbHEycDZiY01oczVma2U2bTErVHFacXR0dWFZTmUyaUg4MFFEZm81TGhDL1BsV0JRcmtEcmw1d3VzUmQ4amZjY0ljZVdERmYvR3ZxNTZ6eXZBMVVKaXVPd2pzajZBUVR5YUpOSDA2d0ZIbmpHUlZDZ0tkWUJuVDlCR2hVWGNKZzBtOU5UczI0NW9uUStFbFdlclFjOFZPTUs0REdVTjRxTDF1b0VQY0M2N3hGR2YzTkQ4WWpLcnhJWUR0NVZ5Ulord1JzRXk2cGlkWjJYeDA1dTdSZ0VYRStqNHBQeG94RVlBTVZzR1lpOTRxZDJYVGFkNzVqamM5TXR1VDNVSzc1OEVaZDc3Ly9IM3ZNaWM3NmdzZVlqbVBZY2FGR3VzK2tqbkx2T0M1R3ZobGdPR1JCWlA1aVIrNjFERURWcmdRZkpNeVRpclJpZk1XRHhQZUx0K2RCVVVNYWJOSUhsdE5Tc1c0QW9uWTlFbFdlenQzcUp5QkQvVVZ5MFZzZXBZY2FtSnEzQSs3TGlFSlZmSlRBY3lLbzJiemNQM0tnRmFjTTIzNnZEdUNvZWZ4bWhLRjI2dFJuYVZrQmtoYWMvVktuZ0NMV01mVDJXdTIwNkR6cjZuTHpwTmloN3FQUHI0Q21lbitYa2VKK21QNy9DQThQUG5wN0d0cmpXZXR6Y2RSNUxZZXVSaDdDWXNTRlI5UVBNOTgyTVppM3dPREhWNEdLY0dpa0Q0L3lSdm9ZMEVrNXh6YnJsaU5KNWZOckFmWkszK2dBd2lid1JYTFJXeDhud3dXSFhvN2RwRExJUitlMjhrVlYxNWNzZXZZdFB5N1Q2T08vZ2pSNzMyWkxSNm4vdnl4Z1I5cFZYT2lvOHZhSHp4cXFQcjdVdnk3VHkzNmJ6UjZZV050MkJ5eDdxNEwxYTkrbDNRWlByRS84ZjhGUlVrWVU5UzlzbDhESzIvSEVyZDUwWGs0enVBQWtIUjBmVno2Wm14WFNwR0xYZ0JyM1NBMDB1Nzl6UWk2WU5yMm5XZ3lHU1FYT2FhdFl0UmFUT1I2R0tiQkd0M29BbG9TZUNpOWJxT0NIMDFYMUpzTzZQMVFpS3lDOFRtLy9JcW0xOXUzRm5WMlFhUStlZFN5MjNZZWhqcnB1eXNRWGRPcEM1MUgrRnB6ZDAzckR1Sm00WlZiT3ROVjJkdDRkaUYvbHZPRnM4WEk4VDZueFRFLzVJUTFZVlJVTS9kNTAvNGNJcVR1a2RFZld6RjVwRUdMWGc4ZnNDRndMUGpzN2YxSGx1YTd5aFIrdHVnK1kwMWF4YmlFaWRINzdWNjZna2R0dnJUbXQxbk5LSmRqSzZZallaZTM0N2UyUTF1M1lrYTEyVGFVMmRkMWJmaDFxM2JHV3RuL001dE5wV2w3a3RjM3VqWlhBRC9MNUs3RGtpeG5tOW4wSFhjNERVMEUxTEtDZFQrbUJUeXNubjlsMGVGdnZnODVSK2ZBOVpkbnl2NjlJa3pWM242MkFvenlNRytRN2x0OWRQTzRTQVdRc2VpL2MwSVVaZ0dXN3V6OGR0endmMi9FRm9QeWo2aE5hc0syYTB6Zy9kNm9QbFR1YTMxbDBBUlRTVXB5UzFSbUNzdHVhWGljMy9ocWs0UEhMZEgzTUNPdTg0ZnkydVY5c3hhVGduVHlNVDA2YkhYbnlGTnlKam5EZFBheUgyU29DVWRUMS9adHJidld6MlVKZGUrVDJjTlJTWkw0RjJnanhDZm55ZTBnOUQyL1MzOUdXd3RnckpYZWRSRVAzTWtXU1o1dDlXUHhWelJBQlpzeFlrbi9KTFd4QkU3MGFkVGUzY2g4Z1dXTy9MckNHYUlEUXROZXVXSVVibmgyMzFHaWhET1MxMXA3VTZUcXJqS3hubVhNR3gycExmemgrVmN5TVFjOEZmellaMDNuRmVoaHhYQXpscVY3bEpNYndOVmtGYVUrY3g3Tzc0bVp1V0JZRnROT2lZeEVIME1vallReVgxZFRSZ2xJeVBUZGRrV09UL0JYMlk1Vk9EZzBCU1FMd3RnNnc2dnhINXZ2VGc5K2VyWUtqNmI4a2w3WCs0Zm1xaFNZUlpDejZuNVZxZzh6a3h6dHR6dTBQWFQyMjZUSnJOTUlUVzNyd3o5cHIxU2hHcjg4TzFla0Z4eVBmblhTbUNkYWUzT3A0Q2c0TlVWaGhkamQ1WkVBam1kNmtHZi9YdGVSblg5bmR6TFRyUEdYT04wNTVWR0JZcy9ZN05iZzhWUFBSem9ySExNcWhBbTg3M1RKMUEwN3VLOU5iUTYxdVNFaWF3VUNTK3NqeVZRWkgvK0R5bC8vQWRrU0NlSUtNSTIzUmVicFlnYStnNTlVbmJYVTFrQ1UrUzdHa0hoNGJxcDJVb0xpZGcxb0pHRXJNaVl6TnV6eGhNVGlDbmx0aDBtalNucDJhOVVnelErV0ZhUGFjbzl6NkJXUERSbTVvSm9WRHF5MXFZM3VwNDhKRS8xMGNYRzFLZFVINk5sT2JrWTVwcXpGNTQwMmVyNmZ4L2tybWdTL3ZTN2Y1ZjV5TzhabDVRc1JWZTNrUGxoUVA2ZE0zM3R5MXQzYWJ6Q05NbU1seU5kMERFR2lxL29vMzRxcGd3TjdVUjJ1Y2NjUEhQVS9vUHNxamRTaThVZmFPUzI2YnphcThMc2dVZkgwNmZoZUhpR1c0WUlTazhrZldEM2pqWXpNeGFRSzEwSmNPcXVVcXNHL09QZHFCSGtKbkV2MGtUU1VPOTJHVFdyRmVJQ0oyUFJCVnFIZFhxT2NVNnIxUDdZM1NxTHZjb0xucXI0eW5SazE1MWMzQVQvajZjLyt5WSs2UHk4N2p3ZzZ6NlpKc251S1FGK0RyZlliL2k1VWJsQmxweGRSdFJRWnNDVDEzaHBUN2tMdm1nQVc1SnQ3QkRCcHVqZFFhSTlhZUdGRVlVc1dOaERhMzdJL1JGa1FreVhQRTVScmhhKzNvRUYxdjN3dzJlT3pMSXB2TlozcDhIb0Vsa2xPenQvOUgxZzRialkrSm1ObXNCdHBoKzE2UGEwNEhtaDNEMHJCaG1RdFdscERGcG5saVMyblRlV29mYzNoQ3U3NEpxMWl1QVhlZWpVWVVDYmlPcnJkVnppb3N0WHFuVzU0MDgzbmdpdWVpdGp1ZEFCWng2T1U5Y1JXcDA0WS9NNzZVTi9HMUNyR016YkU4b2xCdW1kQjZUUHJXbFo2Z3QwaTMzT1lWcVNFOXNPby9wd0ZXWE5QOUZqNlBWN1laNFJkZldNdEJzTmFFd054SERzRFcwZmx1Ulg0eFJSOVlBQUNBQVNVUkJWQkRyMkQxalEySGoyMVcwNWhDZnAvVDl5R0wyVk1JVXVDc1RXSFZlUnFiNDU4ZURkVlJTa09DbXlxajZRZFF6UVpJbXZ6Ti81cmFwVDZqNFhGR2ZBRFV0ZzdkUDJhQTVQVFhyRmNDcTh6R294clI2SDVKa3JtZ3VpRkd0anRPcStMUE50aGlFeEluWjZQeDIvajJ0clhncGFscGZyblIrai9rcXJRMTVJc3RGWVgrQ1BJSE93NnJ6VFgxaEFLM1ZCbFQzNks5TjUva3JJRDV4dENlM0pkcEM2Mzduc0NyVXdGM1d5OUt2Nk9PV0RNUzQ0bE5ISUxkVmJhdEk0Y0RJb3dMeTFublE5dXRTY1JuT3NRY1NNa2VnZmdEQWdZeVMvMFl0OExYU0RTOW0weGpZTWJESUNNUmpKTmU5a3BiOE4yaE9UODE2NGx0MVBnWlZKN3JWUzBDUy9rZHowVnNkcDRiT2VjZWplaVRxZTVVUG1kSDV2YlNCUDFEeEIwWVJ0OGEwVVVIcGZNZmZRUzdwWXk3UGNuU1oveUpGbC8vclQ0WGhPZFJEbkpyUkFLRzFweXE2THRxWFZlZnJlcm85T2FMWVF1dStGQ1V4SFVDTDFvenkybkpmOFlWbFFKdHRJQmdkWjdCeEwybEU4dFo1OUdFVzdEVHhFamc3ZmltRDlZTWVURlNRVHNXb0JUN1B1T0xGN2huVmc5cVNFWWpIVEROTXlhZHEwT1M5OUttS20rU2E5WVMwNm53TXFqR3RYaFU3b1NPYWk5N3FPTEdlMzA1YTdvREd4K2ZvL0hZQmF1WmVDUktkNlVPYzB2a2pmMzIyR2xqVWJianpEOGh6R09SUllYak0wRE85UytHRk9GQ1p4QUxKdXA3bnI4cjc2VUQxV0dTeWhkYjlXZktHS3loRTMxRThhdHZLcVRuYW1vVVF3WHpnNHdZYTdibW9kWTE1Ni93bVIwbmpsY2FKUXZMcTUwK3dma0IreTQzeGY0MWE0UE9NVXkrdXJWd2lvT1dqNmI2NklOTjV5ZlUvZytiMDFLeFhCS3ZPeDZBYTArcDFVSks0bzdub3JZNVRRbFY2Mm9RNjQyUDFSVDdoamM3UDg0UWZWTGMyckNNZWkrV3VuMHpwZk5WZjhxMm9XL2pjZEJmY3huWmlhVm9Wa0pkU2VrVE56KzZCbTJ5cU1Pa0x4dFp4SGx0aFQwbXBvSkdlUXRwQzYzNTVWdDBsQU1hNWZablhxeW5wbGY5TlUrZWRwbUZuNEtsT0pFKzQ4OWI1UFlDa0Z1TlNwQ0gvWStxbnAvZDVIbG1qRmpENVYrd2J3allqbVdNMnIvWFlmTW5UbFZIaGY0TW1iMGZUVWJOZVFhdzZINE5xVEtzUFF4TWZFczFGYjNXY0JtcnFta3VyNDhKYlA0QTNPcitiTnZETGwxMVg5TENTYVloVU9sL3hQK3JhMXRzQjhsYjJCWUZOeHJhRlEvdXBnSHdnOWFhdnZEeGh6VzlHRjl6OU1kQTVrQ1Jhck84NWUweFpNekFWM29vT3JmdmJiSXV1cnBkYXZsM3Fla0M1WFRxaEw2Y2ZRZXhqS1lUNDcybkdyTHgxdmcxdVZya01DZUk5TWZYVENaWUZsSXhhZ0szejFLTytxblZ0Q01LT3dxNFhnNzhUeU9uN1FpNkQ1dlRVckZjT3E4N0hvQnJUNmtQSURBaUk1cUszT2s0RTliRXRpUEZsRmg4RXExd1Rvdk9MdE1FZmRCejY3TTNaUUd2M0JsR1JWT2w4VDlsdlM5b3NsNmNwZVgwL1ZIRmY1TkYrS2lBZjBQa2xYeWQ1d2lmVVp6bWM2cnRFemhOdExZM2NudXFoa0ZjOHdoV2ZnaVcwcnJwQ1RDOTNSQllFSFhwNUcvdWV3L2lyK0huYzhDb1lYeldTZFB5T0tQZHhIdXdOMEEzR0NUM1I5WU9wbjJiUDhNZ1p0YUJOZnZiTVltTVRUK04vNXRzTXRGRGxOR2hPVDgxNjhsdDFQaHJWdUZhdkVFbm9pT2FpdHpwQnJPSFptZXBQaVc4dmxrV1hISjNmSmtBWjFhZ3Q0TW8vMElEL1FFdXBkSDdKK3p3bDdyRTNtNFd6NGcxUjZENXUrRGt2UHNJZlVHTk11QjZXVVF0R00rTERRWDlYeEszMXUrSy80azhLdVMzdHFnaDBuRmV5Y3pjZCtHeDVZYmJRdXRLZnNweXhiNmlCL29uelk1VlZPVXIvQld4dXU4VGR3TDlFUUdEa3JXcVRtTHpIK1NxNG1Rc3NKVnRpUjNUOVlLRVNQR0RFVjNDNk10ZkVUUVBndGRHNmJYQmMxTFB5c2NXWStSdEpnelNucG1hOVVsaDFQaHBWZTZzUElKTFFHODFGYjNXQzJKNDdPS3l6MHg0ZjV4ZUU3VGs2ZjBpQUgzdjJjN21LczMvMWZuRXAxTFBGaDJ6Zzl6V0tHd285SlNrM3ZhTUVud3dvZzNQMnJzK0lCNHFpTmR4TlRsbC9KSHVzSm5UMTRzY3Z2c3JqTnBwUDQvZi9lditMZWFaZmZQOTduZEw3LytjV25QM3ZlWCtYeDVlYWJycmxoajRtaGtNeHQvZEs4REdscG84ejlrODRqVXZ5VTEvYzR6MGJ6MnR5anV6OEpUTGcvWGVKQUhickgvM09qa3lGT3lLdktYZmVPdDhFdndORlBaMGp1bjV3SWdLdEkvQ1l0ZkRFK1k2SUx4OFpsYzlQT25wWnkvL2gzejVQb0hMenViL3o5d0ZhMG12U0ZHL2tURVBOZXVKYmRUNGFWWHVybDFBTTl4L05SVzkxZ3VhcTIrdFduNEpWR3oyNU84Skg1dy9KSVJUZWJkN0dyNjZTU3VlZFQ3RFhkN0ZGK3lpN2hUL3Q0VFp1K1hDdDlaNUluVWNUUEpTSnhQL2RqTDNqRlkvOVFPUG1NYnh0U2VwTC9zMHRYbnE4TTNQN054LzdiWXhhUEtGOFFxSDRXTjhyKzMrSFB1TFgzRDVDSlB3SVk2OS94V1B2Q2F4S1JCUWZ2Y1FqQjBNVmdOQlR5UVlMS1o5cjNqclAyVitXbk5MK1I5VVBYd05xOVNMSkc3VlFydDBDWXM1L3JyS2ZrZkh1ZjA5MjQ5eTBMNTl3RCtKbE1tZ2liQ3BxVmhiWXF2UER0bnBKYk1qL3FMb3pXcDFMczgzZTZKVHVRQjlkYnJLZDFkYXBDSTNLSHhiamY1R1ZhUDcvZ3A3UzEzbm5YelAyOElPd1p4L3E4ZUxDYVpWZnN3UnM5aDk1NEtmazg4Q0RMZC80RTVxdi9KSElmK3NhcDlzVzJSNTRwTVYxL3BHSDMveFQ5ejc0aU93akxqVkZ3aWQzRFFHQ29iMHY4b3R5K3BCVW42N3o2VHRrN3hwWmhXZVZjVUVob2EvellJdm5BWEErbGVrditaYnQzTzMycUZtdGQ1RWNoLzZQcUIvK2t2T05NREd6RmxZYnJQOEFabFhmSFVoNHh2YmRrRXNNRlFOWU9DaHZDeVJTWHBNbWdxZWhacVgwZHAwZnN0VkxZc1ArUjlTZDBlcGNtckN4bjd1dDVST3MzeEx6S0VSRTVCOVdERGU5cHZQT2o5M1o2di80N3dYcGRLNTRJZGpYU1dSOHJvZm1zWi82bHRaRC81V3B5VUV1d2wvNi9IMzkrMzgzR0JVSXZiNkYyY2pubS8wMy85NnhudkxId09NN2pCQTlkcUI3U1U1eWVjcWN4M2x4OUhabm9BZ0RFOWpyaHkrZXRzTjVBN1ZRK3Z5RDdLSHZPUXltcTJrcm1tQmMyQitnaVFSVFVMT3lHQkU2bjFlcmwyd2kvdTExWjdRNkwrZkd2MnY5NHA4STkvYzMzdENWNU96NVpleHcvN3JPVzNPV1BhczlJc092YkZwelhEUlBkMXJUVEZ6Z2laemtjc2x5MW5reGJ5NnV4TmhQdVJhbW5xZ1cwSTBQMDAwbW9oa1daVEpDb25UZUt0M3dyZDVLWmxDZzBlb0dKYzR0ZnFET0wvbUdYbk5uUDFLRUJkMFdISmxxd2lMTzFQNEJCTXRaNTNHYTBMS2JsaHNBc0t4WUZEZFJMVnl5R1VDaUJVdEVNenI3ZUdPRzB2bmhXMzJxd2htdExoV0ZOSmtHNm56N2lpSmJqVDJ4b1pKaDhGRHVxWEUwL2VsTTdqcVBnNGZENmRad3FPM3BwZ2lWTlZFdFhMQloveFNKa0NNUnpWQ3VDUWtZU3VlSGIvV3BTbW0wdWxRVTBtUWFwUFBsMW80aWUyWWRVRlMwY2xTbFVVNkZUTHlqWk9oTnp1UDhDWFErMGhhZUhacTJ0bitoVVV0U0MzdlNoS2ZsaTNNbW9SbVhmNXh4dytoOG1sYWZvbXhtcTB0QklGMldRVHEvNkUvdCtUNWJOd21YWVZ0U0Vwb0ZwMWt6YkJBNTYzd2RPbS9aVGN1clNFZTZLY0lubXFRV2p0aU9ueUdCS3duTkJHVEdrbVFZblUvVDZsTVV5bXgxS1Fpa3l6Skk1OXNIUHQyZTFWamt4MHZYV3BFdFhETEo5Ly9FMkQvUFdlY3hQN0x0cG1VdlFlbjU3d0NScHMxc3owL01ET3hueXZxRkprbkVTVUF6Q1pteHBCbEc1OU8wK2hTRk1sdGRDZ0xwc2d6UStaSStUZDgwai9CRk1oeTZLVVZTR2xsRXhaakI1S3p6VmVqOGZoRkZxZk9UeXpnenRXTWpucUFXRmdaM0N5YmxCRFROREJQa0cwTG5VN1g2RkVVMVcxMEtBdW15RE5ENUovUlQyN0JGYlNmaU1xYXlKSkxObXFoc2JqWGtyUE5ONlB5V2xXL0d3QmJEVVlqMXFEMkJ3YlZ3a3JBK2ZURUgwL1RUVHBockNKMVAxK3FITG0rZzFRMmRQMjJHZUoxZmJ1bHZiRjN3WDMyTFozZGg2TFlVVDYvdzJBVnpTWnl6emtQbDdVTnh4bkx4UThRSE9KZjlGVHVkd2JWUXNXM3kyWWw1b1lOcHhtWWZaMlJ5blUvWjZvY3VYS0RWRFowL2JZWlluZitQRGNiK1FGSXUvMkFOQi9IK2hXVXJXS1pRLzh1R1JVd0ZUNjVqenp6VmtxL09ZL0tkY01OalNJQndhd1U2MTgyb2RjUEFXaWdOdjVzd2tPYVFSUmhoOHNRNm43YlZEMTJXUUtzYk9uL2FESEU2ZjhZYnE3eEtBbnV6NHRFbis1Rk1qeEtsaXN3KzhvaUd1a1pHc001WDUvbHdyRStYY2lzZDEvbGRYSFhXamFBNHFCWldvbnFMQ0hvOGVCRE5tS3hqamtxcTgrbGIvYkFGRExTNlliT25UaCtyOC8wMzMvdWd2Q2VyMU9yajFaUUhIcEZ2cXNSeXZLQ2Zhb3ROT1JHUjY3S1FualQ1Nmp4WFRXM0hNNzhTNHh6L20zQWkrcWtvaW9OcW9SUDNzbndFMFVFMEk3Sk5RSEJpblUvZDZvY3NaTERWRFprOWZmSTRuVTlQdFRTc1FUZzlxenh5bmdTVzIvbnFQRDk2RzdIa3ppWjhtYjJWYjhsdFIxRVpVQXZsTkN1d0FUU2pSSm1BOEtRNlB6SlJnNjF1Wkl5TDBYbW5iYnV2Wm1TRkdwWlI3YXRtam54MW5oKzkvYkxKSUNkZisyYTNmR1RlNG0xUWpxK0ZKZjlOWWlOWHZDZWVabnplc2NaT25NNEhXOTNJMENsSTV5K2xXQ3FPck14QlJtdkJsVWkrT3I4Sm5UOEk4c3pGdjlwaXpiaGR3UGhhT0VxMTRJaW5tVXV4aWlFeWFUb2ZhblhGRk50Q3RTQ2RkeXFKMXYwV2djWVFkQlljS3ZQVitSNTBmcnVZWXEzZmRmN2VPTXB4dFhESk9Ib1lSOFdNaTZOcHBwd3MzNlRwZktqVmpReXVIdnREZkZjOWYzWUxjZU5QL3V5eVVGdzFOSElaY0hUTUcvMnlFRWZlRG5UK1drWWFLYlBIMVVJN1phOGNSek9sbUNQSk5tRTZiN2E2a1NBZ21mQkJpT1hheEQzS1o1SG1aTWw2VXY1N3hoeDNMM2RBamtDeE82YkNSdGZDUm5CQmsxakNhSnFKU1l3allkazhkelVPRVhTZVpxdlRZd3AzRjZienEyTnI1ME5pVmpaTldmbnJmQU02UDZSTXVTV1Byb1dUZ04weU9jdG9tc2xwakNObE1lODVwU3hKb05XbHBKSXVXMkU2Ny96d2JqcUpScDJyL00wR3gveDF2aFg2VHBiQnNGaFBaQzM4VmZycWlhUlpiRkd5VW4vME1DdUZIUE1IV2wyT2xJblUrQkhnQnhoVGo2bmpGNThrSUFRSWdTRVJ3SmNnMGh4K0daSUxKU2NFQ0lGSlFjRHlyZnRKRVkza0lBUUlnUUlRNEY4SjNTK0FMcEVrQkFpQnlVUUF0dzVNejFtRnlZU1FwQ0lFcGdxQlRlajhKRm1NcHdvOEVwWVFtRUlFOXFEengxTW9ONGxNQ0JBQzZSQm9GM1JqUmpwcEtCY2hRQWdValVDbG9Cc3ppcGFiNkJNQ2hFQTZCSEQwdHBBYk05SkpRN2tJQVVLZ2FBU3duSCttYUI1RW54QWdCQ1lHQVg3cjdmN0VTRU9DRUFLRVFORUk0S0pLMnA0dkdtU2lUd2hNRUFKcjBQbWRDWktIUkNFRUNJRmlFVmlCemhmTGdhZ1RBb1RBSkNHQVkzam1Cek1tU1RpU2hSQWdCSEpIb0ljUGZtbEVQM1ZuNi83ZjFmemtKQVFJZ1JsRG9HTzhQZjlKMW45ZGcvM3FqSldSaWtNSUVBSStBa2RNdTRkdHVYVUxyOXU4bTM5eWloNUNnQkNZVFFTYVRMdEh2dTV1MjFXbjVYN1EyYXdTS2hVaFVDZ0NNTnVmU2dZbDcxdVZpK3p0TW9qK0NRRkNZTFlRMklET2QyV1JWcnp2MzViSmxDOGhvWDlDWU5ZUTRMZmhxVEo1VTN2SHFkQXhIUVVLT1FpQjJVSUF0K0g1WDhOcnlBOEc5ZWdJL214Vk01V0dFRkFJNERZODlSRXYzSHJ0aFcvUzdkY0tJWElRQXJPRndJbjJKdTJhV3NhdmVNYTgyU29ybFlZUUlBUWNwNjY5U1h1QnlVL0JMckp6QW9jUUlBUm1Fb0dLdGxXM3AwN2g0bVc3M1prc0xoV0tFSmg3QkpxYWRyZlZkK3RnemFmcnIrZStiUkFBTTRrQVBsRHB6K0lyeXB3SG5UK2R5ZkpTb1FpQmVVZGdWYi8wdHFwMEhwZm5iTTg3TkZSK1FtQW1FY0RDL1dsVnNJYTZBQmM2djYrQ3lVRUlFQUt6ZzhCRnhxNm8walIxbmZlRFZUdzVDQUZDWU9vUndJMFoxMVFoZkozSGxKOTBYdUZDRGtKZ2hoREEyL1BIcWpndGRmb09PbitnZ3NsQkNCQUNzNE5BU3gzRFFabjhHM05JNTJlbmlxa2toSUNPQUU3WWY4bjMreDdTZVI4VmNoRUNzNFFBelBiYXVyMmxiSGlrODdOVXkxUVdRc0J4TnU1OGlZQUJadnRESHc5RDU3Vyt3RTlCTGtLQUVKaE9CTnJlbVp1MmVwT09sOE8zMjlQKy9IVFdLMGxOQ0VRaHdMeWxlME5memp0MEppY0tMd29uQktZY0FYNEpIditRQlV4NCsxcFJhblQyVmtPRG5JVEFEQ0VBRTUyNEZBUGZxdXRxeFRMZXNkblNJc2hKQ0JBQzA0MEFIK2Y1alZodDljSzhLRTlIZVJjTTI5NTBGNWFrSndRSUFjZHBpVDI2Y3N1WTJqczlkU01XM1psQnJZUVFtQzBFenRqTlk4ZFpZdWY0OVorTDZncmNKZGIzZzhsRkNCQUNVNC9BU3IrTE10UUNuNnZ4YjhHN3FFYjhxUzhxRllBUUlBU0FRTGx4ZTlmNUdMdGxEUE1PVEhzZU9uVFhOVFVUUW1ER0VJQ1I3a0hXdnhZb1ZWTit2cWF1SDhrTkpDSXZJVUFJVENNQ24zMHhlOE5oVVBBT3Urb0dWZlVqdWNGVTVDY0VDSUZaUWVBQ2UwWVVwYVJkakRrclphTnlFQUtFUUJpQkRjOXd2Nkpka2hkT1JTR0VBQ0V3TXdpMDNldHVhV28vTXpWS0JTRUU0aEZZYloxamtmOWg5a3Z4eVNpV0VDQUVaZ1dCdjJMOTE5M0hualQzOEdhbGNGUU9Rb0FRQ0NQdzJUdGJEMzhicVh3WUdBb2h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bUZvSDFPOCsvY1dLRkk4RUlBVUlnYndUV1cyOTVWcitiTjFXaVJ3Z1FBcE9LUVBVcHg2bTlmVktsSTdrSUFVSWdad1FlWnp1T2MzSXpaNnBFamhBZ0JDWVZnUWFHZVdlRjdVNnFmQ1FYSVVBSTVJckFJdHNHdlVXMmxTdFZJa1lJRUFLVGlrQ0hIVU8wQmFINWt5b2p5VVVJRUFLNUlWQnVmWkhUV21EN3VaRWtRb1FBSVREQkNDeXlaN2gwaSt4Z2dvVWswUWdCUWlBM0JQYmNTZjBTdTVFYlNTSkVDQkFDRTR6QUVkK3BjNXhOZG1XQ2hTVFJDQUZDSUM4RXlxd3ZTTzNSZWo0dlNJa09JVERSQ0t5eko0VjhIYkxiVDNROWtYQ0VRRjRJTERMMkNIOFl1NVlYU2FKRENCQUNFNHpBUmRiM2RINTNncVVrMFFnQlFpQXZCSHJ1T242RG5lZEZrZWdRQW9UQWhDRlEvdnlMSG55WGxLbk9ybkxuQXZ1cURLRi9Rb0FRbURFRTFobnpOK003N2pyK2duc3laOFpLU3NVaEJBZ0JnY0QzbmZrYmMyZXN5OFAyM09GZVJOTVBJVUFJekJvQ2UvNUxkR2ZpRFJ2bnlQMmJ0WUpTZVFnQlFrQWcwSEhQM25GM20vSGZNaTNuT1F6MEVBS3ppa0JWS0xvb1hVODQxK2prN2F6V05aV0xFT0FJdFB5THNEYUZ6dmY2dER0UFRZTVFtRjBFU3RwTWZvbmI4TXJOTDgxdWFhbGtoQUFoc002ZVZpQXNjNFA5RWp0VUFlUWdCQWlCbVVOZzBkK2VkNXpxbDUxUzQxZG1yb3hVSUVLQUVQQVJ1TWd1dityRjUzL2dCaXoyLzJIdHlXTS9rbHlFQUNFd2N3anNzV2YzditOWjhoVE9yN1YrbWd4NE0xZkg0eTdRRHdXR2tjY0MvbkhMTjIvOHp4Zy9rM1BtRysvbkRRQXFiOEVJUE5waTdBWGFTTUw5THlHdEx4ajFPUEkxeHRmdkYraU4rVGlRS0M0OUFuZmpqUTdHYmgxNkZNcGZFUDUzcGlkSU9iTWl3TVJ1Zk03bmNEN1kvSmZVa1dldG1kbkl2eVpVSEVydmpmUy96czYvZnZleFAyS1haNk40MDFpS0RjWS9WdVZjWWwvT1VmcVBuUDhPV2Y5enhIT2FTZFhZdCs2V1BnVEZGMTlPd0U3d3pTNHZ6c2R1MGFBd3JtcTk1TDQzdThaeVBJaXppSVhDRWgzbUcxZVZUaFRmTmZaQ0xzOUhvZlRiK0M4MSt6djR3MU9qZ2Q0Rll2Uy9TKzdoK2hYdFpFNVdJY29OOUI5bG1yeGx4WEZxODYrK3VQOXRVdmkyZC8wS1RNWG5HTm52WWQvcnhTelJ2U3dTbzFIL2I3cTdkQmR6dkNaalJkZ0RHM2t1RmthTkN2SExnRUNwd1ZwTTJ1aWFXeTZsVlF6MFY1eFM2N1lrWEc1SkYvMlBHSUU5OTZUdFhvN3YwbFhGaGRsVmQvMDI0dUlRdS9FamNBOTdrL09uWWlidk9PdHFEN2pOMkUxc0QyMHIrVHFueWttT2tTTFFkdS9IT0pNWFoyeGc4OVI5enIvbk1KVWs2KzZVb2VKZWxaK0tCR1dhWWdSS0xiYnJPSFczK2xmVWJJOFA5TnRWMVFVNHpzVXJVMXpJcVJiZHZTYkRhZmFQM1dKc1BJaTY2VC93d0FQNDczOWptcUpkZDd1UHlxMDBtU25QMUNPd3dsL1VmRFZ6NTQ4bmwxVjUydGl2WStxNlZjZFpVOTJCU2tLT2tTQlFGNi9NcjdvN2RvTGpNblAxdi9RRmRvNE9lK2luNnM0Y3F1NW5zSWJPVGhtbUhJRXpmTlM0aklGam41ZWpmazJWNWhMQy9DdVpIR2RaYkJLcmFIS01ESUZOb2FIWDVYbDc4RjFubnAybDNOUzc1YVFTbGJ6dlg5WDg2M2VTWnFWME00QkFpYkZUaHgvRXVjRUwwK242UlRwaVh0TndnMHBrdVBleEdhbHJnYy9CeWcxdDhiM0l2dUpKY01KbmFjTStjcWVmdm9zeExIS3prUjdmUHp0MlZxRHpZdXArcHMwVWx4Q29lUjFsd3ArTmdrOVJLWnB2eDZFb2FjSGpjdnZiZGl1d3RBNzluR0JxaDZmRWFEMC9OSGF6a0tISEd3MVhiekhPNnpxUGVhTStjU3pUeHM2NDZ2dHg5dnZQWWoramNmZTM3WEJPVWd0UDZPeTQyekh5RTdjSmMxR3lXVUdneHFlSmZPMStoWmRJbjl2akRuVjlJS0M1L2ZpcS9OSFdROC9SdVhmVTJ2NWltcmw5MWYzT1pVdXpDdXJVeVQzYkNHQTV6d2Q0RE9sZFhsRE5odWZ3M1RwM1FPQXh6cnBjUWdvZi9Zd1RnYW95cm5JTDdOQlB5LzJjZFN2WGwzYUdsb0l5akFrQldPOHVnL1hDdmQ4c0JOamtIdSs1empEUSs0djRwV2RrQlAyUEc0R1d1OWZtb0Y5TzhaN01oamQ5NitWNHNHL2NpQkQvNUFoc01uSHlXbWJRRmJ0eG0zOGNjVXRHOWZhbGkvN0hqSUJ2Zkt1d240eVZwZlJ5NDNtRlNMenM5ZVFWN05qUU0zOElkTGpaM245V2ZVUGRFbmJzSy9LVldxUm9IUHJKeURWV0JOYTlGNTNMSDJIL1hid2dkZlRhK2lQcWV0MWJ4emVOcW84blJMR3pnMEFqc0VmYjdNcXkxZkJlSFRieXBMVm83VnhHMFArNEVWaGt0My9qTjM3ajMveC9qZlBmSFNES2EzU0ZseWJaUys1THVTVnQ0VGFBREVYUEVBSTRnT2V2MkhtNTZtL3pTdmNheGwxWTBkOTA1d0ZIT1Y3WTRMR2d2NVFJWEpTYS9KTGROQlRVSFJ4a29Va0QzN1Rud1lyZDFPVUY3L3oydXF2cmZCTlB2R1o3dDcrd24vWXlUNy84UGZlZ2RQa0htdWM3S1VxejZwN0ZPS0hsZkFyd3BqOExEdU1FT3ZzamNaWnp0ZW5wK0N1aDlPLzR6WTkvUTJBNk1QMGxuK1lTcUxkcUw4bFoyRkNsMlhCMS9vaFdhMFBCTml1SlliYS9ZcFpsZ2QzK3c0OS9uckczZXNFVmJ4NTVhaVliemxldW1iT0o0WEpQVmVxVi9tSGg4dGJZanNmalNPeTBEc3RRNlB3R3c0bGVldVlQZ2JheTBhbXk4NnZ3R1BzNTZTL2RJZnd2bFA1VS8vZk16K21QdFJFY2JtdXA5K0UyVTNHclBZMWFmRUoxSEttcWxESk5Ld0pWNzcxNVhmNVgzZHUvLzIrMWdKZmV5OTZzKzdXb2hFNWM3TEtUTU9uMEo2c1Z2a3lXWjJxQVZhcFhiSnc2dDl2VzZGemw5RGUyTkNYQUdPNmE1ZE5rVHB5bmwybzBTa3grc2hLS08wZ0tGZW1TdHowUEprdUJyZFprZkJmeHZ1U3IrOTFraVNuVmJDR3dqTnR0aXk4UmJ0ODZMWjdMeEhCb0ZsM2FKWCt2NWFKeHhVRmlDS3EvOERmczJ4T25wb1N6aEFCTzIyczNNUlJWc252bXkraC92ZWhaemFacmQrZlYxZmJWMzYrOVIrL3J2MjdIOTFwY3F5Kys5VjVMTUFYTkFRSTQzRkg4alZmbFZpcmo4dFRDdjJHeGtlUmFHRzk3SGpRQjdYYUlkSVhkLzd6bUNIWVBRb3dwWUJvUTZIblg0eFFxNjRyK0ZuNmhuTVpFZlAzTzgyL1VXZGR6L09DTVRsZTYxZmE4OHhvTHRFK3dEK0FLSERvMktkR2lmeE9CTTVibTlXdVR4a0JmZGNZMzZ0WmJiM21XWVJCYjhHNmxIWWhNeWdScWV4Nm5KQzhIYVpTYndoNi9NQUk3VFpBMSthY0JnWnFsMGVRdE54cG04YWRVOGhaNkdIcFZMSTlxeHZtV2huczJkaGdpUTZURjJrR2tMbisvLy9raFAvdWlhMEg4NThaVmhuNDB1ZVlkQVd6VmJSV05RWDBVWnNLaUN4RkQvM0YrOXVERXVKWHVlb0ZHeXpYK1FZdUgzUTlhc0o4UGI3VFd4UUNQaFg0M1JtYUttbHNFc0ZWWCtCaU0xbmRscGdGdWNDdm9pakdzNGxheHdxWTJGMUJuN3RPLy8rOHN3THBmb29NRWxqZ0tJZ1FXMEhqQ0kwVyt1T0F0bm02K0ZDZUwycUt3bkMrYTg2V2o4Wmt3V3VMKzZvMENaeHFUaFQ5Sk14d0N1TmErUDF5TzRWTjMwbHpNT2p5YnNlWG9pRjV6d2R3enUyNnhwNDlHUWx5SWNNbzVmZisxMGZBakxsT0dBTjZxTTlhaEJZaVBlM1ZuZW1wZmJvbmJ4QlpNcXgydUpUZ3RBTXdrSkhFWmptM0tueVFycFprREJPcXM4RUVZVTRtZFdVWnkwYjEvWURHdzU5a1libkwvYnJsRzkvL2ZKRkh6ZytKY01yWFRRS3BiZzY3TVVxbkpNVzhJVklLMzVPUVBRR2ZHcmZaNzdxUit5VDhPS3pEY0cyNXlYdzJyODFkbFhZU2piQ0V5TlU3ajh1Y1hsSjhjaElDT0FNYUVaM1IvL201WTdjVjM4UEtuUENFVWo5eHB6R1pnQlFQcjZEQUw2ai9EM2x2Z1VhL0FDQjBlK0tQZzRIWlpQR3Fhb0NMSVFRZ0FBYlNOZzJLQndFczhXOFZ5R0MvMXNtY0UzVFBYODQ3VDBqLzFOMUlaUHlKMHZuODhVcWJFYkVvUTROdnpsNHVWdFZmSXhzRHFuZWZmVmF6Y1Nhbkx6engyVExzOVB2em52K09lbEZaZTZWNzZZcTcxTTkzVjVnWFYvTkhoMDhDQ20wYXRpUGYybHB2bmR3VjFiRXkxaHc4QVBNS2YwRlFlYnl6dWpra214L21SV3VFVHVMR1ZqUmhuUW9CL2RmNHdFNFZCbVRHVHVESW96ZkR4bGY2aFUwbTJ5Zmg0d1hkdlhuUy84QXFkRDJnNGR1dTJoeTlaNGh3ZmJQN0w0NWpFRzgyQVRURW1MVVhORXdLYjBQbEFVODI1K09oVnJ1Vk0wc0hIZGQ3R0Q3c21JYnpjVk9idjNNVVFCTDFYMlRmQzF3MFZhcno4eVBudk5IN0ZWcUtQM25LN2doUFNlUnM4Rk5hRHpoZUxRcjJJNVh3Vkg5WENCMWtQQm91K1dtUDU2ZndQR2w5N2ZQbXVZRjkzUCsyMUVPWlQ1Q2JsSWpxOHBiNHJnWUVDVGtCZEZRR0xSY3l2REZia21Vb0V6dVFIekFxVHZsbUFKV3RSM0VoUkhtZ29LUC9nSDdkeVBIUEVEWjc2NDI1eWR0enB4b1h3bmljVzlPNlFteis0NVFaV0xHV2IrUlhtaFczQmI5SFQvZnlaRThXcFJxQVcvRmhkM3FXQm51Uy8vOTl4ajdXNjc1TEVTRnpGL1o3VjhQZ2JreU0ycXRUVU5aNTVlM05uN2d0RWUyRVZnNEYwSzVaZytraDNYZE93SEh6QVMzZlhCTjJMcy8xaVUzcnM1ajBuR2pGL0Q3UzRCKy9VYmVkTnZlUXRuUnVEbGlYUGYvZzd1cjM4ZE41ZWpqTjNNRDhLaittWVp1ZmYzN2xDdUsvTFZ2M1BoaXZaTHNqWDZjNUdjTFdwNGtxT3FVRUE5NjBVZkhIYlhnSHYwVjd3Ym5xdEpSbkpDdGY1dHVoNXlyYXVKVTliZ3RHbTF0M09wR0pSNjdYenJraTZNYllUUVlhazVKazBCUGczWjI4VUt0VFJjS2ZPRThsUzhXYlZ0U1RiaklYcmZFL28vSnJOWXRZdXduN0pJYnJ1TGhvcTRrVjVFN01OYnozUjduZk5DUElSQWh3QnpMeHRiVFUvY1BBdTkxZnlvK1pTQXMxRDRXb2tlVnUxY0ozZkZEcmZzOW5RWWNSejE5WjVRMUIxRnhMVnZvVnc1OVlPUWwvR2Z0SVNSMEdFQUJwbC9zdHRIVlpNTkYzbWl3QUFJQUJKUkVGVUpIS2ZSNnpKbmZCV0VoTlo0VHEveEZjWTVhYnQ1QStNZUZkME5QSnlsN3czRldzMmc4WnlrLzM0OHhyc25Ya3hJenF6aFFCVzIwbkd5dlNGeG9tY3krbHoyM1B1eWFWem92NnFjSjFmNWdiN0plc3lBK1lTaTJYZFhxcGhRdGM4ZzRicy9NeThHMTkzWC8vSG4yT0drWThROEJEb1FPY1BpMFFEbmNxMXZPbFhQVVhDSFAvcVlOcUY2N3hUL2JKVHNoK0p3NnQxRnN2NllKa0hwVGh4VHlPVkNyQ1ZER0pOOGRPT0FEYXdpejE2VzhuL1dBcFVmVi9namxGMGEzQUZGSy96aS8xL1dIdnkyQ3JKa1gwa3RxWWRJckRqTHNqa0czMUQ1S1NrYzQ4QVRxblpsb1Q1NGRMSy83WTltQWpjcVFNY3A0TWx6YXJ6cTkvU2V1aWI0dG44V3V1bmQrMHA2Z1hzVklKVDFYMnRwMVh3MlFwN21TaDBxaEhBb1pGaXA0YzRoWmY3a1I4Y05ITTFES2RNRHdmRG4xSG5GOWo1ZDk3RmZua3dIMnVLelVSVEVXdld1TUNXKy9adW9lL3d4UEdudU9sRkFHOTd5bE5ieFJRQ2QrVGtmaEpOM2NFQjVkOFpMSFkyblM4M2J4ODd6ZzhuWVdRVEJkM1NnUzE4K0xEUFB1L2VSeUNKZURhOGpycFh6SzdBOE1KUmp1bEJBQ3FaL3ppc0Z4OTdnZnU2WDNPdjN0bC9yZVpON2p5UzNkUkpJbHRCTnAxL3dwMUtWSzRrbDA5UGlXL0pQSzM3MDdzN3FDcVplOWxEb0pKa2JTTXpwZnYvOVBkOTdubjMzVTZYbDNKTklnTDhJMGc1dFVsNzhmWWlsOXpyTGRaTU4yVnV5bE0reWQ3U3phYnoxYS95Z3BWcUtiZmNZRy9NU1dHV2Y5dGZoYTE3SFhVemZNVGZYZzJwUS9tZ3dHYjgydUxVNEV4blJpdzM4ejh5bzBOeEZtWERLalg3MTNBbjh6VTljVEkzMUVnOWx1UG1JU0taZEg3Wm5UMWZUOTB6Tm5NejNKZjhiYjlMcmppbHZQcVRFR1lxZ0ovWktuZ3FxSGlSWXlRSXdLeGM3Skt3NWs5SXpRSzEyZmM2enJKM3RNU01HdUREZEZrOVNleURtWFRlL1JJZE9xY2JBNlNLaWo1S3RQNkl5cTJIci90Z1hYS05KR3Y1MjBwMGh0eTkvTG12YlJWMHJpaklpdnlqUVFERGNMRkhiNk8yQlM2NVczZ04yM254QVVYSGVkWVBmSVkvanlWYmwyVFMrWXV1T2FLWDVQQ1BWZTVPb3IwRmE5WkE0S0xmNzZ5NnpwUGlsL09RQVVQOVFVQVU4azR4QWpYby9HbUI4bU9yenI2Y1BYTmY5T3lrbU56ak5PK2hFQmtEL2tFQzJUUHAvSWw3ekhmNTl4TXdzaWJaWTZtN2l3QzlpLzRoNWcxWDU0L0VaK1lEeVhMM1F1ZTNjeWRLQk1lR0FPWnRhWGVoRXNtTU1kbjZWaDMyQ0x1Y1FDK1IxcHFzTnJYdCtTMHp5dXJMcFBOZzl2cXVsV3pDUUdqTWxZUkpCeVRiMDNwbm9mTWI3TzBEc3VRU2ZTS1BRT1ZDallpTUdRRitKS2ZRbzdmWUY3QWF2T3Z1OE9sc1J0dkdWcHRjT09NNTMrVjRiVEp2UVFCMUVnRk8zTmNkZWI4aVRPOHhVTWZrNTFlQnM1L2VpY2s4SUFvYjlNOE1TSkl3dXVOMmt5SjFqVysyUEZGb2Q2Mmtha3VZVlFnNXBoZ0JZUTRyVW40TWt6Y3M5UEVGTzNmd3V4Z3g5VWNlS0V2b09lVzBUdVJwM3A3Y3ZLcUdFdXBxUGxqblkvSzdCc1ArRm1lYzZzSDVZT3RNWjNoaVZiVTk3emgxdm1LcTVVUjRnQ2hIc284ZGtJNmlwd0lCVEwybDNoUWpiOC8rSmkxdTZ0Z1JEQzlFNzJSdDNCWDRZT01ERDd6aG1HZnF5VDJyaWp4T0ZQZDF4eVRqZkZ6K2l1aFAzQm1HRUhuSW4waUx4cEIwOFBXN202V3ZhNzJsSy9JdFlvYno2cjdySHByUWtCbWF0RDAvSkdJVG5aelBYTzAydHB6RTd0aVBtN2RsTTRJQVEzT3F5NEd6bWN3WU1IaWNqeE1CUjRmNDg2NjROSEZ4V0Q3bFkybkQ5dnpSdi9wY3c2dXU2aS84RFZOZnJZM2puemtPeHlHZXlreUVDRXdNQXB0b3pZVlc2Skcwc1J0RjlqOU9EWjN2R2xFSlBHM1BCZ0J0T2syUVBNRjZQcGJLOHRkeHJVLy9Gand5eDlKUEdvbEZBb1M0NUJudlYxOTg2NzFKYzJaTGg5V04xU1NUalNybEhoY0NQVFRJUW8vZU5xd25VckJVdit3V0dUcC9iZGpDMTcwMnVKWnduWmx0bklkMHBRK3hoS3hzUlFFRVhWdjRzR0ZMVE16bG00WDIwUmFoY1ByMndCSk1RVk9LUUFjNm41TlYyWTZBZlpCckt6V0FYZi9VbmpNNnRPZUp2Smx3aXBKWjV4M25ZeG5HNmlQclZDZTZlRkV4bSs3TzNHajI1RFVoVUVYYm1wZWNVNDVBRlRwNVVHQVpJaGF6L2owYWFGQkRtOFJQdksyQXM0UWIzeGwwZnFQeHN3SWRyR2xUbzNTV29vZzJaajEzUm5SVzZONnFoZkZKaXFtWWhRd0ZUUWdDVGVpOE44c3VSQ0tzQlMyZmk4YUJISGxIN0dhS1UycWJyczVERDd1SmhNNmc4M3ZTd2xsTmI0ZXI1d1N4K2xyT1RxSlM1NWFvVGR2enVXRTVBWVNnTmprTlFoR0Z3VjZnWlZ0QU84QjlrbUxpdU9MTzdkZjBQZmdJL2lJNGc4NVg1ZjVDMVZLTU9KNWEzRjVPQi9GcWJyZlRTTmpUYVJKa2M5TDJmRGI4Sml3MzlvNXpXbXhHRkF6R09vdkJ1K04zTkwwVWcrQWwxNGJuZmZVOWdyTVduRUhubTlKazBFcHY2Y1JVNW9ZbVRXcW4xM3UyQ245bFBpQWhiYzhIQUpsdUx6K1NVK2p5RUdaNWk1bTU2VE50cHhqblN5N05KdjhDZlpLbm5uUkNFQ2JXWkZkRjRLVU1aaXpvZlBvT3d4ZXB4TDdDUGZMcm5INUV3UzdNQmI5YU1Bc2lQMElFK0llcjBodW5FZ2lLV2J4Y3VmdXBzY2hYWDFtck1FK3IvT2pCcmhxZmFDK3l0dzFPS1ZLY3lRbDZ3dlJhc3FPM3VwNWVQMkgvb3VXVlRwZ3BoYlpLZjhyL1ZYZEZjeWswY1hyWjFaUVVrMlZEYmVYUlpTVmpScWtLUndCRFVFNkh4Q0pFQllQd2VRNG9nUm81YXY0MFA0S0VKWGlQVDIrUEVnM3o1Yy84NkV0UnlHLzlQeitUU21sNzdzcGtsZjJLUll5RVFlaFlWWEVUWnJFbDgxNlp2eEE4RVZodUZiclo2bUI3L29aTkhncWJUZ1Qyb0E1SmJwY2FWTHJ5Qis5aUR6M0hrdXJFMW1CNjJzZ0JBVTc5ZkpGMC9DVGN4YytpUGM3Y1hUUXpKdVNyZzRIN0JQU3U5UG43K20vWkNhVVBCS3l6bjBESWN1M1diaUJpQ0MrVXhtTFRjQWtrazBLa1hYWlZyeDA4dzdTVXl5ekNWcDVISDd5RmEvM1JRMS9XWWhOV2taYURuQk9GUUFmcUVOQ0ZOUEp0MUJoN2dMRTNodk5DdlE5Q29SVS9rTC9MZTZnU1JOTlJTVnhIcDM5blFybnI3SkdISC9pcEJ4NThKSkQrTDVzTU4zQ2U3d1FJaDd4M3MxdmYrU0xXdnhhS1NCNkFNN05SL1dwU0tRUXpNYmN2dDRJYkNKMUF5WklMRnAreS9BWFdiK0wrc2hPalYwNWNSZkhFS1hac0NCeEI1Y0xyN2FIRnFiRHZQblpLSDdhY3Jta3p0aDhpMTJKczJ3dmsxK3QzVllKb09pcUo2eWk5ci8vNjQwRFlVTjVQTXZhU1hlZkhiQWJHQUozLzQwV3RoMTdRRFFRTzVVVVpMV2NVT0lua1V2RFVGVzRWZUZ4Qng0UHdvTmVNNmxIY0JHbC96OWp0WGVmdTgyTlVZZGVua2JpSy9DemttaWdFbWxDNTdLdkJ4NWxyNlRvTFR4azY1c1JRRkI0Zm1WTmpPK2E5L3RaVERKMmNVY04reGM5d2trL296VGxuSG9vY2pHRDJBejFEU25HaHYrdHNOSVBMaEpYekNPcUtmenJISjloNUZ6bHIreGdYZkFxanF5S2ZKN2x5UlFBYVo1bDdEOHVpY2NzZGM5ZDk5WlVrS3Y2UUxvTzRVVWdseEY2ZXJ3OHhkRlRtWEJ6bGhqY2YzckRNUW5MaG9CUEJJWWkrN3BmdVlhVW9OMjcvaDhhdHJzenUvWi85dnE2VGdjajAzdVdXQzgyRnA1cjZMR1ZrVlpSZWNzb1ppNEE0a3JNZm15UkI1S0t5SkRkT2c4bXJscTA0N04rcHJicE5iV1lhUnlkSU41di9sV3FpZ1k5SUYvN3dlWTJOeWRCU3JENi8vOXB1Z0ZMcEhPU0RnWUUwYWJ4MXI0NTRFL0duYjZPcm9qUXl6MHVlVDc4ODZubkZZQWhnWFVxelZSWWdYSmVXOXpzTUE2OUlWYlBvZkYyelkvZTBNenR4ZEFJc3MzblJqdm5TbUQ5bjB1RjZDL25sZGtxTDhTRWZLUzQ4N1JUeENndzZFdS8wUTFQYlpIRkdWa1dGVk1TTUVNWGxFNUhQNmNBeWlpTTVod09URFVqUThGbzBxTzBIa3pZc2ZVb0Y0L3h6dlFmeFQ4czhjWFJrbWx6KzBkRnNlWVRhSTlCNS9sSkROeXg0UGxKVXRweG1pbE5OWVhITUVBaTM0NGFjNmJ1dEk2c2lVeHJ5NlFqd3FWZlVjMWxQYUhWamx1MmZncldtU0JDNElWZmtkY3ZhdmVHcmx5S0ZNUDI1NFVYRTBsR1pjM0NVV3Y3YTRpeUhYWXVCSXFHMDNWQ2lmS1RZZ0RXa0d1NXFROXlHRFdpcXpZQ2Vab1VkV1JVTksrNThwWCsrcmo2R2UvRGVNOTk2dFM4MWg4RndUZHA0S3BaSlp0UFkzSFhKY3FiYXMrOHhpNlV6akVDRDBxS25VM09MbXV4eEJtWEtFby9DN29UeTV5TUZwdmJPV2Y3bjVHQm1sZmYvbldnMU9MSXFDcUZGQVhraGdKSFpIL0xTRXIwZ1NiVGxnSzlSYW9iN0FXN1NPdldTOEdtS25HYkgwdEZJWm5aVy9QbElLYmpiblptNGpRQUt1Uk1LejBlS0k2QW5yd29Mc1VnZmdJWWhxd1hPcmlRMHNpcVNET2svZHdUTzBCcUR4N3FHWnJJcGx3Y0xqM3dnbExrVjFubjlHQTUycU5WcmZiRjBRb1RUQjNDVDJxNlhmY1Z2eitrSkRzd0pFQTZEaWZLUllwbHZkSjZ3cndTcFovVkRZZ2tSK2laRmJWUlZwQmlTSTNjRWFtaitsbGRkaCtPRGhyQWZtUU1NZ3MyZGY2cENwc2RaYnJVOUgwdEhac2poSDZaR3VWVllybVh1OFpJSUJBMEtndURrSThWRnZraTVHSDJjUDRsMGxqVFl6MUVuQnh1K0V4OFFpcWxxQ3gwS21qd0UwQmo5cFcxYThiQXc3Zjk5VkdhTHprUFBwYzV4ZzRMYS9JMmxFMFUvUlhqUDUvbks4T1ppQ29JRHN3RG1hOEZFK1VqQnAvYk9pcWFWUVRicC9LZ0tOWFh3MFJJZnFJMnU2blNzS05kb0VSQTNZOTNJeWhOSDZSaDc3WTZkREtLQ01admE5bnhIZTlVMmxvNmRlcXJRcWp4dVhQNHZ1UStRZG9HYUZwM1BSWXBsMFhrbXZmTGJMcHd0Rk5VaW13VXNMbnd1NFQ2anFpTEpqLzV6UjBCczlPMW5KU3NPOWtEcnV6WkNGcDNmMDE3clFjdFgvR1BwMkdpbkRJTkk0UG1aUC85akhDcnRwcVF4WExhbWI3UlVHWE9SNHJvNFJRZ0R5YkdpbTRzREF1OTdoR0J4a2VyUDMyRVdqNzJxYytGTVJBcEdRRlRoMWF4TTVMR2dXenRoU3JiaktIVTV6aUo1U3hzQjQraUVLYWNPMFU0MC9OUGQxRlNHeWdnVk9nMWt5RWVLcWlDTGpaQ2RBUGxzWG4xbkJVUDdaVVZ0UkZXaytKRWpkd1RFaDErdlpTWUxKUmFQV3BsckZCSFIxYnpjMmZaZjYrR042MWhGeDlGUmlUSTcrQnMrRHp6dzV1OTgvLzg3SW8xM25HWlk1M09SQWkvc2VjOXBabGgwQW53c2tPQnMrcnQyU0RLYUt0SmxJWGUrQ01DYUZsYko0Vm5nRlN6MzJRcm5SY1JPSUxUamp4eG8rWnJoUEk1T2dFWUdMMStUWnNpZUppdnd1UmJJbDRzVTEvdnVoM3Y5OHdZQkxpbTlFRTY5Q0FndDMvSEpqS2FLZkg3a3lodUJFelQvUE5yL0pVL3BMZWRZd1dBbklQYVpQM0xBUHZ5TUZodERSMHVWMFFtZWF0c2dJNm1rMlMwNm40c1VOYThucVNiOG5rOVNlZEV1MURVY0ZiT0ZqS1NLa3NwSjZZWkhBSDI0dnowK2ZIWS94K3I3UU1sS0M2RTdmanJocXZpakhnUzRxc2RHMDlGVFpYTnZHbk9MYkxRUzVnWUloNEdrZVVpeEx2ZlFPNXFaTGNBbmxSZlZvazV0TkFJOTVDaXFLSlhRbENrUkFtZG9qTnJjT2xHZWlFUi9mUWRvaGRUYndYdWVvZVplOGROVi9YV2pSemVLVGdUYkZNRW5Xb05Pa1QxTkZnc3llVWl4SjQvRTE3WHR0RFR5QmZOMC9QMDVHR0dERi9NVVgwVkJlY2h2SXJBUjlmcjh5d2UvUHcrVjh6dDBrK3p3dnBlQjJOVlF0bFpZNTlIVDdMcnAwS0RVSEZMbHROTlIwWmtkZTM2RHprd3JJUUVnc3hOSW1vY1VEVGw1T01tdkZvV1lxS0VibnJ6WVh3aXYySXF1b2dCVzVEVVJrTHNuYUZhaDU5Uk1Hdlkxa2NVL2NCR09IeTRFTGVWeUtJZGQ1NzFrMlB1MVhGTmpwUk1pbkRwZ3oyL1FxV2tNbDlHMllabURGQXVxdjd5WTEyek5LOWRSeFBhOEtuYkJWYVQ0a01PR2dMYlBDd1UybjdBR0Jpanc1TEpERDBRbDkvNG5tUlE3Zi92U3JmNmIvdUpkaHJXVlZRaUdyS3N5MUltbm81SmxkcHo0VzRXWmFTVWpZTlA1SEtRNFUrYlBwY0NhTzVsWTBhbXFmcjNBaEwrUGhQL3NtS2NlVlJWeFh2UkVJL0I4RnZVTWZIK2U3NDVudHZoMjFCZGVRQzdjeXpUQ1c5TTlwZk5uL3BhUU00Qk9OQUREeG14bUwvT1FMUFZYNkdUVzdGSzh6SjhqUGE1V1M1Sjh0djhqdjlKTzNFMldSaGNVUjFaRjJhU24zREVJOEpkYXRZRTJKbVYwRkk1dnFKMHZmdy9PVDE4TEI2SVplZkV0ZjYwNGlJNVBNYXNMaHhMMnM5SVlMcjlONTdOS3NkNUMzZjJ5a0dQMVFUalpMdzRuVTJ6cWlqODVhd3RUUkpuWDJPaXFLRlk0aXN5Q0FEOExGam9zTWlUQlBaQ1FXY0tXS241dlU2aFh3WXplellGR2RGWG1IVVJIcHN2K2oxSmYwYWk4ZWtmekZPUGs4NmtnNWF4U0xQUWZmckRsdnZ1MndCN0JaM3BVenh2a2xNSi81dGNraG53UVdPVzdncU9yb2hRaVU1WmtDUEN6WUtHVHNjbXlxbFFkZjFlK3BNM1VWWHdsZkVac1NaNjNQV0Y5c1V6a2lRZlJVUVF6T3pDN3VlRVRLVGRQZlU5Qkx1aThPdFltV1l4ZUNzazV3WC9QYnhidTFZR0wvRmoxNktvb2dZaVVKQjBDbXd4UHVxd3FGOFlCZWN4K1ZibFVMTCtyTGJUSXgvQytLMUpVL2FtOU00aU9SaktqRXhZMVpmekNoMnpVbFIwWnljWmtoNTAxeEdYMFVzUUlHSXhDd3poMHc3ekQwUmY1OXNyb3FpZ29EL2x6UTJBUEtwOTFTbGoxVjhjcjZ0cEVUY0tPSHk5RHNienRjamVHdjFQK0w1NUJkR1M2SFA2UHRLNm0zSGg3RGhRSGtNQ1lMay9NK1NsSExvWFBlcUJyVVMzNVVIMjhTNjhmNEdlRVZUUlFRa3FRRW9FMmRENTR5R3BZVWhYMjh6SkxXdzRPTW9EL2c4ZUI3dWZ1aG10RXVLNGZ5QmxFSjBnamczOVA0L3V4dmp2bHlFQnVjRlljUTdnZFNqVnlLVUlTUkFlZ045NFdzZnpGUFg0S3Q3cUZueEZXa1dCT1B3VWdVRUdOdW1hZzlNUjc2bEJOeWRLd0hhZG5ySjVkUG0xM3VsL1RaLzJENktTWE1KUVRhNHRqTDNBOTJUZnNReVNHQzhDd0dlNWFSeTdGTURJM1BKTkgvYWtqM2tMS1lqRTJ3aW9hUmxaS093d0NtS3pwUzl0aHNxcTBTOTduS1Izbkwzd2p2SXAxK0sySjJ1clpqVmdSTFdwTkcyNGRaeEFkaldSbVo4TWJ4WnpsUm5qOHpVdzlUQUMyVXZYS2loODdhaWw4em9OZGUrNVlzTTVPZTF6MEJiRTBHV1VWRFJhUlVxUkNvQW1kUDBpVjA4OVVicjdSOVh6U01wWWhCaHR6b2RPOUcyS05lS1J1VU9jRUJ0RnhtZVR6KzdnbjZtcE5mRzA1SDZJeFZMQVhIejZ6amcvSnU0UC9xS1NJRVRBVXRlcnVxRlNmd3ZXOE9PSHJqdkNqcktLUVJCU1FEd0pRZVgxNm5ZN29KOWpydTFEWlI5a3QvSVVmakhIaDVVTWRDL3E3dlJNbE1zc0FPakpaTHY4MTloTXdJWDYrZFg0dEYzS0RpR0N1RStyM2tHZkVVZ3lTMG9odnN6YzZwVHR3a3JQY1pEdXJyVk1ST2NvcU1xUWhUMTRJOEtNaW11VThMZGwvemRqRE9BbDI4OUJLQUd0WmJ2ZzFuK1ZtdjhsdXkwVzFGeGRQeHlTUTBiZmFaSDJJL09ST1Jqb0pzNTlZMWpmSU9tSXBFZ3JySmlzMTJMbmJPRDdCK2kxWmd5T3NvcUdrcGNSSkVSQkhiM2VTcG81TzkyTjN0dm8vL25zUjhWYWJ0Yk4rMS9sTEFpcnZPTEYwSXNpbkRONTRWdlA4ZFgrWE12UFEyV0RIUExCbEdxMFVOZ21pd3piK1hlc1gvMFJFZjMvakRWMlpib1JWSkZuU2Y1NElpS08zZVJLMDBiTHVUZHNTem5CWU80Y2wxQXpEUTBVYkhRSTRBeHMrSDVZM2V5d2dRbWZROHVZeDZmVE93dThaVGJySUpOOXNJZ0NUdW5WTFBkL1Nna20rQktlUFdrVWRaWjArMlVuaW1VTGdCT3BvMlRmT3VZeE41cDYwelpuc05KR3J5UmNNcGtsb2tuVVdFYWhENTIxN1NQbVc5WWdHdVJaTmRmSnRVMFF0TFFKWVpucEhMTk5TU0pLdk0vZUxXYnhUbFBWTnBpUkFVeHBDWUNBQ1Zlajgvc0JVV1JQMDV0NW9qUmRWMUcyVldkR2svSVJBRmdTYTBQbXRMQVFTNWQyTTJKeE9sSGttRXVHSWdqelVNaFBsb1VKTUx3SlFlYlpUdVBnNGZCdDZ5YVp3cGhQRkFBZ1ViemFacUJLVE1CT0tBTCtaVWIxVVdweU1PUGtUUG5CZkhMc0pwRXd6blFtc2xQa1VpZCtITUlMak1yZ1lLdnp5K0Z3aHZpZHZvSmlyVWxOaEp4QUJMRE5IY0NTSGY3RnV6cTNXYlhYVDFBUzJBaEpwbmhEZ1IyOUhNZXV1emZ2dTlORW9sbER6MUhLcHJHa1I0RWR2MWNWV2FZa2t5SGMyQ2t0aEFqbkdsZ1N2cFk2Tk56RW1CRFFFWUZxeXYrS3BwY25EdVpmSFMvcDVDREltR3JqVmVpUTNjSTJwZU1SMmloRG9RZWUzUnlCdjFxODBqVURFUWxuZ2JXTEx6VmlGc2lUaWhJQVZnUTUwL3BvMUp0OUFiTmJOOVFZOTdDWTM4a1dVcUJFQzZSQ0FhV2trYjd4aHMyNFVwc0owSUl3Z0Y5WlEyeU5nUXl3SWdZRUlOS0R6QXhQbGthQTEzOGZOMi9OdXc4eWpEUkdOWEJCbzJiNm9sQXZsQUpIS2lQcVdBTnRKOFZaWjZBT1ZreUlheVRGZkNNQ2NQS0pYUC9ibWU2QnJrZGwrdmpScmNrdUxaZmFJN01sNHgrVHE1T0pRdEdUQW1kNndLUnBrb3A4SUFYd3ZiVVQyWkd4V0hTUVNhU1lUWWR2aXlrd1dqQW8xZFFqZ1l4TWp1REZEd0RMWGhuc2NkeHpGanVqVXRUOFNlUFFJNEtqTUNHN01FT1dxenZOYk5wMzV0bUNPdm1FVHgwZ0VzRzFzKzE1OFpQb01FWHZ6Zk85cmM5NWZKYzdRY0NocnZnaEFFVWR3WTRhUUdjdUlyWHlGbng1cStLYkhYSjlDbko2YW1nTkoyeU81TVVNQWlYWi9NQWVJV291SS9tN2JHa0dCaE1Db0VhaU04SFd2MnZ5ZXZqMFp6UUhuVWJjZTRqZU5DT0RvN2NpT3dmZm05dzN5Q3JzNWphMkRaSjVGQkxDY0g5bENFNmR5RG1jUnd3UmxhdEdKbkFRb1VaSlJJTUJ2dmQwZkJTUE9BMmZSNXZSY0NzNGpiWThLWmVKRENNUWlnTVk0UW1ONlkzVHJpTmhTanp3U0ozSjJSODZVR0JJQ05nUndKSlR0MkNJS0NkdWIxd1Y5aFY2d0thUkJFZEVVQ0dDSlBacTM1NFZzdUZkN0xoZjBXRUc5SzBYbFVCWkNvQUFFY0F4UHYzYitVM2UyN3YvZEF0aElrcTM1M0tISDd2dzFDUUg5RXdMalJhQm5mRjdtazZ6L3VnYjcxZUpFYXMvbkNkU2UwYkVXQnk5UkpnUUdJOURSMzU1ZmJ0M0MxUHZkN0UyRDg2Vk1nWXNndXltelRuTzJCdTNVVFhQMXpaanNSL3JiODNYWGhGOHRUaSt4c04yZk1RUVRGQWVmQk54S2tJeVNFQUtqUUtESjJHWEpwK1FabHhmWjIyVlE3djluN0tuY2FVNDh3ZXZ6dWwweDhUVXpsd0xDYkg4cUM3N2lHWmZMQmE0K2wxai9XUEtibS8vYVNENE9OamR3VWtFeklZQlgzZnlKdkRlMWQ1eEtjVnYyNVpZL3I4Z2srUlJseHZWajE2WklYQkoxdGhIZ3QrR3BFamJrV2JGZWdZdnUzb2h1MlZXbEdyK2pSKy9Yakw4U1NBS0pBRGFPMWZ0ZU9BM3ZCVzhXZUJNdUR2dDJKZmM1K1cvTzYxc0djMUsvVTFaTTNJYW5iR3ByYWhtL1V1UkowYU41MDRBMTF0K2RzbVpCNHM0d0FpZmFtN1FYMUxlbEZvdTBNNi80TTRzWkJsWXJXcnZBV1pQR2hweUVRQ0lFNnRwKytaNDZJNGNYYjRvYm1jck4rZHFzeHBLSkxIaUpHaU1sR2drQ0ZXMnJycTJzYTdEc0hSYkgvcnEvbkNpT3llUlEzbE93VG81TUpNa2NJOURVUnZTSzBrWG8vR2x4b0pSYXhXMEZGaWQxV3NyWW5OeEttNWZ5RVFLNUk0QVBWSjRyb2xXbDh3WGY2dklYODdUQWZhSkllNmlxTzNJUUFna1J3RUh3MnlxcGY0a05kSDVmQmVmdndFRGZ6Wi9xaEZKczBEQS9vVFV6cDJMQldQZTBLbnBUWFZ3Rm5iK2lnZ3R3UERFL1oxRVhhVFZmUUFNaWt1a1J3RFZ0dm5MN09vL2gzdzlPVHoweVo3bnhwY2k0R1l1NDBEK2NzUkpSY2FZYkFkeVljVTJWb0tXVzJkRDVBeFZNRGtLQUVKZ2RCUEQyL0xFcWpYOTdCdW04QW9VY2hNQnNJZEJTUis5UUx0TDUyYXBjS2cwaEVFWUFSOFMwaFhWTDJmQm9uQTlqUlNHRXdDd2dBTE85WnFzemRGNExuNFdTVWhrSWdmbEdZT1BPbHdnQVlMWS85Skh3N2ZZRjc4LzdMTWxGQ0JBQ0kwR2d6ZHl2cDdYVjI3T2M3Y2pPNUl5a2pNU0VFQ0FFZkFTWXQ0NXY2TXQ1cHphcXM3ZStJT1FpQkFpQlVTREFMOEg3SWhqQmhMZXY4VFBlc2RuU0lzaEpDQkFDMDQwQXpQTGltRDIrVmRmVlN0SlI3OC9QNjJmbE5ERElTUWpNRWdKOG5PYzNZZ1UrSk5WVDc5c1VlbWZHTENGSlpTRUVwZ1NCbHRpanc1dmQrN3JBRjlXbFZiaUVYbzhnTnlGQUNFdzVBbWZzNXJIakxMRnovUHFQZnd2ZVJUWGkrN0hrSWdRSWdlbEZZS1hmaGZDMXdDZXFzTXozaWxUa1hkZlRpeHBKVGdoTUx3TGx4dTFkNTJQc2xqSE1PMDVUM2xsVjE0L25UVzh4U1hKQ2dCQ1FDTUF3L3lEclg1TmU3Ny9EcnJxdXFuNDhMNUNJdklRQUlUQ05DSHoyeGV3TmgwSEJMN0JuUkZCSnV5UXZtSWI4aEFBaE1Ec0liSGlHK3hYdHdxelpLUjJWaEJBZ0JFSUl0TjFqK0RTMUR5RkRBWVRBYkNLdzJqckhoUC9EN0pkbXMzaFVLa0tBRUFnaThGZXMvN3I3MkpNQmUzNHdGZmtKQVVKZ1poRDQ3SjJ0aDcrTlZINW02cE1LUWd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NTnNJck41NS9sMnpYVUlxSFNGQUNHZ0lMRGZQNzNLL0lhb0ZrcE1RSUFSbUZvRksvOUNwM0p6WjRsSEJDQUZDd0VSZ2tiM05jVmJZTlRPVWZJUUFJVENyQ0ZUUDhlblFWWFl3cStXamNoRUNoSUNCd0NKN0d2NHllOG9JSlE4aFFBZ01SdUJWWDZPZW5jR3BKeVZGaDUxeVVWcTN4aWJRNXhSc1h6TTJHWWd4SVpBR2dUcFR6MWFhL0dhZTlkWVZNNkFZWDRtZEM4SU5acU4vQWVhOXdwK21nczBxUStIOGljRW9FZmdockNUMTU3R0FYNCtiZkhlK09sOWhsMGRSNUF2c1M0Sk5qWFV0N0piWVZ5MmhPUWVSenVjTTZBU1RlN1RGMkF0MmZRRzUveVZUclBXNTZ2d0NHODFrdThMMlJRM1UyS0ZmRTc2cndiWjhUMEV1MHZtQ2dKMDhzbmVMS2QwdDJkVEtYeEQrZDA2ZW9Fa2x5bFhucFM0bVpaNHlYWmw1dXQ1d2wvVkJNayt3MjhHZzNQMms4N2xET3FFRTE0U0tNM1pyMXhYdzE5bjUxKzgrOWtlam1kRVdna25kbXliblFYeU4zVHJPZzg0Z0dtdmVjdDVwMlFmMGNvdGRIVVFqcjNpMGlMeElFWjJKUktER3ZuVzM5Q0VvL2hlRmVFdnNacGM3UGphYXRpNTQ1dnlUcDg0ZjhZTXlJM2oyNUlLZFJaeSt2WWM5T1FJeEJBdlMrVkVoUFNZK2EreUZuUE5Ib2ZUYitDODErenY0dzFPNzdQNVAzMitPT3IvRyt0NzBKMWNZeW4vK3YzL3RpMXBYTlpwVjltWGh3eHhmRC9aVGJFUkYrRW55Y3BITzU0WGtCTkZaZlhILzI2UTRiYzhnZk1ZWVB3ZDJEL3RlTDJacEJKWmlLVVMrL3pucS9KazRLSk92ZUtCV0ZldXBiWjh1VkgxZitLRGFXMzZ3N3FwN0V6RTlyQmczNlh3eHVJNlRhcW5CV2t6YTZKcGVFMXRGTTd6aWxGcktWRlJ1alZQR0xMenowM21BY3BoRmtxaThMYUh6MS96b1M4dzdady9IcVIrc3V5Q0xsa0dQeWR0Tk9wODNvdU9uZHc5N2svT24zckp4WGIzSDFXYnNwblBCQytaQ2RrN0hMMm9xQ2ZMVCticGNaYWVTSXpyVEQzek44NkgxdTM2Q0M5SzNHTjNMVk5oWC9BeEZ1a2puaTBSM0xMUkxMZDdhNnE1SmFNVmRSa0lRUHRCdlYxVVg0RGdYcjR4RnZPeE1jOVA1a212anlDNlJoVUtMOWJYUW52UkIrWGUwY04yNUpQc0ZQYkFJTitsOEVhaU9sZVlLSDd4ZTdZMG5KNWVWTEJqb2I3RTVnc3BHQUFBZ0FFbEVRVlIzS2ErenByb0RQMndxWExucC9IVzVnVlpBc2Ztc3luK081UGI3Q1dQSGZyRGh3bmJkYVBZUVNPY04zR2ZCYzRiWE5XRXpjbzFHOVd1cVNGaEtHb1BNOHJTKzRaV2J6dGVLc2VCeHhER0YwRzJrVFRsdnI4c0JYMVdMNytnWjNZUWZucmVMZEQ1dlJNZE5ENjN0MUVHMXNodGNrazdYbCtlSUdYdkFKYjFSK3FrbTM1V1h6aThVYURWYlozcC93cnRnK1VSdnd5UFAxaWpRSjUwZkJjcWo1QUVyMFRHdVkySHVodkRacnM4YkMwYmRydVFvRTc2ZlpDcGNlZWw4M2VnQzh5MDZha0gwdVM1VmJrdVJUOHpzcXBiakFjT1k0cERPeDRBemxWRmloc2pWVzdRNVhlZkxUYWF2NTh2dXdienBLMlJPT28vMTg1WENDZzliM1dXZk9HWVVIL2dNZng0emhuOC9nZXZhWS8zallGZ0JmdEw1QWtBZEs4a2FYenJ5dGJ0bzBQcmMzc0hrWG51SmJON245cGdMN1JSV1V5ZDhoYVVlc0RvVUhnejRCeW8wNU1Ea1h1c29RdEY1QlpETzU0WGtoTkRCY3Y0R1JNR1EzdVVTYVRZOHNWdW43Yyt2bzIrWXlpZW5jZjZzd0ttOTAvYndkd0hlbElzcVRQbTNZakN2amVUbUxOTDVtQ3FZeGloVUtCOHJGdTc5WmlIOXBqWndYR2NZNlAxRi9OSXowMWcreUp5UHpxTnoxRFl1ODRZQ1NHc2tONlcxL3FKVWZpMVNjMTZQajlaU1puR1N6bWRCYndMellraTVwb21sSzNiak5pYVAvampUMjlmU1RaTXpINTNIZkZzSEttY0Ftc2ErMjRuMDlmVEZWWmdsNm1jL0hKcDNDT2w4M29pT21WN0hQUFN4Nmh2cWx0Q2VLdktWV2tqWk9CeXpxR25aNTZQelovSHFsMVk0Tng4MjUvU2QwSjU4ZjZZeVlQTGVIQkNmVFNvdk4rbDhMakJPRHBGRzRHeFpzeXRscStHOU9xd241YnVjYSs2ZGpESjJpdjV6MFhsTTdRczhod2hiM2RNYW9uVjVKS2NaWjhKRGhyclpZMnNrY25TU3p1Y0k1Z1NRd2dEanI5aTVQSFY1bnZNMTRtUW4xcGszajRXY1IrNmRqQk1nODdBaTVLTHptTnB2RGNzNGVYcW8xUTB0ZGR2ckFjUjVLUzA4NU1RZTYzWW9NTzhBMHZtOEVSMHZQYXdJVFYxZU9OOFZFcTI3dXM0MzhjUnJ0bmNYMmVTTHhTQVhuVzlMczFvaHNtSjdmbDhqWFBmbUZMaWlRd3UxT05FcG1OVm5TWk01aUhRK000UVRSUUFEUmNBY2Z5UVdscXROVDhkZkNhVi94MjkrL0JzQzA0R0pLc1FBWVhMUitWYWhLK2NUY3hiUjh5cGxjeURUbzhEU2JBQVVxYUpKNTFQQk5yR1pZTGEvWWdxM3dHNy80Y2MvejloYnZlQUtsSjQvcDJheUtmTGxvZk00R1hkUVlKSGI1bm1mRTIrbWZ4YXNuSkFJMksyN0Znck1PWUIwUG1kQXgwd09qZTFxUUlTUGNnMW5QeWREUzNjSS93dWxmL3IrODlENWsySjFDMllUSGRkTlYrZGhiT25xd1JZMzFsNEhsdUJjZzBqbmM0Vno3TVNxOHBTbkpzbXI3dTNmLzdlYS82WDNzamZyZmkxcUtweDU2SHgxME1vNkd4Sk52aEg0bDNlZC85TmpRV2ZGbmR1dkdSdDRkZzR0dWExbmo4NGpsSFErRHhRbmh3YkdjTGVaVFk1SXVVdVNnODdqS3NxbmNwZkxKNGdCL1l2T2Y4djZMYzlxY3NtMTRmVU13NTZmWEhlZEZWK0JwUE02NEZQdlhzYnR0bE5maUVFRnlFSG5ZZW84R01RbVF6eTI1Nyswem43MXVIVEczczdKbE53ZXBzbHZIaDd3NEhUdTlvQWtXYU5KNTdNaU9GSDVVWjNSZHpKTWxLUVpoTWxCNTN2RjJqQlJEYzlVK1g3Sk11dnY4cExXK0tHSnhTUjNYOEc0V09CWklTNEx2MUJGL05QUFRDQ0FVYUxJT2V0a1lKU0R6dGVLWGM1amUvNysvZzVIcStaTzUvZjRpdXNvd1REUGJ6VXpEMVhsanpucGZQNllqcEVpeHEraVI0a3hsczVqblYzbnNad1hweGFLS2d0MkJid3gzYnROK3hKZWRueWMvV3dTZmtlRkwraEo1NVBVdzlTa2dRWG9ZR3FFVFN0b2RwMDNiNjVLSzBkMHZqYno1dlRPUlc5QzBlbmZtYkNiMlF2dnRrWXpTaFZET3A4S3Rrbk5WQnZOVFN2akxYNTJuUzlhcnpCV1ArMWloRm4rSVhlVjN0ZC8vV0FESGs4WlBrbkpRL044U09melJIUHN0Smg1NW5QczhoUWlRSGFkaDA1MkN4SE5JOXBVcHlTZ3daZUg0NFN0bDBMWEhXVERHNjQrSmowMTJrc3hIMkNicUlKbjEvbUNkelJoaDVPN0p4aFRENFlFcjFtc2ZaRjBmc2o2bVBEazJPaVovU001MmUvR3dzdUhoUTZsZkh2ZWF5bXdIQXhyVklWTlJpd0hDbXRyTkxjdkROb3hFTVpMNFFOZTFoeURVTG16ekR6T1k1RWRlUGt3WHhtaFZEYzhpcGpiUy9WUHl1UEVmQTgzYWJiazZVam5rMk0xK1NrM3phK2tUYjdBcVNUTXJQUDFvUmZadzhtcHZUMFA1MWVHeTh5TmVKNEJjTWlNU1pPVHppZEZhaHJTb1RFWE9tbWREQXd5NjN6TmZOTTE5MUpocE43eWlLSVhIdmFRRkZZZXhaN0tJWjNQdmNiSFNMQXkvRXh5ak5LbVpaMVY1MkZpSzNZRjFQYjdGS2ovc0hON3AyanhTT2ZUdHJ4SnpOY29lS0U2R1dYT3F2TVlTUDNiZ0lzbzBwRnZTY1hNYStpSmVyVmdJeDdwZkJHVlBpNmFiUGlkb1hHSm1vRnZWcDJIcFhOb1BSeEtYTzN1WWN5OGhqWVhvcDhZY2s5L0tPbm9IWnZoNEpyczFIeDd2dERXTWhuRno2cnplMFgzak5xQ3ZPYWI4Qk9EaHhlbGh1NG5FaE5IUWhybmgwRnJ3dFB5N1hscFBCcWZxS3Qzbm45WG9keXo2bnlsNEJQdDZIcVZyUjQxc2o4c0dOREpZZTErTVN3ZWJkNi9ZMGFUenB0NFRMVVBrOWFDajNNa2dHZTVlWDRYMjA2UU1IV1NyRHJmTEJnbDNHa256K0hnN3VyaEx4dkZrUjd0ODhHcFlYSXozczN1YjhwRGdSNHAwdm1NbUU1UzlrMjBzTjF4QzFUcEh6cVZtMFZLa1ZIbnVSNFdLUjdmWUQvd0dQRFBDWFE5OTEvQUxaK0hYM3ZvaGRyK2tPcllGcDRpYklIOXNyTVFXUENSenFjQWNsS3o5TkJZeGkyYnVBeG1wZEFMbXpQcVBQU3cwQzdKd1RtY3kxNDE2QWNqWVpyVG53OUUxMVFqdjB0NXEveWVqb2E1VkNDZGo0Wis2bUxPOHB3VXBpeTlhR1NyYXFCTFNTVTJXMGFkaHg2YU9oRExMRVVrYkhCYlhyWk56WnpuUFBiL3dQY3ZQb1Buc1pjMjQ5UWE5U2c3alJUczlTenVkVnh0OHpnQzZid08wWlM3YTNvTEcwOVpGc1UyV0xsUXJjcW84eWYrY3JzWWpLRG9PeDdsdHNFTGg0RnVlQkdZYkVTZkVlajU2VEpLV0JVcml4Tnoya1U2bnhIVlNjck9paDdCQmhlMjQ1cXNXdmtab2NJOE0rcDhKL1NwbnpDTFRDSG9WRENoRmsrVjZlWk1HUFQzdlFnSFkvbWhkQWYvTVZGUWh2OWczRkQrZGZjbzlrV2ZMYzlPT2o4VWlCT2RHTGU4Rlh6WVpHRHhTOTVWMjQwaTdRb1pkYjdtVDcwSGxpZFZBdWk4bHc4RHUyNVV4VjdxbHFTSVJmK0JkQWYvOFFKdVBpZnU5OXh2WmEybzZZWGdSRG9mQkh4Ni9keElMT2VPWXlyRkJlOTBlVTFacXdzUUpLUE9BNldkQXFUeVNXNnE0L3c0NWF2dms4R1NvRGdqS3ZJZ1B1THkrVXBCMCtXM1pBNEZwUE4rWFUyN0MzdEVBNytCV0hBWks5NHNzaFk5Y2MwdVFUYWQ1N01oT2ZYT0xvdU5ncnozMG5HZzVPL1NVbUNocjN4eFYrL3k2VUVlSWk1NCsveEw1bEtCZEY3Vnd0UTdzQXpVVjQ5aktBOGE2NkZnMnhqK0pFcHljYlBwUEdaRCtReWlrUUl2cVhHK293M3NTRjdYenRyZ2xFQzBFYThwY1l6a2tTaml4TlAxRmZNTmE5TDVST2hOUmFJOTZQenBXQ1ZkaytyVThoZXUrUXVVVGVjeDl1cno3ZnpGd3hrWWJ6Z3Z5Ky9WZVV3cW1wckRuaGU5WXdqVDM5VWNCRHZ5cG4wWE5iNGdTenFmQTdZVFFnS2pTcEZUNmdTbDNKTURTcUVUam13Nmp3bDJ0TElsS09QZ0pKaTJ1ek56S05lK25yeWhMZUhSTWNnRHVub1MxdzJqL3BWdzZMQWhtRXFjaWp5YlppOUhPajhza3BPYkhxT0RiaVVlZzZCVnJ4MWpqbisxT1BiWmRMNWUvT2FHWnpyamMzbGpXYTZiV0xFUTI0K0VxSmZMbTNVdy8rOEtGaWZtTmdEcGZDVHdVeGZSZ3M2UFZXaW8rcjRRQUNQZFZuR1NaTlA1aXE1NXhRalpjYzBxUU9GdE9nTjllNTd2ejNmMVNNTzltY3NHL1lrMEgvUm9ibS9BT3pzZS91NUlrVWRoQmlNRjg5ZzFrUXFPMDhISjA2Yklwdk0xMlRHbFpUODQzNG83M2Jrbk1NenIyL1BvRDJKV0dOaTh6MkdEL2t5eU9KTkxMbGQwR3VjSFYrR1VwTUN1Ymg0dEpVTnAwVlRkeVNSbWxZY1o2QXpJbWszbk1Sc3FjQTRpUkMrSlk0anJRVU9tdmozL0Y3Sjd0SllWK09Xd3Q5Q1VGb01xN2RWWllaNytRSFRmc21QUFZwaEhtdytsMDRxZTNLU0M4dTlra3lFdWR5YWQ1N09oQXZzalYrNTcyRTg0R3pYMlMyWXBNR09YQVhoRlBoQXBZOFEvNzc2UGpaQVVIa3dsRHR4c1RjMTJpSkFrNC95bnYrOXp6N3N2aDdsR0Nya3BTM0lFb0dqczZlVEpJMU4raEoyemZpcTFPSkx6akpNY21teWtmTm0rWXdOdEs5N1FXYTRDUS9ZL0JJcmdiOCtYcXV6Sk9KMkd1bWJ2TktIYVY0VUVNTE04bzR1U1FPZVJCRS9CZTVxNlRPUk9oUUNHa1R5TzNyNkd2ZE5aVFRkaGFNbzVaRjBPK0trS01paFRwbkVlaTJvMTJnNWlsRDYrOUt6V1E3OGJ6SzYyNS85empUMjVHNHcxL0JEeTFBaEk0Y0VZNFBiY3NCMGU2UGtUNkR3LzNwWFRyRkhuVE82Y0VhaWpscTVrcHJuS2JtSUVxcWNaWmpDZXFLZklJU0tUem1OUkhiZFUzbmdrWGhtejROdGd0OTZQNTduM3N2NjNEcURUbEdQMGdIUngwU2VxTWdLbkpSTG8vUExudmhaMmorZ0RCSEY4S1c1MENKeWhqcmN6c3pzVDF6V3NtQ05ETXFwODJpeWZwNUpsU1pVcWs4NWpOaFRYSDlVTFhPeExiTEM5OG5zRENsN0xZWE9oN2ZOTDgvNDhodnFEQVZKUzlMZ1JRRHZKUGlHOHhQb1k1cDMxTkpON1RKcy93RytCK2N4aitSZ1dvZ0ROcFBNbmNlZmNuVS9LK1hBVTd3emgvdmI4WDhQd3dWR09maW81TE5NcTdMYW9qYy9zQlk0Q0pCam5JUmwwZmp0YVFJcVpDQVF3R1Vzekl6ZGw3N2htd0kwMEMzSk1tdzhGTlF6NEJ5YlpYSDJaZEw0ZWQ5emxzOERRTFVLdUFydkV0TzM1Y20xQW45b0ptTjNTaU5PUTFwVjJvREtUNmZ4SjdHNWlHb0VvVDk0SThFMm96QlpwakVXblFyREEwSkJJV0V5YmQwVkNiQzl2SmNxUkxsRW1uWWMyUlcxdWxEN0VJU3hNNS9YdGViaFA0d3FQbmlueTdmcTRmSHFjV285WHpXTjRpZmJxSEtjdGExT25TZTZKUWtDc3ByTktkRjBhdUZyUkIrWlhtMXcxak9kYzZMcTZLd0xUUWxmNXM0cGp6NTlKNTQ4aVpzMnI3Ny9MTFZKaE9vOHVVWlVISFhUczdWZDd5VDh3L0c2akpvVG5UWUtQbW15MUFzYTRaT1A4VVdCMm9HUW54OFFnd0RlaE1oKzlyY25ocFJtOUJZQlJQUFNjY2hoTzVCM1N2ZXlDeE1HYVNlY2JTaFZNRmxBRTF2OEhpQjJvOCt2dk5YTW05Zm5iODhoUmpkY285QTlKRDhSVVE1WGhuclRGTHNwbElSbzIrL2NOR1pQcGZEUFcxbWtRSk0rWUVNQjBNWEU3aVJJUmM0VnRONjRSdmRXL2NkY0R3ZWNOeHp5WGVwV2pNbUMxNnJKSS9adEo1MXRCRGZERVdIdjR6Yi9mZFpMb2ZDL2w3ZmhxZTU1elBJdTN2V0J2UFduLy9XZkJ5bmpnZ1cvbkhLRHFXL3lmdjg1L1RUamtUeUtkUjVkUjVONkxsSVgrc3lDd0NaM1BXa3ZYMWFTOEVibnFqWmF4THVlcnpVSk5lTm5PNFFHbDdlZ2lKTkg1ZHR6K2ZqUnBSODJoZUpxNjFFaDdCbHh6MXJmSEpBNkZhZVpRSkw0UUpKVkk1OUg5MC9aOFlyREhsTENIMWh4bG5Vb3FVbFhPempIZ0RkOS90RDMrV0t5ZUp1V1lKbDJXY1o1Yk90M2h6OG81aWM1M1VtcWpZVWlBemwrMVN1QUc4cFhHY1V4OGdpZ29iVmNrVXhlWnlFeUpkQjZKRG1RRytwOVFCRHBvSnNheDZ1SGxSRE9SdlViVFhSUU9SYVB1alF4cndZRmxLQ3FERTJmUmVYNlMvVFNhUllFNmJ5NnJVVnN4WWpqOEN1TnV0SmhKWWpETzc0cDBSMEhsVGFUeldGMXNKMkZEYWNhSVFCWE41Q0FiZjlqYkwzc1Vtb0g5blNTRWUxNmZzNWxpanBDRXZreVRSZWZScmNWWjZRclVlYWl4TnNFNGlsL1BEeEJUSWhIM2p6N0duU2tFbC9QSjl1cE9RdG5pbUZIY1dCQm9valZMalUwcFFNZHZpR25zZ1NlZTNlOHMydWFmVWpBeld4YWRIekNBRnFqeldLTHYrT1VZc0Y3SElCMHd2UGxaRTdwZ2hCTXBMOG50VjVVdjBUamZsdE1FbFkwY2s0WUFxdGdZU05MSTExS1RjbENMTzVWdUo3N3A2anp5ZHUwSmNnck5vdk44UjNNM1dvNENkWDVUMjU3bmMvZXZSa3ZoT0FQTURuRlpWWnpINzBTdDEyUk1JcDJuN1hrSjErVCs4NUVoYnRhYVFITGMxQ0N2WE1mRWNQZ2RxUlYzYnI4VzM1d1RDRElnU1JhZDU0Y0xZc2dYcVBQR29ZVzlBYTlBOGg3OGFveWNTYUlhN3R6K0tHUTRTS1R6dEQyZkJPUHhwdUVEV053SWxrQTZtRzNrOWd6V2s4T1A4NWZjN0wzQUVaQUVuSWRMa2tYbmNZb2h6dXhlb002ZnFRN1ZjY3JOUVhXRnlzeTRVTU1SQUQ2aDJRaHY5Q2ZSZVhRNnNST1I0V3FNVWhlQ0FQOXdWZHdJbG9CcG15bHRSUStTOUJ5WVQ3amsydTZhNThkK1dCR3VMRHFQZmkxdWU3MUFuZGUzNXg4ZmVKd2VsYm1mRWJzOVlSRzRZTjY5eTJrbTBYbDArbklMSjZNWWxMMHdCTEJjakczTkNSZzMvZjBqOUNCeW1wOGdvMHhTNC8zRVlyaVJ5ZmljL3JQb1BHQ0tPK0JXb001ck82bkxNSngwNDhGQVhSekVweGdZdXlSV0I5VndENXhFNTVIbXhrQU9sR0M4Q094QjU0ZWZqdXN5ODYzcnJoY0ExZENuZHVVUDNzVWVlbzZlMk9yZTR5dklvM0FqY3hOLzZsdGFENzJnYTgzb0JaWi85Tjk4N25uMzh2SGxQZmYxNzQva2wwWG5UK0lORmNYcFBBYk9LMTR4bDJ1TWllT3hNVmhBa0dpZCs5VHptdjNYZG1OeWk2Z1NONitzV1hyZ2VKMS85TUZiMytRNG1BOWQxaGdrYkFCYURuSVdqMEFIR3F1cjZmQWNNWjlYUzkwOTQ3MnZEVFRTQnhoNzR5Q2FsOUJPSG1jL2EwLzJNc1llYnJIelV4Rjc5TWdEUC9WVDl6N1k0dnA5cWYvd203bDdCMU1FL2p6dGxMOGdIRDl2SjVUcDdPMWVmTTlZbE02WGZ4UkYra2x4aGNXUHZxZkoyTTlGRkUwRjE3UnBnUXIwSEgrR0dWMlRuZThFdzRQK3M1dE91V0YrU1Vja2lkTjVRTjl2c3U5MVR2dzVIL0lrYlFCQkNjaGZLQUpIYk9BYWNRQi9uTWhSRTRXT3NaeXJzTzgrZGtvZjFzK1UyR2wxK25kR2RUei9uTEYvNEpSeHAyNlhaK1hTOGtmb3ZPdkU3clhVK1RaNy9mLzBnMUNTWDdaenlUTE8xK01ORlFYcFBMVE1lTDdMWGpBdHRPcmJVN1ZRNFZ4Z04zL0xjWDZrT1hEeHRjNytWVE5rdEFlSk9KMC9ZN2QzbmJ2UGo5dituQTg1RWplQW9LemtMeEtCSmhvVjVuSVpucDQydGgvcHhCNW5ieFZrendiT0kwcnY2Ny8rMkNvQzlnSEZkUGFJZllYSHYrZTVYRjdHWGdqM3NuRDJYN2ZyckQ3N2ZRaDdlbzM5MXp4Tng1eGU4aUQzeWFMejdYaERSVUU2NzNabUtCdC9IbjdCaml4SjlEOHFJT0xTakhMRDdUWXYyZFRaSlBqRHpZZiszZ3dSdmhpZC80VGJKOWYyd2QvUG1id0IrSG5JVlR3Q3ZEVWRaR0tqNnpuYS9oVkZUTTRQMXpPODlpRjNxdERlRGdWaFhBSFB2R1VBMTRpZjMzWFp2UVp0dlNhNkJXZWpGZmoya3hRb2k4NTM0bGRBS0xjcm51UmwrZStvRlpBbE1xK2dNNjBETm1tdXlNVlRKMjBYSDYzek1DN3VjMjRYbm1ycTV6UHlhQUJtSWNpWEF3TGlTTTUrSmtJdGJYc0lXcmd0aVMyeWQzbk94cWtNRy9ZZnpXemJ6ZE9RWndENEtkaHJJZ3lIenQ0cENTSzAzKys2dmw3Z0c0OHlUVWFkZjByU3NmeFBnYzVYKzhldTRDc0RwMTJXQXZLZ2FKMlgxM3J3MXVSVHo2TUJSSWd5NzhHZmZublU4NHJCMEhBTkdyemVqcVBENjNuTFM4Qk4rSzQrSXFBdUo1RjNHS2JjT0ZxaHVMYmFSL1NQb3gzSm8yWWw1cHY2WWQ1V0c4TndXL2ZWc3VqOFdlVDRLV1NlR0ozdlJGMkdzQ3lWY2FFMS9FbEp0MTRpZFI3Vi9qWTNTZE92aFh3YVFLaEZVQUFRS0xmUTNDT2UwNEVJaVNNNWh3T1R4U1RnQi9sZTkxejMrUmE0dXpLdGQ0YlRBWXQ5R1Ria1AwWnlkNzd1Y0NwZWJ3S1hHN2d1WjZ1Z2F2UTIxZisvdmUrUGtTU3I3NnZkK2JFN085TTdnMDNzaTBReW8yQ3pGMGpTYTVMdzA2aWJRSHduTzhvTWttTXVUa3dQaDNOM1FvWmVjY0JlRW5DdEV1NTJqWUVlWWNXZ3lFbVBJd0t5STl5cmtCZ3JrdFdOY1F5MnJQUUlESno1Y1RNZ1crSVAwQ3kzTU5QY3I1ZlBxM3EvcXJ1cXU2cGVWWGRWNzdmLzZIcjE2cjN2Kzc1UHZjLzc4WDAvU3RkQ1pvS1duSThZSjNzcEZKL3pZb0d6NDlUQ0swUVRxQWgzSk9mN2pOWDlPTWZtVkdFR0JTQkNrenZkMit1ZFIzRCs4a1J3WUhTZnRKeHpnb3psb2JSbDhEWFpSRytyL3JsOEZQc0syVmRFWUQxUHpTdTVIZTU3VGpmem5QTzYrV3FFRzdKc09MOFpMbExtcEZtVThYelg3RnhMN2ZpMUw1QkVjVkd6TE9iekdPNUl6cnRLWk4rd24yWlJBR0pvZFVjR3VYdUlkUHAyOGxRc24wODFMYTBwQUZ6WDZYR1g2bFZma0NUY1ZDMTBZdWx0WTdaWDl4cFJzTHlhb0NwWCtVTXVPSzhIa2lpY1NnMGpUVXZPOC9uQnFGOWhPQS9FTkE2bXRoMHh3RUszYkp4aHdvd3k3STdpUFB5bDVlYlFlR0ZaRklCaEZlZytBd1MyV1RnLzRvc0dBMVVwZ3pRMSszdE84azZQeWVNTEZTRkJwWjZNVkZNcitURi94eGZycnNvT0pROFI0RHp2Nk5lNWIvQm53L21Pcm5LQ1F2MDdLTG9YNW0vNlRjVnVEODZyTjJBbTdyaGlnS1g3UzRISGNXNmlPSSszdmlIaXc5bVRvcklvQUZJV1hUTkU0QmowU0w0cnhsU2dhN0JoMDFnUnNpN0hER2R1Zk5JTW44Q05mcWllMzlxVWRRZy84Sm1QN2Z1cXFvSElBT2RSd01OTUNIY0M1MEc2Y002ck4zUFgrdzhTdkFJemFCVG5XL0pOODBVNGVubytnd0pncGs3dXJCQ29zZlI5UFY4SEVQQ1cxQVpjdXlMZGVPVzcwcDN5aWtLbUIrbHRYWnpPOFdxbTB0bzN4QVk1djJrdURWS2hiRGlQWEphaWI3OGRWWVhiZHVlQVlnVG5NZldqM2xKVE81ME1Db0I2ZGVUSUVJRVdPRCt1TUU5T0NqemZGYUg0aVExSE1nYXNnNE93MVZ6eWVZd3JST2crQ0VwelQ4U0JPZi9VV1E0TTJZT2NiMHZUZmlBUlM4NGIxb09BV0g3VExFcmZIaWhweUV3MThhSS9sTGFCRjNJaU9JKzM1TStqSUpneHp1TWZxN1F0QUdZR3lKMFJBcHlsdXBsT0pSUUNOa1JFRExUMThSdWVQZi9OOVZReVJhU0dXWVQ2eGhpOWk2bUF6cU9tNkNEbkVUSEVPRDNNK1o4UFg5Znd6OEtvVVZOOVl6TlY1WTdnZk9XUGpTUTZBK1BtOVRzcXJuQ3NzMFMvNGVqaUhpaUY1QndQb1NFN2VYNUVySGplRVp6djZoS0V3Wmh1UURJb0FQSDBvbENKRU1CTDBzMTBvcGd5TU5wY1pTL0RZbGpkK0hxcmZSaWJ2SGRUU2hxOW9qU3BGb1RQTU96SklFam90a3JWOHd4eUh2d0pPZUZpaVBNWUlZVC93aWJpYTZrNGoyOTlSUDFNWTRTWGc1dzVmK3dwY3ZJQ0NXR0thd1RuWFYyQ01DbHdTd25Pb0FBb1dlVElEZ0h2dmV6YnlPTzFobXdZMFp2VDgwQnlyZEJKUGJWNGxOUFRmeWgvVFhQS0QrVXNTSm9nNXptZFIxTWQ0bndreVlLU2ZUbElQVVhmZmh0NlJQelVFRmpxR2FsT3VBQVpiZWphTndiWGdVZXkrdm5sZ0craW0zRE9BM2sxb0VQVGZsbUp6S0FBS0Zua3lBNEJiK1BXVFJ0NW1QdFJ0blVVdUdlMUxGbmd3eWlrUTQxemJRYUwrNkNuQWpmTUJvWDdCam5QdTVVcXJISU1jZjZNR3hRdjd3Yi9Sc1hRamxvcXpwOXRTYUVqMTNkcTJiNXJmU1RJV0kvaDZPSWVyeUM4YisvMTZMakVvNGlZazczRE9jK2JqUjBSR1huWTBISzJSUWJTRndBdGkxeVpJZUQxYjNzMjRqQ0dWMDFXaDdGOUxRdWJyZnlmVVF6MDB6aXVxams4REVSQVRSTXMya0hPOHhYRnNoenFlRU9jMXc5aXVHcXBPQjhRM0ZWMVk4QTcyNXYrTURCSy9MM2liWVJQNWFsZ1l4emhuRWY5cWpLMnJjZDVrR05mQU1Zb1E0L1NJbkRJQzBMYXlGNDhWUE9xRklIa0I0YXdpN2pudjdEeHNSRXMybG1ONUR3M1NkMDBJK2JOK1RHcWNEV2d6cDZwVHBoN1dwd1B0OXM3enJmOXR4RzBnNFFwR3VVWHp2bERvNWJaREJZbTZ3SVFwUW41V3lDd2pYSVFZdTFLSU5GWXk0bnVZN0M4clh6Q0syYXBFMEFSMG1iZ2dFNThoaUR3S01qNVdIMzdnTUJKTjJYaFBGNW84QjBZR2VPSGErRjN4ZkJLNUF6blBGSlVScHltWWNQbG9tMExRQ0wxS0hBOEJJNVJCaUxMU0N3UjRMeHN4MkVjR0xaei9jVmR2SlRWWTBrYURRVHRwT3loaC8wbmNRU3MyYWNJY2o2V0RXOUk1UGpiemxBZE14UzZXWlIyZnR2b2RnM3BpQzJZcjIzaGJVUkFPaEo2eENPYzgxMk5ER1orVlo5UHhMWXJBQ01xa0llUHdKbzU3UnR3VDk0L1gwVVpVTFYwS2tEUnQ1ZEVQOFNzK1lpTTF5R0YvUkhmZUI3dEtPVXFyY3Q5MDBROGJNTmJEKzI5Mkl6bk8rTzUwaXdGNXpIRXJsblU4ZUdjUDlibVZIVDBSaXNVbXdJUXI1amNlYUhrbEFpNE5mSTdtZ1NIaXlpQlB2S2tDQ1BQd2ZsYnduTXp6SENHejZJWTh6Y2owY2Q2TklabjVHVG9oZE1EcEd2YWc0UHRQQ0tHOUY1c09JKzhqUlpucVU2Qnh2UHRJQ3hhUStFQ2JNcmtPdkp3Z2tjNDUxRWI3b3FJZ2VsNUpjeWlBQ2daNUFnZ29DWmgyT2p2Y2lCa3lBMlBJaWtiOGppR0Z5em9Va0RMSk5xZnk3am84ZTlLZDhJcnV1aEI2N3lNdjRtdVJTMHdaZ2h5dm0wdTVwR1JyTTY2M2d5VnFFUTNpOUxPSStkaC9iYTFubFMxT2pUa2x2NHhydUdjcitwK0hNd291NUR6VHc2NHNDd0tBSmREdnhBRTdtWlJ2OU42U0hEVEMweXhzT2w0a2lCQ2NCNU55RFVsdk1zK0lOd0ljRmw1SjNPZzNRaTEvNjF3SXprV21jaGQyNUFhNUR6YUhxR1VtYUJsTzYrWEJKcENmWGRoT044TjVmd3FVMnNiK2ptMDgwY0NrRU4vZXI3WnczMG1CVURJcFV1R0NIRHpkK3JSdHE4SDdEYUNYbGlGVjVlNmdmOXFGVzVnbllZTUVPdksxL1VlNkpCL0pOME4zcXNIeTFVU3c1eHZoVmtXck5yNTQ1SzA4OTFRUGFIOXJzQnhmY1RNcGdHZTRBcHY1emYxckduYkt3RVZQdm1iVFFHWW9CQTlUb0VBM3FKK1l5bmk4eWd0eVhsODFrQ0phRUN1dkRHcUF1a1Y5MW9OYU5lc2kzanVGbmVnSU8venEvZEREYUJOeG55NHN5T2Y2S3ROTzQvRXd2ck1Vbmd6Mzc3OWg5Mkg2ektwOFZmb09kb2Y0WFducUppeHczV2NYV0tzOEhET0kwV3BXOGQ3NlN2Y1lKQlJBUmlyRHoxTWd3Q2Z4MmE5TkRGMW5CcDcxcnRCZzYvNzJsM2RLMS9TeTdSMHBKZ3VsSndyS3VpYXJFWE8rdXUrMUZtWVBBUTRyMnNjUE5FM0tyNVZPNDhNelk3ejk3Q0gzWEREaHM2Y2NHMkcyUnA1ZDA3aTJEQUdZQ094eDN1RWM3NnZTMURMNjNtZDViMHc0Q1dIWlRZRllMeEM5RFFGQXVzb0RKSkpLYUo3VVk3RlhCMXNkWFVsQXpVK2YvUDh0NkpjL24yU2Y1UXkzU290eUdKLzdQdXBzekM1eEVCUEg4WFFyNGVDYWRtMDgyMnpIeEVVeSsrYWViYnpaL0F4cmpNeGpTSUFYaU1tOWVUZHVTTngwMVl1K1RUMk5aeno2eXJyZU02cjJ2Tjg3aFo2WkZFQVl1dEdBZU1pMEVCaE1BYkZjYU1Gd2pYWU05NTlYNzFrM0ZiMUFITFphUDRERWVQY3VJWjZmYkVPWUZVVy83NXV2VGpuOWVyWHB1RTJVckhoUE5JSzZ6cEk2VWp4cG5SSFhWT3Z2ZlUrQzkwYzE4M1FTVmIxY2dudGllcFl2ZVhtNEVBL1NPWUs1enlFaTZ4M2ZaNXZYNE5ZNkxFcnBGc1ZBQ0dETHBraDBBWlQ5REE0bmRobHY5T0xWbmRMQzloa3Z5cHYycHFMMGl2KzlUNXRBS3kwTnZ4NG03S2xRaG1VVGIvSGVUbTBnUDBvTkZNMm5HOFlhWVdvNytxR05PU3A3NVdXODJlOUQwYTAvUUZOcEhUeG9CYld4VG5EVG8vRTg1V1E0ZjRrbWZKNU9PZFIyMjU1SVRCcjZ4V0ZLbjlQV1JVQW1UWmRzMEpnRTY5cDFPU1RUUHFLUC9tekVKZ0RrbTJ5NHl5TmJSOG5KUVZybk5SUG5vWDFKNHBldkcwWDlZRFh0NWR0V1ZrMGE1MEFBQ0FBU1VSQlZGdVd3aUhwTnB4Zkg3K1dCWnJzRDZVMmNwdVc4MVhQNG5Jb1c5TVJ1UUVQZERodUJUejR6WnEyYURZbTZ6a1NYWHFFY3g3akdqL0Y3YWU5RDRsV3ZNU3lLZ0F5YmJwbWhRQjZZS0VqMzBUeW01NUZvR00yODg2QytuejU1eTBLR2RUNHZLUjF4WDJ2cDlYUFFHWGZ4VDl0dzU3YzhYVUYvNStyWHZiY2FHOUNtM2tyR3g0NEwyMVNmb0tCLzg5Q2s2Y1BBbDZqTnlrNXYrcVBtYzZydnZLb1pNUEhOY1k3MnJ2Mk51RmVhNDBib2VnSW9hNEl6amY4YW5tVkhmVjVPMy9HVytlWFdRRUkxWVE4MHlPQUVwTGVqQ3VUN2ZPKzlvVWd6eXJ1Ty8zSFh3MzZ5eml4cnhXY3BOcmpvWSs5ajliOE43UmoySys5d1gyKzBPTHUwMWY5SHIvaG5GODQ3WEZuSjN3MHo3K2ZObXJlNGhIaS9MQWtNTHh6WFhuZTc3N3dGVndSZHZyU0YvLzJ6VEd5VW5LKzRadmNsMFBhNzVERWdNbnVxUGRYeE9xc1NrZDFqRVlEVGZTSjRQeUt2OXVwK2pRcVlZeTEvQlkrc3dJd1VTc0trQXdCWGxUOXhqRlp2RURvUmRUdWkrNWdMK0Q1UmZiMkhqWnlmWmlkNEdMelc4VUUwRi85MHIvcytOMEZyakIrbnM0Tnp5bk1VNXp6VHVkMjNWbkNOdkZQaGlkb3czaytxeGtxMVR0RlZHZ3lIc3lVbkhmOTZaQUZZU29OVlVKN1FwTXRmU2RkbGRySmQrRCt5eXI3RmVtVjRockJlYWZOM3VrczNZVnFwUUpkVjFwSG51ak1Da0FLUlNsS05BSjhRQ3dOWXRHaEpqNjVoMTBmNWRsdk1uYjlFUXlDZzFYQlJGbWpBUzY2WEV2MjA5NFRkdVBxQTFjZmFmbWNIK0Rtd2FzM3ZHRzh4L2xGbDJzeStNbFJJWjZQRGVkaG5ZN2lQTFR3Znc4S3hTS1NUOGY1TThMa3ZxQU1HeEhpUFc5ZUEyMkVCRmhwc3NGVjlBRmVHZklzdGxjVTU1ZWE3TlF2UjE5a2c5WnpRbDVtQlNDMmZoUXdCZ0xlMHR0NmpJQVRnbnpLZmZnUFI0Szg2VkpyOEpiZkdmRk83ckgwclljRzkzOTNRanlQODg3aWo3V3V2Nm9lRmRTRzh5anY1akxncUNURythZmovS0hnK3JJL3JCK1hBSjd4V3Z3b0xNelN0eDVoajczS3JnS080cnl6OXZIV2YvUUx3TTgyMzlHVHlXZFdBS1JBdW1hQUFDL0k0YTFYQnNLbks4TG4vUGcwYlRpUCtUL1BmRDQraGJGUDAzRytJMWJRblk5bEdPSHpaWGJFSHBPRlNNNlBpVU9QQ29ZQU4zeVBzVVlYVE51eDZ1VE5lZDRscW8vVllPTERPSnovK3M5OTg0VVBtYVoxTEpVLzhpU3Y2N1VJWTFMaWF2YkdQTGQ2Ukp5M2dxOFlrYkVUem1yMnZCaTU4TFRJbS9OODI4NU51L3pHNER5M0dnUVgvOEJueDB2Mk1OYWJ3dTVqUFJkdnArNW9iT0w4S0NhbDh6bEVDWW0zcExQd1djdWI4M3hyMm9ZZEN0M0pYU3BlQ1FkZnlhRmNOZHVQMWJlUE5EWGFxZTdISnM1bmdlS01aV3lqZ0Qwell4MHlTajV2enVQcmk3YXptdHR5bldCMGxoZS8rU013cm90OUJWNndZMWtwSDhleTRmSFJXclI0eXlmRWVVc0FpeEQ5R0NYa1ZoRVVzZGNoZDg0M1F4ZTRKVkY4K2RmaWhFWlRmODBJNThvYW9CcHJyZzVMaHliWExJYjRSRTdpZkNLNGlobTRDczd2RmxPMXBGcmx6bmxnTlpYcWNUM1FuMEMycnZsUXVMRVdFU0syMm5hVUZNS0o0WW56RXlFcWZnQVhuTGNjcEJZbGs3bHovamlEblFseHdHcElRNzBYR0RUYjl4eFliUE5zak9pSUxkZkV4QWlkTUFoeFBpRmdSUXdPeXR0T1FCVWxXK0I4K01ZYVEwR2IrWGtzMXArTzZhTWJtR3hEWDMzUHl3SG1EYTRaV1lseXR2VSt4S2dnNmYySjgrbXhLMHBNYm91MlhWeFdsTHlBRSthMGRxaGFWcHh2NU1rbVE5MXF3QWgzeUYrUitHMFpvYUtjNkkyWUZzQ29ZT244aWZQcGNDdFNMTDVvYS9MOFVaRTBqdFlGaTFFbURtU3RPTDhlb3lNUnJWNzhKMjdnSElLMkpEeXVOMk1JUVkyUm45V0JPQi9qRFJROENGL0FNYkZ4TEhnZXBIcDgzOXVPdkltNFduRWV2ZXlKbFVwRXVrbThNVzQzQitTYjdLbHZlTDlHb01zZktiRnBQYnNRS1pydmw4NXZIbkJNc3ZRb1F3VDRaTzRQTTVRM00xR3J2L3R4WklXZHZ2aTN4NnBneFhtc2RzbHZGa3lyamI2WHVXS2lLVjlRbXcxMG9HZ1hVTmlQZm1yNWhEaHZDV0FCb3ZOVlgvbU4vcWFZUVgvSktxZjkyRVN0T004MzJZeVZuczFEOE1yc25Lc1hWSjFzb29RQ2ZDdHRuQ0ZBT2wySjgrbHdLMUlzREZGakdZT0xwSE9vTG1leHJmN2RmRi85ZUZaYWNaNHZ1TytGcHA2cEo0WVFsdzJCNmdXMVl0WE8rU3BKbkRmZVRFbWRmUlRqclpMcW5rWnRLODduMjRTcTdCd0dwdWVScUY4RFlDcHlWNFdKZHVUYkdTSE9SeU5mbGlkZGNENi9ubUR4VUxEaXZPUG1PVlJXWUxVRHZRbFFmY043QkhOcm5EZVZyOUdCT0s5ZVUya2RIWEMrVjFydGt5dHV4M21ndFpzOHphUXhrSW9SQlgzMVBlLzJYRHdUSGl3ME9VN0VFT2VOVjFOU1p4T2NMNm5xcWRTMjR6eGE0RnVwa2swVXlRM01Ec0NLMy9PaU53SXplSkVTRDRNYmNTUERwWHRBbkUrSFc1Rml0Y1ovcDZGSXFtYWlpeDNud1NkekZpMFRqVWFFWUFCdkxpRkdPNy9qaGVuRU03YWlYb3F6S244azJYZ2V4UGw0T0JVNEZMZEttZXMvQ3F4cU5xclpjUjRXOWFlejBXT01GRFRzNWhuOEdNOGZlS0hqRGVlZHpUeVg1TkNhbkRFdnJpU1ArTVNPV2NCS29uWjZOZTA0ajFZdXg3R3l5QlVTTVFjUXFKYTlCeGRqcnBIR2FHMC9QVDZUWWxJN1B3bWh3ai9uRXp0bUFTdTh3cllLMm5FZVRYRCtteFBRbWRoMUtqL3FQaXpPOWhhY1A0dzVyTUFiM2JORktUbytjVDRhbTVJODRhdlhka3VpYXlacTJuR2VENFg4am5ZbXlvUUxPY1RrM0ZLVjNaRHRkZE5Qc2hOK2FQMndEQXdGOGxTUk9EOE1lT251MGFiTXk0a1o4YkMzNHp5Zm9MOFpMNkgwb2RvNDBLQTcrSzd6SmpiWTRWS09QUnZlV3NDWUh5MGRtd3Z6N0lvUTU2T2hMOG1UZFhBK3g1NWc4VkN3NUh4bkNxc1drY1lYdkRaOW16M0tBV3g0MWN3NStTWGVDWmlpNTJaYS9TZUVUdnlZT0o4WXNxSkZhSUR6dVhkV2k1UnBTODZqRGI2V2QzWmNkbHA3SDA5a3dXL2FGenliWE5YN0p1L2t0RkdMNTJtVUpjNVBmZ1VGRDRFeW5HZFBzSGk1dCtROEdKWDNCRDIzR2ZqOHhxVEtFUkJjNHZQdEYySTI4L3o4cm1zNXdrNmN6eEhjNllqZW5NYmswM1N5RWk4VlM4N2p1SUc4bHpOZ2JzRHYwenRPeTZmdjhXMm4wanlKMlIzRHlHQXJIaFNwUWhIblU4RldwRWpOT1RreEl6YW1scHlIaFN6dlV6UEFLcmtEd21VLzVCbGJaZi9CaldlMFIyQTNYd01OY1Q1MlVTdHFRSlN2SEJkcUZqRFhscHpuSGUrY2M0V3BGSS9wU0tZbXpzWDdSZmV4U2QvaGxrcnhNMDFqOWdoa2xFUlg0bndpdUFvWW1KZVEzUUxxbFo5S2xweDMwREdxNTZjZGwzeW9PK2VkZUR2cFRIMnd5T3EyZVorMW16aWZOYUxUbHNjL1c3d3g3VVJubXA0dDU3dHlwVXh1dVdqcldxVXF0OWZFVHd6bmdNcGVRdnhJQ1VJUzV4T0FWY2lnZUlONU4xc0Z5N2N0NXcvek5Zc0RMUmpoSkdhMTVHOEgrdDJTMGZPNEV1ZnpRSFdhTXRFcXFBSTJ6WFJubDVZdDU3SGtKZGQybEJ2aGxKWFFUVzZQYSt1UlFTNGdFK2R6Z1hXS1F0ZnpOME5QTVRkeGtyTGxQR2JTOGozaUhsWkN0WTRPTmZMTk9Ka3l3dFNTZHcyTTJKT2R4UG5KR0JVN1JOOG9ZTkQwYTVkYUQzK3MyQnJiYW1mTGVjeVo1Mm9YZDR6ZDgzeVNvSjRzdzRneVNCWWpZV2ppZkVMQUNoZThHMWlvK1ZVMnVML0pQbFE0TGJOVXlKcnpHRzRuYlhzVDZROVN5ZGxUck1OanZVU1JIWmp0VlM4aFdjeVlvWW56TVlFcWJEQVVZRzN4V1d5ZDdEbk9SOWk3Q3F0dUJvcFpjNzZSOCt3bVRDeFhSRDc1ZDhVT2t1VVprL3V5eGtnV01XNW80bnhjcElvYXpwVm5wM01GdC8xcHUyclN0cVdvbVF2Vnk1cnpXSDJiNjNkLzF2VmtJUCt1V0dnbW9qMzdPWnZ3Nkd5c2FPeEw4Z1NGNmtpcXVzVDhZNS9PeXRYZThzRmNYYTA1ai9GMnJpdnV0N1d0SHZSWEp2eVlMNkdUMkFJUVU3QU1SdTI4UktLa1YzNm1Tay9xdnN3KzZEa3JpUXVhbEZDR3F6WG5ZY1RMZFNmaXNWNkgwd2l0WGlyallNNTlteVJ4Zmh6OEpYZ1crTXlSNk5vN3ptWlNZM0VKY3FwVXRPYzhTRmxYNHJKMzFMVGhIU21OYnR4ZGE4SG9FdlhEdXNxY3orVWx6a2RoWHhKL0xERFJpN09iOHR2dC9YbGVnbS9QK1VQVEJwTDlpM2IxSzJtR3JmazdQMjZyTEF5QTE3Slh5WlJJbkRmUktLRWJWbDdWTEdCaVNPUmdQZGVEVm1ZTWt6M25ZVTBmYlgyenkxVkxUN1poNUxVL0lyZ3pya2JHYU9Cb0pFYW1Ic1Q1VE9HY3ZqQTBXV3BtNTRJYXhpOExZOTcwOVpsQ2l2YWN4N0tYUEZmaTZSVVQvUENNbldGSVlJSzVOdXluNzZ0NllLQTlNM1VSNXpPRmMvckN0bzI1NW5PcUpKL04xMGcxL1d5YUtkcHpubStDU1RocmJpb3d3WTBhUlZiREdIbU5WaTVqSitDeE5UcmZGVG44akM3WkhaeVFFWHBjVEFRMmphNWdReFVYdk5hUjVxV1krcWZRS2dQT28zZTBueUxsZUZIQStWc2lKTklaWFFtQVZ4WTlza0F0SVN1TWVLa2xEMFdjVDQ1Wm9XSzRCcnZiYXRvWjF2eTlRcW1acFRJWmNCN0ZQa2RtNmI1N04yUjlEWjlkamQ3WDE4ai9OQVRpZkphbGNmcXkwS2JvcWVaTlpjNEQ1NCttcjh5VVVzeUE4NEF0eDFVNTR0eEx3TkZrZzVFeHhQTDN4blhmY3gxMStDK0lPRCtsZ3BwVE1qQVMrVXZ2dVB5cTRqd21lYmR5U25IMllqUGdQRDRzaytQZXRacTAwZUUxakI1VWY3d2JOc2dYc09aYkdmbUpFT2RuWDRadE5NRDcwMlBEcHVvem9yRHQyb2d0ZE53c09IOCt6eTcwcGh6UFB4NWlObGhpTzhhUkdzTkE0MzFlR2ZiTCtwNDRueldpMDVXSHNxdkxpR3R5WG50UFY2UDhVOHVDODZnVTh4dlE5NlhzanBvODFhZ3Nmdy85c2NoT3hpRmpkUjAySHhkeFBoOWNweVcxYjI0RjE1eEhsNTg0UC9ZZHVDR1RhR01qSkhoNFR2VG9zVWJxYlNQUnVsZXdNanB5cHJDamwvQ054TXpLZ3ppZkZaS3prUk13K2JUVTZCR2N2elliaGFhUWFoYnR2SVBLc3BlWHJxdWlQdW1MRDFpWjZWU1FiRGN5YmN6T2o4N3RtZEd6Y0JQbnMwQnhkakphWm5PbExVYkUrVW12QkFWL2QxS1kxTS85ZlE5THJaQm1mZ0VtVjlRM2UrR3lzZDErUC94SmhyN0UrUXpCbkw0bzlCNE53N0MrSWM1UGVoZVZsakorVEFxYS9QbDlYbjN5QjJxSmxDR2hmYzM3NU1XRzRXVTQyOGJNcStHZHJaTTRueTJlVTVhRzEyZU0yM1V4SnM1UGZCRjUwbXVwZFZKM1Bzc0c5UkV0S253YjdYclVUQ29xSXFNS0g0bWNrUWR4UGlNZ3B5dG03ZEtydlFSaHRqZDZpUUhPRzNYQmRIWExQYlZNeHZQNE1ueU95NWErd0pqTFRtK09RbkdXTDcvSGR0bmQwVWZ3QVJ2M1F4OWs2a21jenhUT2FRbHJpNWFpSFpnTTBuWjdtcCtmK0NiUXB1Wm9MbnZEUTRPMzFrTjAyT1lIR1dGTi9hMlFaM3lncnhkVmhnYkl4Sk00bndtTTB4YkN4TkM5R2VnTDBwcWNKTzhoV0Y4bWlXa1J0c1hiZm16ZkQxOGM0QVplcDBVeVk2TVM1OGZDVTlDSGZKc0czM0VKRTk2dW9XS04xdDRhYUV4eW91Z2ZUUXFUOWZNTDNwbEc2SVU5RXlZWnV5UTJ3dnd6OWlQT1p3em9WTVRCUk1jdzU4TUhoajBqd2NBZW0ybVVIaVB0S1RxekdjL3pyOHJsMkxrUHg2UHZwWWdxTzNSalhUOHdVZ3VYa0lFdmNUNERFS2N1Z3JmelR5UFZkbkEycUt0dTBYdmNtN3BXMDBvd0s4NVBaL1FjUU1VOTRyZllTQk42TG9ZcmppME9STW4raGppZlBhWlRrTmp5NXVoZ2h0bzFFK3Q3alQvM3dXdmRNWi9NbFRzcnpxT0xQZVhPMEJseDFuMzR4anFZOXVyVGVGSEUrV21nbkhrYXgrejJnWVBwcGxQODY5OTV0Vmg3SVhvWGh3NWVWbGRXbk1jSldWT1lEVGRSYm9oaGZETzBFOS9OYzArL29RWngzZ0NqUE03bFFRL0sxb1krVjZOUHdUdXZXdnp5NUNtMnBwbHhIdWFRNmZhR21xSmZVUTA3a1E0RHRzdXhNYkFKU0p5M1FXOW1jU3ZOcDNhY3o3R1RRRFBQdjRFc05GcWZkZ3MyVFNReTR6ekdSbGVtcWZqRndUZjgzMmJZeHJwem9ZMS9Edm9SNTNNQWRRb2lZYVI3aEExdURxWGt5Z0hoOW5RTDg1QWFPZDlteG5tc2dSazlsVFpINVJzd3ZjcGZieVNkR252dmlGOHVIc1Q1WEdETlgrZ1RyMkR2MkJ0T3BpdVhibGJuMkd5UGorOW1OUXpIK29hallReHp2SzlKd3VNNjh1NHVzTUZPam1rYm9vbnpCaGlsZDU0VDY3dVdwcktHYzFad1pjZDVUSGFHVHBUbms3TlZ0YkQyTUdURzREaDhuVTRPcWhEbmN3QjFaaUxYaE9GK2VXcmxaeFpaelpEem1LNnJUeTBMaDJyeEhiWkdiUTBsQzF2TXREUWh6ZzloWCs3YnRsK1c1cnBybjJIZjNzSDV0NHFJdWIvNTJyNU1JbVJqM2ZiMGVoekVlZmtlNXVLNjBqckZRUEhUN0gxemtadUlUR3pyWWZGR1JKRFkzcXRURzBVN0s2cHJIN0t4RGhOMTlkaEtwd3pvYXR4U1NxQm9SVVRnQzJ4dy8wUHN5WU1pNnBhVlRsbHlIbWZUUFpxVlhoUGtQSzR0ajloTTgyd3dkRDh6dTJSUXJubEhuRGZSbUNQM0U1ZGExMTh5MTVSSDMxNzlyTnQ1ckdtWWxybTh1cStLR1FidndTSEZXaXYvWmg1N2l0UlBhVUlPUXFBTUNHVEtlZFFnVjZhUzZaV0JUZ1k5ZWI1RlN2L09zdy9vbTd4Y3hQbThrQ1c1ZVNQd2h1ZXBYOTArcmJVWDd0c0xpU0doWWM0S0RtK3N1L0RTblJnaUxJTjhVOEgyUEV0SkZKMFFJQVFtSWxCeHJ4bGhBa2VVRy83a0pBUUlnWGxCNE43QUVBSUhaTTVMeGlnZmhBQWhFSUxBMnUvallLT2VmUENsMThHWTlqZStJVy9wU2dnUUF2T0dBT2JtK0UrTTJRKzltM24rdXRpOHZUL0tEeUdRRklHTDdQb0RWMXVEQXovZWZlekcxUWNlZktTMWxWUU1oU2N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JZ1V3VCtoZmlhZ2hUNnBhRjc2VTlYUW9BUW1BY0VQdHhpN0tmRWQ1TjRmdmo5cTRuMTgvQnFLUStFUUJnQzkzaWZSenZaRTg4cTMvYnVmejBzS1BrUkFvUkErUkc0SUw2SWVDSmErbyt5MCtmdmZPbjMyZVh5WjQxeVFBZ1FBaUVJMU5qZjNWbjZGSWovUGUvaEFydmQ0NDdQblZEdjNnT0UvZ2lCT1VQZ0F2dkhQRWQvQXRKdjRicmtEdXE0NEZlamh0NEhndjRKZ2ZJanNQS0t3VXRrTHRyUCthNWp4azdSc3QvSFhpT2VMSWdITWlCZENRRkNvS3dJTERWWmkwa2JuYnZoWjJNRkRmMFZaNm4xbE14VnBTVmRkQ1VFQ0lGeUkzQWZlNWZ6UjE1UDNuRldiOHU4dEJtNzdad1QzdHl6ZXlRZjBaVVFJQVRLak1CU2krMDR6dmFUWGg2V2Z5Q3p3aHY2cmFxcUFoem4vQlg1aUs2RUFDRlFaZ1NXR1VicXY4RFlIcy9FNFdXVkZUVDBKK3lENnRhNW9Lb0Q3VWN1UW9BUUtCOEN4K3lhVTBHanZzdFYzNzZwTW5BUmZxeXVicDNGcDdXYlhJUUFJVkJhQkpZWU8zTDRRcHhiUEF2ZG5zNUloekcvdys5N0xaSGhYbU5ETGtLZ3ZBaWNaZXpBV1FibnZhNzc4WTdPeVFJOGpWdEhtZkIxRUhJUkFvUkE2UkRvd3p6dmNIcDc3YnpKK1lyTHpQRjh4VitZVjdvTWtzS0VBQ0VRUUtER2Z1ZzRmT3graFh1YmZYc0huZnNUSFpiNjlob0xjaEVDNVVVQXczbmV3S05KNy9GTUdEWThoOC9XR2ZQenE2Z2I2RWNJRUFKbFJ3RFd1OHZJdzVrSGY5TEx5VHEvRWIvSEdScDZQWWhmZUZZK29Dc2hRQWlVRjRGMXhtNGEycHZFYmo2MWlvWitRejd0NzBvWFhRa0JRcUM4Q0hTNTJWNy9WclNoYmdFejlwdHlTeTFDTlBkME1ISVJBb1JBV1JGb3N0T0E2bTVQM3Rhd3J3NFRlV3pmOTdnUURDZEQwWlVRSUFSS2hRQVc0T2tSTzlkOCs3MUMvemN5N3NLSS9yYmZEK2g4WHp5Z0N5RkFDSlFZQVl6WWcxdytjN3JqWldmVjV6cWZ4UE8yMmQ2akIvWWx6aTZwVGdqYzhRaGdNYzZRT2I3akxiRmRjUVhIN3dYcDMvOWJmL3JqUTkyQk94NDRBb0FRS0NrQ01OdGZDYXAraGozMXYvNzBXNHk5UjNqRGpPZjlqb0xCNkk0UUlBUktpVUJiMmVpVSt2d29QTWIrcmJ4ZnVzdTc5MDdKazM1MEpRUUlnYklpVUJYNzVrMzkzL0RnNE9HL05qeGUreUI3dDNsdlBDSW5JVUFJbEF3QnRPRytXYjVrZXBPNmhBQWhrQXFCUlp4dW15b2lSU0lFQ0lGU0lvRFY5dWF4R0tYTUF5bE5DQkFDOFJFNHp4aWRlQlVmTGdwSkNKUWVnYjQ0SHFmMEdiSEt3T3FsMDc5bEpZQWlFd0tsUWVDWTRRRE1PLzIzMnZwM1B6Ym8zZWtvVVA3dkVBUnEvdTc1T3lTM0VkbXNZbmhUZXpUaUlYa1RBdk9GQUticU51WXJSOGx6ODJWV3g3bit4c2M3a291Z0dJUkFXUkRBVkozL0tZdXlLSnlIbmsxdXhWd09uUENiUnpJa2t4QW9BZ0puYUVrT2pnall3cXM0Uy8yZEloUkkwaUYzQkhDcy9TRDNSQXFlUU5kYmlIakdPT3l6NEFxVGVvU0FCUUxZVlhlbmoyTXJMZTgwc0RQK3A3c3NzS1NvaEVBWkVOaG0vUHVVZC9UdnJIOSt3Rm1hczd5amk4R2RrL25ONFZOeTdweXN5NXcyL0U3OWd2OFpIK2xMVjBKZ1RoRm9qcHlTTTZjWmpjNVdoOC9VT2M3NjhORWgwVEhvQ1NGUVlnUmd0cjlXWXZVelVMMGlqSmdOR3M5bmdDYUpLRHdDZkhyKzhzeTFYTGwwK285bXBzU3EyRmZZSmJ2OXpONEJKVHhGQlBqMC9NeVg0UzI2cHkrM0lGeDc4TzRISG5qd2taWTRzZnNjdTNIMWdhdnZqdzBpRHZDL3dYL0JyL25Fams0QkNZRnlJY0MvT3I4M2E1VTNCM3ZPWnZvWlErd1M4bjZDODRmbVRZeXNuV2NEd2ZtZEdLRXBDQ0ZRY2dRd1BUL3pKYWRuK2FjemxnUGZ6RXVHNnBmK0RBdUx2dk5MTWhLbUgwLys1b0c4bTNqdCsrUDROVG91YUNKVUZHQWVFT2lEODdQT1J4VmZ5TUpYcjYrbDF3TldDZU1yMllmc2RpOWMxcysvUHZEejIvVnQvOU5jWis3NGRRcmhtSkh2dkNHQWZ2SEpqUE4wbGowRERTbzJwL1hnVXp1M2RDNmFKejE5WTdxNHdkTDhQZXM5N1BvOWpIUERYL1l3WTVLYkVKZ2JCR3JESDZ1YmZzNjY3SWduMnJLb2UvQXBuc3RLOFRkR2poS1dYSlB4VE16TkhiTWVqOXZ3bTNzbGhoeUV3SHdpQUJMd2ZhUXovQzJKY1hUVFlvd0JxOFNSek1JcWU0MTB4cnNlKzBkOWQrakU3M2g0VWFoeUk3QUd6dk9lOVF4LzU4UVhNbXQrYzV0S0UxZ2w2aUppcFphMERtdDdsVTJGaHZPcG9LZElaVU9BZjNQV0dBblBRdjFOMGNXdVdjd1p3aW9oVmIvM1pFYzZZMTc3WHR3THRQSTJKbDRVck53SVlDQTg0N0pla2VzRG1ycDduaGpUbWpKRVhraSt3bWpkNDN4L2tMU3VTS3dsUlNBRUNvQUFEcmUzV0FDWFJRWXV5R254Vm5LMnF2UVo4M2JBTzg2Uyt4N2xHZGV4d0FjVkZmZjdjY05UT0VLZ3pBZzB3UG1qbVdhZ0ljZlJGcFVQckJLQ3NkMFVuK1JaNUFiN0JZdVJ4VXp4bzhRSmdXUUlkTUg1dldSUk1nNWRaVC93SktLUHY1OVd0SnFlL3lJVzhTYi9WWC9nTERVL2tEd2V4U0FFU29oQUZaeWY2VGdXVk4vMWNFTmJ2WkVXUUZnbFBDR0xyWVRUZEg2Q1p3ZC91L2JrUWRyRUtSNGhVQ29FV3VEOFRCVkdFMzNUVXdDT283U2F3Q3JoMVJlZDUwSWtyTHlvOWRoUGhQZ2JYci9SZXV1T2NVdE9RbUIrRVZnQzVTMld2MlVBekRuWno4Q08xcjIwOHNUMC9PZlVKTDBoNkF3N2ZlbkwyYThaUHVRa0JPNWdCRmJCK2FkbW12OCtHL2pwZy96MXRKcjQwL1BvS2ZSR0pGVGNwdzRjNXhmVHl4NlJTQjZFUUprUndMZm5zMWw2KzJIM01hOTNuUmlNanF4ekRsbjZ0YS9lOUh5bEprMERwaEpmOFhzUG0xZE16MVR1eWgvLzF4OTVXV3MvVlZ5S1JBZ1VCUUUwcnV5WkRKVDVBM2JLVXBuTUhWZHVndDJXRFg0S2RWcDhldjZqeU12b0hIdlZHK0l2MWZ6SmdSU3lWWlFPNUZ2TUp5bzU1Q0FFWm9uQU9rcnhMWHNGM3NoK0hmdmZrNjV6NStuQ2JLOStLYWJXZmRWaGxmaStjNEg5VllodFlwRjVEZnpqR2RSc0xVL1JtL1pva1FSQ1lJWUliS01jMi9kNlY5anRBOGZaVGpObVhsR010eGhrd0NweGE4MTlsMU1iTlFuNFg2SnoyaG5VYlAvOGVYZEQyWjBadmkxS21oQ3dSK0FZcFhqTFdzeXh0M2w5T2MxQk56aUM4NVBmNEw4dldRd3lZUExmUFlZcHNqODZvRC92VDl6MzA2LzNNZEZwV1l3L1REbmtKZ1JtaGdCYXh2U3o0bExyaTJ5QVp0NVpUZE81eHhHY2U1NGNOUGpYcE1Da1YwelB2MmhRNSt0blJ3YjBoLzdLM3NYL2tWUm1hUGlXT0JVNzlDRjVFZ0psUUlDUFVldTJpbmI5d2ZKYW1rWndYZmFXMFZadnBGV2tnVnk4QnBHeGxHOTRzUUhrdjcyWFZ1NXdQQmdmMHRnc2hzWFFQU0V3T3dUNGtoenJFU29PbVR2eXNoQTJQUzd5dHVMeWxBSy9VMjlrdkM0ckNyVFZua2M0R0pIeHZlQmR5Y1hhU0EzR2ovSm1iNjJIUzAzcWk3Nkl2ZmsvYWFJVW5oRElFZ0hQZ21ZcjhIRzlHWFkvU2haYThaSGZFUStNSTJyOU9QMlJKdHIzOS84ajQzdVBxMHpzZlI4ZDBQczJ3a0hxTG9TcEJLWUcwbzgvQW9Mb2hoQ1lGUUw4SXpiRHZlSEV1dFRrSU5xTm5nSlllL25WNGQ4N0RuaEtmYm54ZlhOc3R6a3l2cWV0TnozUFhhZ2FmdWo1Nkw5TnI2N3hPeFhhTjUwTHF4bTIwc1drV0lSQVFSRGdQVi9icGJkb1NiZjg3RFJUVElodFM1SzY2WnRRYjNyZVV3R3UweUZvVjduSmdyRVBEbm1udWoyVSs0RlN4YVpJaEVBQkVJQ0ZhMnp6R2tmRng5VkF2SmxpNFV0YnhBRmJqK0trRmhZRzAvUFBDditxbkFiUTRSWi9sTE5lSEtPanZkTzQyaXFyYVdKVEhFS2dBQWowd1FiYnBiZFZPU0ozbWlucWoyMWhGYnNnYlhrcFVFR1Avb3FJMXRCT0xXanBVL2l5bGI1TjcrcGtJeWE5QWhTVEVMQkZvQXZPeXlZeXBTeDA3V1d0NGZwejRZa0U5VVg2NnlucUM1a1FUUDc3d2gweW9PZFBQcGZOSVFFdVRjOExuT2xTV2dUUUZVNC9qUFp6RGNKZEZ2bDNVL1NnRDRVTjRGZzExY25CUk9PK0oySU5EZWpYbW0vekhtQmlQYm5Za1JnMFBUOENDWG1VRGdFWG5KZU1UYWw4VjArSnA3RUhydnVjQjUxNktSVndIS2h3SUNOM05QL2gxWkFXeXVxd2FVK0dUM0pGbDRhbTU1TUFSbUdMaHdDWVpySDZ6YytQWG9JT2FjbDN4aTM3ZmZzTEtZWUZDcytxWWF3L0RBem9xMUtqcXUzc0JFK01wdWNWNU9Rb0t3TGVaMXBsdHpoZEptQXpseVp4ckh3VjYyc1NpTHJvTjUzaUUvQUpJaHBCVzdJMWh4OTRhU3lQZGVWTlM5b2NqR2lKblRROW54Z3lpbEEwQlBpU25IRXJYbVBvQ3g3SS9pNjZ2c25iK1NXZmxTNy9BbjNLSDhid2VpRU9PaHRHTjk0VnhyMkxjZ2xCeWlUOGFPaERIRmtKb01pRXdLd1I0Qit1c2pSdXRabS9XUlZaUVEyU29nZGQ0M0hPc3ZlbXh3TEg0Qmx6RDY0NVd1bTh4eGZiOXpiK3BVL0NqNG04OW14bFVIeENZS1lJcklQeVJxdVlSaGRRN0VqRVF3MGl1L2tKSkRXNC9hMlR2cG12L090anhwNzd2NktiVVBrTXN2VGtQNVhwOTMyRlZsZ21INnlBZlZBS3Bpc2hVRTRFR3B3Z1ZxcGpESy9hUHRRZ3p4bkNLdi96NWV5eEZ4Z2U0YzZMbURqNE12T24xSUloM3ZTaTF2V1BCYjFHNzd4OWMxQ0MxYjFuTmU3VUt3WlcyUy9EZTdHVytGTzF3WVJXTHJYdXJ6czR1aTlnci9qYUM5M0JtM3ZCa0hSSENCUWJnUzdvWWRJMHViYm96NnNWYmcxelhPMnMxUmk3eXRnN0o4cnNEaTZGS1ZINWNmUkJKc2MveDI1Y2ZlQ0JxemNHUFMraDV1RDZ1eDk4cEtWR0N2ZXdrNWUrakExdVR0UmlYSUFuV3V3NlR2K0NxY0FFNjdQUXoyV253QmFZUmdBQURsMUpSRUZVOVhFeDZSa2hVREFFMEZtVmUrSlNhb1lWT2FxajBOWHRLNlJ0c2xjZU9FdWZubndReHRJbkJtOGZOZUJWT3V6Mi8zYVdqc1ZIYmxLcTV6aWZlVm5yc1ovcXBZN09JOEplOE4rZFJmZTl4b3BEK0o1aHQvK0w0L3dyTjhWd3hrb2Jpa3dJMkNEZ2d2T0crU3VGcUw3UnRxTUcwY0srekh6ejJiSFpOQ1pJWUpPZDlCQzg0ajZUSUZJdVFYRnNQcy9Ld2dtbUFXK3BGQ3JOMHg2L3Vhak1HZW9ST1FpQjRpSUF5bHN1dlRWNTNqU1h3elJQL0xaN1ZTK1JTNExEbDZWcHNHKzl2VDlKc21GaDd4VW5ETGlmTnRjc0xrc1RSRmZYYzJHeHlZOFFLQklDM3BLY1hTdU5XbnFxemtFRnNpV0ZuVlViMXB0SDBpL0JkYkVscDl6UFdxNGZTSkJvZUZDQXRPczkyVWIramxTWXFwejlXMDdaa1ZHU3lFRUlKRUxnNjYrUCtxbjVxbWg1R0tpYWs5blJBU09mOEZwalF6emxKdnliTXVTMnBNZGRxZGJ6ZzE5N3ZxaUwwaUVsVC92YVoySWVFYXVQMUJTRnN5ak5lV2RhQVZ2K3RMV2o5TzQ0QkNwb1o2TitSeFBSOEpia0NHNU5EQndhZ0Mva3UvL3YrTDhYd2QyVG9acWlTNDhrZHFWZi9DdXFEMmthVzVreDU2R0srQjRXcnlGVkZzUTJBY2VwMlo4dHBvU1NneENZaklEWE80OGcvZVdKMFdGMHQxeDZxMmJIaFE0eXlUVzUxQWNOOXBiMGpIKzlUOWNVRjFrOWZyd2NRdW8xOW1DL2J0TDdZdXN2WG9DYXQ4Z2hkUkpKQ0l3Z2NIY0U0VEYzWEI4SlBPeHh5Q01QZXlhNlh3OG1yK3h0RnlROU5vMytmbnpKNkwzMFJPZ0ZPd1hqcHhrUkVrZmpIUGlQQXRQekhURmtRVWZIMk5JVElZTzhDWUdpSUlCRzJMSm4yamVXcVVDYTdKQTc1NlRjdG16d2srUVpSRktOWjBPNWtraklMQ3phY1prcE9QVzhvU3VHTEppenY1SlpZaVNJRU1nYmdXTndQc1d1R0VPdHJzRUROT2x5aDUyekxzY01aMjU4MGdnZTA5a3dKRFUxejJMR3pqUVloajh5VTZpSmJpblp5dnV1OTR0dWdIcEVEa0tndUFqVW1HM1B0R3J3d0RXYVBIQitOMzIrb1plTS9VV3hHVGE5TUx1WXFCWXZDd213WFVpbmczbEpOWTZ4UzRCaUV3TFRSS0FGenRzMW8rRDVydEFZdzEwNVArYzRhQjRIMzAyYkZUN3BkK1JIWHB6MVRCZ2cyaFA1UUQwbXRJSUgvRDlFRGJ4QWhpNmxRWUN6MU9pdXB0RWJBalpFUEJ5WW81ZlBlUGI4TjlmVGlQUStSaU5tK3A1d2xmaDBvbXhqOFV4SkdkdmFzT2pnV0crMDlNK1hqK2hLQ0pRREFXK2liOWRHVjV4UW82YlNjTXEwN3U1NnEzMFlTN2ZURkEwcUpGVysvbk9mWU95bmJkU3pqNHVaT3BXcFRVMS94emxHenZIc0JmWkprQVJDWUhvSWVNVGN0MG1QMXhxeWg0dnV2SjYxa211RlR1b3B4S05CRmIvYmY1MGllcFpSK3NhOFJGUE9QL0lFOFBFZTc4ZTM1OU9QRUNnTEFtaVpVODJlNi94aHBtb2c3MEFQWTdlSjVHMmF4ZWdkTEM2NGV2VXRMLzY5L3lSbHoreDZyT3p6M0d3blorMmdqdGRINHZnZHpVdzNTcGdRU0l3QVgwQ3UxcjRranMwallMaXJscWFCcWZ0YUNEYkorRDg1M05lUEpycWF0bGFHaVNuRURnQlZyb25BWUxsWWhPdDUzQ3Z5WjlRRHNhVlNRRUpnUmdnYzhtSnJsVFpHQjZyTWcrU3ltODlsWGhTa04za1NNeTNFM0kwWk5PZGczTXE1SmRJSVRNL0Q3OXNjUGZ6cTRqbGRDSUhpSTdDTkVtdDNBcWF4OGhUTllIQjV6d29zY09rU1FLejlZcURIZS9BM2hTcVlpdGdOYVBXZlhUdzExaVFFSHRJTklWQkVCSTVSWW9NOFRhb2xPQy9iY1JnSDVJSTFLZVV2N3VLY3FNdmJ1RmZldUVxaXhZMlRVemcrVmRjVHNnLzF0S1R3cWJ5VzkyVWtBRG1wUUdJSmdTRUUxcUsyejc5Kzh2NzVLa3FzTnJVUENZNTFpNzY5SkRvb3NUVVM1M1ZJWVgvRWQ0SUhud0RzVFFnenBjZDhaa01taFY1UlhicmxkYkZtVzJ0S1NYUWxCR0lpSU9mRVVEWkhma2VUWkxpSThzeWtRR09mZ3hPM1JJQk5ZMFdPam9PdXhHVjlGOC9GT1I4dlpPNmhjQUplK1BTOFRCa0FLQ09tOUtNcklaQW5BbXJLQ0R3Wi9rMGtHNDhnS1p0T1NjelZTUUhtTitPY1A1ZmkwT1BmbGU2NFYvVHQxUVJnM0RnNWhZUDZhdkRUOU9pLytQZDVVbXM5bVdCVlZ3clNpNjZFUUs0STNEM01kSFYvV3ArUU1GL1dicmtSRkNJRTU5SGdYVlBwZGRWbll4QmdZdFdqb2ttSHJXVlJ5ckcvb3AyWEN3eFFFL0VwaW1YZU1WcGxnNTRRM3FkMlhpQkJseElnd0ExVXlVZmJnWXlCQ0lMeldJVlhsNC9BZjlVakhqRjh5VUJqcnE2T1BpYlVOQjRaOHhMbzBuQnIzU0hQTDBZc3V5TDVkVDFaS1h6b1FnZ1VGZ0UwWXRZRzhwYmsvTEh1QkRzTnlKVzVOcW9DNlRYeDJnbk1JQzdOY0hrcmFpOXBsaGVIMjdmUmJlRUdCMUhWNGFBQUdXQml0aWdBSVRCckJMeTliejA3TFdyc1dVOEFHdndQS2tsZDNUbGZTak0wUjN3bHkzRytJbnZYaHQrMG5CaWFTQ01uT2pLN1NMWjY1SzArVkdPaWhqR2ttWlpXbEE0aGtCS0JkVFJYSnJuU2lEa1djM1V3ZHRWVi9JNGVCYStvOGJCNk90bHhhSzdvcTdoWEpzZklMWVQrU2c4eXRZOWtXanVPd3p0SVJ5TEp0bklKRDdvUUFzVkZvSUdpcThiZEtkVnNpSGF3YjNLN3FvZTd5MGJ6SHpzSmNLcXVBbjk1QUpiTjdGZVZDeGk0OGVNSVcydjRqQUlxT0lWYmMzQXdNK1VvWVVJZ0lRSnRGR08xV2o1aFhCbDgyZWNFbGdsc1NTLytkY3BmbFRkdGRjcU05SWx4eFhoNVN3WmJjeCtWemxsYysvSXdUZzdXVGRDZEEzYUduUjRKWlZiWUQyZWhGcVZKQ0tSQ1lCUEYyTGJFcnZoVFZRdUJHYXUrWEpzSGE1ZWEzazZpNHJHd0VpQk9WM3oyTGtuMERNUEM1dUZKVzJUL3h6c2s2NUJuYlUyZkI5U3duUGpJVUZVU1JRaE1SQUJkY00ydGlhRWpBalE5VG5SMHc0eHdDNHFubjA5SGlXWFp1am8vazA1QWhMTEp2ZEhsMk9PeHVzL0JuSWQyZnZNeXY2dTlqZi9qdDlaS1ZhZjVrZW1mRUpnMkFpNDRmODAyMFQ0ZjVWNElqaEVxN2p0OXNWOE4rc2RPcTlJVXgrRDlodmlnZGV5WW1RZHNld2FKcytCN0RmV2FhT0cvSXRZN1ZUb3pQcTR2OCt5U3dQbEdBSlJQc1VodUNKTkZET2dYM1lIWEdLcEhYMlJ2NytGQXV3K3pFMXpTL0JiWVNkMXgvdC9kN04rbmlaMWxuQlVHZnIraGhVcnNLNWlKLytoem51eEs3ZVE3Y1B4bGxmMUtsbW1STEVJZ1h3VFFXZFZUVHVtVHVvZGRaK3lUUS9GL2s3SHJqMkQ3U2JBcUdBbzA3dllqRU5CaTdDZkdoWm5PczE5Z3pQVW1KU28xZGtOT3pLMDAyZUFxOUh2bGRIU2dWQWlCVEJEd2x0N1c3VVY5eW4zNEQwZWt2T2xTYS9DVzN4bnhqdS94bVFmWnUvOUJMMzc0L0VMKzJVT0RWeDl3OFlzZlAvMTdNcG1sYnozQ0hudFY2aXBOaXFFcklUQk5CTHlsdDlOTWtOSWlCQWlCbVNMQVB6NXZkekxXVE5XbnhBa0JRaUFoQWxoQW5tNzJQR0U2Rkp3UUlBU0tnY0FoT1A5ME1WUWhMUWdCUW1BS0NHeUQ4M0xUMkJTU295UUlBVUpneGdnY2cvTzNacXdESlU4SUVBTFRRNkFLenU5T0x6bEtpUkFnQkdhTWdBdk9iOHhZQjBxZUVDQUVwb2NBS0c5c1U1OWV1cFFTSVVBSXpBUUJmcWhiNEFOek05R0NFaVVFQ0lGcElZQnpYR2xKenJUQXBuUUlnUUlnZ0dPY2FVbE9BZDREcVVBSVRBc0J2dlRXOXBTY2FlbEs2UkFDaElBOUFuenByVHJEeWw0Y1NTQUVDSUdDSTdBT3psOHJ1STZrSGlGQUNHU0hRQitjMzhwT0hFa2lCQWlCZ2lQUUJlZHZGbHhIVW84UUlBU3lRNkFEenZleUUwZVNDQUZDb09BSU5NSDVncXRJNmhFQ2hFQ0dDTFJ3UkdXRzRrZ1VJVUFJRkJzQmZFaldPODIxMkZxU2RvUUFJWkFWQW92Z1BIMDVQU3MwU1E0aFVId0VMb0x6ZEdKRzhkOFRhVWdJWklVQXZxZE1KMlprQlNiSklRUktnTUE1Y0o1T3pDakJpeUlWQ1lHTUVGZ0g1L2N5a2tWaUNBRkNvUGdJTk1ENWcrS3JTUm9TQW9SQVJnaTA2Y1NNakpBa01ZUkFPUkRZcEJNenl2R2lTRXRDSUNNRXNQU1dUc3pJQ0VzU1F3aVVBUUVNNTU4dGc1NmtJeUZBQ0dTQ0FELzFkamNUU1NTRUVDQUV5b0RBS2poUDAvTmxlRk9rSXlHUURRSVh3UGw2TnFKSUNpRkFDSlFBZ1dWd3ZnUnFrb3FFQUNHUUVRSllobmRpaVByYXBkYkRIelB1eVVrSUVBSnpoa0Nmc2UvcExIMlZEZTV2c2c5cEQzSVJBb1RBbkNIUU5YZlBMN1pPc1BUK0kreGRjNVpKeWc0aFFBZ29CRHJtN3ZsdDM0UmZwVE14RlQ3a0lBVG1EUUdYc2NzeVQwdml1M1ZuMmFQU2k2NkVBQ0V3WndqQWJIOGtzN1RNUHVnNUt3R3pubnhLVjBLQUVKZ0RCTmJBK1o3TWgramFPODRtVGRsTFRPaEtDTXdaQXZ3MFBKV2xKdHZ4M1gxYWpxdEFJUWNoTUY4STREUThkYmc5VHNBVm1WdW5rM0RuNnpWVGJnZ0JoUUJPdzN0YTNseFF3L2hsWWN5VFQraEtDQkFDODRMQW9iR1Q5aHg3VW1UckxEdWRsd3hTUGdnQlFpQ0F3TGF4azdhaFZ1Umg0NDBZMlFjQzB3MGhRQWlVSG9GTlk2cXVyYjVoQmNzZTF1UFJqeEFnQk9ZUEFkZG8wVGZWMEI2Y1A1cS92RktPQ0FGQ3dNRUhLdlhJdmFvNGo0TTB0Z2dkUW9BUW1FTUVWc3hEYjV2cU1FeHdmbmNPYzB0WklnUUlBUmpybmxFb3VDYm5yeWh2Y2hBQ2hNRDhJSENlTVUxdXpYazAvOXA3Zm5KTE9TRUVDQUdjbUhGVG9kQlNxKy9BK1d2S214eUVBQ0V3UHdoZzkveUJ5bzArUFlNNHIwQWhCeUV3WHdpMDFOSTc1SXM0UDE4dmwzSkRDSXdpZ0YwMTM5ZStMV1hEbzNaZW8wSXVRbUNlRUlEWjNyRFZCVGh2K005VGppa3ZoTUNkaWNEYXBWZDdHWWZaZms4am9PMzJORCt2VVNFWElUQVBDTFRGT3J1MjJqM0xjMFZyY3ViaDNWSWVDSUV3QkpnWXh6Zk40YnhUbzdXM1lXQ1JIeUZRZmdUNElYajhReFl3NGUwYXVRbnNzZGt3SHBDVEVDQUV5bzBBelBMZVFUajRWbDNQeUVsWDdaOC9FeGpuRzBISVNRZ1FBbVZFZ0xmei9FU3N0aUs1bDR1K09oR0x6c3dvNDJzbG5RbUJhQVJhM2h4ZHBSWG8yanZuMVhHWUMyd1FIWm1lRUFLRVFPa1FPR2EzRHh4bmdaM2lYLy8wS1hqblZZdXZuNUtMRUNBRXlvdkE4cUFINVd0RG42akNNRjlraWM2Nkx1KzdKYzBKZ1RBRUtzMm5kcHpQc1pOQU0rODRydng4emJhNVBDOU1BUGtSQW9SQXVSQ0FZZjRSTnJnNXBIU1g3ZnMrVlhONTNsQWd1aVVFQ0lFeUl2REVLOWc3OW9ZVlA4ZWU5YnlXakVQeWhzUFFQU0ZBQ013UEFtdkNjTDlzSEpnMVA3bWpuQkFDaE1BSUFtMy91RnZxMm84Z1F4NkV3SHdpc05JNlJZZi8wK3g5ODVrOXloVWhRQWdNSS9BRk5yai9JZmJra0QxL09CVGRFd0tFd053ZzhNU2wxdldYRU9YbjVuMFdMQ1AvSDVGVjlnMXBYN3AxQUFBQUFFbEZUa1N1UW1DQyIKfQo="/>
    </extobj>
    <extobj name="334E55B0-647D-440b-865C-3EC943EB4CBC-90">
      <extobjdata type="334E55B0-647D-440b-865C-3EC943EB4CBC" data="ewoJIkltZ1NldHRpbmdKc29uIiA6ICJ7XCJkcGlcIjpcIjYwMFwiLFwiZm9ybWF0XCI6XCJQTkdcIixcInRyYW5zcGFyZW50XCI6dHJ1ZSxcImF1dG9cIjpmYWxzZX0iLAoJIkxhdGV4IiA6ICJYRnNnWEdKbFoybHVlMkZzYVdkdVpXUjlDblVtUFV0elhuc3RYSFJvWlhSaGZWeGNDbk5lZXkxY2RHaGxkR0Y5SmoxY1puSmhZM3QxZlh0TGZWeGNDbk1tUFZ4c1pXWjBLRnhtY21GamUwdDllM1Y5WEhKcFoyaDBLVjU3TVM5Y2RHaGxkR0Y5WEZ3S0pqMUxYbnN4TDF4MGFHVjBZWDExWG5zdE1TOWNkR2hsZEdGOVhGd0tYR1p5WVdON1pITjllMlIxZlFvbVBTMWNabkpoWTNzeGZYdGNkR2hsZEdGOVMxNTdNUzljZEdobGRHRjlkVjU3TFRFdlhIUm9aWFJoTFRGOVhGd0taSE1tUFMxY1puSmhZM3N4Zlh0Y2RHaGxkR0Y5UzE1N01TOWNkR2hsZEdGOUNuVmVleTB4TDF4MGFHVjBZUzB4ZlZ3c1pIVUtYR1Z1Wkh0aGJHbG5ibVZrZlNCY1hRPT0iLAoJIkxhdGV4SW1nQmFzZTY0IiA6ICJpVkJPUncwS0dnb0FBQUFOU1VoRVVnQUFBNllBQUFRWEJBTUFBQUFlbld1R0FBQUFNRkJNVkVYLy8vOEFBQUFBQUFBQUFBQUFBQUFBQUFBQUFBQUFBQUFBQUFBQUFBQUFBQUFBQUFBQUFBQUFBQUFBQUFBQUFBQXYzYUI3QUFBQUQzUlNUbE1BWnJ2dnEwUXl6UkNaSWxUZGlYYjVwYUx4QUFBQUNYQklXWE1BQUE3RUFBQU94QUdWS3c0YkFBQWdBRWxFUVZSNEFlMjlYWXdreDNVbW1qMHozVjNkUGRNOW9QYkJGQVJVRzZJZ1dTSmNzeHFMbEgwSlowT1VyUjhUcklabStYQjVMVmRCaE5kcjR3TFZzR1NURDVTcVRIcEZXaGJVc3hjQ1RHc2xWZnZCOW92TWJzQUMxZ1lNMTJDSGttaGhzTldDYkFGYXJGQUZTRERrQjZGR1U3UjZoaW94N29tTWlJekl6TWoveUt5L2t3OVZrUkVuempueG5ZekljeUlpTXkxcjRZNnR4eVp2VzdoR0xYZURWdnVUQjhuZWNtT3dhSzBmakUrc3daMUZhOVZTdCtjQ2VkV3kxc25scFFaaHdScGZuM1FzYTR0Y1diQm1MWE56THBDZlFQTXI1TWZMRE1LQ3RiMUtoclJGOXRtQ3RXdUptN05KSms3cjIyU0pRVml3cGw4ay8rNjBxRWFhQzlheTVXM09nQnh3bTU0c0x3aUwxZklLSWN5V2JYWmJYYXpXTFdkck52anQxTExKNlhJaXNIaXRQaVp2c0VZUm5CMWNGT3ZXeWV0T1UyQU12cjRvYlZyeWRvQXBEeHdJMWdpT3ZRdHlMV3dUUHM4TGllR0N0R25abTNHUmtDTUhnd3ZDLzExMlJPYS8vUzB5Wm8wQTQrN1BmM1Btc3dXVlBybDY2eHRQUC8zc3phdmtIbS9DTmhrL2NndHlNb3llWGNIa2tKRE9mQ0l5LzFxdkVubUlaZXgxa1pYZWMrMlRuekpNR3FMRHpqOUU4OWVDSDMzKzdZNEp6eDc0MHB1NTlxdVBPam1UeHp0cG13TnVyM3U4bHJZeTBodEU0QnpZNFkyT3lyQUxPZS95NUtpbDRla3QxNklFMTAvRFlTcWhCSHhVMzZSUGxaQVBaeEY4aVpDWFhxVEhaNGl6TXA2RkI5WXhnUUQ0cUQ0bnRVYmVtWWt4M0lsUG5JclFZYTlrNG9DVnpDQUFQcXAzQVhzNzY4QzVvNFNucDJhVVF5NlpFT2dSSWx4ZVZuOXdweFBKYUtzUFY0SDNtQnpSR2p2QzJ6MHZqQnZKQndzTFE2QUxMcExLL0VMY1BrNTZBL1lmUThyaFVGd2NMWUxia1ZSSVMwOURyMlA3VFpqa3pmNDNZMVJZZS9DVy8zaWxRK3UweU0vb24yVU5zbzdlckRyKzVrU0FCcFczRlI2OTdKRmxRMHc1OU5GRlVoQXRQMG1EeWdNcDlsTGN5Q3RKQTZrZWoyQTJjVlVtZ0UycEdSdGdVK21rVnRvUFpaZmVJR3hGZkVQNFN0bFpZYzA4Q0hqRDAyc3hQbStrcEJhNTY1VHY0TzAwRXFmQ0N6M2g2YmJTWmROTFB1UTM1aEc1a2I0eTFqQ0hRSU1vZ1VmOVBYa1k3ekNiZ3RmVnpNTUc2K1pGWUVCRUJHSlpYMkZ6QjFsWnJyT3hkOE1iNzJibGh2VXlJOUNXNGVtV2J5NC9MYzl0NWlPMVZEODZMUStrejQrQUdwNTJjejVndU1sOG8vNmtrMTh2NUpBZEFiclRnWWVuTDR5YjJmazROV3QwLzR2em9IaE9Sc3RUZmVXdDQxOHozVnBZOCtTKzdxcjlqbERtbGYvd0lIbjRPNkhGb3VDWTdrTHFZamNWZU1UL3I3WEh0cnpqcmRqUHhGZUpwNkM3ai9ZZHNoR2ZyTlhVV2FzUmNvdVFyMm1LUEZuYlpOZDZnUmpSeThOM2NVOGE5NDVXeE1ZOHkrckpaSjRtNzRCTm5mclBSY3pSRHVoV2xzMjN4QWV2MWZGajZQU21NTWNhM1VRZ1E3ODJ5VDdacmtodDhQQjByZTlablZFb0xPaDZYM2ZPUjU0MU9ROEpQOW44NHZoVEhWMEI1bWtSZUo1NnBYMFkzWndEL05XY1hpcmpNK0RoYWRXL01zNktuZC8yV2NmNVg4Rk51d29xSnBMMVhlRGlidlNCNVpTZm1PRGFadUVwbmNrblIzcUdGOGg3ZVVGN3FLZkEzR3dJckZISVlSWHJMcXNPUnJnZFlQVHBKOEtPSndPMFBBTk1DWHcyMjJEYnNNY0xHMlRJaUw4dEJva3dacGlmRG9GejFDMkYzc2t0Q2NzcEIzNEdGUnNNRTNJTS9jVHNuSWVuMSs3UmpocThTQnlpTmg5eVlTTndRS1NlSytZbVE2QkZPeWdnZjRXUnczTEtxYitpK3FTRTM3UzdmbUoyenNKVFdBaUhFU0RFWTEwVHovTTMvUHVBOVN3eE56RUMzVjBnaFExNTlBK09uZ2dyMlNuN1pVOUYrTTFKenlmN0twMU1PK0ZwcFFZTDRSQ0NzbGNieVVLVzJoQTd4d2JpNlZJL0JaNW5STURaRHQwUXU2SmhHNWQzVTI1R3JrNTQraFJkQ0FmV3ZxM2JuT1ZGc1JiWEN6RjZSdEZZYmMweFlkMjFaRnNnblE4YXNPVFppak9LMC8wT3V6cG1ZUFlqSi8vUzFaZDA1WmlYRllGTGRIb2NRaG5uejBtRlQrV2xrREVBam5YbkFjTVZzT25ydXBwZ1UzU05kTURremx1bGo3Q0EyOHUzNG9JN3BHN0t6Y3krRFpia0MrR1FFaGVNaHgzY3c4Yy85T1RnaVVFRVlBYzhkM3ZCWCtXQmFqNzJZRWl4TE5DRlpFZkRqYnBSNUpNaFBwYUdIck5TSVFERDRIVldBWUEyTVNEUzZPY05yc0l4cEljYWRlQWRLdlQ0WkZOVGhsbTVFZWk1cmlsWTl6UTNPOHVTcTZlV1JaOHR2cUxoS1dZeXp2WTFoWmlWRjRHYXV4bTY0Vm8zRjArNWVtcFp0TTg2M3BLZkk4aHlEdEdoL2VWNG5nTUJXSXNSWHN6QURXcHk4S05QRnlwOCtpRkxNNnUyWTFJekkwTXVkUmV3TW9RYllpM0dZSGpxQWxVRjB4MjVaMHBpbXh2VmlLZXQ4TVdrYzhjVE56eGxVMjRlWkFZcUg5cHByMnU1YlgwUmlzTG1EclUxTURNaEFnQTZ4OXhnZUNvN0gxMmFDUXVRL3V1M3FWSFJTMHBvcWVSa0xYZTJGL3pWMjVwNmEySExwMCtFckorQ25TU2Y4S1VaS3VvalFNdXZLSTFrek1xSXdNaWRGTkNIcHlMcW9GM0tmd3gxTXVHVnJHcVlXNE1aSXgwWnl3UHB1K0dsV0pJTmdacTdNTExEbk5CLzgvS2gwVWpZc2VzbFpXZDBPdUZVRmpUZzlFU2VzdFIvRmhrd2lYVWcwdmh2Q29HK3UxVVEwTitIcnkzNWUxWGE5Vk02elFCOHhFR1hadnhtcXhKWVczVU82TlM3UElsL3hoQ3czU2ZRMkNpODVYMEhUbm81ME4zVlZWaTZOQ09DSmM0TWVyTDdDaFZQbjA0dkRHdm9FSkRiUDlrb3ZKRjNacWVsV0l3S0JKdUtTUTB1LzFpeHVxZFA2L1REdlBRSXlMazc0b3pDRjMyZEtqVkg2TzZlVmRndVdMRGo0VktWVWVsbWxBUGxxWVFueVJHd3hab3ByS1BTTG5wOEpYbGRMV1hOdHdwTGUrWFFRd2xXRm9QQmxwdnlVT0JKTGdUYVlvNGRuQms2Mno3WXk4WE9HV3M5a3d4MFN0OTduZFNsMTdUdWJ0M09LUldyS3dnTVJFOEJwT213YXlzK3EwS1dPRWxqbnhzcU5ZMXR2RTlzRE1qL0VnUzlZSndqaXZBL013SXR2aXR6WldMVFNieFZmeWlUbG5IZ3piMTBPWFhjVWRtMDNDMUttMzczU1NYRGRGWUVJSnpzMExyVjEwZDBPOWk2dU5ObDVGY1orZnRwRHpLSTUzV0Q1L2pqVDViMUZNNE1ac1E1c2hwTXlPNEJ3Y2E0ZVVpSHlOR05TT3Jvd3BlLysvNDJ0U0I1NEVQZjRwVDM4eW1MVjc0c3ExYjYvRUhpUC9GNnlKSUNVL2tRZUlxOGRtUjl6djRWMkpNdzZXem5lZ3NSTTZoalZjNkh6amp3UTdsUFAwYysxWVFacTYrU00vakR3endDbFRvWjl4MUg2UnFaaU1BbW01Z3V1UXBma1huNjJWdFh4VVRSRmhuVGI4M2N1bXBQT2dyUC8wSElJemRoQjhTSmtvZEpnd2hzL3VEajQxL3NVSWIzOWYvSithZnBZbytYSDdQSHYvL2ZpNVdCM0JF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S2FGd0gzMkx5bGZsWm1XRmlqWElBSy9RNjY2SDdhMnJEZTVYL1F5S0FKWmxZdkFLdm1DVlhVL3lBYWZWNzFlcm55VVpoNkJGbnhPZGNmOWxqaDhCblhQdkF6a1dDb0NGZnV5WlYza1grSzByRU5DNEJ5UHVVYmd3aDFRZjhmOVhuaVA1UHE4MzF4RHNUREtPMSt1UFhhL0Q5OGxaR0dhdHJRTnFaMUMwNkYzY2dENjRsT0xTd3ZJL0RkOHpmbjhjVmVNdlJXQzM2K2RlNk51ME51cFpRc2ZDVUtaZjUvN05pMTdBM1lna29GUEh4UDZCd2Q4S2Y0MlMrSHYzQ0xRb2lhODRGb1N3dE9EdVcwTEtzNFFHRnlIL3gxMzhnaFNwd2pObkNQd2tTTm9BTGk5KzZ3ZERUYzE1KzFhZXZYaDgvTWNnNEVicUM0OUtITU9BQ0gzZUF2YUdKN091UzI1K2tvQWcrSHBZcGpVT2tmSUZkWVVDR293UEMzZnFsdVBUZDVtV0Nxc3hWRHZGdzRNVHhrTzVmNnU5aWNQbWw3aHJMcHJNUmllbG10TkptMHdQckVHem55ZU9lazExKzNGOE5RY3FvazVYU0N2V3RhNjRXVnI2ZlppZUpyWUV1WUk2NU9PWlcwSmw4WU0zelYzdHRlQzhOUU1UK1NTR0lFTHpyNmhDdmx4NGhvSkNMY0p1Y3ZKTUR4TmdKZGhraW9aVW83Mm1VbStFTXJjNFB4WWVMck52V0NUUXBCWENBS2JaT0tVdEkyT2tCZmRyWUk4UEQzazBXcUlGcGh0RW9HTGZFYWdablFmMkhsM0xZYVB3cjFkazBvanIwZ0VCbnh4czBaT0l1blNGVUlBYzVuVjRLTndkNWlPQVZKblJ3QTJDekZidHRsdE5Uc25UMDJ3S2I5RUlMVUhSZjJtcHh4UENrUmdnOTlPWWZ2UXFVRXhNUGJ1TTNZOVFpK1dUYkh3WmxBR3NncEI0Smk4d1VwY3B5YUVNRjAyVEFqeWZ0cDNVcGRlUzFjZnFYTWdVQ2V2TzdWaERMNmVnNDIvS2t6Y0Q1MDgySlpFbmEvenVEVGpoNml3Y3pEbGdjTWNKbjVPRFVvQmRyc091K3BOWjVkRDQ0cEI1c2dxRWdHSU5DNDdCSkFZUmxLbUxLeVJ1N1RHQ25tWmtDUExhZy9wR1I1bElBQnpBMGVPSEJnalQwd0tQR2FQRkhjZmdwSGdzclhONWpWTUNrQmVZUWkweEpJWUdIYy9qQ2hML3BwTlBteFZ2ajgrc2hxdzdEUDZTUlllV0NjVEFsMnhFK3pROU9hK1B5YmtFV2M4WDdWSjMrejFrcW1seTFPcEx4NkFhSWdPYTZ6dEwzL0FmdmNQS2JlVkJ5Y3ZHZU9Lak9JUWdKdWRlMkFFR1lmV2ZKVERqazMzTUxwK09oL05YMGd0WVdyZ3BSZnA4Um5pdmxGaklSdTZSSTF5cC9DZ3crS3N3R0lZSGhaTmpweVdRSGg2dWhoTldwWldiTUZFdXUrWU9MWjAzNDBDNnloT3hySWdNdi90cEJQcC9tTkltM1VvbnM5djRYTktjMmJtdFFkditZOVhPclFOTGZIMmpJSFpiWU9VTng3VFFhQWhwaHo2NkNKTnh3TG1wZlo0QkxOcGVGWEd2S2JJTVNrQ0RmSzZRN3BoZkdZd3FRWklaeHFCRmx2bGhCZHE0Q3lTYVd5bnhlK1F2N2xvNU82YW41WW1LTmNVQWp2TXBqQ1YzelRGRXZsTUdZRjFOdlp1aU0yRFUxWUh4UnRBWUp2NVNDMTgwWmdCTUdlRXhTYnpqZnFUem93b2hHcmtSNkJHWDJMa1BDaWVueGR5S0JpQnluOTRrRHo4blZnaHgvUlZ1MTNzcHJGQXpRREJXbzJRVzRSOExVNlZiZGhhL1FKNUpvNE15MmNBZ1FGNVY4ZmFmRXY4b21oMS9CZzZ2VE5nc0hnVlhpQmZkNGhHL0FHbjhCcWJYeHgvcWhOZWpDVXpnMENiZjB4cnhYa3ovY3lvaFlwa1IrQUNlUyt2M0I1bTU0STFad21CQnVHbS9EWi91aXlqY3A5K0l1eDRNaU5IckpZVmdUWWZjdUZkQ2dkWmVVQzlpdTNmOENMUGh6bjRZdFgwQ0t5SjUva2IrUjcraHRmZ2hCNjc2ZFhDR2prUTJCQTd4d2JpNmRLTXpCNE5OZW5FNkVOd0dkVmJwbW9YeFNiQW51aXd5OVQ2eFd5cnV4UDcwdFdYRnJPRnk5Y3FzR2tlMTJqNUFKdURGc09tK3JIejVPY2M2SW9xSmtNQW5td2k1Sk9sZXpFd1BDUTVrclVCcWJ3SXdEdFU2UEhKcGplNzZETzBhWUVJaTdtQ3MzSzdLdHEwUUp2Q3EwN1lFYnNxWTFRSnRLbFJPSDNNNEZVbjdEajFGZURwL0NLd3pZMktiL21iWHhzR05OLzZvdE5SOGZWaEFXVG1PZU8vZnB0YXRWd3ZhWjd4bWcvZFB3STJ2WjVMMWJXdzVkTW5jUDAwRjdEWks0L0VDMWN6c2hBeGtUT00rMzZHR1hsaXRVd0kvR2RSQzE3amNDRFNXZjV4L1RRTGFrWFVxWktIT0Z2M3hjaFp4ZUQ2YVZia3pOYURpVUgzaTA3NDBpT3oyRTZMMnpIYytJUnM5SHNGRXZQOVh5WHU1b1pOZkV2RGZOdFNhTjhsN3JNU1cyNUtGT0wvWENKUWw4N3V1cnQxZXk1Ymdrb0xCQWJrZjRsa3oreG5Dd1JiL0M4YmdSWjc0eEdJM1JUdnVpOWJCWlJuR0lGei9QRW55M29xNTh5Z1ljV1FYV1lFS24zK0lQR2ZpUGREWm1hRkZXY0ZnZWZJcDVyd3JNdFh5Um44NGJFWUNQd1ArTExMVFVMdW5DeEdjN0FWRklHWEg3UEh2Ly9mcDRaRnBVK3UzdnJHMDA4L2UvT3E2NlZ0ay9FanR5QkhQRVE1TmVWUWNDWUUxT1djTzV5RHMrV1lMdGZsVzlETnBBOVdNb0RBano3L2RtbytjdmJBbDk3TTJhMnlKWjdKNHgwRC9KSEZWQkNBcDVuSkd4NzdkU0VIM2dXRHg5d2lRTCtxc09mUnZrcmdRNHQ0ekRFQzhPbE4zLzYyR25ubkhMY0hWYWNmT1pHcnVBNGUyL2dtNzNtL0xub1FIM3ZhTUxqVDhaemp5ZHdoMEpXcnVJN3VGL2hueStldUlhaXdpMENmRVBXNWpzMytOOTBpVE13bkF2UmJ1YmNWMVh2NHdWd0ZqZmxNMG0vbEtsdUxMK0hJTzU5MlZMWGVBSnVldWhtVnR0aHg3R1poWXU0UThJYW4xOURublRzTEJoWDJoS2ZiU3BjTmttTE9uQ0RRVUI0R3NPcnZtUk90VWMwb0JBWkVicHo1Q3Zza2NoUTVsczBCQW0wWm5tNzU1dkxuUUh0VVVZT0FHcDUyOFl1TkdvVG1MNHZ1ZE9EaDZRdmo1dnpwanhvSEViZ0VObVhoNmFyOWptQXg1c3doQW5UMzBiNmo5K2huYzZnK3FxeEJZQWRzNm1RL2g1K2UxOEF6bDFrTkhwNnU5VDJyTTNQWkZsU2FJVERnNFduVnZ6S09BTTB0QW0wV250S1pmSEkwdDYxQXhWVUV3SlMzNFZuSk50Z1dOMm1yd014dm1vZW4xKzdSamdyR3hXUCtFV0RoS1N5RWI0Sk55MzJIOFB5RE42TXRjTUxUU2cwV3dtdnlKVEF6cWl1cWxRd0JKeng5aWk2RU42Q2pzc21IWkRXUmFsWVJBRXVlclRpVGczUy93KzZzcW9sNnBVQmdRTWk5K2s5cGhSV3dxZnZPa0JRY2tIVFdFR2lESmZsQ09LVHV6WnA2cUU4R0JNQ1FZaUc4QzhsT0JoWllaYllRb09HcGlHQ09JVDJjTGZWUW13d0l5TlZUeTZMUEZsL0p3QU9yekJZQ2N2WFVzbWlmZGJ5bDJWSVJ0VW1KZ0x0NlN1djFjV2ttSlh3elNkNVFOL2RXb2FNZXphU2FxRlFLQkFiSzVsNkxkdHJyS1NvajZVd2kwSmFiZXkyTExzM2NuVWsxVWFrVUNJQVY1UUliTHMya1FHNW1TZUVMS0dKekw5V3hCaC9DbmxsZFViRmtDTkN2Sko5SzBnYWNuc2hUVE0wakFuU2FZVjhxVHBkbUR1UXBwdVlSQVU5NHlwWm1maktQN1VDZEpRSXROVHlGYk9pbnVEUWo0Wm5MMUVnTlQ2RUZYVEJxWnk1Ymdrb0xCTURSVlYrTlpCMkRUWWVpRVAvbkVnRXdvV2VTZ1U3cFg1bkxscURTSEFHNkVuTkRSWVBHTnZoY3NZckkzS1VEYis2bHk2bmp6dHkxQXhWMkVhaUFpK1R0cHozSUlQaTZRUmVoT1V1OC9OMzN0NmtGeVFNZitoWlgvWDcrcmVOWHZqeG5iVUYxR1FMTW9JNVZTZFBKb3B0QithSE1MU0ZlODROQWwxeUZyOGc4L2V5dHErTDcxMXRrVEw4MWMrdXFQZW5NVHp0UVUwUUFFVUFFRUFGRUFCRkFCQkFCUkFBUlFBUVFBVVFBRVVBRUVBRkVBQkZBQkJBQlJBQVJRQVFRQVVRQUVVQUVFQUZFQUJGQUJCQUJSQUFSUUFRUUFVUUFFVUFFRUFGRUFCRkFCQkFCUkFBUlFBVG1GWUhOOGRHOHFvNTZoeUN3Z1c5akNrRm1mck1QMVJlQ2JEMDJlZHY4TmdVMTV3aFVYNU5RclBZbkQ0bzM4OHRjVE0wd0FpOTQzdS9DRmUwckw5Z2FqRStzd1owWmJnR3E1a05ndFMrK3BLQVVyQ2t2SHJoQVhyV3NkWEpaS2Nia1RDT3dWWE8vanFIb2VVRXhZWjAreDd5RkwvSlI0Sm5sWk9Vdjc3ZmxGMDhVVFEvWmg4eHB6Z1ZDaCtFS3ZzaEhnV2VXazNYNDBsUmQxMDlIOHQyR1ZmYjZOUHRzbGh1Q3Vya0lQUHJJNDgyV3pxYlNSZG9rRTRlOExYdXVXeDBUTTRxQXpxYXI4bDNCRi9sckQydjhGVEF6MmdwVVMwVkFaMVBGUlJwdzg5WndZa2xGYmJiVE9wdEtGNmtpWHRuZVpyZlYyVzRMYXNjUTBObFV1a2diL0hacTJlcmIrUkc3MlVaQVoxUGIvWUx1c2ZDZzNPOTJ6blpyVUR1S2dNYW1pb3RVNXg5SWhqSDRPdUkxTHdob2JIck85WWZBbEFkT1ErQnpONmZ6MGlMVVUyUFRRL2Z6UlBBbWFEYlBDNGtoWWpVdkNHaHNPdmlaVUI0K2EzUGtwT0VkMFNjaUUvOW5IUUdOVGFXTDFCSmZGQVBqN3M5NlMxQS9nVURRcGx0a1Z4UjJ4VWR0RHZGTEtBS1RPZmdQMmxTNlNQQjlaUDdKNjRib3NIUFFvbmxSY2NXK2tVSFYvdjhWWHlsbzAyUFhSUUszMXoyVXpTenhUSkVpQVFJRE9SNG1vQllrdFFUT2F0Q20wa1hhY2kyS0gwSVJtQnI3dnlUZW9wNk80enB4UGRqUWlrR2IybmNGTVh3QTVhVVg2ZkVaNHF5TWkzejhONENBV0IxSnlhclNqNS85Q2RoVWNaSGc0MU1zZ29FT2V5V2xiQ1NQUm1DRG5IV2lLVUpLbnhkK2EwZzVaQWRzdWk2amxoMGxQRDBOWjRFbEdSRG8wcTE3V1k1Tk8zWmpic0NtMGtXeWRvUzNlMTRZTjRzU1dFZUR3QWJKL1BSS0s3YWpCbXphbFh0RER3bmYxdHZLZGovWHRBV3pHQUlqallQeVdUS21INkdoMzV4eDc1a2o0bnlGeHBaR3NlQmJmakdEWnNDbTBrV0NjWm43V0FQY05tajJZZ1FIaFhrcUt0dUdFbWJzOG9JMno1T2IvaXlyRjJjTnYwMVhsTkc2SWFZYyt1Z2lxZURuVHpmRXVyVEthdnU3NzJNbS9QMFBmZXVJRi93bjJ6SHFLejlVQ0NFY0NWNFFTbm5BUjFKY0pMZ2cyQ01XbTdncW8wS1dQdzJBN3VtNTFNQ0VxdjJzRGNpNDgzZGU0aHB4TnkxNEMvaVp2NSsyMk41UHA3VEI2OElOWFZzWE16TWk4THpZRWhTb0QxdXV2VE4yOEsyKzE0NThaRkM5NDh2eW5QcHRxcmhJMElmWjlNTk8zQUR1NFlnbnNRalVOQjRTcTlUM2ZYUGNPa2Z1SFBuNXdRNkZYWCtlZXU2M0tUZWpRM0pJYmp2L0krV1JLTFV1cHJNaEFEZkV5L3FhZElhZFlTN0tSenJTcW5CZUJaWDMzMmRUMVVXQytOVGhENEthM2twNGxndUJobTk4bGN6b0RQdXVQTFdzUytRZDZpbFBuNHRlenZiWjlLSnF2blhXYVRkMFRwcEdFbVlsUTZCaWg0NTcxQ01hcWx6cTJvL0lnNC8xWHBYS2wvYlpWSFdSckczbUk3WGtveGEreW5pYUJRR1lSdDhQcVFmN1NUeGxYNWtjYVNtcllqWklXK3FMbExycWRiSEpmS04rdEplbFpZdVo0UWlNUW9kZTZ4QnNxbFRjQ2d0NVlQQU51U1BUMmw0QkZkVkZzcXdhbmI1d0hoUlhCR0V5SHdKUkEyZVBlR1poQjJvUFU2WEM4QjBTb2xaZS9LdVB3b1h4RzcvM1lvZFhXSEVuR3AyTVkvcjZsUzUyVTQ2T21UOFlla1A3V0plb0h1MEw0MmFZeUtySDlncFZBd3pLRGpGRjdIR1JMTGloN2xvdmtHZVVLcGpNamNBb3pCekEyUk9lcnRvNm41ZkpoeHV2L3NKb09GK2p2M1h6cXV2WXRueVBnMWZIajdsbHVSdUREQ2dDTVBTR0RKdjBGUXRxZURyaUt5ZzYzR0J4NXE0dVg1UG5kNTAzdnpqK1ZFZERoMW1aRVlDaDl6U3NNbGhLeGhnWHh2dGhkSkJmQzNlMHZMVXF2a2tNYnltZW1VQ2dGekY1RGhOTXJzRTMrOStNRW5mc0RYckNTYmU5TGxJNElaWmtSc0NPbUR5SFB1eUdwejN2WEw1ZkhzeE8zUERuYWM5OUxwS1dCak56SVFCZDhVb29BeVU4M1FqeGdVUmRpR2JDQWgxQnd2NGJQaGZKVzRwbkJoQUFzK2tkVnNxNzRZYW5sZlpETWNKR0VXTzRXclhPSDZWUTh6QnRGSUY2bENrR2JuaDY3VTRuUml6cyt3djF0WlNxbFloaFFTSERaSFlFWU9rellzaHNpOVhUN1hoN3dTUEJTYUtaQkp5eXR3WnJVZ1Jnb2piOGRtcUJpM1NiVWxWcUNUYVcySW1pbWZQa2lITEVvemdFV29RTVE3bTc0ZW4vSzkzZlVHSUxCdXFqOEZKUjBzQzM5QW9vaXZxdlJkMU9SWGdLZTVDOEsrTmFiY0RidXE0dDhHVFcwRVh5NEdIK0JHNm5ZbXBkdzF5RXAxMndhZWo4b1ZzUEl0VDRHeXE2U0M1ZVJTWGd2UmpPRFZQUGZ3ZHNDU1YvZlFiL2RKVXorb0NKNDNpaWxYaG5LMW9LbHNZaGNCdzVYamFjOEhUVnZ0NWx4bzNoVmt2d1FvWlZ1bHFLUjVFSWdMR2E0ZndIVG5nS0MrRmcrZ2hYU2pCb0pDRjZVVkRqZjBFSXdFdXdJemkzYVhqNjNMaEpJNTRFczdtd2hub2xnaHNXbFlJQU9MUVJMcElUbnE3UmhYQWExT2crSitKVkVtWWQwS24xUWpLRk0raFpFYTZxRTU1V25ZWHdQandrRTZzZnJLRGovSHdzU2tVVHdCMXdOMXdHRFU4L3p4NVpxMEx5S0p5U2w0Q1QxSXdsUW9KaUVRQWo3SWRMb09FcFlRdmhPNUM2SGs3SlM2cEppR0s1SUVFZUJHQ3dqSnJIcFlia0MrRjBQMzdFS00yVmdBcm9KT1V4aUlHNjRDSkZiQnVqcTZjaWdvSDVoRWh2aWlrRE14am9KQm13U3g0V01MaXloN1QxVEFhS3lXR1VqdXJTakFFNFZmR2VsRjRXNWhwQzREaDZyR3dyQVV3RE91cEpyRmc3d1V4U0xCTWt5SVBBSU5xbkFUUGVGdXdoNm9seWtUbFpOMm9qakdDRi8wVWkwSS9zZTA1NEtzVFQ1YmI0cFptZXNoMVkxTVQvTWhHZ2prK0VQTEY2eWtpQU5uN1ZCUnpmZU84NFFpUVc1VVVBNXZLaVhCcXhlc3JFZE1Hb25UaUpVQ1ZpZDFOY2JTelBqMENNQmFEVEtkMFkvQ2tSMklSTGpybEt3aXRpaVNFRURxTnZrUzNQOUMxZG1vbWRVSUJ0RThwbFlFaE5aSk1DZ1dyMEF0cElDVS9aMGt6OGhJSWQ2WFdsMEExSnN5RlFpOTVsRGNYcStscmYwMjFESk5ham82T1FXcGh0REFFWUtQY2ptRUd4RzU0Q0dmVHErRlVYSUxvUndSS0xDa2FBM3Z3NjRUSm84WUZTdkFQbjE1VnpiZklRZ3hrdExtVmxncE1hdFhFRmlqMTcvQkl0emNCMFUveE50NndHTHFFY0NHV2lIaW1sanE0Nk5DZGFtb0dWbWZpWmlTWEV1cXdtdzJBYU5VRkF4OXFPcWtzN3dkSk1UTjlYMldHNkFBUWEwU3R0VU93ZG1rZGc1TXN4ZXNUY28yTnFZM0ZlQkFaZXY5YlBydTRmbW9FKzhxMkNEZ09nT2ZGend2UFNFS2g1L1ZxZjNNK0JkVHo5MVBrSTErVElSK1kvN1Nkd2p2MTE4TndZQXJiWHIxWDRidjdvOHg4QWs4SVUvL3UveEVmYmxjOERPUnlURHcwVndtQVNldmVOWUM3bWxJTUE5V05EaGtud2lOMkRiMjZwdWhucTNGSlFVNkREMWJZZ0xDWGwwTEgwU0M4THZqZEF2eUx6OUsyYnRwaDI2RG12bUhzV1hqSDNxcjRPejIxNUp4UWphYkhRTkFKMHlkczBUd3RlaFo1Z2Y2RjVzY2pSUVFBR1dJOFBaQVlXbUVqQ1NRY3pVR2JnQWowcWFob3BBMGRhQldhZjhKbVpqTmpscjNib1dSN056NDl4S0daRU42WGRvdk5wRkRMZFR2Y1hkaFlkdXBsdFh6VjZhakNqM25RRDZYN0d1bGd0THdMZDZLbkJqT3hwMUR2TVdCZXI1VVdnbldEUFdBWVpZTlByR2FwaEZSTUkySkhUdlprbDlJdGhtMW1mcGFvSUhXcXZnQWJYaXVuK0JXaTZlQ3pwamUrMGdHWjFjY0szQUZTVHNhU3IxOE5rcEttb1JvVzQwNmxVV0ZwaU9vVWZzaXlUQzVOZUlXRnZMcFdXcGpMZEZ0Z3NvTFdONkYxT0JVaEVsZ0lCT29sM0pFNE0vaDhYTXVWb1VNRUZaZ1c3Tmd0WWFyUG9seGh4WVdaSzF3MHN0Y1cvZENPRGJqdlJEN1ZtNEloVmtpSUFDNTBGTEo4NmkrSzQySmJVQ0licG9EOFZnajFjSzRYMGY4UE5ueUYyZi9TKy92aVRUUk1Ld1gwdjZzSC96Q0xvL3JUTWxaZXg0c2Rnd095VGlZbkZyT05DdGprNEd4MXdBVFhGdFhtSjNQazd5L3FMZnRRTDVaS3lneml5RVArVSt0TkhTWlZBdWtwNzBxUW9iSnVZMU9zVkZFZlNSeHBOakNOTFl1NTE4ZFh0NnQzOExhNFd0R21Uems4Vk1lZVl2OFV6eWFFKzdqQzkxcU5lZUo1UWRiQnAxSk9LQ2JrRXlkQ21RVXpDYzFiRmJ1aExkc0JqL2ZRVFljZVRJUXhIQmMyMTAwMW1sME5rWXJZZmdYWHhKRW90RUZsV2JFQXk1Qmo2K2JCenNHbjBreS82YXJHNWFOTllpQlNDRm45aURMYm0rVGRiMDkxNlljZXV3a0pKRGdxMDZWQ1JnOGtvQkxyOFphdXdvaEs0RXo0YVp0SFFZQlpzR3ZVKzVpaEZJc3ZvdXV3d2tnSUxKUUo5L293Wm9IWkQ1bVpOZFF1MDZXbFdwWmF1bnZ0MndHLy9jaWQvNDR1eUtiME5vRTJUMnNmc3BIdTlvSDVLYlhvOWFaT1duczRtNUZjN3hsQUFtNzV1akpuQ0NHMnFnQkdiYkVNUE9ERG10cW9BQUNBQVNVUkJWUHVYV0xLRUJMVndtNEtjQk1kdHZTQzZIM0ZQWDRTNUFRUWdvb1RqN0R1Qmdrd1phTk5Nc0JtdTlMeGpVMEwrd0FqZmRvSDlkTmVJaHN2QXhKMVlHSnBvTGZaVEV5am01bkdOZDFRVHk2ZFdoRTF6S1lyMzAzVHdmWjhiZFQ5ZE5TMTF2YUJZaHRvVVl4a3Q1UHJNdis4N1ZyMmhMMDJWVzVSTk1aWkpaUVlncm56VUJxdWFXRkRwRnRSUHFVMVAwelpyeWVsWDRVWVkzRWkwRnJaOCtrVFkraW5ZMU1TbEViQUcyalFBU1h3R2JDUUlMSWxuV0Q4ZEZHUlRYSmVKTjZHZ1dHdUtWRDJ3Skc2NVlRNE1mUDVqVjlUei9nOEsydWRBYlhyWkt3clA5QWlza0hHVGw3U0MvZFRLdEg1YXlOY0ljSitEM29DYTNKRjg5Y1ZPNUFlak5YVzFXY0N3TUp1ZWFDVmlwaGNCK3ZhRjJ6eHJ4NGh6QXpZTjdKYnd5c3gyaHZzR2srSkdSN1FiblBnNC9sdDRDZGhXQzdJcGZWWjVQNEY4SktHNzI0Y2NocDZieW9OTEQvZmg1NEhQUUYxNENzVjlzckF0dG03bjR0dlNoYm01T0xMSytMeE1VaEF2a2NtUTAyNlo4VzJPZ3p0S2t5b1RTVWMvSDlXSnBNQkNoc0FhT1JKUUhKdVpJdC9SVEYwSUVYbis4Zm5UeE9qVm51R2thM1p3WmpBeEY0VVFiRnJJcy85RnZWTkFVWDFSa3AvbER4Slh1b1pteUl0NlJ2KzhjdWRmRlBBTGFrZWxkdmF2d1BwUDYrUVB6VWdvYW95RS91OS84c09Nd2d2SVphdE54cmRzUXQ1bHFHMEZ2aC9KeUQ0TVE4MmNiVGFiUDdoSkh2NEZZOU51Tk9MdEZORGlWa0hQS2hlZzZzS3hwSE40elFKYTFTdG9IcmtBVlJlT0paMXRMR0lPcjFyUS9vbUZNMEFCRGFKTHJwY0w0RHNJM3pkY2dEUmtxU0pRMUh1MjYzSUJTUldINlRJUWdINjZXNENjR3RxMEFGUVRzbXpMMWJ1RU5SS1I5ZVhpZlNKNkpES0lRRUdESkhUL1BZTmFJcXMwQ0l3SytjQUV2VTBQMDZpQnRBWVJhQlFTZE5CdGc4Ym1SUXkyZGpsWUhSY3lPVUNuTW82V0E4QVpiT1ZPSVp0WGlwcEdua0VBWjFBbFdHd3JZQUVGbG5zS1daYWRRUUJuVUNWMWk1TTU5YUQzbTFtek42ZlNFbkdpZHo3enpUMHNhSXVwZVUwWGtTT2Q4RzBhYjFpakVHL2F1Sm9MeXJBQ05qVS9pVC9DcWNGcFhpLzlJaDdTcitQVTREUnQyaTBDZnJ1SUMyV2FLTTJYN0Y0QncyUXhBL3A4NFRwTmJjRkZqWCtENzhwYng3K1dRa2s2TmRoSlFZK2taaEdBU1lmWXB4WFgybU5icnJPczJHTG5lSmdtOEZRYlRqbUVnVk5DUHV3Y2pKMGVhTnc3V3BGVVBaa00wUStta1dKNWhsVEZiQU1Jd0RnWjE2Zlc2QnFMREdQYnNiT0pPNFVzREJobzdKS3dvUDVNSjdxdHo5UEJ1Uy8ydUVDRnVNRzZWY2lpYkxTU1dLb2cwSStkZEtqdkFqa1J6NlZEeDQ1enFxcUUzRkFrWUxKc0JMcHgyMHljSnlSaDU4SmRwaG5jZ0cvSDZGakhsNWpGSUZSd2NjL3RnU0dDenRFblg2QjNja3VDbzN3UVFpbXlZVGpmRjJuOG53SUM0TkJFajZVdDJrR2hkMTVoeWgzR2RrSllGOENQRkUvQmtsSWtQS1lmL1RHLzdpNFF3d09sOUE4TzZOY3huUkRzWDhBNk81T092MGtRZ0VkbTNCZC9hT21kM1dJTmQ5UFlJSGJCRlVibm4ybzVZV1pKQ05CZ0prclVtbE1LYmc4bmFzZGNBcFoxN1BwVFVYeXhyRUFFMnRHRDZTVm5Ta2pPRE1WdlNodTU0M1NCV2lQcktBU3EwUXRqcSsrRXl1RDI4dmY4Z2dNVTk4WmZ1RWhPb2dSaVdlRUlnQ1BMWGRwd1ViQVZqZFBBL0R3UFZNT280d2J6c0hxWWJ3NEJzRmVzUzdQajltV1lueitJbGcxOUd0M2VhSWdLTDAxaWc1NTd6d1hybmthckJNRlIzT2djelFCTDh5Tmd4ODdpdzNkb3hDeEN3N1Z1bU9Ba1kzbFlYY3czaEVBM2RoWWZicEZpUVhUZ0JqVmgwa2V4UFRtc0p1WWJRK0E0OWhZSjh4SmkvakErUE8zSGQzdGpxaU9qRUFUZ0JoanpFVlNnRUs1eGJIZ0tuNEJDRnlrRTZmS3l3VW1LbnZHMWRseTNOejQ4aGRsZWRKSEtNMTZZSkR0dSswckxuVVdBOFBSMkdCdVdEL2EvRVUyQnBTVWdNSXJ6WllHZ3cvU0lEMCtyc1I1WENTMUNFWWR4RTdRMXR5TkRMNlRoNmIrRmd3WnZ1UXd2eEpLeUVJQUJWYmkxZXBGOTErMWg0V2tsM0d5d3lTWG01cXdYZ2JsbUVZRHdNOXBWdGQwUEZMRlJlQ3Z3clRoWElUa3o3R1poWWhvSXdLeERKMHF1M1A3SlJ1R044SzU0akRNT1VVaVdWd1kzMU90UjB1UXNQK3ZSRjhPSDZuck01UkVsQnNzTUlnQXhaZVFDbWkxQ1RoN0tIb3NaaUlBT2NEdkZGMndIVUpsR0J0eFF3MGRUVUtoTitHb2MzMm8wMkF2VE11N3FDS3VIK2NZUkdFVUhJQU5oY2hoWjZiQnI3NGRwQUtQNE1Ld004MHRGQUxaNjByQXo3QkFmVzEyWjJIU1FYZzBQWmJwdUpCdkdDL05MUWdBV1hxSnVxRENIMzZHYVZGOGYwZW4rOWRDQkdnWnhuT3d0eVdheFl1U3NnbzRVUEo4OXlOOFlOdy9wUTIyakd6b2ltZ2UzMDkyd01zd3ZHWUdXZkw1VUova3A4dHFSOVRuN1YrQ2I1WlBPZHZnYmxZN3gzWkU2K0thVEJ4M3NJRUp5cFU3R2ZjZFJ1a1ltRWNOcnpkMFBFY0VNaThwQm9HS0xjRVV2Yi9NSEh4Ly9Zb2VXM2RmL0orZWZwdjBIaEs4My9IbDRQalVFZWlZYzF1ZmpGdTJtMXJ5bEZBeXU3VEIzdzdzNDlPYkcwQ0FER0h4ak5pWEZDNE90U0RmaXFaQ2lOQVI2c2Mrcnhhb0NNNGVoRTB5eGxaSEFQQUxnK1E1emNoM2gvSDFPQkUxWDcrY2RmR0hvallxSFRPdUwvT0lSYU9YMWZDK1NjU2RlREZLVWlBRE0rVWJONDhkclVvK1lqSWl2alJSRklORE5aeE80Sm9aRnFJVThjeUFBZTNlUGNsUVhDM0k1V0dCVjB3aEFpSG9qQjg4K2VrZzUwQ3VxYWl0bVMyaWszSE93WWhOSmdJWFRRQUFlY0JwbWx0c2x2NUs1TGxZc0RvRmU5T0pNbEdENCtGQXpxaHpMcG9RQXVLNVpKL2Q2K1p6bUtUVjRHY1NPWWg2Y0NjVUFodTJUMEVJc21DWUNLMlI4bEVsK0M3dHBKdHpLcUZUTjV1bkFWRy9XUWJ1TVZpMjNqSzFzSGZVcDdLWXpmTjAwTXMwNzJPUG1ETGRwMlZWYmU5LzFEQkQ4ZngvT1VBbXJJQUtJQUNLQUNDQUNpQUFpZ0FnZ0FvZ0FJb0FJSUFLSUFDS0FDQ0FDaUFBaWdBZ2dBb2dBSW9BSUlBS0lBQ0tBQ0NBQ2lBQWlnQWdnQW9nQUlvQUlJQUtJQUNLQUNDQUNpQUFpZ0FnZ0FvZ0FJakMvQ0d4bWZLb3hYWXZMa1pKT3A4V2wzaWpsSWVKeXBDeXVsZEsxN0ZEOXhOdldZNU8zcGF1ZWtMb2NLUW1WV1hpeXF2SXB4dFgrNUVIbnl4YkdXMTJPRk9OcXp6N0RGM1Rmak9rcjMrRWJqRStzUWZqM001TzFzQndweVhSWmVLclZ2dVliUVd2S3M4Y1h5S3Z3SVNGeU9SY1M1VWpKcGVMaVZONnFpYSsxcVcyNm9KaXdUdDlndGtXdXFPVnAwK1ZJU2F2VlF0SlgvdkorVy92UnhVUGl0dmVDOHdLZUN2MUNWTWFqSENrWmxWdTRhdkFoeFVsZDEwOUg5OXkyVnRrYjdld3pOeWR0b2h3cGFiVmFWUHBISDNtODJkTFpWTHBJbS96OTNHM1pjOU9pVVk2VXRGb3RNcjNPcHF2eXhhNFgrWHQwYXZsZU9GaU9sRVcyVTVxMjZkQldYS1FCTjI4dDM4UlNPVkxTdEh1UmFYVm9TeGNKUG5sNjRyUytuZU5Gc2NDZ0hDbUxiS2MwYmRPaExWMmtEZkc1Q3p2Zkp4TEtrWkttM1l0TXEwUGJkajhFZGl3OEtQYmQyOHhBbENNbHMzb0xWbEdEdHVJaTFmbW5obUFNenZJR05CZXJjcVM0NHBZOG9VSDduT3NQZ1NrUEhIemcxYUNuZVlBcVIwb2VEUmVwcmdidHc3Rm9JTHd6L2JLVGhzUlFaR2I1TDBkS0ZzMFdzWTRHN2NIUFJFUGhXNHBIVHZxQzhIOUZTY3IvY3FTa1ZHcGh5VFZvU3hlcFJYaVh6ZnVoekhLa0xLeVIzSVpWK3VUcXJXODgvZlN6TjYrNlh4amVKdU5IYmtHT0hFbURhRytSWGNIRC9UVHhJVkUzUG9qaTVQL2xTRW11ejd4U3dwY0ozRU1zYWNNWHZ0amhlckZCdEtXTFpQWEY1MHNhb3NObUJLTWNLUm1WbTZkcVAvcjgyeDBEbmozd3BUZHp2VmNmZFhJbWozZEVRNEpvSDdzdUVyaTk3cUZzWmhGVlUveVhJeVdGUW5OTUNoK0hKMjkwMUFaMEllZGRTazRRYmVraWJia1dKVG5XVDZuMGNxU283VnpjTlBpcnZ1MWhWVUk4cjBJUG9tM2ZGWGhjSXVTbEYrbnhHWkwxMHpTY1ZUbFNoTjZML1EvK3F1ODdJalh5VGsrVEEyZ3JMaExjZlU4Y1l1aXdWenkxMHA2VUl5V3RWdk5KRC82cWR6RjcyeitJQnRCZWx4ZkJqaEtlbnVZQ29Cd3B1VlNjbThvOVFvVEx5M1FlM09sNGxRK2dMVjBrYTBkNHUrZUZjYjExMWJOL2dLdkhkM3hUbHB1U0lqa3ViNnJyMjBLbXJIWnpVQUpvZCtYZTBFTnhRYlJJN0hZazJIWGtQeVNqb0krVVVjcnlXbEsydkU4ODMzRGE3Q3Q5aDFFRmJDcGRKTEFFbnlVYytFZHNLVUdrUG5ZcmNIeFFsR244M294U0pNZWxUZEVBODdiUytsNHd5dlRiZEVYeGt4dGl5cUdmMDBVSzlOTmlwQ2d0WGR3a0RUQVBaUE11S1Z1eFJhN2Zwb3FMWlBWNEJMT1pjMVVtMkUrTGtTTGF0TkQvRzJCVDZiQlcyZzhGVyt1M2FXc2lhUnFFYlhqWUVMNlNMRXFaS2tkS1NxWG1rOXdibmw3eis3eTBVWDYwRmVjRnl0ajB3MDc4N1RRR24zS2t4Q2l4R01XZThIUmI2Ykt5ZVg2MHVSa2Rna04rTXg0cGowVEptbWxTNVVoSm85SGMwamFJRW9UVTM2TnJodzl0MVhtQitOUnhzTURUYXVxcXBzZ3JSMG9LaGVhWGRFQkVOR0paWDVrYzZScmlRL3VpYXI1MTFtazN4T1pCWGYxa2VlVklTYWJMbkZPMVpYaTZwY1FvYXF0OGFLc3VrclhOZktTVzZqdXJkWk9ueTVHU1hKLzVwVlREMDI3SXc0WU5ieWYwa0cweTM2Zy82ZVRGb0J3cGViV2NoL3AwcHdNUFQxOFlOL1VhajRnNkQxRlJYU1RMcXRGbkZwMEh4ZldWRStlV0l5V3hPbk5NQ091ZjNOZGR0ZCtoYVVmbHhiLzZLSkQ4eHUrOTJPR2xLOTZ0MmNkMEYxTFgxMDN2czM5cFg4TXNOQ3VibEZCMlMxNUFkeDh4K0VkODR0WUxTQVBLMlNHbTJ6MHVrZ1UzMUYzckJmS01wOWJ2a0t0SzEzN1RXY2RUcWpscENDSHVLSjlBaW9ZUFpsRUVZUDJUclo0K3A1K3ZiWkNyc0l2d0Z1d3JGRFp0K2RaZnF1UEgzREtHNlNyNWdsVjFlek5NUGw2UHd6cUxsRGlleTFzT1BjU3gwVnJmc3pvVEFVamQ1MGx0Zm5IOHFZNkh2dlZUZXEySVYrM0FTTERuS1U1MEVpOGxFWnVsSkJydzhMVHFYeGtQUTZQaVdjWFJVVlhzeTVaMVVheXJXakJSQmVjcGozZ3BLUmt1RTNtYmhhZDBKcDhjSlduNGR1eEllb0Z1bTNEM1A4REtqVHBIa1VRRTBNUkxTY2hvN3NrKy9VVFk4V1JZMjhDVXR5MXJzOTJHUk94dGp6THhPUzhhdmkyNlVuUHM3c3J2K3JZN2FXb0VzK0tsQk9zc1pFN0ZCc09FSEVOOWkzbDRldTBlN2FoZzNQaWo0WE9SZ2pWcXA1RFhjeTNaVithVGc4UWhPZkZTUWlvdVdyYjZwSVRmdEx2NnhyTHdGQmJDWVUzYjU3M3FLMWgxY0lBaWp6WG5zWm11V0UrRmlTcHRrQlRKSTE1S2RQVUZLbVZQUmZqTlNjOG4rL3BtT3VGcHBRWUw0VFVnMHRONGNpdjZrRWVoMlhCMklkckNSNEpRUnZjR1NxV0NKaGt2UlZNSnN4Z0NUbmo2RkYwSWI0RGxRd3l2Z3FWZllWVXBkbWhIaGlHRDkyY1lDUktONlNvTGNKSG8rSTFISmdUQWttY3JEb0IwdjhOdVBJL3pzZDV4aTVvUUh0amdsb1NSNENDZXJZOGlYb3F2QXA1S0JBYUUzR04zeUJXd0tYVllZNDZHZDMrM2hucHdIVEtoLzlNL2xqcGxxUlMvOFZKU01GczIwalpZa2krRVE0b3VzY1FjdFRnWHlmcklFYkRvdVFONXcwM0ZjRmFMNDZXbzFKajJJQUNHRkROM1hVaDJQSVdhazZUT1MxMjR2ZFlnQVZlL29LUlMvUFh3SEJDZzBZK1ltNGRaQWpLTVE0WGRlK09vTEV2MitYYUc4RFNwbEhnOWxwQkNycDVhMWptdzZaVTRERmJqdXpKbG9RUXdXY0xUaEZMaWxGM09jaWM4NVUybmZUYjJabW05bUFnb3VENzQ1UUZjMDRlbkNhVWtVbVhwaUp6d1ZMUzZuM1JwUmxRSS96OTAzZDVNNFdrNFl5eUpSYUNoYnU2dFFrYzlpcTJTaUFCWU5SbGhwdkEwa1F3azBpTXdVTzkydE5QeW9GSlBuVHkzNXJxOXdEUjllSnBjRUZJR0VHaXJkenU2TkhNM1FKSXBRN3E5alN6aGFTYVpDMXBwTFd6NTlJa245UzBHSzk1MlN4SXZ6Ymcxd2hMd2lsRGhiUTNjTmJjd1lzeVBRaUQxK2lsZ3IwN0cxb2c3WkVhSmlTK0RWNFNLRHA4bFBJMFhzRHdVTkJvSk8zWjFNQUQyNnQydUFhY25PcnEwZVJESzNPQjEyQTE3MjlCOU9xMGlDMENmZHYyVVRqUHN5M2JUcFprRGVabzlCWXoyV0cwZW5oNWV5YzRNYTZaQ2dIcTZTZ1c2TkNOMmNDclo2WlB3WHAxVFZvdVB3cjNkOUV5d1JpWUVXbXA0Q2h6QXBnbVdadUpGd2JWeW1WSHhVYmc3aksrRUZFWVFHS25oS1hEc2dsRTdCamlEVFU4WUcwanRRYXJmWktmNFd6Z0NOVFU4QlduSFlOT2hBYWt3OXU0ek5qMkg0YWI3YWxnRHpKRkZKQUpnUWhGek9IUjBTdjlLWkkxa2hjQ0g5OU8razdxa1B1dVlqQVZTWlVPQXhqNDMxS28wdHZFOURhTVdKMDdEeFAzUUlhYnZrVzFhMXZrTVN6T0poU0doaWtEZ3piMTBPWFhjVVVteXBXRXVZOWVwV2IzcDNLQWJKanAvTmxXV3JGWmw1TytuUGNnZ2dkY05ab0NseHNiMEZmS3lzOVRUSG1iZ2dWWFNJdkR5ZDkvZnBoWWtEM3pvVzd6dS9ZODZHZVNWTDZkbEZxQS9abzhVZHgrQ1hmaVhyZTBrbThFRFBEQWpMUUp0WmovbnQrbFVwak1PL09CT2ExcWVrbjdOaHJldlY3NC9QcklhNUZWclpHUWlRM0xIbEI2QnJ2UDg5OVBQM3JvcTlvQnRrVEg5MXN5dHEvYWtvNitUSXZlUENYbkVjWlJXYmRJWGdVMksra2c2Z3dpOC9BSDczVCtrZXEwOE9IbHBCdlZEbF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NCY2hHby9QWS8vdlBiN2V2bENrVnBoU0xRZFQ3TXRGZW9ER1JlTGdLMlk5UEw1UXBGYVlVaThGdmZvOS9GT3lwVVJoTG1hMWVucjBNU1BlZUV4aVl6OE9IbWh2anU4SnlBTnVOcTJ1eXprMVBWOGsvY2IwbFBWWTFGRVE0ZkVEWHhOZWhjY0h3T2J1c251VGhnWlJXQkxVSmVWOC9MVDIvZVJ4MDF0S2s1NURjSXVXS09XMnBPVzMvK0lMVW8yalExY2hFVkxoS3lGMUZjZEJGY1VtVDh2OXRvVTVOQUg5SVBjay92Mkhqa0cvK3RhYUZOalZxZ053dmhLZHJVcUUyN3N4Q2VvazJOMnJRL0ErRXBqcjFHVFRvTDRhbUZOalZxMCttSHA3UTVPUGFhTk9xVXcxUGVGTFNwU1p0T09UeEZtNW8wSnVjRjRlbXdBTFlwV1dJL1RRbFlKSG1Qa0dZa1FTbUZhRk9UTUhjSk1ja3VJeSswYVViZ3ZOVzJIck0vc1c5WmZYSkh6ZitqOS9YSG4yeXFPYVdrMGFZbVlJWWx5MGZJblE2RXAyOG83RDVHeUtSUEptRHJjZyswcVFHOHR3bjVnclhhZnhYQzA1OUlkcGZJbmIrenJML28vMHhtbFpOQ20rYkh1VklqWHdjdTU4NGdQTDN0c3F1MEowMTZzbDI2SzR3MmRZMlFPWEdObkRsMSsyOGhaTmZsc2s2ZVllbnFYVGV2bkFUYU5EZk9xNFFjT0V3YVJBMVA2K01PWTcydTNtTnpTMHZBQUcyYUFLUm9raGFaZEJ3S21FV1M0ZW1xY0pjdTJSNWZPSnFYa1ZLMGFWNFkxd2o1ZDhZRFhDVVpucTRUUHVUVytNaWNWMDd5K21qVDVGanBLZVVjTDFoWGRza1d1ZUhRdzhqOG1yNWlZYmxvMDd6UXd0YUdEdVBoQ1UrNzNGMjZWUDZPWDdScFRwdENQeFFCS0NSbGVOcm5qaFBFckRkeWlraGJIVzJhRmpFZi9YbTVTeHU2cEF4UDNleHYvM0xIVjZYb1U3UnBUb1JITWlaZGwwbkxJcVc3Um01RDBLWXVGTmtTdHR3Z3ZhT0dwNUQvcTUxc0xQUFdRcHZtUTNDRnlQaWxvWVNuZEZNUU9mdVhmTXd6MWdiUkp4bXJZalZBQUNJWk5qRUk2WUUwcjJYQm1BekgyWGVtZ0ZLN0FKdHVqbzlLYUVrNVV1SWEwbEtXMTlwS2VHbzk3OWlVa0QrSTQyQyt2QWliYnBUUzljdVJFb2M0ZEVmMzRVUVoxVUF0Q0d6WU1ZeGpZYnk4Q0pzZWtvN1VjK3V4eWR2a21jRlVPVkxpRkFiOHJuQWFzQ0tmSkhReXJuR2JpdWcxanBPNThpSnNXbFVtdzFiN2t3Zkpuamw5SmFkeXBFaDUyaFJNSGJtdDg0U25RUDE5YnRSOWJjMENNM1BhOUFYMXloUnE5dVZzaWpVWW4xZ0RPUXNxU05MOW01U2k1WlZPSFlXYWpyQ1grVG1FcHdkS2tXWDlmZCt4NmcxUFpna24rV3k2MnRlc0RhNHBrMkVYeUt1V3RlNDJPMXVEVEVyUjhzcW1GcTFGUTVrbXIzNUl5Q2xQOHIvS1IyMG8xMTMyWGpyRFo3bHN1bFVUaTRTcVZoY1VFOWJwMHVLV2U4dFJ5UktuVFVyUjgwcXNTb0JRWFY1ckVCSVlabGRyaE53TDFDbzRJN3ROSzM5NXY2MDQ4bExQUTdtSWVNR1oxSzdrZUJlSlNTbWh2S1R1YVZPd0Ewa2ZuZ3BHWVBTOGR4N0JLdkYvZHB2V1lhZGpYZGRQUi9MQ3JKSWgxY1IyMjUxWUwwRm9Va29vTHlFcy9mOEZwUnUySGZPdWZwQnlXV3NLWG5WcGRKRlY5SDkybXo3NnlPUE5sczZtMGtYYUpCTkgvN2JzdVduYlkxSktLSyswU2tsNjZLZkNvd0FYbUlZdDY5UkJYQ0hqSmlkcXpWTS9wVHJyYkxvcXZiK0wzRCtvdVg0RWIyaTZQNU5TZEx6U2FlT2hWbGE4WWFHVWVrT0h0K0ZuSkYzZ0hYZDUxVk94eUpQcy9aUnFwVU5JY1pFRzNMeTFmQk5MSnFYb2VPWEFGMjZYd3EzbG0zdDd1NWExU2VSSzZvNUxrRU5NdXFybWJTcGRKQmlOVGh4dDJ1eTJtazR6U2EyelExWXBPbDVTVXVvVWJFRVN3VGdzamg5QS9mcVFSVGczT0svamZFNC81NUxxejd4TnBZdTB3VytubHUwUDNGS3BxQjBOc2tveGJGTlkrdjRwYjB5WGtPdVF0SThzQzdxc2V4WDMzRlM2UnVlZ05tOVQyNTNUUGhiK2c1dy95NlNwemc1WnBlaDRaVktLVjZxTE9JM09QZ3hoNnA2KzZoVzhZZGZUYjQ4N25MUzBQN0RwNWV6Q05BZ3BMbEtkTDFuQUdFeXY0TXlIU1NrYVhwbjFvaFZiWXFkbkQyd0tTRjZndnU4bE1oblNRamkyM0g3TXpzdjQ3Y3RSSW9NNERVTG5YSDhJVEhuZzhJU2J6bWtHNW00VmsxSTB2Rnc1V1JJd3lldFVXeVgzTzk3RElSMmwxc2lSNEhXYzczSVdiRkw5dzlXVm93OXBFRHAwM3pNTlBpRmN1SEJBWXVna012NllsS0xobFZFclZnMWMzQk9hcXI0QlZ5NDBkN0JMejJyUDBGODQxbXc1QWNOeWl2K0Z4MTdKanp1WjVXZ1FHdERCeHpsZ1c4ZVJrNERiaTlOdWxwMysxNlFVRGEvMENxazFldVM5Y0VvRHVCcXN1dkVlK2xuK0lIR2xtMitFVWdVbFNWZSs5K2Z2ZXl1WUZLYjRIdmpRbDFpUFNsSlBwZEVnSkoyWGxuajNIaGgzWDYyVk5tMVNpb1pYV25XODlGdjBRZkMvc2I5bVdaK0ZTUFJ2MmF4U3BYYjJyMEQycDNYeWgxN3Fncy9nZHFjY3U1bWtCUkhhSWk2bnJsaVJPQ1RxeG9mMGdreEtDZkpLcjQrM3hsOFQwbmNjZkhpMCtLcTR5V3kxeWZpV1RjaTd2TFJGbjFYSTFWdFBzK1BabS9hdVQxeWxEOFhmZVBycFoyOWVGYWFCKytMNGtWdVFJeFRYelNOSkZ3bGVXTUZEdDRib3NENFpTVStEZHNndUpjZ3JxUmFoZEwvNzhmSFBkMmpwNnA5TmZsMVFiZjdnSm5uNEYzTGRjZ1FyWS8vdUZpbm95Mkt4Q0h3OGRsd1hZb0lJSGJzdWtqb09LSnRaUk5VVS95YWxCSG1sVUdUZVNYLzArYmM3Qmp4NzRFdHY1bTFaZmRUSm1UemVFWTBMSWlSZEpKalRkbzk4MzNJd0tTWElTN1JsT2Y3UGdVM2VjTzFIMjl5Rm5IY3BPVUdFN0x1VWpoNndaUEhTaS9UNGpKd1RaU1ZwZjAxS0NmSktxODE4MDBNTUF1NjVlbFFKK2JCNkhrQkljWkZncEdhM0UraXdWOVJLcWRNbXBRUjRwZFptdml0QURPSUxRbXJrblo0bUJSQmFseFYybFBEMDFGTXI3WWxKS1FGZWFaV1pjM3FJUWJ3YkZMYkZoTFZvV0FBaDZTSlpPOExiaFVXb0kxRWg1UDhmUUpMditLWWtUU2NsSlM4cFppbFNQZW55c3ZZTzduUzhEUStnM1dVeE42VTZGUDV5U3k1U2VHdkxzN3JQb0hBcUdRWFgyaUtscE9RbGxWaUtWTmVETEpzQTh6WThZRlBwSW9FbCtDemh3Tis3dlR6bzJjZHVCUTVucXhhalRDY2xKYStnTWd1ZDA1Y2JNMmc3Ti92S2VNZ2E3a2Q3UmZHcEdtTEtvWi9UUlFyMDB6eFMvQm92dEFHRGphT1RCcmVWN0Y1dzVzQ1BrT0lpV1QyK3F3TldMb1lLbHd4SmsxTDh2REtvTTg5VjZLVEJnV3pBSmI1eUpuT0NjNE10dHZmVElXbVExNTMvRGVFcnFSVlRwZjEyeUNQRnp5dVZJdk5QVEhmVnlDQ2swbjRvMkNRL1FvcnpBaU1tbTM3WWliK2RCaGw3Y2t4SzhmUHlDRnI4RTI5NGVzM3Y4MUlBL0FoeE16cllIUEtCZTZROEVwVU5OSk5TL0x5eWFUUzN0VHpoNmJiU1pXV0xmQWlwemd2RXA4N05HTzdLVFZraFU4cWtGQit2VFByTWNhV0dzdnZOcXI5SDF4SWZRaGRWOC9HWEtHNm9rYWFPUjN5ZVNTaytYdkhDRjR0aW9MeWY0Q3VUSTEzamZBaXB6Z3VzdGpvK1VrdjFzM1E4NHZOTVN2SHhpaGUrV0JSdEdaNXVLWEduMnNpR3R4TjIxVFcxVGVZYjlTY2R0VWFXdEVrcFBsNVoxSm5qT21wNDZqR1cwcWFSMk4zcTVGVlVGd2syejlFdGM4NkQ0a3FOTEVtVFVyeThzbWd6ejNYb1RnY2VucjR3YmdaYlVubnhyejRLSkwveGV5OTJlT0dLZDF2cE1kMkYxTTNaVFUxS0NmSUt0bXF4YzJCTm0vdTZxL1k3TkUxdFFEazd4SFM3eDBXaTIzcDNyUmZFaS80RmcvdnNYOW9YNlNUL0RTSEVIZVdUU05GekR2TFMweTF1THQxOXhPQWY4Y2w0YjFzYjVDcnNPTHNGZTlDRVRWdnVReUtNc2pwK3pDM2pkWDhIdHRiSktjWTNuWFc4UElObm1hUUUyVGc1UVY0aGhBdWJ2UU0yZFJyM1hOSTUrTHJxSWtIVnpTK09QOVh4NExNSzM5YXB1aU0wVEQ1ZTl4UW5Pb21Ya29qTlVoTEJTT1gwdTdWK3dxZGlLNTRaZnkxbUxkZ2R1dU0rc1FrandaNldMQ296Z1pTbzZzdGROdURoYWRXL01oNEd5M1pzcjZ2WWwrbWJOTVhlVXBpb2d2T1VSN3lVbEF5WGliek53bE02a3grNzk4VEJ4ZWU4YUxDNlFLM3A3bW1CMVRoMTNrbERyOHVLbDZLck5aTjVuMzRpN0hpeUlIM0JsTGZobnRodVF5TFJiYS9oYzVHQ2VyWG96Tkt4KzZSRjE3ZmRLVmhCa3hNdlJWTnBKck1xTmlBYmNnd0wwWmlIcDlmdTBZNEt4bzAvNnZ4UmluREsyaW1VOVZ4TDl1TTNLZ1Y1eFVzSjFwbk5IUFZSQjc5cGR3dFJtWVduc0JBTyt4VDhFWWxXWUNYV1BWNmpreEN3NzVzL2ZnRVRWZG9nU2N0ZFpNWkxFWlN6Lzg4ZWEvQ2JrNTVQOWd2UjNnbFBLelZZQ0srQmpBUWk5S3R4YXNVTnh6bXloWThFb1l4NEQ0MUtGWjJPbHhKZGY2bExuZkQwS2JvUTNvQUxKOEYxY3o3V2s5cWhnek9NT0h5TWhwRWcwWmp1TVVPOEZBODVucWdJZ0NYUFZwekpRYnJmWVZjdDBxY2JJa1RSRjBOdWk1b1FIdGpnbG9TUjRDQ1VOcXdnWGtwWVRjeW5IMkc0eC93UitwWVk2ckRHSExWWUYybHdIVmhBLzZkL0xIWEtVaWwrNDZXa1lMWnNwRzJ3SkY4SWh4UmROb3MrRWpndkh6a0NGajEzSUcrNHFXak9hbWtDS1NwNXNXbkFKZmx4TzZjdW15R3g3SDl4K1dwMWNVdHBnbExzc1p3dUpEc3NHZjdMeHVud2NsRlNGMjR2SFFrNklqZnBmMUlwU2ZubG9nTllraDk1YmRvUEU3VXYycUFsRUlYMG53WlBZcjNsR05KRHRWQ1hYazFvSU5ubjJ4bkMwNlJTZEJvYXo5T0NHSmFaMTZaaGZLVmx0QlJxbytYcUtYelFIcWl2cUlYYTlJdmFYSCttRXNCa0NVK3RaRkw4VW9zNTE0SVlscG5YcHY4bmhQSERSNkp4V2dKUlNQK2Q4SlJuMEQ0YjZ3Q3BsU1BTY0gzd3l3TzRwZzlQWkl0VFBnQUFIZ2RKUkVGVUl6aGpVUndDVG5ncWlHQXNqdzFVQkczTS82SHI5bVlLVDJPNFkzRVVBZzExYzI4Vk91cFJGSFh5TW1EVlpOU1p3dFBrZ3BBeWdNQkF2ZHZSVG5zOVFKSXBvK2E2dmNEME5CTUxySlFSZ2JaNnQ2TkxNM2N6TXZKVmsyNXZJME40Nm1NMjU2ZHJJU0huRTA4OFdVakx3SXJTVTB1Nk5CT3ZDYnc4VTNoYkEzZk5MYjdhUWxLVXZYNEsyS3VUc1RYaURwbjU0SVhYdm9vT255VTh6U2Q4eG1yVGNDTHMyQzFBVjhCZXZkczE0UFRFaEJnSVpXNXdQdXlHdlczb1BtMUN1Yko1bEx4K1NxY1o5bVViNmRMTWdUek5uZ0pHZTZ3MkQwOFByMlJuaGpWVElVQTlYYVVDWFpyNWlYS2VPUW52U2pwbGxma28zTnZOekFzcnBrT2dwWWFuVUJWc0dyODBrMEFFWEN1WEdSa2ZoYnZEQkxXUXhBUUNJelU4QllaZE1HckhBR093NlFsakE2azlTUFdiN0JSL0MwZWdwb2FuSU8wWWJEbzBJQlhHM24zR3B1Y3czSFJmOTJ1QU9iS0lSQUJNS0dJT2g0NU82VitKckpHc0VQandmdHAzVXBma0ExSEpHQ0JWVmdSbzZIUkRyVXhqRzk4VFRtcHg0alJNM0E4ZFl2b2UyYVpsbmNlbG1jVFk1U1FNdkxtWExxZU9Pem01UW5XWXk5aDF1RlJ2T2pmb2hvbk9uMSt0SmVCUUdmbjdhUTh5U09CMWd4bWdxTEV4ZllXODdDejF0SWNaZUdDVnRBaTgvTjMzdDZrRnlRTWYraGF2ZS8ralRnWjU1Y3RwbVFYb2o5a2p4ZDJIWUJmK1pXczd5V2J3QUEvTVNJdEFtOW5QK1cwNmxlbU1Beis0MDVxV3A2UmZzK0h0NjVYdmo0K3NCbm5WR2htWnlKRGNwNXFxL1BZLy92UGI3ZXRUMVVFSS8yci80Vk9SaHYrdTgwei8wOC9ldWlyMmdHMlJNZjNXeksycjlxU2pFR1pML2pFaGp6aU8wcW9OMzlySmZZMWtVNktRV2wzbnV0OHJoSGRLcG04aUV6SStTVmtwQi9uTEg3RGYvVU5hZitYQnlVczUrTXhjVmR1eDZlVVowT3NyNUQvQ1J6cE54Q2t6MEppcHF2QmIzNk51eDlGVWRYQ0VieEgybU5NaURZTFRROVUydE15Y3J3VWpKMTVjTnpKSmxFK1RSYWh0S3k4S21scDc0TE42SFJDK2dvT3ZDUk5BZkRZRE43RXFXeFpkbTRreHd3U3NVK1VCRHhra2VBQ3dZQlZoWG5mb2lIQjMzUllzY0xIWncvN0tLMU52NGZQaXFYN2IxUDdkcVRkcG1nckluVGxUMUtJbUhsbnBlNWRocHFqU1BJcytkSGR4VEs4Vk1QN3ZNZWx0WlRmdjlQU1pkOG05R1FoUG4zZDFhSnZaUWpidlJzbXB2L3Vhb0p4ODhsU3Z1NCtydFdmQkNjL1RsSm1vMjU5K2VBcERyMWdYNmJzUGhjOEVPUE9weEN5RXArZkZwZ1BZdmtkK05wODR6cExXc3hDZVZ0MU5mTEIvMThqMjNWbEN1SHhkWmlFOGxUUE9NR3JnQnI3Y0Y4RU1oS2V3ZlVFTXVMRDF5OVREL2JtUm1WOEdFSjRPcDZ3OVhGWmlkaEx1Qk5oUGM1c0R3dE5tYmliNUdJQUtCNXdEYlBYRSsyaytOS0YyMS9QY1dHNTJXUmpBVHZnaHJ3Y1BKSWxoT0F1blphK3o5Wmo5Q2RoVTBIZHZZQ3R2SGYvYU5FQ2hqNEkzdWVBZCtkS3lhYWd5NXpJL1o4TzJ1VHNkY0RUZllDMVphNDl0TWVzS2k5UDJNMlUxRU1aYjl3R2tZL21haGJMRUw0NGNlTzdrQzlacS8xVTVoZE80ZDdRaWIyWTltU3k2MFREajRQcEZWVG1qVkxUWWhlTmZxWkd2UTZQT25VRjRldHRwM1JwOXprc09nbTJKYzlHTmJ5bDlFKzd1ZDR1V3Q2ajhyL0Z0MFAyM2lHbTU1K2tHbGo1L01NZ3FjOFpRdFdPYjRQcHB4bXNPdG9xdzZLRkJoTTlaM3dWZTdwWUhPU1JubEpDaW1pMlVjUlNRdC9RVUxKQVVYZ2hQSmgwSEJ3ajNtYys1UnZmNHdpdWwrTWpuRHNuRm8wVWZNVDNsWXFnTGZMbDRrWXNvQWFEamo5RFNSM1NkRnA2allTSDB6dHVzdldCcjFwR0xiejU5b3ZRVDcyZkhCeURkTEY3a0lrcVFjN3p1L0dxTGRsQTVuMzhvKzA3UkFOQ24rZFdqYUhrTHloKzJOblJZMDl6d3RMc0xHWElkc3lkWHZ4aGhjYjh3emFBZVo4VkpXbVRPY0FjVEUzQ1FaRHNNbkRkV05Od1hWd3pLbXpHRVVJYlBlamhmQlJLYUxiSUJDbWdiZEVleERnSTNNK2NPdXViY1ZldXVKVXQ4cjJKVlhGYlFVcmlVaEdZRnRIdVJXWTVFVE9xOGJYNlhOdldTc3hvaUYwVmtUeTRjQ0xpUXVHTkc0Mk1NVDdNQmJydERMUDBZMHBBeVdYMG4vSURieTkxaEdKSkxlN2NNMkZHNDJIQjNaK3BRbGZCSWdRQjlLNElnYjZpeEE3eTQ1Z29yZ0NHWkI2cUNzTGgvME9hVWM2ZWFIUlVuYVlFNVF5VGpPcGNEYVY3MUMyWVFYNGkrVXpRUTlOWForMXdJWEZTdVprWExYU3orTGNYUmJMdXJwOURHbm9zdURNbWk3eFRkZGpxTjFPRkN3SG1iZ2NjbWkyNXhFZnhIaW5QcDhZWGtweHdhcm5XTFVNRERFMjdpN3VvcFhHMmxEZmtlSmViK3BPM2VOdW5IMEtRdkJCNksyQXMwVUlma1loc005MUIzcDJEWDJKZEdpdFY1NXJoVDUzS1BheVhDVStjVTBCVlBPSlFZbnNLTXN6dk5ZTXRoZU9aZ20ybUY2QTNzTXRmUTR3dkIvcTRyUEYvQnVlaTJ3R1VsN3FHZ21SZ29pcGE2WVB4cHdORGtiVHBVZlNGd2pLNnpmTStRWEhEendhWmkrQWUzRjJlUk1zSHRMcTlCN1licUM0R0hjc0k0ZW9ia1RFS1NWd0oxaENIaEN0dExYaEVwSlFLd29PWUdnUVBWRnhxNWR6UFBrQ3hyRnBJQ205N21qRUdibzBKa0xEeFRHT0hjdXhiemhWWS82RFM2UmlhODhUQUtuMEx5MzhyQVFxN0RXN1pVckF6SkN5UUQrcWxZMndJWG1QcWM2OHpkbFE4WHN5RzU0c2FOUmJZZVZ1VjVQNFVlZTZWSVNRdk1XM0UwK2FUOUlRUFZkb01LTmdwdnVYRmprV2pBZGNWdENyTkkrMFZLV21EZTBCMkVvOGwza3ZWMm5lYktvSUtOd2h1aU94Y0xoaTFzT3NLaE55dlNNTmlKcVFYb0dRZkFwajUwZU1tdDAyeGovRVZCbGxWU3Nucjh4ZlIwUy9GN2s5VkFxZ0FDMG5aZEZwSGFSdzZOTGZvdkRNbTBpeDVmQ1ZRdEltUEVZeG53M1hEb3pRcHdYVXpjME5tSElheUhjMStvVGZoWFhtRXhqcVlHZTFrbHBLcDN6SWVObHV1NnBhcU94QlNCbG5nVXBnYzJ2V3haRi9oODYwQ0FXbWVqczExT3QxbG5sMWpGeGdtSDdOY256Q2c0bFZmSi9jN00wU0dmeDJueEJaS1ZpVTJYdkVUM3pTNG9XVTE0d1RZbFBDZVhaNUxWUXlvRkFkaFpjRUpQcTIrQXV3VDlkTERMQ21FT3YwTlQxZGVkVzl4Nk9XNnZaYldkUzZ5TDNaU1pJZHR2ejNFd0w0QTlhd0NrODZRTVpRUzIzb08valhIemtBNkhveHR3VXNiUm9qZjFEVGM0TGtQazRzbllJcE45NjIvc3IxbldaOEhWL1Z1M1B6NUZYanV5UG1mL0NpeVZUenJiN3VKTjBRQ3N3aFcwMmkvekt5UkZ0MmdhL1ArYXdGZHlxQ25oMGVLcnRKZXdvMUluWTVaL0RUNzFJaVltUkdseC83OUpQOTd6VW5IOGw0UHo3MzU4L1BNZDJ0VFZQNXY4dW16eTVnOCtQdjVGSi8rKy9qODUvN0tzeU5SOS9mLzVjMFh5Ujk2SUFDS0FDQ0FDaUFBaWdBZ2dBb2dBSW9BSUlBS0lBQ0tBQ0NBQ2lBQWlnQWdnQW9nQUlvQUlJQUtJQUNLQUNDQUNpQUFpZ0FnZ0FvZ0FJb0FJSUFLSUFDS0FDQ0FDQlNPd2R2V29ZQW5Jdm13RUd1Sk5QbVVMUm5sRklmQW43dHVaaXBLQWZFdEc0SE0yMnJSa3lBc1d0M2tmUE42TVkyL0JLSmZJZnV2UEg2UVdSWnVXaUhuUm91Q05QbVQ4djl0bzA2S0JMcEgveGlQZitHOU5lRm9jeDk0U1FTOUZGTnEwRkpoTEZZSTJMUlh1VW9TaFRVdUJ1VlFoYU5OUzRTNUZHTnEwRkpoTEZZSTJMUlh1VW9TaFRVdUJ1VlFoYU5OUzRTNUZHTnEwRkpoTEZZSTJMUlh1VW9TaFRVdUJ1VlFoYU5OUzRTNUZHTnEwRkpoTEZZSTJMUlh1VW9TaFRVdUJ1VlFoYU5OUzRTNUZHTnEwRkpoTEZZSTJMUlh1VW9TaFRVdUJ1VlFoYU5OUzRTNUZHTnEwRkpoTEZZSTJMUlh1VW9TaFRVdUJ1VlFoYU5OUzRTNUZHTnEwRkpoTEZZSTJMUlh1VW9RVllkUE44VkVKdXBjanBZU0dHQmRSaEUwM1Nua0VweHdweGdFdmdXRVJOajFrSC85azJtODlObmxiSWUwb1Iwb2hxaGZNdEFpYlZsK1RTcS8ySnc4Vzg0blZjcVRJbHN4UEtxZE5YOUI5QnJML0U5bitBWHlNYytCOEVWbm1wVTZabEtMbGxWcWptYTZRejZhcmZmY3JycktWYStTR2UzS0J2R3BaNi9TenpEa09rMUswdkhMb05vdFZjOWwwcXlhK2I2ODJqWDZKV1J6MVNjZXl0c2dWY1o3bDM2UVVQYThzV3Mxd25ldzJyZnpsL1RiUjJmVFErVkM1MCtZTGhBN0RGZnBON1l5SFNTbWh2RExxTnF2VnN0dTBUc2lrcnJQcDZKN2IyQ3I3R3JOOTV1YWtUWmlVRXNvcnJWSXpUcC9kcG84KzhuaXpwYk9wZEpFMnljUnBmbHYyM0xSd21KUVN5aXV0VWpOT245Mm10R0U2bTY2U0E5SG1pL3pyNkxWOEg3NDNLVVhIUzZpN0tQL21iYXE0U0FOdTNscStpU1dkSGJKSzBmRmFGRnVLZHBpM3FYU1JLdUk5UFcxMld4VXkwLzdyN0pCVmlvNVhXbjFtbmQ2OFRhV0x0TUZ2cDVaTlR2UGdvTE5EVmlrNlhubDBtOFc2WUZNWlRhWldVSWVRL2JwZ2N5dzhLSkp2ZHRDa0ZCMHZvZStpL1BkSm5uRlJnNURpSXRVSk15K013ZGZ6NEdWU2lvWlhIdFZtc2k3SmhiY0dvWE91UHdTbVpCN3dHakUrOW1hV290RjRKdTJTUTZtUGdVMS8zTW5NUUlQUTRWaHcyeGJET2lTR0lqUEx2MGtwR2w1WlZKclJPcFh2L2ZuNzNnb21oZW1nQno3MHBXdzNWUTFDZzUrSjlsNGs1TWhKWHhEK3J5aEorVzlTaW9aWFNtM2l5U3UvL1kvLy9IWTcxKzBtWG9pV0FvWkc1ZGpWMHNSbGFoQ1NMbEtMOEM0THh0MlA0eFJWYmxLS2hwZFA5S2YvbngrOTcrTnlldE5YbXVTMDYrQzZsNFRVTUUyRlhMMzFORHVldldudityaFgrbEQ4amFlZmZ2Ym1WU0lhdUUzR2o5eUNIRG1TQmhIYUlpNm5ycWg0U05TTkR6NUJDVTVOU2dueThpbEFYMnRNaUxLcTd5dFBjR283TExLTmZBbllaeVpaZGZSaVAySkplMTNrdWNOS0VDSHB2Rmg5OGxNbXZpRTZiRVp0VEVvSjh2SXBkZDVwWlBhRkpHRDNXOTk3RkpnYytSalB3T21QUHY5MnAzVm5EM3pwelZ5ZFZhb3EzSDRmN3dqOWdnZ2R1eTZTT3JibnV1dzFzOHJacFFRMUZtMFJqZnpSUDl1RUIyRytvaFNuZHM3TE9JV29kS1Rud0lCdmROUTZYY2g1bDVJVFJFaTZTRnRBSzQ1Y2w3M0dwdG1sQkRWVzI4ZlMwRld2QkhOVDVkajVSdTlVc2xJUmc3L3Ftd0NxRXZKaGxVVVFJZnV1S0w5RXlFc3YwdU16eEZrWkYvbnAvMDFLQ2ZJSzZnTTIzUXZtcHNtQk1TcmZaWnhHV0NwYThGZDlEbXVOdk5QRElZQ1E0aUxCM2ZmRUlZWU9tKyt5TnlrbHdNdlRIbllDUHQxbFRYYUtMR2p5NnluSVN5U0Z0bmtYczdmOVYxOEFvWFY1RWV3SU53RzYrMmt1clUxS0NmRFNhTllUbW12S2ttV0I4NXp2TWs0bUpnTVZ0RTI0dkt6MjRFN0h5eWFBa0hSZXJCM2hKc0JRZHVTdEZqajdCN2g2Zk1jM0pWRTZLU2w1U1RGdXFpczBkM1BTSm1DRTIwdGJweHo2cm04TG1iSU96UlVJb04yVmUwTVB4UVhSSXJIYmtlbytnOEtwWkJUMGtTS2xwT1NsZ2JLZjI4R0JFUzduNksxUnkwaFduL0M5SjR6YlpsL3BPeXdyWUZQcElvRWwrQ3pod0Q5aUI1WDcySzNBOFVGSmxVNUtTbDVTakVnWmNIQjY4VU9Ua0ZidVB3MHdieXNpZThFbzA0LzJpakxrTk1TVVF6L3Z2Y1drRkQ4dnBYMGlhY0RCeVQ5NkMyVU0vOU1BODBEeXZLUVpUdndJS1M2UzFlTVJ6R2JPVlpuZ1RyWThVdndheS9hNUtRTU9UdjdSMjlYR2JJTE9mSjY2TEN2dGg5eTBtL0FqMUdKN1A1M3lCbUh1L0VadWo4T2tGRDh2dHlreWtkL0JNVEI2UzNXTXByemg2VFcvejB0bCtSRlNuQmNvWTlNUE8vRzMweGkxVFVyeDg5S0l6dS9nR0JpOU5YcVp5SUsyeWZCMFcrbXlrcmtmSVc1R2grQ1EzNHhIeWlOUnNtYWFsRWtwZmw0YVBYcTVIUndEbzdkR0x4TlpEYUlFSWZYMzZGajZFRkpkSkloUEhRY0x4cUdtcm1xS1BKTlNmTHgwV3VSM2NQS1AzanE5VE9RTmlJaEdMT3Nya3lNZFN4OUNGMVh6cmJOT3U2Rkdtam9lOFhrbXBmaDQ2WVRuZDNCZ2hCdnFPRTgvcnkzRDB5MGxSbEVWOHlHa3VraldOdk9SV3FydnJOWk5uallweGNkTG93UU1MTXA4aDRZZ1BndEc3Mlk4MVJRbzFQQzBHN0xLMFBBMjMwTzJ5WHlqL3FTVFYzbVRVbnk4TktxQmcwTWZzTXh6ZEJWSEpBOGY0M1hwVGdjZW5yNHdidXJaanp5emFCWFZSYktzR3QzejRqd29ycStjT05la0ZDOHZuUXJnNERpT2dLNHNMbS9yTWZzVCt4YnM4UERNay8vUisvcmpUemJqNnBaUkR1dWYzTmRkdGQraEVWaDU4YTgrQ2lTLzhYc3ZkbmpwaW5kcjlqSGRoZFQxZGRQNzdGK0NSaWMvc2tuUjh3L3k4dEo5OWViWnIxa1dPRGk3UEQrdHNwK3p5U1BrVHNjM2VzTisyMG1mVEZJMTI2dVlzVE82KzRqcE1lSVR0MTdXRFNobmg3ajllRndrQzI2b3U5WUw1QmxQcmQ4aFY1V3UvYWF6anFkVWM5SVFRdHhSUG9FVURSK2FGZVNsRWxhK1Q4Wjk4ZzVMT2pocGxZVjl6Rit3VnZ1dmVrZnZTK1RPMzFuV1gvUzFJS29LbEpEZUFUUWRNYy9wNTJzYjVDcnNJcndGK3dxRlRWdSs5WmZxK0RHM2pDbThDbzJ1dXIwWjJuNDlyaUZacElUeERQSlNLVWZrM3BIMW01Tk9Uemc0YVpXdDFNalhnZUc1TTgvb1hXbFBtbFRNTmhuU3Yra2VjRlU3TmxycmUxWm5JcFNxK3p5cHpTK09QOVh4MExkZ0orR082NExBU0xEbktVNTBFaThsRVJzLzBYUEV3YjUyMEJVT1RscGxyL0Z3dnY4V09YclRsODd3a2FwNjF5K3kvUE1CRDArci9wWHhNRlVxc2I1RnhiNU03MWZDZ1lCUkRzNVRIdkZTVWpKazVLczJjd2d2L2xnNE9HbVZCWi95d09FRm5VSHBrL1Z4aDBsWUY4TVpPNTNLYjV1RnAzUW1QM2FmZ3FQZ2R1eEllb0ZhMDkzL0FDczNHY0s0ZUNtWjBHcndUa2E5ZlFaK1dtVmJaTkp4Uk5ONThxWlFZbFhjZlM3WjRsSVdSZGFubndnN25uUnB6Q1pBczl1V3RkbHVRK0o2RXRZKzUwVlRwVVZYYW83ZFhmbGRNY3BwU0VPejRxV0VWbzBvZ0VmdjRPVmM5T2lMOERTbHNzQ0J2OU1OWENVNVQ4NW4weUN5VXlaYW1hU0tEWVFoeDVDUkdQN2w0ZW0xZTdTamduSGpqNGJQUlFyV3FKMUNYczl0Y1QvUXpHQ1ZRRTY4bEVDVkJCa3Q0ZU5iSTlIYWxNcktPVjZ3cnV5U0xiNkNBWEQ2dHhSUWhNT08zUVE2cHlkaDRTa3NoTU9hdGhnL29yblUrYU1Vb1ZSck5HQzEzQ2x5Q09NeStQZXhVa0xGUnhYSU9WNnc3aTZsVEtzc05LdEQ2OUZYZkNsNGRSazNDK0QwZVpDVzlXaVlSWXNLWnAzd3RGS0RoZkFheE14TTI4amZpajdrVWVwc09KZXZMYTVpQ0dWMGI2QlVLbWlTOFZJMGxXS3pZQ3g2THljNjVBNU9TbVdoMDRrTEZKSnljckhQSFNkbzdJMVlOWW9tMklHTHlIcUtMb1EzSUxVZkwwNi93cXJXMjZFZEdWck0rek5jdW9uR2RKVUZoSGwwL0RaOVFCTUZXMGcyS2Z1VXlzS0dWK29zME1QVExqZjcyNy9jY1VxbitRTnRPMXR4V2tyOXVOMTRWYzdIZXNjdGFrTFl3YzB0Q1NQQlFUeGJIMFc4RkYrRlJLZTJkTzBIL0hhZlV0bVJ4QWphdGV0S1ZkZWczY3hwSmFCdDk5aTlhd1ZzS3E3QkNHMGEwakVJb1JwY2h3TG8vL1NQcFU1WktzVnZ2SlFVekFRcGVLcXU4bTJlVEtrc1hCVW5uQjIwY0NnNFc1RC9xeDMzYk1xSk5saVNMNFJEaWk2eHhCeTFPQmZKK3NnUnNPaTVBM25EVGNWd1ZvdmpwYWpVQ2RNd2NMcktDd2NubmJMMHVoZkNvRjFOa2JiYVVIRDJMKzVwOXNSbVNDejdYMXlXSUNsNHVLVTBRWXYzV0U0WGtoMldEUDlONnJ6VTNXMkVnd1JjL2ZLU1N2SFhpejZ2dXZjRGVydVhEbzZWV0ZtNFA3bVJITFJMaW9NeEdZNno3OGljakttK3cwanpzeThZYXNwVVRSeFhocnpCcVkrQmVpaHFodjJ6ZTI5WXFjeVhmYjR0WVpERk1hbWtVbUxZK0lvQnJ3T2U1WEZ3NE1JV0ExU01zaTNSdllHTkdMMGRqczl6cFAvQUp6TDFxZFppTkhNb1dHa3BSQ0g5aDdhNXJ1QTVTRjlSQzNYcDFmaXVUS3NwQVl6MC9uWDg5SGtKcGVncmgrWENKSUdMak1mQlNhN3NTSEU1UE8yQ2ZzK09ZWmowaFBuL1J6RHkvVDk4SkJqNEN0aXBLS1QvVG5qS002aGU3djFHSmZLa1gvU2NoWjNBOWNFdkQrQ2FQankxa2trSms2N1BwNU41Ujd4b1IxN0tzR3lXV05tMlMwbEhiN1ZkMXhpMmJ2U3FWNkdVWEdpYnZDdjBGYjh3cC9SRDErMzFqbkk1MmVhcUR0ZXYreGFLaHVxNEpWWVdwbzZFOCtFTlQwR3Y3M09qdXZlOVhMcm1xUXh0YzIvNlZoWFVPc3JEVGRZRlZrMTJCa2lLbTVnc25rb0tUT2ZPeFE2VVM1bTJPNW15ZENTN3pIVVB0T3Z2b1V2QWNXTXFiVk9GRHRTN3dnNm9kRjB0elo2dXVWMENtSjVtNTJPeVprT1ppL1g0UW9tVnBhRk1rNnNFVjRpdlhaV1AybEN1RHNnbXRVL09xNjBxUVpkbTdpYXZHMFVwUGNtR09zcEZWU204ckNyakYrKzZRbUpsMWVVMVhidFdhNUtWYk01YVNNajV4Qk5QU2lLREtiRGliWmRkNHFVWnQwWllBbHhNNFcwTjFGRXVqTDZVL0pGc3E4ZkJTYTRzWFBUdW5VcmJMbldtU3JTcFlnUElJY2RRRUJuOHArNzlnZVFIbDVuclJjamNEQ2xvbStqd25sRXVBeXR6VmJxeXJSN0hMYm15TUlrdEFsa0lUNmw1Vno5STlWdHIwbDk2MUtYUldRYWJBZ2d4cVRKaExLanovME56MUx0Q0EwNVA4bk4xb29NYm5BKzdZVzlmTjhFMkg0KzY5QmE0Zy9PZk9wUWpoREkzNkQ4Y01jcENQeFVUTkh6MFhxZXpVU3RrM0tTMTRXakpHV1dXQWIrUGhsbVVUUFpkSW5NSk9zMmc4S1ZMTXdjbXVNdmRBSHlVTzd4aWdtMCtIbDA1NVhESUx1VjJrM0pNcml4MGI3SGl6ZWNwRG04REF4alVCV283MHc5UWQ4Q0l0Rm44b0g2ZE1nMHFzdFAvdzJ6NUthdkZCN2JlYm5vbXBtc01aQ0RTY3k3bENtdDdjbVdoTWNLdGhTNUx6VW5iUmQwUW1xYkhqa3ZBenFmdzIxSnUrbFE4YU9mZU1QS29BOWZLWlZhZkQyemRZUjUyWnVwQ2Q5cm5uTHJPcGJ6RlZ0NlNLd3Z1aDdqazRVSTRBR2IxSVIxNjVlQjlMS2JQektpY2hRczBVMnpGY0twRFc1UE41OFlJQTVoT0dBbWs5aURWYjdMVGFmNjJaSEJwTzY3TUJYWnpUS0dzZE9jQnFldlFHUHZJc21nSU9PUU42N2twbmxIK1gwME9Kbzd3WTBXOVBOckFWY3k3Uk05cDc2WVpkenFQU3M0eVBiL1F3QXAwT0RyL3VzTXdoYkoxY1QrbGZYTUlQaTF0RjNqRGJvVFRIbmNjbmxQOEFjM3VxdUxCSHpReWVBQWZEbC9mU1YxeUorVlVhU1duQWZ2TFRHU1YrYStOSzg1cENtVmJZbmF4QjBBQnN3dDBsTHRFSmtQR0Y1YWpSRmpPTThyL28vT1hOMVN4TkxZUm5wMmFuellORHVMUXFRTTQwdG0wODhLMVNNdklKRDNjRGZjY2Z1Q3pPcTJzbnpxbktaUUY4enRWVnNuOXpyVjZTSHY2R2pseU11SG4yTlRjcW1DWS9wOGl2cWRXZytZUkU2TUh3TGZyOEszZWRHN1F2RWVvb3FhUWJuUDN0UEhqTHUxUEZXNkxGTXFDaTN0Q0ZhKytBWldnbnc1MjZWbnRHZm9MeDVwdHhNTmt6TEw5VmtaZ3dodHEzUjVra01EckJsV0toT2thRzlOWHlNdk9Vazk3bUxCZW9XVEhiR1JjSWNNVzdhZVh4SWF6Rk1yMm5BM0M5QzJiTmVnTnZJZCtkckx2NkYzcGlnaXUwR2FFTTMvNXUrOXZVd3VTQno3MExVNTEvNk5PQm5ubHkrSFZFcFljc3h0UDl5R1liN2xzYlU4U1ZpdVdiSXVOUWZBVTVEbXFudk9rREpXWVF0a3RPdmZ6Ti9iWExPdXpFSW4rTFhPY0s3V3pmd1UyZjFvbmYxaHNBK0s0dDVuOW5OK21RMHg5T1g2dzZ5Nk9SVVQ1bWcxdlg2OThmM3hrTmVDcG81R0k2aUpxbEZIVUkxK3pOcjhOVm9GUHNPeHYyVU11TTQyeWYwMUkzNWtnaEVlTHIzS253ZHBxay9FdEc3NGhVRVlqVkJsZjdUOThxcHgzbmVlL24zNzIxbFhoaWNObFRMODFjK3VxUGVrb2hObVNmMHpnblFlMHphczJnSkQ3R3NtbWhML1dacHRNbVBmMkhCbmJySk5SbWpUSy91N0h4ei9mb1pWVy8yenk2L1NmSHBzL3VFa2Uvb1VUZGxMZTc1dWdPZU1TcGI3OEFmdmRQNlROVzNsdzhsSjV6WXlXdFBabjlydC96aUg1djl1dk5DWHRUQ29yMVF0SmZZWDhSNGllVE1RcElRSXd1MndFdHNpZGpnWDN0aGtaQk10dS9rTEtHNUZkYU5jNnViS1FyVnZLUnNGbjlUclE4QlVjZkJmSC9GVzJSclJtYUd2SzRnQXp2eTJCZWQyaG83MWNiWnJmeHFEbURnTFBFejZSWTA5L2pobE5ZZ2FCbXRoUjBmZE83NXJoamx5bWdBQ3NMZTB4c1dKbFlncEtvRWlqQ0R6dlBnYlRkdmZUR0JXQXpFcEhvTzV1T20xak1GTTYrb1VJaEtGWHJJdXdKWVZDcENEVE1oRTRMellkMExmcy9heE15U2lyS0FTcTdpWSsyTDg3OWMwVlJiVnl1ZmphN3V3UmJEcVloUTE4eXdWL0VhMkY3UXRpd0lXTlVXSVBUaEdTa0dkWkNNQWpQbXh2c3ZNMkZPeW5aZUZlcEp5ZWZPb0t0bnJpL2JSSXJNdmlEVHZoaDF3V1BKQWtodUd5cEtPY0FoQ0FleWpkQ2U4Y08vS1pXSjZEZi9PSUFJeTM3Z05JeC9LNXJIbHNDdXJNRVlBWkI5Y3Zna2hWekNnaFBuT01RRXZwbTEzZlkyeHozS3lsVmwyMVk5djNlTXhTQXpQSGpiZGxLQU5UZzJJaGRZNGJoS3JUUjB4UE9RelVCYjZNa013OUF2U0oways4bngwZmdIUno3bHVFRFlBbm16MEhJakwvQ01BMGczcTRMNU9ZLzVZdGJ3c2dsSEdmeVd2ZzFPQkNYQWhWWlpwaElGZG9GcUp0eTlxSXVueHZHdjArNUkxbHhXR1IyZzEyUE9EdGdWME83Z3JOSWpWeDZkb0NkaFRoS1gxZnc5SFNBYkI0RGFidnJOem56WUszSWFIYnV3QW1wdE5JSGQ0T1dLSEJaLzhYd0thd1g5dGRQWVd3NXU0Q05HbnBtd0QzVUhlbllGZStPM3pwY1psbkFPQ2xrTzRPSkZzT3cvUGNwS1hYSGFid3hUMFVicTI0YVhBUkxnaXdxWGpOS3JpOVlwL3ZJclJzZWRzQVk2OHc1Q0V1aUMvR2RRQTJ2YzFiTXNBWmg4V3dLY1F5d3FZMjNrNFh3NmF3WFlYYkZIcnNsY1ZvMDdLM0F1YnR1VTFoRm1sLzJkRllrUGJid3FZakhIb1h4S1R3Mm5ZMkh3Z2Q5cjJMMHFabGI4ZUl4eklRbmVMUXV5QVh3ekYvUXFZbHR5VXRTTXVXdHhucmJHNndZdU1PL0lXNUNPQUYyN1F0NStUeXpNSTBiWGtiMG5hK1J0WEZicnBBbDBDTDdpdmJrQ3R1QzlTMHBXM0tLdHhRVi90bGZvVmthYUV1citHL1NUL2U4MUo1OGxCU0NRamMxLytmUDFlQ21FVVM4ZjhEYjNobjlaRDdiYzBBQUFBQVNVVk9SSzVDWUlJPSIKfQo="/>
    </extobj>
    <extobj name="334E55B0-647D-440b-865C-3EC943EB4CBC-91">
      <extobjdata type="334E55B0-647D-440b-865C-3EC943EB4CBC" data="ewoJIkltZ1NldHRpbmdKc29uIiA6ICJ7XCJkcGlcIjpcIjYwMFwiLFwiZm9ybWF0XCI6XCJQTkdcIixcInRyYW5zcGFyZW50XCI6dHJ1ZSxcImF1dG9cIjpmYWxzZX0iLAoJIkxhdGV4IiA6ICJYRnNnWEdKbFoybHVlMkZzYVdkdVpXUjlDa2tLSmoxY2FXNTBYekJlWEdsdVpuUjVDbHgwYUdWMFlTQnpYbnN0WEhSb1pYUmhmV1ZlZXkxTGMxNTdMVngwYUdWMFlYMTlYQ3hrYzF4Y0NpWTlYR2x1ZEY5Y2FXNW1kSGxlTUFwY2RHaGxkR0ZjWm5KaFkzdDFmWHRMZldWZWV5MTFmUXBjYkdWbWRDZ3RYR1p5WVdON01YMTdYSFJvWlhSaGZVdGVlekV2WEhSb1pYUmhmUXAxWG5zdE1TOWNkR2hsZEdFdE1YMWNjbWxuYUhRcFpIVmNYQW9tUFMxTFhuc3hMMXgwYUdWMFlTMHhmUXBjYVc1MFgxeHBibVowZVY0d2RWNTdMVEV2WEhSb1pYUmhmV1ZlZXkxMWZWd3NaSFZjWEFvbVBVdGVlekV2WEhSb1pYUmhMVEY5Q2x4cGJuUmZNRjVjYVc1bWRIa2dkVjU3TFRFdlhIUm9aWFJoZldWZWV5MTFmVndzWkhVS1hHVnVaSHRoYkdsbmJtVmtmU0JjWFE9PSIsCgkiTGF0ZXhJbWdCYXNlNjQiIDogImlWQk9SdzBLR2dvQUFBQU5TVWhFVWdBQUJYRUFBQU50QkFNQUFBQWsreVhjQUFBQU1GQk1WRVgvLy84QUFBQUFBQUFBQUFBQUFBQUFBQUFBQUFBQUFBQUFBQUFBQUFBQUFBQUFBQUFBQUFBQUFBQUFBQUFBQUFBdjNhQjdBQUFBRDNSU1RsTUFSTy9kelJDWk1vbXJ1M1pVSW1iM3hXbXlBQUFBQ1hCSVdYTUFBQTdFQUFBT3hBR1ZLdzRiQUFBZ0FFbEVRVlI0QWV5OUM1QXN5VmtlV25QTzZaa3o1OHpMdXpkc2pHMTZkRlpZRnBhb3d4NEp2R3ZyMWxpN3VrWUlvdWV1ZHNGSXNlN2hJUUtNNVI0SnJoOFlSNDlCbDJ0dWhPbURGdUhReXoydzZHSVpVRS9JSVVzaVRQUUV1amFXQ0dJR3JiQ0pxMnRtREVZM3JBaGlEak9Idys1WjdlYjlNcXZ5VVZWWjNmWHNycDc1SzJLbXMvTHg1NTlmL2Zubm4zOW1aVG5PTksvbDN3blgzb2pjaDFQcGpoQ29Cd0pMNzJYcy9yL1F2SWo3UDlUM0ZDSUVhb25Bbk1mNDlhMlN1YmU3L1BiMFdON1RMeUZRVHdRNlhGQnhmWnZQM3BMTC90cGZhdnhlNjM0OXVTV3VDSUVBZ1d2c2hkOXlmbThBMGQwUk1RUDJpL3gzd1h1VHVLVi9oRUNORVBpYysrcGp5VTduL2lHQ0N5M0dYdUJSejdGWCtDblhTT242UU5ELytpRHdCWGFxN05nbHRpY1l1dzZsKzNySFdYYnZid2FNRHZ5RStyQk5uRngwQkpiZHM4T0Z2dEN3am5QNStRQ09BOGJPSE9memJFdkM4OFFkR2FKZlFxQVdDSHlldmVRNGMreTJZT1prTitCcENVcDMxL0VDZ1Via3lvdEJDdjBRQXZWQW9BVURZYm5GdmlLNGFSMUtwcUIwWDFpRThLcnJJUldpQUNGUUF3U3VzMVBIYVROMmwvUFMwUE13cm5SYnA1dWF3NDRTYWgxSElVSmdhZ2djTVpnQkhZZ3A1MkR1WmMzSEVIRi9yRytkNXJGeFEwRkNZTm9JOU5tZk9BNmNZSXlyMUpVLzFlek1JKzYydm5XTzlvd2JDaElDVTBaZ2dVL0VuQUdrbEROeUhaTTFkU0hTdkYzZFVpa1VJQVNtanNBMXh2WWRaeWg4WUJISmZTdTJLMnhxQnRzN09rd2hRbURhQ0J3SlpYdVpNV0VubU5hQ3c4MkZEYzBmV1FzYUN3cE5INEVPRSs2RTl6ekN6ZHpRRE0wNWdPUnFmNjV6c2o5OWJva0RRa0Fpd0pqaFRuQWM3UlZ6R3U0OWlPNld6T2dNRE10QlJWS0FFSmdPQWl1TXV4YjBaWWpuRmJaMXdwaGNEWFlXaE1OWDU2UVFJVEJOQks0d2R0T3MvMkJIM1EzdU9sZWhkR1hFRlgrUlRTVlRnQkNZSmdKdDB4NEFJNWVWUS9jYTN5dldaK3hld0Y0bkpPSFQ1Sm5xSmdRY0IvYkFtb25EM0ZsZ3pTNTdQTVRkQ3g4UjZmUGhmR1laQ2hNQ2swY0FxdzJCcUFaMTk5N2dCMDU4aVIwR3I2RE5lY3JnblR5VFZDTWhFRU1nV0lIUThmUCsxdkxQQkZPek9SZWkrL2YrNFgveURDZUR6a3doUW1CS0NHQkRtTFJqSlFjOTl2Zi8zRy8yMmRtMkg4RW5hZnlpM2JrU0lQcXRBd0tMTE5pWHE1bmhyNkJCRSsvTG1OK0Yxc1VCRElmeW5uNEpnUm9nc0JweDUzS1dsdC9qUGZSTGhxRE92Y2M3ZTR0eFh3TzJpWVVMajBBejRzNjk4SUFRQURPQ1FDZThCWGRHdUNZMkNRSFlzTWVFQWlFd2N3aGdXN2w0RldMbUdDZUdMemdDT0E4RXIwOWUrT3QvZUg5dDg4S0RNRnNBNElVSVkxdmpiUEZlSHJlL2YvYjlyVmVWUjQ0b1RRQUJPTVZvVVhjUnB2NjFVM0w3VFVEZXlxc0NUckVMdjNleDBjS3IrUTMrR2lsZHM0TkF6N0lRTVR2Y2w4UHBGZUZkYVpsdk9aZERtS2hVaUVDTHNmVUt5YzhFYWY4c3dENVpUVFB4dENTVGNJcnR5dkFGL1YzeDMyYnFHYStLWGxBa1pxblpjNURjdlZsaXVBSmVuL0JmVityUlczWVZnRnNaU2I2RGNhMHk2ck5CdU8vdnJPK1RYM3MybnBmUEpWNmZqTHdSTVV2Y2w4THJjbkNpeEVBY1RsVUtTU0pTUFFKdzUxNTBWVE1mSEZmSkQyaW5hMllRYU5JU1d0dDNyaXo3eHdmUHpKTzc2SXpDblR0OVo5RFNNMmMvTjcwSGNlSWZ0THBpSGtNMVBXNm81cFFJd0owNzlTVzBPZS9zMmRBeHZTbDVEN0l0c1ljZWYvenhXemZrQzU3ZTZVT3ZlK3pocmRSRSt1ejBCaTQzZkVaVjZ1S1VjVG9JWUlJMjlhV2ozdW0rMDh1LzdZZC8vVXBjV3dMQ2hubVRCbFNYY2NHRjVFNGRpRFRjVWg0ZkFiNDc5ODZVd1Zqa0orbjRDN0Q1T0duOGx3NWpmL1dmYmdhbHVZdjZtLzlEYWxJTGdYM2JEWjlSbGJvOFpad0tBbHhmYlV5bFpsMXBuNStrczFSb0RickorTm5Wd1FXbEs3NzJLdS8xNy9LZkNWMS9TYVRNQlMvdDl5Nzhpb3dHYWdaQzJKMHJ6Y05wY2Jzb0RweHVGTEl5aC82SEF2d21YR0YvSzZFdEVQRFFKYlQwU2xDemQ5SDkyZ21nMVRRYTdseXhUMnFLN0ozNHVzNHRzdlk2TUhiSEwzdWgwNERObGowWGt0dkFTcmp1SDlXK0hEc3Z4U3hKNGJvaDBNV3ozSjRxVTh2QkFrQ3J5QXFXZWY3T2lmcE1jYnAyWGZmMzI4eUhEeEZPVjVaeVRRMkJJU1IzYXBXTGlpOEhLMWlEQWowSTgwejExYmEzWlIxRGx2d3BhcHZNM09rS1FzYmFCN0hqOERJU0tKeTlGOHdRQjhZY0t5dFJ6RFB2QkdYbTNHL0xXSHJCTDl1aHRkK013RTAzdXh2NmdNa1VlSUVqWUY5VXl6ODluUGZDUEhNaktOdkp2aUlvSkhlQnZUWnY3VlJ1Q2dnc3cxaVk3Z21OODNLZmk2dk85TStPQSthWk8zNnA1K1Q1a3htSURQZ1o3Vys5OEhzOU15QldnNno0dU1tVUYzL0ZKNGM1RWtYT2lPcktQY1lyZVJhUm0vd1Exc0hVMThCcklBNHp4QUpPSUozeW1tYy9xQjlXdzFadTRJYkJOTE14ZUUwT0dvczQ0K2NMcDlQMXNPUmcrMklYdVFUSmxYT2JxU0FCZ2QwUUZjTTlzSk9iZzBIZ21uM2cvbVllR3YyLzhxdnNmWGtLVXBtcElYQUV5ZDJZV3Uyb0dGNkJZMUUvQXZsbmFLNi9VelA0U2tDa1BaOTk0K21iMXlKeDRkdWxuNy83em5BTTNkVWRnUk5JN3RZMG1jVEhoZzlGL2JCYjl2TXlFcmh6Rnp6bDFEVW85ZGlqSC9Dd0dZMnVjNFZBQjVKN1hFS0xscDQ1L2VaY1pMcnlYU0tJOEdqRk9JSjg0TTRkK3N1NDRZeHZaZS9BRWV3ZG0weUhNNDY5KzQ2LytLa1B2REg2UlkyeHBTNXloZ2ZZNlVPMytOYnBoMTMydFNVRDRVRnl0NHZUWEhHWngvSk1qcHlPM0MzUUx2QWlwKy9PZlJzTHJGMnpQUTFQK0F5dUZsOW00SitGbTdiejIyelpESVM1WHBUWG41VE1MNmRibk9TeWQzcU1yN0lmNTZEa1NhZGNVeXJmSEVRd3o5eHhsbHkwSmFhMkYzM3IrZjhwZmtRd244eEdQdTJkZzlVTFZlUWZmZDhIV2dLMVI5Ly9nL3ZsdHB6dndTNnVqU0MwK0VibG5ONDZrSjVKdUJiVTlVTDZZcEdjUjF4a095ODJMYlBOcG1oZXd5MCtzc3g5NmlmUk4xNktWRTIzb3hFQThvejk3NlB6NUVtRmdWakNhNFBYL1MyR3JSeHZ2K05iYk9wSzNKczR0bVVuR0RoKzZPd1FSa1BNbk8yTC9vQnF4aEpKa1FGcWR6MUZOc3BpSU5BdlE4SU1la0dRN3l0L01SNmRNV2JvbTk4bk9jd0ZuTER6anFmNDlUU3pUYTlTTXRKbmQ2L0RSUUlYUTJ5UHI3L3JkMEZhMHlrSkptU0Q1TjVPU0tMb0JBUmdMc1RVU1VMV0xOSGNkaXRNRnl2SVlwTFh6YUdRY01MT3ZtQVlXbkU5QytlaHZDNTdvZlVLeEF4aWhpNnNrVDJlOWM4ZTgvOUZyM1k1anBpaWJNeFVlVWpZblFvWVBnTGR3cFpiTTFEYnF6bTA1cXJoenQzSjIwQytiVWdzbm5YamhpN1U4Q2Z6MG8yVk81RGN4bElvSWdFQlBwUGFUVWdyRW8xSFViaEh3QWEvS1hpNGxEd2tMM21vS0h5ZEhmSkNxOUtqQU8wdkloSmE4NWx3WVg3M0JwV1ZieHM2NW5jV1E3ZUZ0THZmcGJJV0MzUWt0OFhJWEtUUy9NREZ2UW9hM0FQZGpZSjBJUzVyZ3NUbFpEY0YzOWdUdlVSNzJ2TDlzVzdjUkRYNTZrZExtL1k1cVB0N2F5MkdMdStialAwVmsxYitzRmZDZERaLzdUTlpraCs0dUYwQjUxd2piUldrZXlBZko1aE1Jclh3N0szbzljZ216OXoxTnh3NFRvK05kQzM4U0xUNHJWdDZpd3owOVk1ZmMxK2F6ZjR0L2dlZmlkY0tXcVZrRDhCb0hzbGtkb3JudjhRcUpLeUtWb0pzRG9kQWlCTVlDNEdsRE1uTjNMdWFjaUhDS3pCQk81SmEzMEhvWm9nN3gvbDkza1oyS3ZwSkpDbnJMV2FSUVZPemxyeTQrWnZWSExpSTBUV0h0SVVmQTRicVhUOEdrbnNjVGh0L2R4RE02akRKMmh1Zk95SEhpVm80QmpOaXNkZk0rRlUvejF1NVkwYmxER1A5ZHoxbjBRdGJyR2VhZGVXaHdLYzJSWS9IT0ZDeWp6MHptYVd2R1dpeCtTSnpuNzR5c05FQkxFdUN2emNvUitUUXdOdmxnWDh4S0xXSytPbVRJZUlUcHh3TFh5R0NycHhqT1hpd082R2tGRGZkNEpDRDFTSVdwS3VkR3YyWW9jdVpXUEFLZTFBNG1YYU9RWVdYdThnWEpPeE9CZTJIckNtNXkwa2VhbHN1WmF6bW1PMjFnM1lOWS9acGVuNmdhSldKY0JRMmRILzQ3cWFnSTZ0SlQ5U1dFOFBMb1MyZTRoSVJxTXFkQ3lVaTUvYUpkWTlKd0x4K1BjZ0NhcGtIMDFWZmNqRnIzeDVUVVhJeU9vL2FRZ2RUVkVreHR1WEt2clJZb0dQb2lzbWRxN0ZJR2FyS25kdUU1Qm9QT2lVM29Xd24ya1RvcXJsYUtNZklteXUrME0yekFyc25ZUFBjbEpXZ0N4aUdMbEw4dnJUSXRtU09Bci9renMwTUhtYnRCWFJTY25VOTBDM281L0gwQ0lyQk5MUE92ZTdYMzJVYnlWeU9TNEhhMzFKNU9xWXRDbXZvV0tSY0tnTSs5SW9DL1V0eGVLRUNxNUN3S2hvOEFOMDdoUWpEeGFtMlovVk1DVXBKZGRtZm1YbjhCTjI4MTVFNUsyc2JDaGh6eHVEbG0ySCt2YithSzdTVkh5bENWd1lFbW9VblV2YktJTGg2b0xWbkdSTUxyYWIwRVByQnpwanM4ZVFCbHkxeGFIazhMV1hNMFBUc2dhSG5WYm41NE1DYmhWTGVnb0lOWGF5Yks3NHVUZ0RhVE1sSGlhM0dCQ2JIQUI5aW9Hdm9JUkRiMDRtTi8vRXNlK1gvb2U4VFFrZmNuOXl4cWR6bFQ3L3g5QnZYRW9ycDZLZi9DZXI5NU84RUVkOEJxTmhQSHdaM0MwRlhPaWg0RE1obkg3NzcwdzczK3UzcWVwMlVEVFJLWE1CZ3k1Q1BFcHN2RmlJTVljdEJHb0t5SGhUai9XQmZrVmdZTUhhTHNXOVFFUW1CNjVDR0o5bWI0cWwvMjJONEsvTnNuT2dDR25INXJqbStVNTVmMndHOWs3dTgvRmV6YjR2VFR4L1QrRGc3OWZDK1VqdlVNOU0yTUgwOTV6RW5uc1dkQ3RvbDNtWWRKeHFqNjNXMTB1YjlRRW9NMzBIenk1dk84aCtNdHg5T1RwK3hEU2pmenRqSERwMHZqbDJnNEYrUWV2eXhoOTFYQ1Q2dnNCdTM4SGtwcGNMblBQWXRlSW52NjBjM1lrenFrTjA3ZEI0ODJ6d3cyNWUrZ1dPb24rdmtxdHk1R1A1TUV6RUhobnpqdzM1UWp2ZURUVW5qU2ZaTklqZ2NhK1VzZjgvcFcxUXhXWnh2OFJMZmVuaXIwUmxVWW9iQXd2LzV4dE52R1crempLTDROaWFzNWNGR3g1d21wMi9nS05yblBhMHFkKzRxWkszWTRxOHByWERkYVZkcUsxaThXdEhDbk9VcE5WcUJIbDRvNGk3TFVtTmkzam5YWitIeXk1NjUzbGl3Z1luVm5hK0VxdHk1VFVpdThtbmxnZ3l1VkVVQS9VRDVuaGJWWkw2MWw0ZndBMHFWOXd2Nm0vUFVIaXJUREZySUJ6NDlnQlJ0WUtpSzgzdkRkYU85ZFkxM2hiN3ZaZDRjMmt1WXNVUFExUzRrTXlWdHVHa1E2QnI3cnB2U3kvQmpvZWw0V3JLUUVybTBONVNCdEdWTHpnZDc2UFUrU2MrY0poZHNZTWxNMXBZYzVPTytuYmtuV09LbDlZTzlLR0lIS0Z4TU1IclF1ZThQcnBieFpGdUJrWUM1L2taaTlja0pYYVptZGdmRkdFeXVJMlVLV0ZuenN3N05hWExCQnFhc2ZPYXpRVDRTNUxESkVxOEVXVGZCY0ZHNDJHQU1hVFd2T3dIMUJXbnhOclhyd2F4NFRIaloxVGJJVU81RUcxT21xbVM5VjZGcnVITUxOckFxWm10SDE5Um1ZZVlXdWZEWnI3R2VWQWZyOEtZYUNWTk9keGVwZWlNb05TL0hpSjdjT0pDT1hKQUwxck5hWmgzSTNwQ0pRbW1aTVFXVmh4QzJEWGR1d1FhV3hsN2RDUlVXTUhzRCtad2oxMkN1eUhHbjJGNXd4Nm50Qk9ITFVtY2VTT1dyaXFRSlFONXZCL21XVlNoTndmTHpOSFdqRU55V0ZSUnNvQ1J6M24rNVRPeFcwRWgrcUJqYktrTFlYSHpncnJ2RGdOaXFERjY5OFk3czlQbGluS1IwUlV0TGRrSWxsTUNZSmxsQmYxSUVpelZRa1RudmdhcmN1V0twOUxnSWV2eHRJRmtleXhyS25Zc0h1eUhqcy8rQ0wrbHFhNGdOT2RsSmxGVUNuVnZORjFvNmlBTk9palN3TE81cVQ2Y3FkeTdNU1dNQXpBTURwRlhLR0YvVlY5TklVRDc5UkI2Q29reFhVM3Fna3NFbVBXZG9pUEp0YUs0Y3AxZ0QwOWMvNHpuUndaVm1LN01wa0xXQ2hNR1o4Z2VmR0g0SzN0ZllONi9sWkxZdjM4NXAvRnROUGlldGdzWFFxRHNCQ2Roc2F0cm9GR3RnUWFabXAzalRHTExLNUJwMHRjck1SZmhJdno3cDlJMEJWRmpRa04zdFhGVEIxb2JqUFBXdUwyRzVOUitGWE5YYUNubTZVYkRacEJDTEx3cUJ5N3dOdE5WMEx1TjY1amhWWWd1SHdMN1lCenVhVWp1Q0s5ZHdnT0hjRzNHSlBZWlpPUll1RDcvOEx4MW1MVnh1ZnROM0FqVzdxNmdYYXFDaWN1NERMWE9jS3JHMWZZakh5NFhvSGVqZHVmd2hieXBpVGR6eFMxbStLbVY4Z08vaXVYWHJkUi85dm44L1pibjFWYXRrWWxYN3g5Q0dKbThkcmp3TkhBL0JlY2tCZ081VTBSWVBoTFhwbHFlR0U2MkhJRytHL3NZR0svL2F5VTZXMjVEWlMxVlNBcXlvdlhSTnRRek1xeXJTd0VwWXJTTlJyczEySzJDc2hDVzBvZFpEbUcyclF3L0E3UFZBZEhPczNZS1NjbGhVME93c0pOdkc5cmRldUQ4VmFHQVdEbVk2TDUvdTdGWFFBbUZQM2l4RUdFL3pPQ0RRakN4cUxIMFAyRFpjdk9ucldRMXA3L1RsS3NpSlJpbHpxaFhwVC9rYldBR2o5U1RKRnd5MksyQ3QrQklhM21pUkc2bTRhK0V3ek9ULyttTmdYS1dIMDBiZHRRMXhHWlZ2QW1rbjJwekNDS1VjZ0VITmVSczRBY2JyVVFWMFVMTGRWMkIvTGw4QVV5b3pYMU9IU2x6eFlOVzJja1hycTFIQmxycExHempTNHBLMlNGWDUwTDQ3QVcyTVVISExKMThEcStLMmRuUzdJOXk1UmZibllnR3NxRExIa3czZ2dyZnpwVGh5U04rTng0NkpPZExpTWlabjVjbWRCSGV1cWpoWEExWHA4eDRBT29tK2x5Wkx2TzZQdzRYcmNpbDQ0L0ltcEI4b0FwaFdiYWxNLzFDR29OWTNaRGoxYjF1NzJsS1hxU2hqWDdjS2JvWU4xUExuTjNsVnhScklLVnlJYXpCaTlDeXlQN2NMd1ZWN1pQSWhDUkpCd2FGMkh6a256SCtGSE9mVzV0RzU2RkUzODdGVGVxbU9uaHUzZlRkS2F4dVZGR3hnNld6V2xTQUVUQnBicGJKNEFzS0dDellQYlR6T29KaXJyVURNL0pSWFMzdk4wcE9IRmJPUlBuZWxPWHQ2SW5BZ0pwc04zdDZpRGF5VTVSb1JyOHFkNjBDaGFKOVB2Z2JEUnZBTDRtRnVTUkpIb0N2RGVYd0xXTk13ZGU0WDFpU3h5ZjhPTmY5QUMvVXZjUnVzYUFNbjM0N3AxTWlkVjN0VlZOMEM0V0pMYVB6TGVadUN0YmJ4OFpzVGJZUXNHelpFNmlaZ3Uvb2RuYm5oVmRKNFhjR29VRmRQWWYxWDR4YjVqS05vQTBmVmVKN1NxbkxuT2hCY1UwVHlZSVplZFNqSzliV3h3SFc1bkZFdXFWQUc2bkN3R2F0eGJ5MW9pbWVvT0o1MVZSMzdFQ3h1WCtJT2xLSU5qTmR6UG1PQW5ocDh5MnloT01oeG94aEYwTmptRkdEUmFNM1kxM2JxRmZYNllaWjZPa1kzYUxUOHIwdG1LVjllWHZoR2puMXFKMzUzYks3anRuQURmWkxuL24vVG1QQ1UyVmljWTV4bi9oUm1vZVUvMlNmTVpZZ2UrK3N5MDRFNmRFekdwUGs5TXFqOTBLbXYxTk9VS3o4UGV1UnRRWldEeGRlQit6djRWN2lCZ3VUNS85Y3Y3QUd3WThUZmJzc2xXQ2E1QTMrbFlXQXVPSFQ1aUNxdTVYeStDOWdnbXdHRkZkdjVwRUhhSkg1YWdUM1ZmTG5EOEZwUFF4aEhoUnM0Q2M2blg4ZmJJVjlqRnhYeXNDa1dmNldFNUNIQXkxd1JUM2JlVUpMNDRIbHdHSjdqdkZzN0hESlYwSkt2cXMrMUNycnRNbFZyeVh6RTVkVnhWdGhlbCt2Y3ErSkpGRytncGFiekZUWDNxUi80QmE0WjJkMlBmdit2bGQwMHZ2aXJOcC9tSmI0Z3BtQWR0bU1RYUhqQklTWGZIdHVqWXVRYUZYd3lLTGcwQ0U3TEg1VzUwclFsMzJmU2Z4bHVGT3pMOExWdDhRWld5bk1kaUxlNTFBWlhmRDlMUVE3NXpLKzRNbS9DMEgyUXZTYkV5OXZZVzdZeHNuNlczY1ZQcm12QS9pYW1mWjkyejQ1ekZTK3gwQUZPWFYvK01aeWMzdkRZMnBLN0owZ1hiMkNKSE5hUzFCUHM5TVl0bk1oOTY0WWJFWTRTMk8xQ2NxWDNLais1T1E4SDBkK0xHQjMvTjJNUFBZeCtzWitYN3BMSFRrSGdoYlc4QkVvcnQ5eGlaNzdqNUczczFKVjRGVzVnYWZ4ZFJFTHc4eGplcDl3SXJEeDc5ckdJNERyT0Y1OXhUNy9sNytXbUNYMzdIdS9zelo4c1FLQzBvZ3ZmNjM3ZEh3cHFmN2IxeUxZa1c3aUJraEQ5WmtlZ0E4bTlrNzBZbFNBRXBvekFBSko3YzhvOFVQV0VRSFlFWEVqdVZ2WmlWSUlRbUM0QzRzM2Y0K255UUxVVEF0a1JFRy8rcWhsSDl2SlVnaENZRGdKODgyUWxPM21tMHh5cTljSWd3QmQvMWFzTEY2YlYxTkRaUjRBdi9qNC8rODJnRmx3NEJGWWh1ZkVEQkM0Y0ROVGdtVVBnQ0pKcnZIb3djL3dUd3hjVmdRTklMaTFFWE5TblA4dnQ3a0Z5dDJhNUFjVDdCVVZnQU1uZHY2QnRwMmJQTWdJdUpQZHdsaHRBdkY5UUJDQzRoZCtJdUtEUVViT25pUUEvT2FmMDF5eW0yU0NxKzRJZ3dMOTdxbzdqdmlCdHBtYWVCd1Q0QjNBS0hzMTBIbUNnTnN3Y0FqZ09sdDZJbUxtblJneUxEOWVhcDNzUUpJVEFqQ0RRaHM3ZG14RmVpVTFDUUNQUWhPU3U2VnNLRVFJemdzQVFranNqckJLYmhJQ0JRSi8ybFJ0b1VIQjJFUEJvWC9uc1BDemkxRUFBeG9JNHBkQ0lvaUFoVUg4RStJSGx0Sys4L3MrSk9Jd2l3TS9ncG4zbFVWVG92djRJOEFQTHQrclBKbkZJQ0VRUTRJdS8rNUU0dWlVRTZvL0FLaVIzcy81c0VvZUVRQVNCSTNMblJoQ2gyOWxBNElUY3ViUHhvSWpMQ0FJZE9pWWtnZ2pkemdZQ0xkcWRPeHNQaXJpTUlJQUoya1lraW00Smdmb2p3TitmM05Gc052N0h3MmYvRisxNTFJQlFxSzRJOFBjbnRhUTJPdXlWUDhOTzkrcktMZkZGQ0VnRStQdVRNdXc0RDdCdmRad2w3K3hRUjFHSUVLZ2xBamc4VjM5K2NzNC9SM2VSM2dXdTViTWlwa3dFc0lRbVA2Zm9PRWZCRG9iK0tTbGRFeVFLMXhDQnJubllRdXQwVTdEWUpuZEREUjhWc1JSQ1lHaTRjd05qd1hHdTBobm1JWkRvcG9ZSTlKaytiT0VLZThubmNJRytlRkxEUjBVc2hSRHdHRHVXRVUxMTFvM3BLWk9wOUVzSTFBZ0IvdjFKMzdZRlV4MWwzclpvczNtTkhoS3hZa0VBMzUvVW4wTHoyTzBnUzU5ZThMR0FSVkUxUWdEdjhpaW5HTjZsM0FsWTYwaUx0MGFzRWl1RWdJRUFGaUtDV1JuV3p2VDVZa042a2QwQWlZSTFSS0J0dlBnTC9Yc2NzRGpVbXJpR1RCTkxoSUJ6WUx6NGkrLy9IZ2VRbk5ENSt5UWM5VVlBYjBSc1N3N3hGdkIrRUQ0eDVtMHltWDRKZ1JvaDRMSXp4UTFzM3YzZzVzU0lWdWtVSUFScWd3RDJsZXVQbXhpU2UwQ1NXNXRuUkl6WUVNRHVYSDJtMkNXOWNuWkFYMGl6d1VWeHRVRUF3aW9YSHh3SEd4N1hBczVJY212emlJZ1JLd0pOTGF3a3VWYUVLTEtlQ0hSTWV4WUtlRDlnazNSdVBaOFhjZldQSHowV0lMam1XbGxJY3JYTGdkQWlCR3FEQU5aNVgrRE00SGRETTJYNEZzaWZxMkdoVUkwUXdGeE1UTWF3OWlEblpPQ09WaUpxOUlpSUZTc0NYVWp1RGxLYW9hV3lhN1Q2YTBXTEl1dURBSFlyaUszanJkRHI2YUVkTjgvWGgxdmloQkNRQ0hDZGV5ek0zQjBaaFY4Y2R5TnZlK2JNemNoQ1FVSmdxZ2pBaThCOUIwK0VqQVVIUzhGYkFWdTBzM3lxejRjcVQwTGdPbU1mUWRxQXZUNlV3MVd2QVEvWWVpaUZiZ2lCZWlEUWVoWDR1TVlpUjlub3Q4OWNwWDNyd1M5eFFRajRDRHpKM3Vrc2VPeE5ZVHdPNkszMU1DQjBWejhFZXV6TVpWOGY0ZXV5UE5wbXpsd1VqbVNpVzBKZ21nZzBmdFU5KzFDVWdSVjJ6NDlhSk5kQ0ZCdTZyelVDWG5CcXlCRWR0MURyNTBUTVJSSG9CczZGbG40NUxacUY3Z21CR2lLdzVHL0VJV09oaHMrR1dCcUp3Syt6djRHMU5PL1UySWN6TWo4bEVnTDFRS0RSeHhkT1hQYStlbkJEWEJBQ3FSRm9mUHJoMDBmK01IVjJ5a2dJRUFLRUFDRkFDQkFDaEFBaFFBZ1FBb1FBSVVBSUVBS0VBQ0ZBQ0JBQ2hBQWhRQWdRQW9RQUlVQUlFQUtFQUNGQUNCQUNoQUFoUUFnUUFvUUFJVUFJRUFLRUFDRkFDQkFDaEFBaFFBZ1FBb1FBSVVBSUVBS0VBQ0ZBQ0JBQ2hBQWhRQWdRQW9RQUlVQUlqRWJnN3p6alB2cGRvN05RS2lGUVB3UytuWjIrdWNYK2F2MFlJNDRJZ1ZFSXpMbDM5eDNuTSt3Tm96SlJHaUZRT3dTYS92ZDYrblM2WSswZURURTBDb0hsNEREb1JmYmFVZGtvalJDb0dRSlgyTmNLamhyaEQxRFZqRXRpaHhDSUloQVlDNDdUTTc4UUhNMUY5NFJBM1JCb3NVT2ZwYTc1VmZhNmNVbjhFQUlSQk9ZWUMySlc1WGQ3SWpub2xoQ29Jd0x6eXJ5OUlyL2JVMGMyaVNkQ0lJTEFaZi9ERVloZHBFK2tSYkNoMnpvamNNU2VEOWliWjlMaXJUTy94QnNoNENOd3dGNE1vTUJIcnZkbkVKVVY5K1lNY2owOWxyM1hUSy91VW12dXNaY0RlcERjdlZKSlQ0WllUMzArZmpMMXpYb3RnNWw4eWhiVSswcHlWeGk3YmNsUTg2aXJhb1paYzBicnd0NFZaUjdXaGFPY2ZMVFVCNEFodVJzNWlVeXhXRzhXbVo0aVhrN0RZMXZUckwrMHVqMVRjbWZQWW9SVGI3TTBMQzRHb1NmT2lmZFRTKzRTbThHdldIZlk2eStHdkpYWHltVjNGcTNDZVB0ZHRYSUd5VjJQcDljN1pwNmRIdGFid3hweTE1MWxwZnM1OTlYSFBxWnNwaVYzeVA2MGhxSlJjNWF3NEw5VGN4WVQyZnNDTzJXbnh5SjVwaVVYdzhSK1lpTXBJUW1CQStWUFNzcFIxL2hsOSt4d29mK0NZTTlWTTdRWnRCYWFhaGtsRzlUdnZ0aWI2Sy9PYklmL1BIdkpjZVo4T3owa3VUUG1XMWpPNllHZVU3MDFtOENmbTl3RExnQ3plTFd3akxJY09ISzFiMkgyL0xsUDVOc2oxT2hjZE1rRmNEUHBTN3pPVGgybnpmekZwMENBMFFGblQzSUh1ZVpualkreml5NjVDMncybDh5UHVIWFlZZjZXOG9HeTFtZHU5UmZtMm5IMkllLzNCbWo1VjdLWE8xY2xUbVp6Q2JqUC9zUnhXbmgrM0JVYTJuR3pNMU9QcDhuOFNXWUdwdi9qMy9YUWJwTGNhMndXWHpyMGh3cXVlZmdqMTcxdjFtYWNEVGY3bWg4ZmFmN0tGMGh5TWJmMTMvak8wT3VubnhYOWJkOXhoc3lmM3VnRmxWbmJXWDRsaDk3NDdsdi95Ly9ub09CRnR4YWdzTzVQWHhLemNuQWtsTzFsNWs5dkxxa21YT01UdHhtNmh0bU5CYjkxSkxtT0EvVjFQRVBQMm1lMTQ4dnFleDRSSy83NjdiTkxzN1djblgvQUk4bDFISmhhcytmU1pjcWJ3Q1VaSzJkQjM1dXh0OVloZjhjQjV4bC9TSElCMk1uczdjaUg4d3V1QlgxNWNwYlp6RDdoMFZRbUh4cm1ocDRrRjA4TDF1THg1Qjlhb1JyeDNFS0x2Q2R5aTN4L3BuYXZ3RmpJTzl5UjVFS0FzR0VzcE1BS3lkUmtDcmVaRkZXL3ZzdEJDNWJ6TGFWT2h1bDRMUkMvblhoc3FoaVNYQTdUSU84RU54WEdWV1E2aVRpVEZnTG53cFZjUzZsVmNKaUs1a0YrVHdoSkxrY1lMcWExVkVqWEpoT1dJRFpEekJ6NG04Wm15MWh3M05BOE05U2djVGNrdVJ3aHVPOURWdU00MUthZkhxeEFhRWFXM0xOOXgva0Q5Z29kVmY4UUZ2elc4M0pKa3N1UmcxOU1uclNSRjhqSmxvTVg3RjZreHUvRUYwN2V5RjRJYStKSW5ycmR3bG8venNzVFNhNUFicGpmM3NxTGZLRnlpNWFsejdjLzR6NzByM0lKN3BmZFY2OFZZaWR2NFg0QjJFbHlCZXFYOHM5eDh6NjFRdVZXeS9TRy9EQzdZY3hRZjM5eVJ4OWcxMUQrb1k0a1YwZ1FUdU9hS2I5WXMwVERmSTY5RTJzeFcwRlBnaDBpZzBGTWRUOVlkbC9QVFowazE0Zk9OYlJPYmpBblZ4RDcvRzZYVlZ2M0s0NnpxcHhwRUlqU0tJL2pzRnZrOUQ2U1hCL2UzbXdkTytzV21OcEU1S25oSHZOVlJMbGRyc2lrS1VKNTdPMmdnSmxMdXh3RGVQSEF0c1lpWFpzTU1CQkxPOTk1a2N2c3FwS2hBemF4YndHaUZmTFUzeHpJa3M3MVFZTkhkNFlNWFpqbHBlM0M3ZktOQTBkcVlRTjJTQTR4eWxVRURwSTd1UXFLUWlTNVBuYlkraEYxa09ZSHRmS1NtTnJJMGIxd1hZTWRrSUNtRFFoNXVUZHZaZVlFM2JhSTJYOEFBQ0FBU1VSQlZHVXJjeUZWZ0NRM2dHS2d0STdDcHI2QlZjYWVMNG03QmJHSzNKRTZ2RkVlNWJFTVFyMXZqODJVbUlFa040Q21XV1NlbXdodlJRbGdGZzZCVXE1NW9ieGRxY1BoRlB2alV1aW1JQkpid1U1UlJtY2h5UTJ3d0I3ZGRRMUx6VU85OHF6eVZkNEZzTTB6NkFuWVNWREE5c3dFR3piSEY1aWdrVzlCZ28xSlQxbHFUSktzN3JkVlhqZnJja0hWY3lWb3NvM3ErQTVSaHE0b01pa21uUnVnQ1FQdmJnallPdDh3eG5aTDRxKzNCVUt3bS9rUExvUjJSS0Q2ZnpCNWRndlVRcElyd1JzVW1pOUlLaFA1eGVCZTJrZUZ2dm9RTEIrby9ja1FwN1dKdElGdjV5OVVGVW11ZkU0blN1L0ltTnIrd2hndDlOQmpEZE43dG5vVGM3RmdrQ3Zra3liSmxZOXh0VHpiVVpLczZoY1BMZkpHUk1HYXRETzdOVEdiQ1JPMFFwNjlTaVQzYUNLSFNTK1grMWtNMjViWGdnSlJWWEYwc2tMcUtzcVg0UW9yS0U1UnlpUHVJWG1Gdmc1UmllUjJKakpMbnkvMy9Xd1lqNld0UzQxNFlHVWt3Umd0bFZXOTJ4QWdUTXFkZTFSd2pLdENjaHNoYjhkbnZVZXJzZm5iNW9pNTlNelp6eFVVQ3Jma0liZ2dPeU9Ld3hndE5OQkdTYmVWaVQ5QmR5NGFzUlZsSk10OUZaSzdZdTd3ZkpBOTZtVStJRFZWQzA0TXNuUGUyYk5tcmFrSVJESjF5dHM1R0tGYzltMnJaTi96aVhLclFCdzJ5dVkyZ1o3SGlvMlpCU1czMGJMbzA4dkdjdlJWOWhybmFpRy9IVy80azdZaHpEUE1wTjdwdnROTE40SmFhZkZLRGliMzFIaDFCUzZXLzJRWWE2MTZuK3pxeE55NTJPSWtOL2xZZVJvYldWQnlIN1Q1RmJ0bnV0bysvd2hESy8vYlJvTFNuR2RaSmx3d1hqUmY1Ri9mdkpMcVBWSXJMVkVMbmxxUk5SM2Q1cXBEZkhmdW5USXIwYTZGWnNudXRtUXVzV2FaVHRNa2tTZ211Wit6ZXNUN1dsQ0ZTRGtIeFdiQ1N3UGJBdmVpSWFpaWZ5eWwyWGhncHlYUUFSU2E4U1M4NmhDUGgxN3FtSTZlSUtmVXZZS0tNRDA4aGRFdUlMbFBmODEzQThLOUdMTU5ReUgwaGVIUU5vUXNsbjFNUk9PM3YrUmF0MmEwOVdDektQd3JqYkdDbDBoTDhGQllDNHhwU1duSmNBVVVtOXhFT0VIRDVXQXpPWGR1dTZqRmsxOXk0Zjlrajlnazk3cUdkY1ZYbHBjS3FJZys5c0wxYlRwM3FIZUNuL2o5eHgyMzhTQ1JsbmlVZkJDT1BOTjYzc0tzS2FBSzRtMUNUN2daeFBwT2krdGI4VXhseDV6b1N2T1JMaUM1Tng3NUpCNTJYT2NhRTdRakg1SXJoaGJPeXVaN0gvcmdkdGNtdVhxQ0pzOHZiSTBUdkVSYVBsUFE3ZnRaMlp0Ry9pNGtkN3ZFaXJGcDY3WlBMbkRudHRkTHBKNUFhc0FLYnUzSkw3bWNJNnZrTnJYcTgvemw5V3ZGVmtzY20rVE9hVDErT2ZDZUQ5SThUeHV0QU54K3VZTnd3aU1ySGoyRTVCYW5vaW5vWTFJQ3UrRmdWeWRXRlVJYjFnclJya0J5OVFUdGFyQUlmazNOQVBMeGFwTTJZNExXQzRSNGtFWmwybWdGWEJVZXdQSzFMbk1wcUN2RGU1TzVlS3pBcWpJK0FydWhFeDlJWTRVS1JuRFRiTE1RamZJbDE1aWd0UU9KdldJYjdUT3diWk0yUFVIRHBxTjlRWXgvQ0hmc1phTVZGR3JybWNwWU10UE00REwyUXBuMVEzTDNmWG9JM1ViSTJ5NlR2SlVXdEh2QjNsZSs1Qm9UdEU1ZytWOWl6MXZaVHh0cGt6WTlRWnVYR0xocExDY2JyWUFQMkh2U081U1dzMm5rNHo1OGkzODdQeXV3RnRiODBnZGkzckpjekltWmloSElYY0hlVjc3a1hsSm5XQUJpWHdtdUZ1VFNKbTN1U3hLaEkva2MxVVJEcHRoK2JiU0NmUENXYUgrRnJXdzk0ckE5c053ZUJoblk5NXZtaWREVmdqS1ZCaVpvOTRMT2MzQmRnSUp0aHFZbmFKQ0VROUdLZGtHSnNFaWJNVUhyTTErSVlUVnNqUWZOUWtzV0tqNkNTVXFWL25KM3BPcTJaZFNFYlRhK2h1R1V0eDNua20ydHZZeUtEQnJOZ25zY3hXZHBDb3c4TnNrZHFCRzNMWGNwZDh1M0ZxNUpOZUZBWURjRUpHQm14OEFtSVRoQ2NvdlBHaExxTERjYWczc0JMNk9GRjdSN1YwU2ZQQ3ltVGMxMVM2WXNVVXMvLzBxL0t6ak8vK3ZycmxqcFh1RTJRR3NYR0NFdGt0dGdxdDFEcWM2SGNqeVBOU0JkaEVYYTJzb1dnNlk4Rm1RUWtIaU5JR3VocFhKREpQYlZUVzBEUjJCem8xVHVCdjRhMmdyN29oZ2xXeWxnSEZWL1kzQzNkZVpMN0ZLU1AzUlF0QTBMb01EK2NCUWJJOU1za250Vkt6NVBEbXI5Z25hWlJkcDZhczZIZVpXUEVzYTYvWkhjaWtRTExWWElTMlZ2cU94VENwemdrVzJWV3ZjUkU1WnQ1MVVZdjQ2ZDZ3VW4vYzViWDlpOEhQU3RTMGs2eTAwMVFDYTA4bS8veEEvOEd4REE5ZWo3disrbkVqS05qclpJcnA2Z0lYSGRMKzRWM0dodmtUWTlRZXZLTjFzZ3dtdWoyZVdwRmxxcVVML29pcVNpVkdXZ2d5ZDJuS09DejNxdjNMRVhXM0RaaDUzR3gvRjJWQk9iN29iRzdsRjcvakd4T0tsc01kQlYzWVFuei8waisyUElKQ2UzVVZwZCtYYWNXU1QzUUZIQzhZaGJvbmIwWkxtakk1bWJVU2x4YVZzS0xET1U2a2h6cDUzS3R4Mm5wV3VHTmh2TGFPTmR2L21UditCdTZVSVREM2w0YU52WmEvMTlkc2F3aTlsNmZTZGpEd2xiYTg1bHdicW5OVitxeUJXc29WNExaamJEQkVEeDVwdHlRYVVpR3NyVVBuM29kWS83MTYwYlN0NWtsb2JIYnR4QyttTVAzNUNpNFZ4bnB3L2RRb3l5SnkyU3F5ZG8wSUg3Z2hwV3c5Y2wyVnkvY1duVEV6VEhDN28zOUlXeWZVZlVFcWVsTTNkVHZJWEZOVjRxOTVzbVczS0kxNStkNUhQczYvRmQ2NWNUQ243eFo5eXYrd1JQVzNuMjdCMEplZEpHWDRiajQzSWdNd08xbHlkY21yOTNINDRwN3c3aXBpNHAxbkNoK2RkV1VFOWNjcGUxa0xabGJ2emVMc1JZWE5xT2xKQkNvYXRMV0d0amFvclQwZ1ZXV1pKWnB2TzRvclpqSFRIcEVIOHcyUzNSSlhaLzAwSG5UbUZQRlczUXlTNC9qOWZ2STNMWWpkS0VKR1Z2UTVSSTB2Mm5mdUFYeEVPNis5SHYvNk1nejl4N1JjelpCd0dDdU9LU2EwelFEa1JtLzk5eFVDRGZUMXphOUFTTmp6dnlTdElvWnExeFdqb1ZvOFJZUjh0ZitPY2NoRU5kYU5JaHVGRDhDVldtaW9mQ3ZMcWk5VXFtMHBreWUrZ2RQZDlLZ0h3Y1c4dENSNlJSTTlheWFTTDVGdVlYcFpTS0FoM0UvTEtPaVV2dUpiMlBvc2Z1UFNXdW8xeDJtY0ZnWE5wY1pZOWkzSG1IcU9YcGRMN3RPQzFkRWRxcjk3bnA2R2pJVFdXV1JFdVZkUzhlU2xaaXNQUDRVMXRKTkJleUVrek8zK0REb2V2UFE5RExEcTA1MnlXL3ZSeXRoSytwM0E1Rm5qRE1RdlVWbDF3OVFYTmEwZ0E5S1Bxa1k5Sm1UTkF3N3V3TGhxQjgxelZuaWFFWUxTTm5TdXRydXQveDRRc1JtUmU1VG55LzZrTFJKMkdBbFJSYy91dGk5K3N4VDcrV1ZGK3o1QVhzS0RNWVBTT0cwWUQ5aXBrcExya3REYXBhbyt3SEUwMnpaS1p3VE5xdWFMWXc3dmpkR3Qxc0p3WFZHQzJqRE44UndGWFQ2QXVXZFJxelpEU1IvS2xIWUJKem9Fd1hiT005VWFEbzZHZlV1dVNCa2ZBVkxEK0k3eWdMSEM4bDJRVFFnRVY5YndZcjhXQWJqSVZpcjBlZVdVeHlqUW1hbzNTZ094N3B6NFFoNEhkdjBEWEhwTzFJVGREMFYyV2dpM3dSemtoTFY4TVBRTlpkd29nUEI2SGNzMHBPbUVDeHV3TXdlU2NqaVNma2ZNZ3RidzJERDhqUnkrOGUyUGtRdk5jckoyb3hkanZaMnhDak1Tb0NJRW0zZ3ArdHh5ZW94aFdUM0hubE1PUDdDWFpGVm1UYU1NcFlnLzBvQnN5YzVjY2t0L09pb3RLV0xIYWxqWnFSbHFMa09Ody9Mc0Uzb2lOQitLblhJMUdUdk8yQnlZMk1GUTZrZmVFbGVLa3kwdVBaRjU2OUZiMGVrZEp4RUJpS0owbDl2RlV4aHVnWldrVEFyUEVlZ3QvVW1PUWFFelNrN1loY3NCNlAvZXpKLzM4a0NzS3RXKy9UdVdPU3F5ZG9qdHJOMDVQalFVWmF1aG9IdzBRS25RUWI2clpaYU1KaFBQUVVUSWFZd2lnUmNOektySzVEaE5MZTlJTnEra2w5M00zZSs5TFdMZko1NGJuQXNtZU00Q0pEVEhLTkU1TXc5TzZMVEplVHpIU1JtdVpmVkhMTjQ1K2FjaDdvSmFFVXJpRktLNVNLQm0rRUltdzM3UlE5MFZhdXBEZ0k3bmhORUs3ckNXbElZZFpjcVhrcHEzV0RuaUovWmJ6NlJSdXE3UDNjeVg5SFZZYmppMkl1dUpqa0doTTBkUFJ0VWZnb3JMZ05nbW1EVVdrekptZzRVOGwvRm1vYit4aWlVVnFoN0lNMGc5aUJrb05RMlFuZEFISUpiT29hKzlLaWd1Uk9ZbklKSG84NWMzZ200cGVIUXhjM3kzWkNNZVhlUVBaTUZYUTF6a1pVY3MwVGs2QnpEd1UvblhUS2NBVHZVV25yR3VzdnpjQ1VtaytwMmFPMFF0VjJVbXhjd0VZSlBUOE1sWjdJRGZkL3BIQ0FtTHpnT1VwTjZ4WFdJaWJocExCMDQ0SlhYd1NpR1huMzI0dEdsbmlQcVlqUk14cXRWOFZvUnlYWG1LRHhOOW8zUllHa2poZWpsaGdSbFRaamdnWTcxMStVV0UycFRhSzBRcFVPOVRNT3hZZHV2Q1JYVHloWFZUZDhTcCt4NThEcnNodXc0N0hucTJMTW9DdTFDSGpGRjZ0ZVlhUUVRYTRUOStQUnBjV0UzYmtQUlB3S3ZKcW81SzRhMmdDMmh1RGt1dlRJNU9jckttM21CcVIyWU5BTVU4NmFvN1JDWE1FUStFb293bkl6WlhjdWZ5aGhoNCtGeDNEVWlmYjFwVmplRHBmTmRYY3RjUE1JNTlpaTl2QXJZbndGZTF2ZGxSOW9nNzZpZXQxUXZ5b3lLcm5HQkkxUDFFVyt0aHFxVkxHc2dZaTBtUk0wK0hQdmNIS1FwM1JRUkdpRldXbW1XR1NBdm5ncFhHcWlkL3loWk5TYmVyVWFLTVhtS2hWd2Z5Mm81WWpiSnBmRTh3blh3aGNyRDhOUnBkN2hPZXBsL0w1RjZjZDByaWZ0S2M1SHkxZkFuZUlXVFVUYWpPT2YrTm1qd2xxWVQydkFSV2lGQVR0S0lSVlRkdWZpb1l3ZkYwS3RnclVwUlIyYUpxTytEbEZLZTdNWWJGenFjVGR5ZHpkZWpKczg4ZGp5WW5xNnljNXphbVhQcEIvUnVlWUV6WEdHb2xzdEdOSnZGczBTamtpYk9VSERubUdoQWJ2bVhISVU3UWl0Y05aMml0RjB5dTVjUEpTTU9oOE15MEVDNDhVa2RPNVZ2eFpJQnlydTdJY3g1bmZZYkpMUlZvL1RHQlhUMHU3Y0pidjdUYTJIKzJUbVE5NkhJM0YzbVIvS1hQQnFoaFZxeC9Uc0xQc3pNNCtmTUozbWl0QUtGMWxOb1pNZzNYdmhVaE85RzBCeUxlUHZDQjRPbU9yVkdLWEhidU1jUVNsdDBwd3ZsM0FqWXp5OFlTbUZ6bVM0aHl3WmlrWEJLRklZaFlSRms0V2xmVnZmT1cxamdzWTNDbTBoVFJ6S2JPVEpFeHlHTkVYNEF5ck9nRDhMLzRUcE5MVER0Q0lsSUxuYVBvcWt5VnNJd3JZTVQrRVhEeVhsWEZReTUrbXVoaDJTMG5DUXFaWDhlaHlpWmUvSG9IT3YyeXBNZzNNQnh2aitrdzIvL0pPbmxvZjExTlB2Nm1IMCtZM2ZlVXBXY2hMcTBNdTh4ODBYVmJtTnAvN0xWNEdSRC8zVHB6YURhbGJDaTU5SHZMdDBVcW5jT0MzSmVmQUxYVEIyRk90VWE2SkZPSXJlY2g5K1NGdEVNOFR1TVdhcnJnYUp3WndwLzRXWGZoNzZyaFRGai9oK3FlR0xTK2duelhWTC9uYUtzYzFTTEcwVW53RHVpTXh6N2tmaWhiaGdCOWRla0JxYW9JSDErMDZqZFZjS1hKRG55KzZyMStMRWttT2FzaEtGZVdpQzVzRFEzWFdlWkc5S3BxQlQ0clIwbWdqQi9rcWVPU3c5NDc0WnJIdHFrclB5ODZjL0hTRlErYTFZaUpCNHA2b05qMUgxeHFPc3M3dFFEWTBmeHlEUDJEZUVJcTAzQ3g1Nzh3RGE3b1Q5RzV2T2M4QkhsZlkyZjR5K2tBMXRHaC9HREY2eGZPeldEVmZhZlF0U1JRZXRXV0d2OW1TYWJPQVBzeHNHMDc4ZmxXdVpUZjgyMlEyOHRYa0w3M0ZLYmRHTkRPZ25wOCtvTkYzT0ZvclRpdVRpN3h0c1J1TGs3ZHRkdkI5N2Z4TTJWTURJUXV2VVdKZGZjVk4xSGtrdDd5OWZIVXF4RTlNZ2ozVUlKU1VuYVZaYWpMS2hZS1BEN3YrUnN6d1UwNWRRU3Z4bTZYdmRSL2RoTUh6UDZZZmppZng5dUVydGJRd3R2Z0o2VzhybDI5aFdzdi9zdmZJVFljYm4yRHZSRWJlQ1NFeDFaVENjYmVSZDM1eWdJU2ZnZVV1U3VJMGtGRS9rM3ByRGVEU1BnVW4vVG1mT2V6MTREbHgvelh1SEsvb0JIT2lnblVBNXNiQm5ranVYdFlxdW9XYzdhVmEzclZRUTJXTjN0L0hUaUl5c1NkbEh4UjlVYTI4M2cra0tWTDlsR2NUQ1dEdDVwSlc1dTE5eHNIWWd2YjdRNnJkbFN1cGY0M3plMUdYU1p1UWFiYzJhdVRGZzM0U0VhM2VSNVk3SXNjRDIrV29MZjVqOGFtbk41a2RVODUrckV6WDRwNnJDbE5aVzF0bWRVY09UY3FJWEhmT01QR21ESjJyZ1Nsc2lVNzVlMERGUVRUcjM5VEEwUWJQVjFYQ1ArYnY0a2x5YnBSbDVJb1NNODNraktjVnYrYXJrdnBYTUE0SFR3ZnNEQnJ1YVgwOXcxZThGTjN3Tkx6SVVpRXlsLzJ1Q3c0aTFOS1lPVjgyenhmN2o3S3JDcHovbnlnV1F4YVJoYVF3alJqSkVxa3EwV3I0N1YxaFdoMGExaWNIeHc4Z2lsOWxWcFRRT3RNcEtKQnBMaUV6UVl1bEZJaElsRjlQUkRVR1lTODZlQ1BWMzhjUFl1cmpCSVJ4cUpQRWpFdjgzM3ZWbmtxNFVLQTlSdjIzV2tWZ2RPQS9tMldLYlNRNVY0Wk51cWo1OVBhRnpKN0lRVDBBck1QaFdkcUhKZDJCRnRpREJxY3hSNDBqYkpKNjZMeUhsU0JscW5SRXorU1FTVGpPYnlrbWtZMHZnTS9kalcwS1hCVzQzYm1kdTh4d0xYUFBBUndYUEg3K1VFZUhmanZnUC8zelNKZWVnSTBvUFVEYlRRK2Nlb2plLzM3OStCbUhCL0lnS0VwTGdXNU1kWnFrVXlVMW5nQ1p3TXpxYWQ5WU54M25nSGxlNkVPR3gxK0w0RnVHc05QRjkzWUNXbDNIZ0U4WDZtUjVjVUZQS255VEp4WE1Ma09aYVdSQzd4aDhrTkcyQURDUjZJMTBsVFZCSXVQaUlOT1p5VVpSMy85UVg5eENaVitxQzRZeWYxKzI3bmpBVkNCY1llZGRUZUk3TWxqUFJkK2RpT3psM2ZxZlFCazU3N014aFFiaWMxTTVzMklheUg2Zm4wVGlmTjMyaHREbTU1TzVaTWtNdWIvdlJrR0ZmdnJwYzJhSlRyL3Z4YlQwbSt4R0oveGU1OE5tdjhaNVNRS1k2UzJJTm9ZVFZjRlY1Qnl3d3ZSM1F2VForSWg3aXdISUR5Wld6ZEV0cTBTamh6bTBNc0oxOGtHNlZlVGhXRE9mRlEzZmxEQTBhSy91WVlkMXRXYlN0c2p3NHNrb3VPdHVtbjBlNWN6dTdpTkI3dGcrU25CS1NkRG0vZkNCTXE5ejlHcnVHMm1ubVVSV0NETlRZQzdJRlJ5b2tZekwvZGlxVjNGVmc1THo3UHA0WUdweG1nTkJIMmlhMVpKVVA5QUEvR084Qng1MmtySW54K256ZXhDejVFN2prN3NTTGcyWFpLeEgwdFlVd2pZRE12cCs5bDhka2o5YzBMb1liSzJ4clhDNHovVVF5akVnd21jblMwSFNPakpLdDR1cXlZekNsS3lrcmhLZHlkMFU4Uno0cjJSMUxkbTU4bmk0WFZIajdBM21GVnQ4WVN6YWFvZWtQMXRIb2N1NjVTdHVKazRKcWxVOWM5cllGTVdUMmxieE82RlBQZkpHUEhjYzVUSTRCaTBvOWVMbmR1UVA5cU42V3JlZFlPUU5UeGNYZlNwbEhvb1BlODJkRDNQcVRUeTR4TzdhRzdTY24raW05TGZ5dUtxV0IwSTZma09HL1BwODNRNkcwV2Jua2JzVXpEM1hQUlcvYjVSbXVDdCsxWHNUVVdqbGV2TVFZOUNGdGNLYWk2Mm1aNDBieVhxcEMwVXl3N21YSk9iY0UxZEZQSTFCUkpsTGZ0OEJ0c0owY29iR0xEQ2ttYU01WEg2TDJBMlY2TkZVb05WUHcrSytuejV3NVo0TGt1c29vNFAxT1BQdzVmcjZhTnRSUk1MdkpucGs5eDJualVXU2JJQ0gvVGxBUjEwRDhDZkFMN1VoeitabjVPQm5zNTNpN3A4Z0ZhWGwrQm9tU3U1emc2LzdmWkRWV3h1L0lWUEhMRzNiYmora294a001d2pjbjBoUU1SOGZ1K21vaG9pZmhpT1ZKanZEdGwrVDBZaWxjdHdSdE5nanhKeTV2bTZiS3d3TmQ5eE5nUkFTT1habXhtbDlVbjgyVHlCMURhd0V2WUZlNUZxd0NnTHlSS3lpSjNDalorSTZ2K1I3R2ZyR0VsZzBTSmRlTE1LQnVaU09zak44eGVlTHE1OFVnNGdqaFBUUFJGbTZtZkhSYWYrZXhEZWNTOTNMWmVNb2FaNWRjMlBucWlmZTBFSnVHVHk2VFBTdDN5RC9Fa3hnLy9CbUUrV1BjRE81aGFyd3NrNndDZ0x5Uks4amVWTkgzZjAxU0tQTGJTcFJjVlZFMElPWFB5bmhJY3FGRjFMakE1d1hyNHpodFNJQkdaOVFqTEpaT1U2cHBrK0pUNWszWllTNjV1ekdpWGQySHNiSEdNUE1PbEQ0RG5qdXhjaFZFOU1HZ2tyNDA5QUczY3JPakhVcTdXQVVBeENOWFVFVUhodU90VzkveXN6LzRXMm5xSEo5bmtDaTVQeDVoUU42KzhqQ2dhbVU4SkxuQ25Sdms1aDAzOEdTTjUycE1EdlNDZFQvTHBHekRNUXlaeVhhZE96UndEdlcyZ1pLS3BwSmhrMXo1WVE5UEl0T3NISmFPNm1xUXY2MThMTFVNQjBVK0N1RlN5WklienBmcmpzdTJLZ2pBVlB0VlpMNUFXOEVuSFV6NTZGUlN5aTY1ZUc3clFYV2gzb2E1dWh5NWV3WllsWERtRStYZUFlM2tTbE1SSE1CcVlITzE0WkNtcUpFSEpUZU0yOExCZnNiK2w2bkNwbUhjWVRPNG5wVm1vaExQREZMYmZ1eWtiTU00RDRreFhISzNvcWxjWEc0SGthSGVCbjBtOVY4ZWt6MWFUNHA3UHZobGUzOFNERXZyQW9WbFIwdFJWU2lMRFpaUWhvdzNmWTFjeHBJcHN2ZU16aXA4S0ZzcENxWElva2ZZMVFuWmhpbVlrbG00Wkd6SkcvbkxJNCtEbTFCdjA0WlBQcE5kVnBEK04vc1NHaVJYdXV2Z1doanZsYmZ5d3Z2dXNUVWxaMlNuU3NsdDZTYUxuU1hhdU0vSmJWQk1kL3ptaEd6RERQeHlJZDJKNXVkT3NXQ1ljTnBtT3JyZWxwOFo1YVI4UkV2SDd3dnN6K1YrMVd3eUJGbVg0Z3JlNWRBUloycGtESGV0U1FSR1preWJDTWxOajFkYW9qSWZtTDBqdytJWWV1a2lVNUc1QWhpUHZ4SVU3RTNHTnN6Q3BsVnl1YUtUUkpwbWIrdXFCWXFRRVNIekp2d1cyWi9MMStHenlSQ1lsNDhSZUI4bThEUW1ta3Z1bUN6WmtzRktaWkxMTGI0TnpjN0FjSzdvMkJ3aElDazlNeE95RGJNd3lYZmM3RVVMWUN1ajNaMDdWRE9la0JFUkxSKzViNktPaEd2c0xIaVZGNHpRRzMyTEZrbkpkWE9idWJBV2xHdHRkSFVwVXlHNVVuK2xMSkUrRzFjME96cDdFN2Y3K2paL0NMYmh6YUMwYjBoZjM4cFByUFNTWEhLUG8xUXhSS3VaamQvYjV0NG44Z3pVRVVPUXFCMUUvYnRvVWR0OWtmMjVYZkNYN1ZnamFLQkFjdkZFMTIzOHBJbkxXdXM0bWxWS0xsOThXTk1NOEdGcVE5L21ENEhRYmI5MFlCdTIxL01USzcwa04ybVBvMVNoYzZXbEJPWHpQSkt2K0M0Rmo3MFE1RzBLc01UWEY2T2xTNzAvQVgrcUY2V2lESTREeWNVS212RkFVeFZXbVR3OTZxaTRJb0ZoaFRvWFdzUWNsdmdqbFI2Z0lpenp2ZGc3UG9IQWJqallMVVN2M01LOG1mdFJrb1pqQ1RxWjIyZHRYeGhjSWNZOE81N0VKamJnakIzdG82U3ozbmZBbjNSeXBTenJTc2tkWnBSNWszNG5wT21YLzZhWmxpY012REkySTMwdFhjTzQ0NlVBV2JiT25sQVZlc1N4bnhUWURaMjloSnpUaU9ZMjBuNjBZa1RLNlFUVUx4ZmFvTGRwK0gyN1lWNnE1aWlGMHU1YjRDK2pBaGtFOHdvbzM2L056Y2RKU0kyOXRYQTdRYTh5eVIyYTdseTB1QVBNb0ZZS1g2dEtOQkM2RFhMZWRtR2E1UkdBZW8wUHFUQVZwYlJneE5oQWJmMDlVYVVlOHZ4M1hTN0xiT1V4RktFRTlxUUtqYVFrM2c0RHJ4aXM5YlhFVE9NUzJ1YkRiM2czeCtVZmwzNFFrYTV4K2JPa0Q3U2lFY1dPZ0puL3ZMSlFpZWZWMWhhNEI4SGxjaWV0OFFvenhVQ25XcDZ2bHRDTzc4RjFEd1ZWVitwaUdCRmNEUjJ0WjZvc2UyYnVuY282M1RnS3VsMVhHZXZaNitWdmlxNnBZaytlK3MxWEVka0QzWkpHY0Z2TmdFaDZyMFF5MzRDemJzdVlNUTUwOXYwaW5naGRsWk9jakhTcXljNDkvZkhIMHBkREd6ZUQ5L0FtWGREYjFNZmtNZTNrVHA3ZTdXcTRVbFM1NjBOT0UxVGttTUFWbi9tR2NYamZtQktXWkhRWjFiWUY3N1dXSE5taWpvd1hNck9WSEp1YnUrUnZtcm00QlZpR2FZTHhHTThlRnhlU2JidzlLMDFJczdLcGhibEhaVE5XZTVjRjNRdkRCTGZTRjdsL0FWZFBxckcrYjArNGEzNThaZis1TVNNN2Z0cEtsdnk5VXRlS2Jaa2FhajEyTXY3OHpiRzhyWmEzZ3l0YUY1ZXIyMllrQjAyK3VXM0dadzNEYU53VlpVNGVGa0xTWE05S29jcjhmR1NKMDBlc2lKeGpYeEtDMDM3Sno5TU5wR0hsek9VUFZxcmlPSUd5WXZoVHNmU3MwZVJiZ3ZsTytIR09MaEpQdlNJN3IvTS95Ulh2ZUtiME1aRGNiRzdwMUtRYlEwQjAwOHpPMVEwL2lMcndGY3gxVjlnWHhjRGMyaXRNc1VRQ0dQWXRpR0tzM09lVm5MeUlmbmNNWGJ2TDcvam5CSHd4T25sSlRJT3VGSjV5KzJTVC8zT3ZldVo1UVpjUGN2UEtnWmRNZlZSS294VllLWjhUUjFxT3lwb21EUTNKM0k0VWRMLzRFKzl2Y1RsbEgvM1pud3F5ZittOUlvSTk4b01weW8vT2N1VDMzczZyNEtZNWRxNWJCR1YwK1VwVE1YOVVDNzFHUlFmQ29jU1BCeDVBZFlrVHhYaHFZUDNObjI2M3VTVTFESFYxbzNocFFhaXE3SVArSEhpYjgwNzNpM0dCai9PdE9jNC9lUy83bjR2UjhVdmJ4N2JDbEgyeDlVVjFXMURqTTVQZ0F2dkZyZ1dYZmRocGZCenoweVkrSVRHczNKR1VpVnVJaG0zR3VNVE8xcHpmZGIvQmNkNEtkOEt2SzkzNmJ2YkNvZk4yOTdVNC9lUnM4M3EyclRDWitBb3lkL0VRVk9XcENUeUlzOWJaTzFKblQ4ajRHY1llY2huNzZZVGtiTkhjN01sV3dwcDc2Wm5UYnpZVE91SjgrOGR4anI1VVFFdmlZUDNIY2JCK3FnK0ptTVRpNGU4RUJQNFUzV1dlNFd5SjU1eDhURHZCei9nRkJsYTV6RFFHK0ZyQW5tU3MwV2VuZnZ3RCtJQkM5WFBORXp6d0hMVjgyWHYwRHlYTDBkK0d4L0ROaE1jZmZ3eWZNNUJMVGRmWktUNXc4TmpEdXFHODFEOTZqTDN1Zzc0bWl4TEpmTSs5ajV1WlMwVUxySEFCZWswMHRzSjdmT0RsNno3QjZhODhlMVpZRlpUTFp6ZEpwLzJETjU1K1RFQTk5NzFuLzFMWHVmenBONTcra29qL3N2ZU54UitGSm13UGRmREE3OWlUOHNaeUo1Szg1T0kxSDh2RnRaV1g2cmh5M0ZPMVBTN1R1UFJsNy9RWXAzY2NqOHQzSWRJUDlLSkRIZHM3d0FPL1dUSmpuL3FCWHhCU2V2ZWozLzlIQWVrNWYxWno5c0hLK2lJM1A5ZUtOdVNBZllTZlVwZGpFQ3BhY3czTFl6aXVsK0VkeHNqRkE5OEtSNVZ4eDczWUw0YWt0SU9ZWHc3RmxGR1Bwc0UxL2JHK3pSVzY3azlXVzFVNEtYSXhOTlZDUGYzdXkxVDVzRmNPYjB6eEIyNGhIWFBlOHpkbVAyekpXRm9VWDhiZUtVaHQ2TzhnT2luY0JRcnlVWS9pL2RMdHlETGJKV3pTN1RJcCtyUXVRNDdDWS9lQThXUFRLcnhRNDI0eDhqQTRCQlJkdGw2TTBQa29QYWkxNVBKNVRSbk9wT2l6YWtmSlhpOWxvVDlhalhuZktteXdOd1Avb1A1R21Vbi93b1c5ekZ1eEpna1JIOVZ0Q3lWRmVUaUlybS8wN2xkbzR3cHUrMFZWQkhZUTNSU1VMaWxuWGxFWVpybzhST04yZlJ2QVIvWG5LMkN2RS9FRnhyNGxXbjZkdzhoV3hNdzFZRmE1SmdwZHRxM1haeVkzNndYNHhHR3Z2bzFZQlh0VitJQzhNTmxscjR6OUthTmhiQloxNGh6SXhVNjVIV3AwZmVjOWxlOS8zYTl2STQvQVhtalRkRG1zY3BmRkhZUFVnVzBCM0Vndkk0aW1GSHB0SGNaQ3NHRVBrcnRkQmtlelRZTlBnUTdyMndUWW82VXZSS0Mxdkw5dTZGYmpPMkw2cHFvUWhvOUNkZzlNL2wyZk4wanVjVlZjemc3ZGtqYUNWTlhnSGtSc3EzemlmQlBCamlMYmFPRTdZcFZmTU5rTGFYWjA0a0RUZ3RKZTVleld2Z0wwMzNydHVnd2pOb0NJN1llanlyZ0x1M01mcU55dndIbUdqaWprSlZIZjFNUDN6NDF1VndZY00wa0RZNWpjTDFWSC9sMUliZ1hHVEJ0a1ZYTXIvVkNpcXNYaGRwbSt5eHpDTW9TY3F1S1piV1V1Zis0SzRCbGloM2h0THp6dEtoYnBtNmIrNjc5aUlzM255NEhCY0orblByd0JzQjZVd3pPN25ZZkUrU3FEWjFqakRUZDRsYWlZY1pqd3NIckdiT201NER0aUNWbExpK2Irak9QODFFNjBpZEJWYzdYODVHYS81RERzSHFwWmcvald3Q3FHaEpZZWVwY21wcis4UW9NOFNrdXpSeWtKdkFBQUlBQkpSRUZVNllCMEx1UzBIM0lQMVV4dytYRWRWUXdKcGp1M1UwWFBzT0xZS1FJMS9IaHFmdGNyMUFXc3ZNMWdwRnRyRk9ENUNLMFlsQVF3TnprM2ZGcFBuaGF3UGJPeEExVjVKMXNKSXpmOENmelZLbkVOdE9FZ295N2ViMEhqcTJyQU1DMlI3dmN5cStJbmFld0lnbk11WGpLWTBOVXVNbjUwamNMZ2ZtOUNQTmUzR3I2WXRGbGY5dkN3cTNoSVhKV3ZpVllQQ3kxclpRTU9hak8vWlFJTFlUMm9qbTgxMmM5VzlUbk1EZTFUNTRXSXBoS3hVckZmQlZsQjhHMUtIRXFsYnljR296Mi82OXpWc3pJK2JkMjJWM0dCWXFGOThxTlpQVTVES1dMbFZ0VU1wanNMbnZMdWwxdUJsUnJHdDl4YWdyc0g5d09xNWJ6L2JtVnhoaUtoZlFwdFlLcTRxWDFqUmwxaVZSaDZoWlZ3RXQxZlhtSWRjVko4VHBIWE1qT2x0ZVlMOXZHR1Z4TFRyV1FUWVdtc2VzYUtRV2xFSFh5RFcraGFMZzdLU1ZvaStTUlNhTTF4VXRxWWVQTU1MV2liUWx0M3hsUTFJOG5RT2pkcnpDb2txNG9oQVdUdjRJeTBGaVI0a2pzQU90cFd6WXA1MCtqQzNTSXp2YXdWMXpaL1g3cUhhc2tobjBWWHNLODhjT2MrY0k4clhZandwSzREN1IvSVdtVVBadFA3Z3d2OXJjWUw5bGxibGpjL0h0MWEzckxWbCtNK3V3cUdCTitkaSsza3ZHY28vMzcxelZuTkwzS1FWdk9hWUhlckhwWmNOVUQ3VkxFVkt4Y3Zsa0pjeExZczhRV2poRHUzTWNCMjhrR0I2WDUySnZBS1pONStZb290d2h2Wkt6OW5KVEJjMXRuWTV5SzJYejdrMEgzTWVmZjlUUWVud2s1eXpJRWpWdTA5eU5ZcTdoVGJDNHB3VzJjblcvRnptQnZMT2xYTWdNcENpb3NZNUt2c3F3a0pXaEZQSCsydlluVTVnV0h1Rmt0SUdoTnRMajd3Z2Vod1RQN3puM3hVeVF5b05OekFYazRsTlpLRkhwWmYrcUxIY29rSVhxZ2RXYUtreEZaZURXKytMWWplbG50Qm82UjIxSURNY0pJcUozdDdUd3hmVVBiU2lTVWdRQ3pZVG83UUJOY1EwWjZ0Uks1R0pVQmFWUmR1NTdlV1IxVXhZMmw0aHZzMVpybWpONENYeVNYRVZXNG5SdzFWMkNNSjNFTG8xaE9TUmtldkdsMzRaS0xEeEdpK3BwYWEzL0NhRE11dFN0eXRmSW9qNS9oSENNdXBUL1Z0d3FDZmIxb0JOdVhyazA2ZlhBdml3SXc2dXhiNE44TTN5cGNuMzUzcjArVW5RSytYWDBVQ1JmaW44K0hkTk9ZamJ2NDE1QVMyWmpBYXowMTE1UnF5ejMxQk8rWHpKZHk1QVZtdWYvT3B3Vng4UWVweStVb09kUC9pb09TaWtZdmh1aFpxYTBEcXlDS2YrYStWejlncXlDcXEza1MzaTNWeTZzc1RQWk9HQzM2Q2MwcUZVODBDdzBwMFdtbU41TnNLU2lPbUNUV05pVG8vWkgrQzN0R2puT2JQVUQ4bzdCcXJZQ3VIUm1jMlFsNjlCeDc0Z3U1WEFHVFBtS2c3cTVEY3JRb3FzWk9FZVpiTGZReVdqd09LelVueWEyL0Y5R05oTXVXYk1FeUlkVWlWOUFHVVdXUEx0TzY1WHArY0RzTVVMVmVMSUxuU2JPcFBjb3dvRS9ZeWFlR3AxWG1DNW5Uejc2MGFCUk5rOVk1S24vQjJNVGZmK3RkUWlTc2NtYlhXTmdyWVNnUFFhVGNycmFBZ2NUd3ZMV0lGYWVuaWZISytvVzhIRTkwdWh5Wko1YWxaR0I5Q3NTQVRYSHE1N0kzeGRjeFNqaE50UGRXUzdiNmVVWmZJSHo5VGNVZlRhK0oyWDk5V0hHcm5hOUtCa2x4TTBMWXE1bkVHeUxkcXZUblhjYnhLZWhaZmZERDBIcWFCcGdxdStMRkJaZVo1bjZHckpIZFk4MmRXTVg0K2VaaDR1YVlMRTJFT2xSUjVWM1lFajdDUjVORExjM0duY1I1aEdsSERpS1NjWm1wYnNleldlMm95b3VrbEptRVZmYjFFY3FXVHd2cVcyaUJWSW5Ib3J4QlpTTzRFWGZ1ZFhJNUkyQWcrQWpCMXRrckVZa1pKSFlYc3ZmbzFBaU5yRldQQzBIVG5vdFdRcFFrdXA3WnppUjRzbkUzeGdOcnMxQS9VNzNGTmtLTytoR09DZFdhcENoWm9kQnI5WHlPUDdlbklmUnJ5ZzRndjhBaVN1NWVtWUNsNTRJbk00VDZHcWowVTFmZkpXTUJ4QXhIZFU4cURLWk1JMU5QTkVMM1B1b3o5YS84SmluaCsvN0hOVUpZVU54RFVrT3p3RFRqcktjcVZrd1dHYm82QkJNOXFtOWNQajk1ZU9Yek1NcFY4dlgrQ0xUNklES3dQUXNSZ28rNEhMRFErTHU2L1BpTkhmSGZZVGJNTTk1SzliRVpVRzg3bkhHajVxNzlQMERJRW5rNjc3djIzRXo2eUVEMU5YSGNQZmRINmRYYjJ6dzZmL3U5WjM0RGtyM1RkTm9XVGI5ZWRvUEdJeWRhT1dYMjY4SUhmekVIVzFxYWpQbU81T3ZrV0lpZlh5c2hLNllCOTZIRDV5eEF6Y1ppZGM0M2QzK2E4L05EZHpTd3NOWWFnY05Nc0FkWE8yQnZNbUVyRDhNS0ZqSlYwbFYwUnE0bnpwSElCRnd5dVdtOWE0RGFkT1lqUHMxL2hEL21ISVdaY1pTNTdwMnY4SHFkOTdJcWZOUCsrK0JQdmIzRTVaUi85Mlo4SzhuL3B2U0tDUGZLRGFRaVVrY2ZMSTM0THdqcnU1RkhYWmZCY0t4b1lmSGRyeFZDVW1ZZ2RmaEJNYklaNGJ4ZGE5dk5NSHBOL0xmMk14eGRiWDFTM1JYMThIU0s0Z280UVphUDArMjdZQ0VwSnZ3bEQ5MEgybXBTNXozVzJJK2xvcVdzcllSRGVObmp6ZHZ3Yi82eXhaVmV0SGpSY0k5Zm9ZSWZkZU9qVzQ0OC9kdXVHWEl4WVlxYzNicjN1OFZzM1hONGRKbktoUjI1a3Iyak9PL1hZdlVueG1KMi9DWllZVEhMbEtFKzdtcUh0QlN2M0pRM1lwZmZ4NlZzdDFTZDdNbWttZmhzdXkvUG0yOHF6WjlrOWdETUJTRVltb2JwdVppd3k0ZXpoR2VRVnRTakJsZTd0dmhKa3g3bFU4NFpFY1R1bys5UTR5bkM5N3A4SWFiUTY4ZmFQSHowVzdJUlZVM3RYOFFpbGU1ZDlyYnAxNXBWUTY3ZzZoN0NVTzF1alJMM0E3TlRWV0lCS0Zadis4YnRoUU5ZOFZqZDg2Y0RjcHpobnVpQlVydm9HWUM3TVdGK3JFNVp3T2RWMGpGME54QktMc21zR1lpZmIrcVlUZnFObE9iMXpRZE9ZWnVoQXpnK255Y1NzMW8zZExLWmMxS2daWFVqdUR2aHBoaC92OEZEenlQZUdHN2VPY2pQb0xMVU93YnV3VjJzRzY4emNNRmlKcWgrUHNHTEZGdFJXZUwrM0tia05qNWwyYnNOZlZLdGZVeEk1OHNoY1NNUm1UQUtNaFkweFdhYVYzSVhrSG9zanozWk1Ga3hyZ1crcE5UYUh6NXkxZ0plYTZRUmM4K0ZtQ0YrZTVCNlRESHdoS3hZZytHTjl3cFJOM0Jzek5JZjd4UXgvN2tvZTkyZzJwa3JPalpXN25aSkpYaFJ5TmQ2Z0RNOEJYOWNkc05lSEhzYnFycjU5Z2tIcGF1UDJXbzRkTEpyWVZFS2RtdThabVFvb2FTcEZuNi92RktHRmIrWmdKOWlwT1FkRGhDR2VyWHQ4dThHT2JHbDNRNFptNWhlT2szRHpab2J6S1RQYXhmcHBiYThuMlR1ZEJZKzlLY3pna3A2R1hZT04zcE9iSFpHcnRSL09PZ04zY09uZW5BRTI2OGVpVjl2NUdjZXF4ODVjRm52VndkdVdPQTZ3T1lidkQ5L3lJK1puY2JiVHpiUFZVUUp3Y1grdmlYMkN0VzEvNDFmZHN3L0Z1R3RLdS9jNVlRSEQwdVVmTk1QVnFmYzI0MWhEUkFUZUtkcXpwMURzQ0FRNjdMVWpVbXVhZERYNG1zNktMN0Y4Q1ZqbzVRZTF3VnRUenExc0hlVGFNR1lsZFhFaThkRFZ5RHREcmU2OHlKbGQ4Z0pKZlFDaSs1ZC80MGQvM0hBeXpGQmorTkU2YTdQRWJ5MTRQWmhObDh4VmR1Ky8vZWluR2Z1bUFFUk0wc1ExbzZQdU1MeEdXQXZKcURrVE1MSDJhODZpblQzK0NocGpmME1tTHYrWXVCZHZwOG00R2ZwZGlmcjlab2ozS2JIYW5VMlZDN1IrOTdIVFIzL05RTzJySG1Pdk0rK05wQmtJbnN6aWJHT2F1R0xMQWhsWTAzd0FzbTY4QW5jb3cvU2JBb0YzejZ6S1RkRzRtY3JTcE5XSVRNL0xQZDNPbEo4eVY0WEF3Z2UycWlKOUx1biszUStmeTJaUm93Z0JRb0FRSUFRSUFVS0FFQ0FFQ0FGQ2dCQWdCQWdCUW9BUUlBUUlBVUtBRUNBRUNBRkNnQkFnQkFnQlFvQVFJQVFJQVVLQUVDQUVDQUZDZ0JBZ0JBZ0JRb0FRSUFRSUFVS0FFQ0FFQ0FGQ2dCQWdCQWdCUW9BUUlBUUlBVUtBRUNBRUNBRkNnQkFnQkFpQjg0ekEzM25HZmZTN3puTURxVzNuRTRGdlo2ZHZickcvZWo0YlI2MDZ2d2pNdVhmM0hlY3o3QTNudDRuVXNuT0pRTk0vc0xvL2s0ZHVuOHNuUW8xS2hjQnljTFQ2SWgwOW1nb3Z5bFFYQks0RUh5cHVSRDZ0V1JmK2lBOUN3STVBWUN6d1QyYlI2Y1YyaUNpMmxnaTA1RGNudTJ5amxnd1NVNFNBRFFGOG15T0lYcVdEdDIwQVVWeE5FWmhYNXUyVkdmMEtWazJCSmJZcVJ1Q3krbGpxSXB2Rmo3MVdEQStScnkwQ1IweCtjSHVldnJKZTI2ZEVqTVVST0dEaUE1cEl3QWRBOStQcEZFTUkxQk9CSG5zNVlBeVN1MWRQSG9rclFpQ09RRjlKTHI3M2V6dWVUakdFUUQwUmFLa3ZxME55TitySkkzRkZDTVFSOEV6SnZSbFBweGhDb0o0SWFNbGRZdlRseVhvK0krSktJL0E1OTlYSC9wMnJWczRndWVzNkI0VUlnUm9pOEFWMnlrNlBCV09NSkxlR0Q0aFlzaU93N0o0ZEx2UmZJTW0xdzBPeHRVWGc4K3dseDVuemZXQ3VtcUdSdFZEYkIwYU1CUWkwc09Td0hMakRRcEpMdmdXU2tUb2pjSjJkT2s2YitadkV0RytCL0xsMWZtakVHeEE0NGxzVk9zemZtRXNyRVNRVE00TkFuLzJKNDdRZ3VZZGdlVUNydnpQejRDNDZvd3VNN1hLSjlYVnVhTWZOemtYSGh0cGZad1N1aWQyTVErWnZKRDlSKzNPdjBpN0hPajgyNGcxbUxuL3o3REpqZjhyQjZLcDNlR2huT1FsSHZSSG9zUHVjd2ZjOHdzMWM1NUovaDlBMTduS2dpeENvTFFKTXpjazRpL3J0czB0Sys5YVdkV0xzSWlNQXR5MWNDK3JDeWxrUXByZldGU2dVcUNNQ1Z5S2JHVDE1dEUyVE5qblc4WGtSVHhLQk5tTmJNc3gvVCtSdG4xNmdOSEdoY04wUU9HRlN5ZnFjWFE2TWgyVTZicUZ1ajRyNENTR0FKWWhOTTJJaGNDNWM4YjFrWmhLRkNZRWFJUkNzUUdpT0R2enRqbVFzYUVnb1ZFTUU0RXU0RjJacnlUM2JkNXcvWUs4SVI5TWRJVkFyQkJhWjJrb3UrZnBPZk9Ia2pleUZrQTBoMCtpWEVLZ0pBcXRoZDY3ZzZ1M1B1QS85S3hMY21qd2hZc09PUURQaXpyWG5vbGhDb0c0SWRPZ01wcm85RXVJbkZRSXVZOGVwTWxJbVFxQk9DR0JidWZ3dVJKM1lJbDRJZ1RFSTRLaFIyc3M0QmlOS3JpTUNlQ0ZDN002dEkyL0VFeUdRakFDY1l2SjAvZVJNbEVJSTFBNEJPTVcrVWp1bWlDRkNZQ3dDUGN0Q3hOaENsSUVRbURvQ0xUcHFkT3JQZ0JqSWd3Q2NZcnQ1eWxFWlFtQ3FDT0JicWZRQm5xaytBYW84SHdJNERTVDhSa1ErTWxTS0VKZ3dBbmg5TXZ4R3hJVHJwK3JPS1FKSHI2MjRZWERuVG1jSmJmbFVuRXRTY2ZPSS9MUVE2RlR0YTIxT2F3bHRubDRzbnBaUVRhTGVSdWdNajg5Nmo2NlZYU3ZjdWROWlFtdWJSc3JTTTJjL1YzYkxpTjQwRVZneFAxLzZJSHZVOHo5Q1VpSkxjT2RXcmRidDNKNFlUWm56enA0MVcyb3ZRYkgxUktEUnN1alR5MnhiY1h1VnZjYTVtczczYXFXbENJVUNtS0RoNHliVlhrLytzWVcrSnc2TzlCTjZwL3RPai9iOVdGQ2FoYWdIYlc3VjdwbG12WCsyaVlQRjVYZlFkYndsWktWbHllYzRmSGZ1SFd0S2VaRnpIczd5ajE0THhzbFBpK3oxam5PRjlyZEhNWnFOKzg5WkZ3VDZXbERGNDNVTzBqZ0M3TFNzT0dCM2J0VmZwVjRhOEs5UVJLOUZRMUJGbjF5aTcxMUdNWnFCKzZlLzVyc2hRWHN4VGh1R1B1d0x3NkZ0UFBCWWRoR1JSTXVlRzd0ejVTbGk5Z3dGWXh1Ly9TV1gyU1MzTFErTTVNZWVjc09oRVRvS3RXQzFWSHd5Q09ERUEvYUlUWEt2YTZsYThSLy9wWEVhTXBHV3ZTbHc1NDd0Qy9hUzZXTDdPRUNuYjVQY29UNmQ1TVR2cys3ZGRDUXBWMzBRV0x6eHlDZGhjTVoxcmpGQk8vTHR3aXVHRnJZMklKR1dOVGVPMW1mR0pOQ2VwMGpzZXgvNjRIYlhKcmw2Z2lZUDNtdHBMVnlrUmlvN1lRU3NrdHZVYWlnNDFQWmFtbFBxckxUczdSbENjdTBwNWNYYUpIZE9qeDJYZ3k5a0R5cnRRdVUxaHlpRkViQkttNTZnWGZXL0Q0bFBONlR3dmxwcGhhdVRkNFBZY1hneXBieGZtK1FhRTdSZUlNUURXbFFyRC9NSlVySkptekZCYXdjU2U4VTI4a2JadE5HSzVnbnVNWDB5VmdRU01oV010a211bnFBMVdDQ3gvTnZEZE0wZUFqWnBNeVpvbmNEOWVTbk5XcTJObGgyUlpSZ0xGcGVWUFhQZVdKdms2Z25hdkR4ZjJtVTdlV3VnY2xORXdDWnRsOVFSSHBBd1h5R3RwbEdSTmxyMnB1SGpKbW5NRDN2aHRMRTJ5WFZma3FXUFpOZWhRNklrSkxQMWE1TTJQVUdEcit0UXRLY2RQZXZXMWtvYkxWcys3a3Fkd09LdlJYS05DVm8vV0gyRzFiQmxaNUppYTQyQVRkb0dhamJXRGlabzhHSTlQNzRaTmxyMlVwY2d1WGZzU2VYRldpVDNtcHFOUVdBM1JGVmdlcWU4T29uU3hCQ3dTRnREcjRjTzVRTFRVSTZ0b3hpejBFcklmZ1RKM1VoSUt5M2FJcmx0dFlpTjVlZGpVUk1DK1dab243dnhsb0RWNWQ4cWpXY2lsQm9CaTdSZDFVcklDNFpVcDUvR0xMWFFTdURqQkpLN2xaQldXclJGY250cTVNRFhobjA3Q0liTGZwNHEzOFllWjIvd0N4NlFSemdQZ2dYTFdLUk5UOUNRdU83VDl3SzMvY2phTExRUzhuY2d1Y2NKYWFWRld5UlhUOUM2OG1VaWlQQmFqaW9iM3ZzY0wxaXdjWE5xN1J6VlVoR0ZnRVhhRHRTT1ZYejBmRXZraEZWb2Z1aFVsUTRITExUQ0dkU2RCOG5kVm5jVkJlS1N1NlMzR1hma2xMT2Q3MDNPYTlEZWZWOWJvOWtqWkwveHJ0Lzh5Vjl3dHlwcTQva2syL0RZalZ1dmUvenh4eDYrSVIrVGM1MmRQblFMTVVwTFdLUk5UOUNnai9ZRk5qZ2RZWDA4U0JaYUNZVWd1SlV2L21KV0dYVVo2d21hNDBuenB5bVZid0tyQ2RFbkc0NHo4TTBxV01xYkNia1F6WWNYY3J3bDQyTkw0WWR4eUV1cVVmNnl1TGkyZ2hKeGFWdldRdG9PTXZPZjI3WXF3bkZ4V3VGMGRjYzVNL2F1cS9oeUEzSEpQVklUTkF3aTZub2hUN1hlb1FQcDMrSkZyNDFzQzFZTGNSM3pqSFNsUmVCVFAvQUxBcmE3SC8zK1B3ckt6TDFYeEp4OVVHcUp1TFFaRTdRRGtkbi9kenkrMWppdGhESjhYM2t1ZVVtZ1o0K09TNjZlb09GamJPcDYyVjU4Wk93S1ZBR1dhWTU1cGxVMW90bUsvSVYvemlHSG5OT1ZDUUcrZy90RkthV2lKQis5ZmxuSHhLWHRraDc3ZXV6ZVUrSTZTbVdXeG1rbDhDcTRTa2dyTHpvdXVhNHkxbkhFemp0RXk1NW1hWGJCeFppNmpGZmNRRVBnMkpXdXcxaXVJTUxOWjVBa2tic1k4WHl4Nm5hb3FTZU1mZGlJaUV1Ym5xQTVMV2tNSHFUQ1BrN0xxTWdNOG9VSTI5dU5acDdpNFpqa0doTTBXRTM3b2dZbzMvVWNWYlZSNkZKdzZQcFF1ZzZUNkxnVEdHQ1M2cDdaZU15eEloUGZBZnNWc3pWeGFXdHBtVkpMdEgyR3FmVFlLMDRyb1FoVStMaW5uVkF5UzNSTWNxOW9LRmJsQUk2dXZaT0ZhSkQzdVQwSE0wRGZ6aGlNa1gzWTFIN0dIUFZjM0NKdHlFaW85ZGNqS01ha3paaWdPVW9mdVlHZ0xYbWdGNzdPRGhYOUdDMlZFZ2x3Ky9sT0pDN1A3V2ZDclBDN1lIR0FVNHRKcnA2Z3dUWU5KbXRRLzdvQmNSNUcxZEFKUElWdVpGU0xVb0ZhZnlrYVIvZmpFSUNNU0xlQ243VjNmek5VSmladDg4cGhocGNMQS84bk1tMklVdHo0aUY1N2lsNk1sa3FKQkhxZ3NSR0p5M1Biai9MQ1RFZFlUSEk3Mmt2V2xyQjA1YzRNZS8yamFuQjlkT1JFelU0QXNmQ0tyeWNtVWtJQ0FwM1FzK1NidEk3RE9XUFNaa3pRa0xZamNtTXU0aGRiZVBaVzlIcEU5NFFZclhCVitxNEZpZHZTdDdsRFB4Smw1dGF0OTJsaU1jblZFelRvNDhEODZVWEdJRjFjaEViVUFGVzZ6L05neCtZb3JlMDRzTmh1QzJMMEx3TUNYbmdxdE93Wm82a2dFNU0yNC9RaXVGMzNSYWJMY213ZFhYT01WbEoycmlxUGt4SkxpNDlLcm5ua1ZGUE9QYjNjK2hEamoyQjFjUnc0N1VrMHRqVFVha0tJTzl6dkdMd2N4THlvTVdrekptalFLdHVpOEpFNUNCdmtJc0VZclVpNnZFVStTVmxHVmZFYmxWeGpndVljQkw0d3RYVStPd09YQW8rQi9FMmtBSXR0dEZKT0xIbUJFeUI3cGtGNU5hN3BvdEptbmw0RW5ldEQza21ubUtLMGtvRG5iMFJvcDNGU3JzTHhVY2sxajV4cUJwT20rWEVLTTVrTDZWbzRHbTF2OFBWZnRYU1hUSTFTd2doZ2NtQTRmUnF0VjRXVGNSZVZObU9DeHRNMlJZR1V3MTJVVnF5eUlJTFA4eWJ3TUtPU2EwelFZT2Y2aXhLcjQ4UXVxUTJPTXd5RS95VDRUY3pwa1RzM0VadkVoTEE3OTRHSVg0RVhpMHJicXFFTVlXc0l5dGRITHN6cnlxTzBkRW80eExrS2V6ekM2U1hkUlNYWDNPN1dEb3lvb1hGQVhzWnE1VURVNTZRZVdFc3NUZTdjUkdoR0pMUWhJeXI1dXFGK1ZXUlUyb3dKbWdOL3JzalhUcmxBR3FXbEtva0VPRmZCMUQ2U1V1cHRSSExOQ1JyOHVSQTNmcWhZL3MyV2c4QU9FODZ4ZnJMa2tqczN6MU50TXNOZDJYK0ZoVVJVMmp6amVGbXMvbTd5SWgzdDRyVlEwRkZSV2pvbEhBSlhjbW9mVGlqM0xpSzV4cEZUL094UllTM01wNXQ2V3ZrYStMNHVmNDduV3JPSVNITG5KbU9UbkFLWHYxSnV6eG1yWGJwRVJOck1DUm8zNVE2UmM4R1FmbDNRRW9yUXN1VHdvOERWT05zd3NXeUdoSWprbWhNMDdGTitpVlBxbXZQWERLUjUxcjd2a29hdmU4MVpHR0g4a0RzM0k3QWlPMXorY2hmQ2t0MGREdi9CbmtGNVB1UjlPQkozbC9rQnlXbXVDSzNFSWdOSTdwM0UxTklTbW1HRjJqRTNEeXo3TXpPUG4ycWQ4K3I1Z0hhNUEyYitLOGxFMm1HRWt6TlNpa2JBZE9lR0hwek9ncTJ5dC9XZDB6WW1hSHpQOUJiU3hBSEpScDdFWUlSV1lqNElidjZKVVNMVldNSXdOS2NQZjdURkdmRFRTUDFUcldNRjAwVTBoYXV3NFhJSHpLWDE1RElIQld6cFpLcm5QQVZLVUE2SFQ1NXV4eHY3MU5QdjZtR1A5Mi84emxNeTdVUWZMNHVvWlc0TnpxZFR1WEZha21iMEY1Wmh1THRFTTVSdzMzanF2M3dWYXZuUVAzMUtLdFdWOEhyekVlK2luUUlxRjR1NmZFcnczUE11ZE81d0o1bm5qakZKVHM1RktTRUVZSU1GL29RNTl5T2hGSEhEQlR1NDlvTFUwQVFOaHU1OXA5RzZLeDkrbklLT3NkRFNpZUdRV0lpUUZZYVRFdSsrN0w1NkxUSFJrdENVRFZNV1EyaUM1c0RRM1hXZVpHK3lGRjMrOUJ0UHZ6RkZaVGgvOXhCazlnN1l6cHpWTzczMGpQdG0wUEdVQjNEbDUwOS8ybEloUmNVUnVJTG41eitEb1pxb0dibm0yQ2xlc1h6czFnMzEydldDVk5GQnJoWDJhaTlrQnh1bHc4RTRyWEM2Y2NlWFIvUk9XU01oT2ZqRDdJWXg5UC8rK0w3VVpEZndwdWd0dkR2NllrQzFxODhFRmpFbnA4K29OTFBpdisweDVyR3pGS0w3USt6dUI5aXJzT1BtL2lDK3d1TTRiM2ZaUSt6K0ppeTJnSVdGMXFteElYTEZ0WFViazVPTEhGNkZpSWoydnkzZDhtMThLOWwvOWw3NWliSVI1QXNSSVhONmJBVno3SjNPaVJydDRTRGRHbHNrbHFGdlR0Q1F1dnc5cDIvWmpPVnl2cDJ4angwNlgweTF0UFlmMzNqMnk2RHduNzFYSDhZSndlaC9welBudlI3Y0JvN0c1cjNERmYzSzJvRU94Z3RmK0pobTRNNWRTSFhRQitCcTYzV0w2c0RqL2NrNnZDWlcyZjBLZjA5UmVwb3hrdHhPekpxVVlKd0puSlNGeDhPKytsdjg5NjM1VnloNGNheHhETmczNGVmYVhZd3dkMFRNQXQ5NHAyZHJMV01RRWVuMHowQ2dGN2h6VDlLdXRnNURFelNEVXBsQjlLZTBIbUsvMm9aN3pIZTVTcDlwbTRWY2QrbFlNODRFSGxHZzBRcUc5cWpaTktLTVBlbUJvSW5lSHpCWTFQeDZnaXQ5TDdqaHEzZVJRVUJrb244K0FpM2ZuU3NNUzh1QUZvY3BNa0dMWnlnalpnakp0Wm5kaWJRWHVjeXE5Mit3UXpHSFFveE0wQkxxZW9BRk81S2R2bGlwU01nMlBob1QxZzJScTRuRzdvbFFmeGMvVEpwdDJvZ1FpYlA4ci9HdVA1TjBwUkk2Vzl1QkdrYXE1UllrT0pWcGFCd3ZheU5YVXR3QTNHRDRUMzkxdVJRZEtkdTRrOGZOMUl4TTBLeTFROTRrWTBNWnNHWWNHOWxsZ2NPTkcvWGJQUHNDWDQrRVF4QitSbjRwSThLL25lWC9UNkNKQ1plY0htZHRIaDRFNy9rUDNPTktGeUk4OWxxVUdtZHN6aUlaWEhDVFNhTU5kbERkZ1pKWEw1dXQ0YlBhVHlPSlhSWTRFVkZkbXZ5SktHQWRQRmk3NUllaWlHejhJRElIbWpaNERwRG9qY1RpczVYUVJCTVRMajVZNXJsOGR5NjJrM1BmZnhyeGIyZWJPT1hoU2V6UFVzOHZGWVVGNFloUSs3TmhJV2F5TlVRZHhwbkF5WFV1dTdwUERPV3FlWEwyRVNtUXk5dCtNbVRZZjN4ZHJteWhRdGI5K0xidUpIN0U3UDVmNUtySWZuMUR6bFlKZDI2RE94c0g2Yzd4c25wOWMxYWVXSXlQQkpuMHpieDQ5SzZjb1VGdlpaY3E2dzdQS0l0NGcxMzZMNXhCbWpFcVNrRGRvNXR0K2pmS25kdlpSUVJxNEQrNE1JU3MrU0g2SDBkZ0ZTTGl2UHMrTUd3aWxBSW9mYnhzbkZocE1YejhaRnNaeUszeWdWdWJvQmhKN21RbzdXZlZad0tQS05wVG1oSUc2ZTBSR2NjbGdWazVMQ0RvOXdaaGlPRTU3UHVGVWRjNEtoYzRIVGpkWFJHV0c1OG43STVGWWk1Rm5yRkV4bWJnaDRxeDQ3SFpkSVl1RjFTOEFSVElLMGFTRFoyWU10UVVlbnQwWm01VEhRWlpydVJ3WDJqcVVLM1NrSmY5YkVFSWFsL0phMHNiSnJvY2hRSUUwSy92K1RNVHZsVkFZcGtNajNHOGJIS213aWw0ck5uY1dyMHQxSW54Zy8vZ1FtaEhCTEw4MDJjQ0o1ZENsNUlPaUliWVNwYWNkVXpLVU9zSjlMTmRudnVxOEpUamdRUkZ0VllPSXVqSFFLQUZFUW0ya3lNa01UTXlSSUlUbWFCaG5RNVhwT2FSdDEvTkZlR0JNbmVhS2pTeVZDZ3gxUVN0cTZleER4UWJmVnhsRlBCK3RzZFptZU9udVdrVEhVWkVkbU05MUtSWnZmbHR1Ky8zejIyYURlSWljdHVQNkNBWVNqUHp5ZkNKTk01a1JDVy9UYkFpZFZ2NkN2cHF3YmlYb2lWUnVyN05GSTJOM1BlbHM3WHhiNVdaR3NtUzdwYVBjREluV3JzdHc5emtXZmR2WUVRRWpsMlZlREVDM0c2MVhtWkhScjlXdnJBamhQZkdZZE9jQ0poRHNESmUvMGQ1MVdYeVdJaHo0N3N0WDkvaUJ2UlQ3L29TOWlWcWFZc3lrdUllVDBkMVRmUXpYUUlLZU11L3kyV3NhMEt6R3dJRTlzdjAydnJ1WEwrUmZGcTBQcTY5amJGYWVSeUZOT2w5c1BKeW1veG1IajNPUXNCeURBMVBtY1RzWWQ3UmcrdVhEdTFaVXNaMnRjYkFTNmpHM1BCQUdUcDRnRHNwcVoydmJGYzlDWEw0OS9UYmpIWUtkMjV3eng4TGR5N1Y0T0tzSzdkcFduN1E4OWI5dkpWWmlIeWg4ZGF0MTMzMCsvNTlNYm5sTDU3cTZYQ29udzJVeWROVU1wd1dnWXVVanl0bTFWNVBydVdvbUNrRjRKcFhEcTcwTExUVk9DdmRUT25McHN6Sk8zcktyR095dFZRMzQyNW9iY0NoNmRKTTZwVlYxeGhXWmpPNWFaaGIySml0blpWVGJZNFlsRzltWlFIc2IvdGxLck1RNGExVDFtbFc5a0w1ZWQrOEhjU0UraGxtYm5Ld3lXT3NoeW81MXpmbzE5b2lYQVdjVzNWb2J1WWxOTUcwSG1mUmtKMUsyZ0hDVWlNV284Lzc1bkZBSXRUUHRNbVR6MWd2eHRZTWxXNlpJeFczNGliaU9oZ0hFRDhPVHozWWNabFZ1cGFxWmxVV1lqdkh4Rkh4WndhNFV5d1lJTGp6ZWtlbG9XOXMrVGNoSTBLbHoycmdYWFlYTFdJUDh6VUpBTjVSSmROdUYxTUZxZ29JaDU1OHNHa3J3WTRyT2Ivc1ZXVWhIdW14UEMxYjlueHFZeU9TbTJZLzY2b0ZpcEFSWWFjeU83R2w3OC9GMHpZWCtBZFpYLzZxQ0Rvb251eXlCMkdRQTBabEZ1S1IyZEdMTkI3RG16S1lRLzFzcU5aUVFrWkVrYnJxVUxhSkI1cHdHUjdCREp6eXJyK2o4emR4dTY5dnB4YnFnby9NWDA2RmhYZ3o0TmczM3E5dmxkNkF0dllJRktNTmUwZ1p6SDQvbTN1Zm9EaFFEVWYzM1VIVXZ5dFdVVTFLbDc0L2x5OCtyT25HOFZGNlE5OU9MWFFDUHRTRFRjc0ZtTC90NXcwc3hQWjYycUtwODBHYVpPOUlYY2FhRVRyM3hTQUJiZ1krU2I3aXV4VDBFZEJOOFdnYWs5akliMld4M3BGNEVxWi9rczhicEU5bW1veDN3RWZtSlRSNHJIWjhwZ083NFdDMzlEYWdkMnlVUWhRWG96aGpBQUFnQUVsRVFWUkdyR3hnc1BUWHZpTUl1OHJYTXhSMncxSyt3YlFVSnV0TXBHdVlXNXhQU0V4bVhWZEIrMXJnSTNNUFFpODg5bmtKN0liT1h1bXNRVldhT3ZjTGEzbHJRT2VTcXcrZ3lZVTI2R2Rhb24yN1lWNnE1cncxbmROeTZOZDhwRklYVjNhYjZtNXFBWEJodUR4U3NnSEozZmV6SW5RYklXODdaY24wMlRBb2NTa0xyb2EzSjROWmZ6RTFsbDBUWThVR2l2ZDlXdHBCZ21NSUVYMVpac3Rhd3puUFA5QmRYN1QwQ0NLVCsybVVoaFgzem1VZmxTRUJhejRMQjZJUnl4VllpTEJKcGY4Q1ZiMDE4eXhTUTZRbHRPTjdjTjFEa2VoS1hRd2pncXZibzNWZGhrSWFBVWlJOFNUNEFmTmxUWjUxSGRsRGVHaktaazFmR3J6dis3azlFYnJLVlZiWlYwY0tGZ2czV3EvTlQ3NHY3VncrdDRDeWtFYzlxay9YdzZUbTd1bmU3Zngxbk9PU2ZBM3lwdGsrN2lXVE13Y3pmckpoVEYrVUZLYXZHYVVnQWJqNEN0dzIzcUdWaG1SNkV1TnpIb2toM00vM1E2ZUg0d3NrNWVoS1FoZ2d1SDIrR0ZodFBlbHo2UHYyaEx1V1JPRkN4L05uZk50RWdNdU1mSmZhako5c1dDeitibWF0RTZianJpaHo4ckF3MXB2cldTbWt5SSt1TFJsYnNaNnNtNEtHeUlJUlF2ek9zUytKWHRwK3lTL1pEZmJxcnB5NWZEaVVxamd0MlF1U3J6R0VvTjQwRzhzVkFIdURHVE9OTUhjcjV6QlNCNzdsczhLK0tMYTh0ZmFxNEwwbHUvcGNxNUFYQnJiOFB1ZnY1RVgwdUdOWUJidjhqbis4d084YUp5OE5HWVQ1Q3JrV2ZGeU0vMS84aWZlM3VKeXlqLzdzVHdYUlgzcXZpR0NQL0tDUmJ3ckJWYkNSdzQwWmpPU2RWMkVlZGV4Y0x6QjlHdEhtSndObnpOTGdiSHRFdHZGSkIreHJrWWwvMTU1L2VrcWNLTVlMUWFKdjQyZitkTHZON2JaaFNMSHdESFQ1WXV1THF2OE0rRndodU5hbWlrOFhYT1RRTlFzdSs3RFQrRGlzenlZK1d6R3N5SjAwWUg4VFI5ZDkyajA3TG9iUkVqL3ovSGZkYitEbjhQNng4K3VxdmU5bUx4emlMUFBYWXNQNTJlWjF0YUdzV0dYbnFuUkhuRFgvT003Umwzcy9sc1RCK28vallQMGlIL1VvQWFRVFNHNmU2ZFYzTXB4ZEx5YnFMZzdEcjZqM0xYbnNGSWIwQzRYSmY0R2YyTThGdGpIQWR3TDJKRzZOUGp2MTR4OWdaN2xna0pUb2QrSUlkQ0M1ZC9MVStzV2ZjYi91RTd6Z3lyTm43OGhESUUyWmhmZDRaMi8rWkpxY1kvTDhnemVlZm15VDU1bjczck4vcWZQeXI2Zjhrb2ovc3ZlTjRsZW5VYWplQ0F3Z3VUZnJ6U0p4UndoWUVIQWh1VnVXZUlvaUJHcU5BRndEd2xGVWF5YUpPVUlnaGdCZjJhTTVkUXdXaXFnOUFud0oydHcxWEh1R2lVRkNRQ0RBRjMvVlMxcUVDU0V3TXdqd3hkOWcvOG5NOEV5TUVnTGkyR2J5d0pNZ3pDQUNSOUM1b1YzRE05Z0dZdmtpSW5BQXlhV0ZpSXY0NUdlOXpUMUk3dGFzTjRMNHY0QUk4TVhmL1F2WWJtcnlyQ1BBRjM4UFo3MFJ4UDhGUkFDQ20rT05pQXNJRkRXNVhnamc3UmI1ZG1HOUdDTnVDSUdSQ1BCWE02Yi8vdkZJRmltUkVMQWdnTk9LMVBrdmxtU0tJZ1JxaWdBL3JlUk9UWGtqdGdpQlpBUnd5bEp3Y0VKeUhrb2hCT3FIUUJ1U3UxYy90b2dqUW1BTUFrMUk3dHFZUEpSTUNOUVBnU0VrdDM1Y0VVZUV3RGdFK3JTdmZCeEVsRjVMQkR6YVYxN0w1MEpNalVNQXhvTDhydG00ckpST0NOUUhBWDVnT2UwcnI4L3pJRTdTSXNBUExMK1pOalBsSXdScWd3QS9mSHFyTnR3UUk0UkFXZ1Q0NHU5KzJzeVVqeENvRFFLcmtOek4ybkJEakJBQ2FSRTRJbmR1V3Fnb1g2MFFPQ0YzYnEyZUJ6R1RGb0ZPdnZQSzA1S25mSVJBUlFpMGFIZHVSY2dTMldvUndBUnRvOW9haURvaFVBRUMvUDNKblFyb0VrbENvRm9FK1B1VHREdTNXb3lKZWhVSThQY25xNkJMTkFtQmFoSEE0Yms1UGo5WkxVOUVuUkFZandDVzBOVG5HTWZucGh5RVFGMFE2TkpoQzNWNUZNUkhKZ1NHNU03TmhCZGxyZ3NDZlRwc29TNlBndmpJaElCSEgvSExoQmRscmdrQy9QdVR0TWV4SmcrRDJNaUFBTDQvU1o5Q3k0QVhaYTBMQW5pWGg1eGlkWGtZeEVjR0JMQVE4VktHN0pTVkVLZ0pBdTM0aTcvL05XTDNQaDI1cndubnhNYkZSdUFnK3VMdloxM0cvdldoQm9YZmY0eGtWd05Db1hvZzBHRnMyK1RrUWZnYU1HbmJEK0lhSHhmM1gyOW1vVEFoVUFNRVhIWm1jc0YzanZIcmJxQjFmNTJkL2JQRHAvODduUXh0Z2tUaEdpQ0FmZVdoajVzTTJJY09sNzhNMGZXL3ZYNk4zUmNhK1lmdWtyMVFnNmRGTEdnRW9HUE5NOFhtMmEvd3RCK0c2TjdHNzdKM3V1Ym5IZXo2di9TZkVLZ0hBdmhHQkJkUmVSMEV2dDBoWTJmUXNwOW5Id2xTcnBIVFYySkV2N1ZBb0JsK2xjZmI4Ym55VDhsYmR1OUpKaHV1RE5FdklWQUhCRHFoQ2RxS2Vqc0N6ckw3em1WREg1L3MxWUZkNHVIQ0kvQ1BIejBXR0xpaFE1K3ZxT1Uwcm5Sdjk1VWdPODZsbXhjZU13S2dCZ2hBTUYvZ2JPQjN3MkNudmF0dW9IVHZzcTlWdDg2OEVtb2RSeUZDWU5JSXJFS2xycUZTbkVES2YrVFZQSlloNXpweW1HbHpJZWVaeWtZQlFtQ2lDSFFobGp1b3NSbmU0bml5cmJuQTRwcFF5MEhNTWprWE5EWVVtaG9Dc0FYRU9lV3Q4S2VxaDRlYW8ydklZdHc2eXMyZ3MxQ0lFSmcwQWx6bkhnc3pkOGVzMnBUY2hzZE1PN2ZoTDZxWnVTbE1DRXdjQVN4QThPMEtUNFNOQmNlMEZoeVlDOGJiRW1RdFRQd2hVWVVXQkRELzRxdGpBL2I2VUtJeFErTnVCM045YllVK21SYUNpbTZtaEVEclZhajRHanMxTFZuSFdkM1Y3RHpCb0hTMWNYdk4zTjZnYzFHSUVKZ3NBayt5ZHpvTEhudFR1RlpUUEZ2MytDbVBPekpEZDBPRzZKY1FtQ1lDUFhibXN1aUc4U1U5RGJ1R0pZcWUzT3dJUmx2NzArU1c2aVlFSkFLTlgzWFBQaVJ2MUsrbkhMb0Q3QlZiaE5MZDh0UG1RL3ZQVlg0S0VBTDFRS0FwWjJ6UGlia2JMTjM3bTRLenpoL1hnMEhpZ2hDd0luRDF6Sit5cmZnU3k1ZUFoVVh4b0RaNHJlVW9raENZTWdJZHNjaTc1QVdTK2dCRTl5Ly94by8rdU9Ga21ES0RWRDBoWUVYZ0tydjMzMzcwMDR4OVU1Q0tTWnE0OXF5NUtaSVFxQTBDL0JVMHh2Nkc1R2Y1eDhTOWVEdE54dEV2SVZCSEJINzNzZE5IZjgxZzdLc2VZNjh6NzQwa0NoSUNoQUFoUUFnUUFvUUFJVUFJRUFLRUFDRkFDQkFDaEFBaFFBZ1FBb1FBSVVBSUVBS0VBQ0ZBQ0JBQ2hBQWhRQWdRQW9RQUlVQUlFQUtFQUNGQUNCQUNoQUFoUUFnUUFvUUFJVUFJRUFLRUFDRkFDQkFDaEFBaFFBZ1FBb1FBSVVBSUVBS0VBQ0ZBQ0JBQ2hBQWhNTE1JTFA5T21QVkc1RDZjU25lRVFEMFFXSG92am16OEY1b1hjZitIK3A1Q2hFQXRFWmp6eEFGTTN5cVplN3ZMNzArUDVUMzlFZ0wxUkFDSDVJcnIyM3oybGx6MjEvNVM0L2RheGpkLzY4azNjWFhCRWJqR1h2Z3Q1L2NHRU40ZGdjU0EvU0wvWGZBaTM1QVFpZlNQRUtnTkFwMzcvTERuaFZid3NkVG4yQ3Q4MXE2UjBxM05NeUpHSkFLZmMxOTlISVNYbUg4MExqK2VIRWZ0TDd2QjhmcjRXQnFkbVN2eG90K2FJUEFGZHFwbVlKZmw1M2dPeEdjcFB5OC9hWUlQVk42cENidkVCaUhnSTdEc25oMHU5SU1QcVovc0JyRHdiMDd1T3A3K3Z2cUtPSGlmUUNNRWFvUEE1OWxMampQSGJndUdXb2VTTHlqZEZ4WWh2T3A2U0lVb1FBalVBWUVXVE52bEZ2c0s1NldoNTJGYzZiWk9OeldISFNYVU9vNUNoTURVRUxqT1RoMm5IWHhJZmU1bHpjY1FvbXQrOXN6OGZyWE9SU0ZDWUVvSUhERVlzQjFJS2E5LzVVODFGL09JODAwSVArNW9UNmRSaUJDWU9nSjk5aWY0akMra2xCc0QxMkh5cW12QXVBV3NydFV0RmFRQUlUQjFCQmE0QzhHQmtBcWRHNUxjdDJLN3dxWm1zTDJqd3hRaUJLYU53RFhHOWgxbktMeTNZV3ZCNGViQ2h1YVByQVdOQllXbWo4Q1JVTGFYR1JNV3JqbERjdzRndWRxZjY1enNUNTliNG9BUWtBaDBtSENFdmVjUmJ1WTZqdmFLT1EzM0hrUjNTMFR6ZndQRGNsQ1JGQ0FFcG9RQVk0WWpMQ1NlVjlqV0NXTnlOZGhadURzbERxbGFRc0NDd0FyanJnVjlIZXlvOE9DdWN4VktWMFpjRVVzVktwVUNoTUJVRWJqQzJFMlRnY3ZLb1h1Tjd4WHJNM1l2U082RThwbGxLRXdJVEI2QnRtbkpvdnE1czhDYVhmWjRpTHNYUGlLNG1tZHJrK2VPYWlRRWtoQ0FKUnVXeU40Yi9Ld252c1FPZzFmUTVqeGw4Q2FSb25oQ1lJSUlZQWtpVUxKQnBmUCsxdkxQQkZPek9SZWkrL2YrNFgveURDZkRCTm1qcWdpQkJBU0NGUWdqdGNmKy9wLzd6VDQ3Mi9iaitDU05YN1E3MThDSWdsTkhBRnNaNVF4TThzSmZRWU04Nzh2NzM0WFd4UUVNaC9LZWZnbUJHaUN3eVB4OXVTWXJ5Ky94SHZvbFExRG4zdU9kdmNXNE4vTlNtQkNZRGdLckVYZnVkTGlnV2dtQnJBZzBJKzdjck9VcFB5RXdIUVE2NGMzajAyR0NhaVVFTWlPQTJkZHg1a0pVZ0JDWU5nTFlWaTVlaFpnMkgxUS9JWkFOQVp4a2c5Y242U0lFWmcwQnZCQmhiTWlkTmU2SjM0dUxBSnhpdEIzaDRqNytHVzQ1bkdLMDYzYUduOS9GWmIxSEN4RVg5K0hQZE10YmpLM1BkQU9JK1F1S0FKeGl1eGUwNmRUc1dVWmdEcEs3TjhzTklONHZLQUo4NyszYUJXMDdOYnM2QkpaUHE5NWFpTmNuSTI5RVZOZWEwWlNQWGpzNm5WSm5DWUY1Zm14U3BSZmN1VFZaUXV1UWM2N1NKejFaNG0xVEh5NDljL1p6cFZmZnJNc1NXaU4wNk1ObnZVZkpoaW45WVUrUTRJbHhwdGVjZC9aczZERGJVdmlBTzdjZVMyZ3JadHNlWkk4YW42Y29wYUZFcENvRW5qVFBCcGVWZU9yUURzZnBuZTQ3dlhSYkRCcXQxQW9MN3R5Smo5Slc5aTZ6YmRscW5LdnpHdnp0cW5zSzFCaUJPYy95WnUyQ2Nmak1Jajl2NWtxNnJiUVBwbmQwWVlKbUh1MDhFWVNzN0hYUGROMTlma0pKSzNUWW1VNmtVSzBRV0JyWTNnbGZOQVJWUE0ybFZPdGRuMHZ2b3VXN2MrOU1HQWs3ZTMwdHFLS1RPZ2MxbVRsT0dKMlpxcTd4MjE5eXJhY1p0TVVoNHFJdGkrSncyMGI0MUVWYks1LyttdStHTk83WmtpeHgvRHVURzViNHlxS1MyR3NZSGFndkRJZTIwVzByWTRjSUYwS2dqN01OK2phZE85UUhJWno0d3VpT093Y1U3NkN6UjlKTExuYm5UdlRrbWtUMnJtczJWbndvTGsyMlN4VjZnaGUxOEhzZit1QjIxeWE1ZW9LMnpId3pzS1cxc0IydHhSdVBmQkltUUZxZEMzZnVSRlZiSW52R0JPM0l0KzZ2R0ZyWTNsYUtyUU1DTnNtZDAxcm5jdkJac29FeEEwOWtPNFBrZGlHNTI0bUVxa213c3RmVWc0bm5MMGRmOHcvL3I0WUhvbG9hQWpiSk5TWm92VUNJQjJrVzFheWlZZWQwQ01tMXAxUVhhMlZQVDlDdU1sK0lyMDNlWFZkZG04OHhaWnZrNmdsYVEzdzlCODNubnprZGUxbEZ3MTVxRUQ4T3o1Nnh4RmdiZThZRXJSMUk3QldiL1ZRaUcwU3FIQVJza3FzbmFQT0JtZXU0NnVUN0VkWGFSQ01oTzN3YXhqSmRRcWFTbzIzc0dSTzBUdURFdmxTVHhiMlNXMy91eU5razEzMUpOdk5JNnA5VTU5SFlSRU5TQ3Y4dXcxaXdySUNFTTVWOVoyUHZranJ6QVN6NXc4cnE1UHRVMlMyOUVQUXNrbXRNMFByQlFoZXNocTN4Y05oRXcxNEtIemVadkRWcFkwOVAwT0EzT3hUTXRtT0hvOXJiUUxIVFJjQWl1ZGZVYkF3Q3V5SFl3MFBmR2MrblRUVHNwYmg3VlNsMmU1YnlZMjNzRGRUbWlYWXdRWE82WkMyVWozMEZGQzJTMjFiTG4xanBPaFoxSWxEcURPMFNKUGRPQmEwWlNkSWl1UTI5cWoyVXk0VERuSGJNNTI2OEphaCsrYmRHOGtHSnBTQmdrZHplODVJeVBtenFqNkRRa2ZzeU12blhJaG9KbVk4Z3VSc0phWlZGVzlpN3FvY1NUdzRDL1h4MnpOdlk0K3dOUHU4SEUzZFZWNFpaalFsYkpGZFAwTHJ5dlFXSThOcjRSbGhFSTZIUUNTUjNLeUd0c21nTGUzcUNoc1IxdjJZdldIekp4a2ZEZTUvakJhc2FicG9CS2h0NXloMURJQzY1UzNxRGFrZE9WdHFwWGhxemlFYXNQaitpQThrOVRraXJMTnJDM29IYWQ0eXZyMjJKbW1IYmg3Nk1tWktkYXhpbyt2N0FoSHBHZGZQditJdWYrc0FiOWNhUWxQUXZWTGEzc3RPSGJqMysrT08zYnJoS3dRM1pqVnV2ZS95V3ExeFNjY25WRXpUSGt3Tm5VeXJma1FCYVJDTWh2d2ZKM1U1SXF5emF3cDZlb0dGVTJSYzE0M1g2OVJ3c25Hemd3OFcrN1lGSndXWXlCZjZCd2lrNHM1TVpxbUZLVTJEay85c04rR3NGY2FyUHh5WDNTRTNRb0g3VTlVS0tCbHBFSTZFVUo1dVFWRjEwbkwxbExhUnQxZEpVcnVzWWw5NmhnNDYreGVPdnllV2JXQ1lld1NlbmtVOTFXL05kNU1qclAvRUJYMUMvNVdkL0NyaUs2OCs3QXJoSFBpR0JpVXV1bnFEaHUwL3FlbGtXR1BFYkY0MkV6UHlZRU9OVmhJUmNaVWZIMlRNbWFBZXFwYm5zbUJXWUhWakxPT1k4cjBvYnk5cUF1VS85Sko3QnhGMkNWbDdxSERuQUExRlN5aG5sZzlYOS82Qlpqa3V1cTh3OG5PYnhqcWY0OVRSTHRYOHFMaHE2bmxDSTd5dFBvOFJEaFFyZnhObTdwSWYxSHJzbm12clVVUzQ3NWpMZTVnTmN3a3JvU3Y5YUVzZFF1K3RKYVJRZklOQ1BpZ2hXcjE2UUNwam5pVW11TVVIRGFSNzdnZzZVNzdvSWpQNFhGNDJFL0h4ZnViSzBFL0tVSHgxblQwL1FzS1hvSzM2TkI2bE0raWgzN1hWdUIvanp2ZUU0alFySnZSMGxRUGNSQkR3VzhmRmNZL2ROd1kxTDdoVTlNVjQxM0xrN0VjSzIyN2hvMkhJaGp0dDZ0bGVPRTdLWEZCMW5yNldaVUFONG55bDNkb1o2bjl2alNzQTNxUWJqdW5rN2wwR1NnWnR6a0pYUHNlNkUyakdNZUtOaU9sZFAwR0N3QlpNMVNKb3Y3a3ZvQ1pIclRIZUV1R2lFcXRZM1I2QlJoYVdYa1Qxamd1YW9VY1VkeWRsbklxM0hiYkQ4NERpZHdKM21qdE9vc0trMWFCb1ZDaGtJOERuV3JuRVBXK3dqNXEzRld1am9ZYnd0ditUUWxXdjZmTDlCOU5wVEJGTkxMaDVkcEVNcEdvVUNHZGtMdnUzT3EwUVgzeFZWb3cwYkltRC8xNCsyM2pCN1hKK0VuS2paQ2ZEWWp0UUl5Vmt1ZkFxZmoybkpBaHg5ZjBEVHdNUjBycDZnWWZnTEJzNWVNQTQ2QzgvZWlsNlBiQ3BpcVNXM0I3WTJWTEh5QWhuWk15Wm9ZSDFIOElGcDF2RUlobjRrMnZ4YnQ5NFhaSWVXMk9kQnpDVEdhRlJ2Q3RQVGdNbVorWUYvWFp1dDRQbzVZMnozR3hHVlhQT3dvcWFjdFhqakxEZWZWbXJKYllHdExiL01CUC9IMkRQT29JS2ZibCt3Y2ptM1BvVENGeFFXeDFHQWZvL3Fqd21pTUNOVnRTRWlCcXRMY1Fzc0tybkdCTTA1Q0h4aGF0TzFRY29XakltR0xST1BBMWNqTlZ0U3VXTHhNZmFNQ1JvVTVyYWdmcFRiNlhFcDBLVHlONUZaMUZXRmtaOVkzMHdtd0tEVTc3YmlpTEI0WDQ5S2J0ZFlJV2dHQ00rUDB5SUJOakhSU01BTSthU2dKT1NvSkRyS25ua0dGWFN1UDhSMzBnMHZGZ2FsYStGb25FYUZDYmR1S1U5UkpnS2QwSW1KVDU3NmVzWE1FWlZjWTRJR085ZGZsRmdkOXl3Q2dsSFJNT3N4dy95TkNMMEdZS1pVR282eVowelFIS1J0aXNyekR3YkRvSitmak5Pb01PRnVWOXJRODBEY00vMm1jMjdFcjhCYkdKVmNjNk5VTzNBQURJMEQ4a2FoRWhXTnBMemNCYUEyUnlSbEtqOCt5dDZxMFh0Z2U0b0tyK2RmbFpiYXVzOVJlMkF0bWY5Mi90NlJUUFNjcFlUZHVjUEFVeEJxWkVSeXpRa2EvTGw0QnNKanRCMHFrM1FURlkya2ZIemU2QzgzSmVXb0pEN0tuakZCNDZhM3FMT2RhcG5ieXQ0Z2NKY0k1MWgvaE9UQ2hEdTBVcUJJaFFEZjJiSWg3eFpQYldoR0pOYzRySWlmUFNxc2hmbTBrNWFvYU1pYW83OVFPc3pXaTZMNVNyNlBzdWNaaHdSajlYZVRWOWNKT3hHemNERHdiUUIvT3V1T0tFbnUzQkhnQkVuOEF6ZzdRWGpaZThQLzM5N1ZoVWh5VmVHYTdQWjJOcnN6TzY0ZzZrc1BNUklTaUxYWm1FQkU2REV4aUNqMGtHUkZFNlFIL01FOGhKNFlYM3lRYnNUM0hqRUtTcVFIUlVHaTlxQkVqUWc5K0tENDFBUEcrSkNIR1lRSTVxV1g3aVZrVjVQeU8xWDNyNnFydW11cXVxZXJxMDQ5ZE4vL2U4NTNUOTE3N3JrL0ZaWWhJTG5tQk0yNjRHbHNUUzM5WVNYb3NLQm82QmkvcXdLeXhDNEJmOFI4ZlFIeXpBbWFaZlhjZnJEc205Q2VqSnlPWitnRDV1dFdlZEtRd3ViYzZjQ2VoWWpJanJZZnZqbXI0dTlRRzZiMVlkV2JtVlhwUHVRNEQ3cjQvVGpwMmlEcm5UZ0paNXNtUU40NW4ySHV5UFdkb1d1dUV6NXRyODl0a2k1d2JzS0xDUlZPTDFNbXJDdjMyZW9RRWNHa3Y1MDA1ejNmZW83L2N4OVdsemFnZS9jaDZ4elJMbXhlM0kyTzFURmRrSFZkZTAvTEZTQ3Zia3pRYUR2NE51aHdyN2xPU0UvRnRYV1ZiTEpTM0xZUlhRak11YWFhRXAyd3lERVZaYzR0MWU0ZUI2SjA3Wi92aHhDOStLMXJzbE5kODBZOG1mU0lHcmNScjh1OTlzWG4wSmZlL09zL3JzbmNrZitvTTZhMUlyS0lFMGVNa3pkUTUwS29zRlhTNmMrbDZIS3RNNjVBL3YxdEczMXVyeFZOSU15NUMzaHRvK25KWkF4RVNjeUVMdCtTd21rUUNzRVdqeHkrZkJNMEM0cnVudldrODVpUkpkSkprMEh4N0VjbThpSXdoNG5aT1VjWHRQYVQ0WGVqWThkalFzanpUZENnNk42eVNyVWJJU2l0dnZMSThLSDE4U0tESWJocStCQ0k3ZmVkMWtxNHplOXZWMitBYUZoVzlrVGVOKzE3WWhRY3JLZ0kvcG8wNTE1UUV6V1Q3WXB6SjQ1WVBuRDFUcVY0TmMwVk55UWRETCtuNHN5YzQrNFZaNGl6bVkvU2FjMXBrdXN1UkV4TE5GNkRHVkt1RFkyOWhHdjIxSmRybkx4eVlONjU1dHhURFNQOTgxWEhxVHFqR0JMMnZIUGpSODdkMkhGenF4c3l3Rm1sM3pqREtyYnExZFZzNEJ2T25ZYXU5cSt3MThaa3VraHU5RzNYaWQ5U043d1RHTU9pWTA3UUVMdjZwZUZudHNaU3BReWdEV3hxNHBpc3JNcGJoMnY2dEZkZk8rTVhaMXdTN0dWNnJYclh5K1BaUCtjNHZ6NjBYbysxaXZpWFIwYS9SQW12VmU4NUhDOEkxb3UzRHEzM2pyYjZjdVY3eFhuV0dpajFET3J2ZGtpdVlnYlJFTGxKckQ4ZlUxS00yMlRuaUJndFJQaG1SeWV1cTB3YnU2UUEwT1crNFhhVGllWFc1ZHgxWWlyWXVENUZDWjVJZmNqK0tXZTBnNEs2bXcwNWEyNytqMDVieXRrYTdFQzdFMGtwVXFRMDU5THd2QmVIY2VNMjJUakpFNmE1QkhKaWpnRVJOVHhPUTBOVjhnUXpVMkNvaU1qbUMrNzVKbWkrS08wcDFZU3lGTlF0ZEpLWXJoWGI2MFRPdkZ0MWJybDVTdll4S2IyZXh5SWxBbjUrWEFTa09SZHZlVHo3YVdDQ05pY1lLeUFub0UrZnNLYk9Iakk0cmhVS2ptUm1wc0FFTFp5Q3k0N1l0bXQxVWhxZ0s0SmxHZ2U5K2ZCNWtsbDFZQXBiU2xOMzYrRThMRHkwOU54N29wNHdyWXJvcGM0TmY2L2V3SCtjSHNhcXBCT29tQmoxUUk0d2VjVE1FVWhXcHZVdVdDaGd4Nklua1puSnVDVFlLeVhzRjJLR0VkMTlldElSbG01NkdOYnZIdlJTVmFVNXQwbnZ3cEhTbTlDOVRDOW1LVk04anZhT2VLUk5LOGhYeGUzYlZ1eHQ2blNEa1dIK1Rycm1DU3N5Skt3TGFsSlZSSGQ0VVU5NzNTc2Nldk5tU0RXVGc4N0x6blJTc3FhamJETDlWQlJqUzU2Y2svWWszZDBXcXU2cmhxbW1ISWNtOGJIWXVJb1QrVWhWS1VoZzIrM2JzSjM4Q0ZuM2c3SGpmdU0yMmZISTJZWFlvQ2JWMk51a3poWTk3WVpIVTEzTFYzd2k2ekUwN1ZWYlMxTlBIM0NQWDRsT3FmY3FOTVdjbyt4T1V0WHVHeWpycWNZaFhWWG1YT2Vwd2NPZit5T0lyWkU1OXlsc0o2ZWJPYTVFSkRLQ3c2MitSb0taT05GR3N0dEpXRjVqRHhseGtwNys4UFJWZitiNVkvMzJZc2dKcXBBemY2c3JPdmhZaFk4bHdtdjJZUkZZRjUzSU9iZS9zZVVNRFVOSXVuZGpyTTVsRGlBSktkTjJjcG9XeE1CRjN5WTdUNjZKbUFURHUwR1NPOUJYMU9TcHJVWmNJODAwcDc0a09Eb2xDdDRWc2F2S0ZaMThRZ3lJYllsb09IZkllWW5VRDJBaHRCRFlnVks5RzZMMGZQeVJpR3dPM0w2bEdtc3JkeVZLN1pncEhuU3BtTE9kb3NpeXE3TjNsTHpXOUpnZXU5UVYyV0ZQeUVHcjFJY2kvbXk2aWIrdFM1THZXWk1FRmFkRGhMekNEclE1Z1paaVJaRTU5eGx2SWpJd0dpRWFCSDJiYkhTYTlER2t1ampIS2NxNTNiV1RhSE5KRWczUnVDUTRraElRS20wdEpYZlhYR1RLYVJGNFdWV25VQlBPOWpaeVhWTHZNRnl0YWNVVUpwN011ZUx1SU9BeXZaczdwUWthdE1kMHBzdVZYNkVKdFY2SW9TV0dKaFJvOVRnVHRLYTB2T0pZV1l3dU9sQ0Q2UVhMUWlrZ003Um5Ddm9nZGVkOXBhSlhsTXZNV0ZBM2lldE5qM2ZNRUtUMU14cU10ZE41Nit1Z0paYU5McHBTeEdDYzNmQVNZR2dSaHQySkdmeVJuaExsRHd2Nk9yTGcwbTlUenZzSFNpa2d6VmJOK3JBZldDMG10cFZoTjBoR0FmMFZTTWkreHplcGJONnJQZ0dIbFhTYkNTYVU3SXNpc3VRbzdJczRrUWV2NWJhWElaR0dXSWtoN0tCejA3S3VQZmR2ck5mdW5JaTRZT0txVm1MOU16R3Q4aVJSMW9QVjVNYVAxMWlaZnJweHRncGNPeFhXZTVDSVdDdDZFNm5wcTlFVk10eWFtRFFzc3JRVkZ1b0xvd211ZUY2aWtUMzVnd1UwMllYZ1ZLcWhlR2lWQjBxRWFxdmtGZVVsWjgxUUFDc0E3eUFiakhWQVNvSWRNZ0hpdTJxY0JXdnJnY2laZUVuRGV1Q0JqLzdpcTM5S0o3ZTBRVitiRm56dkdlYUFHeDZ0aVpUMW1iQ1p4VUtBMTNWSkYrMHMzSk9leGY1WFFZcWg2aVVqQnNzWnN0OXV6MEJyRGlPQ0pyaGg0U2NQUTBscXhhNWl2bWQxcGZMNGxZaVRWNUdySERUYWJVcU9hS1BqTzlLejBQLzBTMmhFUHZpUjBqOHZEUkVHZ2ZUcXVBczFCRlRNbEhHMW0vazZESlNSSlpHeXZ0QjJuR1BsWk01dHFmTGhrWjJVQ2x1SXcxVWZyNlN0V28remM5TVFNYTdQQ0xHS29SNzUzak90OHFDeVZscE1jcE9mUmp1dEFEYmcyOG9DYjZtWDBGd20wTkxiSGpkejB4RHJocnlsQTI2Z0J3ai94aHI5YmtDNGRWdWxxeTE3dVUrNlB4ZU5hK2hwUi9EdFo0RXB1ZzR2MVJLYXkwUlRUVGpucGlFZWFYbExpVnRQVHpoODd4bHNEbktCb20yMlZjcnFzcGI5eFB0ejBiaUdua1pycmh0WjRNazloYmFUbGhJSWd4aEI1cVloSG1sNVMwbHRRMDg0Zk84WmhoOXBWdllwRVNtcnkxcjJDa1F2NGxGcjRqNmFlejRUSWFtWDhnWDNKVHR0RHcwRnhsaVFzUHF1dWkwVTViVlF5TzhTRmhTZHJUNnpWNzJqVkJzeTUyNml5Zys0cngxNmt5dWlmcSt0TG13TGI2NytUcncvdDJ1WWM0RkUxZGNGTHc2YXBqT0xMNmZxbmRvVlYwTXNLYlBUekRqREt5SGxLbVdaRGEybzFiMzNyTFpEUldMNDJmV0tGa3BFZmNQekZ2d1hFbkxkZ0dBQXY0dVhFYllJSjlHUmZzNXVxeVdubnFzM1hBd2ZkOUl3Q0xuYVRKTmY1MjFyeGI3dnZXZmVvQU83Vzh0TEpmU0cvcDdPVkZ3WExUbHVHdXhmZ24vYjhDL0syUUFkNlpmUWRCbWUzbkR1dnpQbkIydG9WNHhDWDEwM1BDZHo0dVdTbWNFOThvcjNERTF5N0pVazlJYkcvc2tLem1kcXNqNjFETlppYlJjejBzL0xXUU5kY2hFaGVSMWFhZmVzL0dmU0Z4a2tCb3NkMTNWWXFacGNxcHA2dExQZFdmTjU3ejJENUI1NE5jQzFDMWQxUjFkWVhCY1pFOVlOOW1OdEZ6UFN6OHNKc2t5SlNGaU5MZmZrWXRNS2ljSFJSc0tDb3JQQjlDcG4va2owaFBITm91Zzg0VEZhUXRGOWtLWjBtN2VjQ1cxQnRGRGYxWVJYWjYrc2h4T1U3VkRBSlExSEhxRTFZL1Y4Y2FUVEMrVFRZcEtSb2o2TkRtMlVUQ1p0NnJKbS9EVGsyNEZ5UzdYN2twY09FL2F4bDN2Z3ZXZVZEZGNMUThPQkYxNTFYYmVyTldJdnRLQy9sZUFVdmdlUk9WNDRHT2dqL1ZwTU1vcmFiaytMdkIxUDk3RE40U1Zaa1dPNWpod3RTYzhQRDhmaVl3ZGd5dUc5V01RODZmaWRscHNYeHQxOTEwR3JNenZvaWs5K3RzUE5uck1mTktrR25uaHJBeDU1ZEhweHZOSnVDdG5UcEtDaUtVNXpyYXI4Uk9vQUFBWk5TVVJCVkkxc0d0TWpMcXhOVVFHeVlxYXdKVXBZaTNlSmNGUjlOYUVmVmQ1dDBBaFJFZ2N6SWRGN2JwYkJWYmNxMFJWSGxWS1E4S2NoSUQ3VnpPM3N4ajc3ZStwb3VJdS9VaUNTMXc0dDNpMWs4RTdQZ2RKNDFwdnlKQzh2TkdkTm1WdHI2ZXg0UjY1R2d3MXUrMDNxYzIrWEpyeXVwMG12T2ErN0czaHIrNkZrRkNodzlRL1B2RUJkbTNQcmgxODc5dmhlZThaMlEwWS9XREE2MEV2MVp0WGtiUUoxZVJlNXp3MTM2aVFMdlN2Smk0ck8rYVR6dGh0NXNldGVJQnFkY0ZyTVJXZTRoVFNkZDNGbkN3YkNwamRCdzd6U0d4WWJkMk0yZUd4ZDhQVTAwOHJNWlR6dEVwT1BzQlpoYWlDZUJldFNsMENHN0hMU2dQOTE1K2FoOWJSOUg0NGtqcll1ekdtTnBldDh3ckxLcjlpajR6U2tJbS9mdWQ5YS9UWXVQaTlWbmZXTHR1dzl5cmJ6WTl4bERoMjZnZ3Z6ZXJPMzdLVWsrOVN6NHd2VHVQbitrN2hIWDF6YVN0RFJ4ZnFQNG1MOUIwK2RIRitGVFVqdUxJYjJVb2Z1cnFlU0xqc2p3d2pncXl5dDUyTFZHVUlGdmJtZXRxRFZHb2gwcDJOUE9VTmI4LzhGeC9tUUc0N3JkU0hUYWF2aC9ITkVnRHIvbVhUNzlPR1JsMmdNdHQ2c1B1VCt6NEhxOG5lcW8wLy9mZ1lGbDc5czMvdUdXODc3YWcvdjZBSmZmOEcrOTJYeXJ2MTA5QlVkeks3c0lkQ0E1RjdQSGxsTUVTTXdCWUV1SlBmS2xEUWN6UWhrRHdFYmtydWRQYktZSWtaZ01nTHV5ZC9qeVdrNGxoSElIZ0owTkdOT0pxenNNY3NVNVFnQjJudVovaXhQamdCaFZwWUVBVnI4TmM1MUxnblZUQ1lqUUl1LzNwSXFZOEVJTEJNQ2x5QzVNMW1JV0NhbW1kWWNJSEFFeVRWT0d1U0FJMmFoR0FqMElibThFRkdNdHM0WGwyMUk3bmErV0dKdUNvRkFGNUo3VUFoT21jbDhJV0JEY2cvenhSSnpVd2dFSUxoOE5Mc1FMWjB6SnVuaUhmKzV6cHd4eU96a0ZBRzY5SitPYmZQRENDd1hBblJGRkorMldxNDJZMm9KQVRyYnlTY2lXQmFXRHdIY3BDVXV4MWcrMnBuaUlpTlFoK1R1RnhrQTVuMUpFYWhBY3RlWGxIWW11OGdJOUNDNVJlYWZlVjlXQkRxOHIzeFptNjdnZEZkNVgzbkJKV0JaMllleVFQYzA4OE1JTEJjQ2RHRTU3eXRmcmpaamFna0J1c1AzQ2tQQkNDd2RBblJoK2ZiU1VjMEVNd0swK0h2QU1EQUNTNGZBSlVqdTF0SlJ6UVF6QWtkc3ptVWhXRW9FQm16T1hjcDJZNkliZkUwSUM4RlNJbERqM2JsTDJXNU1OQ1pvbXhxRjBuK3VqbjdPTzhjMElPektLZ0owZnJLbGlDczFuTHRlY0liN0tvQWRqRUJHRWFEems3cVB2ZXg4RnF0cTFjVi9Gak9qYURGWjJVR0F6azhxYWxhODIwalA4NGxLQlFrN3Nvb0FMcy9WbjU4OEV1dkFuVFJmTWM4cXAweFh2aERBRXByKy9HTE4vUlN1WmRYTlNWdSsrR1Z1OG9KQTA3aHNRU2dMK1BBNDN3U2RsL2JOTHg4OXc1eDcxaEVmSEMvemR5UHkyK0o1NGF4alhMWlFVVGVHbVBhR3ZIREtmT1FMZ2FyakhFdU9Ha3E5cmZHV1hRa0svMmNUQWZyK3BOcmpXSFYyQlpVZFBpYVJ6ZlppcWlRQytQNmsraFFhVHFTMVJIaERhcnd5SGY4ekF0bENBR2Q1bEZFTUo5TGtzbStQandObnE1MlltaUFDV0lnUTlnU3loU21WdDZmbE9aaUQvWXhBRmhDb0d3ZC84UlhWWTBIVGdHOHh6MExyTUEzUkNQU05nNzg0UzNrZ1VnNjA5aHVkbDJNWWdjVWhnQk1STzdKMmFBNEh3ajF3UmpLVS94bUJMQ0pnR3lKcVNHN2ZDTTRpMlV4VDBSSEF2bkw5Y1JOY1hyNHVBT256ZDZhS0xob1o1eCs3Yy9XZFl0ZzJ4cEtiOFFaajhnUUM2R1ozRlJnc3VRb0tkbVFkZ1lydVppMExZbndnQ0dadEllc3RWM1Q2R3VaTXpDZTViRnNvdW14a2svOXZmdXpZSmN3MlYza04yd0xiYzdQWmJvV25DanNVYmhJSStOL1VZUEJLaE1hQ1hkbEVBSE14MTR3QVdaWFdCQkI2QjYvK1pyTzVtQ3FGUUJPUzI0S3Y0bHZrOWUyNGVWc2xaZ2Nqa0JrRStwRGNiVkJUODEyc2dFdERXb0xFdHFuL2lqRCtZd1FXamdEMXVjZXVtdHN5YU1HQzJyYnc4czV5QXhkMlpnY0IyTC9JNnZXNFQxbXdMRnQ5dWJycmJHU0hXcWFFRVpBSVhIQ2NuOEhkZFI2VUllNi9QbjFtcTk3WGw0QTlqTUNDRWFqZERRTHVjQUtYTVBYNTFQcUMyNFdybjRiQWs4NnpWcm5xUE9aUGQwWmViYk5pTHEzNTA3Q1BFVmdvQW0xblpEc2ZDWkN3NXJ6bGhaeG4wMElBR3ZabUJZSFNIKzNSaTJQRVZNWGRDMGQ4M2NJWU5oeVFaUVNhd3JoUTAwZDhza3d1MDhZSUNBUXVldHNaV0ZsZ2lWZzJCUDdzZk55eTFxcERZemZEc3JIQTlCWVNnVklIWHppeG5lOFhrbmxtZXBrUktMMXlkZmp3Rzh2TUFkTnUvUjlIeUdSSU1IdVQ3QUFBQUFCSlJVNUVya0pnZ2c9PSIKfQo="/>
    </extobj>
    <extobj name="334E55B0-647D-440b-865C-3EC943EB4CBC-92">
      <extobjdata type="334E55B0-647D-440b-865C-3EC943EB4CBC" data="ewoJIkltZ1NldHRpbmdKc29uIiA6ICJ7XCJkcGlcIjpcIjYwMFwiLFwiZm9ybWF0XCI6XCJQTkdcIixcInRyYW5zcGFyZW50XCI6dHJ1ZSxcImF1dG9cIjpmYWxzZX0iLAoJIkxhdGV4IiA6ICJYRnNnWEdKbFoybHVlMkZzYVdkdVpXUjlDbHhIWVcxdFlTaDZLUW9tUFZ4cGJuUmZNRjVjYVc1bWRIa2dkVjU3ZWkweGZXVmVleTExZlZ3c1pIVmNYQXA2SmoweExWeG1jbUZqZXpGOWUxeDBhR1YwWVgxY1hBcEpDaVk5UzE1N01TOWNkR2hsZEdFdE1YMEtYR2x1ZEY4d1hseHBibVowZVNCMVhuc3RNUzljZEdobGRHRjlaVjU3TFhWOVhDeGtkVnhjQ2lZOVMxNTdNUzljZEdobGRHRXRNWDBLWEVkaGJXMWhYR3hsWm5Rb01TMWNabkpoWTNzeGZYdGNkR2hsZEdGOVhISnBaMmgwS1FwY1pXNWtlMkZzYVdkdVpXUjlJRnhkIiwKCSJMYXRleEltZ0Jhc2U2NCIgOiAiaVZCT1J3MEtHZ29BQUFBTlNVaEVVZ0FBQklRQUFBTThCQU1BQUFEVXdtYVRBQUFBTUZCTVZFWC8vLzhBQUFBQUFBQUFBQUFBQUFBQUFBQUFBQUFBQUFBQUFBQUFBQUFBQUFBQUFBQUFBQUFBQUFBQUFBQUFBQUF2M2FCN0FBQUFEM1JTVGxNQU1ydEVFTjN2Vk0xbUlwbDJxNG12bjBHUEFBQUFDWEJJV1hNQUFBN0VBQUFPeEFHVkt3NGJBQUFnQUVsRVFWUjRBZTI5Zll3a3lYVWZtRDFkTXozOU5kMG1qd3VmY0hhMWFDNWxpU1NxWllIcnN3V3JTdlR1ZUMydjFITkx6cGkzdW5VMlJjNklXa0RPdGdBYWhtaTUyaktYV2tpVXEwMHM5SWRvbzBxUWRrM0N0THJCbzJSSkZGbHRnTWM3MkNCclFKRVV6UTlVL3lIcktBcHlqWWJzMHV3T1o4TXZNak0rTWpNaXZ6TXJzK3JsSDFYeCtlTEZMMTVHdkhqeGtZWlJ6MmZ0Tjd4OE4zeCtieXo2RUFFZkFpdGZJdVR1TjBXZzdYOWUrTkdGQ0lRanNHd1MrdndDUy9XRVJiM1RJK2JIZjBRZ0FvRWhsUmg0ZnRGSnQyS1JmL1MzR3gvcDNZM0lodEdJZ0l2QUJmTGdaNDJQdEVDR3p1eVFGdmx1K3I5a3ZzLzI0Zzhpb0VCZzVmWFQvOGFEaDNjSDRGN3FFZktBaHIxQTNrbi9ET01DZGtNT0VQZ2JSR0N0Unl6eVUyNzRDam0xWFJ2UURiM05NTmFzdXgwM3B1VkV1RDc4UXdRRUFpK1NwNHkvUW00N0FSZGZjU082aEp3YnhvdmtoQ1c4ZW9lNThCOFI4Q0N3WnBHQlliVHRZY3N3K2p0dTVBcDBRenVHNlFaRDRPcDMzQmo4UXdTOENGd21JQnNmSnVUQUR1NE5XQ3gwUXc4MlFZcjRjNU83MElFSXlBaU15TDdSZ0M3bmtBWTJoTkpNdTZIZXRFTkRuV2M0WUM3OFJ3UWtCTllJS05EcklDNjJxclA4a29nYVFlQzNoTmRvSDBrZWRDSUNESUZOUWpyR1paQ1dsMm5JNnAremNNT1dxOXZDYXh5ZlNoNTBJZ0lNZ1NhQnNlc0M2NFUyYkVGeTQ4QytLSHUzVGxnZS9FY0VKQVJhNUM4TWcxcUJydEZBandnOUJrdGpIWkYwNzB5NDBZVUlNQVJBRmJvRGJwT1FiUm9rRDJUMlNIWklRNTBIQnpLR0JQN0xDSUFpdlFQK0s4OSt4UTZWMVdtakMzMlRzQXNaL1FNNUk3b1JBUWVCTFVLT1pDekVwTjVvV1BkQmhrNTRiS3ZEbmVoQUJEZ0NmVG9oa3g1SlRpNlRFNGg5aFVVdTNXTXUvRWNFSkFSNmRDVk1lcnBuM05PNloxeUJib2dGWEFhMUd4OUV3SThBbUtYdmU4SXVjc1BRQmJwU1B4Ynh3MnVlaE9oQkJHd0VWcjBHYU1OWVB1ODQwS3laMUVYTjFxK3pBOWJKcmhPQnY0aUFqQURZRkw4dCt3MWo4cFRqN3p1aUE2c2M5cmJwWlpNclJkNzA2RnR3QkdCQzVodWYxcDA5Wis5eDllaGxDMlRvUC8ybGYyRktVN01GeHd5cjcwR2dLOC9hblpnSitkM3YvK2RqY3I3dGVLbEdUUi9jTGVRQkRqME1nVEhiSjhRQ25HM1RzR1B4Z0lYOEp2UkRjTEJzd1B6NGp3aklDSUJ3ZEdRL2RhOTl3N3o1eG9FSVhmNkdlZjRCeVM5aTBJVUlMTnNicEJFSFJDQTFBakJubHhiQlVwUEJqSXVMd0NWQ3BHMktpNHNEMWp3MUFrM3ZwckxVZEREandpSUFoc1A5aGEwOFZqd1BCRnJPYnFFOFNDR054VVFBNXZSbmkxbHpySFUrQ01DYzNqMkJtQTg5cExKd0NOREZpODdDMVJvcm5DTUNjSHhzbWlNNUpMVjRDR3pCMnRmaTFScHJuQ01DYlZ5QXp4SE5oU1ExOGU5WlhFZ1VzTklaRU9nRjlpeG1JSVpaRnhFQm1KRHRMMks5c2M1NUlVRE5RanQ1RVVNNmk0aUFmRXBzRWV1UGRjNk1BTDFWaU85dnpVd05DU3dnQW1BV0lvT1oxL3R4K1NhMW1YT0REQ1JDb0FraWxDaERFWW1YVFR3YlVnU3U1ZEFjRVRMenF4WldXbmk4cUp6V0xxU1Vsamd3WHdqOVNLS05YLytRaFFieVNKZ3FuQURHc2RudW5CN0RBWkl4OWtJVkZwRUkxcFpBaFBnOUhoRnBpNG4rMHMydmJUZFJoSW9CdHd5cTlJN09PMlVVRkZvR2lsQW9QTldPcERjRlg1czVpeWhDTTIrQzlBekFJVEwyL1ovMFJETG5SQkhLRE9Ic0NCeURDSjNPcm5pM1pCU2htVGRCZWdiNklFS3pYOTlBRVVyZmdqem55bHU1MCs5NDhjZ2ZrcU4vRENJMHlKRmVPbElvUXVsdzgrUWFQdVB4eXA2TFJXNXRCcXZlN05jM0RCUWh1Y0hUdVRlZFR4Y29NemNLL0M0emZEcWhxUFdOeHY5bjJaK1ZYbjlaV1N0UFlDWVJXbm45dTA5ZGF2OSs0Q0c3VUo1VzJFcjFpK3dDMXZ3aGdjdGVmUmNHNTFiR0kwRDZES2oxWTlnTXNvaFFvM1d2ZHo2dzJWNlpzWlhVWm1KR1A1ZTlIekR3Y2JGRUwzOHU1cUgzQVJlenZrR0ZrOTVidEJ6U3YvSTZaUkdoeHg1MExqcGZjelF1aFJxNWYvaHZmdTd6Ny9kZXNNMFpxTGpqVmE5VlBSNm14K0dYOFhZTFcwdS9DTzFjelBwR2s0b1ErVCtNZnB4dEhGbEVxSFZtYk5KdlljSFQ5SHpBMFlPd2MzdDJYUy9qYXR0ZytuODZVZzJ2Uk94ZXZsS1k5VzhMMkxvamNaS2YweVMvL01rZXJmUkpESm9aUkdnVlhxOEw3dVhHSS8vOTJYTFIxSWhhVkpjcmwxT0UrelhYNmJRSG51bDErcmllYmFtb2R0U2hkalBPcXl3UmpPMXNBMXZYWXFkT2tIRFZObGorcngvcnhacE9aaENoaTZDdFgzVDF1VlpZWFpZLzkyY0FmUXpkUGtFdFMwejY5K2o3eUhTT3RmZWE0RHNReFRjc0ZpWEN2SzdqT0FxRk4wczgzd2c0dVIwdmFiSlVtMjZWeG9keDhtVVFvZjZPWVJ5NzJFWjFlZEFSN2NkaHA1SnB0cUNwRGpsbkt5QkRwOXdIMzlVVlVTSlVkbTJFdlY1eXdxVHVGdkIxbWpSVG5QUXJaM2FxelhpVHlRd2laTzdDOXg2Y0FRdzJyaHlGOGdZaVZNajdFbHBvWHBGVWJaVzRoNG5RaVNEZGo3WVBXK0g2dHFDVjBHVUJYN3NKOHlSSlBvNDNsMHd2UWcxNks0bmw2Skt3Y1dVUXl0eGVsSXlGNXA1eEpEMXFJNG1RTVpRVTZFWU15MHkvbUpHTVdoWWpZTThFM09QM09ySHlweGVodGY4THJ1cDNKZU5DMUMwMzNVSXJHNnVtNlJQUmJUbXlDRjJVUnFiTnNIbUVXeVN6ZktUblFKbHpoWXFRTWlhWHdEVnpoOUY1RHkzSit6ekY0dWhzUEdxK1FNZCszM00rY0FsQW45Nmh6a3ZVRGhYMkRLTmtMQ3p6ck9QOElyUXNUYVdiOHFDbVlYVEZ0WHhvb3RNRzA2T3NoZG1jRE9NaFljZ2IrOW9mdkpMVVJJdlFaakEvVitJdXVSY2tNYTFhaTRZWkpXUGFuQldJOEl1UTBSTmZBR3RGVGVrcC8yWWhONUhSOFZVMGM5NDRyZkJHTm94WDJRWU56ODhYUkhuUklyVDBzQ2N2OVR6ZGNRbDAzZmVyVDE0V0pCVXUrUHJqUzRyZ21nUUZSR2pFYmNKTHNScHhKRFZIZm5XbUU4WGlVQjA1TnVNWTdFYUxVQmlSc2R1bGp5T203REJzaDh0WVdDRXpqd3VJMERHSDkwS3NGWWE5Q0hqUzFiQUpJc1JsT1IwSmZhNzE2YlkrMGh1VFRZUXNWODFrLzE3YXdnYzYwNzd3MWMwVkVLRkxYQlBZa3pScmZiWFlNcEErUlpxWVBvaVFHRkhUVUFqSjA1TDA1WkJrTkNxVENMRUpHVXd2ajBMTEFjdUtQS1VKVFZ1OXlJQUliWElWWkdSdmlZaGllYmtRdFhjTUlyUWZWWFRLK01mdWRXTG56Q1JDekJ3RWV3TUdvU1hXMml3RUM0RytOMkNEcngyWkVSVjNVWW5DSnhROFhhUUpiTzNvSXJPRnIxbnVHLy96TWVoa0VxRjFkNm9Pa3piWVcvSk9mWEhkUWpEVWw1ZHZURUNFbHMvZEFwWmlkaSt0V0oxVk1xNWhpa0lLSUdzejhkQXJEaS9pWFFuaExaTUlYWEFSdE9mMm15Rjc5MnB0RmdyMlFtdk1vcmZ1YmxRSUFkaU82c2RTbWFLb2VPUHBKWG55ZXE4M05wTnZ5VHAxOHUvRm1mRmxGQ0hIb25oTUxVMlg3dWpacnJWWktDaENCak1HYllWdGs1TGdPQzVnNm1SLytIa2dGWktmODZyYkNhMlorekdJWmhLaFRkY3FNcUZJTm5lMHhVR2Z5K2N3MmtUVmpRZ01aSWExN1hEYmx1elVZZnhmTEtEK2xDdldHNGFWblR5dVlkNzcrZjkvWUJpTlNheFYzSGFXeWwxeGJNNHdNWHZaTUlZSFdtYkJMRlNZQVVOYmFINFJRUkZpdENlUk96MmNsSnNGZk9hQVdoYVpUc2I0eWVmZkZzN3BHLzZzRjh0dWFveXlyRHdzTytyMFZkcytjVXZQUDVpRlFrWTVmYjZLeE9oRnFCZlVaMWNlUHY4amgrOFh6emovTUdYbDdyd2N4eUJDRVN1VGtVV3R2bjc2QjhGRTQvc0RlLzg5aVg1QkdvLysyZzhCSDMvNFhZOTJmSFErK21YcjV2L3RDMU41VGJxTlljMzhZK2lGTnR6eDA1dnM1MjdjQXg3QkxMVGpobi9RK3VsZGI1THErL1FpRk5Sbmx5M1lJd3Vnd0dNZThhcEJQKzJFOFpEc2pqNDBYVWIxWUtrM2xZekNxOWI3Yks1VzZmRDFPRkFuMGNhaE5rMW1QMTVXR3Y4ZHVraEMzaHBkeldQeWxHR012ck1DRTVQMmZqQjU0ek5rYXBMWEdXQVdPblZpL3pLNUpiMDZ2eExOWTVCbytTRmFFWUpKa1Y4eVJoUlBlOVMrSW84eVViYlhGSlVhUWtIZlNwRlB5dEttM1EwM2szWmQ1MVdiNmhqSW4wbHAxYzQydVhYeituUFhiOXp5U25OalNPNytxckUyaXJBNFU1cExzTlcvQlM5ZG43eFd0YVl5SXZjSHhwdlBPMTBHOVRMNVBVaDc0cklES2hKenFobXNTS2hXaEdCUzVHUFJHUUNtQXdodXkrcWZtYjkxM29RMnpyYStzVVJ0QXF4cERLUG52dHpkVTFxcDFkNjdQMDMvVXowVGNvKytXdzFUeGtCRGFlVjNyQ2VCajdYZm1uNGxtT0l0NUp3U2FoME9HZFJOV0ovYzRxbzE3RmE0SGN4VnZSQ3RDRjBJNkxOTmFGZDQ0SXo5RXV0NDdmcU15WDdlOWFMbFpDTjZsVnA5VEtaandMU1ordk40WUJROHRlazA3MlVqQjJyQklhVnc4U1hUblpBMHJDT3FHTEhsQVJqZndGLzlSeXRDYkx1VXFJSkp6ci82TUdoRHU4YUkxZEtPSE9ZK243QXRpNGVpNUJTdThRNWs0bktZMzdRWkd0N2R5ckJKQmluNEVsbmFydTJhVnRaUnRqWXByRnQ4QTJOWGRLSWlWd1ZkV2hIYUVvcUV3L2FHWGRHLzN5TEU5TnFqUjlUczRYOGFyLzRCM1RQd3B3MzQ2VDJMTVpTVlFENFJzRVRiRjFiSTNkRXd2Mmx6bTg4eU5yS1p6MkVXOGphSFg1T1poWm9VeDJQQ2JMdEROcjZKYWxYU3BSVWgyeW92czd4MXIyTjdmL0FHb2Uwam5xNUs4d1ZqaU81eFhqbVJQK2lpVEdWcm9BdXZBRlhvZSs0NHhHSGFmQmdzSmtVSU5EeWxUSitWYkJ3MitRa1ZtS1U0Yk1JSmFzUG9jc0V4M1c2S0ZsYmxSeXRDYmIvMjBIMFhxMGZYcTBnMi9TbHB1allJZ2VieGpJS01wdWYvRXMwNThBUWw5RFJwOXlOMmNvRmFjWmFRZ2pyNWkwSVdOMktadDlWa0lGU3NpeldKbzdJdDJkMFBYM0lGL1kxSnE1WklKU0swSXRUMzl5MFRwdHN0KzdBN1ZsVjEwOUlJVUJ5RENyUTRmeGZUb1RUY2dYd2dpZlFQbmk1LzVSMS82bCtvMWJhYitZSi94cHFJS0lnM2V5V2h0cWMwNzdyOWJsbE1uWVkrTktOZEl4RkQ2Uk5yUldqQ0o1Y3U4Yi9MQ3FGVFQvblprcXhoY25oNmR4c2tLTnQ4eHg1a2dNeUJ3OFFrbzBTeXFvQ2xneHZOajdtTHhTYjVCOTdPM1BUZ3RNVnlpK0lLeXJVTEw1UjFKd25GbWFYVml0QlFwU1JUTnBmOFU4MnRqTTBkclBzSVJJaGJCWVBSMFNGTGRnOHg1b0xUeTRuRlkybWZmTTg3bkVjejVVbGhpWkdheVhlVFNneHNUM01GQjh4Q2g1NHNWZlZvUldqTVpqTit6cHQrQzB2K0l0UUNFZktYNG1jajFIL0ZGa0FoaDNtcEZjRFlvVnZ3V3pLWmptSE95VlhDbnV1Y25BRHBMVzZTQnRlWlcxYTEveEtMMExLL0U0SmF5OHNkZVZUWEFoSEs5STR2Zngrd0laUUpHQjF5VVN0Z1B1YmFGWTFsaTR0QW1ocURtc2JWQVdZVytoc0RvTlRsV2x1YnU5SVVVR0llclFpMU5MMVFPOUE5WE9MR3NKejRocmtJNzg0emtJUXhZZC9KRG1wRnR1VVNsd3Q2Y3JWanU1OHdzM1VSZlZGQmtHL3BkUmx6TUNlc0xMZnd5djVwUmFqSHhtUXY2NnRNUXhYQnVZc1F0ZGZ5QVVPVWs5UWx4b1M4MUFxZ0NGcCs0NGYvMW04UllsOGFtNVFsbnQ0VUZmU3F6V0x3elV0LzQyVVc1VWdxUXFQZ2lBQjJ1M3k1czQzVFZESEk5blQ1U0FCTmY1YU5scE83RGFMdFBIZi9TeVo2MG9nSWx6Z3gwd09RRklNdnJNN1V3eXlrMkR2dFlxUHVoZFo5TmlHYU9QZGVpSTRYQVkzTFpTdkJYNHVQQ1cwdVRBbXlLNUlPWWFQUTllcy8vOVhmLzFsRlpKSWcrcElNM0F3ZStZWTNldDhKejB0L2Mwc3A4RS9iQzZsMW9kWTdncnhjeWx1ZGhtNU5XUENDNWNVTUFZM0tucGRCOGtsTy9XUlBhREF4bWRBa2c1NkgzMmJSbHVWN2owL0l2T09iaGs0bGdyVWlwSnpVWDdaM0Mva1l6MTJFQU1jYzJoeTJOekUxTlMrMXdoSWFqQStEaEY2b0lUZE1UdVM2OXZtN2s1ZitscEN6Rk1rVGlWQ2o1eTR1ZXdySzNTNEU3MlVPSFpzWUUzSlRLNEN2N0NvYXhRNXF5Q2UySHZrV2crOVdUdnFicDZrSzhXaEZTR1dkVnA5RzN4SldzbnhZSEVGVHNURW9QVVZvQTdlOTgxSXJxTEhoS0QxRFVzNis2Q0dCcUtRMmk0cURsTzFLT1NyczFJcVFmWDdPeTNqRDNQRUdPTDQ5MFNsTDBSbjJDNDJocWZoTEtwRk01bXp5RmJLODFBcDZBZVIyTWlZMHFlRWx1ZU5HZWVRYlptck00amlSeHpjTm1Xb0VhMFdJM2RBbHNma0NINytsUUxwSlNucU5XTXhWZ0Z2elJPNFhNaUVqVTJNWXZlVC8wRXdkSjFkZWFnVVZvZVI4cUhJTWhWTGxrVytZcVRFYnFHZDhVOUdvVEpoV2hJSzdnTmFzRThiMnYyVU8rdDlXZFJsdGdGdnpSSzRNMEh6c0paVUxTdVp1Y1gwS2hyUXp5UHRmaytVUHBvWXhoOCtqZ3JGSlFzWjhrS1Ztb1VQSStuYzZORCsweGpYNkQ0OHp2bTF3eUozUUt2NXFSV2d2MExlSU95NzUxUTEyalpTN0ZqUHNGNkoyTjQ1a2VzekVucTYyclZiWUYwR25KMGR6NXFIbDJ4d01DVnRybzRmSXppQ3N0MDBqd0p4eG0vN2JtejZvRVhkdm4zcXEvV2hGS0xCM210L0xBNXVqd013dkh1WGVhUkdkMkdVZk5zcis5bG44SFhDR3RKWEkzaStTMDl5Mm9rNkVYdDUxNU5zWklXSDE5Y3pod2gzU3VqdVJUTTA4Z1ZhRUxoS1BuQmpHaTBJVE92WW91OE1jUmgwWkI5alFKeENXSTVLNWhVcnVER25ya1RwWUpQMGhIeHRwMHJWL0ZabEJsd0NFZXRlTmd3NEpYSzU4Yi9HS3UwUGE4RlJIb2pyaFdoSHkzOWd1VDhkNiszSUZRajl6SXllTTZRYnRJSStaajVqY09IYThpOWsxOUw1SG5YNHN2VXcyUlFVdCsxWGRkR2lCQ0IwNEtJR0xEbW5tZGt6UVpwaE1LMExRazNaa3ZoNFQ0OEFGUHBEYkNTeG1mNUdUWjNBRGVwNm1Ta25LWW51RVlPbVNOdER4ZmtwQ0l0dWVqRW5EdkNaaUVycUVxRUNYUzAxZ2wxNjJLY0JBdHV1UTZ0cmEwbHBPNm50QzlwSWwxNG9RS0xXZU42QjNiajNwbkNKZU1qMFZnM25LUWJJeUkxSWZnd1Q1QnRHSUhNcm9Iak94Z0k1S2pTMlQyOHBrU1FLaHZkMFdobHlQcXhaN1lsS0RoZVFqSjJuZmtlLzJ2dTJGRHRqRjByUmRWNFR5RUpQeURKTFJVV05IV1M2dnBSMEw2TjBpNUFNRG1DdTAyT3Z0WkFOWmc5QWNueTZ3cExBMEpTMWhZdmM5a0d2c1dKa3MwZnBKU2JIMFlCaTZ6ZHhMcHY3cjZ5eU45aDh3Y3doQkQybWJSTVpuZGxvd0VwM2FEcnBaWVJzNnArRFdHanU2VWovUWRXb20wQzBCRjNEY0o1ODIvaVBZUmQ3d01ZdlBHcHlLck9abExHRzRUSUFsWnFObFlTbittKzY2eStxNVJlMTF5NTZ1TXdVOW1tWEVMWDlHLzE0bkpSR2FqVzJsYWI4MHBIVnR1RzhoaU5hT1RiVVA1ejA3WUhMYnQzMlYvbWtNb2IwZWdMd0hud25aRjRIT3Q2QnBZbmk4dmV1bXp5OHlwWFNOb1FobW8wMUpnbWFESWJwRC8vc3YyMWFIeTFRZnl2cGM1blg5MzdNcGdNZk9Td0pmK2JSTnVGZVlvdWx1c1ZrbEg3WDc5dDVwVm80THp2K2JuL2g4ajRvRW1iNzJxNS82cHIrd05uRlVQRHY4b3YzTzJYdkIySXZDMGwreWUyTG15K0hmQkk3MnM5TnhSeDM0V3NJZTVYQjBMVHRKbzhHdWZ2c1orTVIwbG1lRlREdVFmL3dTU0RxOGtVMEc5YkVqbzhOM2dJWjVaR3prZmE0aEM4dkt2RzFvSy80RVJ0MHRlVFNaT0Vjdld6UzVUMDlwNXRGbHlQelJNbmJrZ0pUdWg4aURnZkdFOVF3Yzd6dnZiSGduQnlsSlFvUGYyeldNLysxTDVQOU1TOEhOMTRWYjB0YisrSHpYYUpoa2Q0VmRaR3dzV2VRclJ1TXpvS20zNGRZRzhVbWRqS1VWbHIwOXZmbWM4eng3d3dxSWtEeEFyYmtOUU9kdkZFUDVHZGxyUEhKSU5qZm9BMHlwekVhb01hYjMwTkh4NnhHNDJDNVF2M1RFNFF0NE4wRWIvSU4wdVVXdXRSNjliTzhVQXQ1Q3BwWVlaSDhVNk52aHl4YmNvT0tEV21Tdmg4dTlyOVJtZHBuVjhaL2QraVYvdFZwc2ZwcFR0ZXoxRFg4aHFXaXZmZmI5MHpkMmFOWVBtajl1LzFOM3h1ZXZQa3ZlL3JYdGpFUWcrOUx2V0QveHZFM21CM3RQUy9UZ0t0Q2ZzSTBucXcrZmZ6eDdNYk9sWU1WNkNXRFE3dVRLcDcyK2tTdEZKRFlyQkNhZVdiMk9pNDBjTmhoNmFOUEJzdkpxcElkajlPZ1EySXUxZkhveGg5MWhIZzZvcFNyN3RsY1BTZlRNQ0lGNEg2czd6bG1icGh0b0NFekM4WmtEQk5aaXJWUU5ZMmxNQ2VCb2d3aGxYMVJQVUNBbUxRNkJZUXhiU2lQdjR4dXdpSkRIdHRmaVVFSEtDUkRZaTJIaHU1SjdqekVHRVRwTXdDVW1yVEFDY2NSakw5YTBMVWtsVFJDaHN5UVpNRzJGRVRDOUM2b3FUaWM1VzRYb0huZDVWNDZxVEF5ckR3THRTRlY1TGZmSkV6MnNsYnRZMWdmeWVlTjBQWExGL0hMdWFndmRoSVdXeGZtUkpEUEt4dGUzOXl6a1dXSFl1SWVXeFR3Qm5UR3Q0NGhwZlNPdkJYQlJUN3Era2NPZVJVRVFYVE5GWUlWOWFrVERoZThzaHlaVm9tQzZ2c0UyWUNYS2lJbXJpY0FvL0NqRk1HcWdTMTZyTFJDaC9lVFpNRWRWRWJnU2F2YlppR0Y3VEZxekpvalE3YVNaTUgyRkVaajR0cmw2V08xRzI0MDg2ZU40K2lCQ1IzRVNZcHFhSUxBUjBwNUwyVTR4cUJFWWdnaEptL2pVaVRDMFRnaDA5YXZtZTJ3N2JKNzE2WUVJNVVrUGFjMGNnYlhmMDdMd293TnRWUG9JUy9yQVNYb3FtSE54RVlDdDJPd2c4K0tDZ0RYUGdnRGNYcG0vdVRJTFE1aTNiZ2pBblRTeHRtelhyVjdJYjJrSTBEUFhoNldWaGdYTklRSndHUkJ1T0p2RGRpMnhTblI5NDZERThyQ291VVBnR0VTb00zZTF3Z3FWaUVBWE41eVZpUFpjRmpYQkRXZHoyYTRsVnFxSEc4NUtSSHN1aXdKVjZOdHpXVEdzVkVrSTBQTWJoeVdWaGNYTUpRTDBmcXF6dWF3WlZxb2tCT2o5VkxzbGxZWEZ6Q1VDOUNiMXVhd1lWcW9zQk1BNEhiN2h2eXhHc0p5Nkl0RDAza25jK0hjM3p0K0FBMXRkVzNNbWZQYzl1NFhnYnY1M2Y1bE1UMmZDQ2haYVR3U0dudDFDajVCZmdLKzltZWVEZWxZR3VaNEZBcVo4OGYyeWM5SCtadTYzWU0yaVpsaG1TUWdRNTBaNHA3Umo5NURSR0w0bmdBOGlFQXNCK3ZHRWJaNnk1MTRic29jR2E0NEpPaUlRb0R1bmVSSjNIRE9NSzdnaG40T0NqZ2dFWU9jMCt6S1hZVnhtTjN3c29hMG9BamVNNWdqQXptbHhhM21iSCtYQVJRK09FRG9pRU5pVHQzb011UXJVSytMd2ZnUXJHRjFQQk5yeVZnK1RYeEl6MW53K3RwNlZSSzZMUkFDMnZaNHkrckIxNk14MUQ1bFd4T0x3SHhIUUlHQVNNbUJSY1BYcnFlc2U0ZTJMREJYOEQwY0E3bVFROXdYRDFhOUhYSVNLdUlZbW5CZU1yU1VDMFBIYzU0ekRCSitKVUo4VWNKMGFMd2dkYzRRQTdGa1VGMkxCN3JNRHQyNTlOQXpOVVNzWFdoVzRNUGdhTHdCc1JFS0V4UGpHNDlHQkNBUVJhSXF4eXpBa0VlcEtLbEl3RjRZZ0FoeUJvWHllSHJxa1hUZW1TNlk4RFRvUWdSQUVMRmx0aG0zVUtFSWhZR0dVQWdHNEpPOWJJaGhGU0dDQnJwZ0l3SVJNYU5NR0RHUk1uY2FCTENhQ0M1dHM2WXZmYTlkZEVocndTejVVcHhkV05tSld2T3QrZGFQck1mOUlNekswQzhWRWNtR1RFVmNINnNtcUVPdzQ0d01aaXREQ3lrYThpdE1OMC9Sak1hQk5IMG81NE50MlI2NFhGemdrWE5BWlJJQitqWlV1alVHM3N5M0ZlcFpadzc1SEpPVkI1MklpUUhzaHV0MjE2eHdiWXlEQVBURm5ybnVDbXowWUt2aXZSTUN5Si9NTnl6T09HU0JaSjI1eTNIS214QTBET1FJamNyZGpHQmZJT2Z4S2o4Vy91ZGpDVDIxS3VLQXppTURsS2RXQld1UVpiNVRZTVczeC9zaWJBbjJJZ0lOQW8zZC9ZTHlHM090NEFlbmlJU0F2SU9qVEl3Q1RyeHRrZXVSTGNKR1ppWlp4cjRjUEd2UUdFSGppOWVUcEEzL29LdHNGdTRrVE1qODI2SStIZ09sK2plTllYbjJObHhWVElRSVVnYVk3SmV0NVRJNklEU0lRRzRFVlp3Y2FqbU94RWNPRWZnVCtLZm1IaHJGcVRuZjlFZWhIQk9JaDBCakRkWjBXK1VLODFKZ0tFUWdpMFBqc2plblR6d2ZETVFRUlFBUVFBVVFBRVVBRUVBRkVBQkZBQkJBQlJBQVJRQVFRQVVRQUVVQUVFQUZFQUJGQUJCQUJSQUFSUUFRUUFVUUFFVUFFRUFGRUFCRkFCQkFCUkFBUlFBUVFBVVFBRVVBRUVBRkVBQkZBQkJBQlJBQVJRQVJxajhEU3JVSHQ2NEFWbUNrQ2JYN2o4RXpad01Kcmk4QS9FSmRXMTdZT3lQZ3NFWGdDYmdBTjNGYzBTNGF3N0hvaHNQWkJ1SVlZUmFoZWpWWWhibGMrOFRBVklCU2hDclZKelZpQkwxS1I2VGQ3S0VJMWE3Y0tzYnQrOCsyL3UyMmdDRldvU2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3BRUGR1dFFseWpDRldvTWVySkNvcFFQZHV0UWx5akNGV29NZXJKQ29wUVBkdXRRbHlqQ0ZXb01lckpDb2pRVVQwNVI2NHJnb0JKeUdsRldFRTI2b2tBZklqanBKNmNJOWZWUU9CVklFSXZkYXJCQzNKUk53UWEvK01UbjM4OVNCQWg1Mi82NnFkUUlhcGIrMVdBMzRZdFB1eG5wd0ljSVFzMVE2QkJibDEvem5tZXZXR2hDTldzK1pCZFJHQzJDRHowekd6THg5THJqc0F5K1l1NlZ3SDVueWtDalNHSzBFd2JvUGFGTno1RFVJUnEzNHF6ck1CSFdqQVB4NEZzbGsxUTY3TGYrekhUTnVTZ0NOVzZHV2ZKL0JBRTZCOS9HSHVoV2JaQnpjdis3ZXUvOUcrTXl5aENOVy9HbWJPUElqVHpKcWc3QXloQ2RXL0JtZk9QSWpUekpxZzdBeWhDZFcvQm1mT1BJalR6SnFnN0F5aENkVy9CbWZPUElqVHpKcWc3QXloQ2RXL0JtZk9QSWpUekpxZzdBeWhDZFcvQk5QeXZQSHorUjA2K0Y4L1M1UGZrUVJIeXdMRVlubVdMa09tMlhWY3orMmtiRktIRmtCcFBMVWQwaDhhZjA2QXI1NTZJVkI0VW9WU3cxVHJUS3BVZ01oMUFKZHEySUdXckRZcFFOdnpxbUx0cGl4Q0JZeGRMZWR5QmdDSlVSeUhJeHJOSnpyLzZNSFJEdThib2JqWktkbTRVb1J4QXJCZUpEZklkWVBqdnc1NW5rMXdMc041NDlRL29ua0Vnc1IyQUlxVEdaWTVEdCs1MTdOcjk0QTFDQm9GNlhuVkdPZFV2bFR6Rmd5S2tBR1crZzdydll2WHJLcFRwdGtwNG5ERE5xSWNpeFBCY21QOEpNd1V0azkxZ3BUZkJacVI1M2hwTVRVTlFoTlM0ekhIbzMyVjFhK1p6ZGdkRmlBRzZjUDlMT1YyTWlTSzBjS0xES3R4OGlibXkvYU1JWmNPdnZybVhjK3FFVUJlcXJ3eGs1THlkVXlla0Y2RTFqWUhwZndseXJsVGdnOGt3cEVvSXJKS0RuTmpSRG1TbVVqQWdNRGdSVktiTWlUOGtVeEFDbzIvbFJWZ3JRa3E1b0lHbmdhS1ZTUU9wTUtCS0NLd3J1b0tVL0dsRjZMOHJCWU9RZHc4Q0pTbFRCbEpoUUpVUWFMMGpOMjYwSXBSYkNVaW9nZ2hjdG5jTDVjTVlpbEErT05hTFNxUDN0dndZUmhIS0Q4djZVSHJNWGF6UGhXTVVvVnhnckJlUmhybWpaeGozQytteHdSaUd3QXNQbUN2NGovdUZncGhnaUIrQk5ldUVCZjFiNXVEL2JlWDgyZzdFL1VJY3BVVjNQSFNmSWJCR21Jdi80MzRoRGdVNmRBaXNXYmRaMVBvOTVzcndqK3AwQnZEcW1mVkZvUWtkNTdIVWlpSlVUemxJejdVOEhldnRwNmZEYzZJSWNTZ1d4SVJxYlpjQUFDQUFTVVJCVlBHWTBJb3ZLQlk4azZPQUlwUWNzM3JuNkoxYlQzN2Fyc0tTT2MyaktpQkNlWXlIZWJDQ05NcEFZSjJRVzRSOFlHQVl5eTJTeTRhUGk4USsyMWdHODFoR0ZSRG9rMDhiL3hGT1E3L2hZM0RhNXl3UGpyWUk0VmFDUE9naGpXb2pzRVRvQXV2UXNSK0txVmtHcHBmZ1pEVjVQZ01CekZvdkJDN2FDNnliamdqdFpPWDl4LzcwazY5MWppNCsrZlZQL0VsV2FwaS9GZ2hNbk5QUXRPY2dyMlRtZU04UlJlZFh6UFF5MDBVQzFVVmdqV3piekYyQVZyOFgzQVdmbFBHOTZjMjN1OStXdjM0ckx4RmErZUwwWHlkbEJOT1hoc0F5dTUzam45MzZwZXdTVkFqYnF4WmNXdk9UaFpCR29ndUJ3Sm81UFRLNmVSMlRYQWpJc0pKZUJMcmtkV0N5eXNkaTVhV012c1ZBWUlQWUtsVXZGN3Y1WWtDR3RmUWlNQ0wybExHUEk1a1hGL1RGUlFEdU03YW5qRTJ5SHpjTHBrTUVaQVRhN25MYmxuT3p1aHlGYmtRZ0JnSU55NzJEOWhJdXU4V0FDNU1FRVFDTHAyT3R1a2h5K0xKRGtENkd6RDBDWGVLdS9NSWVwTG12TEZhd0FBUmdISHZaSVFzaVpLdlZCUlNDSk9jWkFkaEFzT1BVRDBUb2FKNXJpblVyQ0lFdTczdGdKK1JwUVlVZzJYbEd3SEpNMDFCRkVLR3plYTRwMXEwWUJNQ3V5RFp6YnhGeVVrd2hTSFdlRWJoRXVFMGE5ckxkbnVlcVl0MktRYUF2UnE4bVY2eUxLUXFwemljQ3B2aTRGU2pXMkF2Tlp5c1hXYXNWMkl2TDZFOVFGMkpRNEg5OEJPUWpqUzB4cHNVbmdDa1hIUUhRZi9nbjlnamFoUlpkSE5MVUh3YXZmVGZmR29qUVFSb2FtR2VoRWJDRUNnMFdJbHdqVzJoaFNGWDVKYW5uZ2JzalNDY1ZGY3kwd0FqSVlnT3JyTGhmYUlGbElXWFZ3VGJONS9SYmhHMGNTa2tNc3kwaUFtM3BrSDhUYjcxYVJCSElXbWVZa04zN3V2djBwUGw5VnJxWWYyRVFBTEdSbnpzTFUzR3NhRjRJeVBJRDdzTzg2Q0tkUlVHQXp1bFAzY291Zy90c1VTcU85Y3dMQWRtYWVBVkVhSkFYWWFTektBalF1L3RZWFdIQkZjMUNEQXo4ajRzQWlBMDNDKzNoTmNSeFljTjBBb0V0eVN6VUordzhtWWhIRnlJUWdjQ3gySHR2akhGQ0ZvRVdSaXNRYUJQeWJSWnM0VUZFQmdYK3gwZWdLM1lMMGZsOUozNU9USWtJMkFqMHhaa05XTFBITHpLZ1dDUkdZQ1NzaWJCbXo4ZTB4SFF3dzhJaU1CSDZENmhGSnd1TEExWThOUUlnUXJ0dTVqSGFwbFBEdU1nWllTQWJPUFZ2NEg2elJSYUU5SFVIRVhJend3cVplMUZWZW1xWWN3RVI2SElSQW0wYVZhRUZsSURNVlc1eUVSb1J2UG8rTTV5TFNHQ1BpNURGYnhsYVJCeXd6cWtSZ09ITHlidUI0MWhxRUJjN0kxdzUzYkVSMkNOVHg3SFllR0R0RXlNQW5jL0F6alRHY1N3eGVKaUJJZ0EzTVd6VGYxaGpQYVgvK0NBQ1NSSG9PVGROWDhWenJFbVJ3L1F1QWwzbjJ2SVd1NzBjZ1VFRUVpSndtZHlCSE92WUNTWEVEWk56Qkpic1Q1RU44UUFaUndRZFNSRm9nekwwWnZ5OGVGTFlNTDFBWU5tY211UitSd1NnQ3hGSWlNRHF3K2ZmMjBtWUI1TWpBb2dBSW9BSUlBS0lBQ0tBQ0NBQ2lBQWlnQWdnQW9nQUlvQUlJQUtJQUNLQUNDQUNpQUFpZ0FnZ0FvZ0FJb0FJSUFLSUFDS0FDQ0FDaUFBaWdBZ2dBb2dBSW9BSUlBS0lBQ0tBQ0NBQ2lBQWlnQWdnQW9nQUlvQUlJQUlxQk5aK3d4dmE4UG05c2VoREJId0lySHlKa0x2ZkZJRzIvM25oUnhjaUVJN0Fza25vOHdzczFSTVc5VTZQbUIvL0VZRUlCSVpVWXVENVJTZmRpa1grMGQ5dWZLUjNOeUliUmlNQ0xnSVh5SU9mTlQ3U0FoazZzME5hNUx2cC81TDVQdHVMUDRoQUZBTER1d05Jc3RSenYvWHhBbm1uaytNQ2RrTlIwQzF3L01ycnAvK05WWC9GdlE4VTdwZ2xiNE43UXEyN0hUZXFkY3JTNEQ4aTRFVmdyVWNzOGxOdTJNVlhYRWVYa0hQRGVGRjg4ZU1xdmFvUEgwUkFnY0NMNUNuanI1RGJUa3gveDAyeEF0M1FqbUUrNEJsV3Y4T2Q2RUFFWkFUV0xIb3RldHVWbFI2NG5RZTZvUWViOGcyek4xa00vaU1DSGdRdTA1dEFQMHpJQVExdENLV1pka005K1hNTnc0RW5IM29RQVJlQkVkazM0RnVMNUpENmwxOXlRK0Z2QklIZkVsNmpmU1I1MElrSU1BVGcyd3luY0tFMXNTKzJObGIvbklYVFc2NEowNURzd09OVEVZY3VSSUFqc0VuZ0kwT1hRVnJzNzNWdTJMOXVKTmdYWmUvV0NjK0VEa1JBSU5Ba29QN0F4NnFjWHNnalFvL0IwbGhIcE53N0UyNTBJUUljZ1JiNUM4T2doc1JyTkVnZXlPeVI3SkFuTkhBZ0UxaWdTeUFBcXRBZDhKbnUxNnBrZGRyb2dtQUp1NURSUHhEWjBJVUlNQVJBWjk0Qjk1Vm52K0tFaUVtOTBiRHVnd3dKQmFqVmNaTGdMeUlnSTdCRm5DK2RzVEJKVGk2VGt6NGhyN0NZcFh2TWhmK0lnSVFBQ0VsSDhocmRNKzVyM1RPdVFEZkVBaTZEem9RUEloQkFvRWNYVTZYbklqY01YYUFyOVdOQzdydXhRMXZmbHBLaUV4RUFCTUFzelVURXdXUDV2T000MWt6cW91YkYxOWtCNjJUWGljQmZSRUJHWU5XN2hnRlJrNmVjK0w0ak9yREtZVytiWGphNVVpVG5SL2ZDSXdBMnhXOTdRVmgzOXB5OXg5V2pseTJRb2YvMGwvNkZLVTNOdkJuUXQ5Z0l3SVRNcitKTXlPOSsvejhmay9OdEJ4bXFVZE1IZHdzdHRxUm9hOStWRFQ5T0tycHRHbllzSHJBOHZ3bjlFQndzR3pBLy9pTUNNZ0pqZDUrUUhMYjJEZlBtR3djaVpQa2I1dmtISkwrSVFSY2lZRUQvMGtFWUVJSDBDQ3piZSt6VDU4ZWNDNDhBbUgya2RkU0Zod01CU0k3QUpVS2tuYTdKODJPT2hVZWc2ZDJYdVBCNElBQ0pFUmdSMkh1UER5S1FIb0dXczFzb1BRSE11ZWdJd0p6K2JORXh3UHBuUVFEbTlNNEp4Q3hFTU84aUkwRFh2enFMREFEV1BTc0NjSHhzbXBVRzVsOW9CTFpnK1hTaEFjREtaMFdnalhzNHNrSzQ2UGtuZ1QyTGk0NEkxajhoQXIzQW5zV0VCREI1dFJGWW13NEtaaEFtWlBzRkZ4R1QvUEV6TVJOaXNpUUlyQmR0czZGbW9aMGtIQldYZG9pSDFJb0FkMCsyMmF4ODhmeXY1VjJJZk5Bd2I5cko2RFU4aHdCK3pud1NEeHdsQTFDVHVpOXQ1VmsyengvMjNCZWx5Wk1vbU40cXhMZElKOHFaZCtKVnVXNXZKaythVXRYekxtdE82VDB1WDBqSDZtanlnNlZ3dW10NllFemkyWENVdEJoTnp6K1loY2pBRTFLQ3A5RlQ5REFYeVRZditncjVTVGlJdmNQOTZJaUR3TEtwT0dLekpCM1AyYVNIa3k5N0wxRFFFRmJTVXFkdGdnaXBZd29NZmJOelRzMWJRbE02bFQybXAyaDd1QlBPaTFDRWI2V2xPcVcxS1VtTURldEtuT21UbXBhYWdSRWhwZC9XOFRQMGFzZkFNeFlTWTc4dFJoY1hYZ0lnYVFNYXYvNGhTMmtrM2hNOXhDYWhZMW9qY3BPcWxwYTY5SmIvUUwwNldYNmhQL0szZmhzNnZ0TUF3WVp6UzU4ZFByYkh0RDNwL1Fra3h3QXZBbU00UkRGVzlVSWpjVjlDMzRIZGl1b3p0TFM4UlRJZk5LZDQrMWxnZ2Y5d015aDVXaVZDRytLMDlhb0R4U1huRHVNQ21aa2owbCs2K2JYdHBrcUVoRGE5NWw3ZzBoUDlraG9BTFMxbDhpVm9VVWxqVjZiSk5YRHoxdFAvR1FvOURSQ1Z0T2xqUndPOExQVkxnZVFZRUVSQUpVTEw0ajI4Nk40ZzNwTG1MVUVpYm9pS2xqb3h2YVB6ampxcXVGQ2xDTFZGOTJvNmQ5QmNLRmU0aTZ0dldaUlZ6UzVwMHhOWG1scHhyRGdxV3VwNjBKdUNyNm1qaWd0Vml0Q1lqNmRYWEFYL0FrRnpkYUpHVURXNzBLYmhHcWtEbTF4UE1RWUV5bEhSQ2lTeUErQVFtV3pSVXlmS08xUWxRcEkydmVlS2p2MWhrTHpMbm1kNnFtWVgydlE2dTh2T2lyTlhYa1ZMamQweGlOQ3BPcXE0VUpVSVNkcjAwTzBYTDduWEd4WEh5SnhSVmpXN3hiOWRjTXlVN1ZpZGhvcVdHcTQraUpEVHZhbmpDd2xWaWRBbGJpTzNQd2hDeTkzQ2c5cko0RmMwdTZSTmo5MHZZY0NBZGhKTlYwRkxrMmtNSWpUUXhCVVdyQklob1UzRHROL2hhTTkzQldSaC9Nd0xZVVd6WCtBZEJFak9vVjFSUVA4c3VzWUtXcHBNWU5HTXNoSm9jbVlJVm9sUWk2dk9lNjQyYlRSeElFc0dzcUxaOTdpRkgrYmVSelk1Y0p4RzAxWFFVbWVDUVlNMW1EcEJJYUVLRVdxSWhac1JjZWRtSXpaNEoyVGlaMjU5d00yeDlyTUpzOVk3dWFMWkoveUMxWXVzYzRkZVBvYnFvcUNsQmdjdWU1M0JhS0VRb1N1aWN6WGRNZHNZcDV2VXY0VThCeCthdFo5dUhDT2FHcGs2aGlxYVhXalRUWGJXQzJScE43cDJDbHJxVFBSS2FmZWRWeWNvSkZRaFFrS2Joc2g5cDFUVDh6M0d1SncwekM4WXBtdW10RUs3N0IvK201LzcvUHZ2eDZXYk9OMGpaSHJ6K25QUFBYZjloa1hlbFRpM04wUERKTGV1di8yNTU1NjljWXUvOGhzMi9XZHZpRG9HbTMxRmJKZ1pzb3g3c1k2ZUJtbDVPZUkra01nWm1JQVZJdFRsKzZCQXFwMEpBK2gvdnJ1TU9kdGhqZ3ZRZFkrZHJocktDWG5mNk90VDVPMWNRNXUrODVPbUluSWw2ZlprOWpDazZHWkIrM0hnZ3VUQlpoZmFOSHpueWRVMjI2dzdrZ3NJdUlPMEFrbWNnQzNnNFk0bXJyaGdoUWdKYlJxaytzQXVHbURiVDhGRC85QXdXczZ3Q0lwalIwK0JXbFdMN0lQLzZpYyszN09MZVBMcnYrL1VTTTlMWk16blB2blhiVnIzM3ZTcFgzVVRMMy9KRGpuL1dvZmxEamI3TWRlbTRZWGtUNXp0b0VGYXJCVGZmeHZJWHZPRkZlOE5pdENha0Jib1ovbHpPd1V2NW9CK1dlMkU1cnpBN0xGS01zdWYrek9yNE51NUdsQUErU05sNmNrRDZWclVkenB5dmlHRWZJOFVFbXgyb1UzVGIzMnpKNDdxRXFRbGx5eTVSMEExVFR0SkpGSTRneUlrYWROZFZsSDRQMHBPZkJYNmVaaG4yam0zMlBDdkl3TWQwYjR1THBmd2NZNGpKZDBtNDIyclBpRmZrZGtNTnJ2RlIxQTRadkh4UituekkvRlVseUF0dVNUSjNRSzJUaVYvT2M2Z0NGMFNJODZFM0xlcit1aXgrNUhHWkR4ZGhCM29BRmVINW1wR1RSVkFoTHlOa3F5czZOUzlISThLVTcxMTExTmtpM3lmeHg5b2RrbWJCczNwd0U0TTNkRytKNWZhRTZDbFRtWVlWb0F0WGNvOHc0TWlKTFJwbzhmVXZtNHN0Yy9QMTk2K1lWeHlMNW9ZTWZPQVB4SHo3NlhxNkZqdUdQOEE3NTBZeVdJbEFXYTlWdUFOL3hzU2FQYkxRdWEySkxQUVdZenlBclEwZWFobGtRdzBrY1VGQjBXb0owNnZjUFZrbk1vNC9jS3A2SDFhVWU5YnQrRGE1M3JPRTVobGt6R25hU1ozTzk0MkNqUzcwS1pod2RIVnJLSG5IZGpaM2tNYjMvczhKZWdGYUlrb2o4dldzVHdoT1hsV1RDOXY0RHNmY05vQkVaSzBhYmlMZjk5SmFKR1hlWTZnSXd5QW9Xc05zS0tHcVNIRE5VZy9seEI2enZNMEYwcEFaRWpJZDJSYTBtWXlOempRN0VPUllZL0pYNU10UjR5Qk9kOGprb01TSUhua1luMXVXa1hYQ3VlTHllaWxxcC8vT2VVMEF5TGtmcnlLSm9ESjU0NmRFQklkMmc3MXo5aFBYZ0xZY2tnd3JWcE5nSWFhQmU4Rm9LYWJiWDN4eVdKTXIxNjFaa3A5aGtNcDBPeENtd2FSZU1WSk5HSEQzNnV1QjU0dkNJNEN0RVNVeDBXcldJaDVkdW5oQUh0UGQzalJBUkdTdEdtSU83TVRnbmdmOFJ4QlJ3Z0EwTGNlMEF5d2VqTUlacFJDUUZ6anpHK2xIQW1kb0lCNDFaZUUrZVhrMUxCelJ3cm9CcTA3L21hWHp3ZTNtWXBwa24ySml0YnBwNlZMU0t0WUxJaktrZ01pMUJkd2dQcGd0Nzl4TWZVZ0ExMmdYZXhtRkFXUXRiQ3hVc2w3b3NDMlgzMUpsTnViR0ppVnUrVXJpaGZNMyt5U05tMTAzVlVJNkpwUHZZVFZQajh0ZFNxcWQ4WXpFdWp5cHd3UGlKQ2tUUU5TMnpaWnZza3VjU0dYM09HSi9Xc0p3QkxIdmpZeWo0Z0ppYWxSeENpTXJzZWM4WFNOM2p1NG16djh6UzZmRDI2N2I4dDYxSHZsVXZQVDRvWDRISDFnaXh1ZmZIRUZldjBpSkIvN2hsNW9ZQmM5VE4yOHpCeDBITlhEZ3FYbGRvSFZoQ1BkT2I2aFhyUFFJM2M3UWM3OXpUNlVOT0ttMjlCYlVhQzRaUDIwZ3FVNUlXTVFvWDFkWkhIaGZoR1N0R2tENGpwMnllR3FVQmh6ekJ6VWp4cW05dEtYRVZhK2lBTjQ3d2hmTmhjd0svU3FEYWxERW1UOXpTNTNEM3N1SjZPWUMxcCtXcUlVcjhzRXRuYThRV1g0L0NLMDVVb05MUnUwUnB1RmpkRDFyVkF1V2Y4MXBxZzlzcXRQMjJVOW5qNUpwcGhjelVKdGVmSThmcWVLTVYrenk5bzAySVZzWVFaNHQxVlpBMkUrV29GNE40QXErVXB4MW1YSUtkd3ZRcEkyYllCZHlDNWxMLzBtbEphcmR0cHorM0dJQ05YS0xBUjZsVHN0TjR3WHpnZXFwdkExdTNRK21GNEpZMnNzNjBRYTNGUTBXSmlQRmd2Mi85TzN4SjMvK0tNSzlmdEZ5SlNQWlBlY0xta1liK0tnNHJQbGFEak8zTU5TcFhERGFtVVdBcjJLbWZCWE5DcWNyOWxsYmRyWWNFYjFwanlyQzRFR1pscXhaSTFhRmlOTUoyR2xwSTd6aVpDc1RSdkd5T1pvS1lQSmMreHM5WURhN1JwTDNqVUJEOHZRQ2NlQ3laTXBpV2NMNEUyU1Bpd3RIVEhzb1FnU0RUV0dtTGEzUHA1a2E0NGFiZEtMbStJOFBscTZMSFFIU201MTFCV2lDSWZlNzFRS1h2ZVlPSTV0MzBWNkgxZktaK0s4cEUzNmVxenpneUZCWW1BL2tMdS9ZSUtzSWUwY3pVSjB4RGgwR0hwOHFsRm5ScTQxdzBubXZidlNhTjJIWU9maUppYysvTmRMUzV1V3ZpWFMxV0xhZEhsSHdHN0MyeEpOejVXa3NFL3NCT0xHY2Q4V2lRNXp0dTFaSnQzdTFURXU3YlBRNEQ5WVd0aDdIWXpNSTJTU1l6ZEhSNHd6bTZsbDYzVUs1aHFQL3RvUFFaSS8vSzVITzI3c3FydUIyUFVlVXdWaEdBdldJQzJYUnZEdkdNcDhFQXhPRkxMNit1a2ZKTXJ3NkkrOEdxQjk4RTkrNDFHV3JVL2ZELzZzVWIxdlhkVUpyWDMyL2RNZjMrVUp0WTZMZHVmeXdpc1c5RUtqTTFXeW43dHhENWdHUzh1T0cvdEI2NmRqRUZhUkNndnI1ZGpOMGJVb2g4VVIxNnJsc3RzUTd6eHNjUFpvMHdZb1F6dkc0K1I5Y2g2ZHU4MUllUWRHVmZJK0pHVUZxdUpqaEMzMXB0SjYrS29WeWFLdHdqc3NucnIwUGRvMEtFTjNqVWJ2WGlkUStJK1poSmprUExxcDRTcW1BU0IyMmlWbnkzenZzRVN1OFJreU5jbnJqRDArbnY1bGNrdDZsMzVGVWJpVVBiNFRxbmtuZnVyd2xGdEF6RTd4RnJ1UERTUnVrMXR3WHVRNm5QQmdMZHE4NTAzVW4zNlJ4M2xqL0w0Z0xYOEs3aDhDVzB6TDU0SEpITzM3ZzFYQ2U1R3VjT3JJTEpNcEhHZDU5dm90ZmtCbmlZM3hicFpWOHRPbVIxZHl3djhCSWQ4N01EN3FhSVU2Nms3NGE4aTl6NU4zd0RMcjNaWmlHUUFVOXZzRDQ4M25uUzZ6a1N5VDN6UDZ2TnNIRmVra25IN01XUHEyN01STUc1bXM3WnFGbHN5NFRUYjJLZDFydnpYOVFDZXluSVFKVEtoanR2V05KV29UWUMxQkRmb3B4c1hBdnBmL1lMNzcwNEdhZ0M3d0wybmdZM0ZNWSs5OS8vbjNRTnIvWVA3MGdPYnhQbThoNTlzUTBqb2NzcmxFRTNUdUxhNWF3NUJ4MjVzanBZK3FMNmNwOHdheXdlQnZEMkQ5dUNxNmROdE9nRmgrQVZCRmRhOFl1NGlyVk5KTjlxN0J4Tk1uK1hFSWlVdVVRbEkzZW00bjdPK3pRdktvbzVZdHA5ZTcrSkxwN3NKcVdFZFVNV0xUZnhqZndKL0RROVVYS3F5NVBEMW53S0NMcmFEaXhYaWsyM1ppcEU2WnhGWkxEbE5tZHJLTmQrQ2Z5Mkc2V2JLNFJDbUVsVWU0RFhUOGNraXlHRkZ0MStKRWErK29EWnRVZVBqR1VLT2JWOE56OVNYQVZlUFZQNkI3Qm9IRVRnQndld2ZPcHZSQWxPS05zejV0V2tNMll6RE1yZGxFTVNXbEpmcENnQlhZSFEzVHpaSjkyclNTRldodlp1QVpNWWN5WVdRZ21EVmRpNVBKNWt0TktwVEgxQVJnUDBNMnZqbmU5TDl0N1poekZZRFhQRXdaOWhWTEJmNFFWdnp1MDI0SVpDbjZhZnUwNmVnY0tWTFlsc1dERkJsNUZucjQySUMreDYwVHpKSVBlVnhjaDNTSmtqNUxVOGg2TjVzSUFhVmRwNXdSNDd0MUJnRmRMamltMjAzcHVZa1pNMkhkWENCOW0yZ2ZOcHo2OGpobUlkaG5CaStzMjNuNlV2aTk0Mnc0K2NtcC9iQ1hQK2E0cXM0UFc5Wm85d1B2eGI2VFlFODB0QzVITUh3enhpcmRtaVdhZFpSdERpbld4WnJ1ZkduSjduNzRraXNvZExiZUd1UTBhVWlQZFhPQmpKc1doVjc1dkRXUTJBNnd6VUlOT3NGc3hUTUhTN2Z0cUNubUVnb3R6bCs5ZEFTSE81QVBKSkgrd2RQbGI3ampqL1VyTGxIU0o0Y2krRkpFSzFZM3JxTUY4djR1Tnc2cWYwcWQ2L2FMYnpGMUdqclZiRUxxa3FjNkl1dWVlVkJxeHhadHFvZnVkZ3lqRFM2M0h3MmpwdDVSRkpZalRSeGxKdHVBYVhjZ1FPYkFLWDZTUmlMVnhsWnZmWUR3YlRka2pidThTV0w2Z05rek55azR0Nmx6aS9iNFF0bUNJZU9PbXlMYkgxVmZkcktSRUxtQjJYdXJOdXQwOTJJTXN1SzJIVUVrZjljSW1MbWZoZXlTYlM4ZGM4SHBwWkZJY1ltU2xoVTYvZy9jMk12WjVzbVdvTVFFdmtrbEJyYnN1NElEUThhaFcxYTJ2N3pOUXZjZDdZYmVLaFpqVXRyV0tGWFo2dVRQM1FKbVV0aHhCSmtydGdBS09VeWpSU3pIZUtWQTcyZTlaY05lY0JZc0pIVEJKSlJEMjNPZGt4TWdzc1dueXVBNlMwaFZuVHh2c3hBNUg5Z0ZRYXZGZVBIRmJUdHE3dklKdFlBWnJtS2tJYmxNYndVUXVnUDAzTW0xQ09rU0pTMExUVEVKZVNTR3hHbnAySG9ibjZnd29uOWpBQm02WE1Gb2MxY0luVGhSSUl2NTdhUUJXbXdFSDRLekU4VkFPZG8wVEQxNDd4M0ZVVWc4REFIN1RqVDAzTW1YUytKbzAyTkd1UEgvWkp3dDlVV05RZUNsOTJmTXo4Wk1ZalJRQ0J3aXFpMzFlQ0kwbll2cVZjeGlkQXp1MHlneWp0NFVsU3ByUEdVcmgyRWZYalk2RXNDVFNvdm92K0prRHZ0MStIejAxUitDSlludHNJU1JjYWFvc1ZkdEZvTkRLb1ZPVlRESUltdDFWWFNpTUtwWG5iazVxRGx2UHlyM2NuUkhGVVVpUnJ4dG5IWmJQMFp5WFpJdTcvaEJtTTUwcWJUaDdlaU95NVoxd0EyZU53NjBoT0pFZ0dtYXY4QWc4RHM4anhpTllTb2VRNmg1eGhCSHo5UE5oU1NNRVVYMXFsMDNIWVdEajhiYXZJOXFZM0tNc0s5T09NcE1zTVdIZ0xhb1pueXFqVTVrV21yVHYzNzk3Vy82eFA4N2lFd2Jub0MrTll5R1IrRGh6ZDUzc2tJREpWZm9sS1ZDV1hlVUVTa0NnVm1oVjVrNWpwQXBlSkd5VUFORHRoa3lKUVlhRlpzZlRLUnFTdVZrZHRKWE1ETVJtd0JRNG52UTJyTEE3L0hSMkR1K1pTaVc5bmc3R2ZKN3NnS3piRTVxR0gyZ1BQQkV6OG9Ec09YUU5HQ21ZRnBwYmxxRUR4R3dUUXY4ZkhISnZGRGxCeXlIUitDaFZiYWRDSkN5UTVZazB6L3Q4VTR6VVpBeUE3TmllTjBDeWlkUzVPeWNiZUFrKytaN01RVGtwMFg0TUFISVdFZm5pMG5xaFNwelE1aEg0TVZvRElXZEpTV3JURSsxWGxjc2xmR0pBbnZ5OEVvSDltZ05NaEg5bElsSHdFbjJwZ0hJM1RjaVB5M0NWNkU5cWVGOVVRbTlmZEZsd2dBczNtdVFmb1pFV3g3ZkVwTDNKQWRnOU1OdjB2MUNRT3NPcHg1N3NaN25LTW94QnI3NE81bTZrQ1pmSWN0TmkvRHpjaXdhM2grVjBEOFNMZUVSZU5CYjJCeG5FdEx3aVVvRFlMZ2gzSi94S2tDdmVaUjJBS3BYSFFvaUxVbWxFNkV6Y0puQUYxTmowaGNQcmRKeGN1ZW1SZmlaT1JZTjc0OUs2QitLbHZBSVBPZ3RiR1R3akc4SnlYdVNBekJLY2FDSjJnQzk1bEdLSGRXcnpnVDFObmdQaEhkMkxsb0gwVHVtNWFQRjlha3RwNXIvTlMwbGJiNDlQdVBXSm9rWk1lYWpMck9EL3AwT3pRcDZ5eldYaERPK2JaeTQzdlIvclpBWE5PbCtJYXBYN1FwVzZGejZVSGhuNXFLZEl3Y3VQUmRpQzFmYnJtYUR6NXJUMC9UbEJObGtEZXlMU2VvZGlra1N5T1VaWk85dFV4clFKcmZwdjczcGc1cUY2TzNWR1I5QTkwNUdFanc3SUNEclZYU3hQdnY0d2FtbmRsQSttQ2FjbWdpOS9KeHBwU043U0Z0UjlzUVpDckFiK0RBVEFaNTVJZzVuZEIyQmQxb0d6QVpuVGlKM1NPdnU4RHdwSGJtYWhabytzd2EwSEZQL1U3S1hTelk2TmN6aHRJdFF5WjBoYlYyckFLVG1HamlWZTZFUDc2YW1CRkxPTWcvdDk5b1ZlSGpManh5aTdwQTJQRTFkaHBzeFY3TVE4TTFlVkpzOE1NODAwS3g4WnNsUGJiNDVHQzdFWE1ZeDIxM012NGVGL3ZLT3FHbkRQQldlaEs2bXFMRkY3a0htVFVmZ1FZUU9IRkxndWcwdWN6c2g1VUR5WE0xQ0xka3NCRVVkUTlPZEJvb3NQUURBOGd5d0tSbXcySklTckZUUzlqamVUMGxJbncxTU9HeStCSWtleTJBT2hUcTdvZ0k5R3gwS0xqbjcvMkFnMjNYSzc5cHRzNVpkb2FQdzZxdVVNQVpvU1FqWWV5TElma0lhQlNTbmtreGZ4SXdQLytvS3FLVFV0aktoTDNIT3o1Q0pLZEJ0OUo1SlR4MVdsbytjM0gxSDROdjd0aGQ2WkZlMFROdDFoUytEcEM2cm5RdTZUdkZndy9JTTVYRG5oTkFmVW5PWVBXTVgyUEFNc09sSVRwajFZK3pNRWl6M2RVNUhUWjNyV0t4c0dhK1pEdFNKNG9TQ2p1dElPSFNadGxsMWZHWm5BeVBScWUyZ3V4ZTJvWFBLdmxnUGNPU204Vkt1SEw1dEp1MnZaWkZweC9YTTdtOENmREdUYkFZdW1xNE5kdlhjb3AydDhqYVdET1R0clBEU2RWd2FxL0Z1eU5HVjJITzFxdlpMUTFyNWhydmlEYUsxWTJmcDM3Q0xjanNuSFpVWTRVOEF1bm5OVFJzaklIWk5MclFMQWV3cjJISjR5ZTR4Y09FWllOT1ZEMnBqaCtic3YyeGY5M3laNmtPNVB6MzJFaTczc3IzYXg4NWJzMHBPbTdRWHVzSmF1ZVZBc1VvK2F1K2o2SjFtcWNLeTlDSFYvNUtGRU0zNzBULzllbzhLREhuVFYvL0VwZlVoNTZPczVPbmZ6MG84WTM0VDJOclBTQU95dzVvZjdXUFhwOXQ3dEZGR25yY2xPM21Id3VQdWtMdlNzdTkxU1U5Mnhlbi94eStCUVJyMG5hYWpUZE1wanEzOUROOEJxdnVSc1pGQll3ZmU5bWlMdTQ5Tk5qMi85Z1g2akpZN2Y3WU5lazdZYmhiSzJmTlNKbmF5a3pFZUlnOEd4aFBXTTNDYTc3eXprWU9aUU1WVGkvd3J3MWo2ckhWK3BJcE5FTllsYnpYVy9oaXVTbXVZWkhmRk9uV3pMbG53bGRQR1owRFBhc090RGFOc2hvbXI5aTFjejluWGNQMWtBdDZVU1lmMjdXV1VHSnY4d0d0QXYxa1BsM3lkZDVSWnlncWsxdE5jYkFzTk9QeGcyanIxSStSY21qcmxXcEVWazB4QlRYbVErYlZiNndHVGRyM2ZRcWFXR0hWL2xKQ2JkamhjUHdUQ2xTdno4MHJNN2c1emdZcmVvdm5HRHNYcGcrYVAyLy9VbmZPejlBM3ovSmYvY3c1RWwzN0grb25uYlRvLzJIdDZXeEQ4NkpldG43RHZWbHQ5K1B6akloaGRlZ1RzOVExOU5NWWdBbEVJVUFOOE5xMHhxZ1NNbjNNRXdLYWZuKzFyenJIQzZpa1JvRE5QbUlUamd3aWtSYUFOSXBSdDdwcTJaTXczSndoUW8vbWRPYWtMVm1NbUNJeEJoQTVuVWpJV09pY0ltQ0JDWjNOU0Y2ekdUQkFBQ1VJajdFeVFuNWRDNllsSVo0bDlYbXFFOVNnWkFicm5DaTJMSllNK1g4WEJQajIwTE01WGs1WmRHN3Era2NPZXhiTFp4dktxZ3dCZDMyRDdyYXJERlhKU0l3UzJRSVQyYThRdnNsbzVCSm9nUXJjcnh4VXlWQ01FK2lCQ1J6WGlGMW10SEFKREVDRnB6MTdsK0VPR0tvOUFEMFNvOGt3aWcxVkd3TXJ2cEZ5VnE0bThGWVlBSEpleUQxMFVWZ0FTbm5jRTZFSC83T2ZHNXgwbHJGOElBdlJxQ054d0ZnSVFSa1VoUU8rS09JeEtoUEdJZ0I0QnVBd0lONXpwNGNHWWFBVG8rc1pCZERKTWdRam9FRGdHRWVyb0lqRWNFWWhHb0lzYnpxSkJ3aFJoQ0V4d3cxa1lQQmdYalVBUE41eEZnNFFwd2hBQVZTaUhTL0xDU3NDNCtVYUFudDg0bk84cVl1MktSWURlVDNWV2JCRklmYjRSb1BkVDdjNTNGYkYyeFNKQXY3OVJiQWxJZmM0UkFPUDB2VG12SWxhdldBU2EzbThuTlA3ZGpmTTM0TUJXTE9aelJyM3YyUzNVR0pKM2Y1bE1UK2Vza2xpZEloRVllbllMUFVKK3dUQld6UE5Ca1VVaTdmbEN3SlF2dmw5MnZrNndpZmZtelZjakYxc2JJbDk4Zit4K29YV2M1VE5OeGZLTDFLdUdBUDE0d2pabnFqZnQyTzQ5TkZoelROQVJnUURkT2MyVHVPTVkvVTRhYnNqbmdDbHRNd0FBR1d0SlJFRlVxS0FqSEFIWU9jMCt4RVcvOCtuZThMR0V0cUp3MkRCV0lBQTdwOFd0NVcxK2xBTVhQUVJFNkFwSFlFL2U2akhrS2xEUDFhdkRNMk1zSW1EQVo5dTQyTUFuMmZrbE1XUHZCMEFSS1VSQWl3QnNlejFsa2JCMTZNeDFENWxXeE9Md0h4SFFJR0FTOTh2SUVBOVh2NTY2eVVaNCs2SUdNQXoySVFCM01vajdndUhxMXlNdVF1SkRrNzRzNkVVRVpBU2c0N25QL1REQlp5TFVkejZUektQUWdRaG9FSUE5aStJelVyRDc3TUJOMTBmRGtBWXhEUFloQUJjR1grTkJZQ01TSWlUR054NlBEa1FnaUVCVGpGMkdJWWxRVjFLUmdya3dCQkhnQ0F6bDgvVFFKZTI2TVYweTVXblFnUWlFSUdESmFqTnNvMFlSQ2dFTG94UUl3Q1Y1MHBJOGlwQUNJZ3dLUndBbVpFS2JObUFnWStvMERtVGh3R0hzMGhlLzF3WkJFaHJ3U3o1VXAxRkl3aEhvdWwvZDZIck1QOUtNRE8xQzRRQmlMSEYxb0o2c0NzR09NejZRb1FpaGtJUWlRRGRNdndJcFFKcytsQkxDdCsyT1hDOHVjRWk0b0RPSUFQMGFLMTBhZzI1blc0cjFMTE5TRWNNSEVkQWdRSHNodXQyMTZ4d2JZNm5nbnBnejF6M0J6UjRNRmZ4WEltRFprL21HNVJuSERKQ3NFemM1YmpsVDRvYUJISUVSdWRzeGpBdmtISDZseHlJN3JxK0ZuOXFVY0VGbkVJSExVNm9EdGNnejNpaXhZOXJpL1pFM0Jmb1FBUWVCUnUvK3dIZ051ZGZ4QXRMRlEwQmVRTkNuUndBbVh6Zkk5TWlYNENJekV5M2pYZzhmTk9nTklQREU2OG5UQi83UVZiWUxkaE1uWkg1czBCOFBBZFA5R3NleHZQb2FMeXVtUWdRb0FrMTNTdGJ6bUJ3UkcwUWdOZ0lyemc0MEhNZGlJNFlKL1FqOFUvSVBEV1BWbk83Nkk5Q1BDTVJEb0RHRzZ6b3Q4b1Y0cVRFVkloQkVvUEhaRzlPbm53K0dZd2dpZ0FnZ0FvZ0FJb0FJSUFLSUFDS0FDQ0FDaUFBaWdBZ2dBb2dBSW9BSUlBS0lBQ0tBQ0NBQ2lBQWlnQWdnQW9nQUlvQUlJQUtJQUNLQUNDQUNpQUFpZ0FnZ0FvZ0FJb0FJSUFLSUFDS0FDQ0FDaUFBaWdBZ2dBb2dBSW9BSUlBSWhDS3hhMTBKaTg0MHlmekpmZWtpdEVnaE0rRFdNeGJQVDRsOFpMcjRzTEtFc0JLNTR2clJRY0ttWHZYY1pGMXdha2k4SGdZbjNldUZpQzIyWWVGbG9zUWpQZ1BwNjRHYlBRcG00eWk3c0s3UVVKRjRtQWtQeXRqS0xXN1BJN1RMTHc3SUtSMkNkVEFlRkZ5SVgwTVJ1U0laakR0d2o2V1AycFZRSFBsRjBWa3BCV0VnNUNNQ0hnd0wzQ3hkY2N0Zit6RXpCaFNENTBoQm9rKzhVV2RaRHZzODQwTExnYXZXeXBiYklLaTQ2N1RYM0s1d0Y0YkNzdkNhOVJWNHVxRHdrV3o0Q1Z3djlta0pqcUJRaEtMUlRmbFd4eEdJUWFCV3BURGMrUTVRaUJOOUcyeW1tT2tpMWRBU2t6MjNtWC9aSFd2Q0J4cjlRMGUzaktvY0tsbHFHdFowYjhRdmcvYjBmTTBHQU5DSUUzeHJlTGFCTUpGaytBdkQxeldzRmxUb0U4Zm5ISDlhSUVDang3eXFvWENSYkxnTHdGZW1pZW9QZnZ2NUwvNForcFZvNWtCbDljcmZjbW1KcEJTRXdLbXdjY3hqV2loQ01aRWNGMVFuSmxvbEE0ZU9KVm9SZ0JFWFRVSmxOWFZSWjBNTEY5Z1ZhRVlLUjdGNVJ0VUs2SlNJd0tyb2Q5U0owc1dqcExSSEdCUzRLeHJHQ1J4TzlDTUZ5L2JjWEdQcDVxVG8wOEZteGRkR0xrTkVxV0pNdnRtSkkzVUdnUzZZRlF4RWlRc2ZGMlJNS3JoU1NGd2hZaGUvYkNSR2hkVktZVlZQVUVGM0ZJZ0RyWS92RmxxQTNMUm9HVE90ZktyaDBKRjgwQW52RlQ0cENlaUZqVlBnd1dqU0FTSDljZkJ1R2lkQ2x3cFY1Yk9LQ0VZQk5PNFdQSkdFaXRJSFQrb0pidUhEeXNFeTFYM1FoWVNKa1dEaXRMeHIvZ3VrM1NmRVhKSVNLMElTUVFjRjFSUEtGSXRBcVhoVUttNUVaQnFqeko0WFdFSWtYaXdDb1FvV2Uvckc1RCsyRndES0VheHpGTm5LeDFEY0p1Vk5zQ1VBOVZJUmdpZTUrNFJ4Z0FjVWhBQXNNeFE4am9TSUV5MlNrVTF3RmtYTFJDTURlNXUyaXl3anZoWXgyQ1FwOTRWVmM0QUpJb1djUVhXRERleUhZTTdTL3dDMVE5NnF2bHFGTlIvUkNZRnhVYjg2dk83aUx3VC8wQUNWTWg4SjdvUVlwZXRma1lyVGxqR29KZXNoTzhVV0hpeERWcDR2WHg0cXY1WUtXQUsyM1czelZJMFNvWDhhc3NQaGFMbVlKTUlZVXZXT1JBaHNoUWx1b1Q5ZFgvRUNiZnFVRTdpTkVDTXlicUUvbjFneHI1ZDZaQ1czNzU3bnhyaWNVSVVKd2pBUFBSZXZSU3hpelh1N2RjY2ZsRENFUklnVDdQZEErblZCUTlNbjNaQ3hYdm5qKzEvUko4NGlabEtQSVJva1FtTWlQOHFnTzBnQUUrZzhFRE12bStjTUZYKzl0bG5OalpwUUlkVW1aMzI0UUNOZmQ5ZmkzRkRVd0pkVmtNajB3SnZHVUJDVXRCWGxmRUN5U0UxOVFJZDRvRVlJcFdRa0d6a0txTmt1aXk2WmluODZTZEtocWszN1E0SEtzSGw1SkswYmxZR2tobm9qR29CV1dKRXFFSUw3dy9kdGgvTlV6YnFWRkZDSzBLVW5NK0x4akdDdHhWaURWdEdMZ1VsYlRSWWxRV2FJY0E1SzZKR244K29kZ0VxSVFvVDB4cm16YTArMUc1T3VwcFJVRGpMM0NMMlJ3bUlnU0lkZzZLU29lZzI5TVlveGhpOFZZSlVJanNYK3Y3K3lLdDZMdTM5SFNpb0Z6djZUVHlGRWlSR2YxQnpINHhTUWNnUy9kL05wMlV5VkNRcHRlYy9meDlLSmVUeTB0WHByZTBTcnBHR0NrQ01GN2NLSm5FMlBVQ0toRWFGbk1iUzhTWjhMV2lyT0lyYUtsTHRVYlNrcFpaSTFjSXdOYlJrbmRvYmY2ZGZlcG1sM1NwdGxYTGx0eGVuZ1ZyUmo0VUJXa0V5TmQ1aVNSdlJBb1pUaXJUd3l6cXRtRk5nMUw2STV5MEl0elVGQkZLd1pETUJFNmo1RXNlNUpJRVlLZGI3alFtaGhuVmJNTGJYcWROYTRWNXdZeUZhMFlERUhMU3Nid0dCblNKb2tVSVZpckZ4T0p0S1VzWEQ1VnMxdjh6c05qcG16SCtzaVRpbFlNUUxmS3N1aUJDSVdiRGt2ckQyT2dVcDhraW1hWHRPbXhlNE1tREdneHBpb0tXbkdBYUplejFjTXdZSnhTR01Fa0ZrdlR5cVF5Nis5VU5Qc0ZyanFENUJ6YVZRUnN6NkxycXFBVm5ja3dKbVdjWktXTVFIY1hNVTZCWW8rR29UaHRKcWRSTlBzZTM0UUtIZnVSblJnY3AzSXV0VnRCUzUzUUc5cGlndW9OenQyM0JBV1I1MFBKbXJGNjIxQVNpeGVwYVBZSjM0UUtQZi9BaGdUMHpCaHZwNEpXSEVDdFdGMWNIRXI2TkQvMnA1OThMWlFEejVOZi84U2ZhTk9OMFRDa3hVWWJvV2gyb1UwMzJhNTRrS1ZkTFFrZW9hREY0L1FPdXRVamhuenFDY1NKMmFQU3d4Nzl0b0ErR29aa05Cc211WFg5N2M4OTkreU5XMXdGMkNEVG05Y2hSQXhMd1daZkVVZTZoaXdqdEVCSHBxMTJlMmk5NnJXcVI1RVJ2aXRlL09WUWU5T2JBSVg5WEwrbEY2RW1jYTN4Q2o0WE1BaDJrL09IZ1FiVFd1YzVZWUI0bXQwT0ZOcTBZVEpMVzV0MVJ5eWI4dDlEcTgySzh2eDNnaG5odHVDb0JiaGdwb0pDdGtqRW5LMmdjcXRLOW5PZi9PdDI4OTE3MDZkKzFlVngrVXQyeVBuWE9veHBUN1BiZ2NkY200WUpHWC9pR1A4OHRGNXozZEU5eVBRNmZWelBOaXRYL0lOWWh4cW5WZCtXRjduemRjR0FIVEZueTdlOEdsQ0RTekRKZHpveW8wTUkrUjRweE5Qc2RrS2hUZE1oaGozaE5qbW5CRCt0djllRDNDemoybnROOENtVUhuanp3K1JUL1cxNXVVbzV1Z0d2cUYwdE9aWldDMUl3ay9MdG5POFQ4aFdaZFgrekc0YkZWeHBoaVBuNG8vVDVrWGpHdndBdGtBN1hzRVNMWERHVnBvRzkwSE9JbW0vTHkxWEkwVjJsUVRYSGFtVWhCUjJ6YnlyVkl0L25JUmhvZGttYmhpSEc2VFdnTzlyMzVGSjdBclJvOGJkRldyak84RVQ0bUtzZHRyYXArN1k4eTV6elB4eXJqVE52eUxuVVNwT0ROOXlycW03d2djWGxPOURzbDRYTVFTY3lzSk5CWjNibXBnLzdVOUR5aUpBeEZKTTlRYWNmMHNYcHZ5MHY4dWZwb2xPUTNUd0oxcDlXMTM4MlluSzM0NjFWb05tRk5nMExBcTVtRFY4WEdOalozZ01RKzU2bkJMMEFMYXFLU2IwUUxGSmRFNm1aYTZoYjN3ajl0anpMbmU4L3RWR2Q1a3V5N3RTZ2VUd0xpOUptTXJkcWdXWWZpZ3g3N0d4T2t5bVpZNERZOTRqa1JvQ1dYNFNXVmRlNjluU2o1QkJLMG41YnZxQ1dnU0pQQ2lKZFU3S20xMVMyWmtwOWhsT2xRTE1MYlJwRTRoVW4wWVFOZjYreUoraWVueThJYUFLMC9DSms5TGlxTG5KWnNzb3RnZzBqL052eWNzcjgzQURZWVg3VTVvQVNOZXpja2VyUkRjNmUvYzIrS28wOGJXWlpOR05wMDlHOWtER1NUc2t5dm9CSGViQmp3ZTQvcVBSbGJpUnM2YnBFSDFzTDQ0V1psUHhTWFpGT0dESU0vQ0lrYWRORzE3MnlCVFNFVTVZKzdOOVB5d2owUXNkQmNhRHF4NW1lYXNraU5NUkZNbTlid0N4YWFwNUc3eDNlYU9yek4zdFRzaFMzeWN0MmhuV21WZ2V6ZTBMOHRJSWlkRW5Tbk55c2RKdlhxWWVNeDFPeUNJMUNwb2NldmhiRjR6VUxQWEszRTZ5NHY5a2xiUnJFeTFGZHRwZ3FGTXp1Q2ZIVENvclFabkQ1Z1BhVUJ4NHlIay9KSXRRdGQ5ejBWTFdTbmoxb0hzN1lodFFoOGNCQUx5U2ZndGx6RmFtUmFpNHVTSEJYdEFodHNQVmVuc2VBM1d4aFo5UktGcUcyV0pFUkxDNnlDd0M1eCtzL2ZpZDNTZzVmczh2YU5OaUZiRjBjbFBKdEtZZmU2YU5sQkh1aFpXbVlkT25RTllXQm5tYkpJblFjdXRxaVozTnVZeVlTSUMrY0t4dksxK3dYWldtNTdIUko2eVNvd1NnaDg5RlNpTkNhNkJRWkJicU14OXlLLzVKRkNQcnQ0RmlyWUd0aGduckNMTFNpbVRuN21sM1dwbUdNc2RYcHBqeXJDOFBPUjBzaFFrWndCUXBraE84dVVSQXZXWVMyL09aOEJVdUxGQ1NiaFlaczA0VVBnTGEzaS9Fa1czUFVhSlBlTUJUbjhkRlNpWkFWR0JKQjVRK09icUswOGtWSURQMkNpNFYxMFVYRFE2ZjJqMDhEYmVkRWpEeWJkUnF5Tm0wWUxkcXAyOWVjT1lramZyMjBJSEhBTHFRZ0FPOTlXS09WTEVJZzBHRjlvb0wvK1E2aW11cVpYY1ZsNjNXS3FqWWUvYlVmZ2lSLytGMlBkdHpZVmU4SzBURWRkNGF4T3FFZ0xTQVpSNFJBK3doTzAxeDI0SzlrRVlMaXdqUXp3ZGVDdUNnZXUzWmRSKzVpbDdmaWJZaDNIcVl2ZTdScEE1U2hIZU54OGo1dkxyV3Z6VWpKQTJNY0VUb08zN1JZc2doUmpqdnFHaTVrS0l3UnppdjFGdlVhVjV2Y2d2TWMxK0dFQnhPaHBtOU02VSsveU9QQ0lRelNndlJ4UkFoa0wyd09WTElJMGZuaElMeW1DeFVMcldPTHhKSVo5MmpMMktkMHIvM1c5QU9kOUpqRkVhR3VaSGhRbEZTeUNORWxJYWZqVnZDeWdFRVR0M1g2NGVxR1FLYmhXZGNYNFdsZGNVUUltR045b0txWWtrV0kyc29QVkh3c2FGalBNUXZSTnl0ZTc3emgxYVl6d3haVGhIeGRuNmRZRkNFUEhKazhqVmYvZ080WmFBaUQ1Tnd4akxVZWlGSTgyZkJwMHhxeThZUGppTkFvZkdHelpCR2krKytQNGxld1hpbXZRdVUwajJZZ2NNMUNqOXluM1JESVV2VFQ5bW5UMFRuQ1U4UVVJZFVuSEJoaEZDR0dSUGIvdGtaK0lGaGpWM0hNUXJEUGpPN3Ewb2labDY5eGNFZVlOMEZDWHh3UkFvV3RZaUowbXJDV3RVbSthV2xsNkszcVNzQUxUSFliTGRobjFncGZSR0RaRzJTZk9mUDVqeWxDaXQyd3ZQeVNleUc2ZSttVUY3N3dqaTJBdzNqb2JzY3cybFNZb3ZGUTd5aUt6cWRORVVlRWh1SDdCR2NnUW1mYStpeGNCQWpPdlZWN2hZUHVYdHlKcnYrbGVQTzJhRUlzUmYxRWlPcVBaNHg5L0FjdDQ3NmozZEI1aHIxdkl4eVV0a2FwQ3M4VkVodEhoTWFWNm9Xb0NKMkUxR2pCb25vQXgvbkFyalM0d2xZUlhHQmFPV3ZUc1JZNFFJVENwTHZrZ1F4RnlQT1NnTnl3ZldaRGNIWThrUXBQN3RwMExCRUNWVCtWQ1AyNjJrcjIvY0ZxVXAwdzhOeFJBQUJCOUR6SmJYWFVBb2JTRjRwTjVZL0JmUnFGZ2FNM1JhVktFaDluSUVzcFFsUzlVejVCQ3dHS1VKSTJrOU9LM1VMT2t2bStIS2x5TDBkM1ZLcHNJV0Z4UktpWHJoZFN5Z1dWS2ZiV0NMYVVTVU42b1IyUmRjRmR0bG5JeFlEMlNOR0t6cU41SXhaSGhGcnBST2lLU2VVbCtFeC9NVkNKcENLRUF4bURrQ0xIM0lhcHRXSHpKQVU0Q2hTaEFyaWxKRkVYa29GdHk1dVMreUJQQXptMkZIY2NFUnBYYWxKUFJlaWtGR3pxVU1oRTNzdEZ1NlR5b2FtZkNPR2tYaGJ0bnJ4K1NSZnJGWGY3eU9rTGNNY1JvV0dsZWlFcVFtY0ZJRkVOa2tuM0N3RVlZdG9SZTdFKzE3ckdGS0hnUEZ4d01RUFQ0cGtvZmI1Y1NmY0wwVkg5VUVEUW1zVUJxVGdpQk9OdGhVUm9ybGZxMnlBU21rZTV0RVYzQVo4SkVXcUQ5MEI0eTNIRkZLRXdjMFBKdlJBVm9hTnl3Q20vbEtUN2hXano3UW8ycVRYM1VIakxjZFZQaE9aNjQydlNScWR6TUNrUHhTWnNhNWVVTkQ5bkhCRWFoUnM5Uys2RktFeWxkOWI1QVo0dnBhWnNGZ0xTZ0UyTXhmcDhlWWdwUW5pQ0kxL1k4NklHYjdmbkZQUVFaS2lURi9HWWRPS0lVRC84WHJHU2V5RzZzQ2dOL3pIck9hZkpXcjZaempHQWMxcHlYZU9JVU5jbjZqNFdTeFloYWo5REVYTGJBTER3MkJLaExmTGVYZTlyN2FBM2pnZzF3d2RZWUR0c25BdVdtUzBFejlRTC9LaVo5WnJ3MGxzNnltME1XallWMngyWkNZVWJlc2NIaW1BV0JEUEo0UFlORnBuL1B4WDZUdjVrYTBtUnZrNjNaYzdwS0Q4dEdSMzQvSXRYam1XR1hQZFcrQjRDaUM1ekZrQ0ZYc0hrSWdZMVJ2N1c2MElBZWFwVUxCcERLUExCZG5pWklDTWhGK1hGK0xaOE9QbUVzZERwaFhDVGtGaU5rMy8wVDcvZW93SkQzdlJWOWtuMkR6a2ZaU1ZQLzM1Wjlmck5UM3plWVdMNjJxOSs2cHY2VXFIUk5GZlR4Znkydko1MGloam9OKytseURaM1daeW1zNFhJdlFPWVdzemNwNno1UnBzVlNQOURWc0gwUThlZVRFRzVpSk4veTIyRmEyYjVGMWhSaWtQNzlyTG5ucjEraTcxU0syUkt2MWwvL1paMTNpbUo2ZmIwcHZ0aCtHZHZXQ0VpcEw5M091YTM1WlBWNStmTWQ1K0Y1QUN4OVZqVFFwSmlWRlVRb0phWVRtbk0vQW81SjlNRGZYSE5jaWVBZWtZd0pqNENFZC9naUU4b1Rzb1h5RThaSzJHR3BtNzRpbDJjTWpCTjJRaFFOYTBzL1d5RjNPM1FTeXIwNWZWbnNCaGROdUp6Vng2MWdSNlZWS3VSYmVpOEhHS2xuNFFmU1NxSlR5d21FUUlSWDBWTVJDc2k4WVpqVzEwTkdjbkc4bTdoQ0hJWVhSVUVvQmZhS1llWHZyTmpha2xuaUFJdVdpaEM1YlJGcnFYMG9oZEI4aWtQaHN4VG0xTEk5OVhNR2V6dHpLZDJpMHlsdExIaktsdTdzUFJINnFCTHZMM0lqVkhQdW85OHUxSUtxMFdMR2NsTjdkb3ZWY3hPQzJNQUNSZUVRTHVrZVRRY3puQTdtSjUwd001YktYcUE0OEFiaEw3cUkzQmNralh2S3I5Vm9LYzlpRUR0bklQcVE0WWNlaEhZS21sWmFzenY1KzVwWi9YNkJUc3Z6K2lyRkFLdzJ5TnMyMkpldk1JWXhRNUJtZHFOa0xCdEFMY0w1WVY0ZVhUZ3pTOWppdzdzQk5weEsyVnFWK09oUnl4emoyUjVJTTkzU1ZUL0tLR0dmYkVVcDVlVHZmTDNsNWRROWJrdmdpNlNiUmRmUzR2YnBPSEQyYnFSc3kxR3UrSTV3aEx5UW9CK0N2MG9MMkphT3JBaGdPMGxnenRQZEhzZ1I3aStvVVd3eWhGbUdSZXdnZExPcnJjR3hWclhDNDF4ZmFQS2txTGxiVmhHdTNWRklYQWNTcWN6VzJWSXN4WUlqRWlMQUxUdW5iUjVZK2N6eGNvRkhEZGtZNW92ZXpsanFxOVE5R1pIQUtaQnpHS1RuWmlHQXIzemplbnNXOXI5MFhSOW82T2hnTUVWUmdEVWxNS1B6Y1BneFUrckhXdFhWQ0FWV2hZckxDbGExdUFNaDA0MzBlWkpHZ0dHUmE1Qzk3VzlIaGluQytja0tlZVlQZ1lDTUh3VS91NDNwWjVucU4xZEFrTmMyTDJQTWVxQ1NXYUNBRlZpT3dXWExJdE5UN3RORWdUTmM2Rk93VXdoK2R3UU1JdTNMVnBpVGsrdkRMeXQ1cjJ2RlM1MWVneXRDZ0pEYlp2bXhTRmRSRGx6aWRISm1jWWFQaGFwOGlvWjZaU0NRTGZ3KzlmbzVVcS8vSFhuK1RLNDJmemVWejJJMmZVRm9iY1dDSUFXVzdCaGlGNGZJajlxV0tDdjRqTi9kUW9NclNnQ1lDNHUrREk4RUZMNTBleFBBdXNDbi9sWEZDcGtTNDBBcktKckdsV2RQbmxvVXhMU3RuWjlBMnljT0tkUERtNFZjdEJaZmJGODlLV2hjaUxXN0gyRkh1T2Mzb2RJZmJ5OW90WFlzYlNTYTJwbjdpT3hON1krMkNHbk5nTFFTWndVQ2dXSXphRmJBTzN5VHRXRmdTUWZxR013dE9vSTdCVTlxd2V4T1hOQm9QY1pEWlNBRkQrZUtvdkZ3RHdRZ0VNY2hlcXg5Snd6TS9qb0Q0eUU3R2JNbzVKSW8wZ0VpbTQ4YXB6dXVCV0FOWHZOMWhLd0xZUmNLMXBrL1pGMmRnUXMwY1RaaVFVcGdJaHltMkZUTyswcWZEZ05Nb1lodVNFdzFDNWI1VklFNkQvOHpBWVVwVkhkUjBKaHlxVlVKRkltQXNkaXhsUkVzWERha2UrVzFuZDRackZkWVJFVlE1b2NBVkJEMkJFZEhwYWpBMVpabWY0RGFwRm1ZeUtzNE9QeVJvNmdsMHdLbEpVaVY4bEFoSmlpREJNeWpiRENDaGxMVkhMdHNiZzhFTEFLM2ZzS0F4bVRHOUNaYjZzWjN0SmFyZFhwTWJSYUNJeUU0YVlBeGtDRTdyaGtKenJEb3RFdlZxVXZvRnBJVWtZQU9vY2QyWit2RzhaSkprS1dUaFV5ZW1MaW4yL3BTSzBVQkVCYktYRFhHV2pLcmdoQmY3U3ZyaEJZc0l0VXg5U0ZZbWgrQ01ENlZJSFRJYUR1aWhEWXBuZlZYSU9ldmErT3dkQjZJQUFXdjA1eG5GcE1oRWJhY2V3WURZdkY0VjhLWlZDR1Rvb3JxT1dlRDRQdTZGMmFVc2FGeXJDbVVBek9FUUd3eWhSNENuRGtUdXBodE5LTVk2QUtjUU4yanRWQ1V1VWhBUDFEZ2Ryc3NhdXNON1dGRkN2QzVlRzR5Q1dOaXB4VFgzWVdPQnFXenE1b3dFQjZ1c2p3ejBQZFlhNTBWbGc5NEhPSWxQWUZzV0R2TDJwWXFIbmNYeHI2aTBBQU5tUVVxQXoxN0NNaVEyMG5CT01vTHBBVjBheWwwalNMdEF3MTZUQzFydGVZUVJYYUtiVzJXRmdCQ0RTMVI5MXpLR3dabEtGbFUvOTVjYkFLRFhJb0Jrbk1GQUhvQ0E2TFkrRE41Q1loSDlmU2IybE5qdG9zR0ZFNUJHQzZWT1F4amcrYVR6NnZyVE9zdzE3VFJtSkViUkRvem01U2RGVnJjcXdOZXNnb0lBQzdYMDluQk1RUXg3RVpJWjl2c1RDU3NiMkYrUktPcEFhYlFYQWNpMFNwRGdtNnBPQTdZblFnd0swd21xVXpYUTRNcnlZQ01DYzduUWxuSTczQmFDYjhZS0dwRVRCbk01TEJPSGFZbW1mTVdDa0Vtck9aazEwazAwNmxjRUJtVWlNQTYyUm5xVE9uenpqRzliSDA0RlV0NTNBV2pRbUNlMW8xSUpDZnRBakE1YjZEdEhsVDUydnF0NENrcG9rWlo0VUFtSWJLTjlDWXFFelBxcjJMS0xkWjVJNFBOY01YeUhsSEhZT2hkVVFBTHQ0NExabnZJWG1tNUJLeHVFSVI2QmE2WEs5Z0hjNjNiaXVDTWFpMkNNRDBxTnkxaHU0c0pvRzFiWjVhTUQ0cThuQjlFQUVZT1ErQ29SaFNad1JXeVhSUUl2OU43SVJLUkx1a292cGxxcmV3UEZidXVGa1NpSXRkekVxWjNkQkQyQW5ObzdTMVN6UXZXbE9janMyaERDMTkvcVMwV24zc0s2VVZGYXVnL3dsYXRkWHg3dk1kVXdBQUFBQkpSVTVFcmtKZ2dnPT0iCn0K"/>
    </extobj>
    <extobj name="334E55B0-647D-440b-865C-3EC943EB4CBC-93">
      <extobjdata type="334E55B0-647D-440b-865C-3EC943EB4CBC" data="ewoJIkltZ1NldHRpbmdKc29uIiA6ICJ7XCJkcGlcIjpcIjYwMFwiLFwiZm9ybWF0XCI6XCJQTkdcIixcInRyYW5zcGFyZW50XCI6dHJ1ZSxcImF1dG9cIjpmYWxzZX0iLAoJIkxhdGV4IiA6ICJYRnNnWEdKbFoybHVlMkZzYVdkdVpXUjlDa1VvYzE5QlhHMXBaRnh0WVhSb2NtMTdZMmh2YjNObFhDQkJmU2tLSmoxY1puSmhZM3RGVzNOZlFWeHRZWFJvWW1aN01YMG9YRzFoZEdoeWJYdGphRzl2YzJWY0lFRjlLVjE5Q250Y2NHbGZlMEpCZlgxY1hBb21QVnhtY21GamUxeHdhVjk3UWtGOVhuc3hMVEV2WEhSb1pYUmhmUXBjUjJGdGJXRmNiR1ZtZENneExWeG1jbUZqZXpGOWUxeDBhR1YwWVgxY2NtbG5hSFFwZlFwN1hIQnBYM3RDUVgxOVhGd0tKajFjY0dsZmUwSkJmVjU3TFRFdlhIUm9aWFJoZlFwY1IyRnRiV0ZjYkdWbWRDZ3hMVnhtY21GamV6RjllMXgwYUdWMFlYMWNjbWxuYUhRcENseGxibVI3WVd4cFoyNWxaSDBnWEYwPSIsCgkiTGF0ZXhJbWdCYXNlNjQiIDogImlWQk9SdzBLR2dvQUFBQU5TVWhFVWdBQUJXUUFBQUtQQkFNQUFBQVloOTVOQUFBQU1GQk1WRVgvLy84QUFBQUFBQUFBQUFBQUFBQUFBQUFBQUFBQUFBQUFBQUFBQUFBQUFBQUFBQUFBQUFBQUFBQUFBQUFBQUFBdjNhQjdBQUFBRDNSU1RsTUFpYXU3UkNMTjNlOVVtV1l5RUhaMmJVZm9BQUFBQ1hCSVdYTUFBQTdFQUFBT3hBR1ZLdzRiQUFBZ0FFbEVRVlI0QWUyOWU1QnJTWGtuZU9xaGVxdXFQR3U4WHRZYnFxRER2SFlZRllad2UyQWNFbXRZV0h0MlZWNTNlQnFidGdvVzdpWHcyTG9CVE44bVloZ1Z0dUZlTTI2clpoMngzdWl3UndYWVk3aUcwUTBtZG9Md2prT0t3UlB1aFZpcnNMbmRqZUdpR25hRFlTT1kwTzF1K3BhNDNVM3VsK2ZrTy9OSVI2cnprS3ErODRkT3Z2UEwzL2twODhzdjgrVHhQTHltRDRIOG0rbFZuajdCTXBNSUFja00rbWdWYnhCNlBSY3Q4VmlwVmo4NFZ2THNFajk0VTYwN2x4Z2dhaTNvbmh5QjVDamIrdWprVXFXYWMvbFp0VHFrcklyR05Mb1RvK3c4NlV4amUvTTM5a3l4OHZWZlU0S1FzZ29ZVStuY0lDOG1JMWZwZThtVWU4WlM1OG11VmNLRHA4ZDZXQzRSVFVtdkEzMlRJcEFVWlplSXBpRks4ZDd4UC96SFQxNyt1UFNuN09vNTJMaEJQcXhMZ1pUVjhVamROM2ZmNjF6WGppOUlVcFF0UHUxdTU2by91N25uamt3aHRFMGNnalh2NmpValpYVThVdmRWZkpaWVA4SEFuUkJsNXh6anI5L3dyQ2xiSTZmMkE1Z2pPMW9nVWxhREkzM1BMMXh1Qkh5OWR0Vy9IZ2w4aVZLMlFnejFrRGM3OTlKL0JkVm4xc3Ztb2ZJT2wwWGU2eitRYm5BaFpUVTRNdkVzVXBhV1JkVnYvelI0QTF2czJYdlp6WVk5b2NrM25oZVZXWTYveVpDeW05RHdiVXNpcjZyekdDbHJRNVI2U0lub090d1hDTG5qQzNGbXlpN1dpVzBiV0NMNzRVMEVNMUptdmV3U1VQYkFGbTJUWEZFRGtiSXFHaG01UVRWNFFhMDYxMkJQN3F5VVhZUS93L2ZWa24xM20reFpZVElnUThwV2diSWFFRXlxaGpZcFE4cktoNVdWaTZwd1FhL0tKYWl3ZnZDTWxQM1pPcFJzVVRZL3ZCdk5rTEo5RU5mVnhiYzF6UUFweTJtUzNaM08wM2UxNnBmWUpQa3NsUDNHdjZoQnVRN0t6ZzlmbjJnNFdhT0psNVNuRHVJT0hJVXZhNW9NVXRZQlVjcEJhL0NrVHJRNjU4aVI3NStZc3N2WG9jemdzbnJaTGl0Y3ExRjZzcU5zanRSQjVMSVVoYnRXdGFFQ0tjdHh5ZTYrREErcW8xVy95Q2c4TVdXM0FyclNYNHV5cFRBVFZ5QkNkcFNkSXhXUTkwaERJdkRVMWI0WEtldEFLT1dnSGp3b3Zjb05jdWdIbkkyeXA1K0NnaTNLYm93WStMT2o3UExwUE1oN29FUGgrL3JxS0lTVWRTQ1VjbENURUcySEhiV1dkM3daemtEWmErLzYvNDduWEpSZGNFN0taWk96bzJ6M2FXcWh0bzF5bnRkVGlZeVVsUThySzFlTEVIMTlCeWg3ZkRiS0JrMXhVcmFuV3ptdFJtZEgyY0p6WG9PUVp5eUpQRzllSFN1UXNnNkVVZzZxVzliSURhWW9UTnpMQmkxd1VyYnZXbUJTV3B3ZFpSdFhQUGozR2pxU0w5a2lVYmJHSUdXVnA1V04wemJMZXF0c2QwZ1NsSzBQWFVqd29LTnptVVpUZ0dZREZGWTYvd3JVZUwxQ29naU5sTld4eWNCbm0yVzlkZGFwSkVEWkRiWERjclUyTThxdUFTMVhnTEk3RHFsS3l0Q0FsSFVBbEc2UWFwWmR2K25YdmNrVXVnUW91Nlp2WjdDYm1obGxWK0IvU3JHNFk4dmt0UlVGSENuckFDamRJTlVzMjd2aTF6M0hwbU1KVUhiTE9TVlhXcHdaWlN2UWFQcXltMlZJQnVHcWlwa0RLYXM4cld5Y1BYaE12T2IranU5YS9LZEJRQUtVclRoN01WNC8zRE9qYkl0dXVBU1RnV0h3ODBWYlZtd3FTRm5sYVdYamJDcFBxUllvQmx5UUJDaGIwTmJyZVVYS1BUUEtOdlpCaWdMOGY0OFZhWmh6WGlFeVV0YkdKK1VRTU94d3MyeE9tUmhUS1N6S2Z2MisrdUNkbmFnQ3VveGNOV1VpRTVTVC8vejk1R04vS25nU1VIYnhYeld1dmRhbzZPc3ZyMy9NRFBNOE8zVHh2M2lFUFB4SG52ZTJJeUhvMTEvZWNHUVYwZFN4Nkw5QzJRWEs2bjliUDlHNkhJandyUVFOdGt3OE5XbVduVlBYMGtFWWs3SmZKT1MwVGs3TEVlVjBVZFl5SXEyV2dDWFEwWGRZb1Q1bDF4c0VOdGFjSHFvVi9Wc0lnSjFXLzQwYTVubDI2RmNhNUYyZnZKLzg4MVc1UGUxbkNMbldJS2NuZWxiZE4rLzNybFN4MzlVanFBOTAzQTRQeFY2V0k1SFZYVFhMOW95bEg0T3ljK1RaUC9TOFg2NXJPNTZIeU8yZ0xDeUpkclFjR3pWeTk3dTMzLzV0OHV4eEVFNHBtNnQ5cE9PdDFyV1ZxTGVTdTMvdTVmODdZOU9aSGJwSzd0RWF2dG1vQ3hYa0Z3aDVpWmYvQWptbEVXSFhscS9EVXBGZmRDUlIrbDZrckFPZlZJUG91anJ2VjByUDYxWHJsTTNYZ21lK3FXNFMwVFBvUGdkbElVaFAweUozeXpUa200UWRlVVFwKytBOXlsOTRyK1dJUnZuWFBDUGNYMnZFYzRRVzd1NnhESnl5TUtxL2hnYTFuTVlBUHpIOE5QMjJ3M3M4eEFEQlQxQ1g1bHFrTEljc3F6dmwxVWxRK1Mrd3R4U0ZLRHBsbHdnNzY2ZnQ2b2RFSnVsd1VIYkJlTzE2UVpqdW54Z0UzU3hRTnRjNHBJVkEvLzhDTHl4ZjQ1eHBLMVl5UitpNnNLQVdPV1g3SkJnV3dPanFsOHZMMU8vRm9GR2dKaW1Mc3lKSlVXNk1RY29LVkRKeTBIZjBPclR1YjN5ZXlPY1NDS05UdHNoSTVTM3g2VnFRS3ZUWFFka1ZaZXBOODlYNDRML3hTc1pKb093eTIwMVZsUHorUnp5ZEI0dDFOM21OanRBZUtiTlkvaTRCTUhVbkNLcVpmMG1XMHIreG9hWVBjQVQvSFRVU2V1ZzczSStVNVVoa2RkK0NaeVN1SFYwS2piS0wzTEF3MTNDWkx2V2N2czlCMlMxOUJ3RnNVTDBTWkd4eUhSSW8yejhKd2lweWFiL08wMUU3bE5nZjZBZ3RDTVZqbmZXeVRVSDhyck1ERGVwYVpYK0VIbURCcWc4aWd0KytaRHRTVmdVbUN6ZndRbDRudWdRYVpaZjR2S1RrZlBKNVBTdjFPU2hiNWJ3UFVyZkZiS3pPbDUwYTVKbHJyS2llWUE5UWU0OEZlc3VFOS9hdTBMb2MxZ1BLZ25iSzE3TkFDN25KU3pIdkM2eHZwWVBPdmhrSm1xNzhueUJsYlhqU0RTbUFnZWtHWFBlOUZ4NVdSNjlibzJ5WGRYUXdYek1NQ3pUVFJxQi9hdmtkbEsxb2t4dWdFK3V3cWQwaVVEY2FrbUl3QUJ3RkJiWjVPdkRDYkdvL05EU3YvSjFLZmpMZ0lPdklxVTdCblVFQnltK1BDUUtseXc1VnhuZWwzRWhaQ1VzMnJwcVk1SHpGbk0zcmR0a1cwL2FBaUk0NTlRcFhHSlZXT0NpclRwNDhEN285UHNnRFU0TE9FQ2pMZVFYN3FuYjk0b0RRdktjRVAvZTRRc0dBS2dRbzdGTm5VM1RWTk9jTEl0Wnd0RmtGOHIrakphaXlLUndFSW1VMVpETHdBRmZ1c0dwYnBvNnE5YkoxMXJtNSs2b1dpMVZiNEtCc1FTTk5WOUt6eERzM29PdzJLd1RzK3Z1K0V3cmlNb0tmejhwY29VRFpFejhML0xUM3FRditraDE2cDFkSjE2U0R3T0MzeENzQVFSeG55VzNKa1FVcHErS1dnVnMxeXphRG9WbEtvVkdXYzhyNzBZOGZ5eVRNQlZRNXNBSWRsRzFwbzI1UmpQemVnMXpQQk1xV1dVbEEyU3UrczhlNTYvdjZMS2tyVk8xNUt6dVFITm8zOEhQUm40S2lOb2hBMzVFWGcwU2JLSHF6U0xRbGN5SmxCU3JaT0NpdFRsalZsUmNNR1F6S3lwbU5rYzZET1JHZm5DbFJEc29XdFdSUTkwMmUvczkrTEhBQlpmay9RbEFXYUhURTAzbGVseEhZR1FyWlA4ZVNMdEp5d01RbHg0Nm1vamJJOHFoclhaaHNlMFIyOHpJTlVsWmlrYlZMbUdWQmtPWWRReHFOc2tDRzMrVmtNdExSL2tzYjhZUDRVWlNsNzBQc21VVkJOVHhJVUxha1VKdSs3eHJ3M2hsYUlJVDhxaUltNk1QeXhaeUtvaVR3U29MN2txZ1U5R3VoVE1zMFcxSmJ3RjVXd3BLSmF3dWVFSys0djh0ZDdLNVJ0Z1lwNy82d2tVSWs1SE1pTmQ1QjJaTGF5OUozQU5UMHZyc2hCM0pCV1VoM1V5WUVrZjI1a2pPMEI2SGs5TC90OE9SVmJvbWdBVjBpbEE0ZXorNVZZUVNoL3lOenRQSGdEUnVoWGlCbERlelM5bGFVQmNyaWRsRDdLcnZyRm9NK0pRTzV5OFp2WGM2bHA0M3pQdjFvQjJWcjZqd0tLQ21JSU1xREhWZmNEZkVIMUUzMTdVTWVTT25qejRYY29kUklSUysrUmJLdC9wZDZXam15Uk0vclAvdEQ3SG9wWkxiMy9TQmxWYlN5ZFJlVUIxUXZCN0wwN2pDWnRGNzJLWGlXOUhxM1ErRCt2c3RZTzRxeTBGMEtlb3BDSFpTbE5DeUxCRlJ2cGxxMU85UUwvbGxRY2tCeThKNktqMEhVdE41YWx1aDVkZG95Y2RsL0pLaVRKOGRlbGlPUjBSMmVJamVOZXZ4SkZYYVlNQnBsYWEvbVh5ZVdxTEExdkM2bjFDSTZBbVh0R1oyRHNyU2NzaWlWVXBZeTNSM3FyVGFZbUhlUGFaWUM4N0hib0VNRHJZdHU0Rkt2anBrQ2Uxa1RrZXo4OEtCNG4rcTloWW5SNkRDSFJsbnZiZXloMnNQbTB0TmdMT1dFbDIxeFVGYlRaYXZxYko1bmMxQ1c2cnhjSkVnR2xLVmRuanZVOC82YWlVbCtoeFpaZEdtbU5FSzc1cFR5UWU5UTdSTkJ1aFU1SG1BdnEwR1h1b2QybmZ0R3JadGl0TllwNjMySGthRnNaUERhVjJodjV2ZHFhcFNEc3BxUnF4cVJzckNYUUtFVXA2dzdGT3IvWmduUzA2c0RubWlVWFZiK2IvU3ZjQUE1dFFzcHE4R1JwWWV5YXRzUVlFV3N4eHFVOVI2clEzTGJCcFFIY3JRMVZnVWxqcUxzbGpMMUV6S0U5TEpsa1lCT3Z5akRLTFhzVUQvWkw3K0NpdW5icWdxUmV0bXVNbkxBcW9qVWxYaXRhSmZsU0dSK3AyYlpzaUZGVzJnS0ptVzkvSnVvcGlpVVg1WnhBU3lmWGNkazNFRlpiZlVMS0NzNmRDR0RnN0wwU3pHSElvSEhzcmxEV2JLdnRTQVA1V0hmRmxlV0pGeUY0QXM4Z2IraG1uSlpraTI1SUlHS2dZQXRFd2M4ZmpFVjVnTFVqN2pMb2l3WW5FcjJBMjBlK1BaOXM3ZDJiVDRzcUh3SHBWUVprRm1sRHNwUzI0Qk9XYnFnNVE3bG9udndXUjNhc3FaekU0OUl4UnoxSzBwSXdTRldEL2NZS0FobDZxellZL09xWEpGeVVOYUR6azJ1Z1BxeTUrbStRK0QranRrU1J5L2JKTitYcWFnMktuM001YUFzSGFwdnlvUlFGVjNRY29ibVB5TFNGZjFNVlhVcFFjUVpEbnFDbkx5NlVGMVplbjFYVmRwcXNaYzFzRW5aVzFETXNxenFaY2xJaGJJYkhTNVowVFJuemRPVkk5QXc5bmtLZm5kUVZ0bDM2dEg5cStxMEtzam1vQ3c5dzJXYkYwcFBHd3E2YWxjb1AyWVVVc01mNHNnM0w0aUZMVm1FNGFJbnlNbUxXaVIycE5kM0tmdDhrYklHTmlsN2E3YXExNWVxcXFUc09oRVd6YTdaeTFZZUJhR0JJSGRNMlIyVTdjbmV5bjhmVWV2ZS9Qd3V5cmI0eGxrL1JaUE42RjJoaTByLzJLQzdiVUVHVzE4MkJhVW55TW1MaW0yMnBTa1ZHcVNzaENvTEZ6eWRGL1Y2YzRxRlIxSzJMenZSTFpWMU5HL2pKdnpBY3pZS2NyNUlvNy83Qlg4WVlCVy92blJNWFM3S1ZqU3pVNEYxZ3E3UVJkcXpzcXRBVFFaMGtjQXZOd2o4OTRxYnAvTThlb0tjdkdnV1JYM3hJL0RkTDRsUHRpNnFEKzdySWl3b0haK2dMSDJLZDFnNjgrekNOVitSZ01uUUMzcEJUc291YTFvRmtJNlhDbm5yWlZxQWk3S2dkU2ovQnlENkhrM3BDbDFVL25CTnYybEZUUSt1bFdsTzgyb3BwVU5jM1Y1OXhqZHNUY3l5OGxORDBaRmVlVXZwbEFSbDZlejhDa3RYVlZoQmc3cStnUWpJYi9aTUxvdkJnbVlqQU5MSi9tMHhtSXE1S0FzTEhqSWQvSDNvN012ZkxXT0ZMaXAvbkNyWmdWUlZLVG1kc3RHTTFtVjhHN29QclRYU2xFVHo4VVVhQTVxVXZYUno2S0ZXNTZhMDV0QW56TG9mYXJZL1llbWF3aFVFMVAwSWVCMUFNY2NITVE1ZEZ2NGp4NndjdUFIUEI4TG56K0xjdmF4WFV0SkpGY1FSdXNqb1RFdnQrb0tDNkZJNVgzQk94VmJWeVIxa0JKWWJxRURmZjBTTHBCZnFzZ0VPR2YxdXdjTlJLQVJTRkpSdVNsSVdKbGRpaGxJYmFEbm1XSVE5bUxwNldTQnBSMmxyUWY0VHZHNmdXTGg2V1E5MmtkM2syWUJRaDRIYkVRcjlzWkN1R2VnUDZvYWRZRVRnSmZIN3NrRlphakxZNVpIK0hmNlFyTTRKS2Z2N1phMjhDVHh6SDU4Z1UvWlpjdjg4WmhrcTVuejZGNG1xMjRwZWRvNmNuckNxOWE5alFwZkVWTmlhSkRVWDB0SEx3a3V1TjNrMDNLR1haOWxCZzl6eEk1U09GMVptRC93dzJoMkw5YW1hNk00ZG9VRFpvQmpJVnd6K1RBOUtDMW0rc1IyVXAvOFcxRFpERkIxVGRPMFdhdHJqZVNicFpkY0dJanN2WnR6N2xxbXJqRnRBUnVucnUvRldESE9UUUM5a3hYNEpIdGFockVKUWRrTStzYW9jSXYyRXRlMGdQUlFsTXdZdUYyVkxrbEtRS0Y4bnA4ZEI0dm1nODZZdlpmTnlZQXpnekdrS1V4VVV1c01UMktGQTJlZFo3QVpUQ0NDSWE5bExZcWpnSmRBN2xNanpCTUYwaVVPREJWYmFwQUl6Q1dXTDRvK3BWanlXdXllSGo3SHlwWnI0Yi8vWXF1N0pZQk9vRlQ1aHdEZmgyZnhBNXYzcXQ4RXZuNDJpeTNxbFgyUEpOaHI2dzl3YzNBNnVnaklrZTk1MWVqV2dPREx3blZkNExRWGVjUVlCME0yeUV3OWIvbDVCWDVrNFlZbjdram1MRGZKUGd0Q2k2R1JoQW1hRkFqLzVmKzVKUHR3L3pydlpmUDNEckdUMTlpdDF5S05DblM5QUFNOGNwSnhYTlB3SktMdEF5bXFORTdtcnN0ZVlLSDhxbVlweUdZclhsMnU0UU9leFk5MXovL0dUTDZlUFp2RHFUL2l2a0FUSHhlaVRLTkhMZWsrZWx2M1M4eTM5V2ZwVEZWb012VHBTZ0NCQS90N2hVUlU1d3Z0QkxhYk4vaVhOdlhIalU1VG1nemZjMlBOKzZjWlAwZXkvZWVPemZycC94Tkw5OTRLU05OZ0tCY29XZzJuZ1JwMVB0ZUI4eEdlaGNOZ2l3M3QwNm1IWHY3OC9FUElETjFuQWx6NVZEMExlZGVPSGVTTFlQQ2I3NFFrb1c1TzVSWkhqT2lKUk52Y1gvL0tsTDMva2FOeXk0MG9QUStTZVZWYlhnYnFWS0ZMQVV2QmdyRitoTTBJcGtyTDUwdDN2UXNEWGl1UWY2NldYbEFJT1paUVM2anNGWmJmRUtCMGtYcXlUd1I4OTlNQzN5VStEbjY3Z0JsZlovMnFjNzJhaitoY0krY3ovL2ZiL3hNNks1VFdab1hEVzNXTGpkenVlOS9hU2J5L3cwOEdaNEhmLzM0ZmUzakpVR2ordUdkUW50UTBSb0E1QVhhR2gyTk92dnlQZTAxRWRQOEVsaFB1ODhUZFhvcUk3STFFMkVQNG9lcW54cGdSYjZMWlY0cW94VTdBU1JBNVk4NGR0L3NERWZhRFdLU25ycmRiSTRDcGsrZnQ2QmV0aU5iU25pVXV1WDN2NEVyc3VYNzB1Vnd6VUlkWXZhcjNtMS8ycjFMUHFaN3Y4eUhVWVNDdUQ2MWN2WGJwNnZjRW82d0ZiNmZYanVnQkc2QVpnQnE4bHdESHo2bGkvV2Zlei9nTTlxKzlyRGtCUUt1RU9pMndPb05wTE5LZ2hkYWErQXJ2UnkxSlZ4SFdWV1hsd0s5akRwWXlNNnBvRnlrSTNlTVZ1VDRFUGQzWlUvQ0VLWmIzY3R4NGhIM3ZEb1ZGSlQ4d3JZSHEvWTBTNnZJdWFza3hUNUQvLzNzRzdYdUpLYTRUOXlzc2IxOTVRTmdJOVBkVGZ5ZlhOVjVCcjcvdEROV0h1VzFESGYxWkR4bk9YRkR1SFFkbmNUejRTTUhad05iaFlWMUFXTlN3cVhiUUlITnNSaWJJL2Y0TjJBRWRqRng1VGhwNWlBSkpGTHN2eFRnWW01VklwNjY2amRNVEQ0UisyejkzRDdnM29RV2Z0QWgzdFdNaHNVSmFHVjRBbmNyMGk5eGhsN1o3SThKVENkeEU0dGlNU1phRURLR1ZJMmI0K0ZXSnR6RWxENXRpdEhqdkRTTXJ5N3pORHlhNnRYSzRLQzVFNlkxZk83TUkyVlp1WGc3SjBFWEZiRVErVVoyR3BnNFBzbktZMUpYa2taMFRLMHZud1VhUUNFMGhVZzZtem85aSswQjRka1RFSGphVHNVN0p2Z2FYWUY2TlUzNU42YlpUa1U1Rm1XZTBuSEpRRnBZZ2FQT1Qxb1BMbzFnMGJpVXcxbGlzcVpiZXlvMndPWU5CeENGcTRvdjJmeDJyMTJJbEhVclo0Sk1xRTJiN1FhMFdnd3pGdm1Bd2NTYVl1cUtycVBBN0s5dUJSYVVJdktrdUJ2WGg2dlJtZ0xOMWs1V3JzZWpSbWFBaE82aGxGMlZWbEdJQTF6VWpXeDV6eU5DZVZLKzE4TFZYL2RsQzJhYjFjVkpPejVLS2lCNTlCOEtpVWhSNy82QXpWbkNYck1xWHNnYU9FZWl5cWthTmdPMmdVWmF2Y0FFV3pPbFZ2dTB6NHVFdkhFVHJOUVhudFBRd0haVnVxRGRkdlNlRWViOUFHRVU0ZU5ORjlCaWhiaGE5Zkt0TlEyY3dtWDVHVVFVbTVSbEEyWHo5UWFvYnZjaWkrY0dmUDJDVVZubkphWXVhMGdjMUIyYnFsRk1uM0hCYWlxZmdqMnpvRGxDMThEeWpyK29NdU8vdmVrVTJlSk1FSXlyNU5NeHpERHBkSWRlZ0VpSlFsNDBROXpjaGhVNVp1NWJtank5Z1Y0MDgzcG5GNkJpaGJ2MUowbXd3MmlWeVYwWEdLM1RlVXNodnd4ZU43SFY3bnJaK0I1L2FTMjl3NzdDNFcvNGNsbXFhNGdxYU4ycFNsNjh5N3VzQlZNUlV0eGFRSFRUOWxZZVd4QWtpVWRTU29MNjhZVU96WVdFT0dVZGFmSGhKdU1lK0JyUFE2aUZCL3hkV3FDUG15U3BMVDU1VTJaZW4rMmhOZHV1cUx6SitQT1BibzJSMis2YWZzSE5tajFyNGRoL0RGMUpUWjRaUzlkdWxxSTlqazZzSFhPV0JId09WSEdpNTV6U2FzUlNLMm1TczcvNUpxNHJLM3hRUkhNWFowK2JwY1VkaFU5a3JxU2NiMFRUOWxWMDc5emZHODVXcjdLanFFYWxUTTdtR1VQVU5WZFplS2ZvYnlFczdhNXYvTG9CNjdsKzFCMzJMSTBMekNBcGJqV1VpZ0w2VHRHWFc0dmRrWnViby84T2dlSWFIRksvSnR4WVdDVXFiYm1SQmxxekdwZDI2aDR3N05HM1libTdKTnl5ekx2amtHb25UajZsK21uN0l0MkxmYWNMd0NDQ2dzeERYV2pIeTRDVkYybFh4NFpOWFRrMEE5MklGS1pWTldOY3YrbjRIZy9aM2dEbGJvYmVZNjQyMzZLZHZZOTZDNTFvQkQyNzBlbDBZL0VzU0VLT3YxMDFzTkdkbkdrUWxhaGhwalU3WXV6Yko1WnVncm5MQnluVFBva1hVNkVrdzlaUmZwRkxRTGxEMjBwWWZkQngwN05JbVFwQ2c3NTV4V0p0R0NzNWU1YWRxdkxNcXFadGxOdHB6eTFrNVFNeWgzWnhmQkwySHFLZXVmeFVkTkJydU9GdGROazRvalRTeEJHK1Q1TjcvNXplVll5dElLS1ZqSGRHalIwK1JwYW10NkFNZlBtVk1KMVN5NzlMd3UrMXhzT3lxbW5yTCtXWHowcFdwdTMxT1JLRHFKckthSXlRMWJYZUJTM3dhTHFlRE5XSFk5eHlUTTBHSTJ0TVVyZjN1ZENZaHFscTBhWUMyNTVoMWZ2NjgrNE44bEcxcTVHaGxPMmZ6bjd5Y2YrOU5qbHBoWkRINzJ2WU1QL0ppYW43NytjWG53dnhoaHp0QTMzZDg0ZlYvWlc1U0hmZEEzUit5c2V2RVYrbStsakRIK3RYNnF0cms4cU9lTno1Y1laYjNtQy9GSm1XaEpQVzJwMFVsWit1Sm5od2xST05DbE1kL09wTEZmSk9RVVZyZkxlc3BSdmxES3JwYWdmckJaZElJU0FzcCtnUXdhaEh4SUxaUytaRmNuNUNPYzIwR2NIWnIvVVhMMzFmQ251dGtVcjZ3dGxzZ0FYaGY2WjJweGxydm85NjVRZzhpbUpPbHEyelNVaUxpZHlWRTJweDRjRUxmWWNaYjMxM3RxYVU3SzlvQXdMSkg4NERnTHFOaVBhbzQ4KzRlZTk4djFNWFdqTU1wdXdERTkzNzM5OW0rVFp3TXUrcFQ5eFFIMHByK3ZyVVRCcTh6d2JkK3ZGdlhsZmtkb2s5RFg4UFBmT1JVNlRhNUVudDd6dnQ0Zy8xVEZ3blFIUTM4QndORC9GSDY2TFdmZmF4YUIvcFFRcU1pT1pjRlVlQXJXZ0ppdm5YYW9ZSnRqVGtqQ0tOc2lkOHUwdkcreU0wd29aWE9OejlHZ21ycXRxaGdRTHMvdU5CNHVPM1NPdklkSGNidE9tenhEV1FnSzBHRVE1ZnBkRFpwZUJjcmV0T09YSTI3enMzTmlTQUlJUU1mQ3RBZm9qdmIwQ3BSRFBsbkVFbUVINzdSZDB4UTl0K29Mb2V5QzZFcWZHRkJlMFU5TUhUMzRmVDluVHlvczNoT2NNM0RXUU5tUHBUK08wRGJmanpmUGUxbllUYkx0NTJpUm9GeVJYWFhNQjUwcjFaTDIxZkRBUFovZXhoaTdjZ3d4RVFBZDBkZk04MSsyUHpIcEgzNnZaU2dHeklJVG5UVXRXVXZqOG9SUXRzYXB1UEZLc2tQelVjcld5OVJGM3lDOTRqdGcvYU1leElLM0tjZG9SNml5MXNmZkpXanhLb0NPeGorU2xVNXZXNEVLUzNkTE9mNkwwRU1yYWRHWk1RTHdrTVNsV2NSQUx1Q1BMaDBjWnhNRXpEVmMweFE5c2VwelUxYXlzc21vQXBUOTE2d0tNQXB6QThheVhINENPMVNaRmV3SW5aT2FURHRRRE1DR3g0Z1BVNXQ5VlNUTjNRd01CZFJJemFwWG80SEpEclovQTJ5Rzd1c3RhbVoweDR5QWRseU04YlJndW5haVY3ZkUrNkFTSDNmMStGQ2ZtN0p0TWZiWDJZWVVvT3dyR2NXQVBseWVvaUF2UFZmL1VWYUxJM1Jac25Jcm9HeFZxckFsMlVGYmNwWlkzd3BqRHRlQmxUVEErN0xpRFp6NUJ2QTc1RHF4VW1OQWJBaFE2L2tiYnR5NDhjbWZoQ2ZnYXdpeWFLRHpUZW1qcmk3cnNpREc3SkZwZEo3K09DOG5aZUV2d2ZwcTBic0JaY1VzU2J6V0FncnNyaWkxelRubEN1MUp5aTRFMUt2SkRsb2VqaW9LNDQ0OHI2QU45ZHNkS25UUUJoQ1FVZnV6UXpiMWt1THlHdkFlR3dMU0xKdTM3QVBhWE1ldnNjVWVMUkRkWVhMZm9GLzljMTlPeXNMa2k1OGtBYy9ibnh3Qlpma0VDdlpWTVVMM0pJMzlyd29HdGJoQ3UxSXhDTTVuaC82UmQ5WDBlNFFkdDNTdzhZVkpEb1dhSXd0a2dmL1d0cDN6bFpEV2ZZMXJ0YmJMeHBCd0JPQTU4cW5GR3U5cWVHb2dab2U3ZzN1ZDlXSlNRMVRqVjhpTzZsWGRUc3AyaFo3cGxaamlDcFFWRmw5eDVuNUJpQWhGQ3YzWEZkcVZCRjMzZTFuNFI0cWhBLzRoUjZwTWludUJZd0JwdU82clJJTlN2Nk42MFowbEFoVXhPTVBKalNlNkpEQlIzdE5EeEl6b1J6OStyTWRRWDBzT3kyYWtrN0pGeWFFSDJkQUxsT1VkTDJpdFFZY0xXb09pWDhKVXlPL2duYUU5MlI4ditwb0xOTytBeXdML3dIM3VOdTQ5cnViQXdLTG96U0pWZUU2UkJCMXBJUUI5RlI4NUY4MCtGVG8wZzVnYWVVd1JRZU03TU1PNDMwbFpvTWRObnVEUGZzeDNBV1dGa1lsVEZtaWs3S0NFV253Q08wTWgrejB1OHY5SUMyd3BhakFNRFhkNGRjYTk3V3NsRUVpVmF0SE55MFJJV1lsRjVxNmFIRGxYK2VqSWhiSXAyeURrZHprbGVDcHhoK05XQk4xRUlITzRLQXNVTW50eGFwY1Z0T0tVaGNGYVVad3BxYWdJemxBNm1iejc1MHJsSVBBUjk4SjhTU2dKUEl6ZGE2TFNrcUpNeTBST2JVRkdveXROQk9BWjg4ZTFhWnBhZ1JXVUhNb0ZCQ2QzZjFnSlVKMkZjRXA0THNxQzNtSCtTU2hsRDNpWm5MSmJHbVZCci9UblNzNVF5bWRDM3YvdmVCRXdiNUxhRHZUUFF1bmdDWUo3VHFxcVRjalIwV1BCMTVCU1dYRVJBNkJjdk02RUFBT2FXbXIybVh1ZWo0ai9nZ1hBM0lXNStLM3YxM2szR01SNUlMc0RJd2dmWDQwbzkrdUswQ3NQeklSQTJTczhyTTZpSzNxNWpXQXU1QTV0K3dJU0xpRlZUUTk1ZWNEbkVQazJ5V3Y5TDI3QVR3dHliUE1jNG82VURYRE45SmM5RFRxUzhpZTB6UHFnUENlcVRkbW5tTXp2Rmc5VE9wYWVkcXFCUVFKWEw3dmxHSU5kbEczcnZXTTkrSk81USttS3EzOTl5SytYZWovQVB3THhrM3B2TFNYMy9CUGtXRWE0SFNoUmdiTXVoaUlyS21xQUxCNWRreUhBa0FaV2lvV2RyWU1nY0k1UG4yM0tDdlA1Q2N1djNQcjc3dlVGUDBrSVpSVkxRRkNTaTdJRmk3SzBJM2FIZXY4N2g4UGZ2a1Ava2VyMU80cThpck9xcG5HcE45akw2Z2hsNG1NUERIbzYzcWQ2aTN0QjRBcWZwTmk2clBjMkppelhJZVJ6ejVHOXVtcU1rakhVNWFKc1ZkclhSR0lYWldHczVoTFJkUFZBKzNhSGVyQTlNYmdHSFVnTEUwaUhaa3BMMGE2Q1VuNURzMCt3WkEycHJtZ1owWk0rQWhWbU1sSnI3dE5PakY2MnhjRHp2c01ZVWZaVEtEOUxUOFAyVlVzMzVRbk9RbGtnb1VJcFRsbDNLSmlwL2g4bUljMFRrYkwxQXk2bmJ4YXpXNEdVbFFCbDdTbzQ5TS9HVFNhVmk3TGVZM1dmRXB6V29nSHRLM1NzUGhaKzNlR2k3SmJqN3hMU3k2b3ovVWFnYkxaMGRZR0YwbHB6bi9kRnBPc1FWREhvMExDaEYvMTJsYmk2a0tVc2ZNd1JxTTltS1BxelFLQ21QM2dxd3JyUUZPelZMeHFmZnhQUXd6SVg1WUVhN1hCK2hGQlc3Q2VnQmRQTFJkbStQdE9IeXVuL3hSM3FGK0xsSDRORWxJZDArbFVPd29iOHdnbHlNaFlra0taY0hxd3NTUEFndkdlRUFEeWZPMGJWeTJLcENmcW9zaEhwZXhkTHRyNjNBTG02aWtYSnlPZWliRlFqVjl1aTdDNlU3ZzdsMWRLdjZrREQ2R3JGVFI0V2VsOVcvem0wWXo0d2tvSjViTWNJQXUrR2U3TXNoT0orV1J1dHVFSlVzeXd2czhrM1Z0TUhmc2hEdFUzTkVVY0FBQ0FBU1VSQlZEdDBYdWF5US9QQTgzclNZS1lsQjQrTHNxQjNpQTZkcDNmMXN2QlBlSjdId3gxeUhjSE5HZnJVTms4SWhVTW1iU21CUjFsM09FRk9YdFM4ck9vaE5BYUtFUVdMbExoZlZrQ1Jwb04yS2ViRHFPOXlDZURwM2VSdWV0L29jRi9SdEEzazZiN0RMV2RuNU9keFVaWjJnYUpFVnJLTHNoQ21HQ2dvQzh1UTJoa3FUaG1scnpMUzBhSWVMaEtyRVc3MEJEbDVRUlp1NWVPQjhNL1dnUERENmQ4OTdCSVE4aEx3SGhjQ3FsbVdsYmtwbFFFWUQ3ZVZtdGFKYnppaUlWMnpsNTJuVHhsSzI2ZXhqc3RGV2JxNmVtS2tkVkVXVkdxbFR3ZWkrek42WjJoRjlvOHJmcWFDc3BwbVZDVzk5QVE1ZVVFV3MvT0hPc3N5QVhlOUVoSzZMOXd2eXpHSy93Nzlvam5KcnlvbUhuMGkwcGVNM0ZMN1BTcFdoYjdkQW9QeG5SQVpYWlNGMTc3VkhicGZPb2E4THNwQ2Q2YklCQU9EM3drNlF5dENEd2RqQWRWUXE5cFduWTNYdU1UelQ1Q1RFWkRGMUlkQUVkcVRDZENWSlFKZDI4NVVVaFM3dXRwcjBoR1pNM0xMVlBkOHd4aXc2Y1dRMWpncFc1RUZRclo2R1g1Y2xLWFVwblFPTHVqS2czSGNGVnFSM0Y3MWRaZEFwUlY1WlNmTWcrQytwcFFPWHJwNnU2TkUreW5NZmxlUFIxOTZDUFN0cWYrYXlycVNPbmVtVzB5dU1OR3FhZ1NFcmZrak42UlFiZjVxTTV5VUJmYkovOGVpendvblpZSGFKNkt3S3UvNlhhRVZxUnpuL000WS9tZUtPVUJSZFVWNThEZFIxQTRJcG9ZeC90ZGtxUmJVUXBTYzZFd2ZnWkp1UHdJQittb1AwMWY1Uy9jS25qQVJtOElWQkhUOWpnK21hOTluQ2N5Yms3S1FYdmFLdmpiczdtVmg0ZmhBRkZqZ1hhNHJ0T0liRS95MEc4SGZvYVdxb2FVZFVZemlhQ3FUT3dpbW80blJqQlYvS3Fka1FXZG1DTURUMFlkeUdOczdVaHJ0K0RRWVk4VXVsdHBBanRRMGVmMkUvc0o4U24vNk5EQzRuSlNseTJVblBFWFg3NkNkdlN5WWs4QmdGVnhBS01ZblYyaEZObWMxMEI5Z21OL25lVGZjR21uZEVMcXVUZmRvNWg2dms1ZUU5NndRb0hZYVB0YjdNdVRnVkRkRkdPMzROSmpQbkxDNFZlTVJCbSt6VXBPcGFSN2loYmtwQ3gybDBDVHFPelR0bHRLaE5rUWYzQ1dDYktCTWJMTkNIYUVWS2NCOFFOVmNRLzZObmpLNEdaUmpIYUlMSGJPdTNZS0JSRE9Ec2ZyeGxnRUMwSEhLa1JUcTM0Q25wWTZKQzVJQjlQRFZQUzVpVmNzRjgzSkdQSjN3UERXOXV5bWJoeGNQam9OazgwRy8zVlAwU01rY01ESmRZYVVWcEVpTzBJbzBvSGFaWFFxQ0RsbmUyajV6YUxlQ3pCT0VGdzFVNkVyYmdaWUZQVmtoa08vRHd6a1J0ZWYvcHhyNEQ0U2Y3aXFSdXFibmxmd3RxQkM5MFpDMkpEOTFiVHZJQkE5YnlhMDYzWlNsTDNCOU5FaldDcmF5QW4vNGpJeE9nNDVZR1c4anAzdStFLzVrckM3dzJxRVY4WmZMOCtGK1EzU3pUL0svQnl2VXYrWCtFMVJ6THlnOENQOEtCTWllMlE4cnFncSttaHZkYVNMd0t5OTlHV1VvK1kwYi9qc2tML1dQaXdHL1pJUi9JSXJ5TUo5a0Z2SzgrWjJhemNIdDRDcVlJNnBvVUFobDZSdXdKelRSWDFJVitrczNmb3BLOUpzMy90akwzZmhVQTV5RE45eUFjSmdTMVFNbUw5YlVVY0FPQmNXQU5lQXZCY3VlSU9RZjBESTJIVjhTMnJpdlRtc2twMitrS2VEYXVIRy9Id0RuS24raTdJZlFuNFpqOFV0RW9pTXRCSHkrQm85SCsxVTRTcFhUUXlsUHZuVDN1K0Q3V3BIOFl4bElYVldsZ0k0ZXhYMWhsRjJzazhFZlBmVEF0OGxQUThvbUwrZDdubHdORFFTQWJTNzMvdURXdjZ3SFo4WHlVcTNRQ2psNTJ3Q0V6UDJlNkt3OTd3dUUvUHBiYmozbW12V0RiaEZjWEFjWEFSQjh3cXNCeThZeGQrTTlPd1ErelorV2Z2K0lKcEUrSXE3V3lPQXFkSDUvWDBzREdvTlNoRUp4TlZVWVpUMTZkRHhjdjBvVE53ZndYZFpMVjY4M0tHV3ZYM3NZdnRGNm5mOW5OdXQrdW1mMjFGSTlNN1Q3TkgwdGdSNHpyNDcxZE93SEswQkh5K3A3VnVtWFlDOWRmYVFoS1F2VnduVVZhajdoNlRlMU9Ta1B4ZnRVSWxEUlZGc3Y5NjFIeU1mZVlMSnlYUmpyZTdwZW9UUXBsTEx3Mlk3M0R0NzFFaVZwaURQM0xmamt4eCtaa1Vib1U5dGdhdnRXZmZEd1o0N1ZsTC95OHNiSC9wNFdvc2FPZEM5SUc5dkl0SmdnWXdSV3pJVlpsenc5WWFnQ3ErcU9LMFdZeGNDZGR1cENlOUxhTzNXeW9VQUdBblBTcEdURUtON1NFZmVBMFhTZnUvVjdlQytycDV0S1gxOVlMcVpTUEJSS1JRRFdzMVN2MDcwcTlJSWhXN2xtbXJKMWFzN0FhMFlRS1BMcFQ3aThUOG50VVdCSzFkZC9SYTVacG13T1oxL2lPYzZBb3hvMjBrdlppMGZDRFNZaW9kZUtRTjh4eTVSZGk2TFE2ODFGWDNZSXJJVnhVSWkwcWl5UWdRSHplUkdoT1dhWnNqMTFJN3JXS3ZSTUlRSjU5UjBXcDN4VmRWT0N1ZElwY3N3eVpRdW95b3JuT0F1T1VjOHJYejlRbXRFSXN6RE1NR1h6WVcxUzJvM09LVUpnT2N6U3ltUjhtOWhqUlFOZ1o1WmI5aG1tN0Z6WWxOTGRVZ3pOR29IRm9YT1BqWDhMUzZNZEx1T3RuNEYxMFpmYzVsNzFQc09VcmVLZUdQVkp6b0M3cFV5dlRISHAva0M0OW9Md251L1J0eS95SEROTTJacTY2WjIzQis5VGpNRHlrS1dmVFhMdDB0VUdmNm5tUWJySDVQSWpqUjFIYTJhWHN1dmlhNDZPWm1IUU5DS1FHMm5taWlMMTdGSzJ4OTV1aU5KS1RETWRDRFJkbS9uSEZXMTJLVnY2d2JodHhmUlpJN0E1ZWdGc3RJZ3pTOW0xSVhyUjZHWmppbXdRS1BEOXoyZW9mbVlwMjlmUDVUZ0RCSmcxUFFUbXRQZkJKcXQzVmltN09zSXNQUmthbUN0cEJQb2hHd2ZHcUxjM28yOVBkZStOMFVoTU9qVUlySjU5a1gxcjlMN2JxV211SWtoZXZnQ21oS0p6K2hINEpiWllNTG1rcTYrYVBHK0dPZk0vbm1IbFdEVWljS0VSK1BuM3NzVkpmdnZnaFlZREd6LzFDUHcxWjZxNEQxbUluL3JXb0lEbkh3RTRUYys2em4rcnNZVXpqRURGSXF4eDdOZ010dzFGUDQ4SXdCdE9CSTdCcWQrbEorR1FqOUhmZHgyZXg0WmltODRMQWsrUlovOFBhRXQ3bnphb2RwUCs0b1VJVERNQ3RlRFF5dEkyRmZMc1Z2WnBiaXJLZGk0UTJHVHZDUHY3S0RjbVdkVTVQaGM0WUNObUJvRnFzTGNuK09qUCtnVFdyY2ZWMTZobnB0a282T3dpVUxyaXk3N212eEkwcis5TmcxUE94VFY0K0w5eU4xSWNadXFPeGxCRUlGNEVGdG5iZVN2KzUwMlc5WStjeU1PbmZlYmVjNmtBYTNqRVU3eFBCRXNiZ2NBOEc5YTcvdWxwVzhhK3ZQdzcrb1Q4c2YvbGdBZitTL2R4UDEzdG14a2phc05vUk9ETUNPVDNnaUlLZCtpOVl1bWxQWG0rSmJCMzI2NnZqaWZ2MjZCZ1NBb0lOUFpwSlgxNVVpV3JzeUxIZlhqTjMySTBmSmlJa0E1TGl6ZEVJRDBFRm9NT3RHZ2RUbGxRRm0vaGN5dVdSRjJnN0tFVmlnR0lRTklJckFXdnQ5ZWZNeXVxS1NjQ3RZbjlFbnl0NEZRWHpHTFFqd2pFakVEd1pramVQbUpNK2FJbGZQdlVlaEZqOCs1VzZEY3dZaFlSaTBNRVZBU2F2bGwya2ZpVE1DVUN6Rno3d2x1MU85VHFjK3EzcTBWS2RDQUNTU05ROGcyeW14WmxZWFlsclFRVjg0dStzSTFtR3o3RGVwQzBkRmcrSW1BaWtBODAxaldMc3ZBZG9iSklER3JybnZENER2aXNHNUQ2UlQwUWZZaEE4Z2pNQlZ4ZHNDZ0xtcXFzdlNFTlhpeXc5NEszSHZvTkRKa1JYWWhBM0Fpc0JCcnJzdFZoS21aWitEYTFkV3BnNmNpREhlSzJ0VFp1K2JBOFJNQkFvQjFvckZzV0oxV3pMQmdNYnVyNTZPZGI0UE52K3NZRVBRbjZFSUZFRUtnRkd1dVdZb1FONmxITXNyQ3R5OWlCNEQxRisxZUMzNHRJNUpsZ29jTVFnTUhkais0UjgvUlJ4U3piSklPeVVVaHhCd0pxbG9acnBFSXZJaEE3QXZQc2MxZzlzOE5VekxML015R3ZNU3BlOU05b0w2b3pOQ01GZWhHQlpCRGd2V3ZWN0RDRldUYi9lNFJZQnpxdCtJb0NtTDZPa3hFTFMwVUV3aEFvc0dsWHord3d3U3o3dmhzM2Juenk1WFh5RzRkVzd0WXVEV3JqVmk0TEdReElHb0VHVzhBQ3lwYTF1c0FzeTYvM1daVGRDQllXd0pCZ1JXbUZvQWNSaUJzQldBM1k4Y3NFaGg1cGhRdXpiUDVuQ2ZtY0Z1VjV5OEZjRFhpK2JjU2dGeEZJRmdIWTJSTDBrK0E0MEtwU3pMSi9ZMWxsQy90K1d1RDVqcFlKUFloQTBnaFUrQVJxd1Z6ZlVzeXlZTXpTTFdBNTlqWUM2THY3U1V1STVTTUNHZ0lsYmlnQUE0RittTDVpbHZXcXZDOW1lWmZZb2hkczVicWpGWWNlUkNCaEJITGkxVmt3dzJxZnhsYk1zcDVuN2pMc1ArcS9lWHY3SzdpVksrRUhoTVdiQ01Ec2kzZVRoSzBwc0NUQ0xFdjlzQ3RHZlprUmlDNnVGOHdpMFk4SUpJa0E5S1VuclB5V3hrb1BkTnV5cUJtU3FmdGZJRTVjdUpWTG9JU09WQkQ0MFgvR3EvbWJ1Mlh1cEhjd0JrZ3ZVRlpWZE50WFdCUnU1WklZb1N0ckJMcDhYa1lGQWYxQk1SbmttYjBBSWhybXpvU3N4Y2I2THk0Q2ZWVVZXTk4wMlFYWjQrSldyb3ZMa0tscmVVbFZiVUZMT0pBU05ybGU0SGxGVlgyUUtkQ0ZDS1NQZ0RRbFFOMTlPVXVEZHhFYVpTRU9SQndMRHpvUWdRd1JnSjNmKzZKNk1Hb3BOdHQ1cVJkNFRkektKVkJDUjdZSWdDVjJXMGp3SkNISzZVZk5BeEZCRDVHNUtYM29RZ1N5UTBBMXkrWnJxbzAycCs0MzNGS1puWjIwV0RNaVFNMnlRa2w5R3lHL0l5RjVVajBDY1FXM2NrbGswSlVwQWsycHZmNE12RWNyNk9zdE5oUzExb010aTFjeWxSTXJSd1I4Qkc3OVZZUGNmWWh1ZmJuMWYvMEp6TDBPQlM1ZkJpWGhzOXlYZjZBRUs3a1BTVDd6Q0x3akF1a2kwQkk3Q0h6SHMyVlJmZDhQWUhNeFdLNzFMMVZURUNuUmdRaWtpRUNSY1pIZUJoLzRZYVhtL3VEaHk0K1FSNE9RWEdNQUg4QzlldjBaSlFFNkVRRkVBQkZBQkJBQlJBQVJRQVFRQVVRQUVVQUVFQUZFQUJGQUJCQUJSQUFSUUFRUUFVUUFFVUFFRUFGRUFCRkFCQkFCUkFBUlFBUVFBVVFBRVVBRUVBRkVBQkZBQkJBQlJBQVJRQVFRQVVRQUVVQUVFQUZFQUJGQUJCQUJSQUFSUUFRUUFVUUFFVUFFRUFGRUFCRkFCQkFCUkFBUlFBUW1ReUEzMkpzc0krWkNCTEpCWUUwOUR6WWJFYkJXUkdBY0JIcnlvRmpQVzMzRjZldkh5WXhwRVlIMEVXZ3JwN3d0MWsvdng4L1JwLzhNTGxpTitWbzVhb3VmVUQ4MHl6UFZsYS9NRmdhSFh1RlpIb04zUkNBUkJONHF2akk3cXZqRnV2SUpSSjU0UXpsbWU1NTgyUE9XOElNY0hCdThKNExBNzZtZjNCcGF3MnBKL1dvblR6cXZNTFI0Q2dkdXI2cGZuZU9wOEk0SXhJUEFyWi83Tkp4S2ZCS2hzUHdEZjliUVBqVEw4L1RrMTVQbkNkVVI4dVI1SG9kM1JDQm1CT2FCcisrUFJsazRlUHUwNk9wbCsvTERjdTJBL0kyN01ZdUp4U0VDSElINTYrLy9MbnptOElUN2g5eGZlZTN2ZGJvdXlzclpWNDU5WktZbSs5MGhCV0lVSWpBaEFoRXBTMHQzVVhaUmZ0ZHptWDFJdVNTL1RUK2hUSmdORVJpQ3dCa3BxOHkrQ295OUpWd09HNEkzUnAwWmdUTlNWczYrNEpOSHdlZTdhcEUwalRNTGpnVmNWQVRPU0ZrNSsxcmozMHRzS0I5VXZxaW9ZcnNUUk9DTWxHMklUM3hYK2VTTTRKSnRnczhMaS9iT1JsbGw5bFZrSDZnSEJlRm9pbkFkWXoxNmlxUkdVWVlnY0RiS0xvaXBGakIxMzY4R0N0d2VVbDlZVlA3VHlXeTdOZGFqY3g4UEV3RERad1dCczFHMk4rRHQzQ1JzNVJZY0p6eHdqUHVUNmdmQ3g4ZzNJcW0xSHQzNHRSRTVNSHJhRVRnYlpRdFA4L2JCWitpRGJoS1cxQUxMQVkrSmRNODEySWRySTZXT21NaTFIdDJsK3lEd21tVUV6a1paT2Z2cUV0YmhBbmZMNHdQeVZBTHJEODcxNkVXNjJ3eXZXVWJnVEpSZEpidTg3UzNDTmh2MGlQcWFBbzhlY2MvWHZ6OGl4UVRSN3ZYb1BtNkJtQURMYWNweUpzcksyWmRYSjR4MEZkN2RqdFBLSnllYXNrV293VzdlbXZ5YlJjaVBTYVlQQWZ1WmhzcG83ekdvaXRrWEdBekVwYnhaRTFxV0VWRktxdXR6Tks4K2dYeUd1T2pORWdISE13MFR4NmFzbkgydENzS1NDZmJMempHYmJsak5rNGM3bXRlZHlLSXh1UWlZTTJZRUhNODByQWFic28wWGVkbzVRajUzbTE2M2lML1JtNGRIdTFjU1k1R2plWE1UQ0JpdEdaZ3FGUVFjenpTc1hvdXl5dXhyaVp1Mm9MczlDQ3NnTER5ZjNLNXdWL1BxeVppQXcxcUg0VEVqNEhxbUlWVllsRjJTNXF3dHhTeTdIWkkvTkhncE1iM0F1UjdkVFdxdUY5cEFqSWdUQVkyeXY2OW9wTXo1VDJSbEZtWGw3TXZiNG5hQ0ZjNWRtVytrcTUzY3JnU3RlVXlRZWJZWGZhUmNtR0FxRWRDZUtiemhaVjdLZStBV1pWc3lza2ZZOFFWZE12YmtQOStZd0pJYkVVeXRlU3hQanYrOUlwYUJ5YVlMQWUyWmZ2R3FkYjFHaW10UlZzNis0Q1VidG5SYjRBYURMNzdPZGNuU3BHdU5yMExJb05oY1d2TjRxYTNFWm51OEJyd25pSUR6bWJyck15bTdybXlNcmZDVmhEcWZmVlhNL3RyM3V4YjR1MFFZSHR3Vm55SFUyYnhxZ2hXZVFWYk1HZzBCNXpOMVp6VXBxOHkrdkNhekhPVUk3OEgrOG1vaklPM0E3N21acCtNb3VtU3JzaHZYOXh3Skp3aHlObStlRHdrVEZJaFpNa2ZBK1V6ZFVwbVU3U3JHb2dxYjlLK3BldUxYYWtCYWZoQkg3ckU2K0E3dG9rRUNpNThWVjBJNzYrZ1FaL01nME5YYmp5NE5VMHdEQXM1bjZoYk1wS3d5K3dKZE5oamN0d1JGYVJsYlFOSjlVZGdxY1BaRStJUmpnYy9jUklqM3QwNXV5L2pvTG5memFuYS9IcjFJVEpreEF1NW42aFRLcEt5cUVmYklIVDlQWHpsVnp2TmdJNktpNzNwcnhFV1ZMbGVEUmFYZkJDM0MwUjJMK0RFYzd1YjFWZEhIS0EyVFRnTUM3bWZxbE15Z3JEcjdndjdVcHl6c2p1a29lV0ZOVEtXczEzTHRvaW95dHZOOHVYOER1WktsYkErVldZNzJETjRucCt5eXlzNmxvTjlhNDYvWkJrZ3NHSlJkMXZyZ0lBMncvRWppdG5yamZrclloQ203b0dyY3NuSjB6UVFDazFOV25YMTVtOEgwcTZ1b3J0QjhrN0tMUm9kS0VZSjN4VHIwSGx5Z081REJTMkRhbHFoaUFCc2hZaXFmeTQzMzlCQllkRTZKblBWWDlDNjB4VzBCTkhFdW1IYlY5VGVyVE1wNk5kc0N1NnoxZUd2WEh2N1RqcGMwWmFGbjMzVTJFUU5uQUFIbzVIWWlpdGtuNnVib3ZENkZLZDJEVXZ4anZKWFNMTXIyWDFCaUEyZFhLelVJUzVxeThKOFFSNFpZQW1IQU5DTncrOVpmRkFoNTVnOGV1ajFLeXZ6dGQ3d0p4dXhYL1lmYnh5enB1cXFDZWw2Vm1qcGJlaWRyS1FaZWxiMXRvMVRYMHN4aVFVVGlsTzNyQTRZaURqcW5HZ0ZRQ3ZoMU1rTFFDazhvbnJVMis2SXE2YTczQkRFT0NiQjYyWlVmV1BVMDlON2FqMCtjc3RYeE4rOVlnbU5BQmdnc2tzSDFxdzlmdm5xOTRUTHhhd0pWeVBWclZ5OWRmZVM2b0d6WDJMSFZIcnhDeFBHc0ZtWG5xZnFnWGJEQ2UwVUxvSjdFS2J1RjYxOFc2T2Mvb0tqT3ZxQzV1VDhaL0RwWEduanJMY3B1V2w5WUFsMzZpQ2NYOThRcEM0SWRpdHJRY1RFUXlEdnNWVmJMTGNvdUt0c1NndFJPOGlST1dYaFZiY2VTRmdQT053S2JqczdSYXJGRjJaejFIUVVZb3Zlc2ZJbFRkcEkzMUN3cE1XQzJFREJtWDI3aExjcDYxaGFxQ3JGWW5JSXVDNFpadEhLNW45bjVEYTBZc3k5blMyM0tOanBHd2o0Ly9Gc05UN3lYOVJyV1hoeTFmblNmUndTS3RvWFZicVpOV1N0TjBiR1NrTHpGQUdxd2JCZVdhQmh3cmhESTgvZGxocllxQW1VYmxtVU1Tb3l2bHcxYmoyNmhZWGJvazhzOE12Y2pEYkVVNER0T3kyZVVhVFBTV1FDaktRdEtwZVB6NC9GUk5tdzl1dTlTb2MrSUNXYVBENEY4VVNjcytBN09XUHFLWTU1dkZ6bWFzdEFMT3VaQk1WRjJ5SHAwMDJXb3NCdUFJUmtoOEtERjJDaEcxYUhDVnF3MUFWZnkwWlNGWHREZTNCV1RZakJzUGJwTFNOa2xNWVpOQlFMS294UGMzVDZqWktVb3N5OTdXNHhWSyt5UHZXTUZ4a2JaOFBYb1h2UTlsN1o0R0pJMEF0Q2pESzVldWt3dXdWVWIwTjlMcnpwam5kRm1YeEVvQzRmRFg3RmxpVWt4c0FzV0lWdXVkV0lSaTQ1c0VZRHpnOTRJQzB6cnZpRjF5ZGdaTUtGbzY1Rm1YeEVvQzIrSDdkc3lKRTlaT0RwczE2NFhRNllEZ1NYeVFTcklnbjhDMFphOXgzb1NLUmV0VlN4bkthTjFXYURPanAwMWVjckN1NytPM3QyV0JFT3lRS0FmekpTMmZHTlM5MDQ4SW96Y0UrNVhNNXF5N2dFNmVjcUNaQWZ4SUlHbHhJNUFqbzJBRlorczdWUWYxR2pLVnAzZllreWVzcUJEeC9UbmpmMkJZWUVMYkw5ZmE1OWlVZHhORTVIUmxPMDZaKzdKVTladHFVZ1RHNndyRklFS005VTN0bW1TdXY4Ym1qam1pS21tckdNSkkrYm1ZM0dUSVZBODlQTnRCS1p6OXFIWnlZb2FPOWRveWxiNHAyKzFzcFB2WldHUE4xSld3M3lLUExjQ1dlYjhiYW1MNmI0L010V1VqY2QyTWtWUCtyeUpzdUtiWlRmVFhhWWNUZG1tOHlXczBGNzJnVGM3cjM5NGJEMnVMYkhReHh4M3RDU3dVSXlVMVJDWlBrL0ZOOHZPcTRjSkpTOWszSlNsSnlrNkwzczMyR2pLMm5tU0J3UnJHQU9CbHYrRWxpTnR3QnFqMk9GSlIxTzJQVll2YS9HUTg5YytIc0ZLYXZXeVNObmhEeS96Mk1BTTJZdTJhaFdYdEhGVGRxN09PYXJmQisreEpCNU5XVlFNTE5DbUttQ1Y3Rk41S281M0F4T1VjelJsbTJQMXN2R0ppcnBzZkZnbVZOSkNzSStsUDRXVXZXazN1ZVlrc3AxdThoQTBjazJPWFVvNWU0R3BvRFVSWmUzNWVFU3BJL1d5U05tSWFGNndaSVdBcTZWSktQdDRwTzNjTGtCSFU3YVMzVkxDaXk2Sk1XeHFFR0RmNHE0YjA2L0hsV25NdFhjZXVzVnRxTWZLdXBPRWhJNm1iQmYzR0lSZ2Q5R0QxOW4zTExSRDNnRVU2T1RVNjNNdW5OWW1mMzk2TkdWN3VKUExoVG1HZVV2czFXdnJKYjFiZjBYSXZZZHV3M1hyVFhYbklBMmY5QnBNaXVCb3ltNDVYMmlwSlQ3OUFza09KbTBWNWtzRGdXNWdsb1ZUQTA2TTZpRG9EZ3NDd3cvN2RyS1dCcGc4NmZ3ckVtVjN0ZHA4VDV5VVhYM0Y2ZXZ0R3R3djhOanBNQ1FyQklyQlBtL2c1NDRoQXJ4K3U4K0QrcTdPRGN4QkU2L3lqcVlzTE1HSzZya1ljWjRXNHkzV1QrKzNHdTE1N2hkNHBBVG95aGdCM3J2Q2tkbjdoaWpBeUcwZUJQdzU0RzV4N3dKbEQ0VnZQTWRveWtLS0szYVpNZmF5aGNHaFY3QVBYZGhTbW0zWGp5R1pJd0M4N0ZBaEZDMkF5d1FqWkptNzExMm5EZFVLa3ovZDBaU0Z0d01PZVBYeUhoOWwvVy9rTE5tN2hJR3lOMlY5NkpvNkJGYllEQW9vYTI0R2dXY254SVhQMWxuN1N6YnZRb29ka1dROHgyakt3ci9FWVIrTmo3SkYrbzJjVmZ0dlVaMTg2QmdQQWt3OUdRSnRmaUltbUFlTUVpcUtDUXYwQm12K1ZYM09yVzRheGJpOW95a0xxdlFMZGw2Z2JEeDk0THhmZXA0OGI5WlJ3VE81VEVpbXkxOG5iQUdyYmhtc0NncExnVC9XczYxdHc4dW9CeE0yaDM1MmVYZG9YdmlYT05iVzZyWmxZMmdwb1pIdHdFTENGbEtVWkgxbGNGR0MwVGtsQ0FBVjJlaGJzbWIvTlVWVmNPd1ZXVC8xSU5ReGRrZHFHc3pMWGJNck5hL3pmRm5JZHFRbW10U2RZMGVFMTZUeXc0cHFFWHRLTm1rdG1DOStCR0I4M2c5S0xWaGNrR1paMy9MRDBna1plaTk0b0c0NnhtNlJZb2dqM3dMdVBkTVprc0x6U3BhcTRubGZoR3pQZ3c1NjVtdVovUjlMbHBtdXBBd3VaNjRHQzRnZGdhcFFEVUdGdTZJVnI1cGxQUmd0TzFvc01PcklnMG1aWSt3MjB0bmVuNzl4WHcyb0IwZll2ZTdWbjNpSkhjOUMrb291RFVINUg3cHgzMC81MlU1LzR0V2ZPS3RDVzJCLzFaSmxwc052SllRK2thbUlhQXZGYmN2VUxWV3pMSERUVkdWWFlhMFd6QXpXcEN4Q3MrRGZJUy9UVGlIelF6THA4U3VUdVVib3dXbytweHNrUC9RamF0YWlINzRUN2tSc2FnTGxWK25CREZyV3hGTE5zckN0eSt6V25xTDlLd3p1V3A1b25zcmdtbjh1NktWTGx4OXBoRk8ycDAvZDgrVDZWWmx0TjFwVllhblcrTmR1R25LNUpFZ0xnOHRCV0M0TW53SUU1cTZkTUNueXBYZnI4a0MzeXdQZzgyMi94ZDM4WHR3QlYwMGZ1M2xjUEhmNHo1ai9rM2dLaGxLcTNNeHNXWlpoTzhWUmJOVmdRYWtpSU0yeU9maWMwYkZSOStLQWhoUWxyWTM0R0x4SmtxZklUb1FCQmVGSUZ4VW1wSWQ2Q1BwbUJRRmhsdjFhaVR5elowcTk0dXUyaGNtM2Nwa0YybjVRb1BmdDBGaENnS2xCMFZESHRsNGlXTi9vbnhHdkdVUUFCdjBiY0wzc01oazREcU52N2RJbXRXMURRb3d0YllqTmp6RVc2aGNGSGZoTjdqalJDNjhtcWV2b1ZhRXZaZ1NJdU81K3hpcDZJemlvbzV2b0tOcWF5SVJteWVvSWdKWG1QVDhZMXU4TzlmZzIxM0wxWVBSTlB3TFNMUHZWRnJsM2JBaThIR3lTNlZuanFwSHVUTjdLUlBhSUtGV0sxeW1BdTJVOVEybmlCVDI5SFBTbGpvQmlsczJYTEt0c1lkOFhDS3dLTzhsSnRteHRlNGlyTHZnVEJrWEJmODc0TjVybTZiaXF4SElTUjBBMXk0TDdSS3N3eDliQ0lHSmZpNGpWQXhwbko5WUNSV0ZpTTFERi9GZUFQYy9RRkVRbWRFdzVBb3BaMXJNMlZTMnhSYTlrdnlzQTgvcnRSRkNDZ3NWbHJJWE1teHhPUkFBc05Ba0VwRmtXU2k4YUQ3TC9LSDN6OXZidHIweStsU3VLek1XRUZxS2dLeFdYc1JDOU5kRVNkSlRHWUpxa0VSQm1XVnBSWDUrbFFLOHJyaGNTRktTcmJIK01zeHJRMHovbi8rVnVXVnZSMmpqN2loUHBWTXNxcVhTcDZFTTBmYVdBWDVOczVZcmFrS1dFVEFhZ2dnY0tLM1MzQjdvd05YTTFUSTlHM3hRam9PNldwVWZISENteXRxOHdEeWlGazJ6bFVvb2E2b1MxcWVPaENTYU1CRDE5ejg4S3V2aTJWa1pTTldxVm9DY1JCUFRWMHJabU1zakxpWHdqb1g2UXRhbGtNQ3FtcG01eDFSeFdad1B1OG9JWHVQV0xCK0I5WmhBQUE1UFMvN1EwWFhhQkdUV2hNWWx1NWFJYnJ1NGtnVmlQdnl2VE5WZG51L2dCcFNRQVQ2Vk1VRmZMc2lKNGdVQjZ2T1lWNFNrbXVaWEw4K2FUV1QzdGNuV21ZSzZSRk5VL3FtZ2xPbVlCQVZEM3BKalE1U3FuR09RYlpSSFZUMGpiWkJYa2liL0hVVlFYazZQQ055L1VqZGtYZjRreHBucXdtRFFSMEliTXF2WmUyTHpVQzd4bVlndFVRV1BiaWZSNlRSS1k1c0JZZDZLQk9xK2FTYlFZOUV3OUFuMCtkb0trK2JvMlMya2VTT203ZkJlZkRJclZ0WkNJYmxsaHBhNXArZzRJM2sxeXkwU3N3R0JoRmdLcVdmWUo3ZkNqbkxvSUQvcURNa3V6U2pselFMNlJ4S0VDWGJaZXNHV3FzdlZFOUpBem80QUZSRUZBV1lsZGJKQkJSK1o1VXAySmdaVm9SMFlsNEdvYVEzY3NWZlNZSWFKdnZBYy94eFNHV0NyQlF0SkZBSmFGdUZsZ3NVVElhMlR0aTQxVDZmRmd2eWxQcDRURzZGeExRalBZQ2lnTEN5RWRUZFJ1Y3U5SGF2V2dKM1lFOHUvNERpSHY4VmZoMy9FWUtMSWZralY4dVViSVo3azMvd0RRK2VtSGpyay9pWHZOL3loMHZDVXZCWXJCbW1vSG9UWFVqVzFkOGRhS3BTV0hBQnhwb0YydmwxV0JVUXV1NTRJQXZvZFAxUlJrMHBoY3l3a295NXRCQzdyR1p0ODF3eDlUQzdDWTVCR0FsWGQ1WFh0dFdhbXhQM2o0OGlQazBTQWsxeGhjZS9qUzFldUo5azM1UnZ3YmIzTEJ0S3RPVDVoVnJuWUNIYnBTUERvdkNnSVBHZ3BuSE8wdVVkT3lmNHkzVXRvaStiRGlReWNpTUNrQ3VjWkhKODBhbXE5S2Q0aTFqRTYyYXZoRGMyTUVJakFjZ1FkVkU4WHdwRkZqTitFWXVpZklyMm5KODNYZHIwV2lCeEVZQTRIOEsvZkdTQjB0YVh2d0N0TmNrUHRJdEt5WUNoSElBb0hjbnd4K1haOTdaU0VGMW9rSUlBS3poc0EzM2h4MnZXWFdtb0x5WGdnRThnMXBUalZkSnhjQ0FXemtqQ0VBeDJpRlhyc3oxaFlVOTJJZzhNcFF4cDZXTHdZQzJFcEVBQkZBQkJBQlJBQVJRQVFRQVVRQUVVQUVwaENCMExrYVJnUUkzSm5DaDNheFJVSm1qa0FBS1R0dGY1QVJEd3lqa2JKSTJSbjdGeUJscDQyeUtBOGlnQWdnQW9nQUlvQUlwNEJuWndBQUgxWkpSRUZVSUFLSUFDSXdQUWhzaEcyWGZUUHVsNTJlcDRTU1NBUnd2NnpFQWwwemdRRHVsNTJKeDRSQ0tnamdmbGtGREhRaUFvZ0FJb0FJSUFLSUFDS0FDQ0FDaUFBaWdBZ2dBb2dBSW9BSUlBS0lBQ0tBQ0NBQ2lBQWlnQWdnQW9nQUlvQUlJQUtJQUNLQUNDQUNpQUFpZ0FnZ0FvZ0FJb0FJSUFLSUFDS0FDQ0FDaUFBaWdBZ2dBb2dBSW9BSUlBS0lBQ0tBQ0NBQ2lBQWlnQWdnQW9nQUlvQUlJQUtJQUNLQUNDQUNpQUFpZ0FnZ0FvZ0FJb0FJSUFLSUFDS0FDQ0FDaUFBaWdBZ2dBb2pBaFVRZzl5TU4vVk4xcCtVTGlRTTJlbFlReUJkMXdvTHZZRlprUnprdkpBSVBXb3dsK01ITkM4bUVXV20wNjlNajI3TWlQTXA1RVJIb0VqSzRldWt5dVFSWGJVQi9MNzNxSXVLQWJaNFZCT0NUWkcvYzg3ejF1MVRncGVkblJXeVU4K0lpc0VRK1NCdS84RFQ5M1hxQi9vNTVIWStaSHBNakFtZENvUCtzbjMzcmUvVFduV0RlOWZqM3oxUS9aa1lFeGtNZ1IzYjlEQldmck8wRExmZmppaTNoMmpzUHRUamhhVHdqbk9oQUJKSkhZT0UwcUtPMVQrL0ZnTDlCa09kVkZNcUM4M004WEwydkVWOExWb1BRalFna2lFRGx1YUR3eGphOTEvMWZXZDJ0dnlMazNrTzM0YnIxcGpvaE4yV01jSFhKUUxqUmdRZ2tqMER4MEs5amc1VHAzU0psbm9obGhVMUMvQ21hbjE3K0FKT1BwUTlkaUVEU0NOd0tLcGdqOUw1SUFnTExTbUdkWVovNytzU0s5cnc1VUJnNlBBWGVFWUhVRUZqeEZkTE5vSzlWYWdWR2JuUHZzbXZ2QVN4RU9Jak1zK0FkRVVnS2dZby81czliSGVZU2tTeGVKOFMzaEdreTFBb0txYlVZOUNBQ1NTTFE4c200VFBhTVNyYUlyekg0b1J1RS9NQ0k5amJ2UW9vZE14VDlpRURpQ0FTVHJKNDFrNm9vSnF5Y1kvNVZmUTdVaGYzRXhjTUtFQUVEZ2RXQWRoWFpwYklFQmNWS0FGTXhhd3RDYlh2ZXBlRWF4YU1YRVlnYmdZVmdrdFczS0Z0VDFGZVlpakVqcnFoKy9aU2FERjRVZm5RZ0Fpa2gwQXNtV1MyTHN0SXM2M2tydGdyUWU4R0RTZGtrZTJsU2FoaFdjMTRSS0FSY0xabVVWYzJ5SHRobE93WUFwU01QSm1XNEw4YUFCYjNKSTlBSTlnblV6ZW1YYXBZRmJwcXE3Q3FzMWNMNm1HdFJMSG1ac1lhTGpNQTZZNTNWamFwbVdkaldkZE1BNlNuYXZ4S0NXN2tNWE5DYk9BSkxiSktsckJzRWRTcG0yVlZDZnNzVXBMZ0RJVFhGRG1ZbVFEOGlrQXdDM2NBc0MyUDhpVjZCTk12bWl1U1pZejNTV3h6UWtLS3kybUFrUUM4aWtCQUN4V0NmTjFCMlI2OUJtR1cvVmlMUG1DdGozb3F2MjhLS3JjbGx2UkQwSVFKeEk4QjdWMWplMnRmTGhrSC9CbHd2dTB3R2pyZHVXN3MwZGR2U2dQVXkwSWNJeEk0QTJBVTZ0RkNnN2gyOWNDS3V1NS9SWThDM0VleEk2T0pXTGdzYURFZ1lnUlgyWWdGUVZ0K3FKYzJ5WDIyUmUrYnd2eHhza3VuaFZxNkVudzhXYnlIUTVtWXFlR3RHaTFUTXN2bVNaWlV0N1B1SndhcXdvK1ZDRHlLUU5BSjF2bjVWTjk3alVzMnk0RDdSQk1teHRUQ0kyTmNpMElNSUpJd0FEUDlzWTB2Sm1Fa3BabGtQNW1iNnd1d1NXL1NDclZ5R0JweXd2Rmo4aFVkZ1FYU1RCVUtPVkRpa1dSWkNpMFlYM0grVXZubDcrL1pYQk9QVnJPaEdCSkpEb0NwV1lpdUVYRkhyRVdaWkd0algxOGFnMXhVWGJ1VlNVVU4zNGdpMHhmSVZLQUs3YW5VbDFZSUFmTjVXSXFGdkZwZXVNU2lKMElrSUpJRkFSYnpTdGFaM3BMRGpSZEZTZ2JKSFN2VnQzaCtEYVF5M2NpbkFvRE41Qk9hdW5iQks4cVYzcTlYQmRzTjk2WWZPK0VUNjhzeGVBQ0VOYmlPVHNlaENCREpCQU02SFVWU0JsdFlGTDBnTExtN2x5dVRwWUtVT0JFQmRMY3RnT094YmVyd20xd3R3SzVlQ0Nqb3pSZ0JtWTFJQzZIS0RCVm8vS044b2k2ZytidVVTV0tBald3UzY2dWJ0cW1ZQW01ZDZnZGMwRmlDeUZScHJ2OGdJOUJWVFFMNU8xS05rbWdjU21LNnc2OG93ZENFQ1dTQ2dtbVdmMEhaNTVkU2o0MEIvVUdacFdRaUtkU0lDQVFMS1N1eGlnd3c2RXBjbjFaa1luRyt3STZQUWhRaGtoZ0M4b01qTkFvc2xRbDRqQlZsc3NPUHEvU0E0bFl1bmswblFoUWlralVEK0hkOGg1RDMreHBkM1BBYUs3SWVrQUYrdUVmSlo3czAvQUhSKytxRmo3c2M3SXBBTkFyQjJxMTJ2bDJLQVVRc3VkandYTE5mNmw2b3B5S1RvUWdSU1F3QjJ3Y3JyMm12TFNzWDl3Y09YSHlHUEJpRzV4dURhdzVldVhzZmpOeFNFMElrSUlBS0lBQ0tBQ0NBQ2lBQWlnQWdnQW9nQUlvQUlJQUtJQUNLQUNDQUNpQUFpZ0FnZ0FvZ0FJb0FJSUFLSUFDS0FDQ0FDaUFBaWdBZ2dBb2dBSW9BSUlBS0lBQ0tBQ0NBQ2lBQWlnQWdnQW9nQUlvQUlJQUtJQUNLQUNDQUNpQUFpZ0FnZ0FvZ0FJb0FJSUFLSUFDS0FDQ0FDaU1BMElMRGVTTy9VdVBwdlQwT0xVWVlaUjZDZ2Z4d3MwZGFVMUsvZ0pGb1RGbjUrRVpoVGo2TlB1cGxMeWtIaVNkZUY1WjlYQkFycXg4Q1NiaVNjZDMrVWRCMVkvamxIWUkzY1RmTXMyYWVJOGlHUmN3NHROaThaQkZya3c4a1U3QzQxMThCVDdkM0lZR2hFQk5iSVlDOWkwbmlTZGJHYmpRZklDMXRLbjZUOEpmdEYvTjdOaFNWYkxBMkhUMzRjeGxKUTlFS2E1UG5vaVRFbEltQWdVRkcvQ21yRXhlQjkvS04ySVhQcC8wdHNJVEJrVmhISUpmdUpyMFh5ZlFjeUpmNHBFVWNjQmlFQ3d4RjRpcWdmL0JxZWR2ellmTXRKV2FnMFRiUGErSEpqamlsR29KVGs1Q3NQSHhwejliSWJKTVVWNGlrR0gwV2JBQUZRSzI5T2tDMWFsbDh1d1ZlYlhKVDEycmhxR3cxQ1RHVWhVQ0ZKZmQ3cnNVL1YvYytNT1NtN1FFalprZ1VERUlIUkNPUWJpWDJzdGdXRS9jZ3ZodlN5TU9sakg4WWJMU09tUUFRVUJKYVM2KzArZmZWOS84NkQ4cDI5TEdnR3p5cGlvQk1SaUlwQVB6RzlJSkFnbExLZ0dTU25RMGR0UGFhYlBRUVNINTlES1FzYUNmdks4K3loaGhKbmlBQXdLdG0rTHBTeW9CbmN6YkRoV1BXc0l0QlBtamZobEYxTyt0OHlxODhFNVI2R0FPZ0ZDWS9PNFpTRjdWd3ZEcE1ONHhBQkJ3SkFxRzFIY0l4QjRaVDFTZ25QL0dKc0JSWTFOUWcweVNCaFdZWlF0cHFjZlMzaFJtSHgyU0hRU0h6ZjZoREtycEhFVmpHeVF4UnJUaFlCMkY5d2tHd040VXNKbmdkbUx0em9uVEQ4NTY3NFh2S1Q5aUc5ck5kUFhDMDVkMC9zd2plb21EeG5obEYySmZISjM0Vi93dWNOQU5pMG12aklQSXl5bTJqbU9tK1VTcm85c014L2tIUWR3eWpyTmRETWxUVCs1Nno4TGtuK1FMZWhsQzBRc25mT01NWG1KSXBBS1hsVmRwakZ3UE5nK25lVWFBdXg4UE9GQUtpeVAwaThSVU43V2JETTRwcHQ0by9nSEZVd1Q4aWR4SnN6bExLd3hRRVBsRXY4RVV4RkJWWEhhUmJqQ3dZTHBrZmo1eG96eDFES2VpVkNqc2NzRUpQUEpBSXQ5N3NwWTdZRjNzM3FqSmxsL09UREtWdEpZUUk0dnN5WUkzWUU4cG9HK0wvV1AxQ2VxQXFTNkprYlRLVGhsSVU5c3djVHlZNlpaZ3VCZGZWNDFyZVNEOVFuZXExN1BZM1oxM0NMZ1FlTENiRU1HTFAxL002M3RQbGEyVzdnc2pLZ3o1SGY5dVltT25rRmVyZ1VwdXZEZTlrOFNmcXRDQnM5REVrV2diZTZqUDFkNVJDdElqM2JxamJKdWl2b2tidkpDazlMSDA1WkQrWmZuZVNGd0JyU1ErRDNuTk9Ub21Ub3ZIOWtmSE9TamRyQWxuTHlMUmxCMlhZYVZvdmtXNGsxQkFqYytybFBFeGRsODRvNXRlaDNVcjBKWHBPRk1Ya1Nvby83Y0VaUWRndm5YK01pT3NYcHdkSlAzdStpN0tZMHA2NEg2MWNyRTN3RENXWmZUNmZRK2hHVWhVYmkvQ3VGeDVCT0ZmUFgzLzlkV0ZNOXNXcFRabC9WNEZXVUphWGZ0WktIQkFDWDB2aEN3Z2pLd211MmVNNVJ5Qk9heldBblpTdnl5SXA2b0k0dVRNQythanBEOGdqS3d2NURYUCthVFc2R1NPMmtySng5OGU5NExrd3d1aGJTbWZpTW9td3IrWGQ1UXJERjRFUVFjRkZXbVgzMUdGV1hKdGlTVlUvbkN4dWpLTnNrRStqaGlXQ05oY2FDZ0l1eXl1eXJ4ZDZxWGhsL0pnV2JxRWdzSW80b1pCUmx3V1NRd29MR0NDRXhPajRFWEpSZEVUdjVnWFluZmwxYjQ3K1FBa3VscWN4N1JsRVc0cVdWT1Q3Z3NLU3NFSEJSVnM2K3dFSzA1MHZXRzMvYmFWcFVHVVhadFA0NldUM0JDMWV2aTdJbFljanM4UVg2N3ZpS1FTL3hBK1NDaHpXS3N0RENWQlNVQzBlZHJCcnNvR3hlYnRmcjh6RzFQLzcwcTUzUzZVS2pLRXV0WElkWndZdjF4bytBZzdKejhxekNPajlwc3ppK2thdVUwckVYSXlsYlRNZllGdit6d1JLZENEZ29LMmRmRUhrUTVLcVQ3em16RHdtRThiZzhKRHEycUpHVVRhdTdqNjFGV05CUUJCeVViWXFKUHJ5ZmV1VG5oaDB1NHhxS29PQjBWcDFHVXJZM3Z2QkRJY1BJYkJGd1VGYk92bUNQZHFBRndrTDl3Wmh5d2tSZDJYUTdadVp4a28ra0xMUkN6Q2ZIS1JqVFRpY0NObVZ6a3AzUVA0bHJaMHo1Z1VrVHZYMHpaalVqdDNoN0hsanE4TVh3c1dHZDNndzJaWlhaVjFNUWR2eDFlbGgwZWo2VlpzTi9ZM2hGcWZYM3FUUVhLN0VwdXlKVjBBSzVkOXUvcXNUZjZEME9YSlYwdGg1Nkhvejd3NCtrZ1NiS0pvM1RCRXc3bFFqWWxKV3pMNi9HbGNBSnZuaFFTT09rR0FvcGRPY2p4bjJnTEJwbXA1SjlFd2xsVTdZbXpWbGkvYW80L3VKWEthVU5WQnRRRWZuem9XMnZjOFBIMEZRWU9UVUlyTUlUTTY3VFlPTUFGZEdpckRMNzhvU2RZSUpQYXpaU1dFbjR5a3MvK1Rxb0I2NFB2T3pHZngyS2VER2xkYmhRQVRCaVBBVG9HMTdtZFNLS3NDaTdKbCtzQVd2c3JwOFFFdTJMSE5FY2RPdGg0cU54VDIyWHNDWmJBcmJSTUd0aE10VUJHL2RmTmEvM0h3dUpMY29xc3krSTIvWVR3bmRsYnZxT2pkZTVybDFSbW5Tc0FwdjJwRGNaVjI5dzdlRkx3WFgxZWpobHUyVDh0YnRrQk1aU1kwREFvbXhiV2xOaEFlSFFyMktadjkwTklZN0x0VEFHTEorYS9WTmJvMndLTWVDSVJhU0dnRVZaWmZZRlBXWEhGNlRLelVnYlZ4OWhsTDFHZTI3bWNiMUhDOWJTWVl0Zkc5Y1Q3NElsaEdBR0cyRlRrR25STmZVSW1KVGRVTDVIQ0gxcVFLeVdYQkR6OHY4YkplMU4xckMzL3dsNFhNdWgwTFBKN3RwR29aSzhvaXNyaFkrTXlGZUdaVEM2WmhNQms3TEs3SXRhRTQ3OVZrbUtVaStRVkdIQTc3dEgzZDdRY3pmK2xxc2NxWUEyVFVwS0tnMCszNVdZbE4xU0ZvckFZdUEzZmxNZjQrdDZCOXB5anJvVmQrY2JnUG5OUnFxVWhXTnJsRmFkNytkNUFWcG5VbGFaZmRIKzFFZWdwNSs3VWRNcHUrWjhLN0Vkdmw2Yit6ZEFvVFFWQXpwcExGK0FaM2xCbW1oU3RxN09wV3BCNTlTU3BscUtTa21uckZkM3piTmFJZXUxcXpmdXA0Uk5sYkxVUm54eVFaN25CV2ltUVZsMTl1WEJWNHZwOUd0RFZWM0JYeklvVzNGWnM2QXJQbkRCQjd2R3llQWxFSHZvaWswb0RPbzhTcWhvTERaMUJHRFFQRkVxWFJPMkFCcFk5WDNML2dtek1wRkoyU1dYb3RnSVdUQmJ1L2J3bjNaZ3YwMnFsSzJIQ0NQYmhLN1pRUUEyays0bzB2WTAraTM0blpOL2pMZVN4cVRzcG10akluUnNhcmxLZHVwTW1iSWc4WUVoQVhwbkU0SGJ0LzZpQUtQOEh6eDBtOHZmMW16dU9mckcxNXJSeVZxS1FjN1JZMUwxY1pzWGF0OVRwbXdMTnhuWXoyQW1RNVRsMXhQV0FHMzJCY3JzczE2K2RqY3d6b29tUXArbHJ4STBlRzZSaEpwME5ZVkR4dml1bENuYkR6ZGZHSUtoZDdvUldDU0Q2MWNmdm56MWVvUFRhOFBZc2JWT2ZxUE80MFJiTE1vV2owUWNkOUJkTVVNbVdDbFR0am5NU014Rnh2dE1JakN2emI2Z0NiOVUvOWgvTmx0aVViYS9heWFobjl0eWFiZzhYY3FVcll4NlBZekxoZmVaUTZEbnNsZVpyYkFvVzdsaUpvRVBoZkg5Q1ZZVURVaVpzdFdocThkT0NURndSaERvYTdPdkVLRXR5bGJ2V0NucHZuSXJVQWFrVE5rZWJ1V1MySjh6bHpIN2NyZk9vdXlXdldGMmFmZ0hsRkttN0ZaS1I5MjY4Y0xRQkJGWU5HWmY3cW9zeXE2b2k3eEJIdGlpNmxyRzVRV21UMWxsN3hrWEF1L25BSUg1WWJOODBUNkxzaUpHT3FCZkcwYVNsQ2tMZjZDQmxBMWQ1d2lCWHFRSEc0V3l2ZUZEY2NxVUJUVmxtR1o5anA3Z2pEVWw5eU1OZURUS2RWb2Vzd1g5U0Y5RExKbExDWTVhcXNQVHBFeFplQzFCVzRoMkNJeEJHU0NRTHlwc0Rad0hZNHJSZUM1S2h0SndPdnBGVkliUDBWT21MTFZmN0VWcEdxWkpGWUVITGNhTyt4SFB4V2pmb285QzJlWndTMmpLbEtVN0hzdXBQZ3lzTEFJQ3lvWUJ3ZDN0Q1BtVUpBdVJabC9XdGhpbEJPRnN1OThJNC9FcFU1YXV4UjN5dXZFK0xRaDBZVlo4OWRKbFFrK2lxQTM4OHloZU5hWnMwV1pmVVNuNy9KRGFrYkpEd0pucHFHKzhPZXg2aTltdWZJTzhFZFMxZGQrMHREU01MbVpPNlc5SG1uMUZvbXgvK0VhVWxDbEwzMWU4S2R1SnJzUVFBQnFHWGlkR3JVdmtnelJrd1dmZGxtM2JONUk3dlJWN0ZjdVZyaFJoK2dXVWxRY28yb1VnWlcxTXprV0lTejNsSE40MVdnZzdXK20xNVJPbGU4ZUlqZWJOSDBkS0Y0V3loYW1qN0Vta3RtR2lNeUx3U2s1UTYyNmFYSE5zc2wveHlkbytPR1BGUTdOSHBPeXduajdsWHBidTNqMFoyaWFNVEIyQkJiYWkzOXFuVlJmTlBqaFdlYUpRdGpYOFBZQU1LTHNkS3daWTJKa1JxTEJGZ0liL1pPcUpQcC9ab3l6VnNCS0Y1TXpQN3dJV1VEejBHNzBSV015VG5SNUhvV3h4cW5wWlN0bWpDOGlLcVc3eXJVQzZPWC8zeDJLeWR2T0lsQjIyK0p1eVlvQ1VuVjd5cnZobTJjMWtWeWVqVUJiU1RFVFpCOXlHNkg5NGJHRytCVDJuZGQyeGt2a0I5SDNmSFhjVWhtYU1RTVUzeTg0UGUxUHc3QktXSXRobEljMGtsSVdOcmU3TE52SWlaYy8rSktlaGhKYi9hSmVUM2JZRWROVFBNWEMwSEViK1NTanI1Q0Vsc2YweE9tZlNJYjNzcmtOS0RNb2VnV0R2bG41S1VleFNSYUVzcEptRXNuTjFvS2ZqR3J6SGFzVzRsTjJ4U3NDQUtVQmdOWGgzeTNrVVlYemlsU0wwc3BCbUVzckdKNlJXRXVxeUdoelQ1RmtJckkvOVpOOGFpVUxaNGxRWnVTaGxqNmJwUWFFc0hJRmVZQ3BvVFVSWmUxTE9pelh1czBkWk5ISVpqM0I2dklXQXE2VkpLUHU0NjdzeXpxWkZvV3hycW5wWlhQMXlQc2drQWpmY1Zrb0l0ZmJMK3RVM2doZXg2OGE3ZVkvRHVNaXZhKzg4ZEV2YUdHa0Y0UGxLRVhSWm9LeHRsK0lGcEg3QUVWSldRcCtzYTV6OXNsU1NkZlk5Yi9NRXR3cm5hM0QvbkV2cXRhSG5EbWc1b2xDMk1GV1V4WjFjMmdOTTBFTTdoN0RMWldaY1lqMmI5VzdlcmIrQ0YxNGZ1ZzNYclRmVjNSdjB1OUVQcHloRjZHVUxVL1ZXQXFYc3pRUWZGQll0RUlpK1g5YlAwZzNNc3ZDNXJoTlJST0NBb0Rzc0NGN2RjNzB2QTB3K05qS0ZlV2VQc3ZnaVRkaXp6RHE4R096ekJuN3VHS0pBZjczUGcvcXV0MDNwNFpvZG5tTEVQUXBsb1pKaDA3bWFTNFlSMVo0aG1sTDI4QXo1TVd0Q0NQRGVGYjVUc0c5VUFZemM1a0d3am4vQTNlTGVIZU9oUnFUc3NGY21VNllzdmhRdUh2UjBPWUNYSFNxUm9nVndBZUZRcWpKM1E1ZGpUK1pyQllYVVBHWElQUXBsMjhQUHpVNlpzblFNRWUwUGFSVUdaNERBQ3B0QkFXVk5UbTRweDZqQlVwQzF5V1R6THFUWWlTaHpGTW8yM1JvenJ5Rmx5dUpwTVJ6NEtidTMrUVlyK3p5c2ltTENBcjNCbW45Vm53TjFZVDlpZTZKUXRtdkxvSllPbEwycCtoTjI0NWxjQ1FNOGFmRjFQdU9wV3dhcmdzSlNtSXBaYW1adEc1N3FRY1NLZ1cvQkcraEQwbGVIRzhMcXRsRmpTR0ZuanNLVEQ4OE1ZU0lGQUJWZkRBcUdickNqVjFGVFZBVlE3TXhOVnV1bjlIc2NMTGVlMCtGckREK2gyOCt4Tlp6V0pOMXRLcURLVDdLRzdXZzdCc1dKQUhRbCswRjVCWXNRMGl6cmVTc2luYWk5OXdLc25KRVhoSCtvNDIvaCtaTy9PelFKSEFFeWxOWmZoQktlajJvR0hsRlRsR2pRZW9ZZGd4K2xDRXlUQUFKVm9SOVdDTG1pVmFDYVplSHozMllmN0pXTzZPY1FoeGxTV1hHNWwzN3lKeWxqQ2ZuTm43anhRM3RhSlpvSFNPSStFVHovUXpmdSt5bS9oTk9mZVBVblVsSm80Vjg2N0JoOFRYTDBwSWRBV3d4KzBNWHRhdlhDcUwvTkE0Q2JwaXE3Q3V3Q000TTFLZU5aNUIyNHIxeGxHV0c2UW9kaXFFZTVkREhOUW1MekF5Q1JOLzNFVmlrV05CS0JpckJkZ1UybnJDVlh6YktQaTg1WUpIbUs5cStSbnVvaXVmNndmdzdvcFV0WHJ4dVZpT0tvSS9TN1gzbHkvU29yNGZJampaZ291L3FLd1R1MTZnMVBMOUwvMGNpRTNzUVJtTHQyd3VySWw5NnQxd2E5REErQUhTSy94ZDM4WHR3QlZ5M1dzWk5hUW85NStVbmYxeHVrVG41N1NDMWRoeWw2U0hLTXloNEJhWmJORmNrekpwVVdCelNrS0drZGc4QjBpYlFUUXpsUmlzalZCemU5NWpCRGJ6T1NvaDZsTGt5VEVnTENMUHUxRW5sbXo2eDB4ZGR0QzdGMmkzUWpTdG1zS0NGL2sveTA1eTBxWmp5cm5uWmtjNGlWRlFPeVFRQUcvUnR3dmV3eUdUZ09vMi90VXFuZ3NYYmlrNDdPMDI3R1Y5eXdramFEaFkyYTIwTGg1eXpZcHVoaEpXSmM5Z2dBZjloMTl6T1dOQnZCUVIyZzd4MWFjUk1Id0txd05GSk1YRXFrakgzeUtFM1hIdklYQWFYblRxU3lNTkdVSUNETnNsOXRrWHZIaGxUTHdTYVpYcndjQThydUdoVWw0d1VWcEVOTDdnNVpjQzRoWlpNQlA3RlNGYk5zdm1SWlpRdjdmc1ZiMGJkeVJSRzBaaTVuUk1rMFNScHUyOXNhc25wWHR4ZjhKcWtLODZTR2dHcVdCZmVKVm5HT3FiQVFzYTlGbk0yVDFsZ01yM1JlOFNWZElmZENKWVl1ZnljMEVpT21FQUhvUUlWVW9HUitYM2lvWTRrdGVvSHhQMDU5cng5OW00MG16cmdlMkZsUjl2TXNoMjhqb0lyMXliZ0ZZL29zRVpCbVdaQ2lhQ3orOXgrbGI5N2V2djJWZURsV1NjbXUxT1JMc1RCS2hHRk1YN0E5REl2RThHbEVRSmhscVhEUS9aVVZJV2tQeEsrSVc3bVUzT0hPcXRtYmh5YzlTd3pvQld3bkpWQzJFMUlTWGRmWUM0bkQ0S2xFb0tTYTJhSDcyMWFraElGVlhMckdvQ1Nhd0xtVnpySStxRE83Z1hSQTJac2hja0tpMEI0NEpBc0daNHVBcHFVQ1pZOFVjZHBYbUNmYVZpNGw1M0FuN0Q1TVkvTlVVL1N0VU9GSmlFakFadHd1RzRMTmRBYkRkc045S1ZsYmU3UjVPWm8yWXVVWTlHeHBiRkZ0aUhkNmdMTHE2Q0ViN084M0Q3Y21xQW5SUFNVSWdDcW5QTXlXcHNzdXlHY1o3MVl1cWo4bTMzNVlSK0F2RTRNbWNoUlNZYy9lSWh5U0VvT25Bd0ZoQi9MRjBWOFhhSEs5SU82dFhIU1RRU2Z4OXNQckJnZXNFdURsVGtoOW9BdkZPYk1NcVFXRDQwTUEraDlaR1BSK3dRS3RINVJ2bEVWVVA5YXRYUFR0ZzV1aTdLUWNiVG1BZE1WRXpLb01XbmJIQ3NTQUtVYWdxMnFWVlcwaGRWN3FCYkRqTk5adXNSNCtVTWVIRlZTeXgwb0Q4WGRDQ2k1cXlueElJZ3llSWdUNnlsdGRlZVVoZzRqTkF5a25kRk54ZG91dEZIZ0Nhd1JpamxjSS80czB3cU5rODlFMVJRaW9adGtuNUh3RkpNeXBpMEpiY3BDTlEzam85UklmamNGS0lMU2NVcWo0NmVnb2NXQ0daVEFFbEpYWXhRWVpkQ1F3VDZyYm9tRXFzeU9qenV6cXBURG5nWUZCekt1SVpyeFR4YWZydGNkcUFMcW5IQUY0WWxlWWlJdlFGYjFHaXJ2WVVDM3MwR1h4ZERMSjVDNG96bjlCWi9JU1J1Y3NTSU1CWFhnK2RPZUF2WmRxTzkySk1IUnFFTWkvNHp1RXZNZmYrUEtPeCtxRWZFaEs5dVVhSVovbDN2d0RRT2VuSDRxdk40SjNiSlc1SGE4bTNqc29xVHVzUlBxeVdjZGRPaXgrSlM2SnUyWU1uUUFCK25LMmVyMWVsdEgzdzltbUVuNGlocW9weUtTVHVLQnpUN3B2ZzJVOTBiTU9lUXQ5SzUwZE9wT0FoSGxzQk9pT0VIRmRlMjFaU2RFZlBIejVrZUM5S1ppSU5RYlhIb2JqTk9MYkYwRC9CUEgxMllyYzBxblNkTWcrZ3E2aXpNdk02RUlFVEFUcThSck56T0xCRHhOR1llT0NyalRzNzlhT1YwbDNDSUpCNXdPQmxsUTBFMnBRUmRuZ0NGMXAyR3l2R0dyK1NrZ3VMSFpHRVdqSzZYeENMU2hBTC9zeWR0VVVlNWRSSGRFMkFobVI2RVVFQkFKYjRTUVNhYzdtQUpxcTF4MTNhYkJCSjc1SnBic0tERDBmQ01BR01yRTBsVXlMVkw2Q2U5OWRDMHpTd3JSY2R3WU12YWdJZ0tWVVRJNFN3WURhdUU1WXlYU3Y0N2E3RmxqVCtMNDdCa01SQVEwQmF1WFNBdUwycUtzSHNNSWw5blFaOVZUUnhtVWdndDR3QkVEVkxJZkZ4Ukd1dm9VSVhXbll3a1UvZkNOdEhGSmdHZWNJZ1hiQ2UvNkFwa0x6NklVcnp2RFBPVHhIcUdKVEVrUUFhSFNRWVBIMHF6Zmk4dzd3OXpDL0RNV3FUbHcvU2JLSldIYTZDTURBbmVpOHA2cnMvUzJHR2d4Z3J3TWFETko5OExOYlc5SmtxU2p6cWtibzZqRFkydmhMdUxNTEpVcWVFZ0xBb3lRM3hqU2w0a0h0WFNGVjlXU3FsSnFOMWN3dUFxM1FyaStXTnJXbEtRQ1dDOEsyeFBaRERiYXhDSUdGbkNzRXFxRUtaaXpOVk1nSWU3cGVEQ216SHRyL2htVEE0QXVNQUtpUklkUDRXRUFweUU2OEVtcFBBNVVCWjEreHdIMGhDb0g1VjVLN0RJQ3laWVpqTVhUdEMxUUduSDFkQ0xiRjA4aEc2SkpVSE9XRFlyQVhsQU8yMTdDdWRBdjNkOGVCOVlVcEEwaFZUcTZ4VURvckhIWVloR2tnYmFrOUpDY0psbnh1RU9qSk9YMENiV29LeXNMczZ5aWtnaHB1bGcxQkJvTmRDRUR2SjQ3R2NNV2ZMYXdyS05zUDVTVWNiNUNrT24yMkJtRHU2VU5naUk0Wmc3RFFoN05TR3FGVExGZzBQb2loS2l6aXdpRFFTdElvQ3VwQUFDUWNRSG9VQW1rVkZ4SkNrTUZnTndMUUVSNjVZMklJQmJOdnNFamJJNE9RMVZyNFpGVFlRbTRNQW1BUjV4QUJzSXFHclVxZHZiWFF1UVpHcm1Lb1hnQ3FyTmlmZVBZS3NZUUxnQUFvczhuTmZvQ1BIWW9oTEhDZDBMdmpTdlF2NDZnUGcyWWZnZkM1ZkF4dHF3Vm5PRDhWdW83Z2dXSnlFa05GV01RRlFnQ21TTnVKTmJjWmZLYXV4TDlXWjFmVVNuVDV6YTRQUTJZZkFYZ0xOamxsZHNrL0ozd3R2Sk1GdlFRM0dNdytpVkp1UVQyY1VHZVdaTU5YbEZ2aC9UaW9zcnRucmdVTHVHQUl3QkpWSjdFbVYwQ1pmU3Y1N2REeXdTb2IyQlJDVTJBRUltQWlBQjNkdmhrV20zK3hQcWlUZThlaDVaVkkyTHNLb1ZrdzRzSWpBRitmVC9BMTIvWDdUOThZemxqWXIzdmx3ajhBQkdCc0JKclpUZHFmU25UdjQ5aElZSVlaUVFDV1ZVOHlFcldGZWtGR3lNOTJ0YUFaaEcyL1RyaGhzQ3FHZWtIQ0dKL1A0cHZ5NUt4MEd3aG5kcFhUclJGck94OElnTTNnSkpPV3FOL3V6VVFBckhSV0VhaG5veG1BWHJBL3E1Q2gzTmtpME0zR1pyQWN2b3MyV3p5dzlxbEhBUFlaYkdjZ1pQZ3UyZ3lFd1NwbkM0RldGcHRUNEk5eU1sc3dvYlRUZ3dCOHJITXZkV202NU5uVTY4UUt6d3NDWUpwTjMwQmF4OG5YZWVGUEZ1M29KcmdETWFROUMrVDBPQ1FLZ3hHQmtRakFWN2xPUmlhS04wR0xmRFRlQXJHMGk0VkFNOG50WEM0bzRlM2JqaXNjd3hDQmFBakE5TDBjTFdWTXFacFpHQ2xpa2gyTG1Rb0Ura2tlem1XM0VEU1JRenNVUXhDQjZBaXNrMEdhZHE0dWRyTFJudzJtZENQUVRuTTZCTnNMeW00eE1CUVJpSXJBYXByZDdPUFl5VVo5THBndUhJRktpc3NKalVFblhCQ01RUVNpSWJCeDMxRzBoREdrK3RTUFQxYkkvdy9WU2ZLTzhCTFZKQUFBQUFCSlJVNUVya0pnZ2c9PSIKfQo="/>
    </extobj>
    <extobj name="334E55B0-647D-440b-865C-3EC943EB4CBC-94">
      <extobjdata type="334E55B0-647D-440b-865C-3EC943EB4CBC" data="ewoJIkltZ1NldHRpbmdKc29uIiA6ICJ7XCJkcGlcIjpcIjYwMFwiLFwiZm9ybWF0XCI6XCJQTkdcIixcInRyYW5zcGFyZW50XCI6dHJ1ZSxcImF1dG9cIjpmYWxzZX0iLAoJIkxhdGV4IiA6ICJYRnNnWEhkcFpHVm9ZWFI3VEgxZlpEMWNjM1Z0WDI4Z1RGOXZYSEJwWDN0dlpIMGdYRjA9IiwKCSJMYXRleEltZ0Jhc2U2NCIgOiAiaVZCT1J3MEtHZ29BQUFBTlNVaEVVZ0FBQWlBQUFBQzBCQU1BQUFCZno0cFRBQUFBTUZCTVZFWC8vLzhBQUFBQUFBQUFBQUFBQUFBQUFBQUFBQUFBQUFBQUFBQUFBQUFBQUFBQUFBQUFBQUFBQUFBQUFBQUFBQUF2M2FCN0FBQUFEM1JTVGxNQUVKbG03M1l5emQxRXF5S0p1MVJ0dm9aRkFBQUFDWEJJV1hNQUFBN0VBQUFPeEFHVkt3NGJBQUFPZTBsRVFWUjRBZTFkWFdoa1NSV3Vua3grWnBKTUI4ZFpCL2NoY1JFRUVSSlFRWVNsSTY3dXFtam5ZUldGaFRRSS9vQnJJaXhtRjF3Nm91aUthT2ZCUllZRk93K0xveXZhQVFkODBLV2JBZlZscEFPQ080alF6ZUtEVHlhdTBZbWoyZkxVYjlmOTYzdnEzdHZWTjczM1B1VFdyVHAxem5mT3JWdm4xRTlYQ0RHdTBrTkx4bE9SSk8raC95cXNZRmpnODVUUzd4alBiL1RrbThBZWxQN3NqVzRHcmY4MHR3ZWxIWjJUWldLK0t0bmpiN1VzNWR2enV0U2c5T3lMUFVwUCt2YVY0MnRjd2h0Q1VlN0hjeDBoeFh5TDB2c0haQVp1WndjamtITkZxWW0vLzJNRU1QQXN1NVMreGd6QkRQTS9mRFUwNVF6ZUVJcHlyQjd2cjJBUEVZUE1yMUw2UWJTZWVFS3dPTHYySTJxVUh2ejFqOTU3KzY0Z0VuOVBJa2hkWkw4TXpVTEZaQ1dBL3RYc2hjNEtMZjg1bkhQcHkzK29hcVAwaDlPT3NIU0IwZzhOMkpjZXAvUnRnOGVNVWlXcGFHd0hWWHExSVUyeW5aRm9helpUVmRNZVVCMHNzbUhOSmE3Q2tWQnpONDZPa05LbkJlbS80MGxIUWpGVHA5L3dNWDRmUGQzelphVit2Q0MwZkEzRDZFdThPZDNIa0daUFUxcWwzdzl3L1J1OXZ4VElUSmtodjRRK2hzMDB0MGptRURDaXlUeDlKb1R1aDdRV2twc3FxeTJheUg5UlRLQmJHMVhRSEN2L002RVV6NGZtcHNtY0VnYTVoK1BCUmxick9OSnpTOVVTRnVuZ0ZQZ0JwYS9qS004dDFad3d5SDl3Q3BUcUZObVljUHh5U0NYRDl4TmtYM21aWnQrUDVjd3FtNktKSENKaGRTTURmU1NEM0pNdENvTmdSMjJYNlhnSHZLTzNwd3JmYTBoUnZWR011NUd5M1pBMVJSUDVBRkxhM0RnSHZFaU02Y2g0dUFVelVVZ3U4M1FOU1hsdXllcWlpV0QxN082ZVcwMlJ3TnZDSUxqd25aQ0w0eHJ3RWxLbmp6ejI3WjJkbmVlKytRZzlRMnFYZ0V4T3JaNGlxMDZIZkZ4dWtIcW1QTEZ3a1ZwNXlGWkZFMW54WkVZLzNBZ1V1VUw2eER0ZkVWQ2ZmZWxkbndxZ3lDNURodThwUmltdWtCTEN3cWI3dGV4MEQrVTBMOHhPRDBKTGtabE9rQklDWXdlS2phcVJ5RVBJS3NJaTJ5RkY2Q3czU0FscnpYMDBxS1NFVEJtNFVzV2dicENTWmNDWlZFMThQUlcrNytHckJDamRJQ1ZIMU1rRXhCYllIUzVzK0I2d0JtUTRRZ29lTVZWRERvTWVraWQzR2FRSmRod2hiVkNLbk13S1VkTWlxODViU0pxVkh6ZElTNER6MkVLdnhLUnZGZ1pKSHBVN1FzcWk2bFRPRUdzaHVWVWtlVHpzQ0NsYldldGdsVXBGQjEwQXUvYVRNbkdFbERuM05MNFFyeDV1STBBMFAwZElsOEVnMFNDeUxFa2J2anRDMm5RVGhqRExWc0QyY08wbXRITFREZEt1bXpDRUdVR0c3NmlOQUNGR2M0UzA3aWdNWVJwQ0lNR3Vmb2kyaUt5NkU2U09uTHZRZDR2YkkySDQ3Z2dwaXc2Y2hDSE1KREo4VDdaMjZ3Z3BXeUhvaVBmbjRHOVBOSkZFQWgwaFpjR0JtekNFMlZ1Rzc0bkdUbmlrODcrdkNzT3J2ellieGNwUXlVSFRrQ0prK0k3ZENPQUJoa1phYWlsRDZQdTZoOVBRaDZZYjU2NHdkQVhHUS9Wc2NVY2p2YVh0b0JQSGVEbUEwTVZzaUFJa3czZnNSZ0JWamQyeFNHVXIxTVpnaVk3SmFIaTY3c1M1YXd3cWZLL3BISFFDaTNRTGZ0bngzTTdURkpiZmR1b243Ty9PTDlCQ0NBSHpXYlFud2ZpQkcxSFhDN0dTajBBZ1hMdXhoQUVDcUlWQkNwTzNmendnWklyNzl0bVlMZVVCSVNTSmMxZnp4Vnd6MzUrTm9BaHZqdHpIRzdKVzZhVUxQR0dSem9xZnl5M3lqcUJzUFIyVnhMbUhmYVRLTG9jQlJmd1pEVUc2NXMrUGU4WWkzUlN6dG1YdTJyZU80OWo2eStPYysyZWYrUG5UMy9KWGVsR3BIN2dqSEg1YlZNSnVCTkN5NDVCS3dubTU2TmJrcHFpczYvclJDWStPWllDM0ZFM0wrMERyWmhmTkQwcmtQbDdybWNRWXBFcm1vbVM4dXMxeVdvY3FQL3J1MWJFNVBBd3AzYTNpdXJKb2VZR1NsbWdpSzRHQzRSa3hTRlhscG14NjFRN0xhZkMvTEJWOWVYWHN4b1VoTU1aRVdEbGFYTEFrWWZnZWkxUklhdlg1ZlVhTVIzQjdzMHdkNjNGaENCQnZCSlZLazJPNWoxZUppa1VxQ0I4VXR3VStIcm1FbTNveGRZVG1PM3hUS016OTd5bE1HZDAzUVNoYzIzYnNvTVp3cEI1MkYza1lNbzNEYnVnWWRPNVhQWHdKQVcvbnkwbjlLUGZ4MmcxNTQ1RjZjRFY1R0hLWjFqeTVFUStHamtIbjN2T3htTTErSlZ3R2RuYTdpZUtSZXJSZDVlYWV3MjNRTVhRTU9QY1pmM3NvajJEczEyUmZqT1dDVlR4U2owRkVsTDg4TEtRWTBCczZsZ0hZMHFDRWtBdittTG81Z3BWdzlyWnRHMTQ4VWxPTks2S0hhdnBmcjBrelNCczZOaW4xUmtnaTRoM1F3cUQ3MkhqS0tGa0hnM3pkamxjOFVwUGZvaGp3YitJTVl1Z0l6dDI3U2hLSWRldTIzc0RFRlpWdXd3ajlJS293UEQ4ZXFWbHZXYmlYVlp4QkRCM2hWWG43dGtCb1p6VzVZbUlhbGdZL1krZGoyQTdqT0tTbXdLNndSQTluRUVOSDZuUHVNMzQvQmQ1dXo1VEUwek5SMHlFM1hnalFobWJBNjE0TExZak9qRVhxcVZvVkt4ME5id2ZwSVJrOEdEcXlvSEYzVUFKN1ZyMDlDZzlEbGt3Q2xrNDFIOElZUUNERXd3U1dSbDd4U0UxR1U1SS85YjlmazBpbm9ZOVhPcktGb3hWZEFJbW1NZG41bTd1blB5V3p2azZYRWJNWUtlbzZOTGxGcGJkc2ZhNVk0bG94K1psSVMrOS82dVJyTmFOMFZuNlJnZVo5OVdiMTBkOFpoSDRkV2N6WU44cEpZeEFkUDBudjNhVDdaVitueTRsVHpZZkFXU1ZWVzU4cnRsdEhJWjNwMFVmdjByUGFRSkV0NFJyTk1Rb3ZmSktlUE51Z2Y5S0VBUjNMWUJEVldoalY5R0JrdThBT1dubjVyT25yeWpTdkZJbnJDVFpuRGtFS3l6QS9KdVJsYWt5ZnRvUWVZSkI5RStkYjZmMGFtZS9wL2l1b0k3UmRUNmZSMU8wRmZqM2JCMTcxaHMySXloUStKRjJudUlqYVpCR05GSGF2Zm9SUmRqVjJvbG9HVFAxc0cweXUwSk05ZUZ4UTd6aEV4MDF2R0FLOXBhcC9YWHlGYlYrbnE0clQzR0dYaUszUEpTUWE2VFM5eHh2NUhKVlRROXdUMUJoQ01NeXhnWFNUZm9VL05lVDdDTkd4NTNYdXQ2Z08zQnNpMUFQd0t3YkxUSktnMjVvMW8yaWtYYm03WW1yd0E2aUxWUHlLRVF4aW1INkJ5aFhVaXV3WVFuU2tuakJrcHFyclg1YWZFa3lBOXEzQkQ2K1F3T2NDdzBpa2dQQ0FDNFR2UXlUWTFpMzVZajBmUUVVMW9iWkloT2pJL09ldWhsL3FEczVscUZBeHN3eCtlVWtUWkpPQTN1RFFtbE0wMGkxOWp1T2c0VFZVTDlHUVRZWEpnMGhtUThndGkvNDNSRWUyNTJ0RkVNSGZ4K0dwSTU2Z3JXM3psTEtpeU03aWJ4S2ZLM2FucldqeEJsTFlwYlV1ODdWTEFldko2S0ZuUkdaejJqaGwzb0JDZEN4dGdnbWsxY2d2b2JLdURyRmJuNHU1cUJxZkZKcitsc1Rua21pazhNVW9EWFRMZytoS3ZFNjJQcjZpSUZkMFV5cnozc2F2NDlYYkw5V1pDVDc2MEowN2QyN2ZiTEMwN0RnSVdWYnpobTNUdXl2V3FlNDliWFVzbTZGSUwrcHZldUJqMi9yamFScGRRbFUxRzlMbWNhRmZ4eFlOdVZUZ1hsRTl0dTZJc09qajZHQnAxK2o0NDZoNStWQ2tSenJvaGM3NlVQQ3JxTmRKeWpxUGpaOWtzNEhBaGExMituVjhlNGc5cEo4bXBLY2FSa3Qvb1NqczhVU2IrdTNGMDBxS0dLVHFKY0luc0NKcU5QWEhBZWJmazF6Z085cVF5UzRmamxqcFNKV0hxbnBqWDhreCtRM2VrM2RDS2prclVWTWpaVDh1bFJvdlBLWlVML1dlVVFLZ3NSeklkSThiVE5kRTZBZ2U2cGhYaHU5eVRYSE01TDQxYU1PWjhBT0FBaWxobjRmU09JeDFXMzlIRU5OQVRHdWxJL2l0YmM1VVJ6MWhJaExrd2RqZ05FRzE2Q29hS2N4YzZONGtsSHhRTE9yb21oZ2RnYWJEdVY3UXZqdFVpSFVtL01BanpZOFFnL0lBNllyTVhkVTlSNUFNY2lyNlc0V09aWU52UXVod1FveU9JR2FORTgreE1HUmhsNmV6K05Pejlya3hVcUZQNmdnU2lMUFdoeEVmVVRWSnQ4emZzcFdPSUtiUG1TOHpiM1B4ZUpnZ216SjRONi9iME1mVFFrOGdYaDFiY3UwUG85OVNqaE9pTlFiQ1NrY1FzOGVaODNCL2EzdVlJSnN5OExrYk52UUlXczFSaEovUk5jcjZpeEw5dXAyT3l0cFYxb2R2WnFVRTlHUForbHhRdjZmNmtKWXhUQTB6eTZLU3JZWm5WanF1aWpjSnJuMGRaczJXd2dRa3lNdmE1eklJVFdtSGFUWFpFWVhyRXBYK2JWUDI2MVk2dGtVVTNHSkRnUms5YVJRbEM1blBmRzVXdHRVaUYrVklvRUsvcS9QQ0V6M1JEVXpSMHdOT1lLWGpOQmZ6cTN0TmFDR0x0bU9QY0R5RW5VTHhzYWd5WDM3cHQ3Nk15TWRTZzArRFhlRERrMGdxVm5CZHRJeFZOZUt4MDdGMVVpUFg2UDVsTUV6M2NLZ2NmS0dGejEzQXQ4cTMwRS9BYWtIMVpDME9TS2wrMG1lVFB2cG9jaXNkcCtucFRUYVp2VXBmRVZPNGNlTGl5MjE4N3JKRnErelNqLytFbm16RUE0QTUxVDgzakZPbzdYUzg5dFFwMnpGLzZjWFRUcndvRkVWRmU4aDRjcHR6ekVvUE4wNy9Vb3ZuU2NqVnUvUjc1ckpkOWpwaVVDZ2E4TG5vNzJBKzgzQkZvY2pSdmEwR2pBaE1jNW5QYkNPRU9pYXg4cm1yWjQ3UmpVRWM3Sm5EK2x4WVljNTR4RE1HZldORlFveFhpeVdTQkJVOTZZT3RjZjdvWUN5S2Z1dXdPTFp5L2pTMFJBdyt0NE90WXRPWXNEenpSbWZqYzc4d1dCN0tteHJaNGJId3VmQng2Wm1MN0FEa2pGT3BnUjduWG1tQVFRYjd1bkttU0ZadzhENlgyME9OUjdNU256OCswRTN1b1ZCZHEwTDdVRk5acUJybmtnaTZCV05EWExRS3BZZTVPVEplK29pV043YVNDc3JuenIvS3VnOTJaVDd4T2piTnd3VmpmTzREejc5REdJUDl6Zlpuc2VHZ3hwbDdpOUlQZnk3cXV2SDNkMy95OWszUmRTaVQ3STRUN2VobGc4KzF2QkN6WDZPSFBUb0o0SE10cjZYUmdja0Q1NWFsT2ZBVGEzblF6aDREQzhYdExvc0pabnM0NDY5eFpHY05vRjRmUCtnUklvQmRDclpYWjRSd3hzODZ3YitvUGhnLzZnSkJZWUhDQW9VRkNnc1VGaWdzVUZpZ3NFQmhnY0lDaFFVS0N4UVdLQ3hRV0tDd1FHR0J3Z0tGQlFvTEZCWW9MRkJZb0xCQVlZSENBb1VGQ2dzVUZpZ3NVRmlnc0VCaGdjSUNvN2VBL3p6ZzBVdk10d1QvZWNENVJqdDZkUDd6Z0Vjdk1kOFMvT2NCNXh1dEEzVCs4NEFkaU15MWlNQjV3TGxHNndCY1JaMjIyRllKQjBKekxBSU96WkkvQXBIbkFlY1lxeE5vL3ZPQW5Rak5zeEQvZWNCNXh1b0VtLzg4WUNkQ2N5d0VEaUxjbHZERWVjQTV4dW9FMnVCMFhEaXFjZEovbFlxeGFIbHdPcTQ0RHhoVGFaSnAycjd6Z0NkWlY1UnUvdk9BVVpVbW1jaC9IdkFrNjRyU3pYOGVNS3JTSkJQNXp3T2VaRjFSdXZuUEEwWlZtbVNpd0huQWs2d3NScmZBZWNDWVNoTk40ejhQZUtLVnhTam5QdzhZVTJlaWFRTG5BVSswdGhqbC9PY0JZK3BNTm8zL1BPQnhhL3QvUlVZaWY3Tk5mT0FBQUFBQVNVVk9SSzVDWUlJPSIKfQo="/>
    </extobj>
    <extobj name="334E55B0-647D-440b-865C-3EC943EB4CBC-95">
      <extobjdata type="334E55B0-647D-440b-865C-3EC943EB4CBC" data="ewoJIkltZ1NldHRpbmdKc29uIiA6ICJ7XCJkcGlcIjpcIjYwMFwiLFwiZm9ybWF0XCI6XCJQTkdcIixcInRyYW5zcGFyZW50XCI6dHJ1ZSxcImF1dG9cIjpmYWxzZX0iLAoJIkxhdGV4IiA6ICJYRnNnWEhkcFpHVm9ZWFI3VEgxZlpEMWNjM1Z0WDI4Z1RGOXZYSEJwWDN0dlpIMGdYRjA9IiwKCSJMYXRleEltZ0Jhc2U2NCIgOiAiaVZCT1J3MEtHZ29BQUFBTlNVaEVVZ0FBQWlBQUFBQzBCQU1BQUFCZno0cFRBQUFBTUZCTVZFWC8vLzhBQUFBQUFBQUFBQUFBQUFBQUFBQUFBQUFBQUFBQUFBQUFBQUFBQUFBQUFBQUFBQUFBQUFBQUFBQUFBQUF2M2FCN0FBQUFEM1JTVGxNQUVKbG03M1l5emQxRXF5S0p1MVJ0dm9aRkFBQUFDWEJJV1hNQUFBN0VBQUFPeEFHVkt3NGJBQUFPZTBsRVFWUjRBZTFkWFdoa1NSV3Vua3grWnBKTUI4ZFpCL2NoY1JFRUVSSlFRWVNsSTY3dXFtam5ZUldGaFRRSS9vQnJJaXhtRjF3Nm91aUthT2ZCUllZRk93K0xveXZhQVFkODBLV2JBZlZscEFPQ080alF6ZUtEVHlhdTBZbWoyZkxVYjlmOTYzdnEzdHZWTjczM1B1VFdyVHAxem5mT3JWdm4xRTlYQ0RHdTBrTkx4bE9SSk8raC95cXNZRmpnODVUUzd4alBiL1RrbThBZWxQN3NqVzRHcmY4MHR3ZWxIWjJUWldLK0t0bmpiN1VzNWR2enV0U2c5T3lMUFVwUCt2YVY0MnRjd2h0Q1VlN0hjeDBoeFh5TDB2c0haQVp1WndjamtITkZxWW0vLzJNRU1QQXN1NVMreGd6QkRQTS9mRFUwNVF6ZUVJcHlyQjd2cjJBUEVZUE1yMUw2UWJTZWVFS3dPTHYySTJxVUh2ejFqOTU3KzY0Z0VuOVBJa2hkWkw4TXpVTEZaQ1dBL3RYc2hjNEtMZjg1bkhQcHkzK29hcVAwaDlPT3NIU0IwZzhOMkpjZXAvUnRnOGVNVWlXcGFHd0hWWHExSVUyeW5aRm9helpUVmRNZVVCMHNzbUhOSmE3Q2tWQnpONDZPa05LbkJlbS80MGxIUWpGVHA5L3dNWDRmUGQzelphVit2Q0MwZkEzRDZFdThPZDNIa0daUFUxcWwzdzl3L1J1OXZ4VElUSmtodjRRK2hzMDB0MGptRURDaXlUeDlKb1R1aDdRV2twc3FxeTJheUg5UlRLQmJHMVhRSEN2L002RVV6NGZtcHNtY0VnYTVoK1BCUmxick9OSnpTOVVTRnVuZ0ZQZ0JwYS9qS004dDFad3d5SDl3Q3BUcUZObVljUHh5U0NYRDl4TmtYM21aWnQrUDVjd3FtNktKSENKaGRTTURmU1NEM0pNdENvTmdSMjJYNlhnSHZLTzNwd3JmYTBoUnZWR011NUd5M1pBMVJSUDVBRkxhM0RnSHZFaU02Y2g0dUFVelVVZ3U4M1FOU1hsdXllcWlpV0QxN082ZVcwMlJ3TnZDSUxqd25aQ0w0eHJ3RWxLbmp6ejI3WjJkbmVlKytRZzlRMnFYZ0V4T3JaNGlxMDZIZkZ4dWtIcW1QTEZ3a1ZwNXlGWkZFMW54WkVZLzNBZ1V1VUw2eER0ZkVWQ2ZmZWxkbndxZ3lDNURodThwUmltdWtCTEN3cWI3dGV4MEQrVTBMOHhPRDBKTGtabE9rQklDWXdlS2phcVJ5RVBJS3NJaTJ5RkY2Q3czU0FscnpYMDBxS1NFVEJtNFVzV2dicENTWmNDWlZFMThQUlcrNytHckJDamRJQ1ZIMU1rRXhCYllIUzVzK0I2d0JtUTRRZ29lTVZWRERvTWVraWQzR2FRSmRod2hiVkNLbk13S1VkTWlxODViU0pxVkh6ZElTNER6MkVLdnhLUnZGZ1pKSHBVN1FzcWk2bFRPRUdzaHVWVWtlVHpzQ0NsYldldGdsVXBGQjEwQXUvYVRNbkdFbERuM05MNFFyeDV1STBBMFAwZElsOEVnMFNDeUxFa2J2anRDMm5RVGhqRExWc0QyY08wbXRITFREZEt1bXpDRUdVR0c3NmlOQUNGR2M0UzA3aWdNWVJwQ0lNR3Vmb2kyaUt5NkU2U09uTHZRZDR2YkkySDQ3Z2dwaXc2Y2hDSE1KREo4VDdaMjZ3Z3BXeUhvaVBmbjRHOVBOSkZFQWgwaFpjR0JtekNFMlZ1Rzc0bkdUbmlrODcrdkNzT3J2ellieGNwUXlVSFRrQ0prK0k3ZENPQUJoa1phYWlsRDZQdTZoOVBRaDZZYjU2NHdkQVhHUS9Wc2NVY2p2YVh0b0JQSGVEbUEwTVZzaUFJa3czZnNSZ0JWamQyeFNHVXIxTVpnaVk3SmFIaTY3c1M1YXd3cWZLL3BISFFDaTNRTGZ0bngzTTdURkpiZmR1b243Ty9PTDlCQ0NBSHpXYlFud2ZpQkcxSFhDN0dTajBBZ1hMdXhoQUVDcUlWQkNwTzNmendnWklyNzl0bVlMZVVCSVNTSmMxZnp4Vnd6MzUrTm9BaHZqdHpIRzdKVzZhVUxQR0dSem9xZnl5M3lqcUJzUFIyVnhMbUhmYVRLTG9jQlJmd1pEVUc2NXMrUGU4WWkzUlN6dG1YdTJyZU80OWo2eStPYysyZWYrUG5UMy9KWGVsR3BIN2dqSEg1YlZNSnVCTkN5NDVCS3dubTU2TmJrcHFpczYvclJDWStPWllDM0ZFM0wrMERyWmhmTkQwcmtQbDdybWNRWXBFcm1vbVM4dXMxeVdvY3FQL3J1MWJFNVBBd3AzYTNpdXJKb2VZR1NsbWdpSzRHQzRSa3hTRlhscG14NjFRN0xhZkMvTEJWOWVYWHN4b1VoTU1aRVdEbGFYTEFrWWZnZWkxUklhdlg1ZlVhTVIzQjdzMHdkNjNGaENCQnZCSlZLazJPNWoxZUppa1VxQ0I4VXR3VStIcm1FbTNveGRZVG1PM3hUS016OTd5bE1HZDAzUVNoYzIzYnNvTVp3cEI1MkYza1lNbzNEYnVnWWRPNVhQWHdKQVcvbnkwbjlLUGZ4MmcxNTQ1RjZjRFY1R0hLWjFqeTVFUStHamtIbjN2T3htTTErSlZ3R2RuYTdpZUtSZXJSZDVlYWV3MjNRTVhRTU9QY1pmM3NvajJEczEyUmZqT1dDVlR4U2owRkVsTDg4TEtRWTBCczZsZ0hZMHFDRWtBdittTG81Z3BWdzlyWnRHMTQ4VWxPTks2S0hhdnBmcjBrelNCczZOaW4xUmtnaTRoM1F3cUQ3MkhqS0tGa0hnM3pkamxjOFVwUGZvaGp3YitJTVl1Z0l6dDI3U2hLSWRldTIzc0RFRlpWdXd3ajlJS293UEQ4ZXFWbHZXYmlYVlp4QkRCM2hWWG43dGtCb1p6VzVZbUlhbGdZL1krZGoyQTdqT0tTbXdLNndSQTluRUVOSDZuUHVNMzQvQmQ1dXo1VEUwek5SMHlFM1hnalFobWJBNjE0TExZak9qRVhxcVZvVkt4ME5id2ZwSVJrOEdEcXlvSEYzVUFKN1ZyMDlDZzlEbGt3Q2xrNDFIOElZUUNERXd3U1dSbDd4U0UxR1U1SS85YjlmazBpbm9ZOVhPcktGb3hWZEFJbW1NZG41bTd1blB5V3p2azZYRWJNWUtlbzZOTGxGcGJkc2ZhNVk0bG94K1psSVMrOS82dVJyTmFOMFZuNlJnZVo5OVdiMTBkOFpoSDRkV2N6WU44cEpZeEFkUDBudjNhVDdaVitueTRsVHpZZkFXU1ZWVzU4cnRsdEhJWjNwMFVmdjByUGFRSkV0NFJyTk1Rb3ZmSktlUE51Z2Y5S0VBUjNMWUJEVldoalY5R0JrdThBT1dubjVyT25yeWpTdkZJbnJDVFpuRGtFS3l6QS9KdVJsYWt5ZnRvUWVZSkI5RStkYjZmMGFtZS9wL2l1b0k3UmRUNmZSMU8wRmZqM2JCMTcxaHMySXloUStKRjJudUlqYVpCR05GSGF2Zm9SUmRqVjJvbG9HVFAxc0cweXUwSk05ZUZ4UTd6aEV4MDF2R0FLOXBhcC9YWHlGYlYrbnE0clQzR0dYaUszUEpTUWE2VFM5eHh2NUhKVlRROXdUMUJoQ01NeXhnWFNUZm9VL05lVDdDTkd4NTNYdXQ2Z08zQnNpMUFQd0t3YkxUSktnMjVvMW8yaWtYYm03WW1yd0E2aUxWUHlLRVF4aW1INkJ5aFhVaXV3WVFuU2tuakJrcHFyclg1YWZFa3lBOXEzQkQ2K1F3T2NDdzBpa2dQQ0FDNFR2UXlUWTFpMzVZajBmUUVVMW9iWkloT2pJL09ldWhsL3FEczVscUZBeHN3eCtlVWtUWkpPQTN1RFFtbE0wMGkxOWp1T2c0VFZVTDlHUVRZWEpnMGhtUThndGkvNDNSRWUyNTJ0RkVNSGZ4K0dwSTU2Z3JXM3psTEtpeU03aWJ4S2ZLM2FucldqeEJsTFlwYlV1ODdWTEFldko2S0ZuUkdaejJqaGwzb0JDZEN4dGdnbWsxY2d2b2JLdURyRmJuNHU1cUJxZkZKcitsc1Rua21pazhNVW9EWFRMZytoS3ZFNjJQcjZpSUZkMFV5cnozc2F2NDlYYkw5V1pDVDc2MEowN2QyN2ZiTEMwN0RnSVdWYnpobTNUdXl2V3FlNDliWFVzbTZGSUwrcHZldUJqMi9yamFScGRRbFUxRzlMbWNhRmZ4eFlOdVZUZ1hsRTl0dTZJc09qajZHQnAxK2o0NDZoNStWQ2tSenJvaGM3NlVQQ3JxTmRKeWpxUGpaOWtzNEhBaGExMituVjhlNGc5cEo4bXBLY2FSa3Qvb1NqczhVU2IrdTNGMDBxS0dLVHFKY0luc0NKcU5QWEhBZWJmazF6Z085cVF5UzRmamxqcFNKV0hxbnBqWDhreCtRM2VrM2RDS2prclVWTWpaVDh1bFJvdlBLWlVML1dlVVFLZ3NSeklkSThiVE5kRTZBZ2U2cGhYaHU5eVRYSE01TDQxYU1PWjhBT0FBaWxobjRmU09JeDFXMzlIRU5OQVRHdWxJL2l0YmM1VVJ6MWhJaExrd2RqZ05FRzE2Q29hS2N4YzZONGtsSHhRTE9yb21oZ2RnYWJEdVY3UXZqdFVpSFVtL01BanpZOFFnL0lBNllyTVhkVTlSNUFNY2lyNlc0V09aWU52UXVod1FveU9JR2FORTgreE1HUmhsNmV6K05Pejlya3hVcUZQNmdnU2lMUFdoeEVmVVRWSnQ4emZzcFdPSUtiUG1TOHpiM1B4ZUpnZ216SjRONi9iME1mVFFrOGdYaDFiY3UwUG85OVNqaE9pTlFiQ1NrY1FzOGVaODNCL2EzdVlJSnN5OExrYk52UUlXczFSaEovUk5jcjZpeEw5dXAyT3l0cFYxb2R2WnFVRTlHUForbHhRdjZmNmtKWXhUQTB6eTZLU3JZWm5WanF1aWpjSnJuMGRaczJXd2dRa3lNdmE1eklJVFdtSGFUWFpFWVhyRXBYK2JWUDI2MVk2dGtVVTNHSkRnUms5YVJRbEM1blBmRzVXdHRVaUYrVklvRUsvcS9QQ0V6M1JEVXpSMHdOT1lLWGpOQmZ6cTN0TmFDR0x0bU9QY0R5RW5VTHhzYWd5WDM3cHQ3Nk15TWRTZzArRFhlRERrMGdxVm5CZHRJeFZOZUt4MDdGMVVpUFg2UDVsTUV6M2NLZ2NmS0dGejEzQXQ4cTMwRS9BYWtIMVpDME9TS2wrMG1lVFB2cG9jaXNkcCtucFRUYVp2VXBmRVZPNGNlTGl5MjE4N3JKRnErelNqLytFbm16RUE0QTUxVDgzakZPbzdYUzg5dFFwMnpGLzZjWFRUcndvRkVWRmU4aDRjcHR6ekVvUE4wNy9Vb3ZuU2NqVnUvUjc1ckpkOWpwaVVDZ2E4TG5vNzJBKzgzQkZvY2pSdmEwR2pBaE1jNW5QYkNPRU9pYXg4cm1yWjQ3UmpVRWM3Sm5EK2x4WVljNTR4RE1HZldORlFveFhpeVdTQkJVOTZZT3RjZjdvWUN5S2Z1dXdPTFp5L2pTMFJBdyt0NE90WXRPWXNEenpSbWZqYzc4d1dCN0tteHJaNGJId3VmQng2Wm1MN0FEa2pGT3BnUjduWG1tQVFRYjd1bkttU0ZadzhENlgyME9OUjdNU256OCswRTN1b1ZCZHEwTDdVRk5acUJybmtnaTZCV05EWExRS3BZZTVPVEplK29pV043YVNDc3JuenIvS3VnOTJaVDd4T2piTnd3VmpmTzREejc5REdJUDl6Zlpuc2VHZ3hwbDdpOUlQZnk3cXV2SDNkMy95OWszUmRTaVQ3STRUN2VobGc4KzF2QkN6WDZPSFBUb0o0SE10cjZYUmdja0Q1NWFsT2ZBVGEzblF6aDREQzhYdExvc0pabnM0NDY5eFpHY05vRjRmUCtnUklvQmRDclpYWjRSd3hzODZ3YitvUGhnLzZnSkJZWUhDQW9VRkNnc1VGaWdzVUZpZ3NFQmhnY0lDaFFVS0N4UVdLQ3hRV0tDd1FHR0J3Z0tGQlFvTEZCWW9MRkJZb0xCQVlZSENBb1VGQ2dzVUZpZ3NVRmlnc0VCaGdjSUNvN2VBL3p6ZzBVdk10d1QvZWNENVJqdDZkUDd6Z0Vjdk1kOFMvT2NCNXh1dEEzVCs4NEFkaU15MWlNQjV3TGxHNndCY1JaMjIyRllKQjBKekxBSU96WkkvQXBIbkFlY1lxeE5vL3ZPQW5Rak5zeEQvZWNCNXh1b0VtLzg4WUNkQ2N5d0VEaUxjbHZERWVjQTV4dW9FMnVCMFhEaXFjZEovbFlxeGFIbHdPcTQ0RHhoVGFaSnAycjd6Z0NkWlY1UnUvdk9BVVpVbW1jaC9IdkFrNjRyU3pYOGVNS3JTSkJQNXp3T2VaRjFSdXZuUEEwWlZtbVNpd0huQWs2d3NScmZBZWNDWVNoTk40ejhQZUtLVnhTam5QdzhZVTJlaWFRTG5BVSswdGhqbC9PY0JZK3BNTm8zL1BPQnhhL3QvUlVZaWY3Tk5mT0FBQUFBQVNVVk9SSzVDWUlJPSIKfQo="/>
    </extobj>
    <extobj name="334E55B0-647D-440b-865C-3EC943EB4CBC-96">
      <extobjdata type="334E55B0-647D-440b-865C-3EC943EB4CBC" data="ewoJIkltZ1NldHRpbmdKc29uIiA6ICJ7XCJkcGlcIjpcIjYwMFwiLFwiZm9ybWF0XCI6XCJQTkdcIixcInRyYW5zcGFyZW50XCI6dHJ1ZSxcImF1dG9cIjpmYWxzZX0iLAoJIkxhdGV4IiA6ICJYRnNnUlNoelgyUmNiV2xrWEcxaGRHaHliWHRqYUc5dmMyVjlYQ0JrS1QxY2NHbGZlMjlrZlY1N0xWeG1jbUZqZXpGOWUxeDBhR1YwWVgxOVhHOTJaWEpzYVc1bGUxeEhZVzF0WVgwZ1hGMD0iLAoJIkxhdGV4SW1nQmFzZTY0IiA6ICJpVkJPUncwS0dnb0FBQUFOU1VoRVVnQUFBNFFBQUFCOUJBTUFBQUFJRmJCRUFBQUFNRkJNVkVYLy8vOEFBQUFBQUFBQUFBQUFBQUFBQUFBQUFBQUFBQUFBQUFBQUFBQUFBQUFBQUFBQUFBQUFBQUFBQUFBQUFBQXYzYUI3QUFBQUQzUlNUbE1BaWF1N1JDTE4zZTlVbVdZeUVIWjJiVWZvQUFBQUNYQklXWE1BQUE3RUFBQU94QUdWS3c0YkFBQVl3MGxFUVZSNEFlMWRYWXhreDFXK005TXpzN016UGJNSkpBcVdRNDl3c00yZmVvZ2xHeHhRZHdBUjg1SWVLeWl4RTVJZURGcGJDVkd2UkJKYktGWnZJSGhYTWZnTzhCQVVLZlJpZ2hVVzBLenlBRllRbWhhT0ZKUUk5V0JFTnBiRjlpUkNJUTlCdmRoNHB1M1lMcjc2T2ZWemI5M2JmZnRucHh2MWZlaGJkZXFjVTFYbnF6cDFxdTd0N2lDWVhaTnBnZE9mbnN4MnpWclZyd1Z5dGRmN1paM3hUYUlGRnQ4WnNobUVrNGhNdjIxcU0zWThnN0JmYTAwazM5VUhmdWk1R1lRVENVMkdScTNNSU14Z3JZbGtuVUU0a2JCa2FkUU13aXpXbWtqZUdZUVRDVXVXUnMwZ3pHS3RpZVNkUVRpUnNHUnAxQXpDTE5hYVNONFpoQk1KUzVaR3pTRE1ZcTJKNUoxQk9KR3daR25VRE1JczFwcEkzaG1FRXdsTGxrYk5JTXhpcllua25VRTRrYkJrYWRRTXdpeldta2plR1lRVENVdVdSczBnekdLdGllU2RRVGlSc0dScDFBekNMTmFhU040WmhCTUpTNVpHUGN1T0RyTHd6M2dueXdMekR6N0NHT3MrZkhheW1qVnJUZjhXV0dMZGl3OC9jakhzOWk4eTQ1eFpZR2FCY1ZzQWpqWGhHbmZOTS8wanNrQUNmaUNQcUlLWm1uRmJZQWJodUMwOGR2MHpDTWR1NGxrRk13dk1MREJkRnZoczNDOStuSG9RS1NMeTdENVpGaWhHY0VKV2Y2azNValRhaG4rMlBMQyt0MXdhV1BUR0N5NCtQdTQ2bjNrNGR2MFUxVGxPQ0U5M3Q2bWF6SGQyUGJQSUNRclV0MDZ3OG5GV1hYeDFZTzE1OXRyQXNpY2dlUFgvNlZPQ0JWWWUySnFMN0tXQlpVOUFjREY4OUFScUhYK1Z0ZThQWGtkL0VQN2FyM3pyeVFjL00zZ3R3MHJtdi9KbmI3d3p2QVExcmVQcGUxajN4anQ4MTlzdG84eXpNMVl1WTdJdkNGZkVRdjVLUnRValpOOFREZGlFeGhXMk0wSzlJMUgxakErZ080enFYQ1FNb216WnNCUmVOT25NcWVtQU1CVGR2c0o3VjNnaGN4OUhMTEI2Mi9GYmJaVVZ3c1M1RzJleGVDZC9USXlycTRKZDJSdHI5Y3NORlpEMEJlSGlUVStoQlNjNEM5LzlodHZSZ0cxdXVHVjJhTnZ2eHFkWHc5OTVjN2RwMWZ2Vmh4VW1FaUtWc1RtQ2dNUDh2MXBtOFhPY1NYUkgwTDdKeE9qVTVka1NmVUVJbGY5Mm9oQ2lBU0dUVDhvWDJlRGhkemJUSkhBWEVYbVVmdDh0Zks0R1NDZ2lXZnhjSGJsZGgyTUJsRE1XWlJVWW1tenR5S1N6cC9xRmNQSGtJVlFldEhPY3ZaY2psUGdHZDREdDZOcTFBWWgyZEMwcndQQlE1M2ppRk1xYk51VStOU0k1YlhXNFhVRy9FQVluREdGZWovSlR6bkMyelhKRDBpTDhYN0s4b0toMUdSQnRtdnBQTTNiSjVKQnFvOXdoNUppWmVlMElzOFBZT3pNdEVDSW9WaHZZMVJQMXBQTUNxZGdtWU1tRk1OaGpXNDd0RzR4RkptN05oR1ZGZHVBd1o4ejBEV0Y0a3VGTUVHQmNuMWRkcTV2eG03R3pJMkRmRithZXM2Y2MxOHJYdWsxTC9USTdaK1VDUUdwT3kyVkJRVWVIYTBOYWRsb2doS2NpRXpVaW9ZSmpxekZuOHVILzhCcm1ySVZQMUJpRk1CYzVlcTZ6cU8rb3ZFNU5YUmhxU3hFRTB3SmhtK25BZTFuUFJ6TENqYnZQUzNQUFI1c1FoVENvdldZM0NpdDVCTk9nOVRJeHRJWmJDcWNHd29iWlI2MUhmUkxaNGdiY3E5SVhMRVFCaVVIWWNiWSsvSGpMWFJ5RHFtWW91YkZxNWw1TXl5emNNMEY0M2lRemQzZFlnVDE1cHJJUldlcGlhMkZRMVpPTVY0bVZQTExMQ0tvMFRmTnN5RjNTdEVCWVozWUV0enNzRkFQSzAraXA5bG9MZzFONnFlTlY4VDFIMDYyemRWM2wxNWxZWHQzU0xMa3BnZEJzQzlHNVN0U0FXVG84Rk8rcUdrajdPclpTNm1LT2RGNEhuSnlqRFFnakZUY29aRjJtM1ZLRW9lL3NsRUJvdG9YbzJjYXduZTdiT2xIR2VjWXU4c3ZFVm9vakJ1RzZzdzFzeExhRndmNk9FbTBOT3lDbkJFSnJXOGczWVVPNm5pZ3lmZWRQNFl0TkVzSnRWeVlHWWM1WjRPeHQ0VDlJeWM2bTByQTM3R25UbEVCb2JRdjVtYUpqSDllWVk4MnBHYk1XYTBBTXdrWEhjZGJOdGpDdjJsNDRWQzFsTWtJYXZOMVRBaUVXRStveTM4dEdZNFBCKzU5TnNpSzNjSE94YlUwTXdzQStOTE8zaGVzcUxIdFhVMWFOQjhMWjJoRGpuaElJc1ppb0x2TWUxQzA4WXowYUoyRmZuaThzeDg1VDRoQ0dUZE1RZTF1NDlIMUQ1Nms1Njd6YkxlazNOeVVRWWpHeGVsU003cE90c3JFbU8zSWdWV1BuS1hFSTdYYlkyOEpxNUhXekpkL0Mvdnd0OWU2dk4yMFZLZWxrQ1BOZnVvczk5dGNISkN1UHVYTlBoUmQrT3FMNytWdnJqMFZwUVJDbjVuN2dFZmFKTHdUQlBaZElKNWhDajZndVJtTGx0dkNCTXA5M2RvUzNIejBjc1NYR21lNUk5N2huZTBsUlh6cUUvRGxHVTdXcmNGNGwxRzJEdmV3U2tIc0dmeXRVWjhmbFdJR1hrQWpoU2duMUloWnVLakVCSVI0Mkk2QSszclZWL1IzL0d5UFdmYXROQzRJNDlWOUQ5c0NUZDdISFY4d1Ura1hHTG9UcytOQVZ0WFBYUW5hQnZYaUF4Y1RlS3JlaVo4YTJTSi9weFRlSG9vUDZveCtMTllRdnlEdU5FZldsUTloR0phcForZWlPc2hMdnl4eDc4Zk5COElGNm4zRjNFb1JyTlhiMHZmKzQvenV3bjZ5Y1E3aFkrMVF6V0xFUFNvTGdYZXpvSDRQOEw5amhCZ1RpMUJYMlNoTUYxOEs2M2dlOWg3RTNCZm1uMlRFdjhGN3JqUDFsa0tzL2lzWGtWWXRoUTcva1lCR3pKZk5GalIwbHp2ZlcwQkpJbkk0ZXI4VWZOcm1xS21aYnVLQlA2eFZMSWVaUjhqVnBrUFUrVi93a0NQZllVWmxYY28ycDEwUTRoUGU5d3ZHRVc3akVpOFExcndCNDFnSENReTBjYlNzQmduQ1ZNZkYxaFQyUEs1SEs4eVgyU2FRV2pyQ1lYSmNrOGJsc25iWlo1Q3pKK3dnNGM3ZHJTRkMxSVNCc2RXVlhMS2IwV1ZqUVRtU3hGSDNlWDRxTmh5WDJVYWw1bjQ1UnJZbzh5UVFJMGFSTnlmMk43b0ZJQU1MRmNKY240ZFgwbE1qWGlHL2Zla1BMUTEzVkxTMFNoQjBtUFFYd0VYcGxmZmJuUFNwYXEvKzllOUEvejdvMjJ3QnAzN3VkWjNycldlQkxXcjV1M2tVamtYUUlhOHBpK2E4WFl5MFB6YnFpbEJXVnhZTWxlL0dnbXVMM0JBaHJOTTdYYmxjWUFjSmwxZlNpMmRtK2ovandqcTV4RVI1cVcyOWdseFdFUUc1VHRxZVdjR0FHTys4SURqZ2l4NmxBVkVvTy9Oa1N2Ly96SUR1THE5YmxuMmQvckE5bE9lNS9GandqTGgxQ005T1p0aGZWWnJzMFFjdlJTanNYMmlFYzhjZnZmZ2h4Rm5oTzhqYVkyZ01Cd3M2aHBNR2kyMHBUbmZqd2pxNlpoaDVxUVJ0OVZlSFMwQU9obGJBMWFqSDE5bjMwb0I5TEpEVkF0UU8zL0ZkK0tlbUtNZWREOWc0UVY4VXJITkdkbWxFWlR4VmZRa0R3QjNGNktvVE9sSS9NTEJ4VEhMcnFscFRCZzFLQ1dWejJwS2YyK3pvSXJqTzFVb1hzaFF0S3VLMnJCZFRhUE11TUhJQ1BXamN2dkVnSTBYYUtwdEgvSzlGMkliK20zNTRGWkhvRWNFYk0rREsvTzljM3daUndSY3pHbC9PUGNka0Y0Y2szWG5YMHBHYm11ejljZXVFZ3pwSUs0UnlhZGZmbHk1ZWZ2RE8wMWlDcEJQQkcrdDVTc3dJbDV2bGF2RVpEOGM1Q21GZk5ZWDQwSkEyQTJzbmtHM3J5N3hNZkZDSTYyWkY2UGRTOE5hSktnZzFCMFRuSnpoR2hwS0tJbXprWEJaaU9UMEUrMG04SXdEY2tYWTR3MTkyUmxBMnhNdWduZDZMV0hoOS9FbjU0MjhPU0NxSFpGdVpqOFNlc1ZuYjEwY3R2QUQ1eWtQUDFiOTN5NENkZFpwN3pRb2dHMFlvTnEwamtBQ0haR2UrMWJnbE5BSmhnUlo0eVBpcU1MaVQ0UjJHSGZ6YjBWT2FTcjNKUzVNS0QrZ05KZ2tabkltR0luWWt3QjhFOFdwaHdpU2xuQ1N5cTlsZXVjK0wrZWF0b3dHUXFoQmp5MVB2VHFtWmREWUJxNm94STFObU91TWNHTm5ydE5aUVh3cGFCcTBUdmI4SkFaRFpNRDFrTDZoZEdFRlVHRk9YNHFJRHdVSExCWkVLNFpyVzloQTFMN0lJamtSRnJFQ0RwWXF3am9aaFVYNFFGOWJSZ2I0ZXpGN2Y2RWtwbFNvV3dZcHpJaWpHRDFJZkliTnZWVEFZUDN2S1pBNmNrZnhjd3NPeE5oVjRJaTlwVEJ0Zy9YUkc4RUM4cklVQjRUaVRiaEtYSWRSU3JqMnJQek1vbTJJRktWMGp4ajRMbFpqVVJjNTJPRTkxQkFRNm5YaTNSZDZLaUZJZG51RWhkZlBZdDdHVk1oYkJnbkVndU91Y1FOeHk0R3BuUEdKSUZWdHh5bVhuT0N5RWozTUR3NVp1bEVDQ2t1alNFK3dacU1MV1VZYjFVaVArdFZCVGt1QjZNUHJOQ05iU2pVU3o4aGhGQjdjVmlRa25KTUNTRXhWMmhaazBPU3MrNkttdko4SmtLWWMwNGtSWHlxS1E3RGlFczlRUzNrT2NDaElkeHNnOUNlT0hvN09iZkxOSzFhd2hMRnRUaUJaSFhlQVZlYWdFNlAySzFESFBNT00rSzVWUjFFMUdodERSLzB5TFNkSElEbWpsYjR0OGwrNXpvVVU1WGswMkp3NTBLSWJwK1hYRzc3Mk9BQ0VITEtweXJCdmFqSDFUODdzMGJpWHRuSVdhSWhrdnJvQytIZ2FBaEJOOFZ6Y0FOTFlJYkw3VU5LanYraVNheFY0MXpFZk8zVEFWMFI2aW1HMUdKUWh5eTg4UTN4UDJVMk9pczZ3VmlDRlZwRUdMTlVMRURZaTVhM3Y5SVZRWUhFNm0yQTNhQXFKeWZVNGdGeGNuTGpHOFdBaUt6VHBFTW5paFFFdVhuZVpxM2pTWUtzcGhZZkNQanAzSkUrRVZQd2ZZcGZ1V0sybzRlVGhIalJHOGxDOUdtandiQ2lyRG5mSFI1a3ZWbisweURFSVkza2FDSzlQT0VSUnhDMnQvK1pyd0ZTOTVsMGdjaHBwT0dTK3Z4UU1oaEtXc0dQam01MGYxVXZyU0pTejJwUXZaWWYwZTk1c3htcWJGbFRkT2F0VzZLMHJyMlRLYjY3S2s5WWMvbCtLS1JYVlVhaEVCSm0ybmp2TlE5Ujd2Mk9JUjhDb2pyTU5hTURSMmoyMFVKRU9vSm9IazlFUExoVmRZTUhFS092SjhhcklTcVpmS1hZd29xcDI3ZHB0RWpVOENZQWxJRW9PUi9GTmRvWnFFY0IrM29ZaFJ0U1QvNU5BZzMwRWZTa2R1V3FWTzBTWUpnWkMwTTdsRTJpZlFaZ2hXOVhTZDkvTzZEc0dwSGk4VHNnWkN2bVUwcWw2OHNJK2VuQnNHenFtVk1IREVXVFpSbU5OaXBtdmsyR3NhbDhqL0VFT3BqQnFJTWNGYy9ubEhSOWgxQUI0bWtRVmp4YkJNNjU1UmtQQ0lOZ3U4cVM1VkpPOTBMWHVjekRJU28zZ09objRwV1hDdXBwaldSNlFVaDRtZTJDVDUrWVY1Zmx5bjZIQW1FQzNLRjZvd2J3a0xNaVNDK3Y2SzY0b013RUYvVzkwVGROUjBXa1NINDNRZmhobWZZWUZPaDEwY0taL2g4S3h0bENHZDRGT1NuQ3JZUDNDWkE1Q01RL1NKZllqUllLYjRpVURleFh1eFlSVWpHQ0c1eGY3bTJiUHpldUNHRVA0azRFY1FMMUVSWWE1dlM1cDUvWjRqK1I2WFE3VE9HUjZjU0lOUndhVVlQaFB3QndxNW00SnNLTHVhbktyYm45aUREblh6SDAwS2pTZ1pGVFVWb3g1b2UzZXJia24ybkM5S09KVzNPTk1tRUkyWVNTWE9rNlBGMTRsUDNaYjBuaG9jcFJ3cEZObGV5Tjg2U0E4UGF4K3VERUxPc3IwMEZqejFkQ1BtQmk1OHFHNEhQcHlHRVd5TjJEcTg1Uk1KK3ZsU0pOaDFlZHRObDU3a016d3VGY0NoanRub3Nub2lyaHJQQ2xlSTJVaURrL21Rbm9yS2hJelhzMWkwVFdtd3dnRG0ra25UQWZXQnhVTklISVYvTnFGemZQYk1RWjlmYTJZRVBzNUFQTGk4MS95bXRxQ2lFcXRhZVFSZFpDVGdZSFJVWG9zM3hQcW1nL1JRYUZiMmN4eHhVeWFvS2M1MzFuQXFqOTZRalp1SkxnWkJINkdlSVQ5M3JXMFNBdGE1UW10L1htcFFyR2dNRXdiMTNIYjhOVHpuanpoSGNQZ2o1QVp2V1JCbzlFUEpETjZ0eFZlVWJmZFExTXlZd1FDNko4SlcyUmxTRGN3ZVhkalo0bVE1bE9mR3VsR0RDd0hiNkxZaVZLSEFtSHgzT2duOUpyVFhSS1M0SzR4LytJMmJpUzRIUTNoWXFkdXRBQ0dvdEU4S0Y2ZTFWeTVxRno3Q2pXOW5taGpFSjFjdnZQZ2g1Tkhob00vRzBEOEk5WjAxcXFHMkFqNXF6dkxoNDRRZGowenVrcUZyTVFwbzdhQTVmUFplTUgvT2VGV1o0WGlncWFja1ZDdG9QcWRLMGV6cGZDb1Fic09hQnE3bHFyVk5pUU92aWpuRzYxajUranIyeUhiem54UXA3V1ROYUNSK0UvS1IxeS9COFRUVEFCMkhGN04zQVhsQXJsSThxM2h0U0tndDhVOGNYRjZ0ai8yU2xCUnNncG1mV0FJekhadTNyU2w1RVROczZNMmlpS1BzSWFEYjdVZUVkTmxvd0JjS1d0U1FvL2hLTlR1VHI5a0xKclVMZDNOQVJLVjRJM0FWbnJjNWUweFZhQ1MrRUFJRVU4VXJLbk44SElYeUVwYlNtNG1NZk5XZWRTemRFbzR1T002eUpPbmc5NnNKcVRqRTFKaVJ2VFdPTHl2aStSYWNIVGRDc2d0VjIrdEdCTVpYQ2xnSmh4MW9TcEliVHR0VktsbVZFS0hoT1ZWUFZCVmVsS2FxZW5TTG45VUlJRU13NHljbW0reURFbW1UNFlBdTVldm1vT1diY1lGVU1lNmRCMWxLcE9vQmxuaVN3Mzl3QnRYaW9pdmdUbWxRbnJQblNFb0NreWNzQnBUVmNreVg4Ujh6RW53Smh5VDdRRi93ZFlRQWwyckh4eE5qVWJyMmhVM1c1WE1vZ2dtbzBkeStFc0oveDF2TXk3UEJCR0pRc1B0aEVUVWtQTldldHhDM1JOclNXcGhrd2lZYzJwdU43Y3JrSXQzV3JUMW5hTkRGakFsL1lGUktBMExRalJZZTFOSG00VWlBRUtwYXJnaXdOSHFuRytYNElVTkp4ZUsxN0lEbndhcnhJWUxlMkt5bnVweGRDdnF3ZEVsOUx6Z1l2aEFqa3J4QmZWZGZnb1dKbXFnYnhMZUUybDZtYjFnWXR2VThpYlRpQlUyc2gzMmNlSWlDVkZoZmxiZis2cm1YN1NlelRLMzdrUEhvSStZK1lTU2daUXZUY1BkQmRsQUUyU1RyZkQ1bGp4NGVxWUVYM2NWLzVJNnd0Mm9Za3plOStDTkVpY21OQmZWUHdXeE1UbnUyOG9QRTlvRForVFQ5TzhGRFJFYWtHY2tVNTBPNHo0WFJldnNRaWRhclBGcG00QVJ0Y3NSNldvcnhsYW5Wa3NtVHFaS0s2NVVsU0ZCUlMvUzJXSGpzQ3RQUmdZdkZObEw3VzRGVHN3SEtCK3NrNTFzeHBXNVdrNENaMmhEVE5ScEd4UHZ3UTV1djBJblV3TCtjekZPbmxmTU80aG9aZWxlQWVOa2x2bkFvSTFhUkNNNlhqQW9tNnNxUzlCMmtRWDc0Um1SejdzcGplYlQxVzhBNGNEU0hEbmpXRjJyWGJsNHRpRHczK0kyWVN3cWgyNXhvVjVCSE5HSThXNU45ZFEvNDhsZUkrNTR5ZzBrZFYwVnBJMjJJWWRsY1FUOWxnV3hyOEVDSmdvRzgwN2NuWHo2Rkl0d1N0SXYyNWtIMWNhaXZxU1FpbkY2UENZdVRJcjlKZTlwOXBHdWJyajFvdFVrbEVSNkxsKzY5alVtTVdGcllNVDlHTUZrUE1sa0lIZDZSRXdaMGxTV3Fvc2Q3eS9CNzY5MEl6V3ZhaG0zNkVJOForOS9JYitIV1RlSjBiK1RNV0l5eXpiYkpYajhzaUE0WEUxS2E1VTlXendQRHpWQUtFL05jWEQzbjVWL2tRWGJ2OEZ5RnE3dDU5ZVR0NC8rV2ZRWkw5M3VXLzRjWEIreFRmTDJ1SXZGUTB0Q2dmWWE3VktYVEJkdWZGSnVmdWVQKzRvTUgrRUdYemdLOEV4Q3dYd3pjNFY3amNNRmRWcitLVmhQbmpha2NIeWk1RjUrNjlmSXNBaW5YditQRS9mNU1tSXlISjNGenVaV0hHbjdyc0dwbDg2ZWg3eUQxWFpMOUZ4SDA2cGRsUFdENlNJTXhoaWZqQ0IzLzFPK3pub1FyYlduV1Z6WHZ2eWdzK3pkaGYvY3Y5LzZXK0swajFScW40dWs0dWZLSVpCUGVYOUdRTzhKM2hvLy84NFAxNzVQVkpXTjVYR0Via3ZlSEhnb0R2aS83MGRWT0thWGxnY29PbDltbHNCeHRKcTVpakdGNG9xVTZNQVhNNTBlMFhEZDFPbWZOaVhvWHJVbFpxK0NIOWtMR2YxYldYYVBJVkhRZXN5eE5uWWJBcWg5QkhPT3NLdTNqaEUyY2ZmT1FpUm1JRi93cCs5dXpERjBNRllRRDArUFdqUmlkUFJhaHI4QXQ0YkkrdlplTnJ1L3Bhcnd2Um45TUVKL0ZleHVxTUk1Y3Y0ZXZoaDZaczNZcGxEVFZicWlJMGN4bnNic3FPTFA4QmdKc3RTdG9STTJlcmRDK0liN2VkaFlWQ0IwSkxTWEt5NGlLeitPMUgyR04zV3hOVFI0eGh3dktSTkF0aHVDODkxSDNBOFFzSnpmalFyZUdGdTh2UlFwY3FubFJjdTQxZCtQRG5iY2JGYjZPTy83WXBkdnByRDNYZklZWis3cW5qbjdRS0ZtaGNXclNzeWJrTGgwb2tYM0xmRlh1R2RYK2p6c3l3U2oxaXpscXRoLzlVK3I0VUx1ZTZrRUp3Y01Vam5yd1dlcGtuaE5pbVlISWM3WG1XaHlXTEpXMnU5Q1BtRWJSZ0xpSFFWS3F4Q08rSUpQYkgyOTdxa21laGwzMGlpQjMvNGptU3RxMndiaG1LNW1qRDArT0llUVIxWXJ1V3BnWEluUkhscDFuWHp6ZU5FTlo1bER5bXE2TitxNkN1aG55UEkrWlJ0S0pvaDZReGhZQlEray94R3hGejUySU15ZUZNbkhWU0tJc2ppR2FTK29LTjlvRW8yMmRiNGw2WGN5RHBpRGxKVHhaNlZYbEt2d3gyQTd1aXBNMGpnRlBYNDF4VE9BdFBwNi8vOFQ1bW9PaTlWMVZ1d3VoUUMzTkJHaktEcm41WlQ3TlhVMWdSenBSRnNUZ3FiZTNFV2FjUXdyYWFJUEhPREUyQnZRNmxFblg2M091SWVlZ2FvU0JQZTNlL01obzhJWTlNNlJjcmJOWXBoTEF3dnFVUVAvbWdqTE1oNHNTZVI4eTJLUWRPcDNkb1Q0NHFuQWlleDNuUFFieVc2WU13bng2RXg3dVlnYkt2Ti93YlltcjBQR0xPb0R1WmRUbGh6eTRscXRMcEZQazU0Qm9kVHRyS3BnL0N1VEh1Q2tPdHV5cGlwallGL0VsSHpMWXBCMDduVWhmM2RWSDYzaU4raXJQZ08veVpQZ2lyZXRjOXNNMlNCQkg5N2FpeWhwaUZQWStZa3pSbG8rK1IrL2FLRmJ0Ti9CVGU1anlnTEd4NU9LWVB3dUgrcjlGakFrUENlbk9vY2dYeFBLM25FYk9SSFNhMW5IcFdzYzZPYjJXZjVuL2RkYWYzTCtHbkRzSlY4UXhxR0lNbHkyNllNNnlTV0JWN0hqRW42OHBTMHVPZlVhODlkTXgvSUM1MysvRVpuOWFwZzdBZGVhN2c2OVNndENvdGZmd3Aza3Y4UFloZVI4eUQxaFNSYTNpZm1FYVlrckpUQjJHSlAzNGEwMVhSNXo3eWNMbjNFZk9JR3JLdTErQUJGRTRiaEtkVGw0MEJER0NMN09zWFN2QVE4VkI4U1V1NnJzUWpabHQ2bUhUQnQxdm9VK0cwUWFoK0FLL1AzbVZrYStqM2Y5cGlqOS83aURsakJZbnNjL3BWbVVTV3hJSXBnM0FsZFJlYzJNcytDMXI2V1hKQlBHenFmY1RjcCtMZWJCMmNZUTk0NWZWbWRrQUZOMWFzOWNvNDY5dlFoek5NSEluMFBtSWVXV3RXaGpnMVRIM0RkV1F0SEpHaXZONjNqVWlocTJhQjFrSjZRTkh6aU5tVkh5YjMvdTJCcGY5NGQyRFJHeStZajd4a05lSVc1T2pGNW83YWZQWThZaDV4QTJicWhyWkFTVzQ2OGRkc2NrNzBQR0lldXNhWmdoRmI0S3FjZmZUYnl2ajFEbjZ1bkhMRVBPTDZaK3FHdGtDKzFzVzY4bDMyT0ducWRjUk1mTFA3eEZnQTc4Njh2YzZlME8zcGRjU3NHV2VKaWJIQTgzZXgzNzdaYWsyUEkyYUxNNTc4UDErU1ZNamk0TUxxQUFBQUFFbEZUa1N1UW1DQyIKfQo="/>
    </extobj>
    <extobj name="334E55B0-647D-440b-865C-3EC943EB4CBC-97">
      <extobjdata type="334E55B0-647D-440b-865C-3EC943EB4CBC" data="ewoJIkltZ1NldHRpbmdKc29uIiA6ICJ7XCJkcGlcIjpcIjYwMFwiLFwiZm9ybWF0XCI6XCJQTkdcIixcInRyYW5zcGFyZW50XCI6dHJ1ZSxcImF1dG9cIjpmYWxzZX0iLAoJIkxhdGV4IiA6ICJYRnNnWEhkcFpHVm9ZWFI3VEgxZlpEMWNjM1Z0WDI4Z1RGOXZYSEJwWDN0dlpIMGdYRjA9IiwKCSJMYXRleEltZ0Jhc2U2NCIgOiAiaVZCT1J3MEtHZ29BQUFBTlNVaEVVZ0FBQWlBQUFBQzBCQU1BQUFCZno0cFRBQUFBTUZCTVZFWC8vLzhBQUFBQUFBQUFBQUFBQUFBQUFBQUFBQUFBQUFBQUFBQUFBQUFBQUFBQUFBQUFBQUFBQUFBQUFBQUFBQUF2M2FCN0FBQUFEM1JTVGxNQUVKbG03M1l5emQxRXF5S0p1MVJ0dm9aRkFBQUFDWEJJV1hNQUFBN0VBQUFPeEFHVkt3NGJBQUFPZTBsRVFWUjRBZTFkWFdoa1NSV3Vua3grWnBKTUI4ZFpCL2NoY1JFRUVSSlFRWVNsSTY3dXFtam5ZUldGaFRRSS9vQnJJaXhtRjF3Nm91aUthT2ZCUllZRk93K0xveXZhQVFkODBLV2JBZlZscEFPQ080alF6ZUtEVHlhdTBZbWoyZkxVYjlmOTYzdnEzdHZWTjczM1B1VFdyVHAxem5mT3JWdm4xRTlYQ0RHdTBrTkx4bE9SSk8raC95cXNZRmpnODVUUzd4alBiL1RrbThBZWxQN3NqVzRHcmY4MHR3ZWxIWjJUWldLK0t0bmpiN1VzNWR2enV0U2c5T3lMUFVwUCt2YVY0MnRjd2h0Q1VlN0hjeDBoeFh5TDB2c0haQVp1WndjamtITkZxWW0vLzJNRU1QQXN1NVMreGd6QkRQTS9mRFUwNVF6ZUVJcHlyQjd2cjJBUEVZUE1yMUw2UWJTZWVFS3dPTHYySTJxVUh2ejFqOTU3KzY0Z0VuOVBJa2hkWkw4TXpVTEZaQ1dBL3RYc2hjNEtMZjg1bkhQcHkzK29hcVAwaDlPT3NIU0IwZzhOMkpjZXAvUnRnOGVNVWlXcGFHd0hWWHExSVUyeW5aRm9helpUVmRNZVVCMHNzbUhOSmE3Q2tWQnpONDZPa05LbkJlbS80MGxIUWpGVHA5L3dNWDRmUGQzelphVit2Q0MwZkEzRDZFdThPZDNIa0daUFUxcWwzdzl3L1J1OXZ4VElUSmtodjRRK2hzMDB0MGptRURDaXlUeDlKb1R1aDdRV2twc3FxeTJheUg5UlRLQmJHMVhRSEN2L002RVV6NGZtcHNtY0VnYTVoK1BCUmxick9OSnpTOVVTRnVuZ0ZQZ0JwYS9qS004dDFad3d5SDl3Q3BUcUZObVljUHh5U0NYRDl4TmtYM21aWnQrUDVjd3FtNktKSENKaGRTTURmU1NEM0pNdENvTmdSMjJYNlhnSHZLTzNwd3JmYTBoUnZWR011NUd5M1pBMVJSUDVBRkxhM0RnSHZFaU02Y2g0dUFVelVVZ3U4M1FOU1hsdXllcWlpV0QxN082ZVcwMlJ3TnZDSUxqd25aQ0w0eHJ3RWxLbmp6ejI3WjJkbmVlKytRZzlRMnFYZ0V4T3JaNGlxMDZIZkZ4dWtIcW1QTEZ3a1ZwNXlGWkZFMW54WkVZLzNBZ1V1VUw2eER0ZkVWQ2ZmZWxkbndxZ3lDNURodThwUmltdWtCTEN3cWI3dGV4MEQrVTBMOHhPRDBKTGtabE9rQklDWXdlS2phcVJ5RVBJS3NJaTJ5RkY2Q3czU0FscnpYMDBxS1NFVEJtNFVzV2dicENTWmNDWlZFMThQUlcrNytHckJDamRJQ1ZIMU1rRXhCYllIUzVzK0I2d0JtUTRRZ29lTVZWRERvTWVraWQzR2FRSmRod2hiVkNLbk13S1VkTWlxODViU0pxVkh6ZElTNER6MkVLdnhLUnZGZ1pKSHBVN1FzcWk2bFRPRUdzaHVWVWtlVHpzQ0NsYldldGdsVXBGQjEwQXUvYVRNbkdFbERuM05MNFFyeDV1STBBMFAwZElsOEVnMFNDeUxFa2J2anRDMm5RVGhqRExWc0QyY08wbXRITFREZEt1bXpDRUdVR0c3NmlOQUNGR2M0UzA3aWdNWVJwQ0lNR3Vmb2kyaUt5NkU2U09uTHZRZDR2YkkySDQ3Z2dwaXc2Y2hDSE1KREo4VDdaMjZ3Z3BXeUhvaVBmbjRHOVBOSkZFQWgwaFpjR0JtekNFMlZ1Rzc0bkdUbmlrODcrdkNzT3J2ellieGNwUXlVSFRrQ0prK0k3ZENPQUJoa1phYWlsRDZQdTZoOVBRaDZZYjU2NHdkQVhHUS9Wc2NVY2p2YVh0b0JQSGVEbUEwTVZzaUFJa3czZnNSZ0JWamQyeFNHVXIxTVpnaVk3SmFIaTY3c1M1YXd3cWZLL3BISFFDaTNRTGZ0bngzTTdURkpiZmR1b243Ty9PTDlCQ0NBSHpXYlFud2ZpQkcxSFhDN0dTajBBZ1hMdXhoQUVDcUlWQkNwTzNmendnWklyNzl0bVlMZVVCSVNTSmMxZnp4Vnd6MzUrTm9BaHZqdHpIRzdKVzZhVUxQR0dSem9xZnl5M3lqcUJzUFIyVnhMbUhmYVRLTG9jQlJmd1pEVUc2NXMrUGU4WWkzUlN6dG1YdTJyZU80OWo2eStPYysyZWYrUG5UMy9KWGVsR3BIN2dqSEg1YlZNSnVCTkN5NDVCS3dubTU2TmJrcHFpczYvclJDWStPWllDM0ZFM0wrMERyWmhmTkQwcmtQbDdybWNRWXBFcm1vbVM4dXMxeVdvY3FQL3J1MWJFNVBBd3AzYTNpdXJKb2VZR1NsbWdpSzRHQzRSa3hTRlhscG14NjFRN0xhZkMvTEJWOWVYWHN4b1VoTU1aRVdEbGFYTEFrWWZnZWkxUklhdlg1ZlVhTVIzQjdzMHdkNjNGaENCQnZCSlZLazJPNWoxZUppa1VxQ0I4VXR3VStIcm1FbTNveGRZVG1PM3hUS016OTd5bE1HZDAzUVNoYzIzYnNvTVp3cEI1MkYza1lNbzNEYnVnWWRPNVhQWHdKQVcvbnkwbjlLUGZ4MmcxNTQ1RjZjRFY1R0hLWjFqeTVFUStHamtIbjN2T3htTTErSlZ3R2RuYTdpZUtSZXJSZDVlYWV3MjNRTVhRTU9QY1pmM3NvajJEczEyUmZqT1dDVlR4U2owRkVsTDg4TEtRWTBCczZsZ0hZMHFDRWtBdittTG81Z3BWdzlyWnRHMTQ4VWxPTks2S0hhdnBmcjBrelNCczZOaW4xUmtnaTRoM1F3cUQ3MkhqS0tGa0hnM3pkamxjOFVwUGZvaGp3YitJTVl1Z0l6dDI3U2hLSWRldTIzc0RFRlpWdXd3ajlJS293UEQ4ZXFWbHZXYmlYVlp4QkRCM2hWWG43dGtCb1p6VzVZbUlhbGdZL1krZGoyQTdqT0tTbXdLNndSQTluRUVOSDZuUHVNMzQvQmQ1dXo1VEUwek5SMHlFM1hnalFobWJBNjE0TExZak9qRVhxcVZvVkt4ME5id2ZwSVJrOEdEcXlvSEYzVUFKN1ZyMDlDZzlEbGt3Q2xrNDFIOElZUUNERXd3U1dSbDd4U0UxR1U1SS85YjlmazBpbm9ZOVhPcktGb3hWZEFJbW1NZG41bTd1blB5V3p2azZYRWJNWUtlbzZOTGxGcGJkc2ZhNVk0bG94K1psSVMrOS82dVJyTmFOMFZuNlJnZVo5OVdiMTBkOFpoSDRkV2N6WU44cEpZeEFkUDBudjNhVDdaVitueTRsVHpZZkFXU1ZWVzU4cnRsdEhJWjNwMFVmdjByUGFRSkV0NFJyTk1Rb3ZmSktlUE51Z2Y5S0VBUjNMWUJEVldoalY5R0JrdThBT1dubjVyT25yeWpTdkZJbnJDVFpuRGtFS3l6QS9KdVJsYWt5ZnRvUWVZSkI5RStkYjZmMGFtZS9wL2l1b0k3UmRUNmZSMU8wRmZqM2JCMTcxaHMySXloUStKRjJudUlqYVpCR05GSGF2Zm9SUmRqVjJvbG9HVFAxc0cweXUwSk05ZUZ4UTd6aEV4MDF2R0FLOXBhcC9YWHlGYlYrbnE0clQzR0dYaUszUEpTUWE2VFM5eHh2NUhKVlRROXdUMUJoQ01NeXhnWFNUZm9VL05lVDdDTkd4NTNYdXQ2Z08zQnNpMUFQd0t3YkxUSktnMjVvMW8yaWtYYm03WW1yd0E2aUxWUHlLRVF4aW1INkJ5aFhVaXV3WVFuU2tuakJrcHFyclg1YWZFa3lBOXEzQkQ2K1F3T2NDdzBpa2dQQ0FDNFR2UXlUWTFpMzVZajBmUUVVMW9iWkloT2pJL09ldWhsL3FEczVscUZBeHN3eCtlVWtUWkpPQTN1RFFtbE0wMGkxOWp1T2c0VFZVTDlHUVRZWEpnMGhtUThndGkvNDNSRWUyNTJ0RkVNSGZ4K0dwSTU2Z3JXM3psTEtpeU03aWJ4S2ZLM2FucldqeEJsTFlwYlV1ODdWTEFldko2S0ZuUkdaejJqaGwzb0JDZEN4dGdnbWsxY2d2b2JLdURyRmJuNHU1cUJxZkZKcitsc1Rua21pazhNVW9EWFRMZytoS3ZFNjJQcjZpSUZkMFV5cnozc2F2NDlYYkw5V1pDVDc2MEowN2QyN2ZiTEMwN0RnSVdWYnpobTNUdXl2V3FlNDliWFVzbTZGSUwrcHZldUJqMi9yamFScGRRbFUxRzlMbWNhRmZ4eFlOdVZUZ1hsRTl0dTZJc09qajZHQnAxK2o0NDZoNStWQ2tSenJvaGM3NlVQQ3JxTmRKeWpxUGpaOWtzNEhBaGExMituVjhlNGc5cEo4bXBLY2FSa3Qvb1NqczhVU2IrdTNGMDBxS0dLVHFKY0luc0NKcU5QWEhBZWJmazF6Z085cVF5UzRmamxqcFNKV0hxbnBqWDhreCtRM2VrM2RDS2prclVWTWpaVDh1bFJvdlBLWlVML1dlVVFLZ3NSeklkSThiVE5kRTZBZ2U2cGhYaHU5eVRYSE01TDQxYU1PWjhBT0FBaWxobjRmU09JeDFXMzlIRU5OQVRHdWxJL2l0YmM1VVJ6MWhJaExrd2RqZ05FRzE2Q29hS2N4YzZONGtsSHhRTE9yb21oZ2RnYWJEdVY3UXZqdFVpSFVtL01BanpZOFFnL0lBNllyTVhkVTlSNUFNY2lyNlc0V09aWU52UXVod1FveU9JR2FORTgreE1HUmhsNmV6K05Pejlya3hVcUZQNmdnU2lMUFdoeEVmVVRWSnQ4emZzcFdPSUtiUG1TOHpiM1B4ZUpnZ216SjRONi9iME1mVFFrOGdYaDFiY3UwUG85OVNqaE9pTlFiQ1NrY1FzOGVaODNCL2EzdVlJSnN5OExrYk52UUlXczFSaEovUk5jcjZpeEw5dXAyT3l0cFYxb2R2WnFVRTlHUForbHhRdjZmNmtKWXhUQTB6eTZLU3JZWm5WanF1aWpjSnJuMGRaczJXd2dRa3lNdmE1eklJVFdtSGFUWFpFWVhyRXBYK2JWUDI2MVk2dGtVVTNHSkRnUms5YVJRbEM1blBmRzVXdHRVaUYrVklvRUsvcS9QQ0V6M1JEVXpSMHdOT1lLWGpOQmZ6cTN0TmFDR0x0bU9QY0R5RW5VTHhzYWd5WDM3cHQ3Nk15TWRTZzArRFhlRERrMGdxVm5CZHRJeFZOZUt4MDdGMVVpUFg2UDVsTUV6M2NLZ2NmS0dGejEzQXQ4cTMwRS9BYWtIMVpDME9TS2wrMG1lVFB2cG9jaXNkcCtucFRUYVp2VXBmRVZPNGNlTGl5MjE4N3JKRnErelNqLytFbm16RUE0QTUxVDgzakZPbzdYUzg5dFFwMnpGLzZjWFRUcndvRkVWRmU4aDRjcHR6ekVvUE4wNy9Vb3ZuU2NqVnUvUjc1ckpkOWpwaVVDZ2E4TG5vNzJBKzgzQkZvY2pSdmEwR2pBaE1jNW5QYkNPRU9pYXg4cm1yWjQ3UmpVRWM3Sm5EK2x4WVljNTR4RE1HZldORlFveFhpeVdTQkJVOTZZT3RjZjdvWUN5S2Z1dXdPTFp5L2pTMFJBdyt0NE90WXRPWXNEenpSbWZqYzc4d1dCN0tteHJaNGJId3VmQng2Wm1MN0FEa2pGT3BnUjduWG1tQVFRYjd1bkttU0ZadzhENlgyME9OUjdNU256OCswRTN1b1ZCZHEwTDdVRk5acUJybmtnaTZCV05EWExRS3BZZTVPVEplK29pV043YVNDc3JuenIvS3VnOTJaVDd4T2piTnd3VmpmTzREejc5REdJUDl6Zlpuc2VHZ3hwbDdpOUlQZnk3cXV2SDNkMy95OWszUmRTaVQ3STRUN2VobGc4KzF2QkN6WDZPSFBUb0o0SE10cjZYUmdja0Q1NWFsT2ZBVGEzblF6aDREQzhYdExvc0pabnM0NDY5eFpHY05vRjRmUCtnUklvQmRDclpYWjRSd3hzODZ3YitvUGhnLzZnSkJZWUhDQW9VRkNnc1VGaWdzVUZpZ3NFQmhnY0lDaFFVS0N4UVdLQ3hRV0tDd1FHR0J3Z0tGQlFvTEZCWW9MRkJZb0xCQVlZSENBb1VGQ2dzVUZpZ3NVRmlnc0VCaGdjSUNvN2VBL3p6ZzBVdk10d1QvZWNENVJqdDZkUDd6Z0Vjdk1kOFMvT2NCNXh1dEEzVCs4NEFkaU15MWlNQjV3TGxHNndCY1JaMjIyRllKQjBKekxBSU96WkkvQXBIbkFlY1lxeE5vL3ZPQW5Rak5zeEQvZWNCNXh1b0VtLzg4WUNkQ2N5d0VEaUxjbHZERWVjQTV4dW9FMnVCMFhEaXFjZEovbFlxeGFIbHdPcTQ0RHhoVGFaSnAycjd6Z0NkWlY1UnUvdk9BVVpVbW1jaC9IdkFrNjRyU3pYOGVNS3JTSkJQNXp3T2VaRjFSdXZuUEEwWlZtbVNpd0huQWs2d3NScmZBZWNDWVNoTk40ejhQZUtLVnhTam5QdzhZVTJlaWFRTG5BVSswdGhqbC9PY0JZK3BNTm8zL1BPQnhhL3QvUlVZaWY3Tk5mT0FBQUFBQVNVVk9SSzVDWUlJPSIKfQo="/>
    </extobj>
    <extobj name="334E55B0-647D-440b-865C-3EC943EB4CBC-98">
      <extobjdata type="334E55B0-647D-440b-865C-3EC943EB4CBC" data="ewoJIkltZ1NldHRpbmdKc29uIiA6ICJ7XCJkcGlcIjpcIjYwMFwiLFwiZm9ybWF0XCI6XCJQTkdcIixcInRyYW5zcGFyZW50XCI6dHJ1ZSxcImF1dG9cIjpmYWxzZX0iLAoJIkxhdGV4IiA6ICJYRnNnUlNoelgyUmNiV2xrWEcxaGRHaHliWHRqYUc5dmMyVjlYQ0JrS1QxY2NHbGZlMjlrZlY1N0xWeG1jbUZqZXpGOWUxeDBhR1YwWVgxOVhHOTJaWEpzYVc1bGUxeEhZVzF0WVgwZ1hGMD0iLAoJIkxhdGV4SW1nQmFzZTY0IiA6ICJpVkJPUncwS0dnb0FBQUFOU1VoRVVnQUFBNFFBQUFCOUJBTUFBQUFJRmJCRUFBQUFNRkJNVkVYLy8vOEFBQUFBQUFBQUFBQUFBQUFBQUFBQUFBQUFBQUFBQUFBQUFBQUFBQUFBQUFBQUFBQUFBQUFBQUFBQUFBQXYzYUI3QUFBQUQzUlNUbE1BaWF1N1JDTE4zZTlVbVdZeUVIWjJiVWZvQUFBQUNYQklXWE1BQUE3RUFBQU94QUdWS3c0YkFBQVl3MGxFUVZSNEFlMWRYWXhreDFXK005TXpzN016UGJNSkpBcVdRNDl3c00yZmVvZ2xHeHhRZHdBUjg1SWVLeWl4RTVJZURGcGJDVkd2UkJKYktGWnZJSGhYTWZnTzhCQVVLZlJpZ2hVVzBLenlBRllRbWhhT0ZKUUk5V0JFTnBiRjlpUkNJUTlCdmRoNHB1M1lMcjc2T2ZWemI5M2JmZnRucHh2MWZlaGJkZXFjVTFYbnF6cDFxdTd0N2lDWVhaTnBnZE9mbnN4MnpWclZyd1Z5dGRmN1paM3hUYUlGRnQ4WnNobUVrNGhNdjIxcU0zWThnN0JmYTAwazM5VUhmdWk1R1lRVENVMkdScTNNSU14Z3JZbGtuVUU0a2JCa2FkUU13aXpXbWtqZUdZUVRDVXVXUnMwZ3pHS3RpZVNkUVRpUnNHUnAxQXpDTE5hYVNONFpoQk1KUzVaR3pTRE1ZcTJKNUoxQk9KR3daR25VRE1JczFwcEkzaG1FRXdsTGxrYk5JTXhpcllua25VRTRrYkJrYWRRTXdpeldta2plR1lRVENVdVdSczBnekdLdGllU2RRVGlSc0dScDFBekNMTmFhU040WmhCTUpTNVpHUGN1T0RyTHd6M2dueXdMekR6N0NHT3MrZkhheW1qVnJUZjhXV0dMZGl3OC9jakhzOWk4eTQ1eFpZR2FCY1ZzQWpqWGhHbmZOTS8wanNrQUNmaUNQcUlLWm1uRmJZQWJodUMwOGR2MHpDTWR1NGxrRk13dk1MREJkRnZoczNDOStuSG9RS1NMeTdENVpGaWhHY0VKV2Y2azNValRhaG4rMlBMQyt0MXdhV1BUR0N5NCtQdTQ2bjNrNGR2MFUxVGxPQ0U5M3Q2bWF6SGQyUGJQSUNRclV0MDZ3OG5GV1hYeDFZTzE1OXRyQXNpY2dlUFgvNlZPQ0JWWWUySnFMN0tXQlpVOUFjREY4OUFScUhYK1Z0ZThQWGtkL0VQN2FyM3pyeVFjL00zZ3R3MHJtdi9KbmI3d3p2QVExcmVQcGUxajN4anQ4MTlzdG84eXpNMVl1WTdJdkNGZkVRdjVLUnRValpOOFREZGlFeGhXMk0wSzlJMUgxakErZ080enFYQ1FNb216WnNCUmVOT25NcWVtQU1CVGR2c0o3VjNnaGN4OUhMTEI2Mi9GYmJaVVZ3c1M1RzJleGVDZC9USXlycTRKZDJSdHI5Y3NORlpEMEJlSGlUVStoQlNjNEM5LzlodHZSZ0cxdXVHVjJhTnZ2eHFkWHc5OTVjN2RwMWZ2Vmh4VW1FaUtWc1RtQ2dNUDh2MXBtOFhPY1NYUkgwTDdKeE9qVTVka1NmVUVJbGY5Mm9oQ2lBU0dUVDhvWDJlRGhkemJUSkhBWEVYbVVmdDh0Zks0R1NDZ2lXZnhjSGJsZGgyTUJsRE1XWlJVWW1tenR5S1N6cC9xRmNQSGtJVlFldEhPY3ZaY2psUGdHZDREdDZOcTFBWWgyZEMwcndQQlE1M2ppRk1xYk51VStOU0k1YlhXNFhVRy9FQVluREdGZWovSlR6bkMyelhKRDBpTDhYN0s4b0toMUdSQnRtdnBQTTNiSjVKQnFvOXdoNUppWmVlMElzOFBZT3pNdEVDSW9WaHZZMVJQMXBQTUNxZGdtWU1tRk1OaGpXNDd0RzR4RkptN05oR1ZGZHVBd1o4ejBEV0Y0a3VGTUVHQmNuMWRkcTV2eG03R3pJMkRmRithZXM2Y2MxOHJYdWsxTC9USTdaK1VDUUdwT3kyVkJRVWVIYTBOYWRsb2doS2NpRXpVaW9ZSmpxekZuOHVILzhCcm1ySVZQMUJpRk1CYzVlcTZ6cU8rb3ZFNU5YUmhxU3hFRTB3SmhtK25BZTFuUFJ6TENqYnZQUzNQUFI1c1FoVENvdldZM0NpdDVCTk9nOVRJeHRJWmJDcWNHd29iWlI2MUhmUkxaNGdiY3E5SVhMRVFCaVVIWWNiWSsvSGpMWFJ5RHFtWW91YkZxNWw1TXl5emNNMEY0M2lRemQzZFlnVDE1cHJJUldlcGlhMkZRMVpPTVY0bVZQTExMQ0tvMFRmTnN5RjNTdEVCWVozWUV0enNzRkFQSzAraXA5bG9MZzFONnFlTlY4VDFIMDYyemRWM2wxNWxZWHQzU0xMa3BnZEJzQzlHNVN0U0FXVG84Rk8rcUdrajdPclpTNm1LT2RGNEhuSnlqRFFnakZUY29aRjJtM1ZLRW9lL3NsRUJvdG9YbzJjYXduZTdiT2xIR2VjWXU4c3ZFVm9vakJ1RzZzdzFzeExhRndmNk9FbTBOT3lDbkJFSnJXOGczWVVPNm5pZ3lmZWRQNFl0TkVzSnRWeVlHWWM1WjRPeHQ0VDlJeWM2bTByQTM3R25UbEVCb2JRdjVtYUpqSDllWVk4MnBHYk1XYTBBTXdrWEhjZGJOdGpDdjJsNDRWQzFsTWtJYXZOMVRBaUVXRStveTM4dEdZNFBCKzU5TnNpSzNjSE94YlUwTXdzQStOTE8zaGVzcUxIdFhVMWFOQjhMWjJoRGpuaElJc1ppb0x2TWUxQzA4WXowYUoyRmZuaThzeDg1VDRoQ0dUZE1RZTF1NDlIMUQ1Nms1Njd6YkxlazNOeVVRWWpHeGVsU003cE90c3JFbU8zSWdWV1BuS1hFSTdYYlkyOEpxNUhXekpkL0Mvdnd0OWU2dk4yMFZLZWxrQ1BOZnVvczk5dGNISkN1UHVYTlBoUmQrT3FMNytWdnJqMFZwUVJDbjVuN2dFZmFKTHdUQlBaZElKNWhDajZndVJtTGx0dkNCTXA5M2RvUzNIejBjc1NYR21lNUk5N2huZTBsUlh6cUUvRGxHVTdXcmNGNGwxRzJEdmV3U2tIc0dmeXRVWjhmbFdJR1hrQWpoU2duMUloWnVLakVCSVI0Mkk2QSszclZWL1IzL0d5UFdmYXROQzRJNDlWOUQ5c0NUZDdISFY4d1Ura1hHTG9UcytOQVZ0WFBYUW5hQnZYaUF4Y1RlS3JlaVo4YTJTSi9weFRlSG9vUDZveCtMTllRdnlEdU5FZldsUTloR0phcForZWlPc2hMdnl4eDc4Zk5COElGNm4zRjNFb1JyTlhiMHZmKzQvenV3bjZ5Y1E3aFkrMVF6V0xFUFNvTGdYZXpvSDRQOEw5amhCZ1RpMUJYMlNoTUYxOEs2M2dlOWg3RTNCZm1uMlRFdjhGN3JqUDFsa0tzL2lzWGtWWXRoUTcva1lCR3pKZk5GalIwbHp2ZlcwQkpJbkk0ZXI4VWZOcm1xS21aYnVLQlA2eFZMSWVaUjhqVnBrUFUrVi93a0NQZllVWmxYY28ycDEwUTRoUGU5d3ZHRVc3akVpOFExcndCNDFnSENReTBjYlNzQmduQ1ZNZkYxaFQyUEs1SEs4eVgyU2FRV2pyQ1lYSmNrOGJsc25iWlo1Q3pKK3dnNGM3ZHJTRkMxSVNCc2RXVlhMS2IwV1ZqUVRtU3hGSDNlWDRxTmh5WDJVYWw1bjQ1UnJZbzh5UVFJMGFSTnlmMk43b0ZJQU1MRmNKY240ZFgwbE1qWGlHL2Zla1BMUTEzVkxTMFNoQjBtUFFYd0VYcGxmZmJuUFNwYXEvKzllOUEvejdvMjJ3QnAzN3VkWjNycldlQkxXcjV1M2tVamtYUUlhOHBpK2E4WFl5MFB6YnFpbEJXVnhZTWxlL0dnbXVMM0JBaHJOTTdYYmxjWUFjSmwxZlNpMmRtK2ovandqcTV4RVI1cVcyOWdseFdFUUc1VHRxZVdjR0FHTys4SURqZ2l4NmxBVkVvTy9Oa1N2Ly96SUR1THE5YmxuMmQvckE5bE9lNS9GandqTGgxQ005T1p0aGZWWnJzMFFjdlJTanNYMmlFYzhjZnZmZ2h4Rm5oTzhqYVkyZ01Cd3M2aHBNR2kyMHBUbmZqd2pxNlpoaDVxUVJ0OVZlSFMwQU9obGJBMWFqSDE5bjMwb0I5TEpEVkF0UU8zL0ZkK0tlbUtNZWREOWc0UVY4VXJITkdkbWxFWlR4VmZRa0R3QjNGNktvVE9sSS9NTEJ4VEhMcnFscFRCZzFLQ1dWejJwS2YyK3pvSXJqTzFVb1hzaFF0S3VLMnJCZFRhUE11TUhJQ1BXamN2dkVnSTBYYUtwdEgvSzlGMkliK20zNTRGWkhvRWNFYk0rREsvTzljM3daUndSY3pHbC9PUGNka0Y0Y2szWG5YMHBHYm11ejljZXVFZ3pwSUs0UnlhZGZmbHk1ZWZ2RE8wMWlDcEJQQkcrdDVTc3dJbDV2bGF2RVpEOGM1Q21GZk5ZWDQwSkEyQTJzbmtHM3J5N3hNZkZDSTYyWkY2UGRTOE5hSktnZzFCMFRuSnpoR2hwS0tJbXprWEJaaU9UMEUrMG04SXdEY2tYWTR3MTkyUmxBMnhNdWduZDZMV0hoOS9FbjU0MjhPU0NxSFpGdVpqOFNlc1ZuYjEwY3R2QUQ1eWtQUDFiOTN5NENkZFpwN3pRb2dHMFlvTnEwamtBQ0haR2UrMWJnbE5BSmhnUlo0eVBpcU1MaVQ0UjJHSGZ6YjBWT2FTcjNKUzVNS0QrZ05KZ2tabkltR0luWWt3QjhFOFdwaHdpU2xuQ1N5cTlsZXVjK0wrZWF0b3dHUXFoQmp5MVB2VHFtWmREWUJxNm94STFObU91TWNHTm5ydE5aUVh3cGFCcTBUdmI4SkFaRFpNRDFrTDZoZEdFRlVHRk9YNHFJRHdVSExCWkVLNFpyVzloQTFMN0lJamtSRnJFQ0RwWXF3am9aaFVYNFFGOWJSZ2I0ZXpGN2Y2RWtwbFNvV3dZcHpJaWpHRDFJZkliTnZWVEFZUDN2S1pBNmNrZnhjd3NPeE5oVjRJaTlwVEJ0Zy9YUkc4RUM4cklVQjRUaVRiaEtYSWRSU3JqMnJQek1vbTJJRktWMGp4ajRMbFpqVVJjNTJPRTkxQkFRNm5YaTNSZDZLaUZJZG51RWhkZlBZdDdHVk1oYkJnbkVndU91Y1FOeHk0R3BuUEdKSUZWdHh5bVhuT0N5RWozTUR3NVp1bEVDQ2t1alNFK3dacU1MV1VZYjFVaVArdFZCVGt1QjZNUHJOQ05iU2pVU3o4aGhGQjdjVmlRa25KTUNTRXhWMmhaazBPU3MrNkttdko4SmtLWWMwNGtSWHlxS1E3RGlFczlRUzNrT2NDaElkeHNnOUNlT0hvN09iZkxOSzFhd2hMRnRUaUJaSFhlQVZlYWdFNlAySzFESFBNT00rSzVWUjFFMUdodERSLzB5TFNkSElEbWpsYjR0OGwrNXpvVVU1WGswMkp3NTBLSWJwK1hYRzc3Mk9BQ0VITEtweXJCdmFqSDFUODdzMGJpWHRuSVdhSWhrdnJvQytIZ2FBaEJOOFZ6Y0FOTFlJYkw3VU5LanYraVNheFY0MXpFZk8zVEFWMFI2aW1HMUdKUWh5eTg4UTN4UDJVMk9pczZ3VmlDRlZwRUdMTlVMRURZaTVhM3Y5SVZRWUhFNm0yQTNhQXFKeWZVNGdGeGNuTGpHOFdBaUt6VHBFTW5paFFFdVhuZVpxM2pTWUtzcGhZZkNQanAzSkUrRVZQd2ZZcGZ1V0sybzRlVGhIalJHOGxDOUdtandiQ2lyRG5mSFI1a3ZWbisweURFSVkza2FDSzlQT0VSUnhDMnQvK1pyd0ZTOTVsMGdjaHBwT0dTK3Z4UU1oaEtXc0dQam01MGYxVXZyU0pTejJwUXZaWWYwZTk1c3htcWJGbFRkT2F0VzZLMHJyMlRLYjY3S2s5WWMvbCtLS1JYVlVhaEVCSm0ybmp2TlE5Ujd2Mk9JUjhDb2pyTU5hTURSMmoyMFVKRU9vSm9IazlFUExoVmRZTUhFS092SjhhcklTcVpmS1hZd29xcDI3ZHB0RWpVOENZQWxJRW9PUi9GTmRvWnFFY0IrM29ZaFJ0U1QvNU5BZzMwRWZTa2R1V3FWTzBTWUpnWkMwTTdsRTJpZlFaZ2hXOVhTZDkvTzZEc0dwSGk4VHNnWkN2bVUwcWw2OHNJK2VuQnNHenFtVk1IREVXVFpSbU5OaXBtdmsyR3NhbDhqL0VFT3BqQnFJTWNGYy9ubEhSOWgxQUI0bWtRVmp4YkJNNjU1UmtQQ0lOZ3U4cVM1VkpPOTBMWHVjekRJU28zZ09objRwV1hDdXBwaldSNlFVaDRtZTJDVDUrWVY1Zmx5bjZIQW1FQzNLRjZvd2J3a0xNaVNDK3Y2SzY0b013RUYvVzkwVGROUjBXa1NINDNRZmhobWZZWUZPaDEwY0taL2g4S3h0bENHZDRGT1NuQ3JZUDNDWkE1Q01RL1NKZllqUllLYjRpVURleFh1eFlSVWpHQ0c1eGY3bTJiUHpldUNHRVA0azRFY1FMMUVSWWE1dlM1cDUvWjRqK1I2WFE3VE9HUjZjU0lOUndhVVlQaFB3QndxNW00SnNLTHVhbktyYm45aUREblh6SDAwS2pTZ1pGVFVWb3g1b2UzZXJia24ybkM5S09KVzNPTk1tRUkyWVNTWE9rNlBGMTRsUDNaYjBuaG9jcFJ3cEZObGV5Tjg2U0E4UGF4K3VERUxPc3IwMEZqejFkQ1BtQmk1OHFHNEhQcHlHRVd5TjJEcTg1Uk1KK3ZsU0pOaDFlZHRObDU3a016d3VGY0NoanRub3Nub2lyaHJQQ2xlSTJVaURrL21Rbm9yS2hJelhzMWkwVFdtd3dnRG0ra25UQWZXQnhVTklISVYvTnFGemZQYk1RWjlmYTJZRVBzNUFQTGk4MS95bXRxQ2lFcXRhZVFSZFpDVGdZSFJVWG9zM3hQcW1nL1JRYUZiMmN4eHhVeWFvS2M1MzFuQXFqOTZRalp1SkxnWkJINkdlSVQ5M3JXMFNBdGE1UW10L1htcFFyR2dNRXdiMTNIYjhOVHpuanpoSGNQZ2o1QVp2V1JCbzlFUEpETjZ0eFZlVWJmZFExTXlZd1FDNko4SlcyUmxTRGN3ZVhkalo0bVE1bE9mR3VsR0RDd0hiNkxZaVZLSEFtSHgzT2duOUpyVFhSS1M0SzR4LytJMmJpUzRIUTNoWXFkdXRBQ0dvdEU4S0Y2ZTFWeTVxRno3Q2pXOW5taGpFSjFjdnZQZ2g1Tkhob00vRzBEOEk5WjAxcXFHMkFqNXF6dkxoNDRRZGowenVrcUZyTVFwbzdhQTVmUFplTUgvT2VGV1o0WGlncWFja1ZDdG9QcWRLMGV6cGZDb1Fic09hQnE3bHFyVk5pUU92aWpuRzYxajUranIyeUhiem54UXA3V1ROYUNSK0UvS1IxeS9COFRUVEFCMkhGN04zQVhsQXJsSThxM2h0U0tndDhVOGNYRjZ0ai8yU2xCUnNncG1mV0FJekhadTNyU2w1RVROczZNMmlpS1BzSWFEYjdVZUVkTmxvd0JjS1d0U1FvL2hLTlR1VHI5a0xKclVMZDNOQVJLVjRJM0FWbnJjNWUweFZhQ1MrRUFJRVU4VXJLbk44SElYeUVwYlNtNG1NZk5XZWRTemRFbzR1T002eUpPbmc5NnNKcVRqRTFKaVJ2VFdPTHl2aStSYWNIVGRDc2d0VjIrdEdCTVpYQ2xnSmh4MW9TcEliVHR0VktsbVZFS0hoT1ZWUFZCVmVsS2FxZW5TTG45VUlJRU13NHljbW0reURFbW1UNFlBdTVldm1vT1diY1lGVU1lNmRCMWxLcE9vQmxuaVN3Mzl3QnRYaW9pdmdUbWxRbnJQblNFb0NreWNzQnBUVmNreVg4Ujh6RW53Smh5VDdRRi93ZFlRQWwyckh4eE5qVWJyMmhVM1c1WE1vZ2dtbzBkeStFc0oveDF2TXk3UEJCR0pRc1B0aEVUVWtQTldldHhDM1JOclNXcGhrd2lZYzJwdU43Y3JrSXQzV3JUMW5hTkRGakFsL1lGUktBMExRalJZZTFOSG00VWlBRUtwYXJnaXdOSHFuRytYNElVTkp4ZUsxN0lEbndhcnhJWUxlMkt5bnVweGRDdnF3ZEVsOUx6Z1l2aEFqa3J4QmZWZGZnb1dKbXFnYnhMZUUybDZtYjFnWXR2VThpYlRpQlUyc2gzMmNlSWlDVkZoZmxiZis2cm1YN1NlelRLMzdrUEhvSStZK1lTU2daUXZUY1BkQmRsQUUyU1RyZkQ1bGp4NGVxWUVYM2NWLzVJNnd0Mm9Za3plOStDTkVpY21OQmZWUHdXeE1UbnUyOG9QRTlvRForVFQ5TzhGRFJFYWtHY2tVNTBPNHo0WFJldnNRaWRhclBGcG00QVJ0Y3NSNldvcnhsYW5Wa3NtVHFaS0s2NVVsU0ZCUlMvUzJXSGpzQ3RQUmdZdkZObEw3VzRGVHN3SEtCK3NrNTFzeHBXNVdrNENaMmhEVE5ScEd4UHZ3UTV1djBJblV3TCtjekZPbmxmTU80aG9aZWxlQWVOa2x2bkFvSTFhUkNNNlhqQW9tNnNxUzlCMmtRWDc0Um1SejdzcGplYlQxVzhBNGNEU0hEbmpXRjJyWGJsNHRpRHczK0kyWVN3cWgyNXhvVjVCSE5HSThXNU45ZFEvNDhsZUkrNTR5ZzBrZFYwVnBJMjJJWWRsY1FUOWxnV3hyOEVDSmdvRzgwN2NuWHo2Rkl0d1N0SXYyNWtIMWNhaXZxU1FpbkY2UENZdVRJcjlKZTlwOXBHdWJyajFvdFVrbEVSNkxsKzY5alVtTVdGcllNVDlHTUZrUE1sa0lIZDZSRXdaMGxTV3Fvc2Q3eS9CNzY5MEl6V3ZhaG0zNkVJOForOS9JYitIV1RlSjBiK1RNV0l5eXpiYkpYajhzaUE0WEUxS2E1VTlXendQRHpWQUtFL05jWEQzbjVWL2tRWGJ2OEZ5RnE3dDU5ZVR0NC8rV2ZRWkw5M3VXLzRjWEIreFRmTDJ1SXZGUTB0Q2dmWWE3VktYVEJkdWZGSnVmdWVQKzRvTUgrRUdYemdLOEV4Q3dYd3pjNFY3amNNRmRWcitLVmhQbmpha2NIeWk1RjUrNjlmSXNBaW5YditQRS9mNU1tSXlISjNGenVaV0hHbjdyc0dwbDg2ZWg3eUQxWFpMOUZ4SDA2cGRsUFdENlNJTXhoaWZqQ0IzLzFPK3pub1FyYlduV1Z6WHZ2eWdzK3pkaGYvY3Y5LzZXK0swajFScW40dWs0dWZLSVpCUGVYOUdRTzhKM2hvLy84NFAxNzVQVkpXTjVYR0Via3ZlSEhnb0R2aS83MGRWT0thWGxnY29PbDltbHNCeHRKcTVpakdGNG9xVTZNQVhNNTBlMFhEZDFPbWZOaVhvWHJVbFpxK0NIOWtMR2YxYldYYVBJVkhRZXN5eE5uWWJBcWg5QkhPT3NLdTNqaEUyY2ZmT1FpUm1JRi93cCs5dXpERjBNRllRRDArUFdqUmlkUFJhaHI4QXQ0YkkrdlplTnJ1L3Bhcnd2Um45TUVKL0ZleHVxTUk1Y3Y0ZXZoaDZaczNZcGxEVFZicWlJMGN4bnNic3FPTFA4QmdKc3RTdG9STTJlcmRDK0liN2VkaFlWQ0IwSkxTWEt5NGlLeitPMUgyR04zV3hOVFI0eGh3dktSTkF0aHVDODkxSDNBOFFzSnpmalFyZUdGdTh2UlFwY3FubFJjdTQxZCtQRG5iY2JGYjZPTy83WXBkdnByRDNYZklZWis3cW5qbjdRS0ZtaGNXclNzeWJrTGgwb2tYM0xmRlh1R2RYK2p6c3l3U2oxaXpscXRoLzlVK3I0VUx1ZTZrRUp3Y01Vam5yd1dlcGtuaE5pbVlISWM3WG1XaHlXTEpXMnU5Q1BtRWJSZ0xpSFFWS3F4Q08rSUpQYkgyOTdxa21laGwzMGlpQjMvNGptU3RxMndiaG1LNW1qRDArT0llUVIxWXJ1V3BnWEluUkhscDFuWHp6ZU5FTlo1bER5bXE2TitxNkN1aG55UEkrWlJ0S0pvaDZReGhZQlEray94R3hGejUySU15ZUZNbkhWU0tJc2ppR2FTK29LTjlvRW8yMmRiNGw2WGN5RHBpRGxKVHhaNlZYbEt2d3gyQTd1aXBNMGpnRlBYNDF4VE9BdFBwNi8vOFQ1bW9PaTlWMVZ1d3VoUUMzTkJHaktEcm41WlQ3TlhVMWdSenBSRnNUZ3FiZTNFV2FjUXdyYWFJUEhPREUyQnZRNmxFblg2M091SWVlZ2FvU0JQZTNlL01obzhJWTlNNlJjcmJOWXBoTEF3dnFVUVAvbWdqTE1oNHNTZVI4eTJLUWRPcDNkb1Q0NHFuQWlleDNuUFFieVc2WU13bng2RXg3dVlnYkt2Ti93YlltcjBQR0xPb0R1WmRUbGh6eTRscXRMcEZQazU0Qm9kVHRyS3BnL0N1VEh1Q2tPdHV5cGlwallGL0VsSHpMWXBCMDduVWhmM2RWSDYzaU4raXJQZ08veVpQZ2lyZXRjOXNNMlNCQkg5N2FpeWhwaUZQWStZa3pSbG8rK1IrL2FLRmJ0Ti9CVGU1anlnTEd4NU9LWVB3dUgrcjlGakFrUENlbk9vY2dYeFBLM25FYk9SSFNhMW5IcFdzYzZPYjJXZjVuL2RkYWYzTCtHbkRzSlY4UXhxR0lNbHkyNllNNnlTV0JWN0hqRW42OHBTMHVPZlVhODlkTXgvSUM1MysvRVpuOWFwZzdBZGVhN2c2OVNndENvdGZmd3Aza3Y4UFloZVI4eUQxaFNSYTNpZm1FYVlrckpUQjJHSlAzNGEwMVhSNXo3eWNMbjNFZk9JR3JLdTErQUJGRTRiaEtkVGw0MEJER0NMN09zWFN2QVE4VkI4U1V1NnJzUWpabHQ2bUhUQnQxdm9VK0cwUWFoK0FLL1AzbVZrYStqM2Y5cGlqOS83aURsakJZbnNjL3BWbVVTV3hJSXBnM0FsZFJlYzJNcytDMXI2V1hKQlBHenFmY1RjcCtMZWJCMmNZUTk0NWZWbWRrQUZOMWFzOWNvNDY5dlFoek5NSEluMFBtSWVXV3RXaGpnMVRIM0RkV1F0SEpHaXZONjNqVWlocTJhQjFrSjZRTkh6aU5tVkh5YjMvdTJCcGY5NGQyRFJHeStZajd4a05lSVc1T2pGNW83YWZQWThZaDV4QTJicWhyWkFTVzQ2OGRkc2NrNzBQR0lldXNhWmdoRmI0S3FjZmZUYnl2ajFEbjZ1bkhMRVBPTDZaK3FHdGtDKzFzVzY4bDMyT0ducWRjUk1mTFA3eEZnQTc4Njh2YzZlME8zcGRjU3NHV2VKaWJIQTgzZXgzNzdaYWsyUEkyYUxNNTc4UDErU1ZNamk0TUxxQUFBQUFFbEZUa1N1UW1DQyIKfQo="/>
    </extobj>
    <extobj name="334E55B0-647D-440b-865C-3EC943EB4CBC-99">
      <extobjdata type="334E55B0-647D-440b-865C-3EC943EB4CBC" data="ewoJIkltZ1NldHRpbmdKc29uIiA6ICJ7XCJkcGlcIjpcIjYwMFwiLFwiZm9ybWF0XCI6XCJQTkdcIixcInRyYW5zcGFyZW50XCI6dHJ1ZSxcImF1dG9cIjpmYWxzZX0iLAoJIkxhdGV4IiA6ICJYRnNnU0Y5a1BWeHpkVzFmYnlCTVgyOWNjR2xmZTI5a2ZYRmZieUJGS0hOZlpGeHRhV1JjYldGMGFISnRlMk5vYjI5elpYMWNJR1FwSUZ4ZCIsCgkiTGF0ZXhJbWdCYXNlNjQiIDogImlWQk9SdzBLR2dvQUFBQU5TVWhFVWdBQUJMc0FBQUN3QkFNQUFBQVZvSEVZQUFBQU1GQk1WRVgvLy84QUFBQUFBQUFBQUFBQUFBQUFBQUFBQUFBQUFBQUFBQUFBQUFBQUFBQUFBQUFBQUFBQUFBQUFBQUFBQUFBdjNhQjdBQUFBRDNSU1RsTUF6ZS9kbVRLN2RvbXJaaUpVRUVSVjVWVGhBQUFBQ1hCSVdYTUFBQTdFQUFBT3hBR1ZLdzRiQUFBZ0FFbEVRVlI0QWUxZGYyeGtSMzEvZHo3ZjJXZXY3U1Fva0ZaaG5UdCtOWlN1dVJQUXFFcjJRbE9VQ0ZxN0ZGQ3BDdXYwb0NLbzdScFExZlFQdWhZTkVGcTFlMGNnS3FWMDNWQ0JhSXRzb0EySXByS0xVR21sVm1zSUVISlU3RGFWUUFpRWZYWjZ5WkdFNmVjN3YrZTkyYmZ2ZWRmMjdkMjhQL3ptelh5LzMvbk9aNzd6bmUvTXZMZU9vcjI4eGtvczd6VzNsL3FGdWdZYWdZbTh4c1hZbVlGdWNGQitMeEVZejI5ZXoreWxmcUd1Z1VaZ09MOTVQVEhRRFE3Szd5a0NkV0ZmbldhOHdyZi8rWWVmdk9lMGJZUmJlNnBmcUd5Z0VUZ2dMT2ZINlkwby9PYjd6QnBnTFowMmxBWUVOQUlGYVRZck9xZERvdkRsc3ZSaFV4MG9RblpBSUlGQVV4ak5US0lna1ZGNGx5RDl2MFJKeUFnSWRFRGdrTENaeHpzVU85bS96bDNkUlNjdlBBUUUwaEFvQy90YVM2TlJaVWU0ZmEycngzQVBDSFJEWUZXWTExUGQ2SGo1Q0JFdlppSU5SQUVCSUhCVW1OZjViR0I4SGRUVDJVZ0RWVUFBQ0RTRWZTMW1BK014eHA3T1JobW9BZ0pBWUVpWTEwK3lnVkVvc295T0xwdThRSFdaSXlBUGhyWXlSdXlqak0xZDVvaUU1dlVUZ1pwd1gvTVpaZGJEU3hNWmtRcGtoTUJoWVY1Wno2cEhXWGhwSWhoT2RnVFV3VkRXT2EvNlpIYlpselRsK0MwN1ZtL2tlVHRtM1h2R3NSdjN2azZyeGczaHZsNWlaYVVsaHk2WGx5Wm1YNXpXek5TeVNaWmFmSWtWbHVmM1V5RytXY3BZMXRPZU1iYTBuOXIycmU3Ukh0WW9MWlp4SmRRM2JYc1I5UEQ1ZmRXMktOelhVc1ltMUdjeUVsN2FaTldNZXpHK1ZxeXlGVi8ySlpvM1ZycDVQelZiRmVhVjdXQW9pZzVlRmk5TkhPakZDV2N5cjMvNjRkMTNYTE9QUVZyaHpWLzV3SjJsVTdDc3luYk1mUlhac1pNdnZlcXFhMDRjWS94dGhsbDI3RGc5bnp6R3R2dHVpZktWKzZ5Q2ozaW1VZWhMK2wxMUVncGY2THVDdVFXTzNQL2J2dXVNSmFqUnl3b2xpM2tKVkRPOWkyS3AxY2ZrTFBjYTFPWnhOdVhJdFYrQzU3MGwvSXY0NjFEMjVVRW93azVsRlBhakJKMnQ3eTdZZjZLK2JobHl0V0tqUm1sck9oeGg4OTJFcEpRUGhIbVZlUE9YcUJuMW1FZTQrNDQ3ZWVINXUyNy9leXIvZC9tOGZkZnR2MC9QL2Iza3dWQVBwNGxLWDNidFIzWkR3YnpOZmZBYWdTMDdmcEpmSnppWXRubHQ5QlNjWnpHdnNYdHVSYTM3NkwyK2QrOEhvY0FLWVRmRUZ1SVEwbmJuaytzbWx4WjRGem14eWV0VGFneWk2ZXBKT3VsN2NhNVBHdlV1aG4vRDJkWnlIbm9sMURQUlphSFU1ZnNDemVoTlpERXZNSDV6WDgwTENwU1kyRVVhWTRsNEdhZDd6dmtMemVVejNzYjJucmtNMmJpbWVwRkUrczczSXFEUHZGV01UbHZrQTR4dDZ1Y0R2YlUxbzNsaDJPNmo5MEpqUzJxN3FaWUlyR25HYW1zOG9vamVXMTYwbnZ1WkpOUEE1WFJIWHZtazcxcGVwbDJreC9Ub0RGbjg0c0cwcm02NU4wK2QwYnlpZlRhdkFtUFNTUjlNbUU0TDNhWGhRSUs2YjdmbUhuVXcxTFlyekptTzY1dVR2ZC9rZ05ieVZpUjl3M2lzUW85ZVpVRE1DeE9lakFlT3VrTU5hRFNadThUZjFlNnJvRE53WlQwWTh0a0M5TDJVWGdXaldHTGUwZk9BaVRWNlBaZlBhbDZsSHMzWTBULy9BeWE4YWNsVmp2Zk5MR1BPV3d3Yk1YUExYMXNLeHhGdVhhNDlwNUQ3aXFCdlQ1T3JUMllQZVJSTExEajhJMmJucFdLU0Rrbldod0V4TDB4NFoyU1RtdkhBcFJ5TEhlb3hjOHNLUlRhNm9yQXZ0ME95c1VvcTZHdnRLK1ZpM1EzaVpDd3hZY3l0MnRPMlJCUU5pSG0xbUQ2YUdOSitUSUNkaUIxZ0FMdllmVjhUNXVVRXc3bDZQYUZ2THU3K0V3TmFKM1NOb21FOWdJZDduYk1HeEx5YVRLOWdqcmhUSVRieVk3RURuamY3M3d0S292eXByOFQ2VlpWM3ZaTytVMTJwOW80QTBNWk9wOGIweXVod0l0RE5xZGVBbU5lczNQWkM2d29teWRzYWp4Mm8vM2V6K3hBNjBYVW1KOUNhZkRmM1RYUWxPUkpvanhPNlJ0R1luaEZidlc0Z0RvaDVsZFcyRjNCcmFOL05RWXpIRHJScHY1Z0QzcnlrMlg0c3A3TlUwcmZkdVhqUFM4cXgwSlVtUjZWRXJWY2tCOE84ekxZWEdtNXR5eEFNTFhTWGdvUHUxUDF0TzZQUDZWNFBodUw2OWxtOXZPSThvZUM0bnZuTE9pVEpLMWJTRDRaNW1XMHZxRDJwdHNCRUV6WmlzY05rek54MkNFeG50bVZVZ0d1bU0wVnFDZlNOYjYyazB1OXlZU0oweFFmcFNyL2hualVkRFBPeXRyM29peDFuMjZnZWl4MTJ2ZnZrd2RCT0Q4bWdyNlAvTHB0UE4vRjI2SHAwaVZQcjk5UU85YXpwWUpnWDRoVVRTaDkxWDVRcXhtS0gzZSsrTWptdkhaOGJGbmQxMzZTYk5TWEs3ZEMxSlR6eWlBcjFKM3ZlNFJrTTgyclpHOHNJZnVZTVNvbllZZmU3cjhMNHRiT0RvWVMrcGluN2ttcWhMYXJpbWhqREV5K1RHUnM5Ny9BTWhuazFIWXNxbTEzbEtLSjlpSG1GRDkzeHZHay85ejh0RDRaVWhKS3ZndDNlTjhtbmpYdGlXMXh5dWVzOTcvQU1obm5ObWhFR0FCcTJQZEUreElLRkNyMXVQR1U5NzBheWlqcHdMZTVFOW03dm14aWR4dThyM1RTSHg0bm5tcnhrQ3RDcXVYQXN2azRzZXBwWStOUnBkc043azNMOE9aM042OXo5NWExbmZWcHhpU1B0aVZ0THg5OUdLbHZYdWJQbEcrSjVVWlRNblhqZkNmYlNYNG1peDA1cDVuTm5TeDVXWFl3RUlMcXVIVVZsWjJONTJYWlB0QTloYTBTdVpkRVdzUXRwZVRDMG82T25IUHNtWDdpYWpOaTZic25UbG0rVjJERytXN2o4ZEJwYjBZU3VJL0h2ZmozeDVUQ0cxa25Hc21yUzBieitUVFRyclZJMWJsNUhTV08ydldhcit6ZklZR3pyeit5OEtFcm1vclhYM1hHYTNUaHVYTTkzR1R0ZVl0c0xMcXY5OUVpSkhXY1gxaEd2cUJGR3BSWDdxR0lTZXRvczlLcHgyODdZaGJROEdNcjZZem1PQm5GOW5VTG40VkhSQTliZmVQYzc1TEVIRExNL2pjYkwxK1BRN0psWWtmMW9oNEt0aTNZSmp6dnNnY3NMNit4MzFxT3hqMmNkd1ozTTYxY1plL2FidnYyVkl2dGRVU1daMTFqeFJYUFFtQThKcGNqL3N2T2ZqZ3JmZHllb0tKazd6aDRuVlI4cGxmWFU5U0FCVUhpQWJTZmFvSVFEb2xkSEUrV2JzVGRqSHlGUHFsY0xpVzVqcjdlOXFOSzY2UE41U3VlOG9HKzJvTTMzYjdLeTExV29zcDhHOVlHTEFHZ21oYzBPWGF1eDErb3hqOGM1djhwRTJGK3poM3VjeUhydVlGN1lEWGt1VVJWcVd5dWNtc3pyczQrdkl3M3Zmb3BuMFo5UmFSeVBPa2JpeWEyZkYzS3dhVFFsdVBGcmtoK2oxQ3pyNUx3QkVUWG04SGxvc3ltWStOOGgyOERSMDA1VEsxbTd6eEtZTzBrekhDNm40b3hDb0crMmJTL1lZZnpLeHNnVmVVeUdFNlUzbGF6dVN1cG9oYTRQdXR2VnRNR290KzhWWTFGK0puOVVIMHVxRXYrOWczbFZWUThXaW1MOURmTWFLNjJSRExoVDdVcndHM3huaE54bGE0dkVrM3RVRDZHR01xK2FoQm0ydytVS09mYmZ4K1E0TDMvY1hSeU8yb2ZhUlVzZFlxNWw3VDY3cHJ4cGRUQTBsNWN4aXFCdnBwaU5saWo0NExaOEh0L2NYc1Z1b0wvWHJXV3VEazVwaGhNM3IrMElMeStuZ2NKYjhZMVBNVGJ0eWovb1JMeFVOcXBmMHkwdXVMUWRudnptaFVyUENJWTNsc1NFRFBNYWtyQTBqRkYvVGxraHZSYXpwS3J3NUxaMFBEUWt6UXRXSmFzb3hrZU5sQU9JcG5pU3hySGRHckNxcXZnK0JJcWRLMVAzWVp5OCtVZWRyaFVqMzU5cWlncG4vS1ZwdVdEY1RDdFhaVjlqRitqRHplVXB5b2p2R0NpaWp2Y0trNEhoUWRTMzNwR01UdGlzNjR4TE9KbDQyMnREOWNON1RBVHQ4c1NlL09hbExZaE9wTGgyTUsvYWd1QkZiNjlJS1dYdGxCQ082RjcxNU5hMVFSeVZOdFBVUmxycEVJeFVtUHppMzk1WXBvb1JraWtGK0xhWEJSQlBia3J0dXR6aytpL09UYzlkWnoxWU9GMnhXTGhMaFZSTXNjNVVCcnFvdU4wbXN1b2kvWFhXeHBUUjVZTHJrek1NSnIvRURHY3owOURWMTRKZFFxK2F4bkVvU2xQRitpbFRJL3h2cXlJc2t0cFJ6NjVScGZnUTdMaXN2S1Y5Q1FLcEZabUo3M1BVUXNxWFd6YmhyRkFNMDRzS3VhRHJrcEppM1FHUk5GaVlrN1pPSW9ETnR4VWh4UTV2dWMxY3I4Snp0cGJUb3FEVEZYdS9UbFZtM2N1Q2Rjbkt5cFFrZlJjelVCNlI3b0czMUx3aGs0R1RTTkJ0WndRcHpEbjFjTFNPbFJHaGR6OXRnc3k1NGpmc0pSUVZEU3RUQlhSU3ZzdVJlUEo2cjFVZDY3UlE2UUl4bFl3NVRPcllmdG1hbkdHU1UwSzZKN2RnT2FncUo4UDBPeU9WZ2JXb3BNemhOd01SRE0zcGJ6d3ZLVW9kTzhnTU1zVkZWYWp2djNIMy9kZlFLc0c1UnRHbUR0Y3REcUh2WVZWd1B1VXJTOHNqZmR0cEJMSnNWYlI0Z28rcm8xbDJKSVkvK1lFN1Q4NEo5bGs5N29HVkdzYmVXb3ZhazN6TEhjT2d0dU5wem54STlVUGQ2Z0ZlWWxkdTErTTFyNnFHWUJKb3JCRjl5ZGdBcHZONXlxSWczMUpkUGZoeTBVak9RWC9xM0x5YTJnVlMrS1RYQ3BxS1ZwVEtIVUtpNDZYaCtSWVZJU21vMG5UM2JudnhTTnhYaDgyWkw0M1JSRmZxeE9PVFNQcXUrd3BpZVZVeDRnNXhyei9xaks0WXBYcGNKWDJFZVZrdUM4TXRiZHZMUGtLYmpkZFNqL2ZMa1BJU0pyS1J0VnVWSzMzNDNXZGVNQVlGRy9YV0NoSEN2Qlk1QS9lOFV6d0pSNzhwODNCclNDWmZMaVF1S0VvWnJDb29rRjMxK1c5QTlLUmtRZEsxRGNzMWI4UThXOXpjdUlqQ2FhaHZxYXBVNmVYZUFESzRUdVdVQVgxTm5OQ1pkMEpHSFFjNUJrTUtpYzRNK0oyR0UxQkhFTUFCS0p0Q0I4NmtjQUZhNlN0dyt1aU1ZVEROc3BoekJyZ3JYTmpJc1Y5MmhWcVZPd1UrODBMd3BPWnI3TzM5bU5PamY5cVNFYk9XMExpbDUwTXFxVW1INmN1MVBkckdHUkNqV2NiaDEzMklBeUxWT05kZ3dXM1ZXNDk1dG9xLys2REFQQmo3ZU1tRmdWN1BaQlFOZmJQWXlxaWNGaXBjL3FUb2cyNVZ0TlRjaGE2WWw4U3dpRk1wZkJRS0xzanlEWGNNazhOUVJtcUVUWFVTcGl0M0NIem1CWlYwZTQ3ZVBzZnBTOGFuYS9OYWRsUkh4L0s2dmJsZ1YvWStzUTZCV0hrWlY5eFVvODdXeklJSThjcThYV1NiVnpIbTJjRG02ejZZMTRJam91Y0hPR1M2MUFTZVZWNVJMMWhTT1Fvcm9yaStTZmNOYVd5cExQUmF1UFEvUUh0TjBsYmlVWklyd3c1ZG03d3VxenhoWGhqeVcrKzJDT3lrcnR6T2pIem1oZTVXamtQVFFtT1YxdVpWZFZSdlNZL3N6YTJqSjM1cVhVbkE3MElhQjhuUGRlWk1rVXlod2pXWm5JemJobktmS0lkY0J4WFU3bk1vOW1KVFN1MzFWa1BWdUtieXlRRkh6Q1drOHBlNCtKcXZTVW0rcG13NnhZV3F0S2JtTTVYaDNnR3RJWjEzeXhDMHhGUWxZMlRQYWNmSXhLT3EzQzMwbWRkc3JNdUlRLzBBRXBMYXZGRFhFcFdKQzVyeVFlYk5iU0dYYmYrbHRxSlZlMDZybUlsWENlUC9nRXc5YkZoeEdzOHpQK0ZpeHc2OENOVTQ1aVpsWUJKUTB2cDFwN0FVVjdhZVY1V1N2cTVCbmxORnZ2dUVDSGdiOFduTFIwc25vYUxwNkNBOU5WU3RJTVREQldoMUtOaFlGQVRqOGg0VjQxRFNzaHpYYzNRM1doSlY1VllXa2o3ektqTTI3VktSZWFsb244eUxGeE5VYTRZT0R1a2ludnk1Y3FHbE5WdFc2MHppYnpseWhFUlVvdHRkajl1R01TK0tIUllGQi85TFU1YmJmYUx3Z0pGbVVmZVVsRCtXazIzZVVqWEY5Y1c2eHRkWGl2eVFDSGpMaWNsRUVUajNvbXg2eFJxN1hiWitBYTJPSmNwdElhMGxqSlRPcjFSS1ZxTitIK2k4cEpUWi9LWXF0L1A4NW9VdW1uR3B2T1pGSnRNMmROSWcvTGtVK1BOcmU0MXo0SEZiLzJaczBmR0NRbUxGZ3Fob0JxTW9MT3Qyazd0dWkweitsOGJYb3ZXc2twTUdSWlhWOHgwakg5ZVpYSExpK2xyZkZQcmtpUDg2VUloUFVqNVM1S21tMTB4d2crR213MmdmVjlGeXYycXRWVmROU3BpWDNvbU9yekd0eXQxYWZONExvRTI1VkY3em9wSFlOblF3TDNKdy90eG92QVJxdXNTUk8wYU5mVzNOR1RraVZUTVFBYlluM1dManZTWWh4Uzd6Ym51QllDUG5KR2JMN0pTbWx1WjFpcVR2dWkzd0VIbjhqbGVUZS9BSlBabzZFbElCNW8wMkp5aWEyUWZETGRYelFaMU56b00vUDVDSmt1cU1ST3dWVGFoZVhGUk02cTRyVnhuaTdqRXYyb1NjZDZtODVrWG5ia29Ua01POHFLZjl1VkdrWDQ1N1BvbHV4Qlo4bE9kY1JRTVJOSThGT0NYdFhUZGlIWnpvUGluVUh4azROZVovZ0k3czVueHMwRmNIR1p4ek10WTBWNXo0dDBSSGpBbTR4ZTRUekoxbllKV3NmU3FHMjdSTDVUeFJKRFBsNU9CRVZ5dVlXRG1pVU5wWFFtdFZlVXhZRCthRjdUR1BlZmx6VWVzalZkRFRSU2JaNkdKZU5rVFFmTlBWMnBoWFBlYlpLakZ6VTN6K3lFQ1Y3dkMraW5YNlNqNWU2S3UyRkFYajhuU0tnSUlZVjRmaTdmZXpxUGlTYkdaSmtrd2FTL014a1FOZWpCVWMxTE9weDd5aThWOEVTM3lNUUlLcVBDYk1ZMTYwMkkrYnRDKzBKei9WTnVJUTJ0UHM3Yy9sWkYrOGp6VGpuZ2N3cDY2R2JJZ1FyOFRVTVJuRm1HZXJ4Y3hOcVpkRVVaWDBjSWRyU0l6aUx1S2dyN3NXS0MrbWNJd0l1enFjemJ4VWZFblI3NXlVV2pHVzVxc25FUXFDYUhsVFVTWjI3WG5CZDk0RCtYYkg4MXhWdWVLVjl3N21OUk1qODVrWGhkRnJoZzREaGR5cVAxZVMvZmNzZUNpUXFuWHBHUnVpVnNJMnpPUU5jUm9OcXFQcWx3dHJiVk94ZS9Yd3ZoY1hoREd5NUVycytnUjluYjJrWVcwSVB0YURZbHdOdVR3K1NzcFQ4U1gxZ0tLcE1YbU1vekxjTy9wTWs2cVM4aW1WcW5jWVBkOEZseWFTeEtweXhTdnZQdk1xZXlac3o4WUVtY0NhRVFkVmFiZkZuNnZKSGhBTmFuWlowZGdRYmNSdEF6UG5HU0V3RVR1VVl0MG42OFVrc0s1VlVJbGUzdmNpR2RpcXBaR1M1Nko5RTJma0h0YUJqay9Nc3BpNUp0TTl2ZUtzU3l2RS9LSDNkSEpzZTBreDQ4WWVtekZQcXlvaTV6Q3ZIMFJDVlI3TDlwbFhJK1lTaU1WalhvVFZraEVIODZLd3dwdGJlSkdtZzNBd3JWcjdEcnJJU3RnUTFlTWp6THd4UVZhNGFMRWx1aStLdm5CNis2OFJHWGk2RVdiYjZkSzdrcGJzUkxLaXJUeFIxQ21EOUQxbEYyNVlTL3pDcDY3ZWNuY3NpOExuVHNhOVNKeHk3SDNsbTlwUlVWcXVkV1NNT01kYW1kSjNmKzRYaW9BMlBrS0dUTnNyVElkaFhPZlhLODFSdzVSS1IyN2xPbHNrZk9iVjlBUkdIdk9DeWRsOXV5cm5KVit1OVQ0Y1ZEdkZsNWxXdTJNNjRkR0dxTWdINDhUSE5CVjgxcEo0aU85REpMb3ZlZ003ZjVhZFNiN1dTM1ZBMHc3WExicXV6Z21jOW1zbjBabktMU0Y5MSt5czhqUDZDVjhRM25DYVhaalRHVFJTK1VOTG5TWEtvamdsbnE4clhvUXBuZUlFR0pyS2FDSEJXTWdiMk5hMVphYStMT1NreFdRc1VUUGhaTXUxdldYR0YvMWdoTmg1ems5cHQzS1ZMZTgrODJvWi9UUzF6N3htclZyNDErVFRSTzdMbmJCQ254S3BodG5LNDArSVhWd1dSSmdLYVlRZE1Fc0JjNEE0aWU1U0xIUlBkTjhJZTN3bGV2RENSaWMzYnpQblREKzhnNThmSjMzdFdWcTlrNHFxQ3czMjRTaDYwRElIakRIaFNWcTJDL0pRMXZHNTNsajE5NVRsQWx0bFV4aHVUNmxtUGNvdXpvRk1qVXllRFhXTWZmT2NNVGF0R1BBZXZyM0toU3c5bkN5L0VxdGNNNHVFejd5d25qQWVNaHJtcnpyNHpHdkRpZEhxY3E3dzVVN0lnVVYxMXNtSDA5NmFoZk1iclRUWHk0SUl4a1FEcXJYSkMrZ1BHcm9pSGlwV2t5a0hxMWRiYkZRb2NtZFJMTWRSRk93OS9TMXFMYktMZ2I3T3FOb3d2cXpKZm83azFFMU9wTHpXcXVsWElvbFRmcFdQblFQNG1GbWdDSGlVQjhKd215WVdYT05zcTQzYmlEM1FLSmFZb2tKekhiYmVMTkZ2RC9MaVZSQXJPcWJkUmJ4eVJTSHZQdk9pZ05tUWlRK0VmT1lGTTdSc3Z5amg5dVZPNkZZU090U2locDdncUtaaW0vNWFsd1VSSE5rbVNwcnp1aGc1TWwyTHhRNnJzZTU3V0FDTjdCbk4zYWNFcG0vVmlka2xRbC9iSWVBTVQvRWVrY2NaUThiZHdOU0V4MjdwOWhKMW5MSlE1bjJOQVNzdEYwYWpQRDA0ejhnYWF1eDZuaXFyb2NsRnFRbFZFdEhjczY3VGg1M2o4R1ZkQVp5RE9rQktWSzZaUmNKblhsSFJmZ05tZ3pyWEY5clRLWVNhNUxrL0VzajVjaWQwZ3ltcXB4YXYyajF1aFdaQ0s1cmRGVVR3U0ZQSWJTeklJdnZ6em1xc2p3R0IzWDFSV1FTSEl0N1QvSDFKMUp6eGtWRWs5TFczdlQ1clpyMjYvSUx3cURWeHFMTXZHRW5iVkJDbkhPS3hBdzFZMVhRREN1cGJFcHdqNnMyMFpSTTJKV01KMk81RlV4UEcrTHA1bWpXOVBhNzdQVm01WWFDVTE3d3F4cWRDYmJJR3IzbGhsMGxaTVkrbXBDdno1RTdvcGtkUmhidGZlQ0F6K0E5YmJhTEtjSmwrUUxOT0lhTzBRdG44T3FpbE1jZC9jcDlvZHgrK0Z1Y00yQ3haRTZ4OSs3dURYUW5VN2VvN1hOSVlRRVBSUGpnaDFWRGtjZWpwVzhSVFd2RUVaVU42NW1WdHVRMFZlNEZXU1Z0V1huRlZKU0FSZ20wRFFvNXltTHc2alBFNVhTL05OMVB5NllEK21qWlp1V0dnbE5lOEVQbG90eVEzL255VFk0U2RveVVsYmxWM29TY1hIbTFkRVRaRmk4dFdRRkhSOGFjaVFtTmtlRW9RTGVDODFoZ3lZaEpwUXpTTHoyZ1dKRXF1dVMxTEYrZ09RNXRoeCtrS3M3eEFWaW11dm9XNkdjVVZEYmlCZEVnaGlzUzByaUpPQ1h6bWVHRk5SeW9WNVlLYTRpQUZ4YkFVZ0VpWC9RTWRHMmErRTRXZk1TWkVHVVlYUE5UWkt3UVJ4VGRySXVtcFhOR0l1OWU4YVBOYjZJd3RCT0ZadEtJOGZwNFd6RkJhRzBaUittamVsSGd1Y0QyajZtMkk5Y2RubVppNGtGMG9MYXBDZmJjaEloc2VmVklYd2Y5SitaajBqRnlVa3lsT0d6cXNPYWY0ay9KaXBxalgxRTUySmZoMmkrV0gzZ2x0RjZVaVphMjNhUkU2ZjUwWEkwQlhrVUtFK1g1YThnaktsaHFteXBIUStaOFlpMlROY28yR3IxQWwxNlN5UFR3M1lySEU2OEN3SnVub1ZyWFJyZWhPSGRPemg2ZHlpeDFKdjNsaDBYMnpwR3Z3MzVpZ0kyYkZPR2xjUkZPRms3VFRvQTBvbVl1R1NtZUVjZlFUTGdoWmFoNDdvQmU4cWdyK1F5bVM3Rzk1azF1NmNmVDkzVFF2SzlTZzFZemhpYjZFWjRzT09xM3gwb01XcEJaNUQ4bWQ3RXBFWE44Rldlc1hNWVQxSU1hNFVQbkdLMWFWNGFBZEtxeWlFZVJTMWhXTUpkMEJtR0RYcUpibTQzb1dXdGJlY1ZKWkhGNHlnQUo2bG9xaTc3d0R6OG9LdVpaMWJjcDRQQ3gvdlNTS1hxdkhpS2R5enFqLytNMkxvcW9WVG5OSXZJcUZGdXBtMVV4cjhmN1BMd2hSRGUyOE1KRWxjbWtjclFuQ2g5bWlTTHhXamQxQ1dabXlLT0IvRlVUTFQ4QkZMc0UxejV2Q0JnSDUrWHMrVW9SVXh1NzYwSjlRMGRGN2J2c3Qvbnp0aDk2L0xtaGJha2lzYXVNMlFucExXZTQ5bzZCelV0K2Z1ZTNlZSsrOTUyeVo2NnAyS1E0cVIwVTdObE5DSWxKeVNBSTlSUmpGS1RIdU56azl5SmVVS2swZUczMmQvWU4yZXlVOWM4cGRqckc3N3poTEtteDk2SGJvYysrOTRqUHQyRUo4d3g2c2hmSXRRdjdYZFZkN0sxZEs4SHNIODBMa3plMTZ1QXkzUEh6YnEwcWt5VnR1VzRuK1VYVGlDMjc3SmM3K09XbDEvNlBOaDdJVHVRQ29JV2EzNGZKRnpvZ3BFUytoemxHNkpuOUtRdWJMbTRCb0ZKaVJpeDVXSVNxVmxnaElQdmg1SHdrZnNDelRkRnNRTXZUbjRqcXVGZm05LzNVV0p0bkVOU3o5ZEZMNWpxWnlWSFNRT1M4RXdrOEp3NkVZU085RHhpbEJKZWlSV0ZHYWpMUHRkdlNGMHN1Z3BoQUJxVk95c0Nsa1lmdkllMW5PbitJME5jRVE4emZacytmUWJmL0J6dVBHTDIvbHNremNPcGdYZmdDT1BlOEgzLzVlOGNJNlA3dVZxclQxNjdDcTRnY1llODJiSG5xWC9LMHVKVHFlTzhHZW1DaTlFRm85VkZWOUQzK0RVNVUvK3BlSFpyV3JWZHo4TGlIQ2lLSE5xeStwamtBWjNCbVVtbVhIanArODZxcHJUaDRUWGROVXp5ZEs2dDNYcWhyK0RkdkpPN1hzOEtGbXVZcU1JbDdwNjgzckpYTlZUMUtZSms2SlRBekpCVms4S3dNS1BNWXBFWmN0Y1NyblY2a1FvcGZoWTdBbW1PZUZvRkt5Nm1LaVBVUU9JM2x0TFhKNitXZVVLVi9BTS80VlB3bDFBcWErcG1qOGxhdFN1bmN5TC9yNVNsem5sMEF6anA1NzZWWFhuRGlHN1plTnJXUG8xSlBIU3NxdVlWbDBmWlNFbVN1V080d1pFYStySGtlYlhtMklqcFE1cTNNS1prbzVSR1JWK0JXNVl4b2RQR05mMFZDbHBYUWdac0tTTlBMc1pYQUdPaGpLenBWQ3FUV2xyU2hsQ085NWhlTDQ1dm0yU3NZcEo1WFRjdVBMMTUzWWZqdE9PcFF3VFdYYnB4TForVDdoaG1MUjUrOHJiVjM3R2tPdnhicVZHNExPNW9VZjN5M2Q4QmNyRm1tSDVPZlBsbzYvcFIwdmRIUDVHeE9QM01lT1ArdS9iTUt4UDd4NjY3cDMyemwyK25WWGI3MTluVEltYnQzK3NGVndXRGtsSzgrWGhKZmI1UGwyV09JanpKMVhVVjRoTjZlZkFRb0tUZmxXVkJybUNVcW9JbVQ2NHN1bVdqdXNLaXFhYUozNXo2K1F5aTNaKzdrcTA5eFRLK2RrSGIyWEVYS3BwVm82VEUzWERMUExGS2V3dzVKMGxteWxPTXZSb1hZMmppNVVXbE42SnpEVk5TY29OYjB2dnB4VlZxV3A2S1JGZ05KRkpWRmMxNnRSTDdrVzY2dWNjd3lnZWRWVWRPSnRzc21FVlMzeXAwTXhIMjlJZHBaQ1NNTjNhM2JHN2VHQ3BxZGs5cXlPd2p4MGZHZlBwVnhXeTdoWlQzeFpWa3VDWlQyWkk5cGY4RXIyWnJhMFYvVVdwMWJPT1FiUXZNcDZ5OWZiWnAySlRsdmlEL3luZmtkbWRFR3ZpYXFhYzNvVnBQZ1J5eTJLTkpiNjB5clhkMDlRTHF0SW9VeU81bzhkSGdpVEs2S21Na0tFWTg3T2xrT2ZmQmhWSzdoa0VlV2tWUzQ0QnMrOHh0S25Ed01FdW1LTlA3V29DdzV1bXBMZVVuQUFhbDNUbXlETkxiYjI2Rkh2Qk9zeU41R2diRXBkWUVwTDJMSnhxQUdBM08ydktDUEUwVTRlM2J0Z25WYTUwR1R3ek91UVdhVTdZQ1llMEJWdG5zbVBIaXRUQ1lJZFp0Unl6UytaS3RFU3JUMTFQMk9jc2lMUmdLdWVpNGJkdUUxdmUyRURTMjNzTUxsVjRaZWV5SjFOblNuU0toZWlCcys4V3BrQlV0NnJSQkZFYlNHQjNjNHlFQnozZDFjQ2FsUlY3R1VPRGpzb0Y2ZFVPNThIS1lvL29veElNT3R0TDJ4M1NKWHpucjZtZzUxV3VWQmg4TXlybmpxZzdGNlpGVkVzdHBLbThjYml1bDNVUXhxcjhma2UyTDJzNmo5bkhGRnZaWG1wS0ROT2VVajZKZjRXMUlGbkhMNldkblVUYXFsYnk3a29HVkhUcXlOWVBhUlZMbWdHenJ3SzdrNnlhcW52dmlyc29FSG4zc1BPL3JPUE9tTWU3VXIweTFKMWxZZmxGTGVzam5CMVNUd1JweHdUaTBPOE80Szlrc29aaDN6WkxFR3FJazdBZjFwZGNVaTZQcFRUY0V1clhFZ2VPUE1heWJqcmhlWWQ0WjMybWZNYjhGNkhmOUlWeVd3RW1IRmVuSTB5S3J3L0kyRlVLUE5mT2RTL3ZOeVpMMEZaSThNWkt6NlhWb1JWSkswTDQwbzlQU3k4MW14dXg3dVJ1ckdhVXJtb2VlRE1hMVh1TmlqZzB1NE5uRDQrd3M2TXdzenNOeTdTV0xxVzVkaVZHRWtiK1c1RlgyVS9pK0ZRMmxweXN6MVBjY3BSZkI1V3FGMk1HcXc5b2crK0JaLzFva1dodUxVV1JlOWtOM29rcG1ZZFN0MG9TYWxjU0IwNDh5cTZxNk5VYkk2dzdiUDBBYzRzdTFPL3JKVEswTDB3ejY1RUs0ZkhyTE1YM01lMkZyb3JnSzBGbDdMR2JpcHV0ZkhiSGhlSzF6dnNtREFOVm5qWC9xNHllNkZEa09taG5McU82Vmk1bEQxbzVuVTBWMno2eU5YYmY0V0dUbnh3ZXpFVGx0MkpFTTlrc1FFdXFEN1RYWjZpS0h5aXZQMjJPZldVZG85VEZ0NVJ1bWtORE44di9iekZkdlFlL2pyWFRiZjl1Y3c4ZDVxOS9MMFdRZGJrYXVwS3lsKzVrVDFvNXRWS2pRVk11M1lwaFYySnpEUGVXSFpEN0wrMk5TWXY0OEIyVnNtNGZtOTVKL3lEWmw1VmQydG5KMDN1aFdjMXg0bndrUGw4cFpjcWQ4YUwxOTlPOHBmaGVzYXIxb3VCRHBoNUhWTDdqenNEdlZldVhMc1NpWCtpMGx1R0o4QUFBQVBDU1VSQlZHdnQrOE0va3Y3V1JMcFNBMlpldGRqaUtMMXhmUzg5a0gxWEF0c2lUL2U5L24wUldIOXk1OVVPbG5tTjl6S1NkZzZTNW15WWpVcWQxeW14blA0eVN5ZTJTeS8vU0k2dG9MajJyZjBNRU9MS2RIMnVwSzZTdTdMM1NvRDNHVEo3Skh5NmU2clgraTRSL3FaODcySUg2b2hmVHQ4QjQzNndGUFp6TFlZR1kxZGlNV3U3OHppNnJETDNpVzdNK2o0aXB3cmp0QzgwS0ZmaG8vdXFhWjVkaVYrenRzejNWZWxRK2FBZ2tHTlhnajQ3N25sTFlGQndDWHIyQTRGQ09mTzdFdU5sbUpmN2Rrdy9OQWd5TG1NRXN1OUtjT3RpODVjeEZxRnBmVWVnd1RJZVNEMVNndTlpYkszdkdnU0JseThDQ0tmd1JVajNxL0FKYmx5NXZzanBMalZRWE9ZSVpOdVZHUHR5V1ZpWGVydjlNa2NsTks4L0NHVFpsZmpHOTI2VnRvWGJ6dmNpKzZOd2tESklDT0RYRkovLytrN1hqLzd6Ny83Z25yTWk1RklHbHVObHIwSENJZWk2R3doZ1Z5TG5sZm10dzkxUU44Z2NMQVN3SzVIeldoK3NCZ1p0OXhPQlJrN2p5djVTNjM2Mkt0UjlhU0JBaHp6NXJoeWZjVndhVFF4YTdCOEN6WHkyQmVycC9WTTIxRHhnQ09EM1ovSmVpd1BXeEtEdS9pR0EvNUtROTFyWlAyMUR6UUdCZ0VCQUlDQVFFQWdJQkFRQ0FnR0JnRUJBSUNBUUVBZ0lCQVFDQWdHQmdFQkFJQ0FRRUFnSUJBUUNBZ0dCZ0VCQUlDQVFFQWdJQkFRQ0FnR0JnRUJBSUNBUUVBZ0lCQVFDQWdHQmdFQkFJQ0FRRUFnSUJBUUNBZ0dCZ0VCQUlDQVFFQWdJQkFRQ0FnR0JnRUJBSUNBUUVBZ0lCQVFDQWdHQmdFQkFJQ0FRRUFnSUJBUUNBZ0dCZ0VCQUlDQVFFQWdJN0MwQzU4Nldibmp2M2xZWmFydGlFSGdEMjdxMnpONTZ4YlEzTkhRdkVYaVVYWnlMeHFwc2FTOHJEWFZkSVFpTXM2MDJtanJDbnI1Q0doeWF1WmNJMU5qMXZMb3lDNzhFdlplNFh4bDFqYkF0OGErRGxzTy9OcjR5ZW54UFc3bk1uaEwxcmFyRW5sWWZLcnVzRVJobWJFRTBjRExiUDBLK3JORUlqZXN6QWtQNkgyWlBoditBMW1kc2c3aG9tVDBoVVpoa0Z3SWVBWUgrSWxCaXowaUJxK3g4ZjBVSGFWYzhBdU9NVFVrUW1zRjdYZkhtMEc4QUR1dklQcXF6eC9zdFBjaTd3aEdZWkhvenRhcWpzQ3NjazlEOHZpR3d5cGlTeGNLK2w0SWkzUHVFd0lhTzV5ZE1GTlluMlVITUZZL0FzZzY0RHBrbzdJcEhKUURRSndTYTdFa3BxYVgzVi9za09vZ0pDRlQwU1ZBOXZKQVR6S0hmQ0V6cTVTSUxMMHowRzl3Zzc3Q0t2VWJaZGtBaklOQm5CQ2FVVmRYWVMvb3NPb2dMQ0VSVjFpWVVqckx0OEs1cU1JZStJL0N3OEZxeklmTHFPN1JCWUJRVmlsdHJVZlJPZG1NQUl5Q3dDd2pnWGZ1N3l1eUZ1eUE1aUF3SVJORzUwK3psNFJQdHk4OFMvaDllUmlnbDYwTm93Z0FBQUFCSlJVNUVya0pnZ2c9PSIKfQo="/>
    </extobj>
    <extobj name="334E55B0-647D-440b-865C-3EC943EB4CBC-100">
      <extobjdata type="334E55B0-647D-440b-865C-3EC943EB4CBC" data="ewoJIkltZ1NldHRpbmdKc29uIiA6ICJ7XCJkcGlcIjpcIjYwMFwiLFwiZm9ybWF0XCI6XCJQTkdcIixcInRyYW5zcGFyZW50XCI6dHJ1ZSxcImF1dG9cIjpmYWxzZX0iLAoJIkxhdGV4IiA6ICJYRnNnWEhkcFpHVm9ZWFI3VEgxZlpEMWNjM1Z0WDI4Z1RGOXZYSEJwWDN0dlpIMGdYRjA9IiwKCSJMYXRleEltZ0Jhc2U2NCIgOiAiaVZCT1J3MEtHZ29BQUFBTlNVaEVVZ0FBQWlBQUFBQzBCQU1BQUFCZno0cFRBQUFBTUZCTVZFWC8vLzhBQUFBQUFBQUFBQUFBQUFBQUFBQUFBQUFBQUFBQUFBQUFBQUFBQUFBQUFBQUFBQUFBQUFBQUFBQUFBQUF2M2FCN0FBQUFEM1JTVGxNQUVKbG03M1l5emQxRXF5S0p1MVJ0dm9aRkFBQUFDWEJJV1hNQUFBN0VBQUFPeEFHVkt3NGJBQUFPZTBsRVFWUjRBZTFkWFdoa1NSV3Vua3grWnBKTUI4ZFpCL2NoY1JFRUVSSlFRWVNsSTY3dXFtam5ZUldGaFRRSS9vQnJJaXhtRjF3Nm91aUthT2ZCUllZRk93K0xveXZhQVFkODBLV2JBZlZscEFPQ080alF6ZUtEVHlhdTBZbWoyZkxVYjlmOTYzdnEzdHZWTjczM1B1VFdyVHAxem5mT3JWdm4xRTlYQ0RHdTBrTkx4bE9SSk8raC95cXNZRmpnODVUUzd4alBiL1RrbThBZWxQN3NqVzRHcmY4MHR3ZWxIWjJUWldLK0t0bmpiN1VzNWR2enV0U2c5T3lMUFVwUCt2YVY0MnRjd2h0Q1VlN0hjeDBoeFh5TDB2c0haQVp1WndjamtITkZxWW0vLzJNRU1QQXN1NVMreGd6QkRQTS9mRFUwNVF6ZUVJcHlyQjd2cjJBUEVZUE1yMUw2UWJTZWVFS3dPTHYySTJxVUh2ejFqOTU3KzY0Z0VuOVBJa2hkWkw4TXpVTEZaQ1dBL3RYc2hjNEtMZjg1bkhQcHkzK29hcVAwaDlPT3NIU0IwZzhOMkpjZXAvUnRnOGVNVWlXcGFHd0hWWHExSVUyeW5aRm9helpUVmRNZVVCMHNzbUhOSmE3Q2tWQnpONDZPa05LbkJlbS80MGxIUWpGVHA5L3dNWDRmUGQzelphVit2Q0MwZkEzRDZFdThPZDNIa0daUFUxcWwzdzl3L1J1OXZ4VElUSmtodjRRK2hzMDB0MGptRURDaXlUeDlKb1R1aDdRV2twc3FxeTJheUg5UlRLQmJHMVhRSEN2L002RVV6NGZtcHNtY0VnYTVoK1BCUmxick9OSnpTOVVTRnVuZ0ZQZ0JwYS9qS004dDFad3d5SDl3Q3BUcUZObVljUHh5U0NYRDl4TmtYM21aWnQrUDVjd3FtNktKSENKaGRTTURmU1NEM0pNdENvTmdSMjJYNlhnSHZLTzNwd3JmYTBoUnZWR011NUd5M1pBMVJSUDVBRkxhM0RnSHZFaU02Y2g0dUFVelVVZ3U4M1FOU1hsdXllcWlpV0QxN082ZVcwMlJ3TnZDSUxqd25aQ0w0eHJ3RWxLbmp6ejI3WjJkbmVlKytRZzlRMnFYZ0V4T3JaNGlxMDZIZkZ4dWtIcW1QTEZ3a1ZwNXlGWkZFMW54WkVZLzNBZ1V1VUw2eER0ZkVWQ2ZmZWxkbndxZ3lDNURodThwUmltdWtCTEN3cWI3dGV4MEQrVTBMOHhPRDBKTGtabE9rQklDWXdlS2phcVJ5RVBJS3NJaTJ5RkY2Q3czU0FscnpYMDBxS1NFVEJtNFVzV2dicENTWmNDWlZFMThQUlcrNytHckJDamRJQ1ZIMU1rRXhCYllIUzVzK0I2d0JtUTRRZ29lTVZWRERvTWVraWQzR2FRSmRod2hiVkNLbk13S1VkTWlxODViU0pxVkh6ZElTNER6MkVLdnhLUnZGZ1pKSHBVN1FzcWk2bFRPRUdzaHVWVWtlVHpzQ0NsYldldGdsVXBGQjEwQXUvYVRNbkdFbERuM05MNFFyeDV1STBBMFAwZElsOEVnMFNDeUxFa2J2anRDMm5RVGhqRExWc0QyY08wbXRITFREZEt1bXpDRUdVR0c3NmlOQUNGR2M0UzA3aWdNWVJwQ0lNR3Vmb2kyaUt5NkU2U09uTHZRZDR2YkkySDQ3Z2dwaXc2Y2hDSE1KREo4VDdaMjZ3Z3BXeUhvaVBmbjRHOVBOSkZFQWgwaFpjR0JtekNFMlZ1Rzc0bkdUbmlrODcrdkNzT3J2ellieGNwUXlVSFRrQ0prK0k3ZENPQUJoa1phYWlsRDZQdTZoOVBRaDZZYjU2NHdkQVhHUS9Wc2NVY2p2YVh0b0JQSGVEbUEwTVZzaUFJa3czZnNSZ0JWamQyeFNHVXIxTVpnaVk3SmFIaTY3c1M1YXd3cWZLL3BISFFDaTNRTGZ0bngzTTdURkpiZmR1b243Ty9PTDlCQ0NBSHpXYlFud2ZpQkcxSFhDN0dTajBBZ1hMdXhoQUVDcUlWQkNwTzNmendnWklyNzl0bVlMZVVCSVNTSmMxZnp4Vnd6MzUrTm9BaHZqdHpIRzdKVzZhVUxQR0dSem9xZnl5M3lqcUJzUFIyVnhMbUhmYVRLTG9jQlJmd1pEVUc2NXMrUGU4WWkzUlN6dG1YdTJyZU80OWo2eStPYysyZWYrUG5UMy9KWGVsR3BIN2dqSEg1YlZNSnVCTkN5NDVCS3dubTU2TmJrcHFpczYvclJDWStPWllDM0ZFM0wrMERyWmhmTkQwcmtQbDdybWNRWXBFcm1vbVM4dXMxeVdvY3FQL3J1MWJFNVBBd3AzYTNpdXJKb2VZR1NsbWdpSzRHQzRSa3hTRlhscG14NjFRN0xhZkMvTEJWOWVYWHN4b1VoTU1aRVdEbGFYTEFrWWZnZWkxUklhdlg1ZlVhTVIzQjdzMHdkNjNGaENCQnZCSlZLazJPNWoxZUppa1VxQ0I4VXR3VStIcm1FbTNveGRZVG1PM3hUS016OTd5bE1HZDAzUVNoYzIzYnNvTVp3cEI1MkYza1lNbzNEYnVnWWRPNVhQWHdKQVcvbnkwbjlLUGZ4MmcxNTQ1RjZjRFY1R0hLWjFqeTVFUStHamtIbjN2T3htTTErSlZ3R2RuYTdpZUtSZXJSZDVlYWV3MjNRTVhRTU9QY1pmM3NvajJEczEyUmZqT1dDVlR4U2owRkVsTDg4TEtRWTBCczZsZ0hZMHFDRWtBdittTG81Z3BWdzlyWnRHMTQ4VWxPTks2S0hhdnBmcjBrelNCczZOaW4xUmtnaTRoM1F3cUQ3MkhqS0tGa0hnM3pkamxjOFVwUGZvaGp3YitJTVl1Z0l6dDI3U2hLSWRldTIzc0RFRlpWdXd3ajlJS293UEQ4ZXFWbHZXYmlYVlp4QkRCM2hWWG43dGtCb1p6VzVZbUlhbGdZL1krZGoyQTdqT0tTbXdLNndSQTluRUVOSDZuUHVNMzQvQmQ1dXo1VEUwek5SMHlFM1hnalFobWJBNjE0TExZak9qRVhxcVZvVkt4ME5id2ZwSVJrOEdEcXlvSEYzVUFKN1ZyMDlDZzlEbGt3Q2xrNDFIOElZUUNERXd3U1dSbDd4U0UxR1U1SS85YjlmazBpbm9ZOVhPcktGb3hWZEFJbW1NZG41bTd1blB5V3p2azZYRWJNWUtlbzZOTGxGcGJkc2ZhNVk0bG94K1psSVMrOS82dVJyTmFOMFZuNlJnZVo5OVdiMTBkOFpoSDRkV2N6WU44cEpZeEFkUDBudjNhVDdaVitueTRsVHpZZkFXU1ZWVzU4cnRsdEhJWjNwMFVmdjByUGFRSkV0NFJyTk1Rb3ZmSktlUE51Z2Y5S0VBUjNMWUJEVldoalY5R0JrdThBT1dubjVyT25yeWpTdkZJbnJDVFpuRGtFS3l6QS9KdVJsYWt5ZnRvUWVZSkI5RStkYjZmMGFtZS9wL2l1b0k3UmRUNmZSMU8wRmZqM2JCMTcxaHMySXloUStKRjJudUlqYVpCR05GSGF2Zm9SUmRqVjJvbG9HVFAxc0cweXUwSk05ZUZ4UTd6aEV4MDF2R0FLOXBhcC9YWHlGYlYrbnE0clQzR0dYaUszUEpTUWE2VFM5eHh2NUhKVlRROXdUMUJoQ01NeXhnWFNUZm9VL05lVDdDTkd4NTNYdXQ2Z08zQnNpMUFQd0t3YkxUSktnMjVvMW8yaWtYYm03WW1yd0E2aUxWUHlLRVF4aW1INkJ5aFhVaXV3WVFuU2tuakJrcHFyclg1YWZFa3lBOXEzQkQ2K1F3T2NDdzBpa2dQQ0FDNFR2UXlUWTFpMzVZajBmUUVVMW9iWkloT2pJL09ldWhsL3FEczVscUZBeHN3eCtlVWtUWkpPQTN1RFFtbE0wMGkxOWp1T2c0VFZVTDlHUVRZWEpnMGhtUThndGkvNDNSRWUyNTJ0RkVNSGZ4K0dwSTU2Z3JXM3psTEtpeU03aWJ4S2ZLM2FucldqeEJsTFlwYlV1ODdWTEFldko2S0ZuUkdaejJqaGwzb0JDZEN4dGdnbWsxY2d2b2JLdURyRmJuNHU1cUJxZkZKcitsc1Rua21pazhNVW9EWFRMZytoS3ZFNjJQcjZpSUZkMFV5cnozc2F2NDlYYkw5V1pDVDc2MEowN2QyN2ZiTEMwN0RnSVdWYnpobTNUdXl2V3FlNDliWFVzbTZGSUwrcHZldUJqMi9yamFScGRRbFUxRzlMbWNhRmZ4eFlOdVZUZ1hsRTl0dTZJc09qajZHQnAxK2o0NDZoNStWQ2tSenJvaGM3NlVQQ3JxTmRKeWpxUGpaOWtzNEhBaGExMituVjhlNGc5cEo4bXBLY2FSa3Qvb1NqczhVU2IrdTNGMDBxS0dLVHFKY0luc0NKcU5QWEhBZWJmazF6Z085cVF5UzRmamxqcFNKV0hxbnBqWDhreCtRM2VrM2RDS2prclVWTWpaVDh1bFJvdlBLWlVML1dlVVFLZ3NSeklkSThiVE5kRTZBZ2U2cGhYaHU5eVRYSE01TDQxYU1PWjhBT0FBaWxobjRmU09JeDFXMzlIRU5OQVRHdWxJL2l0YmM1VVJ6MWhJaExrd2RqZ05FRzE2Q29hS2N4YzZONGtsSHhRTE9yb21oZ2RnYWJEdVY3UXZqdFVpSFVtL01BanpZOFFnL0lBNllyTVhkVTlSNUFNY2lyNlc0V09aWU52UXVod1FveU9JR2FORTgreE1HUmhsNmV6K05Pejlya3hVcUZQNmdnU2lMUFdoeEVmVVRWSnQ4emZzcFdPSUtiUG1TOHpiM1B4ZUpnZ216SjRONi9iME1mVFFrOGdYaDFiY3UwUG85OVNqaE9pTlFiQ1NrY1FzOGVaODNCL2EzdVlJSnN5OExrYk52UUlXczFSaEovUk5jcjZpeEw5dXAyT3l0cFYxb2R2WnFVRTlHUForbHhRdjZmNmtKWXhUQTB6eTZLU3JZWm5WanF1aWpjSnJuMGRaczJXd2dRa3lNdmE1eklJVFdtSGFUWFpFWVhyRXBYK2JWUDI2MVk2dGtVVTNHSkRnUms5YVJRbEM1blBmRzVXdHRVaUYrVklvRUsvcS9QQ0V6M1JEVXpSMHdOT1lLWGpOQmZ6cTN0TmFDR0x0bU9QY0R5RW5VTHhzYWd5WDM3cHQ3Nk15TWRTZzArRFhlRERrMGdxVm5CZHRJeFZOZUt4MDdGMVVpUFg2UDVsTUV6M2NLZ2NmS0dGejEzQXQ4cTMwRS9BYWtIMVpDME9TS2wrMG1lVFB2cG9jaXNkcCtucFRUYVp2VXBmRVZPNGNlTGl5MjE4N3JKRnErelNqLytFbm16RUE0QTUxVDgzakZPbzdYUzg5dFFwMnpGLzZjWFRUcndvRkVWRmU4aDRjcHR6ekVvUE4wNy9Vb3ZuU2NqVnUvUjc1ckpkOWpwaVVDZ2E4TG5vNzJBKzgzQkZvY2pSdmEwR2pBaE1jNW5QYkNPRU9pYXg4cm1yWjQ3UmpVRWM3Sm5EK2x4WVljNTR4RE1HZldORlFveFhpeVdTQkJVOTZZT3RjZjdvWUN5S2Z1dXdPTFp5L2pTMFJBdyt0NE90WXRPWXNEenpSbWZqYzc4d1dCN0tteHJaNGJId3VmQng2Wm1MN0FEa2pGT3BnUjduWG1tQVFRYjd1bkttU0ZadzhENlgyME9OUjdNU256OCswRTN1b1ZCZHEwTDdVRk5acUJybmtnaTZCV05EWExRS3BZZTVPVEplK29pV043YVNDc3JuenIvS3VnOTJaVDd4T2piTnd3VmpmTzREejc5REdJUDl6Zlpuc2VHZ3hwbDdpOUlQZnk3cXV2SDNkMy95OWszUmRTaVQ3STRUN2VobGc4KzF2QkN6WDZPSFBUb0o0SE10cjZYUmdja0Q1NWFsT2ZBVGEzblF6aDREQzhYdExvc0pabnM0NDY5eFpHY05vRjRmUCtnUklvQmRDclpYWjRSd3hzODZ3YitvUGhnLzZnSkJZWUhDQW9VRkNnc1VGaWdzVUZpZ3NFQmhnY0lDaFFVS0N4UVdLQ3hRV0tDd1FHR0J3Z0tGQlFvTEZCWW9MRkJZb0xCQVlZSENBb1VGQ2dzVUZpZ3NVRmlnc0VCaGdjSUNvN2VBL3p6ZzBVdk10d1QvZWNENVJqdDZkUDd6Z0Vjdk1kOFMvT2NCNXh1dEEzVCs4NEFkaU15MWlNQjV3TGxHNndCY1JaMjIyRllKQjBKekxBSU96WkkvQXBIbkFlY1lxeE5vL3ZPQW5Rak5zeEQvZWNCNXh1b0VtLzg4WUNkQ2N5d0VEaUxjbHZERWVjQTV4dW9FMnVCMFhEaXFjZEovbFlxeGFIbHdPcTQ0RHhoVGFaSnAycjd6Z0NkWlY1UnUvdk9BVVpVbW1jaC9IdkFrNjRyU3pYOGVNS3JTSkJQNXp3T2VaRjFSdXZuUEEwWlZtbVNpd0huQWs2d3NScmZBZWNDWVNoTk40ejhQZUtLVnhTam5QdzhZVTJlaWFRTG5BVSswdGhqbC9PY0JZK3BNTm8zL1BPQnhhL3QvUlVZaWY3Tk5mT0FBQUFBQVNVVk9SSzVDWUlJPSIKfQo="/>
    </extobj>
    <extobj name="334E55B0-647D-440b-865C-3EC943EB4CBC-101">
      <extobjdata type="334E55B0-647D-440b-865C-3EC943EB4CBC" data="ewoJIkltZ1NldHRpbmdKc29uIiA6ICJ7XCJkcGlcIjpcIjYwMFwiLFwiZm9ybWF0XCI6XCJQTkdcIixcInRyYW5zcGFyZW50XCI6dHJ1ZSxcImF1dG9cIjpmYWxzZX0iLAoJIkxhdGV4IiA6ICJYRnNnUlNoelgyUmNiV2xrWEcxaGRHaHliWHRqYUc5dmMyVjlYQ0JrS1QxY2NHbGZlMjlrZlY1N0xWeG1jbUZqZXpGOWUxeDBhR1YwWVgxOVhHOTJaWEpzYVc1bGUxeEhZVzF0WVgwZ1hGMD0iLAoJIkxhdGV4SW1nQmFzZTY0IiA6ICJpVkJPUncwS0dnb0FBQUFOU1VoRVVnQUFBNFFBQUFCOUJBTUFBQUFJRmJCRUFBQUFNRkJNVkVYLy8vOEFBQUFBQUFBQUFBQUFBQUFBQUFBQUFBQUFBQUFBQUFBQUFBQUFBQUFBQUFBQUFBQUFBQUFBQUFBQUFBQXYzYUI3QUFBQUQzUlNUbE1BaWF1N1JDTE4zZTlVbVdZeUVIWjJiVWZvQUFBQUNYQklXWE1BQUE3RUFBQU94QUdWS3c0YkFBQVl3MGxFUVZSNEFlMWRYWXhreDFXK005TXpzN016UGJNSkpBcVdRNDl3c00yZmVvZ2xHeHhRZHdBUjg1SWVLeWl4RTVJZURGcGJDVkd2UkJKYktGWnZJSGhYTWZnTzhCQVVLZlJpZ2hVVzBLenlBRllRbWhhT0ZKUUk5V0JFTnBiRjlpUkNJUTlCdmRoNHB1M1lMcjc2T2ZWemI5M2JmZnRucHh2MWZlaGJkZXFjVTFYbnF6cDFxdTd0N2lDWVhaTnBnZE9mbnN4MnpWclZyd1Z5dGRmN1paM3hUYUlGRnQ4WnNobUVrNGhNdjIxcU0zWThnN0JmYTAwazM5VUhmdWk1R1lRVENVMkdScTNNSU14Z3JZbGtuVUU0a2JCa2FkUU13aXpXbWtqZUdZUVRDVXVXUnMwZ3pHS3RpZVNkUVRpUnNHUnAxQXpDTE5hYVNONFpoQk1KUzVaR3pTRE1ZcTJKNUoxQk9KR3daR25VRE1JczFwcEkzaG1FRXdsTGxrYk5JTXhpcllua25VRTRrYkJrYWRRTXdpeldta2plR1lRVENVdVdSczBnekdLdGllU2RRVGlSc0dScDFBekNMTmFhU040WmhCTUpTNVpHUGN1T0RyTHd6M2dueXdMekR6N0NHT3MrZkhheW1qVnJUZjhXV0dMZGl3OC9jakhzOWk4eTQ1eFpZR2FCY1ZzQWpqWGhHbmZOTS8wanNrQUNmaUNQcUlLWm1uRmJZQWJodUMwOGR2MHpDTWR1NGxrRk13dk1MREJkRnZoczNDOStuSG9RS1NMeTdENVpGaWhHY0VKV2Y2azNValRhaG4rMlBMQyt0MXdhV1BUR0N5NCtQdTQ2bjNrNGR2MFUxVGxPQ0U5M3Q2bWF6SGQyUGJQSUNRclV0MDZ3OG5GV1hYeDFZTzE1OXRyQXNpY2dlUFgvNlZPQ0JWWWUySnFMN0tXQlpVOUFjREY4OUFScUhYK1Z0ZThQWGtkL0VQN2FyM3pyeVFjL00zZ3R3MHJtdi9KbmI3d3p2QVExcmVQcGUxajN4anQ4MTlzdG84eXpNMVl1WTdJdkNGZkVRdjVLUnRValpOOFREZGlFeGhXMk0wSzlJMUgxakErZ080enFYQ1FNb216WnNCUmVOT25NcWVtQU1CVGR2c0o3VjNnaGN4OUhMTEI2Mi9GYmJaVVZ3c1M1RzJleGVDZC9USXlycTRKZDJSdHI5Y3NORlpEMEJlSGlUVStoQlNjNEM5LzlodHZSZ0cxdXVHVjJhTnZ2eHFkWHc5OTVjN2RwMWZ2Vmh4VW1FaUtWc1RtQ2dNUDh2MXBtOFhPY1NYUkgwTDdKeE9qVTVka1NmVUVJbGY5Mm9oQ2lBU0dUVDhvWDJlRGhkemJUSkhBWEVYbVVmdDh0Zks0R1NDZ2lXZnhjSGJsZGgyTUJsRE1XWlJVWW1tenR5S1N6cC9xRmNQSGtJVlFldEhPY3ZaY2psUGdHZDREdDZOcTFBWWgyZEMwcndQQlE1M2ppRk1xYk51VStOU0k1YlhXNFhVRy9FQVluREdGZWovSlR6bkMyelhKRDBpTDhYN0s4b0toMUdSQnRtdnBQTTNiSjVKQnFvOXdoNUppWmVlMElzOFBZT3pNdEVDSW9WaHZZMVJQMXBQTUNxZGdtWU1tRk1OaGpXNDd0RzR4RkptN05oR1ZGZHVBd1o4ejBEV0Y0a3VGTUVHQmNuMWRkcTV2eG03R3pJMkRmRithZXM2Y2MxOHJYdWsxTC9USTdaK1VDUUdwT3kyVkJRVWVIYTBOYWRsb2doS2NpRXpVaW9ZSmpxekZuOHVILzhCcm1ySVZQMUJpRk1CYzVlcTZ6cU8rb3ZFNU5YUmhxU3hFRTB3SmhtK25BZTFuUFJ6TENqYnZQUzNQUFI1c1FoVENvdldZM0NpdDVCTk9nOVRJeHRJWmJDcWNHd29iWlI2MUhmUkxaNGdiY3E5SVhMRVFCaVVIWWNiWSsvSGpMWFJ5RHFtWW91YkZxNWw1TXl5emNNMEY0M2lRemQzZFlnVDE1cHJJUldlcGlhMkZRMVpPTVY0bVZQTExMQ0tvMFRmTnN5RjNTdEVCWVozWUV0enNzRkFQSzAraXA5bG9MZzFONnFlTlY4VDFIMDYyemRWM2wxNWxZWHQzU0xMa3BnZEJzQzlHNVN0U0FXVG84Rk8rcUdrajdPclpTNm1LT2RGNEhuSnlqRFFnakZUY29aRjJtM1ZLRW9lL3NsRUJvdG9YbzJjYXduZTdiT2xIR2VjWXU4c3ZFVm9vakJ1RzZzdzFzeExhRndmNk9FbTBOT3lDbkJFSnJXOGczWVVPNm5pZ3lmZWRQNFl0TkVzSnRWeVlHWWM1WjRPeHQ0VDlJeWM2bTByQTM3R25UbEVCb2JRdjVtYUpqSDllWVk4MnBHYk1XYTBBTXdrWEhjZGJOdGpDdjJsNDRWQzFsTWtJYXZOMVRBaUVXRStveTM4dEdZNFBCKzU5TnNpSzNjSE94YlUwTXdzQStOTE8zaGVzcUxIdFhVMWFOQjhMWjJoRGpuaElJc1ppb0x2TWUxQzA4WXowYUoyRmZuaThzeDg1VDRoQ0dUZE1RZTF1NDlIMUQ1Nms1Njd6YkxlazNOeVVRWWpHeGVsU003cE90c3JFbU8zSWdWV1BuS1hFSTdYYlkyOEpxNUhXekpkL0Mvdnd0OWU2dk4yMFZLZWxrQ1BOZnVvczk5dGNISkN1UHVYTlBoUmQrT3FMNytWdnJqMFZwUVJDbjVuN2dFZmFKTHdUQlBaZElKNWhDajZndVJtTGx0dkNCTXA5M2RvUzNIejBjc1NYR21lNUk5N2huZTBsUlh6cUUvRGxHVTdXcmNGNGwxRzJEdmV3U2tIc0dmeXRVWjhmbFdJR1hrQWpoU2duMUloWnVLakVCSVI0Mkk2QSszclZWL1IzL0d5UFdmYXROQzRJNDlWOUQ5c0NUZDdISFY4d1Ura1hHTG9UcytOQVZ0WFBYUW5hQnZYaUF4Y1RlS3JlaVo4YTJTSi9weFRlSG9vUDZveCtMTllRdnlEdU5FZldsUTloR0phcForZWlPc2hMdnl4eDc4Zk5COElGNm4zRjNFb1JyTlhiMHZmKzQvenV3bjZ5Y1E3aFkrMVF6V0xFUFNvTGdYZXpvSDRQOEw5amhCZ1RpMUJYMlNoTUYxOEs2M2dlOWg3RTNCZm1uMlRFdjhGN3JqUDFsa0tzL2lzWGtWWXRoUTcva1lCR3pKZk5GalIwbHp2ZlcwQkpJbkk0ZXI4VWZOcm1xS21aYnVLQlA2eFZMSWVaUjhqVnBrUFUrVi93a0NQZllVWmxYY28ycDEwUTRoUGU5d3ZHRVc3akVpOFExcndCNDFnSENReTBjYlNzQmduQ1ZNZkYxaFQyUEs1SEs4eVgyU2FRV2pyQ1lYSmNrOGJsc25iWlo1Q3pKK3dnNGM3ZHJTRkMxSVNCc2RXVlhMS2IwV1ZqUVRtU3hGSDNlWDRxTmh5WDJVYWw1bjQ1UnJZbzh5UVFJMGFSTnlmMk43b0ZJQU1MRmNKY240ZFgwbE1qWGlHL2Zla1BMUTEzVkxTMFNoQjBtUFFYd0VYcGxmZmJuUFNwYXEvKzllOUEvejdvMjJ3QnAzN3VkWjNycldlQkxXcjV1M2tVamtYUUlhOHBpK2E4WFl5MFB6YnFpbEJXVnhZTWxlL0dnbXVMM0JBaHJOTTdYYmxjWUFjSmwxZlNpMmRtK2ovandqcTV4RVI1cVcyOWdseFdFUUc1VHRxZVdjR0FHTys4SURqZ2l4NmxBVkVvTy9Oa1N2Ly96SUR1THE5YmxuMmQvckE5bE9lNS9GandqTGgxQ005T1p0aGZWWnJzMFFjdlJTanNYMmlFYzhjZnZmZ2h4Rm5oTzhqYVkyZ01Cd3M2aHBNR2kyMHBUbmZqd2pxNlpoaDVxUVJ0OVZlSFMwQU9obGJBMWFqSDE5bjMwb0I5TEpEVkF0UU8zL0ZkK0tlbUtNZWREOWc0UVY4VXJITkdkbWxFWlR4VmZRa0R3QjNGNktvVE9sSS9NTEJ4VEhMcnFscFRCZzFLQ1dWejJwS2YyK3pvSXJqTzFVb1hzaFF0S3VLMnJCZFRhUE11TUhJQ1BXamN2dkVnSTBYYUtwdEgvSzlGMkliK20zNTRGWkhvRWNFYk0rREsvTzljM3daUndSY3pHbC9PUGNka0Y0Y2szWG5YMHBHYm11ejljZXVFZ3pwSUs0UnlhZGZmbHk1ZWZ2RE8wMWlDcEJQQkcrdDVTc3dJbDV2bGF2RVpEOGM1Q21GZk5ZWDQwSkEyQTJzbmtHM3J5N3hNZkZDSTYyWkY2UGRTOE5hSktnZzFCMFRuSnpoR2hwS0tJbXprWEJaaU9UMEUrMG04SXdEY2tYWTR3MTkyUmxBMnhNdWduZDZMV0hoOS9FbjU0MjhPU0NxSFpGdVpqOFNlc1ZuYjEwY3R2QUQ1eWtQUDFiOTN5NENkZFpwN3pRb2dHMFlvTnEwamtBQ0haR2UrMWJnbE5BSmhnUlo0eVBpcU1MaVQ0UjJHSGZ6YjBWT2FTcjNKUzVNS0QrZ05KZ2tabkltR0luWWt3QjhFOFdwaHdpU2xuQ1N5cTlsZXVjK0wrZWF0b3dHUXFoQmp5MVB2VHFtWmREWUJxNm94STFObU91TWNHTm5ydE5aUVh3cGFCcTBUdmI4SkFaRFpNRDFrTDZoZEdFRlVHRk9YNHFJRHdVSExCWkVLNFpyVzloQTFMN0lJamtSRnJFQ0RwWXF3am9aaFVYNFFGOWJSZ2I0ZXpGN2Y2RWtwbFNvV3dZcHpJaWpHRDFJZkliTnZWVEFZUDN2S1pBNmNrZnhjd3NPeE5oVjRJaTlwVEJ0Zy9YUkc4RUM4cklVQjRUaVRiaEtYSWRSU3JqMnJQek1vbTJJRktWMGp4ajRMbFpqVVJjNTJPRTkxQkFRNm5YaTNSZDZLaUZJZG51RWhkZlBZdDdHVk1oYkJnbkVndU91Y1FOeHk0R3BuUEdKSUZWdHh5bVhuT0N5RWozTUR3NVp1bEVDQ2t1alNFK3dacU1MV1VZYjFVaVArdFZCVGt1QjZNUHJOQ05iU2pVU3o4aGhGQjdjVmlRa25KTUNTRXhWMmhaazBPU3MrNkttdko4SmtLWWMwNGtSWHlxS1E3RGlFczlRUzNrT2NDaElkeHNnOUNlT0hvN09iZkxOSzFhd2hMRnRUaUJaSFhlQVZlYWdFNlAySzFESFBNT00rSzVWUjFFMUdodERSLzB5TFNkSElEbWpsYjR0OGwrNXpvVVU1WGswMkp3NTBLSWJwK1hYRzc3Mk9BQ0VITEtweXJCdmFqSDFUODdzMGJpWHRuSVdhSWhrdnJvQytIZ2FBaEJOOFZ6Y0FOTFlJYkw3VU5LanYraVNheFY0MXpFZk8zVEFWMFI2aW1HMUdKUWh5eTg4UTN4UDJVMk9pczZ3VmlDRlZwRUdMTlVMRURZaTVhM3Y5SVZRWUhFNm0yQTNhQXFKeWZVNGdGeGNuTGpHOFdBaUt6VHBFTW5paFFFdVhuZVpxM2pTWUtzcGhZZkNQanAzSkUrRVZQd2ZZcGZ1V0sybzRlVGhIalJHOGxDOUdtandiQ2lyRG5mSFI1a3ZWbisweURFSVkza2FDSzlQT0VSUnhDMnQvK1pyd0ZTOTVsMGdjaHBwT0dTK3Z4UU1oaEtXc0dQam01MGYxVXZyU0pTejJwUXZaWWYwZTk1c3htcWJGbFRkT2F0VzZLMHJyMlRLYjY3S2s5WWMvbCtLS1JYVlVhaEVCSm0ybmp2TlE5Ujd2Mk9JUjhDb2pyTU5hTURSMmoyMFVKRU9vSm9IazlFUExoVmRZTUhFS092SjhhcklTcVpmS1hZd29xcDI3ZHB0RWpVOENZQWxJRW9PUi9GTmRvWnFFY0IrM29ZaFJ0U1QvNU5BZzMwRWZTa2R1V3FWTzBTWUpnWkMwTTdsRTJpZlFaZ2hXOVhTZDkvTzZEc0dwSGk4VHNnWkN2bVUwcWw2OHNJK2VuQnNHenFtVk1IREVXVFpSbU5OaXBtdmsyR3NhbDhqL0VFT3BqQnFJTWNGYy9ubEhSOWgxQUI0bWtRVmp4YkJNNjU1UmtQQ0lOZ3U4cVM1VkpPOTBMWHVjekRJU28zZ09objRwV1hDdXBwaldSNlFVaDRtZTJDVDUrWVY1Zmx5bjZIQW1FQzNLRjZvd2J3a0xNaVNDK3Y2SzY0b013RUYvVzkwVGROUjBXa1NINDNRZmhobWZZWUZPaDEwY0taL2g4S3h0bENHZDRGT1NuQ3JZUDNDWkE1Q01RL1NKZllqUllLYjRpVURleFh1eFlSVWpHQ0c1eGY3bTJiUHpldUNHRVA0azRFY1FMMUVSWWE1dlM1cDUvWjRqK1I2WFE3VE9HUjZjU0lOUndhVVlQaFB3QndxNW00SnNLTHVhbktyYm45aUREblh6SDAwS2pTZ1pGVFVWb3g1b2UzZXJia24ybkM5S09KVzNPTk1tRUkyWVNTWE9rNlBGMTRsUDNaYjBuaG9jcFJ3cEZObGV5Tjg2U0E4UGF4K3VERUxPc3IwMEZqejFkQ1BtQmk1OHFHNEhQcHlHRVd5TjJEcTg1Uk1KK3ZsU0pOaDFlZHRObDU3a016d3VGY0NoanRub3Nub2lyaHJQQ2xlSTJVaURrL21Rbm9yS2hJelhzMWkwVFdtd3dnRG0ra25UQWZXQnhVTklISVYvTnFGemZQYk1RWjlmYTJZRVBzNUFQTGk4MS95bXRxQ2lFcXRhZVFSZFpDVGdZSFJVWG9zM3hQcW1nL1JRYUZiMmN4eHhVeWFvS2M1MzFuQXFqOTZRalp1SkxnWkJINkdlSVQ5M3JXMFNBdGE1UW10L1htcFFyR2dNRXdiMTNIYjhOVHpuanpoSGNQZ2o1QVp2V1JCbzlFUEpETjZ0eFZlVWJmZFExTXlZd1FDNko4SlcyUmxTRGN3ZVhkalo0bVE1bE9mR3VsR0RDd0hiNkxZaVZLSEFtSHgzT2duOUpyVFhSS1M0SzR4LytJMmJpUzRIUTNoWXFkdXRBQ0dvdEU4S0Y2ZTFWeTVxRno3Q2pXOW5taGpFSjFjdnZQZ2g1Tkhob00vRzBEOEk5WjAxcXFHMkFqNXF6dkxoNDRRZGowenVrcUZyTVFwbzdhQTVmUFplTUgvT2VGV1o0WGlncWFja1ZDdG9QcWRLMGV6cGZDb1Fic09hQnE3bHFyVk5pUU92aWpuRzYxajUranIyeUhiem54UXA3V1ROYUNSK0UvS1IxeS9COFRUVEFCMkhGN04zQVhsQXJsSThxM2h0U0tndDhVOGNYRjZ0ai8yU2xCUnNncG1mV0FJekhadTNyU2w1RVROczZNMmlpS1BzSWFEYjdVZUVkTmxvd0JjS1d0U1FvL2hLTlR1VHI5a0xKclVMZDNOQVJLVjRJM0FWbnJjNWUweFZhQ1MrRUFJRVU4VXJLbk44SElYeUVwYlNtNG1NZk5XZWRTemRFbzR1T002eUpPbmc5NnNKcVRqRTFKaVJ2VFdPTHl2aStSYWNIVGRDc2d0VjIrdEdCTVpYQ2xnSmh4MW9TcEliVHR0VktsbVZFS0hoT1ZWUFZCVmVsS2FxZW5TTG45VUlJRU13NHljbW0reURFbW1UNFlBdTVldm1vT1diY1lGVU1lNmRCMWxLcE9vQmxuaVN3Mzl3QnRYaW9pdmdUbWxRbnJQblNFb0NreWNzQnBUVmNreVg4Ujh6RW53Smh5VDdRRi93ZFlRQWwyckh4eE5qVWJyMmhVM1c1WE1vZ2dtbzBkeStFc0oveDF2TXk3UEJCR0pRc1B0aEVUVWtQTldldHhDM1JOclNXcGhrd2lZYzJwdU43Y3JrSXQzV3JUMW5hTkRGakFsL1lGUktBMExRalJZZTFOSG00VWlBRUtwYXJnaXdOSHFuRytYNElVTkp4ZUsxN0lEbndhcnhJWUxlMkt5bnVweGRDdnF3ZEVsOUx6Z1l2aEFqa3J4QmZWZGZnb1dKbXFnYnhMZUUybDZtYjFnWXR2VThpYlRpQlUyc2gzMmNlSWlDVkZoZmxiZis2cm1YN1NlelRLMzdrUEhvSStZK1lTU2daUXZUY1BkQmRsQUUyU1RyZkQ1bGp4NGVxWUVYM2NWLzVJNnd0Mm9Za3plOStDTkVpY21OQmZWUHdXeE1UbnUyOG9QRTlvRForVFQ5TzhGRFJFYWtHY2tVNTBPNHo0WFJldnNRaWRhclBGcG00QVJ0Y3NSNldvcnhsYW5Wa3NtVHFaS0s2NVVsU0ZCUlMvUzJXSGpzQ3RQUmdZdkZObEw3VzRGVHN3SEtCK3NrNTFzeHBXNVdrNENaMmhEVE5ScEd4UHZ3UTV1djBJblV3TCtjekZPbmxmTU80aG9aZWxlQWVOa2x2bkFvSTFhUkNNNlhqQW9tNnNxUzlCMmtRWDc0Um1SejdzcGplYlQxVzhBNGNEU0hEbmpXRjJyWGJsNHRpRHczK0kyWVN3cWgyNXhvVjVCSE5HSThXNU45ZFEvNDhsZUkrNTR5ZzBrZFYwVnBJMjJJWWRsY1FUOWxnV3hyOEVDSmdvRzgwN2NuWHo2Rkl0d1N0SXYyNWtIMWNhaXZxU1FpbkY2UENZdVRJcjlKZTlwOXBHdWJyajFvdFVrbEVSNkxsKzY5alVtTVdGcllNVDlHTUZrUE1sa0lIZDZSRXdaMGxTV3Fvc2Q3eS9CNzY5MEl6V3ZhaG0zNkVJOForOS9JYitIV1RlSjBiK1RNV0l5eXpiYkpYajhzaUE0WEUxS2E1VTlXendQRHpWQUtFL05jWEQzbjVWL2tRWGJ2OEZ5RnE3dDU5ZVR0NC8rV2ZRWkw5M3VXLzRjWEIreFRmTDJ1SXZGUTB0Q2dmWWE3VktYVEJkdWZGSnVmdWVQKzRvTUgrRUdYemdLOEV4Q3dYd3pjNFY3amNNRmRWcitLVmhQbmpha2NIeWk1RjUrNjlmSXNBaW5YditQRS9mNU1tSXlISjNGenVaV0hHbjdyc0dwbDg2ZWg3eUQxWFpMOUZ4SDA2cGRsUFdENlNJTXhoaWZqQ0IzLzFPK3pub1FyYlduV1Z6WHZ2eWdzK3pkaGYvY3Y5LzZXK0swajFScW40dWs0dWZLSVpCUGVYOUdRTzhKM2hvLy84NFAxNzVQVkpXTjVYR0Via3ZlSEhnb0R2aS83MGRWT0thWGxnY29PbDltbHNCeHRKcTVpakdGNG9xVTZNQVhNNTBlMFhEZDFPbWZOaVhvWHJVbFpxK0NIOWtMR2YxYldYYVBJVkhRZXN5eE5uWWJBcWg5QkhPT3NLdTNqaEUyY2ZmT1FpUm1JRi93cCs5dXpERjBNRllRRDArUFdqUmlkUFJhaHI4QXQ0YkkrdlplTnJ1L3Bhcnd2Um45TUVKL0ZleHVxTUk1Y3Y0ZXZoaDZaczNZcGxEVFZicWlJMGN4bnNic3FPTFA4QmdKc3RTdG9STTJlcmRDK0liN2VkaFlWQ0IwSkxTWEt5NGlLeitPMUgyR04zV3hOVFI0eGh3dktSTkF0aHVDODkxSDNBOFFzSnpmalFyZUdGdTh2UlFwY3FubFJjdTQxZCtQRG5iY2JGYjZPTy83WXBkdnByRDNYZklZWis3cW5qbjdRS0ZtaGNXclNzeWJrTGgwb2tYM0xmRlh1R2RYK2p6c3l3U2oxaXpscXRoLzlVK3I0VUx1ZTZrRUp3Y01Vam5yd1dlcGtuaE5pbVlISWM3WG1XaHlXTEpXMnU5Q1BtRWJSZ0xpSFFWS3F4Q08rSUpQYkgyOTdxa21laGwzMGlpQjMvNGptU3RxMndiaG1LNW1qRDArT0llUVIxWXJ1V3BnWEluUkhscDFuWHp6ZU5FTlo1bER5bXE2TitxNkN1aG55UEkrWlJ0S0pvaDZReGhZQlEray94R3hGejUySU15ZUZNbkhWU0tJc2ppR2FTK29LTjlvRW8yMmRiNGw2WGN5RHBpRGxKVHhaNlZYbEt2d3gyQTd1aXBNMGpnRlBYNDF4VE9BdFBwNi8vOFQ1bW9PaTlWMVZ1d3VoUUMzTkJHaktEcm41WlQ3TlhVMWdSenBSRnNUZ3FiZTNFV2FjUXdyYWFJUEhPREUyQnZRNmxFblg2M091SWVlZ2FvU0JQZTNlL01obzhJWTlNNlJjcmJOWXBoTEF3dnFVUVAvbWdqTE1oNHNTZVI4eTJLUWRPcDNkb1Q0NHFuQWlleDNuUFFieVc2WU13bng2RXg3dVlnYkt2Ti93YlltcjBQR0xPb0R1WmRUbGh6eTRscXRMcEZQazU0Qm9kVHRyS3BnL0N1VEh1Q2tPdHV5cGlwallGL0VsSHpMWXBCMDduVWhmM2RWSDYzaU4raXJQZ08veVpQZ2lyZXRjOXNNMlNCQkg5N2FpeWhwaUZQWStZa3pSbG8rK1IrL2FLRmJ0Ti9CVGU1anlnTEd4NU9LWVB3dUgrcjlGakFrUENlbk9vY2dYeFBLM25FYk9SSFNhMW5IcFdzYzZPYjJXZjVuL2RkYWYzTCtHbkRzSlY4UXhxR0lNbHkyNllNNnlTV0JWN0hqRW42OHBTMHVPZlVhODlkTXgvSUM1MysvRVpuOWFwZzdBZGVhN2c2OVNndENvdGZmd3Aza3Y4UFloZVI4eUQxaFNSYTNpZm1FYVlrckpUQjJHSlAzNGEwMVhSNXo3eWNMbjNFZk9JR3JLdTErQUJGRTRiaEtkVGw0MEJER0NMN09zWFN2QVE4VkI4U1V1NnJzUWpabHQ2bUhUQnQxdm9VK0cwUWFoK0FLL1AzbVZrYStqM2Y5cGlqOS83aURsakJZbnNjL3BWbVVTV3hJSXBnM0FsZFJlYzJNcytDMXI2V1hKQlBHenFmY1RjcCtMZWJCMmNZUTk0NWZWbWRrQUZOMWFzOWNvNDY5dlFoek5NSEluMFBtSWVXV3RXaGpnMVRIM0RkV1F0SEpHaXZONjNqVWlocTJhQjFrSjZRTkh6aU5tVkh5YjMvdTJCcGY5NGQyRFJHeStZajd4a05lSVc1T2pGNW83YWZQWThZaDV4QTJicWhyWkFTVzQ2OGRkc2NrNzBQR0lldXNhWmdoRmI0S3FjZmZUYnl2ajFEbjZ1bkhMRVBPTDZaK3FHdGtDKzFzVzY4bDMyT0ducWRjUk1mTFA3eEZnQTc4Njh2YzZlME8zcGRjU3NHV2VKaWJIQTgzZXgzNzdaYWsyUEkyYUxNNTc4UDErU1ZNamk0TUxxQUFBQUFFbEZUa1N1UW1DQyIKfQo="/>
    </extobj>
    <extobj name="334E55B0-647D-440b-865C-3EC943EB4CBC-102">
      <extobjdata type="334E55B0-647D-440b-865C-3EC943EB4CBC" data="ewoJIkltZ1NldHRpbmdKc29uIiA6ICJ7XCJkcGlcIjpcIjYwMFwiLFwiZm9ybWF0XCI6XCJQTkdcIixcInRyYW5zcGFyZW50XCI6dHJ1ZSxcImF1dG9cIjpmYWxzZX0iLAoJIkxhdGV4IiA6ICJYRnNnU0Y5a1BWeHpkVzFmYnlCTVgyOWNjR2xmZTI5a2ZYRmZieUJGS0hOZlpGeHRhV1JjYldGMGFISnRlMk5vYjI5elpYMWNJR1FwSUZ4ZCIsCgkiTGF0ZXhJbWdCYXNlNjQiIDogImlWQk9SdzBLR2dvQUFBQU5TVWhFVWdBQUJMc0FBQUN3QkFNQUFBQVZvSEVZQUFBQU1GQk1WRVgvLy84QUFBQUFBQUFBQUFBQUFBQUFBQUFBQUFBQUFBQUFBQUFBQUFBQUFBQUFBQUFBQUFBQUFBQUFBQUFBQUFBdjNhQjdBQUFBRDNSU1RsTUF6ZS9kbVRLN2RvbXJaaUpVRUVSVjVWVGhBQUFBQ1hCSVdYTUFBQTdFQUFBT3hBR1ZLdzRiQUFBZ0FFbEVRVlI0QWUxZGYyeGtSMzEvZHo3ZjJXZXY3U1Fva0ZaaG5UdCtOWlN1dVJQUXFFcjJRbE9VQ0ZxN0ZGQ3BDdXYwb0NLbzdScFExZlFQdWhZTkVGcTFlMGNnS3FWMDNWQ0JhSXRzb0EySXByS0xVR21sVm1zSUVISlU3RGFWUUFpRWZYWjZ5WkdFNmVjN3YrZTkyYmZ2ZWRmMjdkMjhQL3ptelh5LzMvbk9aNzd6bmUvTXZMZU9vcjI4eGtvczd6VzNsL3FGdWdZYWdZbTh4c1hZbVlGdWNGQitMeEVZejI5ZXoreWxmcUd1Z1VaZ09MOTVQVEhRRFE3Szd5a0NkV0ZmbldhOHdyZi8rWWVmdk9lMGJZUmJlNnBmcUd5Z0VUZ2dMT2ZINlkwby9PYjd6QnBnTFowMmxBWUVOQUlGYVRZck9xZERvdkRsc3ZSaFV4MG9RblpBSUlGQVV4ak5US0lna1ZGNGx5RDl2MFJKeUFnSWRFRGdrTENaeHpzVU85bS96bDNkUlNjdlBBUUUwaEFvQy90YVM2TlJaVWU0ZmEycngzQVBDSFJEWUZXWTExUGQ2SGo1Q0JFdlppSU5SQUVCSUhCVW1OZjViR0I4SGRUVDJVZ0RWVUFBQ0RTRWZTMW1BK014eHA3T1JobW9BZ0pBWUVpWTEwK3lnVkVvc295T0xwdThRSFdaSXlBUGhyWXlSdXlqak0xZDVvaUU1dlVUZ1pwd1gvTVpaZGJEU3hNWmtRcGtoTUJoWVY1Wno2cEhXWGhwSWhoT2RnVFV3VkRXT2EvNlpIYlpselRsK0MwN1ZtL2tlVHRtM1h2R3NSdjN2azZyeGczaHZsNWlaYVVsaHk2WGx5Wm1YNXpXek5TeVNaWmFmSWtWbHVmM1V5RytXY3BZMXRPZU1iYTBuOXIycmU3Ukh0WW9MWlp4SmRRM2JYc1I5UEQ1ZmRXMktOelhVc1ltMUdjeUVsN2FaTldNZXpHK1ZxeXlGVi8ySlpvM1ZycDVQelZiRmVhVjdXQW9pZzVlRmk5TkhPakZDV2N5cjMvNjRkMTNYTE9QUVZyaHpWLzV3SjJsVTdDc3luYk1mUlhac1pNdnZlcXFhMDRjWS94dGhsbDI3RGc5bnp6R3R2dHVpZktWKzZ5Q2ozaW1VZWhMK2wxMUVncGY2THVDdVFXTzNQL2J2dXVNSmFqUnl3b2xpM2tKVkRPOWkyS3AxY2ZrTFBjYTFPWnhOdVhJdFYrQzU3MGwvSXY0NjFEMjVVRW93azVsRlBhakJKMnQ3eTdZZjZLK2JobHl0V0tqUm1sck9oeGg4OTJFcEpRUGhIbVZlUE9YcUJuMW1FZTQrNDQ3ZWVINXUyNy9leXIvZC9tOGZkZnR2MC9QL2Iza3dWQVBwNGxLWDNidFIzWkR3YnpOZmZBYWdTMDdmcEpmSnppWXRubHQ5QlNjWnpHdnNYdHVSYTM3NkwyK2QrOEhvY0FLWVRmRUZ1SVEwbmJuaytzbWx4WjRGem14eWV0VGFneWk2ZXBKT3VsN2NhNVBHdlV1aG4vRDJkWnlIbm9sMURQUlphSFU1ZnNDemVoTlpERXZNSDV6WDgwTENwU1kyRVVhWTRsNEdhZDd6dmtMemVVejNzYjJucmtNMmJpbWVwRkUrczczSXFEUHZGV01UbHZrQTR4dDZ1Y0R2YlUxbzNsaDJPNmo5MEpqUzJxN3FaWUlyR25HYW1zOG9vamVXMTYwbnZ1WkpOUEE1WFJIWHZtazcxcGVwbDJreC9Ub0RGbjg0c0cwcm02NU4wK2QwYnlpZlRhdkFtUFNTUjlNbUU0TDNhWGhRSUs2YjdmbUhuVXcxTFlyekptTzY1dVR2ZC9rZ05ieVZpUjl3M2lzUW85ZVpVRE1DeE9lakFlT3VrTU5hRFNadThUZjFlNnJvRE53WlQwWTh0a0M5TDJVWGdXaldHTGUwZk9BaVRWNlBaZlBhbDZsSHMzWTBULy9BeWE4YWNsVmp2Zk5MR1BPV3d3Yk1YUExYMXNLeHhGdVhhNDlwNUQ3aXFCdlQ1T3JUMllQZVJSTExEajhJMmJucFdLU0Rrbldod0V4TDB4NFoyU1RtdkhBcFJ5TEhlb3hjOHNLUlRhNm9yQXZ0ME95c1VvcTZHdnRLK1ZpM1EzaVpDd3hZY3l0MnRPMlJCUU5pSG0xbUQ2YUdOSitUSUNkaUIxZ0FMdllmVjhUNXVVRXc3bDZQYUZ2THU3K0V3TmFKM1NOb21FOWdJZDduYk1HeEx5YVRLOWdqcmhUSVRieVk3RURuamY3M3d0S292eXByOFQ2VlpWM3ZaTytVMTJwOW80QTBNWk9wOGIweXVod0l0RE5xZGVBbU5lczNQWkM2d29teWRzYWp4Mm8vM2V6K3hBNjBYVW1KOUNhZkRmM1RYUWxPUkpvanhPNlJ0R1luaEZidlc0Z0RvaDVsZFcyRjNCcmFOL05RWXpIRHJScHY1Z0QzcnlrMlg0c3A3TlUwcmZkdVhqUFM4cXgwSlVtUjZWRXJWY2tCOE84ekxZWEdtNXR5eEFNTFhTWGdvUHUxUDF0TzZQUDZWNFBodUw2OWxtOXZPSThvZUM0bnZuTE9pVEpLMWJTRDRaNW1XMHZxRDJwdHNCRUV6WmlzY05rek54MkNFeG50bVZVZ0d1bU0wVnFDZlNOYjYyazB1OXlZU0oweFFmcFNyL2hualVkRFBPeXRyM29peDFuMjZnZWl4MTJ2ZnZrd2RCT0Q4bWdyNlAvTHB0UE4vRjI2SHAwaVZQcjk5UU85YXpwWUpnWDRoVVRTaDkxWDVRcXhtS0gzZSsrTWptdkhaOGJGbmQxMzZTYk5TWEs3ZEMxSlR6eWlBcjFKM3ZlNFJrTTgyclpHOHNJZnVZTVNvbllZZmU3cjhMNHRiT0RvWVMrcGluN2ttcWhMYXJpbWhqREV5K1RHUnM5Ny9BTWhuazFIWXNxbTEzbEtLSjlpSG1GRDkzeHZHay85ejh0RDRaVWhKS3ZndDNlTjhtbmpYdGlXMXh5dWVzOTcvQU1obm5ObWhFR0FCcTJQZEUreElLRkNyMXVQR1U5NzBheWlqcHdMZTVFOW03dm14aWR4dThyM1RTSHg0bm5tcnhrQ3RDcXVYQXN2azRzZXBwWStOUnBkc043azNMOE9aM042OXo5NWExbmZWcHhpU1B0aVZ0THg5OUdLbHZYdWJQbEcrSjVVWlRNblhqZkNmYlNYNG1peDA1cDVuTm5TeDVXWFl3RUlMcXVIVVZsWjJONTJYWlB0QTloYTBTdVpkRVdzUXRwZVRDMG82T25IUHNtWDdpYWpOaTZic25UbG0rVjJERytXN2o4ZEJwYjBZU3VJL0h2ZmozeDVUQ0cxa25Hc21yUzBieitUVFRyclZJMWJsNUhTV08ydldhcit6ZklZR3pyeit5OEtFcm1vclhYM1hHYTNUaHVYTTkzR1R0ZVl0c0xMcXY5OUVpSkhXY1gxaEd2cUJGR3BSWDdxR0lTZXRvczlLcHgyODdZaGJROEdNcjZZem1PQm5GOW5VTG40VkhSQTliZmVQYzc1TEVIRExNL2pjYkwxK1BRN0psWWtmMW9oNEt0aTNZSmp6dnNnY3NMNit4MzFxT3hqMmNkd1ozTTYxY1plL2FidnYyVkl2dGRVU1daMTFqeFJYUFFtQThKcGNqL3N2T2ZqZ3JmZHllb0tKazd6aDRuVlI4cGxmWFU5U0FCVUhpQWJTZmFvSVFEb2xkSEUrV2JzVGRqSHlGUHFsY0xpVzVqcjdlOXFOSzY2UE41U3VlOG9HKzJvTTMzYjdLeTExV29zcDhHOVlHTEFHZ21oYzBPWGF1eDErb3hqOGM1djhwRTJGK3poM3VjeUhydVlGN1lEWGt1VVJWcVd5dWNtc3pyczQrdkl3M3Zmb3BuMFo5UmFSeVBPa2JpeWEyZkYzS3dhVFFsdVBGcmtoK2oxQ3pyNUx3QkVUWG04SGxvc3ltWStOOGgyOERSMDA1VEsxbTd6eEtZTzBrekhDNm40b3hDb0crMmJTL1lZZnpLeHNnVmVVeUdFNlUzbGF6dVN1cG9oYTRQdXR2VnRNR290KzhWWTFGK0puOVVIMHVxRXYrOWczbFZWUThXaW1MOURmTWFLNjJSRExoVDdVcndHM3huaE54bGE0dkVrM3RVRDZHR01xK2FoQm0ydytVS09mYmZ4K1E0TDMvY1hSeU8yb2ZhUlVzZFlxNWw3VDY3cHJ4cGRUQTBsNWN4aXFCdnBwaU5saWo0NExaOEh0L2NYc1Z1b0wvWHJXV3VEazVwaGhNM3IrMElMeStuZ2NKYjhZMVBNVGJ0eWovb1JMeFVOcXBmMHkwdXVMUWRudnptaFVyUENJWTNsc1NFRFBNYWtyQTBqRkYvVGxraHZSYXpwS3J3NUxaMFBEUWt6UXRXSmFzb3hrZU5sQU9JcG5pU3hySGRHckNxcXZnK0JJcWRLMVAzWVp5OCtVZWRyaFVqMzU5cWlncG4vS1ZwdVdEY1RDdFhaVjlqRitqRHplVXB5b2p2R0NpaWp2Y0trNEhoUWRTMzNwR01UdGlzNjR4TE9KbDQyMnREOWNON1RBVHQ4c1NlL09hbExZaE9wTGgyTUsvYWd1QkZiNjlJS1dYdGxCQ082RjcxNU5hMVFSeVZOdFBVUmxycEVJeFVtUHppMzk1WXBvb1JraWtGK0xhWEJSQlBia3J0dXR6aytpL09UYzlkWnoxWU9GMnhXTGhMaFZSTXNjNVVCcnFvdU4wbXN1b2kvWFhXeHBUUjVZTHJrek1NSnIvRURHY3owOURWMTRKZFFxK2F4bkVvU2xQRitpbFRJL3h2cXlJc2t0cFJ6NjVScGZnUTdMaXN2S1Y5Q1FLcEZabUo3M1BVUXNxWFd6YmhyRkFNMDRzS3VhRHJrcEppM1FHUk5GaVlrN1pPSW9ETnR4VWh4UTV2dWMxY3I4Snp0cGJUb3FEVEZYdS9UbFZtM2N1Q2Rjbkt5cFFrZlJjelVCNlI3b0czMUx3aGs0R1RTTkJ0WndRcHpEbjFjTFNPbFJHaGR6OXRnc3k1NGpmc0pSUVZEU3RUQlhSU3ZzdVJlUEo2cjFVZDY3UlE2UUl4bFl3NVRPcllmdG1hbkdHU1UwSzZKN2RnT2FncUo4UDBPeU9WZ2JXb3BNemhOd01SRE0zcGJ6d3ZLVW9kTzhnTU1zVkZWYWp2djNIMy9kZlFLc0c1UnRHbUR0Y3REcUh2WVZWd1B1VXJTOHNqZmR0cEJMSnNWYlI0Z28rcm8xbDJKSVkvK1lFN1Q4NEo5bGs5N29HVkdzYmVXb3ZhazN6TEhjT2d0dU5wem54STlVUGQ2Z0ZlWWxkdTErTTFyNnFHWUJKb3JCRjl5ZGdBcHZONXlxSWczMUpkUGZoeTBVak9RWC9xM0x5YTJnVlMrS1RYQ3BxS1ZwVEtIVUtpNDZYaCtSWVZJU21vMG5UM2JudnhTTnhYaDgyWkw0M1JSRmZxeE9PVFNQcXUrd3BpZVZVeDRnNXhyei9xaks0WXBYcGNKWDJFZVZrdUM4TXRiZHZMUGtLYmpkZFNqL2ZMa1BJU0pyS1J0VnVWSzMzNDNXZGVNQVlGRy9YV0NoSEN2Qlk1QS9lOFV6d0pSNzhwODNCclNDWmZMaVF1S0VvWnJDb29rRjMxK1c5QTlLUmtRZEsxRGNzMWI4UThXOXpjdUlqQ2FhaHZxYXBVNmVYZUFESzRUdVdVQVgxTm5OQ1pkMEpHSFFjNUJrTUtpYzRNK0oyR0UxQkhFTUFCS0p0Q0I4NmtjQUZhNlN0dyt1aU1ZVEROc3BoekJyZ3JYTmpJc1Y5MmhWcVZPd1UrODBMd3BPWnI3TzM5bU5PamY5cVNFYk9XMExpbDUwTXFxVW1INmN1MVBkckdHUkNqV2NiaDEzMklBeUxWT05kZ3dXM1ZXNDk1dG9xLys2REFQQmo3ZU1tRmdWN1BaQlFOZmJQWXlxaWNGaXBjL3FUb2cyNVZ0TlRjaGE2WWw4U3dpRk1wZkJRS0xzanlEWGNNazhOUVJtcUVUWFVTcGl0M0NIem1CWlYwZTQ3ZVBzZnBTOGFuYS9OYWRsUkh4L0s2dmJsZ1YvWStzUTZCV0hrWlY5eFVvODdXeklJSThjcThYV1NiVnpIbTJjRG02ejZZMTRJam91Y0hPR1M2MUFTZVZWNVJMMWhTT1Fvcm9yaStTZmNOYVd5cExQUmF1UFEvUUh0TjBsYmlVWklyd3c1ZG03d3VxenhoWGhqeVcrKzJDT3lrcnR6T2pIem1oZTVXamtQVFFtT1YxdVpWZFZSdlNZL3N6YTJqSjM1cVhVbkE3MElhQjhuUGRlWk1rVXlod2pXWm5JemJobktmS0lkY0J4WFU3bk1vOW1KVFN1MzFWa1BWdUtieXlRRkh6Q1drOHBlNCtKcXZTVW0rcG13NnhZV3F0S2JtTTVYaDNnR3RJWjEzeXhDMHhGUWxZMlRQYWNmSXhLT3EzQzMwbWRkc3JNdUlRLzBBRXBMYXZGRFhFcFdKQzVyeVFlYk5iU0dYYmYrbHRxSlZlMDZybUlsWENlUC9nRXc5YkZoeEdzOHpQK0ZpeHc2OENOVTQ1aVpsWUJKUTB2cDFwN0FVVjdhZVY1V1N2cTVCbmxORnZ2dUVDSGdiOFduTFIwc25vYUxwNkNBOU5WU3RJTVREQldoMUtOaFlGQVRqOGg0VjQxRFNzaHpYYzNRM1doSlY1VllXa2o3ektqTTI3VktSZWFsb244eUxGeE5VYTRZT0R1a2ludnk1Y3FHbE5WdFc2MHppYnpseWhFUlVvdHRkajl1R01TK0tIUllGQi85TFU1YmJmYUx3Z0pGbVVmZVVsRCtXazIzZVVqWEY5Y1c2eHRkWGl2eVFDSGpMaWNsRUVUajNvbXg2eFJxN1hiWitBYTJPSmNwdElhMGxqSlRPcjFSS1ZxTitIK2k4cEpUWi9LWXF0L1A4NW9VdW1uR3B2T1pGSnRNMmROSWcvTGtVK1BOcmU0MXo0SEZiLzJaczBmR0NRbUxGZ3Fob0JxTW9MT3Qyazd0dWkweitsOGJYb3ZXc2twTUdSWlhWOHgwakg5ZVpYSExpK2xyZkZQcmtpUDg2VUloUFVqNVM1S21tMTB4d2crR213MmdmVjlGeXYycXRWVmROU3BpWDNvbU9yekd0eXQxYWZONExvRTI1VkY3em9wSFlOblF3TDNKdy90eG92QVJxdXNTUk8wYU5mVzNOR1RraVZUTVFBYlluM1dManZTWWh4Uzd6Ym51QllDUG5KR2JMN0pTbWx1WjFpcVR2dWkzd0VIbjhqbGVUZS9BSlBabzZFbElCNW8wMkp5aWEyUWZETGRYelFaMU56b00vUDVDSmt1cU1ST3dWVGFoZVhGUk02cTRyVnhuaTdqRXYyb1NjZDZtODVrWG5ia29Ua01POHFLZjl1VkdrWDQ1N1BvbHV4Qlo4bE9kY1JRTVJOSThGT0NYdFhUZGlIWnpvUGluVUh4azROZVovZ0k3czVueHMwRmNIR1p4ek10WTBWNXo0dDBSSGpBbTR4ZTRUekoxbllKV3NmU3FHMjdSTDVUeFJKRFBsNU9CRVZ5dVlXRG1pVU5wWFFtdFZlVXhZRCthRjdUR1BlZmx6VWVzalZkRFRSU2JaNkdKZU5rVFFmTlBWMnBoWFBlYlpLakZ6VTN6K3lFQ1Y3dkMraW5YNlNqNWU2S3UyRkFYajhuU0tnSUlZVjRmaTdmZXpxUGlTYkdaSmtrd2FTL014a1FOZWpCVWMxTE9weDd5aThWOEVTM3lNUUlLcVBDYk1ZMTYwMkkrYnRDKzBKei9WTnVJUTJ0UHM3Yy9sWkYrOGp6VGpuZ2N3cDY2R2JJZ1FyOFRVTVJuRm1HZXJ4Y3hOcVpkRVVaWDBjSWRyU0l6aUx1S2dyN3NXS0MrbWNJd0l1enFjemJ4VWZFblI3NXlVV2pHVzVxc25FUXFDYUhsVFVTWjI3WG5CZDk0RCtYYkg4MXhWdWVLVjl3N21OUk1qODVrWGhkRnJoZzREaGR5cVAxZVMvZmNzZUNpUXFuWHBHUnVpVnNJMnpPUU5jUm9OcXFQcWx3dHJiVk94ZS9Yd3ZoY1hoREd5NUVycytnUjluYjJrWVcwSVB0YURZbHdOdVR3K1NzcFQ4U1gxZ0tLcE1YbU1vekxjTy9wTWs2cVM4aW1WcW5jWVBkOEZseWFTeEtweXhTdnZQdk1xZXlac3o4WUVtY0NhRVFkVmFiZkZuNnZKSGhBTmFuWlowZGdRYmNSdEF6UG5HU0V3RVR1VVl0MG42OFVrc0s1VlVJbGUzdmNpR2RpcXBaR1M1Nko5RTJma0h0YUJqay9Nc3BpNUp0TTl2ZUtzU3l2RS9LSDNkSEpzZTBreDQ4WWVtekZQcXlvaTV6Q3ZIMFJDVlI3TDlwbFhJK1lTaU1WalhvVFZraEVIODZLd3dwdGJlSkdtZzNBd3JWcjdEcnJJU3RnUTFlTWp6THd4UVZhNGFMRWx1aStLdm5CNis2OFJHWGk2RVdiYjZkSzdrcGJzUkxLaXJUeFIxQ21EOUQxbEYyNVlTL3pDcDY3ZWNuY3NpOExuVHNhOVNKeHk3SDNsbTlwUlVWcXVkV1NNT01kYW1kSjNmKzRYaW9BMlBrS0dUTnNyVElkaFhPZlhLODFSdzVSS1IyN2xPbHNrZk9iVjlBUkdIdk9DeWRsOXV5cm5KVit1OVQ0Y1ZEdkZsNWxXdTJNNjRkR0dxTWdINDhUSE5CVjgxcEo0aU85REpMb3ZlZ003ZjVhZFNiN1dTM1ZBMHc3WExicXV6Z21jOW1zbjBabktMU0Y5MSt5czhqUDZDVjhRM25DYVhaalRHVFJTK1VOTG5TWEtvamdsbnE4clhvUXBuZUlFR0pyS2FDSEJXTWdiMk5hMVphYStMT1NreFdRc1VUUGhaTXUxdldYR0YvMWdoTmg1ems5cHQzS1ZMZTgrODJvWi9UUzF6N3htclZyNDErVFRSTzdMbmJCQ254S3BodG5LNDArSVhWd1dSSmdLYVlRZE1Fc0JjNEE0aWU1U0xIUlBkTjhJZTN3bGV2RENSaWMzYnpQblREKzhnNThmSjMzdFdWcTlrNHFxQ3czMjRTaDYwRElIakRIaFNWcTJDL0pRMXZHNTNsajE5NVRsQWx0bFV4aHVUNmxtUGNvdXpvRk1qVXllRFhXTWZmT2NNVGF0R1BBZXZyM0toU3c5bkN5L0VxdGNNNHVFejd5d25qQWVNaHJtcnpyNHpHdkRpZEhxY3E3dzVVN0lnVVYxMXNtSDA5NmFoZk1iclRUWHk0SUl4a1FEcXJYSkMrZ1BHcm9pSGlwV2t5a0hxMWRiYkZRb2NtZFJMTWRSRk93OS9TMXFMYktMZ2I3T3FOb3d2cXpKZm83azFFMU9wTHpXcXVsWElvbFRmcFdQblFQNG1GbWdDSGlVQjhKd215WVdYT05zcTQzYmlEM1FLSmFZb2tKekhiYmVMTkZ2RC9MaVZSQXJPcWJkUmJ4eVJTSHZQdk9pZ05tUWlRK0VmT1lGTTdSc3Z5amg5dVZPNkZZU090U2locDdncUtaaW0vNWFsd1VSSE5rbVNwcnp1aGc1TWwyTHhRNnJzZTU3V0FDTjdCbk4zYWNFcG0vVmlka2xRbC9iSWVBTVQvRWVrY2NaUThiZHdOU0V4MjdwOWhKMW5MSlE1bjJOQVNzdEYwYWpQRDA0ejhnYWF1eDZuaXFyb2NsRnFRbFZFdEhjczY3VGg1M2o4R1ZkQVp5RE9rQktWSzZaUmNKblhsSFJmZ05tZ3pyWEY5clRLWVNhNUxrL0VzajVjaWQwZ3ltcXB4YXYyajF1aFdaQ0s1cmRGVVR3U0ZQSWJTeklJdnZ6em1xc2p3R0IzWDFSV1FTSEl0N1QvSDFKMUp6eGtWRWs5TFczdlQ1clpyMjYvSUx3cURWeHFMTXZHRW5iVkJDbkhPS3hBdzFZMVhRREN1cGJFcHdqNnMyMFpSTTJKV01KMk81RlV4UEcrTHA1bWpXOVBhNzdQVm01WWFDVTE3d3F4cWRDYmJJR3IzbGhsMGxaTVkrbXBDdno1RTdvcGtkUmhidGZlQ0F6K0E5YmJhTEtjSmwrUUxOT0lhTzBRdG44T3FpbE1jZC9jcDlvZHgrK0Z1Y00yQ3haRTZ4OSs3dURYUW5VN2VvN1hOSVlRRVBSUGpnaDFWRGtjZWpwVzhSVFd2RUVaVU42NW1WdHVRMFZlNEZXU1Z0V1huRlZKU0FSZ20wRFFvNXltTHc2alBFNVhTL05OMVB5NllEK21qWlp1V0dnbE5lOEVQbG90eVEzL255VFk0U2RveVVsYmxWM29TY1hIbTFkRVRaRmk4dFdRRkhSOGFjaVFtTmtlRW9RTGVDODFoZ3lZaEpwUXpTTHoyZ1dKRXF1dVMxTEYrZ09RNXRoeCtrS3M3eEFWaW11dm9XNkdjVVZEYmlCZEVnaGlzUzByaUpPQ1h6bWVHRk5SeW9WNVlLYTRpQUZ4YkFVZ0VpWC9RTWRHMmErRTRXZk1TWkVHVVlYUE5UWkt3UVJ4VGRySXVtcFhOR0l1OWU4YVBOYjZJd3RCT0ZadEtJOGZwNFd6RkJhRzBaUittamVsSGd1Y0QyajZtMkk5Y2RubVppNGtGMG9MYXBDZmJjaEloc2VmVklYd2Y5SitaajBqRnlVa3lsT0d6cXNPYWY0ay9KaXBxalgxRTUySmZoMmkrV0gzZ2x0RjZVaVphMjNhUkU2ZjUwWEkwQlhrVUtFK1g1YThnaktsaHFteXBIUStaOFlpMlROY28yR3IxQWwxNlN5UFR3M1lySEU2OEN3SnVub1ZyWFJyZWhPSGRPemg2ZHlpeDFKdjNsaDBYMnpwR3Z3MzVpZ0kyYkZPR2xjUkZPRms3VFRvQTBvbVl1R1NtZUVjZlFUTGdoWmFoNDdvQmU4cWdyK1F5bVM3Rzk1azF1NmNmVDkzVFF2SzlTZzFZemhpYjZFWjRzT09xM3gwb01XcEJaNUQ4bWQ3RXBFWE44Rldlc1hNWVQxSU1hNFVQbkdLMWFWNGFBZEtxeWlFZVJTMWhXTUpkMEJtR0RYcUpibTQzb1dXdGJlY1ZKWkhGNHlnQUo2bG9xaTc3d0R6OG9LdVpaMWJjcDRQQ3gvdlNTS1hxdkhpS2R5enFqLytNMkxvcW9WVG5OSXZJcUZGdXBtMVV4cjhmN1BMd2hSRGUyOE1KRWxjbWtjclFuQ2g5bWlTTHhXamQxQ1dabXlLT0IvRlVUTFQ4QkZMc0UxejV2Q0JnSDUrWHMrVW9SVXh1NzYwSjlRMGRGN2J2c3Qvbnp0aDk2L0xtaGJha2lzYXVNMlFucExXZTQ5bzZCelV0K2Z1ZTNlZSsrOTUyeVo2NnAyS1E0cVIwVTdObE5DSWxKeVNBSTlSUmpGS1RIdU56azl5SmVVS2swZUczMmQvWU4yZXlVOWM4cGRqckc3N3poTEtteDk2SGJvYysrOTRqUHQyRUo4d3g2c2hmSXRRdjdYZFZkN0sxZEs4SHNIODBMa3plMTZ1QXkzUEh6YnEwcWt5VnR1VzRuK1VYVGlDMjc3SmM3K09XbDEvNlBOaDdJVHVRQ29JV2EzNGZKRnpvZ3BFUytoemxHNkpuOUtRdWJMbTRCb0ZKaVJpeDVXSVNxVmxnaElQdmg1SHdrZnNDelRkRnNRTXZUbjRqcXVGZm05LzNVV0p0bkVOU3o5ZEZMNWpxWnlWSFNRT1M4RXdrOEp3NkVZU085RHhpbEJKZWlSV0ZHYWpMUHRkdlNGMHN1Z3BoQUJxVk95c0Nsa1lmdkllMW5PbitJME5jRVE4emZacytmUWJmL0J6dVBHTDIvbHNremNPcGdYZmdDT1BlOEgzLzVlOGNJNlA3dVZxclQxNjdDcTRnY1llODJiSG5xWC9LMHVKVHFlTzhHZW1DaTlFRm85VkZWOUQzK0RVNVUvK3BlSFpyV3JWZHo4TGlIQ2lLSE5xeStwamtBWjNCbVVtbVhIanArODZxcHJUaDRUWGROVXp5ZEs2dDNYcWhyK0RkdkpPN1hzOEtGbXVZcU1JbDdwNjgzckpYTlZUMUtZSms2SlRBekpCVms4S3dNS1BNWXBFWmN0Y1NyblY2a1FvcGZoWTdBbW1PZUZvRkt5Nm1LaVBVUU9JM2x0TFhKNitXZVVLVi9BTS80VlB3bDFBcWErcG1qOGxhdFN1bmN5TC9yNVNsem5sMEF6anA1NzZWWFhuRGlHN1plTnJXUG8xSlBIU3NxdVlWbDBmWlNFbVN1V080d1pFYStySGtlYlhtMklqcFE1cTNNS1prbzVSR1JWK0JXNVl4b2RQR05mMFZDbHBYUWdac0tTTlBMc1pYQUdPaGpLenBWQ3FUV2xyU2hsQ085NWhlTDQ1dm0yU3NZcEo1WFRjdVBMMTUzWWZqdE9PcFF3VFdYYnB4TForVDdoaG1MUjUrOHJiVjM3R2tPdnhicVZHNExPNW9VZjN5M2Q4QmNyRm1tSDVPZlBsbzYvcFIwdmRIUDVHeE9QM01lT1ArdS9iTUt4UDd4NjY3cDMyemwyK25WWGI3MTluVEltYnQzK3NGVndXRGtsSzgrWGhKZmI1UGwyV09JanpKMVhVVjRoTjZlZkFRb0tUZmxXVkJybUNVcW9JbVQ2NHN1bVdqdXNLaXFhYUozNXo2K1F5aTNaKzdrcTA5eFRLK2RrSGIyWEVYS3BwVm82VEUzWERMUExGS2V3dzVKMGxteWxPTXZSb1hZMmppNVVXbE42SnpEVk5TY29OYjB2dnB4VlZxV3A2S1JGZ05KRkpWRmMxNnRSTDdrVzY2dWNjd3lnZWRWVWRPSnRzc21FVlMzeXAwTXhIMjlJZHBaQ1NNTjNhM2JHN2VHQ3BxZGs5cXlPd2p4MGZHZlBwVnhXeTdoWlQzeFpWa3VDWlQyWkk5cGY4RXIyWnJhMFYvVVdwMWJPT1FiUXZNcDZ5OWZiWnAySlRsdmlEL3luZmtkbWRFR3ZpYXFhYzNvVnBQZ1J5eTJLTkpiNjB5clhkMDlRTHF0SW9VeU81bzhkSGdpVEs2S21Na0tFWTg3T2xrT2ZmQmhWSzdoa0VlV2tWUzQ0QnMrOHh0S25Ed01FdW1LTlA3V29DdzV1bXBMZVVuQUFhbDNUbXlETkxiYjI2Rkh2Qk9zeU41R2diRXBkWUVwTDJMSnhxQUdBM08ydktDUEUwVTRlM2J0Z25WYTUwR1R3ek91UVdhVTdZQ1llMEJWdG5zbVBIaXRUQ1lJZFp0Unl6UytaS3RFU3JUMTFQMk9jc2lMUmdLdWVpNGJkdUUxdmUyRURTMjNzTUxsVjRaZWV5SjFOblNuU0toZWlCcys4V3BrQlV0NnJSQkZFYlNHQjNjNHlFQnozZDFjQ2FsUlY3R1VPRGpzb0Y2ZFVPNThIS1lvL29veElNT3R0TDJ4M1NKWHpucjZtZzUxV3VWQmg4TXlybmpxZzdGNlpGVkVzdHBLbThjYml1bDNVUXhxcjhma2UyTDJzNmo5bkhGRnZaWG1wS0ROT2VVajZKZjRXMUlGbkhMNldkblVUYXFsYnk3a29HVkhUcXlOWVBhUlZMbWdHenJ3SzdrNnlhcW52dmlyc29FSG4zc1BPL3JPUE9tTWU3VXIweTFKMWxZZmxGTGVzam5CMVNUd1JweHdUaTBPOE80Szlrc29aaDN6WkxFR3FJazdBZjFwZGNVaTZQcFRUY0V1clhFZ2VPUE1heWJqcmhlWWQ0WjMybWZNYjhGNkhmOUlWeVd3RW1IRmVuSTB5S3J3L0kyRlVLUE5mT2RTL3ZOeVpMMEZaSThNWkt6NlhWb1JWSkswTDQwbzlQU3k4MW14dXg3dVJ1ckdhVXJtb2VlRE1hMVh1TmlqZzB1NE5uRDQrd3M2TXdzenNOeTdTV0xxVzVkaVZHRWtiK1c1RlgyVS9pK0ZRMmxweXN6MVBjY3BSZkI1V3FGMk1HcXc5b2crK0JaLzFva1dodUxVV1JlOWtOM29rcG1ZZFN0MG9TYWxjU0IwNDh5cTZxNk5VYkk2dzdiUDBBYzRzdTFPL3JKVEswTDB3ejY1RUs0ZkhyTE1YM01lMkZyb3JnSzBGbDdMR2JpcHV0ZkhiSGhlSzF6dnNtREFOVm5qWC9xNHllNkZEa09taG5McU82Vmk1bEQxbzVuVTBWMno2eU5YYmY0V0dUbnh3ZXpFVGx0MkpFTTlrc1FFdXFEN1RYWjZpS0h5aXZQMjJPZldVZG85VEZ0NVJ1bWtORE44di9iekZkdlFlL2pyWFRiZjl1Y3c4ZDVxOS9MMFdRZGJrYXVwS3lsKzVrVDFvNXRWS2pRVk11M1lwaFYySnpEUGVXSFpEN0wrMk5TWXY0OEIyVnNtNGZtOTVKL3lEWmw1VmQydG5KMDN1aFdjMXg0bndrUGw4cFpjcWQ4YUwxOTlPOHBmaGVzYXIxb3VCRHBoNUhWTDdqenNEdlZldVhMc1NpWCtpMGx1R0o4QUFBQVBDU1VSQlZHdnQrOE0va3Y3V1JMcFNBMlpldGRqaUtMMXhmUzg5a0gxWEF0c2lUL2U5L24wUldIOXk1OVVPbG5tTjl6S1NkZzZTNW15WWpVcWQxeW14blA0eVN5ZTJTeS8vU0k2dG9MajJyZjBNRU9MS2RIMnVwSzZTdTdMM1NvRDNHVEo3Skh5NmU2clgraTRSL3FaODcySUg2b2hmVHQ4QjQzNndGUFp6TFlZR1kxZGlNV3U3OHppNnJETDNpVzdNK2o0aXB3cmp0QzgwS0ZmaG8vdXFhWjVkaVYrenRzejNWZWxRK2FBZ2tHTlhnajQ3N25sTFlGQndDWHIyQTRGQ09mTzdFdU5sbUpmN2Rrdy9OQWd5TG1NRXN1OUtjT3RpODVjeEZxRnBmVWVnd1RJZVNEMVNndTlpYkszdkdnU0JseThDQ0tmd1JVajNxL0FKYmx5NXZzanBMalZRWE9ZSVpOdVZHUHR5V1ZpWGVydjlNa2NsTks4L0NHVFpsZmpHOTI2VnRvWGJ6dmNpKzZOd2tESklDT0RYRkovLytrN1hqLzd6Ny83Z25yTWk1RklHbHVObHIwSENJZWk2R3doZ1Z5TG5sZm10dzkxUU44Z2NMQVN3SzVIeldoK3NCZ1p0OXhPQlJrN2p5djVTNjM2Mkt0UjlhU0JBaHp6NXJoeWZjVndhVFF4YTdCOEN6WHkyQmVycC9WTTIxRHhnQ09EM1ovSmVpd1BXeEtEdS9pR0EvNUtROTFyWlAyMUR6UUdCZ0VCQUlDQVFFQWdJQkFRQ0FnR0JnRUJBSUNBUUVBZ0lCQVFDQWdHQmdFQkFJQ0FRRUFnSUJBUUNBZ0dCZ0VCQUlDQVFFQWdJQkFRQ0FnR0JnRUJBSUNBUUVBZ0lCQVFDQWdHQmdFQkFJQ0FRRUFnSUJBUUNBZ0dCZ0VCQUlDQVFFQWdJQkFRQ0FnR0JnRUJBSUNBUUVBZ0lCQVFDQWdHQmdFQkFJQ0FRRUFnSUJBUUNBZ0dCZ0VCQUlDQVFFQWdJN0MwQzU4Nldibmp2M2xZWmFydGlFSGdEMjdxMnpONTZ4YlEzTkhRdkVYaVVYWnlMeHFwc2FTOHJEWFZkSVFpTXM2MDJtanJDbnI1Q0doeWF1WmNJMU5qMXZMb3lDNzhFdlplNFh4bDFqYkF0OGErRGxzTy9OcjR5ZW54UFc3bk1uaEwxcmFyRW5sWWZLcnVzRVJobWJFRTBjRExiUDBLK3JORUlqZXN6QWtQNkgyWlBoditBMW1kc2c3aG9tVDBoVVpoa0Z3SWVBWUgrSWxCaXowaUJxK3g4ZjBVSGFWYzhBdU9NVFVrUW1zRjdYZkhtMEc4QUR1dklQcXF6eC9zdFBjaTd3aEdZWkhvenRhcWpzQ3NjazlEOHZpR3d5cGlTeGNLK2w0SWkzUHVFd0lhTzV5ZE1GTlluMlVITUZZL0FzZzY0RHBrbzdJcEhKUURRSndTYTdFa3BxYVgzVi9za09vZ0pDRlQwU1ZBOXZKQVR6S0hmQ0V6cTVTSUxMMHowRzl3Zzc3Q0t2VWJaZGtBaklOQm5CQ2FVVmRYWVMvb3NPb2dMQ0VSVjFpWVVqckx0OEs1cU1JZStJL0N3OEZxeklmTHFPN1JCWUJRVmlsdHJVZlJPZG1NQUl5Q3dDd2pnWGZ1N3l1eUZ1eUE1aUF3SVJORzUwK3psNFJQdHk4OFMvaDllUmlnbDYwTm93Z0FBQUFCSlJVNUVya0pnZ2c9PSIKfQo="/>
    </extobj>
    <extobj name="334E55B0-647D-440b-865C-3EC943EB4CBC-103">
      <extobjdata type="334E55B0-647D-440b-865C-3EC943EB4CBC" data="ewoJIkltZ1NldHRpbmdKc29uIiA6ICJ7XCJkcGlcIjpcIjYwMFwiLFwiZm9ybWF0XCI6XCJQTkdcIixcInRyYW5zcGFyZW50XCI6dHJ1ZSxcImF1dG9cIjpmYWxzZX0iLAoJIkxhdGV4IiA6ICJYRnNnU0Y5a1BWeHpkVzFmYnlCTVgyOGdjVjl2WEc5MlpYSnNhVzVsZTF4SFlXMXRZWDFjY0dsZmUyOWtmVjU3TVMxY1puSmhZM3N4Zlh0Y2RHaGxkR0Y5ZlNCY1hRPT0iLAoJIkxhdGV4SW1nQmFzZTY0IiA6ICJpVkJPUncwS0dnb0FBQUFOU1VoRVVnQUFBdWdBQUFERUJBTUFBQUEvaGNuSEFBQUFNRkJNVkVYLy8vOEFBQUFBQUFBQUFBQUFBQUFBQUFBQUFBQUFBQUFBQUFBQUFBQUFBQUFBQUFBQUFBQUFBQUFBQUFBQUFBQXYzYUI3QUFBQUQzUlNUbE1BemUvZG1USzdkb21yWmlKVUVFUlY1VlRoQUFBQUNYQklXWE1BQUE3RUFBQU94QUdWS3c0YkFBQVdIMGxFUVZSNEFlMWRXMnhreVZrK003Ykg5bmphN2RsRksvWWh0SGVpRGVLU3RIY0dBcU1JMmlRcnRCRVB0aFN4UWdpbHZRd2c1b1UyUVJGNWE3TU0yUVdCZW9Zc1NKR0E5bFBDNWFHZFBJUUlndHFRRUlHRVpPOHU3R3AzaWR6QUF4ZWhiWStkRER2WjdCWmZuYW82cDZyT3FYUHFYTnpkSGxjOTlLbkxYLy8vMTNmcTh0ZGZwOC94UEJkR2hzRDBCMFlteWduaUNDelcvczloTVZvRUZ2NnJUaHpvbzhYOGdKQmpCL3BvTWZkZWZ2UjMvOVdCUG1MUUllNlNBOTJCUG5vRXhpRFI5WFFIK2hnUUdJTkkxOU1kNkdOQVlBd2lYVTh2QmZSS2JaQ0Jqd005QTFobTB2OGdtK2JDU0lrRFBRSkpqb3l2RXdkNkR0Z0tWSG5qZno1TUhPZ0ZBTXhSZFI2SVgzZWc1MEN1UUpYNUs5Yy9PZU5BTDRCZ3pxb085SnpBRmFsMk9rQmZxR01tekJiV2k2Qnl3blZQQitpTDJRQ24xTGRQR0xnaTdFOEg2SmV5Zy81T0VWUk91TzdwQUIxYVpnMlRmSlo3T2tEM09neHowNXhSZWVPdi8vZnp0MjdJTitib2hIdHJFZmFuQlBSekRNOXZKemUxOG5PZkRsZmMzV1RhY1pabUJQMDFjbmQvSE9wV09KZzdhY0lyWDJ2dy9yNlVSanErOGl5Z3p6OThGUTA2dW5aNURPcnVNU2hYMGtWWGZvMlJmaXVkZEZ3VVdVQS9SNDZ1WEx0NnBUNk82WEthSWZsTkc1eCt4aDhXOTIxSXgwT1RCZlR4YU1pbE5oanF1elpLelBxb24vUThXR1VheGZ3ZXBpaDVha0R2czhhOW5kSWVWanhIaWJlc1NQTVRuUUhRTHpMUTc5cUI5TStnWHJZanpVMTFCa0QzdWd6MUxUdVEvcDJRNzloUjVxWTZDNkJQTWREZnRRT3BVaU9XZzhLT1g2bFVwMlpPOTZBcERVZVc2eU5PYU5aTFJhcEVacWNIZEsvdGcwNDJMRnZmbVZ4SG93TDZWMW16NU44UGlTYkttWWlMN0JGZUx6QVZiRDFaODJSaUhZMEs2RjBOV1NTREptcEZJd1JiaUJLdUFOdFpvL1dXcURscFZ3WDBwNjlGd2g4TGhjY1B1amRrT3J4ZnFKUnluUnJIempsRkoxYXNnRzVWWTN4RS9wYUhFTnY5L1FMWkhwK3VpWkpQRStoZWpYVjFXeXc3SzRsTkgxL2hxUUs5ejBDM2N3VjQzdmxKZFRRV0JiMUdybHg3NHZMbGg2OWVJYjRIY0kxY2VTOU5YN3RDamt2dlN2eW8xSmJ4Yk14RUJIMnBmcGZoTFNYM0NpbzQ4MHR4WVNPZGEwSFFVVDBJZmh1Q0ZDTHAwck5TckRIMnE1YjEzb3pReWZvVzdoWHh6eWhZR0twWlFiLzRtZVBmazV2eXFZOCs0d054OStaVGYwSHovNEduajI4KzlVbVpycHc0ZHdVVThLb0lmY2tqbnkyczRNdzFlcWhEdzN1cDFjY1RGbk5hUnRBdjFuL29ONDQwUTVsdVd0N2FEMUdsUnNiOW5UQmRZbXlCdGhDaEVIZXE3MzJ0RFhsMXJQd3RWV2ViVi8vS1I1Q3c2QkVaUWUvaWFMajFBNnFLOURuVTIxSVduWGxYcEhTWjBSNTRJeXdWNFVuMTNTakNRS2tMWnBKbkRYdjZZRHVwa0NrSnpFdWJTa1ppNGtVeThMd0RiUUdpWXg3WlFhQW5hMXRCcXR3SUJReWgwRjZUNnJ0Ym1sb05kZU93eHV5SlpQYXphaTlOSnZacTlCbUljOXJvUGtBajVIcTBVZXR5Um9seDRRb1lGT0NwNjF1QUZhcldWTkNuVTIyaWI3eng4UTdxL1AzZmZNTk84THcvamN4ci9YaVBxSUxLYlpTbVdaUDR3ZFlWb05YMms5QlhtaERpS0xMa3RWVFF2VWFLUVN1WlBIWlRUSS9zUTU4NVpRYjN2RFZ0SGh0cU55RkxFMUpwTVRKcDBHYTQxR295QWZRdE5EM0p2TERDYWFBUGxWR3YwdExVSW4yazRnbnNZK3AyODNxbDdpczdwNjFqRFVJVU02bWozWVNvNENJNU5ZcDVwb1ZJbDlZZ3hQTDRTYThabDlaQlArZDN6RGpLZkhuY1F6MnZIdmxXQU1HaHpMQldhcU5rempUK0VzUWhLTGRacDBsTVIvUk5wRTR0MUVHZkxYazk2N041NVlLS01iVVFOMlRka0ZadWdseFdQTTdueEpTWk0wRU8xWGNwb1R4amtRNzZRb21XRVZWbGpWbUdWZFVLcHhiaXBxUXBSYVhFUmttY1dYUU4vQkZ1Undvc00wcTJhSFhRdmJvTWhxVk9acklLWWFjQ2ZSVlQzVUtrRzlJdE01ZkNKWFlQOEpyRjZOc0tNNlZWU1FUMDdxcFZQVXVpaS96NG9LZjJzZ09BTEhPZ29BemtqSkxqUlYwQnVyNEYxWXVBM3Q0b3lGR3BqdDNnRlJwQ1g0TmZQTlFNdUtwMkV4UWVaU1I2RUlDd2twTVg5QzNSVEkrWWpONHdyMkt4N1RrUEM1T0J2aU9YZHpRTHNlUkd5YUpZbkxzQ3JCN2dqZGFtZitvbzBVeVBndDQvakJHYU82dko1dklaelE5ZDAreTNraHNWbzI2RGR2VGMvcE5hdVJadFM5c2NlVlVMaDNwTW93eFpRN0pLUytaVVAxckU3QzI1VVRIS05JRTRRajVYUUVUZkdBRlpzaUtnbDN0STJHTis0eW4xSVI1cUlXN0lXaUpkNmdDVGViTTRkd1hrbTVuTHRtZ2pvRWYxTFpMVFpudXRQdXZ3Z2hPMUVEZEZBbGQ2SUxZa3BVOGlpb2JTc0pXSGQwYUw5aCt2SHY4QkZmTnZBNE93RXdkOW53cGVVNTBMMUVKY2x4U2kzWEJMU3A5RWxMc0NjbmxRTWxtMGxXZkpVWjFheUJlTiswd3o2RjkraVBZTUtmeDREaXoyZkhPOG9rN3BYaFZjWldiME1Hd2daNXhBbkxzQ2JCL2dWVFRROVZVSzlVU2J2TFhqZlJWL0tOeFRlNXBFWndUOU5RbHVGczN6eEZuVEIzZGFNNUNIb3piVGFZTTdyQlViVXVOdG85RFhlakY0aGR6ZEFkL2E3VVhOWXBPRW1VQ1BlNGVFVk0wMld2VkJieDVSUGNLQTlpdW5nczBNalFxNVpJeHhWNEFpMkpJRjlMVTEweGZyekVRNC82Mlh6SWR3SnRDSGtZNXVMVmR1eVFVNmQxY2Eya3hhMDh6MHRuMmpaT2JaNHNJVkFJV3lCdWlydGNESVljajc5Nlc3TGZNWnZ3RjBhay9ncWFiR1hUellkSms4Um44ZjNUVktNaGNzVXJQbGdyNmlnTGtlTEJ0VitmaWJwcUFPcGhpVjlwak1sWmlpbEN4VVBFd2g0Y1hBalc4RjZrUTFrK1g2QnRCZkl2Zm9jMEM5SlVwYjI2YS8rVUwzYlcraDlyaGFsNjlwQ3U2V2plSTJpRktWSjFMbkRlcWZSYml2S21PUnltQ21Od096ckpQZzZUR0FYanNlVUcxYVcvUlhNZTlvUm9Zd2YvUmM2LzYrV29HYXZiL3daQmgrRW1uLzdxcGtjYWtoU0EwaC9RaTB3V3B1eHpGT3lzdGdwamVDZXdwTlYwMU00MEdmNVJ0RzM1Q2JVY3c3RXlOVC90ZnIzN1dqbGRtWjZULzdxVDk4K0llMW10NTgzUUE1SWVrV2JaL1ZmVnRubXBhMk45TXhtQVQzWm9Lakp4NzBQdXMyaXo3Y0YvUFlpa2tOcWFMeGNubXNtZTZ2ZS9sUE5XWCtJczcveTV2NTFJN3FxdzFXd1ZLN0RzUHUzVTZvRXc5NmE4WG5OdTFicC9QcEExZVRuWktFYWdwTDJxaElsY3FOdXZYeUZhbHN5T2hDRU1LcW9kaVVEWDB0elhTb0xPNU95MnltUjEyN1ZQSWlmeDdydkcrZFR0bmFxQ2FsOWZ5T25aa08zOTZHWHJWWU9xY3JBUHJhUVFCM1J0Q2JpTmxNandkOS9qdXNjVTNma0t2UzUrTEtERFU3TXgyZ2I1WXBsam5XME5PenVnS2dyNTFGZXo1OC9oYTJveG0yVnB3TlZkbGhqZTBjMHV1UTM0TFNBRUM3ZmNhQ0lYU0lheFNlZXhnSWtwS3ViWWhHV01yR0RqWGVzYXJSQ3h1R1RpK1cxR2pWV05BRldkM1hyaDJIaUNESmNhVm03NFpjRDJubEp2QXlXR295VlJseHVtUWpaR3RRMUV4LzNhQkxJMndZSkMwYnFLS1AxY21FaTh6ZjJpM1hoc0F4a3VySU5YblR6OWt1WDdMT3lYSCtBRysyb2F2ckM5RFdZOFhRaG16eWttclNVelpKUFgyYURlK0dlWnpFeWs3TDFNMWVremU5YXJsOHBjbVR5NGZBSlFrT21WYkVkWDF4NWlLSzFDdHR5QTdQYW1yUFB5aVVTYUF6RjJIRmNrSlQyQ1lsMEFrVXJXUE5kREFZWnB3R2ttU0tNdHByc3c0Z3F1KytZRUN2MHdaUEF1NU9zS1ZwaC9qTFZWazhDZlE5M3pwZGpKMXdvNXlzYzRaYXN5T040cHc2WlF1bWZHdEE4TWVzVmZVSm9hKzZuNm9hMW9RRHlTaHBoZmhIcFNXQnp0NU9NRnQyMnp1YTJkdlVib0pRc3BiVnloQVZrNjU5OUVZeEJTVFJTV1hRVjMxZXByY3NsVXBSM0ozQVRKVHdseWg0TkFIMENodmUwMldEWHRQTWg3WjJFNFNTNm5JcmNndGVNWmNaK3FtUk1mUlZWOTdHVmp4dEw5eC9KSnJwOFpzanhuT09vYTA5NVJ3dno1djUvRzgvYzIzZFVLaG1FODFDeEgyUHd3R1cya0N0U0ZNRi9PaytzMDdTQWhjVlIzT2dyMkttejVpOHJ1ZzloNXhGb3BtZUJQcDVOcnkxWjFiaUZmUDZVTTJrakZvbFl2Yld0VVp4Y3F4NXl2TGxaeGZ4cDFNRzJIRFo3ZWk1RXJoUVEzQWxUT0pNUnAzaHc2SzFjTnVWYUtZbmdkNWpabnJWNmg4TXIxeUZicUg4aEpodUlVWWE1WGxmdm5IOEovaERYa3pqaHZUZXhvZkE2NUVnMjJ0bXRSYzlqK3E3S3ZNY1NzY2xsVDk3Nk9pN3hRRHZob1JWV1k1Q1JEbTF6RE4ralEzdmF1emdsN1ZnOFlQUTJSTXRsSEowQ3pIU0tPOXBjdmNPdVYzVmxpK2ZSU0YvdXVmaHVOM1NYeGdxVFBYZERaT2Uxd2dubTVrV2Vld0d1Y2RSUjAvZjVJUzR1ZHVpamtwRWM4Mmdvd2Y2MVE3VWszdkJLbksxcFVNblVJWkVwRkZ6NUpzNzNwZnVEYlhsS3lJd1I4Ykx3UkdtZldXcTc3NUVMZzU0a0ZYcEVqeks5U1ZoczNSQ3BOdWhtYTRSVVU1bTBPZDV6ejBJVHFBa3lUSFJQY3NSZ1U2ZzlEYTQ1cFJHNGUySXUyQmZhNmpMVjR6RTdGbTFFQXZyeXRCWG1lZUdZYi9mSXgrZ2JEbzhweDB1L1pLWnJoSFJDbWJRUmMvdHF4alJTckhCZGk4RDFaUzFySzgxNm1WMjg1QzlFaXVuUUNhZVVvK3prNUk1UWwvWlRJZjdSdERQOGhmRFQzR0hZak13SmVDVnZzK3BkQ0thYlFhOXd4ZlFBM1UyRUJJalY5dTlEQ1FxTGUrcGpmSWFiUDBHUUtzUkdRVXpnTjkyWmhiUVZ6YlR2eGpBaVI3T0hyZTR5T2VFYXREVE1XV0tiWkpPUk9XRHBiZ25tanAxc3V6bkFQU0JWaFNidE4zTEVNMUM3S3FObXVlREdRZWF1N0Z5OG1mbXNCY2hUTlYzcGg1MEdXaTQ0eXVENDF3L2duNnl6YlJEUitKZXdnZ1JKVENDRHVyYlBnZmN2MVUva3Z3VHY1ZUoxcUZtdWpKdjFOV2IwT01EREViTmZyUjJvWnhtNk82MjU2UHFXK2tRM2hjOW1KL0NkdVJndy9SZ2tORy9uUzR6RVJFaW1sMlRqdlVZR2YvRnYvaDIvU2dpeXp3djZZSzlURkp4VUViLy9jTlVZMW00dVRKL3pJWkxmb0hvOFVIRndwRTg5cUxuVVgxWEE5bWZRR3FMcHhxQjNxSkZOWjR6Qk5VR280b1NJUi85VEZtYk9VUHFXT1U5RGZPVHpTbUc1WkZEcFEyRlZnSXBudmQzU1BPaFNITng3M2I5MHZPbWFjOHZ6Zk9UeDE3MGZIMDN1YmkvYWtGWnNlOUdieEg1QXVJK20vMHZrVFZSRmtQa2VmUkY3ZFRXaklhV01Gb0FnN3g2UnlsWmpzMlJ3MS9lK215TkNpUTNYL2dkV3V2aXJTZC8zazgvOHNKeis0ek5nUmd3L1dBcFlnWEZmNEhZZWpZdXIzTjl2Ky9KNTU5Ly90YWRocStyNktNd2Ribk9tTk9YZk1hWC9EUHZ5dHEzOTRTb0NOSENMZjdDTXZLK20wOCt2NlBxQTBaOC9jV2tKdVNvSkdySzVzakI3eWkrNWt5cEhvL1R5eVpqMXhQNzJwN2MvMVZSK1ZKNCt1cmRqRFc3a241QlZFemtlNkpYVW9mT0J1TzhoK2ZNRnA0OVhsOFRYU2RDUkplSU1BeFVoVEF1RG5tT2FkWlhLM1FzOWpMMEJZelgyQXNZL2YzUm5raGZyWXMzcTdYRXZlNEdNNllxSjNlcXpaZTdEQXcrSE1JVHh0N0RHYlNDZFJSendTckxYS2lSWXpycE4wVFhpUkF0a2l0UDBHZWdFZkFheWdIbnhTKzRJN3p2NFE5RGFnL1IvVGNMbjI1Y0gyQkZYbEU1NUVzRkU3ei90NTE4UEdKcm9UdmF6Skt4ZFdNekEwM3hLSGlBMWN4SDZoL2M5bUFOOFBFUVN4VEx6czk4OWtkRTJTdDNCeUpLcjdyL0J1bEhhL2RoenE3S1ZEbmpzTHJZQU1QMHRwMlRSM3kxWmpBSHhKZG56WVdDWWlxb0NvTmQ4TUFOWnJaSEVwRWd0cmxXVkNjUDlUejhsTGZRK2hWaGRkandNTk5nZ0MzNXBaamVkc3hrMlV1d2U3ZFptZXdaQjVwU1EwOXhKdUhrV3R5UUpDSjdVWjZuKzI5ZTlNMmtjNWpLOXJPd01kQUM2eTIvYURycFlOZFFPU2tidTQxOC81WTJNWVdtcTd4c1RVd21naGJDTnZ4NEVwRWd0cmpxL3B0S3cxOE5NSTVLNlVqUWN0dlhZb3FhNlhNckZoclprY0J3V3JlanRLVENGTExGU0RHREw2dVZEc1FrbjBTa1ZrbE02ZjZiS2U0eTdKYXpURUhMWFYvK0FiVml6aDhtNnBLaEVBTmU5bHBscUdraXhlcXp6Y3FDL1Z4QXVpZnVjQkpSUUowYVFVL2M4WW5RdGYxSWx4c3R2WElhQlMwSFBuL2ZCZE5jU2xYSWtxQXQrcDRsdlFWWndMRXE3TU9nVW1DbXc3ellaTGxSb29BNk5hTDdiM0FUMXYxS2JRc3pQWlU3Q0VSUHIxUGJvTTAxdHFtWVNJTUZyVng3RWRKYVlrNFgvUzdVSUREVGs0aEM4clJZSTVpK21KUG5RQ3pjVWNscHJPTEwxMWpYZ09tN0RHL2NmanhSNXR5eTdVV3F3SkNQOGRuSTgrNmhtWjVBWk44R2RHelIrZGdDM1JHelNsbDdtVDViOTdzRVRackJXbHBLb1BaaVdmY3ZVT2dDM3pQMnlJZUNQQllCU3NKRmFDYlM2aVFrZGY4Tjd1bWhUNDRwZmp1aG5uM1JyTitVTDl3ZG9xZGZlTmUrWGlJbFREanRWZUpHOHNwenhpS3RvTkx3LzlFUjgzWmllSU1aS3ZUUDRpWWlqVnRDVXZmZjRKNXUrT1NJN0NUVXkxRFVoUmZtVlhKN0h1QjNHTzhNbFEya0dlekZPZnZSOVNMNVFUd1ZVei9hMXFWVzZURGx3VWdrQ05LdnV2OEdVKysyWDJ1K3RMM01MRG0rUXcvWjE4Z3paWDBQUEl1OWVKQmhkSFhJK3o1RGpqWWpzR0Z1WEFveVRVUUJRV3BFOTkvZ25ySU9YdUtSdzZzUEhmOFJGRm44L2VPdFZIM3NDSHJoU3BSYUljdDNqaXFmYXh6Lzhyckc4azgvV2lQWUtiN3cxSUFWeEJKcGRSS1RtTGtQT1FHRHV5bjh4dVVmT1NRcWtxa1E5cUwxbkxFUUdBcVpSSVRFOUhrMUZzTE9IcGJtaVVYOE40R3JwL1FqaHp6cUdlcjA1ZEZ1b0JIWlUwVTlTRGc4d3R0RHJsMjFmTk81a0p0d3hYSzV5b3VaazZmSG5RQ1lnWmNUNm8yMUtKTzl1R2IxR09wSTJ4UHgzL1NvaDRTR0JqM2gvMDBXbjdCZi9CUEkxbDcwWnNXMlk0TGFFUEhmN0hFbFlhOXY0OG1DQ1ZJMVZLVXJQQlZobGpIV0M5WXNJOG5vQ3dJemdQdHZtbnhYaG5sbjNadlJYUG1qVnk5T0lueUExdjVGcklLcmNUekdtNmM3ZWFxOFFkaXBZcC9BendYSHE2SXVIZmJpbHA1blNtY1pGQ1llNWVmclRwNXBmbWJpUHhsODdwM3lCUmJtbU1WZS9GaEpKekdGbFZZWjZQNmJCZVpLaHJNQjUwWk5yS1VURnpMWWk1aUk5SE8zaVdoT3hIL1RwbWNPQzdYdm9WNkFGcUtURmlvTmEvL2lwUVpBbjhUQjZ1bittM255T0I3M3UrOTF5V0J1OGt4Yyt2azJXM3ZSeDV5Nzd5YXQ2K2orbXphNVhqc2E0S0dEZTdYM1RKcXUwS2NyanYvU2RIdTFqbjR1anEzU2lFZGRydnR2S3I5YXY3NExKZjY3L3FPalZzVkNIcVpwdm50TEpxNTh6b2U4TkZkcHNyUUh2TlRPWGx6NFdvTmhYdjVCNmdPT2IxenpiT3pGZi9uUG4rQ0k0eUpPMmVLWXVUdzdCTDVJeU9NL2JRcHYvdE9mLy9xdE8yd3FGN0N2MlBGMVZHWUVZQzltREp0bVpxN0VEZ0hZaXhuRHZoMWpSMlZHb0pzUmN2c0RKclBNczE1Q3QvWFpRb1pENmJNT3JxbjllOWtRQi9XeWlaWEx0MFFBQnl0Wnc1WWxhMGRtUWlEdVV5b3BkMkhIeE12bE93UWNBZzRCaDRCRHdDSGdFSEFJT0FRY0FnNEJoNEJEd0NIZ0VIQUlPQVFjQWc0Qmg0QkR3Q0hnRUhBSU9BUWNBZzRCaDRCRHdDSGdFSEFJT0FRY0FnNEJoNEJEd0NIZ0VIQUlPQVFjQWc0Qmg0QkR3Q0hnRURpN0NMeCtwLzdZYjUzZDVvK2w1VStUbzBjYTVCZkhJdnVzQ24yTjNGL0hCMnY0YTRMUEtncWpiVGRlRWpxQXhEbjd0OWlOVnI4SFVscWJzTmNCTmNwNisvZ0RpVks1alpvVG4xUG9UZWpMbzhwdDdtUndDOTdGM0NkdlQ0WkdENzRXZUhVdGY4RkkxZTVWVXc4K0pDZmZ3cW5nUlYxVjk5YUxrNGViU2VnRkw3d3M4cjJuVVduN2dNaXBCeSs4N0l0dk5EMGdMWnZjWnVBVjhFdGN1NzNJNTg4bVYrM1RyUm0rVjhQWFVYeEl0ZlJQcTUxdWJFNU0rNnI0WGczOStOeEV2bnY4eEpvK1BzWjk4YjBhK20xQ1o2ZVA1a1lFMzZ2eHBFL1pqRWIwMlpYU0N5WnlmT2RMek81bkY0N1J0SHhQZkNUSU93aDJTYU9SZklhbE5JTzlmL0JWenpPTXhvaWFYZzFNRnVLY2pDUEMzTHNnNXZUNWNqNy9QaXE5VDdXY1JZRjFtN3ovVkRma1ZDbmZZcDlydjBpT2QwNlYzcWRhMlpkWkQxOXpNL29JYjJPbGRyVHJlWjhnM3o5Q21VNFV6a2h2TnNqM09pQkdpc0RyTjhnSHo4N2pYZjhQSmdEKzlwR1FmWXNBQUFBQVNVVk9SSzVDWUlJPSIKfQo="/>
    </extobj>
    <extobj name="334E55B0-647D-440b-865C-3EC943EB4CBC-104">
      <extobjdata type="334E55B0-647D-440b-865C-3EC943EB4CBC" data="ewoJIkltZ1NldHRpbmdKc29uIiA6ICJ7XCJkcGlcIjpcIjYwMFwiLFwiZm9ybWF0XCI6XCJQTkdcIixcInRyYW5zcGFyZW50XCI6dHJ1ZSxcImF1dG9cIjpmYWxzZX0iLAoJIkxhdGV4IiA6ICJYRnNnWEhkcFpHVm9ZWFI3VEgxZlpEMWNjM1Z0WDI4Z1RGOXZYSEJwWDN0dlpIMGdYRjA9IiwKCSJMYXRleEltZ0Jhc2U2NCIgOiAiaVZCT1J3MEtHZ29BQUFBTlNVaEVVZ0FBQWlBQUFBQzBCQU1BQUFCZno0cFRBQUFBTUZCTVZFWC8vLzhBQUFBQUFBQUFBQUFBQUFBQUFBQUFBQUFBQUFBQUFBQUFBQUFBQUFBQUFBQUFBQUFBQUFBQUFBQUFBQUF2M2FCN0FBQUFEM1JTVGxNQUVKbG03M1l5emQxRXF5S0p1MVJ0dm9aRkFBQUFDWEJJV1hNQUFBN0VBQUFPeEFHVkt3NGJBQUFPZTBsRVFWUjRBZTFkWFdoa1NSV3Vua3grWnBKTUI4ZFpCL2NoY1JFRUVSSlFRWVNsSTY3dXFtam5ZUldGaFRRSS9vQnJJaXhtRjF3Nm91aUthT2ZCUllZRk93K0xveXZhQVFkODBLV2JBZlZscEFPQ080alF6ZUtEVHlhdTBZbWoyZkxVYjlmOTYzdnEzdHZWTjczM1B1VFdyVHAxem5mT3JWdm4xRTlYQ0RHdTBrTkx4bE9SSk8raC95cXNZRmpnODVUUzd4alBiL1RrbThBZWxQN3NqVzRHcmY4MHR3ZWxIWjJUWldLK0t0bmpiN1VzNWR2enV0U2c5T3lMUFVwUCt2YVY0MnRjd2h0Q1VlN0hjeDBoeFh5TDB2c0haQVp1WndjamtITkZxWW0vLzJNRU1QQXN1NVMreGd6QkRQTS9mRFUwNVF6ZUVJcHlyQjd2cjJBUEVZUE1yMUw2UWJTZWVFS3dPTHYySTJxVUh2ejFqOTU3KzY0Z0VuOVBJa2hkWkw4TXpVTEZaQ1dBL3RYc2hjNEtMZjg1bkhQcHkzK29hcVAwaDlPT3NIU0IwZzhOMkpjZXAvUnRnOGVNVWlXcGFHd0hWWHExSVUyeW5aRm9helpUVmRNZVVCMHNzbUhOSmE3Q2tWQnpONDZPa05LbkJlbS80MGxIUWpGVHA5L3dNWDRmUGQzelphVit2Q0MwZkEzRDZFdThPZDNIa0daUFUxcWwzdzl3L1J1OXZ4VElUSmtodjRRK2hzMDB0MGptRURDaXlUeDlKb1R1aDdRV2twc3FxeTJheUg5UlRLQmJHMVhRSEN2L002RVV6NGZtcHNtY0VnYTVoK1BCUmxick9OSnpTOVVTRnVuZ0ZQZ0JwYS9qS004dDFad3d5SDl3Q3BUcUZObVljUHh5U0NYRDl4TmtYM21aWnQrUDVjd3FtNktKSENKaGRTTURmU1NEM0pNdENvTmdSMjJYNlhnSHZLTzNwd3JmYTBoUnZWR011NUd5M1pBMVJSUDVBRkxhM0RnSHZFaU02Y2g0dUFVelVVZ3U4M1FOU1hsdXllcWlpV0QxN082ZVcwMlJ3TnZDSUxqd25aQ0w0eHJ3RWxLbmp6ejI3WjJkbmVlKytRZzlRMnFYZ0V4T3JaNGlxMDZIZkZ4dWtIcW1QTEZ3a1ZwNXlGWkZFMW54WkVZLzNBZ1V1VUw2eER0ZkVWQ2ZmZWxkbndxZ3lDNURodThwUmltdWtCTEN3cWI3dGV4MEQrVTBMOHhPRDBKTGtabE9rQklDWXdlS2phcVJ5RVBJS3NJaTJ5RkY2Q3czU0FscnpYMDBxS1NFVEJtNFVzV2dicENTWmNDWlZFMThQUlcrNytHckJDamRJQ1ZIMU1rRXhCYllIUzVzK0I2d0JtUTRRZ29lTVZWRERvTWVraWQzR2FRSmRod2hiVkNLbk13S1VkTWlxODViU0pxVkh6ZElTNER6MkVLdnhLUnZGZ1pKSHBVN1FzcWk2bFRPRUdzaHVWVWtlVHpzQ0NsYldldGdsVXBGQjEwQXUvYVRNbkdFbERuM05MNFFyeDV1STBBMFAwZElsOEVnMFNDeUxFa2J2anRDMm5RVGhqRExWc0QyY08wbXRITFREZEt1bXpDRUdVR0c3NmlOQUNGR2M0UzA3aWdNWVJwQ0lNR3Vmb2kyaUt5NkU2U09uTHZRZDR2YkkySDQ3Z2dwaXc2Y2hDSE1KREo4VDdaMjZ3Z3BXeUhvaVBmbjRHOVBOSkZFQWgwaFpjR0JtekNFMlZ1Rzc0bkdUbmlrODcrdkNzT3J2ellieGNwUXlVSFRrQ0prK0k3ZENPQUJoa1phYWlsRDZQdTZoOVBRaDZZYjU2NHdkQVhHUS9Wc2NVY2p2YVh0b0JQSGVEbUEwTVZzaUFJa3czZnNSZ0JWamQyeFNHVXIxTVpnaVk3SmFIaTY3c1M1YXd3cWZLL3BISFFDaTNRTGZ0bngzTTdURkpiZmR1b243Ty9PTDlCQ0NBSHpXYlFud2ZpQkcxSFhDN0dTajBBZ1hMdXhoQUVDcUlWQkNwTzNmendnWklyNzl0bVlMZVVCSVNTSmMxZnp4Vnd6MzUrTm9BaHZqdHpIRzdKVzZhVUxQR0dSem9xZnl5M3lqcUJzUFIyVnhMbUhmYVRLTG9jQlJmd1pEVUc2NXMrUGU4WWkzUlN6dG1YdTJyZU80OWo2eStPYysyZWYrUG5UMy9KWGVsR3BIN2dqSEg1YlZNSnVCTkN5NDVCS3dubTU2TmJrcHFpczYvclJDWStPWllDM0ZFM0wrMERyWmhmTkQwcmtQbDdybWNRWXBFcm1vbVM4dXMxeVdvY3FQL3J1MWJFNVBBd3AzYTNpdXJKb2VZR1NsbWdpSzRHQzRSa3hTRlhscG14NjFRN0xhZkMvTEJWOWVYWHN4b1VoTU1aRVdEbGFYTEFrWWZnZWkxUklhdlg1ZlVhTVIzQjdzMHdkNjNGaENCQnZCSlZLazJPNWoxZUppa1VxQ0I4VXR3VStIcm1FbTNveGRZVG1PM3hUS016OTd5bE1HZDAzUVNoYzIzYnNvTVp3cEI1MkYza1lNbzNEYnVnWWRPNVhQWHdKQVcvbnkwbjlLUGZ4MmcxNTQ1RjZjRFY1R0hLWjFqeTVFUStHamtIbjN2T3htTTErSlZ3R2RuYTdpZUtSZXJSZDVlYWV3MjNRTVhRTU9QY1pmM3NvajJEczEyUmZqT1dDVlR4U2owRkVsTDg4TEtRWTBCczZsZ0hZMHFDRWtBdittTG81Z3BWdzlyWnRHMTQ4VWxPTks2S0hhdnBmcjBrelNCczZOaW4xUmtnaTRoM1F3cUQ3MkhqS0tGa0hnM3pkamxjOFVwUGZvaGp3YitJTVl1Z0l6dDI3U2hLSWRldTIzc0RFRlpWdXd3ajlJS293UEQ4ZXFWbHZXYmlYVlp4QkRCM2hWWG43dGtCb1p6VzVZbUlhbGdZL1krZGoyQTdqT0tTbXdLNndSQTluRUVOSDZuUHVNMzQvQmQ1dXo1VEUwek5SMHlFM1hnalFobWJBNjE0TExZak9qRVhxcVZvVkt4ME5id2ZwSVJrOEdEcXlvSEYzVUFKN1ZyMDlDZzlEbGt3Q2xrNDFIOElZUUNERXd3U1dSbDd4U0UxR1U1SS85YjlmazBpbm9ZOVhPcktGb3hWZEFJbW1NZG41bTd1blB5V3p2azZYRWJNWUtlbzZOTGxGcGJkc2ZhNVk0bG94K1psSVMrOS82dVJyTmFOMFZuNlJnZVo5OVdiMTBkOFpoSDRkV2N6WU44cEpZeEFkUDBudjNhVDdaVitueTRsVHpZZkFXU1ZWVzU4cnRsdEhJWjNwMFVmdjByUGFRSkV0NFJyTk1Rb3ZmSktlUE51Z2Y5S0VBUjNMWUJEVldoalY5R0JrdThBT1dubjVyT25yeWpTdkZJbnJDVFpuRGtFS3l6QS9KdVJsYWt5ZnRvUWVZSkI5RStkYjZmMGFtZS9wL2l1b0k3UmRUNmZSMU8wRmZqM2JCMTcxaHMySXloUStKRjJudUlqYVpCR05GSGF2Zm9SUmRqVjJvbG9HVFAxc0cweXUwSk05ZUZ4UTd6aEV4MDF2R0FLOXBhcC9YWHlGYlYrbnE0clQzR0dYaUszUEpTUWE2VFM5eHh2NUhKVlRROXdUMUJoQ01NeXhnWFNUZm9VL05lVDdDTkd4NTNYdXQ2Z08zQnNpMUFQd0t3YkxUSktnMjVvMW8yaWtYYm03WW1yd0E2aUxWUHlLRVF4aW1INkJ5aFhVaXV3WVFuU2tuakJrcHFyclg1YWZFa3lBOXEzQkQ2K1F3T2NDdzBpa2dQQ0FDNFR2UXlUWTFpMzVZajBmUUVVMW9iWkloT2pJL09ldWhsL3FEczVscUZBeHN3eCtlVWtUWkpPQTN1RFFtbE0wMGkxOWp1T2c0VFZVTDlHUVRZWEpnMGhtUThndGkvNDNSRWUyNTJ0RkVNSGZ4K0dwSTU2Z3JXM3psTEtpeU03aWJ4S2ZLM2FucldqeEJsTFlwYlV1ODdWTEFldko2S0ZuUkdaejJqaGwzb0JDZEN4dGdnbWsxY2d2b2JLdURyRmJuNHU1cUJxZkZKcitsc1Rua21pazhNVW9EWFRMZytoS3ZFNjJQcjZpSUZkMFV5cnozc2F2NDlYYkw5V1pDVDc2MEowN2QyN2ZiTEMwN0RnSVdWYnpobTNUdXl2V3FlNDliWFVzbTZGSUwrcHZldUJqMi9yamFScGRRbFUxRzlMbWNhRmZ4eFlOdVZUZ1hsRTl0dTZJc09qajZHQnAxK2o0NDZoNStWQ2tSenJvaGM3NlVQQ3JxTmRKeWpxUGpaOWtzNEhBaGExMituVjhlNGc5cEo4bXBLY2FSa3Qvb1NqczhVU2IrdTNGMDBxS0dLVHFKY0luc0NKcU5QWEhBZWJmazF6Z085cVF5UzRmamxqcFNKV0hxbnBqWDhreCtRM2VrM2RDS2prclVWTWpaVDh1bFJvdlBLWlVML1dlVVFLZ3NSeklkSThiVE5kRTZBZ2U2cGhYaHU5eVRYSE01TDQxYU1PWjhBT0FBaWxobjRmU09JeDFXMzlIRU5OQVRHdWxJL2l0YmM1VVJ6MWhJaExrd2RqZ05FRzE2Q29hS2N4YzZONGtsSHhRTE9yb21oZ2RnYWJEdVY3UXZqdFVpSFVtL01BanpZOFFnL0lBNllyTVhkVTlSNUFNY2lyNlc0V09aWU52UXVod1FveU9JR2FORTgreE1HUmhsNmV6K05Pejlya3hVcUZQNmdnU2lMUFdoeEVmVVRWSnQ4emZzcFdPSUtiUG1TOHpiM1B4ZUpnZ216SjRONi9iME1mVFFrOGdYaDFiY3UwUG85OVNqaE9pTlFiQ1NrY1FzOGVaODNCL2EzdVlJSnN5OExrYk52UUlXczFSaEovUk5jcjZpeEw5dXAyT3l0cFYxb2R2WnFVRTlHUForbHhRdjZmNmtKWXhUQTB6eTZLU3JZWm5WanF1aWpjSnJuMGRaczJXd2dRa3lNdmE1eklJVFdtSGFUWFpFWVhyRXBYK2JWUDI2MVk2dGtVVTNHSkRnUms5YVJRbEM1blBmRzVXdHRVaUYrVklvRUsvcS9QQ0V6M1JEVXpSMHdOT1lLWGpOQmZ6cTN0TmFDR0x0bU9QY0R5RW5VTHhzYWd5WDM3cHQ3Nk15TWRTZzArRFhlRERrMGdxVm5CZHRJeFZOZUt4MDdGMVVpUFg2UDVsTUV6M2NLZ2NmS0dGejEzQXQ4cTMwRS9BYWtIMVpDME9TS2wrMG1lVFB2cG9jaXNkcCtucFRUYVp2VXBmRVZPNGNlTGl5MjE4N3JKRnErelNqLytFbm16RUE0QTUxVDgzakZPbzdYUzg5dFFwMnpGLzZjWFRUcndvRkVWRmU4aDRjcHR6ekVvUE4wNy9Vb3ZuU2NqVnUvUjc1ckpkOWpwaVVDZ2E4TG5vNzJBKzgzQkZvY2pSdmEwR2pBaE1jNW5QYkNPRU9pYXg4cm1yWjQ3UmpVRWM3Sm5EK2x4WVljNTR4RE1HZldORlFveFhpeVdTQkJVOTZZT3RjZjdvWUN5S2Z1dXdPTFp5L2pTMFJBdyt0NE90WXRPWXNEenpSbWZqYzc4d1dCN0tteHJaNGJId3VmQng2Wm1MN0FEa2pGT3BnUjduWG1tQVFRYjd1bkttU0ZadzhENlgyME9OUjdNU256OCswRTN1b1ZCZHEwTDdVRk5acUJybmtnaTZCV05EWExRS3BZZTVPVEplK29pV043YVNDc3JuenIvS3VnOTJaVDd4T2piTnd3VmpmTzREejc5REdJUDl6Zlpuc2VHZ3hwbDdpOUlQZnk3cXV2SDNkMy95OWszUmRTaVQ3STRUN2VobGc4KzF2QkN6WDZPSFBUb0o0SE10cjZYUmdja0Q1NWFsT2ZBVGEzblF6aDREQzhYdExvc0pabnM0NDY5eFpHY05vRjRmUCtnUklvQmRDclpYWjRSd3hzODZ3YitvUGhnLzZnSkJZWUhDQW9VRkNnc1VGaWdzVUZpZ3NFQmhnY0lDaFFVS0N4UVdLQ3hRV0tDd1FHR0J3Z0tGQlFvTEZCWW9MRkJZb0xCQVlZSENBb1VGQ2dzVUZpZ3NVRmlnc0VCaGdjSUNvN2VBL3p6ZzBVdk10d1QvZWNENVJqdDZkUDd6Z0Vjdk1kOFMvT2NCNXh1dEEzVCs4NEFkaU15MWlNQjV3TGxHNndCY1JaMjIyRllKQjBKekxBSU96WkkvQXBIbkFlY1lxeE5vL3ZPQW5Rak5zeEQvZWNCNXh1b0VtLzg4WUNkQ2N5d0VEaUxjbHZERWVjQTV4dW9FMnVCMFhEaXFjZEovbFlxeGFIbHdPcTQ0RHhoVGFaSnAycjd6Z0NkWlY1UnUvdk9BVVpVbW1jaC9IdkFrNjRyU3pYOGVNS3JTSkJQNXp3T2VaRjFSdXZuUEEwWlZtbVNpd0huQWs2d3NScmZBZWNDWVNoTk40ejhQZUtLVnhTam5QdzhZVTJlaWFRTG5BVSswdGhqbC9PY0JZK3BNTm8zL1BPQnhhL3QvUlVZaWY3Tk5mT0FBQUFBQVNVVk9SSzVDWUlJPSIKfQo="/>
    </extobj>
    <extobj name="334E55B0-647D-440b-865C-3EC943EB4CBC-105">
      <extobjdata type="334E55B0-647D-440b-865C-3EC943EB4CBC" data="ewoJIkltZ1NldHRpbmdKc29uIiA6ICJ7XCJkcGlcIjpcIjYwMFwiLFwiZm9ybWF0XCI6XCJQTkdcIixcInRyYW5zcGFyZW50XCI6dHJ1ZSxcImF1dG9cIjpmYWxzZX0iLAoJIkxhdGV4IiA6ICJYRnNnUVY5a1BWeGlZWEo3UVgxZlpFaGZaRjU3WEdkaGJXMWhmU0JjWFE9PSIsCgkiTGF0ZXhJbWdCYXNlNjQiIDogImlWQk9SdzBLR2dvQUFBQU5TVWhFVWdBQUFhWUFBQUJnQkFNQUFBQ2ttY3N0QUFBQU1GQk1WRVgvLy84QUFBQUFBQUFBQUFBQUFBQUFBQUFBQUFBQUFBQUFBQUFBQUFBQUFBQUFBQUFBQUFBQUFBQUFBQUFBQUFBdjNhQjdBQUFBRDNSU1RsTUFNcG1KSWtTN1psVHZxOTBRZHMzMVNwRjBBQUFBQ1hCSVdYTUFBQTdFQUFBT3hBR1ZLdzRiQUFBSkFVbEVRVlI0QWUxY1QyaGNSUmgvYVRiL05tK1RVRkNQQ1MxVThPQ3VQZWhKTmlCNDArVGl5Y01HYjdiU0RlaDlBNTRFWVhNUkRBb3ZGQlR0b1JzUElxWGdMZ2hDMGJLUm5qeHRFQ25VUWplMjJqWkp1K1AzemV4N08zKysxMzB6ZVdzZjRqdnN6bnp2bSsvMys5N01mUFBON0VzODc2bGNFMHk1RHA4S2laUkIvNHMrNVU0cDEvTXBQN0wveldYMENaeThkZlJWbjVyL2NVWTVXdEo2R3lQTzc2SlIvcUZsNDJ5cTUwVVFYZURzVmphelNkS09sZDhVUG4zT216WFc3VnBuVTN1T3NZT2J0eGc3UW5wakI5a2thY21xd2I1cmVkNFBBZHVGaHBNUFlscWZMTVhjU0YyY0F0STArNVRUeWpPY1NZczdOTWNjKzV1K2tibzBEYVNaM3JMZ1ZYd00zOVYxbXVRa2krdEFXdDlkbWdaU1RjUUd6NXVEQ1pYams0b2dWR2YzQ09rb1JNbVF1bXpyNnZkMzd0eStzc1h1SW9zaTIvb002MWUzTUM1VU4vck14dGlDbDQvcmpZRDlXNGx5SXFReEVhcjU1MzNrTDlXWjV3MTZwckhrdFhGT0VkYzRZN3dwY1N0bFVVS2tHeTljNEc3MHpwMytBQmw4Mks4Zm5UdjlpK2Y5SEpHcTdIamxVbFJUQ2l2OVVLOElSMUpKampRSlR0MXJEVWpBMDJDSHk0TTZMODA4OGxoTGsvV3JWVmpENkR0cFM1TWpZZnF6TGNGUFE5MkkycE1QcDJJbURkK3ZTYzFIVjdSQW1nVWZWaVVtSjZCdURMUEM0N21ZUlFpYngzV2haRFdGb2dWU0d6akppTmgwUVJaZ2Vmb3dic1h0Z0xxcHI3ZFBvMjZCVk5maWx1NGpwelBSSys2U3ZIejJJdmdrOXpPcGxvTFFCcW5JR0dZSjBWWFJmT1EzSU9pM0lnMjVrR2MvZ2svcnNtaEVaUnVrSm1OL3lqVEttby84bmgrM3JsWWVrUE5QTnBoUzJRTEpoOGU4TDhOMkdaV1RVakpzMWR6QjJMOGtHeGhSMlFJSlEvZWFURVAzVWR6am1ibXNKc29GdGpDbEd6QzEwcERZSU9IUWthYy9yZ0o3QmduZkRPOWNwMzNvMFEwTUM4Y1YyQ0Rwb1J1SFVza2c0TWVFNjhZakQzUEdUYU5CNmdJYkpEMTB3M2FkQ00wVHloSVdFUjZETGpZbVpIUTN6WUlWVWtVTDNmUGdrMGxtbkU2OWNWK0Z1ZndqczBYS0VpdWtzaGE2d2NlZXlXZU8zdmJWTUdFS0dQdkxiSkd5eEFvSlFyZStQQkg4MitSeHBSOXNBL1VtR2Z6VDlja0t5WmdOOVBKVUozdmlCRTh1cW16MEJ4SldTQmlKMStSbkNuVmxDUmIzaW9RTVRwSjRVdFhRUnE5c0xhMnlGUktHN2wwSkdTUHpubFR2RjRNZFUrWjVYUzR0TTNHV1FXbWtKYk5Dd3RDOUlDRVhvRjZTNnFLWVUzYU40ZTBwRWZRN3NDOE9SU1A2dGtPYUJ4OWtJcmlUWDVVRnZGd2dNKzlyd3BVNkdTa05HOGNSMkNGVkVpMVBlYlpNVUNxS3dMRTQra01XTzZTeU5zR0JJTEU4elZLbktMbitSRnhoYWxjVDNoOVRaSW5VMVphbkRod2ltUXptcVFuRGwzYlExWWV2MlR5UytNKzhGWGN0UjBwbXdSSUpuckYrRVljcGk5U1NXKzhyb2s5UFlpUnh2S1pqRGVyS1hsdHFna1U3Skg2K05ERE1TL3VhUmFqV0NKa1hyQWxGek96TnNHSWFBVWxGZzVLcWRFSXByTmdoNGZMMGp2VHl3Um1vNzVsMDZydW1iRHpzSEZ3T05vejd6OTM0OHZZM3VqUWZnQzU5ZmF2ckR1cVdTTW1XSnk4M0FJaEtLK0c4dzBOUHcrY2NNbGNTeWFpaGRjRVNTWi9mOVBKRXNxaHU5c1hrSVl0L1BpQ1RMTkxVRUtFbFVpWFI4a1JoVGtmakRWT1BiVk1Gc3VNMVUrb2dzVVVxSjFxZUtDSXowYVEyVG1tRU92aGtqRWpLMEZDWkxWS3k1WW1DTFVlN0Q0eWRPNllLdUxwcVNoMGt0a2hBWjErR3FTYmQzK1hZd1ZaNGdaRk4yWWdvUTBnMWhRNFNXNlNFdXllQ0NRWVQ2VkllakZDZm81SXN3dEl3a1MwU0xrOGx5V2pNN2tuU0NJdVYrNWVpQzR4RUF6RzhqeWxUR093SE1wZVNMWkorOEVYdm5pZ216YldCTkNCWG9rcmNjZlNnWWFLU0xaTHo4bFFJa3dpa0JZR0d5QWZMNmt4TnhKOVFza2FxYURzTDlMRkZHRFpFYlhsY1FXQWgzalBvVWttV1lXaW93QnFwck8wc0ZqVWZZeEViY3FBcmFsWkVLM1dteGxvYWRzTWFDVWFOc3JQb2tPdzhJeCtkaUpJSXBBUlBocjh3b3RDRGtMcXFDSGpGZXY5a2o4UVNMVTltUGpxcjdJVnJXb0xGMlVOSWJSaysyZStmckpGd2VkcVRnUVB5Nk52TVJ6dEt4bDNYUnV4cjU0Kys4T2JFUzMreWRaZjlreldTSHJweGVkcFJXWWlhbG8vNjZnK0RpK3BiSDgreTNtVzJQVStNUjg5Ni8yU1BwTzhzME1lbEdKOTJKWG4rb0NYVnZCVm9OcWlQczd2TDN1djNLMVI4SDJnbExOa2p6U3RrNEUxS3FHOVFhRm8rV2xGRE41cHBoYzM4TGpmUmJhYnlBNDQ5MHFJMkVXWmtjaUZKL0ZielVWODdhVWFmRmtMMW4wUWtoYjRqUjNHb2x1emJBYW1qaFc0Z2NrU0NxZmxvWHV0TTVaQ2xLUkpJMk5BdmthYXNoQTVJVlcxNXFsRUxEWkpRODlHYU5IdndMbWFONjFpQUs5OS9LdkJyL0FZWEhPdkRBUW00UEpJeEcyVGlCaHBLUGxyUU54RjR5RkxxMjZuMUQxWWczTFJrMDA1bEJ5UmNucFJCSDJnK1JrU1VmTFFvUnpsVXdiRzNMWFFoNk8veFV0aGZRdXo0NllDa3Y3bUhiMjlza3ZCU1B1ci9DbHJ2eVZwalhaRDBOMUFRVERiNHZabmovMzdqZ3VSM2dJdmNUeDhOdU1tY29SeU5yWW1YbTZERTJHK0N1ZWY1NzU4SnVPU1BVeStCWWp2c3d4VXFWZGVzUHJIcWdQVEcyVXY0ZUJrN2QvRVZ0RDExOXRTN3ZIN3o0cXN0SFF3RzZhcVF6WE1kK0FqN0UzZksvUXNQa21yaCs3NjFzT2QwVzBuckRralZrQWw4TDNBeUE4R3VqanZJUitmZzNXMTRjenVJQXZVVW5MWEEyOXo0TWpjdXhOV3dleHFSMTdxeGhIVUhKSHlSL0twNGtieUhLUFd3ZmlVNFFCL0RLejRmRFRXVTcyaGlCV0hVVUc2bldIRkhla0krU3ZHREpIaWZ5MkY3c2s0cHBDWnpSN0xOUjJIaTdYSGFFRUtYVStOUEdYSkdzczVId1pVU1ozQ0NIVkJNMHBNNUkxbm5vNEFraHR3c0xrL2pPK241b0Z0eVJyTE9SMkZQc3NIUjJ4ai9adloxSnVuVlhaSEMvQWFlaVdBNmxCTE0zRld1eE5PK3hiMmhEWndWWEpFYzh0SFErd0RqWDJmWG1mTHdobTVJTHZsb1Vmem1CQnZtVFRpZmJRMm41cXpoaHVTU2o2Nkkzd1libUVpT1FaZ1kzZVdHMUhiSVJ3dDg1LzVtcndMOU5La2NoNmJ0blJ1U1V6N2FnTXpxT3R2T2cyL2x0YlQ5VU93NUlUbmxvd1YyZEpsOWduK1llS0hYVWppa1hYRkNjc3NTcjR2L1l6RHg5VkVwYlM4MGV3NUk3bG1paHAyaHFuT1dtQ0VmZENyT1dhSnVLRU4xNXl3eFF6N29WRnl6Uk4xT2x1cXVXV0tXZkRDNHVHV0pocGxNQ2R5eXhFeTVZSkJ4eXhJTk01a1N1R1dKbVhMQkpPT1VKWnBtTWlWeHloSXo1UUZCeHNnUy93R2hYZ1ZncmhPREVBQUFBQUJKUlU1RXJrSmdnZz09Igp9Cg=="/>
    </extobj>
    <extobj name="334E55B0-647D-440b-865C-3EC943EB4CBC-106">
      <extobjdata type="334E55B0-647D-440b-865C-3EC943EB4CBC" data="ewoJIkltZ1NldHRpbmdKc29uIiA6ICJ7XCJkcGlcIjpcIjYwMFwiLFwiZm9ybWF0XCI6XCJQTkdcIixcInRyYW5zcGFyZW50XCI6dHJ1ZSxcImF1dG9cIjpmYWxzZX0iLAoJIkxhdGV4IiA6ICJYRnNnZVY5a1BVRmZaRWhmWkNCY1hRPT0iLAoJIkxhdGV4SW1nQmFzZTY0IiA6ICJpVkJPUncwS0dnb0FBQUFOU1VoRVVnQUFBWWdBQUFCTkJBTUFBQUJPUCs2bUFBQUFNRkJNVkVYLy8vOEFBQUFBQUFBQUFBQUFBQUFBQUFBQUFBQUFBQUFBQUFBQUFBQUFBQUFBQUFBQUFBQUFBQUFBQUFBQUFBQXYzYUI3QUFBQUQzUlNUbE1BWnJ2dnEwUXl6ZDEybVNLSlZCQmh6TXI3QUFBQUNYQklXWE1BQUE3RUFBQU94QUdWS3c0YkFBQUtERWxFUVZSb0JkVmJYMmhrVnhrL3U1dE1razA2RTN3VHhSbm95aFlmbkVDcUxENTRnMXNwVkdTQzJLYyt6T2lEZ2k4VHROTGlnek80aTY0Z1RLQ2dMNFZaaWlCc0N3bjJRUXFGeFBvSDdjc0VmQlZtcUtMV2w2UkpOTk50dThmZmQvNmZjKzlOenMwbW1mVSszUHVkYzc3ZjkzM24zTzk4MzNmdUpJeE40UHJPOWdTVW5ySEtlZjZmTTVZNEFYR1grWHNUMEhyR0tvZjh3d2lKSGI1ODV5Y3Z2UERpcldWK245ZzMrUElOYXQ5WjV1TUkrSG16SlB6d1pCVWxicTk5WXJkTnprK0duemZIQXVmQ3FoUDB2UHpMNjhMdW8ydXZmWUpZLzZyYTQydXYvZndFNkFVTWIvRllmN2lNV1h3NHNpWmgrdnh3MDdZblNOVTVQNGhUUHdXalZ4eld4OUR1T3UzSmtkT3dKTktwWjhHNTZsaDZGZTF0cHowNWtpempveWo5dStCMEdRbmFjanNtUnZkaFNhUXB3eUFFaEpPYTJCeksvRmVZaE9zaythWnNjUDYrTzlvTUp1V09YU2c5eGQvQkpCYWpkUFk0LzYvTE9BZ201WTVkS04xOEwzcDdsakhiUGRlNERuOUVxcTVlbDZMOVhkZTJQSm9pYXMwZERDZmxqbDBrUGNkYmwwTGI4dlRUSzF0M0JpazRyem50aVpHN2h5emFsakNpMGl2Y25wamxqdUxHQTBhbDNaTFRsVXVHRVhVR3dOVmM3b3NiS01FL1V2czFUMzB6aUtnVlRDS1A5eUw3Witnb0FGc2V4Q2dOSXlvbWRSU0RPMitlS2gxTUU4NC9pRkhVU2FlSm1OTlVqT2lINFNrbks0RDM0c0o5eXUwd3FVZmhjSDVWVkg1MUhuWElwaWhXYzVjTTdUMjM3ZE1mUzU2OG1GM2ZGcVZRSTY1Nm9JaTY3aGhLVVczTmFmdmt0L2tONTlUN1VzelowUmNRM2VwMGlSVWJWaHo5VDRCUlJHMDVQSE5vYnp0dGo1em1yN0txS1FRd2YzZjZIdWZETmk3Sk1OL0hJVE5DVkFWR3UyeDBXTTExbVBaSGpGVk11WGdsc3JCeHhjZlNmNU8yRCtOQ1piTkFtaWduTzR6Tm1nOFFXN0YxY3F6bER0K0dqS3p0dUM4RjhEcnZOQUZZYnBxWUl2K3NtTE43MVhkRXg0U0hKdWVWbzJLZFBEL0pFZHdKMGtRZm56NXlXRm1ic2lma2ppUkRJMGJCUDU3TnU1N0xVNE4ra2E3eHJNUk5BbHpobFpzbTZ0dVEyelNtSjhheDBKMXpsWk5RdW0wZkV4V0d5Z2FheEdhT2FOdE5hU0s4OXV5d1I1V0V2QTN0VHZPQkkzcTh1cEVsWCt1cmFhYjBNMUZqVkdLdnBvZURIa29UbjdsbnIxZlFYZ3Q0ZFBPcVNBdG0vWEZpOFk2MXBZLy8vdnFkbG1iV3o1dmE1TlJ6bkcvZGdsNStTZ0E3V3BSNWZ1UGxMNzM0WTlPQzg0R3I1YlN6MDRSRVZSQmc2WnhDRDF6NDZMWW5LWG5mSWpOYmJzK3A2UzI5TGVuRDNub29CaTdncjErNGN6TFRoRUsxeVdZY0JKWHBTQk0xVi80N3R5RGI3VGc5WFY5UzJNd3ZCZVVuRW1PRTRHdkdwQW1GR3R3RkJLYXZDQ1NGcVdDUmRpTjJ1c1FlZjMvTXVCQTVobExuUWxDMTFwejJJTmlkN2V3MElWQmYyd1FRczE2VitHcktlWGI5bE9Pb0tVWmVNVFZaNml1R0ZBUnozUFhyK043Rit0bHB3cUlhT2ppeFJzcDVobWRVeEEvTVFZaUNXemU5QXBpYldra3hCcVk5bDZtZWZacXdLRHRKRTZZTWZ1RExNdjBGaVhsK3NLd3YyTGVVaGlPbU9wMDAwNXJUcGtPdE55azFabENZallxckdXbWlreHVkWFJVbjBoUmNuQ3ZEbmhtdk5LSTBzZTFJelR0TkdCUmlYbGZ5aDJrQ3ZiNHNSMnd4c3JuL2xMbGduL0V0SzZYQ2RReW1Qa29UcTNhUVphY0pxbUVVcW1JTURkT0VTQ0d1TEVkc01iSlhzL3lKZWZPMmo2S0xXeHJCSnRlN1dHYWFBTnlnaGlZa2hXbUNNZU56cnI3aTlKeE8xd1R0bU56cUN2STNYek9JcURTcGtjdXVhSU9xbStDMDVZYzVNQnFmeXhCUW9HdlhkUlVFbW95ZjQvM05ON0RCUnFocEI1UFN1ZzNLbm5tSDVwMW9KdU56dXVOMHo4YVNnOXNJREpSRHhxZEZzeE5FMUg0bXhtNVpiSHhWT2VGbmU4OFJJYzc0bkdNRUsrVWRKNTU5em1XejlMUkoxOVNIVlU1L0tVQk1kVGNmRHlKcVBaaVVrbTFRMlBnUFZGOHZWV01NekpoaXdhUDRlV0xXTzFoV2c3SklTTWJtRzFrVk1NNFA3WWsxMG5LSkxTdFJDRW5xWlNPSDIyUHQvRnU5MjZ2WWhGMFhKR2pTa0hmVlV0elUwZmZxKzJIZzMyOCtNZjR5TnQvWWdZWVJsZEpFMXhrSDZhTndTRm1SNHpick1WYXE4K2M3aDBnVGQrV1llNytaTndXZWZaNG8rMExhL3MveDMrUkhUL09WaXVkaVlVU2xTZm1HQkNqRTFYVnBvaTNKeVhGZlpmUDFUMmVkWDl6NVJORlRCeU9YYndzVzJmWUN2Ny9KZnIzZk5CdVRoaW9lQ3hOcFlzZGl5STk4RkFDTGNoenZwS1k0L3lsa3pvdzlUM1dsRktHYmZrUWxDMGNhWCs2SVRkL3BlWnNQTDh2YlJsaG9Dd0UwaFlKTU5jbGQ4MDdLUFJFclVFdTVucW9WRjN5V2s2NkhvRW0wZE0rL1pLTGU4bjIrSDBSVURIdUdwRkNZNWFvVUNhZ1NQc3RsZG1wNG5xb1ZGM3hPNlVWU09POUxRVS9XZVlndWR4Mng5U0NpVm9Pb25FS2gxcEp2Z2tLbkV0UlFzYURxZWFxanBRaFoxVklWaUlvNzVjQTQxTXNWUnVtcDNFRXdnVU9IZmRGdTJGeEc3VFFLRVhwZGNDSWtxT01YUkxaRVY5K1hKZnFLM3VaODl4WmZJMHlaWFZXbkFJU2ZrUlZNUWJ4cm0rTFhKWGRTYVJSaWNFMEFCaVpON0dxOStvMjRBb3ZTRytiOUtpUzUwNHFra1puV0JLWFhWbmJEdVRTSDZNQ2k2bHhHN1N4VVhTNDN4V0tWbEFiYWl4SlBsdFJRN0Y1K0NXSS82MkpLSGZSOElIdmdCZEtMcnJpZis4dDljSFFkekY4c2ducXpVSzhMQWVYR0RWMnZZS1o3UWdTaTA2SWpxemc1L1ZZUCtqbi9nVFFWaS9qSlZ4TFI4L3k5UDBMY3JuNUxXNmF3ZmVQdHB6cUM0OW96dnlXRmw5Nis5N2hvZi9lWlA0K29JeFBGU2duL0Nwdi8zZmgxN1ZkNGV6WEJEV0pURUtlOVZZUjYzSmFVQkN5aXZtai9WZlV1ck9wM3crcDZITStXWUxFZDYxSktCb3F4djNQODRzWFh0NXdkdmlqWXA4eEpRNklMMzJmdzE2MzQyOWJFeE05TCtHQ0F2M2VsUDNlbERGalhMNkJocGtsL0FIdEgvZ0dzeUhkRDNiNlZITFNrQVJrb0RMejVPUC9ScDdBc0tpWmgvVFlGdStlcFVzRFozczNtS0xUNWprT1pFMTQ3N2FsbmE3dVdoc0M0SitoQ20rOVlsRW4xVFIxaHJhZHF0V2Y3UkQ1WUV4SUxiYjdqVUxZUXI2cWlBeWU5cGJPMU9wQUcyN2RGMTlVaW15OERWZjZXa295RVhaTmtWVyszSHFXSlA2bnhjM2pBbkVVaGRwYWkvRUkzVGtVR2FvUC9VR0t4RTFxU0dxcGNoM3dCSFVtYzZOTnc0ZVh2Q053dUxkdVZ2VGdaYVJReS9IMkpiZWlZemRycU94YW0zR0lscjdDUFV4UExoUzI2S25oRk1kUmVpOE9sVVVOOS9NRFFGNVdRaW5vVEtOSVptN1BIN2pnZFJiajBtMGdvU3ZYWEk2RXBWRU9YcnFZaXAxK09wT0VpNXM0OGlCUjlHcllOV1VCak95N2h5K0FvVWtRSzFkR1ZlbCs3RldQejBySGdhU2oyMnl1Um9rL0R0aVZqQ1ZheXkwb3hmL0VobEtSUVBYV2tnamRaYS92a3F2T2Q3MVBncTRNOHQydE83TDdmSERYeEppNjdINVNQMVpoQ05maFBCVUNXc2dvN3hUL1B5djFEL0hDMHVtQitwanBXN21rSEd3Y3Q5aTVmbWNKa0JyVm9JU0ZxQ0dmRU5aMll3eFkxKy94MjUyQVZtMk8vb3dJdzlaN0ROY2ZIVC9QUDBmODlYVDhhUmNzUFVUUDdBanNnU2ZZcS95SzV2WVBtMTVPZjJjNXpvZDc5M3ZpckVEeDljN3hkUUg2QUt2ZmUzMlNsQWI4L0tpRGprV1A5TnorNHhma1gvcS9ud05nYk9Fejg0WkZiMndJRy9RL3F0aXpyTnFYdm13QUFBQUJKUlU1RXJrSmdnZz09Igp9Cg=="/>
    </extobj>
    <extobj name="334E55B0-647D-440b-865C-3EC943EB4CBC-107">
      <extobjdata type="334E55B0-647D-440b-865C-3EC943EB4CBC" data="ewoJIkltZ1NldHRpbmdKc29uIiA6ICJ7XCJkcGlcIjpcIjYwMFwiLFwiZm9ybWF0XCI6XCJQTkdcIixcInRyYW5zcGFyZW50XCI6dHJ1ZSxcImF1dG9cIjpmYWxzZX0iLAoJIkxhdGV4IiA6ICJYRnNnY0Y5a1BWeG1jbUZqZTF4d1lYSjBhV0ZzSUZsOWUxeHdZWEowYVdGc0lIbGZaSDA5WEd4bFpuUW9YR1p5WVdON1dYMTdlVjlrZlZ4eWFXZG9kQ2xlZTF4bWNtRmplekY5ZTF4emFXZHRZWDE5SUZ4ZCIsCgkiTGF0ZXhJbWdCYXNlNjQiIDogImlWQk9SdzBLR2dvQUFBQU5TVWhFVWdBQUF0RUFBQURtQkFNQUFBRGhCOFFJQUFBQU1GQk1WRVgvLy84QUFBQUFBQUFBQUFBQUFBQUFBQUFBQUFBQUFBQUFBQUFBQUFBQUFBQUFBQUFBQUFBQUFBQUFBQUFBQUFBdjNhQjdBQUFBRDNSU1RsTUFNcnZ2M2F0bXpZa2lFSFpFVkprVnBLT1BBQUFBQ1hCSVdYTUFBQTdFQUFBT3hBR1ZLdzRiQUFBZWowbEVRVlI0QWUxZGI0d2t4MVh2T2QrZjNibno3Z1lEeWJkWlpFTWdSTXlGdXlURUJucGpuekYvTTRzallZeVN6Q2o1UUlBUHM4aUpqS3pBTEE3bUN5U3ppcEhpa0VnN3lUbnlCMHZNS2hCQmtOQ01FaEJDUkprVmZBT2hXU1V5NGsrU1dXNzJjdWZZdnVKWFhWM1ZWZDFkMDlVOVZUTnpsNWtQTy9YbjFYdXZYcjk2NzlYcm1sclBXMzVjU3VBYmZaZllsN2lGQlA2UkhJanlzdUJPQXAvNUtGbEsycDE0QmVZeUlhUzJsTFNRaDd0QytaRmYvN2ZoVXRMdUJLeGdYa3BhRVlmRHlsTFNEb1dyb0Y1S1doR0h3OHBTMGc2RnE2QmVTbG9SaDhQS1V0SU9oYXVnWGtwYUVZZkR5bExTRG9Xcm9GNUtXaEdIdzhwUzBnNkZxNkJlU2xvUmg4UEtVdElPaGF1Z1hrcGFFWWZEeWxMU0RvV3JvRjVLV2hHSHc4cFMwZzZGcTZCZVNsb1JoOFBLVXRJT2hhdWdYa3BhRVlmRHlsTFNEb1Vyb3k3WHlWTnlmVmwySTRISHJ2ZzRpSEQ1a1IwMzZKZFloUVJhNU5MbEs1Y3VrWXVpWlZsWVNtQXBnYVVFbGhMSUo0R3ovbGErQVF5NjlqTkZSbjFQajJtVHpTTHpyeTVQMitVVTJ3cTVrWE1FQXo5SGJoWWE5NzA3cUUyS2hicmxHam02VGFUMjZjZjg4WU5mbWplemErUkdweGdQVjhtdHlRUFhzV1ZSUDhlVEJ6anEvVTNHeE04NVFtK0tka1IrMFJRMEJyZnFrKzFZazFwZEVFbC9QM25yYjNWV3YrYVRYMmJzMWNtbEswOCsrZVNWU3o3cEM0YnZDUnF2K0NlaXhYWmhqWXozWkp4bnlQanlJMDgrK2FHSExwRlhSWHZKcDQwZmVvaHNpU1phcUdRbzlXSkllb1Y4Sk9ENnJCOWFPMm1aSFlyNXRIbHJSelJaTHZUSS95a1lKZW04SmpwV09CdmZGVTIwY0lHUVhhVmhJU3VqNzRSc3ZVQ3VCYVVQdm5Sdk1KL3hoLzh6WXZnNTFuYmpXMUdUM2RMZGhFVFBsYUkrKy9GSC9ZQ1B0Nyt2SVVpdFBzM2Eva0NGOVlhRXowS0FMbHhoWmJ6QmVXb0ozeitrVTR4TnBrWEkyS0hYSEpCWE9CL2lHOUluSkZMb29QMGNtaDdZRXlCaEFib2VZemNPTWYvNjRHWEJ3MVVSbDlKRmVsMjBzMEtUakJ1eEpvdlZWWkxtMUtqTjJsYXBuQ1hrYldwTFVLdVNhQjRwM1F2UVZQYjdnZ3VvVUZpaHZ5Z2JpM1pXR0pFM3hWcHNWcStTTkYvYkJSOFhWVEpyNUZwSGJRbHFHSi9XbkFJNXI2WVZjbklnYU5mRXRLcVk0b1pvcDRYVkRQZXVBT2V2VkdQK2tHRTRCVFpVUCtudHArOVNTcVRZVGo0L3AwVkhRR3NpKzlnVWZtV0lLUjRwT004NTllNHdWdzJGSEt0UVF4M2JsTFJ1cHNDaHFTbE1YM3IvM0Z1YlJFbzJkTVVTWHNjVWp4WG1ScG9aS2tDRks0T0VXMkNvd0FaUmtLN3BIampVdjY5QUxsb0ZaaUp5ZmFjRnQyY3dROFhwbjlmTjBNcUV5ajdaU2tWVUJ4K0hjazlQOThEaFV1K1hBUmV1M0NMQ1luamVtdkQwMkFxRTBYWEk4VEI2SGc3bWdOQ3RuNHAyQUQ0MnBaNjc0NkZJMU5kVUdZNDZGcVEwSWlLSTlyenprYWYzTWNWT3hHTkpnb3BhclpWNjBzSlNrTjRGTnVUdFlFV2ZWNFg1YUNoakY2enlnanhIeEtvdmgveTFNY1VvS1BHdU9vMmg5Q3VmQnZhUngvYkt2ajRKQlF2RW1WOHdHWWZzZkVaaUM2NmViMnIzTWNXdHFLdjJqcWhzdndUajBVakhpbWNndkRRZ1RxdEpLSFZNVS9MdGFzL2kxV0NkZVV4Rk43MlJpcHlLQmRlV1dlL3BaZFFDSDN1Q1hEVVdYSXNPV29BL2J5Z05DMXlCVG5QSEIwTWlCYWdqSlE2eFBRTW9idlJRWThpYjRHT1h0NjJwY1FodkRyK2hKN0pKai9VdVZoVWVrYVh6d0JabUtQYmo1MldUYlo5bHJKOWRIZFoxOEhHUmQvWWtrODNicE8rcTBCT3BVU3F1ZnFFR2JQajhsTlE0bnlMOGo4ZysxTUZSUDJSanlHMktHN2FHMFROTkVLQ0IvYXRoNjkza0tORXZOK3hISE12TnZMeGFCYTdnSXliSnUyYitqWGhhNlBFQVBHMHpEa3BLU0d1ZksxLzQ0U1J1R3RoemkxWVJDeTRKUjF2QS9sWjZUOURhWm1MR1grNzJKd0M3NmJydzlZZkc3em9FYmlpUWtEU05aSThadldmZDZnQldrckFQeVFuNjRJTzFydnBieVc2NUJYSGVCQm1lSXVPUHZlNmZmZkw0cHo3VmtVZk5zUHgreUxkR1RpQnFHRXdoVkJySk1yN0xOYmZiM083RW1JRnFZaU9ReHZQalRvWlVlcEdpSkNIWitadFRjL1NhSHlEa0R6M3ZzM1VrRk5ZbGowZ2pXYlloTytjMnhQUHFrK1NETENuZnhiWW1oWGlCWkxFT2Q1TWlaaTFyek55WEo2bTlicXlkOXRlSHIxSldXMGRlSmJLSm50ZkNGUGNvalRyM1NIWUl4ckVnc3p4aHpkTjF4bUxBTThKQnh6R0lPbUluYlp4WENWZUc3OWE3QzE0U0JjVE40YXVVYzY4aHh5dDJMalRoeS9iakt5R0xpYUdXR3BDdm1HQ21QUnJZQjhGZGU5THpDSG54aGZkTU1OY0tNeVl0N2w4VEVJNGI2bUovVWg1N0l6bkowTVVVdDBDOUNiUGk4bE5SRWl3SlN2UkZHM1VlWi9XR0lSclRsamVVVVROS3Ezemh6RXVub1ZBSG5LTmVveGJGcmtFZ1F0OHNYZUN4SGdlei9WMmRhS1podkNEcURjOGJtT2dpdE9Nb25iL3pvVjBSRWs4SGM5WmFia25McmJ1RE9SMExXdUdicFgxOW5sS0FUbE9BbVo2ODh4dUNxeVBvNUk0QkZVVFVHa085Rm9iYVhPSUd5S3lDd04xRUV6ajFHdWEwRmVIM1VaMllwNHhBcHlnaGhvK2ViaG9lRnRpYnBXMFJNR2tjM3Bsd29xZGRMOUcwS2FDdFRraEhkSjIvQWRGdWl5cTEydVR3M0tROFpRUmJ2TFN2WGZBaFR1Z3BlYzFydmNPSVJGV2VrRHhpSmR6bjlqS0Rjbm1VdFRKMko5TEtwUnZmeUdyVFk0V0ViRG9POFR6NlBEY21UZ2ptaFZ3ekNQRUNKQU5sQmhMZUVsdXRKUlpWU3gyektVS1dGeU5LZEVyeXJKSHZKZGNuNWltanNjVkwwclpVZzZRR1B1cXZhVHBqemVCWm1wSGNXUTEyQmZka0IrWHlJR3RsekdFM1FrWjNoU0x0Z1dic0ErUWNkUVJvczRSd1dWcFdxWmg3bEkvZDFLNUVJM2pXUEpQbngzMDZwWGNtaHN5aWdhWTJPaEVoS21uWm45QklWcmJiRWFURkVwUlFFeTBJSWwyd1lSTGkwUUhnV1JNcmxlczMvdmdaOG9EQU90TUNwaURuSWFtZFZqYmVMUzNiOXRnY3dCZGtZS1A3OFowTUdORmRWUXlnYUVhaDlIVHQ3ZCtVRzJaWWJxc1pCeHBBSzBhdW5qZ1VaNTg1U0thZmdSVnhvT3crSmtNM3MwS1p5Y01kOWZycSt6dHFUSTVrVXVoWEpDLzNXU3BqdGN1dUlSVXJBdXBNR0RGdzNUM1BncFp4Z1ZxTExRbWFydEsrVktkMmUxdXF1eWpDSVdhbVZmYk56WFNRUTlDNFJCZnNHK0trVzRKZENSYnFvT2dPemFJMXBINFhSVHpkekt3ekRJSkJHaS9rRHVvait4NFhQT2ZIU2VQbERXbFlKVFlqYWgvM3BINFh4WDJEeFY1WGpWd0dHNzRTVDJVQXo2aTdDMG5LcE5xeFdlZXlqektpSEdYUVBNb0NoK3h5dUl1Uis0V1l4WENpZnhBTDRtcXFNZkgyODlqSEJIYXpCdEE4eklETTZTNkdPVUxDRE1yV3VudnFSb1hPcUNNamI4YXNpZHhucVV4cFpxSEs2UzdXczdkQ1dSU3Q5NDlVU1NMSWszZUlRZTduWmV0RVZZVHlvU20xSjZwUng1M0RYY0RIbXZ2UGlJclRVbDMxTkRETHFtQ3hzblBZeDBLc21vZ0ZqbHNKaVRJSW1UeThEQlRXdXlIcFl3a3BqTVd1VktVcEJPZmhkRGYrZEdVR3dqSmdUTE1lZEFUTlNLWmdtV3ZUU05YWldreDE2T2E4NFpoQlBOMnRMQkxEbk9iQXozYXlXU1J0OS9jVUx3M0JxcHVyblBheEVIZlYyRHBLUXdLRlVLMWFHcERVVmpjSUhDWHdXUlFyU2hydGF0eFc1TFNQaFRnbTZ2NC9GVWROWFhxcE1IS2p5VHFSNFdkUVhsZDBlaFF6SGw3WC9iNlcydFJPeGt5cHU5ak1nRkc2d1hkV3hsdUJuMEVGNWlHS0xaQXZpQ1VnaHRsdlE2WmxFbkdDT0hHcHcwWGR4WUd1TTYwZGExRTFnMmxBczIzRHRpRXlnTThuL01nb0lYdnI3Q0hJeXd3cnFMdll5RU1aNlJwMVg1Qm5zQ1BZcXBTeGJKRlhZbFI4TlFpTTlWcXB3bjVsN2pJUTV1ZUwya3dXaWhYdWN5RHBFbkg0UVQ0MXhqQlFHN3FUQTFrUjBJSEJzcW5Fc2pPWmRFeU1meVlTeXdESUtHd3psT1ZxUXJuK0RKTGVza3d3anE2ZHZXeFdhd2EyWE1VTHhnL1Zsdm5YZXR5aWZZWFFkL1RpYy9iakw5MEhmZ2w1OEgxLzBoR3Q5Z3ZWakdYendXOC9Da0ZEMUQvOFgzOXJUaDFEanN5aFp3T0pwTklQVVVwZkp1UTNaSW9ET3IzdzQxSTkvTWtiRi9yNmpYOXloQk4xOTR0UkZwWlorZThKZWRmZi9mdTdDZmw5QmI2Q3ErcHdaZDRWWEZWMzBsRjZyRlpvem5UU2c0VEZ2WFFGdCtQUm0vdjB2eGRQc05SY3ZJQWFQUDRWMDVrM0o5aWRSUU1ObGZmc0U2ckVqcTNZcDFBSTR4c2U4eS8vUkwvUTBLa0gwV01QVXlOSklsaDN2K1ZLRWwzc0ZteGNNcmVJQldhQVRlTENiVjBLVE1QbUVDaGY1aGF4QUQzc0RUUm44d29ndXpPR2RBMk8xUlNZcVNPalZJQ1RoUmt5Y0pNTG9xOTRPd3N6eVlWZ3BHbXdHUy9BS0EzRCt3WEczY0ZEUnRtYjhTS3pwMkg2UVpHQmQrNllscHdndHpoTlNQcklJcm83QUpXZmtmWW9Pc1dhSTd4Ritabi9PT2pldGdzdXFvN1dpZ3RlWjRLVDJ0TmRGNVJnL3hmdFRhS0xhWnJqcENsN0o1NnI1eWFtTVovWm9rSFNCTk9oQzZhR2J1SjBGNnpPQmlkZStPVjdGMnZLMXNEZzlhUXByanNDanU2YTkxek1aTi9OTHQ4RnE3UEJTWC9kNFlSU2Q1bk1VK1dLcEdtZTQ3cnE0RW0xZGZlbnJ5YVJYN3crNUpGZHBLZURLOUtXYVZQNWVVUDEzQWdFajlCMHNaVHVQZm5WZ0tlejk0NS96NG5Ua0djOHJ6TE1xWnVmRHNJc21UcUE5dGdQN2xaNzBjZmxqTmM3OHhLRlk3b0lFVnk4Y3ZFOHZIUXhURkNmSC9mdnBxLy9TLzdOUGU5ZjQyZEFIYzkvZHVnSHJrSUU4NStzVm5BRXRJcmtTKzlXaDE3MDVpYThuNTFFZFpTR3JzSmVlankxcjZPcXRGY1BQSzlOWGw1aGU5WDJnditmRW9YMVBKV21xOU1DZFBONWFNTEpLalhuK09kR2JYWjB2T3ZJbXBtdzRoUUdrczQ4MDF1SUFXTkpyOUhUQ2owOGw0MkFEdXo3WGpiQnozNVY5L21uN01FMklQSXpnQ25tT0cyWGcwZmpYK1d1VTExdWl5TlBzRHBIbVdUS1BwNk01Z05iNVA1VGdJR2VtS0psOW93bFBiZ0l5bldSSmNkYW9BM2lVL3FkWjk1NFpVTlVXVUUrbGhrWCtHWU0xa20xQUFPUk1sbm1pRXJhU0wxR1I2RHNpMjBPeGtVL1IwSFBQcFZrWE5JZXpvdHFQaWQ5REhML3ljOEFKTTA4a1czbWpIK0VWRHNNYmlQanZ6dUJwQlZ6OXJtSElGTGJ6TTBEMzhpbHBIY05abFNtK3hzOEZxN0lTT055b1llanU0NTJzUWJNMlFSeEptbHF5WFlOT0wyYkpnT2szd3BpeDNOVEhkYU5pMTd0dmwxcWRWYzZUU1Y5WkNDRkVqMDJqblRVZGdpTEtDOTJTSFdvWGlCb2dITWhRU0Jwdm03dDhtY3E2WUJxTjdxSEFFS1A2WFJidVMyaUNKZDQ2Rk45am9zUWpZK3A2aVZ0eWx3Y0phdlRsKzVjVDlNaHBOWmh0RjJCMEdOYnFkYlVQeFEwbllrTzdnNlN0UFI3K1VFaXdEZXo5OUp6U3hSMUVqUnR0eUxwbGt1ZDNrek1XZE9BdERUdmFjY2RCOHhRbjNjVy9EYVZxQTdPaXFRWHducmdxZ1ZoTWNDUU9qR0VmUVVGdkZqREpraDZPa2J6MkdtRTAyTDdCTDNhVkNpZmMvVDZUU0V5ZzBwZG1xUlZjbFRTUjRZWXBYQ2FEbXNvdzlianNZalNlL3RVbkVrNlQ1U0h5RzR6RkZueXBNL2d6Z2luNmY5aUVBdlhxbjVRU2U4YVl1eEd5U2dJUFhZcW9wMTJacldrUzA5L2RVYjU2ZndNUU5MS0ZlNkdzc2tHeXlQcFlaU3RnOUJGZ21uMTZkckRmYTlGdGhMVXlqNmVvK1p6a0lCMjBGQ0FnYllyU1J2bjhpQUhQRzR1alI0UmdpMVZ5WWRiMS9HL2ZJOTRwL2ltajFIMzJSUlFEZ3NGR0lDa2hRNVo1WXhLdW1HSXNSWmw2MnJScURiNWIyKzErdWJVMTVINTA4T0dySmlDNVdmQW1hVHBtd0JEU1NPYzVvbFNoQjdjVEw4UXFNQzVFOU5qSTZZeW1oZGN6NVZPVTBrZm1zMUtDcWNSNzRVT3Vsd0x0b1k0LzhGRmI0WnNZYUVnYWJFOXM4cWs4YnZ4NE44SzhHM2h2Z2hZVG9kaGREMmVSTFhLNVF5Uk5WMUptZ2JHZmJPSjRPWXlucmx0aVExaFBmU01UVWQreEl3MWkxRERSRHJZRW5MWUFWTkpRNUhEZFFVNzhnNUdIOFpuSXlqMTBzSnBTenpPRkUwbDhZckRFbm56YzNuMG4vV0dKNHV2RXY3L0NidThpZXUySmJibWh3YjZKQktXVnJrd1AydEtEM3V3YzB2d2duekQydVpHd3pkL24yQ1ZmK3ZJMWhmZy9MUlBiclIzNk15ZUoyTm1NdWdONTh4Skl2Wm9XSi8wWEJCQzBtNmlxR1FDUXpjL0NQUG1hZnFXOWtLTi96TncrbSszTndONEZQWjBBMit2ZGdqRTlFY1MrU2FHZ01Md1p4MFE1cXVyL3U5NnBUcDNqTUU1OTBaQTc0eGw5bGEvK0FTNS9PUHplSGc1ZmlTUlQ5SllMSVlPQUw3ejJQc0V3V2J3Z1E2bmdkRk1HbmVaWXVFakozK2ZiY0VuWUJrM0pvTzU2S1VoZ2d1ODlJN3kyR2tDSFJsby80N24vWXQvK2IwUlJJVnp0Ui9wZWRSYnVGU3FqWC90ejczUGZJUE02UFNlekNnTmV6dHlnNjB5Wk1XVEdSa285NlBzdElBY2NOUFRGSnNhMFRkRm9YMmpINHord0J3Mm5uVFR2REVGNzlxaFErT0VTak9GQS94R2dHRWVxV2Q4dGVTTU90WjRIRk51aVpjOFJnTnRBTUVkbVc3bDhwR0QvSGhzbkRHd3ppMkZCTmZrUnFOR3cray9rbnFtS2JiZndrZlA0VFV3VFdrM09IMmIzKzBvbVpHQjFvK3kwd0p5R0c1Y0VGYzNjTHBhdEU5VnVCQUZqR1hmK05YYlZDU2x3UWhtM2RDRXBoNUxkUFJGY0pBMDZCWHlhakFDUzI3REt4bUdpM29hck9jcXd4bFVoaUdCckRFVyt5SHBUWXZvQktxcXFhUnBPQzFHOGNKNnFOT0lTL0FQeXBOUGdzUGwrbTZUWHhMd3B5M0g2UUt4dnRBaTRzV2RIcWhBVDgzMGJyRWduSTRUV0F2MXZFb0ZjczdPaFU2d1JOSHZRZkI4RzNHaWp1dkdxenduSDVnV2ZKbkJoNFhUTWNCVlpydnhGSkFycUpnaGlxRklWS256MytHdEVQc1dMOC9vdStmbURqQnEvdytNcHJDZjZpaDZOQ0phYlgyRTZuUVZSUXNmbWwyTW5sa3R4V1paSURJQnhjQTRHcHVBSk5sRlg0MGZKcHRUV3BxcGdHZklXN3h5NzdwWEovMFZTNWMxME1SRFF6QXdzcnZORjNqMUJhalVhL3Jld2oxMFI3Um5OTHFldmtudGtZZGI0ejUrQVhPdDlaUVJua3dnYkllbElLWTNjNWU0YnB5ZnlKeUtER0NjVDZFQmZVY2VHWmJMZiswL1RCZkZQL2cvbjlKYnBBa2J3OGg0MEJjOVpwcFFoRlRxR0tSTkRYTnVxY04xalZpcUpubnZGMTlxUWRJLytlMlA2ZkRZYkYvdFM5aUdzaW1SMnQwVm9YelNtckpHQjB2bGxnR3lFZVFjZkF4ZzdZSU0wazZoMlNVUncwWU5hcXpKUnJVcjNuZFB4TlljWDM3a3lTdVhuQ3lyaVlTOW9SeUlUQWExMUV2dDVJWWxYQklhcUl4aGdra2FOTXRpejlIZVdEOEh1bk5xNkx1TDltQWl4MFhIem1SY2UvWmJsNW9UZzFXWDltTXprVnhlSXFQWTdSWjV4eGVBQjhtZEFzTXlodmhPbmw4R1VZUHVyOTNuWC80V2hZTXFYRFNBdHdreWRMSE9IZG1rYWVkOXRrcklaVUorQlhoYTNIcmdPc1QzVEl2WGJIeDNvdTk2di8vV3Zoa2VCWXB1eGp0S3l5SlV6dnJrNW9aWC9nR2FrUWVEbTVTblVndlhJVzdURXYyYzl6ZURieWQvc0hYUm4rdDlQVlFnMnRqOHBYRUdBaWROVFRZdVRpYWtSVnBxa2JjRm5aKzg1ZEZmNHdYeUhkemFPeHVGL3UyVXR4SmFmSGs3a0E3UTdqRXU0QWNRVGZFN0U0anZ3QkE3dG9oYXBJWW83SU0xeWJVT3c5bzZwQ25VSTFSS05BOFd4Ym0rUzdheDBMWHFWMEh5YVYwRXhzZ2tVK1pNUHV0dThsWW1wTFV3MkEzdmhwM2RpOUN2UUcydTB2UmFqUm1TNEFaSy9mcldJamJ0b002cmt3NWM5dkhBVDRzWHF2dm1rWGZGVGRZN25VM0QxbXBrR2M1L0J6WXpPQk5RUDhKb0VZWkEwMTN1dDJwYUFaNmhGbUJkcEJlYjBTckxtaHhBdDdKZ1p0ei9nclQ5THQvQW9xTkppQkpWTXJ5MStDNWpCbXAvN0pDdGtjU0NTcVpDR1lBbWQxaHozVHhEQXRCZE5taGgvcmJrVEZwMXlHem1xWnZnRHdtSlVMNndqNXNPR1FiUmkrbm9xN3RvSHdqNXBoM01TQjlJWTZpK3BtdE96VkRYVUhFcEE3MFdTeFpYWGtZRk5qc1V3SDdNNS8vZzN6ejZvWGZhWXhnTEtkMDRsWUpjdWJoUEpuNHdJL1YyUnNZV3RNVE5XZUhpczI0clFvVDZCRlo3dEFtTWtTWTNWZnRJWDRacVpGT0lFYnpKVEQ5UXNSYUV6MEtUNCs0Q0NxQXlGbEdIbGtSUmVOUTh4eExpWi9uWlY4QTZWYS9nWFNmRWZzaFlxNHYxRzlUTDkvbkNzTmpnSFJKTWZ4ZXdUaU1ncUNmOXdpZnVMaWJjemdqUEhnNWlRK2YvRnh4Ums4dy8rNUEwTEVZcFNNMlBoSHlGVm5FNEJHYWJ2RHo5TnczelVyRlVqdEVNOWFSZitFU0xqTlU5bkpIV2JCb3hFY2tvY3ZCNWZyZFZqcWlranp4dmhRWlhuczhYWU53K0J0ZUFIbGhrdTZWeFgyM3dRdVc3eldpQnV4aFY3ZTJNUGF1cVlHR3FWSnMySlR3d0dOUmxYL2d4dEdIVnZzcTY0dll4dUFZVVlOWStUYzNlNzh0N0lBR2Urb3dTd0RaVW10cGpoQzFoK2RRQmM2dlJYL3cySk9wRHlXekRLbDVrWFhIN0NLWFhMSGNKVlo1aVY1QktHVlVYbnFTZW9LcTduVkZyajFMd3o2WUpLMU01ZE5DVzhqTHJJdlpQMmtmTDU2enhLUFgrSy9Ja0NYZmh0VFR2RUpCS1diRFFZeEJMN3JTRXhmRG91OXR3cmU0bjdLUGw2N1ltQ1FaOVliQ2RkQmZZbit5bXFpVGl4dER5cFhiUG9YRVVLVXhBSFNvZVdnejY5b1ZuMkpwQzVweEYyOWR0K1dMRHpTbUliK2o3RnFzazNRVmNTVjhBeW9XdU5BKzVmWDdsbWxDWWdBZWFuVzV3YnFLSFVEZTJqM3hzM204OGNVRTNOblpkNkcwT2Q5RVRnMkxZNWxXbGp1TllJZzVISi9ZeDBhcEZ1QmVQV25YMlVjS1ZxN2l2ZjJrN0ZBc3FoN3VBQm5WeU1lQWFHS3RQY1NueVBnYW1MalFrT2V4alVZWkJqR1phMGo3Qm9meWdBNC9qUUlYUXVRdXN6UVZ6aVBTZzFwSEVQT1lpZGxaWXRXR1hwTjBock5ZK1NyaHlGVUVpUGZOQmsrVEJOZ3JvaGtLN09XNmR1OEMyY3NFY0lqaFM3R05iU0JlL09CQ3hmN1FkNWpPRWxlbndzcDF2WDdqZkdENm9KdzhBUnludVFpaUdNZ3hhc3FVMHpMMENINk9FMDc1VTdRbHB3cVpzQ2xhZnUrL2tQZDQ1blZ3RVdONENxUFZUeDJEWmNXbEtsOXA1K3RzWktaYW1xa0NwaUdmYlNDVXRVVVFZRmFXYm9xMVpWN0tQMzBkdVBFYTIxOFdLbGtaUFZRU056VlFFWURGMEYzRGZ3c0pNdUoyUlltbEZqajBWNmV3YllSZEVyQUhxVU41d1ZxaEV0NHdQSS91NFFtN3RlWis0TmhBcjJoYlBzRWZwTHdQQTB6WWpJcnVMU2JjekJxL2x4RE94eGVDVWVMQTA1Y1F3Ukhvb01QcENnMFpDOGN1dEFLQlZFeXRhZ0U5WmdNS21Sd3NJN1E0WWJzbGRaTnpPR0syREtibXlOeHp1Um9xVXl5Sk5TaWxFQjRzaSsvZzhjK243RGh3T0htY25iV0xyd3VSRzdpTHJka2J3dDV1R2E1NXRpazVEYVNMakFVbUhQbCt5anpVMkErak1rVzJ1WWFoVGNVTFM0VG9EUktqZFdiY3oxalZQelRiUGVmQ0psNkYwMENDeXg2ajVUSDl4SmsrWTBETmh5QUhQR2M0K0Q2M0pzSGpNUE1aUUFHRTkrcXloSjlpcmh6R2M1blpHN0xRaXg2NGdtMk1GNjJ5UGs4ZWE1SkVyYldyeDJsV3hZMitHWGd1eTcvQlJ0cjZsbGFPZ3hQazY5bFJoMjhJNENROTZJNERwcFQ4YzNVTlQ4TTY2Z2wzd0xxZUpPUjN3TXI3Rm9jY3FEOEFnakowQWdPdTJCRDE5c2FlRVFRSWZnaExHRlZnTmZVclc3WXlSbVJGWTVsK0E4TzduWEVpbnhtaFRKWndZcGhyT0ZhWERBTmp5ZFZ1TUFaaUpYVlpTL3NKcGJ3WU5iUkZPdC9scTgza0FxSXpBQmVrODNhdTJ6N2ZXRk1IVjU0U1RaeHhCaHpxMEJQTVlMbGJvQ3V1eWU5MFd3MG12QWt3MTFGWFdESXNWMmk1b3gzRXdCdmE0RVE2V3Y5Qy9ZRW1QZ0R0TTRDZ29YUERKVDh2OGVxdE1ZejZQQSt1aGdISDZsMEhZdlc2TFU0MjJTcndsK0g0MjBJVnlIYjlaWUFMR0k5a01lbERZVTBCWkJXYWE5YWYwemJPcFRhNXRnUDZGS3JuZVVmbTRoMXpmODU3emYwRmtwNnY4Nkg1ZGpnYlZRVlBVS256dHFEaEtQbm5jVy8zb3liTmNnRmhzalFCRWN6dmpmdm9EVUxIT29ZYXJQRS8rOXorKzZKTWJoekhxWldRK2F1U1ZLRHN0Y3NnYSt4Z2JuN2NLWGR4SkcvUDU0RGM0QnhEZ1FkQzl6aVdwY1JkVmNpc056ZnpienNNNjRIT3RuMkJsOVduLzVFYzZXS01zSXdIZmRCekFhT3hqWW56T0JvUnhjcFFaalg3dVh2TGdiOVA4M0ViUVZ1SFdMTjFkSUQyeUZZMWRxRkxwbVNmR0QzNVR5eElXNjhXZ0Urbi9uYUNnc1k5YURLWWR3NGt4ZzNqM2tuRTdJOEwvdmluRnhZTERZdDBOT0lLQVdXRXRQZktkbW0wODB3TTlFckh4eTdpZGNiU294a00vdGJCbnlGY3RKTjBJMms3VGFHQmxLK3kzOXdYem9YdVpHSnhQQzlPcWsyOW5oSTJ6ejVtOU9hWmcraXd6aXJqdGljZDJNSUNIQVdDWHhpQjNIYWNNbXJKcHFPUndBMlRsMTRVNG9mQ2JyRGdNelRuaTVnYlNNMkUvLzBMR3I4L0x0OFgzR3JuUkNSaUZqb1M2aEZJL2FBclNINVdkb0d6MUQ2S1BneGpDRVhtS3RjQVBidkRTcTBFQmF5emxkc2JlQW1hWFluTlNxM1crbzBHR2REUHM0anJ0MHhpa0Y1ZUpPcjVZclJZM0g2QWVobXgxdnJUd1V5NFdvbUQ3bnJ5ZEVlcXdVNHoybkViQlVvUWNWOGk0RXpJeFlockhncEVXYjdYSllTVWVmY0JKc0pkQ2tPRDlJYVdKdHpQaURrc1hqTm1jcElvTHVoU3Fza2llZXQ0K2E0SzZiM21sOUhkUktwYmNOUkhlOEpHZ3hUSUFJbmxLM3hJR1RXQVJpYVRLTmdkbDMvV0Z6SG1vUENvMVRJeTVQNUVYUWZmNVlCYWZ2REZBZ0gySzJVcGxrSVhLS0Nhb0ZnbE5SWTliRVJEcFVYK1JmanNqSHBVTHEyWmhaam9VOE9ETVBsWkVyZytnZGZ5emt4Zko5aG1JbzcycEd6cFZPNTd3bm93QSs5Y2pXb2Z4aUpSM3d1Mk1GV0hOWlN5TFhFYXVQOUNOVlNYRmNaNmNQRVl6ZmlQeXhqQXlzVDBIaE5SYk1zNTZlSTB3UytqeEh2M3RqTFhiekI5aW54QWVBL21LR2pPOStNVEplekhkQys4KzJlV3p0dnl0ckNFY3hic1k0RWRLVnlhb3ZaM3hGRG5wV0diSU9icldteWlKRlRMdU95ZWxFRUJ5SlZoTVllTTVkaDlHTzVZN1Y0WklsUkgvUjNCUzI2SVhueWRmOHJ3M0VQSS9zMmFVN3dBWjNYTHRsVDJ2MUNhM09pWjh3SDF2bU1BdEZFeDVSQzc3WkR4elFkT1hYSDFKRW45QnhnOFI4ck1kcVVsZkhNWWlGejNrSXZXc2ZzRS8rZEgrSERqcThkMC9vLzFwSktmLzFJd05XSjVETThnbEZKWEFXZkcvSVBQS28zSmJxblRlV1ZxRWJ4WjBheUlEWnBHWE94dlYzUVdWK3A2bFN1ZFZqSUc2ZXpFZDd2Ti8xMms2WUFsWGV2U29pQkMrL25pQlVmOFBJc0ZYUm1Pd3FHQUFBQUFBU1VWT1JLNUNZSUk9Igp9Cg=="/>
    </extobj>
    <extobj name="334E55B0-647D-440b-865C-3EC943EB4CBC-108">
      <extobjdata type="334E55B0-647D-440b-865C-3EC943EB4CBC" data="ewoJIkltZ1NldHRpbmdKc29uIiA6ICJ7XCJkcGlcIjpcIjYwMFwiLFwiZm9ybWF0XCI6XCJQTkdcIixcInRyYW5zcGFyZW50XCI6dHJ1ZSxcImF1dG9cIjpmYWxzZX0iLAoJIkxhdGV4IiA6ICJYRnNnZDE5a0lEMGdjRjlrSUVGZlpDQmNYUT09IiwKCSJMYXRleEltZ0Jhc2U2NCIgOiAiaVZCT1J3MEtHZ29BQUFBTlNVaEVVZ0FBQVg4QUFBQk1CQU1BQUFCMzg2cmpBQUFBTUZCTVZFWC8vLzhBQUFBQUFBQUFBQUFBQUFBQUFBQUFBQUFBQUFBQUFBQUFBQUFBQUFBQUFBQUFBQUFBQUFBQUFBQUFBQUF2M2FCN0FBQUFEM1JTVGxNQVpydnZxekxObVlsVUlrUjJFTjBwUkRieEFBQUFDWEJJV1hNQUFBN0VBQUFPeEFHVkt3NGJBQUFKQUVsRVFWUm9CZFZhejJza3h4VXUvUmhKTzlyUmlKd0RJOWlRaTBsR1pKT0xpYmNGVGdnNWpjakIxOUVoTmdGalJvZEFIQWNpRVFJbWw4d1Mvd0VhRXNoVkl1UVE3TVBvRUhJZE9Vc1NBa3RHNENYNHRLUHNySGVWdFZmUDM2dXVWOVZkM1RVN0plMWhWQWQxZFZWOVg3MVg5ZXE5VnoxUzZqcVV5cnZYUWNvSk1oN1MwWVRlYTlEVnBQVnJJR1ZZeEJ0RSsrSGVhOUN6UUxSMURjUU1pOWdsMmdqM3puNVBsWWhPWjEvTXNJVHpVR0F6M0QzN1BYMG9jRGI3WW9ZbEhFR0I1K0h1bWUrNUNmbnBzNWtYTXl6ZzhHbUg2UE53Lzh6M3RKNDNpZjQzODJJR0JWeWw5VDJpODJEL3pIZXNYU2dFc3FjekwyZFF3TUZucWtIMEtOZy82eDAxcEVGOW9pZXpMbWRRdmtVNlVXMmljWERBckhlMHYxQnFTRVN6TG1kUXZzNnBVblVvY0JJY01kc2RjM3laeEgyQWVyTXRaMUM2ZTQvUnRRWUZvTWUxTEh1Y3hYRSt2VDVKL0s4azM5NzIreXUzM3ZTYnJ2cGV1WFh4ZmMweGQydjhrOTVVYkJVNnhyaEZLTURQVUhtRGJydEl0Mkt1bndjdjMreTY0NFMrQVNIdUorTVJQVDRKaVpOdFg3cmd0eFVvc0p0dHp0ZFg2VDNFT2hrd1NQT21HakJiK1hGWGZiczVQcnBCRnllcWtwejMxQWZUSmNnTm5ZVnlRajFCbVBiLzJWRkp3azBFeDZzVXZtUzg3RnRRKzVsU1RRZ3llSXJGeHoxMys4VXJVa3UwM0N6TVRuQjBMYm5MNTl3a0d4VnpkMkRNOHlEbVVoM05ZNFcwN05rS1lUNnV2ZlppbHVYVWUwS29DYmY2UlU3MEZpUldZN2ZPbUxnMmV0bTNvQ29IMHdhZGQ5TzlIaEk3eUJlVVEyME52RjBUektITkN6MlVVQWVQdGFOWi96Q1ZBdi80S0ZRKzlHVmI1b1VhUUpUVWREQlJ6eDlTZU9jd3pHV2lBczE5ak9oTHNvR292Y3NRaFcxN3NRblZFbEFIeXJHbWNYL3F2UEpkZXpsY2xvbmNpRUx0aG9RdlRJRURWRjRxZWlIMnhJVGFsSm9vejZWdHFSeGxXbGNEd25QemhvZnNiNktoWmI5eXdsYTVZV0paa0Z2QXlPcGRITCtzQjVGWTVFQnNDVmFWbTZEeTFWOS8vZUcyajM4OXFNSEZrVGQyYnhjTmlTeVVtdk1XdFl5L0s4dmVJWUtyOUlwQjFMa0hQc2NNYUpJT0hXaWJ6Ni9oSVl0YVVNRGpuUFE2dWd2WFlKdzB4a0dCbkV3bC9GWDdUYnJsY0c0S2cyaWZvUW14bWg4bzd2YTVZdUc2NCsrZlFBRmR1OXlmR2lmRVdDaFpWRVRYMU1VWXVoTCtlWHVMMlN1NzFSdEVkeGNNZFlsME9McXlMbk55R0VUZ29jUUthWWg2M21CVHhjbmROQ2lzbWZlbG9jQi9JS0t3OHlwenVocnhweDRZRHlSZHhkRVMzN1BxM3lHRytTVXpna3o3cUx5Q2tjaUx0d3dBYnRUNzBsRGdUemJNV0paUHpyTTA4ZE1oV25LMlFIdHFoc3paRFRRTkIxZi9QRFowYVRGMDhYYkE1MS9SL2xGUDNpZDdOSTB3K3VFUWRqVmdTMnhTWEZiOFRadkdyNmJRNEYrc1pNOTBRaGZ2YTV2UGYwaTNwU1RsdDNxTHdOa3l1UnhVdld0bW1QZjRWV2RDUWhVVU9kOWh3NDBPbmQ3M1RwKy9TYm1TWjlKdkZvRURkWnIyZDIwWVVIWHhGNEswTVVnYTRwKzRCZ2dJTTBrQ2JKbzgvbFg2MnZla3RLQktUNUR1YVJGMVcrdklZVkNxZmVwR2NnMVI5eWpmRXYyR01HQzN0V2s5dDZIeCtkY3l4M1lCQ213WHBuT0lBOXVkY1ZjRE9Rd0dDTWRkb0loc2NLYXE4N09OSE56bkgyUXNZQWtLaUdrN2tFTllKd1NkM0JKNTY3MTA5Yzk3bVREQUtmNjZrd1UxajcrV2phTndqdDVvaGpxRVhYZm9KSHJYL1BXdSsyNHZOLzFVTDNDZEcyWWdadktzMnVOZnpIcHhhSjdWeDNCWWhBdS8wSFRUOU01bFRGQTM5Y256R3R4YUNWMEhQdnJROEdRZlE2Smo4dzVkSk9reUxSNS8zNFpoOUxPNnUyYWNlMWlFQzc4NExGdG13SHlXZ051Nk5rYWJFWGpVRWpBSHlyRWJKclVEZTlZUVJHM09Zbm85L3RHT29QQkU1bWYzempWYkJMeW9XWGZRaW1FT3orekk2cTlHRDQ0UUJrNXRpMVJ3Wm9KbFF3YTU1NTd6QXdQcnVYSEJMK0cvbWZNNk9QMjVJT1FoY01iTmJIMjNSSTB0bWJqU3BCOTNIaU5QTFc2aWVqMG9mK0UrQUxxUnkyaEdicWxLK1llNVJJbVB2RmxqbHNwSHdIRDJ1VjBuZFQxZHdXUkhwZ0xiZVU5Vm02K1VPVElaTXQwemN4dUFSUFlJbFBLM1hzdHllcmQ2SDRFNGRwd09iOWc5WHJWTzRKL2FXSmN1WEl6T1VzZlVNMkVBYmtYaWNDay9mdG5MTVdNSG50dUdBZ0lld1F3L3NBcllUQWpmVjNndnNBWjJ5U3hUWk1WZG05U2gzZlJ5L252ZVpGQkFGT1l2UHA1RU9BUEhxU3hkcTBCNzAwaTNadHgveTAvZkk2WEhjSmlxUkptT2pZcmwvQzNQQitMSVdDZGVSR0EvZDdVNC9FSDBKQldzczI0RWJCbm4wL0RkbnVtUGVHRFpUWnlITWIwNmlYOU9icmpDM3JGUS9ySnhxcHVkUkhDR2FSUEhpMjNkT1NkYkNBK2N0Z3d5UnFpSHhQOXAyQjhiNzlHNGwrTEwrUWM1cDRtUkxYZjlLVU9Nek5hMm40cHB0c1hpaHJMWG9uZTgzQllCS2RMMEFWWThrUjhtY1daUnVqS3kyWTRxazZpZjJuY3QyUitsbjF5cmlWaFFWeXduc1RFNlR4M3hsdENUN2c2UC93K04wMjNsK0c2c1BjTi9QOEVWK0NSTC9BWlVUM1V2UjhCMGpqSCtqMC9nSFhRSzlNRzVnZU5VcEdzQkx5UTZaWmxqNnFBNFgrUDR0RHJTdjNNd3RvVC9MOTlrYWVuSno0WDc0L2R2cFMwL2VCZHFseUF3Y0VDUHR0WEg5STZxSlBTMlVqL1MrakFCREc2RG4xenA2Y3JsLzREaTgycnlwcXEwNUN5WDhtdGg4Y2NHb3E2MGFGbktKYW8yeWZ6TTlDLzQreEhabjhlUW5xWUx2K2dJTDZ1Q0RnTy9KMFRFNzU0SVJ3bC9aM3pudjI4OXpQem8xYURiZHg2K2hhYUVaU2xCTUZudHI1L1FwOWdncGY3OXkrVE9MN2lpUzEwV2ZzSGRacVV2OW9rd3NLUFU3NUk3UDNUSWVQNUlSRnNpMjZIYmRqZDlYTzB3UFdrNVVEeC9KS0l2WHJSQnozSXpYK0tsSVNFbGc0M25qMFEwNUI2NWwwMW5NeEpFVkZ1eW14bE1QSDhrb2lHV00rSXc4TnZNMVBIVnhOMEdMRGllUHhKeFlPSU12Qzg4UUdJbnZrUUZZZUNMQWl5ZVB4TFJOa2tndk8rMnFsenAzNlk0REJRVWlPZVBSTlRORHNBRktuV3p1SUlGaWNJTm1kdUFHeFRQSDRsWU50dmU1RGkyNUM1RlRvU3BhMmtZOEliSDgwY2lxdW5CdytvaHYyNXZlZE5IdlNJTTdCY0E4Znl4aUFGZjM2cWR0M2tIbXFoZXZpQU0zQzJpNC9rakVZdjBIVlViUE1hTjRtakYvMVpYRkdkU0M4TEFTYkUvbmo4V01hQUhuZkVSZnA1NzFIbW5PUC8wTGZ3TnJFUUJKTUt4L0pHSTJ0K1NCN3oxZjA0K25WN2F3c2o3UCsxQWdXLzk3RGVGbm5qK2VFUmgwdmlHUFlpdlN6eDBOaEFOaytUYlg1aGVtbGhmQWpxc2MxNEJHcVVBQUFBQUFFbEZUa1N1UW1DQyIKfQo="/>
    </extobj>
    <extobj name="334E55B0-647D-440b-865C-3EC943EB4CBC-109">
      <extobjdata type="334E55B0-647D-440b-865C-3EC943EB4CBC" data="ewoJIkltZ1NldHRpbmdKc29uIiA6ICJ7XCJkcGlcIjpcIjYwMFwiLFwiZm9ybWF0XCI6XCJQTkdcIixcInRyYW5zcGFyZW50XCI6dHJ1ZSxcImF1dG9cIjpmYWxzZX0iLAoJIkxhdGV4IiA6ICJYRnNnWEhkcFpHVm9ZWFI3VEgxZlpEMWNjM1Z0WDI4Z1RGOXZYSEJwWDN0dlpIMGdYRjA9IiwKCSJMYXRleEltZ0Jhc2U2NCIgOiAiaVZCT1J3MEtHZ29BQUFBTlNVaEVVZ0FBQWlBQUFBQzBCQU1BQUFCZno0cFRBQUFBTUZCTVZFWC8vLzhBQUFBQUFBQUFBQUFBQUFBQUFBQUFBQUFBQUFBQUFBQUFBQUFBQUFBQUFBQUFBQUFBQUFBQUFBQUFBQUF2M2FCN0FBQUFEM1JTVGxNQUVKbG03M1l5emQxRXF5S0p1MVJ0dm9aRkFBQUFDWEJJV1hNQUFBN0VBQUFPeEFHVkt3NGJBQUFPZTBsRVFWUjRBZTFkWFdoa1NSV3Vua3grWnBKTUI4ZFpCL2NoY1JFRUVSSlFRWVNsSTY3dXFtam5ZUldGaFRRSS9vQnJJaXhtRjF3Nm91aUthT2ZCUllZRk93K0xveXZhQVFkODBLV2JBZlZscEFPQ080alF6ZUtEVHlhdTBZbWoyZkxVYjlmOTYzdnEzdHZWTjczM1B1VFdyVHAxem5mT3JWdm4xRTlYQ0RHdTBrTkx4bE9SSk8raC95cXNZRmpnODVUUzd4alBiL1RrbThBZWxQN3NqVzRHcmY4MHR3ZWxIWjJUWldLK0t0bmpiN1VzNWR2enV0U2c5T3lMUFVwUCt2YVY0MnRjd2h0Q1VlN0hjeDBoeFh5TDB2c0haQVp1WndjamtITkZxWW0vLzJNRU1QQXN1NVMreGd6QkRQTS9mRFUwNVF6ZUVJcHlyQjd2cjJBUEVZUE1yMUw2UWJTZWVFS3dPTHYySTJxVUh2ejFqOTU3KzY0Z0VuOVBJa2hkWkw4TXpVTEZaQ1dBL3RYc2hjNEtMZjg1bkhQcHkzK29hcVAwaDlPT3NIU0IwZzhOMkpjZXAvUnRnOGVNVWlXcGFHd0hWWHExSVUyeW5aRm9helpUVmRNZVVCMHNzbUhOSmE3Q2tWQnpONDZPa05LbkJlbS80MGxIUWpGVHA5L3dNWDRmUGQzelphVit2Q0MwZkEzRDZFdThPZDNIa0daUFUxcWwzdzl3L1J1OXZ4VElUSmtodjRRK2hzMDB0MGptRURDaXlUeDlKb1R1aDdRV2twc3FxeTJheUg5UlRLQmJHMVhRSEN2L002RVV6NGZtcHNtY0VnYTVoK1BCUmxick9OSnpTOVVTRnVuZ0ZQZ0JwYS9qS004dDFad3d5SDl3Q3BUcUZObVljUHh5U0NYRDl4TmtYM21aWnQrUDVjd3FtNktKSENKaGRTTURmU1NEM0pNdENvTmdSMjJYNlhnSHZLTzNwd3JmYTBoUnZWR011NUd5M1pBMVJSUDVBRkxhM0RnSHZFaU02Y2g0dUFVelVVZ3U4M1FOU1hsdXllcWlpV0QxN082ZVcwMlJ3TnZDSUxqd25aQ0w0eHJ3RWxLbmp6ejI3WjJkbmVlKytRZzlRMnFYZ0V4T3JaNGlxMDZIZkZ4dWtIcW1QTEZ3a1ZwNXlGWkZFMW54WkVZLzNBZ1V1VUw2eER0ZkVWQ2ZmZWxkbndxZ3lDNURodThwUmltdWtCTEN3cWI3dGV4MEQrVTBMOHhPRDBKTGtabE9rQklDWXdlS2phcVJ5RVBJS3NJaTJ5RkY2Q3czU0FscnpYMDBxS1NFVEJtNFVzV2dicENTWmNDWlZFMThQUlcrNytHckJDamRJQ1ZIMU1rRXhCYllIUzVzK0I2d0JtUTRRZ29lTVZWRERvTWVraWQzR2FRSmRod2hiVkNLbk13S1VkTWlxODViU0pxVkh6ZElTNER6MkVLdnhLUnZGZ1pKSHBVN1FzcWk2bFRPRUdzaHVWVWtlVHpzQ0NsYldldGdsVXBGQjEwQXUvYVRNbkdFbERuM05MNFFyeDV1STBBMFAwZElsOEVnMFNDeUxFa2J2anRDMm5RVGhqRExWc0QyY08wbXRITFREZEt1bXpDRUdVR0c3NmlOQUNGR2M0UzA3aWdNWVJwQ0lNR3Vmb2kyaUt5NkU2U09uTHZRZDR2YkkySDQ3Z2dwaXc2Y2hDSE1KREo4VDdaMjZ3Z3BXeUhvaVBmbjRHOVBOSkZFQWgwaFpjR0JtekNFMlZ1Rzc0bkdUbmlrODcrdkNzT3J2ellieGNwUXlVSFRrQ0prK0k3ZENPQUJoa1phYWlsRDZQdTZoOVBRaDZZYjU2NHdkQVhHUS9Wc2NVY2p2YVh0b0JQSGVEbUEwTVZzaUFJa3czZnNSZ0JWamQyeFNHVXIxTVpnaVk3SmFIaTY3c1M1YXd3cWZLL3BISFFDaTNRTGZ0bngzTTdURkpiZmR1b243Ty9PTDlCQ0NBSHpXYlFud2ZpQkcxSFhDN0dTajBBZ1hMdXhoQUVDcUlWQkNwTzNmendnWklyNzl0bVlMZVVCSVNTSmMxZnp4Vnd6MzUrTm9BaHZqdHpIRzdKVzZhVUxQR0dSem9xZnl5M3lqcUJzUFIyVnhMbUhmYVRLTG9jQlJmd1pEVUc2NXMrUGU4WWkzUlN6dG1YdTJyZU80OWo2eStPYysyZWYrUG5UMy9KWGVsR3BIN2dqSEg1YlZNSnVCTkN5NDVCS3dubTU2TmJrcHFpczYvclJDWStPWllDM0ZFM0wrMERyWmhmTkQwcmtQbDdybWNRWXBFcm1vbVM4dXMxeVdvY3FQL3J1MWJFNVBBd3AzYTNpdXJKb2VZR1NsbWdpSzRHQzRSa3hTRlhscG14NjFRN0xhZkMvTEJWOWVYWHN4b1VoTU1aRVdEbGFYTEFrWWZnZWkxUklhdlg1ZlVhTVIzQjdzMHdkNjNGaENCQnZCSlZLazJPNWoxZUppa1VxQ0I4VXR3VStIcm1FbTNveGRZVG1PM3hUS016OTd5bE1HZDAzUVNoYzIzYnNvTVp3cEI1MkYza1lNbzNEYnVnWWRPNVhQWHdKQVcvbnkwbjlLUGZ4MmcxNTQ1RjZjRFY1R0hLWjFqeTVFUStHamtIbjN2T3htTTErSlZ3R2RuYTdpZUtSZXJSZDVlYWV3MjNRTVhRTU9QY1pmM3NvajJEczEyUmZqT1dDVlR4U2owRkVsTDg4TEtRWTBCczZsZ0hZMHFDRWtBdittTG81Z3BWdzlyWnRHMTQ4VWxPTks2S0hhdnBmcjBrelNCczZOaW4xUmtnaTRoM1F3cUQ3MkhqS0tGa0hnM3pkamxjOFVwUGZvaGp3YitJTVl1Z0l6dDI3U2hLSWRldTIzc0RFRlpWdXd3ajlJS293UEQ4ZXFWbHZXYmlYVlp4QkRCM2hWWG43dGtCb1p6VzVZbUlhbGdZL1krZGoyQTdqT0tTbXdLNndSQTluRUVOSDZuUHVNMzQvQmQ1dXo1VEUwek5SMHlFM1hnalFobWJBNjE0TExZak9qRVhxcVZvVkt4ME5id2ZwSVJrOEdEcXlvSEYzVUFKN1ZyMDlDZzlEbGt3Q2xrNDFIOElZUUNERXd3U1dSbDd4U0UxR1U1SS85YjlmazBpbm9ZOVhPcktGb3hWZEFJbW1NZG41bTd1blB5V3p2azZYRWJNWUtlbzZOTGxGcGJkc2ZhNVk0bG94K1psSVMrOS82dVJyTmFOMFZuNlJnZVo5OVdiMTBkOFpoSDRkV2N6WU44cEpZeEFkUDBudjNhVDdaVitueTRsVHpZZkFXU1ZWVzU4cnRsdEhJWjNwMFVmdjByUGFRSkV0NFJyTk1Rb3ZmSktlUE51Z2Y5S0VBUjNMWUJEVldoalY5R0JrdThBT1dubjVyT25yeWpTdkZJbnJDVFpuRGtFS3l6QS9KdVJsYWt5ZnRvUWVZSkI5RStkYjZmMGFtZS9wL2l1b0k3UmRUNmZSMU8wRmZqM2JCMTcxaHMySXloUStKRjJudUlqYVpCR05GSGF2Zm9SUmRqVjJvbG9HVFAxc0cweXUwSk05ZUZ4UTd6aEV4MDF2R0FLOXBhcC9YWHlGYlYrbnE0clQzR0dYaUszUEpTUWE2VFM5eHh2NUhKVlRROXdUMUJoQ01NeXhnWFNUZm9VL05lVDdDTkd4NTNYdXQ2Z08zQnNpMUFQd0t3YkxUSktnMjVvMW8yaWtYYm03WW1yd0E2aUxWUHlLRVF4aW1INkJ5aFhVaXV3WVFuU2tuakJrcHFyclg1YWZFa3lBOXEzQkQ2K1F3T2NDdzBpa2dQQ0FDNFR2UXlUWTFpMzVZajBmUUVVMW9iWkloT2pJL09ldWhsL3FEczVscUZBeHN3eCtlVWtUWkpPQTN1RFFtbE0wMGkxOWp1T2c0VFZVTDlHUVRZWEpnMGhtUThndGkvNDNSRWUyNTJ0RkVNSGZ4K0dwSTU2Z3JXM3psTEtpeU03aWJ4S2ZLM2FucldqeEJsTFlwYlV1ODdWTEFldko2S0ZuUkdaejJqaGwzb0JDZEN4dGdnbWsxY2d2b2JLdURyRmJuNHU1cUJxZkZKcitsc1Rua21pazhNVW9EWFRMZytoS3ZFNjJQcjZpSUZkMFV5cnozc2F2NDlYYkw5V1pDVDc2MEowN2QyN2ZiTEMwN0RnSVdWYnpobTNUdXl2V3FlNDliWFVzbTZGSUwrcHZldUJqMi9yamFScGRRbFUxRzlMbWNhRmZ4eFlOdVZUZ1hsRTl0dTZJc09qajZHQnAxK2o0NDZoNStWQ2tSenJvaGM3NlVQQ3JxTmRKeWpxUGpaOWtzNEhBaGExMituVjhlNGc5cEo4bXBLY2FSa3Qvb1NqczhVU2IrdTNGMDBxS0dLVHFKY0luc0NKcU5QWEhBZWJmazF6Z085cVF5UzRmamxqcFNKV0hxbnBqWDhreCtRM2VrM2RDS2prclVWTWpaVDh1bFJvdlBLWlVML1dlVVFLZ3NSeklkSThiVE5kRTZBZ2U2cGhYaHU5eVRYSE01TDQxYU1PWjhBT0FBaWxobjRmU09JeDFXMzlIRU5OQVRHdWxJL2l0YmM1VVJ6MWhJaExrd2RqZ05FRzE2Q29hS2N4YzZONGtsSHhRTE9yb21oZ2RnYWJEdVY3UXZqdFVpSFVtL01BanpZOFFnL0lBNllyTVhkVTlSNUFNY2lyNlc0V09aWU52UXVod1FveU9JR2FORTgreE1HUmhsNmV6K05Pejlya3hVcUZQNmdnU2lMUFdoeEVmVVRWSnQ4emZzcFdPSUtiUG1TOHpiM1B4ZUpnZ216SjRONi9iME1mVFFrOGdYaDFiY3UwUG85OVNqaE9pTlFiQ1NrY1FzOGVaODNCL2EzdVlJSnN5OExrYk52UUlXczFSaEovUk5jcjZpeEw5dXAyT3l0cFYxb2R2WnFVRTlHUForbHhRdjZmNmtKWXhUQTB6eTZLU3JZWm5WanF1aWpjSnJuMGRaczJXd2dRa3lNdmE1eklJVFdtSGFUWFpFWVhyRXBYK2JWUDI2MVk2dGtVVTNHSkRnUms5YVJRbEM1blBmRzVXdHRVaUYrVklvRUsvcS9QQ0V6M1JEVXpSMHdOT1lLWGpOQmZ6cTN0TmFDR0x0bU9QY0R5RW5VTHhzYWd5WDM3cHQ3Nk15TWRTZzArRFhlRERrMGdxVm5CZHRJeFZOZUt4MDdGMVVpUFg2UDVsTUV6M2NLZ2NmS0dGejEzQXQ4cTMwRS9BYWtIMVpDME9TS2wrMG1lVFB2cG9jaXNkcCtucFRUYVp2VXBmRVZPNGNlTGl5MjE4N3JKRnErelNqLytFbm16RUE0QTUxVDgzakZPbzdYUzg5dFFwMnpGLzZjWFRUcndvRkVWRmU4aDRjcHR6ekVvUE4wNy9Vb3ZuU2NqVnUvUjc1ckpkOWpwaVVDZ2E4TG5vNzJBKzgzQkZvY2pSdmEwR2pBaE1jNW5QYkNPRU9pYXg4cm1yWjQ3UmpVRWM3Sm5EK2x4WVljNTR4RE1HZldORlFveFhpeVdTQkJVOTZZT3RjZjdvWUN5S2Z1dXdPTFp5L2pTMFJBdyt0NE90WXRPWXNEenpSbWZqYzc4d1dCN0tteHJaNGJId3VmQng2Wm1MN0FEa2pGT3BnUjduWG1tQVFRYjd1bkttU0ZadzhENlgyME9OUjdNU256OCswRTN1b1ZCZHEwTDdVRk5acUJybmtnaTZCV05EWExRS3BZZTVPVEplK29pV043YVNDc3JuenIvS3VnOTJaVDd4T2piTnd3VmpmTzREejc5REdJUDl6Zlpuc2VHZ3hwbDdpOUlQZnk3cXV2SDNkMy95OWszUmRTaVQ3STRUN2VobGc4KzF2QkN6WDZPSFBUb0o0SE10cjZYUmdja0Q1NWFsT2ZBVGEzblF6aDREQzhYdExvc0pabnM0NDY5eFpHY05vRjRmUCtnUklvQmRDclpYWjRSd3hzODZ3YitvUGhnLzZnSkJZWUhDQW9VRkNnc1VGaWdzVUZpZ3NFQmhnY0lDaFFVS0N4UVdLQ3hRV0tDd1FHR0J3Z0tGQlFvTEZCWW9MRkJZb0xCQVlZSENBb1VGQ2dzVUZpZ3NVRmlnc0VCaGdjSUNvN2VBL3p6ZzBVdk10d1QvZWNENVJqdDZkUDd6Z0Vjdk1kOFMvT2NCNXh1dEEzVCs4NEFkaU15MWlNQjV3TGxHNndCY1JaMjIyRllKQjBKekxBSU96WkkvQXBIbkFlY1lxeE5vL3ZPQW5Rak5zeEQvZWNCNXh1b0VtLzg4WUNkQ2N5d0VEaUxjbHZERWVjQTV4dW9FMnVCMFhEaXFjZEovbFlxeGFIbHdPcTQ0RHhoVGFaSnAycjd6Z0NkWlY1UnUvdk9BVVpVbW1jaC9IdkFrNjRyU3pYOGVNS3JTSkJQNXp3T2VaRjFSdXZuUEEwWlZtbVNpd0huQWs2d3NScmZBZWNDWVNoTk40ejhQZUtLVnhTam5QdzhZVTJlaWFRTG5BVSswdGhqbC9PY0JZK3BNTm8zL1BPQnhhL3QvUlVZaWY3Tk5mT0FBQUFBQVNVVk9SSzVDWUlJPSIKfQo="/>
    </extobj>
    <extobj name="334E55B0-647D-440b-865C-3EC943EB4CBC-110">
      <extobjdata type="334E55B0-647D-440b-865C-3EC943EB4CBC" data="ewoJIkltZ1NldHRpbmdKc29uIiA6ICJ7XCJkcGlcIjpcIjYwMFwiLFwiZm9ybWF0XCI6XCJQTkdcIixcInRyYW5zcGFyZW50XCI6dHJ1ZSxcImF1dG9cIjpmYWxzZX0iLAoJIkxhdGV4IiA6ICJYRnNnUVY5a1BWeGlZWEo3UVgxZlpFaGZaRjU3WEdkaGJXMWhmU0JjWFE9PSIsCgkiTGF0ZXhJbWdCYXNlNjQiIDogImlWQk9SdzBLR2dvQUFBQU5TVWhFVWdBQUFhWUFBQUJnQkFNQUFBQ2ttY3N0QUFBQU1GQk1WRVgvLy84QUFBQUFBQUFBQUFBQUFBQUFBQUFBQUFBQUFBQUFBQUFBQUFBQUFBQUFBQUFBQUFBQUFBQUFBQUFBQUFBdjNhQjdBQUFBRDNSU1RsTUFNcG1KSWtTN1psVHZxOTBRZHMzMVNwRjBBQUFBQ1hCSVdYTUFBQTdFQUFBT3hBR1ZLdzRiQUFBSkFVbEVRVlI0QWUxY1QyaGNSUmgvYVRiL05tK1RVRkNQQ1MxVThPQ3VQZWhKTmlCNDArVGl5Y01HYjdiU0RlaDlBNTRFWVhNUkRBb3ZGQlR0b1JzUElxWGdMZ2hDMGJLUm5qeHRFQ25VUWplMjJqWkp1K1AzemV4N08zKysxMzB6ZVdzZjRqdnN6bnp2bSsvMys5N01mUFBON0VzODc2bGNFMHk1RHA4S2laUkIvNHMrNVU0cDEvTXBQN0wveldYMENaeThkZlJWbjVyL2NVWTVXdEo2R3lQTzc2SlIvcUZsNDJ5cTUwVVFYZURzVmphelNkS09sZDhVUG4zT216WFc3VnBuVTN1T3NZT2J0eGc3UW5wakI5a2thY21xd2I1cmVkNFBBZHVGaHBNUFlscWZMTVhjU0YyY0F0STArNVRUeWpPY1NZczdOTWNjKzV1K2tibzBEYVNaM3JMZ1ZYd00zOVYxbXVRa2krdEFXdDlkbWdaU1RjUUd6NXVEQ1pYams0b2dWR2YzQ09rb1JNbVF1bXpyNnZkMzd0eStzc1h1SW9zaTIvb002MWUzTUM1VU4vck14dGlDbDQvcmpZRDlXNGx5SXFReEVhcjU1MzNrTDlXWjV3MTZwckhrdFhGT0VkYzRZN3dwY1N0bFVVS2tHeTljNEc3MHpwMytBQmw4Mks4Zm5UdjlpK2Y5SEpHcTdIamxVbFJUQ2l2OVVLOElSMUpKampRSlR0MXJEVWpBMDJDSHk0TTZMODA4OGxoTGsvV3JWVmpENkR0cFM1TWpZZnF6TGNGUFE5MkkycE1QcDJJbURkK3ZTYzFIVjdSQW1nVWZWaVVtSjZCdURMUEM0N21ZUlFpYngzV2haRFdGb2dWU0d6akppTmgwUVJaZ2Vmb3dic1h0Z0xxcHI3ZFBvMjZCVk5maWx1NGpwelBSSys2U3ZIejJJdmdrOXpPcGxvTFFCcW5JR0dZSjBWWFJmT1EzSU9pM0lnMjVrR2MvZ2svcnNtaEVaUnVrSm1OL3lqVEttby84bmgrM3JsWWVrUE5QTnBoUzJRTEpoOGU4TDhOMkdaV1RVakpzMWR6QjJMOGtHeGhSMlFJSlEvZWFURVAzVWR6am1ibXNKc29GdGpDbEd6QzEwcERZSU9IUWthYy9yZ0o3QmduZkRPOWNwMzNvMFEwTUM4Y1YyQ0Rwb1J1SFVza2c0TWVFNjhZakQzUEdUYU5CNmdJYkpEMTB3M2FkQ00wVHloSVdFUjZETGpZbVpIUTN6WUlWVWtVTDNmUGdrMGxtbkU2OWNWK0Z1ZndqczBYS0VpdWtzaGE2d2NlZXlXZU8zdmJWTUdFS0dQdkxiSkd5eEFvSlFyZStQQkg4MitSeHBSOXNBL1VtR2Z6VDlja0t5WmdOOVBKVUozdmlCRTh1cW16MEJ4SldTQmlKMStSbkNuVmxDUmIzaW9RTVRwSjRVdFhRUnE5c0xhMnlGUktHN2wwSkdTUHpubFR2RjRNZFUrWjVYUzR0TTNHV1FXbWtKYk5Dd3RDOUlDRVhvRjZTNnFLWVUzYU40ZTBwRWZRN3NDOE9SU1A2dGtPYUJ4OWtJcmlUWDVVRnZGd2dNKzlyd3BVNkdTa05HOGNSMkNGVkVpMVBlYlpNVUNxS3dMRTQra01XTzZTeU5zR0JJTEU4elZLbktMbitSRnhoYWxjVDNoOVRaSW5VMVphbkRod2ltUXptcVFuRGwzYlExWWV2MlR5UytNKzhGWGN0UjBwbXdSSUpuckYrRVljcGk5U1NXKzhyb2s5UFlpUnh2S1pqRGVyS1hsdHFna1U3Skg2K05ERE1TL3VhUmFqV0NKa1hyQWxGek96TnNHSWFBVWxGZzVLcWRFSXByTmdoNGZMMGp2VHl3Um1vNzVsMDZydW1iRHpzSEZ3T05vejd6OTM0OHZZM3VqUWZnQzU5ZmF2ckR1cVdTTW1XSnk4M0FJaEtLK0c4dzBOUHcrY2NNbGNTeWFpaGRjRVNTWi9mOVBKRXNxaHU5c1hrSVl0L1BpQ1RMTkxVRUtFbFVpWFI4a1JoVGtmakRWT1BiVk1Gc3VNMVUrb2dzVVVxSjFxZUtDSXowYVEyVG1tRU92aGtqRWpLMEZDWkxWS3k1WW1DTFVlN0Q0eWRPNllLdUxwcVNoMGt0a2hBWjErR3FTYmQzK1hZd1ZaNGdaRk4yWWdvUTBnMWhRNFNXNlNFdXllQ0NRWVQ2VkllakZDZm81SXN3dEl3a1MwU0xrOGx5V2pNN2tuU0NJdVYrNWVpQzR4RUF6RzhqeWxUR093SE1wZVNMWkorOEVYdm5pZ216YldCTkNCWG9rcmNjZlNnWWFLU0xaTHo4bFFJa3dpa0JZR0d5QWZMNmt4TnhKOVFza2FxYURzTDlMRkZHRFpFYlhsY1FXQWgzalBvVWttV1lXaW93QnFwck8wc0ZqVWZZeEViY3FBcmFsWkVLM1dteGxvYWRzTWFDVWFOc3JQb2tPdzhJeCtkaUpJSXBBUlBocjh3b3RDRGtMcXFDSGpGZXY5a2o4UVNMVTltUGpxcjdJVnJXb0xGMlVOSWJSaysyZStmckpGd2VkcVRnUVB5Nk52TVJ6dEt4bDNYUnV4cjU0Kys4T2JFUzMreWRaZjlreldTSHJweGVkcFJXWWlhbG8vNjZnK0RpK3BiSDgreTNtVzJQVStNUjg5Ni8yU1BwTzhzME1lbEdKOTJKWG4rb0NYVnZCVm9OcWlQczd2TDN1djNLMVI4SDJnbExOa2p6U3RrNEUxS3FHOVFhRm8rV2xGRE41cHBoYzM4TGpmUmJhYnlBNDQ5MHFJMkVXWmtjaUZKL0ZielVWODdhVWFmRmtMMW4wUWtoYjRqUjNHb2x1emJBYW1qaFc0Z2NrU0NxZmxvWHV0TTVaQ2xLUkpJMk5BdmthYXNoQTVJVlcxNXFsRUxEWkpRODlHYU5IdndMbWFONjFpQUs5OS9LdkJyL0FZWEhPdkRBUW00UEpJeEcyVGlCaHBLUGxyUU54RjR5RkxxMjZuMUQxWWczTFJrMDA1bEJ5UmNucFJCSDJnK1JrU1VmTFFvUnpsVXdiRzNMWFFoNk8veFV0aGZRdXo0NllDa3Y3bUhiMjlza3ZCU1B1ci9DbHJ2eVZwalhaRDBOMUFRVERiNHZabmovMzdqZ3VSM2dJdmNUeDhOdU1tY29SeU5yWW1YbTZERTJHK0N1ZWY1NzU4SnVPU1BVeStCWWp2c3d4VXFWZGVzUHJIcWdQVEcyVXY0ZUJrN2QvRVZ0RDExOXRTN3ZIN3o0cXN0SFF3RzZhcVF6WE1kK0FqN0UzZksvUXNQa21yaCs3NjFzT2QwVzBuckRralZrQWw4TDNBeUE4R3VqanZJUitmZzNXMTRjenVJQXZVVW5MWEEyOXo0TWpjdXhOV3dleHFSMTdxeGhIVUhKSHlSL0twNGtieUhLUFd3ZmlVNFFCL0RLejRmRFRXVTcyaGlCV0hVVUc2bldIRkhla0krU3ZHREpIaWZ5MkY3c2s0cHBDWnpSN0xOUjJIaTdYSGFFRUtYVStOUEdYSkdzczVId1pVU1ozQ0NIVkJNMHBNNUkxbm5vNEFraHR3c0xrL2pPK241b0Z0eVJyTE9SMkZQc3NIUjJ4ai9adloxSnVuVlhaSEMvQWFlaVdBNmxCTE0zRld1eE5PK3hiMmhEWndWWEpFYzh0SFErd0RqWDJmWG1mTHdobTVJTHZsb1Vmem1CQnZtVFRpZmJRMm41cXpoaHVTU2o2Nkkzd1libUVpT1FaZ1kzZVdHMUhiSVJ3dDg1LzVtcndMOU5La2NoNmJ0blJ1U1V6N2FnTXpxT3R2T2cyL2x0YlQ5VU93NUlUbmxvd1YyZEpsOWduK1llS0hYVWppa1hYRkNjc3NTcjR2L1l6RHg5VkVwYlM4MGV3NUk3bG1paHAyaHFuT1dtQ0VmZENyT1dhSnVLRU4xNXl3eFF6N29WRnl6Uk4xT2x1cXVXV0tXZkRDNHVHV0pocGxNQ2R5eXhFeTVZSkJ4eXhJTk01a1N1R1dKbVhMQkpPT1VKWnBtTWlWeHloSXo1UUZCeHNnUy93R2hYZ1ZncmhPREVBQUFBQUJKUlU1RXJrSmdnZz09Igp9Cg=="/>
    </extobj>
    <extobj name="334E55B0-647D-440b-865C-3EC943EB4CBC-111">
      <extobjdata type="334E55B0-647D-440b-865C-3EC943EB4CBC" data="ewoJIkltZ1NldHRpbmdKc29uIiA6ICJ7XCJkcGlcIjpcIjYwMFwiLFwiZm9ybWF0XCI6XCJQTkdcIixcInRyYW5zcGFyZW50XCI6dHJ1ZSxcImF1dG9cIjpmYWxzZX0iLAoJIkxhdGV4IiA6ICJYRnNnZVY5a1BVRmZaRWhmWkNCY1hRPT0iLAoJIkxhdGV4SW1nQmFzZTY0IiA6ICJpVkJPUncwS0dnb0FBQUFOU1VoRVVnQUFBWWdBQUFCTkJBTUFBQUJPUCs2bUFBQUFNRkJNVkVYLy8vOEFBQUFBQUFBQUFBQUFBQUFBQUFBQUFBQUFBQUFBQUFBQUFBQUFBQUFBQUFBQUFBQUFBQUFBQUFBQUFBQXYzYUI3QUFBQUQzUlNUbE1BWnJ2dnEwUXl6ZDEybVNLSlZCQmh6TXI3QUFBQUNYQklXWE1BQUE3RUFBQU94QUdWS3c0YkFBQUtERWxFUVZSb0JkVmJYMmhrVnhrL3U1dE1razA2RTN3VHhSbm95aFlmbkVDcUxENTRnMXNwVkdTQzJLYyt6T2lEZ2k4VHROTGlnek80aTY0Z1RLQ2dMNFZaaWlCc0N3bjJRUXFGeFBvSDdjc0VmQlZtcUtMV2w2UkpOTk50dThmZmQvNmZjKzlOenMwbW1mVSszUHVkYzc3ZjkzM24zTzk4MzNmdUpJeE40UHJPOWdTVW5ySEtlZjZmTTVZNEFYR1grWHNUMEhyR0tvZjh3d2lKSGI1ODV5Y3Z2UERpcldWK245ZzMrUElOYXQ5WjV1TUkrSG16SlB6d1pCVWxicTk5WXJkTnprK0duemZIQXVmQ3FoUDB2UHpMNjhMdW8ydXZmWUpZLzZyYTQydXYvZndFNkFVTWIvRllmN2lNV1h3NHNpWmgrdnh3MDdZblNOVTVQNGhUUHdXalZ4eld4OUR1T3UzSmtkT3dKTktwWjhHNTZsaDZGZTF0cHowNWtpempveWo5dStCMEdRbmFjanNtUnZkaFNhUXB3eUFFaEpPYTJCeksvRmVZaE9zaythWnNjUDYrTzlvTUp1V09YU2c5eGQvQkpCYWpkUFk0LzYvTE9BZ201WTVkS04xOEwzcDdsakhiUGRlNERuOUVxcTVlbDZMOVhkZTJQSm9pYXMwZERDZmxqbDBrUGNkYmwwTGI4dlRUSzF0M0JpazRyem50aVpHN2h5emFsakNpMGl2Y25wamxqdUxHQTBhbDNaTFRsVXVHRVhVR3dOVmM3b3NiS01FL1V2czFUMzB6aUtnVlRDS1A5eUw3Witnb0FGc2V4Q2dOSXlvbWRSU0RPMitlS2gxTUU4NC9pRkhVU2FlSm1OTlVqT2lINFNrbks0RDM0c0o5eXUwd3FVZmhjSDVWVkg1MUhuWElwaWhXYzVjTTdUMjM3ZE1mUzU2OG1GM2ZGcVZRSTY1Nm9JaTY3aGhLVVczTmFmdmt0L2tONTlUN1VzelowUmNRM2VwMGlSVWJWaHo5VDRCUlJHMDVQSE5vYnp0dGo1em1yN0txS1FRd2YzZjZIdWZETmk3Sk1OL0hJVE5DVkFWR3UyeDBXTTExbVBaSGpGVk11WGdsc3JCeHhjZlNmNU8yRCtOQ1piTkFtaWduTzR6Tm1nOFFXN0YxY3F6bER0K0dqS3p0dUM4RjhEcnZOQUZZYnBxWUl2K3NtTE43MVhkRXg0U0hKdWVWbzJLZFBEL0pFZHdKMGtRZm56NXlXRm1ic2lma2ppUkRJMGJCUDU3TnU1N0xVNE4ra2E3eHJNUk5BbHpobFpzbTZ0dVEyelNtSjhheDBKMXpsWk5RdW0wZkV4V0d5Z2FheEdhT2FOdE5hU0s4OXV5d1I1V0V2QTN0VHZPQkkzcTh1cEVsWCt1cmFhYjBNMUZqVkdLdnBvZURIa29UbjdsbnIxZlFYZ3Q0ZFBPcVNBdG0vWEZpOFk2MXBZLy8vdnFkbG1iV3o1dmE1TlJ6bkcvZGdsNStTZ0E3V3BSNWZ1UGxMNzM0WTlPQzg0R3I1YlN6MDRSRVZSQmc2WnhDRDF6NDZMWW5LWG5mSWpOYmJzK3A2UzI5TGVuRDNub29CaTdncjErNGN6TFRoRUsxeVdZY0JKWHBTQk0xVi80N3R5RGI3VGc5WFY5UzJNd3ZCZVVuRW1PRTRHdkdwQW1GR3R3RkJLYXZDQ1NGcVdDUmRpTjJ1c1FlZjMvTXVCQTVobExuUWxDMTFwejJJTmlkN2V3MElWQmYyd1FRczE2VitHcktlWGI5bE9Pb0tVWmVNVFZaNml1R0ZBUnozUFhyK043Rit0bHB3cUlhT2ppeFJzcDVobWRVeEEvTVFZaUNXemU5QXBpYldra3hCcVk5bDZtZWZacXdLRHRKRTZZTWZ1RExNdjBGaVhsK3NLd3YyTGVVaGlPbU9wMDAwNXJUcGtPdE55azFabENZallxckdXbWlreHVkWFJVbjBoUmNuQ3ZEbmhtdk5LSTBzZTFJelR0TkdCUmlYbGZ5aDJrQ3ZiNHNSMnd4c3JuL2xMbGduL0V0SzZYQ2RReW1Qa29UcTNhUVphY0pxbUVVcW1JTURkT0VTQ0d1TEVkc01iSlhzL3lKZWZPMmo2S0xXeHJCSnRlN1dHYWFBTnlnaGlZa2hXbUNNZU56cnI3aTlKeE8xd1R0bU56cUN2STNYek9JcURTcGtjdXVhSU9xbStDMDVZYzVNQnFmeXhCUW9HdlhkUlVFbW95ZjQvM05ON0RCUnFocEI1UFN1ZzNLbm5tSDVwMW9KdU56dXVOMHo4YVNnOXNJREpSRHhxZEZzeE5FMUg0bXhtNVpiSHhWT2VGbmU4OFJJYzc0bkdNRUsrVWRKNTU5em1XejlMUkoxOVNIVlU1L0tVQk1kVGNmRHlKcVBaaVVrbTFRMlBnUFZGOHZWV01NekpoaXdhUDRlV0xXTzFoV2c3SklTTWJtRzFrVk1NNFA3WWsxMG5LSkxTdFJDRW5xWlNPSDIyUHQvRnU5MjZ2WWhGMFhKR2pTa0hmVlV0elUwZmZxKzJIZzMyOCtNZjR5TnQvWWdZWVJsZEpFMXhrSDZhTndTRm1SNHpick1WYXE4K2M3aDBnVGQrV1llNytaTndXZWZaNG8rMExhL3MveDMrUkhUL09WaXVkaVlVU2xTZm1HQkNqRTFYVnBvaTNKeVhGZlpmUDFUMmVkWDl6NVJORlRCeU9YYndzVzJmWUN2Ny9KZnIzZk5CdVRoaW9lQ3hOcFlzZGl5STk4RkFDTGNoenZwS1k0L3lsa3pvdzlUM1dsRktHYmZrUWxDMGNhWCs2SVRkL3BlWnNQTDh2YlJsaG9Dd0UwaFlKTU5jbGQ4MDdLUFJFclVFdTVucW9WRjN5V2s2NkhvRW0wZE0rL1pLTGU4bjIrSDBSVURIdUdwRkNZNWFvVUNhZ1NQc3RsZG1wNG5xb1ZGM3hPNlVWU09POUxRVS9XZVlndWR4Mng5U0NpVm9Pb25FS2gxcEp2Z2tLbkV0UlFzYURxZWFxanBRaFoxVklWaUlvNzVjQTQxTXNWUnVtcDNFRXdnVU9IZmRGdTJGeEc3VFFLRVhwZGNDSWtxT01YUkxaRVY5K1hKZnFLM3VaODl4WmZJMHlaWFZXbkFJU2ZrUlZNUWJ4cm0rTFhKWGRTYVJSaWNFMEFCaVpON0dxOStvMjRBb3ZTRytiOUtpUzUwNHFra1puV0JLWFhWbmJEdVRTSDZNQ2k2bHhHN1N4VVhTNDN4V0tWbEFiYWl4SlBsdFJRN0Y1K0NXSS82MkpLSGZSOElIdmdCZEtMcnJpZis4dDljSFFkekY4c2ducXpVSzhMQWVYR0RWMnZZS1o3UWdTaTA2SWpxemc1L1ZZUCtqbi9nVFFWaS9qSlZ4TFI4L3k5UDBMY3JuNUxXNmF3ZmVQdHB6cUM0OW96dnlXRmw5Nis5N2hvZi9lWlA0K29JeFBGU2duL0Nwdi8zZmgxN1ZkNGV6WEJEV0pURUtlOVZZUjYzSmFVQkN5aXZtai9WZlV1ck9wM3crcDZITStXWUxFZDYxSktCb3F4djNQODRzWFh0NXdkdmlqWXA4eEpRNklMMzJmdzE2MzQyOWJFeE05TCtHQ0F2M2VsUDNlbERGalhMNkJocGtsL0FIdEgvZ0dzeUhkRDNiNlZITFNrQVJrb0RMejVPUC9ScDdBc0tpWmgvVFlGdStlcFVzRFozczNtS0xUNWprT1pFMTQ3N2FsbmE3dVdoc0M0SitoQ20rOVlsRW4xVFIxaHJhZHF0V2Y3UkQ1WUV4SUxiYjdqVUxZUXI2cWlBeWU5cGJPMU9wQUcyN2RGMTlVaW15OERWZjZXa295RVhaTmtWVyszSHFXSlA2bnhjM2pBbkVVaGRwYWkvRUkzVGtVR2FvUC9VR0t4RTFxU0dxcGNoM3dCSFVtYzZOTnc0ZVh2Q053dUxkdVZ2VGdaYVJReS9IMkpiZWlZemRycU94YW0zR0lscjdDUFV4UExoUzI2S25oRk1kUmVpOE9sVVVOOS9NRFFGNVdRaW5vVEtOSVptN1BIN2pnZFJiajBtMGdvU3ZYWEk2RXBWRU9YcnFZaXAxK09wT0VpNXM0OGlCUjlHcllOV1VCak95N2h5K0FvVWtRSzFkR1ZlbCs3RldQejBySGdhU2oyMnl1Um9rL0R0aVZqQ1ZheXkwb3hmL0VobEtSUVBYV2tnamRaYS92a3F2T2Q3MVBncTRNOHQydE83TDdmSERYeEppNjdINVNQMVpoQ05maFBCVUNXc2dvN3hUL1B5djFEL0hDMHVtQitwanBXN21rSEd3Y3Q5aTVmbWNKa0JyVm9JU0ZxQ0dmRU5aMll3eFkxKy94MjUyQVZtMk8vb3dJdzlaN0ROY2ZIVC9QUDBmODlYVDhhUmNzUFVUUDdBanNnU2ZZcS95SzV2WVBtMTVPZjJjNXpvZDc5M3ZpckVEeDljN3hkUUg2QUt2ZmUzMlNsQWI4L0tpRGprV1A5TnorNHhma1gvcS9ud05nYk9Fejg0WkZiMndJRy9RL3F0aXpyTnFYdm13QUFBQUJKUlU1RXJrSmdnZz09Igp9Cg=="/>
    </extobj>
    <extobj name="334E55B0-647D-440b-865C-3EC943EB4CBC-112">
      <extobjdata type="334E55B0-647D-440b-865C-3EC943EB4CBC" data="ewoJIkltZ1NldHRpbmdKc29uIiA6ICJ7XCJkcGlcIjpcIjYwMFwiLFwiZm9ybWF0XCI6XCJQTkdcIixcInRyYW5zcGFyZW50XCI6dHJ1ZSxcImF1dG9cIjpmYWxzZX0iLAoJIkxhdGV4IiA6ICJYRnNnY0Y5a1BWeG1jbUZqZTF4d1lYSjBhV0ZzSUZsOWUxeHdZWEowYVdGc0lIbGZaSDA5WEd4bFpuUW9YR1p5WVdON1dYMTdlVjlrZlZ4eWFXZG9kQ2xlZTF4bWNtRmplekY5ZTF4emFXZHRZWDE5SUZ4ZCIsCgkiTGF0ZXhJbWdCYXNlNjQiIDogImlWQk9SdzBLR2dvQUFBQU5TVWhFVWdBQUF0RUFBQURtQkFNQUFBRGhCOFFJQUFBQU1GQk1WRVgvLy84QUFBQUFBQUFBQUFBQUFBQUFBQUFBQUFBQUFBQUFBQUFBQUFBQUFBQUFBQUFBQUFBQUFBQUFBQUFBQUFBdjNhQjdBQUFBRDNSU1RsTUFNcnZ2M2F0bXpZa2lFSFpFVkprVnBLT1BBQUFBQ1hCSVdYTUFBQTdFQUFBT3hBR1ZLdzRiQUFBZWowbEVRVlI0QWUxZGI0d2t4MVh2T2QrZjNibno3Z1lEeWJkWlpFTWdSTXlGdXlURUJucGpuekYvTTRzallZeVN6Q2o1UUlBUHM4aUpqS3pBTEE3bUN5U3ppcEhpa0VnN3lUbnlCMHZNS2hCQmtOQ01FaEJDUkprVmZBT2hXU1V5NGsrU1dXNzJjdWZZdnVKWFhWM1ZWZDFkMDlVOVZUTnpsNWtQTy9YbjFYdXZYcjk2NzlYcm1sclBXMzVjU3VBYmZaZllsN2lGQlA2UkhJanlzdUJPQXAvNUtGbEsycDE0QmVZeUlhUzJsTFNRaDd0QytaRmYvN2ZoVXRMdUJLeGdYa3BhRVlmRHlsTFNEb1dyb0Y1S1doR0h3OHBTMGc2RnE2QmVTbG9SaDhQS1V0SU9oYXVnWGtwYUVZZkR5bExTRG9Xcm9GNUtXaEdIdzhwUzBnNkZxNkJlU2xvUmg4UEtVdElPaGF1Z1hrcGFFWWZEeWxMU0RvV3JvRjVLV2hHSHc4cFMwZzZGcTZCZVNsb1JoOFBLVXRJT2hhdWdYa3BhRVlmRHlsTFNEb1Vyb3k3WHlWTnlmVmwySTRISHJ2ZzRpSEQ1a1IwMzZKZFloUVJhNU5MbEs1Y3VrWXVpWlZsWVNtQXBnYVVFbGhMSUo0R3ovbGErQVF5NjlqTkZSbjFQajJtVHpTTHpyeTVQMitVVTJ3cTVrWE1FQXo5SGJoWWE5NzA3cUUyS2hicmxHam02VGFUMjZjZjg4WU5mbWplemErUkdweGdQVjhtdHlRUFhzV1ZSUDhlVEJ6anEvVTNHeE04NVFtK0tka1IrMFJRMEJyZnFrKzFZazFwZEVFbC9QM25yYjNWV3YrYVRYMmJzMWNtbEswOCsrZVNWU3o3cEM0YnZDUnF2K0NlaXhYWmhqWXozWkp4bnlQanlJMDgrK2FHSExwRlhSWHZKcDQwZmVvaHNpU1phcUdRbzlXSkllb1Y4Sk9ENnJCOWFPMm1aSFlyNXRIbHJSelJaTHZUSS95a1lKZW04SmpwV09CdmZGVTIwY0lHUVhhVmhJU3VqNzRSc3ZVQ3VCYVVQdm5Sdk1KL3hoLzh6WXZnNTFuYmpXMUdUM2RMZGhFVFBsYUkrKy9GSC9ZQ1B0Nyt2SVVpdFBzM2Eva0NGOVlhRXowS0FMbHhoWmJ6QmVXb0ozeitrVTR4TnBrWEkyS0hYSEpCWE9CL2lHOUluSkZMb29QMGNtaDdZRXlCaEFib2VZemNPTWYvNjRHWEJ3MVVSbDlKRmVsMjBzMEtUakJ1eEpvdlZWWkxtMUtqTjJsYXBuQ1hrYldwTFVLdVNhQjRwM1F2UVZQYjdnZ3VvVUZpaHZ5Z2JpM1pXR0pFM3hWcHNWcStTTkYvYkJSOFhWVEpyNUZwSGJRbHFHSi9XbkFJNXI2WVZjbklnYU5mRXRLcVk0b1pvcDRYVkRQZXVBT2V2VkdQK2tHRTRCVFpVUCtudHArOVNTcVRZVGo0L3AwVkhRR3NpKzlnVWZtV0lLUjRwT004NTllNHdWdzJGSEt0UVF4M2JsTFJ1cHNDaHFTbE1YM3IvM0Z1YlJFbzJkTVVTWHNjVWp4WG1ScG9aS2tDRks0T0VXMkNvd0FaUmtLN3BIampVdjY5QUxsb0ZaaUp5ZmFjRnQyY3dROFhwbjlmTjBNcUV5ajdaU2tWVUJ4K0hjazlQOThEaFV1K1hBUmV1M0NMQ1luamVtdkQwMkFxRTBYWEk4VEI2SGc3bWdOQ3RuNHAyQUQ0MnBaNjc0NkZJMU5kVUdZNDZGcVEwSWlLSTlyenprYWYzTWNWT3hHTkpnb3BhclpWNjBzSlNrTjRGTnVUdFlFV2ZWNFg1YUNoakY2enlnanhIeEtvdmgveTFNY1VvS1BHdU9vMmg5Q3VmQnZhUngvYkt2ajRKQlF2RW1WOHdHWWZzZkVaaUM2NmViMnIzTWNXdHFLdjJqcWhzdndUajBVakhpbWNndkRRZ1RxdEpLSFZNVS9MdGFzL2kxV0NkZVV4Rk43MlJpcHlLQmRlV1dlL3BaZFFDSDN1Q1hEVVdYSXNPV29BL2J5Z05DMXlCVG5QSEIwTWlCYWdqSlE2eFBRTW9idlJRWThpYjRHT1h0NjJwY1FodkRyK2hKN0pKai9VdVZoVWVrYVh6d0JabUtQYmo1MldUYlo5bHJKOWRIZFoxOEhHUmQvWWtrODNicE8rcTBCT3BVU3F1ZnFFR2JQajhsTlE0bnlMOGo4ZysxTUZSUDJSanlHMktHN2FHMFROTkVLQ0IvYXRoNjkza0tORXZOK3hISE12TnZMeGFCYTdnSXliSnUyYitqWGhhNlBFQVBHMHpEa3BLU0d1ZksxLzQ0U1J1R3RoemkxWVJDeTRKUjF2QS9sWjZUOURhWm1MR1grNzJKd0M3NmJydzlZZkc3em9FYmlpUWtEU05aSThadldmZDZnQldrckFQeVFuNjRJTzFydnBieVc2NUJYSGVCQm1lSXVPUHZlNmZmZkw0cHo3VmtVZk5zUHgreUxkR1RpQnFHRXdoVkJySk1yN0xOYmZiM083RW1JRnFZaU9ReHZQalRvWlVlcEdpSkNIWitadFRjL1NhSHlEa0R6M3ZzM1VrRk5ZbGowZ2pXYlloTytjMnhQUHFrK1NETENuZnhiWW1oWGlCWkxFT2Q1TWlaaTFyek55WEo2bTlicXlkOXRlSHIxSldXMGRlSmJLSm50ZkNGUGNvalRyM1NIWUl4ckVnc3p4aHpkTjF4bUxBTThKQnh6R0lPbUluYlp4WENWZUc3OWE3QzE0U0JjVE40YXVVYzY4aHh5dDJMalRoeS9iakt5R0xpYUdXR3BDdm1HQ21QUnJZQjhGZGU5THpDSG54aGZkTU1OY0tNeVl0N2w4VEVJNGI2bUovVWg1N0l6bkowTVVVdDBDOUNiUGk4bE5SRWl3SlN2UkZHM1VlWi9XR0lSclRsamVVVVROS3Ezemh6RXVub1ZBSG5LTmVveGJGcmtFZ1F0OHNYZUN4SGdlei9WMmRhS1podkNEcURjOGJtT2dpdE9Nb25iL3pvVjBSRWs4SGM5WmFia25McmJ1RE9SMExXdUdicFgxOW5sS0FUbE9BbVo2ODh4dUNxeVBvNUk0QkZVVFVHa085Rm9iYVhPSUd5S3lDd04xRUV6ajFHdWEwRmVIM1VaMllwNHhBcHlnaGhvK2ViaG9lRnRpYnBXMFJNR2tjM3Bsd29xZGRMOUcwS2FDdFRraEhkSjIvQWRGdWl5cTEydVR3M0tROFpRUmJ2TFN2WGZBaFR1Z3BlYzFydmNPSVJGV2VrRHhpSmR6bjlqS0Rjbm1VdFRKMko5TEtwUnZmeUdyVFk0V0ViRG9POFR6NlBEY21UZ2ptaFZ3ekNQRUNKQU5sQmhMZUVsdXRKUlpWU3gyektVS1dGeU5LZEVyeXJKSHZKZGNuNWltanNjVkwwclpVZzZRR1B1cXZhVHBqemVCWm1wSGNXUTEyQmZka0IrWHlJR3RsekdFM1FrWjNoU0x0Z1dic0ErUWNkUVJvczRSd1dWcFdxWmg3bEkvZDFLNUVJM2pXUEpQbngzMDZwWGNtaHN5aWdhWTJPaEVoS21uWm45QklWcmJiRWFURkVwUlFFeTBJSWwyd1lSTGkwUUhnV1JNcmxlczMvdmdaOG9EQU90TUNwaURuSWFtZFZqYmVMUzNiOXRnY3dCZGtZS1A3OFowTUdORmRWUXlnYUVhaDlIVHQ3ZCtVRzJaWWJxc1pCeHBBSzBhdW5qZ1VaNTg1U0thZmdSVnhvT3crSmtNM3MwS1p5Y01kOWZycSt6dHFUSTVrVXVoWEpDLzNXU3BqdGN1dUlSVXJBdXBNR0RGdzNUM1BncFp4Z1ZxTExRbWFydEsrVktkMmUxdXF1eWpDSVdhbVZmYk56WFNRUTlDNFJCZnNHK0trVzRKZENSYnFvT2dPemFJMXBINFhSVHpkekt3ekRJSkJHaS9rRHVvait4NFhQT2ZIU2VQbERXbFlKVFlqYWgvM3BINFh4WDJEeFY1WGpWd0dHNzRTVDJVQXo2aTdDMG5LcE5xeFdlZXlqektpSEdYUVBNb0NoK3h5dUl1Uis0V1l4WENpZnhBTDRtcXFNZkgyODlqSEJIYXpCdEE4eklETTZTNkdPVUxDRE1yV3VudnFSb1hPcUNNamI4YXNpZHhucVV4cFpxSEs2UzdXczdkQ1dSU3Q5NDlVU1NMSWszZUlRZTduWmV0RVZZVHlvU20xSjZwUng1M0RYY0RIbXZ2UGlJclRVbDMxTkRETHFtQ3hzblBZeDBLc21vZ0ZqbHNKaVRJSW1UeThEQlRXdXlIcFl3a3BqTVd1VktVcEJPZmhkRGYrZEdVR3dqSmdUTE1lZEFUTlNLWmdtV3ZUU05YWldreDE2T2E4NFpoQlBOMnRMQkxEbk9iQXozYXlXU1J0OS9jVUx3M0JxcHVyblBheEVIZlYyRHBLUXdLRlVLMWFHcERVVmpjSUhDWHdXUlFyU2hydGF0eFc1TFNQaFRnbTZ2NC9GVWROWFhxcE1IS2p5VHFSNFdkUVhsZDBlaFF6SGw3WC9iNlcydFJPeGt5cHU5ak1nRkc2d1hkV3hsdUJuMEVGNWlHS0xaQXZpQ1VnaHRsdlE2WmxFbkdDT0hHcHcwWGR4WUd1TTYwZGExRTFnMmxBczIzRHRpRXlnTThuL01nb0lYdnI3Q0hJeXd3cnFMdll5RU1aNlJwMVg1Qm5zQ1BZcXBTeGJKRlhZbFI4TlFpTTlWcXB3bjVsN2pJUTV1ZUwya3dXaWhYdWN5RHBFbkg0UVQ0MXhqQlFHN3FUQTFrUjBJSEJzcW5Fc2pPWmRFeU1meVlTeXdESUtHd3psT1ZxUXJuK0RKTGVza3d3anE2ZHZXeFdhd2EyWE1VTHhnL1Zsdm5YZXR5aWZZWFFkL1RpYy9iakw5MEhmZ2w1OEgxLzBoR3Q5Z3ZWakdYendXOC9Da0ZEMUQvOFgzOXJUaDFEanN5aFp3T0pwTklQVVVwZkp1UTNaSW9ET3IzdzQxSTkvTWtiRi9yNmpYOXloQk4xOTR0UkZwWlorZThKZWRmZi9mdTdDZmw5QmI2Q3ErcHdaZDRWWEZWMzBsRjZyRlpvem5UU2c0VEZ2WFFGdCtQUm0vdjB2eGRQc05SY3ZJQWFQUDRWMDVrM0o5aWRSUU1ObGZmc0U2ckVqcTNZcDFBSTR4c2U4eS8vUkwvUTBLa0gwV01QVXlOSklsaDN2K1ZLRWwzc0ZteGNNcmVJQldhQVRlTENiVjBLVE1QbUVDaGY1aGF4QUQzc0RUUm44d29ndXpPR2RBMk8xUlNZcVNPalZJQ1RoUmt5Y0pNTG9xOTRPd3N6eVlWZ3BHbXdHUy9BS0EzRCt3WEczY0ZEUnRtYjhTS3pwMkg2UVpHQmQrNllscHdndHpoTlNQcklJcm83QUpXZmtmWW9Pc1dhSTd4Ritabi9PT2pldGdzdXFvN1dpZ3RlWjRLVDJ0TmRGNVJnL3hmdFRhS0xhWnJqcENsN0o1NnI1eWFtTVovWm9rSFNCTk9oQzZhR2J1SjBGNnpPQmlkZStPVjdGMnZLMXNEZzlhUXByanNDanU2YTkxek1aTi9OTHQ4RnE3UEJTWC9kNFlSU2Q1bk1VK1dLcEdtZTQ3cnE0RW0xZGZlbnJ5YVJYN3crNUpGZHBLZURLOUtXYVZQNWVVUDEzQWdFajlCMHNaVHVQZm5WZ0tlejk0NS96NG5Ua0djOHJ6TE1xWnVmRHNJc21UcUE5dGdQN2xaNzBjZmxqTmM3OHhLRlk3b0lFVnk4Y3ZFOHZIUXhURkNmSC9mdnBxLy9TLzdOUGU5ZjQyZEFIYzkvZHVnSHJrSUU4NStzVm5BRXRJcmtTKzlXaDE3MDVpYThuNTFFZFpTR3JzSmVlankxcjZPcXRGY1BQSzlOWGw1aGU5WDJnditmRW9YMVBKV21xOU1DZFBONWFNTEpLalhuK09kR2JYWjB2T3ZJbXBtdzRoUUdrczQ4MDF1SUFXTkpyOUhUQ2owOGw0MkFEdXo3WGpiQnozNVY5L21uN01FMklQSXpnQ25tT0cyWGcwZmpYK1d1VTExdWl5TlBzRHBIbVdUS1BwNk01Z05iNVA1VGdJR2VtS0psOW93bFBiZ0l5bldSSmNkYW9BM2lVL3FkWjk1NFpVTlVXVUUrbGhrWCtHWU0xa20xQUFPUk1sbm1pRXJhU0wxR1I2RHNpMjBPeGtVL1IwSFBQcFZrWE5JZXpvdHFQaWQ5REhML3ljOEFKTTA4a1czbWpIK0VWRHNNYmlQanZ6dUJwQlZ6OXJtSElGTGJ6TTBEMzhpbHBIY05abFNtK3hzOEZxN0lTT055b1llanU0NTJzUWJNMlFSeEptbHF5WFlOT0wyYkpnT2szd3BpeDNOVEhkYU5pMTd0dmwxcWRWYzZUU1Y5WkNDRkVqMDJqblRVZGdpTEtDOTJTSFdvWGlCb2dITWhRU0Jwdm03dDhtY3E2WUJxTjdxSEFFS1A2WFJidVMyaUNKZDQ2Rk45am9zUWpZK3A2aVZ0eWx3Y0phdlRsKzVjVDlNaHBOWmh0RjJCMEdOYnFkYlVQeFEwbllrTzdnNlN0UFI3K1VFaXdEZXo5OUp6U3hSMUVqUnR0eUxwbGt1ZDNrek1XZE9BdERUdmFjY2RCOHhRbjNjVy9EYVZxQTdPaXFRWHducmdxZ1ZoTWNDUU9qR0VmUVVGdkZqREpraDZPa2J6MkdtRTAyTDdCTDNhVkNpZmMvVDZUU0V5ZzBwZG1xUlZjbFRTUjRZWXBYQ2FEbXNvdzlianNZalNlL3RVbkVrNlQ1U0h5RzR6RkZueXBNL2d6Z2luNmY5aUVBdlhxbjVRU2U4YVl1eEd5U2dJUFhZcW9wMTJacldrUzA5L2RVYjU2ZndNUU5MS0ZlNkdzc2tHeXlQcFlaU3RnOUJGZ21uMTZkckRmYTlGdGhMVXlqNmVvK1p6a0lCMjBGQ0FnYllyU1J2bjhpQUhQRzR1alI0UmdpMVZ5WWRiMS9HL2ZJOTRwL2ltajFIMzJSUlFEZ3NGR0lDa2hRNVo1WXhLdW1HSXNSWmw2MnJScURiNWIyKzErdWJVMTVINTA4T0dySmlDNVdmQW1hVHBtd0JEU1NPYzVvbFNoQjdjVEw4UXFNQzVFOU5qSTZZeW1oZGN6NVZPVTBrZm1zMUtDcWNSNzRVT3Vsd0x0b1k0LzhGRmI0WnNZYUVnYWJFOXM4cWs4YnZ4NE44SzhHM2h2Z2hZVG9kaGREMmVSTFhLNVF5Uk5WMUptZ2JHZmJPSjRPWXlucmx0aVExaFBmU01UVWQreEl3MWkxRERSRHJZRW5MWUFWTkpRNUhEZFFVNzhnNUdIOFpuSXlqMTBzSnBTenpPRkUwbDhZckRFbm56YzNuMG4vV0dKNHV2RXY3L0NidThpZXUySmJibWh3YjZKQktXVnJrd1AydEtEM3V3YzB2d2duekQydVpHd3pkL24yQ1ZmK3ZJMWhmZy9MUlBiclIzNk15ZUoyTm1NdWdONTh4Skl2Wm9XSi8wWEJCQzBtNmlxR1FDUXpjL0NQUG1hZnFXOWtLTi96TncrbSszTndONEZQWjBBMit2ZGdqRTlFY1MrU2FHZ01Md1p4MFE1cXVyL3U5NnBUcDNqTUU1OTBaQTc0eGw5bGEvK0FTNS9PUHplSGc1ZmlTUlQ5SllMSVlPQUw3ejJQc0V3V2J3Z1E2bmdkRk1HbmVaWXVFakozK2ZiY0VuWUJrM0pvTzU2S1VoZ2d1ODlJN3kyR2tDSFJsby80N24vWXQvK2IwUlJJVnp0Ui9wZWRSYnVGU3FqWC90ejczUGZJUE02UFNlekNnTmV6dHlnNjB5Wk1XVEdSa285NlBzdElBY2NOUFRGSnNhMFRkRm9YMmpINHord0J3Mm5uVFR2REVGNzlxaFErT0VTak9GQS94R2dHRWVxV2Q4dGVTTU90WjRIRk51aVpjOFJnTnRBTUVkbVc3bDhwR0QvSGhzbkRHd3ppMkZCTmZrUnFOR3cray9rbnFtS2JiZndrZlA0VFV3VFdrM09IMmIzKzBvbVpHQjFvK3kwd0p5R0c1Y0VGYzNjTHBhdEU5VnVCQUZqR1hmK05YYlZDU2x3UWhtM2RDRXBoNUxkUFJGY0pBMDZCWHlhakFDUzI3REt4bUdpM29hck9jcXd4bFVoaUdCckRFVyt5SHBUWXZvQktxcXFhUnBPQzFHOGNKNnFOT0lTL0FQeXBOUGdzUGwrbTZUWHhMd3B5M0g2UUt4dnRBaTRzV2RIcWhBVDgzMGJyRWduSTRUV0F2MXZFb0ZjczdPaFU2d1JOSHZRZkI4RzNHaWp1dkdxenduSDVnV2ZKbkJoNFhUTWNCVlpydnhGSkFycUpnaGlxRklWS256MytHdEVQc1dMOC9vdStmbURqQnEvdytNcHJDZjZpaDZOQ0phYlgyRTZuUVZSUXNmbWwyTW5sa3R4V1paSURJQnhjQTRHcHVBSk5sRlg0MGZKcHRUV3BxcGdHZklXN3h5NzdwWEovMFZTNWMxME1SRFF6QXdzcnZORjNqMUJhalVhL3Jld2oxMFI3Um5OTHFldmtudGtZZGI0ejUrQVhPdDlaUVJua3dnYkllbElLWTNjNWU0YnB5ZnlKeUtER0NjVDZFQmZVY2VHWmJMZiswL1RCZkZQL2cvbjlKYnBBa2J3OGg0MEJjOVpwcFFoRlRxR0tSTkRYTnVxY04xalZpcUpubnZGMTlxUWRJLytlMlA2ZkRZYkYvdFM5aUdzaW1SMnQwVm9YelNtckpHQjB2bGxnR3lFZVFjZkF4ZzdZSU0wazZoMlNVUncwWU5hcXpKUnJVcjNuZFB4TlljWDM3a3lTdVhuQ3lyaVlTOW9SeUlUQWExMUV2dDVJWWxYQklhcUl4aGdra2FOTXRpejlIZVdEOEh1bk5xNkx1TDltQWl4MFhIem1SY2UvWmJsNW9UZzFXWDltTXprVnhlSXFQWTdSWjV4eGVBQjhtZEFzTXlodmhPbmw4R1VZUHVyOTNuWC80V2hZTXFYRFNBdHdreWRMSE9IZG1rYWVkOXRrcklaVUorQlhoYTNIcmdPc1QzVEl2WGJIeDNvdTk2di8vV3Zoa2VCWXB1eGp0S3l5SlV6dnJrNW9aWC9nR2FrUWVEbTVTblVndlhJVzdURXYyYzl6ZURieWQvc0hYUm4rdDlQVlFnMnRqOHBYRUdBaWROVFRZdVRpYWtSVnBxa2JjRm5aKzg1ZEZmNHdYeUhkemFPeHVGL3UyVXR4SmFmSGs3a0E3UTdqRXU0QWNRVGZFN0U0anZ3QkE3dG9oYXBJWW83SU0xeWJVT3c5bzZwQ25VSTFSS05BOFd4Ym0rUzdheDBMWHFWMEh5YVYwRXhzZ2tVK1pNUHV0dThsWW1wTFV3MkEzdmhwM2RpOUN2UUcydTB2UmFqUm1TNEFaSy9mcldJamJ0b002cmt3NWM5dkhBVDRzWHF2dm1rWGZGVGRZN25VM0QxbXBrR2M1L0J6WXpPQk5RUDhKb0VZWkEwMTN1dDJwYUFaNmhGbUJkcEJlYjBTckxtaHhBdDdKZ1p0ei9nclQ5THQvQW9xTkppQkpWTXJ5MStDNWpCbXAvN0pDdGtjU0NTcVpDR1lBbWQxaHozVHhEQXRCZE5taGgvcmJrVEZwMXlHem1xWnZnRHdtSlVMNndqNXNPR1FiUmkrbm9xN3RvSHdqNXBoM01TQjlJWTZpK3BtdE96VkRYVUhFcEE3MFdTeFpYWGtZRk5qc1V3SDdNNS8vZzN6ejZvWGZhWXhnTEtkMDRsWUpjdWJoUEpuNHdJL1YyUnNZV3RNVE5XZUhpczI0clFvVDZCRlo3dEFtTWtTWTNWZnRJWDRacVpGT0lFYnpKVEQ5UXNSYUV6MEtUNCs0Q0NxQXlGbEdIbGtSUmVOUTh4eExpWi9uWlY4QTZWYS9nWFNmRWZzaFlxNHYxRzlUTDkvbkNzTmpnSFJKTWZ4ZXdUaU1ncUNmOXdpZnVMaWJjemdqUEhnNWlRK2YvRnh4Ums4dy8rNUEwTEVZcFNNMlBoSHlGVm5FNEJHYWJ2RHo5TnczelVyRlVqdEVNOWFSZitFU0xqTlU5bkpIV2JCb3hFY2tvY3ZCNWZyZFZqcWlranp4dmhRWlhuczhYWU53K0J0ZUFIbGhrdTZWeFgyM3dRdVc3eldpQnV4aFY3ZTJNUGF1cVlHR3FWSnMySlR3d0dOUmxYL2d4dEdIVnZzcTY0dll4dUFZVVlOWStUYzNlNzh0N0lBR2Urb3dTd0RaVW10cGpoQzFoK2RRQmM2dlJYL3cySk9wRHlXekRLbDVrWFhIN0NLWFhMSGNKVlo1aVY1QktHVlVYbnFTZW9LcTduVkZyajFMd3o2WUpLMU01ZE5DVzhqTHJJdlpQMmtmTDU2enhLUFgrSy9Ja0NYZmh0VFR2RUpCS1diRFFZeEJMN3JTRXhmRG91OXR3cmU0bjdLUGw2N1ltQ1FaOVliQ2RkQmZZbit5bXFpVGl4dER5cFhiUG9YRVVLVXhBSFNvZVdnejY5b1ZuMkpwQzVweEYyOWR0K1dMRHpTbUliK2o3RnFzazNRVmNTVjhBeW9XdU5BKzVmWDdsbWxDWWdBZWFuVzV3YnFLSFVEZTJqM3hzM204OGNVRTNOblpkNkcwT2Q5RVRnMkxZNWxXbGp1TllJZzVISi9ZeDBhcEZ1QmVQV25YMlVjS1ZxN2l2ZjJrN0ZBc3FoN3VBQm5WeU1lQWFHS3RQY1NueVBnYW1MalFrT2V4alVZWkJqR1phMGo3Qm9meWdBNC9qUUlYUXVRdXN6UVZ6aVBTZzFwSEVQT1lpZGxaWXRXR1hwTjBock5ZK1NyaHlGVUVpUGZOQmsrVEJOZ3JvaGtLN09XNmR1OEMyY3NFY0lqaFM3R05iU0JlL09CQ3hmN1FkNWpPRWxlbndzcDF2WDdqZkdENm9KdzhBUnludVFpaUdNZ3hhc3FVMHpMMENINk9FMDc1VTdRbHB3cVpzQ2xhZnUrL2tQZDQ1blZ3RVdONENxUFZUeDJEWmNXbEtsOXA1K3RzWktaYW1xa0NwaUdmYlNDVXRVVVFZRmFXYm9xMVpWN0tQMzBkdVBFYTIxOFdLbGtaUFZRU056VlFFWURGMEYzRGZ3c0pNdUoyUlltbEZqajBWNmV3YllSZEVyQUhxVU41d1ZxaEV0NHdQSS91NFFtN3RlWis0TmhBcjJoYlBzRWZwTHdQQTB6WWpJcnVMU2JjekJxL2x4RE94eGVDVWVMQTA1Y1F3Ukhvb01QcENnMFpDOGN1dEFLQlZFeXRhZ0U5WmdNS21Sd3NJN1E0WWJzbGRaTnpPR0syREtibXlOeHp1Um9xVXl5Sk5TaWxFQjRzaSsvZzhjK243RGh3T0htY25iV0xyd3VSRzdpTHJka2J3dDV1R2E1NXRpazVEYVNMakFVbUhQbCt5anpVMkErak1rVzJ1WWFoVGNVTFM0VG9EUktqZFdiY3oxalZQelRiUGVmQ0psNkYwMENDeXg2ajVUSDl4SmsrWTBETmh5QUhQR2M0K0Q2M0pzSGpNUE1aUUFHRTkrcXloSjlpcmh6R2M1blpHN0xRaXg2NGdtMk1GNjJ5UGs4ZWE1SkVyYldyeDJsV3hZMitHWGd1eTcvQlJ0cjZsbGFPZ3hQazY5bFJoMjhJNENROTZJNERwcFQ4YzNVTlQ4TTY2Z2wzd0xxZUpPUjN3TXI3Rm9jY3FEOEFnakowQWdPdTJCRDE5c2FlRVFRSWZnaExHRlZnTmZVclc3WXlSbVJGWTVsK0E4TzduWEVpbnhtaFRKWndZcGhyT0ZhWERBTmp5ZFZ1TUFaaUpYVlpTL3NKcGJ3WU5iUkZPdC9scTgza0FxSXpBQmVrODNhdTJ6N2ZXRk1IVjU0U1RaeHhCaHpxMEJQTVlMbGJvQ3V1eWU5MFd3MG12QWt3MTFGWFdESXNWMmk1b3gzRXdCdmE0RVE2V3Y5Qy9ZRW1QZ0R0TTRDZ29YUERKVDh2OGVxdE1ZejZQQSt1aGdISDZsMEhZdlc2TFU0MjJTcndsK0g0MjBJVnlIYjlaWUFMR0k5a01lbERZVTBCWkJXYWE5YWYwemJPcFRhNXRnUDZGS3JuZVVmbTRoMXpmODU3emYwRmtwNnY4Nkg1ZGpnYlZRVlBVS256dHFEaEtQbm5jVy8zb3liTmNnRmhzalFCRWN6dmpmdm9EVUxIT29ZYXJQRS8rOXorKzZKTWJoekhxWldRK2F1U1ZLRHN0Y3NnYSt4Z2JuN2NLWGR4SkcvUDU0RGM0QnhEZ1FkQzl6aVdwY1JkVmNpc056ZnpienNNNjRIT3RuMkJsOVduLzVFYzZXS01zSXdIZmRCekFhT3hqWW56T0JvUnhjcFFaalg3dVh2TGdiOVA4M0ViUVZ1SFdMTjFkSUQyeUZZMWRxRkxwbVNmR0QzNVR5eElXNjhXZ0Urbi9uYUNnc1k5YURLWWR3NGt4ZzNqM2tuRTdJOEwvdmluRnhZTERZdDBOT0lLQVdXRXRQZktkbW0wODB3TTlFckh4eTdpZGNiU294a00vdGJCbnlGY3RKTjBJMms3VGFHQmxLK3kzOXdYem9YdVpHSnhQQzlPcWsyOW5oSTJ6ejVtOU9hWmcraXd6aXJqdGljZDJNSUNIQVdDWHhpQjNIYWNNbXJKcHFPUndBMlRsMTRVNG9mQ2JyRGdNelRuaTVnYlNNMkUvLzBMR3I4L0x0OFgzR3JuUkNSaUZqb1M2aEZJL2FBclNINVdkb0d6MUQ2S1BneGpDRVhtS3RjQVBidkRTcTBFQmF5emxkc2JlQW1hWFluTlNxM1crbzBHR2REUHM0anJ0MHhpa0Y1ZUpPcjVZclJZM0g2QWVobXgxdnJUd1V5NFdvbUQ3bnJ5ZEVlcXdVNHoybkViQlVvUWNWOGk0RXpJeFlockhncEVXYjdYSllTVWVmY0JKc0pkQ2tPRDlJYVdKdHpQaURrc1hqTm1jcElvTHVoU3Fza2llZXQ0K2E0SzZiM21sOUhkUktwYmNOUkhlOEpHZ3hUSUFJbmxLM3hJR1RXQVJpYVRLTmdkbDMvV0Z6SG1vUENvMVRJeTVQNUVYUWZmNVlCYWZ2REZBZ0gySzJVcGxrSVhLS0Nhb0ZnbE5SWTliRVJEcFVYK1JmanNqSHBVTHEyWmhaam9VOE9ETVBsWkVyZytnZGZ5emt4Zko5aG1JbzcycEd6cFZPNTd3bm93QSs5Y2pXb2Z4aUpSM3d1Mk1GV0hOWlN5TFhFYXVQOUNOVlNYRmNaNmNQRVl6ZmlQeXhqQXlzVDBIaE5SYk1zNTZlSTB3UytqeEh2M3RqTFhiekI5aW54QWVBL21LR2pPOStNVEplekhkQys4KzJlV3p0dnl0ckNFY3hic1k0RWRLVnlhb3ZaM3hGRG5wV0diSU9icldteWlKRlRMdU95ZWxFRUJ5SlZoTVllTTVkaDlHTzVZN1Y0WklsUkgvUjNCUzI2SVhueWRmOHJ3M0VQSS9zMmFVN3dBWjNYTHRsVDJ2MUNhM09pWjh3SDF2bU1BdEZFeDVSQzc3WkR4elFkT1hYSDFKRW45QnhnOFI4ck1kcVVsZkhNWWlGejNrSXZXc2ZzRS8rZEgrSERqcThkMC9vLzFwSktmLzFJd05XSjVETThnbEZKWEFXZkcvSVBQS28zSmJxblRlV1ZxRWJ4WjBheUlEWnBHWE94dlYzUVdWK3A2bFN1ZFZqSUc2ZXpFZDd2Ti8xMms2WUFsWGV2U29pQkMrL25pQlVmOFBJc0ZYUm1Pd3FHQUFBQUFBU1VWT1JLNUNZSUk9Igp9Cg=="/>
    </extobj>
    <extobj name="334E55B0-647D-440b-865C-3EC943EB4CBC-113">
      <extobjdata type="334E55B0-647D-440b-865C-3EC943EB4CBC" data="ewoJIkltZ1NldHRpbmdKc29uIiA6ICJ7XCJkcGlcIjpcIjYwMFwiLFwiZm9ybWF0XCI6XCJQTkdcIixcInRyYW5zcGFyZW50XCI6dHJ1ZSxcImF1dG9cIjpmYWxzZX0iLAoJIkxhdGV4IiA6ICJYRnNnZDE5a0lEMGdjRjlrSUVGZlpDQmNYUT09IiwKCSJMYXRleEltZ0Jhc2U2NCIgOiAiaVZCT1J3MEtHZ29BQUFBTlNVaEVVZ0FBQVg4QUFBQk1CQU1BQUFCMzg2cmpBQUFBTUZCTVZFWC8vLzhBQUFBQUFBQUFBQUFBQUFBQUFBQUFBQUFBQUFBQUFBQUFBQUFBQUFBQUFBQUFBQUFBQUFBQUFBQUFBQUF2M2FCN0FBQUFEM1JTVGxNQVpydnZxekxObVlsVUlrUjJFTjBwUkRieEFBQUFDWEJJV1hNQUFBN0VBQUFPeEFHVkt3NGJBQUFKQUVsRVFWUm9CZFZhejJza3h4VXUvUmhKTzlyUmlKd0RJOWlRaTBsR1pKT0xpYmNGVGdnNWpjakIxOUVoTmdGalJvZEFIQWNpRVFJbWw4d1Mvd0VhRXNoVkl1UVE3TVBvRUhJZE9Vc1NBa3RHNENYNHRLUHNySGVWdFZmUDM2dXVWOVZkM1RVN0plMWhWQWQxZFZWOVg3MVg5ZXE5VnoxUzZqcVV5cnZYUWNvSk1oN1MwWVRlYTlEVnBQVnJJR1ZZeEJ0RSsrSGVhOUN6UUxSMURjUU1pOWdsMmdqM3puNVBsWWhPWjEvTXNJVHpVR0F6M0QzN1BYMG9jRGI3WW9ZbEhFR0I1K0h1bWUrNUNmbnBzNWtYTXl6ZzhHbUg2UE53Lzh6M3RKNDNpZjQzODJJR0JWeWw5VDJpODJEL3pIZXNYU2dFc3FjekwyZFF3TUZucWtIMEtOZy82eDAxcEVGOW9pZXpMbWRRdmtVNlVXMmljWERBckhlMHYxQnFTRVN6TG1kUXZzNnBVblVvY0JJY01kc2RjM3laeEgyQWVyTXRaMUM2ZTQvUnRRWUZvTWUxTEh1Y3hYRSt2VDVKL0s4azM5NzIreXUzM3ZTYnJ2cGV1WFh4ZmMweGQydjhrOTVVYkJVNnhyaEZLTURQVUhtRGJydEl0Mkt1bndjdjMreTY0NFMrQVNIdUorTVJQVDRKaVpOdFg3cmd0eFVvc0p0dHp0ZFg2VDNFT2hrd1NQT21HakJiK1hGWGZiczVQcnBCRnllcWtwejMxQWZUSmNnTm5ZVnlRajFCbVBiLzJWRkp3azBFeDZzVXZtUzg3RnRRKzVsU1RRZ3llSXJGeHoxMys4VXJVa3UwM0N6TVRuQjBMYm5MNTl3a0d4VnpkMkRNOHlEbVVoM05ZNFcwN05rS1lUNnV2ZlppbHVYVWUwS29DYmY2UlU3MEZpUldZN2ZPbUxnMmV0bTNvQ29IMHdhZGQ5TzlIaEk3eUJlVVEyME52RjBUektITkN6MlVVQWVQdGFOWi96Q1ZBdi80S0ZRKzlHVmI1b1VhUUpUVWREQlJ6eDlTZU9jd3pHV2lBczE5ak9oTHNvR292Y3NRaFcxN3NRblZFbEFIeXJHbWNYL3F2UEpkZXpsY2xvbmNpRUx0aG9RdlRJRURWRjRxZWlIMnhJVGFsSm9vejZWdHFSeGxXbGNEd25QemhvZnNiNktoWmI5eXdsYTVZV0paa0Z2QXlPcGRITCtzQjVGWTVFQnNDVmFWbTZEeTFWOS8vZUcyajM4OXFNSEZrVGQyYnhjTmlTeVVtdk1XdFl5L0s4dmVJWUtyOUlwQjFMa0hQc2NNYUpJT0hXaWJ6Ni9oSVl0YVVNRGpuUFE2dWd2WFlKdzB4a0dCbkV3bC9GWDdUYnJsY0c0S2cyaWZvUW14bWg4bzd2YTVZdUc2NCsrZlFBRmR1OXlmR2lmRVdDaFpWRVRYMU1VWXVoTCtlWHVMMlN1NzFSdEVkeGNNZFlsME9McXlMbk55R0VUZ29jUUthWWg2M21CVHhjbmROQ2lzbWZlbG9jQi9JS0t3OHlwenVocnhweDRZRHlSZHhkRVMzN1BxM3lHRytTVXpna3o3cUx5Q2tjaUx0d3dBYnRUNzBsRGdUemJNV0paUHpyTTA4ZE1oV25LMlFIdHFoc3paRFRRTkIxZi9QRFowYVRGMDhYYkE1MS9SL2xGUDNpZDdOSTB3K3VFUWRqVmdTMnhTWEZiOFRadkdyNmJRNEYrc1pNOTBRaGZ2YTV2UGYwaTNwU1RsdDNxTHdOa3l1UnhVdld0bW1QZjRWV2RDUWhVVU9kOWh3NDBPbmQ3M1RwKy9TYm1TWjlKdkZvRURkWnIyZDIwWVVIWHhGNEswTVVnYTRwKzRCZ2dJTTBrQ2JKbzgvbFg2MnZla3RLQktUNUR1YVJGMVcrdklZVkNxZmVwR2NnMVI5eWpmRXYyR01HQzN0V2s5dDZIeCtkY3l4M1lCQ213WHBuT0lBOXVkY1ZjRE9Rd0dDTWRkb0loc2NLYXE4N09OSE56bkgyUXNZQWtLaUdrN2tFTllKd1NkM0JKNTY3MTA5Yzk3bVREQUtmNjZrd1UxajcrV2phTndqdDVvaGpxRVhYZm9KSHJYL1BXdSsyNHZOLzFVTDNDZEcyWWdadktzMnVOZnpIcHhhSjdWeDNCWWhBdS8wSFRUOU01bFRGQTM5Y256R3R4YUNWMEhQdnJROEdRZlE2Smo4dzVkSk9reUxSNS8zNFpoOUxPNnUyYWNlMWlFQzc4NExGdG13SHlXZ051Nk5rYWJFWGpVRWpBSHlyRWJKclVEZTlZUVJHM09Zbm85L3RHT29QQkU1bWYzempWYkJMeW9XWGZRaW1FT3orekk2cTlHRDQ0UUJrNXRpMVJ3Wm9KbFF3YTU1NTd6QXdQcnVYSEJMK0cvbWZNNk9QMjVJT1FoY01iTmJIMjNSSTB0bWJqU3BCOTNIaU5QTFc2aWVqMG9mK0UrQUxxUnkyaEdicWxLK1llNVJJbVB2RmxqbHNwSHdIRDJ1VjBuZFQxZHdXUkhwZ0xiZVU5Vm02K1VPVElaTXQwemN4dUFSUFlJbFBLM1hzdHllcmQ2SDRFNGRwd09iOWc5WHJWTzRKL2FXSmN1WEl6T1VzZlVNMkVBYmtYaWNDay9mdG5MTVdNSG50dUdBZ0lld1F3L3NBcllUQWpmVjNndnNBWjJ5U3hUWk1WZG05U2gzZlJ5L252ZVpGQkFGT1l2UHA1RU9BUEhxU3hkcTBCNzAwaTNadHgveTAvZkk2WEhjSmlxUkptT2pZcmwvQzNQQitMSVdDZGVSR0EvZDdVNC9FSDBKQldzczI0RWJCbm4wL0RkbnVtUGVHRFpUWnlITWIwNmlYOU9icmpDM3JGUS9ySnhxcHVkUkhDR2FSUEhpMjNkT1NkYkNBK2N0Z3d5UnFpSHhQOXAyQjhiNzlHNGwrTEwrUWM1cDRtUkxYZjlLVU9Nek5hMm40cHB0c1hpaHJMWG9uZTgzQllCS2RMMEFWWThrUjhtY1daUnVqS3kyWTRxazZpZjJuY3QyUitsbjF5cmlWaFFWeXduc1RFNlR4M3hsdENUN2c2UC93K04wMjNsK0c2c1BjTi9QOEVWK0NSTC9BWlVUM1V2UjhCMGpqSCtqMC9nSFhRSzlNRzVnZU5VcEdzQkx5UTZaWmxqNnFBNFgrUDR0RHJTdjNNd3RvVC9MOTlrYWVuSno0WDc0L2R2cFMwL2VCZHFseUF3Y0VDUHR0WEg5STZxSlBTMlVqL1MrakFCREc2RG4xenA2Y3JsLzREaTgycnlwcXEwNUN5WDhtdGg4Y2NHb3E2MGFGbktKYW8yeWZ6TTlDLzQreEhabjhlUW5xWUx2K2dJTDZ1Q0RnTy9KMFRFNzU0SVJ3bC9aM3pudjI4OXpQem8xYURiZHg2K2hhYUVaU2xCTUZudHI1L1FwOWdncGY3OXkrVE9MN2lpUzEwV2ZzSGRacVV2OW9rd3NLUFU3NUk3UDNUSWVQNUlSRnNpMjZIYmRqZDlYTzB3UFdrNVVEeC9KS0l2WHJSQnozSXpYK0tsSVNFbGc0M25qMFEwNUI2NWwwMW5NeEpFVkZ1eW14bE1QSDhrb2lHV00rSXc4TnZNMVBIVnhOMEdMRGllUHhKeFlPSU12Qzg4UUdJbnZrUUZZZUNMQWl5ZVB4TFJOa2tndk8rMnFsenAzNlk0REJRVWlPZVBSTlRORHNBRktuV3p1SUlGaWNJTm1kdUFHeFRQSDRsWU50dmU1RGkyNUM1RlRvU3BhMmtZOEliSDgwY2lxdW5CdytvaHYyNXZlZE5IdlNJTTdCY0E4Znl4aUFGZjM2cWR0M2tIbXFoZXZpQU0zQzJpNC9rakVZdjBIVlViUE1hTjRtakYvMVpYRkdkU0M4TEFTYkUvbmo4V01hQUhuZkVSZnA1NzFIbW5PUC8wTGZ3TnJFUUJKTUt4L0pHSTJ0K1NCN3oxZjA0K25WN2F3c2o3UCsxQWdXLzk3RGVGbm5qK2VFUmgwdmlHUFlpdlN6eDBOaEFOaytUYlg1aGVtbGhmQWpxc2MxNEJHcVVBQUFBQUFFbEZUa1N1UW1DQyIKfQo="/>
    </extobj>
    <extobj name="334E55B0-647D-440b-865C-3EC943EB4CBC-114">
      <extobjdata type="334E55B0-647D-440b-865C-3EC943EB4CBC" data="ewoJIkltZ1NldHRpbmdKc29uIiA6ICJ7XCJkcGlcIjpcIjYwMFwiLFwiZm9ybWF0XCI6XCJQTkdcIixcInRyYW5zcGFyZW50XCI6dHJ1ZSxcImF1dG9cIjpmYWxzZX0iLAoJIkxhdGV4IiA6ICJYRnNnWEdGc2NHaGhYMlE5WEdKaGNudGNZV3h3YUdGOVgyUmNhR0YwZTB4OVgyUmVlMXhzWVcxaVpHRjlJRnhkIiwKCSJMYXRleEltZ0Jhc2U2NCIgOiAiaVZCT1J3MEtHZ29BQUFBTlNVaEVVZ0FBQVlFQUFBQmxCQU1BQUFCWjFVSTNBQUFBTUZCTVZFWC8vLzhBQUFBQUFBQUFBQUFBQUFBQUFBQUFBQUFBQUFBQUFBQUFBQUFBQUFBQUFBQUFBQUFBQUFBQUFBQUFBQUF2M2FCN0FBQUFEM1JTVGxNQUVIYXIzZTltVkxzaXpabUpNa1JscVhZUkFBQUFDWEJJV1hNQUFBN0VBQUFPeEFHVkt3NGJBQUFLejBsRVFWUjRBZFZiVDJoa1NSbXZUazltMGtrNkNjUE1Jb3ZRRWZHd3N0TEIxVlVIdEh1Wm1jdWk5cWd6dUxxNHIvWGtyZU5COEpZSWU1cURMNmdqd3lCMFpIWkU1ckFkRUFWZHBSdjBvTHNEbmN1S2VOaHVFRUVRN0xqcDFreG0xczlmMVh2MXF1cjk2ZmNuYS9iMU8vU3I5OVZYWDMxZmZYK3JLbUVzNTgvQ2ZzNFpqR1hQZmljV0pkOElDMFF6cmdTYmFMYVZzRUNQcklsZkNZdjB3Z2Z5YlRrYWR6WTFMOUJYTkFCdm51MFE5WHl3dkg0VzZiK00yWk1kSDM4clJJOTlvTHgrMXJnRkZRTktZRnRFZnFueUtVS1JudU9NOVFOS1dDVGF5eWZMUHE1cVIyc2NjamFnQkpqUmdRODNsNTlGMm5ENDJnb29vVUgvemlYTFBxWnVTWGN0Vyt1K3JpcU5mWkJjZnBhYmtxM3Z5NFo4VjJZK1ZSZEpXcGlVYWRiZVphSi96UnJQUG40NzlMWVBNbXVmcmRsdzVTbkxPazgwbk5JOUExM0xSTnN6d09ZVUZrdEVENmQwejBLWFBUUGxhZFJxYnRFa3FpczM4QTdkdVA3OC9mdjNyMXk5UVVjQnJ1REttd0ZndmdCSVd1b0pWa0Z6Ukx2NVlqakl6ZE0vdittSThMTm5mdk9SUUhkaE5vNEFjTlpDaC9zQjdnV2dSby9DTzNJRlJRRVhGZllMMk83bml0ZHdaczVBZ2doL3ZZQ3VadmlvUEVFcllET2NuNUoxU0ZRUDc4c1RkSXZvT0p5Zk4rbGJ4STlpVHZYQjlseC9EaE5NM28wNkdGcEJjVjJqSkNRU3pKSVlKWU1FamFoMUh1SFFia0MwbG5qeWR3V3g5SnJ4L0RLZUtHSisrS25LV2I3OE9EUmFqNmZ4M21LY2d3UzdZU3hVZVl3OVMzUXRyRE5Qc0NWSTBBdGhhTm54YjZML2hIVG1Dc1RUd1RDRW82NXpHdGtOS2ZoQ3NOOUxVQVVTaE14ZnBJbHc0WGIrejM5SDRlbkFkczlSVVRYMVFnVE1FNmdmbWc2ZWxPZDFjUFM4dXpLS3QyRGFMVFE4b0pYMzg5L3dkUEJEVmRGVm8ycU92QmdTVCtLN2ZtWktsanF0VzVYMkpKQUtIN3c2dWZ4MVAvNjcvWDMrWTliMVo1UFdBamdUQ3JycUxlMzZCdmxpdytQd25FMTBsZWhUSHVELzB2Z08wZGlpdzUxa3hGRTJCTk5CVjZ2bmNHamtYVGFmcytpTE8reThNckZrYzZURStqWk5ubUtGYWxML2c1RUUwMEZYMzdSMXZkUFRrazFmNXR6YzBRUk15VjBDOU5zMDJRUmFxYVBwZnRxd1VWZzZ1UDJpTm1UdTNuWFhKRnZrM0xrVkxQZU9jRkhabHpiZ1pFMVVZdDhWRkM3S1BmcmQ2UVQ3b2VrZ2RBeGN4dVY0eXkyV0JydWhpQ2NDOXFXQ2tZbTRMbGc1WXY4bForbUVwUVBaYWI2VmQ2Q1dFbXJwOTB5TXNLL0NXLytNZW5aQzhMWEEwWEF1WUpibFRWOElOZ2ZCRFE0aXVueGduR25zdWlDY2hLM3pabVBJZjZjL0Z6RkR4Qk4ydjFKVDZhZnFoUFF6d1lTcnp4aWFEblFFMVlhOXlVVkRmTHFHam5LU1UxVTRXdFFUUE9aa3NOU0hjc3EyYzJvNzRGTkZQNkhwSUJRZHNxcnJaVXM0d3ZJakUvTlBUMy95bGMrWklQeTlneFVsQUgzZWo4c1k1RzFLcUh0cTI5K1RBUEV1ZitOM042L3NLMUJvT2xEZFdxdXRsM2kyaUJQenBuNmhHUzEzYUVPVE4wRkM2UlZsTVdmZUdocmp3WWRSSmF6aWM4M0FpUHJvYUt2RCttS2kwVFVEdWZDeWxkaXBqSUhxQXd1cUZBMzd3QVFyU2lTQjl6N1VCSG9HZzlaaWdwVkxIa2Fra2FvS243RFgxZHlpaFRKeDJ3ZEs5d2wyMUtvZ1hzQW5GZ0wrWGpHMmpmMms2UUFCVkNPMXhVdVJVa0I3a0dBOUhjcys3SVpPQUFrQlp0b08zR2xYZEU1WUoyazZhR2xCUWpqY0psdnlPVEpqbUhQbzR5blZKL0t4Ris5Z1ArS1VvYnZuSjdIRkJmTWVEQW5JNkhYcURheE9YWDJQdUZPMHZiZ25PMkM1c3BucERVVnIxekFpK3BVMGtWeWFmVDJEQWNsTFUwNy9FK0ZUOHpqVFUxMERydTFhWUhVV0V6cVZJbVMyMm9aTjQ0THBiVllNS0JwMnM2dUdCZE9CdmE5NnRSYThTditiVkVqUUt3ZFhaNVZpS2dDTllsaXpha1JqU1BDWURRS0tSaG5SVTRNRDZhRHNNd09acEtCZkxSUXhMc0ZDa051UllhRnFtcVF0bUtvS1JVeElZR3ZjT21SZ04wTkZjQlZMdTZZK0dWc3lqNnE5SkZVaEk0UzFJVUdycmc4VWJjTkNBNzJ4QUlReVBScGo4c2RuTmI5d3g1dk9CbzgwVVZaMU4yZk1TMUlESTVneVNQQkhmU1ZjNG9hRnhqSWNRT0EzcStzS3lpVm9tL3p3VHRQWitpUzNFZTdBbHFaRkFYS1QxSllaZFNIQjY2YTJCTEpob1M3RkZDOEVZMzFadUFTZGpjQjQwOWs2L29QZFJzODN3azFTVmJOZXFCQlpkUittQ09EREFKQWwzeC93Y0tHTng5UVQwMEpFcCtsc0dHS2tnN0llY0FTK202UzZSanBna0NDQXlYaHBiRGlWSUpCaWY0RGRqYzR4ZHd2dmtFRkoxdGRaNW9aWFYzMG9RblFLb3NQMUc1amJyb1lJQ2N4STlPT1h4NStCaFFhR2kvU05XVUtmSTQwaWIySXV2VWpqRXZSMGxOSWZHcGVIU0FkMUJlUnEyMU9mbUU2cmZSeTQ2emV3SXQwaVYzMlMvNW1PTDlIR3FzK3BCSVVVK3dPd1l6aVhxUkpXdHVsdTV4RHBRR09aWCtkdjZoSTBESnZpUGE3ZnRJeHhnT3Brc0hpUGR0anRvOUVKYjB0UUZoa1oyUGZacDEreGt2MDlnMlV3WWxqdW5CNk9IY2xjdjJtYkxHTmd6K25udjdqNjUrdlFjYmZtcWlObEM4SEhKNEZ1cWsrSzlWa2NHeXdQZkhvYW1ScmhETGhKQ2p1K2JZMGZVNElMVGlxR2xIVU5KMFBUTXRJbTdFV1RBTWZwUTVDRWxMcXpWVTJoQzVZZXpCd08zQ1NGTUZGM0FQeVgvNzJGWm93TlJ5RTR6TkNBQ2p0NXEydHdoenNNVFNWblhIRnFPcERaWmpxNFpUcVNtTmsxRjRoK29EaDVFOWEzNFgwVzNYbGh4cHNlTUZNRFdsVGp5cGJoMkRWM0NWdUdzNEVSelhVeEpKRER2VExLMXZybTZJRVRYSjhWODdYb0hmRkdLRmxUREdScEliSU12WEhWeDMwUlhJdE5Ec0x5N1BNM3Erb3M4OTFCWFlENVQ2RnZWSVlPM0V0U0Y1V0psanN2SVZUWFFWVUVkTFIzQmJMVWhUTXl5eS9NZUZ1Tys4dGtXQkhLYlFsUVJhWUtxUXVCeC8reWFFK09ZQi9DVjgvN1lzeE1Vc2pOcm9tVWFnamFOajFrYkY1Y05VTklwMmMreEFnMWVrbWFXNTZKL0FCbUNwWHM0TFJGVU8vTEhrdXpYeHpSazFjTC9nZytJUlVsNXZJbktiazdYYkdQaDloLzgxT1IyamJIckVqakZUQU95ZjVnbllaaTlOL3BWUkYzbXF3b0ZYMGdPdUNRVGRGZ1Q3enhUSWZ6L0tYWEhqeDQ4TWFsQm0vcmtTQ1FwRllzK2pTSWZwTzRBRERMOGRvZDU4WVpaL0lPeVJiWHl3bWZ2NGsvbU1OeVFnREdXdlJjcWZNRjNvSWJiUE0zYjBBdi9La0psbjAvcXFZSVNWS3dsakZPbTE3Y0YrUHhWK1gwRTlHeTVTRlZUZDlnaWE0TVAzMmlLeFpOZml1R2d0M0c4UnB2d3FDYUFvU2JldkZtN0JjKzVzV253eExIQ0V0U0s3OXVqTzgrNVk0dnZIN2pwMDdUTzRiUkxkVEZ5dkQ2eHl2MC9FZmRaV2J2di9mVnBxQ3hLcGMrc2JNbFQxS29idy9FSk1wQ00vQWROMlNRMXRsa1lJUWFOMk9JSXlUdkNoUmxvVEVqc25TUFpEQk42bXdwa2hRWTd3bWVsandMemNKaXpKaVdMSkc2eVp3dFRaS0NCRTB4L1JtZURwYnJNYXhrN0c3SmNOSGc2ZUQzc1ZUU0pDa3YxVlg0SlBPT1Q4VE9rQlpCcGpxc2JSTkpMblo0SllYZndKT0hncUN3dk1GdUxQRk1DQU8zTElQRzkyTnZOekZEcWlRbG5kM2lNYW02bm9uQjJFR3JibEdCZlFwamN5cHZSUTFNbGFTNlRtV0NuSE1OKzdTMUtKb25neSs1ZHdZMkR4ZUxXa0VkUVRaVmttbzcrYjdHeTlXeXNWT1BvSjRGWEhKS0Y5U2kyS0VOTnVKSXBFdFNjOEpFN3h5UG9JT0Z3QVlqYnE2ay9WWHViYVhPcTF3SE5wclRuNVJKaXYrVCtYbmE0UDh0MzkrZVRqbDdiNUcraHI5M09XUTFHaTY3bGVRVVlpbVQxQnlOTDlGTGpIWHBwbE9HVFNHZHZhdEtsenVUSVZ1aW80NHEzNkxJcFUxUzUrK05Qd0ZhS3g4Zjk2SkluaHhlK0xCMWVSTmsvbXA5TnA3WTZTU3BlRDZ5WTV4T2tzck9YNEtScDVLa0V2Q1JIZVZVa2xSMjloS01QSlVrbFlDUDdDaW5rNlN5ODVkZzVLa2txUVI4WkVjNW5TU1ZuYjhFSTMxSjZuOGxjdjJDQ1FjR2p3QUFBQUJKUlU1RXJrSmdnZz09Igp9Cg=="/>
    </extobj>
    <extobj name="334E55B0-647D-440b-865C-3EC943EB4CBC-115">
      <extobjdata type="334E55B0-647D-440b-865C-3EC943EB4CBC" data="ewoJIkltZ1NldHRpbmdKc29uIiA6ICJ7XCJkcGlcIjpcIjYwMFwiLFwiZm9ybWF0XCI6XCJQTkdcIixcInRyYW5zcGFyZW50XCI6dHJ1ZSxcImF1dG9cIjpmYWxzZX0iLAoJIkxhdGV4IiA6ICJYRnNnWEhCcFgzdHZaSDFjYkc5dVozSnBaMmgwWVhKeWIzZGNkMmxrWldoaGRIdE1mVjlrWEd4dmJtZHlhV2RvZEdGeWNtOTNJRWhmWkZ4c2IyNW5jbWxuYUhSaGNuSnZkeUJCWDJSY2JHOXVaM0pwWjJoMFlYSnliM2NnZVY5a1hHeHZibWR5YVdkb2RHRnljbTkzSUZsY2JHOXVaM0pwWjJoMFlYSnliM2NnY0Y5a1hHeHZibWR5YVdkb2RHRnljbTkzSUhkZlpGeHNiMjVuY21sbmFIUmhjbkp2ZDF4aGJIQm9ZVjlrWEd4dmJtZHlhV2RvZEdGeWNtOTNYSEJwWDN0dlpIMGdYRjA9IiwKCSJMYXRleEltZ0Jhc2U2NCIgOiAiaVZCT1J3MEtHZ29BQUFBTlNVaEVVZ0FBQ2dzQUFBQmtDQU1BQUFDRmYySWZBQUFBUWxCTVZFWC8vLzhBQUFBQUFBQUFBQUFBQUFBQUFBQUFBQUFBQUFBQUFBQUFBQUFBQUFBQUFBQUFBQUFBQUFBQUFBQUFBQUFBQUFBQUFBQUFBQUFBQUFBQUFBQUFBQUNHS0V1ekFBQUFGWFJTVGxNQUlvbk43OTFFRUtzeVZMdG1kcGtnOGZOQSsvMmIwc2w3QUFBQUNYQklXWE1BQUE3RUFBQU94QUdWS3c0YkFBQWdBRWxFUVZSNEFlMmRiYU95b0pPSE8yV251anUxKzkvZHZ2OVgzWGtBQlFTZk02Q2ZMMHBOamJsbUdJWUI5WERBc3A3QTVmbThyTDhLcmdBQ0lBQUNJQUFDSUFBQ0lGQWdnYi9tOVhvOUNpdzRpZ3dDSUFBQ0lBQUNJQUFDSUxDU3dPMUVrU0F0NTkrVkY4THBJQUFDSUFBQ0lBQUNJQUFDaFJHNFBEVVM1TS9yVDJHRlIzRkJBQVJBQUFSQUFBUkFBQVRXRUhoMGtTQ3ZIZGRjQytlQ0FBaUFBQWlBQUFpQUFBaVVST0QzcktIZy9mWjcxN1htWDBubFIxbEJBQVJBQUFSQUFBUkFBQVNXRXZpNWF2eW5ROE0zczNYSFFQRlNvRGdQQkVBQUJFQUFCRUFBQk1vaGNOUkk4Tm5HZmpZMnhFQnhPVXBFU1VFQUJFQUFCRUFBQkVCZ0VZRi8vQnlaMTh0L3J1Q1Aza2pTL0MyNkpFNENBUkFBQVJBQUFSQUFBUkFvZ3NDUFRnODg5cDR3ZmRGczRlbFdoQmdvSkFpQUFBaUFBQWlBQUFpQXdId0NFdkExOGFkTFh4NlNNZlFUaHZQL0FtZUFBQWlBQUFpQUFBaUFBQWhrU1VCZU01S0lCS1hBR2czR1E4VXNKVUtoUUFBRVFBQUVRQUFFUUFBRXBoR1ExNHljUjJZRS92SERadkFpa21sRWNSUUlnQUFJZ0FBSWdBQUlsRUpBWGpOeW52QVF3WDhjRFY1Nzh3bExrUlBsQkFFUUFBRVFBQUVRQUFFUTZCUDRlYjFPRTk4Ny9FdnZLY1l0SkgyRTJBTUNJQUFDSUFBQ0lBQUM1Uko0VEl3RVdjSmZUQmtzVjlFb09RaUFBQWlBQUFpQUFBaUFBQWlBQUFpQUFBaUFBQWlBQUFpQUFBaUFBQWlBQUFpQUFBaUFBQWlBQUFpQUFBaUFBQWlBQUFpQUFBaUFBQWlBQUFpQUFBaUFBQWlBQUFpQUFBaUFBQWlBQUFpQUFBaUFBQWlBQUFpQUFBaUFBQWlBQUFpQUFBaUFBQWlBQUFpQUFBaUFBQWlBQUFpQUFBak1KSEI3SG1lZWdjTkJBQVJBQUFSQUFBUkFBQVFxSVVEdnMzbk5lSXA1SlZKRERCQUFBUkFBQVJBQUFSQUFBU1p3cDFqd0R5aEFBQVJBQUFSQUFBUktJa0N2RzM0MVRYTStuM1E1bjgrMFNUdnZKVW14YVZrVkNZR3dSQlRJMC83SjAwY214R2pYMmY3K3RkLy9pTUlMZzhUZnBmK3IxSWF3c3NTeXd6ZHlLOWJUa0pkQmpma3VRNEcwSUFBQ0dSTzRjZk1kWGI0MnRFa2hhWVBqS0M3YW1iR2E5eWthZHlGZTEzMytDLytTQ1lGNGJmZ1hLZDJ4ZCtnbGNoUjJnUUFJZ0FBSTdFN2djWHhlNzV3SmE1ZlQvWHA5SGgrMzNZdVN5eC8ya0JDUjUvSHZ4NWJ2WDRqc3pMOS9NVEFEUnR2Nk5tUzJ1UEJkTllFL3JnM1NDekFlcERsZG45R0pBajlINzdqVE14WXdWczBLd29FQUNJQkEzZ1I0cGhjdjErOE5BVU1GV1NUSFJQYkNwam11YlpBWVh1Rzd0dm5HRVZxK05wLzhYZG9PcEpYcEFhTC80UURQOURxYkJ5cE5RQkNiSUFBQ0lQQjVBanpyaHhZa2RUcFZHQ1RKTVUvVC9DSDJNY2hNN054MEJMSDJQUVRhbnRHd3lIL3NaWnBvMm5ENFJQd0tBaUFBQWlEd2RnSm45dEd2MTNDbi91Mmx5T29QREpMWUxIZ3BKOTlDUWd2dWxWQ3QvU29PVEp2TXlvaDNLOHpGcUgra0s4Q1Y1cDVJdE85V1Z2d1JDSUFBQ0lCQWpJRDE1TEhmdm5UZktCSVRLMkpRWFEzRTRIaTkwTkovWlkyeFV5b0c2d1BQSTJqdngvOUtUQkFhQkVBQUJQSWxZTVk3VC9tV2NQZVNHU1RKVWZQUldISDNFbi8wRHg4MkxmZ2FEQVkrV2tiOCtSc0oyQm1EZzZFZVRSZEVIdjJOU3NDbFFRQUVRR0FOQVl4Mzl1Z1pKSS9lRDJhSEdSTk54b3FwOCtyY1Q1SHgwOXdYa0J4VXIxTnlTR1VJMk03QUFCQ3FVd2dGQi9qZ0p4QUFBUkQ0S0lHeHVYRWZMZHhuL254c0NOaE1say9HaXA4cDlhZitsVzYwdVpoUlF0d1k4Q2tsZlBaL3piMVdBM09PS1hlTVVQQ3pTc0svZ3dBSWdFQ2FBTVk3ZTJ4R2tTQUw1akNqSk9uZkFjbGxoOGozcmRxYmg1S1pjaHBGVHQ2VS8zMjRJREVJZ0FBSTVFWUEwd1Y3R2htYkxuZ3dRMks5RTc5eXg1a2ZLMmd5cFlNVHhyNlN6cGNJYlI4NG5iaDVpTjduZy9uSVgySUtFQk1FUUtCSUFzam85TlEyY2JvZ1dqY21SNE4vZE1lSVBEc096NmpzbWRLMzdMQ1BHSXhQbTdnMHIzTWlTdndXUUpBVEJFQUFCTEltZ09tQ1BmVk1uQzZJK1U5RWpzYlRlZkRQREJJaVBPNFowM2ZzTUMrZVNieDU1dnhxOEs2Ujd6QUVTQWtDSUxBN2dkc1dUL0FZblJ1M3UxaHIvbkFmSk1WT0Y5d0VqNjhmdm5HRTl0QWdJQzhqVHh2MlQ4MW82dzFnTXBKdVdsSFdNVEIxNGhXTCtlakdvaTFjMVRReFpoNjFUdXFaZjVicjRZQVEwd3lvK0ZUQXcrZVIwZFkyRDJtb0txR3pLWkxrUFBoaXB3dHVnOGVyQWhRRHlyQmcyVjJLTjREeEtKV3dzWktCbVNRUXUxbVlycHp0TzQxV1NsMkNZc2ZMQ0FneFJxRGlVd0VQbjBkT1d6UkZaNFAzNFpxSlBuV01kMjZLSkQ3MWlTeWcyUEI1R3p4ZUhUaFpHOVM4WUtFdkhua0RHSTlTQ1J0ckdSZ0Q2R2VHYVVKcHNpcDlITXhhcVQ4dXdCWUZBSVFZUlZEeHFZQ0h6eU9uTFE1SllpTXk4OHBZN0hoblRNeE5rU1NIdGFoUzhGSmUrTHdOSGhjOFpZUE00NlhOamFUckRkSzkvRjdyMjRQWnErVGIvYzlhQnZZUmcrSGp4dW1tL0l6dkxsOHI5WGI4UDNnbFFJakJCeFdmQ25qNFBMTGFvbmhrZFllNzdMRzluanAyUVZKdStMd0ZIcGM1M1I5cW54cFg5aTFJVzROeElaV3l2cElCTnhXOFdJTXdZdE1rZ3ZSa2l3elFVSWxYTzlFTXhGaFhCRUNJOFFNVm53cDQrRHh5MnFLWVpQVjltOGFEcjc1T0psdzJSSkp1d2FoTzhKS0p5SE9Lc1FVZTkvOW9Db2w5VkVqWkx4N1pHb3dMcVpUMXRRenNJd1k5ZVgvb2FUTGVqdHcyMWtxZG16eUx5Z01JTVd5ZzRsTUJENTlIVGxzOFhkczJ4VXZMVmV4NFoxemdEWkVrc3dYbWx0a1N3K2N0OERqZzdZMGp2TXNNRVNhcE9hZGx1TG9Dek4rOWVUWFhjR1EwUXhuSGlyU0NnVnphdUJKNkNVMjNYT2hwTW10ZFZIZTFkNnd0bGZwR2FqOWYzWGtrWWdpblk0bXpKSlpDb09lS2l2VzdHQkpLSWw2bkNZY2x6djdJN3VWVXV1SmVIdGN6K1lmejlTL3ZhdENWT0wyMkJZLzAxYmY5NWVkNHNuMVRTZHowUDg0VnVHeUhHUW00ZHRJYXhmcThWTU9GWk5rSVNkSngwVng0WHRiK2phUEgvVmEzTFhkNzR3Z0pZQ0tCaktlR0RWSmVDdVpHRmFqaDhmRmdhSlQvN05Ia1BUd2FBbG5Ld0Z6SFBtTFE3U1FSbldROUN2LytROXZMcENaemI3aXh1WnNtL2tMS1ZrTjRYUXRzOVpkQk9JajFNNFordFNkQWJwWFFWemtWRmljdnBOSVo4ajhkTGFGb2tKWnJZZEozWXRpMTVUeDJEczB1ZHZJeWMwOHQvYnZjckp3bGZyUEVLeDJQQVZXaTlORXk3NERFaklZV0dUNXZnS2ZEVHYzRURvS0prRjMvM3gyWi85cENNRFRGNGtrdW5udk12ZVpRb3VPUzhxUUxHYlRLTmYxSzU0WTJ1bUpuSWUxeGVhMHNrdnJ4YWtnd0RuRDBmU28zYXUwbEkvaVBtLzNjdzkrK0FoWkI0QWNxcEt4ZjNFR1hJVGJUMGd2ekRzdW90SFRGRnBvSGg0Q1hnRWQ3VEZFclMzbnNIWnJSeEpRcFMxSHN4d3JMUGZGMTZhbktwZ3NlRHBzaHFYRzY0Qlo0T3B0MGJoeWhuZVlkem01U3FEczAvN1ZsZGtPRDVQcmtQSFk5WVFRZ0Rxa1hJV2FNWWhtRFRpQ09pSGxwNDErS2hydHdvRHN1cjdVbFVwUGVKY25EM1VLT2I2aWxmNXBPT1YrdVp3cDVTUndwelJJSS9IejVwUFV6aGM0UXJIY29iSTcxSWlxVzdnOGJSOU0rV1BPSGUwcUZ4Y0pXRlB1OWtNZmVvWmtKYXRnQ2g1WjFrWk5sa3MwM3pkMWZseGlVM01YYWdESWJIRnlRclpDMERWb29IWGxBWGdvTmVsYmo2WERRcFp4UkQ0TWw3eHNGdXNMMzFwYUFvV2pZK0hvZUpRNTZEeElVRkJBTE9TU1dNSEJPdDg4a3NEWkFzV0VKL25hQjFIY1Q1b2o3L09INUVXMmJMNU1sTXA4ajZlak1yaTZBTUdUOTZnMjYzcEhwS2E1cnJHeFo5L3RlUU1VV1RqcEdkZ1lCN3lSY3dlREJxYmpRY0JHUHZVTXoweEkxNS9QcGRDTEhUSis2VUdodVYwK25hMWRqcmNySy9tYnZHelJCOHdReXd6clpEK1JNbDJvckpKMGZDLzdiRElhVzBNb0ZKZWZOMVhqYWExS3M0OGJMR3ZvVWVYZTFpTFFFekxVZEdLWjZHTDUvVDdOa1NUTnFPV2Ewc29TQlczd2VRK0pGaGFZMm9JakdicjdVWk9zcXR1ajRTS0dnbzJhK1hCbUN1NnFiRDRIdUZyTkpiNDV5L05sWDZpUzdQNkI3aUdSeE9IVS81cnUyZ0lvUlJub0p2dmxMUE94RUlMZnk4Z2xMZU93ZG1rbk1mZjh6YVlvL0IvS3BySjc1M0dyQkp1ZTJ5SFBQMXhwYVdPcCtXTWlOa0JneXlhOVN3K2UxZUZyNDdvMGp2TE4wVTVvUGhyeWNPekJvTnd3aERZeGFYRVdzekdmZ2lXV3pQeElqVU1CVVNPNTh0dFJQR3dXWmZxRWJDaDRPTXAvWXlaaDdpTExkbUEyaHMzNkpmbjNyRndhdStzMDRZV0d4b0NSNWw3U3ZuRURyZFFna0h1N205eCtMeUpyN0JqdmJTalFkdW1kb1J1a3Q1eGJodXdQWjY3TDVjbFd4eFltOTVSV3N1dW1Dck5OTmtKaklKdjFWclBXc3c5T0tUZTIrSHc0YlZNVTFncTFFczhGMGZrYnJVWHNsV1pIcGdxdVM5djcxZHRtYXpjQXZsY2hNaGtCN3FYdXV0MVg0UjJTNU5WZnExdVZ5MDBpTFh4RWtEckFwc3l6bGpSWnFMb1JCNnhjc0hnTk5EM1dSVUxRTStlMmNTMFVsa0g2Z0d3ckxidWs1ZEpIbE9iQ2IvSVNQbEdnMkR6cGgxOUNNSUx0TzE2bWNaSUVSZ1NyYXhSblJabkg3YTN4Wm9lT2RDVFZ1Z3VUK1RDelM0eTBtNVJGQnRBNVBlOEhlODFMTUtKRGZMcmFIRjdBeUZ3ejVGbHZ4cFBuM1I4bDB6THp6L0FVQW9DTE9aUkJJSlJ3b0RxQ1JzTk1LdHhSYzllMmJNNlgrYlFkRU5mY2J1RTlwOG4xamVMc0VHL3pCVEFpRDFxK0Juek1lU3VXVHRtYURjdTU3aVpsVXRIRGFyRnJuMEJaWVhFSnJHTGZXaXRvRENsaVp5MlB2MEl3WXU2RWdkZEpicUgrYkFiLzlQWTdYKytsOFhwNkZhMHUxNVFxbkpCWUhneHpsMDdLMC9jNlV5UlpJa2xvV1R6OXRVbnlOZUt6cGtyc0xmSjJ4SmI4QnNJZjczM1dBZVhaZUo1SURISnN1V0FjRFg2OThaNmtzZDM3MCtGS3ZFbHh6ajgxNUhxTWRJajZJM3R2VzNaUlVOUi9VRGtlS1REWFBUNGlaMFpJNDFpOHE5K2JHcVpQMGs0QThraHlpcW82S0NNUWdvM2ZRaTdsWUIzbTBFdzBjQ001cUhWYXllMmgyOTE5ejlIVG1xVnc3Zisxd1hyQ3EzWHpXY1RKS1dIRFZMVTdoZXRjc0xCVExRNHRmYVNjWEtsc21HeUJKUWpCNXdRa05YWlY0REJlU0xjaUd6SGp4U0NWZ3VwdEgxZmxiSjYrSVJxWUxWc0lnckNZbU9md2k2WDBjNFlHWmJjL3lHR2NybTA2VUMzTy9HZ3NteGM5VzgveGtuT2t0U2FkZ25TWHF5U3RPMHQ1T2JsVk5POTJVamQydDM1VlFZV0ZVbEZqWUsxanN5SGt6MkZtcWhNZmVvUmw1WXE4VDFqak4xTmxaOTQxdjV0YmxyZzhQZDNLT002L3d0c081Q2krN1EwYmJNQ2QwbmxmR2ZKbXNScEoyV2d5YmxnbWthc1JqeGI3M3UvaG1mREFNRWUwWnpuY2RZQ2dIWm1WUzBlMldma2RTaGU0QmRUQndKWkoxcVhoU1FTYllRZS9zRCs2WTRURW9BalNkWjQyQ3ZNYUhSTkFSd2pCQ2JHWExWL01TREU1c1NSenJqL1I2eEFKczBHTWxKeTVwbzZpRGlvaXFBeVN4QjJ1S1paZ2dzWnRvWVBsNDMzWHcyRDAwdTlwdW1zSWtLKzJTTmd1REpFOHQ3WVowQTlOUlFudmMzaXZpeDVhOCtVaTkxa0FOSFpja1V5WnJrU1E5dVJrRjY4MExUcENxRFk4Umt4cEJMdy9BdTAwWTRJMFZKYWpRN3ZMQk9HTThFdmY1Z211L1BtbEdBcVo4QmozOWlrZ2NDZmcwZXNmbHQyTzZ4L2pYcHJjaTAwUkpNSTJOMG1FUEhaS3A1clVPVDJwSkhPdVh3TS9UdHpySjBFTlF2alRjNVp0QitWUllIazJ3eE5LQ3hrVnEzOEUrb3RKSDRHMlZ6MlAzME96aWQ4d293R21Ka2w2R3phODljc3FLNkdiWXZVKzV6UGJIYVA4MDFoTVovcStWMHdYNTRya3lXWWtrT2VadUlwNUJUKzlBcncyUEVhMTM0d2p0VitKdE8rbEFpSzJXRCtiM2J2Mk9ldit1QThyeWprMFg1R1BLWjhCUytJdHhLVlA3U3Y3Skg5MmE3REZ1ZDZ0cUdSSDNvaUNXUUdlUmhGa3hUN1pjTlc4cThZU1dwTE4rNVdhUmlKanFKTU9aUjFSTndsMGVsR3pydzNRcUxJOU9rNGlHQ1E0cTZpc093NkFybFc4bG53N05HbWZNazR6U00xTGY5dVp1aVNxblhlL25kOVp5KzYvYnJPUERnelhCMXp4R3pjc1hXWHAwRTR6U1A4dmJtczZrS0NTZWpPNkdPdnJKVmpVZHoyRW1uLy81bjlBSVptMHZ0QmhGUVNmYk9LaGpveEdSUDNXMyt6VmNxd21NSklLQ1JFQms0Q3hFb0UzTUpIOHkwelkrNUU1WVFKVjdvMG5WTThYZXUwcElXOTBmVTlWZ1lMQzMrRDdyMzEvMUVlc1hKeGxPRjZUdVVWQkh3Z3BSQlJYdEJFYjhJMG1yTGxLeVU5MzlSeUdGYnJzS0hwMDRCN3JWcXVzajdoR2FFZSt1R3BLZEpqTThiaUduclV2N09lbFFPNFhhQkZ2N2ZYV2lUeWluYWIwNy9mVFB1WXgxRVNjektRcEplaUtBVVdXZlZIelBaRHltTzdtZnBkaC9tbVV4S2lTUGZ6YjlSYTg0NHU4dHBwckFpT0FCeDVIcGdvSmhNb015Nm83SUpIS1BOZnJXQ0VhK1B5VjJvTXBrS2FXdDdyWDZHaUgyUTBUM01wTTEvekczNERTaWJzRWo2Mkw5ZmhZMHNvdE9QSTVOSEtpQ2locHRMeEFXY05yZ2NwTktMclRmbXc3aFZzSERFV3IzMEl6bWNIUmRiVkxNT0hLbnRNT3JQUDR4RkRoMVowdGwrTWpIbk15ZzJKb2JPbmNDMkxYN1dDdzltY2xIYU1pZmJvbGs1blJCZWU1MTVpWXpCNCthaGNtTkpqUnFUV2Y0ZTdMZDJQZVpKUDd0amJ1bmd0R1F3Tzl6VHBrdU9OMDQzaWpreUtXbk1yREtWcm5IR24xNzlNajNTTm5lOS9ORXFlUFRCVTBQdTJ1RUlsSVdZUDNqUTVncVY4VDZsVUJ2Y3RaOU9EN1dsd1JrN2l4SHFaZ0tFTzlPYU92Qnc4ZmQrL3NpMW1GM1ZXUWxJdEx1b1JsNUNNdFNCdHduMXV2Mm5JRVZkajV4SlljbkhXZDJhZi83UC8vWnhMTmRaMFcrYkd1MERIZ3RNdDVRdEdDYkx6Q0pTUjFJWms0WGxFQm1FcDdEWEQ3LyszK01mdlV5ejJKRStlVHE3OWZJWXNveXpRVDU0RXJBeUNCWmtBaVlNbDF3dW5ITXRZM1B1Qk0yRGpOQ05qYWFFRGlSeE9aY3NmZXVFdUxrZTlNRlRRL2I3eHNFRXI3UCtuZFhmY1Q2bFVDdjRSM055OVJBeFRRUWNlMXJMRWh1ajFZbXVNa2FlTGlHVC9LMG01dzk3MWxJKyt2c2xTZ3E2cVowWFF2dW9NeStiUElFNmU0TUJFN0pFOS8vZzdyZzV3VDdjc3ZDQUdrWlVNbHpySWVmTDVOVlNGeEszdnJNNllLMTRSRVc1OFQ5SVRvOE9KWklWcHcxZ1pGS0ZNUzEwa0tPK0o2YUdOaEtvbkpQYWVqc0dmbDh6L1VZaWVtQ3hrVU15Wld2NWswd1A2TWxpVmkvNUJoNmMwVnVZMU9KcTZDaVNhQ2U4R29OYlN6WXZiOXZ3RXlxNE9ISXQzdG9Sald4YzhzY3BEdUZXYms2ZmZoKzVSL05QbDBHSzlyYkdxZWVMclpHYndzY09INHdhY2puWmN0a0ZaS3VOeEd5RWM4M0dENTdaMVNHUjJTalNoWHZjNWcwYzI5c3lDTmlOaW9DRXhrazQxblN0S1JublFxRmloaTBLdDV5dW1CNzBYMVdabnVNcU9JUFprN0RvTzZ6MWZ4aEV3amlKSHY1MHNmd2V6WXlia3RtVURHVFJSUGExd0hrSXdYY1E0MnVOZmVLckVSRTJqczBZMTEwcVR1MmJFdDIvZmYwNGZ2MS96WHJDdHdUYlNZMXdkNWx4ZFplUXpWMDlNNnY2Vk9ldkg5Ky84WTZKRjF2SWlpcGR1eWN6SFB3ZTdpWnE4a3N4TVBpVVExTDRPR0wwakpwZkxBaU1DSjJrQWpZZHJwZ2FGVnYzbDVoSEp0T0YzeXptTUhsNTBzdGNWT2dlQm4rRzYwRnVWcS9QQTVuWGtzaWlXQWZndVlZZW03ZzdqVE1BWHZkcklHS2FTQ2lUNVN4YnlRNVVpM3BZcFFvQ3RsWkF3OUh1dDFETTQ1dnV2L24rdDF0clYzaktwNW9CdGRlZXRYNUxPVjVZS0EzZFhHMk5Wb0dnc2p4dDdid0JUSmtzaEpKc3FhK2I3cGdTa2x2MmI4VUR4Zm1tcnhKVk5yR2llWlFrZDJ3S0dHSEtwRXk4cFZaRVFNcjJLYlRCZTFGZC9sZVVDVmtPTENYQVRJOTdIanEzSWlTcWVZbEZKelprckFvd1VRaUpSQUNvRkJnUkpFMVVOR0tud3IxVEY3d0ZBQkxjS21CaHlQYTdxRVpqVkU0QTN4Y1d4Y0VTWTRBem1xdXcvZmNNK3Q1SktmY3lWVzJOVnJTZ0tpVEU1OEQyMTR5VXlacmtiVHloU3ZjWXRDU2pCV0Q0MnZEUStLUlNLbk9nMmtGL2NkTEJFVE1aa1ZnTkJNUU1OR3dPQzY3M1ZzUkF5dVNEcWFsNWhDMFIyVzRzc0JqY0o3ajllcGxnSFRDMk9BWVlLYWFsMmREem14Sll0WXZUdEpQRlpMRy84WWFxU3FvbUdSQndzTFZaSnBKSThUNk1NS3BMVTNpRDkreGUwRlZrV0xzSFpweHY5UkpVM0ZsSFlsbXB0T1NwaTRkT0UyLzBMWkhzdlgxNW1aTStRdVR6aDd3V3NHTHBTTVh6WlBKWWlUaWpyemVSQ0N6VG9jYUNKLzk0eXZEdzhLZDNiNldMNjFKQ2sxcFRTb0NvOTQvOEF2eGxKR1BxeUlHcldBYUNQWGlnUGIzWEZlV2VJeDQ3bGViKzJSL1NRRGtxWGw1UTlyY2xpUm0vZUlrZXhlNkR6TXgwd1dEZXBTQnZjd3pEZTBFcHRwVVl4elRZcEtLcklUVnVIdG94c09lVGlqTnNhQ3pHYkdzeTkvMTFMeWEwekVSTXY0YzcrZlgrY29YNFd1bmxCeTU4azY3T0tLYjB2cjJpNlBWT0J6ZGNvNmp5S2pYNitXZmMyZXlHb25UbTNCdzBPcDQrRncxSGhLT2pDWlJVOXFYMERsNWVaOWVuWGJEM2VSdzJEeVJNcXJkT1BTbFdRdTdwcjZ0N0x1MXlHUEVjNy9xVlNQdFJPN1dMODV0ZGtzU3NYNDEvbkM2SU8yTjZiUTJLaExBSmJ2TEpoWk10aS81dDYzTHJJUTF2M2RvSm0xMVozS0NQaHJPbUdOdW5NNXVUaFR1VVVBVmFlUGs5OU9WeEtCdUR2djhLZU5mM2YvdnNIYWhUbGpFOFV6NVp6UGVHWXh1T1djU2xVZzNMWHNtNjVFa3V3K2o0VE9GaTR3MVo1TlpnVWR1SEVsWEFSTXBKN0pDdFlLUlZGaVFCWW1uakdvM2pyWTNFTVlCamsvSmNuVlpsUkRGOTRJbjJkdS9meXA3Nno4c2c4QXRmSkNMME1HVnNEWDlpdzFlMVVkRlc0akFIWFJHejdRRzJ1djZlTFNpN3g2YUJVUFpFZ3NtOVhLNDhPRlhNZG9mYnNGN0xveURmSG5TRXYxOEZ4TlBCMDZ0MFB1dWNPYzBySFlUUzBCbjhoSUo5L1FDWk5ZOVQ2ZVovTHlackVlU0JEZ2FQc3N6ZHFyRkl6ZU9KTzJGMzZza1N4UmYvblZwb2QzSWlGalE0WXluakdvM2prT3Awd1VYYVY1elBJSGl6Y2hCcjNlZXYvV0w3dWEzSkdMOWZwNUxPMExoclNQbnlBQmRoVlIwbmt5eXZ5eitNZmxyaFR6YXRtRHYwQ3pNQTByamxCeXlZcHR0MmhRUTY4R1A5QzdjNTdHN1RpL3A4S1Vid2xib1hWZFl3dEFkVFN5QXllTDAzSlk5bldOZks3M2RkeWlBeVhva1NZdlJwOFlOaE05MTQ1RWJSM29kcHRZMjdKUFZZcjJMaXNGUU5lbDFJNk1wbzRvWldCdlFwRmdpTVd3UHl1NTdtY2VJNTM2MUZ4REVWQVZvWGpweUMxb1NzWDcvUEEySEFpMy9odE1vYUl5aHh2WlZRbzcwOEtIZzhrUG5GbFNWUEt4MHU0ZG1ITSs1V1RMdHV0bmlCTitjelQwNXNSMzdNYmN6YytFZGJhaW9PazRHVHNHMWQ5dWtSTlhTTW8yTWQvS1FRVytHUndsTTFpTkoxRlg3ZUtnMDhjcng4RERTb0xXUnhmQVN0SVJVR1dvR0l5TDduYVpveXFobUJzYmZxZHl4MFlUZEhPS1NQMXJtTVdTbVhPZ2h0WmtJSEVnSm11Zkh5UXpXN1FSWWlmNzkvcUVHeWNIeC9YY1JWMHBGRXFXUjhUVGxJYzRpTUE5RHFsSWVScnJkUXpQV2c5c3BWZC9VeG5PZWVYTGhHaWNVbFB0Y1hCMnlsVHRhazZxZnpPNTZsOTV2ZzNON2ZqTTAvYitwOHZPU09QMkhXZmFHMXd0Z3NnR1N1TUVRV1hPamJOSUtLc2ZEejV4SW1JdWFuVFFNVGdlcU5jYWF3WWp6OTAxR3UxbEJTRnd6QTZOb2pRS1dEbFMwMXJMenlrS1BJWHIzc2dkVWJwaytGNDRyRktCNUdkc2VyTnNKcFlqQWZsNVFtdjBnU0w1NTdiSmNxMUlxa2hoT1JOV1MrVXZkZEZBcEQyTTNlNGRtMGxSNzhZdEVPOUdtVzQ1MTA0QTYyNm5idzdHZnExSTVZVWx0U1ZTaVRYWlRQQmM2bnNuWEZUYXA4YzVicElYajJXTDVNM2tiRWdJci9ZRjBQRlE3SHE0Q2crWWxEVU52d0xSeXV4R2hQY2NnS2ZVUVZlM0d3WWFoQTZTUnZQQ2cxWHo2eDJVZVF6T0F3Unh6Q1lhYnJoRVIwVXJRUEtjRkY3VWtvbkt2aFRYSllUZk53akd5bnpzc3d5Y3NvYUoyRWJWcGJWUWpLUlkrdW1vcjBTektucUVaUjlaKzRrTDJ1SmxDcXlPWkxPZDNaK1ErNGRaaUpmUnplL2JTMS9jTjNGN3NZOTljN2RvU3p5eUYzdTNsaGJ2dEZTN2F0UXZCbGNEa1hVaUVqYVlDWXZQaCtPZmE4Y2lraXRaR1lpdnN6Mmh4c3VseVZOMWdwSzU0cm9UYVZWcmNNWWI2alVNVWJlcEh6RFR5M2JmUVk0aFJCd0dVZEFMQ1VMQUU2NWVIQVMxcVNhUVpjWE1tK29iNllLSkkvLzI3OVZLUjJ1K1BFNmp4ay84OGlyT3dRZmZWSVY0dkR4Ris3OUJNb3hzdlhGT3Y3SVoweGlkeDJjSlFoeDI0RFYybGMyTjFKdWVFY2J1NTBFZS95THBDSVNhWHg3VGJYcGZPblB3d1BqMW8wNHRnc2dFU2F3TTlsTWI5SjVEWGprZVRQajBvN2c2cDhWMGxNajlWRGthNmxXN2dweDBwZjZTMGNnYXFhU0VSaEVldWVlUzV2dEJqR1AvcERoTExqSzh3SzFxRTV2bXhvUW0zTnFZMHFmTk9KcFNNUUR5RjIzalF2cUFOcnBpS2RBaGNmMkFxeDRsdlZCVzVUZWpzdm9pbFloNHMvdTZobVFSK1h2eG0raWo5ZUVkYWRhOHZUd1htV05EcVVQeTVOL0REOFZFeVNsQjE3LzVKOWJBdjI2UlNYS2p5eXhKQytQblQrSmwvRE9wdkVVdzJRT0wxY2gyYS8weUk3THAvNStlcThWeHMvK0R1OWJVYzhlbmhlV2FJMkw4Rnk3eFBJUGU2dE54dTVDV3VUcTdZMWl5djlsUnRITVlLZmlRczhHZVJlQWFTNThaQ3pZc3pPQjJka1ZVSkJSdFA3U1J4RVpxbnR3a3RiVW1rbWU5YUlZcUVqbncxZHk0K3pUMTNNbUJpQlRWVGtZa0NucitqdXc2cDZ5RFJnN1N1R2pvM3poaG16VHhJNFh1SFpqcFE3eHVkeHFQOXhsMHFjdENxeWZrbWxKUXczWnNiSmIvNkYvKzRhK05TeHBMUlF3VzcvQjJmVjM1NHRsbWE2L041MU9WNVBSbHZycjhGMklwZ3NnVEp6OE5IUWoyQzYvVjU3SlJOeUo3UHU0MEVDYzdwVHI4L2ZQdXBGcy9obDErOTB5Mm5aK0RuNkRaaEl1VHlvV2R0azFXWlZyRmVNS2FlZWJkWjBUTkxHNlhsMXNLNkdYRDl1TG8yY283VUR4ZEhUdXRMUEFhVlgxc2JEbnRzSFBUTGF1OTFsWXJRdktTcjVyWWtWb2tTeHRpVXdzK0pnMk9CWTlNcUIrcER1MGxDUHE5dUtoSU11amgvS1JZNjZZNHVqcmkyaWFmYWVaakswaldvYkFKdkRjMTBCSS8veGxta0NXdXQwdjRneXZJemlPYVorZVpRdVpaM211eHhVdUgyVXAvOFpqSG0vcjhkMnVqYTl1U2FyZC9tTDRwZ3NnUkpsd2oxVWRnZXZocVcveHR2K1h5cXhTUDVjay82M21pU05BZmVJYnhSVWwxYVlqZHQxWk01NFZkMkRqOUhldXFPeElaV2VqMm9YdU1nK2RTcjk5VHZaRDFhVWhtdUxOUzhPb1hmQXluN3hJN2lKbzdWYis1WTJpSTBmMWdJUWRVcGlYQjVhOWVGcEpYSHRFbU4wT2lIWDZYaGU4cjZxZnh5M2tCZlluSFFnVFlUQ1JyUno1Y0RCYzNPVTB3cXR4S3RMR290N2FjNERDL0c0cC9ZRXAxY3V4NHRPK2MwSitLU1FxdVRxUXR1aUM0WGw5WS9QRlFhTk5QSmt3TzhpczFWdmRjR2Fray85a25DOVZpT0ZlYnBwTGRFRzhrUDk5bUxmTlVpbUN4Q3dxcHRtdlA1Zk9LRnZodUcxUFlWMkJMOTMrV0FZRFNvV2p6OG5BeW1JMmlFak0yRXRMYkdkYjBqeFB3WW9Lay85WUpwNVpjWEdKbDg0TVAwZ2ozM1VqVURtU2JZMWgrcFBxeCthdkJLV0paNERKSkwrOVMwSW0rc2treHdFNHdVaVBSRmFKNXZBSi9ka25US0ZRVHNBVWpyeGpkYzZJc0x2NU1BQUFVbFNVUkJWSXBzQXd4R1l1WHVhRjZybm9yMmpza1RNb1htYWRNS0xMc0VSc1RGYlY4cjU3Ri9hSFpzenA0RFp2Q1h1MDNPOHBaZFdFRzlXVitpRDNPQi9nR3MxTnltQzFLSHJCZm1XaEczL3k2Q3liNUlYTWpBNDlKdzFyOEN6TStSeDhqUDl6OEtnTFFYN0xwL1RhMTZvd29aK3BQUDFSM0hXblpmWFNpMU5QTGFYZnhIcW0vTzE5N01DUkdsQ092blcwZFd0U1NYeDVYRG5yT2RGMEtpWC80OWFWZHpmc1l1L0FWVWZwODg0K3A4dWo2OGVzOWtqcWVtT1htWnB0cDU1QnVhNlZ5UDBPczQrdEFiNHR3RHVtRitkKzgzcllQSm9MYUJKNEhuKzhCSXA5SWJRL2crQmdsanFHYTNOaUc5MUVOUFBtaStoNFIyZ0lwUEJUd3NqOTFETTBsWnRrT0FwaGp1VG5kZGY1YStmaGpnV3dHKzRodE1CdFVNUEFrODN3ZEdPcFhlYlBudlk1QXdobXAyUjNLL1VkbWcrUmdXVVBHcGdJZmwwU2RCdjdnNzNYVTlhVjFvSm1lSGs1NWtnb1BwNk1rQm5qZm5YNzJ1dmkzODEzeUR5YUNxZ1NlQjUrdkF5RVJuLzNsTVg4Y2dZUXYxN0c2bkM0NklCTTNIQUlHS1R3VThMQThoc1dkb0p0N2FDL1hNWGQwMjJwTVNlUVA2UEFkV3B3c2VnMGV0V0NscS93YVRRUTBEVHdKUDVXQXVOMjlpSUVHUUlXSi9KbjdsREJLYXIzbTNUQmYwbFJ3VkY1cVBZUUVWbndwNFdCNjdoMll5UE8rRmVzRWpRYVZFN2x4Z2VSNlNudEhNZm95TGxiUHNiekFaMUIvd0pQRFVEWWJIQzl3YkF1MWNLRDlBckp0QlF2RTE3NTQ2WFZBZmtZR1dKTEFGMUFjZkNIaFlIdnVIWmp5ako1ajN5N3ZhZnA2VXlMMy9TUUozOGUrMzdsa2p0dnpmOFEwbWczb0duZ1NlcXNIb1VLRTNwaUc3V2sraVVLcG1rTkI3MWJ1bFBaaHk2eTAwSDdNRFVQR3BnRWZMWS9mUWpJZHhQQWN1ajR0eUJuKzVSRzV2VG9ZRXBMeVBNSWhzcGFoOUJVd0dOUXc4Q1R3Vmc1SCt2UE1rU2lJZ2J0MTVpcXhDcVpoQlF1dDE3NTQ2WFZCZmJJcVdKTFFHMUFlZkNIaFlIcnVIWm53emloUDVIZmo1U3U1andQblptMjdNNXp3bDR1UzhlZFNXL3p1K3dXUlF6OENUd0ZNeEdBMEp1dkVFSWlCdmQzUWJmNkZTTVlPRTF1dmU3VHhkY0VSUWFENEdDRlI4S3VCaGVld2ZtbkZ3NTR3QmM4ci83RDR4aHVlRGRPTTg2dklsZUx4bDk4QnBDL0h0MzJBeWlCaDRFbmdxQm1OZTYrMkVmdHlwRElZY0dFdkZEQkphcjNvM3EvUFZlOGx1VkdSb1BvWUZWSHdxNE5IeTJEMDB1OUI5d2QxQURrZmxYZVFucFdLZmJvSkZmdDAyUjZ0eWsvSGQ3bTNML2owcllES29hK0JKNEtrWEREOWR3QXY5WklRNDlucWllaGtrbEY3MWJwMHU2SFFCQnFTRjVtTndRTVduQWg2V3gvNmgyWVZmc3FxVitVRUoveWE0cTFqZU55a3ZuTDJRbHNpNWMycVFZc05qR0ROYUNiN2lteUNBU1ZyVHdKTmdVeTBZOWdydWV5OS9lT3d3RmdyQ255Uk1vOHpkclBmWDFNbEMxVnIvS3QyQmlvOFBQQ3lQRDRSbS9QYm81bjdscm4wVDNGTXNwZUpJL1h6bGtGSHlnNUk3cEF4aEdTOWN0MXczL2dhVFFhREFrOEJUSzVoLy92UG5memtVREo1YjJoS3BsVUVyNFBlc3lMc1BKc2VDTWhrZExVbG9IcWdQUGhId2FIbnNINXBkL3U0VUNKN3Z6dnUwMjlMd3l1VnhhaWdhdENNQnYxZmFTamw2NzhTS044QmtVTG5BazhCVEs1alQ2OTUxRHNXRk9iT1FBeGExTWdqRXJIdno4bmh5ZmtDVzV2NThIbTN6TUNRMk5CK2pBeW8rRmZCb2VTQTBhMUZnQlFSQW9BUUNQTG5sSVRlZDNUZ1NmRDI3eUxDRTRxT01jd253OEpDL3pMMENqZ2NCRUFBQkVBQUJFS2lKd0lXRGcrWXN6eGhwRUFuV3BOcW9MSFRYU05PY3o2ZlQ2WHh1MHJORG8rZGlKd2lBQUFpQUFBaUFRSTBFZmg1M2lnbG9xa2w2ZExoR3NTRVRDSUFBQ0dSRzRQOEJvS09JUEIxbGQxZ0FBQUFBU1VWT1JLNUNZSUk9Igp9Cg=="/>
    </extobj>
    <extobj name="334E55B0-647D-440b-865C-3EC943EB4CBC-116">
      <extobjdata type="334E55B0-647D-440b-865C-3EC943EB4CBC" data="ewoJIkltZ1NldHRpbmdKc29uIiA6ICJ7XCJkcGlcIjpcIjYwMFwiLFwiZm9ybWF0XCI6XCJQTkdcIixcInRyYW5zcGFyZW50XCI6dHJ1ZSxcImF1dG9cIjpmYWxzZX0iLAoJIkxhdGV4IiA6ICJYRnNnWEd4dUtGeHZkbVZ5YkdsdVpYdDNZV2RsZlY5N1pHOTBmU2s5WEdSbGJIUmhYM3R2ZEgwclhHUmxiSFJoWDN0a2RIMHJYR0psZEdGY2JHNG9YSEJwWDN0a2IzUjlLU3RjWlhCemFXeHZibDk3Wkc5MGZTQmNYUT09IiwKCSJMYXRleEltZ0Jhc2U2NCIgOiAiaVZCT1J3MEtHZ29BQUFBTlNVaEVVZ0FBQmRvQUFBQlVCQU1BQUFCbjNwZ0NBQUFBTUZCTVZFWC8vLzhBQUFBQUFBQUFBQUFBQUFBQUFBQUFBQUFBQUFBQUFBQUFBQUFBQUFBQUFBQUFBQUFBQUFBQUFBQUFBQUF2M2FCN0FBQUFEM1JTVGxNQUlqSkVWSGFKbWF2TjNlOFF1MlkrZ1ptTEFBQUFDWEJJV1hNQUFBN0VBQUFPeEFHVkt3NGJBQUFnQUVsRVFWUjRBZTFkZTR4a1dWbS8vWnJ1NmFsK3hNUWxzQ0ZkQ1ZGSkVMb05pU0FJMWY0aGJrRFNiVXlJQnBKcW54Q0lxVUZEUm9pa0dzR1lCVWszd1NpN0M2bEdJKzdPZ0RVOGRYZFpxc1NzN3U3TWJJMm93TzRpMVpvWWpZL1VnQ3M3MDdXeng5OTVuM01mNTV6NzZPNlpaZThmZGM4OTk1enZPOS8zL2M1M3Z2UGRXMVZSbE90NC9WcXU1a2ZSZU9JclI4SGwrNVpIcFJhL3VXdzFPMTYrOGN6ZXZYempqZWxaTTZLS0xYNVQyV3JudXplZ0dSKzUxcjhCUi9Vc0dWTEZGcitaYkxWQWJyeEFKb29tZXArdUVscTFYemhISHZqVmVwVWtFN1NPZ2tlQ2FaR0txaTFlc2ExeWl6VHhvcDkrNiszbnRvUDZkWjRKYW5iVWpWWVAraFd5YkJGMmZMdEttdkhoSFFVUHpyTjIyemx5OEFHTC83RmF2RnBiV1hLRlhEU1liYmREbXM2UnJaQm1SOTVtbXV4V3gvTWsrY3dUVENXZnJZNW1uTkpSOE9BOGEyMHlQa2VJdFpFL1ZvdFhhcXU0WHYzWE9XUnZYZmVUTzVZV3JhdlZzZDM1U0JTOW1NTDlFTmV4bytEQk5USWl2eHhGVTBPeWJTam9lQzFlcGEwTW9RS0x0NXpwd0xTbU5ySTZUcEduczI0ZGMvMDgyYXhxQkpNSGxOS3JvSkwvcllwa2dzNVI4T0JNTDQzZlFndlQ1Sm94aU9PMWVJVzJNbVFLTDlaMnd0QitnZXlIRXozU2xoT2tzbHpSSEhmcC8wV3FqSTVpeWpnS0hvemxSUGZqblBVR09XMk80VGd0WHFHdFRKSEN5NE13dEhkTUJ4Rk8vU2hhTnBsSHJvTFRLVDV2YW0vL3l5cW9wZE00Q2g2TTg2MHl3bHVJdVlQanRIaDF0a3JYcnEvMlZCRGFGOGwzZklTTzdmNnB5dmJQUzRjWHdDanRIQVVQeXF6V2t4NTltdGhicnVPMGVIVzJVZ3JOVlpnUFF2dkFYZzF6Y1Rqc3hvc3gzMVdjMytCN3hmdUc5andLSG5Rc0N3cmlOVUw2NXVpTzArTFYyY3FVS0x4OE1nanRPN2JDd3NrZlJjdHVWVkhXMHZqd2gzc1VQS2dVelQwbEN5SHJxb3pDc1ZxOE1sdVpFb1dYZzJTZkpFOXhpa3ZJVnh6ZUVUNXFxK1dHYlUzclhxNkw4aW1EZjEvMk1TelBJMXA4cDQ5SkZFMFNQUkppaDNyNUxPNW5sYXVGMzFZaDB1VmlhVFlPa24xQjVoOXZTTFRQay9PbVJNWExDK1RMeFR2VG5wUGtzbzlBYVI1UnRLcUNsR3htOC8rbjdpR1MyVllYS09TenVObXpnckxmVmlIU0ZSNUlrT3lyTW15L0lkRStRN1JwQyt1QmRqeEJTZ2J1MDJUUE40RFNQS0pvSXlBSjFkeFZBNWtnMG5xOEtwL0ZGWmxxQ241YmhVaFhlQ3hCc2c5Sm5UTzRJZEZlSXhYRjI4Q0ZYditMYUhUUnY4cVU1aEZGSTcrNHRaNHdHS1NZTGhMSktJc1hVWU9qajk5V0FkSTU2SHR1aGFDOVJnSzhpWWZQWWQ3ZXFTcHc3L3A5czFPT0FMUkhaWGtFb2YyRUVlek1GdGlsSHA3RnZiWTZkclRQbEYzaG5SQXBmN05SMWJQUFZrbEJROUJlbGtjUTJnZkc4MldzeDVhS1EvemI0Vm5jYTZ0alIvdjhEZnhzaVJweXFhcnhEVWk1bC9oRDBGNldSeERhVzhadWVVVGtVMVVPK2hDMEg1N0Z2Ylk2ZHJTdlZ1VTdMUjlUM2NWQ1NaZXNSb0pGdjFSV0pnVHRaWGtFb2IyM3BtU0tPakZmRUlMMnc3TzQxMWJIanZhMm5iRFZpcnhCU290VjdTdXdoU3oxcENvRTdXVjVoS0I5eXRqSFRzVlNNa0VaeU1PenVOZFd4NDcya3V2N29jOEpBS2hlRFpPZE9EVHlrUTFCZTFTU1J3amE1NHhNNm9XNEt3ang3WWRuY2ErdGpodnQ4QTc1akg3a3JidFZ2ZU8rUXNpVEpVWWZoUGFTUEVMUXZtUzh3emVNQlRJaHZ2MHdMZTZ6MVhHai9VUzU1YjBFZWtLNzd2aWZZWWFSV2lCazNBOXJtdFlxQ08wbGVZU2dmV05Qalc0bTRhWURmUHRoV3R4bnE2TkIrdys4OWszdnZmTUwwTkwwZTNyM2ZiMnUxRVVmTlJzTEkrb1hueGovcm5HYkYxOTZiOTJzdSszY3RmZWIxNko4eTEzamYwcFUvK0R0dmZ0K0sxR2JwMkpFcnVScG50MFdUMkxLN01pRDBGNlNSd2phMjZlVmlFM3lPVlhtQllYMmNJdkhLSlM2OU5ucVNOQk9iY0NXOFprZXVaK1FnM1V0MHBLOXVrOTJ4ajM5TEZwODFSRGRqZFd6OW1ZeTdwSnZSZEhmOURVWmxGNURRQnN6YXFxdXEydHZCemRDL2xUWDVDK3RWdlRTNzZNZDZLREVhd2doYUMvTEl3VHRYYVJrcGg4bjQzdCs1U0Z5YlRtbVQ0bjJjSXRIMFMxM1VYUVlSM0Z6K1d3Vmd2YXB0OTFKeUwweHVVSXU0N0pQZEw1VWo2YTdabzYyWVdPcDhkVHlvbnduTXNKQ3VVL1pJSXRzWkhXYjVLbmw2RlVIL1ZuN0M1N1BwNVBvYjhuK1JFOC82c01YNDYvL1N6VFI1R1JDUnB6U1pxbWFyMDMvSFNGRFdMU2Z3aUdzS2dEdHBYa0VvTDFHUmVpUSszc1VucHZ4b2VlM2VQUVFKV1FkUnRJblR0OXo3Yk5WQU5yZnlJY0NJZk1lVXZhSnQ5NE9HazlHdHo1RmlhQldMNFl0SzA2WXBJL3BWUkprU2FoekE1MFY2MHZrb0k2TDRlNklhRmdqQXVJdmJLdytpVy9QMFB2c2FKRnJkUlJxWGVQcEg3K1Q0M1BlbkdvNSt0bE5NWFBmTWdjNXR1M3FIRmQrdEpmbkVZRDJhYVJSSjhqN0x2NzFmNmF0VkxrdGpwK29nbFppUnc2dDJFMTl0dktqL2ZVWXlpZk9uUGw1bTI3UWxaUWRqWjhQdE5kNjY3UWIzaExWNkJ0YWI0OWNvRW1McnR3V3JncmdVclQzYVU4Y1V6MGUrODQvMDdYUVB1U2VmbXFNeG5YV01vb2VsczVuRlJZcWZNeFY4VjdZUkpmOEFVQmloV1E1UitSRmV3VThBdEErUy9kWlBVaEM0OG4xdUF5NUxSNDFLQ243c0hkeWNSYXVhNSt0dkdqSGIwSThWWGR4Y053elpKOEUyaytLcjJidUdGbmFub1EySTdORG5YNVB2dXpYRkM3OUVTaWpMdGcwUkE0SGVTd3pDRVl1WXAyMUdLSmVOTVhFRUJtL3VUS3ZIK0w1cENCWTR2UnE4Z3g2dDBsc1Q1NkhvaGZ0RmZBSVFQczhOZUwwYi8vek45OVZ2OENFc21USWJYSGdndHgzengzZGEzZmdJUGZTejQrdFd5VHpYUGhzNVVQN0NSaW9uNGVoMmRhUUhmSEpreHNpekdzWUw3K2FVUTIrc0FCV2NQMVBjeUpEZ1d5NjJOVjVGWlFqZnB1eGEvMHd5MUFxSHJTbEkwZHhuZmVha1FWK21lOFQ4Y0Z5b2tmdFJTL1BPcEtOV1p5MUJob3JjSWdKVXFFVlByUWpsaXZOSXdEdEEyRWNEQnRyVlZ6WXZCYVBMdENkRmRqdVVqVjA5dWxuaVNQVlZnWTlEOXBySFRLbU9peDIyTEkvYzUrZ01wQVJCbFBZcHFhOVFOY3dlTzBydkFxckNpK3Nxa2dHSlRHY3BtcUdObkR0bDNuVGVlVStNVEhra2poZEJ1MUlMd2lXbkFQN3ZFQXlqN1MweXdhZmpCaG1DaTJEckt2b1Ezc1ZQQUxRdnJHckI5bE1aRlR6V2p6cUhERGxEcmNvVmVuVE5JZWNwVlJiR1RROGFFY1E4Vm1qZGM2aUtYdVBISWk0QXE4VnFtMHFvTDJ2aWE3U1JDTldvL09zQ25BVlBiREFpRVk2bndQY2E3MEQrc3U4QlhxTGVPbFczV0NtT01ib04rVE1JWXB4TkRMQmJ1MG1SR3RJdVUyTElLVWtGN2ZDVHg2MFY4SWpBTzN0TFQza1UzSkZWVlY1TFQ0anZCUXowS1Mwc2lLWHQ1QnFLNE9JQiswZEZVTVlmWUtMdHV4cVA0cTB5V1ZCUXl5LzRxcE5xekVYdHRrMWxpV3hhcW92cFFETFh4WnRCendKdzY0Z3BQU29hSEdGdCtqcG9TK1VVU1BXNnkzQlU1L21RRDNqU01rV3I4aU5DbnJ0YWlMNVNoNjBaL09ZL0xlM1BYYTJIc2pNZ3dma0VOWTBwVmtWTmNxNnZCWmZ1YzU2VGpFRExhYUZlUzk3MDRmdi9CTkozbmRPdFpYUnlTMGRsbDY2dTBvZVlScU15YjRsNkNEYWtEYUgxNjVyNml6ZzJKRGhOcGp2aVh0RHJoUzZnZDhTVlNncXZZT2dtQmMwdmNscGcvSlYwVFJhVVNWWmsrY3NaMStlUG5iYmpreEN0ZFZjdEJ1RVhIblFuczFqaGVDb2g3QkFHemNlNks3S0lBUmZGYU9iMStMRFBVWnVsdTIxNW9TVkRRNHNqeVcxWjlabmxEMjJja3ZYbE5pSkV3L1RZRXgyaVU2QWMwOFFoQ3RlVnJUNVNyWWp3eFk0K2RQaVhrdEU0RDNkdkNXYm9RbUd1UzFhb3RNV0syS0U2Z0ZzUjJjOFJiTThweXdkQk5QQUlyWE5HMjhjR3RvZFBDNmRJNGF1UEtOMjR3SFpHSmtEb0hTd3Brb0xDYkk1TFQ0bHJIK0syWGRlN3JPTU1kWWVoODJ2R0JYdW9zZFdUdW1RSG9sUFhzRXNUSU14MmZ1aXM0RjJQSENSdGZoYVB0dVVLcCs4S3AwOFBBNFA0R0ZTTmYwN3hpb0toYXdKMmcxWkhHckJMOFZ0SXRvR25qU2h3QTd4Wml0cWptSXV5a1VvM3NoNzdmYnRUaDREclRZZkd5Y2UwSm1sMnlVUkJBNTdzc3pQT1MwK0p6Wm1xMnl2dGZTTVRZeGZBWVNYMCtwVDZ6eTJja29ITEpwVDJhSWZvc0dZN0xKL0Z0cW4vaDR0c0swVzI4eW1uZ2tOamhFRS9IS25pNHltOGdTWUJBZVNka3U0TWJvaDNPU1ZVejAxUldTclhPZUVTWFAxUnVPaGlxa2dnRnB3RWxScWlScXJ3bzEySjQrQjJ0WkVIaWJlU0lhbDIrVzRBTVNZMjgxcDhkb3lKOVZpWkJyS3VKSUJQWU9KTUtSWnk4c0phVHkyY3FJZDNqVjFBSlNWb2NIRUtQcWl4cFpkN1VFTXRDTTJsNDFGSDh5dzg3dzQxQmdlOGFxUjFpNVNFR0pTUkJFd0pGS1Y5QTBPUGovcFUzcE8rY0d1aUcwRWc5d245YlFyZDAvZUFSNVFSbEpRU0tadm4wbFpnYjVxSlBWZlFUNXZYUDJZUFJnM2p3MmxxelFtMXJPRDl0aGc4dkpsbXd1dUJsZk1xb1E0UlN3T2dyMWRTcldwTEdyeWNHUVZrOUlrYlJVdVhWdWp5K1RQeWxxRGlWdE5pVDFiZHVWL2dYYU9YdmJPVEt3N0Z2dlR2TXJBY0d1YlZYWDFRb1ZOcU5MN2hvRjg2ZkpCQnJDdmZmVzE3eUhrYXpFV09TK1RHc3hIQUJOdlQvVEE1RmFqamhOWlRVNkVXZzl6TnVQWXRQcTdlZWlYa1ZLWTRBRlA1aUV6WFpxWG1XNm5XOGpZVWxYRTR2UVJ5eGJsa1A0M2U3QzBabStYa3RJa2JSVXVYWStRTC8wNk8zNnRiL09KSXEzQitCMEVFYUoxRWRrQjNUcWpDTyt0RnBiaFBxMHlvaE9kZTBIOWpzYVFjdmtOWmNIclAwZjdsamk2MlFnTm9qclFTN0hPanlaN3RwTnNJRTNtY2RtaTRPYlJVVG13RkNZMDBaVjFKRVBBOXBiQkZ3YUpMVlZGTEU0ZnNheFJxdDNZMU9HY1RvclYydUFyaTBscGtyWUtsczVVdHUxS3dFNXJVUEtXWjVoVUZJdklybDZpd1p4V3F1UmJkOFRuS29PelJMZy9vSnhRTFcydlhINGJzZnpaczUvNC9YZjlsQnlXY2M2Vnc0MlMvc0lnRlZBYzZWRkROZWV6ZXZTVUVMckZoeUJhK25IQThLRmF1bmxvWGFVeG1ldWxzMEJ0OHRtQm1XNDNIbnZMZ1JTeE9IM0VRdnZYdEwwbE9YcGUwaHMwczVxV2s5SWtiUlVzSFd3amozdVg0NXkwQnVOM1Rxa01nRi8yWk53dVF4SHF2U1V5K1A4SjBSb1YremRrN29XOWFxQ2VkcUxKTGh0UFIvdjcrUGp5NW5CN0toQkpVQXFxVVBNM2loQndYTTdvZzZoZ00rTVdyM2J1VXAwODRMWFdPQTB2RTk4dTFVcTMwOWVzejl0akxtSngvUGdrMjJ0TkpSYzNTcnloTmgwMnEvaHJKK3l1eDFhdVhhcUpyamducmNING5XaEZaUUQ4c3NQOGZZc0E5aVJpU3dmdnZTMXV6ZkNOd0VBbEoya2dKUmNRL0o2b0RIN1lnOWd0MXFrbllTOUltS2VjT1Z5UEJrM0txZVdlM2tORElWdXBiZGlMWS9XTVc3emFpWFluRHloSVVFNCtEb3F6ZE9FQmJhMTBPNTI4dXphQkFoWUhnU0ZMcjgya296MDdaRTZSeG1NcmwzVEFXekp3RTlKcERkcmk0bW9rOFVxZDhiYTgzU05wdTlRRTJsRWgzQVc4OTc3b3ZNQTM2NmhSR1ZtWmUwRUx1Z1JKTG1qQzNSanFUc3ZLNUxuS0hHNlN1bDBEZjZyMkg4Z2U4ZUhaVGVpVjc5VnNPRktobUdSZnVsbzVlT2pJMTh2RTU5dXRkSHVFZE1PMlBab0NGcWNoRExQdmJEcmFzMFBtRkdrUzA4OGVuZ2Z0S3FkdDk2TEpGTGI2eEt2cDlZNHlpMTkySUhYWm9xRTlPcnkzdkNYU1hpUGw5MmtTVmcwTjBaQWFDenIxS1QzY1YzUEZvczh2Y3Vad0w2ZVFDSzdDS3FoMlg0UDRVcWFwbkZKSmVWMW5sVnhvZC9QUWthK1hpUS90VnJxZGZvVnkzUnBqZ0g5TFdKeisyUGNWU21VaEhlM1p5MkdLTk5tUklodW5DKzBRUnZsU1d5alAzbUZidFBhakhVdkVta1Y2VlNsd3FJUDBFWWRiVThmaU1LOUt6c0xES09STGx3OW5KMUk3Rm5WNWtTZUhpNW14TGZ2cGMvajc3Vmh2bVRGcDM0WmU0RFFwWGxySjFqVnY0RUs3bTRlT2ZMMU1mR2czM203SHFFWjZVUlhpRkxBNGZWNnlTN3ZQcCs1U25TRnpISjdwdGhKanc4bURkclUrNmg2OHBEVVl2d09nN1lzNnYreUEzYnBGQUlqdTg0cWVkblpEM3FhdDF5bk1FZ1VoaEFkcW1CTDRGTzBXWGZ2Q0VZY2xjcmdndFdYM3hsVjRGcGQrbDN4UDltK3BMWTJzVWVlUlhnRlVuVlZ3b2QzTm82Vmc1R1hpeEFPR3MzSGVIRk5IbTBoVUY3QTRuVFJidFB1U2lvQUZNWGFDcWZybXRWRk9TcE5xSzdQSDJMaUlGWmQwNUJDN1EzZUpUeWZxZUFYOHpMSzQ1WmNkR2R0OWk4Nk85T2lZcG5MbXlrVEFqbzdGUVpuNmcxZjI4UUcweTJlVnl1V2p0ME13Vnh6VzF0T0lEd3cwOTNuSitHeGdObVVjOGEwT2tIaFo5aHlhV252MDl0NjkrUHQwY2VqNFQ5YkV6aDYwcC9LWStJM3UzV3RSUjAwM0x4TWYydHQ3eHFpQUxiWEFpdW9DRnFmSjdEWGFmU2xPN1piSEQ5NFBVNm45WGhUNVZKWnFLMlBFTHQ4T0dLbUlVM2VKYXhCQjhuL2NOZjZqdW14aDdCMzhzZ09WVzdJak8zZmt4aGdEbHhoZXZNcWJ0SFdTYnNDQjM2bmpEaUlaT1V3NEFqRUprVzdublZJL2RTU2J1SjNJNGFaR1BjRlpYSlpzMlpaYzlPSVVSUzhsNDA5MCtYUGVWOHVKNHhxekMrM3dNR2s4Sm9ma1k1MnJlQjV4R2dNSVl1SkRlM2RQaW9JenRMMXJYTkppQVl2VGg0YU1TdnhkbEplU2E3ZVQ3U1dkMGZLckxOVld4aEJkYU1mUUpZeDBEMHVEckJvMTl6NU9ydGR4TWRXVGR0dWp0L3l5QzB2UXh2em95UmdjQTVmTTVkYW9wYjNzQm91QXVOTTNIc2NEK0VML1hhSjJycEswY1hiR1ladEdReFRobTVmdG1ueFhFR1JiOUVCeFhYWitpRnl0UnhORHRtNDBwZGFLb2oyRFI0dThFeXorZ1hNTll1SkJlMDBsSUtnWWNEbDFLWTQ0RjdBNHNsRjhPUndRNGRVNHJSUDBkNE5lZUwyaHcxUy95bnkyY3FFZGMxZTZWeTJVcFVGYWpmKzJ4Mi9adlpERkhlQW1qajE2SzBEMnJvUW5iWTlEZlF2SjJIZzF6dk43c05jYUwwVnRGczFOTXpWaG1GZEU5YXBhS3RxV2I1LzRxR2dnVG5seXVFZ2kySjF6WG1HOTN4WmRGdlNncHNtWXluS0MyL0xpeFFjSitkR0xGMTJrWGI0OW5jZkRqUGhKL0ZoYW54SU9ZZUpCKzdUU05DWFlOdHd1dmNaUndPTHEvY0lWeTBIVk9zd3pkTHB5dGNiYnNWNlYrV3psUWp1Q2lYaGNodDlvb1R0Q3BVR1VOOGpucVp3dE5yamF4WXROOHQyTEYvdTBLa1Qyb2VVdDZJL0ppR2dkN2twaWVMalBxRVhBY3AyWDhNeVl1c0U1OXRZU2hxbGFxdmt3c2pENlNPejFwazVzamdtcWxHUWkzamNncXB2bEtmVVVzNEgyVTAzeWNVYWpLeGFPSk44NEN4ZmFvWTlkMFY3enFIV1pjOEJNa0V1R240a0g3Yk9tKzBNRTh1bjRJQVBRSHJjNGtNTjk2c0EyR2NmZUNpRjdna21BeW55MmNxRWRPb3loQkQrN0ZkZmdETG5XcDhOUi95OWk3SVFDWkcrcXFjdGw2a2lXMm1OUHl2M21rZ29FTUlmcHFuZUt4em9xNXNGNklEZndVRjJmVThSbnpRbzNVYUdXQU5WRUZwSTUzRk5KRHlZYmg1MzF2cmV0TUhtQ2pQdXM5MGhzWVpOODQ4U2RhRS9qTVMrQ3doMGxnSitKQiszejBqcDBjQmZJZURrK3lBSVdCOHJPTXpJdzJacW1KOTdUeHRQRzA3d3lSR1UrV3puUjNoSVJsUjVEVW9NdDhiM29SZG0ycHhidUVOOGUvNTFLdFRwQ2RySGhQQ204UFgxUXZjK0hNdUlCVDRPcnFTVmQ1b1oyWTVnUFduVVB4OHlDMVVEZjFNTFJVaklqcloybDNUTDRha1U2Ukd6SjY2S1hTcDZ0aU4zSmlvbWpWTkpPdEtmeDJCRmVjU1RWQStIaTNpdkJ5WW1IYVBBOXVVeFFGeUxsTW9nRW9EMXVjYlhEWGxMQUJzRTVzU0RoN2pxbkg2SXluNjJjMGdGeGZjNUtmaVkwaU5Fc3M1dFlNRmtCNTAzWkdrbWRYVmsyVW9Lb1BpK3I0NzlUMlpETGJrdHRHa1o3b2pHV3ptMVdSSlREQXA2ZExYWXB0emUwV3I1YWIwU3kwV1QzczZ5ZCtzQzYwVmNYZGtIcFZGV3ZxdDJ5cXNwWG1KT0RtcFZSR2sxRENDVkorVWNwMExIWk9OR2V3Z09XcVRNS2V2bjBNL0g0OW8xUFMreEYwUXZTWEVZQml5T3pzTTdHaVlLQ2hYcjlCRHZCUHJzYnBES2ZyWnhvQnl0aEZNYlFlSFZKYVhCVnVRdmhlSldTMFFXemRVLzBoRjlUbXoxVUM3ZE5IeGRiRzNHYVRseW1YU1pKV3l6RWs4b2hSaDBSb0RlZWFWTi9WUk1URFN6N3RNL29xdkdjU1kwUTlUeldvazJpL0RuY2tXRURSaUx2UjYwbnhybWhWcjE1dFR0WUV2SWI4VjhHZlNmYVUzZ015RFZPU1hvbzg1Mk9EQjdRbFF3YlUxdTBUN2UrTEc3QXRYd3kyYWFBeFJzU3o4aXRxYVFJNExMTHFFc2ZEMkRJa1RsVTVyT1ZXN29kNWRlbUdBYVRHdXdxTEFqSGErNkVtaHA5Y0tkcTVxQmF1bUFrSmFRUVhIVUlNazdUMG9YdlFidytMZDBxQXhrYVpyQ0hwb3RrYzVXNlNmVTN0Znd2R1I0aXJ6T20wVWsxalg1Q1JuNGdWaUNIdTZNd1NrZFQ1R2h3eTAxSStBRlR5a2NzaVFBd2tlWlBNSEtpUFVyeVVQRmRUd25nWitKQmUzZDlYbmdPWk9Kc044WEhXOERpUTZrV1FNU0FoWEQ0YXFzUnBES2ZyZHhvbjVjam1lZ3dEQ1kwQ0xlNktld2lIaG1xdDl1ZmQrWUpJSno4MVpuZmlTYlB2TGVINHZnYlo1WWpVZjNBbWQ5ay9ZQnVObytVY1ZzTUNCT2RYY1FpbDFFNzNkdFM5NUNENnVOaTV4bStKTENmRnFNM1o4bjFldlFqNUpPSUd2Zm9OVDFxSGJMRkNtOGsrc2QzaXVSd2UzS3p3S2dWK2NDV3BvOStiMUNvdzhic2FVRklwTjNNK0MrRGhSdnRDUjd3amxjWUpaRGU1eVFEbUxqUmp0OXVuK2d4YlU2MHliVzErRUFMV1J5REV1NE1VRkM3Z29HTUJOUStLa2hsUGx1NTBSNE55VWVvVEJOdEJyT2tCaEduOWJuUUdQVXVMYW1kVUFQNFpzZDM2TzhJaUdNTlRrZ2M0dDBXSWlZeHA4SWU1bnd0cXRIZzR5VlVvWk5EYzJPMWdXL1RUTHpqWUkzbGhxWjdtN0xURytqUEsvOEZqWnhPeXlwTUNHcVBIL29RNnVXQkdiQ09jcTRjTHVMRnZ1eGY5UHhxOHNWKzlEenR1YUFQcGl2UTJ5RFhLVlY0alRvOU93NDMydkdvMU9ZQmlwY1pOUlNXT2RrQUptNjBUd09OTHlEZlhxNjliRWdPMWhOalZhYk5ZM0VNNm9xZ1pMeGdQdUpxb2FzZ3o3c0ZxY3hyS3cvYXNickFCejg2NUg0eXFjRU42Zndwb3BsMjFVNm9NYjcvN0IxM25MMi9SMlcvSDc5YWZPZTUrNUVLVWRVQzdZbkY1NFZZQkhvVXRiVTJJV2ZKdGJxaDFZa08vV09aVGRSY1FpTmpIdHpXUGZoQVJHZlN1bTc5ZXZ4V2NvK1E5K3VhUndya2NKRmgxUVNLbGxwa2ZJNWNYNWJkRWFGU0dlalI0bk5nVnZveVhwdjI2VUU3S01WNTdETXlPclFNWU9KR08zdTcvYzJFSHArcUo4ZW9USnZINHZEb1VoZHQvWGhuS0IyKzNNOEVxY3hyS3cvYTZmK0VISFRKd1M4eDJjQnlueFdVQm9jcUFNVzhPRTN2dGRWVVpTMjlIdzBWK011bUQzNndkOERlbHFyOXpMbnhuNi9KYW5hZWZIZnZnZjltcFZkMDdxNWJ0M0RSc3Yzd0Q5OUo3dms5czFHUkhPNkMxSHVjV2E3cjIrNGEvN0VleVpKeXQxZzgyWnlkbDc0c202b1A3VkVHRHhYNVlxUEgxcEZzRnJqanhBTi9oZVBISDd2bkcvL3FKT0srR2JQNE8vNU1OcjlFRjJOK3FFY29jdE1ScERLdnJaelNVYzdUNys2T3YxN25ZMUFzbFFiVnFCQTQ4RG1xL2xtRGQvRitudElUMnR2VzF3Q2UzOVZFN3UreFJLM3pkbktkUlB6RkYwd1ZoeWs2QXhWaXE2clNoUlh0eVlVQ0I4cHJaQkwzb3QzdXVTcDVxTWhYUGFLM0c5cFhUanpZYjdmYkhjT3ZBaXlPa09RS0k0ajRlSjhWZ2xUbXRaVlR1cmdFQ1ExaU1IeFVMTnU0alBZSTdUZmozWnpYSjhoVjUvMDhONDFOZlZvM0dXVGx5dUUyamExQUd0RWlkUTBWSFdFZDM2VVVOblR5TFl0Z1RyUXJIbXBHaHpCeCszYnJ4MlN5eHVtdEQ3QzRWQXZkejFCVTBTQlZCcFR5WG9yS3ZMYktoWGJGVW1wUWN0YkRRZmhlcDZNTFBqQTlndHQ2R21JMFlqT1EyaENjR0xMVWM3cWdIRzQzcHp5cHJHT1ZJN1ZoUlNqTm5FTkEvSmNUN1NQNU1tbGJoWW9CVE54b2IyL0ZCQ2wwR1dCeGdKeXptcFVKNmlDVmVXMlZDKzBKRFdKVXA0WEViYjRXaCt5RWJCM3R5TERDcmk1d2hhMkRUT3lsOWNidGRWYXY0ckNBSEs2UkpFK2pXYXh1UXlJUndjV1lrUkR4MzdjZDlCWjFkdFhSU3QwYXlmMUdseVkrMzA3ckE1aEVJMWNzYVAyWWpPS1V1K0MzT0hDMXo4aXlQOGs3c1VjWFAvbHR6R3lWK1czbGxDNHVSMEtEOE9SYnZCRW03SGxhRWp1aGhYMWVIZkM1b3JKeEFZMmRUY3gwZTByRGdWeEZWQ1Fia01PTi9TdHJDdGtDVmV6WkdPc25IMkJ3RjM5Q1dqU041bFErUFcySWRRNkcyY2Z2REZHS0FVeWloZ3dZVW9ZZ3YwT1djaXRYbGQvaXdOVTZJem1nYy9iVWxRanZ2NkxBam15VitXM2xrazZRMTZlRUJyR2IyT2UzcGVOYzRpNit0YVY3ZVVyV1c2U2V0dTdiMk1td3NDQ2pWYUVjN2tCa3JUTm9GcXNXU2tKbmtiYUZIdXU0R3ZDdGNnYlJ1OVl6YnFSV3I0cmRQOXhrUFpxa0dBNWljdklMcWRSWXBmMWpNdG50ZkhmOEZzZFExeGdWdHRWYTNhWGJRcGx2emxhWjMxWXU2UktqVG1wUTRVcytBVjlsMnkzNUJrdUNRa3BGTFNBdmx0Sk5WYjNtUUVLOFRVaGZWU2NMaFhLNExRYkRKTEZTTlFzeWJqZXlSSlJnTlhFeEg5cVM4TzE0L29kSGRoUXF3SDA1SnZhUHlYQTJSVDRETEM1OWU0OW1RWm93Y0lqS0tyWlZVb05ER2JmTFY0OUdMRW1UU3kvbEJva0VpNWoxU0JDNUlnSDRVZUU2YytSd2F4Vm1qRFF3cG1TbXRDbGVsK2Fic1NsWHpLeDdoNVZtaFZxR2RHZHdrdTVuU2pPUjM1Z01HNENqbGQvaWJiNUtJNjE5SHMrKysvVG5ENFZ5c2xWV3RhMlNHbXlJcmRNTUdXTklPSGdHb0xISExzSSs1dlg3STJFZHJGYklpdEpsR29jbmJNZnFDRCtCSTA4Tzk0UnozOHZJRmZrWThvVjZrUndzcys3OEllQks0cHRpUldpTFBoTjh5Y1IzQWdDVDFXM1VsbVppLzNaN2liSDVMYjdDQThnZEFueE5zaFMxWDJWVjJ5cXB3UVVSSFk3azY1OU51cGVheVB5eVJKcUtwa285WDJvcXRLUEVzWlBHaFAwNEtvYUdBeXM2YjZjU3F2QWNmQXVZeU9HdXlIMUpPczJpdFk5d245NldtNEpKQ3NuSjNuNVJlbW45bXRRSUU1MlBVdDgrUkJGeGUwa20xYVRiTVJLL3hXY1lKcDUvclFIZnpuOFgwYSt5eW0yVjBHQ3R5M3c2WGtJVUNsL0ZaSXhlSXZmUG90Snphc01laFkraGpHU3dqM2Y2Um9COGkzSEprOFB0aUhXajhQRFNPOVk2NC9Vb2VqUDVpcnhOMS9hbTNJZkp5bkxuT2ZLNXFOYThpaDhxWEJPdlJwZGxVdDIyd20veG5YRTllcEJzejhHbXJjdFVFWDZWVlc2cnBBWWZKdGpFei9URys4STBKN0JMblhHbVJrUkQ0elF2ZzMrakxyaklGanZhZWtTZ0lNY0J0Tyt6MnpseXVJdnE3MWtkaEl2Y3dtdjkzK3lTTDZxdWMrVHFFMlBxZ0NzOG11VHVEbWpDRTNVK3pzaVdaVkpSdWgxajhWdDhoaHpjVHIvZTN5YVBYZXV6MGZ0VWRnaTJTbWdRYjJJOThFRXkzbVFEb2g4NzVNTTlqRExQTWVGL2JKNU5Ebm5GUHIxN2laQnZaYmZDblNJNTNFR3VrTXpKUG5iejBjZkpaOWlyYjZMK3hkM1ByTWVhbEwycy9XTHZia3J6bGIxUENWTGxtRlNWYnNkZ0Fpeis0RjMwcmRabzZrTUhXMkwwSHBVZGdxMlNHcXo5VC9kQXZqVkdoelg1d1lOL0ZNTUxQbTBjOUlQYnhodWVKRi82U2F4emJ5UjBrWEVkUlhLNHcycURDOWZ3YnZ4Ny9OZDdxaGxuR1l0bmpPQ21zZFZNdnNlRXRyZ3R2QTkvbGhEeWgzWjE4aXAvRG5lMlRJaVZITUJOWGpPZGJ6Zm1sTGFVeFZNcDMwUzJhaHIxU2JBQUFBQ2NTVVJCVkxFa1U2b1Uvc3JYUFhhTzNQZU5uL1UyekovRGJjcTl0NWYyY3cxeWFxQ1V4ZE40M1VTMk9rRzIwaVNvdGk1M0RuZTYxSU9BYWdmL2JLTld0Y1Z2S2xzMUsxd2xzNENSTzRlN3FyNENuMFh5dWZyQ0dxalk0amVWcmFhUmJ6NzBJMmNPdDVZemtYcm80MzlXTWFqVzRqZVpyWjYzZlBpMnpKbkRyYjN2OElmMGZjeWhVb3MvWjZza2tuTG5jSk1rbnF0NVRnTXBHdmgvSlRLdmpEdlRjSW9BQUFBQVNVVk9SSzVDWUlJPSIKfQo="/>
    </extobj>
    <extobj name="334E55B0-647D-440b-865C-3EC943EB4CBC-117">
      <extobjdata type="334E55B0-647D-440b-865C-3EC943EB4CBC" data="ewoJIkltZ1NldHRpbmdKc29uIiA6ICJ7XCJkcGlcIjpcIjYwMFwiLFwiZm9ybWF0XCI6XCJQTkdcIixcInRyYW5zcGFyZW50XCI6dHJ1ZSxcImF1dG9cIjpmYWxzZX0iLAoJIkxhdGV4IiA6ICJYRnNnWEd4dUtGeHZkbVZ5YkdsdVpYdDNZV2RsZlY5N1pHOTBmU2s5WEdSbGJIUmhYM3R2ZEgwclhHUmxiSFJoWDN0a2RIMHJYR0psZEdGY2JHNG9YSEJwWDN0a2IzUjlLU3RjWjJGdGJXRmNiRzRvWkdsemRGOTdaRzk5S1N0Y1pYQnphV3h2Ymw5N1pHOTBmVnhkIiwKCSJMYXRleEltZ0Jhc2U2NCIgOiAiaVZCT1J3MEtHZ29BQUFBTlNVaEVVZ0FBQjljQUFBQlVCQU1BQUFES1RLcHpBQUFBTUZCTVZFWC8vLzhBQUFBQUFBQUFBQUFBQUFBQUFBQUFBQUFBQUFBQUFBQUFBQUFBQUFBQUFBQUFBQUFBQUFBQUFBQUFBQUF2M2FCN0FBQUFEM1JTVGxNQUlqSkVWSGFKbWF2TjNlOFF1MlkrZ1ptTEFBQUFDWEJJV1hNQUFBN0VBQUFPeEFHVkt3NGJBQUFnQUVsRVFWUjRBZTE5Zll4c3lWWGZuZTk1ODNvK0ZBbGJ5OHFhVnF6RVNNVE1JQlJ3TU5DVFA4QnJITlF2LzZCRXR0UWpnakN5RS9XWVlMMkFqSHJBUk5IYWptYVFFMkx2MnVvaFVZeTl6MDQvd2tmaVhTL2RBVzNZM2JmcmZ2bkM3QzV4RDVFaUVBbWFSekRlTjlOK3IvS3JqMU5WOTdPcTdyMHo4MWJlcTFIZnVuV3J6cWxUdjNOT25hcTY5MDRVQlIwL3ZCMVUvQ0lLei96MlJYRDVwdVZSSytJUEdGYnovK1ppWVgzNCtHTDVWZU8yTk4yb1J1QThhZzl1bndmVjEybUtIcWdaOFFjTHE5NnZYU3pLSy9jdWxsODFiZ2YvcjFyOWM2bjkvT25vWE9pK1RoUTlVRFBpRHhSV3k2eDVzUmczQnArNldJWlZ1SzJ5QnkrS2o2S1o0ZWVyQ0pXczIvaDdOOWpUUDk1TVp0ZDZmUkU4YW1sdzNZalhqRlUxR1NkL1VhMStlTzJIejBiaGxXcXNNZlBtSDN6dm96ZjJ2U2oyNzNzVnUraENXN1YyWVplSjQ2dWpjeFRqSW5qSTVqY2V1Y0hPZmpFbXlxVWlYaTlXTWJuNFJZaHNWOWh4cW43VWVQTVAvdVJMdzczMGpWcHlabG10NDFKd20xcEN0ZmQ5NmkyelhaOWlGMTVtbmgzV3gvTUsrOElyb2t2T2NUNTNFVHhranpSNmJIcURzZGdhNXFVaVhpdFdhZFFEWklzT3ZwNnVIL1VFOXZzWmQyckphcC9XUXFZc2tZRHU2VDZvNnd2ZHUyV2xUOWM3K0tVbytqYU8rRGxHTVJmQlEwcDJ3bjRzaXVZbWJOOFM5SElScnhNclN5aVZESkJ0a1dVdDdBNkJQTXNhOHRPOHl1UXN4cEFvUTZGU25UZGM3ME82ZlE4YWMrd2JIcVV1bzhnS3UxWVgyOWt6VHVsNzBTWG5ONkc3Q0I2eVAxNmN2b2NuNXBrOW9Gd3U0alZpSldXTS9mckxGclhZS0ZaVlh2ek5uL2dvc04rZ08ydjlqMU95bnZQZ0wrdWhVNVpLNDhEUDJHK2RuOE1yMjNSVmI0YlZ0a3V3TEFmMC84UHFuQm9reExzSUhvTGxESzMrdHRtZTNZYkxSTHhHckd5UmROcFh0c1l3TDNRYnNxbW1CdFBRaHE4enF5UTJXYk5LOWVwMXgzN0czcmVIaCtwYzY2VFFFZU54SFJTdlNyZlJlTjkvcUlOYU5vMkw0Q0U0UDB6VG05V0VON3hNeE92REtydDNQV1c3a3V2Tmg0eTZMVnJES0Y5YjBDaWF1OENPc3B0OVVibFh2WXg5amYzNVJUVW9tTS9WMnBZTzE4OHZldGRTWFFRUHpxeWhWNVhuV1h5NTVUSVJydzhyM2FHeGhKOXMwVW5la04yd2xtdXV3TmlQWTlTVEY0MkR3S2Z3aGxuTGdrbXE1M2k5NG1YczQzZ29lSTd0Q1NlOWxoaTV3aWxRamZFRllIRVJQTGc4cTlyQ29jQWprcENmTHhQeCtyQ3lKVEpwUDlrYTdGVlRKWmFhWjJaVVc3Zm43N0ZTZEFGdWxQUTduMXh5SEEvL3RlOXU2VUZjWDl3VkxyTEVvSzRweHJxWnI1MWIreStDQjI5ODUwaUx3TmlPVGlOeHFZalhocFV0a1VuN3liYWN1OXE4eE5oTm9yYkttTVA1dHhOdWxHcm1ubGR5cHcrNVZXcTk0ZFU5cytRS3ViYzd2Nk9rWU8yNE1wZWtnbXJWRjR2LzJMbWlVNTFIdFBZQnQ0aXpWcURLNHZPY01NVGRySUpLdUxIeWtTNlhwWmRzMFZadW5HcEhCalBEZUwrbG1VNVk0SExSUFB0YW1rbzh4NjFCOGZKQlYxN2RzMHF1OElFMDloWGpqWU5FVHhWZVpWOUs1UVZsekdadTM4WklWT1lSUlZzNlFvOVJqbDJzbUYwZWhQSDc5cjB3eE8yYU5hVGRXUGxJbDlzUUw5bWlTVzZjT3JhbjZYUGZsOHRIM21BMEJqckttZHNEVit6b29VR0dXbkRLcTN1MEszd2dqWDJCR2MwT2x0K3VzT2lLMit6Q1dlbDU5M0pyWlI1UjFQWVlUenFIdW4wekxENlFoU0d1eWRTVGNHUGxJMTF1Vzd4azAzRnFta3c3WkxkdGxya0g2Z1NMam10OTMwT0RFaVJETHIyNlowSUxDdytrc1RlWXkxOTZkZ2pNd2htR0Y1SmFjOGNZbFhsRTBZbGIzTWF3cVJ1S1JhZGRmWUZFR09KMnpSclNicXc4cE10dmg1ZHN5YjFJaXh3ZU1MYXVITWtGUmdHdm82QzVQWFlwaUljR0dXckJLWi91YVlUT1RZSmJVYTNDUVYyVDlvRjdaQzVzcVE5VVZYbDRHZnVpRmVsajBXbkhidlhsSXU3RTZ2eU5mWnlQOHNCc3M5dGRscDNHQ3Q1UjlwM2MzR1ZYTE9DalFiblVuVGQ4b0Yrb0d0NDZXMUd0UUt1dVJjNXVSVUY5b0tyS3c4dll4OVpUaFlqR1l0MTd1WWc3c1RwL1krL0VJeDJyYyt4dGRpczdKNG1PM2N1NWxaYzl4eHc3Uno0YWxFZmNuZThEL1lyWmZIUVR2SVFTNjNXMWI4eXF2YlR2QTFWVkhsN0czcjF0WURoSmpGYVhpN2dUcS9NMzlrSHVaTTNlWmpjZG1KZmFTb1JNZWVYc2ZOZEUwVWVEYkhwaGFSL290K29hT2NPYTVsMTZ0ZUtBckJraDRxMjBIdThEVlZVZVhzWSszTll5UmYyRUs3eGN4SjFZbmJ1eHorYVBydlkydStuQXZGUW5kSnNkaENhNVVZWGs0cU5CZWUxeDUvdEEzM08wME0zbGZFdXMxYldtZ05VelI1aFZMSWdQVkZWNStCajduTFhNTkpjTU5pOFhjU2RXNTI3c1MvbERnNzNOWG93MHZ4dTh6WTQ2SjQ1cHZvOEd1VnVXVjhJSCtvckJiUjdyMnZKaFA4MTZpQjBrTFNPTXJCZFVGWG40R1B1eTllalhyYVFudkZ6RW5WaWR1N0d2NTcvQWpDbldOWC9FaDhIYjdGRzA2WGkyMjB1RC9KdVlLT2tCUGNhR1JLVUg3WElRZ2xGUjR6ZkR0MDV0Y2w1UVZlVGhZK3pyMW10TGswUVU3N1AxZHA2SXU3QTZkMk52c1RzMlpuYTZIVEpxbE5obTV3OXBGajhUNHFWQmRwT0QwaDdHdmxndHRnMXFUcm5DQis0bjEvd0lZemRsT3ZJcm1sWEtDNnFLUEh5TXZYMmtXNGZOWUd2K3pyTXZHWEVYVnVkdTdOMzhGYWhleUxCV1lwczlpcGFadFNtcVFUSUpMdzB5eFFOVEd2cS84Z00vK25PUC9RWnF6Ly9zOE1uZmIxcGtyaVFtT1d1dlRIL0J1aTJUYi8yaVhTVjY1TWJwaDFObG91Z05qMC8vUnlyN1d4NGRQdm1QVTdraEdTZjV6anFFRFArc1M2VVBWM2hCVlpHSGo3SDM5clRZSGZidmRWb21TaUNlb0ZEcDBvV1YwOWpmOHZqMFZ4UCtTemZJUXpZc1dPN3E4cFNZLzhqd0U2QTUwS1k0LzhvMHFiK05QM21aZlJFZitxS2p4RFo3eEYrU3AvcVpaeThOeXF6cGswbmR3MVZReExBTFEvWVVZMmM3cHZKNi9FbUEyZjUwYURZWTFXZkY0cHNXalhlejZZRDlZUlQ5N3NpUVFlcjdHV2pEb2N3MVRYYmpmZURHV09DYndhWStUMjA1WmtMeDB2bFhYKzZqRDRyanJQekt1T01EVlZVZVBzWStnT0xPdjh5bW4vc0h6N0xUalVTVHd4SG5UcHByaDNXVWg4dUZsY3ZZMzhsYllRbDF3eGJQUTdZb1k4UHNtU0Y3a3QwYlladGRnUThkSDdCOW0zSTBPMkhzQ2FXbnkwUGVDSGxNbTdGaWpndkUvb1hsZlRRbyt1NUhCMng2Nk9DVWRUdlpQVFA5MzJwRzg3RW5pVnB4VTJxOXVyR21seVlReXh4enNsamF1R3ZJZDlpckc5SDNubzJXNG1zaEQzRWY4cC9aOGN6UXhETDRCT3E5UDRwbU9wS01JUkdVV21mM2c4cm5GUDQ5eGlaQWNKUnoyNTN0QVZWbEhoN0czdUFpOU5sVFE2Nk8xNUxORGtjOGVwWVRpaDNXY24rU3Z1UGFoWlhEMkorVHpkQnZqeTFZYW1lbUtEUjBaV2d6MWlPYWlTWkNpVDhRelEwK2oxcnFZYVNZanN2U1hmYmZSOUhNbjRxd1lOM3VDempXZ0VQWlMxNE5EdzJhbndqdTM4Z2pVWkJQME0rODkxSFErRnIwOEtzamxFYnVucTdValFYSnMvemhTOTFoRUZ0b0U1WTJUSHp5SWp0cm92Yms4RVNIUlp3WVFwaGRuTGEraHUrSk5KRVFSNWVkTnBGb0RLeG52dVNkZ044VkZvTThvS1pkRkppL1p4bHk3TnVaUVdrM1ZOVjVlQmo3UFBZUFo5alB2L0NmL2xRUFZaWVl3WWpqUDNHZ1Z4S0hSVEFzNmNLcTJOam5ocW9kTzRyclZXc3QwaGg3Z1RZdldvb3FhVFFtN0Y4anRYcTZ4SlNteDNWY2xIcE9sTUYzQXZqWXYvYmU2OWY1dDFyeGUvM0hKUkhmMzJUQWtLam4xaUFNeE96MEs5Yy9HT1pqSkJ1Q0hsY1B3ZGdid3gyZWo0REdHTjhrdGpkNGl6dlZBYTJJYlNtNzVjWSs0alZ4QUpCRGZsNjViK1pBL0hvaXgvbTVLUW8zZVFhTzUyam8yWUtDbGo2V1E5NWZ5T015TTJBZmc0MVkzeXJKSzVtYjc0U3FCaDRleHI3RWQ5NkdrSVJQcG5hU3JRMUdITjlpVFIzVzNsNlN2dVBhaFZXeHNYTTlFd2VwWjNmZjV1Y2gyMnB5S3pKNnUxcUFIc0EzM2hiVXJzWjBYR1QxVDBmaXZLYlZ2TXcyTy82bFZ2R3JNRTRObWhzdzlsT2lKU1Yrck83aGV3bFgxR2ZZRHF3dUdaSmxDL0lIZXpnTnFja2Q1U2VmQndKTnhiNmxPZzhCRTgyQitCMHNhT3lJRWhQa2k0VHdDeW9nVzg1OWhsRVZMVHJCSlJmZDlydjNkbllmQlh2Tzc1TVVVSE5DVlFNUEQyTmY0U0RPLzVQLytRY2ZiTjRTUXNXYUhJdzQ5SUk5K2JsUERrNC9pWU45a2Y5K1lpZEdNdVRDaFZXaHNYT1Zrc2VaNU5tSXE0MkhiRmRqMFNhb2dLWVltNFJQdXliSWlnVk82Nk0xZkJYOVMwckl2aXpDbzl1OGoxdXBrcG1uWGl4TVRoVnhhbENYc1grWXF1V2JZWFVQbXYrMXRoS2xaVDNFYTRmMDBTejNiQmo0MVpSaG9neWJSM3BOeVJPNm9mN1BEWnlROVFuSENla2RhTk13anVTT3JMVkFDWGtaOW92Z2VDTlZvL0htNzhvNzBvWEZKR01iTkRZeEhLWkkrV2E0b01KRXBqSVBEMk1mbS9rY0lwV2tzS0dJUjdmNHFncllIdkp1NkIvejN3cEhKbFlXdlVKajM4TFMwQitOWnQ0QmJUc1dkZXpYKzVEaElkdDYwa2EzMk5sSTBGcGhTb2NUT3M1dnRtanQ0LzAwOHZHaFVWUUwrK2trSDN1SVYzZHAwSE9NL1hxOFJzaFZ2SHZ1UDZucWppbTg1ck0vRXBUZlcrVUJISnpoSFZsUXV6ZkFNSkpaU0hHTnh0SFJ4WENCZ2YyMnlPVmZQRlJSSURxTTRzSDVLc2FPbFJYRlVuSVF2N2VBWGM2UnRlRGVscjRJemN5Z1paRXRTcnFncW9PSGg3RzNEMDBqTzZsZDVWREVvLzZaNk56SkxxZEtMdDF3Q0V4bFltWFJLRFQyZ2ZwblZ2Q2FSNkxPMkJwTmtPR1dEZDQ4amo1MFVOR0FHNUlCWWtMSE9hTyswbTZvaCtwY2xEWStWYlRGNjZkTjNMSkxPelNvZ1dYNGpleWFQcmwyOXd6WkdUbXJkVE9jdzdLUERhVXR2aUNDVU95bXlETHV6YXg3bUpWOG1MM3FHUlR1NkRFR3RWWDNQbXdLTEpRM3NRamhodDFFMWRnV3NNczU3cWtpMWdsUzd2TkxrTExXSnEwQ1Bra0hWTFh3OEREMjNxNXA3RldLcDNSV0tPSUx5a2tMZ0dZcno1Y3lzZEtOSzVadVNZL0t6NnRodFhOa1ZZMGJlN1kyWTR6bXN6VnpZT2pabDFkb21WUU1vZU5ZcXBVNnptL08wcXkycFV2RDdJOWt2YURmclFUN1JHV0hCZ0U3V3F4SVZQUzZqRU92MjQ4Rjg5dXF2b285MVZXUFo4TVY3SXRyNDk3MEowaGd5bDlTWmNkeStWMWNvU2ZKbzZMRUhWbGl5UFJBc1ZwRml4Qjg3Q3FlNXJRTTZqbEh4aTd4SnNHSldvZUdTRmpLQVZVK2o5bi8vWk12UGRIMFpGWTQ5bkVhZkp1ZGppVTlaYUtjVU1RM3BRWE1DWURXc3VZNDMvR2ovL3d4dnA3dGRXUmlaZFVza3E2bGZYcWpMMmVDd3gycmF0TFlzN1FacjZMRWd3RjhuR1lrYWVodGR0SnhydXJ5V0ZKdUlPcnFZUVUyc0VlM3pka0o1S2FPWlUwbEsrWFFvSWxtYjlYaFNUOElFdER2S2lMd2Q2VHlHTE9iS2hjbnRvT2ZOaE1uRVpzZjRab2ZrM3Z5M0RLR2g2UldPeENrcUFjc0pXMVF2aXNyWWE2c1U1UVRjaWJuRTFJblhyWlBMck9uWFZHOGdNK1ZBNnA4SHBzTVI5T0hCY29VbVFNbjBiRDlKbHgxazJlYUl4VHh5WkdvdXlTc2ExbWhiTWlKZVY3SWdPUEFxa2k2L24zTjk1WllpMGo2SHJkc01OZlkySWhvaTJhU1NNcGJ3eDJ3MFRyT1dhNlF5MnpUbUlBSHVaUU44UHY2Y0FLNWJsUmVWN0lTeFJxRXNWWDZPS3VHU01LRFV1T1R0K3pyUlBlUWNjSTJqMVF4RE1RYnVvWU00dzVvOVh2ZHVMZXU2ck9oS2Q2bFlxamVNUmlqMHE0Z3VHbHRjL1ZqRUdoK25nbHlINTdGMDhYUWpmc3l0MzF1eGw3QTQ4VWJBQ3ZkcXV5Y0luUGdOZmcydXo0UVVlM3BDNUVJUkh4T29YOVY0THRDbG1IUmJMd016TzlZR2NWSkIxWUYwczFab3F5SmhTVHJJN3Flc21HN0piWXpqeENXcmpIMkNDbWtqazlzUUtDeTBnWVduL3FRa3E3RDJDZ3RxQlBJOVJ4elZhU0tqWDJjWjlHZUVDU2dwL1pieG83SkMrVkcwYUxZYnRBajhwWnhieWR5dWcrTjFzNi9id2tHZmRoV0FyVW9pZjQ4VkhrdldqaXFySkNUSVJSU3l5cTdTV2p5S1FxRklOWjl2MlF4VklVOHhxYmJYTHdLekVGVUZkdnNSQVErLzRqUzhoeUkrTEpheHRrUzBlKzZHVnN0cWdpQWIxdVh4VWtIVmdYU3JaNVpsQWRjZFZwM3JCd2szYkpob3pzR2I4YzBIWldGRkF0Y3h5R1N0Yk1HcGVEczdHT2l4M2c3bHo5THF2VS9ma05lVlRMMmczUXppSWNYQkludW9icDV4ajczWDFBQ0M2cHEzb091R3FrcUxkbUg4SlMweUlldFBEME93QWRvcExyS1oyTFFvWFgrdVdGaEQxR3JjczhwamM0dG1YTmpvcU1yeTlXbnl6YlNXWFpPc2JFWDhoanJKWTNJd2NRWnhvdHRkbW9XbEtEWUlLaGdIdUtORFZtaUs4aTBOTGhVajUvQjVKcDliYWRUMGppd0tqRDJzZTFwMmx6ZityczJxNVN4MDAxTHRxU3hENW1PeG1IUlFncWg0MUJZSzlhRVVzaC9nRTBVbzJob093T1REV09udFNrcjB5VFhqUjJZVEpNcTFDQnVNRHVtYkN6bEJVSGMyUFh5aTlVOVdIWWN4ZWppQ1FOYXFMVGMyOGxOVWVqRUtCZm1RSG90QkwybEhTVU4rUHpSVkVuNW1RSGJqYk1JdkJwU2d3THJVWEdNZndRdE9rUzZMYnBublJjeTRvL2ZzVGJ6djRmOXVuWDFuVlpOSkl0NW1DMlpMQ2F4WndaNlU0dkpkMjNFdWVCcWZNZk9Tb2xUQm5FUUhCNXlxaDJOcU0yallEc3RMVTBhSzEvcGxJcEp6bGRoVXpOSnpYVExGazFpOEdKSlEwK2ZXdmJ5aG1VQTRBZTZqUDN5dGlVekRDL1Q3Mkd1bjlsRlZQVXEwelpHV2Q0YWhBbTFiaXhWcHJNWEJQSHUwYU12WkwycDZLQUVVVlJudU1BOW1iUk1XRDIzT0RDUkJzMkJlTkcyWmZnMDRJUE1LVWFGMy9tQm4yWHN2eXJTSlU5cEJRb2pCTDl6cEdyQXQ5M0pxN3dWVXhSUnFqSGtlcEI5WEl2UktlWmhYa0RJWUlMblduS1A5RGhpYjdOekYwTnpVdFdhTW9qelJ5dDJlZjBEOG9tS21Ed0I2ZGkxZFpHV0pvMlZyM1FuZG9jdUlSWmNTcTdxdW1XTCtqRjRvZWZRUVhsMGJTazJZOEVLeG5sKy9IS1R5a2JJeVI0VERKQzZySjFJRzd1L0J2SDQ0aWZrOFI2YkprOTdRZUR1bnJTeHczS2JnaG5HYnUzZUpzYzh5d3JOdVRzOEZNWHdjMkJNU0EvNExkR0IvT2ZlMzZWeUpjK0RHSUxoUk1ZR1dyTXhtQ2JUUzdPQk5Mbkg3UmlGWWg1OTNWY1pUS0pXTG8rTUdXSnYxK0lMUUJKS1dRWngvbWpGTnFjNlNIZ095ZW1Lc1JpTHRVaW1wVWxqRlNRZE1lRGYyVnRQdWg2M2JBbGozekk3d3JoanpTVzdlaEdITXlTRFBCV2R3SE55dDlrTmtMeFk2b0IzU2VUNWE1RFZUeWtYN3dXQnUzdFFJdEU4L2VBODNJbldKTGxjeVYzZ2hpcSt6dGd1MVVRMnFUNHEzUkhaUGN6am4zamkwLy9zZzMrYlNsbG52NDFEcXBBZUxlaU8zL25FdEJyR2ZqT3YwbEFMWVVwOEZLSmxIMmZicGhSU3hUeE1YMlV4V1I1bXMwQnUrcGtCZTV2ZGV0aVJHbE1HY2Y1b0JhL2ZNSGdUT1g1ZU40c3pkalpQcDZWSll4VWtuV2FBRVA2RWRJb3kzYklsakwxakJUNFVjUXBpdzdqL2FxbisxMGFHVVhhUHVNYk9Cc2hZTmwya1IvYklXNE42cWhFWTRIK0o2TkhaQ3dKMzk2VG43THBYVUprTVkxYk9BSkNqNXlUb0lGSjM3cjJPVmJ0UTVGQWsrMlQxMUdEcmpPalRUS090L0p6a1VFZmhPUVVjMmRwOThWY2VNaXhhVmtlanJoVVNLbHhlS2VTQkRsSjk1V1RpV3FDTGJiUHo5NHB2eHR0Y0JuSE13MFMwTzVjT2JUanhWdTQ4TlVNYUIxWUZDM1J4T2ZvN0VmN2loMXUyS0Q1bmh3NVM5d0FDTTl2R2hiMGFHTTBOdVVMaTJGVU1OM1BXeWd5UThaYlIxZFVLQzNSOTAxZ2lwODllRUxpN0I5by8walI1QW1zQktuekMyTDJ2Ym9uOWl2aEhMTG9tSk1Cb3JpSi84ZmpkcnFnMEpLdFhKT3lUNThZaFZYRW9FQlhMUFZ0THEraVEzWnh5TUp4bXppMlpYV2pzaFR6UVFZcXlrNG5MMkdQYjdOeDNIY2JiWEFKeEVKaUlqWldGYkdQUG42ZG1TT1BBeXR2WWU3dXplbHdoQ2QyeXhWZmpzWWF0TlZoSG5Kd1l1dTBPRVJYbkJXZ3JQOGdmSUU0YnhRcW9Dd05rMXQwb3FtTHNZSDg3bTJxRVo0WGk3VFhsTEFqYzNaTXlkbVRjbExSYVpyeGVsYjJBSE8wUmFkVWRaZTExUkJUWkZ0WFI5ajNUcG1RS09OeE81dVZlcHpRNnQyVG1EWXcvZXUwQjhabHNYcnFrNjFYc3dzOVNGZk13VXk0bkU1ZXh4N2JaK1Z0SCszRkpTaURPNDNlQjcxSzJTdldURGtWenpKREdnWlczc1ovc3h5WGxQTjJ5eFkwZDQzQTY0dVNFckdHTVgrS1l4ekl5RGxyQ3R1STBlVi85R2lCajJmcWl5ajQ3Mk85cVFvbUVGd1R1N29HaGJzUW9tNDdBMkUyMzFINFBIQjR0bXNCYTlUWTdwZ0lpRE9SMFVHbkV6OXlySHZORTlvSGIxN0x2b0dyeVJvaGpTTmJGTlREWEMwL2pISmVOWWxmWjNZektWbGJSeUY3TXcweTVuRXhjeGg3Ylp1ZmZDOXV4V29oa0NjVDVZdThkVG1VMTI5anpsVEJER2dkVzNzYmVPclMvbUMxbGRNc1c5UXpVNHIxbUhheWhwM1lsRmZ5ZVpMajgzMzAvdC9adFdjYUswM1FsbmpCQXhyTDF4YnE5Q3FoemRhSklnd29OeG02OHBpWVNGZ1R1N2tGZ29nUlVSTGEwL2t6TUJGMnRsWFJNK0FQdHBwakhlcXMxaW1qQXgxQ25PenJlUEhIbHRYR282cUViOXRNay9OOW5SNlFqZEpuVGFHbm5uYUs0YWFLVzFEMlJVUVJWTVE4ejVYSXljUm03OVRZN0dnV3RUYlMxQk9MY3p4MXlNaXZzR3dscS9CSkl4elhFbEVsTGs0MlZxZUZ0N0Z0SHFmVTVEMGVHc1VaclpjUTMwSFQzdEd3cCtrYXpUZFA0QjFOVk1HckhhVmFCb3VVTFdXeGNQR0FVYVJBMzlwMFlNM1BoQjRFYmVsaGRuRVZIajMxRDAvS0pMTk16UVpvOUIwSnNyT05rR3ZDNXNadldwbElGazUvVTNpMUk3YVlJM0FMOW5FT3ZxYXBLd1B5STZuZnpuNEE2c1FjRkttK2ZpNkFxNXRIVlZ1Ums0akwyOWsyN1NYMERrY291Z1RqM0didTgrcnFPMnhReGNRSlVJL3ZhU3FlbHljVEtycEdhaUZzMzdlVFduY0dPZmMzVGJ0bnd4SWZXUkRHOXRDTk9UUTZOMUZHcHprU2lRMkVKWExlT0JlMEM4Q1ZaN3RBVTJjd21UQVdLTkFoUHBPYU9qbjRRdUxzSE83WEgxQlp4UGlDdkIxZERFM1JhQWo0ZzF5YzZubzhHYnh2aEI4Wk8wYjBlOEZHN0NOZUN5VS9Qak1PaVFYeG9PWllwNjdlVlkrbkl2bWNWNDBrWTRtM0tpcTNXZnZuUm9mV3BjTWYzdzNoVUdETTBJaW5PZVR4bS90SGdzOXRSWDNzYkp4T1hzZmVPTEw3UVdtc2dFemRLSU03RHNXMWVlVDFKN1Ewdm4zMFlKa1l6V1JSeGRWa21WcUpoOHNkN1pOLzhpN1Q2dUdYRDIycWtzK0NINWFmRWc1MXpIK1BOQUZqY2x1VkZGUDFWbnNjUGxPYzZMUklTNm9VOWNZMmZKSkNZYmY3SjQxUHJPUnhSc0dXenA2cm1YS1JCMk1iVXMyWlRJd3FBd04wOU1NcGRpellIWGhrTGNDTVRYbE96Mlo2WmFZK2wzZmVicUl4bEluS0U4RUhLOTVuVmpoaDVkVkV3K1JrYTA1U0ZNMFArZ04xYitPbDlhZ1BCeWEvZnlxYWZIc2luKzk1T3JzUFNhNnFpejBWUTVmQ1luYkJQOU8vQ2FYT2w4V0xpTXZiQmtXNlBlTEJLYXFmSks0RTRmMVpLRUVnKytQMVdkdm9vMjdlLzlPVHNza3lzVE90YzBwbVM0M3Zwd2RjdEd4WXhyR3BZajZJb0Qyck9iMXdSR2cxOVBjTEZpbFR2RS8yUE50QVB0MFVMTUhydGk4VFdUWEhDNDJRMmtDSVBPVjk4bWQxcnFnTHk1SGlhdGtpRG9uNldzWWRBNE5FOVpyQ1c3UjFTZHdFM01tRmFGZXFhTWJZdHduODU1RnZQb0tJZmxmb05tQTZoWXYwaEw4d3NObmtUbzlXMWVCNGM4VVk4Sit3S2d1eXJHa2p1VU9WbjJkMW1ORE1SVVVPbnFySG44T2ppaytVemsvOG11WG94Y1poREl4WmR3T00yU1J4MUxvRTRSalRwM3hNenprWCsvd0hlZEs5bEltTjNsN213OGg3WnMvN1R1NGRzdG1mQ3VxTWVhSUVQajRIa1F2T1dWREZweVdpeFZsUWErRFpKenllN3FsdGpRUEs4eGdIN2hTaDZrMllneTNXMHlhaDY4Vk9oc2NPNG12SGkzSnNIUU9EUlBRT3lUc1ZJZTBOcnphbWxIQnpVZFZzVjY0bVozTHpRRW5UcUhaV05mdHlWeVo0ZC9VVXpIMWNGMU1scjQxQ1ZoWU9PVnc2OGd2dllWMVdzTHczUHN5bVhaVkdxOGdzdlBNUFkzM2poaFNMU1JWQmw4M2hPRUwrQ2Y0a3o0b1I5bURpTWZWNzNOQ2ZZTTJFcXYrUkhDY1QxcTF5YlJ1MUJxZEVYanJFL29GZ05qMkE0dTh5RlZZQ3hIM0Z4WW9lSGJQbzdGTHdpN0pobU9XZ1hWOUgyYlo0dmRUZVM3M3ZBc0xWNmtYcTMxZkF5UTZOTUFraE9TWDRhc21zR0QwbVpESUZmcFk0aURZcGF4TjFVQzRQQW8zc21zYkdDZnpSZXpYcmdES25sazJQWkFKaHlVelZsS0d4NVdZUkpjMVpKM2VJVDA0ZW84anpGVTZwNlArRmlWRFpPNmIxYnkwSk5zWkRVVURNYm0xR3F3ejRsYUF3VW9HbStTUmFGVUdYeHdBY0V0MEVFam9CbUIyNG1EbU5mMGxNckVFYlkrZmxrSTBzZ2ptVW5HZENPNDVCSlM0RXhIQ2ttSGwzbXdpckEySzhsUmZOeFpLdHNhcXFoZjJnaWlzRDhFRGNPQk5HaGpHU0dIQnkrb1VIb3pGRGxua29zcXlsL0dzZ0ZkanJpdFZmaVEvbEU5eFcvbVRvS05RaE5USXI4ZkJBRUh0QjN0T09XYmV2VFBNZU0xL3BacG5VWmo2SWdQQ1dmeDZ2LzJLRURma1FEY2hBVFQ5dU5KRVg4Tm1KVFRXVG9BRUFYb1lTMWNhaXlycWJITHlyc2QrNXByOVhUWnIvSXBpTlIrMFRQMDlUQ1JDN05RcWl5ZUt5b0dkR0JGaUF0WElwYnNUbkUvaW53TFRiZFNOWXZnWGcwVlA0ZXhpNzBYOUpVTHlaajFXcFBadmgwbVF1cll1a3NZY2FrUjFhZWgyd1l6RWVtaHRrbDZra3BocnkvNEh6NWVNYmZ0Y0dCT3pRUXpWT0t2azJ3OVExUkJDWXRWd0lNa0YzMUtjWTE2VGRrTWY2dWdPb3J5b2lmQ3pVSTluWTdYaHdEN3k3UDhZVEFvM3VTLzRwUGg0YUFYc2w2UlkzMW5Pc3g1eTc4SWUraTFrMXgxYVVCczIzY0pOekJ0cmpKZjU1TGFDVmlBWE5UbHhLSlRZb3NkTFkxSE91OG9NUW1PWGdzMHpSVlRiMXJ0S2w4OHlZaG5VdTZFS29zSGdmS3o1OVE5MFJ1Sm82UmZmeDFHb2E0QnlXNXJDYVhRRnd2THNLWDcybFN5MnJBdzkwZG1lblRaUzZzdkkxOTgxUzNSQ2M4Wk1OZzN0VGw4VHlkMGx3K0NGMGorNGJ5Y2NWV1duMGd4M3hlNlFwOVRMV3ZqTHVQT3Z4SUFRbDZHK0lPSElkTWlDdm8xNDVJNVB3VWFoQXFLM3VqMm9FUXFPaEYxTGIyd3BCOWt5aXVVNGVvakJaRk5WMGRCSjBjcVh2b3luMlJSSWd2cWgzc2lrdGEyZUhadE5saHpXS2oyY0d2aVhMNkIxNXNwQy9pQ2ExU09uc3JIaXJwZk8vRU1qVnFTY3NLU1JTUUpQOUpodVhFT1JSQ2xjRURHdEVVRkV6dzVHYmlNUGIyNTQwNmZXdVd4eXlCT0JaVmQwUTdrZEJxZ2ZCV2hzQjZyUFRxTWhkVzNzYStwY3hVTkV6OWVNaUdrUEhZVk5rUzRTZXVNUWp4L0dVeFFFTkx1WmpxaVlVdSs3ZFVvVTE5ZXlBZC82SnlPR2tndC9USUVPT0hMdG9nWWxublFnMktPcHFvcWhzSUFYejFrYW9KeDZFWElwQ3RuY2dxZFlncUI4UkZnMmRaVC9tM1dlTXMreW9nYnQzdjhkR0svajBQZW1QRXE1L2NOWUVUMnE1NW5NZ0pqdUFRc0hFb3l2TW93cWlneWdvN05ZWUtnN1plcVZ1aDZSazJsMlg0N3Q0Qkw0UXFnOGVZS1dXaGdZRVBFVTVSaXMyaHQ5ZjlraEllT3ZzcjZYNG9nWGlMUEM5MlZXaU95eDkzUGhUVWFYaEJMRXZUNFlJdWMyRlZMSjBsVGtzcmo4bjBrQzJhYUloUkQ2R0FxRDNIL2xnNHRMSFlYb0pKM2thMmVtaEhmRVplbEpxaE1ZSE1ycTJHcURTUUE0MGpEWCtDd3BydUluR1oraW5VSUI0M2I2Z3EzK3lEM2pvQUFBeFVTVVJCVk1uUG9SQjBqUEZoTUtYQkRNSm91YkFjVFJoS1JnaHk5bmpxMXRlQjdvaW5IalpPZGxNR3BQajQ1eFlmSlBXLzV6a1EzZmNzK3lITGkxelJYdVJ2V2RGaHlNWWhaNDdqd01aUFpnWCt0cVRpenBEMWNRZENFelY2bkRtMXZaL2lVUXhWbW9lZTNBeTFBRzRtanBGOXNMT2lIQ2YyZnFTWGlyZXpCT0lUNmhhb0NNVmxVQXMxek9sbEJxOHVjMkhsYmV6ZG0zRzUrSldIYkZoc3RDb2l1dHpoRlUvK0VnWitqQmMzYnZNcmpQNzdXSFc2SjlMNDk2NGptWWkrWGF2cHBoam01bWlxbVFJU2c5czFWU2syMFY3T2hFU1Z4S2xZZ3pCRlA1UmxIeEl3QkVId3h1dXZ3TURaZjd6K29XajIrczhOa1p4KzVmcEdwTEtmdnY1VGdqS01lOE0wQjZtdXNJT1ovaUc2aW5mTy9IQlgzOGZteXdnWEIvZngwZ1JVVFh0RmZHYS9HYjJGL1FwYzZSRVZidlRacmtqL2lQcC91UHdpYU9OUTFPYXJIc2NxVmZhRVpaUVI2cjVMR3gxbzBzaWg5cHNnTE9HWHg2VVlxaFFQT09ZN2doUklIMHVhSGt5S2pSMy9tMzFtS1A1ancweVBuVzRuVzFvS2NUUktlWE9vZ2w0UkdGTWNxTmRRdkxyTWhaVzNzZmYzRThMNXlSYTFZbk8rdHBpRkw2UC9KOEIrVm1sNmwrdDFWMjFrTkFicUF5Ry9wd0paOEYwVzdxK2pucnhOQTRuNXhFZzJENTEzYUJxYS9nYzk1aDVQRldzUWJPcDBneGQ3bzF3N0NJS2dCZk1XeDU5amg1U09iWFNIT3BRczVNSTVHMzRzOEcvR05YamsvZTFjbjJZbk5BYnltMjE4TzJYbS9XZmJmSFZvZTM1NGplZng0MTM4L3dmL084VEUyanZ5bDZpNE92NjFqeUtmRGppQUhhU0Q5bTdobEVkVXYrejU3ZXczUitoRFBXNmhQd2lqTmhNdUhzNjY2YUR1Z0NySkF4UnZDNHBJYkVqU0hreUtqWDBleHZpdDdLc2JqZStZc0xPZFZIczF0Q0dJbzFGM0ZDWHJVZU1UMlMwOEJoS3hMMWNoZDVjNXNmSTI5cFRyOVpSdFhTK0djcG5tR1ZUMURVT1lNOS9GZXBmU1pMNWY5dGF6a1JMNlJmWXZtNGlaSDJHbk9Na0R5cjNUZU9kVVhhZUJiRk1zeEh0Rmdpd3FwbDdyVVBUbzVOQWdqTE92TnFQR255bXZFd1JCYS9yVUU1Lzg1Qk5QRFRuMFQrSGY4ajUyNHlsRUpqcGJHWHNxOG5vVFFnQ3hoOURvTWZhRTFRZG84MHlmNFJHUmEwaTlpRUtXRzNoa2NQYUxFWGNrT3lSWkZQMHcvaG53a0xFUG01eXdqVU5aRDF1YWhrRFpWSmROYjdCN0cxUWRzMU11QXovUXdmeUV6UU4rS2pyY1VDVjVIQXR5Wm5QZGcwbXhzWXQzdk4vTitQR1pacnF0R3RvUXhER2VVMS8wOUVNb0dBblZjRS9MREY1ZDVzVEsxOWgxQ0syRjlKUXRFVWsveE5oQVJLcU5DWHVLNU1TUU0yQWYwNVRmQ1RXOUFUKzNvM09FY3JNUHFXdElmaXlTR3NpSklNbnpFR3J2aVh2aXA2UDlvY216VXk0Tnd0UU1Cc2MrSS9XMEhBUTJ2M1M2WmM5eXhPMW5Qakk4K3pHZWFyemp4dlJYdDJOVlpuOW0rUFQvRlRuZjAvOXNNM1lMRjkzNEtQelhIMk9mKzZkMm9iQ05RMGw5bGRRdXlTem8rcEhIcC8vS3RHUmREN2JRYXVHeVZtZ2t5NmZxZ2lySzRhRm52VmpqRWxGRVBndmNLVFFIK2R6eWQ3LzB1YS84cjBJaXhUY1RpTDlmTDBlL2FHWUcrdEVKV25EdzZqSW5Wb1hTV2ExZW9tREl5dk5LenJGcHJOeGJIcDkrZGNSejVuN21ETSszeW1QdGxhazFBa1hmOHBIaDlOTS9UVGZGK1czRHN3OVFocFpjQTZrN0I5RXJlUkJlZXFLOEF0Vk1ucDBhRkwzak1mYTBNRDFVMVZ5Q0lFanlqRjlmTmU0OGZxUEVGY2I5b2xxMHNvdkFhRWVXb3lBUk85QXlXa3p2UkkvMTlMcUlkTmk5VFRPT3F5NGRhMmVkUzhrTlZhenFGdkhRczE3OVhHcXNYT0tpMEJ6R3ROS1FxQlIyNllFNDR2RTdnaWdtcGNjaTRkVmxUcXdLcGJPa1dISEdXVmJoV0hKSXkycXgzQ29YS1NEUko3Snp4RGR2NURETUdXQnlQeXBrRktSQkpTRW9iQUFpa2J2RkJRTHVXc3U1V2JVQ053NGxpWTRkS0dWUkxaSFgwbE1EQkxHSG5FRGI3RHJsMFF1Q2lrOXAxUFJET3pRZkpzVWplK3lqOFhudGRPWjdJRTdkZ2pVbE5jWnFjU0s2bDlGbFRxeDhqWDFjZXVyV05hdXd6bzd3SzZBbEp5Q3BBMUJkMytPa0ZzeWlVRGJsSUEzU1hNSWd5T1pNdWZCSGxLeDZSdnZVUWtBbUpYQVNob1hWVGhVQStPemREcHdyWjVuTUNqTlBOQ3lZUmwvalJYdmFXZWRXRElLS3IyekpaeXhCK3FhaTZjR2syTmg3dTdtdEM3amhnVGdVVExKYW9yRFlxOHVjV1BrYSswbnBBV2pzQmpLZ3EzalJGSkRvbkQxRm8yY0hoQ3V1QVNOSWcwcEM0QkR1Z0dKcVJ6bjNiU3hYRk1XWnVMMGppT2pKajhmZXJiVTU3bTZBYjRrMkdTSWlhem5IRzhoVjFhOFdVRmhqUndWM1U3ZE9hSzFod01lYTkvSDdIa3lpazZLSlVPeWo4U21PM2hsdXhLRnB4NExjQ28vN0ZvOTQ2S044VjBHWHViRXFsTTVxUHpaM1N4N0xoZU5OR2FJcElMRUV2eXNKd1cyU0kwZkdwbU45RG1IU2them44MXNPQWhkbFp4dGRCUFI5ZTV0ZFo1ckVtR0lJUFl2MTJMdGRxbkZKUVRkRlBCSWtydWlCQ1RuQUw1SkM2NUpXWXM2RnBWVVd5YmJTT2lqRU1SNFc0RGM5bUVTdGdnQ1d2aGpFYVZVNTNJaERuM2NFaHpGM1dWZnY0SmtLOGwxWWhaWGhXMW9hTjFaRjB0a1NZUWVwNU9GMk9LR0VVMEJpTm4wc2llamhTMXoyWE1zRlFScFVEZ0tYY0xIWEpsMkZDKzlqRWVkYVFZR2dqVU9pTTdZM01pbXo2bmxkUjE5cW54VDROVUZVUGsrWlIvM3huYnc3V2ZsYnlrdkJRemVqV1c3Q1hreXUvRVlXTVprWC8yaDhmam5YSFRmaWFPcTJvQ0tXV2JZTytWSVViYlRtZDVrYnF5THByRmJQMmdPbWxlK1Q3QWtrZlVwNmxra0RxZFY4M2Q1ZWFkZ1gyYlJETktnY0JObDhUYTVISTAzaGpOVDNuNUdGOXhnYlpSU2dyRkliaDkyNnNlT3RXYVU1TzYwZXdDSjVmajF6WWs2Slc0Y2NBUEc0RmRadXVLVlVacEwrbExyZ0ZQempnVGlON0VNK0JlNEFZSjh1cXcycmhRb2UzdTF4QXZzckRlU0U1dXptclFmUVhIUk4yUVA1bG9MQXlhTWFSbmppVHZsOGJFa1VoY0dsTmc0YmZNNVkrekZISzRRZDlWYWpYSWVhSzVvdmh6WmlTWFhMaEs4S1hPRnJHWldaME9mQlFwdVNLdTlHdkNkak5Pd2ozOFFUanlQc1U3dTdyRDZzcmhSR2lDbHhZaGwxMnh4Z2svcHRnR3lwdWZjQ202Sm42QmpYdkE5UUJnSnFTLzU1cFZJcnNRM0pZMVFjamlrNzRoS01FamhDOW00WEM1ZjhCTGt5UHhNWnBhNnhzdzFSWFQ3NnRVbGZNU3BETWxsblJrWjFlSmNKTG1Sckg3Y3JNNG4vYi9Za3c0QnJOK0tiY213OVlORHJXZUZ2M1YxV0gxYnJWY0s1UWMzRFF4cklWVFZETzRtOWQ5Z3RER3NEMEZGRnkwRGc1akpYYVEyc280MGRLV2s2MlN4TGJSeHUwbHBJTnMyeXVjL0xFYjFINGVJc3Q4alo0WEZaZWxuMU90eWh6UFEvemtmMkNaS1lzMWRrVXM4Mk8xcmlSbnhCNk1SRHB5Mk03UEtmZjdtN3JENnN0cXJzQnJmVWNrTVdKcVh5VWtBMkJtSkV4K3RmRnIwWnZZSnBaVlpKbG9IQWcxOFA2bGo2bUZBWWorWER3cEVSVTlaZHdTVms3N2F2b29iU3pjdXUyT2hQZDZMbzNleTM2VFlQYkR1MEJFV1oxYzdMK0VaeG8zTVhyK2h1cTNlQnF6S3BiMG5CamZqQnRCazl3L2FYZ2FsOE05VGRaZlZoMWJHdEtCU0ZwUXFyZTVtODBrQSt4N0NNdWpDY0hsdmxyNFJ0MWxnMTg1SWxJTWdqWmVXdjBJS0RsZWVkRkpFZUwzM0NvQjhGQjR6OVdOd08yTHRkVTNQcUFyTGxidUUxL2o4WXNOL1VsZkVDeFN0VFB2eldlSFRZWi91Z2lRR2cveWxCdGlxVG1yYlowUlkzNGd2czdGSCtCZFVlZStsMEpGcnY2cklhc1RxbzVIWUgrdTFHMGU3cVB5a2dzZjM0OUVmWTlKcE4rc1NldjlzM1NxZkRJZkJoTlZObEhSRWJhaVBPNUVYRy9yQ1FXWm1OdzNIZElabHU0WmRmWmwrZ1Z3NTQ1cmNOdnJDamI5YVRhUHo5NFdjNXpiY05QNk1JVm1OUzF6WTdHdU9CK0RPUDgvY1lvN21QbnUycTFqdTZyRWFzeW0rejg2WnVWcG54SzFsanB6U1FqVDhiblAxKzB5NmsvaE91blZVNUhReUJGOGYyMmNpclhGYWhLK3kzdmc4dkFmd0k0NkZOMFZGbTQzQlN5Y1VYdGVZMWVFOStwYitlaGxkQlBLY0ZOV0xGam5KNGVHWFBwNyt3N1ZXdlVxSFZDaHNJbFJnSFYxNm9NdC9vNHYxM3ZJWEwvb1dMTFdNN29vai8zdTFTbGZtRnF6bXZ1ZnZ6OSt0cmNpWEVNNXRSSTFhekZRMm5jejRMUFpsaVUyYXY3cmtERWE3LzNLMnlYZkZETDkxZ1QzN2w3emhiRmI1eFdHbWh4dG1lYitvQ2xSRFA2cmthc2FMdlIyV3g4Y2xickxTWDdNTWhWYWJLWTBBcFl1ZWNzY2gyejVrRHlBZHZITTVmUEdqbjN3c1BDSWU2RWE4VnE1K3UyRW5kd29lN0toTFByTjZ1TWxwbVVqekh6RTZOSVdKZU00TTNEcmRlTzZGUm5zd1BibjdOaUQ5UVdDMm9mWjhMNi8zWjE5UjhjNzd1RmN5c2ZnN2NPR3hVbkxwbE5lSDFQT3FCZWhGL3dMQnE2dy9nazdqbmV4Ni90aGFTMzdoeHZ0M0JxUWR1SERaKy92eWI5RTNNb1ZiRUh6Q3NadlFYNUM0RzRHY3Z3SG91UnBMNnVKelB4bUY5N1h1ZDB1czk4SnJzZ2Y4UE5GNXBvR3BNcU1VQUFBQUFTVVZPUks1Q1lJST0iCn0K"/>
    </extobj>
    <extobj name="334E55B0-647D-440b-865C-3EC943EB4CBC-118">
      <extobjdata type="334E55B0-647D-440b-865C-3EC943EB4CBC" data="ewoJIkltZ1NldHRpbmdKc29uIiA6ICJ7XCJkcGlcIjpcIjYwMFwiLFwiZm9ybWF0XCI6XCJQTkdcIixcInRyYW5zcGFyZW50XCI6dHJ1ZSxcImF1dG9cIjpmYWxzZX0iLAoJIkxhdGV4IiA6ICJYRnNnWEd4dUtGeHZkbVZ5YkdsdVpYdDNZV2RsZlY5N1pHOTBmU2s5WEdSbGJIUmhYM3R2ZEgwclhHUmxiSFJoWDN0a2RIMHJYR0psZEdGY2JHNG9YSEJwWDN0a2IzUjlLU3RjWlhCemFXeHZibDk3Wkc5MGZTQmNYUT09IiwKCSJMYXRleEltZ0Jhc2U2NCIgOiAiaVZCT1J3MEtHZ29BQUFBTlNVaEVVZ0FBQmRvQUFBQlVCQU1BQUFCbjNwZ0NBQUFBTUZCTVZFWC8vLzhBQUFBQUFBQUFBQUFBQUFBQUFBQUFBQUFBQUFBQUFBQUFBQUFBQUFBQUFBQUFBQUFBQUFBQUFBQUFBQUF2M2FCN0FBQUFEM1JTVGxNQUlqSkVWSGFKbWF2TjNlOFF1MlkrZ1ptTEFBQUFDWEJJV1hNQUFBN0VBQUFPeEFHVkt3NGJBQUFnQUVsRVFWUjRBZTFkZTR4a1dWbS8vWnJ1NmFsK3hNUWxzQ0ZkQ1ZGSkVMb05pU0FJMWY0aGJrRFNiVXlJQnBKcW54Q0lxVUZEUm9pa0dzR1lCVWszd1NpN0M2bEdJKzdPZ0RVOGRYZFpxc1NzN3U3TWJJMm93TzRpMVpvWWpZL1VnQ3M3MDdXeng5OTVuM01mNTV6NzZPNlpaZThmZGM4OTk1enZPOS8zL2M1M3Z2UGRXMVZSbE90NC9WcXU1a2ZSZU9JclI4SGwrNVpIcFJhL3VXdzFPMTYrOGN6ZXZYempqZWxaTTZLS0xYNVQyV3JudXplZ0dSKzUxcjhCUi9Vc0dWTEZGcitaYkxWQWJyeEFKb29tZXArdUVscTFYemhISHZqVmVwVWtFN1NPZ2tlQ2FaR0txaTFlc2ExeWl6VHhvcDkrNiszbnRvUDZkWjRKYW5iVWpWWVAraFd5YkJGMmZMdEttdkhoSFFVUHpyTjIyemx5OEFHTC83RmF2RnBiV1hLRlhEU1liYmREbXM2UnJaQm1SOTVtbXV4V3gvTWsrY3dUVENXZnJZNW1uTkpSOE9BOGEyMHlQa2VJdFpFL1ZvdFhhcXU0WHYzWE9XUnZYZmVUTzVZV3JhdlZzZDM1U0JTOW1NTDlFTmV4bytEQk5USWl2eHhGVTBPeWJTam9lQzFlcGEwTW9RS0x0NXpwd0xTbU5ySTZUcEduczI0ZGMvMDgyYXhxQkpNSGxOS3JvSkwvcllwa2dzNVI4T0JNTDQzZlFndlQ1Sm94aU9PMWVJVzJNbVFLTDlaMnd0QitnZXlIRXozU2xoT2tzbHpSSEhmcC8wV3FqSTVpeWpnS0hvemxSUGZqblBVR09XMk80VGd0WHFHdFRKSEN5NE13dEhkTUJ4Rk8vU2hhTnBsSHJvTFRLVDV2YW0vL3l5cW9wZE00Q2g2TTg2MHl3bHVJdVlQanRIaDF0a3JYcnEvMlZCRGFGOGwzZklTTzdmNnB5dmJQUzRjWHdDanRIQVVQeXF6V2t4NTltdGhicnVPMGVIVzJVZ3JOVlpnUFF2dkFYZzF6Y1Rqc3hvc3gzMVdjMytCN3hmdUc5andLSG5Rc0N3cmlOVUw2NXVpTzArTFYyY3FVS0x4OE1nanRPN2JDd3NrZlJjdHVWVkhXMHZqd2gzc1VQS2dVelQwbEN5SHJxb3pDc1ZxOE1sdVpFb1dYZzJTZkpFOXhpa3ZJVnh6ZUVUNXFxK1dHYlUzclhxNkw4aW1EZjEvMk1TelBJMXA4cDQ5SkZFMFNQUkppaDNyNUxPNW5sYXVGMzFZaDB1VmlhVFlPa24xQjVoOXZTTFRQay9PbVJNWExDK1RMeFR2VG5wUGtzbzlBYVI1UnRLcUNsR3htOC8rbjdpR1MyVllYS09TenVObXpnckxmVmlIU0ZSNUlrT3lyTW15L0lkRStRN1JwQyt1QmRqeEJTZ2J1MDJUUE40RFNQS0pvSXlBSjFkeFZBNWtnMG5xOEtwL0ZGWmxxQ241YmhVaFhlQ3hCc2c5Sm5UTzRJZEZlSXhYRjI4Q0ZYditMYUhUUnY4cVU1aEZGSTcrNHRaNHdHS1NZTGhMSktJc1hVWU9qajk5V0FkSTU2SHR1aGFDOVJnSzhpWWZQWWQ3ZXFTcHc3L3A5czFPT0FMUkhaWGtFb2YyRUVlek1GdGlsSHA3RnZiWTZkclRQbEYzaG5SQXBmN05SMWJQUFZrbEJROUJlbGtjUTJnZkc4MldzeDVhS1EvemI0Vm5jYTZ0alIvdjhEZnhzaVJweXFhcnhEVWk1bC9oRDBGNldSeERhVzhadWVVVGtVMVVPK2hDMEg1N0Z2Ylk2ZHJTdlZ1VTdMUjlUM2NWQ1NaZXNSb0pGdjFSV0pnVHRaWGtFb2IyM3BtU0tPakZmRUlMMnc3TzQxMWJIanZhMm5iRFZpcnhCU290VjdTdXdoU3oxcENvRTdXVjVoS0I5eXRqSFRzVlNNa0VaeU1PenVOZFd4NDcya3V2N29jOEpBS2hlRFpPZE9EVHlrUTFCZTFTU1J3amE1NHhNNm9XNEt3ang3WWRuY2ErdGpodnQ4QTc1akg3a3JidFZ2ZU8rUXNpVEpVWWZoUGFTUEVMUXZtUzh3emVNQlRJaHZ2MHdMZTZ6MVhHai9VUzU1YjBFZWtLNzd2aWZZWWFSV2lCazNBOXJtdFlxQ08wbGVZU2dmV05Qalc0bTRhWURmUHRoV3R4bnE2TkIrdys4OWszdnZmTUwwTkwwZTNyM2ZiMnUxRVVmTlJzTEkrb1hueGovcm5HYkYxOTZiOTJzdSszY3RmZWIxNko4eTEzamYwcFUvK0R0dmZ0K0sxR2JwMkpFcnVScG50MFdUMkxLN01pRDBGNlNSd2phMjZlVmlFM3lPVlhtQllYMmNJdkhLSlM2OU5ucVNOQk9iY0NXOFprZXVaK1FnM1V0MHBLOXVrOTJ4ajM5TEZwODFSRGRqZFd6OW1ZeTdwSnZSZEhmOURVWmxGNURRQnN6YXFxdXEydHZCemRDL2xUWDVDK3RWdlRTNzZNZDZLREVhd2doYUMvTEl3VHRYYVJrcGg4bjQzdCs1U0Z5YlRtbVQ0bjJjSXRIMFMxM1VYUVlSM0Z6K1d3Vmd2YXB0OTFKeUwweHVVSXU0N0pQZEw1VWo2YTdabzYyWVdPcDhkVHlvbnduTXNKQ3VVL1pJSXRzWkhXYjVLbmw2RlVIL1ZuN0M1N1BwNVBvYjhuK1JFOC82c01YNDYvL1N6VFI1R1JDUnB6U1pxbWFyMDMvSFNGRFdMU2Z3aUdzS2dEdHBYa0VvTDFHUmVpUSszc1VucHZ4b2VlM2VQUVFKV1FkUnRJblR0OXo3Yk5WQU5yZnlJY0NJZk1lVXZhSnQ5NE9HazlHdHo1RmlhQldMNFl0SzA2WXBJL3BWUkprU2FoekE1MFY2MHZrb0k2TDRlNklhRmdqQXVJdmJLdytpVy9QMFB2c2FKRnJkUlJxWGVQcEg3K1Q0M1BlbkdvNSt0bE5NWFBmTWdjNXR1M3FIRmQrdEpmbkVZRDJhYVJSSjhqN0x2NzFmNmF0VkxrdGpwK29nbFppUnc2dDJFMTl0dktqL2ZVWXlpZk9uUGw1bTI3UWxaUWRqWjhQdE5kNjY3UWIzaExWNkJ0YWI0OWNvRW1McnR3V3JncmdVclQzYVU4Y1V6MGUrODQvMDdYUVB1U2VmbXFNeG5YV01vb2VsczVuRlJZcWZNeFY4VjdZUkpmOEFVQmloV1E1UitSRmV3VThBdEErUy9kWlBVaEM0OG4xdUF5NUxSNDFLQ243c0hkeWNSYXVhNSt0dkdqSGIwSThWWGR4Y053elpKOEUyaytLcjJidUdGbmFub1EySTdORG5YNVB2dXpYRkM3OUVTaWpMdGcwUkE0SGVTd3pDRVl1WXAyMUdLSmVOTVhFRUJtL3VUS3ZIK0w1cENCWTR2UnE4Z3g2dDBsc1Q1NkhvaGZ0RmZBSVFQczhOZUwwYi8vek45OVZ2OENFc21USWJYSGdndHgzengzZGEzZmdJUGZTejQrdFd5VHpYUGhzNVVQN0NSaW9uNGVoMmRhUUhmSEpreHNpekdzWUw3K2FVUTIrc0FCV2NQMVBjeUpEZ1d5NjJOVjVGWlFqZnB1eGEvMHd5MUFxSHJTbEkwZHhuZmVha1FWK21lOFQ4Y0Z5b2tmdFJTL1BPcEtOV1p5MUJob3JjSWdKVXFFVlByUWpsaXZOSXdEdEEyRWNEQnRyVlZ6WXZCYVBMdENkRmRqdVVqVjA5dWxuaVNQVlZnWTlEOXBySFRLbU9peDIyTEkvYzUrZ01wQVJCbFBZcHFhOVFOY3dlTzBydkFxckNpK3Nxa2dHSlRHY3BtcUdObkR0bDNuVGVlVStNVEhra2poZEJ1MUlMd2lXbkFQN3ZFQXlqN1MweXdhZmpCaG1DaTJEckt2b1Ezc1ZQQUxRdnJHckI5bE1aRlR6V2p6cUhERGxEcmNvVmVuVE5JZWNwVlJiR1RROGFFY1E4Vm1qZGM2aUtYdVBISWk0QXE4VnFtMHFvTDJ2aWE3U1JDTldvL09zQ25BVlBiREFpRVk2bndQY2E3MEQrc3U4QlhxTGVPbFczV0NtT01ib04rVE1JWXB4TkRMQmJ1MG1SR3RJdVUyTElLVWtGN2ZDVHg2MFY4SWpBTzN0TFQza1UzSkZWVlY1TFQ0anZCUXowS1Mwc2lLWHQ1QnFLNE9JQiswZEZVTVlmWUtMdHV4cVA0cTB5V1ZCUXl5LzRxcE5xekVYdHRrMWxpV3hhcW92cFFETFh4WnRCendKdzY0Z3BQU29hSEdGdCtqcG9TK1VVU1BXNnkzQlU1L21RRDNqU01rV3I4aU5DbnJ0YWlMNVNoNjBaL09ZL0xlM1BYYTJIc2pNZ3dma0VOWTBwVmtWTmNxNnZCWmZ1YzU2VGpFRExhYUZlUzk3MDRmdi9CTkozbmRPdFpYUnlTMGRsbDY2dTBvZVlScU15YjRsNkNEYWtEYUgxNjVyNml6ZzJKRGhOcGp2aVh0RHJoUzZnZDhTVlNncXZZT2dtQmMwdmNscGcvSlYwVFJhVVNWWmsrY3NaMStlUG5iYmpreEN0ZFZjdEJ1RVhIblFuczFqaGVDb2g3QkFHemNlNks3S0lBUmZGYU9iMStMRFBVWnVsdTIxNW9TVkRRNHNqeVcxWjlabmxEMjJja3ZYbE5pSkV3L1RZRXgyaVU2QWMwOFFoQ3RlVnJUNVNyWWp3eFk0K2RQaVhrdEU0RDNkdkNXYm9RbUd1UzFhb3RNV0syS0U2Z0ZzUjJjOFJiTThweXdkQk5QQUlyWE5HMjhjR3RvZFBDNmRJNGF1UEtOMjR3SFpHSmtEb0hTd3Brb0xDYkk1TFQ0bHJIK0syWGRlN3JPTU1kWWVoODJ2R0JYdW9zZFdUdW1RSG9sUFhzRXNUSU14MmZ1aXM0RjJQSENSdGZoYVB0dVVLcCs4S3AwOFBBNFA0R0ZTTmYwN3hpb0toYXdKMmcxWkhHckJMOFZ0SXRvR25qU2h3QTd4Wml0cWptSXV5a1VvM3NoNzdmYnRUaDREclRZZkd5Y2UwSm1sMnlVUkJBNTdzc3pQT1MwK0p6Wm1xMnl2dGZTTVRZeGZBWVNYMCtwVDZ6eTJja29ITEpwVDJhSWZvc0dZN0xKL0Z0cW4vaDR0c0swVzI4eW1uZ2tOamhFRS9IS25pNHltOGdTWUJBZVNka3U0TWJvaDNPU1ZVejAxUldTclhPZUVTWFAxUnVPaGlxa2dnRnB3RWxScWlScXJ3bzEySjQrQjJ0WkVIaWJlU0lhbDIrVzRBTVNZMjgxcDhkb3lKOVZpWkJyS3VKSUJQWU9KTUtSWnk4c0phVHkyY3FJZDNqVjFBSlNWb2NIRUtQcWl4cFpkN1VFTXRDTTJsNDFGSDh5dzg3dzQxQmdlOGFxUjFpNVNFR0pTUkJFd0pGS1Y5QTBPUGovcFUzcE8rY0d1aUcwRWc5d245YlFyZDAvZUFSNVFSbEpRU0tadm4wbFpnYjVxSlBWZlFUNXZYUDJZUFJnM2p3MmxxelFtMXJPRDl0aGc4dkpsbXd1dUJsZk1xb1E0UlN3T2dyMWRTcldwTEdyeWNHUVZrOUlrYlJVdVhWdWp5K1RQeWxxRGlWdE5pVDFiZHVWL2dYYU9YdmJPVEt3N0Z2dlR2TXJBY0d1YlZYWDFRb1ZOcU5MN2hvRjg2ZkpCQnJDdmZmVzE3eUhrYXpFV09TK1RHc3hIQUJOdlQvVEE1RmFqamhOWlRVNkVXZzl6TnVQWXRQcTdlZWlYa1ZLWTRBRlA1aUV6WFpxWG1XNm5XOGpZVWxYRTR2UVJ5eGJsa1A0M2U3QzBabStYa3RJa2JSVXVYWStRTC8wNk8zNnRiL09KSXEzQitCMEVFYUoxRWRrQjNUcWpDTyt0RnBiaFBxMHlvaE9kZTBIOWpzYVFjdmtOWmNIclAwZjdsamk2MlFnTm9qclFTN0hPanlaN3RwTnNJRTNtY2RtaTRPYlJVVG13RkNZMDBaVjFKRVBBOXBiQkZ3YUpMVlZGTEU0ZnNheFJxdDNZMU9HY1RvclYydUFyaTBscGtyWUtsczVVdHUxS3dFNXJVUEtXWjVoVUZJdklybDZpd1p4V3F1UmJkOFRuS29PelJMZy9vSnhRTFcydlhINGJzZnpaczUvNC9YZjlsQnlXY2M2Vnc0MlMvc0lnRlZBYzZWRkROZWV6ZXZTVUVMckZoeUJhK25IQThLRmF1bmxvWGFVeG1ldWxzMEJ0OHRtQm1XNDNIbnZMZ1JTeE9IM0VRdnZYdEwwbE9YcGUwaHMwczVxV2s5SWtiUlVzSFd3amozdVg0NXkwQnVOM1Rxa01nRi8yWk53dVF4SHF2U1V5K1A4SjBSb1YremRrN29XOWFxQ2VkcUxKTGh0UFIvdjcrUGp5NW5CN0toQkpVQXFxVVBNM2loQndYTTdvZzZoZ00rTVdyM2J1VXAwODRMWFdPQTB2RTk4dTFVcTMwOWVzejl0akxtSngvUGdrMjJ0TkpSYzNTcnloTmgwMnEvaHJKK3l1eDFhdVhhcUpyamducmNING5XaEZaUUQ4c3NQOGZZc0E5aVJpU3dmdnZTMXV6ZkNOd0VBbEoya2dKUmNRL0o2b0RIN1lnOWd0MXFrbllTOUltS2VjT1Z5UEJrM0txZVdlM2tORElWdXBiZGlMWS9XTVc3emFpWFluRHloSVVFNCtEb3F6ZE9FQmJhMTBPNTI4dXphQkFoWUhnU0ZMcjgya296MDdaRTZSeG1NcmwzVEFXekp3RTlKcERkcmk0bW9rOFVxZDhiYTgzU05wdTlRRTJsRWgzQVc4OTc3b3ZNQTM2NmhSR1ZtWmUwRUx1Z1JKTG1qQzNSanFUc3ZLNUxuS0hHNlN1bDBEZjZyMkg4Z2U4ZUhaVGVpVjc5VnNPRktobUdSZnVsbzVlT2pJMTh2RTU5dXRkSHVFZE1PMlBab0NGcWNoRExQdmJEcmFzMFBtRkdrUzA4OGVuZ2Z0S3FkdDk2TEpGTGI2eEt2cDlZNHlpMTkySUhYWm9xRTlPcnkzdkNYU1hpUGw5MmtTVmcwTjBaQWFDenIxS1QzY1YzUEZvczh2Y3Vad0w2ZVFDSzdDS3FoMlg0UDRVcWFwbkZKSmVWMW5sVnhvZC9QUWthK1hpUS90VnJxZGZvVnkzUnBqZ0g5TFdKeisyUGNWU21VaEhlM1p5MkdLTk5tUklodW5DKzBRUnZsU1d5alAzbUZidFBhakhVdkVta1Y2VlNsd3FJUDBFWWRiVThmaU1LOUt6c0xES09STGx3OW5KMUk3Rm5WNWtTZUhpNW14TGZ2cGMvajc3Vmh2bVRGcDM0WmU0RFFwWGxySjFqVnY0RUs3bTRlT2ZMMU1mR2czM203SHFFWjZVUlhpRkxBNGZWNnlTN3ZQcCs1U25TRnpISjdwdGhKanc4bURkclUrNmg2OHBEVVl2d09nN1lzNnYreUEzYnBGQUlqdTg0cWVkblpEM3FhdDF5bk1FZ1VoaEFkcW1CTDRGTzBXWGZ2Q0VZY2xjcmdndFdYM3hsVjRGcGQrbDN4UDltK3BMWTJzVWVlUlhnRlVuVlZ3b2QzTm82Vmc1R1hpeEFPR3MzSGVIRk5IbTBoVUY3QTRuVFJidFB1U2lvQUZNWGFDcWZybXRWRk9TcE5xSzdQSDJMaUlGWmQwNUJDN1EzZUpUeWZxZUFYOHpMSzQ1WmNkR2R0OWk4Nk85T2lZcG5MbXlrVEFqbzdGUVpuNmcxZjI4UUcweTJlVnl1V2p0ME13Vnh6VzF0T0lEd3cwOTNuSitHeGdObVVjOGEwT2tIaFo5aHlhV252MDl0NjkrUHQwY2VqNFQ5YkV6aDYwcC9LWStJM3UzV3RSUjAwM0x4TWYydHQ3eHFpQUxiWEFpdW9DRnFmSjdEWGFmU2xPN1piSEQ5NFBVNm45WGhUNVZKWnFLMlBFTHQ4T0dLbUlVM2VKYXhCQjhuL2NOZjZqdW14aDdCMzhzZ09WVzdJak8zZmt4aGdEbHhoZXZNcWJ0SFdTYnNDQjM2bmpEaUlaT1V3NEFqRUprVzdublZJL2RTU2J1SjNJNGFaR1BjRlpYSlpzMlpaYzlPSVVSUzhsNDA5MCtYUGVWOHVKNHhxekMrM3dNR2s4Sm9ma1k1MnJlQjV4R2dNSVl1SkRlM2RQaW9JenRMMXJYTkppQVl2VGg0YU1TdnhkbEplU2E3ZVQ3U1dkMGZLckxOVld4aEJkYU1mUUpZeDBEMHVEckJvMTl6NU9ydGR4TWRXVGR0dWp0L3l5QzB2UXh2em95UmdjQTVmTTVkYW9wYjNzQm91QXVOTTNIc2NEK0VML1hhSjJycEswY1hiR1ladEdReFRobTVmdG1ueFhFR1JiOUVCeFhYWitpRnl0UnhORHRtNDBwZGFLb2oyRFI0dThFeXorZ1hNTll1SkJlMDBsSUtnWWNEbDFLWTQ0RjdBNHNsRjhPUndRNGRVNHJSUDBkNE5lZUwyaHcxUy95bnkyY3FFZGMxZTZWeTJVcFVGYWpmKzJ4Mi9adlpERkhlQW1qajE2SzBEMnJvUW5iWTlEZlF2SjJIZzF6dk43c05jYUwwVnRGczFOTXpWaG1GZEU5YXBhS3RxV2I1LzRxR2dnVG5seXVFZ2kySjF6WG1HOTN4WmRGdlNncHNtWXluS0MyL0xpeFFjSitkR0xGMTJrWGI0OW5jZkRqUGhKL0ZoYW54SU9ZZUpCKzdUU05DWFlOdHd1dmNaUndPTHEvY0lWeTBIVk9zd3pkTHB5dGNiYnNWNlYrV3psUWp1Q2lYaGNodDlvb1R0Q3BVR1VOOGpucVp3dE5yamF4WXROOHQyTEYvdTBLa1Qyb2VVdDZJL0ppR2dkN2twaWVMalBxRVhBY3AyWDhNeVl1c0U1OXRZU2hxbGFxdmt3c2pENlNPejFwazVzamdtcWxHUWkzamNncXB2bEtmVVVzNEgyVTAzeWNVYWpLeGFPSk44NEN4ZmFvWTlkMFY3enFIV1pjOEJNa0V1R240a0g3Yk9tKzBNRTh1bjRJQVBRSHJjNGtNTjk2c0EyR2NmZUNpRjdna21BeW55MmNxRWRPb3loQkQrN0ZkZmdETG5XcDhOUi95OWk3SVFDWkcrcXFjdGw2a2lXMm1OUHl2M21rZ29FTUlmcHFuZUt4em9xNXNGNklEZndVRjJmVThSbnpRbzNVYUdXQU5WRUZwSTUzRk5KRHlZYmg1MzF2cmV0TUhtQ2pQdXM5MGhzWVpOODQ4U2RhRS9qTVMrQ3doMGxnSitKQiszejBqcDBjQmZJZURrK3lBSVdCOHJPTXpJdzJacW1KOTdUeHRQRzA3d3lSR1UrV3puUjNoSVJsUjVEVW9NdDhiM29SZG0ycHhidUVOOGUvNTFLdFRwQ2RySGhQQ204UFgxUXZjK0hNdUlCVDRPcnFTVmQ1b1oyWTVnUFduVVB4OHlDMVVEZjFNTFJVaklqcloybDNUTDRha1U2Ukd6SjY2S1hTcDZ0aU4zSmlvbWpWTkpPdEtmeDJCRmVjU1RWQStIaTNpdkJ5WW1IYVBBOXVVeFFGeUxsTW9nRW9EMXVjYlhEWGxMQUJzRTVzU0RoN2pxbkg2SXluNjJjMGdGeGZjNUtmaVkwaU5Fc3M1dFlNRmtCNTAzWkdrbWRYVmsyVW9Lb1BpK3I0NzlUMlpETGJrdHRHa1o3b2pHV3ptMVdSSlREQXA2ZExYWXB0emUwV3I1YWIwU3kwV1QzczZ5ZCtzQzYwVmNYZGtIcFZGV3ZxdDJ5cXNwWG1KT0RtcFZSR2sxRENDVkorVWNwMExIWk9OR2V3Z09XcVRNS2V2bjBNL0g0OW8xUFMreEYwUXZTWEVZQml5T3pzTTdHaVlLQ2hYcjlCRHZCUHJzYnBES2ZyWnhvQnl0aEZNYlFlSFZKYVhCVnVRdmhlSldTMFFXemRVLzBoRjlUbXoxVUM3ZE5IeGRiRzNHYVRseW1YU1pKV3l6RWs4b2hSaDBSb0RlZWFWTi9WUk1URFN6N3RNL29xdkdjU1kwUTlUeldvazJpL0RuY2tXRURSaUx2UjYwbnhybWhWcjE1dFR0WUV2SWI4VjhHZlNmYVUzZ015RFZPU1hvbzg1Mk9EQjdRbFF3YlUxdTBUN2UrTEc3QXRYd3kyYWFBeFJzU3o4aXRxYVFJNExMTHFFc2ZEMkRJa1RsVTVyT1ZXN29kNWRlbUdBYVRHdXdxTEFqSGErNkVtaHA5Y0tkcTVxQmF1bUFrSmFRUVhIVUlNazdUMG9YdlFidytMZDBxQXhrYVpyQ0hwb3RrYzVXNlNmVTN0Znd2R1I0aXJ6T20wVWsxalg1Q1JuNGdWaUNIdTZNd1NrZFQ1R2h3eTAxSStBRlR5a2NzaVFBd2tlWlBNSEtpUFVyeVVQRmRUd25nWitKQmUzZDlYbmdPWk9Kc044WEhXOERpUTZrV1FNU0FoWEQ0YXFzUnBES2ZyZHhvbjVjam1lZ3dEQ1kwQ0xlNktld2lIaG1xdDl1ZmQrWUpJSno4MVpuZmlTYlB2TGVINHZnYlo1WWpVZjNBbWQ5ay9ZQnVObytVY1ZzTUNCT2RYY1FpbDFFNzNkdFM5NUNENnVOaTV4bStKTENmRnFNM1o4bjFldlFqNUpPSUd2Zm9OVDFxSGJMRkNtOGsrc2QzaXVSd2UzS3p3S2dWK2NDV3BvOStiMUNvdzhic2FVRklwTjNNK0MrRGhSdnRDUjd3amxjWUpaRGU1eVFEbUxqUmp0OXVuK2d4YlU2MHliVzErRUFMV1J5REV1NE1VRkM3Z29HTUJOUStLa2hsUGx1NTBSNE55VWVvVEJOdEJyT2tCaEduOWJuUUdQVXVMYW1kVUFQNFpzZDM2TzhJaUdNTlRrZ2M0dDBXSWlZeHA4SWU1bnd0cXRIZzR5VlVvWk5EYzJPMWdXL1RUTHpqWUkzbGhxWjdtN0xURytqUEsvOEZqWnhPeXlwTUNHcVBIL29RNnVXQkdiQ09jcTRjTHVMRnZ1eGY5UHhxOHNWKzlEenR1YUFQcGl2UTJ5RFhLVlY0alRvOU93NDMydkdvMU9ZQmlwY1pOUlNXT2RrQUptNjBUd09OTHlEZlhxNjliRWdPMWhOalZhYk5ZM0VNNm9xZ1pMeGdQdUpxb2FzZ3o3c0ZxY3hyS3cvYXNickFCejg2NUg0eXFjRU42Zndwb3BsMjFVNm9NYjcvN0IxM25MMi9SMlcvSDc5YWZPZTUrNUVLVWRVQzdZbkY1NFZZQkhvVXRiVTJJV2ZKdGJxaDFZa08vV09aVGRSY1FpTmpIdHpXUGZoQVJHZlN1bTc5ZXZ4V2NvK1E5K3VhUndya2NKRmgxUVNLbGxwa2ZJNWNYNWJkRWFGU0dlalI0bk5nVnZveVhwdjI2VUU3S01WNTdETXlPclFNWU9KR08zdTcvYzJFSHArcUo4ZW9USnZINHZEb1VoZHQvWGhuS0IyKzNNOEVxY3hyS3cvYTZmK0VISFRKd1M4eDJjQnlueFdVQm9jcUFNVzhPRTN2dGRWVVpTMjlIdzBWK011bUQzNndkOERlbHFyOXpMbnhuNi9KYW5hZWZIZnZnZjltcFZkMDdxNWJ0M0RSc3Yzd0Q5OUo3dms5czFHUkhPNkMxSHVjV2E3cjIrNGEvN0VleVpKeXQxZzgyWnlkbDc0c202b1A3VkVHRHhYNVlxUEgxcEZzRnJqanhBTi9oZVBISDd2bkcvL3FKT0srR2JQNE8vNU1OcjlFRjJOK3FFY29jdE1ScERLdnJaelNVYzdUNys2T3YxN25ZMUFzbFFiVnFCQTQ4RG1xL2xtRGQvRitudElUMnR2VzF3Q2UzOVZFN3UreFJLM3pkbktkUlB6RkYwd1ZoeWs2QXhWaXE2clNoUlh0eVlVQ0I4cHJaQkwzb3QzdXVTcDVxTWhYUGFLM0c5cFhUanpZYjdmYkhjT3ZBaXlPa09RS0k0ajRlSjhWZ2xUbXRaVlR1cmdFQ1ExaU1IeFVMTnU0alBZSTdUZmozWnpYSjhoVjUvMDhONDFOZlZvM0dXVGx5dUUyamExQUd0RWlkUTBWSFdFZDM2VVVOblR5TFl0Z1RyUXJIbXBHaHpCeCszYnJ4MlN5eHVtdEQ3QzRWQXZkejFCVTBTQlZCcFR5WG9yS3ZMYktoWGJGVW1wUWN0YkRRZmhlcDZNTFBqQTlndHQ2R21JMFlqT1EyaENjR0xMVWM3cWdIRzQzcHp5cHJHT1ZJN1ZoUlNqTm5FTkEvSmNUN1NQNU1tbGJoWW9CVE54b2IyL0ZCQ2wwR1dCeGdKeXptcFVKNmlDVmVXMlZDKzBKRFdKVXA0WEViYjRXaCt5RWJCM3R5TERDcmk1d2hhMkRUT3lsOWNidGRWYXY0ckNBSEs2UkpFK2pXYXh1UXlJUndjV1lrUkR4MzdjZDlCWjFkdFhSU3QwYXlmMUdseVkrMzA3ckE1aEVJMWNzYVAyWWpPS1V1K0MzT0hDMXo4aXlQOGs3c1VjWFAvbHR6R3lWK1czbGxDNHVSMEtEOE9SYnZCRW03SGxhRWp1aGhYMWVIZkM1b3JKeEFZMmRUY3gwZTByRGdWeEZWQ1Fia01PTi9TdHJDdGtDVmV6WkdPc25IMkJ3RjM5Q1dqU041bFErUFcySWRRNkcyY2Z2REZHS0FVeWloZ3dZVW9ZZ3YwT1djaXRYbGQvaXdOVTZJem1nYy9iVWxRanZ2NkxBam15VitXM2xrazZRMTZlRUJyR2IyT2UzcGVOYzRpNit0YVY3ZVVyV1c2U2V0dTdiMk1td3NDQ2pWYUVjN2tCa3JUTm9GcXNXU2tKbmtiYUZIdXU0R3ZDdGNnYlJ1OVl6YnFSV3I0cmRQOXhrUFpxa0dBNWljdklMcWRSWXBmMWpNdG50ZkhmOEZzZFExeGdWdHRWYTNhWGJRcGx2emxhWjMxWXU2UktqVG1wUTRVcytBVjlsMnkzNUJrdUNRa3BGTFNBdmx0Sk5WYjNtUUVLOFRVaGZWU2NMaFhLNExRYkRKTEZTTlFzeWJqZXlSSlJnTlhFeEg5cVM4TzE0L29kSGRoUXF3SDA1SnZhUHlYQTJSVDRETEM1OWU0OW1RWm93Y0lqS0tyWlZVb05ER2JmTFY0OUdMRW1UU3kvbEJva0VpNWoxU0JDNUlnSDRVZUU2YytSd2F4Vm1qRFF3cG1TbXRDbGVsK2Fic1NsWHpLeDdoNVZtaFZxR2RHZHdrdTVuU2pPUjM1Z01HNENqbGQvaWJiNUtJNjE5SHMrKysvVG5ENFZ5c2xWV3RhMlNHbXlJcmRNTUdXTklPSGdHb0xISExzSSs1dlg3STJFZHJGYklpdEpsR29jbmJNZnFDRCtCSTA4Tzk0UnozOHZJRmZrWThvVjZrUndzcys3OEllQks0cHRpUldpTFBoTjh5Y1IzQWdDVDFXM1VsbVppLzNaN2liSDVMYjdDQThnZEFueE5zaFMxWDJWVjJ5cXB3UVVSSFk3azY1OU51cGVheVB5eVJKcUtwa285WDJvcXRLUEVzWlBHaFAwNEtvYUdBeXM2YjZjU3F2QWNmQXVZeU9HdXlIMUpPczJpdFk5d245NldtNEpKQ3NuSjNuNVJlbW45bXRRSUU1MlBVdDgrUkJGeGUwa20xYVRiTVJLL3hXY1lKcDUvclFIZnpuOFgwYSt5eW0yVjBHQ3R5M3c2WGtJVUNsL0ZaSXhlSXZmUG90Snphc01laFkraGpHU3dqM2Y2Um9COGkzSEprOFB0aUhXajhQRFNPOVk2NC9Vb2VqUDVpcnhOMS9hbTNJZkp5bkxuT2ZLNXFOYThpaDhxWEJPdlJwZGxVdDIyd20veG5YRTllcEJzejhHbXJjdFVFWDZWVlc2cnBBWWZKdGpFei9URys4STBKN0JMblhHbVJrUkQ0elF2ZzMrakxyaklGanZhZWtTZ0lNY0J0Tyt6MnpseXVJdnE3MWtkaEl2Y3dtdjkzK3lTTDZxdWMrVHFFMlBxZ0NzOG11VHVEbWpDRTNVK3pzaVdaVkpSdWgxajhWdDhoaHpjVHIvZTN5YVBYZXV6MGZ0VWRnaTJTbWdRYjJJOThFRXkzbVFEb2g4NzVNTTlqRExQTWVGL2JKNU5Ebm5GUHIxN2laQnZaYmZDblNJNTNFR3VrTXpKUG5iejBjZkpaOWlyYjZMK3hkM1ByTWVhbEwycy9XTHZia3J6bGIxUENWTGxtRlNWYnNkZ0Fpeis0RjMwcmRabzZrTUhXMkwwSHBVZGdxMlNHcXo5VC9kQXZqVkdoelg1d1lOL0ZNTUxQbTBjOUlQYnhodWVKRi82U2F4emJ5UjBrWEVkUlhLNHcycURDOWZ3YnZ4Ny9OZDdxaGxuR1l0bmpPQ21zZFZNdnNlRXRyZ3R2QTkvbGhEeWgzWjE4aXAvRG5lMlRJaVZITUJOWGpPZGJ6Zm1sTGFVeFZNcDMwUzJhaHIxU2JBQUFBQ2NTVVJCVkxFa1U2b1Uvc3JYUFhhTzNQZU5uL1UyekovRGJjcTl0NWYyY3cxeWFxQ1V4ZE40M1VTMk9rRzIwaVNvdGk1M0RuZTYxSU9BYWdmL2JLTld0Y1Z2S2xzMUsxd2xzNENSTzRlN3FyNENuMFh5dWZyQ0dxalk0amVWcmFhUmJ6NzBJMmNPdDVZemtYcm80MzlXTWFqVzRqZVpyWjYzZlBpMnpKbkRyYjN2OElmMGZjeWhVb3MvWjZza2tuTG5jSk1rbnF0NVRnTXBHdmgvSlRLdmpEdlRjSW9BQUFBQVNVVk9SSzVDWUlJPSIKfQo="/>
    </extobj>
    <extobj name="334E55B0-647D-440b-865C-3EC943EB4CBC-119">
      <extobjdata type="334E55B0-647D-440b-865C-3EC943EB4CBC" data="ewoJIkltZ1NldHRpbmdKc29uIiA6ICJ7XCJkcGlcIjpcIjYwMFwiLFwiZm9ybWF0XCI6XCJQTkdcIixcInRyYW5zcGFyZW50XCI6dHJ1ZSxcImF1dG9cIjpmYWxzZX0iLAoJIkxhdGV4IiA6ICJYRnNnWEd4dUtGeHZkbVZ5YkdsdVpYdDNZV2RsZlY5N1pHOTBmU2s5WEdSbGJIUmhYM3R2ZEgwclhHUmxiSFJoWDN0a2RIMHJYR0psZEdGY0xHRnRaVzVmZTJSMGZTdGNaWEJ6YVd4dmJsOTdaRzkwZlNCY1hRPT0iLAoJIkxhdGV4SW1nQmFzZTY0IiA6ICJpVkJPUncwS0dnb0FBQUFOU1VoRVVnQUFCZEVBQUFCVUJBTUFBQUNmUG1QMUFBQUFNRkJNVkVYLy8vOEFBQUFBQUFBQUFBQUFBQUFBQUFBQUFBQUFBQUFBQUFBQUFBQUFBQUFBQUFBQUFBQUFBQUFBQUFBQUFBQXYzYUI3QUFBQUQzUlNUbE1BSWpKRVZIYUptYXZOM2U4UXUyWStnWm1MQUFBQUNYQklXWE1BQUE3RUFBQU94QUdWS3c0YkFBQWdBRWxFUVZSNEFlMWRlMnhrVjNtL1kzdTlYdS80b1VvRWhRaDVKTlFXbGNJWUlRRWx3TGgvRkNKU1pMZXFFQzFJWTlHcXRMU1ZEUlZhUUVWakhsVVZIaDFUS2dGSjBCZ3EwU1FiT3NzYmRoUHVsRGFVWkRmWXBhVWhDYzI0bGFwSUxkVVlHc2phazkzVDMzZmU5ekgzbnZ0WTR5VjcvNWg3SHQvam5PLzd6bmUrODkwN001Nlg2WHJOWWlid3d3Q3VmUDB3dUZ6ajhmU1N3UEhoL05HYmNIZm42STNwMm9pdWNnbTBmM1FFSi9EQWZ1OElqdXJha0s1bUNjeXdveGU4ZUY3RnY3dE1vVlpmZjVyZCszdTFNa2xHYUIwR2p3alRwM3RENVRtLzl1WmJUbTg0aWFGejJRbnNzSUhxQjcwU1dhNHhmajFXSnMzdzhBNkRoK0JadmVrME8zaC9tUC9Uc3Q3Z2V0MXdtZnNVVzNVQk8zU1lDYlpaSHM4VDdMT1BjcEY4cmp5YVlVcUh3VVB3ckxiWThEUmoxdzd0RUVjR1MxKzdGRmJaRWFtdlhTeHZJTzJQZU41enlkU3Y0UDUxR0R5RVJBYnNUWjQzM21jYjVRbm9xcVYwM2FrTzFPb2lpWEgyMUJHZDVUUmJLV3RrWXdkRTZXVVF5ZitWUlRKQzV6QjRDS1lQRHQ5SWhRbTJIeG5FMDdHaDJuYXo5UE5zOTRpS3A4Skt5d2xOQ1ZmK1A2ek1pQ2drdHNQZ3dWbFd1cmNMMXN0c1BUU0dwMmQxMjgzU08wZlhNVFM1Snk1RGV5ZkZtcW0rNVN0bFVJdW5jUmc4T09jYlZGUTNVNTRyaUovU1ZkSjYwc25TWjlrUGoreDhUcFoyVnA2N2NrR0xsdDVoOENCbVZWOTU4Z2wyVkk5WVdpaUhVcGgyc3ZUdEk3d0R6cGJtczdaL2N1VkZmaGc4YUJZejJyeXJqUFd1L0x5T1BvY1RUcGJlUHNyQzZwWVZXYzBOcjd5K0RvTUh6YUs1cGVmQzJKSXVQNDBMVHBZK3hwNFVJcHBEWHVMS1hUblZzRnlXSm91bmNSNmZUNXREY1I3ZTdGdlRtSGplR0RNallhV0ZkK2w4aTBHa2k2OEFmU2RMbjFFNXhpTnA2ZFBzVEFFQldLZ3o3QjZybHFNNHhuYlNzQXJ6OEx5NkRreEdNNXYrc2U1RDlMS2hLMGU2NENDK0F1TjNzdlM2Q3RPUHBLVWZZMGF0QlNUaGVaT3NZS0Erd2JiU0JsQ1loK2N0T3lTYm1wdDZJQldtdEtlYmptakJRWHdGUnU1azZYMVdFeXlPcEtWWFdVbnhOV3pDN1BsNVpEcWJ2cnNVNXVGNWcvVHBWbjJwTU14aTRxcUpYaHpFbDBjckVzZkYwcXZNd1lzVUdFTlIxSFpaZ1hvMzNTY25qdFZGVlVWNU9GbjZwQlhnSEw5cVRxUXU0a3VVZjJLbmk2VWZLN3FySjQ2Z2VHZWpyR2VhYXdVbjZxS3FvanljTEgzYmVtNk1mYmk0aUErRmdvdjQ4Zy9FeGRLbmovQnpJNXI1WEZuajIyYkZYc0ozVVZWUkhrNld2bWFkakFkTVBTM05ieVdIZytraXZ2d2pjYkgwZWxrK00vOHdFekZuQ3JwaVRSd2JmYUhzaTR1cWl2SndzblIvVWMvSjY1VGxCd3pKSzFSeUVWOSsxaTZXM2pyaUNkblpzczRST0M0V2VncmxvcXFpUEZ3c2ZkdzZzNDVmTmFrWHowVjhWOWJTQys3cCtRZm5pQW5qcVRtQ3BvQzFpNW1GazZvSzhuQ3g5Q2tyVzNxK0xEZVFJcm9TdXAzRWw1dVBnMCtIVjhoTi9uQVF1Mlc5bzc3QTJCTUZodXlrcW9JOFhDeDl6bm9mcjMvVkJDOC9mWjgrV1d4TEwyQTVycWp0OUdlVGJxUm1HQnYyM0VEam9Kd3N2U0FQRjB0ZjN0S2pPM2JVTjJROVV1K3dMUDNuWHZtNmQ5LzZSZkNkZUpkLzl0OXExZ0JPaEE1OHM0OE8zMnQxaStMenYyYWplRGVkM245ZkJNYnpycnR0K04xSTh6TnU4Yy8rYWFRMVM4T0E3V1VCSHcyTHB5eEZUdDlPbGw2UWg0dWx0OWIxRkp2czg3cHNGU1krNEgvY09yVjYzbXZQZmF6RysvL3huZjdCWDBySXgwOFA3L2lCaGNXTGxkZmZOdnhiald2am5WVjRZUlRIdXBQNEhHbEZ3VlQwUXZMblcvY3huNTFqN0dESmdNNEZkL1N4enRBM3o1ZmwxemlCYnUyWTFUZXdZWmQ5My9QK29XZklvUFFLQnRwWVRlTTEwMXg5QzdneDlqZW1KWHVwWHRLTHU5L3VRQVlGWGkxd1VWVlJIaTZXM29VaFRqekNobmYrN3JmWS9ueU1QTy96MlZsMnFlZFZYeTQ3ajBNeFBCbjVUMXdiWEFiNHhqWHJzbkJnK0UwMGRkbUJOUFVwNW91My95eThHSDV1VFM3aTgxNThTNWNOTjkwSUJxRENsbDdwZkxubVRYVHRIR3dqYUVlTkorZG4xYnVOSGpiSFhhSzN6V3lNSm50eTNudlpRZTk0OEF1WjF6TXNvRyt5M1lwdkh1RkJuSmYrdzZzMEJabkEwTndyYytWOHhSbmE2c1BVZSs2TVE1QU9xaXJNdzhIU3F6U0ZEanZuWXpKaFErVWpodGJlNm8xMzcvWmE2dmxCNjlQZUdvV0F4OWhYYXQ2NHo2UEJBWHRiejd1WkdWMFJMc2IvMkx6M0RDWHdkZ3dlWjVIbncwRjhFMzJhazNyaE1CTVRaZW1WTjk4Q0NrOTROenpaQXo1YTF6V1p0VUJzTU1hV1BFOG5PK2FrS0plQnJCRWVaQWMxVlBxYmc0Q1lac1VMR1BVbjhEMG42dWZYR3R1dm9WRHRXay8xUkUrR3oybDdtV1hBQzRKQy8yK2N3ancyZ3MwWmF1bXFLczdEd2RJbmtDcXRzUGRjK1B2L2p0K2hxbjMyYWN4cVpoOGFnWFhqbXNEcDVDVHRabTN1elJmSWt4M25pd1I1TFdNSjlCSWMreXRDZUVCb2NEWUdqN3J6WGVuaWd3dG0rdytkZXZ0aURnYkswb0Y2UFN5OTZpOFJFYnpwYVN5dkgzZ2I1RHdsSjdwU1FsNWRHaTFaZW84d2NjRWxiTko5K25JM1lPbDk0ZUhIaHdDdUVRQ3UrNVhUcVVNN3VhK3BNdDd4cW5UWmgyQWdnVEFzNDRoU1ZWVUNEd2RMUDA1SlJoOHpvUmh5S1RxSEcyV0tvWXVWSUN4OUdrckZTUm5HUDAvZ1dPL3pYdjhqSERPUXU2bDJaSEEzSmxSOE1vSlg0MGo1UGxMRk45NWw3RzM1YUhQdnZTRnh4MkRwSitSWEtkdFdGbGJzWllwQmV4MGxYNzIwMTVTdS9BR0l0U1pCR2xLUXlFN2FRUzhrdWNRaCttaVhvRmdVdEhCd1RSVjVqZkM0SmlpSTVmcThrVjBHWG91Rnp0OVphS1dxcWdRZURwWStUVXFjZU1lL2YrL3R0Zk44VXNFNVFDL2NFL0dmKzFuaGZaU3NnUkIzT3p1OGlsUFh1dnA2M3JLT1ZORjFvOUtoMStiSE1vbTNaUEEyT0lGOEg2bmlXMlBzai9PUkJwYmwweEdUUExFc1prNUNtRmMwQS92WEdMbHV1UHluUkc5ZlduWEYxNWFPQlNOL0t4RXIwUG9PY2w4SkhiU1ZBMGR4U1JBNnBncWltdTBUTVlFZXJjYXNQdWRGbzY0b01LVzRlTXk2QUVlb1NXUXRwS21xREI0T2xyNHRsWVBoWTQrS1RMYk9EbnA4WnROTXBTQTdLOXlSditPU21ERlV1TlhhRWVXNkpRK3NFZW1ZdkNZdjlDTjRad1JXcnM4MDhTRUErRUl1d2h3cGFPbVh6MHBLMnlxcTRNTENmTlExUXpzalpyd25HcGhhOFhXbW9oZVVGa1ZuVTRPaERwZStJNW9oWUNLQ0N4S1ZKYnhGdmNTYmNuM0FCMG1XRnZwNTZISEVGWmRlV1JZTEVjT01vV1dSVFNxbXFhb01IZzZXdnJ4cEJ0bVUvdHUwUU9qUy84QkJpTTIxUXJxREpTaFllTExMNmtYdEJhMVlmTnRKbkxTSTFqSlpPai82QnZITUlpT29iRmVLK0twSXVzeG5vMmhEMjVidXN3TzFaT2VNSTRkWjd4cU1PdTFhMk9qTzhDWklUV0xncUNLQlRONEdnakV5YjJydkFtd3A2aHNNd0xIODlzVlh6SzdrYm00TmFHN0VKVjJYZ2VXTGQ0UHFtRkhnQ0diRHBKWlRWQVZKYmhDTlFqd2NMTDIxU2x6RWRWTHRwS3JCZzZQWkVCV01RMnl1eDBnZ3lCTW8vMitmVnFCRVpWNFZYMi9HWHBOVU9CdkY0MEdOSUovNU0wVjhNRlZ6ZU14TVBCQzkrTmkwSkFWTWUwY1c1WllyYTN4VHd6clk0SFY0QmJtSTlSZC9ZTWYzU05odDR3Skl1OHFUQW1KUFFJQmhUY0xPcUlVaTY1bHUwTXhxQkdFSzFFZGNNY243QlhVd0FaWlpuaEdpeVEwcHFock5ZK3kvL3VEaHUyckp4SFZ2Nm5lT0tKMnVydVBHT0dVVGZwZTBKNHB3M1dKTFBVRW5sQVh6YzVSWWtqbzd1V3g4T294Q20xcWZWQmpHZzVJamx2NkMxMzM0VnNyME9Gd3A0dXNIWEs1Rno0MUYwS2RyZzhIQ1YvcUd0NjRac213SlpjeWViandrMmVJRnordlQrc2JWTUZhSG9wWTVDTW8xUVl0TDBBYmxpd0lKY3RZbDFaTGxybFplRnB3Z2JFY3BzYVhYWVJEQXBaYWlxdEU4RmhpdW1nc0x3S1JaZXRWMkd2QlRRYnF3WWhVeG9pZzJWLzZlREpTcVZBNGtGYng0VGIxWkkrT3VkZ1BFL3hzWVNRemVIcHJ0aTdZSEpWcTdQYTZjTEQ1NFZYVzhDeUk3c2doWnVySk1HT2FXcEFjWFBLOUpqM0VwdHRYczU4eFd2eWJsNXh0d1NFWWpRbUFic2dLa1ZWNWNzRnhBUjNzTENaWHBacFNVQ2MwQVE0d2Jvclo4eFN3OWdjZURwMkVQWmpUSnBUUkxwM1M2dnVCbTEzV0ZDbkRNeXUvQzB3akRiSnhCUjh1c0NhaGNoYkdleWNLUlJTbExPTUhYVHd6ZUZ2R3dydW9qdnVKaXRjWVhreTE5ZTlTS2NXUVJzdlNlSElObDZVaXVxbFk4T2VBLy9LSjljVjA1ZDNnYUlSdW9VenAzZWt4blpJNzVMa3JhRFZYc0d3TjlNS1FQQ2VwNk00UmNNVUp3QzFxSldJZHE4d25CcEZlVFZaWElZOXVJTFkxUG1xWHpkTG9pQXZQY1VtVitiNXE0VkcrdWE2dm82aHB0UWZ0aysvd3l6MFJ3V0ZmNnJQYTVIWVR4UUhCSDRlazdZcVJvbys2MUM4bmlhNDlXc2hPTGtLVXJ4cU1zZmZ5ZkFZRlVoenhTUW13OWlkSVE5Z0dYb2QyQjJTZnByUUc5SDY1Sjl3VjNvNkxCY1Y4dkR6V0NUUGV3T2pNaEUzQmZ4MUdXejR0U3FVYWI3SlprVlNYeTJOYkhHQytGU1dyMHd0UHBhbGd3Z2oxVjVuZmZPQ2NzNmxYZTlvcDVuamxXVVEyOTI3RXVrWFFzenpNdjZxaDFvekRlTUo0bUtKSDVEUlJXVkwybkNySDNSUEdSdFN6Rm92R3hheFpoRUMzTm9LVVBGWnhsNlZqS1BkVXM3dkR5WjBTcGIreDNJSm9HUnJJNkRBUXM3SWQ3QVVKVHJwNmV2UGVvd2J1dkswWE9hemsrOUpPc0hMaUVBcytub2ljSVpLUlBQNllOd1BENWhwVzBmd243Z2xWN29RRks1N0dzbkFlY3dub1FFYlhBczRIVzBHTHlvdmtJOFBhZTNSU2FEa0p3SFNZMTFPWks4TVo5OGJQV2txUmhOYmNWcWVydjZGQS9ncmNvOGN3TkZGUmpVOXVBN25ZV0h5SXFQWENOTFFzV2kzQ1hrV2JRMHJYZnRmWXZRSVRRc1hUWFJaTmx2MnNidktscjloZ2RCcUpqV1c4RDlOS01jQjRnZzkydytvMVh2b3V4N3doNmVUK0xXam9XM1pia2pZVWRzQlI3U1BYb0lxajYwTUNJYThYR3BVZnNDVHpNeTBVeFRMenpJemlnV2JsWnc4dE9wOU1hVm1FNWg0QmlJWFJ4cmRtYWhTWHBlYU9qSjJHc1pqRGI5THdMejNrY0FVMU5kdk9NczhacjJRUVZCTXhBRnVHV2U2cFYzdDNGQjE4NS9IMXh2VEZFaE43R0NUZXB1cEZtSGt1SDJkWTRKWGh0SGFyMGQ2bkppa2hNamdYdGJTTkg3ZW9iRUoyNEx2MEc0UmE0dWtaTHVhaHNteDNXVW0yRVZDdktCck1aZWUwRUNDVHo2T2pFUnd3VHJ6R1NSMHg0MzFxMStFSWhnUzJxYnEwTnRibHljQ3dCMkxHNE9tYXJob0hKYVZnei9lNjhnc1RiVFJhZUZlb2JnQk42YVVHMHBsbVVMS0tSS1FiRlo0a2dzcmdOaXpCOXowZ3pqNlhyNHpqV2toYWpPSllqSHRmbjh6bkdWaFZuTkt1QkEybVBON2NRdTk5MTF5Zi80dTIvcXFDc3UxdU9WQ0VVOWVrRE0ycW80NHdpRzc3N2VoS201NE9ZV3Z4MXNHaWdVRXJtWVdRVngyVEtqMmVCMXVpekFUdWRiajNPRm9OcFdqNWViYTY4Wjl1TUFMdXVEak1XdEErQVlOaGRkOTM1dlZPL05XL1B5OExEL2hFeFF2cU5FaFgvbjR4WmxzN2lhNEc5dUlZZnNmbFQyYkFJOTNoR211bVdIbzNUdFlTQXJLeEMvSDhQK1hFZDZ6ZE1nRVpMZDFlT0FpQ2J2TmhSSmg4WkhnK2NUZWdjMHg5cThuVmdFT3B3ck9xMXkxLy8yQm1CQlUydWpPZ1N6WWxIcWtRZUVOQ2lvSkhLSk8xRUdraW4wK3M4Wit3eFEraXFEcDR5c1VBQXkzb0V0RHIwVnIybTltOVNiY1FsQi9IQVM1MTJMSllOeldVaGJpRllrSW5pc3dadW9ZaWlZUkh1c3FTSjhXK29idDlzV3RpVGxFQVFYL1lVQkw4ai9wY1RtalBJeDRRWHdBclhqNEFnSklVSFA2NGZZQUJwbGJmN3l1UVZsSFYzekpFcWpLS1c3aHNuQm9Hc0tyS2hPelJaQ3pVRnE0bXFTdVFCQVVsU3FVelNMRDJRVHFmVHdhWTFTQ1JDdEw3MTVzcjdXM29FbENqVFczVlgyd1RpR0IzaFd4UXRQSWh1eStxUlJYTUNHU2k3aVFMeGxrVHhZZUE3SS9Ed1NHdHZSSmNselJ5V0R1SEpWZEF3bm5wR3VBZTBYRlpNclRDUWRqN1ZESkJGWGtiYnVtcU0zcUdUbldqcmlKYWdPa2NBalc3R3l0ZE9EQW9WdzR1Q3A3NEduNlNxWkI0bTBreGxrbWJwZ1hTNjlaWUxuMC9zNXNwN3JCZ2J1L2lXbkQzQ2ZCVjd3RVBwbUViMjBzM0NXNGgxRWgyOTFOcktiaXgwdTVna1BrUlVJejJRWjFqWTVLaHNTVFBkMG1HbDh3RUNtUEtHYUlEWFZsMHl0VFhRL3A1ZTdWVkNvaGNadFQ4QVVvL1F5YjNzVWlIK1F2ZEtmQTlRd3gxWlZrVVlGM1hvWHljb3RzTmJtSUUvYWZZcjAyaVhrbFNWek1ORW1xbE0waXc5a0U2bjFQaVNOVVQ0T0wwdm9XdFZkOW5hbWpNdUNINWZTUWJnMm9scHRJQ1dtOFljREFCTVZISHhsZDFZdlhZeFNYeUoxbUpZMk9Tb2JFa3ozZEl4MmFDVHEydmg5ZGxRa1I3czhCSW11eWVib0ZvZEJpSVkwbGF2WEQyY25CYTZvbUxkblhLa0VoNWkyTEJRWmRIOS9YVG9YNDNhYStqdE9rSnhJVTdWTmxTU3FwSjVtRWd6bFVtYXBWdHZwMk5zQTdPWjBrZ3BZNkJHM0xBVkMzRnJiVUhCdXhJSU85eVdMQzRZSnlaYjZHYmptVWpIQW9BWlNQT0J3bmV0am1neFNYeGs2VXRSRk41aVdFUUFMR21tV3pybUVtVFIxRjdQTjA2dUwyQmFKbzZ3dzBBSVRJY0h5dWpKMGlNak13MUFONVZneWVSSVpUdElyUVpCVURzUCtpT3VjSVlBK3Q5UytHdWpqMDBEN2Q4VWNPaWVwS3BrSG12c0tVa3JsVW1hcFMrZnNVZlZNU3FpWm16UTl1WnFJTkdoRjN2VCtHWVkvWW9FV3JBZ1l2R2dCZTNPREFEMDJCTTFyUFY1MHg1VFNoSWZSUysxR0J4cU1pd2lBSlkwMHkwZG9kcHVnRUpiZVhLc003V2ZxUU4vMjJ4OG9Md0p2SmYyOEFGTFY2ZHk3ZXFCclhlRUFIMVJNWkZycExObGxDTDZRSE0zQXRXQWJFWmNsMExBc01JZDFkVFhOb2VXYjkvaWYrMU5xZ2NQQmM3b2Ntd2hTVldqZUZUK3BIdkhvdGZSU3kyVlNacWx0N2Fzc2NINnRLdW1acHl4ZExBdE50ZnhEM0Z3cVMxZXRyYnFsckJPVXVLMlBwNXhJUGxoNGNIZ0tOTGhMNHp3M3VzZU9YZ2ZVallIRXRTS21XVkw2SllrUHFRTDQ5WkppQVVJamxSWnVxWERJbGNEUStvd2FTa3dNR1cvc3hjRkNDU3pJb0VobVhVVU96VjhJSHBSNFI3a0lkMFgwdWtTTk81bUl0ZElyMi9zVXZURlJqb1pjdER3Tmh1S2k5bVVQTy81YlBqSnJuaCtpMjlRaWl0cHpFbXFHc0Zqck04KzNya0lqMFd5Y21LU1p1bmRMVFVWM0NIdFRhdEtQbDF0YU5BckdmMEpvVUpvYTFVQld2a3pYMndCM1JvbHJkbVdnakIzQ3c5S0pnQkprS1MzZnd2Ym1PTmN4bjBsUHdJWmNTV0pENzRneHRKdEZvTG9hSldsVzdyVWdobWRyellwR0ppeVgzVU1XalBlZFpsSFBjTFpXNC9ZSVE4cGUrdlVib2pya29sY2RaTXN3RSt0Qk52Z0wrZURMZGxxbU1pR3hMQmp0Vyt4aXpXdjB1ZjdSVk5wS3ErbGorQ3hobDllcWZUL1JVU0lUa3hTTEwwYTJIaGdpRFZiRnJEOHkyYW1GRkhLVkVKRGg5UDBuRnZCd0pmUndxalE1bXNVSndud200VlhGM3BaMkJQOWsvU2pQOCsrMU9CeEt6UWtyeTBiTzFoT3RIUllWaTBJVHV2WVlzRTdFMVRtWU9sZFpacVNrWFlMMWlHcmNVWjBObzNBV2p4QW0rRCtId0tXODdlK2k5Z0srUFRLUjRQemNNcVJTaFI0cWlCeXhocld6b1pFbVRHRG1tRERSYlJPaWlQR2hRdjNNZmJMRnk0a2tVNVNWVHlQK3pueEUvZ1JzeDRSZG1HU1l1a1RXdEpFc0dXQ0ZhclNpVlJGTXhBYWJhN0xPN3dEaHRUakJRNmpISmlFbWFRZEcrVXRDVUczNjBrMkhuMDdvOGNMdkRoUExZSmd0Y09XVU90MHhSWmV2WENoeVg1MDRVSVBiYU91SlBGNURXTlpDai9FQXMxSktuT3c5SDdBUzFBR1ZTNTV1S2s5eWJXL0t3cDFzL0xFYzZncHZsbkNOMmhJUGVKQndENGZVTHVxcE5nSnJTL1pqRnMwM3JQTTA0QmxLZm1hMmJZNU9qZlo3WnhHVjI0WVViNWhGb21xaXVPQkx3RXZnZ2hXZ2RvcTBwbWtXUHB4SFZHQ01OenozWUZCb2tFRm5ES3QwbDdoQUIwOUFrb0puNUZJZ05sQmtlL1lsbDlEVTdVYndaTjdkSGVKSXo4Z2x0U0NXUitwSjVCRThXRW9naU9uUG9KRmtzb2NMTDJwQW12Sm82TkNQZU9weDJoN28ydE9iTU1vd1FXUUp6Z3AzSU9PY3lBdjVRUzJkUWx3MVVCNGlRWXJia1ROdnF3Y3FXdytHZkpjTnJSVDJaeHhXOXJtSjltd3g1RUg4bGdRNVJ1bW5haXFPQjdUTWhCczZ3bWtNMG14OUdtbEhScmNlVGFjRHc3U0pNR3c1MjZnenhjQTFra1ZPcVFPdW1DbnU3anhIUnR4dlR4Z1VjOERjbWthUEN4WDhvREtGT1NMMkRnQ3J4TThMbCtURmZYSVo2TDRZR3c3SVl3SWkwU1ZPVmg2K1BjOTlZNElVNVZ6NTErZHBYRmdZcnRpUEFNUjVIQWgwYzRtczR6THhuMWhMU3dLV0h6ZUgxSUpkZ0hUcWFGNFlVSHRLYnJaY3NTNkxWTmhRWGs2cUxNbU1YV0Nha0dlUmhac0c0b2xuNmlxT0I1dEdSQU1sSGhnVzZHOUxjb28rVHRIMno5UjJ3TzVEelV2VGFXdGhFY3Vad1daRXVHaklHNmRCcTVySFZMSTBBTnFaNWZ3V3pyd0FlWE81NmlKbnJrcFBCVEpHbWJFK0tma0hnRTJTd1RJTnk3d1M3b1N4UmRjYUVRbXlpSlJaZGdVTmhWM0srMkg1ak9xZVU0SlJ6WTAxRWEzcHJmQ3daYnN3KzY0d1l1SWJEaGFlNVZYdDdtRDV3OGF0UHV5SWxkdnJDc2t4NEhwQTB1NHB5dkJncDZQYnE3cms3RnV5bGFZVW9NNnJ1ZUttVWpGcVBtbnZiYVI4Z1BnTVR4Z0JqVStVTE50cGpOSjhlbkxkeXZUOHJ4blJkMUZYU3FDM3VnaXB5VC9QZ1BpMWc2N2FjNzNEVVlMUWE2R0JZV0twbCtTanNuQ2c2WHZvVWU2TmpVUEhBeDZhTVdsSnl1cU1aK0psdTQxd3o0Z3dpSlpaWE1tanNLcTBRYzdOT3VaejFnenBQSGhFRDVQOXpIV2twdnZtSGFFWGtjRzVJM0xMVnJ0VlJuallwbzl3aGxjTkU0QVk5YzhCdnU4bTBDOEREbFNEazhQQXZXeWxDMFpiMVZmam5OWjc3RFRYTWxFWjA3T1B6WE9UUDZwK3hnZTIyeGZERlQ1ZG5xUlAzVXF5VDY5dGI1Mmo1dzl2TTJuWkZIZnNJZno4amg3bkh2YmJSRmRvbmxMd1ZqcDlEb2ZJUDFxSXk1anRKam83UUxhd29QajJrUmpkNWQ2WUV0VU1ZNlhTbUw3NE0yeEg4bVdqbkJoWHFLOWtPNVJGc2txd3dKVzJ3L1dwM0pqTUVMbDVjaTlCb2VJeGJ0T3JNNy9CS1I3VkxxQkFqUnhMUWh5czJ5bFR1NVIvd1dzK051S2I3RlhXVXZvaEY1Q3Y2S0R1V0FhVnRBY25TT1ZUTnZhUG1WRDVsdERLS2FpVEk5V2p3b2o1dGdsVGkrU3hvOXdTVlpWbEllTzZYdzlnWFFtS1Q2OXV6UXR2VWExcmVWclJncDdYS0xhNE1md2dMczZVd0xQeG5WS1hiNUJFNmVHMWc0MUk0aFJveHp2cU1kUFFid05yWERZMGhLaFdDK2V4TDJkemtIMFI3TDRrQW5aRktEWGMrNVJGZ2txZSthcFIySGQ3S3VuL3N3Yk8vVnVIOFhoUTZmbVBkbDg3Nm0zY2NxdzdIazlHaXFJQithVnppYkVSa0tZOEZlcG1WL0k4L1JRYUYvR0VmNGl2bVVyWEFZZFVDL1Z2RjlrbjdLY0FJSTl0c3FSWHN0LzVaZ1hzYTR5NUVnRkNuU3pLMHQ1YjdQc1VnKzROeXRka3I2ZmtzUVdoUGxqc2lzcDVKTlZGZUVCcjdUSEtZTDByaUR0d0NUWjB2RURjaFdmLzVKUXBjWDJGNk1EWHVZL1BEVUZobjFNZGt5cXRtN2lIQXhCTzY1Sld1U1RCejFCNW42NWhVLzBEMnFTc0lVSDc3anBlVTJSNjlsVzRZRTVWS1dmUUpMRkI0UGFueWUyenhRL25SVmxrYUN5Qm15Ylh6K2tOM1hrdGVnMVZGRjZlN1UrNWV4b0cvdU9WNldBNDNra3pMRys4bjRFc0l4dndWVCs2R0NSamtPTEUvNktRcnFaZnVMNDd5ZzVzNjZhYU95TG52ZnpIMFM3dXFvZDdneFVHaGJOU1RsU2dRWHYxRlA0ZWU4M3NpLzFJRVBscTBnZW01TFdNcW5iSmM1TWpsN29FV2lRQjBLNkhjNERoWG5CREtXYUtJMytUSXhlSm5BZWZSWit6TC82Z2o0N1dJb2hNc0dnbSt0OGZGV0o4b0EzUzlVTmpBZ3hjN1hHS2FOY0crdmZvOGowR1I1NmpMM2VQOWhWTFJZZW52di95SHYrVUV4a0lHUkdXNlB5ZFNxc1ZxalJlNHFsdzhNK1dmT3EveXZYVzRSRmtzb2F3M04zZmVJVGQ1M3p5ZExQbmIzekU3ZWVQb2VVaDI2V2xoNEpEcDRONSsrVHhWWmIrTVlWMjY5Wm82NGdNeXU4MzRNQXN0YkFUZDJEOStQQXdyZ2xTNFRYTUhiV1oreDlCaithaGszS2tRcThZeWJtTUlTeWx0Ylk4RFM3SkEyTy96clppaVFCQVZNSnFhSTBtdW1xQ3ZQWTVTUk5DT3ZBSk5tbjg3ZlQzOEJkMVdkcXNlUEZ6K1IzZVdSVzdlTXZYK1FrRzlKOGdBRy9BYzNLNjM0bzgySlAxZkJEL1pnQXU3aW9HcUJPODFJWG5OUnAvQVE5di9wcVh6RG5qcGJjd0RSdXBKQW1Qb1Jqc0RiMm1mbDRGbmdPSUdkRGE0SmdYS1FaR0VVamNrcTY3d1ArQVgvenFmcnEwOWJmTzNHc3NYZjY5LzZBbDE3U3VhTVdJSVRLbW5FZTFQVUx0N0k3Lzd4R0pYbGx5NUVLcEJrbFZrVWsxLzJtMjRZZnEybk1PZTFtc2N2ejlUcXQzSlNHaVJUU1ZPV040R0dTNkE1TWtpMWR2SmJ4NG9mdmZPZy9JOE9URGI5NDIvQ3hIcFhIMzNud1h0azJlVzVWbGp6dkRWL1JSZnpUbC85Vlk5ZmUyQjkyRHo3K20xYTNqZWROUERwVVBrcy9QL0YxUEtqL1hjSkNEeFpUeGVlOStsWjJMN2M3SUVaWTVGSlpjQVFuclVScXNDZDdEUjQvQ1NsampsU1EycmEyMnlUaVdmb1dqQWVYSXQwV0JwOUVKRjFWQWV5NjRtR0NXUWNteVpZZWZEczl3TzRRSzlnWDlqZzdCUDI3Z2k4T0pjcmpqaHBJSnZGRldlUlNXWEFzayt4aXNLRkF6Y3JweEZGUndSeU9BajNlandsSkFZMU9hemV0N1RhT2FKNjJobzZJY0NEZkpBckxrYWN3RWJxWlZFV1JuRXd5bW1EV2dVbXlwUWQrN0NVeXdNTnFVREtqSlBxOFlJb291cGJDUHBQNG9peTBPRDNWNXlMTndKaXdIQVAxQWhXTVFTVTE0NmhrelpFS0dqZzJ4UkVyMURiUWgxTUVlM3l0cGNlWmFTZlM4SUFHS3NodDZmRFFnVW15cGJkV3cxeCtHblVZdUJqSGNUYVUvQjFpNWt5V0htV1JTMlVoNmJUdFUyU29MMXQxMGo3WVIxSFJ2Y1JiZGVRNjBESER5TFMybFFTUFVzemJzcXlzRU45QUVNcVNjZVpqQ1JSbnplT1hCQ2pkTlZEbml5NEZzMitoZGdjbTNpQXAvZ3Y4Mkl2bWROZ0ZtT0V1NThuL1ZYQnlDMlY1QXBrUjdid3ovSkZKZkZFV3VWUVdHc09DenJpRk9qSlg3WFI2RFBLMjJqMTA1SnFRSTFYNG9YODlWYzNGN3Z5NUZ5ZWhIdThJMXo1cGNnMVJCdVBaNUxRczl6ZnNaTHRJNEJNOUJ5WmVROFk4VWY3MDREQ3U5ZERiRUtvc2NhYmJ0SmhQN3FFOEoxelcyaXB2ai8zSUpMNG9pMXdxQ3cwazhDWm9xQzliRmFjR0hncU13TXFVSTFVMHRtVldXdFZMdVV2RmdKWk1ldVBBVUVOTlBqMGZ3ZU8ycFJFZHNjMTFlZEtIZTZwNVkyUy9Ua3hPZkRHV0dtOE0vdGpMYUxncjNJTjVMSElXL054VjMwUzV6bzg1NnUyUWVQNVp4QmRsa1U5bHdaRlUweE5zUVlSUTdSVUh5cnhiNnFRWmdwRFZTQnJXSlVlNnhrMHdubUR1MWhrVnAxdlpJQ0pXWmh3OEozMDZYcWZEV3lXVXlvVE5GMk1TL0xFWG92WFR1WlJQOXlrSDB5VHREM2cycHNUeFJWaVVvckppeG9SRWlueUNoS1JUMHU2ZkswZGFMVEV6Wk14aVhHVkRtL0p2bThUWmFqd3BSamJZYnFYalVpejhsYW9UVHdHcE1CUDFMVWUzQVZ3NXFKYll1c1dYT2pvOU1CS243c1pXYVR3akxFcFIyYlRPLytjWktQTEd0RFhqU2duVHNTUEJCZURTYVZpSEhPbmtGY2ltWXdoOXNmL09zb041UGlUeElIWkJmVGVOdHhYOHFLMmgzdkFBQUFKelNVUkJWSWl0RWkvcFlmM1VOMEN0TUpQZ2I2Y1hIRjhCOUFVUlViYnBGY2t4bnFOdTBobW1NdkpMQjlsNVJWbVVvYkx4UXMrT210clNVUkoyRXo4eGxRYzFhVmlISE9tQ1BPYkhrOHpkK29EdzVTMTFDQmdqY3h6emQzTVRqRUZza3VJcm5ZOVNkcWVQSXVMMGdreU9SanFkbGl5NWhPdjM2Zkc2K0NIRE9temVleDdPcDJWZFVSYWxxS3dsTW0zNVJ0bFgwUXZPeTRrK0VXSHFLbWVoMDdBT09kS08zQy95alcwa1ZyVXpYTUtUY2ZaMUJVRVJYTk42ajBlMUY3aFBzYzk3MWVaRnZKUytLRjl2THNxa3pHTkVnWW5oWmRaaHpidVBiVXhCNGVJcjFKTTRrUjVMVEVkazVSZGhVWXJLcG9zOGh1UjdHTTFqd0REL2hDdFBqblJXeHRFSlpQTjE0Ylg4NzNYWmx6VHlGTHY0NkpBY2I0bFhrOTNSQVUyODB0eTVuWk10eXVSb3BOTXhsV1BzNEJiNjcvTVdlM2kveDZmV1poLzIwVkRlRldWUmhzb3E2WS9DUjA4QnVjTWU5VDdJMlBkSFE2RW5UNDUwdThUUUx6aTRiei9DUHF0ZUo2S2U1M1kvdXhTRUtGeXIvclovQjlGOHFmOFpTYXNZa3lPU1RxZTUzSGNidmJycWpYL3dZSldxaU13K2NQQ3ZvbFRXWjRTRlY0YktsZzk2dVFkNGduMzU1WGlvOFZyR0VqTEJSRDFQanJSZmJrQ1JlNUpIQWxIOHVzNlJHTXBWTzRoajJSNy9CZWU1aHZmWjhXSXgrK3RnYzdTV1BVZDZ2RWhZRlIzQVZkNHlVZUtKN3lvWFJmN2hyL0ZjVVU3OFZ6MThtcDE5Nk5kVHNiUG5TSnVYVW9sZUE3Z21nU3dTbUdTcldjRHp3V2JPa1U0VVN2VG5HK1Excko5eENUUVBZV2ZNbkNPdDZ5OSsvb3hMLzlyMERrOENFOGduWC9Fclk0NjBXbXFDOW9yUDdocURxME1DejB4NnZGblNGRExtU0t2dktZbnZOVExYSkhESUVyZ3lPZEpEbnNRMWRrZE1BdjhQQ09aSlpzMWJ5Mk1BQUFBQVNVVk9SSzVDWUlJPSIKfQo="/>
    </extobj>
    <extobj name="334E55B0-647D-440b-865C-3EC943EB4CBC-120">
      <extobjdata type="334E55B0-647D-440b-865C-3EC943EB4CBC" data="ewoJIkltZ1NldHRpbmdKc29uIiA6ICJ7XCJkcGlcIjpcIjYwMFwiLFwiZm9ybWF0XCI6XCJQTkdcIixcInRyYW5zcGFyZW50XCI6dHJ1ZSxcImF1dG9cIjpmYWxzZX0iLAoJIkxhdGV4IiA6ICJYRnNnWEd4aGJXSmtZVjk3YVdwMGZUMWNabkpoWTNzb1ZsOTdhblI5WEcxMVgzdHBhblI5S1Y1N1hHNTFmWDE3WEhOMWJWOTdhMzBvVmw5N2EzUjlYRzExWDN0cGEzUjlLVjU3WEc1MWZYMGdYRjA9IiwKCSJMYXRleEltZ0Jhc2U2NCIgOiAiaVZCT1J3MEtHZ29BQUFBTlNVaEVVZ0FBQXVJQUFBREpCQU1BQUFDVU9VclFBQUFBTUZCTVZFWC8vLzhBQUFBQUFBQUFBQUFBQUFBQUFBQUFBQUFBQUFBQUFBQUFBQUFBQUFBQUFBQUFBQUFBQUFBQUFBQUFBQUF2M2FCN0FBQUFEM1JTVGxNQU11L05tVVFpaVJCMlpxdmRWTHZPRGRZOEFBQUFDWEJJV1hNQUFBN0VBQUFPeEFHVkt3NGJBQUFnQUVsRVFWUjRBZTFkVzJnc3lYbnUwZEZsZERtU1dML1lPR0dVay9nV0hNOUpUbUJ0V0RNS200ZUFJU01NRG9TUWFQRDZLZGhJbUVBZ0Q1N0pjY0F5dSt2UmcySDl0RFBKVzhDSmhERm1BMlpuY255SmNaWWRQWnF3aWNUYWhtQ2NqS3kxbmZVZXJUcmZYL2VxN3VydUdmVmNkT21INmJyOC8xOVZmMWYvdDZxdUNZSXJkTDIyTmNuT3p2LzJKRnVmU051elo3V0p0Q3NiN1ozSTFFMjVkMzQyMlpFKzkwWmpzaDBZZCt1cjRVU0ZTaERNbDc4MzdqRlB0cjNLVzVOdFB3aEs1NDFKZDJHYzdTK0h1Nnk1WXUvc2xRY1BIanoxeXIzd1Y2cjl4ZkRzZzk5NjhOUzljRjhWalNCeE43dy9BcXBUUzdKK3diczJGNnJyNTZxeks3THNVQldOSWxGL2JGSjkvc3N2UC9vL1ViRDBxRzFXWFlmMFhQaW1HTVlMSDZzdy9sNTgvU3RxWUhOUHM2STNmbFJUUmFOSXJGanZFSFZEUHZTZDhIUVVEVTZTNXNPd3Jab3ZsakhXNzZnc1N6eUxvdTgzN0xMY2MvT2hhUzY5K0NnTTN4WnQxTU9OM0Z1Yk1NSEtHMFlIV21CdnpjaFRNalRFdWxPVlg3WjFidEhxcUJldkhJNVdubG5OamlXekZQN1NhR2NiSERleUxGa1poL0U0STlTM2FMd1NkbmtLeXVWSWxGMlhXelBjTklheUE0NDNqRHdsMVF2dWxPZWFYYkxFQ3Q0ck1iT1h3N05jMjVrQ1loMkx3MnZnK0xyZHEwVkxxZGwxT2VaNnBuRER6RzV6Mm10S2hlYlkxa1JKRmV3UnpZRGp6bHY4MEdURjZQcDZiTGE3cUxSSjNSSjZvMnQrZkpSWGxZcGliZDRCeC9mdDFxdW1uTGVyOHN5dG1EYkpxcFFseGRBU2VuazJPQ2xhSlh0RXkrRDRwdFdYZ3ZzRXJOcjhNb3VtUmJRV0NvOW9JYXBXOG10eU1wVDZ0dGpHQ01NVHF5Y3J0dGxtMWVXWktjcHBUVVJMb1FqMTdNaEVuazFObEZZeHRCbTZCSTUzclI2MVROZkVxc2s1MHpFRWVVdEs3OHExQzdnc2hqSit3ZmxIc1pWVGs1WHpqcEF4Ni9KTmJ4dk03UXVoampoYUk5OVdKazV0UlU0bTBaTjVjRnlHV1ZqUjZ0aUd2R1owUlpyajI3YVZQbkYyNWRDQmtqR3hHRGx3M0JJangyL24wRW9tRXF2NmRTc0ljeHpQM3pGVk0xR2FhcUNxN1Z3SEFVSlpKbytMNVpOeDlYOUpxeFJvazNWcTlybHJwemNwU3JWbGM3Uml4NjFtSTNFdEd6ekhIQ1kwWXpOSXdrWWx3c1dlOUR4emJHYkNwS0FvblI1MGRHU2Fha3A2TmNnQnpEL2JVNWIvVE1nV1NUNXB2Vzc1TnpnSmlndWg2OExYUXo1YTBadGVkM3pkNmloUFlJZDVRM1BsTXpucHg5ZUpVYmQwUjJzcjBkUkJxTVZwRUN5NlFzZmJvYzkrd0Z1VnRlSkEyYVVIVEh2WHc1ZXlvbDRkdUxYSWU3c2Rtb0pteDFwK1RCalhyQmJDd1ROblJ3bVEvcXFTc3BJNnhQdG53dXU0VlN0cTc5b0I4djc3L1F5eWFwcUdIVmRXYzlVQ1NjMnNLY3VrQi9ueWQ1SFhMNVhBVlFDb1I1aXpoam11cE9mZHpMWkNTMGVjN2pwZWEyWStyTWp3RlFLRysxOG9QMjVreHJ4Q2dIMG5pQklFVm9COHh0V3IzcUgxdGZTSGFkZjF3aVZWcU9VZVBMUFBoVCt2SmNGZTJicXlNZy9rRUNoQXZpc3oyVVBqWlRrLzJUUGJsQVFHdWtNWGNIZ2t3bzhPaEhwMWdNTkluSW9DNUlkaUFBWE4rNVFod1MwWDRkVWdnQ1pvcDRESFY2dUZuK1h3MnorSUI3bnlwWER6OXAxQlVJRDh2aWk3WTBkeUhVZ3pDN2RjclJRZGhFUDZxUkFtVzV6b25rbjdXcVgxQXE0YUZnWElOMFN1OVF0Vm5KTEFteUdSZ282NXRKQ0NaMVhMK0pWVmVNMHlZSytZVldwZ1JvQzhxTVNMcXZVbG9HOVBaRjNaY2xwbGFZWTczcmpkREdCWEdnUWlaTjBaQUlZdEJVUWtOUDdWOXpuQUtndlp2Uzh5SUdER1l0NXgwVkJRU1BoSm9GSnJFQlBsV3FWaEZOVGNBWUhqUXBnY0syWElZYURaM0RkQ0lrTjJ5MGVIOThZSXNJUC9oeElJOXdRU3FOVWF4RUM1WGttSTM0WTdvckl5TzhyMzdUcUlqcllxS2FvVUpUclNzR09SMWxOZGgyZDZvbk5rN2JkVjFpYUI0aHZLOFVvbzNPc0ZkLzZ2R1cvRW9tMVdHckxiRk9sQnNHcXlPQWdTU0RDT2Q5WGp1S1lKOEtQaERnM1RsWWV2U3ZhYWN4RE1HbUd2a3JVYWFzcnVIUzNTUVhyTzN2TGxKMEhkS0d1RHgrM1ZkY25Ed1l3TXBSNkttSGxsdzYzNzg0WXFxVm9CR1ZOMkgyaVJUdENmcVNrY1NuaEpVT1VONVRnNHhuYXpMbm5WSkdmT0NkM0VCWDJnWkxjaDBtVjEvRDBhWWVocEt2RW9WNzgwYm82WFFqN3htMG1oY1lpUmZXUDRwdXcyUkxvQkVVMDZKQWpnQnN6eE9EbmVCTWRyR0g3blRXS0M1NElZV1RlcURObHRpblFESXBwMFNCQkFlY2lnWTVUNDFKYkVXWWRyNFBnV3FieDJRcmRWWUpYRFFCTEpCd0JHcWdoTEFnR3lJaU5iOFc4b3grbHpRakE3T1RRK280T3p4TmFPMXNCbWhDV1I0dzRKZ3IwQjluaWN6d2xKUStHTnV1RTRSam5uYkhrMVpEZEUrbUVVUHFiRUlVRVF0cmNVZzNQMWl4QlhnUUN4TDFvT09Bem1rNE5LQjVib01HVTNSSHJiSnVqSjJTUUlDSXR0MlI2V2grSlZLRVpFK3NqdEowSWZDSkRmY1lYc0YzL3ZOLzlJZzNZc1h3V3lXOFYxSWRKckN1NHY3bjFFcFlNZ2lRU0I0Y0h0R3VEWE1oa1hrY1pUQURzUHpNMkhHUHRpK0tHS21Md2ZCd0M3emlWUGJIT2NubFhoRzFUM3BmQkIrRjBKbEV5Q29HS2k5UXI1dWlUd0hrZG1GWjVDZUJyWjRObC9UN0FnSm5LTDg5dllTUVJsMjVVczRTSjltUjVZc1hjWUdKL25KcElnZEwwR0pJbGR3M3QwblpPa2FmakxaU2ZlY3VlaWdaZGVTSnE5dlMrRzRUdjM5TkpZVTZzOElkSm55SmhmUldDbXFzUldNZ25pTGVSWmplN1grdXFwTlUwOVRIRDhGOXUvMG5sS2RVNllZcXRSR3BkalN4OXJsU2RFZXFrTHFBUDg5TlZMbEV3QzRJaVVSYU04Vkg2dEx2bjFoem1vSGhaeG5BMmVjK2NOcHRpMkJKeGpTMWUxY0VMYzRCUkE5VTM4OUdya1JsSUtWd29KQWxrTmxXYWc3UFc4V2xiUWxZK3hUM0o2M1JydlF6TE9JV1pyb3BUdmZWVWdlRWFiSW9QcHZvRms1U2dJbGk3WVUycnptaFFTQkRSalIzWTUzblg3MVpzcjljZ3dZOTJoMXc5UmJiejBmTytyUkNISmY4SXpFT09VbkNmeHNBTHRDWU8veG11U1NUQ1lwaEYvNTBqWDhGZHZydFNEYTRGckd6cExxWElOUHl0NnI3bHRqcE05MlFVQUxnb1JiSUxSRkhkc2J0QzB4VVJuVnpJSkJsS3kzQ3FCZDkxdXEzWjhoQTN2R0Z5RFVEQ3ZmNkpNVTI5MnRVUGI1S1creWNFN0gyRWlmWVljb2svdkI4RzJtcmJKSkJqMmdmdWdPYzNyOWJzZ0xUNWpXQ1g3S3dsVmM2d2NTOGdPY0ZOZE5MSDVDdDNxK1I3ak9Ga3A3T3JZYXd4ZUVnS1loTmMxditEbTFkd2hOajN4VnIzUTVvUzJnY0RqTTNPOUQ4TUF2NC9qQzdjNFVVaDRpNGxlRWd5OG5ERWk0M2JZemo5eDl2dWlkYnQ4V25JUkFjTFcyL2ZqdXFkdGQwT0hFdUJ4R1BaRGJENSt2by9UeEZiRHQ0SW41S2xpZURUVzZMMGtpQXljM1FiZEwzazlnOGUvZTBrYW8wVHYySk9RbWxxSk40c3hYK1dEV0ZINmtIVU54azJoRXA0OUNzL0IzbUludktkc3hUdTIwUEtUSURxTFdqTXpzc1ArZkFGTDQ0MWhrVWVQdHgzVlZzdm1uaXJkQTFnazZ5TFh0UGE1QlQwOGdQa1hlMmRQc3ZyQzAyYy9sbGc3V3RsU2taOEUxZExia2N0Vm4rcVZqUm1sRHRWZzU4N2JLbTBrRUNDVXVXUHJtV0RtT2pFQkNSZlViWHZQUzRJaE5LWEJvOUNIVEdCUmhDdnlJZkZIaTdZUVl4N0d0NmhOYTJqSFV3TUdNOWUzWG1SYmtZWjE3cEJnMUZwS0dCbkVoMGxTaEg4WXZQSGdZSUptYk1qdzdIdmN4ZndKeDRRZU5SK0FRUTZXMEZFUXZGYVRSVjRTREtDbnBKYUVIL0tPTWVWaTlRelpmQnBheC9WMmZBaUdaODkxNklKNGRXR09uOFFqOFJBakJiVDQ1U1ZCMWZNNUtVNlE2a3kxSU4rSmlkZHkvamkvMnBtQkdVYzZzaWwyU2NBYzMzZGdSYlpKOFptQ0RnaDZTUkQ4YkZTanhGTk5MOTFXUG5BNjdQZ2hacjFDMk9tTGxzbXdzcW11dXNzaE1ENTZBREVYMDdETDJnTHhraURjcHU5TmlTR2NVZ1RWNmRQbEtaampxQzdhdHJXM1NjT3puMlZXOXB5Y3UzWGI2RFlvMU1uMHBJQVd2L3drcUw3dWUyNENlNEFiSXBheWN3TmdqUTAwNDBnTno1NjdLanR5K2I3aU5YZGFKTEg2YlRrVVB3bEFGTDFVSkhyMk95M1YxcktEanh0eUplcDF4blhCc0tVTE5JTUs1YllBVTk5VVJOQktFQlNMK3JOblB3bGdMdVJsalZNdmVsUHQ2TTlsMDFpR09jNEVRRXRLU3BpQXZvMkdxNUFxMWUrcEIrRWxRUkE3ZVJwMHJURHFTcXR1VEQ1UmRUY0R4WGJKc0tXeHNQejQ5Yk10QVFhaHVSR0xRZHNuM3VnYklRNHZDVUkzdGxsNHFBMVF2R05zV1JvQWJWeWdLNWw4UGNPV0RvSjM5MTQ5a3QzRFd2S2hUTHYzeGRjL3BPQ3d0bSthUlNZSm9DMkY3M2VSTDVGSG4yVDQ4aEpVUm9acS82R0FyNW1PYnlhdlpYYnd2Q1RRWnRNTzYvcDZrYkVjT2pxcks1MlJZcjVneCtlTmRJSnMvVElPRE9aNExhNDhXdVlsQWRDK1ZBdFJ0Q0ZLeU04M1hxNGhLSXdXWlRHRDI0bHcxVlo4TDFwZWM5eUI5NU1naDNQVGdiNWN0cDhnNmk1SE9SL3NldEluUDhGclZPdmZ2WE9jd2I5TElSRUVyWXQ4UmlLcEhFKzFuMCsyOEs3c2F2U09xZGtPZ3BMWGhwdzlSM1h5bFVZQ1N4V0h5UlFHcllWeTBjR0ZRWkhIQWQ5SzZCNzAvajc1Rkp2RGR5U1ZSQ2x2eXdMT1ZzNXZ6ZkNqajhXOG14RFR3SFNwNFMyNHpBRFNTQlI5d2NmWXptWXBoRnVXeXpKMWxyYUdnL2xVell0M2grVDB3YVVDZTJra2lteC92N2NIdzFTVXZTSGtZYWlORjJjaGZPOWx6eDdNZ2NTZ1k2NkdZWGRRbkttQjc0Zi9HMTdVTHRXZEhFZ00ySDdKSCswWmtOSUV3Ty8rOU96SjJ1WGF6WUhFZ0IyWTd2WDhBUWR6SmNBUlg4c1VvRXNZek45K3duZjlTUUxXamEyaWplenJseG85KytOTVVJbTdZQzdmWGk0SGVrbFJIQmM0TGs4R3B1ODZpVU80NldXdDBCZnN6TXFaci9uNHpmWlhacVZ5YytCZ0hzcUYySnN6NkVtT0ZCdkZuS1hxUVE1ZW5HVFByMnJiMVRPdzNPdzhWS2taTGNQZXhDMnoralo5U1E3TWhoOEd4NDhNS3BqMEowWVc5bnBiWnhzNmVac2FqZ1BWODBiZlpuSEN3WXRCSzRmUTVacFh6MTdqQ3Yxd1pyR2g0OWhlbEVnNGVER1h6MkZ1T01lckVOSmdnYlYyNmo5NEVRSkhQNnhoVXplYjQ3TzBBSVJGQ2IwZExKR1A1czZsUk1Da3lwdk44U290V0pIUFdFdmlrYW96ZHk2cHd0dkVBQnlZNVF0VzVheWJENjJkU3dPMGN3c3FPVkRsaXhIMXJJc1NuY3ZHQTJURE4vV083ZTAxR252Si8wV1l6WnF5NVJ2WmRiZTVEQnlvaXUyTitENHBrNTBOYjdRZFI3YmdDNDkvNGpZK2J2RUx0aDczTmVISVoxcVV3Q2JGbWtXQloyN2o0ekZNaVMycXlzOW5hZk9oakowa0hiem9IUG9saWQ3R3h5VW5VdTZZNG9jQ3BLS1Mzb01YNTJEUThLc2JvWHNiSDQrd0pMYWdxdjJlQS9scHIvL2dSZnE4MmNmeFdQSzNoUzRITU1YVjF2K20vRnYwaElNWGkzdDdyZkJuZTNzTmw5QnRQaU1IcXNhQ3N0cDhtSGp3SXI1dzNzaEkvQllzeWdGTThiZFZLYmIwOHMySDlKMjY5K0JGMUVqQnJ6QnZFNWs1Z0NtK3I0SEwzTkpPUG5qUitLNVhZOTZtTW5JQVU5eDBlc0QvKzhCTVBualIrSzQzWXl1M1lKb0Rnc1d5b01RM0h5WWZ2T2d4eHlXTjdQZGlUNWc5Q2JlTmJPUmUyOG9HTjBxbytTei81STZ0YjlaSFpQaFNnRTRrU1Q1NE1aZm9PQTJkMUViYWxXMUR4eXdQREkyU254bG85MDdTZ2JhZERiWGdnZlR6OVVFampJdytlQkVmUzF0TFJlbXQrQ0NTbkZUNUpFeVo1Nk9EODJGOFp6TDVVVVpRODV6eDhiT1BmRjI3OVJ3RXFuT1hwZUR4SDVwWXhybFQrVVhIKytEcjcveW5lLzNIQ3gvN3FXUjR0dVc5VlJXY01Mczg5dlI4V1gvZzcydjhnRmJiekd0YlRucW9SMHMwNm9NWDQwN3NNa2tNa0g0SXhzYS9ML04vU2srRHJxTU05Q3JPS0RLZ2pBU2taSW5vMkNZVzdyWHQ4c0xMci93dUsvRWZ2SWh2eWs1c3BLRnpUS3lzZTlEZlZTR0daMmxyV2I2WHZiTlhIang0OE5Rcjk0em51QmllZmZCYkQ1NjZaeHJCbmhZdlhYdzN3M2UrM2tiOEJ5OUMzdXg3MFFhc3FJS2xYUi9PUE5XR2IvcXFkWGxkZk9SbTZBVXQvdW1NWUhZZGFvU1JwWksvODAxdXRtNmZTQUwvWDhKRHUvcW1wUVRKZkNkMkpIeU0vRlZVeDBzZHM0VTU5VlJlK0ZpRk1mZmk2MTlSQUhOUHM2STNmbFJUUmFOTHJGeGlNcGJ0MTltd0NPRTA1ZFpsK2t3Z1NWSzNzcHdtOWRCWWtXS3JJdCt4Ky9jczJ2aCt3eTRiVVM3YkdSbXhqZU1GUGZJY3ZDak80RjF0eHlJT1dIZ0FidmlPOXdHcCtVcUdGOG82YUFiUEtMSkFsZVZGR2JEZlB2RFd1YThtclR6aDRNVTEvcUxYZDlOb1pLbUh0TkxoK1JnRXZGQnA3U3haajJ3YkJGMDZGZHZzY3F2enpNK2tkdGZYbXYvZ1JhejRrN3RSak13a0g2bms4akk0bE1UVFZtcGt1R2w5anI4RGVnMm5TU002NnRUa25sMFNpL1NERS9ZZnZJaXZzVTlCYjFhY1R6bzRhUnVqQkE0bGVmS0xpYlZFcTJOeGVBMzAxdTBtRmkraHpteEtHWEk5WXlQaDgxOSsrWkZrMDlLamRqSjJuYVpXN01HTGNJQlFGV3gzOFpQRFJhdDRaNDBFUXAwRVc0YlFDbGJ3RTJjclIxVHhRNE1KQ1EzbFUzVnNHQUlWOUVXYXFUdStvNHBscy82REZ3TldOWitiYU95ald5ZXkyWmo3aWpXRm93Q3J5alprZFlqRnVWTzZtcUNhby9RdVdiSmlTTUVYSCtubEhqYUZrMmlYd0lYNGd4Y2h4N3RCOEVSdWZyWGYwK2Y5S3hpMlgxeVBTNVlZcHczQ2RnRmVndjA0dkJHVkxWb09SRWROaDlSMXM0U0RGeGVnSEhJVWpZbWVQckdsZWorUk9YMWJiQ1ArN0x3eUswTWJiSW50ZWlxTEt2aEtBQlhwVVhOcjI0UERpaE1PWG9TcWVybjhuaVRrd2VxcTRGRTNBVVdlYUIwUFVneHRodEtoZGphMTFuZ2p1UjFEa09OZm1ROTV0ek9zNGlRY3ZGajQ1dm4veEE5L3FOSVVUejlZbHVvK2x2cWkzRkFtYXVtVk9UVWg1eDBoWTlhTklyMXRSTFBRbVRadlkwMnAwSXh0ZGd4OWtCRWxNMWlhcHovUC92ekxSMjdGOG4vWVB4RXEyY2x3VmhNdElSL1o0Y3ZYakE3QkVLdHhTazZZS3AyOHE0M1NNUWFBT01DMEhOcWNLQmxUaXJVSllwWVlPWDU3Z0s3a0FMcHF2SFNyVXFnajNybzVFRzJFQzdjR1FoZ0lPTTNUVHlSV2RUM1dzcmJJQ0RIeWI4eUoxSEtvWERJVXk1b01qRUtmTjdMU1RqMTRNU3NoUHh5TDkrMzY2eE5ySW5PaFlzZXRadVY3blVnbHgwb0l5WFZKcmlTWDJIWmtRdGI0NzVqZDdhU3pHLzJZQTlTVUlBbVNQUDBFVXRCTlRtMUgrM2xVVS9xVlV6L3liRS9iL3kwcExTdXU3UFAzQWk3Yy9pWFBidlFUbHpXcG5yNEVqTjRYSXBISHVuMXdvL052ekZFS3VaZDB0RDhnL3lJYUszK05yTzJza2JhOTNObU5HWnFxWUpLZlpJQ0xndHd4OUJTdmhSNDJMUFRGUVJUUVp6OFFiV0R3RWg3cFkzalNITisybFhraXpiU0RGeE9STTFlbWVmcCtRbXVoYTRwczQrbHArSjJVT0ppR1pIL1NyQ1R3TTJkSFp0VWdhUjdOSmd4OFROK21PMFI3ZG1yak9YZ1Iyc0xRTjlUSnJGZDA5dXlBVkVPaDk5WGVlRlhrVFRRTnhwUnROOHFMRTFPaC94ZGFidEI4THJ2ZUJMM3hITHhZQlp1Nk1iMVBMYXBIT0xObVByeTcwdWRMSlFTQWxuNVVtQUtuV1ZEaVlGYWtTVWhSTlFMQTlzcDJIS0NuYkR3SEw2WjUrcDdPMFlUb09uVXo0TGg2aDJjR0NZMzN0UUlBcjF5NlRqUCtyQTZoaU9YNFQwWWtueDk1YkRYTTAyOFAwWnl6NVFBVUtFQytLeWtORkJvdnE4bEo2eHFia3NhZ2Q3M1hnVy9RbkN1ZnJROUtZd3p3QitEVE1KNStsRFBrd1I2S0hoYzA3OVBIQUQzM2xvVGFFVHBQNWdlNTYyQUszNkJaRDE4YUJIMWNzRU42K25nMzlwMHVVb0Q4dmlpN1k5aUpEbGcwQ3oybm5qa21RQzBLa2ExRWgwVFk5dVJud2l6YnlyT1J6aE5xU0U5ZmgwTlZaeWhBdmlGeXJVRThXVHgwaVljbEFMbXBXOUhObkpBMklUbU9KNWM5cER0enE0TURsc0NvUWZqRFd3Qjd0NXkyakFCNVVZbVg0QzlmK09Pbi90V0JkTEtRM1NleXFCeGV5S1I1ejBDRldkKzdESWsyYUg2aC9MaGhVcGlpTkFtRDdLNnc3RGl3MW1WYTNFa0pDK21nUStOTU0xdEJYQWNMV2NqdWZVMGpMaHlUaFFvb1NEMEM4Zks1OE9jMVFYUDZiaFZ3Nm1UUWJzRXVxTGs0b0NOZWxtT2xDWXMvTGFkYTJKRGQ4dW5oMVRFZmp6eHFNd3NWOUVicUVYUXUvS2pidXluS1AwVC80aVpXWWhjaGV4c3VBSGdyT0YyK3IrdndpaHM1WGE1VEhSMGRBTmxUWFlHcGZTaHk2VlFBS0Z0YURyLzlBMDFsK2xKRGVmcHhISy9JdjZKZk1PYy9lTFViR1hURExERmt0eW5TV2J6bFJBREdVU21hUkNpdHZLYzl0MmJLOGxWTTh1NkFmY0lwbUEwWEJYT1ZoNjlLNXBJMEZPcVdDOW1TRzZhb0FqTlp2V0k3V3FTanhqaHFNNGJLWXNSWEttdWJ4MjF4dXZMazZac3N5Tkk3T0pnUnNMcmNyVnZaTU9xZ1k0MGNTOXJuWkpxeTJ4RHBnRFNPMm95aFVncmZkQWhmR1k0elM4RHBmRm8yanVOZ0Z6T21sNnhKZlNleWRJRy94ak1mZ2ltNzhacVlMZXVqTm1Pb1ZFMlJ6N0I2a1JLVDJEU2x3YW84NW5nSjd3b05xOGxsaXhqaFdtVHBBc0VUMCtnMlpiY2gwbTBHeFZDSlJuYXV6QnduZVhuZkhtQnFMazZPTjhIeEdqQTcxdHUrTFUxR1RkUCtFbmhIeTI1VHBHdHdTa1dwQUhiZmhzSFJIRjJuWkZxemR3ZDNnZUpzbFRWd0hFcHl6ZzVLMXlQaTF2NkhYK1JNYzF4RldHeG1SYWxBL0svYk1GZUk0dzh0dDhNWlJudzJqdU9rZ2R0QjRJVEdvNEgwb0dQWkZCMHR1MEYxSTc2OUtCVWREVmNZZzcrcUNuWE1pWW85SzkzVzUvL3hyMzc0aWpPZjRueE9TQm95dmV1bTEwaEc4cVpMME41Z2JNaHVpUFJERjVqbm8xUm1kRkJkb2d6aE8wdlU4ZDZYVS9RbUJHM2tEWWExdHVYMmtwenJRNWpYNExxK1lBa2U2UnhMUVFLM2RaRXB1OUdTVWFOaGFLbllwUkxkK3dNdjZkREFtZUprSzBWdmZ1a1JXT24wSDQ2cXl3THNiYWZYK280ZGJrVmh3OEdGQks3cEl1UlU2QklpM2FqUk1FUzZZV1FwZVNERFpxb2N6MjVYWmFZNU1aZXVONXNSbTFySG92WFFLRnl3RVJ5OHJVdVFrdi9CL0dlOUoyVzVMWUZ0YzV3ZVYrRWJETkk4YWpPR2lxME1DQU4rYVp0aFR2dlBKOVAxWmpOaVU4ZkZPZkFVd2xOM2c2Zll2LzJPOEZVVzNvcWVrd2w5MjVVczRpSjltVDB6NjZoTmg4ckgwUks3emlVbTNmSEV0OHo4MUtZemJER0lXc054Q2hGUElmemxzdlA2bDBMaTMrTFpmckJEMFJPU1BQenFDb1kwdGI0VEluMkc3SG43cUUySFNrc1NzVGdPMmpWQmRLcHZxeWw2a3pwZmo3clB4ckV2YW5qZ3d5KzJWVlNLRjdlWU9kNS9DVHY2MklhS3lEbVp4MXJmQ1pGZTZnTFZQbXJUcGJLMzk4VXdmT2VlSFNPMGd3ZXFWMU9YcUljbnFYMnFSSFdyM0V0cDR2WVFCWFEzZURKeCszazhodU5RVGtoYkFsZTF2a093NWhUMDZwdjRjWTdhSkR2ZG9tSXJBeUJvbGNFeTAvdVR5ZC9VVEZFRDRiTk9aVm1pVHkvN3VsMUd0dmQ4RC9LMUUxNklHdHNjeDJQYUZCV1k3aHRJVm83d1l4MjF5WTdXdEtuRW1PTXpHZDVXMGRJa2J6dnBlcE9NQUxETXZ2UzJTbDJPNmVvT210bmVUNUQ1SjArM3AzajR2c1loNFgvQ3M2aWc1RHhab3ZaUm16RlU3TmdNSTlCa0tvUFRtdDVmYk0yakdaVjh3ZDFwdUJCNlc2V3VhWUZsR3pwTEtiSzk1OWpXcUMrZGk2ZUdvblVOUkNabGwyY3BTckFaQkF1UGtiV1Ayb3loRW5OS1d5bGlvWE82MC9WcmZxN2s3Wm0waGsyQTFhaVREVkVkOFl0STNCNTgxMFRFTmt6VFJ5SkhsV3dUWEoyUE1PazFRMitFZmRSbURCVmJHVEQ4QS9keHM5SnArOG1pTi9HZlhOSHcrWUxGTno2c2t2MlZCQlZDM0Q1NzBlRFY0dGVPanRQRTVvdDBxK2Q3ak9Pa001MmpObU9vUktQajBCU0hWa05UbWJrYm5qZlNPOGF0WVJzT3NyMW1sMkJpcWcwcnFtWW5QSGRkYjFzQ0E0ZHJpYm5laHlIcjd3ZnpaU0Y5d01GVFFTZEt4VllHSEt4OEZWek9iS0l2emk2QkMzU2srQ29TYTVaT1pJVUgrRlRsYjlZdFFGc0NINGRoUDhSdW51ZjdlSTlXdzdlQ0orVDdCSjE2S0JDalZHeGx3TURnOGphc2hxWXhnMDJIV3huNkpZTFRjOTk4WTFkRHg3ekRLOHJrVm1CVm1zSm5mNkR5U05qcmt3QW9WTUt6UnlFcDFtSW52S2RzUlRCVmRpNUtKY2JiV1l3RWY4eFdweVROUGpieTlxWHdMNktLVzh5Rnl2bnJ4ajc4N2FpZVdvNWFtdGh6K1ptK3RyaUpJRzNEMUZjdnZBam1YK3lkUGJsT1pZV256MzRzNjR5ak5xTlV4Q2x0RXBidTlJSk0vVlZWNzIxY1YxZmhLZEtGMS9VSXQ5WUhZQ3J2c3hMNm1kRkJWbGsyZDk2V1NYR0haTmlubVh1aHkxbVJ5aUluV2xGRk1xR1Ayb3loMG95aU5hWE5Jd2xNNGQzOHJqcW1lenZDYXVQQjZkWEhEY1JYN2l1NGhSanpVRlhLQkt4dHpGMklBSHBrL09KRlJzNWVNcElWRk15UmE1NHhWSTZqcjFOTHlTTk5ZOXBTcGZDOVNWM3FuUEJhWmtBWEsvc1VEdTBxQkV3OGxmWW1oTGpWT3BDeDN3QUh3S21STlpObEpYMWlxTmpLZ0tIMVRNZktKRFE5NlJTOXFkYmtXUWpqMC9CTHNIaHdvcnZmTVNhdUxyVlRRdHl5U0ZpQm4vaHBuNU1KYzl3Z2FTTEQvTVNMOFZvTlpURlVoREw0aWNhWXZ3S0tNMWx2QmcrbHNVVXJpZ1d5a2pIWDF2VVFkd3dSbzB2dGxCQzNGV0xyTWw5Y1crTVN1TDdMSUp0UmcxSlE0SzRwQmJSZzV6TlpiMUxoYUF2R0JzZlpxRjRSbEtibmxxdzNnNzVVZDdTaXVQMGI2SGV4Yng1TU94c1ZwWkd4Q1hITC9tOW41cFJWOHhDWVBDZHoyM3FJSm42VEhOMENpL0JHcVVDWjA3TTN6NVZxK2w0V2sraGswMHZKcitGcytMYm9IMElZUytlMVNHZUxwZ1VTcWVVRllpbUR6Y2p0UTFaMndBUzNQQ2V6SGhNczRLaU16Y3ZNNEl0U2dhMU9VRlgrb2pDRXV2bitjUkxUOXJ1dC8rUXNybXRhTjVYRGx6ci9IUU9TWVl4TUVOQ2VsU044YzB1emtoeWdEZnh1ZC9HRHErSzFlT29FeDQvYWpGTEJYOGtDZVU2dWNTQmQ5QkpDNVhSYzgrWEVTWUh0UG54T1VqeTdaOGhMM2ZzVkNhR0wzSlNRMG1SR2NBRkJuNFRmcHhqNEZnZFZuMVc0bUJ5dTM2YnlLQlh1WCs1d3pjQlFGOEkzMlgyS2YxWVNYYlJDVDluUWVJUERmL3Y3bUpITXBlb3F1WlJSeHh4ZkVld3BrWVVwejhrRWdEUzYzUVpLa012OHFNMFlLZ1dLSnhUS2JZMjBNLzFockU2aXcxQUhtOFZ3WUtIZytpMHVFL1FRa2FxYWdXNnJSbVRrUHZ1SG1OZjlYVjVvblpNSmdJMDRSSlRwb3pianFKQkVhekVMUnFCWGpBQ0VoK0tFaTVQalB2OEFIdE5TREYyd2h1Zi9LN0tjeG1zMjZlYS9aa1hvZTc1My9qVVpFa1FRVnArVGliWGtRdys2UG1vempzcHkrUGoxTXlHWmlNQlNzbEx5dERIVzRpUzlXZndzeldvcEpKazEvR3dZWTN5bC9wVkFzU0w0dWZUNmh4Ujd6SE15MTBLL01GQkhiY1pTZVhmdjFTT0RZVTJwR0l5eTZVb202YzEzVllqaDZuWG4xbkJWR1l2R1FJN1BHMFp1aU9SMnpMckdFR1JnQ0prU1ppZ0tvMGJ5NmMzaXIzKzVRdXpHdFNuNndNMUVkWUtnMmJQRkRHNm5DUjlKdDd6bWVBUTBzV0JXOVRZUmJKS1YvZkI5ZisxZWYvanlENS9pekdhL1VnendFQWIvOU9uWFpLSG9lMTBLK3lISGNzejk5eUd4TlZyclFxZW5Nd1gxbjNaSk8wVEVzKytFTktpT3cvRUZkeEZ6d09IT25yY0h4SWdGdit2VnY3SGdreWc4VHVPM3RrMUVQSnR2ZUNxN25XMU54YnBMU1JsQ2J2K21KWTk1bTNySmhRSmhEYk9RMzF4RWlOeE5kRnpITk42aXNUUTFwaVlIYlFhV1N1clZGVVM1T01HZUZRUzJWdVZqMEExK3FxYlRrd0I1ZXRzQUFBQldTVVJCVkVvVitSYi9TVFdmZDdzaW5yMUNzZGxTTjIvcXQvU2lIQkM3OVJkb2p0TWUyZHRyMUJ3UXdlbGkrUTIyaTM3VXpkM1NSeng3bDNIaDArRy9semR2K1RFR0RueGUyaWYvZkU5dDNobERzM2szOGY5SWhMeEoxa1VLQ0FBQUFBQkpSVTVFcmtKZ2dnPT0iCn0K"/>
    </extobj>
    <extobj name="334E55B0-647D-440b-865C-3EC943EB4CBC-121">
      <extobjdata type="334E55B0-647D-440b-865C-3EC943EB4CBC" data="ewoJIkltZ1NldHRpbmdKc29uIiA6ICJ7XCJkcGlcIjpcIjYwMFwiLFwiZm9ybWF0XCI6XCJQTkdcIixcInRyYW5zcGFyZW50XCI6dHJ1ZSxcImF1dG9cIjpmYWxzZX0iLAoJIkxhdGV4IiA6ICJYRnNnWEhCcFgzdHZaSDFjY0hKdmNIUnZYSGRwWkdWMGFXeGtaWHRjYjIxbFoyRjlYM3RrYjMxZWUxeDBhR1YwWVgwZ1hGMD0iLAoJIkxhdGV4SW1nQmFzZTY0IiA6ICJpVkJPUncwS0dnb0FBQUFOU1VoRVVnQUFBVm9BQUFCaEJBTUFBQUJsdFhTZkFBQUFNRkJNVkVYLy8vOEFBQUFBQUFBQUFBQUFBQUFBQUFBQUFBQUFBQUFBQUFBQUFBQUFBQUFBQUFBQUFBQUFBQUFBQUFBQUFBQXYzYUI3QUFBQUQzUlNUbE1BSW9uTjc5MUVFS3N5Vkx0bWRwbTBySHJZQUFBQUNYQklXWE1BQUE3RUFBQU94QUdWS3c0YkFBQUtxa2xFUVZSNEFkVmFUV3drUnhXdW1iR25iWS90c1Vna2tKQjJSdUxFSVJwSG13QVNoM0VTTFg4aTZ1VkFJTEpRRHhKY3VJd2pKU0loV2NaZ3hDRWN4b2VnSEJMSkl5N2hSekFyb1VXQWtNWkN3QVdoTVFpSkE0ZnhDUTRjeHNSanNydE85dkhxMVc5WFZkdE9aaUwzMXFHNzZyMnE5NzZ1ZnZYVlR6ZGp1VXcvVGpaYnVRUVdBdlYxMkV4dWh4UjVsQlhoYzZ3SU4vTUlMWUNwZTdMRldQUHRnQ2FIb2dYNEVxTHFUM0lJTFFDcEM3c283Y0IrUUpjNzBUSzh3ekhOd1hydW9BVUExZUE2bDViZ0tLRE1uU2lCRnNkVWdUdTVnK1lES3NJeENTdHcxMWZtVHRLUktFc2lmSE9ITHcxb0xNSVdSOW1iYVVVZVN3V0FBOEpWaGZ0ZzdsMEFXQ08wSGJpWHg5NU1ZK3JJUWNiMmNoVUpTLytKTi85cUlZMStSWVVSeVBYQktFK2o3RW9NbUg1ajRMNXlTdmtFL2l0azNSd3gyTGM1Vmt3YTdncHNjNVNMQUJ2OHpsZ0MveE9aeTcrV1k1aDhZb2QzNzNjRW1ISWkrR29WNEpBa0VjQmJsNDlUSUJqRFY3WVlLM2NSN3IrNXBEeUFIbW5tUVdiS3VwTkpmcG1YRitFcGNsOFlJTnlYUDFqNFVReFBDendkRktpMGZaa1FqZTlDUW10Q0ZDdzJKVFRGclgwRkZlLzdwc1ZsNXI1MmpHRWdVbG5BUFJVekFtTU51UGROU2pXZ05ibXFkNG4zUWQwNEo3aVA3eXBCVS9GV0gvS3kweWtyYlB3ZS9meWhuNWd5R0xxOUR4WTFtZ2xpQmRzOFNlNXl5TEkzQ1JUT0V1dTVRK2NDUXBCMWtoVnpRd2t1Ukt1TWMwS1Bpdk81R1dRV09qZTdwSGlyQm9xUzNTbzVLbVBmQ3VZZHE4Vk5qc0I1VURCdXQwaDRQNFF0UTA0Z3NDdHc0ajFKRGdVU2JlZStPUHBnVFJFSlk3bnh6V0YvMnBCR05Nb1cxVmJTVnVVd1g2TjE0anlkNE9ZUW5nT3BRaHNkT2h4M05POURzZkNOcjdwV1gvanBxNjZJc1lLOU55ZjFsYzFkZmkvdzNkanFtVjFiK0FqZnoxbnBwRVVXM3ZYbGoyamp0R2MzNDFzdmNXWm9TMW5OWGJ6aXRQQVkxUmlkc3FocFZ1dXBWbFNJMEtLVE52eGFGNUFNeWNya0g2YnFDdStHQUhVMjNTZm9nRHlhV1liUEpHY1N3b01PVkN3ZUdZY1h6NzBvN1V4YXFrMDVnZE0vcmIyZ2l2cSs1TkVwUHFqczdpdkpFOWJqNmlZcWd5L0JTM1dsZkRmM0JINzc2ak0vUTF0NjFkK0FKOFZFNnBpWmwrdENJK2F2eFpUT3lPM2hZMzN4NnFOd0ZWTnp3cTlYWHo2amVxYXFBZzl6M2ZQbzkrT2kwZ0tjQnNHeWtSY2NIV3dWcnB2MkY4WHd1elhHbGltU1NsTjhVaHZmRTRiYitQUm9FRk16WTVNZHhkNmhFUzRWTDRTMkpFNGlLdlQ2cW5lRXgvZHdYWlJIUXF5QUk0dkdkeVhySkt1b3FscHVNQlNzVW1ZV0tZT25LajN1M2xGbXZmTVVKV0VIcStHbzVaOCsyVGpyUkdCdXd0WHBWRktqTEMxMlNnVzViV3NUenVHR293NFZYLy9iRHg1OTJsTzA1VWttblJOeW8wdnFhTUNyMmcvRTI4V1dCaFVaOE9OMWJyU0xYczVMK0dVQVBBYkNwblhkc0EvOHlMaVdTWnVERFYzVlpPTGJKcCtaVTEwUzEzbVZoSzQ4bDUyaVd4aVk5Q2JzT3BFMVNGYndjZGJZUUllR1hRL3pVWER3ZFMreUVldjJ5TllpdFBnOWFJY3EyQmU5NjdlRXkzYlhOUEUwb0p4NS9ycGlwdDFvVjV0b2VEeWhWU2J6ak1nV2FVU1c1ZjdZcUlNNVJIdmdLbFp0WnpXQWQrWXpuM3hleng1c2FEcDA2TDB1MTRVcHp4SGRyb2dlTnVKd0RzbXg1V3JtMzdJa3l4Z0tZMjhHVUJVNmVqeEdZS0tsY1YzcHo3KzM2WGtYc2pnbmJRQVBVdElDTEZWVHpqQVVNaG1COWRkVjZ4WHJDOTc0VUVuUHY0L3BSYzdMM2Z3NTlVdUJSV0J0MjI2RW9TQS9nTnBTbVIvWGxiQmlsaFJzc0srazU5L0ZJTzlZQS91TU5sWExpYXEyZDZoeS9NNVpvV2NMN0h6U1VxV3FOZHM1cnNPa0xob3VpUk85dHYrR2xXSDczcmFjS0htN3JuSjBiNnJEd3BTVUNwRnhzbWVZc0p3Tzh3eFNGOVlxWWdrM01vWjhMMGJTTUU2MHNIK2dzenl6bHgyM1M0YkErdVkzcWxWREZMeDltTlM1QmxOSERQTHh4ZEEyQTJlclR0L2lRQXdzQnNoWDBmVGl5TERjM0IxU21rdUkxS1cySVdBT0xvWldIYklhMDlpWmgzWUpONElBMnltSkxpeFlyR1g4ZVN1VUVLbExHN0hZSnlWT3FHc1BxUXh1TmxvcEFTK2tPUUZmRmdTQ20xcVZ6S3pYTmRubU5pbk5KVVRxUXJzc0I3azZQVFZ0UWpsOHkxdWVQTTIzdUZyVUd5MjM2cHpwMjZhZUFKZThEZ2lSdWpCVmt2M2dkZHBMTy9FVEg3WGNmZURXeWZmeDN5Y1RlVnBYc3VjeVBCYTRnMHVmUTYyMU0xWGRPaktqZFU0TFZkVVFxUXVkWkJJdlZGNkR5U2NUODUyYnZRYkhPN0JkRGYyVlVieXIzUEE3SHJtMHMwS2hxb08xWkJhZURiTmdrSFpDcEM1VVhjRWtpSFpiMXFYYjgzQjdsK0czMkgwcExNSzlOZmJoMDNab1VpMmJFTVRhL2NrV2pyTXdLMVQxaE5uUXMweGd3UllpZGNLaCtoUXBXVS9ocUZpQ1NRdHZSUVV1YXRMODFFeUNhOEdZVElsTEZML05mekF3YkdycDhHY2tTYzI0OWxIdi8xay9ha0trVG1Zd29IZDVCbEVmV1haSGNxZWR5TTU0VGtSM0xid0VhRWdNM0VDSjQ5eURVTVJ3NVlad01zU1IyS05zRkNDakVLbFQ1VG01ZzBPMGVwRHlQcFZ2Y2lqN0tCRVRIdjVWZEVqTjBwZmFoaWwzZVV2c0E5V0xSb081aW53SVhFc001QWZIQndOZmNFQjRTeldsd2xBdDNGSzlNVlRmTG1zaXN5RGZHNzdBbm0rRFdWUG5xaGc5M2ZEc2l3RmR4L1k0SHQ2c3dXUVhzOHV4djJBTGtqcTVUVlJrSnRZMkdUK3Z5SGRiQll4Q3hvWnlCR09mWU05NUtUS00yUlhaU3JoekVjZnhHK3hiK0N6citLZkg3VGZZNjRuSG5QUm1RbDd3TnhIOUM4dkFtaDdNMTBEeDF4dUd5VHBCVkgzczR1MS9Wa29lVUErUGdHNEhYT0pEVUpxczhXQ2hsRnJTK0tSdTB6NzJnY0NCL3pLWWtCenFXS3JTZmdRdDl3ak9uSW9iQjI1UjZwY0ZsYUNXcjNJRHgzYm9oZEpqZkZpTGROT3k1Wk42aXZacm9CaTFiUTMzV1BOVWpiWUtIYlc5cVluQXNPekw3QmpabWJFYk1YeEI2WDZJV0U0Zitvc3F5dnV6QWlFL0xCdUtySm1MZVFpNHBKNm1mV3dpN1ZRTlJlS2lRblk0NjFQZkR1bUtGZlhvYzBDd1pUajU3dTkzY0x0ckZHT09ScEdxRW1QazhmUXdsbVVvSENvVnNtaVRYcEZGNmc3dHQ3VjlISzR0MlJERDQwQm04VjhYekExVWwzWVZYMHExdVgySVVEeStaU1NGQm9wY3RPd1ZYdTlKcXZVSG5uM0tOR0ErcVR1MFg3eW1jRVdEajZtRzJNMXJNaitncDlIL2tNVHA2VmsxNFBjYnR5YWIvN0lGalAzaWtjbVgweElzL1RtNUpvK0lvMy9HMTFJdEVwZlVQZHIzcktHZ3BzT0RFVTRrdENPcWg5UHpmcWpCYkdTS2NBeXA2OENUdEIvMDA5YTdjQXl6ZGFJNXZHSkNPNnJUZ3cybkUzcWs3dEYrMFA2UWdwV3JNSmdQQ0dTZEtxNWFNd2dKWm5ueFNkMmwvYkMzdmw3TmRRZ2VkdWsrMVp6bmRGdThIbTQxcmRRbmRaZjJ3eDcyRkFYZ2xIRVhxeUNqOWFobWh5dm1qc0t0cHBWMjFHalJwTzdTZnRoRFZkT2E0R0NNbnhiVnBNamFXdyszbWxicWticEgrMkVQYWwzSDFDaFZmUnR6YmhnZGhGdE5LL1ZJM2FQOXNJZXlJdlVSZkpwcXlCOGNzUGtHZmx2YUNyZWFWdXFSdWtmN0dSNEc0czNqZExwR05XcGlUZDdsUzRsRkhHanZSL0pKM2FYOUxLL1BpVDRkcTgzVkN1MHJIamh1WTk5V3JDMUdWdnYzSWhmVWppMDFxYnUwbjJVMWFrNTZqUDBkUHE4cWRIR2Rmd08yRnhCMTQ2WVN6dmFPSU90a1VaTzZTL3VaL25DQy9uVWlGeCs4RXY3MXRBT2Y0aC90Zm5uVy93T1o5aTZnOEVuZHBmMXNJeS9kZ2szN29PYkdJeWQ4TFZMKzNrazl1OUZVR3AvVVhkcWZ5dnlNRy91azd0TCtqQjFPWjg0amRZLzJwN00vMjlZZXFYdTBQMXQvMDFuelNkMmwvZW5zejdhMVQrb3U3Yy9XMzVUV1BGTDNhSDlLQnpOdDdwTzZTL3N6ZFRldE1aL1VMZHIvUCs0bEdtOHF5aDNrQUFBQUFFbEZUa1N1UW1DQyIKfQo="/>
    </extobj>
    <extobj name="334E55B0-647D-440b-865C-3EC943EB4CBC-122">
      <extobjdata type="334E55B0-647D-440b-865C-3EC943EB4CBC" data="ewoJIkltZ1NldHRpbmdKc29uIiA6ICJ7XCJkcGlcIjpcIjYwMFwiLFwiZm9ybWF0XCI6XCJQTkdcIixcInRyYW5zcGFyZW50XCI6dHJ1ZSxcImF1dG9cIjpmYWxzZX0iLAoJIkxhdGV4IiA6ICJYRnNnVlY5N2FXOWtmVnh3Y205d2RHOWNZV3h3YUdGZlpDZ3hMVngwWVhWZmUyOWtmU2wzWDJSelgzdHBaSDF4WDI4Z1hGMD0iLAoJIkxhdGV4SW1nQmFzZTY0IiA6ICJpVkJPUncwS0dnb0FBQUFOU1VoRVVnQUFBNlFBQUFCVEJBTUFBQUI2N3RmU0FBQUFNRkJNVkVYLy8vOEFBQUFBQUFBQUFBQUFBQUFBQUFBQUFBQUFBQUFBQUFBQUFBQUFBQUFBQUFBQUFBQUFBQUFBQUFBQUFBQXYzYUI3QUFBQUQzUlNUbE1BemUvZGlVUXlxNWwydTJZaUVGUzJERk1YQUFBQUNYQklXWE1BQUE3RUFBQU94QUdWS3c0YkFBQVc0RWxFUVZSNEFlMWRlMnhrMTFtL3RzZHZqKzFOU0FPbDBiamJCMDJoekpLdHVsTFU2cnBBb1pSS1kwVThwQXJoU2VFUEZCU05sNmRVRUdQS294R3FHQk5WSUNIUU9GMmdpRW9kaTVmVWlqQ3pJUWhFSmNZa1Zkc2txR1BSZnlJa0dEOGd1K3NrSEg3bjhaM1hQWGYyZWozMm5VUzUwczQ5ais5MXZ1ODczL25PdWZkNm8raTFlMzF6TFhmWm45ckpYWVRYa3dBemg1M2Noek54bkxzSXJ5Y0I2aS9sUDVwaWZGLytRcnh1SkpoaitjZmRLSHJxYVBkMW85SGNCMUo2T1hjUklNQVUrOEFvaU9IS1VHSVhMMy9QaFF0M1AzQ1IvWS9zZVFndHZLRjg0RUtPVkcyYXJZNkVQUDNSVTlJVU05Y05xYVFHdFJ5T2hOTENRbFJHSkRFcHNJMndnRG0yZnVaVDE0UUpEejczbTM4bnhmanBxMlhSY3U5djV5aldiVmhQc2xjOWlJOS9sOWR3VHRYNDFqa3hPaEdiTVZqd2xyM01UOGFNM2F5ZWlNWTVBei9EZGx5T2srei8zSWJ6cW5WWjlieFluWURQTkV5NjZjQS93NDQ2VHNPb1ZVcmVFbFpzNUdYU1dYWnAxSlFEZWNaaDBxb2oxelI3ajFNZnRjbzhlOFVScWZnNHk4dWtVVmxsbFk1QWVWZTZNS2tyUTRGdHVRMGpWdXU1VWVYTExZd2dwOEFidGIzcE1CS3FhalBtNVkvVHpGNWFSMEpJUjRpNkpkK0x2eFBEb1BtWmRJSXRPN0tOUkFXN0ZpOXRtL0NXcXBFUTB3Z3h4VzZhQ3FSbmI3K2VuMGtYYzRzUFJnZUpVc3lZZDE3YTgweWNRTW0zWWM3ZXduenk4cmYrYllTa1BhL0FHOFdqdDM4dndzMzNYUnYxUFJPN3ZiblhhdTVTQ25ueU5HbHo5QktQUlpoMDJ6VlR3ek94MjV0N3JaWElTUEkwYVkrdDVLNFJUNEFabUhUTGJZdTMzZnBvMVlyc3lCY29UNU5PNXhmemZUVlFmUUltclZKRjNJdStpWjNlM0N1ejlJREJTSktuU1NmWnlDV1RQWmpVS0llWEZqMFR1NzI1MXlhOGd3WUlsS2RKSThZNnVldkVGYUNmMkpiT2VDWjI0WE92MVpJN3dWeE4yaHFSQjMzR01JRnRxWGZ5WUdCSG90UklxakJYazdaSDdwZzNmcTF0UzFueUhaVmNUZHIxdC9WNU8vNXJibHM2NlMvOTBHQ3VKcDN3RDkveU51bHJibHRhQ0dTWXVacDAyajhpejl1a1o3Z3RYZmpKbi9CSDk5WC9mdFJ2VXZYaUh6eHdlT1hKbEU2N2VTeTVoOGwzbHM3YlllTkw1ZStvMnRMeTh0Um4zK1EzZWZVWFBoRWZma3ZWYXh4WVhmejU4aFdPTUhsUEV1enN0cVYvaGQzUjhaN05jYkxPQWxOTVFDeTJHSHVBc1YrMXdjUGxwY0RXZmlpejlPbTdJTEMrRGpmRDdKT3RlSCtyU3EwUHM0dm1tUUs5bUlROVJZY0FndmRIR0R1SzJkRmFzRFBZK0pVeUdQR1h4ZHFCcyswZUJ1RmlEV2xiMmhiYU9meGpRM3kyaktiRXlZL29YeXl6K3p2UmM4eC9BY1VnNjlKNklCc1poa20vTHVRMVA5blB1WTNVayt6VGVJQzZxV1J0c3BkNWlXY3JHNm9wZUN1dzQvK0tvaS9IMlIrbXp6TDIwV2dSTDRZdjJrOHdpUGg2WXVJTVoxdjZ2RkxPb2ZZOXZOSjAvRGVkcnhKais3N1FZdC9ONjllRjU5azl5WExGZjhnQWtDR1lkSUg3bTMzOWI1SjFTa3VzTFZiRG5GblNMcWNlV3ZKc1pUOEZsVGNYUzBkVmZwL05mR2hYYkxHM0FHSHNSclFlMmtCVm1MODJEZWRMajVoOTRkRi8vMCtNUnZ0ZWhkMi95MFVQWEcxMkxMcUtaZVhpWXhzQktOblVDb3hpQ0NaZHQ4M0p5NWRTSmZBNzZuUndYeXp2UmRFRVpVc0l5R0ttYzVPKzZ1Tlk5VEYybjZ5MUIwRlpDTkZEaWtYNVVkS1gzUnVWR1BQOGNTaFBTK2VFSDBWZnczQ1V3RWdNMHl4YTBKR3ByeGJLMnJJanBGMHArOCtOMEhsNmsvSVhtdCtHZDlUand3dnkraE9iNStCeWd5YmhOSDgwUDg3VUExUkV4MzJPV0l3VE8zK0hYdjFRNldVczQyTnFiT011Q1FyOU56TzI1OUFTRlF4Rk1EWTlRM2xhMmxBdkhxd3pkdGdSdEV2cDYyUkR4MXNrYTJKOGxWVWpqMWZ5WDJmazNhYzM2VFBzK0VsT3FaWjlDZVhnNG1yU29YT05UN09lR2tJMHg5VEo1Vk1EVFRwSjI5cENPZU9wWFkwcEorQXZBaXAzVUtMd0d5enVINWtPNDJucEZPVUlmSWtTYjAzUCtjSEFDSUczVHBkVkRaNjl4WXZ4bXVsMlN3dUpSNEhvUDcxSjFYb1dWZlpkZGxscWZScGFheFhnY0dLSnRFVE9od2d3SUtTT1VXY3JiVGZneVVBQlBZb1EzUUxaSmxvWkY4UzZZdEt2MVhiUzRwaDJPTGlvK0x5cllUSjlueGlXODQ1cWc4RldVSnhLZi9rRFByaWpnTTN0MUNZdFVEU1BMeG1xV1VzMW1kbmlvNmNPVUJvVWVHczZLb1l5T2syOHBxSW9CcVkrWWRGZDRRSWkyWWJzQVlyMUZoWkJReG5la1duUk56R0JodTgvKzVsUDNQMitSTmY2SzlURUY2bHQvc0F1c0lHU01CQk1KUHVpVmhad0JVOVNpd2syOW10RVc5OVBiZEthY3NFRjBwWW1IU2hZMG9qZXJrb0Jad1FSYlptbWpvbzl5cDhrc2Frdi91QVRsNnRFdUtHOENaUExxSUU2Nlc2ak5QUU1nRzREV2tWMFNHeExreW9qeXNrN3BsVm9wYWl2YXRDK0VMV2JucUYzbVRYaWx2QzdjVGRqczVsZzVGVk5td3FuTm1scldaTEtzcEd3cFJGWVMycDZMWEg5SXI5VmFtN3BxRGlucktiRXhZQ3RRY1JxMVFIaUpRV1F2RmtvMXRURU1oV0k2T3UzMlpZK25KcW1TcjdGYStWRWZzVjMxN3RhTFBCRlFHcXBhYUNiVGFGa2g5S0tDRnZySzZZYkpac0pEakE3VGlldm5OYWtrMFJ6TEJBQ2ZHNjJOS0p2U1MyQ3RYMVVrUmp3R3k0VEZRdHU0SHNleDJSbUhqRktycjczWFVacHZ0b3RGT1JFWkVja1lKY2tML3UzWW0wY1pidnpFaTg4Y3NNR0Q1UnhPTEx0TjgvYnF3Sk10cHo4MUV5andPdXNsYk1wTE5iYTB0MnlZSmhBWldia0JIVmFrMDZyaVJYMUFzU0ppYmtiYVVRYm1iU3lpZW9TYWN5S2l2UCtWcU5IZTFjZ0pPWVUyZ0pxMXlqUTBEWkErQVZlbTZMZy9FRGZicENMZXZwc0FJQ1lFOXNPZkxLQzhma0dpR1pzbWwyY29rd0VjaHBGQ3F2OUxVTzF6NWZLaFlSaURaTXpNV214b3lUb1c5NWxoUEpMUmhyUnM2UWk3TWM2cUlvQjhHWXJLazc2NCtsWlF5Nno1QkZNUU8wYUJmQjduRDZ1bWgzZlpCTittWTRUMU5TM3pZR3B2VU1kS1hlc0FXdCsxd1NGQnQ2QmhJWTFBc20yUW1ycnlNTWIxcm5BTTE1MkpGWW94UVFTN1NwTWMwdWZwZi80bzhIcng1STBCTFc2SFY0TWZhL2tEVmtmTG5Dd09zVWNLeXJPKzQ2aXR6MUFLRUU5Qng5eU9RVFVUaWhjbXdUY0RDMUNQQjlkSmdoNWQ3YWxrNkVzMllWSHZ1STJvTFoweVc0cWdRbEZOcnRkbG1OblFWam5QdFRWK1RLQkd5YXdIaldhZTZwSkVRTENsKzIzaGs1a3pSNnIxUzhhYVVTUFkxSzlnaTZacUZqd0hjWGUxVFNGZ0FjL1lETUpxSjFRTUNLZGxyVElmV3hjbnJ1czJnM1k1VHNtL3RlTzI1dXNqUVYyeU4wTkc2NExKbzZON1U2ZVA2NmFCc1NTcmFpK2FScGt5VEE1bVVtaDEvQmx4WHFMMTZTL0NsbDlWdEZJSXhxaFpkMkpDYXpPbjlaTmdKenpkeWNsYXg0OW93UzhSOU5BSWFsMlFvR0N0T3g2djJTallvWjdZZk9FMjFLK1J0dUxyeVJlMjdTWmNML1pzeHZzTXUrc21nWkl2Q3EzN0tZTkpjUGtaQ1l0eENBZnVBN2Y0cENueW94T0pxa2xlRGZTaUc1N2xtS3BWOTViTVN2RWtoOTFiQzlHZWlpdnJTQXZhaVNVcGxtbkVHSjlYd0UwOTJKQ2t2ZDV6OFJ1YjZDMkh2RHM5VlVIc0RRZ3lZS0wyeXNOTitsYzBrY01reE91cFk0Y3Q2MU1zSlhid2dEQVNDT2d4L1VHVkNoMFZaSW9tWEhWdkJnRks2NUpJUDc3a0xSb1lHWVlHSDV3SzFHZ3l4WFZqdG5nK3dwNnVvbFR3akZid1JiTjFDSUZlUnVnNzNvYzdKUzZsdmFzdFVFS3ROcjJOSUJtdytSTU1sNlN2WHZiL0Y1QUdtbEUxVFpwWDhjY0t5bzJONG1Cdkh0cjhlUEtwcGFaWFhqVUNBWEp0dDVXd3J0WEVvRHdOLzlnc1pmSU5wTllUZ3NGZWJ2Um02V1FoeDRnMlZDaURIUHJ0UUVOOExHUDJpNnM0QTJUTXpWcDAxN1dFNkxxQmlPTmFLSjlLYS9vaEJmVFNrZkZsbWNzYnkyT1hveUZVWk9lckRuaU1FVitwZ0d5ZWcreVpLeHJBS08ycTFEMHRGTnlRUXZKTFZLUXQxdmR0WlR2YnJWcjJXQzhETGUyT2NLa0gvVHpRMEFaSm1keWVrUkNsZExYZkFMaGR5T05hRjB5T1NpNmxQUndZNHFLUlc5dHN6SURSYlg0STJXb3lOYUQ2dEEzV3I3NUhxYXFXbXZHdWhvdWlwcUprQml2V04wWmlqckkyN0J1eGh2MUJzZ0xDZll0VklDV2s5NXFNWUdxUEo4SGR1b214cUtjb1lpbzFza0Faa2tqb0h0a1J2NFg2R2lKc2FMaXZONTFLT0xlV3N4YkoxdDY5Nk9BM0J1aDhHeVNlcUM2RHBYTnZXMThTVGJPNjJsdGdBYVdvT0xkQklDN0w4WHpKamNIc3VIUlo1dXdCOUNxM1MvS0ZoUHNFdllTL1VNeTZiekphQklzckFaTEd0SGFOWmtOTlA2cWhNUlI3SWJDbWZNVGlRb0JXVVNCNlZ2ZTZrVXlJZWtpU09rUDVZTGIwbWhkaTZEd3grMWpubzlkL0RhYjdBdFh5MisxZDhSUFh6djZSVXdRRzBPQmo2bHh5ZW9DZTZsczl0MDJSWlFyek5xalJYeEN1L211endUellNY2pNYlJabW56Sk90T1ExODJxaVpWK1JVcUhnWkNjdlgwdDhNSkg0aXRyVWNsNDhWU1YrdXJhVnE3YVhSUXcwTW1PRHZLY2hKYTA1b1k5UkdMTG81NW5GOWo3aVdNVVBjSU8zeHl6UDlNTmo3Q0RxMnhqeWJEUVBWSEJvaExoalkxTnVFN0tTdEUwM3N6eGw5eEpDNlllRXdUSFZjTklsWVkwUzJuQjB2U3pEWm5PNm9BR1FiWWxOa1pjbGFXb1RkTTFtbXF4ZTBzM3NPQnVxaTdFQllLcTBTeDExZTZoWUpaU051bHNTNDJrOENWblFrMVpVNllZYjBRbFBjdnhadGlOYW9TM004bjNDdXhtSi9xWDQzVmFQSlNRNGpicFpEajl3MTFJa3BMenRzMzRPQ3BNdWlsSXlKOEFFeGRBZ2czSnBQNVlNZzY1cVJNaC9tZkJWcVZJZmJQUXhXdXlpWWVrVDBPRmYycldqcWFKVWVSUG50bzlGQVI5U3FUdGJha2xLVGI2cnhBL2ZwK3dGbHkrNDIvb2hXdVJpVGR5QzJUQllrbDBsV0xYSnhTeHNrVzBXSVlRc1haZnE0Y1h1NjZKWU5KVkF4RmlFbHRlUjVCRE1tbkRWVWJXSVRkTWdnZnh0NlJRY0ZVbDNhVGU2ZitiVU43WWtVNC8rR25vdmdKYlVuSE1WYnVQQWp0U3VMTVNNRnRTR04ySmtYV3J4bmY4NW5QWXBucDVNMVpHZjFhU2hrVUFscmdxYW1DOFk0ekhvcHExQmpqUThHdDA2OHMxYVloSmk2MW9hQ29NeWFSbHJWOUJPT3VRclRlTE1VVjJwRkI5YlZKOXdsdU1SYklPTzFMNndiY2twTDZ1R3BlajlnUUtvaTI5dzlnelM1WXRLU0QwYWd0UlpuU1doa3JjaVNMOTZtK0JBbWRiV1NDV3N3bkw5U1pnL2F1N1lscnFQT1RDZDhoL1RROHZJU1RUb0ZERHRMVHBoWmcwQTJGaE9DYUZNcFl0NFRJUFdTdEpyS1Zia2tSRm03UzJvb2hPcU15dnJuV093V3V0OUZYSlVYc1N4Y3pTbG5ZZlYxSTNFVzRjbXlIeDNSUWNha2UydENrbWRXVmhXbmthL0d6UDRPalNqRWxiWjZSYjFiMTRRS0Jnc1UvbEtQbzR4cmlocTBFbU5lMm1HbzVuSmJUQ21NWVRsK0IybXhaUzFpRWpZZHNqTk5oSWt1QUhkN3V5dGFSVUdOV1Y4N1oxWk1TRTBNbEtTU1licnRxVEtIVWFLWi9oSGNuQmxiU21qWWJlR2R0TEp4Q0RNVWlKQlFmZWt1aExrbVJiS1JheFhVa3V1OVZ2MFp3SDFHVVJrWjlJT0pDSTdiUTQ4RGNCdmwvT2xGOFJNRUVtU2dDSENPTGRMYWZoamlwd0ROSSs4RE1QR1lBZDRvZFRpRXVpRE0ycGpIZmVpckpWMFdmaVRJRWRLYlhxVnlnZHRjTnNQa3FOempVUTJkVWk3VWtLdDNxUDRJT2ZoVmk3REdxOUZmNHhnSnEyRTRTT2xKUm5zM0RDWmR6NDIxTWtzYWpxbi80N1ZmRTZ1V1FkMjZoZDNXOEtlTStkS2xPbGQ0QXdkQ0xQVzhKTTVtaE1oSVg3a3J0K1dEMG5LZllzMi9CTWtkS2Eyd3paT2FDSVZUU3IzYVE4VDcrLzM2TVpTVk9QdTAySEJPeXE2ZTJvUFlBeXBzU0M4NURpZkVtdGQ3eWJUdHo1Qi9pUHp1cmJlaGJJQTAwNDRaNFFaanlnWU41UlVQMFk3NW9BNU8vaUpGK3lRWmM1RGxxb3cxdGFYQ2ZqaUJBaVJ1enhPenpMMmhSaDRSQ04xZy8yYm93OWFUWGNXYkd0bHorT24zbkkwN1owNjNLZExKWlhZemxYRnNvN1Nwb0tPWGZackMydCsxVG5WUG1tTERscUQ2QmdvZHJqa0gzNGpJcE12cVNJTnUrWHhQNlNXTW9xLzYzVE9sZldPVWxYK0ZxUFJ0K2wwRzZRWkttQlhXd1VQVmNtNmxIMFU5RDc4UTk5MFFmRXdiMk12Sk90QTFoZkVLeHZjNmd3RTdobmgvZXE2eXNmL3RSZmxFR1pzUWQvK2JFZnB0WTd1cHZ6RzQ2ZWVjamp0Z3JnNjVnSzBmVURERVJFbi8rZ3JBSXhaMStJWlJLVUtIcFdmU2VNUC91OUtqckZENms5aU5JWHJ2SjE5dmM2OS9VbGhkbXcvOFc1OFNmWlFjZFFGU1dRM0JBRnpLUmwxZGNYa3JacDB1dVYyVVBGUzJSSHYvRFhWN1VuOGU0R1Yzd3lUaytXMlM4aDZuK0pjWXR5dk4zck1sTklZVUlCUW5Mc2NhSjA2UkF1KzA3NFc3YlBJck1QdWFiZG5mTnJzdU5xOUFKMmZGTmxkZzgvY3R0U1VtQmQzQlpGRkRxcUxTcTJEbjRmNVcvVTJadW9TYXhxVXUxQmxFWCt1ZmpUNWZkaHlkd1hPQWxKSTN5QXpkNzkyQlBJdmJoR25Rc2taUnR5bXkzVlV4R1JwVVdlV1djckRvcXAvSlBRODl0M1RjdENCVTFKay9JazdBaHZLNytyS2tEYjdFaHRnVk9ZMUUzY0FrTHZrSDlES0s3TEYwOW5VbG9IaFJqWmg5elU3czRSY2I2bVB1N0haK1g0WEYrYkNnUjNCT1ZwZStWWUxMSER5N0RBRjBTWC9MSFZIa0M1emxnTTUwTkt1QzNnRTVKaVhzUkMrVGYySkVIcmw1WmlubjUwVkh1TDNVS0pxU3dBNFduRFFuQ0t6MTA3ZlBDM25KYm94YnNPcjdndG9qYjU2L0hSdlgra09vb2Z2UGp0c3BqQ1pEM1Zpd0trVDlMMDhFSFZnR2Nmc2prakZkajRPeUxzdllMUU4zNmovRGFqQUUzUXlReWlCWUMvOWMvM0RHTyt1VlhaUWdyS3p6eHc5SG14TEcwSkxBM0ZFeEZ1SEZ3TGYzalg0WU8vSzh2T3IzNXExS1dsVXhrVGFmTytnTFRYQlFkMUNKVTBKdVBXcm1jSWJGSklaQjR5VnFmZEZCcE9jNDEwbUpwK0VMaFcrMENVUG0xd2ZFbUpUUEJlb2JtNFR2azNmNjFwV1h5VmlsOWM5cm9RSkhHS1Jza3F5YVJnWjVpbm9EOFlOZk9RWjJXT081Z2FlalhCMVBTRFNDVFZIa0pwa0l0b3dzbzRSQ1o0TDZ0b2pZUmVwZGo4L0c1TFdISlZZTXhRakFqaW42NFI3aEprZ21seE9zS1pzRE1QZVNKd21oWGkwS2JrcTNHN2hjTlN1MHFYUXlpeHlWQmQ0NFNZVXh1bXlWNFVmYlBEWHhDaVZMd25iQWh0N3dpb0NUNWpDcGNJWTZqM1ZDWjF1VE1iS3JNRXNjeEQ3anJaVVlLT2JtaFRSaG56OU9QN2RIdWlZTlErQ0FXT3JkWk5YOUlFUWF0QnBtWnhoejlIZVZtMXk4MnZQaDdvOFk3eGZRdHBlTVZVSmxtVmVDcFJNZys1WWM0K0J6THNxMjAvYklIcFlEOTk5TkNNMmdlaFFEc3ZTVVJmVW8rY1UrM3hjRHZGZHgxTDVCRklkYmRSUitheUprREZLZXlBUDM4aWdPN3dKNVdKZWhCd2gyUXpvbVVkY3BIaTMrM28xbFJXaCtCVGphYnNvMWNQMDZoOUVJcmVsaWFNNDVGenFuM3VCOU44ZnM3UldrcEh1aUlrbzBNOFlXeHVPV2hEcTZReHlhekYwMGlTZGNnRm1peTNZN2FrWmlrZUVPUDVoQXFhSVNTajlrRW9lbHVhTkU2SXFHcXI4SFc4aDM5SXBkUUpRVk1kOGpmazBRTjJ1ZWd1N1FMa0RLNVVKaFg0K1ZsZldZZmNTOStZdXlMT3FFZ25IbWU2Nzl1NWdFYnRnMUI2K3ZRbklhbEx6cW1KWTVFV0FqL2Z3NHBBaTlPNmpnQlJYeHJVK1hPVEtXUklaM0tsTXBuSXFzYlRpSlZ4eUpWc3UxTHMvbVdFeGlOU1RJL2FScnBvUnUyRFVOcTBMVTBhSjUwMGtxTHRhRllHL1dmbDdHelFybVpXTEF6WEQvaEp6cHg1M2ptQTJCMTBwVExKK00zZ0hiQzBVTElOZVVFbmpoWnF1TmprMDJLaGRBL2ZNL2lmVk5nWWx0b0hvR0EyRVpJdktiVUg3bk93VitNRG9xTllPdHlMb3NmWmR4SlkvYkNLUDh5NU1RM1RWcmFwY2RqM1ZDYU54UE8xWWJQbTc4eGtHZkpZeGkwTTVKdG03NHlLelJ0NFRySldPQjRncjZYMkFTaGlza3NxQ1VuVGlSZmpnOWJCcnV6SFU4clB4ZXgrRFR6TGpxNnlkL0NuSzA4UWlPNGJXaUdWeVFUYkhCcVRWRUtaaHR4T2VaYzFSTFhKcnBUdzlIaUdIWmZvTVdrSXpGWjdLb3I5aWd1ZWU3akdDVkZWYmJPZmZmY2VkYjl3alQxb3Yyci8zRjFIdjRhK3laODdXaVdRNGQvVG1PRDkvZUV6UzFETU1PU2lXSUFTbU9HRzR1K1ZyK3loNjhmTDd3MERxRlpMN1dHVStRL2pxU1ZqVng3N2tNTHdKUjFJZmtRNysrS1AyT1V2M0p4KzZIaWVzalM1UWZrMVlIZDdudklNaGRkczlpVnNLUHpTaU5BZk5FM3JQNXYyUHJ0NCtjTGRseS9xQTZDellYUE9WQ3RudFhNNjBUaG1hUWR3SXF3M2dJTWE4UDZHV3hEbTdCdjdJK0ZZWnovTzgrSFFwQWNKNThNdXlFWC8xZUZnN3h1Tko5VEFrUDZmakJOeWRjRjdBMDVxWGNnM2FsazA4TStkTEZCbkN2TzEvRVZJak8vL0FYYjl0cUI5czU2ZUFBQUFBRWxGVGtTdVFtQ0MiCn0K"/>
    </extobj>
    <extobj name="334E55B0-647D-440b-865C-3EC943EB4CBC-123">
      <extobjdata type="334E55B0-647D-440b-865C-3EC943EB4CBC" data="ewoJIkltZ1NldHRpbmdKc29uIiA6ICJ7XCJkcGlcIjpcIjYwMFwiLFwiZm9ybWF0XCI6XCJQTkdcIixcInRyYW5zcGFyZW50XCI6dHJ1ZSxcImF1dG9cIjpmYWxzZX0iLAoJIkxhdGV4IiA6ICJYRnNnWXoxY2EyRndjR0VnZVY1N01TMWNiWFY5SUZ4ZCIsCgkiTGF0ZXhJbWdCYXNlNjQiIDogImlWQk9SdzBLR2dvQUFBQU5TVWhFVWdBQUFXWUFBQUJhQkFNQUFBQjV4K0ZIQUFBQU1GQk1WRVgvLy84QUFBQUFBQUFBQUFBQUFBQUFBQUFBQUFBQUFBQUFBQUFBQUFBQUFBQUFBQUFBQUFBQUFBQUFBQUFBQUFBdjNhQjdBQUFBRDNSU1RsTUFFSGFyM2UrN0ltWXlpVVRObVZSOWh1ZmhBQUFBQ1hCSVdYTUFBQTdFQUFBT3hBR1ZLdzRiQUFBSHRVbEVRVlJvQmUxYVRXaGNWUlIrazZUTnBKTTRMVks2RUowQi8raHEwbzFGTnhOdDJpcUtVMmtqUXBHWGpiaWNxSFNoRkNadTNNa00rQVBTd21UUnJoUW00ZytDaTlTL2JseE1OOFdOTUFPSzBOWFVObE9ycGg2LysvdCs4dDdrM2ZjbWJ3amtRdDY3ZitlYzc1MTc3am5uM29sbGpiSmsycXVqRkI5TDlwZFVqRVUzUXFJL2FJZGhQdlROZGRwaG1NY0IrTmhPdzd4dzdQRFVEc1BNdHRFdTVuU2N5YTZlZC9VY3BvRmQyd2pUekhEN28rdjVrYk5TOGtPTjRVSXc1aFlaYzQ3NmdubU8valdXTWx5Q3lKakhhVjFJbnFCN3c0Vmd6QzB5NXJ5Q1dxQzd4bEtHU3hBWmM1UCtFNUo3OU5kd0lSaHppNHk1cEtCMjZLYXhsT0VTUk1aY3BWTkNjb1VXaHd2Qm1GdGt6RGJOY3VhWjBTZXZVVEZqM2pMSGZCL1JUdkhQV2FJbGpubUdpTDlIK1BEbytYY2N0bnpscE1RMnJrTEtCTjBaSVZ3dTJvTzU3QU9NNWkwSmNJK0NXdEJkSTRQdXdmengvS1p5UkNLckthaHI5UGZJd0VyQkhzd0R3TlFWMU5iSTNYUGtNMnhaUVczVGxRR2Zsc3BRVkQzYkNpclJTaXJBQmdpSmlIbFNRYzBSclE1Z2w4cFFSTXh3endMcVBxTDkxdFNMcVdBTEV4SVJNNjdKUkVpWlptbjBQcG5paFRIZDV2NkltQ2RVOUN1d05Icml6MjFHTlpoOVJNd0ZoYm5NTXY3YWxjRk10M2tVZTZvWVFVUlAyZ2JzR3FmQjBuSUVrdTJiTWtZeXh4d3NvaVBUT21ESEthWGlUTTQ4Zkx4LzRuR25IYk4yNmVjZ3d2ZnMwNXVjMUlGREYxcEV0Mis4Y1NDSXd0MVhJWnBETzBzWEVRL3ZjdzZ4MlNyUmNhTFgzWE5qMVBjeWJ5Uks3ak5iNGI5SVoraTI1dllvejgxZ0Y2b1U5VkJnQllrKzNZR1BhNS9NWVE4MjlSYk0ydlFzdWk4bjlkbE41WmFzWEJ1aUdoeEVqbjZ4Nm5STkFvS1RMYUtLSzR1RitSZCtuRit3dDdKcEpQclhhZU1KRzFsZWo2NXFoRk50ZW9XejdDVE1tenBxaTArMSs4QXNjRGJoVWZNcXpiSDJxRzc1RFZ1K1dLTC8yMC85NzdHQW1VdjlvMnArU1MzZHpJYnFpdmV1cUV5M2RPODhNQmNabDR6ZGhWZFZBMVpOSFpUWVdKUXlRVUdnOENWQ0kyL1pNdUpFNFJVd0I2YjNEKzgrdjk3SUEzT0ROY2JacnNtcm93YXN4UEJNVjVBOE9XUDlxTXJlU1p1b3EzdFpKWFBoMjdDeTVKa29HakE5ZnArV3M2OVowM0FLdkpmdkdtZ1hhOHRLV1ptUGFHNzk3QW1lM29uZ3ZzaDdVUEZoUG9pZWtLSU9QbTVlV0xDYnJGMi9peDk0YkxsNDFSWDByR21rdHJZU05qTkNDVXowTzlRWE9xZ0JubGQ5RUJWV2drNlR5QXptZ0dLbTM4QXo5emtITk1WWlFnWnZXVWdzZzc1V0RBWStneEo5aEVSc2JGYUFVTjQvaWpaczBRNkRUTStyT2E1M2dXK01UUHM3Vjk4TS96aXRYVWd6OUUwcWUzYnh0SnFramdFUWFjalB6UWYxSHJldGo1eFFoYjQ4VXdnaWlOUUxFa3R1UGo3SzhHWmdvbC9SUnB5bC9tbzRjWVNSRHR0cFdlSGkxUFFtZzZnTTNXTHVlVkVOUlhvakJtMmFoOFdTcG1aWkR5eHRHamJxcURCWFd2WmV4YmV1Z1FXUXpncE9OZW0xSS9PZERuRFBZR2U0S1VMRmNmZjg0WWIzdzc5bXpUVjFQREozei9rQWVDVWluWGFFb29rMndOenpCNEZINDdKZXkzTEFVZy9rbmcrQVorc3RPSkEweWlDc2RwMmVDNXFwNHFObGFRY1NOQzJvTHp2ZjlYZmpmT1BkTS80SkJtMjRaMnlPcTAvZDhOTmdBYVJETW5mUGZsNW9ZMXY2NGtqQXBJaGRCYUlGQnB0T2Q3MFVjSEJ6b3NmY1BYczU4UlowbzkxR3dMQlIxeHJ6bW0rL0QrZlpYL1lRNW5WY01IYlBIajZ5VVZPcFROQ2dZVjlMSkVKVEhYNndjQkgzZEM1bjdKNWRYSFFWdWtGQ001elNscUUvVS9YdDY2cGVTNmlvbUZnWVZKQXNYanNJNEo1bDFJWUZlSHkrSG1EUnZlRlF4S3lWQnNkL2svelpTU295dHNjTHd6ZkpiTU9DMmNRRTZpSURremxYMDFjMXlwL2hnbFIwQWxlWE9zZWNBWDM0OGdreWFyWUc1aXhyRkZvMjU4ODRNc3hKMlhVUnEzTkhlQnVtY2tvTXdIdzhSaU9uRzc1Z0c3UGhKRWI1YzE0ZEszbFN5dlE4TFg2ZGhqK1ZNcHpnRWk1ejY1R2VJMmpyeVlObllGRzZjZ1kwd1dvRm9WNDR1S0lZY0hKUzBZNzNySGt4TjVmanNXRlVMWDFPeFZiamdhb3UxSXNGa0d5aDhVVTJOVm54T3ZsSmV6aytPK1dld2FFcURxcFZ3UTJZdTRKdFFXdGN0T005c1ZwekR1VkI1T3l4aStPRnJRcS9mY2hJdndhOXJBcXVzSmxHYlA2YUVJbldUZDNJVko3V2RlT0s0NTV4NGNxRDY1aThXSVJENlhKMlByOXRMRUlSbEYxWEhsK3Q3MWZkNW0rWGU0WnRzQVBXSGhsaE1WTGsvSEJ0dXRsRm1rdXlEanBzeGhKdEVKZDd0a29jYy8yS3dJTTR1TWhyMktWRGNNLzhHTjhWckhNVmNka21Xc1pQN0xRVlJWVGp3Ym9pclJocTV3RVM4WEJJeVkyNkQ4dTJmYWRQQlNEaXU2bDNHcnNiUUxhMEYzK2luT05YZDVueUdmZm1VWU54M2ptYm5vUzZINk9OYmh4eVRWUFhDU2U2MnJRNldaMVRZN2k3TzJwTlhsNC9wNHhFRGNSK1k4bldqK05BcEZZeUpxTTE3dDhrOFY3cTI2N3Rkai9oNXdrcUlvQVZZM0wzaytWK3Jhei9jTmpmYTlyZXQ3RGlJdm5DZnRtdGczZGVveFB2bWw5dXVCaU9xdXFjVjBhRndGeXVjODFoVGpzaWl1RmtvcW1BejN3aXhTQU1McVlpTWJtUURzazdkSGp3Um5KMmFYREF5VW9HbDdLVEpxUWhPSUdNSHBISWNKRjJ2SlNBVDVxa1paWE02WlEwVGVueFpMWFY3VVpKMlVnOFBtbFNWZVNKRTZZeG02YmNKTExLOUF3bkY4bGRFazdwMGZaT2NWbElIMWZTRTVwUTBqVCtZUVNsUldjVE1rcVJQRk81dFdSTnRlZ2VoNTZpNENTaUhxUSswdk5YZHhKa3kzb1R5Zk9uU2I3YVMvcy9kWjJqYWNkN243c0FBQUFBU1VWT1JLNUNZSUk9Igp9Cg=="/>
    </extobj>
    <extobj name="334E55B0-647D-440b-865C-3EC943EB4CBC-124">
      <extobjdata type="334E55B0-647D-440b-865C-3EC943EB4CBC" data="ewoJIkltZ1NldHRpbmdKc29uIiA6ICJ7XCJkcGlcIjpcIjYwMFwiLFwiZm9ybWF0XCI6XCJQTkdcIixcInRyYW5zcGFyZW50XCI6dHJ1ZSxcImF1dG9cIjpmYWxzZX0iLAoJIkxhdGV4IiA6ICJYRnNnWEhCcFgzdHZaSDFjY21sbmFIUmhjbkp2ZHlCSVgyUmNjbWxuYUhSaGNuSnZkeUI1WDJSY2NtbG5hSFJoY25KdmR5QndYMlJjY21sbmFIUmhjbkp2ZHlCM1gyUWdYRjA9IiwKCSJMYXRleEltZ0Jhc2U2NCIgOiAiaVZCT1J3MEtHZ29BQUFBTlNVaEVVZ0FBQStJQUFBQktCQU1BQUFETmsvTm1BQUFBTUZCTVZFWC8vLzhBQUFBQUFBQUFBQUFBQUFBQUFBQUFBQUFBQUFBQUFBQUFBQUFBQUFBQUFBQUFBQUFBQUFBQUFBQUFBQUF2M2FCN0FBQUFEM1JTVGxNQUlvbk43OTFFRUtzeVZMdG1kcG0wckhyWUFBQUFDWEJJV1hNQUFBN0VBQUFPeEFHVkt3NGJBQUFTQ1VsRVFWUjRBZTFkMjRza1Z4bXZtZG1aM3A1YkR6RnZlZWlKSWlwUmUzQk5JdVNoUjdJYlVReTFhbFpYQW5ZakduenJFWGNoSVZsNlpEVmVBdWxCZ2lncjlQd0Z6bW9TVFNCWWc2OGlQY1pBSGdSNzNCY0ZJVDFtZTNTU2RYUDhuV3VkT25YcTBqVlZ2VGowZWVnNnQvcCs1L3ZPT2QvbFZOV000OXo1TkVPRzV5NmNPWFBtd2xtWDdHTTR5MlI0bHBVZmM4bjVPeis4eVFoeWwwQ1grT2s2cUZmOElqbklIVzFDOE01TFlPbmp6OVhaSkQvMC9FZFhNSng1V1g3OCtZOXQzZm5oVFVaUWlBUThUUG1ITk1vMWxMK3JsU2Zaa3lhQkRpRkhPazg3aEJ6cTVVbitwRW1nUWNpL2RaNEdoTHl0bHlmNUV5YUJFcFI0d0VuRENuam5oUEU0WVVlWHdEeG0vTHBXRVZvQld0c2tleElrc0l3WjM5TVltVE5XZ05ZMHlaNElDY3hpaHZWQWJOcFlBU2VDeVFrVG1nVGFtR0d0Nk15ZzNOUXJKdmtUSmdFRVk3ZDBsaXJHQ3REYkp2bVRJQUVFWTdkMVBscUUzTlRMay94SmswRERDTVpxazNEOC8zbUtmNTQ0K0ZBd1ZqY09aQklwaER1VWRVOHczSnhiemJod25MRUJIVnMweTJRMWlVWW9HSU1aUDBpNkthRjlNS1l6dTNIaE9HTURTaEJzY3ZOMDhrTnVNeGlqSzJBdG1YSnNqOXFZenVYSGhlT01EU2hXckdrYTU4aS9rcnJSWUV4WHduUUZyQ2JkbE5EZUlpc0pQZkpwSGhlT016YWc0OHNsNkliYjZMVXh3M3A5SHVGNEpYQ0lwMVBQTno4dUhMd29zcGZ2eUl1alZrOE10QkNNNVI2T3p4emJMcVNUeUxod2NDcDFYRU9YanFFY2V2WElSZ0lWQkdPQmNMeWJRemkrU1A0VGpicjQwdkRaNk5hUldtSnhycmtYdHhpMVA3Z1AzenNTMlhEbldDQXc5S1BRTGRjZTV1Q2hCbWZxQXk3VXFwWU9tK0ZPMldzcWlUYTVib1RqL1R6QzhaZ0g3T1g2c0VFMkpVZEw3bldaelhLTndaa21aOGt0TFBmU0crUWNJVC9JUWwyN0p3WUlEUEczUWxuM0duKzVCQThrSXp5b1VrZWJiSjVkMTRDT25UMGR0OXNZZFlBZTZERGU4Y054eCtsRXE1YldleXVMNUQySldBc3FHRm1kOWhxRDAzL0UyU0ZmY1p3WHlMM092QnR3VHROUzEvckZBQVVZV2lKa2w5N1dOdDRyOGtuZHpXZFovdzNJMysrWkxUY1ZzemdaeFNMQ2NjZXBScXFXTXRsMkhEODZjUDNKejhKZ0hNNktzNEMzdVpiSTMwRzRldHgzUE9LQWRJWXE0c256RG1iVXloQ1Z0NWxXclQyelZnNmlkeHNqYVlialpReG5MU3VZdW04NVVyVmNlaGVkR3ZJVmpDbEMvcXR1eXBDSnhsbUFjd0xlVm1vVUQ3a2hGUHd4VWpSUWtLR3VXTXgweHEySTZEQzhjT1orZ204RXp0U0g5UGZNajQ4eExzdXRiU2xjU3h1dE1zTnhxS1hJL1JsQndsSmRDdnIvV28vT1BncUVyUE9xUmNPSjRMWHBmNk54cWxDVm9QNStyczV4bEx5Wm5xcWxaelFRWThpVkRQWEYxcjRNTVc3WjZMamt0UldNaklWUU04ZGE3UmJxckdvNndWQkNEWVZTTTRwWSt2cGFSQUJicGlzZk8xdjQ4cWNOSnlJOWdPZ1poZU1NOWgxb2RMV2d2Q2hIS2kxaUZCQmpDQXRLTU9TSjU0NVRybjNHWjhpWEtlSUNPNGF1RlBNNllkMjYxaFNqcmRCOFJ4Z2dkVWVxekV5RTRXU3N3cFpoQjlKMEt2aUtIYThjNVRjS3g2RmNVNHZWNU5RR3gvTVhxQzYwVDQvQkVKRTRYYnRXNy9Pemp3cDdlYmdycERBS3d5bjZYaUtmanV0Vnd3SE1XMXJ5Y2dqSGdWZHloeXMyMkM2TldmQm0zVHB2ckFaZnNiUGRFVjhYaFRNM3hIM1FJUEtSVHAvUWltT2tLS0FnUS9DQ21OL0FWcHNGYlVyWTJCYWI2OTY2cFl0WjlZdlhuN3YvcTJabGJIbU8yR1V2YnFvcnhjY3IrcjZVZkxMbFAzNzR4UXZZTkNPa2xuMmhEYTZEaHIremU0YnVHNTI5Q0p4bEd2OEJaMTBNR1VDQkZaZ2JFR09vSXQwRTJCR2gza3ZHRXVPQUMrSVIwMkNOanF0RGhaR1FZQUdOR1VxNEFjMTk4dG1ZVHFCM29EZDd0bkM4aWw3eHhrRW53ZkpMWkxnVnFvVFB0bzNLRm1FWDVEcEJFNUtCdlFpY1diclYycjRHd1l4VFpKbnlBMkprZHlUMUJhSWVWbnFCczJzQjJCTEhNdTRxSFVtRC9kSmNkQ3E5N0JvekZOMVh0c2hEQVZrT1hOT0Y0MDgvaGhrUDNKZGM2TnZpcmpLak1sREVYQktRU3hiMnJEaE9tMjQxVE1TS0dHak5uM3hha3hzUVo2Z2pHYW9ROWswMmhhaEpnMElMRXJDenpVcGw3bDd3d3hwV0UvTUR0ekNGTGdnUTZKT2pqVUNGVmtnYmpyZURVNk5SaU1waW9ZV1BOcWVwc25WYytaMGJWdjd0NFAyanMyZkZjWGFva0FhK1pzV2NyQWFRY2dMaURLa0R0cTdjN0k3VG8xcEdTd3p3Mjd4aW1pMzh1WURhMGJvR3M3aHhMMWlUV01JWmIyVGdselljYjV0VGs0aEtkOWl1Mld2dVY2aUJYaEhmdVlYRDhRenMyWENjYTAwQU5lVEtjaHpQMzN4OFREa0JNWVlnWU1GUTMvZlFXOEtnY3pqc2NtM2lUckZ3ZkVrR0VyS0wvUXJxVGJPbDlOTW5ZbE9Oa0VjamRubkZVTmN3UkdINndOdVJQR25ZVDhXQ1B2RjFuQzY5cVhWWFdialE2N3dRRHNkdDdHWEZnWXpWU20rWWV6eFBJSjhoei84cTEzVEVkY0FXMC9pbjA3bEdVTU5LZERKVHhUUWxwWUJWa1RjeUp5cGdTYzBWSUh2V2d2NGRyV2JPU0JMc3FpU2dYWUVocW4yblhUWmIyTXVNQXhrTFI0bHVNRVBoNUFrRWh2WTVBeW9jaHgzZmxEenhxdzQ0WUNwaFZua1p3WjVHYWNieU1ua3ZTZTYwM2I3SmEwWXcxbzBJeCt2aHczYW81T1JrcURiR3pJN3krNnVhcHVOOFd0akxqT09IL2RTUUdLb3JUeURGRUdDVTlmWjJnek9uQS9MdDA0NllrK0I5ZVA4bXZGdWZkcE5GSC9GSEgrcktCSEdjdnJFQ0pMcmFscklDaHVtbFpOU2pGYisveW5XVTZ1dXB1WmVORnZZeTQrQ0R1azFCRnh2TVVLRjVBaW1HQUtPV3VMbUJOY0I1dm4xYVlXMHR4YUJmV3hhRHFyZmI4aERzMzJ6MXFJTWtEdlFtejFnQm9nMkx0NmwzUzVQSDNuelBOdUhBbEl1MkV6SlJHZGlMeEduN21weTZKOEV4NXdta0dJSWZ2QzVneXVicnZCcmdBcmRxZldOSXdRR3Frc1dncXJhSURMUWJkWkZ0aVdxN05iMEJaYlZLdFhyZENHblZzZGtCdVdXZGNKalhkOFNOUmppTzJnenNSZUhRWUdGTEFGV01sL2x5QmZJWkFzeW1RRnhpY2FnbzBJdkdXWnR2bjBHNkdiY1lWSTJzTmV1UnoxbnJVVW0xM2FyV0dQVjBYRGRDV3ZlNDdBSVpibHZic2QvV2VVTTRISGRHWnk4U1J3L0h1NXJienJGekJQSmQ5WmFtVlVTOHBrU2dBZGI0Vkh2cFpqdzRRNHBlVEdhQkhHNUVOWnV2S3VNNEk3QUM1SDJhRVpKVlNWZVB2bkprUzlnSSs3emUzeHlxbngxZU5Wc3lrVGdJeDFVWVV2UGRka0VpUnlCL1p3TkdxclgyZ1RGV0RkRGxMeGczVW5sdUdReHFKK2FRRG9NTkxMU29jRnd6UWdZalVjWFR2cmlOTHRodjI3d0s1c2FReStqc1JlTWdJbE1IZWczL3ZKdEQ1d25rTStUNWgzeTk2MEcyTmNCRjRjZjRSaWZZTlZpQ0d0NEkxaVNWbHZ5RHAzRFhsaEdNSVVDMjBxOVpyWHVZbmwvVFZ4Yk5yK081dm9LQU0yM0laWFQyb25FMERVTEQ4ZTNBT1BJRThobFN4OGM0NUF2aVVmc3BKMjVHT044aGIvaVpxKzdESDlHR2VkZkxoOC9pd2J6cEEybzlyTm11S1ZXOUZ3WXIvV1pXM1EzOUtiZXAreG9YbTA1ZFBSTFM3NDdKbHlPM09KNlh5VWZWYlQwY3o4WmVESTZtUVdDc2ZMSGxEcVFZMGc3NVNwcnFOQUc3WExPaDkxNUFndGZJOEtFR2VWWFZYU00zcjVMTkNqRjlRTlhCbmltNVBxL2hIcDRSakdFRkJPbVhQZktwK2hFQ3F2M3d6WEUxbDZLWGlIL2F2YVBwdFl6c3hlQm9HZ1JaZGQ2YVAxQmRybTVvYmhtRkxCNHA2WVFBaFpuRmpHK3FUc2c4U1k2Mm5DbVA3SXJLYVlMZzlwNWJMZjlRUis4ZG5WOVdnN0QxSVlZbHhRcFFoMGFzZncyUi9KVDNHMU1wMm1nRjZnWXFNQXBVMDRLcnpPdkFkeUt5c2hlRDAvYjNVTmMzNHdVQXVWSlB3bzdJWTkxWjVhcUhBT1hlUnFTeXBnbG5uZ3liS0U3TENTalZtU0dxTjBZMXFGVkRkV2dZamhNS3hsd2pIUDhPdzU4NTlJMVE0UDdJd3BTYTFYQVhmNy81em5SVzl1SndOQTJDcGJYRkIxSUVrUElRY1JaMElQaHRyWXRNR0JBV25RMEdNeTk3MDc1OThpQzdwU0hjL2N2YzJsZjl4U29vSmwyOE9LVnVCbU5USkVpLzFHQm5CYWlPbzJJWndrSzBVb2VGRUdvRUxFdG5PaXQ3Y1RnZHBVRXdmdW10RkFIVWtDWURlMXpPb2JjcnBCSUdQQ1g4R0xDdkZBSGQyK0tOK3A3d3V4bzhURWF3djI4UmNIUlZXWXJYMnNVTXh1aERDNTMrckpCVXg3RHVWbUo2WlpkcEpMM0d6N3VTVWF3M2FmYXlzaGVQSTROam5EcXNDZndpZ09weTRXTDNpaGt2UytjVWh3S3JGRnFidUI0Uk5qN2dNL1drUWFqeXpHbXh5VEFsMjVSQTZyU2dlTFhkVXNFTWIyZ05HRmVBZmtkczFSNFIyMUxyRzV2MVlqNWlya3RpbDVTQU1yTVhnMFAxMVM0ZjVJNTZ1Yk1JSUp6dENXKzNyV3lpK3ZiQUF0aVEvRGRVME1MczZ4NGZiSVZyako3WURkZ1crZ3pGU3AwMXRpWFgxcTR0UTEwYjRUalcxeGE3cnoraTkxQ1NlczZHcWo0dTlGUTRucFc5T0J5cXI5WVlmc2xWNzlVV0FZUVhOWVhOcXltbDFUc3ZPQThEd3FFWFR5N0FQeGN2K3M2cTJhOHdGUUNWendjdmw0eE5rdGE2dmxJdnRtYVlPaitLUUljZVhsdlIrclhsczNpNTE3VzIyT3lTUERtMzllcUtZQVk2VUhpVm1kbUx3Nkg2aW52TytDSklTTFlRSU13V054OWxNaEJXc0J3RENFdks1eExQVm53VDJwT1dBWS9ENmRrd2hMUE5oSGNxT0VNMmdRYnJHc0h3T3RoNEJVTFJYVEo4ZE9zZkRLTnJUZW9mTnhnNUJxbFlTck0rSytGV3NMeEJhL3NBNHpPUm1iMDRIT2lyVHpEYlVtcW8xN2NMQWFLdlcreFRoaTY5alozS1dMdGJSdjhXd0tveU5pM05UWGJseG5lcWJKdTFwZHRaalZPWEZOVklKZWtsR2ZWNForbjFmMXlGeUFtNTljTWJ1N1QxOTIvOWswNDR1Zm5LalRkNWIreUlBNWFEU2R6bFZTbC8yL3h4b0wwM1BzbmFSTXVUK01NQjRtQ3FMVE9qc2hlSFV5Vmt0YkVQb0crU1cyd2FrQzBFaU80TUduTk0xZGNncU92SXpmUFgwZTJBUGNrc2RyTTZEb1dYdjRidU5PMndQZDRUaWhCcVY0YjR2RG5wZDE0Nmo2R08xRTJYaVhyTTFPekpKR0ltVk5IeHM3WVZsa243czZPZE1ZYnZlWUVjclRoM3VWOXdmYTZvSWtNYWxiMDRIRWkyZWZmTkxlZG4ybkxOTE1jNElQWkY0NnRPcVhkekEzK2U0R2JUS1hzeTZBUkRJYzVhU24vakdMakoyTWFYaDlMQTBlVkQxYkpIaEpyb3hCbEljYmQrV1ZhclNLK2xlZmFQemI2RWYzU0dmMnhHbHhlT2ZNNWVvT1VMWjZVU3hEQjJhVmVFRnJwMVoxWHhQd1BCcDcxWENRZlJEWEliRzBKSUpqTjdjVGdkN0NXY1djSWhGaW9MZ3lrRUNIVHZnZi9EL2pKSWFVRElCWUoxSnBJRmNQcmNubWdzZVEvSWZ0anVLK29XS2hYcGcrQ0VjbE4yU25WTitVcTBuWllheHNqZVExODdXckRRbnJyUFBYeHRBeXFFS2hla3pPekY0YmpVSHM2L05MeTR6VERZVHlGQWxQS1Y3N3VIN0tsWDZaZVBEYi9XWkdEMEp5MWdWYWw2ZmdzT1F3OFlrWkVOcW9MT2t1bktZVlNsaXNsQ0pmSWVxSkIxMWxnSWU3NEc4UWRRQ0pCUFBweExEZGlTVVJGMUE5ZllSeHo0UmNLMmtKcy9URDczR2pXTVVjMXJ1cEZBaGF5eW5weEpaUE5rejljZy9tZ0tBZkxKaDNPcEFYdk1lRk1DTU81N1RCS3JqQnlNTDd1TzU2Y25UNk1IWWpQbUM3c2pnek5Nemlvam5TZDdDTWNQelBFV0FtU0M2T1hVZ0R0UzFBZ242QlRqeGwxR2FKYUc0OVBuZGFJRjVudFNtVGVvOS9EQm5KQ2UyaEtFUE9uSEZzSWV3dkhyNW9nTEFUSkI5SEpxd0s0VXRUZ0RRYlMyelFpMWFjT3AwTnJWUVhMTTc0Z0RHTVRsdTNpc25RL2xaWUlnaGliWU9PRzRGY0llZktFOWM4U0ZBSmtnZWprMVlFV0dMWERjNkVLRmNKcU1FRHVsN2E3cFJBdk1kOFh4RFZicWxsT09lVFl5eWhnNjhtZ1JhcGZ5aGxRSWV6MHBNNDVSSEpCR1A1Uk56ZG1DdE9QeUdGM3VjWmZhcHY1ZWlISXhGUld4eDZFZ2NjcHdPeGNRckhweHV0U1ZENFJwRExQTmlPZkpIbFpXZU1CRkFJVlJ0SnEwZ0hQeXRMdFBQc051SDNBTnhlT1orb1pHc3Nqc3NsQTFIblVtWnNRRG4yTUMwdWNiZkd1cmg2YjB5MzYyaUhObGo0WGo1bUNMQURJeEF1WFVnQjdYNG92a2NJVVJxSElwWWQyZWQ4cHczc2FUcHJocmhVbkM0NWJ1Wmk2Z2VEbUJiMmc4OTkyWEZBdGdEK0c0Zk8xRm91QmFBSkJHM1pKTkRYaVo3KzJCdEhSTHpLSys3MllMWWRKQy9IbVdCVFp6Vlo4dXZLbjZBM1NQZThqbWtQQmtrVC9ONjlLd1E2UUMySVB2OGE0azcxOExBUEtKMjNLcEFVdDErczNXRytUemtrb0hmempwQ3RrOGpabXZjYVVvVzRxOG5zWUplNmwvaERmTW05T3hKK1hwQndIUGhHbHc4UUJOM0pnL2UxQk1Oak9VUDFBQzY2a0I4WjdiS3czeXFDSzNSQTZ2a2tlb3hYdFJCRGVxcWNoTW4xeXNENXM0QjdwVmZ6QWZuSGx4aFBTTmdOTE5uNzJXZmNiekIwb1FTM3JBWjE0bWorc2ZwRno1NUNIOUU3MXozenRjVGNESXM3bjBaL2ZpTmdoK3kvMWlYbVRydjZXVXNLS2JPc1Y4MlN2OWxUNzZILzd1eHJhT3dmTDVBb1hJaHl2R0RoZ2V3aDJ1dVV6KzVEZy9JZXl2bmhjMUZKeE44M1JRRk1LRWJub0o0QW55T1pjTTZaKzVMeXd0a3JQNEUrWjQ4TDlaR01TRWNIb0pUUDNGUGZ4MU0zMy9rOVR6Zjl3MlpydjNnYkF0QUFBQUFFbEZUa1N1UW1DQyIKfQo="/>
    </extobj>
    <extobj name="334E55B0-647D-440b-865C-3EC943EB4CBC-125">
      <extobjdata type="334E55B0-647D-440b-865C-3EC943EB4CBC" data="ewoJIkltZ1NldHRpbmdKc29uIiA6ICJ7XCJkcGlcIjpcIjYwMFwiLFwiZm9ybWF0XCI6XCJQTkdcIixcInRyYW5zcGFyZW50XCI6dHJ1ZSxcImF1dG9cIjpmYWxzZX0iLAoJIkxhdGV4IiA6ICJYRnNnV0Y5N2IyUjlYSEJ5YjNCMGJ5aGNkR0YxWDN0dlpIMWVlMmQ5S1Y1N0xWeDBhR1YwWVgwN1hIRjFZV1FnVFY5N2IyUjlYSEJ5YjNCMGJ5aGNhMkZ3Y0dGZmUyOWtmU2xlZXkxY2RtRnlaWEJ6YVd4dmJuMGdYRjA9IiwKCSJMYXRleEltZ0Jhc2U2NCIgOiAiaVZCT1J3MEtHZ29BQUFBTlNVaEVVZ0FBQklZQUFBQmxCQU1BQUFES1h2VU1BQUFBTUZCTVZFWC8vLzhBQUFBQUFBQUFBQUFBQUFBQUFBQUFBQUFBQUFBQUFBQUFBQUFBQUFBQUFBQUFBQUFBQUFBQUFBQUFBQUF2M2FCN0FBQUFEM1JTVGxNQXErL2R6VEpVUkhabWlabTdFQ0tTSXFuZEFBQUFDWEJJV1hNQUFBN0VBQUFPeEFHVkt3NGJBQUFkZ2tsRVFWUjRBZTFkZll4c1NWVy84LzNaUFNPN1NvS3NQYnhkRkhTeDM5dUhNZEhGTzd1c1loVHNFUkJqaFBSRVhEVUs2ZG1vL0dPa084Ui9NRXQ2Q0NTaWdqMEUvQXBMZWxaSURLajByQS9adU1UMDdBZG1RZGh1bDFXVGRaTisyek95eTc3WkxYLzFlZXZXclZ0ZDNiZG4yR0htL3RHMzZweFRwMDZkVzNYcTFLbTZ0NFBnTEY2ejF4M2NmeGJiZmQ3bXNXbGdMank0UWxiSHh1NmMwUm5VUUxPL0dUU1B6bUREejVzOExnMU1rTmNGd1RUWkhoZS9jejVuVHdPRmcvMGdtQ1ZyWjYvbDV5MGVrd1lteVArQlU0NThlMHo4enRtY1BRMDBTSTAydW5oNDlwcCszdUx4YUNCUERoaWpFaGtQdjNNdVowOERVK1FaMXVnMjJUaDdqVC96TGM3ZkUxN2F5cXlGSmxsblBOcGtNek92Y3dhblRBTnpKWEpiNlNoNDY4OWtranRIUk44cGNiY29FN1B6d3FkTEE3a1crWFNRYi84MHllYkhMQWwzS0NpU25kT2xnSE5wTTJ2Z204eVBXZTVuN0VNOThpd1hoWnp2ZG1SK0ppODJCdTkwdXpvelJlWUQ1NG0wSTVyOCtWZHJtUUhKQW5tQlVXQk8yeDFBZXRyUXN6K2VVZUpoOUppeHFtTXB2dFR2T3ZrK0xtS0NCWEl0U1JmdUpXRjJDTHJPT3NQTWtPKzZ1YXoxby9ZMiswUDk5ZWpQOHdRcEN6UjQ3TGhLWXVwcGtHOGxxUjQrM0U4Q3JaQjVJdmJKa0toWktVNHRjQ0o3c01KZmoxUkwvMzdQTGVUU3UxODgrbG9tN3Fsc2lSRGVUWnJrK2FUVStTSjJVYjJ1S1VLNmpIQkNycys4aXAwR29qYVBlMlVSMVYrUHFPVmRoRjMva3FYQ3NaWXREZGk5NnBHbmVYMGxNUmZGYXkvVGJWU2ZxMHo2bkF5ZHlkMXJmYmk5bUdqR2NoREJXNDlCOEx1OEMybm1mSUwwYjN6dEhYZGN2dVVDZVNYVGpBUmNPSkZRM01RZzU2UXRvc3VCM1kyWnRmWXN5eU51U1hlcUl3MmJoV2hZME45eGRWcjZjZjUyanZyQllWa09UMTk0YnZneWlSTGVlZ3hneDMvay9YZSs3VzVDcmtvdUs3SlhFZkd3SWtCTjBoempmZENKTUN6SDFsajFjSVd0NXFNcHpOUWdHVVBwVGxXbFFScFV3Z012ZGJlWm9KMFdLQkZQU09ESEIxZ2tlK05nNXF2SG9IMzRGNnkrcjBXamYrRlRMeS95OXY3a0pzTXR0SG4ycHMrTlE3UUJQT1pzVG81ZUJoN3dLc3Nqc2E4alpIckt6MFBHc2t4ZG5yMU8xdUM0Ly9hOVhIbTFCRTJEMW5aNDMrZTNFNWh4QTZwMnZReGJqYWNlZzBVY0JlWFhZM29WYzZ3VGZVQ0JXbWorMGFiS0htZmlvVUdIQ2pHZXVTVEx4SDVrSTg4T0JRMlVjWlkrVTNFTjhNQUc4b29STEpEUUVuREtIVUduSnpDUDRUaFVjVHpOOGRSajBFbFpSbGVnWEI2QVkrcFpJZVNhZGN6SGxEZVdUTW5lTVNMZUhXbCtWa2pLdEYvbkp6cWlJdGJVSWlILzlBMTZQVWI4T3AyVml3VTRSK295OHFSaGw1K0JTby9mQnFIR2FWK0hVSlBPbXZUVFkxQlp0WllPc0ZTSkhLUUEyWU91blhEYzBBVzk2MXFaOTZUM1VwYSt0VWsyR2MzTEprckxLM3NHZzdTbXdUTW5GL3M5QzhmS24wS2xKeklPR3lKa2tia2hmbm9NR2p2Mm11QnI2QWRFZXllMkdkQVpXRk5WTHUzcmVpL1htN0hnWlZkZ1c3dXNGSllWTzNyeHJPbnBwOEg2cXNFbGR4T3FHV1JpalRLalpYTnl1VGxhY2EyVW54NkQ4a1d0akpha0RxYzJJNVFzbXdvYTlSaVRoWUZqdFNLbnNIYXF6UTYxaHpVYm9pbnhpOXZVRlduUEptVm5HbE16VnI0Tmpwb2p3Tmd1dlFCZ3l0dzdwbm9GbTRsQml4TC82cnowR0N3ZlBuWjNrUnpzSlBpMm9QWXRDWjBZYUJ3a1pkYjd6T0JCVkpVR010MThWTFJBRm9aLzRxcFJNVHZraUV0YkhyTjlLTCtBYWRJTUZGZDNNTUdaUUY3L21IL0w0M3RZWG5vTWNpRWh0OTFyaVF5anhkR0JpTmI0MXI0REZMWThlQkQxeEtOSUN3K2hoaW5Od1ptNWN0bThMakczcEN6TlFsTjJ5Z0d5K2FMcmE5aU5NYU5BbDROR2NvTHo1VGdVWFh1Z0pmZG01NlhISUNpUS9uM2ZVMHJ1WGRLSTJQT2lzdm54eEt4OFJQY1lSSk1pTkxpY2ZucG9QdkVJTFhWWFpZZ3gxSHFjaFc1b1VIc1YzcVF4K1M4K0EwMm56cjFEVitFbzRHSEpIYVhqS0M4OUJ0ODhlTTluaXVSbU5Xc3BIalI2SXFmdmhqRDZDbmw4Q1kvVDhVdWlnOVRUcDZDY2RIVmNnbGFFNTQyNGQ4MUZOelNPYkVONWhzcDZ1emdzT1Y3WFBVV3VaYThGUlVwaEEreWx4M3h4eHlpbXNtaXkySkwwM3poUmhVZE41SFJIUG9WSm52Y2RqSFhaeDVPRUJjMGhTbUk1cENyODNpWFp6alRDSWVFenBJdHBWbHVRMFBLMzc2T3JSZzdta0N5SEllK1FsR1hTTUV3a3JZOGVwOUlmUXhOdDNtUzhxdG9xUnpJL3B2dThvMStvS3B2c1diUmNMbXJWWTlvb2k3bDZaY3p1MEh3Zkw4NGE4K3pDdDRJRkU2YmFNOTVFZlp6V3prZVA5YjNVQm5UUTVuV0tuYUdmTlRpaGF5cXhKclpVUEVHZDZnOGROaE14bUloMnhZTlBSNVN2ajNQZ1FvUmxMRUJneEx1Uk5GZ0Q3Z1h3czA5a0xJYnhtblVwaGsvNzZMRVlhMm1zRHJvbVpoc2hqMXZPTWNRb3g1Z3BlOWlQSUtpVFY1VDZ0ZlR3RUo2amh6MWI0WDBJTm1OampDMElnaFhzVnBXTWVhdmRwWkgvZEtNL1BnRm14dHBUUGZTWU0yWnR2U21ZMDluaUlsL01mRFJYWit0T3Q3d01jZTZQaWpkL0xPWDBFT2UvWVBvamxtcW4rVndtWFhRTHhXaWdNc0tMaGZqVzJDeFcraDNYM0R0YVRiWlNTMlB0cVI1Nm5IRloxeENkQ0lHVWh3Y2NrTGMxWkdTWU1YeGRmQnpob1NDQUF6dlF1TXp6K2M3UDlMa2tNWEQxdFNDQU03bWpnUjlhRDRMS3lZU0hWc1lheVBUUVl6NEtSejNWMWRyTWtnMzBvUnFDa0NrNyt5YjVPUEp6aGl2cTRvbDFtUU1kRGw2djU3a3ZIWTU3cW02dkJqU2VpRjkxdGRDaFc4SzlWTURqU1ZRZFh1SUlOWHJvc1NoYm1ndjN6UnF3dndOdmMvcEVGcVNpN3NVaEp2TXBKMjNCSXl6YXBuRkE5aUUwcyttWjh2U0FSem5XWWVhb0l4VEdUVk9tS2h5Rm0xNGVwWU5CSE9XaHgvb2hSZ2k5M21uRzVvTUE1MnRnRjl2SkVEWXZNY3p2Ly94bTF5RFB2ZTNPUktlbEoxLzgzYzZ5TXhiZDhCaU9QV3FGVytNMlF3Z1BNZWZuYXRUaXFUWDZuYXdoNXVtb3FFemwzL05lbVpUM3IvekdPMlJTdTVkaWt5aEZmT0lOR25yWXBJY2VwOG5CNTM3L2wzNzV0MTZTcUpuNUZPUm9ZZ3pIcGhZd0JNbVhZdExmQmNoNkRNSXlLM0w3UWFLZXZCMkU2dXJ2QXY3Z2pWc00yM0wya3JKSHRKWnU0VHhDM2lUcjR2Y1BIOWJpZ0dGekNBOWhiUlp0RkNIWGhNUTA3ajhzcTRqK1F5Z2RQMGM2VjdESENtUlFUNVhGbHRDK3lNeDlzamhzZi9MUlkxczhJTnNoVFlvckpPMlRrczR6UVlOcnVGNGxXNEppNzZPQWk4bnlWZVBKL3dlbDB5N3Ftb1Y4ZHdzdTlVNlNnWUo0QlE0Yi9ldE1ZNGFJaHJGTG9WaDZKbWg0aUM3a0l6Y3lUeUdad2tNTnBvTitkRFk1bUM4Q1pGbFZ3NlBjaUF0YUp0UXcwZ3NmUzBsZ09TYjkxMGVQNG5UTkQyc1BXREdzb2tybmcxS1Vya1JPZHRNZlVsUjRIZWxmMzVzejJrcXhSdGd3VHhXbFg0Z3RRa2xYS2VuanBHK1RtYUxvTlNVUHF2R3MvVGYvbWY3UEdrd3FxRzdiVHUwSnBlRWh4S2MwaXpyOUdrQ3loSWUrTG5UUTM1SXl6SVhrNkUrNlg1SFo2QTRISk1xd1ZFdENaa3I0eHNXdzUwSzg5RGgzVDdGLzYxOGI5ZklzbXMwaVJGYWtOM0NLSE4zNWpmK21IV2xIbEZraytvalNHYlhqeHFtS1FySHJZaEJnT2JhS0l1aGUwVURYV1lnMFhvbXpRQWVEcUp4N2c4a2NGRFE4UkgzSnlJQTNhS2ZzWkFnUGhlUkw3M2pzWFpEc09WbHZNMmJXSlJUMzVZUnhRbS9qK1BxMUo4Q2lwaEY3SkVmVm8yU054OFdYdnhJdzByMTkyRVc1WEFIVDl6NW5VQ0QvbHNLcEdIdCtOTXBKWDVZTSszZnc2d0VVbXlYTUNZWVoya2hod3NDWU9sem9WRnlJT2krbVluMFFORHhFTjhmVWthc2NlNFl3Y0ZkOWlsdG9sc2t2VU9pREVFMDRieFBrU09qU0pKK1VQVVlpNE12em52ZkV3Y1lLT0RpMUpndEY5MUgxS0RuUXBZUmx5cFZvdi91U3NKNllnd2dQZUUrbmQ4eTRxWDJJSEgyTVZsTFdMVTZPMEtYazF3aTV3VmsvK24vWFNaQ0NMRURNdlJTY0g3aE5pNk8xS255N1RBMVRsdkJRaThZZ2NGVnhrcUxMVXFYVStYYkZuRG5neTdQVGszUEZYU3g3bzU3TitBeitHVldQaW5NTEN0MVN1ZEVTWmFFQU9EQkNBKzFVbnNaSm50SUJIelROcTNyVlZYSnczL1dFM0svRGttbW9iaVRKOFp4R0s2aEVZTE1GV3FMbTBrcU40c0pvTGxla2Zva1o2Y05ROTVBTncrWDBXTFQ2TEpma0RVUEMxTmVBbTRidk51MUt1T2Q5VkQwcTlyQy9zWENyUWd5UktPMEpZcXFCMXlHOWxPN0lZUFJ1UjZ6Vkc3L2h4UWlJV2ZHRElUbjQrWGZySUVzYTg2REd5a0tRQXNLNFUwNUhDb2tiUE1ObkMyaE8wT1Z1cElrTTRhRnB0VkRFTUdRVGVTdDlSbEtIemFXVWNHcXArcGJZMUQvM2h4THNleDlWajVJL1d4WTlMM01ENzcveXh5OS8vWStaVkhQUmxGTG15MmI5bkxkQkRTOWlLd0tWaGU3eW8vUmpHSUtkaU5VUXFWLzlzaWJDRU9VazZUenZPekE3WFE1YVlqTXh4ck1LMDBqU3hIM21JeC8vNHVVTkUxeGxjeUdGVWdkeGo3cUU2WEhmaG1taU9zdy95SldFSjJVeU4vT21DQ1ByVVRCK0dDSnJ5d3V6T2lPUDJ2U2dpTUJPUktPYXFuRWJ1NkhSZ3NYZ1FGY3ptZ2JiNnh3L1AreGFnaFhMYmtGTjZmenl5N3pudHduWjVBV3F1L1R1RlI3cVVSVnFHdUFNQ2p2OGpsOU1ESmlTZWc2Rk5FMHJqeUtiUWZCbTZWRW9WaW1KaEFqWjlKZ0w2ZHU5YWxwUHFWU0JjMWVLbHFWSFI3TmpkZnJXMWJMRFpZV2l1NHFmc21DajdkaFo0K0NLK2ZFbEp2a1FhYWxWOUMyc0xxL3cwTmR2Z2NKTjBYS2EvYUlyNVc3UUZnYmFwS1Q1RmxRY3V5RElQcGFKdFJnd1BaTVFJWnNlOGV3Z2dCeE82ZFVxRE9iOFBaVVJpY1pxQk1HeTRCQ0xpLzBJWXFRUUpJNlFFOUpnZHpTZ1VjQ1J6ZFoyQitNQnFESmZSR0s4N0RKS3ZOQkJyNDRlZEdRUTYwK0hKUHJIZ2dvU29FUUp6WEorR0tWQXRFRkxxd2pwQXJIQWhiQldhUUlORWJMcEVidXRQZlNoUGJPUzFEejZVTTFFdHJZaUNKM3RhaUdNY2RvVjYwTzVyaUNyZUp0Q25XL1dNSS9PYTVoMC9TcWpya2pGOVZabDNuaTRWcWFkNUV5L3BEOS9QSkJucDF5ckJiTVA0Wms4Rjd5RmhlaXNGU2FCaGdpWjlEaUJEZ0hMWWRyR1pLVUtZbHNIaHZzS3pVN1ZYSE5GOExUdFFhMVVRUitJR3R5ZExKSTFOOEV4WVZsNGlQb3NvcUVscm9DV3pMdXJyWmd1TVRaSjlMNUg5eDVicnBoZDI3QkRlQ2JQL09KUXl3dERoRXg2Yk1FYnBtNndyemZHQXZ3SkRjWGFTN3VrYTI0RVBzRWdDSkpEMDBLVUFHVnFlNEtiUDZCWVk3UXJ3amRjRUdZM2xIT2JtNU94WVVpSlZ5N3FSVXJRb0p6a2RiaE1sNHhvT0Z6TUE1SllMVXRxMjkwUUlZc2VGOWw4WG9USXRvcXNzT2tvTml2eGJNdGFadWdKVldmZzI5cUg1cEpEVXpGMEpFSkRtUTdTY2FMeVlsMDFLUXg0WjUxeHArR2hUWTk2U29UVGE2UmlNaFFRMkRlWEpZZkRkRlVyeTdaNnNTNTY0OHZ1akVGZEdVT0VMSHFzTStldURwRzNYVFhxT01zM3BXYmlWZ3pzWElQSTJvZVdET3VzMStoSVp4ay9EcmFEVUF0aXlLRXB6SS9CQ3gzMG9nYWRUMm9zbS9wamlXcVZkM1ZxdWpMYjFBRkcydXhESFVJdW9BZ2hyM0NWMHBrWUltVFFvM2kzRlNJNHU3MWVlVkJOV2d4MkNqUWlnbVpaMTR3Z3NaVFZIOUsvR3hDamRtZUsvbks3R1EySG5SRHR3L0tBem1LeklqeEdweFFQUmdqVWI1bGsxWjBZcENTZDlSaFVaVXgvcUVxNzNILzllUWhqNUdjTFRCRXk2TEhLdHd5aENqTm9wY1JOSkl5WmxPTHBTekhhUlFPdG0xcmVTTWJXWlJMWEcySmxLTXZnbnFIdEdwZWhreUk4UkkrbzBPN3owRVhPQWVHaHVFVzJNMDZlL2tGY3NSYWpMYnROdWJrdWEzTDdOOVBDNk4yUE1VckptQ0tNcmtmNWJpdDk2TjdMSW1NbXBVSWFkb2krTS9PYUZPRUJ0dmFoRWQvOXpSYlhTSmR4QUtiSHcwTjA4cUo2YTIxdytvNzd5VXVtRm84eU1Pd1FuckhyOEozWmgwckMvdEdUZ091eUd0ZmRGTUd6bUlWbFdjb1pvaE41OVY4d01XWlN5dGJ3aHhCR2RYWEpXSnhhU2xWeVdTNUpGQ1EyNjl3bVg1VWJkNkp4bFhQRTRNUGtwWnBmSVY1ZW5jV2pET0wrRU4wMGNlMGZHbkZxK1BMQy9tRjh4dWVFbEphYklveXN4K2pkMWdaRXJxVlVaNERObVpTaTQrc3l0bnVkblBFVkg0eXhMWlVSQ1dpaGE4S1MrY1JtSFlxdEpzbU9IMUxZNDNYUWhSaFdSZExvd3Y1ZTlLamM0bEVHOFhWWjBBRmpQZXBvY0czR2tYZ21ZaEdUSy9xdHNBMFJSdGRqOUc0cjFxaSt3VHIwZ0gyalJVRVE5eVRwSUhLd3d3U3dhWEpZOE5xeFMyeldvVlB0bUt4T0lpL0NROVFvUXh2TlRWRm55VGM4cEFjVWVkbDRmSWhhY3BkR0tyTFA4TUo0SnBJakNtNElhVnczNDM5MFJ0YWo5bTRyaElqM2JGYi9WNjh2M3ZTWG1pUlBYamw0S1lMYThRN0Q4Q0pNSzJoNzVNM0t1R3JGWlJJVHdMWk15enVPZmNxazg0NEJzNmNSWUFBbVdHbm80MHJLOEJEYjJkcklTOUdwVmRxTTFabjc0TzM5bjlPZUtmK1A0NUxGV2szTFRzREs0N3ZqTUNpN01WNTZwa3pvY2xCZFdBaGZGSmtHTi9Kek4waWtsd2dqNjFIYkthZVRoTlNFckR4NE82SldJWW4rYU9qdDVQQjZzcG80aGtucDFVaGtoZHZYSUZOeXZwS01vZW9kbVpaM2MzNldjUE9Pc2pVTkJwTzJwV1ZQS2luRFE5am1SSzlSajUrMmVsK1hZYVpOYnJwQ2pqWWtEUG5iU2svRGVPMUtpTG92eGlKcXkyUzNhaHZWa3J6RGxvTXlSOTl6a3h3cjNBNU55MzE5UHhGRzFxUCtibXNiemU4cW1WamlRZkwwQnY2UlZ3MzBSWEt0R3p4MVZJMmJVVjZtdXFxVm5jV2lyT1ZhbVVVdFZxV3NYQlUyU2hpTnhkcTZHeUZQTENYRFEvUTFKN0xUMkJZVnc1ckhiSFN1UUw0M0NKNktiRWFUZkFFYXZkKzBWclQ0WEd4ZFhPbnZ3eUdRSzU1a3U0eUJqUDYyS1lqcTNCL3FyUEc4cHdpajZuRkMxWXZxSUlWaEhHWUplODlwVVhhWkhGODVsVUkxOVFxcDZXM3lxcGFoZjhXQlNFbkNyaW1Ta0t5cnRFZ1lDdzBUcmZKNFRDcU5CQlN0WjA4cUxjTkRiSC81Qm5Vc0gxTktMRHhVSWV4bHU2WlU5Q05NbDlNSGhyWGlVaGMxNGRsZmNZVHhhVnREMDcwTlZTbUZveWZ2QzN5THUxSHlNSTZuQ0NQcU1WZlNGNEY0NW9ZWFhCZHZxSVJpcEQvTUhhWmVOUFZxclZyVWVaWFFlMmpFYVZjamlDWGJSbFZBRm8wTm9CaTlsakhpR3NuM3JEUmFWL0lQdnJ6aFFnL0FpZE5Eb0tvUzhrWTViZEFwUlorUjVzVnJVdktyYjdtUVRiendHMkxXU3RUVnJFV1ZUbE9ucjJ6MHlBaE4zeStMblpTUjRTR1F0UG5ZYlc4emNsOFJSdFRqdzdGVk1kMmdpYmxwZU1PUWQrMkdjR0pEYnFjUWdMRDBqYnpXcEFrV1g4VFEwUHVWcmdCODRDem1RQUtITHJjZUkwbkxHSDdUWkh6Z3A1Vkt3REh1OUtlZHdBOEFSSytnZEtDM0hVbGRqWlpIRk5RVWdkWUZZWktueUhPTXNtQVZ1cmZHa0p5QzZoNG1OK2I3UldqMkNpZC9PaHlvOWJhUVZaSVQ1dGxYaE5IMG1BKzF4ODVmU0lpWng0WThVZFRqaVFreGVIQzBaVk52alVpM2RoU3d4UmFYNkd0V1FrcFdUbXlzUUYrV25xbFlSZ2tqcnRFWnNTdmdhU3ZySHpIM1RoWFhKQ2xNVDJSVU1HNHVTZ1I3Z2JITGNqQThMRkVRMklaVjZDWGV3V2dKOFU1TUliMmpZOHh0TU43c0I3NjhHaEVoTXdYejNMdkN3K295aWtFaWpLYkhYek1peVJCWUZ3dEMxbGp0TU5ETVBqWEVjNGZCMGtjQXA4RWhVQlVRWTUvaUJMaWRib2lTWHdpQUo3RXRXVG52eG1aZFdmWjBaNkVra3JhMmxnUjdRaGFqaVJjK2dHcDVFTVlpbm1WbGlIbmo4RUQ1YzArYVlWcHZMbHBoRm5nU2U5T3BRc2IwaFJHb0RIdWJ5VFBKOTJLOFJSaEpqMDlvYjJneXplR1JpMG1MWmFmVWhMdkNPaHZXMU9zTUllMFJ5MFEvcy9LZDVyemN0S0NHNklhSVFFOHRHLzJYblVQdTZoU3BhV096cnBIMHJGS0w2Z2c4YmIyMU9zb2pYWS82RFo3enFpeUJjYWVQaEZESnhtazYwZytXOWtpV0UvY0svMWZkSUhoQ1dwVUN0b3hzQXhZRjJsRzE5SHRPa2YzanNqWFdHVk52RVViUVkrN0RhRzVzcXZrOUNyZ21Xb05iUXcyaUZUYWJvNnR2TXV4azR2bnpRazFoVFJ0OExRSmdIWXZURDNDazhRdGZ5NEEwZk5kWG12ZEJXUlIwVlJvOFhWazZZdFpjQkM3Y3I2TmgwbXJpeStucUtiOEZURldIb3UvaTF3UVgzbCtic21zVU5TcXRua1doWVlUc3R6aVlPcW42dDNnMDRxWXUvb3FtbFI2ckpXUWMvRVVZV28rUGZyWUk0YUNJbDBxaG52eG5CaUNIMy85NW9aR2lzbzQ5Tm53NjhpSDMrTlFtUzZyN0VnMkZCTG4za1lPdWdNMkVZUHJBKzJzaXE5MHdmM2UxTEpJRk9VYmo0RVFPSllWK09hcW9EL3dFZFRxZ0FkR3VwcU1kbVBsL3BNMGkvZHYraWhFdGlJNng4S2w3bVE3NzkvMERSd1NUYXRLSE03TE9QRTVlSTdMYjFncGFpTWNGd2FORjhsTVNUWHZsMGQ5OFJHYTFlNVc4RU9YS21sYVdxQ1ZZNXRiQVg0U2g5VmlBWk94UzNtQW9BTGpWbUdnSTVhMExHU3ZNRGpYWUwwREsxeFpvZFd1UVMzLzc4WkprUU1GWS9PQzZxQ2lpaERScUNsSVVTeFlGU0VuQUhPNXJLTXdlZWxiRERFakMrcXRCTW9EVVFEZG9tK2pGVGVtTW1CSXJITWgrZVltS0doWlE1aDV6c2ZHTFN6bTZMS2Y5NEF1L0wvc3pmR1BnMlFqV29nelZZNHJnOEZLVkYwMmZpV2JYUzJRcjMrWks5eFpoZUQwMit6ZGV2dVAxK0Z0N0pXeWJYQURvanNzWDVLZGFNTTNYaE1STjJyRXgvMzZiNXd1NkVSVWs3Sll2MFBiMlA2M0JucVFRV3g5S21NNVFIMWFjZzg5bUhjSWZXblhESkQ5NWNJODJrSWNvV1NVWHVLYkVNdXExdkJPWENWWHFIWmVoVlJGd2JpdjFvdVB2c3U5ZGJiTjYwci8xODU5VVgwVC8wRmkrQ1lDdEQwM0lhaWpMcWo0Q0VUb3FIdkVHZVlzd3VoNTVSZGJmbFdpMjRZSVErWkJUSm5Od3lkMGQzbWk4eFQ3NzJlS05xNVlLcW1aSGZLdjg2S2dpOXRxc1c1WTlXeFh6VHl3LzcwODdDcVhTR1AxYVdvMTl1N0hMK0tSNWxFQStlcVYvNjk4ekl2WHpPN2YzTDZsTWxKalRUYy9paFowSUU5eFZ2SG1MWjcxRnlLSkhyZVo0c2lmZEgzcTZBUU1XeHU0cW8waWR6T1BsQitRbW80Vk5DcVhmWmwxbnhBbUpWanJORzVSU2YyWXdGQ1VyNEFPeUxGV2E1bEVPVjJVeDdoamFDdnVMa0VXUHRwb1pyS29tQ1hpeDYreGpUZmpGbFRxWk02enZ6Nkp1aVcyRlBEZnI2cDZSU1ZzVnNTMCtHMEUyR05jYjQ4R1ZxVlRha0NZOVV3Vk4rK0pPNStrdlFoWTk2alhHMGczbUJGRVFIT01hNnpvN05JZXM1cjR4eUNnL2lEYTVpM2x1MW9WNldOVE5NWUUxRG4wbDhCa0JHR3k3Z2tXTGVVWU42YlMweklsOHBKbzZ5c3lsRnZjWElZc2VVNnV2eUFZSEhkWnBJTTQySTJZZkVGMjhtRnJRRTFHSUJhY1NoVHczNjhUZjVDV0tld0hLOGhGN1VROU5oTVhZRGkrRUFiT0dWRVA2YmlHMUlKL2d1TkYvSi9TRm1aMk50d2laOUdpdkc5RG9uQnlQakVHY1RVYmNvWnJJUGczMFZPakFLb0l5OSs3TnVxV0JicFdWT3djMitLQndVR1JDd1lNVUZZandiRVU4ZEhRcElQU1RIaVBWNC9IY3ZVWElwTWRVNlZmVXdwU3dBQWpFMldMRWJOdXN2SjVhMEJQaCtOSWVPS0MyR21ja2R0WlNOdXM2VERiUEtrMHk4V3FxQ1I1Ylhtc0RXMnFYUlllSFNkOEluUC9rNUNkQ2EvQTg3aXRDSmoybVNydE1hRkFJbDl3ZWszYUluZk9wMXhndXcwK09pQkNHbFlmdlpsMXpzQnF0L0Nrd04ycGtLWldqZ1doTGYwaHNqOG1vSUlMSE9MdWhRbk5HS2Yrc3g0UDNGU0dMSHRNRm5wT0JyYm80QTlQaWxnR2hqalVjUk45UEwrbUpjWXJ0dVZtWEc3UzZjOG15S0dLbUxwcE11S3FJcnM2TEhUWDVKM3h0Nm1DcUk5aWpWN0dZT0VDVDRPVXBRaVk5SmlxTkFPTEx3QWkvZHhsUXZNcGNvSEhubWRqUjM2ak1NS2twMTlMVWM3TnVNVU4wS0pnODVoQWpJb3Y4VUVoRGJIL2x1ZW5GY1FiRW5jdXJ3eWpMVGhzT2ZBeWVJbVRTbzEwMkJuMlkyNStXOURqbW1VYWVPS3pDRGkxSEoyWWNITndvMTZkaTRNQ3ZpOUxPemJxZTlGcmRWZG14elIwN2ZHelFYTWgyOUpmVXJGMm5MbVcrOUFacWg5cmN1OHhVV1hWZ2xORlRoRXg2ZERRaFYrcHYwai8rZWJXa0tlQ0EwS05rbFo0d2ErNUpZSVo3S3ozTzVMdFpWOHJnMHVTakl4c1pHdUVzK2dqQnZ6VE5GOVV4a1FueXlpQlhmem9va0sxRmx6Zm9aS29obHdiSG1meEV5S0pIVFo1a0VpR2ErMEx5S29XWUp3ZlgwNk5CTGZKRitZY2NDamRLWWtxNm5NbkNucHQxQzhKVlN6THdnRXhyMjk0ZTVDT1JOTW5OMTVGK1RaV3RrMHNsSEEyQ1pmTDlqTFFxYWsyRVl0MWpSWEtnandpWjlPaW9HNml2WGlHMzZpKzVQbnI3d2ZjQlBQZVNneDEzUVQ4czN1Uk1JL1Rjck9zTXRPVnBGUURlR29ORDRtRFBVTG1QaGdjUGJFUlUrSi9zUzV2STNsWDhpUWlZSWRVYnZDejFFU0dUSGpPSVA0YWlsZFIveDFRN1N3SGY4Vkg3UGdpdGRLT2EyeG5XeDNQSFA1VkZnaDVYYXBiOXFVVm03bG4wbUxueWJBem1sZU5zOHZIYnJKUC9WR1NXOXNyUHZzbUw3RVZPVk0vZ0VLcW1aZEtqNHZJZFNqVFQxcVorbTNYMWNmaWwzNkdtajZuYVJWZUF4TGVPVTYzSFJia3BhYmJXYTdOdWRoejZNMnMrYmZtbU9FeVpRZTVUcnNkNlNxallhN091UEhoUmtrR3pwNlRvZkpZSUdXL2pLZGZqYk1xNndtZXpMc2YzWGs3SnN6NDJNU3VwaTF2UEtrKzlIdiszYTIycHoyWmQ3Z2VzUmM4YU1QK0ZqQzMrcnRYamNXL1daZFQ3ZWZGVG9JSGozcXc3QlNvNEZ6R2pCbzU5c3k2amZPZkZUNEVHam51ejdoU280RnpFckJvNDVzMjZyT0tkK2ZML0R4enpzOUJCUlg1MEFBQUFBRWxGVGtTdVFtQ0MiCn0K"/>
    </extobj>
  </extobjs>
</s:customData>
</file>

<file path=customXml/itemProps1.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55847</Words>
  <Application>WPS 演示</Application>
  <PresentationFormat>宽屏</PresentationFormat>
  <Paragraphs>5180</Paragraphs>
  <Slides>155</Slides>
  <Notes>4</Notes>
  <HiddenSlides>0</HiddenSlides>
  <MMClips>0</MMClips>
  <ScaleCrop>false</ScaleCrop>
  <HeadingPairs>
    <vt:vector size="6" baseType="variant">
      <vt:variant>
        <vt:lpstr>已用的字体</vt:lpstr>
      </vt:variant>
      <vt:variant>
        <vt:i4>33</vt:i4>
      </vt:variant>
      <vt:variant>
        <vt:lpstr>主题</vt:lpstr>
      </vt:variant>
      <vt:variant>
        <vt:i4>2</vt:i4>
      </vt:variant>
      <vt:variant>
        <vt:lpstr>幻灯片标题</vt:lpstr>
      </vt:variant>
      <vt:variant>
        <vt:i4>155</vt:i4>
      </vt:variant>
    </vt:vector>
  </HeadingPairs>
  <TitlesOfParts>
    <vt:vector size="190" baseType="lpstr">
      <vt:lpstr>Arial</vt:lpstr>
      <vt:lpstr>宋体</vt:lpstr>
      <vt:lpstr>Wingdings</vt:lpstr>
      <vt:lpstr>Wingdings</vt:lpstr>
      <vt:lpstr>苹方-简</vt:lpstr>
      <vt:lpstr>微软雅黑</vt:lpstr>
      <vt:lpstr>方正雅意黑 GB18030L2</vt:lpstr>
      <vt:lpstr>汉仪书宋二KW</vt:lpstr>
      <vt:lpstr>宋体</vt:lpstr>
      <vt:lpstr>Arial Unicode MS</vt:lpstr>
      <vt:lpstr>Times New Roman</vt:lpstr>
      <vt:lpstr>Helvetica Neue</vt:lpstr>
      <vt:lpstr>黑体</vt:lpstr>
      <vt:lpstr>汉仪中黑KW</vt:lpstr>
      <vt:lpstr>楷体</vt:lpstr>
      <vt:lpstr>汉仪楷体KW</vt:lpstr>
      <vt:lpstr>微软雅黑</vt:lpstr>
      <vt:lpstr>DejaVu Math TeX Gyre</vt:lpstr>
      <vt:lpstr>Times New Roman</vt:lpstr>
      <vt:lpstr>Arial</vt:lpstr>
      <vt:lpstr>宋体-简</vt:lpstr>
      <vt:lpstr>MS PGothic</vt:lpstr>
      <vt:lpstr>Times New Roman Regular</vt:lpstr>
      <vt:lpstr>Apple Color Emoji</vt:lpstr>
      <vt:lpstr>-apple-system</vt:lpstr>
      <vt:lpstr>Thonburi</vt:lpstr>
      <vt:lpstr>SF Mono</vt:lpstr>
      <vt:lpstr>Georgia</vt:lpstr>
      <vt:lpstr>Cambria Math</vt:lpstr>
      <vt:lpstr>楷体</vt:lpstr>
      <vt:lpstr>Kingsoft Math</vt:lpstr>
      <vt:lpstr>Apple Symbols</vt:lpstr>
      <vt:lpstr>儷宋 Pro</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识别目标与归一化处理</vt:lpstr>
      <vt:lpstr>识别目标与归一化处理</vt:lpstr>
      <vt:lpstr>识别目标与归一化处理</vt:lpstr>
      <vt:lpstr>识别目标与归一化处理</vt:lpstr>
      <vt:lpstr>识别：Fréchet 参数 {, }</vt:lpstr>
      <vt:lpstr>识别：Fréchet 参数 {, }</vt:lpstr>
      <vt:lpstr>识别：Fréchet 参数 {, }</vt:lpstr>
      <vt:lpstr>识别：Fréchet 参数 {, }</vt:lpstr>
      <vt:lpstr>识别：地点特征 {,}</vt:lpstr>
      <vt:lpstr>识别：地点特征 {,}</vt:lpstr>
      <vt:lpstr>识别：移动相关特征 {, }</vt:lpstr>
      <vt:lpstr>识别：移动相关特征 {, }</vt:lpstr>
      <vt:lpstr>识别：移动相关特征 {, }</vt:lpstr>
      <vt:lpstr>识别：移动相关特征 {, }</vt:lpstr>
      <vt:lpstr>估计方法及处理</vt:lpstr>
      <vt:lpstr>估计方法及处理</vt:lpstr>
      <vt:lpstr>估计方法及处理</vt:lpstr>
      <vt:lpstr>估计结果</vt:lpstr>
      <vt:lpstr>估计结果：Fréchet 参数 {, }</vt:lpstr>
      <vt:lpstr>估计结果：迁移成本</vt:lpstr>
      <vt:lpstr>估计结果：宜居度、人力资本形成质量</vt:lpstr>
      <vt:lpstr>反事实、一般均衡参数校准</vt:lpstr>
      <vt:lpstr>反事实、一般均衡参数校准</vt:lpstr>
      <vt:lpstr>反事实、一般均衡参数校准</vt:lpstr>
      <vt:lpstr>反事实均衡求解过程：设定、求解前的已知对象</vt:lpstr>
      <vt:lpstr>反事实均衡求解过程：设定、求解前的已知对象</vt:lpstr>
      <vt:lpstr>反事实均衡求解过程：降低迁移成本</vt:lpstr>
      <vt:lpstr>反事实均衡求解过程：降低迁移成本</vt:lpstr>
      <vt:lpstr>反事实均衡求解过程：降低迁移成本</vt:lpstr>
      <vt:lpstr>反事实均衡求解过程：降低迁移成本</vt:lpstr>
      <vt:lpstr>反事实均衡求解过程：降低迁移成本</vt:lpstr>
      <vt:lpstr>反事实均衡求解过程：均等化</vt:lpstr>
      <vt:lpstr>反事实结果1：降低迁移成本</vt:lpstr>
      <vt:lpstr>反事实结果1：降低迁移成本</vt:lpstr>
      <vt:lpstr>反事实结果2：减少宜居度差异（均等化</vt:lpstr>
      <vt:lpstr>反事实结果3：同时消除两类阻力、</vt:lpstr>
      <vt:lpstr>反事实结果：异质性讨论</vt:lpstr>
      <vt:lpstr>反事实结果：异质性讨论</vt:lpstr>
      <vt:lpstr>反事实结果：异质性讨论</vt:lpstr>
      <vt:lpstr>反事实结果：异质性讨论</vt:lpstr>
      <vt:lpstr>反事实结果：异质性讨论</vt:lpstr>
      <vt:lpstr>稳健性检验1：调整一般均衡参数大小</vt:lpstr>
      <vt:lpstr>稳健性检验2：考虑自雇者收入</vt:lpstr>
      <vt:lpstr>稳健性检验3：允许迁移成本不对称</vt:lpstr>
      <vt:lpstr>稳健性检验4：人力资本投资</vt:lpstr>
      <vt:lpstr>table1：指标定义与复现口径</vt:lpstr>
      <vt:lpstr>table1：复现结果对照</vt:lpstr>
      <vt:lpstr>table1：切点口径与稳健性检验</vt:lpstr>
      <vt:lpstr>table2：五个事实与复现口径</vt:lpstr>
      <vt:lpstr>table2：复现结果对照</vt:lpstr>
      <vt:lpstr>table2：稳健性检验：三个口径</vt:lpstr>
      <vt:lpstr>table2：复现边界</vt:lpstr>
      <vt:lpstr>table2：差距来源分析</vt:lpstr>
      <vt:lpstr>table3：论文原表与复现口径</vt:lpstr>
      <vt:lpstr>table3：数据与样本 —— 一个先要破的案子</vt:lpstr>
      <vt:lpstr>table3：复现结果对照</vt:lpstr>
      <vt:lpstr>table3：四个事实逐条判读</vt:lpstr>
      <vt:lpstr>table3：加权是必需的 —— 三种加权对比</vt:lpstr>
      <vt:lpstr>table3：列(1) 那 2.13 倍 —— 一个假设被排除</vt:lpstr>
      <vt:lpstr>table3：稳健性 —— 分年与标准误</vt:lpstr>
      <vt:lpstr>table3：复现边界与结论</vt:lpstr>
      <vt:lpstr>table4：论文原表与编号对照</vt:lpstr>
      <vt:lpstr>table4：四个参数与 θ / θ̃ 的分工</vt:lpstr>
      <vt:lpstr>table4：识别来源与式(8) 映射</vt:lpstr>
      <vt:lpstr>table4：ρ 的缺口从哪来 —— 归因分解</vt:lpstr>
      <vt:lpstr>table4：ρ 难在水平，不在敏感度</vt:lpstr>
      <vt:lpstr>table4：θ̃ = θ(1−ρ) 是怎么来的 —— 推导</vt:lpstr>
      <vt:lpstr>table4：θ 与 θ̃ 的分工 —— 蒙特卡洛证据</vt:lpstr>
      <vt:lpstr>table4：复现结果对照</vt:lpstr>
      <vt:lpstr>table4：θ 的偏差主要来自估计方法</vt:lpstr>
      <vt:lpstr>table4：补齐论文口径（份额定义 × 格子筛选）</vt:lpstr>
      <vt:lpstr>table4：θ 的可接受性检验</vt:lpstr>
      <vt:lpstr>table4：美国分年与 ρ 偏低的根源</vt:lpstr>
      <vt:lpstr>table4：固定效应与抽样权重</vt:lpstr>
      <vt:lpstr>table4：已排除的解释、限制与结论</vt:lpstr>
      <vt:lpstr>table5：论文原表与编号对照</vt:lpstr>
      <vt:lpstr>table5：反事实怎么算 —— 模型链条</vt:lpstr>
      <vt:lpstr>table5：含选择 vs 无选择 —— 差别只在一处</vt:lpstr>
      <vt:lpstr>table5：复现结果对照</vt:lpstr>
      <vt:lpstr>table5：三个定性结论全部复现</vt:lpstr>
      <vt:lpstr>table5：θ ≈ 12.5 的四条独立证据</vt:lpstr>
      <vt:lpstr>table5：稳健性（一）α_d 离散度</vt:lpstr>
      <vt:lpstr>table5：稳健性（二）q_o 技能分布</vt:lpstr>
      <vt:lpstr>table5：稳健性（三）观测 π vs 模型 π</vt:lpstr>
      <vt:lpstr>table5：稳健性（四）γ × λ × σ 网格</vt:lpstr>
      <vt:lpstr>table5：列(2) 那 0.027 —— 约 80 个变体的排除表</vt:lpstr>
      <vt:lpstr>table5：复现边界与结论</vt:lpstr>
      <vt:lpstr>研究结论</vt:lpstr>
      <vt:lpstr>进一步研究｜税收怎样进入劳动者的迁移选择？ </vt:lpstr>
      <vt:lpstr>进一步研究｜从换城市变成换城市＋换行业  </vt:lpstr>
      <vt:lpstr>进一步研究｜道路同时改变商品贸易与人口迁移</vt:lpstr>
      <vt:lpstr>汇报完毕 不足之处敬请大家批评指正！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陈冠宇</cp:lastModifiedBy>
  <cp:revision>164</cp:revision>
  <dcterms:created xsi:type="dcterms:W3CDTF">2026-10-26T02:15:36Z</dcterms:created>
  <dcterms:modified xsi:type="dcterms:W3CDTF">2026-10-26T02:15:36Z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2052-12.1.28496.28496</vt:lpwstr>
  </property>
  <property fmtid="{D5CDD505-2E9C-101B-9397-08002B2CF9AE}" pid="3" name="ICV">
    <vt:lpwstr>34BE9F54B4E467F953B6DE6ABDAAB87C_41</vt:lpwstr>
  </property>
</Properties>
</file>