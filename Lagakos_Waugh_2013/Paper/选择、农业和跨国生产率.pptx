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8" r:id="rId3"/>
    <p:sldId id="257" r:id="rId5"/>
    <p:sldId id="329" r:id="rId6"/>
    <p:sldId id="274" r:id="rId7"/>
    <p:sldId id="331" r:id="rId8"/>
    <p:sldId id="307" r:id="rId9"/>
    <p:sldId id="330" r:id="rId10"/>
    <p:sldId id="311" r:id="rId11"/>
    <p:sldId id="308" r:id="rId12"/>
    <p:sldId id="309" r:id="rId13"/>
    <p:sldId id="312" r:id="rId14"/>
    <p:sldId id="313" r:id="rId15"/>
    <p:sldId id="332"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 id="334" r:id="rId30"/>
    <p:sldId id="327" r:id="rId31"/>
    <p:sldId id="335" r:id="rId32"/>
  </p:sldIdLst>
  <p:sldSz cx="12192000" cy="6858000"/>
  <p:notesSz cx="6858000" cy="9144000"/>
  <p:embeddedFontLst>
    <p:embeddedFont>
      <p:font typeface="华文行楷" panose="02010800040101010101" charset="-122"/>
      <p:regular r:id="rId37"/>
    </p:embeddedFont>
    <p:embeddedFont>
      <p:font typeface="方正小标宋简体" panose="02000000000000000000" charset="-122"/>
      <p:regular r:id="rId38"/>
    </p:embeddedFont>
    <p:embeddedFont>
      <p:font typeface="微软雅黑" panose="020B0503020204020204" charset="-122"/>
      <p:regular r:id="rId39"/>
      <p:bold r:id="rId40"/>
    </p:embeddedFont>
    <p:embeddedFont>
      <p:font typeface="Calibri" panose="020F0502020204030204" charset="0"/>
      <p:regular r:id="rId41"/>
      <p:bold r:id="rId42"/>
      <p:italic r:id="rId43"/>
      <p:boldItalic r:id="rId44"/>
    </p:embeddedFont>
    <p:embeddedFont>
      <p:font typeface="Impact" panose="020B0806030902050204" pitchFamily="34" charset="0"/>
      <p:regular r:id="rId45"/>
    </p:embeddedFont>
  </p:embeddedFontLst>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82" userDrawn="1">
          <p15:clr>
            <a:srgbClr val="A4A3A4"/>
          </p15:clr>
        </p15:guide>
        <p15:guide id="2" pos="36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784050621@qq.com" initials="1"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3065F"/>
    <a:srgbClr val="842468"/>
    <a:srgbClr val="9B0000"/>
    <a:srgbClr val="9A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p:scale>
          <a:sx n="50" d="100"/>
          <a:sy n="50" d="100"/>
        </p:scale>
        <p:origin x="1068" y="630"/>
      </p:cViewPr>
      <p:guideLst>
        <p:guide orient="horz" pos="3082"/>
        <p:guide pos="36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126.xml"/><Relationship Id="rId45" Type="http://schemas.openxmlformats.org/officeDocument/2006/relationships/font" Target="fonts/font9.fntdata"/><Relationship Id="rId44" Type="http://schemas.openxmlformats.org/officeDocument/2006/relationships/font" Target="fonts/font8.fntdata"/><Relationship Id="rId43" Type="http://schemas.openxmlformats.org/officeDocument/2006/relationships/font" Target="fonts/font7.fntdata"/><Relationship Id="rId42" Type="http://schemas.openxmlformats.org/officeDocument/2006/relationships/font" Target="fonts/font6.fntdata"/><Relationship Id="rId41" Type="http://schemas.openxmlformats.org/officeDocument/2006/relationships/font" Target="fonts/font5.fntdata"/><Relationship Id="rId40" Type="http://schemas.openxmlformats.org/officeDocument/2006/relationships/font" Target="fonts/font4.fntdata"/><Relationship Id="rId4" Type="http://schemas.openxmlformats.org/officeDocument/2006/relationships/notesMaster" Target="notesMasters/notesMaster1.xml"/><Relationship Id="rId39" Type="http://schemas.openxmlformats.org/officeDocument/2006/relationships/font" Target="fonts/font3.fntdata"/><Relationship Id="rId38" Type="http://schemas.openxmlformats.org/officeDocument/2006/relationships/font" Target="fonts/font2.fntdata"/><Relationship Id="rId37" Type="http://schemas.openxmlformats.org/officeDocument/2006/relationships/font" Target="fonts/font1.fntdata"/><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19.wmf"/><Relationship Id="rId8" Type="http://schemas.openxmlformats.org/officeDocument/2006/relationships/image" Target="../media/image18.wmf"/><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大家好，我们今天汇报的论文是《选择、农业和跨国生产</a:t>
            </a:r>
            <a:r>
              <a:rPr lang="zh-CN" altLang="en-US"/>
              <a:t>率》。</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我们从研究问题、影响机制、模型设定、数据结果、研究结论五个部分来</a:t>
            </a:r>
            <a:r>
              <a:rPr lang="zh-CN" altLang="en-US"/>
              <a:t>汇报。</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论文引用</a:t>
            </a:r>
            <a:r>
              <a:rPr lang="en-US" altLang="zh-CN"/>
              <a:t>Caselli</a:t>
            </a:r>
            <a:r>
              <a:rPr lang="zh-CN" altLang="en-US"/>
              <a:t>在</a:t>
            </a:r>
            <a:r>
              <a:rPr lang="en-US" altLang="zh-CN"/>
              <a:t>2005</a:t>
            </a:r>
            <a:r>
              <a:rPr lang="zh-CN" altLang="en-US"/>
              <a:t>年发表的文章中的数据，发现富国和穷国之间农业生产率的差距为</a:t>
            </a:r>
            <a:r>
              <a:rPr lang="en-US" altLang="zh-CN"/>
              <a:t>45</a:t>
            </a:r>
            <a:r>
              <a:rPr lang="zh-CN" altLang="en-US"/>
              <a:t>倍，而非农业仅为</a:t>
            </a:r>
            <a:r>
              <a:rPr lang="en-US" altLang="zh-CN"/>
              <a:t>4</a:t>
            </a:r>
            <a:r>
              <a:rPr lang="zh-CN" altLang="en-US"/>
              <a:t>倍，差异显著，</a:t>
            </a:r>
            <a:endParaRPr lang="zh-CN" altLang="en-US"/>
          </a:p>
          <a:p>
            <a:r>
              <a:rPr lang="zh-CN" altLang="en-US"/>
              <a:t>并且这个现象同时伴随着一个特征，穷国的农业就业份额远高于富国。</a:t>
            </a:r>
            <a:endParaRPr lang="zh-CN" altLang="en-US"/>
          </a:p>
          <a:p>
            <a:r>
              <a:rPr lang="zh-CN" altLang="en-US"/>
              <a:t>那么为什么会有这么大的差异呢？</a:t>
            </a:r>
            <a:endParaRPr lang="zh-CN" altLang="en-US"/>
          </a:p>
          <a:p>
            <a:r>
              <a:rPr lang="zh-CN" altLang="en-US"/>
              <a:t>以往的文献从外生壁垒的角度解释这一现象，比如说，外生壁垒阻止劳动力流出农业</a:t>
            </a:r>
            <a:r>
              <a:rPr lang="zh-CN" altLang="en-US"/>
              <a:t>等；</a:t>
            </a:r>
            <a:endParaRPr lang="zh-CN" altLang="en-US"/>
          </a:p>
          <a:p>
            <a:r>
              <a:rPr lang="zh-CN" altLang="en-US"/>
              <a:t>而本文认为是劳动力自身的选择造成了生产率的</a:t>
            </a:r>
            <a:r>
              <a:rPr lang="zh-CN" altLang="en-US"/>
              <a:t>差异。</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文章讨论的影响机制大致可以用这张图来概括。首先是有两个前提条件：①国家间</a:t>
            </a:r>
            <a:r>
              <a:rPr lang="en-US" altLang="zh-CN"/>
              <a:t>……</a:t>
            </a:r>
            <a:r>
              <a:rPr lang="zh-CN" altLang="en-US"/>
              <a:t>；②比较优势与绝对优势一致，这个大致意思是一个工人对自身而言，如果</a:t>
            </a:r>
            <a:r>
              <a:rPr lang="zh-CN" altLang="en-US" b="1"/>
              <a:t>他选择农业部门的生产率比工业部门的生产率更高</a:t>
            </a:r>
            <a:r>
              <a:rPr lang="zh-CN" altLang="en-US"/>
              <a:t>，那么我们可以认为他客观来说</a:t>
            </a:r>
            <a:r>
              <a:rPr lang="zh-CN" altLang="en-US" b="1"/>
              <a:t>相对其他人具有更高的农业生产率</a:t>
            </a:r>
            <a:r>
              <a:rPr lang="zh-CN" altLang="en-US"/>
              <a:t>，或者说</a:t>
            </a:r>
            <a:r>
              <a:rPr lang="zh-CN" altLang="en-US" b="1"/>
              <a:t>具有更高的农业生产技能</a:t>
            </a:r>
            <a:r>
              <a:rPr lang="zh-CN" altLang="en-US"/>
              <a:t>。放到整个机制里来看，穷国</a:t>
            </a:r>
            <a:r>
              <a:rPr lang="en-US" altLang="zh-CN"/>
              <a:t>A</a:t>
            </a:r>
            <a:r>
              <a:rPr lang="zh-CN" altLang="en-US"/>
              <a:t>低，生产出的农业必需品难以满足生存需求，农业相对价格</a:t>
            </a:r>
            <a:r>
              <a:rPr lang="en-US" altLang="zh-CN"/>
              <a:t>Pa</a:t>
            </a:r>
            <a:r>
              <a:rPr lang="zh-CN" altLang="en-US"/>
              <a:t>高，相应的农业部门工资水平较高，大量工人（包括不是特别擅长农业的人）选择进入农业，农业平均生产率低</a:t>
            </a:r>
            <a:r>
              <a:rPr lang="en-US" altLang="zh-CN"/>
              <a:t>→</a:t>
            </a:r>
            <a:r>
              <a:rPr lang="zh-CN" altLang="en-US"/>
              <a:t>整体农业的低效。而富国呢，</a:t>
            </a:r>
            <a:r>
              <a:rPr lang="en-US" altLang="zh-CN"/>
              <a:t>A</a:t>
            </a:r>
            <a:r>
              <a:rPr lang="zh-CN" altLang="en-US"/>
              <a:t>高，生存需求容易满足，只有最擅长农业的人才会选择进入农业部门，根据前面说的比较优势与绝对优势一致，他们客观上具有更高的农业生产率</a:t>
            </a:r>
            <a:r>
              <a:rPr lang="en-US" altLang="zh-CN"/>
              <a:t>→</a:t>
            </a:r>
            <a:r>
              <a:rPr lang="zh-CN" altLang="en-US"/>
              <a:t>平均生产率高</a:t>
            </a:r>
            <a:r>
              <a:rPr lang="en-US" altLang="zh-CN"/>
              <a:t>→</a:t>
            </a:r>
            <a:r>
              <a:rPr lang="zh-CN" altLang="en-US"/>
              <a:t>农业高效。非农业则相反，穷国只有少数最擅长的人才选择进入非农业，平均生产率较高。在工人根据自身在两部门的生产率和工资情况选择进入哪个部门工作的过程中，生产率差异就被放大</a:t>
            </a:r>
            <a:r>
              <a:rPr lang="zh-CN" altLang="en-US"/>
              <a:t>了。</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然后是模型设定，首先是一些准备工作。前两个式子表示两部门就业份额，这个</a:t>
            </a:r>
            <a:r>
              <a:rPr lang="en-US" altLang="zh-CN"/>
              <a:t>G</a:t>
            </a:r>
            <a:r>
              <a:rPr lang="zh-CN" altLang="en-US"/>
              <a:t>是工人的农业或者非农业生产率的分布，</a:t>
            </a:r>
            <a:r>
              <a:rPr lang="en-US" altLang="zh-CN"/>
              <a:t>N</a:t>
            </a:r>
            <a:r>
              <a:rPr lang="zh-CN" altLang="en-US"/>
              <a:t>表示把每一个选择该部门的工人累加起来，也就是，农业工人占总共人的份额、非农业工人占总共人的份额。命题</a:t>
            </a:r>
            <a:r>
              <a:rPr lang="en-US" altLang="zh-CN"/>
              <a:t>1</a:t>
            </a:r>
            <a:r>
              <a:rPr lang="zh-CN" altLang="en-US"/>
              <a:t>是一个基本的设定，富国经济效率高于穷国，均衡状态下穷国的农业相对价格更高。命题</a:t>
            </a:r>
            <a:r>
              <a:rPr lang="en-US" altLang="zh-CN"/>
              <a:t>2</a:t>
            </a:r>
            <a:r>
              <a:rPr lang="zh-CN" altLang="en-US"/>
              <a:t>是这篇论文要做的事情，在比较优势和绝对优势一致的条件下，能推出农业部门生产率差异大于非农业。公式推到的过程是农业差异＞经济效率差异＞非农业</a:t>
            </a:r>
            <a:r>
              <a:rPr lang="zh-CN" altLang="en-US"/>
              <a:t>差异。</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这一页讲的是工人的职业选择原则。两部门工资</a:t>
            </a:r>
            <a:r>
              <a:rPr lang="en-US" altLang="zh-CN"/>
              <a:t>    </a:t>
            </a:r>
            <a:r>
              <a:rPr lang="zh-CN" altLang="en-US"/>
              <a:t>工人收入</a:t>
            </a:r>
            <a:r>
              <a:rPr lang="en-US" altLang="zh-CN"/>
              <a:t>=</a:t>
            </a:r>
            <a:r>
              <a:rPr lang="zh-CN" altLang="en-US"/>
              <a:t>单位工资</a:t>
            </a:r>
            <a:r>
              <a:rPr lang="en-US" altLang="zh-CN"/>
              <a:t>*</a:t>
            </a:r>
            <a:r>
              <a:rPr lang="zh-CN" altLang="en-US"/>
              <a:t>生产数量</a:t>
            </a:r>
            <a:r>
              <a:rPr lang="en-US" altLang="zh-CN"/>
              <a:t>    </a:t>
            </a:r>
            <a:r>
              <a:rPr lang="zh-CN" altLang="en-US"/>
              <a:t>工人选择收入高的部门</a:t>
            </a:r>
            <a:r>
              <a:rPr lang="en-US" altLang="zh-CN"/>
              <a:t>     </a:t>
            </a:r>
            <a:r>
              <a:rPr lang="zh-CN" altLang="en-US"/>
              <a:t>推出工人进入非农部门的</a:t>
            </a:r>
            <a:r>
              <a:rPr lang="zh-CN" altLang="en-US"/>
              <a:t>条件</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然后就是解一般均衡。工人层面根据效用最大化解出最有需求，加总到总需求；生产方面通过加总每个工人的劳动生产率得到总的有效劳动，再计算总产出；最后需求等于产出</a:t>
            </a:r>
            <a:r>
              <a:rPr lang="zh-CN" altLang="en-US"/>
              <a:t>市场出清。</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在满足均衡的条件之后，我们就来计算两部门的劳动生产率。个人劳动生产率服从分布（算补充说明），</a:t>
            </a:r>
            <a:r>
              <a:rPr lang="en-US" altLang="zh-CN"/>
              <a:t>θ</a:t>
            </a:r>
            <a:r>
              <a:rPr lang="zh-CN" altLang="en-US"/>
              <a:t>表示</a:t>
            </a:r>
            <a:r>
              <a:rPr lang="en-US" altLang="zh-CN"/>
              <a:t>……</a:t>
            </a:r>
            <a:r>
              <a:rPr lang="zh-CN" altLang="en-US"/>
              <a:t>。</a:t>
            </a:r>
            <a:endParaRPr lang="zh-CN" altLang="en-US"/>
          </a:p>
          <a:p>
            <a:r>
              <a:rPr lang="zh-CN" altLang="en-US"/>
              <a:t>我们根据前面推出来的工人选择职业的条件（农业）：</a:t>
            </a:r>
            <a:r>
              <a:rPr lang="en-US" altLang="zh-CN"/>
              <a:t>zn&lt;pa za</a:t>
            </a:r>
            <a:r>
              <a:rPr lang="zh-CN" altLang="en-US"/>
              <a:t>，经过一堆积分运算，可以得到工人在两部门的均衡就业份额。（两部门相加为</a:t>
            </a:r>
            <a:r>
              <a:rPr lang="en-US" altLang="zh-CN"/>
              <a:t>1</a:t>
            </a:r>
            <a:r>
              <a:rPr lang="zh-CN" altLang="en-US"/>
              <a:t>，只算一个，另一个用</a:t>
            </a:r>
            <a:r>
              <a:rPr lang="en-US" altLang="zh-CN"/>
              <a:t>1</a:t>
            </a:r>
            <a:r>
              <a:rPr lang="zh-CN" altLang="en-US"/>
              <a:t>减）。两公式作比推出</a:t>
            </a:r>
            <a:r>
              <a:rPr lang="en-US" altLang="zh-CN"/>
              <a:t>log</a:t>
            </a:r>
            <a:r>
              <a:rPr lang="zh-CN" altLang="en-US"/>
              <a:t>式子。</a:t>
            </a:r>
            <a:endParaRPr lang="zh-CN" altLang="en-US"/>
          </a:p>
          <a:p>
            <a:r>
              <a:rPr lang="zh-CN" altLang="en-US"/>
              <a:t>下面两个式子是平均生产率。</a:t>
            </a:r>
            <a:r>
              <a:rPr lang="en-US" altLang="zh-CN"/>
              <a:t>Pa</a:t>
            </a:r>
            <a:r>
              <a:rPr lang="zh-CN" altLang="en-US"/>
              <a:t>比较低的国家，也就是富国，工人从事农业的比例低，根据这个式子，具有更高的农业平均生产率。也印证了前面说的比较优势和绝对优势</a:t>
            </a:r>
            <a:r>
              <a:rPr lang="zh-CN" altLang="en-US"/>
              <a:t>一致。</a:t>
            </a:r>
            <a:endParaRPr lang="zh-CN" altLang="en-US"/>
          </a:p>
          <a:p>
            <a:r>
              <a:rPr lang="zh-CN" altLang="en-US"/>
              <a:t>接着，两部门劳动生产率可以用经济效率</a:t>
            </a:r>
            <a:r>
              <a:rPr lang="en-US" altLang="zh-CN"/>
              <a:t>*</a:t>
            </a:r>
            <a:r>
              <a:rPr lang="zh-CN" altLang="en-US"/>
              <a:t>平均生产率表示。把前面计算的</a:t>
            </a:r>
            <a:r>
              <a:rPr lang="en-US" altLang="zh-CN"/>
              <a:t>E</a:t>
            </a:r>
            <a:r>
              <a:rPr lang="zh-CN" altLang="en-US"/>
              <a:t>带入，得到推论</a:t>
            </a:r>
            <a:r>
              <a:rPr lang="en-US" altLang="zh-CN"/>
              <a:t>1</a:t>
            </a:r>
            <a:r>
              <a:rPr lang="zh-CN" altLang="en-US"/>
              <a:t>。</a:t>
            </a:r>
            <a:endParaRPr lang="zh-CN" altLang="en-US"/>
          </a:p>
          <a:p>
            <a:r>
              <a:rPr lang="zh-CN" altLang="en-US"/>
              <a:t>推论</a:t>
            </a:r>
            <a:r>
              <a:rPr lang="en-US" altLang="zh-CN"/>
              <a:t>1</a:t>
            </a:r>
            <a:r>
              <a:rPr lang="zh-CN" altLang="en-US"/>
              <a:t>的公式：农业就业份额穷国</a:t>
            </a:r>
            <a:r>
              <a:rPr lang="en-US" altLang="zh-CN"/>
              <a:t>/</a:t>
            </a:r>
            <a:r>
              <a:rPr lang="zh-CN" altLang="en-US"/>
              <a:t>富国＞</a:t>
            </a:r>
            <a:r>
              <a:rPr lang="en-US" altLang="zh-CN"/>
              <a:t>1→</a:t>
            </a:r>
            <a:r>
              <a:rPr lang="zh-CN" altLang="en-US"/>
              <a:t>富国和穷国之间的农业生产率差异＞经济效率差异；非农业</a:t>
            </a:r>
            <a:r>
              <a:rPr lang="zh-CN" altLang="en-US"/>
              <a:t>同理。</a:t>
            </a:r>
            <a:endParaRPr lang="zh-CN" altLang="en-US"/>
          </a:p>
          <a:p>
            <a:r>
              <a:rPr lang="zh-CN" altLang="en-US"/>
              <a:t>但是，现在的模型里有两个限制比较严格。①</a:t>
            </a:r>
            <a:r>
              <a:rPr lang="en-US" altLang="zh-CN"/>
              <a:t>za</a:t>
            </a:r>
            <a:r>
              <a:rPr lang="zh-CN" altLang="en-US"/>
              <a:t>和</a:t>
            </a:r>
            <a:r>
              <a:rPr lang="en-US" altLang="zh-CN"/>
              <a:t>zn</a:t>
            </a:r>
            <a:r>
              <a:rPr lang="zh-CN" altLang="en-US"/>
              <a:t>独立同分布；②两部门生产率差异的离散程度</a:t>
            </a:r>
            <a:r>
              <a:rPr lang="en-US" altLang="zh-CN"/>
              <a:t>θ</a:t>
            </a:r>
            <a:r>
              <a:rPr lang="zh-CN" altLang="en-US"/>
              <a:t>相同。</a:t>
            </a:r>
            <a:endParaRPr lang="zh-CN" altLang="en-US"/>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下一步我们放松这两个条件，允许</a:t>
            </a:r>
            <a:r>
              <a:rPr lang="en-US" altLang="zh-CN"/>
              <a:t>……</a:t>
            </a:r>
            <a:endParaRPr lang="en-US" altLang="zh-CN"/>
          </a:p>
          <a:p>
            <a:r>
              <a:rPr lang="zh-CN" altLang="en-US"/>
              <a:t>讲识别矩、参数</a:t>
            </a:r>
            <a:r>
              <a:rPr lang="zh-CN" altLang="en-US"/>
              <a:t>估计结果</a:t>
            </a:r>
            <a:endParaRPr lang="zh-CN" altLang="en-US"/>
          </a:p>
          <a:p>
            <a:r>
              <a:rPr lang="en-US" altLang="zh-CN"/>
              <a:t>θn</a:t>
            </a:r>
            <a:r>
              <a:rPr lang="zh-CN" altLang="en-US"/>
              <a:t>更小</a:t>
            </a:r>
            <a:r>
              <a:rPr lang="en-US" altLang="zh-CN"/>
              <a:t>→</a:t>
            </a:r>
            <a:r>
              <a:rPr lang="zh-CN" altLang="en-US"/>
              <a:t>非农部门生产率更离散；两部门生产率</a:t>
            </a:r>
            <a:r>
              <a:rPr lang="zh-CN" altLang="en-US"/>
              <a:t>正相关</a:t>
            </a:r>
            <a:endParaRPr lang="zh-CN" altLang="en-US"/>
          </a:p>
          <a:p>
            <a:r>
              <a:rPr lang="zh-CN" altLang="en-US"/>
              <a:t>前文的效用函数中也有两个参数需要估计，分别用</a:t>
            </a:r>
            <a:r>
              <a:rPr lang="en-US" altLang="zh-CN"/>
              <a:t>……</a:t>
            </a:r>
            <a:r>
              <a:rPr lang="zh-CN" altLang="en-US"/>
              <a:t>、</a:t>
            </a:r>
            <a:r>
              <a:rPr lang="en-US" altLang="zh-CN"/>
              <a:t>……</a:t>
            </a:r>
            <a:r>
              <a:rPr lang="zh-CN" altLang="en-US"/>
              <a:t>估计。</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首先来看实验设计。有三个假设：①②</a:t>
            </a:r>
            <a:r>
              <a:rPr lang="zh-CN" altLang="en-US"/>
              <a:t>③</a:t>
            </a:r>
            <a:endParaRPr lang="zh-CN" altLang="en-US"/>
          </a:p>
          <a:p>
            <a:r>
              <a:rPr lang="zh-CN" altLang="en-US"/>
              <a:t>首先定义美国的经济效率</a:t>
            </a:r>
            <a:r>
              <a:rPr lang="en-US" altLang="zh-CN"/>
              <a:t>A=1</a:t>
            </a:r>
            <a:r>
              <a:rPr lang="zh-CN" altLang="en-US"/>
              <a:t>，以美国数据为基准，调整</a:t>
            </a:r>
            <a:r>
              <a:rPr lang="en-US" altLang="zh-CN"/>
              <a:t>A</a:t>
            </a:r>
            <a:r>
              <a:rPr lang="zh-CN" altLang="en-US"/>
              <a:t>，匹配人均</a:t>
            </a:r>
            <a:r>
              <a:rPr lang="en-US" altLang="zh-CN"/>
              <a:t>GDP90</a:t>
            </a:r>
            <a:r>
              <a:rPr lang="zh-CN" altLang="en-US"/>
              <a:t>分位的国家作为实验中的富国，</a:t>
            </a:r>
            <a:r>
              <a:rPr lang="en-US" altLang="zh-CN"/>
              <a:t>10</a:t>
            </a:r>
            <a:r>
              <a:rPr lang="zh-CN" altLang="en-US"/>
              <a:t>分位的为穷国，同时使两国人均</a:t>
            </a:r>
            <a:r>
              <a:rPr lang="en-US" altLang="zh-CN"/>
              <a:t>GDP</a:t>
            </a:r>
            <a:r>
              <a:rPr lang="zh-CN" altLang="en-US"/>
              <a:t>的比值满足</a:t>
            </a:r>
            <a:r>
              <a:rPr lang="en-US" altLang="zh-CN"/>
              <a:t>22</a:t>
            </a:r>
            <a:r>
              <a:rPr lang="zh-CN" altLang="en-US"/>
              <a:t>倍</a:t>
            </a:r>
            <a:r>
              <a:rPr lang="zh-CN" altLang="en-US"/>
              <a:t>关系。</a:t>
            </a:r>
            <a:endParaRPr lang="zh-CN" altLang="en-US"/>
          </a:p>
          <a:p>
            <a:r>
              <a:rPr lang="zh-CN" altLang="en-US"/>
              <a:t>然后解一般均衡，计算模型预测出的农业、非农业</a:t>
            </a:r>
            <a:r>
              <a:rPr lang="zh-CN" altLang="en-US"/>
              <a:t>生产率</a:t>
            </a:r>
            <a:endParaRPr lang="zh-CN" altLang="en-US"/>
          </a:p>
          <a:p>
            <a:r>
              <a:rPr lang="zh-CN" altLang="en-US"/>
              <a:t>最后进行反事实实验：关闭自选择机制，让所有工人生产率相同，例如，直接把每个工人的农业生产率赋值为对应分布的零条件均值：令</a:t>
            </a:r>
            <a:r>
              <a:rPr lang="en-US" altLang="zh-CN"/>
              <a:t>zai=E(za)，zni=E(zn)</a:t>
            </a:r>
            <a:endParaRPr lang="en-US" altLang="zh-CN"/>
          </a:p>
          <a:p>
            <a:r>
              <a:rPr lang="zh-CN" altLang="en-US"/>
              <a:t>然后对比有无选择机制的两组</a:t>
            </a:r>
            <a:r>
              <a:rPr lang="zh-CN" altLang="en-US"/>
              <a:t>预测数据</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比值的含义：农业工人的平均农业生产率 ÷ 全体工人的平均农业生产率</a:t>
            </a:r>
            <a:endParaRPr lang="zh-CN" altLang="en-US"/>
          </a:p>
          <a:p>
            <a:r>
              <a:rPr lang="zh-CN" altLang="en-US"/>
              <a:t>“全体均值”指的是该部门个体生产率的无条件均值，即所有工人（不论最终选择哪个部门）的农业</a:t>
            </a:r>
            <a:r>
              <a:rPr lang="en-US" altLang="zh-CN"/>
              <a:t>or</a:t>
            </a:r>
            <a:r>
              <a:rPr lang="zh-CN" altLang="en-US"/>
              <a:t>非农业生产率的平均值。</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劳动、土地、资本都可能影响农业和非农部门生产率的差异，忽略可能高估选择机制的</a:t>
            </a:r>
            <a:r>
              <a:rPr lang="zh-CN" altLang="en-US"/>
              <a:t>作用。</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移除土地的操作：</a:t>
            </a:r>
            <a:r>
              <a:rPr lang="en-US" altLang="zh-CN"/>
              <a:t>Φl=0</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42" name="矩形: 圆角 144"/>
          <p:cNvSpPr/>
          <p:nvPr userDrawn="1">
            <p:custDataLst>
              <p:tags r:id="rId2"/>
            </p:custDataLst>
          </p:nvPr>
        </p:nvSpPr>
        <p:spPr>
          <a:xfrm>
            <a:off x="2538730" y="137795"/>
            <a:ext cx="9228455" cy="515620"/>
          </a:xfrm>
          <a:prstGeom prst="roundRect">
            <a:avLst>
              <a:gd name="adj" fmla="val 50000"/>
            </a:avLst>
          </a:prstGeom>
          <a:solidFill>
            <a:schemeClr val="bg1"/>
          </a:solidFill>
          <a:ln>
            <a:noFill/>
          </a:ln>
          <a:effectLst>
            <a:outerShdw blurRad="63500" sx="102000" sy="102000" algn="ctr" rotWithShape="0">
              <a:schemeClr val="accent6">
                <a:alpha val="40000"/>
              </a:scheme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4" name="矩形: 圆角 143"/>
          <p:cNvSpPr/>
          <p:nvPr userDrawn="1">
            <p:custDataLst>
              <p:tags r:id="rId3"/>
            </p:custDataLst>
          </p:nvPr>
        </p:nvSpPr>
        <p:spPr>
          <a:xfrm>
            <a:off x="2538730" y="137160"/>
            <a:ext cx="1739900" cy="509270"/>
          </a:xfrm>
          <a:prstGeom prst="roundRect">
            <a:avLst>
              <a:gd name="adj" fmla="val 50000"/>
            </a:avLst>
          </a:prstGeom>
          <a:solidFill>
            <a:schemeClr val="accent6"/>
          </a:solidFill>
          <a:ln>
            <a:solidFill>
              <a:schemeClr val="accent6"/>
            </a:solidFill>
          </a:ln>
        </p:spPr>
        <p:style>
          <a:lnRef idx="2">
            <a:schemeClr val="accent1"/>
          </a:lnRef>
          <a:fillRef idx="0">
            <a:srgbClr val="FFFFFF"/>
          </a:fillRef>
          <a:effectRef idx="0">
            <a:srgbClr val="FFFFFF"/>
          </a:effectRef>
          <a:fontRef idx="minor">
            <a:schemeClr val="tx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7" name="文本框 146"/>
          <p:cNvSpPr txBox="1"/>
          <p:nvPr userDrawn="1"/>
        </p:nvSpPr>
        <p:spPr>
          <a:xfrm>
            <a:off x="2625090" y="240030"/>
            <a:ext cx="1559560" cy="300355"/>
          </a:xfrm>
          <a:prstGeom prst="rect">
            <a:avLst/>
          </a:prstGeom>
          <a:noFill/>
          <a:ln>
            <a:noFill/>
          </a:ln>
          <a:extLst>
            <a:ext uri="{909E8E84-426E-40DD-AFC4-6F175D3DCCD1}">
              <a14:hiddenFill xmlns:a14="http://schemas.microsoft.com/office/drawing/2010/main">
                <a:solidFill>
                  <a:srgbClr val="9B0000"/>
                </a:solidFill>
              </a14:hiddenFill>
            </a:ext>
          </a:extLst>
        </p:spPr>
        <p:style>
          <a:lnRef idx="2">
            <a:schemeClr val="accent1"/>
          </a:lnRef>
          <a:fillRef idx="0">
            <a:srgbClr val="FFFFFF"/>
          </a:fillRef>
          <a:effectRef idx="0">
            <a:srgbClr val="FFFFFF"/>
          </a:effectRef>
          <a:fontRef idx="minor">
            <a:schemeClr val="tx1"/>
          </a:fontRef>
        </p:style>
        <p:txBody>
          <a:bodyPr wrap="square" lIns="85954" tIns="42977" rIns="85954" bIns="42977" rtlCol="0">
            <a:spAutoFit/>
          </a:bodyPr>
          <a:lstStyle/>
          <a:p>
            <a:pPr algn="ctr"/>
            <a:r>
              <a:rPr lang="zh-CN" altLang="en-US" sz="1400" b="1" dirty="0">
                <a:solidFill>
                  <a:schemeClr val="bg1"/>
                </a:solidFill>
                <a:latin typeface="+mn-ea"/>
                <a:sym typeface="Arial" panose="020B0604020202020204" pitchFamily="34" charset="0"/>
              </a:rPr>
              <a:t>研究问题</a:t>
            </a:r>
            <a:endParaRPr lang="zh-CN" altLang="en-US" sz="1400" b="1" dirty="0">
              <a:solidFill>
                <a:schemeClr val="bg1"/>
              </a:solidFill>
              <a:latin typeface="+mn-ea"/>
              <a:sym typeface="Arial" panose="020B0604020202020204" pitchFamily="34" charset="0"/>
            </a:endParaRPr>
          </a:p>
        </p:txBody>
      </p:sp>
      <p:sp>
        <p:nvSpPr>
          <p:cNvPr id="37" name="文本框 36"/>
          <p:cNvSpPr txBox="1"/>
          <p:nvPr userDrawn="1"/>
        </p:nvSpPr>
        <p:spPr>
          <a:xfrm>
            <a:off x="6522085"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模型</a:t>
            </a:r>
            <a:r>
              <a:rPr lang="zh-CN" altLang="en-US" sz="1400" b="1" dirty="0">
                <a:solidFill>
                  <a:schemeClr val="tx1"/>
                </a:solidFill>
                <a:latin typeface="+mn-ea"/>
                <a:sym typeface="Arial" panose="020B0604020202020204" pitchFamily="34" charset="0"/>
              </a:rPr>
              <a:t>设定</a:t>
            </a:r>
            <a:endParaRPr lang="zh-CN" altLang="en-US" sz="1400" b="1" dirty="0">
              <a:solidFill>
                <a:schemeClr val="tx1"/>
              </a:solidFill>
              <a:latin typeface="+mn-ea"/>
              <a:sym typeface="Arial" panose="020B0604020202020204" pitchFamily="34" charset="0"/>
            </a:endParaRPr>
          </a:p>
        </p:txBody>
      </p:sp>
      <p:sp>
        <p:nvSpPr>
          <p:cNvPr id="38" name="文本框 37"/>
          <p:cNvSpPr txBox="1"/>
          <p:nvPr userDrawn="1"/>
        </p:nvSpPr>
        <p:spPr>
          <a:xfrm>
            <a:off x="8449310" y="238760"/>
            <a:ext cx="14547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数据结果</a:t>
            </a:r>
            <a:endParaRPr lang="zh-CN" altLang="en-US" sz="1400" b="1" dirty="0">
              <a:solidFill>
                <a:schemeClr val="tx1"/>
              </a:solidFill>
              <a:latin typeface="+mn-ea"/>
              <a:sym typeface="Arial" panose="020B0604020202020204" pitchFamily="34" charset="0"/>
            </a:endParaRPr>
          </a:p>
        </p:txBody>
      </p:sp>
      <p:sp>
        <p:nvSpPr>
          <p:cNvPr id="40" name="文本框 39"/>
          <p:cNvSpPr txBox="1"/>
          <p:nvPr userDrawn="1"/>
        </p:nvSpPr>
        <p:spPr>
          <a:xfrm>
            <a:off x="10186035" y="238760"/>
            <a:ext cx="1422400"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研究结论</a:t>
            </a:r>
            <a:endParaRPr lang="zh-CN" altLang="en-US" sz="1400" b="1" dirty="0">
              <a:solidFill>
                <a:schemeClr val="tx1"/>
              </a:solidFill>
              <a:latin typeface="+mn-ea"/>
              <a:sym typeface="Arial" panose="020B0604020202020204" pitchFamily="34" charset="0"/>
            </a:endParaRPr>
          </a:p>
        </p:txBody>
      </p:sp>
      <p:sp>
        <p:nvSpPr>
          <p:cNvPr id="41" name="文本框 40"/>
          <p:cNvSpPr txBox="1"/>
          <p:nvPr userDrawn="1"/>
        </p:nvSpPr>
        <p:spPr>
          <a:xfrm>
            <a:off x="4594860"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影响机制</a:t>
            </a:r>
            <a:endParaRPr lang="zh-CN" altLang="en-US" sz="1400" b="1" dirty="0">
              <a:solidFill>
                <a:schemeClr val="tx1"/>
              </a:solidFill>
              <a:latin typeface="+mn-ea"/>
              <a:sym typeface="Arial" panose="020B0604020202020204" pitchFamily="34" charset="0"/>
            </a:endParaRPr>
          </a:p>
        </p:txBody>
      </p:sp>
      <p:sp>
        <p:nvSpPr>
          <p:cNvPr id="2" name="矩形 1"/>
          <p:cNvSpPr/>
          <p:nvPr userDrawn="1"/>
        </p:nvSpPr>
        <p:spPr>
          <a:xfrm>
            <a:off x="0" y="6740525"/>
            <a:ext cx="12192000" cy="110490"/>
          </a:xfrm>
          <a:prstGeom prst="rect">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4" name="图片 3" descr="03校标，中、英文校名组合"/>
          <p:cNvPicPr>
            <a:picLocks noChangeAspect="1"/>
          </p:cNvPicPr>
          <p:nvPr userDrawn="1"/>
        </p:nvPicPr>
        <p:blipFill>
          <a:blip r:embed="rId4"/>
          <a:stretch>
            <a:fillRect/>
          </a:stretch>
        </p:blipFill>
        <p:spPr>
          <a:xfrm>
            <a:off x="260350" y="137160"/>
            <a:ext cx="2042160" cy="64960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42" name="矩形: 圆角 144"/>
          <p:cNvSpPr/>
          <p:nvPr userDrawn="1">
            <p:custDataLst>
              <p:tags r:id="rId2"/>
            </p:custDataLst>
          </p:nvPr>
        </p:nvSpPr>
        <p:spPr>
          <a:xfrm>
            <a:off x="2538730" y="137795"/>
            <a:ext cx="9228455" cy="515620"/>
          </a:xfrm>
          <a:prstGeom prst="roundRect">
            <a:avLst>
              <a:gd name="adj" fmla="val 50000"/>
            </a:avLst>
          </a:prstGeom>
          <a:solidFill>
            <a:schemeClr val="bg1"/>
          </a:solidFill>
          <a:ln>
            <a:noFill/>
          </a:ln>
          <a:effectLst>
            <a:outerShdw blurRad="63500" sx="102000" sy="102000" algn="ctr" rotWithShape="0">
              <a:schemeClr val="accent6">
                <a:alpha val="40000"/>
              </a:scheme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4" name="矩形: 圆角 143"/>
          <p:cNvSpPr/>
          <p:nvPr userDrawn="1">
            <p:custDataLst>
              <p:tags r:id="rId3"/>
            </p:custDataLst>
          </p:nvPr>
        </p:nvSpPr>
        <p:spPr>
          <a:xfrm>
            <a:off x="4532630" y="137160"/>
            <a:ext cx="1739900" cy="509270"/>
          </a:xfrm>
          <a:prstGeom prst="roundRect">
            <a:avLst>
              <a:gd name="adj" fmla="val 50000"/>
            </a:avLst>
          </a:prstGeom>
          <a:solidFill>
            <a:schemeClr val="accent6"/>
          </a:solidFill>
          <a:ln>
            <a:solidFill>
              <a:schemeClr val="accent6"/>
            </a:solidFill>
          </a:ln>
        </p:spPr>
        <p:style>
          <a:lnRef idx="2">
            <a:schemeClr val="accent1"/>
          </a:lnRef>
          <a:fillRef idx="0">
            <a:srgbClr val="FFFFFF"/>
          </a:fillRef>
          <a:effectRef idx="0">
            <a:srgbClr val="FFFFFF"/>
          </a:effectRef>
          <a:fontRef idx="minor">
            <a:schemeClr val="tx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7" name="文本框 146"/>
          <p:cNvSpPr txBox="1"/>
          <p:nvPr userDrawn="1"/>
        </p:nvSpPr>
        <p:spPr>
          <a:xfrm>
            <a:off x="2573020" y="240030"/>
            <a:ext cx="1739900" cy="300355"/>
          </a:xfrm>
          <a:prstGeom prst="rect">
            <a:avLst/>
          </a:prstGeom>
          <a:noFill/>
          <a:ln>
            <a:noFill/>
          </a:ln>
          <a:extLst>
            <a:ext uri="{909E8E84-426E-40DD-AFC4-6F175D3DCCD1}">
              <a14:hiddenFill xmlns:a14="http://schemas.microsoft.com/office/drawing/2010/main">
                <a:solidFill>
                  <a:srgbClr val="9B0000"/>
                </a:solidFill>
              </a14:hiddenFill>
            </a:ext>
          </a:extLst>
        </p:spPr>
        <p:style>
          <a:lnRef idx="2">
            <a:schemeClr val="accent1"/>
          </a:lnRef>
          <a:fillRef idx="0">
            <a:srgbClr val="FFFFFF"/>
          </a:fillRef>
          <a:effectRef idx="0">
            <a:srgbClr val="FFFFFF"/>
          </a:effectRef>
          <a:fontRef idx="minor">
            <a:schemeClr val="tx1"/>
          </a:fontRef>
        </p:style>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研究问题</a:t>
            </a:r>
            <a:endParaRPr lang="zh-CN" altLang="en-US" sz="1400" b="1" dirty="0">
              <a:solidFill>
                <a:schemeClr val="tx1"/>
              </a:solidFill>
              <a:latin typeface="+mn-ea"/>
              <a:sym typeface="Arial" panose="020B0604020202020204" pitchFamily="34" charset="0"/>
            </a:endParaRPr>
          </a:p>
        </p:txBody>
      </p:sp>
      <p:sp>
        <p:nvSpPr>
          <p:cNvPr id="41" name="文本框 40"/>
          <p:cNvSpPr txBox="1"/>
          <p:nvPr userDrawn="1"/>
        </p:nvSpPr>
        <p:spPr>
          <a:xfrm>
            <a:off x="4684395" y="238760"/>
            <a:ext cx="1466850" cy="300355"/>
          </a:xfrm>
          <a:prstGeom prst="rect">
            <a:avLst/>
          </a:prstGeom>
          <a:noFill/>
          <a:effectLst/>
          <a:extLst>
            <a:ext uri="{909E8E84-426E-40DD-AFC4-6F175D3DCCD1}">
              <a14:hiddenFill xmlns:a14="http://schemas.microsoft.com/office/drawing/2010/main">
                <a:solidFill>
                  <a:schemeClr val="bg1"/>
                </a:solidFill>
              </a14:hiddenFill>
            </a:ext>
          </a:extLst>
        </p:spPr>
        <p:txBody>
          <a:bodyPr wrap="square" lIns="85954" tIns="42977" rIns="85954" bIns="42977" rtlCol="0">
            <a:spAutoFit/>
          </a:bodyPr>
          <a:lstStyle/>
          <a:p>
            <a:pPr algn="ctr"/>
            <a:r>
              <a:rPr lang="zh-CN" altLang="en-US" sz="1400" b="1" dirty="0">
                <a:solidFill>
                  <a:schemeClr val="bg1"/>
                </a:solidFill>
                <a:latin typeface="+mn-ea"/>
                <a:sym typeface="Arial" panose="020B0604020202020204" pitchFamily="34" charset="0"/>
              </a:rPr>
              <a:t>影响机制</a:t>
            </a:r>
            <a:endParaRPr lang="zh-CN" altLang="en-US" sz="1400" b="1" dirty="0">
              <a:solidFill>
                <a:schemeClr val="bg1"/>
              </a:solidFill>
              <a:latin typeface="+mn-ea"/>
              <a:sym typeface="Arial" panose="020B0604020202020204" pitchFamily="34" charset="0"/>
            </a:endParaRPr>
          </a:p>
        </p:txBody>
      </p:sp>
      <p:sp>
        <p:nvSpPr>
          <p:cNvPr id="4" name="矩形 3"/>
          <p:cNvSpPr/>
          <p:nvPr userDrawn="1"/>
        </p:nvSpPr>
        <p:spPr>
          <a:xfrm>
            <a:off x="0" y="6740525"/>
            <a:ext cx="12192000" cy="110490"/>
          </a:xfrm>
          <a:prstGeom prst="rect">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descr="03校标，中、英文校名组合"/>
          <p:cNvPicPr>
            <a:picLocks noChangeAspect="1"/>
          </p:cNvPicPr>
          <p:nvPr userDrawn="1"/>
        </p:nvPicPr>
        <p:blipFill>
          <a:blip r:embed="rId4"/>
          <a:stretch>
            <a:fillRect/>
          </a:stretch>
        </p:blipFill>
        <p:spPr>
          <a:xfrm>
            <a:off x="260350" y="137160"/>
            <a:ext cx="2042160" cy="649605"/>
          </a:xfrm>
          <a:prstGeom prst="rect">
            <a:avLst/>
          </a:prstGeom>
        </p:spPr>
      </p:pic>
      <p:sp>
        <p:nvSpPr>
          <p:cNvPr id="9" name="文本框 8"/>
          <p:cNvSpPr txBox="1"/>
          <p:nvPr userDrawn="1"/>
        </p:nvSpPr>
        <p:spPr>
          <a:xfrm>
            <a:off x="6522085"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模型</a:t>
            </a:r>
            <a:r>
              <a:rPr lang="zh-CN" altLang="en-US" sz="1400" b="1" dirty="0">
                <a:solidFill>
                  <a:schemeClr val="tx1"/>
                </a:solidFill>
                <a:latin typeface="+mn-ea"/>
                <a:sym typeface="Arial" panose="020B0604020202020204" pitchFamily="34" charset="0"/>
              </a:rPr>
              <a:t>设定</a:t>
            </a:r>
            <a:endParaRPr lang="zh-CN" altLang="en-US" sz="1400" b="1" dirty="0">
              <a:solidFill>
                <a:schemeClr val="tx1"/>
              </a:solidFill>
              <a:latin typeface="+mn-ea"/>
              <a:sym typeface="Arial" panose="020B0604020202020204" pitchFamily="34" charset="0"/>
            </a:endParaRPr>
          </a:p>
        </p:txBody>
      </p:sp>
      <p:sp>
        <p:nvSpPr>
          <p:cNvPr id="10" name="文本框 9"/>
          <p:cNvSpPr txBox="1"/>
          <p:nvPr userDrawn="1"/>
        </p:nvSpPr>
        <p:spPr>
          <a:xfrm>
            <a:off x="8449310" y="238760"/>
            <a:ext cx="14547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数据结果</a:t>
            </a:r>
            <a:endParaRPr lang="zh-CN" altLang="en-US" sz="1400" b="1" dirty="0">
              <a:solidFill>
                <a:schemeClr val="tx1"/>
              </a:solidFill>
              <a:latin typeface="+mn-ea"/>
              <a:sym typeface="Arial" panose="020B0604020202020204" pitchFamily="34" charset="0"/>
            </a:endParaRPr>
          </a:p>
        </p:txBody>
      </p:sp>
      <p:sp>
        <p:nvSpPr>
          <p:cNvPr id="11" name="文本框 10"/>
          <p:cNvSpPr txBox="1"/>
          <p:nvPr userDrawn="1"/>
        </p:nvSpPr>
        <p:spPr>
          <a:xfrm>
            <a:off x="10186035" y="238760"/>
            <a:ext cx="1422400"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研究结论</a:t>
            </a:r>
            <a:endParaRPr lang="zh-CN" altLang="en-US" sz="1400" b="1" dirty="0">
              <a:solidFill>
                <a:schemeClr val="tx1"/>
              </a:solidFill>
              <a:latin typeface="+mn-ea"/>
              <a:sym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42" name="矩形: 圆角 144"/>
          <p:cNvSpPr/>
          <p:nvPr userDrawn="1">
            <p:custDataLst>
              <p:tags r:id="rId2"/>
            </p:custDataLst>
          </p:nvPr>
        </p:nvSpPr>
        <p:spPr>
          <a:xfrm>
            <a:off x="2538730" y="137795"/>
            <a:ext cx="9228455" cy="515620"/>
          </a:xfrm>
          <a:prstGeom prst="roundRect">
            <a:avLst>
              <a:gd name="adj" fmla="val 50000"/>
            </a:avLst>
          </a:prstGeom>
          <a:solidFill>
            <a:schemeClr val="bg1"/>
          </a:solidFill>
          <a:ln>
            <a:noFill/>
          </a:ln>
          <a:effectLst>
            <a:outerShdw blurRad="63500" sx="102000" sy="102000" algn="ctr" rotWithShape="0">
              <a:schemeClr val="accent6">
                <a:alpha val="40000"/>
              </a:scheme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4" name="矩形: 圆角 143"/>
          <p:cNvSpPr/>
          <p:nvPr userDrawn="1">
            <p:custDataLst>
              <p:tags r:id="rId3"/>
            </p:custDataLst>
          </p:nvPr>
        </p:nvSpPr>
        <p:spPr>
          <a:xfrm>
            <a:off x="6482080" y="137160"/>
            <a:ext cx="1739900" cy="509270"/>
          </a:xfrm>
          <a:prstGeom prst="roundRect">
            <a:avLst>
              <a:gd name="adj" fmla="val 50000"/>
            </a:avLst>
          </a:prstGeom>
          <a:solidFill>
            <a:schemeClr val="accent6"/>
          </a:solidFill>
          <a:ln>
            <a:solidFill>
              <a:schemeClr val="accent6"/>
            </a:solidFill>
          </a:ln>
        </p:spPr>
        <p:style>
          <a:lnRef idx="2">
            <a:schemeClr val="accent1"/>
          </a:lnRef>
          <a:fillRef idx="0">
            <a:srgbClr val="FFFFFF"/>
          </a:fillRef>
          <a:effectRef idx="0">
            <a:srgbClr val="FFFFFF"/>
          </a:effectRef>
          <a:fontRef idx="minor">
            <a:schemeClr val="tx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7" name="文本框 146"/>
          <p:cNvSpPr txBox="1"/>
          <p:nvPr userDrawn="1"/>
        </p:nvSpPr>
        <p:spPr>
          <a:xfrm>
            <a:off x="2573020" y="240030"/>
            <a:ext cx="1739900" cy="300355"/>
          </a:xfrm>
          <a:prstGeom prst="rect">
            <a:avLst/>
          </a:prstGeom>
          <a:noFill/>
          <a:ln>
            <a:noFill/>
          </a:ln>
          <a:extLst>
            <a:ext uri="{909E8E84-426E-40DD-AFC4-6F175D3DCCD1}">
              <a14:hiddenFill xmlns:a14="http://schemas.microsoft.com/office/drawing/2010/main">
                <a:solidFill>
                  <a:srgbClr val="9B0000"/>
                </a:solidFill>
              </a14:hiddenFill>
            </a:ext>
          </a:extLst>
        </p:spPr>
        <p:style>
          <a:lnRef idx="2">
            <a:schemeClr val="accent1"/>
          </a:lnRef>
          <a:fillRef idx="0">
            <a:srgbClr val="FFFFFF"/>
          </a:fillRef>
          <a:effectRef idx="0">
            <a:srgbClr val="FFFFFF"/>
          </a:effectRef>
          <a:fontRef idx="minor">
            <a:schemeClr val="tx1"/>
          </a:fontRef>
        </p:style>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研究问题</a:t>
            </a:r>
            <a:endParaRPr lang="zh-CN" altLang="en-US" sz="1400" b="1" dirty="0">
              <a:solidFill>
                <a:schemeClr val="tx1"/>
              </a:solidFill>
              <a:latin typeface="+mn-ea"/>
              <a:sym typeface="Arial" panose="020B0604020202020204" pitchFamily="34" charset="0"/>
            </a:endParaRPr>
          </a:p>
        </p:txBody>
      </p:sp>
      <p:sp>
        <p:nvSpPr>
          <p:cNvPr id="37" name="文本框 36"/>
          <p:cNvSpPr txBox="1"/>
          <p:nvPr userDrawn="1"/>
        </p:nvSpPr>
        <p:spPr>
          <a:xfrm>
            <a:off x="6522085" y="238760"/>
            <a:ext cx="1645285" cy="300355"/>
          </a:xfrm>
          <a:prstGeom prst="rect">
            <a:avLst/>
          </a:prstGeom>
          <a:noFill/>
          <a:effectLst/>
          <a:extLst>
            <a:ext uri="{909E8E84-426E-40DD-AFC4-6F175D3DCCD1}">
              <a14:hiddenFill xmlns:a14="http://schemas.microsoft.com/office/drawing/2010/main">
                <a:solidFill>
                  <a:schemeClr val="bg1"/>
                </a:solidFill>
              </a14:hiddenFill>
            </a:ext>
          </a:extLst>
        </p:spPr>
        <p:txBody>
          <a:bodyPr wrap="square" lIns="85954" tIns="42977" rIns="85954" bIns="42977" rtlCol="0">
            <a:spAutoFit/>
          </a:bodyPr>
          <a:lstStyle/>
          <a:p>
            <a:pPr algn="ctr"/>
            <a:r>
              <a:rPr lang="zh-CN" altLang="en-US" sz="1400" b="1" dirty="0">
                <a:solidFill>
                  <a:schemeClr val="bg1"/>
                </a:solidFill>
                <a:latin typeface="+mn-ea"/>
                <a:sym typeface="Arial" panose="020B0604020202020204" pitchFamily="34" charset="0"/>
              </a:rPr>
              <a:t>模型</a:t>
            </a:r>
            <a:r>
              <a:rPr lang="zh-CN" altLang="en-US" sz="1400" b="1" dirty="0">
                <a:solidFill>
                  <a:schemeClr val="bg1"/>
                </a:solidFill>
                <a:latin typeface="+mn-ea"/>
                <a:sym typeface="Arial" panose="020B0604020202020204" pitchFamily="34" charset="0"/>
              </a:rPr>
              <a:t>设定</a:t>
            </a:r>
            <a:endParaRPr lang="zh-CN" altLang="en-US" sz="1400" b="1" dirty="0">
              <a:solidFill>
                <a:schemeClr val="bg1"/>
              </a:solidFill>
              <a:latin typeface="+mn-ea"/>
              <a:sym typeface="Arial" panose="020B0604020202020204" pitchFamily="34" charset="0"/>
            </a:endParaRPr>
          </a:p>
        </p:txBody>
      </p:sp>
      <p:sp>
        <p:nvSpPr>
          <p:cNvPr id="4" name="矩形 3"/>
          <p:cNvSpPr/>
          <p:nvPr userDrawn="1"/>
        </p:nvSpPr>
        <p:spPr>
          <a:xfrm>
            <a:off x="0" y="6740525"/>
            <a:ext cx="12192000" cy="110490"/>
          </a:xfrm>
          <a:prstGeom prst="rect">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descr="03校标，中、英文校名组合"/>
          <p:cNvPicPr>
            <a:picLocks noChangeAspect="1"/>
          </p:cNvPicPr>
          <p:nvPr userDrawn="1"/>
        </p:nvPicPr>
        <p:blipFill>
          <a:blip r:embed="rId4"/>
          <a:stretch>
            <a:fillRect/>
          </a:stretch>
        </p:blipFill>
        <p:spPr>
          <a:xfrm>
            <a:off x="260350" y="137160"/>
            <a:ext cx="2042160" cy="649605"/>
          </a:xfrm>
          <a:prstGeom prst="rect">
            <a:avLst/>
          </a:prstGeom>
        </p:spPr>
      </p:pic>
      <p:sp>
        <p:nvSpPr>
          <p:cNvPr id="3" name="文本框 2"/>
          <p:cNvSpPr txBox="1"/>
          <p:nvPr userDrawn="1"/>
        </p:nvSpPr>
        <p:spPr>
          <a:xfrm>
            <a:off x="8449310" y="238760"/>
            <a:ext cx="14547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数据结果</a:t>
            </a:r>
            <a:endParaRPr lang="zh-CN" altLang="en-US" sz="1400" b="1" dirty="0">
              <a:solidFill>
                <a:schemeClr val="tx1"/>
              </a:solidFill>
              <a:latin typeface="+mn-ea"/>
              <a:sym typeface="Arial" panose="020B0604020202020204" pitchFamily="34" charset="0"/>
            </a:endParaRPr>
          </a:p>
        </p:txBody>
      </p:sp>
      <p:sp>
        <p:nvSpPr>
          <p:cNvPr id="5" name="文本框 4"/>
          <p:cNvSpPr txBox="1"/>
          <p:nvPr userDrawn="1"/>
        </p:nvSpPr>
        <p:spPr>
          <a:xfrm>
            <a:off x="10186035" y="238760"/>
            <a:ext cx="1422400"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研究结论</a:t>
            </a:r>
            <a:endParaRPr lang="zh-CN" altLang="en-US" sz="1400" b="1" dirty="0">
              <a:solidFill>
                <a:schemeClr val="tx1"/>
              </a:solidFill>
              <a:latin typeface="+mn-ea"/>
              <a:sym typeface="Arial" panose="020B0604020202020204" pitchFamily="34" charset="0"/>
            </a:endParaRPr>
          </a:p>
        </p:txBody>
      </p:sp>
      <p:sp>
        <p:nvSpPr>
          <p:cNvPr id="6" name="文本框 5"/>
          <p:cNvSpPr txBox="1"/>
          <p:nvPr userDrawn="1"/>
        </p:nvSpPr>
        <p:spPr>
          <a:xfrm>
            <a:off x="4594860"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影响机制</a:t>
            </a:r>
            <a:endParaRPr lang="zh-CN" altLang="en-US" sz="1400" b="1" dirty="0">
              <a:solidFill>
                <a:schemeClr val="tx1"/>
              </a:solidFill>
              <a:latin typeface="+mn-ea"/>
              <a:sym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42" name="矩形: 圆角 144"/>
          <p:cNvSpPr/>
          <p:nvPr userDrawn="1">
            <p:custDataLst>
              <p:tags r:id="rId2"/>
            </p:custDataLst>
          </p:nvPr>
        </p:nvSpPr>
        <p:spPr>
          <a:xfrm>
            <a:off x="2538730" y="137795"/>
            <a:ext cx="9228455" cy="515620"/>
          </a:xfrm>
          <a:prstGeom prst="roundRect">
            <a:avLst>
              <a:gd name="adj" fmla="val 50000"/>
            </a:avLst>
          </a:prstGeom>
          <a:solidFill>
            <a:schemeClr val="bg1"/>
          </a:solidFill>
          <a:ln>
            <a:noFill/>
          </a:ln>
          <a:effectLst>
            <a:outerShdw blurRad="63500" sx="102000" sy="102000" algn="ctr" rotWithShape="0">
              <a:schemeClr val="accent6">
                <a:alpha val="40000"/>
              </a:scheme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4" name="矩形: 圆角 143"/>
          <p:cNvSpPr/>
          <p:nvPr userDrawn="1">
            <p:custDataLst>
              <p:tags r:id="rId3"/>
            </p:custDataLst>
          </p:nvPr>
        </p:nvSpPr>
        <p:spPr>
          <a:xfrm>
            <a:off x="8310880" y="137160"/>
            <a:ext cx="1739900" cy="509270"/>
          </a:xfrm>
          <a:prstGeom prst="roundRect">
            <a:avLst>
              <a:gd name="adj" fmla="val 50000"/>
            </a:avLst>
          </a:prstGeom>
          <a:solidFill>
            <a:schemeClr val="accent6"/>
          </a:solidFill>
          <a:ln>
            <a:solidFill>
              <a:schemeClr val="accent6"/>
            </a:solidFill>
          </a:ln>
        </p:spPr>
        <p:style>
          <a:lnRef idx="2">
            <a:schemeClr val="accent1"/>
          </a:lnRef>
          <a:fillRef idx="0">
            <a:srgbClr val="FFFFFF"/>
          </a:fillRef>
          <a:effectRef idx="0">
            <a:srgbClr val="FFFFFF"/>
          </a:effectRef>
          <a:fontRef idx="minor">
            <a:schemeClr val="tx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38" name="文本框 37"/>
          <p:cNvSpPr txBox="1"/>
          <p:nvPr userDrawn="1"/>
        </p:nvSpPr>
        <p:spPr>
          <a:xfrm>
            <a:off x="8449310" y="238760"/>
            <a:ext cx="1454785" cy="300355"/>
          </a:xfrm>
          <a:prstGeom prst="rect">
            <a:avLst/>
          </a:prstGeom>
          <a:noFill/>
          <a:effectLst/>
          <a:extLst>
            <a:ext uri="{909E8E84-426E-40DD-AFC4-6F175D3DCCD1}">
              <a14:hiddenFill xmlns:a14="http://schemas.microsoft.com/office/drawing/2010/main">
                <a:solidFill>
                  <a:schemeClr val="bg1"/>
                </a:solidFill>
              </a14:hiddenFill>
            </a:ext>
          </a:extLst>
        </p:spPr>
        <p:txBody>
          <a:bodyPr wrap="square" lIns="85954" tIns="42977" rIns="85954" bIns="42977" rtlCol="0">
            <a:spAutoFit/>
          </a:bodyPr>
          <a:lstStyle/>
          <a:p>
            <a:pPr algn="ctr"/>
            <a:r>
              <a:rPr lang="zh-CN" altLang="en-US" sz="1400" b="1">
                <a:solidFill>
                  <a:schemeClr val="bg1"/>
                </a:solidFill>
                <a:latin typeface="+mj-ea"/>
                <a:ea typeface="+mj-ea"/>
                <a:cs typeface="+mj-ea"/>
                <a:sym typeface="+mn-ea"/>
              </a:rPr>
              <a:t>数据结果</a:t>
            </a:r>
            <a:endParaRPr lang="zh-CN" altLang="en-US" sz="1400" b="1">
              <a:solidFill>
                <a:schemeClr val="bg1"/>
              </a:solidFill>
              <a:latin typeface="+mj-ea"/>
              <a:ea typeface="+mj-ea"/>
              <a:cs typeface="+mj-ea"/>
              <a:sym typeface="+mn-ea"/>
            </a:endParaRPr>
          </a:p>
        </p:txBody>
      </p:sp>
      <p:sp>
        <p:nvSpPr>
          <p:cNvPr id="4" name="矩形 3"/>
          <p:cNvSpPr/>
          <p:nvPr userDrawn="1"/>
        </p:nvSpPr>
        <p:spPr>
          <a:xfrm>
            <a:off x="0" y="6740525"/>
            <a:ext cx="12192000" cy="110490"/>
          </a:xfrm>
          <a:prstGeom prst="rect">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descr="03校标，中、英文校名组合"/>
          <p:cNvPicPr>
            <a:picLocks noChangeAspect="1"/>
          </p:cNvPicPr>
          <p:nvPr userDrawn="1"/>
        </p:nvPicPr>
        <p:blipFill>
          <a:blip r:embed="rId4"/>
          <a:stretch>
            <a:fillRect/>
          </a:stretch>
        </p:blipFill>
        <p:spPr>
          <a:xfrm>
            <a:off x="260350" y="137160"/>
            <a:ext cx="2042160" cy="649605"/>
          </a:xfrm>
          <a:prstGeom prst="rect">
            <a:avLst/>
          </a:prstGeom>
        </p:spPr>
      </p:pic>
      <p:sp>
        <p:nvSpPr>
          <p:cNvPr id="3" name="文本框 2"/>
          <p:cNvSpPr txBox="1"/>
          <p:nvPr userDrawn="1"/>
        </p:nvSpPr>
        <p:spPr>
          <a:xfrm>
            <a:off x="2573020" y="240030"/>
            <a:ext cx="1739900" cy="300355"/>
          </a:xfrm>
          <a:prstGeom prst="rect">
            <a:avLst/>
          </a:prstGeom>
          <a:noFill/>
          <a:ln>
            <a:noFill/>
          </a:ln>
          <a:extLst>
            <a:ext uri="{909E8E84-426E-40DD-AFC4-6F175D3DCCD1}">
              <a14:hiddenFill xmlns:a14="http://schemas.microsoft.com/office/drawing/2010/main">
                <a:solidFill>
                  <a:srgbClr val="9B0000"/>
                </a:solidFill>
              </a14:hiddenFill>
            </a:ext>
          </a:extLst>
        </p:spPr>
        <p:style>
          <a:lnRef idx="2">
            <a:schemeClr val="accent1"/>
          </a:lnRef>
          <a:fillRef idx="0">
            <a:srgbClr val="FFFFFF"/>
          </a:fillRef>
          <a:effectRef idx="0">
            <a:srgbClr val="FFFFFF"/>
          </a:effectRef>
          <a:fontRef idx="minor">
            <a:schemeClr val="tx1"/>
          </a:fontRef>
        </p:style>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研究问题</a:t>
            </a:r>
            <a:endParaRPr lang="zh-CN" altLang="en-US" sz="1400" b="1" dirty="0">
              <a:solidFill>
                <a:schemeClr val="tx1"/>
              </a:solidFill>
              <a:latin typeface="+mn-ea"/>
              <a:sym typeface="Arial" panose="020B0604020202020204" pitchFamily="34" charset="0"/>
            </a:endParaRPr>
          </a:p>
        </p:txBody>
      </p:sp>
      <p:sp>
        <p:nvSpPr>
          <p:cNvPr id="5" name="文本框 4"/>
          <p:cNvSpPr txBox="1"/>
          <p:nvPr userDrawn="1"/>
        </p:nvSpPr>
        <p:spPr>
          <a:xfrm>
            <a:off x="10186035" y="238760"/>
            <a:ext cx="1422400"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研究结论</a:t>
            </a:r>
            <a:endParaRPr lang="zh-CN" altLang="en-US" sz="1400" b="1" dirty="0">
              <a:solidFill>
                <a:schemeClr val="tx1"/>
              </a:solidFill>
              <a:latin typeface="+mn-ea"/>
              <a:sym typeface="Arial" panose="020B0604020202020204" pitchFamily="34" charset="0"/>
            </a:endParaRPr>
          </a:p>
        </p:txBody>
      </p:sp>
      <p:sp>
        <p:nvSpPr>
          <p:cNvPr id="6" name="文本框 5"/>
          <p:cNvSpPr txBox="1"/>
          <p:nvPr userDrawn="1"/>
        </p:nvSpPr>
        <p:spPr>
          <a:xfrm>
            <a:off x="4594860"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影响机制</a:t>
            </a:r>
            <a:endParaRPr lang="zh-CN" altLang="en-US" sz="1400" b="1" dirty="0">
              <a:solidFill>
                <a:schemeClr val="tx1"/>
              </a:solidFill>
              <a:latin typeface="+mn-ea"/>
              <a:sym typeface="Arial" panose="020B0604020202020204" pitchFamily="34" charset="0"/>
            </a:endParaRPr>
          </a:p>
        </p:txBody>
      </p:sp>
      <p:sp>
        <p:nvSpPr>
          <p:cNvPr id="10" name="文本框 9"/>
          <p:cNvSpPr txBox="1"/>
          <p:nvPr userDrawn="1"/>
        </p:nvSpPr>
        <p:spPr>
          <a:xfrm>
            <a:off x="6522085"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模型</a:t>
            </a:r>
            <a:r>
              <a:rPr lang="zh-CN" altLang="en-US" sz="1400" b="1" dirty="0">
                <a:solidFill>
                  <a:schemeClr val="tx1"/>
                </a:solidFill>
                <a:latin typeface="+mn-ea"/>
                <a:sym typeface="Arial" panose="020B0604020202020204" pitchFamily="34" charset="0"/>
              </a:rPr>
              <a:t>设定</a:t>
            </a:r>
            <a:endParaRPr lang="zh-CN" altLang="en-US" sz="1400" b="1" dirty="0">
              <a:solidFill>
                <a:schemeClr val="tx1"/>
              </a:solidFill>
              <a:latin typeface="+mn-ea"/>
              <a:sym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42" name="矩形: 圆角 144"/>
          <p:cNvSpPr/>
          <p:nvPr userDrawn="1">
            <p:custDataLst>
              <p:tags r:id="rId2"/>
            </p:custDataLst>
          </p:nvPr>
        </p:nvSpPr>
        <p:spPr>
          <a:xfrm>
            <a:off x="2538730" y="137795"/>
            <a:ext cx="9228455" cy="515620"/>
          </a:xfrm>
          <a:prstGeom prst="roundRect">
            <a:avLst>
              <a:gd name="adj" fmla="val 50000"/>
            </a:avLst>
          </a:prstGeom>
          <a:solidFill>
            <a:schemeClr val="bg1"/>
          </a:solidFill>
          <a:ln>
            <a:noFill/>
          </a:ln>
          <a:effectLst>
            <a:outerShdw blurRad="63500" sx="102000" sy="102000" algn="ctr" rotWithShape="0">
              <a:schemeClr val="accent6">
                <a:alpha val="40000"/>
              </a:scheme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4" name="矩形: 圆角 143"/>
          <p:cNvSpPr/>
          <p:nvPr userDrawn="1">
            <p:custDataLst>
              <p:tags r:id="rId3"/>
            </p:custDataLst>
          </p:nvPr>
        </p:nvSpPr>
        <p:spPr>
          <a:xfrm>
            <a:off x="10025380" y="137160"/>
            <a:ext cx="1739900" cy="509270"/>
          </a:xfrm>
          <a:prstGeom prst="roundRect">
            <a:avLst>
              <a:gd name="adj" fmla="val 50000"/>
            </a:avLst>
          </a:prstGeom>
          <a:solidFill>
            <a:schemeClr val="accent6"/>
          </a:solidFill>
          <a:ln>
            <a:solidFill>
              <a:schemeClr val="accent6"/>
            </a:solidFill>
          </a:ln>
        </p:spPr>
        <p:style>
          <a:lnRef idx="2">
            <a:schemeClr val="accent1"/>
          </a:lnRef>
          <a:fillRef idx="0">
            <a:srgbClr val="FFFFFF"/>
          </a:fillRef>
          <a:effectRef idx="0">
            <a:srgbClr val="FFFFFF"/>
          </a:effectRef>
          <a:fontRef idx="minor">
            <a:schemeClr val="tx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38" name="文本框 37"/>
          <p:cNvSpPr txBox="1"/>
          <p:nvPr userDrawn="1"/>
        </p:nvSpPr>
        <p:spPr>
          <a:xfrm>
            <a:off x="8449310" y="238760"/>
            <a:ext cx="1454785" cy="300355"/>
          </a:xfrm>
          <a:prstGeom prst="rect">
            <a:avLst/>
          </a:prstGeom>
          <a:noFill/>
          <a:effectLst/>
          <a:extLst>
            <a:ext uri="{909E8E84-426E-40DD-AFC4-6F175D3DCCD1}">
              <a14:hiddenFill xmlns:a14="http://schemas.microsoft.com/office/drawing/2010/main">
                <a:solidFill>
                  <a:schemeClr val="bg1"/>
                </a:solidFill>
              </a14:hiddenFill>
            </a:ext>
          </a:extLst>
        </p:spPr>
        <p:txBody>
          <a:bodyPr wrap="square" lIns="85954" tIns="42977" rIns="85954" bIns="42977" rtlCol="0">
            <a:spAutoFit/>
          </a:bodyPr>
          <a:lstStyle/>
          <a:p>
            <a:pPr algn="ctr"/>
            <a:r>
              <a:rPr lang="zh-CN" altLang="en-US" sz="1400" b="1">
                <a:solidFill>
                  <a:schemeClr val="tx1"/>
                </a:solidFill>
                <a:latin typeface="+mj-ea"/>
                <a:ea typeface="+mj-ea"/>
                <a:cs typeface="+mj-ea"/>
                <a:sym typeface="+mn-ea"/>
              </a:rPr>
              <a:t>数据结果</a:t>
            </a:r>
            <a:endParaRPr lang="zh-CN" altLang="en-US" sz="1400" b="1">
              <a:solidFill>
                <a:schemeClr val="tx1"/>
              </a:solidFill>
              <a:latin typeface="+mj-ea"/>
              <a:ea typeface="+mj-ea"/>
              <a:cs typeface="+mj-ea"/>
              <a:sym typeface="+mn-ea"/>
            </a:endParaRPr>
          </a:p>
        </p:txBody>
      </p:sp>
      <p:sp>
        <p:nvSpPr>
          <p:cNvPr id="40" name="文本框 39"/>
          <p:cNvSpPr txBox="1"/>
          <p:nvPr userDrawn="1"/>
        </p:nvSpPr>
        <p:spPr>
          <a:xfrm>
            <a:off x="10186035" y="238760"/>
            <a:ext cx="1422400" cy="300355"/>
          </a:xfrm>
          <a:prstGeom prst="rect">
            <a:avLst/>
          </a:prstGeom>
          <a:noFill/>
          <a:effectLst/>
          <a:extLst>
            <a:ext uri="{909E8E84-426E-40DD-AFC4-6F175D3DCCD1}">
              <a14:hiddenFill xmlns:a14="http://schemas.microsoft.com/office/drawing/2010/main">
                <a:solidFill>
                  <a:schemeClr val="bg1"/>
                </a:solidFill>
              </a14:hiddenFill>
            </a:ext>
          </a:extLst>
        </p:spPr>
        <p:txBody>
          <a:bodyPr wrap="square" lIns="85954" tIns="42977" rIns="85954" bIns="42977" rtlCol="0">
            <a:spAutoFit/>
          </a:bodyPr>
          <a:lstStyle/>
          <a:p>
            <a:pPr algn="ctr"/>
            <a:r>
              <a:rPr lang="zh-CN" altLang="en-US" sz="1400" b="1">
                <a:solidFill>
                  <a:schemeClr val="bg1"/>
                </a:solidFill>
                <a:latin typeface="+mj-ea"/>
                <a:ea typeface="+mj-ea"/>
                <a:cs typeface="+mj-ea"/>
                <a:sym typeface="+mn-ea"/>
              </a:rPr>
              <a:t>研究结论</a:t>
            </a:r>
            <a:endParaRPr lang="zh-CN" altLang="en-US" sz="1400" b="1">
              <a:solidFill>
                <a:schemeClr val="bg1"/>
              </a:solidFill>
              <a:latin typeface="+mj-ea"/>
              <a:ea typeface="+mj-ea"/>
              <a:cs typeface="+mj-ea"/>
              <a:sym typeface="+mn-ea"/>
            </a:endParaRPr>
          </a:p>
        </p:txBody>
      </p:sp>
      <p:sp>
        <p:nvSpPr>
          <p:cNvPr id="4" name="矩形 3"/>
          <p:cNvSpPr/>
          <p:nvPr userDrawn="1"/>
        </p:nvSpPr>
        <p:spPr>
          <a:xfrm>
            <a:off x="0" y="6740525"/>
            <a:ext cx="12192000" cy="110490"/>
          </a:xfrm>
          <a:prstGeom prst="rect">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descr="03校标，中、英文校名组合"/>
          <p:cNvPicPr>
            <a:picLocks noChangeAspect="1"/>
          </p:cNvPicPr>
          <p:nvPr userDrawn="1"/>
        </p:nvPicPr>
        <p:blipFill>
          <a:blip r:embed="rId4"/>
          <a:stretch>
            <a:fillRect/>
          </a:stretch>
        </p:blipFill>
        <p:spPr>
          <a:xfrm>
            <a:off x="260350" y="137160"/>
            <a:ext cx="2042160" cy="649605"/>
          </a:xfrm>
          <a:prstGeom prst="rect">
            <a:avLst/>
          </a:prstGeom>
        </p:spPr>
      </p:pic>
      <p:sp>
        <p:nvSpPr>
          <p:cNvPr id="3" name="文本框 2"/>
          <p:cNvSpPr txBox="1"/>
          <p:nvPr userDrawn="1"/>
        </p:nvSpPr>
        <p:spPr>
          <a:xfrm>
            <a:off x="2573020" y="240030"/>
            <a:ext cx="1739900" cy="300355"/>
          </a:xfrm>
          <a:prstGeom prst="rect">
            <a:avLst/>
          </a:prstGeom>
          <a:noFill/>
          <a:ln>
            <a:noFill/>
          </a:ln>
          <a:extLst>
            <a:ext uri="{909E8E84-426E-40DD-AFC4-6F175D3DCCD1}">
              <a14:hiddenFill xmlns:a14="http://schemas.microsoft.com/office/drawing/2010/main">
                <a:solidFill>
                  <a:srgbClr val="9B0000"/>
                </a:solidFill>
              </a14:hiddenFill>
            </a:ext>
          </a:extLst>
        </p:spPr>
        <p:style>
          <a:lnRef idx="2">
            <a:schemeClr val="accent1"/>
          </a:lnRef>
          <a:fillRef idx="0">
            <a:srgbClr val="FFFFFF"/>
          </a:fillRef>
          <a:effectRef idx="0">
            <a:srgbClr val="FFFFFF"/>
          </a:effectRef>
          <a:fontRef idx="minor">
            <a:schemeClr val="tx1"/>
          </a:fontRef>
        </p:style>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研究问题</a:t>
            </a:r>
            <a:endParaRPr lang="zh-CN" altLang="en-US" sz="1400" b="1" dirty="0">
              <a:solidFill>
                <a:schemeClr val="tx1"/>
              </a:solidFill>
              <a:latin typeface="+mn-ea"/>
              <a:sym typeface="Arial" panose="020B0604020202020204" pitchFamily="34" charset="0"/>
            </a:endParaRPr>
          </a:p>
        </p:txBody>
      </p:sp>
      <p:sp>
        <p:nvSpPr>
          <p:cNvPr id="6" name="文本框 5"/>
          <p:cNvSpPr txBox="1"/>
          <p:nvPr userDrawn="1"/>
        </p:nvSpPr>
        <p:spPr>
          <a:xfrm>
            <a:off x="4594860"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影响机制</a:t>
            </a:r>
            <a:endParaRPr lang="zh-CN" altLang="en-US" sz="1400" b="1" dirty="0">
              <a:solidFill>
                <a:schemeClr val="tx1"/>
              </a:solidFill>
              <a:latin typeface="+mn-ea"/>
              <a:sym typeface="Arial" panose="020B0604020202020204" pitchFamily="34" charset="0"/>
            </a:endParaRPr>
          </a:p>
        </p:txBody>
      </p:sp>
      <p:sp>
        <p:nvSpPr>
          <p:cNvPr id="10" name="文本框 9"/>
          <p:cNvSpPr txBox="1"/>
          <p:nvPr userDrawn="1"/>
        </p:nvSpPr>
        <p:spPr>
          <a:xfrm>
            <a:off x="6522085"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模型</a:t>
            </a:r>
            <a:r>
              <a:rPr lang="zh-CN" altLang="en-US" sz="1400" b="1" dirty="0">
                <a:solidFill>
                  <a:schemeClr val="tx1"/>
                </a:solidFill>
                <a:latin typeface="+mn-ea"/>
                <a:sym typeface="Arial" panose="020B0604020202020204" pitchFamily="34" charset="0"/>
              </a:rPr>
              <a:t>设定</a:t>
            </a:r>
            <a:endParaRPr lang="zh-CN" altLang="en-US" sz="1400" b="1" dirty="0">
              <a:solidFill>
                <a:schemeClr val="tx1"/>
              </a:solidFill>
              <a:latin typeface="+mn-ea"/>
              <a:sym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42" name="矩形: 圆角 144"/>
          <p:cNvSpPr/>
          <p:nvPr userDrawn="1">
            <p:custDataLst>
              <p:tags r:id="rId2"/>
            </p:custDataLst>
          </p:nvPr>
        </p:nvSpPr>
        <p:spPr>
          <a:xfrm>
            <a:off x="2538730" y="137795"/>
            <a:ext cx="9228455" cy="515620"/>
          </a:xfrm>
          <a:prstGeom prst="roundRect">
            <a:avLst>
              <a:gd name="adj" fmla="val 50000"/>
            </a:avLst>
          </a:prstGeom>
          <a:solidFill>
            <a:schemeClr val="bg1"/>
          </a:solidFill>
          <a:ln>
            <a:noFill/>
          </a:ln>
          <a:effectLst>
            <a:outerShdw blurRad="63500" sx="102000" sy="102000" algn="ctr" rotWithShape="0">
              <a:schemeClr val="accent6">
                <a:alpha val="40000"/>
              </a:scheme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4" name="矩形: 圆角 143"/>
          <p:cNvSpPr/>
          <p:nvPr userDrawn="1">
            <p:custDataLst>
              <p:tags r:id="rId3"/>
            </p:custDataLst>
          </p:nvPr>
        </p:nvSpPr>
        <p:spPr>
          <a:xfrm>
            <a:off x="2538730" y="137160"/>
            <a:ext cx="1739900" cy="509270"/>
          </a:xfrm>
          <a:prstGeom prst="roundRect">
            <a:avLst>
              <a:gd name="adj" fmla="val 50000"/>
            </a:avLst>
          </a:prstGeom>
          <a:solidFill>
            <a:schemeClr val="accent6"/>
          </a:solidFill>
          <a:ln>
            <a:solidFill>
              <a:schemeClr val="accent6"/>
            </a:solidFill>
          </a:ln>
        </p:spPr>
        <p:style>
          <a:lnRef idx="2">
            <a:schemeClr val="accent1"/>
          </a:lnRef>
          <a:fillRef idx="0">
            <a:srgbClr val="FFFFFF"/>
          </a:fillRef>
          <a:effectRef idx="0">
            <a:srgbClr val="FFFFFF"/>
          </a:effectRef>
          <a:fontRef idx="minor">
            <a:schemeClr val="tx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cs typeface="OPPOSans B" panose="00020600040101010101" pitchFamily="18" charset="-122"/>
              <a:sym typeface="Arial" panose="020B0604020202020204" pitchFamily="34" charset="0"/>
            </a:endParaRPr>
          </a:p>
        </p:txBody>
      </p:sp>
      <p:sp>
        <p:nvSpPr>
          <p:cNvPr id="147" name="文本框 146"/>
          <p:cNvSpPr txBox="1"/>
          <p:nvPr userDrawn="1"/>
        </p:nvSpPr>
        <p:spPr>
          <a:xfrm>
            <a:off x="2625090" y="240030"/>
            <a:ext cx="1559560" cy="300355"/>
          </a:xfrm>
          <a:prstGeom prst="rect">
            <a:avLst/>
          </a:prstGeom>
          <a:solidFill>
            <a:schemeClr val="accent6"/>
          </a:solidFill>
          <a:ln>
            <a:solidFill>
              <a:schemeClr val="accent6"/>
            </a:solidFill>
          </a:ln>
        </p:spPr>
        <p:style>
          <a:lnRef idx="2">
            <a:schemeClr val="accent1"/>
          </a:lnRef>
          <a:fillRef idx="0">
            <a:srgbClr val="FFFFFF"/>
          </a:fillRef>
          <a:effectRef idx="0">
            <a:srgbClr val="FFFFFF"/>
          </a:effectRef>
          <a:fontRef idx="minor">
            <a:schemeClr val="tx1"/>
          </a:fontRef>
        </p:style>
        <p:txBody>
          <a:bodyPr wrap="square" lIns="85954" tIns="42977" rIns="85954" bIns="42977" rtlCol="0">
            <a:spAutoFit/>
          </a:bodyPr>
          <a:lstStyle/>
          <a:p>
            <a:pPr algn="ctr"/>
            <a:r>
              <a:rPr lang="zh-CN" altLang="en-US" sz="1400" b="1" dirty="0">
                <a:solidFill>
                  <a:schemeClr val="bg1"/>
                </a:solidFill>
                <a:latin typeface="+mn-ea"/>
                <a:sym typeface="Arial" panose="020B0604020202020204" pitchFamily="34" charset="0"/>
              </a:rPr>
              <a:t>研究问题</a:t>
            </a:r>
            <a:endParaRPr lang="zh-CN" altLang="en-US" sz="1400" b="1" dirty="0">
              <a:solidFill>
                <a:schemeClr val="bg1"/>
              </a:solidFill>
              <a:latin typeface="+mn-ea"/>
              <a:sym typeface="Arial" panose="020B0604020202020204" pitchFamily="34" charset="0"/>
            </a:endParaRPr>
          </a:p>
        </p:txBody>
      </p:sp>
      <p:sp>
        <p:nvSpPr>
          <p:cNvPr id="40" name="文本框 39"/>
          <p:cNvSpPr txBox="1"/>
          <p:nvPr userDrawn="1"/>
        </p:nvSpPr>
        <p:spPr>
          <a:xfrm>
            <a:off x="10186035" y="238760"/>
            <a:ext cx="1422400" cy="300355"/>
          </a:xfrm>
          <a:prstGeom prst="rect">
            <a:avLst/>
          </a:prstGeom>
          <a:solidFill>
            <a:schemeClr val="bg1"/>
          </a:solidFill>
          <a:effectLst/>
        </p:spPr>
        <p:txBody>
          <a:bodyPr wrap="square" lIns="85954" tIns="42977" rIns="85954" bIns="42977" rtlCol="0">
            <a:spAutoFit/>
          </a:bodyPr>
          <a:lstStyle/>
          <a:p>
            <a:pPr algn="ctr"/>
            <a:r>
              <a:rPr lang="zh-CN" altLang="en-US" sz="1400" b="1">
                <a:latin typeface="+mj-ea"/>
                <a:ea typeface="+mj-ea"/>
                <a:cs typeface="+mj-ea"/>
                <a:sym typeface="+mn-ea"/>
              </a:rPr>
              <a:t>研究结论</a:t>
            </a:r>
            <a:endParaRPr lang="zh-CN" altLang="en-US" sz="1400" b="1">
              <a:latin typeface="+mj-ea"/>
              <a:ea typeface="+mj-ea"/>
              <a:cs typeface="+mj-ea"/>
              <a:sym typeface="+mn-ea"/>
            </a:endParaRPr>
          </a:p>
        </p:txBody>
      </p:sp>
      <p:sp>
        <p:nvSpPr>
          <p:cNvPr id="3" name="矩形 2"/>
          <p:cNvSpPr/>
          <p:nvPr userDrawn="1"/>
        </p:nvSpPr>
        <p:spPr>
          <a:xfrm>
            <a:off x="0" y="6740525"/>
            <a:ext cx="12192000" cy="110490"/>
          </a:xfrm>
          <a:prstGeom prst="rect">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userDrawn="1"/>
        </p:nvSpPr>
        <p:spPr>
          <a:xfrm>
            <a:off x="8449310" y="238760"/>
            <a:ext cx="1454785" cy="300355"/>
          </a:xfrm>
          <a:prstGeom prst="rect">
            <a:avLst/>
          </a:prstGeom>
          <a:noFill/>
          <a:effectLst/>
          <a:extLst>
            <a:ext uri="{909E8E84-426E-40DD-AFC4-6F175D3DCCD1}">
              <a14:hiddenFill xmlns:a14="http://schemas.microsoft.com/office/drawing/2010/main">
                <a:solidFill>
                  <a:schemeClr val="bg1"/>
                </a:solidFill>
              </a14:hiddenFill>
            </a:ext>
          </a:extLst>
        </p:spPr>
        <p:txBody>
          <a:bodyPr wrap="square" lIns="85954" tIns="42977" rIns="85954" bIns="42977" rtlCol="0">
            <a:spAutoFit/>
          </a:bodyPr>
          <a:lstStyle/>
          <a:p>
            <a:pPr algn="ctr"/>
            <a:r>
              <a:rPr lang="zh-CN" altLang="en-US" sz="1400" b="1">
                <a:solidFill>
                  <a:schemeClr val="tx1"/>
                </a:solidFill>
                <a:latin typeface="+mj-ea"/>
                <a:ea typeface="+mj-ea"/>
                <a:cs typeface="+mj-ea"/>
                <a:sym typeface="+mn-ea"/>
              </a:rPr>
              <a:t>数据结果</a:t>
            </a:r>
            <a:endParaRPr lang="zh-CN" altLang="en-US" sz="1400" b="1">
              <a:solidFill>
                <a:schemeClr val="tx1"/>
              </a:solidFill>
              <a:latin typeface="+mj-ea"/>
              <a:ea typeface="+mj-ea"/>
              <a:cs typeface="+mj-ea"/>
              <a:sym typeface="+mn-ea"/>
            </a:endParaRPr>
          </a:p>
        </p:txBody>
      </p:sp>
      <p:sp>
        <p:nvSpPr>
          <p:cNvPr id="6" name="文本框 5"/>
          <p:cNvSpPr txBox="1"/>
          <p:nvPr userDrawn="1"/>
        </p:nvSpPr>
        <p:spPr>
          <a:xfrm>
            <a:off x="4594860"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影响机制</a:t>
            </a:r>
            <a:endParaRPr lang="zh-CN" altLang="en-US" sz="1400" b="1" dirty="0">
              <a:solidFill>
                <a:schemeClr val="tx1"/>
              </a:solidFill>
              <a:latin typeface="+mn-ea"/>
              <a:sym typeface="Arial" panose="020B0604020202020204" pitchFamily="34" charset="0"/>
            </a:endParaRPr>
          </a:p>
        </p:txBody>
      </p:sp>
      <p:sp>
        <p:nvSpPr>
          <p:cNvPr id="10" name="文本框 9"/>
          <p:cNvSpPr txBox="1"/>
          <p:nvPr userDrawn="1"/>
        </p:nvSpPr>
        <p:spPr>
          <a:xfrm>
            <a:off x="6522085" y="238760"/>
            <a:ext cx="1645285" cy="300355"/>
          </a:xfrm>
          <a:prstGeom prst="rect">
            <a:avLst/>
          </a:prstGeom>
          <a:solidFill>
            <a:schemeClr val="bg1"/>
          </a:solidFill>
          <a:effectLst/>
        </p:spPr>
        <p:txBody>
          <a:bodyPr wrap="square" lIns="85954" tIns="42977" rIns="85954" bIns="42977" rtlCol="0">
            <a:spAutoFit/>
          </a:bodyPr>
          <a:lstStyle/>
          <a:p>
            <a:pPr algn="ctr"/>
            <a:r>
              <a:rPr lang="zh-CN" altLang="en-US" sz="1400" b="1" dirty="0">
                <a:solidFill>
                  <a:schemeClr val="tx1"/>
                </a:solidFill>
                <a:latin typeface="+mn-ea"/>
                <a:sym typeface="Arial" panose="020B0604020202020204" pitchFamily="34" charset="0"/>
              </a:rPr>
              <a:t>模型</a:t>
            </a:r>
            <a:r>
              <a:rPr lang="zh-CN" altLang="en-US" sz="1400" b="1" dirty="0">
                <a:solidFill>
                  <a:schemeClr val="tx1"/>
                </a:solidFill>
                <a:latin typeface="+mn-ea"/>
                <a:sym typeface="Arial" panose="020B0604020202020204" pitchFamily="34" charset="0"/>
              </a:rPr>
              <a:t>设定</a:t>
            </a:r>
            <a:endParaRPr lang="zh-CN" altLang="en-US" sz="1400" b="1" dirty="0">
              <a:solidFill>
                <a:schemeClr val="tx1"/>
              </a:solidFill>
              <a:latin typeface="+mn-ea"/>
              <a:sym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image" Target="../media/image1.jpeg"/><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2.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3" Type="http://schemas.openxmlformats.org/officeDocument/2006/relationships/notesSlide" Target="../notesSlides/notesSlide2.xml"/><Relationship Id="rId22" Type="http://schemas.openxmlformats.org/officeDocument/2006/relationships/slideLayout" Target="../slideLayouts/slideLayout1.xml"/><Relationship Id="rId21" Type="http://schemas.openxmlformats.org/officeDocument/2006/relationships/image" Target="../media/image1.jpeg"/><Relationship Id="rId20" Type="http://schemas.openxmlformats.org/officeDocument/2006/relationships/tags" Target="../tags/tag38.xml"/><Relationship Id="rId2" Type="http://schemas.openxmlformats.org/officeDocument/2006/relationships/tags" Target="../tags/tag20.xml"/><Relationship Id="rId19" Type="http://schemas.openxmlformats.org/officeDocument/2006/relationships/tags" Target="../tags/tag37.xml"/><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9" Type="http://schemas.openxmlformats.org/officeDocument/2006/relationships/notesSlide" Target="../notesSlides/notesSlide4.xml"/><Relationship Id="rId18" Type="http://schemas.openxmlformats.org/officeDocument/2006/relationships/slideLayout" Target="../slideLayouts/slideLayout2.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image" Target="../media/image2.png"/><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6.wmf"/><Relationship Id="rId7" Type="http://schemas.openxmlformats.org/officeDocument/2006/relationships/oleObject" Target="../embeddings/oleObject4.bin"/><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1" Type="http://schemas.openxmlformats.org/officeDocument/2006/relationships/notesSlide" Target="../notesSlides/notesSlide8.xml"/><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10.wmf"/><Relationship Id="rId7" Type="http://schemas.openxmlformats.org/officeDocument/2006/relationships/oleObject" Target="../embeddings/oleObject8.bin"/><Relationship Id="rId6" Type="http://schemas.openxmlformats.org/officeDocument/2006/relationships/image" Target="../media/image9.wmf"/><Relationship Id="rId5" Type="http://schemas.openxmlformats.org/officeDocument/2006/relationships/oleObject" Target="../embeddings/oleObject7.bin"/><Relationship Id="rId4" Type="http://schemas.openxmlformats.org/officeDocument/2006/relationships/image" Target="../media/image8.wmf"/><Relationship Id="rId3" Type="http://schemas.openxmlformats.org/officeDocument/2006/relationships/oleObject" Target="../embeddings/oleObject6.bin"/><Relationship Id="rId2" Type="http://schemas.openxmlformats.org/officeDocument/2006/relationships/image" Target="../media/image7.wmf"/><Relationship Id="rId11" Type="http://schemas.openxmlformats.org/officeDocument/2006/relationships/notesSlide" Target="../notesSlides/notesSlide9.xml"/><Relationship Id="rId10" Type="http://schemas.openxmlformats.org/officeDocument/2006/relationships/vmlDrawing" Target="../drawings/vmlDrawing2.vml"/><Relationship Id="rId1"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4.wmf"/><Relationship Id="rId7" Type="http://schemas.openxmlformats.org/officeDocument/2006/relationships/oleObject" Target="../embeddings/oleObject12.bin"/><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 Id="rId3" Type="http://schemas.openxmlformats.org/officeDocument/2006/relationships/oleObject" Target="../embeddings/oleObject10.bin"/><Relationship Id="rId21" Type="http://schemas.openxmlformats.org/officeDocument/2006/relationships/notesSlide" Target="../notesSlides/notesSlide10.xml"/><Relationship Id="rId20" Type="http://schemas.openxmlformats.org/officeDocument/2006/relationships/vmlDrawing" Target="../drawings/vmlDrawing3.vml"/><Relationship Id="rId2" Type="http://schemas.openxmlformats.org/officeDocument/2006/relationships/image" Target="../media/image11.wmf"/><Relationship Id="rId19" Type="http://schemas.openxmlformats.org/officeDocument/2006/relationships/slideLayout" Target="../slideLayouts/slideLayout4.xml"/><Relationship Id="rId18" Type="http://schemas.openxmlformats.org/officeDocument/2006/relationships/image" Target="../media/image19.wmf"/><Relationship Id="rId17" Type="http://schemas.openxmlformats.org/officeDocument/2006/relationships/oleObject" Target="../embeddings/oleObject17.bin"/><Relationship Id="rId16" Type="http://schemas.openxmlformats.org/officeDocument/2006/relationships/image" Target="../media/image18.wmf"/><Relationship Id="rId15" Type="http://schemas.openxmlformats.org/officeDocument/2006/relationships/oleObject" Target="../embeddings/oleObject16.bin"/><Relationship Id="rId14" Type="http://schemas.openxmlformats.org/officeDocument/2006/relationships/image" Target="../media/image17.wmf"/><Relationship Id="rId13" Type="http://schemas.openxmlformats.org/officeDocument/2006/relationships/oleObject" Target="../embeddings/oleObject15.bin"/><Relationship Id="rId12" Type="http://schemas.openxmlformats.org/officeDocument/2006/relationships/image" Target="../media/image16.wmf"/><Relationship Id="rId11" Type="http://schemas.openxmlformats.org/officeDocument/2006/relationships/oleObject" Target="../embeddings/oleObject14.bin"/><Relationship Id="rId10" Type="http://schemas.openxmlformats.org/officeDocument/2006/relationships/image" Target="../media/image15.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image" Target="../media/image21.png"/><Relationship Id="rId11" Type="http://schemas.openxmlformats.org/officeDocument/2006/relationships/notesSlide" Target="../notesSlides/notesSlide11.xml"/><Relationship Id="rId10" Type="http://schemas.openxmlformats.org/officeDocument/2006/relationships/slideLayout" Target="../slideLayouts/slideLayout4.xml"/><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7" Type="http://schemas.openxmlformats.org/officeDocument/2006/relationships/notesSlide" Target="../notesSlides/notesSlide12.xml"/><Relationship Id="rId26" Type="http://schemas.openxmlformats.org/officeDocument/2006/relationships/slideLayout" Target="../slideLayouts/slideLayout4.xml"/><Relationship Id="rId25" Type="http://schemas.openxmlformats.org/officeDocument/2006/relationships/image" Target="../media/image30.emf"/><Relationship Id="rId24" Type="http://schemas.openxmlformats.org/officeDocument/2006/relationships/image" Target="../media/image29.png"/><Relationship Id="rId23" Type="http://schemas.openxmlformats.org/officeDocument/2006/relationships/tags" Target="../tags/tag77.xml"/><Relationship Id="rId22" Type="http://schemas.openxmlformats.org/officeDocument/2006/relationships/image" Target="../media/image28.emf"/><Relationship Id="rId21" Type="http://schemas.openxmlformats.org/officeDocument/2006/relationships/tags" Target="../tags/tag76.xml"/><Relationship Id="rId20" Type="http://schemas.openxmlformats.org/officeDocument/2006/relationships/image" Target="../media/image27.png"/><Relationship Id="rId2" Type="http://schemas.openxmlformats.org/officeDocument/2006/relationships/tags" Target="../tags/tag58.xml"/><Relationship Id="rId19" Type="http://schemas.openxmlformats.org/officeDocument/2006/relationships/tags" Target="../tags/tag75.xml"/><Relationship Id="rId18" Type="http://schemas.openxmlformats.org/officeDocument/2006/relationships/tags" Target="../tags/tag74.xml"/><Relationship Id="rId17" Type="http://schemas.openxmlformats.org/officeDocument/2006/relationships/tags" Target="../tags/tag73.xml"/><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tags" Target="../tags/tag68.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tags" Target="../tags/tag5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5.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5.xml"/><Relationship Id="rId2" Type="http://schemas.openxmlformats.org/officeDocument/2006/relationships/tags" Target="../tags/tag84.xml"/><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32.png"/></Relationships>
</file>

<file path=ppt/slides/_rels/slide17.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image" Target="../media/image35.png"/><Relationship Id="rId21" Type="http://schemas.openxmlformats.org/officeDocument/2006/relationships/slideLayout" Target="../slideLayouts/slideLayout5.xml"/><Relationship Id="rId20" Type="http://schemas.openxmlformats.org/officeDocument/2006/relationships/tags" Target="../tags/tag101.xml"/><Relationship Id="rId2" Type="http://schemas.openxmlformats.org/officeDocument/2006/relationships/image" Target="../media/image34.png"/><Relationship Id="rId19" Type="http://schemas.openxmlformats.org/officeDocument/2006/relationships/tags" Target="../tags/tag100.xml"/><Relationship Id="rId18" Type="http://schemas.openxmlformats.org/officeDocument/2006/relationships/tags" Target="../tags/tag99.xml"/><Relationship Id="rId17" Type="http://schemas.openxmlformats.org/officeDocument/2006/relationships/tags" Target="../tags/tag98.xml"/><Relationship Id="rId16" Type="http://schemas.openxmlformats.org/officeDocument/2006/relationships/tags" Target="../tags/tag97.xml"/><Relationship Id="rId15" Type="http://schemas.openxmlformats.org/officeDocument/2006/relationships/tags" Target="../tags/tag96.xml"/><Relationship Id="rId14" Type="http://schemas.openxmlformats.org/officeDocument/2006/relationships/tags" Target="../tags/tag95.xml"/><Relationship Id="rId13" Type="http://schemas.openxmlformats.org/officeDocument/2006/relationships/tags" Target="../tags/tag94.xml"/><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6.emf"/></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7.png"/><Relationship Id="rId1" Type="http://schemas.openxmlformats.org/officeDocument/2006/relationships/tags" Target="../tags/tag10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8.png"/><Relationship Id="rId1" Type="http://schemas.openxmlformats.org/officeDocument/2006/relationships/tags" Target="../tags/tag10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9.png"/><Relationship Id="rId1" Type="http://schemas.openxmlformats.org/officeDocument/2006/relationships/tags" Target="../tags/tag10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5.xml"/></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tags" Target="../tags/tag113.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7" Type="http://schemas.openxmlformats.org/officeDocument/2006/relationships/notesSlide" Target="../notesSlides/notesSlide17.xml"/><Relationship Id="rId16" Type="http://schemas.openxmlformats.org/officeDocument/2006/relationships/vmlDrawing" Target="../drawings/vmlDrawing4.vml"/><Relationship Id="rId15" Type="http://schemas.openxmlformats.org/officeDocument/2006/relationships/slideLayout" Target="../slideLayouts/slideLayout5.xml"/><Relationship Id="rId14" Type="http://schemas.openxmlformats.org/officeDocument/2006/relationships/image" Target="../media/image42.wmf"/><Relationship Id="rId13" Type="http://schemas.openxmlformats.org/officeDocument/2006/relationships/oleObject" Target="../embeddings/oleObject20.bin"/><Relationship Id="rId12" Type="http://schemas.openxmlformats.org/officeDocument/2006/relationships/image" Target="../media/image41.wmf"/><Relationship Id="rId11" Type="http://schemas.openxmlformats.org/officeDocument/2006/relationships/oleObject" Target="../embeddings/oleObject19.bin"/><Relationship Id="rId10" Type="http://schemas.openxmlformats.org/officeDocument/2006/relationships/image" Target="../media/image40.wmf"/><Relationship Id="rId1" Type="http://schemas.openxmlformats.org/officeDocument/2006/relationships/tags" Target="../tags/tag106.xml"/></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5.xml"/><Relationship Id="rId7" Type="http://schemas.openxmlformats.org/officeDocument/2006/relationships/image" Target="../media/image43.emf"/><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4.png"/><Relationship Id="rId1" Type="http://schemas.openxmlformats.org/officeDocument/2006/relationships/tags" Target="../tags/tag120.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5.xml"/><Relationship Id="rId2" Type="http://schemas.openxmlformats.org/officeDocument/2006/relationships/tags" Target="../tags/tag121.xml"/><Relationship Id="rId1"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3"/>
          <p:cNvSpPr txBox="1"/>
          <p:nvPr/>
        </p:nvSpPr>
        <p:spPr>
          <a:xfrm>
            <a:off x="3127375" y="342809"/>
            <a:ext cx="3867785"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6"/>
                </a:solidFill>
                <a:latin typeface="华文行楷" panose="02010800040101010101" charset="-122"/>
                <a:ea typeface="华文行楷" panose="02010800040101010101" charset="-122"/>
              </a:rPr>
              <a:t>诚朴雄伟</a:t>
            </a:r>
            <a:r>
              <a:rPr lang="en-US" altLang="zh-CN" sz="3200" dirty="0">
                <a:solidFill>
                  <a:schemeClr val="accent6"/>
                </a:solidFill>
                <a:latin typeface="华文行楷" panose="02010800040101010101" charset="-122"/>
                <a:ea typeface="华文行楷" panose="02010800040101010101" charset="-122"/>
              </a:rPr>
              <a:t> </a:t>
            </a:r>
            <a:r>
              <a:rPr lang="zh-CN" altLang="en-US" sz="3200" dirty="0">
                <a:solidFill>
                  <a:schemeClr val="accent6"/>
                </a:solidFill>
                <a:latin typeface="华文行楷" panose="02010800040101010101" charset="-122"/>
                <a:ea typeface="华文行楷" panose="02010800040101010101" charset="-122"/>
              </a:rPr>
              <a:t>励学敦</a:t>
            </a:r>
            <a:r>
              <a:rPr lang="zh-CN" altLang="en-US" sz="3200" dirty="0">
                <a:solidFill>
                  <a:schemeClr val="accent6"/>
                </a:solidFill>
                <a:latin typeface="华文行楷" panose="02010800040101010101" charset="-122"/>
                <a:ea typeface="华文行楷" panose="02010800040101010101" charset="-122"/>
              </a:rPr>
              <a:t>行</a:t>
            </a:r>
            <a:endParaRPr lang="zh-CN" altLang="en-US" sz="3200" dirty="0">
              <a:solidFill>
                <a:schemeClr val="accent6"/>
              </a:solidFill>
              <a:latin typeface="华文行楷" panose="02010800040101010101" charset="-122"/>
              <a:ea typeface="华文行楷" panose="02010800040101010101" charset="-122"/>
            </a:endParaRPr>
          </a:p>
        </p:txBody>
      </p:sp>
      <p:sp>
        <p:nvSpPr>
          <p:cNvPr id="10" name="矩形 9"/>
          <p:cNvSpPr/>
          <p:nvPr/>
        </p:nvSpPr>
        <p:spPr>
          <a:xfrm>
            <a:off x="0" y="0"/>
            <a:ext cx="12192000" cy="682371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5" name="直接连接符 24"/>
          <p:cNvCxnSpPr/>
          <p:nvPr/>
        </p:nvCxnSpPr>
        <p:spPr>
          <a:xfrm flipH="1">
            <a:off x="8239125" y="111506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flipH="1">
            <a:off x="8239125" y="1177925"/>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flipV="1">
            <a:off x="-9525" y="447929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flipV="1">
            <a:off x="2649855" y="4260215"/>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1880870" y="3268345"/>
            <a:ext cx="8187690" cy="521970"/>
          </a:xfrm>
          <a:prstGeom prst="rect">
            <a:avLst/>
          </a:prstGeom>
          <a:noFill/>
        </p:spPr>
        <p:txBody>
          <a:bodyPr wrap="square" rtlCol="0">
            <a:spAutoFit/>
          </a:bodyPr>
          <a:lstStyle/>
          <a:p>
            <a:pPr algn="ctr"/>
            <a:r>
              <a:rPr lang="zh-CN" altLang="en-US" sz="2800" dirty="0">
                <a:ln w="0"/>
                <a:uFillTx/>
                <a:latin typeface="方正小标宋简体" panose="02000000000000000000" charset="-122"/>
                <a:ea typeface="方正小标宋简体" panose="02000000000000000000" charset="-122"/>
              </a:rPr>
              <a:t>——</a:t>
            </a:r>
            <a:r>
              <a:rPr lang="en-US" altLang="zh-CN" sz="2400" dirty="0">
                <a:latin typeface="Times New Roman" panose="02020603050405020304" charset="0"/>
                <a:cs typeface="Times New Roman" panose="02020603050405020304" charset="0"/>
              </a:rPr>
              <a:t>David Lagakos, Michael E. Waugh</a:t>
            </a:r>
            <a:endParaRPr lang="en-US" altLang="zh-CN" sz="2400" dirty="0">
              <a:ln w="0"/>
              <a:uFillTx/>
              <a:latin typeface="Times New Roman" panose="02020603050405020304" charset="0"/>
              <a:ea typeface="方正小标宋简体" panose="02000000000000000000" charset="-122"/>
              <a:cs typeface="Times New Roman" panose="02020603050405020304" charset="0"/>
            </a:endParaRPr>
          </a:p>
        </p:txBody>
      </p:sp>
      <p:sp>
        <p:nvSpPr>
          <p:cNvPr id="50" name="矩形 49"/>
          <p:cNvSpPr/>
          <p:nvPr/>
        </p:nvSpPr>
        <p:spPr>
          <a:xfrm>
            <a:off x="572770" y="2034540"/>
            <a:ext cx="11141710" cy="685800"/>
          </a:xfrm>
          <a:prstGeom prst="rect">
            <a:avLst/>
          </a:prstGeom>
        </p:spPr>
        <p:txBody>
          <a:bodyPr wrap="square">
            <a:noAutofit/>
          </a:bodyPr>
          <a:lstStyle/>
          <a:p>
            <a:pPr algn="ctr"/>
            <a:r>
              <a:rPr lang="en-US" altLang="zh-CN" sz="3200" dirty="0">
                <a:solidFill>
                  <a:schemeClr val="tx1"/>
                </a:solidFill>
                <a:latin typeface="Times New Roman" panose="02020603050405020304" charset="0"/>
                <a:cs typeface="Times New Roman" panose="02020603050405020304" charset="0"/>
                <a:sym typeface="+mn-ea"/>
              </a:rPr>
              <a:t>SELECTION, AGRICULTURE, AND CROSS-COUNTRY PRODUCTIVITY</a:t>
            </a:r>
            <a:endParaRPr lang="en-US" altLang="zh-CN" sz="3200" dirty="0">
              <a:solidFill>
                <a:schemeClr val="tx1"/>
              </a:solidFill>
              <a:latin typeface="Times New Roman" panose="02020603050405020304" charset="0"/>
              <a:cs typeface="Times New Roman" panose="02020603050405020304" charset="0"/>
            </a:endParaRPr>
          </a:p>
        </p:txBody>
      </p:sp>
      <p:sp>
        <p:nvSpPr>
          <p:cNvPr id="47" name="文本框 46"/>
          <p:cNvSpPr txBox="1"/>
          <p:nvPr>
            <p:custDataLst>
              <p:tags r:id="rId1"/>
            </p:custDataLst>
          </p:nvPr>
        </p:nvSpPr>
        <p:spPr>
          <a:xfrm>
            <a:off x="824230" y="4898390"/>
            <a:ext cx="3041015" cy="584200"/>
          </a:xfrm>
          <a:prstGeom prst="rect">
            <a:avLst/>
          </a:prstGeom>
          <a:noFill/>
          <a:ln>
            <a:solidFill>
              <a:schemeClr val="bg1"/>
            </a:solidFill>
          </a:ln>
          <a:extLst>
            <a:ext uri="{909E8E84-426E-40DD-AFC4-6F175D3DCCD1}">
              <a14:hiddenFill xmlns:a14="http://schemas.microsoft.com/office/drawing/2010/main">
                <a:gradFill>
                  <a:gsLst>
                    <a:gs pos="0">
                      <a:srgbClr val="9B0000"/>
                    </a:gs>
                    <a:gs pos="99000">
                      <a:srgbClr val="CD8080">
                        <a:alpha val="100000"/>
                      </a:srgbClr>
                    </a:gs>
                    <a:gs pos="0">
                      <a:srgbClr val="9B0000"/>
                    </a:gs>
                    <a:gs pos="0">
                      <a:schemeClr val="bg1">
                        <a:lumMod val="82000"/>
                        <a:lumOff val="18000"/>
                      </a:schemeClr>
                    </a:gs>
                  </a:gsLst>
                  <a:lin ang="10800000" scaled="0"/>
                </a:gradFill>
              </a14:hiddenFill>
            </a:ext>
          </a:extLst>
        </p:spPr>
        <p:txBody>
          <a:bodyPr wrap="square" rtlCol="0">
            <a:noAutofit/>
          </a:bodyPr>
          <a:lstStyle/>
          <a:p>
            <a:endParaRPr lang="en-US" altLang="zh-CN" b="1">
              <a:solidFill>
                <a:schemeClr val="tx1"/>
              </a:solidFill>
              <a:latin typeface="+mj-ea"/>
              <a:ea typeface="+mj-ea"/>
              <a:cs typeface="+mj-ea"/>
            </a:endParaRPr>
          </a:p>
        </p:txBody>
      </p:sp>
      <p:sp>
        <p:nvSpPr>
          <p:cNvPr id="55" name="文本框 54"/>
          <p:cNvSpPr txBox="1"/>
          <p:nvPr>
            <p:custDataLst>
              <p:tags r:id="rId2"/>
            </p:custDataLst>
          </p:nvPr>
        </p:nvSpPr>
        <p:spPr>
          <a:xfrm>
            <a:off x="911860" y="4898390"/>
            <a:ext cx="2865755" cy="476849"/>
          </a:xfrm>
          <a:prstGeom prst="roundRect">
            <a:avLst>
              <a:gd name="adj" fmla="val 50000"/>
            </a:avLst>
          </a:prstGeom>
          <a:noFill/>
          <a:ln>
            <a:gradFill>
              <a:gsLst>
                <a:gs pos="0">
                  <a:schemeClr val="accent6"/>
                </a:gs>
                <a:gs pos="100000">
                  <a:schemeClr val="bg1"/>
                </a:gs>
              </a:gsLst>
              <a:lin ang="16200000" scaled="1"/>
              <a:tileRect/>
            </a:gradFill>
          </a:ln>
          <a:extLst>
            <a:ext uri="{909E8E84-426E-40DD-AFC4-6F175D3DCCD1}">
              <a14:hiddenFill xmlns:a14="http://schemas.microsoft.com/office/drawing/2010/main">
                <a:solidFill>
                  <a:srgbClr val="9B0000"/>
                </a:solidFill>
              </a14:hiddenFill>
            </a:ext>
          </a:extLst>
        </p:spPr>
        <p:txBody>
          <a:bodyPr wrap="square" rtlCol="0">
            <a:spAutoFit/>
          </a:bodyPr>
          <a:lstStyle/>
          <a:p>
            <a:pPr algn="ctr"/>
            <a:r>
              <a:rPr lang="zh-CN" sz="1600" b="1">
                <a:solidFill>
                  <a:schemeClr val="tx1"/>
                </a:solidFill>
                <a:latin typeface="+mj-ea"/>
                <a:ea typeface="+mj-ea"/>
                <a:cs typeface="+mj-ea"/>
              </a:rPr>
              <a:t>微观计量经济学</a:t>
            </a:r>
            <a:r>
              <a:rPr lang="zh-CN" sz="1600" b="1">
                <a:solidFill>
                  <a:schemeClr val="tx1"/>
                </a:solidFill>
                <a:latin typeface="+mj-ea"/>
                <a:ea typeface="+mj-ea"/>
                <a:cs typeface="+mj-ea"/>
              </a:rPr>
              <a:t>应用</a:t>
            </a:r>
            <a:endParaRPr lang="zh-CN" sz="1600" b="1">
              <a:solidFill>
                <a:schemeClr val="tx1"/>
              </a:solidFill>
              <a:latin typeface="+mj-ea"/>
              <a:ea typeface="+mj-ea"/>
              <a:cs typeface="+mj-ea"/>
            </a:endParaRPr>
          </a:p>
        </p:txBody>
      </p:sp>
      <p:sp>
        <p:nvSpPr>
          <p:cNvPr id="57" name="文本框 56"/>
          <p:cNvSpPr txBox="1"/>
          <p:nvPr>
            <p:custDataLst>
              <p:tags r:id="rId3"/>
            </p:custDataLst>
          </p:nvPr>
        </p:nvSpPr>
        <p:spPr>
          <a:xfrm>
            <a:off x="4530725" y="4898390"/>
            <a:ext cx="3041015" cy="584200"/>
          </a:xfrm>
          <a:prstGeom prst="rect">
            <a:avLst/>
          </a:prstGeom>
          <a:noFill/>
          <a:ln>
            <a:solidFill>
              <a:schemeClr val="bg1"/>
            </a:solidFill>
          </a:ln>
          <a:extLst>
            <a:ext uri="{909E8E84-426E-40DD-AFC4-6F175D3DCCD1}">
              <a14:hiddenFill xmlns:a14="http://schemas.microsoft.com/office/drawing/2010/main">
                <a:gradFill>
                  <a:gsLst>
                    <a:gs pos="0">
                      <a:srgbClr val="9B0000"/>
                    </a:gs>
                    <a:gs pos="99000">
                      <a:srgbClr val="CD8080">
                        <a:alpha val="100000"/>
                      </a:srgbClr>
                    </a:gs>
                    <a:gs pos="0">
                      <a:srgbClr val="9B0000"/>
                    </a:gs>
                    <a:gs pos="0">
                      <a:schemeClr val="bg1">
                        <a:lumMod val="82000"/>
                        <a:lumOff val="18000"/>
                      </a:schemeClr>
                    </a:gs>
                  </a:gsLst>
                  <a:lin ang="10800000" scaled="0"/>
                </a:gradFill>
              </a14:hiddenFill>
            </a:ext>
          </a:extLst>
        </p:spPr>
        <p:txBody>
          <a:bodyPr wrap="square" rtlCol="0">
            <a:noAutofit/>
          </a:bodyPr>
          <a:lstStyle/>
          <a:p>
            <a:endParaRPr lang="en-US" altLang="zh-CN" b="1">
              <a:solidFill>
                <a:schemeClr val="tx1"/>
              </a:solidFill>
              <a:latin typeface="+mj-ea"/>
              <a:ea typeface="+mj-ea"/>
              <a:cs typeface="+mj-ea"/>
            </a:endParaRPr>
          </a:p>
        </p:txBody>
      </p:sp>
      <p:sp>
        <p:nvSpPr>
          <p:cNvPr id="59" name="文本框 58"/>
          <p:cNvSpPr txBox="1"/>
          <p:nvPr>
            <p:custDataLst>
              <p:tags r:id="rId4"/>
            </p:custDataLst>
          </p:nvPr>
        </p:nvSpPr>
        <p:spPr>
          <a:xfrm>
            <a:off x="4618355" y="4898390"/>
            <a:ext cx="2865755" cy="476849"/>
          </a:xfrm>
          <a:prstGeom prst="roundRect">
            <a:avLst>
              <a:gd name="adj" fmla="val 50000"/>
            </a:avLst>
          </a:prstGeom>
          <a:noFill/>
          <a:ln>
            <a:gradFill>
              <a:gsLst>
                <a:gs pos="0">
                  <a:schemeClr val="accent6"/>
                </a:gs>
                <a:gs pos="100000">
                  <a:schemeClr val="bg1"/>
                </a:gs>
              </a:gsLst>
              <a:lin ang="16200000" scaled="1"/>
              <a:tileRect/>
            </a:gradFill>
          </a:ln>
          <a:extLst>
            <a:ext uri="{909E8E84-426E-40DD-AFC4-6F175D3DCCD1}">
              <a14:hiddenFill xmlns:a14="http://schemas.microsoft.com/office/drawing/2010/main">
                <a:solidFill>
                  <a:srgbClr val="9B0000"/>
                </a:solidFill>
              </a14:hiddenFill>
            </a:ext>
          </a:extLst>
        </p:spPr>
        <p:txBody>
          <a:bodyPr wrap="square" rtlCol="0">
            <a:spAutoFit/>
          </a:bodyPr>
          <a:lstStyle/>
          <a:p>
            <a:pPr lvl="0" algn="ctr">
              <a:buClrTx/>
              <a:buSzTx/>
              <a:buFontTx/>
            </a:pPr>
            <a:r>
              <a:rPr lang="zh-CN" altLang="en-US" sz="1600" b="1">
                <a:latin typeface="+mj-ea"/>
                <a:ea typeface="+mj-ea"/>
                <a:cs typeface="+mj-ea"/>
                <a:sym typeface="+mn-ea"/>
              </a:rPr>
              <a:t>组员：朱迅</a:t>
            </a:r>
            <a:r>
              <a:rPr lang="en-US" altLang="zh-CN" sz="1600" b="1">
                <a:latin typeface="+mj-ea"/>
                <a:ea typeface="+mj-ea"/>
                <a:cs typeface="+mj-ea"/>
                <a:sym typeface="+mn-ea"/>
              </a:rPr>
              <a:t>  </a:t>
            </a:r>
            <a:r>
              <a:rPr lang="zh-CN" altLang="en-US" sz="1600" b="1">
                <a:latin typeface="+mj-ea"/>
                <a:ea typeface="+mj-ea"/>
                <a:cs typeface="+mj-ea"/>
                <a:sym typeface="+mn-ea"/>
              </a:rPr>
              <a:t>赵佳琳</a:t>
            </a:r>
            <a:endParaRPr lang="zh-CN" altLang="en-US" sz="1600" b="1">
              <a:latin typeface="+mj-ea"/>
              <a:ea typeface="+mj-ea"/>
              <a:cs typeface="+mj-ea"/>
              <a:sym typeface="+mn-ea"/>
            </a:endParaRPr>
          </a:p>
        </p:txBody>
      </p:sp>
      <p:sp>
        <p:nvSpPr>
          <p:cNvPr id="61" name="文本框 60"/>
          <p:cNvSpPr txBox="1"/>
          <p:nvPr>
            <p:custDataLst>
              <p:tags r:id="rId5"/>
            </p:custDataLst>
          </p:nvPr>
        </p:nvSpPr>
        <p:spPr>
          <a:xfrm>
            <a:off x="8237220" y="4898390"/>
            <a:ext cx="3041015" cy="584200"/>
          </a:xfrm>
          <a:prstGeom prst="rect">
            <a:avLst/>
          </a:prstGeom>
          <a:noFill/>
          <a:ln>
            <a:solidFill>
              <a:schemeClr val="bg1"/>
            </a:solidFill>
          </a:ln>
          <a:extLst>
            <a:ext uri="{909E8E84-426E-40DD-AFC4-6F175D3DCCD1}">
              <a14:hiddenFill xmlns:a14="http://schemas.microsoft.com/office/drawing/2010/main">
                <a:gradFill>
                  <a:gsLst>
                    <a:gs pos="0">
                      <a:srgbClr val="9B0000"/>
                    </a:gs>
                    <a:gs pos="99000">
                      <a:srgbClr val="CD8080">
                        <a:alpha val="100000"/>
                      </a:srgbClr>
                    </a:gs>
                    <a:gs pos="0">
                      <a:srgbClr val="9B0000"/>
                    </a:gs>
                    <a:gs pos="0">
                      <a:schemeClr val="bg1">
                        <a:lumMod val="82000"/>
                        <a:lumOff val="18000"/>
                      </a:schemeClr>
                    </a:gs>
                  </a:gsLst>
                  <a:lin ang="10800000" scaled="0"/>
                </a:gradFill>
              </a14:hiddenFill>
            </a:ext>
          </a:extLst>
        </p:spPr>
        <p:txBody>
          <a:bodyPr wrap="square" rtlCol="0">
            <a:noAutofit/>
          </a:bodyPr>
          <a:lstStyle/>
          <a:p>
            <a:endParaRPr lang="en-US" altLang="zh-CN" b="1">
              <a:solidFill>
                <a:schemeClr val="tx1"/>
              </a:solidFill>
              <a:latin typeface="+mj-ea"/>
              <a:ea typeface="+mj-ea"/>
              <a:cs typeface="+mj-ea"/>
            </a:endParaRPr>
          </a:p>
        </p:txBody>
      </p:sp>
      <p:sp>
        <p:nvSpPr>
          <p:cNvPr id="63" name="文本框 62"/>
          <p:cNvSpPr txBox="1"/>
          <p:nvPr>
            <p:custDataLst>
              <p:tags r:id="rId6"/>
            </p:custDataLst>
          </p:nvPr>
        </p:nvSpPr>
        <p:spPr>
          <a:xfrm>
            <a:off x="8324850" y="4898390"/>
            <a:ext cx="2865755" cy="476849"/>
          </a:xfrm>
          <a:prstGeom prst="roundRect">
            <a:avLst>
              <a:gd name="adj" fmla="val 50000"/>
            </a:avLst>
          </a:prstGeom>
          <a:noFill/>
          <a:ln>
            <a:gradFill>
              <a:gsLst>
                <a:gs pos="0">
                  <a:schemeClr val="accent6"/>
                </a:gs>
                <a:gs pos="100000">
                  <a:schemeClr val="bg1"/>
                </a:gs>
              </a:gsLst>
              <a:lin ang="16200000" scaled="1"/>
              <a:tileRect/>
            </a:gradFill>
          </a:ln>
          <a:extLst>
            <a:ext uri="{909E8E84-426E-40DD-AFC4-6F175D3DCCD1}">
              <a14:hiddenFill xmlns:a14="http://schemas.microsoft.com/office/drawing/2010/main">
                <a:solidFill>
                  <a:srgbClr val="9B0000"/>
                </a:solidFill>
              </a14:hiddenFill>
            </a:ext>
          </a:extLst>
        </p:spPr>
        <p:txBody>
          <a:bodyPr wrap="square" rtlCol="0">
            <a:spAutoFit/>
          </a:bodyPr>
          <a:lstStyle/>
          <a:p>
            <a:pPr lvl="0" algn="ctr">
              <a:buClrTx/>
              <a:buSzTx/>
              <a:buFontTx/>
            </a:pPr>
            <a:r>
              <a:rPr lang="en-US" altLang="zh-CN" sz="1600" b="1">
                <a:latin typeface="+mj-ea"/>
                <a:ea typeface="+mj-ea"/>
                <a:cs typeface="+mj-ea"/>
                <a:sym typeface="+mn-ea"/>
              </a:rPr>
              <a:t>2026.10.15</a:t>
            </a:r>
            <a:endParaRPr lang="en-US" altLang="zh-CN" sz="1600" b="1">
              <a:latin typeface="+mj-ea"/>
              <a:ea typeface="+mj-ea"/>
              <a:cs typeface="+mj-ea"/>
              <a:sym typeface="+mn-ea"/>
            </a:endParaRPr>
          </a:p>
        </p:txBody>
      </p:sp>
      <p:grpSp>
        <p:nvGrpSpPr>
          <p:cNvPr id="2" name="组合 1"/>
          <p:cNvGrpSpPr/>
          <p:nvPr/>
        </p:nvGrpSpPr>
        <p:grpSpPr>
          <a:xfrm>
            <a:off x="0" y="5507990"/>
            <a:ext cx="12195175" cy="1362075"/>
            <a:chOff x="0" y="5507990"/>
            <a:chExt cx="12195175" cy="1362075"/>
          </a:xfrm>
        </p:grpSpPr>
        <p:sp>
          <p:nvSpPr>
            <p:cNvPr id="689" name="任意多边形 688"/>
            <p:cNvSpPr/>
            <p:nvPr/>
          </p:nvSpPr>
          <p:spPr>
            <a:xfrm>
              <a:off x="3175" y="5507990"/>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88" name="任意多边形 687"/>
            <p:cNvSpPr/>
            <p:nvPr/>
          </p:nvSpPr>
          <p:spPr>
            <a:xfrm>
              <a:off x="0" y="555180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83" name="任意多边形 682"/>
            <p:cNvSpPr/>
            <p:nvPr/>
          </p:nvSpPr>
          <p:spPr>
            <a:xfrm>
              <a:off x="0" y="558482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alpha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90" name="任意多边形 689"/>
            <p:cNvSpPr/>
            <p:nvPr/>
          </p:nvSpPr>
          <p:spPr>
            <a:xfrm>
              <a:off x="1270" y="5645785"/>
              <a:ext cx="12192000" cy="122428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pic>
        <p:nvPicPr>
          <p:cNvPr id="6" name="图片 5" descr="03校标，中、英文校名组合"/>
          <p:cNvPicPr>
            <a:picLocks noChangeAspect="1"/>
          </p:cNvPicPr>
          <p:nvPr userDrawn="1"/>
        </p:nvPicPr>
        <p:blipFill>
          <a:blip r:embed="rId7"/>
          <a:stretch>
            <a:fillRect/>
          </a:stretch>
        </p:blipFill>
        <p:spPr>
          <a:xfrm>
            <a:off x="260350" y="137160"/>
            <a:ext cx="2588895" cy="823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rot="5400000" flipH="1">
            <a:off x="-2727325" y="2754630"/>
            <a:ext cx="6844030" cy="1362075"/>
            <a:chOff x="0" y="8654"/>
            <a:chExt cx="19205" cy="2145"/>
          </a:xfrm>
          <a:effectLst>
            <a:outerShdw blurRad="50800" dist="38100" dir="2700000" algn="tl" rotWithShape="0">
              <a:prstClr val="black">
                <a:alpha val="40000"/>
              </a:prstClr>
            </a:outerShdw>
          </a:effectLst>
        </p:grpSpPr>
        <p:sp>
          <p:nvSpPr>
            <p:cNvPr id="26" name="任意多边形 25"/>
            <p:cNvSpPr/>
            <p:nvPr/>
          </p:nvSpPr>
          <p:spPr>
            <a:xfrm>
              <a:off x="5" y="8654"/>
              <a:ext cx="19200" cy="1958"/>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8" name="任意多边形 27"/>
            <p:cNvSpPr/>
            <p:nvPr/>
          </p:nvSpPr>
          <p:spPr>
            <a:xfrm>
              <a:off x="0" y="8723"/>
              <a:ext cx="19200" cy="1958"/>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9" name="任意多边形 28"/>
            <p:cNvSpPr/>
            <p:nvPr/>
          </p:nvSpPr>
          <p:spPr>
            <a:xfrm>
              <a:off x="0" y="8775"/>
              <a:ext cx="19200" cy="1958"/>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alpha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2" name="任意多边形 31"/>
            <p:cNvSpPr/>
            <p:nvPr/>
          </p:nvSpPr>
          <p:spPr>
            <a:xfrm>
              <a:off x="2" y="8871"/>
              <a:ext cx="19200" cy="1928"/>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39" name="矩形 38"/>
          <p:cNvSpPr/>
          <p:nvPr/>
        </p:nvSpPr>
        <p:spPr>
          <a:xfrm>
            <a:off x="12060555" y="2115503"/>
            <a:ext cx="131445" cy="2626995"/>
          </a:xfrm>
          <a:prstGeom prst="rect">
            <a:avLst/>
          </a:prstGeom>
          <a:solidFill>
            <a:schemeClr val="accent6"/>
          </a:solidFill>
          <a:ln>
            <a:solidFill>
              <a:schemeClr val="accent6"/>
            </a:solid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文本框 40"/>
          <p:cNvSpPr txBox="1"/>
          <p:nvPr/>
        </p:nvSpPr>
        <p:spPr>
          <a:xfrm>
            <a:off x="1956435" y="477520"/>
            <a:ext cx="1866900" cy="922020"/>
          </a:xfrm>
          <a:prstGeom prst="rect">
            <a:avLst/>
          </a:prstGeom>
          <a:noFill/>
        </p:spPr>
        <p:txBody>
          <a:bodyPr wrap="square" rtlCol="0">
            <a:spAutoFit/>
            <a:scene3d>
              <a:camera prst="orthographicFront"/>
              <a:lightRig rig="threePt" dir="t"/>
            </a:scene3d>
          </a:bodyPr>
          <a:lstStyle/>
          <a:p>
            <a:r>
              <a:rPr lang="zh-CN" altLang="en-US" sz="5400" b="1" dirty="0">
                <a:ln w="9525">
                  <a:solidFill>
                    <a:schemeClr val="bg1"/>
                  </a:solidFill>
                  <a:prstDash val="solid"/>
                </a:ln>
                <a:solidFill>
                  <a:schemeClr val="accent6"/>
                </a:solidFill>
                <a:effectLst>
                  <a:outerShdw blurRad="12700" dist="38100" dir="2700000" algn="tl" rotWithShape="0">
                    <a:schemeClr val="bg1">
                      <a:lumMod val="50000"/>
                    </a:schemeClr>
                  </a:outerShdw>
                </a:effectLst>
                <a:latin typeface="方正小标宋简体" panose="02000000000000000000" charset="-122"/>
                <a:ea typeface="方正小标宋简体" panose="02000000000000000000" charset="-122"/>
              </a:rPr>
              <a:t>目</a:t>
            </a:r>
            <a:r>
              <a:rPr lang="en-US" altLang="zh-CN" sz="5400" b="1" dirty="0">
                <a:ln w="9525">
                  <a:solidFill>
                    <a:schemeClr val="bg1"/>
                  </a:solidFill>
                  <a:prstDash val="solid"/>
                </a:ln>
                <a:solidFill>
                  <a:schemeClr val="accent6"/>
                </a:solidFill>
                <a:effectLst>
                  <a:outerShdw blurRad="12700" dist="38100" dir="2700000" algn="tl" rotWithShape="0">
                    <a:schemeClr val="bg1">
                      <a:lumMod val="50000"/>
                    </a:schemeClr>
                  </a:outerShdw>
                </a:effectLst>
                <a:latin typeface="方正小标宋简体" panose="02000000000000000000" charset="-122"/>
                <a:ea typeface="方正小标宋简体" panose="02000000000000000000" charset="-122"/>
              </a:rPr>
              <a:t> </a:t>
            </a:r>
            <a:r>
              <a:rPr lang="zh-CN" altLang="en-US" sz="5400" b="1" dirty="0">
                <a:ln w="9525">
                  <a:solidFill>
                    <a:schemeClr val="bg1"/>
                  </a:solidFill>
                  <a:prstDash val="solid"/>
                </a:ln>
                <a:solidFill>
                  <a:schemeClr val="accent6"/>
                </a:solidFill>
                <a:effectLst>
                  <a:outerShdw blurRad="12700" dist="38100" dir="2700000" algn="tl" rotWithShape="0">
                    <a:schemeClr val="bg1">
                      <a:lumMod val="50000"/>
                    </a:schemeClr>
                  </a:outerShdw>
                </a:effectLst>
                <a:latin typeface="方正小标宋简体" panose="02000000000000000000" charset="-122"/>
                <a:ea typeface="方正小标宋简体" panose="02000000000000000000" charset="-122"/>
              </a:rPr>
              <a:t>录</a:t>
            </a:r>
            <a:endParaRPr lang="zh-CN" altLang="en-US" sz="5400" b="1" dirty="0">
              <a:ln w="9525">
                <a:solidFill>
                  <a:schemeClr val="bg1"/>
                </a:solidFill>
                <a:prstDash val="solid"/>
              </a:ln>
              <a:solidFill>
                <a:schemeClr val="accent6"/>
              </a:solidFill>
              <a:effectLst>
                <a:outerShdw blurRad="12700" dist="38100" dir="2700000" algn="tl" rotWithShape="0">
                  <a:schemeClr val="bg1">
                    <a:lumMod val="50000"/>
                  </a:schemeClr>
                </a:outerShdw>
              </a:effectLst>
              <a:latin typeface="方正小标宋简体" panose="02000000000000000000" charset="-122"/>
              <a:ea typeface="方正小标宋简体" panose="02000000000000000000" charset="-122"/>
            </a:endParaRPr>
          </a:p>
        </p:txBody>
      </p:sp>
      <p:sp>
        <p:nvSpPr>
          <p:cNvPr id="42" name="文本框 41"/>
          <p:cNvSpPr txBox="1"/>
          <p:nvPr/>
        </p:nvSpPr>
        <p:spPr>
          <a:xfrm>
            <a:off x="3832860" y="668020"/>
            <a:ext cx="3283585" cy="636905"/>
          </a:xfrm>
          <a:prstGeom prst="rect">
            <a:avLst/>
          </a:prstGeom>
          <a:noFill/>
        </p:spPr>
        <p:txBody>
          <a:bodyPr wrap="square" rtlCol="0">
            <a:noAutofit/>
            <a:scene3d>
              <a:camera prst="orthographicFront"/>
              <a:lightRig rig="threePt" dir="t"/>
            </a:scene3d>
          </a:bodyPr>
          <a:lstStyle/>
          <a:p>
            <a:r>
              <a:rPr lang="en-US" altLang="zh-CN" sz="3600" b="1" dirty="0">
                <a:ln w="9525">
                  <a:solidFill>
                    <a:schemeClr val="bg1"/>
                  </a:solidFill>
                  <a:prstDash val="solid"/>
                </a:ln>
                <a:solidFill>
                  <a:schemeClr val="accent6"/>
                </a:solidFill>
                <a:effectLst>
                  <a:outerShdw blurRad="12700" dist="38100" dir="2700000" algn="tl" rotWithShape="0">
                    <a:schemeClr val="bg1">
                      <a:lumMod val="50000"/>
                    </a:schemeClr>
                  </a:outerShdw>
                </a:effectLst>
                <a:latin typeface="Times New Roman" panose="02020603050405020304" charset="0"/>
                <a:cs typeface="Times New Roman" panose="02020603050405020304" charset="0"/>
              </a:rPr>
              <a:t>CONTENTS</a:t>
            </a:r>
            <a:endParaRPr lang="en-US" altLang="zh-CN" sz="3600" b="1" dirty="0">
              <a:ln w="9525">
                <a:solidFill>
                  <a:schemeClr val="bg1"/>
                </a:solidFill>
                <a:prstDash val="solid"/>
              </a:ln>
              <a:solidFill>
                <a:schemeClr val="accent6"/>
              </a:solidFill>
              <a:effectLst>
                <a:outerShdw blurRad="12700" dist="38100" dir="2700000" algn="tl" rotWithShape="0">
                  <a:schemeClr val="bg1">
                    <a:lumMod val="50000"/>
                  </a:schemeClr>
                </a:outerShdw>
              </a:effectLst>
              <a:latin typeface="Times New Roman" panose="02020603050405020304" charset="0"/>
              <a:cs typeface="Times New Roman" panose="02020603050405020304" charset="0"/>
            </a:endParaRPr>
          </a:p>
        </p:txBody>
      </p:sp>
      <p:sp>
        <p:nvSpPr>
          <p:cNvPr id="45" name="矩形 44"/>
          <p:cNvSpPr/>
          <p:nvPr/>
        </p:nvSpPr>
        <p:spPr>
          <a:xfrm flipV="1">
            <a:off x="6850380" y="1170940"/>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custDataLst>
              <p:tags r:id="rId1"/>
            </p:custDataLst>
          </p:nvPr>
        </p:nvSpPr>
        <p:spPr>
          <a:xfrm>
            <a:off x="2232660" y="2854325"/>
            <a:ext cx="1009015" cy="829945"/>
          </a:xfrm>
          <a:prstGeom prst="rect">
            <a:avLst/>
          </a:prstGeom>
          <a:noFill/>
        </p:spPr>
        <p:txBody>
          <a:bodyPr wrap="square" rtlCol="0">
            <a:spAutoFit/>
          </a:bodyPr>
          <a:lstStyle/>
          <a:p>
            <a:r>
              <a:rPr lang="en-US" altLang="zh-CN" sz="4800" i="1" dirty="0">
                <a:solidFill>
                  <a:schemeClr val="accent6"/>
                </a:solidFill>
                <a:latin typeface="方正小标宋简体" panose="02000000000000000000" charset="-122"/>
                <a:ea typeface="方正小标宋简体" panose="02000000000000000000" charset="-122"/>
              </a:rPr>
              <a:t>02</a:t>
            </a:r>
            <a:endParaRPr lang="en-US" altLang="zh-CN" sz="4800" i="1" dirty="0">
              <a:solidFill>
                <a:schemeClr val="accent6"/>
              </a:solidFill>
              <a:latin typeface="方正小标宋简体" panose="02000000000000000000" charset="-122"/>
              <a:ea typeface="方正小标宋简体" panose="02000000000000000000" charset="-122"/>
            </a:endParaRPr>
          </a:p>
        </p:txBody>
      </p:sp>
      <p:sp>
        <p:nvSpPr>
          <p:cNvPr id="56" name="文本框 55"/>
          <p:cNvSpPr txBox="1"/>
          <p:nvPr>
            <p:custDataLst>
              <p:tags r:id="rId2"/>
            </p:custDataLst>
          </p:nvPr>
        </p:nvSpPr>
        <p:spPr>
          <a:xfrm>
            <a:off x="3356610" y="2886710"/>
            <a:ext cx="3044825" cy="651059"/>
          </a:xfrm>
          <a:prstGeom prst="roundRect">
            <a:avLst>
              <a:gd name="adj" fmla="val 49999"/>
            </a:avLst>
          </a:prstGeom>
          <a:noFill/>
          <a:ln>
            <a:gradFill>
              <a:gsLst>
                <a:gs pos="0">
                  <a:schemeClr val="accent6"/>
                </a:gs>
                <a:gs pos="100000">
                  <a:schemeClr val="bg1"/>
                </a:gs>
              </a:gsLst>
              <a:lin ang="16200000" scaled="1"/>
              <a:tileRect/>
            </a:gradFill>
          </a:ln>
          <a:extLst>
            <a:ext uri="{909E8E84-426E-40DD-AFC4-6F175D3DCCD1}">
              <a14:hiddenFill xmlns:a14="http://schemas.microsoft.com/office/drawing/2010/main">
                <a:solidFill>
                  <a:srgbClr val="9B0000"/>
                </a:solidFill>
              </a14:hiddenFill>
            </a:ext>
          </a:extLst>
        </p:spPr>
        <p:txBody>
          <a:bodyPr wrap="square" rtlCol="0">
            <a:spAutoFit/>
          </a:bodyPr>
          <a:lstStyle/>
          <a:p>
            <a:pPr lvl="0" algn="ctr">
              <a:buClrTx/>
              <a:buSzTx/>
              <a:buFontTx/>
            </a:pPr>
            <a:r>
              <a:rPr lang="zh-CN" altLang="en-US" sz="2400" b="1">
                <a:latin typeface="+mj-ea"/>
                <a:ea typeface="+mj-ea"/>
                <a:cs typeface="+mj-ea"/>
                <a:sym typeface="+mn-ea"/>
              </a:rPr>
              <a:t>影响机制</a:t>
            </a:r>
            <a:endParaRPr lang="zh-CN" altLang="en-US" sz="2400" b="1">
              <a:latin typeface="+mj-ea"/>
              <a:ea typeface="+mj-ea"/>
              <a:cs typeface="+mj-ea"/>
              <a:sym typeface="+mn-ea"/>
            </a:endParaRPr>
          </a:p>
        </p:txBody>
      </p:sp>
      <p:sp>
        <p:nvSpPr>
          <p:cNvPr id="58" name="文本框 57"/>
          <p:cNvSpPr txBox="1"/>
          <p:nvPr>
            <p:custDataLst>
              <p:tags r:id="rId3"/>
            </p:custDataLst>
          </p:nvPr>
        </p:nvSpPr>
        <p:spPr>
          <a:xfrm>
            <a:off x="6619875" y="2981960"/>
            <a:ext cx="4123690" cy="460375"/>
          </a:xfrm>
          <a:prstGeom prst="rect">
            <a:avLst/>
          </a:prstGeom>
          <a:noFill/>
        </p:spPr>
        <p:txBody>
          <a:bodyPr wrap="square" rtlCol="0">
            <a:spAutoFit/>
          </a:bodyPr>
          <a:lstStyle/>
          <a:p>
            <a:r>
              <a:rPr lang="en-US" altLang="zh-CN" sz="2400" dirty="0">
                <a:latin typeface="Times New Roman" panose="02020603050405020304" charset="0"/>
                <a:cs typeface="Times New Roman" panose="02020603050405020304" charset="0"/>
              </a:rPr>
              <a:t>Mechanism</a:t>
            </a:r>
            <a:endParaRPr lang="en-US" altLang="zh-CN" sz="2400" dirty="0">
              <a:latin typeface="Times New Roman" panose="02020603050405020304" charset="0"/>
              <a:cs typeface="Times New Roman" panose="02020603050405020304" charset="0"/>
            </a:endParaRPr>
          </a:p>
        </p:txBody>
      </p:sp>
      <p:sp>
        <p:nvSpPr>
          <p:cNvPr id="62" name="文本框 61"/>
          <p:cNvSpPr txBox="1"/>
          <p:nvPr>
            <p:custDataLst>
              <p:tags r:id="rId4"/>
            </p:custDataLst>
          </p:nvPr>
        </p:nvSpPr>
        <p:spPr>
          <a:xfrm>
            <a:off x="2232660" y="3821430"/>
            <a:ext cx="1009015" cy="829945"/>
          </a:xfrm>
          <a:prstGeom prst="rect">
            <a:avLst/>
          </a:prstGeom>
          <a:noFill/>
        </p:spPr>
        <p:txBody>
          <a:bodyPr wrap="square" rtlCol="0">
            <a:spAutoFit/>
          </a:bodyPr>
          <a:lstStyle/>
          <a:p>
            <a:r>
              <a:rPr lang="en-US" altLang="zh-CN" sz="4800" i="1" dirty="0">
                <a:solidFill>
                  <a:schemeClr val="accent6"/>
                </a:solidFill>
                <a:latin typeface="方正小标宋简体" panose="02000000000000000000" charset="-122"/>
                <a:ea typeface="方正小标宋简体" panose="02000000000000000000" charset="-122"/>
              </a:rPr>
              <a:t>03</a:t>
            </a:r>
            <a:endParaRPr lang="en-US" altLang="zh-CN" sz="4800" i="1" dirty="0">
              <a:solidFill>
                <a:schemeClr val="accent6"/>
              </a:solidFill>
              <a:latin typeface="方正小标宋简体" panose="02000000000000000000" charset="-122"/>
              <a:ea typeface="方正小标宋简体" panose="02000000000000000000" charset="-122"/>
            </a:endParaRPr>
          </a:p>
        </p:txBody>
      </p:sp>
      <p:sp>
        <p:nvSpPr>
          <p:cNvPr id="64" name="文本框 63"/>
          <p:cNvSpPr txBox="1"/>
          <p:nvPr>
            <p:custDataLst>
              <p:tags r:id="rId5"/>
            </p:custDataLst>
          </p:nvPr>
        </p:nvSpPr>
        <p:spPr>
          <a:xfrm>
            <a:off x="3356610" y="3853815"/>
            <a:ext cx="3044825" cy="651059"/>
          </a:xfrm>
          <a:prstGeom prst="roundRect">
            <a:avLst>
              <a:gd name="adj" fmla="val 49999"/>
            </a:avLst>
          </a:prstGeom>
          <a:noFill/>
          <a:ln>
            <a:gradFill>
              <a:gsLst>
                <a:gs pos="0">
                  <a:schemeClr val="accent6"/>
                </a:gs>
                <a:gs pos="100000">
                  <a:schemeClr val="bg1"/>
                </a:gs>
              </a:gsLst>
              <a:lin ang="16200000" scaled="1"/>
              <a:tileRect/>
            </a:gradFill>
          </a:ln>
          <a:extLst>
            <a:ext uri="{909E8E84-426E-40DD-AFC4-6F175D3DCCD1}">
              <a14:hiddenFill xmlns:a14="http://schemas.microsoft.com/office/drawing/2010/main">
                <a:solidFill>
                  <a:srgbClr val="9B0000"/>
                </a:solidFill>
              </a14:hiddenFill>
            </a:ext>
          </a:extLst>
        </p:spPr>
        <p:txBody>
          <a:bodyPr wrap="square" rtlCol="0">
            <a:spAutoFit/>
          </a:bodyPr>
          <a:lstStyle/>
          <a:p>
            <a:pPr lvl="0" algn="ctr">
              <a:buClrTx/>
              <a:buSzTx/>
              <a:buFontTx/>
            </a:pPr>
            <a:r>
              <a:rPr lang="zh-CN" altLang="en-US" sz="2400" b="1">
                <a:latin typeface="+mj-ea"/>
                <a:ea typeface="+mj-ea"/>
                <a:cs typeface="+mj-ea"/>
                <a:sym typeface="+mn-ea"/>
              </a:rPr>
              <a:t>模型</a:t>
            </a:r>
            <a:r>
              <a:rPr lang="zh-CN" altLang="en-US" sz="2400" b="1">
                <a:latin typeface="+mj-ea"/>
                <a:ea typeface="+mj-ea"/>
                <a:cs typeface="+mj-ea"/>
                <a:sym typeface="+mn-ea"/>
              </a:rPr>
              <a:t>设定</a:t>
            </a:r>
            <a:endParaRPr lang="zh-CN" altLang="en-US" sz="2400" b="1">
              <a:latin typeface="+mj-ea"/>
              <a:ea typeface="+mj-ea"/>
              <a:cs typeface="+mj-ea"/>
              <a:sym typeface="+mn-ea"/>
            </a:endParaRPr>
          </a:p>
        </p:txBody>
      </p:sp>
      <p:sp>
        <p:nvSpPr>
          <p:cNvPr id="65" name="文本框 64"/>
          <p:cNvSpPr txBox="1"/>
          <p:nvPr>
            <p:custDataLst>
              <p:tags r:id="rId6"/>
            </p:custDataLst>
          </p:nvPr>
        </p:nvSpPr>
        <p:spPr>
          <a:xfrm>
            <a:off x="6619875" y="3949065"/>
            <a:ext cx="4123690" cy="460375"/>
          </a:xfrm>
          <a:prstGeom prst="rect">
            <a:avLst/>
          </a:prstGeom>
          <a:noFill/>
        </p:spPr>
        <p:txBody>
          <a:bodyPr wrap="square" rtlCol="0">
            <a:spAutoFit/>
          </a:bodyPr>
          <a:lstStyle/>
          <a:p>
            <a:r>
              <a:rPr lang="en-US" altLang="zh-CN" sz="2400" dirty="0">
                <a:latin typeface="Times New Roman" panose="02020603050405020304" charset="0"/>
                <a:cs typeface="Times New Roman" panose="02020603050405020304" charset="0"/>
              </a:rPr>
              <a:t>Model Setup</a:t>
            </a:r>
            <a:endParaRPr lang="en-US" altLang="zh-CN" sz="2400" dirty="0">
              <a:latin typeface="Times New Roman" panose="02020603050405020304" charset="0"/>
              <a:cs typeface="Times New Roman" panose="02020603050405020304" charset="0"/>
            </a:endParaRPr>
          </a:p>
        </p:txBody>
      </p:sp>
      <p:sp>
        <p:nvSpPr>
          <p:cNvPr id="67" name="文本框 66"/>
          <p:cNvSpPr txBox="1"/>
          <p:nvPr>
            <p:custDataLst>
              <p:tags r:id="rId7"/>
            </p:custDataLst>
          </p:nvPr>
        </p:nvSpPr>
        <p:spPr>
          <a:xfrm>
            <a:off x="2232660" y="4788535"/>
            <a:ext cx="1009015" cy="829945"/>
          </a:xfrm>
          <a:prstGeom prst="rect">
            <a:avLst/>
          </a:prstGeom>
          <a:noFill/>
        </p:spPr>
        <p:txBody>
          <a:bodyPr wrap="square" rtlCol="0">
            <a:spAutoFit/>
          </a:bodyPr>
          <a:lstStyle/>
          <a:p>
            <a:r>
              <a:rPr lang="en-US" altLang="zh-CN" sz="4800" i="1">
                <a:solidFill>
                  <a:schemeClr val="accent6"/>
                </a:solidFill>
                <a:latin typeface="方正小标宋简体" panose="02000000000000000000" charset="-122"/>
                <a:ea typeface="方正小标宋简体" panose="02000000000000000000" charset="-122"/>
              </a:rPr>
              <a:t>04</a:t>
            </a:r>
            <a:endParaRPr lang="en-US" altLang="zh-CN" sz="4800" i="1">
              <a:solidFill>
                <a:schemeClr val="accent6"/>
              </a:solidFill>
              <a:latin typeface="方正小标宋简体" panose="02000000000000000000" charset="-122"/>
              <a:ea typeface="方正小标宋简体" panose="02000000000000000000" charset="-122"/>
            </a:endParaRPr>
          </a:p>
        </p:txBody>
      </p:sp>
      <p:sp>
        <p:nvSpPr>
          <p:cNvPr id="68" name="文本框 67"/>
          <p:cNvSpPr txBox="1"/>
          <p:nvPr>
            <p:custDataLst>
              <p:tags r:id="rId8"/>
            </p:custDataLst>
          </p:nvPr>
        </p:nvSpPr>
        <p:spPr>
          <a:xfrm>
            <a:off x="3356610" y="4820920"/>
            <a:ext cx="3044825" cy="651059"/>
          </a:xfrm>
          <a:prstGeom prst="roundRect">
            <a:avLst>
              <a:gd name="adj" fmla="val 49999"/>
            </a:avLst>
          </a:prstGeom>
          <a:noFill/>
          <a:ln>
            <a:gradFill>
              <a:gsLst>
                <a:gs pos="0">
                  <a:schemeClr val="accent6"/>
                </a:gs>
                <a:gs pos="100000">
                  <a:schemeClr val="bg1"/>
                </a:gs>
              </a:gsLst>
              <a:lin ang="16200000" scaled="1"/>
              <a:tileRect/>
            </a:gradFill>
          </a:ln>
          <a:extLst>
            <a:ext uri="{909E8E84-426E-40DD-AFC4-6F175D3DCCD1}">
              <a14:hiddenFill xmlns:a14="http://schemas.microsoft.com/office/drawing/2010/main">
                <a:solidFill>
                  <a:srgbClr val="9B0000"/>
                </a:solidFill>
              </a14:hiddenFill>
            </a:ext>
          </a:extLst>
        </p:spPr>
        <p:txBody>
          <a:bodyPr wrap="square" rtlCol="0">
            <a:spAutoFit/>
          </a:bodyPr>
          <a:lstStyle/>
          <a:p>
            <a:pPr lvl="0" algn="ctr">
              <a:buClrTx/>
              <a:buSzTx/>
              <a:buFontTx/>
            </a:pPr>
            <a:r>
              <a:rPr lang="zh-CN" altLang="en-US" sz="2400" b="1">
                <a:latin typeface="+mj-ea"/>
                <a:ea typeface="+mj-ea"/>
                <a:cs typeface="+mj-ea"/>
                <a:sym typeface="+mn-ea"/>
              </a:rPr>
              <a:t>数据结果</a:t>
            </a:r>
            <a:endParaRPr lang="zh-CN" altLang="en-US" sz="2400" b="1">
              <a:latin typeface="+mj-ea"/>
              <a:ea typeface="+mj-ea"/>
              <a:cs typeface="+mj-ea"/>
              <a:sym typeface="+mn-ea"/>
            </a:endParaRPr>
          </a:p>
        </p:txBody>
      </p:sp>
      <p:sp>
        <p:nvSpPr>
          <p:cNvPr id="69" name="文本框 68"/>
          <p:cNvSpPr txBox="1"/>
          <p:nvPr>
            <p:custDataLst>
              <p:tags r:id="rId9"/>
            </p:custDataLst>
          </p:nvPr>
        </p:nvSpPr>
        <p:spPr>
          <a:xfrm>
            <a:off x="6619875" y="4916170"/>
            <a:ext cx="4123690" cy="460375"/>
          </a:xfrm>
          <a:prstGeom prst="rect">
            <a:avLst/>
          </a:prstGeom>
          <a:noFill/>
        </p:spPr>
        <p:txBody>
          <a:bodyPr wrap="square" rtlCol="0">
            <a:spAutoFit/>
          </a:bodyPr>
          <a:lstStyle/>
          <a:p>
            <a:r>
              <a:rPr lang="en-US" altLang="zh-CN" sz="2400">
                <a:latin typeface="Times New Roman" panose="02020603050405020304" charset="0"/>
                <a:cs typeface="Times New Roman" panose="02020603050405020304" charset="0"/>
              </a:rPr>
              <a:t>Quantitative Analysis</a:t>
            </a:r>
            <a:endParaRPr lang="en-US" altLang="zh-CN" sz="2400">
              <a:latin typeface="Times New Roman" panose="02020603050405020304" charset="0"/>
              <a:cs typeface="Times New Roman" panose="02020603050405020304" charset="0"/>
            </a:endParaRPr>
          </a:p>
        </p:txBody>
      </p:sp>
      <p:sp>
        <p:nvSpPr>
          <p:cNvPr id="71" name="文本框 70"/>
          <p:cNvSpPr txBox="1"/>
          <p:nvPr>
            <p:custDataLst>
              <p:tags r:id="rId10"/>
            </p:custDataLst>
          </p:nvPr>
        </p:nvSpPr>
        <p:spPr>
          <a:xfrm>
            <a:off x="2232660" y="5755640"/>
            <a:ext cx="1009015" cy="829945"/>
          </a:xfrm>
          <a:prstGeom prst="rect">
            <a:avLst/>
          </a:prstGeom>
          <a:noFill/>
        </p:spPr>
        <p:txBody>
          <a:bodyPr wrap="square" rtlCol="0">
            <a:spAutoFit/>
          </a:bodyPr>
          <a:lstStyle/>
          <a:p>
            <a:r>
              <a:rPr lang="en-US" altLang="zh-CN" sz="4800" i="1">
                <a:solidFill>
                  <a:schemeClr val="accent6"/>
                </a:solidFill>
                <a:latin typeface="方正小标宋简体" panose="02000000000000000000" charset="-122"/>
                <a:ea typeface="方正小标宋简体" panose="02000000000000000000" charset="-122"/>
              </a:rPr>
              <a:t>05</a:t>
            </a:r>
            <a:endParaRPr lang="en-US" altLang="zh-CN" sz="4800" i="1">
              <a:solidFill>
                <a:schemeClr val="accent6"/>
              </a:solidFill>
              <a:latin typeface="方正小标宋简体" panose="02000000000000000000" charset="-122"/>
              <a:ea typeface="方正小标宋简体" panose="02000000000000000000" charset="-122"/>
            </a:endParaRPr>
          </a:p>
        </p:txBody>
      </p:sp>
      <p:sp>
        <p:nvSpPr>
          <p:cNvPr id="72" name="文本框 71"/>
          <p:cNvSpPr txBox="1"/>
          <p:nvPr>
            <p:custDataLst>
              <p:tags r:id="rId11"/>
            </p:custDataLst>
          </p:nvPr>
        </p:nvSpPr>
        <p:spPr>
          <a:xfrm>
            <a:off x="3356610" y="5787390"/>
            <a:ext cx="3044825" cy="651059"/>
          </a:xfrm>
          <a:prstGeom prst="roundRect">
            <a:avLst>
              <a:gd name="adj" fmla="val 49999"/>
            </a:avLst>
          </a:prstGeom>
          <a:noFill/>
          <a:ln>
            <a:gradFill>
              <a:gsLst>
                <a:gs pos="0">
                  <a:schemeClr val="accent6"/>
                </a:gs>
                <a:gs pos="100000">
                  <a:schemeClr val="bg1"/>
                </a:gs>
              </a:gsLst>
              <a:lin ang="16200000" scaled="1"/>
              <a:tileRect/>
            </a:gradFill>
          </a:ln>
          <a:extLst>
            <a:ext uri="{909E8E84-426E-40DD-AFC4-6F175D3DCCD1}">
              <a14:hiddenFill xmlns:a14="http://schemas.microsoft.com/office/drawing/2010/main">
                <a:solidFill>
                  <a:srgbClr val="9B0000"/>
                </a:solidFill>
              </a14:hiddenFill>
            </a:ext>
          </a:extLst>
        </p:spPr>
        <p:txBody>
          <a:bodyPr wrap="square" rtlCol="0">
            <a:spAutoFit/>
          </a:bodyPr>
          <a:lstStyle/>
          <a:p>
            <a:pPr lvl="0" algn="ctr">
              <a:buClrTx/>
              <a:buSzTx/>
              <a:buFontTx/>
            </a:pPr>
            <a:r>
              <a:rPr lang="zh-CN" altLang="en-US" sz="2400" b="1">
                <a:latin typeface="+mj-ea"/>
                <a:ea typeface="+mj-ea"/>
                <a:cs typeface="+mj-ea"/>
                <a:sym typeface="+mn-ea"/>
              </a:rPr>
              <a:t>研究结论</a:t>
            </a:r>
            <a:endParaRPr lang="zh-CN" altLang="en-US" sz="2400" b="1">
              <a:latin typeface="+mj-ea"/>
              <a:ea typeface="+mj-ea"/>
              <a:cs typeface="+mj-ea"/>
              <a:sym typeface="+mn-ea"/>
            </a:endParaRPr>
          </a:p>
        </p:txBody>
      </p:sp>
      <p:sp>
        <p:nvSpPr>
          <p:cNvPr id="73" name="文本框 72"/>
          <p:cNvSpPr txBox="1"/>
          <p:nvPr>
            <p:custDataLst>
              <p:tags r:id="rId12"/>
            </p:custDataLst>
          </p:nvPr>
        </p:nvSpPr>
        <p:spPr>
          <a:xfrm>
            <a:off x="6619875" y="5883275"/>
            <a:ext cx="4123690" cy="460375"/>
          </a:xfrm>
          <a:prstGeom prst="rect">
            <a:avLst/>
          </a:prstGeom>
          <a:noFill/>
        </p:spPr>
        <p:txBody>
          <a:bodyPr wrap="square" rtlCol="0">
            <a:spAutoFit/>
          </a:bodyPr>
          <a:lstStyle/>
          <a:p>
            <a:r>
              <a:rPr lang="en-US" altLang="zh-CN" sz="2400">
                <a:latin typeface="Times New Roman" panose="02020603050405020304" charset="0"/>
                <a:cs typeface="Times New Roman" panose="02020603050405020304" charset="0"/>
              </a:rPr>
              <a:t>Conclusion</a:t>
            </a:r>
            <a:endParaRPr lang="en-US" altLang="zh-CN" sz="2400">
              <a:latin typeface="Times New Roman" panose="02020603050405020304" charset="0"/>
              <a:cs typeface="Times New Roman" panose="02020603050405020304" charset="0"/>
            </a:endParaRPr>
          </a:p>
        </p:txBody>
      </p:sp>
      <p:cxnSp>
        <p:nvCxnSpPr>
          <p:cNvPr id="43" name="直接连接符 42"/>
          <p:cNvCxnSpPr/>
          <p:nvPr/>
        </p:nvCxnSpPr>
        <p:spPr>
          <a:xfrm>
            <a:off x="1713865" y="1382395"/>
            <a:ext cx="6430010" cy="762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custDataLst>
              <p:tags r:id="rId13"/>
            </p:custDataLst>
          </p:nvPr>
        </p:nvSpPr>
        <p:spPr>
          <a:xfrm>
            <a:off x="2232660" y="1887220"/>
            <a:ext cx="1009015" cy="829945"/>
          </a:xfrm>
          <a:prstGeom prst="rect">
            <a:avLst/>
          </a:prstGeom>
          <a:noFill/>
        </p:spPr>
        <p:txBody>
          <a:bodyPr wrap="square" rtlCol="0">
            <a:spAutoFit/>
          </a:bodyPr>
          <a:lstStyle/>
          <a:p>
            <a:r>
              <a:rPr lang="en-US" altLang="zh-CN" sz="4800" i="1" dirty="0">
                <a:solidFill>
                  <a:schemeClr val="accent6"/>
                </a:solidFill>
                <a:latin typeface="方正小标宋简体" panose="02000000000000000000" charset="-122"/>
                <a:ea typeface="方正小标宋简体" panose="02000000000000000000" charset="-122"/>
              </a:rPr>
              <a:t>01</a:t>
            </a:r>
            <a:endParaRPr lang="en-US" altLang="zh-CN" sz="4800" i="1" dirty="0">
              <a:solidFill>
                <a:schemeClr val="accent6"/>
              </a:solidFill>
              <a:latin typeface="方正小标宋简体" panose="02000000000000000000" charset="-122"/>
              <a:ea typeface="方正小标宋简体" panose="02000000000000000000" charset="-122"/>
            </a:endParaRPr>
          </a:p>
        </p:txBody>
      </p:sp>
      <p:sp>
        <p:nvSpPr>
          <p:cNvPr id="48" name="文本框 47"/>
          <p:cNvSpPr txBox="1"/>
          <p:nvPr>
            <p:custDataLst>
              <p:tags r:id="rId14"/>
            </p:custDataLst>
          </p:nvPr>
        </p:nvSpPr>
        <p:spPr>
          <a:xfrm>
            <a:off x="3356610" y="1934845"/>
            <a:ext cx="3044825" cy="651059"/>
          </a:xfrm>
          <a:prstGeom prst="roundRect">
            <a:avLst>
              <a:gd name="adj" fmla="val 49999"/>
            </a:avLst>
          </a:prstGeom>
          <a:noFill/>
          <a:ln>
            <a:gradFill>
              <a:gsLst>
                <a:gs pos="0">
                  <a:schemeClr val="accent6"/>
                </a:gs>
                <a:gs pos="100000">
                  <a:schemeClr val="bg1"/>
                </a:gs>
              </a:gsLst>
              <a:lin ang="16200000" scaled="1"/>
              <a:tileRect/>
            </a:gradFill>
          </a:ln>
          <a:extLst>
            <a:ext uri="{909E8E84-426E-40DD-AFC4-6F175D3DCCD1}">
              <a14:hiddenFill xmlns:a14="http://schemas.microsoft.com/office/drawing/2010/main">
                <a:solidFill>
                  <a:srgbClr val="9B0000"/>
                </a:solidFill>
              </a14:hiddenFill>
            </a:ext>
          </a:extLst>
        </p:spPr>
        <p:txBody>
          <a:bodyPr wrap="square" rtlCol="0">
            <a:spAutoFit/>
          </a:bodyPr>
          <a:lstStyle/>
          <a:p>
            <a:pPr lvl="0" algn="ctr">
              <a:buClrTx/>
              <a:buSzTx/>
              <a:buFontTx/>
            </a:pPr>
            <a:r>
              <a:rPr lang="zh-CN" altLang="en-US" sz="2400" b="1">
                <a:latin typeface="+mj-ea"/>
                <a:ea typeface="+mj-ea"/>
                <a:cs typeface="+mj-ea"/>
                <a:sym typeface="+mn-ea"/>
              </a:rPr>
              <a:t>研究问题</a:t>
            </a:r>
            <a:endParaRPr lang="zh-CN" altLang="en-US" sz="2400" b="1">
              <a:latin typeface="+mj-ea"/>
              <a:ea typeface="+mj-ea"/>
              <a:cs typeface="+mj-ea"/>
              <a:sym typeface="+mn-ea"/>
            </a:endParaRPr>
          </a:p>
        </p:txBody>
      </p:sp>
      <p:sp>
        <p:nvSpPr>
          <p:cNvPr id="49" name="文本框 48"/>
          <p:cNvSpPr txBox="1"/>
          <p:nvPr>
            <p:custDataLst>
              <p:tags r:id="rId15"/>
            </p:custDataLst>
          </p:nvPr>
        </p:nvSpPr>
        <p:spPr>
          <a:xfrm>
            <a:off x="6619875" y="2014855"/>
            <a:ext cx="4123690" cy="460375"/>
          </a:xfrm>
          <a:prstGeom prst="rect">
            <a:avLst/>
          </a:prstGeom>
          <a:noFill/>
        </p:spPr>
        <p:txBody>
          <a:bodyPr wrap="square" rtlCol="0">
            <a:spAutoFit/>
          </a:bodyPr>
          <a:lstStyle/>
          <a:p>
            <a:r>
              <a:rPr lang="en-US" altLang="zh-CN" sz="2400">
                <a:latin typeface="Times New Roman" panose="02020603050405020304" charset="0"/>
                <a:cs typeface="Times New Roman" panose="02020603050405020304" charset="0"/>
              </a:rPr>
              <a:t>Research Question</a:t>
            </a:r>
            <a:endParaRPr lang="en-US" altLang="zh-CN" sz="2400">
              <a:latin typeface="Times New Roman" panose="02020603050405020304" charset="0"/>
              <a:cs typeface="Times New Roman" panose="02020603050405020304" charset="0"/>
            </a:endParaRPr>
          </a:p>
        </p:txBody>
      </p:sp>
      <p:cxnSp>
        <p:nvCxnSpPr>
          <p:cNvPr id="86" name="直接连接符 85"/>
          <p:cNvCxnSpPr/>
          <p:nvPr>
            <p:custDataLst>
              <p:tags r:id="rId16"/>
            </p:custDataLst>
          </p:nvPr>
        </p:nvCxnSpPr>
        <p:spPr>
          <a:xfrm flipH="1">
            <a:off x="6458585" y="251333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custDataLst>
              <p:tags r:id="rId17"/>
            </p:custDataLst>
          </p:nvPr>
        </p:nvCxnSpPr>
        <p:spPr>
          <a:xfrm flipH="1">
            <a:off x="6458585" y="349123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custDataLst>
              <p:tags r:id="rId18"/>
            </p:custDataLst>
          </p:nvPr>
        </p:nvCxnSpPr>
        <p:spPr>
          <a:xfrm flipH="1">
            <a:off x="6458585" y="446913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custDataLst>
              <p:tags r:id="rId19"/>
            </p:custDataLst>
          </p:nvPr>
        </p:nvCxnSpPr>
        <p:spPr>
          <a:xfrm flipH="1">
            <a:off x="6458585" y="544703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custDataLst>
              <p:tags r:id="rId20"/>
            </p:custDataLst>
          </p:nvPr>
        </p:nvCxnSpPr>
        <p:spPr>
          <a:xfrm flipH="1">
            <a:off x="6458585" y="642493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pic>
        <p:nvPicPr>
          <p:cNvPr id="3" name="图片 2" descr="03校标，中、英文校名组合"/>
          <p:cNvPicPr>
            <a:picLocks noChangeAspect="1"/>
          </p:cNvPicPr>
          <p:nvPr userDrawn="1"/>
        </p:nvPicPr>
        <p:blipFill>
          <a:blip r:embed="rId21"/>
          <a:stretch>
            <a:fillRect/>
          </a:stretch>
        </p:blipFill>
        <p:spPr>
          <a:xfrm>
            <a:off x="9450705" y="142875"/>
            <a:ext cx="2588895" cy="8235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5293995" y="2310765"/>
            <a:ext cx="5942965" cy="1014730"/>
          </a:xfrm>
          <a:prstGeom prst="rect">
            <a:avLst/>
          </a:prstGeom>
          <a:noFill/>
        </p:spPr>
        <p:txBody>
          <a:bodyPr wrap="square" rtlCol="0">
            <a:spAutoFit/>
          </a:bodyPr>
          <a:lstStyle/>
          <a:p>
            <a:r>
              <a:rPr lang="zh-CN" altLang="en-US" sz="6000" b="1">
                <a:solidFill>
                  <a:schemeClr val="tx1"/>
                </a:solidFill>
              </a:rPr>
              <a:t>研究</a:t>
            </a:r>
            <a:r>
              <a:rPr lang="zh-CN" altLang="en-US" sz="6000" b="1">
                <a:solidFill>
                  <a:schemeClr val="tx1"/>
                </a:solidFill>
              </a:rPr>
              <a:t>问题</a:t>
            </a:r>
            <a:endParaRPr lang="zh-CN" altLang="en-US" sz="6000" b="1">
              <a:solidFill>
                <a:schemeClr val="tx1"/>
              </a:solidFill>
            </a:endParaRPr>
          </a:p>
        </p:txBody>
      </p:sp>
      <p:sp>
        <p:nvSpPr>
          <p:cNvPr id="20" name="文本框 19"/>
          <p:cNvSpPr txBox="1"/>
          <p:nvPr/>
        </p:nvSpPr>
        <p:spPr>
          <a:xfrm>
            <a:off x="5293995" y="3577590"/>
            <a:ext cx="6248400" cy="583565"/>
          </a:xfrm>
          <a:prstGeom prst="rect">
            <a:avLst/>
          </a:prstGeom>
          <a:noFill/>
        </p:spPr>
        <p:txBody>
          <a:bodyPr wrap="square" rtlCol="0">
            <a:spAutoFit/>
          </a:bodyPr>
          <a:lstStyle/>
          <a:p>
            <a:r>
              <a:rPr lang="en-US" altLang="zh-CN" sz="3200">
                <a:latin typeface="Times New Roman" panose="02020603050405020304" charset="0"/>
                <a:cs typeface="Times New Roman" panose="02020603050405020304" charset="0"/>
                <a:sym typeface="+mn-ea"/>
              </a:rPr>
              <a:t>Research Question</a:t>
            </a:r>
            <a:endParaRPr lang="en-US" altLang="zh-CN" sz="3200">
              <a:solidFill>
                <a:schemeClr val="tx1"/>
              </a:solidFill>
              <a:latin typeface="Times New Roman" panose="02020603050405020304" charset="0"/>
              <a:cs typeface="Times New Roman" panose="02020603050405020304" charset="0"/>
              <a:sym typeface="+mn-ea"/>
            </a:endParaRPr>
          </a:p>
        </p:txBody>
      </p:sp>
      <p:sp>
        <p:nvSpPr>
          <p:cNvPr id="29" name="文本框 28"/>
          <p:cNvSpPr txBox="1"/>
          <p:nvPr/>
        </p:nvSpPr>
        <p:spPr>
          <a:xfrm>
            <a:off x="1177925" y="1510665"/>
            <a:ext cx="3314700" cy="3769360"/>
          </a:xfrm>
          <a:prstGeom prst="rect">
            <a:avLst/>
          </a:prstGeom>
          <a:noFill/>
        </p:spPr>
        <p:txBody>
          <a:bodyPr wrap="square" rtlCol="0">
            <a:spAutoFit/>
          </a:bodyPr>
          <a:lstStyle/>
          <a:p>
            <a:r>
              <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rPr>
              <a:t>01</a:t>
            </a:r>
            <a:endPar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endParaRPr>
          </a:p>
        </p:txBody>
      </p:sp>
      <p:cxnSp>
        <p:nvCxnSpPr>
          <p:cNvPr id="30" name="直接连接符 29"/>
          <p:cNvCxnSpPr/>
          <p:nvPr/>
        </p:nvCxnSpPr>
        <p:spPr>
          <a:xfrm flipV="1">
            <a:off x="-9525" y="495554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flipV="1">
            <a:off x="2649855" y="4736465"/>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H="1">
            <a:off x="8239125" y="1696085"/>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flipH="1">
            <a:off x="8239125" y="1758950"/>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5507990"/>
            <a:ext cx="12195175" cy="1362075"/>
            <a:chOff x="0" y="5507990"/>
            <a:chExt cx="12195175" cy="1362075"/>
          </a:xfrm>
        </p:grpSpPr>
        <p:sp>
          <p:nvSpPr>
            <p:cNvPr id="5" name="任意多边形 688"/>
            <p:cNvSpPr/>
            <p:nvPr/>
          </p:nvSpPr>
          <p:spPr>
            <a:xfrm>
              <a:off x="3175" y="5507990"/>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687"/>
            <p:cNvSpPr/>
            <p:nvPr/>
          </p:nvSpPr>
          <p:spPr>
            <a:xfrm>
              <a:off x="0" y="555180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任意多边形 682"/>
            <p:cNvSpPr/>
            <p:nvPr/>
          </p:nvSpPr>
          <p:spPr>
            <a:xfrm>
              <a:off x="0" y="558482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alpha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任意多边形 689"/>
            <p:cNvSpPr/>
            <p:nvPr/>
          </p:nvSpPr>
          <p:spPr>
            <a:xfrm>
              <a:off x="1270" y="5645785"/>
              <a:ext cx="12192000" cy="122428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pic>
        <p:nvPicPr>
          <p:cNvPr id="10" name="图片 9" descr="03校标，中、英文校名组合"/>
          <p:cNvPicPr>
            <a:picLocks noChangeAspect="1"/>
          </p:cNvPicPr>
          <p:nvPr userDrawn="1"/>
        </p:nvPicPr>
        <p:blipFill>
          <a:blip r:embed="rId1"/>
          <a:stretch>
            <a:fillRect/>
          </a:stretch>
        </p:blipFill>
        <p:spPr>
          <a:xfrm>
            <a:off x="260350" y="137160"/>
            <a:ext cx="2588895" cy="823595"/>
          </a:xfrm>
          <a:prstGeom prst="rect">
            <a:avLst/>
          </a:prstGeom>
        </p:spPr>
      </p:pic>
      <p:sp>
        <p:nvSpPr>
          <p:cNvPr id="13" name="文本框 3"/>
          <p:cNvSpPr txBox="1"/>
          <p:nvPr/>
        </p:nvSpPr>
        <p:spPr>
          <a:xfrm>
            <a:off x="3127375" y="342809"/>
            <a:ext cx="3867785"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6"/>
                </a:solidFill>
                <a:latin typeface="华文行楷" panose="02010800040101010101" charset="-122"/>
                <a:ea typeface="华文行楷" panose="02010800040101010101" charset="-122"/>
              </a:rPr>
              <a:t>诚朴雄伟</a:t>
            </a:r>
            <a:r>
              <a:rPr lang="en-US" altLang="zh-CN" sz="3200" dirty="0">
                <a:solidFill>
                  <a:schemeClr val="accent6"/>
                </a:solidFill>
                <a:latin typeface="华文行楷" panose="02010800040101010101" charset="-122"/>
                <a:ea typeface="华文行楷" panose="02010800040101010101" charset="-122"/>
              </a:rPr>
              <a:t> </a:t>
            </a:r>
            <a:r>
              <a:rPr lang="zh-CN" altLang="en-US" sz="3200" dirty="0">
                <a:solidFill>
                  <a:schemeClr val="accent6"/>
                </a:solidFill>
                <a:latin typeface="华文行楷" panose="02010800040101010101" charset="-122"/>
                <a:ea typeface="华文行楷" panose="02010800040101010101" charset="-122"/>
              </a:rPr>
              <a:t>励学敦</a:t>
            </a:r>
            <a:r>
              <a:rPr lang="zh-CN" altLang="en-US" sz="3200" dirty="0">
                <a:solidFill>
                  <a:schemeClr val="accent6"/>
                </a:solidFill>
                <a:latin typeface="华文行楷" panose="02010800040101010101" charset="-122"/>
                <a:ea typeface="华文行楷" panose="02010800040101010101" charset="-122"/>
              </a:rPr>
              <a:t>行</a:t>
            </a:r>
            <a:endParaRPr lang="zh-CN" altLang="en-US" sz="3200" dirty="0">
              <a:solidFill>
                <a:schemeClr val="accent6"/>
              </a:solidFill>
              <a:latin typeface="华文行楷" panose="02010800040101010101" charset="-122"/>
              <a:ea typeface="华文行楷" panose="020108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297555" y="995045"/>
            <a:ext cx="5405120" cy="497840"/>
            <a:chOff x="4230" y="1619"/>
            <a:chExt cx="8512" cy="784"/>
          </a:xfrm>
        </p:grpSpPr>
        <p:sp>
          <p:nvSpPr>
            <p:cNvPr id="27" name="矩形: 圆角 26"/>
            <p:cNvSpPr/>
            <p:nvPr/>
          </p:nvSpPr>
          <p:spPr>
            <a:xfrm>
              <a:off x="4230" y="1619"/>
              <a:ext cx="8512" cy="784"/>
            </a:xfrm>
            <a:prstGeom prst="roundRect">
              <a:avLst>
                <a:gd name="adj" fmla="val 50000"/>
              </a:avLst>
            </a:prstGeom>
            <a:noFill/>
            <a:ln>
              <a:solidFill>
                <a:schemeClr val="accent6"/>
              </a:solidFill>
            </a:ln>
            <a:effectLst>
              <a:outerShdw blurRad="50800" dist="38100" dir="2700000" algn="tl" rotWithShape="0">
                <a:schemeClr val="bg1">
                  <a:lumMod val="75000"/>
                  <a:alpha val="40000"/>
                </a:schemeClr>
              </a:outerShdw>
            </a:effectLst>
            <a:extLst>
              <a:ext uri="{909E8E84-426E-40DD-AFC4-6F175D3DCCD1}">
                <a14:hiddenFill xmlns:a14="http://schemas.microsoft.com/office/drawing/2010/main">
                  <a:solidFill>
                    <a:srgbClr val="F3F3F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charset="0"/>
                <a:ea typeface="思源黑体 CN Medium" panose="020B0600000000000000" pitchFamily="34" charset="-122"/>
                <a:sym typeface="Arial" panose="020B0604020202020204" pitchFamily="34" charset="0"/>
              </a:endParaRPr>
            </a:p>
          </p:txBody>
        </p:sp>
        <p:sp>
          <p:nvSpPr>
            <p:cNvPr id="28" name="magnify_18633"/>
            <p:cNvSpPr/>
            <p:nvPr/>
          </p:nvSpPr>
          <p:spPr>
            <a:xfrm>
              <a:off x="11823" y="1798"/>
              <a:ext cx="489" cy="482"/>
            </a:xfrm>
            <a:custGeom>
              <a:avLst/>
              <a:gdLst>
                <a:gd name="T0" fmla="*/ 5390 w 5498"/>
                <a:gd name="T1" fmla="*/ 4805 h 5432"/>
                <a:gd name="T2" fmla="*/ 3989 w 5498"/>
                <a:gd name="T3" fmla="*/ 3404 h 5432"/>
                <a:gd name="T4" fmla="*/ 3817 w 5498"/>
                <a:gd name="T5" fmla="*/ 3311 h 5432"/>
                <a:gd name="T6" fmla="*/ 4203 w 5498"/>
                <a:gd name="T7" fmla="*/ 2102 h 5432"/>
                <a:gd name="T8" fmla="*/ 2102 w 5498"/>
                <a:gd name="T9" fmla="*/ 0 h 5432"/>
                <a:gd name="T10" fmla="*/ 0 w 5498"/>
                <a:gd name="T11" fmla="*/ 2102 h 5432"/>
                <a:gd name="T12" fmla="*/ 2102 w 5498"/>
                <a:gd name="T13" fmla="*/ 4203 h 5432"/>
                <a:gd name="T14" fmla="*/ 3379 w 5498"/>
                <a:gd name="T15" fmla="*/ 3765 h 5432"/>
                <a:gd name="T16" fmla="*/ 3470 w 5498"/>
                <a:gd name="T17" fmla="*/ 3923 h 5432"/>
                <a:gd name="T18" fmla="*/ 4872 w 5498"/>
                <a:gd name="T19" fmla="*/ 5324 h 5432"/>
                <a:gd name="T20" fmla="*/ 5131 w 5498"/>
                <a:gd name="T21" fmla="*/ 5432 h 5432"/>
                <a:gd name="T22" fmla="*/ 5390 w 5498"/>
                <a:gd name="T23" fmla="*/ 5324 h 5432"/>
                <a:gd name="T24" fmla="*/ 5498 w 5498"/>
                <a:gd name="T25" fmla="*/ 5065 h 5432"/>
                <a:gd name="T26" fmla="*/ 5390 w 5498"/>
                <a:gd name="T27" fmla="*/ 4805 h 5432"/>
                <a:gd name="T28" fmla="*/ 217 w 5498"/>
                <a:gd name="T29" fmla="*/ 2102 h 5432"/>
                <a:gd name="T30" fmla="*/ 2101 w 5498"/>
                <a:gd name="T31" fmla="*/ 217 h 5432"/>
                <a:gd name="T32" fmla="*/ 3986 w 5498"/>
                <a:gd name="T33" fmla="*/ 2102 h 5432"/>
                <a:gd name="T34" fmla="*/ 3473 w 5498"/>
                <a:gd name="T35" fmla="*/ 3390 h 5432"/>
                <a:gd name="T36" fmla="*/ 3468 w 5498"/>
                <a:gd name="T37" fmla="*/ 3393 h 5432"/>
                <a:gd name="T38" fmla="*/ 3463 w 5498"/>
                <a:gd name="T39" fmla="*/ 3400 h 5432"/>
                <a:gd name="T40" fmla="*/ 2102 w 5498"/>
                <a:gd name="T41" fmla="*/ 3986 h 5432"/>
                <a:gd name="T42" fmla="*/ 217 w 5498"/>
                <a:gd name="T43" fmla="*/ 2102 h 5432"/>
                <a:gd name="T44" fmla="*/ 5237 w 5498"/>
                <a:gd name="T45" fmla="*/ 5171 h 5432"/>
                <a:gd name="T46" fmla="*/ 5025 w 5498"/>
                <a:gd name="T47" fmla="*/ 5171 h 5432"/>
                <a:gd name="T48" fmla="*/ 3624 w 5498"/>
                <a:gd name="T49" fmla="*/ 3770 h 5432"/>
                <a:gd name="T50" fmla="*/ 3624 w 5498"/>
                <a:gd name="T51" fmla="*/ 3557 h 5432"/>
                <a:gd name="T52" fmla="*/ 3730 w 5498"/>
                <a:gd name="T53" fmla="*/ 3513 h 5432"/>
                <a:gd name="T54" fmla="*/ 3836 w 5498"/>
                <a:gd name="T55" fmla="*/ 3557 h 5432"/>
                <a:gd name="T56" fmla="*/ 5237 w 5498"/>
                <a:gd name="T57" fmla="*/ 4959 h 5432"/>
                <a:gd name="T58" fmla="*/ 5281 w 5498"/>
                <a:gd name="T59" fmla="*/ 5065 h 5432"/>
                <a:gd name="T60" fmla="*/ 5237 w 5498"/>
                <a:gd name="T61" fmla="*/ 5171 h 5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98" h="5432">
                  <a:moveTo>
                    <a:pt x="5390" y="4805"/>
                  </a:moveTo>
                  <a:lnTo>
                    <a:pt x="3989" y="3404"/>
                  </a:lnTo>
                  <a:cubicBezTo>
                    <a:pt x="3941" y="3356"/>
                    <a:pt x="3881" y="3326"/>
                    <a:pt x="3817" y="3311"/>
                  </a:cubicBezTo>
                  <a:cubicBezTo>
                    <a:pt x="4059" y="2969"/>
                    <a:pt x="4203" y="2552"/>
                    <a:pt x="4203" y="2102"/>
                  </a:cubicBezTo>
                  <a:cubicBezTo>
                    <a:pt x="4203" y="943"/>
                    <a:pt x="3260" y="0"/>
                    <a:pt x="2102" y="0"/>
                  </a:cubicBezTo>
                  <a:cubicBezTo>
                    <a:pt x="943" y="0"/>
                    <a:pt x="0" y="943"/>
                    <a:pt x="0" y="2102"/>
                  </a:cubicBezTo>
                  <a:cubicBezTo>
                    <a:pt x="0" y="3260"/>
                    <a:pt x="943" y="4203"/>
                    <a:pt x="2102" y="4203"/>
                  </a:cubicBezTo>
                  <a:cubicBezTo>
                    <a:pt x="2583" y="4203"/>
                    <a:pt x="3025" y="4038"/>
                    <a:pt x="3379" y="3765"/>
                  </a:cubicBezTo>
                  <a:cubicBezTo>
                    <a:pt x="3396" y="3823"/>
                    <a:pt x="3425" y="3878"/>
                    <a:pt x="3470" y="3923"/>
                  </a:cubicBezTo>
                  <a:lnTo>
                    <a:pt x="4872" y="5324"/>
                  </a:lnTo>
                  <a:cubicBezTo>
                    <a:pt x="4941" y="5394"/>
                    <a:pt x="5033" y="5432"/>
                    <a:pt x="5131" y="5432"/>
                  </a:cubicBezTo>
                  <a:cubicBezTo>
                    <a:pt x="5229" y="5432"/>
                    <a:pt x="5321" y="5393"/>
                    <a:pt x="5390" y="5324"/>
                  </a:cubicBezTo>
                  <a:cubicBezTo>
                    <a:pt x="5460" y="5255"/>
                    <a:pt x="5498" y="5163"/>
                    <a:pt x="5498" y="5065"/>
                  </a:cubicBezTo>
                  <a:cubicBezTo>
                    <a:pt x="5498" y="4967"/>
                    <a:pt x="5460" y="4875"/>
                    <a:pt x="5390" y="4805"/>
                  </a:cubicBezTo>
                  <a:close/>
                  <a:moveTo>
                    <a:pt x="217" y="2102"/>
                  </a:moveTo>
                  <a:cubicBezTo>
                    <a:pt x="217" y="1062"/>
                    <a:pt x="1062" y="217"/>
                    <a:pt x="2101" y="217"/>
                  </a:cubicBezTo>
                  <a:cubicBezTo>
                    <a:pt x="3141" y="217"/>
                    <a:pt x="3986" y="1062"/>
                    <a:pt x="3986" y="2102"/>
                  </a:cubicBezTo>
                  <a:cubicBezTo>
                    <a:pt x="3986" y="2600"/>
                    <a:pt x="3790" y="3053"/>
                    <a:pt x="3473" y="3390"/>
                  </a:cubicBezTo>
                  <a:cubicBezTo>
                    <a:pt x="3471" y="3391"/>
                    <a:pt x="3470" y="3392"/>
                    <a:pt x="3468" y="3393"/>
                  </a:cubicBezTo>
                  <a:cubicBezTo>
                    <a:pt x="3466" y="3395"/>
                    <a:pt x="3466" y="3398"/>
                    <a:pt x="3463" y="3400"/>
                  </a:cubicBezTo>
                  <a:cubicBezTo>
                    <a:pt x="3120" y="3760"/>
                    <a:pt x="2637" y="3986"/>
                    <a:pt x="2102" y="3986"/>
                  </a:cubicBezTo>
                  <a:cubicBezTo>
                    <a:pt x="1062" y="3986"/>
                    <a:pt x="217" y="3141"/>
                    <a:pt x="217" y="2102"/>
                  </a:cubicBezTo>
                  <a:close/>
                  <a:moveTo>
                    <a:pt x="5237" y="5171"/>
                  </a:moveTo>
                  <a:cubicBezTo>
                    <a:pt x="5180" y="5228"/>
                    <a:pt x="5082" y="5228"/>
                    <a:pt x="5025" y="5171"/>
                  </a:cubicBezTo>
                  <a:lnTo>
                    <a:pt x="3624" y="3770"/>
                  </a:lnTo>
                  <a:cubicBezTo>
                    <a:pt x="3565" y="3711"/>
                    <a:pt x="3565" y="3616"/>
                    <a:pt x="3624" y="3557"/>
                  </a:cubicBezTo>
                  <a:cubicBezTo>
                    <a:pt x="3652" y="3529"/>
                    <a:pt x="3690" y="3513"/>
                    <a:pt x="3730" y="3513"/>
                  </a:cubicBezTo>
                  <a:cubicBezTo>
                    <a:pt x="3770" y="3513"/>
                    <a:pt x="3807" y="3529"/>
                    <a:pt x="3836" y="3557"/>
                  </a:cubicBezTo>
                  <a:lnTo>
                    <a:pt x="5237" y="4959"/>
                  </a:lnTo>
                  <a:cubicBezTo>
                    <a:pt x="5265" y="4987"/>
                    <a:pt x="5281" y="5025"/>
                    <a:pt x="5281" y="5065"/>
                  </a:cubicBezTo>
                  <a:cubicBezTo>
                    <a:pt x="5281" y="5105"/>
                    <a:pt x="5265" y="5143"/>
                    <a:pt x="5237" y="5171"/>
                  </a:cubicBezTo>
                  <a:close/>
                </a:path>
              </a:pathLst>
            </a:custGeom>
            <a:solidFill>
              <a:schemeClr val="tx1">
                <a:lumMod val="65000"/>
                <a:lumOff val="3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思源黑体 CN Medium" panose="020B0600000000000000" pitchFamily="34" charset="-122"/>
                <a:sym typeface="Arial" panose="020B0604020202020204" pitchFamily="34" charset="0"/>
              </a:endParaRPr>
            </a:p>
          </p:txBody>
        </p:sp>
        <p:sp>
          <p:nvSpPr>
            <p:cNvPr id="29" name="文本框 28"/>
            <p:cNvSpPr txBox="1"/>
            <p:nvPr/>
          </p:nvSpPr>
          <p:spPr>
            <a:xfrm>
              <a:off x="4522" y="1720"/>
              <a:ext cx="7108" cy="495"/>
            </a:xfrm>
            <a:prstGeom prst="rect">
              <a:avLst/>
            </a:prstGeom>
            <a:noFill/>
          </p:spPr>
          <p:txBody>
            <a:bodyPr wrap="square" rtlCol="0">
              <a:noAutofit/>
            </a:bodyPr>
            <a:lstStyle/>
            <a:p>
              <a:pPr algn="ctr"/>
              <a:r>
                <a:rPr lang="zh-CN" altLang="en-US" sz="2000" b="1" dirty="0">
                  <a:solidFill>
                    <a:schemeClr val="tx1"/>
                  </a:solidFill>
                  <a:latin typeface="Times New Roman" panose="02020603050405020304" charset="0"/>
                  <a:sym typeface="Arial" panose="020B0604020202020204" pitchFamily="34" charset="0"/>
                </a:rPr>
                <a:t>农业跨国生产率差异为何远大于非农业</a:t>
              </a:r>
              <a:endParaRPr lang="zh-CN" altLang="en-US" sz="2000" b="1" dirty="0">
                <a:solidFill>
                  <a:schemeClr val="tx1"/>
                </a:solidFill>
                <a:latin typeface="Times New Roman" panose="02020603050405020304" charset="0"/>
                <a:sym typeface="Arial" panose="020B0604020202020204" pitchFamily="34" charset="0"/>
              </a:endParaRPr>
            </a:p>
          </p:txBody>
        </p:sp>
      </p:grpSp>
      <p:sp>
        <p:nvSpPr>
          <p:cNvPr id="21" name="平行四边形 20"/>
          <p:cNvSpPr/>
          <p:nvPr>
            <p:custDataLst>
              <p:tags r:id="rId1"/>
            </p:custDataLst>
          </p:nvPr>
        </p:nvSpPr>
        <p:spPr>
          <a:xfrm>
            <a:off x="2159635" y="1787525"/>
            <a:ext cx="9462770" cy="498475"/>
          </a:xfrm>
          <a:prstGeom prst="parallelogram">
            <a:avLst/>
          </a:prstGeom>
          <a:solidFill>
            <a:schemeClr val="bg1"/>
          </a:solidFill>
          <a:ln>
            <a:gradFill>
              <a:gsLst>
                <a:gs pos="0">
                  <a:schemeClr val="bg1"/>
                </a:gs>
                <a:gs pos="100000">
                  <a:schemeClr val="bg1"/>
                </a:gs>
              </a:gsLst>
              <a:lin ang="5400000" scaled="1"/>
            </a:gra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p>
        </p:txBody>
      </p:sp>
      <p:sp>
        <p:nvSpPr>
          <p:cNvPr id="22" name="文本框 21"/>
          <p:cNvSpPr txBox="1"/>
          <p:nvPr>
            <p:custDataLst>
              <p:tags r:id="rId2"/>
            </p:custDataLst>
          </p:nvPr>
        </p:nvSpPr>
        <p:spPr>
          <a:xfrm>
            <a:off x="2320290" y="1874520"/>
            <a:ext cx="9107170" cy="337185"/>
          </a:xfrm>
          <a:prstGeom prst="rect">
            <a:avLst/>
          </a:prstGeom>
          <a:noFill/>
        </p:spPr>
        <p:txBody>
          <a:bodyPr wrap="square" rtlCol="0">
            <a:spAutoFit/>
          </a:bodyPr>
          <a:lstStyle/>
          <a:p>
            <a:pPr algn="ctr"/>
            <a:r>
              <a:rPr lang="zh-CN" altLang="en-US" sz="1600">
                <a:solidFill>
                  <a:schemeClr val="tx1"/>
                </a:solidFill>
                <a:latin typeface="Times New Roman" panose="02020603050405020304" charset="0"/>
              </a:rPr>
              <a:t>农业 (</a:t>
            </a:r>
            <a:r>
              <a:rPr lang="en-US" altLang="zh-CN" sz="1600">
                <a:solidFill>
                  <a:schemeClr val="tx1"/>
                </a:solidFill>
                <a:latin typeface="Times New Roman" panose="02020603050405020304" charset="0"/>
              </a:rPr>
              <a:t>Agriculture) </a:t>
            </a:r>
            <a:r>
              <a:rPr lang="zh-CN" altLang="en-US" sz="1600">
                <a:solidFill>
                  <a:schemeClr val="tx1"/>
                </a:solidFill>
                <a:latin typeface="Times New Roman" panose="02020603050405020304" charset="0"/>
              </a:rPr>
              <a:t>的 90–10 生产率差异约为 45倍，非农业 (</a:t>
            </a:r>
            <a:r>
              <a:rPr lang="en-US" altLang="zh-CN" sz="1600">
                <a:solidFill>
                  <a:schemeClr val="tx1"/>
                </a:solidFill>
                <a:latin typeface="Times New Roman" panose="02020603050405020304" charset="0"/>
              </a:rPr>
              <a:t>Non-Agriculture) </a:t>
            </a:r>
            <a:r>
              <a:rPr lang="zh-CN" altLang="en-US" sz="1600">
                <a:solidFill>
                  <a:schemeClr val="tx1"/>
                </a:solidFill>
                <a:latin typeface="Times New Roman" panose="02020603050405020304" charset="0"/>
              </a:rPr>
              <a:t>仅 4倍</a:t>
            </a:r>
            <a:endParaRPr lang="zh-CN" altLang="en-US" sz="1600">
              <a:solidFill>
                <a:schemeClr val="tx1"/>
              </a:solidFill>
              <a:latin typeface="Times New Roman" panose="02020603050405020304" charset="0"/>
            </a:endParaRPr>
          </a:p>
        </p:txBody>
      </p:sp>
      <p:sp>
        <p:nvSpPr>
          <p:cNvPr id="101" name="平行四边形 100"/>
          <p:cNvSpPr/>
          <p:nvPr>
            <p:custDataLst>
              <p:tags r:id="rId3"/>
            </p:custDataLst>
          </p:nvPr>
        </p:nvSpPr>
        <p:spPr>
          <a:xfrm>
            <a:off x="434975" y="1787525"/>
            <a:ext cx="1800225" cy="504190"/>
          </a:xfrm>
          <a:prstGeom prst="parallelogram">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p>
        </p:txBody>
      </p:sp>
      <p:sp>
        <p:nvSpPr>
          <p:cNvPr id="90" name="文本框 89"/>
          <p:cNvSpPr txBox="1"/>
          <p:nvPr>
            <p:custDataLst>
              <p:tags r:id="rId4"/>
            </p:custDataLst>
          </p:nvPr>
        </p:nvSpPr>
        <p:spPr>
          <a:xfrm>
            <a:off x="580390" y="1859280"/>
            <a:ext cx="1608455" cy="337185"/>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zh-CN" altLang="en-US" sz="1600" b="1">
                <a:solidFill>
                  <a:schemeClr val="bg1"/>
                </a:solidFill>
                <a:latin typeface="Times New Roman" panose="02020603050405020304" charset="0"/>
              </a:rPr>
              <a:t>现象</a:t>
            </a:r>
            <a:endParaRPr lang="zh-CN" altLang="en-US" sz="1600" b="1">
              <a:solidFill>
                <a:schemeClr val="bg1"/>
              </a:solidFill>
              <a:latin typeface="Times New Roman" panose="02020603050405020304" charset="0"/>
            </a:endParaRPr>
          </a:p>
        </p:txBody>
      </p:sp>
      <p:sp>
        <p:nvSpPr>
          <p:cNvPr id="49" name="平行四边形 48"/>
          <p:cNvSpPr/>
          <p:nvPr>
            <p:custDataLst>
              <p:tags r:id="rId5"/>
            </p:custDataLst>
          </p:nvPr>
        </p:nvSpPr>
        <p:spPr>
          <a:xfrm>
            <a:off x="2159635" y="2388870"/>
            <a:ext cx="9462770" cy="498475"/>
          </a:xfrm>
          <a:prstGeom prst="parallelogram">
            <a:avLst/>
          </a:prstGeom>
          <a:solidFill>
            <a:schemeClr val="bg1"/>
          </a:solidFill>
          <a:ln>
            <a:gradFill>
              <a:gsLst>
                <a:gs pos="0">
                  <a:schemeClr val="bg1"/>
                </a:gs>
                <a:gs pos="100000">
                  <a:schemeClr val="bg1"/>
                </a:gs>
              </a:gsLst>
              <a:lin ang="5400000" scaled="1"/>
            </a:gra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p>
        </p:txBody>
      </p:sp>
      <p:sp>
        <p:nvSpPr>
          <p:cNvPr id="50" name="文本框 49"/>
          <p:cNvSpPr txBox="1"/>
          <p:nvPr>
            <p:custDataLst>
              <p:tags r:id="rId6"/>
            </p:custDataLst>
          </p:nvPr>
        </p:nvSpPr>
        <p:spPr>
          <a:xfrm>
            <a:off x="2320290" y="2475865"/>
            <a:ext cx="9107170" cy="337185"/>
          </a:xfrm>
          <a:prstGeom prst="rect">
            <a:avLst/>
          </a:prstGeom>
          <a:noFill/>
        </p:spPr>
        <p:txBody>
          <a:bodyPr wrap="square" rtlCol="0">
            <a:spAutoFit/>
          </a:bodyPr>
          <a:lstStyle/>
          <a:p>
            <a:pPr algn="ctr"/>
            <a:r>
              <a:rPr lang="zh-CN" altLang="en-US" sz="1600">
                <a:solidFill>
                  <a:schemeClr val="tx1"/>
                </a:solidFill>
                <a:latin typeface="Times New Roman" panose="02020603050405020304" charset="0"/>
              </a:rPr>
              <a:t>农业就业份额 (</a:t>
            </a:r>
            <a:r>
              <a:rPr lang="en-US" altLang="zh-CN" sz="1600">
                <a:solidFill>
                  <a:schemeClr val="tx1"/>
                </a:solidFill>
                <a:latin typeface="Times New Roman" panose="02020603050405020304" charset="0"/>
              </a:rPr>
              <a:t>employment share) </a:t>
            </a:r>
            <a:r>
              <a:rPr lang="zh-CN" altLang="en-US" sz="1600">
                <a:solidFill>
                  <a:schemeClr val="tx1"/>
                </a:solidFill>
                <a:latin typeface="Times New Roman" panose="02020603050405020304" charset="0"/>
              </a:rPr>
              <a:t>在穷国高达 78%，富国仅 3%</a:t>
            </a:r>
            <a:endParaRPr lang="zh-CN" altLang="en-US" sz="1600">
              <a:solidFill>
                <a:schemeClr val="tx1"/>
              </a:solidFill>
              <a:latin typeface="Times New Roman" panose="02020603050405020304" charset="0"/>
            </a:endParaRPr>
          </a:p>
        </p:txBody>
      </p:sp>
      <p:sp>
        <p:nvSpPr>
          <p:cNvPr id="51" name="平行四边形 50"/>
          <p:cNvSpPr/>
          <p:nvPr>
            <p:custDataLst>
              <p:tags r:id="rId7"/>
            </p:custDataLst>
          </p:nvPr>
        </p:nvSpPr>
        <p:spPr>
          <a:xfrm>
            <a:off x="434975" y="2388870"/>
            <a:ext cx="1800225" cy="504190"/>
          </a:xfrm>
          <a:prstGeom prst="parallelogram">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p>
        </p:txBody>
      </p:sp>
      <p:sp>
        <p:nvSpPr>
          <p:cNvPr id="52" name="文本框 51"/>
          <p:cNvSpPr txBox="1"/>
          <p:nvPr>
            <p:custDataLst>
              <p:tags r:id="rId8"/>
            </p:custDataLst>
          </p:nvPr>
        </p:nvSpPr>
        <p:spPr>
          <a:xfrm>
            <a:off x="580390" y="2460625"/>
            <a:ext cx="1490345" cy="337185"/>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zh-CN" altLang="en-US" sz="1600" b="1">
                <a:solidFill>
                  <a:schemeClr val="bg1"/>
                </a:solidFill>
                <a:latin typeface="Times New Roman" panose="02020603050405020304" charset="0"/>
              </a:rPr>
              <a:t>特征</a:t>
            </a:r>
            <a:endParaRPr lang="zh-CN" altLang="en-US" sz="1600" b="1">
              <a:solidFill>
                <a:schemeClr val="bg1"/>
              </a:solidFill>
              <a:latin typeface="Times New Roman" panose="02020603050405020304" charset="0"/>
            </a:endParaRPr>
          </a:p>
        </p:txBody>
      </p:sp>
      <p:sp>
        <p:nvSpPr>
          <p:cNvPr id="59" name="平行四边形 58"/>
          <p:cNvSpPr/>
          <p:nvPr>
            <p:custDataLst>
              <p:tags r:id="rId9"/>
            </p:custDataLst>
          </p:nvPr>
        </p:nvSpPr>
        <p:spPr>
          <a:xfrm>
            <a:off x="2159635" y="3002915"/>
            <a:ext cx="9462770" cy="498475"/>
          </a:xfrm>
          <a:prstGeom prst="parallelogram">
            <a:avLst/>
          </a:prstGeom>
          <a:solidFill>
            <a:schemeClr val="bg1"/>
          </a:solidFill>
          <a:ln>
            <a:gradFill>
              <a:gsLst>
                <a:gs pos="0">
                  <a:schemeClr val="bg1"/>
                </a:gs>
                <a:gs pos="100000">
                  <a:schemeClr val="bg1"/>
                </a:gs>
              </a:gsLst>
              <a:lin ang="5400000" scaled="1"/>
            </a:gra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p>
        </p:txBody>
      </p:sp>
      <p:sp>
        <p:nvSpPr>
          <p:cNvPr id="60" name="文本框 59"/>
          <p:cNvSpPr txBox="1"/>
          <p:nvPr>
            <p:custDataLst>
              <p:tags r:id="rId10"/>
            </p:custDataLst>
          </p:nvPr>
        </p:nvSpPr>
        <p:spPr>
          <a:xfrm>
            <a:off x="2320290" y="3089910"/>
            <a:ext cx="9107170" cy="337185"/>
          </a:xfrm>
          <a:prstGeom prst="rect">
            <a:avLst/>
          </a:prstGeom>
          <a:noFill/>
        </p:spPr>
        <p:txBody>
          <a:bodyPr wrap="square" rtlCol="0">
            <a:spAutoFit/>
          </a:bodyPr>
          <a:lstStyle/>
          <a:p>
            <a:pPr algn="ctr"/>
            <a:r>
              <a:rPr lang="zh-CN" altLang="en-US" sz="1600">
                <a:solidFill>
                  <a:schemeClr val="tx1"/>
                </a:solidFill>
                <a:latin typeface="Times New Roman" panose="02020603050405020304" charset="0"/>
              </a:rPr>
              <a:t>理解农业低生产率是理解世界收入不平等 (</a:t>
            </a:r>
            <a:r>
              <a:rPr lang="en-US" altLang="zh-CN" sz="1600">
                <a:solidFill>
                  <a:schemeClr val="tx1"/>
                </a:solidFill>
                <a:latin typeface="Times New Roman" panose="02020603050405020304" charset="0"/>
              </a:rPr>
              <a:t>world income inequality) </a:t>
            </a:r>
            <a:r>
              <a:rPr lang="zh-CN" altLang="en-US" sz="1600">
                <a:solidFill>
                  <a:schemeClr val="tx1"/>
                </a:solidFill>
                <a:latin typeface="Times New Roman" panose="02020603050405020304" charset="0"/>
              </a:rPr>
              <a:t>的核心</a:t>
            </a:r>
            <a:endParaRPr lang="zh-CN" altLang="en-US" sz="1600">
              <a:solidFill>
                <a:schemeClr val="tx1"/>
              </a:solidFill>
              <a:latin typeface="Times New Roman" panose="02020603050405020304" charset="0"/>
            </a:endParaRPr>
          </a:p>
        </p:txBody>
      </p:sp>
      <p:sp>
        <p:nvSpPr>
          <p:cNvPr id="61" name="平行四边形 60"/>
          <p:cNvSpPr/>
          <p:nvPr>
            <p:custDataLst>
              <p:tags r:id="rId11"/>
            </p:custDataLst>
          </p:nvPr>
        </p:nvSpPr>
        <p:spPr>
          <a:xfrm>
            <a:off x="434975" y="3002915"/>
            <a:ext cx="1800225" cy="504190"/>
          </a:xfrm>
          <a:prstGeom prst="parallelogram">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p>
        </p:txBody>
      </p:sp>
      <p:sp>
        <p:nvSpPr>
          <p:cNvPr id="273" name="Text Box 38"/>
          <p:cNvSpPr txBox="1">
            <a:spLocks noChangeArrowheads="1"/>
          </p:cNvSpPr>
          <p:nvPr>
            <p:custDataLst>
              <p:tags r:id="rId12"/>
            </p:custDataLst>
          </p:nvPr>
        </p:nvSpPr>
        <p:spPr bwMode="auto">
          <a:xfrm>
            <a:off x="132080" y="1723390"/>
            <a:ext cx="58928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32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Times New Roman" panose="02020603050405020304" charset="0"/>
                <a:ea typeface="微软雅黑" panose="020B0503020204020204" charset="-122"/>
              </a:rPr>
              <a:t>01</a:t>
            </a:r>
            <a:endParaRPr lang="zh-CN" altLang="zh-CN" sz="32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Times New Roman" panose="02020603050405020304" charset="0"/>
              <a:ea typeface="微软雅黑" panose="020B0503020204020204" charset="-122"/>
            </a:endParaRPr>
          </a:p>
        </p:txBody>
      </p:sp>
      <p:sp>
        <p:nvSpPr>
          <p:cNvPr id="66" name="Text Box 38"/>
          <p:cNvSpPr txBox="1">
            <a:spLocks noChangeArrowheads="1"/>
          </p:cNvSpPr>
          <p:nvPr>
            <p:custDataLst>
              <p:tags r:id="rId13"/>
            </p:custDataLst>
          </p:nvPr>
        </p:nvSpPr>
        <p:spPr bwMode="auto">
          <a:xfrm>
            <a:off x="132080" y="2335530"/>
            <a:ext cx="58928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32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Times New Roman" panose="02020603050405020304" charset="0"/>
                <a:ea typeface="微软雅黑" panose="020B0503020204020204" charset="-122"/>
              </a:rPr>
              <a:t>0</a:t>
            </a:r>
            <a:r>
              <a:rPr lang="en-US" altLang="zh-CN" sz="32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Times New Roman" panose="02020603050405020304" charset="0"/>
                <a:ea typeface="微软雅黑" panose="020B0503020204020204" charset="-122"/>
              </a:rPr>
              <a:t>2</a:t>
            </a:r>
            <a:endParaRPr lang="en-US" altLang="zh-CN" sz="32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Times New Roman" panose="02020603050405020304" charset="0"/>
              <a:ea typeface="微软雅黑" panose="020B0503020204020204" charset="-122"/>
            </a:endParaRPr>
          </a:p>
        </p:txBody>
      </p:sp>
      <p:sp>
        <p:nvSpPr>
          <p:cNvPr id="67" name="Text Box 38"/>
          <p:cNvSpPr txBox="1">
            <a:spLocks noChangeArrowheads="1"/>
          </p:cNvSpPr>
          <p:nvPr>
            <p:custDataLst>
              <p:tags r:id="rId14"/>
            </p:custDataLst>
          </p:nvPr>
        </p:nvSpPr>
        <p:spPr bwMode="auto">
          <a:xfrm>
            <a:off x="132080" y="2947670"/>
            <a:ext cx="58928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32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Times New Roman" panose="02020603050405020304" charset="0"/>
                <a:ea typeface="微软雅黑" panose="020B0503020204020204" charset="-122"/>
              </a:rPr>
              <a:t>0</a:t>
            </a:r>
            <a:r>
              <a:rPr lang="en-US" altLang="zh-CN" sz="32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Times New Roman" panose="02020603050405020304" charset="0"/>
                <a:ea typeface="微软雅黑" panose="020B0503020204020204" charset="-122"/>
              </a:rPr>
              <a:t>3</a:t>
            </a:r>
            <a:endParaRPr lang="en-US" altLang="zh-CN" sz="32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Times New Roman" panose="02020603050405020304" charset="0"/>
              <a:ea typeface="微软雅黑" panose="020B0503020204020204" charset="-122"/>
            </a:endParaRPr>
          </a:p>
        </p:txBody>
      </p:sp>
      <p:pic>
        <p:nvPicPr>
          <p:cNvPr id="2" name="图片 1"/>
          <p:cNvPicPr>
            <a:picLocks noChangeAspect="1"/>
          </p:cNvPicPr>
          <p:nvPr/>
        </p:nvPicPr>
        <p:blipFill>
          <a:blip r:embed="rId15"/>
          <a:stretch>
            <a:fillRect/>
          </a:stretch>
        </p:blipFill>
        <p:spPr>
          <a:xfrm>
            <a:off x="397510" y="3729990"/>
            <a:ext cx="7378700" cy="2704465"/>
          </a:xfrm>
          <a:prstGeom prst="rect">
            <a:avLst/>
          </a:prstGeom>
        </p:spPr>
      </p:pic>
      <p:sp>
        <p:nvSpPr>
          <p:cNvPr id="4" name="文本框 3"/>
          <p:cNvSpPr txBox="1"/>
          <p:nvPr>
            <p:custDataLst>
              <p:tags r:id="rId16"/>
            </p:custDataLst>
          </p:nvPr>
        </p:nvSpPr>
        <p:spPr>
          <a:xfrm>
            <a:off x="630555" y="3083560"/>
            <a:ext cx="1490345" cy="337185"/>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zh-CN" altLang="en-US" sz="1600" b="1">
                <a:solidFill>
                  <a:schemeClr val="bg1"/>
                </a:solidFill>
                <a:latin typeface="Times New Roman" panose="02020603050405020304" charset="0"/>
              </a:rPr>
              <a:t>研究意义</a:t>
            </a:r>
            <a:endParaRPr lang="zh-CN" altLang="en-US" sz="1600" b="1">
              <a:solidFill>
                <a:schemeClr val="bg1"/>
              </a:solidFill>
              <a:latin typeface="Times New Roman" panose="02020603050405020304" charset="0"/>
            </a:endParaRPr>
          </a:p>
        </p:txBody>
      </p:sp>
      <p:sp>
        <p:nvSpPr>
          <p:cNvPr id="5" name="圆角矩形 4"/>
          <p:cNvSpPr/>
          <p:nvPr>
            <p:custDataLst>
              <p:tags r:id="rId17"/>
            </p:custDataLst>
          </p:nvPr>
        </p:nvSpPr>
        <p:spPr>
          <a:xfrm>
            <a:off x="9620250" y="3993515"/>
            <a:ext cx="622300" cy="2200275"/>
          </a:xfrm>
          <a:prstGeom prst="roundRect">
            <a:avLst>
              <a:gd name="adj" fmla="val 4544"/>
            </a:avLst>
          </a:prstGeom>
          <a:solidFill>
            <a:schemeClr val="bg1"/>
          </a:solidFill>
          <a:ln>
            <a:solidFill>
              <a:schemeClr val="accent6"/>
            </a:solid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a:ln>
                  <a:solidFill>
                    <a:schemeClr val="accent6"/>
                  </a:solidFill>
                </a:ln>
                <a:latin typeface="Times New Roman" panose="02020603050405020304" charset="0"/>
                <a:sym typeface="+mn-ea"/>
              </a:rPr>
              <a:t>农业生产率差异</a:t>
            </a:r>
            <a:endParaRPr lang="zh-CN" altLang="en-US">
              <a:ln>
                <a:solidFill>
                  <a:schemeClr val="accent6"/>
                </a:solidFill>
              </a:ln>
              <a:latin typeface="Times New Roman" panose="02020603050405020304" charset="0"/>
              <a:sym typeface="+mn-ea"/>
            </a:endParaRPr>
          </a:p>
        </p:txBody>
      </p:sp>
      <p:sp>
        <p:nvSpPr>
          <p:cNvPr id="8" name="椭圆 7"/>
          <p:cNvSpPr/>
          <p:nvPr/>
        </p:nvSpPr>
        <p:spPr>
          <a:xfrm>
            <a:off x="10635615" y="4699000"/>
            <a:ext cx="1341120" cy="7854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latin typeface="Times New Roman" panose="02020603050405020304" charset="0"/>
              </a:rPr>
              <a:t>劳动力自选择</a:t>
            </a:r>
            <a:endParaRPr lang="zh-CN" altLang="en-US">
              <a:latin typeface="Times New Roman" panose="02020603050405020304" charset="0"/>
            </a:endParaRPr>
          </a:p>
        </p:txBody>
      </p:sp>
      <p:sp>
        <p:nvSpPr>
          <p:cNvPr id="9" name="椭圆 8"/>
          <p:cNvSpPr/>
          <p:nvPr/>
        </p:nvSpPr>
        <p:spPr>
          <a:xfrm>
            <a:off x="7893050" y="4699000"/>
            <a:ext cx="1341120" cy="78549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latin typeface="Times New Roman" panose="02020603050405020304" charset="0"/>
              </a:rPr>
              <a:t>外生</a:t>
            </a:r>
            <a:endParaRPr lang="zh-CN" altLang="en-US">
              <a:latin typeface="Times New Roman" panose="02020603050405020304" charset="0"/>
            </a:endParaRPr>
          </a:p>
          <a:p>
            <a:pPr algn="ctr"/>
            <a:r>
              <a:rPr lang="zh-CN" altLang="en-US">
                <a:latin typeface="Times New Roman" panose="02020603050405020304" charset="0"/>
              </a:rPr>
              <a:t>壁垒</a:t>
            </a:r>
            <a:endParaRPr lang="zh-CN" altLang="en-US">
              <a:latin typeface="Times New Roman" panose="02020603050405020304" charset="0"/>
            </a:endParaRPr>
          </a:p>
        </p:txBody>
      </p:sp>
      <p:cxnSp>
        <p:nvCxnSpPr>
          <p:cNvPr id="10" name="直接箭头连接符 9"/>
          <p:cNvCxnSpPr>
            <a:stCxn id="9" idx="6"/>
            <a:endCxn id="5" idx="1"/>
          </p:cNvCxnSpPr>
          <p:nvPr/>
        </p:nvCxnSpPr>
        <p:spPr>
          <a:xfrm>
            <a:off x="9234170" y="5092065"/>
            <a:ext cx="386080" cy="1905"/>
          </a:xfrm>
          <a:prstGeom prst="straightConnector1">
            <a:avLst/>
          </a:prstGeom>
          <a:ln>
            <a:tailEnd type="stealth" w="lg" len="lg"/>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8" idx="2"/>
            <a:endCxn id="5" idx="3"/>
          </p:cNvCxnSpPr>
          <p:nvPr/>
        </p:nvCxnSpPr>
        <p:spPr>
          <a:xfrm flipH="1">
            <a:off x="10242550" y="5092065"/>
            <a:ext cx="393065" cy="1905"/>
          </a:xfrm>
          <a:prstGeom prst="straightConnector1">
            <a:avLst/>
          </a:prstGeom>
          <a:ln>
            <a:tailEnd type="stealth" w="lg" len="lg"/>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7864475" y="4085590"/>
            <a:ext cx="1362710" cy="368300"/>
          </a:xfrm>
          <a:prstGeom prst="rect">
            <a:avLst/>
          </a:prstGeom>
          <a:noFill/>
        </p:spPr>
        <p:txBody>
          <a:bodyPr wrap="square" rtlCol="0">
            <a:spAutoFit/>
          </a:bodyPr>
          <a:lstStyle/>
          <a:p>
            <a:pPr algn="ctr"/>
            <a:r>
              <a:rPr lang="zh-CN" altLang="en-US" b="1">
                <a:latin typeface="Times New Roman" panose="02020603050405020304" charset="0"/>
              </a:rPr>
              <a:t>现有解释</a:t>
            </a:r>
            <a:endParaRPr lang="zh-CN" altLang="en-US" b="1">
              <a:latin typeface="Times New Roman" panose="02020603050405020304" charset="0"/>
            </a:endParaRPr>
          </a:p>
        </p:txBody>
      </p:sp>
      <p:sp>
        <p:nvSpPr>
          <p:cNvPr id="13" name="文本框 12"/>
          <p:cNvSpPr txBox="1"/>
          <p:nvPr/>
        </p:nvSpPr>
        <p:spPr>
          <a:xfrm>
            <a:off x="10628630" y="4085590"/>
            <a:ext cx="1362710" cy="368300"/>
          </a:xfrm>
          <a:prstGeom prst="rect">
            <a:avLst/>
          </a:prstGeom>
          <a:noFill/>
        </p:spPr>
        <p:txBody>
          <a:bodyPr wrap="square" rtlCol="0">
            <a:spAutoFit/>
          </a:bodyPr>
          <a:lstStyle/>
          <a:p>
            <a:pPr algn="ctr"/>
            <a:r>
              <a:rPr lang="zh-CN" altLang="en-US" b="1">
                <a:latin typeface="Times New Roman" panose="02020603050405020304" charset="0"/>
              </a:rPr>
              <a:t>本文新视角</a:t>
            </a:r>
            <a:endParaRPr lang="zh-CN" altLang="en-US" b="1">
              <a:latin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5293995" y="2310765"/>
            <a:ext cx="5942965" cy="1014730"/>
          </a:xfrm>
          <a:prstGeom prst="rect">
            <a:avLst/>
          </a:prstGeom>
          <a:noFill/>
        </p:spPr>
        <p:txBody>
          <a:bodyPr wrap="square" rtlCol="0">
            <a:spAutoFit/>
          </a:bodyPr>
          <a:lstStyle/>
          <a:p>
            <a:r>
              <a:rPr lang="zh-CN" altLang="en-US" sz="6000" b="1">
                <a:solidFill>
                  <a:schemeClr val="tx1"/>
                </a:solidFill>
              </a:rPr>
              <a:t>影响机制</a:t>
            </a:r>
            <a:endParaRPr lang="zh-CN" altLang="en-US" sz="6000" b="1">
              <a:solidFill>
                <a:schemeClr val="tx1"/>
              </a:solidFill>
            </a:endParaRPr>
          </a:p>
        </p:txBody>
      </p:sp>
      <p:sp>
        <p:nvSpPr>
          <p:cNvPr id="20" name="文本框 19"/>
          <p:cNvSpPr txBox="1"/>
          <p:nvPr/>
        </p:nvSpPr>
        <p:spPr>
          <a:xfrm>
            <a:off x="5293995" y="3577590"/>
            <a:ext cx="6248400" cy="583565"/>
          </a:xfrm>
          <a:prstGeom prst="rect">
            <a:avLst/>
          </a:prstGeom>
          <a:noFill/>
        </p:spPr>
        <p:txBody>
          <a:bodyPr wrap="square" rtlCol="0">
            <a:spAutoFit/>
          </a:bodyPr>
          <a:lstStyle/>
          <a:p>
            <a:r>
              <a:rPr lang="en-US" altLang="zh-CN" sz="3200" dirty="0">
                <a:latin typeface="Times New Roman" panose="02020603050405020304" charset="0"/>
                <a:cs typeface="Times New Roman" panose="02020603050405020304" charset="0"/>
                <a:sym typeface="+mn-ea"/>
              </a:rPr>
              <a:t>Mechanism</a:t>
            </a:r>
            <a:endParaRPr lang="en-US" altLang="zh-CN" sz="3200">
              <a:solidFill>
                <a:schemeClr val="tx1"/>
              </a:solidFill>
              <a:latin typeface="Times New Roman" panose="02020603050405020304" charset="0"/>
              <a:cs typeface="Times New Roman" panose="02020603050405020304" charset="0"/>
              <a:sym typeface="+mn-ea"/>
            </a:endParaRPr>
          </a:p>
        </p:txBody>
      </p:sp>
      <p:sp>
        <p:nvSpPr>
          <p:cNvPr id="29" name="文本框 28"/>
          <p:cNvSpPr txBox="1"/>
          <p:nvPr/>
        </p:nvSpPr>
        <p:spPr>
          <a:xfrm>
            <a:off x="1177925" y="1510665"/>
            <a:ext cx="3314700" cy="3769360"/>
          </a:xfrm>
          <a:prstGeom prst="rect">
            <a:avLst/>
          </a:prstGeom>
          <a:noFill/>
        </p:spPr>
        <p:txBody>
          <a:bodyPr wrap="square" rtlCol="0">
            <a:spAutoFit/>
          </a:bodyPr>
          <a:lstStyle/>
          <a:p>
            <a:r>
              <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rPr>
              <a:t>02</a:t>
            </a:r>
            <a:endPar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endParaRPr>
          </a:p>
        </p:txBody>
      </p:sp>
      <p:cxnSp>
        <p:nvCxnSpPr>
          <p:cNvPr id="30" name="直接连接符 29"/>
          <p:cNvCxnSpPr/>
          <p:nvPr/>
        </p:nvCxnSpPr>
        <p:spPr>
          <a:xfrm flipV="1">
            <a:off x="-9525" y="495554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flipV="1">
            <a:off x="2649855" y="4736465"/>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H="1">
            <a:off x="8239125" y="1696085"/>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flipH="1">
            <a:off x="8239125" y="1758950"/>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5507990"/>
            <a:ext cx="12195175" cy="1362075"/>
            <a:chOff x="0" y="5507990"/>
            <a:chExt cx="12195175" cy="1362075"/>
          </a:xfrm>
        </p:grpSpPr>
        <p:sp>
          <p:nvSpPr>
            <p:cNvPr id="5" name="任意多边形 688"/>
            <p:cNvSpPr/>
            <p:nvPr/>
          </p:nvSpPr>
          <p:spPr>
            <a:xfrm>
              <a:off x="3175" y="5507990"/>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687"/>
            <p:cNvSpPr/>
            <p:nvPr/>
          </p:nvSpPr>
          <p:spPr>
            <a:xfrm>
              <a:off x="0" y="555180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任意多边形 682"/>
            <p:cNvSpPr/>
            <p:nvPr/>
          </p:nvSpPr>
          <p:spPr>
            <a:xfrm>
              <a:off x="0" y="558482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alpha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任意多边形 689"/>
            <p:cNvSpPr/>
            <p:nvPr/>
          </p:nvSpPr>
          <p:spPr>
            <a:xfrm>
              <a:off x="1270" y="5645785"/>
              <a:ext cx="12192000" cy="122428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pic>
        <p:nvPicPr>
          <p:cNvPr id="10" name="图片 9" descr="03校标，中、英文校名组合"/>
          <p:cNvPicPr>
            <a:picLocks noChangeAspect="1"/>
          </p:cNvPicPr>
          <p:nvPr userDrawn="1"/>
        </p:nvPicPr>
        <p:blipFill>
          <a:blip r:embed="rId1"/>
          <a:stretch>
            <a:fillRect/>
          </a:stretch>
        </p:blipFill>
        <p:spPr>
          <a:xfrm>
            <a:off x="260350" y="137160"/>
            <a:ext cx="2588895" cy="823595"/>
          </a:xfrm>
          <a:prstGeom prst="rect">
            <a:avLst/>
          </a:prstGeom>
        </p:spPr>
      </p:pic>
      <p:sp>
        <p:nvSpPr>
          <p:cNvPr id="13" name="文本框 3"/>
          <p:cNvSpPr txBox="1"/>
          <p:nvPr/>
        </p:nvSpPr>
        <p:spPr>
          <a:xfrm>
            <a:off x="3127375" y="342809"/>
            <a:ext cx="3867785"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6"/>
                </a:solidFill>
                <a:latin typeface="华文行楷" panose="02010800040101010101" charset="-122"/>
                <a:ea typeface="华文行楷" panose="02010800040101010101" charset="-122"/>
              </a:rPr>
              <a:t>诚朴雄伟</a:t>
            </a:r>
            <a:r>
              <a:rPr lang="en-US" altLang="zh-CN" sz="3200" dirty="0">
                <a:solidFill>
                  <a:schemeClr val="accent6"/>
                </a:solidFill>
                <a:latin typeface="华文行楷" panose="02010800040101010101" charset="-122"/>
                <a:ea typeface="华文行楷" panose="02010800040101010101" charset="-122"/>
              </a:rPr>
              <a:t> </a:t>
            </a:r>
            <a:r>
              <a:rPr lang="zh-CN" altLang="en-US" sz="3200" dirty="0">
                <a:solidFill>
                  <a:schemeClr val="accent6"/>
                </a:solidFill>
                <a:latin typeface="华文行楷" panose="02010800040101010101" charset="-122"/>
                <a:ea typeface="华文行楷" panose="02010800040101010101" charset="-122"/>
              </a:rPr>
              <a:t>励学敦</a:t>
            </a:r>
            <a:r>
              <a:rPr lang="zh-CN" altLang="en-US" sz="3200" dirty="0">
                <a:solidFill>
                  <a:schemeClr val="accent6"/>
                </a:solidFill>
                <a:latin typeface="华文行楷" panose="02010800040101010101" charset="-122"/>
                <a:ea typeface="华文行楷" panose="02010800040101010101" charset="-122"/>
              </a:rPr>
              <a:t>行</a:t>
            </a:r>
            <a:endParaRPr lang="zh-CN" altLang="en-US" sz="3200" dirty="0">
              <a:solidFill>
                <a:schemeClr val="accent6"/>
              </a:solidFill>
              <a:latin typeface="华文行楷" panose="02010800040101010101" charset="-122"/>
              <a:ea typeface="华文行楷" panose="020108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1641475" y="1005840"/>
            <a:ext cx="8775700" cy="1064895"/>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箭头: V 形 19"/>
          <p:cNvSpPr/>
          <p:nvPr/>
        </p:nvSpPr>
        <p:spPr>
          <a:xfrm rot="5400000">
            <a:off x="2962005" y="2246939"/>
            <a:ext cx="252000" cy="252000"/>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9" name="箭头: V 形 28"/>
          <p:cNvSpPr/>
          <p:nvPr/>
        </p:nvSpPr>
        <p:spPr>
          <a:xfrm rot="5400000">
            <a:off x="8850715" y="2246939"/>
            <a:ext cx="252000" cy="252000"/>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4851400" y="1039495"/>
            <a:ext cx="2429510" cy="368300"/>
          </a:xfrm>
          <a:prstGeom prst="rect">
            <a:avLst/>
          </a:prstGeom>
          <a:noFill/>
        </p:spPr>
        <p:txBody>
          <a:bodyPr wrap="square" rtlCol="0">
            <a:spAutoFit/>
          </a:bodyPr>
          <a:p>
            <a:pPr algn="ctr"/>
            <a:r>
              <a:rPr lang="zh-CN" altLang="en-US"/>
              <a:t>前提</a:t>
            </a:r>
            <a:r>
              <a:rPr lang="zh-CN" altLang="en-US"/>
              <a:t>条件</a:t>
            </a:r>
            <a:endParaRPr lang="zh-CN" altLang="en-US"/>
          </a:p>
        </p:txBody>
      </p:sp>
      <p:sp>
        <p:nvSpPr>
          <p:cNvPr id="11" name="矩形: 圆角 27"/>
          <p:cNvSpPr/>
          <p:nvPr/>
        </p:nvSpPr>
        <p:spPr>
          <a:xfrm>
            <a:off x="2005965" y="1442720"/>
            <a:ext cx="3763010" cy="493395"/>
          </a:xfrm>
          <a:prstGeom prst="roundRect">
            <a:avLst>
              <a:gd name="adj" fmla="val 4031"/>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bg1"/>
                </a:solidFill>
              </a:rPr>
              <a:t>国家间只有整体经济效率</a:t>
            </a:r>
            <a:r>
              <a:rPr lang="en-US" altLang="zh-CN">
                <a:solidFill>
                  <a:schemeClr val="bg1"/>
                </a:solidFill>
              </a:rPr>
              <a:t>A</a:t>
            </a:r>
            <a:r>
              <a:rPr lang="zh-CN" altLang="en-US">
                <a:solidFill>
                  <a:schemeClr val="bg1"/>
                </a:solidFill>
              </a:rPr>
              <a:t>有差异</a:t>
            </a:r>
            <a:endParaRPr lang="zh-CN" altLang="en-US">
              <a:solidFill>
                <a:schemeClr val="bg1"/>
              </a:solidFill>
            </a:endParaRPr>
          </a:p>
        </p:txBody>
      </p:sp>
      <p:sp>
        <p:nvSpPr>
          <p:cNvPr id="13" name="矩形: 圆角 27"/>
          <p:cNvSpPr/>
          <p:nvPr/>
        </p:nvSpPr>
        <p:spPr>
          <a:xfrm>
            <a:off x="6288405" y="1442720"/>
            <a:ext cx="3763010" cy="493395"/>
          </a:xfrm>
          <a:prstGeom prst="roundRect">
            <a:avLst>
              <a:gd name="adj" fmla="val 4031"/>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bg1"/>
                </a:solidFill>
              </a:rPr>
              <a:t>比较优势与绝对优势</a:t>
            </a:r>
            <a:r>
              <a:rPr lang="zh-CN" altLang="en-US">
                <a:solidFill>
                  <a:schemeClr val="bg1"/>
                </a:solidFill>
              </a:rPr>
              <a:t>一致</a:t>
            </a:r>
            <a:endParaRPr lang="zh-CN" altLang="en-US">
              <a:solidFill>
                <a:schemeClr val="bg1"/>
              </a:solidFill>
            </a:endParaRPr>
          </a:p>
        </p:txBody>
      </p:sp>
      <p:grpSp>
        <p:nvGrpSpPr>
          <p:cNvPr id="2" name="组合 1"/>
          <p:cNvGrpSpPr/>
          <p:nvPr/>
        </p:nvGrpSpPr>
        <p:grpSpPr>
          <a:xfrm>
            <a:off x="1231265" y="2663190"/>
            <a:ext cx="3714750" cy="3026410"/>
            <a:chOff x="2947" y="3954"/>
            <a:chExt cx="5850" cy="4766"/>
          </a:xfrm>
        </p:grpSpPr>
        <p:sp>
          <p:nvSpPr>
            <p:cNvPr id="28" name="矩形: 圆角 27"/>
            <p:cNvSpPr/>
            <p:nvPr/>
          </p:nvSpPr>
          <p:spPr>
            <a:xfrm>
              <a:off x="2947" y="3954"/>
              <a:ext cx="5851" cy="4767"/>
            </a:xfrm>
            <a:prstGeom prst="roundRect">
              <a:avLst>
                <a:gd name="adj" fmla="val 4031"/>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endParaRPr>
            </a:p>
          </p:txBody>
        </p:sp>
        <p:sp>
          <p:nvSpPr>
            <p:cNvPr id="23" name="矩形: 圆角 22"/>
            <p:cNvSpPr/>
            <p:nvPr/>
          </p:nvSpPr>
          <p:spPr>
            <a:xfrm>
              <a:off x="3413" y="4674"/>
              <a:ext cx="5020" cy="497"/>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整体经济效率</a:t>
              </a:r>
              <a:r>
                <a:rPr lang="en-US" altLang="zh-CN" sz="1600">
                  <a:solidFill>
                    <a:schemeClr val="tx1"/>
                  </a:solidFill>
                </a:rPr>
                <a:t>A</a:t>
              </a:r>
              <a:r>
                <a:rPr lang="zh-CN" altLang="en-US" sz="1600">
                  <a:solidFill>
                    <a:schemeClr val="tx1"/>
                  </a:solidFill>
                </a:rPr>
                <a:t>低</a:t>
              </a:r>
              <a:endParaRPr lang="zh-CN" altLang="en-US" sz="1600">
                <a:solidFill>
                  <a:schemeClr val="tx1"/>
                </a:solidFill>
              </a:endParaRPr>
            </a:p>
          </p:txBody>
        </p:sp>
        <p:sp>
          <p:nvSpPr>
            <p:cNvPr id="16" name="文本框 15"/>
            <p:cNvSpPr txBox="1"/>
            <p:nvPr/>
          </p:nvSpPr>
          <p:spPr>
            <a:xfrm>
              <a:off x="4768" y="4003"/>
              <a:ext cx="2310" cy="580"/>
            </a:xfrm>
            <a:prstGeom prst="rect">
              <a:avLst/>
            </a:prstGeom>
            <a:noFill/>
          </p:spPr>
          <p:txBody>
            <a:bodyPr wrap="square" rtlCol="0">
              <a:spAutoFit/>
            </a:bodyPr>
            <a:p>
              <a:pPr algn="ctr"/>
              <a:r>
                <a:rPr lang="zh-CN" altLang="en-US">
                  <a:solidFill>
                    <a:schemeClr val="bg1"/>
                  </a:solidFill>
                </a:rPr>
                <a:t>穷国</a:t>
              </a:r>
              <a:endParaRPr lang="zh-CN" altLang="en-US">
                <a:solidFill>
                  <a:schemeClr val="bg1"/>
                </a:solidFill>
              </a:endParaRPr>
            </a:p>
          </p:txBody>
        </p:sp>
        <p:sp>
          <p:nvSpPr>
            <p:cNvPr id="19" name="矩形: 圆角 22"/>
            <p:cNvSpPr/>
            <p:nvPr/>
          </p:nvSpPr>
          <p:spPr>
            <a:xfrm>
              <a:off x="3413" y="5519"/>
              <a:ext cx="5020" cy="465"/>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生存需求难满足，</a:t>
              </a:r>
              <a:r>
                <a:rPr lang="en-US" altLang="zh-CN" sz="1600">
                  <a:solidFill>
                    <a:schemeClr val="tx1"/>
                  </a:solidFill>
                </a:rPr>
                <a:t>Pa</a:t>
              </a:r>
              <a:r>
                <a:rPr lang="zh-CN" altLang="en-US" sz="1600">
                  <a:solidFill>
                    <a:schemeClr val="tx1"/>
                  </a:solidFill>
                </a:rPr>
                <a:t>高</a:t>
              </a:r>
              <a:endParaRPr lang="zh-CN" altLang="en-US" sz="1600">
                <a:solidFill>
                  <a:schemeClr val="tx1"/>
                </a:solidFill>
              </a:endParaRPr>
            </a:p>
          </p:txBody>
        </p:sp>
        <p:sp>
          <p:nvSpPr>
            <p:cNvPr id="21" name="箭头: V 形 19"/>
            <p:cNvSpPr/>
            <p:nvPr/>
          </p:nvSpPr>
          <p:spPr>
            <a:xfrm rot="5400000">
              <a:off x="5725" y="5145"/>
              <a:ext cx="397" cy="397"/>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 name="矩形: 圆角 22"/>
            <p:cNvSpPr/>
            <p:nvPr/>
          </p:nvSpPr>
          <p:spPr>
            <a:xfrm>
              <a:off x="3413" y="6364"/>
              <a:ext cx="5020" cy="445"/>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大量工人被迫选择</a:t>
              </a:r>
              <a:r>
                <a:rPr lang="zh-CN" altLang="en-US" sz="1600">
                  <a:solidFill>
                    <a:schemeClr val="tx1"/>
                  </a:solidFill>
                </a:rPr>
                <a:t>留在农业</a:t>
              </a:r>
              <a:endParaRPr lang="zh-CN" altLang="en-US" sz="1600">
                <a:solidFill>
                  <a:schemeClr val="tx1"/>
                </a:solidFill>
              </a:endParaRPr>
            </a:p>
          </p:txBody>
        </p:sp>
        <p:sp>
          <p:nvSpPr>
            <p:cNvPr id="33" name="箭头: V 形 19"/>
            <p:cNvSpPr/>
            <p:nvPr/>
          </p:nvSpPr>
          <p:spPr>
            <a:xfrm rot="5400000">
              <a:off x="5725" y="5979"/>
              <a:ext cx="397" cy="397"/>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6" name="矩形: 圆角 22"/>
            <p:cNvSpPr/>
            <p:nvPr/>
          </p:nvSpPr>
          <p:spPr>
            <a:xfrm>
              <a:off x="3404" y="7169"/>
              <a:ext cx="5020" cy="445"/>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农业劳动力</a:t>
              </a:r>
              <a:r>
                <a:rPr lang="zh-CN" altLang="en-US" sz="1600">
                  <a:solidFill>
                    <a:schemeClr val="tx1"/>
                  </a:solidFill>
                </a:rPr>
                <a:t>平均个人生产率</a:t>
              </a:r>
              <a:r>
                <a:rPr lang="zh-CN" altLang="en-US" sz="1600">
                  <a:solidFill>
                    <a:schemeClr val="tx1"/>
                  </a:solidFill>
                </a:rPr>
                <a:t>低</a:t>
              </a:r>
              <a:endParaRPr lang="zh-CN" altLang="en-US" sz="1600">
                <a:solidFill>
                  <a:schemeClr val="tx1"/>
                </a:solidFill>
              </a:endParaRPr>
            </a:p>
          </p:txBody>
        </p:sp>
        <p:sp>
          <p:nvSpPr>
            <p:cNvPr id="37" name="箭头: V 形 19"/>
            <p:cNvSpPr/>
            <p:nvPr/>
          </p:nvSpPr>
          <p:spPr>
            <a:xfrm rot="5400000">
              <a:off x="5716" y="6784"/>
              <a:ext cx="397" cy="397"/>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圆角 22"/>
            <p:cNvSpPr/>
            <p:nvPr/>
          </p:nvSpPr>
          <p:spPr>
            <a:xfrm>
              <a:off x="3413" y="7974"/>
              <a:ext cx="5020" cy="445"/>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农业</a:t>
              </a:r>
              <a:r>
                <a:rPr lang="zh-CN" altLang="en-US" sz="1600">
                  <a:solidFill>
                    <a:schemeClr val="tx1"/>
                  </a:solidFill>
                </a:rPr>
                <a:t>低效</a:t>
              </a:r>
              <a:endParaRPr lang="zh-CN" altLang="en-US" sz="1600">
                <a:solidFill>
                  <a:schemeClr val="tx1"/>
                </a:solidFill>
              </a:endParaRPr>
            </a:p>
          </p:txBody>
        </p:sp>
        <p:sp>
          <p:nvSpPr>
            <p:cNvPr id="41" name="箭头: V 形 19"/>
            <p:cNvSpPr/>
            <p:nvPr/>
          </p:nvSpPr>
          <p:spPr>
            <a:xfrm rot="5400000">
              <a:off x="5725" y="7589"/>
              <a:ext cx="397" cy="397"/>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3" name="组合 2"/>
          <p:cNvGrpSpPr/>
          <p:nvPr/>
        </p:nvGrpSpPr>
        <p:grpSpPr>
          <a:xfrm>
            <a:off x="7219950" y="2647950"/>
            <a:ext cx="3666490" cy="3040380"/>
            <a:chOff x="10278" y="3954"/>
            <a:chExt cx="5774" cy="4788"/>
          </a:xfrm>
        </p:grpSpPr>
        <p:sp>
          <p:nvSpPr>
            <p:cNvPr id="24" name="箭头: V 形 23"/>
            <p:cNvSpPr/>
            <p:nvPr/>
          </p:nvSpPr>
          <p:spPr>
            <a:xfrm rot="5400000">
              <a:off x="14881" y="4592"/>
              <a:ext cx="397" cy="397"/>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圆角 27"/>
            <p:cNvSpPr/>
            <p:nvPr/>
          </p:nvSpPr>
          <p:spPr>
            <a:xfrm>
              <a:off x="10278" y="3954"/>
              <a:ext cx="5775" cy="4789"/>
            </a:xfrm>
            <a:prstGeom prst="roundRect">
              <a:avLst>
                <a:gd name="adj" fmla="val 4031"/>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endParaRPr>
            </a:p>
          </p:txBody>
        </p:sp>
        <p:sp>
          <p:nvSpPr>
            <p:cNvPr id="17" name="文本框 16"/>
            <p:cNvSpPr txBox="1"/>
            <p:nvPr/>
          </p:nvSpPr>
          <p:spPr>
            <a:xfrm>
              <a:off x="11882" y="3988"/>
              <a:ext cx="2310" cy="580"/>
            </a:xfrm>
            <a:prstGeom prst="rect">
              <a:avLst/>
            </a:prstGeom>
            <a:noFill/>
          </p:spPr>
          <p:txBody>
            <a:bodyPr wrap="square" rtlCol="0">
              <a:spAutoFit/>
            </a:bodyPr>
            <a:p>
              <a:pPr algn="ctr"/>
              <a:r>
                <a:rPr lang="zh-CN" altLang="en-US">
                  <a:solidFill>
                    <a:schemeClr val="bg1"/>
                  </a:solidFill>
                </a:rPr>
                <a:t>富国</a:t>
              </a:r>
              <a:endParaRPr lang="zh-CN" altLang="en-US">
                <a:solidFill>
                  <a:schemeClr val="bg1"/>
                </a:solidFill>
              </a:endParaRPr>
            </a:p>
          </p:txBody>
        </p:sp>
        <p:sp>
          <p:nvSpPr>
            <p:cNvPr id="18" name="矩形: 圆角 22"/>
            <p:cNvSpPr/>
            <p:nvPr/>
          </p:nvSpPr>
          <p:spPr>
            <a:xfrm>
              <a:off x="10643" y="4592"/>
              <a:ext cx="5020" cy="516"/>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整体经济效率</a:t>
              </a:r>
              <a:r>
                <a:rPr lang="en-US" altLang="zh-CN" sz="1600">
                  <a:solidFill>
                    <a:schemeClr val="tx1"/>
                  </a:solidFill>
                </a:rPr>
                <a:t>A</a:t>
              </a:r>
              <a:r>
                <a:rPr lang="zh-CN" altLang="en-US" sz="1600">
                  <a:solidFill>
                    <a:schemeClr val="tx1"/>
                  </a:solidFill>
                </a:rPr>
                <a:t>高</a:t>
              </a:r>
              <a:endParaRPr lang="zh-CN" altLang="en-US" sz="1600">
                <a:solidFill>
                  <a:schemeClr val="tx1"/>
                </a:solidFill>
              </a:endParaRPr>
            </a:p>
          </p:txBody>
        </p:sp>
        <p:sp>
          <p:nvSpPr>
            <p:cNvPr id="27" name="矩形: 圆角 22"/>
            <p:cNvSpPr/>
            <p:nvPr/>
          </p:nvSpPr>
          <p:spPr>
            <a:xfrm>
              <a:off x="10643" y="5489"/>
              <a:ext cx="5020" cy="490"/>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生存需求易满足，</a:t>
              </a:r>
              <a:r>
                <a:rPr lang="en-US" altLang="zh-CN" sz="1600">
                  <a:solidFill>
                    <a:schemeClr val="tx1"/>
                  </a:solidFill>
                </a:rPr>
                <a:t>Pa</a:t>
              </a:r>
              <a:r>
                <a:rPr lang="zh-CN" altLang="en-US" sz="1600">
                  <a:solidFill>
                    <a:schemeClr val="tx1"/>
                  </a:solidFill>
                </a:rPr>
                <a:t>低</a:t>
              </a:r>
              <a:endParaRPr lang="zh-CN" altLang="en-US" sz="1600">
                <a:solidFill>
                  <a:schemeClr val="tx1"/>
                </a:solidFill>
              </a:endParaRPr>
            </a:p>
          </p:txBody>
        </p:sp>
        <p:sp>
          <p:nvSpPr>
            <p:cNvPr id="31" name="箭头: V 形 19"/>
            <p:cNvSpPr/>
            <p:nvPr/>
          </p:nvSpPr>
          <p:spPr>
            <a:xfrm rot="5400000">
              <a:off x="12955" y="5103"/>
              <a:ext cx="397" cy="397"/>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 name="矩形: 圆角 22"/>
            <p:cNvSpPr/>
            <p:nvPr/>
          </p:nvSpPr>
          <p:spPr>
            <a:xfrm>
              <a:off x="10643" y="6355"/>
              <a:ext cx="5020" cy="470"/>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仅农业生产率高</a:t>
              </a:r>
              <a:r>
                <a:rPr lang="zh-CN" altLang="en-US" sz="1600">
                  <a:solidFill>
                    <a:schemeClr val="tx1"/>
                  </a:solidFill>
                </a:rPr>
                <a:t>者选择</a:t>
              </a:r>
              <a:r>
                <a:rPr lang="zh-CN" altLang="en-US" sz="1600">
                  <a:solidFill>
                    <a:schemeClr val="tx1"/>
                  </a:solidFill>
                </a:rPr>
                <a:t>进入农业</a:t>
              </a:r>
              <a:endParaRPr lang="zh-CN" altLang="en-US" sz="1600">
                <a:solidFill>
                  <a:schemeClr val="tx1"/>
                </a:solidFill>
              </a:endParaRPr>
            </a:p>
          </p:txBody>
        </p:sp>
        <p:sp>
          <p:nvSpPr>
            <p:cNvPr id="35" name="箭头: V 形 19"/>
            <p:cNvSpPr/>
            <p:nvPr/>
          </p:nvSpPr>
          <p:spPr>
            <a:xfrm rot="5400000">
              <a:off x="12955" y="5959"/>
              <a:ext cx="397" cy="397"/>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矩形: 圆角 22"/>
            <p:cNvSpPr/>
            <p:nvPr/>
          </p:nvSpPr>
          <p:spPr>
            <a:xfrm>
              <a:off x="10643" y="7207"/>
              <a:ext cx="5020" cy="445"/>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农业劳动力</a:t>
              </a:r>
              <a:r>
                <a:rPr lang="zh-CN" altLang="en-US" sz="1600">
                  <a:solidFill>
                    <a:schemeClr val="tx1"/>
                  </a:solidFill>
                </a:rPr>
                <a:t>平均个人生产率</a:t>
              </a:r>
              <a:r>
                <a:rPr lang="zh-CN" altLang="en-US" sz="1600">
                  <a:solidFill>
                    <a:schemeClr val="tx1"/>
                  </a:solidFill>
                </a:rPr>
                <a:t>高</a:t>
              </a:r>
              <a:endParaRPr lang="zh-CN" altLang="en-US" sz="1600">
                <a:solidFill>
                  <a:schemeClr val="tx1"/>
                </a:solidFill>
              </a:endParaRPr>
            </a:p>
          </p:txBody>
        </p:sp>
        <p:sp>
          <p:nvSpPr>
            <p:cNvPr id="39" name="箭头: V 形 19"/>
            <p:cNvSpPr/>
            <p:nvPr/>
          </p:nvSpPr>
          <p:spPr>
            <a:xfrm rot="5400000">
              <a:off x="12955" y="6822"/>
              <a:ext cx="397" cy="397"/>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2" name="矩形: 圆角 22"/>
            <p:cNvSpPr/>
            <p:nvPr/>
          </p:nvSpPr>
          <p:spPr>
            <a:xfrm>
              <a:off x="10643" y="7999"/>
              <a:ext cx="5020" cy="445"/>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solidFill>
                    <a:schemeClr val="tx1"/>
                  </a:solidFill>
                </a:rPr>
                <a:t>农业</a:t>
              </a:r>
              <a:r>
                <a:rPr lang="zh-CN" altLang="en-US" sz="1600">
                  <a:solidFill>
                    <a:schemeClr val="tx1"/>
                  </a:solidFill>
                </a:rPr>
                <a:t>高效</a:t>
              </a:r>
              <a:endParaRPr lang="zh-CN" altLang="en-US" sz="1600">
                <a:solidFill>
                  <a:schemeClr val="tx1"/>
                </a:solidFill>
              </a:endParaRPr>
            </a:p>
          </p:txBody>
        </p:sp>
        <p:sp>
          <p:nvSpPr>
            <p:cNvPr id="43" name="箭头: V 形 19"/>
            <p:cNvSpPr/>
            <p:nvPr/>
          </p:nvSpPr>
          <p:spPr>
            <a:xfrm rot="5400000">
              <a:off x="12955" y="7614"/>
              <a:ext cx="397" cy="397"/>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44" name="矩形: 圆角 13"/>
          <p:cNvSpPr/>
          <p:nvPr/>
        </p:nvSpPr>
        <p:spPr>
          <a:xfrm>
            <a:off x="1641475" y="6051550"/>
            <a:ext cx="8775700" cy="425450"/>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tx1"/>
                </a:solidFill>
              </a:rPr>
              <a:t>农业差异放大，非农业差异</a:t>
            </a:r>
            <a:r>
              <a:rPr lang="zh-CN" altLang="en-US">
                <a:solidFill>
                  <a:schemeClr val="tx1"/>
                </a:solidFill>
              </a:rPr>
              <a:t>缩小</a:t>
            </a:r>
            <a:endParaRPr lang="zh-CN" altLang="en-US">
              <a:solidFill>
                <a:schemeClr val="tx1"/>
              </a:solidFill>
            </a:endParaRPr>
          </a:p>
        </p:txBody>
      </p:sp>
      <p:sp>
        <p:nvSpPr>
          <p:cNvPr id="45" name="箭头: V 形 19"/>
          <p:cNvSpPr/>
          <p:nvPr/>
        </p:nvSpPr>
        <p:spPr>
          <a:xfrm rot="5400000">
            <a:off x="3701145" y="5748964"/>
            <a:ext cx="252000" cy="252000"/>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6" name="箭头: V 形 28"/>
          <p:cNvSpPr/>
          <p:nvPr/>
        </p:nvSpPr>
        <p:spPr>
          <a:xfrm rot="5400000">
            <a:off x="7974415" y="5748964"/>
            <a:ext cx="252000" cy="252000"/>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 name="直接箭头连接符 3"/>
          <p:cNvCxnSpPr/>
          <p:nvPr/>
        </p:nvCxnSpPr>
        <p:spPr>
          <a:xfrm>
            <a:off x="4709160" y="4846320"/>
            <a:ext cx="2742565" cy="8890"/>
          </a:xfrm>
          <a:prstGeom prst="straightConnector1">
            <a:avLst/>
          </a:prstGeom>
          <a:ln w="63500" cmpd="dbl">
            <a:solidFill>
              <a:srgbClr val="C00000"/>
            </a:solidFill>
            <a:headEnd type="stealth" w="lg" len="lg"/>
            <a:tailEnd type="stealth" w="lg" len="lg"/>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5315585" y="4172585"/>
            <a:ext cx="1626870" cy="645160"/>
          </a:xfrm>
          <a:prstGeom prst="rect">
            <a:avLst/>
          </a:prstGeom>
          <a:noFill/>
        </p:spPr>
        <p:txBody>
          <a:bodyPr wrap="square" rtlCol="0">
            <a:spAutoFit/>
          </a:bodyPr>
          <a:p>
            <a:r>
              <a:rPr lang="zh-CN" altLang="en-US" b="1"/>
              <a:t>农业平均生产率差异被放大</a:t>
            </a:r>
            <a:endParaRPr lang="zh-CN" altLang="en-US" b="1"/>
          </a:p>
        </p:txBody>
      </p:sp>
      <p:grpSp>
        <p:nvGrpSpPr>
          <p:cNvPr id="9" name="组合 8"/>
          <p:cNvGrpSpPr/>
          <p:nvPr/>
        </p:nvGrpSpPr>
        <p:grpSpPr>
          <a:xfrm>
            <a:off x="4528820" y="2113915"/>
            <a:ext cx="3134360" cy="666750"/>
            <a:chOff x="7132" y="3089"/>
            <a:chExt cx="4936" cy="1050"/>
          </a:xfrm>
        </p:grpSpPr>
        <p:sp>
          <p:nvSpPr>
            <p:cNvPr id="6" name="椭圆 5"/>
            <p:cNvSpPr/>
            <p:nvPr/>
          </p:nvSpPr>
          <p:spPr>
            <a:xfrm>
              <a:off x="7132" y="3089"/>
              <a:ext cx="4936" cy="1050"/>
            </a:xfrm>
            <a:prstGeom prst="ellipse">
              <a:avLst/>
            </a:prstGeom>
            <a:noFill/>
            <a:ln w="25400">
              <a:solidFill>
                <a:schemeClr val="accent6"/>
              </a:solidFill>
              <a:prstDash val="sysDash"/>
              <a:roun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7647" y="3308"/>
              <a:ext cx="3975" cy="580"/>
            </a:xfrm>
            <a:prstGeom prst="rect">
              <a:avLst/>
            </a:prstGeom>
            <a:noFill/>
          </p:spPr>
          <p:txBody>
            <a:bodyPr wrap="square" rtlCol="0">
              <a:spAutoFit/>
            </a:bodyPr>
            <a:p>
              <a:r>
                <a:rPr lang="zh-CN" altLang="en-US" b="1"/>
                <a:t>核心机制：工人自选择</a:t>
              </a:r>
              <a:endParaRPr lang="zh-CN" altLang="en-US" b="1"/>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5293995" y="2310765"/>
            <a:ext cx="5942965" cy="1014730"/>
          </a:xfrm>
          <a:prstGeom prst="rect">
            <a:avLst/>
          </a:prstGeom>
          <a:noFill/>
        </p:spPr>
        <p:txBody>
          <a:bodyPr wrap="square" rtlCol="0">
            <a:spAutoFit/>
          </a:bodyPr>
          <a:lstStyle/>
          <a:p>
            <a:r>
              <a:rPr lang="zh-CN" altLang="en-US" sz="6000" b="1">
                <a:solidFill>
                  <a:schemeClr val="tx1"/>
                </a:solidFill>
              </a:rPr>
              <a:t>模型</a:t>
            </a:r>
            <a:r>
              <a:rPr lang="zh-CN" altLang="en-US" sz="6000" b="1">
                <a:solidFill>
                  <a:schemeClr val="tx1"/>
                </a:solidFill>
              </a:rPr>
              <a:t>设定</a:t>
            </a:r>
            <a:endParaRPr lang="zh-CN" altLang="en-US" sz="6000" b="1">
              <a:solidFill>
                <a:schemeClr val="tx1"/>
              </a:solidFill>
            </a:endParaRPr>
          </a:p>
        </p:txBody>
      </p:sp>
      <p:sp>
        <p:nvSpPr>
          <p:cNvPr id="20" name="文本框 19"/>
          <p:cNvSpPr txBox="1"/>
          <p:nvPr/>
        </p:nvSpPr>
        <p:spPr>
          <a:xfrm>
            <a:off x="5293995" y="3577590"/>
            <a:ext cx="6248400" cy="583565"/>
          </a:xfrm>
          <a:prstGeom prst="rect">
            <a:avLst/>
          </a:prstGeom>
          <a:noFill/>
        </p:spPr>
        <p:txBody>
          <a:bodyPr wrap="square" rtlCol="0">
            <a:spAutoFit/>
          </a:bodyPr>
          <a:lstStyle/>
          <a:p>
            <a:r>
              <a:rPr lang="en-US" altLang="zh-CN" sz="3200" dirty="0">
                <a:latin typeface="Times New Roman" panose="02020603050405020304" charset="0"/>
                <a:cs typeface="Times New Roman" panose="02020603050405020304" charset="0"/>
                <a:sym typeface="+mn-ea"/>
              </a:rPr>
              <a:t>Model Setup</a:t>
            </a:r>
            <a:endParaRPr lang="en-US" altLang="zh-CN" sz="3200">
              <a:solidFill>
                <a:schemeClr val="tx1"/>
              </a:solidFill>
              <a:latin typeface="Times New Roman" panose="02020603050405020304" charset="0"/>
              <a:cs typeface="Times New Roman" panose="02020603050405020304" charset="0"/>
              <a:sym typeface="+mn-ea"/>
            </a:endParaRPr>
          </a:p>
        </p:txBody>
      </p:sp>
      <p:sp>
        <p:nvSpPr>
          <p:cNvPr id="29" name="文本框 28"/>
          <p:cNvSpPr txBox="1"/>
          <p:nvPr/>
        </p:nvSpPr>
        <p:spPr>
          <a:xfrm>
            <a:off x="1177925" y="1510665"/>
            <a:ext cx="3314700" cy="3769360"/>
          </a:xfrm>
          <a:prstGeom prst="rect">
            <a:avLst/>
          </a:prstGeom>
          <a:noFill/>
        </p:spPr>
        <p:txBody>
          <a:bodyPr wrap="square" rtlCol="0">
            <a:spAutoFit/>
          </a:bodyPr>
          <a:lstStyle/>
          <a:p>
            <a:r>
              <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rPr>
              <a:t>03</a:t>
            </a:r>
            <a:endPar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endParaRPr>
          </a:p>
        </p:txBody>
      </p:sp>
      <p:cxnSp>
        <p:nvCxnSpPr>
          <p:cNvPr id="30" name="直接连接符 29"/>
          <p:cNvCxnSpPr/>
          <p:nvPr/>
        </p:nvCxnSpPr>
        <p:spPr>
          <a:xfrm flipV="1">
            <a:off x="-9525" y="495554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flipV="1">
            <a:off x="2649855" y="4736465"/>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H="1">
            <a:off x="8239125" y="1696085"/>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flipH="1">
            <a:off x="8239125" y="1758950"/>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5507990"/>
            <a:ext cx="12195175" cy="1362075"/>
            <a:chOff x="0" y="5507990"/>
            <a:chExt cx="12195175" cy="1362075"/>
          </a:xfrm>
        </p:grpSpPr>
        <p:sp>
          <p:nvSpPr>
            <p:cNvPr id="5" name="任意多边形 688"/>
            <p:cNvSpPr/>
            <p:nvPr/>
          </p:nvSpPr>
          <p:spPr>
            <a:xfrm>
              <a:off x="3175" y="5507990"/>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687"/>
            <p:cNvSpPr/>
            <p:nvPr/>
          </p:nvSpPr>
          <p:spPr>
            <a:xfrm>
              <a:off x="0" y="555180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任意多边形 682"/>
            <p:cNvSpPr/>
            <p:nvPr/>
          </p:nvSpPr>
          <p:spPr>
            <a:xfrm>
              <a:off x="0" y="558482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alpha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任意多边形 689"/>
            <p:cNvSpPr/>
            <p:nvPr/>
          </p:nvSpPr>
          <p:spPr>
            <a:xfrm>
              <a:off x="1270" y="5645785"/>
              <a:ext cx="12192000" cy="122428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pic>
        <p:nvPicPr>
          <p:cNvPr id="10" name="图片 9" descr="03校标，中、英文校名组合"/>
          <p:cNvPicPr>
            <a:picLocks noChangeAspect="1"/>
          </p:cNvPicPr>
          <p:nvPr userDrawn="1"/>
        </p:nvPicPr>
        <p:blipFill>
          <a:blip r:embed="rId1"/>
          <a:stretch>
            <a:fillRect/>
          </a:stretch>
        </p:blipFill>
        <p:spPr>
          <a:xfrm>
            <a:off x="260350" y="137160"/>
            <a:ext cx="2588895" cy="823595"/>
          </a:xfrm>
          <a:prstGeom prst="rect">
            <a:avLst/>
          </a:prstGeom>
        </p:spPr>
      </p:pic>
      <p:sp>
        <p:nvSpPr>
          <p:cNvPr id="13" name="文本框 3"/>
          <p:cNvSpPr txBox="1"/>
          <p:nvPr/>
        </p:nvSpPr>
        <p:spPr>
          <a:xfrm>
            <a:off x="3127375" y="342809"/>
            <a:ext cx="3867785"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6"/>
                </a:solidFill>
                <a:latin typeface="华文行楷" panose="02010800040101010101" charset="-122"/>
                <a:ea typeface="华文行楷" panose="02010800040101010101" charset="-122"/>
              </a:rPr>
              <a:t>诚朴雄伟</a:t>
            </a:r>
            <a:r>
              <a:rPr lang="en-US" altLang="zh-CN" sz="3200" dirty="0">
                <a:solidFill>
                  <a:schemeClr val="accent6"/>
                </a:solidFill>
                <a:latin typeface="华文行楷" panose="02010800040101010101" charset="-122"/>
                <a:ea typeface="华文行楷" panose="02010800040101010101" charset="-122"/>
              </a:rPr>
              <a:t> </a:t>
            </a:r>
            <a:r>
              <a:rPr lang="zh-CN" altLang="en-US" sz="3200" dirty="0">
                <a:solidFill>
                  <a:schemeClr val="accent6"/>
                </a:solidFill>
                <a:latin typeface="华文行楷" panose="02010800040101010101" charset="-122"/>
                <a:ea typeface="华文行楷" panose="02010800040101010101" charset="-122"/>
              </a:rPr>
              <a:t>励学敦</a:t>
            </a:r>
            <a:r>
              <a:rPr lang="zh-CN" altLang="en-US" sz="3200" dirty="0">
                <a:solidFill>
                  <a:schemeClr val="accent6"/>
                </a:solidFill>
                <a:latin typeface="华文行楷" panose="02010800040101010101" charset="-122"/>
                <a:ea typeface="华文行楷" panose="02010800040101010101" charset="-122"/>
              </a:rPr>
              <a:t>行</a:t>
            </a:r>
            <a:endParaRPr lang="zh-CN" altLang="en-US" sz="3200" dirty="0">
              <a:solidFill>
                <a:schemeClr val="accent6"/>
              </a:solidFill>
              <a:latin typeface="华文行楷" panose="02010800040101010101" charset="-122"/>
              <a:ea typeface="华文行楷" panose="020108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910" y="914400"/>
            <a:ext cx="6693535" cy="368300"/>
          </a:xfrm>
          <a:prstGeom prst="rect">
            <a:avLst/>
          </a:prstGeom>
          <a:noFill/>
        </p:spPr>
        <p:txBody>
          <a:bodyPr wrap="square" rtlCol="0">
            <a:spAutoFit/>
          </a:bodyPr>
          <a:lstStyle/>
          <a:p>
            <a:r>
              <a:rPr lang="zh-CN" altLang="en-US" b="1">
                <a:latin typeface="Times New Roman" panose="02020603050405020304" charset="0"/>
              </a:rPr>
              <a:t>模型的基本设定</a:t>
            </a:r>
            <a:r>
              <a:rPr lang="en-US" altLang="zh-CN" b="1">
                <a:latin typeface="Times New Roman" panose="02020603050405020304" charset="0"/>
              </a:rPr>
              <a:t>——</a:t>
            </a:r>
            <a:r>
              <a:rPr lang="zh-CN" altLang="en-US" b="1">
                <a:latin typeface="Times New Roman" panose="02020603050405020304" charset="0"/>
              </a:rPr>
              <a:t>部门劳动生产率差异</a:t>
            </a:r>
            <a:endParaRPr lang="zh-CN" altLang="en-US" b="1">
              <a:latin typeface="Times New Roman" panose="02020603050405020304" charset="0"/>
            </a:endParaRPr>
          </a:p>
        </p:txBody>
      </p:sp>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4" name="文本框 43"/>
          <p:cNvSpPr txBox="1"/>
          <p:nvPr/>
        </p:nvSpPr>
        <p:spPr>
          <a:xfrm>
            <a:off x="987425" y="1534160"/>
            <a:ext cx="3129915" cy="337185"/>
          </a:xfrm>
          <a:prstGeom prst="rect">
            <a:avLst/>
          </a:prstGeom>
          <a:noFill/>
        </p:spPr>
        <p:txBody>
          <a:bodyPr wrap="square">
            <a:spAutoFit/>
          </a:bodyPr>
          <a:lstStyle/>
          <a:p>
            <a:pPr algn="ctr"/>
            <a:r>
              <a:rPr lang="zh-CN" altLang="en-US" sz="1600" dirty="0">
                <a:latin typeface="Times New Roman" panose="02020603050405020304" charset="0"/>
                <a:cs typeface="Times New Roman" panose="02020603050405020304" charset="0"/>
                <a:sym typeface="+mn-ea"/>
              </a:rPr>
              <a:t>两部门就业份额：</a:t>
            </a:r>
            <a:endParaRPr lang="zh-CN" altLang="en-US" sz="1600" dirty="0">
              <a:latin typeface="Times New Roman" panose="02020603050405020304" charset="0"/>
              <a:cs typeface="Times New Roman" panose="02020603050405020304" charset="0"/>
              <a:sym typeface="+mn-ea"/>
            </a:endParaRPr>
          </a:p>
        </p:txBody>
      </p:sp>
      <p:sp>
        <p:nvSpPr>
          <p:cNvPr id="45" name="文本框 44"/>
          <p:cNvSpPr txBox="1"/>
          <p:nvPr/>
        </p:nvSpPr>
        <p:spPr>
          <a:xfrm>
            <a:off x="1672590" y="2845435"/>
            <a:ext cx="7655560" cy="829945"/>
          </a:xfrm>
          <a:prstGeom prst="rect">
            <a:avLst/>
          </a:prstGeom>
          <a:noFill/>
        </p:spPr>
        <p:txBody>
          <a:bodyPr wrap="square">
            <a:spAutoFit/>
          </a:bodyPr>
          <a:lstStyle/>
          <a:p>
            <a:pPr marL="685800" indent="-2438400" algn="l" fontAlgn="auto">
              <a:lnSpc>
                <a:spcPct val="150000"/>
              </a:lnSpc>
              <a:extLst>
                <a:ext uri="{35155182-B16C-46BC-9424-99874614C6A1}">
                  <wpsdc:indentchars xmlns:wpsdc="http://www.wps.cn/officeDocument/2017/drawingmlCustomData" val="-1200" checksum="2506213206"/>
                  <wpsdc:marlchars xmlns:wpsdc="http://www.wps.cn/officeDocument/2017/drawingmlCustomData" val="300" checksum="1790709462"/>
                </a:ext>
              </a:extLst>
            </a:pPr>
            <a:r>
              <a:rPr lang="zh-CN" altLang="en-US" sz="1600" b="1" dirty="0">
                <a:latin typeface="Times New Roman" panose="02020603050405020304" charset="0"/>
              </a:rPr>
              <a:t>命题</a:t>
            </a:r>
            <a:r>
              <a:rPr lang="en-US" altLang="zh-CN" sz="1600" b="1" dirty="0">
                <a:latin typeface="Times New Roman" panose="02020603050405020304" charset="0"/>
              </a:rPr>
              <a:t>1</a:t>
            </a:r>
            <a:r>
              <a:rPr lang="zh-CN" altLang="en-US" sz="1600" b="1" dirty="0">
                <a:latin typeface="Times New Roman" panose="02020603050405020304" charset="0"/>
              </a:rPr>
              <a:t>：</a:t>
            </a:r>
            <a:r>
              <a:rPr lang="zh-CN" altLang="en-US" sz="1600" dirty="0">
                <a:latin typeface="Times New Roman" panose="02020603050405020304" charset="0"/>
              </a:rPr>
              <a:t>考虑两个经济体，富人和穷人，带有效率项</a:t>
            </a:r>
            <a:r>
              <a:rPr lang="en-US" altLang="zh-CN" sz="1600" dirty="0">
                <a:latin typeface="Times New Roman" panose="02020603050405020304" charset="0"/>
              </a:rPr>
              <a:t>A</a:t>
            </a:r>
            <a:r>
              <a:rPr lang="en-US" altLang="zh-CN" sz="1600" baseline="30000" dirty="0">
                <a:latin typeface="Times New Roman" panose="02020603050405020304" charset="0"/>
              </a:rPr>
              <a:t>R</a:t>
            </a:r>
            <a:r>
              <a:rPr lang="zh-CN" altLang="en-US" sz="1600" dirty="0">
                <a:latin typeface="Times New Roman" panose="02020603050405020304" charset="0"/>
              </a:rPr>
              <a:t>和</a:t>
            </a:r>
            <a:r>
              <a:rPr lang="en-US" altLang="zh-CN" sz="1600" dirty="0">
                <a:latin typeface="Times New Roman" panose="02020603050405020304" charset="0"/>
              </a:rPr>
              <a:t>A</a:t>
            </a:r>
            <a:r>
              <a:rPr lang="en-US" altLang="zh-CN" sz="1600" baseline="30000" dirty="0">
                <a:latin typeface="Times New Roman" panose="02020603050405020304" charset="0"/>
              </a:rPr>
              <a:t>P</a:t>
            </a:r>
            <a:r>
              <a:rPr lang="en-US" altLang="zh-CN" sz="1600" dirty="0">
                <a:latin typeface="Times New Roman" panose="02020603050405020304" charset="0"/>
              </a:rPr>
              <a:t>，</a:t>
            </a:r>
            <a:r>
              <a:rPr lang="zh-CN" altLang="en-US" sz="1600" dirty="0">
                <a:latin typeface="Times New Roman" panose="02020603050405020304" charset="0"/>
              </a:rPr>
              <a:t>使得</a:t>
            </a:r>
            <a:r>
              <a:rPr lang="en-US" altLang="zh-CN" sz="1600" dirty="0">
                <a:latin typeface="Times New Roman" panose="02020603050405020304" charset="0"/>
              </a:rPr>
              <a:t>A</a:t>
            </a:r>
            <a:r>
              <a:rPr lang="en-US" altLang="zh-CN" sz="1600" baseline="30000" dirty="0">
                <a:latin typeface="Times New Roman" panose="02020603050405020304" charset="0"/>
              </a:rPr>
              <a:t>R</a:t>
            </a:r>
            <a:r>
              <a:rPr lang="en-US" altLang="zh-CN" sz="1600" dirty="0">
                <a:latin typeface="Times New Roman" panose="02020603050405020304" charset="0"/>
              </a:rPr>
              <a:t> &gt; A</a:t>
            </a:r>
            <a:r>
              <a:rPr lang="en-US" altLang="zh-CN" sz="1600" baseline="30000" dirty="0">
                <a:latin typeface="Times New Roman" panose="02020603050405020304" charset="0"/>
              </a:rPr>
              <a:t>P</a:t>
            </a:r>
            <a:r>
              <a:rPr lang="en-US" altLang="zh-CN" sz="1600" dirty="0">
                <a:latin typeface="Times New Roman" panose="02020603050405020304" charset="0"/>
              </a:rPr>
              <a:t> </a:t>
            </a:r>
            <a:r>
              <a:rPr lang="zh-CN" altLang="en-US" sz="1600" dirty="0">
                <a:latin typeface="Times New Roman" panose="02020603050405020304" charset="0"/>
              </a:rPr>
              <a:t>。在均衡状态下，贫困地区的农业相对价格较高：</a:t>
            </a:r>
            <a:r>
              <a:rPr lang="en-US" altLang="zh-CN" sz="1600" dirty="0">
                <a:latin typeface="Times New Roman" panose="02020603050405020304" charset="0"/>
              </a:rPr>
              <a:t>p</a:t>
            </a:r>
            <a:r>
              <a:rPr lang="en-US" altLang="zh-CN" sz="1600" baseline="-25000" dirty="0">
                <a:latin typeface="Times New Roman" panose="02020603050405020304" charset="0"/>
              </a:rPr>
              <a:t>a</a:t>
            </a:r>
            <a:r>
              <a:rPr lang="en-US" altLang="zh-CN" sz="1600" baseline="30000" dirty="0">
                <a:latin typeface="Times New Roman" panose="02020603050405020304" charset="0"/>
              </a:rPr>
              <a:t>P</a:t>
            </a:r>
            <a:r>
              <a:rPr lang="en-US" altLang="zh-CN" sz="1600" dirty="0">
                <a:latin typeface="Times New Roman" panose="02020603050405020304" charset="0"/>
              </a:rPr>
              <a:t> &gt; p</a:t>
            </a:r>
            <a:r>
              <a:rPr lang="en-US" altLang="zh-CN" sz="1600" baseline="-25000" dirty="0">
                <a:latin typeface="Times New Roman" panose="02020603050405020304" charset="0"/>
              </a:rPr>
              <a:t>a</a:t>
            </a:r>
            <a:r>
              <a:rPr lang="en-US" altLang="zh-CN" sz="1600" baseline="30000" dirty="0">
                <a:latin typeface="Times New Roman" panose="02020603050405020304" charset="0"/>
              </a:rPr>
              <a:t>R</a:t>
            </a:r>
            <a:r>
              <a:rPr lang="en-US" altLang="zh-CN" sz="1600" dirty="0">
                <a:latin typeface="Times New Roman" panose="02020603050405020304" charset="0"/>
              </a:rPr>
              <a:t>。</a:t>
            </a:r>
            <a:endParaRPr lang="en-US" altLang="zh-CN" sz="1600" dirty="0">
              <a:latin typeface="Times New Roman" panose="02020603050405020304" charset="0"/>
            </a:endParaRPr>
          </a:p>
        </p:txBody>
      </p:sp>
      <p:graphicFrame>
        <p:nvGraphicFramePr>
          <p:cNvPr id="39" name="对象 38">
            <a:hlinkClick r:id="" action="ppaction://ole?verb="/>
          </p:cNvPr>
          <p:cNvGraphicFramePr>
            <a:graphicFrameLocks noChangeAspect="1"/>
          </p:cNvGraphicFramePr>
          <p:nvPr/>
        </p:nvGraphicFramePr>
        <p:xfrm>
          <a:off x="3885248" y="1533525"/>
          <a:ext cx="1734820" cy="486410"/>
        </p:xfrm>
        <a:graphic>
          <a:graphicData uri="http://schemas.openxmlformats.org/presentationml/2006/ole">
            <mc:AlternateContent xmlns:mc="http://schemas.openxmlformats.org/markup-compatibility/2006">
              <mc:Choice xmlns:v="urn:schemas-microsoft-com:vml" Requires="v">
                <p:oleObj spid="_x0000_s40" name="" r:id="rId1" imgW="927100" imgH="292100" progId="Equation.KSEE3">
                  <p:embed/>
                </p:oleObj>
              </mc:Choice>
              <mc:Fallback>
                <p:oleObj name="" r:id="rId1" imgW="927100" imgH="292100" progId="Equation.KSEE3">
                  <p:embed/>
                  <p:pic>
                    <p:nvPicPr>
                      <p:cNvPr id="0" name="图片 1025"/>
                      <p:cNvPicPr/>
                      <p:nvPr/>
                    </p:nvPicPr>
                    <p:blipFill>
                      <a:blip r:embed="rId2"/>
                      <a:stretch>
                        <a:fillRect/>
                      </a:stretch>
                    </p:blipFill>
                    <p:spPr>
                      <a:xfrm>
                        <a:off x="3885248" y="1533525"/>
                        <a:ext cx="1734820" cy="486410"/>
                      </a:xfrm>
                      <a:prstGeom prst="rect">
                        <a:avLst/>
                      </a:prstGeom>
                    </p:spPr>
                  </p:pic>
                </p:oleObj>
              </mc:Fallback>
            </mc:AlternateContent>
          </a:graphicData>
        </a:graphic>
      </p:graphicFrame>
      <p:graphicFrame>
        <p:nvGraphicFramePr>
          <p:cNvPr id="41" name="对象 40">
            <a:hlinkClick r:id="" action="ppaction://ole?verb="/>
          </p:cNvPr>
          <p:cNvGraphicFramePr>
            <a:graphicFrameLocks noChangeAspect="1"/>
          </p:cNvGraphicFramePr>
          <p:nvPr/>
        </p:nvGraphicFramePr>
        <p:xfrm>
          <a:off x="6082031" y="1533525"/>
          <a:ext cx="1735455" cy="486410"/>
        </p:xfrm>
        <a:graphic>
          <a:graphicData uri="http://schemas.openxmlformats.org/presentationml/2006/ole">
            <mc:AlternateContent xmlns:mc="http://schemas.openxmlformats.org/markup-compatibility/2006">
              <mc:Choice xmlns:v="urn:schemas-microsoft-com:vml" Requires="v">
                <p:oleObj spid="_x0000_s42" name="" r:id="rId3" imgW="927100" imgH="292100" progId="Equation.KSEE3">
                  <p:embed/>
                </p:oleObj>
              </mc:Choice>
              <mc:Fallback>
                <p:oleObj name="" r:id="rId3" imgW="927100" imgH="292100" progId="Equation.KSEE3">
                  <p:embed/>
                  <p:pic>
                    <p:nvPicPr>
                      <p:cNvPr id="0" name="图片 1025"/>
                      <p:cNvPicPr/>
                      <p:nvPr/>
                    </p:nvPicPr>
                    <p:blipFill>
                      <a:blip r:embed="rId4"/>
                      <a:stretch>
                        <a:fillRect/>
                      </a:stretch>
                    </p:blipFill>
                    <p:spPr>
                      <a:xfrm>
                        <a:off x="6082031" y="1533525"/>
                        <a:ext cx="1735455" cy="486410"/>
                      </a:xfrm>
                      <a:prstGeom prst="rect">
                        <a:avLst/>
                      </a:prstGeom>
                    </p:spPr>
                  </p:pic>
                </p:oleObj>
              </mc:Fallback>
            </mc:AlternateContent>
          </a:graphicData>
        </a:graphic>
      </p:graphicFrame>
      <p:sp>
        <p:nvSpPr>
          <p:cNvPr id="3" name="文本框 2"/>
          <p:cNvSpPr txBox="1"/>
          <p:nvPr/>
        </p:nvSpPr>
        <p:spPr>
          <a:xfrm>
            <a:off x="5201920" y="2179955"/>
            <a:ext cx="1344295" cy="398780"/>
          </a:xfrm>
          <a:prstGeom prst="rect">
            <a:avLst/>
          </a:prstGeom>
          <a:noFill/>
        </p:spPr>
        <p:txBody>
          <a:bodyPr wrap="square">
            <a:spAutoFit/>
          </a:bodyPr>
          <a:lstStyle/>
          <a:p>
            <a:pPr>
              <a:buNone/>
            </a:pPr>
            <a:r>
              <a:rPr lang="en-US" altLang="zh-CN" sz="2000" i="1">
                <a:uFillTx/>
                <a:latin typeface="Times New Roman" panose="02020603050405020304" charset="0"/>
                <a:cs typeface="Times New Roman" panose="02020603050405020304" charset="0"/>
                <a:sym typeface="+mn-ea"/>
              </a:rPr>
              <a:t>N</a:t>
            </a:r>
            <a:r>
              <a:rPr lang="en-US" altLang="zh-CN" sz="2000" i="1" baseline="-25000">
                <a:uFillTx/>
                <a:latin typeface="Times New Roman" panose="02020603050405020304" charset="0"/>
                <a:cs typeface="Times New Roman" panose="02020603050405020304" charset="0"/>
                <a:sym typeface="+mn-ea"/>
              </a:rPr>
              <a:t>a</a:t>
            </a:r>
            <a:r>
              <a:rPr lang="en-US" altLang="zh-CN" sz="2000" i="1">
                <a:uFillTx/>
                <a:latin typeface="Times New Roman" panose="02020603050405020304" charset="0"/>
                <a:cs typeface="Times New Roman" panose="02020603050405020304" charset="0"/>
                <a:sym typeface="+mn-ea"/>
              </a:rPr>
              <a:t>+N</a:t>
            </a:r>
            <a:r>
              <a:rPr lang="en-US" altLang="zh-CN" sz="2000" i="1" baseline="-25000">
                <a:uFillTx/>
                <a:latin typeface="Times New Roman" panose="02020603050405020304" charset="0"/>
                <a:cs typeface="Times New Roman" panose="02020603050405020304" charset="0"/>
                <a:sym typeface="+mn-ea"/>
              </a:rPr>
              <a:t>n</a:t>
            </a:r>
            <a:r>
              <a:rPr lang="en-US" altLang="zh-CN" sz="2000" i="1">
                <a:uFillTx/>
                <a:latin typeface="Times New Roman" panose="02020603050405020304" charset="0"/>
                <a:cs typeface="Times New Roman" panose="02020603050405020304" charset="0"/>
                <a:sym typeface="+mn-ea"/>
              </a:rPr>
              <a:t>=</a:t>
            </a:r>
            <a:r>
              <a:rPr lang="en-US" altLang="zh-CN" sz="2000">
                <a:uFillTx/>
                <a:latin typeface="Times New Roman" panose="02020603050405020304" charset="0"/>
                <a:cs typeface="Times New Roman" panose="02020603050405020304" charset="0"/>
                <a:sym typeface="+mn-ea"/>
              </a:rPr>
              <a:t>1</a:t>
            </a:r>
            <a:endParaRPr lang="en-US" altLang="zh-CN" sz="2000" baseline="-25000">
              <a:uFillTx/>
              <a:latin typeface="Times New Roman" panose="02020603050405020304" charset="0"/>
              <a:cs typeface="Times New Roman" panose="02020603050405020304" charset="0"/>
              <a:sym typeface="+mn-ea"/>
            </a:endParaRPr>
          </a:p>
        </p:txBody>
      </p:sp>
      <p:sp>
        <p:nvSpPr>
          <p:cNvPr id="6" name="文本框 5"/>
          <p:cNvSpPr txBox="1"/>
          <p:nvPr/>
        </p:nvSpPr>
        <p:spPr>
          <a:xfrm>
            <a:off x="1584960" y="4095115"/>
            <a:ext cx="7339965" cy="337185"/>
          </a:xfrm>
          <a:prstGeom prst="rect">
            <a:avLst/>
          </a:prstGeom>
          <a:noFill/>
        </p:spPr>
        <p:txBody>
          <a:bodyPr wrap="square">
            <a:spAutoFit/>
          </a:bodyPr>
          <a:lstStyle/>
          <a:p>
            <a:pPr algn="ctr"/>
            <a:r>
              <a:rPr lang="zh-CN" altLang="en-US" sz="1600" b="1" dirty="0">
                <a:latin typeface="Times New Roman" panose="02020603050405020304" charset="0"/>
              </a:rPr>
              <a:t>命题</a:t>
            </a:r>
            <a:r>
              <a:rPr lang="en-US" altLang="zh-CN" sz="1600" b="1" dirty="0">
                <a:latin typeface="Times New Roman" panose="02020603050405020304" charset="0"/>
              </a:rPr>
              <a:t>2</a:t>
            </a:r>
            <a:r>
              <a:rPr lang="zh-CN" altLang="en-US" sz="1600" b="1" dirty="0">
                <a:latin typeface="Times New Roman" panose="02020603050405020304" charset="0"/>
              </a:rPr>
              <a:t>：</a:t>
            </a:r>
            <a:r>
              <a:rPr lang="zh-CN" altLang="en-US" sz="1600" dirty="0">
                <a:latin typeface="Times New Roman" panose="02020603050405020304" charset="0"/>
              </a:rPr>
              <a:t>穷国富国之间农业部门生产率差距大于经济效率大于非农部门生产率。</a:t>
            </a:r>
            <a:endParaRPr lang="zh-CN" altLang="en-US" sz="1600" dirty="0">
              <a:latin typeface="Times New Roman" panose="02020603050405020304" charset="0"/>
            </a:endParaRPr>
          </a:p>
        </p:txBody>
      </p:sp>
      <p:graphicFrame>
        <p:nvGraphicFramePr>
          <p:cNvPr id="4" name="对象 3">
            <a:hlinkClick r:id="" action="ppaction://ole?verb="/>
          </p:cNvPr>
          <p:cNvGraphicFramePr>
            <a:graphicFrameLocks noChangeAspect="1"/>
          </p:cNvGraphicFramePr>
          <p:nvPr/>
        </p:nvGraphicFramePr>
        <p:xfrm>
          <a:off x="3112770" y="4703445"/>
          <a:ext cx="1789430" cy="894715"/>
        </p:xfrm>
        <a:graphic>
          <a:graphicData uri="http://schemas.openxmlformats.org/presentationml/2006/ole">
            <mc:AlternateContent xmlns:mc="http://schemas.openxmlformats.org/markup-compatibility/2006">
              <mc:Choice xmlns:v="urn:schemas-microsoft-com:vml" Requires="v">
                <p:oleObj spid="_x0000_s1025" name="" r:id="rId5" imgW="914400" imgH="457200" progId="Equation.KSEE3">
                  <p:embed/>
                </p:oleObj>
              </mc:Choice>
              <mc:Fallback>
                <p:oleObj name="" r:id="rId5" imgW="914400" imgH="457200" progId="Equation.KSEE3">
                  <p:embed/>
                  <p:pic>
                    <p:nvPicPr>
                      <p:cNvPr id="0" name="图片 1024"/>
                      <p:cNvPicPr/>
                      <p:nvPr/>
                    </p:nvPicPr>
                    <p:blipFill>
                      <a:blip r:embed="rId6"/>
                      <a:stretch>
                        <a:fillRect/>
                      </a:stretch>
                    </p:blipFill>
                    <p:spPr>
                      <a:xfrm>
                        <a:off x="3112770" y="4703445"/>
                        <a:ext cx="1789430" cy="89471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6283325" y="4703445"/>
          <a:ext cx="1789430" cy="894715"/>
        </p:xfrm>
        <a:graphic>
          <a:graphicData uri="http://schemas.openxmlformats.org/presentationml/2006/ole">
            <mc:AlternateContent xmlns:mc="http://schemas.openxmlformats.org/markup-compatibility/2006">
              <mc:Choice xmlns:v="urn:schemas-microsoft-com:vml" Requires="v">
                <p:oleObj spid="_x0000_s8" name="" r:id="rId7" imgW="914400" imgH="457200" progId="Equation.KSEE3">
                  <p:embed/>
                </p:oleObj>
              </mc:Choice>
              <mc:Fallback>
                <p:oleObj name="" r:id="rId7" imgW="914400" imgH="457200" progId="Equation.KSEE3">
                  <p:embed/>
                  <p:pic>
                    <p:nvPicPr>
                      <p:cNvPr id="0" name="图片 1024"/>
                      <p:cNvPicPr/>
                      <p:nvPr/>
                    </p:nvPicPr>
                    <p:blipFill>
                      <a:blip r:embed="rId8"/>
                      <a:stretch>
                        <a:fillRect/>
                      </a:stretch>
                    </p:blipFill>
                    <p:spPr>
                      <a:xfrm>
                        <a:off x="6283325" y="4703445"/>
                        <a:ext cx="1789430" cy="894715"/>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910" y="914400"/>
            <a:ext cx="6693535" cy="368300"/>
          </a:xfrm>
          <a:prstGeom prst="rect">
            <a:avLst/>
          </a:prstGeom>
          <a:noFill/>
        </p:spPr>
        <p:txBody>
          <a:bodyPr wrap="square" rtlCol="0">
            <a:spAutoFit/>
          </a:bodyPr>
          <a:lstStyle/>
          <a:p>
            <a:r>
              <a:rPr lang="zh-CN" altLang="en-US" b="1"/>
              <a:t>模型的基本设定</a:t>
            </a:r>
            <a:r>
              <a:rPr lang="en-US" altLang="zh-CN" b="1"/>
              <a:t>——</a:t>
            </a:r>
            <a:r>
              <a:rPr lang="zh-CN" altLang="en-US" b="1"/>
              <a:t>个体选择</a:t>
            </a:r>
            <a:endParaRPr lang="zh-CN" altLang="en-US" b="1"/>
          </a:p>
        </p:txBody>
      </p:sp>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4" name="文本框 43"/>
          <p:cNvSpPr txBox="1"/>
          <p:nvPr/>
        </p:nvSpPr>
        <p:spPr>
          <a:xfrm>
            <a:off x="2143125" y="1534160"/>
            <a:ext cx="6327140" cy="398780"/>
          </a:xfrm>
          <a:prstGeom prst="rect">
            <a:avLst/>
          </a:prstGeom>
          <a:noFill/>
        </p:spPr>
        <p:txBody>
          <a:bodyPr wrap="square">
            <a:spAutoFit/>
          </a:bodyPr>
          <a:lstStyle/>
          <a:p>
            <a:pPr algn="ctr"/>
            <a:r>
              <a:rPr lang="zh-CN" altLang="en-US" sz="1600" dirty="0"/>
              <a:t>市场是竞争性的，工资等于边际产品价值：</a:t>
            </a:r>
            <a:r>
              <a:rPr lang="en-US" altLang="zh-CN" sz="1600" dirty="0"/>
              <a:t>     </a:t>
            </a:r>
            <a:r>
              <a:rPr lang="en-US" altLang="zh-CN" sz="2000" i="1" dirty="0">
                <a:latin typeface="Times New Roman" panose="02020603050405020304" charset="0"/>
                <a:cs typeface="Times New Roman" panose="02020603050405020304" charset="0"/>
                <a:sym typeface="+mn-ea"/>
              </a:rPr>
              <a:t>w</a:t>
            </a:r>
            <a:r>
              <a:rPr lang="en-US" altLang="zh-CN" sz="2000" i="1" baseline="-25000" dirty="0">
                <a:latin typeface="Times New Roman" panose="02020603050405020304" charset="0"/>
                <a:cs typeface="Times New Roman" panose="02020603050405020304" charset="0"/>
                <a:sym typeface="+mn-ea"/>
              </a:rPr>
              <a:t>a</a:t>
            </a:r>
            <a:r>
              <a:rPr lang="en-US" altLang="zh-CN" sz="2000" i="1" dirty="0">
                <a:latin typeface="Times New Roman" panose="02020603050405020304" charset="0"/>
                <a:cs typeface="Times New Roman" panose="02020603050405020304" charset="0"/>
                <a:sym typeface="+mn-ea"/>
              </a:rPr>
              <a:t>=p</a:t>
            </a:r>
            <a:r>
              <a:rPr lang="en-US" altLang="zh-CN" sz="2000" i="1" baseline="-25000" dirty="0">
                <a:latin typeface="Times New Roman" panose="02020603050405020304" charset="0"/>
                <a:cs typeface="Times New Roman" panose="02020603050405020304" charset="0"/>
                <a:sym typeface="+mn-ea"/>
              </a:rPr>
              <a:t>a</a:t>
            </a:r>
            <a:r>
              <a:rPr lang="en-US" altLang="zh-CN" sz="2000" i="1" dirty="0">
                <a:latin typeface="Times New Roman" panose="02020603050405020304" charset="0"/>
                <a:cs typeface="Times New Roman" panose="02020603050405020304" charset="0"/>
                <a:sym typeface="+mn-ea"/>
              </a:rPr>
              <a:t>A</a:t>
            </a:r>
            <a:r>
              <a:rPr lang="zh-CN" altLang="en-US" sz="2000" i="1" dirty="0">
                <a:latin typeface="Times New Roman" panose="02020603050405020304" charset="0"/>
                <a:cs typeface="Times New Roman" panose="02020603050405020304" charset="0"/>
                <a:sym typeface="+mn-ea"/>
              </a:rPr>
              <a:t>，</a:t>
            </a:r>
            <a:r>
              <a:rPr lang="en-US" altLang="zh-CN" sz="2000" i="1" dirty="0">
                <a:latin typeface="Times New Roman" panose="02020603050405020304" charset="0"/>
                <a:cs typeface="Times New Roman" panose="02020603050405020304" charset="0"/>
                <a:sym typeface="+mn-ea"/>
              </a:rPr>
              <a:t>w</a:t>
            </a:r>
            <a:r>
              <a:rPr lang="en-US" altLang="zh-CN" sz="2000" i="1" baseline="-25000" dirty="0">
                <a:latin typeface="Times New Roman" panose="02020603050405020304" charset="0"/>
                <a:cs typeface="Times New Roman" panose="02020603050405020304" charset="0"/>
                <a:sym typeface="+mn-ea"/>
              </a:rPr>
              <a:t>n</a:t>
            </a:r>
            <a:r>
              <a:rPr lang="en-US" altLang="zh-CN" sz="2000" i="1" dirty="0">
                <a:latin typeface="Times New Roman" panose="02020603050405020304" charset="0"/>
                <a:cs typeface="Times New Roman" panose="02020603050405020304" charset="0"/>
                <a:sym typeface="+mn-ea"/>
              </a:rPr>
              <a:t>=A</a:t>
            </a:r>
            <a:endParaRPr lang="en-US" altLang="zh-CN" sz="2000" i="1" dirty="0">
              <a:latin typeface="Times New Roman" panose="02020603050405020304" charset="0"/>
              <a:cs typeface="Times New Roman" panose="02020603050405020304" charset="0"/>
              <a:sym typeface="+mn-ea"/>
            </a:endParaRPr>
          </a:p>
        </p:txBody>
      </p:sp>
      <p:sp>
        <p:nvSpPr>
          <p:cNvPr id="45" name="文本框 44"/>
          <p:cNvSpPr txBox="1"/>
          <p:nvPr/>
        </p:nvSpPr>
        <p:spPr>
          <a:xfrm>
            <a:off x="2065020" y="2122805"/>
            <a:ext cx="7041515" cy="337185"/>
          </a:xfrm>
          <a:prstGeom prst="rect">
            <a:avLst/>
          </a:prstGeom>
          <a:noFill/>
        </p:spPr>
        <p:txBody>
          <a:bodyPr wrap="square">
            <a:spAutoFit/>
          </a:bodyPr>
          <a:lstStyle/>
          <a:p>
            <a:pPr algn="ctr"/>
            <a:r>
              <a:rPr lang="zh-CN" altLang="en-US" sz="1600" b="1" dirty="0"/>
              <a:t>工人的职业选择规则：</a:t>
            </a:r>
            <a:r>
              <a:rPr lang="zh-CN" altLang="en-US" sz="1600" dirty="0"/>
              <a:t>当且仅当非农业收入不低于农业时，选择</a:t>
            </a:r>
            <a:r>
              <a:rPr lang="zh-CN" altLang="en-US" sz="1600" dirty="0"/>
              <a:t>非农业</a:t>
            </a:r>
            <a:endParaRPr lang="zh-CN" altLang="en-US" sz="1600" dirty="0"/>
          </a:p>
        </p:txBody>
      </p:sp>
      <p:sp>
        <p:nvSpPr>
          <p:cNvPr id="48" name="文本框 47"/>
          <p:cNvSpPr txBox="1"/>
          <p:nvPr/>
        </p:nvSpPr>
        <p:spPr>
          <a:xfrm>
            <a:off x="3528060" y="3229610"/>
            <a:ext cx="2018030" cy="337185"/>
          </a:xfrm>
          <a:prstGeom prst="rect">
            <a:avLst/>
          </a:prstGeom>
          <a:noFill/>
        </p:spPr>
        <p:txBody>
          <a:bodyPr wrap="square">
            <a:spAutoFit/>
          </a:bodyPr>
          <a:lstStyle/>
          <a:p>
            <a:pPr algn="ctr"/>
            <a:r>
              <a:rPr lang="zh-CN" altLang="en-US" sz="1600" dirty="0"/>
              <a:t>带入工资：</a:t>
            </a:r>
            <a:endParaRPr lang="zh-CN" altLang="en-US" sz="1600" dirty="0"/>
          </a:p>
        </p:txBody>
      </p:sp>
      <p:sp>
        <p:nvSpPr>
          <p:cNvPr id="49" name="文本框 48"/>
          <p:cNvSpPr txBox="1"/>
          <p:nvPr/>
        </p:nvSpPr>
        <p:spPr>
          <a:xfrm>
            <a:off x="3528060" y="4156075"/>
            <a:ext cx="2018030" cy="337185"/>
          </a:xfrm>
          <a:prstGeom prst="rect">
            <a:avLst/>
          </a:prstGeom>
          <a:noFill/>
        </p:spPr>
        <p:txBody>
          <a:bodyPr wrap="square">
            <a:spAutoFit/>
          </a:bodyPr>
          <a:lstStyle/>
          <a:p>
            <a:pPr algn="ctr"/>
            <a:r>
              <a:rPr lang="zh-CN" altLang="en-US" sz="1600" dirty="0"/>
              <a:t>整理</a:t>
            </a:r>
            <a:r>
              <a:rPr lang="zh-CN" altLang="en-US" sz="1600" dirty="0"/>
              <a:t>得：</a:t>
            </a:r>
            <a:endParaRPr lang="zh-CN" altLang="en-US" sz="1600" dirty="0"/>
          </a:p>
        </p:txBody>
      </p:sp>
      <p:graphicFrame>
        <p:nvGraphicFramePr>
          <p:cNvPr id="51" name="对象 50">
            <a:hlinkClick r:id="" action="ppaction://ole?verb="/>
          </p:cNvPr>
          <p:cNvGraphicFramePr>
            <a:graphicFrameLocks noChangeAspect="1"/>
          </p:cNvGraphicFramePr>
          <p:nvPr/>
        </p:nvGraphicFramePr>
        <p:xfrm>
          <a:off x="6192520" y="3908743"/>
          <a:ext cx="1113155" cy="1001395"/>
        </p:xfrm>
        <a:graphic>
          <a:graphicData uri="http://schemas.openxmlformats.org/presentationml/2006/ole">
            <mc:AlternateContent xmlns:mc="http://schemas.openxmlformats.org/markup-compatibility/2006">
              <mc:Choice xmlns:v="urn:schemas-microsoft-com:vml" Requires="v">
                <p:oleObj spid="_x0000_s2049" name="" r:id="rId1" imgW="508000" imgH="457200" progId="Equation.KSEE3">
                  <p:embed/>
                </p:oleObj>
              </mc:Choice>
              <mc:Fallback>
                <p:oleObj name="" r:id="rId1" imgW="508000" imgH="457200" progId="Equation.KSEE3">
                  <p:embed/>
                  <p:pic>
                    <p:nvPicPr>
                      <p:cNvPr id="0" name="图片 2048"/>
                      <p:cNvPicPr/>
                      <p:nvPr/>
                    </p:nvPicPr>
                    <p:blipFill>
                      <a:blip r:embed="rId2"/>
                      <a:stretch>
                        <a:fillRect/>
                      </a:stretch>
                    </p:blipFill>
                    <p:spPr>
                      <a:xfrm>
                        <a:off x="6192520" y="3908743"/>
                        <a:ext cx="1113155" cy="1001395"/>
                      </a:xfrm>
                      <a:prstGeom prst="rect">
                        <a:avLst/>
                      </a:prstGeom>
                    </p:spPr>
                  </p:pic>
                </p:oleObj>
              </mc:Fallback>
            </mc:AlternateContent>
          </a:graphicData>
        </a:graphic>
      </p:graphicFrame>
      <p:sp>
        <p:nvSpPr>
          <p:cNvPr id="52" name="文本框 51"/>
          <p:cNvSpPr txBox="1"/>
          <p:nvPr/>
        </p:nvSpPr>
        <p:spPr>
          <a:xfrm>
            <a:off x="2366010" y="4898390"/>
            <a:ext cx="7374890" cy="829945"/>
          </a:xfrm>
          <a:prstGeom prst="rect">
            <a:avLst/>
          </a:prstGeom>
          <a:noFill/>
        </p:spPr>
        <p:txBody>
          <a:bodyPr wrap="square">
            <a:spAutoFit/>
          </a:bodyPr>
          <a:lstStyle/>
          <a:p>
            <a:pPr marL="571500" indent="-2438400" algn="l" fontAlgn="auto">
              <a:lnSpc>
                <a:spcPct val="150000"/>
              </a:lnSpc>
              <a:extLst>
                <a:ext uri="{35155182-B16C-46BC-9424-99874614C6A1}">
                  <wpsdc:indentchars xmlns:wpsdc="http://www.wps.cn/officeDocument/2017/drawingmlCustomData" val="-1200" checksum="2506213206"/>
                  <wpsdc:marlchars xmlns:wpsdc="http://www.wps.cn/officeDocument/2017/drawingmlCustomData" val="250" checksum="1039213347"/>
                </a:ext>
              </a:extLst>
            </a:pPr>
            <a:r>
              <a:rPr lang="zh-CN" altLang="en-US" sz="1600" b="1" dirty="0"/>
              <a:t>含义：</a:t>
            </a:r>
            <a:r>
              <a:rPr lang="zh-CN" altLang="en-US" sz="1600" dirty="0"/>
              <a:t>当且仅当非农业生产效率不低于农业时，选择非农业（体现</a:t>
            </a:r>
            <a:r>
              <a:rPr lang="zh-CN" altLang="en-US" sz="1600" dirty="0"/>
              <a:t>比较优势）；当农业相对价格</a:t>
            </a:r>
            <a:r>
              <a:rPr lang="zh-CN" altLang="en-US" sz="1600" dirty="0"/>
              <a:t>足够高时，选择</a:t>
            </a:r>
            <a:r>
              <a:rPr lang="zh-CN" altLang="en-US" sz="1600" dirty="0"/>
              <a:t>非农业。</a:t>
            </a:r>
            <a:endParaRPr lang="zh-CN" altLang="en-US" sz="1600" dirty="0"/>
          </a:p>
        </p:txBody>
      </p:sp>
      <p:sp>
        <p:nvSpPr>
          <p:cNvPr id="53" name="文本框 52"/>
          <p:cNvSpPr txBox="1"/>
          <p:nvPr/>
        </p:nvSpPr>
        <p:spPr>
          <a:xfrm>
            <a:off x="3696335" y="5913120"/>
            <a:ext cx="1344930" cy="337185"/>
          </a:xfrm>
          <a:prstGeom prst="rect">
            <a:avLst/>
          </a:prstGeom>
          <a:noFill/>
        </p:spPr>
        <p:txBody>
          <a:bodyPr wrap="square">
            <a:spAutoFit/>
          </a:bodyPr>
          <a:lstStyle/>
          <a:p>
            <a:pPr indent="0" algn="ctr" fontAlgn="auto">
              <a:lnSpc>
                <a:spcPct val="100000"/>
              </a:lnSpc>
            </a:pPr>
            <a:r>
              <a:rPr lang="zh-CN" altLang="en-US" sz="1600" dirty="0"/>
              <a:t>工人收入</a:t>
            </a:r>
            <a:endParaRPr lang="zh-CN" altLang="en-US" sz="1600" dirty="0"/>
          </a:p>
        </p:txBody>
      </p:sp>
      <p:graphicFrame>
        <p:nvGraphicFramePr>
          <p:cNvPr id="9" name="对象 8">
            <a:hlinkClick r:id="" action="ppaction://ole?verb="/>
          </p:cNvPr>
          <p:cNvGraphicFramePr>
            <a:graphicFrameLocks noChangeAspect="1"/>
          </p:cNvGraphicFramePr>
          <p:nvPr/>
        </p:nvGraphicFramePr>
        <p:xfrm>
          <a:off x="5908675" y="3223895"/>
          <a:ext cx="1651635" cy="497840"/>
        </p:xfrm>
        <a:graphic>
          <a:graphicData uri="http://schemas.openxmlformats.org/presentationml/2006/ole">
            <mc:AlternateContent xmlns:mc="http://schemas.openxmlformats.org/markup-compatibility/2006">
              <mc:Choice xmlns:v="urn:schemas-microsoft-com:vml" Requires="v">
                <p:oleObj spid="_x0000_s2052" name="" r:id="rId3" imgW="800100" imgH="241300" progId="Equation.KSEE3">
                  <p:embed/>
                </p:oleObj>
              </mc:Choice>
              <mc:Fallback>
                <p:oleObj name="" r:id="rId3" imgW="800100" imgH="241300" progId="Equation.KSEE3">
                  <p:embed/>
                  <p:pic>
                    <p:nvPicPr>
                      <p:cNvPr id="0" name="图片 2051"/>
                      <p:cNvPicPr/>
                      <p:nvPr/>
                    </p:nvPicPr>
                    <p:blipFill>
                      <a:blip r:embed="rId4"/>
                      <a:stretch>
                        <a:fillRect/>
                      </a:stretch>
                    </p:blipFill>
                    <p:spPr>
                      <a:xfrm>
                        <a:off x="5908675" y="3223895"/>
                        <a:ext cx="1651635" cy="497840"/>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5984875" y="2537778"/>
          <a:ext cx="1575435" cy="498475"/>
        </p:xfrm>
        <a:graphic>
          <a:graphicData uri="http://schemas.openxmlformats.org/presentationml/2006/ole">
            <mc:AlternateContent xmlns:mc="http://schemas.openxmlformats.org/markup-compatibility/2006">
              <mc:Choice xmlns:v="urn:schemas-microsoft-com:vml" Requires="v">
                <p:oleObj spid="_x0000_s3" name="" r:id="rId5" imgW="762000" imgH="241300" progId="Equation.KSEE3">
                  <p:embed/>
                </p:oleObj>
              </mc:Choice>
              <mc:Fallback>
                <p:oleObj name="" r:id="rId5" imgW="762000" imgH="241300" progId="Equation.KSEE3">
                  <p:embed/>
                  <p:pic>
                    <p:nvPicPr>
                      <p:cNvPr id="0" name="图片 2051"/>
                      <p:cNvPicPr/>
                      <p:nvPr/>
                    </p:nvPicPr>
                    <p:blipFill>
                      <a:blip r:embed="rId6"/>
                      <a:stretch>
                        <a:fillRect/>
                      </a:stretch>
                    </p:blipFill>
                    <p:spPr>
                      <a:xfrm>
                        <a:off x="5984875" y="2537778"/>
                        <a:ext cx="1575435" cy="498475"/>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5756593" y="5853430"/>
          <a:ext cx="2620645" cy="456565"/>
        </p:xfrm>
        <a:graphic>
          <a:graphicData uri="http://schemas.openxmlformats.org/presentationml/2006/ole">
            <mc:AlternateContent xmlns:mc="http://schemas.openxmlformats.org/markup-compatibility/2006">
              <mc:Choice xmlns:v="urn:schemas-microsoft-com:vml" Requires="v">
                <p:oleObj spid="_x0000_s2053" name="" r:id="rId7" imgW="1384300" imgH="241300" progId="Equation.KSEE3">
                  <p:embed/>
                </p:oleObj>
              </mc:Choice>
              <mc:Fallback>
                <p:oleObj name="" r:id="rId7" imgW="1384300" imgH="241300" progId="Equation.KSEE3">
                  <p:embed/>
                  <p:pic>
                    <p:nvPicPr>
                      <p:cNvPr id="0" name="图片 2052"/>
                      <p:cNvPicPr/>
                      <p:nvPr/>
                    </p:nvPicPr>
                    <p:blipFill>
                      <a:blip r:embed="rId8"/>
                      <a:stretch>
                        <a:fillRect/>
                      </a:stretch>
                    </p:blipFill>
                    <p:spPr>
                      <a:xfrm>
                        <a:off x="5756593" y="5853430"/>
                        <a:ext cx="2620645" cy="456565"/>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910" y="914400"/>
            <a:ext cx="6693535" cy="368300"/>
          </a:xfrm>
          <a:prstGeom prst="rect">
            <a:avLst/>
          </a:prstGeom>
          <a:noFill/>
        </p:spPr>
        <p:txBody>
          <a:bodyPr wrap="square" rtlCol="0">
            <a:spAutoFit/>
          </a:bodyPr>
          <a:lstStyle/>
          <a:p>
            <a:r>
              <a:rPr lang="zh-CN" altLang="en-US" b="1"/>
              <a:t>模型的基本设定</a:t>
            </a:r>
            <a:r>
              <a:rPr lang="en-US" altLang="zh-CN" b="1"/>
              <a:t>——</a:t>
            </a:r>
            <a:r>
              <a:rPr lang="zh-CN" altLang="en-US" b="1"/>
              <a:t>两部门一般均衡</a:t>
            </a:r>
            <a:r>
              <a:rPr lang="zh-CN" altLang="en-US" b="1"/>
              <a:t>模型</a:t>
            </a:r>
            <a:endParaRPr lang="zh-CN" altLang="en-US" b="1"/>
          </a:p>
        </p:txBody>
      </p:sp>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五边形 69"/>
          <p:cNvSpPr/>
          <p:nvPr/>
        </p:nvSpPr>
        <p:spPr>
          <a:xfrm>
            <a:off x="789305" y="1439091"/>
            <a:ext cx="3492000" cy="629739"/>
          </a:xfrm>
          <a:prstGeom prst="homePlat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600" dirty="0">
                <a:solidFill>
                  <a:schemeClr val="lt1"/>
                </a:solidFill>
              </a:rPr>
              <a:t>个体最优（劳动力</a:t>
            </a:r>
            <a:r>
              <a:rPr lang="zh-CN" altLang="en-US" sz="1600" dirty="0">
                <a:solidFill>
                  <a:schemeClr val="lt1"/>
                </a:solidFill>
              </a:rPr>
              <a:t>个人选择）</a:t>
            </a:r>
            <a:endParaRPr lang="zh-CN" altLang="en-US" sz="1600" dirty="0">
              <a:solidFill>
                <a:schemeClr val="lt1"/>
              </a:solidFill>
            </a:endParaRPr>
          </a:p>
        </p:txBody>
      </p:sp>
      <p:sp>
        <p:nvSpPr>
          <p:cNvPr id="5" name="燕尾形 70"/>
          <p:cNvSpPr/>
          <p:nvPr/>
        </p:nvSpPr>
        <p:spPr>
          <a:xfrm>
            <a:off x="4281170" y="1439091"/>
            <a:ext cx="3492000" cy="629739"/>
          </a:xfrm>
          <a:prstGeom prst="chevron">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en-US" altLang="zh-CN">
                <a:solidFill>
                  <a:schemeClr val="lt1"/>
                </a:solidFill>
              </a:rPr>
              <a:t>20XX</a:t>
            </a:r>
            <a:endParaRPr lang="en-US" altLang="zh-CN">
              <a:solidFill>
                <a:schemeClr val="lt1"/>
              </a:solidFill>
            </a:endParaRPr>
          </a:p>
        </p:txBody>
      </p:sp>
      <p:sp>
        <p:nvSpPr>
          <p:cNvPr id="6" name="燕尾形 71"/>
          <p:cNvSpPr/>
          <p:nvPr/>
        </p:nvSpPr>
        <p:spPr>
          <a:xfrm>
            <a:off x="7783830" y="1439091"/>
            <a:ext cx="3492000" cy="629739"/>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600" dirty="0">
                <a:solidFill>
                  <a:schemeClr val="lt1"/>
                </a:solidFill>
              </a:rPr>
              <a:t>市场出清</a:t>
            </a:r>
            <a:endParaRPr lang="zh-CN" altLang="en-US" sz="1600" dirty="0">
              <a:solidFill>
                <a:schemeClr val="lt1"/>
              </a:solidFill>
            </a:endParaRPr>
          </a:p>
        </p:txBody>
      </p:sp>
      <p:sp>
        <p:nvSpPr>
          <p:cNvPr id="9" name="文本框 8"/>
          <p:cNvSpPr txBox="1"/>
          <p:nvPr/>
        </p:nvSpPr>
        <p:spPr>
          <a:xfrm>
            <a:off x="4659086" y="1584320"/>
            <a:ext cx="2786743" cy="337185"/>
          </a:xfrm>
          <a:prstGeom prst="rect">
            <a:avLst/>
          </a:prstGeom>
          <a:noFill/>
        </p:spPr>
        <p:txBody>
          <a:bodyPr wrap="square">
            <a:spAutoFit/>
          </a:bodyPr>
          <a:lstStyle/>
          <a:p>
            <a:pPr algn="ctr"/>
            <a:r>
              <a:rPr lang="zh-CN" altLang="en-US" sz="1600" dirty="0"/>
              <a:t>加总与生产（个体到</a:t>
            </a:r>
            <a:r>
              <a:rPr lang="zh-CN" altLang="en-US" sz="1600" dirty="0"/>
              <a:t>总体）</a:t>
            </a:r>
            <a:endParaRPr lang="zh-CN" altLang="en-US" sz="1600" dirty="0"/>
          </a:p>
        </p:txBody>
      </p:sp>
      <p:sp>
        <p:nvSpPr>
          <p:cNvPr id="20" name="箭头: V 形 19"/>
          <p:cNvSpPr/>
          <p:nvPr/>
        </p:nvSpPr>
        <p:spPr>
          <a:xfrm rot="5400000">
            <a:off x="2264140" y="2103429"/>
            <a:ext cx="252000" cy="252000"/>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 name="箭头: V 形 23"/>
          <p:cNvSpPr/>
          <p:nvPr/>
        </p:nvSpPr>
        <p:spPr>
          <a:xfrm rot="5400000">
            <a:off x="9449240" y="2103429"/>
            <a:ext cx="252000" cy="252000"/>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9" name="箭头: V 形 28"/>
          <p:cNvSpPr/>
          <p:nvPr/>
        </p:nvSpPr>
        <p:spPr>
          <a:xfrm rot="5400000">
            <a:off x="5856690" y="2103429"/>
            <a:ext cx="252000" cy="252000"/>
          </a:xfrm>
          <a:prstGeom prst="chevron">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矩形: 圆角 13"/>
          <p:cNvSpPr/>
          <p:nvPr/>
        </p:nvSpPr>
        <p:spPr>
          <a:xfrm>
            <a:off x="789305" y="2435860"/>
            <a:ext cx="3201670" cy="4017010"/>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Ui=log(cai−a)+νlog(cni)</a:t>
            </a:r>
            <a:endParaRPr lang="zh-CN" altLang="en-US"/>
          </a:p>
        </p:txBody>
      </p:sp>
      <p:sp>
        <p:nvSpPr>
          <p:cNvPr id="26" name="矩形: 圆角 22"/>
          <p:cNvSpPr/>
          <p:nvPr/>
        </p:nvSpPr>
        <p:spPr>
          <a:xfrm>
            <a:off x="7974330" y="2388870"/>
            <a:ext cx="3201670" cy="4064000"/>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矩形: 圆角 27"/>
          <p:cNvSpPr/>
          <p:nvPr/>
        </p:nvSpPr>
        <p:spPr>
          <a:xfrm>
            <a:off x="4382135" y="2388870"/>
            <a:ext cx="3201670" cy="4064000"/>
          </a:xfrm>
          <a:prstGeom prst="roundRect">
            <a:avLst>
              <a:gd name="adj" fmla="val 4031"/>
            </a:avLst>
          </a:prstGeom>
          <a:solidFill>
            <a:schemeClr val="bg1"/>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endParaRPr>
          </a:p>
        </p:txBody>
      </p:sp>
      <p:sp>
        <p:nvSpPr>
          <p:cNvPr id="34" name="文本框 33"/>
          <p:cNvSpPr txBox="1"/>
          <p:nvPr/>
        </p:nvSpPr>
        <p:spPr>
          <a:xfrm>
            <a:off x="1029970" y="2713355"/>
            <a:ext cx="1327150" cy="337185"/>
          </a:xfrm>
          <a:prstGeom prst="rect">
            <a:avLst/>
          </a:prstGeom>
          <a:noFill/>
        </p:spPr>
        <p:txBody>
          <a:bodyPr wrap="square">
            <a:spAutoFit/>
          </a:bodyPr>
          <a:lstStyle/>
          <a:p>
            <a:pPr indent="0" algn="ctr" fontAlgn="auto">
              <a:lnSpc>
                <a:spcPct val="100000"/>
              </a:lnSpc>
            </a:pPr>
            <a:r>
              <a:rPr lang="zh-CN" altLang="en-US" sz="1600" dirty="0"/>
              <a:t>个体</a:t>
            </a:r>
            <a:r>
              <a:rPr lang="zh-CN" altLang="en-US" sz="1600" dirty="0"/>
              <a:t>效用</a:t>
            </a:r>
            <a:endParaRPr lang="zh-CN" altLang="en-US" sz="1600" dirty="0"/>
          </a:p>
        </p:txBody>
      </p:sp>
      <p:sp>
        <p:nvSpPr>
          <p:cNvPr id="37" name="文本框 36"/>
          <p:cNvSpPr txBox="1"/>
          <p:nvPr/>
        </p:nvSpPr>
        <p:spPr>
          <a:xfrm>
            <a:off x="1189355" y="4759960"/>
            <a:ext cx="1075055" cy="337185"/>
          </a:xfrm>
          <a:prstGeom prst="rect">
            <a:avLst/>
          </a:prstGeom>
          <a:noFill/>
        </p:spPr>
        <p:txBody>
          <a:bodyPr wrap="square">
            <a:spAutoFit/>
          </a:bodyPr>
          <a:lstStyle/>
          <a:p>
            <a:pPr indent="0" algn="ctr" fontAlgn="auto">
              <a:lnSpc>
                <a:spcPct val="100000"/>
              </a:lnSpc>
            </a:pPr>
            <a:r>
              <a:rPr lang="zh-CN" altLang="en-US" sz="1600" dirty="0"/>
              <a:t>最优</a:t>
            </a:r>
            <a:r>
              <a:rPr lang="zh-CN" altLang="en-US" sz="1600" dirty="0"/>
              <a:t>需求</a:t>
            </a:r>
            <a:endParaRPr lang="zh-CN" altLang="en-US" sz="1600" dirty="0"/>
          </a:p>
        </p:txBody>
      </p:sp>
      <p:sp>
        <p:nvSpPr>
          <p:cNvPr id="43" name="文本框 42"/>
          <p:cNvSpPr txBox="1"/>
          <p:nvPr/>
        </p:nvSpPr>
        <p:spPr>
          <a:xfrm>
            <a:off x="1188720" y="3767455"/>
            <a:ext cx="1075055" cy="337185"/>
          </a:xfrm>
          <a:prstGeom prst="rect">
            <a:avLst/>
          </a:prstGeom>
          <a:noFill/>
        </p:spPr>
        <p:txBody>
          <a:bodyPr wrap="square">
            <a:spAutoFit/>
          </a:bodyPr>
          <a:lstStyle/>
          <a:p>
            <a:pPr indent="0" algn="ctr" fontAlgn="auto">
              <a:lnSpc>
                <a:spcPct val="100000"/>
              </a:lnSpc>
            </a:pPr>
            <a:r>
              <a:rPr lang="zh-CN" altLang="en-US" sz="1600" dirty="0"/>
              <a:t>预算约束</a:t>
            </a:r>
            <a:endParaRPr lang="zh-CN" altLang="en-US" sz="1600" dirty="0"/>
          </a:p>
        </p:txBody>
      </p:sp>
      <p:graphicFrame>
        <p:nvGraphicFramePr>
          <p:cNvPr id="50" name="对象 49">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2050" name="" r:id="rId1" imgW="114300" imgH="215900" progId="Equation.KSEE3">
                  <p:embed/>
                </p:oleObj>
              </mc:Choice>
              <mc:Fallback>
                <p:oleObj name="" r:id="rId1" imgW="114300" imgH="215900" progId="Equation.KSEE3">
                  <p:embed/>
                  <p:pic>
                    <p:nvPicPr>
                      <p:cNvPr id="0" name="图片 2049"/>
                      <p:cNvPicPr/>
                      <p:nvPr/>
                    </p:nvPicPr>
                    <p:blipFill>
                      <a:blip r:embed="rId2"/>
                      <a:stretch>
                        <a:fillRect/>
                      </a:stretch>
                    </p:blipFill>
                    <p:spPr>
                      <a:xfrm>
                        <a:off x="6038850" y="3321050"/>
                        <a:ext cx="114300" cy="215900"/>
                      </a:xfrm>
                      <a:prstGeom prst="rect">
                        <a:avLst/>
                      </a:prstGeom>
                    </p:spPr>
                  </p:pic>
                </p:oleObj>
              </mc:Fallback>
            </mc:AlternateContent>
          </a:graphicData>
        </a:graphic>
      </p:graphicFrame>
      <p:sp>
        <p:nvSpPr>
          <p:cNvPr id="52" name="文本框 51"/>
          <p:cNvSpPr txBox="1"/>
          <p:nvPr/>
        </p:nvSpPr>
        <p:spPr>
          <a:xfrm>
            <a:off x="4382135" y="2622550"/>
            <a:ext cx="1327150" cy="337185"/>
          </a:xfrm>
          <a:prstGeom prst="rect">
            <a:avLst/>
          </a:prstGeom>
          <a:noFill/>
        </p:spPr>
        <p:txBody>
          <a:bodyPr wrap="square">
            <a:spAutoFit/>
          </a:bodyPr>
          <a:lstStyle/>
          <a:p>
            <a:pPr indent="0" algn="ctr" fontAlgn="auto">
              <a:lnSpc>
                <a:spcPct val="100000"/>
              </a:lnSpc>
            </a:pPr>
            <a:r>
              <a:rPr lang="zh-CN" altLang="en-US" sz="1600" dirty="0">
                <a:solidFill>
                  <a:schemeClr val="tx1"/>
                </a:solidFill>
              </a:rPr>
              <a:t>有效劳动</a:t>
            </a:r>
            <a:endParaRPr lang="zh-CN" altLang="en-US" sz="1600" dirty="0">
              <a:solidFill>
                <a:schemeClr val="tx1"/>
              </a:solidFill>
            </a:endParaRPr>
          </a:p>
        </p:txBody>
      </p:sp>
      <p:graphicFrame>
        <p:nvGraphicFramePr>
          <p:cNvPr id="53" name="对象 52">
            <a:hlinkClick r:id="" action="ppaction://ole?verb="/>
          </p:cNvPr>
          <p:cNvGraphicFramePr>
            <a:graphicFrameLocks noChangeAspect="1"/>
          </p:cNvGraphicFramePr>
          <p:nvPr/>
        </p:nvGraphicFramePr>
        <p:xfrm>
          <a:off x="5645150" y="2600960"/>
          <a:ext cx="1668780" cy="449580"/>
        </p:xfrm>
        <a:graphic>
          <a:graphicData uri="http://schemas.openxmlformats.org/presentationml/2006/ole">
            <mc:AlternateContent xmlns:mc="http://schemas.openxmlformats.org/markup-compatibility/2006">
              <mc:Choice xmlns:v="urn:schemas-microsoft-com:vml" Requires="v">
                <p:oleObj spid="_x0000_s54" name="" r:id="rId3" imgW="965200" imgH="292100" progId="Equation.KSEE3">
                  <p:embed/>
                </p:oleObj>
              </mc:Choice>
              <mc:Fallback>
                <p:oleObj name="" r:id="rId3" imgW="965200" imgH="292100" progId="Equation.KSEE3">
                  <p:embed/>
                  <p:pic>
                    <p:nvPicPr>
                      <p:cNvPr id="0" name="图片 1025"/>
                      <p:cNvPicPr/>
                      <p:nvPr/>
                    </p:nvPicPr>
                    <p:blipFill>
                      <a:blip r:embed="rId4"/>
                      <a:stretch>
                        <a:fillRect/>
                      </a:stretch>
                    </p:blipFill>
                    <p:spPr>
                      <a:xfrm>
                        <a:off x="5645150" y="2600960"/>
                        <a:ext cx="1668780" cy="449580"/>
                      </a:xfrm>
                      <a:prstGeom prst="rect">
                        <a:avLst/>
                      </a:prstGeom>
                    </p:spPr>
                  </p:pic>
                </p:oleObj>
              </mc:Fallback>
            </mc:AlternateContent>
          </a:graphicData>
        </a:graphic>
      </p:graphicFrame>
      <p:graphicFrame>
        <p:nvGraphicFramePr>
          <p:cNvPr id="55" name="对象 54">
            <a:hlinkClick r:id="" action="ppaction://ole?verb="/>
          </p:cNvPr>
          <p:cNvGraphicFramePr>
            <a:graphicFrameLocks noChangeAspect="1"/>
          </p:cNvGraphicFramePr>
          <p:nvPr/>
        </p:nvGraphicFramePr>
        <p:xfrm>
          <a:off x="5645150" y="3085465"/>
          <a:ext cx="1668780" cy="449580"/>
        </p:xfrm>
        <a:graphic>
          <a:graphicData uri="http://schemas.openxmlformats.org/presentationml/2006/ole">
            <mc:AlternateContent xmlns:mc="http://schemas.openxmlformats.org/markup-compatibility/2006">
              <mc:Choice xmlns:v="urn:schemas-microsoft-com:vml" Requires="v">
                <p:oleObj spid="_x0000_s56" name="" r:id="rId5" imgW="965200" imgH="292100" progId="Equation.KSEE3">
                  <p:embed/>
                </p:oleObj>
              </mc:Choice>
              <mc:Fallback>
                <p:oleObj name="" r:id="rId5" imgW="965200" imgH="292100" progId="Equation.KSEE3">
                  <p:embed/>
                  <p:pic>
                    <p:nvPicPr>
                      <p:cNvPr id="0" name="图片 1025"/>
                      <p:cNvPicPr/>
                      <p:nvPr/>
                    </p:nvPicPr>
                    <p:blipFill>
                      <a:blip r:embed="rId6"/>
                      <a:stretch>
                        <a:fillRect/>
                      </a:stretch>
                    </p:blipFill>
                    <p:spPr>
                      <a:xfrm>
                        <a:off x="5645150" y="3085465"/>
                        <a:ext cx="1668780" cy="449580"/>
                      </a:xfrm>
                      <a:prstGeom prst="rect">
                        <a:avLst/>
                      </a:prstGeom>
                    </p:spPr>
                  </p:pic>
                </p:oleObj>
              </mc:Fallback>
            </mc:AlternateContent>
          </a:graphicData>
        </a:graphic>
      </p:graphicFrame>
      <p:sp>
        <p:nvSpPr>
          <p:cNvPr id="62" name="文本框 61"/>
          <p:cNvSpPr txBox="1"/>
          <p:nvPr/>
        </p:nvSpPr>
        <p:spPr>
          <a:xfrm>
            <a:off x="4382135" y="3998595"/>
            <a:ext cx="1327150" cy="337185"/>
          </a:xfrm>
          <a:prstGeom prst="rect">
            <a:avLst/>
          </a:prstGeom>
          <a:noFill/>
        </p:spPr>
        <p:txBody>
          <a:bodyPr wrap="square">
            <a:spAutoFit/>
          </a:bodyPr>
          <a:lstStyle/>
          <a:p>
            <a:pPr indent="0" algn="ctr" fontAlgn="auto">
              <a:lnSpc>
                <a:spcPct val="100000"/>
              </a:lnSpc>
            </a:pPr>
            <a:r>
              <a:rPr lang="zh-CN" altLang="en-US" sz="1600" dirty="0">
                <a:solidFill>
                  <a:schemeClr val="tx1"/>
                </a:solidFill>
              </a:rPr>
              <a:t>总产出</a:t>
            </a:r>
            <a:endParaRPr lang="zh-CN" altLang="en-US" sz="1600" dirty="0">
              <a:solidFill>
                <a:schemeClr val="tx1"/>
              </a:solidFill>
            </a:endParaRPr>
          </a:p>
        </p:txBody>
      </p:sp>
      <p:sp>
        <p:nvSpPr>
          <p:cNvPr id="63" name="文本框 62"/>
          <p:cNvSpPr txBox="1"/>
          <p:nvPr/>
        </p:nvSpPr>
        <p:spPr>
          <a:xfrm>
            <a:off x="5671185" y="3914140"/>
            <a:ext cx="1135380" cy="706755"/>
          </a:xfrm>
          <a:prstGeom prst="rect">
            <a:avLst/>
          </a:prstGeom>
          <a:noFill/>
        </p:spPr>
        <p:txBody>
          <a:bodyPr wrap="square">
            <a:spAutoFit/>
          </a:bodyPr>
          <a:lstStyle/>
          <a:p>
            <a:pPr>
              <a:buNone/>
            </a:pPr>
            <a:r>
              <a:rPr lang="en-US" altLang="zh-CN" sz="2000" i="1">
                <a:uFillTx/>
                <a:latin typeface="Times New Roman" panose="02020603050405020304" charset="0"/>
                <a:cs typeface="Times New Roman" panose="02020603050405020304" charset="0"/>
                <a:sym typeface="+mn-ea"/>
              </a:rPr>
              <a:t>Y</a:t>
            </a:r>
            <a:r>
              <a:rPr lang="en-US" altLang="zh-CN" sz="2000" i="1" baseline="-25000">
                <a:uFillTx/>
                <a:latin typeface="Times New Roman" panose="02020603050405020304" charset="0"/>
                <a:cs typeface="Times New Roman" panose="02020603050405020304" charset="0"/>
                <a:sym typeface="+mn-ea"/>
              </a:rPr>
              <a:t>a</a:t>
            </a:r>
            <a:r>
              <a:rPr lang="en-US" altLang="zh-CN" sz="2000" i="1">
                <a:uFillTx/>
                <a:latin typeface="Times New Roman" panose="02020603050405020304" charset="0"/>
                <a:cs typeface="Times New Roman" panose="02020603050405020304" charset="0"/>
                <a:sym typeface="+mn-ea"/>
              </a:rPr>
              <a:t>=AL</a:t>
            </a:r>
            <a:r>
              <a:rPr lang="en-US" altLang="zh-CN" sz="2000" i="1" baseline="-25000">
                <a:uFillTx/>
                <a:latin typeface="Times New Roman" panose="02020603050405020304" charset="0"/>
                <a:cs typeface="Times New Roman" panose="02020603050405020304" charset="0"/>
                <a:sym typeface="+mn-ea"/>
              </a:rPr>
              <a:t>a  </a:t>
            </a:r>
            <a:endParaRPr lang="en-US" altLang="zh-CN" sz="2000" i="1">
              <a:uFillTx/>
              <a:latin typeface="Times New Roman" panose="02020603050405020304" charset="0"/>
              <a:cs typeface="Times New Roman" panose="02020603050405020304" charset="0"/>
              <a:sym typeface="+mn-ea"/>
            </a:endParaRPr>
          </a:p>
          <a:p>
            <a:pPr>
              <a:buNone/>
            </a:pPr>
            <a:r>
              <a:rPr lang="en-US" altLang="zh-CN" sz="2000" i="1">
                <a:uFillTx/>
                <a:latin typeface="Times New Roman" panose="02020603050405020304" charset="0"/>
                <a:cs typeface="Times New Roman" panose="02020603050405020304" charset="0"/>
                <a:sym typeface="+mn-ea"/>
              </a:rPr>
              <a:t>Y</a:t>
            </a:r>
            <a:r>
              <a:rPr lang="en-US" altLang="zh-CN" sz="2000" i="1" baseline="-25000">
                <a:uFillTx/>
                <a:latin typeface="Times New Roman" panose="02020603050405020304" charset="0"/>
                <a:cs typeface="Times New Roman" panose="02020603050405020304" charset="0"/>
                <a:sym typeface="+mn-ea"/>
              </a:rPr>
              <a:t>n</a:t>
            </a:r>
            <a:r>
              <a:rPr lang="en-US" altLang="zh-CN" sz="2000" i="1">
                <a:uFillTx/>
                <a:latin typeface="Times New Roman" panose="02020603050405020304" charset="0"/>
                <a:cs typeface="Times New Roman" panose="02020603050405020304" charset="0"/>
                <a:sym typeface="+mn-ea"/>
              </a:rPr>
              <a:t>=AL</a:t>
            </a:r>
            <a:r>
              <a:rPr lang="en-US" altLang="zh-CN" sz="2000" i="1" baseline="-25000">
                <a:uFillTx/>
                <a:latin typeface="Times New Roman" panose="02020603050405020304" charset="0"/>
                <a:cs typeface="Times New Roman" panose="02020603050405020304" charset="0"/>
                <a:sym typeface="+mn-ea"/>
              </a:rPr>
              <a:t>n</a:t>
            </a:r>
            <a:endParaRPr lang="en-US" altLang="zh-CN" sz="2000" i="1" baseline="-25000" dirty="0">
              <a:solidFill>
                <a:schemeClr val="tx1"/>
              </a:solidFill>
              <a:uFillTx/>
              <a:latin typeface="Times New Roman" panose="02020603050405020304" charset="0"/>
              <a:cs typeface="Times New Roman" panose="02020603050405020304" charset="0"/>
              <a:sym typeface="+mn-ea"/>
            </a:endParaRPr>
          </a:p>
        </p:txBody>
      </p:sp>
      <p:sp>
        <p:nvSpPr>
          <p:cNvPr id="64" name="文本框 63"/>
          <p:cNvSpPr txBox="1"/>
          <p:nvPr/>
        </p:nvSpPr>
        <p:spPr>
          <a:xfrm>
            <a:off x="4509135" y="4927600"/>
            <a:ext cx="1136015" cy="337185"/>
          </a:xfrm>
          <a:prstGeom prst="rect">
            <a:avLst/>
          </a:prstGeom>
          <a:noFill/>
        </p:spPr>
        <p:txBody>
          <a:bodyPr wrap="square">
            <a:spAutoFit/>
          </a:bodyPr>
          <a:lstStyle/>
          <a:p>
            <a:pPr indent="0" algn="ctr" fontAlgn="auto">
              <a:lnSpc>
                <a:spcPct val="100000"/>
              </a:lnSpc>
            </a:pPr>
            <a:r>
              <a:rPr lang="zh-CN" altLang="en-US" sz="1600" dirty="0">
                <a:solidFill>
                  <a:schemeClr val="tx1"/>
                </a:solidFill>
              </a:rPr>
              <a:t>总</a:t>
            </a:r>
            <a:r>
              <a:rPr lang="zh-CN" altLang="en-US" sz="1600" dirty="0">
                <a:solidFill>
                  <a:schemeClr val="tx1"/>
                </a:solidFill>
              </a:rPr>
              <a:t>需求</a:t>
            </a:r>
            <a:endParaRPr lang="zh-CN" altLang="en-US" sz="1600" dirty="0">
              <a:solidFill>
                <a:schemeClr val="tx1"/>
              </a:solidFill>
            </a:endParaRPr>
          </a:p>
        </p:txBody>
      </p:sp>
      <p:graphicFrame>
        <p:nvGraphicFramePr>
          <p:cNvPr id="65" name="对象 64">
            <a:hlinkClick r:id="" action="ppaction://ole?verb="/>
          </p:cNvPr>
          <p:cNvGraphicFramePr>
            <a:graphicFrameLocks noChangeAspect="1"/>
          </p:cNvGraphicFramePr>
          <p:nvPr/>
        </p:nvGraphicFramePr>
        <p:xfrm>
          <a:off x="5645785" y="4852035"/>
          <a:ext cx="1327150" cy="471170"/>
        </p:xfrm>
        <a:graphic>
          <a:graphicData uri="http://schemas.openxmlformats.org/presentationml/2006/ole">
            <mc:AlternateContent xmlns:mc="http://schemas.openxmlformats.org/markup-compatibility/2006">
              <mc:Choice xmlns:v="urn:schemas-microsoft-com:vml" Requires="v">
                <p:oleObj spid="_x0000_s2051" name="" r:id="rId7" imgW="787400" imgH="279400" progId="Equation.KSEE3">
                  <p:embed/>
                </p:oleObj>
              </mc:Choice>
              <mc:Fallback>
                <p:oleObj name="" r:id="rId7" imgW="787400" imgH="279400" progId="Equation.KSEE3">
                  <p:embed/>
                  <p:pic>
                    <p:nvPicPr>
                      <p:cNvPr id="0" name="图片 2050"/>
                      <p:cNvPicPr/>
                      <p:nvPr/>
                    </p:nvPicPr>
                    <p:blipFill>
                      <a:blip r:embed="rId8"/>
                      <a:stretch>
                        <a:fillRect/>
                      </a:stretch>
                    </p:blipFill>
                    <p:spPr>
                      <a:xfrm>
                        <a:off x="5645785" y="4852035"/>
                        <a:ext cx="1327150" cy="471170"/>
                      </a:xfrm>
                      <a:prstGeom prst="rect">
                        <a:avLst/>
                      </a:prstGeom>
                    </p:spPr>
                  </p:pic>
                </p:oleObj>
              </mc:Fallback>
            </mc:AlternateContent>
          </a:graphicData>
        </a:graphic>
      </p:graphicFrame>
      <p:graphicFrame>
        <p:nvGraphicFramePr>
          <p:cNvPr id="66" name="对象 65">
            <a:hlinkClick r:id="" action="ppaction://ole?verb="/>
          </p:cNvPr>
          <p:cNvGraphicFramePr>
            <a:graphicFrameLocks noChangeAspect="1"/>
          </p:cNvGraphicFramePr>
          <p:nvPr/>
        </p:nvGraphicFramePr>
        <p:xfrm>
          <a:off x="5645785" y="5365115"/>
          <a:ext cx="1327150" cy="471170"/>
        </p:xfrm>
        <a:graphic>
          <a:graphicData uri="http://schemas.openxmlformats.org/presentationml/2006/ole">
            <mc:AlternateContent xmlns:mc="http://schemas.openxmlformats.org/markup-compatibility/2006">
              <mc:Choice xmlns:v="urn:schemas-microsoft-com:vml" Requires="v">
                <p:oleObj spid="_x0000_s3" name="" r:id="rId9" imgW="787400" imgH="279400" progId="Equation.KSEE3">
                  <p:embed/>
                </p:oleObj>
              </mc:Choice>
              <mc:Fallback>
                <p:oleObj name="" r:id="rId9" imgW="787400" imgH="279400" progId="Equation.KSEE3">
                  <p:embed/>
                  <p:pic>
                    <p:nvPicPr>
                      <p:cNvPr id="0" name="图片 2050"/>
                      <p:cNvPicPr/>
                      <p:nvPr/>
                    </p:nvPicPr>
                    <p:blipFill>
                      <a:blip r:embed="rId10"/>
                      <a:stretch>
                        <a:fillRect/>
                      </a:stretch>
                    </p:blipFill>
                    <p:spPr>
                      <a:xfrm>
                        <a:off x="5645785" y="5365115"/>
                        <a:ext cx="1327150" cy="471170"/>
                      </a:xfrm>
                      <a:prstGeom prst="rect">
                        <a:avLst/>
                      </a:prstGeom>
                    </p:spPr>
                  </p:pic>
                </p:oleObj>
              </mc:Fallback>
            </mc:AlternateContent>
          </a:graphicData>
        </a:graphic>
      </p:graphicFrame>
      <p:sp>
        <p:nvSpPr>
          <p:cNvPr id="67" name="文本框 66"/>
          <p:cNvSpPr txBox="1"/>
          <p:nvPr/>
        </p:nvSpPr>
        <p:spPr>
          <a:xfrm>
            <a:off x="8181975" y="2622550"/>
            <a:ext cx="1327150" cy="337185"/>
          </a:xfrm>
          <a:prstGeom prst="rect">
            <a:avLst/>
          </a:prstGeom>
          <a:noFill/>
        </p:spPr>
        <p:txBody>
          <a:bodyPr wrap="square">
            <a:spAutoFit/>
          </a:bodyPr>
          <a:lstStyle/>
          <a:p>
            <a:pPr indent="0" algn="ctr" fontAlgn="auto">
              <a:lnSpc>
                <a:spcPct val="100000"/>
              </a:lnSpc>
            </a:pPr>
            <a:r>
              <a:rPr lang="zh-CN" altLang="en-US" sz="1600" dirty="0">
                <a:solidFill>
                  <a:schemeClr val="tx1"/>
                </a:solidFill>
              </a:rPr>
              <a:t>劳动</a:t>
            </a:r>
            <a:r>
              <a:rPr lang="zh-CN" altLang="en-US" sz="1600" dirty="0">
                <a:solidFill>
                  <a:schemeClr val="tx1"/>
                </a:solidFill>
              </a:rPr>
              <a:t>市场</a:t>
            </a:r>
            <a:endParaRPr lang="zh-CN" altLang="en-US" sz="1600" dirty="0">
              <a:solidFill>
                <a:schemeClr val="tx1"/>
              </a:solidFill>
            </a:endParaRPr>
          </a:p>
        </p:txBody>
      </p:sp>
      <p:sp>
        <p:nvSpPr>
          <p:cNvPr id="68" name="文本框 67"/>
          <p:cNvSpPr txBox="1"/>
          <p:nvPr/>
        </p:nvSpPr>
        <p:spPr>
          <a:xfrm>
            <a:off x="8181975" y="4269740"/>
            <a:ext cx="1327150" cy="337185"/>
          </a:xfrm>
          <a:prstGeom prst="rect">
            <a:avLst/>
          </a:prstGeom>
          <a:noFill/>
        </p:spPr>
        <p:txBody>
          <a:bodyPr wrap="square">
            <a:spAutoFit/>
          </a:bodyPr>
          <a:lstStyle/>
          <a:p>
            <a:pPr indent="0" algn="ctr" fontAlgn="auto">
              <a:lnSpc>
                <a:spcPct val="100000"/>
              </a:lnSpc>
            </a:pPr>
            <a:r>
              <a:rPr lang="zh-CN" altLang="en-US" sz="1600" dirty="0">
                <a:solidFill>
                  <a:schemeClr val="tx1"/>
                </a:solidFill>
              </a:rPr>
              <a:t>产品市场</a:t>
            </a:r>
            <a:endParaRPr lang="zh-CN" altLang="en-US" sz="1600" dirty="0">
              <a:solidFill>
                <a:schemeClr val="tx1"/>
              </a:solidFill>
            </a:endParaRPr>
          </a:p>
        </p:txBody>
      </p:sp>
      <p:sp>
        <p:nvSpPr>
          <p:cNvPr id="69" name="文本框 68"/>
          <p:cNvSpPr txBox="1"/>
          <p:nvPr/>
        </p:nvSpPr>
        <p:spPr>
          <a:xfrm>
            <a:off x="8399780" y="2983865"/>
            <a:ext cx="2250440" cy="398780"/>
          </a:xfrm>
          <a:prstGeom prst="rect">
            <a:avLst/>
          </a:prstGeom>
          <a:noFill/>
        </p:spPr>
        <p:txBody>
          <a:bodyPr wrap="square">
            <a:spAutoFit/>
          </a:bodyPr>
          <a:lstStyle/>
          <a:p>
            <a:pPr indent="0" algn="ctr" fontAlgn="auto">
              <a:lnSpc>
                <a:spcPct val="100000"/>
              </a:lnSpc>
            </a:pPr>
            <a:r>
              <a:rPr lang="en-US" altLang="zh-CN" sz="2000" i="1" dirty="0">
                <a:latin typeface="Times New Roman" panose="02020603050405020304" charset="0"/>
                <a:cs typeface="Times New Roman" panose="02020603050405020304" charset="0"/>
              </a:rPr>
              <a:t>w</a:t>
            </a:r>
            <a:r>
              <a:rPr lang="en-US" altLang="zh-CN" sz="2000" i="1" baseline="-25000" dirty="0">
                <a:latin typeface="Times New Roman" panose="02020603050405020304" charset="0"/>
                <a:cs typeface="Times New Roman" panose="02020603050405020304" charset="0"/>
              </a:rPr>
              <a:t>a</a:t>
            </a:r>
            <a:r>
              <a:rPr lang="en-US" altLang="zh-CN" sz="2000" i="1" dirty="0">
                <a:latin typeface="Times New Roman" panose="02020603050405020304" charset="0"/>
                <a:cs typeface="Times New Roman" panose="02020603050405020304" charset="0"/>
              </a:rPr>
              <a:t>=p</a:t>
            </a:r>
            <a:r>
              <a:rPr lang="en-US" altLang="zh-CN" sz="2000" i="1" baseline="-25000" dirty="0">
                <a:latin typeface="Times New Roman" panose="02020603050405020304" charset="0"/>
                <a:cs typeface="Times New Roman" panose="02020603050405020304" charset="0"/>
              </a:rPr>
              <a:t>a</a:t>
            </a:r>
            <a:r>
              <a:rPr lang="en-US" altLang="zh-CN" sz="2000" i="1" dirty="0">
                <a:latin typeface="Times New Roman" panose="02020603050405020304" charset="0"/>
                <a:cs typeface="Times New Roman" panose="02020603050405020304" charset="0"/>
              </a:rPr>
              <a:t>A</a:t>
            </a:r>
            <a:r>
              <a:rPr lang="zh-CN" altLang="en-US" sz="2000" i="1" dirty="0">
                <a:latin typeface="Times New Roman" panose="02020603050405020304" charset="0"/>
                <a:cs typeface="Times New Roman" panose="02020603050405020304" charset="0"/>
              </a:rPr>
              <a:t>，</a:t>
            </a:r>
            <a:r>
              <a:rPr lang="en-US" altLang="zh-CN" sz="2000" i="1" dirty="0">
                <a:latin typeface="Times New Roman" panose="02020603050405020304" charset="0"/>
                <a:cs typeface="Times New Roman" panose="02020603050405020304" charset="0"/>
              </a:rPr>
              <a:t>w</a:t>
            </a:r>
            <a:r>
              <a:rPr lang="en-US" altLang="zh-CN" sz="2000" i="1" baseline="-25000" dirty="0">
                <a:latin typeface="Times New Roman" panose="02020603050405020304" charset="0"/>
                <a:cs typeface="Times New Roman" panose="02020603050405020304" charset="0"/>
              </a:rPr>
              <a:t>n</a:t>
            </a:r>
            <a:r>
              <a:rPr lang="en-US" altLang="zh-CN" sz="2000" i="1" dirty="0">
                <a:latin typeface="Times New Roman" panose="02020603050405020304" charset="0"/>
                <a:cs typeface="Times New Roman" panose="02020603050405020304" charset="0"/>
              </a:rPr>
              <a:t>=A</a:t>
            </a:r>
            <a:endParaRPr lang="en-US" altLang="zh-CN" sz="2000" i="1" dirty="0">
              <a:latin typeface="Times New Roman" panose="02020603050405020304" charset="0"/>
              <a:cs typeface="Times New Roman" panose="02020603050405020304" charset="0"/>
            </a:endParaRPr>
          </a:p>
        </p:txBody>
      </p:sp>
      <p:sp>
        <p:nvSpPr>
          <p:cNvPr id="70" name="文本框 69"/>
          <p:cNvSpPr txBox="1"/>
          <p:nvPr/>
        </p:nvSpPr>
        <p:spPr>
          <a:xfrm>
            <a:off x="8450580" y="4759960"/>
            <a:ext cx="2250440" cy="398780"/>
          </a:xfrm>
          <a:prstGeom prst="rect">
            <a:avLst/>
          </a:prstGeom>
          <a:noFill/>
        </p:spPr>
        <p:txBody>
          <a:bodyPr wrap="square">
            <a:spAutoFit/>
          </a:bodyPr>
          <a:lstStyle/>
          <a:p>
            <a:pPr indent="0" algn="ctr" fontAlgn="auto">
              <a:lnSpc>
                <a:spcPct val="100000"/>
              </a:lnSpc>
            </a:pPr>
            <a:r>
              <a:rPr lang="en-US" altLang="zh-CN" sz="2000" i="1" dirty="0">
                <a:latin typeface="Times New Roman" panose="02020603050405020304" charset="0"/>
                <a:cs typeface="Times New Roman" panose="02020603050405020304" charset="0"/>
              </a:rPr>
              <a:t>C</a:t>
            </a:r>
            <a:r>
              <a:rPr lang="en-US" altLang="zh-CN" sz="2000" i="1" baseline="-25000" dirty="0">
                <a:latin typeface="Times New Roman" panose="02020603050405020304" charset="0"/>
                <a:cs typeface="Times New Roman" panose="02020603050405020304" charset="0"/>
              </a:rPr>
              <a:t>a</a:t>
            </a:r>
            <a:r>
              <a:rPr lang="en-US" altLang="zh-CN" sz="2000" i="1" dirty="0">
                <a:latin typeface="Times New Roman" panose="02020603050405020304" charset="0"/>
                <a:cs typeface="Times New Roman" panose="02020603050405020304" charset="0"/>
              </a:rPr>
              <a:t>=Y</a:t>
            </a:r>
            <a:r>
              <a:rPr lang="en-US" altLang="zh-CN" sz="2000" i="1" baseline="-25000" dirty="0">
                <a:latin typeface="Times New Roman" panose="02020603050405020304" charset="0"/>
                <a:cs typeface="Times New Roman" panose="02020603050405020304" charset="0"/>
              </a:rPr>
              <a:t>a</a:t>
            </a:r>
            <a:r>
              <a:rPr lang="zh-CN" altLang="en-US" sz="2000" i="1" dirty="0">
                <a:latin typeface="Times New Roman" panose="02020603050405020304" charset="0"/>
                <a:cs typeface="Times New Roman" panose="02020603050405020304" charset="0"/>
              </a:rPr>
              <a:t>，</a:t>
            </a:r>
            <a:r>
              <a:rPr lang="en-US" altLang="zh-CN" sz="2000" i="1" dirty="0">
                <a:latin typeface="Times New Roman" panose="02020603050405020304" charset="0"/>
                <a:cs typeface="Times New Roman" panose="02020603050405020304" charset="0"/>
                <a:sym typeface="+mn-ea"/>
              </a:rPr>
              <a:t>C</a:t>
            </a:r>
            <a:r>
              <a:rPr lang="en-US" altLang="zh-CN" sz="2000" i="1" baseline="-25000" dirty="0">
                <a:latin typeface="Times New Roman" panose="02020603050405020304" charset="0"/>
                <a:cs typeface="Times New Roman" panose="02020603050405020304" charset="0"/>
                <a:sym typeface="+mn-ea"/>
              </a:rPr>
              <a:t>n</a:t>
            </a:r>
            <a:r>
              <a:rPr lang="en-US" altLang="zh-CN" sz="2000" i="1" dirty="0">
                <a:latin typeface="Times New Roman" panose="02020603050405020304" charset="0"/>
                <a:cs typeface="Times New Roman" panose="02020603050405020304" charset="0"/>
                <a:sym typeface="+mn-ea"/>
              </a:rPr>
              <a:t>=Y</a:t>
            </a:r>
            <a:r>
              <a:rPr lang="en-US" altLang="zh-CN" sz="2000" i="1" baseline="-25000" dirty="0">
                <a:latin typeface="Times New Roman" panose="02020603050405020304" charset="0"/>
                <a:cs typeface="Times New Roman" panose="02020603050405020304" charset="0"/>
                <a:sym typeface="+mn-ea"/>
              </a:rPr>
              <a:t>n</a:t>
            </a:r>
            <a:endParaRPr lang="en-US" altLang="zh-CN" sz="2000" i="1" dirty="0">
              <a:latin typeface="Times New Roman" panose="02020603050405020304" charset="0"/>
              <a:cs typeface="Times New Roman" panose="02020603050405020304" charset="0"/>
            </a:endParaRPr>
          </a:p>
        </p:txBody>
      </p:sp>
      <p:graphicFrame>
        <p:nvGraphicFramePr>
          <p:cNvPr id="11" name="对象 10">
            <a:hlinkClick r:id="" action="ppaction://ole?verb="/>
          </p:cNvPr>
          <p:cNvGraphicFramePr>
            <a:graphicFrameLocks noChangeAspect="1"/>
          </p:cNvGraphicFramePr>
          <p:nvPr/>
        </p:nvGraphicFramePr>
        <p:xfrm>
          <a:off x="1029970" y="3175635"/>
          <a:ext cx="2703195" cy="415925"/>
        </p:xfrm>
        <a:graphic>
          <a:graphicData uri="http://schemas.openxmlformats.org/presentationml/2006/ole">
            <mc:AlternateContent xmlns:mc="http://schemas.openxmlformats.org/markup-compatibility/2006">
              <mc:Choice xmlns:v="urn:schemas-microsoft-com:vml" Requires="v">
                <p:oleObj spid="_x0000_s3073" name="" r:id="rId11" imgW="1651000" imgH="254000" progId="Equation.KSEE3">
                  <p:embed/>
                </p:oleObj>
              </mc:Choice>
              <mc:Fallback>
                <p:oleObj name="" r:id="rId11" imgW="1651000" imgH="254000" progId="Equation.KSEE3">
                  <p:embed/>
                  <p:pic>
                    <p:nvPicPr>
                      <p:cNvPr id="0" name="图片 3072"/>
                      <p:cNvPicPr/>
                      <p:nvPr/>
                    </p:nvPicPr>
                    <p:blipFill>
                      <a:blip r:embed="rId12"/>
                      <a:stretch>
                        <a:fillRect/>
                      </a:stretch>
                    </p:blipFill>
                    <p:spPr>
                      <a:xfrm>
                        <a:off x="1029970" y="3175635"/>
                        <a:ext cx="2703195" cy="41592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1564640" y="4171315"/>
          <a:ext cx="1557020" cy="435610"/>
        </p:xfrm>
        <a:graphic>
          <a:graphicData uri="http://schemas.openxmlformats.org/presentationml/2006/ole">
            <mc:AlternateContent xmlns:mc="http://schemas.openxmlformats.org/markup-compatibility/2006">
              <mc:Choice xmlns:v="urn:schemas-microsoft-com:vml" Requires="v">
                <p:oleObj spid="_x0000_s3074" name="" r:id="rId13" imgW="862965" imgH="241300" progId="Equation.KSEE3">
                  <p:embed/>
                </p:oleObj>
              </mc:Choice>
              <mc:Fallback>
                <p:oleObj name="" r:id="rId13" imgW="862965" imgH="241300" progId="Equation.KSEE3">
                  <p:embed/>
                  <p:pic>
                    <p:nvPicPr>
                      <p:cNvPr id="0" name="图片 3073"/>
                      <p:cNvPicPr/>
                      <p:nvPr/>
                    </p:nvPicPr>
                    <p:blipFill>
                      <a:blip r:embed="rId14"/>
                      <a:stretch>
                        <a:fillRect/>
                      </a:stretch>
                    </p:blipFill>
                    <p:spPr>
                      <a:xfrm>
                        <a:off x="1564640" y="4171315"/>
                        <a:ext cx="1557020" cy="435610"/>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852805" y="5186680"/>
          <a:ext cx="1327150" cy="682625"/>
        </p:xfrm>
        <a:graphic>
          <a:graphicData uri="http://schemas.openxmlformats.org/presentationml/2006/ole">
            <mc:AlternateContent xmlns:mc="http://schemas.openxmlformats.org/markup-compatibility/2006">
              <mc:Choice xmlns:v="urn:schemas-microsoft-com:vml" Requires="v">
                <p:oleObj spid="_x0000_s3075" name="" r:id="rId15" imgW="914400" imgH="469900" progId="Equation.KSEE3">
                  <p:embed/>
                </p:oleObj>
              </mc:Choice>
              <mc:Fallback>
                <p:oleObj name="" r:id="rId15" imgW="914400" imgH="469900" progId="Equation.KSEE3">
                  <p:embed/>
                  <p:pic>
                    <p:nvPicPr>
                      <p:cNvPr id="0" name="图片 3074"/>
                      <p:cNvPicPr/>
                      <p:nvPr/>
                    </p:nvPicPr>
                    <p:blipFill>
                      <a:blip r:embed="rId16"/>
                      <a:stretch>
                        <a:fillRect/>
                      </a:stretch>
                    </p:blipFill>
                    <p:spPr>
                      <a:xfrm>
                        <a:off x="852805" y="5186680"/>
                        <a:ext cx="1327150" cy="682625"/>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2357120" y="5207635"/>
          <a:ext cx="1492250" cy="626745"/>
        </p:xfrm>
        <a:graphic>
          <a:graphicData uri="http://schemas.openxmlformats.org/presentationml/2006/ole">
            <mc:AlternateContent xmlns:mc="http://schemas.openxmlformats.org/markup-compatibility/2006">
              <mc:Choice xmlns:v="urn:schemas-microsoft-com:vml" Requires="v">
                <p:oleObj spid="_x0000_s8" name="" r:id="rId17" imgW="1028700" imgH="431800" progId="Equation.KSEE3">
                  <p:embed/>
                </p:oleObj>
              </mc:Choice>
              <mc:Fallback>
                <p:oleObj name="" r:id="rId17" imgW="1028700" imgH="431800" progId="Equation.KSEE3">
                  <p:embed/>
                  <p:pic>
                    <p:nvPicPr>
                      <p:cNvPr id="0" name="图片 3074"/>
                      <p:cNvPicPr/>
                      <p:nvPr/>
                    </p:nvPicPr>
                    <p:blipFill>
                      <a:blip r:embed="rId18"/>
                      <a:stretch>
                        <a:fillRect/>
                      </a:stretch>
                    </p:blipFill>
                    <p:spPr>
                      <a:xfrm>
                        <a:off x="2357120" y="5207635"/>
                        <a:ext cx="1492250" cy="626745"/>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910" y="914400"/>
            <a:ext cx="6693535" cy="368300"/>
          </a:xfrm>
          <a:prstGeom prst="rect">
            <a:avLst/>
          </a:prstGeom>
          <a:noFill/>
        </p:spPr>
        <p:txBody>
          <a:bodyPr wrap="square" rtlCol="0">
            <a:spAutoFit/>
          </a:bodyPr>
          <a:lstStyle/>
          <a:p>
            <a:r>
              <a:rPr lang="zh-CN" altLang="en-US" b="1"/>
              <a:t>简化模型</a:t>
            </a:r>
            <a:r>
              <a:rPr lang="en-US" altLang="zh-CN" b="1"/>
              <a:t>——</a:t>
            </a:r>
            <a:r>
              <a:rPr lang="zh-CN" altLang="en-US" b="1"/>
              <a:t>独立 </a:t>
            </a:r>
            <a:r>
              <a:rPr lang="en-US" altLang="zh-CN" b="1"/>
              <a:t>Fr</a:t>
            </a:r>
            <a:r>
              <a:rPr lang="en-US" altLang="en-US" b="1"/>
              <a:t>é</a:t>
            </a:r>
            <a:r>
              <a:rPr lang="en-US" altLang="zh-CN" b="1"/>
              <a:t>chet </a:t>
            </a:r>
            <a:r>
              <a:rPr lang="zh-CN" altLang="en-US" b="1"/>
              <a:t>分布</a:t>
            </a:r>
            <a:endParaRPr lang="zh-CN" altLang="en-US" b="1"/>
          </a:p>
        </p:txBody>
      </p:sp>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9" name="Group 9"/>
          <p:cNvGrpSpPr/>
          <p:nvPr/>
        </p:nvGrpSpPr>
        <p:grpSpPr>
          <a:xfrm>
            <a:off x="612775" y="1417320"/>
            <a:ext cx="10935970" cy="4860290"/>
            <a:chOff x="0" y="0"/>
            <a:chExt cx="21533544" cy="9732698"/>
          </a:xfrm>
        </p:grpSpPr>
        <p:sp>
          <p:nvSpPr>
            <p:cNvPr id="10" name="Freeform 10"/>
            <p:cNvSpPr/>
            <p:nvPr/>
          </p:nvSpPr>
          <p:spPr>
            <a:xfrm>
              <a:off x="0" y="0"/>
              <a:ext cx="21533611" cy="9732645"/>
            </a:xfrm>
            <a:custGeom>
              <a:avLst/>
              <a:gdLst/>
              <a:ahLst/>
              <a:cxnLst/>
              <a:rect l="l" t="t" r="r" b="b"/>
              <a:pathLst>
                <a:path w="21533611" h="9732645">
                  <a:moveTo>
                    <a:pt x="0" y="465074"/>
                  </a:moveTo>
                  <a:cubicBezTo>
                    <a:pt x="0" y="208153"/>
                    <a:pt x="208661" y="0"/>
                    <a:pt x="466090" y="0"/>
                  </a:cubicBezTo>
                  <a:lnTo>
                    <a:pt x="21067522" y="0"/>
                  </a:lnTo>
                  <a:lnTo>
                    <a:pt x="21067522" y="19050"/>
                  </a:lnTo>
                  <a:lnTo>
                    <a:pt x="21067522" y="0"/>
                  </a:lnTo>
                  <a:cubicBezTo>
                    <a:pt x="21324824" y="0"/>
                    <a:pt x="21533611" y="208153"/>
                    <a:pt x="21533611" y="465074"/>
                  </a:cubicBezTo>
                  <a:lnTo>
                    <a:pt x="21514561" y="465074"/>
                  </a:lnTo>
                  <a:lnTo>
                    <a:pt x="21533611" y="465074"/>
                  </a:lnTo>
                  <a:lnTo>
                    <a:pt x="21533611" y="9267571"/>
                  </a:lnTo>
                  <a:lnTo>
                    <a:pt x="21514561" y="9267571"/>
                  </a:lnTo>
                  <a:lnTo>
                    <a:pt x="21533611" y="9267571"/>
                  </a:lnTo>
                  <a:cubicBezTo>
                    <a:pt x="21533611" y="9524492"/>
                    <a:pt x="21324951" y="9732645"/>
                    <a:pt x="21067522" y="9732645"/>
                  </a:cubicBezTo>
                  <a:lnTo>
                    <a:pt x="21067522" y="9713595"/>
                  </a:lnTo>
                  <a:lnTo>
                    <a:pt x="21067522" y="9732645"/>
                  </a:lnTo>
                  <a:lnTo>
                    <a:pt x="466090" y="9732645"/>
                  </a:lnTo>
                  <a:lnTo>
                    <a:pt x="466090" y="9713595"/>
                  </a:lnTo>
                  <a:lnTo>
                    <a:pt x="466090" y="9732645"/>
                  </a:lnTo>
                  <a:cubicBezTo>
                    <a:pt x="208661" y="9732645"/>
                    <a:pt x="0" y="9524492"/>
                    <a:pt x="0" y="9267571"/>
                  </a:cubicBezTo>
                  <a:lnTo>
                    <a:pt x="0" y="465074"/>
                  </a:lnTo>
                  <a:lnTo>
                    <a:pt x="19050" y="465074"/>
                  </a:lnTo>
                  <a:lnTo>
                    <a:pt x="0" y="465074"/>
                  </a:lnTo>
                  <a:moveTo>
                    <a:pt x="38100" y="465074"/>
                  </a:moveTo>
                  <a:lnTo>
                    <a:pt x="38100" y="9267571"/>
                  </a:lnTo>
                  <a:lnTo>
                    <a:pt x="19050" y="9267571"/>
                  </a:lnTo>
                  <a:lnTo>
                    <a:pt x="38100" y="9267571"/>
                  </a:lnTo>
                  <a:cubicBezTo>
                    <a:pt x="38100" y="9503410"/>
                    <a:pt x="229616" y="9694545"/>
                    <a:pt x="466090" y="9694545"/>
                  </a:cubicBezTo>
                  <a:lnTo>
                    <a:pt x="21067522" y="9694545"/>
                  </a:lnTo>
                  <a:cubicBezTo>
                    <a:pt x="21303869" y="9694545"/>
                    <a:pt x="21495511" y="9503283"/>
                    <a:pt x="21495511" y="9267571"/>
                  </a:cubicBezTo>
                  <a:lnTo>
                    <a:pt x="21495511" y="465074"/>
                  </a:lnTo>
                  <a:cubicBezTo>
                    <a:pt x="21495511" y="229235"/>
                    <a:pt x="21303996" y="38100"/>
                    <a:pt x="21067522" y="38100"/>
                  </a:cubicBezTo>
                  <a:lnTo>
                    <a:pt x="466090" y="38100"/>
                  </a:lnTo>
                  <a:lnTo>
                    <a:pt x="466090" y="19050"/>
                  </a:lnTo>
                  <a:lnTo>
                    <a:pt x="466090" y="38100"/>
                  </a:lnTo>
                  <a:cubicBezTo>
                    <a:pt x="229616" y="38100"/>
                    <a:pt x="38100" y="229362"/>
                    <a:pt x="38100" y="465074"/>
                  </a:cubicBezTo>
                  <a:close/>
                </a:path>
              </a:pathLst>
            </a:custGeom>
            <a:solidFill>
              <a:schemeClr val="accent6"/>
            </a:solidFill>
            <a:ln w="3175">
              <a:solidFill>
                <a:schemeClr val="accent6"/>
              </a:solidFill>
            </a:ln>
          </p:spPr>
        </p:sp>
      </p:grpSp>
      <p:sp>
        <p:nvSpPr>
          <p:cNvPr id="12" name="Freeform 12"/>
          <p:cNvSpPr/>
          <p:nvPr/>
        </p:nvSpPr>
        <p:spPr>
          <a:xfrm>
            <a:off x="6083935" y="1416685"/>
            <a:ext cx="5448935" cy="4852035"/>
          </a:xfrm>
          <a:custGeom>
            <a:avLst/>
            <a:gdLst/>
            <a:ahLst/>
            <a:cxnLst/>
            <a:rect l="l" t="t" r="r" b="b"/>
            <a:pathLst>
              <a:path w="10816717" h="9694545">
                <a:moveTo>
                  <a:pt x="0" y="446024"/>
                </a:moveTo>
                <a:cubicBezTo>
                  <a:pt x="0" y="199644"/>
                  <a:pt x="199771" y="0"/>
                  <a:pt x="446278" y="0"/>
                </a:cubicBezTo>
                <a:lnTo>
                  <a:pt x="10370439" y="0"/>
                </a:lnTo>
                <a:cubicBezTo>
                  <a:pt x="10616946" y="0"/>
                  <a:pt x="10816717" y="199644"/>
                  <a:pt x="10816717" y="446024"/>
                </a:cubicBezTo>
                <a:lnTo>
                  <a:pt x="10816717" y="9248521"/>
                </a:lnTo>
                <a:cubicBezTo>
                  <a:pt x="10816717" y="9494901"/>
                  <a:pt x="10616946" y="9694545"/>
                  <a:pt x="10370439" y="9694545"/>
                </a:cubicBezTo>
                <a:lnTo>
                  <a:pt x="446278" y="9694545"/>
                </a:lnTo>
                <a:cubicBezTo>
                  <a:pt x="199771" y="9694545"/>
                  <a:pt x="0" y="9494901"/>
                  <a:pt x="0" y="9248521"/>
                </a:cubicBezTo>
                <a:close/>
              </a:path>
            </a:pathLst>
          </a:custGeom>
          <a:solidFill>
            <a:schemeClr val="accent6"/>
          </a:solidFill>
          <a:ln>
            <a:noFill/>
          </a:ln>
        </p:spPr>
      </p:sp>
      <p:sp>
        <p:nvSpPr>
          <p:cNvPr id="4" name="文本框 3"/>
          <p:cNvSpPr txBox="1"/>
          <p:nvPr/>
        </p:nvSpPr>
        <p:spPr>
          <a:xfrm>
            <a:off x="612775" y="1513205"/>
            <a:ext cx="1068070" cy="337185"/>
          </a:xfrm>
          <a:prstGeom prst="rect">
            <a:avLst/>
          </a:prstGeom>
          <a:noFill/>
        </p:spPr>
        <p:txBody>
          <a:bodyPr wrap="square" rtlCol="0">
            <a:spAutoFit/>
          </a:bodyPr>
          <a:lstStyle/>
          <a:p>
            <a:pPr algn="ctr"/>
            <a:r>
              <a:rPr lang="zh-CN" altLang="en-US" sz="1600" b="1"/>
              <a:t>假设</a:t>
            </a:r>
            <a:endParaRPr lang="zh-CN" altLang="en-US" sz="1600" b="1"/>
          </a:p>
        </p:txBody>
      </p:sp>
      <p:sp>
        <p:nvSpPr>
          <p:cNvPr id="14" name="AutoShape 14"/>
          <p:cNvSpPr/>
          <p:nvPr/>
        </p:nvSpPr>
        <p:spPr>
          <a:xfrm rot="4583">
            <a:off x="941705" y="2986405"/>
            <a:ext cx="4751705" cy="0"/>
          </a:xfrm>
          <a:prstGeom prst="line">
            <a:avLst/>
          </a:prstGeom>
          <a:ln w="19050" cap="rnd">
            <a:solidFill>
              <a:schemeClr val="accent6"/>
            </a:solidFill>
            <a:prstDash val="sysDash"/>
            <a:headEnd type="none" w="sm" len="sm"/>
            <a:tailEnd type="none" w="sm" len="sm"/>
          </a:ln>
        </p:spPr>
      </p:sp>
      <p:pic>
        <p:nvPicPr>
          <p:cNvPr id="26" name="图片 25"/>
          <p:cNvPicPr>
            <a:picLocks noChangeAspect="1"/>
          </p:cNvPicPr>
          <p:nvPr/>
        </p:nvPicPr>
        <p:blipFill>
          <a:blip r:embed="rId1"/>
          <a:stretch>
            <a:fillRect/>
          </a:stretch>
        </p:blipFill>
        <p:spPr>
          <a:xfrm>
            <a:off x="1786255" y="3764280"/>
            <a:ext cx="2595245" cy="614680"/>
          </a:xfrm>
          <a:prstGeom prst="rect">
            <a:avLst/>
          </a:prstGeom>
        </p:spPr>
      </p:pic>
      <p:sp>
        <p:nvSpPr>
          <p:cNvPr id="18" name="文本框 17"/>
          <p:cNvSpPr txBox="1"/>
          <p:nvPr/>
        </p:nvSpPr>
        <p:spPr>
          <a:xfrm>
            <a:off x="1006475" y="4220210"/>
            <a:ext cx="4677410" cy="694055"/>
          </a:xfrm>
          <a:prstGeom prst="rect">
            <a:avLst/>
          </a:prstGeom>
          <a:noFill/>
        </p:spPr>
        <p:txBody>
          <a:bodyPr wrap="square" rtlCol="0">
            <a:spAutoFit/>
          </a:bodyPr>
          <a:lstStyle/>
          <a:p>
            <a:pPr indent="0" algn="just" fontAlgn="auto">
              <a:lnSpc>
                <a:spcPct val="140000"/>
              </a:lnSpc>
            </a:pPr>
            <a:r>
              <a:rPr lang="en-US" altLang="zh-CN" sz="1400" i="1">
                <a:latin typeface="Times New Roman" panose="02020603050405020304" charset="0"/>
                <a:cs typeface="Times New Roman" panose="02020603050405020304" charset="0"/>
                <a:sym typeface="+mn-ea"/>
              </a:rPr>
              <a:t>P</a:t>
            </a:r>
            <a:r>
              <a:rPr lang="en-US" altLang="zh-CN" sz="1400" i="1" baseline="-25000">
                <a:latin typeface="Times New Roman" panose="02020603050405020304" charset="0"/>
                <a:cs typeface="Times New Roman" panose="02020603050405020304" charset="0"/>
                <a:sym typeface="+mn-ea"/>
              </a:rPr>
              <a:t>a</a:t>
            </a:r>
            <a:r>
              <a:rPr lang="zh-CN" altLang="en-US" sz="1400">
                <a:sym typeface="+mn-ea"/>
              </a:rPr>
              <a:t>越高</a:t>
            </a:r>
            <a:r>
              <a:rPr lang="en-US" altLang="zh-CN" sz="1400">
                <a:sym typeface="+mn-ea"/>
              </a:rPr>
              <a:t>→</a:t>
            </a:r>
            <a:r>
              <a:rPr lang="zh-CN" altLang="en-US" sz="1400">
                <a:sym typeface="+mn-ea"/>
              </a:rPr>
              <a:t>工人从事农业比例越高；</a:t>
            </a:r>
            <a:endParaRPr lang="zh-CN" altLang="en-US" sz="1400">
              <a:sym typeface="+mn-ea"/>
            </a:endParaRPr>
          </a:p>
          <a:p>
            <a:pPr indent="0" algn="just" fontAlgn="auto">
              <a:lnSpc>
                <a:spcPct val="140000"/>
              </a:lnSpc>
            </a:pPr>
            <a:r>
              <a:rPr lang="zh-CN" altLang="en-US" sz="1400">
                <a:sym typeface="+mn-ea"/>
              </a:rPr>
              <a:t>各部门</a:t>
            </a:r>
            <a:r>
              <a:rPr lang="en-US" altLang="zh-CN" sz="1400" i="1"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θ </a:t>
            </a:r>
            <a:r>
              <a:rPr lang="zh-CN" altLang="en-US" sz="1400">
                <a:sym typeface="+mn-ea"/>
              </a:rPr>
              <a:t>越大</a:t>
            </a:r>
            <a:r>
              <a:rPr lang="en-US" altLang="zh-CN" sz="1400">
                <a:sym typeface="+mn-ea"/>
              </a:rPr>
              <a:t>→</a:t>
            </a:r>
            <a:r>
              <a:rPr lang="zh-CN" altLang="en-US" sz="1400">
                <a:sym typeface="+mn-ea"/>
              </a:rPr>
              <a:t>工人从事农业比例越大</a:t>
            </a:r>
            <a:endParaRPr lang="zh-CN" altLang="en-US" sz="1400">
              <a:sym typeface="+mn-ea"/>
            </a:endParaRPr>
          </a:p>
        </p:txBody>
      </p:sp>
      <p:sp>
        <p:nvSpPr>
          <p:cNvPr id="27" name="文本框 26"/>
          <p:cNvSpPr txBox="1"/>
          <p:nvPr/>
        </p:nvSpPr>
        <p:spPr>
          <a:xfrm flipH="1">
            <a:off x="9194165" y="1536065"/>
            <a:ext cx="2043430" cy="337185"/>
          </a:xfrm>
          <a:prstGeom prst="rect">
            <a:avLst/>
          </a:prstGeom>
          <a:noFill/>
        </p:spPr>
        <p:txBody>
          <a:bodyPr wrap="square" rtlCol="0">
            <a:spAutoFit/>
          </a:bodyPr>
          <a:lstStyle/>
          <a:p>
            <a:pPr algn="r"/>
            <a:r>
              <a:rPr lang="zh-CN" altLang="en-US" sz="1600" b="1">
                <a:solidFill>
                  <a:schemeClr val="bg1"/>
                </a:solidFill>
              </a:rPr>
              <a:t>两部门</a:t>
            </a:r>
            <a:r>
              <a:rPr lang="zh-CN" altLang="en-US" sz="1600" b="1">
                <a:solidFill>
                  <a:schemeClr val="bg1"/>
                </a:solidFill>
              </a:rPr>
              <a:t>劳动生产率</a:t>
            </a:r>
            <a:endParaRPr lang="zh-CN" altLang="en-US" sz="1600" b="1">
              <a:solidFill>
                <a:schemeClr val="bg1"/>
              </a:solidFill>
            </a:endParaRPr>
          </a:p>
        </p:txBody>
      </p:sp>
      <p:sp>
        <p:nvSpPr>
          <p:cNvPr id="15" name="AutoShape 14"/>
          <p:cNvSpPr/>
          <p:nvPr/>
        </p:nvSpPr>
        <p:spPr>
          <a:xfrm rot="4583" flipV="1">
            <a:off x="6424295" y="3014980"/>
            <a:ext cx="4813935" cy="3175"/>
          </a:xfrm>
          <a:prstGeom prst="line">
            <a:avLst/>
          </a:prstGeom>
          <a:ln w="19050" cap="rnd">
            <a:solidFill>
              <a:schemeClr val="bg1"/>
            </a:solidFill>
            <a:prstDash val="sysDash"/>
            <a:headEnd type="none" w="sm" len="sm"/>
            <a:tailEnd type="none" w="sm" len="sm"/>
          </a:ln>
        </p:spPr>
      </p:sp>
      <p:pic>
        <p:nvPicPr>
          <p:cNvPr id="16" name="图片 15"/>
          <p:cNvPicPr>
            <a:picLocks noChangeAspect="1"/>
          </p:cNvPicPr>
          <p:nvPr/>
        </p:nvPicPr>
        <p:blipFill>
          <a:blip r:embed="rId2"/>
          <a:stretch>
            <a:fillRect/>
          </a:stretch>
        </p:blipFill>
        <p:spPr>
          <a:xfrm>
            <a:off x="1751965" y="1964690"/>
            <a:ext cx="3729990" cy="730885"/>
          </a:xfrm>
          <a:prstGeom prst="rect">
            <a:avLst/>
          </a:prstGeom>
        </p:spPr>
      </p:pic>
      <p:sp>
        <p:nvSpPr>
          <p:cNvPr id="89" name="文本框 88"/>
          <p:cNvSpPr txBox="1"/>
          <p:nvPr>
            <p:custDataLst>
              <p:tags r:id="rId3"/>
            </p:custDataLst>
          </p:nvPr>
        </p:nvSpPr>
        <p:spPr>
          <a:xfrm>
            <a:off x="984885" y="1831340"/>
            <a:ext cx="4771390" cy="393700"/>
          </a:xfrm>
          <a:prstGeom prst="rect">
            <a:avLst/>
          </a:prstGeom>
          <a:noFill/>
        </p:spPr>
        <p:txBody>
          <a:bodyPr wrap="square" lIns="0" tIns="0" rIns="0" bIns="0" rtlCol="0">
            <a:noAutofit/>
          </a:bodyPr>
          <a:lstStyle/>
          <a:p>
            <a:pPr indent="0" algn="just" fontAlgn="auto">
              <a:lnSpc>
                <a:spcPct val="140000"/>
              </a:lnSpc>
            </a:pPr>
            <a:r>
              <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z</a:t>
            </a:r>
            <a:r>
              <a:rPr lang="en-US" altLang="zh-CN" sz="1400" kern="0" baseline="-25000" dirty="0">
                <a:ln>
                  <a:noFill/>
                  <a:prstDash val="sysDot"/>
                </a:ln>
                <a:solidFill>
                  <a:srgbClr val="000000">
                    <a:lumMod val="85000"/>
                    <a:lumOff val="15000"/>
                  </a:srgbClr>
                </a:solidFill>
                <a:uFillTx/>
                <a:latin typeface="Times New Roman" panose="02020603050405020304" charset="0"/>
                <a:sym typeface="微软雅黑" panose="020B0503020204020204" charset="-122"/>
              </a:rPr>
              <a:t>a</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和</a:t>
            </a:r>
            <a:r>
              <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z</a:t>
            </a:r>
            <a:r>
              <a:rPr lang="en-US" altLang="zh-CN" sz="1400" kern="0" baseline="-25000" dirty="0">
                <a:ln>
                  <a:noFill/>
                  <a:prstDash val="sysDot"/>
                </a:ln>
                <a:solidFill>
                  <a:srgbClr val="000000">
                    <a:lumMod val="85000"/>
                    <a:lumOff val="15000"/>
                  </a:srgbClr>
                </a:solidFill>
                <a:uFillTx/>
                <a:latin typeface="Times New Roman" panose="02020603050405020304" charset="0"/>
                <a:sym typeface="微软雅黑" panose="020B0503020204020204" charset="-122"/>
              </a:rPr>
              <a:t>n</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独立，均服从 </a:t>
            </a:r>
            <a:r>
              <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Fr</a:t>
            </a:r>
            <a:r>
              <a:rPr lang="en-US"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é</a:t>
            </a:r>
            <a:r>
              <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chet </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分布：</a:t>
            </a:r>
            <a:endPar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p:txBody>
      </p:sp>
      <p:sp>
        <p:nvSpPr>
          <p:cNvPr id="19" name="文本框 18"/>
          <p:cNvSpPr txBox="1"/>
          <p:nvPr>
            <p:custDataLst>
              <p:tags r:id="rId4"/>
            </p:custDataLst>
          </p:nvPr>
        </p:nvSpPr>
        <p:spPr>
          <a:xfrm>
            <a:off x="1054735" y="2575560"/>
            <a:ext cx="4771390" cy="393700"/>
          </a:xfrm>
          <a:prstGeom prst="rect">
            <a:avLst/>
          </a:prstGeom>
          <a:noFill/>
        </p:spPr>
        <p:txBody>
          <a:bodyPr wrap="square" lIns="0" tIns="0" rIns="0" bIns="0" rtlCol="0">
            <a:noAutofit/>
          </a:bodyPr>
          <a:lstStyle/>
          <a:p>
            <a:pPr indent="0" algn="just" fontAlgn="auto">
              <a:lnSpc>
                <a:spcPct val="140000"/>
              </a:lnSpc>
            </a:pP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其中，</a:t>
            </a:r>
            <a:r>
              <a:rPr lang="en-US" altLang="zh-CN" sz="1400" i="1"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θ </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控制个体生产率离散度，</a:t>
            </a:r>
            <a:r>
              <a:rPr lang="en-US" altLang="zh-CN" sz="1400" i="1"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θ </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越小，差异越大</a:t>
            </a:r>
            <a:endPar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p:txBody>
      </p:sp>
      <p:pic>
        <p:nvPicPr>
          <p:cNvPr id="21" name="图片 20"/>
          <p:cNvPicPr>
            <a:picLocks noChangeAspect="1"/>
          </p:cNvPicPr>
          <p:nvPr/>
        </p:nvPicPr>
        <p:blipFill>
          <a:blip r:embed="rId5"/>
          <a:stretch>
            <a:fillRect/>
          </a:stretch>
        </p:blipFill>
        <p:spPr>
          <a:xfrm>
            <a:off x="1680845" y="3242945"/>
            <a:ext cx="3045460" cy="699770"/>
          </a:xfrm>
          <a:prstGeom prst="rect">
            <a:avLst/>
          </a:prstGeom>
        </p:spPr>
      </p:pic>
      <p:sp>
        <p:nvSpPr>
          <p:cNvPr id="5" name="文本框 4"/>
          <p:cNvSpPr txBox="1"/>
          <p:nvPr/>
        </p:nvSpPr>
        <p:spPr>
          <a:xfrm>
            <a:off x="899795" y="3063875"/>
            <a:ext cx="2005965" cy="337185"/>
          </a:xfrm>
          <a:prstGeom prst="rect">
            <a:avLst/>
          </a:prstGeom>
          <a:noFill/>
        </p:spPr>
        <p:txBody>
          <a:bodyPr wrap="square" rtlCol="0">
            <a:spAutoFit/>
          </a:bodyPr>
          <a:lstStyle/>
          <a:p>
            <a:pPr algn="just"/>
            <a:r>
              <a:rPr lang="zh-CN" altLang="en-US" sz="1600" b="1"/>
              <a:t>均衡就业</a:t>
            </a:r>
            <a:r>
              <a:rPr lang="zh-CN" altLang="en-US" sz="1600" b="1"/>
              <a:t>份额</a:t>
            </a:r>
            <a:endParaRPr lang="zh-CN" altLang="en-US" sz="1600" b="1"/>
          </a:p>
        </p:txBody>
      </p:sp>
      <p:pic>
        <p:nvPicPr>
          <p:cNvPr id="25" name="图片 24"/>
          <p:cNvPicPr>
            <a:picLocks noChangeAspect="1"/>
          </p:cNvPicPr>
          <p:nvPr/>
        </p:nvPicPr>
        <p:blipFill>
          <a:blip r:embed="rId6"/>
          <a:stretch>
            <a:fillRect/>
          </a:stretch>
        </p:blipFill>
        <p:spPr>
          <a:xfrm>
            <a:off x="941705" y="5387340"/>
            <a:ext cx="4917440" cy="373380"/>
          </a:xfrm>
          <a:prstGeom prst="rect">
            <a:avLst/>
          </a:prstGeom>
        </p:spPr>
      </p:pic>
      <p:sp>
        <p:nvSpPr>
          <p:cNvPr id="29" name="AutoShape 14"/>
          <p:cNvSpPr/>
          <p:nvPr/>
        </p:nvSpPr>
        <p:spPr>
          <a:xfrm rot="4583">
            <a:off x="922655" y="4947285"/>
            <a:ext cx="4751705" cy="0"/>
          </a:xfrm>
          <a:prstGeom prst="line">
            <a:avLst/>
          </a:prstGeom>
          <a:ln w="19050" cap="rnd">
            <a:solidFill>
              <a:schemeClr val="accent6"/>
            </a:solidFill>
            <a:prstDash val="sysDash"/>
            <a:headEnd type="none" w="sm" len="sm"/>
            <a:tailEnd type="none" w="sm" len="sm"/>
          </a:ln>
        </p:spPr>
      </p:sp>
      <p:sp>
        <p:nvSpPr>
          <p:cNvPr id="23" name="文本框 22"/>
          <p:cNvSpPr txBox="1"/>
          <p:nvPr/>
        </p:nvSpPr>
        <p:spPr>
          <a:xfrm>
            <a:off x="941070" y="5048250"/>
            <a:ext cx="1315085" cy="337185"/>
          </a:xfrm>
          <a:prstGeom prst="rect">
            <a:avLst/>
          </a:prstGeom>
          <a:noFill/>
        </p:spPr>
        <p:txBody>
          <a:bodyPr wrap="square" rtlCol="0">
            <a:spAutoFit/>
          </a:bodyPr>
          <a:lstStyle/>
          <a:p>
            <a:pPr algn="just"/>
            <a:r>
              <a:rPr lang="zh-CN" altLang="en-US" sz="1600" b="1"/>
              <a:t>平均生产率</a:t>
            </a:r>
            <a:endParaRPr lang="zh-CN" altLang="en-US" sz="1600" b="1"/>
          </a:p>
        </p:txBody>
      </p:sp>
      <p:sp>
        <p:nvSpPr>
          <p:cNvPr id="43" name="文本框 42"/>
          <p:cNvSpPr txBox="1"/>
          <p:nvPr/>
        </p:nvSpPr>
        <p:spPr>
          <a:xfrm>
            <a:off x="941705" y="5739765"/>
            <a:ext cx="4842510" cy="392430"/>
          </a:xfrm>
          <a:prstGeom prst="rect">
            <a:avLst/>
          </a:prstGeom>
          <a:noFill/>
        </p:spPr>
        <p:txBody>
          <a:bodyPr wrap="square" rtlCol="0">
            <a:spAutoFit/>
          </a:bodyPr>
          <a:lstStyle/>
          <a:p>
            <a:pPr indent="0" algn="just" fontAlgn="auto">
              <a:lnSpc>
                <a:spcPct val="140000"/>
              </a:lnSpc>
            </a:pPr>
            <a:r>
              <a:rPr lang="en-US" altLang="zh-CN" sz="1400">
                <a:sym typeface="+mn-ea"/>
              </a:rPr>
              <a:t>Pa</a:t>
            </a:r>
            <a:r>
              <a:rPr lang="zh-CN" altLang="en-US" sz="1400">
                <a:sym typeface="+mn-ea"/>
              </a:rPr>
              <a:t>下降</a:t>
            </a:r>
            <a:r>
              <a:rPr lang="en-US" altLang="zh-CN" sz="1400">
                <a:sym typeface="+mn-ea"/>
              </a:rPr>
              <a:t>→Πa</a:t>
            </a:r>
            <a:r>
              <a:rPr lang="zh-CN" altLang="en-US" sz="1400">
                <a:sym typeface="+mn-ea"/>
              </a:rPr>
              <a:t>下降</a:t>
            </a:r>
            <a:r>
              <a:rPr lang="en-US" altLang="zh-CN" sz="1400">
                <a:sym typeface="+mn-ea"/>
              </a:rPr>
              <a:t>→E</a:t>
            </a:r>
            <a:r>
              <a:rPr lang="zh-CN" altLang="en-US" sz="1400">
                <a:sym typeface="+mn-ea"/>
              </a:rPr>
              <a:t>（</a:t>
            </a:r>
            <a:r>
              <a:rPr lang="en-US" altLang="zh-CN" sz="1400">
                <a:sym typeface="+mn-ea"/>
              </a:rPr>
              <a:t>z</a:t>
            </a:r>
            <a:r>
              <a:rPr lang="en-US" altLang="zh-CN" sz="1400" baseline="-25000">
                <a:sym typeface="+mn-ea"/>
              </a:rPr>
              <a:t>a</a:t>
            </a:r>
            <a:r>
              <a:rPr lang="zh-CN" altLang="en-US" sz="1400">
                <a:sym typeface="+mn-ea"/>
              </a:rPr>
              <a:t>）增加，具有更高的平均农业生产率</a:t>
            </a:r>
            <a:endParaRPr lang="zh-CN" altLang="en-US" sz="1400">
              <a:sym typeface="+mn-ea"/>
            </a:endParaRPr>
          </a:p>
        </p:txBody>
      </p:sp>
      <p:sp>
        <p:nvSpPr>
          <p:cNvPr id="48" name="文本框 47"/>
          <p:cNvSpPr txBox="1"/>
          <p:nvPr/>
        </p:nvSpPr>
        <p:spPr>
          <a:xfrm>
            <a:off x="10131425" y="3077210"/>
            <a:ext cx="1067435" cy="337185"/>
          </a:xfrm>
          <a:prstGeom prst="rect">
            <a:avLst/>
          </a:prstGeom>
          <a:noFill/>
        </p:spPr>
        <p:txBody>
          <a:bodyPr wrap="square" rtlCol="0">
            <a:spAutoFit/>
          </a:bodyPr>
          <a:lstStyle/>
          <a:p>
            <a:pPr algn="r"/>
            <a:r>
              <a:rPr lang="zh-CN" altLang="en-US" sz="1600" b="1">
                <a:solidFill>
                  <a:schemeClr val="bg1"/>
                </a:solidFill>
              </a:rPr>
              <a:t>推论</a:t>
            </a:r>
            <a:r>
              <a:rPr lang="en-US" altLang="zh-CN" sz="1600" b="1">
                <a:solidFill>
                  <a:schemeClr val="bg1"/>
                </a:solidFill>
              </a:rPr>
              <a:t>1</a:t>
            </a:r>
            <a:endParaRPr lang="en-US" altLang="zh-CN" sz="1600" b="1">
              <a:solidFill>
                <a:schemeClr val="bg1"/>
              </a:solidFill>
            </a:endParaRPr>
          </a:p>
        </p:txBody>
      </p:sp>
      <p:pic>
        <p:nvPicPr>
          <p:cNvPr id="49" name="图片 48"/>
          <p:cNvPicPr>
            <a:picLocks noChangeAspect="1"/>
          </p:cNvPicPr>
          <p:nvPr/>
        </p:nvPicPr>
        <p:blipFill>
          <a:blip r:embed="rId7"/>
          <a:stretch>
            <a:fillRect/>
          </a:stretch>
        </p:blipFill>
        <p:spPr>
          <a:xfrm>
            <a:off x="6525895" y="3528695"/>
            <a:ext cx="4565650" cy="2372995"/>
          </a:xfrm>
          <a:prstGeom prst="rect">
            <a:avLst/>
          </a:prstGeom>
        </p:spPr>
      </p:pic>
      <p:pic>
        <p:nvPicPr>
          <p:cNvPr id="50" name="图片 49"/>
          <p:cNvPicPr>
            <a:picLocks noChangeAspect="1"/>
          </p:cNvPicPr>
          <p:nvPr/>
        </p:nvPicPr>
        <p:blipFill>
          <a:blip r:embed="rId8"/>
          <a:stretch>
            <a:fillRect/>
          </a:stretch>
        </p:blipFill>
        <p:spPr>
          <a:xfrm>
            <a:off x="6424295" y="2027555"/>
            <a:ext cx="2388870" cy="682625"/>
          </a:xfrm>
          <a:prstGeom prst="rect">
            <a:avLst/>
          </a:prstGeom>
        </p:spPr>
      </p:pic>
      <p:pic>
        <p:nvPicPr>
          <p:cNvPr id="51" name="图片 50"/>
          <p:cNvPicPr>
            <a:picLocks noChangeAspect="1"/>
          </p:cNvPicPr>
          <p:nvPr/>
        </p:nvPicPr>
        <p:blipFill>
          <a:blip r:embed="rId9"/>
          <a:stretch>
            <a:fillRect/>
          </a:stretch>
        </p:blipFill>
        <p:spPr>
          <a:xfrm>
            <a:off x="8918575" y="2027555"/>
            <a:ext cx="2414270" cy="6826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3910" y="914400"/>
            <a:ext cx="6693535" cy="368300"/>
          </a:xfrm>
          <a:prstGeom prst="rect">
            <a:avLst/>
          </a:prstGeom>
          <a:noFill/>
        </p:spPr>
        <p:txBody>
          <a:bodyPr wrap="square" rtlCol="0">
            <a:spAutoFit/>
          </a:bodyPr>
          <a:lstStyle/>
          <a:p>
            <a:r>
              <a:rPr lang="zh-CN" altLang="en-US" b="1"/>
              <a:t>模型校准</a:t>
            </a:r>
            <a:r>
              <a:rPr lang="en-US" altLang="zh-CN" b="1"/>
              <a:t>——</a:t>
            </a:r>
            <a:r>
              <a:rPr lang="zh-CN" altLang="en-US" b="1"/>
              <a:t>参数估计</a:t>
            </a:r>
            <a:endParaRPr lang="zh-CN" altLang="en-US" b="1"/>
          </a:p>
        </p:txBody>
      </p:sp>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圆角矩形 19"/>
          <p:cNvSpPr/>
          <p:nvPr>
            <p:custDataLst>
              <p:tags r:id="rId1"/>
            </p:custDataLst>
          </p:nvPr>
        </p:nvSpPr>
        <p:spPr>
          <a:xfrm>
            <a:off x="8529232" y="2559946"/>
            <a:ext cx="3092902" cy="3410799"/>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4" name="圆角矩形 19"/>
          <p:cNvSpPr/>
          <p:nvPr>
            <p:custDataLst>
              <p:tags r:id="rId2"/>
            </p:custDataLst>
          </p:nvPr>
        </p:nvSpPr>
        <p:spPr>
          <a:xfrm>
            <a:off x="4782823" y="2559946"/>
            <a:ext cx="3092902" cy="3410799"/>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3" name="圆角矩形 19"/>
          <p:cNvSpPr/>
          <p:nvPr>
            <p:custDataLst>
              <p:tags r:id="rId3"/>
            </p:custDataLst>
          </p:nvPr>
        </p:nvSpPr>
        <p:spPr>
          <a:xfrm>
            <a:off x="1050928" y="2559946"/>
            <a:ext cx="3092902" cy="3410799"/>
          </a:xfrm>
          <a:prstGeom prst="rect">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任意多边形: 形状 11"/>
          <p:cNvSpPr/>
          <p:nvPr>
            <p:custDataLst>
              <p:tags r:id="rId4"/>
            </p:custDataLst>
          </p:nvPr>
        </p:nvSpPr>
        <p:spPr>
          <a:xfrm flipV="1">
            <a:off x="636905" y="1457325"/>
            <a:ext cx="3434080" cy="798830"/>
          </a:xfrm>
          <a:custGeom>
            <a:avLst/>
            <a:gdLst>
              <a:gd name="connsiteX0" fmla="*/ 54092 w 3086009"/>
              <a:gd name="connsiteY0" fmla="*/ 870855 h 870855"/>
              <a:gd name="connsiteX1" fmla="*/ 3031917 w 3086009"/>
              <a:gd name="connsiteY1" fmla="*/ 870855 h 870855"/>
              <a:gd name="connsiteX2" fmla="*/ 3086009 w 3086009"/>
              <a:gd name="connsiteY2" fmla="*/ 816763 h 870855"/>
              <a:gd name="connsiteX3" fmla="*/ 3086009 w 3086009"/>
              <a:gd name="connsiteY3" fmla="*/ 300832 h 870855"/>
              <a:gd name="connsiteX4" fmla="*/ 3031917 w 3086009"/>
              <a:gd name="connsiteY4" fmla="*/ 246740 h 870855"/>
              <a:gd name="connsiteX5" fmla="*/ 1656093 w 3086009"/>
              <a:gd name="connsiteY5" fmla="*/ 246740 h 870855"/>
              <a:gd name="connsiteX6" fmla="*/ 1543004 w 3086009"/>
              <a:gd name="connsiteY6" fmla="*/ 0 h 870855"/>
              <a:gd name="connsiteX7" fmla="*/ 1429915 w 3086009"/>
              <a:gd name="connsiteY7" fmla="*/ 246740 h 870855"/>
              <a:gd name="connsiteX8" fmla="*/ 54092 w 3086009"/>
              <a:gd name="connsiteY8" fmla="*/ 246740 h 870855"/>
              <a:gd name="connsiteX9" fmla="*/ 0 w 3086009"/>
              <a:gd name="connsiteY9" fmla="*/ 300832 h 870855"/>
              <a:gd name="connsiteX10" fmla="*/ 0 w 3086009"/>
              <a:gd name="connsiteY10" fmla="*/ 816763 h 870855"/>
              <a:gd name="connsiteX11" fmla="*/ 54092 w 3086009"/>
              <a:gd name="connsiteY11" fmla="*/ 870855 h 87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6009" h="870855">
                <a:moveTo>
                  <a:pt x="54092" y="870855"/>
                </a:moveTo>
                <a:lnTo>
                  <a:pt x="3031917" y="870855"/>
                </a:lnTo>
                <a:cubicBezTo>
                  <a:pt x="3061791" y="870855"/>
                  <a:pt x="3086009" y="846637"/>
                  <a:pt x="3086009" y="816763"/>
                </a:cubicBezTo>
                <a:lnTo>
                  <a:pt x="3086009" y="300832"/>
                </a:lnTo>
                <a:cubicBezTo>
                  <a:pt x="3086009" y="270958"/>
                  <a:pt x="3061791" y="246740"/>
                  <a:pt x="3031917" y="246740"/>
                </a:cubicBezTo>
                <a:lnTo>
                  <a:pt x="1656093" y="246740"/>
                </a:lnTo>
                <a:lnTo>
                  <a:pt x="1543004" y="0"/>
                </a:lnTo>
                <a:lnTo>
                  <a:pt x="1429915" y="246740"/>
                </a:lnTo>
                <a:lnTo>
                  <a:pt x="54092" y="246740"/>
                </a:lnTo>
                <a:cubicBezTo>
                  <a:pt x="24218" y="246740"/>
                  <a:pt x="0" y="270958"/>
                  <a:pt x="0" y="300832"/>
                </a:cubicBezTo>
                <a:lnTo>
                  <a:pt x="0" y="816763"/>
                </a:lnTo>
                <a:cubicBezTo>
                  <a:pt x="0" y="846637"/>
                  <a:pt x="24218" y="870855"/>
                  <a:pt x="54092" y="870855"/>
                </a:cubicBezTo>
                <a:close/>
              </a:path>
            </a:pathLst>
          </a:custGeom>
          <a:noFill/>
          <a:ln w="28575" cmpd="sng">
            <a:solidFill>
              <a:schemeClr val="accent1">
                <a:shade val="50000"/>
              </a:schemeClr>
            </a:solidFill>
            <a:prstDash val="sysDash"/>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solidFill>
                <a:schemeClr val="bg1"/>
              </a:solidFill>
            </a:endParaRPr>
          </a:p>
        </p:txBody>
      </p:sp>
      <p:sp>
        <p:nvSpPr>
          <p:cNvPr id="13" name="任意多边形: 形状 12"/>
          <p:cNvSpPr/>
          <p:nvPr>
            <p:custDataLst>
              <p:tags r:id="rId5"/>
            </p:custDataLst>
          </p:nvPr>
        </p:nvSpPr>
        <p:spPr>
          <a:xfrm flipV="1">
            <a:off x="4381500" y="1457325"/>
            <a:ext cx="3434080" cy="798830"/>
          </a:xfrm>
          <a:custGeom>
            <a:avLst/>
            <a:gdLst>
              <a:gd name="connsiteX0" fmla="*/ 54092 w 3086009"/>
              <a:gd name="connsiteY0" fmla="*/ 870855 h 870855"/>
              <a:gd name="connsiteX1" fmla="*/ 3031917 w 3086009"/>
              <a:gd name="connsiteY1" fmla="*/ 870855 h 870855"/>
              <a:gd name="connsiteX2" fmla="*/ 3086009 w 3086009"/>
              <a:gd name="connsiteY2" fmla="*/ 816763 h 870855"/>
              <a:gd name="connsiteX3" fmla="*/ 3086009 w 3086009"/>
              <a:gd name="connsiteY3" fmla="*/ 300832 h 870855"/>
              <a:gd name="connsiteX4" fmla="*/ 3031917 w 3086009"/>
              <a:gd name="connsiteY4" fmla="*/ 246740 h 870855"/>
              <a:gd name="connsiteX5" fmla="*/ 1656093 w 3086009"/>
              <a:gd name="connsiteY5" fmla="*/ 246740 h 870855"/>
              <a:gd name="connsiteX6" fmla="*/ 1543004 w 3086009"/>
              <a:gd name="connsiteY6" fmla="*/ 0 h 870855"/>
              <a:gd name="connsiteX7" fmla="*/ 1429915 w 3086009"/>
              <a:gd name="connsiteY7" fmla="*/ 246740 h 870855"/>
              <a:gd name="connsiteX8" fmla="*/ 54092 w 3086009"/>
              <a:gd name="connsiteY8" fmla="*/ 246740 h 870855"/>
              <a:gd name="connsiteX9" fmla="*/ 0 w 3086009"/>
              <a:gd name="connsiteY9" fmla="*/ 300832 h 870855"/>
              <a:gd name="connsiteX10" fmla="*/ 0 w 3086009"/>
              <a:gd name="connsiteY10" fmla="*/ 816763 h 870855"/>
              <a:gd name="connsiteX11" fmla="*/ 54092 w 3086009"/>
              <a:gd name="connsiteY11" fmla="*/ 870855 h 87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6009" h="870855">
                <a:moveTo>
                  <a:pt x="54092" y="870855"/>
                </a:moveTo>
                <a:lnTo>
                  <a:pt x="3031917" y="870855"/>
                </a:lnTo>
                <a:cubicBezTo>
                  <a:pt x="3061791" y="870855"/>
                  <a:pt x="3086009" y="846637"/>
                  <a:pt x="3086009" y="816763"/>
                </a:cubicBezTo>
                <a:lnTo>
                  <a:pt x="3086009" y="300832"/>
                </a:lnTo>
                <a:cubicBezTo>
                  <a:pt x="3086009" y="270958"/>
                  <a:pt x="3061791" y="246740"/>
                  <a:pt x="3031917" y="246740"/>
                </a:cubicBezTo>
                <a:lnTo>
                  <a:pt x="1656093" y="246740"/>
                </a:lnTo>
                <a:lnTo>
                  <a:pt x="1543004" y="0"/>
                </a:lnTo>
                <a:lnTo>
                  <a:pt x="1429915" y="246740"/>
                </a:lnTo>
                <a:lnTo>
                  <a:pt x="54092" y="246740"/>
                </a:lnTo>
                <a:cubicBezTo>
                  <a:pt x="24218" y="246740"/>
                  <a:pt x="0" y="270958"/>
                  <a:pt x="0" y="300832"/>
                </a:cubicBezTo>
                <a:lnTo>
                  <a:pt x="0" y="816763"/>
                </a:lnTo>
                <a:cubicBezTo>
                  <a:pt x="0" y="846637"/>
                  <a:pt x="24218" y="870855"/>
                  <a:pt x="54092" y="870855"/>
                </a:cubicBezTo>
                <a:close/>
              </a:path>
            </a:pathLst>
          </a:custGeom>
          <a:noFill/>
          <a:ln w="28575" cmpd="sng">
            <a:solidFill>
              <a:schemeClr val="accent1">
                <a:shade val="50000"/>
              </a:schemeClr>
            </a:solidFill>
            <a:prstDash val="sysDash"/>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solidFill>
                <a:schemeClr val="bg1"/>
              </a:solidFill>
            </a:endParaRPr>
          </a:p>
        </p:txBody>
      </p:sp>
      <p:sp>
        <p:nvSpPr>
          <p:cNvPr id="14" name="任意多边形: 形状 13"/>
          <p:cNvSpPr/>
          <p:nvPr>
            <p:custDataLst>
              <p:tags r:id="rId6"/>
            </p:custDataLst>
          </p:nvPr>
        </p:nvSpPr>
        <p:spPr>
          <a:xfrm flipV="1">
            <a:off x="8126095" y="1457325"/>
            <a:ext cx="3434080" cy="798830"/>
          </a:xfrm>
          <a:custGeom>
            <a:avLst/>
            <a:gdLst>
              <a:gd name="connsiteX0" fmla="*/ 54092 w 3086009"/>
              <a:gd name="connsiteY0" fmla="*/ 870855 h 870855"/>
              <a:gd name="connsiteX1" fmla="*/ 3031917 w 3086009"/>
              <a:gd name="connsiteY1" fmla="*/ 870855 h 870855"/>
              <a:gd name="connsiteX2" fmla="*/ 3086009 w 3086009"/>
              <a:gd name="connsiteY2" fmla="*/ 816763 h 870855"/>
              <a:gd name="connsiteX3" fmla="*/ 3086009 w 3086009"/>
              <a:gd name="connsiteY3" fmla="*/ 300832 h 870855"/>
              <a:gd name="connsiteX4" fmla="*/ 3031917 w 3086009"/>
              <a:gd name="connsiteY4" fmla="*/ 246740 h 870855"/>
              <a:gd name="connsiteX5" fmla="*/ 1656093 w 3086009"/>
              <a:gd name="connsiteY5" fmla="*/ 246740 h 870855"/>
              <a:gd name="connsiteX6" fmla="*/ 1543004 w 3086009"/>
              <a:gd name="connsiteY6" fmla="*/ 0 h 870855"/>
              <a:gd name="connsiteX7" fmla="*/ 1429915 w 3086009"/>
              <a:gd name="connsiteY7" fmla="*/ 246740 h 870855"/>
              <a:gd name="connsiteX8" fmla="*/ 54092 w 3086009"/>
              <a:gd name="connsiteY8" fmla="*/ 246740 h 870855"/>
              <a:gd name="connsiteX9" fmla="*/ 0 w 3086009"/>
              <a:gd name="connsiteY9" fmla="*/ 300832 h 870855"/>
              <a:gd name="connsiteX10" fmla="*/ 0 w 3086009"/>
              <a:gd name="connsiteY10" fmla="*/ 816763 h 870855"/>
              <a:gd name="connsiteX11" fmla="*/ 54092 w 3086009"/>
              <a:gd name="connsiteY11" fmla="*/ 870855 h 87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6009" h="870855">
                <a:moveTo>
                  <a:pt x="54092" y="870855"/>
                </a:moveTo>
                <a:lnTo>
                  <a:pt x="3031917" y="870855"/>
                </a:lnTo>
                <a:cubicBezTo>
                  <a:pt x="3061791" y="870855"/>
                  <a:pt x="3086009" y="846637"/>
                  <a:pt x="3086009" y="816763"/>
                </a:cubicBezTo>
                <a:lnTo>
                  <a:pt x="3086009" y="300832"/>
                </a:lnTo>
                <a:cubicBezTo>
                  <a:pt x="3086009" y="270958"/>
                  <a:pt x="3061791" y="246740"/>
                  <a:pt x="3031917" y="246740"/>
                </a:cubicBezTo>
                <a:lnTo>
                  <a:pt x="1656093" y="246740"/>
                </a:lnTo>
                <a:lnTo>
                  <a:pt x="1543004" y="0"/>
                </a:lnTo>
                <a:lnTo>
                  <a:pt x="1429915" y="246740"/>
                </a:lnTo>
                <a:lnTo>
                  <a:pt x="54092" y="246740"/>
                </a:lnTo>
                <a:cubicBezTo>
                  <a:pt x="24218" y="246740"/>
                  <a:pt x="0" y="270958"/>
                  <a:pt x="0" y="300832"/>
                </a:cubicBezTo>
                <a:lnTo>
                  <a:pt x="0" y="816763"/>
                </a:lnTo>
                <a:cubicBezTo>
                  <a:pt x="0" y="846637"/>
                  <a:pt x="24218" y="870855"/>
                  <a:pt x="54092" y="870855"/>
                </a:cubicBezTo>
                <a:close/>
              </a:path>
            </a:pathLst>
          </a:custGeom>
          <a:noFill/>
          <a:ln w="28575" cmpd="sng">
            <a:solidFill>
              <a:schemeClr val="accent1">
                <a:shade val="50000"/>
              </a:schemeClr>
            </a:solidFill>
            <a:prstDash val="sysDash"/>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solidFill>
                <a:schemeClr val="bg1"/>
              </a:solidFill>
            </a:endParaRPr>
          </a:p>
        </p:txBody>
      </p:sp>
      <p:sp>
        <p:nvSpPr>
          <p:cNvPr id="19" name="文本框 18"/>
          <p:cNvSpPr txBox="1"/>
          <p:nvPr>
            <p:custDataLst>
              <p:tags r:id="rId7"/>
            </p:custDataLst>
          </p:nvPr>
        </p:nvSpPr>
        <p:spPr>
          <a:xfrm>
            <a:off x="1015048" y="1552893"/>
            <a:ext cx="2677795" cy="282575"/>
          </a:xfrm>
          <a:prstGeom prst="rect">
            <a:avLst/>
          </a:prstGeom>
          <a:noFill/>
        </p:spPr>
        <p:txBody>
          <a:bodyPr wrap="square">
            <a:noAutofit/>
          </a:bodyPr>
          <a:lstStyle/>
          <a:p>
            <a:pPr algn="ctr"/>
            <a:r>
              <a:rPr lang="zh-CN" altLang="en-US" b="1" dirty="0">
                <a:solidFill>
                  <a:schemeClr val="tx1"/>
                </a:solidFill>
              </a:rPr>
              <a:t>进一步丰富模型</a:t>
            </a:r>
            <a:endParaRPr lang="zh-CN" altLang="en-US" b="1" dirty="0">
              <a:solidFill>
                <a:schemeClr val="tx1"/>
              </a:solidFill>
            </a:endParaRPr>
          </a:p>
        </p:txBody>
      </p:sp>
      <p:sp>
        <p:nvSpPr>
          <p:cNvPr id="20" name="文本框 19"/>
          <p:cNvSpPr txBox="1"/>
          <p:nvPr>
            <p:custDataLst>
              <p:tags r:id="rId8"/>
            </p:custDataLst>
          </p:nvPr>
        </p:nvSpPr>
        <p:spPr>
          <a:xfrm>
            <a:off x="4756785" y="1552893"/>
            <a:ext cx="2677795" cy="282575"/>
          </a:xfrm>
          <a:prstGeom prst="rect">
            <a:avLst/>
          </a:prstGeom>
          <a:noFill/>
        </p:spPr>
        <p:txBody>
          <a:bodyPr wrap="square">
            <a:noAutofit/>
          </a:bodyPr>
          <a:lstStyle/>
          <a:p>
            <a:pPr algn="ctr"/>
            <a:r>
              <a:rPr lang="zh-CN" altLang="en-US" b="1" dirty="0">
                <a:solidFill>
                  <a:schemeClr val="tx1"/>
                </a:solidFill>
              </a:rPr>
              <a:t>参数估计</a:t>
            </a:r>
            <a:endParaRPr lang="zh-CN" altLang="en-US" b="1" dirty="0">
              <a:solidFill>
                <a:schemeClr val="tx1"/>
              </a:solidFill>
            </a:endParaRPr>
          </a:p>
        </p:txBody>
      </p:sp>
      <p:sp>
        <p:nvSpPr>
          <p:cNvPr id="21" name="文本框 20"/>
          <p:cNvSpPr txBox="1"/>
          <p:nvPr>
            <p:custDataLst>
              <p:tags r:id="rId9"/>
            </p:custDataLst>
          </p:nvPr>
        </p:nvSpPr>
        <p:spPr>
          <a:xfrm>
            <a:off x="8527415" y="1552893"/>
            <a:ext cx="2677795" cy="282575"/>
          </a:xfrm>
          <a:prstGeom prst="rect">
            <a:avLst/>
          </a:prstGeom>
          <a:noFill/>
        </p:spPr>
        <p:txBody>
          <a:bodyPr wrap="square">
            <a:noAutofit/>
          </a:bodyPr>
          <a:lstStyle/>
          <a:p>
            <a:pPr algn="ctr"/>
            <a:r>
              <a:rPr lang="zh-CN" altLang="en-US" b="1" dirty="0">
                <a:solidFill>
                  <a:schemeClr val="tx1"/>
                </a:solidFill>
              </a:rPr>
              <a:t>偏好参数校准</a:t>
            </a:r>
            <a:endParaRPr lang="zh-CN" altLang="en-US" b="1" dirty="0">
              <a:solidFill>
                <a:schemeClr val="tx1"/>
              </a:solidFill>
            </a:endParaRPr>
          </a:p>
        </p:txBody>
      </p:sp>
      <p:sp>
        <p:nvSpPr>
          <p:cNvPr id="15" name="流程图: 过程 14"/>
          <p:cNvSpPr/>
          <p:nvPr>
            <p:custDataLst>
              <p:tags r:id="rId10"/>
            </p:custDataLst>
          </p:nvPr>
        </p:nvSpPr>
        <p:spPr>
          <a:xfrm>
            <a:off x="636909" y="2295617"/>
            <a:ext cx="3434352" cy="3585028"/>
          </a:xfrm>
          <a:prstGeom prst="flowChartProcess">
            <a:avLst/>
          </a:prstGeom>
          <a:solidFill>
            <a:schemeClr val="bg1"/>
          </a:solidFill>
          <a:ln>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22" name="流程图: 过程 21"/>
          <p:cNvSpPr/>
          <p:nvPr>
            <p:custDataLst>
              <p:tags r:id="rId11"/>
            </p:custDataLst>
          </p:nvPr>
        </p:nvSpPr>
        <p:spPr>
          <a:xfrm>
            <a:off x="725805" y="2385695"/>
            <a:ext cx="3258185" cy="1623060"/>
          </a:xfrm>
          <a:prstGeom prst="flowChartProcess">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公式图片</a:t>
            </a:r>
            <a:endParaRPr lang="zh-CN" altLang="en-US" sz="1400" dirty="0"/>
          </a:p>
        </p:txBody>
      </p:sp>
      <p:sp>
        <p:nvSpPr>
          <p:cNvPr id="23" name="文本框 22"/>
          <p:cNvSpPr txBox="1"/>
          <p:nvPr>
            <p:custDataLst>
              <p:tags r:id="rId12"/>
            </p:custDataLst>
          </p:nvPr>
        </p:nvSpPr>
        <p:spPr>
          <a:xfrm>
            <a:off x="725714" y="4673696"/>
            <a:ext cx="3258457" cy="1198880"/>
          </a:xfrm>
          <a:prstGeom prst="rect">
            <a:avLst/>
          </a:prstGeom>
          <a:noFill/>
        </p:spPr>
        <p:txBody>
          <a:bodyPr wrap="square" rtlCol="0">
            <a:spAutoFit/>
          </a:bodyPr>
          <a:lstStyle/>
          <a:p>
            <a:pPr indent="0" fontAlgn="auto">
              <a:lnSpc>
                <a:spcPts val="2160"/>
              </a:lnSpc>
            </a:pPr>
            <a:r>
              <a:rPr lang="en-US" altLang="zh-CN" i="1" dirty="0">
                <a:solidFill>
                  <a:schemeClr val="tx1"/>
                </a:solidFill>
                <a:uFillTx/>
                <a:latin typeface="Times New Roman" panose="02020603050405020304" charset="0"/>
              </a:rPr>
              <a:t>θa</a:t>
            </a:r>
            <a:r>
              <a:rPr lang="en-US" altLang="zh-CN" dirty="0">
                <a:solidFill>
                  <a:schemeClr val="tx1"/>
                </a:solidFill>
                <a:uFillTx/>
                <a:latin typeface="Times New Roman" panose="02020603050405020304" charset="0"/>
              </a:rPr>
              <a:t>——</a:t>
            </a:r>
            <a:r>
              <a:rPr lang="zh-CN" altLang="en-US" sz="1400" dirty="0">
                <a:solidFill>
                  <a:schemeClr val="tx1"/>
                </a:solidFill>
                <a:uFillTx/>
                <a:latin typeface="Times New Roman" panose="02020603050405020304" charset="0"/>
              </a:rPr>
              <a:t>农业个体生产率的</a:t>
            </a:r>
            <a:r>
              <a:rPr lang="zh-CN" altLang="en-US" sz="1400" dirty="0">
                <a:solidFill>
                  <a:schemeClr val="tx1"/>
                </a:solidFill>
                <a:uFillTx/>
                <a:latin typeface="Times New Roman" panose="02020603050405020304" charset="0"/>
              </a:rPr>
              <a:t>离散程度</a:t>
            </a:r>
            <a:endParaRPr lang="zh-CN" altLang="en-US" sz="1400" dirty="0">
              <a:solidFill>
                <a:schemeClr val="tx1"/>
              </a:solidFill>
              <a:uFillTx/>
              <a:latin typeface="Times New Roman" panose="02020603050405020304" charset="0"/>
            </a:endParaRPr>
          </a:p>
          <a:p>
            <a:pPr indent="0" fontAlgn="auto">
              <a:lnSpc>
                <a:spcPts val="2160"/>
              </a:lnSpc>
            </a:pPr>
            <a:r>
              <a:rPr lang="en-US" altLang="zh-CN" i="1" dirty="0">
                <a:solidFill>
                  <a:schemeClr val="tx1"/>
                </a:solidFill>
                <a:uFillTx/>
                <a:latin typeface="Times New Roman" panose="02020603050405020304" charset="0"/>
              </a:rPr>
              <a:t>θn</a:t>
            </a:r>
            <a:r>
              <a:rPr lang="en-US" altLang="zh-CN" dirty="0">
                <a:solidFill>
                  <a:schemeClr val="tx1"/>
                </a:solidFill>
                <a:uFillTx/>
                <a:latin typeface="Times New Roman" panose="02020603050405020304" charset="0"/>
              </a:rPr>
              <a:t>——</a:t>
            </a:r>
            <a:r>
              <a:rPr lang="zh-CN" altLang="en-US" sz="1400" dirty="0">
                <a:solidFill>
                  <a:schemeClr val="tx1"/>
                </a:solidFill>
                <a:uFillTx/>
                <a:latin typeface="Times New Roman" panose="02020603050405020304" charset="0"/>
              </a:rPr>
              <a:t>非</a:t>
            </a:r>
            <a:r>
              <a:rPr lang="zh-CN" altLang="en-US" sz="1400" dirty="0">
                <a:uFillTx/>
                <a:latin typeface="Times New Roman" panose="02020603050405020304" charset="0"/>
                <a:sym typeface="+mn-ea"/>
              </a:rPr>
              <a:t>农业个体生产率的离散程</a:t>
            </a:r>
            <a:r>
              <a:rPr lang="zh-CN" altLang="en-US" sz="1400" dirty="0">
                <a:uFillTx/>
                <a:latin typeface="Times New Roman" panose="02020603050405020304" charset="0"/>
                <a:sym typeface="+mn-ea"/>
              </a:rPr>
              <a:t>度</a:t>
            </a:r>
            <a:endParaRPr lang="zh-CN" altLang="en-US" sz="1400" dirty="0">
              <a:uFillTx/>
              <a:latin typeface="Times New Roman" panose="02020603050405020304" charset="0"/>
              <a:sym typeface="+mn-ea"/>
            </a:endParaRPr>
          </a:p>
          <a:p>
            <a:pPr indent="-720090" fontAlgn="auto">
              <a:lnSpc>
                <a:spcPts val="2160"/>
              </a:lnSpc>
            </a:pPr>
            <a:r>
              <a:rPr lang="en-US" altLang="zh-CN" i="1" dirty="0">
                <a:solidFill>
                  <a:schemeClr val="tx1"/>
                </a:solidFill>
                <a:uFillTx/>
                <a:latin typeface="Times New Roman" panose="02020603050405020304" charset="0"/>
              </a:rPr>
              <a:t>ρ</a:t>
            </a:r>
            <a:r>
              <a:rPr lang="en-US" altLang="zh-CN" dirty="0">
                <a:solidFill>
                  <a:schemeClr val="tx1"/>
                </a:solidFill>
                <a:uFillTx/>
                <a:latin typeface="Times New Roman" panose="02020603050405020304" charset="0"/>
              </a:rPr>
              <a:t>——</a:t>
            </a:r>
            <a:r>
              <a:rPr lang="zh-CN" altLang="en-US" sz="1400" dirty="0">
                <a:solidFill>
                  <a:schemeClr val="tx1"/>
                </a:solidFill>
                <a:uFillTx/>
                <a:latin typeface="Times New Roman" panose="02020603050405020304" charset="0"/>
              </a:rPr>
              <a:t>农业和非农业个体生产率之间的</a:t>
            </a:r>
            <a:endParaRPr lang="zh-CN" altLang="en-US" sz="1400" dirty="0">
              <a:solidFill>
                <a:schemeClr val="tx1"/>
              </a:solidFill>
              <a:uFillTx/>
              <a:latin typeface="Times New Roman" panose="02020603050405020304" charset="0"/>
            </a:endParaRPr>
          </a:p>
          <a:p>
            <a:pPr indent="-720090" fontAlgn="auto">
              <a:lnSpc>
                <a:spcPts val="2160"/>
              </a:lnSpc>
            </a:pPr>
            <a:r>
              <a:rPr lang="en-US" altLang="zh-CN" sz="1400" dirty="0">
                <a:solidFill>
                  <a:schemeClr val="tx1"/>
                </a:solidFill>
                <a:uFillTx/>
                <a:latin typeface="Times New Roman" panose="02020603050405020304" charset="0"/>
              </a:rPr>
              <a:t>             </a:t>
            </a:r>
            <a:r>
              <a:rPr lang="zh-CN" altLang="en-US" sz="1400" dirty="0">
                <a:solidFill>
                  <a:schemeClr val="tx1"/>
                </a:solidFill>
                <a:uFillTx/>
                <a:latin typeface="Times New Roman" panose="02020603050405020304" charset="0"/>
              </a:rPr>
              <a:t>相关性</a:t>
            </a:r>
            <a:endParaRPr lang="zh-CN" altLang="en-US" sz="1400" dirty="0">
              <a:solidFill>
                <a:schemeClr val="tx1"/>
              </a:solidFill>
              <a:uFillTx/>
              <a:latin typeface="Times New Roman" panose="02020603050405020304" charset="0"/>
            </a:endParaRPr>
          </a:p>
        </p:txBody>
      </p:sp>
      <p:sp>
        <p:nvSpPr>
          <p:cNvPr id="26" name="流程图: 过程 25"/>
          <p:cNvSpPr/>
          <p:nvPr>
            <p:custDataLst>
              <p:tags r:id="rId13"/>
            </p:custDataLst>
          </p:nvPr>
        </p:nvSpPr>
        <p:spPr>
          <a:xfrm>
            <a:off x="4381596" y="2295617"/>
            <a:ext cx="3434352" cy="3585028"/>
          </a:xfrm>
          <a:prstGeom prst="flowChartProcess">
            <a:avLst/>
          </a:prstGeom>
          <a:solidFill>
            <a:schemeClr val="accent6"/>
          </a:solidFill>
          <a:ln>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27" name="流程图: 过程 26"/>
          <p:cNvSpPr/>
          <p:nvPr>
            <p:custDataLst>
              <p:tags r:id="rId14"/>
            </p:custDataLst>
          </p:nvPr>
        </p:nvSpPr>
        <p:spPr>
          <a:xfrm>
            <a:off x="4470401" y="2385744"/>
            <a:ext cx="3258457" cy="1963643"/>
          </a:xfrm>
          <a:prstGeom prst="flowChartProcess">
            <a:avLst/>
          </a:prstGeom>
          <a:solidFill>
            <a:schemeClr val="bg1"/>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8" name="文本框 27"/>
          <p:cNvSpPr txBox="1"/>
          <p:nvPr>
            <p:custDataLst>
              <p:tags r:id="rId15"/>
            </p:custDataLst>
          </p:nvPr>
        </p:nvSpPr>
        <p:spPr>
          <a:xfrm>
            <a:off x="4680585" y="4311015"/>
            <a:ext cx="2992120" cy="553085"/>
          </a:xfrm>
          <a:prstGeom prst="rect">
            <a:avLst/>
          </a:prstGeom>
          <a:noFill/>
        </p:spPr>
        <p:txBody>
          <a:bodyPr wrap="square" rtlCol="0">
            <a:spAutoFit/>
          </a:bodyPr>
          <a:lstStyle/>
          <a:p>
            <a:pPr>
              <a:lnSpc>
                <a:spcPct val="150000"/>
              </a:lnSpc>
            </a:pPr>
            <a:r>
              <a:rPr lang="en-US" altLang="zh-CN" sz="2000" b="1" i="1" dirty="0">
                <a:solidFill>
                  <a:schemeClr val="bg1"/>
                </a:solidFill>
                <a:uFillTx/>
                <a:latin typeface="Times New Roman" panose="02020603050405020304" charset="0"/>
              </a:rPr>
              <a:t>θa​</a:t>
            </a:r>
            <a:r>
              <a:rPr lang="en-US" altLang="zh-CN" sz="2000" b="1" dirty="0">
                <a:solidFill>
                  <a:schemeClr val="bg1"/>
                </a:solidFill>
                <a:uFillTx/>
                <a:latin typeface="Times New Roman" panose="02020603050405020304" charset="0"/>
              </a:rPr>
              <a:t>=5.5，</a:t>
            </a:r>
            <a:r>
              <a:rPr lang="en-US" altLang="zh-CN" sz="2000" b="1" i="1" dirty="0">
                <a:solidFill>
                  <a:schemeClr val="bg1"/>
                </a:solidFill>
                <a:uFillTx/>
                <a:latin typeface="Times New Roman" panose="02020603050405020304" charset="0"/>
              </a:rPr>
              <a:t>θn</a:t>
            </a:r>
            <a:r>
              <a:rPr lang="en-US" altLang="zh-CN" sz="2000" b="1" dirty="0">
                <a:solidFill>
                  <a:schemeClr val="bg1"/>
                </a:solidFill>
                <a:uFillTx/>
                <a:latin typeface="Times New Roman" panose="02020603050405020304" charset="0"/>
              </a:rPr>
              <a:t>=2.8，</a:t>
            </a:r>
            <a:r>
              <a:rPr lang="en-US" altLang="zh-CN" sz="2000" b="1" i="1" dirty="0">
                <a:solidFill>
                  <a:schemeClr val="bg1"/>
                </a:solidFill>
                <a:uFillTx/>
                <a:latin typeface="Times New Roman" panose="02020603050405020304" charset="0"/>
              </a:rPr>
              <a:t>ρ</a:t>
            </a:r>
            <a:r>
              <a:rPr lang="en-US" altLang="zh-CN" sz="2000" b="1" dirty="0">
                <a:solidFill>
                  <a:schemeClr val="bg1"/>
                </a:solidFill>
                <a:uFillTx/>
                <a:latin typeface="Times New Roman" panose="02020603050405020304" charset="0"/>
              </a:rPr>
              <a:t>=2.2</a:t>
            </a:r>
            <a:endParaRPr lang="en-US" altLang="zh-CN" sz="2000" b="1" dirty="0">
              <a:solidFill>
                <a:schemeClr val="bg1"/>
              </a:solidFill>
              <a:uFillTx/>
              <a:latin typeface="Times New Roman" panose="02020603050405020304" charset="0"/>
            </a:endParaRPr>
          </a:p>
        </p:txBody>
      </p:sp>
      <p:sp>
        <p:nvSpPr>
          <p:cNvPr id="30" name="流程图: 过程 29"/>
          <p:cNvSpPr/>
          <p:nvPr>
            <p:custDataLst>
              <p:tags r:id="rId16"/>
            </p:custDataLst>
          </p:nvPr>
        </p:nvSpPr>
        <p:spPr>
          <a:xfrm>
            <a:off x="8120739" y="2295617"/>
            <a:ext cx="3434352" cy="3585028"/>
          </a:xfrm>
          <a:prstGeom prst="flowChartProcess">
            <a:avLst/>
          </a:prstGeom>
          <a:solidFill>
            <a:schemeClr val="bg1"/>
          </a:solidFill>
          <a:ln>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31" name="流程图: 过程 30"/>
          <p:cNvSpPr/>
          <p:nvPr>
            <p:custDataLst>
              <p:tags r:id="rId17"/>
            </p:custDataLst>
          </p:nvPr>
        </p:nvSpPr>
        <p:spPr>
          <a:xfrm>
            <a:off x="8209544" y="2385744"/>
            <a:ext cx="3258457" cy="1963643"/>
          </a:xfrm>
          <a:prstGeom prst="flowChartProcess">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论文的效用函数是</a:t>
            </a:r>
            <a:r>
              <a:rPr lang="en-US" altLang="zh-CN" sz="1400" dirty="0">
                <a:latin typeface="Times New Roman" panose="02020603050405020304" charset="0"/>
                <a:cs typeface="Times New Roman" panose="02020603050405020304" charset="0"/>
              </a:rPr>
              <a:t>Stone-Geary</a:t>
            </a:r>
            <a:r>
              <a:rPr lang="zh-CN" altLang="en-US" sz="1400" dirty="0"/>
              <a:t>形式：</a:t>
            </a:r>
            <a:endParaRPr lang="zh-CN" altLang="en-US" sz="1400" dirty="0"/>
          </a:p>
          <a:p>
            <a:pPr algn="ctr"/>
            <a:endParaRPr lang="en-US" altLang="zh-CN" sz="1400" dirty="0"/>
          </a:p>
          <a:p>
            <a:pPr algn="ctr"/>
            <a:endParaRPr lang="en-US" altLang="zh-CN" sz="1400" dirty="0"/>
          </a:p>
          <a:p>
            <a:pPr algn="ctr"/>
            <a:endParaRPr lang="en-US" altLang="zh-CN" sz="1400" dirty="0"/>
          </a:p>
          <a:p>
            <a:pPr algn="ctr"/>
            <a:endParaRPr lang="en-US" altLang="zh-CN" sz="1400" dirty="0"/>
          </a:p>
          <a:p>
            <a:pPr algn="ctr"/>
            <a:endParaRPr lang="en-US" altLang="zh-CN" sz="1400" dirty="0"/>
          </a:p>
          <a:p>
            <a:pPr algn="ctr"/>
            <a:endParaRPr lang="en-US" altLang="zh-CN" sz="1400" dirty="0"/>
          </a:p>
          <a:p>
            <a:pPr algn="ctr"/>
            <a:endParaRPr lang="en-US" altLang="zh-CN" sz="1400" dirty="0"/>
          </a:p>
        </p:txBody>
      </p:sp>
      <p:sp>
        <p:nvSpPr>
          <p:cNvPr id="37" name="圆角矩形 97"/>
          <p:cNvSpPr/>
          <p:nvPr>
            <p:custDataLst>
              <p:tags r:id="rId18"/>
            </p:custDataLst>
          </p:nvPr>
        </p:nvSpPr>
        <p:spPr>
          <a:xfrm>
            <a:off x="358775" y="6062252"/>
            <a:ext cx="11478260" cy="560705"/>
          </a:xfrm>
          <a:prstGeom prst="roundRect">
            <a:avLst>
              <a:gd name="adj" fmla="val 4544"/>
            </a:avLst>
          </a:prstGeom>
          <a:noFill/>
          <a:ln w="25400">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solidFill>
                <a:schemeClr val="bg1"/>
              </a:solidFill>
            </a:endParaRPr>
          </a:p>
        </p:txBody>
      </p:sp>
      <p:sp>
        <p:nvSpPr>
          <p:cNvPr id="38" name="文本框 37"/>
          <p:cNvSpPr txBox="1"/>
          <p:nvPr/>
        </p:nvSpPr>
        <p:spPr>
          <a:xfrm>
            <a:off x="679450" y="6161947"/>
            <a:ext cx="10673080" cy="337185"/>
          </a:xfrm>
          <a:prstGeom prst="rect">
            <a:avLst/>
          </a:prstGeom>
          <a:noFill/>
        </p:spPr>
        <p:txBody>
          <a:bodyPr wrap="square" rtlCol="0">
            <a:spAutoFit/>
          </a:bodyPr>
          <a:lstStyle/>
          <a:p>
            <a:pPr algn="ctr"/>
            <a:r>
              <a:rPr lang="zh-CN" altLang="en-US" sz="1600" dirty="0">
                <a:solidFill>
                  <a:schemeClr val="tx1"/>
                </a:solidFill>
              </a:rPr>
              <a:t>参数估计结果：</a:t>
            </a:r>
            <a:r>
              <a:rPr lang="en-US" altLang="zh-CN" sz="1600" b="1" i="1" dirty="0">
                <a:solidFill>
                  <a:schemeClr val="tx1"/>
                </a:solidFill>
                <a:uFillTx/>
                <a:latin typeface="Times New Roman" panose="02020603050405020304" charset="0"/>
                <a:sym typeface="+mn-ea"/>
              </a:rPr>
              <a:t>θa​</a:t>
            </a:r>
            <a:r>
              <a:rPr lang="en-US" altLang="zh-CN" sz="1600" b="1" dirty="0">
                <a:solidFill>
                  <a:schemeClr val="tx1"/>
                </a:solidFill>
                <a:uFillTx/>
                <a:latin typeface="Times New Roman" panose="02020603050405020304" charset="0"/>
                <a:sym typeface="+mn-ea"/>
              </a:rPr>
              <a:t>=5.5，</a:t>
            </a:r>
            <a:r>
              <a:rPr lang="en-US" altLang="zh-CN" sz="1600" b="1" i="1" dirty="0">
                <a:solidFill>
                  <a:schemeClr val="tx1"/>
                </a:solidFill>
                <a:uFillTx/>
                <a:latin typeface="Times New Roman" panose="02020603050405020304" charset="0"/>
                <a:sym typeface="+mn-ea"/>
              </a:rPr>
              <a:t>θn</a:t>
            </a:r>
            <a:r>
              <a:rPr lang="en-US" altLang="zh-CN" sz="1600" b="1" dirty="0">
                <a:solidFill>
                  <a:schemeClr val="tx1"/>
                </a:solidFill>
                <a:uFillTx/>
                <a:latin typeface="Times New Roman" panose="02020603050405020304" charset="0"/>
                <a:sym typeface="+mn-ea"/>
              </a:rPr>
              <a:t>=2.8，</a:t>
            </a:r>
            <a:r>
              <a:rPr lang="en-US" altLang="zh-CN" sz="1600" b="1" i="1" dirty="0">
                <a:solidFill>
                  <a:schemeClr val="tx1"/>
                </a:solidFill>
                <a:uFillTx/>
                <a:latin typeface="Times New Roman" panose="02020603050405020304" charset="0"/>
                <a:sym typeface="+mn-ea"/>
              </a:rPr>
              <a:t>ρ</a:t>
            </a:r>
            <a:r>
              <a:rPr lang="en-US" altLang="zh-CN" sz="1600" b="1" dirty="0">
                <a:solidFill>
                  <a:schemeClr val="tx1"/>
                </a:solidFill>
                <a:uFillTx/>
                <a:latin typeface="Times New Roman" panose="02020603050405020304" charset="0"/>
                <a:sym typeface="+mn-ea"/>
              </a:rPr>
              <a:t>=2.2</a:t>
            </a:r>
            <a:endParaRPr lang="en-US" altLang="zh-CN" sz="1600" b="1" dirty="0">
              <a:solidFill>
                <a:schemeClr val="tx1"/>
              </a:solidFill>
              <a:uFillTx/>
              <a:latin typeface="Times New Roman" panose="02020603050405020304" charset="0"/>
              <a:sym typeface="+mn-ea"/>
            </a:endParaRPr>
          </a:p>
        </p:txBody>
      </p:sp>
      <p:pic>
        <p:nvPicPr>
          <p:cNvPr id="3" name="图片 2"/>
          <p:cNvPicPr>
            <a:picLocks noChangeAspect="1"/>
          </p:cNvPicPr>
          <p:nvPr>
            <p:custDataLst>
              <p:tags r:id="rId19"/>
            </p:custDataLst>
          </p:nvPr>
        </p:nvPicPr>
        <p:blipFill>
          <a:blip r:embed="rId20"/>
          <a:srcRect l="2813" t="6457" r="1622" b="5660"/>
          <a:stretch>
            <a:fillRect/>
          </a:stretch>
        </p:blipFill>
        <p:spPr>
          <a:xfrm>
            <a:off x="795020" y="2456180"/>
            <a:ext cx="3111500" cy="1474470"/>
          </a:xfrm>
          <a:prstGeom prst="rect">
            <a:avLst/>
          </a:prstGeom>
        </p:spPr>
      </p:pic>
      <p:sp>
        <p:nvSpPr>
          <p:cNvPr id="4" name="文本框 3"/>
          <p:cNvSpPr txBox="1"/>
          <p:nvPr>
            <p:custDataLst>
              <p:tags r:id="rId21"/>
            </p:custDataLst>
          </p:nvPr>
        </p:nvSpPr>
        <p:spPr>
          <a:xfrm>
            <a:off x="729615" y="4090035"/>
            <a:ext cx="3258820" cy="726440"/>
          </a:xfrm>
          <a:prstGeom prst="rect">
            <a:avLst/>
          </a:prstGeom>
          <a:noFill/>
        </p:spPr>
        <p:txBody>
          <a:bodyPr wrap="square">
            <a:noAutofit/>
          </a:bodyPr>
          <a:lstStyle/>
          <a:p>
            <a:pPr indent="-533400" algn="l" fontAlgn="auto">
              <a:lnSpc>
                <a:spcPts val="1880"/>
              </a:lnSpc>
              <a:extLst>
                <a:ext uri="{35155182-B16C-46BC-9424-99874614C6A1}">
                  <wpsdc:indentchars xmlns:wpsdc="http://www.wps.cn/officeDocument/2017/drawingmlCustomData" val="-300" checksum="1178932565"/>
                </a:ext>
              </a:extLst>
            </a:pPr>
            <a:r>
              <a:rPr lang="zh-CN" altLang="en-US" sz="1400" b="1" dirty="0">
                <a:solidFill>
                  <a:schemeClr val="tx1"/>
                </a:solidFill>
              </a:rPr>
              <a:t>允许：①两部门生产率</a:t>
            </a:r>
            <a:r>
              <a:rPr lang="zh-CN" altLang="en-US" sz="1400" b="1" dirty="0">
                <a:solidFill>
                  <a:schemeClr val="tx1"/>
                </a:solidFill>
              </a:rPr>
              <a:t>相关</a:t>
            </a:r>
            <a:endParaRPr lang="zh-CN" altLang="en-US" sz="1400" b="1" dirty="0">
              <a:solidFill>
                <a:schemeClr val="tx1"/>
              </a:solidFill>
            </a:endParaRPr>
          </a:p>
          <a:p>
            <a:pPr marL="1062990" indent="-533400" algn="l" fontAlgn="auto">
              <a:lnSpc>
                <a:spcPts val="1880"/>
              </a:lnSpc>
              <a:extLst>
                <a:ext uri="{35155182-B16C-46BC-9424-99874614C6A1}">
                  <wpsdc:indentchars xmlns:wpsdc="http://www.wps.cn/officeDocument/2017/drawingmlCustomData" val="-300" checksum="1178932565"/>
                  <wpsdc:marlchars xmlns:wpsdc="http://www.wps.cn/officeDocument/2017/drawingmlCustomData" val="465" checksum="2783060161"/>
                </a:ext>
              </a:extLst>
            </a:pPr>
            <a:r>
              <a:rPr lang="zh-CN" altLang="en-US" sz="1400" b="1" dirty="0">
                <a:solidFill>
                  <a:schemeClr val="tx1"/>
                </a:solidFill>
              </a:rPr>
              <a:t>②两部门生产率离散程度</a:t>
            </a:r>
            <a:r>
              <a:rPr lang="zh-CN" altLang="en-US" sz="1400" b="1" dirty="0">
                <a:solidFill>
                  <a:schemeClr val="tx1"/>
                </a:solidFill>
              </a:rPr>
              <a:t>不同</a:t>
            </a:r>
            <a:endParaRPr lang="zh-CN" altLang="en-US" sz="1400" b="1" dirty="0">
              <a:solidFill>
                <a:schemeClr val="tx1"/>
              </a:solidFill>
            </a:endParaRPr>
          </a:p>
        </p:txBody>
      </p:sp>
      <p:pic>
        <p:nvPicPr>
          <p:cNvPr id="16" name="图片 15"/>
          <p:cNvPicPr>
            <a:picLocks noChangeAspect="1"/>
          </p:cNvPicPr>
          <p:nvPr/>
        </p:nvPicPr>
        <p:blipFill>
          <a:blip r:embed="rId22"/>
          <a:srcRect l="16266" t="-1821" r="32000" b="7148"/>
          <a:stretch>
            <a:fillRect/>
          </a:stretch>
        </p:blipFill>
        <p:spPr>
          <a:xfrm>
            <a:off x="4526280" y="2508885"/>
            <a:ext cx="3146425" cy="1783080"/>
          </a:xfrm>
          <a:prstGeom prst="rect">
            <a:avLst/>
          </a:prstGeom>
        </p:spPr>
      </p:pic>
      <p:sp>
        <p:nvSpPr>
          <p:cNvPr id="17" name="文本框 16"/>
          <p:cNvSpPr txBox="1"/>
          <p:nvPr>
            <p:custDataLst>
              <p:tags r:id="rId23"/>
            </p:custDataLst>
          </p:nvPr>
        </p:nvSpPr>
        <p:spPr>
          <a:xfrm>
            <a:off x="4615815" y="4855210"/>
            <a:ext cx="2992120" cy="82994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600" dirty="0">
                <a:solidFill>
                  <a:schemeClr val="bg1"/>
                </a:solidFill>
                <a:uFillTx/>
                <a:latin typeface="Times New Roman" panose="02020603050405020304" charset="0"/>
              </a:rPr>
              <a:t>非农个体生产率</a:t>
            </a:r>
            <a:r>
              <a:rPr lang="zh-CN" altLang="en-US" sz="1600" dirty="0">
                <a:solidFill>
                  <a:schemeClr val="bg1"/>
                </a:solidFill>
                <a:uFillTx/>
                <a:latin typeface="Times New Roman" panose="02020603050405020304" charset="0"/>
              </a:rPr>
              <a:t>更离散</a:t>
            </a:r>
            <a:endParaRPr lang="zh-CN" altLang="en-US" sz="1600" dirty="0">
              <a:solidFill>
                <a:schemeClr val="bg1"/>
              </a:solidFill>
              <a:uFillTx/>
              <a:latin typeface="Times New Roman" panose="02020603050405020304" charset="0"/>
            </a:endParaRPr>
          </a:p>
          <a:p>
            <a:pPr marL="342900" indent="-342900">
              <a:lnSpc>
                <a:spcPct val="150000"/>
              </a:lnSpc>
              <a:buFont typeface="Arial" panose="020B0604020202020204" pitchFamily="34" charset="0"/>
              <a:buChar char="•"/>
            </a:pPr>
            <a:r>
              <a:rPr lang="zh-CN" altLang="en-US" sz="1600" dirty="0">
                <a:solidFill>
                  <a:schemeClr val="bg1"/>
                </a:solidFill>
                <a:uFillTx/>
                <a:latin typeface="Times New Roman" panose="02020603050405020304" charset="0"/>
              </a:rPr>
              <a:t>两部门个体生产率</a:t>
            </a:r>
            <a:r>
              <a:rPr lang="zh-CN" altLang="en-US" sz="1600" dirty="0">
                <a:solidFill>
                  <a:schemeClr val="bg1"/>
                </a:solidFill>
                <a:uFillTx/>
                <a:latin typeface="Times New Roman" panose="02020603050405020304" charset="0"/>
              </a:rPr>
              <a:t>正相关</a:t>
            </a:r>
            <a:endParaRPr lang="zh-CN" altLang="en-US" sz="1600" dirty="0">
              <a:solidFill>
                <a:schemeClr val="bg1"/>
              </a:solidFill>
              <a:uFillTx/>
              <a:latin typeface="Times New Roman" panose="02020603050405020304" charset="0"/>
            </a:endParaRPr>
          </a:p>
        </p:txBody>
      </p:sp>
      <p:pic>
        <p:nvPicPr>
          <p:cNvPr id="24" name="图片 23"/>
          <p:cNvPicPr>
            <a:picLocks noChangeAspect="1"/>
          </p:cNvPicPr>
          <p:nvPr/>
        </p:nvPicPr>
        <p:blipFill>
          <a:blip r:embed="rId24"/>
          <a:srcRect l="2196"/>
          <a:stretch>
            <a:fillRect/>
          </a:stretch>
        </p:blipFill>
        <p:spPr>
          <a:xfrm>
            <a:off x="8278495" y="2790190"/>
            <a:ext cx="3111500" cy="1466850"/>
          </a:xfrm>
          <a:prstGeom prst="rect">
            <a:avLst/>
          </a:prstGeom>
        </p:spPr>
      </p:pic>
      <p:pic>
        <p:nvPicPr>
          <p:cNvPr id="39" name="图片 38"/>
          <p:cNvPicPr>
            <a:picLocks noChangeAspect="1"/>
          </p:cNvPicPr>
          <p:nvPr/>
        </p:nvPicPr>
        <p:blipFill>
          <a:blip r:embed="rId25"/>
          <a:srcRect l="16265" r="31904" b="10780"/>
          <a:stretch>
            <a:fillRect/>
          </a:stretch>
        </p:blipFill>
        <p:spPr>
          <a:xfrm>
            <a:off x="8156575" y="4645660"/>
            <a:ext cx="3307080" cy="9671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5293995" y="2310765"/>
            <a:ext cx="5942965" cy="1014730"/>
          </a:xfrm>
          <a:prstGeom prst="rect">
            <a:avLst/>
          </a:prstGeom>
          <a:noFill/>
        </p:spPr>
        <p:txBody>
          <a:bodyPr wrap="square" rtlCol="0">
            <a:spAutoFit/>
          </a:bodyPr>
          <a:lstStyle/>
          <a:p>
            <a:r>
              <a:rPr lang="zh-CN" altLang="en-US" sz="6000" b="1">
                <a:solidFill>
                  <a:schemeClr val="tx1"/>
                </a:solidFill>
              </a:rPr>
              <a:t>数据</a:t>
            </a:r>
            <a:r>
              <a:rPr lang="zh-CN" altLang="en-US" sz="6000" b="1">
                <a:solidFill>
                  <a:schemeClr val="tx1"/>
                </a:solidFill>
              </a:rPr>
              <a:t>结果</a:t>
            </a:r>
            <a:endParaRPr lang="zh-CN" altLang="en-US" sz="6000" b="1">
              <a:solidFill>
                <a:schemeClr val="tx1"/>
              </a:solidFill>
            </a:endParaRPr>
          </a:p>
        </p:txBody>
      </p:sp>
      <p:sp>
        <p:nvSpPr>
          <p:cNvPr id="20" name="文本框 19"/>
          <p:cNvSpPr txBox="1"/>
          <p:nvPr/>
        </p:nvSpPr>
        <p:spPr>
          <a:xfrm>
            <a:off x="5293995" y="3577590"/>
            <a:ext cx="6248400" cy="583565"/>
          </a:xfrm>
          <a:prstGeom prst="rect">
            <a:avLst/>
          </a:prstGeom>
          <a:noFill/>
        </p:spPr>
        <p:txBody>
          <a:bodyPr wrap="square" rtlCol="0">
            <a:spAutoFit/>
          </a:bodyPr>
          <a:lstStyle/>
          <a:p>
            <a:r>
              <a:rPr lang="en-US" altLang="zh-CN" sz="3200">
                <a:latin typeface="Times New Roman" panose="02020603050405020304" charset="0"/>
                <a:cs typeface="Times New Roman" panose="02020603050405020304" charset="0"/>
                <a:sym typeface="+mn-ea"/>
              </a:rPr>
              <a:t>Quantitative Analysis</a:t>
            </a:r>
            <a:endParaRPr lang="en-US" altLang="zh-CN" sz="3200">
              <a:solidFill>
                <a:schemeClr val="tx1"/>
              </a:solidFill>
              <a:latin typeface="Times New Roman" panose="02020603050405020304" charset="0"/>
              <a:cs typeface="Times New Roman" panose="02020603050405020304" charset="0"/>
              <a:sym typeface="+mn-ea"/>
            </a:endParaRPr>
          </a:p>
        </p:txBody>
      </p:sp>
      <p:sp>
        <p:nvSpPr>
          <p:cNvPr id="29" name="文本框 28"/>
          <p:cNvSpPr txBox="1"/>
          <p:nvPr/>
        </p:nvSpPr>
        <p:spPr>
          <a:xfrm>
            <a:off x="1177925" y="1510665"/>
            <a:ext cx="3314700" cy="3769360"/>
          </a:xfrm>
          <a:prstGeom prst="rect">
            <a:avLst/>
          </a:prstGeom>
          <a:noFill/>
        </p:spPr>
        <p:txBody>
          <a:bodyPr wrap="square" rtlCol="0">
            <a:spAutoFit/>
          </a:bodyPr>
          <a:lstStyle/>
          <a:p>
            <a:r>
              <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rPr>
              <a:t>04</a:t>
            </a:r>
            <a:endPar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endParaRPr>
          </a:p>
        </p:txBody>
      </p:sp>
      <p:cxnSp>
        <p:nvCxnSpPr>
          <p:cNvPr id="30" name="直接连接符 29"/>
          <p:cNvCxnSpPr/>
          <p:nvPr/>
        </p:nvCxnSpPr>
        <p:spPr>
          <a:xfrm flipV="1">
            <a:off x="-9525" y="495554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flipV="1">
            <a:off x="2649855" y="4736465"/>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H="1">
            <a:off x="8239125" y="1696085"/>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flipH="1">
            <a:off x="8239125" y="1758950"/>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5507990"/>
            <a:ext cx="12195175" cy="1362075"/>
            <a:chOff x="0" y="5507990"/>
            <a:chExt cx="12195175" cy="1362075"/>
          </a:xfrm>
        </p:grpSpPr>
        <p:sp>
          <p:nvSpPr>
            <p:cNvPr id="5" name="任意多边形 688"/>
            <p:cNvSpPr/>
            <p:nvPr/>
          </p:nvSpPr>
          <p:spPr>
            <a:xfrm>
              <a:off x="3175" y="5507990"/>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687"/>
            <p:cNvSpPr/>
            <p:nvPr/>
          </p:nvSpPr>
          <p:spPr>
            <a:xfrm>
              <a:off x="0" y="555180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任意多边形 682"/>
            <p:cNvSpPr/>
            <p:nvPr/>
          </p:nvSpPr>
          <p:spPr>
            <a:xfrm>
              <a:off x="0" y="558482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alpha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任意多边形 689"/>
            <p:cNvSpPr/>
            <p:nvPr/>
          </p:nvSpPr>
          <p:spPr>
            <a:xfrm>
              <a:off x="1270" y="5645785"/>
              <a:ext cx="12192000" cy="122428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pic>
        <p:nvPicPr>
          <p:cNvPr id="10" name="图片 9" descr="03校标，中、英文校名组合"/>
          <p:cNvPicPr>
            <a:picLocks noChangeAspect="1"/>
          </p:cNvPicPr>
          <p:nvPr userDrawn="1"/>
        </p:nvPicPr>
        <p:blipFill>
          <a:blip r:embed="rId1"/>
          <a:stretch>
            <a:fillRect/>
          </a:stretch>
        </p:blipFill>
        <p:spPr>
          <a:xfrm>
            <a:off x="260350" y="137160"/>
            <a:ext cx="2588895" cy="823595"/>
          </a:xfrm>
          <a:prstGeom prst="rect">
            <a:avLst/>
          </a:prstGeom>
        </p:spPr>
      </p:pic>
      <p:sp>
        <p:nvSpPr>
          <p:cNvPr id="13" name="文本框 3"/>
          <p:cNvSpPr txBox="1"/>
          <p:nvPr/>
        </p:nvSpPr>
        <p:spPr>
          <a:xfrm>
            <a:off x="3127375" y="342809"/>
            <a:ext cx="3867785"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6"/>
                </a:solidFill>
                <a:latin typeface="华文行楷" panose="02010800040101010101" charset="-122"/>
                <a:ea typeface="华文行楷" panose="02010800040101010101" charset="-122"/>
              </a:rPr>
              <a:t>诚朴雄伟</a:t>
            </a:r>
            <a:r>
              <a:rPr lang="en-US" altLang="zh-CN" sz="3200" dirty="0">
                <a:solidFill>
                  <a:schemeClr val="accent6"/>
                </a:solidFill>
                <a:latin typeface="华文行楷" panose="02010800040101010101" charset="-122"/>
                <a:ea typeface="华文行楷" panose="02010800040101010101" charset="-122"/>
              </a:rPr>
              <a:t> </a:t>
            </a:r>
            <a:r>
              <a:rPr lang="zh-CN" altLang="en-US" sz="3200" dirty="0">
                <a:solidFill>
                  <a:schemeClr val="accent6"/>
                </a:solidFill>
                <a:latin typeface="华文行楷" panose="02010800040101010101" charset="-122"/>
                <a:ea typeface="华文行楷" panose="02010800040101010101" charset="-122"/>
              </a:rPr>
              <a:t>励学敦</a:t>
            </a:r>
            <a:r>
              <a:rPr lang="zh-CN" altLang="en-US" sz="3200" dirty="0">
                <a:solidFill>
                  <a:schemeClr val="accent6"/>
                </a:solidFill>
                <a:latin typeface="华文行楷" panose="02010800040101010101" charset="-122"/>
                <a:ea typeface="华文行楷" panose="02010800040101010101" charset="-122"/>
              </a:rPr>
              <a:t>行</a:t>
            </a:r>
            <a:endParaRPr lang="zh-CN" altLang="en-US" sz="3200" dirty="0">
              <a:solidFill>
                <a:schemeClr val="accent6"/>
              </a:solidFill>
              <a:latin typeface="华文行楷" panose="02010800040101010101" charset="-122"/>
              <a:ea typeface="华文行楷" panose="020108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803910" y="914400"/>
            <a:ext cx="3700780" cy="368300"/>
          </a:xfrm>
          <a:prstGeom prst="rect">
            <a:avLst/>
          </a:prstGeom>
          <a:noFill/>
        </p:spPr>
        <p:txBody>
          <a:bodyPr wrap="square" rtlCol="0">
            <a:spAutoFit/>
          </a:bodyPr>
          <a:lstStyle/>
          <a:p>
            <a:r>
              <a:rPr lang="zh-CN" altLang="en-US" b="1"/>
              <a:t>实验设计</a:t>
            </a:r>
            <a:r>
              <a:rPr lang="en-US" altLang="zh-CN" b="1"/>
              <a:t>——</a:t>
            </a:r>
            <a:r>
              <a:rPr lang="zh-CN" altLang="en-US" sz="1600" b="1"/>
              <a:t>生产率的定量预测</a:t>
            </a:r>
            <a:endParaRPr lang="zh-CN" altLang="en-US" sz="1600" b="1"/>
          </a:p>
        </p:txBody>
      </p:sp>
      <p:sp>
        <p:nvSpPr>
          <p:cNvPr id="9" name="椭圆 8"/>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流程图: 过程 9"/>
          <p:cNvSpPr/>
          <p:nvPr/>
        </p:nvSpPr>
        <p:spPr>
          <a:xfrm>
            <a:off x="6969760" y="1085850"/>
            <a:ext cx="311721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t>问题提出：工人自选择机制对农业/非农业生产率差异的贡献有多大</a:t>
            </a:r>
            <a:endParaRPr lang="zh-CN" altLang="en-US" sz="1400" b="1" dirty="0"/>
          </a:p>
        </p:txBody>
      </p:sp>
      <p:sp>
        <p:nvSpPr>
          <p:cNvPr id="11" name="流程图: 过程 10"/>
          <p:cNvSpPr/>
          <p:nvPr/>
        </p:nvSpPr>
        <p:spPr>
          <a:xfrm>
            <a:off x="6969760" y="2052955"/>
            <a:ext cx="3116580"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t>校准：定义美国</a:t>
            </a:r>
            <a:r>
              <a:rPr lang="en-US" altLang="zh-CN" sz="1400" b="1" dirty="0"/>
              <a:t>A=1</a:t>
            </a:r>
            <a:r>
              <a:rPr lang="zh-CN" altLang="en-US" sz="1400" b="1" dirty="0"/>
              <a:t>，</a:t>
            </a:r>
            <a:r>
              <a:rPr lang="zh-CN" altLang="en-US" sz="1400" b="1" dirty="0"/>
              <a:t>参数 </a:t>
            </a:r>
            <a:r>
              <a:rPr lang="en-US" altLang="zh-CN" sz="1400" b="1" dirty="0"/>
              <a:t>θa=5.5, θn=2.8, ρ=2.2, ν, </a:t>
            </a:r>
            <a:r>
              <a:rPr lang="en-US" altLang="en-US" sz="1400" b="1" dirty="0"/>
              <a:t>ā</a:t>
            </a:r>
            <a:endParaRPr lang="en-US" altLang="en-US" sz="1400" b="1" dirty="0"/>
          </a:p>
        </p:txBody>
      </p:sp>
      <p:sp>
        <p:nvSpPr>
          <p:cNvPr id="12" name="流程图: 过程 11"/>
          <p:cNvSpPr/>
          <p:nvPr/>
        </p:nvSpPr>
        <p:spPr>
          <a:xfrm>
            <a:off x="7635240" y="3987165"/>
            <a:ext cx="1786890"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t>产出、</a:t>
            </a:r>
            <a:r>
              <a:rPr lang="zh-CN" altLang="en-US" sz="1400" b="1" dirty="0"/>
              <a:t>消费</a:t>
            </a:r>
            <a:endParaRPr lang="zh-CN" altLang="en-US" sz="1400" b="1" dirty="0"/>
          </a:p>
        </p:txBody>
      </p:sp>
      <p:sp>
        <p:nvSpPr>
          <p:cNvPr id="14" name="流程图: 过程 13"/>
          <p:cNvSpPr/>
          <p:nvPr/>
        </p:nvSpPr>
        <p:spPr>
          <a:xfrm>
            <a:off x="9865360" y="3987165"/>
            <a:ext cx="1786890"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t>市场出清</a:t>
            </a:r>
            <a:endParaRPr lang="zh-CN" altLang="en-US" sz="1400" b="1" dirty="0"/>
          </a:p>
        </p:txBody>
      </p:sp>
      <p:sp>
        <p:nvSpPr>
          <p:cNvPr id="15" name="流程图: 过程 14"/>
          <p:cNvSpPr/>
          <p:nvPr/>
        </p:nvSpPr>
        <p:spPr>
          <a:xfrm>
            <a:off x="5424170" y="3987165"/>
            <a:ext cx="1786890"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t>工人</a:t>
            </a:r>
            <a:r>
              <a:rPr lang="zh-CN" altLang="en-US" sz="1400" b="1" dirty="0"/>
              <a:t>自选择</a:t>
            </a:r>
            <a:endParaRPr lang="zh-CN" altLang="en-US" sz="1400" b="1" dirty="0"/>
          </a:p>
        </p:txBody>
      </p:sp>
      <p:sp>
        <p:nvSpPr>
          <p:cNvPr id="16" name="流程图: 过程 15"/>
          <p:cNvSpPr/>
          <p:nvPr/>
        </p:nvSpPr>
        <p:spPr>
          <a:xfrm>
            <a:off x="6739255" y="4954270"/>
            <a:ext cx="3458210"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t>计算部门劳动生产率</a:t>
            </a:r>
            <a:r>
              <a:rPr lang="en-US" altLang="zh-CN" sz="1400" b="1" dirty="0"/>
              <a:t> </a:t>
            </a:r>
            <a:r>
              <a:rPr lang="en-US" altLang="zh-CN" sz="1400" b="1" dirty="0">
                <a:latin typeface="Times New Roman" panose="02020603050405020304" charset="0"/>
                <a:cs typeface="Times New Roman" panose="02020603050405020304" charset="0"/>
              </a:rPr>
              <a:t> </a:t>
            </a:r>
            <a:r>
              <a:rPr lang="en-US" altLang="zh-CN" b="1" i="1" dirty="0">
                <a:latin typeface="Times New Roman" panose="02020603050405020304" charset="0"/>
                <a:cs typeface="Times New Roman" panose="02020603050405020304" charset="0"/>
              </a:rPr>
              <a:t>Ya</a:t>
            </a:r>
            <a:r>
              <a:rPr lang="en-US" altLang="zh-CN" sz="2000" b="1" dirty="0">
                <a:latin typeface="Times New Roman" panose="02020603050405020304" charset="0"/>
                <a:cs typeface="Times New Roman" panose="02020603050405020304" charset="0"/>
              </a:rPr>
              <a:t>/</a:t>
            </a:r>
            <a:r>
              <a:rPr lang="en-US" altLang="zh-CN" b="1" i="1" dirty="0">
                <a:latin typeface="Times New Roman" panose="02020603050405020304" charset="0"/>
                <a:cs typeface="Times New Roman" panose="02020603050405020304" charset="0"/>
              </a:rPr>
              <a:t>Na</a:t>
            </a:r>
            <a:r>
              <a:rPr lang="zh-CN" altLang="en-US" sz="2000" b="1" dirty="0">
                <a:latin typeface="Times New Roman" panose="02020603050405020304" charset="0"/>
                <a:cs typeface="Times New Roman" panose="02020603050405020304" charset="0"/>
              </a:rPr>
              <a:t>、</a:t>
            </a:r>
            <a:r>
              <a:rPr lang="en-US" altLang="zh-CN" b="1" i="1" dirty="0">
                <a:latin typeface="Times New Roman" panose="02020603050405020304" charset="0"/>
                <a:cs typeface="Times New Roman" panose="02020603050405020304" charset="0"/>
              </a:rPr>
              <a:t>Yn</a:t>
            </a:r>
            <a:r>
              <a:rPr lang="en-US" altLang="zh-CN" sz="2000" b="1" dirty="0">
                <a:latin typeface="Times New Roman" panose="02020603050405020304" charset="0"/>
                <a:cs typeface="Times New Roman" panose="02020603050405020304" charset="0"/>
              </a:rPr>
              <a:t>/</a:t>
            </a:r>
            <a:r>
              <a:rPr lang="en-US" altLang="zh-CN" b="1" i="1" dirty="0">
                <a:latin typeface="Times New Roman" panose="02020603050405020304" charset="0"/>
                <a:cs typeface="Times New Roman" panose="02020603050405020304" charset="0"/>
              </a:rPr>
              <a:t>Nn</a:t>
            </a:r>
            <a:endParaRPr lang="en-US" altLang="zh-CN" b="1" i="1" dirty="0">
              <a:latin typeface="Times New Roman" panose="02020603050405020304" charset="0"/>
              <a:cs typeface="Times New Roman" panose="02020603050405020304" charset="0"/>
            </a:endParaRPr>
          </a:p>
        </p:txBody>
      </p:sp>
      <p:sp>
        <p:nvSpPr>
          <p:cNvPr id="22" name="流程图: 过程 21"/>
          <p:cNvSpPr/>
          <p:nvPr/>
        </p:nvSpPr>
        <p:spPr>
          <a:xfrm>
            <a:off x="7543165" y="5921375"/>
            <a:ext cx="199326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t>反事实</a:t>
            </a:r>
            <a:r>
              <a:rPr lang="zh-CN" altLang="en-US" sz="1400" b="1" dirty="0"/>
              <a:t>实验：关闭选择（工人同质）</a:t>
            </a:r>
            <a:endParaRPr lang="zh-CN" altLang="en-US" sz="1400" b="1" dirty="0"/>
          </a:p>
        </p:txBody>
      </p:sp>
      <p:cxnSp>
        <p:nvCxnSpPr>
          <p:cNvPr id="23" name="直接箭头连接符 22"/>
          <p:cNvCxnSpPr/>
          <p:nvPr/>
        </p:nvCxnSpPr>
        <p:spPr>
          <a:xfrm>
            <a:off x="8528685" y="1609725"/>
            <a:ext cx="0" cy="43180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a:off x="8528685" y="2580005"/>
            <a:ext cx="0" cy="43180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39" name="直接箭头连接符 38"/>
          <p:cNvCxnSpPr>
            <a:endCxn id="15" idx="0"/>
          </p:cNvCxnSpPr>
          <p:nvPr/>
        </p:nvCxnSpPr>
        <p:spPr>
          <a:xfrm flipH="1">
            <a:off x="6317615" y="3550285"/>
            <a:ext cx="2211070" cy="43688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8528685" y="4520565"/>
            <a:ext cx="0" cy="43180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1" name="直接箭头连接符 50"/>
          <p:cNvCxnSpPr/>
          <p:nvPr/>
        </p:nvCxnSpPr>
        <p:spPr>
          <a:xfrm>
            <a:off x="8528685" y="5490845"/>
            <a:ext cx="0" cy="43180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sp>
        <p:nvSpPr>
          <p:cNvPr id="52" name="流程图: 过程 51"/>
          <p:cNvSpPr/>
          <p:nvPr/>
        </p:nvSpPr>
        <p:spPr>
          <a:xfrm>
            <a:off x="7599045" y="3020060"/>
            <a:ext cx="186245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t>调整</a:t>
            </a:r>
            <a:r>
              <a:rPr lang="en-US" altLang="zh-CN" sz="1400" b="1" dirty="0"/>
              <a:t>A</a:t>
            </a:r>
            <a:r>
              <a:rPr lang="zh-CN" altLang="en-US" sz="1400" b="1" dirty="0"/>
              <a:t>，匹配总</a:t>
            </a:r>
            <a:r>
              <a:rPr lang="en-US" altLang="zh-CN" sz="1400" b="1" dirty="0"/>
              <a:t>GDP 90</a:t>
            </a:r>
            <a:r>
              <a:rPr lang="zh-CN" altLang="en-US" sz="1400" b="1" dirty="0"/>
              <a:t>分位</a:t>
            </a:r>
            <a:r>
              <a:rPr lang="en-US" altLang="zh-CN" sz="1400" b="1" dirty="0"/>
              <a:t>/10</a:t>
            </a:r>
            <a:r>
              <a:rPr lang="zh-CN" altLang="en-US" sz="1400" b="1" dirty="0"/>
              <a:t>分位</a:t>
            </a:r>
            <a:r>
              <a:rPr lang="en-US" altLang="zh-CN" sz="1400" b="1" dirty="0"/>
              <a:t> =22</a:t>
            </a:r>
            <a:r>
              <a:rPr lang="zh-CN" altLang="en-US" sz="1400" b="1" dirty="0"/>
              <a:t>倍</a:t>
            </a:r>
            <a:endParaRPr lang="zh-CN" altLang="en-US" sz="1400" b="1" dirty="0"/>
          </a:p>
        </p:txBody>
      </p:sp>
      <p:cxnSp>
        <p:nvCxnSpPr>
          <p:cNvPr id="55" name="直接连接符 54"/>
          <p:cNvCxnSpPr/>
          <p:nvPr/>
        </p:nvCxnSpPr>
        <p:spPr>
          <a:xfrm>
            <a:off x="7239635" y="4231640"/>
            <a:ext cx="360000" cy="0"/>
          </a:xfrm>
          <a:prstGeom prst="line">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56" name="直接连接符 55"/>
          <p:cNvCxnSpPr/>
          <p:nvPr/>
        </p:nvCxnSpPr>
        <p:spPr>
          <a:xfrm>
            <a:off x="9462135" y="4231640"/>
            <a:ext cx="360000" cy="0"/>
          </a:xfrm>
          <a:prstGeom prst="line">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grpSp>
        <p:nvGrpSpPr>
          <p:cNvPr id="68" name="组合 67"/>
          <p:cNvGrpSpPr/>
          <p:nvPr/>
        </p:nvGrpSpPr>
        <p:grpSpPr>
          <a:xfrm>
            <a:off x="389255" y="1328420"/>
            <a:ext cx="4300855" cy="460375"/>
            <a:chOff x="613" y="2237"/>
            <a:chExt cx="6773" cy="725"/>
          </a:xfrm>
        </p:grpSpPr>
        <p:sp>
          <p:nvSpPr>
            <p:cNvPr id="273" name="Text Box 38"/>
            <p:cNvSpPr txBox="1">
              <a:spLocks noChangeArrowheads="1"/>
            </p:cNvSpPr>
            <p:nvPr>
              <p:custDataLst>
                <p:tags r:id="rId1"/>
              </p:custDataLst>
            </p:nvPr>
          </p:nvSpPr>
          <p:spPr bwMode="auto">
            <a:xfrm>
              <a:off x="613" y="2237"/>
              <a:ext cx="728"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01</a:t>
              </a:r>
              <a:endPar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sp>
          <p:nvSpPr>
            <p:cNvPr id="57" name="文本框 56"/>
            <p:cNvSpPr txBox="1"/>
            <p:nvPr/>
          </p:nvSpPr>
          <p:spPr>
            <a:xfrm>
              <a:off x="1457" y="2376"/>
              <a:ext cx="5929" cy="531"/>
            </a:xfrm>
            <a:prstGeom prst="rect">
              <a:avLst/>
            </a:prstGeom>
            <a:noFill/>
          </p:spPr>
          <p:txBody>
            <a:bodyPr wrap="square" rtlCol="0">
              <a:spAutoFit/>
            </a:bodyPr>
            <a:lstStyle/>
            <a:p>
              <a:r>
                <a:rPr lang="zh-CN" altLang="en-US" sz="1600" b="1"/>
                <a:t>假设</a:t>
              </a:r>
              <a:endParaRPr lang="zh-CN" altLang="en-US" sz="1600" b="1"/>
            </a:p>
          </p:txBody>
        </p:sp>
      </p:grpSp>
      <p:grpSp>
        <p:nvGrpSpPr>
          <p:cNvPr id="70" name="组合 69"/>
          <p:cNvGrpSpPr/>
          <p:nvPr/>
        </p:nvGrpSpPr>
        <p:grpSpPr>
          <a:xfrm>
            <a:off x="389255" y="5361940"/>
            <a:ext cx="4300855" cy="460375"/>
            <a:chOff x="613" y="7445"/>
            <a:chExt cx="6773" cy="725"/>
          </a:xfrm>
        </p:grpSpPr>
        <p:sp>
          <p:nvSpPr>
            <p:cNvPr id="67" name="Text Box 38"/>
            <p:cNvSpPr txBox="1">
              <a:spLocks noChangeArrowheads="1"/>
            </p:cNvSpPr>
            <p:nvPr>
              <p:custDataLst>
                <p:tags r:id="rId2"/>
              </p:custDataLst>
            </p:nvPr>
          </p:nvSpPr>
          <p:spPr bwMode="auto">
            <a:xfrm>
              <a:off x="613" y="7445"/>
              <a:ext cx="800"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a:t>
              </a:r>
              <a:r>
                <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3</a:t>
              </a:r>
              <a:endPar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sp>
          <p:nvSpPr>
            <p:cNvPr id="58" name="文本框 57"/>
            <p:cNvSpPr txBox="1"/>
            <p:nvPr/>
          </p:nvSpPr>
          <p:spPr>
            <a:xfrm>
              <a:off x="1457" y="7584"/>
              <a:ext cx="5929" cy="531"/>
            </a:xfrm>
            <a:prstGeom prst="rect">
              <a:avLst/>
            </a:prstGeom>
            <a:noFill/>
          </p:spPr>
          <p:txBody>
            <a:bodyPr wrap="square" rtlCol="0">
              <a:spAutoFit/>
            </a:bodyPr>
            <a:lstStyle/>
            <a:p>
              <a:r>
                <a:rPr lang="zh-CN" altLang="en-US" sz="1600" b="1"/>
                <a:t>输出</a:t>
              </a:r>
              <a:endParaRPr lang="zh-CN" altLang="en-US" sz="1600" b="1"/>
            </a:p>
          </p:txBody>
        </p:sp>
      </p:grpSp>
      <p:grpSp>
        <p:nvGrpSpPr>
          <p:cNvPr id="69" name="组合 68"/>
          <p:cNvGrpSpPr/>
          <p:nvPr/>
        </p:nvGrpSpPr>
        <p:grpSpPr>
          <a:xfrm>
            <a:off x="389255" y="2811780"/>
            <a:ext cx="4300855" cy="460375"/>
            <a:chOff x="613" y="4841"/>
            <a:chExt cx="6773" cy="725"/>
          </a:xfrm>
        </p:grpSpPr>
        <p:sp>
          <p:nvSpPr>
            <p:cNvPr id="66" name="Text Box 38"/>
            <p:cNvSpPr txBox="1">
              <a:spLocks noChangeArrowheads="1"/>
            </p:cNvSpPr>
            <p:nvPr>
              <p:custDataLst>
                <p:tags r:id="rId3"/>
              </p:custDataLst>
            </p:nvPr>
          </p:nvSpPr>
          <p:spPr bwMode="auto">
            <a:xfrm>
              <a:off x="613" y="4841"/>
              <a:ext cx="786"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a:t>
              </a:r>
              <a:r>
                <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2</a:t>
              </a:r>
              <a:endPar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sp>
          <p:nvSpPr>
            <p:cNvPr id="59" name="文本框 58"/>
            <p:cNvSpPr txBox="1"/>
            <p:nvPr/>
          </p:nvSpPr>
          <p:spPr>
            <a:xfrm>
              <a:off x="1457" y="4980"/>
              <a:ext cx="5929" cy="531"/>
            </a:xfrm>
            <a:prstGeom prst="rect">
              <a:avLst/>
            </a:prstGeom>
            <a:noFill/>
          </p:spPr>
          <p:txBody>
            <a:bodyPr wrap="square" rtlCol="0">
              <a:spAutoFit/>
            </a:bodyPr>
            <a:lstStyle/>
            <a:p>
              <a:r>
                <a:rPr lang="zh-CN" altLang="en-US" sz="1600" b="1"/>
                <a:t>实验</a:t>
              </a:r>
              <a:r>
                <a:rPr lang="zh-CN" altLang="en-US" sz="1600" b="1"/>
                <a:t>步骤</a:t>
              </a:r>
              <a:endParaRPr lang="zh-CN" altLang="en-US" sz="1600" b="1"/>
            </a:p>
          </p:txBody>
        </p:sp>
      </p:grpSp>
      <p:sp>
        <p:nvSpPr>
          <p:cNvPr id="60" name="圆角矩形 59"/>
          <p:cNvSpPr/>
          <p:nvPr/>
        </p:nvSpPr>
        <p:spPr>
          <a:xfrm>
            <a:off x="485775" y="1801495"/>
            <a:ext cx="4561840" cy="942975"/>
          </a:xfrm>
          <a:prstGeom prst="roundRect">
            <a:avLst/>
          </a:prstGeom>
          <a:solidFill>
            <a:schemeClr val="bg1"/>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1" name="圆角矩形 60"/>
          <p:cNvSpPr/>
          <p:nvPr/>
        </p:nvSpPr>
        <p:spPr>
          <a:xfrm>
            <a:off x="485775" y="3274695"/>
            <a:ext cx="4561840" cy="2072640"/>
          </a:xfrm>
          <a:prstGeom prst="roundRect">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2" name="圆角矩形 61"/>
          <p:cNvSpPr/>
          <p:nvPr/>
        </p:nvSpPr>
        <p:spPr>
          <a:xfrm>
            <a:off x="485775" y="5836920"/>
            <a:ext cx="4561840" cy="731520"/>
          </a:xfrm>
          <a:prstGeom prst="roundRect">
            <a:avLst/>
          </a:prstGeom>
          <a:solidFill>
            <a:schemeClr val="bg1"/>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9" name="文本框 88"/>
          <p:cNvSpPr txBox="1"/>
          <p:nvPr>
            <p:custDataLst>
              <p:tags r:id="rId4"/>
            </p:custDataLst>
          </p:nvPr>
        </p:nvSpPr>
        <p:spPr>
          <a:xfrm>
            <a:off x="610235" y="1813560"/>
            <a:ext cx="4284345" cy="684530"/>
          </a:xfrm>
          <a:prstGeom prst="rect">
            <a:avLst/>
          </a:prstGeom>
          <a:noFill/>
        </p:spPr>
        <p:txBody>
          <a:bodyPr wrap="square" lIns="0" tIns="0" rIns="0" bIns="0" rtlCol="0">
            <a:noAutofit/>
          </a:bodyPr>
          <a:lstStyle/>
          <a:p>
            <a:pPr marL="285750" indent="-285750" algn="l" fontAlgn="auto">
              <a:lnSpc>
                <a:spcPct val="140000"/>
              </a:lnSpc>
              <a:buFont typeface="Arial" panose="020B0604020202020204" pitchFamily="34" charset="0"/>
              <a:buChar char="•"/>
            </a:pPr>
            <a:r>
              <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rPr>
              <a:t>国家之间</a:t>
            </a:r>
            <a:r>
              <a:rPr lang="zh-CN" altLang="en-US" sz="1400" b="1" kern="0" dirty="0">
                <a:ln>
                  <a:noFill/>
                  <a:prstDash val="sysDot"/>
                </a:ln>
                <a:solidFill>
                  <a:srgbClr val="000000">
                    <a:lumMod val="85000"/>
                    <a:lumOff val="15000"/>
                  </a:srgbClr>
                </a:solidFill>
                <a:latin typeface="微软雅黑" panose="020B0503020204020204" charset="-122"/>
                <a:sym typeface="微软雅黑" panose="020B0503020204020204" charset="-122"/>
              </a:rPr>
              <a:t>只有全经济效率</a:t>
            </a:r>
            <a:r>
              <a:rPr lang="en-US" altLang="zh-CN" sz="1400" b="1" kern="0" dirty="0">
                <a:ln>
                  <a:noFill/>
                  <a:prstDash val="sysDot"/>
                </a:ln>
                <a:solidFill>
                  <a:srgbClr val="000000">
                    <a:lumMod val="85000"/>
                    <a:lumOff val="15000"/>
                  </a:srgbClr>
                </a:solidFill>
                <a:latin typeface="Times New Roman" panose="02020603050405020304" charset="0"/>
                <a:cs typeface="Times New Roman" panose="02020603050405020304" charset="0"/>
                <a:sym typeface="微软雅黑" panose="020B0503020204020204" charset="-122"/>
              </a:rPr>
              <a:t>A</a:t>
            </a:r>
            <a:r>
              <a:rPr lang="zh-CN" altLang="en-US" sz="1400" b="1" kern="0" dirty="0">
                <a:ln>
                  <a:noFill/>
                  <a:prstDash val="sysDot"/>
                </a:ln>
                <a:solidFill>
                  <a:srgbClr val="000000">
                    <a:lumMod val="85000"/>
                    <a:lumOff val="15000"/>
                  </a:srgbClr>
                </a:solidFill>
                <a:latin typeface="微软雅黑" panose="020B0503020204020204" charset="-122"/>
                <a:sym typeface="微软雅黑" panose="020B0503020204020204" charset="-122"/>
              </a:rPr>
              <a:t>不同</a:t>
            </a:r>
            <a:endParaRPr lang="en-US" altLang="zh-CN" sz="1400" kern="0" dirty="0">
              <a:ln>
                <a:noFill/>
                <a:prstDash val="sysDot"/>
              </a:ln>
              <a:solidFill>
                <a:srgbClr val="000000">
                  <a:lumMod val="85000"/>
                  <a:lumOff val="15000"/>
                </a:srgbClr>
              </a:solidFill>
              <a:latin typeface="微软雅黑" panose="020B0503020204020204" charset="-122"/>
              <a:sym typeface="微软雅黑" panose="020B0503020204020204" charset="-122"/>
            </a:endParaRPr>
          </a:p>
          <a:p>
            <a:pPr marL="285750" indent="-285750" algn="l" fontAlgn="auto">
              <a:lnSpc>
                <a:spcPct val="140000"/>
              </a:lnSpc>
              <a:buFont typeface="Arial" panose="020B0604020202020204" pitchFamily="34" charset="0"/>
              <a:buChar char="•"/>
            </a:pPr>
            <a:r>
              <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rPr>
              <a:t>偏好参数、个体生产率分布完全相同</a:t>
            </a:r>
            <a:endPar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endParaRPr>
          </a:p>
          <a:p>
            <a:pPr marL="285750" indent="-285750" algn="l" fontAlgn="auto">
              <a:lnSpc>
                <a:spcPct val="140000"/>
              </a:lnSpc>
              <a:buFont typeface="Arial" panose="020B0604020202020204" pitchFamily="34" charset="0"/>
              <a:buChar char="•"/>
            </a:pPr>
            <a:r>
              <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rPr>
              <a:t>工人根据比较优势自选择部门（内生）</a:t>
            </a:r>
            <a:endPar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endParaRPr>
          </a:p>
        </p:txBody>
      </p:sp>
      <p:sp>
        <p:nvSpPr>
          <p:cNvPr id="63" name="文本框 62"/>
          <p:cNvSpPr txBox="1"/>
          <p:nvPr>
            <p:custDataLst>
              <p:tags r:id="rId5"/>
            </p:custDataLst>
          </p:nvPr>
        </p:nvSpPr>
        <p:spPr>
          <a:xfrm>
            <a:off x="612775" y="3333115"/>
            <a:ext cx="4281805" cy="1764665"/>
          </a:xfrm>
          <a:prstGeom prst="rect">
            <a:avLst/>
          </a:prstGeom>
          <a:noFill/>
        </p:spPr>
        <p:txBody>
          <a:bodyPr wrap="square" lIns="0" tIns="0" rIns="0" bIns="0" rtlCol="0">
            <a:noAutofit/>
          </a:bodyPr>
          <a:lstStyle/>
          <a:p>
            <a:pPr indent="0" algn="l" fontAlgn="auto">
              <a:lnSpc>
                <a:spcPct val="150000"/>
              </a:lnSpc>
            </a:pPr>
            <a:r>
              <a:rPr lang="en-US" altLang="zh-CN" sz="1400" kern="0" dirty="0">
                <a:ln>
                  <a:noFill/>
                  <a:prstDash val="sysDot"/>
                </a:ln>
                <a:solidFill>
                  <a:schemeClr val="bg1"/>
                </a:solidFill>
                <a:uFillTx/>
                <a:latin typeface="Times New Roman" panose="02020603050405020304" charset="0"/>
                <a:sym typeface="+mn-ea"/>
              </a:rPr>
              <a:t>1.</a:t>
            </a:r>
            <a:r>
              <a:rPr lang="zh-CN" altLang="en-US" sz="1400" kern="0" dirty="0">
                <a:ln>
                  <a:noFill/>
                  <a:prstDash val="sysDot"/>
                </a:ln>
                <a:solidFill>
                  <a:schemeClr val="bg1"/>
                </a:solidFill>
                <a:uFillTx/>
                <a:latin typeface="Times New Roman" panose="02020603050405020304" charset="0"/>
                <a:sym typeface="+mn-ea"/>
              </a:rPr>
              <a:t>基准：美国 </a:t>
            </a:r>
            <a:r>
              <a:rPr lang="en-US" altLang="zh-CN" sz="1400" kern="0" dirty="0">
                <a:ln>
                  <a:noFill/>
                  <a:prstDash val="sysDot"/>
                </a:ln>
                <a:solidFill>
                  <a:schemeClr val="bg1"/>
                </a:solidFill>
                <a:uFillTx/>
                <a:latin typeface="Times New Roman" panose="02020603050405020304" charset="0"/>
                <a:sym typeface="+mn-ea"/>
              </a:rPr>
              <a:t>A=1，</a:t>
            </a:r>
            <a:r>
              <a:rPr lang="zh-CN" altLang="en-US" sz="1400" kern="0" dirty="0">
                <a:ln>
                  <a:noFill/>
                  <a:prstDash val="sysDot"/>
                </a:ln>
                <a:solidFill>
                  <a:schemeClr val="bg1"/>
                </a:solidFill>
                <a:uFillTx/>
                <a:latin typeface="Times New Roman" panose="02020603050405020304" charset="0"/>
                <a:sym typeface="+mn-ea"/>
              </a:rPr>
              <a:t>参数由美国数据校准</a:t>
            </a:r>
            <a:endParaRPr lang="zh-CN" altLang="en-US" sz="1400" kern="0" dirty="0">
              <a:ln>
                <a:noFill/>
                <a:prstDash val="sysDot"/>
              </a:ln>
              <a:solidFill>
                <a:schemeClr val="bg1"/>
              </a:solidFill>
              <a:uFillTx/>
              <a:latin typeface="Times New Roman" panose="02020603050405020304" charset="0"/>
              <a:sym typeface="+mn-ea"/>
            </a:endParaRPr>
          </a:p>
          <a:p>
            <a:pPr indent="0" algn="l" fontAlgn="auto">
              <a:lnSpc>
                <a:spcPct val="150000"/>
              </a:lnSpc>
            </a:pPr>
            <a:r>
              <a:rPr lang="en-US" altLang="zh-CN" sz="1400" kern="0" dirty="0">
                <a:ln>
                  <a:noFill/>
                  <a:prstDash val="sysDot"/>
                </a:ln>
                <a:solidFill>
                  <a:schemeClr val="bg1"/>
                </a:solidFill>
                <a:uFillTx/>
                <a:latin typeface="Times New Roman" panose="02020603050405020304" charset="0"/>
                <a:sym typeface="+mn-ea"/>
              </a:rPr>
              <a:t>2.</a:t>
            </a:r>
            <a:r>
              <a:rPr lang="zh-CN" altLang="en-US" sz="1400" kern="0" dirty="0">
                <a:ln>
                  <a:noFill/>
                  <a:prstDash val="sysDot"/>
                </a:ln>
                <a:solidFill>
                  <a:schemeClr val="bg1"/>
                </a:solidFill>
                <a:uFillTx/>
                <a:latin typeface="Times New Roman" panose="02020603050405020304" charset="0"/>
                <a:sym typeface="+mn-ea"/>
              </a:rPr>
              <a:t>富国：调整 </a:t>
            </a:r>
            <a:r>
              <a:rPr lang="en-US" altLang="zh-CN" sz="1400" kern="0" dirty="0">
                <a:ln>
                  <a:noFill/>
                  <a:prstDash val="sysDot"/>
                </a:ln>
                <a:solidFill>
                  <a:schemeClr val="bg1"/>
                </a:solidFill>
                <a:uFillTx/>
                <a:latin typeface="Times New Roman" panose="02020603050405020304" charset="0"/>
                <a:sym typeface="+mn-ea"/>
              </a:rPr>
              <a:t>A，</a:t>
            </a:r>
            <a:r>
              <a:rPr lang="zh-CN" altLang="en-US" sz="1400" kern="0" dirty="0">
                <a:ln>
                  <a:noFill/>
                  <a:prstDash val="sysDot"/>
                </a:ln>
                <a:solidFill>
                  <a:schemeClr val="bg1"/>
                </a:solidFill>
                <a:uFillTx/>
                <a:latin typeface="Times New Roman" panose="02020603050405020304" charset="0"/>
                <a:sym typeface="+mn-ea"/>
              </a:rPr>
              <a:t>匹配90分位国家人均</a:t>
            </a:r>
            <a:r>
              <a:rPr lang="en-US" altLang="zh-CN" sz="1400" kern="0" dirty="0">
                <a:ln>
                  <a:noFill/>
                  <a:prstDash val="sysDot"/>
                </a:ln>
                <a:solidFill>
                  <a:schemeClr val="bg1"/>
                </a:solidFill>
                <a:uFillTx/>
                <a:latin typeface="Times New Roman" panose="02020603050405020304" charset="0"/>
                <a:sym typeface="+mn-ea"/>
              </a:rPr>
              <a:t>GDP</a:t>
            </a:r>
            <a:endParaRPr lang="en-US" altLang="zh-CN" sz="1400" kern="0" dirty="0">
              <a:ln>
                <a:noFill/>
                <a:prstDash val="sysDot"/>
              </a:ln>
              <a:solidFill>
                <a:schemeClr val="bg1"/>
              </a:solidFill>
              <a:uFillTx/>
              <a:latin typeface="Times New Roman" panose="02020603050405020304" charset="0"/>
              <a:sym typeface="+mn-ea"/>
            </a:endParaRPr>
          </a:p>
          <a:p>
            <a:pPr indent="0" algn="l" fontAlgn="auto">
              <a:lnSpc>
                <a:spcPct val="150000"/>
              </a:lnSpc>
            </a:pPr>
            <a:r>
              <a:rPr lang="en-US" altLang="zh-CN" sz="1400" kern="0" dirty="0">
                <a:ln>
                  <a:noFill/>
                  <a:prstDash val="sysDot"/>
                </a:ln>
                <a:solidFill>
                  <a:schemeClr val="bg1"/>
                </a:solidFill>
                <a:uFillTx/>
                <a:latin typeface="Times New Roman" panose="02020603050405020304" charset="0"/>
                <a:sym typeface="+mn-ea"/>
              </a:rPr>
              <a:t>3.</a:t>
            </a:r>
            <a:r>
              <a:rPr lang="zh-CN" altLang="en-US" sz="1400" kern="0" dirty="0">
                <a:ln>
                  <a:noFill/>
                  <a:prstDash val="sysDot"/>
                </a:ln>
                <a:solidFill>
                  <a:schemeClr val="bg1"/>
                </a:solidFill>
                <a:uFillTx/>
                <a:latin typeface="Times New Roman" panose="02020603050405020304" charset="0"/>
                <a:sym typeface="+mn-ea"/>
              </a:rPr>
              <a:t>穷国：调整 </a:t>
            </a:r>
            <a:r>
              <a:rPr lang="en-US" altLang="zh-CN" sz="1400" kern="0" dirty="0">
                <a:ln>
                  <a:noFill/>
                  <a:prstDash val="sysDot"/>
                </a:ln>
                <a:solidFill>
                  <a:schemeClr val="bg1"/>
                </a:solidFill>
                <a:uFillTx/>
                <a:latin typeface="Times New Roman" panose="02020603050405020304" charset="0"/>
                <a:sym typeface="+mn-ea"/>
              </a:rPr>
              <a:t>A，</a:t>
            </a:r>
            <a:r>
              <a:rPr lang="zh-CN" altLang="en-US" sz="1400" kern="0" dirty="0">
                <a:ln>
                  <a:noFill/>
                  <a:prstDash val="sysDot"/>
                </a:ln>
                <a:solidFill>
                  <a:schemeClr val="bg1"/>
                </a:solidFill>
                <a:uFillTx/>
                <a:latin typeface="Times New Roman" panose="02020603050405020304" charset="0"/>
                <a:sym typeface="+mn-ea"/>
              </a:rPr>
              <a:t>匹配10分位国家人均</a:t>
            </a:r>
            <a:r>
              <a:rPr lang="en-US" altLang="zh-CN" sz="1400" kern="0" dirty="0">
                <a:ln>
                  <a:noFill/>
                  <a:prstDash val="sysDot"/>
                </a:ln>
                <a:solidFill>
                  <a:schemeClr val="bg1"/>
                </a:solidFill>
                <a:uFillTx/>
                <a:latin typeface="Times New Roman" panose="02020603050405020304" charset="0"/>
                <a:sym typeface="+mn-ea"/>
              </a:rPr>
              <a:t>GDP</a:t>
            </a:r>
            <a:endParaRPr lang="en-US" altLang="zh-CN" sz="1400" kern="0" dirty="0">
              <a:ln>
                <a:noFill/>
                <a:prstDash val="sysDot"/>
              </a:ln>
              <a:solidFill>
                <a:schemeClr val="bg1"/>
              </a:solidFill>
              <a:uFillTx/>
              <a:latin typeface="Times New Roman" panose="02020603050405020304" charset="0"/>
              <a:sym typeface="+mn-ea"/>
            </a:endParaRPr>
          </a:p>
          <a:p>
            <a:pPr indent="0" algn="l" fontAlgn="auto">
              <a:lnSpc>
                <a:spcPct val="150000"/>
              </a:lnSpc>
            </a:pPr>
            <a:r>
              <a:rPr lang="en-US" altLang="zh-CN" sz="1400" kern="0" dirty="0">
                <a:ln>
                  <a:noFill/>
                  <a:prstDash val="sysDot"/>
                </a:ln>
                <a:solidFill>
                  <a:schemeClr val="bg1"/>
                </a:solidFill>
                <a:uFillTx/>
                <a:latin typeface="Times New Roman" panose="02020603050405020304" charset="0"/>
                <a:sym typeface="+mn-ea"/>
              </a:rPr>
              <a:t>4.</a:t>
            </a:r>
            <a:r>
              <a:rPr lang="zh-CN" altLang="en-US" sz="1400" kern="0" dirty="0">
                <a:ln>
                  <a:noFill/>
                  <a:prstDash val="sysDot"/>
                </a:ln>
                <a:solidFill>
                  <a:schemeClr val="bg1"/>
                </a:solidFill>
                <a:uFillTx/>
                <a:latin typeface="Times New Roman" panose="02020603050405020304" charset="0"/>
                <a:sym typeface="+mn-ea"/>
              </a:rPr>
              <a:t>使模型总</a:t>
            </a:r>
            <a:r>
              <a:rPr lang="en-US" altLang="zh-CN" sz="1400" kern="0" dirty="0">
                <a:ln>
                  <a:noFill/>
                  <a:prstDash val="sysDot"/>
                </a:ln>
                <a:solidFill>
                  <a:schemeClr val="bg1"/>
                </a:solidFill>
                <a:uFillTx/>
                <a:latin typeface="Times New Roman" panose="02020603050405020304" charset="0"/>
                <a:sym typeface="+mn-ea"/>
              </a:rPr>
              <a:t>GDP</a:t>
            </a:r>
            <a:r>
              <a:rPr lang="zh-CN" altLang="en-US" sz="1400" kern="0" dirty="0">
                <a:ln>
                  <a:noFill/>
                  <a:prstDash val="sysDot"/>
                </a:ln>
                <a:solidFill>
                  <a:schemeClr val="bg1"/>
                </a:solidFill>
                <a:uFillTx/>
                <a:latin typeface="Times New Roman" panose="02020603050405020304" charset="0"/>
                <a:sym typeface="+mn-ea"/>
              </a:rPr>
              <a:t>的90–10比值 = 22倍（与数据一致）</a:t>
            </a:r>
            <a:endParaRPr lang="en-US" altLang="zh-CN" sz="1400" kern="0" dirty="0">
              <a:ln>
                <a:noFill/>
                <a:prstDash val="sysDot"/>
              </a:ln>
              <a:solidFill>
                <a:schemeClr val="bg1"/>
              </a:solidFill>
              <a:uFillTx/>
              <a:latin typeface="Times New Roman" panose="02020603050405020304" charset="0"/>
              <a:sym typeface="+mn-ea"/>
            </a:endParaRPr>
          </a:p>
          <a:p>
            <a:pPr indent="0" algn="l" fontAlgn="auto">
              <a:lnSpc>
                <a:spcPct val="150000"/>
              </a:lnSpc>
            </a:pPr>
            <a:r>
              <a:rPr lang="en-US" altLang="zh-CN" sz="1400" kern="0" dirty="0">
                <a:ln>
                  <a:noFill/>
                  <a:prstDash val="sysDot"/>
                </a:ln>
                <a:solidFill>
                  <a:schemeClr val="bg1"/>
                </a:solidFill>
                <a:uFillTx/>
                <a:latin typeface="Times New Roman" panose="02020603050405020304" charset="0"/>
                <a:sym typeface="+mn-ea"/>
              </a:rPr>
              <a:t>5.</a:t>
            </a:r>
            <a:r>
              <a:rPr lang="zh-CN" altLang="en-US" sz="1400" kern="0" dirty="0">
                <a:ln>
                  <a:noFill/>
                  <a:prstDash val="sysDot"/>
                </a:ln>
                <a:solidFill>
                  <a:schemeClr val="bg1"/>
                </a:solidFill>
                <a:uFillTx/>
                <a:latin typeface="Times New Roman" panose="02020603050405020304" charset="0"/>
                <a:sym typeface="+mn-ea"/>
              </a:rPr>
              <a:t>计算模型预测的农业、非农业生产率差异</a:t>
            </a:r>
            <a:endParaRPr lang="en-US" altLang="zh-CN" sz="1400" kern="0" dirty="0">
              <a:ln>
                <a:noFill/>
                <a:prstDash val="sysDot"/>
              </a:ln>
              <a:solidFill>
                <a:schemeClr val="bg1"/>
              </a:solidFill>
              <a:uFillTx/>
              <a:latin typeface="Times New Roman" panose="02020603050405020304" charset="0"/>
              <a:sym typeface="+mn-ea"/>
            </a:endParaRPr>
          </a:p>
          <a:p>
            <a:pPr indent="0" algn="l" fontAlgn="auto">
              <a:lnSpc>
                <a:spcPct val="150000"/>
              </a:lnSpc>
            </a:pPr>
            <a:r>
              <a:rPr lang="en-US" altLang="zh-CN" sz="1400" kern="0" dirty="0">
                <a:ln>
                  <a:noFill/>
                  <a:prstDash val="sysDot"/>
                </a:ln>
                <a:solidFill>
                  <a:schemeClr val="bg1"/>
                </a:solidFill>
                <a:uFillTx/>
                <a:latin typeface="Times New Roman" panose="02020603050405020304" charset="0"/>
                <a:sym typeface="+mn-ea"/>
              </a:rPr>
              <a:t>6.</a:t>
            </a:r>
            <a:r>
              <a:rPr lang="zh-CN" altLang="en-US" sz="1400" kern="0" dirty="0">
                <a:ln>
                  <a:noFill/>
                  <a:prstDash val="sysDot"/>
                </a:ln>
                <a:solidFill>
                  <a:schemeClr val="bg1"/>
                </a:solidFill>
                <a:uFillTx/>
                <a:latin typeface="Times New Roman" panose="02020603050405020304" charset="0"/>
                <a:sym typeface="+mn-ea"/>
              </a:rPr>
              <a:t>反事实：关闭工人异质性（无选择），重复上述步骤</a:t>
            </a:r>
            <a:endParaRPr lang="zh-CN" altLang="en-US" sz="1400" kern="0" dirty="0">
              <a:ln>
                <a:noFill/>
                <a:prstDash val="sysDot"/>
              </a:ln>
              <a:solidFill>
                <a:schemeClr val="bg1"/>
              </a:solidFill>
              <a:uFillTx/>
              <a:latin typeface="Times New Roman" panose="02020603050405020304" charset="0"/>
              <a:sym typeface="+mn-ea"/>
            </a:endParaRPr>
          </a:p>
        </p:txBody>
      </p:sp>
      <p:sp>
        <p:nvSpPr>
          <p:cNvPr id="64" name="文本框 63"/>
          <p:cNvSpPr txBox="1"/>
          <p:nvPr>
            <p:custDataLst>
              <p:tags r:id="rId6"/>
            </p:custDataLst>
          </p:nvPr>
        </p:nvSpPr>
        <p:spPr>
          <a:xfrm>
            <a:off x="610235" y="5873115"/>
            <a:ext cx="4284345" cy="684530"/>
          </a:xfrm>
          <a:prstGeom prst="rect">
            <a:avLst/>
          </a:prstGeom>
          <a:noFill/>
        </p:spPr>
        <p:txBody>
          <a:bodyPr wrap="square" lIns="0" tIns="0" rIns="0" bIns="0" rtlCol="0">
            <a:noAutofit/>
          </a:bodyPr>
          <a:lstStyle/>
          <a:p>
            <a:pPr marL="285750" indent="-285750" algn="l" fontAlgn="auto">
              <a:lnSpc>
                <a:spcPct val="140000"/>
              </a:lnSpc>
              <a:buFont typeface="Arial" panose="020B0604020202020204" pitchFamily="34" charset="0"/>
              <a:buChar char="•"/>
            </a:pP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有选择 </a:t>
            </a:r>
            <a:r>
              <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vs </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无选择，农业/非农业差异比</a:t>
            </a:r>
            <a:endPar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a:p>
            <a:pPr marL="285750" indent="-285750" algn="l" fontAlgn="auto">
              <a:lnSpc>
                <a:spcPct val="140000"/>
              </a:lnSpc>
              <a:buFont typeface="Arial" panose="020B0604020202020204" pitchFamily="34" charset="0"/>
              <a:buChar char="•"/>
            </a:pP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对比数据（45倍 </a:t>
            </a:r>
            <a:r>
              <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vs 4</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倍，比值10.7）</a:t>
            </a:r>
            <a:endPar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a:p>
            <a:pPr marL="285750" indent="-285750" algn="l" fontAlgn="auto">
              <a:lnSpc>
                <a:spcPct val="140000"/>
              </a:lnSpc>
              <a:buFont typeface="Arial" panose="020B0604020202020204" pitchFamily="34" charset="0"/>
              <a:buChar char="•"/>
            </a:pPr>
            <a:endPar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a:p>
            <a:pPr indent="0" algn="l" fontAlgn="auto">
              <a:lnSpc>
                <a:spcPct val="140000"/>
              </a:lnSpc>
            </a:pPr>
            <a:endPar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p:txBody>
      </p:sp>
      <p:sp>
        <p:nvSpPr>
          <p:cNvPr id="65" name="矩形 64"/>
          <p:cNvSpPr/>
          <p:nvPr/>
        </p:nvSpPr>
        <p:spPr>
          <a:xfrm>
            <a:off x="5247005" y="895350"/>
            <a:ext cx="6603365" cy="5728335"/>
          </a:xfrm>
          <a:prstGeom prst="rect">
            <a:avLst/>
          </a:prstGeom>
          <a:noFill/>
          <a:ln>
            <a:solidFill>
              <a:schemeClr val="accent6"/>
            </a:solidFill>
            <a:prstDash val="sys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1" name="文本框 70"/>
          <p:cNvSpPr txBox="1"/>
          <p:nvPr/>
        </p:nvSpPr>
        <p:spPr>
          <a:xfrm>
            <a:off x="7992110" y="3613150"/>
            <a:ext cx="1149985" cy="306705"/>
          </a:xfrm>
          <a:prstGeom prst="rect">
            <a:avLst/>
          </a:prstGeom>
          <a:noFill/>
        </p:spPr>
        <p:txBody>
          <a:bodyPr wrap="square" rtlCol="0">
            <a:spAutoFit/>
          </a:bodyPr>
          <a:p>
            <a:r>
              <a:rPr lang="zh-CN" altLang="en-US" sz="1400" b="1"/>
              <a:t>解一般均衡</a:t>
            </a:r>
            <a:endParaRPr lang="zh-CN" altLang="en-US" sz="14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1087120" y="1420495"/>
            <a:ext cx="10119995" cy="2776220"/>
          </a:xfrm>
          <a:prstGeom prst="rect">
            <a:avLst/>
          </a:prstGeom>
          <a:noFill/>
          <a:ln w="22225">
            <a:solidFill>
              <a:schemeClr val="accent6"/>
            </a:solidFill>
            <a:prstDash val="lg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框 7"/>
          <p:cNvSpPr txBox="1"/>
          <p:nvPr/>
        </p:nvSpPr>
        <p:spPr>
          <a:xfrm>
            <a:off x="803910" y="914400"/>
            <a:ext cx="5292090" cy="368300"/>
          </a:xfrm>
          <a:prstGeom prst="rect">
            <a:avLst/>
          </a:prstGeom>
          <a:noFill/>
        </p:spPr>
        <p:txBody>
          <a:bodyPr wrap="square" rtlCol="0">
            <a:spAutoFit/>
          </a:bodyPr>
          <a:lstStyle/>
          <a:p>
            <a:r>
              <a:rPr lang="zh-CN" altLang="en-US" b="1"/>
              <a:t>基准模型结果</a:t>
            </a:r>
            <a:r>
              <a:rPr lang="en-US" altLang="zh-CN" b="1"/>
              <a:t>——</a:t>
            </a:r>
            <a:r>
              <a:rPr lang="zh-CN" altLang="en-US" sz="1600" b="1"/>
              <a:t>选择机制放大了农业生产率</a:t>
            </a:r>
            <a:r>
              <a:rPr lang="zh-CN" altLang="en-US" sz="1600" b="1"/>
              <a:t>差异</a:t>
            </a:r>
            <a:endParaRPr lang="zh-CN" altLang="en-US" sz="1600" b="1"/>
          </a:p>
        </p:txBody>
      </p:sp>
      <p:sp>
        <p:nvSpPr>
          <p:cNvPr id="9" name="椭圆 8"/>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1"/>
          <a:srcRect r="894" b="16532"/>
          <a:stretch>
            <a:fillRect/>
          </a:stretch>
        </p:blipFill>
        <p:spPr>
          <a:xfrm>
            <a:off x="1610995" y="1539240"/>
            <a:ext cx="8827770" cy="2549525"/>
          </a:xfrm>
          <a:prstGeom prst="rect">
            <a:avLst/>
          </a:prstGeom>
        </p:spPr>
      </p:pic>
      <p:sp>
        <p:nvSpPr>
          <p:cNvPr id="11" name="文本框 10"/>
          <p:cNvSpPr txBox="1"/>
          <p:nvPr/>
        </p:nvSpPr>
        <p:spPr>
          <a:xfrm>
            <a:off x="1020445" y="4265295"/>
            <a:ext cx="10200005" cy="1568450"/>
          </a:xfrm>
          <a:prstGeom prst="rect">
            <a:avLst/>
          </a:prstGeom>
          <a:noFill/>
        </p:spPr>
        <p:txBody>
          <a:bodyPr wrap="square" rtlCol="0">
            <a:spAutoFit/>
          </a:bodyPr>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真实数据：</a:t>
            </a:r>
            <a:r>
              <a:rPr lang="zh-CN" altLang="en-US" sz="1600">
                <a:solidFill>
                  <a:schemeClr val="tx1"/>
                </a:solidFill>
                <a:uFillTx/>
                <a:latin typeface="Times New Roman" panose="02020603050405020304" charset="0"/>
              </a:rPr>
              <a:t>农业跨国差异</a:t>
            </a:r>
            <a:r>
              <a:rPr lang="zh-CN" altLang="en-US" sz="1600" b="1">
                <a:solidFill>
                  <a:schemeClr val="tx1"/>
                </a:solidFill>
                <a:uFillTx/>
                <a:latin typeface="Times New Roman" panose="02020603050405020304" charset="0"/>
              </a:rPr>
              <a:t>（45倍）</a:t>
            </a:r>
            <a:r>
              <a:rPr lang="zh-CN" altLang="en-US" sz="1600">
                <a:solidFill>
                  <a:schemeClr val="tx1"/>
                </a:solidFill>
                <a:uFillTx/>
                <a:latin typeface="Times New Roman" panose="02020603050405020304" charset="0"/>
              </a:rPr>
              <a:t>远大于非农业</a:t>
            </a:r>
            <a:r>
              <a:rPr lang="zh-CN" altLang="en-US" sz="1600" b="1">
                <a:solidFill>
                  <a:schemeClr val="tx1"/>
                </a:solidFill>
                <a:uFillTx/>
                <a:latin typeface="Times New Roman" panose="02020603050405020304" charset="0"/>
              </a:rPr>
              <a:t>（4倍）</a:t>
            </a:r>
            <a:r>
              <a:rPr lang="zh-CN" altLang="en-US" sz="1600">
                <a:solidFill>
                  <a:schemeClr val="tx1"/>
                </a:solidFill>
                <a:uFillTx/>
                <a:latin typeface="Times New Roman" panose="02020603050405020304" charset="0"/>
              </a:rPr>
              <a:t>，比值 </a:t>
            </a:r>
            <a:r>
              <a:rPr lang="zh-CN" altLang="en-US" sz="1600" b="1">
                <a:solidFill>
                  <a:schemeClr val="tx1"/>
                </a:solidFill>
                <a:uFillTx/>
                <a:latin typeface="Times New Roman" panose="02020603050405020304" charset="0"/>
              </a:rPr>
              <a:t>10.7</a:t>
            </a:r>
            <a:r>
              <a:rPr lang="zh-CN" altLang="en-US" sz="1600">
                <a:solidFill>
                  <a:schemeClr val="tx1"/>
                </a:solidFill>
                <a:uFillTx/>
                <a:latin typeface="Times New Roman" panose="02020603050405020304" charset="0"/>
              </a:rPr>
              <a:t>。</a:t>
            </a:r>
            <a:endParaRPr lang="en-US" altLang="zh-CN" sz="1600">
              <a:solidFill>
                <a:schemeClr val="tx1"/>
              </a:solidFill>
              <a:uFillTx/>
              <a:latin typeface="Times New Roman" panose="02020603050405020304" charset="0"/>
            </a:endParaRPr>
          </a:p>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模型预测：</a:t>
            </a:r>
            <a:r>
              <a:rPr lang="zh-CN" altLang="en-US" sz="1600">
                <a:solidFill>
                  <a:schemeClr val="tx1"/>
                </a:solidFill>
                <a:uFillTx/>
                <a:latin typeface="Times New Roman" panose="02020603050405020304" charset="0"/>
              </a:rPr>
              <a:t>仅靠全经济效率</a:t>
            </a:r>
            <a:r>
              <a:rPr lang="en-US" altLang="zh-CN" sz="1600">
                <a:solidFill>
                  <a:schemeClr val="tx1"/>
                </a:solidFill>
                <a:uFillTx/>
                <a:latin typeface="Times New Roman" panose="02020603050405020304" charset="0"/>
              </a:rPr>
              <a:t> </a:t>
            </a:r>
            <a:r>
              <a:rPr lang="zh-CN" altLang="en-US" sz="1600">
                <a:solidFill>
                  <a:schemeClr val="tx1"/>
                </a:solidFill>
                <a:uFillTx/>
                <a:latin typeface="Times New Roman" panose="02020603050405020304" charset="0"/>
              </a:rPr>
              <a:t>𝐴的差异，选择机制使</a:t>
            </a:r>
            <a:r>
              <a:rPr lang="zh-CN" altLang="en-US" sz="1600" b="1">
                <a:solidFill>
                  <a:schemeClr val="tx1"/>
                </a:solidFill>
                <a:uFillTx/>
                <a:latin typeface="Times New Roman" panose="02020603050405020304" charset="0"/>
              </a:rPr>
              <a:t>农业差异达 32倍</a:t>
            </a:r>
            <a:r>
              <a:rPr lang="zh-CN" altLang="en-US" sz="1600">
                <a:solidFill>
                  <a:schemeClr val="tx1"/>
                </a:solidFill>
                <a:uFillTx/>
                <a:latin typeface="Times New Roman" panose="02020603050405020304" charset="0"/>
              </a:rPr>
              <a:t>，</a:t>
            </a:r>
            <a:r>
              <a:rPr lang="zh-CN" altLang="en-US" sz="1600" b="1">
                <a:solidFill>
                  <a:schemeClr val="tx1"/>
                </a:solidFill>
                <a:uFillTx/>
                <a:latin typeface="Times New Roman" panose="02020603050405020304" charset="0"/>
              </a:rPr>
              <a:t>非农业 14倍</a:t>
            </a:r>
            <a:r>
              <a:rPr lang="zh-CN" altLang="en-US" sz="1600">
                <a:solidFill>
                  <a:schemeClr val="tx1"/>
                </a:solidFill>
                <a:uFillTx/>
                <a:latin typeface="Times New Roman" panose="02020603050405020304" charset="0"/>
              </a:rPr>
              <a:t>，比值</a:t>
            </a:r>
            <a:r>
              <a:rPr lang="zh-CN" altLang="en-US" sz="1600" b="1">
                <a:solidFill>
                  <a:schemeClr val="tx1"/>
                </a:solidFill>
                <a:uFillTx/>
                <a:latin typeface="Times New Roman" panose="02020603050405020304" charset="0"/>
              </a:rPr>
              <a:t> 2.3</a:t>
            </a:r>
            <a:r>
              <a:rPr lang="zh-CN" altLang="en-US" sz="1600">
                <a:solidFill>
                  <a:schemeClr val="tx1"/>
                </a:solidFill>
                <a:uFillTx/>
                <a:latin typeface="Times New Roman" panose="02020603050405020304" charset="0"/>
              </a:rPr>
              <a:t>。</a:t>
            </a:r>
            <a:endParaRPr lang="en-US" altLang="zh-CN" sz="1600">
              <a:solidFill>
                <a:schemeClr val="tx1"/>
              </a:solidFill>
              <a:uFillTx/>
              <a:latin typeface="Times New Roman" panose="02020603050405020304" charset="0"/>
            </a:endParaRPr>
          </a:p>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关闭选择：</a:t>
            </a:r>
            <a:r>
              <a:rPr lang="zh-CN" altLang="en-US" sz="1600">
                <a:solidFill>
                  <a:schemeClr val="tx1"/>
                </a:solidFill>
                <a:uFillTx/>
                <a:latin typeface="Times New Roman" panose="02020603050405020304" charset="0"/>
              </a:rPr>
              <a:t>工人同质</a:t>
            </a:r>
            <a:r>
              <a:rPr lang="zh-CN" altLang="en-US" sz="1600" b="1">
                <a:solidFill>
                  <a:schemeClr val="tx1"/>
                </a:solidFill>
                <a:uFillTx/>
                <a:latin typeface="Times New Roman" panose="02020603050405020304" charset="0"/>
              </a:rPr>
              <a:t>（所有工人生产率相同，没有自选择）</a:t>
            </a:r>
            <a:r>
              <a:rPr lang="zh-CN" altLang="en-US" sz="1600">
                <a:solidFill>
                  <a:schemeClr val="tx1"/>
                </a:solidFill>
                <a:uFillTx/>
                <a:latin typeface="Times New Roman" panose="02020603050405020304" charset="0"/>
              </a:rPr>
              <a:t>时，</a:t>
            </a:r>
            <a:r>
              <a:rPr lang="zh-CN" altLang="en-US" sz="1600" b="1">
                <a:solidFill>
                  <a:schemeClr val="tx1"/>
                </a:solidFill>
                <a:uFillTx/>
                <a:latin typeface="Times New Roman" panose="02020603050405020304" charset="0"/>
              </a:rPr>
              <a:t>农业=非农业=20倍，</a:t>
            </a:r>
            <a:r>
              <a:rPr lang="zh-CN" altLang="en-US" sz="1600">
                <a:solidFill>
                  <a:schemeClr val="tx1"/>
                </a:solidFill>
                <a:uFillTx/>
                <a:latin typeface="Times New Roman" panose="02020603050405020304" charset="0"/>
              </a:rPr>
              <a:t>比值</a:t>
            </a:r>
            <a:r>
              <a:rPr lang="zh-CN" altLang="en-US" sz="1600" b="1">
                <a:solidFill>
                  <a:schemeClr val="tx1"/>
                </a:solidFill>
                <a:uFillTx/>
                <a:latin typeface="Times New Roman" panose="02020603050405020304" charset="0"/>
              </a:rPr>
              <a:t> 1.0</a:t>
            </a:r>
            <a:r>
              <a:rPr lang="zh-CN" altLang="en-US" sz="1600">
                <a:solidFill>
                  <a:schemeClr val="tx1"/>
                </a:solidFill>
                <a:uFillTx/>
                <a:latin typeface="Times New Roman" panose="02020603050405020304" charset="0"/>
              </a:rPr>
              <a:t>。说明没有选择机制，部门差异与总差异完全相同。</a:t>
            </a:r>
            <a:endParaRPr lang="zh-CN" altLang="en-US" sz="1600">
              <a:solidFill>
                <a:schemeClr val="tx1"/>
              </a:solidFill>
              <a:uFillTx/>
              <a:latin typeface="Times New Roman" panose="02020603050405020304" charset="0"/>
            </a:endParaRPr>
          </a:p>
        </p:txBody>
      </p:sp>
      <p:sp>
        <p:nvSpPr>
          <p:cNvPr id="12" name="圆角矩形 97"/>
          <p:cNvSpPr/>
          <p:nvPr>
            <p:custDataLst>
              <p:tags r:id="rId2"/>
            </p:custDataLst>
          </p:nvPr>
        </p:nvSpPr>
        <p:spPr>
          <a:xfrm>
            <a:off x="358775" y="5955572"/>
            <a:ext cx="11478260" cy="560705"/>
          </a:xfrm>
          <a:prstGeom prst="roundRect">
            <a:avLst>
              <a:gd name="adj" fmla="val 4544"/>
            </a:avLst>
          </a:prstGeom>
          <a:noFill/>
          <a:ln w="25400">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solidFill>
                <a:schemeClr val="bg1"/>
              </a:solidFill>
            </a:endParaRPr>
          </a:p>
        </p:txBody>
      </p:sp>
      <p:sp>
        <p:nvSpPr>
          <p:cNvPr id="13" name="文本框 12"/>
          <p:cNvSpPr txBox="1"/>
          <p:nvPr/>
        </p:nvSpPr>
        <p:spPr>
          <a:xfrm>
            <a:off x="626110" y="6088380"/>
            <a:ext cx="11199495" cy="337185"/>
          </a:xfrm>
          <a:prstGeom prst="rect">
            <a:avLst/>
          </a:prstGeom>
          <a:noFill/>
        </p:spPr>
        <p:txBody>
          <a:bodyPr wrap="square" rtlCol="0">
            <a:spAutoFit/>
          </a:bodyPr>
          <a:p>
            <a:r>
              <a:rPr lang="zh-CN" altLang="en-US" sz="1600" b="1">
                <a:solidFill>
                  <a:schemeClr val="tx1"/>
                </a:solidFill>
                <a:uFillTx/>
                <a:latin typeface="微软雅黑" panose="020B0503020204020204" charset="-122"/>
                <a:ea typeface="微软雅黑" panose="020B0503020204020204" charset="-122"/>
              </a:rPr>
              <a:t>结论：</a:t>
            </a:r>
            <a:r>
              <a:rPr lang="zh-CN" altLang="en-US" sz="1600" b="1">
                <a:solidFill>
                  <a:schemeClr val="tx1"/>
                </a:solidFill>
                <a:uFillTx/>
                <a:latin typeface="Times New Roman" panose="02020603050405020304" charset="0"/>
                <a:ea typeface="宋体" panose="02010600030101010101" pitchFamily="2" charset="-122"/>
              </a:rPr>
              <a:t>选择机制使农业差异相对非农业放大约 2.3倍，解释了数据中农业/非农业差异比的约 五分之一（2.3/10.7 ≈ 21%）。</a:t>
            </a:r>
            <a:endParaRPr lang="zh-CN" altLang="en-US" sz="1600" b="1">
              <a:solidFill>
                <a:schemeClr val="tx1"/>
              </a:solidFill>
              <a:uFillTx/>
              <a:latin typeface="Times New Roman" panose="0202060305040502030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p:cNvSpPr/>
          <p:nvPr/>
        </p:nvSpPr>
        <p:spPr>
          <a:xfrm>
            <a:off x="1087120" y="1420495"/>
            <a:ext cx="10119995" cy="2776220"/>
          </a:xfrm>
          <a:prstGeom prst="rect">
            <a:avLst/>
          </a:prstGeom>
          <a:noFill/>
          <a:ln w="22225">
            <a:solidFill>
              <a:schemeClr val="accent6"/>
            </a:solidFill>
            <a:prstDash val="lg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框 7"/>
          <p:cNvSpPr txBox="1"/>
          <p:nvPr/>
        </p:nvSpPr>
        <p:spPr>
          <a:xfrm>
            <a:off x="803910" y="914400"/>
            <a:ext cx="4645025" cy="368300"/>
          </a:xfrm>
          <a:prstGeom prst="rect">
            <a:avLst/>
          </a:prstGeom>
          <a:noFill/>
        </p:spPr>
        <p:txBody>
          <a:bodyPr wrap="square" rtlCol="0">
            <a:spAutoFit/>
          </a:bodyPr>
          <a:lstStyle/>
          <a:p>
            <a:r>
              <a:rPr lang="zh-CN" altLang="en-US" b="1"/>
              <a:t>分解选择效应</a:t>
            </a:r>
            <a:endParaRPr lang="zh-CN" altLang="en-US" sz="1400" b="1"/>
          </a:p>
        </p:txBody>
      </p:sp>
      <p:sp>
        <p:nvSpPr>
          <p:cNvPr id="9" name="椭圆 8"/>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1"/>
          <a:stretch>
            <a:fillRect/>
          </a:stretch>
        </p:blipFill>
        <p:spPr>
          <a:xfrm>
            <a:off x="2025650" y="1523365"/>
            <a:ext cx="8093710" cy="2574290"/>
          </a:xfrm>
          <a:prstGeom prst="rect">
            <a:avLst/>
          </a:prstGeom>
        </p:spPr>
      </p:pic>
      <p:sp>
        <p:nvSpPr>
          <p:cNvPr id="11" name="矩形 10"/>
          <p:cNvSpPr/>
          <p:nvPr/>
        </p:nvSpPr>
        <p:spPr>
          <a:xfrm>
            <a:off x="1838325" y="3561080"/>
            <a:ext cx="7176135" cy="396875"/>
          </a:xfrm>
          <a:prstGeom prst="rect">
            <a:avLst/>
          </a:prstGeom>
          <a:noFill/>
          <a:ln w="22225">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9577070" y="3108325"/>
            <a:ext cx="1682750" cy="368300"/>
          </a:xfrm>
          <a:prstGeom prst="rect">
            <a:avLst/>
          </a:prstGeom>
          <a:noFill/>
        </p:spPr>
        <p:txBody>
          <a:bodyPr wrap="square" rtlCol="0">
            <a:spAutoFit/>
          </a:bodyPr>
          <a:p>
            <a:r>
              <a:rPr lang="en-US" altLang="zh-CN" b="1">
                <a:solidFill>
                  <a:srgbClr val="C00000"/>
                </a:solidFill>
                <a:latin typeface="Times New Roman" panose="02020603050405020304" charset="0"/>
                <a:cs typeface="Times New Roman" panose="02020603050405020304" charset="0"/>
              </a:rPr>
              <a:t>1.58/0.68≈ 2.3</a:t>
            </a:r>
            <a:endParaRPr lang="en-US" altLang="zh-CN" b="1">
              <a:solidFill>
                <a:srgbClr val="C00000"/>
              </a:solidFill>
              <a:latin typeface="Times New Roman" panose="02020603050405020304" charset="0"/>
              <a:cs typeface="Times New Roman" panose="02020603050405020304" charset="0"/>
            </a:endParaRPr>
          </a:p>
        </p:txBody>
      </p:sp>
      <p:cxnSp>
        <p:nvCxnSpPr>
          <p:cNvPr id="13" name="直接箭头连接符 12"/>
          <p:cNvCxnSpPr>
            <a:stCxn id="11" idx="3"/>
          </p:cNvCxnSpPr>
          <p:nvPr/>
        </p:nvCxnSpPr>
        <p:spPr>
          <a:xfrm flipV="1">
            <a:off x="9014460" y="3425825"/>
            <a:ext cx="681990" cy="334010"/>
          </a:xfrm>
          <a:prstGeom prst="straightConnector1">
            <a:avLst/>
          </a:prstGeom>
          <a:ln w="19050">
            <a:solidFill>
              <a:srgbClr val="C00000"/>
            </a:solidFill>
            <a:tailEnd type="stealth" w="lg" len="lg"/>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515620" y="4292600"/>
            <a:ext cx="11231245" cy="2249170"/>
          </a:xfrm>
          <a:prstGeom prst="rect">
            <a:avLst/>
          </a:prstGeom>
          <a:noFill/>
        </p:spPr>
        <p:txBody>
          <a:bodyPr wrap="square" rtlCol="0" anchor="t">
            <a:spAutoFit/>
          </a:bodyPr>
          <a:p>
            <a:pPr marL="285750" indent="-285750" fontAlgn="auto">
              <a:lnSpc>
                <a:spcPct val="130000"/>
              </a:lnSpc>
              <a:buFont typeface="Arial" panose="020B0604020202020204" pitchFamily="34" charset="0"/>
              <a:buChar char="•"/>
            </a:pPr>
            <a:r>
              <a:rPr lang="zh-CN" altLang="en-US" b="1">
                <a:solidFill>
                  <a:schemeClr val="tx1"/>
                </a:solidFill>
                <a:uFillTx/>
                <a:latin typeface="Times New Roman" panose="02020603050405020304" charset="0"/>
              </a:rPr>
              <a:t>富国农业：</a:t>
            </a:r>
            <a:r>
              <a:rPr lang="zh-CN" altLang="en-US">
                <a:solidFill>
                  <a:schemeClr val="tx1"/>
                </a:solidFill>
                <a:uFillTx/>
                <a:latin typeface="Times New Roman" panose="02020603050405020304" charset="0"/>
              </a:rPr>
              <a:t>只有3%的人务农，农业工人是高度挑选出来的，</a:t>
            </a:r>
            <a:r>
              <a:rPr lang="en-US" altLang="zh-CN" b="1">
                <a:solidFill>
                  <a:schemeClr val="tx1"/>
                </a:solidFill>
                <a:uFillTx/>
                <a:latin typeface="Times New Roman" panose="02020603050405020304" charset="0"/>
              </a:rPr>
              <a:t>z</a:t>
            </a:r>
            <a:r>
              <a:rPr lang="en-US" altLang="zh-CN" b="1" baseline="-25000">
                <a:solidFill>
                  <a:schemeClr val="tx1"/>
                </a:solidFill>
                <a:uFillTx/>
                <a:latin typeface="Times New Roman" panose="02020603050405020304" charset="0"/>
              </a:rPr>
              <a:t>a</a:t>
            </a:r>
            <a:r>
              <a:rPr lang="zh-CN" altLang="en-US" b="1">
                <a:solidFill>
                  <a:schemeClr val="tx1"/>
                </a:solidFill>
                <a:uFillTx/>
                <a:latin typeface="Times New Roman" panose="02020603050405020304" charset="0"/>
              </a:rPr>
              <a:t>高</a:t>
            </a:r>
            <a:r>
              <a:rPr lang="zh-CN" altLang="en-US">
                <a:solidFill>
                  <a:schemeClr val="tx1"/>
                </a:solidFill>
                <a:uFillTx/>
                <a:latin typeface="Times New Roman" panose="02020603050405020304" charset="0"/>
              </a:rPr>
              <a:t>，平均农业生产率是全体均值的 1.62倍。</a:t>
            </a:r>
            <a:endParaRPr lang="en-US" altLang="zh-CN">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b="1">
                <a:solidFill>
                  <a:schemeClr val="tx1"/>
                </a:solidFill>
                <a:uFillTx/>
                <a:latin typeface="Times New Roman" panose="02020603050405020304" charset="0"/>
              </a:rPr>
              <a:t>穷国农业：</a:t>
            </a:r>
            <a:r>
              <a:rPr lang="zh-CN" altLang="en-US">
                <a:solidFill>
                  <a:schemeClr val="tx1"/>
                </a:solidFill>
                <a:uFillTx/>
                <a:latin typeface="Times New Roman" panose="02020603050405020304" charset="0"/>
              </a:rPr>
              <a:t>78%的人务农，农业工人几乎等于全体人口，</a:t>
            </a:r>
            <a:r>
              <a:rPr lang="en-US" altLang="zh-CN" b="1">
                <a:uFillTx/>
                <a:latin typeface="Times New Roman" panose="02020603050405020304" charset="0"/>
                <a:sym typeface="+mn-ea"/>
              </a:rPr>
              <a:t>z</a:t>
            </a:r>
            <a:r>
              <a:rPr lang="en-US" altLang="zh-CN" b="1" baseline="-25000">
                <a:uFillTx/>
                <a:latin typeface="Times New Roman" panose="02020603050405020304" charset="0"/>
                <a:sym typeface="+mn-ea"/>
              </a:rPr>
              <a:t>a</a:t>
            </a:r>
            <a:r>
              <a:rPr lang="zh-CN" altLang="en-US" b="1">
                <a:uFillTx/>
                <a:latin typeface="Times New Roman" panose="02020603050405020304" charset="0"/>
                <a:sym typeface="+mn-ea"/>
              </a:rPr>
              <a:t>低</a:t>
            </a:r>
            <a:r>
              <a:rPr lang="zh-CN" altLang="en-US">
                <a:uFillTx/>
                <a:latin typeface="Times New Roman" panose="02020603050405020304" charset="0"/>
                <a:sym typeface="+mn-ea"/>
              </a:rPr>
              <a:t>，</a:t>
            </a:r>
            <a:r>
              <a:rPr lang="zh-CN" altLang="en-US">
                <a:solidFill>
                  <a:schemeClr val="tx1"/>
                </a:solidFill>
                <a:uFillTx/>
                <a:latin typeface="Times New Roman" panose="02020603050405020304" charset="0"/>
              </a:rPr>
              <a:t>平均农业生产率仅 1.02倍。</a:t>
            </a:r>
            <a:endParaRPr lang="en-US" altLang="zh-CN">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b="1">
                <a:solidFill>
                  <a:schemeClr val="tx1"/>
                </a:solidFill>
                <a:uFillTx/>
                <a:latin typeface="Times New Roman" panose="02020603050405020304" charset="0"/>
              </a:rPr>
              <a:t>农业放大因子：</a:t>
            </a:r>
            <a:r>
              <a:rPr lang="zh-CN" altLang="en-US">
                <a:solidFill>
                  <a:schemeClr val="tx1"/>
                </a:solidFill>
                <a:uFillTx/>
                <a:latin typeface="Times New Roman" panose="02020603050405020304" charset="0"/>
              </a:rPr>
              <a:t>1.62 / 1.02 ≈ 1.58，即</a:t>
            </a:r>
            <a:r>
              <a:rPr lang="zh-CN" altLang="en-US" b="1">
                <a:solidFill>
                  <a:schemeClr val="tx1"/>
                </a:solidFill>
                <a:uFillTx/>
                <a:latin typeface="Times New Roman" panose="02020603050405020304" charset="0"/>
              </a:rPr>
              <a:t>富国农业工人平均素质远高于穷国</a:t>
            </a:r>
            <a:r>
              <a:rPr lang="zh-CN" altLang="en-US">
                <a:solidFill>
                  <a:schemeClr val="tx1"/>
                </a:solidFill>
                <a:uFillTx/>
                <a:latin typeface="Times New Roman" panose="02020603050405020304" charset="0"/>
              </a:rPr>
              <a:t>。</a:t>
            </a:r>
            <a:endParaRPr lang="en-US" altLang="zh-CN">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b="1">
                <a:solidFill>
                  <a:schemeClr val="tx1"/>
                </a:solidFill>
                <a:uFillTx/>
                <a:latin typeface="Times New Roman" panose="02020603050405020304" charset="0"/>
              </a:rPr>
              <a:t>非农业相反：富国</a:t>
            </a:r>
            <a:r>
              <a:rPr lang="zh-CN" altLang="en-US">
                <a:solidFill>
                  <a:schemeClr val="tx1"/>
                </a:solidFill>
                <a:uFillTx/>
                <a:latin typeface="Times New Roman" panose="02020603050405020304" charset="0"/>
              </a:rPr>
              <a:t>97%的人在非农业，</a:t>
            </a:r>
            <a:r>
              <a:rPr lang="en-US" altLang="zh-CN" b="1">
                <a:uFillTx/>
                <a:latin typeface="Times New Roman" panose="02020603050405020304" charset="0"/>
                <a:sym typeface="+mn-ea"/>
              </a:rPr>
              <a:t>z</a:t>
            </a:r>
            <a:r>
              <a:rPr lang="en-US" altLang="zh-CN" b="1" baseline="-25000">
                <a:uFillTx/>
                <a:latin typeface="Times New Roman" panose="02020603050405020304" charset="0"/>
                <a:sym typeface="+mn-ea"/>
              </a:rPr>
              <a:t>n</a:t>
            </a:r>
            <a:r>
              <a:rPr lang="zh-CN" altLang="en-US" b="1">
                <a:uFillTx/>
                <a:latin typeface="Times New Roman" panose="02020603050405020304" charset="0"/>
                <a:sym typeface="+mn-ea"/>
              </a:rPr>
              <a:t>低</a:t>
            </a:r>
            <a:r>
              <a:rPr lang="zh-CN" altLang="en-US">
                <a:uFillTx/>
                <a:latin typeface="Times New Roman" panose="02020603050405020304" charset="0"/>
                <a:sym typeface="+mn-ea"/>
              </a:rPr>
              <a:t>，</a:t>
            </a:r>
            <a:r>
              <a:rPr lang="zh-CN" altLang="en-US">
                <a:solidFill>
                  <a:schemeClr val="tx1"/>
                </a:solidFill>
                <a:uFillTx/>
                <a:latin typeface="Times New Roman" panose="02020603050405020304" charset="0"/>
              </a:rPr>
              <a:t>平均素质接近全体均值（1.01）；穷国只有22%的人在非农业，</a:t>
            </a:r>
            <a:r>
              <a:rPr lang="en-US" altLang="zh-CN" b="1">
                <a:solidFill>
                  <a:schemeClr val="tx1"/>
                </a:solidFill>
                <a:uFillTx/>
                <a:latin typeface="Times New Roman" panose="02020603050405020304" charset="0"/>
              </a:rPr>
              <a:t>z</a:t>
            </a:r>
            <a:r>
              <a:rPr lang="en-US" altLang="zh-CN" b="1" baseline="-25000">
                <a:solidFill>
                  <a:schemeClr val="tx1"/>
                </a:solidFill>
                <a:uFillTx/>
                <a:latin typeface="Times New Roman" panose="02020603050405020304" charset="0"/>
              </a:rPr>
              <a:t>n</a:t>
            </a:r>
            <a:r>
              <a:rPr lang="zh-CN" altLang="en-US" b="1">
                <a:solidFill>
                  <a:schemeClr val="tx1"/>
                </a:solidFill>
                <a:uFillTx/>
                <a:latin typeface="Times New Roman" panose="02020603050405020304" charset="0"/>
              </a:rPr>
              <a:t>高</a:t>
            </a:r>
            <a:r>
              <a:rPr lang="zh-CN" altLang="en-US">
                <a:solidFill>
                  <a:schemeClr val="tx1"/>
                </a:solidFill>
                <a:uFillTx/>
                <a:latin typeface="Times New Roman" panose="02020603050405020304" charset="0"/>
              </a:rPr>
              <a:t>，平均素质是全体均值的 1.48倍。</a:t>
            </a:r>
            <a:endParaRPr lang="zh-CN" altLang="en-US">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b="1">
                <a:solidFill>
                  <a:schemeClr val="tx1"/>
                </a:solidFill>
                <a:uFillTx/>
                <a:latin typeface="Times New Roman" panose="02020603050405020304" charset="0"/>
              </a:rPr>
              <a:t>非农业缩小因子：</a:t>
            </a:r>
            <a:r>
              <a:rPr lang="zh-CN" altLang="en-US">
                <a:solidFill>
                  <a:schemeClr val="tx1"/>
                </a:solidFill>
                <a:uFillTx/>
                <a:latin typeface="Times New Roman" panose="02020603050405020304" charset="0"/>
              </a:rPr>
              <a:t>1.01 / 1.48 ≈ 0.68，即</a:t>
            </a:r>
            <a:r>
              <a:rPr lang="zh-CN" altLang="en-US" b="1">
                <a:solidFill>
                  <a:schemeClr val="tx1"/>
                </a:solidFill>
                <a:uFillTx/>
                <a:latin typeface="Times New Roman" panose="02020603050405020304" charset="0"/>
              </a:rPr>
              <a:t>富国非农业工人平均素质反而低于穷国</a:t>
            </a:r>
            <a:r>
              <a:rPr lang="zh-CN" altLang="en-US">
                <a:solidFill>
                  <a:schemeClr val="tx1"/>
                </a:solidFill>
                <a:uFillTx/>
                <a:latin typeface="Times New Roman" panose="02020603050405020304" charset="0"/>
              </a:rPr>
              <a:t>。</a:t>
            </a:r>
            <a:endParaRPr lang="zh-CN" altLang="en-US">
              <a:solidFill>
                <a:schemeClr val="tx1"/>
              </a:solidFill>
              <a:uFillTx/>
              <a:latin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图片 19"/>
          <p:cNvPicPr>
            <a:picLocks noChangeAspect="1"/>
          </p:cNvPicPr>
          <p:nvPr/>
        </p:nvPicPr>
        <p:blipFill>
          <a:blip r:embed="rId1"/>
          <a:stretch>
            <a:fillRect/>
          </a:stretch>
        </p:blipFill>
        <p:spPr>
          <a:xfrm>
            <a:off x="7226300" y="1282700"/>
            <a:ext cx="4525010" cy="2593975"/>
          </a:xfrm>
          <a:prstGeom prst="rect">
            <a:avLst/>
          </a:prstGeom>
        </p:spPr>
      </p:pic>
      <p:pic>
        <p:nvPicPr>
          <p:cNvPr id="19" name="图片 18"/>
          <p:cNvPicPr>
            <a:picLocks noChangeAspect="1"/>
          </p:cNvPicPr>
          <p:nvPr/>
        </p:nvPicPr>
        <p:blipFill>
          <a:blip r:embed="rId2"/>
          <a:stretch>
            <a:fillRect/>
          </a:stretch>
        </p:blipFill>
        <p:spPr>
          <a:xfrm>
            <a:off x="573405" y="4164965"/>
            <a:ext cx="4389755" cy="2496820"/>
          </a:xfrm>
          <a:prstGeom prst="rect">
            <a:avLst/>
          </a:prstGeom>
        </p:spPr>
      </p:pic>
      <p:pic>
        <p:nvPicPr>
          <p:cNvPr id="18" name="图片 17"/>
          <p:cNvPicPr>
            <a:picLocks noChangeAspect="1"/>
          </p:cNvPicPr>
          <p:nvPr/>
        </p:nvPicPr>
        <p:blipFill>
          <a:blip r:embed="rId3"/>
          <a:srcRect r="156" b="12335"/>
          <a:stretch>
            <a:fillRect/>
          </a:stretch>
        </p:blipFill>
        <p:spPr>
          <a:xfrm>
            <a:off x="398145" y="1383030"/>
            <a:ext cx="4826000" cy="2544445"/>
          </a:xfrm>
          <a:prstGeom prst="rect">
            <a:avLst/>
          </a:prstGeom>
        </p:spPr>
      </p:pic>
      <p:sp>
        <p:nvSpPr>
          <p:cNvPr id="2" name="文本框 1"/>
          <p:cNvSpPr txBox="1"/>
          <p:nvPr/>
        </p:nvSpPr>
        <p:spPr>
          <a:xfrm>
            <a:off x="803910" y="914400"/>
            <a:ext cx="2182495" cy="368300"/>
          </a:xfrm>
          <a:prstGeom prst="rect">
            <a:avLst/>
          </a:prstGeom>
          <a:noFill/>
        </p:spPr>
        <p:txBody>
          <a:bodyPr wrap="square" rtlCol="0">
            <a:spAutoFit/>
          </a:bodyPr>
          <a:lstStyle/>
          <a:p>
            <a:r>
              <a:rPr lang="zh-CN" altLang="en-US" b="1"/>
              <a:t>模型的</a:t>
            </a:r>
            <a:r>
              <a:rPr lang="zh-CN" altLang="en-US" b="1"/>
              <a:t>外部验证</a:t>
            </a:r>
            <a:endParaRPr lang="zh-CN" altLang="en-US" b="1"/>
          </a:p>
        </p:txBody>
      </p:sp>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custDataLst>
              <p:tags r:id="rId4"/>
            </p:custDataLst>
          </p:nvPr>
        </p:nvSpPr>
        <p:spPr>
          <a:xfrm>
            <a:off x="5076825" y="2915920"/>
            <a:ext cx="2037080" cy="2037080"/>
          </a:xfrm>
          <a:prstGeom prst="rect">
            <a:avLst/>
          </a:prstGeom>
          <a:solidFill>
            <a:schemeClr val="accent6"/>
          </a:solidFill>
          <a:ln w="38100">
            <a:solidFill>
              <a:schemeClr val="accent6"/>
            </a:solidFill>
          </a:ln>
          <a:effectLst>
            <a:outerShdw blurRad="63500" sx="102000" sy="102000" algn="ctr" rotWithShape="0">
              <a:prstClr val="black">
                <a:alpha val="40000"/>
              </a:prstClr>
            </a:outerShdw>
          </a:effectLst>
        </p:spPr>
        <p:style>
          <a:lnRef idx="2">
            <a:srgbClr val="376FFF">
              <a:shade val="15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p>
            <a:pPr lvl="0" indent="0" algn="ctr" fontAlgn="auto">
              <a:lnSpc>
                <a:spcPct val="150000"/>
              </a:lnSpc>
              <a:buClrTx/>
              <a:buSzTx/>
              <a:buFontTx/>
            </a:pPr>
            <a:r>
              <a:rPr kumimoji="1" lang="en-US" altLang="zh-CN" sz="2800" b="1" dirty="0">
                <a:solidFill>
                  <a:srgbClr val="FFFFFF"/>
                </a:solidFill>
                <a:latin typeface="微软雅黑" panose="020B0503020204020204" charset="-122"/>
                <a:ea typeface="微软雅黑" panose="020B0503020204020204" charset="-122"/>
                <a:sym typeface="微软雅黑" panose="020B0503020204020204" charset="-122"/>
              </a:rPr>
              <a:t> </a:t>
            </a:r>
            <a:endParaRPr kumimoji="1" lang="en-US" altLang="zh-CN" sz="2800" b="1" dirty="0">
              <a:solidFill>
                <a:srgbClr val="FFFFFF"/>
              </a:solidFill>
              <a:latin typeface="微软雅黑" panose="020B0503020204020204" charset="-122"/>
              <a:ea typeface="微软雅黑" panose="020B0503020204020204" charset="-122"/>
              <a:sym typeface="微软雅黑" panose="020B0503020204020204" charset="-122"/>
            </a:endParaRPr>
          </a:p>
        </p:txBody>
      </p:sp>
      <p:cxnSp>
        <p:nvCxnSpPr>
          <p:cNvPr id="4" name="直线连接符 50"/>
          <p:cNvCxnSpPr>
            <a:endCxn id="5" idx="1"/>
          </p:cNvCxnSpPr>
          <p:nvPr>
            <p:custDataLst>
              <p:tags r:id="rId5"/>
            </p:custDataLst>
          </p:nvPr>
        </p:nvCxnSpPr>
        <p:spPr>
          <a:xfrm>
            <a:off x="972820" y="3931920"/>
            <a:ext cx="3877310" cy="0"/>
          </a:xfrm>
          <a:prstGeom prst="line">
            <a:avLst/>
          </a:prstGeom>
          <a:ln w="15875">
            <a:solidFill>
              <a:schemeClr val="accent6">
                <a:alpha val="70000"/>
              </a:schemeClr>
            </a:solidFill>
            <a:prstDash val="dash"/>
            <a:headEnd type="oval"/>
            <a:tailEnd type="none"/>
          </a:ln>
          <a:effectLst>
            <a:outerShdw blurRad="63500" sx="102000" sy="102000" algn="ctr" rotWithShape="0">
              <a:prstClr val="black">
                <a:alpha val="40000"/>
              </a:prstClr>
            </a:outerShdw>
          </a:effectLst>
        </p:spPr>
        <p:style>
          <a:lnRef idx="1">
            <a:srgbClr val="376FFF"/>
          </a:lnRef>
          <a:fillRef idx="0">
            <a:srgbClr val="376FFF"/>
          </a:fillRef>
          <a:effectRef idx="0">
            <a:srgbClr val="376FFF"/>
          </a:effectRef>
          <a:fontRef idx="minor">
            <a:srgbClr val="000000"/>
          </a:fontRef>
        </p:style>
      </p:cxnSp>
      <p:sp>
        <p:nvSpPr>
          <p:cNvPr id="5" name="矩形 4"/>
          <p:cNvSpPr/>
          <p:nvPr>
            <p:custDataLst>
              <p:tags r:id="rId6"/>
            </p:custDataLst>
          </p:nvPr>
        </p:nvSpPr>
        <p:spPr>
          <a:xfrm>
            <a:off x="4850130" y="2682875"/>
            <a:ext cx="2496820" cy="2498090"/>
          </a:xfrm>
          <a:prstGeom prst="rect">
            <a:avLst/>
          </a:prstGeom>
          <a:noFill/>
          <a:ln w="6350">
            <a:solidFill>
              <a:schemeClr val="accent6">
                <a:alpha val="35000"/>
              </a:schemeClr>
            </a:solidFill>
            <a:prstDash val="dash"/>
          </a:ln>
          <a:effectLst/>
        </p:spPr>
        <p:style>
          <a:lnRef idx="2">
            <a:srgbClr val="376FFF">
              <a:shade val="50000"/>
            </a:srgbClr>
          </a:lnRef>
          <a:fillRef idx="1">
            <a:srgbClr val="376FFF"/>
          </a:fillRef>
          <a:effectRef idx="0">
            <a:srgbClr val="376FFF"/>
          </a:effectRef>
          <a:fontRef idx="minor">
            <a:srgbClr val="FFFFFF"/>
          </a:fontRef>
        </p:style>
        <p:txBody>
          <a:bodyPr wrap="square" rtlCol="0" anchor="ctr">
            <a:noAutofit/>
          </a:bodyPr>
          <a:lstStyle/>
          <a:p>
            <a:pPr algn="ctr"/>
            <a:endParaRPr kumimoji="1" lang="zh-CN" altLang="en-US" dirty="0">
              <a:solidFill>
                <a:srgbClr val="FF7429">
                  <a:lumMod val="60000"/>
                  <a:lumOff val="40000"/>
                </a:srgbClr>
              </a:solidFill>
              <a:latin typeface="微软雅黑" panose="020B0503020204020204" charset="-122"/>
              <a:ea typeface="微软雅黑" panose="020B0503020204020204" charset="-122"/>
            </a:endParaRPr>
          </a:p>
        </p:txBody>
      </p:sp>
      <p:cxnSp>
        <p:nvCxnSpPr>
          <p:cNvPr id="6" name="直线连接符 5"/>
          <p:cNvCxnSpPr>
            <a:endCxn id="5" idx="0"/>
          </p:cNvCxnSpPr>
          <p:nvPr>
            <p:custDataLst>
              <p:tags r:id="rId7"/>
            </p:custDataLst>
          </p:nvPr>
        </p:nvCxnSpPr>
        <p:spPr>
          <a:xfrm>
            <a:off x="6092825" y="937260"/>
            <a:ext cx="5715" cy="1745615"/>
          </a:xfrm>
          <a:prstGeom prst="line">
            <a:avLst/>
          </a:prstGeom>
          <a:ln w="15875">
            <a:solidFill>
              <a:schemeClr val="accent6">
                <a:alpha val="70000"/>
              </a:schemeClr>
            </a:solidFill>
            <a:prstDash val="dash"/>
            <a:headEnd type="oval"/>
            <a:tailEnd type="none"/>
          </a:ln>
          <a:effectLst>
            <a:outerShdw blurRad="63500" sx="102000" sy="102000" algn="ctr" rotWithShape="0">
              <a:prstClr val="black">
                <a:alpha val="40000"/>
              </a:prstClr>
            </a:outerShdw>
          </a:effectLst>
        </p:spPr>
        <p:style>
          <a:lnRef idx="1">
            <a:srgbClr val="376FFF"/>
          </a:lnRef>
          <a:fillRef idx="0">
            <a:srgbClr val="376FFF"/>
          </a:fillRef>
          <a:effectRef idx="0">
            <a:srgbClr val="376FFF"/>
          </a:effectRef>
          <a:fontRef idx="minor">
            <a:srgbClr val="000000"/>
          </a:fontRef>
        </p:style>
      </p:cxnSp>
      <p:cxnSp>
        <p:nvCxnSpPr>
          <p:cNvPr id="9" name="直线连接符 46"/>
          <p:cNvCxnSpPr/>
          <p:nvPr>
            <p:custDataLst>
              <p:tags r:id="rId8"/>
            </p:custDataLst>
          </p:nvPr>
        </p:nvCxnSpPr>
        <p:spPr>
          <a:xfrm flipH="1" flipV="1">
            <a:off x="6098540" y="4575175"/>
            <a:ext cx="10160" cy="1910715"/>
          </a:xfrm>
          <a:prstGeom prst="line">
            <a:avLst/>
          </a:prstGeom>
          <a:ln w="15875">
            <a:solidFill>
              <a:schemeClr val="accent6">
                <a:alpha val="70000"/>
              </a:schemeClr>
            </a:solidFill>
            <a:prstDash val="dash"/>
            <a:headEnd type="oval"/>
            <a:tailEnd type="none"/>
          </a:ln>
          <a:effectLst>
            <a:outerShdw blurRad="63500" sx="102000" sy="102000" algn="ctr" rotWithShape="0">
              <a:prstClr val="black">
                <a:alpha val="40000"/>
              </a:prstClr>
            </a:outerShdw>
          </a:effectLst>
        </p:spPr>
        <p:style>
          <a:lnRef idx="1">
            <a:srgbClr val="376FFF"/>
          </a:lnRef>
          <a:fillRef idx="0">
            <a:srgbClr val="376FFF"/>
          </a:fillRef>
          <a:effectRef idx="0">
            <a:srgbClr val="376FFF"/>
          </a:effectRef>
          <a:fontRef idx="minor">
            <a:srgbClr val="000000"/>
          </a:fontRef>
        </p:style>
      </p:cxnSp>
      <p:cxnSp>
        <p:nvCxnSpPr>
          <p:cNvPr id="10" name="直线连接符 50"/>
          <p:cNvCxnSpPr>
            <a:endCxn id="5" idx="3"/>
          </p:cNvCxnSpPr>
          <p:nvPr>
            <p:custDataLst>
              <p:tags r:id="rId9"/>
            </p:custDataLst>
          </p:nvPr>
        </p:nvCxnSpPr>
        <p:spPr>
          <a:xfrm flipH="1">
            <a:off x="7346950" y="3931920"/>
            <a:ext cx="3869690" cy="0"/>
          </a:xfrm>
          <a:prstGeom prst="line">
            <a:avLst/>
          </a:prstGeom>
          <a:ln w="15875">
            <a:solidFill>
              <a:schemeClr val="accent6">
                <a:alpha val="70000"/>
              </a:schemeClr>
            </a:solidFill>
            <a:prstDash val="dash"/>
            <a:headEnd type="oval"/>
            <a:tailEnd type="none"/>
          </a:ln>
          <a:effectLst>
            <a:outerShdw blurRad="63500" sx="102000" sy="102000" algn="ctr" rotWithShape="0">
              <a:prstClr val="black">
                <a:alpha val="40000"/>
              </a:prstClr>
            </a:outerShdw>
          </a:effectLst>
        </p:spPr>
        <p:style>
          <a:lnRef idx="1">
            <a:srgbClr val="376FFF"/>
          </a:lnRef>
          <a:fillRef idx="0">
            <a:srgbClr val="376FFF"/>
          </a:fillRef>
          <a:effectRef idx="0">
            <a:srgbClr val="376FFF"/>
          </a:effectRef>
          <a:fontRef idx="minor">
            <a:srgbClr val="000000"/>
          </a:fontRef>
        </p:style>
      </p:cxnSp>
      <p:grpSp>
        <p:nvGrpSpPr>
          <p:cNvPr id="17" name="组合 16"/>
          <p:cNvGrpSpPr/>
          <p:nvPr>
            <p:custDataLst>
              <p:tags r:id="rId10"/>
            </p:custDataLst>
          </p:nvPr>
        </p:nvGrpSpPr>
        <p:grpSpPr>
          <a:xfrm>
            <a:off x="495935" y="3782060"/>
            <a:ext cx="3420110" cy="554355"/>
            <a:chOff x="781" y="6604"/>
            <a:chExt cx="5386" cy="873"/>
          </a:xfrm>
        </p:grpSpPr>
        <p:sp>
          <p:nvSpPr>
            <p:cNvPr id="58" name="文本框 57"/>
            <p:cNvSpPr txBox="1"/>
            <p:nvPr>
              <p:custDataLst>
                <p:tags r:id="rId11"/>
              </p:custDataLst>
            </p:nvPr>
          </p:nvSpPr>
          <p:spPr>
            <a:xfrm>
              <a:off x="1617" y="6604"/>
              <a:ext cx="4550" cy="785"/>
            </a:xfrm>
            <a:prstGeom prst="rect">
              <a:avLst/>
            </a:prstGeom>
            <a:noFill/>
          </p:spPr>
          <p:txBody>
            <a:bodyPr wrap="square" lIns="0" tIns="0" rIns="0" bIns="0" rtlCol="0" anchor="b" anchorCtr="0">
              <a:noAutofit/>
            </a:bodyPr>
            <a:lstStyle/>
            <a:p>
              <a:pPr algn="l"/>
              <a:r>
                <a:rPr lang="zh-CN" altLang="en-US" sz="1600" b="1">
                  <a:solidFill>
                    <a:schemeClr val="tx1"/>
                  </a:solidFill>
                </a:rPr>
                <a:t>农业就业份额随收入</a:t>
              </a:r>
              <a:r>
                <a:rPr lang="zh-CN" altLang="en-US" sz="1600" b="1">
                  <a:solidFill>
                    <a:schemeClr val="tx1"/>
                  </a:solidFill>
                </a:rPr>
                <a:t>下降</a:t>
              </a:r>
              <a:endParaRPr lang="zh-CN" altLang="en-US" sz="1600" b="1">
                <a:solidFill>
                  <a:schemeClr val="tx1"/>
                </a:solidFill>
              </a:endParaRPr>
            </a:p>
          </p:txBody>
        </p:sp>
        <p:sp>
          <p:nvSpPr>
            <p:cNvPr id="273" name="Text Box 38"/>
            <p:cNvSpPr txBox="1">
              <a:spLocks noChangeArrowheads="1"/>
            </p:cNvSpPr>
            <p:nvPr>
              <p:custDataLst>
                <p:tags r:id="rId12"/>
              </p:custDataLst>
            </p:nvPr>
          </p:nvSpPr>
          <p:spPr bwMode="auto">
            <a:xfrm>
              <a:off x="781" y="6753"/>
              <a:ext cx="786"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a:t>
              </a:r>
              <a:r>
                <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2</a:t>
              </a:r>
              <a:endPar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grpSp>
      <p:grpSp>
        <p:nvGrpSpPr>
          <p:cNvPr id="15" name="组合 14"/>
          <p:cNvGrpSpPr/>
          <p:nvPr/>
        </p:nvGrpSpPr>
        <p:grpSpPr>
          <a:xfrm>
            <a:off x="8223885" y="952500"/>
            <a:ext cx="3337560" cy="555625"/>
            <a:chOff x="12915" y="2556"/>
            <a:chExt cx="5256" cy="875"/>
          </a:xfrm>
        </p:grpSpPr>
        <p:sp>
          <p:nvSpPr>
            <p:cNvPr id="110" name="文本框 109"/>
            <p:cNvSpPr txBox="1"/>
            <p:nvPr>
              <p:custDataLst>
                <p:tags r:id="rId13"/>
              </p:custDataLst>
            </p:nvPr>
          </p:nvSpPr>
          <p:spPr>
            <a:xfrm>
              <a:off x="12915" y="2556"/>
              <a:ext cx="4550" cy="785"/>
            </a:xfrm>
            <a:prstGeom prst="rect">
              <a:avLst/>
            </a:prstGeom>
            <a:noFill/>
          </p:spPr>
          <p:txBody>
            <a:bodyPr wrap="square" lIns="0" tIns="0" rIns="0" bIns="0" rtlCol="0" anchor="b" anchorCtr="0">
              <a:noAutofit/>
            </a:bodyPr>
            <a:lstStyle/>
            <a:p>
              <a:pPr algn="r"/>
              <a:r>
                <a:rPr lang="zh-CN" altLang="en-US" sz="1600" b="1">
                  <a:solidFill>
                    <a:schemeClr val="tx1"/>
                  </a:solidFill>
                </a:rPr>
                <a:t>农产品相对价格随收入</a:t>
              </a:r>
              <a:r>
                <a:rPr lang="zh-CN" altLang="en-US" sz="1600" b="1">
                  <a:solidFill>
                    <a:schemeClr val="tx1"/>
                  </a:solidFill>
                </a:rPr>
                <a:t>下降</a:t>
              </a:r>
              <a:endParaRPr lang="zh-CN" altLang="en-US" sz="1600" b="1">
                <a:solidFill>
                  <a:schemeClr val="tx1"/>
                </a:solidFill>
              </a:endParaRPr>
            </a:p>
          </p:txBody>
        </p:sp>
        <p:sp>
          <p:nvSpPr>
            <p:cNvPr id="111" name="Text Box 38"/>
            <p:cNvSpPr txBox="1">
              <a:spLocks noChangeArrowheads="1"/>
            </p:cNvSpPr>
            <p:nvPr>
              <p:custDataLst>
                <p:tags r:id="rId14"/>
              </p:custDataLst>
            </p:nvPr>
          </p:nvSpPr>
          <p:spPr bwMode="auto">
            <a:xfrm>
              <a:off x="17371" y="2707"/>
              <a:ext cx="800"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a:t>
              </a:r>
              <a:r>
                <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3</a:t>
              </a:r>
              <a:endPar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grpSp>
      <p:sp>
        <p:nvSpPr>
          <p:cNvPr id="113" name="文本框 112"/>
          <p:cNvSpPr txBox="1"/>
          <p:nvPr>
            <p:custDataLst>
              <p:tags r:id="rId15"/>
            </p:custDataLst>
          </p:nvPr>
        </p:nvSpPr>
        <p:spPr>
          <a:xfrm>
            <a:off x="7504430" y="4493260"/>
            <a:ext cx="4057015" cy="1877060"/>
          </a:xfrm>
          <a:prstGeom prst="rect">
            <a:avLst/>
          </a:prstGeom>
          <a:noFill/>
        </p:spPr>
        <p:txBody>
          <a:bodyPr wrap="square" lIns="0" tIns="0" rIns="0" bIns="0" rtlCol="0">
            <a:noAutofit/>
          </a:bodyPr>
          <a:lstStyle/>
          <a:p>
            <a:pPr marL="285750" indent="-285750" algn="l" fontAlgn="auto">
              <a:lnSpc>
                <a:spcPct val="140000"/>
              </a:lnSpc>
              <a:buFont typeface="Arial" panose="020B0604020202020204" pitchFamily="34" charset="0"/>
              <a:buChar char="•"/>
            </a:pPr>
            <a:r>
              <a:rPr lang="zh-CN" altLang="en-US" sz="1400" dirty="0">
                <a:solidFill>
                  <a:schemeClr val="tx1"/>
                </a:solidFill>
              </a:rPr>
              <a:t>模型预测</a:t>
            </a:r>
            <a:r>
              <a:rPr lang="zh-CN" altLang="en-US" sz="1400" b="1" dirty="0">
                <a:solidFill>
                  <a:schemeClr val="tx1"/>
                </a:solidFill>
              </a:rPr>
              <a:t>不平等与收入的关系是单调上升</a:t>
            </a:r>
            <a:r>
              <a:rPr lang="zh-CN" altLang="en-US" sz="1400" dirty="0">
                <a:solidFill>
                  <a:schemeClr val="tx1"/>
                </a:solidFill>
              </a:rPr>
              <a:t>的，而非倒 </a:t>
            </a:r>
            <a:r>
              <a:rPr lang="en-US" altLang="zh-CN" sz="1400" dirty="0">
                <a:solidFill>
                  <a:schemeClr val="tx1"/>
                </a:solidFill>
              </a:rPr>
              <a:t>U </a:t>
            </a:r>
            <a:r>
              <a:rPr lang="zh-CN" altLang="en-US" sz="1400" dirty="0">
                <a:solidFill>
                  <a:schemeClr val="tx1"/>
                </a:solidFill>
              </a:rPr>
              <a:t>型（库兹涅茨曲线），与部分学者的研究结果</a:t>
            </a:r>
            <a:r>
              <a:rPr lang="zh-CN" altLang="en-US" sz="1400" dirty="0">
                <a:solidFill>
                  <a:schemeClr val="tx1"/>
                </a:solidFill>
              </a:rPr>
              <a:t>相吻合。</a:t>
            </a:r>
            <a:endParaRPr lang="zh-CN" altLang="en-US" sz="1400" dirty="0">
              <a:solidFill>
                <a:schemeClr val="tx1"/>
              </a:solidFill>
            </a:endParaRPr>
          </a:p>
          <a:p>
            <a:pPr marL="285750" indent="-285750" algn="l" fontAlgn="auto">
              <a:lnSpc>
                <a:spcPct val="140000"/>
              </a:lnSpc>
              <a:buFont typeface="Arial" panose="020B0604020202020204" pitchFamily="34" charset="0"/>
              <a:buChar char="•"/>
            </a:pPr>
            <a:r>
              <a:rPr lang="zh-CN" altLang="en-US" sz="1400" dirty="0">
                <a:uFillTx/>
                <a:latin typeface="Times New Roman" panose="02020603050405020304" charset="0"/>
                <a:sym typeface="+mn-ea"/>
              </a:rPr>
              <a:t>随着国家变富（A 上升），工人从农业转移到非农业（农业个体生产率差异较小，θa=5.5；非农业个体生产率差异较大，θn=2.8）。因此，整体工资不平等会随着收入上升而轻微上升。</a:t>
            </a:r>
            <a:endParaRPr lang="zh-CN" altLang="en-US" sz="1400" dirty="0">
              <a:solidFill>
                <a:schemeClr val="tx1"/>
              </a:solidFill>
            </a:endParaRPr>
          </a:p>
          <a:p>
            <a:pPr marL="285750" indent="-285750" algn="l" fontAlgn="auto">
              <a:lnSpc>
                <a:spcPct val="140000"/>
              </a:lnSpc>
              <a:buFont typeface="Arial" panose="020B0604020202020204" pitchFamily="34" charset="0"/>
              <a:buChar char="•"/>
            </a:pPr>
            <a:endParaRPr lang="zh-CN" altLang="en-US" sz="1400" dirty="0">
              <a:solidFill>
                <a:schemeClr val="tx1"/>
              </a:solidFill>
            </a:endParaRPr>
          </a:p>
          <a:p>
            <a:pPr marL="285750" indent="-285750" algn="l" fontAlgn="auto">
              <a:lnSpc>
                <a:spcPct val="140000"/>
              </a:lnSpc>
              <a:buClrTx/>
              <a:buSzTx/>
              <a:buFont typeface="Arial" panose="020B0604020202020204" pitchFamily="34" charset="0"/>
              <a:buChar char="•"/>
            </a:pPr>
            <a:endParaRPr lang="zh-CN" altLang="en-US" sz="1400" dirty="0">
              <a:sym typeface="微软雅黑" panose="020B0503020204020204" charset="-122"/>
            </a:endParaRPr>
          </a:p>
        </p:txBody>
      </p:sp>
      <p:grpSp>
        <p:nvGrpSpPr>
          <p:cNvPr id="16" name="组合 15"/>
          <p:cNvGrpSpPr/>
          <p:nvPr/>
        </p:nvGrpSpPr>
        <p:grpSpPr>
          <a:xfrm>
            <a:off x="8201025" y="3919220"/>
            <a:ext cx="3327400" cy="555625"/>
            <a:chOff x="12915" y="6604"/>
            <a:chExt cx="5240" cy="875"/>
          </a:xfrm>
        </p:grpSpPr>
        <p:sp>
          <p:nvSpPr>
            <p:cNvPr id="115" name="文本框 114"/>
            <p:cNvSpPr txBox="1"/>
            <p:nvPr>
              <p:custDataLst>
                <p:tags r:id="rId16"/>
              </p:custDataLst>
            </p:nvPr>
          </p:nvSpPr>
          <p:spPr>
            <a:xfrm>
              <a:off x="12915" y="6604"/>
              <a:ext cx="4550" cy="785"/>
            </a:xfrm>
            <a:prstGeom prst="rect">
              <a:avLst/>
            </a:prstGeom>
            <a:noFill/>
          </p:spPr>
          <p:txBody>
            <a:bodyPr wrap="square" lIns="0" tIns="0" rIns="0" bIns="0" rtlCol="0" anchor="b" anchorCtr="0">
              <a:noAutofit/>
            </a:bodyPr>
            <a:lstStyle/>
            <a:p>
              <a:pPr algn="r"/>
              <a:r>
                <a:rPr lang="zh-CN" altLang="en-US" sz="1600" b="1">
                  <a:solidFill>
                    <a:schemeClr val="tx1"/>
                  </a:solidFill>
                </a:rPr>
                <a:t>工资不平等与收入</a:t>
              </a:r>
              <a:r>
                <a:rPr lang="zh-CN" altLang="en-US" sz="1600" b="1">
                  <a:solidFill>
                    <a:schemeClr val="tx1"/>
                  </a:solidFill>
                </a:rPr>
                <a:t>正相关</a:t>
              </a:r>
              <a:endParaRPr lang="zh-CN" altLang="en-US" sz="1600" b="1">
                <a:solidFill>
                  <a:schemeClr val="tx1"/>
                </a:solidFill>
              </a:endParaRPr>
            </a:p>
          </p:txBody>
        </p:sp>
        <p:sp>
          <p:nvSpPr>
            <p:cNvPr id="116" name="Text Box 38"/>
            <p:cNvSpPr txBox="1">
              <a:spLocks noChangeArrowheads="1"/>
            </p:cNvSpPr>
            <p:nvPr>
              <p:custDataLst>
                <p:tags r:id="rId17"/>
              </p:custDataLst>
            </p:nvPr>
          </p:nvSpPr>
          <p:spPr bwMode="auto">
            <a:xfrm>
              <a:off x="17371" y="6755"/>
              <a:ext cx="785"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a:t>
              </a:r>
              <a:r>
                <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4</a:t>
              </a:r>
              <a:endPar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grpSp>
      <p:sp>
        <p:nvSpPr>
          <p:cNvPr id="120" name="矩形 119"/>
          <p:cNvSpPr/>
          <p:nvPr>
            <p:custDataLst>
              <p:tags r:id="rId18"/>
            </p:custDataLst>
          </p:nvPr>
        </p:nvSpPr>
        <p:spPr>
          <a:xfrm>
            <a:off x="5335270" y="3174365"/>
            <a:ext cx="1518920" cy="1518920"/>
          </a:xfrm>
          <a:prstGeom prst="rect">
            <a:avLst/>
          </a:prstGeom>
          <a:solidFill>
            <a:schemeClr val="bg1"/>
          </a:solidFill>
          <a:ln w="38100">
            <a:noFill/>
          </a:ln>
          <a:effectLst>
            <a:outerShdw blurRad="63500" sx="102000" sy="102000" algn="ctr" rotWithShape="0">
              <a:prstClr val="black">
                <a:alpha val="40000"/>
              </a:prstClr>
            </a:outerShdw>
          </a:effectLst>
        </p:spPr>
        <p:style>
          <a:lnRef idx="2">
            <a:srgbClr val="376FFF">
              <a:shade val="15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p>
            <a:pPr lvl="0" indent="0" algn="l" fontAlgn="auto">
              <a:lnSpc>
                <a:spcPct val="100000"/>
              </a:lnSpc>
              <a:buClrTx/>
              <a:buSzTx/>
              <a:buFontTx/>
            </a:pPr>
            <a:r>
              <a:rPr kumimoji="1" lang="zh-CN" altLang="en-US" sz="1600" b="1" dirty="0">
                <a:solidFill>
                  <a:schemeClr val="tx1"/>
                </a:solidFill>
                <a:latin typeface="微软雅黑" panose="020B0503020204020204" charset="-122"/>
                <a:ea typeface="微软雅黑" panose="020B0503020204020204" charset="-122"/>
                <a:sym typeface="微软雅黑" panose="020B0503020204020204" charset="-122"/>
              </a:rPr>
              <a:t>除生产率差异外，模型也能解释诸多事实，说明了机制具有</a:t>
            </a:r>
            <a:r>
              <a:rPr kumimoji="1" lang="zh-CN" altLang="en-US" sz="1600" b="1" dirty="0">
                <a:solidFill>
                  <a:schemeClr val="tx1"/>
                </a:solidFill>
                <a:latin typeface="微软雅黑" panose="020B0503020204020204" charset="-122"/>
                <a:ea typeface="微软雅黑" panose="020B0503020204020204" charset="-122"/>
                <a:sym typeface="微软雅黑" panose="020B0503020204020204" charset="-122"/>
              </a:rPr>
              <a:t>外部有效性。</a:t>
            </a:r>
            <a:endParaRPr kumimoji="1" lang="zh-CN" altLang="en-US" sz="1600" b="1" dirty="0">
              <a:solidFill>
                <a:schemeClr val="tx1"/>
              </a:solidFill>
              <a:latin typeface="微软雅黑" panose="020B0503020204020204" charset="-122"/>
              <a:ea typeface="微软雅黑" panose="020B0503020204020204" charset="-122"/>
              <a:sym typeface="微软雅黑" panose="020B0503020204020204" charset="-122"/>
            </a:endParaRPr>
          </a:p>
        </p:txBody>
      </p:sp>
      <p:grpSp>
        <p:nvGrpSpPr>
          <p:cNvPr id="14" name="组合 13"/>
          <p:cNvGrpSpPr/>
          <p:nvPr/>
        </p:nvGrpSpPr>
        <p:grpSpPr>
          <a:xfrm>
            <a:off x="496570" y="1127760"/>
            <a:ext cx="3420110" cy="554355"/>
            <a:chOff x="782" y="2556"/>
            <a:chExt cx="5386" cy="873"/>
          </a:xfrm>
        </p:grpSpPr>
        <p:sp>
          <p:nvSpPr>
            <p:cNvPr id="88" name="文本框 87"/>
            <p:cNvSpPr txBox="1"/>
            <p:nvPr>
              <p:custDataLst>
                <p:tags r:id="rId19"/>
              </p:custDataLst>
            </p:nvPr>
          </p:nvSpPr>
          <p:spPr>
            <a:xfrm>
              <a:off x="1618" y="2556"/>
              <a:ext cx="4550" cy="785"/>
            </a:xfrm>
            <a:prstGeom prst="rect">
              <a:avLst/>
            </a:prstGeom>
            <a:noFill/>
          </p:spPr>
          <p:txBody>
            <a:bodyPr wrap="square" lIns="0" tIns="0" rIns="0" bIns="0" rtlCol="0" anchor="b" anchorCtr="0">
              <a:noAutofit/>
            </a:bodyPr>
            <a:lstStyle/>
            <a:p>
              <a:pPr algn="l"/>
              <a:r>
                <a:rPr lang="zh-CN" altLang="en-US" sz="1600" b="1">
                  <a:solidFill>
                    <a:schemeClr val="tx1"/>
                  </a:solidFill>
                </a:rPr>
                <a:t>农业工资＜非农业</a:t>
              </a:r>
              <a:r>
                <a:rPr lang="zh-CN" altLang="en-US" sz="1600" b="1">
                  <a:solidFill>
                    <a:schemeClr val="tx1"/>
                  </a:solidFill>
                </a:rPr>
                <a:t>工资</a:t>
              </a:r>
              <a:endParaRPr lang="zh-CN" altLang="en-US" sz="1600" b="1">
                <a:solidFill>
                  <a:schemeClr val="tx1"/>
                </a:solidFill>
              </a:endParaRPr>
            </a:p>
          </p:txBody>
        </p:sp>
        <p:sp>
          <p:nvSpPr>
            <p:cNvPr id="90" name="Text Box 38"/>
            <p:cNvSpPr txBox="1">
              <a:spLocks noChangeArrowheads="1"/>
            </p:cNvSpPr>
            <p:nvPr>
              <p:custDataLst>
                <p:tags r:id="rId20"/>
              </p:custDataLst>
            </p:nvPr>
          </p:nvSpPr>
          <p:spPr bwMode="auto">
            <a:xfrm>
              <a:off x="782" y="2705"/>
              <a:ext cx="728"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01</a:t>
              </a:r>
              <a:endPar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03910" y="914400"/>
            <a:ext cx="3578860" cy="368300"/>
          </a:xfrm>
          <a:prstGeom prst="rect">
            <a:avLst/>
          </a:prstGeom>
          <a:noFill/>
        </p:spPr>
        <p:txBody>
          <a:bodyPr wrap="square" rtlCol="0">
            <a:spAutoFit/>
          </a:bodyPr>
          <a:lstStyle/>
          <a:p>
            <a:r>
              <a:rPr lang="zh-CN" altLang="en-US" b="1"/>
              <a:t>现实证据</a:t>
            </a:r>
            <a:r>
              <a:rPr lang="en-US" altLang="zh-CN" b="1"/>
              <a:t>——</a:t>
            </a:r>
            <a:r>
              <a:rPr lang="zh-CN" altLang="en-US" sz="1600" b="1"/>
              <a:t>选择机制确实存在</a:t>
            </a:r>
            <a:endParaRPr lang="zh-CN" altLang="en-US" sz="1600" b="1"/>
          </a:p>
        </p:txBody>
      </p:sp>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流程图: 过程 9"/>
          <p:cNvSpPr/>
          <p:nvPr/>
        </p:nvSpPr>
        <p:spPr>
          <a:xfrm>
            <a:off x="1034415" y="4465320"/>
            <a:ext cx="311721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用身高代理农业体力</a:t>
            </a:r>
            <a:endParaRPr lang="zh-CN" altLang="en-US" sz="1600" b="1" dirty="0"/>
          </a:p>
        </p:txBody>
      </p:sp>
      <p:sp>
        <p:nvSpPr>
          <p:cNvPr id="6" name="流程图: 过程 5"/>
          <p:cNvSpPr/>
          <p:nvPr/>
        </p:nvSpPr>
        <p:spPr>
          <a:xfrm>
            <a:off x="4661535" y="4465320"/>
            <a:ext cx="311721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美国农业工人</a:t>
            </a:r>
            <a:r>
              <a:rPr lang="zh-CN" altLang="en-US" sz="1600" b="1" dirty="0"/>
              <a:t>更高</a:t>
            </a:r>
            <a:endParaRPr lang="zh-CN" altLang="en-US" sz="1600" b="1" dirty="0"/>
          </a:p>
        </p:txBody>
      </p:sp>
      <p:sp>
        <p:nvSpPr>
          <p:cNvPr id="8" name="流程图: 过程 7"/>
          <p:cNvSpPr/>
          <p:nvPr/>
        </p:nvSpPr>
        <p:spPr>
          <a:xfrm>
            <a:off x="1034415" y="5537200"/>
            <a:ext cx="311721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用认知能力代理非农业</a:t>
            </a:r>
            <a:r>
              <a:rPr lang="zh-CN" altLang="en-US" sz="1600" b="1" dirty="0"/>
              <a:t>技能</a:t>
            </a:r>
            <a:endParaRPr lang="zh-CN" altLang="en-US" sz="1600" b="1" dirty="0"/>
          </a:p>
        </p:txBody>
      </p:sp>
      <p:sp>
        <p:nvSpPr>
          <p:cNvPr id="9" name="流程图: 过程 8"/>
          <p:cNvSpPr/>
          <p:nvPr/>
        </p:nvSpPr>
        <p:spPr>
          <a:xfrm>
            <a:off x="4661535" y="5537200"/>
            <a:ext cx="311721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肯尼亚人认知越高</a:t>
            </a:r>
            <a:r>
              <a:rPr lang="en-US" altLang="zh-CN" sz="1600" b="1" dirty="0"/>
              <a:t>→</a:t>
            </a:r>
            <a:r>
              <a:rPr lang="zh-CN" altLang="en-US" sz="1600" b="1" dirty="0"/>
              <a:t>越迁出</a:t>
            </a:r>
            <a:r>
              <a:rPr lang="zh-CN" altLang="en-US" sz="1600" b="1" dirty="0"/>
              <a:t>农业</a:t>
            </a:r>
            <a:endParaRPr lang="zh-CN" altLang="en-US" sz="1600" b="1" dirty="0"/>
          </a:p>
        </p:txBody>
      </p:sp>
      <p:cxnSp>
        <p:nvCxnSpPr>
          <p:cNvPr id="23" name="直接箭头连接符 22"/>
          <p:cNvCxnSpPr>
            <a:stCxn id="10" idx="3"/>
            <a:endCxn id="6" idx="1"/>
          </p:cNvCxnSpPr>
          <p:nvPr/>
        </p:nvCxnSpPr>
        <p:spPr>
          <a:xfrm>
            <a:off x="4151630" y="4709795"/>
            <a:ext cx="509905" cy="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8" idx="3"/>
          </p:cNvCxnSpPr>
          <p:nvPr/>
        </p:nvCxnSpPr>
        <p:spPr>
          <a:xfrm flipV="1">
            <a:off x="4151630" y="5774690"/>
            <a:ext cx="504190" cy="6985"/>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sp>
        <p:nvSpPr>
          <p:cNvPr id="14" name="流程图: 过程 13"/>
          <p:cNvSpPr/>
          <p:nvPr/>
        </p:nvSpPr>
        <p:spPr>
          <a:xfrm>
            <a:off x="8815705" y="4954270"/>
            <a:ext cx="2179320"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选择机制</a:t>
            </a:r>
            <a:r>
              <a:rPr lang="zh-CN" altLang="en-US" sz="1600" b="1" dirty="0"/>
              <a:t>存在</a:t>
            </a:r>
            <a:endParaRPr lang="zh-CN" altLang="en-US" sz="1600" b="1" dirty="0"/>
          </a:p>
        </p:txBody>
      </p:sp>
      <p:cxnSp>
        <p:nvCxnSpPr>
          <p:cNvPr id="15" name="直接箭头连接符 14"/>
          <p:cNvCxnSpPr>
            <a:endCxn id="14" idx="1"/>
          </p:cNvCxnSpPr>
          <p:nvPr/>
        </p:nvCxnSpPr>
        <p:spPr>
          <a:xfrm>
            <a:off x="7778750" y="4719955"/>
            <a:ext cx="1036955" cy="47879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a:endCxn id="14" idx="1"/>
          </p:cNvCxnSpPr>
          <p:nvPr/>
        </p:nvCxnSpPr>
        <p:spPr>
          <a:xfrm flipV="1">
            <a:off x="7784465" y="5198745"/>
            <a:ext cx="1031240" cy="58293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pic>
        <p:nvPicPr>
          <p:cNvPr id="2" name="图片 1"/>
          <p:cNvPicPr>
            <a:picLocks noChangeAspect="1"/>
          </p:cNvPicPr>
          <p:nvPr/>
        </p:nvPicPr>
        <p:blipFill>
          <a:blip r:embed="rId1"/>
          <a:stretch>
            <a:fillRect/>
          </a:stretch>
        </p:blipFill>
        <p:spPr>
          <a:xfrm>
            <a:off x="1114425" y="1551305"/>
            <a:ext cx="9432925" cy="28829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5" name="矩形 64"/>
          <p:cNvSpPr/>
          <p:nvPr/>
        </p:nvSpPr>
        <p:spPr>
          <a:xfrm>
            <a:off x="1087120" y="1420495"/>
            <a:ext cx="10119995" cy="2776220"/>
          </a:xfrm>
          <a:prstGeom prst="rect">
            <a:avLst/>
          </a:prstGeom>
          <a:noFill/>
          <a:ln w="22225">
            <a:solidFill>
              <a:schemeClr val="accent6"/>
            </a:solidFill>
            <a:prstDash val="lg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1020445" y="4265295"/>
            <a:ext cx="10200005" cy="1568450"/>
          </a:xfrm>
          <a:prstGeom prst="rect">
            <a:avLst/>
          </a:prstGeom>
          <a:noFill/>
        </p:spPr>
        <p:txBody>
          <a:bodyPr wrap="square" rtlCol="0">
            <a:spAutoFit/>
          </a:bodyPr>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真实数据：</a:t>
            </a:r>
            <a:r>
              <a:rPr lang="zh-CN" altLang="en-US" sz="1600">
                <a:solidFill>
                  <a:schemeClr val="tx1"/>
                </a:solidFill>
                <a:uFillTx/>
                <a:latin typeface="Times New Roman" panose="02020603050405020304" charset="0"/>
              </a:rPr>
              <a:t>农业跨国差异</a:t>
            </a:r>
            <a:r>
              <a:rPr lang="zh-CN" altLang="en-US" sz="1600" b="1">
                <a:solidFill>
                  <a:schemeClr val="tx1"/>
                </a:solidFill>
                <a:uFillTx/>
                <a:latin typeface="Times New Roman" panose="02020603050405020304" charset="0"/>
              </a:rPr>
              <a:t>（</a:t>
            </a:r>
            <a:r>
              <a:rPr lang="en-US" altLang="zh-CN" sz="1600" b="1">
                <a:solidFill>
                  <a:schemeClr val="tx1"/>
                </a:solidFill>
                <a:uFillTx/>
                <a:latin typeface="Times New Roman" panose="02020603050405020304" charset="0"/>
              </a:rPr>
              <a:t>11.1</a:t>
            </a:r>
            <a:r>
              <a:rPr lang="zh-CN" altLang="en-US" sz="1600" b="1">
                <a:solidFill>
                  <a:schemeClr val="tx1"/>
                </a:solidFill>
                <a:uFillTx/>
                <a:latin typeface="Times New Roman" panose="02020603050405020304" charset="0"/>
              </a:rPr>
              <a:t>倍）</a:t>
            </a:r>
            <a:r>
              <a:rPr lang="zh-CN" altLang="en-US" sz="1600">
                <a:solidFill>
                  <a:schemeClr val="tx1"/>
                </a:solidFill>
                <a:uFillTx/>
                <a:latin typeface="Times New Roman" panose="02020603050405020304" charset="0"/>
              </a:rPr>
              <a:t>大于非农业</a:t>
            </a:r>
            <a:r>
              <a:rPr lang="zh-CN" altLang="en-US" sz="1600" b="1">
                <a:solidFill>
                  <a:schemeClr val="tx1"/>
                </a:solidFill>
                <a:uFillTx/>
                <a:latin typeface="Times New Roman" panose="02020603050405020304" charset="0"/>
              </a:rPr>
              <a:t>（</a:t>
            </a:r>
            <a:r>
              <a:rPr lang="en-US" altLang="zh-CN" sz="1600" b="1">
                <a:solidFill>
                  <a:schemeClr val="tx1"/>
                </a:solidFill>
                <a:uFillTx/>
                <a:latin typeface="Times New Roman" panose="02020603050405020304" charset="0"/>
              </a:rPr>
              <a:t>1.9</a:t>
            </a:r>
            <a:r>
              <a:rPr lang="zh-CN" altLang="en-US" sz="1600" b="1">
                <a:solidFill>
                  <a:schemeClr val="tx1"/>
                </a:solidFill>
                <a:uFillTx/>
                <a:latin typeface="Times New Roman" panose="02020603050405020304" charset="0"/>
              </a:rPr>
              <a:t>倍）</a:t>
            </a:r>
            <a:r>
              <a:rPr lang="zh-CN" altLang="en-US" sz="1600">
                <a:solidFill>
                  <a:schemeClr val="tx1"/>
                </a:solidFill>
                <a:uFillTx/>
                <a:latin typeface="Times New Roman" panose="02020603050405020304" charset="0"/>
              </a:rPr>
              <a:t>，比值 </a:t>
            </a:r>
            <a:r>
              <a:rPr lang="en-US" altLang="zh-CN" sz="1600" b="1">
                <a:solidFill>
                  <a:schemeClr val="tx1"/>
                </a:solidFill>
                <a:uFillTx/>
                <a:latin typeface="Times New Roman" panose="02020603050405020304" charset="0"/>
              </a:rPr>
              <a:t>5.8</a:t>
            </a:r>
            <a:r>
              <a:rPr lang="zh-CN" altLang="en-US" sz="1600">
                <a:solidFill>
                  <a:schemeClr val="tx1"/>
                </a:solidFill>
                <a:uFillTx/>
                <a:latin typeface="Times New Roman" panose="02020603050405020304" charset="0"/>
              </a:rPr>
              <a:t>。</a:t>
            </a:r>
            <a:endParaRPr lang="en-US" altLang="zh-CN" sz="1600">
              <a:solidFill>
                <a:schemeClr val="tx1"/>
              </a:solidFill>
              <a:uFillTx/>
              <a:latin typeface="Times New Roman" panose="02020603050405020304" charset="0"/>
            </a:endParaRPr>
          </a:p>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模型预测：</a:t>
            </a:r>
            <a:r>
              <a:rPr lang="zh-CN" altLang="en-US" sz="1600">
                <a:solidFill>
                  <a:schemeClr val="tx1"/>
                </a:solidFill>
                <a:uFillTx/>
                <a:latin typeface="Times New Roman" panose="02020603050405020304" charset="0"/>
              </a:rPr>
              <a:t>选择机制带来的</a:t>
            </a:r>
            <a:r>
              <a:rPr lang="zh-CN" altLang="en-US" sz="1600" b="1">
                <a:solidFill>
                  <a:schemeClr val="tx1"/>
                </a:solidFill>
                <a:uFillTx/>
                <a:latin typeface="Times New Roman" panose="02020603050405020304" charset="0"/>
              </a:rPr>
              <a:t>农业差异仅 3</a:t>
            </a:r>
            <a:r>
              <a:rPr lang="en-US" altLang="zh-CN" sz="1600" b="1">
                <a:solidFill>
                  <a:schemeClr val="tx1"/>
                </a:solidFill>
                <a:uFillTx/>
                <a:latin typeface="Times New Roman" panose="02020603050405020304" charset="0"/>
              </a:rPr>
              <a:t>.8</a:t>
            </a:r>
            <a:r>
              <a:rPr lang="zh-CN" altLang="en-US" sz="1600" b="1">
                <a:solidFill>
                  <a:schemeClr val="tx1"/>
                </a:solidFill>
                <a:uFillTx/>
                <a:latin typeface="Times New Roman" panose="02020603050405020304" charset="0"/>
              </a:rPr>
              <a:t>倍</a:t>
            </a:r>
            <a:r>
              <a:rPr lang="zh-CN" altLang="en-US" sz="1600">
                <a:solidFill>
                  <a:schemeClr val="tx1"/>
                </a:solidFill>
                <a:uFillTx/>
                <a:latin typeface="Times New Roman" panose="02020603050405020304" charset="0"/>
              </a:rPr>
              <a:t>，</a:t>
            </a:r>
            <a:r>
              <a:rPr lang="zh-CN" altLang="en-US" sz="1600" b="1">
                <a:solidFill>
                  <a:schemeClr val="tx1"/>
                </a:solidFill>
                <a:uFillTx/>
                <a:latin typeface="Times New Roman" panose="02020603050405020304" charset="0"/>
              </a:rPr>
              <a:t>非农业 </a:t>
            </a:r>
            <a:r>
              <a:rPr lang="en-US" altLang="zh-CN" sz="1600" b="1">
                <a:solidFill>
                  <a:schemeClr val="tx1"/>
                </a:solidFill>
                <a:uFillTx/>
                <a:latin typeface="Times New Roman" panose="02020603050405020304" charset="0"/>
              </a:rPr>
              <a:t>3.0</a:t>
            </a:r>
            <a:r>
              <a:rPr lang="zh-CN" altLang="en-US" sz="1600" b="1">
                <a:solidFill>
                  <a:schemeClr val="tx1"/>
                </a:solidFill>
                <a:uFillTx/>
                <a:latin typeface="Times New Roman" panose="02020603050405020304" charset="0"/>
              </a:rPr>
              <a:t>倍</a:t>
            </a:r>
            <a:r>
              <a:rPr lang="zh-CN" altLang="en-US" sz="1600">
                <a:solidFill>
                  <a:schemeClr val="tx1"/>
                </a:solidFill>
                <a:uFillTx/>
                <a:latin typeface="Times New Roman" panose="02020603050405020304" charset="0"/>
              </a:rPr>
              <a:t>，比值</a:t>
            </a:r>
            <a:r>
              <a:rPr lang="zh-CN" altLang="en-US" sz="1600" b="1">
                <a:solidFill>
                  <a:schemeClr val="tx1"/>
                </a:solidFill>
                <a:uFillTx/>
                <a:latin typeface="Times New Roman" panose="02020603050405020304" charset="0"/>
              </a:rPr>
              <a:t> 只有</a:t>
            </a:r>
            <a:r>
              <a:rPr lang="en-US" altLang="zh-CN" sz="1600" b="1">
                <a:solidFill>
                  <a:schemeClr val="tx1"/>
                </a:solidFill>
                <a:uFillTx/>
                <a:latin typeface="Times New Roman" panose="02020603050405020304" charset="0"/>
              </a:rPr>
              <a:t>1</a:t>
            </a:r>
            <a:r>
              <a:rPr lang="zh-CN" altLang="en-US" sz="1600" b="1">
                <a:solidFill>
                  <a:schemeClr val="tx1"/>
                </a:solidFill>
                <a:uFillTx/>
                <a:latin typeface="Times New Roman" panose="02020603050405020304" charset="0"/>
              </a:rPr>
              <a:t>.3</a:t>
            </a:r>
            <a:r>
              <a:rPr lang="zh-CN" altLang="en-US" sz="1600">
                <a:solidFill>
                  <a:schemeClr val="tx1"/>
                </a:solidFill>
                <a:uFillTx/>
                <a:latin typeface="Times New Roman" panose="02020603050405020304" charset="0"/>
              </a:rPr>
              <a:t>。</a:t>
            </a:r>
            <a:endParaRPr lang="en-US" altLang="zh-CN" sz="1600">
              <a:solidFill>
                <a:schemeClr val="tx1"/>
              </a:solidFill>
              <a:uFillTx/>
              <a:latin typeface="Times New Roman" panose="02020603050405020304" charset="0"/>
            </a:endParaRPr>
          </a:p>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原因：</a:t>
            </a:r>
            <a:r>
              <a:rPr lang="zh-CN" altLang="en-US" sz="1600">
                <a:solidFill>
                  <a:schemeClr val="tx1"/>
                </a:solidFill>
                <a:uFillTx/>
                <a:latin typeface="Times New Roman" panose="02020603050405020304" charset="0"/>
              </a:rPr>
              <a:t>90分位与50分位国家的</a:t>
            </a:r>
            <a:r>
              <a:rPr lang="zh-CN" altLang="en-US" sz="1600" b="1">
                <a:solidFill>
                  <a:schemeClr val="tx1"/>
                </a:solidFill>
                <a:uFillTx/>
                <a:latin typeface="Times New Roman" panose="02020603050405020304" charset="0"/>
              </a:rPr>
              <a:t>农业就业份额差异小（3% </a:t>
            </a:r>
            <a:r>
              <a:rPr lang="en-US" altLang="zh-CN" sz="1600" b="1">
                <a:solidFill>
                  <a:schemeClr val="tx1"/>
                </a:solidFill>
                <a:uFillTx/>
                <a:latin typeface="Times New Roman" panose="02020603050405020304" charset="0"/>
              </a:rPr>
              <a:t>vs 9%）</a:t>
            </a:r>
            <a:r>
              <a:rPr lang="en-US" altLang="zh-CN" sz="1600">
                <a:solidFill>
                  <a:schemeClr val="tx1"/>
                </a:solidFill>
                <a:uFillTx/>
                <a:latin typeface="Times New Roman" panose="02020603050405020304" charset="0"/>
              </a:rPr>
              <a:t>，</a:t>
            </a:r>
            <a:r>
              <a:rPr lang="zh-CN" altLang="en-US" sz="1600">
                <a:solidFill>
                  <a:schemeClr val="tx1"/>
                </a:solidFill>
                <a:uFillTx/>
                <a:latin typeface="Times New Roman" panose="02020603050405020304" charset="0"/>
              </a:rPr>
              <a:t>两国农业工人都高度挑选，平均生产率接近。</a:t>
            </a:r>
            <a:endParaRPr lang="zh-CN" altLang="en-US" sz="1600">
              <a:solidFill>
                <a:schemeClr val="tx1"/>
              </a:solidFill>
              <a:uFillTx/>
              <a:latin typeface="Times New Roman" panose="02020603050405020304" charset="0"/>
            </a:endParaRPr>
          </a:p>
        </p:txBody>
      </p:sp>
      <p:sp>
        <p:nvSpPr>
          <p:cNvPr id="12" name="圆角矩形 97"/>
          <p:cNvSpPr/>
          <p:nvPr>
            <p:custDataLst>
              <p:tags r:id="rId1"/>
            </p:custDataLst>
          </p:nvPr>
        </p:nvSpPr>
        <p:spPr>
          <a:xfrm>
            <a:off x="358775" y="5955572"/>
            <a:ext cx="11478260" cy="560705"/>
          </a:xfrm>
          <a:prstGeom prst="roundRect">
            <a:avLst>
              <a:gd name="adj" fmla="val 4544"/>
            </a:avLst>
          </a:prstGeom>
          <a:noFill/>
          <a:ln w="25400">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solidFill>
                <a:schemeClr val="bg1"/>
              </a:solidFill>
            </a:endParaRPr>
          </a:p>
        </p:txBody>
      </p:sp>
      <p:sp>
        <p:nvSpPr>
          <p:cNvPr id="13" name="文本框 12"/>
          <p:cNvSpPr txBox="1"/>
          <p:nvPr/>
        </p:nvSpPr>
        <p:spPr>
          <a:xfrm>
            <a:off x="626110" y="6088380"/>
            <a:ext cx="11199495" cy="337185"/>
          </a:xfrm>
          <a:prstGeom prst="rect">
            <a:avLst/>
          </a:prstGeom>
          <a:noFill/>
        </p:spPr>
        <p:txBody>
          <a:bodyPr wrap="square" rtlCol="0">
            <a:spAutoFit/>
          </a:bodyPr>
          <a:p>
            <a:pPr algn="ctr"/>
            <a:r>
              <a:rPr lang="zh-CN" altLang="en-US" sz="1600" b="1">
                <a:solidFill>
                  <a:schemeClr val="tx1"/>
                </a:solidFill>
                <a:uFillTx/>
                <a:latin typeface="微软雅黑" panose="020B0503020204020204" charset="-122"/>
                <a:ea typeface="微软雅黑" panose="020B0503020204020204" charset="-122"/>
              </a:rPr>
              <a:t>结论：</a:t>
            </a:r>
            <a:r>
              <a:rPr lang="zh-CN" altLang="en-US" sz="1600" b="1">
                <a:solidFill>
                  <a:schemeClr val="tx1"/>
                </a:solidFill>
                <a:uFillTx/>
                <a:latin typeface="Times New Roman" panose="02020603050405020304" charset="0"/>
                <a:ea typeface="宋体" panose="02010600030101010101" pitchFamily="2" charset="-122"/>
              </a:rPr>
              <a:t>选择机制主要解释富国–穷国之间的巨大农业差异；在富国</a:t>
            </a:r>
            <a:r>
              <a:rPr lang="zh-CN" altLang="en-US" sz="1600" b="1">
                <a:uFillTx/>
                <a:latin typeface="Times New Roman" panose="02020603050405020304" charset="0"/>
                <a:ea typeface="宋体" panose="02010600030101010101" pitchFamily="2" charset="-122"/>
                <a:sym typeface="+mn-ea"/>
              </a:rPr>
              <a:t>–</a:t>
            </a:r>
            <a:r>
              <a:rPr lang="zh-CN" altLang="en-US" sz="1600" b="1">
                <a:solidFill>
                  <a:schemeClr val="tx1"/>
                </a:solidFill>
                <a:uFillTx/>
                <a:latin typeface="Times New Roman" panose="02020603050405020304" charset="0"/>
                <a:ea typeface="宋体" panose="02010600030101010101" pitchFamily="2" charset="-122"/>
              </a:rPr>
              <a:t>中等收入国家</a:t>
            </a:r>
            <a:r>
              <a:rPr lang="zh-CN" altLang="en-US" sz="1600" b="1">
                <a:solidFill>
                  <a:schemeClr val="tx1"/>
                </a:solidFill>
                <a:uFillTx/>
                <a:latin typeface="Times New Roman" panose="02020603050405020304" charset="0"/>
                <a:ea typeface="宋体" panose="02010600030101010101" pitchFamily="2" charset="-122"/>
              </a:rPr>
              <a:t>之间作用有限。</a:t>
            </a:r>
            <a:endParaRPr lang="zh-CN" altLang="en-US" sz="1600" b="1">
              <a:solidFill>
                <a:schemeClr val="tx1"/>
              </a:solidFill>
              <a:uFillTx/>
              <a:latin typeface="Times New Roman" panose="02020603050405020304"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1578610" y="1468755"/>
            <a:ext cx="9192895" cy="2674620"/>
          </a:xfrm>
          <a:prstGeom prst="rect">
            <a:avLst/>
          </a:prstGeom>
        </p:spPr>
      </p:pic>
      <p:sp>
        <p:nvSpPr>
          <p:cNvPr id="4" name="文本框 3"/>
          <p:cNvSpPr txBox="1"/>
          <p:nvPr/>
        </p:nvSpPr>
        <p:spPr>
          <a:xfrm>
            <a:off x="803910" y="914400"/>
            <a:ext cx="10659110" cy="368300"/>
          </a:xfrm>
          <a:prstGeom prst="rect">
            <a:avLst/>
          </a:prstGeom>
          <a:noFill/>
        </p:spPr>
        <p:txBody>
          <a:bodyPr wrap="square" rtlCol="0">
            <a:spAutoFit/>
          </a:bodyPr>
          <a:lstStyle/>
          <a:p>
            <a:r>
              <a:rPr lang="zh-CN" altLang="en-US" b="1"/>
              <a:t>稳健性检验</a:t>
            </a:r>
            <a:r>
              <a:rPr lang="en-US" altLang="zh-CN" b="1"/>
              <a:t> </a:t>
            </a:r>
            <a:r>
              <a:rPr lang="en-US" altLang="zh-CN" b="1">
                <a:latin typeface="Times New Roman" panose="02020603050405020304" charset="0"/>
                <a:cs typeface="Times New Roman" panose="02020603050405020304" charset="0"/>
              </a:rPr>
              <a:t>1 </a:t>
            </a:r>
            <a:r>
              <a:rPr lang="en-US" altLang="zh-CN" b="1"/>
              <a:t>——</a:t>
            </a:r>
            <a:r>
              <a:rPr lang="zh-CN" altLang="en-US" sz="1600" b="1"/>
              <a:t>中等收入国家：</a:t>
            </a:r>
            <a:r>
              <a:rPr lang="zh-CN" altLang="en-US" sz="1600" b="1">
                <a:solidFill>
                  <a:schemeClr val="tx1"/>
                </a:solidFill>
                <a:uFillTx/>
                <a:latin typeface="Times New Roman" panose="02020603050405020304" charset="0"/>
              </a:rPr>
              <a:t>劳均</a:t>
            </a:r>
            <a:r>
              <a:rPr lang="en-US" altLang="zh-CN" sz="1600" b="1">
                <a:solidFill>
                  <a:schemeClr val="tx1"/>
                </a:solidFill>
                <a:uFillTx/>
                <a:latin typeface="Times New Roman" panose="02020603050405020304" charset="0"/>
              </a:rPr>
              <a:t>GDP90</a:t>
            </a:r>
            <a:r>
              <a:rPr lang="zh-CN" altLang="en-US" sz="1600" b="1">
                <a:solidFill>
                  <a:schemeClr val="tx1"/>
                </a:solidFill>
                <a:uFillTx/>
                <a:latin typeface="Times New Roman" panose="02020603050405020304" charset="0"/>
              </a:rPr>
              <a:t>分位国家与</a:t>
            </a:r>
            <a:r>
              <a:rPr lang="en-US" altLang="zh-CN" sz="1600" b="1">
                <a:solidFill>
                  <a:schemeClr val="tx1"/>
                </a:solidFill>
                <a:uFillTx/>
                <a:latin typeface="Times New Roman" panose="02020603050405020304" charset="0"/>
              </a:rPr>
              <a:t>50</a:t>
            </a:r>
            <a:r>
              <a:rPr lang="zh-CN" altLang="en-US" sz="1600" b="1">
                <a:solidFill>
                  <a:schemeClr val="tx1"/>
                </a:solidFill>
                <a:uFillTx/>
                <a:latin typeface="Times New Roman" panose="02020603050405020304" charset="0"/>
              </a:rPr>
              <a:t>分位国家进行实验</a:t>
            </a:r>
            <a:endParaRPr lang="zh-CN" altLang="en-US" sz="1600" b="1">
              <a:solidFill>
                <a:schemeClr val="tx1"/>
              </a:solidFill>
              <a:uFillTx/>
              <a:latin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803910" y="914400"/>
            <a:ext cx="10416540" cy="614045"/>
          </a:xfrm>
          <a:prstGeom prst="rect">
            <a:avLst/>
          </a:prstGeom>
          <a:noFill/>
        </p:spPr>
        <p:txBody>
          <a:bodyPr wrap="square" rtlCol="0">
            <a:spAutoFit/>
          </a:bodyPr>
          <a:lstStyle/>
          <a:p>
            <a:r>
              <a:rPr lang="zh-CN" altLang="en-US" b="1"/>
              <a:t>稳健性检验</a:t>
            </a:r>
            <a:r>
              <a:rPr lang="en-US" altLang="zh-CN" b="1"/>
              <a:t> </a:t>
            </a:r>
            <a:r>
              <a:rPr lang="en-US" altLang="zh-CN" b="1">
                <a:latin typeface="Times New Roman" panose="02020603050405020304" charset="0"/>
                <a:cs typeface="Times New Roman" panose="02020603050405020304" charset="0"/>
              </a:rPr>
              <a:t>2 </a:t>
            </a:r>
            <a:r>
              <a:rPr lang="en-US" altLang="zh-CN" b="1"/>
              <a:t>——</a:t>
            </a:r>
            <a:r>
              <a:rPr lang="zh-CN" altLang="en-US" sz="1600" b="1"/>
              <a:t>敏感性分析：改</a:t>
            </a:r>
            <a:r>
              <a:rPr lang="zh-CN" altLang="en-US" sz="1600" b="1"/>
              <a:t>变个体生产率之间的相关性</a:t>
            </a:r>
            <a:r>
              <a:rPr lang="en-US" altLang="zh-CN" sz="1600" b="1" dirty="0">
                <a:sym typeface="+mn-ea"/>
              </a:rPr>
              <a:t>ρ</a:t>
            </a:r>
            <a:r>
              <a:rPr lang="zh-CN" altLang="en-US" sz="1600" b="1"/>
              <a:t>大小，同时重新校准 </a:t>
            </a:r>
            <a:r>
              <a:rPr lang="en-US" altLang="zh-CN" sz="1600" b="1" i="1">
                <a:latin typeface="Times New Roman" panose="02020603050405020304" charset="0"/>
                <a:cs typeface="Times New Roman" panose="02020603050405020304" charset="0"/>
              </a:rPr>
              <a:t>θ</a:t>
            </a:r>
            <a:r>
              <a:rPr lang="en-US" altLang="zh-CN" sz="1600" b="1" i="1" baseline="-25000">
                <a:latin typeface="Times New Roman" panose="02020603050405020304" charset="0"/>
                <a:cs typeface="Times New Roman" panose="02020603050405020304" charset="0"/>
              </a:rPr>
              <a:t>a </a:t>
            </a:r>
            <a:r>
              <a:rPr lang="en-US" altLang="zh-CN" sz="1600" b="1" i="1">
                <a:latin typeface="Times New Roman" panose="02020603050405020304" charset="0"/>
                <a:cs typeface="Times New Roman" panose="02020603050405020304" charset="0"/>
              </a:rPr>
              <a:t>,θ</a:t>
            </a:r>
            <a:r>
              <a:rPr lang="en-US" altLang="zh-CN" sz="1600" b="1" i="1" baseline="-25000">
                <a:latin typeface="Times New Roman" panose="02020603050405020304" charset="0"/>
                <a:cs typeface="Times New Roman" panose="02020603050405020304" charset="0"/>
              </a:rPr>
              <a:t>n </a:t>
            </a:r>
            <a:r>
              <a:rPr lang="en-US" altLang="zh-CN" sz="1600" b="1" i="1">
                <a:latin typeface="Times New Roman" panose="02020603050405020304" charset="0"/>
                <a:cs typeface="Times New Roman" panose="02020603050405020304" charset="0"/>
              </a:rPr>
              <a:t>,ν, aˉ</a:t>
            </a:r>
            <a:r>
              <a:rPr lang="zh-CN" altLang="en-US" sz="1600" b="1" i="1">
                <a:latin typeface="Times New Roman" panose="02020603050405020304" charset="0"/>
                <a:cs typeface="Times New Roman" panose="02020603050405020304" charset="0"/>
              </a:rPr>
              <a:t>，</a:t>
            </a:r>
            <a:r>
              <a:rPr lang="zh-CN" altLang="en-US" sz="1600" b="1"/>
              <a:t>保持工资方差和就业份额不变，观察选择效应如何变化</a:t>
            </a:r>
            <a:endParaRPr lang="zh-CN" altLang="en-US" sz="1600" b="1"/>
          </a:p>
        </p:txBody>
      </p:sp>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5" name="矩形 64"/>
          <p:cNvSpPr/>
          <p:nvPr/>
        </p:nvSpPr>
        <p:spPr>
          <a:xfrm>
            <a:off x="1087120" y="1626235"/>
            <a:ext cx="10119995" cy="2943860"/>
          </a:xfrm>
          <a:prstGeom prst="rect">
            <a:avLst/>
          </a:prstGeom>
          <a:noFill/>
          <a:ln w="22225">
            <a:solidFill>
              <a:schemeClr val="accent6"/>
            </a:solidFill>
            <a:prstDash val="lg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1020445" y="4621530"/>
            <a:ext cx="10200005" cy="1198880"/>
          </a:xfrm>
          <a:prstGeom prst="rect">
            <a:avLst/>
          </a:prstGeom>
          <a:noFill/>
        </p:spPr>
        <p:txBody>
          <a:bodyPr wrap="square" rtlCol="0">
            <a:spAutoFit/>
          </a:bodyPr>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相关性越高</a:t>
            </a:r>
            <a:r>
              <a:rPr lang="zh-CN" altLang="en-US" sz="1600">
                <a:solidFill>
                  <a:schemeClr val="tx1"/>
                </a:solidFill>
                <a:uFillTx/>
                <a:latin typeface="Times New Roman" panose="02020603050405020304" charset="0"/>
              </a:rPr>
              <a:t>，高生产率者越集中在非农业，</a:t>
            </a:r>
            <a:r>
              <a:rPr lang="zh-CN" altLang="en-US" sz="1600" b="1">
                <a:solidFill>
                  <a:schemeClr val="tx1"/>
                </a:solidFill>
                <a:uFillTx/>
                <a:latin typeface="Times New Roman" panose="02020603050405020304" charset="0"/>
              </a:rPr>
              <a:t>农业选择效应越弱</a:t>
            </a:r>
            <a:r>
              <a:rPr lang="zh-CN" altLang="en-US" sz="1600">
                <a:solidFill>
                  <a:schemeClr val="tx1"/>
                </a:solidFill>
                <a:uFillTx/>
                <a:latin typeface="Times New Roman" panose="02020603050405020304" charset="0"/>
              </a:rPr>
              <a:t>。</a:t>
            </a:r>
            <a:endParaRPr lang="zh-CN" altLang="en-US" sz="1600">
              <a:solidFill>
                <a:schemeClr val="tx1"/>
              </a:solidFill>
              <a:uFillTx/>
              <a:latin typeface="Times New Roman" panose="02020603050405020304" charset="0"/>
            </a:endParaRPr>
          </a:p>
          <a:p>
            <a:pPr marL="285750" indent="-285750" fontAlgn="auto">
              <a:lnSpc>
                <a:spcPct val="150000"/>
              </a:lnSpc>
              <a:buFont typeface="Arial" panose="020B0604020202020204" pitchFamily="34" charset="0"/>
              <a:buChar char="•"/>
            </a:pPr>
            <a:r>
              <a:rPr lang="zh-CN" altLang="en-US" sz="1600">
                <a:solidFill>
                  <a:schemeClr val="tx1"/>
                </a:solidFill>
                <a:uFillTx/>
                <a:latin typeface="Times New Roman" panose="02020603050405020304" charset="0"/>
              </a:rPr>
              <a:t>基准𝜌</a:t>
            </a:r>
            <a:r>
              <a:rPr lang="en-US" altLang="zh-CN" sz="1600">
                <a:solidFill>
                  <a:schemeClr val="tx1"/>
                </a:solidFill>
                <a:uFillTx/>
                <a:latin typeface="Times New Roman" panose="02020603050405020304" charset="0"/>
              </a:rPr>
              <a:t>=2.2（</a:t>
            </a:r>
            <a:r>
              <a:rPr lang="zh-CN" altLang="en-US" sz="1600">
                <a:solidFill>
                  <a:schemeClr val="tx1"/>
                </a:solidFill>
                <a:uFillTx/>
                <a:latin typeface="Times New Roman" panose="02020603050405020304" charset="0"/>
              </a:rPr>
              <a:t>表格中的</a:t>
            </a:r>
            <a:r>
              <a:rPr lang="en-US" altLang="zh-CN" sz="1600">
                <a:solidFill>
                  <a:schemeClr val="tx1"/>
                </a:solidFill>
                <a:uFillTx/>
                <a:latin typeface="Times New Roman" panose="02020603050405020304" charset="0"/>
              </a:rPr>
              <a:t>0.24</a:t>
            </a:r>
            <a:r>
              <a:rPr lang="zh-CN" altLang="en-US" sz="1600">
                <a:solidFill>
                  <a:schemeClr val="tx1"/>
                </a:solidFill>
                <a:uFillTx/>
                <a:latin typeface="Times New Roman" panose="02020603050405020304" charset="0"/>
              </a:rPr>
              <a:t>为</a:t>
            </a:r>
            <a:r>
              <a:rPr lang="en-US" altLang="zh-CN" sz="1600">
                <a:solidFill>
                  <a:schemeClr val="tx1"/>
                </a:solidFill>
                <a:uFillTx/>
                <a:latin typeface="Times New Roman" panose="02020603050405020304" charset="0"/>
              </a:rPr>
              <a:t>Spearman </a:t>
            </a:r>
            <a:r>
              <a:rPr lang="zh-CN" altLang="en-US" sz="1600">
                <a:solidFill>
                  <a:schemeClr val="tx1"/>
                </a:solidFill>
                <a:uFillTx/>
                <a:latin typeface="Times New Roman" panose="02020603050405020304" charset="0"/>
              </a:rPr>
              <a:t>秩相关系数，</a:t>
            </a:r>
            <a:r>
              <a:rPr lang="zh-CN" altLang="en-US" sz="1600">
                <a:uFillTx/>
                <a:latin typeface="Times New Roman" panose="02020603050405020304" charset="0"/>
                <a:sym typeface="+mn-ea"/>
              </a:rPr>
              <a:t>𝜌</a:t>
            </a:r>
            <a:r>
              <a:rPr lang="en-US" altLang="zh-CN" sz="1600">
                <a:uFillTx/>
                <a:latin typeface="Times New Roman" panose="02020603050405020304" charset="0"/>
                <a:sym typeface="+mn-ea"/>
              </a:rPr>
              <a:t>=2.2</a:t>
            </a:r>
            <a:r>
              <a:rPr lang="zh-CN" altLang="en-US" sz="1600">
                <a:uFillTx/>
                <a:latin typeface="Times New Roman" panose="02020603050405020304" charset="0"/>
                <a:sym typeface="+mn-ea"/>
              </a:rPr>
              <a:t>对应的</a:t>
            </a:r>
            <a:r>
              <a:rPr lang="zh-CN" altLang="en-US" sz="1600">
                <a:solidFill>
                  <a:schemeClr val="tx1"/>
                </a:solidFill>
                <a:uFillTx/>
                <a:latin typeface="Times New Roman" panose="02020603050405020304" charset="0"/>
              </a:rPr>
              <a:t>线性相关系数为</a:t>
            </a:r>
            <a:r>
              <a:rPr lang="en-US" altLang="zh-CN" sz="1600">
                <a:solidFill>
                  <a:schemeClr val="tx1"/>
                </a:solidFill>
                <a:uFillTx/>
                <a:latin typeface="Times New Roman" panose="02020603050405020304" charset="0"/>
              </a:rPr>
              <a:t>0.31</a:t>
            </a:r>
            <a:r>
              <a:rPr lang="zh-CN" altLang="en-US" sz="1600">
                <a:solidFill>
                  <a:schemeClr val="tx1"/>
                </a:solidFill>
                <a:uFillTx/>
                <a:latin typeface="Times New Roman" panose="02020603050405020304" charset="0"/>
              </a:rPr>
              <a:t>）使农业/非农比值 2.3，工资比 0.69，与数据吻合。</a:t>
            </a:r>
            <a:endParaRPr lang="zh-CN" altLang="en-US" sz="1600">
              <a:solidFill>
                <a:schemeClr val="tx1"/>
              </a:solidFill>
              <a:uFillTx/>
              <a:latin typeface="Times New Roman" panose="02020603050405020304" charset="0"/>
            </a:endParaRPr>
          </a:p>
        </p:txBody>
      </p:sp>
      <p:sp>
        <p:nvSpPr>
          <p:cNvPr id="12" name="圆角矩形 97"/>
          <p:cNvSpPr/>
          <p:nvPr>
            <p:custDataLst>
              <p:tags r:id="rId1"/>
            </p:custDataLst>
          </p:nvPr>
        </p:nvSpPr>
        <p:spPr>
          <a:xfrm>
            <a:off x="358775" y="5955572"/>
            <a:ext cx="11478260" cy="560705"/>
          </a:xfrm>
          <a:prstGeom prst="roundRect">
            <a:avLst>
              <a:gd name="adj" fmla="val 4544"/>
            </a:avLst>
          </a:prstGeom>
          <a:noFill/>
          <a:ln w="25400">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solidFill>
                <a:schemeClr val="bg1"/>
              </a:solidFill>
            </a:endParaRPr>
          </a:p>
        </p:txBody>
      </p:sp>
      <p:sp>
        <p:nvSpPr>
          <p:cNvPr id="13" name="文本框 12"/>
          <p:cNvSpPr txBox="1"/>
          <p:nvPr/>
        </p:nvSpPr>
        <p:spPr>
          <a:xfrm>
            <a:off x="626110" y="6088380"/>
            <a:ext cx="11199495" cy="337185"/>
          </a:xfrm>
          <a:prstGeom prst="rect">
            <a:avLst/>
          </a:prstGeom>
          <a:noFill/>
        </p:spPr>
        <p:txBody>
          <a:bodyPr wrap="square" rtlCol="0">
            <a:spAutoFit/>
          </a:bodyPr>
          <a:p>
            <a:pPr algn="ctr"/>
            <a:r>
              <a:rPr lang="zh-CN" altLang="en-US" sz="1600" b="1">
                <a:solidFill>
                  <a:schemeClr val="tx1"/>
                </a:solidFill>
                <a:uFillTx/>
                <a:latin typeface="微软雅黑" panose="020B0503020204020204" charset="-122"/>
                <a:ea typeface="微软雅黑" panose="020B0503020204020204" charset="-122"/>
              </a:rPr>
              <a:t>结论：</a:t>
            </a:r>
            <a:r>
              <a:rPr lang="zh-CN" altLang="en-US" sz="1600" b="1">
                <a:solidFill>
                  <a:schemeClr val="tx1"/>
                </a:solidFill>
                <a:uFillTx/>
                <a:latin typeface="Times New Roman" panose="02020603050405020304" charset="0"/>
                <a:ea typeface="宋体" panose="02010600030101010101" pitchFamily="2" charset="-122"/>
              </a:rPr>
              <a:t>基准校准</a:t>
            </a:r>
            <a:r>
              <a:rPr lang="en-US" altLang="zh-CN" sz="1600" b="1">
                <a:solidFill>
                  <a:schemeClr val="tx1"/>
                </a:solidFill>
                <a:uFillTx/>
                <a:latin typeface="Times New Roman" panose="02020603050405020304" charset="0"/>
                <a:ea typeface="宋体" panose="02010600030101010101" pitchFamily="2" charset="-122"/>
              </a:rPr>
              <a:t> </a:t>
            </a:r>
            <a:r>
              <a:rPr lang="zh-CN" altLang="en-US" sz="1600">
                <a:uFillTx/>
                <a:latin typeface="Times New Roman" panose="02020603050405020304" charset="0"/>
                <a:sym typeface="+mn-ea"/>
              </a:rPr>
              <a:t>𝜌</a:t>
            </a:r>
            <a:r>
              <a:rPr lang="en-US" altLang="zh-CN" sz="1600">
                <a:uFillTx/>
                <a:latin typeface="Times New Roman" panose="02020603050405020304" charset="0"/>
                <a:sym typeface="+mn-ea"/>
              </a:rPr>
              <a:t>=2.2 </a:t>
            </a:r>
            <a:r>
              <a:rPr lang="zh-CN" altLang="en-US" sz="1600" b="1">
                <a:solidFill>
                  <a:schemeClr val="tx1"/>
                </a:solidFill>
                <a:uFillTx/>
                <a:latin typeface="Times New Roman" panose="02020603050405020304" charset="0"/>
                <a:ea typeface="宋体" panose="02010600030101010101" pitchFamily="2" charset="-122"/>
              </a:rPr>
              <a:t>处于合理区间，核心结论对相关性稳健。</a:t>
            </a:r>
            <a:endParaRPr lang="zh-CN" altLang="en-US" sz="1600" b="1">
              <a:solidFill>
                <a:schemeClr val="tx1"/>
              </a:solidFill>
              <a:uFillTx/>
              <a:latin typeface="Times New Roman" panose="02020603050405020304" charset="0"/>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1723390" y="1692910"/>
            <a:ext cx="8865235" cy="28428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5" name="矩形 64"/>
          <p:cNvSpPr/>
          <p:nvPr/>
        </p:nvSpPr>
        <p:spPr>
          <a:xfrm>
            <a:off x="1087120" y="1557655"/>
            <a:ext cx="10119995" cy="2776220"/>
          </a:xfrm>
          <a:prstGeom prst="rect">
            <a:avLst/>
          </a:prstGeom>
          <a:noFill/>
          <a:ln w="22225">
            <a:solidFill>
              <a:schemeClr val="accent6"/>
            </a:solidFill>
            <a:prstDash val="lg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997585" y="4303395"/>
            <a:ext cx="10270490" cy="1568450"/>
          </a:xfrm>
          <a:prstGeom prst="rect">
            <a:avLst/>
          </a:prstGeom>
          <a:noFill/>
        </p:spPr>
        <p:txBody>
          <a:bodyPr wrap="square" rtlCol="0">
            <a:spAutoFit/>
          </a:bodyPr>
          <a:p>
            <a:pPr marL="285750" indent="-285750" fontAlgn="auto">
              <a:lnSpc>
                <a:spcPct val="150000"/>
              </a:lnSpc>
              <a:buFont typeface="Arial" panose="020B0604020202020204" pitchFamily="34" charset="0"/>
              <a:buChar char="•"/>
            </a:pPr>
            <a:r>
              <a:rPr lang="zh-CN" altLang="en-US" sz="1600">
                <a:solidFill>
                  <a:schemeClr val="tx1"/>
                </a:solidFill>
                <a:uFillTx/>
                <a:latin typeface="Times New Roman" panose="02020603050405020304" charset="0"/>
              </a:rPr>
              <a:t>引入农业特有</a:t>
            </a:r>
            <a:r>
              <a:rPr lang="en-US" altLang="zh-CN" sz="1600">
                <a:solidFill>
                  <a:schemeClr val="tx1"/>
                </a:solidFill>
                <a:uFillTx/>
                <a:latin typeface="Times New Roman" panose="02020603050405020304" charset="0"/>
              </a:rPr>
              <a:t> </a:t>
            </a:r>
            <a:r>
              <a:rPr lang="en-US" altLang="zh-CN" sz="1600" i="1">
                <a:solidFill>
                  <a:schemeClr val="tx1"/>
                </a:solidFill>
                <a:uFillTx/>
                <a:latin typeface="Times New Roman" panose="02020603050405020304" charset="0"/>
              </a:rPr>
              <a:t>Aa</a:t>
            </a:r>
            <a:r>
              <a:rPr lang="zh-CN" altLang="en-US" sz="1600">
                <a:solidFill>
                  <a:schemeClr val="tx1"/>
                </a:solidFill>
                <a:uFillTx/>
                <a:latin typeface="Times New Roman" panose="02020603050405020304" charset="0"/>
              </a:rPr>
              <a:t>，富国调整</a:t>
            </a:r>
            <a:r>
              <a:rPr lang="en-US" altLang="zh-CN" sz="1600">
                <a:solidFill>
                  <a:schemeClr val="tx1"/>
                </a:solidFill>
                <a:uFillTx/>
                <a:latin typeface="Times New Roman" panose="02020603050405020304" charset="0"/>
              </a:rPr>
              <a:t> </a:t>
            </a:r>
            <a:r>
              <a:rPr lang="en-US" altLang="zh-CN" sz="1600" i="1">
                <a:solidFill>
                  <a:schemeClr val="tx1"/>
                </a:solidFill>
                <a:uFillTx/>
                <a:latin typeface="Times New Roman" panose="02020603050405020304" charset="0"/>
              </a:rPr>
              <a:t>A </a:t>
            </a:r>
            <a:r>
              <a:rPr lang="zh-CN" altLang="en-US" sz="1600">
                <a:solidFill>
                  <a:schemeClr val="tx1"/>
                </a:solidFill>
                <a:uFillTx/>
                <a:latin typeface="Times New Roman" panose="02020603050405020304" charset="0"/>
              </a:rPr>
              <a:t>匹配</a:t>
            </a:r>
            <a:r>
              <a:rPr lang="en-US" altLang="zh-CN" sz="1600">
                <a:solidFill>
                  <a:schemeClr val="tx1"/>
                </a:solidFill>
                <a:uFillTx/>
                <a:latin typeface="Times New Roman" panose="02020603050405020304" charset="0"/>
              </a:rPr>
              <a:t>90</a:t>
            </a:r>
            <a:r>
              <a:rPr lang="zh-CN" altLang="en-US" sz="1600">
                <a:solidFill>
                  <a:schemeClr val="tx1"/>
                </a:solidFill>
                <a:uFillTx/>
                <a:latin typeface="Times New Roman" panose="02020603050405020304" charset="0"/>
              </a:rPr>
              <a:t>分位</a:t>
            </a:r>
            <a:r>
              <a:rPr lang="en-US" altLang="zh-CN" sz="1600">
                <a:solidFill>
                  <a:schemeClr val="tx1"/>
                </a:solidFill>
                <a:uFillTx/>
                <a:latin typeface="Times New Roman" panose="02020603050405020304" charset="0"/>
              </a:rPr>
              <a:t>GDP</a:t>
            </a:r>
            <a:r>
              <a:rPr lang="zh-CN" altLang="en-US" sz="1600">
                <a:solidFill>
                  <a:schemeClr val="tx1"/>
                </a:solidFill>
                <a:uFillTx/>
                <a:latin typeface="Times New Roman" panose="02020603050405020304" charset="0"/>
              </a:rPr>
              <a:t>，穷国同时调整</a:t>
            </a:r>
            <a:r>
              <a:rPr lang="en-US" altLang="zh-CN" sz="1600">
                <a:solidFill>
                  <a:schemeClr val="tx1"/>
                </a:solidFill>
                <a:uFillTx/>
                <a:latin typeface="Times New Roman" panose="02020603050405020304" charset="0"/>
              </a:rPr>
              <a:t> </a:t>
            </a:r>
            <a:r>
              <a:rPr lang="en-US" altLang="zh-CN" sz="1600" i="1">
                <a:solidFill>
                  <a:schemeClr val="tx1"/>
                </a:solidFill>
                <a:uFillTx/>
                <a:latin typeface="Times New Roman" panose="02020603050405020304" charset="0"/>
              </a:rPr>
              <a:t>A </a:t>
            </a:r>
            <a:r>
              <a:rPr lang="zh-CN" altLang="en-US" sz="1600">
                <a:solidFill>
                  <a:schemeClr val="tx1"/>
                </a:solidFill>
                <a:uFillTx/>
                <a:latin typeface="Times New Roman" panose="02020603050405020304" charset="0"/>
              </a:rPr>
              <a:t>和</a:t>
            </a:r>
            <a:r>
              <a:rPr lang="en-US" altLang="zh-CN" sz="1600">
                <a:solidFill>
                  <a:schemeClr val="tx1"/>
                </a:solidFill>
                <a:uFillTx/>
                <a:latin typeface="Times New Roman" panose="02020603050405020304" charset="0"/>
              </a:rPr>
              <a:t> </a:t>
            </a:r>
            <a:r>
              <a:rPr lang="en-US" altLang="zh-CN" sz="1600" i="1">
                <a:solidFill>
                  <a:schemeClr val="tx1"/>
                </a:solidFill>
                <a:uFillTx/>
                <a:latin typeface="Times New Roman" panose="02020603050405020304" charset="0"/>
              </a:rPr>
              <a:t>Aa</a:t>
            </a:r>
            <a:r>
              <a:rPr lang="zh-CN" altLang="en-US" sz="1600">
                <a:solidFill>
                  <a:schemeClr val="tx1"/>
                </a:solidFill>
                <a:uFillTx/>
                <a:latin typeface="Times New Roman" panose="02020603050405020304" charset="0"/>
              </a:rPr>
              <a:t>，同时匹配：非农业差异 = 4 倍，穷国农业就业份额 = 78%。</a:t>
            </a:r>
            <a:endParaRPr lang="en-US" altLang="zh-CN" sz="1600">
              <a:solidFill>
                <a:schemeClr val="tx1"/>
              </a:solidFill>
              <a:uFillTx/>
              <a:latin typeface="Times New Roman" panose="02020603050405020304" charset="0"/>
            </a:endParaRPr>
          </a:p>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模型预测：农业</a:t>
            </a:r>
            <a:r>
              <a:rPr lang="zh-CN" altLang="en-US" sz="1600">
                <a:solidFill>
                  <a:schemeClr val="tx1"/>
                </a:solidFill>
                <a:uFillTx/>
                <a:latin typeface="Times New Roman" panose="02020603050405020304" charset="0"/>
              </a:rPr>
              <a:t>差异</a:t>
            </a:r>
            <a:r>
              <a:rPr lang="zh-CN" altLang="en-US" sz="1600" b="1">
                <a:solidFill>
                  <a:schemeClr val="tx1"/>
                </a:solidFill>
                <a:uFillTx/>
                <a:latin typeface="Times New Roman" panose="02020603050405020304" charset="0"/>
              </a:rPr>
              <a:t> 42 倍</a:t>
            </a:r>
            <a:r>
              <a:rPr lang="zh-CN" altLang="en-US" sz="1600">
                <a:solidFill>
                  <a:schemeClr val="tx1"/>
                </a:solidFill>
                <a:uFillTx/>
                <a:latin typeface="Times New Roman" panose="02020603050405020304" charset="0"/>
              </a:rPr>
              <a:t>，</a:t>
            </a:r>
            <a:r>
              <a:rPr lang="zh-CN" altLang="en-US" sz="1600" b="1">
                <a:solidFill>
                  <a:schemeClr val="tx1"/>
                </a:solidFill>
                <a:uFillTx/>
                <a:latin typeface="Times New Roman" panose="02020603050405020304" charset="0"/>
              </a:rPr>
              <a:t>非农业 4 倍</a:t>
            </a:r>
            <a:r>
              <a:rPr lang="zh-CN" altLang="en-US" sz="1600">
                <a:solidFill>
                  <a:schemeClr val="tx1"/>
                </a:solidFill>
                <a:uFillTx/>
                <a:latin typeface="Times New Roman" panose="02020603050405020304" charset="0"/>
              </a:rPr>
              <a:t>，比值 </a:t>
            </a:r>
            <a:r>
              <a:rPr lang="zh-CN" altLang="en-US" sz="1600" b="1">
                <a:solidFill>
                  <a:schemeClr val="tx1"/>
                </a:solidFill>
                <a:uFillTx/>
                <a:latin typeface="Times New Roman" panose="02020603050405020304" charset="0"/>
              </a:rPr>
              <a:t>9.9</a:t>
            </a:r>
            <a:r>
              <a:rPr lang="zh-CN" altLang="en-US" sz="1600">
                <a:solidFill>
                  <a:schemeClr val="tx1"/>
                </a:solidFill>
                <a:uFillTx/>
                <a:latin typeface="Times New Roman" panose="02020603050405020304" charset="0"/>
              </a:rPr>
              <a:t>，接近数据的 10.7。</a:t>
            </a:r>
            <a:endParaRPr lang="en-US" altLang="zh-CN" sz="1600">
              <a:solidFill>
                <a:schemeClr val="tx1"/>
              </a:solidFill>
              <a:uFillTx/>
              <a:latin typeface="Times New Roman" panose="02020603050405020304" charset="0"/>
            </a:endParaRPr>
          </a:p>
          <a:p>
            <a:pPr marL="285750" indent="-285750" fontAlgn="auto">
              <a:lnSpc>
                <a:spcPct val="150000"/>
              </a:lnSpc>
              <a:buFont typeface="Arial" panose="020B0604020202020204" pitchFamily="34" charset="0"/>
              <a:buChar char="•"/>
            </a:pPr>
            <a:r>
              <a:rPr lang="zh-CN" altLang="en-US" sz="1600" b="1">
                <a:solidFill>
                  <a:schemeClr val="tx1"/>
                </a:solidFill>
                <a:uFillTx/>
                <a:latin typeface="Times New Roman" panose="02020603050405020304" charset="0"/>
              </a:rPr>
              <a:t>关闭选择：</a:t>
            </a:r>
            <a:r>
              <a:rPr lang="zh-CN" altLang="en-US" sz="1600">
                <a:solidFill>
                  <a:schemeClr val="tx1"/>
                </a:solidFill>
                <a:uFillTx/>
                <a:latin typeface="Times New Roman" panose="02020603050405020304" charset="0"/>
              </a:rPr>
              <a:t>比值降到</a:t>
            </a:r>
            <a:r>
              <a:rPr lang="zh-CN" altLang="en-US" sz="1600" b="1">
                <a:solidFill>
                  <a:schemeClr val="tx1"/>
                </a:solidFill>
                <a:uFillTx/>
                <a:latin typeface="Times New Roman" panose="02020603050405020304" charset="0"/>
              </a:rPr>
              <a:t> 3.4</a:t>
            </a:r>
            <a:r>
              <a:rPr lang="zh-CN" altLang="en-US" sz="1600">
                <a:solidFill>
                  <a:schemeClr val="tx1"/>
                </a:solidFill>
                <a:uFillTx/>
                <a:latin typeface="Times New Roman" panose="02020603050405020304" charset="0"/>
              </a:rPr>
              <a:t>，选择机制使差异放大 </a:t>
            </a:r>
            <a:r>
              <a:rPr lang="zh-CN" altLang="en-US" sz="1600" b="1">
                <a:solidFill>
                  <a:schemeClr val="tx1"/>
                </a:solidFill>
                <a:uFillTx/>
                <a:latin typeface="Times New Roman" panose="02020603050405020304" charset="0"/>
              </a:rPr>
              <a:t>2.9 </a:t>
            </a:r>
            <a:r>
              <a:rPr lang="zh-CN" altLang="en-US" sz="1600">
                <a:solidFill>
                  <a:schemeClr val="tx1"/>
                </a:solidFill>
                <a:uFillTx/>
                <a:latin typeface="Times New Roman" panose="02020603050405020304" charset="0"/>
              </a:rPr>
              <a:t>倍。</a:t>
            </a:r>
            <a:endParaRPr lang="zh-CN" altLang="en-US" sz="1600">
              <a:solidFill>
                <a:schemeClr val="tx1"/>
              </a:solidFill>
              <a:uFillTx/>
              <a:latin typeface="Times New Roman" panose="02020603050405020304" charset="0"/>
            </a:endParaRPr>
          </a:p>
        </p:txBody>
      </p:sp>
      <p:sp>
        <p:nvSpPr>
          <p:cNvPr id="12" name="圆角矩形 97"/>
          <p:cNvSpPr/>
          <p:nvPr>
            <p:custDataLst>
              <p:tags r:id="rId1"/>
            </p:custDataLst>
          </p:nvPr>
        </p:nvSpPr>
        <p:spPr>
          <a:xfrm>
            <a:off x="358775" y="5955572"/>
            <a:ext cx="11478260" cy="560705"/>
          </a:xfrm>
          <a:prstGeom prst="roundRect">
            <a:avLst>
              <a:gd name="adj" fmla="val 4544"/>
            </a:avLst>
          </a:prstGeom>
          <a:noFill/>
          <a:ln w="25400">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solidFill>
                <a:schemeClr val="bg1"/>
              </a:solidFill>
            </a:endParaRPr>
          </a:p>
        </p:txBody>
      </p:sp>
      <p:sp>
        <p:nvSpPr>
          <p:cNvPr id="13" name="文本框 12"/>
          <p:cNvSpPr txBox="1"/>
          <p:nvPr/>
        </p:nvSpPr>
        <p:spPr>
          <a:xfrm>
            <a:off x="626110" y="6088380"/>
            <a:ext cx="11199495" cy="337185"/>
          </a:xfrm>
          <a:prstGeom prst="rect">
            <a:avLst/>
          </a:prstGeom>
          <a:noFill/>
        </p:spPr>
        <p:txBody>
          <a:bodyPr wrap="square" rtlCol="0">
            <a:spAutoFit/>
          </a:bodyPr>
          <a:p>
            <a:pPr algn="ctr">
              <a:buClrTx/>
              <a:buSzTx/>
              <a:buFontTx/>
            </a:pPr>
            <a:r>
              <a:rPr lang="zh-CN" altLang="en-US" sz="1600" b="1">
                <a:solidFill>
                  <a:schemeClr val="tx1"/>
                </a:solidFill>
                <a:uFillTx/>
                <a:latin typeface="微软雅黑" panose="020B0503020204020204" charset="-122"/>
                <a:ea typeface="微软雅黑" panose="020B0503020204020204" charset="-122"/>
              </a:rPr>
              <a:t>结论：</a:t>
            </a:r>
            <a:r>
              <a:rPr lang="zh-CN" altLang="en-US" sz="1600" b="1">
                <a:uFillTx/>
                <a:latin typeface="Times New Roman" panose="02020603050405020304" charset="0"/>
                <a:ea typeface="宋体" panose="02010600030101010101" pitchFamily="2" charset="-122"/>
                <a:sym typeface="+mn-ea"/>
              </a:rPr>
              <a:t>与基准实验（2.3 倍）一致，说明结论不依赖 “ 统一</a:t>
            </a:r>
            <a:r>
              <a:rPr lang="zh-CN" altLang="en-US" sz="1600" b="1" i="1">
                <a:uFillTx/>
                <a:latin typeface="Times New Roman" panose="02020603050405020304" charset="0"/>
                <a:ea typeface="宋体" panose="02010600030101010101" pitchFamily="2" charset="-122"/>
                <a:sym typeface="+mn-ea"/>
              </a:rPr>
              <a:t>A</a:t>
            </a:r>
            <a:r>
              <a:rPr lang="zh-CN" altLang="en-US" sz="1600" b="1">
                <a:uFillTx/>
                <a:latin typeface="Times New Roman" panose="02020603050405020304" charset="0"/>
                <a:ea typeface="宋体" panose="02010600030101010101" pitchFamily="2" charset="-122"/>
                <a:sym typeface="+mn-ea"/>
              </a:rPr>
              <a:t> ” 假设。</a:t>
            </a:r>
            <a:endParaRPr lang="zh-CN" altLang="en-US" sz="1600" b="1">
              <a:solidFill>
                <a:schemeClr val="tx1"/>
              </a:solidFill>
              <a:uFillTx/>
              <a:latin typeface="Times New Roman" panose="02020603050405020304" charset="0"/>
              <a:ea typeface="宋体" panose="02010600030101010101" pitchFamily="2" charset="-122"/>
            </a:endParaRPr>
          </a:p>
        </p:txBody>
      </p:sp>
      <p:sp>
        <p:nvSpPr>
          <p:cNvPr id="4" name="文本框 3"/>
          <p:cNvSpPr txBox="1"/>
          <p:nvPr/>
        </p:nvSpPr>
        <p:spPr>
          <a:xfrm>
            <a:off x="803910" y="914400"/>
            <a:ext cx="10659110" cy="583565"/>
          </a:xfrm>
          <a:prstGeom prst="rect">
            <a:avLst/>
          </a:prstGeom>
          <a:noFill/>
        </p:spPr>
        <p:txBody>
          <a:bodyPr wrap="square" rtlCol="0">
            <a:spAutoFit/>
          </a:bodyPr>
          <a:lstStyle/>
          <a:p>
            <a:r>
              <a:rPr lang="zh-CN" altLang="en-US" b="1"/>
              <a:t>稳健性检验</a:t>
            </a:r>
            <a:r>
              <a:rPr lang="en-US" altLang="zh-CN" b="1"/>
              <a:t> </a:t>
            </a:r>
            <a:r>
              <a:rPr lang="en-US" altLang="zh-CN" b="1">
                <a:latin typeface="Times New Roman" panose="02020603050405020304" charset="0"/>
                <a:cs typeface="Times New Roman" panose="02020603050405020304" charset="0"/>
              </a:rPr>
              <a:t>3 </a:t>
            </a:r>
            <a:r>
              <a:rPr lang="en-US" altLang="zh-CN" b="1"/>
              <a:t>——</a:t>
            </a:r>
            <a:r>
              <a:rPr lang="zh-CN" altLang="en-US" sz="1600" b="1">
                <a:solidFill>
                  <a:schemeClr val="tx1"/>
                </a:solidFill>
                <a:uFillTx/>
                <a:latin typeface="Times New Roman" panose="02020603050405020304" charset="0"/>
              </a:rPr>
              <a:t>更换校准方式</a:t>
            </a:r>
            <a:r>
              <a:rPr lang="zh-CN" altLang="en-US" sz="1400" b="1">
                <a:solidFill>
                  <a:schemeClr val="tx1"/>
                </a:solidFill>
                <a:uFillTx/>
                <a:latin typeface="Times New Roman" panose="02020603050405020304" charset="0"/>
              </a:rPr>
              <a:t>：基准实验只让统一的</a:t>
            </a:r>
            <a:r>
              <a:rPr lang="en-US" altLang="zh-CN" sz="1400" b="1" i="1">
                <a:solidFill>
                  <a:schemeClr val="tx1"/>
                </a:solidFill>
                <a:uFillTx/>
                <a:latin typeface="Times New Roman" panose="02020603050405020304" charset="0"/>
              </a:rPr>
              <a:t>A</a:t>
            </a:r>
            <a:r>
              <a:rPr lang="zh-CN" altLang="en-US" sz="1400" b="1">
                <a:solidFill>
                  <a:schemeClr val="tx1"/>
                </a:solidFill>
                <a:uFillTx/>
                <a:latin typeface="Times New Roman" panose="02020603050405020304" charset="0"/>
              </a:rPr>
              <a:t>变化，导致模型预测的非农业差异（14倍）远大于数据（4倍）。本实验换一种校准方式：引入农业特有效率</a:t>
            </a:r>
            <a:r>
              <a:rPr lang="en-US" altLang="zh-CN" sz="1400" b="1" i="1">
                <a:solidFill>
                  <a:schemeClr val="tx1"/>
                </a:solidFill>
                <a:uFillTx/>
                <a:latin typeface="Times New Roman" panose="02020603050405020304" charset="0"/>
              </a:rPr>
              <a:t>Aa</a:t>
            </a:r>
            <a:r>
              <a:rPr lang="zh-CN" altLang="en-US" sz="1400" b="1">
                <a:solidFill>
                  <a:schemeClr val="tx1"/>
                </a:solidFill>
                <a:uFillTx/>
                <a:latin typeface="Times New Roman" panose="02020603050405020304" charset="0"/>
              </a:rPr>
              <a:t>，直接匹配非农业差异 4 倍和</a:t>
            </a:r>
            <a:r>
              <a:rPr lang="zh-CN" altLang="en-US" sz="1400" b="1">
                <a:solidFill>
                  <a:schemeClr val="tx1"/>
                </a:solidFill>
                <a:uFillTx/>
                <a:latin typeface="Times New Roman" panose="02020603050405020304" charset="0"/>
              </a:rPr>
              <a:t>穷国农业就业份额 78%，再看农业差异和选择贡献。</a:t>
            </a:r>
            <a:endParaRPr lang="zh-CN" altLang="en-US" sz="1400" b="1">
              <a:solidFill>
                <a:schemeClr val="tx1"/>
              </a:solidFill>
              <a:uFillTx/>
              <a:latin typeface="Times New Roman" panose="02020603050405020304" charset="0"/>
            </a:endParaRPr>
          </a:p>
        </p:txBody>
      </p:sp>
      <p:pic>
        <p:nvPicPr>
          <p:cNvPr id="3" name="图片 2"/>
          <p:cNvPicPr>
            <a:picLocks noChangeAspect="1"/>
          </p:cNvPicPr>
          <p:nvPr/>
        </p:nvPicPr>
        <p:blipFill>
          <a:blip r:embed="rId2"/>
          <a:srcRect t="5352" r="815"/>
          <a:stretch>
            <a:fillRect/>
          </a:stretch>
        </p:blipFill>
        <p:spPr>
          <a:xfrm>
            <a:off x="2120900" y="1611630"/>
            <a:ext cx="7884795" cy="24479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5" name="矩形 64"/>
          <p:cNvSpPr/>
          <p:nvPr/>
        </p:nvSpPr>
        <p:spPr>
          <a:xfrm>
            <a:off x="1087120" y="1420495"/>
            <a:ext cx="10119995" cy="2776220"/>
          </a:xfrm>
          <a:prstGeom prst="rect">
            <a:avLst/>
          </a:prstGeom>
          <a:noFill/>
          <a:ln w="22225">
            <a:solidFill>
              <a:schemeClr val="accent6"/>
            </a:solidFill>
            <a:prstDash val="lg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1020445" y="4326255"/>
            <a:ext cx="10200005" cy="1345565"/>
          </a:xfrm>
          <a:prstGeom prst="rect">
            <a:avLst/>
          </a:prstGeom>
          <a:noFill/>
        </p:spPr>
        <p:txBody>
          <a:bodyPr wrap="square" rtlCol="0">
            <a:spAutoFit/>
          </a:bodyPr>
          <a:p>
            <a:pPr marL="285750" indent="-285750" fontAlgn="auto">
              <a:lnSpc>
                <a:spcPct val="170000"/>
              </a:lnSpc>
              <a:buFont typeface="Arial" panose="020B0604020202020204" pitchFamily="34" charset="0"/>
              <a:buChar char="•"/>
            </a:pPr>
            <a:r>
              <a:rPr lang="zh-CN" altLang="en-US" sz="1600" b="1">
                <a:solidFill>
                  <a:schemeClr val="tx1"/>
                </a:solidFill>
                <a:uFillTx/>
                <a:latin typeface="Times New Roman" panose="02020603050405020304" charset="0"/>
              </a:rPr>
              <a:t>封闭经济 </a:t>
            </a:r>
            <a:r>
              <a:rPr lang="en-US" altLang="zh-CN" sz="1600" b="1">
                <a:solidFill>
                  <a:schemeClr val="tx1"/>
                </a:solidFill>
                <a:uFillTx/>
                <a:latin typeface="Times New Roman" panose="02020603050405020304" charset="0"/>
              </a:rPr>
              <a:t>vs </a:t>
            </a:r>
            <a:r>
              <a:rPr lang="zh-CN" altLang="en-US" sz="1600" b="1">
                <a:solidFill>
                  <a:schemeClr val="tx1"/>
                </a:solidFill>
                <a:uFillTx/>
                <a:latin typeface="Times New Roman" panose="02020603050405020304" charset="0"/>
              </a:rPr>
              <a:t>开放经济：</a:t>
            </a:r>
            <a:r>
              <a:rPr lang="zh-CN" altLang="en-US" sz="1600">
                <a:solidFill>
                  <a:schemeClr val="tx1"/>
                </a:solidFill>
                <a:uFillTx/>
                <a:latin typeface="Times New Roman" panose="02020603050405020304" charset="0"/>
              </a:rPr>
              <a:t>区别仅在于农产品相对价格由国内还是国际市场决定。</a:t>
            </a:r>
            <a:endParaRPr lang="en-US" altLang="zh-CN" sz="1600">
              <a:solidFill>
                <a:schemeClr val="tx1"/>
              </a:solidFill>
              <a:uFillTx/>
              <a:latin typeface="Times New Roman" panose="02020603050405020304" charset="0"/>
            </a:endParaRPr>
          </a:p>
          <a:p>
            <a:pPr marL="285750" indent="-285750" fontAlgn="auto">
              <a:lnSpc>
                <a:spcPct val="170000"/>
              </a:lnSpc>
              <a:buFont typeface="Arial" panose="020B0604020202020204" pitchFamily="34" charset="0"/>
              <a:buChar char="•"/>
            </a:pPr>
            <a:r>
              <a:rPr lang="zh-CN" altLang="en-US" sz="1600">
                <a:solidFill>
                  <a:schemeClr val="tx1"/>
                </a:solidFill>
                <a:uFillTx/>
                <a:latin typeface="Times New Roman" panose="02020603050405020304" charset="0"/>
              </a:rPr>
              <a:t>只要开放经济下的</a:t>
            </a:r>
            <a:r>
              <a:rPr lang="zh-CN" altLang="en-US" sz="1600" b="1">
                <a:solidFill>
                  <a:schemeClr val="tx1"/>
                </a:solidFill>
                <a:uFillTx/>
                <a:latin typeface="Times New Roman" panose="02020603050405020304" charset="0"/>
              </a:rPr>
              <a:t>劳动力配置（农业/非农业就业份额）与封闭经济相同</a:t>
            </a:r>
            <a:r>
              <a:rPr lang="zh-CN" altLang="en-US" sz="1600">
                <a:solidFill>
                  <a:schemeClr val="tx1"/>
                </a:solidFill>
                <a:uFillTx/>
                <a:latin typeface="Times New Roman" panose="02020603050405020304" charset="0"/>
              </a:rPr>
              <a:t>，</a:t>
            </a:r>
            <a:r>
              <a:rPr lang="zh-CN" altLang="en-US" sz="1600" b="1">
                <a:solidFill>
                  <a:schemeClr val="tx1"/>
                </a:solidFill>
                <a:uFillTx/>
                <a:latin typeface="Times New Roman" panose="02020603050405020304" charset="0"/>
              </a:rPr>
              <a:t>部门生产率差异的预测完全相同</a:t>
            </a:r>
            <a:r>
              <a:rPr lang="zh-CN" altLang="en-US" sz="1600">
                <a:solidFill>
                  <a:schemeClr val="tx1"/>
                </a:solidFill>
                <a:uFillTx/>
                <a:latin typeface="Times New Roman" panose="02020603050405020304" charset="0"/>
              </a:rPr>
              <a:t>。</a:t>
            </a:r>
            <a:endParaRPr lang="en-US" altLang="zh-CN" sz="1600">
              <a:solidFill>
                <a:schemeClr val="tx1"/>
              </a:solidFill>
              <a:uFillTx/>
              <a:latin typeface="Times New Roman" panose="02020603050405020304" charset="0"/>
            </a:endParaRPr>
          </a:p>
          <a:p>
            <a:pPr marL="285750" indent="-285750" fontAlgn="auto">
              <a:lnSpc>
                <a:spcPct val="170000"/>
              </a:lnSpc>
              <a:buFont typeface="Arial" panose="020B0604020202020204" pitchFamily="34" charset="0"/>
              <a:buChar char="•"/>
            </a:pPr>
            <a:r>
              <a:rPr lang="zh-CN" altLang="en-US" sz="1600">
                <a:solidFill>
                  <a:schemeClr val="tx1"/>
                </a:solidFill>
                <a:uFillTx/>
                <a:latin typeface="Times New Roman" panose="02020603050405020304" charset="0"/>
              </a:rPr>
              <a:t>因为</a:t>
            </a:r>
            <a:r>
              <a:rPr lang="zh-CN" altLang="en-US" sz="1600" b="1">
                <a:solidFill>
                  <a:schemeClr val="tx1"/>
                </a:solidFill>
                <a:uFillTx/>
                <a:latin typeface="Times New Roman" panose="02020603050405020304" charset="0"/>
              </a:rPr>
              <a:t>部门生产率差异</a:t>
            </a:r>
            <a:r>
              <a:rPr lang="zh-CN" altLang="en-US" sz="1600">
                <a:solidFill>
                  <a:schemeClr val="tx1"/>
                </a:solidFill>
                <a:uFillTx/>
                <a:latin typeface="Times New Roman" panose="02020603050405020304" charset="0"/>
              </a:rPr>
              <a:t>取决于“谁在哪个部门工作”，而</a:t>
            </a:r>
            <a:r>
              <a:rPr lang="zh-CN" altLang="en-US" sz="1600" b="1">
                <a:solidFill>
                  <a:schemeClr val="tx1"/>
                </a:solidFill>
                <a:uFillTx/>
                <a:latin typeface="Times New Roman" panose="02020603050405020304" charset="0"/>
              </a:rPr>
              <a:t>不是价格由谁决定</a:t>
            </a:r>
            <a:r>
              <a:rPr lang="zh-CN" altLang="en-US" sz="1600">
                <a:solidFill>
                  <a:schemeClr val="tx1"/>
                </a:solidFill>
                <a:uFillTx/>
                <a:latin typeface="Times New Roman" panose="02020603050405020304" charset="0"/>
              </a:rPr>
              <a:t>。</a:t>
            </a:r>
            <a:endParaRPr lang="zh-CN" altLang="en-US" sz="1600">
              <a:solidFill>
                <a:schemeClr val="tx1"/>
              </a:solidFill>
              <a:uFillTx/>
              <a:latin typeface="Times New Roman" panose="02020603050405020304" charset="0"/>
            </a:endParaRPr>
          </a:p>
        </p:txBody>
      </p:sp>
      <p:sp>
        <p:nvSpPr>
          <p:cNvPr id="12" name="圆角矩形 97"/>
          <p:cNvSpPr/>
          <p:nvPr>
            <p:custDataLst>
              <p:tags r:id="rId1"/>
            </p:custDataLst>
          </p:nvPr>
        </p:nvSpPr>
        <p:spPr>
          <a:xfrm>
            <a:off x="358775" y="5955572"/>
            <a:ext cx="11478260" cy="560705"/>
          </a:xfrm>
          <a:prstGeom prst="roundRect">
            <a:avLst>
              <a:gd name="adj" fmla="val 4544"/>
            </a:avLst>
          </a:prstGeom>
          <a:noFill/>
          <a:ln w="25400">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solidFill>
                <a:schemeClr val="bg1"/>
              </a:solidFill>
            </a:endParaRPr>
          </a:p>
        </p:txBody>
      </p:sp>
      <p:sp>
        <p:nvSpPr>
          <p:cNvPr id="13" name="文本框 12"/>
          <p:cNvSpPr txBox="1"/>
          <p:nvPr/>
        </p:nvSpPr>
        <p:spPr>
          <a:xfrm>
            <a:off x="626110" y="6088380"/>
            <a:ext cx="11199495" cy="337185"/>
          </a:xfrm>
          <a:prstGeom prst="rect">
            <a:avLst/>
          </a:prstGeom>
          <a:noFill/>
        </p:spPr>
        <p:txBody>
          <a:bodyPr wrap="square" rtlCol="0">
            <a:spAutoFit/>
          </a:bodyPr>
          <a:p>
            <a:pPr algn="ctr"/>
            <a:r>
              <a:rPr lang="zh-CN" altLang="en-US" sz="1600" b="1">
                <a:solidFill>
                  <a:schemeClr val="tx1"/>
                </a:solidFill>
                <a:uFillTx/>
                <a:latin typeface="微软雅黑" panose="020B0503020204020204" charset="-122"/>
                <a:ea typeface="微软雅黑" panose="020B0503020204020204" charset="-122"/>
              </a:rPr>
              <a:t>结论：</a:t>
            </a:r>
            <a:r>
              <a:rPr lang="zh-CN" altLang="en-US" sz="1600" b="1">
                <a:solidFill>
                  <a:schemeClr val="tx1"/>
                </a:solidFill>
                <a:uFillTx/>
                <a:latin typeface="Times New Roman" panose="02020603050405020304" charset="0"/>
                <a:ea typeface="宋体" panose="02010600030101010101" pitchFamily="2" charset="-122"/>
              </a:rPr>
              <a:t>封闭经济假设不影响核心结论。</a:t>
            </a:r>
            <a:endParaRPr lang="zh-CN" altLang="en-US" sz="1600" b="1">
              <a:solidFill>
                <a:schemeClr val="tx1"/>
              </a:solidFill>
              <a:uFillTx/>
              <a:latin typeface="Times New Roman" panose="02020603050405020304" charset="0"/>
              <a:ea typeface="宋体" panose="02010600030101010101" pitchFamily="2" charset="-122"/>
            </a:endParaRPr>
          </a:p>
        </p:txBody>
      </p:sp>
      <p:sp>
        <p:nvSpPr>
          <p:cNvPr id="4" name="文本框 3"/>
          <p:cNvSpPr txBox="1"/>
          <p:nvPr/>
        </p:nvSpPr>
        <p:spPr>
          <a:xfrm>
            <a:off x="803910" y="914400"/>
            <a:ext cx="10659110" cy="368300"/>
          </a:xfrm>
          <a:prstGeom prst="rect">
            <a:avLst/>
          </a:prstGeom>
          <a:noFill/>
        </p:spPr>
        <p:txBody>
          <a:bodyPr wrap="square" rtlCol="0">
            <a:spAutoFit/>
          </a:bodyPr>
          <a:lstStyle/>
          <a:p>
            <a:r>
              <a:rPr lang="zh-CN" altLang="en-US" b="1"/>
              <a:t>稳健性检验</a:t>
            </a:r>
            <a:r>
              <a:rPr lang="en-US" altLang="zh-CN" b="1"/>
              <a:t> </a:t>
            </a:r>
            <a:r>
              <a:rPr lang="en-US" altLang="zh-CN" b="1">
                <a:latin typeface="Times New Roman" panose="02020603050405020304" charset="0"/>
                <a:cs typeface="Times New Roman" panose="02020603050405020304" charset="0"/>
              </a:rPr>
              <a:t>4 </a:t>
            </a:r>
            <a:r>
              <a:rPr lang="en-US" altLang="zh-CN" b="1"/>
              <a:t>——</a:t>
            </a:r>
            <a:r>
              <a:rPr lang="zh-CN" altLang="en-US" sz="1600" b="1"/>
              <a:t>考虑开放经济</a:t>
            </a:r>
            <a:endParaRPr lang="zh-CN" altLang="en-US" sz="1600" b="1"/>
          </a:p>
        </p:txBody>
      </p:sp>
      <p:sp>
        <p:nvSpPr>
          <p:cNvPr id="10" name="流程图: 过程 9"/>
          <p:cNvSpPr/>
          <p:nvPr/>
        </p:nvSpPr>
        <p:spPr>
          <a:xfrm>
            <a:off x="1593215" y="1790700"/>
            <a:ext cx="3117215" cy="1953895"/>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封闭经济</a:t>
            </a:r>
            <a:endParaRPr lang="zh-CN" altLang="en-US" sz="1600" b="1" dirty="0"/>
          </a:p>
          <a:p>
            <a:pPr algn="ctr"/>
            <a:endParaRPr lang="zh-CN" altLang="en-US" sz="1600" b="1" dirty="0"/>
          </a:p>
          <a:p>
            <a:pPr algn="ctr"/>
            <a:r>
              <a:rPr lang="zh-CN" altLang="en-US" sz="1600" b="1" dirty="0"/>
              <a:t>农产品价格</a:t>
            </a:r>
            <a:r>
              <a:rPr lang="en-US" altLang="zh-CN" sz="1600" b="1" i="1" dirty="0">
                <a:latin typeface="Times New Roman" panose="02020603050405020304" charset="0"/>
                <a:cs typeface="Times New Roman" panose="02020603050405020304" charset="0"/>
              </a:rPr>
              <a:t>P</a:t>
            </a:r>
            <a:r>
              <a:rPr lang="en-US" altLang="zh-CN" sz="1600" b="1" i="1" baseline="-25000" dirty="0">
                <a:latin typeface="Times New Roman" panose="02020603050405020304" charset="0"/>
                <a:cs typeface="Times New Roman" panose="02020603050405020304" charset="0"/>
              </a:rPr>
              <a:t>a</a:t>
            </a:r>
            <a:r>
              <a:rPr lang="zh-CN" altLang="en-US" sz="1600" b="1" dirty="0"/>
              <a:t>由国内市场决定</a:t>
            </a:r>
            <a:endParaRPr lang="zh-CN" altLang="en-US" sz="1600" b="1" dirty="0"/>
          </a:p>
          <a:p>
            <a:pPr algn="ctr"/>
            <a:endParaRPr lang="zh-CN" altLang="en-US" sz="1600" b="1" dirty="0"/>
          </a:p>
          <a:p>
            <a:pPr algn="ctr"/>
            <a:r>
              <a:rPr lang="zh-CN" altLang="en-US" sz="1600" b="1" dirty="0"/>
              <a:t>劳动力配置：农业/非农业</a:t>
            </a:r>
            <a:endParaRPr lang="zh-CN" altLang="en-US" sz="1600" b="1" dirty="0"/>
          </a:p>
        </p:txBody>
      </p:sp>
      <p:sp>
        <p:nvSpPr>
          <p:cNvPr id="3" name="流程图: 过程 2"/>
          <p:cNvSpPr/>
          <p:nvPr/>
        </p:nvSpPr>
        <p:spPr>
          <a:xfrm>
            <a:off x="7493000" y="1797050"/>
            <a:ext cx="3117215" cy="1953895"/>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开放经济</a:t>
            </a:r>
            <a:endParaRPr lang="zh-CN" altLang="en-US" sz="1600" b="1" dirty="0"/>
          </a:p>
          <a:p>
            <a:pPr algn="ctr"/>
            <a:endParaRPr lang="zh-CN" altLang="en-US" sz="1600" b="1" dirty="0"/>
          </a:p>
          <a:p>
            <a:pPr algn="ctr"/>
            <a:r>
              <a:rPr lang="zh-CN" altLang="en-US" sz="1600" b="1" dirty="0"/>
              <a:t>农产品价格</a:t>
            </a:r>
            <a:r>
              <a:rPr lang="en-US" altLang="zh-CN" sz="1600" b="1" i="1" dirty="0">
                <a:latin typeface="Times New Roman" panose="02020603050405020304" charset="0"/>
                <a:cs typeface="Times New Roman" panose="02020603050405020304" charset="0"/>
              </a:rPr>
              <a:t>P</a:t>
            </a:r>
            <a:r>
              <a:rPr lang="en-US" altLang="zh-CN" sz="1600" b="1" i="1" baseline="-25000" dirty="0">
                <a:latin typeface="Times New Roman" panose="02020603050405020304" charset="0"/>
                <a:cs typeface="Times New Roman" panose="02020603050405020304" charset="0"/>
              </a:rPr>
              <a:t>a</a:t>
            </a:r>
            <a:r>
              <a:rPr lang="zh-CN" altLang="en-US" sz="1600" b="1" dirty="0"/>
              <a:t>由</a:t>
            </a:r>
            <a:r>
              <a:rPr lang="zh-CN" altLang="en-US" sz="1600" b="1" dirty="0"/>
              <a:t>国际市场决定</a:t>
            </a:r>
            <a:endParaRPr lang="zh-CN" altLang="en-US" sz="1600" b="1" dirty="0"/>
          </a:p>
          <a:p>
            <a:pPr algn="ctr"/>
            <a:endParaRPr lang="zh-CN" altLang="en-US" sz="1600" b="1" dirty="0"/>
          </a:p>
          <a:p>
            <a:pPr algn="ctr"/>
            <a:r>
              <a:rPr lang="zh-CN" altLang="en-US" sz="1600" b="1" dirty="0"/>
              <a:t>劳动力配置：农业/非农业</a:t>
            </a:r>
            <a:endParaRPr lang="zh-CN" altLang="en-US" sz="1600" b="1" dirty="0"/>
          </a:p>
        </p:txBody>
      </p:sp>
      <p:sp>
        <p:nvSpPr>
          <p:cNvPr id="14" name="流程图: 过程 13"/>
          <p:cNvSpPr/>
          <p:nvPr/>
        </p:nvSpPr>
        <p:spPr>
          <a:xfrm>
            <a:off x="5248275" y="2126615"/>
            <a:ext cx="169481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劳动力配置</a:t>
            </a:r>
            <a:r>
              <a:rPr lang="zh-CN" altLang="en-US" sz="1600" b="1" dirty="0"/>
              <a:t>相同</a:t>
            </a:r>
            <a:endParaRPr lang="zh-CN" altLang="en-US" sz="1600" b="1" dirty="0"/>
          </a:p>
        </p:txBody>
      </p:sp>
      <p:sp>
        <p:nvSpPr>
          <p:cNvPr id="5" name="流程图: 过程 4"/>
          <p:cNvSpPr/>
          <p:nvPr/>
        </p:nvSpPr>
        <p:spPr>
          <a:xfrm>
            <a:off x="5254625" y="2943860"/>
            <a:ext cx="1694815" cy="488950"/>
          </a:xfrm>
          <a:prstGeom prst="flowChartProcess">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dirty="0"/>
              <a:t>预测相同</a:t>
            </a:r>
            <a:endParaRPr lang="zh-CN" altLang="en-US" sz="1600" b="1" dirty="0"/>
          </a:p>
        </p:txBody>
      </p:sp>
      <p:cxnSp>
        <p:nvCxnSpPr>
          <p:cNvPr id="23" name="直接箭头连接符 22"/>
          <p:cNvCxnSpPr>
            <a:stCxn id="14" idx="2"/>
            <a:endCxn id="5" idx="0"/>
          </p:cNvCxnSpPr>
          <p:nvPr/>
        </p:nvCxnSpPr>
        <p:spPr>
          <a:xfrm>
            <a:off x="6096000" y="2615565"/>
            <a:ext cx="6350" cy="328295"/>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sp>
        <p:nvSpPr>
          <p:cNvPr id="6" name="矩形 5"/>
          <p:cNvSpPr/>
          <p:nvPr/>
        </p:nvSpPr>
        <p:spPr>
          <a:xfrm>
            <a:off x="5100320" y="1947545"/>
            <a:ext cx="1992630" cy="1642745"/>
          </a:xfrm>
          <a:prstGeom prst="rect">
            <a:avLst/>
          </a:prstGeom>
          <a:noFill/>
          <a:ln w="1905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  </a:t>
            </a:r>
            <a:endParaRPr lang="en-US" altLang="zh-CN"/>
          </a:p>
        </p:txBody>
      </p:sp>
      <p:cxnSp>
        <p:nvCxnSpPr>
          <p:cNvPr id="8" name="直接箭头连接符 7"/>
          <p:cNvCxnSpPr>
            <a:stCxn id="10" idx="3"/>
            <a:endCxn id="6" idx="1"/>
          </p:cNvCxnSpPr>
          <p:nvPr/>
        </p:nvCxnSpPr>
        <p:spPr>
          <a:xfrm>
            <a:off x="4710430" y="2767965"/>
            <a:ext cx="389890" cy="127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3" idx="1"/>
            <a:endCxn id="6" idx="3"/>
          </p:cNvCxnSpPr>
          <p:nvPr/>
        </p:nvCxnSpPr>
        <p:spPr>
          <a:xfrm flipH="1" flipV="1">
            <a:off x="7092950" y="2769235"/>
            <a:ext cx="400050" cy="5080"/>
          </a:xfrm>
          <a:prstGeom prst="straightConnector1">
            <a:avLst/>
          </a:prstGeom>
          <a:ln w="19050">
            <a:solidFill>
              <a:schemeClr val="accent6"/>
            </a:solidFill>
            <a:prstDash val="sysDash"/>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803910" y="914400"/>
            <a:ext cx="10659110" cy="368300"/>
          </a:xfrm>
          <a:prstGeom prst="rect">
            <a:avLst/>
          </a:prstGeom>
          <a:noFill/>
        </p:spPr>
        <p:txBody>
          <a:bodyPr wrap="square" rtlCol="0">
            <a:spAutoFit/>
          </a:bodyPr>
          <a:lstStyle/>
          <a:p>
            <a:r>
              <a:rPr lang="zh-CN" altLang="en-US" b="1">
                <a:latin typeface="Times New Roman" panose="02020603050405020304" charset="0"/>
                <a:cs typeface="Times New Roman" panose="02020603050405020304" charset="0"/>
              </a:rPr>
              <a:t>扩展模型</a:t>
            </a:r>
            <a:r>
              <a:rPr lang="en-US" altLang="zh-CN" b="1"/>
              <a:t>——</a:t>
            </a:r>
            <a:r>
              <a:rPr lang="zh-CN" altLang="en-US" b="1"/>
              <a:t>引入资本和</a:t>
            </a:r>
            <a:r>
              <a:rPr lang="zh-CN" altLang="en-US" b="1"/>
              <a:t>土地</a:t>
            </a:r>
            <a:endParaRPr lang="zh-CN" altLang="en-US" b="1"/>
          </a:p>
        </p:txBody>
      </p:sp>
      <p:sp>
        <p:nvSpPr>
          <p:cNvPr id="26" name="任意多边形 25"/>
          <p:cNvSpPr/>
          <p:nvPr/>
        </p:nvSpPr>
        <p:spPr>
          <a:xfrm>
            <a:off x="513715" y="1468120"/>
            <a:ext cx="4002405" cy="5026660"/>
          </a:xfrm>
          <a:custGeom>
            <a:avLst/>
            <a:gdLst>
              <a:gd name="adj" fmla="val 593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6303" h="7916">
                <a:moveTo>
                  <a:pt x="0" y="374"/>
                </a:moveTo>
                <a:cubicBezTo>
                  <a:pt x="-6" y="164"/>
                  <a:pt x="186" y="-5"/>
                  <a:pt x="374" y="0"/>
                </a:cubicBezTo>
                <a:lnTo>
                  <a:pt x="5929" y="0"/>
                </a:lnTo>
                <a:cubicBezTo>
                  <a:pt x="6139" y="-6"/>
                  <a:pt x="6308" y="186"/>
                  <a:pt x="6303" y="374"/>
                </a:cubicBezTo>
                <a:lnTo>
                  <a:pt x="6303" y="887"/>
                </a:lnTo>
                <a:lnTo>
                  <a:pt x="5623" y="1227"/>
                </a:lnTo>
                <a:lnTo>
                  <a:pt x="6303" y="1567"/>
                </a:lnTo>
                <a:lnTo>
                  <a:pt x="6303" y="7542"/>
                </a:lnTo>
                <a:cubicBezTo>
                  <a:pt x="6309" y="7752"/>
                  <a:pt x="6117" y="7921"/>
                  <a:pt x="5929" y="7916"/>
                </a:cubicBezTo>
                <a:lnTo>
                  <a:pt x="374" y="7916"/>
                </a:lnTo>
                <a:cubicBezTo>
                  <a:pt x="164" y="7922"/>
                  <a:pt x="-5" y="7730"/>
                  <a:pt x="0" y="7542"/>
                </a:cubicBezTo>
                <a:lnTo>
                  <a:pt x="0" y="374"/>
                </a:lnTo>
                <a:close/>
              </a:path>
            </a:pathLst>
          </a:custGeom>
          <a:solidFill>
            <a:schemeClr val="accent6"/>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9" name="文本框 8"/>
          <p:cNvSpPr txBox="1"/>
          <p:nvPr/>
        </p:nvSpPr>
        <p:spPr>
          <a:xfrm>
            <a:off x="1000125" y="1774190"/>
            <a:ext cx="1969135" cy="368300"/>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lstStyle/>
          <a:p>
            <a:pPr algn="l"/>
            <a:r>
              <a:rPr lang="zh-CN" altLang="en-US" b="1">
                <a:solidFill>
                  <a:schemeClr val="bg1"/>
                </a:solidFill>
              </a:rPr>
              <a:t>基准</a:t>
            </a:r>
            <a:r>
              <a:rPr lang="zh-CN" altLang="en-US" b="1">
                <a:solidFill>
                  <a:schemeClr val="bg1"/>
                </a:solidFill>
              </a:rPr>
              <a:t>模型局限性</a:t>
            </a:r>
            <a:endParaRPr lang="zh-CN" altLang="en-US" b="1">
              <a:solidFill>
                <a:schemeClr val="bg1"/>
              </a:solidFill>
            </a:endParaRPr>
          </a:p>
        </p:txBody>
      </p:sp>
      <p:sp>
        <p:nvSpPr>
          <p:cNvPr id="10" name="任意多边形 28"/>
          <p:cNvSpPr/>
          <p:nvPr>
            <p:custDataLst>
              <p:tags r:id="rId1"/>
            </p:custDataLst>
          </p:nvPr>
        </p:nvSpPr>
        <p:spPr>
          <a:xfrm flipV="1">
            <a:off x="760095" y="1840865"/>
            <a:ext cx="2252345" cy="370840"/>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chemeClr val="bg1"/>
            </a:solidFill>
            <a:prstDash val="sysDash"/>
            <a:tailEnd type="ova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lumMod val="65000"/>
                  <a:lumOff val="35000"/>
                </a:schemeClr>
              </a:solidFill>
              <a:sym typeface="Arial" panose="020B0604020202020204" pitchFamily="34" charset="0"/>
            </a:endParaRPr>
          </a:p>
        </p:txBody>
      </p:sp>
      <p:sp>
        <p:nvSpPr>
          <p:cNvPr id="13" name="文本框 12"/>
          <p:cNvSpPr txBox="1"/>
          <p:nvPr>
            <p:custDataLst>
              <p:tags r:id="rId2"/>
            </p:custDataLst>
          </p:nvPr>
        </p:nvSpPr>
        <p:spPr>
          <a:xfrm>
            <a:off x="657860" y="2528570"/>
            <a:ext cx="3682365" cy="1592580"/>
          </a:xfrm>
          <a:prstGeom prst="rect">
            <a:avLst/>
          </a:prstGeom>
          <a:noFill/>
        </p:spPr>
        <p:txBody>
          <a:bodyPr wrap="square" lIns="0" tIns="0" rIns="0" bIns="0" rtlCol="0">
            <a:noAutofit/>
          </a:bodyPr>
          <a:lstStyle/>
          <a:p>
            <a:pPr marL="285750" indent="-285750" algn="l" fontAlgn="auto">
              <a:lnSpc>
                <a:spcPct val="140000"/>
              </a:lnSpc>
              <a:buFont typeface="Arial" panose="020B0604020202020204" pitchFamily="34" charset="0"/>
              <a:buChar char="•"/>
            </a:pPr>
            <a:r>
              <a:rPr lang="zh-CN" altLang="en-US" sz="1400" kern="0" dirty="0">
                <a:ln>
                  <a:noFill/>
                  <a:prstDash val="sysDot"/>
                </a:ln>
                <a:solidFill>
                  <a:schemeClr val="bg1"/>
                </a:solidFill>
                <a:latin typeface="微软雅黑" panose="020B0503020204020204" charset="-122"/>
                <a:sym typeface="+mn-ea"/>
              </a:rPr>
              <a:t>基准模型只有劳动，忽略资本和土地</a:t>
            </a:r>
            <a:endParaRPr lang="en-US" altLang="zh-CN" sz="1400" kern="0" dirty="0">
              <a:ln>
                <a:noFill/>
                <a:prstDash val="sysDot"/>
              </a:ln>
              <a:solidFill>
                <a:schemeClr val="bg1"/>
              </a:solidFill>
              <a:latin typeface="微软雅黑" panose="020B0503020204020204" charset="-122"/>
              <a:sym typeface="+mn-ea"/>
            </a:endParaRPr>
          </a:p>
          <a:p>
            <a:pPr marL="285750" indent="-285750" algn="l" fontAlgn="auto">
              <a:lnSpc>
                <a:spcPct val="140000"/>
              </a:lnSpc>
              <a:buFont typeface="Arial" panose="020B0604020202020204" pitchFamily="34" charset="0"/>
              <a:buChar char="•"/>
            </a:pPr>
            <a:r>
              <a:rPr lang="zh-CN" altLang="en-US" sz="1400" b="1" kern="0" dirty="0">
                <a:ln>
                  <a:noFill/>
                  <a:prstDash val="sysDot"/>
                </a:ln>
                <a:solidFill>
                  <a:schemeClr val="bg1"/>
                </a:solidFill>
                <a:latin typeface="微软雅黑" panose="020B0503020204020204" charset="-122"/>
                <a:sym typeface="+mn-ea"/>
              </a:rPr>
              <a:t>农业需要土地</a:t>
            </a:r>
            <a:r>
              <a:rPr lang="zh-CN" altLang="en-US" sz="1400" kern="0" dirty="0">
                <a:ln>
                  <a:noFill/>
                  <a:prstDash val="sysDot"/>
                </a:ln>
                <a:solidFill>
                  <a:schemeClr val="bg1"/>
                </a:solidFill>
                <a:latin typeface="微软雅黑" panose="020B0503020204020204" charset="-122"/>
                <a:sym typeface="+mn-ea"/>
              </a:rPr>
              <a:t>，土地是固定要素，</a:t>
            </a:r>
            <a:r>
              <a:rPr lang="zh-CN" altLang="en-US" sz="1400" b="1" kern="0" dirty="0">
                <a:ln>
                  <a:noFill/>
                  <a:prstDash val="sysDot"/>
                </a:ln>
                <a:solidFill>
                  <a:schemeClr val="bg1"/>
                </a:solidFill>
                <a:latin typeface="微软雅黑" panose="020B0503020204020204" charset="-122"/>
                <a:sym typeface="+mn-ea"/>
              </a:rPr>
              <a:t>穷国</a:t>
            </a:r>
            <a:r>
              <a:rPr lang="zh-CN" altLang="en-US" sz="1400" kern="0" dirty="0">
                <a:ln>
                  <a:noFill/>
                  <a:prstDash val="sysDot"/>
                </a:ln>
                <a:solidFill>
                  <a:schemeClr val="bg1"/>
                </a:solidFill>
                <a:latin typeface="微软雅黑" panose="020B0503020204020204" charset="-122"/>
                <a:sym typeface="+mn-ea"/>
              </a:rPr>
              <a:t>农业土地相对</a:t>
            </a:r>
            <a:r>
              <a:rPr lang="zh-CN" altLang="en-US" sz="1400" b="1" kern="0" dirty="0">
                <a:ln>
                  <a:noFill/>
                  <a:prstDash val="sysDot"/>
                </a:ln>
                <a:solidFill>
                  <a:schemeClr val="bg1"/>
                </a:solidFill>
                <a:latin typeface="微软雅黑" panose="020B0503020204020204" charset="-122"/>
                <a:sym typeface="+mn-ea"/>
              </a:rPr>
              <a:t>稀缺</a:t>
            </a:r>
            <a:endParaRPr lang="en-US" altLang="zh-CN" sz="1400" kern="0" dirty="0">
              <a:ln>
                <a:noFill/>
                <a:prstDash val="sysDot"/>
              </a:ln>
              <a:solidFill>
                <a:schemeClr val="bg1"/>
              </a:solidFill>
              <a:latin typeface="微软雅黑" panose="020B0503020204020204" charset="-122"/>
              <a:sym typeface="+mn-ea"/>
            </a:endParaRPr>
          </a:p>
          <a:p>
            <a:pPr marL="285750" indent="-285750" algn="l" fontAlgn="auto">
              <a:lnSpc>
                <a:spcPct val="140000"/>
              </a:lnSpc>
              <a:buFont typeface="Arial" panose="020B0604020202020204" pitchFamily="34" charset="0"/>
              <a:buChar char="•"/>
            </a:pPr>
            <a:r>
              <a:rPr lang="zh-CN" altLang="en-US" sz="1400" b="1" kern="0" dirty="0">
                <a:ln>
                  <a:noFill/>
                  <a:prstDash val="sysDot"/>
                </a:ln>
                <a:solidFill>
                  <a:schemeClr val="bg1"/>
                </a:solidFill>
                <a:latin typeface="微软雅黑" panose="020B0503020204020204" charset="-122"/>
                <a:sym typeface="+mn-ea"/>
              </a:rPr>
              <a:t>资本密集度</a:t>
            </a:r>
            <a:r>
              <a:rPr lang="zh-CN" altLang="en-US" sz="1400" kern="0" dirty="0">
                <a:ln>
                  <a:noFill/>
                  <a:prstDash val="sysDot"/>
                </a:ln>
                <a:solidFill>
                  <a:schemeClr val="bg1"/>
                </a:solidFill>
                <a:latin typeface="微软雅黑" panose="020B0503020204020204" charset="-122"/>
                <a:sym typeface="+mn-ea"/>
              </a:rPr>
              <a:t>在两部门</a:t>
            </a:r>
            <a:r>
              <a:rPr lang="zh-CN" altLang="en-US" sz="1400" b="1" kern="0" dirty="0">
                <a:ln>
                  <a:noFill/>
                  <a:prstDash val="sysDot"/>
                </a:ln>
                <a:solidFill>
                  <a:schemeClr val="bg1"/>
                </a:solidFill>
                <a:latin typeface="微软雅黑" panose="020B0503020204020204" charset="-122"/>
                <a:sym typeface="+mn-ea"/>
              </a:rPr>
              <a:t>不同</a:t>
            </a:r>
            <a:endParaRPr lang="en-US" altLang="zh-CN" sz="1400" kern="0" dirty="0">
              <a:ln>
                <a:noFill/>
                <a:prstDash val="sysDot"/>
              </a:ln>
              <a:solidFill>
                <a:schemeClr val="bg1"/>
              </a:solidFill>
              <a:latin typeface="微软雅黑" panose="020B0503020204020204" charset="-122"/>
              <a:sym typeface="+mn-ea"/>
            </a:endParaRPr>
          </a:p>
          <a:p>
            <a:pPr marL="285750" indent="-285750" algn="l" fontAlgn="auto">
              <a:lnSpc>
                <a:spcPct val="140000"/>
              </a:lnSpc>
              <a:buFont typeface="Arial" panose="020B0604020202020204" pitchFamily="34" charset="0"/>
              <a:buChar char="•"/>
            </a:pPr>
            <a:r>
              <a:rPr lang="zh-CN" altLang="en-US" sz="1400" kern="0" dirty="0">
                <a:ln>
                  <a:noFill/>
                  <a:prstDash val="sysDot"/>
                </a:ln>
                <a:solidFill>
                  <a:schemeClr val="bg1"/>
                </a:solidFill>
                <a:latin typeface="微软雅黑" panose="020B0503020204020204" charset="-122"/>
                <a:sym typeface="+mn-ea"/>
              </a:rPr>
              <a:t>若不考虑这些，可能高估选择机制的作用</a:t>
            </a:r>
            <a:endParaRPr lang="zh-CN" altLang="en-US" sz="1400" kern="0" dirty="0">
              <a:ln>
                <a:noFill/>
                <a:prstDash val="sysDot"/>
              </a:ln>
              <a:solidFill>
                <a:schemeClr val="bg1"/>
              </a:solidFill>
              <a:latin typeface="微软雅黑" panose="020B0503020204020204" charset="-122"/>
              <a:sym typeface="+mn-ea"/>
            </a:endParaRPr>
          </a:p>
        </p:txBody>
      </p:sp>
      <p:sp>
        <p:nvSpPr>
          <p:cNvPr id="21" name="文本框 20"/>
          <p:cNvSpPr txBox="1"/>
          <p:nvPr>
            <p:custDataLst>
              <p:tags r:id="rId3"/>
            </p:custDataLst>
          </p:nvPr>
        </p:nvSpPr>
        <p:spPr>
          <a:xfrm>
            <a:off x="920115" y="4839335"/>
            <a:ext cx="3190240" cy="1281430"/>
          </a:xfrm>
          <a:prstGeom prst="rect">
            <a:avLst/>
          </a:prstGeom>
          <a:noFill/>
        </p:spPr>
        <p:txBody>
          <a:bodyPr wrap="square" lIns="0" tIns="0" rIns="0" bIns="0" rtlCol="0">
            <a:noAutofit/>
          </a:bodyPr>
          <a:lstStyle/>
          <a:p>
            <a:pPr indent="0" algn="l" fontAlgn="auto">
              <a:lnSpc>
                <a:spcPct val="140000"/>
              </a:lnSpc>
            </a:pPr>
            <a:r>
              <a:rPr lang="zh-CN" altLang="en-US" b="1" kern="0" dirty="0">
                <a:ln>
                  <a:noFill/>
                  <a:prstDash val="sysDot"/>
                </a:ln>
                <a:solidFill>
                  <a:schemeClr val="bg1"/>
                </a:solidFill>
                <a:latin typeface="微软雅黑" panose="020B0503020204020204" charset="-122"/>
                <a:sym typeface="+mn-ea"/>
              </a:rPr>
              <a:t>加入资本和土地后，模型更</a:t>
            </a:r>
            <a:r>
              <a:rPr lang="zh-CN" altLang="en-US" b="1" kern="0" dirty="0">
                <a:ln>
                  <a:noFill/>
                  <a:prstDash val="sysDot"/>
                </a:ln>
                <a:solidFill>
                  <a:schemeClr val="bg1"/>
                </a:solidFill>
                <a:latin typeface="微软雅黑" panose="020B0503020204020204" charset="-122"/>
                <a:sym typeface="+mn-ea"/>
              </a:rPr>
              <a:t>符合现实；关键问题是：选择机制是否依然重要？</a:t>
            </a:r>
            <a:endParaRPr lang="zh-CN" altLang="en-US" b="1" kern="0" dirty="0">
              <a:ln>
                <a:noFill/>
                <a:prstDash val="sysDot"/>
              </a:ln>
              <a:solidFill>
                <a:schemeClr val="bg1"/>
              </a:solidFill>
              <a:latin typeface="微软雅黑" panose="020B0503020204020204" charset="-122"/>
              <a:sym typeface="+mn-ea"/>
            </a:endParaRPr>
          </a:p>
        </p:txBody>
      </p:sp>
      <p:sp>
        <p:nvSpPr>
          <p:cNvPr id="22" name="圆角矩形 21"/>
          <p:cNvSpPr/>
          <p:nvPr/>
        </p:nvSpPr>
        <p:spPr>
          <a:xfrm>
            <a:off x="869315" y="4438015"/>
            <a:ext cx="1403985" cy="406400"/>
          </a:xfrm>
          <a:prstGeom prst="roundRect">
            <a:avLst>
              <a:gd name="adj" fmla="val 50000"/>
            </a:avLst>
          </a:pr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solidFill>
                  <a:schemeClr val="tx1"/>
                </a:solidFill>
              </a:rPr>
              <a:t>问题</a:t>
            </a:r>
            <a:endParaRPr lang="zh-CN" altLang="en-US" b="1">
              <a:solidFill>
                <a:schemeClr val="tx1"/>
              </a:solidFill>
            </a:endParaRPr>
          </a:p>
        </p:txBody>
      </p:sp>
      <p:sp>
        <p:nvSpPr>
          <p:cNvPr id="27" name="任意多边形 26"/>
          <p:cNvSpPr/>
          <p:nvPr>
            <p:custDataLst>
              <p:tags r:id="rId4"/>
            </p:custDataLst>
          </p:nvPr>
        </p:nvSpPr>
        <p:spPr>
          <a:xfrm>
            <a:off x="4340225" y="1468120"/>
            <a:ext cx="7193915" cy="5026660"/>
          </a:xfrm>
          <a:custGeom>
            <a:avLst/>
            <a:gdLst>
              <a:gd name="adj" fmla="val 593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1329" h="7916">
                <a:moveTo>
                  <a:pt x="680" y="470"/>
                </a:moveTo>
                <a:cubicBezTo>
                  <a:pt x="672" y="206"/>
                  <a:pt x="913" y="-6"/>
                  <a:pt x="1150" y="0"/>
                </a:cubicBezTo>
                <a:lnTo>
                  <a:pt x="10859" y="0"/>
                </a:lnTo>
                <a:cubicBezTo>
                  <a:pt x="11123" y="-8"/>
                  <a:pt x="11335" y="233"/>
                  <a:pt x="11329" y="470"/>
                </a:cubicBezTo>
                <a:lnTo>
                  <a:pt x="11329" y="7446"/>
                </a:lnTo>
                <a:cubicBezTo>
                  <a:pt x="11337" y="7710"/>
                  <a:pt x="11096" y="7922"/>
                  <a:pt x="10859" y="7916"/>
                </a:cubicBezTo>
                <a:lnTo>
                  <a:pt x="1150" y="7916"/>
                </a:lnTo>
                <a:cubicBezTo>
                  <a:pt x="886" y="7924"/>
                  <a:pt x="674" y="7683"/>
                  <a:pt x="680" y="7446"/>
                </a:cubicBezTo>
                <a:lnTo>
                  <a:pt x="680" y="1567"/>
                </a:lnTo>
                <a:lnTo>
                  <a:pt x="0" y="1227"/>
                </a:lnTo>
                <a:lnTo>
                  <a:pt x="680" y="887"/>
                </a:lnTo>
                <a:lnTo>
                  <a:pt x="680" y="470"/>
                </a:lnTo>
                <a:close/>
              </a:path>
            </a:pathLst>
          </a:custGeom>
          <a:solidFill>
            <a:schemeClr val="bg1"/>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48" name="圆角矩形 47"/>
          <p:cNvSpPr/>
          <p:nvPr>
            <p:custDataLst>
              <p:tags r:id="rId5"/>
            </p:custDataLst>
          </p:nvPr>
        </p:nvSpPr>
        <p:spPr>
          <a:xfrm>
            <a:off x="5051425" y="5190490"/>
            <a:ext cx="6199505" cy="1051560"/>
          </a:xfrm>
          <a:prstGeom prst="roundRect">
            <a:avLst>
              <a:gd name="adj" fmla="val 9821"/>
            </a:avLst>
          </a:prstGeom>
          <a:solidFill>
            <a:schemeClr val="accent6"/>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9" name="圆角矩形 48"/>
          <p:cNvSpPr/>
          <p:nvPr>
            <p:custDataLst>
              <p:tags r:id="rId6"/>
            </p:custDataLst>
          </p:nvPr>
        </p:nvSpPr>
        <p:spPr>
          <a:xfrm>
            <a:off x="5196840" y="5375275"/>
            <a:ext cx="1505585" cy="346075"/>
          </a:xfrm>
          <a:prstGeom prst="roundRect">
            <a:avLst>
              <a:gd name="adj" fmla="val 5000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tx1"/>
                </a:solidFill>
              </a:rPr>
              <a:t>均衡</a:t>
            </a:r>
            <a:r>
              <a:rPr lang="zh-CN" altLang="en-US" sz="1600" b="1">
                <a:solidFill>
                  <a:schemeClr val="tx1"/>
                </a:solidFill>
              </a:rPr>
              <a:t>新增</a:t>
            </a:r>
            <a:endParaRPr lang="zh-CN" altLang="en-US" sz="1600" b="1">
              <a:solidFill>
                <a:schemeClr val="tx1"/>
              </a:solidFill>
            </a:endParaRPr>
          </a:p>
        </p:txBody>
      </p:sp>
      <p:sp>
        <p:nvSpPr>
          <p:cNvPr id="51" name="文本框 50"/>
          <p:cNvSpPr txBox="1"/>
          <p:nvPr>
            <p:custDataLst>
              <p:tags r:id="rId7"/>
            </p:custDataLst>
          </p:nvPr>
        </p:nvSpPr>
        <p:spPr>
          <a:xfrm>
            <a:off x="5302250" y="5697855"/>
            <a:ext cx="5721350" cy="342265"/>
          </a:xfrm>
          <a:prstGeom prst="rect">
            <a:avLst/>
          </a:prstGeom>
          <a:noFill/>
        </p:spPr>
        <p:txBody>
          <a:bodyPr wrap="square" lIns="0" tIns="0" rIns="0" bIns="0" rtlCol="0">
            <a:noAutofit/>
          </a:bodyPr>
          <a:lstStyle/>
          <a:p>
            <a:pPr indent="0" algn="l" fontAlgn="auto">
              <a:lnSpc>
                <a:spcPct val="140000"/>
              </a:lnSpc>
            </a:pPr>
            <a:r>
              <a:rPr lang="zh-CN" altLang="en-US" sz="1600" kern="0" dirty="0">
                <a:ln>
                  <a:noFill/>
                  <a:prstDash val="sysDot"/>
                </a:ln>
                <a:solidFill>
                  <a:schemeClr val="bg1"/>
                </a:solidFill>
                <a:latin typeface="微软雅黑" panose="020B0503020204020204" charset="-122"/>
                <a:sym typeface="+mn-ea"/>
              </a:rPr>
              <a:t>资本租金</a:t>
            </a:r>
            <a:r>
              <a:rPr lang="en-US" altLang="zh-CN" sz="1600" kern="0" dirty="0">
                <a:ln>
                  <a:noFill/>
                  <a:prstDash val="sysDot"/>
                </a:ln>
                <a:solidFill>
                  <a:schemeClr val="bg1"/>
                </a:solidFill>
                <a:latin typeface="微软雅黑" panose="020B0503020204020204" charset="-122"/>
                <a:sym typeface="+mn-ea"/>
              </a:rPr>
              <a:t> </a:t>
            </a:r>
            <a:r>
              <a:rPr lang="en-US" altLang="zh-CN" sz="2000" i="1" kern="0" dirty="0">
                <a:ln>
                  <a:noFill/>
                  <a:prstDash val="sysDot"/>
                </a:ln>
                <a:solidFill>
                  <a:schemeClr val="bg1"/>
                </a:solidFill>
                <a:latin typeface="Times New Roman" panose="02020603050405020304" charset="0"/>
                <a:cs typeface="Times New Roman" panose="02020603050405020304" charset="0"/>
                <a:sym typeface="+mn-ea"/>
              </a:rPr>
              <a:t>r</a:t>
            </a:r>
            <a:r>
              <a:rPr lang="en-US" altLang="zh-CN" sz="1600" kern="0" dirty="0">
                <a:ln>
                  <a:noFill/>
                  <a:prstDash val="sysDot"/>
                </a:ln>
                <a:solidFill>
                  <a:schemeClr val="bg1"/>
                </a:solidFill>
                <a:latin typeface="微软雅黑" panose="020B0503020204020204" charset="-122"/>
                <a:sym typeface="+mn-ea"/>
              </a:rPr>
              <a:t>、</a:t>
            </a:r>
            <a:r>
              <a:rPr lang="zh-CN" altLang="en-US" sz="1600" kern="0" dirty="0">
                <a:ln>
                  <a:noFill/>
                  <a:prstDash val="sysDot"/>
                </a:ln>
                <a:solidFill>
                  <a:schemeClr val="bg1"/>
                </a:solidFill>
                <a:latin typeface="微软雅黑" panose="020B0503020204020204" charset="-122"/>
                <a:sym typeface="+mn-ea"/>
              </a:rPr>
              <a:t>土地租金</a:t>
            </a:r>
            <a:r>
              <a:rPr lang="en-US" altLang="zh-CN" sz="1600" kern="0" dirty="0">
                <a:ln>
                  <a:noFill/>
                  <a:prstDash val="sysDot"/>
                </a:ln>
                <a:solidFill>
                  <a:schemeClr val="bg1"/>
                </a:solidFill>
                <a:latin typeface="微软雅黑" panose="020B0503020204020204" charset="-122"/>
                <a:sym typeface="+mn-ea"/>
              </a:rPr>
              <a:t> </a:t>
            </a:r>
            <a:r>
              <a:rPr lang="en-US" altLang="zh-CN" sz="2000" i="1" kern="0" dirty="0">
                <a:ln>
                  <a:noFill/>
                  <a:prstDash val="sysDot"/>
                </a:ln>
                <a:solidFill>
                  <a:schemeClr val="bg1"/>
                </a:solidFill>
                <a:latin typeface="Times New Roman" panose="02020603050405020304" charset="0"/>
                <a:cs typeface="Times New Roman" panose="02020603050405020304" charset="0"/>
                <a:sym typeface="+mn-ea"/>
              </a:rPr>
              <a:t>p</a:t>
            </a:r>
            <a:r>
              <a:rPr lang="en-US" altLang="en-US" sz="2000" i="1" kern="0" baseline="-25000" dirty="0">
                <a:ln>
                  <a:noFill/>
                  <a:prstDash val="sysDot"/>
                </a:ln>
                <a:solidFill>
                  <a:schemeClr val="bg1"/>
                </a:solidFill>
                <a:latin typeface="Times New Roman" panose="02020603050405020304" charset="0"/>
                <a:cs typeface="Times New Roman" panose="02020603050405020304" charset="0"/>
                <a:sym typeface="+mn-ea"/>
              </a:rPr>
              <a:t>ℓ</a:t>
            </a:r>
            <a:r>
              <a:rPr lang="en-US" altLang="zh-CN" sz="1600" kern="0" dirty="0">
                <a:ln>
                  <a:noFill/>
                  <a:prstDash val="sysDot"/>
                </a:ln>
                <a:solidFill>
                  <a:schemeClr val="bg1"/>
                </a:solidFill>
                <a:latin typeface="微软雅黑" panose="020B0503020204020204" charset="-122"/>
                <a:sym typeface="+mn-ea"/>
              </a:rPr>
              <a:t> </a:t>
            </a:r>
            <a:r>
              <a:rPr lang="zh-CN" altLang="en-US" sz="1600" kern="0" dirty="0">
                <a:ln>
                  <a:noFill/>
                  <a:prstDash val="sysDot"/>
                </a:ln>
                <a:solidFill>
                  <a:schemeClr val="bg1"/>
                </a:solidFill>
                <a:latin typeface="微软雅黑" panose="020B0503020204020204" charset="-122"/>
                <a:sym typeface="+mn-ea"/>
              </a:rPr>
              <a:t>，资本和土地市场出清</a:t>
            </a:r>
            <a:endParaRPr lang="zh-CN" altLang="en-US" sz="1600" kern="0" dirty="0">
              <a:ln>
                <a:noFill/>
                <a:prstDash val="sysDot"/>
              </a:ln>
              <a:solidFill>
                <a:schemeClr val="bg1"/>
              </a:solidFill>
              <a:latin typeface="微软雅黑" panose="020B0503020204020204" charset="-122"/>
              <a:sym typeface="+mn-ea"/>
            </a:endParaRPr>
          </a:p>
        </p:txBody>
      </p:sp>
      <p:sp>
        <p:nvSpPr>
          <p:cNvPr id="2" name="圆角矩形 1"/>
          <p:cNvSpPr/>
          <p:nvPr>
            <p:custDataLst>
              <p:tags r:id="rId8"/>
            </p:custDataLst>
          </p:nvPr>
        </p:nvSpPr>
        <p:spPr>
          <a:xfrm>
            <a:off x="5051425" y="1683385"/>
            <a:ext cx="1505585" cy="346075"/>
          </a:xfrm>
          <a:prstGeom prst="roundRect">
            <a:avLst>
              <a:gd name="adj" fmla="val 50000"/>
            </a:avLst>
          </a:prstGeom>
          <a:solidFill>
            <a:schemeClr val="tx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solidFill>
                  <a:schemeClr val="bg1"/>
                </a:solidFill>
              </a:rPr>
              <a:t>生产函数</a:t>
            </a:r>
            <a:endParaRPr lang="zh-CN" altLang="en-US" sz="1600" b="1">
              <a:solidFill>
                <a:schemeClr val="bg1"/>
              </a:solidFill>
            </a:endParaRPr>
          </a:p>
        </p:txBody>
      </p:sp>
      <p:sp>
        <p:nvSpPr>
          <p:cNvPr id="3" name="文本框 2"/>
          <p:cNvSpPr txBox="1"/>
          <p:nvPr/>
        </p:nvSpPr>
        <p:spPr>
          <a:xfrm>
            <a:off x="5147945" y="2155825"/>
            <a:ext cx="849630" cy="337185"/>
          </a:xfrm>
          <a:prstGeom prst="rect">
            <a:avLst/>
          </a:prstGeom>
          <a:noFill/>
        </p:spPr>
        <p:txBody>
          <a:bodyPr wrap="square" rtlCol="0">
            <a:spAutoFit/>
          </a:bodyPr>
          <a:p>
            <a:r>
              <a:rPr lang="zh-CN" altLang="en-US" sz="1600" b="1"/>
              <a:t>农业：</a:t>
            </a:r>
            <a:endParaRPr lang="zh-CN" altLang="en-US" sz="1600" b="1"/>
          </a:p>
        </p:txBody>
      </p:sp>
      <p:sp>
        <p:nvSpPr>
          <p:cNvPr id="5" name="文本框 4"/>
          <p:cNvSpPr txBox="1"/>
          <p:nvPr/>
        </p:nvSpPr>
        <p:spPr>
          <a:xfrm>
            <a:off x="5173345" y="3091815"/>
            <a:ext cx="849630" cy="337185"/>
          </a:xfrm>
          <a:prstGeom prst="rect">
            <a:avLst/>
          </a:prstGeom>
          <a:noFill/>
        </p:spPr>
        <p:txBody>
          <a:bodyPr wrap="square" rtlCol="0">
            <a:spAutoFit/>
          </a:bodyPr>
          <a:p>
            <a:r>
              <a:rPr lang="zh-CN" altLang="en-US" sz="1600" b="1"/>
              <a:t>非农业：</a:t>
            </a:r>
            <a:endParaRPr lang="zh-CN" altLang="en-US" sz="1600" b="1"/>
          </a:p>
        </p:txBody>
      </p:sp>
      <p:sp>
        <p:nvSpPr>
          <p:cNvPr id="6" name="文本框 5"/>
          <p:cNvSpPr txBox="1"/>
          <p:nvPr/>
        </p:nvSpPr>
        <p:spPr>
          <a:xfrm>
            <a:off x="5196840" y="3926840"/>
            <a:ext cx="1671955" cy="337185"/>
          </a:xfrm>
          <a:prstGeom prst="rect">
            <a:avLst/>
          </a:prstGeom>
          <a:noFill/>
        </p:spPr>
        <p:txBody>
          <a:bodyPr wrap="square" rtlCol="0">
            <a:spAutoFit/>
          </a:bodyPr>
          <a:p>
            <a:r>
              <a:rPr lang="zh-CN" altLang="en-US" sz="1600" b="1"/>
              <a:t>职业选择</a:t>
            </a:r>
            <a:r>
              <a:rPr lang="zh-CN" altLang="en-US" sz="1600" b="1"/>
              <a:t>规则：</a:t>
            </a:r>
            <a:endParaRPr lang="zh-CN" altLang="en-US" sz="1600" b="1"/>
          </a:p>
        </p:txBody>
      </p:sp>
      <p:graphicFrame>
        <p:nvGraphicFramePr>
          <p:cNvPr id="8" name="对象 7">
            <a:hlinkClick r:id="" action="ppaction://ole?verb="/>
          </p:cNvPr>
          <p:cNvGraphicFramePr>
            <a:graphicFrameLocks noChangeAspect="1"/>
          </p:cNvGraphicFramePr>
          <p:nvPr/>
        </p:nvGraphicFramePr>
        <p:xfrm>
          <a:off x="6398260" y="2259330"/>
          <a:ext cx="4003040" cy="539750"/>
        </p:xfrm>
        <a:graphic>
          <a:graphicData uri="http://schemas.openxmlformats.org/presentationml/2006/ole">
            <mc:AlternateContent xmlns:mc="http://schemas.openxmlformats.org/markup-compatibility/2006">
              <mc:Choice xmlns:v="urn:schemas-microsoft-com:vml" Requires="v">
                <p:oleObj spid="_x0000_s1025" name="" r:id="rId9" imgW="1828800" imgH="254000" progId="Equation.KSEE3">
                  <p:embed/>
                </p:oleObj>
              </mc:Choice>
              <mc:Fallback>
                <p:oleObj name="" r:id="rId9" imgW="1828800" imgH="254000" progId="Equation.KSEE3">
                  <p:embed/>
                  <p:pic>
                    <p:nvPicPr>
                      <p:cNvPr id="0" name="图片 1024"/>
                      <p:cNvPicPr/>
                      <p:nvPr/>
                    </p:nvPicPr>
                    <p:blipFill>
                      <a:blip r:embed="rId10"/>
                      <a:stretch>
                        <a:fillRect/>
                      </a:stretch>
                    </p:blipFill>
                    <p:spPr>
                      <a:xfrm>
                        <a:off x="6398260" y="2259330"/>
                        <a:ext cx="4003040" cy="53975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7239953" y="3173730"/>
          <a:ext cx="2224405" cy="539750"/>
        </p:xfrm>
        <a:graphic>
          <a:graphicData uri="http://schemas.openxmlformats.org/presentationml/2006/ole">
            <mc:AlternateContent xmlns:mc="http://schemas.openxmlformats.org/markup-compatibility/2006">
              <mc:Choice xmlns:v="urn:schemas-microsoft-com:vml" Requires="v">
                <p:oleObj spid="_x0000_s12" name="" r:id="rId11" imgW="1016000" imgH="254000" progId="Equation.KSEE3">
                  <p:embed/>
                </p:oleObj>
              </mc:Choice>
              <mc:Fallback>
                <p:oleObj name="" r:id="rId11" imgW="1016000" imgH="254000" progId="Equation.KSEE3">
                  <p:embed/>
                  <p:pic>
                    <p:nvPicPr>
                      <p:cNvPr id="0" name="图片 1024"/>
                      <p:cNvPicPr/>
                      <p:nvPr/>
                    </p:nvPicPr>
                    <p:blipFill>
                      <a:blip r:embed="rId12"/>
                      <a:stretch>
                        <a:fillRect/>
                      </a:stretch>
                    </p:blipFill>
                    <p:spPr>
                      <a:xfrm>
                        <a:off x="7239953" y="3173730"/>
                        <a:ext cx="2224405" cy="53975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5922645" y="4154170"/>
          <a:ext cx="4714875" cy="949960"/>
        </p:xfrm>
        <a:graphic>
          <a:graphicData uri="http://schemas.openxmlformats.org/presentationml/2006/ole">
            <mc:AlternateContent xmlns:mc="http://schemas.openxmlformats.org/markup-compatibility/2006">
              <mc:Choice xmlns:v="urn:schemas-microsoft-com:vml" Requires="v">
                <p:oleObj spid="_x0000_s1026" name="" r:id="rId13" imgW="2108200" imgH="508000" progId="Equation.KSEE3">
                  <p:embed/>
                </p:oleObj>
              </mc:Choice>
              <mc:Fallback>
                <p:oleObj name="" r:id="rId13" imgW="2108200" imgH="508000" progId="Equation.KSEE3">
                  <p:embed/>
                  <p:pic>
                    <p:nvPicPr>
                      <p:cNvPr id="0" name="图片 1025"/>
                      <p:cNvPicPr/>
                      <p:nvPr/>
                    </p:nvPicPr>
                    <p:blipFill>
                      <a:blip r:embed="rId14"/>
                      <a:stretch>
                        <a:fillRect/>
                      </a:stretch>
                    </p:blipFill>
                    <p:spPr>
                      <a:xfrm>
                        <a:off x="5922645" y="4154170"/>
                        <a:ext cx="4714875" cy="949960"/>
                      </a:xfrm>
                      <a:prstGeom prst="rect">
                        <a:avLst/>
                      </a:prstGeom>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803910" y="914400"/>
            <a:ext cx="10659110" cy="368300"/>
          </a:xfrm>
          <a:prstGeom prst="rect">
            <a:avLst/>
          </a:prstGeom>
          <a:noFill/>
        </p:spPr>
        <p:txBody>
          <a:bodyPr wrap="square" rtlCol="0">
            <a:spAutoFit/>
          </a:bodyPr>
          <a:lstStyle/>
          <a:p>
            <a:r>
              <a:rPr lang="zh-CN" altLang="en-US" b="1">
                <a:latin typeface="Times New Roman" panose="02020603050405020304" charset="0"/>
                <a:cs typeface="Times New Roman" panose="02020603050405020304" charset="0"/>
              </a:rPr>
              <a:t>加入资本和土地的扩展模型</a:t>
            </a:r>
            <a:r>
              <a:rPr lang="en-US" altLang="zh-CN" b="1"/>
              <a:t>——</a:t>
            </a:r>
            <a:r>
              <a:rPr lang="zh-CN" altLang="en-US" b="1"/>
              <a:t>实验设计和</a:t>
            </a:r>
            <a:r>
              <a:rPr lang="zh-CN" altLang="en-US" b="1"/>
              <a:t>参数校准</a:t>
            </a:r>
            <a:endParaRPr lang="zh-CN" altLang="en-US" b="1"/>
          </a:p>
        </p:txBody>
      </p:sp>
      <p:grpSp>
        <p:nvGrpSpPr>
          <p:cNvPr id="70" name="组合 69"/>
          <p:cNvGrpSpPr/>
          <p:nvPr/>
        </p:nvGrpSpPr>
        <p:grpSpPr>
          <a:xfrm>
            <a:off x="389255" y="5487670"/>
            <a:ext cx="4300855" cy="460375"/>
            <a:chOff x="613" y="7445"/>
            <a:chExt cx="6773" cy="725"/>
          </a:xfrm>
        </p:grpSpPr>
        <p:sp>
          <p:nvSpPr>
            <p:cNvPr id="67" name="Text Box 38"/>
            <p:cNvSpPr txBox="1">
              <a:spLocks noChangeArrowheads="1"/>
            </p:cNvSpPr>
            <p:nvPr>
              <p:custDataLst>
                <p:tags r:id="rId1"/>
              </p:custDataLst>
            </p:nvPr>
          </p:nvSpPr>
          <p:spPr bwMode="auto">
            <a:xfrm>
              <a:off x="613" y="7445"/>
              <a:ext cx="800"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a:t>
              </a:r>
              <a:r>
                <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3</a:t>
              </a:r>
              <a:endPar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sp>
          <p:nvSpPr>
            <p:cNvPr id="58" name="文本框 57"/>
            <p:cNvSpPr txBox="1"/>
            <p:nvPr/>
          </p:nvSpPr>
          <p:spPr>
            <a:xfrm>
              <a:off x="1457" y="7584"/>
              <a:ext cx="5929" cy="531"/>
            </a:xfrm>
            <a:prstGeom prst="rect">
              <a:avLst/>
            </a:prstGeom>
            <a:noFill/>
          </p:spPr>
          <p:txBody>
            <a:bodyPr wrap="square" rtlCol="0">
              <a:spAutoFit/>
            </a:bodyPr>
            <a:lstStyle/>
            <a:p>
              <a:r>
                <a:rPr lang="zh-CN" altLang="en-US" sz="1600" b="1"/>
                <a:t>设计</a:t>
              </a:r>
              <a:r>
                <a:rPr lang="zh-CN" altLang="en-US" sz="1600" b="1"/>
                <a:t>思路</a:t>
              </a:r>
              <a:endParaRPr lang="zh-CN" altLang="en-US" sz="1600" b="1"/>
            </a:p>
          </p:txBody>
        </p:sp>
      </p:grpSp>
      <p:grpSp>
        <p:nvGrpSpPr>
          <p:cNvPr id="69" name="组合 68"/>
          <p:cNvGrpSpPr/>
          <p:nvPr/>
        </p:nvGrpSpPr>
        <p:grpSpPr>
          <a:xfrm>
            <a:off x="389255" y="2860675"/>
            <a:ext cx="4300855" cy="460375"/>
            <a:chOff x="613" y="4841"/>
            <a:chExt cx="6773" cy="725"/>
          </a:xfrm>
        </p:grpSpPr>
        <p:sp>
          <p:nvSpPr>
            <p:cNvPr id="66" name="Text Box 38"/>
            <p:cNvSpPr txBox="1">
              <a:spLocks noChangeArrowheads="1"/>
            </p:cNvSpPr>
            <p:nvPr>
              <p:custDataLst>
                <p:tags r:id="rId2"/>
              </p:custDataLst>
            </p:nvPr>
          </p:nvSpPr>
          <p:spPr bwMode="auto">
            <a:xfrm>
              <a:off x="613" y="4841"/>
              <a:ext cx="786"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a:t>
              </a:r>
              <a:r>
                <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2</a:t>
              </a:r>
              <a:endParaRPr lang="en-US"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sp>
          <p:nvSpPr>
            <p:cNvPr id="59" name="文本框 58"/>
            <p:cNvSpPr txBox="1"/>
            <p:nvPr/>
          </p:nvSpPr>
          <p:spPr>
            <a:xfrm>
              <a:off x="1457" y="4980"/>
              <a:ext cx="5929" cy="531"/>
            </a:xfrm>
            <a:prstGeom prst="rect">
              <a:avLst/>
            </a:prstGeom>
            <a:noFill/>
          </p:spPr>
          <p:txBody>
            <a:bodyPr wrap="square" rtlCol="0">
              <a:spAutoFit/>
            </a:bodyPr>
            <a:lstStyle/>
            <a:p>
              <a:r>
                <a:rPr lang="zh-CN" altLang="en-US" sz="1600" b="1"/>
                <a:t>实验</a:t>
              </a:r>
              <a:r>
                <a:rPr lang="zh-CN" altLang="en-US" sz="1600" b="1"/>
                <a:t>步骤</a:t>
              </a:r>
              <a:endParaRPr lang="zh-CN" altLang="en-US" sz="1600" b="1"/>
            </a:p>
          </p:txBody>
        </p:sp>
      </p:grpSp>
      <p:sp>
        <p:nvSpPr>
          <p:cNvPr id="60" name="圆角矩形 59"/>
          <p:cNvSpPr/>
          <p:nvPr/>
        </p:nvSpPr>
        <p:spPr>
          <a:xfrm>
            <a:off x="485775" y="1801495"/>
            <a:ext cx="5391785" cy="1044575"/>
          </a:xfrm>
          <a:prstGeom prst="roundRect">
            <a:avLst/>
          </a:prstGeom>
          <a:solidFill>
            <a:schemeClr val="bg1"/>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1" name="圆角矩形 60"/>
          <p:cNvSpPr/>
          <p:nvPr/>
        </p:nvSpPr>
        <p:spPr>
          <a:xfrm>
            <a:off x="485775" y="3313430"/>
            <a:ext cx="5391785" cy="2171700"/>
          </a:xfrm>
          <a:prstGeom prst="roundRect">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2" name="圆角矩形 61"/>
          <p:cNvSpPr/>
          <p:nvPr/>
        </p:nvSpPr>
        <p:spPr>
          <a:xfrm>
            <a:off x="485775" y="5937250"/>
            <a:ext cx="5391785" cy="497840"/>
          </a:xfrm>
          <a:prstGeom prst="roundRect">
            <a:avLst/>
          </a:prstGeom>
          <a:solidFill>
            <a:schemeClr val="bg1"/>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9" name="文本框 88"/>
          <p:cNvSpPr txBox="1"/>
          <p:nvPr>
            <p:custDataLst>
              <p:tags r:id="rId3"/>
            </p:custDataLst>
          </p:nvPr>
        </p:nvSpPr>
        <p:spPr>
          <a:xfrm>
            <a:off x="610235" y="1764665"/>
            <a:ext cx="4284345" cy="684530"/>
          </a:xfrm>
          <a:prstGeom prst="rect">
            <a:avLst/>
          </a:prstGeom>
          <a:noFill/>
        </p:spPr>
        <p:txBody>
          <a:bodyPr wrap="square" lIns="0" tIns="0" rIns="0" bIns="0" rtlCol="0">
            <a:noAutofit/>
          </a:bodyPr>
          <a:lstStyle/>
          <a:p>
            <a:pPr marL="285750" indent="-285750" algn="l" fontAlgn="auto">
              <a:lnSpc>
                <a:spcPct val="160000"/>
              </a:lnSpc>
              <a:buFont typeface="Arial" panose="020B0604020202020204" pitchFamily="34" charset="0"/>
              <a:buChar char="•"/>
            </a:pPr>
            <a:r>
              <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rPr>
              <a:t>国家之间</a:t>
            </a:r>
            <a:r>
              <a:rPr lang="zh-CN" altLang="en-US" sz="1400" b="1" kern="0" dirty="0">
                <a:ln>
                  <a:noFill/>
                  <a:prstDash val="sysDot"/>
                </a:ln>
                <a:solidFill>
                  <a:srgbClr val="000000">
                    <a:lumMod val="85000"/>
                    <a:lumOff val="15000"/>
                  </a:srgbClr>
                </a:solidFill>
                <a:latin typeface="微软雅黑" panose="020B0503020204020204" charset="-122"/>
                <a:sym typeface="微软雅黑" panose="020B0503020204020204" charset="-122"/>
              </a:rPr>
              <a:t>只有全经济效率</a:t>
            </a:r>
            <a:r>
              <a:rPr lang="en-US" altLang="zh-CN" sz="1400" b="1" kern="0" dirty="0">
                <a:ln>
                  <a:noFill/>
                  <a:prstDash val="sysDot"/>
                </a:ln>
                <a:solidFill>
                  <a:srgbClr val="000000">
                    <a:lumMod val="85000"/>
                    <a:lumOff val="15000"/>
                  </a:srgbClr>
                </a:solidFill>
                <a:latin typeface="Times New Roman" panose="02020603050405020304" charset="0"/>
                <a:cs typeface="Times New Roman" panose="02020603050405020304" charset="0"/>
                <a:sym typeface="微软雅黑" panose="020B0503020204020204" charset="-122"/>
              </a:rPr>
              <a:t>A</a:t>
            </a:r>
            <a:r>
              <a:rPr lang="zh-CN" altLang="en-US" sz="1400" b="1" kern="0" dirty="0">
                <a:ln>
                  <a:noFill/>
                  <a:prstDash val="sysDot"/>
                </a:ln>
                <a:solidFill>
                  <a:srgbClr val="000000">
                    <a:lumMod val="85000"/>
                    <a:lumOff val="15000"/>
                  </a:srgbClr>
                </a:solidFill>
                <a:latin typeface="Times New Roman" panose="02020603050405020304" charset="0"/>
                <a:cs typeface="Times New Roman" panose="02020603050405020304" charset="0"/>
                <a:sym typeface="微软雅黑" panose="020B0503020204020204" charset="-122"/>
              </a:rPr>
              <a:t>和资本存量</a:t>
            </a:r>
            <a:r>
              <a:rPr lang="en-US" altLang="zh-CN" sz="1400" b="1" kern="0" dirty="0">
                <a:ln>
                  <a:noFill/>
                  <a:prstDash val="sysDot"/>
                </a:ln>
                <a:solidFill>
                  <a:srgbClr val="000000">
                    <a:lumMod val="85000"/>
                    <a:lumOff val="15000"/>
                  </a:srgbClr>
                </a:solidFill>
                <a:latin typeface="Times New Roman" panose="02020603050405020304" charset="0"/>
                <a:cs typeface="Times New Roman" panose="02020603050405020304" charset="0"/>
                <a:sym typeface="微软雅黑" panose="020B0503020204020204" charset="-122"/>
              </a:rPr>
              <a:t>K</a:t>
            </a:r>
            <a:r>
              <a:rPr lang="zh-CN" altLang="en-US" sz="1400" b="1" kern="0" dirty="0">
                <a:ln>
                  <a:noFill/>
                  <a:prstDash val="sysDot"/>
                </a:ln>
                <a:solidFill>
                  <a:srgbClr val="000000">
                    <a:lumMod val="85000"/>
                    <a:lumOff val="15000"/>
                  </a:srgbClr>
                </a:solidFill>
                <a:latin typeface="微软雅黑" panose="020B0503020204020204" charset="-122"/>
                <a:sym typeface="微软雅黑" panose="020B0503020204020204" charset="-122"/>
              </a:rPr>
              <a:t>不同</a:t>
            </a:r>
            <a:endParaRPr lang="en-US" altLang="zh-CN" sz="1400" kern="0" dirty="0">
              <a:ln>
                <a:noFill/>
                <a:prstDash val="sysDot"/>
              </a:ln>
              <a:solidFill>
                <a:srgbClr val="000000">
                  <a:lumMod val="85000"/>
                  <a:lumOff val="15000"/>
                </a:srgbClr>
              </a:solidFill>
              <a:latin typeface="微软雅黑" panose="020B0503020204020204" charset="-122"/>
              <a:sym typeface="微软雅黑" panose="020B0503020204020204" charset="-122"/>
            </a:endParaRPr>
          </a:p>
          <a:p>
            <a:pPr marL="285750" indent="-285750" algn="l" fontAlgn="auto">
              <a:lnSpc>
                <a:spcPct val="160000"/>
              </a:lnSpc>
              <a:buFont typeface="Arial" panose="020B0604020202020204" pitchFamily="34" charset="0"/>
              <a:buChar char="•"/>
            </a:pPr>
            <a:r>
              <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rPr>
              <a:t>偏好参数、个体生产率分布完全相同</a:t>
            </a:r>
            <a:endPar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endParaRPr>
          </a:p>
          <a:p>
            <a:pPr marL="285750" indent="-285750" algn="l" fontAlgn="auto">
              <a:lnSpc>
                <a:spcPct val="160000"/>
              </a:lnSpc>
              <a:buFont typeface="Arial" panose="020B0604020202020204" pitchFamily="34" charset="0"/>
              <a:buChar char="•"/>
            </a:pPr>
            <a:r>
              <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rPr>
              <a:t>工人根据比较优势自选择部门（内生）</a:t>
            </a:r>
            <a:endParaRPr lang="zh-CN" altLang="en-US" sz="1400" kern="0" dirty="0">
              <a:ln>
                <a:noFill/>
                <a:prstDash val="sysDot"/>
              </a:ln>
              <a:solidFill>
                <a:srgbClr val="000000">
                  <a:lumMod val="85000"/>
                  <a:lumOff val="15000"/>
                </a:srgbClr>
              </a:solidFill>
              <a:latin typeface="微软雅黑" panose="020B0503020204020204" charset="-122"/>
              <a:sym typeface="微软雅黑" panose="020B0503020204020204" charset="-122"/>
            </a:endParaRPr>
          </a:p>
        </p:txBody>
      </p:sp>
      <p:sp>
        <p:nvSpPr>
          <p:cNvPr id="63" name="文本框 62"/>
          <p:cNvSpPr txBox="1"/>
          <p:nvPr>
            <p:custDataLst>
              <p:tags r:id="rId4"/>
            </p:custDataLst>
          </p:nvPr>
        </p:nvSpPr>
        <p:spPr>
          <a:xfrm>
            <a:off x="612775" y="3333115"/>
            <a:ext cx="5140325" cy="1966595"/>
          </a:xfrm>
          <a:prstGeom prst="rect">
            <a:avLst/>
          </a:prstGeom>
          <a:noFill/>
        </p:spPr>
        <p:txBody>
          <a:bodyPr wrap="square" lIns="0" tIns="0" rIns="0" bIns="0" rtlCol="0">
            <a:noAutofit/>
          </a:bodyPr>
          <a:lstStyle/>
          <a:p>
            <a:pPr indent="0" algn="l" fontAlgn="auto">
              <a:lnSpc>
                <a:spcPct val="160000"/>
              </a:lnSpc>
            </a:pPr>
            <a:r>
              <a:rPr lang="en-US" altLang="zh-CN" sz="1400" kern="0" dirty="0">
                <a:ln>
                  <a:noFill/>
                  <a:prstDash val="sysDot"/>
                </a:ln>
                <a:solidFill>
                  <a:schemeClr val="bg1"/>
                </a:solidFill>
                <a:uFillTx/>
                <a:latin typeface="Times New Roman" panose="02020603050405020304" charset="0"/>
                <a:sym typeface="+mn-ea"/>
              </a:rPr>
              <a:t>1.</a:t>
            </a:r>
            <a:r>
              <a:rPr lang="zh-CN" altLang="en-US" sz="1400" kern="0" dirty="0">
                <a:ln>
                  <a:noFill/>
                  <a:prstDash val="sysDot"/>
                </a:ln>
                <a:solidFill>
                  <a:schemeClr val="bg1"/>
                </a:solidFill>
                <a:uFillTx/>
                <a:latin typeface="Times New Roman" panose="02020603050405020304" charset="0"/>
                <a:sym typeface="+mn-ea"/>
              </a:rPr>
              <a:t>基准：美国 </a:t>
            </a:r>
            <a:r>
              <a:rPr lang="en-US" altLang="zh-CN" sz="1400" kern="0" dirty="0">
                <a:ln>
                  <a:noFill/>
                  <a:prstDash val="sysDot"/>
                </a:ln>
                <a:solidFill>
                  <a:schemeClr val="bg1"/>
                </a:solidFill>
                <a:uFillTx/>
                <a:latin typeface="Times New Roman" panose="02020603050405020304" charset="0"/>
                <a:sym typeface="+mn-ea"/>
              </a:rPr>
              <a:t>A=1，</a:t>
            </a:r>
            <a:r>
              <a:rPr lang="zh-CN" altLang="en-US" sz="1400" kern="0" dirty="0">
                <a:ln>
                  <a:noFill/>
                  <a:prstDash val="sysDot"/>
                </a:ln>
                <a:solidFill>
                  <a:schemeClr val="bg1"/>
                </a:solidFill>
                <a:uFillTx/>
                <a:latin typeface="Times New Roman" panose="02020603050405020304" charset="0"/>
                <a:sym typeface="+mn-ea"/>
              </a:rPr>
              <a:t>资本-产出比 </a:t>
            </a:r>
            <a:r>
              <a:rPr lang="en-US" altLang="zh-CN" sz="1400" kern="0" dirty="0">
                <a:ln>
                  <a:noFill/>
                  <a:prstDash val="sysDot"/>
                </a:ln>
                <a:solidFill>
                  <a:schemeClr val="bg1"/>
                </a:solidFill>
                <a:uFillTx/>
                <a:latin typeface="Times New Roman" panose="02020603050405020304" charset="0"/>
                <a:sym typeface="+mn-ea"/>
              </a:rPr>
              <a:t>K/Y=2.5</a:t>
            </a:r>
            <a:endParaRPr lang="en-US" altLang="zh-CN" sz="1400" kern="0" dirty="0">
              <a:ln>
                <a:noFill/>
                <a:prstDash val="sysDot"/>
              </a:ln>
              <a:solidFill>
                <a:schemeClr val="bg1"/>
              </a:solidFill>
              <a:uFillTx/>
              <a:latin typeface="Times New Roman" panose="02020603050405020304" charset="0"/>
              <a:sym typeface="+mn-ea"/>
            </a:endParaRPr>
          </a:p>
          <a:p>
            <a:pPr indent="0" algn="l" fontAlgn="auto">
              <a:lnSpc>
                <a:spcPct val="160000"/>
              </a:lnSpc>
            </a:pPr>
            <a:r>
              <a:rPr lang="en-US" altLang="zh-CN" sz="1400" kern="0" dirty="0">
                <a:ln>
                  <a:noFill/>
                  <a:prstDash val="sysDot"/>
                </a:ln>
                <a:solidFill>
                  <a:schemeClr val="bg1"/>
                </a:solidFill>
                <a:uFillTx/>
                <a:latin typeface="Times New Roman" panose="02020603050405020304" charset="0"/>
                <a:sym typeface="+mn-ea"/>
              </a:rPr>
              <a:t>2.</a:t>
            </a:r>
            <a:r>
              <a:rPr lang="zh-CN" altLang="en-US" sz="1400" kern="0" dirty="0">
                <a:ln>
                  <a:noFill/>
                  <a:prstDash val="sysDot"/>
                </a:ln>
                <a:solidFill>
                  <a:schemeClr val="bg1"/>
                </a:solidFill>
                <a:uFillTx/>
                <a:latin typeface="Times New Roman" panose="02020603050405020304" charset="0"/>
                <a:sym typeface="+mn-ea"/>
              </a:rPr>
              <a:t>富国：调整 </a:t>
            </a:r>
            <a:r>
              <a:rPr lang="en-US" altLang="zh-CN" sz="1400" kern="0" dirty="0">
                <a:ln>
                  <a:noFill/>
                  <a:prstDash val="sysDot"/>
                </a:ln>
                <a:solidFill>
                  <a:schemeClr val="bg1"/>
                </a:solidFill>
                <a:uFillTx/>
                <a:latin typeface="Times New Roman" panose="02020603050405020304" charset="0"/>
                <a:sym typeface="+mn-ea"/>
              </a:rPr>
              <a:t>A</a:t>
            </a:r>
            <a:r>
              <a:rPr lang="zh-CN" altLang="en-US" sz="1400" kern="0" dirty="0">
                <a:ln>
                  <a:noFill/>
                  <a:prstDash val="sysDot"/>
                </a:ln>
                <a:solidFill>
                  <a:schemeClr val="bg1"/>
                </a:solidFill>
                <a:uFillTx/>
                <a:latin typeface="Times New Roman" panose="02020603050405020304" charset="0"/>
                <a:sym typeface="+mn-ea"/>
              </a:rPr>
              <a:t>和</a:t>
            </a:r>
            <a:r>
              <a:rPr lang="en-US" altLang="zh-CN" sz="1400" kern="0" dirty="0">
                <a:ln>
                  <a:noFill/>
                  <a:prstDash val="sysDot"/>
                </a:ln>
                <a:solidFill>
                  <a:schemeClr val="bg1"/>
                </a:solidFill>
                <a:uFillTx/>
                <a:latin typeface="Times New Roman" panose="02020603050405020304" charset="0"/>
                <a:sym typeface="+mn-ea"/>
              </a:rPr>
              <a:t>K，</a:t>
            </a:r>
            <a:r>
              <a:rPr lang="zh-CN" altLang="en-US" sz="1400" kern="0" dirty="0">
                <a:ln>
                  <a:noFill/>
                  <a:prstDash val="sysDot"/>
                </a:ln>
                <a:solidFill>
                  <a:schemeClr val="bg1"/>
                </a:solidFill>
                <a:uFillTx/>
                <a:latin typeface="Times New Roman" panose="02020603050405020304" charset="0"/>
                <a:sym typeface="+mn-ea"/>
              </a:rPr>
              <a:t>匹配90分位国家人均</a:t>
            </a:r>
            <a:r>
              <a:rPr lang="en-US" altLang="zh-CN" sz="1400" kern="0" dirty="0">
                <a:ln>
                  <a:noFill/>
                  <a:prstDash val="sysDot"/>
                </a:ln>
                <a:solidFill>
                  <a:schemeClr val="bg1"/>
                </a:solidFill>
                <a:uFillTx/>
                <a:latin typeface="Times New Roman" panose="02020603050405020304" charset="0"/>
                <a:sym typeface="+mn-ea"/>
              </a:rPr>
              <a:t>GDP</a:t>
            </a:r>
            <a:r>
              <a:rPr lang="zh-CN" altLang="en-US" sz="1400" kern="0" dirty="0">
                <a:ln>
                  <a:noFill/>
                  <a:prstDash val="sysDot"/>
                </a:ln>
                <a:solidFill>
                  <a:schemeClr val="bg1"/>
                </a:solidFill>
                <a:uFillTx/>
                <a:latin typeface="Times New Roman" panose="02020603050405020304" charset="0"/>
                <a:sym typeface="+mn-ea"/>
              </a:rPr>
              <a:t>，保持</a:t>
            </a:r>
            <a:r>
              <a:rPr lang="en-US" altLang="zh-CN" sz="1400" kern="0" dirty="0">
                <a:ln>
                  <a:noFill/>
                  <a:prstDash val="sysDot"/>
                </a:ln>
                <a:solidFill>
                  <a:schemeClr val="bg1"/>
                </a:solidFill>
                <a:uFillTx/>
                <a:latin typeface="Times New Roman" panose="02020603050405020304" charset="0"/>
                <a:sym typeface="+mn-ea"/>
              </a:rPr>
              <a:t>K/Y=2.5</a:t>
            </a:r>
            <a:endParaRPr lang="en-US" altLang="zh-CN" sz="1400" kern="0" dirty="0">
              <a:ln>
                <a:noFill/>
                <a:prstDash val="sysDot"/>
              </a:ln>
              <a:solidFill>
                <a:schemeClr val="bg1"/>
              </a:solidFill>
              <a:uFillTx/>
              <a:latin typeface="Times New Roman" panose="02020603050405020304" charset="0"/>
              <a:sym typeface="+mn-ea"/>
            </a:endParaRPr>
          </a:p>
          <a:p>
            <a:pPr indent="0" algn="l" fontAlgn="auto">
              <a:lnSpc>
                <a:spcPct val="160000"/>
              </a:lnSpc>
            </a:pPr>
            <a:r>
              <a:rPr lang="en-US" altLang="zh-CN" sz="1400" kern="0" dirty="0">
                <a:ln>
                  <a:noFill/>
                  <a:prstDash val="sysDot"/>
                </a:ln>
                <a:solidFill>
                  <a:schemeClr val="bg1"/>
                </a:solidFill>
                <a:uFillTx/>
                <a:latin typeface="Times New Roman" panose="02020603050405020304" charset="0"/>
                <a:sym typeface="+mn-ea"/>
              </a:rPr>
              <a:t>3.</a:t>
            </a:r>
            <a:r>
              <a:rPr lang="zh-CN" altLang="en-US" sz="1400" kern="0" dirty="0">
                <a:ln>
                  <a:noFill/>
                  <a:prstDash val="sysDot"/>
                </a:ln>
                <a:solidFill>
                  <a:schemeClr val="bg1"/>
                </a:solidFill>
                <a:uFillTx/>
                <a:latin typeface="Times New Roman" panose="02020603050405020304" charset="0"/>
                <a:sym typeface="+mn-ea"/>
              </a:rPr>
              <a:t>穷国：调整 </a:t>
            </a:r>
            <a:r>
              <a:rPr lang="en-US" altLang="zh-CN" sz="1400" kern="0" dirty="0">
                <a:ln>
                  <a:noFill/>
                  <a:prstDash val="sysDot"/>
                </a:ln>
                <a:solidFill>
                  <a:schemeClr val="bg1"/>
                </a:solidFill>
                <a:uFillTx/>
                <a:latin typeface="Times New Roman" panose="02020603050405020304" charset="0"/>
                <a:sym typeface="+mn-ea"/>
              </a:rPr>
              <a:t>A</a:t>
            </a:r>
            <a:r>
              <a:rPr lang="zh-CN" altLang="en-US" sz="1400" kern="0" dirty="0">
                <a:ln>
                  <a:noFill/>
                  <a:prstDash val="sysDot"/>
                </a:ln>
                <a:solidFill>
                  <a:schemeClr val="bg1"/>
                </a:solidFill>
                <a:uFillTx/>
                <a:latin typeface="Times New Roman" panose="02020603050405020304" charset="0"/>
                <a:sym typeface="+mn-ea"/>
              </a:rPr>
              <a:t>和</a:t>
            </a:r>
            <a:r>
              <a:rPr lang="en-US" altLang="zh-CN" sz="1400" kern="0" dirty="0">
                <a:ln>
                  <a:noFill/>
                  <a:prstDash val="sysDot"/>
                </a:ln>
                <a:solidFill>
                  <a:schemeClr val="bg1"/>
                </a:solidFill>
                <a:uFillTx/>
                <a:latin typeface="Times New Roman" panose="02020603050405020304" charset="0"/>
                <a:sym typeface="+mn-ea"/>
              </a:rPr>
              <a:t>K，</a:t>
            </a:r>
            <a:r>
              <a:rPr lang="zh-CN" altLang="en-US" sz="1400" kern="0" dirty="0">
                <a:ln>
                  <a:noFill/>
                  <a:prstDash val="sysDot"/>
                </a:ln>
                <a:solidFill>
                  <a:schemeClr val="bg1"/>
                </a:solidFill>
                <a:uFillTx/>
                <a:latin typeface="Times New Roman" panose="02020603050405020304" charset="0"/>
                <a:sym typeface="+mn-ea"/>
              </a:rPr>
              <a:t>匹配</a:t>
            </a:r>
            <a:r>
              <a:rPr lang="zh-CN" altLang="en-US" sz="1400" kern="0" dirty="0">
                <a:ln>
                  <a:noFill/>
                  <a:prstDash val="sysDot"/>
                </a:ln>
                <a:solidFill>
                  <a:schemeClr val="bg1"/>
                </a:solidFill>
                <a:uFillTx/>
                <a:latin typeface="Times New Roman" panose="02020603050405020304" charset="0"/>
                <a:sym typeface="+mn-ea"/>
              </a:rPr>
              <a:t>总</a:t>
            </a:r>
            <a:r>
              <a:rPr lang="en-US" altLang="zh-CN" sz="1400" kern="0" dirty="0">
                <a:ln>
                  <a:noFill/>
                  <a:prstDash val="sysDot"/>
                </a:ln>
                <a:solidFill>
                  <a:schemeClr val="bg1"/>
                </a:solidFill>
                <a:uFillTx/>
                <a:latin typeface="Times New Roman" panose="02020603050405020304" charset="0"/>
                <a:sym typeface="+mn-ea"/>
              </a:rPr>
              <a:t>GDP</a:t>
            </a:r>
            <a:r>
              <a:rPr lang="zh-CN" altLang="en-US" sz="1400" kern="0" dirty="0">
                <a:ln>
                  <a:noFill/>
                  <a:prstDash val="sysDot"/>
                </a:ln>
                <a:solidFill>
                  <a:schemeClr val="bg1"/>
                </a:solidFill>
                <a:uFillTx/>
                <a:latin typeface="Times New Roman" panose="02020603050405020304" charset="0"/>
                <a:sym typeface="+mn-ea"/>
              </a:rPr>
              <a:t>的90–10比值 = 22倍</a:t>
            </a:r>
            <a:r>
              <a:rPr lang="zh-CN" altLang="en-US" sz="1400" kern="0" dirty="0">
                <a:ln>
                  <a:noFill/>
                  <a:prstDash val="sysDot"/>
                </a:ln>
                <a:solidFill>
                  <a:schemeClr val="bg1"/>
                </a:solidFill>
                <a:uFillTx/>
                <a:latin typeface="Times New Roman" panose="02020603050405020304" charset="0"/>
                <a:sym typeface="+mn-ea"/>
              </a:rPr>
              <a:t>，穷国</a:t>
            </a:r>
            <a:r>
              <a:rPr lang="en-US" altLang="zh-CN" sz="1400" kern="0" dirty="0">
                <a:ln>
                  <a:noFill/>
                  <a:prstDash val="sysDot"/>
                </a:ln>
                <a:solidFill>
                  <a:schemeClr val="bg1"/>
                </a:solidFill>
                <a:uFillTx/>
                <a:latin typeface="Times New Roman" panose="02020603050405020304" charset="0"/>
                <a:sym typeface="+mn-ea"/>
              </a:rPr>
              <a:t>K/Y=1</a:t>
            </a:r>
            <a:endParaRPr lang="zh-CN" altLang="en-US" sz="1400" kern="0" dirty="0">
              <a:ln>
                <a:noFill/>
                <a:prstDash val="sysDot"/>
              </a:ln>
              <a:solidFill>
                <a:schemeClr val="bg1"/>
              </a:solidFill>
              <a:uFillTx/>
              <a:latin typeface="Times New Roman" panose="02020603050405020304" charset="0"/>
              <a:sym typeface="+mn-ea"/>
            </a:endParaRPr>
          </a:p>
          <a:p>
            <a:pPr indent="0" algn="l" fontAlgn="auto">
              <a:lnSpc>
                <a:spcPct val="160000"/>
              </a:lnSpc>
            </a:pPr>
            <a:r>
              <a:rPr lang="en-US" altLang="zh-CN" sz="1400" kern="0" dirty="0">
                <a:ln>
                  <a:noFill/>
                  <a:prstDash val="sysDot"/>
                </a:ln>
                <a:solidFill>
                  <a:schemeClr val="bg1"/>
                </a:solidFill>
                <a:uFillTx/>
                <a:latin typeface="Times New Roman" panose="02020603050405020304" charset="0"/>
                <a:sym typeface="+mn-ea"/>
              </a:rPr>
              <a:t>4.</a:t>
            </a:r>
            <a:r>
              <a:rPr lang="zh-CN" altLang="en-US" sz="1400" kern="0" dirty="0">
                <a:ln>
                  <a:noFill/>
                  <a:prstDash val="sysDot"/>
                </a:ln>
                <a:solidFill>
                  <a:schemeClr val="bg1"/>
                </a:solidFill>
                <a:uFillTx/>
                <a:latin typeface="Times New Roman" panose="02020603050405020304" charset="0"/>
                <a:sym typeface="+mn-ea"/>
              </a:rPr>
              <a:t>解一般均衡，</a:t>
            </a:r>
            <a:r>
              <a:rPr lang="zh-CN" altLang="en-US" sz="1400" kern="0" dirty="0">
                <a:ln>
                  <a:noFill/>
                  <a:prstDash val="sysDot"/>
                </a:ln>
                <a:solidFill>
                  <a:schemeClr val="bg1"/>
                </a:solidFill>
                <a:uFillTx/>
                <a:latin typeface="Times New Roman" panose="02020603050405020304" charset="0"/>
                <a:sym typeface="+mn-ea"/>
              </a:rPr>
              <a:t>计算模型预测的农业、非农业生产率差异</a:t>
            </a:r>
            <a:endParaRPr lang="en-US" altLang="zh-CN" sz="1400" kern="0" dirty="0">
              <a:ln>
                <a:noFill/>
                <a:prstDash val="sysDot"/>
              </a:ln>
              <a:solidFill>
                <a:schemeClr val="bg1"/>
              </a:solidFill>
              <a:uFillTx/>
              <a:latin typeface="Times New Roman" panose="02020603050405020304" charset="0"/>
              <a:sym typeface="+mn-ea"/>
            </a:endParaRPr>
          </a:p>
          <a:p>
            <a:pPr indent="0" algn="l" fontAlgn="auto">
              <a:lnSpc>
                <a:spcPct val="160000"/>
              </a:lnSpc>
            </a:pPr>
            <a:r>
              <a:rPr lang="en-US" altLang="zh-CN" sz="1400" kern="0" dirty="0">
                <a:ln>
                  <a:noFill/>
                  <a:prstDash val="sysDot"/>
                </a:ln>
                <a:solidFill>
                  <a:schemeClr val="bg1"/>
                </a:solidFill>
                <a:uFillTx/>
                <a:latin typeface="Times New Roman" panose="02020603050405020304" charset="0"/>
                <a:sym typeface="+mn-ea"/>
              </a:rPr>
              <a:t>5.</a:t>
            </a:r>
            <a:r>
              <a:rPr lang="zh-CN" altLang="en-US" sz="1400" kern="0" dirty="0">
                <a:ln>
                  <a:noFill/>
                  <a:prstDash val="sysDot"/>
                </a:ln>
                <a:solidFill>
                  <a:schemeClr val="bg1"/>
                </a:solidFill>
                <a:uFillTx/>
                <a:latin typeface="Times New Roman" panose="02020603050405020304" charset="0"/>
                <a:sym typeface="+mn-ea"/>
              </a:rPr>
              <a:t>反事实：①</a:t>
            </a:r>
            <a:r>
              <a:rPr lang="en-US" altLang="zh-CN" sz="1400" kern="0" dirty="0">
                <a:ln>
                  <a:noFill/>
                  <a:prstDash val="sysDot"/>
                </a:ln>
                <a:solidFill>
                  <a:schemeClr val="bg1"/>
                </a:solidFill>
                <a:uFillTx/>
                <a:latin typeface="Times New Roman" panose="02020603050405020304" charset="0"/>
                <a:sym typeface="+mn-ea"/>
              </a:rPr>
              <a:t> </a:t>
            </a:r>
            <a:r>
              <a:rPr lang="zh-CN" altLang="en-US" sz="1400" kern="0" dirty="0">
                <a:ln>
                  <a:noFill/>
                  <a:prstDash val="sysDot"/>
                </a:ln>
                <a:solidFill>
                  <a:schemeClr val="bg1"/>
                </a:solidFill>
                <a:uFillTx/>
                <a:latin typeface="Times New Roman" panose="02020603050405020304" charset="0"/>
                <a:sym typeface="+mn-ea"/>
              </a:rPr>
              <a:t>关闭选择（工人</a:t>
            </a:r>
            <a:r>
              <a:rPr lang="zh-CN" altLang="en-US" sz="1400" kern="0" dirty="0">
                <a:ln>
                  <a:noFill/>
                  <a:prstDash val="sysDot"/>
                </a:ln>
                <a:solidFill>
                  <a:schemeClr val="bg1"/>
                </a:solidFill>
                <a:uFillTx/>
                <a:latin typeface="Times New Roman" panose="02020603050405020304" charset="0"/>
                <a:sym typeface="+mn-ea"/>
              </a:rPr>
              <a:t>同质），重复上述步骤</a:t>
            </a:r>
            <a:endParaRPr lang="zh-CN" altLang="en-US" sz="1400" kern="0" dirty="0">
              <a:ln>
                <a:noFill/>
                <a:prstDash val="sysDot"/>
              </a:ln>
              <a:solidFill>
                <a:schemeClr val="bg1"/>
              </a:solidFill>
              <a:uFillTx/>
              <a:latin typeface="Times New Roman" panose="02020603050405020304" charset="0"/>
              <a:sym typeface="+mn-ea"/>
            </a:endParaRPr>
          </a:p>
          <a:p>
            <a:pPr indent="0" algn="l" fontAlgn="auto">
              <a:lnSpc>
                <a:spcPct val="160000"/>
              </a:lnSpc>
            </a:pPr>
            <a:r>
              <a:rPr lang="en-US" altLang="zh-CN" sz="1400" kern="0" dirty="0">
                <a:ln>
                  <a:noFill/>
                  <a:prstDash val="sysDot"/>
                </a:ln>
                <a:solidFill>
                  <a:schemeClr val="bg1"/>
                </a:solidFill>
                <a:uFillTx/>
                <a:latin typeface="Times New Roman" panose="02020603050405020304" charset="0"/>
                <a:sym typeface="+mn-ea"/>
              </a:rPr>
              <a:t>                   </a:t>
            </a:r>
            <a:r>
              <a:rPr lang="zh-CN" altLang="en-US" sz="1400" kern="0" dirty="0">
                <a:ln>
                  <a:noFill/>
                  <a:prstDash val="sysDot"/>
                </a:ln>
                <a:solidFill>
                  <a:schemeClr val="bg1"/>
                </a:solidFill>
                <a:uFillTx/>
                <a:latin typeface="Times New Roman" panose="02020603050405020304" charset="0"/>
                <a:sym typeface="+mn-ea"/>
              </a:rPr>
              <a:t>②关闭选择且移除土地，重复上述</a:t>
            </a:r>
            <a:r>
              <a:rPr lang="zh-CN" altLang="en-US" sz="1400" kern="0" dirty="0">
                <a:ln>
                  <a:noFill/>
                  <a:prstDash val="sysDot"/>
                </a:ln>
                <a:solidFill>
                  <a:schemeClr val="bg1"/>
                </a:solidFill>
                <a:uFillTx/>
                <a:latin typeface="Times New Roman" panose="02020603050405020304" charset="0"/>
                <a:sym typeface="+mn-ea"/>
              </a:rPr>
              <a:t>步骤</a:t>
            </a:r>
            <a:endParaRPr lang="zh-CN" altLang="en-US" sz="1400" kern="0" dirty="0">
              <a:ln>
                <a:noFill/>
                <a:prstDash val="sysDot"/>
              </a:ln>
              <a:solidFill>
                <a:schemeClr val="bg1"/>
              </a:solidFill>
              <a:uFillTx/>
              <a:latin typeface="Times New Roman" panose="02020603050405020304" charset="0"/>
              <a:sym typeface="+mn-ea"/>
            </a:endParaRPr>
          </a:p>
        </p:txBody>
      </p:sp>
      <p:sp>
        <p:nvSpPr>
          <p:cNvPr id="64" name="文本框 63"/>
          <p:cNvSpPr txBox="1"/>
          <p:nvPr>
            <p:custDataLst>
              <p:tags r:id="rId5"/>
            </p:custDataLst>
          </p:nvPr>
        </p:nvSpPr>
        <p:spPr>
          <a:xfrm>
            <a:off x="610235" y="6012815"/>
            <a:ext cx="4284345" cy="414020"/>
          </a:xfrm>
          <a:prstGeom prst="rect">
            <a:avLst/>
          </a:prstGeom>
          <a:noFill/>
        </p:spPr>
        <p:txBody>
          <a:bodyPr wrap="square" lIns="0" tIns="0" rIns="0" bIns="0" rtlCol="0">
            <a:noAutofit/>
          </a:bodyPr>
          <a:lstStyle/>
          <a:p>
            <a:pPr marL="285750" indent="-285750" algn="l" fontAlgn="auto">
              <a:lnSpc>
                <a:spcPct val="140000"/>
              </a:lnSpc>
              <a:buFont typeface="Arial" panose="020B0604020202020204" pitchFamily="34" charset="0"/>
              <a:buChar char="•"/>
            </a:pP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只让 </a:t>
            </a:r>
            <a:r>
              <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A </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和 </a:t>
            </a:r>
            <a:r>
              <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K </a:t>
            </a:r>
            <a:r>
              <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rPr>
              <a:t>变，看选择机制与土地各自贡献多大。</a:t>
            </a:r>
            <a:endParaRPr lang="zh-CN" altLang="en-US"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a:p>
            <a:pPr marL="285750" indent="-285750" algn="l" fontAlgn="auto">
              <a:lnSpc>
                <a:spcPct val="140000"/>
              </a:lnSpc>
              <a:buFont typeface="Arial" panose="020B0604020202020204" pitchFamily="34" charset="0"/>
              <a:buChar char="•"/>
            </a:pPr>
            <a:endPar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a:p>
            <a:pPr indent="0" algn="l" fontAlgn="auto">
              <a:lnSpc>
                <a:spcPct val="140000"/>
              </a:lnSpc>
            </a:pPr>
            <a:endParaRPr lang="en-US" altLang="zh-CN" sz="1400" kern="0" dirty="0">
              <a:ln>
                <a:noFill/>
                <a:prstDash val="sysDot"/>
              </a:ln>
              <a:solidFill>
                <a:srgbClr val="000000">
                  <a:lumMod val="85000"/>
                  <a:lumOff val="15000"/>
                </a:srgbClr>
              </a:solidFill>
              <a:uFillTx/>
              <a:latin typeface="Times New Roman" panose="02020603050405020304" charset="0"/>
              <a:sym typeface="微软雅黑" panose="020B0503020204020204" charset="-122"/>
            </a:endParaRPr>
          </a:p>
        </p:txBody>
      </p:sp>
      <p:grpSp>
        <p:nvGrpSpPr>
          <p:cNvPr id="68" name="组合 67"/>
          <p:cNvGrpSpPr/>
          <p:nvPr/>
        </p:nvGrpSpPr>
        <p:grpSpPr>
          <a:xfrm>
            <a:off x="389255" y="1328420"/>
            <a:ext cx="4300855" cy="460375"/>
            <a:chOff x="613" y="2237"/>
            <a:chExt cx="6773" cy="725"/>
          </a:xfrm>
        </p:grpSpPr>
        <p:sp>
          <p:nvSpPr>
            <p:cNvPr id="273" name="Text Box 38"/>
            <p:cNvSpPr txBox="1">
              <a:spLocks noChangeArrowheads="1"/>
            </p:cNvSpPr>
            <p:nvPr>
              <p:custDataLst>
                <p:tags r:id="rId6"/>
              </p:custDataLst>
            </p:nvPr>
          </p:nvSpPr>
          <p:spPr bwMode="auto">
            <a:xfrm>
              <a:off x="613" y="2237"/>
              <a:ext cx="728"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scene3d>
                <a:camera prst="orthographicFront"/>
                <a:lightRig rig="threePt" dir="t"/>
              </a:scene3d>
            </a:bodyPr>
            <a:lstStyle/>
            <a:p>
              <a:r>
                <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rPr>
                <a:t>01</a:t>
              </a:r>
              <a:endParaRPr lang="zh-CN" altLang="zh-CN" sz="2400" i="1" dirty="0">
                <a:ln w="9525">
                  <a:solidFill>
                    <a:schemeClr val="bg1"/>
                  </a:solidFill>
                  <a:prstDash val="solid"/>
                </a:ln>
                <a:solidFill>
                  <a:schemeClr val="accent6"/>
                </a:solidFill>
                <a:effectLst>
                  <a:outerShdw blurRad="12700" dist="38100" dir="2700000" algn="tl" rotWithShape="0">
                    <a:schemeClr val="bg1">
                      <a:lumMod val="50000"/>
                    </a:schemeClr>
                  </a:outerShdw>
                </a:effectLst>
                <a:uFillTx/>
                <a:latin typeface="Impact" panose="020B0806030902050204" pitchFamily="34" charset="0"/>
                <a:ea typeface="微软雅黑" panose="020B0503020204020204" charset="-122"/>
              </a:endParaRPr>
            </a:p>
          </p:txBody>
        </p:sp>
        <p:sp>
          <p:nvSpPr>
            <p:cNvPr id="57" name="文本框 56"/>
            <p:cNvSpPr txBox="1"/>
            <p:nvPr/>
          </p:nvSpPr>
          <p:spPr>
            <a:xfrm>
              <a:off x="1457" y="2376"/>
              <a:ext cx="5929" cy="531"/>
            </a:xfrm>
            <a:prstGeom prst="rect">
              <a:avLst/>
            </a:prstGeom>
            <a:noFill/>
          </p:spPr>
          <p:txBody>
            <a:bodyPr wrap="square" rtlCol="0">
              <a:spAutoFit/>
            </a:bodyPr>
            <a:lstStyle/>
            <a:p>
              <a:r>
                <a:rPr lang="zh-CN" altLang="en-US" sz="1600" b="1"/>
                <a:t>核心假设</a:t>
              </a:r>
              <a:endParaRPr lang="zh-CN" altLang="en-US" sz="1600" b="1"/>
            </a:p>
          </p:txBody>
        </p:sp>
      </p:grpSp>
      <p:sp>
        <p:nvSpPr>
          <p:cNvPr id="65" name="圆角矩形 64"/>
          <p:cNvSpPr/>
          <p:nvPr/>
        </p:nvSpPr>
        <p:spPr>
          <a:xfrm>
            <a:off x="6096635" y="1416685"/>
            <a:ext cx="5753735" cy="5014595"/>
          </a:xfrm>
          <a:prstGeom prst="roundRect">
            <a:avLst>
              <a:gd name="adj" fmla="val 8382"/>
            </a:avLst>
          </a:prstGeom>
          <a:noFill/>
          <a:ln>
            <a:solidFill>
              <a:schemeClr val="accent6"/>
            </a:solidFill>
            <a:prstDash val="sysDash"/>
            <a:round/>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6226175" y="1661795"/>
            <a:ext cx="3556635" cy="337185"/>
          </a:xfrm>
          <a:prstGeom prst="rect">
            <a:avLst/>
          </a:prstGeom>
          <a:noFill/>
        </p:spPr>
        <p:txBody>
          <a:bodyPr wrap="square" rtlCol="0">
            <a:spAutoFit/>
          </a:bodyPr>
          <a:lstStyle/>
          <a:p>
            <a:pPr marL="285750" indent="-285750">
              <a:buFont typeface="Arial" panose="020B0604020202020204" pitchFamily="34" charset="0"/>
              <a:buChar char="•"/>
            </a:pPr>
            <a:r>
              <a:rPr lang="zh-CN" altLang="en-US" sz="1600" b="1"/>
              <a:t>新增参数校准</a:t>
            </a:r>
            <a:endParaRPr lang="zh-CN" altLang="en-US" sz="1600" b="1"/>
          </a:p>
        </p:txBody>
      </p:sp>
      <p:sp>
        <p:nvSpPr>
          <p:cNvPr id="6" name="文本框 5"/>
          <p:cNvSpPr txBox="1"/>
          <p:nvPr/>
        </p:nvSpPr>
        <p:spPr>
          <a:xfrm>
            <a:off x="6226175" y="4539615"/>
            <a:ext cx="5392420" cy="1568450"/>
          </a:xfrm>
          <a:prstGeom prst="rect">
            <a:avLst/>
          </a:prstGeom>
          <a:noFill/>
        </p:spPr>
        <p:txBody>
          <a:bodyPr wrap="square" rtlCol="0">
            <a:spAutoFit/>
          </a:bodyPr>
          <a:lstStyle/>
          <a:p>
            <a:pPr marL="285750" indent="-285750" fontAlgn="auto">
              <a:lnSpc>
                <a:spcPct val="150000"/>
              </a:lnSpc>
              <a:buFont typeface="Arial" panose="020B0604020202020204" pitchFamily="34" charset="0"/>
              <a:buChar char="•"/>
            </a:pPr>
            <a:r>
              <a:rPr lang="zh-CN" altLang="en-US" sz="1600" b="1"/>
              <a:t>核心参数</a:t>
            </a:r>
            <a:r>
              <a:rPr lang="zh-CN" altLang="en-US" sz="1600" b="1"/>
              <a:t>不变</a:t>
            </a:r>
            <a:endParaRPr lang="zh-CN" altLang="en-US" sz="1600" b="1"/>
          </a:p>
          <a:p>
            <a:pPr marL="742950" lvl="1" indent="-285750" fontAlgn="auto">
              <a:lnSpc>
                <a:spcPct val="150000"/>
              </a:lnSpc>
              <a:buFont typeface="Arial" panose="020B0604020202020204" pitchFamily="34" charset="0"/>
              <a:buChar char="•"/>
            </a:pPr>
            <a:r>
              <a:rPr lang="zh-CN" altLang="en-US" sz="1600">
                <a:solidFill>
                  <a:schemeClr val="tx1"/>
                </a:solidFill>
                <a:uFillTx/>
                <a:latin typeface="Times New Roman" panose="02020603050405020304" charset="0"/>
              </a:rPr>
              <a:t>个体生产率：</a:t>
            </a:r>
            <a:r>
              <a:rPr lang="en-US" altLang="zh-CN" sz="1600" b="1">
                <a:solidFill>
                  <a:schemeClr val="tx1"/>
                </a:solidFill>
                <a:uFillTx/>
                <a:latin typeface="Times New Roman" panose="02020603050405020304" charset="0"/>
              </a:rPr>
              <a:t>θa=5.5，θn=2.8，ρ=2.2</a:t>
            </a:r>
            <a:endParaRPr lang="en-US" altLang="zh-CN" sz="1600">
              <a:solidFill>
                <a:schemeClr val="tx1"/>
              </a:solidFill>
              <a:uFillTx/>
              <a:latin typeface="Times New Roman" panose="02020603050405020304" charset="0"/>
            </a:endParaRPr>
          </a:p>
          <a:p>
            <a:pPr marL="742950" lvl="1" indent="-285750" fontAlgn="auto">
              <a:lnSpc>
                <a:spcPct val="150000"/>
              </a:lnSpc>
              <a:buFont typeface="Arial" panose="020B0604020202020204" pitchFamily="34" charset="0"/>
              <a:buChar char="•"/>
            </a:pPr>
            <a:r>
              <a:rPr lang="zh-CN" altLang="en-US" sz="1600">
                <a:solidFill>
                  <a:schemeClr val="tx1"/>
                </a:solidFill>
                <a:uFillTx/>
                <a:latin typeface="Times New Roman" panose="02020603050405020304" charset="0"/>
              </a:rPr>
              <a:t>偏好：</a:t>
            </a:r>
            <a:r>
              <a:rPr lang="en-US" altLang="zh-CN" sz="1600">
                <a:solidFill>
                  <a:schemeClr val="tx1"/>
                </a:solidFill>
                <a:uFillTx/>
                <a:latin typeface="Times New Roman" panose="02020603050405020304" charset="0"/>
              </a:rPr>
              <a:t>ν, aˉ</a:t>
            </a:r>
            <a:r>
              <a:rPr lang="zh-CN" altLang="en-US" sz="1600">
                <a:solidFill>
                  <a:schemeClr val="tx1"/>
                </a:solidFill>
                <a:uFillTx/>
                <a:latin typeface="Times New Roman" panose="02020603050405020304" charset="0"/>
              </a:rPr>
              <a:t>仍由美国农业就业2%和支出份额0.5%校准</a:t>
            </a:r>
            <a:endParaRPr lang="zh-CN" altLang="en-US" sz="1600">
              <a:solidFill>
                <a:schemeClr val="tx1"/>
              </a:solidFill>
              <a:uFillTx/>
              <a:latin typeface="Times New Roman" panose="02020603050405020304" charset="0"/>
            </a:endParaRPr>
          </a:p>
        </p:txBody>
      </p:sp>
      <p:pic>
        <p:nvPicPr>
          <p:cNvPr id="9" name="图片 8"/>
          <p:cNvPicPr>
            <a:picLocks noChangeAspect="1"/>
          </p:cNvPicPr>
          <p:nvPr/>
        </p:nvPicPr>
        <p:blipFill>
          <a:blip r:embed="rId7"/>
          <a:srcRect r="31313"/>
          <a:stretch>
            <a:fillRect/>
          </a:stretch>
        </p:blipFill>
        <p:spPr>
          <a:xfrm>
            <a:off x="6148705" y="2229485"/>
            <a:ext cx="5566410" cy="22263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803910" y="914400"/>
            <a:ext cx="10659110" cy="368300"/>
          </a:xfrm>
          <a:prstGeom prst="rect">
            <a:avLst/>
          </a:prstGeom>
          <a:noFill/>
        </p:spPr>
        <p:txBody>
          <a:bodyPr wrap="square" rtlCol="0">
            <a:spAutoFit/>
          </a:bodyPr>
          <a:lstStyle/>
          <a:p>
            <a:r>
              <a:rPr lang="zh-CN" altLang="en-US" b="1">
                <a:latin typeface="Times New Roman" panose="02020603050405020304" charset="0"/>
                <a:cs typeface="Times New Roman" panose="02020603050405020304" charset="0"/>
              </a:rPr>
              <a:t>加入资本和土地的扩展模型</a:t>
            </a:r>
            <a:r>
              <a:rPr lang="en-US" altLang="zh-CN" b="1"/>
              <a:t>——</a:t>
            </a:r>
            <a:r>
              <a:rPr lang="zh-CN" altLang="en-US" b="1"/>
              <a:t>数据</a:t>
            </a:r>
            <a:r>
              <a:rPr lang="zh-CN" altLang="en-US" b="1"/>
              <a:t>结果</a:t>
            </a:r>
            <a:endParaRPr lang="zh-CN" altLang="en-US" b="1"/>
          </a:p>
        </p:txBody>
      </p:sp>
      <p:sp>
        <p:nvSpPr>
          <p:cNvPr id="65" name="矩形 64"/>
          <p:cNvSpPr/>
          <p:nvPr/>
        </p:nvSpPr>
        <p:spPr>
          <a:xfrm>
            <a:off x="1087120" y="1294765"/>
            <a:ext cx="10119995" cy="2776220"/>
          </a:xfrm>
          <a:prstGeom prst="rect">
            <a:avLst/>
          </a:prstGeom>
          <a:noFill/>
          <a:ln w="22225">
            <a:solidFill>
              <a:schemeClr val="accent6"/>
            </a:solidFill>
            <a:prstDash val="lg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426720" y="4097655"/>
            <a:ext cx="5444490" cy="1691005"/>
          </a:xfrm>
          <a:prstGeom prst="rect">
            <a:avLst/>
          </a:prstGeom>
          <a:noFill/>
        </p:spPr>
        <p:txBody>
          <a:bodyPr wrap="square" rtlCol="0">
            <a:spAutoFit/>
          </a:bodyPr>
          <a:p>
            <a:pPr indent="0" fontAlgn="auto">
              <a:lnSpc>
                <a:spcPct val="130000"/>
              </a:lnSpc>
              <a:buFont typeface="Arial" panose="020B0604020202020204" pitchFamily="34" charset="0"/>
              <a:buNone/>
            </a:pPr>
            <a:r>
              <a:rPr lang="zh-CN" altLang="en-US" sz="1600" b="1">
                <a:solidFill>
                  <a:schemeClr val="tx1"/>
                </a:solidFill>
                <a:uFillTx/>
                <a:latin typeface="Times New Roman" panose="02020603050405020304" charset="0"/>
              </a:rPr>
              <a:t>选择机制的贡献：</a:t>
            </a:r>
            <a:endParaRPr lang="zh-CN" altLang="en-US" sz="1600" b="1">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sz="1600">
                <a:solidFill>
                  <a:schemeClr val="tx1"/>
                </a:solidFill>
                <a:uFillTx/>
                <a:latin typeface="Times New Roman" panose="02020603050405020304" charset="0"/>
              </a:rPr>
              <a:t>有选择 </a:t>
            </a:r>
            <a:r>
              <a:rPr lang="en-US" altLang="zh-CN" sz="1600">
                <a:solidFill>
                  <a:schemeClr val="tx1"/>
                </a:solidFill>
                <a:uFillTx/>
                <a:latin typeface="Times New Roman" panose="02020603050405020304" charset="0"/>
              </a:rPr>
              <a:t>vs </a:t>
            </a:r>
            <a:r>
              <a:rPr lang="zh-CN" altLang="en-US" sz="1600">
                <a:solidFill>
                  <a:schemeClr val="tx1"/>
                </a:solidFill>
                <a:uFillTx/>
                <a:latin typeface="Times New Roman" panose="02020603050405020304" charset="0"/>
              </a:rPr>
              <a:t>无选择：3.9/2.1≈</a:t>
            </a:r>
            <a:r>
              <a:rPr lang="zh-CN" altLang="en-US" sz="1600" b="1">
                <a:solidFill>
                  <a:schemeClr val="tx1"/>
                </a:solidFill>
                <a:uFillTx/>
                <a:latin typeface="Times New Roman" panose="02020603050405020304" charset="0"/>
              </a:rPr>
              <a:t>1.9 倍</a:t>
            </a:r>
            <a:endParaRPr lang="en-US" altLang="zh-CN" sz="1600" b="1">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sz="1600">
                <a:solidFill>
                  <a:schemeClr val="tx1"/>
                </a:solidFill>
                <a:uFillTx/>
                <a:latin typeface="Times New Roman" panose="02020603050405020304" charset="0"/>
              </a:rPr>
              <a:t>基于生产率分解（式</a:t>
            </a:r>
            <a:r>
              <a:rPr lang="en-US" altLang="zh-CN" sz="1600">
                <a:solidFill>
                  <a:schemeClr val="tx1"/>
                </a:solidFill>
                <a:uFillTx/>
                <a:latin typeface="Times New Roman" panose="02020603050405020304" charset="0"/>
              </a:rPr>
              <a:t>13</a:t>
            </a:r>
            <a:r>
              <a:rPr lang="zh-CN" altLang="en-US" sz="1600">
                <a:solidFill>
                  <a:schemeClr val="tx1"/>
                </a:solidFill>
                <a:uFillTx/>
                <a:latin typeface="Times New Roman" panose="02020603050405020304" charset="0"/>
              </a:rPr>
              <a:t>、</a:t>
            </a:r>
            <a:r>
              <a:rPr lang="en-US" altLang="zh-CN" sz="1600">
                <a:solidFill>
                  <a:schemeClr val="tx1"/>
                </a:solidFill>
                <a:uFillTx/>
                <a:latin typeface="Times New Roman" panose="02020603050405020304" charset="0"/>
              </a:rPr>
              <a:t>14</a:t>
            </a:r>
            <a:r>
              <a:rPr lang="zh-CN" altLang="en-US" sz="1600">
                <a:solidFill>
                  <a:schemeClr val="tx1"/>
                </a:solidFill>
                <a:uFillTx/>
                <a:latin typeface="Times New Roman" panose="02020603050405020304" charset="0"/>
              </a:rPr>
              <a:t>）：选择项贡献约 3.0 倍</a:t>
            </a:r>
            <a:endParaRPr lang="en-US" altLang="zh-CN" sz="1600">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sz="1600">
                <a:solidFill>
                  <a:schemeClr val="tx1"/>
                </a:solidFill>
                <a:uFillTx/>
                <a:latin typeface="Times New Roman" panose="02020603050405020304" charset="0"/>
              </a:rPr>
              <a:t>选择贡献范围：1.9–3.0 倍，与基准模型的 2.3 倍一致</a:t>
            </a:r>
            <a:endParaRPr lang="zh-CN" altLang="en-US" sz="1600">
              <a:solidFill>
                <a:schemeClr val="tx1"/>
              </a:solidFill>
              <a:uFillTx/>
              <a:latin typeface="Times New Roman" panose="02020603050405020304" charset="0"/>
            </a:endParaRPr>
          </a:p>
          <a:p>
            <a:pPr indent="0" fontAlgn="auto">
              <a:lnSpc>
                <a:spcPct val="130000"/>
              </a:lnSpc>
              <a:buFont typeface="Arial" panose="020B0604020202020204" pitchFamily="34" charset="0"/>
              <a:buNone/>
            </a:pPr>
            <a:r>
              <a:rPr lang="zh-CN" altLang="en-US" sz="1600" b="1">
                <a:solidFill>
                  <a:schemeClr val="tx1"/>
                </a:solidFill>
                <a:uFillTx/>
                <a:latin typeface="Times New Roman" panose="02020603050405020304" charset="0"/>
              </a:rPr>
              <a:t>土地的贡献：</a:t>
            </a:r>
            <a:r>
              <a:rPr lang="zh-CN" altLang="en-US" sz="1600">
                <a:solidFill>
                  <a:schemeClr val="tx1"/>
                </a:solidFill>
                <a:uFillTx/>
                <a:latin typeface="Times New Roman" panose="02020603050405020304" charset="0"/>
              </a:rPr>
              <a:t>土地使农业/非农差异比放大约</a:t>
            </a:r>
            <a:r>
              <a:rPr lang="en-US" altLang="zh-CN" sz="1600">
                <a:solidFill>
                  <a:schemeClr val="tx1"/>
                </a:solidFill>
                <a:uFillTx/>
                <a:latin typeface="Times New Roman" panose="02020603050405020304" charset="0"/>
              </a:rPr>
              <a:t>2.1/1.1≈</a:t>
            </a:r>
            <a:r>
              <a:rPr lang="zh-CN" altLang="en-US" sz="1600">
                <a:solidFill>
                  <a:schemeClr val="tx1"/>
                </a:solidFill>
                <a:uFillTx/>
                <a:latin typeface="Times New Roman" panose="02020603050405020304" charset="0"/>
              </a:rPr>
              <a:t> </a:t>
            </a:r>
            <a:r>
              <a:rPr lang="zh-CN" altLang="en-US" sz="1600" b="1">
                <a:solidFill>
                  <a:schemeClr val="tx1"/>
                </a:solidFill>
                <a:uFillTx/>
                <a:latin typeface="Times New Roman" panose="02020603050405020304" charset="0"/>
              </a:rPr>
              <a:t>1.9 倍</a:t>
            </a:r>
            <a:endParaRPr lang="zh-CN" altLang="en-US" sz="1600" b="1">
              <a:solidFill>
                <a:schemeClr val="tx1"/>
              </a:solidFill>
              <a:uFillTx/>
              <a:latin typeface="Times New Roman" panose="02020603050405020304" charset="0"/>
            </a:endParaRPr>
          </a:p>
        </p:txBody>
      </p:sp>
      <p:sp>
        <p:nvSpPr>
          <p:cNvPr id="12" name="圆角矩形 97"/>
          <p:cNvSpPr/>
          <p:nvPr>
            <p:custDataLst>
              <p:tags r:id="rId1"/>
            </p:custDataLst>
          </p:nvPr>
        </p:nvSpPr>
        <p:spPr>
          <a:xfrm>
            <a:off x="358775" y="5955572"/>
            <a:ext cx="11478260" cy="560705"/>
          </a:xfrm>
          <a:prstGeom prst="roundRect">
            <a:avLst>
              <a:gd name="adj" fmla="val 4544"/>
            </a:avLst>
          </a:prstGeom>
          <a:noFill/>
          <a:ln w="25400">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solidFill>
                <a:schemeClr val="bg1"/>
              </a:solidFill>
            </a:endParaRPr>
          </a:p>
        </p:txBody>
      </p:sp>
      <p:sp>
        <p:nvSpPr>
          <p:cNvPr id="13" name="文本框 12"/>
          <p:cNvSpPr txBox="1"/>
          <p:nvPr/>
        </p:nvSpPr>
        <p:spPr>
          <a:xfrm>
            <a:off x="626110" y="6088380"/>
            <a:ext cx="11199495" cy="337185"/>
          </a:xfrm>
          <a:prstGeom prst="rect">
            <a:avLst/>
          </a:prstGeom>
          <a:noFill/>
        </p:spPr>
        <p:txBody>
          <a:bodyPr wrap="square" rtlCol="0">
            <a:spAutoFit/>
          </a:bodyPr>
          <a:p>
            <a:pPr algn="ctr"/>
            <a:r>
              <a:rPr lang="zh-CN" altLang="en-US" sz="1600" b="1">
                <a:solidFill>
                  <a:schemeClr val="tx1"/>
                </a:solidFill>
                <a:uFillTx/>
                <a:latin typeface="微软雅黑" panose="020B0503020204020204" charset="-122"/>
                <a:ea typeface="微软雅黑" panose="020B0503020204020204" charset="-122"/>
              </a:rPr>
              <a:t>小结：</a:t>
            </a:r>
            <a:r>
              <a:rPr lang="zh-CN" altLang="en-US" sz="1600" b="1">
                <a:solidFill>
                  <a:schemeClr val="tx1"/>
                </a:solidFill>
                <a:uFillTx/>
                <a:latin typeface="Times New Roman" panose="02020603050405020304" charset="0"/>
                <a:ea typeface="宋体" panose="02010600030101010101" pitchFamily="2" charset="-122"/>
              </a:rPr>
              <a:t>选择机制与土地</a:t>
            </a:r>
            <a:r>
              <a:rPr lang="zh-CN" altLang="en-US" sz="1600" b="1">
                <a:solidFill>
                  <a:schemeClr val="tx1"/>
                </a:solidFill>
                <a:uFillTx/>
                <a:latin typeface="Times New Roman" panose="02020603050405020304" charset="0"/>
                <a:ea typeface="宋体" panose="02010600030101010101" pitchFamily="2" charset="-122"/>
              </a:rPr>
              <a:t>大致同等重要；扩展模型更接近数据，但选择机制的核心作用不变。</a:t>
            </a:r>
            <a:endParaRPr lang="zh-CN" altLang="en-US" sz="1600" b="1">
              <a:solidFill>
                <a:schemeClr val="tx1"/>
              </a:solidFill>
              <a:uFillTx/>
              <a:latin typeface="Times New Roman" panose="02020603050405020304" charset="0"/>
              <a:ea typeface="宋体" panose="02010600030101010101" pitchFamily="2" charset="-122"/>
            </a:endParaRPr>
          </a:p>
        </p:txBody>
      </p:sp>
      <p:pic>
        <p:nvPicPr>
          <p:cNvPr id="3" name="图片 2"/>
          <p:cNvPicPr>
            <a:picLocks noChangeAspect="1"/>
          </p:cNvPicPr>
          <p:nvPr/>
        </p:nvPicPr>
        <p:blipFill>
          <a:blip r:embed="rId2"/>
          <a:srcRect t="2874" r="116" b="2460"/>
          <a:stretch>
            <a:fillRect/>
          </a:stretch>
        </p:blipFill>
        <p:spPr>
          <a:xfrm>
            <a:off x="2042795" y="1358265"/>
            <a:ext cx="7799705" cy="2660015"/>
          </a:xfrm>
          <a:prstGeom prst="rect">
            <a:avLst/>
          </a:prstGeom>
        </p:spPr>
      </p:pic>
      <p:sp>
        <p:nvSpPr>
          <p:cNvPr id="6" name="文本框 5"/>
          <p:cNvSpPr txBox="1"/>
          <p:nvPr/>
        </p:nvSpPr>
        <p:spPr>
          <a:xfrm>
            <a:off x="6414770" y="4071620"/>
            <a:ext cx="5444490" cy="1691005"/>
          </a:xfrm>
          <a:prstGeom prst="rect">
            <a:avLst/>
          </a:prstGeom>
          <a:noFill/>
        </p:spPr>
        <p:txBody>
          <a:bodyPr wrap="square" rtlCol="0">
            <a:spAutoFit/>
          </a:bodyPr>
          <a:p>
            <a:pPr indent="0" fontAlgn="auto">
              <a:lnSpc>
                <a:spcPct val="130000"/>
              </a:lnSpc>
              <a:buFont typeface="Arial" panose="020B0604020202020204" pitchFamily="34" charset="0"/>
              <a:buNone/>
            </a:pPr>
            <a:r>
              <a:rPr lang="zh-CN" altLang="en-US" sz="1600" b="1">
                <a:solidFill>
                  <a:schemeClr val="tx1"/>
                </a:solidFill>
                <a:uFillTx/>
                <a:latin typeface="Times New Roman" panose="02020603050405020304" charset="0"/>
              </a:rPr>
              <a:t>结论：</a:t>
            </a:r>
            <a:endParaRPr lang="zh-CN" altLang="en-US" sz="1600" b="1">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sz="1600">
                <a:solidFill>
                  <a:schemeClr val="tx1"/>
                </a:solidFill>
                <a:uFillTx/>
                <a:latin typeface="Times New Roman" panose="02020603050405020304" charset="0"/>
              </a:rPr>
              <a:t>扩展模型整体</a:t>
            </a:r>
            <a:r>
              <a:rPr lang="zh-CN" altLang="en-US" sz="1600" b="1">
                <a:solidFill>
                  <a:schemeClr val="tx1"/>
                </a:solidFill>
                <a:uFillTx/>
                <a:latin typeface="Times New Roman" panose="02020603050405020304" charset="0"/>
              </a:rPr>
              <a:t>解释力更强</a:t>
            </a:r>
            <a:r>
              <a:rPr lang="zh-CN" altLang="en-US" sz="1600">
                <a:solidFill>
                  <a:schemeClr val="tx1"/>
                </a:solidFill>
                <a:uFillTx/>
                <a:latin typeface="Times New Roman" panose="02020603050405020304" charset="0"/>
              </a:rPr>
              <a:t>（</a:t>
            </a:r>
            <a:r>
              <a:rPr lang="zh-CN" altLang="en-US" sz="1600" b="1">
                <a:solidFill>
                  <a:schemeClr val="tx1"/>
                </a:solidFill>
                <a:uFillTx/>
                <a:latin typeface="Times New Roman" panose="02020603050405020304" charset="0"/>
              </a:rPr>
              <a:t>比值 3.9</a:t>
            </a:r>
            <a:r>
              <a:rPr lang="zh-CN" altLang="en-US" sz="1600">
                <a:solidFill>
                  <a:schemeClr val="tx1"/>
                </a:solidFill>
                <a:uFillTx/>
                <a:latin typeface="Times New Roman" panose="02020603050405020304" charset="0"/>
              </a:rPr>
              <a:t> </a:t>
            </a:r>
            <a:r>
              <a:rPr lang="en-US" altLang="zh-CN" sz="1600">
                <a:solidFill>
                  <a:schemeClr val="tx1"/>
                </a:solidFill>
                <a:uFillTx/>
                <a:latin typeface="Times New Roman" panose="02020603050405020304" charset="0"/>
              </a:rPr>
              <a:t>vs </a:t>
            </a:r>
            <a:r>
              <a:rPr lang="zh-CN" altLang="en-US" sz="1600">
                <a:solidFill>
                  <a:schemeClr val="tx1"/>
                </a:solidFill>
                <a:uFillTx/>
                <a:latin typeface="Times New Roman" panose="02020603050405020304" charset="0"/>
              </a:rPr>
              <a:t>基准 2.3，更接近</a:t>
            </a:r>
            <a:r>
              <a:rPr lang="zh-CN" altLang="en-US" sz="1600">
                <a:solidFill>
                  <a:schemeClr val="tx1"/>
                </a:solidFill>
                <a:uFillTx/>
                <a:latin typeface="Times New Roman" panose="02020603050405020304" charset="0"/>
              </a:rPr>
              <a:t>真实数据 10.7）</a:t>
            </a:r>
            <a:endParaRPr lang="en-US" altLang="zh-CN" sz="1600">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sz="1600" b="1">
                <a:solidFill>
                  <a:schemeClr val="tx1"/>
                </a:solidFill>
                <a:uFillTx/>
                <a:latin typeface="Times New Roman" panose="02020603050405020304" charset="0"/>
              </a:rPr>
              <a:t>选择机制的重要性与土地大致相当，甚至更大</a:t>
            </a:r>
            <a:endParaRPr lang="en-US" altLang="zh-CN" sz="1600">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sz="1600">
                <a:solidFill>
                  <a:schemeClr val="tx1"/>
                </a:solidFill>
                <a:uFillTx/>
                <a:latin typeface="Times New Roman" panose="02020603050405020304" charset="0"/>
              </a:rPr>
              <a:t>核心结论稳健：加入资本和土地后，选择机制依然关键</a:t>
            </a:r>
            <a:endParaRPr lang="en-US" altLang="zh-CN" sz="1600" b="1">
              <a:solidFill>
                <a:schemeClr val="tx1"/>
              </a:solidFill>
              <a:uFillTx/>
              <a:latin typeface="Times New Roman"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椭圆 6"/>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803910" y="914400"/>
            <a:ext cx="10659110" cy="368300"/>
          </a:xfrm>
          <a:prstGeom prst="rect">
            <a:avLst/>
          </a:prstGeom>
          <a:noFill/>
        </p:spPr>
        <p:txBody>
          <a:bodyPr wrap="square" rtlCol="0">
            <a:spAutoFit/>
          </a:bodyPr>
          <a:lstStyle/>
          <a:p>
            <a:r>
              <a:rPr lang="zh-CN" altLang="en-US" b="1"/>
              <a:t>现实证据</a:t>
            </a:r>
            <a:r>
              <a:rPr lang="en-US" altLang="zh-CN" b="1"/>
              <a:t>——</a:t>
            </a:r>
            <a:r>
              <a:rPr lang="zh-CN" altLang="en-US" b="1"/>
              <a:t>女性参与农业劳动生产的</a:t>
            </a:r>
            <a:r>
              <a:rPr lang="zh-CN" altLang="en-US" b="1"/>
              <a:t>比例</a:t>
            </a:r>
            <a:endParaRPr lang="zh-CN" altLang="en-US" b="1"/>
          </a:p>
        </p:txBody>
      </p:sp>
      <p:sp>
        <p:nvSpPr>
          <p:cNvPr id="19" name="圆角矩形 18"/>
          <p:cNvSpPr/>
          <p:nvPr/>
        </p:nvSpPr>
        <p:spPr>
          <a:xfrm>
            <a:off x="612775" y="1418590"/>
            <a:ext cx="1458595" cy="379730"/>
          </a:xfrm>
          <a:prstGeom prst="roundRect">
            <a:avLst>
              <a:gd name="adj" fmla="val 50000"/>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t>逻辑链条</a:t>
            </a:r>
            <a:endParaRPr lang="zh-CN" altLang="en-US" sz="1600" b="1"/>
          </a:p>
        </p:txBody>
      </p:sp>
      <p:grpSp>
        <p:nvGrpSpPr>
          <p:cNvPr id="16" name="组合 15"/>
          <p:cNvGrpSpPr/>
          <p:nvPr/>
        </p:nvGrpSpPr>
        <p:grpSpPr>
          <a:xfrm>
            <a:off x="805180" y="1985010"/>
            <a:ext cx="4438650" cy="2198370"/>
            <a:chOff x="658" y="3166"/>
            <a:chExt cx="6990" cy="3462"/>
          </a:xfrm>
        </p:grpSpPr>
        <p:sp>
          <p:nvSpPr>
            <p:cNvPr id="14" name="流程图: 过程 13"/>
            <p:cNvSpPr/>
            <p:nvPr/>
          </p:nvSpPr>
          <p:spPr>
            <a:xfrm>
              <a:off x="658" y="3166"/>
              <a:ext cx="1929" cy="571"/>
            </a:xfrm>
            <a:prstGeom prst="flowChartProcess">
              <a:avLst/>
            </a:prstGeom>
            <a:noFill/>
            <a:ln w="19050">
              <a:solidFill>
                <a:schemeClr val="accent6"/>
              </a:solidFill>
              <a:prstDash val="dash"/>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solidFill>
                    <a:schemeClr val="tx1"/>
                  </a:solidFill>
                </a:rPr>
                <a:t>工资差距</a:t>
              </a:r>
              <a:endParaRPr lang="zh-CN" altLang="en-US" sz="1400" b="1" dirty="0">
                <a:solidFill>
                  <a:schemeClr val="tx1"/>
                </a:solidFill>
              </a:endParaRPr>
            </a:p>
          </p:txBody>
        </p:sp>
        <p:sp>
          <p:nvSpPr>
            <p:cNvPr id="2" name="流程图: 过程 1"/>
            <p:cNvSpPr/>
            <p:nvPr/>
          </p:nvSpPr>
          <p:spPr>
            <a:xfrm>
              <a:off x="2946" y="3166"/>
              <a:ext cx="1929" cy="571"/>
            </a:xfrm>
            <a:prstGeom prst="flowChartProcess">
              <a:avLst/>
            </a:prstGeom>
            <a:noFill/>
            <a:ln w="19050">
              <a:solidFill>
                <a:schemeClr val="accent6"/>
              </a:solidFill>
              <a:prstDash val="dash"/>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solidFill>
                    <a:schemeClr val="tx1"/>
                  </a:solidFill>
                </a:rPr>
                <a:t>体力</a:t>
              </a:r>
              <a:r>
                <a:rPr lang="zh-CN" altLang="en-US" sz="1400" b="1" dirty="0">
                  <a:solidFill>
                    <a:schemeClr val="tx1"/>
                  </a:solidFill>
                </a:rPr>
                <a:t>差异</a:t>
              </a:r>
              <a:endParaRPr lang="zh-CN" altLang="en-US" sz="1400" b="1" dirty="0">
                <a:solidFill>
                  <a:schemeClr val="tx1"/>
                </a:solidFill>
              </a:endParaRPr>
            </a:p>
          </p:txBody>
        </p:sp>
        <p:sp>
          <p:nvSpPr>
            <p:cNvPr id="3" name="流程图: 过程 2"/>
            <p:cNvSpPr/>
            <p:nvPr/>
          </p:nvSpPr>
          <p:spPr>
            <a:xfrm>
              <a:off x="5234" y="3166"/>
              <a:ext cx="1929" cy="571"/>
            </a:xfrm>
            <a:prstGeom prst="flowChartProcess">
              <a:avLst/>
            </a:prstGeom>
            <a:noFill/>
            <a:ln w="19050">
              <a:solidFill>
                <a:schemeClr val="accent6"/>
              </a:solidFill>
              <a:prstDash val="dash"/>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solidFill>
                    <a:schemeClr val="tx1"/>
                  </a:solidFill>
                </a:rPr>
                <a:t>性别</a:t>
              </a:r>
              <a:r>
                <a:rPr lang="zh-CN" altLang="en-US" sz="1400" b="1" dirty="0">
                  <a:solidFill>
                    <a:schemeClr val="tx1"/>
                  </a:solidFill>
                </a:rPr>
                <a:t>分工</a:t>
              </a:r>
              <a:endParaRPr lang="zh-CN" altLang="en-US" sz="1400" b="1" dirty="0">
                <a:solidFill>
                  <a:schemeClr val="tx1"/>
                </a:solidFill>
              </a:endParaRPr>
            </a:p>
          </p:txBody>
        </p:sp>
        <p:sp>
          <p:nvSpPr>
            <p:cNvPr id="5" name="流程图: 过程 4"/>
            <p:cNvSpPr/>
            <p:nvPr/>
          </p:nvSpPr>
          <p:spPr>
            <a:xfrm>
              <a:off x="1769" y="4471"/>
              <a:ext cx="4284" cy="571"/>
            </a:xfrm>
            <a:prstGeom prst="flowChartProcess">
              <a:avLst/>
            </a:prstGeom>
            <a:noFill/>
            <a:ln w="19050">
              <a:solidFill>
                <a:schemeClr val="accent6"/>
              </a:solidFill>
              <a:prstDash val="dash"/>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solidFill>
                    <a:schemeClr val="tx1"/>
                  </a:solidFill>
                </a:rPr>
                <a:t>女性在农业中平均生产率较低</a:t>
              </a:r>
              <a:endParaRPr lang="zh-CN" altLang="en-US" sz="1400" b="1" dirty="0">
                <a:solidFill>
                  <a:schemeClr val="tx1"/>
                </a:solidFill>
              </a:endParaRPr>
            </a:p>
          </p:txBody>
        </p:sp>
        <p:sp>
          <p:nvSpPr>
            <p:cNvPr id="6" name="流程图: 过程 5"/>
            <p:cNvSpPr/>
            <p:nvPr/>
          </p:nvSpPr>
          <p:spPr>
            <a:xfrm>
              <a:off x="4200" y="5264"/>
              <a:ext cx="3448" cy="571"/>
            </a:xfrm>
            <a:prstGeom prst="flowChartProcess">
              <a:avLst/>
            </a:prstGeom>
            <a:noFill/>
            <a:ln w="19050">
              <a:solidFill>
                <a:schemeClr val="accent6"/>
              </a:solidFill>
              <a:prstDash val="dash"/>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solidFill>
                    <a:schemeClr val="tx1"/>
                  </a:solidFill>
                </a:rPr>
                <a:t>穷国农业中女性比例更高</a:t>
              </a:r>
              <a:endParaRPr lang="zh-CN" altLang="en-US" sz="1400" b="1" dirty="0">
                <a:solidFill>
                  <a:schemeClr val="tx1"/>
                </a:solidFill>
              </a:endParaRPr>
            </a:p>
          </p:txBody>
        </p:sp>
        <p:sp>
          <p:nvSpPr>
            <p:cNvPr id="8" name="流程图: 过程 7"/>
            <p:cNvSpPr/>
            <p:nvPr/>
          </p:nvSpPr>
          <p:spPr>
            <a:xfrm>
              <a:off x="1784" y="6058"/>
              <a:ext cx="4284" cy="571"/>
            </a:xfrm>
            <a:prstGeom prst="flowChartProcess">
              <a:avLst/>
            </a:prstGeom>
            <a:noFill/>
            <a:ln w="19050">
              <a:solidFill>
                <a:schemeClr val="accent6"/>
              </a:solidFill>
              <a:prstDash val="dash"/>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b="1" dirty="0">
                  <a:solidFill>
                    <a:schemeClr val="tx1"/>
                  </a:solidFill>
                </a:rPr>
                <a:t>穷国农业平均生产率被拉低</a:t>
              </a:r>
              <a:endParaRPr lang="zh-CN" altLang="en-US" sz="1400" b="1" dirty="0">
                <a:solidFill>
                  <a:schemeClr val="tx1"/>
                </a:solidFill>
              </a:endParaRPr>
            </a:p>
          </p:txBody>
        </p:sp>
        <p:cxnSp>
          <p:nvCxnSpPr>
            <p:cNvPr id="12" name="肘形连接符 11"/>
            <p:cNvCxnSpPr>
              <a:stCxn id="14" idx="2"/>
              <a:endCxn id="3" idx="2"/>
            </p:cNvCxnSpPr>
            <p:nvPr/>
          </p:nvCxnSpPr>
          <p:spPr>
            <a:xfrm rot="5400000" flipV="1">
              <a:off x="3911" y="1449"/>
              <a:ext cx="5" cy="4576"/>
            </a:xfrm>
            <a:prstGeom prst="bentConnector3">
              <a:avLst>
                <a:gd name="adj1" fmla="val 7550000"/>
              </a:avLst>
            </a:prstGeom>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2" idx="2"/>
              <a:endCxn id="5" idx="0"/>
            </p:cNvCxnSpPr>
            <p:nvPr/>
          </p:nvCxnSpPr>
          <p:spPr>
            <a:xfrm>
              <a:off x="3911" y="3737"/>
              <a:ext cx="0" cy="734"/>
            </a:xfrm>
            <a:prstGeom prst="straightConnector1">
              <a:avLst/>
            </a:prstGeom>
            <a:ln>
              <a:tailEnd type="stealth" w="lg" len="lg"/>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5" idx="2"/>
              <a:endCxn id="8" idx="0"/>
            </p:cNvCxnSpPr>
            <p:nvPr/>
          </p:nvCxnSpPr>
          <p:spPr>
            <a:xfrm>
              <a:off x="3911" y="5042"/>
              <a:ext cx="15" cy="101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17" name="圆角矩形 16"/>
          <p:cNvSpPr/>
          <p:nvPr/>
        </p:nvSpPr>
        <p:spPr>
          <a:xfrm>
            <a:off x="612775" y="4523740"/>
            <a:ext cx="1458595" cy="379730"/>
          </a:xfrm>
          <a:prstGeom prst="roundRect">
            <a:avLst>
              <a:gd name="adj" fmla="val 50000"/>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t>数据来源</a:t>
            </a:r>
            <a:endParaRPr lang="zh-CN" altLang="en-US" sz="1600" b="1"/>
          </a:p>
        </p:txBody>
      </p:sp>
      <p:sp>
        <p:nvSpPr>
          <p:cNvPr id="18" name="文本框 17"/>
          <p:cNvSpPr txBox="1"/>
          <p:nvPr/>
        </p:nvSpPr>
        <p:spPr>
          <a:xfrm>
            <a:off x="1021080" y="4999990"/>
            <a:ext cx="4178300" cy="829945"/>
          </a:xfrm>
          <a:prstGeom prst="rect">
            <a:avLst/>
          </a:prstGeom>
          <a:noFill/>
        </p:spPr>
        <p:txBody>
          <a:bodyPr wrap="square" rtlCol="0">
            <a:spAutoFit/>
          </a:bodyPr>
          <a:p>
            <a:pPr marL="285750" indent="-285750" fontAlgn="auto">
              <a:lnSpc>
                <a:spcPct val="150000"/>
              </a:lnSpc>
              <a:buFont typeface="Arial" panose="020B0604020202020204" pitchFamily="34" charset="0"/>
              <a:buChar char="•"/>
            </a:pPr>
            <a:r>
              <a:rPr lang="en-US" altLang="zh-CN" sz="1600">
                <a:solidFill>
                  <a:schemeClr val="tx1"/>
                </a:solidFill>
                <a:uFillTx/>
                <a:latin typeface="Times New Roman" panose="02020603050405020304" charset="0"/>
              </a:rPr>
              <a:t>FAO：162</a:t>
            </a:r>
            <a:r>
              <a:rPr lang="zh-CN" altLang="en-US" sz="1600">
                <a:solidFill>
                  <a:schemeClr val="tx1"/>
                </a:solidFill>
                <a:uFillTx/>
                <a:latin typeface="Times New Roman" panose="02020603050405020304" charset="0"/>
              </a:rPr>
              <a:t>国农业工人性别构成</a:t>
            </a:r>
            <a:endParaRPr lang="zh-CN" altLang="en-US" sz="1600">
              <a:solidFill>
                <a:schemeClr val="tx1"/>
              </a:solidFill>
              <a:uFillTx/>
              <a:latin typeface="Times New Roman" panose="02020603050405020304" charset="0"/>
            </a:endParaRPr>
          </a:p>
          <a:p>
            <a:pPr marL="285750" indent="-285750" fontAlgn="auto">
              <a:lnSpc>
                <a:spcPct val="150000"/>
              </a:lnSpc>
              <a:buFont typeface="Arial" panose="020B0604020202020204" pitchFamily="34" charset="0"/>
              <a:buChar char="•"/>
            </a:pPr>
            <a:r>
              <a:rPr lang="en-US" altLang="zh-CN" sz="1600">
                <a:solidFill>
                  <a:schemeClr val="tx1"/>
                </a:solidFill>
                <a:uFillTx/>
                <a:latin typeface="Times New Roman" panose="02020603050405020304" charset="0"/>
              </a:rPr>
              <a:t>IPUMS：51</a:t>
            </a:r>
            <a:r>
              <a:rPr lang="zh-CN" altLang="en-US" sz="1600">
                <a:solidFill>
                  <a:schemeClr val="tx1"/>
                </a:solidFill>
                <a:uFillTx/>
                <a:latin typeface="Times New Roman" panose="02020603050405020304" charset="0"/>
              </a:rPr>
              <a:t>国人口普查数据</a:t>
            </a:r>
            <a:endParaRPr lang="zh-CN" altLang="en-US" sz="1600">
              <a:solidFill>
                <a:schemeClr val="tx1"/>
              </a:solidFill>
              <a:uFillTx/>
              <a:latin typeface="Times New Roman" panose="02020603050405020304" charset="0"/>
            </a:endParaRPr>
          </a:p>
        </p:txBody>
      </p:sp>
      <p:sp>
        <p:nvSpPr>
          <p:cNvPr id="65" name="圆角矩形 64"/>
          <p:cNvSpPr/>
          <p:nvPr/>
        </p:nvSpPr>
        <p:spPr>
          <a:xfrm>
            <a:off x="5776595" y="914400"/>
            <a:ext cx="5901690" cy="4964430"/>
          </a:xfrm>
          <a:prstGeom prst="roundRect">
            <a:avLst>
              <a:gd name="adj" fmla="val 8382"/>
            </a:avLst>
          </a:prstGeom>
          <a:noFill/>
          <a:ln>
            <a:solidFill>
              <a:schemeClr val="accent6"/>
            </a:solidFill>
            <a:prstDash val="sysDash"/>
            <a:round/>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a:blip r:embed="rId1"/>
          <a:stretch>
            <a:fillRect/>
          </a:stretch>
        </p:blipFill>
        <p:spPr>
          <a:xfrm>
            <a:off x="5925820" y="1340485"/>
            <a:ext cx="5611495" cy="3241040"/>
          </a:xfrm>
          <a:prstGeom prst="rect">
            <a:avLst/>
          </a:prstGeom>
        </p:spPr>
      </p:pic>
      <p:sp>
        <p:nvSpPr>
          <p:cNvPr id="21" name="圆角矩形 20"/>
          <p:cNvSpPr/>
          <p:nvPr/>
        </p:nvSpPr>
        <p:spPr>
          <a:xfrm>
            <a:off x="6186170" y="1038860"/>
            <a:ext cx="2473960" cy="379730"/>
          </a:xfrm>
          <a:prstGeom prst="roundRect">
            <a:avLst>
              <a:gd name="adj" fmla="val 50000"/>
            </a:avLst>
          </a:pr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b="1"/>
              <a:t>农业工人中的</a:t>
            </a:r>
            <a:r>
              <a:rPr lang="zh-CN" altLang="en-US" sz="1600" b="1"/>
              <a:t>女性比例</a:t>
            </a:r>
            <a:endParaRPr lang="zh-CN" altLang="en-US" sz="1600" b="1"/>
          </a:p>
        </p:txBody>
      </p:sp>
      <p:sp>
        <p:nvSpPr>
          <p:cNvPr id="22" name="文本框 21"/>
          <p:cNvSpPr txBox="1"/>
          <p:nvPr/>
        </p:nvSpPr>
        <p:spPr>
          <a:xfrm>
            <a:off x="6096000" y="4448810"/>
            <a:ext cx="5366385" cy="1370965"/>
          </a:xfrm>
          <a:prstGeom prst="rect">
            <a:avLst/>
          </a:prstGeom>
          <a:noFill/>
        </p:spPr>
        <p:txBody>
          <a:bodyPr wrap="square" rtlCol="0">
            <a:spAutoFit/>
          </a:bodyPr>
          <a:p>
            <a:pPr marL="285750" indent="-285750" fontAlgn="auto">
              <a:lnSpc>
                <a:spcPct val="130000"/>
              </a:lnSpc>
              <a:buFont typeface="Arial" panose="020B0604020202020204" pitchFamily="34" charset="0"/>
              <a:buChar char="•"/>
            </a:pPr>
            <a:r>
              <a:rPr lang="zh-CN" altLang="en-US" sz="1600">
                <a:solidFill>
                  <a:schemeClr val="tx1"/>
                </a:solidFill>
                <a:uFillTx/>
                <a:latin typeface="Times New Roman" panose="02020603050405020304" charset="0"/>
              </a:rPr>
              <a:t>农业就业份额 ≥70% 的国家，农业工人中女性约占 50%</a:t>
            </a:r>
            <a:endParaRPr lang="zh-CN" altLang="en-US" sz="1600">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sz="1600">
                <a:solidFill>
                  <a:schemeClr val="tx1"/>
                </a:solidFill>
                <a:uFillTx/>
                <a:latin typeface="Times New Roman" panose="02020603050405020304" charset="0"/>
              </a:rPr>
              <a:t>农业就业份额 ≤10% 的国家，女性平均约占 30%</a:t>
            </a:r>
            <a:endParaRPr lang="en-US" altLang="zh-CN" sz="1600">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zh-CN" altLang="en-US" sz="1600">
                <a:solidFill>
                  <a:schemeClr val="tx1"/>
                </a:solidFill>
                <a:uFillTx/>
                <a:latin typeface="Times New Roman" panose="02020603050405020304" charset="0"/>
              </a:rPr>
              <a:t>回归斜率 0.29，</a:t>
            </a:r>
            <a:r>
              <a:rPr lang="en-US" altLang="zh-CN" sz="1600">
                <a:solidFill>
                  <a:schemeClr val="tx1"/>
                </a:solidFill>
                <a:uFillTx/>
                <a:latin typeface="Times New Roman" panose="02020603050405020304" charset="0"/>
              </a:rPr>
              <a:t>P</a:t>
            </a:r>
            <a:r>
              <a:rPr lang="zh-CN" altLang="en-US" sz="1600">
                <a:solidFill>
                  <a:schemeClr val="tx1"/>
                </a:solidFill>
                <a:uFillTx/>
                <a:latin typeface="Times New Roman" panose="02020603050405020304" charset="0"/>
              </a:rPr>
              <a:t>值 0.01，统计显著</a:t>
            </a:r>
            <a:endParaRPr lang="zh-CN" altLang="en-US" sz="1600">
              <a:solidFill>
                <a:schemeClr val="tx1"/>
              </a:solidFill>
              <a:uFillTx/>
              <a:latin typeface="Times New Roman" panose="02020603050405020304" charset="0"/>
            </a:endParaRPr>
          </a:p>
          <a:p>
            <a:pPr marL="285750" indent="-285750" fontAlgn="auto">
              <a:lnSpc>
                <a:spcPct val="130000"/>
              </a:lnSpc>
              <a:buFont typeface="Arial" panose="020B0604020202020204" pitchFamily="34" charset="0"/>
              <a:buChar char="•"/>
            </a:pPr>
            <a:r>
              <a:rPr lang="en-US" altLang="zh-CN" sz="1600">
                <a:solidFill>
                  <a:schemeClr val="tx1"/>
                </a:solidFill>
                <a:uFillTx/>
                <a:latin typeface="Times New Roman" panose="02020603050405020304" charset="0"/>
              </a:rPr>
              <a:t>IPUMS</a:t>
            </a:r>
            <a:r>
              <a:rPr lang="zh-CN" altLang="en-US" sz="1600">
                <a:solidFill>
                  <a:schemeClr val="tx1"/>
                </a:solidFill>
                <a:uFillTx/>
                <a:latin typeface="Times New Roman" panose="02020603050405020304" charset="0"/>
              </a:rPr>
              <a:t>数据类似：斜率 0.33，</a:t>
            </a:r>
            <a:r>
              <a:rPr lang="en-US" altLang="zh-CN" sz="1600">
                <a:solidFill>
                  <a:schemeClr val="tx1"/>
                </a:solidFill>
                <a:uFillTx/>
                <a:latin typeface="Times New Roman" panose="02020603050405020304" charset="0"/>
              </a:rPr>
              <a:t>P</a:t>
            </a:r>
            <a:r>
              <a:rPr lang="zh-CN" altLang="en-US" sz="1600">
                <a:solidFill>
                  <a:schemeClr val="tx1"/>
                </a:solidFill>
                <a:uFillTx/>
                <a:latin typeface="Times New Roman" panose="02020603050405020304" charset="0"/>
              </a:rPr>
              <a:t>值 0.01</a:t>
            </a:r>
            <a:endParaRPr lang="zh-CN" altLang="en-US" sz="1600">
              <a:solidFill>
                <a:schemeClr val="tx1"/>
              </a:solidFill>
              <a:uFillTx/>
              <a:latin typeface="Times New Roman" panose="02020603050405020304" charset="0"/>
            </a:endParaRPr>
          </a:p>
        </p:txBody>
      </p:sp>
      <p:cxnSp>
        <p:nvCxnSpPr>
          <p:cNvPr id="24" name="直接箭头连接符 23"/>
          <p:cNvCxnSpPr>
            <a:stCxn id="65" idx="1"/>
            <a:endCxn id="6" idx="3"/>
          </p:cNvCxnSpPr>
          <p:nvPr/>
        </p:nvCxnSpPr>
        <p:spPr>
          <a:xfrm flipH="1">
            <a:off x="5243830" y="3396615"/>
            <a:ext cx="532765" cy="102235"/>
          </a:xfrm>
          <a:prstGeom prst="straightConnector1">
            <a:avLst/>
          </a:prstGeom>
          <a:ln>
            <a:tailEnd type="stealth" w="lg" len="lg"/>
          </a:ln>
        </p:spPr>
        <p:style>
          <a:lnRef idx="2">
            <a:schemeClr val="accent1"/>
          </a:lnRef>
          <a:fillRef idx="0">
            <a:srgbClr val="FFFFFF"/>
          </a:fillRef>
          <a:effectRef idx="0">
            <a:srgbClr val="FFFFFF"/>
          </a:effectRef>
          <a:fontRef idx="minor">
            <a:schemeClr val="tx1"/>
          </a:fontRef>
        </p:style>
      </p:cxnSp>
      <p:sp>
        <p:nvSpPr>
          <p:cNvPr id="25" name="圆角矩形 97"/>
          <p:cNvSpPr/>
          <p:nvPr>
            <p:custDataLst>
              <p:tags r:id="rId2"/>
            </p:custDataLst>
          </p:nvPr>
        </p:nvSpPr>
        <p:spPr>
          <a:xfrm>
            <a:off x="358775" y="5982242"/>
            <a:ext cx="11478260" cy="560705"/>
          </a:xfrm>
          <a:prstGeom prst="roundRect">
            <a:avLst>
              <a:gd name="adj" fmla="val 4544"/>
            </a:avLst>
          </a:prstGeom>
          <a:noFill/>
          <a:ln w="25400">
            <a:solidFill>
              <a:schemeClr val="accent6"/>
            </a:solidFill>
            <a:prstDash val="sysDash"/>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en-US" altLang="zh-CN">
              <a:solidFill>
                <a:schemeClr val="bg1"/>
              </a:solidFill>
            </a:endParaRPr>
          </a:p>
        </p:txBody>
      </p:sp>
      <p:sp>
        <p:nvSpPr>
          <p:cNvPr id="26" name="文本框 25"/>
          <p:cNvSpPr txBox="1"/>
          <p:nvPr/>
        </p:nvSpPr>
        <p:spPr>
          <a:xfrm>
            <a:off x="5097780" y="6232525"/>
            <a:ext cx="4064000" cy="368300"/>
          </a:xfrm>
          <a:prstGeom prst="rect">
            <a:avLst/>
          </a:prstGeom>
          <a:noFill/>
        </p:spPr>
        <p:txBody>
          <a:bodyPr wrap="square" rtlCol="0">
            <a:spAutoFit/>
          </a:bodyPr>
          <a:p>
            <a:endParaRPr lang="zh-CN" altLang="en-US"/>
          </a:p>
        </p:txBody>
      </p:sp>
      <p:sp>
        <p:nvSpPr>
          <p:cNvPr id="27" name="文本框 26"/>
          <p:cNvSpPr txBox="1"/>
          <p:nvPr/>
        </p:nvSpPr>
        <p:spPr>
          <a:xfrm>
            <a:off x="626110" y="6088380"/>
            <a:ext cx="11199495" cy="337185"/>
          </a:xfrm>
          <a:prstGeom prst="rect">
            <a:avLst/>
          </a:prstGeom>
          <a:noFill/>
        </p:spPr>
        <p:txBody>
          <a:bodyPr wrap="square" rtlCol="0">
            <a:spAutoFit/>
          </a:bodyPr>
          <a:p>
            <a:pPr algn="ctr"/>
            <a:r>
              <a:rPr lang="zh-CN" altLang="en-US" sz="1600" b="1">
                <a:solidFill>
                  <a:schemeClr val="tx1"/>
                </a:solidFill>
                <a:uFillTx/>
                <a:latin typeface="微软雅黑" panose="020B0503020204020204" charset="-122"/>
                <a:ea typeface="微软雅黑" panose="020B0503020204020204" charset="-122"/>
              </a:rPr>
              <a:t>结论：</a:t>
            </a:r>
            <a:r>
              <a:rPr lang="zh-CN" altLang="en-US" sz="1600" b="1">
                <a:solidFill>
                  <a:schemeClr val="tx1"/>
                </a:solidFill>
                <a:uFillTx/>
                <a:latin typeface="Times New Roman" panose="02020603050405020304" charset="0"/>
                <a:ea typeface="宋体" panose="02010600030101010101" pitchFamily="2" charset="-122"/>
              </a:rPr>
              <a:t>穷国农业中女性比例更高，而女性在农业中平均生产率较低，为“穷国农业包含更多低生产率工人”提供了例证。</a:t>
            </a:r>
            <a:endParaRPr lang="zh-CN" altLang="en-US" sz="1600" b="1">
              <a:solidFill>
                <a:schemeClr val="tx1"/>
              </a:solidFill>
              <a:uFillTx/>
              <a:latin typeface="Times New Roman" panose="02020603050405020304"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5293995" y="2310765"/>
            <a:ext cx="5942965" cy="1014730"/>
          </a:xfrm>
          <a:prstGeom prst="rect">
            <a:avLst/>
          </a:prstGeom>
          <a:noFill/>
        </p:spPr>
        <p:txBody>
          <a:bodyPr wrap="square" rtlCol="0">
            <a:spAutoFit/>
          </a:bodyPr>
          <a:lstStyle/>
          <a:p>
            <a:r>
              <a:rPr lang="zh-CN" altLang="en-US" sz="6000" b="1">
                <a:solidFill>
                  <a:schemeClr val="tx1"/>
                </a:solidFill>
              </a:rPr>
              <a:t>研究结论</a:t>
            </a:r>
            <a:endParaRPr lang="zh-CN" altLang="en-US" sz="6000" b="1">
              <a:solidFill>
                <a:schemeClr val="tx1"/>
              </a:solidFill>
            </a:endParaRPr>
          </a:p>
        </p:txBody>
      </p:sp>
      <p:sp>
        <p:nvSpPr>
          <p:cNvPr id="20" name="文本框 19"/>
          <p:cNvSpPr txBox="1"/>
          <p:nvPr/>
        </p:nvSpPr>
        <p:spPr>
          <a:xfrm>
            <a:off x="5293995" y="3577590"/>
            <a:ext cx="6248400" cy="583565"/>
          </a:xfrm>
          <a:prstGeom prst="rect">
            <a:avLst/>
          </a:prstGeom>
          <a:noFill/>
        </p:spPr>
        <p:txBody>
          <a:bodyPr wrap="square" rtlCol="0">
            <a:spAutoFit/>
          </a:bodyPr>
          <a:lstStyle/>
          <a:p>
            <a:r>
              <a:rPr lang="en-US" altLang="zh-CN" sz="3200">
                <a:latin typeface="Times New Roman" panose="02020603050405020304" charset="0"/>
                <a:cs typeface="Times New Roman" panose="02020603050405020304" charset="0"/>
                <a:sym typeface="+mn-ea"/>
              </a:rPr>
              <a:t>Conclusion</a:t>
            </a:r>
            <a:endParaRPr lang="en-US" altLang="zh-CN" sz="3200">
              <a:solidFill>
                <a:schemeClr val="tx1"/>
              </a:solidFill>
              <a:latin typeface="Times New Roman" panose="02020603050405020304" charset="0"/>
              <a:cs typeface="Times New Roman" panose="02020603050405020304" charset="0"/>
              <a:sym typeface="+mn-ea"/>
            </a:endParaRPr>
          </a:p>
        </p:txBody>
      </p:sp>
      <p:sp>
        <p:nvSpPr>
          <p:cNvPr id="29" name="文本框 28"/>
          <p:cNvSpPr txBox="1"/>
          <p:nvPr/>
        </p:nvSpPr>
        <p:spPr>
          <a:xfrm>
            <a:off x="1177925" y="1510665"/>
            <a:ext cx="3314700" cy="3769360"/>
          </a:xfrm>
          <a:prstGeom prst="rect">
            <a:avLst/>
          </a:prstGeom>
          <a:noFill/>
        </p:spPr>
        <p:txBody>
          <a:bodyPr wrap="square" rtlCol="0">
            <a:spAutoFit/>
          </a:bodyPr>
          <a:lstStyle/>
          <a:p>
            <a:r>
              <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rPr>
              <a:t>05</a:t>
            </a:r>
            <a:endParaRPr lang="en-US" altLang="zh-CN" sz="23900" b="1" i="1" dirty="0">
              <a:solidFill>
                <a:schemeClr val="accent6"/>
              </a:solidFill>
              <a:effectLst>
                <a:outerShdw blurRad="50800" dist="38100" dir="13500000" algn="br" rotWithShape="0">
                  <a:prstClr val="black">
                    <a:alpha val="40000"/>
                  </a:prstClr>
                </a:outerShdw>
              </a:effectLst>
              <a:uFillTx/>
              <a:latin typeface="方正小标宋简体" panose="02000000000000000000" charset="-122"/>
              <a:ea typeface="方正小标宋简体" panose="02000000000000000000" charset="-122"/>
            </a:endParaRPr>
          </a:p>
        </p:txBody>
      </p:sp>
      <p:cxnSp>
        <p:nvCxnSpPr>
          <p:cNvPr id="30" name="直接连接符 29"/>
          <p:cNvCxnSpPr/>
          <p:nvPr/>
        </p:nvCxnSpPr>
        <p:spPr>
          <a:xfrm flipV="1">
            <a:off x="-9525" y="495554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flipV="1">
            <a:off x="2649855" y="4736465"/>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H="1">
            <a:off x="8239125" y="1696085"/>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flipH="1">
            <a:off x="8239125" y="1758950"/>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5507990"/>
            <a:ext cx="12195175" cy="1362075"/>
            <a:chOff x="0" y="5507990"/>
            <a:chExt cx="12195175" cy="1362075"/>
          </a:xfrm>
        </p:grpSpPr>
        <p:sp>
          <p:nvSpPr>
            <p:cNvPr id="5" name="任意多边形 688"/>
            <p:cNvSpPr/>
            <p:nvPr/>
          </p:nvSpPr>
          <p:spPr>
            <a:xfrm>
              <a:off x="3175" y="5507990"/>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687"/>
            <p:cNvSpPr/>
            <p:nvPr/>
          </p:nvSpPr>
          <p:spPr>
            <a:xfrm>
              <a:off x="0" y="555180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任意多边形 682"/>
            <p:cNvSpPr/>
            <p:nvPr/>
          </p:nvSpPr>
          <p:spPr>
            <a:xfrm>
              <a:off x="0" y="558482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alpha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任意多边形 689"/>
            <p:cNvSpPr/>
            <p:nvPr/>
          </p:nvSpPr>
          <p:spPr>
            <a:xfrm>
              <a:off x="1270" y="5645785"/>
              <a:ext cx="12192000" cy="122428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pic>
        <p:nvPicPr>
          <p:cNvPr id="10" name="图片 9" descr="03校标，中、英文校名组合"/>
          <p:cNvPicPr>
            <a:picLocks noChangeAspect="1"/>
          </p:cNvPicPr>
          <p:nvPr userDrawn="1"/>
        </p:nvPicPr>
        <p:blipFill>
          <a:blip r:embed="rId1"/>
          <a:stretch>
            <a:fillRect/>
          </a:stretch>
        </p:blipFill>
        <p:spPr>
          <a:xfrm>
            <a:off x="260350" y="137160"/>
            <a:ext cx="2588895" cy="823595"/>
          </a:xfrm>
          <a:prstGeom prst="rect">
            <a:avLst/>
          </a:prstGeom>
        </p:spPr>
      </p:pic>
      <p:sp>
        <p:nvSpPr>
          <p:cNvPr id="13" name="文本框 3"/>
          <p:cNvSpPr txBox="1"/>
          <p:nvPr/>
        </p:nvSpPr>
        <p:spPr>
          <a:xfrm>
            <a:off x="3127375" y="342809"/>
            <a:ext cx="3867785"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6"/>
                </a:solidFill>
                <a:latin typeface="华文行楷" panose="02010800040101010101" charset="-122"/>
                <a:ea typeface="华文行楷" panose="02010800040101010101" charset="-122"/>
              </a:rPr>
              <a:t>诚朴雄伟</a:t>
            </a:r>
            <a:r>
              <a:rPr lang="en-US" altLang="zh-CN" sz="3200" dirty="0">
                <a:solidFill>
                  <a:schemeClr val="accent6"/>
                </a:solidFill>
                <a:latin typeface="华文行楷" panose="02010800040101010101" charset="-122"/>
                <a:ea typeface="华文行楷" panose="02010800040101010101" charset="-122"/>
              </a:rPr>
              <a:t> </a:t>
            </a:r>
            <a:r>
              <a:rPr lang="zh-CN" altLang="en-US" sz="3200" dirty="0">
                <a:solidFill>
                  <a:schemeClr val="accent6"/>
                </a:solidFill>
                <a:latin typeface="华文行楷" panose="02010800040101010101" charset="-122"/>
                <a:ea typeface="华文行楷" panose="02010800040101010101" charset="-122"/>
              </a:rPr>
              <a:t>励学敦</a:t>
            </a:r>
            <a:r>
              <a:rPr lang="zh-CN" altLang="en-US" sz="3200" dirty="0">
                <a:solidFill>
                  <a:schemeClr val="accent6"/>
                </a:solidFill>
                <a:latin typeface="华文行楷" panose="02010800040101010101" charset="-122"/>
                <a:ea typeface="华文行楷" panose="02010800040101010101" charset="-122"/>
              </a:rPr>
              <a:t>行</a:t>
            </a:r>
            <a:endParaRPr lang="zh-CN" altLang="en-US" sz="3200" dirty="0">
              <a:solidFill>
                <a:schemeClr val="accent6"/>
              </a:solidFill>
              <a:latin typeface="华文行楷" panose="02010800040101010101" charset="-122"/>
              <a:ea typeface="华文行楷" panose="0201080004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 name="任意多边形: 形状 27"/>
          <p:cNvSpPr/>
          <p:nvPr/>
        </p:nvSpPr>
        <p:spPr>
          <a:xfrm>
            <a:off x="724400" y="2297949"/>
            <a:ext cx="5160780" cy="1976352"/>
          </a:xfrm>
          <a:custGeom>
            <a:avLst/>
            <a:gdLst>
              <a:gd name="connsiteX0" fmla="*/ 203248 w 5160780"/>
              <a:gd name="connsiteY0" fmla="*/ 0 h 1976352"/>
              <a:gd name="connsiteX1" fmla="*/ 4957532 w 5160780"/>
              <a:gd name="connsiteY1" fmla="*/ 0 h 1976352"/>
              <a:gd name="connsiteX2" fmla="*/ 5160780 w 5160780"/>
              <a:gd name="connsiteY2" fmla="*/ 203248 h 1976352"/>
              <a:gd name="connsiteX3" fmla="*/ 5160780 w 5160780"/>
              <a:gd name="connsiteY3" fmla="*/ 1135026 h 1976352"/>
              <a:gd name="connsiteX4" fmla="*/ 5106321 w 5160780"/>
              <a:gd name="connsiteY4" fmla="*/ 1149029 h 1976352"/>
              <a:gd name="connsiteX5" fmla="*/ 4369422 w 5160780"/>
              <a:gd name="connsiteY5" fmla="*/ 1962816 h 1976352"/>
              <a:gd name="connsiteX6" fmla="*/ 4367356 w 5160780"/>
              <a:gd name="connsiteY6" fmla="*/ 1976352 h 1976352"/>
              <a:gd name="connsiteX7" fmla="*/ 203248 w 5160780"/>
              <a:gd name="connsiteY7" fmla="*/ 1976352 h 1976352"/>
              <a:gd name="connsiteX8" fmla="*/ 0 w 5160780"/>
              <a:gd name="connsiteY8" fmla="*/ 1773104 h 1976352"/>
              <a:gd name="connsiteX9" fmla="*/ 0 w 5160780"/>
              <a:gd name="connsiteY9" fmla="*/ 203248 h 1976352"/>
              <a:gd name="connsiteX10" fmla="*/ 203248 w 5160780"/>
              <a:gd name="connsiteY10" fmla="*/ 0 h 1976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0780" h="1976352">
                <a:moveTo>
                  <a:pt x="203248" y="0"/>
                </a:moveTo>
                <a:lnTo>
                  <a:pt x="4957532" y="0"/>
                </a:lnTo>
                <a:cubicBezTo>
                  <a:pt x="5069783" y="0"/>
                  <a:pt x="5160780" y="90997"/>
                  <a:pt x="5160780" y="203248"/>
                </a:cubicBezTo>
                <a:lnTo>
                  <a:pt x="5160780" y="1135026"/>
                </a:lnTo>
                <a:lnTo>
                  <a:pt x="5106321" y="1149029"/>
                </a:lnTo>
                <a:cubicBezTo>
                  <a:pt x="4734323" y="1264732"/>
                  <a:pt x="4448548" y="1576136"/>
                  <a:pt x="4369422" y="1962816"/>
                </a:cubicBezTo>
                <a:lnTo>
                  <a:pt x="4367356" y="1976352"/>
                </a:lnTo>
                <a:lnTo>
                  <a:pt x="203248" y="1976352"/>
                </a:lnTo>
                <a:cubicBezTo>
                  <a:pt x="90997" y="1976352"/>
                  <a:pt x="0" y="1885355"/>
                  <a:pt x="0" y="1773104"/>
                </a:cubicBezTo>
                <a:lnTo>
                  <a:pt x="0" y="203248"/>
                </a:lnTo>
                <a:cubicBezTo>
                  <a:pt x="0" y="90997"/>
                  <a:pt x="90997" y="0"/>
                  <a:pt x="203248" y="0"/>
                </a:cubicBezTo>
                <a:close/>
              </a:path>
            </a:pathLst>
          </a:custGeom>
          <a:solidFill>
            <a:schemeClr val="bg1"/>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600" b="1">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25" name="任意多边形: 形状 24"/>
          <p:cNvSpPr/>
          <p:nvPr/>
        </p:nvSpPr>
        <p:spPr>
          <a:xfrm>
            <a:off x="6280456" y="2297949"/>
            <a:ext cx="5160780" cy="1976352"/>
          </a:xfrm>
          <a:custGeom>
            <a:avLst/>
            <a:gdLst>
              <a:gd name="connsiteX0" fmla="*/ 203248 w 5160780"/>
              <a:gd name="connsiteY0" fmla="*/ 0 h 1976352"/>
              <a:gd name="connsiteX1" fmla="*/ 4957532 w 5160780"/>
              <a:gd name="connsiteY1" fmla="*/ 0 h 1976352"/>
              <a:gd name="connsiteX2" fmla="*/ 5160780 w 5160780"/>
              <a:gd name="connsiteY2" fmla="*/ 203248 h 1976352"/>
              <a:gd name="connsiteX3" fmla="*/ 5160780 w 5160780"/>
              <a:gd name="connsiteY3" fmla="*/ 1773104 h 1976352"/>
              <a:gd name="connsiteX4" fmla="*/ 4957532 w 5160780"/>
              <a:gd name="connsiteY4" fmla="*/ 1976352 h 1976352"/>
              <a:gd name="connsiteX5" fmla="*/ 931548 w 5160780"/>
              <a:gd name="connsiteY5" fmla="*/ 1976352 h 1976352"/>
              <a:gd name="connsiteX6" fmla="*/ 929482 w 5160780"/>
              <a:gd name="connsiteY6" fmla="*/ 1962816 h 1976352"/>
              <a:gd name="connsiteX7" fmla="*/ 89082 w 5160780"/>
              <a:gd name="connsiteY7" fmla="*/ 1122416 h 1976352"/>
              <a:gd name="connsiteX8" fmla="*/ 0 w 5160780"/>
              <a:gd name="connsiteY8" fmla="*/ 1108820 h 1976352"/>
              <a:gd name="connsiteX9" fmla="*/ 0 w 5160780"/>
              <a:gd name="connsiteY9" fmla="*/ 203248 h 1976352"/>
              <a:gd name="connsiteX10" fmla="*/ 203248 w 5160780"/>
              <a:gd name="connsiteY10" fmla="*/ 0 h 1976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0780" h="1976352">
                <a:moveTo>
                  <a:pt x="203248" y="0"/>
                </a:moveTo>
                <a:lnTo>
                  <a:pt x="4957532" y="0"/>
                </a:lnTo>
                <a:cubicBezTo>
                  <a:pt x="5069783" y="0"/>
                  <a:pt x="5160780" y="90997"/>
                  <a:pt x="5160780" y="203248"/>
                </a:cubicBezTo>
                <a:lnTo>
                  <a:pt x="5160780" y="1773104"/>
                </a:lnTo>
                <a:cubicBezTo>
                  <a:pt x="5160780" y="1885355"/>
                  <a:pt x="5069783" y="1976352"/>
                  <a:pt x="4957532" y="1976352"/>
                </a:cubicBezTo>
                <a:lnTo>
                  <a:pt x="931548" y="1976352"/>
                </a:lnTo>
                <a:lnTo>
                  <a:pt x="929482" y="1962816"/>
                </a:lnTo>
                <a:cubicBezTo>
                  <a:pt x="843163" y="1540984"/>
                  <a:pt x="510915" y="1208735"/>
                  <a:pt x="89082" y="1122416"/>
                </a:cubicBezTo>
                <a:lnTo>
                  <a:pt x="0" y="1108820"/>
                </a:lnTo>
                <a:lnTo>
                  <a:pt x="0" y="203248"/>
                </a:lnTo>
                <a:cubicBezTo>
                  <a:pt x="0" y="90997"/>
                  <a:pt x="90997" y="0"/>
                  <a:pt x="203248" y="0"/>
                </a:cubicBezTo>
                <a:close/>
              </a:path>
            </a:pathLst>
          </a:custGeom>
          <a:solidFill>
            <a:schemeClr val="bg1"/>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600" b="1">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23" name="任意多边形: 形状 22"/>
          <p:cNvSpPr/>
          <p:nvPr/>
        </p:nvSpPr>
        <p:spPr>
          <a:xfrm>
            <a:off x="724400" y="4478423"/>
            <a:ext cx="5160780" cy="1976352"/>
          </a:xfrm>
          <a:custGeom>
            <a:avLst/>
            <a:gdLst>
              <a:gd name="connsiteX0" fmla="*/ 203248 w 5160780"/>
              <a:gd name="connsiteY0" fmla="*/ 0 h 1976352"/>
              <a:gd name="connsiteX1" fmla="*/ 4347480 w 5160780"/>
              <a:gd name="connsiteY1" fmla="*/ 0 h 1976352"/>
              <a:gd name="connsiteX2" fmla="*/ 5106321 w 5160780"/>
              <a:gd name="connsiteY2" fmla="*/ 1031445 h 1976352"/>
              <a:gd name="connsiteX3" fmla="*/ 5160780 w 5160780"/>
              <a:gd name="connsiteY3" fmla="*/ 1045448 h 1976352"/>
              <a:gd name="connsiteX4" fmla="*/ 5160780 w 5160780"/>
              <a:gd name="connsiteY4" fmla="*/ 1773104 h 1976352"/>
              <a:gd name="connsiteX5" fmla="*/ 4957532 w 5160780"/>
              <a:gd name="connsiteY5" fmla="*/ 1976352 h 1976352"/>
              <a:gd name="connsiteX6" fmla="*/ 203248 w 5160780"/>
              <a:gd name="connsiteY6" fmla="*/ 1976352 h 1976352"/>
              <a:gd name="connsiteX7" fmla="*/ 0 w 5160780"/>
              <a:gd name="connsiteY7" fmla="*/ 1773104 h 1976352"/>
              <a:gd name="connsiteX8" fmla="*/ 0 w 5160780"/>
              <a:gd name="connsiteY8" fmla="*/ 203248 h 1976352"/>
              <a:gd name="connsiteX9" fmla="*/ 203248 w 5160780"/>
              <a:gd name="connsiteY9" fmla="*/ 0 h 1976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60780" h="1976352">
                <a:moveTo>
                  <a:pt x="203248" y="0"/>
                </a:moveTo>
                <a:lnTo>
                  <a:pt x="4347480" y="0"/>
                </a:lnTo>
                <a:cubicBezTo>
                  <a:pt x="4347480" y="484630"/>
                  <a:pt x="4666687" y="894705"/>
                  <a:pt x="5106321" y="1031445"/>
                </a:cubicBezTo>
                <a:lnTo>
                  <a:pt x="5160780" y="1045448"/>
                </a:lnTo>
                <a:lnTo>
                  <a:pt x="5160780" y="1773104"/>
                </a:lnTo>
                <a:cubicBezTo>
                  <a:pt x="5160780" y="1885355"/>
                  <a:pt x="5069783" y="1976352"/>
                  <a:pt x="4957532" y="1976352"/>
                </a:cubicBezTo>
                <a:lnTo>
                  <a:pt x="203248" y="1976352"/>
                </a:lnTo>
                <a:cubicBezTo>
                  <a:pt x="90997" y="1976352"/>
                  <a:pt x="0" y="1885355"/>
                  <a:pt x="0" y="1773104"/>
                </a:cubicBezTo>
                <a:lnTo>
                  <a:pt x="0" y="203248"/>
                </a:lnTo>
                <a:cubicBezTo>
                  <a:pt x="0" y="90997"/>
                  <a:pt x="90997" y="0"/>
                  <a:pt x="203248" y="0"/>
                </a:cubicBezTo>
                <a:close/>
              </a:path>
            </a:pathLst>
          </a:custGeom>
          <a:solidFill>
            <a:schemeClr val="bg1"/>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600" b="1">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22" name="任意多边形: 形状 21"/>
          <p:cNvSpPr/>
          <p:nvPr/>
        </p:nvSpPr>
        <p:spPr>
          <a:xfrm>
            <a:off x="6280456" y="4478423"/>
            <a:ext cx="5160780" cy="1976352"/>
          </a:xfrm>
          <a:custGeom>
            <a:avLst/>
            <a:gdLst>
              <a:gd name="connsiteX0" fmla="*/ 951424 w 5160780"/>
              <a:gd name="connsiteY0" fmla="*/ 0 h 1976352"/>
              <a:gd name="connsiteX1" fmla="*/ 4957532 w 5160780"/>
              <a:gd name="connsiteY1" fmla="*/ 0 h 1976352"/>
              <a:gd name="connsiteX2" fmla="*/ 5160780 w 5160780"/>
              <a:gd name="connsiteY2" fmla="*/ 203248 h 1976352"/>
              <a:gd name="connsiteX3" fmla="*/ 5160780 w 5160780"/>
              <a:gd name="connsiteY3" fmla="*/ 1773104 h 1976352"/>
              <a:gd name="connsiteX4" fmla="*/ 4957532 w 5160780"/>
              <a:gd name="connsiteY4" fmla="*/ 1976352 h 1976352"/>
              <a:gd name="connsiteX5" fmla="*/ 203248 w 5160780"/>
              <a:gd name="connsiteY5" fmla="*/ 1976352 h 1976352"/>
              <a:gd name="connsiteX6" fmla="*/ 0 w 5160780"/>
              <a:gd name="connsiteY6" fmla="*/ 1773104 h 1976352"/>
              <a:gd name="connsiteX7" fmla="*/ 0 w 5160780"/>
              <a:gd name="connsiteY7" fmla="*/ 1071654 h 1976352"/>
              <a:gd name="connsiteX8" fmla="*/ 89082 w 5160780"/>
              <a:gd name="connsiteY8" fmla="*/ 1058058 h 1976352"/>
              <a:gd name="connsiteX9" fmla="*/ 951424 w 5160780"/>
              <a:gd name="connsiteY9" fmla="*/ 0 h 1976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60780" h="1976352">
                <a:moveTo>
                  <a:pt x="951424" y="0"/>
                </a:moveTo>
                <a:lnTo>
                  <a:pt x="4957532" y="0"/>
                </a:lnTo>
                <a:cubicBezTo>
                  <a:pt x="5069783" y="0"/>
                  <a:pt x="5160780" y="90997"/>
                  <a:pt x="5160780" y="203248"/>
                </a:cubicBezTo>
                <a:lnTo>
                  <a:pt x="5160780" y="1773104"/>
                </a:lnTo>
                <a:cubicBezTo>
                  <a:pt x="5160780" y="1885355"/>
                  <a:pt x="5069783" y="1976352"/>
                  <a:pt x="4957532" y="1976352"/>
                </a:cubicBezTo>
                <a:lnTo>
                  <a:pt x="203248" y="1976352"/>
                </a:lnTo>
                <a:cubicBezTo>
                  <a:pt x="90997" y="1976352"/>
                  <a:pt x="0" y="1885355"/>
                  <a:pt x="0" y="1773104"/>
                </a:cubicBezTo>
                <a:lnTo>
                  <a:pt x="0" y="1071654"/>
                </a:lnTo>
                <a:lnTo>
                  <a:pt x="89082" y="1058058"/>
                </a:lnTo>
                <a:cubicBezTo>
                  <a:pt x="581220" y="957353"/>
                  <a:pt x="951424" y="521910"/>
                  <a:pt x="951424" y="0"/>
                </a:cubicBezTo>
                <a:close/>
              </a:path>
            </a:pathLst>
          </a:custGeom>
          <a:solidFill>
            <a:schemeClr val="bg1"/>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600" b="1">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36" name="椭圆 35"/>
          <p:cNvSpPr/>
          <p:nvPr/>
        </p:nvSpPr>
        <p:spPr>
          <a:xfrm>
            <a:off x="5251880" y="3574182"/>
            <a:ext cx="1800000" cy="1800000"/>
          </a:xfrm>
          <a:prstGeom prst="ellipse">
            <a:avLst/>
          </a:prstGeom>
          <a:solidFill>
            <a:schemeClr val="accent6"/>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600" b="1">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38" name="椭圆 37"/>
          <p:cNvSpPr/>
          <p:nvPr/>
        </p:nvSpPr>
        <p:spPr>
          <a:xfrm>
            <a:off x="418400" y="2955794"/>
            <a:ext cx="540000" cy="540000"/>
          </a:xfrm>
          <a:prstGeom prst="ellipse">
            <a:avLst/>
          </a:prstGeom>
          <a:solidFill>
            <a:schemeClr val="accent6"/>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39" name="文本框 38"/>
          <p:cNvSpPr txBox="1"/>
          <p:nvPr/>
        </p:nvSpPr>
        <p:spPr>
          <a:xfrm>
            <a:off x="437060" y="3071906"/>
            <a:ext cx="489676" cy="307777"/>
          </a:xfrm>
          <a:prstGeom prst="rect">
            <a:avLst/>
          </a:prstGeom>
          <a:noFill/>
          <a:ln>
            <a:noFill/>
          </a:ln>
        </p:spPr>
        <p:txBody>
          <a:bodyPr wrap="square" rtlCol="0">
            <a:spAutoFit/>
          </a:bodyPr>
          <a:lstStyle/>
          <a:p>
            <a:pPr algn="ctr"/>
            <a:r>
              <a:rPr lang="en-US" altLang="zh-CN" sz="1400" b="1" dirty="0">
                <a:solidFill>
                  <a:schemeClr val="bg1"/>
                </a:solidFill>
                <a:latin typeface="+mn-ea"/>
              </a:rPr>
              <a:t>01</a:t>
            </a:r>
            <a:endParaRPr lang="zh-CN" altLang="en-US" sz="1400" b="1" dirty="0">
              <a:solidFill>
                <a:schemeClr val="bg1"/>
              </a:solidFill>
              <a:latin typeface="+mn-ea"/>
            </a:endParaRPr>
          </a:p>
        </p:txBody>
      </p:sp>
      <p:sp>
        <p:nvSpPr>
          <p:cNvPr id="42" name="椭圆 41"/>
          <p:cNvSpPr/>
          <p:nvPr/>
        </p:nvSpPr>
        <p:spPr>
          <a:xfrm>
            <a:off x="418400" y="5271087"/>
            <a:ext cx="540000" cy="540000"/>
          </a:xfrm>
          <a:prstGeom prst="ellipse">
            <a:avLst/>
          </a:prstGeom>
          <a:solidFill>
            <a:schemeClr val="accent6"/>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43" name="文本框 42"/>
          <p:cNvSpPr txBox="1"/>
          <p:nvPr/>
        </p:nvSpPr>
        <p:spPr>
          <a:xfrm>
            <a:off x="437060" y="5387199"/>
            <a:ext cx="489676" cy="307777"/>
          </a:xfrm>
          <a:prstGeom prst="rect">
            <a:avLst/>
          </a:prstGeom>
          <a:noFill/>
          <a:ln>
            <a:noFill/>
          </a:ln>
        </p:spPr>
        <p:txBody>
          <a:bodyPr wrap="square" rtlCol="0">
            <a:spAutoFit/>
          </a:bodyPr>
          <a:lstStyle/>
          <a:p>
            <a:pPr algn="ctr"/>
            <a:r>
              <a:rPr lang="en-US" altLang="zh-CN" sz="1400" b="1" dirty="0">
                <a:solidFill>
                  <a:schemeClr val="bg1"/>
                </a:solidFill>
                <a:latin typeface="+mn-ea"/>
              </a:rPr>
              <a:t>02</a:t>
            </a:r>
            <a:endParaRPr lang="zh-CN" altLang="en-US" sz="1400" b="1" dirty="0">
              <a:solidFill>
                <a:schemeClr val="bg1"/>
              </a:solidFill>
              <a:latin typeface="+mn-ea"/>
            </a:endParaRPr>
          </a:p>
        </p:txBody>
      </p:sp>
      <p:sp>
        <p:nvSpPr>
          <p:cNvPr id="45" name="椭圆 44"/>
          <p:cNvSpPr/>
          <p:nvPr/>
        </p:nvSpPr>
        <p:spPr>
          <a:xfrm>
            <a:off x="11171236" y="2955794"/>
            <a:ext cx="540000" cy="540000"/>
          </a:xfrm>
          <a:prstGeom prst="ellipse">
            <a:avLst/>
          </a:prstGeom>
          <a:solidFill>
            <a:schemeClr val="accent6"/>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46" name="文本框 45"/>
          <p:cNvSpPr txBox="1"/>
          <p:nvPr/>
        </p:nvSpPr>
        <p:spPr>
          <a:xfrm>
            <a:off x="11189896" y="3071906"/>
            <a:ext cx="489676" cy="307777"/>
          </a:xfrm>
          <a:prstGeom prst="rect">
            <a:avLst/>
          </a:prstGeom>
          <a:noFill/>
          <a:ln>
            <a:noFill/>
          </a:ln>
        </p:spPr>
        <p:txBody>
          <a:bodyPr wrap="square" rtlCol="0">
            <a:spAutoFit/>
          </a:bodyPr>
          <a:lstStyle/>
          <a:p>
            <a:pPr algn="ctr"/>
            <a:r>
              <a:rPr lang="en-US" altLang="zh-CN" sz="1400" b="1" dirty="0">
                <a:solidFill>
                  <a:schemeClr val="bg1"/>
                </a:solidFill>
                <a:latin typeface="+mn-ea"/>
              </a:rPr>
              <a:t>03</a:t>
            </a:r>
            <a:endParaRPr lang="zh-CN" altLang="en-US" sz="1400" b="1" dirty="0">
              <a:solidFill>
                <a:schemeClr val="bg1"/>
              </a:solidFill>
              <a:latin typeface="+mn-ea"/>
            </a:endParaRPr>
          </a:p>
        </p:txBody>
      </p:sp>
      <p:sp>
        <p:nvSpPr>
          <p:cNvPr id="48" name="椭圆 47"/>
          <p:cNvSpPr/>
          <p:nvPr/>
        </p:nvSpPr>
        <p:spPr>
          <a:xfrm>
            <a:off x="11171236" y="5271087"/>
            <a:ext cx="540000" cy="540000"/>
          </a:xfrm>
          <a:prstGeom prst="ellipse">
            <a:avLst/>
          </a:prstGeom>
          <a:solidFill>
            <a:schemeClr val="accent6"/>
          </a:solidFill>
          <a:ln>
            <a:solidFill>
              <a:schemeClr val="accent6"/>
            </a:solidFill>
            <a:prstDash val="solid"/>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lnSpc>
                <a:spcPct val="150000"/>
              </a:lnSpc>
            </a:pPr>
            <a:endParaRPr lang="zh-CN" altLang="en-US" sz="14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49" name="文本框 48"/>
          <p:cNvSpPr txBox="1"/>
          <p:nvPr/>
        </p:nvSpPr>
        <p:spPr>
          <a:xfrm>
            <a:off x="11189896" y="5387199"/>
            <a:ext cx="489676" cy="307777"/>
          </a:xfrm>
          <a:prstGeom prst="rect">
            <a:avLst/>
          </a:prstGeom>
          <a:noFill/>
          <a:ln>
            <a:noFill/>
          </a:ln>
        </p:spPr>
        <p:txBody>
          <a:bodyPr wrap="square" rtlCol="0">
            <a:spAutoFit/>
          </a:bodyPr>
          <a:lstStyle/>
          <a:p>
            <a:pPr algn="ctr"/>
            <a:r>
              <a:rPr lang="en-US" altLang="zh-CN" sz="1400" b="1" dirty="0">
                <a:solidFill>
                  <a:schemeClr val="bg1"/>
                </a:solidFill>
                <a:latin typeface="+mn-ea"/>
              </a:rPr>
              <a:t>04</a:t>
            </a:r>
            <a:endParaRPr lang="zh-CN" altLang="en-US" sz="1400" b="1" dirty="0">
              <a:solidFill>
                <a:schemeClr val="bg1"/>
              </a:solidFill>
              <a:latin typeface="+mn-ea"/>
            </a:endParaRPr>
          </a:p>
        </p:txBody>
      </p:sp>
      <p:sp>
        <p:nvSpPr>
          <p:cNvPr id="50" name="文本框 49"/>
          <p:cNvSpPr txBox="1"/>
          <p:nvPr/>
        </p:nvSpPr>
        <p:spPr>
          <a:xfrm>
            <a:off x="1504950" y="2515235"/>
            <a:ext cx="2301875" cy="337185"/>
          </a:xfrm>
          <a:prstGeom prst="rect">
            <a:avLst/>
          </a:prstGeom>
          <a:noFill/>
        </p:spPr>
        <p:txBody>
          <a:bodyPr wrap="square" rtlCol="0">
            <a:spAutoFit/>
          </a:bodyPr>
          <a:lstStyle/>
          <a:p>
            <a:pPr algn="l"/>
            <a:r>
              <a:rPr lang="zh-CN" altLang="en-US" sz="1600" b="1" dirty="0"/>
              <a:t>问题</a:t>
            </a:r>
            <a:r>
              <a:rPr lang="zh-CN" altLang="en-US" sz="1600" b="1" dirty="0"/>
              <a:t>提出</a:t>
            </a:r>
            <a:endParaRPr lang="zh-CN" altLang="en-US" sz="1600" b="1" dirty="0"/>
          </a:p>
        </p:txBody>
      </p:sp>
      <p:sp>
        <p:nvSpPr>
          <p:cNvPr id="52" name="椭圆 51"/>
          <p:cNvSpPr/>
          <p:nvPr>
            <p:custDataLst>
              <p:tags r:id="rId1"/>
            </p:custDataLst>
          </p:nvPr>
        </p:nvSpPr>
        <p:spPr>
          <a:xfrm>
            <a:off x="1310640" y="2613025"/>
            <a:ext cx="144145" cy="142875"/>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6" name="文本框 55"/>
          <p:cNvSpPr txBox="1"/>
          <p:nvPr/>
        </p:nvSpPr>
        <p:spPr>
          <a:xfrm>
            <a:off x="1136650" y="2804160"/>
            <a:ext cx="3957320" cy="1383665"/>
          </a:xfrm>
          <a:prstGeom prst="rect">
            <a:avLst/>
          </a:prstGeom>
          <a:noFill/>
        </p:spPr>
        <p:txBody>
          <a:bodyPr wrap="square">
            <a:spAutoFit/>
          </a:bodyPr>
          <a:lstStyle/>
          <a:p>
            <a:pPr marL="171450" indent="-171450" algn="l" fontAlgn="auto">
              <a:lnSpc>
                <a:spcPct val="150000"/>
              </a:lnSpc>
              <a:buFont typeface="Arial" panose="020B0604020202020204" pitchFamily="34" charset="0"/>
              <a:buChar char="•"/>
            </a:pPr>
            <a:r>
              <a:rPr lang="zh-CN" altLang="en-US" sz="1400" b="1" dirty="0">
                <a:latin typeface="+mn-ea"/>
                <a:cs typeface="+mn-ea"/>
                <a:sym typeface="+mn-lt"/>
              </a:rPr>
              <a:t>现实数据：</a:t>
            </a:r>
            <a:r>
              <a:rPr lang="zh-CN" altLang="en-US" sz="1400" dirty="0">
                <a:latin typeface="+mn-ea"/>
                <a:cs typeface="+mn-ea"/>
                <a:sym typeface="+mn-lt"/>
              </a:rPr>
              <a:t>农业跨国生产率差异远大于非农业，数据中 45倍 </a:t>
            </a:r>
            <a:r>
              <a:rPr lang="en-US" altLang="zh-CN" sz="1400" dirty="0">
                <a:latin typeface="+mn-ea"/>
                <a:cs typeface="+mn-ea"/>
                <a:sym typeface="+mn-lt"/>
              </a:rPr>
              <a:t>vs 4</a:t>
            </a:r>
            <a:r>
              <a:rPr lang="zh-CN" altLang="en-US" sz="1400" dirty="0">
                <a:latin typeface="+mn-ea"/>
                <a:cs typeface="+mn-ea"/>
                <a:sym typeface="+mn-lt"/>
              </a:rPr>
              <a:t>倍，比值 10.7</a:t>
            </a:r>
            <a:endParaRPr lang="en-US" altLang="zh-CN" sz="1400" dirty="0">
              <a:latin typeface="+mn-ea"/>
              <a:cs typeface="+mn-ea"/>
              <a:sym typeface="+mn-lt"/>
            </a:endParaRPr>
          </a:p>
          <a:p>
            <a:pPr marL="171450" indent="-171450" algn="l" fontAlgn="auto">
              <a:lnSpc>
                <a:spcPct val="150000"/>
              </a:lnSpc>
              <a:buFont typeface="Arial" panose="020B0604020202020204" pitchFamily="34" charset="0"/>
              <a:buChar char="•"/>
            </a:pPr>
            <a:r>
              <a:rPr lang="zh-CN" altLang="en-US" sz="1400" b="1" dirty="0">
                <a:latin typeface="+mn-ea"/>
                <a:cs typeface="+mn-ea"/>
                <a:sym typeface="+mn-lt"/>
              </a:rPr>
              <a:t>本文提出：工人自选择</a:t>
            </a:r>
            <a:r>
              <a:rPr lang="zh-CN" altLang="en-US" sz="1400" dirty="0">
                <a:latin typeface="+mn-ea"/>
                <a:cs typeface="+mn-ea"/>
                <a:sym typeface="+mn-lt"/>
              </a:rPr>
              <a:t>是解释这一模式的重要机制</a:t>
            </a:r>
            <a:endParaRPr lang="zh-CN" altLang="en-US" sz="1400" dirty="0">
              <a:latin typeface="+mn-ea"/>
              <a:cs typeface="+mn-ea"/>
              <a:sym typeface="+mn-lt"/>
            </a:endParaRPr>
          </a:p>
        </p:txBody>
      </p:sp>
      <p:sp>
        <p:nvSpPr>
          <p:cNvPr id="119" name="文本框 118"/>
          <p:cNvSpPr txBox="1"/>
          <p:nvPr/>
        </p:nvSpPr>
        <p:spPr>
          <a:xfrm>
            <a:off x="5335905" y="4032885"/>
            <a:ext cx="1654810" cy="922020"/>
          </a:xfrm>
          <a:prstGeom prst="rect">
            <a:avLst/>
          </a:prstGeom>
          <a:noFill/>
        </p:spPr>
        <p:txBody>
          <a:bodyPr wrap="square">
            <a:spAutoFit/>
          </a:bodyPr>
          <a:lstStyle/>
          <a:p>
            <a:pPr algn="ctr">
              <a:lnSpc>
                <a:spcPct val="150000"/>
              </a:lnSpc>
            </a:pPr>
            <a:r>
              <a:rPr lang="zh-CN" altLang="en-US" sz="1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rPr>
              <a:t>选择、农业和跨国</a:t>
            </a:r>
            <a:r>
              <a:rPr lang="zh-CN" altLang="en-US" sz="1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rPr>
              <a:t>生产率</a:t>
            </a:r>
            <a:endParaRPr lang="zh-CN" altLang="en-US" sz="1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mn-ea"/>
            </a:endParaRPr>
          </a:p>
        </p:txBody>
      </p:sp>
      <p:sp>
        <p:nvSpPr>
          <p:cNvPr id="7" name="文本框 6"/>
          <p:cNvSpPr txBox="1"/>
          <p:nvPr/>
        </p:nvSpPr>
        <p:spPr>
          <a:xfrm>
            <a:off x="803910" y="914400"/>
            <a:ext cx="2182495" cy="368300"/>
          </a:xfrm>
          <a:prstGeom prst="rect">
            <a:avLst/>
          </a:prstGeom>
          <a:noFill/>
        </p:spPr>
        <p:txBody>
          <a:bodyPr wrap="square" rtlCol="0">
            <a:spAutoFit/>
          </a:bodyPr>
          <a:lstStyle/>
          <a:p>
            <a:r>
              <a:rPr lang="zh-CN" altLang="en-US" b="1"/>
              <a:t>研究结论</a:t>
            </a:r>
            <a:endParaRPr lang="zh-CN" altLang="en-US" b="1"/>
          </a:p>
        </p:txBody>
      </p:sp>
      <p:sp>
        <p:nvSpPr>
          <p:cNvPr id="8" name="椭圆 7"/>
          <p:cNvSpPr/>
          <p:nvPr/>
        </p:nvSpPr>
        <p:spPr>
          <a:xfrm>
            <a:off x="396875" y="990550"/>
            <a:ext cx="216000" cy="216000"/>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Content Placeholder 2"/>
          <p:cNvSpPr txBox="1"/>
          <p:nvPr/>
        </p:nvSpPr>
        <p:spPr>
          <a:xfrm>
            <a:off x="683260" y="1296670"/>
            <a:ext cx="10902315" cy="8223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fontAlgn="auto">
              <a:lnSpc>
                <a:spcPct val="130000"/>
              </a:lnSpc>
              <a:spcBef>
                <a:spcPts val="0"/>
              </a:spcBef>
              <a:buNone/>
              <a:defRPr/>
            </a:pPr>
            <a:r>
              <a:rPr lang="zh-CN" altLang="en-US" sz="1800" b="1" dirty="0">
                <a:solidFill>
                  <a:schemeClr val="tx1"/>
                </a:solidFill>
                <a:latin typeface="+mn-ea"/>
                <a:cs typeface="+mn-ea"/>
                <a:sym typeface="+mn-lt"/>
              </a:rPr>
              <a:t>农业跨国生产率差异大，部分源于工人在生存需求下的自选择；农业低生产率不一定是农业特有扭曲，可能反映整体经济效率问题。</a:t>
            </a:r>
            <a:endParaRPr lang="zh-CN" altLang="en-US" sz="1800" b="1" dirty="0">
              <a:solidFill>
                <a:schemeClr val="tx1"/>
              </a:solidFill>
              <a:latin typeface="+mn-ea"/>
              <a:cs typeface="+mn-ea"/>
              <a:sym typeface="+mn-lt"/>
            </a:endParaRPr>
          </a:p>
          <a:p>
            <a:pPr marL="0" indent="0" algn="l">
              <a:lnSpc>
                <a:spcPct val="150000"/>
              </a:lnSpc>
              <a:spcBef>
                <a:spcPts val="0"/>
              </a:spcBef>
              <a:buNone/>
              <a:defRPr/>
            </a:pPr>
            <a:endParaRPr lang="zh-CN" altLang="en-US" sz="1800" b="1" dirty="0">
              <a:solidFill>
                <a:schemeClr val="tx1"/>
              </a:solidFill>
              <a:latin typeface="+mn-ea"/>
              <a:cs typeface="+mn-ea"/>
              <a:sym typeface="+mn-lt"/>
            </a:endParaRPr>
          </a:p>
        </p:txBody>
      </p:sp>
      <p:sp>
        <p:nvSpPr>
          <p:cNvPr id="13" name="文本框 12"/>
          <p:cNvSpPr txBox="1"/>
          <p:nvPr/>
        </p:nvSpPr>
        <p:spPr>
          <a:xfrm>
            <a:off x="1504950" y="4544695"/>
            <a:ext cx="2301875" cy="337185"/>
          </a:xfrm>
          <a:prstGeom prst="rect">
            <a:avLst/>
          </a:prstGeom>
          <a:noFill/>
        </p:spPr>
        <p:txBody>
          <a:bodyPr wrap="square" rtlCol="0">
            <a:spAutoFit/>
          </a:bodyPr>
          <a:lstStyle/>
          <a:p>
            <a:pPr algn="l"/>
            <a:r>
              <a:rPr lang="zh-CN" altLang="en-US" sz="1600" b="1" dirty="0"/>
              <a:t>机制</a:t>
            </a:r>
            <a:r>
              <a:rPr lang="zh-CN" altLang="en-US" sz="1600" b="1" dirty="0"/>
              <a:t>回顾</a:t>
            </a:r>
            <a:endParaRPr lang="zh-CN" altLang="en-US" sz="1600" b="1" dirty="0"/>
          </a:p>
        </p:txBody>
      </p:sp>
      <p:sp>
        <p:nvSpPr>
          <p:cNvPr id="14" name="椭圆 13"/>
          <p:cNvSpPr/>
          <p:nvPr>
            <p:custDataLst>
              <p:tags r:id="rId2"/>
            </p:custDataLst>
          </p:nvPr>
        </p:nvSpPr>
        <p:spPr>
          <a:xfrm>
            <a:off x="1310640" y="4642485"/>
            <a:ext cx="144145" cy="142875"/>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892175" y="4785360"/>
            <a:ext cx="4625340" cy="1620520"/>
          </a:xfrm>
          <a:prstGeom prst="rect">
            <a:avLst/>
          </a:prstGeom>
          <a:noFill/>
        </p:spPr>
        <p:txBody>
          <a:bodyPr wrap="square">
            <a:spAutoFit/>
          </a:bodyPr>
          <a:lstStyle/>
          <a:p>
            <a:pPr marL="171450" indent="-171450" algn="l" fontAlgn="auto">
              <a:lnSpc>
                <a:spcPct val="150000"/>
              </a:lnSpc>
              <a:buFont typeface="Arial" panose="020B0604020202020204" pitchFamily="34" charset="0"/>
              <a:buChar char="•"/>
            </a:pPr>
            <a:r>
              <a:rPr lang="zh-CN" altLang="en-US" sz="1400" b="1" dirty="0">
                <a:solidFill>
                  <a:schemeClr val="tx1"/>
                </a:solidFill>
                <a:uFillTx/>
                <a:latin typeface="Times New Roman" panose="02020603050405020304" charset="0"/>
                <a:cs typeface="+mn-ea"/>
                <a:sym typeface="+mn-lt"/>
              </a:rPr>
              <a:t>穷国：</a:t>
            </a:r>
            <a:r>
              <a:rPr lang="zh-CN" altLang="en-US" sz="1400" dirty="0">
                <a:solidFill>
                  <a:schemeClr val="tx1"/>
                </a:solidFill>
                <a:uFillTx/>
                <a:latin typeface="Times New Roman" panose="02020603050405020304" charset="0"/>
                <a:cs typeface="+mn-ea"/>
                <a:sym typeface="+mn-lt"/>
              </a:rPr>
              <a:t>生存性食品需求 → 大量劳动力留在农业 → </a:t>
            </a:r>
            <a:endParaRPr lang="zh-CN" altLang="en-US" sz="1400" dirty="0">
              <a:solidFill>
                <a:schemeClr val="tx1"/>
              </a:solidFill>
              <a:uFillTx/>
              <a:latin typeface="Times New Roman" panose="02020603050405020304" charset="0"/>
              <a:cs typeface="+mn-ea"/>
              <a:sym typeface="+mn-lt"/>
            </a:endParaRPr>
          </a:p>
          <a:p>
            <a:pPr indent="0" algn="l" fontAlgn="auto">
              <a:lnSpc>
                <a:spcPct val="110000"/>
              </a:lnSpc>
              <a:buFont typeface="Arial" panose="020B0604020202020204" pitchFamily="34" charset="0"/>
              <a:buNone/>
            </a:pPr>
            <a:r>
              <a:rPr lang="en-US" altLang="zh-CN" sz="1400" dirty="0">
                <a:solidFill>
                  <a:schemeClr val="tx1"/>
                </a:solidFill>
                <a:uFillTx/>
                <a:latin typeface="Times New Roman" panose="02020603050405020304" charset="0"/>
                <a:cs typeface="+mn-ea"/>
                <a:sym typeface="+mn-lt"/>
              </a:rPr>
              <a:t>    </a:t>
            </a:r>
            <a:r>
              <a:rPr lang="zh-CN" altLang="en-US" sz="1400" b="1" dirty="0">
                <a:solidFill>
                  <a:schemeClr val="tx1"/>
                </a:solidFill>
                <a:uFillTx/>
                <a:latin typeface="Times New Roman" panose="02020603050405020304" charset="0"/>
                <a:cs typeface="+mn-ea"/>
                <a:sym typeface="+mn-lt"/>
              </a:rPr>
              <a:t>低 </a:t>
            </a:r>
            <a:r>
              <a:rPr lang="en-US" altLang="zh-CN" sz="1400" b="1" dirty="0">
                <a:solidFill>
                  <a:schemeClr val="tx1"/>
                </a:solidFill>
                <a:uFillTx/>
                <a:latin typeface="Times New Roman" panose="02020603050405020304" charset="0"/>
                <a:cs typeface="+mn-ea"/>
                <a:sym typeface="+mn-lt"/>
              </a:rPr>
              <a:t> z</a:t>
            </a:r>
            <a:r>
              <a:rPr lang="en-US" altLang="zh-CN" sz="1400" b="1" baseline="-25000" dirty="0">
                <a:solidFill>
                  <a:schemeClr val="tx1"/>
                </a:solidFill>
                <a:uFillTx/>
                <a:latin typeface="Times New Roman" panose="02020603050405020304" charset="0"/>
                <a:cs typeface="+mn-ea"/>
                <a:sym typeface="+mn-lt"/>
              </a:rPr>
              <a:t>a </a:t>
            </a:r>
            <a:r>
              <a:rPr lang="zh-CN" altLang="en-US" sz="1400" b="1" dirty="0">
                <a:solidFill>
                  <a:schemeClr val="tx1"/>
                </a:solidFill>
                <a:uFillTx/>
                <a:latin typeface="Times New Roman" panose="02020603050405020304" charset="0"/>
                <a:cs typeface="+mn-ea"/>
                <a:sym typeface="+mn-lt"/>
              </a:rPr>
              <a:t>工人</a:t>
            </a:r>
            <a:r>
              <a:rPr lang="zh-CN" altLang="en-US" sz="1400" dirty="0">
                <a:solidFill>
                  <a:schemeClr val="tx1"/>
                </a:solidFill>
                <a:uFillTx/>
                <a:latin typeface="Times New Roman" panose="02020603050405020304" charset="0"/>
                <a:cs typeface="+mn-ea"/>
                <a:sym typeface="+mn-lt"/>
              </a:rPr>
              <a:t>被迫务农 → 农业平均生产率低</a:t>
            </a:r>
            <a:endParaRPr lang="en-US" altLang="zh-CN" sz="1400" dirty="0">
              <a:solidFill>
                <a:schemeClr val="tx1"/>
              </a:solidFill>
              <a:uFillTx/>
              <a:latin typeface="Times New Roman" panose="02020603050405020304" charset="0"/>
              <a:cs typeface="+mn-ea"/>
              <a:sym typeface="+mn-lt"/>
            </a:endParaRPr>
          </a:p>
          <a:p>
            <a:pPr marL="171450" indent="-171450" algn="l" fontAlgn="auto">
              <a:lnSpc>
                <a:spcPct val="150000"/>
              </a:lnSpc>
              <a:buFont typeface="Arial" panose="020B0604020202020204" pitchFamily="34" charset="0"/>
              <a:buChar char="•"/>
            </a:pPr>
            <a:r>
              <a:rPr lang="zh-CN" altLang="en-US" sz="1400" b="1" dirty="0">
                <a:solidFill>
                  <a:schemeClr val="tx1"/>
                </a:solidFill>
                <a:uFillTx/>
                <a:latin typeface="Times New Roman" panose="02020603050405020304" charset="0"/>
                <a:cs typeface="+mn-ea"/>
                <a:sym typeface="+mn-lt"/>
              </a:rPr>
              <a:t>富国：</a:t>
            </a:r>
            <a:r>
              <a:rPr lang="zh-CN" altLang="en-US" sz="1400" dirty="0">
                <a:solidFill>
                  <a:schemeClr val="tx1"/>
                </a:solidFill>
                <a:uFillTx/>
                <a:latin typeface="Times New Roman" panose="02020603050405020304" charset="0"/>
                <a:cs typeface="+mn-ea"/>
                <a:sym typeface="+mn-lt"/>
              </a:rPr>
              <a:t>食品需求易满足 → 少数人务农 → </a:t>
            </a:r>
            <a:r>
              <a:rPr lang="zh-CN" altLang="en-US" sz="1400" b="1" dirty="0">
                <a:solidFill>
                  <a:schemeClr val="tx1"/>
                </a:solidFill>
                <a:uFillTx/>
                <a:latin typeface="Times New Roman" panose="02020603050405020304" charset="0"/>
                <a:cs typeface="+mn-ea"/>
                <a:sym typeface="+mn-lt"/>
              </a:rPr>
              <a:t>只高</a:t>
            </a:r>
            <a:r>
              <a:rPr lang="en-US" altLang="zh-CN" sz="1400" b="1" dirty="0">
                <a:solidFill>
                  <a:schemeClr val="tx1"/>
                </a:solidFill>
                <a:uFillTx/>
                <a:latin typeface="Times New Roman" panose="02020603050405020304" charset="0"/>
                <a:cs typeface="+mn-ea"/>
                <a:sym typeface="+mn-lt"/>
              </a:rPr>
              <a:t> z</a:t>
            </a:r>
            <a:r>
              <a:rPr lang="en-US" altLang="zh-CN" sz="1400" b="1" baseline="-25000" dirty="0">
                <a:solidFill>
                  <a:schemeClr val="tx1"/>
                </a:solidFill>
                <a:uFillTx/>
                <a:latin typeface="Times New Roman" panose="02020603050405020304" charset="0"/>
                <a:cs typeface="+mn-ea"/>
                <a:sym typeface="+mn-lt"/>
              </a:rPr>
              <a:t>a </a:t>
            </a:r>
            <a:r>
              <a:rPr lang="zh-CN" altLang="en-US" sz="1400" b="1" dirty="0">
                <a:solidFill>
                  <a:schemeClr val="tx1"/>
                </a:solidFill>
                <a:uFillTx/>
                <a:latin typeface="Times New Roman" panose="02020603050405020304" charset="0"/>
                <a:cs typeface="+mn-ea"/>
                <a:sym typeface="+mn-lt"/>
              </a:rPr>
              <a:t>工人</a:t>
            </a:r>
            <a:r>
              <a:rPr lang="zh-CN" altLang="en-US" sz="1400" dirty="0">
                <a:solidFill>
                  <a:schemeClr val="tx1"/>
                </a:solidFill>
                <a:uFillTx/>
                <a:latin typeface="Times New Roman" panose="02020603050405020304" charset="0"/>
                <a:cs typeface="+mn-ea"/>
                <a:sym typeface="+mn-lt"/>
              </a:rPr>
              <a:t>留下 → 农业平均生产率高</a:t>
            </a:r>
            <a:endParaRPr lang="en-US" altLang="zh-CN" sz="1400" dirty="0">
              <a:solidFill>
                <a:schemeClr val="tx1"/>
              </a:solidFill>
              <a:uFillTx/>
              <a:latin typeface="Times New Roman" panose="02020603050405020304" charset="0"/>
              <a:cs typeface="+mn-ea"/>
              <a:sym typeface="+mn-lt"/>
            </a:endParaRPr>
          </a:p>
          <a:p>
            <a:pPr marL="171450" indent="-171450" algn="l" fontAlgn="auto">
              <a:lnSpc>
                <a:spcPct val="150000"/>
              </a:lnSpc>
              <a:buFont typeface="Arial" panose="020B0604020202020204" pitchFamily="34" charset="0"/>
              <a:buChar char="•"/>
            </a:pPr>
            <a:r>
              <a:rPr lang="zh-CN" altLang="en-US" sz="1400" b="1" dirty="0">
                <a:solidFill>
                  <a:schemeClr val="tx1"/>
                </a:solidFill>
                <a:uFillTx/>
                <a:latin typeface="Times New Roman" panose="02020603050405020304" charset="0"/>
                <a:cs typeface="+mn-ea"/>
                <a:sym typeface="+mn-lt"/>
              </a:rPr>
              <a:t>选择机制</a:t>
            </a:r>
            <a:r>
              <a:rPr lang="zh-CN" altLang="en-US" sz="1400" dirty="0">
                <a:solidFill>
                  <a:schemeClr val="tx1"/>
                </a:solidFill>
                <a:uFillTx/>
                <a:latin typeface="Times New Roman" panose="02020603050405020304" charset="0"/>
                <a:cs typeface="+mn-ea"/>
                <a:sym typeface="+mn-lt"/>
              </a:rPr>
              <a:t>使</a:t>
            </a:r>
            <a:r>
              <a:rPr lang="zh-CN" altLang="en-US" sz="1400" b="1" dirty="0">
                <a:solidFill>
                  <a:schemeClr val="tx1"/>
                </a:solidFill>
                <a:uFillTx/>
                <a:latin typeface="Times New Roman" panose="02020603050405020304" charset="0"/>
                <a:cs typeface="+mn-ea"/>
                <a:sym typeface="+mn-lt"/>
              </a:rPr>
              <a:t>农业差异约为非农业的 2–3倍</a:t>
            </a:r>
            <a:endParaRPr lang="zh-CN" altLang="en-US" sz="1400" b="1" dirty="0">
              <a:solidFill>
                <a:schemeClr val="tx1"/>
              </a:solidFill>
              <a:uFillTx/>
              <a:latin typeface="Times New Roman" panose="02020603050405020304" charset="0"/>
              <a:cs typeface="+mn-ea"/>
              <a:sym typeface="+mn-lt"/>
            </a:endParaRPr>
          </a:p>
        </p:txBody>
      </p:sp>
      <p:sp>
        <p:nvSpPr>
          <p:cNvPr id="17" name="文本框 16"/>
          <p:cNvSpPr txBox="1"/>
          <p:nvPr/>
        </p:nvSpPr>
        <p:spPr>
          <a:xfrm>
            <a:off x="7517765" y="2515235"/>
            <a:ext cx="2301875" cy="337185"/>
          </a:xfrm>
          <a:prstGeom prst="rect">
            <a:avLst/>
          </a:prstGeom>
          <a:noFill/>
        </p:spPr>
        <p:txBody>
          <a:bodyPr wrap="square" rtlCol="0">
            <a:spAutoFit/>
          </a:bodyPr>
          <a:lstStyle/>
          <a:p>
            <a:pPr algn="l"/>
            <a:r>
              <a:rPr lang="zh-CN" altLang="en-US" sz="1600" b="1" dirty="0"/>
              <a:t>模型</a:t>
            </a:r>
            <a:endParaRPr lang="zh-CN" altLang="en-US" sz="1600" b="1" dirty="0"/>
          </a:p>
        </p:txBody>
      </p:sp>
      <p:sp>
        <p:nvSpPr>
          <p:cNvPr id="18" name="椭圆 17"/>
          <p:cNvSpPr/>
          <p:nvPr>
            <p:custDataLst>
              <p:tags r:id="rId3"/>
            </p:custDataLst>
          </p:nvPr>
        </p:nvSpPr>
        <p:spPr>
          <a:xfrm>
            <a:off x="7323455" y="2613025"/>
            <a:ext cx="144145" cy="142875"/>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nvSpPr>
        <p:spPr>
          <a:xfrm>
            <a:off x="7149465" y="2860040"/>
            <a:ext cx="3957320" cy="1060450"/>
          </a:xfrm>
          <a:prstGeom prst="rect">
            <a:avLst/>
          </a:prstGeom>
          <a:noFill/>
        </p:spPr>
        <p:txBody>
          <a:bodyPr wrap="square">
            <a:spAutoFit/>
          </a:bodyPr>
          <a:lstStyle/>
          <a:p>
            <a:pPr marL="171450" indent="-171450" algn="l" fontAlgn="auto">
              <a:lnSpc>
                <a:spcPct val="150000"/>
              </a:lnSpc>
              <a:buFont typeface="Arial" panose="020B0604020202020204" pitchFamily="34" charset="0"/>
              <a:buChar char="•"/>
            </a:pPr>
            <a:r>
              <a:rPr lang="zh-CN" altLang="en-US" sz="1400" dirty="0">
                <a:latin typeface="+mn-ea"/>
                <a:cs typeface="+mn-ea"/>
                <a:sym typeface="+mn-lt"/>
              </a:rPr>
              <a:t>包含两部门、工人异质性和生存性食品需求的一般均衡</a:t>
            </a:r>
            <a:r>
              <a:rPr lang="en-US" altLang="zh-CN" sz="1400" dirty="0">
                <a:latin typeface="+mn-ea"/>
                <a:cs typeface="+mn-ea"/>
                <a:sym typeface="+mn-lt"/>
              </a:rPr>
              <a:t>Roy</a:t>
            </a:r>
            <a:r>
              <a:rPr lang="zh-CN" altLang="en-US" sz="1400" dirty="0">
                <a:latin typeface="+mn-ea"/>
                <a:cs typeface="+mn-ea"/>
                <a:sym typeface="+mn-lt"/>
              </a:rPr>
              <a:t>模型</a:t>
            </a:r>
            <a:endParaRPr lang="zh-CN" altLang="en-US" sz="1400" dirty="0">
              <a:latin typeface="+mn-ea"/>
              <a:cs typeface="+mn-ea"/>
              <a:sym typeface="+mn-lt"/>
            </a:endParaRPr>
          </a:p>
          <a:p>
            <a:pPr marL="171450" indent="-171450" algn="l" fontAlgn="auto">
              <a:lnSpc>
                <a:spcPct val="150000"/>
              </a:lnSpc>
              <a:buFont typeface="Arial" panose="020B0604020202020204" pitchFamily="34" charset="0"/>
              <a:buChar char="•"/>
            </a:pPr>
            <a:r>
              <a:rPr lang="zh-CN" altLang="en-US" sz="1400" dirty="0">
                <a:latin typeface="+mn-ea"/>
                <a:cs typeface="+mn-ea"/>
                <a:sym typeface="+mn-lt"/>
              </a:rPr>
              <a:t>用美国工资分布数据校准模型</a:t>
            </a:r>
            <a:endParaRPr lang="zh-CN" altLang="en-US" sz="1400" dirty="0">
              <a:latin typeface="+mn-ea"/>
              <a:cs typeface="+mn-ea"/>
              <a:sym typeface="+mn-lt"/>
            </a:endParaRPr>
          </a:p>
        </p:txBody>
      </p:sp>
      <p:sp>
        <p:nvSpPr>
          <p:cNvPr id="21" name="文本框 20"/>
          <p:cNvSpPr txBox="1"/>
          <p:nvPr/>
        </p:nvSpPr>
        <p:spPr>
          <a:xfrm>
            <a:off x="7517765" y="4582795"/>
            <a:ext cx="2301875" cy="337185"/>
          </a:xfrm>
          <a:prstGeom prst="rect">
            <a:avLst/>
          </a:prstGeom>
          <a:noFill/>
        </p:spPr>
        <p:txBody>
          <a:bodyPr wrap="square" rtlCol="0">
            <a:spAutoFit/>
          </a:bodyPr>
          <a:lstStyle/>
          <a:p>
            <a:pPr algn="l"/>
            <a:r>
              <a:rPr lang="zh-CN" altLang="en-US" sz="1600" b="1" dirty="0"/>
              <a:t>政策含义</a:t>
            </a:r>
            <a:endParaRPr lang="zh-CN" altLang="en-US" sz="1600" b="1" dirty="0"/>
          </a:p>
        </p:txBody>
      </p:sp>
      <p:sp>
        <p:nvSpPr>
          <p:cNvPr id="24" name="椭圆 23"/>
          <p:cNvSpPr/>
          <p:nvPr>
            <p:custDataLst>
              <p:tags r:id="rId4"/>
            </p:custDataLst>
          </p:nvPr>
        </p:nvSpPr>
        <p:spPr>
          <a:xfrm>
            <a:off x="7323455" y="4680585"/>
            <a:ext cx="144145" cy="142875"/>
          </a:xfrm>
          <a:prstGeom prst="ellipse">
            <a:avLst/>
          </a:prstGeom>
          <a:solidFill>
            <a:schemeClr val="accent6"/>
          </a:solidFill>
          <a:ln>
            <a:solidFill>
              <a:schemeClr val="accent6"/>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文本框 25"/>
          <p:cNvSpPr txBox="1"/>
          <p:nvPr/>
        </p:nvSpPr>
        <p:spPr>
          <a:xfrm>
            <a:off x="7149465" y="4904740"/>
            <a:ext cx="3957320" cy="1383665"/>
          </a:xfrm>
          <a:prstGeom prst="rect">
            <a:avLst/>
          </a:prstGeom>
          <a:noFill/>
        </p:spPr>
        <p:txBody>
          <a:bodyPr wrap="square">
            <a:spAutoFit/>
          </a:bodyPr>
          <a:lstStyle/>
          <a:p>
            <a:pPr marL="171450" indent="-171450" algn="l" fontAlgn="auto">
              <a:lnSpc>
                <a:spcPct val="150000"/>
              </a:lnSpc>
              <a:buFont typeface="Arial" panose="020B0604020202020204" pitchFamily="34" charset="0"/>
              <a:buChar char="•"/>
            </a:pPr>
            <a:r>
              <a:rPr lang="zh-CN" altLang="en-US" sz="1400" dirty="0">
                <a:latin typeface="+mn-ea"/>
                <a:cs typeface="+mn-ea"/>
                <a:sym typeface="+mn-lt"/>
              </a:rPr>
              <a:t>农业低生产率不一定是农业特有扭曲的结果</a:t>
            </a:r>
            <a:endParaRPr lang="zh-CN" altLang="en-US" sz="1400" dirty="0">
              <a:latin typeface="+mn-ea"/>
              <a:cs typeface="+mn-ea"/>
              <a:sym typeface="+mn-lt"/>
            </a:endParaRPr>
          </a:p>
          <a:p>
            <a:pPr marL="171450" indent="-171450" algn="l" fontAlgn="auto">
              <a:lnSpc>
                <a:spcPct val="150000"/>
              </a:lnSpc>
              <a:buFont typeface="Arial" panose="020B0604020202020204" pitchFamily="34" charset="0"/>
              <a:buChar char="•"/>
            </a:pPr>
            <a:r>
              <a:rPr lang="zh-CN" altLang="en-US" sz="1400" dirty="0">
                <a:latin typeface="+mn-ea"/>
                <a:cs typeface="+mn-ea"/>
                <a:sym typeface="+mn-lt"/>
              </a:rPr>
              <a:t>可能反映整体经济效率低下：制度薄弱、产权保护不力、基础设施落后</a:t>
            </a:r>
            <a:endParaRPr lang="en-US" altLang="zh-CN" sz="1400" dirty="0">
              <a:latin typeface="+mn-ea"/>
              <a:cs typeface="+mn-ea"/>
              <a:sym typeface="+mn-lt"/>
            </a:endParaRPr>
          </a:p>
          <a:p>
            <a:pPr marL="171450" indent="-171450" algn="l" fontAlgn="auto">
              <a:lnSpc>
                <a:spcPct val="150000"/>
              </a:lnSpc>
              <a:buFont typeface="Arial" panose="020B0604020202020204" pitchFamily="34" charset="0"/>
              <a:buChar char="•"/>
            </a:pPr>
            <a:r>
              <a:rPr lang="zh-CN" altLang="en-US" sz="1400" dirty="0">
                <a:latin typeface="+mn-ea"/>
                <a:cs typeface="+mn-ea"/>
                <a:sym typeface="+mn-lt"/>
              </a:rPr>
              <a:t>改善整体制度</a:t>
            </a:r>
            <a:r>
              <a:rPr lang="en-US" altLang="zh-CN" sz="1400" dirty="0">
                <a:latin typeface="+mn-ea"/>
                <a:cs typeface="+mn-ea"/>
                <a:sym typeface="+mn-lt"/>
              </a:rPr>
              <a:t> </a:t>
            </a:r>
            <a:r>
              <a:rPr lang="zh-CN" altLang="en-US" sz="1400" dirty="0">
                <a:latin typeface="+mn-ea"/>
                <a:cs typeface="+mn-ea"/>
                <a:sym typeface="+mn-lt"/>
              </a:rPr>
              <a:t>比</a:t>
            </a:r>
            <a:r>
              <a:rPr lang="en-US" altLang="zh-CN" sz="1400" dirty="0">
                <a:latin typeface="+mn-ea"/>
                <a:cs typeface="+mn-ea"/>
                <a:sym typeface="+mn-lt"/>
              </a:rPr>
              <a:t> </a:t>
            </a:r>
            <a:r>
              <a:rPr lang="zh-CN" altLang="en-US" sz="1400" dirty="0">
                <a:latin typeface="+mn-ea"/>
                <a:cs typeface="+mn-ea"/>
                <a:sym typeface="+mn-lt"/>
              </a:rPr>
              <a:t>仅针对农业的扭曲</a:t>
            </a:r>
            <a:r>
              <a:rPr lang="en-US" altLang="zh-CN" sz="1400" dirty="0">
                <a:latin typeface="+mn-ea"/>
                <a:cs typeface="+mn-ea"/>
                <a:sym typeface="+mn-lt"/>
              </a:rPr>
              <a:t> </a:t>
            </a:r>
            <a:r>
              <a:rPr lang="zh-CN" altLang="en-US" sz="1400" dirty="0">
                <a:latin typeface="+mn-ea"/>
                <a:cs typeface="+mn-ea"/>
                <a:sym typeface="+mn-lt"/>
              </a:rPr>
              <a:t>更根本</a:t>
            </a:r>
            <a:endParaRPr lang="zh-CN" altLang="en-US" sz="1400" dirty="0">
              <a:latin typeface="+mn-ea"/>
              <a:cs typeface="+mn-ea"/>
              <a:sym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0"/>
            <a:ext cx="12192000" cy="682371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5" name="直接连接符 24"/>
          <p:cNvCxnSpPr/>
          <p:nvPr/>
        </p:nvCxnSpPr>
        <p:spPr>
          <a:xfrm flipH="1">
            <a:off x="8240395" y="1443355"/>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flipH="1">
            <a:off x="8240395" y="1506220"/>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flipV="1">
            <a:off x="-9525" y="4906010"/>
            <a:ext cx="3952875" cy="0"/>
          </a:xfrm>
          <a:prstGeom prst="line">
            <a:avLst/>
          </a:prstGeom>
          <a:solidFill>
            <a:srgbClr val="9B0000"/>
          </a:solidFill>
          <a:ln>
            <a:gradFill>
              <a:gsLst>
                <a:gs pos="0">
                  <a:schemeClr val="accent6"/>
                </a:gs>
                <a:gs pos="50000">
                  <a:schemeClr val="accent6"/>
                </a:gs>
                <a:gs pos="100000">
                  <a:schemeClr val="bg1">
                    <a:alpha val="5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flipV="1">
            <a:off x="2649855" y="4686935"/>
            <a:ext cx="1293495" cy="156210"/>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319530" y="2061210"/>
            <a:ext cx="9544050" cy="2143125"/>
          </a:xfrm>
          <a:prstGeom prst="rect">
            <a:avLst/>
          </a:prstGeom>
          <a:noFill/>
        </p:spPr>
        <p:txBody>
          <a:bodyPr wrap="square" rtlCol="0">
            <a:spAutoFit/>
          </a:bodyPr>
          <a:lstStyle/>
          <a:p>
            <a:pPr indent="0" algn="ctr" fontAlgn="auto">
              <a:lnSpc>
                <a:spcPts val="8000"/>
              </a:lnSpc>
            </a:pPr>
            <a:r>
              <a:rPr lang="zh-CN" altLang="en-US" sz="5400" dirty="0">
                <a:latin typeface="方正小标宋简体" panose="02000000000000000000" charset="-122"/>
                <a:ea typeface="方正小标宋简体" panose="02000000000000000000" charset="-122"/>
              </a:rPr>
              <a:t>汇报完毕</a:t>
            </a:r>
            <a:endParaRPr lang="zh-CN" altLang="en-US" sz="5400" dirty="0">
              <a:latin typeface="方正小标宋简体" panose="02000000000000000000" charset="-122"/>
              <a:ea typeface="方正小标宋简体" panose="02000000000000000000" charset="-122"/>
            </a:endParaRPr>
          </a:p>
          <a:p>
            <a:pPr indent="0" algn="ctr" fontAlgn="auto">
              <a:lnSpc>
                <a:spcPts val="8000"/>
              </a:lnSpc>
            </a:pPr>
            <a:r>
              <a:rPr lang="zh-CN" altLang="en-US" sz="5400" dirty="0">
                <a:latin typeface="方正小标宋简体" panose="02000000000000000000" charset="-122"/>
                <a:ea typeface="方正小标宋简体" panose="02000000000000000000" charset="-122"/>
              </a:rPr>
              <a:t>不足之处敬请</a:t>
            </a:r>
            <a:r>
              <a:rPr lang="zh-CN" altLang="en-US" sz="5400" dirty="0">
                <a:latin typeface="方正小标宋简体" panose="02000000000000000000" charset="-122"/>
                <a:ea typeface="方正小标宋简体" panose="02000000000000000000" charset="-122"/>
              </a:rPr>
              <a:t>大家批评指正！</a:t>
            </a:r>
            <a:endParaRPr lang="zh-CN" altLang="en-US" sz="5400" dirty="0">
              <a:latin typeface="方正小标宋简体" panose="02000000000000000000" charset="-122"/>
              <a:ea typeface="方正小标宋简体" panose="02000000000000000000" charset="-122"/>
            </a:endParaRPr>
          </a:p>
        </p:txBody>
      </p:sp>
      <p:grpSp>
        <p:nvGrpSpPr>
          <p:cNvPr id="3" name="组合 2"/>
          <p:cNvGrpSpPr/>
          <p:nvPr/>
        </p:nvGrpSpPr>
        <p:grpSpPr>
          <a:xfrm>
            <a:off x="0" y="5507990"/>
            <a:ext cx="12195175" cy="1362075"/>
            <a:chOff x="0" y="5507990"/>
            <a:chExt cx="12195175" cy="1362075"/>
          </a:xfrm>
        </p:grpSpPr>
        <p:sp>
          <p:nvSpPr>
            <p:cNvPr id="8" name="任意多边形 688"/>
            <p:cNvSpPr/>
            <p:nvPr/>
          </p:nvSpPr>
          <p:spPr>
            <a:xfrm>
              <a:off x="3175" y="5507990"/>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任意多边形 687"/>
            <p:cNvSpPr/>
            <p:nvPr/>
          </p:nvSpPr>
          <p:spPr>
            <a:xfrm>
              <a:off x="0" y="555180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2">
                <a:lumMod val="20000"/>
                <a:lumOff val="80000"/>
              </a:schemeClr>
            </a:solidFill>
            <a:ln>
              <a:noFill/>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任意多边形 682"/>
            <p:cNvSpPr/>
            <p:nvPr/>
          </p:nvSpPr>
          <p:spPr>
            <a:xfrm>
              <a:off x="0" y="5584825"/>
              <a:ext cx="12192000" cy="124333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alpha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任意多边形 689"/>
            <p:cNvSpPr/>
            <p:nvPr/>
          </p:nvSpPr>
          <p:spPr>
            <a:xfrm>
              <a:off x="1270" y="5645785"/>
              <a:ext cx="12192000" cy="1224280"/>
            </a:xfrm>
            <a:custGeom>
              <a:avLst/>
              <a:gdLst/>
              <a:ahLst/>
              <a:cxnLst>
                <a:cxn ang="3">
                  <a:pos x="hc" y="t"/>
                </a:cxn>
                <a:cxn ang="cd2">
                  <a:pos x="l" y="vc"/>
                </a:cxn>
                <a:cxn ang="cd4">
                  <a:pos x="hc" y="b"/>
                </a:cxn>
                <a:cxn ang="0">
                  <a:pos x="r" y="vc"/>
                </a:cxn>
              </a:cxnLst>
              <a:rect l="l" t="t" r="r" b="b"/>
              <a:pathLst>
                <a:path w="19200" h="1958">
                  <a:moveTo>
                    <a:pt x="0" y="1958"/>
                  </a:moveTo>
                  <a:lnTo>
                    <a:pt x="0" y="1037"/>
                  </a:lnTo>
                  <a:cubicBezTo>
                    <a:pt x="159" y="1081"/>
                    <a:pt x="641" y="1121"/>
                    <a:pt x="855" y="1120"/>
                  </a:cubicBezTo>
                  <a:lnTo>
                    <a:pt x="867" y="1120"/>
                  </a:lnTo>
                  <a:lnTo>
                    <a:pt x="880" y="1120"/>
                  </a:lnTo>
                  <a:lnTo>
                    <a:pt x="894" y="1120"/>
                  </a:lnTo>
                  <a:lnTo>
                    <a:pt x="907" y="1119"/>
                  </a:lnTo>
                  <a:cubicBezTo>
                    <a:pt x="919" y="1120"/>
                    <a:pt x="942" y="1120"/>
                    <a:pt x="945" y="1120"/>
                  </a:cubicBezTo>
                  <a:cubicBezTo>
                    <a:pt x="1074" y="1120"/>
                    <a:pt x="1275" y="1111"/>
                    <a:pt x="1319" y="1108"/>
                  </a:cubicBezTo>
                  <a:lnTo>
                    <a:pt x="8140" y="708"/>
                  </a:lnTo>
                  <a:lnTo>
                    <a:pt x="8188" y="705"/>
                  </a:lnTo>
                  <a:lnTo>
                    <a:pt x="8236" y="704"/>
                  </a:lnTo>
                  <a:lnTo>
                    <a:pt x="8284" y="703"/>
                  </a:lnTo>
                  <a:lnTo>
                    <a:pt x="8331" y="703"/>
                  </a:lnTo>
                  <a:cubicBezTo>
                    <a:pt x="9270" y="695"/>
                    <a:pt x="10076" y="1264"/>
                    <a:pt x="10088" y="1446"/>
                  </a:cubicBezTo>
                  <a:lnTo>
                    <a:pt x="10088" y="1450"/>
                  </a:lnTo>
                  <a:lnTo>
                    <a:pt x="10089" y="1463"/>
                  </a:lnTo>
                  <a:lnTo>
                    <a:pt x="10089" y="1465"/>
                  </a:lnTo>
                  <a:lnTo>
                    <a:pt x="10089" y="1466"/>
                  </a:lnTo>
                  <a:lnTo>
                    <a:pt x="10089" y="1477"/>
                  </a:lnTo>
                  <a:lnTo>
                    <a:pt x="10090" y="1467"/>
                  </a:lnTo>
                  <a:lnTo>
                    <a:pt x="10090" y="1457"/>
                  </a:lnTo>
                  <a:lnTo>
                    <a:pt x="10088" y="1447"/>
                  </a:lnTo>
                  <a:lnTo>
                    <a:pt x="10088" y="1446"/>
                  </a:lnTo>
                  <a:lnTo>
                    <a:pt x="10088" y="1435"/>
                  </a:lnTo>
                  <a:cubicBezTo>
                    <a:pt x="10068" y="1129"/>
                    <a:pt x="11108" y="483"/>
                    <a:pt x="11830" y="491"/>
                  </a:cubicBezTo>
                  <a:lnTo>
                    <a:pt x="18333" y="110"/>
                  </a:lnTo>
                  <a:cubicBezTo>
                    <a:pt x="18639" y="99"/>
                    <a:pt x="19043" y="35"/>
                    <a:pt x="19200" y="0"/>
                  </a:cubicBezTo>
                  <a:lnTo>
                    <a:pt x="19200" y="1958"/>
                  </a:lnTo>
                  <a:lnTo>
                    <a:pt x="0" y="1958"/>
                  </a:lnTo>
                  <a:close/>
                </a:path>
              </a:pathLst>
            </a:custGeom>
            <a:solidFill>
              <a:schemeClr val="accent6"/>
            </a:solidFill>
            <a:ln>
              <a:solidFill>
                <a:schemeClr val="accent6"/>
              </a:solidFill>
            </a:ln>
            <a:effectLst>
              <a:outerShdw blurRad="50800" dist="38100" dir="13500000" algn="b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pic>
        <p:nvPicPr>
          <p:cNvPr id="4" name="图片 3" descr="03校标，中、英文校名组合"/>
          <p:cNvPicPr>
            <a:picLocks noChangeAspect="1"/>
          </p:cNvPicPr>
          <p:nvPr userDrawn="1"/>
        </p:nvPicPr>
        <p:blipFill>
          <a:blip r:embed="rId1"/>
          <a:stretch>
            <a:fillRect/>
          </a:stretch>
        </p:blipFill>
        <p:spPr>
          <a:xfrm>
            <a:off x="260350" y="137160"/>
            <a:ext cx="2588895" cy="823595"/>
          </a:xfrm>
          <a:prstGeom prst="rect">
            <a:avLst/>
          </a:prstGeom>
        </p:spPr>
      </p:pic>
      <p:sp>
        <p:nvSpPr>
          <p:cNvPr id="5" name="文本框 3"/>
          <p:cNvSpPr txBox="1"/>
          <p:nvPr/>
        </p:nvSpPr>
        <p:spPr>
          <a:xfrm>
            <a:off x="3127375" y="342809"/>
            <a:ext cx="3867785" cy="5835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6"/>
                </a:solidFill>
                <a:latin typeface="华文行楷" panose="02010800040101010101" charset="-122"/>
                <a:ea typeface="华文行楷" panose="02010800040101010101" charset="-122"/>
              </a:rPr>
              <a:t>诚朴雄伟</a:t>
            </a:r>
            <a:r>
              <a:rPr lang="en-US" altLang="zh-CN" sz="3200" dirty="0">
                <a:solidFill>
                  <a:schemeClr val="accent6"/>
                </a:solidFill>
                <a:latin typeface="华文行楷" panose="02010800040101010101" charset="-122"/>
                <a:ea typeface="华文行楷" panose="02010800040101010101" charset="-122"/>
              </a:rPr>
              <a:t> </a:t>
            </a:r>
            <a:r>
              <a:rPr lang="zh-CN" altLang="en-US" sz="3200" dirty="0">
                <a:solidFill>
                  <a:schemeClr val="accent6"/>
                </a:solidFill>
                <a:latin typeface="华文行楷" panose="02010800040101010101" charset="-122"/>
                <a:ea typeface="华文行楷" panose="02010800040101010101" charset="-122"/>
              </a:rPr>
              <a:t>励学敦</a:t>
            </a:r>
            <a:r>
              <a:rPr lang="zh-CN" altLang="en-US" sz="3200" dirty="0">
                <a:solidFill>
                  <a:schemeClr val="accent6"/>
                </a:solidFill>
                <a:latin typeface="华文行楷" panose="02010800040101010101" charset="-122"/>
                <a:ea typeface="华文行楷" panose="02010800040101010101" charset="-122"/>
              </a:rPr>
              <a:t>行</a:t>
            </a:r>
            <a:endParaRPr lang="zh-CN" altLang="en-US" sz="3200" dirty="0">
              <a:solidFill>
                <a:schemeClr val="accent6"/>
              </a:solidFill>
              <a:latin typeface="华文行楷" panose="02010800040101010101" charset="-122"/>
              <a:ea typeface="华文行楷" panose="02010800040101010101" charset="-122"/>
            </a:endParaRPr>
          </a:p>
        </p:txBody>
      </p:sp>
    </p:spTree>
  </p:cSld>
  <p:clrMapOvr>
    <a:masterClrMapping/>
  </p:clrMapOvr>
</p:sld>
</file>

<file path=ppt/tags/tag1.xml><?xml version="1.0" encoding="utf-8"?>
<p:tagLst xmlns:p="http://schemas.openxmlformats.org/presentationml/2006/main">
  <p:tag name="ADJUSTMENTS" val="32.26783"/>
</p:tagLst>
</file>

<file path=ppt/tags/tag2.xml><?xml version="1.0" encoding="utf-8"?>
<p:tagLst xmlns:p="http://schemas.openxmlformats.org/presentationml/2006/main">
  <p:tag name="ADJUSTMENTS" val="27.42858"/>
</p:tagLst>
</file>

<file path=ppt/tags/tag3.xml><?xml version="1.0" encoding="utf-8"?>
<p:tagLst xmlns:p="http://schemas.openxmlformats.org/presentationml/2006/main">
  <p:tag name="ADJUSTMENTS" val="32.26783"/>
</p:tagLst>
</file>

<file path=ppt/tags/tag4.xml><?xml version="1.0" encoding="utf-8"?>
<p:tagLst xmlns:p="http://schemas.openxmlformats.org/presentationml/2006/main">
  <p:tag name="ADJUSTMENTS" val="27.42858"/>
</p:tagLst>
</file>

<file path=ppt/tags/tag5.xml><?xml version="1.0" encoding="utf-8"?>
<p:tagLst xmlns:p="http://schemas.openxmlformats.org/presentationml/2006/main">
  <p:tag name="ADJUSTMENTS" val="32.26783"/>
</p:tagLst>
</file>

<file path=ppt/tags/tag6.xml><?xml version="1.0" encoding="utf-8"?>
<p:tagLst xmlns:p="http://schemas.openxmlformats.org/presentationml/2006/main">
  <p:tag name="ADJUSTMENTS" val="27.42858"/>
</p:tagLst>
</file>

<file path=ppt/tags/tag7.xml><?xml version="1.0" encoding="utf-8"?>
<p:tagLst xmlns:p="http://schemas.openxmlformats.org/presentationml/2006/main">
  <p:tag name="ADJUSTMENTS" val="32.26783"/>
</p:tagLst>
</file>

<file path=ppt/tags/tag8.xml><?xml version="1.0" encoding="utf-8"?>
<p:tagLst xmlns:p="http://schemas.openxmlformats.org/presentationml/2006/main">
  <p:tag name="ADJUSTMENTS" val="27.42858"/>
</p:tagLst>
</file>

<file path=ppt/tags/tag9.xml><?xml version="1.0" encoding="utf-8"?>
<p:tagLst xmlns:p="http://schemas.openxmlformats.org/presentationml/2006/main">
  <p:tag name="ADJUSTMENTS" val="32.26783"/>
</p:tagLst>
</file>

<file path=ppt/tags/tag10.xml><?xml version="1.0" encoding="utf-8"?>
<p:tagLst xmlns:p="http://schemas.openxmlformats.org/presentationml/2006/main">
  <p:tag name="ADJUSTMENTS" val="27.42858"/>
</p:tagLst>
</file>

<file path=ppt/tags/tag11.xml><?xml version="1.0" encoding="utf-8"?>
<p:tagLst xmlns:p="http://schemas.openxmlformats.org/presentationml/2006/main">
  <p:tag name="ADJUSTMENTS" val="32.26783"/>
</p:tagLst>
</file>

<file path=ppt/tags/tag12.xml><?xml version="1.0" encoding="utf-8"?>
<p:tagLst xmlns:p="http://schemas.openxmlformats.org/presentationml/2006/main">
  <p:tag name="ADJUSTMENTS" val="27.42858"/>
</p:tagLst>
</file>

<file path=ppt/tags/tag13.xml><?xml version="1.0" encoding="utf-8"?>
<p:tagLst xmlns:p="http://schemas.openxmlformats.org/presentationml/2006/main">
  <p:tag name="KSO_WM_DIAGRAM_VIRTUALLY_FRAME" val="{&quot;height&quot;:46,&quot;left&quot;:64.9,&quot;top&quot;:385.7,&quot;width&quot;:823.15}"/>
</p:tagLst>
</file>

<file path=ppt/tags/tag14.xml><?xml version="1.0" encoding="utf-8"?>
<p:tagLst xmlns:p="http://schemas.openxmlformats.org/presentationml/2006/main">
  <p:tag name="KSO_WM_DIAGRAM_VIRTUALLY_FRAME" val="{&quot;height&quot;:46,&quot;left&quot;:64.9,&quot;top&quot;:385.7,&quot;width&quot;:823.15}"/>
</p:tagLst>
</file>

<file path=ppt/tags/tag15.xml><?xml version="1.0" encoding="utf-8"?>
<p:tagLst xmlns:p="http://schemas.openxmlformats.org/presentationml/2006/main">
  <p:tag name="KSO_WM_DIAGRAM_VIRTUALLY_FRAME" val="{&quot;height&quot;:46,&quot;left&quot;:64.9,&quot;top&quot;:385.7,&quot;width&quot;:823.15}"/>
</p:tagLst>
</file>

<file path=ppt/tags/tag16.xml><?xml version="1.0" encoding="utf-8"?>
<p:tagLst xmlns:p="http://schemas.openxmlformats.org/presentationml/2006/main">
  <p:tag name="KSO_WM_DIAGRAM_VIRTUALLY_FRAME" val="{&quot;height&quot;:46,&quot;left&quot;:64.9,&quot;top&quot;:385.7,&quot;width&quot;:823.15}"/>
</p:tagLst>
</file>

<file path=ppt/tags/tag17.xml><?xml version="1.0" encoding="utf-8"?>
<p:tagLst xmlns:p="http://schemas.openxmlformats.org/presentationml/2006/main">
  <p:tag name="KSO_WM_DIAGRAM_VIRTUALLY_FRAME" val="{&quot;height&quot;:46,&quot;left&quot;:64.9,&quot;top&quot;:385.7,&quot;width&quot;:823.15}"/>
</p:tagLst>
</file>

<file path=ppt/tags/tag18.xml><?xml version="1.0" encoding="utf-8"?>
<p:tagLst xmlns:p="http://schemas.openxmlformats.org/presentationml/2006/main">
  <p:tag name="KSO_WM_DIAGRAM_VIRTUALLY_FRAME" val="{&quot;height&quot;:46,&quot;left&quot;:64.9,&quot;top&quot;:385.7,&quot;width&quot;:823.15}"/>
</p:tagLst>
</file>

<file path=ppt/tags/tag19.xml><?xml version="1.0" encoding="utf-8"?>
<p:tagLst xmlns:p="http://schemas.openxmlformats.org/presentationml/2006/main">
  <p:tag name="KSO_WM_DIAGRAM_VIRTUALLY_FRAME" val="{&quot;height&quot;:409.7,&quot;left&quot;:123.7,&quot;top&quot;:108.85,&quot;width&quot;:722.25}"/>
</p:tagLst>
</file>

<file path=ppt/tags/tag20.xml><?xml version="1.0" encoding="utf-8"?>
<p:tagLst xmlns:p="http://schemas.openxmlformats.org/presentationml/2006/main">
  <p:tag name="KSO_WM_DIAGRAM_VIRTUALLY_FRAME" val="{&quot;height&quot;:409.7,&quot;left&quot;:123.7,&quot;top&quot;:108.85,&quot;width&quot;:722.25}"/>
</p:tagLst>
</file>

<file path=ppt/tags/tag21.xml><?xml version="1.0" encoding="utf-8"?>
<p:tagLst xmlns:p="http://schemas.openxmlformats.org/presentationml/2006/main">
  <p:tag name="KSO_WM_DIAGRAM_VIRTUALLY_FRAME" val="{&quot;height&quot;:409.7,&quot;left&quot;:123.7,&quot;top&quot;:108.85,&quot;width&quot;:722.25}"/>
</p:tagLst>
</file>

<file path=ppt/tags/tag22.xml><?xml version="1.0" encoding="utf-8"?>
<p:tagLst xmlns:p="http://schemas.openxmlformats.org/presentationml/2006/main">
  <p:tag name="KSO_WM_DIAGRAM_VIRTUALLY_FRAME" val="{&quot;height&quot;:409.7,&quot;left&quot;:123.7,&quot;top&quot;:108.85,&quot;width&quot;:722.25}"/>
</p:tagLst>
</file>

<file path=ppt/tags/tag23.xml><?xml version="1.0" encoding="utf-8"?>
<p:tagLst xmlns:p="http://schemas.openxmlformats.org/presentationml/2006/main">
  <p:tag name="KSO_WM_DIAGRAM_VIRTUALLY_FRAME" val="{&quot;height&quot;:409.7,&quot;left&quot;:123.7,&quot;top&quot;:108.85,&quot;width&quot;:722.25}"/>
</p:tagLst>
</file>

<file path=ppt/tags/tag24.xml><?xml version="1.0" encoding="utf-8"?>
<p:tagLst xmlns:p="http://schemas.openxmlformats.org/presentationml/2006/main">
  <p:tag name="KSO_WM_DIAGRAM_VIRTUALLY_FRAME" val="{&quot;height&quot;:409.7,&quot;left&quot;:123.7,&quot;top&quot;:108.85,&quot;width&quot;:722.25}"/>
</p:tagLst>
</file>

<file path=ppt/tags/tag25.xml><?xml version="1.0" encoding="utf-8"?>
<p:tagLst xmlns:p="http://schemas.openxmlformats.org/presentationml/2006/main">
  <p:tag name="KSO_WM_DIAGRAM_VIRTUALLY_FRAME" val="{&quot;height&quot;:409.7,&quot;left&quot;:123.7,&quot;top&quot;:108.85,&quot;width&quot;:722.25}"/>
</p:tagLst>
</file>

<file path=ppt/tags/tag26.xml><?xml version="1.0" encoding="utf-8"?>
<p:tagLst xmlns:p="http://schemas.openxmlformats.org/presentationml/2006/main">
  <p:tag name="KSO_WM_DIAGRAM_VIRTUALLY_FRAME" val="{&quot;height&quot;:409.7,&quot;left&quot;:123.7,&quot;top&quot;:108.85,&quot;width&quot;:722.25}"/>
</p:tagLst>
</file>

<file path=ppt/tags/tag27.xml><?xml version="1.0" encoding="utf-8"?>
<p:tagLst xmlns:p="http://schemas.openxmlformats.org/presentationml/2006/main">
  <p:tag name="KSO_WM_DIAGRAM_VIRTUALLY_FRAME" val="{&quot;height&quot;:409.7,&quot;left&quot;:123.7,&quot;top&quot;:108.85,&quot;width&quot;:722.25}"/>
</p:tagLst>
</file>

<file path=ppt/tags/tag28.xml><?xml version="1.0" encoding="utf-8"?>
<p:tagLst xmlns:p="http://schemas.openxmlformats.org/presentationml/2006/main">
  <p:tag name="KSO_WM_DIAGRAM_VIRTUALLY_FRAME" val="{&quot;height&quot;:409.7,&quot;left&quot;:123.7,&quot;top&quot;:108.85,&quot;width&quot;:722.25}"/>
</p:tagLst>
</file>

<file path=ppt/tags/tag29.xml><?xml version="1.0" encoding="utf-8"?>
<p:tagLst xmlns:p="http://schemas.openxmlformats.org/presentationml/2006/main">
  <p:tag name="KSO_WM_DIAGRAM_VIRTUALLY_FRAME" val="{&quot;height&quot;:409.7,&quot;left&quot;:123.7,&quot;top&quot;:108.85,&quot;width&quot;:722.25}"/>
</p:tagLst>
</file>

<file path=ppt/tags/tag30.xml><?xml version="1.0" encoding="utf-8"?>
<p:tagLst xmlns:p="http://schemas.openxmlformats.org/presentationml/2006/main">
  <p:tag name="KSO_WM_DIAGRAM_VIRTUALLY_FRAME" val="{&quot;height&quot;:409.7,&quot;left&quot;:123.7,&quot;top&quot;:108.85,&quot;width&quot;:722.25}"/>
</p:tagLst>
</file>

<file path=ppt/tags/tag31.xml><?xml version="1.0" encoding="utf-8"?>
<p:tagLst xmlns:p="http://schemas.openxmlformats.org/presentationml/2006/main">
  <p:tag name="KSO_WM_DIAGRAM_VIRTUALLY_FRAME" val="{&quot;height&quot;:409.7,&quot;left&quot;:123.7,&quot;top&quot;:108.85,&quot;width&quot;:722.25}"/>
</p:tagLst>
</file>

<file path=ppt/tags/tag32.xml><?xml version="1.0" encoding="utf-8"?>
<p:tagLst xmlns:p="http://schemas.openxmlformats.org/presentationml/2006/main">
  <p:tag name="KSO_WM_DIAGRAM_VIRTUALLY_FRAME" val="{&quot;height&quot;:409.7,&quot;left&quot;:123.7,&quot;top&quot;:108.85,&quot;width&quot;:722.25}"/>
</p:tagLst>
</file>

<file path=ppt/tags/tag33.xml><?xml version="1.0" encoding="utf-8"?>
<p:tagLst xmlns:p="http://schemas.openxmlformats.org/presentationml/2006/main">
  <p:tag name="KSO_WM_DIAGRAM_VIRTUALLY_FRAME" val="{&quot;height&quot;:409.7,&quot;left&quot;:123.7,&quot;top&quot;:108.85,&quot;width&quot;:722.25}"/>
</p:tagLst>
</file>

<file path=ppt/tags/tag34.xml><?xml version="1.0" encoding="utf-8"?>
<p:tagLst xmlns:p="http://schemas.openxmlformats.org/presentationml/2006/main">
  <p:tag name="KSO_WM_DIAGRAM_VIRTUALLY_FRAME" val="{&quot;height&quot;:409.7,&quot;left&quot;:123.7,&quot;top&quot;:108.85,&quot;width&quot;:722.25}"/>
</p:tagLst>
</file>

<file path=ppt/tags/tag35.xml><?xml version="1.0" encoding="utf-8"?>
<p:tagLst xmlns:p="http://schemas.openxmlformats.org/presentationml/2006/main">
  <p:tag name="KSO_WM_DIAGRAM_VIRTUALLY_FRAME" val="{&quot;height&quot;:409.7,&quot;left&quot;:123.7,&quot;top&quot;:108.85,&quot;width&quot;:722.25}"/>
</p:tagLst>
</file>

<file path=ppt/tags/tag36.xml><?xml version="1.0" encoding="utf-8"?>
<p:tagLst xmlns:p="http://schemas.openxmlformats.org/presentationml/2006/main">
  <p:tag name="KSO_WM_DIAGRAM_VIRTUALLY_FRAME" val="{&quot;height&quot;:409.7,&quot;left&quot;:123.7,&quot;top&quot;:108.85,&quot;width&quot;:722.25}"/>
</p:tagLst>
</file>

<file path=ppt/tags/tag37.xml><?xml version="1.0" encoding="utf-8"?>
<p:tagLst xmlns:p="http://schemas.openxmlformats.org/presentationml/2006/main">
  <p:tag name="KSO_WM_DIAGRAM_VIRTUALLY_FRAME" val="{&quot;height&quot;:409.7,&quot;left&quot;:123.7,&quot;top&quot;:108.85,&quot;width&quot;:722.25}"/>
</p:tagLst>
</file>

<file path=ppt/tags/tag38.xml><?xml version="1.0" encoding="utf-8"?>
<p:tagLst xmlns:p="http://schemas.openxmlformats.org/presentationml/2006/main">
  <p:tag name="KSO_WM_DIAGRAM_VIRTUALLY_FRAME" val="{&quot;height&quot;:409.7,&quot;left&quot;:123.7,&quot;top&quot;:108.85,&quot;width&quot;:722.25}"/>
</p:tagLst>
</file>

<file path=ppt/tags/tag39.xml><?xml version="1.0" encoding="utf-8"?>
<p:tagLst xmlns:p="http://schemas.openxmlformats.org/presentationml/2006/main">
  <p:tag name="KSO_WM_DIAGRAM_VIRTUALLY_FRAME" val="{&quot;height&quot;:188.58590551181098,&quot;left&quot;:10.4,&quot;top&quot;:125.9796062992126,&quot;width&quot;:904.75}"/>
</p:tagLst>
</file>

<file path=ppt/tags/tag40.xml><?xml version="1.0" encoding="utf-8"?>
<p:tagLst xmlns:p="http://schemas.openxmlformats.org/presentationml/2006/main">
  <p:tag name="KSO_WM_DIAGRAM_VIRTUALLY_FRAME" val="{&quot;height&quot;:188.58590551181098,&quot;left&quot;:10.4,&quot;top&quot;:125.9796062992126,&quot;width&quot;:904.75}"/>
</p:tagLst>
</file>

<file path=ppt/tags/tag41.xml><?xml version="1.0" encoding="utf-8"?>
<p:tagLst xmlns:p="http://schemas.openxmlformats.org/presentationml/2006/main">
  <p:tag name="KSO_WM_DIAGRAM_VIRTUALLY_FRAME" val="{&quot;height&quot;:188.58590551181098,&quot;left&quot;:10.4,&quot;top&quot;:125.9796062992126,&quot;width&quot;:904.75}"/>
</p:tagLst>
</file>

<file path=ppt/tags/tag42.xml><?xml version="1.0" encoding="utf-8"?>
<p:tagLst xmlns:p="http://schemas.openxmlformats.org/presentationml/2006/main">
  <p:tag name="KSO_WM_DIAGRAM_VIRTUALLY_FRAME" val="{&quot;height&quot;:188.58590551181098,&quot;left&quot;:10.4,&quot;top&quot;:125.9796062992126,&quot;width&quot;:904.75}"/>
</p:tagLst>
</file>

<file path=ppt/tags/tag43.xml><?xml version="1.0" encoding="utf-8"?>
<p:tagLst xmlns:p="http://schemas.openxmlformats.org/presentationml/2006/main">
  <p:tag name="KSO_WM_DIAGRAM_VIRTUALLY_FRAME" val="{&quot;height&quot;:188.58590551181098,&quot;left&quot;:10.4,&quot;top&quot;:125.9796062992126,&quot;width&quot;:904.75}"/>
</p:tagLst>
</file>

<file path=ppt/tags/tag44.xml><?xml version="1.0" encoding="utf-8"?>
<p:tagLst xmlns:p="http://schemas.openxmlformats.org/presentationml/2006/main">
  <p:tag name="KSO_WM_DIAGRAM_VIRTUALLY_FRAME" val="{&quot;height&quot;:188.58590551181098,&quot;left&quot;:10.4,&quot;top&quot;:125.9796062992126,&quot;width&quot;:904.75}"/>
</p:tagLst>
</file>

<file path=ppt/tags/tag45.xml><?xml version="1.0" encoding="utf-8"?>
<p:tagLst xmlns:p="http://schemas.openxmlformats.org/presentationml/2006/main">
  <p:tag name="KSO_WM_DIAGRAM_VIRTUALLY_FRAME" val="{&quot;height&quot;:188.58590551181098,&quot;left&quot;:10.4,&quot;top&quot;:125.9796062992126,&quot;width&quot;:904.75}"/>
</p:tagLst>
</file>

<file path=ppt/tags/tag46.xml><?xml version="1.0" encoding="utf-8"?>
<p:tagLst xmlns:p="http://schemas.openxmlformats.org/presentationml/2006/main">
  <p:tag name="KSO_WM_DIAGRAM_VIRTUALLY_FRAME" val="{&quot;height&quot;:188.58590551181098,&quot;left&quot;:10.4,&quot;top&quot;:125.9796062992126,&quot;width&quot;:904.75}"/>
</p:tagLst>
</file>

<file path=ppt/tags/tag47.xml><?xml version="1.0" encoding="utf-8"?>
<p:tagLst xmlns:p="http://schemas.openxmlformats.org/presentationml/2006/main">
  <p:tag name="KSO_WM_DIAGRAM_VIRTUALLY_FRAME" val="{&quot;height&quot;:188.58590551181098,&quot;left&quot;:10.4,&quot;top&quot;:125.9796062992126,&quot;width&quot;:904.75}"/>
</p:tagLst>
</file>

<file path=ppt/tags/tag48.xml><?xml version="1.0" encoding="utf-8"?>
<p:tagLst xmlns:p="http://schemas.openxmlformats.org/presentationml/2006/main">
  <p:tag name="KSO_WM_DIAGRAM_VIRTUALLY_FRAME" val="{&quot;height&quot;:188.58590551181098,&quot;left&quot;:10.4,&quot;top&quot;:125.9796062992126,&quot;width&quot;:904.75}"/>
</p:tagLst>
</file>

<file path=ppt/tags/tag49.xml><?xml version="1.0" encoding="utf-8"?>
<p:tagLst xmlns:p="http://schemas.openxmlformats.org/presentationml/2006/main">
  <p:tag name="KSO_WM_DIAGRAM_VIRTUALLY_FRAME" val="{&quot;height&quot;:188.58590551181098,&quot;left&quot;:10.4,&quot;top&quot;:125.9796062992126,&quot;width&quot;:904.75}"/>
</p:tagLst>
</file>

<file path=ppt/tags/tag50.xml><?xml version="1.0" encoding="utf-8"?>
<p:tagLst xmlns:p="http://schemas.openxmlformats.org/presentationml/2006/main">
  <p:tag name="KSO_WM_DIAGRAM_VIRTUALLY_FRAME" val="{&quot;height&quot;:188.58590551181098,&quot;left&quot;:10.4,&quot;top&quot;:125.9796062992126,&quot;width&quot;:904.75}"/>
</p:tagLst>
</file>

<file path=ppt/tags/tag51.xml><?xml version="1.0" encoding="utf-8"?>
<p:tagLst xmlns:p="http://schemas.openxmlformats.org/presentationml/2006/main">
  <p:tag name="KSO_WM_DIAGRAM_VIRTUALLY_FRAME" val="{&quot;height&quot;:188.58590551181098,&quot;left&quot;:10.4,&quot;top&quot;:125.9796062992126,&quot;width&quot;:904.75}"/>
</p:tagLst>
</file>

<file path=ppt/tags/tag52.xml><?xml version="1.0" encoding="utf-8"?>
<p:tagLst xmlns:p="http://schemas.openxmlformats.org/presentationml/2006/main">
  <p:tag name="KSO_WM_DIAGRAM_VIRTUALLY_FRAME" val="{&quot;height&quot;:188.58590551181098,&quot;left&quot;:10.4,&quot;top&quot;:125.9796062992126,&quot;width&quot;:904.75}"/>
</p:tagLst>
</file>

<file path=ppt/tags/tag53.xml><?xml version="1.0" encoding="utf-8"?>
<p:tagLst xmlns:p="http://schemas.openxmlformats.org/presentationml/2006/main">
  <p:tag name="KSO_WM_DIAGRAM_VIRTUALLY_FRAME" val="{&quot;height&quot;:188.58590551181098,&quot;left&quot;:10.4,&quot;top&quot;:125.9796062992126,&quot;width&quot;:904.75}"/>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5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85.3,&quot;top&quot;:122,&quot;width&quot;:78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5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85.3,&quot;top&quot;:122,&quot;width&quot;:78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57.xml><?xml version="1.0" encoding="utf-8"?>
<p:tagLst xmlns:p="http://schemas.openxmlformats.org/presentationml/2006/main">
  <p:tag name="KSO_WM_DIAGRAM_VIRTUALLY_FRAME" val="{&quot;height&quot;:358.30755905511813,&quot;left&quot;:50.15,&quot;top&quot;:112.85,&quot;width&quot;:881.95}"/>
</p:tagLst>
</file>

<file path=ppt/tags/tag58.xml><?xml version="1.0" encoding="utf-8"?>
<p:tagLst xmlns:p="http://schemas.openxmlformats.org/presentationml/2006/main">
  <p:tag name="KSO_WM_DIAGRAM_VIRTUALLY_FRAME" val="{&quot;height&quot;:358.30755905511813,&quot;left&quot;:50.15,&quot;top&quot;:112.85,&quot;width&quot;:881.95}"/>
</p:tagLst>
</file>

<file path=ppt/tags/tag59.xml><?xml version="1.0" encoding="utf-8"?>
<p:tagLst xmlns:p="http://schemas.openxmlformats.org/presentationml/2006/main">
  <p:tag name="KSO_WM_DIAGRAM_VIRTUALLY_FRAME" val="{&quot;height&quot;:358.30755905511813,&quot;left&quot;:50.15,&quot;top&quot;:112.85,&quot;width&quot;:881.95}"/>
</p:tagLst>
</file>

<file path=ppt/tags/tag60.xml><?xml version="1.0" encoding="utf-8"?>
<p:tagLst xmlns:p="http://schemas.openxmlformats.org/presentationml/2006/main">
  <p:tag name="KSO_WM_DIAGRAM_VIRTUALLY_FRAME" val="{&quot;height&quot;:358.30755905511813,&quot;left&quot;:50.15,&quot;top&quot;:112.85,&quot;width&quot;:881.95}"/>
</p:tagLst>
</file>

<file path=ppt/tags/tag61.xml><?xml version="1.0" encoding="utf-8"?>
<p:tagLst xmlns:p="http://schemas.openxmlformats.org/presentationml/2006/main">
  <p:tag name="KSO_WM_DIAGRAM_VIRTUALLY_FRAME" val="{&quot;height&quot;:358.30755905511813,&quot;left&quot;:50.15,&quot;top&quot;:112.85,&quot;width&quot;:881.95}"/>
</p:tagLst>
</file>

<file path=ppt/tags/tag62.xml><?xml version="1.0" encoding="utf-8"?>
<p:tagLst xmlns:p="http://schemas.openxmlformats.org/presentationml/2006/main">
  <p:tag name="KSO_WM_DIAGRAM_VIRTUALLY_FRAME" val="{&quot;height&quot;:358.30755905511813,&quot;left&quot;:50.15,&quot;top&quot;:112.85,&quot;width&quot;:881.95}"/>
</p:tagLst>
</file>

<file path=ppt/tags/tag63.xml><?xml version="1.0" encoding="utf-8"?>
<p:tagLst xmlns:p="http://schemas.openxmlformats.org/presentationml/2006/main">
  <p:tag name="KSO_WM_DIAGRAM_VIRTUALLY_FRAME" val="{&quot;height&quot;:358.30755905511813,&quot;left&quot;:50.15,&quot;top&quot;:112.85,&quot;width&quot;:881.95}"/>
</p:tagLst>
</file>

<file path=ppt/tags/tag64.xml><?xml version="1.0" encoding="utf-8"?>
<p:tagLst xmlns:p="http://schemas.openxmlformats.org/presentationml/2006/main">
  <p:tag name="KSO_WM_DIAGRAM_VIRTUALLY_FRAME" val="{&quot;height&quot;:358.30755905511813,&quot;left&quot;:50.15,&quot;top&quot;:112.85,&quot;width&quot;:881.95}"/>
</p:tagLst>
</file>

<file path=ppt/tags/tag65.xml><?xml version="1.0" encoding="utf-8"?>
<p:tagLst xmlns:p="http://schemas.openxmlformats.org/presentationml/2006/main">
  <p:tag name="KSO_WM_DIAGRAM_VIRTUALLY_FRAME" val="{&quot;height&quot;:358.30755905511813,&quot;left&quot;:50.15,&quot;top&quot;:112.85,&quot;width&quot;:881.95}"/>
</p:tagLst>
</file>

<file path=ppt/tags/tag66.xml><?xml version="1.0" encoding="utf-8"?>
<p:tagLst xmlns:p="http://schemas.openxmlformats.org/presentationml/2006/main">
  <p:tag name="KSO_WM_DIAGRAM_VIRTUALLY_FRAME" val="{&quot;height&quot;:358.30755905511813,&quot;left&quot;:50.15,&quot;top&quot;:112.85,&quot;width&quot;:881.95}"/>
</p:tagLst>
</file>

<file path=ppt/tags/tag67.xml><?xml version="1.0" encoding="utf-8"?>
<p:tagLst xmlns:p="http://schemas.openxmlformats.org/presentationml/2006/main">
  <p:tag name="KSO_WM_DIAGRAM_VIRTUALLY_FRAME" val="{&quot;height&quot;:358.30755905511813,&quot;left&quot;:50.15,&quot;top&quot;:112.85,&quot;width&quot;:881.95}"/>
</p:tagLst>
</file>

<file path=ppt/tags/tag68.xml><?xml version="1.0" encoding="utf-8"?>
<p:tagLst xmlns:p="http://schemas.openxmlformats.org/presentationml/2006/main">
  <p:tag name="KSO_WM_DIAGRAM_VIRTUALLY_FRAME" val="{&quot;height&quot;:358.30755905511813,&quot;left&quot;:50.15,&quot;top&quot;:112.85,&quot;width&quot;:881.95}"/>
</p:tagLst>
</file>

<file path=ppt/tags/tag69.xml><?xml version="1.0" encoding="utf-8"?>
<p:tagLst xmlns:p="http://schemas.openxmlformats.org/presentationml/2006/main">
  <p:tag name="KSO_WM_DIAGRAM_VIRTUALLY_FRAME" val="{&quot;height&quot;:358.30755905511813,&quot;left&quot;:50.15,&quot;top&quot;:112.85,&quot;width&quot;:881.95}"/>
</p:tagLst>
</file>

<file path=ppt/tags/tag70.xml><?xml version="1.0" encoding="utf-8"?>
<p:tagLst xmlns:p="http://schemas.openxmlformats.org/presentationml/2006/main">
  <p:tag name="KSO_WM_DIAGRAM_VIRTUALLY_FRAME" val="{&quot;height&quot;:358.30755905511813,&quot;left&quot;:50.15,&quot;top&quot;:112.85,&quot;width&quot;:881.95}"/>
</p:tagLst>
</file>

<file path=ppt/tags/tag71.xml><?xml version="1.0" encoding="utf-8"?>
<p:tagLst xmlns:p="http://schemas.openxmlformats.org/presentationml/2006/main">
  <p:tag name="KSO_WM_DIAGRAM_VIRTUALLY_FRAME" val="{&quot;height&quot;:358.30755905511813,&quot;left&quot;:50.15,&quot;top&quot;:112.85,&quot;width&quot;:881.95}"/>
</p:tagLst>
</file>

<file path=ppt/tags/tag72.xml><?xml version="1.0" encoding="utf-8"?>
<p:tagLst xmlns:p="http://schemas.openxmlformats.org/presentationml/2006/main">
  <p:tag name="KSO_WM_DIAGRAM_VIRTUALLY_FRAME" val="{&quot;height&quot;:358.30755905511813,&quot;left&quot;:50.15,&quot;top&quot;:112.85,&quot;width&quot;:881.95}"/>
</p:tagLst>
</file>

<file path=ppt/tags/tag73.xml><?xml version="1.0" encoding="utf-8"?>
<p:tagLst xmlns:p="http://schemas.openxmlformats.org/presentationml/2006/main">
  <p:tag name="KSO_WM_DIAGRAM_VIRTUALLY_FRAME" val="{&quot;height&quot;:358.30755905511813,&quot;left&quot;:50.15,&quot;top&quot;:112.85,&quot;width&quot;:881.95}"/>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75.xml><?xml version="1.0" encoding="utf-8"?>
<p:tagLst xmlns:p="http://schemas.openxmlformats.org/presentationml/2006/main">
  <p:tag name="KSO_WM_DIAGRAM_VIRTUALLY_FRAME" val="{&quot;height&quot;:358.30755905511813,&quot;left&quot;:50.15,&quot;top&quot;:112.85,&quot;width&quot;:881.95}"/>
</p:tagLst>
</file>

<file path=ppt/tags/tag76.xml><?xml version="1.0" encoding="utf-8"?>
<p:tagLst xmlns:p="http://schemas.openxmlformats.org/presentationml/2006/main">
  <p:tag name="KSO_WM_DIAGRAM_VIRTUALLY_FRAME" val="{&quot;height&quot;:357.28740157480314,&quot;left&quot;:50.15,&quot;top&quot;:112.85,&quot;width&quot;:881.95}"/>
</p:tagLst>
</file>

<file path=ppt/tags/tag77.xml><?xml version="1.0" encoding="utf-8"?>
<p:tagLst xmlns:p="http://schemas.openxmlformats.org/presentationml/2006/main">
  <p:tag name="KSO_WM_DIAGRAM_VIRTUALLY_FRAME" val="{&quot;height&quot;:358.30755905511813,&quot;left&quot;:50.15,&quot;top&quot;:112.85,&quot;width&quot;:881.95}"/>
</p:tagLst>
</file>

<file path=ppt/tags/tag78.xml><?xml version="1.0" encoding="utf-8"?>
<p:tagLst xmlns:p="http://schemas.openxmlformats.org/presentationml/2006/main">
  <p:tag name="KSO_WM_DIAGRAM_VIRTUALLY_FRAME" val="{&quot;height&quot;:188.58590551181098,&quot;left&quot;:10.4,&quot;top&quot;:125.9796062992126,&quot;width&quot;:904.75}"/>
</p:tagLst>
</file>

<file path=ppt/tags/tag79.xml><?xml version="1.0" encoding="utf-8"?>
<p:tagLst xmlns:p="http://schemas.openxmlformats.org/presentationml/2006/main">
  <p:tag name="KSO_WM_DIAGRAM_VIRTUALLY_FRAME" val="{&quot;height&quot;:188.58590551181098,&quot;left&quot;:10.4,&quot;top&quot;:125.9796062992126,&quot;width&quot;:904.75}"/>
</p:tagLst>
</file>

<file path=ppt/tags/tag80.xml><?xml version="1.0" encoding="utf-8"?>
<p:tagLst xmlns:p="http://schemas.openxmlformats.org/presentationml/2006/main">
  <p:tag name="KSO_WM_DIAGRAM_VIRTUALLY_FRAME" val="{&quot;height&quot;:188.58590551181098,&quot;left&quot;:10.4,&quot;top&quot;:125.9796062992126,&quot;width&quot;:904.75}"/>
</p:tagLst>
</file>

<file path=ppt/tags/tag8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48.2,&quot;top&quot;:122,&quot;width&quot;:82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48.2,&quot;top&quot;:122,&quot;width&quot;:82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48.2,&quot;top&quot;:122,&quot;width&quot;:82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8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40492948_1*n_h_a*1_1_1"/>
  <p:tag name="KSO_WM_TEMPLATE_CATEGORY" val="diagram"/>
  <p:tag name="KSO_WM_TEMPLATE_INDEX" val="40492948"/>
  <p:tag name="KSO_WM_UNIT_LAYERLEVEL" val="1_1_1"/>
  <p:tag name="KSO_WM_TAG_VERSION" val="3.0"/>
  <p:tag name="KSO_WM_BEAUTIFY_FLAG" val="#wm#"/>
  <p:tag name="KSO_WM_UNIT_PRESET_TEXT" val="添加&#10;标题"/>
  <p:tag name="KSO_WM_UNIT_FILL_TYPE" val="3"/>
  <p:tag name="KSO_WM_UNIT_TEXT_FILL_FORE_SCHEMECOLOR_INDEX" val="1"/>
  <p:tag name="KSO_WM_UNIT_TEXT_FILL_TYPE" val="1"/>
  <p:tag name="KSO_WM_UNIT_TEXT_TYPE" val="1"/>
  <p:tag name="KSO_WM_DIAGRAM_MAX_ITEMCNT" val="4"/>
  <p:tag name="KSO_WM_DIAGRAM_MIN_ITEMCNT" val="4"/>
  <p:tag name="KSO_WM_DIAGRAM_VIRTUALLY_FRAME" val="{&quot;height&quot;:436.9,&quot;left&quot;:0,&quot;top&quot;:73.8,&quot;width&quot;:883.2}"/>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40492948_1*n_h_i*1_1_1"/>
  <p:tag name="KSO_WM_TEMPLATE_CATEGORY" val="diagram"/>
  <p:tag name="KSO_WM_TEMPLATE_INDEX" val="40492948"/>
  <p:tag name="KSO_WM_UNIT_LAYERLEVEL" val="1_1_1"/>
  <p:tag name="KSO_WM_TAG_VERSION" val="3.0"/>
  <p:tag name="KSO_WM_BEAUTIFY_FLAG" val="#wm#"/>
  <p:tag name="KSO_WM_UNIT_LINE_FORE_SCHEMECOLOR_INDEX" val="5"/>
  <p:tag name="KSO_WM_DIAGRAM_MAX_ITEMCNT" val="4"/>
  <p:tag name="KSO_WM_DIAGRAM_MIN_ITEMCNT" val="4"/>
  <p:tag name="KSO_WM_DIAGRAM_VIRTUALLY_FRAME" val="{&quot;height&quot;:436.9,&quot;left&quot;:0,&quot;top&quot;:73.8,&quot;width&quot;:883.2}"/>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Lst>
</file>

<file path=ppt/tags/tag8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40492948_1*n_h_i*1_1_2"/>
  <p:tag name="KSO_WM_TEMPLATE_CATEGORY" val="diagram"/>
  <p:tag name="KSO_WM_TEMPLATE_INDEX" val="40492948"/>
  <p:tag name="KSO_WM_UNIT_LAYERLEVEL" val="1_1_1"/>
  <p:tag name="KSO_WM_TAG_VERSION" val="3.0"/>
  <p:tag name="KSO_WM_BEAUTIFY_FLAG" val="#wm#"/>
  <p:tag name="KSO_WM_UNIT_LINE_FORE_SCHEMECOLOR_INDEX" val="5"/>
  <p:tag name="KSO_WM_DIAGRAM_MAX_ITEMCNT" val="4"/>
  <p:tag name="KSO_WM_DIAGRAM_MIN_ITEMCNT" val="4"/>
  <p:tag name="KSO_WM_DIAGRAM_VIRTUALLY_FRAME" val="{&quot;height&quot;:436.9,&quot;left&quot;:0,&quot;top&quot;:73.8,&quot;width&quot;:883.2}"/>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4000000059604645,&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8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40492948_1*n_h_i*1_1_3"/>
  <p:tag name="KSO_WM_TEMPLATE_CATEGORY" val="diagram"/>
  <p:tag name="KSO_WM_TEMPLATE_INDEX" val="40492948"/>
  <p:tag name="KSO_WM_UNIT_LAYERLEVEL" val="1_1_1"/>
  <p:tag name="KSO_WM_TAG_VERSION" val="3.0"/>
  <p:tag name="KSO_WM_BEAUTIFY_FLAG" val="#wm#"/>
  <p:tag name="KSO_WM_UNIT_LINE_FORE_SCHEMECOLOR_INDEX" val="5"/>
  <p:tag name="KSO_WM_DIAGRAM_MAX_ITEMCNT" val="4"/>
  <p:tag name="KSO_WM_DIAGRAM_MIN_ITEMCNT" val="4"/>
  <p:tag name="KSO_WM_DIAGRAM_VIRTUALLY_FRAME" val="{&quot;height&quot;:436.9,&quot;left&quot;:0,&quot;top&quot;:73.8,&quot;width&quot;:883.2}"/>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Lst>
</file>

<file path=ppt/tags/tag8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4"/>
  <p:tag name="KSO_WM_UNIT_ID" val="diagram40492948_1*n_h_i*1_1_4"/>
  <p:tag name="KSO_WM_TEMPLATE_CATEGORY" val="diagram"/>
  <p:tag name="KSO_WM_TEMPLATE_INDEX" val="40492948"/>
  <p:tag name="KSO_WM_UNIT_LAYERLEVEL" val="1_1_1"/>
  <p:tag name="KSO_WM_TAG_VERSION" val="3.0"/>
  <p:tag name="KSO_WM_BEAUTIFY_FLAG" val="#wm#"/>
  <p:tag name="KSO_WM_UNIT_LINE_FORE_SCHEMECOLOR_INDEX" val="5"/>
  <p:tag name="KSO_WM_DIAGRAM_MAX_ITEMCNT" val="4"/>
  <p:tag name="KSO_WM_DIAGRAM_MIN_ITEMCNT" val="4"/>
  <p:tag name="KSO_WM_DIAGRAM_VIRTUALLY_FRAME" val="{&quot;height&quot;:436.9,&quot;left&quot;:0,&quot;top&quot;:73.8,&quot;width&quot;:883.2}"/>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Lst>
</file>

<file path=ppt/tags/tag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5"/>
  <p:tag name="KSO_WM_UNIT_ID" val="diagram40492948_1*n_h_i*1_1_5"/>
  <p:tag name="KSO_WM_TEMPLATE_CATEGORY" val="diagram"/>
  <p:tag name="KSO_WM_TEMPLATE_INDEX" val="40492948"/>
  <p:tag name="KSO_WM_UNIT_LAYERLEVEL" val="1_1_1"/>
  <p:tag name="KSO_WM_TAG_VERSION" val="3.0"/>
  <p:tag name="KSO_WM_BEAUTIFY_FLAG" val="#wm#"/>
  <p:tag name="KSO_WM_UNIT_LINE_FORE_SCHEMECOLOR_INDEX" val="5"/>
  <p:tag name="KSO_WM_DIAGRAM_MAX_ITEMCNT" val="4"/>
  <p:tag name="KSO_WM_DIAGRAM_MIN_ITEMCNT" val="4"/>
  <p:tag name="KSO_WM_DIAGRAM_VIRTUALLY_FRAME" val="{&quot;height&quot;:436.9,&quot;left&quot;:0,&quot;top&quot;:73.8,&quot;width&quot;:883.2}"/>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glow&quot;:{},&quot;line&quot;:{},&quot;shadow&quot;:{},&quot;threeD&quot;:{}}}"/>
</p:tagLst>
</file>

<file path=ppt/tags/tag91.xml><?xml version="1.0" encoding="utf-8"?>
<p:tagLst xmlns:p="http://schemas.openxmlformats.org/presentationml/2006/main">
  <p:tag name="KSO_WM_DIAGRAM_VIRTUALLY_FRAME" val="{&quot;height&quot;:436.9,&quot;left&quot;:0,&quot;top&quot;:73.8,&quot;width&quot;:883.2}"/>
</p:tagLst>
</file>

<file path=ppt/tags/tag9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40492948_1*n_h_h_a*1_2_1_1"/>
  <p:tag name="KSO_WM_TEMPLATE_CATEGORY" val="diagram"/>
  <p:tag name="KSO_WM_TEMPLATE_INDEX" val="40492948"/>
  <p:tag name="KSO_WM_UNIT_LAYERLEVEL" val="1_1_1_1"/>
  <p:tag name="KSO_WM_TAG_VERSION" val="3.0"/>
  <p:tag name="KSO_WM_BEAUTIFY_FLAG" val="#wm#"/>
  <p:tag name="KSO_WM_UNIT_PRESET_TEXT" val="单击添加标题"/>
  <p:tag name="KSO_WM_UNIT_TEXT_FILL_FORE_SCHEMECOLOR_INDEX" val="1"/>
  <p:tag name="KSO_WM_UNIT_TEXT_FILL_TYPE" val="1"/>
  <p:tag name="KSO_WM_UNIT_TEXT_TYPE" val="1"/>
  <p:tag name="KSO_WM_DIAGRAM_MAX_ITEMCNT" val="4"/>
  <p:tag name="KSO_WM_DIAGRAM_MIN_ITEMCNT" val="4"/>
  <p:tag name="KSO_WM_DIAGRAM_VIRTUALLY_FRAME" val="{&quot;height&quot;:436.9,&quot;left&quot;:0,&quot;top&quot;:73.8,&quot;width&quot;:883.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3.xml><?xml version="1.0" encoding="utf-8"?>
<p:tagLst xmlns:p="http://schemas.openxmlformats.org/presentationml/2006/main">
  <p:tag name="KSO_WM_DIAGRAM_VIRTUALLY_FRAME" val="{&quot;height&quot;:188.58590551181098,&quot;left&quot;:10.4,&quot;top&quot;:125.9796062992126,&quot;width&quot;:904.75}"/>
</p:tagLst>
</file>

<file path=ppt/tags/tag9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40492948_1*n_h_h_a*1_2_1_1"/>
  <p:tag name="KSO_WM_TEMPLATE_CATEGORY" val="diagram"/>
  <p:tag name="KSO_WM_TEMPLATE_INDEX" val="40492948"/>
  <p:tag name="KSO_WM_UNIT_LAYERLEVEL" val="1_1_1_1"/>
  <p:tag name="KSO_WM_TAG_VERSION" val="3.0"/>
  <p:tag name="KSO_WM_UNIT_PRESET_TEXT" val="单击添加标题"/>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85.3,&quot;top&quot;:122,&quot;width&quot;:78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5.xml><?xml version="1.0" encoding="utf-8"?>
<p:tagLst xmlns:p="http://schemas.openxmlformats.org/presentationml/2006/main">
  <p:tag name="KSO_WM_DIAGRAM_VIRTUALLY_FRAME" val="{&quot;height&quot;:188.58590551181098,&quot;left&quot;:10.4,&quot;top&quot;:125.9796062992126,&quot;width&quot;:904.75}"/>
</p:tagLst>
</file>

<file path=ppt/tags/tag9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85.3,&quot;top&quot;:122,&quot;width&quot;:78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40492948_1*n_h_h_a*1_2_1_1"/>
  <p:tag name="KSO_WM_TEMPLATE_CATEGORY" val="diagram"/>
  <p:tag name="KSO_WM_TEMPLATE_INDEX" val="40492948"/>
  <p:tag name="KSO_WM_UNIT_LAYERLEVEL" val="1_1_1_1"/>
  <p:tag name="KSO_WM_TAG_VERSION" val="3.0"/>
  <p:tag name="KSO_WM_UNIT_PRESET_TEXT" val="单击添加标题"/>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85.3,&quot;top&quot;:122,&quot;width&quot;:78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8.xml><?xml version="1.0" encoding="utf-8"?>
<p:tagLst xmlns:p="http://schemas.openxmlformats.org/presentationml/2006/main">
  <p:tag name="KSO_WM_DIAGRAM_VIRTUALLY_FRAME" val="{&quot;height&quot;:188.58590551181098,&quot;left&quot;:10.4,&quot;top&quot;:125.9796062992126,&quot;width&quot;:904.75}"/>
</p:tagLst>
</file>

<file path=ppt/tags/tag9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40492948_1*n_h_a*1_1_1"/>
  <p:tag name="KSO_WM_TEMPLATE_CATEGORY" val="diagram"/>
  <p:tag name="KSO_WM_TEMPLATE_INDEX" val="40492948"/>
  <p:tag name="KSO_WM_UNIT_LAYERLEVEL" val="1_1_1"/>
  <p:tag name="KSO_WM_TAG_VERSION" val="3.0"/>
  <p:tag name="KSO_WM_UNIT_PRESET_TEXT" val="添加&#10;标题"/>
  <p:tag name="KSO_WM_UNIT_FILL_TYPE" val="3"/>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0,&quot;top&quot;:122,&quot;width&quot;:874.7}"/>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40492948_1*n_h_h_a*1_2_1_1"/>
  <p:tag name="KSO_WM_TEMPLATE_CATEGORY" val="diagram"/>
  <p:tag name="KSO_WM_TEMPLATE_INDEX" val="40492948"/>
  <p:tag name="KSO_WM_UNIT_LAYERLEVEL" val="1_1_1_1"/>
  <p:tag name="KSO_WM_TAG_VERSION" val="3.0"/>
  <p:tag name="KSO_WM_UNIT_PRESET_TEXT" val="单击添加标题"/>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85.3,&quot;top&quot;:122,&quot;width&quot;:78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1.xml><?xml version="1.0" encoding="utf-8"?>
<p:tagLst xmlns:p="http://schemas.openxmlformats.org/presentationml/2006/main">
  <p:tag name="KSO_WM_DIAGRAM_VIRTUALLY_FRAME" val="{&quot;height&quot;:188.58590551181098,&quot;left&quot;:10.4,&quot;top&quot;:125.9796062992126,&quot;width&quot;:904.75}"/>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06.xml><?xml version="1.0" encoding="utf-8"?>
<p:tagLst xmlns:p="http://schemas.openxmlformats.org/presentationml/2006/main">
  <p:tag name="KSO_WM_DIAGRAM_VIRTUALLY_FRAME" val="{&quot;height&quot;:333.3695275590551,&quot;left&quot;:51.7692125984252,&quot;top&quot;:144.51173228346457,&quot;width&quot;:854.8393700787401}"/>
</p:tagLst>
</file>

<file path=ppt/tags/tag10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414.7500061035156,&quot;left&quot;:48.2,&quot;top&quot;:92.25,&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414.7500061035156,&quot;left&quot;:48.2,&quot;top&quot;:92.25,&quot;width&quot;:85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9.xml><?xml version="1.0" encoding="utf-8"?>
<p:tagLst xmlns:p="http://schemas.openxmlformats.org/presentationml/2006/main">
  <p:tag name="KSO_WM_DIAGRAM_VIRTUALLY_FRAME" val="{&quot;height&quot;:419.15,&quot;left&quot;:48.2,&quot;top&quot;:92.25,&quot;width&quot;:860}"/>
</p:tagLst>
</file>

<file path=ppt/tags/tag110.xml><?xml version="1.0" encoding="utf-8"?>
<p:tagLst xmlns:p="http://schemas.openxmlformats.org/presentationml/2006/main">
  <p:tag name="KSO_WM_DIAGRAM_VIRTUALLY_FRAME" val="{&quot;height&quot;:419.15,&quot;left&quot;:48.2,&quot;top&quot;:92.25,&quot;width&quot;:860}"/>
</p:tagLst>
</file>

<file path=ppt/tags/tag111.xml><?xml version="1.0" encoding="utf-8"?>
<p:tagLst xmlns:p="http://schemas.openxmlformats.org/presentationml/2006/main">
  <p:tag name="KSO_WM_DIAGRAM_VIRTUALLY_FRAME" val="{&quot;height&quot;:419.15,&quot;left&quot;:48.2,&quot;top&quot;:92.25,&quot;width&quot;:860}"/>
</p:tagLst>
</file>

<file path=ppt/tags/tag11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419.15,&quot;left&quot;:48.2,&quot;top&quot;:92.25,&quot;width&quot;:86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3.xml><?xml version="1.0" encoding="utf-8"?>
<p:tagLst xmlns:p="http://schemas.openxmlformats.org/presentationml/2006/main">
  <p:tag name="KSO_WM_DIAGRAM_VIRTUALLY_FRAME" val="{&quot;height&quot;:419.15,&quot;left&quot;:48.2,&quot;top&quot;:92.25,&quot;width&quot;:860}"/>
</p:tagLst>
</file>

<file path=ppt/tags/tag114.xml><?xml version="1.0" encoding="utf-8"?>
<p:tagLst xmlns:p="http://schemas.openxmlformats.org/presentationml/2006/main">
  <p:tag name="KSO_WM_DIAGRAM_VIRTUALLY_FRAME" val="{&quot;height&quot;:188.58590551181098,&quot;left&quot;:10.4,&quot;top&quot;:125.9796062992126,&quot;width&quot;:904.75}"/>
</p:tagLst>
</file>

<file path=ppt/tags/tag115.xml><?xml version="1.0" encoding="utf-8"?>
<p:tagLst xmlns:p="http://schemas.openxmlformats.org/presentationml/2006/main">
  <p:tag name="KSO_WM_DIAGRAM_VIRTUALLY_FRAME" val="{&quot;height&quot;:188.58590551181098,&quot;left&quot;:10.4,&quot;top&quot;:125.9796062992126,&quot;width&quot;:904.75}"/>
</p:tagLst>
</file>

<file path=ppt/tags/tag11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48.2,&quot;top&quot;:122,&quot;width&quot;:82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48.2,&quot;top&quot;:122,&quot;width&quot;:82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40492948_1*n_h_h_f*1_2_1_1"/>
  <p:tag name="KSO_WM_TEMPLATE_CATEGORY" val="diagram"/>
  <p:tag name="KSO_WM_TEMPLATE_INDEX" val="40492948"/>
  <p:tag name="KSO_WM_UNIT_LAYERLEVEL" val="1_1_1_1"/>
  <p:tag name="KSO_WM_TAG_VERSION" val="3.0"/>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DIAGRAM_MAX_ITEMCNT" val="4"/>
  <p:tag name="KSO_WM_DIAGRAM_MIN_ITEMCNT" val="4"/>
  <p:tag name="KSO_WM_DIAGRAM_VIRTUALLY_FRAME" val="{&quot;height&quot;:385.0000061035156,&quot;left&quot;:48.2,&quot;top&quot;:122,&quot;width&quot;:82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19.xml><?xml version="1.0" encoding="utf-8"?>
<p:tagLst xmlns:p="http://schemas.openxmlformats.org/presentationml/2006/main">
  <p:tag name="KSO_WM_DIAGRAM_VIRTUALLY_FRAME" val="{&quot;height&quot;:188.58590551181098,&quot;left&quot;:10.4,&quot;top&quot;:125.9796062992126,&quot;width&quot;:904.75}"/>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3009_1*l_h_i*1_1_2"/>
  <p:tag name="KSO_WM_TEMPLATE_CATEGORY" val="diagram"/>
  <p:tag name="KSO_WM_TEMPLATE_INDEX" val="40493009"/>
  <p:tag name="KSO_WM_UNIT_LAYERLEVEL" val="1_1_1"/>
  <p:tag name="KSO_WM_TAG_VERSION" val="3.0"/>
  <p:tag name="KSO_WM_DIAGRAM_VERSION" val="3"/>
  <p:tag name="KSO_WM_DIAGRAM_COLOR_TRICK" val="1"/>
  <p:tag name="KSO_WM_DIAGRAM_COLOR_TEXT_CAN_REMOVE" val="n"/>
  <p:tag name="KSO_WM_UNIT_FILL_TYPE" val="3"/>
  <p:tag name="KSO_WM_DIAGRAM_VIRTUALLY_FRAME" val="{&quot;height&quot;:311.6000061035156,&quot;left&quot;:48.149993896484375,&quot;top&quot;:172.8499969482422,&quot;width&quot;:863.7250454735944}"/>
  <p:tag name="KSO_WM_DIAGRAM_MAX_ITEMCNT" val="4"/>
  <p:tag name="KSO_WM_DIAGRAM_MIN_ITEMCNT" val="3"/>
  <p:tag name="KSO_WM_DIAGRAM_COLOR_MATCH_VALUE" val="{&quot;shape&quot;:{&quot;fill&quot;:{&quot;gradient&quot;:[{&quot;brightness&quot;:0.4000000059604645,&quot;colorType&quot;:1,&quot;foreColorIndex&quot;:5,&quot;pos&quot;:1,&quot;transparency&quot;:0},{&quot;brightness&quot;:0,&quot;colorType&quot;:1,&quot;foreColorIndex&quot;:5,&quot;pos&quot;:0.25,&quot;transparency&quot;:0}],&quot;type&quot;:3},&quot;glow&quot;:{&quot;colorType&quot;:0},&quot;line&quot;:{&quot;type&quot;:0},&quot;shadow&quot;:{&quot;brightness&quot;:-0.25,&quot;colorType&quot;:1,&quot;foreColorIndex&quot;:5,&quot;transparency&quot;:0.870000004768371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Lst>
</file>

<file path=ppt/tags/tag122.xml><?xml version="1.0" encoding="utf-8"?>
<p:tagLst xmlns:p="http://schemas.openxmlformats.org/presentationml/2006/main">
  <p:tag name="KSO_WM_DIAGRAM_VIRTUALLY_FRAME" val="{&quot;height&quot;:411.2,&quot;left&quot;:278.8,&quot;top&quot;:100.8,&quot;width&quot;:635.65}"/>
</p:tagLst>
</file>

<file path=ppt/tags/tag123.xml><?xml version="1.0" encoding="utf-8"?>
<p:tagLst xmlns:p="http://schemas.openxmlformats.org/presentationml/2006/main">
  <p:tag name="KSO_WM_DIAGRAM_VIRTUALLY_FRAME" val="{&quot;height&quot;:411.2,&quot;left&quot;:278.8,&quot;top&quot;:100.8,&quot;width&quot;:635.65}"/>
</p:tagLst>
</file>

<file path=ppt/tags/tag124.xml><?xml version="1.0" encoding="utf-8"?>
<p:tagLst xmlns:p="http://schemas.openxmlformats.org/presentationml/2006/main">
  <p:tag name="KSO_WM_DIAGRAM_VIRTUALLY_FRAME" val="{&quot;height&quot;:411.2,&quot;left&quot;:278.8,&quot;top&quot;:100.8,&quot;width&quot;:635.65}"/>
</p:tagLst>
</file>

<file path=ppt/tags/tag125.xml><?xml version="1.0" encoding="utf-8"?>
<p:tagLst xmlns:p="http://schemas.openxmlformats.org/presentationml/2006/main">
  <p:tag name="KSO_WM_DIAGRAM_VIRTUALLY_FRAME" val="{&quot;height&quot;:411.2,&quot;left&quot;:278.8,&quot;top&quot;:100.8,&quot;width&quot;:635.65}"/>
</p:tagLst>
</file>

<file path=ppt/tags/tag126.xml><?xml version="1.0" encoding="utf-8"?>
<p:tagLst xmlns:p="http://schemas.openxmlformats.org/presentationml/2006/main">
  <p:tag name="RESOURCE_RECORD_KEY" val="{&quot;70&quot;:[3403268,3403290,3321782,3321502,3429030,3318299,3428043,3428977,3314671]}"/>
</p:tagLst>
</file>

<file path=ppt/theme/theme1.xml><?xml version="1.0" encoding="utf-8"?>
<a:theme xmlns:a="http://schemas.openxmlformats.org/drawingml/2006/main" name="WPS">
  <a:themeElements>
    <a:clrScheme name="自定义 1">
      <a:dk1>
        <a:srgbClr val="000000"/>
      </a:dk1>
      <a:lt1>
        <a:srgbClr val="FFFFFF"/>
      </a:lt1>
      <a:dk2>
        <a:srgbClr val="63065F"/>
      </a:dk2>
      <a:lt2>
        <a:srgbClr val="E7E6E6"/>
      </a:lt2>
      <a:accent1>
        <a:srgbClr val="63065F"/>
      </a:accent1>
      <a:accent2>
        <a:srgbClr val="63065F"/>
      </a:accent2>
      <a:accent3>
        <a:srgbClr val="63065F"/>
      </a:accent3>
      <a:accent4>
        <a:srgbClr val="63065F"/>
      </a:accent4>
      <a:accent5>
        <a:srgbClr val="63065F"/>
      </a:accent5>
      <a:accent6>
        <a:srgbClr val="63065F"/>
      </a:accent6>
      <a:hlink>
        <a:srgbClr val="0070C0"/>
      </a:hlink>
      <a:folHlink>
        <a:srgbClr val="842468"/>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accent6"/>
          </a:solidFill>
          <a:prstDash val="sysDash"/>
          <a:round/>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5230</Words>
  <Application>WPS 演示</Application>
  <PresentationFormat>宽屏</PresentationFormat>
  <Paragraphs>569</Paragraphs>
  <Slides>29</Slides>
  <Notes>15</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20</vt:i4>
      </vt:variant>
      <vt:variant>
        <vt:lpstr>幻灯片标题</vt:lpstr>
      </vt:variant>
      <vt:variant>
        <vt:i4>29</vt:i4>
      </vt:variant>
    </vt:vector>
  </HeadingPairs>
  <TitlesOfParts>
    <vt:vector size="65" baseType="lpstr">
      <vt:lpstr>Arial</vt:lpstr>
      <vt:lpstr>宋体</vt:lpstr>
      <vt:lpstr>Wingdings</vt:lpstr>
      <vt:lpstr>思源黑体 CN Medium</vt:lpstr>
      <vt:lpstr>OPPOSans B</vt:lpstr>
      <vt:lpstr>华文行楷</vt:lpstr>
      <vt:lpstr>方正小标宋简体</vt:lpstr>
      <vt:lpstr>Times New Roman</vt:lpstr>
      <vt:lpstr>微软雅黑</vt:lpstr>
      <vt:lpstr>Calibri</vt:lpstr>
      <vt:lpstr>Impact</vt:lpstr>
      <vt:lpstr>Arial Unicode MS</vt:lpstr>
      <vt:lpstr>黑体</vt:lpstr>
      <vt:lpstr>BatangChe</vt:lpstr>
      <vt:lpstr>ESRI AMFM Electric</vt:lpstr>
      <vt:lpstr>WPS</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佛系P了个T;</Company>
  <LinksUpToDate>false</LinksUpToDate>
  <SharedDoc>false</SharedDoc>
  <HyperlinksChanged>false</HyperlinksChanged>
  <AppVersion>14.0000</AppVersion>
  <Manager>佛系P了个T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Grad.02-010南开大学</dc:title>
  <dc:creator>江木木</dc:creator>
  <cp:keywords>佛系P了个T</cp:keywords>
  <dc:description>由小红书博主“佛系P了个T”原创，仅限个人自用，禁止转载盗卖</dc:description>
  <dc:subject>毕业论文答辩PPT</dc:subject>
  <cp:category>毕业论文答辩PPT</cp:category>
  <cp:lastModifiedBy>朱迅</cp:lastModifiedBy>
  <cp:revision>45</cp:revision>
  <dcterms:created xsi:type="dcterms:W3CDTF">2023-08-09T12:44:00Z</dcterms:created>
  <dcterms:modified xsi:type="dcterms:W3CDTF">2026-10-13T02:19:35Z</dcterms:modified>
  <cp:version>Grad.02</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67333B4EAD934E5BABC9384AE8AF303E_13</vt:lpwstr>
  </property>
</Properties>
</file>